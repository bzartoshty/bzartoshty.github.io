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531" r:id="rId3"/>
    <p:sldId id="565" r:id="rId4"/>
    <p:sldId id="566" r:id="rId5"/>
    <p:sldId id="313" r:id="rId6"/>
    <p:sldId id="504" r:id="rId7"/>
    <p:sldId id="505" r:id="rId8"/>
    <p:sldId id="570" r:id="rId9"/>
    <p:sldId id="257" r:id="rId10"/>
    <p:sldId id="281" r:id="rId11"/>
    <p:sldId id="562" r:id="rId12"/>
    <p:sldId id="293" r:id="rId13"/>
    <p:sldId id="282" r:id="rId14"/>
    <p:sldId id="563" r:id="rId15"/>
    <p:sldId id="395" r:id="rId16"/>
    <p:sldId id="389" r:id="rId17"/>
    <p:sldId id="397" r:id="rId18"/>
    <p:sldId id="390" r:id="rId19"/>
    <p:sldId id="265" r:id="rId20"/>
    <p:sldId id="582" r:id="rId21"/>
    <p:sldId id="358" r:id="rId22"/>
    <p:sldId id="372" r:id="rId23"/>
    <p:sldId id="398" r:id="rId24"/>
    <p:sldId id="374" r:id="rId25"/>
    <p:sldId id="269" r:id="rId26"/>
    <p:sldId id="392" r:id="rId27"/>
    <p:sldId id="393" r:id="rId28"/>
    <p:sldId id="384" r:id="rId29"/>
    <p:sldId id="385" r:id="rId3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96" userDrawn="1">
          <p15:clr>
            <a:srgbClr val="A4A3A4"/>
          </p15:clr>
        </p15:guide>
        <p15:guide id="2" pos="29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24" autoAdjust="0"/>
    <p:restoredTop sz="88132" autoAdjust="0"/>
  </p:normalViewPr>
  <p:slideViewPr>
    <p:cSldViewPr>
      <p:cViewPr varScale="1">
        <p:scale>
          <a:sx n="85" d="100"/>
          <a:sy n="85" d="100"/>
        </p:scale>
        <p:origin x="939" y="42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57"/>
    </p:cViewPr>
  </p:sorterViewPr>
  <p:notesViewPr>
    <p:cSldViewPr>
      <p:cViewPr varScale="1">
        <p:scale>
          <a:sx n="40" d="100"/>
          <a:sy n="40" d="100"/>
        </p:scale>
        <p:origin x="-1404" y="-78"/>
      </p:cViewPr>
      <p:guideLst>
        <p:guide orient="horz" pos="2196"/>
        <p:guide pos="29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D000B0-7056-4C4F-ADB6-7A3DAC859F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54DEAF-84B2-4534-9839-0D28FDA6B4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1A9DE41-8A20-4124-B0F0-951DD268B4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29150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0189016-8BAC-4252-B5DA-4AA78CF6C22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1" y="4415790"/>
            <a:ext cx="514096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72" tIns="46536" rIns="93072" bIns="465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112C56E-FC3D-4C84-BFDE-F1FF14DB22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5439476-928A-4A1A-84B3-2A3AF4BF0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pPr>
              <a:defRPr/>
            </a:pPr>
            <a:fld id="{982727D2-F776-46A7-8347-3FF0A29ACF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804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023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6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0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38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5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75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0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66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52b1323b6_0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27125" y="681038"/>
            <a:ext cx="4538663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52b1323b6_0160:notes"/>
          <p:cNvSpPr txBox="1">
            <a:spLocks noGrp="1"/>
          </p:cNvSpPr>
          <p:nvPr>
            <p:ph type="body" idx="1"/>
          </p:nvPr>
        </p:nvSpPr>
        <p:spPr>
          <a:xfrm>
            <a:off x="679339" y="4312471"/>
            <a:ext cx="5434711" cy="4085498"/>
          </a:xfrm>
          <a:prstGeom prst="rect">
            <a:avLst/>
          </a:prstGeom>
        </p:spPr>
        <p:txBody>
          <a:bodyPr spcFirstLastPara="1" wrap="square" lIns="90675" tIns="90675" rIns="90675" bIns="9067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433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5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122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76e0dad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27125" y="681038"/>
            <a:ext cx="4538663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76e0dad85_0_0:notes"/>
          <p:cNvSpPr txBox="1">
            <a:spLocks noGrp="1"/>
          </p:cNvSpPr>
          <p:nvPr>
            <p:ph type="body" idx="1"/>
          </p:nvPr>
        </p:nvSpPr>
        <p:spPr>
          <a:xfrm>
            <a:off x="679339" y="4312471"/>
            <a:ext cx="5434711" cy="4085498"/>
          </a:xfrm>
          <a:prstGeom prst="rect">
            <a:avLst/>
          </a:prstGeom>
        </p:spPr>
        <p:txBody>
          <a:bodyPr spcFirstLastPara="1" wrap="square" lIns="90675" tIns="90675" rIns="90675" bIns="9067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82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76e0dad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27125" y="681038"/>
            <a:ext cx="4538663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76e0dad85_0_0:notes"/>
          <p:cNvSpPr txBox="1">
            <a:spLocks noGrp="1"/>
          </p:cNvSpPr>
          <p:nvPr>
            <p:ph type="body" idx="1"/>
          </p:nvPr>
        </p:nvSpPr>
        <p:spPr>
          <a:xfrm>
            <a:off x="679339" y="4312471"/>
            <a:ext cx="5434711" cy="4085498"/>
          </a:xfrm>
          <a:prstGeom prst="rect">
            <a:avLst/>
          </a:prstGeom>
        </p:spPr>
        <p:txBody>
          <a:bodyPr spcFirstLastPara="1" wrap="square" lIns="90675" tIns="90675" rIns="90675" bIns="9067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40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PC1 and Server1 are adjacent</a:t>
            </a:r>
          </a:p>
          <a:p>
            <a:r>
              <a:rPr lang="en-US" dirty="0"/>
              <a:t>PC1 and Server3 are not adjacent</a:t>
            </a:r>
          </a:p>
          <a:p>
            <a:r>
              <a:rPr lang="en-US" dirty="0"/>
              <a:t>A path from PC1 to PC2: e1 -&gt; e3 -&gt; e5</a:t>
            </a:r>
          </a:p>
          <a:p>
            <a:r>
              <a:rPr lang="en-US" dirty="0"/>
              <a:t>Shortest path is e2 -&gt; e2</a:t>
            </a:r>
          </a:p>
          <a:p>
            <a:r>
              <a:rPr lang="en-US" dirty="0"/>
              <a:t>So, Distance is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2831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: An edge in a graph that joins two vertices.</a:t>
            </a:r>
          </a:p>
          <a:p>
            <a:r>
              <a:rPr lang="en-US" dirty="0"/>
              <a:t>Figure (b) deg(A) -&gt; 4   Figure (a) deg(Mark) -&gt;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090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210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0609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75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FC8D-3FAB-384B-A523-F958535FCC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22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986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6362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449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2400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336D0-BB87-4158-9DDA-BA914A234D1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24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269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0952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996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2727D2-F776-46A7-8347-3FF0A29ACFB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18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56CE68D8-C972-4628-870F-4E09E8B76791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D02AE446-B8FE-409B-80E1-BC7AD323A20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5502CB96-5107-40EE-B7F0-788AE7B28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8E77ABC-C592-4CAD-BDDF-65A13246284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cs typeface="+mn-cs"/>
                </a:endParaRPr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117944F7-8FBE-4261-B803-ADA7EB7B4D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AE69A191-3C70-48E7-BD5E-00E83794EB4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B529DDB7-5DAF-4764-B9FC-5983061883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837D719A-8C7B-4440-9C3A-4E1E3650A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B11C9B4C-4ED6-4608-AD6E-2412DD3B23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AC59EE10-44F4-438D-9301-7BDB929F28D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C2D270F1-9FCD-4798-8E94-56D6A48A928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cs typeface="+mn-cs"/>
                </a:endParaRPr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84FA1C1A-0323-4700-AFBA-3D48C11965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53C1DF35-7818-4012-8808-EDB910F2E2F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FADF5916-560F-4125-9E1E-81DC9DCCD3D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1793D47A-D607-47DD-AD31-BE23E72510B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5268634C-E94D-4DF7-B699-985B45DABD6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9B794D0E-0572-490C-B897-36BDD9D30B0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5737A744-2EB5-4A26-BA79-0B155516A6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BF313A93-3626-4F83-B47A-EE3AD6FA204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EB821DB8-882B-4F7E-B2EC-9E0D2F1111E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BFFA9F44-71C1-4D65-8265-0B1F463CDA9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7EF8631E-6F18-43D6-8C78-E542EFAE39E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F0E79C1E-59E7-4BDA-8C4E-142DD1EC03C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6CE92ACC-4D70-4A12-AEC2-6AB2212658F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67528545-EEC8-4CBC-9E63-CC8F91ABB90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1F6A4965-53B0-41CF-9ADC-629F49698F9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30119D42-7288-4E1D-A019-A003E234163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B48DF2A9-00CA-4481-999B-6DAB82A02A5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13F3E654-F7EA-415C-B28B-DC6EE489701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5BDF6123-2938-4802-AD8C-9ABD7BD35A8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1F4581DD-2CEC-4B72-9081-6CCEB62D240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1F4B9FCF-D987-43C5-A67B-F7D2CC701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r>
              <a:rPr lang="en-US"/>
              <a:t>Liang, Introduction to Java Programming, Eleventh Edition, (c) 2017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F3B4A7C2-E113-4E6F-BE8E-47C6EBD856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57CE0-8874-4C42-AD55-AEDB9E6BDB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57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ECDB8016-CC0C-43A5-821C-72AC8E2595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1A0AE984-13C2-4CDA-948A-053DE8B08A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15C13-0EA2-4EBC-BDD5-4CD773104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5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2993E019-5726-424D-B967-DBF6BFF70C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E77C197A-761E-4E09-9189-11BBE891A77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94906-998C-4CEC-9301-7E1B13C76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86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3BB7078F-A63F-4935-ABF2-74CB00EEE8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1B30B32-D9B3-4161-86CE-92B6C5E626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01414-7444-48B7-A14E-37AD5C613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54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7EC090D9-E571-4088-A18A-00EAF95454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8B87F495-DA52-418B-904A-35F706C1DE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1229F-A2E8-4DB3-8A14-F1B88849F8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71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4E9F772D-65D0-4664-A133-4645C364EA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9952DE22-30D9-4405-9023-2732D687F8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22DF5-F783-492E-B808-098DA319DE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872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77C2AB1E-FE66-4E4D-8015-6502C8ACCC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DEA3EB86-8B59-40E3-B289-74F2043AC5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FFEE2-3F04-4FB7-A8DA-20420B7054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42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29081401-1E63-4FAB-9F13-28DF917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91654BE0-3749-4901-872A-7F78293C66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7857A-81FD-4666-BB7B-6656B00A9C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79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4B255EF-CCD5-4EE9-AD99-7C36502265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0391B5DA-1A68-4DBF-A792-721BACD4D1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D9159-B41F-4930-9CB8-3E1C342B4D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44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C4EA685E-86AA-4977-98AE-AC9FDFBC8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E7D6CF02-EE14-4904-91BD-8B3AA6DEA6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FF01E-ACC6-4CAD-8E4D-5A94BA59E6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43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E469AFD5-3683-4438-B9A1-7EC25371C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4859969D-53AE-4222-8ED1-5E37458C94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33ED6-FDDF-48CF-9E6B-D6A0F6473D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318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4920"/>
            <a:ext cx="8232775" cy="466333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 indent="-284400">
              <a:defRPr sz="2400">
                <a:latin typeface="+mn-lt"/>
              </a:defRPr>
            </a:lvl2pPr>
            <a:lvl3pPr indent="-230400">
              <a:defRPr sz="2400">
                <a:latin typeface="+mn-lt"/>
              </a:defRPr>
            </a:lvl3pPr>
            <a:lvl4pPr indent="-230400">
              <a:defRPr sz="2400">
                <a:latin typeface="+mn-lt"/>
              </a:defRPr>
            </a:lvl4pPr>
            <a:lvl5pPr indent="-230400"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56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3A8A1217-4C02-425A-AC58-792F4FE171FF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4C9FD27C-7FEE-43EE-958C-93D09AA1C63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grpSp>
          <p:nvGrpSpPr>
            <p:cNvPr id="1033" name="Group 28">
              <a:extLst>
                <a:ext uri="{FF2B5EF4-FFF2-40B4-BE49-F238E27FC236}">
                  <a16:creationId xmlns:a16="http://schemas.microsoft.com/office/drawing/2014/main" id="{42280B11-C5F8-47F9-BA39-55E8B27FC5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>
                <a:extLst>
                  <a:ext uri="{FF2B5EF4-FFF2-40B4-BE49-F238E27FC236}">
                    <a16:creationId xmlns:a16="http://schemas.microsoft.com/office/drawing/2014/main" id="{70482194-1DCA-441F-86E4-9EA0E03F66E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>
                <a:extLst>
                  <a:ext uri="{FF2B5EF4-FFF2-40B4-BE49-F238E27FC236}">
                    <a16:creationId xmlns:a16="http://schemas.microsoft.com/office/drawing/2014/main" id="{BDCFFA17-4DED-4EDD-BE62-1B12B310488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>
                <a:extLst>
                  <a:ext uri="{FF2B5EF4-FFF2-40B4-BE49-F238E27FC236}">
                    <a16:creationId xmlns:a16="http://schemas.microsoft.com/office/drawing/2014/main" id="{8FE26817-17C6-4BBE-9168-523A7974664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id="{627F3E42-F875-4B6F-891C-73E5814FDAE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950A90A5-A0E9-495D-B667-8606570D071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CD6CD7AB-1FED-4D4E-A073-C533EF4C160E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cs typeface="+mn-cs"/>
                </a:endParaRPr>
              </a:p>
            </p:txBody>
          </p: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69F4A0D7-3172-401F-AF16-0259BF9365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>
                  <a:extLst>
                    <a:ext uri="{FF2B5EF4-FFF2-40B4-BE49-F238E27FC236}">
                      <a16:creationId xmlns:a16="http://schemas.microsoft.com/office/drawing/2014/main" id="{EBB3F4E1-E4C5-4EA0-86E9-89306CCD751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>
                  <a:extLst>
                    <a:ext uri="{FF2B5EF4-FFF2-40B4-BE49-F238E27FC236}">
                      <a16:creationId xmlns:a16="http://schemas.microsoft.com/office/drawing/2014/main" id="{07C865AD-ABD7-4D4D-8B30-76BF68D2DA7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>
                  <a:extLst>
                    <a:ext uri="{FF2B5EF4-FFF2-40B4-BE49-F238E27FC236}">
                      <a16:creationId xmlns:a16="http://schemas.microsoft.com/office/drawing/2014/main" id="{9B203AA6-751B-4C1E-BF0B-7514266D7E5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>
                  <a:extLst>
                    <a:ext uri="{FF2B5EF4-FFF2-40B4-BE49-F238E27FC236}">
                      <a16:creationId xmlns:a16="http://schemas.microsoft.com/office/drawing/2014/main" id="{77A8C760-A2CE-4EA4-8FA8-4E44C5E9CAF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>
                  <a:extLst>
                    <a:ext uri="{FF2B5EF4-FFF2-40B4-BE49-F238E27FC236}">
                      <a16:creationId xmlns:a16="http://schemas.microsoft.com/office/drawing/2014/main" id="{B18193CA-F9EF-4A24-8CEA-E08E55A6D07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>
                  <a:extLst>
                    <a:ext uri="{FF2B5EF4-FFF2-40B4-BE49-F238E27FC236}">
                      <a16:creationId xmlns:a16="http://schemas.microsoft.com/office/drawing/2014/main" id="{841E4D55-E9BE-4C72-B38C-5775FE08AC9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>
                  <a:extLst>
                    <a:ext uri="{FF2B5EF4-FFF2-40B4-BE49-F238E27FC236}">
                      <a16:creationId xmlns:a16="http://schemas.microsoft.com/office/drawing/2014/main" id="{026A66AA-E750-4615-ADE9-2B6AC950924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>
                  <a:extLst>
                    <a:ext uri="{FF2B5EF4-FFF2-40B4-BE49-F238E27FC236}">
                      <a16:creationId xmlns:a16="http://schemas.microsoft.com/office/drawing/2014/main" id="{DE21C3DC-0608-4187-96DC-911654C959E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>
                  <a:extLst>
                    <a:ext uri="{FF2B5EF4-FFF2-40B4-BE49-F238E27FC236}">
                      <a16:creationId xmlns:a16="http://schemas.microsoft.com/office/drawing/2014/main" id="{B376EAD7-9BBF-4AB1-84C0-2EE96BB826F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>
                  <a:extLst>
                    <a:ext uri="{FF2B5EF4-FFF2-40B4-BE49-F238E27FC236}">
                      <a16:creationId xmlns:a16="http://schemas.microsoft.com/office/drawing/2014/main" id="{F480E599-7E88-4D54-88FA-9B4F3BD5AB0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>
                  <a:extLst>
                    <a:ext uri="{FF2B5EF4-FFF2-40B4-BE49-F238E27FC236}">
                      <a16:creationId xmlns:a16="http://schemas.microsoft.com/office/drawing/2014/main" id="{CD5F9D5C-D32A-4067-BAF2-9AED87BAB6A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>
                  <a:extLst>
                    <a:ext uri="{FF2B5EF4-FFF2-40B4-BE49-F238E27FC236}">
                      <a16:creationId xmlns:a16="http://schemas.microsoft.com/office/drawing/2014/main" id="{3FB2913D-6B2C-41C5-BAC9-E3507F19461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>
                  <a:extLst>
                    <a:ext uri="{FF2B5EF4-FFF2-40B4-BE49-F238E27FC236}">
                      <a16:creationId xmlns:a16="http://schemas.microsoft.com/office/drawing/2014/main" id="{EE001F1C-8AEB-45E0-8430-B9769D2A55A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>
                  <a:extLst>
                    <a:ext uri="{FF2B5EF4-FFF2-40B4-BE49-F238E27FC236}">
                      <a16:creationId xmlns:a16="http://schemas.microsoft.com/office/drawing/2014/main" id="{A5C51EE2-ADCB-4869-893C-06AC5FDCC0B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>
                  <a:extLst>
                    <a:ext uri="{FF2B5EF4-FFF2-40B4-BE49-F238E27FC236}">
                      <a16:creationId xmlns:a16="http://schemas.microsoft.com/office/drawing/2014/main" id="{11EB3F80-D6AB-45C7-8A05-C8FBF3E91DE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>
                  <a:extLst>
                    <a:ext uri="{FF2B5EF4-FFF2-40B4-BE49-F238E27FC236}">
                      <a16:creationId xmlns:a16="http://schemas.microsoft.com/office/drawing/2014/main" id="{D27453A6-14CF-4A20-BF63-7330C751718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>
                  <a:extLst>
                    <a:ext uri="{FF2B5EF4-FFF2-40B4-BE49-F238E27FC236}">
                      <a16:creationId xmlns:a16="http://schemas.microsoft.com/office/drawing/2014/main" id="{DC745862-F9B7-41FF-8A0F-A3374348685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>
                  <a:extLst>
                    <a:ext uri="{FF2B5EF4-FFF2-40B4-BE49-F238E27FC236}">
                      <a16:creationId xmlns:a16="http://schemas.microsoft.com/office/drawing/2014/main" id="{D3370FCA-A29D-49F5-AED5-8C1B4324C48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5894CE86-6105-4A39-A657-3D7567E38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995F019C-04BE-4346-BE88-0C3E9E9E9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15121163-1F2D-423B-8174-B10AAEF237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6EBA1CC8-0815-4167-9EAE-B928187D27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B467FF0C-1AEB-4E59-A389-9BB441A0CC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8A070094-4EEB-4C4C-B1CB-57401393C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  <a:cs typeface="+mn-cs"/>
              </a:rPr>
              <a:t>Liang, Introduction to Java Programming, Eleventh Edition, (c) 2017 Pearson Education, Inc.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90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3878053A-869D-4C09-A6F0-A4CB0CBDC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E0D052-5ACD-4F97-B445-6C90437D063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7C0F574-0342-4DC8-87CB-935DC7C04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676400"/>
            <a:ext cx="8610600" cy="1524000"/>
          </a:xfrm>
        </p:spPr>
        <p:txBody>
          <a:bodyPr/>
          <a:lstStyle/>
          <a:p>
            <a:r>
              <a:rPr lang="en-US" altLang="en-US" dirty="0"/>
              <a:t>Graphs and Applications</a:t>
            </a: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5322D088-3604-4199-B16E-21400F604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319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0ABE-DD82-4E61-82F4-9CE9A73F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r>
              <a:rPr lang="en-US" sz="2000" b="0" dirty="0"/>
              <a:t>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9E00-522C-4586-BDAC-74B47EAB08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451" y="1554920"/>
            <a:ext cx="8183564" cy="4608000"/>
          </a:xfrm>
        </p:spPr>
        <p:txBody>
          <a:bodyPr/>
          <a:lstStyle/>
          <a:p>
            <a:pPr marL="285750" indent="-285750"/>
            <a:r>
              <a:rPr lang="en-US" altLang="en-US" sz="1800" dirty="0"/>
              <a:t>To model real-world problems using graphs and explain the Seven Bridges of </a:t>
            </a:r>
            <a:r>
              <a:rPr lang="en-US" altLang="en-US" sz="1800" dirty="0" err="1"/>
              <a:t>Königsberg</a:t>
            </a:r>
            <a:r>
              <a:rPr lang="en-US" altLang="en-US" sz="1800" dirty="0"/>
              <a:t> problem.</a:t>
            </a:r>
          </a:p>
          <a:p>
            <a:pPr marL="285750" indent="-285750"/>
            <a:r>
              <a:rPr lang="en-US" altLang="en-US" sz="1800" dirty="0"/>
              <a:t>To describe the graph terminologies: vertices, edges, simple graphs, weighted/unweighted graphs, and directed/undirected graphs.</a:t>
            </a:r>
          </a:p>
          <a:p>
            <a:pPr marL="285750" indent="-285750"/>
            <a:r>
              <a:rPr lang="en-US" altLang="en-US" sz="1800" dirty="0"/>
              <a:t>To represent vertices and edges using lists, edge arrays, edge objects, adjacency matrices, and adjacency lists.</a:t>
            </a:r>
          </a:p>
          <a:p>
            <a:pPr marL="285750" indent="-285750"/>
            <a:r>
              <a:rPr lang="en-US" altLang="en-US" sz="1800" dirty="0"/>
              <a:t>To model graphs using the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Graph</a:t>
            </a:r>
            <a:r>
              <a:rPr lang="en-US" altLang="en-US" sz="1800" dirty="0"/>
              <a:t> interface, the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AbstractGraph</a:t>
            </a:r>
            <a:r>
              <a:rPr lang="en-US" altLang="en-US" sz="1800" dirty="0"/>
              <a:t> class, and the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UnweightedGraph</a:t>
            </a:r>
            <a:r>
              <a:rPr lang="en-US" altLang="en-US" sz="1800" dirty="0"/>
              <a:t> class.</a:t>
            </a:r>
          </a:p>
          <a:p>
            <a:pPr marL="285750" indent="-285750"/>
            <a:r>
              <a:rPr lang="en-US" altLang="en-US" sz="1800" dirty="0"/>
              <a:t>To represent the traversal of a graph using the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UnweightedGraph.SearchTree</a:t>
            </a:r>
            <a:r>
              <a:rPr lang="en-US" altLang="en-US" sz="1800" dirty="0"/>
              <a:t> class.</a:t>
            </a:r>
          </a:p>
          <a:p>
            <a:pPr marL="285750" indent="-285750"/>
            <a:r>
              <a:rPr lang="en-US" altLang="en-US" sz="1800" dirty="0"/>
              <a:t>To design and implement depth-first search.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C1010-552C-2683-C681-57E036D5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4343400"/>
            <a:ext cx="3810868" cy="2146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D18897-5D43-D1B3-11B3-2E98428E2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953000"/>
            <a:ext cx="4496668" cy="16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4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1B43-CAAD-1A42-A2D3-70DC8ABA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sz="2700" i="1" dirty="0">
                <a:solidFill>
                  <a:schemeClr val="accent4"/>
                </a:solidFill>
              </a:rPr>
              <a:t>Review</a:t>
            </a:r>
            <a:r>
              <a:rPr lang="en-US" dirty="0"/>
              <a:t> Trees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B6AEA48-2A09-954C-96F9-796BAC345756}"/>
              </a:ext>
            </a:extLst>
          </p:cNvPr>
          <p:cNvGrpSpPr/>
          <p:nvPr/>
        </p:nvGrpSpPr>
        <p:grpSpPr>
          <a:xfrm>
            <a:off x="6892097" y="2233336"/>
            <a:ext cx="366015" cy="402284"/>
            <a:chOff x="1408670" y="3991232"/>
            <a:chExt cx="488020" cy="53637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D5EE13-5282-9E41-B9BA-3824793B1E23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41D074-F013-5E40-B461-522B1835785D}"/>
                </a:ext>
              </a:extLst>
            </p:cNvPr>
            <p:cNvSpPr txBox="1"/>
            <p:nvPr/>
          </p:nvSpPr>
          <p:spPr>
            <a:xfrm>
              <a:off x="1481618" y="4035167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9EE48-81EE-1E49-ACC5-A6DD11BDD664}"/>
              </a:ext>
            </a:extLst>
          </p:cNvPr>
          <p:cNvCxnSpPr>
            <a:cxnSpLocks/>
            <a:stCxn id="24" idx="3"/>
            <a:endCxn id="22" idx="0"/>
          </p:cNvCxnSpPr>
          <p:nvPr/>
        </p:nvCxnSpPr>
        <p:spPr>
          <a:xfrm flipH="1">
            <a:off x="6580275" y="2526016"/>
            <a:ext cx="362039" cy="38677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7983FA1-AEE4-B649-A657-216FFADE559D}"/>
              </a:ext>
            </a:extLst>
          </p:cNvPr>
          <p:cNvGrpSpPr/>
          <p:nvPr/>
        </p:nvGrpSpPr>
        <p:grpSpPr>
          <a:xfrm>
            <a:off x="6408826" y="2912791"/>
            <a:ext cx="370510" cy="399782"/>
            <a:chOff x="1408670" y="3991232"/>
            <a:chExt cx="494013" cy="5330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6EA5EB0-0DCF-074D-BFB3-ED1AF01820CF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68385B-DF61-754E-8D93-906C7081E999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F90E73-3AE9-AC44-BCA6-0BAEF268EBF5}"/>
              </a:ext>
            </a:extLst>
          </p:cNvPr>
          <p:cNvGrpSpPr/>
          <p:nvPr/>
        </p:nvGrpSpPr>
        <p:grpSpPr>
          <a:xfrm>
            <a:off x="7374134" y="2910289"/>
            <a:ext cx="366015" cy="402284"/>
            <a:chOff x="1408670" y="3991232"/>
            <a:chExt cx="488020" cy="53637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C18CE36-9653-1B40-9EB3-AE707CF5A806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3242AD-A6AA-2A4B-9EF1-601B5566B5F5}"/>
                </a:ext>
              </a:extLst>
            </p:cNvPr>
            <p:cNvSpPr txBox="1"/>
            <p:nvPr/>
          </p:nvSpPr>
          <p:spPr>
            <a:xfrm>
              <a:off x="1481618" y="4035167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00BE09-3851-E341-8321-FD1EBEE4BD7D}"/>
              </a:ext>
            </a:extLst>
          </p:cNvPr>
          <p:cNvCxnSpPr>
            <a:cxnSpLocks/>
            <a:stCxn id="24" idx="5"/>
            <a:endCxn id="20" idx="0"/>
          </p:cNvCxnSpPr>
          <p:nvPr/>
        </p:nvCxnSpPr>
        <p:spPr>
          <a:xfrm>
            <a:off x="7184781" y="2526016"/>
            <a:ext cx="360803" cy="38426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D161DC-2556-A949-8888-665AF96379C8}"/>
              </a:ext>
            </a:extLst>
          </p:cNvPr>
          <p:cNvCxnSpPr>
            <a:cxnSpLocks/>
            <a:stCxn id="22" idx="3"/>
            <a:endCxn id="18" idx="0"/>
          </p:cNvCxnSpPr>
          <p:nvPr/>
        </p:nvCxnSpPr>
        <p:spPr>
          <a:xfrm flipH="1">
            <a:off x="6242927" y="3205471"/>
            <a:ext cx="216114" cy="3968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4D6D39-3534-584A-AF26-2D293992176E}"/>
              </a:ext>
            </a:extLst>
          </p:cNvPr>
          <p:cNvGrpSpPr/>
          <p:nvPr/>
        </p:nvGrpSpPr>
        <p:grpSpPr>
          <a:xfrm>
            <a:off x="6071478" y="3602318"/>
            <a:ext cx="370510" cy="399782"/>
            <a:chOff x="1408670" y="3991232"/>
            <a:chExt cx="494013" cy="53304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5D095A-6CD4-804D-88A0-A6D1795ECE02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256306-DF6F-EF4A-8D43-30E43C7FF488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B6AB07-4C34-4C44-A1E0-CA62EDB55873}"/>
              </a:ext>
            </a:extLst>
          </p:cNvPr>
          <p:cNvCxnSpPr>
            <a:cxnSpLocks/>
            <a:stCxn id="20" idx="3"/>
            <a:endCxn id="16" idx="0"/>
          </p:cNvCxnSpPr>
          <p:nvPr/>
        </p:nvCxnSpPr>
        <p:spPr>
          <a:xfrm flipH="1">
            <a:off x="7149068" y="3202969"/>
            <a:ext cx="275282" cy="39515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BDA455-764D-B645-9E2D-AFBC84193265}"/>
              </a:ext>
            </a:extLst>
          </p:cNvPr>
          <p:cNvGrpSpPr/>
          <p:nvPr/>
        </p:nvGrpSpPr>
        <p:grpSpPr>
          <a:xfrm>
            <a:off x="6977618" y="3598130"/>
            <a:ext cx="342900" cy="402284"/>
            <a:chOff x="1408670" y="3991232"/>
            <a:chExt cx="457200" cy="53637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457051E-11BD-5C4B-9DF8-98D3283769FB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E41FE9-C6D2-B847-84B4-7E0F88D91F48}"/>
                </a:ext>
              </a:extLst>
            </p:cNvPr>
            <p:cNvSpPr txBox="1"/>
            <p:nvPr/>
          </p:nvSpPr>
          <p:spPr>
            <a:xfrm>
              <a:off x="1475625" y="4035167"/>
              <a:ext cx="33354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1C7F87-42FB-A744-B632-5A2CC4BEFB78}"/>
              </a:ext>
            </a:extLst>
          </p:cNvPr>
          <p:cNvCxnSpPr>
            <a:cxnSpLocks/>
            <a:stCxn id="20" idx="5"/>
            <a:endCxn id="28" idx="0"/>
          </p:cNvCxnSpPr>
          <p:nvPr/>
        </p:nvCxnSpPr>
        <p:spPr>
          <a:xfrm>
            <a:off x="7666818" y="3202969"/>
            <a:ext cx="221666" cy="37502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8812E81-0CA4-9948-A751-E9DE387CB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30" y="1748661"/>
            <a:ext cx="4747399" cy="418844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tree</a:t>
            </a:r>
            <a:r>
              <a:rPr lang="en-US" dirty="0"/>
              <a:t> is a collection of nodes where each node has at most 1 parent and at least 0 children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binary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tree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dirty="0"/>
              <a:t>is a tree where each node has at most 2 children</a:t>
            </a:r>
          </a:p>
          <a:p>
            <a:endParaRPr lang="en-US" b="1" dirty="0">
              <a:solidFill>
                <a:schemeClr val="accent3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Root node</a:t>
            </a:r>
            <a:r>
              <a:rPr lang="en-US" b="1" dirty="0">
                <a:solidFill>
                  <a:srgbClr val="4C3282"/>
                </a:solidFill>
              </a:rPr>
              <a:t>: </a:t>
            </a:r>
            <a:r>
              <a:rPr lang="en-US" dirty="0"/>
              <a:t>the single node with no parent, “top” of the tree</a:t>
            </a:r>
          </a:p>
          <a:p>
            <a:r>
              <a:rPr lang="en-US" b="1" dirty="0">
                <a:solidFill>
                  <a:srgbClr val="FF0000"/>
                </a:solidFill>
              </a:rPr>
              <a:t>Leaf node</a:t>
            </a:r>
            <a:r>
              <a:rPr lang="en-US" b="1" dirty="0">
                <a:solidFill>
                  <a:srgbClr val="4C3282"/>
                </a:solidFill>
              </a:rPr>
              <a:t>: </a:t>
            </a:r>
            <a:r>
              <a:rPr lang="en-US" dirty="0"/>
              <a:t>a node with no children</a:t>
            </a:r>
          </a:p>
          <a:p>
            <a:r>
              <a:rPr lang="en-US" b="1" dirty="0">
                <a:solidFill>
                  <a:srgbClr val="FF0000"/>
                </a:solidFill>
              </a:rPr>
              <a:t>Subtree</a:t>
            </a:r>
            <a:r>
              <a:rPr lang="en-US" b="1" dirty="0">
                <a:solidFill>
                  <a:srgbClr val="4C3282"/>
                </a:solidFill>
              </a:rPr>
              <a:t>: </a:t>
            </a:r>
            <a:r>
              <a:rPr lang="en-US" dirty="0"/>
              <a:t>a node and all its descendants</a:t>
            </a:r>
          </a:p>
          <a:p>
            <a:r>
              <a:rPr lang="en-US" b="1" dirty="0">
                <a:solidFill>
                  <a:srgbClr val="FF0000"/>
                </a:solidFill>
              </a:rPr>
              <a:t>Edge</a:t>
            </a:r>
            <a:r>
              <a:rPr lang="en-US" b="1" dirty="0">
                <a:solidFill>
                  <a:srgbClr val="4C3282"/>
                </a:solidFill>
              </a:rPr>
              <a:t>: </a:t>
            </a:r>
            <a:r>
              <a:rPr lang="en-US" dirty="0"/>
              <a:t>connection between parent and a child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74E57E0-5ED3-4241-B89B-C36FF0FAEB12}"/>
              </a:ext>
            </a:extLst>
          </p:cNvPr>
          <p:cNvGrpSpPr/>
          <p:nvPr/>
        </p:nvGrpSpPr>
        <p:grpSpPr>
          <a:xfrm>
            <a:off x="7717033" y="3577996"/>
            <a:ext cx="445163" cy="402284"/>
            <a:chOff x="1408670" y="3991232"/>
            <a:chExt cx="593551" cy="53637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33C03D-A93D-3D45-AC51-15D93A12C6D9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9680D6-77BA-474E-980A-D16DBD2D1CE9}"/>
                </a:ext>
              </a:extLst>
            </p:cNvPr>
            <p:cNvSpPr txBox="1"/>
            <p:nvPr/>
          </p:nvSpPr>
          <p:spPr>
            <a:xfrm>
              <a:off x="1418301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E1DA55-19BE-7241-8FA5-35E5ADA482C9}"/>
              </a:ext>
            </a:extLst>
          </p:cNvPr>
          <p:cNvGrpSpPr/>
          <p:nvPr/>
        </p:nvGrpSpPr>
        <p:grpSpPr>
          <a:xfrm>
            <a:off x="6675639" y="4354065"/>
            <a:ext cx="366015" cy="402284"/>
            <a:chOff x="1408670" y="3991232"/>
            <a:chExt cx="488020" cy="53637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2E84A70-5385-7942-A3AC-883C3B5035B5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F2D43E2-7552-BD4D-B183-FCB325FAF742}"/>
                </a:ext>
              </a:extLst>
            </p:cNvPr>
            <p:cNvSpPr txBox="1"/>
            <p:nvPr/>
          </p:nvSpPr>
          <p:spPr>
            <a:xfrm>
              <a:off x="1481618" y="4035167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B1FE6D-E47A-2644-AF89-F33185F2281D}"/>
              </a:ext>
            </a:extLst>
          </p:cNvPr>
          <p:cNvCxnSpPr>
            <a:cxnSpLocks/>
            <a:stCxn id="16" idx="3"/>
            <a:endCxn id="45" idx="0"/>
          </p:cNvCxnSpPr>
          <p:nvPr/>
        </p:nvCxnSpPr>
        <p:spPr>
          <a:xfrm flipH="1">
            <a:off x="6847089" y="3890810"/>
            <a:ext cx="180746" cy="46325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26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8E55-6A7E-7644-BFB5-5FC61396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sz="2700" i="1" dirty="0">
                <a:solidFill>
                  <a:schemeClr val="accent4"/>
                </a:solidFill>
              </a:rPr>
              <a:t>Review</a:t>
            </a:r>
            <a:r>
              <a:rPr lang="en-US" dirty="0"/>
              <a:t> Trees We’ve Seen So Far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50CF7B-221E-5140-AC16-2995B43AE315}"/>
              </a:ext>
            </a:extLst>
          </p:cNvPr>
          <p:cNvGrpSpPr/>
          <p:nvPr/>
        </p:nvGrpSpPr>
        <p:grpSpPr>
          <a:xfrm>
            <a:off x="1292576" y="3086104"/>
            <a:ext cx="443451" cy="402284"/>
            <a:chOff x="1408670" y="3991232"/>
            <a:chExt cx="591268" cy="53637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C5C4E1E-FFC6-BA49-A84A-EDADD6786796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12CCF8-741D-F344-888A-B4D0FFB830F6}"/>
                </a:ext>
              </a:extLst>
            </p:cNvPr>
            <p:cNvSpPr txBox="1"/>
            <p:nvPr/>
          </p:nvSpPr>
          <p:spPr>
            <a:xfrm>
              <a:off x="1416018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0FA87A-39FC-C444-9320-DCBC530855AF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980754" y="3378784"/>
            <a:ext cx="362039" cy="38677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56FF94BC-5B89-174D-9EFD-A1DF0AD94953}"/>
              </a:ext>
            </a:extLst>
          </p:cNvPr>
          <p:cNvGrpSpPr/>
          <p:nvPr/>
        </p:nvGrpSpPr>
        <p:grpSpPr>
          <a:xfrm>
            <a:off x="809305" y="3765559"/>
            <a:ext cx="370510" cy="399782"/>
            <a:chOff x="1408670" y="3991232"/>
            <a:chExt cx="494013" cy="53304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2F4221C-53E6-994D-BAC0-4484CEE81897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8336D9-0D4F-F24D-8987-C677EA42F523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81DD81-73F4-224F-A752-E1729A0758CF}"/>
              </a:ext>
            </a:extLst>
          </p:cNvPr>
          <p:cNvGrpSpPr/>
          <p:nvPr/>
        </p:nvGrpSpPr>
        <p:grpSpPr>
          <a:xfrm>
            <a:off x="1774614" y="3763057"/>
            <a:ext cx="449824" cy="402284"/>
            <a:chOff x="1408670" y="3991232"/>
            <a:chExt cx="599765" cy="53637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6C4FC6-3EB3-F542-9C2A-55E34E292189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74469A-77E3-9743-99C2-930459B7D29F}"/>
                </a:ext>
              </a:extLst>
            </p:cNvPr>
            <p:cNvSpPr txBox="1"/>
            <p:nvPr/>
          </p:nvSpPr>
          <p:spPr>
            <a:xfrm>
              <a:off x="1424515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B40D60-C5C4-674E-9A41-0AADB3D41DEE}"/>
              </a:ext>
            </a:extLst>
          </p:cNvPr>
          <p:cNvCxnSpPr>
            <a:cxnSpLocks/>
            <a:stCxn id="5" idx="5"/>
            <a:endCxn id="12" idx="0"/>
          </p:cNvCxnSpPr>
          <p:nvPr/>
        </p:nvCxnSpPr>
        <p:spPr>
          <a:xfrm>
            <a:off x="1585260" y="3378784"/>
            <a:ext cx="360803" cy="38426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1F958C-3343-DA49-9013-C6B29BADBD04}"/>
              </a:ext>
            </a:extLst>
          </p:cNvPr>
          <p:cNvCxnSpPr>
            <a:cxnSpLocks/>
            <a:stCxn id="9" idx="3"/>
            <a:endCxn id="17" idx="0"/>
          </p:cNvCxnSpPr>
          <p:nvPr/>
        </p:nvCxnSpPr>
        <p:spPr>
          <a:xfrm flipH="1">
            <a:off x="643406" y="4058239"/>
            <a:ext cx="216114" cy="3968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C61BD4-5B00-F04A-9123-2A5994895C4B}"/>
              </a:ext>
            </a:extLst>
          </p:cNvPr>
          <p:cNvGrpSpPr/>
          <p:nvPr/>
        </p:nvGrpSpPr>
        <p:grpSpPr>
          <a:xfrm>
            <a:off x="471957" y="4455086"/>
            <a:ext cx="370510" cy="399782"/>
            <a:chOff x="1408670" y="3991232"/>
            <a:chExt cx="494013" cy="53304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ABA583D-32DE-594E-BD21-64EFD34440F1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D9ED07-BA51-6541-830E-ED76AF76D9A4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D76E12-7A6B-1A43-8DA0-CCF7442024C0}"/>
              </a:ext>
            </a:extLst>
          </p:cNvPr>
          <p:cNvCxnSpPr>
            <a:cxnSpLocks/>
            <a:stCxn id="12" idx="3"/>
            <a:endCxn id="21" idx="0"/>
          </p:cNvCxnSpPr>
          <p:nvPr/>
        </p:nvCxnSpPr>
        <p:spPr>
          <a:xfrm flipH="1">
            <a:off x="1481965" y="4055740"/>
            <a:ext cx="342866" cy="35947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4A192F-8F57-F44F-9741-B3BCDCC7964D}"/>
              </a:ext>
            </a:extLst>
          </p:cNvPr>
          <p:cNvGrpSpPr/>
          <p:nvPr/>
        </p:nvGrpSpPr>
        <p:grpSpPr>
          <a:xfrm>
            <a:off x="1310515" y="4415210"/>
            <a:ext cx="473429" cy="342900"/>
            <a:chOff x="1408670" y="3991232"/>
            <a:chExt cx="631238" cy="4572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E29599E-9724-B14F-AD28-C5B3F2536DA7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F3A394-00E6-8E4E-A467-3F50925B1F59}"/>
                </a:ext>
              </a:extLst>
            </p:cNvPr>
            <p:cNvSpPr txBox="1"/>
            <p:nvPr/>
          </p:nvSpPr>
          <p:spPr>
            <a:xfrm>
              <a:off x="1410133" y="4035167"/>
              <a:ext cx="629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F9AED4-767B-7445-9AD0-24731FD1CE96}"/>
              </a:ext>
            </a:extLst>
          </p:cNvPr>
          <p:cNvCxnSpPr>
            <a:cxnSpLocks/>
            <a:stCxn id="12" idx="5"/>
            <a:endCxn id="25" idx="0"/>
          </p:cNvCxnSpPr>
          <p:nvPr/>
        </p:nvCxnSpPr>
        <p:spPr>
          <a:xfrm>
            <a:off x="2067297" y="4055737"/>
            <a:ext cx="221666" cy="37502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022806-7584-3045-BDA6-5A6A7528EA91}"/>
              </a:ext>
            </a:extLst>
          </p:cNvPr>
          <p:cNvGrpSpPr/>
          <p:nvPr/>
        </p:nvGrpSpPr>
        <p:grpSpPr>
          <a:xfrm>
            <a:off x="2117512" y="4430764"/>
            <a:ext cx="445163" cy="402284"/>
            <a:chOff x="1408670" y="3991232"/>
            <a:chExt cx="593551" cy="53637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B03A06-E1B9-774B-9B47-79B8B25990CA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14E8FC-C9C2-2C46-94DA-E47AD55A01A6}"/>
                </a:ext>
              </a:extLst>
            </p:cNvPr>
            <p:cNvSpPr txBox="1"/>
            <p:nvPr/>
          </p:nvSpPr>
          <p:spPr>
            <a:xfrm>
              <a:off x="1418301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2797C8-F3E9-BA42-9355-1867131CAE68}"/>
              </a:ext>
            </a:extLst>
          </p:cNvPr>
          <p:cNvGrpSpPr/>
          <p:nvPr/>
        </p:nvGrpSpPr>
        <p:grpSpPr>
          <a:xfrm>
            <a:off x="1076117" y="5206833"/>
            <a:ext cx="445163" cy="402284"/>
            <a:chOff x="1408670" y="3991232"/>
            <a:chExt cx="593551" cy="53637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6EF62B-1F0C-7640-B0A1-31B6A36A2FBF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B237242-6DDF-7940-AE57-523EC8A9FE4C}"/>
                </a:ext>
              </a:extLst>
            </p:cNvPr>
            <p:cNvSpPr txBox="1"/>
            <p:nvPr/>
          </p:nvSpPr>
          <p:spPr>
            <a:xfrm>
              <a:off x="1418301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DF9110-595E-4748-8FCC-221A3195E2A3}"/>
              </a:ext>
            </a:extLst>
          </p:cNvPr>
          <p:cNvCxnSpPr>
            <a:cxnSpLocks/>
            <a:stCxn id="21" idx="3"/>
            <a:endCxn id="28" idx="0"/>
          </p:cNvCxnSpPr>
          <p:nvPr/>
        </p:nvCxnSpPr>
        <p:spPr>
          <a:xfrm flipH="1">
            <a:off x="1247567" y="4707895"/>
            <a:ext cx="113165" cy="49893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3B60311-4E63-D248-8996-024117BC065A}"/>
              </a:ext>
            </a:extLst>
          </p:cNvPr>
          <p:cNvGrpSpPr/>
          <p:nvPr/>
        </p:nvGrpSpPr>
        <p:grpSpPr>
          <a:xfrm>
            <a:off x="7534674" y="3119055"/>
            <a:ext cx="366015" cy="402284"/>
            <a:chOff x="1408670" y="3991232"/>
            <a:chExt cx="488020" cy="53637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319A33C-E0E8-8A49-B398-4115CBE9E1D9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6FCE71-7B3C-6B40-8A92-14088E258277}"/>
                </a:ext>
              </a:extLst>
            </p:cNvPr>
            <p:cNvSpPr txBox="1"/>
            <p:nvPr/>
          </p:nvSpPr>
          <p:spPr>
            <a:xfrm>
              <a:off x="1481618" y="4035167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C0C56E-99A6-224C-9021-FD6599AA2EDB}"/>
              </a:ext>
            </a:extLst>
          </p:cNvPr>
          <p:cNvCxnSpPr>
            <a:cxnSpLocks/>
            <a:stCxn id="32" idx="3"/>
            <a:endCxn id="36" idx="0"/>
          </p:cNvCxnSpPr>
          <p:nvPr/>
        </p:nvCxnSpPr>
        <p:spPr>
          <a:xfrm flipH="1">
            <a:off x="7222852" y="3411735"/>
            <a:ext cx="362039" cy="38677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5F91B94-2920-0D4C-A67F-7F4CDA57CCC1}"/>
              </a:ext>
            </a:extLst>
          </p:cNvPr>
          <p:cNvGrpSpPr/>
          <p:nvPr/>
        </p:nvGrpSpPr>
        <p:grpSpPr>
          <a:xfrm>
            <a:off x="7051403" y="3798510"/>
            <a:ext cx="370510" cy="399782"/>
            <a:chOff x="1408670" y="3991232"/>
            <a:chExt cx="494013" cy="53304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53EE45D-AB7A-014E-A3EA-F35AC4F728AC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82A569D-76C8-244C-8973-1F52DFFC0A80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4286A9-719E-954D-B43A-ECB3752E5E33}"/>
              </a:ext>
            </a:extLst>
          </p:cNvPr>
          <p:cNvGrpSpPr/>
          <p:nvPr/>
        </p:nvGrpSpPr>
        <p:grpSpPr>
          <a:xfrm>
            <a:off x="8016710" y="3796008"/>
            <a:ext cx="366015" cy="402284"/>
            <a:chOff x="1408670" y="3991232"/>
            <a:chExt cx="488020" cy="536378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6515459-AC74-444C-B6EA-94F3C7CF749C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CB26441-EACE-8D49-B741-37F51335AF07}"/>
                </a:ext>
              </a:extLst>
            </p:cNvPr>
            <p:cNvSpPr txBox="1"/>
            <p:nvPr/>
          </p:nvSpPr>
          <p:spPr>
            <a:xfrm>
              <a:off x="1481618" y="4035167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49F405-083E-6749-8640-3CD01EEF2B5C}"/>
              </a:ext>
            </a:extLst>
          </p:cNvPr>
          <p:cNvCxnSpPr>
            <a:cxnSpLocks/>
            <a:stCxn id="32" idx="5"/>
            <a:endCxn id="39" idx="0"/>
          </p:cNvCxnSpPr>
          <p:nvPr/>
        </p:nvCxnSpPr>
        <p:spPr>
          <a:xfrm>
            <a:off x="7827358" y="3411735"/>
            <a:ext cx="360803" cy="38426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932429-449B-6D48-830A-7094BFD9ADF4}"/>
              </a:ext>
            </a:extLst>
          </p:cNvPr>
          <p:cNvCxnSpPr>
            <a:cxnSpLocks/>
            <a:stCxn id="36" idx="3"/>
            <a:endCxn id="44" idx="0"/>
          </p:cNvCxnSpPr>
          <p:nvPr/>
        </p:nvCxnSpPr>
        <p:spPr>
          <a:xfrm flipH="1">
            <a:off x="6885504" y="4091189"/>
            <a:ext cx="216114" cy="3968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4549E1-3232-C746-B171-81C2DF4ABA4B}"/>
              </a:ext>
            </a:extLst>
          </p:cNvPr>
          <p:cNvGrpSpPr/>
          <p:nvPr/>
        </p:nvGrpSpPr>
        <p:grpSpPr>
          <a:xfrm>
            <a:off x="6714055" y="4488036"/>
            <a:ext cx="370510" cy="399782"/>
            <a:chOff x="1408670" y="3991232"/>
            <a:chExt cx="494013" cy="533042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4B71A24-D5D4-5C47-BCF9-3D643B75A958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957819-0B39-404F-866D-F651B1920F84}"/>
                </a:ext>
              </a:extLst>
            </p:cNvPr>
            <p:cNvSpPr txBox="1"/>
            <p:nvPr/>
          </p:nvSpPr>
          <p:spPr>
            <a:xfrm>
              <a:off x="1487611" y="4031831"/>
              <a:ext cx="41507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F9DDB7-A23C-2C45-B736-84A6FB71E8BE}"/>
              </a:ext>
            </a:extLst>
          </p:cNvPr>
          <p:cNvCxnSpPr>
            <a:cxnSpLocks/>
            <a:stCxn id="36" idx="5"/>
            <a:endCxn id="48" idx="0"/>
          </p:cNvCxnSpPr>
          <p:nvPr/>
        </p:nvCxnSpPr>
        <p:spPr>
          <a:xfrm>
            <a:off x="7344086" y="4091189"/>
            <a:ext cx="254604" cy="398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EE23FB-2DF4-4F41-A8DA-C0690CD5BB1D}"/>
              </a:ext>
            </a:extLst>
          </p:cNvPr>
          <p:cNvGrpSpPr/>
          <p:nvPr/>
        </p:nvGrpSpPr>
        <p:grpSpPr>
          <a:xfrm>
            <a:off x="7427240" y="4489800"/>
            <a:ext cx="342900" cy="402284"/>
            <a:chOff x="1408670" y="3991232"/>
            <a:chExt cx="457200" cy="53637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47F65D8-927E-A74D-9867-AAF987639913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55B20B-0302-1A4C-88B4-741BF0485589}"/>
                </a:ext>
              </a:extLst>
            </p:cNvPr>
            <p:cNvSpPr txBox="1"/>
            <p:nvPr/>
          </p:nvSpPr>
          <p:spPr>
            <a:xfrm>
              <a:off x="1475625" y="4035167"/>
              <a:ext cx="33354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5EFD43-9B52-BD4F-8D28-FE18D2CB35FE}"/>
              </a:ext>
            </a:extLst>
          </p:cNvPr>
          <p:cNvCxnSpPr>
            <a:cxnSpLocks/>
            <a:stCxn id="39" idx="3"/>
            <a:endCxn id="52" idx="0"/>
          </p:cNvCxnSpPr>
          <p:nvPr/>
        </p:nvCxnSpPr>
        <p:spPr>
          <a:xfrm flipH="1">
            <a:off x="8030443" y="4088687"/>
            <a:ext cx="36484" cy="40110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6481795-B429-2146-9BA1-4A955B33E91A}"/>
              </a:ext>
            </a:extLst>
          </p:cNvPr>
          <p:cNvGrpSpPr/>
          <p:nvPr/>
        </p:nvGrpSpPr>
        <p:grpSpPr>
          <a:xfrm>
            <a:off x="7858992" y="4489800"/>
            <a:ext cx="445163" cy="402284"/>
            <a:chOff x="1408670" y="3991232"/>
            <a:chExt cx="593551" cy="536378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4CC9AB3-814A-A440-B491-78082509C755}"/>
                </a:ext>
              </a:extLst>
            </p:cNvPr>
            <p:cNvSpPr/>
            <p:nvPr/>
          </p:nvSpPr>
          <p:spPr>
            <a:xfrm>
              <a:off x="1408670" y="3991232"/>
              <a:ext cx="4572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B5AFF1-6642-764F-8D95-B582A60688E9}"/>
                </a:ext>
              </a:extLst>
            </p:cNvPr>
            <p:cNvSpPr txBox="1"/>
            <p:nvPr/>
          </p:nvSpPr>
          <p:spPr>
            <a:xfrm>
              <a:off x="1418301" y="4035167"/>
              <a:ext cx="5839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31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0CBBA6E5-7C57-F74C-A783-62A5F406BF2D}"/>
              </a:ext>
            </a:extLst>
          </p:cNvPr>
          <p:cNvSpPr txBox="1"/>
          <p:nvPr/>
        </p:nvSpPr>
        <p:spPr>
          <a:xfrm>
            <a:off x="498277" y="2178963"/>
            <a:ext cx="22715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Binary Search Trees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And variant: </a:t>
            </a:r>
            <a:r>
              <a:rPr lang="en-US" sz="1500" b="1" dirty="0"/>
              <a:t>AVL Trees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94BFEE-B4D8-6340-956E-B516E62202ED}"/>
              </a:ext>
            </a:extLst>
          </p:cNvPr>
          <p:cNvSpPr txBox="1"/>
          <p:nvPr/>
        </p:nvSpPr>
        <p:spPr>
          <a:xfrm>
            <a:off x="7020092" y="2181210"/>
            <a:ext cx="17171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Binary Min-Heaps</a:t>
            </a:r>
          </a:p>
        </p:txBody>
      </p:sp>
    </p:spTree>
    <p:extLst>
      <p:ext uri="{BB962C8B-B14F-4D97-AF65-F5344CB8AC3E}">
        <p14:creationId xmlns:p14="http://schemas.microsoft.com/office/powerpoint/2010/main" val="72920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074EBE49-5B01-1A43-B007-E1A942A1B6C3}"/>
              </a:ext>
            </a:extLst>
          </p:cNvPr>
          <p:cNvSpPr/>
          <p:nvPr/>
        </p:nvSpPr>
        <p:spPr>
          <a:xfrm>
            <a:off x="3168438" y="-970365"/>
            <a:ext cx="8043713" cy="8043713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4447A3-0C9B-3C41-B30D-C10C26E82005}"/>
              </a:ext>
            </a:extLst>
          </p:cNvPr>
          <p:cNvSpPr/>
          <p:nvPr/>
        </p:nvSpPr>
        <p:spPr>
          <a:xfrm>
            <a:off x="392033" y="1811145"/>
            <a:ext cx="2694154" cy="269415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33770-65EE-4B38-8535-969E2122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dirty="0"/>
              <a:t>Inter-data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630-55FE-403C-8854-D8149EA76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18" y="2551732"/>
            <a:ext cx="2332980" cy="1525753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dirty="0"/>
              <a:t>Elements only store pure data, no connection info</a:t>
            </a:r>
          </a:p>
          <a:p>
            <a:r>
              <a:rPr lang="en-US" sz="1500" dirty="0"/>
              <a:t>Only relationship between data is order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9F0442A-CA9B-4D32-8C21-C0503515C8BF}"/>
              </a:ext>
            </a:extLst>
          </p:cNvPr>
          <p:cNvGraphicFramePr>
            <a:graphicFrameLocks noGrp="1"/>
          </p:cNvGraphicFramePr>
          <p:nvPr/>
        </p:nvGraphicFramePr>
        <p:xfrm>
          <a:off x="490476" y="4850477"/>
          <a:ext cx="2493483" cy="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61">
                  <a:extLst>
                    <a:ext uri="{9D8B030D-6E8A-4147-A177-3AD203B41FA5}">
                      <a16:colId xmlns:a16="http://schemas.microsoft.com/office/drawing/2014/main" val="1913008282"/>
                    </a:ext>
                  </a:extLst>
                </a:gridCol>
                <a:gridCol w="831161">
                  <a:extLst>
                    <a:ext uri="{9D8B030D-6E8A-4147-A177-3AD203B41FA5}">
                      <a16:colId xmlns:a16="http://schemas.microsoft.com/office/drawing/2014/main" val="3818439480"/>
                    </a:ext>
                  </a:extLst>
                </a:gridCol>
                <a:gridCol w="831161">
                  <a:extLst>
                    <a:ext uri="{9D8B030D-6E8A-4147-A177-3AD203B41FA5}">
                      <a16:colId xmlns:a16="http://schemas.microsoft.com/office/drawing/2014/main" val="4060650453"/>
                    </a:ext>
                  </a:extLst>
                </a:gridCol>
              </a:tblGrid>
              <a:tr h="3712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284337"/>
                  </a:ext>
                </a:extLst>
              </a:tr>
              <a:tr h="37121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C328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C328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C328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489137"/>
                  </a:ext>
                </a:extLst>
              </a:tr>
            </a:tbl>
          </a:graphicData>
        </a:graphic>
      </p:graphicFrame>
      <p:sp>
        <p:nvSpPr>
          <p:cNvPr id="42" name="Oval 41">
            <a:extLst>
              <a:ext uri="{FF2B5EF4-FFF2-40B4-BE49-F238E27FC236}">
                <a16:creationId xmlns:a16="http://schemas.microsoft.com/office/drawing/2014/main" id="{550EF77A-3D4C-9C48-8B73-D10F648B0C96}"/>
              </a:ext>
            </a:extLst>
          </p:cNvPr>
          <p:cNvSpPr/>
          <p:nvPr/>
        </p:nvSpPr>
        <p:spPr>
          <a:xfrm>
            <a:off x="3303800" y="1797337"/>
            <a:ext cx="2694154" cy="26941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FF453-078E-0740-AE5F-ECB96CCD7D0A}"/>
              </a:ext>
            </a:extLst>
          </p:cNvPr>
          <p:cNvSpPr txBox="1"/>
          <p:nvPr/>
        </p:nvSpPr>
        <p:spPr>
          <a:xfrm>
            <a:off x="1415824" y="2041774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Arrays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78D0099D-496E-E94A-A071-7F1D8B942A5A}"/>
              </a:ext>
            </a:extLst>
          </p:cNvPr>
          <p:cNvSpPr txBox="1">
            <a:spLocks/>
          </p:cNvSpPr>
          <p:nvPr/>
        </p:nvSpPr>
        <p:spPr>
          <a:xfrm>
            <a:off x="3484386" y="2555559"/>
            <a:ext cx="2332980" cy="152575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Elements store data and connection info</a:t>
            </a:r>
          </a:p>
          <a:p>
            <a:r>
              <a:rPr lang="en-US" sz="1500" dirty="0"/>
              <a:t>Directional relationships between nodes; limited connections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504C56-2DCF-0947-879E-8863FB842D65}"/>
              </a:ext>
            </a:extLst>
          </p:cNvPr>
          <p:cNvSpPr txBox="1"/>
          <p:nvPr/>
        </p:nvSpPr>
        <p:spPr>
          <a:xfrm>
            <a:off x="4370030" y="2041774"/>
            <a:ext cx="6253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Trees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155D9A-8CB2-034C-9817-21B113B73731}"/>
              </a:ext>
            </a:extLst>
          </p:cNvPr>
          <p:cNvSpPr txBox="1"/>
          <p:nvPr/>
        </p:nvSpPr>
        <p:spPr>
          <a:xfrm>
            <a:off x="7307016" y="2041461"/>
            <a:ext cx="8050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Graphs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39563554-E4C9-A140-9C99-F2BF8510B9F9}"/>
              </a:ext>
            </a:extLst>
          </p:cNvPr>
          <p:cNvSpPr txBox="1">
            <a:spLocks/>
          </p:cNvSpPr>
          <p:nvPr/>
        </p:nvSpPr>
        <p:spPr>
          <a:xfrm>
            <a:off x="6544121" y="2551731"/>
            <a:ext cx="2332980" cy="152575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Elements AND connections can store data</a:t>
            </a:r>
          </a:p>
          <a:p>
            <a:r>
              <a:rPr lang="en-US" sz="1500" dirty="0"/>
              <a:t>Relationships dictate structure; huge freedom with connections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E591F7-AC73-0A48-A1F8-B9B5A08874CA}"/>
              </a:ext>
            </a:extLst>
          </p:cNvPr>
          <p:cNvGrpSpPr/>
          <p:nvPr/>
        </p:nvGrpSpPr>
        <p:grpSpPr>
          <a:xfrm>
            <a:off x="3917278" y="4686117"/>
            <a:ext cx="1331324" cy="1079237"/>
            <a:chOff x="5223037" y="5105153"/>
            <a:chExt cx="1775098" cy="143898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379B349-C59C-D143-92FC-3CD28323A0E8}"/>
                </a:ext>
              </a:extLst>
            </p:cNvPr>
            <p:cNvGrpSpPr/>
            <p:nvPr/>
          </p:nvGrpSpPr>
          <p:grpSpPr>
            <a:xfrm>
              <a:off x="5867400" y="5105153"/>
              <a:ext cx="488020" cy="536378"/>
              <a:chOff x="1408670" y="3991232"/>
              <a:chExt cx="488020" cy="536378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5553CED-3D17-3D41-B267-103ABB9D9761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A26717-B273-E741-812C-80A2D48C12EE}"/>
                  </a:ext>
                </a:extLst>
              </p:cNvPr>
              <p:cNvSpPr txBox="1"/>
              <p:nvPr/>
            </p:nvSpPr>
            <p:spPr>
              <a:xfrm>
                <a:off x="1481618" y="4035167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B</a:t>
                </a:r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F6E7B7-B841-AA4B-9E0C-4AD23C18C744}"/>
                </a:ext>
              </a:extLst>
            </p:cNvPr>
            <p:cNvCxnSpPr>
              <a:cxnSpLocks/>
              <a:stCxn id="57" idx="3"/>
              <a:endCxn id="61" idx="0"/>
            </p:cNvCxnSpPr>
            <p:nvPr/>
          </p:nvCxnSpPr>
          <p:spPr>
            <a:xfrm flipH="1">
              <a:off x="5451637" y="5495398"/>
              <a:ext cx="482718" cy="515695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2892728-1C43-2A45-9C97-9489A6A130BA}"/>
                </a:ext>
              </a:extLst>
            </p:cNvPr>
            <p:cNvGrpSpPr/>
            <p:nvPr/>
          </p:nvGrpSpPr>
          <p:grpSpPr>
            <a:xfrm>
              <a:off x="5223037" y="6011093"/>
              <a:ext cx="494013" cy="533042"/>
              <a:chOff x="1408670" y="3991232"/>
              <a:chExt cx="494013" cy="533042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328A934-EBFF-D547-81D6-87417849CD72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766E5F-D16C-3E4F-A2AB-A64F13862272}"/>
                  </a:ext>
                </a:extLst>
              </p:cNvPr>
              <p:cNvSpPr txBox="1"/>
              <p:nvPr/>
            </p:nvSpPr>
            <p:spPr>
              <a:xfrm>
                <a:off x="1487611" y="4031831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C29F574-4788-0A40-89C3-3F9E23CA78E6}"/>
                </a:ext>
              </a:extLst>
            </p:cNvPr>
            <p:cNvGrpSpPr/>
            <p:nvPr/>
          </p:nvGrpSpPr>
          <p:grpSpPr>
            <a:xfrm>
              <a:off x="6510115" y="6007757"/>
              <a:ext cx="488020" cy="536378"/>
              <a:chOff x="1408670" y="3991232"/>
              <a:chExt cx="488020" cy="536378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775959C-65E6-0C41-A366-1460DB1BAB89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FBA3C3-230E-9A4C-AEA3-9186DB539237}"/>
                  </a:ext>
                </a:extLst>
              </p:cNvPr>
              <p:cNvSpPr txBox="1"/>
              <p:nvPr/>
            </p:nvSpPr>
            <p:spPr>
              <a:xfrm>
                <a:off x="1481618" y="4035167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</a:p>
            </p:txBody>
          </p:sp>
        </p:grp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0CB99EB-7041-ED42-A4B7-167C4488E700}"/>
                </a:ext>
              </a:extLst>
            </p:cNvPr>
            <p:cNvCxnSpPr>
              <a:cxnSpLocks/>
              <a:stCxn id="57" idx="5"/>
              <a:endCxn id="64" idx="0"/>
            </p:cNvCxnSpPr>
            <p:nvPr/>
          </p:nvCxnSpPr>
          <p:spPr>
            <a:xfrm>
              <a:off x="6257645" y="5495398"/>
              <a:ext cx="481070" cy="512359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04C224-9A09-5944-B1A2-5902930F7FFA}"/>
              </a:ext>
            </a:extLst>
          </p:cNvPr>
          <p:cNvGrpSpPr/>
          <p:nvPr/>
        </p:nvGrpSpPr>
        <p:grpSpPr>
          <a:xfrm>
            <a:off x="6832859" y="4487850"/>
            <a:ext cx="1316610" cy="1307267"/>
            <a:chOff x="9110479" y="4840799"/>
            <a:chExt cx="1755480" cy="174302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B81D8A9-44E9-D344-932E-B5353E60CFAB}"/>
                </a:ext>
              </a:extLst>
            </p:cNvPr>
            <p:cNvGrpSpPr/>
            <p:nvPr/>
          </p:nvGrpSpPr>
          <p:grpSpPr>
            <a:xfrm>
              <a:off x="9110479" y="5333753"/>
              <a:ext cx="488020" cy="536378"/>
              <a:chOff x="1408670" y="3991232"/>
              <a:chExt cx="488020" cy="536378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FE90F18-1A6B-E846-ACD1-5EAF37B72557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48B6FC-A1B5-1E4D-B134-1DC37C74075D}"/>
                  </a:ext>
                </a:extLst>
              </p:cNvPr>
              <p:cNvSpPr txBox="1"/>
              <p:nvPr/>
            </p:nvSpPr>
            <p:spPr>
              <a:xfrm>
                <a:off x="1481618" y="4035167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B</a:t>
                </a:r>
              </a:p>
            </p:txBody>
          </p: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9923313-2218-7749-B6D8-02AE5C69D8C0}"/>
                </a:ext>
              </a:extLst>
            </p:cNvPr>
            <p:cNvCxnSpPr>
              <a:cxnSpLocks/>
              <a:stCxn id="68" idx="5"/>
              <a:endCxn id="72" idx="0"/>
            </p:cNvCxnSpPr>
            <p:nvPr/>
          </p:nvCxnSpPr>
          <p:spPr>
            <a:xfrm>
              <a:off x="9500724" y="5723998"/>
              <a:ext cx="506429" cy="326781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F37E760-76C3-5549-A241-3C00B12AA83D}"/>
                </a:ext>
              </a:extLst>
            </p:cNvPr>
            <p:cNvGrpSpPr/>
            <p:nvPr/>
          </p:nvGrpSpPr>
          <p:grpSpPr>
            <a:xfrm>
              <a:off x="9778553" y="6050779"/>
              <a:ext cx="494013" cy="533042"/>
              <a:chOff x="1408670" y="3991232"/>
              <a:chExt cx="494013" cy="533042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BF44548-C259-ED4F-9098-5D7FE75DFF55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FA6EE2F-F071-EB47-B0E4-F54C012569F8}"/>
                  </a:ext>
                </a:extLst>
              </p:cNvPr>
              <p:cNvSpPr txBox="1"/>
              <p:nvPr/>
            </p:nvSpPr>
            <p:spPr>
              <a:xfrm>
                <a:off x="1487611" y="4031831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047C857-90FD-AD41-AEAB-613DCAE7632A}"/>
                </a:ext>
              </a:extLst>
            </p:cNvPr>
            <p:cNvGrpSpPr/>
            <p:nvPr/>
          </p:nvGrpSpPr>
          <p:grpSpPr>
            <a:xfrm>
              <a:off x="10377939" y="4840799"/>
              <a:ext cx="488020" cy="536378"/>
              <a:chOff x="1408670" y="3991232"/>
              <a:chExt cx="488020" cy="536378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2A78D8D-F89B-754A-9936-C2B653D60E6B}"/>
                  </a:ext>
                </a:extLst>
              </p:cNvPr>
              <p:cNvSpPr/>
              <p:nvPr/>
            </p:nvSpPr>
            <p:spPr>
              <a:xfrm>
                <a:off x="1408670" y="3991232"/>
                <a:ext cx="457200" cy="4572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7FD6AB3-133C-A849-BD52-A57168FBCAEC}"/>
                  </a:ext>
                </a:extLst>
              </p:cNvPr>
              <p:cNvSpPr txBox="1"/>
              <p:nvPr/>
            </p:nvSpPr>
            <p:spPr>
              <a:xfrm>
                <a:off x="1481618" y="4035167"/>
                <a:ext cx="41507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</a:p>
            </p:txBody>
          </p:sp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FBCBDCA-27D8-0D4C-882C-2088D94F11C7}"/>
                </a:ext>
              </a:extLst>
            </p:cNvPr>
            <p:cNvCxnSpPr>
              <a:cxnSpLocks/>
              <a:stCxn id="68" idx="7"/>
              <a:endCxn id="75" idx="2"/>
            </p:cNvCxnSpPr>
            <p:nvPr/>
          </p:nvCxnSpPr>
          <p:spPr>
            <a:xfrm flipV="1">
              <a:off x="9500724" y="5069399"/>
              <a:ext cx="877215" cy="331309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4704069-D92A-624C-9823-00FFF1C02599}"/>
                </a:ext>
              </a:extLst>
            </p:cNvPr>
            <p:cNvCxnSpPr>
              <a:cxnSpLocks/>
              <a:stCxn id="72" idx="7"/>
              <a:endCxn id="75" idx="4"/>
            </p:cNvCxnSpPr>
            <p:nvPr/>
          </p:nvCxnSpPr>
          <p:spPr>
            <a:xfrm flipV="1">
              <a:off x="10168798" y="5297999"/>
              <a:ext cx="437741" cy="819735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155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3" grpId="0" uiExpand="1" build="p"/>
      <p:bldP spid="42" grpId="0" animBg="1"/>
      <p:bldP spid="5" grpId="0"/>
      <p:bldP spid="43" grpId="0"/>
      <p:bldP spid="47" grpId="0"/>
      <p:bldP spid="49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3F03F2-2302-F04B-B7F2-4994FB59D7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972"/>
          <a:stretch/>
        </p:blipFill>
        <p:spPr>
          <a:xfrm>
            <a:off x="5229226" y="1199674"/>
            <a:ext cx="3914775" cy="262162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Everything is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85951"/>
            <a:ext cx="7150894" cy="3604022"/>
          </a:xfrm>
          <a:noFill/>
        </p:spPr>
        <p:txBody>
          <a:bodyPr>
            <a:normAutofit fontScale="62500" lnSpcReduction="20000"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Everything</a:t>
            </a:r>
            <a:r>
              <a:rPr lang="en-US" dirty="0">
                <a:solidFill>
                  <a:schemeClr val="bg1"/>
                </a:solidFill>
              </a:rPr>
              <a:t> is graphs.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Most things we’ve studied so far can be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represented by graphs.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BSTs are graphs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Linked lists? Graphs.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Heaps? Also can be represented as graphs.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Those trees we drew in the tree method? Graphs.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But it’s not just data structures that we’ve discussed…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Google Maps database? Graph.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Facebook? They have a “graph search” team. Because it’s a graph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Those pictures of prerequisites in your program? Graphs.</a:t>
            </a: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Family tree? That’s a graph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43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ECCE-5A86-4DA5-99F5-24A8A555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7" y="608716"/>
            <a:ext cx="7886700" cy="571976"/>
          </a:xfrm>
        </p:spPr>
        <p:txBody>
          <a:bodyPr/>
          <a:lstStyle/>
          <a:p>
            <a:pPr algn="l"/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42121-5BB7-4F90-8F7C-A9E6B21B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57350"/>
            <a:ext cx="8686800" cy="41148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Physical Maps</a:t>
            </a:r>
          </a:p>
          <a:p>
            <a:pPr lvl="1"/>
            <a:r>
              <a:rPr lang="en-US" dirty="0"/>
              <a:t>Airline maps</a:t>
            </a:r>
          </a:p>
          <a:p>
            <a:pPr lvl="2"/>
            <a:r>
              <a:rPr lang="en-US" dirty="0"/>
              <a:t>Vertices are airports, edges are flight paths</a:t>
            </a:r>
          </a:p>
          <a:p>
            <a:pPr lvl="1"/>
            <a:r>
              <a:rPr lang="en-US" dirty="0"/>
              <a:t>Traffic</a:t>
            </a:r>
          </a:p>
          <a:p>
            <a:pPr lvl="2"/>
            <a:r>
              <a:rPr lang="en-US" dirty="0"/>
              <a:t>Vertices are addresses, edges are streets</a:t>
            </a:r>
          </a:p>
          <a:p>
            <a:r>
              <a:rPr lang="en-US" dirty="0"/>
              <a:t>Relationships</a:t>
            </a:r>
          </a:p>
          <a:p>
            <a:pPr lvl="1"/>
            <a:r>
              <a:rPr lang="en-US" dirty="0"/>
              <a:t>Social media graphs</a:t>
            </a:r>
          </a:p>
          <a:p>
            <a:pPr lvl="2"/>
            <a:r>
              <a:rPr lang="en-US" dirty="0"/>
              <a:t>Vertices are accounts, </a:t>
            </a:r>
          </a:p>
          <a:p>
            <a:pPr marL="685800" lvl="2" indent="0">
              <a:buNone/>
            </a:pPr>
            <a:r>
              <a:rPr lang="en-US" dirty="0"/>
              <a:t>edges are follower relationships</a:t>
            </a:r>
          </a:p>
          <a:p>
            <a:r>
              <a:rPr lang="en-US" dirty="0"/>
              <a:t>Influence</a:t>
            </a:r>
          </a:p>
          <a:p>
            <a:pPr lvl="1"/>
            <a:r>
              <a:rPr lang="en-US" dirty="0"/>
              <a:t>Biology</a:t>
            </a:r>
          </a:p>
          <a:p>
            <a:pPr lvl="2"/>
            <a:r>
              <a:rPr lang="en-US" dirty="0"/>
              <a:t>Vertices are cancer cell destinations, </a:t>
            </a:r>
          </a:p>
          <a:p>
            <a:pPr marL="685800" lvl="2" indent="0">
              <a:buNone/>
            </a:pPr>
            <a:r>
              <a:rPr lang="en-US" dirty="0"/>
              <a:t>edges are migration paths </a:t>
            </a:r>
          </a:p>
          <a:p>
            <a:r>
              <a:rPr lang="en-US" dirty="0"/>
              <a:t>Related topics</a:t>
            </a:r>
          </a:p>
          <a:p>
            <a:pPr lvl="1"/>
            <a:r>
              <a:rPr lang="en-US" dirty="0"/>
              <a:t>Web Page Ranking</a:t>
            </a:r>
          </a:p>
          <a:p>
            <a:pPr lvl="2"/>
            <a:r>
              <a:rPr lang="en-US" dirty="0"/>
              <a:t>Vertices are web pages, edges are hyperlinks</a:t>
            </a:r>
          </a:p>
          <a:p>
            <a:pPr lvl="1"/>
            <a:r>
              <a:rPr lang="en-US" dirty="0"/>
              <a:t>Wikipedia</a:t>
            </a:r>
          </a:p>
          <a:p>
            <a:pPr lvl="2"/>
            <a:r>
              <a:rPr lang="en-US" dirty="0"/>
              <a:t>Vertices are articles, edges are links</a:t>
            </a:r>
          </a:p>
          <a:p>
            <a:pPr marL="96012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71747-AB2F-4D58-A9B6-E8B1BB214E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9" r="24155"/>
          <a:stretch/>
        </p:blipFill>
        <p:spPr>
          <a:xfrm>
            <a:off x="4442603" y="1883103"/>
            <a:ext cx="3877574" cy="3333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283A49-0A39-4FDB-898E-F53DD4958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887" y="1536913"/>
            <a:ext cx="3784174" cy="37841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A8DF54-CA21-4E90-AF11-3C9D32FCB6C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602" y="1277690"/>
            <a:ext cx="4294737" cy="3967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E58FE-D5D1-4BED-8450-CD79F436D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601" y="2038690"/>
            <a:ext cx="4472799" cy="272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2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E707400-0ABC-564A-88AB-87869C42FAD6}"/>
              </a:ext>
            </a:extLst>
          </p:cNvPr>
          <p:cNvSpPr/>
          <p:nvPr/>
        </p:nvSpPr>
        <p:spPr>
          <a:xfrm>
            <a:off x="7495488" y="1584585"/>
            <a:ext cx="1492716" cy="197255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D6AA7B-208F-1448-B158-8C0A9A5C3605}"/>
              </a:ext>
            </a:extLst>
          </p:cNvPr>
          <p:cNvSpPr txBox="1"/>
          <p:nvPr/>
        </p:nvSpPr>
        <p:spPr>
          <a:xfrm>
            <a:off x="7536145" y="205166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          ,         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1F29A-CA1D-0F41-9B24-F2499FC0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74"/>
            <a:ext cx="2184538" cy="571976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5F42-A3E7-6B4A-A79E-81F4FF97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5950"/>
            <a:ext cx="5383859" cy="2109481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A </a:t>
            </a:r>
            <a:r>
              <a:rPr lang="en-US" b="1" dirty="0">
                <a:solidFill>
                  <a:srgbClr val="C00000"/>
                </a:solidFill>
              </a:rPr>
              <a:t>Graph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</a:rPr>
              <a:t>consists of two sets, V and E:</a:t>
            </a:r>
          </a:p>
          <a:p>
            <a:pPr lvl="1"/>
            <a:r>
              <a:rPr lang="en-US" dirty="0"/>
              <a:t>V: Set of </a:t>
            </a:r>
            <a:r>
              <a:rPr lang="en-US" b="1" dirty="0">
                <a:solidFill>
                  <a:srgbClr val="C00000"/>
                </a:solidFill>
              </a:rPr>
              <a:t>vertices</a:t>
            </a:r>
            <a:r>
              <a:rPr lang="en-US" dirty="0"/>
              <a:t> (aka </a:t>
            </a:r>
            <a:r>
              <a:rPr lang="en-US" b="1" dirty="0">
                <a:solidFill>
                  <a:srgbClr val="C00000"/>
                </a:solidFill>
              </a:rPr>
              <a:t>nodes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E: Set of </a:t>
            </a:r>
            <a:r>
              <a:rPr lang="en-US" b="1" dirty="0">
                <a:solidFill>
                  <a:srgbClr val="C00000"/>
                </a:solidFill>
              </a:rPr>
              <a:t>edges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</a:rPr>
              <a:t>(</a:t>
            </a:r>
            <a:r>
              <a:rPr lang="en-US" dirty="0"/>
              <a:t>pairs of vertices)</a:t>
            </a:r>
          </a:p>
          <a:p>
            <a:pPr lvl="1"/>
            <a:r>
              <a:rPr lang="en-US" dirty="0"/>
              <a:t>|V|: Size of V (also called n)</a:t>
            </a:r>
          </a:p>
          <a:p>
            <a:pPr lvl="1"/>
            <a:r>
              <a:rPr lang="en-US" dirty="0"/>
              <a:t>|E|: Size of E (also called m)</a:t>
            </a:r>
          </a:p>
          <a:p>
            <a:endParaRPr lang="en-US" dirty="0"/>
          </a:p>
        </p:txBody>
      </p:sp>
      <p:sp>
        <p:nvSpPr>
          <p:cNvPr id="4" name="Google Shape;611;p33">
            <a:extLst>
              <a:ext uri="{FF2B5EF4-FFF2-40B4-BE49-F238E27FC236}">
                <a16:creationId xmlns:a16="http://schemas.microsoft.com/office/drawing/2014/main" id="{75FDEEFF-C0CF-C047-9AB6-8059971B0319}"/>
              </a:ext>
            </a:extLst>
          </p:cNvPr>
          <p:cNvSpPr/>
          <p:nvPr/>
        </p:nvSpPr>
        <p:spPr>
          <a:xfrm>
            <a:off x="2561603" y="431459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Google Shape;612;p33">
            <a:extLst>
              <a:ext uri="{FF2B5EF4-FFF2-40B4-BE49-F238E27FC236}">
                <a16:creationId xmlns:a16="http://schemas.microsoft.com/office/drawing/2014/main" id="{30101867-9F99-084A-A149-B32FF36393E0}"/>
              </a:ext>
            </a:extLst>
          </p:cNvPr>
          <p:cNvSpPr/>
          <p:nvPr/>
        </p:nvSpPr>
        <p:spPr>
          <a:xfrm>
            <a:off x="3010919" y="402922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Google Shape;613;p33">
            <a:extLst>
              <a:ext uri="{FF2B5EF4-FFF2-40B4-BE49-F238E27FC236}">
                <a16:creationId xmlns:a16="http://schemas.microsoft.com/office/drawing/2014/main" id="{44934191-9F34-1648-BC68-13342C2C2E37}"/>
              </a:ext>
            </a:extLst>
          </p:cNvPr>
          <p:cNvSpPr/>
          <p:nvPr/>
        </p:nvSpPr>
        <p:spPr>
          <a:xfrm>
            <a:off x="3505414" y="444307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Google Shape;614;p33">
            <a:extLst>
              <a:ext uri="{FF2B5EF4-FFF2-40B4-BE49-F238E27FC236}">
                <a16:creationId xmlns:a16="http://schemas.microsoft.com/office/drawing/2014/main" id="{55F1F271-BB4E-8C46-A9B0-FF46AE4658E8}"/>
              </a:ext>
            </a:extLst>
          </p:cNvPr>
          <p:cNvSpPr/>
          <p:nvPr/>
        </p:nvSpPr>
        <p:spPr>
          <a:xfrm>
            <a:off x="2973785" y="469516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Google Shape;615;p33">
            <a:extLst>
              <a:ext uri="{FF2B5EF4-FFF2-40B4-BE49-F238E27FC236}">
                <a16:creationId xmlns:a16="http://schemas.microsoft.com/office/drawing/2014/main" id="{063894DE-FC4D-1B4E-88AE-5673EDCFCD6A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2813188" y="4280806"/>
            <a:ext cx="240896" cy="769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oogle Shape;616;p33">
            <a:extLst>
              <a:ext uri="{FF2B5EF4-FFF2-40B4-BE49-F238E27FC236}">
                <a16:creationId xmlns:a16="http://schemas.microsoft.com/office/drawing/2014/main" id="{E3B3286B-BA3A-564A-AE73-14420629CE0E}"/>
              </a:ext>
            </a:extLst>
          </p:cNvPr>
          <p:cNvCxnSpPr>
            <a:stCxn id="4" idx="5"/>
            <a:endCxn id="7" idx="1"/>
          </p:cNvCxnSpPr>
          <p:nvPr/>
        </p:nvCxnSpPr>
        <p:spPr>
          <a:xfrm>
            <a:off x="2813188" y="4566182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oogle Shape;618;p33">
            <a:extLst>
              <a:ext uri="{FF2B5EF4-FFF2-40B4-BE49-F238E27FC236}">
                <a16:creationId xmlns:a16="http://schemas.microsoft.com/office/drawing/2014/main" id="{3EBF4D64-5C6A-2A49-A987-5D9AA10C3832}"/>
              </a:ext>
            </a:extLst>
          </p:cNvPr>
          <p:cNvCxnSpPr>
            <a:stCxn id="7" idx="7"/>
            <a:endCxn id="6" idx="3"/>
          </p:cNvCxnSpPr>
          <p:nvPr/>
        </p:nvCxnSpPr>
        <p:spPr>
          <a:xfrm flipV="1">
            <a:off x="3225370" y="4694655"/>
            <a:ext cx="323210" cy="4367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614;p33">
            <a:extLst>
              <a:ext uri="{FF2B5EF4-FFF2-40B4-BE49-F238E27FC236}">
                <a16:creationId xmlns:a16="http://schemas.microsoft.com/office/drawing/2014/main" id="{8D4D401C-8803-7843-998A-843F8D794498}"/>
              </a:ext>
            </a:extLst>
          </p:cNvPr>
          <p:cNvSpPr/>
          <p:nvPr/>
        </p:nvSpPr>
        <p:spPr>
          <a:xfrm>
            <a:off x="2381025" y="498054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Google Shape;614;p33">
            <a:extLst>
              <a:ext uri="{FF2B5EF4-FFF2-40B4-BE49-F238E27FC236}">
                <a16:creationId xmlns:a16="http://schemas.microsoft.com/office/drawing/2014/main" id="{B0DB30AE-35CF-F048-BCC2-A5C35471F043}"/>
              </a:ext>
            </a:extLst>
          </p:cNvPr>
          <p:cNvSpPr/>
          <p:nvPr/>
        </p:nvSpPr>
        <p:spPr>
          <a:xfrm>
            <a:off x="3063407" y="527529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Google Shape;616;p33">
            <a:extLst>
              <a:ext uri="{FF2B5EF4-FFF2-40B4-BE49-F238E27FC236}">
                <a16:creationId xmlns:a16="http://schemas.microsoft.com/office/drawing/2014/main" id="{0DFB5D87-24D2-C44E-B86D-CBD1FBDB5740}"/>
              </a:ext>
            </a:extLst>
          </p:cNvPr>
          <p:cNvCxnSpPr>
            <a:cxnSpLocks/>
            <a:stCxn id="7" idx="3"/>
            <a:endCxn id="11" idx="6"/>
          </p:cNvCxnSpPr>
          <p:nvPr/>
        </p:nvCxnSpPr>
        <p:spPr>
          <a:xfrm flipH="1">
            <a:off x="2675775" y="4946752"/>
            <a:ext cx="341176" cy="18116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oogle Shape;616;p33">
            <a:extLst>
              <a:ext uri="{FF2B5EF4-FFF2-40B4-BE49-F238E27FC236}">
                <a16:creationId xmlns:a16="http://schemas.microsoft.com/office/drawing/2014/main" id="{4CDC2D74-4DC6-3846-AC51-80610166BCE3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3121161" y="4989917"/>
            <a:ext cx="89621" cy="28537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613;p33">
            <a:extLst>
              <a:ext uri="{FF2B5EF4-FFF2-40B4-BE49-F238E27FC236}">
                <a16:creationId xmlns:a16="http://schemas.microsoft.com/office/drawing/2014/main" id="{9D50B8D0-384E-2342-919D-C3472AE9C019}"/>
              </a:ext>
            </a:extLst>
          </p:cNvPr>
          <p:cNvSpPr/>
          <p:nvPr/>
        </p:nvSpPr>
        <p:spPr>
          <a:xfrm>
            <a:off x="3707064" y="503733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6" name="Google Shape;616;p33">
            <a:extLst>
              <a:ext uri="{FF2B5EF4-FFF2-40B4-BE49-F238E27FC236}">
                <a16:creationId xmlns:a16="http://schemas.microsoft.com/office/drawing/2014/main" id="{810F22BD-C98A-7948-A5BF-5F7AD7CE8E42}"/>
              </a:ext>
            </a:extLst>
          </p:cNvPr>
          <p:cNvCxnSpPr>
            <a:cxnSpLocks/>
            <a:stCxn id="12" idx="6"/>
            <a:endCxn id="15" idx="3"/>
          </p:cNvCxnSpPr>
          <p:nvPr/>
        </p:nvCxnSpPr>
        <p:spPr>
          <a:xfrm flipV="1">
            <a:off x="3358157" y="5288918"/>
            <a:ext cx="392073" cy="13374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oogle Shape;616;p33">
            <a:extLst>
              <a:ext uri="{FF2B5EF4-FFF2-40B4-BE49-F238E27FC236}">
                <a16:creationId xmlns:a16="http://schemas.microsoft.com/office/drawing/2014/main" id="{1F49D0E6-A394-6348-A32A-F4608DF0C35C}"/>
              </a:ext>
            </a:extLst>
          </p:cNvPr>
          <p:cNvCxnSpPr>
            <a:cxnSpLocks/>
            <a:stCxn id="15" idx="0"/>
            <a:endCxn id="6" idx="5"/>
          </p:cNvCxnSpPr>
          <p:nvPr/>
        </p:nvCxnSpPr>
        <p:spPr>
          <a:xfrm flipH="1" flipV="1">
            <a:off x="3756999" y="4694655"/>
            <a:ext cx="97441" cy="34267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611;p33">
            <a:extLst>
              <a:ext uri="{FF2B5EF4-FFF2-40B4-BE49-F238E27FC236}">
                <a16:creationId xmlns:a16="http://schemas.microsoft.com/office/drawing/2014/main" id="{A27D5AAE-A5DC-8A42-9C3A-4CB2C548C469}"/>
              </a:ext>
            </a:extLst>
          </p:cNvPr>
          <p:cNvSpPr/>
          <p:nvPr/>
        </p:nvSpPr>
        <p:spPr>
          <a:xfrm>
            <a:off x="6421102" y="426634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Google Shape;612;p33">
            <a:extLst>
              <a:ext uri="{FF2B5EF4-FFF2-40B4-BE49-F238E27FC236}">
                <a16:creationId xmlns:a16="http://schemas.microsoft.com/office/drawing/2014/main" id="{D255309F-BDE4-C648-BB85-3526EABD8DCA}"/>
              </a:ext>
            </a:extLst>
          </p:cNvPr>
          <p:cNvSpPr/>
          <p:nvPr/>
        </p:nvSpPr>
        <p:spPr>
          <a:xfrm>
            <a:off x="6242498" y="392685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Google Shape;613;p33">
            <a:extLst>
              <a:ext uri="{FF2B5EF4-FFF2-40B4-BE49-F238E27FC236}">
                <a16:creationId xmlns:a16="http://schemas.microsoft.com/office/drawing/2014/main" id="{76B9683E-BEA9-9F4A-A235-258CE0642EC4}"/>
              </a:ext>
            </a:extLst>
          </p:cNvPr>
          <p:cNvSpPr/>
          <p:nvPr/>
        </p:nvSpPr>
        <p:spPr>
          <a:xfrm>
            <a:off x="5803715" y="4388888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Google Shape;614;p33">
            <a:extLst>
              <a:ext uri="{FF2B5EF4-FFF2-40B4-BE49-F238E27FC236}">
                <a16:creationId xmlns:a16="http://schemas.microsoft.com/office/drawing/2014/main" id="{2045FCDD-E479-CF40-9DBE-9B6B3BAB14D0}"/>
              </a:ext>
            </a:extLst>
          </p:cNvPr>
          <p:cNvSpPr/>
          <p:nvPr/>
        </p:nvSpPr>
        <p:spPr>
          <a:xfrm>
            <a:off x="5343838" y="4834678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Google Shape;615;p33">
            <a:extLst>
              <a:ext uri="{FF2B5EF4-FFF2-40B4-BE49-F238E27FC236}">
                <a16:creationId xmlns:a16="http://schemas.microsoft.com/office/drawing/2014/main" id="{4D361390-3A22-414D-823C-3F59448A68D6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6055300" y="4178439"/>
            <a:ext cx="230364" cy="25361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oogle Shape;616;p33">
            <a:extLst>
              <a:ext uri="{FF2B5EF4-FFF2-40B4-BE49-F238E27FC236}">
                <a16:creationId xmlns:a16="http://schemas.microsoft.com/office/drawing/2014/main" id="{2398DFFA-F969-B642-B800-9A5AAAE5115A}"/>
              </a:ext>
            </a:extLst>
          </p:cNvPr>
          <p:cNvCxnSpPr>
            <a:cxnSpLocks/>
            <a:stCxn id="20" idx="6"/>
            <a:endCxn id="18" idx="2"/>
          </p:cNvCxnSpPr>
          <p:nvPr/>
        </p:nvCxnSpPr>
        <p:spPr>
          <a:xfrm flipV="1">
            <a:off x="6098465" y="4413722"/>
            <a:ext cx="322637" cy="12254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oogle Shape;618;p33">
            <a:extLst>
              <a:ext uri="{FF2B5EF4-FFF2-40B4-BE49-F238E27FC236}">
                <a16:creationId xmlns:a16="http://schemas.microsoft.com/office/drawing/2014/main" id="{032298F9-BBA1-CC4E-BBC8-3EF25AC43B98}"/>
              </a:ext>
            </a:extLst>
          </p:cNvPr>
          <p:cNvCxnSpPr>
            <a:stCxn id="21" idx="7"/>
            <a:endCxn id="20" idx="3"/>
          </p:cNvCxnSpPr>
          <p:nvPr/>
        </p:nvCxnSpPr>
        <p:spPr>
          <a:xfrm flipV="1">
            <a:off x="5595422" y="4640473"/>
            <a:ext cx="251459" cy="23737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614;p33">
            <a:extLst>
              <a:ext uri="{FF2B5EF4-FFF2-40B4-BE49-F238E27FC236}">
                <a16:creationId xmlns:a16="http://schemas.microsoft.com/office/drawing/2014/main" id="{77D713F0-5C53-9040-AC01-A43BCFD23039}"/>
              </a:ext>
            </a:extLst>
          </p:cNvPr>
          <p:cNvSpPr/>
          <p:nvPr/>
        </p:nvSpPr>
        <p:spPr>
          <a:xfrm>
            <a:off x="5795646" y="525635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8" name="Google Shape;616;p33">
            <a:extLst>
              <a:ext uri="{FF2B5EF4-FFF2-40B4-BE49-F238E27FC236}">
                <a16:creationId xmlns:a16="http://schemas.microsoft.com/office/drawing/2014/main" id="{C74ECBB0-B0F8-764C-9DBA-A0BCF420F779}"/>
              </a:ext>
            </a:extLst>
          </p:cNvPr>
          <p:cNvCxnSpPr>
            <a:cxnSpLocks/>
            <a:stCxn id="21" idx="5"/>
            <a:endCxn id="26" idx="1"/>
          </p:cNvCxnSpPr>
          <p:nvPr/>
        </p:nvCxnSpPr>
        <p:spPr>
          <a:xfrm>
            <a:off x="5595423" y="5086263"/>
            <a:ext cx="243389" cy="21326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oogle Shape;613;p33">
            <a:extLst>
              <a:ext uri="{FF2B5EF4-FFF2-40B4-BE49-F238E27FC236}">
                <a16:creationId xmlns:a16="http://schemas.microsoft.com/office/drawing/2014/main" id="{A64C4330-7460-2B40-B166-2DE250963F80}"/>
              </a:ext>
            </a:extLst>
          </p:cNvPr>
          <p:cNvSpPr/>
          <p:nvPr/>
        </p:nvSpPr>
        <p:spPr>
          <a:xfrm>
            <a:off x="6421714" y="498205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0" name="Google Shape;616;p33">
            <a:extLst>
              <a:ext uri="{FF2B5EF4-FFF2-40B4-BE49-F238E27FC236}">
                <a16:creationId xmlns:a16="http://schemas.microsoft.com/office/drawing/2014/main" id="{860D66B4-72B2-6E48-9ECF-7736704A6B58}"/>
              </a:ext>
            </a:extLst>
          </p:cNvPr>
          <p:cNvCxnSpPr>
            <a:cxnSpLocks/>
            <a:stCxn id="26" idx="6"/>
            <a:endCxn id="29" idx="3"/>
          </p:cNvCxnSpPr>
          <p:nvPr/>
        </p:nvCxnSpPr>
        <p:spPr>
          <a:xfrm flipV="1">
            <a:off x="6090397" y="5233638"/>
            <a:ext cx="374483" cy="17009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5560D65-A313-5F4F-ABC2-B6C178CC0771}"/>
              </a:ext>
            </a:extLst>
          </p:cNvPr>
          <p:cNvSpPr/>
          <p:nvPr/>
        </p:nvSpPr>
        <p:spPr>
          <a:xfrm>
            <a:off x="6186341" y="1585471"/>
            <a:ext cx="1152427" cy="197255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" name="Google Shape;611;p33">
            <a:extLst>
              <a:ext uri="{FF2B5EF4-FFF2-40B4-BE49-F238E27FC236}">
                <a16:creationId xmlns:a16="http://schemas.microsoft.com/office/drawing/2014/main" id="{7774A245-8EEB-F048-8644-D69E2D8BB52E}"/>
              </a:ext>
            </a:extLst>
          </p:cNvPr>
          <p:cNvSpPr/>
          <p:nvPr/>
        </p:nvSpPr>
        <p:spPr>
          <a:xfrm>
            <a:off x="6615179" y="208162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Google Shape;612;p33">
            <a:extLst>
              <a:ext uri="{FF2B5EF4-FFF2-40B4-BE49-F238E27FC236}">
                <a16:creationId xmlns:a16="http://schemas.microsoft.com/office/drawing/2014/main" id="{8685AEEC-5208-7944-92B1-EA6DFE203FD5}"/>
              </a:ext>
            </a:extLst>
          </p:cNvPr>
          <p:cNvSpPr/>
          <p:nvPr/>
        </p:nvSpPr>
        <p:spPr>
          <a:xfrm>
            <a:off x="6612390" y="259268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Google Shape;614;p33">
            <a:extLst>
              <a:ext uri="{FF2B5EF4-FFF2-40B4-BE49-F238E27FC236}">
                <a16:creationId xmlns:a16="http://schemas.microsoft.com/office/drawing/2014/main" id="{23F17A4A-A448-CC43-98D8-EB4AC8061800}"/>
              </a:ext>
            </a:extLst>
          </p:cNvPr>
          <p:cNvSpPr/>
          <p:nvPr/>
        </p:nvSpPr>
        <p:spPr>
          <a:xfrm>
            <a:off x="6612390" y="310374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CDE7B3-7C4D-4348-8414-D2B765159C7C}"/>
              </a:ext>
            </a:extLst>
          </p:cNvPr>
          <p:cNvSpPr txBox="1"/>
          <p:nvPr/>
        </p:nvSpPr>
        <p:spPr>
          <a:xfrm>
            <a:off x="6226394" y="1700105"/>
            <a:ext cx="1159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V: Set of vertices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EEABF3-A4FB-9B4B-B3DB-46D296438649}"/>
              </a:ext>
            </a:extLst>
          </p:cNvPr>
          <p:cNvSpPr txBox="1"/>
          <p:nvPr/>
        </p:nvSpPr>
        <p:spPr>
          <a:xfrm>
            <a:off x="7608943" y="1700105"/>
            <a:ext cx="10262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E: Set of edges</a:t>
            </a:r>
          </a:p>
        </p:txBody>
      </p:sp>
      <p:sp>
        <p:nvSpPr>
          <p:cNvPr id="80" name="Google Shape;611;p33">
            <a:extLst>
              <a:ext uri="{FF2B5EF4-FFF2-40B4-BE49-F238E27FC236}">
                <a16:creationId xmlns:a16="http://schemas.microsoft.com/office/drawing/2014/main" id="{9B4F5BD8-4126-6448-A499-BD171BFA84E0}"/>
              </a:ext>
            </a:extLst>
          </p:cNvPr>
          <p:cNvSpPr/>
          <p:nvPr/>
        </p:nvSpPr>
        <p:spPr>
          <a:xfrm>
            <a:off x="7668856" y="205469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1" name="Google Shape;611;p33">
            <a:extLst>
              <a:ext uri="{FF2B5EF4-FFF2-40B4-BE49-F238E27FC236}">
                <a16:creationId xmlns:a16="http://schemas.microsoft.com/office/drawing/2014/main" id="{0FA657E8-3ED6-744C-BD4D-83E0AA28630B}"/>
              </a:ext>
            </a:extLst>
          </p:cNvPr>
          <p:cNvSpPr/>
          <p:nvPr/>
        </p:nvSpPr>
        <p:spPr>
          <a:xfrm>
            <a:off x="8137438" y="204278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0515D87-F8F4-C74D-80C8-DB35346980A0}"/>
              </a:ext>
            </a:extLst>
          </p:cNvPr>
          <p:cNvSpPr txBox="1"/>
          <p:nvPr/>
        </p:nvSpPr>
        <p:spPr>
          <a:xfrm>
            <a:off x="7534562" y="2526687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          ,         )</a:t>
            </a:r>
          </a:p>
        </p:txBody>
      </p:sp>
      <p:sp>
        <p:nvSpPr>
          <p:cNvPr id="90" name="Google Shape;611;p33">
            <a:extLst>
              <a:ext uri="{FF2B5EF4-FFF2-40B4-BE49-F238E27FC236}">
                <a16:creationId xmlns:a16="http://schemas.microsoft.com/office/drawing/2014/main" id="{8D39CDCF-856E-7E4D-8B71-8FC572066C8C}"/>
              </a:ext>
            </a:extLst>
          </p:cNvPr>
          <p:cNvSpPr/>
          <p:nvPr/>
        </p:nvSpPr>
        <p:spPr>
          <a:xfrm>
            <a:off x="7667273" y="252971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1" name="Google Shape;611;p33">
            <a:extLst>
              <a:ext uri="{FF2B5EF4-FFF2-40B4-BE49-F238E27FC236}">
                <a16:creationId xmlns:a16="http://schemas.microsoft.com/office/drawing/2014/main" id="{7AE982C6-6764-9248-9B17-99A3CB15B0E0}"/>
              </a:ext>
            </a:extLst>
          </p:cNvPr>
          <p:cNvSpPr/>
          <p:nvPr/>
        </p:nvSpPr>
        <p:spPr>
          <a:xfrm>
            <a:off x="8135855" y="251781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A6905C-C69E-294A-8600-5FF0710B28D6}"/>
              </a:ext>
            </a:extLst>
          </p:cNvPr>
          <p:cNvSpPr txBox="1"/>
          <p:nvPr/>
        </p:nvSpPr>
        <p:spPr>
          <a:xfrm>
            <a:off x="7526714" y="302980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          ,         )</a:t>
            </a:r>
          </a:p>
        </p:txBody>
      </p:sp>
      <p:sp>
        <p:nvSpPr>
          <p:cNvPr id="93" name="Google Shape;611;p33">
            <a:extLst>
              <a:ext uri="{FF2B5EF4-FFF2-40B4-BE49-F238E27FC236}">
                <a16:creationId xmlns:a16="http://schemas.microsoft.com/office/drawing/2014/main" id="{8C893D8E-FB3D-C344-AF7C-93EFF124EF8B}"/>
              </a:ext>
            </a:extLst>
          </p:cNvPr>
          <p:cNvSpPr/>
          <p:nvPr/>
        </p:nvSpPr>
        <p:spPr>
          <a:xfrm>
            <a:off x="7659425" y="303283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4" name="Google Shape;611;p33">
            <a:extLst>
              <a:ext uri="{FF2B5EF4-FFF2-40B4-BE49-F238E27FC236}">
                <a16:creationId xmlns:a16="http://schemas.microsoft.com/office/drawing/2014/main" id="{B37AA8C0-78DF-3C4A-8EC0-4A1D9DADFFBE}"/>
              </a:ext>
            </a:extLst>
          </p:cNvPr>
          <p:cNvSpPr/>
          <p:nvPr/>
        </p:nvSpPr>
        <p:spPr>
          <a:xfrm>
            <a:off x="8128007" y="302093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43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45DD10F6-4064-4DB3-AAEA-18244E037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207B9E-CB05-4C58-936E-82C9FA426A5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49D7444-6C9A-4A53-B9FC-0C31ABBA2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/>
          <a:p>
            <a:r>
              <a:rPr lang="en-US" altLang="en-US"/>
              <a:t>Modeling Using Graphs</a:t>
            </a:r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9CE0BE90-1CC3-4B2E-8D98-54BD89B0E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2543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F3BE1ED1-4E66-49FC-A2F4-0C14FCDE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2543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0" name="Rectangle 9">
            <a:extLst>
              <a:ext uri="{FF2B5EF4-FFF2-40B4-BE49-F238E27FC236}">
                <a16:creationId xmlns:a16="http://schemas.microsoft.com/office/drawing/2014/main" id="{AC54ED2D-6195-4B2D-B3C4-50A882BC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0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1" name="Rectangle 13">
            <a:extLst>
              <a:ext uri="{FF2B5EF4-FFF2-40B4-BE49-F238E27FC236}">
                <a16:creationId xmlns:a16="http://schemas.microsoft.com/office/drawing/2014/main" id="{47E8AD2F-7CBA-4AB6-9DE0-2CE22763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2" name="Rectangle 15">
            <a:extLst>
              <a:ext uri="{FF2B5EF4-FFF2-40B4-BE49-F238E27FC236}">
                <a16:creationId xmlns:a16="http://schemas.microsoft.com/office/drawing/2014/main" id="{46074501-E265-414D-B19A-9E525B701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153" name="Picture 10">
            <a:extLst>
              <a:ext uri="{FF2B5EF4-FFF2-40B4-BE49-F238E27FC236}">
                <a16:creationId xmlns:a16="http://schemas.microsoft.com/office/drawing/2014/main" id="{C1B91670-6B01-4D46-84D1-3C1190792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838200"/>
            <a:ext cx="4221697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8D46AF-7677-4652-8AC6-9D2B1F4FBB68}"/>
              </a:ext>
            </a:extLst>
          </p:cNvPr>
          <p:cNvSpPr txBox="1">
            <a:spLocks/>
          </p:cNvSpPr>
          <p:nvPr/>
        </p:nvSpPr>
        <p:spPr bwMode="auto">
          <a:xfrm>
            <a:off x="400049" y="913012"/>
            <a:ext cx="4476751" cy="392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6511" indent="-191007" defTabSz="859536">
              <a:spcBef>
                <a:spcPts val="1400"/>
              </a:spcBef>
              <a:defRPr sz="2256"/>
            </a:pPr>
            <a:r>
              <a:rPr lang="en-US" sz="2256" dirty="0"/>
              <a:t>In the given map </a:t>
            </a:r>
          </a:p>
          <a:p>
            <a:pPr marL="740155" lvl="1" indent="-214884" defTabSz="859536">
              <a:spcBef>
                <a:spcPts val="1400"/>
              </a:spcBef>
              <a:defRPr sz="2256"/>
            </a:pPr>
            <a:r>
              <a:rPr lang="en-US" sz="2256" dirty="0"/>
              <a:t>The cites(</a:t>
            </a:r>
            <a:r>
              <a:rPr lang="en-US" sz="2256" dirty="0" err="1"/>
              <a:t>i</a:t>
            </a:r>
            <a:r>
              <a:rPr lang="en-US" sz="2256" dirty="0"/>
              <a:t>) are vertices or nodes</a:t>
            </a:r>
          </a:p>
          <a:p>
            <a:pPr marL="740155" lvl="1" indent="-214884" defTabSz="859536">
              <a:spcBef>
                <a:spcPts val="1400"/>
              </a:spcBef>
              <a:defRPr sz="2256"/>
            </a:pPr>
            <a:r>
              <a:rPr lang="en-US" sz="2256" dirty="0"/>
              <a:t>The lines are called edges</a:t>
            </a:r>
          </a:p>
          <a:p>
            <a:pPr marL="286511" indent="-191007" defTabSz="859536">
              <a:spcBef>
                <a:spcPts val="1400"/>
              </a:spcBef>
              <a:defRPr sz="2256"/>
            </a:pPr>
            <a:r>
              <a:rPr lang="en-US" sz="2256" dirty="0"/>
              <a:t>A subgraph is a portion of a graph that is itself a graph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7179DB2-1E5B-41F1-8D07-5758B5A7D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418" y="4842046"/>
            <a:ext cx="2719407" cy="19478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8569" tIns="68569" rIns="68569" bIns="68569" numCol="1" rtlCol="0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Directed vs Undirected; Acyclic vs Cyclic</a:t>
            </a:r>
            <a:endParaRPr dirty="0"/>
          </a:p>
        </p:txBody>
      </p:sp>
      <p:sp>
        <p:nvSpPr>
          <p:cNvPr id="611" name="Google Shape;611;p33"/>
          <p:cNvSpPr/>
          <p:nvPr/>
        </p:nvSpPr>
        <p:spPr>
          <a:xfrm>
            <a:off x="2766636" y="291330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2" name="Google Shape;612;p33"/>
          <p:cNvSpPr/>
          <p:nvPr/>
        </p:nvSpPr>
        <p:spPr>
          <a:xfrm>
            <a:off x="3178818" y="249414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3591000" y="291330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4" name="Google Shape;614;p33"/>
          <p:cNvSpPr/>
          <p:nvPr/>
        </p:nvSpPr>
        <p:spPr>
          <a:xfrm>
            <a:off x="3178818" y="329387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15" name="Google Shape;615;p33"/>
          <p:cNvCxnSpPr>
            <a:stCxn id="611" idx="7"/>
            <a:endCxn id="612" idx="3"/>
          </p:cNvCxnSpPr>
          <p:nvPr/>
        </p:nvCxnSpPr>
        <p:spPr>
          <a:xfrm rot="10800000" flipH="1">
            <a:off x="3018221" y="2745642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Google Shape;616;p33"/>
          <p:cNvCxnSpPr>
            <a:stCxn id="611" idx="5"/>
            <a:endCxn id="614" idx="1"/>
          </p:cNvCxnSpPr>
          <p:nvPr/>
        </p:nvCxnSpPr>
        <p:spPr>
          <a:xfrm>
            <a:off x="3018221" y="3164888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Google Shape;617;p33"/>
          <p:cNvCxnSpPr>
            <a:stCxn id="612" idx="5"/>
            <a:endCxn id="613" idx="1"/>
          </p:cNvCxnSpPr>
          <p:nvPr/>
        </p:nvCxnSpPr>
        <p:spPr>
          <a:xfrm>
            <a:off x="3430403" y="2745726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Google Shape;618;p33"/>
          <p:cNvCxnSpPr>
            <a:stCxn id="614" idx="7"/>
            <a:endCxn id="613" idx="3"/>
          </p:cNvCxnSpPr>
          <p:nvPr/>
        </p:nvCxnSpPr>
        <p:spPr>
          <a:xfrm rot="10800000" flipH="1">
            <a:off x="3430403" y="3164913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Google Shape;619;p33"/>
          <p:cNvSpPr/>
          <p:nvPr/>
        </p:nvSpPr>
        <p:spPr>
          <a:xfrm>
            <a:off x="5175631" y="292260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5587813" y="250344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5999994" y="292260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5587813" y="330317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23" name="Google Shape;623;p33"/>
          <p:cNvCxnSpPr>
            <a:stCxn id="619" idx="7"/>
            <a:endCxn id="620" idx="3"/>
          </p:cNvCxnSpPr>
          <p:nvPr/>
        </p:nvCxnSpPr>
        <p:spPr>
          <a:xfrm rot="10800000" flipH="1">
            <a:off x="5427216" y="2754947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Google Shape;624;p33"/>
          <p:cNvCxnSpPr>
            <a:stCxn id="620" idx="5"/>
            <a:endCxn id="621" idx="1"/>
          </p:cNvCxnSpPr>
          <p:nvPr/>
        </p:nvCxnSpPr>
        <p:spPr>
          <a:xfrm>
            <a:off x="5839397" y="2755031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Google Shape;625;p33"/>
          <p:cNvCxnSpPr>
            <a:stCxn id="622" idx="7"/>
            <a:endCxn id="621" idx="3"/>
          </p:cNvCxnSpPr>
          <p:nvPr/>
        </p:nvCxnSpPr>
        <p:spPr>
          <a:xfrm rot="10800000" flipH="1">
            <a:off x="5839397" y="3174218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Google Shape;626;p33"/>
          <p:cNvSpPr/>
          <p:nvPr/>
        </p:nvSpPr>
        <p:spPr>
          <a:xfrm>
            <a:off x="6338260" y="250344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27" name="Google Shape;627;p33"/>
          <p:cNvCxnSpPr>
            <a:stCxn id="620" idx="6"/>
            <a:endCxn id="626" idx="2"/>
          </p:cNvCxnSpPr>
          <p:nvPr/>
        </p:nvCxnSpPr>
        <p:spPr>
          <a:xfrm>
            <a:off x="5882564" y="2650821"/>
            <a:ext cx="455625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Google Shape;628;p33"/>
          <p:cNvSpPr/>
          <p:nvPr/>
        </p:nvSpPr>
        <p:spPr>
          <a:xfrm>
            <a:off x="2766636" y="444191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3178818" y="402275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3591000" y="444191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3178818" y="482248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32" name="Google Shape;632;p33"/>
          <p:cNvCxnSpPr>
            <a:stCxn id="628" idx="7"/>
            <a:endCxn id="629" idx="3"/>
          </p:cNvCxnSpPr>
          <p:nvPr/>
        </p:nvCxnSpPr>
        <p:spPr>
          <a:xfrm rot="10800000" flipH="1">
            <a:off x="3018221" y="4274250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Google Shape;633;p33"/>
          <p:cNvCxnSpPr>
            <a:stCxn id="628" idx="5"/>
            <a:endCxn id="631" idx="1"/>
          </p:cNvCxnSpPr>
          <p:nvPr/>
        </p:nvCxnSpPr>
        <p:spPr>
          <a:xfrm>
            <a:off x="3018221" y="4693496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Google Shape;634;p33"/>
          <p:cNvCxnSpPr>
            <a:stCxn id="629" idx="5"/>
            <a:endCxn id="630" idx="1"/>
          </p:cNvCxnSpPr>
          <p:nvPr/>
        </p:nvCxnSpPr>
        <p:spPr>
          <a:xfrm>
            <a:off x="3430403" y="4274334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Google Shape;635;p33"/>
          <p:cNvCxnSpPr>
            <a:stCxn id="631" idx="7"/>
            <a:endCxn id="630" idx="3"/>
          </p:cNvCxnSpPr>
          <p:nvPr/>
        </p:nvCxnSpPr>
        <p:spPr>
          <a:xfrm rot="10800000" flipH="1">
            <a:off x="3430403" y="4693521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6" name="Google Shape;636;p33"/>
          <p:cNvSpPr/>
          <p:nvPr/>
        </p:nvSpPr>
        <p:spPr>
          <a:xfrm>
            <a:off x="5381702" y="445121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5793884" y="403205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6206065" y="445121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5793884" y="483178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40" name="Google Shape;640;p33"/>
          <p:cNvCxnSpPr>
            <a:stCxn id="636" idx="7"/>
            <a:endCxn id="637" idx="3"/>
          </p:cNvCxnSpPr>
          <p:nvPr/>
        </p:nvCxnSpPr>
        <p:spPr>
          <a:xfrm rot="10800000" flipH="1">
            <a:off x="5633287" y="4283555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Google Shape;641;p33"/>
          <p:cNvCxnSpPr>
            <a:stCxn id="636" idx="5"/>
            <a:endCxn id="639" idx="1"/>
          </p:cNvCxnSpPr>
          <p:nvPr/>
        </p:nvCxnSpPr>
        <p:spPr>
          <a:xfrm>
            <a:off x="5633287" y="4702799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Google Shape;642;p33"/>
          <p:cNvCxnSpPr>
            <a:stCxn id="637" idx="5"/>
            <a:endCxn id="638" idx="1"/>
          </p:cNvCxnSpPr>
          <p:nvPr/>
        </p:nvCxnSpPr>
        <p:spPr>
          <a:xfrm>
            <a:off x="6045469" y="4283639"/>
            <a:ext cx="203850" cy="2108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Google Shape;643;p33"/>
          <p:cNvCxnSpPr>
            <a:stCxn id="639" idx="7"/>
            <a:endCxn id="638" idx="3"/>
          </p:cNvCxnSpPr>
          <p:nvPr/>
        </p:nvCxnSpPr>
        <p:spPr>
          <a:xfrm rot="10800000" flipH="1">
            <a:off x="6045469" y="4702826"/>
            <a:ext cx="203850" cy="1721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" name="Google Shape;644;p33"/>
          <p:cNvSpPr txBox="1"/>
          <p:nvPr/>
        </p:nvSpPr>
        <p:spPr>
          <a:xfrm>
            <a:off x="1481061" y="2835332"/>
            <a:ext cx="909450" cy="50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Acyclic</a:t>
            </a:r>
            <a:r>
              <a:rPr lang="en" sz="18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3"/>
          <p:cNvSpPr txBox="1"/>
          <p:nvPr/>
        </p:nvSpPr>
        <p:spPr>
          <a:xfrm>
            <a:off x="1538511" y="4338744"/>
            <a:ext cx="909450" cy="50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Cyclic</a:t>
            </a:r>
            <a:r>
              <a:rPr lang="en" sz="18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 txBox="1"/>
          <p:nvPr/>
        </p:nvSpPr>
        <p:spPr>
          <a:xfrm>
            <a:off x="2871468" y="1978907"/>
            <a:ext cx="1052775" cy="50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r>
              <a:rPr lang="en" sz="18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5327250" y="1940660"/>
            <a:ext cx="1566252" cy="50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Undirected</a:t>
            </a:r>
            <a:r>
              <a:rPr lang="en" sz="18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F3936A-CC53-6A48-AD07-A2E0C1B91959}"/>
              </a:ext>
            </a:extLst>
          </p:cNvPr>
          <p:cNvCxnSpPr>
            <a:cxnSpLocks/>
          </p:cNvCxnSpPr>
          <p:nvPr/>
        </p:nvCxnSpPr>
        <p:spPr>
          <a:xfrm>
            <a:off x="4572000" y="1978906"/>
            <a:ext cx="0" cy="3325439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36CB6CF-2054-D74B-9896-5F30981492CC}"/>
              </a:ext>
            </a:extLst>
          </p:cNvPr>
          <p:cNvCxnSpPr>
            <a:cxnSpLocks/>
          </p:cNvCxnSpPr>
          <p:nvPr/>
        </p:nvCxnSpPr>
        <p:spPr>
          <a:xfrm flipH="1">
            <a:off x="1538511" y="3823634"/>
            <a:ext cx="5354991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28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648;p33">
            <a:extLst>
              <a:ext uri="{FF2B5EF4-FFF2-40B4-BE49-F238E27FC236}">
                <a16:creationId xmlns:a16="http://schemas.microsoft.com/office/drawing/2014/main" id="{46D9E66D-46E3-4C19-A0EB-1028ACD94D46}"/>
              </a:ext>
            </a:extLst>
          </p:cNvPr>
          <p:cNvSpPr txBox="1"/>
          <p:nvPr/>
        </p:nvSpPr>
        <p:spPr>
          <a:xfrm>
            <a:off x="5569671" y="1694448"/>
            <a:ext cx="2083834" cy="64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Vertex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&amp;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Edge Labels</a:t>
            </a:r>
            <a:endParaRPr sz="18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91F30-E121-42D6-B781-BCFB9D37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Labeled and Weighted Graphs</a:t>
            </a:r>
          </a:p>
        </p:txBody>
      </p:sp>
      <p:sp>
        <p:nvSpPr>
          <p:cNvPr id="4" name="Google Shape;648;p33">
            <a:extLst>
              <a:ext uri="{FF2B5EF4-FFF2-40B4-BE49-F238E27FC236}">
                <a16:creationId xmlns:a16="http://schemas.microsoft.com/office/drawing/2014/main" id="{13E4A9A7-7695-48D4-B89C-5094BA1E7D5C}"/>
              </a:ext>
            </a:extLst>
          </p:cNvPr>
          <p:cNvSpPr txBox="1"/>
          <p:nvPr/>
        </p:nvSpPr>
        <p:spPr>
          <a:xfrm>
            <a:off x="3485838" y="1952323"/>
            <a:ext cx="2083834" cy="384486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/>
            <a:r>
              <a:rPr lang="en" sz="1800" b="1" dirty="0">
                <a:solidFill>
                  <a:schemeClr val="accent3"/>
                </a:solidFill>
                <a:latin typeface="Calibri"/>
                <a:cs typeface="Calibri"/>
                <a:sym typeface="Calibri"/>
              </a:rPr>
              <a:t>Edge Labels</a:t>
            </a:r>
            <a:endParaRPr sz="1800" b="1" dirty="0">
              <a:solidFill>
                <a:schemeClr val="accent3"/>
              </a:solidFill>
              <a:latin typeface="Calibri"/>
              <a:cs typeface="Calibri"/>
              <a:sym typeface="Calibri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1A21FFC-EFD1-48AB-82D0-421D4CDE5DEF}"/>
              </a:ext>
            </a:extLst>
          </p:cNvPr>
          <p:cNvGrpSpPr/>
          <p:nvPr/>
        </p:nvGrpSpPr>
        <p:grpSpPr>
          <a:xfrm>
            <a:off x="3799065" y="2336810"/>
            <a:ext cx="1457380" cy="1196237"/>
            <a:chOff x="5113161" y="2142249"/>
            <a:chExt cx="1457380" cy="1196237"/>
          </a:xfrm>
        </p:grpSpPr>
        <p:sp>
          <p:nvSpPr>
            <p:cNvPr id="5" name="Google Shape;649;p33">
              <a:extLst>
                <a:ext uri="{FF2B5EF4-FFF2-40B4-BE49-F238E27FC236}">
                  <a16:creationId xmlns:a16="http://schemas.microsoft.com/office/drawing/2014/main" id="{AB4D8955-9CC8-42B5-B40D-4B338FD4D115}"/>
                </a:ext>
              </a:extLst>
            </p:cNvPr>
            <p:cNvSpPr/>
            <p:nvPr/>
          </p:nvSpPr>
          <p:spPr>
            <a:xfrm>
              <a:off x="5525342" y="224400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Google Shape;650;p33">
              <a:extLst>
                <a:ext uri="{FF2B5EF4-FFF2-40B4-BE49-F238E27FC236}">
                  <a16:creationId xmlns:a16="http://schemas.microsoft.com/office/drawing/2014/main" id="{00D6B448-9B91-442C-9AE5-BE28F4360E98}"/>
                </a:ext>
              </a:extLst>
            </p:cNvPr>
            <p:cNvSpPr/>
            <p:nvPr/>
          </p:nvSpPr>
          <p:spPr>
            <a:xfrm>
              <a:off x="5937524" y="266316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Google Shape;651;p33">
              <a:extLst>
                <a:ext uri="{FF2B5EF4-FFF2-40B4-BE49-F238E27FC236}">
                  <a16:creationId xmlns:a16="http://schemas.microsoft.com/office/drawing/2014/main" id="{B05CDE29-F88D-4C14-8255-5ABD9EC03CBD}"/>
                </a:ext>
              </a:extLst>
            </p:cNvPr>
            <p:cNvSpPr/>
            <p:nvPr/>
          </p:nvSpPr>
          <p:spPr>
            <a:xfrm>
              <a:off x="5525342" y="3043736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" name="Google Shape;652;p33">
              <a:extLst>
                <a:ext uri="{FF2B5EF4-FFF2-40B4-BE49-F238E27FC236}">
                  <a16:creationId xmlns:a16="http://schemas.microsoft.com/office/drawing/2014/main" id="{FA351BA5-1F39-494C-809B-5CF583786579}"/>
                </a:ext>
              </a:extLst>
            </p:cNvPr>
            <p:cNvCxnSpPr>
              <a:stCxn id="5" idx="5"/>
              <a:endCxn id="6" idx="1"/>
            </p:cNvCxnSpPr>
            <p:nvPr/>
          </p:nvCxnSpPr>
          <p:spPr>
            <a:xfrm>
              <a:off x="5776928" y="2495589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oogle Shape;653;p33">
              <a:extLst>
                <a:ext uri="{FF2B5EF4-FFF2-40B4-BE49-F238E27FC236}">
                  <a16:creationId xmlns:a16="http://schemas.microsoft.com/office/drawing/2014/main" id="{AFF0CAD3-5C5A-4A2B-838B-DF9B88FBB179}"/>
                </a:ext>
              </a:extLst>
            </p:cNvPr>
            <p:cNvCxnSpPr>
              <a:stCxn id="7" idx="7"/>
              <a:endCxn id="6" idx="3"/>
            </p:cNvCxnSpPr>
            <p:nvPr/>
          </p:nvCxnSpPr>
          <p:spPr>
            <a:xfrm rot="10800000" flipH="1">
              <a:off x="5776928" y="2914776"/>
              <a:ext cx="203850" cy="1721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Google Shape;654;p33">
              <a:extLst>
                <a:ext uri="{FF2B5EF4-FFF2-40B4-BE49-F238E27FC236}">
                  <a16:creationId xmlns:a16="http://schemas.microsoft.com/office/drawing/2014/main" id="{6A902441-2F47-4058-A5B8-EEECA48B3ED5}"/>
                </a:ext>
              </a:extLst>
            </p:cNvPr>
            <p:cNvSpPr/>
            <p:nvPr/>
          </p:nvSpPr>
          <p:spPr>
            <a:xfrm>
              <a:off x="6275791" y="224400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1" name="Google Shape;655;p33">
              <a:extLst>
                <a:ext uri="{FF2B5EF4-FFF2-40B4-BE49-F238E27FC236}">
                  <a16:creationId xmlns:a16="http://schemas.microsoft.com/office/drawing/2014/main" id="{2D664472-E5A0-4884-9BBE-0E80901CCC37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5820092" y="2391380"/>
              <a:ext cx="45562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Google Shape;656;p33">
              <a:extLst>
                <a:ext uri="{FF2B5EF4-FFF2-40B4-BE49-F238E27FC236}">
                  <a16:creationId xmlns:a16="http://schemas.microsoft.com/office/drawing/2014/main" id="{827190A5-B82A-4501-BFF4-0C4927B582BC}"/>
                </a:ext>
              </a:extLst>
            </p:cNvPr>
            <p:cNvSpPr/>
            <p:nvPr/>
          </p:nvSpPr>
          <p:spPr>
            <a:xfrm>
              <a:off x="5113161" y="266316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Google Shape;657;p33">
              <a:extLst>
                <a:ext uri="{FF2B5EF4-FFF2-40B4-BE49-F238E27FC236}">
                  <a16:creationId xmlns:a16="http://schemas.microsoft.com/office/drawing/2014/main" id="{8F3A123E-FB39-4B52-AE50-FD82BAF6A54C}"/>
                </a:ext>
              </a:extLst>
            </p:cNvPr>
            <p:cNvSpPr txBox="1"/>
            <p:nvPr/>
          </p:nvSpPr>
          <p:spPr>
            <a:xfrm>
              <a:off x="5257163" y="240480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Google Shape;658;p33">
              <a:extLst>
                <a:ext uri="{FF2B5EF4-FFF2-40B4-BE49-F238E27FC236}">
                  <a16:creationId xmlns:a16="http://schemas.microsoft.com/office/drawing/2014/main" id="{72F231BD-C2BD-4425-B590-B5F025DF5FDC}"/>
                </a:ext>
              </a:extLst>
            </p:cNvPr>
            <p:cNvCxnSpPr>
              <a:stCxn id="12" idx="7"/>
              <a:endCxn id="5" idx="3"/>
            </p:cNvCxnSpPr>
            <p:nvPr/>
          </p:nvCxnSpPr>
          <p:spPr>
            <a:xfrm rot="10800000" flipH="1">
              <a:off x="5364746" y="2495505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Google Shape;659;p33">
              <a:extLst>
                <a:ext uri="{FF2B5EF4-FFF2-40B4-BE49-F238E27FC236}">
                  <a16:creationId xmlns:a16="http://schemas.microsoft.com/office/drawing/2014/main" id="{1EE00117-FD94-41B9-8FFA-A6ED6988F4C1}"/>
                </a:ext>
              </a:extLst>
            </p:cNvPr>
            <p:cNvSpPr txBox="1"/>
            <p:nvPr/>
          </p:nvSpPr>
          <p:spPr>
            <a:xfrm>
              <a:off x="5718167" y="276743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660;p33">
              <a:extLst>
                <a:ext uri="{FF2B5EF4-FFF2-40B4-BE49-F238E27FC236}">
                  <a16:creationId xmlns:a16="http://schemas.microsoft.com/office/drawing/2014/main" id="{A3CBF785-9727-40B4-8C7A-FE170F38AD27}"/>
                </a:ext>
              </a:extLst>
            </p:cNvPr>
            <p:cNvSpPr txBox="1"/>
            <p:nvPr/>
          </p:nvSpPr>
          <p:spPr>
            <a:xfrm>
              <a:off x="5931669" y="2142249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661;p33">
              <a:extLst>
                <a:ext uri="{FF2B5EF4-FFF2-40B4-BE49-F238E27FC236}">
                  <a16:creationId xmlns:a16="http://schemas.microsoft.com/office/drawing/2014/main" id="{06806BAE-324E-4360-A41B-9388C4FDE803}"/>
                </a:ext>
              </a:extLst>
            </p:cNvPr>
            <p:cNvSpPr txBox="1"/>
            <p:nvPr/>
          </p:nvSpPr>
          <p:spPr>
            <a:xfrm>
              <a:off x="5829744" y="2393834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1" name="Google Shape;648;p33">
            <a:extLst>
              <a:ext uri="{FF2B5EF4-FFF2-40B4-BE49-F238E27FC236}">
                <a16:creationId xmlns:a16="http://schemas.microsoft.com/office/drawing/2014/main" id="{4F854E6C-4392-4933-8360-B118B7651694}"/>
              </a:ext>
            </a:extLst>
          </p:cNvPr>
          <p:cNvSpPr txBox="1"/>
          <p:nvPr/>
        </p:nvSpPr>
        <p:spPr>
          <a:xfrm>
            <a:off x="1434413" y="1956491"/>
            <a:ext cx="1443225" cy="38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Vertex</a:t>
            </a: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Labels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158608D-0AEF-4C0D-B615-ADD399037D60}"/>
              </a:ext>
            </a:extLst>
          </p:cNvPr>
          <p:cNvGrpSpPr/>
          <p:nvPr/>
        </p:nvGrpSpPr>
        <p:grpSpPr>
          <a:xfrm>
            <a:off x="1449095" y="2437449"/>
            <a:ext cx="1457380" cy="1094486"/>
            <a:chOff x="1664362" y="1992415"/>
            <a:chExt cx="1457380" cy="1094486"/>
          </a:xfrm>
        </p:grpSpPr>
        <p:sp>
          <p:nvSpPr>
            <p:cNvPr id="32" name="Google Shape;649;p33">
              <a:extLst>
                <a:ext uri="{FF2B5EF4-FFF2-40B4-BE49-F238E27FC236}">
                  <a16:creationId xmlns:a16="http://schemas.microsoft.com/office/drawing/2014/main" id="{214F311E-9AF9-4D34-993A-351239572CCF}"/>
                </a:ext>
              </a:extLst>
            </p:cNvPr>
            <p:cNvSpPr/>
            <p:nvPr/>
          </p:nvSpPr>
          <p:spPr>
            <a:xfrm>
              <a:off x="2076543" y="199242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" sz="1200" b="1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sz="12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Google Shape;650;p33">
              <a:extLst>
                <a:ext uri="{FF2B5EF4-FFF2-40B4-BE49-F238E27FC236}">
                  <a16:creationId xmlns:a16="http://schemas.microsoft.com/office/drawing/2014/main" id="{92DCA582-EB48-43E8-BAC7-8315495B8FF1}"/>
                </a:ext>
              </a:extLst>
            </p:cNvPr>
            <p:cNvSpPr/>
            <p:nvPr/>
          </p:nvSpPr>
          <p:spPr>
            <a:xfrm>
              <a:off x="2488725" y="241158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" sz="1200" b="1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sz="12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Google Shape;651;p33">
              <a:extLst>
                <a:ext uri="{FF2B5EF4-FFF2-40B4-BE49-F238E27FC236}">
                  <a16:creationId xmlns:a16="http://schemas.microsoft.com/office/drawing/2014/main" id="{7996C635-7647-4A30-A79A-E2534820CE22}"/>
                </a:ext>
              </a:extLst>
            </p:cNvPr>
            <p:cNvSpPr/>
            <p:nvPr/>
          </p:nvSpPr>
          <p:spPr>
            <a:xfrm>
              <a:off x="2076543" y="2792151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" sz="1200" b="1"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sz="12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5" name="Google Shape;652;p33">
              <a:extLst>
                <a:ext uri="{FF2B5EF4-FFF2-40B4-BE49-F238E27FC236}">
                  <a16:creationId xmlns:a16="http://schemas.microsoft.com/office/drawing/2014/main" id="{40F4849E-CF27-4DC3-8ED7-F291E81C5A72}"/>
                </a:ext>
              </a:extLst>
            </p:cNvPr>
            <p:cNvCxnSpPr>
              <a:stCxn id="32" idx="5"/>
              <a:endCxn id="33" idx="1"/>
            </p:cNvCxnSpPr>
            <p:nvPr/>
          </p:nvCxnSpPr>
          <p:spPr>
            <a:xfrm>
              <a:off x="2328129" y="2244004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oogle Shape;653;p33">
              <a:extLst>
                <a:ext uri="{FF2B5EF4-FFF2-40B4-BE49-F238E27FC236}">
                  <a16:creationId xmlns:a16="http://schemas.microsoft.com/office/drawing/2014/main" id="{50DE8E3A-50A8-4006-AB2B-FA14923453E2}"/>
                </a:ext>
              </a:extLst>
            </p:cNvPr>
            <p:cNvCxnSpPr>
              <a:stCxn id="34" idx="7"/>
              <a:endCxn id="33" idx="3"/>
            </p:cNvCxnSpPr>
            <p:nvPr/>
          </p:nvCxnSpPr>
          <p:spPr>
            <a:xfrm rot="10800000" flipH="1">
              <a:off x="2328129" y="2663191"/>
              <a:ext cx="203850" cy="1721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Google Shape;654;p33">
              <a:extLst>
                <a:ext uri="{FF2B5EF4-FFF2-40B4-BE49-F238E27FC236}">
                  <a16:creationId xmlns:a16="http://schemas.microsoft.com/office/drawing/2014/main" id="{3FCA844B-0BB2-4140-A99F-D3B2E787272F}"/>
                </a:ext>
              </a:extLst>
            </p:cNvPr>
            <p:cNvSpPr/>
            <p:nvPr/>
          </p:nvSpPr>
          <p:spPr>
            <a:xfrm>
              <a:off x="2826992" y="199241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" sz="1200" b="1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sz="12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8" name="Google Shape;655;p33">
              <a:extLst>
                <a:ext uri="{FF2B5EF4-FFF2-40B4-BE49-F238E27FC236}">
                  <a16:creationId xmlns:a16="http://schemas.microsoft.com/office/drawing/2014/main" id="{C5B0452B-E3AC-4BEC-A494-CC5907B18856}"/>
                </a:ext>
              </a:extLst>
            </p:cNvPr>
            <p:cNvCxnSpPr>
              <a:stCxn id="32" idx="6"/>
              <a:endCxn id="37" idx="2"/>
            </p:cNvCxnSpPr>
            <p:nvPr/>
          </p:nvCxnSpPr>
          <p:spPr>
            <a:xfrm>
              <a:off x="2371293" y="2139795"/>
              <a:ext cx="45562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Google Shape;656;p33">
              <a:extLst>
                <a:ext uri="{FF2B5EF4-FFF2-40B4-BE49-F238E27FC236}">
                  <a16:creationId xmlns:a16="http://schemas.microsoft.com/office/drawing/2014/main" id="{C2C399DE-B111-47FC-B6D5-5B2FE5D54D87}"/>
                </a:ext>
              </a:extLst>
            </p:cNvPr>
            <p:cNvSpPr/>
            <p:nvPr/>
          </p:nvSpPr>
          <p:spPr>
            <a:xfrm>
              <a:off x="1664362" y="241158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" sz="1200" b="1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sz="12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1" name="Google Shape;658;p33">
              <a:extLst>
                <a:ext uri="{FF2B5EF4-FFF2-40B4-BE49-F238E27FC236}">
                  <a16:creationId xmlns:a16="http://schemas.microsoft.com/office/drawing/2014/main" id="{C7F1398B-D5C2-4EAA-92CA-1BBF0465542B}"/>
                </a:ext>
              </a:extLst>
            </p:cNvPr>
            <p:cNvCxnSpPr>
              <a:stCxn id="39" idx="7"/>
              <a:endCxn id="32" idx="3"/>
            </p:cNvCxnSpPr>
            <p:nvPr/>
          </p:nvCxnSpPr>
          <p:spPr>
            <a:xfrm rot="10800000" flipH="1">
              <a:off x="1915947" y="2243920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Google Shape;648;p33">
            <a:extLst>
              <a:ext uri="{FF2B5EF4-FFF2-40B4-BE49-F238E27FC236}">
                <a16:creationId xmlns:a16="http://schemas.microsoft.com/office/drawing/2014/main" id="{0C2A9819-1944-4228-889A-FC2E4F175F28}"/>
              </a:ext>
            </a:extLst>
          </p:cNvPr>
          <p:cNvSpPr txBox="1"/>
          <p:nvPr/>
        </p:nvSpPr>
        <p:spPr>
          <a:xfrm>
            <a:off x="3362154" y="3839511"/>
            <a:ext cx="2083834" cy="64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/>
            <a:r>
              <a:rPr lang="en" sz="1800" dirty="0">
                <a:latin typeface="Calibri"/>
                <a:cs typeface="Calibri"/>
                <a:sym typeface="Calibri"/>
              </a:rPr>
              <a:t>Numeric Edge Labels</a:t>
            </a:r>
            <a:br>
              <a:rPr lang="en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Edge</a:t>
            </a:r>
            <a:r>
              <a:rPr lang="en-US" sz="1800" b="1" dirty="0">
                <a:solidFill>
                  <a:schemeClr val="accent3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Weights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0FB051-026F-43B1-8509-BC15EC34CD4A}"/>
              </a:ext>
            </a:extLst>
          </p:cNvPr>
          <p:cNvGrpSpPr/>
          <p:nvPr/>
        </p:nvGrpSpPr>
        <p:grpSpPr>
          <a:xfrm>
            <a:off x="3799065" y="4449625"/>
            <a:ext cx="1457380" cy="1196237"/>
            <a:chOff x="5113161" y="2142249"/>
            <a:chExt cx="1457380" cy="1196237"/>
          </a:xfrm>
        </p:grpSpPr>
        <p:sp>
          <p:nvSpPr>
            <p:cNvPr id="42" name="Google Shape;649;p33">
              <a:extLst>
                <a:ext uri="{FF2B5EF4-FFF2-40B4-BE49-F238E27FC236}">
                  <a16:creationId xmlns:a16="http://schemas.microsoft.com/office/drawing/2014/main" id="{246378E8-946C-4BB4-B56B-B244DB6F8829}"/>
                </a:ext>
              </a:extLst>
            </p:cNvPr>
            <p:cNvSpPr/>
            <p:nvPr/>
          </p:nvSpPr>
          <p:spPr>
            <a:xfrm>
              <a:off x="5525342" y="224400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Google Shape;650;p33">
              <a:extLst>
                <a:ext uri="{FF2B5EF4-FFF2-40B4-BE49-F238E27FC236}">
                  <a16:creationId xmlns:a16="http://schemas.microsoft.com/office/drawing/2014/main" id="{5D295AD4-79F6-41BD-8D02-233B9D1687ED}"/>
                </a:ext>
              </a:extLst>
            </p:cNvPr>
            <p:cNvSpPr/>
            <p:nvPr/>
          </p:nvSpPr>
          <p:spPr>
            <a:xfrm>
              <a:off x="5937524" y="266316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Google Shape;651;p33">
              <a:extLst>
                <a:ext uri="{FF2B5EF4-FFF2-40B4-BE49-F238E27FC236}">
                  <a16:creationId xmlns:a16="http://schemas.microsoft.com/office/drawing/2014/main" id="{32A61A42-991B-48AB-9B0F-E4DDD60F7AE6}"/>
                </a:ext>
              </a:extLst>
            </p:cNvPr>
            <p:cNvSpPr/>
            <p:nvPr/>
          </p:nvSpPr>
          <p:spPr>
            <a:xfrm>
              <a:off x="5525342" y="3043736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7" name="Google Shape;652;p33">
              <a:extLst>
                <a:ext uri="{FF2B5EF4-FFF2-40B4-BE49-F238E27FC236}">
                  <a16:creationId xmlns:a16="http://schemas.microsoft.com/office/drawing/2014/main" id="{488C3273-ED8E-4B83-97D2-A4DE99EC6CF5}"/>
                </a:ext>
              </a:extLst>
            </p:cNvPr>
            <p:cNvCxnSpPr>
              <a:stCxn id="42" idx="5"/>
              <a:endCxn id="43" idx="1"/>
            </p:cNvCxnSpPr>
            <p:nvPr/>
          </p:nvCxnSpPr>
          <p:spPr>
            <a:xfrm>
              <a:off x="5776928" y="2495589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oogle Shape;653;p33">
              <a:extLst>
                <a:ext uri="{FF2B5EF4-FFF2-40B4-BE49-F238E27FC236}">
                  <a16:creationId xmlns:a16="http://schemas.microsoft.com/office/drawing/2014/main" id="{5C78C745-88FD-4992-A838-CBE5D6011067}"/>
                </a:ext>
              </a:extLst>
            </p:cNvPr>
            <p:cNvCxnSpPr>
              <a:stCxn id="44" idx="7"/>
              <a:endCxn id="43" idx="3"/>
            </p:cNvCxnSpPr>
            <p:nvPr/>
          </p:nvCxnSpPr>
          <p:spPr>
            <a:xfrm rot="10800000" flipH="1">
              <a:off x="5776928" y="2914776"/>
              <a:ext cx="203850" cy="1721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Google Shape;654;p33">
              <a:extLst>
                <a:ext uri="{FF2B5EF4-FFF2-40B4-BE49-F238E27FC236}">
                  <a16:creationId xmlns:a16="http://schemas.microsoft.com/office/drawing/2014/main" id="{D8BD5E98-C073-4383-BB71-3AE7DF958D61}"/>
                </a:ext>
              </a:extLst>
            </p:cNvPr>
            <p:cNvSpPr/>
            <p:nvPr/>
          </p:nvSpPr>
          <p:spPr>
            <a:xfrm>
              <a:off x="6275791" y="224400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0" name="Google Shape;655;p33">
              <a:extLst>
                <a:ext uri="{FF2B5EF4-FFF2-40B4-BE49-F238E27FC236}">
                  <a16:creationId xmlns:a16="http://schemas.microsoft.com/office/drawing/2014/main" id="{8EF60707-0063-4ECB-9F7C-709F281F23AC}"/>
                </a:ext>
              </a:extLst>
            </p:cNvPr>
            <p:cNvCxnSpPr>
              <a:stCxn id="42" idx="6"/>
              <a:endCxn id="49" idx="2"/>
            </p:cNvCxnSpPr>
            <p:nvPr/>
          </p:nvCxnSpPr>
          <p:spPr>
            <a:xfrm>
              <a:off x="5820092" y="2391380"/>
              <a:ext cx="45562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Google Shape;656;p33">
              <a:extLst>
                <a:ext uri="{FF2B5EF4-FFF2-40B4-BE49-F238E27FC236}">
                  <a16:creationId xmlns:a16="http://schemas.microsoft.com/office/drawing/2014/main" id="{62943F75-D140-4B4E-A0E3-A72A9F4D584D}"/>
                </a:ext>
              </a:extLst>
            </p:cNvPr>
            <p:cNvSpPr/>
            <p:nvPr/>
          </p:nvSpPr>
          <p:spPr>
            <a:xfrm>
              <a:off x="5113161" y="266316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Google Shape;657;p33">
              <a:extLst>
                <a:ext uri="{FF2B5EF4-FFF2-40B4-BE49-F238E27FC236}">
                  <a16:creationId xmlns:a16="http://schemas.microsoft.com/office/drawing/2014/main" id="{03BBE187-D6DC-42DE-8885-724214328ABD}"/>
                </a:ext>
              </a:extLst>
            </p:cNvPr>
            <p:cNvSpPr txBox="1"/>
            <p:nvPr/>
          </p:nvSpPr>
          <p:spPr>
            <a:xfrm>
              <a:off x="5257163" y="240480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3" name="Google Shape;658;p33">
              <a:extLst>
                <a:ext uri="{FF2B5EF4-FFF2-40B4-BE49-F238E27FC236}">
                  <a16:creationId xmlns:a16="http://schemas.microsoft.com/office/drawing/2014/main" id="{0F8CFB03-8639-418B-8671-609996DD1224}"/>
                </a:ext>
              </a:extLst>
            </p:cNvPr>
            <p:cNvCxnSpPr>
              <a:stCxn id="51" idx="7"/>
              <a:endCxn id="42" idx="3"/>
            </p:cNvCxnSpPr>
            <p:nvPr/>
          </p:nvCxnSpPr>
          <p:spPr>
            <a:xfrm rot="10800000" flipH="1">
              <a:off x="5364746" y="2495505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Google Shape;659;p33">
              <a:extLst>
                <a:ext uri="{FF2B5EF4-FFF2-40B4-BE49-F238E27FC236}">
                  <a16:creationId xmlns:a16="http://schemas.microsoft.com/office/drawing/2014/main" id="{FAF9E03B-B871-4F7F-B087-36954E25D0A8}"/>
                </a:ext>
              </a:extLst>
            </p:cNvPr>
            <p:cNvSpPr txBox="1"/>
            <p:nvPr/>
          </p:nvSpPr>
          <p:spPr>
            <a:xfrm>
              <a:off x="5718167" y="276743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660;p33">
              <a:extLst>
                <a:ext uri="{FF2B5EF4-FFF2-40B4-BE49-F238E27FC236}">
                  <a16:creationId xmlns:a16="http://schemas.microsoft.com/office/drawing/2014/main" id="{9EB7F0C0-7905-40A6-812E-60C6804FFE35}"/>
                </a:ext>
              </a:extLst>
            </p:cNvPr>
            <p:cNvSpPr txBox="1"/>
            <p:nvPr/>
          </p:nvSpPr>
          <p:spPr>
            <a:xfrm>
              <a:off x="5931669" y="2142249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661;p33">
              <a:extLst>
                <a:ext uri="{FF2B5EF4-FFF2-40B4-BE49-F238E27FC236}">
                  <a16:creationId xmlns:a16="http://schemas.microsoft.com/office/drawing/2014/main" id="{52E32A82-4ED9-4012-AE1D-BE439E1DD92C}"/>
                </a:ext>
              </a:extLst>
            </p:cNvPr>
            <p:cNvSpPr txBox="1"/>
            <p:nvPr/>
          </p:nvSpPr>
          <p:spPr>
            <a:xfrm>
              <a:off x="5829744" y="2393834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191B5B5-FCCB-4B9D-ADCF-C813DF6790F3}"/>
              </a:ext>
            </a:extLst>
          </p:cNvPr>
          <p:cNvGrpSpPr/>
          <p:nvPr/>
        </p:nvGrpSpPr>
        <p:grpSpPr>
          <a:xfrm>
            <a:off x="5992715" y="2336810"/>
            <a:ext cx="1457380" cy="1196237"/>
            <a:chOff x="5113161" y="2142249"/>
            <a:chExt cx="1457380" cy="1196237"/>
          </a:xfrm>
        </p:grpSpPr>
        <p:cxnSp>
          <p:nvCxnSpPr>
            <p:cNvPr id="61" name="Google Shape;652;p33">
              <a:extLst>
                <a:ext uri="{FF2B5EF4-FFF2-40B4-BE49-F238E27FC236}">
                  <a16:creationId xmlns:a16="http://schemas.microsoft.com/office/drawing/2014/main" id="{D970A72A-612A-4115-A0A2-D70608E76D57}"/>
                </a:ext>
              </a:extLst>
            </p:cNvPr>
            <p:cNvCxnSpPr>
              <a:stCxn id="58" idx="5"/>
              <a:endCxn id="59" idx="1"/>
            </p:cNvCxnSpPr>
            <p:nvPr/>
          </p:nvCxnSpPr>
          <p:spPr>
            <a:xfrm>
              <a:off x="5776927" y="2495590"/>
              <a:ext cx="197907" cy="220279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oogle Shape;653;p33">
              <a:extLst>
                <a:ext uri="{FF2B5EF4-FFF2-40B4-BE49-F238E27FC236}">
                  <a16:creationId xmlns:a16="http://schemas.microsoft.com/office/drawing/2014/main" id="{4F5F3B05-7360-4D08-8DB3-779D331E016E}"/>
                </a:ext>
              </a:extLst>
            </p:cNvPr>
            <p:cNvCxnSpPr>
              <a:stCxn id="60" idx="7"/>
              <a:endCxn id="59" idx="3"/>
            </p:cNvCxnSpPr>
            <p:nvPr/>
          </p:nvCxnSpPr>
          <p:spPr>
            <a:xfrm flipV="1">
              <a:off x="5776927" y="2924289"/>
              <a:ext cx="197907" cy="162612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oogle Shape;655;p33">
              <a:extLst>
                <a:ext uri="{FF2B5EF4-FFF2-40B4-BE49-F238E27FC236}">
                  <a16:creationId xmlns:a16="http://schemas.microsoft.com/office/drawing/2014/main" id="{CE186924-18DA-4580-BBFC-45A3F0635CE9}"/>
                </a:ext>
              </a:extLst>
            </p:cNvPr>
            <p:cNvCxnSpPr>
              <a:stCxn id="58" idx="6"/>
              <a:endCxn id="63" idx="2"/>
            </p:cNvCxnSpPr>
            <p:nvPr/>
          </p:nvCxnSpPr>
          <p:spPr>
            <a:xfrm>
              <a:off x="5820092" y="2391380"/>
              <a:ext cx="45562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oogle Shape;658;p33">
              <a:extLst>
                <a:ext uri="{FF2B5EF4-FFF2-40B4-BE49-F238E27FC236}">
                  <a16:creationId xmlns:a16="http://schemas.microsoft.com/office/drawing/2014/main" id="{8EE03594-EF0A-4F5F-B5CE-54835BD2ED0F}"/>
                </a:ext>
              </a:extLst>
            </p:cNvPr>
            <p:cNvCxnSpPr>
              <a:stCxn id="65" idx="7"/>
              <a:endCxn id="58" idx="3"/>
            </p:cNvCxnSpPr>
            <p:nvPr/>
          </p:nvCxnSpPr>
          <p:spPr>
            <a:xfrm rot="10800000" flipH="1">
              <a:off x="5364746" y="2495505"/>
              <a:ext cx="203850" cy="21082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Google Shape;649;p33">
              <a:extLst>
                <a:ext uri="{FF2B5EF4-FFF2-40B4-BE49-F238E27FC236}">
                  <a16:creationId xmlns:a16="http://schemas.microsoft.com/office/drawing/2014/main" id="{7C7D6F88-DB26-4C91-A0A3-84CE5CCA0265}"/>
                </a:ext>
              </a:extLst>
            </p:cNvPr>
            <p:cNvSpPr/>
            <p:nvPr/>
          </p:nvSpPr>
          <p:spPr>
            <a:xfrm>
              <a:off x="5525342" y="224400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Google Shape;650;p33">
              <a:extLst>
                <a:ext uri="{FF2B5EF4-FFF2-40B4-BE49-F238E27FC236}">
                  <a16:creationId xmlns:a16="http://schemas.microsoft.com/office/drawing/2014/main" id="{C9F8A24C-77B5-420F-A86B-6CC7B97A3174}"/>
                </a:ext>
              </a:extLst>
            </p:cNvPr>
            <p:cNvSpPr/>
            <p:nvPr/>
          </p:nvSpPr>
          <p:spPr>
            <a:xfrm>
              <a:off x="5931669" y="2672704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Google Shape;651;p33">
              <a:extLst>
                <a:ext uri="{FF2B5EF4-FFF2-40B4-BE49-F238E27FC236}">
                  <a16:creationId xmlns:a16="http://schemas.microsoft.com/office/drawing/2014/main" id="{56FEFEBA-7D3C-4BD3-9F41-887B8788EA71}"/>
                </a:ext>
              </a:extLst>
            </p:cNvPr>
            <p:cNvSpPr/>
            <p:nvPr/>
          </p:nvSpPr>
          <p:spPr>
            <a:xfrm>
              <a:off x="5525342" y="3043736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3" name="Google Shape;654;p33">
              <a:extLst>
                <a:ext uri="{FF2B5EF4-FFF2-40B4-BE49-F238E27FC236}">
                  <a16:creationId xmlns:a16="http://schemas.microsoft.com/office/drawing/2014/main" id="{6D9EF963-8689-4809-9130-BC45964FB21C}"/>
                </a:ext>
              </a:extLst>
            </p:cNvPr>
            <p:cNvSpPr/>
            <p:nvPr/>
          </p:nvSpPr>
          <p:spPr>
            <a:xfrm>
              <a:off x="6275791" y="2244000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Google Shape;656;p33">
              <a:extLst>
                <a:ext uri="{FF2B5EF4-FFF2-40B4-BE49-F238E27FC236}">
                  <a16:creationId xmlns:a16="http://schemas.microsoft.com/office/drawing/2014/main" id="{171D637B-43AC-4E91-BB22-38BC69A8C344}"/>
                </a:ext>
              </a:extLst>
            </p:cNvPr>
            <p:cNvSpPr/>
            <p:nvPr/>
          </p:nvSpPr>
          <p:spPr>
            <a:xfrm>
              <a:off x="5113161" y="2663165"/>
              <a:ext cx="294750" cy="2947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sz="1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Google Shape;657;p33">
              <a:extLst>
                <a:ext uri="{FF2B5EF4-FFF2-40B4-BE49-F238E27FC236}">
                  <a16:creationId xmlns:a16="http://schemas.microsoft.com/office/drawing/2014/main" id="{1FE7B0E6-7AA2-4046-B887-A47A0BA42C36}"/>
                </a:ext>
              </a:extLst>
            </p:cNvPr>
            <p:cNvSpPr txBox="1"/>
            <p:nvPr/>
          </p:nvSpPr>
          <p:spPr>
            <a:xfrm>
              <a:off x="5257163" y="240480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Google Shape;659;p33">
              <a:extLst>
                <a:ext uri="{FF2B5EF4-FFF2-40B4-BE49-F238E27FC236}">
                  <a16:creationId xmlns:a16="http://schemas.microsoft.com/office/drawing/2014/main" id="{CE2957F7-60ED-474B-83E5-5B1D9E05D238}"/>
                </a:ext>
              </a:extLst>
            </p:cNvPr>
            <p:cNvSpPr txBox="1"/>
            <p:nvPr/>
          </p:nvSpPr>
          <p:spPr>
            <a:xfrm>
              <a:off x="5718167" y="2767430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Google Shape;660;p33">
              <a:extLst>
                <a:ext uri="{FF2B5EF4-FFF2-40B4-BE49-F238E27FC236}">
                  <a16:creationId xmlns:a16="http://schemas.microsoft.com/office/drawing/2014/main" id="{0B93B46B-43A3-478F-BA35-8DAF32B3697F}"/>
                </a:ext>
              </a:extLst>
            </p:cNvPr>
            <p:cNvSpPr txBox="1"/>
            <p:nvPr/>
          </p:nvSpPr>
          <p:spPr>
            <a:xfrm>
              <a:off x="5931669" y="2142249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Google Shape;661;p33">
              <a:extLst>
                <a:ext uri="{FF2B5EF4-FFF2-40B4-BE49-F238E27FC236}">
                  <a16:creationId xmlns:a16="http://schemas.microsoft.com/office/drawing/2014/main" id="{BFA6445C-05AA-489D-A363-B3767C3C8EA9}"/>
                </a:ext>
              </a:extLst>
            </p:cNvPr>
            <p:cNvSpPr txBox="1"/>
            <p:nvPr/>
          </p:nvSpPr>
          <p:spPr>
            <a:xfrm>
              <a:off x="5829744" y="2393834"/>
              <a:ext cx="203850" cy="17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C9604388-1D1C-43A5-A022-306C24457D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77D05A-DC22-42C4-9E7C-692D4D9651B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8852AEC-42EE-4C37-AAC9-B47365C5F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Basic Graph Terminologies 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4F9878AB-61E8-4D2E-BA32-CA0782342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36D2C7F8-551C-462F-BE75-C3C59EE7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8658"/>
            <a:ext cx="4343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What is a graph?  G=(V, E)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Define a graph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sz="2400" dirty="0"/>
              <a:t>A path between two vertices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Weighted vs. unweighted graphs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6634586B-9C05-4864-9C51-74DE96E06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757" y="1028514"/>
            <a:ext cx="4396848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881DE761-2D80-41C7-A5D0-01BF94C631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18383"/>
              </p:ext>
            </p:extLst>
          </p:nvPr>
        </p:nvGraphicFramePr>
        <p:xfrm>
          <a:off x="152400" y="3407991"/>
          <a:ext cx="4343400" cy="314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6256020" imgH="3994404" progId="Word.Picture.8">
                  <p:embed/>
                </p:oleObj>
              </mc:Choice>
              <mc:Fallback>
                <p:oleObj name="Picture" r:id="rId4" imgW="6256020" imgH="3994404" progId="Word.Picture.8">
                  <p:embed/>
                  <p:pic>
                    <p:nvPicPr>
                      <p:cNvPr id="27658" name="Object 13">
                        <a:extLst>
                          <a:ext uri="{FF2B5EF4-FFF2-40B4-BE49-F238E27FC236}">
                            <a16:creationId xmlns:a16="http://schemas.microsoft.com/office/drawing/2014/main" id="{164F84F3-4942-43C9-B4B2-E160930B2F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407991"/>
                        <a:ext cx="4343400" cy="3145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  <a:prstGeom prst="rect">
            <a:avLst/>
          </a:prstGeom>
        </p:spPr>
        <p:txBody>
          <a:bodyPr spcFirstLastPara="1" vert="horz" wrap="square" lIns="68569" tIns="68569" rIns="68569" bIns="68569" numCol="1" rtlCol="0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 dirty="0"/>
              <a:t>More Graph Terminology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BD3C5-0453-4143-B17E-A5106608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959925"/>
            <a:ext cx="5256545" cy="369840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Simple Graph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dirty="0"/>
              <a:t>has no </a:t>
            </a:r>
            <a:r>
              <a:rPr lang="en-US" sz="2900" b="1" dirty="0">
                <a:solidFill>
                  <a:srgbClr val="FF0000"/>
                </a:solidFill>
              </a:rPr>
              <a:t>self-</a:t>
            </a:r>
            <a:r>
              <a:rPr lang="en-US" sz="2900" b="1" dirty="0" err="1">
                <a:solidFill>
                  <a:srgbClr val="FF0000"/>
                </a:solidFill>
              </a:rPr>
              <a:t>loop</a:t>
            </a:r>
            <a:r>
              <a:rPr lang="en-US" b="1" dirty="0" err="1">
                <a:solidFill>
                  <a:schemeClr val="accent3"/>
                </a:solidFill>
              </a:rPr>
              <a:t>elf</a:t>
            </a:r>
            <a:r>
              <a:rPr lang="en-US" b="1" dirty="0">
                <a:solidFill>
                  <a:schemeClr val="accent3"/>
                </a:solidFill>
              </a:rPr>
              <a:t>-</a:t>
            </a:r>
            <a:br>
              <a:rPr lang="en-US" dirty="0"/>
            </a:b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parallel edges</a:t>
            </a:r>
          </a:p>
          <a:p>
            <a:pPr lvl="1"/>
            <a:r>
              <a:rPr lang="en-US" dirty="0"/>
              <a:t>Unless otherwise stated, all graphs</a:t>
            </a:r>
            <a:br>
              <a:rPr lang="en-US" dirty="0"/>
            </a:br>
            <a:r>
              <a:rPr lang="en-US" dirty="0"/>
              <a:t>in this course are simple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Vertices with an edge between them are </a:t>
            </a:r>
            <a:r>
              <a:rPr lang="en-US" b="1" dirty="0">
                <a:solidFill>
                  <a:srgbClr val="FF0000"/>
                </a:solidFill>
              </a:rPr>
              <a:t>adjacent</a:t>
            </a:r>
          </a:p>
          <a:p>
            <a:pPr lvl="1"/>
            <a:r>
              <a:rPr lang="en-US" dirty="0"/>
              <a:t>Vertices or edges may have optional </a:t>
            </a:r>
            <a:r>
              <a:rPr lang="en-US" b="1" dirty="0">
                <a:solidFill>
                  <a:srgbClr val="FF0000"/>
                </a:solidFill>
              </a:rPr>
              <a:t>labels</a:t>
            </a:r>
          </a:p>
          <a:p>
            <a:pPr lvl="2"/>
            <a:r>
              <a:rPr lang="en-US" dirty="0"/>
              <a:t>Numeric edge labels are sometimes called </a:t>
            </a:r>
            <a:r>
              <a:rPr lang="en-US" b="1" dirty="0">
                <a:solidFill>
                  <a:srgbClr val="FF0000"/>
                </a:solidFill>
              </a:rPr>
              <a:t>weights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Google Shape;611;p33">
            <a:extLst>
              <a:ext uri="{FF2B5EF4-FFF2-40B4-BE49-F238E27FC236}">
                <a16:creationId xmlns:a16="http://schemas.microsoft.com/office/drawing/2014/main" id="{6F3CD372-89FA-5B40-86AB-DE411168EFC8}"/>
              </a:ext>
            </a:extLst>
          </p:cNvPr>
          <p:cNvSpPr/>
          <p:nvPr/>
        </p:nvSpPr>
        <p:spPr>
          <a:xfrm>
            <a:off x="6577421" y="244667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Google Shape;612;p33">
            <a:extLst>
              <a:ext uri="{FF2B5EF4-FFF2-40B4-BE49-F238E27FC236}">
                <a16:creationId xmlns:a16="http://schemas.microsoft.com/office/drawing/2014/main" id="{0A82EDA2-87A8-AC4A-BC07-FB20ACD3D5F5}"/>
              </a:ext>
            </a:extLst>
          </p:cNvPr>
          <p:cNvSpPr/>
          <p:nvPr/>
        </p:nvSpPr>
        <p:spPr>
          <a:xfrm>
            <a:off x="7293331" y="203819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Google Shape;615;p33">
            <a:extLst>
              <a:ext uri="{FF2B5EF4-FFF2-40B4-BE49-F238E27FC236}">
                <a16:creationId xmlns:a16="http://schemas.microsoft.com/office/drawing/2014/main" id="{C984D7CD-490F-BE45-89A2-F122A96C047C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6724796" y="2185565"/>
            <a:ext cx="568535" cy="26111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614;p33">
            <a:extLst>
              <a:ext uri="{FF2B5EF4-FFF2-40B4-BE49-F238E27FC236}">
                <a16:creationId xmlns:a16="http://schemas.microsoft.com/office/drawing/2014/main" id="{EF88BE40-F245-E343-B329-BCBCCA15A83A}"/>
              </a:ext>
            </a:extLst>
          </p:cNvPr>
          <p:cNvSpPr/>
          <p:nvPr/>
        </p:nvSpPr>
        <p:spPr>
          <a:xfrm>
            <a:off x="6747867" y="347672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4" name="Google Shape;615;p33">
            <a:extLst>
              <a:ext uri="{FF2B5EF4-FFF2-40B4-BE49-F238E27FC236}">
                <a16:creationId xmlns:a16="http://schemas.microsoft.com/office/drawing/2014/main" id="{00A12456-3763-1C4A-9EEA-F09971CC8EB2}"/>
              </a:ext>
            </a:extLst>
          </p:cNvPr>
          <p:cNvCxnSpPr>
            <a:cxnSpLocks/>
            <a:stCxn id="7" idx="4"/>
            <a:endCxn id="6" idx="6"/>
          </p:cNvCxnSpPr>
          <p:nvPr/>
        </p:nvCxnSpPr>
        <p:spPr>
          <a:xfrm flipH="1">
            <a:off x="6872171" y="2332940"/>
            <a:ext cx="568535" cy="26111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AB304774-0A7E-7849-876D-C78D964C997F}"/>
              </a:ext>
            </a:extLst>
          </p:cNvPr>
          <p:cNvCxnSpPr>
            <a:cxnSpLocks/>
            <a:stCxn id="14" idx="0"/>
            <a:endCxn id="14" idx="6"/>
          </p:cNvCxnSpPr>
          <p:nvPr/>
        </p:nvCxnSpPr>
        <p:spPr>
          <a:xfrm rot="16200000" flipH="1">
            <a:off x="6895242" y="3476723"/>
            <a:ext cx="147375" cy="147375"/>
          </a:xfrm>
          <a:prstGeom prst="curvedConnector4">
            <a:avLst>
              <a:gd name="adj1" fmla="val -116336"/>
              <a:gd name="adj2" fmla="val 216336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737DE8-14B0-1C49-8627-34A4460807F7}"/>
              </a:ext>
            </a:extLst>
          </p:cNvPr>
          <p:cNvSpPr txBox="1"/>
          <p:nvPr/>
        </p:nvSpPr>
        <p:spPr>
          <a:xfrm>
            <a:off x="7367018" y="2397294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parallel edges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DC1453-08B2-A442-BFEA-82014576B487}"/>
              </a:ext>
            </a:extLst>
          </p:cNvPr>
          <p:cNvSpPr txBox="1"/>
          <p:nvPr/>
        </p:nvSpPr>
        <p:spPr>
          <a:xfrm>
            <a:off x="7274122" y="351639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self-loop</a:t>
            </a:r>
          </a:p>
        </p:txBody>
      </p:sp>
    </p:spTree>
    <p:extLst>
      <p:ext uri="{BB962C8B-B14F-4D97-AF65-F5344CB8AC3E}">
        <p14:creationId xmlns:p14="http://schemas.microsoft.com/office/powerpoint/2010/main" val="53675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  <a:prstGeom prst="rect">
            <a:avLst/>
          </a:prstGeom>
        </p:spPr>
        <p:txBody>
          <a:bodyPr spcFirstLastPara="1" vert="horz" wrap="square" lIns="68569" tIns="68569" rIns="68569" bIns="68569" numCol="1" rtlCol="0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 dirty="0"/>
              <a:t>More More Graph Terminology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BD3C5-0453-4143-B17E-A5106608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5510"/>
            <a:ext cx="5388008" cy="391848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Two vertices are </a:t>
            </a:r>
            <a:r>
              <a:rPr lang="en-US" b="1" dirty="0">
                <a:solidFill>
                  <a:srgbClr val="FF0000"/>
                </a:solidFill>
              </a:rPr>
              <a:t>connected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if there is a path between them</a:t>
            </a:r>
          </a:p>
          <a:p>
            <a:pPr lvl="1"/>
            <a:r>
              <a:rPr lang="en-US" dirty="0"/>
              <a:t>If all the vertices are connected, we say the graph is </a:t>
            </a:r>
            <a:r>
              <a:rPr lang="en-US" b="1" dirty="0">
                <a:solidFill>
                  <a:srgbClr val="FF0000"/>
                </a:solidFill>
              </a:rPr>
              <a:t>connected</a:t>
            </a:r>
          </a:p>
          <a:p>
            <a:pPr lvl="1"/>
            <a:r>
              <a:rPr lang="en-US" dirty="0"/>
              <a:t>The number of edges leaving a vertex is its </a:t>
            </a:r>
            <a:r>
              <a:rPr lang="en-US" b="1" dirty="0">
                <a:solidFill>
                  <a:srgbClr val="FF0000"/>
                </a:solidFill>
              </a:rPr>
              <a:t>degree</a:t>
            </a:r>
            <a:b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path</a:t>
            </a:r>
            <a:r>
              <a:rPr lang="en-US" dirty="0"/>
              <a:t> is a sequence of vertices connected by edges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simple path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path without repeated vertices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cycle</a:t>
            </a:r>
            <a:r>
              <a:rPr lang="en-US" dirty="0"/>
              <a:t> is a path whose first and last vertices are the same</a:t>
            </a:r>
          </a:p>
          <a:p>
            <a:pPr lvl="2"/>
            <a:r>
              <a:rPr lang="en-US" dirty="0"/>
              <a:t>A graph with a cycle is </a:t>
            </a:r>
            <a:r>
              <a:rPr lang="en-US" b="1" dirty="0">
                <a:solidFill>
                  <a:srgbClr val="FF0000"/>
                </a:solidFill>
              </a:rPr>
              <a:t>cyclic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6" name="Google Shape;611;p33">
            <a:extLst>
              <a:ext uri="{FF2B5EF4-FFF2-40B4-BE49-F238E27FC236}">
                <a16:creationId xmlns:a16="http://schemas.microsoft.com/office/drawing/2014/main" id="{A29D8B46-C83B-C048-924F-204B56FA94FB}"/>
              </a:ext>
            </a:extLst>
          </p:cNvPr>
          <p:cNvSpPr/>
          <p:nvPr/>
        </p:nvSpPr>
        <p:spPr>
          <a:xfrm>
            <a:off x="7344663" y="293998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Google Shape;612;p33">
            <a:extLst>
              <a:ext uri="{FF2B5EF4-FFF2-40B4-BE49-F238E27FC236}">
                <a16:creationId xmlns:a16="http://schemas.microsoft.com/office/drawing/2014/main" id="{E0E6C51F-9D2C-C343-AB19-273A8AB5178B}"/>
              </a:ext>
            </a:extLst>
          </p:cNvPr>
          <p:cNvSpPr/>
          <p:nvPr/>
        </p:nvSpPr>
        <p:spPr>
          <a:xfrm>
            <a:off x="7769429" y="255126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Google Shape;614;p33">
            <a:extLst>
              <a:ext uri="{FF2B5EF4-FFF2-40B4-BE49-F238E27FC236}">
                <a16:creationId xmlns:a16="http://schemas.microsoft.com/office/drawing/2014/main" id="{7918D4BA-968A-324B-A186-E5079A5DCB3C}"/>
              </a:ext>
            </a:extLst>
          </p:cNvPr>
          <p:cNvSpPr/>
          <p:nvPr/>
        </p:nvSpPr>
        <p:spPr>
          <a:xfrm>
            <a:off x="8253454" y="279260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sz="12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Google Shape;615;p33">
            <a:extLst>
              <a:ext uri="{FF2B5EF4-FFF2-40B4-BE49-F238E27FC236}">
                <a16:creationId xmlns:a16="http://schemas.microsoft.com/office/drawing/2014/main" id="{96A3EF60-D872-9F45-9C19-991EF8922180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7596247" y="2802848"/>
            <a:ext cx="216347" cy="18029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oogle Shape;616;p33">
            <a:extLst>
              <a:ext uri="{FF2B5EF4-FFF2-40B4-BE49-F238E27FC236}">
                <a16:creationId xmlns:a16="http://schemas.microsoft.com/office/drawing/2014/main" id="{3E9E7188-0CC3-C246-8727-F64F5F722368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064179" y="2698639"/>
            <a:ext cx="232441" cy="13713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614;p33">
            <a:extLst>
              <a:ext uri="{FF2B5EF4-FFF2-40B4-BE49-F238E27FC236}">
                <a16:creationId xmlns:a16="http://schemas.microsoft.com/office/drawing/2014/main" id="{387C7B98-2839-F84D-8F28-66CB316EBA21}"/>
              </a:ext>
            </a:extLst>
          </p:cNvPr>
          <p:cNvSpPr/>
          <p:nvPr/>
        </p:nvSpPr>
        <p:spPr>
          <a:xfrm>
            <a:off x="6382569" y="167240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Google Shape;614;p33">
            <a:extLst>
              <a:ext uri="{FF2B5EF4-FFF2-40B4-BE49-F238E27FC236}">
                <a16:creationId xmlns:a16="http://schemas.microsoft.com/office/drawing/2014/main" id="{A4C4A9FA-4111-0D43-B98F-F44D393E7AF3}"/>
              </a:ext>
            </a:extLst>
          </p:cNvPr>
          <p:cNvSpPr/>
          <p:nvPr/>
        </p:nvSpPr>
        <p:spPr>
          <a:xfrm>
            <a:off x="6884910" y="192594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" name="Google Shape;616;p33">
            <a:extLst>
              <a:ext uri="{FF2B5EF4-FFF2-40B4-BE49-F238E27FC236}">
                <a16:creationId xmlns:a16="http://schemas.microsoft.com/office/drawing/2014/main" id="{308BBDBC-E4DF-EB4D-AF8B-C2599013BE03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6677319" y="1819782"/>
            <a:ext cx="207591" cy="25353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613;p33">
            <a:extLst>
              <a:ext uri="{FF2B5EF4-FFF2-40B4-BE49-F238E27FC236}">
                <a16:creationId xmlns:a16="http://schemas.microsoft.com/office/drawing/2014/main" id="{F9B2A855-C8DD-C84E-A78E-4C59700555C8}"/>
              </a:ext>
            </a:extLst>
          </p:cNvPr>
          <p:cNvSpPr/>
          <p:nvPr/>
        </p:nvSpPr>
        <p:spPr>
          <a:xfrm>
            <a:off x="7420640" y="167240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8" name="Google Shape;616;p33">
            <a:extLst>
              <a:ext uri="{FF2B5EF4-FFF2-40B4-BE49-F238E27FC236}">
                <a16:creationId xmlns:a16="http://schemas.microsoft.com/office/drawing/2014/main" id="{2FF735C5-ED7F-1F49-8184-5613DA6E762A}"/>
              </a:ext>
            </a:extLst>
          </p:cNvPr>
          <p:cNvCxnSpPr>
            <a:cxnSpLocks/>
            <a:stCxn id="14" idx="6"/>
            <a:endCxn id="17" idx="3"/>
          </p:cNvCxnSpPr>
          <p:nvPr/>
        </p:nvCxnSpPr>
        <p:spPr>
          <a:xfrm flipV="1">
            <a:off x="7179660" y="1923992"/>
            <a:ext cx="284145" cy="14932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oogle Shape;614;p33">
            <a:extLst>
              <a:ext uri="{FF2B5EF4-FFF2-40B4-BE49-F238E27FC236}">
                <a16:creationId xmlns:a16="http://schemas.microsoft.com/office/drawing/2014/main" id="{0384EE76-3080-2440-8B50-D2AFADDC2B14}"/>
              </a:ext>
            </a:extLst>
          </p:cNvPr>
          <p:cNvSpPr/>
          <p:nvPr/>
        </p:nvSpPr>
        <p:spPr>
          <a:xfrm>
            <a:off x="8476062" y="225651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Google Shape;614;p33">
            <a:extLst>
              <a:ext uri="{FF2B5EF4-FFF2-40B4-BE49-F238E27FC236}">
                <a16:creationId xmlns:a16="http://schemas.microsoft.com/office/drawing/2014/main" id="{9AC73D01-6174-494D-BC05-6F8F2AA93CBB}"/>
              </a:ext>
            </a:extLst>
          </p:cNvPr>
          <p:cNvSpPr/>
          <p:nvPr/>
        </p:nvSpPr>
        <p:spPr>
          <a:xfrm>
            <a:off x="6901604" y="1489793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Google Shape;614;p33">
            <a:extLst>
              <a:ext uri="{FF2B5EF4-FFF2-40B4-BE49-F238E27FC236}">
                <a16:creationId xmlns:a16="http://schemas.microsoft.com/office/drawing/2014/main" id="{A1C9A052-BD22-FD4E-8C61-F036577031EC}"/>
              </a:ext>
            </a:extLst>
          </p:cNvPr>
          <p:cNvSpPr/>
          <p:nvPr/>
        </p:nvSpPr>
        <p:spPr>
          <a:xfrm>
            <a:off x="7679510" y="491232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Google Shape;614;p33">
            <a:extLst>
              <a:ext uri="{FF2B5EF4-FFF2-40B4-BE49-F238E27FC236}">
                <a16:creationId xmlns:a16="http://schemas.microsoft.com/office/drawing/2014/main" id="{45F1B55B-5495-E24E-B4B5-1A78B0C93CB5}"/>
              </a:ext>
            </a:extLst>
          </p:cNvPr>
          <p:cNvSpPr/>
          <p:nvPr/>
        </p:nvSpPr>
        <p:spPr>
          <a:xfrm>
            <a:off x="7977329" y="536813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7" name="Google Shape;616;p33">
            <a:extLst>
              <a:ext uri="{FF2B5EF4-FFF2-40B4-BE49-F238E27FC236}">
                <a16:creationId xmlns:a16="http://schemas.microsoft.com/office/drawing/2014/main" id="{29F1B2F1-1276-4649-8076-5AAAD20B9EEA}"/>
              </a:ext>
            </a:extLst>
          </p:cNvPr>
          <p:cNvCxnSpPr>
            <a:cxnSpLocks/>
            <a:stCxn id="45" idx="5"/>
            <a:endCxn id="46" idx="1"/>
          </p:cNvCxnSpPr>
          <p:nvPr/>
        </p:nvCxnSpPr>
        <p:spPr>
          <a:xfrm>
            <a:off x="7931094" y="5163909"/>
            <a:ext cx="89400" cy="24739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613;p33">
            <a:extLst>
              <a:ext uri="{FF2B5EF4-FFF2-40B4-BE49-F238E27FC236}">
                <a16:creationId xmlns:a16="http://schemas.microsoft.com/office/drawing/2014/main" id="{1C2B3989-3636-1243-BBC8-E45C2A7519CD}"/>
              </a:ext>
            </a:extLst>
          </p:cNvPr>
          <p:cNvSpPr/>
          <p:nvPr/>
        </p:nvSpPr>
        <p:spPr>
          <a:xfrm>
            <a:off x="8513058" y="511459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9" name="Google Shape;616;p33">
            <a:extLst>
              <a:ext uri="{FF2B5EF4-FFF2-40B4-BE49-F238E27FC236}">
                <a16:creationId xmlns:a16="http://schemas.microsoft.com/office/drawing/2014/main" id="{1F5818DA-515B-9B41-8819-CC4846CDF061}"/>
              </a:ext>
            </a:extLst>
          </p:cNvPr>
          <p:cNvCxnSpPr>
            <a:cxnSpLocks/>
            <a:stCxn id="46" idx="6"/>
            <a:endCxn id="48" idx="3"/>
          </p:cNvCxnSpPr>
          <p:nvPr/>
        </p:nvCxnSpPr>
        <p:spPr>
          <a:xfrm flipV="1">
            <a:off x="8272079" y="5366183"/>
            <a:ext cx="284145" cy="14932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oogle Shape;614;p33">
            <a:extLst>
              <a:ext uri="{FF2B5EF4-FFF2-40B4-BE49-F238E27FC236}">
                <a16:creationId xmlns:a16="http://schemas.microsoft.com/office/drawing/2014/main" id="{C7E5032E-C2CF-C24F-BEE0-C6ECC7D8E9BD}"/>
              </a:ext>
            </a:extLst>
          </p:cNvPr>
          <p:cNvSpPr/>
          <p:nvPr/>
        </p:nvSpPr>
        <p:spPr>
          <a:xfrm>
            <a:off x="8162665" y="473723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Google Shape;614;p33">
            <a:extLst>
              <a:ext uri="{FF2B5EF4-FFF2-40B4-BE49-F238E27FC236}">
                <a16:creationId xmlns:a16="http://schemas.microsoft.com/office/drawing/2014/main" id="{D2E5AF56-7B7F-224F-B638-D08D16F9B746}"/>
              </a:ext>
            </a:extLst>
          </p:cNvPr>
          <p:cNvSpPr/>
          <p:nvPr/>
        </p:nvSpPr>
        <p:spPr>
          <a:xfrm>
            <a:off x="7373886" y="537698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6" name="Google Shape;616;p33">
            <a:extLst>
              <a:ext uri="{FF2B5EF4-FFF2-40B4-BE49-F238E27FC236}">
                <a16:creationId xmlns:a16="http://schemas.microsoft.com/office/drawing/2014/main" id="{B5FFAE6C-334A-2B47-911A-C8101263F4A6}"/>
              </a:ext>
            </a:extLst>
          </p:cNvPr>
          <p:cNvCxnSpPr>
            <a:cxnSpLocks/>
            <a:stCxn id="45" idx="3"/>
            <a:endCxn id="55" idx="7"/>
          </p:cNvCxnSpPr>
          <p:nvPr/>
        </p:nvCxnSpPr>
        <p:spPr>
          <a:xfrm flipH="1">
            <a:off x="7625470" y="5163910"/>
            <a:ext cx="97205" cy="25624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oogle Shape;616;p33">
            <a:extLst>
              <a:ext uri="{FF2B5EF4-FFF2-40B4-BE49-F238E27FC236}">
                <a16:creationId xmlns:a16="http://schemas.microsoft.com/office/drawing/2014/main" id="{95E3DE63-5B1C-B344-A70C-40ED1456F564}"/>
              </a:ext>
            </a:extLst>
          </p:cNvPr>
          <p:cNvCxnSpPr>
            <a:cxnSpLocks/>
            <a:stCxn id="54" idx="2"/>
            <a:endCxn id="45" idx="7"/>
          </p:cNvCxnSpPr>
          <p:nvPr/>
        </p:nvCxnSpPr>
        <p:spPr>
          <a:xfrm flipH="1">
            <a:off x="7931094" y="4884615"/>
            <a:ext cx="231571" cy="7087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oogle Shape;616;p33">
            <a:extLst>
              <a:ext uri="{FF2B5EF4-FFF2-40B4-BE49-F238E27FC236}">
                <a16:creationId xmlns:a16="http://schemas.microsoft.com/office/drawing/2014/main" id="{27E2DBB9-A1D7-3D48-9706-D3420AF4DB2F}"/>
              </a:ext>
            </a:extLst>
          </p:cNvPr>
          <p:cNvCxnSpPr>
            <a:cxnSpLocks/>
            <a:stCxn id="54" idx="4"/>
            <a:endCxn id="46" idx="7"/>
          </p:cNvCxnSpPr>
          <p:nvPr/>
        </p:nvCxnSpPr>
        <p:spPr>
          <a:xfrm flipH="1">
            <a:off x="8228913" y="5031989"/>
            <a:ext cx="81127" cy="3793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Google Shape;614;p33">
            <a:extLst>
              <a:ext uri="{FF2B5EF4-FFF2-40B4-BE49-F238E27FC236}">
                <a16:creationId xmlns:a16="http://schemas.microsoft.com/office/drawing/2014/main" id="{274B0575-E3F9-0043-9841-A19ECDA4F1B3}"/>
              </a:ext>
            </a:extLst>
          </p:cNvPr>
          <p:cNvSpPr/>
          <p:nvPr/>
        </p:nvSpPr>
        <p:spPr>
          <a:xfrm>
            <a:off x="6606854" y="4041566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Google Shape;614;p33">
            <a:extLst>
              <a:ext uri="{FF2B5EF4-FFF2-40B4-BE49-F238E27FC236}">
                <a16:creationId xmlns:a16="http://schemas.microsoft.com/office/drawing/2014/main" id="{A3BDD180-AA2A-2841-8A64-E3DCC91E58CB}"/>
              </a:ext>
            </a:extLst>
          </p:cNvPr>
          <p:cNvSpPr/>
          <p:nvPr/>
        </p:nvSpPr>
        <p:spPr>
          <a:xfrm>
            <a:off x="6904673" y="4497378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7" name="Google Shape;616;p33">
            <a:extLst>
              <a:ext uri="{FF2B5EF4-FFF2-40B4-BE49-F238E27FC236}">
                <a16:creationId xmlns:a16="http://schemas.microsoft.com/office/drawing/2014/main" id="{51C9C246-913C-2F49-86CD-02F926A7256D}"/>
              </a:ext>
            </a:extLst>
          </p:cNvPr>
          <p:cNvCxnSpPr>
            <a:cxnSpLocks/>
            <a:stCxn id="65" idx="5"/>
            <a:endCxn id="66" idx="1"/>
          </p:cNvCxnSpPr>
          <p:nvPr/>
        </p:nvCxnSpPr>
        <p:spPr>
          <a:xfrm>
            <a:off x="6858439" y="4293151"/>
            <a:ext cx="89400" cy="24739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Google Shape;613;p33">
            <a:extLst>
              <a:ext uri="{FF2B5EF4-FFF2-40B4-BE49-F238E27FC236}">
                <a16:creationId xmlns:a16="http://schemas.microsoft.com/office/drawing/2014/main" id="{60E722DA-DE5D-2344-AA71-C14405FF376E}"/>
              </a:ext>
            </a:extLst>
          </p:cNvPr>
          <p:cNvSpPr/>
          <p:nvPr/>
        </p:nvSpPr>
        <p:spPr>
          <a:xfrm>
            <a:off x="7440403" y="424384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9" name="Google Shape;616;p33">
            <a:extLst>
              <a:ext uri="{FF2B5EF4-FFF2-40B4-BE49-F238E27FC236}">
                <a16:creationId xmlns:a16="http://schemas.microsoft.com/office/drawing/2014/main" id="{DC1DE34A-C687-DF46-B260-90D4B1AB29D0}"/>
              </a:ext>
            </a:extLst>
          </p:cNvPr>
          <p:cNvCxnSpPr>
            <a:cxnSpLocks/>
            <a:stCxn id="66" idx="6"/>
            <a:endCxn id="68" idx="3"/>
          </p:cNvCxnSpPr>
          <p:nvPr/>
        </p:nvCxnSpPr>
        <p:spPr>
          <a:xfrm flipV="1">
            <a:off x="7199423" y="4495425"/>
            <a:ext cx="284145" cy="14932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Google Shape;614;p33">
            <a:extLst>
              <a:ext uri="{FF2B5EF4-FFF2-40B4-BE49-F238E27FC236}">
                <a16:creationId xmlns:a16="http://schemas.microsoft.com/office/drawing/2014/main" id="{637A57A0-EB75-7E4E-8234-129A8A67D0A4}"/>
              </a:ext>
            </a:extLst>
          </p:cNvPr>
          <p:cNvSpPr/>
          <p:nvPr/>
        </p:nvSpPr>
        <p:spPr>
          <a:xfrm>
            <a:off x="7090010" y="3866481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Google Shape;614;p33">
            <a:extLst>
              <a:ext uri="{FF2B5EF4-FFF2-40B4-BE49-F238E27FC236}">
                <a16:creationId xmlns:a16="http://schemas.microsoft.com/office/drawing/2014/main" id="{A862CE7F-7975-3A40-BD44-30C37418D552}"/>
              </a:ext>
            </a:extLst>
          </p:cNvPr>
          <p:cNvSpPr/>
          <p:nvPr/>
        </p:nvSpPr>
        <p:spPr>
          <a:xfrm>
            <a:off x="6301231" y="4506227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2" name="Google Shape;616;p33">
            <a:extLst>
              <a:ext uri="{FF2B5EF4-FFF2-40B4-BE49-F238E27FC236}">
                <a16:creationId xmlns:a16="http://schemas.microsoft.com/office/drawing/2014/main" id="{616C643C-F8BA-AA45-B6D7-5EA07BF766A7}"/>
              </a:ext>
            </a:extLst>
          </p:cNvPr>
          <p:cNvCxnSpPr>
            <a:cxnSpLocks/>
            <a:stCxn id="65" idx="3"/>
            <a:endCxn id="71" idx="7"/>
          </p:cNvCxnSpPr>
          <p:nvPr/>
        </p:nvCxnSpPr>
        <p:spPr>
          <a:xfrm flipH="1">
            <a:off x="6552815" y="4293151"/>
            <a:ext cx="97205" cy="25624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oogle Shape;616;p33">
            <a:extLst>
              <a:ext uri="{FF2B5EF4-FFF2-40B4-BE49-F238E27FC236}">
                <a16:creationId xmlns:a16="http://schemas.microsoft.com/office/drawing/2014/main" id="{31EAC7CC-2936-5442-8FB2-2A275BA796C2}"/>
              </a:ext>
            </a:extLst>
          </p:cNvPr>
          <p:cNvCxnSpPr>
            <a:cxnSpLocks/>
            <a:stCxn id="70" idx="2"/>
            <a:endCxn id="65" idx="7"/>
          </p:cNvCxnSpPr>
          <p:nvPr/>
        </p:nvCxnSpPr>
        <p:spPr>
          <a:xfrm flipH="1">
            <a:off x="6858439" y="4013856"/>
            <a:ext cx="231571" cy="7087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oogle Shape;616;p33">
            <a:extLst>
              <a:ext uri="{FF2B5EF4-FFF2-40B4-BE49-F238E27FC236}">
                <a16:creationId xmlns:a16="http://schemas.microsoft.com/office/drawing/2014/main" id="{A954E588-78B6-CA4F-A938-1277D6523915}"/>
              </a:ext>
            </a:extLst>
          </p:cNvPr>
          <p:cNvCxnSpPr>
            <a:cxnSpLocks/>
            <a:stCxn id="70" idx="4"/>
            <a:endCxn id="66" idx="7"/>
          </p:cNvCxnSpPr>
          <p:nvPr/>
        </p:nvCxnSpPr>
        <p:spPr>
          <a:xfrm flipH="1">
            <a:off x="7156258" y="4161231"/>
            <a:ext cx="81127" cy="3793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8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BB4B-141B-4F0D-B4E7-373BD9A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Graph Terminologies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DFF3A-570E-46F5-AF32-1BCEF523D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21229F-A2E8-4DB3-8A14-F1B88849F83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4189F-F973-4231-A312-B7C8D33D4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447800"/>
            <a:ext cx="8056562" cy="3352800"/>
          </a:xfrm>
        </p:spPr>
        <p:txBody>
          <a:bodyPr/>
          <a:lstStyle/>
          <a:p>
            <a:r>
              <a:rPr lang="en-US" dirty="0"/>
              <a:t>Distance</a:t>
            </a:r>
          </a:p>
          <a:p>
            <a:pPr lvl="1"/>
            <a:r>
              <a:rPr lang="en-US" dirty="0"/>
              <a:t>The number of edges on the shortest path between two vertices.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3D89AE8A-0AD3-4956-A44C-B1C2EE88C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129516"/>
            <a:ext cx="2728929" cy="12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8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BB4B-141B-4F0D-B4E7-373BD9A7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743" y="304800"/>
            <a:ext cx="7886700" cy="852488"/>
          </a:xfrm>
        </p:spPr>
        <p:txBody>
          <a:bodyPr/>
          <a:lstStyle/>
          <a:p>
            <a:r>
              <a:rPr lang="en-US" altLang="en-US" dirty="0"/>
              <a:t>Basic Graph Terminologies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BF931-FBED-4FC1-85D2-AED0D5F27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62" y="1219201"/>
            <a:ext cx="7526338" cy="29081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2400" dirty="0">
                <a:cs typeface="Times New Roman" panose="02020603050405020304" pitchFamily="18" charset="0"/>
              </a:rPr>
              <a:t>Complete graph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2000" dirty="0">
                <a:cs typeface="Times New Roman" panose="02020603050405020304" pitchFamily="18" charset="0"/>
              </a:rPr>
              <a:t>Every two vertices are adjacent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en-US" altLang="en-US" sz="1800" dirty="0">
                <a:cs typeface="Times New Roman" panose="02020603050405020304" pitchFamily="18" charset="0"/>
              </a:rPr>
              <a:t>Subgraph of a graph G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1800" dirty="0">
                <a:cs typeface="Times New Roman" panose="02020603050405020304" pitchFamily="18" charset="0"/>
              </a:rPr>
              <a:t>A graph whose vertex set is a subset of G and whose edge set is a subset of that of G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1800" dirty="0">
                <a:cs typeface="Times New Roman" panose="02020603050405020304" pitchFamily="18" charset="0"/>
              </a:rPr>
              <a:t>Neighbor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1800" dirty="0">
                <a:cs typeface="Times New Roman" panose="02020603050405020304" pitchFamily="18" charset="0"/>
              </a:rPr>
              <a:t>Two vertices are neighbors if they are adjacent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DFF3A-570E-46F5-AF32-1BCEF523D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21229F-A2E8-4DB3-8A14-F1B88849F83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8" name="Picture 7" descr="A close up of a device&#10;&#10;Description automatically generated">
            <a:extLst>
              <a:ext uri="{FF2B5EF4-FFF2-40B4-BE49-F238E27FC236}">
                <a16:creationId xmlns:a16="http://schemas.microsoft.com/office/drawing/2014/main" id="{BE7CF417-3334-4600-8F30-26BDA0F5D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" y="4378580"/>
            <a:ext cx="8991600" cy="22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14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BB4B-141B-4F0D-B4E7-373BD9A7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743" y="304800"/>
            <a:ext cx="7886700" cy="852488"/>
          </a:xfrm>
        </p:spPr>
        <p:txBody>
          <a:bodyPr/>
          <a:lstStyle/>
          <a:p>
            <a:r>
              <a:rPr lang="en-US" altLang="en-US" dirty="0"/>
              <a:t>Basic Graph Terminologies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BF931-FBED-4FC1-85D2-AED0D5F27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62" y="1219201"/>
            <a:ext cx="7526338" cy="2908122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1800" dirty="0">
                <a:cs typeface="Times New Roman" panose="02020603050405020304" pitchFamily="18" charset="0"/>
              </a:rPr>
              <a:t>Simple path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1800" dirty="0">
                <a:cs typeface="Times New Roman" panose="02020603050405020304" pitchFamily="18" charset="0"/>
              </a:rPr>
              <a:t>A path that doesn’t have any loops or parallel edges</a:t>
            </a:r>
          </a:p>
          <a:p>
            <a:pPr marL="457200" lvl="1" indent="0">
              <a:spcBef>
                <a:spcPct val="0"/>
              </a:spcBef>
              <a:spcAft>
                <a:spcPts val="1200"/>
              </a:spcAft>
              <a:buClr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DFF3A-570E-46F5-AF32-1BCEF523D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21229F-A2E8-4DB3-8A14-F1B88849F83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537EF219-70CB-44A9-9EB7-87D8BE296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438525"/>
            <a:ext cx="64770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97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BB4B-141B-4F0D-B4E7-373BD9A7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12334"/>
            <a:ext cx="7886700" cy="702066"/>
          </a:xfrm>
        </p:spPr>
        <p:txBody>
          <a:bodyPr/>
          <a:lstStyle/>
          <a:p>
            <a:r>
              <a:rPr lang="en-US" altLang="en-US" dirty="0"/>
              <a:t>Basic Graph Terminologies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BF931-FBED-4FC1-85D2-AED0D5F27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62" y="1143001"/>
            <a:ext cx="7602538" cy="2984322"/>
          </a:xfrm>
          <a:ln>
            <a:solidFill>
              <a:schemeClr val="accent1"/>
            </a:solidFill>
          </a:ln>
        </p:spPr>
        <p:txBody>
          <a:bodyPr>
            <a:normAutofit fontScale="32500" lnSpcReduction="20000"/>
          </a:bodyPr>
          <a:lstStyle/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en-US" altLang="en-US" sz="4500" dirty="0">
                <a:cs typeface="Times New Roman" panose="02020603050405020304" pitchFamily="18" charset="0"/>
              </a:rPr>
              <a:t>Cycle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4500" dirty="0">
                <a:cs typeface="Times New Roman" panose="02020603050405020304" pitchFamily="18" charset="0"/>
              </a:rPr>
              <a:t>A closed path that starts from a vertex and ends at the same vertex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en-US" altLang="en-US" sz="4500" dirty="0">
                <a:cs typeface="Times New Roman" panose="02020603050405020304" pitchFamily="18" charset="0"/>
              </a:rPr>
              <a:t>Tree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4500" dirty="0">
                <a:cs typeface="Times New Roman" panose="02020603050405020304" pitchFamily="18" charset="0"/>
              </a:rPr>
              <a:t>A connected graph that does not have cycles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en-US" altLang="en-US" sz="4500" dirty="0">
                <a:cs typeface="Times New Roman" panose="02020603050405020304" pitchFamily="18" charset="0"/>
              </a:rPr>
              <a:t>Spanning tree of G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4500" dirty="0">
                <a:cs typeface="Times New Roman" panose="02020603050405020304" pitchFamily="18" charset="0"/>
              </a:rPr>
              <a:t>A connected subgraph of G, and the subgraph is a tree that contains all vertices in G</a:t>
            </a: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spcAft>
                <a:spcPts val="1200"/>
              </a:spcAft>
              <a:buClrTx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DFF3A-570E-46F5-AF32-1BCEF523D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21229F-A2E8-4DB3-8A14-F1B88849F83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8" name="Picture 7" descr="A close up of a device&#10;&#10;Description automatically generated">
            <a:extLst>
              <a:ext uri="{FF2B5EF4-FFF2-40B4-BE49-F238E27FC236}">
                <a16:creationId xmlns:a16="http://schemas.microsoft.com/office/drawing/2014/main" id="{BE7CF417-3334-4600-8F30-26BDA0F5D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" y="4378580"/>
            <a:ext cx="8991600" cy="22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19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dirty="0"/>
              <a:t>Some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For each of the following: what should you choose for vertices and edges? Directed?</a:t>
            </a:r>
          </a:p>
          <a:p>
            <a:r>
              <a:rPr lang="en-US" sz="2100" b="1" dirty="0">
                <a:solidFill>
                  <a:srgbClr val="4C3282"/>
                </a:solidFill>
              </a:rPr>
              <a:t>Webpages on the Internet</a:t>
            </a:r>
          </a:p>
          <a:p>
            <a:pPr lvl="1"/>
            <a:r>
              <a:rPr lang="en-US" sz="1800" b="1" dirty="0"/>
              <a:t>Vertices</a:t>
            </a:r>
            <a:r>
              <a:rPr lang="en-US" sz="1800" dirty="0"/>
              <a:t>: webpages. </a:t>
            </a:r>
            <a:r>
              <a:rPr lang="en-US" sz="1800" b="1" dirty="0"/>
              <a:t>Edges</a:t>
            </a:r>
            <a:r>
              <a:rPr lang="en-US" sz="1800" dirty="0"/>
              <a:t> from a to b if a has a hyperlink to b.</a:t>
            </a:r>
          </a:p>
          <a:p>
            <a:pPr lvl="1"/>
            <a:r>
              <a:rPr lang="en-US" dirty="0"/>
              <a:t>Directed, since hyperlinks go in one direction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4C3282"/>
                </a:solidFill>
              </a:rPr>
              <a:t>Ways to walk between campus buildings</a:t>
            </a:r>
          </a:p>
          <a:p>
            <a:pPr lvl="1"/>
            <a:r>
              <a:rPr lang="en-US" sz="1800" b="1" dirty="0"/>
              <a:t>Vertices</a:t>
            </a:r>
            <a:r>
              <a:rPr lang="en-US" sz="1800" dirty="0"/>
              <a:t>: buildings. </a:t>
            </a:r>
            <a:r>
              <a:rPr lang="en-US" sz="1800" b="1" dirty="0"/>
              <a:t>Edges</a:t>
            </a:r>
            <a:r>
              <a:rPr lang="en-US" sz="1800" dirty="0"/>
              <a:t>: A street name or walkway that connects 2 buildings</a:t>
            </a:r>
          </a:p>
          <a:p>
            <a:pPr lvl="1"/>
            <a:r>
              <a:rPr lang="en-US" dirty="0"/>
              <a:t>Undirected, since each route can be walked both ways</a:t>
            </a:r>
            <a:endParaRPr lang="en-US" sz="1800" dirty="0"/>
          </a:p>
          <a:p>
            <a:pPr>
              <a:lnSpc>
                <a:spcPct val="120000"/>
              </a:lnSpc>
            </a:pPr>
            <a:r>
              <a:rPr lang="en-US" sz="2100" b="1" dirty="0">
                <a:solidFill>
                  <a:srgbClr val="4C3282"/>
                </a:solidFill>
              </a:rPr>
              <a:t>Course Prerequisites</a:t>
            </a:r>
          </a:p>
          <a:p>
            <a:pPr lvl="1"/>
            <a:r>
              <a:rPr lang="en-US" sz="1800" b="1" dirty="0"/>
              <a:t>Vertices</a:t>
            </a:r>
            <a:r>
              <a:rPr lang="en-US" sz="1800" dirty="0"/>
              <a:t>: courses. </a:t>
            </a:r>
            <a:r>
              <a:rPr lang="en-US" sz="1800" b="1" dirty="0"/>
              <a:t>Edge</a:t>
            </a:r>
            <a:r>
              <a:rPr lang="en-US" sz="1800" dirty="0"/>
              <a:t>: from a to b if a is a </a:t>
            </a:r>
            <a:r>
              <a:rPr lang="en-US" sz="1800" dirty="0" err="1"/>
              <a:t>prereq</a:t>
            </a:r>
            <a:r>
              <a:rPr lang="en-US" sz="1800" dirty="0"/>
              <a:t> for b.</a:t>
            </a:r>
          </a:p>
          <a:p>
            <a:pPr lvl="1"/>
            <a:r>
              <a:rPr lang="en-US" dirty="0"/>
              <a:t>Directed, since one course comes before the other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835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11B2-A58F-C140-9EF2-75CC42DE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74"/>
            <a:ext cx="7886700" cy="571976"/>
          </a:xfrm>
        </p:spPr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E81C-FFDE-374A-96F7-91C227904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  <a:p>
            <a:pPr lvl="1"/>
            <a:r>
              <a:rPr lang="en-US" dirty="0"/>
              <a:t>Definitions</a:t>
            </a:r>
          </a:p>
          <a:p>
            <a:pPr lvl="1"/>
            <a:r>
              <a:rPr lang="en-US" dirty="0"/>
              <a:t>Choosing Graph Types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Graph Implementations</a:t>
            </a:r>
          </a:p>
          <a:p>
            <a:endParaRPr lang="en-US" dirty="0"/>
          </a:p>
          <a:p>
            <a:r>
              <a:rPr lang="en-US" dirty="0"/>
              <a:t>s-t Connectivity Problem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58165A75-060D-3B41-A8F5-F02C35F0D9F2}"/>
              </a:ext>
            </a:extLst>
          </p:cNvPr>
          <p:cNvSpPr/>
          <p:nvPr/>
        </p:nvSpPr>
        <p:spPr>
          <a:xfrm rot="10800000">
            <a:off x="5486400" y="3962400"/>
            <a:ext cx="333632" cy="231689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3836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A96761A1-65BC-410F-839E-7B395C2832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01BD6E-E6F0-47D8-81A8-F4D4095B214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49A5CC2-2AFE-4397-818E-752D3C391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Representing Graphs 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D8E73664-BA70-49A1-AA03-F80559483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CBF62163-2B23-47F8-BA97-B330230FA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Representing Vertices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Representing Edges: Edge Array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Representing Edges: Edge Objects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Representing Edges: Adjacency Matrices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Representing Edges: Adjacency Lists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1457F15B-5BEC-4216-A2C8-35A524C9C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440526-0E48-4E44-AFE9-C03D560623B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ABD5885-1709-4224-BF81-9C336D2C4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Representing Vertices 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EB555151-11AD-4450-B809-FBA502307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E9D8DC66-FDDF-4BC8-ACB3-3062863EE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915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String[] vertices = {“Seattle“, “San Francisco“, “Los Angles”, “Denver”, “Kansas City”, “Chicago”, … };</a:t>
            </a:r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D5573AA0-5736-4689-BFF8-404CE6A4F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33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City[] vertices = {city0, city1, … };</a:t>
            </a: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F4A1C917-E723-485C-AE11-800D7839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95600"/>
            <a:ext cx="8610600" cy="14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public class City {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}</a:t>
            </a:r>
          </a:p>
        </p:txBody>
      </p:sp>
      <p:sp>
        <p:nvSpPr>
          <p:cNvPr id="13320" name="Text Box 7">
            <a:extLst>
              <a:ext uri="{FF2B5EF4-FFF2-40B4-BE49-F238E27FC236}">
                <a16:creationId xmlns:a16="http://schemas.microsoft.com/office/drawing/2014/main" id="{EB8C3AFB-DCB1-4488-B7E0-9833E47F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006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List&lt;String&gt; vertices;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10765418-0118-495E-B50C-D5DD8D41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228" y="2672715"/>
            <a:ext cx="4526497" cy="389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D2648F99-CC76-4595-ADE6-69D0AB74B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1551FA-7462-4A4E-BADD-EB3F3197A61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73134C6-8C09-424C-B20E-71AB3E879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Representing Edges: Edge Array 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D62B2225-F2CA-4E20-A914-1C0984841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3" name="Picture 2" descr="Chart, diagram, radar chart&#10;&#10;Description automatically generated">
            <a:extLst>
              <a:ext uri="{FF2B5EF4-FFF2-40B4-BE49-F238E27FC236}">
                <a16:creationId xmlns:a16="http://schemas.microsoft.com/office/drawing/2014/main" id="{2A2B5ACE-9D70-446F-83EA-7F00C60AD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88" y="1066800"/>
            <a:ext cx="4876836" cy="2890859"/>
          </a:xfrm>
          <a:prstGeom prst="rect">
            <a:avLst/>
          </a:prstGeom>
        </p:spPr>
      </p:pic>
      <p:pic>
        <p:nvPicPr>
          <p:cNvPr id="5" name="Picture 4" descr="Calendar&#10;&#10;Description automatically generated">
            <a:extLst>
              <a:ext uri="{FF2B5EF4-FFF2-40B4-BE49-F238E27FC236}">
                <a16:creationId xmlns:a16="http://schemas.microsoft.com/office/drawing/2014/main" id="{8A63D359-AE4D-423B-B39D-D4A484681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275503"/>
            <a:ext cx="4300569" cy="309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80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243D1ECF-DD84-4B3E-9B3B-7DC6862AFF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8EEB68-2015-42C7-97DA-375F0DF7106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03B99EC-5AC9-47A8-9D8C-4A2EDA31D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Representing Edges: Edge Object </a:t>
            </a:r>
          </a:p>
        </p:txBody>
      </p:sp>
      <p:sp>
        <p:nvSpPr>
          <p:cNvPr id="15364" name="Text Box 3">
            <a:extLst>
              <a:ext uri="{FF2B5EF4-FFF2-40B4-BE49-F238E27FC236}">
                <a16:creationId xmlns:a16="http://schemas.microsoft.com/office/drawing/2014/main" id="{EAFC65F7-3174-4B6F-94FC-8B633148C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17E7D057-F66C-4C92-A207-81B350E47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915400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public class Edge {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  int u, v;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  public Edge(int u, int v) {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    this.u = u;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    this.v = v;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}</a:t>
            </a:r>
          </a:p>
        </p:txBody>
      </p:sp>
      <p:sp>
        <p:nvSpPr>
          <p:cNvPr id="15366" name="Text Box 5">
            <a:extLst>
              <a:ext uri="{FF2B5EF4-FFF2-40B4-BE49-F238E27FC236}">
                <a16:creationId xmlns:a16="http://schemas.microsoft.com/office/drawing/2014/main" id="{89AE7E45-2EAB-4CD9-8B9F-8AF652C39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48200"/>
            <a:ext cx="8915400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List&lt;Edge&gt; list = new ArrayList&lt;&gt;();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en-US" sz="2400"/>
              <a:t>list.add(new Edge(0, 1)); list.add(new Edge(0, 3)); …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0728-44A4-43B7-96A2-3BBAE82E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88063"/>
            <a:ext cx="7886700" cy="571976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graphicFrame>
        <p:nvGraphicFramePr>
          <p:cNvPr id="36" name="Content Placeholder 35">
            <a:extLst>
              <a:ext uri="{FF2B5EF4-FFF2-40B4-BE49-F238E27FC236}">
                <a16:creationId xmlns:a16="http://schemas.microsoft.com/office/drawing/2014/main" id="{CDA7B705-6349-4711-8483-50B9905B46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0713" y="2999304"/>
          <a:ext cx="4095400" cy="2826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925">
                  <a:extLst>
                    <a:ext uri="{9D8B030D-6E8A-4147-A177-3AD203B41FA5}">
                      <a16:colId xmlns:a16="http://schemas.microsoft.com/office/drawing/2014/main" val="2433620398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3266730138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3703898110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401438749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3106380728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2799085732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2089397823"/>
                    </a:ext>
                  </a:extLst>
                </a:gridCol>
                <a:gridCol w="511925">
                  <a:extLst>
                    <a:ext uri="{9D8B030D-6E8A-4147-A177-3AD203B41FA5}">
                      <a16:colId xmlns:a16="http://schemas.microsoft.com/office/drawing/2014/main" val="1881925754"/>
                    </a:ext>
                  </a:extLst>
                </a:gridCol>
              </a:tblGrid>
              <a:tr h="353286">
                <a:tc>
                  <a:txBody>
                    <a:bodyPr/>
                    <a:lstStyle/>
                    <a:p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78965" marR="78965" marT="39483" marB="39483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9028320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2046825130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1743430437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2623021980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741938339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1178445184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2651587359"/>
                  </a:ext>
                </a:extLst>
              </a:tr>
              <a:tr h="3532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78965" marR="78965" marT="39483" marB="394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78965" marR="78965" marT="39483" marB="39483"/>
                </a:tc>
                <a:extLst>
                  <a:ext uri="{0D108BD9-81ED-4DB2-BD59-A6C34878D82A}">
                    <a16:rowId xmlns:a16="http://schemas.microsoft.com/office/drawing/2014/main" val="143593819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6C9AB0F-164E-46F5-A7A6-F2336FB8D1E4}"/>
              </a:ext>
            </a:extLst>
          </p:cNvPr>
          <p:cNvSpPr txBox="1"/>
          <p:nvPr/>
        </p:nvSpPr>
        <p:spPr>
          <a:xfrm>
            <a:off x="492919" y="1986586"/>
            <a:ext cx="44260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a 2D matrix that is |V| x |V|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 an adjacency matrix, a[u][v] is 1 if there is an edge (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u,v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), and 0 otherwise.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Symmetric for undirected graphs</a:t>
            </a: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Google Shape;611;p33">
            <a:extLst>
              <a:ext uri="{FF2B5EF4-FFF2-40B4-BE49-F238E27FC236}">
                <a16:creationId xmlns:a16="http://schemas.microsoft.com/office/drawing/2014/main" id="{D2F99190-0EC3-3A48-A66E-5ED3D503F121}"/>
              </a:ext>
            </a:extLst>
          </p:cNvPr>
          <p:cNvSpPr/>
          <p:nvPr/>
        </p:nvSpPr>
        <p:spPr>
          <a:xfrm>
            <a:off x="5869404" y="1474775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Google Shape;612;p33">
            <a:extLst>
              <a:ext uri="{FF2B5EF4-FFF2-40B4-BE49-F238E27FC236}">
                <a16:creationId xmlns:a16="http://schemas.microsoft.com/office/drawing/2014/main" id="{88D77B00-E050-8C49-A1DB-009D641FC6CC}"/>
              </a:ext>
            </a:extLst>
          </p:cNvPr>
          <p:cNvSpPr/>
          <p:nvPr/>
        </p:nvSpPr>
        <p:spPr>
          <a:xfrm>
            <a:off x="6496271" y="137483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Google Shape;613;p33">
            <a:extLst>
              <a:ext uri="{FF2B5EF4-FFF2-40B4-BE49-F238E27FC236}">
                <a16:creationId xmlns:a16="http://schemas.microsoft.com/office/drawing/2014/main" id="{AE98964F-4CAA-3B41-80E7-11D0BCD683D2}"/>
              </a:ext>
            </a:extLst>
          </p:cNvPr>
          <p:cNvSpPr/>
          <p:nvPr/>
        </p:nvSpPr>
        <p:spPr>
          <a:xfrm>
            <a:off x="6851526" y="186561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" name="Google Shape;614;p33">
            <a:extLst>
              <a:ext uri="{FF2B5EF4-FFF2-40B4-BE49-F238E27FC236}">
                <a16:creationId xmlns:a16="http://schemas.microsoft.com/office/drawing/2014/main" id="{7A936673-417A-7342-80A0-1C0B42EEC669}"/>
              </a:ext>
            </a:extLst>
          </p:cNvPr>
          <p:cNvSpPr/>
          <p:nvPr/>
        </p:nvSpPr>
        <p:spPr>
          <a:xfrm>
            <a:off x="6259646" y="1848694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9" name="Google Shape;615;p33">
            <a:extLst>
              <a:ext uri="{FF2B5EF4-FFF2-40B4-BE49-F238E27FC236}">
                <a16:creationId xmlns:a16="http://schemas.microsoft.com/office/drawing/2014/main" id="{F68E86B6-7F0F-7246-81CD-CC4AB7DDBFD4}"/>
              </a:ext>
            </a:extLst>
          </p:cNvPr>
          <p:cNvCxnSpPr>
            <a:cxnSpLocks/>
            <a:stCxn id="45" idx="7"/>
            <a:endCxn id="46" idx="2"/>
          </p:cNvCxnSpPr>
          <p:nvPr/>
        </p:nvCxnSpPr>
        <p:spPr>
          <a:xfrm>
            <a:off x="6120989" y="1517941"/>
            <a:ext cx="375283" cy="427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oogle Shape;616;p33">
            <a:extLst>
              <a:ext uri="{FF2B5EF4-FFF2-40B4-BE49-F238E27FC236}">
                <a16:creationId xmlns:a16="http://schemas.microsoft.com/office/drawing/2014/main" id="{9AAD65AC-7F7E-7842-85A8-4A194543D36E}"/>
              </a:ext>
            </a:extLst>
          </p:cNvPr>
          <p:cNvCxnSpPr>
            <a:stCxn id="45" idx="5"/>
            <a:endCxn id="48" idx="1"/>
          </p:cNvCxnSpPr>
          <p:nvPr/>
        </p:nvCxnSpPr>
        <p:spPr>
          <a:xfrm>
            <a:off x="6120989" y="1726360"/>
            <a:ext cx="181823" cy="16550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oogle Shape;618;p33">
            <a:extLst>
              <a:ext uri="{FF2B5EF4-FFF2-40B4-BE49-F238E27FC236}">
                <a16:creationId xmlns:a16="http://schemas.microsoft.com/office/drawing/2014/main" id="{F7765F8C-9ADD-8947-BF10-8B7813FB9614}"/>
              </a:ext>
            </a:extLst>
          </p:cNvPr>
          <p:cNvCxnSpPr>
            <a:cxnSpLocks/>
            <a:stCxn id="48" idx="6"/>
            <a:endCxn id="47" idx="2"/>
          </p:cNvCxnSpPr>
          <p:nvPr/>
        </p:nvCxnSpPr>
        <p:spPr>
          <a:xfrm>
            <a:off x="6554397" y="1996069"/>
            <a:ext cx="297130" cy="169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Google Shape;614;p33">
            <a:extLst>
              <a:ext uri="{FF2B5EF4-FFF2-40B4-BE49-F238E27FC236}">
                <a16:creationId xmlns:a16="http://schemas.microsoft.com/office/drawing/2014/main" id="{EEAC7255-06F0-C340-A11C-1E66124F2A09}"/>
              </a:ext>
            </a:extLst>
          </p:cNvPr>
          <p:cNvSpPr/>
          <p:nvPr/>
        </p:nvSpPr>
        <p:spPr>
          <a:xfrm>
            <a:off x="5431427" y="1839212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Google Shape;614;p33">
            <a:extLst>
              <a:ext uri="{FF2B5EF4-FFF2-40B4-BE49-F238E27FC236}">
                <a16:creationId xmlns:a16="http://schemas.microsoft.com/office/drawing/2014/main" id="{F55EE969-80AE-8649-B2BC-4C7CCC042BA2}"/>
              </a:ext>
            </a:extLst>
          </p:cNvPr>
          <p:cNvSpPr/>
          <p:nvPr/>
        </p:nvSpPr>
        <p:spPr>
          <a:xfrm>
            <a:off x="7575536" y="1622150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5" name="Google Shape;616;p33">
            <a:extLst>
              <a:ext uri="{FF2B5EF4-FFF2-40B4-BE49-F238E27FC236}">
                <a16:creationId xmlns:a16="http://schemas.microsoft.com/office/drawing/2014/main" id="{260A726B-F70C-A24F-AA33-6685214E3F85}"/>
              </a:ext>
            </a:extLst>
          </p:cNvPr>
          <p:cNvCxnSpPr>
            <a:cxnSpLocks/>
            <a:stCxn id="47" idx="6"/>
            <a:endCxn id="53" idx="2"/>
          </p:cNvCxnSpPr>
          <p:nvPr/>
        </p:nvCxnSpPr>
        <p:spPr>
          <a:xfrm flipV="1">
            <a:off x="7146276" y="1769526"/>
            <a:ext cx="429260" cy="24346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Google Shape;613;p33">
            <a:extLst>
              <a:ext uri="{FF2B5EF4-FFF2-40B4-BE49-F238E27FC236}">
                <a16:creationId xmlns:a16="http://schemas.microsoft.com/office/drawing/2014/main" id="{51C6D15B-12FA-224A-ABA9-C486AECE731A}"/>
              </a:ext>
            </a:extLst>
          </p:cNvPr>
          <p:cNvSpPr/>
          <p:nvPr/>
        </p:nvSpPr>
        <p:spPr>
          <a:xfrm>
            <a:off x="7146276" y="1225089"/>
            <a:ext cx="294750" cy="294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7" name="Google Shape;616;p33">
            <a:extLst>
              <a:ext uri="{FF2B5EF4-FFF2-40B4-BE49-F238E27FC236}">
                <a16:creationId xmlns:a16="http://schemas.microsoft.com/office/drawing/2014/main" id="{E50355A0-7D55-524A-BC5A-554401B2C15C}"/>
              </a:ext>
            </a:extLst>
          </p:cNvPr>
          <p:cNvCxnSpPr>
            <a:cxnSpLocks/>
            <a:stCxn id="53" idx="1"/>
            <a:endCxn id="56" idx="5"/>
          </p:cNvCxnSpPr>
          <p:nvPr/>
        </p:nvCxnSpPr>
        <p:spPr>
          <a:xfrm flipH="1" flipV="1">
            <a:off x="7397860" y="1476674"/>
            <a:ext cx="220841" cy="18864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oogle Shape;615;p33">
            <a:extLst>
              <a:ext uri="{FF2B5EF4-FFF2-40B4-BE49-F238E27FC236}">
                <a16:creationId xmlns:a16="http://schemas.microsoft.com/office/drawing/2014/main" id="{97FD9542-E7FA-4C4B-8A78-27D798071876}"/>
              </a:ext>
            </a:extLst>
          </p:cNvPr>
          <p:cNvCxnSpPr>
            <a:cxnSpLocks/>
            <a:stCxn id="47" idx="1"/>
            <a:endCxn id="46" idx="5"/>
          </p:cNvCxnSpPr>
          <p:nvPr/>
        </p:nvCxnSpPr>
        <p:spPr>
          <a:xfrm flipH="1" flipV="1">
            <a:off x="6747856" y="1626423"/>
            <a:ext cx="146836" cy="28236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77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B5B9-701C-4730-83A4-C2FB0818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Representing Edges: Adjacency Matrix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B9B1-EF89-407E-B9D6-BE9D279489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b="1" dirty="0"/>
              <a:t>int</a:t>
            </a:r>
            <a:r>
              <a:rPr lang="en-US" altLang="en-US" sz="3400" dirty="0"/>
              <a:t>[][] </a:t>
            </a:r>
            <a:r>
              <a:rPr lang="en-US" altLang="en-US" sz="3400" dirty="0" err="1"/>
              <a:t>adjacencyMatrix</a:t>
            </a:r>
            <a:r>
              <a:rPr lang="en-US" altLang="en-US" sz="3400" dirty="0"/>
              <a:t> = {</a:t>
            </a:r>
            <a:endParaRPr lang="en-US" altLang="en-US" sz="3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b="1" dirty="0"/>
              <a:t>  </a:t>
            </a:r>
            <a:r>
              <a:rPr lang="en-US" altLang="en-US" sz="3400" dirty="0"/>
              <a:t>{0, 1, 0, 1, 0, 1, 0, 0, 0, 0, 0, 0}, // Seattle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{1, 0, 1, 1, 0, 0, 0, 0, 0, 0, 0, 0}, // SF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1, 0, 1, 1, 1, 0, 0, 0, 0, 0, 0}, // LA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{1, 1, 1, 0, 1, 1, 0, 0, 0, 0, 0, 0}, // Denver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1, 1, 0, 1, 0, 1, 1, 0, 1, 0}, // Kansas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{1, 0, 0, 1, 1, 0, 1, 1, 0, 0, 0, 0}, // Chicago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0, 0, 0, 1, 0, 1, 0, 0, 0, 0}, // Boston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0, 0, 1, 1, 1, 0, 1, 0, 0, 0}, // NY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0, 1, 1, 0, 0, 1, 0, 1, 1, 1}, // Atlanta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0, 0, 0, 0, 0, 0, 1, 0, 0, 1}, // Miami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1, 0, 1, 0, 0, 0, 1, 0, 0, 1}, // Dallas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  {0, 0, 0, 0, 0, 0, 0, 0, 1, 1, 1, 0}  // Houston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400" dirty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27503-320D-49DA-B568-675745763F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601414-7444-48B7-A14E-37AD5C613BD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F915173B-5DEE-46AB-9C59-72EBA3F3770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97420"/>
            <a:ext cx="3810000" cy="2034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7644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B5B9-701C-4730-83A4-C2FB0818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Representing Edges: Adjacency Vertex List 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27503-320D-49DA-B568-675745763F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601414-7444-48B7-A14E-37AD5C613BD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F915173B-5DEE-46AB-9C59-72EBA3F3770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97420"/>
            <a:ext cx="3810000" cy="2034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90D671F4-5FD1-4957-91C5-12D65E63659A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85800" y="2260813"/>
          <a:ext cx="3810000" cy="2907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962906" imgH="3024203" progId="Word.Picture.8">
                  <p:embed/>
                </p:oleObj>
              </mc:Choice>
              <mc:Fallback>
                <p:oleObj name="Picture" r:id="rId4" imgW="3962906" imgH="3024203" progId="Word.Picture.8">
                  <p:embed/>
                  <p:pic>
                    <p:nvPicPr>
                      <p:cNvPr id="17418" name="Object 2">
                        <a:extLst>
                          <a:ext uri="{FF2B5EF4-FFF2-40B4-BE49-F238E27FC236}">
                            <a16:creationId xmlns:a16="http://schemas.microsoft.com/office/drawing/2014/main" id="{8BE89FC7-1387-4C61-AA94-97ABA6D79C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60813"/>
                        <a:ext cx="3810000" cy="2907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367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757CFDD1-6715-4C9C-8A32-DE6FA1C32B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40FE9C-A66E-4701-BBB0-822716AF128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48C59A9-BFBA-4357-AE7C-74A60DD59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750"/>
            <a:ext cx="9067800" cy="552450"/>
          </a:xfrm>
        </p:spPr>
        <p:txBody>
          <a:bodyPr/>
          <a:lstStyle/>
          <a:p>
            <a:r>
              <a:rPr lang="en-US" altLang="en-US" sz="4000" dirty="0"/>
              <a:t>Representing Edges: Adjacency Edge List 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DBD4ED24-B5DC-4120-B5BE-3F529880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EC7307F0-960F-4201-B4BF-488329048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4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9463" name="Rectangle 9">
            <a:extLst>
              <a:ext uri="{FF2B5EF4-FFF2-40B4-BE49-F238E27FC236}">
                <a16:creationId xmlns:a16="http://schemas.microsoft.com/office/drawing/2014/main" id="{4AA03949-5A60-44B3-9CC5-875F5ED3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6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D50EE9B-8E6D-41EB-883A-AFC72640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graphicFrame>
        <p:nvGraphicFramePr>
          <p:cNvPr id="19465" name="Object 2">
            <a:extLst>
              <a:ext uri="{FF2B5EF4-FFF2-40B4-BE49-F238E27FC236}">
                <a16:creationId xmlns:a16="http://schemas.microsoft.com/office/drawing/2014/main" id="{D3B77695-4AF5-4067-99C8-EF44DAECC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" y="1528763"/>
          <a:ext cx="8464550" cy="436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866134" imgH="3024203" progId="Word.Picture.8">
                  <p:embed/>
                </p:oleObj>
              </mc:Choice>
              <mc:Fallback>
                <p:oleObj name="Picture" r:id="rId3" imgW="5866134" imgH="3024203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1528763"/>
                        <a:ext cx="8464550" cy="436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5FF82967-51DE-40EA-A941-B388FA0D1F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15BF59-B2EB-47EE-BE6B-F16E3361724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C87ACAA-0FA1-4753-B792-74F364462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750"/>
            <a:ext cx="9067800" cy="552450"/>
          </a:xfrm>
        </p:spPr>
        <p:txBody>
          <a:bodyPr/>
          <a:lstStyle/>
          <a:p>
            <a:r>
              <a:rPr lang="en-US" altLang="en-US" sz="3200"/>
              <a:t>Representing Adjacency Edge List Using ArrayList</a:t>
            </a:r>
            <a:r>
              <a:rPr lang="en-US" altLang="en-US" sz="4000"/>
              <a:t> </a:t>
            </a: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C497E8E5-D2E8-450D-8BBE-3DA2EF2A1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5" name="Rectangle 6">
            <a:extLst>
              <a:ext uri="{FF2B5EF4-FFF2-40B4-BE49-F238E27FC236}">
                <a16:creationId xmlns:a16="http://schemas.microsoft.com/office/drawing/2014/main" id="{BCD7D823-A585-4088-8DB8-7F623B90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4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6" name="Text Box 7">
            <a:extLst>
              <a:ext uri="{FF2B5EF4-FFF2-40B4-BE49-F238E27FC236}">
                <a16:creationId xmlns:a16="http://schemas.microsoft.com/office/drawing/2014/main" id="{9454839E-013D-402C-ACE6-0829CC38B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8915400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List&lt;ArrayList&lt;Edge&gt;&gt; neighbors = </a:t>
            </a:r>
            <a:r>
              <a:rPr lang="en-US" altLang="en-US" sz="2400" b="1"/>
              <a:t>new</a:t>
            </a:r>
            <a:r>
              <a:rPr lang="en-US" altLang="en-US" sz="2400"/>
              <a:t> ArrayList&lt;&gt;();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neighbors.add(</a:t>
            </a:r>
            <a:r>
              <a:rPr lang="en-US" altLang="en-US" sz="2400" b="1"/>
              <a:t>new</a:t>
            </a:r>
            <a:r>
              <a:rPr lang="en-US" altLang="en-US" sz="2400"/>
              <a:t> ArrayList&lt;Edge&gt;());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0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0</a:t>
            </a:r>
            <a:r>
              <a:rPr lang="en-US" altLang="en-US" sz="2400"/>
              <a:t>, </a:t>
            </a:r>
            <a:r>
              <a:rPr lang="en-US" altLang="en-US" sz="2400" b="1"/>
              <a:t>1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0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0</a:t>
            </a:r>
            <a:r>
              <a:rPr lang="en-US" altLang="en-US" sz="2400"/>
              <a:t>, </a:t>
            </a:r>
            <a:r>
              <a:rPr lang="en-US" altLang="en-US" sz="2400" b="1"/>
              <a:t>3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0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0</a:t>
            </a:r>
            <a:r>
              <a:rPr lang="en-US" altLang="en-US" sz="2400"/>
              <a:t>, </a:t>
            </a:r>
            <a:r>
              <a:rPr lang="en-US" altLang="en-US" sz="2400" b="1"/>
              <a:t>5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neighbors.add(</a:t>
            </a:r>
            <a:r>
              <a:rPr lang="en-US" altLang="en-US" sz="2400" b="1"/>
              <a:t>new</a:t>
            </a:r>
            <a:r>
              <a:rPr lang="en-US" altLang="en-US" sz="2400"/>
              <a:t> ArrayList&lt;Edge&gt;());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</a:t>
            </a:r>
            <a:r>
              <a:rPr lang="en-US" altLang="en-US" sz="2400"/>
              <a:t>, </a:t>
            </a:r>
            <a:r>
              <a:rPr lang="en-US" altLang="en-US" sz="2400" b="1"/>
              <a:t>0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</a:t>
            </a:r>
            <a:r>
              <a:rPr lang="en-US" altLang="en-US" sz="2400"/>
              <a:t>, </a:t>
            </a:r>
            <a:r>
              <a:rPr lang="en-US" altLang="en-US" sz="2400" b="1"/>
              <a:t>2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</a:t>
            </a:r>
            <a:r>
              <a:rPr lang="en-US" altLang="en-US" sz="2400"/>
              <a:t>, </a:t>
            </a:r>
            <a:r>
              <a:rPr lang="en-US" altLang="en-US" sz="2400" b="1"/>
              <a:t>3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11</a:t>
            </a:r>
            <a:r>
              <a:rPr lang="en-US" altLang="en-US" sz="2400"/>
              <a:t>, </a:t>
            </a:r>
            <a:r>
              <a:rPr lang="en-US" altLang="en-US" sz="2400" b="1"/>
              <a:t>8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11</a:t>
            </a:r>
            <a:r>
              <a:rPr lang="en-US" altLang="en-US" sz="2400"/>
              <a:t>, </a:t>
            </a:r>
            <a:r>
              <a:rPr lang="en-US" altLang="en-US" sz="2400" b="1"/>
              <a:t>9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neighbors.get(</a:t>
            </a:r>
            <a:r>
              <a:rPr lang="en-US" altLang="en-US" sz="2400" b="1"/>
              <a:t>11</a:t>
            </a:r>
            <a:r>
              <a:rPr lang="en-US" altLang="en-US" sz="2400"/>
              <a:t>).add(</a:t>
            </a:r>
            <a:r>
              <a:rPr lang="en-US" altLang="en-US" sz="2400" b="1"/>
              <a:t>new</a:t>
            </a:r>
            <a:r>
              <a:rPr lang="en-US" altLang="en-US" sz="2400"/>
              <a:t> Edge(</a:t>
            </a:r>
            <a:r>
              <a:rPr lang="en-US" altLang="en-US" sz="2400" b="1"/>
              <a:t>11</a:t>
            </a:r>
            <a:r>
              <a:rPr lang="en-US" altLang="en-US" sz="2400"/>
              <a:t>, </a:t>
            </a:r>
            <a:r>
              <a:rPr lang="en-US" altLang="en-US" sz="2400" b="1"/>
              <a:t>10</a:t>
            </a:r>
            <a:r>
              <a:rPr lang="en-US" altLang="en-US" sz="2400"/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7" name="Rectangle 9">
            <a:extLst>
              <a:ext uri="{FF2B5EF4-FFF2-40B4-BE49-F238E27FC236}">
                <a16:creationId xmlns:a16="http://schemas.microsoft.com/office/drawing/2014/main" id="{97AD6482-4D06-487D-81AC-0E4BEDFEB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6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933978F-72ED-4CAC-BB02-282CD1F07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50595</TotalTime>
  <Words>1973</Words>
  <Application>Microsoft Office PowerPoint</Application>
  <PresentationFormat>On-screen Show (4:3)</PresentationFormat>
  <Paragraphs>450</Paragraphs>
  <Slides>29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Consolas</vt:lpstr>
      <vt:lpstr>Courier New</vt:lpstr>
      <vt:lpstr>Monotype Sorts</vt:lpstr>
      <vt:lpstr>Times New Roman</vt:lpstr>
      <vt:lpstr>Wingdings</vt:lpstr>
      <vt:lpstr>International</vt:lpstr>
      <vt:lpstr>Picture</vt:lpstr>
      <vt:lpstr>Graphs and Applications</vt:lpstr>
      <vt:lpstr>Objectives (1 of 2)</vt:lpstr>
      <vt:lpstr>Review Trees</vt:lpstr>
      <vt:lpstr>Review Trees We’ve Seen So Far</vt:lpstr>
      <vt:lpstr>Inter-data Relationships</vt:lpstr>
      <vt:lpstr>Everything is Graphs</vt:lpstr>
      <vt:lpstr>Applications</vt:lpstr>
      <vt:lpstr>Graphs</vt:lpstr>
      <vt:lpstr>Modeling Using Graphs</vt:lpstr>
      <vt:lpstr>Directed vs Undirected; Acyclic vs Cyclic</vt:lpstr>
      <vt:lpstr>Labeled and Weighted Graphs</vt:lpstr>
      <vt:lpstr>Basic Graph Terminologies </vt:lpstr>
      <vt:lpstr>More Graph Terminology</vt:lpstr>
      <vt:lpstr>More More Graph Terminology</vt:lpstr>
      <vt:lpstr>Basic Graph Terminologies </vt:lpstr>
      <vt:lpstr>Basic Graph Terminologies </vt:lpstr>
      <vt:lpstr>Basic Graph Terminologies </vt:lpstr>
      <vt:lpstr>Basic Graph Terminologies </vt:lpstr>
      <vt:lpstr>Some examples</vt:lpstr>
      <vt:lpstr>Lecture Outline</vt:lpstr>
      <vt:lpstr>Representing Graphs </vt:lpstr>
      <vt:lpstr>Representing Vertices </vt:lpstr>
      <vt:lpstr>Representing Edges: Edge Array </vt:lpstr>
      <vt:lpstr>Representing Edges: Edge Object </vt:lpstr>
      <vt:lpstr>Adjacency Matrix</vt:lpstr>
      <vt:lpstr>Representing Edges: Adjacency Matrix </vt:lpstr>
      <vt:lpstr>Representing Edges: Adjacency Vertex List </vt:lpstr>
      <vt:lpstr>Representing Edges: Adjacency Edge List </vt:lpstr>
      <vt:lpstr>Representing Adjacency Edge List Using ArrayList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Objects and Classes</dc:title>
  <dc:creator>Y. Daniel Liang</dc:creator>
  <cp:lastModifiedBy>Zartoshty, Bahram</cp:lastModifiedBy>
  <cp:revision>317</cp:revision>
  <cp:lastPrinted>2021-04-14T22:23:33Z</cp:lastPrinted>
  <dcterms:created xsi:type="dcterms:W3CDTF">1995-06-10T17:31:50Z</dcterms:created>
  <dcterms:modified xsi:type="dcterms:W3CDTF">2026-08-02T19:45:34Z</dcterms:modified>
</cp:coreProperties>
</file>