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6.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37.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38.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39.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40.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41.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42.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notesSlides/notesSlide43.xml" ContentType="application/vnd.openxmlformats-officedocument.presentationml.notesSlide+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44.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notesSlides/notesSlide45.xml" ContentType="application/vnd.openxmlformats-officedocument.presentationml.notesSlide+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notesSlides/notesSlide46.xml" ContentType="application/vnd.openxmlformats-officedocument.presentationml.notesSlide+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notesSlides/notesSlide47.xml" ContentType="application/vnd.openxmlformats-officedocument.presentationml.notesSlide+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notesSlides/notesSlide48.xml" ContentType="application/vnd.openxmlformats-officedocument.presentationml.notesSlide+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notesSlides/notesSlide49.xml" ContentType="application/vnd.openxmlformats-officedocument.presentationml.notesSlide+xml"/>
  <Override PartName="/ppt/tags/tag551.xml" ContentType="application/vnd.openxmlformats-officedocument.presentationml.tags+xml"/>
  <Override PartName="/ppt/tags/tag552.xml" ContentType="application/vnd.openxmlformats-officedocument.presentationml.tags+xml"/>
  <Override PartName="/ppt/notesSlides/notesSlide50.xml" ContentType="application/vnd.openxmlformats-officedocument.presentationml.notesSlide+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notesSlides/notesSlide51.xml" ContentType="application/vnd.openxmlformats-officedocument.presentationml.notesSlide+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notesSlides/notesSlide52.xml" ContentType="application/vnd.openxmlformats-officedocument.presentationml.notesSlide+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notesSlides/notesSlide53.xml" ContentType="application/vnd.openxmlformats-officedocument.presentationml.notesSlide+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notesSlides/notesSlide54.xml" ContentType="application/vnd.openxmlformats-officedocument.presentationml.notesSlide+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notesSlides/notesSlide55.xml" ContentType="application/vnd.openxmlformats-officedocument.presentationml.notesSlide+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notesSlides/notesSlide56.xml" ContentType="application/vnd.openxmlformats-officedocument.presentationml.notesSlide+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notesSlides/notesSlide57.xml" ContentType="application/vnd.openxmlformats-officedocument.presentationml.notesSlide+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notesSlides/notesSlide58.xml" ContentType="application/vnd.openxmlformats-officedocument.presentationml.notesSlide+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notesSlides/notesSlide59.xml" ContentType="application/vnd.openxmlformats-officedocument.presentationml.notesSlide+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notesSlides/notesSlide60.xml" ContentType="application/vnd.openxmlformats-officedocument.presentationml.notesSlide+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notesSlides/notesSlide61.xml" ContentType="application/vnd.openxmlformats-officedocument.presentationml.notesSlide+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notesSlides/notesSlide62.xml" ContentType="application/vnd.openxmlformats-officedocument.presentationml.notesSlide+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notesSlides/notesSlide63.xml" ContentType="application/vnd.openxmlformats-officedocument.presentationml.notesSlide+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notesSlides/notesSlide64.xml" ContentType="application/vnd.openxmlformats-officedocument.presentationml.notesSlide+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notesSlides/notesSlide65.xml" ContentType="application/vnd.openxmlformats-officedocument.presentationml.notesSlide+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notesSlides/notesSlide66.xml" ContentType="application/vnd.openxmlformats-officedocument.presentationml.notesSlide+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notesSlides/notesSlide67.xml" ContentType="application/vnd.openxmlformats-officedocument.presentationml.notesSlide+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notesSlides/notesSlide68.xml" ContentType="application/vnd.openxmlformats-officedocument.presentationml.notesSlide+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notesSlides/notesSlide69.xml" ContentType="application/vnd.openxmlformats-officedocument.presentationml.notesSlide+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97"/>
  </p:notesMasterIdLst>
  <p:sldIdLst>
    <p:sldId id="256" r:id="rId3"/>
    <p:sldId id="646" r:id="rId4"/>
    <p:sldId id="600" r:id="rId5"/>
    <p:sldId id="605" r:id="rId6"/>
    <p:sldId id="606" r:id="rId7"/>
    <p:sldId id="607" r:id="rId8"/>
    <p:sldId id="759" r:id="rId9"/>
    <p:sldId id="656" r:id="rId10"/>
    <p:sldId id="437" r:id="rId11"/>
    <p:sldId id="358" r:id="rId12"/>
    <p:sldId id="368" r:id="rId13"/>
    <p:sldId id="370" r:id="rId14"/>
    <p:sldId id="369" r:id="rId15"/>
    <p:sldId id="438" r:id="rId16"/>
    <p:sldId id="439" r:id="rId17"/>
    <p:sldId id="440" r:id="rId18"/>
    <p:sldId id="649" r:id="rId19"/>
    <p:sldId id="414" r:id="rId20"/>
    <p:sldId id="294" r:id="rId21"/>
    <p:sldId id="442" r:id="rId22"/>
    <p:sldId id="650" r:id="rId23"/>
    <p:sldId id="371" r:id="rId24"/>
    <p:sldId id="373" r:id="rId25"/>
    <p:sldId id="415" r:id="rId26"/>
    <p:sldId id="652" r:id="rId27"/>
    <p:sldId id="441" r:id="rId28"/>
    <p:sldId id="443" r:id="rId29"/>
    <p:sldId id="445" r:id="rId30"/>
    <p:sldId id="653" r:id="rId31"/>
    <p:sldId id="613" r:id="rId32"/>
    <p:sldId id="614" r:id="rId33"/>
    <p:sldId id="608" r:id="rId34"/>
    <p:sldId id="609" r:id="rId35"/>
    <p:sldId id="654" r:id="rId36"/>
    <p:sldId id="645" r:id="rId37"/>
    <p:sldId id="289" r:id="rId38"/>
    <p:sldId id="290" r:id="rId39"/>
    <p:sldId id="655" r:id="rId40"/>
    <p:sldId id="292" r:id="rId41"/>
    <p:sldId id="635" r:id="rId42"/>
    <p:sldId id="598" r:id="rId43"/>
    <p:sldId id="599" r:id="rId44"/>
    <p:sldId id="619" r:id="rId45"/>
    <p:sldId id="601" r:id="rId46"/>
    <p:sldId id="602" r:id="rId47"/>
    <p:sldId id="603" r:id="rId48"/>
    <p:sldId id="604" r:id="rId49"/>
    <p:sldId id="620" r:id="rId50"/>
    <p:sldId id="621" r:id="rId51"/>
    <p:sldId id="623" r:id="rId52"/>
    <p:sldId id="624" r:id="rId53"/>
    <p:sldId id="625" r:id="rId54"/>
    <p:sldId id="626" r:id="rId55"/>
    <p:sldId id="612" r:id="rId56"/>
    <p:sldId id="627" r:id="rId57"/>
    <p:sldId id="628" r:id="rId58"/>
    <p:sldId id="629" r:id="rId59"/>
    <p:sldId id="630" r:id="rId60"/>
    <p:sldId id="657" r:id="rId61"/>
    <p:sldId id="658" r:id="rId62"/>
    <p:sldId id="659" r:id="rId63"/>
    <p:sldId id="660" r:id="rId64"/>
    <p:sldId id="661" r:id="rId65"/>
    <p:sldId id="662" r:id="rId66"/>
    <p:sldId id="663" r:id="rId67"/>
    <p:sldId id="664" r:id="rId68"/>
    <p:sldId id="631" r:id="rId69"/>
    <p:sldId id="637" r:id="rId70"/>
    <p:sldId id="638" r:id="rId71"/>
    <p:sldId id="639" r:id="rId72"/>
    <p:sldId id="748" r:id="rId73"/>
    <p:sldId id="257" r:id="rId74"/>
    <p:sldId id="742" r:id="rId75"/>
    <p:sldId id="258" r:id="rId76"/>
    <p:sldId id="259" r:id="rId77"/>
    <p:sldId id="743" r:id="rId78"/>
    <p:sldId id="718" r:id="rId79"/>
    <p:sldId id="719" r:id="rId80"/>
    <p:sldId id="740" r:id="rId81"/>
    <p:sldId id="744" r:id="rId82"/>
    <p:sldId id="745" r:id="rId83"/>
    <p:sldId id="746" r:id="rId84"/>
    <p:sldId id="271" r:id="rId85"/>
    <p:sldId id="747" r:id="rId86"/>
    <p:sldId id="749" r:id="rId87"/>
    <p:sldId id="750" r:id="rId88"/>
    <p:sldId id="751" r:id="rId89"/>
    <p:sldId id="752" r:id="rId90"/>
    <p:sldId id="753" r:id="rId91"/>
    <p:sldId id="754" r:id="rId92"/>
    <p:sldId id="755" r:id="rId93"/>
    <p:sldId id="756" r:id="rId94"/>
    <p:sldId id="757" r:id="rId95"/>
    <p:sldId id="758" r:id="rId96"/>
  </p:sldIdLst>
  <p:sldSz cx="12192000" cy="68580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FFF7"/>
    <a:srgbClr val="C1FFF5"/>
    <a:srgbClr val="BEFFFC"/>
    <a:srgbClr val="5EE1B2"/>
    <a:srgbClr val="09A98A"/>
    <a:srgbClr val="0FB9B1"/>
    <a:srgbClr val="007EDE"/>
    <a:srgbClr val="00A287"/>
    <a:srgbClr val="FFD0D1"/>
    <a:srgbClr val="54A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55"/>
    <p:restoredTop sz="88735"/>
  </p:normalViewPr>
  <p:slideViewPr>
    <p:cSldViewPr snapToGrid="0" snapToObjects="1">
      <p:cViewPr varScale="1">
        <p:scale>
          <a:sx n="85" d="100"/>
          <a:sy n="85" d="100"/>
        </p:scale>
        <p:origin x="705" y="54"/>
      </p:cViewPr>
      <p:guideLst/>
    </p:cSldViewPr>
  </p:slideViewPr>
  <p:outlineViewPr>
    <p:cViewPr>
      <p:scale>
        <a:sx n="33" d="100"/>
        <a:sy n="33" d="100"/>
      </p:scale>
      <p:origin x="0" y="-18096"/>
    </p:cViewPr>
  </p:outlineViewPr>
  <p:notesTextViewPr>
    <p:cViewPr>
      <p:scale>
        <a:sx n="3" d="2"/>
        <a:sy n="3" d="2"/>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6434"/>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898102" y="0"/>
            <a:ext cx="2982119" cy="466434"/>
          </a:xfrm>
          <a:prstGeom prst="rect">
            <a:avLst/>
          </a:prstGeom>
        </p:spPr>
        <p:txBody>
          <a:bodyPr vert="horz" lIns="92446" tIns="46223" rIns="92446" bIns="46223" rtlCol="0"/>
          <a:lstStyle>
            <a:lvl1pPr algn="r">
              <a:defRPr sz="1200"/>
            </a:lvl1pPr>
          </a:lstStyle>
          <a:p>
            <a:fld id="{BC8B3A00-37AE-DF4F-846D-B0E493D1DDE8}" type="datetimeFigureOut">
              <a:rPr lang="en-US" smtClean="0"/>
              <a:t>8/4/2026</a:t>
            </a:fld>
            <a:endParaRPr lang="en-US"/>
          </a:p>
        </p:txBody>
      </p:sp>
      <p:sp>
        <p:nvSpPr>
          <p:cNvPr id="4" name="Slide Image Placeholder 3"/>
          <p:cNvSpPr>
            <a:spLocks noGrp="1" noRot="1" noChangeAspect="1"/>
          </p:cNvSpPr>
          <p:nvPr>
            <p:ph type="sldImg" idx="2"/>
          </p:nvPr>
        </p:nvSpPr>
        <p:spPr>
          <a:xfrm>
            <a:off x="654050" y="1162050"/>
            <a:ext cx="5575300" cy="313690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688182" y="4473892"/>
            <a:ext cx="5505450" cy="3660458"/>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6433"/>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6433"/>
          </a:xfrm>
          <a:prstGeom prst="rect">
            <a:avLst/>
          </a:prstGeom>
        </p:spPr>
        <p:txBody>
          <a:bodyPr vert="horz" lIns="92446" tIns="46223" rIns="92446" bIns="46223" rtlCol="0" anchor="b"/>
          <a:lstStyle>
            <a:lvl1pPr algn="r">
              <a:defRPr sz="1200"/>
            </a:lvl1pPr>
          </a:lstStyle>
          <a:p>
            <a:fld id="{A660FC8D-3FAB-384B-A523-F958535FCC05}" type="slidenum">
              <a:rPr lang="en-US" smtClean="0"/>
              <a:t>‹#›</a:t>
            </a:fld>
            <a:endParaRPr lang="en-US"/>
          </a:p>
        </p:txBody>
      </p:sp>
    </p:spTree>
    <p:extLst>
      <p:ext uri="{BB962C8B-B14F-4D97-AF65-F5344CB8AC3E}">
        <p14:creationId xmlns:p14="http://schemas.microsoft.com/office/powerpoint/2010/main" val="32940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a:t>
            </a:fld>
            <a:endParaRPr lang="en-US" altLang="en-US"/>
          </a:p>
        </p:txBody>
      </p:sp>
    </p:spTree>
    <p:extLst>
      <p:ext uri="{BB962C8B-B14F-4D97-AF65-F5344CB8AC3E}">
        <p14:creationId xmlns:p14="http://schemas.microsoft.com/office/powerpoint/2010/main" val="1167613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2</a:t>
            </a:fld>
            <a:endParaRPr lang="en-US"/>
          </a:p>
        </p:txBody>
      </p:sp>
    </p:spTree>
    <p:extLst>
      <p:ext uri="{BB962C8B-B14F-4D97-AF65-F5344CB8AC3E}">
        <p14:creationId xmlns:p14="http://schemas.microsoft.com/office/powerpoint/2010/main" val="179644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3</a:t>
            </a:fld>
            <a:endParaRPr lang="en-US"/>
          </a:p>
        </p:txBody>
      </p:sp>
    </p:spTree>
    <p:extLst>
      <p:ext uri="{BB962C8B-B14F-4D97-AF65-F5344CB8AC3E}">
        <p14:creationId xmlns:p14="http://schemas.microsoft.com/office/powerpoint/2010/main" val="71079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4</a:t>
            </a:fld>
            <a:endParaRPr lang="en-US"/>
          </a:p>
        </p:txBody>
      </p:sp>
    </p:spTree>
    <p:extLst>
      <p:ext uri="{BB962C8B-B14F-4D97-AF65-F5344CB8AC3E}">
        <p14:creationId xmlns:p14="http://schemas.microsoft.com/office/powerpoint/2010/main" val="1696390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5</a:t>
            </a:fld>
            <a:endParaRPr lang="en-US"/>
          </a:p>
        </p:txBody>
      </p:sp>
    </p:spTree>
    <p:extLst>
      <p:ext uri="{BB962C8B-B14F-4D97-AF65-F5344CB8AC3E}">
        <p14:creationId xmlns:p14="http://schemas.microsoft.com/office/powerpoint/2010/main" val="1362479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6</a:t>
            </a:fld>
            <a:endParaRPr lang="en-US"/>
          </a:p>
        </p:txBody>
      </p:sp>
    </p:spTree>
    <p:extLst>
      <p:ext uri="{BB962C8B-B14F-4D97-AF65-F5344CB8AC3E}">
        <p14:creationId xmlns:p14="http://schemas.microsoft.com/office/powerpoint/2010/main" val="3602445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7</a:t>
            </a:fld>
            <a:endParaRPr lang="en-US"/>
          </a:p>
        </p:txBody>
      </p:sp>
    </p:spTree>
    <p:extLst>
      <p:ext uri="{BB962C8B-B14F-4D97-AF65-F5344CB8AC3E}">
        <p14:creationId xmlns:p14="http://schemas.microsoft.com/office/powerpoint/2010/main" val="3039928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8</a:t>
            </a:fld>
            <a:endParaRPr lang="en-US"/>
          </a:p>
        </p:txBody>
      </p:sp>
    </p:spTree>
    <p:extLst>
      <p:ext uri="{BB962C8B-B14F-4D97-AF65-F5344CB8AC3E}">
        <p14:creationId xmlns:p14="http://schemas.microsoft.com/office/powerpoint/2010/main" val="1355362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9</a:t>
            </a:fld>
            <a:endParaRPr lang="en-US" altLang="en-US"/>
          </a:p>
        </p:txBody>
      </p:sp>
    </p:spTree>
    <p:extLst>
      <p:ext uri="{BB962C8B-B14F-4D97-AF65-F5344CB8AC3E}">
        <p14:creationId xmlns:p14="http://schemas.microsoft.com/office/powerpoint/2010/main" val="498653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10</a:t>
            </a:fld>
            <a:endParaRPr lang="en-US" altLang="en-US"/>
          </a:p>
        </p:txBody>
      </p:sp>
    </p:spTree>
    <p:extLst>
      <p:ext uri="{BB962C8B-B14F-4D97-AF65-F5344CB8AC3E}">
        <p14:creationId xmlns:p14="http://schemas.microsoft.com/office/powerpoint/2010/main" val="8477168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11</a:t>
            </a:fld>
            <a:endParaRPr lang="en-US" altLang="en-US"/>
          </a:p>
        </p:txBody>
      </p:sp>
    </p:spTree>
    <p:extLst>
      <p:ext uri="{BB962C8B-B14F-4D97-AF65-F5344CB8AC3E}">
        <p14:creationId xmlns:p14="http://schemas.microsoft.com/office/powerpoint/2010/main" val="1317610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12</a:t>
            </a:fld>
            <a:endParaRPr lang="en-US" altLang="en-US"/>
          </a:p>
        </p:txBody>
      </p:sp>
    </p:spTree>
    <p:extLst>
      <p:ext uri="{BB962C8B-B14F-4D97-AF65-F5344CB8AC3E}">
        <p14:creationId xmlns:p14="http://schemas.microsoft.com/office/powerpoint/2010/main" val="536655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13</a:t>
            </a:fld>
            <a:endParaRPr lang="en-US" altLang="en-US"/>
          </a:p>
        </p:txBody>
      </p:sp>
    </p:spTree>
    <p:extLst>
      <p:ext uri="{BB962C8B-B14F-4D97-AF65-F5344CB8AC3E}">
        <p14:creationId xmlns:p14="http://schemas.microsoft.com/office/powerpoint/2010/main" val="4226353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14</a:t>
            </a:fld>
            <a:endParaRPr lang="en-US" altLang="en-US"/>
          </a:p>
        </p:txBody>
      </p:sp>
    </p:spTree>
    <p:extLst>
      <p:ext uri="{BB962C8B-B14F-4D97-AF65-F5344CB8AC3E}">
        <p14:creationId xmlns:p14="http://schemas.microsoft.com/office/powerpoint/2010/main" val="938082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15</a:t>
            </a:fld>
            <a:endParaRPr lang="en-US" altLang="en-US"/>
          </a:p>
        </p:txBody>
      </p:sp>
    </p:spTree>
    <p:extLst>
      <p:ext uri="{BB962C8B-B14F-4D97-AF65-F5344CB8AC3E}">
        <p14:creationId xmlns:p14="http://schemas.microsoft.com/office/powerpoint/2010/main" val="76385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solidFill>
                  <a:srgbClr val="7F0055"/>
                </a:solidFill>
                <a:latin typeface="Consolas" panose="020B0609020204030204" pitchFamily="49" charset="0"/>
              </a:rPr>
              <a:t>import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java.util</a:t>
            </a:r>
            <a:r>
              <a:rPr lang="en-US" sz="1800" dirty="0">
                <a:solidFill>
                  <a:srgbClr val="000000"/>
                </a:solidFill>
                <a:latin typeface="Consolas" panose="020B0609020204030204" pitchFamily="49" charset="0"/>
              </a:rPr>
              <a:t>.*;</a:t>
            </a:r>
          </a:p>
          <a:p>
            <a:r>
              <a:rPr lang="en-US" sz="1800" b="1" dirty="0">
                <a:solidFill>
                  <a:srgbClr val="7F0055"/>
                </a:solidFill>
                <a:latin typeface="Consolas" panose="020B0609020204030204" pitchFamily="49" charset="0"/>
              </a:rPr>
              <a:t>public</a:t>
            </a:r>
            <a:r>
              <a:rPr lang="en-US" sz="1800"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class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GraphExamples</a:t>
            </a:r>
            <a:r>
              <a:rPr lang="en-US" sz="1800" dirty="0">
                <a:solidFill>
                  <a:srgbClr val="000000"/>
                </a:solidFill>
                <a:latin typeface="Consolas" panose="020B0609020204030204" pitchFamily="49" charset="0"/>
              </a:rPr>
              <a:t> {</a:t>
            </a:r>
          </a:p>
          <a:p>
            <a:br>
              <a:rPr lang="en-US" sz="1800" dirty="0">
                <a:solidFill>
                  <a:srgbClr val="000000"/>
                </a:solidFill>
                <a:latin typeface="Consolas" panose="020B0609020204030204" pitchFamily="49" charset="0"/>
              </a:rPr>
            </a:br>
            <a:endParaRPr lang="en-US" sz="1800" dirty="0">
              <a:solidFill>
                <a:srgbClr val="000000"/>
              </a:solidFill>
              <a:latin typeface="Consolas" panose="020B0609020204030204" pitchFamily="49" charset="0"/>
            </a:endParaRPr>
          </a:p>
          <a:p>
            <a:r>
              <a:rPr lang="en-US" sz="1800" b="1" dirty="0">
                <a:solidFill>
                  <a:srgbClr val="7F0055"/>
                </a:solidFill>
                <a:latin typeface="Consolas" panose="020B0609020204030204" pitchFamily="49" charset="0"/>
              </a:rPr>
              <a:t>public</a:t>
            </a:r>
            <a:r>
              <a:rPr lang="en-US" sz="1800"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static</a:t>
            </a:r>
            <a:r>
              <a:rPr lang="en-US" sz="1800" dirty="0">
                <a:solidFill>
                  <a:srgbClr val="000000"/>
                </a:solidFill>
                <a:latin typeface="Consolas" panose="020B0609020204030204" pitchFamily="49" charset="0"/>
              </a:rPr>
              <a:t> </a:t>
            </a:r>
            <a:r>
              <a:rPr lang="en-US" sz="1800" b="1" dirty="0">
                <a:solidFill>
                  <a:srgbClr val="7F0055"/>
                </a:solidFill>
                <a:latin typeface="Consolas" panose="020B0609020204030204" pitchFamily="49" charset="0"/>
              </a:rPr>
              <a:t>void</a:t>
            </a:r>
            <a:r>
              <a:rPr lang="en-US" sz="1800" dirty="0">
                <a:solidFill>
                  <a:srgbClr val="000000"/>
                </a:solidFill>
                <a:latin typeface="Consolas" panose="020B0609020204030204" pitchFamily="49" charset="0"/>
              </a:rPr>
              <a:t> main(String[] </a:t>
            </a:r>
            <a:r>
              <a:rPr lang="en-US" sz="1800" dirty="0" err="1">
                <a:solidFill>
                  <a:srgbClr val="6A3E3E"/>
                </a:solidFill>
                <a:latin typeface="Consolas" panose="020B0609020204030204" pitchFamily="49" charset="0"/>
              </a:rPr>
              <a:t>args</a:t>
            </a:r>
            <a:r>
              <a:rPr lang="en-US" sz="1800" dirty="0">
                <a:solidFill>
                  <a:srgbClr val="000000"/>
                </a:solidFill>
                <a:latin typeface="Consolas" panose="020B0609020204030204" pitchFamily="49" charset="0"/>
              </a:rPr>
              <a:t>) {</a:t>
            </a:r>
          </a:p>
          <a:p>
            <a:r>
              <a:rPr lang="en-US" sz="1800" dirty="0">
                <a:solidFill>
                  <a:srgbClr val="3F7F5F"/>
                </a:solidFill>
                <a:latin typeface="Consolas" panose="020B0609020204030204" pitchFamily="49" charset="0"/>
              </a:rPr>
              <a:t>// </a:t>
            </a:r>
            <a:r>
              <a:rPr lang="en-US" sz="1800" b="1" dirty="0">
                <a:solidFill>
                  <a:srgbClr val="7F9FBF"/>
                </a:solidFill>
                <a:latin typeface="Consolas" panose="020B0609020204030204" pitchFamily="49" charset="0"/>
              </a:rPr>
              <a:t>TODO</a:t>
            </a:r>
            <a:r>
              <a:rPr lang="en-US" sz="1800" dirty="0">
                <a:solidFill>
                  <a:srgbClr val="3F7F5F"/>
                </a:solidFill>
                <a:latin typeface="Consolas" panose="020B0609020204030204" pitchFamily="49" charset="0"/>
              </a:rPr>
              <a:t> Auto-generated method stub</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List&lt;</a:t>
            </a:r>
            <a:r>
              <a:rPr lang="en-US" sz="1800" dirty="0" err="1">
                <a:solidFill>
                  <a:srgbClr val="000000"/>
                </a:solidFill>
                <a:latin typeface="Consolas" panose="020B0609020204030204" pitchFamily="49" charset="0"/>
              </a:rPr>
              <a:t>PriorityQueue</a:t>
            </a:r>
            <a:r>
              <a:rPr lang="en-US" sz="1800" dirty="0">
                <a:solidFill>
                  <a:srgbClr val="000000"/>
                </a:solidFill>
                <a:latin typeface="Consolas" panose="020B0609020204030204" pitchFamily="49" charset="0"/>
              </a:rPr>
              <a:t>&lt;</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&gt;&gt; </a:t>
            </a:r>
            <a:r>
              <a:rPr lang="en-US" sz="1800" dirty="0">
                <a:solidFill>
                  <a:srgbClr val="6A3E3E"/>
                </a:solidFill>
                <a:latin typeface="Consolas" panose="020B0609020204030204" pitchFamily="49" charset="0"/>
              </a:rPr>
              <a:t>q</a:t>
            </a:r>
            <a:r>
              <a:rPr lang="en-US" sz="1800" dirty="0">
                <a:solidFill>
                  <a:srgbClr val="000000"/>
                </a:solidFill>
                <a:latin typeface="Consolas" panose="020B0609020204030204" pitchFamily="49" charset="0"/>
              </a:rPr>
              <a:t> = </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ArrayList</a:t>
            </a:r>
            <a:r>
              <a:rPr lang="en-US" sz="1800" dirty="0">
                <a:solidFill>
                  <a:srgbClr val="000000"/>
                </a:solidFill>
                <a:latin typeface="Consolas" panose="020B0609020204030204" pitchFamily="49" charset="0"/>
              </a:rPr>
              <a:t>&lt;&gt;();</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.add</a:t>
            </a:r>
            <a:r>
              <a:rPr lang="en-US" sz="1800" dirty="0">
                <a:solidFill>
                  <a:srgbClr val="000000"/>
                </a:solidFill>
                <a:latin typeface="Consolas" panose="020B0609020204030204" pitchFamily="49" charset="0"/>
              </a:rPr>
              <a:t>(</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PriorityQueue</a:t>
            </a:r>
            <a:r>
              <a:rPr lang="en-US" sz="1800" dirty="0">
                <a:solidFill>
                  <a:srgbClr val="000000"/>
                </a:solidFill>
                <a:latin typeface="Consolas" panose="020B0609020204030204" pitchFamily="49" charset="0"/>
              </a:rPr>
              <a:t>&lt;</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&gt;());</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(0).offer(</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(0,2,3.5));</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(0).offer(</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(0,6,6.5));</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(0).offer(</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(0,7,1.5));</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.add</a:t>
            </a:r>
            <a:r>
              <a:rPr lang="en-US" sz="1800" dirty="0">
                <a:solidFill>
                  <a:srgbClr val="000000"/>
                </a:solidFill>
                <a:latin typeface="Consolas" panose="020B0609020204030204" pitchFamily="49" charset="0"/>
              </a:rPr>
              <a:t>(</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PriorityQueue</a:t>
            </a:r>
            <a:r>
              <a:rPr lang="en-US" sz="1800" dirty="0">
                <a:solidFill>
                  <a:srgbClr val="000000"/>
                </a:solidFill>
                <a:latin typeface="Consolas" panose="020B0609020204030204" pitchFamily="49" charset="0"/>
              </a:rPr>
              <a:t>&lt;</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&gt;());</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(1).offer(</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(1,0,3.5));</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(1).offer(</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(1,5,8.5));</a:t>
            </a:r>
          </a:p>
          <a:p>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(1).offer(</a:t>
            </a:r>
            <a:r>
              <a:rPr lang="en-US" sz="1800" b="1" dirty="0">
                <a:solidFill>
                  <a:srgbClr val="7F0055"/>
                </a:solidFill>
                <a:latin typeface="Consolas" panose="020B0609020204030204" pitchFamily="49" charset="0"/>
              </a:rPr>
              <a:t>new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WeightedEdge</a:t>
            </a:r>
            <a:r>
              <a:rPr lang="en-US" sz="1800" dirty="0">
                <a:solidFill>
                  <a:srgbClr val="000000"/>
                </a:solidFill>
                <a:latin typeface="Consolas" panose="020B0609020204030204" pitchFamily="49" charset="0"/>
              </a:rPr>
              <a:t>(1,8,19.5));</a:t>
            </a:r>
          </a:p>
          <a:p>
            <a:r>
              <a:rPr lang="en-US" sz="1800" dirty="0" err="1">
                <a:solidFill>
                  <a:srgbClr val="000000"/>
                </a:solidFill>
                <a:latin typeface="Consolas" panose="020B0609020204030204" pitchFamily="49" charset="0"/>
              </a:rPr>
              <a:t>System.</a:t>
            </a:r>
            <a:r>
              <a:rPr lang="en-US" sz="1800" b="1" i="1" dirty="0" err="1">
                <a:solidFill>
                  <a:srgbClr val="0000C0"/>
                </a:solidFill>
                <a:latin typeface="Consolas" panose="020B0609020204030204" pitchFamily="49" charset="0"/>
              </a:rPr>
              <a:t>out</a:t>
            </a:r>
            <a:r>
              <a:rPr lang="en-US" sz="1800" dirty="0" err="1">
                <a:solidFill>
                  <a:srgbClr val="000000"/>
                </a:solidFill>
                <a:latin typeface="Consolas" panose="020B0609020204030204" pitchFamily="49" charset="0"/>
              </a:rPr>
              <a:t>.println</a:t>
            </a:r>
            <a:r>
              <a:rPr lang="en-US" sz="1800" dirty="0">
                <a:solidFill>
                  <a:srgbClr val="000000"/>
                </a:solidFill>
                <a:latin typeface="Consolas" panose="020B0609020204030204" pitchFamily="49" charset="0"/>
              </a:rPr>
              <a:t>(</a:t>
            </a:r>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(0).peek().</a:t>
            </a:r>
            <a:r>
              <a:rPr lang="en-US" sz="1800" dirty="0" err="1">
                <a:solidFill>
                  <a:srgbClr val="000000"/>
                </a:solidFill>
                <a:latin typeface="Consolas" panose="020B0609020204030204" pitchFamily="49" charset="0"/>
              </a:rPr>
              <a:t>compareTo</a:t>
            </a:r>
            <a:r>
              <a:rPr lang="en-US" sz="1800" dirty="0">
                <a:solidFill>
                  <a:srgbClr val="000000"/>
                </a:solidFill>
                <a:latin typeface="Consolas" panose="020B0609020204030204" pitchFamily="49" charset="0"/>
              </a:rPr>
              <a:t>(</a:t>
            </a:r>
            <a:r>
              <a:rPr lang="en-US" sz="1800" dirty="0" err="1">
                <a:solidFill>
                  <a:srgbClr val="6A3E3E"/>
                </a:solidFill>
                <a:latin typeface="Consolas" panose="020B0609020204030204" pitchFamily="49" charset="0"/>
              </a:rPr>
              <a:t>q</a:t>
            </a:r>
            <a:r>
              <a:rPr lang="en-US" sz="1800" dirty="0" err="1">
                <a:solidFill>
                  <a:srgbClr val="000000"/>
                </a:solidFill>
                <a:latin typeface="Consolas" panose="020B0609020204030204" pitchFamily="49" charset="0"/>
              </a:rPr>
              <a:t>.get</a:t>
            </a:r>
            <a:r>
              <a:rPr lang="en-US" sz="1800" dirty="0">
                <a:solidFill>
                  <a:srgbClr val="000000"/>
                </a:solidFill>
                <a:latin typeface="Consolas" panose="020B0609020204030204" pitchFamily="49" charset="0"/>
              </a:rPr>
              <a:t>(1).peek()));</a:t>
            </a:r>
          </a:p>
          <a:p>
            <a:br>
              <a:rPr lang="en-US" sz="1800" dirty="0">
                <a:solidFill>
                  <a:srgbClr val="000000"/>
                </a:solidFill>
                <a:latin typeface="Consolas" panose="020B0609020204030204" pitchFamily="49" charset="0"/>
              </a:rPr>
            </a:b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a:t>
            </a:r>
          </a:p>
          <a:p>
            <a:br>
              <a:rPr lang="en-US" sz="1800" dirty="0">
                <a:solidFill>
                  <a:srgbClr val="000000"/>
                </a:solidFill>
                <a:latin typeface="Consolas" panose="020B0609020204030204" pitchFamily="49" charset="0"/>
              </a:rPr>
            </a:b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a:t>
            </a:r>
          </a:p>
          <a:p>
            <a:endParaRPr lang="en-US" dirty="0"/>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16</a:t>
            </a:fld>
            <a:endParaRPr lang="en-US" altLang="en-US"/>
          </a:p>
        </p:txBody>
      </p:sp>
    </p:spTree>
    <p:extLst>
      <p:ext uri="{BB962C8B-B14F-4D97-AF65-F5344CB8AC3E}">
        <p14:creationId xmlns:p14="http://schemas.microsoft.com/office/powerpoint/2010/main" val="3618523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17</a:t>
            </a:fld>
            <a:endParaRPr lang="en-US"/>
          </a:p>
        </p:txBody>
      </p:sp>
    </p:spTree>
    <p:extLst>
      <p:ext uri="{BB962C8B-B14F-4D97-AF65-F5344CB8AC3E}">
        <p14:creationId xmlns:p14="http://schemas.microsoft.com/office/powerpoint/2010/main" val="8338471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18</a:t>
            </a:fld>
            <a:endParaRPr lang="en-US" altLang="en-US"/>
          </a:p>
        </p:txBody>
      </p:sp>
    </p:spTree>
    <p:extLst>
      <p:ext uri="{BB962C8B-B14F-4D97-AF65-F5344CB8AC3E}">
        <p14:creationId xmlns:p14="http://schemas.microsoft.com/office/powerpoint/2010/main" val="3214687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19</a:t>
            </a:fld>
            <a:endParaRPr lang="en-US" altLang="en-US"/>
          </a:p>
        </p:txBody>
      </p:sp>
    </p:spTree>
    <p:extLst>
      <p:ext uri="{BB962C8B-B14F-4D97-AF65-F5344CB8AC3E}">
        <p14:creationId xmlns:p14="http://schemas.microsoft.com/office/powerpoint/2010/main" val="18753214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20</a:t>
            </a:fld>
            <a:endParaRPr lang="en-US"/>
          </a:p>
        </p:txBody>
      </p:sp>
    </p:spTree>
    <p:extLst>
      <p:ext uri="{BB962C8B-B14F-4D97-AF65-F5344CB8AC3E}">
        <p14:creationId xmlns:p14="http://schemas.microsoft.com/office/powerpoint/2010/main" val="829485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21</a:t>
            </a:fld>
            <a:endParaRPr lang="en-US"/>
          </a:p>
        </p:txBody>
      </p:sp>
    </p:spTree>
    <p:extLst>
      <p:ext uri="{BB962C8B-B14F-4D97-AF65-F5344CB8AC3E}">
        <p14:creationId xmlns:p14="http://schemas.microsoft.com/office/powerpoint/2010/main" val="32337439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22</a:t>
            </a:fld>
            <a:endParaRPr lang="en-US" altLang="en-US"/>
          </a:p>
        </p:txBody>
      </p:sp>
    </p:spTree>
    <p:extLst>
      <p:ext uri="{BB962C8B-B14F-4D97-AF65-F5344CB8AC3E}">
        <p14:creationId xmlns:p14="http://schemas.microsoft.com/office/powerpoint/2010/main" val="14895260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23</a:t>
            </a:fld>
            <a:endParaRPr lang="en-US" altLang="en-US"/>
          </a:p>
        </p:txBody>
      </p:sp>
    </p:spTree>
    <p:extLst>
      <p:ext uri="{BB962C8B-B14F-4D97-AF65-F5344CB8AC3E}">
        <p14:creationId xmlns:p14="http://schemas.microsoft.com/office/powerpoint/2010/main" val="22519280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1E2A2EF-0B99-41A0-B281-0969187F7DF2}" type="slidenum">
              <a:rPr lang="en-US" altLang="en-US" smtClean="0"/>
              <a:pPr>
                <a:defRPr/>
              </a:pPr>
              <a:t>24</a:t>
            </a:fld>
            <a:endParaRPr lang="en-US" altLang="en-US"/>
          </a:p>
        </p:txBody>
      </p:sp>
    </p:spTree>
    <p:extLst>
      <p:ext uri="{BB962C8B-B14F-4D97-AF65-F5344CB8AC3E}">
        <p14:creationId xmlns:p14="http://schemas.microsoft.com/office/powerpoint/2010/main" val="31515145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25</a:t>
            </a:fld>
            <a:endParaRPr lang="en-US"/>
          </a:p>
        </p:txBody>
      </p:sp>
    </p:spTree>
    <p:extLst>
      <p:ext uri="{BB962C8B-B14F-4D97-AF65-F5344CB8AC3E}">
        <p14:creationId xmlns:p14="http://schemas.microsoft.com/office/powerpoint/2010/main" val="18430703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26</a:t>
            </a:fld>
            <a:endParaRPr lang="en-US"/>
          </a:p>
        </p:txBody>
      </p:sp>
    </p:spTree>
    <p:extLst>
      <p:ext uri="{BB962C8B-B14F-4D97-AF65-F5344CB8AC3E}">
        <p14:creationId xmlns:p14="http://schemas.microsoft.com/office/powerpoint/2010/main" val="3942822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27</a:t>
            </a:fld>
            <a:endParaRPr lang="en-US"/>
          </a:p>
        </p:txBody>
      </p:sp>
    </p:spTree>
    <p:extLst>
      <p:ext uri="{BB962C8B-B14F-4D97-AF65-F5344CB8AC3E}">
        <p14:creationId xmlns:p14="http://schemas.microsoft.com/office/powerpoint/2010/main" val="30804297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28</a:t>
            </a:fld>
            <a:endParaRPr lang="en-US"/>
          </a:p>
        </p:txBody>
      </p:sp>
    </p:spTree>
    <p:extLst>
      <p:ext uri="{BB962C8B-B14F-4D97-AF65-F5344CB8AC3E}">
        <p14:creationId xmlns:p14="http://schemas.microsoft.com/office/powerpoint/2010/main" val="37608988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29</a:t>
            </a:fld>
            <a:endParaRPr lang="en-US"/>
          </a:p>
        </p:txBody>
      </p:sp>
    </p:spTree>
    <p:extLst>
      <p:ext uri="{BB962C8B-B14F-4D97-AF65-F5344CB8AC3E}">
        <p14:creationId xmlns:p14="http://schemas.microsoft.com/office/powerpoint/2010/main" val="10089180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30</a:t>
            </a:fld>
            <a:endParaRPr lang="en-US"/>
          </a:p>
        </p:txBody>
      </p:sp>
    </p:spTree>
    <p:extLst>
      <p:ext uri="{BB962C8B-B14F-4D97-AF65-F5344CB8AC3E}">
        <p14:creationId xmlns:p14="http://schemas.microsoft.com/office/powerpoint/2010/main" val="24114200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31</a:t>
            </a:fld>
            <a:endParaRPr lang="en-US"/>
          </a:p>
        </p:txBody>
      </p:sp>
    </p:spTree>
    <p:extLst>
      <p:ext uri="{BB962C8B-B14F-4D97-AF65-F5344CB8AC3E}">
        <p14:creationId xmlns:p14="http://schemas.microsoft.com/office/powerpoint/2010/main" val="2928648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32</a:t>
            </a:fld>
            <a:endParaRPr lang="en-US"/>
          </a:p>
        </p:txBody>
      </p:sp>
    </p:spTree>
    <p:extLst>
      <p:ext uri="{BB962C8B-B14F-4D97-AF65-F5344CB8AC3E}">
        <p14:creationId xmlns:p14="http://schemas.microsoft.com/office/powerpoint/2010/main" val="10603618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33</a:t>
            </a:fld>
            <a:endParaRPr lang="en-US"/>
          </a:p>
        </p:txBody>
      </p:sp>
    </p:spTree>
    <p:extLst>
      <p:ext uri="{BB962C8B-B14F-4D97-AF65-F5344CB8AC3E}">
        <p14:creationId xmlns:p14="http://schemas.microsoft.com/office/powerpoint/2010/main" val="17926146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34</a:t>
            </a:fld>
            <a:endParaRPr lang="en-US"/>
          </a:p>
        </p:txBody>
      </p:sp>
    </p:spTree>
    <p:extLst>
      <p:ext uri="{BB962C8B-B14F-4D97-AF65-F5344CB8AC3E}">
        <p14:creationId xmlns:p14="http://schemas.microsoft.com/office/powerpoint/2010/main" val="33712669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35</a:t>
            </a:fld>
            <a:endParaRPr lang="en-US"/>
          </a:p>
        </p:txBody>
      </p:sp>
    </p:spTree>
    <p:extLst>
      <p:ext uri="{BB962C8B-B14F-4D97-AF65-F5344CB8AC3E}">
        <p14:creationId xmlns:p14="http://schemas.microsoft.com/office/powerpoint/2010/main" val="33178686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eaLnBrk="1" hangingPunct="1"/>
            <a:endParaRPr lang="en-US" dirty="0">
              <a:latin typeface="Arial" charset="0"/>
            </a:endParaRPr>
          </a:p>
        </p:txBody>
      </p:sp>
      <p:sp>
        <p:nvSpPr>
          <p:cNvPr id="24579" name="Slide Number Placeholder 3"/>
          <p:cNvSpPr>
            <a:spLocks noGrp="1"/>
          </p:cNvSpPr>
          <p:nvPr>
            <p:ph type="sldNum" sz="quarter" idx="5"/>
          </p:nvPr>
        </p:nvSpPr>
        <p:spPr>
          <a:noFill/>
        </p:spPr>
        <p:txBody>
          <a:bodyPr/>
          <a:lstStyle/>
          <a:p>
            <a:fld id="{29ECFB17-79BB-44D3-BB9C-A84FB5ABA8B9}" type="slidenum">
              <a:rPr lang="en-US"/>
              <a:pPr/>
              <a:t>36</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0434849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p:cNvSpPr>
          <p:nvPr>
            <p:ph type="sldImg"/>
          </p:nvPr>
        </p:nvSpPr>
        <p:spPr>
          <a:ln/>
        </p:spPr>
      </p:sp>
      <p:sp>
        <p:nvSpPr>
          <p:cNvPr id="26626" name="Notes Placeholder 2"/>
          <p:cNvSpPr>
            <a:spLocks noGrp="1"/>
          </p:cNvSpPr>
          <p:nvPr>
            <p:ph type="body" idx="1"/>
          </p:nvPr>
        </p:nvSpPr>
        <p:spPr/>
        <p:txBody>
          <a:bodyPr/>
          <a:lstStyle/>
          <a:p>
            <a:pPr eaLnBrk="1" hangingPunct="1"/>
            <a:endParaRPr lang="en-US" dirty="0">
              <a:latin typeface="Arial" charset="0"/>
            </a:endParaRPr>
          </a:p>
        </p:txBody>
      </p:sp>
      <p:sp>
        <p:nvSpPr>
          <p:cNvPr id="26627" name="Slide Number Placeholder 3"/>
          <p:cNvSpPr>
            <a:spLocks noGrp="1"/>
          </p:cNvSpPr>
          <p:nvPr>
            <p:ph type="sldNum" sz="quarter" idx="5"/>
          </p:nvPr>
        </p:nvSpPr>
        <p:spPr>
          <a:noFill/>
        </p:spPr>
        <p:txBody>
          <a:bodyPr/>
          <a:lstStyle/>
          <a:p>
            <a:fld id="{5178B5B7-2646-4889-9185-79AD0690A691}" type="slidenum">
              <a:rPr lang="en-US"/>
              <a:pPr/>
              <a:t>37</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30144144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38</a:t>
            </a:fld>
            <a:endParaRPr lang="en-US"/>
          </a:p>
        </p:txBody>
      </p:sp>
    </p:spTree>
    <p:extLst>
      <p:ext uri="{BB962C8B-B14F-4D97-AF65-F5344CB8AC3E}">
        <p14:creationId xmlns:p14="http://schemas.microsoft.com/office/powerpoint/2010/main" val="26749986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a:ln/>
        </p:spPr>
      </p:sp>
      <p:sp>
        <p:nvSpPr>
          <p:cNvPr id="30722" name="Notes Placeholder 2"/>
          <p:cNvSpPr>
            <a:spLocks noGrp="1"/>
          </p:cNvSpPr>
          <p:nvPr>
            <p:ph type="body" idx="1"/>
          </p:nvPr>
        </p:nvSpPr>
        <p:spPr/>
        <p:txBody>
          <a:bodyPr/>
          <a:lstStyle/>
          <a:p>
            <a:pPr marL="160496"/>
            <a:endParaRPr lang="en-US" dirty="0">
              <a:latin typeface="Arial" charset="0"/>
            </a:endParaRPr>
          </a:p>
        </p:txBody>
      </p:sp>
      <p:sp>
        <p:nvSpPr>
          <p:cNvPr id="30723" name="Slide Number Placeholder 3"/>
          <p:cNvSpPr>
            <a:spLocks noGrp="1"/>
          </p:cNvSpPr>
          <p:nvPr>
            <p:ph type="sldNum" sz="quarter" idx="5"/>
          </p:nvPr>
        </p:nvSpPr>
        <p:spPr>
          <a:noFill/>
        </p:spPr>
        <p:txBody>
          <a:bodyPr/>
          <a:lstStyle/>
          <a:p>
            <a:fld id="{CD1BAFE7-D59D-4508-B821-1A909107F60A}" type="slidenum">
              <a:rPr lang="en-US"/>
              <a:pPr/>
              <a:t>39</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0631022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eaLnBrk="1" hangingPunct="1"/>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40</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1098734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41</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3162919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Note how E’s distance is 12 (path length) instead of 11 (edge weight)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42</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7585175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Note how</a:t>
            </a:r>
          </a:p>
          <a:p>
            <a:pPr marL="462229" indent="-301733">
              <a:buFontTx/>
              <a:buChar char="-"/>
            </a:pPr>
            <a:r>
              <a:rPr lang="en-US" dirty="0">
                <a:latin typeface="Arial" charset="0"/>
              </a:rPr>
              <a:t>Again, we don’t set F’s </a:t>
            </a:r>
            <a:r>
              <a:rPr lang="en-US" dirty="0" err="1">
                <a:latin typeface="Arial" charset="0"/>
              </a:rPr>
              <a:t>pathlen</a:t>
            </a:r>
            <a:r>
              <a:rPr lang="en-US" dirty="0">
                <a:latin typeface="Arial" charset="0"/>
              </a:rPr>
              <a:t> to 2 (the edge weight); we set it to 4 (length of A-&gt;B-&gt;F)</a:t>
            </a:r>
          </a:p>
          <a:p>
            <a:pPr marL="462229" indent="-301733">
              <a:buFontTx/>
              <a:buChar char="-"/>
            </a:pPr>
            <a:r>
              <a:rPr lang="en-US" dirty="0">
                <a:latin typeface="Arial" charset="0"/>
              </a:rPr>
              <a:t>We don’t update C with distance 7 (A-&gt;B-&gt;C); its optimal path is already known</a:t>
            </a:r>
          </a:p>
          <a:p>
            <a:pPr marL="462229" indent="-301733">
              <a:buFontTx/>
              <a:buChar char="-"/>
            </a:pPr>
            <a:r>
              <a:rPr lang="en-US" dirty="0">
                <a:latin typeface="Arial" charset="0"/>
              </a:rPr>
              <a:t>We don’t update E with distance 12 (A-&gt;B-&gt;E); the path length is the same</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43</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4655482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Nothing was updated; we already had an optimal path to C</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44</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6529383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45</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8346925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46</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7955486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Note how we found a better path to E at last (A-&gt;B-&gt;F-&gt;H-&gt;G-&gt;E), with cost 11; formerly path A-&gt;C-&gt;E had cost 12</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47</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39649197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Done!</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48</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33067115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Walk through the chain of “previous” (E-&gt;G-&gt;H-&gt;F-&gt;B-&gt;A)</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49</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6989858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a:ln/>
        </p:spPr>
      </p:sp>
      <p:sp>
        <p:nvSpPr>
          <p:cNvPr id="30722" name="Notes Placeholder 2"/>
          <p:cNvSpPr>
            <a:spLocks noGrp="1"/>
          </p:cNvSpPr>
          <p:nvPr>
            <p:ph type="body" idx="1"/>
          </p:nvPr>
        </p:nvSpPr>
        <p:spPr/>
        <p:txBody>
          <a:bodyPr/>
          <a:lstStyle/>
          <a:p>
            <a:pPr marL="160496"/>
            <a:endParaRPr lang="en-US" dirty="0">
              <a:latin typeface="Arial" charset="0"/>
            </a:endParaRPr>
          </a:p>
        </p:txBody>
      </p:sp>
      <p:sp>
        <p:nvSpPr>
          <p:cNvPr id="30723" name="Slide Number Placeholder 3"/>
          <p:cNvSpPr>
            <a:spLocks noGrp="1"/>
          </p:cNvSpPr>
          <p:nvPr>
            <p:ph type="sldNum" sz="quarter" idx="5"/>
          </p:nvPr>
        </p:nvSpPr>
        <p:spPr>
          <a:noFill/>
        </p:spPr>
        <p:txBody>
          <a:bodyPr/>
          <a:lstStyle/>
          <a:p>
            <a:fld id="{CD1BAFE7-D59D-4508-B821-1A909107F60A}" type="slidenum">
              <a:rPr lang="en-US"/>
              <a:pPr/>
              <a:t>50</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32787429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51</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598822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52</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0934035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53</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33661399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54</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40142190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55</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8903478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56</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42178266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57</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6401740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endParaRPr lang="en-US" dirty="0">
              <a:latin typeface="Arial" charset="0"/>
            </a:endParaRP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58</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015197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59</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35092227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60</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9057610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61</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860598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62</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5935164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63</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184009539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64</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29785153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65</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9999629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a:ln/>
        </p:spPr>
      </p:sp>
      <p:sp>
        <p:nvSpPr>
          <p:cNvPr id="32770" name="Notes Placeholder 2"/>
          <p:cNvSpPr>
            <a:spLocks noGrp="1"/>
          </p:cNvSpPr>
          <p:nvPr>
            <p:ph type="body" idx="1"/>
          </p:nvPr>
        </p:nvSpPr>
        <p:spPr/>
        <p:txBody>
          <a:bodyPr/>
          <a:lstStyle/>
          <a:p>
            <a:pPr marL="160496"/>
            <a:r>
              <a:rPr lang="en-US" dirty="0">
                <a:latin typeface="Arial" charset="0"/>
              </a:rPr>
              <a:t>Can print this on the worksheet</a:t>
            </a:r>
          </a:p>
        </p:txBody>
      </p:sp>
      <p:sp>
        <p:nvSpPr>
          <p:cNvPr id="32771" name="Slide Number Placeholder 3"/>
          <p:cNvSpPr>
            <a:spLocks noGrp="1"/>
          </p:cNvSpPr>
          <p:nvPr>
            <p:ph type="sldNum" sz="quarter" idx="5"/>
          </p:nvPr>
        </p:nvSpPr>
        <p:spPr>
          <a:noFill/>
        </p:spPr>
        <p:txBody>
          <a:bodyPr/>
          <a:lstStyle/>
          <a:p>
            <a:fld id="{D712946C-0B8E-4B3E-B8CC-E1627A7EF4DF}" type="slidenum">
              <a:rPr lang="en-US"/>
              <a:pPr/>
              <a:t>66</a:t>
            </a:fld>
            <a:endParaRPr lang="en-US"/>
          </a:p>
        </p:txBody>
      </p:sp>
      <p:sp>
        <p:nvSpPr>
          <p:cNvPr id="2" name="Date Placeholder 1"/>
          <p:cNvSpPr>
            <a:spLocks noGrp="1"/>
          </p:cNvSpPr>
          <p:nvPr>
            <p:ph type="dt" idx="10"/>
          </p:nvPr>
        </p:nvSpPr>
        <p:spPr/>
        <p:txBody>
          <a:bodyPr/>
          <a:lstStyle/>
          <a:p>
            <a:r>
              <a:rPr lang="en-US"/>
              <a:t>11/20/2019</a:t>
            </a:r>
          </a:p>
        </p:txBody>
      </p:sp>
    </p:spTree>
    <p:extLst>
      <p:ext uri="{BB962C8B-B14F-4D97-AF65-F5344CB8AC3E}">
        <p14:creationId xmlns:p14="http://schemas.microsoft.com/office/powerpoint/2010/main" val="39497059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67</a:t>
            </a:fld>
            <a:endParaRPr lang="en-US"/>
          </a:p>
        </p:txBody>
      </p:sp>
    </p:spTree>
    <p:extLst>
      <p:ext uri="{BB962C8B-B14F-4D97-AF65-F5344CB8AC3E}">
        <p14:creationId xmlns:p14="http://schemas.microsoft.com/office/powerpoint/2010/main" val="21546395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68</a:t>
            </a:fld>
            <a:endParaRPr lang="en-US"/>
          </a:p>
        </p:txBody>
      </p:sp>
    </p:spTree>
    <p:extLst>
      <p:ext uri="{BB962C8B-B14F-4D97-AF65-F5344CB8AC3E}">
        <p14:creationId xmlns:p14="http://schemas.microsoft.com/office/powerpoint/2010/main" val="22947062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69</a:t>
            </a:fld>
            <a:endParaRPr lang="en-US"/>
          </a:p>
        </p:txBody>
      </p:sp>
    </p:spTree>
    <p:extLst>
      <p:ext uri="{BB962C8B-B14F-4D97-AF65-F5344CB8AC3E}">
        <p14:creationId xmlns:p14="http://schemas.microsoft.com/office/powerpoint/2010/main" val="23390761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70</a:t>
            </a:fld>
            <a:endParaRPr lang="en-US"/>
          </a:p>
        </p:txBody>
      </p:sp>
    </p:spTree>
    <p:extLst>
      <p:ext uri="{BB962C8B-B14F-4D97-AF65-F5344CB8AC3E}">
        <p14:creationId xmlns:p14="http://schemas.microsoft.com/office/powerpoint/2010/main" val="17150417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71</a:t>
            </a:fld>
            <a:endParaRPr lang="en-US"/>
          </a:p>
        </p:txBody>
      </p:sp>
    </p:spTree>
    <p:extLst>
      <p:ext uri="{BB962C8B-B14F-4D97-AF65-F5344CB8AC3E}">
        <p14:creationId xmlns:p14="http://schemas.microsoft.com/office/powerpoint/2010/main" val="20658160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72</a:t>
            </a:fld>
            <a:endParaRPr lang="en-US"/>
          </a:p>
        </p:txBody>
      </p:sp>
    </p:spTree>
    <p:extLst>
      <p:ext uri="{BB962C8B-B14F-4D97-AF65-F5344CB8AC3E}">
        <p14:creationId xmlns:p14="http://schemas.microsoft.com/office/powerpoint/2010/main" val="19590684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73</a:t>
            </a:fld>
            <a:endParaRPr lang="en-US"/>
          </a:p>
        </p:txBody>
      </p:sp>
    </p:spTree>
    <p:extLst>
      <p:ext uri="{BB962C8B-B14F-4D97-AF65-F5344CB8AC3E}">
        <p14:creationId xmlns:p14="http://schemas.microsoft.com/office/powerpoint/2010/main" val="238471015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24458">
              <a:defRPr/>
            </a:pPr>
            <a:fld id="{A660FC8D-3FAB-384B-A523-F958535FCC05}" type="slidenum">
              <a:rPr lang="en-US">
                <a:solidFill>
                  <a:prstClr val="black"/>
                </a:solidFill>
                <a:latin typeface="Calibri" panose="020F0502020204030204"/>
              </a:rPr>
              <a:pPr defTabSz="924458">
                <a:defRPr/>
              </a:pPr>
              <a:t>74</a:t>
            </a:fld>
            <a:endParaRPr lang="en-US">
              <a:solidFill>
                <a:prstClr val="black"/>
              </a:solidFill>
              <a:latin typeface="Calibri" panose="020F0502020204030204"/>
            </a:endParaRPr>
          </a:p>
        </p:txBody>
      </p:sp>
    </p:spTree>
    <p:extLst>
      <p:ext uri="{BB962C8B-B14F-4D97-AF65-F5344CB8AC3E}">
        <p14:creationId xmlns:p14="http://schemas.microsoft.com/office/powerpoint/2010/main" val="16087260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24458">
              <a:defRPr/>
            </a:pPr>
            <a:fld id="{A660FC8D-3FAB-384B-A523-F958535FCC05}" type="slidenum">
              <a:rPr lang="en-US">
                <a:solidFill>
                  <a:prstClr val="black"/>
                </a:solidFill>
                <a:latin typeface="Calibri" panose="020F0502020204030204"/>
              </a:rPr>
              <a:pPr defTabSz="924458">
                <a:defRPr/>
              </a:pPr>
              <a:t>75</a:t>
            </a:fld>
            <a:endParaRPr lang="en-US">
              <a:solidFill>
                <a:prstClr val="black"/>
              </a:solidFill>
              <a:latin typeface="Calibri" panose="020F0502020204030204"/>
            </a:endParaRPr>
          </a:p>
        </p:txBody>
      </p:sp>
    </p:spTree>
    <p:extLst>
      <p:ext uri="{BB962C8B-B14F-4D97-AF65-F5344CB8AC3E}">
        <p14:creationId xmlns:p14="http://schemas.microsoft.com/office/powerpoint/2010/main" val="11968532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a:t>
            </a:r>
          </a:p>
        </p:txBody>
      </p:sp>
      <p:sp>
        <p:nvSpPr>
          <p:cNvPr id="4" name="Slide Number Placeholder 3"/>
          <p:cNvSpPr>
            <a:spLocks noGrp="1"/>
          </p:cNvSpPr>
          <p:nvPr>
            <p:ph type="sldNum" sz="quarter" idx="10"/>
          </p:nvPr>
        </p:nvSpPr>
        <p:spPr/>
        <p:txBody>
          <a:bodyPr/>
          <a:lstStyle/>
          <a:p>
            <a:pPr defTabSz="924458">
              <a:defRPr/>
            </a:pPr>
            <a:fld id="{93B336D0-BB87-4158-9DDA-BA914A234D18}" type="slidenum">
              <a:rPr lang="en-US">
                <a:solidFill>
                  <a:prstClr val="black"/>
                </a:solidFill>
                <a:latin typeface="Calibri" panose="020F0502020204030204"/>
              </a:rPr>
              <a:pPr defTabSz="924458">
                <a:defRPr/>
              </a:pPr>
              <a:t>76</a:t>
            </a:fld>
            <a:endParaRPr lang="en-US">
              <a:solidFill>
                <a:prstClr val="black"/>
              </a:solidFill>
              <a:latin typeface="Calibri" panose="020F0502020204030204"/>
            </a:endParaRPr>
          </a:p>
        </p:txBody>
      </p:sp>
    </p:spTree>
    <p:extLst>
      <p:ext uri="{BB962C8B-B14F-4D97-AF65-F5344CB8AC3E}">
        <p14:creationId xmlns:p14="http://schemas.microsoft.com/office/powerpoint/2010/main" val="20115795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24458">
              <a:defRPr/>
            </a:pPr>
            <a:fld id="{A660FC8D-3FAB-384B-A523-F958535FCC05}" type="slidenum">
              <a:rPr lang="en-US">
                <a:solidFill>
                  <a:prstClr val="black"/>
                </a:solidFill>
                <a:latin typeface="Calibri" panose="020F0502020204030204"/>
              </a:rPr>
              <a:pPr defTabSz="924458">
                <a:defRPr/>
              </a:pPr>
              <a:t>77</a:t>
            </a:fld>
            <a:endParaRPr lang="en-US">
              <a:solidFill>
                <a:prstClr val="black"/>
              </a:solidFill>
              <a:latin typeface="Calibri" panose="020F0502020204030204"/>
            </a:endParaRPr>
          </a:p>
        </p:txBody>
      </p:sp>
    </p:spTree>
    <p:extLst>
      <p:ext uri="{BB962C8B-B14F-4D97-AF65-F5344CB8AC3E}">
        <p14:creationId xmlns:p14="http://schemas.microsoft.com/office/powerpoint/2010/main" val="378857903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24458">
              <a:defRPr/>
            </a:pPr>
            <a:fld id="{A660FC8D-3FAB-384B-A523-F958535FCC05}" type="slidenum">
              <a:rPr lang="en-US">
                <a:solidFill>
                  <a:prstClr val="black"/>
                </a:solidFill>
                <a:latin typeface="Calibri" panose="020F0502020204030204"/>
              </a:rPr>
              <a:pPr defTabSz="924458">
                <a:defRPr/>
              </a:pPr>
              <a:t>78</a:t>
            </a:fld>
            <a:endParaRPr lang="en-US">
              <a:solidFill>
                <a:prstClr val="black"/>
              </a:solidFill>
              <a:latin typeface="Calibri" panose="020F0502020204030204"/>
            </a:endParaRPr>
          </a:p>
        </p:txBody>
      </p:sp>
    </p:spTree>
    <p:extLst>
      <p:ext uri="{BB962C8B-B14F-4D97-AF65-F5344CB8AC3E}">
        <p14:creationId xmlns:p14="http://schemas.microsoft.com/office/powerpoint/2010/main" val="28313517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924458">
              <a:defRPr/>
            </a:pPr>
            <a:fld id="{A660FC8D-3FAB-384B-A523-F958535FCC05}" type="slidenum">
              <a:rPr lang="en-US">
                <a:solidFill>
                  <a:prstClr val="black"/>
                </a:solidFill>
                <a:latin typeface="Calibri" panose="020F0502020204030204"/>
              </a:rPr>
              <a:pPr defTabSz="924458">
                <a:defRPr/>
              </a:pPr>
              <a:t>79</a:t>
            </a:fld>
            <a:endParaRPr lang="en-US">
              <a:solidFill>
                <a:prstClr val="black"/>
              </a:solidFill>
              <a:latin typeface="Calibri" panose="020F0502020204030204"/>
            </a:endParaRPr>
          </a:p>
        </p:txBody>
      </p:sp>
    </p:spTree>
    <p:extLst>
      <p:ext uri="{BB962C8B-B14F-4D97-AF65-F5344CB8AC3E}">
        <p14:creationId xmlns:p14="http://schemas.microsoft.com/office/powerpoint/2010/main" val="290516486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www.geeksforgeeks.org</a:t>
            </a:r>
            <a:r>
              <a:rPr lang="en-US" dirty="0"/>
              <a:t>/topological-sorting/</a:t>
            </a:r>
          </a:p>
        </p:txBody>
      </p:sp>
      <p:sp>
        <p:nvSpPr>
          <p:cNvPr id="4" name="Slide Number Placeholder 3"/>
          <p:cNvSpPr>
            <a:spLocks noGrp="1"/>
          </p:cNvSpPr>
          <p:nvPr>
            <p:ph type="sldNum" sz="quarter" idx="5"/>
          </p:nvPr>
        </p:nvSpPr>
        <p:spPr/>
        <p:txBody>
          <a:bodyPr/>
          <a:lstStyle/>
          <a:p>
            <a:pPr defTabSz="924458">
              <a:defRPr/>
            </a:pPr>
            <a:fld id="{A660FC8D-3FAB-384B-A523-F958535FCC05}" type="slidenum">
              <a:rPr lang="en-US">
                <a:solidFill>
                  <a:prstClr val="black"/>
                </a:solidFill>
                <a:latin typeface="Calibri" panose="020F0502020204030204"/>
              </a:rPr>
              <a:pPr defTabSz="924458">
                <a:defRPr/>
              </a:pPr>
              <a:t>80</a:t>
            </a:fld>
            <a:endParaRPr lang="en-US">
              <a:solidFill>
                <a:prstClr val="black"/>
              </a:solidFill>
              <a:latin typeface="Calibri" panose="020F0502020204030204"/>
            </a:endParaRPr>
          </a:p>
        </p:txBody>
      </p:sp>
    </p:spTree>
    <p:extLst>
      <p:ext uri="{BB962C8B-B14F-4D97-AF65-F5344CB8AC3E}">
        <p14:creationId xmlns:p14="http://schemas.microsoft.com/office/powerpoint/2010/main" val="8337876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99668982c_1_693:notes"/>
          <p:cNvSpPr>
            <a:spLocks noGrp="1" noRot="1" noChangeAspect="1"/>
          </p:cNvSpPr>
          <p:nvPr>
            <p:ph type="sldImg" idx="2"/>
          </p:nvPr>
        </p:nvSpPr>
        <p:spPr>
          <a:xfrm>
            <a:off x="342900" y="696913"/>
            <a:ext cx="6196013"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99668982c_1_693:notes"/>
          <p:cNvSpPr txBox="1">
            <a:spLocks noGrp="1"/>
          </p:cNvSpPr>
          <p:nvPr>
            <p:ph type="body" idx="1"/>
          </p:nvPr>
        </p:nvSpPr>
        <p:spPr>
          <a:xfrm>
            <a:off x="688182" y="4415790"/>
            <a:ext cx="5505450" cy="4183380"/>
          </a:xfrm>
          <a:prstGeom prst="rect">
            <a:avLst/>
          </a:prstGeom>
        </p:spPr>
        <p:txBody>
          <a:bodyPr spcFirstLastPara="1" wrap="square" lIns="92431" tIns="92431" rIns="92431" bIns="92431" anchor="t" anchorCtr="0">
            <a:noAutofit/>
          </a:bodyPr>
          <a:lstStyle/>
          <a:p>
            <a:endParaRPr/>
          </a:p>
        </p:txBody>
      </p:sp>
    </p:spTree>
    <p:extLst>
      <p:ext uri="{BB962C8B-B14F-4D97-AF65-F5344CB8AC3E}">
        <p14:creationId xmlns:p14="http://schemas.microsoft.com/office/powerpoint/2010/main" val="289243332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99668982c_1_899:notes"/>
          <p:cNvSpPr>
            <a:spLocks noGrp="1" noRot="1" noChangeAspect="1"/>
          </p:cNvSpPr>
          <p:nvPr>
            <p:ph type="sldImg" idx="2"/>
          </p:nvPr>
        </p:nvSpPr>
        <p:spPr>
          <a:xfrm>
            <a:off x="342900" y="696913"/>
            <a:ext cx="6196013"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99668982c_1_899:notes"/>
          <p:cNvSpPr txBox="1">
            <a:spLocks noGrp="1"/>
          </p:cNvSpPr>
          <p:nvPr>
            <p:ph type="body" idx="1"/>
          </p:nvPr>
        </p:nvSpPr>
        <p:spPr>
          <a:xfrm>
            <a:off x="688182" y="4415790"/>
            <a:ext cx="5505450" cy="4183380"/>
          </a:xfrm>
          <a:prstGeom prst="rect">
            <a:avLst/>
          </a:prstGeom>
        </p:spPr>
        <p:txBody>
          <a:bodyPr spcFirstLastPara="1" wrap="square" lIns="92431" tIns="92431" rIns="92431" bIns="92431" anchor="t" anchorCtr="0">
            <a:noAutofit/>
          </a:bodyPr>
          <a:lstStyle/>
          <a:p>
            <a:endParaRPr/>
          </a:p>
        </p:txBody>
      </p:sp>
    </p:spTree>
    <p:extLst>
      <p:ext uri="{BB962C8B-B14F-4D97-AF65-F5344CB8AC3E}">
        <p14:creationId xmlns:p14="http://schemas.microsoft.com/office/powerpoint/2010/main" val="25207056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99668982c_1_401:notes"/>
          <p:cNvSpPr>
            <a:spLocks noGrp="1" noRot="1" noChangeAspect="1"/>
          </p:cNvSpPr>
          <p:nvPr>
            <p:ph type="sldImg" idx="2"/>
          </p:nvPr>
        </p:nvSpPr>
        <p:spPr>
          <a:xfrm>
            <a:off x="342900" y="696913"/>
            <a:ext cx="6196013"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99668982c_1_401:notes"/>
          <p:cNvSpPr txBox="1">
            <a:spLocks noGrp="1"/>
          </p:cNvSpPr>
          <p:nvPr>
            <p:ph type="body" idx="1"/>
          </p:nvPr>
        </p:nvSpPr>
        <p:spPr>
          <a:xfrm>
            <a:off x="688182" y="4415790"/>
            <a:ext cx="5505450" cy="4183380"/>
          </a:xfrm>
          <a:prstGeom prst="rect">
            <a:avLst/>
          </a:prstGeom>
        </p:spPr>
        <p:txBody>
          <a:bodyPr spcFirstLastPara="1" wrap="square" lIns="92431" tIns="92431" rIns="92431" bIns="92431" anchor="t" anchorCtr="0">
            <a:noAutofit/>
          </a:bodyPr>
          <a:lstStyle/>
          <a:p>
            <a:endParaRPr/>
          </a:p>
        </p:txBody>
      </p:sp>
    </p:spTree>
    <p:extLst>
      <p:ext uri="{BB962C8B-B14F-4D97-AF65-F5344CB8AC3E}">
        <p14:creationId xmlns:p14="http://schemas.microsoft.com/office/powerpoint/2010/main" val="40412703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84</a:t>
            </a:fld>
            <a:endParaRPr lang="en-US"/>
          </a:p>
        </p:txBody>
      </p:sp>
    </p:spTree>
    <p:extLst>
      <p:ext uri="{BB962C8B-B14F-4D97-AF65-F5344CB8AC3E}">
        <p14:creationId xmlns:p14="http://schemas.microsoft.com/office/powerpoint/2010/main" val="162523775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85</a:t>
            </a:fld>
            <a:endParaRPr lang="en-US"/>
          </a:p>
        </p:txBody>
      </p:sp>
    </p:spTree>
    <p:extLst>
      <p:ext uri="{BB962C8B-B14F-4D97-AF65-F5344CB8AC3E}">
        <p14:creationId xmlns:p14="http://schemas.microsoft.com/office/powerpoint/2010/main" val="271574881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86</a:t>
            </a:fld>
            <a:endParaRPr lang="en-US"/>
          </a:p>
        </p:txBody>
      </p:sp>
    </p:spTree>
    <p:extLst>
      <p:ext uri="{BB962C8B-B14F-4D97-AF65-F5344CB8AC3E}">
        <p14:creationId xmlns:p14="http://schemas.microsoft.com/office/powerpoint/2010/main" val="405589588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87</a:t>
            </a:fld>
            <a:endParaRPr lang="en-US"/>
          </a:p>
        </p:txBody>
      </p:sp>
    </p:spTree>
    <p:extLst>
      <p:ext uri="{BB962C8B-B14F-4D97-AF65-F5344CB8AC3E}">
        <p14:creationId xmlns:p14="http://schemas.microsoft.com/office/powerpoint/2010/main" val="23064042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88</a:t>
            </a:fld>
            <a:endParaRPr lang="en-US"/>
          </a:p>
        </p:txBody>
      </p:sp>
    </p:spTree>
    <p:extLst>
      <p:ext uri="{BB962C8B-B14F-4D97-AF65-F5344CB8AC3E}">
        <p14:creationId xmlns:p14="http://schemas.microsoft.com/office/powerpoint/2010/main" val="218362905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89</a:t>
            </a:fld>
            <a:endParaRPr lang="en-US"/>
          </a:p>
        </p:txBody>
      </p:sp>
    </p:spTree>
    <p:extLst>
      <p:ext uri="{BB962C8B-B14F-4D97-AF65-F5344CB8AC3E}">
        <p14:creationId xmlns:p14="http://schemas.microsoft.com/office/powerpoint/2010/main" val="16687535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90</a:t>
            </a:fld>
            <a:endParaRPr lang="en-US"/>
          </a:p>
        </p:txBody>
      </p:sp>
    </p:spTree>
    <p:extLst>
      <p:ext uri="{BB962C8B-B14F-4D97-AF65-F5344CB8AC3E}">
        <p14:creationId xmlns:p14="http://schemas.microsoft.com/office/powerpoint/2010/main" val="118094224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91</a:t>
            </a:fld>
            <a:endParaRPr lang="en-US"/>
          </a:p>
        </p:txBody>
      </p:sp>
    </p:spTree>
    <p:extLst>
      <p:ext uri="{BB962C8B-B14F-4D97-AF65-F5344CB8AC3E}">
        <p14:creationId xmlns:p14="http://schemas.microsoft.com/office/powerpoint/2010/main" val="352678779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0FC8D-3FAB-384B-A523-F958535FCC05}" type="slidenum">
              <a:rPr lang="en-US" smtClean="0"/>
              <a:t>92</a:t>
            </a:fld>
            <a:endParaRPr lang="en-US"/>
          </a:p>
        </p:txBody>
      </p:sp>
    </p:spTree>
    <p:extLst>
      <p:ext uri="{BB962C8B-B14F-4D97-AF65-F5344CB8AC3E}">
        <p14:creationId xmlns:p14="http://schemas.microsoft.com/office/powerpoint/2010/main" val="379049846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93</a:t>
            </a:fld>
            <a:endParaRPr lang="en-US"/>
          </a:p>
        </p:txBody>
      </p:sp>
    </p:spTree>
    <p:extLst>
      <p:ext uri="{BB962C8B-B14F-4D97-AF65-F5344CB8AC3E}">
        <p14:creationId xmlns:p14="http://schemas.microsoft.com/office/powerpoint/2010/main" val="416469793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660FC8D-3FAB-384B-A523-F958535FCC05}" type="slidenum">
              <a:rPr lang="en-US" smtClean="0"/>
              <a:t>94</a:t>
            </a:fld>
            <a:endParaRPr lang="en-US"/>
          </a:p>
        </p:txBody>
      </p:sp>
    </p:spTree>
    <p:extLst>
      <p:ext uri="{BB962C8B-B14F-4D97-AF65-F5344CB8AC3E}">
        <p14:creationId xmlns:p14="http://schemas.microsoft.com/office/powerpoint/2010/main" val="11574306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9A660E5-0D31-D049-86B2-0794F6A9F71E}"/>
              </a:ext>
            </a:extLst>
          </p:cNvPr>
          <p:cNvSpPr/>
          <p:nvPr userDrawn="1"/>
        </p:nvSpPr>
        <p:spPr>
          <a:xfrm>
            <a:off x="-75414" y="0"/>
            <a:ext cx="12343614" cy="6858000"/>
          </a:xfrm>
          <a:prstGeom prst="rect">
            <a:avLst/>
          </a:prstGeom>
          <a:solidFill>
            <a:srgbClr val="2E235D"/>
          </a:solidFill>
          <a:ln>
            <a:solidFill>
              <a:srgbClr val="2E23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58C267F-E2C0-6546-AB36-6C9268BDB617}"/>
              </a:ext>
            </a:extLst>
          </p:cNvPr>
          <p:cNvPicPr>
            <a:picLocks noChangeAspect="1"/>
          </p:cNvPicPr>
          <p:nvPr userDrawn="1"/>
        </p:nvPicPr>
        <p:blipFill>
          <a:blip r:embed="rId2"/>
          <a:srcRect/>
          <a:stretch/>
        </p:blipFill>
        <p:spPr>
          <a:xfrm>
            <a:off x="-86266" y="-90528"/>
            <a:ext cx="12341049" cy="7082689"/>
          </a:xfrm>
          <a:prstGeom prst="rect">
            <a:avLst/>
          </a:prstGeom>
        </p:spPr>
      </p:pic>
      <p:sp>
        <p:nvSpPr>
          <p:cNvPr id="9" name="Title 8">
            <a:extLst>
              <a:ext uri="{FF2B5EF4-FFF2-40B4-BE49-F238E27FC236}">
                <a16:creationId xmlns:a16="http://schemas.microsoft.com/office/drawing/2014/main" id="{39E575A9-56CD-5A42-B9C7-1068F92289D5}"/>
              </a:ext>
            </a:extLst>
          </p:cNvPr>
          <p:cNvSpPr>
            <a:spLocks noGrp="1"/>
          </p:cNvSpPr>
          <p:nvPr>
            <p:ph type="title"/>
          </p:nvPr>
        </p:nvSpPr>
        <p:spPr>
          <a:xfrm>
            <a:off x="292977" y="4013370"/>
            <a:ext cx="6212925" cy="1954786"/>
          </a:xfrm>
        </p:spPr>
        <p:txBody>
          <a:bodyPr anchor="t">
            <a:noAutofit/>
          </a:bodyPr>
          <a:lstStyle>
            <a:lvl1pPr>
              <a:defRPr sz="6000" b="0" i="0">
                <a:solidFill>
                  <a:srgbClr val="F0F0F0"/>
                </a:solidFill>
                <a:latin typeface="Montserrat SemiBold" pitchFamily="2" charset="77"/>
              </a:defRPr>
            </a:lvl1pPr>
          </a:lstStyle>
          <a:p>
            <a:r>
              <a:rPr lang="en-US" dirty="0"/>
              <a:t>Click to edit Master title style</a:t>
            </a:r>
          </a:p>
        </p:txBody>
      </p:sp>
      <p:sp>
        <p:nvSpPr>
          <p:cNvPr id="11" name="TextBox 10">
            <a:extLst>
              <a:ext uri="{FF2B5EF4-FFF2-40B4-BE49-F238E27FC236}">
                <a16:creationId xmlns:a16="http://schemas.microsoft.com/office/drawing/2014/main" id="{4AB47C65-C622-BE47-AE97-E148F4F3EA4E}"/>
              </a:ext>
            </a:extLst>
          </p:cNvPr>
          <p:cNvSpPr txBox="1"/>
          <p:nvPr userDrawn="1"/>
        </p:nvSpPr>
        <p:spPr>
          <a:xfrm>
            <a:off x="292977" y="3182200"/>
            <a:ext cx="3154416" cy="646331"/>
          </a:xfrm>
          <a:prstGeom prst="rect">
            <a:avLst/>
          </a:prstGeom>
          <a:noFill/>
        </p:spPr>
        <p:txBody>
          <a:bodyPr wrap="square" rtlCol="0">
            <a:spAutoFit/>
          </a:bodyPr>
          <a:lstStyle/>
          <a:p>
            <a:r>
              <a:rPr lang="en-US" sz="3600" b="1" i="0" spc="100" baseline="0" dirty="0">
                <a:solidFill>
                  <a:srgbClr val="F0F0F0"/>
                </a:solidFill>
                <a:latin typeface="Montserrat ExtraBold" pitchFamily="2" charset="77"/>
              </a:rPr>
              <a:t>CSE 373</a:t>
            </a:r>
          </a:p>
        </p:txBody>
      </p:sp>
      <p:sp>
        <p:nvSpPr>
          <p:cNvPr id="4" name="Rounded Rectangle 3">
            <a:extLst>
              <a:ext uri="{FF2B5EF4-FFF2-40B4-BE49-F238E27FC236}">
                <a16:creationId xmlns:a16="http://schemas.microsoft.com/office/drawing/2014/main" id="{F7A9EB4D-77DA-A446-AC45-F12975CF7B81}"/>
              </a:ext>
            </a:extLst>
          </p:cNvPr>
          <p:cNvSpPr/>
          <p:nvPr userDrawn="1"/>
        </p:nvSpPr>
        <p:spPr>
          <a:xfrm>
            <a:off x="420128" y="2753848"/>
            <a:ext cx="1202483" cy="420130"/>
          </a:xfrm>
          <a:prstGeom prst="roundRect">
            <a:avLst/>
          </a:prstGeom>
          <a:solidFill>
            <a:srgbClr val="FA82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0" i="0" spc="300" dirty="0">
                <a:latin typeface="Montserrat" pitchFamily="2" charset="77"/>
              </a:rPr>
              <a:t>LEC 16</a:t>
            </a:r>
          </a:p>
        </p:txBody>
      </p:sp>
      <p:sp>
        <p:nvSpPr>
          <p:cNvPr id="14" name="Rounded Rectangle 13">
            <a:extLst>
              <a:ext uri="{FF2B5EF4-FFF2-40B4-BE49-F238E27FC236}">
                <a16:creationId xmlns:a16="http://schemas.microsoft.com/office/drawing/2014/main" id="{210BF8C1-33EA-FF4C-9385-4D1B3F6A49A9}"/>
              </a:ext>
            </a:extLst>
          </p:cNvPr>
          <p:cNvSpPr/>
          <p:nvPr userDrawn="1"/>
        </p:nvSpPr>
        <p:spPr>
          <a:xfrm>
            <a:off x="7167842" y="1236372"/>
            <a:ext cx="4929751" cy="5229164"/>
          </a:xfrm>
          <a:prstGeom prst="roundRect">
            <a:avLst>
              <a:gd name="adj" fmla="val 1114"/>
            </a:avLst>
          </a:prstGeom>
          <a:solidFill>
            <a:srgbClr val="FAFAFA"/>
          </a:solidFill>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5E27F7C-03A3-DC41-AF14-D7B391524455}"/>
              </a:ext>
            </a:extLst>
          </p:cNvPr>
          <p:cNvSpPr txBox="1"/>
          <p:nvPr userDrawn="1"/>
        </p:nvSpPr>
        <p:spPr>
          <a:xfrm>
            <a:off x="8346734" y="5086747"/>
            <a:ext cx="3335445" cy="955461"/>
          </a:xfrm>
          <a:prstGeom prst="rect">
            <a:avLst/>
          </a:prstGeom>
          <a:noFill/>
        </p:spPr>
        <p:txBody>
          <a:bodyPr wrap="square" numCol="2" rtlCol="0">
            <a:noAutofit/>
          </a:bodyPr>
          <a:lstStyle/>
          <a:p>
            <a:r>
              <a:rPr lang="en-US" sz="1000" b="1" i="0" dirty="0">
                <a:solidFill>
                  <a:schemeClr val="tx1">
                    <a:lumMod val="65000"/>
                    <a:lumOff val="35000"/>
                  </a:schemeClr>
                </a:solidFill>
                <a:latin typeface="Montserrat SemiBold" pitchFamily="2" charset="77"/>
              </a:rPr>
              <a:t>Ken Aragon</a:t>
            </a:r>
            <a:br>
              <a:rPr lang="en-US" sz="1000" b="1" i="0" dirty="0">
                <a:solidFill>
                  <a:schemeClr val="tx1">
                    <a:lumMod val="65000"/>
                    <a:lumOff val="35000"/>
                  </a:schemeClr>
                </a:solidFill>
                <a:latin typeface="Montserrat SemiBold" pitchFamily="2" charset="77"/>
              </a:rPr>
            </a:br>
            <a:r>
              <a:rPr lang="en-US" sz="1000" b="1" i="0" dirty="0">
                <a:solidFill>
                  <a:schemeClr val="tx1">
                    <a:lumMod val="65000"/>
                    <a:lumOff val="35000"/>
                  </a:schemeClr>
                </a:solidFill>
                <a:latin typeface="Montserrat SemiBold" pitchFamily="2" charset="77"/>
              </a:rPr>
              <a:t>Khushi Chaudhari</a:t>
            </a:r>
          </a:p>
          <a:p>
            <a:r>
              <a:rPr lang="en-US" sz="1000" b="1" i="0" dirty="0">
                <a:solidFill>
                  <a:schemeClr val="tx1">
                    <a:lumMod val="65000"/>
                    <a:lumOff val="35000"/>
                  </a:schemeClr>
                </a:solidFill>
                <a:latin typeface="Montserrat SemiBold" pitchFamily="2" charset="77"/>
              </a:rPr>
              <a:t>Joyce </a:t>
            </a:r>
            <a:r>
              <a:rPr lang="en-US" sz="1000" b="1" i="0" dirty="0" err="1">
                <a:solidFill>
                  <a:schemeClr val="tx1">
                    <a:lumMod val="65000"/>
                    <a:lumOff val="35000"/>
                  </a:schemeClr>
                </a:solidFill>
                <a:latin typeface="Montserrat SemiBold" pitchFamily="2" charset="77"/>
              </a:rPr>
              <a:t>Elauria</a:t>
            </a:r>
            <a:endParaRPr lang="en-US" sz="1000" b="1" i="0" dirty="0">
              <a:solidFill>
                <a:schemeClr val="tx1">
                  <a:lumMod val="65000"/>
                  <a:lumOff val="35000"/>
                </a:schemeClr>
              </a:solidFill>
              <a:latin typeface="Montserrat SemiBold" pitchFamily="2" charset="77"/>
            </a:endParaRPr>
          </a:p>
          <a:p>
            <a:r>
              <a:rPr lang="en-US" sz="1000" b="1" i="0" dirty="0">
                <a:solidFill>
                  <a:schemeClr val="tx1">
                    <a:lumMod val="65000"/>
                    <a:lumOff val="35000"/>
                  </a:schemeClr>
                </a:solidFill>
                <a:latin typeface="Montserrat SemiBold" pitchFamily="2" charset="77"/>
              </a:rPr>
              <a:t>Santino Iannone</a:t>
            </a:r>
          </a:p>
          <a:p>
            <a:r>
              <a:rPr lang="en-US" sz="1000" b="1" i="0" dirty="0">
                <a:solidFill>
                  <a:schemeClr val="tx1">
                    <a:lumMod val="65000"/>
                    <a:lumOff val="35000"/>
                  </a:schemeClr>
                </a:solidFill>
                <a:latin typeface="Montserrat SemiBold" pitchFamily="2" charset="77"/>
              </a:rPr>
              <a:t>Leona </a:t>
            </a:r>
            <a:r>
              <a:rPr lang="en-US" sz="1000" b="1" i="0" dirty="0" err="1">
                <a:solidFill>
                  <a:schemeClr val="tx1">
                    <a:lumMod val="65000"/>
                    <a:lumOff val="35000"/>
                  </a:schemeClr>
                </a:solidFill>
                <a:latin typeface="Montserrat SemiBold" pitchFamily="2" charset="77"/>
              </a:rPr>
              <a:t>Kazi</a:t>
            </a:r>
            <a:endParaRPr lang="en-US" sz="1000" b="1" i="0" dirty="0">
              <a:solidFill>
                <a:schemeClr val="tx1">
                  <a:lumMod val="65000"/>
                  <a:lumOff val="35000"/>
                </a:schemeClr>
              </a:solidFill>
              <a:latin typeface="Montserrat SemiBold" pitchFamily="2" charset="77"/>
            </a:endParaRPr>
          </a:p>
          <a:p>
            <a:r>
              <a:rPr lang="en-US" sz="1000" b="1" i="0" dirty="0">
                <a:solidFill>
                  <a:schemeClr val="tx1">
                    <a:lumMod val="65000"/>
                    <a:lumOff val="35000"/>
                  </a:schemeClr>
                </a:solidFill>
                <a:latin typeface="Montserrat SemiBold" pitchFamily="2" charset="77"/>
              </a:rPr>
              <a:t>Nathan </a:t>
            </a:r>
            <a:r>
              <a:rPr lang="en-US" sz="1000" b="1" i="0" dirty="0" err="1">
                <a:solidFill>
                  <a:schemeClr val="tx1">
                    <a:lumMod val="65000"/>
                    <a:lumOff val="35000"/>
                  </a:schemeClr>
                </a:solidFill>
                <a:latin typeface="Montserrat SemiBold" pitchFamily="2" charset="77"/>
              </a:rPr>
              <a:t>Lipiarski</a:t>
            </a:r>
            <a:endParaRPr lang="en-US" sz="1000" b="1" i="0" dirty="0">
              <a:solidFill>
                <a:schemeClr val="tx1">
                  <a:lumMod val="65000"/>
                  <a:lumOff val="35000"/>
                </a:schemeClr>
              </a:solidFill>
              <a:latin typeface="Montserrat SemiBold" pitchFamily="2" charset="77"/>
            </a:endParaRPr>
          </a:p>
          <a:p>
            <a:r>
              <a:rPr lang="en-US" sz="1000" b="1" i="0" dirty="0">
                <a:solidFill>
                  <a:schemeClr val="tx1">
                    <a:lumMod val="65000"/>
                    <a:lumOff val="35000"/>
                  </a:schemeClr>
                </a:solidFill>
                <a:latin typeface="Montserrat SemiBold" pitchFamily="2" charset="77"/>
              </a:rPr>
              <a:t>Sam Long</a:t>
            </a:r>
          </a:p>
          <a:p>
            <a:r>
              <a:rPr lang="en-US" sz="1000" b="1" i="0" dirty="0">
                <a:solidFill>
                  <a:schemeClr val="tx1">
                    <a:lumMod val="65000"/>
                    <a:lumOff val="35000"/>
                  </a:schemeClr>
                </a:solidFill>
                <a:latin typeface="Montserrat SemiBold" pitchFamily="2" charset="77"/>
              </a:rPr>
              <a:t>Amanda Park</a:t>
            </a:r>
          </a:p>
          <a:p>
            <a:r>
              <a:rPr lang="en-US" sz="1000" b="1" i="0" dirty="0">
                <a:solidFill>
                  <a:schemeClr val="tx1">
                    <a:lumMod val="65000"/>
                    <a:lumOff val="35000"/>
                  </a:schemeClr>
                </a:solidFill>
                <a:latin typeface="Montserrat SemiBold" pitchFamily="2" charset="77"/>
              </a:rPr>
              <a:t>Paul Pham</a:t>
            </a:r>
          </a:p>
          <a:p>
            <a:r>
              <a:rPr lang="en-US" sz="1000" b="1" i="0" dirty="0">
                <a:solidFill>
                  <a:schemeClr val="tx1">
                    <a:lumMod val="65000"/>
                    <a:lumOff val="35000"/>
                  </a:schemeClr>
                </a:solidFill>
                <a:latin typeface="Montserrat SemiBold" pitchFamily="2" charset="77"/>
              </a:rPr>
              <a:t>Mitchell Szeto</a:t>
            </a:r>
          </a:p>
          <a:p>
            <a:r>
              <a:rPr lang="en-US" sz="1000" b="1" i="0" dirty="0" err="1">
                <a:solidFill>
                  <a:schemeClr val="tx1">
                    <a:lumMod val="65000"/>
                    <a:lumOff val="35000"/>
                  </a:schemeClr>
                </a:solidFill>
                <a:latin typeface="Montserrat SemiBold" pitchFamily="2" charset="77"/>
              </a:rPr>
              <a:t>Batina</a:t>
            </a:r>
            <a:r>
              <a:rPr lang="en-US" sz="1000" b="1" i="0" dirty="0">
                <a:solidFill>
                  <a:schemeClr val="tx1">
                    <a:lumMod val="65000"/>
                    <a:lumOff val="35000"/>
                  </a:schemeClr>
                </a:solidFill>
                <a:latin typeface="Montserrat SemiBold" pitchFamily="2" charset="77"/>
              </a:rPr>
              <a:t> </a:t>
            </a:r>
            <a:r>
              <a:rPr lang="en-US" sz="1000" b="1" i="0" dirty="0" err="1">
                <a:solidFill>
                  <a:schemeClr val="tx1">
                    <a:lumMod val="65000"/>
                    <a:lumOff val="35000"/>
                  </a:schemeClr>
                </a:solidFill>
                <a:latin typeface="Montserrat SemiBold" pitchFamily="2" charset="77"/>
              </a:rPr>
              <a:t>Shikhalieva</a:t>
            </a:r>
            <a:endParaRPr lang="en-US" sz="1000" b="1" i="0" dirty="0">
              <a:solidFill>
                <a:schemeClr val="tx1">
                  <a:lumMod val="65000"/>
                  <a:lumOff val="35000"/>
                </a:schemeClr>
              </a:solidFill>
              <a:latin typeface="Montserrat SemiBold" pitchFamily="2" charset="77"/>
            </a:endParaRPr>
          </a:p>
          <a:p>
            <a:r>
              <a:rPr lang="en-US" sz="1000" b="1" i="0" dirty="0">
                <a:solidFill>
                  <a:schemeClr val="tx1">
                    <a:lumMod val="65000"/>
                    <a:lumOff val="35000"/>
                  </a:schemeClr>
                </a:solidFill>
                <a:latin typeface="Montserrat SemiBold" pitchFamily="2" charset="77"/>
              </a:rPr>
              <a:t>Ryan Siu</a:t>
            </a:r>
          </a:p>
          <a:p>
            <a:r>
              <a:rPr lang="en-US" sz="1000" b="1" i="0" dirty="0">
                <a:solidFill>
                  <a:schemeClr val="tx1">
                    <a:lumMod val="65000"/>
                    <a:lumOff val="35000"/>
                  </a:schemeClr>
                </a:solidFill>
                <a:latin typeface="Montserrat SemiBold" pitchFamily="2" charset="77"/>
              </a:rPr>
              <a:t>Elena </a:t>
            </a:r>
            <a:r>
              <a:rPr lang="en-US" sz="1000" b="1" i="0" dirty="0" err="1">
                <a:solidFill>
                  <a:schemeClr val="tx1">
                    <a:lumMod val="65000"/>
                    <a:lumOff val="35000"/>
                  </a:schemeClr>
                </a:solidFill>
                <a:latin typeface="Montserrat SemiBold" pitchFamily="2" charset="77"/>
              </a:rPr>
              <a:t>Spasova</a:t>
            </a:r>
            <a:endParaRPr lang="en-US" sz="1000" b="1" i="0" dirty="0">
              <a:solidFill>
                <a:schemeClr val="tx1">
                  <a:lumMod val="65000"/>
                  <a:lumOff val="35000"/>
                </a:schemeClr>
              </a:solidFill>
              <a:latin typeface="Montserrat SemiBold" pitchFamily="2" charset="77"/>
            </a:endParaRPr>
          </a:p>
          <a:p>
            <a:r>
              <a:rPr lang="en-US" sz="1000" b="1" i="0" dirty="0">
                <a:solidFill>
                  <a:schemeClr val="tx1">
                    <a:lumMod val="65000"/>
                    <a:lumOff val="35000"/>
                  </a:schemeClr>
                </a:solidFill>
                <a:latin typeface="Montserrat SemiBold" pitchFamily="2" charset="77"/>
              </a:rPr>
              <a:t>Alex Teng</a:t>
            </a:r>
          </a:p>
          <a:p>
            <a:r>
              <a:rPr lang="en-US" sz="1000" b="1" i="0" dirty="0" err="1">
                <a:solidFill>
                  <a:schemeClr val="tx1">
                    <a:lumMod val="65000"/>
                    <a:lumOff val="35000"/>
                  </a:schemeClr>
                </a:solidFill>
                <a:latin typeface="Montserrat SemiBold" pitchFamily="2" charset="77"/>
              </a:rPr>
              <a:t>Blarry</a:t>
            </a:r>
            <a:r>
              <a:rPr lang="en-US" sz="1000" b="1" i="0" dirty="0">
                <a:solidFill>
                  <a:schemeClr val="tx1">
                    <a:lumMod val="65000"/>
                    <a:lumOff val="35000"/>
                  </a:schemeClr>
                </a:solidFill>
                <a:latin typeface="Montserrat SemiBold" pitchFamily="2" charset="77"/>
              </a:rPr>
              <a:t> Wang</a:t>
            </a:r>
          </a:p>
          <a:p>
            <a:r>
              <a:rPr lang="en-US" sz="1000" b="1" i="0" dirty="0">
                <a:solidFill>
                  <a:schemeClr val="tx1">
                    <a:lumMod val="65000"/>
                    <a:lumOff val="35000"/>
                  </a:schemeClr>
                </a:solidFill>
                <a:latin typeface="Montserrat SemiBold" pitchFamily="2" charset="77"/>
              </a:rPr>
              <a:t>Aileen Zeng</a:t>
            </a:r>
          </a:p>
        </p:txBody>
      </p:sp>
      <p:sp>
        <p:nvSpPr>
          <p:cNvPr id="20" name="Rectangle 19">
            <a:extLst>
              <a:ext uri="{FF2B5EF4-FFF2-40B4-BE49-F238E27FC236}">
                <a16:creationId xmlns:a16="http://schemas.microsoft.com/office/drawing/2014/main" id="{BF3ACD7A-7D92-C84D-8659-016681954B43}"/>
              </a:ext>
            </a:extLst>
          </p:cNvPr>
          <p:cNvSpPr/>
          <p:nvPr userDrawn="1"/>
        </p:nvSpPr>
        <p:spPr>
          <a:xfrm>
            <a:off x="8346734" y="4819413"/>
            <a:ext cx="1565502" cy="276999"/>
          </a:xfrm>
          <a:prstGeom prst="rect">
            <a:avLst/>
          </a:prstGeom>
        </p:spPr>
        <p:txBody>
          <a:bodyPr wrap="square">
            <a:spAutoFit/>
          </a:bodyPr>
          <a:lstStyle/>
          <a:p>
            <a:r>
              <a:rPr lang="en-US" sz="1200" b="1" i="0" dirty="0">
                <a:solidFill>
                  <a:schemeClr val="tx1">
                    <a:lumMod val="65000"/>
                    <a:lumOff val="35000"/>
                  </a:schemeClr>
                </a:solidFill>
                <a:latin typeface="Montserrat SemiBold" pitchFamily="2" charset="77"/>
              </a:rPr>
              <a:t>Hunter Schafer</a:t>
            </a:r>
          </a:p>
        </p:txBody>
      </p:sp>
      <p:sp>
        <p:nvSpPr>
          <p:cNvPr id="21" name="Rectangle 20">
            <a:extLst>
              <a:ext uri="{FF2B5EF4-FFF2-40B4-BE49-F238E27FC236}">
                <a16:creationId xmlns:a16="http://schemas.microsoft.com/office/drawing/2014/main" id="{4F8214D2-4528-324D-B516-6E91249FAF81}"/>
              </a:ext>
            </a:extLst>
          </p:cNvPr>
          <p:cNvSpPr/>
          <p:nvPr userDrawn="1"/>
        </p:nvSpPr>
        <p:spPr>
          <a:xfrm>
            <a:off x="7360568" y="4819413"/>
            <a:ext cx="925968" cy="276999"/>
          </a:xfrm>
          <a:prstGeom prst="rect">
            <a:avLst/>
          </a:prstGeom>
        </p:spPr>
        <p:txBody>
          <a:bodyPr wrap="square">
            <a:spAutoFit/>
          </a:bodyPr>
          <a:lstStyle/>
          <a:p>
            <a:pPr algn="r"/>
            <a:r>
              <a:rPr lang="en-US" sz="1200" b="1" i="0" dirty="0">
                <a:solidFill>
                  <a:schemeClr val="bg1">
                    <a:lumMod val="65000"/>
                  </a:schemeClr>
                </a:solidFill>
                <a:latin typeface="Montserrat" pitchFamily="2" charset="77"/>
              </a:rPr>
              <a:t>Instructor</a:t>
            </a:r>
          </a:p>
        </p:txBody>
      </p:sp>
      <p:sp>
        <p:nvSpPr>
          <p:cNvPr id="22" name="Rectangle 21">
            <a:extLst>
              <a:ext uri="{FF2B5EF4-FFF2-40B4-BE49-F238E27FC236}">
                <a16:creationId xmlns:a16="http://schemas.microsoft.com/office/drawing/2014/main" id="{AE6AC996-9481-924B-A0AC-601DFB3A4EFD}"/>
              </a:ext>
            </a:extLst>
          </p:cNvPr>
          <p:cNvSpPr/>
          <p:nvPr userDrawn="1"/>
        </p:nvSpPr>
        <p:spPr>
          <a:xfrm>
            <a:off x="7848275" y="5075655"/>
            <a:ext cx="450340" cy="276999"/>
          </a:xfrm>
          <a:prstGeom prst="rect">
            <a:avLst/>
          </a:prstGeom>
        </p:spPr>
        <p:txBody>
          <a:bodyPr wrap="square">
            <a:spAutoFit/>
          </a:bodyPr>
          <a:lstStyle/>
          <a:p>
            <a:pPr algn="r"/>
            <a:r>
              <a:rPr lang="en-US" sz="1200" b="1" i="0" dirty="0">
                <a:solidFill>
                  <a:schemeClr val="bg1">
                    <a:lumMod val="65000"/>
                  </a:schemeClr>
                </a:solidFill>
                <a:latin typeface="Montserrat" pitchFamily="2" charset="77"/>
              </a:rPr>
              <a:t>TAs</a:t>
            </a:r>
          </a:p>
        </p:txBody>
      </p:sp>
      <p:cxnSp>
        <p:nvCxnSpPr>
          <p:cNvPr id="23" name="Straight Connector 22">
            <a:extLst>
              <a:ext uri="{FF2B5EF4-FFF2-40B4-BE49-F238E27FC236}">
                <a16:creationId xmlns:a16="http://schemas.microsoft.com/office/drawing/2014/main" id="{E2138FEE-0CA2-5740-BEFA-9B4FB13FAE2D}"/>
              </a:ext>
            </a:extLst>
          </p:cNvPr>
          <p:cNvCxnSpPr>
            <a:cxnSpLocks/>
          </p:cNvCxnSpPr>
          <p:nvPr userDrawn="1"/>
        </p:nvCxnSpPr>
        <p:spPr>
          <a:xfrm>
            <a:off x="7452794" y="4551419"/>
            <a:ext cx="4195544"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8369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ollEverywhe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1B53D-D190-0D4A-BA39-A8F17D8FEB4B}"/>
              </a:ext>
            </a:extLst>
          </p:cNvPr>
          <p:cNvSpPr>
            <a:spLocks noGrp="1"/>
          </p:cNvSpPr>
          <p:nvPr>
            <p:ph type="title"/>
          </p:nvPr>
        </p:nvSpPr>
        <p:spPr>
          <a:xfrm>
            <a:off x="838199" y="1388066"/>
            <a:ext cx="10515600" cy="762635"/>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70F8F08A-57D8-194E-8383-EB3BBBF69B6C}"/>
              </a:ext>
            </a:extLst>
          </p:cNvPr>
          <p:cNvSpPr>
            <a:spLocks noGrp="1"/>
          </p:cNvSpPr>
          <p:nvPr>
            <p:ph type="sldNum" sz="quarter" idx="10"/>
          </p:nvPr>
        </p:nvSpPr>
        <p:spPr/>
        <p:txBody>
          <a:bodyPr/>
          <a:lstStyle/>
          <a:p>
            <a:fld id="{B84CCEFC-A9FF-8249-A3D3-21FB7B7CCB8D}" type="slidenum">
              <a:rPr lang="en-US" smtClean="0"/>
              <a:pPr/>
              <a:t>‹#›</a:t>
            </a:fld>
            <a:endParaRPr lang="en-US"/>
          </a:p>
        </p:txBody>
      </p:sp>
      <p:sp>
        <p:nvSpPr>
          <p:cNvPr id="4" name="Rectangle 3">
            <a:extLst>
              <a:ext uri="{FF2B5EF4-FFF2-40B4-BE49-F238E27FC236}">
                <a16:creationId xmlns:a16="http://schemas.microsoft.com/office/drawing/2014/main" id="{D536DF9B-F95B-9446-A8D9-E083A46274F8}"/>
              </a:ext>
            </a:extLst>
          </p:cNvPr>
          <p:cNvSpPr/>
          <p:nvPr userDrawn="1"/>
        </p:nvSpPr>
        <p:spPr>
          <a:xfrm>
            <a:off x="-14882" y="189488"/>
            <a:ext cx="12221763" cy="984404"/>
          </a:xfrm>
          <a:prstGeom prst="rect">
            <a:avLst/>
          </a:prstGeom>
          <a:solidFill>
            <a:srgbClr val="2E235D"/>
          </a:solidFill>
          <a:ln w="12700">
            <a:solidFill>
              <a:srgbClr val="2E23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D6F027E-A466-424B-A56C-C5857F0E6FA7}"/>
              </a:ext>
            </a:extLst>
          </p:cNvPr>
          <p:cNvPicPr>
            <a:picLocks noChangeAspect="1"/>
          </p:cNvPicPr>
          <p:nvPr userDrawn="1"/>
        </p:nvPicPr>
        <p:blipFill>
          <a:blip r:embed="rId2"/>
          <a:stretch>
            <a:fillRect/>
          </a:stretch>
        </p:blipFill>
        <p:spPr>
          <a:xfrm>
            <a:off x="396618" y="254185"/>
            <a:ext cx="3709636" cy="855009"/>
          </a:xfrm>
          <a:prstGeom prst="rect">
            <a:avLst/>
          </a:prstGeom>
        </p:spPr>
      </p:pic>
      <p:sp>
        <p:nvSpPr>
          <p:cNvPr id="6" name="Rounded Rectangle 5">
            <a:extLst>
              <a:ext uri="{FF2B5EF4-FFF2-40B4-BE49-F238E27FC236}">
                <a16:creationId xmlns:a16="http://schemas.microsoft.com/office/drawing/2014/main" id="{DB3AA407-1DA0-3243-8E37-6DD02AC469B7}"/>
              </a:ext>
            </a:extLst>
          </p:cNvPr>
          <p:cNvSpPr/>
          <p:nvPr userDrawn="1"/>
        </p:nvSpPr>
        <p:spPr>
          <a:xfrm>
            <a:off x="8414951" y="403662"/>
            <a:ext cx="3380431" cy="556054"/>
          </a:xfrm>
          <a:prstGeom prst="roundRect">
            <a:avLst/>
          </a:prstGeom>
          <a:solidFill>
            <a:srgbClr val="4E4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i="0" dirty="0">
                <a:latin typeface="Calibri" panose="020F0502020204030204" pitchFamily="34" charset="0"/>
                <a:cs typeface="Calibri" panose="020F0502020204030204" pitchFamily="34" charset="0"/>
              </a:rPr>
              <a:t>pollev.com/uwcse373</a:t>
            </a:r>
          </a:p>
        </p:txBody>
      </p:sp>
    </p:spTree>
    <p:extLst>
      <p:ext uri="{BB962C8B-B14F-4D97-AF65-F5344CB8AC3E}">
        <p14:creationId xmlns:p14="http://schemas.microsoft.com/office/powerpoint/2010/main" val="1063051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6B8B3-3837-584A-94CD-BA26A8EFFBB5}"/>
              </a:ext>
            </a:extLst>
          </p:cNvPr>
          <p:cNvSpPr>
            <a:spLocks noGrp="1"/>
          </p:cNvSpPr>
          <p:nvPr>
            <p:ph type="title"/>
          </p:nvPr>
        </p:nvSpPr>
        <p:spPr/>
        <p:txBody>
          <a:bodyPr/>
          <a:lstStyle>
            <a:lvl1pPr>
              <a:defRPr b="1"/>
            </a:lvl1pPr>
          </a:lstStyle>
          <a:p>
            <a:r>
              <a:rPr lang="en-US" dirty="0"/>
              <a:t>Click to edit Master title style</a:t>
            </a:r>
          </a:p>
        </p:txBody>
      </p:sp>
      <p:sp>
        <p:nvSpPr>
          <p:cNvPr id="3" name="Content Placeholder 2">
            <a:extLst>
              <a:ext uri="{FF2B5EF4-FFF2-40B4-BE49-F238E27FC236}">
                <a16:creationId xmlns:a16="http://schemas.microsoft.com/office/drawing/2014/main" id="{9AA6CF4A-8D26-7E47-BE24-56CAFA2BFD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7F2DA4DA-0832-AD49-906C-ED72A76C79FD}"/>
              </a:ext>
            </a:extLst>
          </p:cNvPr>
          <p:cNvSpPr>
            <a:spLocks noGrp="1"/>
          </p:cNvSpPr>
          <p:nvPr>
            <p:ph type="sldNum" sz="quarter" idx="12"/>
          </p:nvPr>
        </p:nvSpPr>
        <p:spPr/>
        <p:txBody>
          <a:bodyPr/>
          <a:lstStyle/>
          <a:p>
            <a:fld id="{B84CCEFC-A9FF-8249-A3D3-21FB7B7CCB8D}" type="slidenum">
              <a:rPr lang="en-US" smtClean="0"/>
              <a:t>‹#›</a:t>
            </a:fld>
            <a:endParaRPr lang="en-US"/>
          </a:p>
        </p:txBody>
      </p:sp>
    </p:spTree>
    <p:extLst>
      <p:ext uri="{BB962C8B-B14F-4D97-AF65-F5344CB8AC3E}">
        <p14:creationId xmlns:p14="http://schemas.microsoft.com/office/powerpoint/2010/main" val="2058810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3D231-F19F-A840-B5BC-F29C9E5212F3}"/>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900AC8BA-BD64-6945-A342-22D2048343EF}"/>
              </a:ext>
            </a:extLst>
          </p:cNvPr>
          <p:cNvSpPr>
            <a:spLocks noGrp="1"/>
          </p:cNvSpPr>
          <p:nvPr>
            <p:ph type="sldNum" sz="quarter" idx="12"/>
          </p:nvPr>
        </p:nvSpPr>
        <p:spPr/>
        <p:txBody>
          <a:bodyPr/>
          <a:lstStyle/>
          <a:p>
            <a:fld id="{B84CCEFC-A9FF-8249-A3D3-21FB7B7CCB8D}" type="slidenum">
              <a:rPr lang="en-US" smtClean="0"/>
              <a:t>‹#›</a:t>
            </a:fld>
            <a:endParaRPr lang="en-US"/>
          </a:p>
        </p:txBody>
      </p:sp>
    </p:spTree>
    <p:extLst>
      <p:ext uri="{BB962C8B-B14F-4D97-AF65-F5344CB8AC3E}">
        <p14:creationId xmlns:p14="http://schemas.microsoft.com/office/powerpoint/2010/main" val="1809023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2D3693-0064-BB4F-9EC2-569D40495AAF}"/>
              </a:ext>
            </a:extLst>
          </p:cNvPr>
          <p:cNvSpPr>
            <a:spLocks noGrp="1"/>
          </p:cNvSpPr>
          <p:nvPr>
            <p:ph type="sldNum" sz="quarter" idx="12"/>
          </p:nvPr>
        </p:nvSpPr>
        <p:spPr/>
        <p:txBody>
          <a:bodyPr/>
          <a:lstStyle/>
          <a:p>
            <a:fld id="{B84CCEFC-A9FF-8249-A3D3-21FB7B7CCB8D}" type="slidenum">
              <a:rPr lang="en-US" smtClean="0"/>
              <a:t>‹#›</a:t>
            </a:fld>
            <a:endParaRPr lang="en-US"/>
          </a:p>
        </p:txBody>
      </p:sp>
    </p:spTree>
    <p:extLst>
      <p:ext uri="{BB962C8B-B14F-4D97-AF65-F5344CB8AC3E}">
        <p14:creationId xmlns:p14="http://schemas.microsoft.com/office/powerpoint/2010/main" val="1841486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504F1-978C-6343-BF90-B404034CBA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04F229-CC7E-6549-B870-85C68E662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62A86D8F-09C9-484A-A9EC-64E198B90B29}"/>
              </a:ext>
            </a:extLst>
          </p:cNvPr>
          <p:cNvSpPr>
            <a:spLocks noGrp="1"/>
          </p:cNvSpPr>
          <p:nvPr>
            <p:ph type="sldNum" sz="quarter" idx="10"/>
          </p:nvPr>
        </p:nvSpPr>
        <p:spPr/>
        <p:txBody>
          <a:bodyPr/>
          <a:lstStyle/>
          <a:p>
            <a:fld id="{B84CCEFC-A9FF-8249-A3D3-21FB7B7CCB8D}" type="slidenum">
              <a:rPr lang="en-US" smtClean="0"/>
              <a:pPr/>
              <a:t>‹#›</a:t>
            </a:fld>
            <a:endParaRPr lang="en-US"/>
          </a:p>
        </p:txBody>
      </p:sp>
    </p:spTree>
    <p:extLst>
      <p:ext uri="{BB962C8B-B14F-4D97-AF65-F5344CB8AC3E}">
        <p14:creationId xmlns:p14="http://schemas.microsoft.com/office/powerpoint/2010/main" val="1930453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Custom Layou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01CC624-0437-43EF-99D3-4B5E545BF210}"/>
              </a:ext>
            </a:extLst>
          </p:cNvPr>
          <p:cNvSpPr/>
          <p:nvPr userDrawn="1"/>
        </p:nvSpPr>
        <p:spPr>
          <a:xfrm>
            <a:off x="272955" y="0"/>
            <a:ext cx="423081" cy="1562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05FEBE18-A94F-4CF8-8975-BC720F0701B8}"/>
              </a:ext>
            </a:extLst>
          </p:cNvPr>
          <p:cNvSpPr>
            <a:spLocks noGrp="1"/>
          </p:cNvSpPr>
          <p:nvPr>
            <p:ph type="dt" sz="half" idx="10"/>
          </p:nvPr>
        </p:nvSpPr>
        <p:spPr/>
        <p:txBody>
          <a:bodyPr/>
          <a:lstStyle/>
          <a:p>
            <a:fld id="{20B1D116-9EEC-4608-812B-930500586DFA}" type="datetime1">
              <a:rPr lang="en-US" smtClean="0"/>
              <a:t>8/4/2026</a:t>
            </a:fld>
            <a:endParaRPr lang="en-US"/>
          </a:p>
        </p:txBody>
      </p:sp>
      <p:sp>
        <p:nvSpPr>
          <p:cNvPr id="5" name="Slide Number Placeholder 4">
            <a:extLst>
              <a:ext uri="{FF2B5EF4-FFF2-40B4-BE49-F238E27FC236}">
                <a16:creationId xmlns:a16="http://schemas.microsoft.com/office/drawing/2014/main" id="{94B072C5-2DDD-45C4-966C-970A137A42B6}"/>
              </a:ext>
            </a:extLst>
          </p:cNvPr>
          <p:cNvSpPr>
            <a:spLocks noGrp="1"/>
          </p:cNvSpPr>
          <p:nvPr>
            <p:ph type="sldNum" sz="quarter" idx="12"/>
          </p:nvPr>
        </p:nvSpPr>
        <p:spPr/>
        <p:txBody>
          <a:bodyPr/>
          <a:lstStyle/>
          <a:p>
            <a:fld id="{659665DE-58FC-41F4-AC58-2C90A5E00527}" type="slidenum">
              <a:rPr lang="en-US" smtClean="0"/>
              <a:pPr/>
              <a:t>‹#›</a:t>
            </a:fld>
            <a:endParaRPr lang="en-US"/>
          </a:p>
        </p:txBody>
      </p:sp>
      <p:cxnSp>
        <p:nvCxnSpPr>
          <p:cNvPr id="16" name="Straight Connector 15">
            <a:extLst>
              <a:ext uri="{FF2B5EF4-FFF2-40B4-BE49-F238E27FC236}">
                <a16:creationId xmlns:a16="http://schemas.microsoft.com/office/drawing/2014/main" id="{537B5817-8D3A-4DD3-92FF-32BBC5F91560}"/>
              </a:ext>
            </a:extLst>
          </p:cNvPr>
          <p:cNvCxnSpPr/>
          <p:nvPr userDrawn="1"/>
        </p:nvCxnSpPr>
        <p:spPr>
          <a:xfrm>
            <a:off x="61415" y="753975"/>
            <a:ext cx="12008609" cy="0"/>
          </a:xfrm>
          <a:prstGeom prst="line">
            <a:avLst/>
          </a:prstGeom>
          <a:ln>
            <a:solidFill>
              <a:srgbClr val="9B8ABE"/>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2B1C59-33FF-4FB4-BDD7-F61C64008581}"/>
              </a:ext>
            </a:extLst>
          </p:cNvPr>
          <p:cNvSpPr>
            <a:spLocks noGrp="1"/>
          </p:cNvSpPr>
          <p:nvPr>
            <p:ph type="title"/>
          </p:nvPr>
        </p:nvSpPr>
        <p:spPr>
          <a:xfrm>
            <a:off x="1428134" y="263276"/>
            <a:ext cx="10334364" cy="1014667"/>
          </a:xfrm>
          <a:solidFill>
            <a:schemeClr val="bg1"/>
          </a:solidFill>
        </p:spPr>
        <p:txBody>
          <a:bodyPr/>
          <a:lstStyle/>
          <a:p>
            <a:r>
              <a:rPr lang="en-US" dirty="0"/>
              <a:t>Click to edit Master title style</a:t>
            </a:r>
          </a:p>
        </p:txBody>
      </p:sp>
      <p:grpSp>
        <p:nvGrpSpPr>
          <p:cNvPr id="13" name="Group 12">
            <a:extLst>
              <a:ext uri="{FF2B5EF4-FFF2-40B4-BE49-F238E27FC236}">
                <a16:creationId xmlns:a16="http://schemas.microsoft.com/office/drawing/2014/main" id="{FB754F48-B758-43EB-980F-1E2884C8E2A7}"/>
              </a:ext>
            </a:extLst>
          </p:cNvPr>
          <p:cNvGrpSpPr/>
          <p:nvPr userDrawn="1"/>
        </p:nvGrpSpPr>
        <p:grpSpPr>
          <a:xfrm>
            <a:off x="575239" y="475151"/>
            <a:ext cx="631298" cy="631298"/>
            <a:chOff x="1530939" y="2405329"/>
            <a:chExt cx="631298" cy="631298"/>
          </a:xfrm>
        </p:grpSpPr>
        <p:sp>
          <p:nvSpPr>
            <p:cNvPr id="7" name="Oval 6">
              <a:extLst>
                <a:ext uri="{FF2B5EF4-FFF2-40B4-BE49-F238E27FC236}">
                  <a16:creationId xmlns:a16="http://schemas.microsoft.com/office/drawing/2014/main" id="{99BADBD9-302C-40D9-A763-C65CCFE16FDE}"/>
                </a:ext>
              </a:extLst>
            </p:cNvPr>
            <p:cNvSpPr/>
            <p:nvPr userDrawn="1"/>
          </p:nvSpPr>
          <p:spPr>
            <a:xfrm>
              <a:off x="1530939" y="2405329"/>
              <a:ext cx="631298" cy="631298"/>
            </a:xfrm>
            <a:prstGeom prst="ellipse">
              <a:avLst/>
            </a:prstGeom>
            <a:solidFill>
              <a:srgbClr val="B6A4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Shape 490">
              <a:extLst>
                <a:ext uri="{FF2B5EF4-FFF2-40B4-BE49-F238E27FC236}">
                  <a16:creationId xmlns:a16="http://schemas.microsoft.com/office/drawing/2014/main" id="{ABC713E7-D704-4682-B292-907313F269C9}"/>
                </a:ext>
              </a:extLst>
            </p:cNvPr>
            <p:cNvGrpSpPr/>
            <p:nvPr userDrawn="1"/>
          </p:nvGrpSpPr>
          <p:grpSpPr>
            <a:xfrm>
              <a:off x="1661835" y="2536225"/>
              <a:ext cx="369505" cy="369505"/>
              <a:chOff x="2594050" y="1631825"/>
              <a:chExt cx="439625" cy="439625"/>
            </a:xfrm>
          </p:grpSpPr>
          <p:sp>
            <p:nvSpPr>
              <p:cNvPr id="9" name="Shape 491">
                <a:extLst>
                  <a:ext uri="{FF2B5EF4-FFF2-40B4-BE49-F238E27FC236}">
                    <a16:creationId xmlns:a16="http://schemas.microsoft.com/office/drawing/2014/main" id="{5701E159-D011-460A-BF32-22B3BFF6328B}"/>
                  </a:ext>
                </a:extLst>
              </p:cNvPr>
              <p:cNvSpPr/>
              <p:nvPr/>
            </p:nvSpPr>
            <p:spPr>
              <a:xfrm>
                <a:off x="2594050" y="1883300"/>
                <a:ext cx="188175" cy="188150"/>
              </a:xfrm>
              <a:custGeom>
                <a:avLst/>
                <a:gdLst/>
                <a:ahLst/>
                <a:cxnLst/>
                <a:rect l="0" t="0" r="0" b="0"/>
                <a:pathLst>
                  <a:path w="7527" h="7526" fill="none" extrusionOk="0">
                    <a:moveTo>
                      <a:pt x="5992" y="0"/>
                    </a:moveTo>
                    <a:lnTo>
                      <a:pt x="537" y="6430"/>
                    </a:lnTo>
                    <a:lnTo>
                      <a:pt x="1" y="7526"/>
                    </a:lnTo>
                    <a:lnTo>
                      <a:pt x="1097" y="6990"/>
                    </a:lnTo>
                    <a:lnTo>
                      <a:pt x="7526" y="1534"/>
                    </a:lnTo>
                    <a:lnTo>
                      <a:pt x="5992" y="0"/>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 name="Shape 492">
                <a:extLst>
                  <a:ext uri="{FF2B5EF4-FFF2-40B4-BE49-F238E27FC236}">
                    <a16:creationId xmlns:a16="http://schemas.microsoft.com/office/drawing/2014/main" id="{CA3D8659-8AB7-48FB-9131-98E6A18A0B20}"/>
                  </a:ext>
                </a:extLst>
              </p:cNvPr>
              <p:cNvSpPr/>
              <p:nvPr/>
            </p:nvSpPr>
            <p:spPr>
              <a:xfrm>
                <a:off x="2857700" y="1631825"/>
                <a:ext cx="175975" cy="176000"/>
              </a:xfrm>
              <a:custGeom>
                <a:avLst/>
                <a:gdLst/>
                <a:ahLst/>
                <a:cxnLst/>
                <a:rect l="0" t="0" r="0" b="0"/>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Shape 493">
                <a:extLst>
                  <a:ext uri="{FF2B5EF4-FFF2-40B4-BE49-F238E27FC236}">
                    <a16:creationId xmlns:a16="http://schemas.microsoft.com/office/drawing/2014/main" id="{A811AE90-64AA-41C3-9DE9-62A86028AA6C}"/>
                  </a:ext>
                </a:extLst>
              </p:cNvPr>
              <p:cNvSpPr/>
              <p:nvPr/>
            </p:nvSpPr>
            <p:spPr>
              <a:xfrm>
                <a:off x="2662850" y="1699400"/>
                <a:ext cx="303250" cy="303250"/>
              </a:xfrm>
              <a:custGeom>
                <a:avLst/>
                <a:gdLst/>
                <a:ahLst/>
                <a:cxnLst/>
                <a:rect l="0" t="0" r="0" b="0"/>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 name="Shape 494">
                <a:extLst>
                  <a:ext uri="{FF2B5EF4-FFF2-40B4-BE49-F238E27FC236}">
                    <a16:creationId xmlns:a16="http://schemas.microsoft.com/office/drawing/2014/main" id="{0551D70B-4457-48F5-81B9-3A38F6B661D9}"/>
                  </a:ext>
                </a:extLst>
              </p:cNvPr>
              <p:cNvSpPr/>
              <p:nvPr/>
            </p:nvSpPr>
            <p:spPr>
              <a:xfrm>
                <a:off x="2801675" y="1740825"/>
                <a:ext cx="49950" cy="49950"/>
              </a:xfrm>
              <a:custGeom>
                <a:avLst/>
                <a:gdLst/>
                <a:ahLst/>
                <a:cxnLst/>
                <a:rect l="0" t="0" r="0" b="0"/>
                <a:pathLst>
                  <a:path w="1998" h="1998" fill="none" extrusionOk="0">
                    <a:moveTo>
                      <a:pt x="1" y="1997"/>
                    </a:moveTo>
                    <a:lnTo>
                      <a:pt x="1998" y="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grpSp>
      </p:grpSp>
      <p:sp>
        <p:nvSpPr>
          <p:cNvPr id="17" name="Content Placeholder 2">
            <a:extLst>
              <a:ext uri="{FF2B5EF4-FFF2-40B4-BE49-F238E27FC236}">
                <a16:creationId xmlns:a16="http://schemas.microsoft.com/office/drawing/2014/main" id="{572BD7EC-0D21-433C-A8B8-B34982C0240B}"/>
              </a:ext>
            </a:extLst>
          </p:cNvPr>
          <p:cNvSpPr>
            <a:spLocks noGrp="1"/>
          </p:cNvSpPr>
          <p:nvPr>
            <p:ph idx="1"/>
          </p:nvPr>
        </p:nvSpPr>
        <p:spPr>
          <a:xfrm>
            <a:off x="1428134" y="1463857"/>
            <a:ext cx="10334364" cy="4845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4">
            <a:extLst>
              <a:ext uri="{FF2B5EF4-FFF2-40B4-BE49-F238E27FC236}">
                <a16:creationId xmlns:a16="http://schemas.microsoft.com/office/drawing/2014/main" id="{74F733CC-2D13-824F-AEF8-39DA701BC1AC}"/>
              </a:ext>
            </a:extLst>
          </p:cNvPr>
          <p:cNvSpPr>
            <a:spLocks noGrp="1"/>
          </p:cNvSpPr>
          <p:nvPr>
            <p:ph type="ftr" sz="quarter" idx="11"/>
          </p:nvPr>
        </p:nvSpPr>
        <p:spPr>
          <a:xfrm>
            <a:off x="4842742" y="6544402"/>
            <a:ext cx="5901459" cy="274320"/>
          </a:xfrm>
        </p:spPr>
        <p:txBody>
          <a:bodyPr/>
          <a:lstStyle/>
          <a:p>
            <a:r>
              <a:rPr lang="en-US" dirty="0"/>
              <a:t>CSE 373 20 SP – champion &amp; Chun</a:t>
            </a:r>
          </a:p>
        </p:txBody>
      </p:sp>
    </p:spTree>
    <p:extLst>
      <p:ext uri="{BB962C8B-B14F-4D97-AF65-F5344CB8AC3E}">
        <p14:creationId xmlns:p14="http://schemas.microsoft.com/office/powerpoint/2010/main" val="807033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168" y="1621972"/>
            <a:ext cx="11154834" cy="4712153"/>
          </a:xfrm>
        </p:spPr>
        <p:txBody>
          <a:bodyPr/>
          <a:lstStyle>
            <a:lvl1pPr>
              <a:defRPr sz="2133" b="0"/>
            </a:lvl1pPr>
            <a:lvl2pPr>
              <a:defRPr sz="1867"/>
            </a:lvl2pPr>
            <a:lvl3pPr>
              <a:defRPr sz="1867"/>
            </a:lvl3pPr>
            <a:lvl4pPr>
              <a:defRPr sz="1467"/>
            </a:lvl4pPr>
            <a:lvl5pPr>
              <a:defRPr sz="1467"/>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10"/>
          </p:nvPr>
        </p:nvSpPr>
        <p:spPr>
          <a:xfrm>
            <a:off x="11379200" y="6492240"/>
            <a:ext cx="812800" cy="365125"/>
          </a:xfrm>
        </p:spPr>
        <p:txBody>
          <a:bodyPr/>
          <a:lstStyle>
            <a:lvl1pPr algn="ctr">
              <a:defRPr sz="900">
                <a:solidFill>
                  <a:srgbClr val="4B2A85"/>
                </a:solidFill>
              </a:defRPr>
            </a:lvl1pPr>
          </a:lstStyle>
          <a:p>
            <a:fld id="{CC1B5E29-5BFE-4A77-A178-85B6D82C95E0}" type="slidenum">
              <a:rPr lang="en-US" smtClean="0"/>
              <a:t>‹#›</a:t>
            </a:fld>
            <a:endParaRPr lang="en-US"/>
          </a:p>
        </p:txBody>
      </p:sp>
    </p:spTree>
    <p:extLst>
      <p:ext uri="{BB962C8B-B14F-4D97-AF65-F5344CB8AC3E}">
        <p14:creationId xmlns:p14="http://schemas.microsoft.com/office/powerpoint/2010/main" val="1131128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8575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84BD9BE-AC72-4180-8D40-133B0103C15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239DE81E-58B6-4008-98E5-0B4400816336}"/>
              </a:ext>
            </a:extLst>
          </p:cNvPr>
          <p:cNvSpPr>
            <a:spLocks noGrp="1" noChangeArrowheads="1"/>
          </p:cNvSpPr>
          <p:nvPr>
            <p:ph type="sldNum" sz="quarter" idx="11"/>
          </p:nvPr>
        </p:nvSpPr>
        <p:spPr>
          <a:ln/>
        </p:spPr>
        <p:txBody>
          <a:bodyPr/>
          <a:lstStyle>
            <a:lvl1pPr>
              <a:defRPr/>
            </a:lvl1pPr>
          </a:lstStyle>
          <a:p>
            <a:pPr>
              <a:defRPr/>
            </a:pPr>
            <a:fld id="{AE423A18-120E-40DE-9DE1-6BDC0CA50D4E}" type="slidenum">
              <a:rPr lang="en-US" altLang="en-US"/>
              <a:pPr>
                <a:defRPr/>
              </a:pPr>
              <a:t>‹#›</a:t>
            </a:fld>
            <a:endParaRPr lang="en-US" altLang="en-US"/>
          </a:p>
        </p:txBody>
      </p:sp>
    </p:spTree>
    <p:extLst>
      <p:ext uri="{BB962C8B-B14F-4D97-AF65-F5344CB8AC3E}">
        <p14:creationId xmlns:p14="http://schemas.microsoft.com/office/powerpoint/2010/main" val="3209269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1C866A4A-5AF8-4A82-B275-9BAD88641A3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4364E0E4-9F14-425C-A24C-2B2D2695EC68}"/>
              </a:ext>
            </a:extLst>
          </p:cNvPr>
          <p:cNvSpPr>
            <a:spLocks noGrp="1" noChangeArrowheads="1"/>
          </p:cNvSpPr>
          <p:nvPr>
            <p:ph type="sldNum" sz="quarter" idx="11"/>
          </p:nvPr>
        </p:nvSpPr>
        <p:spPr>
          <a:ln/>
        </p:spPr>
        <p:txBody>
          <a:bodyPr/>
          <a:lstStyle>
            <a:lvl1pPr>
              <a:defRPr/>
            </a:lvl1pPr>
          </a:lstStyle>
          <a:p>
            <a:pPr>
              <a:defRPr/>
            </a:pPr>
            <a:fld id="{B8DA497F-1DE2-4DD7-A528-08024541998A}" type="slidenum">
              <a:rPr lang="en-US" altLang="en-US"/>
              <a:pPr>
                <a:defRPr/>
              </a:pPr>
              <a:t>‹#›</a:t>
            </a:fld>
            <a:endParaRPr lang="en-US" altLang="en-US"/>
          </a:p>
        </p:txBody>
      </p:sp>
    </p:spTree>
    <p:extLst>
      <p:ext uri="{BB962C8B-B14F-4D97-AF65-F5344CB8AC3E}">
        <p14:creationId xmlns:p14="http://schemas.microsoft.com/office/powerpoint/2010/main" val="30928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body" type="tx">
  <p:cSld name="Title and body">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22400" y="123335"/>
            <a:ext cx="10972800" cy="6604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rgbClr val="BE0712"/>
              </a:buClr>
              <a:buSzPts val="2400"/>
              <a:buFont typeface="Calibri"/>
              <a:buNone/>
              <a:defRPr sz="3200" b="1">
                <a:solidFill>
                  <a:srgbClr val="BE0712"/>
                </a:solidFill>
                <a:latin typeface="Calibri"/>
                <a:ea typeface="Calibri"/>
                <a:cs typeface="Calibri"/>
                <a:sym typeface="Calibri"/>
              </a:defRPr>
            </a:lvl1pPr>
            <a:lvl2pPr lvl="1" algn="l" rtl="0">
              <a:spcBef>
                <a:spcPts val="0"/>
              </a:spcBef>
              <a:spcAft>
                <a:spcPts val="0"/>
              </a:spcAft>
              <a:buSzPts val="3600"/>
              <a:buFont typeface="Arial"/>
              <a:buNone/>
              <a:defRPr sz="4800" b="1">
                <a:solidFill>
                  <a:schemeClr val="dk1"/>
                </a:solidFill>
                <a:latin typeface="Arial"/>
                <a:ea typeface="Arial"/>
                <a:cs typeface="Arial"/>
                <a:sym typeface="Arial"/>
              </a:defRPr>
            </a:lvl2pPr>
            <a:lvl3pPr lvl="2" algn="l" rtl="0">
              <a:spcBef>
                <a:spcPts val="0"/>
              </a:spcBef>
              <a:spcAft>
                <a:spcPts val="0"/>
              </a:spcAft>
              <a:buSzPts val="3600"/>
              <a:buFont typeface="Arial"/>
              <a:buNone/>
              <a:defRPr sz="4800" b="1">
                <a:solidFill>
                  <a:schemeClr val="dk1"/>
                </a:solidFill>
                <a:latin typeface="Arial"/>
                <a:ea typeface="Arial"/>
                <a:cs typeface="Arial"/>
                <a:sym typeface="Arial"/>
              </a:defRPr>
            </a:lvl3pPr>
            <a:lvl4pPr lvl="3" algn="l" rtl="0">
              <a:spcBef>
                <a:spcPts val="0"/>
              </a:spcBef>
              <a:spcAft>
                <a:spcPts val="0"/>
              </a:spcAft>
              <a:buSzPts val="3600"/>
              <a:buFont typeface="Arial"/>
              <a:buNone/>
              <a:defRPr sz="4800" b="1">
                <a:solidFill>
                  <a:schemeClr val="dk1"/>
                </a:solidFill>
                <a:latin typeface="Arial"/>
                <a:ea typeface="Arial"/>
                <a:cs typeface="Arial"/>
                <a:sym typeface="Arial"/>
              </a:defRPr>
            </a:lvl4pPr>
            <a:lvl5pPr lvl="4" algn="l" rtl="0">
              <a:spcBef>
                <a:spcPts val="0"/>
              </a:spcBef>
              <a:spcAft>
                <a:spcPts val="0"/>
              </a:spcAft>
              <a:buSzPts val="3600"/>
              <a:buFont typeface="Arial"/>
              <a:buNone/>
              <a:defRPr sz="4800" b="1">
                <a:solidFill>
                  <a:schemeClr val="dk1"/>
                </a:solidFill>
                <a:latin typeface="Arial"/>
                <a:ea typeface="Arial"/>
                <a:cs typeface="Arial"/>
                <a:sym typeface="Arial"/>
              </a:defRPr>
            </a:lvl5pPr>
            <a:lvl6pPr lvl="5" algn="l" rtl="0">
              <a:spcBef>
                <a:spcPts val="0"/>
              </a:spcBef>
              <a:spcAft>
                <a:spcPts val="0"/>
              </a:spcAft>
              <a:buSzPts val="3600"/>
              <a:buFont typeface="Arial"/>
              <a:buNone/>
              <a:defRPr sz="4800" b="1">
                <a:solidFill>
                  <a:schemeClr val="dk1"/>
                </a:solidFill>
                <a:latin typeface="Arial"/>
                <a:ea typeface="Arial"/>
                <a:cs typeface="Arial"/>
                <a:sym typeface="Arial"/>
              </a:defRPr>
            </a:lvl6pPr>
            <a:lvl7pPr lvl="6" algn="l" rtl="0">
              <a:spcBef>
                <a:spcPts val="0"/>
              </a:spcBef>
              <a:spcAft>
                <a:spcPts val="0"/>
              </a:spcAft>
              <a:buSzPts val="3600"/>
              <a:buFont typeface="Arial"/>
              <a:buNone/>
              <a:defRPr sz="4800" b="1">
                <a:solidFill>
                  <a:schemeClr val="dk1"/>
                </a:solidFill>
                <a:latin typeface="Arial"/>
                <a:ea typeface="Arial"/>
                <a:cs typeface="Arial"/>
                <a:sym typeface="Arial"/>
              </a:defRPr>
            </a:lvl7pPr>
            <a:lvl8pPr lvl="7" algn="l" rtl="0">
              <a:spcBef>
                <a:spcPts val="0"/>
              </a:spcBef>
              <a:spcAft>
                <a:spcPts val="0"/>
              </a:spcAft>
              <a:buSzPts val="3600"/>
              <a:buFont typeface="Arial"/>
              <a:buNone/>
              <a:defRPr sz="4800" b="1">
                <a:solidFill>
                  <a:schemeClr val="dk1"/>
                </a:solidFill>
                <a:latin typeface="Arial"/>
                <a:ea typeface="Arial"/>
                <a:cs typeface="Arial"/>
                <a:sym typeface="Arial"/>
              </a:defRPr>
            </a:lvl8pPr>
            <a:lvl9pPr lvl="8" algn="l" rtl="0">
              <a:spcBef>
                <a:spcPts val="0"/>
              </a:spcBef>
              <a:spcAft>
                <a:spcPts val="0"/>
              </a:spcAft>
              <a:buSzPts val="3600"/>
              <a:buFont typeface="Arial"/>
              <a:buNone/>
              <a:defRPr sz="4800" b="1">
                <a:solidFill>
                  <a:schemeClr val="dk1"/>
                </a:solidFill>
                <a:latin typeface="Arial"/>
                <a:ea typeface="Arial"/>
                <a:cs typeface="Arial"/>
                <a:sym typeface="Arial"/>
              </a:defRPr>
            </a:lvl9pPr>
          </a:lstStyle>
          <a:p>
            <a:endParaRPr/>
          </a:p>
        </p:txBody>
      </p:sp>
      <p:cxnSp>
        <p:nvCxnSpPr>
          <p:cNvPr id="16" name="Google Shape;16;p3"/>
          <p:cNvCxnSpPr/>
          <p:nvPr/>
        </p:nvCxnSpPr>
        <p:spPr>
          <a:xfrm>
            <a:off x="324000" y="783733"/>
            <a:ext cx="11258400" cy="0"/>
          </a:xfrm>
          <a:prstGeom prst="straightConnector1">
            <a:avLst/>
          </a:prstGeom>
          <a:noFill/>
          <a:ln w="19050" cap="flat" cmpd="sng">
            <a:solidFill>
              <a:srgbClr val="1072BD"/>
            </a:solidFill>
            <a:prstDash val="dot"/>
            <a:round/>
            <a:headEnd type="none" w="med" len="med"/>
            <a:tailEnd type="none" w="med" len="med"/>
          </a:ln>
        </p:spPr>
      </p:cxnSp>
      <p:sp>
        <p:nvSpPr>
          <p:cNvPr id="17" name="Google Shape;17;p3"/>
          <p:cNvSpPr txBox="1">
            <a:spLocks noGrp="1"/>
          </p:cNvSpPr>
          <p:nvPr>
            <p:ph type="body" idx="1"/>
          </p:nvPr>
        </p:nvSpPr>
        <p:spPr>
          <a:xfrm>
            <a:off x="324000" y="742000"/>
            <a:ext cx="11258400" cy="5538400"/>
          </a:xfrm>
          <a:prstGeom prst="rect">
            <a:avLst/>
          </a:prstGeom>
          <a:noFill/>
          <a:ln>
            <a:noFill/>
          </a:ln>
        </p:spPr>
        <p:txBody>
          <a:bodyPr spcFirstLastPara="1" wrap="square" lIns="91425" tIns="91425" rIns="91425" bIns="91425" anchor="t" anchorCtr="0">
            <a:noAutofit/>
          </a:bodyPr>
          <a:lstStyle>
            <a:lvl1pPr marL="609570" lvl="0" indent="-474109" rtl="0">
              <a:spcBef>
                <a:spcPts val="800"/>
              </a:spcBef>
              <a:spcAft>
                <a:spcPts val="0"/>
              </a:spcAft>
              <a:buSzPts val="2000"/>
              <a:buFont typeface="Calibri"/>
              <a:buChar char="●"/>
              <a:defRPr sz="2667">
                <a:latin typeface="Calibri"/>
                <a:ea typeface="Calibri"/>
                <a:cs typeface="Calibri"/>
                <a:sym typeface="Calibri"/>
              </a:defRPr>
            </a:lvl1pPr>
            <a:lvl2pPr marL="1219140" lvl="1" indent="-474109" rtl="0">
              <a:spcBef>
                <a:spcPts val="0"/>
              </a:spcBef>
              <a:spcAft>
                <a:spcPts val="0"/>
              </a:spcAft>
              <a:buSzPts val="2000"/>
              <a:buFont typeface="Calibri"/>
              <a:buChar char="○"/>
              <a:defRPr sz="2667">
                <a:latin typeface="Calibri"/>
                <a:ea typeface="Calibri"/>
                <a:cs typeface="Calibri"/>
                <a:sym typeface="Calibri"/>
              </a:defRPr>
            </a:lvl2pPr>
            <a:lvl3pPr marL="1828709" lvl="2" indent="-457178" rtl="0">
              <a:spcBef>
                <a:spcPts val="0"/>
              </a:spcBef>
              <a:spcAft>
                <a:spcPts val="0"/>
              </a:spcAft>
              <a:buSzPts val="1800"/>
              <a:buFont typeface="Calibri"/>
              <a:buChar char="■"/>
              <a:defRPr sz="2400">
                <a:latin typeface="Calibri"/>
                <a:ea typeface="Calibri"/>
                <a:cs typeface="Calibri"/>
                <a:sym typeface="Calibri"/>
              </a:defRPr>
            </a:lvl3pPr>
            <a:lvl4pPr marL="2438278" lvl="3" indent="-457178" rtl="0">
              <a:spcBef>
                <a:spcPts val="0"/>
              </a:spcBef>
              <a:spcAft>
                <a:spcPts val="0"/>
              </a:spcAft>
              <a:buSzPts val="1800"/>
              <a:buFont typeface="Calibri"/>
              <a:buChar char="●"/>
              <a:defRPr>
                <a:latin typeface="Calibri"/>
                <a:ea typeface="Calibri"/>
                <a:cs typeface="Calibri"/>
                <a:sym typeface="Calibri"/>
              </a:defRPr>
            </a:lvl4pPr>
            <a:lvl5pPr marL="3047848" lvl="4" indent="-457178" rtl="0">
              <a:spcBef>
                <a:spcPts val="0"/>
              </a:spcBef>
              <a:spcAft>
                <a:spcPts val="0"/>
              </a:spcAft>
              <a:buSzPts val="1800"/>
              <a:buFont typeface="Calibri"/>
              <a:buChar char="○"/>
              <a:defRPr sz="2400">
                <a:latin typeface="Calibri"/>
                <a:ea typeface="Calibri"/>
                <a:cs typeface="Calibri"/>
                <a:sym typeface="Calibri"/>
              </a:defRPr>
            </a:lvl5pPr>
            <a:lvl6pPr marL="3657418" lvl="5" indent="-457178" rtl="0">
              <a:spcBef>
                <a:spcPts val="0"/>
              </a:spcBef>
              <a:spcAft>
                <a:spcPts val="0"/>
              </a:spcAft>
              <a:buSzPts val="1800"/>
              <a:buFont typeface="Calibri"/>
              <a:buChar char="■"/>
              <a:defRPr sz="2400">
                <a:latin typeface="Calibri"/>
                <a:ea typeface="Calibri"/>
                <a:cs typeface="Calibri"/>
                <a:sym typeface="Calibri"/>
              </a:defRPr>
            </a:lvl6pPr>
            <a:lvl7pPr marL="4266987" lvl="6" indent="-457178" rtl="0">
              <a:spcBef>
                <a:spcPts val="0"/>
              </a:spcBef>
              <a:spcAft>
                <a:spcPts val="0"/>
              </a:spcAft>
              <a:buSzPts val="1800"/>
              <a:buFont typeface="Calibri"/>
              <a:buChar char="●"/>
              <a:defRPr sz="2400">
                <a:latin typeface="Calibri"/>
                <a:ea typeface="Calibri"/>
                <a:cs typeface="Calibri"/>
                <a:sym typeface="Calibri"/>
              </a:defRPr>
            </a:lvl7pPr>
            <a:lvl8pPr marL="4876557" lvl="7" indent="-457178" rtl="0">
              <a:spcBef>
                <a:spcPts val="0"/>
              </a:spcBef>
              <a:spcAft>
                <a:spcPts val="0"/>
              </a:spcAft>
              <a:buSzPts val="1800"/>
              <a:buFont typeface="Calibri"/>
              <a:buChar char="○"/>
              <a:defRPr sz="2400">
                <a:latin typeface="Calibri"/>
                <a:ea typeface="Calibri"/>
                <a:cs typeface="Calibri"/>
                <a:sym typeface="Calibri"/>
              </a:defRPr>
            </a:lvl8pPr>
            <a:lvl9pPr marL="5486126" lvl="8" indent="-457178" rtl="0">
              <a:spcBef>
                <a:spcPts val="0"/>
              </a:spcBef>
              <a:spcAft>
                <a:spcPts val="0"/>
              </a:spcAft>
              <a:buSzPts val="1800"/>
              <a:buFont typeface="Calibri"/>
              <a:buChar char="■"/>
              <a:defRPr sz="2400">
                <a:latin typeface="Calibri"/>
                <a:ea typeface="Calibri"/>
                <a:cs typeface="Calibri"/>
                <a:sym typeface="Calibri"/>
              </a:defRPr>
            </a:lvl9pPr>
          </a:lstStyle>
          <a:p>
            <a:endParaRPr/>
          </a:p>
        </p:txBody>
      </p:sp>
    </p:spTree>
    <p:extLst>
      <p:ext uri="{BB962C8B-B14F-4D97-AF65-F5344CB8AC3E}">
        <p14:creationId xmlns:p14="http://schemas.microsoft.com/office/powerpoint/2010/main" val="612198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PollEverywhe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1B53D-D190-0D4A-BA39-A8F17D8FEB4B}"/>
              </a:ext>
            </a:extLst>
          </p:cNvPr>
          <p:cNvSpPr>
            <a:spLocks noGrp="1"/>
          </p:cNvSpPr>
          <p:nvPr>
            <p:ph type="title"/>
          </p:nvPr>
        </p:nvSpPr>
        <p:spPr>
          <a:xfrm>
            <a:off x="838199" y="1388066"/>
            <a:ext cx="10515600" cy="762635"/>
          </a:xfrm>
        </p:spPr>
        <p:txBody>
          <a:bodyPr/>
          <a:lstStyle/>
          <a:p>
            <a:r>
              <a:rPr lang="en-US" dirty="0"/>
              <a:t>Click to edit Master title style</a:t>
            </a:r>
          </a:p>
        </p:txBody>
      </p:sp>
      <p:sp>
        <p:nvSpPr>
          <p:cNvPr id="3" name="Slide Number Placeholder 2">
            <a:extLst>
              <a:ext uri="{FF2B5EF4-FFF2-40B4-BE49-F238E27FC236}">
                <a16:creationId xmlns:a16="http://schemas.microsoft.com/office/drawing/2014/main" id="{70F8F08A-57D8-194E-8383-EB3BBBF69B6C}"/>
              </a:ext>
            </a:extLst>
          </p:cNvPr>
          <p:cNvSpPr>
            <a:spLocks noGrp="1"/>
          </p:cNvSpPr>
          <p:nvPr>
            <p:ph type="sldNum" sz="quarter" idx="10"/>
          </p:nvPr>
        </p:nvSpPr>
        <p:spPr/>
        <p:txBody>
          <a:bodyPr/>
          <a:lstStyle/>
          <a:p>
            <a:fld id="{B84CCEFC-A9FF-8249-A3D3-21FB7B7CCB8D}" type="slidenum">
              <a:rPr lang="en-US" smtClean="0"/>
              <a:pPr/>
              <a:t>‹#›</a:t>
            </a:fld>
            <a:endParaRPr lang="en-US"/>
          </a:p>
        </p:txBody>
      </p:sp>
      <p:sp>
        <p:nvSpPr>
          <p:cNvPr id="4" name="Rectangle 3">
            <a:extLst>
              <a:ext uri="{FF2B5EF4-FFF2-40B4-BE49-F238E27FC236}">
                <a16:creationId xmlns:a16="http://schemas.microsoft.com/office/drawing/2014/main" id="{D536DF9B-F95B-9446-A8D9-E083A46274F8}"/>
              </a:ext>
            </a:extLst>
          </p:cNvPr>
          <p:cNvSpPr/>
          <p:nvPr userDrawn="1"/>
        </p:nvSpPr>
        <p:spPr>
          <a:xfrm>
            <a:off x="-14882" y="0"/>
            <a:ext cx="12221763" cy="1173892"/>
          </a:xfrm>
          <a:prstGeom prst="rect">
            <a:avLst/>
          </a:prstGeom>
          <a:solidFill>
            <a:srgbClr val="2196F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DB3AA407-1DA0-3243-8E37-6DD02AC469B7}"/>
              </a:ext>
            </a:extLst>
          </p:cNvPr>
          <p:cNvSpPr/>
          <p:nvPr userDrawn="1"/>
        </p:nvSpPr>
        <p:spPr>
          <a:xfrm>
            <a:off x="8414951" y="403662"/>
            <a:ext cx="3380431" cy="556054"/>
          </a:xfrm>
          <a:prstGeom prst="roundRect">
            <a:avLst/>
          </a:pr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0" dirty="0">
                <a:latin typeface="Calibri" panose="020F0502020204030204" pitchFamily="34" charset="0"/>
                <a:cs typeface="Calibri" panose="020F0502020204030204" pitchFamily="34" charset="0"/>
              </a:rPr>
              <a:t>Pause Video when Prompted</a:t>
            </a:r>
          </a:p>
        </p:txBody>
      </p:sp>
      <p:pic>
        <p:nvPicPr>
          <p:cNvPr id="9" name="Picture 8">
            <a:extLst>
              <a:ext uri="{FF2B5EF4-FFF2-40B4-BE49-F238E27FC236}">
                <a16:creationId xmlns:a16="http://schemas.microsoft.com/office/drawing/2014/main" id="{819F3A87-0B85-784F-A237-7192C2A36853}"/>
              </a:ext>
            </a:extLst>
          </p:cNvPr>
          <p:cNvPicPr>
            <a:picLocks noChangeAspect="1"/>
          </p:cNvPicPr>
          <p:nvPr userDrawn="1"/>
        </p:nvPicPr>
        <p:blipFill>
          <a:blip r:embed="rId2"/>
          <a:stretch>
            <a:fillRect/>
          </a:stretch>
        </p:blipFill>
        <p:spPr>
          <a:xfrm>
            <a:off x="396618" y="334452"/>
            <a:ext cx="2264586" cy="694473"/>
          </a:xfrm>
          <a:prstGeom prst="rect">
            <a:avLst/>
          </a:prstGeom>
        </p:spPr>
      </p:pic>
      <p:sp>
        <p:nvSpPr>
          <p:cNvPr id="12" name="TextBox 11">
            <a:extLst>
              <a:ext uri="{FF2B5EF4-FFF2-40B4-BE49-F238E27FC236}">
                <a16:creationId xmlns:a16="http://schemas.microsoft.com/office/drawing/2014/main" id="{B9204DF1-E5A9-0A4D-A5CF-F6470964781C}"/>
              </a:ext>
            </a:extLst>
          </p:cNvPr>
          <p:cNvSpPr txBox="1"/>
          <p:nvPr userDrawn="1"/>
        </p:nvSpPr>
        <p:spPr>
          <a:xfrm>
            <a:off x="6400800" y="9259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201771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B460B4-70F4-B145-8648-892BD7385F5F}"/>
              </a:ext>
            </a:extLst>
          </p:cNvPr>
          <p:cNvSpPr>
            <a:spLocks noGrp="1"/>
          </p:cNvSpPr>
          <p:nvPr>
            <p:ph type="title"/>
          </p:nvPr>
        </p:nvSpPr>
        <p:spPr>
          <a:xfrm>
            <a:off x="838200" y="456565"/>
            <a:ext cx="10515600" cy="76263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173FE4-2A2D-D54E-9CA7-3BE743A500E7}"/>
              </a:ext>
            </a:extLst>
          </p:cNvPr>
          <p:cNvSpPr>
            <a:spLocks noGrp="1"/>
          </p:cNvSpPr>
          <p:nvPr>
            <p:ph type="body" idx="1"/>
          </p:nvPr>
        </p:nvSpPr>
        <p:spPr>
          <a:xfrm>
            <a:off x="838200" y="1371600"/>
            <a:ext cx="10515600" cy="4805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7F20E522-6C81-E146-9573-8B2A26576090}"/>
              </a:ext>
            </a:extLst>
          </p:cNvPr>
          <p:cNvSpPr>
            <a:spLocks noGrp="1"/>
          </p:cNvSpPr>
          <p:nvPr>
            <p:ph type="sldNum" sz="quarter" idx="4"/>
          </p:nvPr>
        </p:nvSpPr>
        <p:spPr>
          <a:xfrm>
            <a:off x="11549903" y="6492875"/>
            <a:ext cx="552450" cy="365125"/>
          </a:xfrm>
          <a:prstGeom prst="rect">
            <a:avLst/>
          </a:prstGeom>
        </p:spPr>
        <p:txBody>
          <a:bodyPr vert="horz" lIns="91440" tIns="45720" rIns="91440" bIns="45720" rtlCol="0" anchor="ctr"/>
          <a:lstStyle>
            <a:lvl1pPr algn="r">
              <a:defRPr sz="1100" b="1">
                <a:solidFill>
                  <a:srgbClr val="2E235D"/>
                </a:solidFill>
              </a:defRPr>
            </a:lvl1pPr>
          </a:lstStyle>
          <a:p>
            <a:fld id="{B84CCEFC-A9FF-8249-A3D3-21FB7B7CCB8D}" type="slidenum">
              <a:rPr lang="en-US" smtClean="0"/>
              <a:pPr/>
              <a:t>‹#›</a:t>
            </a:fld>
            <a:endParaRPr lang="en-US"/>
          </a:p>
        </p:txBody>
      </p:sp>
      <p:sp>
        <p:nvSpPr>
          <p:cNvPr id="8" name="Rectangle 7">
            <a:extLst>
              <a:ext uri="{FF2B5EF4-FFF2-40B4-BE49-F238E27FC236}">
                <a16:creationId xmlns:a16="http://schemas.microsoft.com/office/drawing/2014/main" id="{27829BDB-00F0-1A4D-85ED-E7EECB1665B0}"/>
              </a:ext>
            </a:extLst>
          </p:cNvPr>
          <p:cNvSpPr/>
          <p:nvPr userDrawn="1"/>
        </p:nvSpPr>
        <p:spPr>
          <a:xfrm>
            <a:off x="-29764" y="-6263"/>
            <a:ext cx="12221763" cy="230293"/>
          </a:xfrm>
          <a:prstGeom prst="rect">
            <a:avLst/>
          </a:prstGeom>
          <a:solidFill>
            <a:srgbClr val="2E235D"/>
          </a:solidFill>
          <a:ln w="12700">
            <a:solidFill>
              <a:srgbClr val="2E23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2F99840-7979-4642-ADBB-375B21C7BD95}"/>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29763" y="29972"/>
            <a:ext cx="2150721" cy="169037"/>
          </a:xfrm>
          <a:prstGeom prst="rect">
            <a:avLst/>
          </a:prstGeom>
        </p:spPr>
      </p:pic>
      <p:sp>
        <p:nvSpPr>
          <p:cNvPr id="9" name="TextBox 8">
            <a:extLst>
              <a:ext uri="{FF2B5EF4-FFF2-40B4-BE49-F238E27FC236}">
                <a16:creationId xmlns:a16="http://schemas.microsoft.com/office/drawing/2014/main" id="{C16FF7FA-8B99-C643-9479-91C32ACC4F6F}"/>
              </a:ext>
            </a:extLst>
          </p:cNvPr>
          <p:cNvSpPr txBox="1"/>
          <p:nvPr userDrawn="1"/>
        </p:nvSpPr>
        <p:spPr>
          <a:xfrm>
            <a:off x="10569575" y="0"/>
            <a:ext cx="1622425" cy="230832"/>
          </a:xfrm>
          <a:prstGeom prst="rect">
            <a:avLst/>
          </a:prstGeom>
          <a:noFill/>
        </p:spPr>
        <p:txBody>
          <a:bodyPr wrap="square" rtlCol="0">
            <a:spAutoFit/>
          </a:bodyPr>
          <a:lstStyle/>
          <a:p>
            <a:pPr algn="r"/>
            <a:r>
              <a:rPr lang="en-US" sz="900" b="1" i="0" dirty="0">
                <a:solidFill>
                  <a:schemeClr val="bg1"/>
                </a:solidFill>
                <a:latin typeface="Montserrat SemiBold" pitchFamily="2" charset="77"/>
              </a:rPr>
              <a:t>CSE 373 Autumn 2020</a:t>
            </a:r>
          </a:p>
        </p:txBody>
      </p:sp>
      <p:sp>
        <p:nvSpPr>
          <p:cNvPr id="10" name="TextBox 9">
            <a:extLst>
              <a:ext uri="{FF2B5EF4-FFF2-40B4-BE49-F238E27FC236}">
                <a16:creationId xmlns:a16="http://schemas.microsoft.com/office/drawing/2014/main" id="{2982E279-6D9E-BC4A-A9B9-46E4512D586D}"/>
              </a:ext>
            </a:extLst>
          </p:cNvPr>
          <p:cNvSpPr txBox="1"/>
          <p:nvPr userDrawn="1"/>
        </p:nvSpPr>
        <p:spPr>
          <a:xfrm>
            <a:off x="3000376" y="-2819"/>
            <a:ext cx="6191248" cy="230832"/>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900" b="1" i="0" dirty="0">
                <a:solidFill>
                  <a:schemeClr val="bg1"/>
                </a:solidFill>
                <a:latin typeface="Montserrat SemiBold" pitchFamily="2" charset="77"/>
              </a:rPr>
              <a:t>LEC 16: Dijkstra’s Algorithm</a:t>
            </a:r>
          </a:p>
        </p:txBody>
      </p:sp>
    </p:spTree>
    <p:extLst>
      <p:ext uri="{BB962C8B-B14F-4D97-AF65-F5344CB8AC3E}">
        <p14:creationId xmlns:p14="http://schemas.microsoft.com/office/powerpoint/2010/main" val="8468274"/>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0" r:id="rId3"/>
    <p:sldLayoutId id="2147483654" r:id="rId4"/>
    <p:sldLayoutId id="2147483655" r:id="rId5"/>
    <p:sldLayoutId id="2147483657" r:id="rId6"/>
    <p:sldLayoutId id="2147483658" r:id="rId7"/>
    <p:sldLayoutId id="2147483659" r:id="rId8"/>
    <p:sldLayoutId id="2147483662" r:id="rId9"/>
    <p:sldLayoutId id="2147483663" r:id="rId10"/>
    <p:sldLayoutId id="2147483664" r:id="rId11"/>
  </p:sldLayoutIdLst>
  <p:txStyles>
    <p:titleStyle>
      <a:lvl1pPr algn="l" defTabSz="914400" rtl="0" eaLnBrk="1" latinLnBrk="0" hangingPunct="1">
        <a:lnSpc>
          <a:spcPct val="90000"/>
        </a:lnSpc>
        <a:spcBef>
          <a:spcPct val="0"/>
        </a:spcBef>
        <a:buNone/>
        <a:defRPr sz="44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B460B4-70F4-B145-8648-892BD7385F5F}"/>
              </a:ext>
            </a:extLst>
          </p:cNvPr>
          <p:cNvSpPr>
            <a:spLocks noGrp="1"/>
          </p:cNvSpPr>
          <p:nvPr>
            <p:ph type="title"/>
          </p:nvPr>
        </p:nvSpPr>
        <p:spPr>
          <a:xfrm>
            <a:off x="838200" y="456565"/>
            <a:ext cx="10515600" cy="76263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173FE4-2A2D-D54E-9CA7-3BE743A500E7}"/>
              </a:ext>
            </a:extLst>
          </p:cNvPr>
          <p:cNvSpPr>
            <a:spLocks noGrp="1"/>
          </p:cNvSpPr>
          <p:nvPr>
            <p:ph type="body" idx="1"/>
          </p:nvPr>
        </p:nvSpPr>
        <p:spPr>
          <a:xfrm>
            <a:off x="838200" y="1371600"/>
            <a:ext cx="10515600" cy="4805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7F20E522-6C81-E146-9573-8B2A26576090}"/>
              </a:ext>
            </a:extLst>
          </p:cNvPr>
          <p:cNvSpPr>
            <a:spLocks noGrp="1"/>
          </p:cNvSpPr>
          <p:nvPr>
            <p:ph type="sldNum" sz="quarter" idx="4"/>
          </p:nvPr>
        </p:nvSpPr>
        <p:spPr>
          <a:xfrm>
            <a:off x="11487150" y="6329363"/>
            <a:ext cx="552450" cy="365125"/>
          </a:xfrm>
          <a:prstGeom prst="rect">
            <a:avLst/>
          </a:prstGeom>
        </p:spPr>
        <p:txBody>
          <a:bodyPr vert="horz" lIns="91440" tIns="45720" rIns="91440" bIns="45720" rtlCol="0" anchor="ctr"/>
          <a:lstStyle>
            <a:lvl1pPr algn="r">
              <a:defRPr sz="1100" b="1">
                <a:solidFill>
                  <a:srgbClr val="2E235D"/>
                </a:solidFill>
              </a:defRPr>
            </a:lvl1pPr>
          </a:lstStyle>
          <a:p>
            <a:fld id="{B84CCEFC-A9FF-8249-A3D3-21FB7B7CCB8D}" type="slidenum">
              <a:rPr lang="en-US" smtClean="0"/>
              <a:pPr/>
              <a:t>‹#›</a:t>
            </a:fld>
            <a:endParaRPr lang="en-US"/>
          </a:p>
        </p:txBody>
      </p:sp>
      <p:pic>
        <p:nvPicPr>
          <p:cNvPr id="7" name="Picture 6">
            <a:extLst>
              <a:ext uri="{FF2B5EF4-FFF2-40B4-BE49-F238E27FC236}">
                <a16:creationId xmlns:a16="http://schemas.microsoft.com/office/drawing/2014/main" id="{62F99840-7979-4642-ADBB-375B21C7BD9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9763" y="29972"/>
            <a:ext cx="2150721" cy="169037"/>
          </a:xfrm>
          <a:prstGeom prst="rect">
            <a:avLst/>
          </a:prstGeom>
        </p:spPr>
      </p:pic>
    </p:spTree>
    <p:extLst>
      <p:ext uri="{BB962C8B-B14F-4D97-AF65-F5344CB8AC3E}">
        <p14:creationId xmlns:p14="http://schemas.microsoft.com/office/powerpoint/2010/main" val="2979286479"/>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0.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11.wmf"/><Relationship Id="rId9"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kruskals-minimum-spanning-tree-algorithm-greedy-algo-2/" TargetMode="External"/><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15.jpg"/></Relationships>
</file>

<file path=ppt/slides/_rels/slide28.xml.rels><?xml version="1.0" encoding="UTF-8" standalone="yes"?>
<Relationships xmlns="http://schemas.openxmlformats.org/package/2006/relationships"><Relationship Id="rId3" Type="http://schemas.openxmlformats.org/officeDocument/2006/relationships/hyperlink" Target="http://en.wikipedia.org/wiki/Disjoint-set_data_structure"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3" Type="http://schemas.openxmlformats.org/officeDocument/2006/relationships/tags" Target="../tags/tag15.xml"/><Relationship Id="rId18" Type="http://schemas.openxmlformats.org/officeDocument/2006/relationships/tags" Target="../tags/tag20.xml"/><Relationship Id="rId26" Type="http://schemas.openxmlformats.org/officeDocument/2006/relationships/tags" Target="../tags/tag28.xml"/><Relationship Id="rId39" Type="http://schemas.openxmlformats.org/officeDocument/2006/relationships/tags" Target="../tags/tag41.xml"/><Relationship Id="rId21" Type="http://schemas.openxmlformats.org/officeDocument/2006/relationships/tags" Target="../tags/tag23.xml"/><Relationship Id="rId34" Type="http://schemas.openxmlformats.org/officeDocument/2006/relationships/tags" Target="../tags/tag36.xml"/><Relationship Id="rId42" Type="http://schemas.openxmlformats.org/officeDocument/2006/relationships/tags" Target="../tags/tag44.xml"/><Relationship Id="rId47" Type="http://schemas.openxmlformats.org/officeDocument/2006/relationships/tags" Target="../tags/tag49.xml"/><Relationship Id="rId50" Type="http://schemas.openxmlformats.org/officeDocument/2006/relationships/notesSlide" Target="../notesSlides/notesSlide37.xml"/><Relationship Id="rId7" Type="http://schemas.openxmlformats.org/officeDocument/2006/relationships/tags" Target="../tags/tag9.xml"/><Relationship Id="rId2" Type="http://schemas.openxmlformats.org/officeDocument/2006/relationships/tags" Target="../tags/tag4.xml"/><Relationship Id="rId16" Type="http://schemas.openxmlformats.org/officeDocument/2006/relationships/tags" Target="../tags/tag18.xml"/><Relationship Id="rId29" Type="http://schemas.openxmlformats.org/officeDocument/2006/relationships/tags" Target="../tags/tag31.xml"/><Relationship Id="rId11" Type="http://schemas.openxmlformats.org/officeDocument/2006/relationships/tags" Target="../tags/tag13.xml"/><Relationship Id="rId24" Type="http://schemas.openxmlformats.org/officeDocument/2006/relationships/tags" Target="../tags/tag26.xml"/><Relationship Id="rId32" Type="http://schemas.openxmlformats.org/officeDocument/2006/relationships/tags" Target="../tags/tag34.xml"/><Relationship Id="rId37" Type="http://schemas.openxmlformats.org/officeDocument/2006/relationships/tags" Target="../tags/tag39.xml"/><Relationship Id="rId40" Type="http://schemas.openxmlformats.org/officeDocument/2006/relationships/tags" Target="../tags/tag42.xml"/><Relationship Id="rId45" Type="http://schemas.openxmlformats.org/officeDocument/2006/relationships/tags" Target="../tags/tag47.xml"/><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tags" Target="../tags/tag25.xml"/><Relationship Id="rId28" Type="http://schemas.openxmlformats.org/officeDocument/2006/relationships/tags" Target="../tags/tag30.xml"/><Relationship Id="rId36" Type="http://schemas.openxmlformats.org/officeDocument/2006/relationships/tags" Target="../tags/tag38.xml"/><Relationship Id="rId49" Type="http://schemas.openxmlformats.org/officeDocument/2006/relationships/slideLayout" Target="../slideLayouts/slideLayout3.xml"/><Relationship Id="rId10" Type="http://schemas.openxmlformats.org/officeDocument/2006/relationships/tags" Target="../tags/tag12.xml"/><Relationship Id="rId19" Type="http://schemas.openxmlformats.org/officeDocument/2006/relationships/tags" Target="../tags/tag21.xml"/><Relationship Id="rId31" Type="http://schemas.openxmlformats.org/officeDocument/2006/relationships/tags" Target="../tags/tag33.xml"/><Relationship Id="rId44" Type="http://schemas.openxmlformats.org/officeDocument/2006/relationships/tags" Target="../tags/tag46.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tags" Target="../tags/tag24.xml"/><Relationship Id="rId27" Type="http://schemas.openxmlformats.org/officeDocument/2006/relationships/tags" Target="../tags/tag29.xml"/><Relationship Id="rId30" Type="http://schemas.openxmlformats.org/officeDocument/2006/relationships/tags" Target="../tags/tag32.xml"/><Relationship Id="rId35" Type="http://schemas.openxmlformats.org/officeDocument/2006/relationships/tags" Target="../tags/tag37.xml"/><Relationship Id="rId43" Type="http://schemas.openxmlformats.org/officeDocument/2006/relationships/tags" Target="../tags/tag45.xml"/><Relationship Id="rId48" Type="http://schemas.openxmlformats.org/officeDocument/2006/relationships/tags" Target="../tags/tag50.xml"/><Relationship Id="rId8" Type="http://schemas.openxmlformats.org/officeDocument/2006/relationships/tags" Target="../tags/tag10.xml"/><Relationship Id="rId3" Type="http://schemas.openxmlformats.org/officeDocument/2006/relationships/tags" Target="../tags/tag5.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tags" Target="../tags/tag27.xml"/><Relationship Id="rId33" Type="http://schemas.openxmlformats.org/officeDocument/2006/relationships/tags" Target="../tags/tag35.xml"/><Relationship Id="rId38" Type="http://schemas.openxmlformats.org/officeDocument/2006/relationships/tags" Target="../tags/tag40.xml"/><Relationship Id="rId46" Type="http://schemas.openxmlformats.org/officeDocument/2006/relationships/tags" Target="../tags/tag48.xml"/><Relationship Id="rId20" Type="http://schemas.openxmlformats.org/officeDocument/2006/relationships/tags" Target="../tags/tag22.xml"/><Relationship Id="rId41" Type="http://schemas.openxmlformats.org/officeDocument/2006/relationships/tags" Target="../tags/tag43.xml"/><Relationship Id="rId1" Type="http://schemas.openxmlformats.org/officeDocument/2006/relationships/tags" Target="../tags/tag3.xml"/><Relationship Id="rId6" Type="http://schemas.openxmlformats.org/officeDocument/2006/relationships/tags" Target="../tags/tag8.xml"/></Relationships>
</file>

<file path=ppt/slides/_rels/slide38.xml.rels><?xml version="1.0" encoding="UTF-8" standalone="yes"?>
<Relationships xmlns="http://schemas.openxmlformats.org/package/2006/relationships"><Relationship Id="rId8" Type="http://schemas.openxmlformats.org/officeDocument/2006/relationships/tags" Target="../tags/tag58.xml"/><Relationship Id="rId3" Type="http://schemas.openxmlformats.org/officeDocument/2006/relationships/tags" Target="../tags/tag53.xml"/><Relationship Id="rId7" Type="http://schemas.openxmlformats.org/officeDocument/2006/relationships/tags" Target="../tags/tag5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10" Type="http://schemas.openxmlformats.org/officeDocument/2006/relationships/notesSlide" Target="../notesSlides/notesSlide38.xml"/><Relationship Id="rId4" Type="http://schemas.openxmlformats.org/officeDocument/2006/relationships/tags" Target="../tags/tag54.xml"/><Relationship Id="rId9"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3" Type="http://schemas.openxmlformats.org/officeDocument/2006/relationships/tags" Target="../tags/tag73.xml"/><Relationship Id="rId18" Type="http://schemas.openxmlformats.org/officeDocument/2006/relationships/tags" Target="../tags/tag78.xml"/><Relationship Id="rId26" Type="http://schemas.openxmlformats.org/officeDocument/2006/relationships/tags" Target="../tags/tag86.xml"/><Relationship Id="rId39" Type="http://schemas.openxmlformats.org/officeDocument/2006/relationships/tags" Target="../tags/tag99.xml"/><Relationship Id="rId21" Type="http://schemas.openxmlformats.org/officeDocument/2006/relationships/tags" Target="../tags/tag81.xml"/><Relationship Id="rId34" Type="http://schemas.openxmlformats.org/officeDocument/2006/relationships/tags" Target="../tags/tag94.xml"/><Relationship Id="rId42" Type="http://schemas.openxmlformats.org/officeDocument/2006/relationships/tags" Target="../tags/tag102.xml"/><Relationship Id="rId47" Type="http://schemas.openxmlformats.org/officeDocument/2006/relationships/tags" Target="../tags/tag107.xml"/><Relationship Id="rId50" Type="http://schemas.openxmlformats.org/officeDocument/2006/relationships/slideLayout" Target="../slideLayouts/slideLayout4.xml"/><Relationship Id="rId7" Type="http://schemas.openxmlformats.org/officeDocument/2006/relationships/tags" Target="../tags/tag67.xml"/><Relationship Id="rId2" Type="http://schemas.openxmlformats.org/officeDocument/2006/relationships/tags" Target="../tags/tag62.xml"/><Relationship Id="rId16" Type="http://schemas.openxmlformats.org/officeDocument/2006/relationships/tags" Target="../tags/tag76.xml"/><Relationship Id="rId29" Type="http://schemas.openxmlformats.org/officeDocument/2006/relationships/tags" Target="../tags/tag89.xml"/><Relationship Id="rId11" Type="http://schemas.openxmlformats.org/officeDocument/2006/relationships/tags" Target="../tags/tag71.xml"/><Relationship Id="rId24" Type="http://schemas.openxmlformats.org/officeDocument/2006/relationships/tags" Target="../tags/tag84.xml"/><Relationship Id="rId32" Type="http://schemas.openxmlformats.org/officeDocument/2006/relationships/tags" Target="../tags/tag92.xml"/><Relationship Id="rId37" Type="http://schemas.openxmlformats.org/officeDocument/2006/relationships/tags" Target="../tags/tag97.xml"/><Relationship Id="rId40" Type="http://schemas.openxmlformats.org/officeDocument/2006/relationships/tags" Target="../tags/tag100.xml"/><Relationship Id="rId45" Type="http://schemas.openxmlformats.org/officeDocument/2006/relationships/tags" Target="../tags/tag105.xml"/><Relationship Id="rId5" Type="http://schemas.openxmlformats.org/officeDocument/2006/relationships/tags" Target="../tags/tag65.xml"/><Relationship Id="rId15" Type="http://schemas.openxmlformats.org/officeDocument/2006/relationships/tags" Target="../tags/tag75.xml"/><Relationship Id="rId23" Type="http://schemas.openxmlformats.org/officeDocument/2006/relationships/tags" Target="../tags/tag83.xml"/><Relationship Id="rId28" Type="http://schemas.openxmlformats.org/officeDocument/2006/relationships/tags" Target="../tags/tag88.xml"/><Relationship Id="rId36" Type="http://schemas.openxmlformats.org/officeDocument/2006/relationships/tags" Target="../tags/tag96.xml"/><Relationship Id="rId49" Type="http://schemas.openxmlformats.org/officeDocument/2006/relationships/tags" Target="../tags/tag109.xml"/><Relationship Id="rId10" Type="http://schemas.openxmlformats.org/officeDocument/2006/relationships/tags" Target="../tags/tag70.xml"/><Relationship Id="rId19" Type="http://schemas.openxmlformats.org/officeDocument/2006/relationships/tags" Target="../tags/tag79.xml"/><Relationship Id="rId31" Type="http://schemas.openxmlformats.org/officeDocument/2006/relationships/tags" Target="../tags/tag91.xml"/><Relationship Id="rId44" Type="http://schemas.openxmlformats.org/officeDocument/2006/relationships/tags" Target="../tags/tag104.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 Id="rId22" Type="http://schemas.openxmlformats.org/officeDocument/2006/relationships/tags" Target="../tags/tag82.xml"/><Relationship Id="rId27" Type="http://schemas.openxmlformats.org/officeDocument/2006/relationships/tags" Target="../tags/tag87.xml"/><Relationship Id="rId30" Type="http://schemas.openxmlformats.org/officeDocument/2006/relationships/tags" Target="../tags/tag90.xml"/><Relationship Id="rId35" Type="http://schemas.openxmlformats.org/officeDocument/2006/relationships/tags" Target="../tags/tag95.xml"/><Relationship Id="rId43" Type="http://schemas.openxmlformats.org/officeDocument/2006/relationships/tags" Target="../tags/tag103.xml"/><Relationship Id="rId48" Type="http://schemas.openxmlformats.org/officeDocument/2006/relationships/tags" Target="../tags/tag108.xml"/><Relationship Id="rId8" Type="http://schemas.openxmlformats.org/officeDocument/2006/relationships/tags" Target="../tags/tag68.xml"/><Relationship Id="rId51" Type="http://schemas.openxmlformats.org/officeDocument/2006/relationships/notesSlide" Target="../notesSlides/notesSlide40.xml"/><Relationship Id="rId3" Type="http://schemas.openxmlformats.org/officeDocument/2006/relationships/tags" Target="../tags/tag63.xml"/><Relationship Id="rId12" Type="http://schemas.openxmlformats.org/officeDocument/2006/relationships/tags" Target="../tags/tag72.xml"/><Relationship Id="rId17" Type="http://schemas.openxmlformats.org/officeDocument/2006/relationships/tags" Target="../tags/tag77.xml"/><Relationship Id="rId25" Type="http://schemas.openxmlformats.org/officeDocument/2006/relationships/tags" Target="../tags/tag85.xml"/><Relationship Id="rId33" Type="http://schemas.openxmlformats.org/officeDocument/2006/relationships/tags" Target="../tags/tag93.xml"/><Relationship Id="rId38" Type="http://schemas.openxmlformats.org/officeDocument/2006/relationships/tags" Target="../tags/tag98.xml"/><Relationship Id="rId46" Type="http://schemas.openxmlformats.org/officeDocument/2006/relationships/tags" Target="../tags/tag106.xml"/><Relationship Id="rId20" Type="http://schemas.openxmlformats.org/officeDocument/2006/relationships/tags" Target="../tags/tag80.xml"/><Relationship Id="rId41" Type="http://schemas.openxmlformats.org/officeDocument/2006/relationships/tags" Target="../tags/tag101.xml"/><Relationship Id="rId1" Type="http://schemas.openxmlformats.org/officeDocument/2006/relationships/tags" Target="../tags/tag61.xml"/><Relationship Id="rId6" Type="http://schemas.openxmlformats.org/officeDocument/2006/relationships/tags" Target="../tags/tag66.xml"/></Relationships>
</file>

<file path=ppt/slides/_rels/slide41.xml.rels><?xml version="1.0" encoding="UTF-8" standalone="yes"?>
<Relationships xmlns="http://schemas.openxmlformats.org/package/2006/relationships"><Relationship Id="rId13" Type="http://schemas.openxmlformats.org/officeDocument/2006/relationships/tags" Target="../tags/tag122.xml"/><Relationship Id="rId18" Type="http://schemas.openxmlformats.org/officeDocument/2006/relationships/tags" Target="../tags/tag127.xml"/><Relationship Id="rId26" Type="http://schemas.openxmlformats.org/officeDocument/2006/relationships/tags" Target="../tags/tag135.xml"/><Relationship Id="rId39" Type="http://schemas.openxmlformats.org/officeDocument/2006/relationships/tags" Target="../tags/tag148.xml"/><Relationship Id="rId21" Type="http://schemas.openxmlformats.org/officeDocument/2006/relationships/tags" Target="../tags/tag130.xml"/><Relationship Id="rId34" Type="http://schemas.openxmlformats.org/officeDocument/2006/relationships/tags" Target="../tags/tag143.xml"/><Relationship Id="rId42" Type="http://schemas.openxmlformats.org/officeDocument/2006/relationships/tags" Target="../tags/tag151.xml"/><Relationship Id="rId47" Type="http://schemas.openxmlformats.org/officeDocument/2006/relationships/tags" Target="../tags/tag156.xml"/><Relationship Id="rId50" Type="http://schemas.openxmlformats.org/officeDocument/2006/relationships/slideLayout" Target="../slideLayouts/slideLayout4.xml"/><Relationship Id="rId7" Type="http://schemas.openxmlformats.org/officeDocument/2006/relationships/tags" Target="../tags/tag116.xml"/><Relationship Id="rId2" Type="http://schemas.openxmlformats.org/officeDocument/2006/relationships/tags" Target="../tags/tag111.xml"/><Relationship Id="rId16" Type="http://schemas.openxmlformats.org/officeDocument/2006/relationships/tags" Target="../tags/tag125.xml"/><Relationship Id="rId29" Type="http://schemas.openxmlformats.org/officeDocument/2006/relationships/tags" Target="../tags/tag138.xml"/><Relationship Id="rId11" Type="http://schemas.openxmlformats.org/officeDocument/2006/relationships/tags" Target="../tags/tag120.xml"/><Relationship Id="rId24" Type="http://schemas.openxmlformats.org/officeDocument/2006/relationships/tags" Target="../tags/tag133.xml"/><Relationship Id="rId32" Type="http://schemas.openxmlformats.org/officeDocument/2006/relationships/tags" Target="../tags/tag141.xml"/><Relationship Id="rId37" Type="http://schemas.openxmlformats.org/officeDocument/2006/relationships/tags" Target="../tags/tag146.xml"/><Relationship Id="rId40" Type="http://schemas.openxmlformats.org/officeDocument/2006/relationships/tags" Target="../tags/tag149.xml"/><Relationship Id="rId45" Type="http://schemas.openxmlformats.org/officeDocument/2006/relationships/tags" Target="../tags/tag154.xml"/><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tags" Target="../tags/tag132.xml"/><Relationship Id="rId28" Type="http://schemas.openxmlformats.org/officeDocument/2006/relationships/tags" Target="../tags/tag137.xml"/><Relationship Id="rId36" Type="http://schemas.openxmlformats.org/officeDocument/2006/relationships/tags" Target="../tags/tag145.xml"/><Relationship Id="rId49" Type="http://schemas.openxmlformats.org/officeDocument/2006/relationships/tags" Target="../tags/tag158.xml"/><Relationship Id="rId10" Type="http://schemas.openxmlformats.org/officeDocument/2006/relationships/tags" Target="../tags/tag119.xml"/><Relationship Id="rId19" Type="http://schemas.openxmlformats.org/officeDocument/2006/relationships/tags" Target="../tags/tag128.xml"/><Relationship Id="rId31" Type="http://schemas.openxmlformats.org/officeDocument/2006/relationships/tags" Target="../tags/tag140.xml"/><Relationship Id="rId44" Type="http://schemas.openxmlformats.org/officeDocument/2006/relationships/tags" Target="../tags/tag153.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tags" Target="../tags/tag131.xml"/><Relationship Id="rId27" Type="http://schemas.openxmlformats.org/officeDocument/2006/relationships/tags" Target="../tags/tag136.xml"/><Relationship Id="rId30" Type="http://schemas.openxmlformats.org/officeDocument/2006/relationships/tags" Target="../tags/tag139.xml"/><Relationship Id="rId35" Type="http://schemas.openxmlformats.org/officeDocument/2006/relationships/tags" Target="../tags/tag144.xml"/><Relationship Id="rId43" Type="http://schemas.openxmlformats.org/officeDocument/2006/relationships/tags" Target="../tags/tag152.xml"/><Relationship Id="rId48" Type="http://schemas.openxmlformats.org/officeDocument/2006/relationships/tags" Target="../tags/tag157.xml"/><Relationship Id="rId8" Type="http://schemas.openxmlformats.org/officeDocument/2006/relationships/tags" Target="../tags/tag117.xml"/><Relationship Id="rId51" Type="http://schemas.openxmlformats.org/officeDocument/2006/relationships/notesSlide" Target="../notesSlides/notesSlide41.xml"/><Relationship Id="rId3" Type="http://schemas.openxmlformats.org/officeDocument/2006/relationships/tags" Target="../tags/tag112.xml"/><Relationship Id="rId12" Type="http://schemas.openxmlformats.org/officeDocument/2006/relationships/tags" Target="../tags/tag121.xml"/><Relationship Id="rId17" Type="http://schemas.openxmlformats.org/officeDocument/2006/relationships/tags" Target="../tags/tag126.xml"/><Relationship Id="rId25" Type="http://schemas.openxmlformats.org/officeDocument/2006/relationships/tags" Target="../tags/tag134.xml"/><Relationship Id="rId33" Type="http://schemas.openxmlformats.org/officeDocument/2006/relationships/tags" Target="../tags/tag142.xml"/><Relationship Id="rId38" Type="http://schemas.openxmlformats.org/officeDocument/2006/relationships/tags" Target="../tags/tag147.xml"/><Relationship Id="rId46" Type="http://schemas.openxmlformats.org/officeDocument/2006/relationships/tags" Target="../tags/tag155.xml"/><Relationship Id="rId20" Type="http://schemas.openxmlformats.org/officeDocument/2006/relationships/tags" Target="../tags/tag129.xml"/><Relationship Id="rId41" Type="http://schemas.openxmlformats.org/officeDocument/2006/relationships/tags" Target="../tags/tag150.xml"/><Relationship Id="rId1" Type="http://schemas.openxmlformats.org/officeDocument/2006/relationships/tags" Target="../tags/tag110.xml"/><Relationship Id="rId6" Type="http://schemas.openxmlformats.org/officeDocument/2006/relationships/tags" Target="../tags/tag115.xml"/></Relationships>
</file>

<file path=ppt/slides/_rels/slide42.xml.rels><?xml version="1.0" encoding="UTF-8" standalone="yes"?>
<Relationships xmlns="http://schemas.openxmlformats.org/package/2006/relationships"><Relationship Id="rId13" Type="http://schemas.openxmlformats.org/officeDocument/2006/relationships/tags" Target="../tags/tag171.xml"/><Relationship Id="rId18" Type="http://schemas.openxmlformats.org/officeDocument/2006/relationships/tags" Target="../tags/tag176.xml"/><Relationship Id="rId26" Type="http://schemas.openxmlformats.org/officeDocument/2006/relationships/tags" Target="../tags/tag184.xml"/><Relationship Id="rId39" Type="http://schemas.openxmlformats.org/officeDocument/2006/relationships/tags" Target="../tags/tag197.xml"/><Relationship Id="rId21" Type="http://schemas.openxmlformats.org/officeDocument/2006/relationships/tags" Target="../tags/tag179.xml"/><Relationship Id="rId34" Type="http://schemas.openxmlformats.org/officeDocument/2006/relationships/tags" Target="../tags/tag192.xml"/><Relationship Id="rId42" Type="http://schemas.openxmlformats.org/officeDocument/2006/relationships/tags" Target="../tags/tag200.xml"/><Relationship Id="rId47" Type="http://schemas.openxmlformats.org/officeDocument/2006/relationships/tags" Target="../tags/tag205.xml"/><Relationship Id="rId50" Type="http://schemas.openxmlformats.org/officeDocument/2006/relationships/slideLayout" Target="../slideLayouts/slideLayout4.xml"/><Relationship Id="rId7" Type="http://schemas.openxmlformats.org/officeDocument/2006/relationships/tags" Target="../tags/tag165.xml"/><Relationship Id="rId2" Type="http://schemas.openxmlformats.org/officeDocument/2006/relationships/tags" Target="../tags/tag160.xml"/><Relationship Id="rId16" Type="http://schemas.openxmlformats.org/officeDocument/2006/relationships/tags" Target="../tags/tag174.xml"/><Relationship Id="rId29" Type="http://schemas.openxmlformats.org/officeDocument/2006/relationships/tags" Target="../tags/tag187.xml"/><Relationship Id="rId11" Type="http://schemas.openxmlformats.org/officeDocument/2006/relationships/tags" Target="../tags/tag169.xml"/><Relationship Id="rId24" Type="http://schemas.openxmlformats.org/officeDocument/2006/relationships/tags" Target="../tags/tag182.xml"/><Relationship Id="rId32" Type="http://schemas.openxmlformats.org/officeDocument/2006/relationships/tags" Target="../tags/tag190.xml"/><Relationship Id="rId37" Type="http://schemas.openxmlformats.org/officeDocument/2006/relationships/tags" Target="../tags/tag195.xml"/><Relationship Id="rId40" Type="http://schemas.openxmlformats.org/officeDocument/2006/relationships/tags" Target="../tags/tag198.xml"/><Relationship Id="rId45" Type="http://schemas.openxmlformats.org/officeDocument/2006/relationships/tags" Target="../tags/tag203.xml"/><Relationship Id="rId5" Type="http://schemas.openxmlformats.org/officeDocument/2006/relationships/tags" Target="../tags/tag163.xml"/><Relationship Id="rId15" Type="http://schemas.openxmlformats.org/officeDocument/2006/relationships/tags" Target="../tags/tag173.xml"/><Relationship Id="rId23" Type="http://schemas.openxmlformats.org/officeDocument/2006/relationships/tags" Target="../tags/tag181.xml"/><Relationship Id="rId28" Type="http://schemas.openxmlformats.org/officeDocument/2006/relationships/tags" Target="../tags/tag186.xml"/><Relationship Id="rId36" Type="http://schemas.openxmlformats.org/officeDocument/2006/relationships/tags" Target="../tags/tag194.xml"/><Relationship Id="rId49" Type="http://schemas.openxmlformats.org/officeDocument/2006/relationships/tags" Target="../tags/tag207.xml"/><Relationship Id="rId10" Type="http://schemas.openxmlformats.org/officeDocument/2006/relationships/tags" Target="../tags/tag168.xml"/><Relationship Id="rId19" Type="http://schemas.openxmlformats.org/officeDocument/2006/relationships/tags" Target="../tags/tag177.xml"/><Relationship Id="rId31" Type="http://schemas.openxmlformats.org/officeDocument/2006/relationships/tags" Target="../tags/tag189.xml"/><Relationship Id="rId44" Type="http://schemas.openxmlformats.org/officeDocument/2006/relationships/tags" Target="../tags/tag202.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 Id="rId22" Type="http://schemas.openxmlformats.org/officeDocument/2006/relationships/tags" Target="../tags/tag180.xml"/><Relationship Id="rId27" Type="http://schemas.openxmlformats.org/officeDocument/2006/relationships/tags" Target="../tags/tag185.xml"/><Relationship Id="rId30" Type="http://schemas.openxmlformats.org/officeDocument/2006/relationships/tags" Target="../tags/tag188.xml"/><Relationship Id="rId35" Type="http://schemas.openxmlformats.org/officeDocument/2006/relationships/tags" Target="../tags/tag193.xml"/><Relationship Id="rId43" Type="http://schemas.openxmlformats.org/officeDocument/2006/relationships/tags" Target="../tags/tag201.xml"/><Relationship Id="rId48" Type="http://schemas.openxmlformats.org/officeDocument/2006/relationships/tags" Target="../tags/tag206.xml"/><Relationship Id="rId8" Type="http://schemas.openxmlformats.org/officeDocument/2006/relationships/tags" Target="../tags/tag166.xml"/><Relationship Id="rId51" Type="http://schemas.openxmlformats.org/officeDocument/2006/relationships/notesSlide" Target="../notesSlides/notesSlide42.xml"/><Relationship Id="rId3" Type="http://schemas.openxmlformats.org/officeDocument/2006/relationships/tags" Target="../tags/tag161.xml"/><Relationship Id="rId12" Type="http://schemas.openxmlformats.org/officeDocument/2006/relationships/tags" Target="../tags/tag170.xml"/><Relationship Id="rId17" Type="http://schemas.openxmlformats.org/officeDocument/2006/relationships/tags" Target="../tags/tag175.xml"/><Relationship Id="rId25" Type="http://schemas.openxmlformats.org/officeDocument/2006/relationships/tags" Target="../tags/tag183.xml"/><Relationship Id="rId33" Type="http://schemas.openxmlformats.org/officeDocument/2006/relationships/tags" Target="../tags/tag191.xml"/><Relationship Id="rId38" Type="http://schemas.openxmlformats.org/officeDocument/2006/relationships/tags" Target="../tags/tag196.xml"/><Relationship Id="rId46" Type="http://schemas.openxmlformats.org/officeDocument/2006/relationships/tags" Target="../tags/tag204.xml"/><Relationship Id="rId20" Type="http://schemas.openxmlformats.org/officeDocument/2006/relationships/tags" Target="../tags/tag178.xml"/><Relationship Id="rId41" Type="http://schemas.openxmlformats.org/officeDocument/2006/relationships/tags" Target="../tags/tag199.xml"/><Relationship Id="rId1" Type="http://schemas.openxmlformats.org/officeDocument/2006/relationships/tags" Target="../tags/tag159.xml"/><Relationship Id="rId6" Type="http://schemas.openxmlformats.org/officeDocument/2006/relationships/tags" Target="../tags/tag164.xml"/></Relationships>
</file>

<file path=ppt/slides/_rels/slide43.xml.rels><?xml version="1.0" encoding="UTF-8" standalone="yes"?>
<Relationships xmlns="http://schemas.openxmlformats.org/package/2006/relationships"><Relationship Id="rId13" Type="http://schemas.openxmlformats.org/officeDocument/2006/relationships/tags" Target="../tags/tag220.xml"/><Relationship Id="rId18" Type="http://schemas.openxmlformats.org/officeDocument/2006/relationships/tags" Target="../tags/tag225.xml"/><Relationship Id="rId26" Type="http://schemas.openxmlformats.org/officeDocument/2006/relationships/tags" Target="../tags/tag233.xml"/><Relationship Id="rId39" Type="http://schemas.openxmlformats.org/officeDocument/2006/relationships/tags" Target="../tags/tag246.xml"/><Relationship Id="rId21" Type="http://schemas.openxmlformats.org/officeDocument/2006/relationships/tags" Target="../tags/tag228.xml"/><Relationship Id="rId34" Type="http://schemas.openxmlformats.org/officeDocument/2006/relationships/tags" Target="../tags/tag241.xml"/><Relationship Id="rId42" Type="http://schemas.openxmlformats.org/officeDocument/2006/relationships/tags" Target="../tags/tag249.xml"/><Relationship Id="rId47" Type="http://schemas.openxmlformats.org/officeDocument/2006/relationships/tags" Target="../tags/tag254.xml"/><Relationship Id="rId50" Type="http://schemas.openxmlformats.org/officeDocument/2006/relationships/slideLayout" Target="../slideLayouts/slideLayout4.xml"/><Relationship Id="rId7" Type="http://schemas.openxmlformats.org/officeDocument/2006/relationships/tags" Target="../tags/tag214.xml"/><Relationship Id="rId2" Type="http://schemas.openxmlformats.org/officeDocument/2006/relationships/tags" Target="../tags/tag209.xml"/><Relationship Id="rId16" Type="http://schemas.openxmlformats.org/officeDocument/2006/relationships/tags" Target="../tags/tag223.xml"/><Relationship Id="rId29" Type="http://schemas.openxmlformats.org/officeDocument/2006/relationships/tags" Target="../tags/tag236.xml"/><Relationship Id="rId11" Type="http://schemas.openxmlformats.org/officeDocument/2006/relationships/tags" Target="../tags/tag218.xml"/><Relationship Id="rId24" Type="http://schemas.openxmlformats.org/officeDocument/2006/relationships/tags" Target="../tags/tag231.xml"/><Relationship Id="rId32" Type="http://schemas.openxmlformats.org/officeDocument/2006/relationships/tags" Target="../tags/tag239.xml"/><Relationship Id="rId37" Type="http://schemas.openxmlformats.org/officeDocument/2006/relationships/tags" Target="../tags/tag244.xml"/><Relationship Id="rId40" Type="http://schemas.openxmlformats.org/officeDocument/2006/relationships/tags" Target="../tags/tag247.xml"/><Relationship Id="rId45" Type="http://schemas.openxmlformats.org/officeDocument/2006/relationships/tags" Target="../tags/tag252.xml"/><Relationship Id="rId5" Type="http://schemas.openxmlformats.org/officeDocument/2006/relationships/tags" Target="../tags/tag212.xml"/><Relationship Id="rId15" Type="http://schemas.openxmlformats.org/officeDocument/2006/relationships/tags" Target="../tags/tag222.xml"/><Relationship Id="rId23" Type="http://schemas.openxmlformats.org/officeDocument/2006/relationships/tags" Target="../tags/tag230.xml"/><Relationship Id="rId28" Type="http://schemas.openxmlformats.org/officeDocument/2006/relationships/tags" Target="../tags/tag235.xml"/><Relationship Id="rId36" Type="http://schemas.openxmlformats.org/officeDocument/2006/relationships/tags" Target="../tags/tag243.xml"/><Relationship Id="rId49" Type="http://schemas.openxmlformats.org/officeDocument/2006/relationships/tags" Target="../tags/tag256.xml"/><Relationship Id="rId10" Type="http://schemas.openxmlformats.org/officeDocument/2006/relationships/tags" Target="../tags/tag217.xml"/><Relationship Id="rId19" Type="http://schemas.openxmlformats.org/officeDocument/2006/relationships/tags" Target="../tags/tag226.xml"/><Relationship Id="rId31" Type="http://schemas.openxmlformats.org/officeDocument/2006/relationships/tags" Target="../tags/tag238.xml"/><Relationship Id="rId44" Type="http://schemas.openxmlformats.org/officeDocument/2006/relationships/tags" Target="../tags/tag251.xml"/><Relationship Id="rId4" Type="http://schemas.openxmlformats.org/officeDocument/2006/relationships/tags" Target="../tags/tag211.xml"/><Relationship Id="rId9" Type="http://schemas.openxmlformats.org/officeDocument/2006/relationships/tags" Target="../tags/tag216.xml"/><Relationship Id="rId14" Type="http://schemas.openxmlformats.org/officeDocument/2006/relationships/tags" Target="../tags/tag221.xml"/><Relationship Id="rId22" Type="http://schemas.openxmlformats.org/officeDocument/2006/relationships/tags" Target="../tags/tag229.xml"/><Relationship Id="rId27" Type="http://schemas.openxmlformats.org/officeDocument/2006/relationships/tags" Target="../tags/tag234.xml"/><Relationship Id="rId30" Type="http://schemas.openxmlformats.org/officeDocument/2006/relationships/tags" Target="../tags/tag237.xml"/><Relationship Id="rId35" Type="http://schemas.openxmlformats.org/officeDocument/2006/relationships/tags" Target="../tags/tag242.xml"/><Relationship Id="rId43" Type="http://schemas.openxmlformats.org/officeDocument/2006/relationships/tags" Target="../tags/tag250.xml"/><Relationship Id="rId48" Type="http://schemas.openxmlformats.org/officeDocument/2006/relationships/tags" Target="../tags/tag255.xml"/><Relationship Id="rId8" Type="http://schemas.openxmlformats.org/officeDocument/2006/relationships/tags" Target="../tags/tag215.xml"/><Relationship Id="rId51" Type="http://schemas.openxmlformats.org/officeDocument/2006/relationships/notesSlide" Target="../notesSlides/notesSlide43.xml"/><Relationship Id="rId3" Type="http://schemas.openxmlformats.org/officeDocument/2006/relationships/tags" Target="../tags/tag210.xml"/><Relationship Id="rId12" Type="http://schemas.openxmlformats.org/officeDocument/2006/relationships/tags" Target="../tags/tag219.xml"/><Relationship Id="rId17" Type="http://schemas.openxmlformats.org/officeDocument/2006/relationships/tags" Target="../tags/tag224.xml"/><Relationship Id="rId25" Type="http://schemas.openxmlformats.org/officeDocument/2006/relationships/tags" Target="../tags/tag232.xml"/><Relationship Id="rId33" Type="http://schemas.openxmlformats.org/officeDocument/2006/relationships/tags" Target="../tags/tag240.xml"/><Relationship Id="rId38" Type="http://schemas.openxmlformats.org/officeDocument/2006/relationships/tags" Target="../tags/tag245.xml"/><Relationship Id="rId46" Type="http://schemas.openxmlformats.org/officeDocument/2006/relationships/tags" Target="../tags/tag253.xml"/><Relationship Id="rId20" Type="http://schemas.openxmlformats.org/officeDocument/2006/relationships/tags" Target="../tags/tag227.xml"/><Relationship Id="rId41" Type="http://schemas.openxmlformats.org/officeDocument/2006/relationships/tags" Target="../tags/tag248.xml"/><Relationship Id="rId1" Type="http://schemas.openxmlformats.org/officeDocument/2006/relationships/tags" Target="../tags/tag208.xml"/><Relationship Id="rId6" Type="http://schemas.openxmlformats.org/officeDocument/2006/relationships/tags" Target="../tags/tag213.xml"/></Relationships>
</file>

<file path=ppt/slides/_rels/slide44.xml.rels><?xml version="1.0" encoding="UTF-8" standalone="yes"?>
<Relationships xmlns="http://schemas.openxmlformats.org/package/2006/relationships"><Relationship Id="rId13" Type="http://schemas.openxmlformats.org/officeDocument/2006/relationships/tags" Target="../tags/tag269.xml"/><Relationship Id="rId18" Type="http://schemas.openxmlformats.org/officeDocument/2006/relationships/tags" Target="../tags/tag274.xml"/><Relationship Id="rId26" Type="http://schemas.openxmlformats.org/officeDocument/2006/relationships/tags" Target="../tags/tag282.xml"/><Relationship Id="rId39" Type="http://schemas.openxmlformats.org/officeDocument/2006/relationships/tags" Target="../tags/tag295.xml"/><Relationship Id="rId21" Type="http://schemas.openxmlformats.org/officeDocument/2006/relationships/tags" Target="../tags/tag277.xml"/><Relationship Id="rId34" Type="http://schemas.openxmlformats.org/officeDocument/2006/relationships/tags" Target="../tags/tag290.xml"/><Relationship Id="rId42" Type="http://schemas.openxmlformats.org/officeDocument/2006/relationships/tags" Target="../tags/tag298.xml"/><Relationship Id="rId47" Type="http://schemas.openxmlformats.org/officeDocument/2006/relationships/tags" Target="../tags/tag303.xml"/><Relationship Id="rId50" Type="http://schemas.openxmlformats.org/officeDocument/2006/relationships/slideLayout" Target="../slideLayouts/slideLayout4.xml"/><Relationship Id="rId7" Type="http://schemas.openxmlformats.org/officeDocument/2006/relationships/tags" Target="../tags/tag263.xml"/><Relationship Id="rId2" Type="http://schemas.openxmlformats.org/officeDocument/2006/relationships/tags" Target="../tags/tag258.xml"/><Relationship Id="rId16" Type="http://schemas.openxmlformats.org/officeDocument/2006/relationships/tags" Target="../tags/tag272.xml"/><Relationship Id="rId29" Type="http://schemas.openxmlformats.org/officeDocument/2006/relationships/tags" Target="../tags/tag285.xml"/><Relationship Id="rId11" Type="http://schemas.openxmlformats.org/officeDocument/2006/relationships/tags" Target="../tags/tag267.xml"/><Relationship Id="rId24" Type="http://schemas.openxmlformats.org/officeDocument/2006/relationships/tags" Target="../tags/tag280.xml"/><Relationship Id="rId32" Type="http://schemas.openxmlformats.org/officeDocument/2006/relationships/tags" Target="../tags/tag288.xml"/><Relationship Id="rId37" Type="http://schemas.openxmlformats.org/officeDocument/2006/relationships/tags" Target="../tags/tag293.xml"/><Relationship Id="rId40" Type="http://schemas.openxmlformats.org/officeDocument/2006/relationships/tags" Target="../tags/tag296.xml"/><Relationship Id="rId45" Type="http://schemas.openxmlformats.org/officeDocument/2006/relationships/tags" Target="../tags/tag301.xml"/><Relationship Id="rId5" Type="http://schemas.openxmlformats.org/officeDocument/2006/relationships/tags" Target="../tags/tag261.xml"/><Relationship Id="rId15" Type="http://schemas.openxmlformats.org/officeDocument/2006/relationships/tags" Target="../tags/tag271.xml"/><Relationship Id="rId23" Type="http://schemas.openxmlformats.org/officeDocument/2006/relationships/tags" Target="../tags/tag279.xml"/><Relationship Id="rId28" Type="http://schemas.openxmlformats.org/officeDocument/2006/relationships/tags" Target="../tags/tag284.xml"/><Relationship Id="rId36" Type="http://schemas.openxmlformats.org/officeDocument/2006/relationships/tags" Target="../tags/tag292.xml"/><Relationship Id="rId49" Type="http://schemas.openxmlformats.org/officeDocument/2006/relationships/tags" Target="../tags/tag305.xml"/><Relationship Id="rId10" Type="http://schemas.openxmlformats.org/officeDocument/2006/relationships/tags" Target="../tags/tag266.xml"/><Relationship Id="rId19" Type="http://schemas.openxmlformats.org/officeDocument/2006/relationships/tags" Target="../tags/tag275.xml"/><Relationship Id="rId31" Type="http://schemas.openxmlformats.org/officeDocument/2006/relationships/tags" Target="../tags/tag287.xml"/><Relationship Id="rId44" Type="http://schemas.openxmlformats.org/officeDocument/2006/relationships/tags" Target="../tags/tag300.xml"/><Relationship Id="rId4" Type="http://schemas.openxmlformats.org/officeDocument/2006/relationships/tags" Target="../tags/tag260.xml"/><Relationship Id="rId9" Type="http://schemas.openxmlformats.org/officeDocument/2006/relationships/tags" Target="../tags/tag265.xml"/><Relationship Id="rId14" Type="http://schemas.openxmlformats.org/officeDocument/2006/relationships/tags" Target="../tags/tag270.xml"/><Relationship Id="rId22" Type="http://schemas.openxmlformats.org/officeDocument/2006/relationships/tags" Target="../tags/tag278.xml"/><Relationship Id="rId27" Type="http://schemas.openxmlformats.org/officeDocument/2006/relationships/tags" Target="../tags/tag283.xml"/><Relationship Id="rId30" Type="http://schemas.openxmlformats.org/officeDocument/2006/relationships/tags" Target="../tags/tag286.xml"/><Relationship Id="rId35" Type="http://schemas.openxmlformats.org/officeDocument/2006/relationships/tags" Target="../tags/tag291.xml"/><Relationship Id="rId43" Type="http://schemas.openxmlformats.org/officeDocument/2006/relationships/tags" Target="../tags/tag299.xml"/><Relationship Id="rId48" Type="http://schemas.openxmlformats.org/officeDocument/2006/relationships/tags" Target="../tags/tag304.xml"/><Relationship Id="rId8" Type="http://schemas.openxmlformats.org/officeDocument/2006/relationships/tags" Target="../tags/tag264.xml"/><Relationship Id="rId51" Type="http://schemas.openxmlformats.org/officeDocument/2006/relationships/notesSlide" Target="../notesSlides/notesSlide44.xml"/><Relationship Id="rId3" Type="http://schemas.openxmlformats.org/officeDocument/2006/relationships/tags" Target="../tags/tag259.xml"/><Relationship Id="rId12" Type="http://schemas.openxmlformats.org/officeDocument/2006/relationships/tags" Target="../tags/tag268.xml"/><Relationship Id="rId17" Type="http://schemas.openxmlformats.org/officeDocument/2006/relationships/tags" Target="../tags/tag273.xml"/><Relationship Id="rId25" Type="http://schemas.openxmlformats.org/officeDocument/2006/relationships/tags" Target="../tags/tag281.xml"/><Relationship Id="rId33" Type="http://schemas.openxmlformats.org/officeDocument/2006/relationships/tags" Target="../tags/tag289.xml"/><Relationship Id="rId38" Type="http://schemas.openxmlformats.org/officeDocument/2006/relationships/tags" Target="../tags/tag294.xml"/><Relationship Id="rId46" Type="http://schemas.openxmlformats.org/officeDocument/2006/relationships/tags" Target="../tags/tag302.xml"/><Relationship Id="rId20" Type="http://schemas.openxmlformats.org/officeDocument/2006/relationships/tags" Target="../tags/tag276.xml"/><Relationship Id="rId41" Type="http://schemas.openxmlformats.org/officeDocument/2006/relationships/tags" Target="../tags/tag297.xml"/><Relationship Id="rId1" Type="http://schemas.openxmlformats.org/officeDocument/2006/relationships/tags" Target="../tags/tag257.xml"/><Relationship Id="rId6" Type="http://schemas.openxmlformats.org/officeDocument/2006/relationships/tags" Target="../tags/tag262.xml"/></Relationships>
</file>

<file path=ppt/slides/_rels/slide45.xml.rels><?xml version="1.0" encoding="UTF-8" standalone="yes"?>
<Relationships xmlns="http://schemas.openxmlformats.org/package/2006/relationships"><Relationship Id="rId13" Type="http://schemas.openxmlformats.org/officeDocument/2006/relationships/tags" Target="../tags/tag318.xml"/><Relationship Id="rId18" Type="http://schemas.openxmlformats.org/officeDocument/2006/relationships/tags" Target="../tags/tag323.xml"/><Relationship Id="rId26" Type="http://schemas.openxmlformats.org/officeDocument/2006/relationships/tags" Target="../tags/tag331.xml"/><Relationship Id="rId39" Type="http://schemas.openxmlformats.org/officeDocument/2006/relationships/tags" Target="../tags/tag344.xml"/><Relationship Id="rId21" Type="http://schemas.openxmlformats.org/officeDocument/2006/relationships/tags" Target="../tags/tag326.xml"/><Relationship Id="rId34" Type="http://schemas.openxmlformats.org/officeDocument/2006/relationships/tags" Target="../tags/tag339.xml"/><Relationship Id="rId42" Type="http://schemas.openxmlformats.org/officeDocument/2006/relationships/tags" Target="../tags/tag347.xml"/><Relationship Id="rId47" Type="http://schemas.openxmlformats.org/officeDocument/2006/relationships/tags" Target="../tags/tag352.xml"/><Relationship Id="rId50" Type="http://schemas.openxmlformats.org/officeDocument/2006/relationships/slideLayout" Target="../slideLayouts/slideLayout4.xml"/><Relationship Id="rId7" Type="http://schemas.openxmlformats.org/officeDocument/2006/relationships/tags" Target="../tags/tag312.xml"/><Relationship Id="rId2" Type="http://schemas.openxmlformats.org/officeDocument/2006/relationships/tags" Target="../tags/tag307.xml"/><Relationship Id="rId16" Type="http://schemas.openxmlformats.org/officeDocument/2006/relationships/tags" Target="../tags/tag321.xml"/><Relationship Id="rId29" Type="http://schemas.openxmlformats.org/officeDocument/2006/relationships/tags" Target="../tags/tag334.xml"/><Relationship Id="rId11" Type="http://schemas.openxmlformats.org/officeDocument/2006/relationships/tags" Target="../tags/tag316.xml"/><Relationship Id="rId24" Type="http://schemas.openxmlformats.org/officeDocument/2006/relationships/tags" Target="../tags/tag329.xml"/><Relationship Id="rId32" Type="http://schemas.openxmlformats.org/officeDocument/2006/relationships/tags" Target="../tags/tag337.xml"/><Relationship Id="rId37" Type="http://schemas.openxmlformats.org/officeDocument/2006/relationships/tags" Target="../tags/tag342.xml"/><Relationship Id="rId40" Type="http://schemas.openxmlformats.org/officeDocument/2006/relationships/tags" Target="../tags/tag345.xml"/><Relationship Id="rId45" Type="http://schemas.openxmlformats.org/officeDocument/2006/relationships/tags" Target="../tags/tag350.xml"/><Relationship Id="rId5" Type="http://schemas.openxmlformats.org/officeDocument/2006/relationships/tags" Target="../tags/tag310.xml"/><Relationship Id="rId15" Type="http://schemas.openxmlformats.org/officeDocument/2006/relationships/tags" Target="../tags/tag320.xml"/><Relationship Id="rId23" Type="http://schemas.openxmlformats.org/officeDocument/2006/relationships/tags" Target="../tags/tag328.xml"/><Relationship Id="rId28" Type="http://schemas.openxmlformats.org/officeDocument/2006/relationships/tags" Target="../tags/tag333.xml"/><Relationship Id="rId36" Type="http://schemas.openxmlformats.org/officeDocument/2006/relationships/tags" Target="../tags/tag341.xml"/><Relationship Id="rId49" Type="http://schemas.openxmlformats.org/officeDocument/2006/relationships/tags" Target="../tags/tag354.xml"/><Relationship Id="rId10" Type="http://schemas.openxmlformats.org/officeDocument/2006/relationships/tags" Target="../tags/tag315.xml"/><Relationship Id="rId19" Type="http://schemas.openxmlformats.org/officeDocument/2006/relationships/tags" Target="../tags/tag324.xml"/><Relationship Id="rId31" Type="http://schemas.openxmlformats.org/officeDocument/2006/relationships/tags" Target="../tags/tag336.xml"/><Relationship Id="rId44" Type="http://schemas.openxmlformats.org/officeDocument/2006/relationships/tags" Target="../tags/tag349.xml"/><Relationship Id="rId4" Type="http://schemas.openxmlformats.org/officeDocument/2006/relationships/tags" Target="../tags/tag309.xml"/><Relationship Id="rId9" Type="http://schemas.openxmlformats.org/officeDocument/2006/relationships/tags" Target="../tags/tag314.xml"/><Relationship Id="rId14" Type="http://schemas.openxmlformats.org/officeDocument/2006/relationships/tags" Target="../tags/tag319.xml"/><Relationship Id="rId22" Type="http://schemas.openxmlformats.org/officeDocument/2006/relationships/tags" Target="../tags/tag327.xml"/><Relationship Id="rId27" Type="http://schemas.openxmlformats.org/officeDocument/2006/relationships/tags" Target="../tags/tag332.xml"/><Relationship Id="rId30" Type="http://schemas.openxmlformats.org/officeDocument/2006/relationships/tags" Target="../tags/tag335.xml"/><Relationship Id="rId35" Type="http://schemas.openxmlformats.org/officeDocument/2006/relationships/tags" Target="../tags/tag340.xml"/><Relationship Id="rId43" Type="http://schemas.openxmlformats.org/officeDocument/2006/relationships/tags" Target="../tags/tag348.xml"/><Relationship Id="rId48" Type="http://schemas.openxmlformats.org/officeDocument/2006/relationships/tags" Target="../tags/tag353.xml"/><Relationship Id="rId8" Type="http://schemas.openxmlformats.org/officeDocument/2006/relationships/tags" Target="../tags/tag313.xml"/><Relationship Id="rId51" Type="http://schemas.openxmlformats.org/officeDocument/2006/relationships/notesSlide" Target="../notesSlides/notesSlide45.xml"/><Relationship Id="rId3" Type="http://schemas.openxmlformats.org/officeDocument/2006/relationships/tags" Target="../tags/tag308.xml"/><Relationship Id="rId12" Type="http://schemas.openxmlformats.org/officeDocument/2006/relationships/tags" Target="../tags/tag317.xml"/><Relationship Id="rId17" Type="http://schemas.openxmlformats.org/officeDocument/2006/relationships/tags" Target="../tags/tag322.xml"/><Relationship Id="rId25" Type="http://schemas.openxmlformats.org/officeDocument/2006/relationships/tags" Target="../tags/tag330.xml"/><Relationship Id="rId33" Type="http://schemas.openxmlformats.org/officeDocument/2006/relationships/tags" Target="../tags/tag338.xml"/><Relationship Id="rId38" Type="http://schemas.openxmlformats.org/officeDocument/2006/relationships/tags" Target="../tags/tag343.xml"/><Relationship Id="rId46" Type="http://schemas.openxmlformats.org/officeDocument/2006/relationships/tags" Target="../tags/tag351.xml"/><Relationship Id="rId20" Type="http://schemas.openxmlformats.org/officeDocument/2006/relationships/tags" Target="../tags/tag325.xml"/><Relationship Id="rId41" Type="http://schemas.openxmlformats.org/officeDocument/2006/relationships/tags" Target="../tags/tag346.xml"/><Relationship Id="rId1" Type="http://schemas.openxmlformats.org/officeDocument/2006/relationships/tags" Target="../tags/tag306.xml"/><Relationship Id="rId6" Type="http://schemas.openxmlformats.org/officeDocument/2006/relationships/tags" Target="../tags/tag311.xml"/></Relationships>
</file>

<file path=ppt/slides/_rels/slide46.xml.rels><?xml version="1.0" encoding="UTF-8" standalone="yes"?>
<Relationships xmlns="http://schemas.openxmlformats.org/package/2006/relationships"><Relationship Id="rId13" Type="http://schemas.openxmlformats.org/officeDocument/2006/relationships/tags" Target="../tags/tag367.xml"/><Relationship Id="rId18" Type="http://schemas.openxmlformats.org/officeDocument/2006/relationships/tags" Target="../tags/tag372.xml"/><Relationship Id="rId26" Type="http://schemas.openxmlformats.org/officeDocument/2006/relationships/tags" Target="../tags/tag380.xml"/><Relationship Id="rId39" Type="http://schemas.openxmlformats.org/officeDocument/2006/relationships/tags" Target="../tags/tag393.xml"/><Relationship Id="rId21" Type="http://schemas.openxmlformats.org/officeDocument/2006/relationships/tags" Target="../tags/tag375.xml"/><Relationship Id="rId34" Type="http://schemas.openxmlformats.org/officeDocument/2006/relationships/tags" Target="../tags/tag388.xml"/><Relationship Id="rId42" Type="http://schemas.openxmlformats.org/officeDocument/2006/relationships/tags" Target="../tags/tag396.xml"/><Relationship Id="rId47" Type="http://schemas.openxmlformats.org/officeDocument/2006/relationships/tags" Target="../tags/tag401.xml"/><Relationship Id="rId50" Type="http://schemas.openxmlformats.org/officeDocument/2006/relationships/slideLayout" Target="../slideLayouts/slideLayout4.xml"/><Relationship Id="rId7" Type="http://schemas.openxmlformats.org/officeDocument/2006/relationships/tags" Target="../tags/tag361.xml"/><Relationship Id="rId2" Type="http://schemas.openxmlformats.org/officeDocument/2006/relationships/tags" Target="../tags/tag356.xml"/><Relationship Id="rId16" Type="http://schemas.openxmlformats.org/officeDocument/2006/relationships/tags" Target="../tags/tag370.xml"/><Relationship Id="rId29" Type="http://schemas.openxmlformats.org/officeDocument/2006/relationships/tags" Target="../tags/tag383.xml"/><Relationship Id="rId11" Type="http://schemas.openxmlformats.org/officeDocument/2006/relationships/tags" Target="../tags/tag365.xml"/><Relationship Id="rId24" Type="http://schemas.openxmlformats.org/officeDocument/2006/relationships/tags" Target="../tags/tag378.xml"/><Relationship Id="rId32" Type="http://schemas.openxmlformats.org/officeDocument/2006/relationships/tags" Target="../tags/tag386.xml"/><Relationship Id="rId37" Type="http://schemas.openxmlformats.org/officeDocument/2006/relationships/tags" Target="../tags/tag391.xml"/><Relationship Id="rId40" Type="http://schemas.openxmlformats.org/officeDocument/2006/relationships/tags" Target="../tags/tag394.xml"/><Relationship Id="rId45" Type="http://schemas.openxmlformats.org/officeDocument/2006/relationships/tags" Target="../tags/tag399.xml"/><Relationship Id="rId5" Type="http://schemas.openxmlformats.org/officeDocument/2006/relationships/tags" Target="../tags/tag359.xml"/><Relationship Id="rId15" Type="http://schemas.openxmlformats.org/officeDocument/2006/relationships/tags" Target="../tags/tag369.xml"/><Relationship Id="rId23" Type="http://schemas.openxmlformats.org/officeDocument/2006/relationships/tags" Target="../tags/tag377.xml"/><Relationship Id="rId28" Type="http://schemas.openxmlformats.org/officeDocument/2006/relationships/tags" Target="../tags/tag382.xml"/><Relationship Id="rId36" Type="http://schemas.openxmlformats.org/officeDocument/2006/relationships/tags" Target="../tags/tag390.xml"/><Relationship Id="rId49" Type="http://schemas.openxmlformats.org/officeDocument/2006/relationships/tags" Target="../tags/tag403.xml"/><Relationship Id="rId10" Type="http://schemas.openxmlformats.org/officeDocument/2006/relationships/tags" Target="../tags/tag364.xml"/><Relationship Id="rId19" Type="http://schemas.openxmlformats.org/officeDocument/2006/relationships/tags" Target="../tags/tag373.xml"/><Relationship Id="rId31" Type="http://schemas.openxmlformats.org/officeDocument/2006/relationships/tags" Target="../tags/tag385.xml"/><Relationship Id="rId44" Type="http://schemas.openxmlformats.org/officeDocument/2006/relationships/tags" Target="../tags/tag398.xml"/><Relationship Id="rId4" Type="http://schemas.openxmlformats.org/officeDocument/2006/relationships/tags" Target="../tags/tag358.xml"/><Relationship Id="rId9" Type="http://schemas.openxmlformats.org/officeDocument/2006/relationships/tags" Target="../tags/tag363.xml"/><Relationship Id="rId14" Type="http://schemas.openxmlformats.org/officeDocument/2006/relationships/tags" Target="../tags/tag368.xml"/><Relationship Id="rId22" Type="http://schemas.openxmlformats.org/officeDocument/2006/relationships/tags" Target="../tags/tag376.xml"/><Relationship Id="rId27" Type="http://schemas.openxmlformats.org/officeDocument/2006/relationships/tags" Target="../tags/tag381.xml"/><Relationship Id="rId30" Type="http://schemas.openxmlformats.org/officeDocument/2006/relationships/tags" Target="../tags/tag384.xml"/><Relationship Id="rId35" Type="http://schemas.openxmlformats.org/officeDocument/2006/relationships/tags" Target="../tags/tag389.xml"/><Relationship Id="rId43" Type="http://schemas.openxmlformats.org/officeDocument/2006/relationships/tags" Target="../tags/tag397.xml"/><Relationship Id="rId48" Type="http://schemas.openxmlformats.org/officeDocument/2006/relationships/tags" Target="../tags/tag402.xml"/><Relationship Id="rId8" Type="http://schemas.openxmlformats.org/officeDocument/2006/relationships/tags" Target="../tags/tag362.xml"/><Relationship Id="rId51" Type="http://schemas.openxmlformats.org/officeDocument/2006/relationships/notesSlide" Target="../notesSlides/notesSlide46.xml"/><Relationship Id="rId3" Type="http://schemas.openxmlformats.org/officeDocument/2006/relationships/tags" Target="../tags/tag357.xml"/><Relationship Id="rId12" Type="http://schemas.openxmlformats.org/officeDocument/2006/relationships/tags" Target="../tags/tag366.xml"/><Relationship Id="rId17" Type="http://schemas.openxmlformats.org/officeDocument/2006/relationships/tags" Target="../tags/tag371.xml"/><Relationship Id="rId25" Type="http://schemas.openxmlformats.org/officeDocument/2006/relationships/tags" Target="../tags/tag379.xml"/><Relationship Id="rId33" Type="http://schemas.openxmlformats.org/officeDocument/2006/relationships/tags" Target="../tags/tag387.xml"/><Relationship Id="rId38" Type="http://schemas.openxmlformats.org/officeDocument/2006/relationships/tags" Target="../tags/tag392.xml"/><Relationship Id="rId46" Type="http://schemas.openxmlformats.org/officeDocument/2006/relationships/tags" Target="../tags/tag400.xml"/><Relationship Id="rId20" Type="http://schemas.openxmlformats.org/officeDocument/2006/relationships/tags" Target="../tags/tag374.xml"/><Relationship Id="rId41" Type="http://schemas.openxmlformats.org/officeDocument/2006/relationships/tags" Target="../tags/tag395.xml"/><Relationship Id="rId1" Type="http://schemas.openxmlformats.org/officeDocument/2006/relationships/tags" Target="../tags/tag355.xml"/><Relationship Id="rId6" Type="http://schemas.openxmlformats.org/officeDocument/2006/relationships/tags" Target="../tags/tag360.xml"/></Relationships>
</file>

<file path=ppt/slides/_rels/slide47.xml.rels><?xml version="1.0" encoding="UTF-8" standalone="yes"?>
<Relationships xmlns="http://schemas.openxmlformats.org/package/2006/relationships"><Relationship Id="rId13" Type="http://schemas.openxmlformats.org/officeDocument/2006/relationships/tags" Target="../tags/tag416.xml"/><Relationship Id="rId18" Type="http://schemas.openxmlformats.org/officeDocument/2006/relationships/tags" Target="../tags/tag421.xml"/><Relationship Id="rId26" Type="http://schemas.openxmlformats.org/officeDocument/2006/relationships/tags" Target="../tags/tag429.xml"/><Relationship Id="rId39" Type="http://schemas.openxmlformats.org/officeDocument/2006/relationships/tags" Target="../tags/tag442.xml"/><Relationship Id="rId21" Type="http://schemas.openxmlformats.org/officeDocument/2006/relationships/tags" Target="../tags/tag424.xml"/><Relationship Id="rId34" Type="http://schemas.openxmlformats.org/officeDocument/2006/relationships/tags" Target="../tags/tag437.xml"/><Relationship Id="rId42" Type="http://schemas.openxmlformats.org/officeDocument/2006/relationships/tags" Target="../tags/tag445.xml"/><Relationship Id="rId47" Type="http://schemas.openxmlformats.org/officeDocument/2006/relationships/tags" Target="../tags/tag450.xml"/><Relationship Id="rId50" Type="http://schemas.openxmlformats.org/officeDocument/2006/relationships/slideLayout" Target="../slideLayouts/slideLayout4.xml"/><Relationship Id="rId7" Type="http://schemas.openxmlformats.org/officeDocument/2006/relationships/tags" Target="../tags/tag410.xml"/><Relationship Id="rId2" Type="http://schemas.openxmlformats.org/officeDocument/2006/relationships/tags" Target="../tags/tag405.xml"/><Relationship Id="rId16" Type="http://schemas.openxmlformats.org/officeDocument/2006/relationships/tags" Target="../tags/tag419.xml"/><Relationship Id="rId29" Type="http://schemas.openxmlformats.org/officeDocument/2006/relationships/tags" Target="../tags/tag432.xml"/><Relationship Id="rId11" Type="http://schemas.openxmlformats.org/officeDocument/2006/relationships/tags" Target="../tags/tag414.xml"/><Relationship Id="rId24" Type="http://schemas.openxmlformats.org/officeDocument/2006/relationships/tags" Target="../tags/tag427.xml"/><Relationship Id="rId32" Type="http://schemas.openxmlformats.org/officeDocument/2006/relationships/tags" Target="../tags/tag435.xml"/><Relationship Id="rId37" Type="http://schemas.openxmlformats.org/officeDocument/2006/relationships/tags" Target="../tags/tag440.xml"/><Relationship Id="rId40" Type="http://schemas.openxmlformats.org/officeDocument/2006/relationships/tags" Target="../tags/tag443.xml"/><Relationship Id="rId45" Type="http://schemas.openxmlformats.org/officeDocument/2006/relationships/tags" Target="../tags/tag448.xml"/><Relationship Id="rId5" Type="http://schemas.openxmlformats.org/officeDocument/2006/relationships/tags" Target="../tags/tag408.xml"/><Relationship Id="rId15" Type="http://schemas.openxmlformats.org/officeDocument/2006/relationships/tags" Target="../tags/tag418.xml"/><Relationship Id="rId23" Type="http://schemas.openxmlformats.org/officeDocument/2006/relationships/tags" Target="../tags/tag426.xml"/><Relationship Id="rId28" Type="http://schemas.openxmlformats.org/officeDocument/2006/relationships/tags" Target="../tags/tag431.xml"/><Relationship Id="rId36" Type="http://schemas.openxmlformats.org/officeDocument/2006/relationships/tags" Target="../tags/tag439.xml"/><Relationship Id="rId49" Type="http://schemas.openxmlformats.org/officeDocument/2006/relationships/tags" Target="../tags/tag452.xml"/><Relationship Id="rId10" Type="http://schemas.openxmlformats.org/officeDocument/2006/relationships/tags" Target="../tags/tag413.xml"/><Relationship Id="rId19" Type="http://schemas.openxmlformats.org/officeDocument/2006/relationships/tags" Target="../tags/tag422.xml"/><Relationship Id="rId31" Type="http://schemas.openxmlformats.org/officeDocument/2006/relationships/tags" Target="../tags/tag434.xml"/><Relationship Id="rId44" Type="http://schemas.openxmlformats.org/officeDocument/2006/relationships/tags" Target="../tags/tag447.xml"/><Relationship Id="rId4" Type="http://schemas.openxmlformats.org/officeDocument/2006/relationships/tags" Target="../tags/tag407.xml"/><Relationship Id="rId9" Type="http://schemas.openxmlformats.org/officeDocument/2006/relationships/tags" Target="../tags/tag412.xml"/><Relationship Id="rId14" Type="http://schemas.openxmlformats.org/officeDocument/2006/relationships/tags" Target="../tags/tag417.xml"/><Relationship Id="rId22" Type="http://schemas.openxmlformats.org/officeDocument/2006/relationships/tags" Target="../tags/tag425.xml"/><Relationship Id="rId27" Type="http://schemas.openxmlformats.org/officeDocument/2006/relationships/tags" Target="../tags/tag430.xml"/><Relationship Id="rId30" Type="http://schemas.openxmlformats.org/officeDocument/2006/relationships/tags" Target="../tags/tag433.xml"/><Relationship Id="rId35" Type="http://schemas.openxmlformats.org/officeDocument/2006/relationships/tags" Target="../tags/tag438.xml"/><Relationship Id="rId43" Type="http://schemas.openxmlformats.org/officeDocument/2006/relationships/tags" Target="../tags/tag446.xml"/><Relationship Id="rId48" Type="http://schemas.openxmlformats.org/officeDocument/2006/relationships/tags" Target="../tags/tag451.xml"/><Relationship Id="rId8" Type="http://schemas.openxmlformats.org/officeDocument/2006/relationships/tags" Target="../tags/tag411.xml"/><Relationship Id="rId51" Type="http://schemas.openxmlformats.org/officeDocument/2006/relationships/notesSlide" Target="../notesSlides/notesSlide47.xml"/><Relationship Id="rId3" Type="http://schemas.openxmlformats.org/officeDocument/2006/relationships/tags" Target="../tags/tag406.xml"/><Relationship Id="rId12" Type="http://schemas.openxmlformats.org/officeDocument/2006/relationships/tags" Target="../tags/tag415.xml"/><Relationship Id="rId17" Type="http://schemas.openxmlformats.org/officeDocument/2006/relationships/tags" Target="../tags/tag420.xml"/><Relationship Id="rId25" Type="http://schemas.openxmlformats.org/officeDocument/2006/relationships/tags" Target="../tags/tag428.xml"/><Relationship Id="rId33" Type="http://schemas.openxmlformats.org/officeDocument/2006/relationships/tags" Target="../tags/tag436.xml"/><Relationship Id="rId38" Type="http://schemas.openxmlformats.org/officeDocument/2006/relationships/tags" Target="../tags/tag441.xml"/><Relationship Id="rId46" Type="http://schemas.openxmlformats.org/officeDocument/2006/relationships/tags" Target="../tags/tag449.xml"/><Relationship Id="rId20" Type="http://schemas.openxmlformats.org/officeDocument/2006/relationships/tags" Target="../tags/tag423.xml"/><Relationship Id="rId41" Type="http://schemas.openxmlformats.org/officeDocument/2006/relationships/tags" Target="../tags/tag444.xml"/><Relationship Id="rId1" Type="http://schemas.openxmlformats.org/officeDocument/2006/relationships/tags" Target="../tags/tag404.xml"/><Relationship Id="rId6" Type="http://schemas.openxmlformats.org/officeDocument/2006/relationships/tags" Target="../tags/tag409.xml"/></Relationships>
</file>

<file path=ppt/slides/_rels/slide48.xml.rels><?xml version="1.0" encoding="UTF-8" standalone="yes"?>
<Relationships xmlns="http://schemas.openxmlformats.org/package/2006/relationships"><Relationship Id="rId13" Type="http://schemas.openxmlformats.org/officeDocument/2006/relationships/tags" Target="../tags/tag465.xml"/><Relationship Id="rId18" Type="http://schemas.openxmlformats.org/officeDocument/2006/relationships/tags" Target="../tags/tag470.xml"/><Relationship Id="rId26" Type="http://schemas.openxmlformats.org/officeDocument/2006/relationships/tags" Target="../tags/tag478.xml"/><Relationship Id="rId39" Type="http://schemas.openxmlformats.org/officeDocument/2006/relationships/tags" Target="../tags/tag491.xml"/><Relationship Id="rId21" Type="http://schemas.openxmlformats.org/officeDocument/2006/relationships/tags" Target="../tags/tag473.xml"/><Relationship Id="rId34" Type="http://schemas.openxmlformats.org/officeDocument/2006/relationships/tags" Target="../tags/tag486.xml"/><Relationship Id="rId42" Type="http://schemas.openxmlformats.org/officeDocument/2006/relationships/tags" Target="../tags/tag494.xml"/><Relationship Id="rId47" Type="http://schemas.openxmlformats.org/officeDocument/2006/relationships/tags" Target="../tags/tag499.xml"/><Relationship Id="rId50" Type="http://schemas.openxmlformats.org/officeDocument/2006/relationships/slideLayout" Target="../slideLayouts/slideLayout4.xml"/><Relationship Id="rId7" Type="http://schemas.openxmlformats.org/officeDocument/2006/relationships/tags" Target="../tags/tag459.xml"/><Relationship Id="rId2" Type="http://schemas.openxmlformats.org/officeDocument/2006/relationships/tags" Target="../tags/tag454.xml"/><Relationship Id="rId16" Type="http://schemas.openxmlformats.org/officeDocument/2006/relationships/tags" Target="../tags/tag468.xml"/><Relationship Id="rId29" Type="http://schemas.openxmlformats.org/officeDocument/2006/relationships/tags" Target="../tags/tag481.xml"/><Relationship Id="rId11" Type="http://schemas.openxmlformats.org/officeDocument/2006/relationships/tags" Target="../tags/tag463.xml"/><Relationship Id="rId24" Type="http://schemas.openxmlformats.org/officeDocument/2006/relationships/tags" Target="../tags/tag476.xml"/><Relationship Id="rId32" Type="http://schemas.openxmlformats.org/officeDocument/2006/relationships/tags" Target="../tags/tag484.xml"/><Relationship Id="rId37" Type="http://schemas.openxmlformats.org/officeDocument/2006/relationships/tags" Target="../tags/tag489.xml"/><Relationship Id="rId40" Type="http://schemas.openxmlformats.org/officeDocument/2006/relationships/tags" Target="../tags/tag492.xml"/><Relationship Id="rId45" Type="http://schemas.openxmlformats.org/officeDocument/2006/relationships/tags" Target="../tags/tag497.xml"/><Relationship Id="rId5" Type="http://schemas.openxmlformats.org/officeDocument/2006/relationships/tags" Target="../tags/tag457.xml"/><Relationship Id="rId15" Type="http://schemas.openxmlformats.org/officeDocument/2006/relationships/tags" Target="../tags/tag467.xml"/><Relationship Id="rId23" Type="http://schemas.openxmlformats.org/officeDocument/2006/relationships/tags" Target="../tags/tag475.xml"/><Relationship Id="rId28" Type="http://schemas.openxmlformats.org/officeDocument/2006/relationships/tags" Target="../tags/tag480.xml"/><Relationship Id="rId36" Type="http://schemas.openxmlformats.org/officeDocument/2006/relationships/tags" Target="../tags/tag488.xml"/><Relationship Id="rId49" Type="http://schemas.openxmlformats.org/officeDocument/2006/relationships/tags" Target="../tags/tag501.xml"/><Relationship Id="rId10" Type="http://schemas.openxmlformats.org/officeDocument/2006/relationships/tags" Target="../tags/tag462.xml"/><Relationship Id="rId19" Type="http://schemas.openxmlformats.org/officeDocument/2006/relationships/tags" Target="../tags/tag471.xml"/><Relationship Id="rId31" Type="http://schemas.openxmlformats.org/officeDocument/2006/relationships/tags" Target="../tags/tag483.xml"/><Relationship Id="rId44" Type="http://schemas.openxmlformats.org/officeDocument/2006/relationships/tags" Target="../tags/tag496.xml"/><Relationship Id="rId4" Type="http://schemas.openxmlformats.org/officeDocument/2006/relationships/tags" Target="../tags/tag456.xml"/><Relationship Id="rId9" Type="http://schemas.openxmlformats.org/officeDocument/2006/relationships/tags" Target="../tags/tag461.xml"/><Relationship Id="rId14" Type="http://schemas.openxmlformats.org/officeDocument/2006/relationships/tags" Target="../tags/tag466.xml"/><Relationship Id="rId22" Type="http://schemas.openxmlformats.org/officeDocument/2006/relationships/tags" Target="../tags/tag474.xml"/><Relationship Id="rId27" Type="http://schemas.openxmlformats.org/officeDocument/2006/relationships/tags" Target="../tags/tag479.xml"/><Relationship Id="rId30" Type="http://schemas.openxmlformats.org/officeDocument/2006/relationships/tags" Target="../tags/tag482.xml"/><Relationship Id="rId35" Type="http://schemas.openxmlformats.org/officeDocument/2006/relationships/tags" Target="../tags/tag487.xml"/><Relationship Id="rId43" Type="http://schemas.openxmlformats.org/officeDocument/2006/relationships/tags" Target="../tags/tag495.xml"/><Relationship Id="rId48" Type="http://schemas.openxmlformats.org/officeDocument/2006/relationships/tags" Target="../tags/tag500.xml"/><Relationship Id="rId8" Type="http://schemas.openxmlformats.org/officeDocument/2006/relationships/tags" Target="../tags/tag460.xml"/><Relationship Id="rId51" Type="http://schemas.openxmlformats.org/officeDocument/2006/relationships/notesSlide" Target="../notesSlides/notesSlide48.xml"/><Relationship Id="rId3" Type="http://schemas.openxmlformats.org/officeDocument/2006/relationships/tags" Target="../tags/tag455.xml"/><Relationship Id="rId12" Type="http://schemas.openxmlformats.org/officeDocument/2006/relationships/tags" Target="../tags/tag464.xml"/><Relationship Id="rId17" Type="http://schemas.openxmlformats.org/officeDocument/2006/relationships/tags" Target="../tags/tag469.xml"/><Relationship Id="rId25" Type="http://schemas.openxmlformats.org/officeDocument/2006/relationships/tags" Target="../tags/tag477.xml"/><Relationship Id="rId33" Type="http://schemas.openxmlformats.org/officeDocument/2006/relationships/tags" Target="../tags/tag485.xml"/><Relationship Id="rId38" Type="http://schemas.openxmlformats.org/officeDocument/2006/relationships/tags" Target="../tags/tag490.xml"/><Relationship Id="rId46" Type="http://schemas.openxmlformats.org/officeDocument/2006/relationships/tags" Target="../tags/tag498.xml"/><Relationship Id="rId20" Type="http://schemas.openxmlformats.org/officeDocument/2006/relationships/tags" Target="../tags/tag472.xml"/><Relationship Id="rId41" Type="http://schemas.openxmlformats.org/officeDocument/2006/relationships/tags" Target="../tags/tag493.xml"/><Relationship Id="rId1" Type="http://schemas.openxmlformats.org/officeDocument/2006/relationships/tags" Target="../tags/tag453.xml"/><Relationship Id="rId6" Type="http://schemas.openxmlformats.org/officeDocument/2006/relationships/tags" Target="../tags/tag458.xml"/></Relationships>
</file>

<file path=ppt/slides/_rels/slide49.xml.rels><?xml version="1.0" encoding="UTF-8" standalone="yes"?>
<Relationships xmlns="http://schemas.openxmlformats.org/package/2006/relationships"><Relationship Id="rId13" Type="http://schemas.openxmlformats.org/officeDocument/2006/relationships/tags" Target="../tags/tag514.xml"/><Relationship Id="rId18" Type="http://schemas.openxmlformats.org/officeDocument/2006/relationships/tags" Target="../tags/tag519.xml"/><Relationship Id="rId26" Type="http://schemas.openxmlformats.org/officeDocument/2006/relationships/tags" Target="../tags/tag527.xml"/><Relationship Id="rId39" Type="http://schemas.openxmlformats.org/officeDocument/2006/relationships/tags" Target="../tags/tag540.xml"/><Relationship Id="rId21" Type="http://schemas.openxmlformats.org/officeDocument/2006/relationships/tags" Target="../tags/tag522.xml"/><Relationship Id="rId34" Type="http://schemas.openxmlformats.org/officeDocument/2006/relationships/tags" Target="../tags/tag535.xml"/><Relationship Id="rId42" Type="http://schemas.openxmlformats.org/officeDocument/2006/relationships/tags" Target="../tags/tag543.xml"/><Relationship Id="rId47" Type="http://schemas.openxmlformats.org/officeDocument/2006/relationships/tags" Target="../tags/tag548.xml"/><Relationship Id="rId50" Type="http://schemas.openxmlformats.org/officeDocument/2006/relationships/slideLayout" Target="../slideLayouts/slideLayout3.xml"/><Relationship Id="rId7" Type="http://schemas.openxmlformats.org/officeDocument/2006/relationships/tags" Target="../tags/tag508.xml"/><Relationship Id="rId2" Type="http://schemas.openxmlformats.org/officeDocument/2006/relationships/tags" Target="../tags/tag503.xml"/><Relationship Id="rId16" Type="http://schemas.openxmlformats.org/officeDocument/2006/relationships/tags" Target="../tags/tag517.xml"/><Relationship Id="rId29" Type="http://schemas.openxmlformats.org/officeDocument/2006/relationships/tags" Target="../tags/tag530.xml"/><Relationship Id="rId11" Type="http://schemas.openxmlformats.org/officeDocument/2006/relationships/tags" Target="../tags/tag512.xml"/><Relationship Id="rId24" Type="http://schemas.openxmlformats.org/officeDocument/2006/relationships/tags" Target="../tags/tag525.xml"/><Relationship Id="rId32" Type="http://schemas.openxmlformats.org/officeDocument/2006/relationships/tags" Target="../tags/tag533.xml"/><Relationship Id="rId37" Type="http://schemas.openxmlformats.org/officeDocument/2006/relationships/tags" Target="../tags/tag538.xml"/><Relationship Id="rId40" Type="http://schemas.openxmlformats.org/officeDocument/2006/relationships/tags" Target="../tags/tag541.xml"/><Relationship Id="rId45" Type="http://schemas.openxmlformats.org/officeDocument/2006/relationships/tags" Target="../tags/tag546.xml"/><Relationship Id="rId5" Type="http://schemas.openxmlformats.org/officeDocument/2006/relationships/tags" Target="../tags/tag506.xml"/><Relationship Id="rId15" Type="http://schemas.openxmlformats.org/officeDocument/2006/relationships/tags" Target="../tags/tag516.xml"/><Relationship Id="rId23" Type="http://schemas.openxmlformats.org/officeDocument/2006/relationships/tags" Target="../tags/tag524.xml"/><Relationship Id="rId28" Type="http://schemas.openxmlformats.org/officeDocument/2006/relationships/tags" Target="../tags/tag529.xml"/><Relationship Id="rId36" Type="http://schemas.openxmlformats.org/officeDocument/2006/relationships/tags" Target="../tags/tag537.xml"/><Relationship Id="rId49" Type="http://schemas.openxmlformats.org/officeDocument/2006/relationships/tags" Target="../tags/tag550.xml"/><Relationship Id="rId10" Type="http://schemas.openxmlformats.org/officeDocument/2006/relationships/tags" Target="../tags/tag511.xml"/><Relationship Id="rId19" Type="http://schemas.openxmlformats.org/officeDocument/2006/relationships/tags" Target="../tags/tag520.xml"/><Relationship Id="rId31" Type="http://schemas.openxmlformats.org/officeDocument/2006/relationships/tags" Target="../tags/tag532.xml"/><Relationship Id="rId44" Type="http://schemas.openxmlformats.org/officeDocument/2006/relationships/tags" Target="../tags/tag545.xml"/><Relationship Id="rId4" Type="http://schemas.openxmlformats.org/officeDocument/2006/relationships/tags" Target="../tags/tag505.xml"/><Relationship Id="rId9" Type="http://schemas.openxmlformats.org/officeDocument/2006/relationships/tags" Target="../tags/tag510.xml"/><Relationship Id="rId14" Type="http://schemas.openxmlformats.org/officeDocument/2006/relationships/tags" Target="../tags/tag515.xml"/><Relationship Id="rId22" Type="http://schemas.openxmlformats.org/officeDocument/2006/relationships/tags" Target="../tags/tag523.xml"/><Relationship Id="rId27" Type="http://schemas.openxmlformats.org/officeDocument/2006/relationships/tags" Target="../tags/tag528.xml"/><Relationship Id="rId30" Type="http://schemas.openxmlformats.org/officeDocument/2006/relationships/tags" Target="../tags/tag531.xml"/><Relationship Id="rId35" Type="http://schemas.openxmlformats.org/officeDocument/2006/relationships/tags" Target="../tags/tag536.xml"/><Relationship Id="rId43" Type="http://schemas.openxmlformats.org/officeDocument/2006/relationships/tags" Target="../tags/tag544.xml"/><Relationship Id="rId48" Type="http://schemas.openxmlformats.org/officeDocument/2006/relationships/tags" Target="../tags/tag549.xml"/><Relationship Id="rId8" Type="http://schemas.openxmlformats.org/officeDocument/2006/relationships/tags" Target="../tags/tag509.xml"/><Relationship Id="rId51" Type="http://schemas.openxmlformats.org/officeDocument/2006/relationships/notesSlide" Target="../notesSlides/notesSlide49.xml"/><Relationship Id="rId3" Type="http://schemas.openxmlformats.org/officeDocument/2006/relationships/tags" Target="../tags/tag504.xml"/><Relationship Id="rId12" Type="http://schemas.openxmlformats.org/officeDocument/2006/relationships/tags" Target="../tags/tag513.xml"/><Relationship Id="rId17" Type="http://schemas.openxmlformats.org/officeDocument/2006/relationships/tags" Target="../tags/tag518.xml"/><Relationship Id="rId25" Type="http://schemas.openxmlformats.org/officeDocument/2006/relationships/tags" Target="../tags/tag526.xml"/><Relationship Id="rId33" Type="http://schemas.openxmlformats.org/officeDocument/2006/relationships/tags" Target="../tags/tag534.xml"/><Relationship Id="rId38" Type="http://schemas.openxmlformats.org/officeDocument/2006/relationships/tags" Target="../tags/tag539.xml"/><Relationship Id="rId46" Type="http://schemas.openxmlformats.org/officeDocument/2006/relationships/tags" Target="../tags/tag547.xml"/><Relationship Id="rId20" Type="http://schemas.openxmlformats.org/officeDocument/2006/relationships/tags" Target="../tags/tag521.xml"/><Relationship Id="rId41" Type="http://schemas.openxmlformats.org/officeDocument/2006/relationships/tags" Target="../tags/tag542.xml"/><Relationship Id="rId1" Type="http://schemas.openxmlformats.org/officeDocument/2006/relationships/tags" Target="../tags/tag502.xml"/><Relationship Id="rId6" Type="http://schemas.openxmlformats.org/officeDocument/2006/relationships/tags" Target="../tags/tag507.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552.xml"/><Relationship Id="rId1" Type="http://schemas.openxmlformats.org/officeDocument/2006/relationships/tags" Target="../tags/tag55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3" Type="http://schemas.openxmlformats.org/officeDocument/2006/relationships/tags" Target="../tags/tag565.xml"/><Relationship Id="rId18" Type="http://schemas.openxmlformats.org/officeDocument/2006/relationships/tags" Target="../tags/tag570.xml"/><Relationship Id="rId26" Type="http://schemas.openxmlformats.org/officeDocument/2006/relationships/tags" Target="../tags/tag578.xml"/><Relationship Id="rId39" Type="http://schemas.openxmlformats.org/officeDocument/2006/relationships/tags" Target="../tags/tag591.xml"/><Relationship Id="rId21" Type="http://schemas.openxmlformats.org/officeDocument/2006/relationships/tags" Target="../tags/tag573.xml"/><Relationship Id="rId34" Type="http://schemas.openxmlformats.org/officeDocument/2006/relationships/tags" Target="../tags/tag586.xml"/><Relationship Id="rId42" Type="http://schemas.openxmlformats.org/officeDocument/2006/relationships/tags" Target="../tags/tag594.xml"/><Relationship Id="rId7" Type="http://schemas.openxmlformats.org/officeDocument/2006/relationships/tags" Target="../tags/tag559.xml"/><Relationship Id="rId2" Type="http://schemas.openxmlformats.org/officeDocument/2006/relationships/tags" Target="../tags/tag554.xml"/><Relationship Id="rId16" Type="http://schemas.openxmlformats.org/officeDocument/2006/relationships/tags" Target="../tags/tag568.xml"/><Relationship Id="rId20" Type="http://schemas.openxmlformats.org/officeDocument/2006/relationships/tags" Target="../tags/tag572.xml"/><Relationship Id="rId29" Type="http://schemas.openxmlformats.org/officeDocument/2006/relationships/tags" Target="../tags/tag581.xml"/><Relationship Id="rId41" Type="http://schemas.openxmlformats.org/officeDocument/2006/relationships/tags" Target="../tags/tag593.xml"/><Relationship Id="rId1" Type="http://schemas.openxmlformats.org/officeDocument/2006/relationships/tags" Target="../tags/tag553.xml"/><Relationship Id="rId6" Type="http://schemas.openxmlformats.org/officeDocument/2006/relationships/tags" Target="../tags/tag558.xml"/><Relationship Id="rId11" Type="http://schemas.openxmlformats.org/officeDocument/2006/relationships/tags" Target="../tags/tag563.xml"/><Relationship Id="rId24" Type="http://schemas.openxmlformats.org/officeDocument/2006/relationships/tags" Target="../tags/tag576.xml"/><Relationship Id="rId32" Type="http://schemas.openxmlformats.org/officeDocument/2006/relationships/tags" Target="../tags/tag584.xml"/><Relationship Id="rId37" Type="http://schemas.openxmlformats.org/officeDocument/2006/relationships/tags" Target="../tags/tag589.xml"/><Relationship Id="rId40" Type="http://schemas.openxmlformats.org/officeDocument/2006/relationships/tags" Target="../tags/tag592.xml"/><Relationship Id="rId5" Type="http://schemas.openxmlformats.org/officeDocument/2006/relationships/tags" Target="../tags/tag557.xml"/><Relationship Id="rId15" Type="http://schemas.openxmlformats.org/officeDocument/2006/relationships/tags" Target="../tags/tag567.xml"/><Relationship Id="rId23" Type="http://schemas.openxmlformats.org/officeDocument/2006/relationships/tags" Target="../tags/tag575.xml"/><Relationship Id="rId28" Type="http://schemas.openxmlformats.org/officeDocument/2006/relationships/tags" Target="../tags/tag580.xml"/><Relationship Id="rId36" Type="http://schemas.openxmlformats.org/officeDocument/2006/relationships/tags" Target="../tags/tag588.xml"/><Relationship Id="rId10" Type="http://schemas.openxmlformats.org/officeDocument/2006/relationships/tags" Target="../tags/tag562.xml"/><Relationship Id="rId19" Type="http://schemas.openxmlformats.org/officeDocument/2006/relationships/tags" Target="../tags/tag571.xml"/><Relationship Id="rId31" Type="http://schemas.openxmlformats.org/officeDocument/2006/relationships/tags" Target="../tags/tag583.xml"/><Relationship Id="rId44" Type="http://schemas.openxmlformats.org/officeDocument/2006/relationships/notesSlide" Target="../notesSlides/notesSlide51.xml"/><Relationship Id="rId4" Type="http://schemas.openxmlformats.org/officeDocument/2006/relationships/tags" Target="../tags/tag556.xml"/><Relationship Id="rId9" Type="http://schemas.openxmlformats.org/officeDocument/2006/relationships/tags" Target="../tags/tag561.xml"/><Relationship Id="rId14" Type="http://schemas.openxmlformats.org/officeDocument/2006/relationships/tags" Target="../tags/tag566.xml"/><Relationship Id="rId22" Type="http://schemas.openxmlformats.org/officeDocument/2006/relationships/tags" Target="../tags/tag574.xml"/><Relationship Id="rId27" Type="http://schemas.openxmlformats.org/officeDocument/2006/relationships/tags" Target="../tags/tag579.xml"/><Relationship Id="rId30" Type="http://schemas.openxmlformats.org/officeDocument/2006/relationships/tags" Target="../tags/tag582.xml"/><Relationship Id="rId35" Type="http://schemas.openxmlformats.org/officeDocument/2006/relationships/tags" Target="../tags/tag587.xml"/><Relationship Id="rId43" Type="http://schemas.openxmlformats.org/officeDocument/2006/relationships/slideLayout" Target="../slideLayouts/slideLayout4.xml"/><Relationship Id="rId8" Type="http://schemas.openxmlformats.org/officeDocument/2006/relationships/tags" Target="../tags/tag560.xml"/><Relationship Id="rId3" Type="http://schemas.openxmlformats.org/officeDocument/2006/relationships/tags" Target="../tags/tag555.xml"/><Relationship Id="rId12" Type="http://schemas.openxmlformats.org/officeDocument/2006/relationships/tags" Target="../tags/tag564.xml"/><Relationship Id="rId17" Type="http://schemas.openxmlformats.org/officeDocument/2006/relationships/tags" Target="../tags/tag569.xml"/><Relationship Id="rId25" Type="http://schemas.openxmlformats.org/officeDocument/2006/relationships/tags" Target="../tags/tag577.xml"/><Relationship Id="rId33" Type="http://schemas.openxmlformats.org/officeDocument/2006/relationships/tags" Target="../tags/tag585.xml"/><Relationship Id="rId38" Type="http://schemas.openxmlformats.org/officeDocument/2006/relationships/tags" Target="../tags/tag590.xml"/></Relationships>
</file>

<file path=ppt/slides/_rels/slide52.xml.rels><?xml version="1.0" encoding="UTF-8" standalone="yes"?>
<Relationships xmlns="http://schemas.openxmlformats.org/package/2006/relationships"><Relationship Id="rId13" Type="http://schemas.openxmlformats.org/officeDocument/2006/relationships/tags" Target="../tags/tag607.xml"/><Relationship Id="rId18" Type="http://schemas.openxmlformats.org/officeDocument/2006/relationships/tags" Target="../tags/tag612.xml"/><Relationship Id="rId26" Type="http://schemas.openxmlformats.org/officeDocument/2006/relationships/tags" Target="../tags/tag620.xml"/><Relationship Id="rId39" Type="http://schemas.openxmlformats.org/officeDocument/2006/relationships/tags" Target="../tags/tag633.xml"/><Relationship Id="rId21" Type="http://schemas.openxmlformats.org/officeDocument/2006/relationships/tags" Target="../tags/tag615.xml"/><Relationship Id="rId34" Type="http://schemas.openxmlformats.org/officeDocument/2006/relationships/tags" Target="../tags/tag628.xml"/><Relationship Id="rId42" Type="http://schemas.openxmlformats.org/officeDocument/2006/relationships/tags" Target="../tags/tag636.xml"/><Relationship Id="rId7" Type="http://schemas.openxmlformats.org/officeDocument/2006/relationships/tags" Target="../tags/tag601.xml"/><Relationship Id="rId2" Type="http://schemas.openxmlformats.org/officeDocument/2006/relationships/tags" Target="../tags/tag596.xml"/><Relationship Id="rId16" Type="http://schemas.openxmlformats.org/officeDocument/2006/relationships/tags" Target="../tags/tag610.xml"/><Relationship Id="rId20" Type="http://schemas.openxmlformats.org/officeDocument/2006/relationships/tags" Target="../tags/tag614.xml"/><Relationship Id="rId29" Type="http://schemas.openxmlformats.org/officeDocument/2006/relationships/tags" Target="../tags/tag623.xml"/><Relationship Id="rId41" Type="http://schemas.openxmlformats.org/officeDocument/2006/relationships/tags" Target="../tags/tag635.xml"/><Relationship Id="rId1" Type="http://schemas.openxmlformats.org/officeDocument/2006/relationships/tags" Target="../tags/tag595.xml"/><Relationship Id="rId6" Type="http://schemas.openxmlformats.org/officeDocument/2006/relationships/tags" Target="../tags/tag600.xml"/><Relationship Id="rId11" Type="http://schemas.openxmlformats.org/officeDocument/2006/relationships/tags" Target="../tags/tag605.xml"/><Relationship Id="rId24" Type="http://schemas.openxmlformats.org/officeDocument/2006/relationships/tags" Target="../tags/tag618.xml"/><Relationship Id="rId32" Type="http://schemas.openxmlformats.org/officeDocument/2006/relationships/tags" Target="../tags/tag626.xml"/><Relationship Id="rId37" Type="http://schemas.openxmlformats.org/officeDocument/2006/relationships/tags" Target="../tags/tag631.xml"/><Relationship Id="rId40" Type="http://schemas.openxmlformats.org/officeDocument/2006/relationships/tags" Target="../tags/tag634.xml"/><Relationship Id="rId5" Type="http://schemas.openxmlformats.org/officeDocument/2006/relationships/tags" Target="../tags/tag599.xml"/><Relationship Id="rId15" Type="http://schemas.openxmlformats.org/officeDocument/2006/relationships/tags" Target="../tags/tag609.xml"/><Relationship Id="rId23" Type="http://schemas.openxmlformats.org/officeDocument/2006/relationships/tags" Target="../tags/tag617.xml"/><Relationship Id="rId28" Type="http://schemas.openxmlformats.org/officeDocument/2006/relationships/tags" Target="../tags/tag622.xml"/><Relationship Id="rId36" Type="http://schemas.openxmlformats.org/officeDocument/2006/relationships/tags" Target="../tags/tag630.xml"/><Relationship Id="rId10" Type="http://schemas.openxmlformats.org/officeDocument/2006/relationships/tags" Target="../tags/tag604.xml"/><Relationship Id="rId19" Type="http://schemas.openxmlformats.org/officeDocument/2006/relationships/tags" Target="../tags/tag613.xml"/><Relationship Id="rId31" Type="http://schemas.openxmlformats.org/officeDocument/2006/relationships/tags" Target="../tags/tag625.xml"/><Relationship Id="rId44" Type="http://schemas.openxmlformats.org/officeDocument/2006/relationships/notesSlide" Target="../notesSlides/notesSlide52.xml"/><Relationship Id="rId4" Type="http://schemas.openxmlformats.org/officeDocument/2006/relationships/tags" Target="../tags/tag598.xml"/><Relationship Id="rId9" Type="http://schemas.openxmlformats.org/officeDocument/2006/relationships/tags" Target="../tags/tag603.xml"/><Relationship Id="rId14" Type="http://schemas.openxmlformats.org/officeDocument/2006/relationships/tags" Target="../tags/tag608.xml"/><Relationship Id="rId22" Type="http://schemas.openxmlformats.org/officeDocument/2006/relationships/tags" Target="../tags/tag616.xml"/><Relationship Id="rId27" Type="http://schemas.openxmlformats.org/officeDocument/2006/relationships/tags" Target="../tags/tag621.xml"/><Relationship Id="rId30" Type="http://schemas.openxmlformats.org/officeDocument/2006/relationships/tags" Target="../tags/tag624.xml"/><Relationship Id="rId35" Type="http://schemas.openxmlformats.org/officeDocument/2006/relationships/tags" Target="../tags/tag629.xml"/><Relationship Id="rId43" Type="http://schemas.openxmlformats.org/officeDocument/2006/relationships/slideLayout" Target="../slideLayouts/slideLayout4.xml"/><Relationship Id="rId8" Type="http://schemas.openxmlformats.org/officeDocument/2006/relationships/tags" Target="../tags/tag602.xml"/><Relationship Id="rId3" Type="http://schemas.openxmlformats.org/officeDocument/2006/relationships/tags" Target="../tags/tag597.xml"/><Relationship Id="rId12" Type="http://schemas.openxmlformats.org/officeDocument/2006/relationships/tags" Target="../tags/tag606.xml"/><Relationship Id="rId17" Type="http://schemas.openxmlformats.org/officeDocument/2006/relationships/tags" Target="../tags/tag611.xml"/><Relationship Id="rId25" Type="http://schemas.openxmlformats.org/officeDocument/2006/relationships/tags" Target="../tags/tag619.xml"/><Relationship Id="rId33" Type="http://schemas.openxmlformats.org/officeDocument/2006/relationships/tags" Target="../tags/tag627.xml"/><Relationship Id="rId38" Type="http://schemas.openxmlformats.org/officeDocument/2006/relationships/tags" Target="../tags/tag632.xml"/></Relationships>
</file>

<file path=ppt/slides/_rels/slide53.xml.rels><?xml version="1.0" encoding="UTF-8" standalone="yes"?>
<Relationships xmlns="http://schemas.openxmlformats.org/package/2006/relationships"><Relationship Id="rId13" Type="http://schemas.openxmlformats.org/officeDocument/2006/relationships/tags" Target="../tags/tag649.xml"/><Relationship Id="rId18" Type="http://schemas.openxmlformats.org/officeDocument/2006/relationships/tags" Target="../tags/tag654.xml"/><Relationship Id="rId26" Type="http://schemas.openxmlformats.org/officeDocument/2006/relationships/tags" Target="../tags/tag662.xml"/><Relationship Id="rId39" Type="http://schemas.openxmlformats.org/officeDocument/2006/relationships/tags" Target="../tags/tag675.xml"/><Relationship Id="rId21" Type="http://schemas.openxmlformats.org/officeDocument/2006/relationships/tags" Target="../tags/tag657.xml"/><Relationship Id="rId34" Type="http://schemas.openxmlformats.org/officeDocument/2006/relationships/tags" Target="../tags/tag670.xml"/><Relationship Id="rId42" Type="http://schemas.openxmlformats.org/officeDocument/2006/relationships/tags" Target="../tags/tag678.xml"/><Relationship Id="rId7" Type="http://schemas.openxmlformats.org/officeDocument/2006/relationships/tags" Target="../tags/tag643.xml"/><Relationship Id="rId2" Type="http://schemas.openxmlformats.org/officeDocument/2006/relationships/tags" Target="../tags/tag638.xml"/><Relationship Id="rId16" Type="http://schemas.openxmlformats.org/officeDocument/2006/relationships/tags" Target="../tags/tag652.xml"/><Relationship Id="rId20" Type="http://schemas.openxmlformats.org/officeDocument/2006/relationships/tags" Target="../tags/tag656.xml"/><Relationship Id="rId29" Type="http://schemas.openxmlformats.org/officeDocument/2006/relationships/tags" Target="../tags/tag665.xml"/><Relationship Id="rId41" Type="http://schemas.openxmlformats.org/officeDocument/2006/relationships/tags" Target="../tags/tag677.xml"/><Relationship Id="rId1" Type="http://schemas.openxmlformats.org/officeDocument/2006/relationships/tags" Target="../tags/tag637.xml"/><Relationship Id="rId6" Type="http://schemas.openxmlformats.org/officeDocument/2006/relationships/tags" Target="../tags/tag642.xml"/><Relationship Id="rId11" Type="http://schemas.openxmlformats.org/officeDocument/2006/relationships/tags" Target="../tags/tag647.xml"/><Relationship Id="rId24" Type="http://schemas.openxmlformats.org/officeDocument/2006/relationships/tags" Target="../tags/tag660.xml"/><Relationship Id="rId32" Type="http://schemas.openxmlformats.org/officeDocument/2006/relationships/tags" Target="../tags/tag668.xml"/><Relationship Id="rId37" Type="http://schemas.openxmlformats.org/officeDocument/2006/relationships/tags" Target="../tags/tag673.xml"/><Relationship Id="rId40" Type="http://schemas.openxmlformats.org/officeDocument/2006/relationships/tags" Target="../tags/tag676.xml"/><Relationship Id="rId5" Type="http://schemas.openxmlformats.org/officeDocument/2006/relationships/tags" Target="../tags/tag641.xml"/><Relationship Id="rId15" Type="http://schemas.openxmlformats.org/officeDocument/2006/relationships/tags" Target="../tags/tag651.xml"/><Relationship Id="rId23" Type="http://schemas.openxmlformats.org/officeDocument/2006/relationships/tags" Target="../tags/tag659.xml"/><Relationship Id="rId28" Type="http://schemas.openxmlformats.org/officeDocument/2006/relationships/tags" Target="../tags/tag664.xml"/><Relationship Id="rId36" Type="http://schemas.openxmlformats.org/officeDocument/2006/relationships/tags" Target="../tags/tag672.xml"/><Relationship Id="rId10" Type="http://schemas.openxmlformats.org/officeDocument/2006/relationships/tags" Target="../tags/tag646.xml"/><Relationship Id="rId19" Type="http://schemas.openxmlformats.org/officeDocument/2006/relationships/tags" Target="../tags/tag655.xml"/><Relationship Id="rId31" Type="http://schemas.openxmlformats.org/officeDocument/2006/relationships/tags" Target="../tags/tag667.xml"/><Relationship Id="rId44" Type="http://schemas.openxmlformats.org/officeDocument/2006/relationships/notesSlide" Target="../notesSlides/notesSlide53.xml"/><Relationship Id="rId4" Type="http://schemas.openxmlformats.org/officeDocument/2006/relationships/tags" Target="../tags/tag640.xml"/><Relationship Id="rId9" Type="http://schemas.openxmlformats.org/officeDocument/2006/relationships/tags" Target="../tags/tag645.xml"/><Relationship Id="rId14" Type="http://schemas.openxmlformats.org/officeDocument/2006/relationships/tags" Target="../tags/tag650.xml"/><Relationship Id="rId22" Type="http://schemas.openxmlformats.org/officeDocument/2006/relationships/tags" Target="../tags/tag658.xml"/><Relationship Id="rId27" Type="http://schemas.openxmlformats.org/officeDocument/2006/relationships/tags" Target="../tags/tag663.xml"/><Relationship Id="rId30" Type="http://schemas.openxmlformats.org/officeDocument/2006/relationships/tags" Target="../tags/tag666.xml"/><Relationship Id="rId35" Type="http://schemas.openxmlformats.org/officeDocument/2006/relationships/tags" Target="../tags/tag671.xml"/><Relationship Id="rId43" Type="http://schemas.openxmlformats.org/officeDocument/2006/relationships/slideLayout" Target="../slideLayouts/slideLayout4.xml"/><Relationship Id="rId8" Type="http://schemas.openxmlformats.org/officeDocument/2006/relationships/tags" Target="../tags/tag644.xml"/><Relationship Id="rId3" Type="http://schemas.openxmlformats.org/officeDocument/2006/relationships/tags" Target="../tags/tag639.xml"/><Relationship Id="rId12" Type="http://schemas.openxmlformats.org/officeDocument/2006/relationships/tags" Target="../tags/tag648.xml"/><Relationship Id="rId17" Type="http://schemas.openxmlformats.org/officeDocument/2006/relationships/tags" Target="../tags/tag653.xml"/><Relationship Id="rId25" Type="http://schemas.openxmlformats.org/officeDocument/2006/relationships/tags" Target="../tags/tag661.xml"/><Relationship Id="rId33" Type="http://schemas.openxmlformats.org/officeDocument/2006/relationships/tags" Target="../tags/tag669.xml"/><Relationship Id="rId38" Type="http://schemas.openxmlformats.org/officeDocument/2006/relationships/tags" Target="../tags/tag674.xml"/></Relationships>
</file>

<file path=ppt/slides/_rels/slide54.xml.rels><?xml version="1.0" encoding="UTF-8" standalone="yes"?>
<Relationships xmlns="http://schemas.openxmlformats.org/package/2006/relationships"><Relationship Id="rId13" Type="http://schemas.openxmlformats.org/officeDocument/2006/relationships/tags" Target="../tags/tag691.xml"/><Relationship Id="rId18" Type="http://schemas.openxmlformats.org/officeDocument/2006/relationships/tags" Target="../tags/tag696.xml"/><Relationship Id="rId26" Type="http://schemas.openxmlformats.org/officeDocument/2006/relationships/tags" Target="../tags/tag704.xml"/><Relationship Id="rId39" Type="http://schemas.openxmlformats.org/officeDocument/2006/relationships/tags" Target="../tags/tag717.xml"/><Relationship Id="rId21" Type="http://schemas.openxmlformats.org/officeDocument/2006/relationships/tags" Target="../tags/tag699.xml"/><Relationship Id="rId34" Type="http://schemas.openxmlformats.org/officeDocument/2006/relationships/tags" Target="../tags/tag712.xml"/><Relationship Id="rId42" Type="http://schemas.openxmlformats.org/officeDocument/2006/relationships/tags" Target="../tags/tag720.xml"/><Relationship Id="rId7" Type="http://schemas.openxmlformats.org/officeDocument/2006/relationships/tags" Target="../tags/tag685.xml"/><Relationship Id="rId2" Type="http://schemas.openxmlformats.org/officeDocument/2006/relationships/tags" Target="../tags/tag680.xml"/><Relationship Id="rId16" Type="http://schemas.openxmlformats.org/officeDocument/2006/relationships/tags" Target="../tags/tag694.xml"/><Relationship Id="rId20" Type="http://schemas.openxmlformats.org/officeDocument/2006/relationships/tags" Target="../tags/tag698.xml"/><Relationship Id="rId29" Type="http://schemas.openxmlformats.org/officeDocument/2006/relationships/tags" Target="../tags/tag707.xml"/><Relationship Id="rId41" Type="http://schemas.openxmlformats.org/officeDocument/2006/relationships/tags" Target="../tags/tag719.xml"/><Relationship Id="rId1" Type="http://schemas.openxmlformats.org/officeDocument/2006/relationships/tags" Target="../tags/tag679.xml"/><Relationship Id="rId6" Type="http://schemas.openxmlformats.org/officeDocument/2006/relationships/tags" Target="../tags/tag684.xml"/><Relationship Id="rId11" Type="http://schemas.openxmlformats.org/officeDocument/2006/relationships/tags" Target="../tags/tag689.xml"/><Relationship Id="rId24" Type="http://schemas.openxmlformats.org/officeDocument/2006/relationships/tags" Target="../tags/tag702.xml"/><Relationship Id="rId32" Type="http://schemas.openxmlformats.org/officeDocument/2006/relationships/tags" Target="../tags/tag710.xml"/><Relationship Id="rId37" Type="http://schemas.openxmlformats.org/officeDocument/2006/relationships/tags" Target="../tags/tag715.xml"/><Relationship Id="rId40" Type="http://schemas.openxmlformats.org/officeDocument/2006/relationships/tags" Target="../tags/tag718.xml"/><Relationship Id="rId5" Type="http://schemas.openxmlformats.org/officeDocument/2006/relationships/tags" Target="../tags/tag683.xml"/><Relationship Id="rId15" Type="http://schemas.openxmlformats.org/officeDocument/2006/relationships/tags" Target="../tags/tag693.xml"/><Relationship Id="rId23" Type="http://schemas.openxmlformats.org/officeDocument/2006/relationships/tags" Target="../tags/tag701.xml"/><Relationship Id="rId28" Type="http://schemas.openxmlformats.org/officeDocument/2006/relationships/tags" Target="../tags/tag706.xml"/><Relationship Id="rId36" Type="http://schemas.openxmlformats.org/officeDocument/2006/relationships/tags" Target="../tags/tag714.xml"/><Relationship Id="rId10" Type="http://schemas.openxmlformats.org/officeDocument/2006/relationships/tags" Target="../tags/tag688.xml"/><Relationship Id="rId19" Type="http://schemas.openxmlformats.org/officeDocument/2006/relationships/tags" Target="../tags/tag697.xml"/><Relationship Id="rId31" Type="http://schemas.openxmlformats.org/officeDocument/2006/relationships/tags" Target="../tags/tag709.xml"/><Relationship Id="rId44" Type="http://schemas.openxmlformats.org/officeDocument/2006/relationships/notesSlide" Target="../notesSlides/notesSlide54.xml"/><Relationship Id="rId4" Type="http://schemas.openxmlformats.org/officeDocument/2006/relationships/tags" Target="../tags/tag682.xml"/><Relationship Id="rId9" Type="http://schemas.openxmlformats.org/officeDocument/2006/relationships/tags" Target="../tags/tag687.xml"/><Relationship Id="rId14" Type="http://schemas.openxmlformats.org/officeDocument/2006/relationships/tags" Target="../tags/tag692.xml"/><Relationship Id="rId22" Type="http://schemas.openxmlformats.org/officeDocument/2006/relationships/tags" Target="../tags/tag700.xml"/><Relationship Id="rId27" Type="http://schemas.openxmlformats.org/officeDocument/2006/relationships/tags" Target="../tags/tag705.xml"/><Relationship Id="rId30" Type="http://schemas.openxmlformats.org/officeDocument/2006/relationships/tags" Target="../tags/tag708.xml"/><Relationship Id="rId35" Type="http://schemas.openxmlformats.org/officeDocument/2006/relationships/tags" Target="../tags/tag713.xml"/><Relationship Id="rId43" Type="http://schemas.openxmlformats.org/officeDocument/2006/relationships/slideLayout" Target="../slideLayouts/slideLayout4.xml"/><Relationship Id="rId8" Type="http://schemas.openxmlformats.org/officeDocument/2006/relationships/tags" Target="../tags/tag686.xml"/><Relationship Id="rId3" Type="http://schemas.openxmlformats.org/officeDocument/2006/relationships/tags" Target="../tags/tag681.xml"/><Relationship Id="rId12" Type="http://schemas.openxmlformats.org/officeDocument/2006/relationships/tags" Target="../tags/tag690.xml"/><Relationship Id="rId17" Type="http://schemas.openxmlformats.org/officeDocument/2006/relationships/tags" Target="../tags/tag695.xml"/><Relationship Id="rId25" Type="http://schemas.openxmlformats.org/officeDocument/2006/relationships/tags" Target="../tags/tag703.xml"/><Relationship Id="rId33" Type="http://schemas.openxmlformats.org/officeDocument/2006/relationships/tags" Target="../tags/tag711.xml"/><Relationship Id="rId38" Type="http://schemas.openxmlformats.org/officeDocument/2006/relationships/tags" Target="../tags/tag716.xml"/></Relationships>
</file>

<file path=ppt/slides/_rels/slide55.xml.rels><?xml version="1.0" encoding="UTF-8" standalone="yes"?>
<Relationships xmlns="http://schemas.openxmlformats.org/package/2006/relationships"><Relationship Id="rId13" Type="http://schemas.openxmlformats.org/officeDocument/2006/relationships/tags" Target="../tags/tag733.xml"/><Relationship Id="rId18" Type="http://schemas.openxmlformats.org/officeDocument/2006/relationships/tags" Target="../tags/tag738.xml"/><Relationship Id="rId26" Type="http://schemas.openxmlformats.org/officeDocument/2006/relationships/tags" Target="../tags/tag746.xml"/><Relationship Id="rId39" Type="http://schemas.openxmlformats.org/officeDocument/2006/relationships/tags" Target="../tags/tag759.xml"/><Relationship Id="rId21" Type="http://schemas.openxmlformats.org/officeDocument/2006/relationships/tags" Target="../tags/tag741.xml"/><Relationship Id="rId34" Type="http://schemas.openxmlformats.org/officeDocument/2006/relationships/tags" Target="../tags/tag754.xml"/><Relationship Id="rId42" Type="http://schemas.openxmlformats.org/officeDocument/2006/relationships/tags" Target="../tags/tag762.xml"/><Relationship Id="rId7" Type="http://schemas.openxmlformats.org/officeDocument/2006/relationships/tags" Target="../tags/tag727.xml"/><Relationship Id="rId2" Type="http://schemas.openxmlformats.org/officeDocument/2006/relationships/tags" Target="../tags/tag722.xml"/><Relationship Id="rId16" Type="http://schemas.openxmlformats.org/officeDocument/2006/relationships/tags" Target="../tags/tag736.xml"/><Relationship Id="rId20" Type="http://schemas.openxmlformats.org/officeDocument/2006/relationships/tags" Target="../tags/tag740.xml"/><Relationship Id="rId29" Type="http://schemas.openxmlformats.org/officeDocument/2006/relationships/tags" Target="../tags/tag749.xml"/><Relationship Id="rId41" Type="http://schemas.openxmlformats.org/officeDocument/2006/relationships/tags" Target="../tags/tag761.xml"/><Relationship Id="rId1" Type="http://schemas.openxmlformats.org/officeDocument/2006/relationships/tags" Target="../tags/tag721.xml"/><Relationship Id="rId6" Type="http://schemas.openxmlformats.org/officeDocument/2006/relationships/tags" Target="../tags/tag726.xml"/><Relationship Id="rId11" Type="http://schemas.openxmlformats.org/officeDocument/2006/relationships/tags" Target="../tags/tag731.xml"/><Relationship Id="rId24" Type="http://schemas.openxmlformats.org/officeDocument/2006/relationships/tags" Target="../tags/tag744.xml"/><Relationship Id="rId32" Type="http://schemas.openxmlformats.org/officeDocument/2006/relationships/tags" Target="../tags/tag752.xml"/><Relationship Id="rId37" Type="http://schemas.openxmlformats.org/officeDocument/2006/relationships/tags" Target="../tags/tag757.xml"/><Relationship Id="rId40" Type="http://schemas.openxmlformats.org/officeDocument/2006/relationships/tags" Target="../tags/tag760.xml"/><Relationship Id="rId5" Type="http://schemas.openxmlformats.org/officeDocument/2006/relationships/tags" Target="../tags/tag725.xml"/><Relationship Id="rId15" Type="http://schemas.openxmlformats.org/officeDocument/2006/relationships/tags" Target="../tags/tag735.xml"/><Relationship Id="rId23" Type="http://schemas.openxmlformats.org/officeDocument/2006/relationships/tags" Target="../tags/tag743.xml"/><Relationship Id="rId28" Type="http://schemas.openxmlformats.org/officeDocument/2006/relationships/tags" Target="../tags/tag748.xml"/><Relationship Id="rId36" Type="http://schemas.openxmlformats.org/officeDocument/2006/relationships/tags" Target="../tags/tag756.xml"/><Relationship Id="rId10" Type="http://schemas.openxmlformats.org/officeDocument/2006/relationships/tags" Target="../tags/tag730.xml"/><Relationship Id="rId19" Type="http://schemas.openxmlformats.org/officeDocument/2006/relationships/tags" Target="../tags/tag739.xml"/><Relationship Id="rId31" Type="http://schemas.openxmlformats.org/officeDocument/2006/relationships/tags" Target="../tags/tag751.xml"/><Relationship Id="rId44" Type="http://schemas.openxmlformats.org/officeDocument/2006/relationships/notesSlide" Target="../notesSlides/notesSlide55.xml"/><Relationship Id="rId4" Type="http://schemas.openxmlformats.org/officeDocument/2006/relationships/tags" Target="../tags/tag724.xml"/><Relationship Id="rId9" Type="http://schemas.openxmlformats.org/officeDocument/2006/relationships/tags" Target="../tags/tag729.xml"/><Relationship Id="rId14" Type="http://schemas.openxmlformats.org/officeDocument/2006/relationships/tags" Target="../tags/tag734.xml"/><Relationship Id="rId22" Type="http://schemas.openxmlformats.org/officeDocument/2006/relationships/tags" Target="../tags/tag742.xml"/><Relationship Id="rId27" Type="http://schemas.openxmlformats.org/officeDocument/2006/relationships/tags" Target="../tags/tag747.xml"/><Relationship Id="rId30" Type="http://schemas.openxmlformats.org/officeDocument/2006/relationships/tags" Target="../tags/tag750.xml"/><Relationship Id="rId35" Type="http://schemas.openxmlformats.org/officeDocument/2006/relationships/tags" Target="../tags/tag755.xml"/><Relationship Id="rId43" Type="http://schemas.openxmlformats.org/officeDocument/2006/relationships/slideLayout" Target="../slideLayouts/slideLayout4.xml"/><Relationship Id="rId8" Type="http://schemas.openxmlformats.org/officeDocument/2006/relationships/tags" Target="../tags/tag728.xml"/><Relationship Id="rId3" Type="http://schemas.openxmlformats.org/officeDocument/2006/relationships/tags" Target="../tags/tag723.xml"/><Relationship Id="rId12" Type="http://schemas.openxmlformats.org/officeDocument/2006/relationships/tags" Target="../tags/tag732.xml"/><Relationship Id="rId17" Type="http://schemas.openxmlformats.org/officeDocument/2006/relationships/tags" Target="../tags/tag737.xml"/><Relationship Id="rId25" Type="http://schemas.openxmlformats.org/officeDocument/2006/relationships/tags" Target="../tags/tag745.xml"/><Relationship Id="rId33" Type="http://schemas.openxmlformats.org/officeDocument/2006/relationships/tags" Target="../tags/tag753.xml"/><Relationship Id="rId38" Type="http://schemas.openxmlformats.org/officeDocument/2006/relationships/tags" Target="../tags/tag758.xml"/></Relationships>
</file>

<file path=ppt/slides/_rels/slide56.xml.rels><?xml version="1.0" encoding="UTF-8" standalone="yes"?>
<Relationships xmlns="http://schemas.openxmlformats.org/package/2006/relationships"><Relationship Id="rId13" Type="http://schemas.openxmlformats.org/officeDocument/2006/relationships/tags" Target="../tags/tag775.xml"/><Relationship Id="rId18" Type="http://schemas.openxmlformats.org/officeDocument/2006/relationships/tags" Target="../tags/tag780.xml"/><Relationship Id="rId26" Type="http://schemas.openxmlformats.org/officeDocument/2006/relationships/tags" Target="../tags/tag788.xml"/><Relationship Id="rId39" Type="http://schemas.openxmlformats.org/officeDocument/2006/relationships/tags" Target="../tags/tag801.xml"/><Relationship Id="rId21" Type="http://schemas.openxmlformats.org/officeDocument/2006/relationships/tags" Target="../tags/tag783.xml"/><Relationship Id="rId34" Type="http://schemas.openxmlformats.org/officeDocument/2006/relationships/tags" Target="../tags/tag796.xml"/><Relationship Id="rId42" Type="http://schemas.openxmlformats.org/officeDocument/2006/relationships/tags" Target="../tags/tag804.xml"/><Relationship Id="rId7" Type="http://schemas.openxmlformats.org/officeDocument/2006/relationships/tags" Target="../tags/tag769.xml"/><Relationship Id="rId2" Type="http://schemas.openxmlformats.org/officeDocument/2006/relationships/tags" Target="../tags/tag764.xml"/><Relationship Id="rId16" Type="http://schemas.openxmlformats.org/officeDocument/2006/relationships/tags" Target="../tags/tag778.xml"/><Relationship Id="rId20" Type="http://schemas.openxmlformats.org/officeDocument/2006/relationships/tags" Target="../tags/tag782.xml"/><Relationship Id="rId29" Type="http://schemas.openxmlformats.org/officeDocument/2006/relationships/tags" Target="../tags/tag791.xml"/><Relationship Id="rId41" Type="http://schemas.openxmlformats.org/officeDocument/2006/relationships/tags" Target="../tags/tag803.xml"/><Relationship Id="rId1" Type="http://schemas.openxmlformats.org/officeDocument/2006/relationships/tags" Target="../tags/tag763.xml"/><Relationship Id="rId6" Type="http://schemas.openxmlformats.org/officeDocument/2006/relationships/tags" Target="../tags/tag768.xml"/><Relationship Id="rId11" Type="http://schemas.openxmlformats.org/officeDocument/2006/relationships/tags" Target="../tags/tag773.xml"/><Relationship Id="rId24" Type="http://schemas.openxmlformats.org/officeDocument/2006/relationships/tags" Target="../tags/tag786.xml"/><Relationship Id="rId32" Type="http://schemas.openxmlformats.org/officeDocument/2006/relationships/tags" Target="../tags/tag794.xml"/><Relationship Id="rId37" Type="http://schemas.openxmlformats.org/officeDocument/2006/relationships/tags" Target="../tags/tag799.xml"/><Relationship Id="rId40" Type="http://schemas.openxmlformats.org/officeDocument/2006/relationships/tags" Target="../tags/tag802.xml"/><Relationship Id="rId5" Type="http://schemas.openxmlformats.org/officeDocument/2006/relationships/tags" Target="../tags/tag767.xml"/><Relationship Id="rId15" Type="http://schemas.openxmlformats.org/officeDocument/2006/relationships/tags" Target="../tags/tag777.xml"/><Relationship Id="rId23" Type="http://schemas.openxmlformats.org/officeDocument/2006/relationships/tags" Target="../tags/tag785.xml"/><Relationship Id="rId28" Type="http://schemas.openxmlformats.org/officeDocument/2006/relationships/tags" Target="../tags/tag790.xml"/><Relationship Id="rId36" Type="http://schemas.openxmlformats.org/officeDocument/2006/relationships/tags" Target="../tags/tag798.xml"/><Relationship Id="rId10" Type="http://schemas.openxmlformats.org/officeDocument/2006/relationships/tags" Target="../tags/tag772.xml"/><Relationship Id="rId19" Type="http://schemas.openxmlformats.org/officeDocument/2006/relationships/tags" Target="../tags/tag781.xml"/><Relationship Id="rId31" Type="http://schemas.openxmlformats.org/officeDocument/2006/relationships/tags" Target="../tags/tag793.xml"/><Relationship Id="rId44" Type="http://schemas.openxmlformats.org/officeDocument/2006/relationships/notesSlide" Target="../notesSlides/notesSlide56.xml"/><Relationship Id="rId4" Type="http://schemas.openxmlformats.org/officeDocument/2006/relationships/tags" Target="../tags/tag766.xml"/><Relationship Id="rId9" Type="http://schemas.openxmlformats.org/officeDocument/2006/relationships/tags" Target="../tags/tag771.xml"/><Relationship Id="rId14" Type="http://schemas.openxmlformats.org/officeDocument/2006/relationships/tags" Target="../tags/tag776.xml"/><Relationship Id="rId22" Type="http://schemas.openxmlformats.org/officeDocument/2006/relationships/tags" Target="../tags/tag784.xml"/><Relationship Id="rId27" Type="http://schemas.openxmlformats.org/officeDocument/2006/relationships/tags" Target="../tags/tag789.xml"/><Relationship Id="rId30" Type="http://schemas.openxmlformats.org/officeDocument/2006/relationships/tags" Target="../tags/tag792.xml"/><Relationship Id="rId35" Type="http://schemas.openxmlformats.org/officeDocument/2006/relationships/tags" Target="../tags/tag797.xml"/><Relationship Id="rId43" Type="http://schemas.openxmlformats.org/officeDocument/2006/relationships/slideLayout" Target="../slideLayouts/slideLayout4.xml"/><Relationship Id="rId8" Type="http://schemas.openxmlformats.org/officeDocument/2006/relationships/tags" Target="../tags/tag770.xml"/><Relationship Id="rId3" Type="http://schemas.openxmlformats.org/officeDocument/2006/relationships/tags" Target="../tags/tag765.xml"/><Relationship Id="rId12" Type="http://schemas.openxmlformats.org/officeDocument/2006/relationships/tags" Target="../tags/tag774.xml"/><Relationship Id="rId17" Type="http://schemas.openxmlformats.org/officeDocument/2006/relationships/tags" Target="../tags/tag779.xml"/><Relationship Id="rId25" Type="http://schemas.openxmlformats.org/officeDocument/2006/relationships/tags" Target="../tags/tag787.xml"/><Relationship Id="rId33" Type="http://schemas.openxmlformats.org/officeDocument/2006/relationships/tags" Target="../tags/tag795.xml"/><Relationship Id="rId38" Type="http://schemas.openxmlformats.org/officeDocument/2006/relationships/tags" Target="../tags/tag800.xml"/></Relationships>
</file>

<file path=ppt/slides/_rels/slide57.xml.rels><?xml version="1.0" encoding="UTF-8" standalone="yes"?>
<Relationships xmlns="http://schemas.openxmlformats.org/package/2006/relationships"><Relationship Id="rId13" Type="http://schemas.openxmlformats.org/officeDocument/2006/relationships/tags" Target="../tags/tag817.xml"/><Relationship Id="rId18" Type="http://schemas.openxmlformats.org/officeDocument/2006/relationships/tags" Target="../tags/tag822.xml"/><Relationship Id="rId26" Type="http://schemas.openxmlformats.org/officeDocument/2006/relationships/tags" Target="../tags/tag830.xml"/><Relationship Id="rId39" Type="http://schemas.openxmlformats.org/officeDocument/2006/relationships/tags" Target="../tags/tag843.xml"/><Relationship Id="rId21" Type="http://schemas.openxmlformats.org/officeDocument/2006/relationships/tags" Target="../tags/tag825.xml"/><Relationship Id="rId34" Type="http://schemas.openxmlformats.org/officeDocument/2006/relationships/tags" Target="../tags/tag838.xml"/><Relationship Id="rId42" Type="http://schemas.openxmlformats.org/officeDocument/2006/relationships/tags" Target="../tags/tag846.xml"/><Relationship Id="rId7" Type="http://schemas.openxmlformats.org/officeDocument/2006/relationships/tags" Target="../tags/tag811.xml"/><Relationship Id="rId2" Type="http://schemas.openxmlformats.org/officeDocument/2006/relationships/tags" Target="../tags/tag806.xml"/><Relationship Id="rId16" Type="http://schemas.openxmlformats.org/officeDocument/2006/relationships/tags" Target="../tags/tag820.xml"/><Relationship Id="rId20" Type="http://schemas.openxmlformats.org/officeDocument/2006/relationships/tags" Target="../tags/tag824.xml"/><Relationship Id="rId29" Type="http://schemas.openxmlformats.org/officeDocument/2006/relationships/tags" Target="../tags/tag833.xml"/><Relationship Id="rId41" Type="http://schemas.openxmlformats.org/officeDocument/2006/relationships/tags" Target="../tags/tag845.xml"/><Relationship Id="rId1" Type="http://schemas.openxmlformats.org/officeDocument/2006/relationships/tags" Target="../tags/tag805.xml"/><Relationship Id="rId6" Type="http://schemas.openxmlformats.org/officeDocument/2006/relationships/tags" Target="../tags/tag810.xml"/><Relationship Id="rId11" Type="http://schemas.openxmlformats.org/officeDocument/2006/relationships/tags" Target="../tags/tag815.xml"/><Relationship Id="rId24" Type="http://schemas.openxmlformats.org/officeDocument/2006/relationships/tags" Target="../tags/tag828.xml"/><Relationship Id="rId32" Type="http://schemas.openxmlformats.org/officeDocument/2006/relationships/tags" Target="../tags/tag836.xml"/><Relationship Id="rId37" Type="http://schemas.openxmlformats.org/officeDocument/2006/relationships/tags" Target="../tags/tag841.xml"/><Relationship Id="rId40" Type="http://schemas.openxmlformats.org/officeDocument/2006/relationships/tags" Target="../tags/tag844.xml"/><Relationship Id="rId5" Type="http://schemas.openxmlformats.org/officeDocument/2006/relationships/tags" Target="../tags/tag809.xml"/><Relationship Id="rId15" Type="http://schemas.openxmlformats.org/officeDocument/2006/relationships/tags" Target="../tags/tag819.xml"/><Relationship Id="rId23" Type="http://schemas.openxmlformats.org/officeDocument/2006/relationships/tags" Target="../tags/tag827.xml"/><Relationship Id="rId28" Type="http://schemas.openxmlformats.org/officeDocument/2006/relationships/tags" Target="../tags/tag832.xml"/><Relationship Id="rId36" Type="http://schemas.openxmlformats.org/officeDocument/2006/relationships/tags" Target="../tags/tag840.xml"/><Relationship Id="rId10" Type="http://schemas.openxmlformats.org/officeDocument/2006/relationships/tags" Target="../tags/tag814.xml"/><Relationship Id="rId19" Type="http://schemas.openxmlformats.org/officeDocument/2006/relationships/tags" Target="../tags/tag823.xml"/><Relationship Id="rId31" Type="http://schemas.openxmlformats.org/officeDocument/2006/relationships/tags" Target="../tags/tag835.xml"/><Relationship Id="rId44" Type="http://schemas.openxmlformats.org/officeDocument/2006/relationships/notesSlide" Target="../notesSlides/notesSlide57.xml"/><Relationship Id="rId4" Type="http://schemas.openxmlformats.org/officeDocument/2006/relationships/tags" Target="../tags/tag808.xml"/><Relationship Id="rId9" Type="http://schemas.openxmlformats.org/officeDocument/2006/relationships/tags" Target="../tags/tag813.xml"/><Relationship Id="rId14" Type="http://schemas.openxmlformats.org/officeDocument/2006/relationships/tags" Target="../tags/tag818.xml"/><Relationship Id="rId22" Type="http://schemas.openxmlformats.org/officeDocument/2006/relationships/tags" Target="../tags/tag826.xml"/><Relationship Id="rId27" Type="http://schemas.openxmlformats.org/officeDocument/2006/relationships/tags" Target="../tags/tag831.xml"/><Relationship Id="rId30" Type="http://schemas.openxmlformats.org/officeDocument/2006/relationships/tags" Target="../tags/tag834.xml"/><Relationship Id="rId35" Type="http://schemas.openxmlformats.org/officeDocument/2006/relationships/tags" Target="../tags/tag839.xml"/><Relationship Id="rId43" Type="http://schemas.openxmlformats.org/officeDocument/2006/relationships/slideLayout" Target="../slideLayouts/slideLayout4.xml"/><Relationship Id="rId8" Type="http://schemas.openxmlformats.org/officeDocument/2006/relationships/tags" Target="../tags/tag812.xml"/><Relationship Id="rId3" Type="http://schemas.openxmlformats.org/officeDocument/2006/relationships/tags" Target="../tags/tag807.xml"/><Relationship Id="rId12" Type="http://schemas.openxmlformats.org/officeDocument/2006/relationships/tags" Target="../tags/tag816.xml"/><Relationship Id="rId17" Type="http://schemas.openxmlformats.org/officeDocument/2006/relationships/tags" Target="../tags/tag821.xml"/><Relationship Id="rId25" Type="http://schemas.openxmlformats.org/officeDocument/2006/relationships/tags" Target="../tags/tag829.xml"/><Relationship Id="rId33" Type="http://schemas.openxmlformats.org/officeDocument/2006/relationships/tags" Target="../tags/tag837.xml"/><Relationship Id="rId38" Type="http://schemas.openxmlformats.org/officeDocument/2006/relationships/tags" Target="../tags/tag842.xml"/></Relationships>
</file>

<file path=ppt/slides/_rels/slide58.xml.rels><?xml version="1.0" encoding="UTF-8" standalone="yes"?>
<Relationships xmlns="http://schemas.openxmlformats.org/package/2006/relationships"><Relationship Id="rId13" Type="http://schemas.openxmlformats.org/officeDocument/2006/relationships/tags" Target="../tags/tag859.xml"/><Relationship Id="rId18" Type="http://schemas.openxmlformats.org/officeDocument/2006/relationships/tags" Target="../tags/tag864.xml"/><Relationship Id="rId26" Type="http://schemas.openxmlformats.org/officeDocument/2006/relationships/tags" Target="../tags/tag872.xml"/><Relationship Id="rId39" Type="http://schemas.openxmlformats.org/officeDocument/2006/relationships/tags" Target="../tags/tag885.xml"/><Relationship Id="rId21" Type="http://schemas.openxmlformats.org/officeDocument/2006/relationships/tags" Target="../tags/tag867.xml"/><Relationship Id="rId34" Type="http://schemas.openxmlformats.org/officeDocument/2006/relationships/tags" Target="../tags/tag880.xml"/><Relationship Id="rId42" Type="http://schemas.openxmlformats.org/officeDocument/2006/relationships/tags" Target="../tags/tag888.xml"/><Relationship Id="rId7" Type="http://schemas.openxmlformats.org/officeDocument/2006/relationships/tags" Target="../tags/tag853.xml"/><Relationship Id="rId2" Type="http://schemas.openxmlformats.org/officeDocument/2006/relationships/tags" Target="../tags/tag848.xml"/><Relationship Id="rId16" Type="http://schemas.openxmlformats.org/officeDocument/2006/relationships/tags" Target="../tags/tag862.xml"/><Relationship Id="rId20" Type="http://schemas.openxmlformats.org/officeDocument/2006/relationships/tags" Target="../tags/tag866.xml"/><Relationship Id="rId29" Type="http://schemas.openxmlformats.org/officeDocument/2006/relationships/tags" Target="../tags/tag875.xml"/><Relationship Id="rId41" Type="http://schemas.openxmlformats.org/officeDocument/2006/relationships/tags" Target="../tags/tag887.xml"/><Relationship Id="rId1" Type="http://schemas.openxmlformats.org/officeDocument/2006/relationships/tags" Target="../tags/tag847.xml"/><Relationship Id="rId6" Type="http://schemas.openxmlformats.org/officeDocument/2006/relationships/tags" Target="../tags/tag852.xml"/><Relationship Id="rId11" Type="http://schemas.openxmlformats.org/officeDocument/2006/relationships/tags" Target="../tags/tag857.xml"/><Relationship Id="rId24" Type="http://schemas.openxmlformats.org/officeDocument/2006/relationships/tags" Target="../tags/tag870.xml"/><Relationship Id="rId32" Type="http://schemas.openxmlformats.org/officeDocument/2006/relationships/tags" Target="../tags/tag878.xml"/><Relationship Id="rId37" Type="http://schemas.openxmlformats.org/officeDocument/2006/relationships/tags" Target="../tags/tag883.xml"/><Relationship Id="rId40" Type="http://schemas.openxmlformats.org/officeDocument/2006/relationships/tags" Target="../tags/tag886.xml"/><Relationship Id="rId5" Type="http://schemas.openxmlformats.org/officeDocument/2006/relationships/tags" Target="../tags/tag851.xml"/><Relationship Id="rId15" Type="http://schemas.openxmlformats.org/officeDocument/2006/relationships/tags" Target="../tags/tag861.xml"/><Relationship Id="rId23" Type="http://schemas.openxmlformats.org/officeDocument/2006/relationships/tags" Target="../tags/tag869.xml"/><Relationship Id="rId28" Type="http://schemas.openxmlformats.org/officeDocument/2006/relationships/tags" Target="../tags/tag874.xml"/><Relationship Id="rId36" Type="http://schemas.openxmlformats.org/officeDocument/2006/relationships/tags" Target="../tags/tag882.xml"/><Relationship Id="rId10" Type="http://schemas.openxmlformats.org/officeDocument/2006/relationships/tags" Target="../tags/tag856.xml"/><Relationship Id="rId19" Type="http://schemas.openxmlformats.org/officeDocument/2006/relationships/tags" Target="../tags/tag865.xml"/><Relationship Id="rId31" Type="http://schemas.openxmlformats.org/officeDocument/2006/relationships/tags" Target="../tags/tag877.xml"/><Relationship Id="rId44" Type="http://schemas.openxmlformats.org/officeDocument/2006/relationships/notesSlide" Target="../notesSlides/notesSlide58.xml"/><Relationship Id="rId4" Type="http://schemas.openxmlformats.org/officeDocument/2006/relationships/tags" Target="../tags/tag850.xml"/><Relationship Id="rId9" Type="http://schemas.openxmlformats.org/officeDocument/2006/relationships/tags" Target="../tags/tag855.xml"/><Relationship Id="rId14" Type="http://schemas.openxmlformats.org/officeDocument/2006/relationships/tags" Target="../tags/tag860.xml"/><Relationship Id="rId22" Type="http://schemas.openxmlformats.org/officeDocument/2006/relationships/tags" Target="../tags/tag868.xml"/><Relationship Id="rId27" Type="http://schemas.openxmlformats.org/officeDocument/2006/relationships/tags" Target="../tags/tag873.xml"/><Relationship Id="rId30" Type="http://schemas.openxmlformats.org/officeDocument/2006/relationships/tags" Target="../tags/tag876.xml"/><Relationship Id="rId35" Type="http://schemas.openxmlformats.org/officeDocument/2006/relationships/tags" Target="../tags/tag881.xml"/><Relationship Id="rId43" Type="http://schemas.openxmlformats.org/officeDocument/2006/relationships/slideLayout" Target="../slideLayouts/slideLayout4.xml"/><Relationship Id="rId8" Type="http://schemas.openxmlformats.org/officeDocument/2006/relationships/tags" Target="../tags/tag854.xml"/><Relationship Id="rId3" Type="http://schemas.openxmlformats.org/officeDocument/2006/relationships/tags" Target="../tags/tag849.xml"/><Relationship Id="rId12" Type="http://schemas.openxmlformats.org/officeDocument/2006/relationships/tags" Target="../tags/tag858.xml"/><Relationship Id="rId17" Type="http://schemas.openxmlformats.org/officeDocument/2006/relationships/tags" Target="../tags/tag863.xml"/><Relationship Id="rId25" Type="http://schemas.openxmlformats.org/officeDocument/2006/relationships/tags" Target="../tags/tag871.xml"/><Relationship Id="rId33" Type="http://schemas.openxmlformats.org/officeDocument/2006/relationships/tags" Target="../tags/tag879.xml"/><Relationship Id="rId38" Type="http://schemas.openxmlformats.org/officeDocument/2006/relationships/tags" Target="../tags/tag884.xml"/></Relationships>
</file>

<file path=ppt/slides/_rels/slide59.xml.rels><?xml version="1.0" encoding="UTF-8" standalone="yes"?>
<Relationships xmlns="http://schemas.openxmlformats.org/package/2006/relationships"><Relationship Id="rId8" Type="http://schemas.openxmlformats.org/officeDocument/2006/relationships/tags" Target="../tags/tag896.xml"/><Relationship Id="rId13" Type="http://schemas.openxmlformats.org/officeDocument/2006/relationships/tags" Target="../tags/tag901.xml"/><Relationship Id="rId18" Type="http://schemas.openxmlformats.org/officeDocument/2006/relationships/tags" Target="../tags/tag906.xml"/><Relationship Id="rId26" Type="http://schemas.openxmlformats.org/officeDocument/2006/relationships/tags" Target="../tags/tag914.xml"/><Relationship Id="rId3" Type="http://schemas.openxmlformats.org/officeDocument/2006/relationships/tags" Target="../tags/tag891.xml"/><Relationship Id="rId21" Type="http://schemas.openxmlformats.org/officeDocument/2006/relationships/tags" Target="../tags/tag909.xml"/><Relationship Id="rId7" Type="http://schemas.openxmlformats.org/officeDocument/2006/relationships/tags" Target="../tags/tag895.xml"/><Relationship Id="rId12" Type="http://schemas.openxmlformats.org/officeDocument/2006/relationships/tags" Target="../tags/tag900.xml"/><Relationship Id="rId17" Type="http://schemas.openxmlformats.org/officeDocument/2006/relationships/tags" Target="../tags/tag905.xml"/><Relationship Id="rId25" Type="http://schemas.openxmlformats.org/officeDocument/2006/relationships/tags" Target="../tags/tag913.xml"/><Relationship Id="rId2" Type="http://schemas.openxmlformats.org/officeDocument/2006/relationships/tags" Target="../tags/tag890.xml"/><Relationship Id="rId16" Type="http://schemas.openxmlformats.org/officeDocument/2006/relationships/tags" Target="../tags/tag904.xml"/><Relationship Id="rId20" Type="http://schemas.openxmlformats.org/officeDocument/2006/relationships/tags" Target="../tags/tag908.xml"/><Relationship Id="rId29" Type="http://schemas.openxmlformats.org/officeDocument/2006/relationships/tags" Target="../tags/tag917.xml"/><Relationship Id="rId1" Type="http://schemas.openxmlformats.org/officeDocument/2006/relationships/tags" Target="../tags/tag889.xml"/><Relationship Id="rId6" Type="http://schemas.openxmlformats.org/officeDocument/2006/relationships/tags" Target="../tags/tag894.xml"/><Relationship Id="rId11" Type="http://schemas.openxmlformats.org/officeDocument/2006/relationships/tags" Target="../tags/tag899.xml"/><Relationship Id="rId24" Type="http://schemas.openxmlformats.org/officeDocument/2006/relationships/tags" Target="../tags/tag912.xml"/><Relationship Id="rId32" Type="http://schemas.openxmlformats.org/officeDocument/2006/relationships/notesSlide" Target="../notesSlides/notesSlide59.xml"/><Relationship Id="rId5" Type="http://schemas.openxmlformats.org/officeDocument/2006/relationships/tags" Target="../tags/tag893.xml"/><Relationship Id="rId15" Type="http://schemas.openxmlformats.org/officeDocument/2006/relationships/tags" Target="../tags/tag903.xml"/><Relationship Id="rId23" Type="http://schemas.openxmlformats.org/officeDocument/2006/relationships/tags" Target="../tags/tag911.xml"/><Relationship Id="rId28" Type="http://schemas.openxmlformats.org/officeDocument/2006/relationships/tags" Target="../tags/tag916.xml"/><Relationship Id="rId10" Type="http://schemas.openxmlformats.org/officeDocument/2006/relationships/tags" Target="../tags/tag898.xml"/><Relationship Id="rId19" Type="http://schemas.openxmlformats.org/officeDocument/2006/relationships/tags" Target="../tags/tag907.xml"/><Relationship Id="rId31" Type="http://schemas.openxmlformats.org/officeDocument/2006/relationships/slideLayout" Target="../slideLayouts/slideLayout4.xml"/><Relationship Id="rId4" Type="http://schemas.openxmlformats.org/officeDocument/2006/relationships/tags" Target="../tags/tag892.xml"/><Relationship Id="rId9" Type="http://schemas.openxmlformats.org/officeDocument/2006/relationships/tags" Target="../tags/tag897.xml"/><Relationship Id="rId14" Type="http://schemas.openxmlformats.org/officeDocument/2006/relationships/tags" Target="../tags/tag902.xml"/><Relationship Id="rId22" Type="http://schemas.openxmlformats.org/officeDocument/2006/relationships/tags" Target="../tags/tag910.xml"/><Relationship Id="rId27" Type="http://schemas.openxmlformats.org/officeDocument/2006/relationships/tags" Target="../tags/tag915.xml"/><Relationship Id="rId30" Type="http://schemas.openxmlformats.org/officeDocument/2006/relationships/tags" Target="../tags/tag918.xml"/></Relationships>
</file>

<file path=ppt/slides/_rels/slide60.xml.rels><?xml version="1.0" encoding="UTF-8" standalone="yes"?>
<Relationships xmlns="http://schemas.openxmlformats.org/package/2006/relationships"><Relationship Id="rId8" Type="http://schemas.openxmlformats.org/officeDocument/2006/relationships/tags" Target="../tags/tag926.xml"/><Relationship Id="rId13" Type="http://schemas.openxmlformats.org/officeDocument/2006/relationships/tags" Target="../tags/tag931.xml"/><Relationship Id="rId18" Type="http://schemas.openxmlformats.org/officeDocument/2006/relationships/tags" Target="../tags/tag936.xml"/><Relationship Id="rId26" Type="http://schemas.openxmlformats.org/officeDocument/2006/relationships/tags" Target="../tags/tag944.xml"/><Relationship Id="rId3" Type="http://schemas.openxmlformats.org/officeDocument/2006/relationships/tags" Target="../tags/tag921.xml"/><Relationship Id="rId21" Type="http://schemas.openxmlformats.org/officeDocument/2006/relationships/tags" Target="../tags/tag939.xml"/><Relationship Id="rId7" Type="http://schemas.openxmlformats.org/officeDocument/2006/relationships/tags" Target="../tags/tag925.xml"/><Relationship Id="rId12" Type="http://schemas.openxmlformats.org/officeDocument/2006/relationships/tags" Target="../tags/tag930.xml"/><Relationship Id="rId17" Type="http://schemas.openxmlformats.org/officeDocument/2006/relationships/tags" Target="../tags/tag935.xml"/><Relationship Id="rId25" Type="http://schemas.openxmlformats.org/officeDocument/2006/relationships/tags" Target="../tags/tag943.xml"/><Relationship Id="rId2" Type="http://schemas.openxmlformats.org/officeDocument/2006/relationships/tags" Target="../tags/tag920.xml"/><Relationship Id="rId16" Type="http://schemas.openxmlformats.org/officeDocument/2006/relationships/tags" Target="../tags/tag934.xml"/><Relationship Id="rId20" Type="http://schemas.openxmlformats.org/officeDocument/2006/relationships/tags" Target="../tags/tag938.xml"/><Relationship Id="rId29" Type="http://schemas.openxmlformats.org/officeDocument/2006/relationships/tags" Target="../tags/tag947.xml"/><Relationship Id="rId1" Type="http://schemas.openxmlformats.org/officeDocument/2006/relationships/tags" Target="../tags/tag919.xml"/><Relationship Id="rId6" Type="http://schemas.openxmlformats.org/officeDocument/2006/relationships/tags" Target="../tags/tag924.xml"/><Relationship Id="rId11" Type="http://schemas.openxmlformats.org/officeDocument/2006/relationships/tags" Target="../tags/tag929.xml"/><Relationship Id="rId24" Type="http://schemas.openxmlformats.org/officeDocument/2006/relationships/tags" Target="../tags/tag942.xml"/><Relationship Id="rId32" Type="http://schemas.openxmlformats.org/officeDocument/2006/relationships/notesSlide" Target="../notesSlides/notesSlide60.xml"/><Relationship Id="rId5" Type="http://schemas.openxmlformats.org/officeDocument/2006/relationships/tags" Target="../tags/tag923.xml"/><Relationship Id="rId15" Type="http://schemas.openxmlformats.org/officeDocument/2006/relationships/tags" Target="../tags/tag933.xml"/><Relationship Id="rId23" Type="http://schemas.openxmlformats.org/officeDocument/2006/relationships/tags" Target="../tags/tag941.xml"/><Relationship Id="rId28" Type="http://schemas.openxmlformats.org/officeDocument/2006/relationships/tags" Target="../tags/tag946.xml"/><Relationship Id="rId10" Type="http://schemas.openxmlformats.org/officeDocument/2006/relationships/tags" Target="../tags/tag928.xml"/><Relationship Id="rId19" Type="http://schemas.openxmlformats.org/officeDocument/2006/relationships/tags" Target="../tags/tag937.xml"/><Relationship Id="rId31" Type="http://schemas.openxmlformats.org/officeDocument/2006/relationships/slideLayout" Target="../slideLayouts/slideLayout4.xml"/><Relationship Id="rId4" Type="http://schemas.openxmlformats.org/officeDocument/2006/relationships/tags" Target="../tags/tag922.xml"/><Relationship Id="rId9" Type="http://schemas.openxmlformats.org/officeDocument/2006/relationships/tags" Target="../tags/tag927.xml"/><Relationship Id="rId14" Type="http://schemas.openxmlformats.org/officeDocument/2006/relationships/tags" Target="../tags/tag932.xml"/><Relationship Id="rId22" Type="http://schemas.openxmlformats.org/officeDocument/2006/relationships/tags" Target="../tags/tag940.xml"/><Relationship Id="rId27" Type="http://schemas.openxmlformats.org/officeDocument/2006/relationships/tags" Target="../tags/tag945.xml"/><Relationship Id="rId30" Type="http://schemas.openxmlformats.org/officeDocument/2006/relationships/tags" Target="../tags/tag948.xml"/></Relationships>
</file>

<file path=ppt/slides/_rels/slide61.xml.rels><?xml version="1.0" encoding="UTF-8" standalone="yes"?>
<Relationships xmlns="http://schemas.openxmlformats.org/package/2006/relationships"><Relationship Id="rId8" Type="http://schemas.openxmlformats.org/officeDocument/2006/relationships/tags" Target="../tags/tag956.xml"/><Relationship Id="rId13" Type="http://schemas.openxmlformats.org/officeDocument/2006/relationships/tags" Target="../tags/tag961.xml"/><Relationship Id="rId18" Type="http://schemas.openxmlformats.org/officeDocument/2006/relationships/tags" Target="../tags/tag966.xml"/><Relationship Id="rId26" Type="http://schemas.openxmlformats.org/officeDocument/2006/relationships/tags" Target="../tags/tag974.xml"/><Relationship Id="rId3" Type="http://schemas.openxmlformats.org/officeDocument/2006/relationships/tags" Target="../tags/tag951.xml"/><Relationship Id="rId21" Type="http://schemas.openxmlformats.org/officeDocument/2006/relationships/tags" Target="../tags/tag969.xml"/><Relationship Id="rId7" Type="http://schemas.openxmlformats.org/officeDocument/2006/relationships/tags" Target="../tags/tag955.xml"/><Relationship Id="rId12" Type="http://schemas.openxmlformats.org/officeDocument/2006/relationships/tags" Target="../tags/tag960.xml"/><Relationship Id="rId17" Type="http://schemas.openxmlformats.org/officeDocument/2006/relationships/tags" Target="../tags/tag965.xml"/><Relationship Id="rId25" Type="http://schemas.openxmlformats.org/officeDocument/2006/relationships/tags" Target="../tags/tag973.xml"/><Relationship Id="rId2" Type="http://schemas.openxmlformats.org/officeDocument/2006/relationships/tags" Target="../tags/tag950.xml"/><Relationship Id="rId16" Type="http://schemas.openxmlformats.org/officeDocument/2006/relationships/tags" Target="../tags/tag964.xml"/><Relationship Id="rId20" Type="http://schemas.openxmlformats.org/officeDocument/2006/relationships/tags" Target="../tags/tag968.xml"/><Relationship Id="rId29" Type="http://schemas.openxmlformats.org/officeDocument/2006/relationships/tags" Target="../tags/tag977.xml"/><Relationship Id="rId1" Type="http://schemas.openxmlformats.org/officeDocument/2006/relationships/tags" Target="../tags/tag949.xml"/><Relationship Id="rId6" Type="http://schemas.openxmlformats.org/officeDocument/2006/relationships/tags" Target="../tags/tag954.xml"/><Relationship Id="rId11" Type="http://schemas.openxmlformats.org/officeDocument/2006/relationships/tags" Target="../tags/tag959.xml"/><Relationship Id="rId24" Type="http://schemas.openxmlformats.org/officeDocument/2006/relationships/tags" Target="../tags/tag972.xml"/><Relationship Id="rId32" Type="http://schemas.openxmlformats.org/officeDocument/2006/relationships/notesSlide" Target="../notesSlides/notesSlide61.xml"/><Relationship Id="rId5" Type="http://schemas.openxmlformats.org/officeDocument/2006/relationships/tags" Target="../tags/tag953.xml"/><Relationship Id="rId15" Type="http://schemas.openxmlformats.org/officeDocument/2006/relationships/tags" Target="../tags/tag963.xml"/><Relationship Id="rId23" Type="http://schemas.openxmlformats.org/officeDocument/2006/relationships/tags" Target="../tags/tag971.xml"/><Relationship Id="rId28" Type="http://schemas.openxmlformats.org/officeDocument/2006/relationships/tags" Target="../tags/tag976.xml"/><Relationship Id="rId10" Type="http://schemas.openxmlformats.org/officeDocument/2006/relationships/tags" Target="../tags/tag958.xml"/><Relationship Id="rId19" Type="http://schemas.openxmlformats.org/officeDocument/2006/relationships/tags" Target="../tags/tag967.xml"/><Relationship Id="rId31" Type="http://schemas.openxmlformats.org/officeDocument/2006/relationships/slideLayout" Target="../slideLayouts/slideLayout4.xml"/><Relationship Id="rId4" Type="http://schemas.openxmlformats.org/officeDocument/2006/relationships/tags" Target="../tags/tag952.xml"/><Relationship Id="rId9" Type="http://schemas.openxmlformats.org/officeDocument/2006/relationships/tags" Target="../tags/tag957.xml"/><Relationship Id="rId14" Type="http://schemas.openxmlformats.org/officeDocument/2006/relationships/tags" Target="../tags/tag962.xml"/><Relationship Id="rId22" Type="http://schemas.openxmlformats.org/officeDocument/2006/relationships/tags" Target="../tags/tag970.xml"/><Relationship Id="rId27" Type="http://schemas.openxmlformats.org/officeDocument/2006/relationships/tags" Target="../tags/tag975.xml"/><Relationship Id="rId30" Type="http://schemas.openxmlformats.org/officeDocument/2006/relationships/tags" Target="../tags/tag978.xml"/></Relationships>
</file>

<file path=ppt/slides/_rels/slide62.xml.rels><?xml version="1.0" encoding="UTF-8" standalone="yes"?>
<Relationships xmlns="http://schemas.openxmlformats.org/package/2006/relationships"><Relationship Id="rId8" Type="http://schemas.openxmlformats.org/officeDocument/2006/relationships/tags" Target="../tags/tag986.xml"/><Relationship Id="rId13" Type="http://schemas.openxmlformats.org/officeDocument/2006/relationships/tags" Target="../tags/tag991.xml"/><Relationship Id="rId18" Type="http://schemas.openxmlformats.org/officeDocument/2006/relationships/tags" Target="../tags/tag996.xml"/><Relationship Id="rId26" Type="http://schemas.openxmlformats.org/officeDocument/2006/relationships/tags" Target="../tags/tag1004.xml"/><Relationship Id="rId3" Type="http://schemas.openxmlformats.org/officeDocument/2006/relationships/tags" Target="../tags/tag981.xml"/><Relationship Id="rId21" Type="http://schemas.openxmlformats.org/officeDocument/2006/relationships/tags" Target="../tags/tag999.xml"/><Relationship Id="rId7" Type="http://schemas.openxmlformats.org/officeDocument/2006/relationships/tags" Target="../tags/tag985.xml"/><Relationship Id="rId12" Type="http://schemas.openxmlformats.org/officeDocument/2006/relationships/tags" Target="../tags/tag990.xml"/><Relationship Id="rId17" Type="http://schemas.openxmlformats.org/officeDocument/2006/relationships/tags" Target="../tags/tag995.xml"/><Relationship Id="rId25" Type="http://schemas.openxmlformats.org/officeDocument/2006/relationships/tags" Target="../tags/tag1003.xml"/><Relationship Id="rId2" Type="http://schemas.openxmlformats.org/officeDocument/2006/relationships/tags" Target="../tags/tag980.xml"/><Relationship Id="rId16" Type="http://schemas.openxmlformats.org/officeDocument/2006/relationships/tags" Target="../tags/tag994.xml"/><Relationship Id="rId20" Type="http://schemas.openxmlformats.org/officeDocument/2006/relationships/tags" Target="../tags/tag998.xml"/><Relationship Id="rId29" Type="http://schemas.openxmlformats.org/officeDocument/2006/relationships/tags" Target="../tags/tag1007.xml"/><Relationship Id="rId1" Type="http://schemas.openxmlformats.org/officeDocument/2006/relationships/tags" Target="../tags/tag979.xml"/><Relationship Id="rId6" Type="http://schemas.openxmlformats.org/officeDocument/2006/relationships/tags" Target="../tags/tag984.xml"/><Relationship Id="rId11" Type="http://schemas.openxmlformats.org/officeDocument/2006/relationships/tags" Target="../tags/tag989.xml"/><Relationship Id="rId24" Type="http://schemas.openxmlformats.org/officeDocument/2006/relationships/tags" Target="../tags/tag1002.xml"/><Relationship Id="rId32" Type="http://schemas.openxmlformats.org/officeDocument/2006/relationships/notesSlide" Target="../notesSlides/notesSlide62.xml"/><Relationship Id="rId5" Type="http://schemas.openxmlformats.org/officeDocument/2006/relationships/tags" Target="../tags/tag983.xml"/><Relationship Id="rId15" Type="http://schemas.openxmlformats.org/officeDocument/2006/relationships/tags" Target="../tags/tag993.xml"/><Relationship Id="rId23" Type="http://schemas.openxmlformats.org/officeDocument/2006/relationships/tags" Target="../tags/tag1001.xml"/><Relationship Id="rId28" Type="http://schemas.openxmlformats.org/officeDocument/2006/relationships/tags" Target="../tags/tag1006.xml"/><Relationship Id="rId10" Type="http://schemas.openxmlformats.org/officeDocument/2006/relationships/tags" Target="../tags/tag988.xml"/><Relationship Id="rId19" Type="http://schemas.openxmlformats.org/officeDocument/2006/relationships/tags" Target="../tags/tag997.xml"/><Relationship Id="rId31" Type="http://schemas.openxmlformats.org/officeDocument/2006/relationships/slideLayout" Target="../slideLayouts/slideLayout4.xml"/><Relationship Id="rId4" Type="http://schemas.openxmlformats.org/officeDocument/2006/relationships/tags" Target="../tags/tag982.xml"/><Relationship Id="rId9" Type="http://schemas.openxmlformats.org/officeDocument/2006/relationships/tags" Target="../tags/tag987.xml"/><Relationship Id="rId14" Type="http://schemas.openxmlformats.org/officeDocument/2006/relationships/tags" Target="../tags/tag992.xml"/><Relationship Id="rId22" Type="http://schemas.openxmlformats.org/officeDocument/2006/relationships/tags" Target="../tags/tag1000.xml"/><Relationship Id="rId27" Type="http://schemas.openxmlformats.org/officeDocument/2006/relationships/tags" Target="../tags/tag1005.xml"/><Relationship Id="rId30" Type="http://schemas.openxmlformats.org/officeDocument/2006/relationships/tags" Target="../tags/tag1008.xml"/></Relationships>
</file>

<file path=ppt/slides/_rels/slide63.xml.rels><?xml version="1.0" encoding="UTF-8" standalone="yes"?>
<Relationships xmlns="http://schemas.openxmlformats.org/package/2006/relationships"><Relationship Id="rId8" Type="http://schemas.openxmlformats.org/officeDocument/2006/relationships/tags" Target="../tags/tag1016.xml"/><Relationship Id="rId13" Type="http://schemas.openxmlformats.org/officeDocument/2006/relationships/tags" Target="../tags/tag1021.xml"/><Relationship Id="rId18" Type="http://schemas.openxmlformats.org/officeDocument/2006/relationships/tags" Target="../tags/tag1026.xml"/><Relationship Id="rId26" Type="http://schemas.openxmlformats.org/officeDocument/2006/relationships/tags" Target="../tags/tag1034.xml"/><Relationship Id="rId3" Type="http://schemas.openxmlformats.org/officeDocument/2006/relationships/tags" Target="../tags/tag1011.xml"/><Relationship Id="rId21" Type="http://schemas.openxmlformats.org/officeDocument/2006/relationships/tags" Target="../tags/tag1029.xml"/><Relationship Id="rId7" Type="http://schemas.openxmlformats.org/officeDocument/2006/relationships/tags" Target="../tags/tag1015.xml"/><Relationship Id="rId12" Type="http://schemas.openxmlformats.org/officeDocument/2006/relationships/tags" Target="../tags/tag1020.xml"/><Relationship Id="rId17" Type="http://schemas.openxmlformats.org/officeDocument/2006/relationships/tags" Target="../tags/tag1025.xml"/><Relationship Id="rId25" Type="http://schemas.openxmlformats.org/officeDocument/2006/relationships/tags" Target="../tags/tag1033.xml"/><Relationship Id="rId2" Type="http://schemas.openxmlformats.org/officeDocument/2006/relationships/tags" Target="../tags/tag1010.xml"/><Relationship Id="rId16" Type="http://schemas.openxmlformats.org/officeDocument/2006/relationships/tags" Target="../tags/tag1024.xml"/><Relationship Id="rId20" Type="http://schemas.openxmlformats.org/officeDocument/2006/relationships/tags" Target="../tags/tag1028.xml"/><Relationship Id="rId29" Type="http://schemas.openxmlformats.org/officeDocument/2006/relationships/tags" Target="../tags/tag1037.xml"/><Relationship Id="rId1" Type="http://schemas.openxmlformats.org/officeDocument/2006/relationships/tags" Target="../tags/tag1009.xml"/><Relationship Id="rId6" Type="http://schemas.openxmlformats.org/officeDocument/2006/relationships/tags" Target="../tags/tag1014.xml"/><Relationship Id="rId11" Type="http://schemas.openxmlformats.org/officeDocument/2006/relationships/tags" Target="../tags/tag1019.xml"/><Relationship Id="rId24" Type="http://schemas.openxmlformats.org/officeDocument/2006/relationships/tags" Target="../tags/tag1032.xml"/><Relationship Id="rId32" Type="http://schemas.openxmlformats.org/officeDocument/2006/relationships/notesSlide" Target="../notesSlides/notesSlide63.xml"/><Relationship Id="rId5" Type="http://schemas.openxmlformats.org/officeDocument/2006/relationships/tags" Target="../tags/tag1013.xml"/><Relationship Id="rId15" Type="http://schemas.openxmlformats.org/officeDocument/2006/relationships/tags" Target="../tags/tag1023.xml"/><Relationship Id="rId23" Type="http://schemas.openxmlformats.org/officeDocument/2006/relationships/tags" Target="../tags/tag1031.xml"/><Relationship Id="rId28" Type="http://schemas.openxmlformats.org/officeDocument/2006/relationships/tags" Target="../tags/tag1036.xml"/><Relationship Id="rId10" Type="http://schemas.openxmlformats.org/officeDocument/2006/relationships/tags" Target="../tags/tag1018.xml"/><Relationship Id="rId19" Type="http://schemas.openxmlformats.org/officeDocument/2006/relationships/tags" Target="../tags/tag1027.xml"/><Relationship Id="rId31" Type="http://schemas.openxmlformats.org/officeDocument/2006/relationships/slideLayout" Target="../slideLayouts/slideLayout4.xml"/><Relationship Id="rId4" Type="http://schemas.openxmlformats.org/officeDocument/2006/relationships/tags" Target="../tags/tag1012.xml"/><Relationship Id="rId9" Type="http://schemas.openxmlformats.org/officeDocument/2006/relationships/tags" Target="../tags/tag1017.xml"/><Relationship Id="rId14" Type="http://schemas.openxmlformats.org/officeDocument/2006/relationships/tags" Target="../tags/tag1022.xml"/><Relationship Id="rId22" Type="http://schemas.openxmlformats.org/officeDocument/2006/relationships/tags" Target="../tags/tag1030.xml"/><Relationship Id="rId27" Type="http://schemas.openxmlformats.org/officeDocument/2006/relationships/tags" Target="../tags/tag1035.xml"/><Relationship Id="rId30" Type="http://schemas.openxmlformats.org/officeDocument/2006/relationships/tags" Target="../tags/tag1038.xml"/></Relationships>
</file>

<file path=ppt/slides/_rels/slide64.xml.rels><?xml version="1.0" encoding="UTF-8" standalone="yes"?>
<Relationships xmlns="http://schemas.openxmlformats.org/package/2006/relationships"><Relationship Id="rId8" Type="http://schemas.openxmlformats.org/officeDocument/2006/relationships/tags" Target="../tags/tag1046.xml"/><Relationship Id="rId13" Type="http://schemas.openxmlformats.org/officeDocument/2006/relationships/tags" Target="../tags/tag1051.xml"/><Relationship Id="rId18" Type="http://schemas.openxmlformats.org/officeDocument/2006/relationships/tags" Target="../tags/tag1056.xml"/><Relationship Id="rId26" Type="http://schemas.openxmlformats.org/officeDocument/2006/relationships/tags" Target="../tags/tag1064.xml"/><Relationship Id="rId3" Type="http://schemas.openxmlformats.org/officeDocument/2006/relationships/tags" Target="../tags/tag1041.xml"/><Relationship Id="rId21" Type="http://schemas.openxmlformats.org/officeDocument/2006/relationships/tags" Target="../tags/tag1059.xml"/><Relationship Id="rId7" Type="http://schemas.openxmlformats.org/officeDocument/2006/relationships/tags" Target="../tags/tag1045.xml"/><Relationship Id="rId12" Type="http://schemas.openxmlformats.org/officeDocument/2006/relationships/tags" Target="../tags/tag1050.xml"/><Relationship Id="rId17" Type="http://schemas.openxmlformats.org/officeDocument/2006/relationships/tags" Target="../tags/tag1055.xml"/><Relationship Id="rId25" Type="http://schemas.openxmlformats.org/officeDocument/2006/relationships/tags" Target="../tags/tag1063.xml"/><Relationship Id="rId2" Type="http://schemas.openxmlformats.org/officeDocument/2006/relationships/tags" Target="../tags/tag1040.xml"/><Relationship Id="rId16" Type="http://schemas.openxmlformats.org/officeDocument/2006/relationships/tags" Target="../tags/tag1054.xml"/><Relationship Id="rId20" Type="http://schemas.openxmlformats.org/officeDocument/2006/relationships/tags" Target="../tags/tag1058.xml"/><Relationship Id="rId29" Type="http://schemas.openxmlformats.org/officeDocument/2006/relationships/tags" Target="../tags/tag1067.xml"/><Relationship Id="rId1" Type="http://schemas.openxmlformats.org/officeDocument/2006/relationships/tags" Target="../tags/tag1039.xml"/><Relationship Id="rId6" Type="http://schemas.openxmlformats.org/officeDocument/2006/relationships/tags" Target="../tags/tag1044.xml"/><Relationship Id="rId11" Type="http://schemas.openxmlformats.org/officeDocument/2006/relationships/tags" Target="../tags/tag1049.xml"/><Relationship Id="rId24" Type="http://schemas.openxmlformats.org/officeDocument/2006/relationships/tags" Target="../tags/tag1062.xml"/><Relationship Id="rId32" Type="http://schemas.openxmlformats.org/officeDocument/2006/relationships/notesSlide" Target="../notesSlides/notesSlide64.xml"/><Relationship Id="rId5" Type="http://schemas.openxmlformats.org/officeDocument/2006/relationships/tags" Target="../tags/tag1043.xml"/><Relationship Id="rId15" Type="http://schemas.openxmlformats.org/officeDocument/2006/relationships/tags" Target="../tags/tag1053.xml"/><Relationship Id="rId23" Type="http://schemas.openxmlformats.org/officeDocument/2006/relationships/tags" Target="../tags/tag1061.xml"/><Relationship Id="rId28" Type="http://schemas.openxmlformats.org/officeDocument/2006/relationships/tags" Target="../tags/tag1066.xml"/><Relationship Id="rId10" Type="http://schemas.openxmlformats.org/officeDocument/2006/relationships/tags" Target="../tags/tag1048.xml"/><Relationship Id="rId19" Type="http://schemas.openxmlformats.org/officeDocument/2006/relationships/tags" Target="../tags/tag1057.xml"/><Relationship Id="rId31" Type="http://schemas.openxmlformats.org/officeDocument/2006/relationships/slideLayout" Target="../slideLayouts/slideLayout4.xml"/><Relationship Id="rId4" Type="http://schemas.openxmlformats.org/officeDocument/2006/relationships/tags" Target="../tags/tag1042.xml"/><Relationship Id="rId9" Type="http://schemas.openxmlformats.org/officeDocument/2006/relationships/tags" Target="../tags/tag1047.xml"/><Relationship Id="rId14" Type="http://schemas.openxmlformats.org/officeDocument/2006/relationships/tags" Target="../tags/tag1052.xml"/><Relationship Id="rId22" Type="http://schemas.openxmlformats.org/officeDocument/2006/relationships/tags" Target="../tags/tag1060.xml"/><Relationship Id="rId27" Type="http://schemas.openxmlformats.org/officeDocument/2006/relationships/tags" Target="../tags/tag1065.xml"/><Relationship Id="rId30" Type="http://schemas.openxmlformats.org/officeDocument/2006/relationships/tags" Target="../tags/tag1068.xml"/></Relationships>
</file>

<file path=ppt/slides/_rels/slide65.xml.rels><?xml version="1.0" encoding="UTF-8" standalone="yes"?>
<Relationships xmlns="http://schemas.openxmlformats.org/package/2006/relationships"><Relationship Id="rId8" Type="http://schemas.openxmlformats.org/officeDocument/2006/relationships/tags" Target="../tags/tag1076.xml"/><Relationship Id="rId13" Type="http://schemas.openxmlformats.org/officeDocument/2006/relationships/tags" Target="../tags/tag1081.xml"/><Relationship Id="rId18" Type="http://schemas.openxmlformats.org/officeDocument/2006/relationships/tags" Target="../tags/tag1086.xml"/><Relationship Id="rId26" Type="http://schemas.openxmlformats.org/officeDocument/2006/relationships/tags" Target="../tags/tag1094.xml"/><Relationship Id="rId3" Type="http://schemas.openxmlformats.org/officeDocument/2006/relationships/tags" Target="../tags/tag1071.xml"/><Relationship Id="rId21" Type="http://schemas.openxmlformats.org/officeDocument/2006/relationships/tags" Target="../tags/tag1089.xml"/><Relationship Id="rId7" Type="http://schemas.openxmlformats.org/officeDocument/2006/relationships/tags" Target="../tags/tag1075.xml"/><Relationship Id="rId12" Type="http://schemas.openxmlformats.org/officeDocument/2006/relationships/tags" Target="../tags/tag1080.xml"/><Relationship Id="rId17" Type="http://schemas.openxmlformats.org/officeDocument/2006/relationships/tags" Target="../tags/tag1085.xml"/><Relationship Id="rId25" Type="http://schemas.openxmlformats.org/officeDocument/2006/relationships/tags" Target="../tags/tag1093.xml"/><Relationship Id="rId2" Type="http://schemas.openxmlformats.org/officeDocument/2006/relationships/tags" Target="../tags/tag1070.xml"/><Relationship Id="rId16" Type="http://schemas.openxmlformats.org/officeDocument/2006/relationships/tags" Target="../tags/tag1084.xml"/><Relationship Id="rId20" Type="http://schemas.openxmlformats.org/officeDocument/2006/relationships/tags" Target="../tags/tag1088.xml"/><Relationship Id="rId29" Type="http://schemas.openxmlformats.org/officeDocument/2006/relationships/tags" Target="../tags/tag1097.xml"/><Relationship Id="rId1" Type="http://schemas.openxmlformats.org/officeDocument/2006/relationships/tags" Target="../tags/tag1069.xml"/><Relationship Id="rId6" Type="http://schemas.openxmlformats.org/officeDocument/2006/relationships/tags" Target="../tags/tag1074.xml"/><Relationship Id="rId11" Type="http://schemas.openxmlformats.org/officeDocument/2006/relationships/tags" Target="../tags/tag1079.xml"/><Relationship Id="rId24" Type="http://schemas.openxmlformats.org/officeDocument/2006/relationships/tags" Target="../tags/tag1092.xml"/><Relationship Id="rId32" Type="http://schemas.openxmlformats.org/officeDocument/2006/relationships/notesSlide" Target="../notesSlides/notesSlide65.xml"/><Relationship Id="rId5" Type="http://schemas.openxmlformats.org/officeDocument/2006/relationships/tags" Target="../tags/tag1073.xml"/><Relationship Id="rId15" Type="http://schemas.openxmlformats.org/officeDocument/2006/relationships/tags" Target="../tags/tag1083.xml"/><Relationship Id="rId23" Type="http://schemas.openxmlformats.org/officeDocument/2006/relationships/tags" Target="../tags/tag1091.xml"/><Relationship Id="rId28" Type="http://schemas.openxmlformats.org/officeDocument/2006/relationships/tags" Target="../tags/tag1096.xml"/><Relationship Id="rId10" Type="http://schemas.openxmlformats.org/officeDocument/2006/relationships/tags" Target="../tags/tag1078.xml"/><Relationship Id="rId19" Type="http://schemas.openxmlformats.org/officeDocument/2006/relationships/tags" Target="../tags/tag1087.xml"/><Relationship Id="rId31" Type="http://schemas.openxmlformats.org/officeDocument/2006/relationships/slideLayout" Target="../slideLayouts/slideLayout4.xml"/><Relationship Id="rId4" Type="http://schemas.openxmlformats.org/officeDocument/2006/relationships/tags" Target="../tags/tag1072.xml"/><Relationship Id="rId9" Type="http://schemas.openxmlformats.org/officeDocument/2006/relationships/tags" Target="../tags/tag1077.xml"/><Relationship Id="rId14" Type="http://schemas.openxmlformats.org/officeDocument/2006/relationships/tags" Target="../tags/tag1082.xml"/><Relationship Id="rId22" Type="http://schemas.openxmlformats.org/officeDocument/2006/relationships/tags" Target="../tags/tag1090.xml"/><Relationship Id="rId27" Type="http://schemas.openxmlformats.org/officeDocument/2006/relationships/tags" Target="../tags/tag1095.xml"/><Relationship Id="rId30" Type="http://schemas.openxmlformats.org/officeDocument/2006/relationships/tags" Target="../tags/tag1098.xml"/></Relationships>
</file>

<file path=ppt/slides/_rels/slide66.xml.rels><?xml version="1.0" encoding="UTF-8" standalone="yes"?>
<Relationships xmlns="http://schemas.openxmlformats.org/package/2006/relationships"><Relationship Id="rId8" Type="http://schemas.openxmlformats.org/officeDocument/2006/relationships/tags" Target="../tags/tag1106.xml"/><Relationship Id="rId13" Type="http://schemas.openxmlformats.org/officeDocument/2006/relationships/tags" Target="../tags/tag1111.xml"/><Relationship Id="rId18" Type="http://schemas.openxmlformats.org/officeDocument/2006/relationships/tags" Target="../tags/tag1116.xml"/><Relationship Id="rId26" Type="http://schemas.openxmlformats.org/officeDocument/2006/relationships/tags" Target="../tags/tag1124.xml"/><Relationship Id="rId3" Type="http://schemas.openxmlformats.org/officeDocument/2006/relationships/tags" Target="../tags/tag1101.xml"/><Relationship Id="rId21" Type="http://schemas.openxmlformats.org/officeDocument/2006/relationships/tags" Target="../tags/tag1119.xml"/><Relationship Id="rId7" Type="http://schemas.openxmlformats.org/officeDocument/2006/relationships/tags" Target="../tags/tag1105.xml"/><Relationship Id="rId12" Type="http://schemas.openxmlformats.org/officeDocument/2006/relationships/tags" Target="../tags/tag1110.xml"/><Relationship Id="rId17" Type="http://schemas.openxmlformats.org/officeDocument/2006/relationships/tags" Target="../tags/tag1115.xml"/><Relationship Id="rId25" Type="http://schemas.openxmlformats.org/officeDocument/2006/relationships/tags" Target="../tags/tag1123.xml"/><Relationship Id="rId2" Type="http://schemas.openxmlformats.org/officeDocument/2006/relationships/tags" Target="../tags/tag1100.xml"/><Relationship Id="rId16" Type="http://schemas.openxmlformats.org/officeDocument/2006/relationships/tags" Target="../tags/tag1114.xml"/><Relationship Id="rId20" Type="http://schemas.openxmlformats.org/officeDocument/2006/relationships/tags" Target="../tags/tag1118.xml"/><Relationship Id="rId29" Type="http://schemas.openxmlformats.org/officeDocument/2006/relationships/tags" Target="../tags/tag1127.xml"/><Relationship Id="rId1" Type="http://schemas.openxmlformats.org/officeDocument/2006/relationships/tags" Target="../tags/tag1099.xml"/><Relationship Id="rId6" Type="http://schemas.openxmlformats.org/officeDocument/2006/relationships/tags" Target="../tags/tag1104.xml"/><Relationship Id="rId11" Type="http://schemas.openxmlformats.org/officeDocument/2006/relationships/tags" Target="../tags/tag1109.xml"/><Relationship Id="rId24" Type="http://schemas.openxmlformats.org/officeDocument/2006/relationships/tags" Target="../tags/tag1122.xml"/><Relationship Id="rId32" Type="http://schemas.openxmlformats.org/officeDocument/2006/relationships/notesSlide" Target="../notesSlides/notesSlide66.xml"/><Relationship Id="rId5" Type="http://schemas.openxmlformats.org/officeDocument/2006/relationships/tags" Target="../tags/tag1103.xml"/><Relationship Id="rId15" Type="http://schemas.openxmlformats.org/officeDocument/2006/relationships/tags" Target="../tags/tag1113.xml"/><Relationship Id="rId23" Type="http://schemas.openxmlformats.org/officeDocument/2006/relationships/tags" Target="../tags/tag1121.xml"/><Relationship Id="rId28" Type="http://schemas.openxmlformats.org/officeDocument/2006/relationships/tags" Target="../tags/tag1126.xml"/><Relationship Id="rId10" Type="http://schemas.openxmlformats.org/officeDocument/2006/relationships/tags" Target="../tags/tag1108.xml"/><Relationship Id="rId19" Type="http://schemas.openxmlformats.org/officeDocument/2006/relationships/tags" Target="../tags/tag1117.xml"/><Relationship Id="rId31" Type="http://schemas.openxmlformats.org/officeDocument/2006/relationships/slideLayout" Target="../slideLayouts/slideLayout4.xml"/><Relationship Id="rId4" Type="http://schemas.openxmlformats.org/officeDocument/2006/relationships/tags" Target="../tags/tag1102.xml"/><Relationship Id="rId9" Type="http://schemas.openxmlformats.org/officeDocument/2006/relationships/tags" Target="../tags/tag1107.xml"/><Relationship Id="rId14" Type="http://schemas.openxmlformats.org/officeDocument/2006/relationships/tags" Target="../tags/tag1112.xml"/><Relationship Id="rId22" Type="http://schemas.openxmlformats.org/officeDocument/2006/relationships/tags" Target="../tags/tag1120.xml"/><Relationship Id="rId27" Type="http://schemas.openxmlformats.org/officeDocument/2006/relationships/tags" Target="../tags/tag1125.xml"/><Relationship Id="rId30" Type="http://schemas.openxmlformats.org/officeDocument/2006/relationships/tags" Target="../tags/tag1128.xml"/></Relationships>
</file>

<file path=ppt/slides/_rels/slide67.xml.rels><?xml version="1.0" encoding="UTF-8" standalone="yes"?>
<Relationships xmlns="http://schemas.openxmlformats.org/package/2006/relationships"><Relationship Id="rId8" Type="http://schemas.openxmlformats.org/officeDocument/2006/relationships/tags" Target="../tags/tag1136.xml"/><Relationship Id="rId3" Type="http://schemas.openxmlformats.org/officeDocument/2006/relationships/tags" Target="../tags/tag1131.xml"/><Relationship Id="rId7" Type="http://schemas.openxmlformats.org/officeDocument/2006/relationships/tags" Target="../tags/tag1135.xml"/><Relationship Id="rId2" Type="http://schemas.openxmlformats.org/officeDocument/2006/relationships/tags" Target="../tags/tag1130.xml"/><Relationship Id="rId1" Type="http://schemas.openxmlformats.org/officeDocument/2006/relationships/tags" Target="../tags/tag1129.xml"/><Relationship Id="rId6" Type="http://schemas.openxmlformats.org/officeDocument/2006/relationships/tags" Target="../tags/tag1134.xml"/><Relationship Id="rId11" Type="http://schemas.openxmlformats.org/officeDocument/2006/relationships/notesSlide" Target="../notesSlides/notesSlide67.xml"/><Relationship Id="rId5" Type="http://schemas.openxmlformats.org/officeDocument/2006/relationships/tags" Target="../tags/tag1133.xml"/><Relationship Id="rId10" Type="http://schemas.openxmlformats.org/officeDocument/2006/relationships/slideLayout" Target="../slideLayouts/slideLayout3.xml"/><Relationship Id="rId4" Type="http://schemas.openxmlformats.org/officeDocument/2006/relationships/tags" Target="../tags/tag1132.xml"/><Relationship Id="rId9" Type="http://schemas.openxmlformats.org/officeDocument/2006/relationships/tags" Target="../tags/tag1137.xml"/></Relationships>
</file>

<file path=ppt/slides/_rels/slide68.xml.rels><?xml version="1.0" encoding="UTF-8" standalone="yes"?>
<Relationships xmlns="http://schemas.openxmlformats.org/package/2006/relationships"><Relationship Id="rId8" Type="http://schemas.openxmlformats.org/officeDocument/2006/relationships/tags" Target="../tags/tag1145.xml"/><Relationship Id="rId3" Type="http://schemas.openxmlformats.org/officeDocument/2006/relationships/tags" Target="../tags/tag1140.xml"/><Relationship Id="rId7" Type="http://schemas.openxmlformats.org/officeDocument/2006/relationships/tags" Target="../tags/tag1144.xml"/><Relationship Id="rId2" Type="http://schemas.openxmlformats.org/officeDocument/2006/relationships/tags" Target="../tags/tag1139.xml"/><Relationship Id="rId1" Type="http://schemas.openxmlformats.org/officeDocument/2006/relationships/tags" Target="../tags/tag1138.xml"/><Relationship Id="rId6" Type="http://schemas.openxmlformats.org/officeDocument/2006/relationships/tags" Target="../tags/tag1143.xml"/><Relationship Id="rId11" Type="http://schemas.openxmlformats.org/officeDocument/2006/relationships/notesSlide" Target="../notesSlides/notesSlide68.xml"/><Relationship Id="rId5" Type="http://schemas.openxmlformats.org/officeDocument/2006/relationships/tags" Target="../tags/tag1142.xml"/><Relationship Id="rId10" Type="http://schemas.openxmlformats.org/officeDocument/2006/relationships/slideLayout" Target="../slideLayouts/slideLayout3.xml"/><Relationship Id="rId4" Type="http://schemas.openxmlformats.org/officeDocument/2006/relationships/tags" Target="../tags/tag1141.xml"/><Relationship Id="rId9" Type="http://schemas.openxmlformats.org/officeDocument/2006/relationships/tags" Target="../tags/tag1146.xml"/></Relationships>
</file>

<file path=ppt/slides/_rels/slide69.xml.rels><?xml version="1.0" encoding="UTF-8" standalone="yes"?>
<Relationships xmlns="http://schemas.openxmlformats.org/package/2006/relationships"><Relationship Id="rId8" Type="http://schemas.openxmlformats.org/officeDocument/2006/relationships/tags" Target="../tags/tag1154.xml"/><Relationship Id="rId3" Type="http://schemas.openxmlformats.org/officeDocument/2006/relationships/tags" Target="../tags/tag1149.xml"/><Relationship Id="rId7" Type="http://schemas.openxmlformats.org/officeDocument/2006/relationships/tags" Target="../tags/tag1153.xml"/><Relationship Id="rId2" Type="http://schemas.openxmlformats.org/officeDocument/2006/relationships/tags" Target="../tags/tag1148.xml"/><Relationship Id="rId1" Type="http://schemas.openxmlformats.org/officeDocument/2006/relationships/tags" Target="../tags/tag1147.xml"/><Relationship Id="rId6" Type="http://schemas.openxmlformats.org/officeDocument/2006/relationships/tags" Target="../tags/tag1152.xml"/><Relationship Id="rId11" Type="http://schemas.openxmlformats.org/officeDocument/2006/relationships/notesSlide" Target="../notesSlides/notesSlide69.xml"/><Relationship Id="rId5" Type="http://schemas.openxmlformats.org/officeDocument/2006/relationships/tags" Target="../tags/tag1151.xml"/><Relationship Id="rId10" Type="http://schemas.openxmlformats.org/officeDocument/2006/relationships/slideLayout" Target="../slideLayouts/slideLayout3.xml"/><Relationship Id="rId4" Type="http://schemas.openxmlformats.org/officeDocument/2006/relationships/tags" Target="../tags/tag1150.xml"/><Relationship Id="rId9" Type="http://schemas.openxmlformats.org/officeDocument/2006/relationships/tags" Target="../tags/tag1155.xml"/></Relationships>
</file>

<file path=ppt/slides/_rels/slide70.xml.rels><?xml version="1.0" encoding="UTF-8" standalone="yes"?>
<Relationships xmlns="http://schemas.openxmlformats.org/package/2006/relationships"><Relationship Id="rId8" Type="http://schemas.openxmlformats.org/officeDocument/2006/relationships/tags" Target="../tags/tag1163.xml"/><Relationship Id="rId3" Type="http://schemas.openxmlformats.org/officeDocument/2006/relationships/tags" Target="../tags/tag1158.xml"/><Relationship Id="rId7" Type="http://schemas.openxmlformats.org/officeDocument/2006/relationships/tags" Target="../tags/tag1162.xml"/><Relationship Id="rId2" Type="http://schemas.openxmlformats.org/officeDocument/2006/relationships/tags" Target="../tags/tag1157.xml"/><Relationship Id="rId1" Type="http://schemas.openxmlformats.org/officeDocument/2006/relationships/tags" Target="../tags/tag1156.xml"/><Relationship Id="rId6" Type="http://schemas.openxmlformats.org/officeDocument/2006/relationships/tags" Target="../tags/tag1161.xml"/><Relationship Id="rId11" Type="http://schemas.openxmlformats.org/officeDocument/2006/relationships/notesSlide" Target="../notesSlides/notesSlide70.xml"/><Relationship Id="rId5" Type="http://schemas.openxmlformats.org/officeDocument/2006/relationships/tags" Target="../tags/tag1160.xml"/><Relationship Id="rId10" Type="http://schemas.openxmlformats.org/officeDocument/2006/relationships/slideLayout" Target="../slideLayouts/slideLayout3.xml"/><Relationship Id="rId4" Type="http://schemas.openxmlformats.org/officeDocument/2006/relationships/tags" Target="../tags/tag1159.xml"/><Relationship Id="rId9" Type="http://schemas.openxmlformats.org/officeDocument/2006/relationships/tags" Target="../tags/tag116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hyperlink" Target="https://www.cs.princeton.edu/courses/archive/spring22/cos226/demos/42DemoTopologicalSort/index.html#0" TargetMode="External"/><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hyperlink" Target="https://www.google.com/search?sca_esv=e8e3451742a7a0b0&amp;rlz=1C1GCEA_enUS1048US1048&amp;q=Leonhard+Euler&amp;sa=X&amp;ved=2ahUKEwiL6_eq2_KOAxXTOkQIHbFcCIMQxccNegQIXhAB&amp;mstk=AUtExfCHyYzlgJsdKJiE1vf_ZNi4Il5ytPIHYkNXXSC5pPPjdOifU39qw1yD-Us9jka18F8J3tL3LKUsmKOQylFTz6HpriLZqel1WWFWiLspIALYw8caPaFf68aBW4fkLhOY29sNfoHD5ON02XgVjHVNjFbYP4RRBRj1bQNHMiTqP3knPc_QzfpWEQvoM4-X-LUQP5TW&amp;csui=3" TargetMode="External"/><Relationship Id="rId2" Type="http://schemas.openxmlformats.org/officeDocument/2006/relationships/notesSlide" Target="../notesSlides/notesSlide94.xml"/><Relationship Id="rId1" Type="http://schemas.openxmlformats.org/officeDocument/2006/relationships/slideLayout" Target="../slideLayouts/slideLayout3.xml"/><Relationship Id="rId4" Type="http://schemas.openxmlformats.org/officeDocument/2006/relationships/hyperlink" Target="https://www.youtube.com/watch?v=eIb1cz06Uw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48F1EA71-41BB-4BA8-B852-6F75F542213E}"/>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1</a:t>
            </a:fld>
            <a:endParaRPr lang="en-US" altLang="en-US" sz="1400"/>
          </a:p>
        </p:txBody>
      </p:sp>
      <p:sp>
        <p:nvSpPr>
          <p:cNvPr id="4099" name="Rectangle 2">
            <a:extLst>
              <a:ext uri="{FF2B5EF4-FFF2-40B4-BE49-F238E27FC236}">
                <a16:creationId xmlns:a16="http://schemas.microsoft.com/office/drawing/2014/main" id="{C610D8EF-C213-4F8B-8E76-D2FC730060CD}"/>
              </a:ext>
            </a:extLst>
          </p:cNvPr>
          <p:cNvSpPr>
            <a:spLocks noGrp="1" noChangeArrowheads="1"/>
          </p:cNvSpPr>
          <p:nvPr>
            <p:ph type="title"/>
          </p:nvPr>
        </p:nvSpPr>
        <p:spPr>
          <a:xfrm>
            <a:off x="1828800" y="1676400"/>
            <a:ext cx="8534400" cy="1524000"/>
          </a:xfrm>
        </p:spPr>
        <p:txBody>
          <a:bodyPr/>
          <a:lstStyle/>
          <a:p>
            <a:r>
              <a:rPr lang="en-US" altLang="en-US" sz="4000" dirty="0"/>
              <a:t>Weighted Graphs and Applications</a:t>
            </a:r>
          </a:p>
        </p:txBody>
      </p:sp>
      <p:sp>
        <p:nvSpPr>
          <p:cNvPr id="4100" name="Rectangle 7">
            <a:extLst>
              <a:ext uri="{FF2B5EF4-FFF2-40B4-BE49-F238E27FC236}">
                <a16:creationId xmlns:a16="http://schemas.microsoft.com/office/drawing/2014/main" id="{332C1B7A-8F29-4F83-932A-3F2F6A78AF7E}"/>
              </a:ext>
            </a:extLst>
          </p:cNvPr>
          <p:cNvSpPr>
            <a:spLocks noChangeArrowheads="1"/>
          </p:cNvSpPr>
          <p:nvPr/>
        </p:nvSpPr>
        <p:spPr bwMode="auto">
          <a:xfrm>
            <a:off x="3633788" y="23193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1" name="Rectangle 9">
            <a:extLst>
              <a:ext uri="{FF2B5EF4-FFF2-40B4-BE49-F238E27FC236}">
                <a16:creationId xmlns:a16="http://schemas.microsoft.com/office/drawing/2014/main" id="{5B3268D9-7F3E-4518-939D-550BD2D3F90B}"/>
              </a:ext>
            </a:extLst>
          </p:cNvPr>
          <p:cNvSpPr>
            <a:spLocks noChangeArrowheads="1"/>
          </p:cNvSpPr>
          <p:nvPr/>
        </p:nvSpPr>
        <p:spPr bwMode="auto">
          <a:xfrm>
            <a:off x="3633788" y="2319339"/>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accent4"/>
                </a:solidFill>
              </a:rPr>
              <a:t>Review</a:t>
            </a:r>
            <a:r>
              <a:rPr lang="en-US" sz="1900" dirty="0"/>
              <a:t>  </a:t>
            </a:r>
            <a:r>
              <a:rPr lang="en-US" sz="1900" b="1" dirty="0">
                <a:solidFill>
                  <a:srgbClr val="FF0000"/>
                </a:solidFill>
              </a:rPr>
              <a:t>DFS, BFS, Unweighted Shortest Paths</a:t>
            </a:r>
          </a:p>
          <a:p>
            <a:pPr marL="0" indent="0">
              <a:buNone/>
            </a:pPr>
            <a:endParaRPr lang="en-US" sz="1900" dirty="0"/>
          </a:p>
          <a:p>
            <a:r>
              <a:rPr lang="en-US" sz="1900" dirty="0"/>
              <a:t>Weighted </a:t>
            </a:r>
            <a:r>
              <a:rPr lang="en-US" sz="1900" dirty="0">
                <a:sym typeface="Wingdings" pitchFamily="2" charset="2"/>
              </a:rPr>
              <a:t>Graphs</a:t>
            </a:r>
          </a:p>
          <a:p>
            <a:pPr marL="0" indent="0">
              <a:buNone/>
            </a:pPr>
            <a:endParaRPr lang="en-US" sz="1900" dirty="0">
              <a:sym typeface="Wingdings" pitchFamily="2" charset="2"/>
            </a:endParaRPr>
          </a:p>
          <a:p>
            <a:r>
              <a:rPr lang="en-US" sz="1900" dirty="0">
                <a:sym typeface="Wingdings" pitchFamily="2" charset="2"/>
              </a:rPr>
              <a:t>Minimum Spanning Tree (MST)</a:t>
            </a:r>
          </a:p>
          <a:p>
            <a:pPr lvl="1"/>
            <a:r>
              <a:rPr lang="en-US" altLang="en-US" sz="1500" dirty="0"/>
              <a:t>Prim’s Algorithm </a:t>
            </a:r>
          </a:p>
          <a:p>
            <a:pPr lvl="1"/>
            <a:r>
              <a:rPr lang="en-US" sz="1500" dirty="0"/>
              <a:t>Kruskal’s </a:t>
            </a:r>
            <a:r>
              <a:rPr lang="en-US" altLang="en-US" sz="1500" dirty="0"/>
              <a:t>Algorithm</a:t>
            </a:r>
          </a:p>
          <a:p>
            <a:pPr lvl="1"/>
            <a:endParaRPr lang="en-US" sz="1500" dirty="0"/>
          </a:p>
          <a:p>
            <a:r>
              <a:rPr lang="en-US" sz="1900" dirty="0"/>
              <a:t>Weighted Shortest Path Problem</a:t>
            </a:r>
          </a:p>
          <a:p>
            <a:r>
              <a:rPr lang="en-US" sz="1900" dirty="0"/>
              <a:t>Dijkstra’s Algorithm</a:t>
            </a:r>
          </a:p>
          <a:p>
            <a:pPr marL="685800" lvl="2">
              <a:spcBef>
                <a:spcPts val="1000"/>
              </a:spcBef>
              <a:buFont typeface="Arial" panose="020B0604020202020204" pitchFamily="34" charset="0"/>
              <a:buChar char="•"/>
            </a:pPr>
            <a:r>
              <a:rPr lang="en-US" sz="1500" dirty="0"/>
              <a:t>Definition &amp; Examples</a:t>
            </a:r>
          </a:p>
          <a:p>
            <a:pPr marL="685800" lvl="2">
              <a:spcBef>
                <a:spcPts val="1000"/>
              </a:spcBef>
              <a:buFont typeface="Arial" panose="020B0604020202020204" pitchFamily="34" charset="0"/>
              <a:buChar char="•"/>
            </a:pPr>
            <a:r>
              <a:rPr lang="en-US" sz="1500" dirty="0"/>
              <a:t>Implementing Dijkstra’s</a:t>
            </a:r>
          </a:p>
          <a:p>
            <a:pPr marL="0" indent="0">
              <a:buNone/>
            </a:pPr>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5834922" y="1430312"/>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7247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CDD939B8-87A3-ED4E-B6F9-F749FCAEDD8C}"/>
              </a:ext>
            </a:extLst>
          </p:cNvPr>
          <p:cNvSpPr txBox="1">
            <a:spLocks/>
          </p:cNvSpPr>
          <p:nvPr/>
        </p:nvSpPr>
        <p:spPr bwMode="auto">
          <a:xfrm>
            <a:off x="6622983" y="1775021"/>
            <a:ext cx="4715627" cy="4775200"/>
          </a:xfrm>
          <a:prstGeom prst="rect">
            <a:avLst/>
          </a:prstGeom>
          <a:solidFill>
            <a:schemeClr val="bg1">
              <a:lumMod val="95000"/>
            </a:schemeClr>
          </a:solidFill>
          <a:ln w="9525">
            <a:solidFill>
              <a:schemeClr val="tx1"/>
            </a:solidFill>
            <a:miter lim="800000"/>
            <a:headEnd/>
            <a:tailEnd/>
          </a:ln>
        </p:spPr>
        <p:txBody>
          <a:bodyPr vert="horz" wrap="square" lIns="121920" tIns="60960" rIns="121920" bIns="60960" numCol="1" anchor="t" anchorCtr="0" compatLnSpc="1">
            <a:prstTxWarp prst="textNoShape">
              <a:avLst/>
            </a:prstTxWarp>
          </a:bodyPr>
          <a:lstStyle>
            <a:lvl1pPr marL="192881" indent="-192881" algn="l" rtl="0" eaLnBrk="1" fontAlgn="base" hangingPunct="1">
              <a:spcBef>
                <a:spcPct val="20000"/>
              </a:spcBef>
              <a:spcAft>
                <a:spcPct val="0"/>
              </a:spcAft>
              <a:buClr>
                <a:srgbClr val="4B2A85"/>
              </a:buClr>
              <a:buSzPct val="60000"/>
              <a:buFont typeface="Wingdings" panose="05000000000000000000" pitchFamily="2" charset="2"/>
              <a:buChar char="v"/>
              <a:defRPr sz="1600" b="1">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365189" indent="-160735" algn="l" rtl="0" eaLnBrk="1" fontAlgn="base" hangingPunct="1">
              <a:spcBef>
                <a:spcPct val="20000"/>
              </a:spcBef>
              <a:spcAft>
                <a:spcPct val="0"/>
              </a:spcAft>
              <a:buClr>
                <a:srgbClr val="4B2A85"/>
              </a:buClr>
              <a:buSzPct val="110000"/>
              <a:buFont typeface="Wingdings" pitchFamily="2" charset="2"/>
              <a:buChar char="§"/>
              <a:defRPr sz="14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514350" indent="-128588" algn="l" rtl="0" eaLnBrk="1" fontAlgn="base" hangingPunct="1">
              <a:spcBef>
                <a:spcPct val="20000"/>
              </a:spcBef>
              <a:spcAft>
                <a:spcPct val="0"/>
              </a:spcAft>
              <a:buClr>
                <a:srgbClr val="4B2A85"/>
              </a:buClr>
              <a:buSzPct val="80000"/>
              <a:buFont typeface="Arial" panose="020B0604020202020204" pitchFamily="34" charset="0"/>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58368"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812673"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1414463" indent="-128588" algn="l" rtl="0" eaLnBrk="1" fontAlgn="base" hangingPunct="1">
              <a:spcBef>
                <a:spcPct val="20000"/>
              </a:spcBef>
              <a:spcAft>
                <a:spcPct val="0"/>
              </a:spcAft>
              <a:buChar char="»"/>
              <a:defRPr sz="1125">
                <a:solidFill>
                  <a:schemeClr val="tx1"/>
                </a:solidFill>
                <a:latin typeface="Arial" charset="0"/>
              </a:defRPr>
            </a:lvl6pPr>
            <a:lvl7pPr marL="1671638" indent="-128588" algn="l" rtl="0" eaLnBrk="1" fontAlgn="base" hangingPunct="1">
              <a:spcBef>
                <a:spcPct val="20000"/>
              </a:spcBef>
              <a:spcAft>
                <a:spcPct val="0"/>
              </a:spcAft>
              <a:buChar char="»"/>
              <a:defRPr sz="1125">
                <a:solidFill>
                  <a:schemeClr val="tx1"/>
                </a:solidFill>
                <a:latin typeface="Arial" charset="0"/>
              </a:defRPr>
            </a:lvl7pPr>
            <a:lvl8pPr marL="1928813" indent="-128588" algn="l" rtl="0" eaLnBrk="1" fontAlgn="base" hangingPunct="1">
              <a:spcBef>
                <a:spcPct val="20000"/>
              </a:spcBef>
              <a:spcAft>
                <a:spcPct val="0"/>
              </a:spcAft>
              <a:buChar char="»"/>
              <a:defRPr sz="1125">
                <a:solidFill>
                  <a:schemeClr val="tx1"/>
                </a:solidFill>
                <a:latin typeface="Arial" charset="0"/>
              </a:defRPr>
            </a:lvl8pPr>
            <a:lvl9pPr marL="2185988" indent="-128588" algn="l" rtl="0" eaLnBrk="1" fontAlgn="base" hangingPunct="1">
              <a:spcBef>
                <a:spcPct val="20000"/>
              </a:spcBef>
              <a:spcAft>
                <a:spcPct val="0"/>
              </a:spcAft>
              <a:buChar char="»"/>
              <a:defRPr sz="1125">
                <a:solidFill>
                  <a:schemeClr val="tx1"/>
                </a:solidFill>
                <a:latin typeface="Arial" charset="0"/>
              </a:defRPr>
            </a:lvl9pPr>
          </a:lstStyle>
          <a:p>
            <a:pPr marL="0" indent="0">
              <a:lnSpc>
                <a:spcPct val="120000"/>
              </a:lnSpc>
              <a:spcBef>
                <a:spcPts val="0"/>
              </a:spcBef>
              <a:spcAft>
                <a:spcPts val="0"/>
              </a:spcAft>
              <a:buNone/>
            </a:pPr>
            <a:r>
              <a:rPr lang="en-US" sz="1400" dirty="0" err="1">
                <a:latin typeface="Consolas" panose="020B0609020204030204" pitchFamily="49" charset="0"/>
                <a:cs typeface="Consolas" panose="020B0609020204030204" pitchFamily="49" charset="0"/>
              </a:rPr>
              <a:t>bfs</a:t>
            </a:r>
            <a:r>
              <a:rPr lang="en-US" sz="1400" b="0" dirty="0">
                <a:latin typeface="Consolas" panose="020B0609020204030204" pitchFamily="49" charset="0"/>
                <a:cs typeface="Consolas" panose="020B0609020204030204" pitchFamily="49" charset="0"/>
              </a:rPr>
              <a:t>(</a:t>
            </a:r>
            <a:r>
              <a:rPr lang="en-US" sz="1400" b="0" dirty="0">
                <a:solidFill>
                  <a:schemeClr val="accent3"/>
                </a:solidFill>
                <a:latin typeface="Consolas" panose="020B0609020204030204" pitchFamily="49" charset="0"/>
                <a:cs typeface="Consolas" panose="020B0609020204030204" pitchFamily="49" charset="0"/>
              </a:rPr>
              <a:t>Graph</a:t>
            </a:r>
            <a:r>
              <a:rPr lang="en-US" sz="1400" b="0" dirty="0">
                <a:latin typeface="Consolas" panose="020B0609020204030204" pitchFamily="49" charset="0"/>
                <a:cs typeface="Consolas" panose="020B0609020204030204" pitchFamily="49" charset="0"/>
              </a:rPr>
              <a:t> graph, </a:t>
            </a:r>
            <a:r>
              <a:rPr lang="en-US" sz="1400" b="0" dirty="0">
                <a:solidFill>
                  <a:schemeClr val="accent3"/>
                </a:solidFill>
                <a:latin typeface="Consolas" panose="020B0609020204030204" pitchFamily="49" charset="0"/>
                <a:cs typeface="Consolas" panose="020B0609020204030204" pitchFamily="49" charset="0"/>
              </a:rPr>
              <a:t>Vertex</a:t>
            </a:r>
            <a:r>
              <a:rPr lang="en-US" sz="1400" b="0" dirty="0">
                <a:latin typeface="Consolas" panose="020B0609020204030204" pitchFamily="49" charset="0"/>
                <a:cs typeface="Consolas" panose="020B0609020204030204" pitchFamily="49" charset="0"/>
              </a:rPr>
              <a:t> start)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dirty="0">
                <a:solidFill>
                  <a:schemeClr val="accent3"/>
                </a:solidFill>
                <a:highlight>
                  <a:srgbClr val="BEFFFC"/>
                </a:highlight>
                <a:latin typeface="Consolas" panose="020B0609020204030204" pitchFamily="49" charset="0"/>
                <a:cs typeface="Consolas" panose="020B0609020204030204" pitchFamily="49" charset="0"/>
              </a:rPr>
              <a:t>Queue</a:t>
            </a:r>
            <a:r>
              <a:rPr lang="en-US" sz="1400" b="0" dirty="0">
                <a:highlight>
                  <a:srgbClr val="BEFFFC"/>
                </a:highlight>
                <a:latin typeface="Consolas" panose="020B0609020204030204" pitchFamily="49" charset="0"/>
                <a:cs typeface="Consolas" panose="020B0609020204030204" pitchFamily="49" charset="0"/>
              </a:rPr>
              <a:t>&lt;</a:t>
            </a:r>
            <a:r>
              <a:rPr lang="en-US" sz="1400" b="0" dirty="0">
                <a:solidFill>
                  <a:schemeClr val="accent3"/>
                </a:solidFill>
                <a:highlight>
                  <a:srgbClr val="BEFFFC"/>
                </a:highlight>
                <a:latin typeface="Consolas" panose="020B0609020204030204" pitchFamily="49" charset="0"/>
                <a:cs typeface="Consolas" panose="020B0609020204030204" pitchFamily="49" charset="0"/>
              </a:rPr>
              <a:t>Vertex</a:t>
            </a:r>
            <a:r>
              <a:rPr lang="en-US" sz="1400" b="0" dirty="0">
                <a:highlight>
                  <a:srgbClr val="BEFFFC"/>
                </a:highlight>
                <a:latin typeface="Consolas" panose="020B0609020204030204" pitchFamily="49" charset="0"/>
                <a:cs typeface="Consolas" panose="020B0609020204030204" pitchFamily="49" charset="0"/>
              </a:rPr>
              <a:t>&gt; perimeter = </a:t>
            </a:r>
            <a:r>
              <a:rPr lang="en-US" sz="1400" b="0" dirty="0">
                <a:solidFill>
                  <a:schemeClr val="accent2"/>
                </a:solidFill>
                <a:highlight>
                  <a:srgbClr val="BEFFFC"/>
                </a:highlight>
                <a:latin typeface="Consolas" panose="020B0609020204030204" pitchFamily="49" charset="0"/>
                <a:cs typeface="Consolas" panose="020B0609020204030204" pitchFamily="49" charset="0"/>
              </a:rPr>
              <a:t>new</a:t>
            </a:r>
            <a:r>
              <a:rPr lang="en-US" sz="1400" b="0" dirty="0">
                <a:highlight>
                  <a:srgbClr val="BEFFFC"/>
                </a:highlight>
                <a:latin typeface="Consolas" panose="020B0609020204030204" pitchFamily="49" charset="0"/>
                <a:cs typeface="Consolas" panose="020B0609020204030204" pitchFamily="49" charset="0"/>
              </a:rPr>
              <a:t> </a:t>
            </a:r>
            <a:r>
              <a:rPr lang="en-US" sz="1400" dirty="0">
                <a:solidFill>
                  <a:schemeClr val="accent3"/>
                </a:solidFill>
                <a:highlight>
                  <a:srgbClr val="BEFFFC"/>
                </a:highlight>
                <a:latin typeface="Consolas" panose="020B0609020204030204" pitchFamily="49" charset="0"/>
                <a:cs typeface="Consolas" panose="020B0609020204030204" pitchFamily="49" charset="0"/>
              </a:rPr>
              <a:t>Queue</a:t>
            </a:r>
            <a:r>
              <a:rPr lang="en-US" sz="1400" b="0" dirty="0">
                <a:highlight>
                  <a:srgbClr val="BEFFFC"/>
                </a:highlight>
                <a:latin typeface="Consolas" panose="020B0609020204030204" pitchFamily="49" charset="0"/>
                <a:cs typeface="Consolas" panose="020B0609020204030204" pitchFamily="49" charset="0"/>
              </a:rPr>
              <a:t>&lt;&gt;();</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a:solidFill>
                  <a:schemeClr val="accent3"/>
                </a:solidFill>
                <a:latin typeface="Consolas" panose="020B0609020204030204" pitchFamily="49" charset="0"/>
                <a:cs typeface="Consolas" panose="020B0609020204030204" pitchFamily="49" charset="0"/>
              </a:rPr>
              <a:t>Set</a:t>
            </a:r>
            <a:r>
              <a:rPr lang="en-US" sz="1400" b="0" dirty="0">
                <a:latin typeface="Consolas" panose="020B0609020204030204" pitchFamily="49" charset="0"/>
                <a:cs typeface="Consolas" panose="020B0609020204030204" pitchFamily="49" charset="0"/>
              </a:rPr>
              <a:t>&lt;</a:t>
            </a:r>
            <a:r>
              <a:rPr lang="en-US" sz="1400" b="0" dirty="0">
                <a:solidFill>
                  <a:schemeClr val="accent3"/>
                </a:solidFill>
                <a:latin typeface="Consolas" panose="020B0609020204030204" pitchFamily="49" charset="0"/>
                <a:cs typeface="Consolas" panose="020B0609020204030204" pitchFamily="49" charset="0"/>
              </a:rPr>
              <a:t>Vertex</a:t>
            </a:r>
            <a:r>
              <a:rPr lang="en-US" sz="1400" b="0" dirty="0">
                <a:latin typeface="Consolas" panose="020B0609020204030204" pitchFamily="49" charset="0"/>
                <a:cs typeface="Consolas" panose="020B0609020204030204" pitchFamily="49" charset="0"/>
              </a:rPr>
              <a:t>&gt; visited = </a:t>
            </a:r>
            <a:r>
              <a:rPr lang="en-US" sz="1400" b="0" dirty="0">
                <a:solidFill>
                  <a:schemeClr val="accent2"/>
                </a:solidFill>
                <a:latin typeface="Consolas" panose="020B0609020204030204" pitchFamily="49" charset="0"/>
                <a:cs typeface="Consolas" panose="020B0609020204030204" pitchFamily="49" charset="0"/>
              </a:rPr>
              <a:t>new</a:t>
            </a:r>
            <a:r>
              <a:rPr lang="en-US" sz="1400" b="0" dirty="0">
                <a:latin typeface="Consolas" panose="020B0609020204030204" pitchFamily="49" charset="0"/>
                <a:cs typeface="Consolas" panose="020B0609020204030204" pitchFamily="49" charset="0"/>
              </a:rPr>
              <a:t> </a:t>
            </a:r>
            <a:r>
              <a:rPr lang="en-US" sz="1400" b="0" dirty="0">
                <a:solidFill>
                  <a:schemeClr val="accent3"/>
                </a:solidFill>
                <a:latin typeface="Consolas" panose="020B0609020204030204" pitchFamily="49" charset="0"/>
                <a:cs typeface="Consolas" panose="020B0609020204030204" pitchFamily="49" charset="0"/>
              </a:rPr>
              <a:t>Set</a:t>
            </a:r>
            <a:r>
              <a:rPr lang="en-US" sz="1400" b="0" dirty="0">
                <a:latin typeface="Consolas" panose="020B0609020204030204" pitchFamily="49" charset="0"/>
                <a:cs typeface="Consolas" panose="020B0609020204030204" pitchFamily="49" charset="0"/>
              </a:rPr>
              <a:t>&lt;&gt;();  </a:t>
            </a:r>
          </a:p>
          <a:p>
            <a:pPr marL="0" indent="0">
              <a:lnSpc>
                <a:spcPct val="120000"/>
              </a:lnSpc>
              <a:spcBef>
                <a:spcPts val="0"/>
              </a:spcBef>
              <a:spcAft>
                <a:spcPts val="0"/>
              </a:spcAft>
              <a:buNone/>
            </a:pPr>
            <a:endParaRPr lang="en-US" sz="1400"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err="1">
                <a:latin typeface="Consolas" panose="020B0609020204030204" pitchFamily="49" charset="0"/>
                <a:cs typeface="Consolas" panose="020B0609020204030204" pitchFamily="49" charset="0"/>
              </a:rPr>
              <a:t>perimeter.</a:t>
            </a:r>
            <a:r>
              <a:rPr lang="en-US" sz="1400" dirty="0" err="1">
                <a:latin typeface="Consolas" panose="020B0609020204030204" pitchFamily="49" charset="0"/>
                <a:cs typeface="Consolas" panose="020B0609020204030204" pitchFamily="49" charset="0"/>
              </a:rPr>
              <a:t>add</a:t>
            </a:r>
            <a:r>
              <a:rPr lang="en-US" sz="1400" b="0" dirty="0">
                <a:latin typeface="Consolas" panose="020B0609020204030204" pitchFamily="49" charset="0"/>
                <a:cs typeface="Consolas" panose="020B0609020204030204" pitchFamily="49" charset="0"/>
              </a:rPr>
              <a:t>(start);</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err="1">
                <a:latin typeface="Consolas" panose="020B0609020204030204" pitchFamily="49" charset="0"/>
                <a:cs typeface="Consolas" panose="020B0609020204030204" pitchFamily="49" charset="0"/>
              </a:rPr>
              <a:t>visited.</a:t>
            </a:r>
            <a:r>
              <a:rPr lang="en-US" sz="1400" dirty="0" err="1">
                <a:latin typeface="Consolas" panose="020B0609020204030204" pitchFamily="49" charset="0"/>
                <a:cs typeface="Consolas" panose="020B0609020204030204" pitchFamily="49" charset="0"/>
              </a:rPr>
              <a:t>add</a:t>
            </a:r>
            <a:r>
              <a:rPr lang="en-US" sz="1400" b="0" dirty="0">
                <a:latin typeface="Consolas" panose="020B0609020204030204" pitchFamily="49" charset="0"/>
                <a:cs typeface="Consolas" panose="020B0609020204030204" pitchFamily="49" charset="0"/>
              </a:rPr>
              <a:t>(start);</a:t>
            </a:r>
          </a:p>
          <a:p>
            <a:pPr marL="0" indent="0">
              <a:lnSpc>
                <a:spcPct val="120000"/>
              </a:lnSpc>
              <a:spcBef>
                <a:spcPts val="0"/>
              </a:spcBef>
              <a:spcAft>
                <a:spcPts val="0"/>
              </a:spcAft>
              <a:buNone/>
            </a:pPr>
            <a:endParaRPr lang="en-US" sz="1400"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a:solidFill>
                  <a:schemeClr val="accent2"/>
                </a:solidFill>
                <a:latin typeface="Consolas" panose="020B0609020204030204" pitchFamily="49" charset="0"/>
                <a:cs typeface="Consolas" panose="020B0609020204030204" pitchFamily="49" charset="0"/>
              </a:rPr>
              <a:t>while</a:t>
            </a:r>
            <a:r>
              <a:rPr lang="en-US" sz="1400" b="0" dirty="0">
                <a:latin typeface="Consolas" panose="020B0609020204030204" pitchFamily="49" charset="0"/>
                <a:cs typeface="Consolas" panose="020B0609020204030204" pitchFamily="49" charset="0"/>
              </a:rPr>
              <a:t> (!</a:t>
            </a:r>
            <a:r>
              <a:rPr lang="en-US" sz="1400" b="0" dirty="0" err="1">
                <a:latin typeface="Consolas" panose="020B0609020204030204" pitchFamily="49" charset="0"/>
                <a:cs typeface="Consolas" panose="020B0609020204030204" pitchFamily="49" charset="0"/>
              </a:rPr>
              <a:t>perimeter.</a:t>
            </a:r>
            <a:r>
              <a:rPr lang="en-US" sz="1400" dirty="0" err="1">
                <a:latin typeface="Consolas" panose="020B0609020204030204" pitchFamily="49" charset="0"/>
                <a:cs typeface="Consolas" panose="020B0609020204030204" pitchFamily="49" charset="0"/>
              </a:rPr>
              <a:t>isEmpty</a:t>
            </a:r>
            <a:r>
              <a:rPr lang="en-US" sz="1400"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a:solidFill>
                  <a:schemeClr val="accent3"/>
                </a:solidFill>
                <a:latin typeface="Consolas" panose="020B0609020204030204" pitchFamily="49" charset="0"/>
                <a:cs typeface="Consolas" panose="020B0609020204030204" pitchFamily="49" charset="0"/>
              </a:rPr>
              <a:t>Vertex</a:t>
            </a:r>
            <a:r>
              <a:rPr lang="en-US" sz="1400" b="0" dirty="0">
                <a:latin typeface="Consolas" panose="020B0609020204030204" pitchFamily="49" charset="0"/>
                <a:cs typeface="Consolas" panose="020B0609020204030204" pitchFamily="49" charset="0"/>
              </a:rPr>
              <a:t> from = </a:t>
            </a:r>
            <a:r>
              <a:rPr lang="en-US" sz="1400" b="0" dirty="0" err="1">
                <a:latin typeface="Consolas" panose="020B0609020204030204" pitchFamily="49" charset="0"/>
                <a:cs typeface="Consolas" panose="020B0609020204030204" pitchFamily="49" charset="0"/>
              </a:rPr>
              <a:t>perimeter.</a:t>
            </a:r>
            <a:r>
              <a:rPr lang="en-US" sz="1400" dirty="0" err="1">
                <a:latin typeface="Consolas" panose="020B0609020204030204" pitchFamily="49" charset="0"/>
                <a:cs typeface="Consolas" panose="020B0609020204030204" pitchFamily="49" charset="0"/>
              </a:rPr>
              <a:t>remove</a:t>
            </a:r>
            <a:r>
              <a:rPr lang="en-US" sz="1400"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a:solidFill>
                  <a:schemeClr val="accent2"/>
                </a:solidFill>
                <a:latin typeface="Consolas" panose="020B0609020204030204" pitchFamily="49" charset="0"/>
                <a:cs typeface="Consolas" panose="020B0609020204030204" pitchFamily="49" charset="0"/>
              </a:rPr>
              <a:t>for</a:t>
            </a:r>
            <a:r>
              <a:rPr lang="en-US" sz="1400" b="0" dirty="0">
                <a:latin typeface="Consolas" panose="020B0609020204030204" pitchFamily="49" charset="0"/>
                <a:cs typeface="Consolas" panose="020B0609020204030204" pitchFamily="49" charset="0"/>
              </a:rPr>
              <a:t> (</a:t>
            </a:r>
            <a:r>
              <a:rPr lang="en-US" sz="1400" b="0" dirty="0">
                <a:solidFill>
                  <a:schemeClr val="accent3"/>
                </a:solidFill>
                <a:latin typeface="Consolas" panose="020B0609020204030204" pitchFamily="49" charset="0"/>
                <a:cs typeface="Consolas" panose="020B0609020204030204" pitchFamily="49" charset="0"/>
              </a:rPr>
              <a:t>Edge</a:t>
            </a:r>
            <a:r>
              <a:rPr lang="en-US" sz="1400" b="0" dirty="0">
                <a:latin typeface="Consolas" panose="020B0609020204030204" pitchFamily="49" charset="0"/>
                <a:cs typeface="Consolas" panose="020B0609020204030204" pitchFamily="49" charset="0"/>
              </a:rPr>
              <a:t> edge : </a:t>
            </a:r>
            <a:r>
              <a:rPr lang="en-US" sz="1400" b="0" dirty="0" err="1">
                <a:latin typeface="Consolas" panose="020B0609020204030204" pitchFamily="49" charset="0"/>
                <a:cs typeface="Consolas" panose="020B0609020204030204" pitchFamily="49" charset="0"/>
              </a:rPr>
              <a:t>graph.</a:t>
            </a:r>
            <a:r>
              <a:rPr lang="en-US" sz="1400" dirty="0" err="1">
                <a:latin typeface="Consolas" panose="020B0609020204030204" pitchFamily="49" charset="0"/>
                <a:cs typeface="Consolas" panose="020B0609020204030204" pitchFamily="49" charset="0"/>
              </a:rPr>
              <a:t>edgesFrom</a:t>
            </a:r>
            <a:r>
              <a:rPr lang="en-US" sz="1400" b="0" dirty="0">
                <a:latin typeface="Consolas" panose="020B0609020204030204" pitchFamily="49" charset="0"/>
                <a:cs typeface="Consolas" panose="020B0609020204030204" pitchFamily="49" charset="0"/>
              </a:rPr>
              <a:t>(from))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a:solidFill>
                  <a:schemeClr val="accent3"/>
                </a:solidFill>
                <a:latin typeface="Consolas" panose="020B0609020204030204" pitchFamily="49" charset="0"/>
                <a:cs typeface="Consolas" panose="020B0609020204030204" pitchFamily="49" charset="0"/>
              </a:rPr>
              <a:t>Vertex</a:t>
            </a:r>
            <a:r>
              <a:rPr lang="en-US" sz="1400" b="0" dirty="0">
                <a:latin typeface="Consolas" panose="020B0609020204030204" pitchFamily="49" charset="0"/>
                <a:cs typeface="Consolas" panose="020B0609020204030204" pitchFamily="49" charset="0"/>
              </a:rPr>
              <a:t> to = </a:t>
            </a:r>
            <a:r>
              <a:rPr lang="en-US" sz="1400" b="0" dirty="0" err="1">
                <a:latin typeface="Consolas" panose="020B0609020204030204" pitchFamily="49" charset="0"/>
                <a:cs typeface="Consolas" panose="020B0609020204030204" pitchFamily="49" charset="0"/>
              </a:rPr>
              <a:t>edge.</a:t>
            </a:r>
            <a:r>
              <a:rPr lang="en-US" sz="1400" dirty="0" err="1">
                <a:latin typeface="Consolas" panose="020B0609020204030204" pitchFamily="49" charset="0"/>
                <a:cs typeface="Consolas" panose="020B0609020204030204" pitchFamily="49" charset="0"/>
              </a:rPr>
              <a:t>to</a:t>
            </a:r>
            <a:r>
              <a:rPr lang="en-US" sz="1400"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a:solidFill>
                  <a:schemeClr val="accent2"/>
                </a:solidFill>
                <a:latin typeface="Consolas" panose="020B0609020204030204" pitchFamily="49" charset="0"/>
                <a:cs typeface="Consolas" panose="020B0609020204030204" pitchFamily="49" charset="0"/>
              </a:rPr>
              <a:t>if</a:t>
            </a:r>
            <a:r>
              <a:rPr lang="en-US" sz="1400" b="0" dirty="0">
                <a:latin typeface="Consolas" panose="020B0609020204030204" pitchFamily="49" charset="0"/>
                <a:cs typeface="Consolas" panose="020B0609020204030204" pitchFamily="49" charset="0"/>
              </a:rPr>
              <a:t> (!</a:t>
            </a:r>
            <a:r>
              <a:rPr lang="en-US" sz="1400" b="0" dirty="0" err="1">
                <a:latin typeface="Consolas" panose="020B0609020204030204" pitchFamily="49" charset="0"/>
                <a:cs typeface="Consolas" panose="020B0609020204030204" pitchFamily="49" charset="0"/>
              </a:rPr>
              <a:t>visited.</a:t>
            </a:r>
            <a:r>
              <a:rPr lang="en-US" sz="1400" dirty="0" err="1">
                <a:latin typeface="Consolas" panose="020B0609020204030204" pitchFamily="49" charset="0"/>
                <a:cs typeface="Consolas" panose="020B0609020204030204" pitchFamily="49" charset="0"/>
              </a:rPr>
              <a:t>contains</a:t>
            </a:r>
            <a:r>
              <a:rPr lang="en-US" sz="1400" b="0" dirty="0">
                <a:latin typeface="Consolas" panose="020B0609020204030204" pitchFamily="49" charset="0"/>
                <a:cs typeface="Consolas" panose="020B0609020204030204" pitchFamily="49" charset="0"/>
              </a:rPr>
              <a:t>(to))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err="1">
                <a:latin typeface="Consolas" panose="020B0609020204030204" pitchFamily="49" charset="0"/>
                <a:cs typeface="Consolas" panose="020B0609020204030204" pitchFamily="49" charset="0"/>
              </a:rPr>
              <a:t>perimeter.</a:t>
            </a:r>
            <a:r>
              <a:rPr lang="en-US" sz="1400" dirty="0" err="1">
                <a:latin typeface="Consolas" panose="020B0609020204030204" pitchFamily="49" charset="0"/>
                <a:cs typeface="Consolas" panose="020B0609020204030204" pitchFamily="49" charset="0"/>
              </a:rPr>
              <a:t>add</a:t>
            </a:r>
            <a:r>
              <a:rPr lang="en-US" sz="1400" b="0" dirty="0">
                <a:latin typeface="Consolas" panose="020B0609020204030204" pitchFamily="49" charset="0"/>
                <a:cs typeface="Consolas" panose="020B0609020204030204" pitchFamily="49" charset="0"/>
              </a:rPr>
              <a:t>(to);</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err="1">
                <a:latin typeface="Consolas" panose="020B0609020204030204" pitchFamily="49" charset="0"/>
                <a:cs typeface="Consolas" panose="020B0609020204030204" pitchFamily="49" charset="0"/>
              </a:rPr>
              <a:t>visited.</a:t>
            </a:r>
            <a:r>
              <a:rPr lang="en-US" sz="1400" dirty="0" err="1">
                <a:latin typeface="Consolas" panose="020B0609020204030204" pitchFamily="49" charset="0"/>
                <a:cs typeface="Consolas" panose="020B0609020204030204" pitchFamily="49" charset="0"/>
              </a:rPr>
              <a:t>add</a:t>
            </a:r>
            <a:r>
              <a:rPr lang="en-US" sz="1400" b="0" dirty="0">
                <a:latin typeface="Consolas" panose="020B0609020204030204" pitchFamily="49" charset="0"/>
                <a:cs typeface="Consolas" panose="020B0609020204030204" pitchFamily="49" charset="0"/>
              </a:rPr>
              <a:t>(to);</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a:t>
            </a:r>
          </a:p>
        </p:txBody>
      </p:sp>
      <p:sp>
        <p:nvSpPr>
          <p:cNvPr id="14" name="Content Placeholder 2">
            <a:extLst>
              <a:ext uri="{FF2B5EF4-FFF2-40B4-BE49-F238E27FC236}">
                <a16:creationId xmlns:a16="http://schemas.microsoft.com/office/drawing/2014/main" id="{41D3F885-B43A-954D-8031-04DD0AB44296}"/>
              </a:ext>
            </a:extLst>
          </p:cNvPr>
          <p:cNvSpPr txBox="1">
            <a:spLocks/>
          </p:cNvSpPr>
          <p:nvPr/>
        </p:nvSpPr>
        <p:spPr bwMode="auto">
          <a:xfrm>
            <a:off x="853392" y="1775023"/>
            <a:ext cx="4715627" cy="1507192"/>
          </a:xfrm>
          <a:prstGeom prst="rect">
            <a:avLst/>
          </a:prstGeom>
          <a:solidFill>
            <a:schemeClr val="bg1">
              <a:lumMod val="85000"/>
            </a:schemeClr>
          </a:solidFill>
          <a:ln w="9525">
            <a:solidFill>
              <a:schemeClr val="tx1"/>
            </a:solidFill>
            <a:miter lim="800000"/>
            <a:headEnd/>
            <a:tailEnd/>
          </a:ln>
        </p:spPr>
        <p:txBody>
          <a:bodyPr vert="horz" wrap="square" lIns="121920" tIns="60960" rIns="121920" bIns="60960" numCol="1" anchor="t" anchorCtr="0" compatLnSpc="1">
            <a:prstTxWarp prst="textNoShape">
              <a:avLst/>
            </a:prstTxWarp>
          </a:bodyPr>
          <a:lstStyle>
            <a:lvl1pPr marL="192881" indent="-192881" algn="l" rtl="0" eaLnBrk="1" fontAlgn="base" hangingPunct="1">
              <a:spcBef>
                <a:spcPct val="20000"/>
              </a:spcBef>
              <a:spcAft>
                <a:spcPct val="0"/>
              </a:spcAft>
              <a:buClr>
                <a:srgbClr val="4B2A85"/>
              </a:buClr>
              <a:buSzPct val="60000"/>
              <a:buFont typeface="Wingdings" panose="05000000000000000000" pitchFamily="2" charset="2"/>
              <a:buChar char="v"/>
              <a:defRPr sz="1600" b="1">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365189" indent="-160735" algn="l" rtl="0" eaLnBrk="1" fontAlgn="base" hangingPunct="1">
              <a:spcBef>
                <a:spcPct val="20000"/>
              </a:spcBef>
              <a:spcAft>
                <a:spcPct val="0"/>
              </a:spcAft>
              <a:buClr>
                <a:srgbClr val="4B2A85"/>
              </a:buClr>
              <a:buSzPct val="110000"/>
              <a:buFont typeface="Wingdings" pitchFamily="2" charset="2"/>
              <a:buChar char="§"/>
              <a:defRPr sz="14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514350" indent="-128588" algn="l" rtl="0" eaLnBrk="1" fontAlgn="base" hangingPunct="1">
              <a:spcBef>
                <a:spcPct val="20000"/>
              </a:spcBef>
              <a:spcAft>
                <a:spcPct val="0"/>
              </a:spcAft>
              <a:buClr>
                <a:srgbClr val="4B2A85"/>
              </a:buClr>
              <a:buSzPct val="80000"/>
              <a:buFont typeface="Arial" panose="020B0604020202020204" pitchFamily="34" charset="0"/>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58368"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812673"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1414463" indent="-128588" algn="l" rtl="0" eaLnBrk="1" fontAlgn="base" hangingPunct="1">
              <a:spcBef>
                <a:spcPct val="20000"/>
              </a:spcBef>
              <a:spcAft>
                <a:spcPct val="0"/>
              </a:spcAft>
              <a:buChar char="»"/>
              <a:defRPr sz="1125">
                <a:solidFill>
                  <a:schemeClr val="tx1"/>
                </a:solidFill>
                <a:latin typeface="Arial" charset="0"/>
              </a:defRPr>
            </a:lvl6pPr>
            <a:lvl7pPr marL="1671638" indent="-128588" algn="l" rtl="0" eaLnBrk="1" fontAlgn="base" hangingPunct="1">
              <a:spcBef>
                <a:spcPct val="20000"/>
              </a:spcBef>
              <a:spcAft>
                <a:spcPct val="0"/>
              </a:spcAft>
              <a:buChar char="»"/>
              <a:defRPr sz="1125">
                <a:solidFill>
                  <a:schemeClr val="tx1"/>
                </a:solidFill>
                <a:latin typeface="Arial" charset="0"/>
              </a:defRPr>
            </a:lvl7pPr>
            <a:lvl8pPr marL="1928813" indent="-128588" algn="l" rtl="0" eaLnBrk="1" fontAlgn="base" hangingPunct="1">
              <a:spcBef>
                <a:spcPct val="20000"/>
              </a:spcBef>
              <a:spcAft>
                <a:spcPct val="0"/>
              </a:spcAft>
              <a:buChar char="»"/>
              <a:defRPr sz="1125">
                <a:solidFill>
                  <a:schemeClr val="tx1"/>
                </a:solidFill>
                <a:latin typeface="Arial" charset="0"/>
              </a:defRPr>
            </a:lvl8pPr>
            <a:lvl9pPr marL="2185988" indent="-128588" algn="l" rtl="0" eaLnBrk="1" fontAlgn="base" hangingPunct="1">
              <a:spcBef>
                <a:spcPct val="20000"/>
              </a:spcBef>
              <a:spcAft>
                <a:spcPct val="0"/>
              </a:spcAft>
              <a:buChar char="»"/>
              <a:defRPr sz="1125">
                <a:solidFill>
                  <a:schemeClr val="tx1"/>
                </a:solidFill>
                <a:latin typeface="Arial" charset="0"/>
              </a:defRPr>
            </a:lvl9pPr>
          </a:lstStyle>
          <a:p>
            <a:pPr marL="0" indent="0">
              <a:lnSpc>
                <a:spcPct val="120000"/>
              </a:lnSpc>
              <a:spcBef>
                <a:spcPts val="0"/>
              </a:spcBef>
              <a:spcAft>
                <a:spcPts val="0"/>
              </a:spcAft>
              <a:buNone/>
            </a:pPr>
            <a:r>
              <a:rPr lang="en-US" sz="1400" dirty="0" err="1">
                <a:latin typeface="Consolas" panose="020B0609020204030204" pitchFamily="49" charset="0"/>
                <a:cs typeface="Consolas" panose="020B0609020204030204" pitchFamily="49" charset="0"/>
              </a:rPr>
              <a:t>dfs</a:t>
            </a:r>
            <a:r>
              <a:rPr lang="en-US" sz="1400" b="0" dirty="0">
                <a:latin typeface="Consolas" panose="020B0609020204030204" pitchFamily="49" charset="0"/>
                <a:cs typeface="Consolas" panose="020B0609020204030204" pitchFamily="49" charset="0"/>
              </a:rPr>
              <a:t>(</a:t>
            </a:r>
            <a:r>
              <a:rPr lang="en-US" sz="1400" b="0" dirty="0">
                <a:solidFill>
                  <a:schemeClr val="accent3"/>
                </a:solidFill>
                <a:latin typeface="Consolas" panose="020B0609020204030204" pitchFamily="49" charset="0"/>
                <a:cs typeface="Consolas" panose="020B0609020204030204" pitchFamily="49" charset="0"/>
              </a:rPr>
              <a:t>Graph</a:t>
            </a:r>
            <a:r>
              <a:rPr lang="en-US" sz="1400" b="0" dirty="0">
                <a:latin typeface="Consolas" panose="020B0609020204030204" pitchFamily="49" charset="0"/>
                <a:cs typeface="Consolas" panose="020B0609020204030204" pitchFamily="49" charset="0"/>
              </a:rPr>
              <a:t> graph, </a:t>
            </a:r>
            <a:r>
              <a:rPr lang="en-US" sz="1400" b="0" dirty="0">
                <a:solidFill>
                  <a:schemeClr val="accent3"/>
                </a:solidFill>
                <a:latin typeface="Consolas" panose="020B0609020204030204" pitchFamily="49" charset="0"/>
                <a:cs typeface="Consolas" panose="020B0609020204030204" pitchFamily="49" charset="0"/>
              </a:rPr>
              <a:t>Vertex</a:t>
            </a:r>
            <a:r>
              <a:rPr lang="en-US" sz="1400" b="0" dirty="0">
                <a:latin typeface="Consolas" panose="020B0609020204030204" pitchFamily="49" charset="0"/>
                <a:cs typeface="Consolas" panose="020B0609020204030204" pitchFamily="49" charset="0"/>
              </a:rPr>
              <a:t> start) {</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dirty="0">
                <a:solidFill>
                  <a:schemeClr val="accent3"/>
                </a:solidFill>
                <a:highlight>
                  <a:srgbClr val="BEFFFC"/>
                </a:highlight>
                <a:latin typeface="Consolas" panose="020B0609020204030204" pitchFamily="49" charset="0"/>
                <a:cs typeface="Consolas" panose="020B0609020204030204" pitchFamily="49" charset="0"/>
              </a:rPr>
              <a:t>Stack</a:t>
            </a:r>
            <a:r>
              <a:rPr lang="en-US" sz="1400" b="0" dirty="0">
                <a:highlight>
                  <a:srgbClr val="BEFFFC"/>
                </a:highlight>
                <a:latin typeface="Consolas" panose="020B0609020204030204" pitchFamily="49" charset="0"/>
                <a:cs typeface="Consolas" panose="020B0609020204030204" pitchFamily="49" charset="0"/>
              </a:rPr>
              <a:t>&lt;</a:t>
            </a:r>
            <a:r>
              <a:rPr lang="en-US" sz="1400" b="0" dirty="0">
                <a:solidFill>
                  <a:schemeClr val="accent3"/>
                </a:solidFill>
                <a:highlight>
                  <a:srgbClr val="BEFFFC"/>
                </a:highlight>
                <a:latin typeface="Consolas" panose="020B0609020204030204" pitchFamily="49" charset="0"/>
                <a:cs typeface="Consolas" panose="020B0609020204030204" pitchFamily="49" charset="0"/>
              </a:rPr>
              <a:t>Vertex</a:t>
            </a:r>
            <a:r>
              <a:rPr lang="en-US" sz="1400" b="0" dirty="0">
                <a:highlight>
                  <a:srgbClr val="BEFFFC"/>
                </a:highlight>
                <a:latin typeface="Consolas" panose="020B0609020204030204" pitchFamily="49" charset="0"/>
                <a:cs typeface="Consolas" panose="020B0609020204030204" pitchFamily="49" charset="0"/>
              </a:rPr>
              <a:t>&gt; perimeter = </a:t>
            </a:r>
            <a:r>
              <a:rPr lang="en-US" sz="1400" b="0" dirty="0">
                <a:solidFill>
                  <a:schemeClr val="accent2"/>
                </a:solidFill>
                <a:highlight>
                  <a:srgbClr val="BEFFFC"/>
                </a:highlight>
                <a:latin typeface="Consolas" panose="020B0609020204030204" pitchFamily="49" charset="0"/>
                <a:cs typeface="Consolas" panose="020B0609020204030204" pitchFamily="49" charset="0"/>
              </a:rPr>
              <a:t>new</a:t>
            </a:r>
            <a:r>
              <a:rPr lang="en-US" sz="1400" b="0" dirty="0">
                <a:highlight>
                  <a:srgbClr val="BEFFFC"/>
                </a:highlight>
                <a:latin typeface="Consolas" panose="020B0609020204030204" pitchFamily="49" charset="0"/>
                <a:cs typeface="Consolas" panose="020B0609020204030204" pitchFamily="49" charset="0"/>
              </a:rPr>
              <a:t> </a:t>
            </a:r>
            <a:r>
              <a:rPr lang="en-US" sz="1400" dirty="0">
                <a:solidFill>
                  <a:schemeClr val="accent3"/>
                </a:solidFill>
                <a:highlight>
                  <a:srgbClr val="BEFFFC"/>
                </a:highlight>
                <a:latin typeface="Consolas" panose="020B0609020204030204" pitchFamily="49" charset="0"/>
                <a:cs typeface="Consolas" panose="020B0609020204030204" pitchFamily="49" charset="0"/>
              </a:rPr>
              <a:t>Stack</a:t>
            </a:r>
            <a:r>
              <a:rPr lang="en-US" sz="1400" b="0" dirty="0">
                <a:highlight>
                  <a:srgbClr val="BEFFFC"/>
                </a:highlight>
                <a:latin typeface="Consolas" panose="020B0609020204030204" pitchFamily="49" charset="0"/>
                <a:cs typeface="Consolas" panose="020B0609020204030204" pitchFamily="49" charset="0"/>
              </a:rPr>
              <a:t>&lt;&gt;();</a:t>
            </a: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r>
              <a:rPr lang="en-US" sz="1400" b="0" dirty="0">
                <a:solidFill>
                  <a:schemeClr val="accent3"/>
                </a:solidFill>
                <a:latin typeface="Consolas" panose="020B0609020204030204" pitchFamily="49" charset="0"/>
                <a:cs typeface="Consolas" panose="020B0609020204030204" pitchFamily="49" charset="0"/>
              </a:rPr>
              <a:t>Set</a:t>
            </a:r>
            <a:r>
              <a:rPr lang="en-US" sz="1400" b="0" dirty="0">
                <a:latin typeface="Consolas" panose="020B0609020204030204" pitchFamily="49" charset="0"/>
                <a:cs typeface="Consolas" panose="020B0609020204030204" pitchFamily="49" charset="0"/>
              </a:rPr>
              <a:t>&lt;</a:t>
            </a:r>
            <a:r>
              <a:rPr lang="en-US" sz="1400" b="0" dirty="0">
                <a:solidFill>
                  <a:schemeClr val="accent3"/>
                </a:solidFill>
                <a:latin typeface="Consolas" panose="020B0609020204030204" pitchFamily="49" charset="0"/>
                <a:cs typeface="Consolas" panose="020B0609020204030204" pitchFamily="49" charset="0"/>
              </a:rPr>
              <a:t>Vertex</a:t>
            </a:r>
            <a:r>
              <a:rPr lang="en-US" sz="1400" b="0" dirty="0">
                <a:latin typeface="Consolas" panose="020B0609020204030204" pitchFamily="49" charset="0"/>
                <a:cs typeface="Consolas" panose="020B0609020204030204" pitchFamily="49" charset="0"/>
              </a:rPr>
              <a:t>&gt; visited = </a:t>
            </a:r>
            <a:r>
              <a:rPr lang="en-US" sz="1400" b="0" dirty="0">
                <a:solidFill>
                  <a:schemeClr val="accent2"/>
                </a:solidFill>
                <a:latin typeface="Consolas" panose="020B0609020204030204" pitchFamily="49" charset="0"/>
                <a:cs typeface="Consolas" panose="020B0609020204030204" pitchFamily="49" charset="0"/>
              </a:rPr>
              <a:t>new</a:t>
            </a:r>
            <a:r>
              <a:rPr lang="en-US" sz="1400" b="0" dirty="0">
                <a:latin typeface="Consolas" panose="020B0609020204030204" pitchFamily="49" charset="0"/>
                <a:cs typeface="Consolas" panose="020B0609020204030204" pitchFamily="49" charset="0"/>
              </a:rPr>
              <a:t> </a:t>
            </a:r>
            <a:r>
              <a:rPr lang="en-US" sz="1400" b="0" dirty="0">
                <a:solidFill>
                  <a:schemeClr val="accent3"/>
                </a:solidFill>
                <a:latin typeface="Consolas" panose="020B0609020204030204" pitchFamily="49" charset="0"/>
                <a:cs typeface="Consolas" panose="020B0609020204030204" pitchFamily="49" charset="0"/>
              </a:rPr>
              <a:t>Set</a:t>
            </a:r>
            <a:r>
              <a:rPr lang="en-US" sz="1400" b="0" dirty="0">
                <a:latin typeface="Consolas" panose="020B0609020204030204" pitchFamily="49" charset="0"/>
                <a:cs typeface="Consolas" panose="020B0609020204030204" pitchFamily="49" charset="0"/>
              </a:rPr>
              <a:t>&lt;&gt;();  </a:t>
            </a:r>
          </a:p>
          <a:p>
            <a:pPr marL="0" indent="0">
              <a:lnSpc>
                <a:spcPct val="120000"/>
              </a:lnSpc>
              <a:spcBef>
                <a:spcPts val="0"/>
              </a:spcBef>
              <a:spcAft>
                <a:spcPts val="0"/>
              </a:spcAft>
              <a:buNone/>
            </a:pPr>
            <a:endParaRPr lang="en-US" sz="1400"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sz="1400" b="0" dirty="0">
                <a:latin typeface="Consolas" panose="020B0609020204030204" pitchFamily="49" charset="0"/>
                <a:cs typeface="Consolas" panose="020B0609020204030204" pitchFamily="49" charset="0"/>
              </a:rPr>
              <a:t>  ...</a:t>
            </a:r>
          </a:p>
        </p:txBody>
      </p:sp>
      <p:sp>
        <p:nvSpPr>
          <p:cNvPr id="4" name="Rectangle 3">
            <a:extLst>
              <a:ext uri="{FF2B5EF4-FFF2-40B4-BE49-F238E27FC236}">
                <a16:creationId xmlns:a16="http://schemas.microsoft.com/office/drawing/2014/main" id="{1AF9D0C5-1385-3540-AA5A-DC651F16B8F7}"/>
              </a:ext>
            </a:extLst>
          </p:cNvPr>
          <p:cNvSpPr/>
          <p:nvPr/>
        </p:nvSpPr>
        <p:spPr>
          <a:xfrm>
            <a:off x="8224726" y="402943"/>
            <a:ext cx="3556387" cy="117234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Explore layer-by-layer: examine every node at a certain distance from start, then examine nodes that are one level farther</a:t>
            </a:r>
          </a:p>
        </p:txBody>
      </p:sp>
      <p:sp>
        <p:nvSpPr>
          <p:cNvPr id="5" name="Rectangle 4">
            <a:extLst>
              <a:ext uri="{FF2B5EF4-FFF2-40B4-BE49-F238E27FC236}">
                <a16:creationId xmlns:a16="http://schemas.microsoft.com/office/drawing/2014/main" id="{BC8AEFE2-3D45-434F-B89E-E5E6FC53C5E0}"/>
              </a:ext>
            </a:extLst>
          </p:cNvPr>
          <p:cNvSpPr/>
          <p:nvPr/>
        </p:nvSpPr>
        <p:spPr>
          <a:xfrm>
            <a:off x="2402221" y="402942"/>
            <a:ext cx="3556387" cy="117235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Follow a “choice” all the way to the end, then come back to revisit other choices</a:t>
            </a:r>
          </a:p>
        </p:txBody>
      </p:sp>
      <p:sp>
        <p:nvSpPr>
          <p:cNvPr id="7" name="TextBox 6">
            <a:extLst>
              <a:ext uri="{FF2B5EF4-FFF2-40B4-BE49-F238E27FC236}">
                <a16:creationId xmlns:a16="http://schemas.microsoft.com/office/drawing/2014/main" id="{1ED37C8C-FE4B-4848-BD39-C20C4BC1B5A2}"/>
              </a:ext>
            </a:extLst>
          </p:cNvPr>
          <p:cNvSpPr txBox="1"/>
          <p:nvPr/>
        </p:nvSpPr>
        <p:spPr>
          <a:xfrm>
            <a:off x="410889" y="3328057"/>
            <a:ext cx="5752344" cy="307777"/>
          </a:xfrm>
          <a:prstGeom prst="rect">
            <a:avLst/>
          </a:prstGeom>
          <a:noFill/>
        </p:spPr>
        <p:txBody>
          <a:bodyPr wrap="none" rtlCol="0">
            <a:spAutoFit/>
          </a:bodyPr>
          <a:lstStyle/>
          <a:p>
            <a:r>
              <a:rPr lang="en-US" sz="1400" dirty="0"/>
              <a:t>* Can also be implemented recursively; though be careful of stack overflow! </a:t>
            </a:r>
          </a:p>
        </p:txBody>
      </p:sp>
      <p:sp>
        <p:nvSpPr>
          <p:cNvPr id="16" name="Rectangle 15">
            <a:extLst>
              <a:ext uri="{FF2B5EF4-FFF2-40B4-BE49-F238E27FC236}">
                <a16:creationId xmlns:a16="http://schemas.microsoft.com/office/drawing/2014/main" id="{90354297-296C-3F48-B2DD-1F5DACA62E3F}"/>
              </a:ext>
            </a:extLst>
          </p:cNvPr>
          <p:cNvSpPr/>
          <p:nvPr/>
        </p:nvSpPr>
        <p:spPr>
          <a:xfrm>
            <a:off x="410889" y="402942"/>
            <a:ext cx="1991333" cy="117234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i="1" dirty="0"/>
              <a:t>DFS</a:t>
            </a:r>
          </a:p>
        </p:txBody>
      </p:sp>
      <p:sp>
        <p:nvSpPr>
          <p:cNvPr id="17" name="Rectangle 16">
            <a:extLst>
              <a:ext uri="{FF2B5EF4-FFF2-40B4-BE49-F238E27FC236}">
                <a16:creationId xmlns:a16="http://schemas.microsoft.com/office/drawing/2014/main" id="{5BCAAB34-3955-1B46-B418-961FD105BC76}"/>
              </a:ext>
            </a:extLst>
          </p:cNvPr>
          <p:cNvSpPr/>
          <p:nvPr/>
        </p:nvSpPr>
        <p:spPr>
          <a:xfrm>
            <a:off x="6233394" y="402942"/>
            <a:ext cx="1991333" cy="117234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i="1" dirty="0"/>
              <a:t>BFS</a:t>
            </a:r>
          </a:p>
        </p:txBody>
      </p:sp>
      <p:sp>
        <p:nvSpPr>
          <p:cNvPr id="20" name="Content Placeholder 2">
            <a:extLst>
              <a:ext uri="{FF2B5EF4-FFF2-40B4-BE49-F238E27FC236}">
                <a16:creationId xmlns:a16="http://schemas.microsoft.com/office/drawing/2014/main" id="{B5B5123F-EC4E-8F41-A236-40A1663DEABF}"/>
              </a:ext>
            </a:extLst>
          </p:cNvPr>
          <p:cNvSpPr>
            <a:spLocks noGrp="1"/>
          </p:cNvSpPr>
          <p:nvPr>
            <p:ph idx="1"/>
          </p:nvPr>
        </p:nvSpPr>
        <p:spPr>
          <a:xfrm>
            <a:off x="292962" y="3927108"/>
            <a:ext cx="5665646" cy="2623113"/>
          </a:xfrm>
        </p:spPr>
        <p:txBody>
          <a:bodyPr>
            <a:normAutofit/>
          </a:bodyPr>
          <a:lstStyle/>
          <a:p>
            <a:r>
              <a:rPr lang="en-US" sz="2400" dirty="0"/>
              <a:t>BFS and DFS are just techniques for iterating! (think: for loop over an array)</a:t>
            </a:r>
          </a:p>
          <a:p>
            <a:pPr lvl="1"/>
            <a:r>
              <a:rPr lang="en-US" sz="2000" dirty="0"/>
              <a:t>Need to add code that actually processes something to solve a problem</a:t>
            </a:r>
          </a:p>
          <a:p>
            <a:pPr lvl="1"/>
            <a:r>
              <a:rPr lang="en-US" sz="2000" dirty="0"/>
              <a:t>A </a:t>
            </a:r>
            <a:r>
              <a:rPr lang="en-US" sz="2000" i="1" dirty="0"/>
              <a:t>lot</a:t>
            </a:r>
            <a:r>
              <a:rPr lang="en-US" sz="2000" dirty="0"/>
              <a:t> of interview problems on graphs can be solved with </a:t>
            </a:r>
            <a:r>
              <a:rPr lang="en-US" sz="2000" b="1" dirty="0"/>
              <a:t>modifications on top of BFS or DFS</a:t>
            </a:r>
            <a:r>
              <a:rPr lang="en-US" sz="2000" dirty="0"/>
              <a:t>! Very worth being comfortable with the pseudocode </a:t>
            </a:r>
            <a:r>
              <a:rPr lang="en-US" sz="2000" dirty="0">
                <a:sym typeface="Wingdings" pitchFamily="2" charset="2"/>
              </a:rPr>
              <a:t></a:t>
            </a:r>
            <a:endParaRPr lang="en-US" sz="2000" dirty="0"/>
          </a:p>
        </p:txBody>
      </p:sp>
    </p:spTree>
    <p:extLst>
      <p:ext uri="{BB962C8B-B14F-4D97-AF65-F5344CB8AC3E}">
        <p14:creationId xmlns:p14="http://schemas.microsoft.com/office/powerpoint/2010/main" val="361646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5424A-78DC-E349-8C36-CCA7BD1689F5}"/>
              </a:ext>
            </a:extLst>
          </p:cNvPr>
          <p:cNvSpPr>
            <a:spLocks noGrp="1"/>
          </p:cNvSpPr>
          <p:nvPr>
            <p:ph type="title"/>
          </p:nvPr>
        </p:nvSpPr>
        <p:spPr>
          <a:xfrm>
            <a:off x="838200" y="301725"/>
            <a:ext cx="10515600" cy="762635"/>
          </a:xfrm>
        </p:spPr>
        <p:txBody>
          <a:bodyPr>
            <a:normAutofit fontScale="90000"/>
          </a:bodyPr>
          <a:lstStyle/>
          <a:p>
            <a:r>
              <a:rPr lang="en-US" sz="4000" i="1" dirty="0">
                <a:solidFill>
                  <a:schemeClr val="accent4"/>
                </a:solidFill>
              </a:rPr>
              <a:t>Review  </a:t>
            </a:r>
            <a:r>
              <a:rPr lang="en-US" dirty="0"/>
              <a:t>Using BFS for the Shortest Path Problem</a:t>
            </a:r>
          </a:p>
        </p:txBody>
      </p:sp>
      <p:grpSp>
        <p:nvGrpSpPr>
          <p:cNvPr id="4" name="Group 3">
            <a:extLst>
              <a:ext uri="{FF2B5EF4-FFF2-40B4-BE49-F238E27FC236}">
                <a16:creationId xmlns:a16="http://schemas.microsoft.com/office/drawing/2014/main" id="{AF817C9B-311F-0B4E-92C1-83A09CEE165B}"/>
              </a:ext>
            </a:extLst>
          </p:cNvPr>
          <p:cNvGrpSpPr/>
          <p:nvPr/>
        </p:nvGrpSpPr>
        <p:grpSpPr>
          <a:xfrm>
            <a:off x="838200" y="1385698"/>
            <a:ext cx="4697863" cy="1750843"/>
            <a:chOff x="1200498" y="1542028"/>
            <a:chExt cx="4815838" cy="1544861"/>
          </a:xfrm>
        </p:grpSpPr>
        <p:sp>
          <p:nvSpPr>
            <p:cNvPr id="5" name="Rectangle 4">
              <a:extLst>
                <a:ext uri="{FF2B5EF4-FFF2-40B4-BE49-F238E27FC236}">
                  <a16:creationId xmlns:a16="http://schemas.microsoft.com/office/drawing/2014/main" id="{85EBAFA2-1904-1F4D-9398-715FBB8E6C0C}"/>
                </a:ext>
              </a:extLst>
            </p:cNvPr>
            <p:cNvSpPr/>
            <p:nvPr/>
          </p:nvSpPr>
          <p:spPr>
            <a:xfrm>
              <a:off x="1200498" y="1542028"/>
              <a:ext cx="4815838" cy="154486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extLst>
                <a:ext uri="{FF2B5EF4-FFF2-40B4-BE49-F238E27FC236}">
                  <a16:creationId xmlns:a16="http://schemas.microsoft.com/office/drawing/2014/main" id="{4D551727-6930-9848-BC92-9FA805FC2494}"/>
                </a:ext>
              </a:extLst>
            </p:cNvPr>
            <p:cNvSpPr/>
            <p:nvPr/>
          </p:nvSpPr>
          <p:spPr>
            <a:xfrm>
              <a:off x="1200498" y="1546719"/>
              <a:ext cx="4815838" cy="48235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(Unweighted) Shortest Path Problem</a:t>
              </a:r>
            </a:p>
          </p:txBody>
        </p:sp>
        <p:sp>
          <p:nvSpPr>
            <p:cNvPr id="7" name="Rectangle 6">
              <a:extLst>
                <a:ext uri="{FF2B5EF4-FFF2-40B4-BE49-F238E27FC236}">
                  <a16:creationId xmlns:a16="http://schemas.microsoft.com/office/drawing/2014/main" id="{E9E8A845-D0AE-D244-9042-BD7E6A44BFD4}"/>
                </a:ext>
              </a:extLst>
            </p:cNvPr>
            <p:cNvSpPr/>
            <p:nvPr/>
          </p:nvSpPr>
          <p:spPr>
            <a:xfrm>
              <a:off x="1200498" y="2105477"/>
              <a:ext cx="4815838" cy="896173"/>
            </a:xfrm>
            <a:prstGeom prst="rect">
              <a:avLst/>
            </a:prstGeom>
          </p:spPr>
          <p:txBody>
            <a:bodyPr wrap="square">
              <a:spAutoFit/>
            </a:bodyPr>
            <a:lstStyle/>
            <a:p>
              <a:pPr algn="ctr">
                <a:spcBef>
                  <a:spcPts val="1067"/>
                </a:spcBef>
                <a:spcAft>
                  <a:spcPts val="1067"/>
                </a:spcAft>
              </a:pPr>
              <a:r>
                <a:rPr lang="en-US" sz="2000" dirty="0">
                  <a:solidFill>
                    <a:schemeClr val="bg1"/>
                  </a:solidFill>
                </a:rPr>
                <a:t>Given source vertex </a:t>
              </a:r>
              <a:r>
                <a:rPr lang="en-US" sz="2000" b="1" dirty="0">
                  <a:solidFill>
                    <a:schemeClr val="bg1"/>
                  </a:solidFill>
                </a:rPr>
                <a:t>s</a:t>
              </a:r>
              <a:r>
                <a:rPr lang="en-US" sz="2000" dirty="0">
                  <a:solidFill>
                    <a:schemeClr val="bg1"/>
                  </a:solidFill>
                </a:rPr>
                <a:t> and a target vertex </a:t>
              </a:r>
              <a:r>
                <a:rPr lang="en-US" sz="2000" b="1" dirty="0">
                  <a:solidFill>
                    <a:schemeClr val="bg1"/>
                  </a:solidFill>
                </a:rPr>
                <a:t>t</a:t>
              </a:r>
              <a:r>
                <a:rPr lang="en-US" sz="2000" dirty="0">
                  <a:solidFill>
                    <a:schemeClr val="bg1"/>
                  </a:solidFill>
                </a:rPr>
                <a:t>, how long is the shortest path from </a:t>
              </a:r>
              <a:r>
                <a:rPr lang="en-US" sz="2000" b="1" dirty="0">
                  <a:solidFill>
                    <a:schemeClr val="bg1"/>
                  </a:solidFill>
                </a:rPr>
                <a:t>s</a:t>
              </a:r>
              <a:r>
                <a:rPr lang="en-US" sz="2000" dirty="0">
                  <a:solidFill>
                    <a:schemeClr val="bg1"/>
                  </a:solidFill>
                </a:rPr>
                <a:t> to</a:t>
              </a:r>
              <a:r>
                <a:rPr lang="en-US" sz="2000" b="1" dirty="0">
                  <a:solidFill>
                    <a:schemeClr val="bg1"/>
                  </a:solidFill>
                </a:rPr>
                <a:t> t</a:t>
              </a:r>
              <a:r>
                <a:rPr lang="en-US" sz="2000" dirty="0">
                  <a:solidFill>
                    <a:schemeClr val="bg1"/>
                  </a:solidFill>
                </a:rPr>
                <a:t>? What edges make up that path?</a:t>
              </a:r>
            </a:p>
          </p:txBody>
        </p:sp>
      </p:grpSp>
      <p:sp>
        <p:nvSpPr>
          <p:cNvPr id="9" name="Content Placeholder 2">
            <a:extLst>
              <a:ext uri="{FF2B5EF4-FFF2-40B4-BE49-F238E27FC236}">
                <a16:creationId xmlns:a16="http://schemas.microsoft.com/office/drawing/2014/main" id="{DC312DE6-10EE-BD48-9E10-F76F0EB5C1AD}"/>
              </a:ext>
            </a:extLst>
          </p:cNvPr>
          <p:cNvSpPr>
            <a:spLocks noGrp="1"/>
          </p:cNvSpPr>
          <p:nvPr>
            <p:ph idx="1"/>
          </p:nvPr>
        </p:nvSpPr>
        <p:spPr>
          <a:xfrm>
            <a:off x="719009" y="3586620"/>
            <a:ext cx="4817054" cy="2213265"/>
          </a:xfrm>
        </p:spPr>
        <p:txBody>
          <a:bodyPr>
            <a:normAutofit/>
          </a:bodyPr>
          <a:lstStyle/>
          <a:p>
            <a:r>
              <a:rPr lang="en-US" sz="2400" dirty="0"/>
              <a:t>This is a little harder, but still totally doable! We just need a way to keep track of how far each node is from the start.</a:t>
            </a:r>
          </a:p>
          <a:p>
            <a:pPr lvl="1"/>
            <a:r>
              <a:rPr lang="en-US" sz="2000" dirty="0"/>
              <a:t>Sounds like a job for?</a:t>
            </a:r>
          </a:p>
          <a:p>
            <a:pPr lvl="2"/>
            <a:r>
              <a:rPr lang="en-US" sz="1600" dirty="0"/>
              <a:t>BFS!</a:t>
            </a:r>
          </a:p>
        </p:txBody>
      </p:sp>
      <p:sp>
        <p:nvSpPr>
          <p:cNvPr id="8" name="Content Placeholder 2">
            <a:extLst>
              <a:ext uri="{FF2B5EF4-FFF2-40B4-BE49-F238E27FC236}">
                <a16:creationId xmlns:a16="http://schemas.microsoft.com/office/drawing/2014/main" id="{C51CB806-DFEA-F249-8DBE-C4B3C1E9EF6D}"/>
              </a:ext>
            </a:extLst>
          </p:cNvPr>
          <p:cNvSpPr txBox="1">
            <a:spLocks/>
          </p:cNvSpPr>
          <p:nvPr/>
        </p:nvSpPr>
        <p:spPr bwMode="auto">
          <a:xfrm>
            <a:off x="6471806" y="935182"/>
            <a:ext cx="5471983" cy="5839691"/>
          </a:xfrm>
          <a:prstGeom prst="rect">
            <a:avLst/>
          </a:prstGeom>
          <a:solidFill>
            <a:schemeClr val="bg1">
              <a:lumMod val="95000"/>
            </a:schemeClr>
          </a:solidFill>
          <a:ln w="9525">
            <a:solidFill>
              <a:schemeClr val="tx1"/>
            </a:solidFill>
            <a:miter lim="800000"/>
            <a:headEnd/>
            <a:tailEnd/>
          </a:ln>
        </p:spPr>
        <p:txBody>
          <a:bodyPr vert="horz" wrap="square" lIns="121920" tIns="60960" rIns="121920" bIns="60960" numCol="1" anchor="t" anchorCtr="0" compatLnSpc="1">
            <a:prstTxWarp prst="textNoShape">
              <a:avLst/>
            </a:prstTxWarp>
          </a:bodyPr>
          <a:lstStyle>
            <a:lvl1pPr marL="192881" indent="-192881" algn="l" rtl="0" eaLnBrk="1" fontAlgn="base" hangingPunct="1">
              <a:spcBef>
                <a:spcPct val="20000"/>
              </a:spcBef>
              <a:spcAft>
                <a:spcPct val="0"/>
              </a:spcAft>
              <a:buClr>
                <a:srgbClr val="4B2A85"/>
              </a:buClr>
              <a:buSzPct val="60000"/>
              <a:buFont typeface="Wingdings" panose="05000000000000000000" pitchFamily="2" charset="2"/>
              <a:buChar char="v"/>
              <a:defRPr sz="1600" b="1">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365189" indent="-160735" algn="l" rtl="0" eaLnBrk="1" fontAlgn="base" hangingPunct="1">
              <a:spcBef>
                <a:spcPct val="20000"/>
              </a:spcBef>
              <a:spcAft>
                <a:spcPct val="0"/>
              </a:spcAft>
              <a:buClr>
                <a:srgbClr val="4B2A85"/>
              </a:buClr>
              <a:buSzPct val="110000"/>
              <a:buFont typeface="Wingdings" pitchFamily="2" charset="2"/>
              <a:buChar char="§"/>
              <a:defRPr sz="14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514350" indent="-128588" algn="l" rtl="0" eaLnBrk="1" fontAlgn="base" hangingPunct="1">
              <a:spcBef>
                <a:spcPct val="20000"/>
              </a:spcBef>
              <a:spcAft>
                <a:spcPct val="0"/>
              </a:spcAft>
              <a:buClr>
                <a:srgbClr val="4B2A85"/>
              </a:buClr>
              <a:buSzPct val="80000"/>
              <a:buFont typeface="Arial" panose="020B0604020202020204" pitchFamily="34" charset="0"/>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58368"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812673"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1414463" indent="-128588" algn="l" rtl="0" eaLnBrk="1" fontAlgn="base" hangingPunct="1">
              <a:spcBef>
                <a:spcPct val="20000"/>
              </a:spcBef>
              <a:spcAft>
                <a:spcPct val="0"/>
              </a:spcAft>
              <a:buChar char="»"/>
              <a:defRPr sz="1125">
                <a:solidFill>
                  <a:schemeClr val="tx1"/>
                </a:solidFill>
                <a:latin typeface="Arial" charset="0"/>
              </a:defRPr>
            </a:lvl6pPr>
            <a:lvl7pPr marL="1671638" indent="-128588" algn="l" rtl="0" eaLnBrk="1" fontAlgn="base" hangingPunct="1">
              <a:spcBef>
                <a:spcPct val="20000"/>
              </a:spcBef>
              <a:spcAft>
                <a:spcPct val="0"/>
              </a:spcAft>
              <a:buChar char="»"/>
              <a:defRPr sz="1125">
                <a:solidFill>
                  <a:schemeClr val="tx1"/>
                </a:solidFill>
                <a:latin typeface="Arial" charset="0"/>
              </a:defRPr>
            </a:lvl7pPr>
            <a:lvl8pPr marL="1928813" indent="-128588" algn="l" rtl="0" eaLnBrk="1" fontAlgn="base" hangingPunct="1">
              <a:spcBef>
                <a:spcPct val="20000"/>
              </a:spcBef>
              <a:spcAft>
                <a:spcPct val="0"/>
              </a:spcAft>
              <a:buChar char="»"/>
              <a:defRPr sz="1125">
                <a:solidFill>
                  <a:schemeClr val="tx1"/>
                </a:solidFill>
                <a:latin typeface="Arial" charset="0"/>
              </a:defRPr>
            </a:lvl8pPr>
            <a:lvl9pPr marL="2185988" indent="-128588" algn="l" rtl="0" eaLnBrk="1" fontAlgn="base" hangingPunct="1">
              <a:spcBef>
                <a:spcPct val="20000"/>
              </a:spcBef>
              <a:spcAft>
                <a:spcPct val="0"/>
              </a:spcAft>
              <a:buChar char="»"/>
              <a:defRPr sz="1125">
                <a:solidFill>
                  <a:schemeClr val="tx1"/>
                </a:solidFill>
                <a:latin typeface="Arial" charset="0"/>
              </a:defRPr>
            </a:lvl9pPr>
          </a:lstStyle>
          <a:p>
            <a:pPr marL="0" indent="0">
              <a:lnSpc>
                <a:spcPct val="120000"/>
              </a:lnSpc>
              <a:spcBef>
                <a:spcPts val="0"/>
              </a:spcBef>
              <a:spcAft>
                <a:spcPts val="0"/>
              </a:spcAft>
              <a:buNone/>
            </a:pPr>
            <a:r>
              <a:rPr lang="en-US" sz="1200" b="0" dirty="0">
                <a:solidFill>
                  <a:schemeClr val="accent3"/>
                </a:solidFill>
                <a:latin typeface="Consolas" panose="020B0609020204030204" pitchFamily="49" charset="0"/>
                <a:cs typeface="Consolas" panose="020B0609020204030204" pitchFamily="49" charset="0"/>
              </a:rPr>
              <a:t>   </a:t>
            </a:r>
            <a:r>
              <a:rPr lang="en-US" sz="1200"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solidFill>
                  <a:schemeClr val="accent3"/>
                </a:solidFill>
                <a:latin typeface="Consolas" panose="020B0609020204030204" pitchFamily="49" charset="0"/>
                <a:cs typeface="Consolas" panose="020B0609020204030204" pitchFamily="49" charset="0"/>
              </a:rPr>
              <a:t>  </a:t>
            </a:r>
            <a:r>
              <a:rPr lang="en-US" b="0" dirty="0">
                <a:solidFill>
                  <a:schemeClr val="accent3"/>
                </a:solidFill>
                <a:highlight>
                  <a:srgbClr val="5EE1B2"/>
                </a:highlight>
                <a:latin typeface="Consolas" panose="020B0609020204030204" pitchFamily="49" charset="0"/>
                <a:cs typeface="Consolas" panose="020B0609020204030204" pitchFamily="49" charset="0"/>
              </a:rPr>
              <a:t>Map</a:t>
            </a:r>
            <a:r>
              <a:rPr lang="en-US" b="0" dirty="0">
                <a:highlight>
                  <a:srgbClr val="5EE1B2"/>
                </a:highlight>
                <a:latin typeface="Consolas" panose="020B0609020204030204" pitchFamily="49" charset="0"/>
                <a:cs typeface="Consolas" panose="020B0609020204030204" pitchFamily="49" charset="0"/>
              </a:rPr>
              <a:t>&lt;</a:t>
            </a:r>
            <a:r>
              <a:rPr lang="en-US" b="0" dirty="0">
                <a:solidFill>
                  <a:schemeClr val="accent3"/>
                </a:solidFill>
                <a:highlight>
                  <a:srgbClr val="5EE1B2"/>
                </a:highlight>
                <a:latin typeface="Consolas" panose="020B0609020204030204" pitchFamily="49" charset="0"/>
                <a:cs typeface="Consolas" panose="020B0609020204030204" pitchFamily="49" charset="0"/>
              </a:rPr>
              <a:t>Vertex, Edge</a:t>
            </a:r>
            <a:r>
              <a:rPr lang="en-US" b="0" dirty="0">
                <a:highlight>
                  <a:srgbClr val="5EE1B2"/>
                </a:highlight>
                <a:latin typeface="Consolas" panose="020B0609020204030204" pitchFamily="49" charset="0"/>
                <a:cs typeface="Consolas" panose="020B0609020204030204" pitchFamily="49" charset="0"/>
              </a:rPr>
              <a:t>&gt; </a:t>
            </a:r>
            <a:r>
              <a:rPr lang="en-US" b="0" dirty="0" err="1">
                <a:highlight>
                  <a:srgbClr val="5EE1B2"/>
                </a:highlight>
                <a:latin typeface="Consolas" panose="020B0609020204030204" pitchFamily="49" charset="0"/>
                <a:cs typeface="Consolas" panose="020B0609020204030204" pitchFamily="49" charset="0"/>
              </a:rPr>
              <a:t>edgeTo</a:t>
            </a:r>
            <a:r>
              <a:rPr lang="en-US" b="0" dirty="0">
                <a:highlight>
                  <a:srgbClr val="5EE1B2"/>
                </a:highlight>
                <a:latin typeface="Consolas" panose="020B0609020204030204" pitchFamily="49" charset="0"/>
                <a:cs typeface="Consolas" panose="020B0609020204030204" pitchFamily="49" charset="0"/>
              </a:rPr>
              <a:t> =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highlight>
                  <a:srgbClr val="5EE1B2"/>
                </a:highlight>
                <a:latin typeface="Consolas" panose="020B0609020204030204" pitchFamily="49" charset="0"/>
                <a:cs typeface="Consolas" panose="020B0609020204030204" pitchFamily="49" charset="0"/>
              </a:rPr>
              <a:t>Map</a:t>
            </a:r>
            <a:r>
              <a:rPr lang="en-US" b="0" dirty="0">
                <a:highlight>
                  <a:srgbClr val="5EE1B2"/>
                </a:highlight>
                <a:latin typeface="Consolas" panose="020B0609020204030204" pitchFamily="49" charset="0"/>
                <a:cs typeface="Consolas" panose="020B0609020204030204" pitchFamily="49" charset="0"/>
              </a:rPr>
              <a:t>&lt;</a:t>
            </a:r>
            <a:r>
              <a:rPr lang="en-US" b="0" dirty="0">
                <a:solidFill>
                  <a:schemeClr val="accent3"/>
                </a:solidFill>
                <a:highlight>
                  <a:srgbClr val="5EE1B2"/>
                </a:highlight>
                <a:latin typeface="Consolas" panose="020B0609020204030204" pitchFamily="49" charset="0"/>
                <a:cs typeface="Consolas" panose="020B0609020204030204" pitchFamily="49" charset="0"/>
              </a:rPr>
              <a:t>Vertex, Double</a:t>
            </a:r>
            <a:r>
              <a:rPr lang="en-US" b="0" dirty="0">
                <a:highlight>
                  <a:srgbClr val="5EE1B2"/>
                </a:highlight>
                <a:latin typeface="Consolas" panose="020B0609020204030204" pitchFamily="49" charset="0"/>
                <a:cs typeface="Consolas" panose="020B0609020204030204" pitchFamily="49" charset="0"/>
              </a:rPr>
              <a:t>&gt; </a:t>
            </a:r>
            <a:r>
              <a:rPr lang="en-US" b="0" dirty="0" err="1">
                <a:highlight>
                  <a:srgbClr val="5EE1B2"/>
                </a:highlight>
                <a:latin typeface="Consolas" panose="020B0609020204030204" pitchFamily="49" charset="0"/>
                <a:cs typeface="Consolas" panose="020B0609020204030204" pitchFamily="49" charset="0"/>
              </a:rPr>
              <a:t>distTo</a:t>
            </a:r>
            <a:r>
              <a:rPr lang="en-US" b="0" dirty="0">
                <a:highlight>
                  <a:srgbClr val="5EE1B2"/>
                </a:highlight>
                <a:latin typeface="Consolas" panose="020B0609020204030204" pitchFamily="49" charset="0"/>
                <a:cs typeface="Consolas" panose="020B0609020204030204" pitchFamily="49" charset="0"/>
              </a:rPr>
              <a:t> = ...</a:t>
            </a:r>
          </a:p>
          <a:p>
            <a:pPr marL="0" indent="0">
              <a:lnSpc>
                <a:spcPct val="120000"/>
              </a:lnSpc>
              <a:spcBef>
                <a:spcPts val="0"/>
              </a:spcBef>
              <a:spcAft>
                <a:spcPts val="0"/>
              </a:spcAft>
              <a:buNone/>
            </a:pPr>
            <a:endParaRPr lang="en-US" sz="800"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edgeTo.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(start, </a:t>
            </a:r>
            <a:r>
              <a:rPr lang="en-US" b="0" dirty="0">
                <a:solidFill>
                  <a:schemeClr val="accent5"/>
                </a:solidFill>
                <a:highlight>
                  <a:srgbClr val="5EE1B2"/>
                </a:highlight>
                <a:latin typeface="Consolas" panose="020B0609020204030204" pitchFamily="49" charset="0"/>
                <a:cs typeface="Consolas" panose="020B0609020204030204" pitchFamily="49" charset="0"/>
              </a:rPr>
              <a:t>null</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distTo.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(start, </a:t>
            </a:r>
            <a:r>
              <a:rPr lang="en-US" b="0" dirty="0">
                <a:solidFill>
                  <a:schemeClr val="accent5"/>
                </a:solidFill>
                <a:highlight>
                  <a:srgbClr val="5EE1B2"/>
                </a:highlight>
                <a:latin typeface="Consolas" panose="020B0609020204030204" pitchFamily="49" charset="0"/>
                <a:cs typeface="Consolas" panose="020B0609020204030204" pitchFamily="49" charset="0"/>
              </a:rPr>
              <a:t>0.0</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endParaRPr lang="en-US" sz="800"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while</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perimeter.</a:t>
            </a:r>
            <a:r>
              <a:rPr lang="en-US" dirty="0" err="1">
                <a:latin typeface="Consolas" panose="020B0609020204030204" pitchFamily="49" charset="0"/>
                <a:cs typeface="Consolas" panose="020B0609020204030204" pitchFamily="49" charset="0"/>
              </a:rPr>
              <a:t>isEmpty</a:t>
            </a: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Vertex</a:t>
            </a:r>
            <a:r>
              <a:rPr lang="en-US" b="0" dirty="0">
                <a:latin typeface="Consolas" panose="020B0609020204030204" pitchFamily="49" charset="0"/>
                <a:cs typeface="Consolas" panose="020B0609020204030204" pitchFamily="49" charset="0"/>
              </a:rPr>
              <a:t> from = </a:t>
            </a:r>
            <a:r>
              <a:rPr lang="en-US" b="0" dirty="0" err="1">
                <a:latin typeface="Consolas" panose="020B0609020204030204" pitchFamily="49" charset="0"/>
                <a:cs typeface="Consolas" panose="020B0609020204030204" pitchFamily="49" charset="0"/>
              </a:rPr>
              <a:t>perimeter.</a:t>
            </a:r>
            <a:r>
              <a:rPr lang="en-US" dirty="0" err="1">
                <a:latin typeface="Consolas" panose="020B0609020204030204" pitchFamily="49" charset="0"/>
                <a:cs typeface="Consolas" panose="020B0609020204030204" pitchFamily="49" charset="0"/>
              </a:rPr>
              <a:t>remove</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solidFill>
                  <a:schemeClr val="accent2"/>
                </a:solidFill>
                <a:latin typeface="Consolas" panose="020B0609020204030204" pitchFamily="49" charset="0"/>
                <a:cs typeface="Consolas" panose="020B0609020204030204" pitchFamily="49" charset="0"/>
              </a:rPr>
              <a:t>    for</a:t>
            </a: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Edge</a:t>
            </a:r>
            <a:r>
              <a:rPr lang="en-US" b="0" dirty="0">
                <a:latin typeface="Consolas" panose="020B0609020204030204" pitchFamily="49" charset="0"/>
                <a:cs typeface="Consolas" panose="020B0609020204030204" pitchFamily="49" charset="0"/>
              </a:rPr>
              <a:t> edge : </a:t>
            </a:r>
            <a:r>
              <a:rPr lang="en-US" b="0" dirty="0" err="1">
                <a:latin typeface="Consolas" panose="020B0609020204030204" pitchFamily="49" charset="0"/>
                <a:cs typeface="Consolas" panose="020B0609020204030204" pitchFamily="49" charset="0"/>
              </a:rPr>
              <a:t>graph.</a:t>
            </a:r>
            <a:r>
              <a:rPr lang="en-US" dirty="0" err="1">
                <a:latin typeface="Consolas" panose="020B0609020204030204" pitchFamily="49" charset="0"/>
                <a:cs typeface="Consolas" panose="020B0609020204030204" pitchFamily="49" charset="0"/>
              </a:rPr>
              <a:t>edgesFrom</a:t>
            </a:r>
            <a:r>
              <a:rPr lang="en-US" b="0" dirty="0">
                <a:latin typeface="Consolas" panose="020B0609020204030204" pitchFamily="49" charset="0"/>
                <a:cs typeface="Consolas" panose="020B0609020204030204" pitchFamily="49" charset="0"/>
              </a:rPr>
              <a:t>(from))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Vertex</a:t>
            </a:r>
            <a:r>
              <a:rPr lang="en-US" b="0" dirty="0">
                <a:latin typeface="Consolas" panose="020B0609020204030204" pitchFamily="49" charset="0"/>
                <a:cs typeface="Consolas" panose="020B0609020204030204" pitchFamily="49" charset="0"/>
              </a:rPr>
              <a:t> to = </a:t>
            </a:r>
            <a:r>
              <a:rPr lang="en-US" b="0" dirty="0" err="1">
                <a:latin typeface="Consolas" panose="020B0609020204030204" pitchFamily="49" charset="0"/>
                <a:cs typeface="Consolas" panose="020B0609020204030204" pitchFamily="49" charset="0"/>
              </a:rPr>
              <a:t>edge.</a:t>
            </a:r>
            <a:r>
              <a:rPr lang="en-US" dirty="0" err="1">
                <a:latin typeface="Consolas" panose="020B0609020204030204" pitchFamily="49" charset="0"/>
                <a:cs typeface="Consolas" panose="020B0609020204030204" pitchFamily="49" charset="0"/>
              </a:rPr>
              <a:t>to</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if</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visited.</a:t>
            </a:r>
            <a:r>
              <a:rPr lang="en-US" dirty="0" err="1">
                <a:latin typeface="Consolas" panose="020B0609020204030204" pitchFamily="49" charset="0"/>
                <a:cs typeface="Consolas" panose="020B0609020204030204" pitchFamily="49" charset="0"/>
              </a:rPr>
              <a:t>contains</a:t>
            </a:r>
            <a:r>
              <a:rPr lang="en-US" b="0" dirty="0">
                <a:latin typeface="Consolas" panose="020B0609020204030204" pitchFamily="49" charset="0"/>
                <a:cs typeface="Consolas" panose="020B0609020204030204" pitchFamily="49" charset="0"/>
              </a:rPr>
              <a:t>(to))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edgeTo.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(to, edge);</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distTo.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(to, </a:t>
            </a:r>
            <a:r>
              <a:rPr lang="en-US" b="0" dirty="0" err="1">
                <a:highlight>
                  <a:srgbClr val="5EE1B2"/>
                </a:highlight>
                <a:latin typeface="Consolas" panose="020B0609020204030204" pitchFamily="49" charset="0"/>
                <a:cs typeface="Consolas" panose="020B0609020204030204" pitchFamily="49" charset="0"/>
              </a:rPr>
              <a:t>distTo.</a:t>
            </a:r>
            <a:r>
              <a:rPr lang="en-US" dirty="0" err="1">
                <a:highlight>
                  <a:srgbClr val="5EE1B2"/>
                </a:highlight>
                <a:latin typeface="Consolas" panose="020B0609020204030204" pitchFamily="49" charset="0"/>
                <a:cs typeface="Consolas" panose="020B0609020204030204" pitchFamily="49" charset="0"/>
              </a:rPr>
              <a:t>get</a:t>
            </a:r>
            <a:r>
              <a:rPr lang="en-US" b="0" dirty="0">
                <a:highlight>
                  <a:srgbClr val="5EE1B2"/>
                </a:highlight>
                <a:latin typeface="Consolas" panose="020B0609020204030204" pitchFamily="49" charset="0"/>
                <a:cs typeface="Consolas" panose="020B0609020204030204" pitchFamily="49" charset="0"/>
              </a:rPr>
              <a:t>(from) + </a:t>
            </a:r>
            <a:r>
              <a:rPr lang="en-US" b="0" dirty="0">
                <a:solidFill>
                  <a:schemeClr val="accent5"/>
                </a:solidFill>
                <a:highlight>
                  <a:srgbClr val="5EE1B2"/>
                </a:highlight>
                <a:latin typeface="Consolas" panose="020B0609020204030204" pitchFamily="49" charset="0"/>
                <a:cs typeface="Consolas" panose="020B0609020204030204" pitchFamily="49" charset="0"/>
              </a:rPr>
              <a:t>1</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perimeter.</a:t>
            </a:r>
            <a:r>
              <a:rPr lang="en-US" dirty="0" err="1">
                <a:latin typeface="Consolas" panose="020B0609020204030204" pitchFamily="49" charset="0"/>
                <a:cs typeface="Consolas" panose="020B0609020204030204" pitchFamily="49" charset="0"/>
              </a:rPr>
              <a:t>add</a:t>
            </a:r>
            <a:r>
              <a:rPr lang="en-US" b="0" dirty="0">
                <a:latin typeface="Consolas" panose="020B0609020204030204" pitchFamily="49" charset="0"/>
                <a:cs typeface="Consolas" panose="020B0609020204030204" pitchFamily="49" charset="0"/>
              </a:rPr>
              <a:t>(to);</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visited.</a:t>
            </a:r>
            <a:r>
              <a:rPr lang="en-US" dirty="0" err="1">
                <a:latin typeface="Consolas" panose="020B0609020204030204" pitchFamily="49" charset="0"/>
                <a:cs typeface="Consolas" panose="020B0609020204030204" pitchFamily="49" charset="0"/>
              </a:rPr>
              <a:t>add</a:t>
            </a:r>
            <a:r>
              <a:rPr lang="en-US" b="0" dirty="0">
                <a:latin typeface="Consolas" panose="020B0609020204030204" pitchFamily="49" charset="0"/>
                <a:cs typeface="Consolas" panose="020B0609020204030204" pitchFamily="49" charset="0"/>
              </a:rPr>
              <a:t>(to);</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highlight>
                  <a:srgbClr val="5EE1B2"/>
                </a:highlight>
                <a:latin typeface="Consolas" panose="020B0609020204030204" pitchFamily="49" charset="0"/>
                <a:cs typeface="Consolas" panose="020B0609020204030204" pitchFamily="49" charset="0"/>
              </a:rPr>
              <a:t>return</a:t>
            </a:r>
            <a:r>
              <a:rPr lang="en-US" b="0" dirty="0">
                <a:highlight>
                  <a:srgbClr val="5EE1B2"/>
                </a:highlight>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edgeTo</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a:t>
            </a:r>
          </a:p>
        </p:txBody>
      </p:sp>
      <p:sp>
        <p:nvSpPr>
          <p:cNvPr id="10" name="Rectangular Callout 9">
            <a:extLst>
              <a:ext uri="{FF2B5EF4-FFF2-40B4-BE49-F238E27FC236}">
                <a16:creationId xmlns:a16="http://schemas.microsoft.com/office/drawing/2014/main" id="{81021526-4268-1346-9762-601094174922}"/>
              </a:ext>
            </a:extLst>
          </p:cNvPr>
          <p:cNvSpPr/>
          <p:nvPr/>
        </p:nvSpPr>
        <p:spPr>
          <a:xfrm>
            <a:off x="4551165" y="4587418"/>
            <a:ext cx="2608172" cy="879568"/>
          </a:xfrm>
          <a:prstGeom prst="wedgeRectCallout">
            <a:avLst>
              <a:gd name="adj1" fmla="val 60384"/>
              <a:gd name="adj2" fmla="val -479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Remember how we got to this point, and what layer this vertex is part of</a:t>
            </a:r>
          </a:p>
        </p:txBody>
      </p:sp>
      <p:sp>
        <p:nvSpPr>
          <p:cNvPr id="11" name="Rectangular Callout 10">
            <a:extLst>
              <a:ext uri="{FF2B5EF4-FFF2-40B4-BE49-F238E27FC236}">
                <a16:creationId xmlns:a16="http://schemas.microsoft.com/office/drawing/2014/main" id="{FA4AC795-A53E-2940-9719-058918AEC33F}"/>
              </a:ext>
            </a:extLst>
          </p:cNvPr>
          <p:cNvSpPr/>
          <p:nvPr/>
        </p:nvSpPr>
        <p:spPr>
          <a:xfrm>
            <a:off x="9718910" y="1879801"/>
            <a:ext cx="2359961" cy="762635"/>
          </a:xfrm>
          <a:prstGeom prst="wedgeRectCallout">
            <a:avLst>
              <a:gd name="adj1" fmla="val -59179"/>
              <a:gd name="adj2" fmla="val -2060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The start required no edge to arrive at, and is on level 0</a:t>
            </a:r>
          </a:p>
        </p:txBody>
      </p:sp>
    </p:spTree>
    <p:extLst>
      <p:ext uri="{BB962C8B-B14F-4D97-AF65-F5344CB8AC3E}">
        <p14:creationId xmlns:p14="http://schemas.microsoft.com/office/powerpoint/2010/main" val="3042533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0177F-FBE2-8A46-8DC6-CFC43F2E5360}"/>
              </a:ext>
            </a:extLst>
          </p:cNvPr>
          <p:cNvSpPr>
            <a:spLocks noGrp="1"/>
          </p:cNvSpPr>
          <p:nvPr>
            <p:ph type="title"/>
          </p:nvPr>
        </p:nvSpPr>
        <p:spPr>
          <a:xfrm>
            <a:off x="824719" y="216591"/>
            <a:ext cx="10515600" cy="762635"/>
          </a:xfrm>
        </p:spPr>
        <p:txBody>
          <a:bodyPr/>
          <a:lstStyle/>
          <a:p>
            <a:r>
              <a:rPr lang="en-US" sz="3600" i="1" dirty="0">
                <a:solidFill>
                  <a:schemeClr val="accent4"/>
                </a:solidFill>
              </a:rPr>
              <a:t>Review</a:t>
            </a:r>
            <a:r>
              <a:rPr lang="en-US" dirty="0"/>
              <a:t>  BFS for Shortest Paths: Example</a:t>
            </a:r>
          </a:p>
        </p:txBody>
      </p:sp>
      <p:sp>
        <p:nvSpPr>
          <p:cNvPr id="4" name="Google Shape;751;p43">
            <a:extLst>
              <a:ext uri="{FF2B5EF4-FFF2-40B4-BE49-F238E27FC236}">
                <a16:creationId xmlns:a16="http://schemas.microsoft.com/office/drawing/2014/main" id="{01F92F15-E090-FA4B-B362-F51ECFF4F3D2}"/>
              </a:ext>
            </a:extLst>
          </p:cNvPr>
          <p:cNvSpPr/>
          <p:nvPr/>
        </p:nvSpPr>
        <p:spPr>
          <a:xfrm>
            <a:off x="1443968" y="3113267"/>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sp>
        <p:nvSpPr>
          <p:cNvPr id="5" name="Google Shape;752;p43">
            <a:extLst>
              <a:ext uri="{FF2B5EF4-FFF2-40B4-BE49-F238E27FC236}">
                <a16:creationId xmlns:a16="http://schemas.microsoft.com/office/drawing/2014/main" id="{967383F1-0FAE-9140-AAE9-99BBC258DA2E}"/>
              </a:ext>
            </a:extLst>
          </p:cNvPr>
          <p:cNvSpPr/>
          <p:nvPr/>
        </p:nvSpPr>
        <p:spPr>
          <a:xfrm>
            <a:off x="1595247" y="4561361"/>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B</a:t>
            </a:r>
            <a:endParaRPr sz="2133" dirty="0">
              <a:latin typeface="Calibri" panose="020F0502020204030204" pitchFamily="34" charset="0"/>
              <a:cs typeface="Calibri" panose="020F0502020204030204" pitchFamily="34" charset="0"/>
            </a:endParaRPr>
          </a:p>
        </p:txBody>
      </p:sp>
      <p:sp>
        <p:nvSpPr>
          <p:cNvPr id="6" name="Google Shape;753;p43">
            <a:extLst>
              <a:ext uri="{FF2B5EF4-FFF2-40B4-BE49-F238E27FC236}">
                <a16:creationId xmlns:a16="http://schemas.microsoft.com/office/drawing/2014/main" id="{61189E5E-EA34-B541-91ED-47BBBDA99966}"/>
              </a:ext>
            </a:extLst>
          </p:cNvPr>
          <p:cNvSpPr/>
          <p:nvPr/>
        </p:nvSpPr>
        <p:spPr>
          <a:xfrm>
            <a:off x="4029945" y="2690273"/>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E</a:t>
            </a:r>
            <a:endParaRPr sz="2133" dirty="0">
              <a:latin typeface="Calibri" panose="020F0502020204030204" pitchFamily="34" charset="0"/>
              <a:cs typeface="Calibri" panose="020F0502020204030204" pitchFamily="34" charset="0"/>
            </a:endParaRPr>
          </a:p>
        </p:txBody>
      </p:sp>
      <p:sp>
        <p:nvSpPr>
          <p:cNvPr id="7" name="Google Shape;754;p43">
            <a:extLst>
              <a:ext uri="{FF2B5EF4-FFF2-40B4-BE49-F238E27FC236}">
                <a16:creationId xmlns:a16="http://schemas.microsoft.com/office/drawing/2014/main" id="{FFA0558E-2B6C-1B45-BA6C-D02F49AAABF0}"/>
              </a:ext>
            </a:extLst>
          </p:cNvPr>
          <p:cNvSpPr/>
          <p:nvPr/>
        </p:nvSpPr>
        <p:spPr>
          <a:xfrm>
            <a:off x="2874069" y="3355973"/>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C</a:t>
            </a:r>
            <a:endParaRPr sz="2133" dirty="0">
              <a:latin typeface="Calibri" panose="020F0502020204030204" pitchFamily="34" charset="0"/>
              <a:cs typeface="Calibri" panose="020F0502020204030204" pitchFamily="34" charset="0"/>
            </a:endParaRPr>
          </a:p>
        </p:txBody>
      </p:sp>
      <p:sp>
        <p:nvSpPr>
          <p:cNvPr id="8" name="Google Shape;755;p43">
            <a:extLst>
              <a:ext uri="{FF2B5EF4-FFF2-40B4-BE49-F238E27FC236}">
                <a16:creationId xmlns:a16="http://schemas.microsoft.com/office/drawing/2014/main" id="{2813258C-8A37-894C-B9A2-D9D6A72867C4}"/>
              </a:ext>
            </a:extLst>
          </p:cNvPr>
          <p:cNvSpPr/>
          <p:nvPr/>
        </p:nvSpPr>
        <p:spPr>
          <a:xfrm>
            <a:off x="3506903" y="4729961"/>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D</a:t>
            </a:r>
            <a:endParaRPr sz="2133" dirty="0">
              <a:latin typeface="Calibri" panose="020F0502020204030204" pitchFamily="34" charset="0"/>
              <a:cs typeface="Calibri" panose="020F0502020204030204" pitchFamily="34" charset="0"/>
            </a:endParaRPr>
          </a:p>
        </p:txBody>
      </p:sp>
      <p:cxnSp>
        <p:nvCxnSpPr>
          <p:cNvPr id="9" name="Google Shape;759;p43">
            <a:extLst>
              <a:ext uri="{FF2B5EF4-FFF2-40B4-BE49-F238E27FC236}">
                <a16:creationId xmlns:a16="http://schemas.microsoft.com/office/drawing/2014/main" id="{37842B28-895D-934E-BFFE-8624018D8A70}"/>
              </a:ext>
            </a:extLst>
          </p:cNvPr>
          <p:cNvCxnSpPr>
            <a:stCxn id="4" idx="2"/>
            <a:endCxn id="5" idx="0"/>
          </p:cNvCxnSpPr>
          <p:nvPr/>
        </p:nvCxnSpPr>
        <p:spPr>
          <a:xfrm>
            <a:off x="1655568" y="3450467"/>
            <a:ext cx="151279" cy="1110894"/>
          </a:xfrm>
          <a:prstGeom prst="straightConnector1">
            <a:avLst/>
          </a:prstGeom>
          <a:noFill/>
          <a:ln w="19050" cap="flat" cmpd="sng">
            <a:solidFill>
              <a:schemeClr val="dk2"/>
            </a:solidFill>
            <a:prstDash val="solid"/>
            <a:round/>
            <a:headEnd type="none" w="med" len="med"/>
            <a:tailEnd type="none" w="med" len="med"/>
          </a:ln>
        </p:spPr>
      </p:cxnSp>
      <p:cxnSp>
        <p:nvCxnSpPr>
          <p:cNvPr id="10" name="Google Shape;760;p43">
            <a:extLst>
              <a:ext uri="{FF2B5EF4-FFF2-40B4-BE49-F238E27FC236}">
                <a16:creationId xmlns:a16="http://schemas.microsoft.com/office/drawing/2014/main" id="{D45513BA-1470-B54B-A637-DA9C3C49BF0A}"/>
              </a:ext>
            </a:extLst>
          </p:cNvPr>
          <p:cNvCxnSpPr>
            <a:stCxn id="4" idx="3"/>
            <a:endCxn id="7" idx="1"/>
          </p:cNvCxnSpPr>
          <p:nvPr/>
        </p:nvCxnSpPr>
        <p:spPr>
          <a:xfrm>
            <a:off x="1867168" y="3281867"/>
            <a:ext cx="1006901" cy="242706"/>
          </a:xfrm>
          <a:prstGeom prst="straightConnector1">
            <a:avLst/>
          </a:prstGeom>
          <a:noFill/>
          <a:ln w="19050" cap="flat" cmpd="sng">
            <a:solidFill>
              <a:schemeClr val="dk2"/>
            </a:solidFill>
            <a:prstDash val="solid"/>
            <a:round/>
            <a:headEnd type="none" w="med" len="med"/>
            <a:tailEnd type="none" w="med" len="med"/>
          </a:ln>
        </p:spPr>
      </p:cxnSp>
      <p:cxnSp>
        <p:nvCxnSpPr>
          <p:cNvPr id="11" name="Google Shape;761;p43">
            <a:extLst>
              <a:ext uri="{FF2B5EF4-FFF2-40B4-BE49-F238E27FC236}">
                <a16:creationId xmlns:a16="http://schemas.microsoft.com/office/drawing/2014/main" id="{5C1C026E-E0EE-2C4D-8DCF-468408C0FFEB}"/>
              </a:ext>
            </a:extLst>
          </p:cNvPr>
          <p:cNvCxnSpPr>
            <a:cxnSpLocks/>
            <a:stCxn id="6" idx="2"/>
            <a:endCxn id="7" idx="3"/>
          </p:cNvCxnSpPr>
          <p:nvPr/>
        </p:nvCxnSpPr>
        <p:spPr>
          <a:xfrm flipH="1">
            <a:off x="3297269" y="3027473"/>
            <a:ext cx="944276" cy="497100"/>
          </a:xfrm>
          <a:prstGeom prst="straightConnector1">
            <a:avLst/>
          </a:prstGeom>
          <a:noFill/>
          <a:ln w="19050" cap="flat" cmpd="sng">
            <a:solidFill>
              <a:schemeClr val="dk2"/>
            </a:solidFill>
            <a:prstDash val="solid"/>
            <a:round/>
            <a:headEnd type="none" w="med" len="med"/>
            <a:tailEnd type="none" w="med" len="med"/>
          </a:ln>
        </p:spPr>
      </p:cxnSp>
      <p:cxnSp>
        <p:nvCxnSpPr>
          <p:cNvPr id="13" name="Google Shape;765;p43">
            <a:extLst>
              <a:ext uri="{FF2B5EF4-FFF2-40B4-BE49-F238E27FC236}">
                <a16:creationId xmlns:a16="http://schemas.microsoft.com/office/drawing/2014/main" id="{07F62F5B-D1AF-BB41-A22E-18167CFA258B}"/>
              </a:ext>
            </a:extLst>
          </p:cNvPr>
          <p:cNvCxnSpPr>
            <a:stCxn id="5" idx="3"/>
            <a:endCxn id="8" idx="1"/>
          </p:cNvCxnSpPr>
          <p:nvPr/>
        </p:nvCxnSpPr>
        <p:spPr>
          <a:xfrm>
            <a:off x="2018447" y="4729961"/>
            <a:ext cx="1488456" cy="168600"/>
          </a:xfrm>
          <a:prstGeom prst="straightConnector1">
            <a:avLst/>
          </a:prstGeom>
          <a:noFill/>
          <a:ln w="19050" cap="flat" cmpd="sng">
            <a:solidFill>
              <a:schemeClr val="dk2"/>
            </a:solidFill>
            <a:prstDash val="solid"/>
            <a:round/>
            <a:headEnd type="none" w="med" len="med"/>
            <a:tailEnd type="none" w="med" len="med"/>
          </a:ln>
        </p:spPr>
      </p:cxnSp>
      <p:sp>
        <p:nvSpPr>
          <p:cNvPr id="14" name="Google Shape;769;p43">
            <a:extLst>
              <a:ext uri="{FF2B5EF4-FFF2-40B4-BE49-F238E27FC236}">
                <a16:creationId xmlns:a16="http://schemas.microsoft.com/office/drawing/2014/main" id="{DA3F45E8-B21B-D74E-A19C-E77A47920588}"/>
              </a:ext>
            </a:extLst>
          </p:cNvPr>
          <p:cNvSpPr txBox="1"/>
          <p:nvPr/>
        </p:nvSpPr>
        <p:spPr>
          <a:xfrm>
            <a:off x="445539" y="3027473"/>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59891A80-3F06-5A4F-8C4C-1B504B11FF54}"/>
              </a:ext>
            </a:extLst>
          </p:cNvPr>
          <p:cNvSpPr txBox="1"/>
          <p:nvPr/>
        </p:nvSpPr>
        <p:spPr>
          <a:xfrm>
            <a:off x="445539" y="2836839"/>
            <a:ext cx="1013419" cy="369332"/>
          </a:xfrm>
          <a:prstGeom prst="rect">
            <a:avLst/>
          </a:prstGeom>
          <a:noFill/>
        </p:spPr>
        <p:txBody>
          <a:bodyPr wrap="none" rtlCol="0">
            <a:spAutoFit/>
          </a:bodyPr>
          <a:lstStyle/>
          <a:p>
            <a:r>
              <a:rPr lang="en-US" b="1" spc="100" dirty="0">
                <a:solidFill>
                  <a:schemeClr val="accent6"/>
                </a:solidFill>
              </a:rPr>
              <a:t>VISITED</a:t>
            </a:r>
          </a:p>
        </p:txBody>
      </p:sp>
      <p:sp>
        <p:nvSpPr>
          <p:cNvPr id="16" name="Rectangle 15">
            <a:extLst>
              <a:ext uri="{FF2B5EF4-FFF2-40B4-BE49-F238E27FC236}">
                <a16:creationId xmlns:a16="http://schemas.microsoft.com/office/drawing/2014/main" id="{3A0137C0-563B-E848-9415-F3CA75FFFB8E}"/>
              </a:ext>
            </a:extLst>
          </p:cNvPr>
          <p:cNvSpPr/>
          <p:nvPr/>
        </p:nvSpPr>
        <p:spPr>
          <a:xfrm>
            <a:off x="1390716" y="3057647"/>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83D826-BB23-0C4A-BA1E-D22547F05A89}"/>
              </a:ext>
            </a:extLst>
          </p:cNvPr>
          <p:cNvSpPr/>
          <p:nvPr/>
        </p:nvSpPr>
        <p:spPr>
          <a:xfrm>
            <a:off x="1545208" y="4506248"/>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E339800-C7DC-8044-BF54-0D5458198B23}"/>
              </a:ext>
            </a:extLst>
          </p:cNvPr>
          <p:cNvSpPr/>
          <p:nvPr/>
        </p:nvSpPr>
        <p:spPr>
          <a:xfrm>
            <a:off x="3449591" y="4674848"/>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CD3DA80-28E5-A64A-9FAC-EBC15EE4D705}"/>
              </a:ext>
            </a:extLst>
          </p:cNvPr>
          <p:cNvSpPr/>
          <p:nvPr/>
        </p:nvSpPr>
        <p:spPr>
          <a:xfrm>
            <a:off x="2824031" y="3299353"/>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18FB3B8-EA6E-2747-B79B-4303A0BE5223}"/>
              </a:ext>
            </a:extLst>
          </p:cNvPr>
          <p:cNvSpPr/>
          <p:nvPr/>
        </p:nvSpPr>
        <p:spPr>
          <a:xfrm>
            <a:off x="3979907" y="2635160"/>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Google Shape;763;p43">
            <a:extLst>
              <a:ext uri="{FF2B5EF4-FFF2-40B4-BE49-F238E27FC236}">
                <a16:creationId xmlns:a16="http://schemas.microsoft.com/office/drawing/2014/main" id="{C1028548-7007-444F-9EDC-EBB121C33821}"/>
              </a:ext>
            </a:extLst>
          </p:cNvPr>
          <p:cNvCxnSpPr>
            <a:cxnSpLocks/>
            <a:stCxn id="7" idx="2"/>
            <a:endCxn id="8" idx="0"/>
          </p:cNvCxnSpPr>
          <p:nvPr/>
        </p:nvCxnSpPr>
        <p:spPr>
          <a:xfrm>
            <a:off x="3085669" y="3693173"/>
            <a:ext cx="632834" cy="1036788"/>
          </a:xfrm>
          <a:prstGeom prst="straightConnector1">
            <a:avLst/>
          </a:prstGeom>
          <a:noFill/>
          <a:ln w="19050" cap="flat" cmpd="sng">
            <a:solidFill>
              <a:schemeClr val="dk2"/>
            </a:solidFill>
            <a:prstDash val="solid"/>
            <a:round/>
            <a:headEnd type="none" w="med" len="med"/>
            <a:tailEnd type="none" w="med" len="med"/>
          </a:ln>
        </p:spPr>
      </p:cxnSp>
      <p:sp>
        <p:nvSpPr>
          <p:cNvPr id="22" name="TextBox 21">
            <a:extLst>
              <a:ext uri="{FF2B5EF4-FFF2-40B4-BE49-F238E27FC236}">
                <a16:creationId xmlns:a16="http://schemas.microsoft.com/office/drawing/2014/main" id="{9F037666-C888-654C-BA0D-E5EDF0BA4231}"/>
              </a:ext>
            </a:extLst>
          </p:cNvPr>
          <p:cNvSpPr txBox="1"/>
          <p:nvPr/>
        </p:nvSpPr>
        <p:spPr>
          <a:xfrm>
            <a:off x="741125" y="1219200"/>
            <a:ext cx="1396536" cy="369332"/>
          </a:xfrm>
          <a:prstGeom prst="rect">
            <a:avLst/>
          </a:prstGeom>
          <a:noFill/>
        </p:spPr>
        <p:txBody>
          <a:bodyPr wrap="none" rtlCol="0">
            <a:spAutoFit/>
          </a:bodyPr>
          <a:lstStyle/>
          <a:p>
            <a:r>
              <a:rPr lang="en-US" b="1" spc="100" dirty="0">
                <a:solidFill>
                  <a:schemeClr val="accent5"/>
                </a:solidFill>
              </a:rPr>
              <a:t>PERIMETER</a:t>
            </a:r>
          </a:p>
        </p:txBody>
      </p:sp>
      <p:graphicFrame>
        <p:nvGraphicFramePr>
          <p:cNvPr id="23" name="Table 22">
            <a:extLst>
              <a:ext uri="{FF2B5EF4-FFF2-40B4-BE49-F238E27FC236}">
                <a16:creationId xmlns:a16="http://schemas.microsoft.com/office/drawing/2014/main" id="{7EE516CE-F0CE-6449-93E1-20A7A6192FB5}"/>
              </a:ext>
            </a:extLst>
          </p:cNvPr>
          <p:cNvGraphicFramePr>
            <a:graphicFrameLocks noGrp="1"/>
          </p:cNvGraphicFramePr>
          <p:nvPr>
            <p:extLst>
              <p:ext uri="{D42A27DB-BD31-4B8C-83A1-F6EECF244321}">
                <p14:modId xmlns:p14="http://schemas.microsoft.com/office/powerpoint/2010/main" val="179381545"/>
              </p:ext>
            </p:extLst>
          </p:nvPr>
        </p:nvGraphicFramePr>
        <p:xfrm>
          <a:off x="781867" y="1618101"/>
          <a:ext cx="4643005" cy="568546"/>
        </p:xfrm>
        <a:graphic>
          <a:graphicData uri="http://schemas.openxmlformats.org/drawingml/2006/table">
            <a:tbl>
              <a:tblPr firstRow="1" bandRow="1">
                <a:tableStyleId>{5C22544A-7EE6-4342-B048-85BDC9FD1C3A}</a:tableStyleId>
              </a:tblPr>
              <a:tblGrid>
                <a:gridCol w="4643005">
                  <a:extLst>
                    <a:ext uri="{9D8B030D-6E8A-4147-A177-3AD203B41FA5}">
                      <a16:colId xmlns:a16="http://schemas.microsoft.com/office/drawing/2014/main" val="2691301314"/>
                    </a:ext>
                  </a:extLst>
                </a:gridCol>
              </a:tblGrid>
              <a:tr h="568546">
                <a:tc>
                  <a:txBody>
                    <a:bodyPr/>
                    <a:lstStyle/>
                    <a:p>
                      <a:endParaRPr lang="en-US" dirty="0"/>
                    </a:p>
                  </a:txBody>
                  <a:tcPr>
                    <a:lnL w="12700" cmpd="sng">
                      <a:noFill/>
                    </a:lnL>
                    <a:lnR w="12700" cmpd="sng">
                      <a:noFill/>
                    </a:lnR>
                    <a:lnT w="38100" cap="flat" cmpd="sng" algn="ctr">
                      <a:solidFill>
                        <a:schemeClr val="accent5"/>
                      </a:solidFill>
                      <a:prstDash val="solid"/>
                      <a:round/>
                      <a:headEnd type="none" w="med" len="med"/>
                      <a:tailEnd type="none" w="med" len="med"/>
                    </a:lnT>
                    <a:lnB w="381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091839"/>
                  </a:ext>
                </a:extLst>
              </a:tr>
            </a:tbl>
          </a:graphicData>
        </a:graphic>
      </p:graphicFrame>
      <p:sp>
        <p:nvSpPr>
          <p:cNvPr id="24" name="Left Arrow 23">
            <a:extLst>
              <a:ext uri="{FF2B5EF4-FFF2-40B4-BE49-F238E27FC236}">
                <a16:creationId xmlns:a16="http://schemas.microsoft.com/office/drawing/2014/main" id="{370544A8-19DD-0A4E-86DD-860720EBBCB4}"/>
              </a:ext>
            </a:extLst>
          </p:cNvPr>
          <p:cNvSpPr/>
          <p:nvPr/>
        </p:nvSpPr>
        <p:spPr>
          <a:xfrm>
            <a:off x="513508" y="1763764"/>
            <a:ext cx="268359" cy="277219"/>
          </a:xfrm>
          <a:prstGeom prst="lef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Arrow 24">
            <a:extLst>
              <a:ext uri="{FF2B5EF4-FFF2-40B4-BE49-F238E27FC236}">
                <a16:creationId xmlns:a16="http://schemas.microsoft.com/office/drawing/2014/main" id="{797BD6DD-A2AB-364E-B7B5-144BBE846857}"/>
              </a:ext>
            </a:extLst>
          </p:cNvPr>
          <p:cNvSpPr/>
          <p:nvPr/>
        </p:nvSpPr>
        <p:spPr>
          <a:xfrm>
            <a:off x="5424872" y="1761609"/>
            <a:ext cx="268359" cy="277219"/>
          </a:xfrm>
          <a:prstGeom prst="lef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ontent Placeholder 2">
            <a:extLst>
              <a:ext uri="{FF2B5EF4-FFF2-40B4-BE49-F238E27FC236}">
                <a16:creationId xmlns:a16="http://schemas.microsoft.com/office/drawing/2014/main" id="{78F62F51-629A-8047-BF79-27A40E1D127F}"/>
              </a:ext>
            </a:extLst>
          </p:cNvPr>
          <p:cNvSpPr txBox="1">
            <a:spLocks/>
          </p:cNvSpPr>
          <p:nvPr/>
        </p:nvSpPr>
        <p:spPr bwMode="auto">
          <a:xfrm>
            <a:off x="6471806" y="935182"/>
            <a:ext cx="5471983" cy="5839691"/>
          </a:xfrm>
          <a:prstGeom prst="rect">
            <a:avLst/>
          </a:prstGeom>
          <a:solidFill>
            <a:schemeClr val="bg1">
              <a:lumMod val="95000"/>
            </a:schemeClr>
          </a:solidFill>
          <a:ln w="9525">
            <a:solidFill>
              <a:schemeClr val="tx1"/>
            </a:solidFill>
            <a:miter lim="800000"/>
            <a:headEnd/>
            <a:tailEnd/>
          </a:ln>
        </p:spPr>
        <p:txBody>
          <a:bodyPr vert="horz" wrap="square" lIns="121920" tIns="60960" rIns="121920" bIns="60960" numCol="1" anchor="t" anchorCtr="0" compatLnSpc="1">
            <a:prstTxWarp prst="textNoShape">
              <a:avLst/>
            </a:prstTxWarp>
          </a:bodyPr>
          <a:lstStyle>
            <a:lvl1pPr marL="192881" indent="-192881" algn="l" rtl="0" eaLnBrk="1" fontAlgn="base" hangingPunct="1">
              <a:spcBef>
                <a:spcPct val="20000"/>
              </a:spcBef>
              <a:spcAft>
                <a:spcPct val="0"/>
              </a:spcAft>
              <a:buClr>
                <a:srgbClr val="4B2A85"/>
              </a:buClr>
              <a:buSzPct val="60000"/>
              <a:buFont typeface="Wingdings" panose="05000000000000000000" pitchFamily="2" charset="2"/>
              <a:buChar char="v"/>
              <a:defRPr sz="1600" b="1">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365189" indent="-160735" algn="l" rtl="0" eaLnBrk="1" fontAlgn="base" hangingPunct="1">
              <a:spcBef>
                <a:spcPct val="20000"/>
              </a:spcBef>
              <a:spcAft>
                <a:spcPct val="0"/>
              </a:spcAft>
              <a:buClr>
                <a:srgbClr val="4B2A85"/>
              </a:buClr>
              <a:buSzPct val="110000"/>
              <a:buFont typeface="Wingdings" pitchFamily="2" charset="2"/>
              <a:buChar char="§"/>
              <a:defRPr sz="14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514350" indent="-128588" algn="l" rtl="0" eaLnBrk="1" fontAlgn="base" hangingPunct="1">
              <a:spcBef>
                <a:spcPct val="20000"/>
              </a:spcBef>
              <a:spcAft>
                <a:spcPct val="0"/>
              </a:spcAft>
              <a:buClr>
                <a:srgbClr val="4B2A85"/>
              </a:buClr>
              <a:buSzPct val="80000"/>
              <a:buFont typeface="Arial" panose="020B0604020202020204" pitchFamily="34" charset="0"/>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58368"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812673"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1414463" indent="-128588" algn="l" rtl="0" eaLnBrk="1" fontAlgn="base" hangingPunct="1">
              <a:spcBef>
                <a:spcPct val="20000"/>
              </a:spcBef>
              <a:spcAft>
                <a:spcPct val="0"/>
              </a:spcAft>
              <a:buChar char="»"/>
              <a:defRPr sz="1125">
                <a:solidFill>
                  <a:schemeClr val="tx1"/>
                </a:solidFill>
                <a:latin typeface="Arial" charset="0"/>
              </a:defRPr>
            </a:lvl6pPr>
            <a:lvl7pPr marL="1671638" indent="-128588" algn="l" rtl="0" eaLnBrk="1" fontAlgn="base" hangingPunct="1">
              <a:spcBef>
                <a:spcPct val="20000"/>
              </a:spcBef>
              <a:spcAft>
                <a:spcPct val="0"/>
              </a:spcAft>
              <a:buChar char="»"/>
              <a:defRPr sz="1125">
                <a:solidFill>
                  <a:schemeClr val="tx1"/>
                </a:solidFill>
                <a:latin typeface="Arial" charset="0"/>
              </a:defRPr>
            </a:lvl7pPr>
            <a:lvl8pPr marL="1928813" indent="-128588" algn="l" rtl="0" eaLnBrk="1" fontAlgn="base" hangingPunct="1">
              <a:spcBef>
                <a:spcPct val="20000"/>
              </a:spcBef>
              <a:spcAft>
                <a:spcPct val="0"/>
              </a:spcAft>
              <a:buChar char="»"/>
              <a:defRPr sz="1125">
                <a:solidFill>
                  <a:schemeClr val="tx1"/>
                </a:solidFill>
                <a:latin typeface="Arial" charset="0"/>
              </a:defRPr>
            </a:lvl8pPr>
            <a:lvl9pPr marL="2185988" indent="-128588" algn="l" rtl="0" eaLnBrk="1" fontAlgn="base" hangingPunct="1">
              <a:spcBef>
                <a:spcPct val="20000"/>
              </a:spcBef>
              <a:spcAft>
                <a:spcPct val="0"/>
              </a:spcAft>
              <a:buChar char="»"/>
              <a:defRPr sz="1125">
                <a:solidFill>
                  <a:schemeClr val="tx1"/>
                </a:solidFill>
                <a:latin typeface="Arial" charset="0"/>
              </a:defRPr>
            </a:lvl9pPr>
          </a:lstStyle>
          <a:p>
            <a:pPr marL="0" indent="0">
              <a:lnSpc>
                <a:spcPct val="120000"/>
              </a:lnSpc>
              <a:spcBef>
                <a:spcPts val="0"/>
              </a:spcBef>
              <a:spcAft>
                <a:spcPts val="0"/>
              </a:spcAft>
              <a:buNone/>
            </a:pPr>
            <a:r>
              <a:rPr lang="en-US" sz="1200" b="0" dirty="0">
                <a:solidFill>
                  <a:schemeClr val="accent3"/>
                </a:solidFill>
                <a:latin typeface="Consolas" panose="020B0609020204030204" pitchFamily="49" charset="0"/>
                <a:cs typeface="Consolas" panose="020B0609020204030204" pitchFamily="49" charset="0"/>
              </a:rPr>
              <a:t>   </a:t>
            </a:r>
            <a:r>
              <a:rPr lang="en-US" sz="1200"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solidFill>
                  <a:schemeClr val="accent3"/>
                </a:solidFill>
                <a:latin typeface="Consolas" panose="020B0609020204030204" pitchFamily="49" charset="0"/>
                <a:cs typeface="Consolas" panose="020B0609020204030204" pitchFamily="49" charset="0"/>
              </a:rPr>
              <a:t>  </a:t>
            </a:r>
            <a:r>
              <a:rPr lang="en-US" b="0" dirty="0">
                <a:solidFill>
                  <a:schemeClr val="accent3"/>
                </a:solidFill>
                <a:highlight>
                  <a:srgbClr val="5EE1B2"/>
                </a:highlight>
                <a:latin typeface="Consolas" panose="020B0609020204030204" pitchFamily="49" charset="0"/>
                <a:cs typeface="Consolas" panose="020B0609020204030204" pitchFamily="49" charset="0"/>
              </a:rPr>
              <a:t>Map</a:t>
            </a:r>
            <a:r>
              <a:rPr lang="en-US" b="0" dirty="0">
                <a:highlight>
                  <a:srgbClr val="5EE1B2"/>
                </a:highlight>
                <a:latin typeface="Consolas" panose="020B0609020204030204" pitchFamily="49" charset="0"/>
                <a:cs typeface="Consolas" panose="020B0609020204030204" pitchFamily="49" charset="0"/>
              </a:rPr>
              <a:t>&lt;</a:t>
            </a:r>
            <a:r>
              <a:rPr lang="en-US" b="0" dirty="0">
                <a:solidFill>
                  <a:schemeClr val="accent3"/>
                </a:solidFill>
                <a:highlight>
                  <a:srgbClr val="5EE1B2"/>
                </a:highlight>
                <a:latin typeface="Consolas" panose="020B0609020204030204" pitchFamily="49" charset="0"/>
                <a:cs typeface="Consolas" panose="020B0609020204030204" pitchFamily="49" charset="0"/>
              </a:rPr>
              <a:t>Vertex, Edge</a:t>
            </a:r>
            <a:r>
              <a:rPr lang="en-US" b="0" dirty="0">
                <a:highlight>
                  <a:srgbClr val="5EE1B2"/>
                </a:highlight>
                <a:latin typeface="Consolas" panose="020B0609020204030204" pitchFamily="49" charset="0"/>
                <a:cs typeface="Consolas" panose="020B0609020204030204" pitchFamily="49" charset="0"/>
              </a:rPr>
              <a:t>&gt; </a:t>
            </a:r>
            <a:r>
              <a:rPr lang="en-US" b="0" dirty="0" err="1">
                <a:highlight>
                  <a:srgbClr val="5EE1B2"/>
                </a:highlight>
                <a:latin typeface="Consolas" panose="020B0609020204030204" pitchFamily="49" charset="0"/>
                <a:cs typeface="Consolas" panose="020B0609020204030204" pitchFamily="49" charset="0"/>
              </a:rPr>
              <a:t>edgeTo</a:t>
            </a:r>
            <a:r>
              <a:rPr lang="en-US" b="0" dirty="0">
                <a:highlight>
                  <a:srgbClr val="5EE1B2"/>
                </a:highlight>
                <a:latin typeface="Consolas" panose="020B0609020204030204" pitchFamily="49" charset="0"/>
                <a:cs typeface="Consolas" panose="020B0609020204030204" pitchFamily="49" charset="0"/>
              </a:rPr>
              <a:t> =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highlight>
                  <a:srgbClr val="5EE1B2"/>
                </a:highlight>
                <a:latin typeface="Consolas" panose="020B0609020204030204" pitchFamily="49" charset="0"/>
                <a:cs typeface="Consolas" panose="020B0609020204030204" pitchFamily="49" charset="0"/>
              </a:rPr>
              <a:t>Map</a:t>
            </a:r>
            <a:r>
              <a:rPr lang="en-US" b="0" dirty="0">
                <a:highlight>
                  <a:srgbClr val="5EE1B2"/>
                </a:highlight>
                <a:latin typeface="Consolas" panose="020B0609020204030204" pitchFamily="49" charset="0"/>
                <a:cs typeface="Consolas" panose="020B0609020204030204" pitchFamily="49" charset="0"/>
              </a:rPr>
              <a:t>&lt;</a:t>
            </a:r>
            <a:r>
              <a:rPr lang="en-US" b="0" dirty="0">
                <a:solidFill>
                  <a:schemeClr val="accent3"/>
                </a:solidFill>
                <a:highlight>
                  <a:srgbClr val="5EE1B2"/>
                </a:highlight>
                <a:latin typeface="Consolas" panose="020B0609020204030204" pitchFamily="49" charset="0"/>
                <a:cs typeface="Consolas" panose="020B0609020204030204" pitchFamily="49" charset="0"/>
              </a:rPr>
              <a:t>Vertex, Double</a:t>
            </a:r>
            <a:r>
              <a:rPr lang="en-US" b="0" dirty="0">
                <a:highlight>
                  <a:srgbClr val="5EE1B2"/>
                </a:highlight>
                <a:latin typeface="Consolas" panose="020B0609020204030204" pitchFamily="49" charset="0"/>
                <a:cs typeface="Consolas" panose="020B0609020204030204" pitchFamily="49" charset="0"/>
              </a:rPr>
              <a:t>&gt; </a:t>
            </a:r>
            <a:r>
              <a:rPr lang="en-US" b="0" dirty="0" err="1">
                <a:highlight>
                  <a:srgbClr val="5EE1B2"/>
                </a:highlight>
                <a:latin typeface="Consolas" panose="020B0609020204030204" pitchFamily="49" charset="0"/>
                <a:cs typeface="Consolas" panose="020B0609020204030204" pitchFamily="49" charset="0"/>
              </a:rPr>
              <a:t>distTo</a:t>
            </a:r>
            <a:r>
              <a:rPr lang="en-US" b="0" dirty="0">
                <a:highlight>
                  <a:srgbClr val="5EE1B2"/>
                </a:highlight>
                <a:latin typeface="Consolas" panose="020B0609020204030204" pitchFamily="49" charset="0"/>
                <a:cs typeface="Consolas" panose="020B0609020204030204" pitchFamily="49" charset="0"/>
              </a:rPr>
              <a:t> = ...</a:t>
            </a:r>
          </a:p>
          <a:p>
            <a:pPr marL="0" indent="0">
              <a:lnSpc>
                <a:spcPct val="120000"/>
              </a:lnSpc>
              <a:spcBef>
                <a:spcPts val="0"/>
              </a:spcBef>
              <a:spcAft>
                <a:spcPts val="0"/>
              </a:spcAft>
              <a:buNone/>
            </a:pPr>
            <a:endParaRPr lang="en-US" sz="800"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edgeTo.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(start, </a:t>
            </a:r>
            <a:r>
              <a:rPr lang="en-US" b="0" dirty="0">
                <a:solidFill>
                  <a:schemeClr val="accent5"/>
                </a:solidFill>
                <a:highlight>
                  <a:srgbClr val="5EE1B2"/>
                </a:highlight>
                <a:latin typeface="Consolas" panose="020B0609020204030204" pitchFamily="49" charset="0"/>
                <a:cs typeface="Consolas" panose="020B0609020204030204" pitchFamily="49" charset="0"/>
              </a:rPr>
              <a:t>null</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distTo.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(start, </a:t>
            </a:r>
            <a:r>
              <a:rPr lang="en-US" b="0" dirty="0">
                <a:solidFill>
                  <a:schemeClr val="accent5"/>
                </a:solidFill>
                <a:highlight>
                  <a:srgbClr val="5EE1B2"/>
                </a:highlight>
                <a:latin typeface="Consolas" panose="020B0609020204030204" pitchFamily="49" charset="0"/>
                <a:cs typeface="Consolas" panose="020B0609020204030204" pitchFamily="49" charset="0"/>
              </a:rPr>
              <a:t>0.0</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endParaRPr lang="en-US" sz="800"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while</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perimeter.</a:t>
            </a:r>
            <a:r>
              <a:rPr lang="en-US" dirty="0" err="1">
                <a:latin typeface="Consolas" panose="020B0609020204030204" pitchFamily="49" charset="0"/>
                <a:cs typeface="Consolas" panose="020B0609020204030204" pitchFamily="49" charset="0"/>
              </a:rPr>
              <a:t>isEmpty</a:t>
            </a: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Vertex</a:t>
            </a:r>
            <a:r>
              <a:rPr lang="en-US" b="0" dirty="0">
                <a:latin typeface="Consolas" panose="020B0609020204030204" pitchFamily="49" charset="0"/>
                <a:cs typeface="Consolas" panose="020B0609020204030204" pitchFamily="49" charset="0"/>
              </a:rPr>
              <a:t> from = </a:t>
            </a:r>
            <a:r>
              <a:rPr lang="en-US" b="0" dirty="0" err="1">
                <a:latin typeface="Consolas" panose="020B0609020204030204" pitchFamily="49" charset="0"/>
                <a:cs typeface="Consolas" panose="020B0609020204030204" pitchFamily="49" charset="0"/>
              </a:rPr>
              <a:t>perimeter.</a:t>
            </a:r>
            <a:r>
              <a:rPr lang="en-US" dirty="0" err="1">
                <a:latin typeface="Consolas" panose="020B0609020204030204" pitchFamily="49" charset="0"/>
                <a:cs typeface="Consolas" panose="020B0609020204030204" pitchFamily="49" charset="0"/>
              </a:rPr>
              <a:t>remove</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solidFill>
                  <a:schemeClr val="accent2"/>
                </a:solidFill>
                <a:latin typeface="Consolas" panose="020B0609020204030204" pitchFamily="49" charset="0"/>
                <a:cs typeface="Consolas" panose="020B0609020204030204" pitchFamily="49" charset="0"/>
              </a:rPr>
              <a:t>    for</a:t>
            </a: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Edge</a:t>
            </a:r>
            <a:r>
              <a:rPr lang="en-US" b="0" dirty="0">
                <a:latin typeface="Consolas" panose="020B0609020204030204" pitchFamily="49" charset="0"/>
                <a:cs typeface="Consolas" panose="020B0609020204030204" pitchFamily="49" charset="0"/>
              </a:rPr>
              <a:t> edge : </a:t>
            </a:r>
            <a:r>
              <a:rPr lang="en-US" b="0" dirty="0" err="1">
                <a:latin typeface="Consolas" panose="020B0609020204030204" pitchFamily="49" charset="0"/>
                <a:cs typeface="Consolas" panose="020B0609020204030204" pitchFamily="49" charset="0"/>
              </a:rPr>
              <a:t>graph.</a:t>
            </a:r>
            <a:r>
              <a:rPr lang="en-US" dirty="0" err="1">
                <a:latin typeface="Consolas" panose="020B0609020204030204" pitchFamily="49" charset="0"/>
                <a:cs typeface="Consolas" panose="020B0609020204030204" pitchFamily="49" charset="0"/>
              </a:rPr>
              <a:t>edgesFrom</a:t>
            </a:r>
            <a:r>
              <a:rPr lang="en-US" b="0" dirty="0">
                <a:latin typeface="Consolas" panose="020B0609020204030204" pitchFamily="49" charset="0"/>
                <a:cs typeface="Consolas" panose="020B0609020204030204" pitchFamily="49" charset="0"/>
              </a:rPr>
              <a:t>(from))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Vertex</a:t>
            </a:r>
            <a:r>
              <a:rPr lang="en-US" b="0" dirty="0">
                <a:latin typeface="Consolas" panose="020B0609020204030204" pitchFamily="49" charset="0"/>
                <a:cs typeface="Consolas" panose="020B0609020204030204" pitchFamily="49" charset="0"/>
              </a:rPr>
              <a:t> to = </a:t>
            </a:r>
            <a:r>
              <a:rPr lang="en-US" b="0" dirty="0" err="1">
                <a:latin typeface="Consolas" panose="020B0609020204030204" pitchFamily="49" charset="0"/>
                <a:cs typeface="Consolas" panose="020B0609020204030204" pitchFamily="49" charset="0"/>
              </a:rPr>
              <a:t>edge.</a:t>
            </a:r>
            <a:r>
              <a:rPr lang="en-US" dirty="0" err="1">
                <a:latin typeface="Consolas" panose="020B0609020204030204" pitchFamily="49" charset="0"/>
                <a:cs typeface="Consolas" panose="020B0609020204030204" pitchFamily="49" charset="0"/>
              </a:rPr>
              <a:t>to</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if</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visited.</a:t>
            </a:r>
            <a:r>
              <a:rPr lang="en-US" dirty="0" err="1">
                <a:latin typeface="Consolas" panose="020B0609020204030204" pitchFamily="49" charset="0"/>
                <a:cs typeface="Consolas" panose="020B0609020204030204" pitchFamily="49" charset="0"/>
              </a:rPr>
              <a:t>contains</a:t>
            </a:r>
            <a:r>
              <a:rPr lang="en-US" b="0" dirty="0">
                <a:latin typeface="Consolas" panose="020B0609020204030204" pitchFamily="49" charset="0"/>
                <a:cs typeface="Consolas" panose="020B0609020204030204" pitchFamily="49" charset="0"/>
              </a:rPr>
              <a:t>(to))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edgeTo.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(to, edge);</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distTo.</a:t>
            </a:r>
            <a:r>
              <a:rPr lang="en-US" dirty="0" err="1">
                <a:highlight>
                  <a:srgbClr val="5EE1B2"/>
                </a:highlight>
                <a:latin typeface="Consolas" panose="020B0609020204030204" pitchFamily="49" charset="0"/>
                <a:cs typeface="Consolas" panose="020B0609020204030204" pitchFamily="49" charset="0"/>
              </a:rPr>
              <a:t>put</a:t>
            </a:r>
            <a:r>
              <a:rPr lang="en-US" b="0" dirty="0">
                <a:highlight>
                  <a:srgbClr val="5EE1B2"/>
                </a:highlight>
                <a:latin typeface="Consolas" panose="020B0609020204030204" pitchFamily="49" charset="0"/>
                <a:cs typeface="Consolas" panose="020B0609020204030204" pitchFamily="49" charset="0"/>
              </a:rPr>
              <a:t>(to, </a:t>
            </a:r>
            <a:r>
              <a:rPr lang="en-US" b="0" dirty="0" err="1">
                <a:highlight>
                  <a:srgbClr val="5EE1B2"/>
                </a:highlight>
                <a:latin typeface="Consolas" panose="020B0609020204030204" pitchFamily="49" charset="0"/>
                <a:cs typeface="Consolas" panose="020B0609020204030204" pitchFamily="49" charset="0"/>
              </a:rPr>
              <a:t>distTo.</a:t>
            </a:r>
            <a:r>
              <a:rPr lang="en-US" dirty="0" err="1">
                <a:highlight>
                  <a:srgbClr val="5EE1B2"/>
                </a:highlight>
                <a:latin typeface="Consolas" panose="020B0609020204030204" pitchFamily="49" charset="0"/>
                <a:cs typeface="Consolas" panose="020B0609020204030204" pitchFamily="49" charset="0"/>
              </a:rPr>
              <a:t>get</a:t>
            </a:r>
            <a:r>
              <a:rPr lang="en-US" b="0" dirty="0">
                <a:highlight>
                  <a:srgbClr val="5EE1B2"/>
                </a:highlight>
                <a:latin typeface="Consolas" panose="020B0609020204030204" pitchFamily="49" charset="0"/>
                <a:cs typeface="Consolas" panose="020B0609020204030204" pitchFamily="49" charset="0"/>
              </a:rPr>
              <a:t>(from) + </a:t>
            </a:r>
            <a:r>
              <a:rPr lang="en-US" b="0" dirty="0">
                <a:solidFill>
                  <a:schemeClr val="accent5"/>
                </a:solidFill>
                <a:highlight>
                  <a:srgbClr val="5EE1B2"/>
                </a:highlight>
                <a:latin typeface="Consolas" panose="020B0609020204030204" pitchFamily="49" charset="0"/>
                <a:cs typeface="Consolas" panose="020B0609020204030204" pitchFamily="49" charset="0"/>
              </a:rPr>
              <a:t>1</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perimeter.</a:t>
            </a:r>
            <a:r>
              <a:rPr lang="en-US" dirty="0" err="1">
                <a:latin typeface="Consolas" panose="020B0609020204030204" pitchFamily="49" charset="0"/>
                <a:cs typeface="Consolas" panose="020B0609020204030204" pitchFamily="49" charset="0"/>
              </a:rPr>
              <a:t>add</a:t>
            </a:r>
            <a:r>
              <a:rPr lang="en-US" b="0" dirty="0">
                <a:latin typeface="Consolas" panose="020B0609020204030204" pitchFamily="49" charset="0"/>
                <a:cs typeface="Consolas" panose="020B0609020204030204" pitchFamily="49" charset="0"/>
              </a:rPr>
              <a:t>(to);</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visited.</a:t>
            </a:r>
            <a:r>
              <a:rPr lang="en-US" dirty="0" err="1">
                <a:latin typeface="Consolas" panose="020B0609020204030204" pitchFamily="49" charset="0"/>
                <a:cs typeface="Consolas" panose="020B0609020204030204" pitchFamily="49" charset="0"/>
              </a:rPr>
              <a:t>add</a:t>
            </a:r>
            <a:r>
              <a:rPr lang="en-US" b="0" dirty="0">
                <a:latin typeface="Consolas" panose="020B0609020204030204" pitchFamily="49" charset="0"/>
                <a:cs typeface="Consolas" panose="020B0609020204030204" pitchFamily="49" charset="0"/>
              </a:rPr>
              <a:t>(to);</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highlight>
                  <a:srgbClr val="5EE1B2"/>
                </a:highlight>
                <a:latin typeface="Consolas" panose="020B0609020204030204" pitchFamily="49" charset="0"/>
                <a:cs typeface="Consolas" panose="020B0609020204030204" pitchFamily="49" charset="0"/>
              </a:rPr>
              <a:t>return</a:t>
            </a:r>
            <a:r>
              <a:rPr lang="en-US" b="0" dirty="0">
                <a:highlight>
                  <a:srgbClr val="5EE1B2"/>
                </a:highlight>
                <a:latin typeface="Consolas" panose="020B0609020204030204" pitchFamily="49" charset="0"/>
                <a:cs typeface="Consolas" panose="020B0609020204030204" pitchFamily="49" charset="0"/>
              </a:rPr>
              <a:t> </a:t>
            </a:r>
            <a:r>
              <a:rPr lang="en-US" b="0" dirty="0" err="1">
                <a:highlight>
                  <a:srgbClr val="5EE1B2"/>
                </a:highlight>
                <a:latin typeface="Consolas" panose="020B0609020204030204" pitchFamily="49" charset="0"/>
                <a:cs typeface="Consolas" panose="020B0609020204030204" pitchFamily="49" charset="0"/>
              </a:rPr>
              <a:t>edgeTo</a:t>
            </a:r>
            <a:r>
              <a:rPr lang="en-US" b="0" dirty="0">
                <a:highlight>
                  <a:srgbClr val="5EE1B2"/>
                </a:highlight>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a:t>
            </a:r>
          </a:p>
        </p:txBody>
      </p:sp>
      <p:sp>
        <p:nvSpPr>
          <p:cNvPr id="45" name="TextBox 44">
            <a:extLst>
              <a:ext uri="{FF2B5EF4-FFF2-40B4-BE49-F238E27FC236}">
                <a16:creationId xmlns:a16="http://schemas.microsoft.com/office/drawing/2014/main" id="{53C37E0A-ADB0-314F-8C55-BB75848BAB8F}"/>
              </a:ext>
            </a:extLst>
          </p:cNvPr>
          <p:cNvSpPr txBox="1"/>
          <p:nvPr/>
        </p:nvSpPr>
        <p:spPr>
          <a:xfrm>
            <a:off x="632442" y="4086068"/>
            <a:ext cx="997581" cy="369332"/>
          </a:xfrm>
          <a:prstGeom prst="rect">
            <a:avLst/>
          </a:prstGeom>
          <a:noFill/>
        </p:spPr>
        <p:txBody>
          <a:bodyPr wrap="none" rtlCol="0">
            <a:spAutoFit/>
          </a:bodyPr>
          <a:lstStyle/>
          <a:p>
            <a:r>
              <a:rPr lang="en-US" b="1" spc="100" dirty="0">
                <a:solidFill>
                  <a:schemeClr val="accent2"/>
                </a:solidFill>
              </a:rPr>
              <a:t>E</a:t>
            </a:r>
            <a:r>
              <a:rPr lang="en-US" sz="1600" b="1" spc="100" dirty="0">
                <a:solidFill>
                  <a:schemeClr val="accent2"/>
                </a:solidFill>
              </a:rPr>
              <a:t>DGE</a:t>
            </a:r>
            <a:r>
              <a:rPr lang="en-US" b="1" spc="100" dirty="0">
                <a:solidFill>
                  <a:schemeClr val="accent2"/>
                </a:solidFill>
              </a:rPr>
              <a:t>T</a:t>
            </a:r>
            <a:r>
              <a:rPr lang="en-US" sz="1600" b="1" spc="100" dirty="0">
                <a:solidFill>
                  <a:schemeClr val="accent2"/>
                </a:solidFill>
              </a:rPr>
              <a:t>O</a:t>
            </a:r>
            <a:endParaRPr lang="en-US" b="1" spc="100" dirty="0">
              <a:solidFill>
                <a:schemeClr val="accent2"/>
              </a:solidFill>
            </a:endParaRPr>
          </a:p>
        </p:txBody>
      </p:sp>
      <p:sp>
        <p:nvSpPr>
          <p:cNvPr id="46" name="TextBox 45">
            <a:extLst>
              <a:ext uri="{FF2B5EF4-FFF2-40B4-BE49-F238E27FC236}">
                <a16:creationId xmlns:a16="http://schemas.microsoft.com/office/drawing/2014/main" id="{9B73ADD7-BBF7-0743-BD05-212DF9C953C8}"/>
              </a:ext>
            </a:extLst>
          </p:cNvPr>
          <p:cNvSpPr txBox="1"/>
          <p:nvPr/>
        </p:nvSpPr>
        <p:spPr>
          <a:xfrm>
            <a:off x="1607471" y="2530259"/>
            <a:ext cx="912045" cy="369332"/>
          </a:xfrm>
          <a:prstGeom prst="rect">
            <a:avLst/>
          </a:prstGeom>
          <a:noFill/>
        </p:spPr>
        <p:txBody>
          <a:bodyPr wrap="none" rtlCol="0">
            <a:spAutoFit/>
          </a:bodyPr>
          <a:lstStyle/>
          <a:p>
            <a:r>
              <a:rPr lang="en-US" b="1" spc="100" dirty="0">
                <a:solidFill>
                  <a:srgbClr val="00B0F0"/>
                </a:solidFill>
              </a:rPr>
              <a:t>D</a:t>
            </a:r>
            <a:r>
              <a:rPr lang="en-US" sz="1600" b="1" spc="100" dirty="0">
                <a:solidFill>
                  <a:srgbClr val="00B0F0"/>
                </a:solidFill>
              </a:rPr>
              <a:t>IST</a:t>
            </a:r>
            <a:r>
              <a:rPr lang="en-US" b="1" spc="100" dirty="0">
                <a:solidFill>
                  <a:srgbClr val="00B0F0"/>
                </a:solidFill>
              </a:rPr>
              <a:t>T</a:t>
            </a:r>
            <a:r>
              <a:rPr lang="en-US" sz="1600" b="1" spc="100" dirty="0">
                <a:solidFill>
                  <a:srgbClr val="00B0F0"/>
                </a:solidFill>
              </a:rPr>
              <a:t>O</a:t>
            </a:r>
            <a:endParaRPr lang="en-US" b="1" spc="100" dirty="0">
              <a:solidFill>
                <a:srgbClr val="00B0F0"/>
              </a:solidFill>
            </a:endParaRPr>
          </a:p>
        </p:txBody>
      </p:sp>
      <p:sp>
        <p:nvSpPr>
          <p:cNvPr id="47" name="Content Placeholder 2">
            <a:extLst>
              <a:ext uri="{FF2B5EF4-FFF2-40B4-BE49-F238E27FC236}">
                <a16:creationId xmlns:a16="http://schemas.microsoft.com/office/drawing/2014/main" id="{56ACA740-D54C-574C-946C-B683CFDFA65D}"/>
              </a:ext>
            </a:extLst>
          </p:cNvPr>
          <p:cNvSpPr>
            <a:spLocks noGrp="1"/>
          </p:cNvSpPr>
          <p:nvPr>
            <p:ph idx="1"/>
          </p:nvPr>
        </p:nvSpPr>
        <p:spPr>
          <a:xfrm>
            <a:off x="20428" y="5345987"/>
            <a:ext cx="6223595" cy="1468720"/>
          </a:xfrm>
        </p:spPr>
        <p:txBody>
          <a:bodyPr>
            <a:normAutofit fontScale="92500" lnSpcReduction="20000"/>
          </a:bodyPr>
          <a:lstStyle/>
          <a:p>
            <a:r>
              <a:rPr lang="en-US" sz="2000" dirty="0"/>
              <a:t>The </a:t>
            </a:r>
            <a:r>
              <a:rPr lang="en-US" sz="2000" dirty="0" err="1">
                <a:latin typeface="Consolas" panose="020B0609020204030204" pitchFamily="49" charset="0"/>
                <a:cs typeface="Consolas" panose="020B0609020204030204" pitchFamily="49" charset="0"/>
              </a:rPr>
              <a:t>edgeTo</a:t>
            </a:r>
            <a:r>
              <a:rPr lang="en-US" sz="2000" dirty="0"/>
              <a:t> map stores </a:t>
            </a:r>
            <a:r>
              <a:rPr lang="en-US" sz="2000" b="1" dirty="0" err="1">
                <a:solidFill>
                  <a:schemeClr val="accent2"/>
                </a:solidFill>
              </a:rPr>
              <a:t>backpointers</a:t>
            </a:r>
            <a:r>
              <a:rPr lang="en-US" sz="2000" dirty="0"/>
              <a:t>: each vertex remembers what vertex was used to arrive at it!</a:t>
            </a:r>
          </a:p>
          <a:p>
            <a:r>
              <a:rPr lang="en-US" sz="2000" dirty="0"/>
              <a:t>Note: this code stores </a:t>
            </a:r>
            <a:r>
              <a:rPr lang="en-US" sz="2000" dirty="0">
                <a:latin typeface="Consolas" panose="020B0609020204030204" pitchFamily="49" charset="0"/>
                <a:cs typeface="Consolas" panose="020B0609020204030204" pitchFamily="49" charset="0"/>
              </a:rPr>
              <a:t>visited</a:t>
            </a:r>
            <a:r>
              <a:rPr lang="en-US" sz="2000" dirty="0"/>
              <a:t>, </a:t>
            </a:r>
            <a:r>
              <a:rPr lang="en-US" sz="2000" dirty="0" err="1">
                <a:latin typeface="Consolas" panose="020B0609020204030204" pitchFamily="49" charset="0"/>
                <a:cs typeface="Consolas" panose="020B0609020204030204" pitchFamily="49" charset="0"/>
              </a:rPr>
              <a:t>edgeTo</a:t>
            </a:r>
            <a:r>
              <a:rPr lang="en-US" sz="2000" dirty="0"/>
              <a:t>, and </a:t>
            </a:r>
            <a:r>
              <a:rPr lang="en-US" sz="2000" dirty="0" err="1">
                <a:latin typeface="Consolas" panose="020B0609020204030204" pitchFamily="49" charset="0"/>
                <a:cs typeface="Consolas" panose="020B0609020204030204" pitchFamily="49" charset="0"/>
              </a:rPr>
              <a:t>distTo</a:t>
            </a:r>
            <a:r>
              <a:rPr lang="en-US" sz="2000" dirty="0"/>
              <a:t> as </a:t>
            </a:r>
            <a:r>
              <a:rPr lang="en-US" sz="2000" b="1" dirty="0"/>
              <a:t>external maps </a:t>
            </a:r>
            <a:r>
              <a:rPr lang="en-US" sz="2000" dirty="0"/>
              <a:t>(only drawn on graph for convenience). Another implementation option: store them as fields of the nodes themselves</a:t>
            </a:r>
          </a:p>
        </p:txBody>
      </p:sp>
      <p:cxnSp>
        <p:nvCxnSpPr>
          <p:cNvPr id="49" name="Straight Arrow Connector 48">
            <a:extLst>
              <a:ext uri="{FF2B5EF4-FFF2-40B4-BE49-F238E27FC236}">
                <a16:creationId xmlns:a16="http://schemas.microsoft.com/office/drawing/2014/main" id="{969376DB-37CE-AF40-82B2-75EF5CF44D61}"/>
              </a:ext>
            </a:extLst>
          </p:cNvPr>
          <p:cNvCxnSpPr/>
          <p:nvPr/>
        </p:nvCxnSpPr>
        <p:spPr>
          <a:xfrm flipH="1" flipV="1">
            <a:off x="1621237" y="3845835"/>
            <a:ext cx="109970" cy="72038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AD38E75A-24C7-A349-8186-799C5CB9A968}"/>
              </a:ext>
            </a:extLst>
          </p:cNvPr>
          <p:cNvCxnSpPr>
            <a:cxnSpLocks/>
          </p:cNvCxnSpPr>
          <p:nvPr/>
        </p:nvCxnSpPr>
        <p:spPr>
          <a:xfrm flipH="1" flipV="1">
            <a:off x="2148960" y="3429000"/>
            <a:ext cx="730968" cy="17987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D6A107F-D95E-B149-9CF5-2D1A8FC3F5F6}"/>
              </a:ext>
            </a:extLst>
          </p:cNvPr>
          <p:cNvCxnSpPr>
            <a:cxnSpLocks/>
          </p:cNvCxnSpPr>
          <p:nvPr/>
        </p:nvCxnSpPr>
        <p:spPr>
          <a:xfrm flipH="1" flipV="1">
            <a:off x="2757549" y="4718176"/>
            <a:ext cx="749354" cy="11003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77B3C9F-3D9F-7F45-B4AB-50FAF102B357}"/>
              </a:ext>
            </a:extLst>
          </p:cNvPr>
          <p:cNvCxnSpPr>
            <a:cxnSpLocks/>
          </p:cNvCxnSpPr>
          <p:nvPr/>
        </p:nvCxnSpPr>
        <p:spPr>
          <a:xfrm flipH="1">
            <a:off x="3677099" y="3039258"/>
            <a:ext cx="662457" cy="38697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B1C964C-49EB-3340-B2F9-AEA03235F22A}"/>
              </a:ext>
            </a:extLst>
          </p:cNvPr>
          <p:cNvSpPr txBox="1"/>
          <p:nvPr/>
        </p:nvSpPr>
        <p:spPr>
          <a:xfrm>
            <a:off x="1878221" y="2828234"/>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0</a:t>
            </a:r>
          </a:p>
        </p:txBody>
      </p:sp>
      <p:sp>
        <p:nvSpPr>
          <p:cNvPr id="58" name="TextBox 57">
            <a:extLst>
              <a:ext uri="{FF2B5EF4-FFF2-40B4-BE49-F238E27FC236}">
                <a16:creationId xmlns:a16="http://schemas.microsoft.com/office/drawing/2014/main" id="{BA4B23A1-1E5B-2241-9E62-7E0821AF47DB}"/>
              </a:ext>
            </a:extLst>
          </p:cNvPr>
          <p:cNvSpPr txBox="1"/>
          <p:nvPr/>
        </p:nvSpPr>
        <p:spPr>
          <a:xfrm>
            <a:off x="2051921" y="4256994"/>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59" name="TextBox 58">
            <a:extLst>
              <a:ext uri="{FF2B5EF4-FFF2-40B4-BE49-F238E27FC236}">
                <a16:creationId xmlns:a16="http://schemas.microsoft.com/office/drawing/2014/main" id="{138E6D7A-9463-8B4D-9274-75369B5B2CCA}"/>
              </a:ext>
            </a:extLst>
          </p:cNvPr>
          <p:cNvSpPr txBox="1"/>
          <p:nvPr/>
        </p:nvSpPr>
        <p:spPr>
          <a:xfrm>
            <a:off x="3321239" y="3021505"/>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60" name="TextBox 59">
            <a:extLst>
              <a:ext uri="{FF2B5EF4-FFF2-40B4-BE49-F238E27FC236}">
                <a16:creationId xmlns:a16="http://schemas.microsoft.com/office/drawing/2014/main" id="{2C400F2B-5627-484E-8A59-960CBFF835AB}"/>
              </a:ext>
            </a:extLst>
          </p:cNvPr>
          <p:cNvSpPr txBox="1"/>
          <p:nvPr/>
        </p:nvSpPr>
        <p:spPr>
          <a:xfrm>
            <a:off x="3960525" y="4441660"/>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2</a:t>
            </a:r>
          </a:p>
        </p:txBody>
      </p:sp>
      <p:sp>
        <p:nvSpPr>
          <p:cNvPr id="61" name="TextBox 60">
            <a:extLst>
              <a:ext uri="{FF2B5EF4-FFF2-40B4-BE49-F238E27FC236}">
                <a16:creationId xmlns:a16="http://schemas.microsoft.com/office/drawing/2014/main" id="{935D482F-E74B-214B-A06B-58A03DED03ED}"/>
              </a:ext>
            </a:extLst>
          </p:cNvPr>
          <p:cNvSpPr txBox="1"/>
          <p:nvPr/>
        </p:nvSpPr>
        <p:spPr>
          <a:xfrm>
            <a:off x="4492728" y="2433962"/>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2</a:t>
            </a:r>
          </a:p>
        </p:txBody>
      </p:sp>
      <p:sp>
        <p:nvSpPr>
          <p:cNvPr id="62" name="TextBox 61">
            <a:extLst>
              <a:ext uri="{FF2B5EF4-FFF2-40B4-BE49-F238E27FC236}">
                <a16:creationId xmlns:a16="http://schemas.microsoft.com/office/drawing/2014/main" id="{9A747597-0F71-2249-80D6-5B048E739A40}"/>
              </a:ext>
            </a:extLst>
          </p:cNvPr>
          <p:cNvSpPr txBox="1"/>
          <p:nvPr/>
        </p:nvSpPr>
        <p:spPr>
          <a:xfrm>
            <a:off x="2213903" y="1719122"/>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a:t>
            </a:r>
          </a:p>
        </p:txBody>
      </p:sp>
      <p:sp>
        <p:nvSpPr>
          <p:cNvPr id="63" name="TextBox 62">
            <a:extLst>
              <a:ext uri="{FF2B5EF4-FFF2-40B4-BE49-F238E27FC236}">
                <a16:creationId xmlns:a16="http://schemas.microsoft.com/office/drawing/2014/main" id="{7D76EACC-891D-0145-86B1-123921B21FFD}"/>
              </a:ext>
            </a:extLst>
          </p:cNvPr>
          <p:cNvSpPr txBox="1"/>
          <p:nvPr/>
        </p:nvSpPr>
        <p:spPr>
          <a:xfrm>
            <a:off x="2602296" y="1721839"/>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B</a:t>
            </a:r>
          </a:p>
        </p:txBody>
      </p:sp>
      <p:sp>
        <p:nvSpPr>
          <p:cNvPr id="64" name="TextBox 63">
            <a:extLst>
              <a:ext uri="{FF2B5EF4-FFF2-40B4-BE49-F238E27FC236}">
                <a16:creationId xmlns:a16="http://schemas.microsoft.com/office/drawing/2014/main" id="{209B59CE-AB69-9142-8054-2395F0185340}"/>
              </a:ext>
            </a:extLst>
          </p:cNvPr>
          <p:cNvSpPr txBox="1"/>
          <p:nvPr/>
        </p:nvSpPr>
        <p:spPr>
          <a:xfrm>
            <a:off x="2981844" y="1722600"/>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C</a:t>
            </a:r>
          </a:p>
        </p:txBody>
      </p:sp>
      <p:sp>
        <p:nvSpPr>
          <p:cNvPr id="65" name="TextBox 64">
            <a:extLst>
              <a:ext uri="{FF2B5EF4-FFF2-40B4-BE49-F238E27FC236}">
                <a16:creationId xmlns:a16="http://schemas.microsoft.com/office/drawing/2014/main" id="{51043170-4B17-F140-9D08-81E084CB57C9}"/>
              </a:ext>
            </a:extLst>
          </p:cNvPr>
          <p:cNvSpPr txBox="1"/>
          <p:nvPr/>
        </p:nvSpPr>
        <p:spPr>
          <a:xfrm>
            <a:off x="3366291" y="1719151"/>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D</a:t>
            </a:r>
          </a:p>
        </p:txBody>
      </p:sp>
      <p:sp>
        <p:nvSpPr>
          <p:cNvPr id="66" name="TextBox 65">
            <a:extLst>
              <a:ext uri="{FF2B5EF4-FFF2-40B4-BE49-F238E27FC236}">
                <a16:creationId xmlns:a16="http://schemas.microsoft.com/office/drawing/2014/main" id="{E80B0114-1AFD-2442-A528-60476043A3F3}"/>
              </a:ext>
            </a:extLst>
          </p:cNvPr>
          <p:cNvSpPr txBox="1"/>
          <p:nvPr/>
        </p:nvSpPr>
        <p:spPr>
          <a:xfrm>
            <a:off x="3754684" y="1721868"/>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E</a:t>
            </a:r>
          </a:p>
        </p:txBody>
      </p:sp>
    </p:spTree>
    <p:extLst>
      <p:ext uri="{BB962C8B-B14F-4D97-AF65-F5344CB8AC3E}">
        <p14:creationId xmlns:p14="http://schemas.microsoft.com/office/powerpoint/2010/main" val="117182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p:tgtEl>
                                          <p:spTgt spid="62"/>
                                        </p:tgtEl>
                                        <p:attrNameLst>
                                          <p:attrName>ppt_x</p:attrName>
                                        </p:attrNameLst>
                                      </p:cBhvr>
                                      <p:tavLst>
                                        <p:tav tm="0">
                                          <p:val>
                                            <p:strVal val="#ppt_x+#ppt_w*1.125000"/>
                                          </p:val>
                                        </p:tav>
                                        <p:tav tm="100000">
                                          <p:val>
                                            <p:strVal val="#ppt_x"/>
                                          </p:val>
                                        </p:tav>
                                      </p:tavLst>
                                    </p:anim>
                                    <p:animEffect transition="in" filter="wipe(left)">
                                      <p:cBhvr>
                                        <p:cTn id="8" dur="500"/>
                                        <p:tgtEl>
                                          <p:spTgt spid="62"/>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fade">
                                      <p:cBhvr>
                                        <p:cTn id="12" dur="500"/>
                                        <p:tgtEl>
                                          <p:spTgt spid="5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xit" presetSubtype="8" fill="hold" grpId="1" nodeType="clickEffect">
                                  <p:stCondLst>
                                    <p:cond delay="0"/>
                                  </p:stCondLst>
                                  <p:childTnLst>
                                    <p:anim calcmode="lin" valueType="num">
                                      <p:cBhvr additive="base">
                                        <p:cTn id="25" dur="500"/>
                                        <p:tgtEl>
                                          <p:spTgt spid="62"/>
                                        </p:tgtEl>
                                        <p:attrNameLst>
                                          <p:attrName>ppt_x</p:attrName>
                                        </p:attrNameLst>
                                      </p:cBhvr>
                                      <p:tavLst>
                                        <p:tav tm="0">
                                          <p:val>
                                            <p:strVal val="ppt_x"/>
                                          </p:val>
                                        </p:tav>
                                        <p:tav tm="100000">
                                          <p:val>
                                            <p:strVal val="0-ppt_w/2"/>
                                          </p:val>
                                        </p:tav>
                                      </p:tavLst>
                                    </p:anim>
                                    <p:anim calcmode="lin" valueType="num">
                                      <p:cBhvr additive="base">
                                        <p:cTn id="26" dur="500"/>
                                        <p:tgtEl>
                                          <p:spTgt spid="62"/>
                                        </p:tgtEl>
                                        <p:attrNameLst>
                                          <p:attrName>ppt_y</p:attrName>
                                        </p:attrNameLst>
                                      </p:cBhvr>
                                      <p:tavLst>
                                        <p:tav tm="0">
                                          <p:val>
                                            <p:strVal val="ppt_y"/>
                                          </p:val>
                                        </p:tav>
                                        <p:tav tm="100000">
                                          <p:val>
                                            <p:strVal val="ppt_y"/>
                                          </p:val>
                                        </p:tav>
                                      </p:tavLst>
                                    </p:anim>
                                    <p:set>
                                      <p:cBhvr>
                                        <p:cTn id="27" dur="1" fill="hold">
                                          <p:stCondLst>
                                            <p:cond delay="499"/>
                                          </p:stCondLst>
                                        </p:cTn>
                                        <p:tgtEl>
                                          <p:spTgt spid="62"/>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500"/>
                                        <p:tgtEl>
                                          <p:spTgt spid="45"/>
                                        </p:tgtEl>
                                      </p:cBhvr>
                                    </p:animEffect>
                                  </p:childTnLst>
                                </p:cTn>
                              </p:par>
                            </p:childTnLst>
                          </p:cTn>
                        </p:par>
                        <p:par>
                          <p:cTn id="31" fill="hold">
                            <p:stCondLst>
                              <p:cond delay="500"/>
                            </p:stCondLst>
                            <p:childTnLst>
                              <p:par>
                                <p:cTn id="32" presetID="12" presetClass="entr" presetSubtype="2" fill="hold" grpId="0" nodeType="afterEffect">
                                  <p:stCondLst>
                                    <p:cond delay="0"/>
                                  </p:stCondLst>
                                  <p:childTnLst>
                                    <p:set>
                                      <p:cBhvr>
                                        <p:cTn id="33" dur="1" fill="hold">
                                          <p:stCondLst>
                                            <p:cond delay="0"/>
                                          </p:stCondLst>
                                        </p:cTn>
                                        <p:tgtEl>
                                          <p:spTgt spid="63"/>
                                        </p:tgtEl>
                                        <p:attrNameLst>
                                          <p:attrName>style.visibility</p:attrName>
                                        </p:attrNameLst>
                                      </p:cBhvr>
                                      <p:to>
                                        <p:strVal val="visible"/>
                                      </p:to>
                                    </p:set>
                                    <p:anim calcmode="lin" valueType="num">
                                      <p:cBhvr additive="base">
                                        <p:cTn id="34" dur="500"/>
                                        <p:tgtEl>
                                          <p:spTgt spid="63"/>
                                        </p:tgtEl>
                                        <p:attrNameLst>
                                          <p:attrName>ppt_x</p:attrName>
                                        </p:attrNameLst>
                                      </p:cBhvr>
                                      <p:tavLst>
                                        <p:tav tm="0">
                                          <p:val>
                                            <p:strVal val="#ppt_x+#ppt_w*1.125000"/>
                                          </p:val>
                                        </p:tav>
                                        <p:tav tm="100000">
                                          <p:val>
                                            <p:strVal val="#ppt_x"/>
                                          </p:val>
                                        </p:tav>
                                      </p:tavLst>
                                    </p:anim>
                                    <p:animEffect transition="in" filter="wipe(left)">
                                      <p:cBhvr>
                                        <p:cTn id="35" dur="500"/>
                                        <p:tgtEl>
                                          <p:spTgt spid="63"/>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500"/>
                                        <p:tgtEl>
                                          <p:spTgt spid="58"/>
                                        </p:tgtEl>
                                      </p:cBhvr>
                                    </p:animEffect>
                                  </p:childTnLst>
                                </p:cTn>
                              </p:par>
                              <p:par>
                                <p:cTn id="43" presetID="10"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500"/>
                                        <p:tgtEl>
                                          <p:spTgt spid="49"/>
                                        </p:tgtEl>
                                      </p:cBhvr>
                                    </p:animEffect>
                                  </p:childTnLst>
                                </p:cTn>
                              </p:par>
                            </p:childTnLst>
                          </p:cTn>
                        </p:par>
                        <p:par>
                          <p:cTn id="46" fill="hold">
                            <p:stCondLst>
                              <p:cond delay="1500"/>
                            </p:stCondLst>
                            <p:childTnLst>
                              <p:par>
                                <p:cTn id="47" presetID="12" presetClass="entr" presetSubtype="2" fill="hold" grpId="0" nodeType="afterEffect">
                                  <p:stCondLst>
                                    <p:cond delay="0"/>
                                  </p:stCondLst>
                                  <p:childTnLst>
                                    <p:set>
                                      <p:cBhvr>
                                        <p:cTn id="48" dur="1" fill="hold">
                                          <p:stCondLst>
                                            <p:cond delay="0"/>
                                          </p:stCondLst>
                                        </p:cTn>
                                        <p:tgtEl>
                                          <p:spTgt spid="64"/>
                                        </p:tgtEl>
                                        <p:attrNameLst>
                                          <p:attrName>style.visibility</p:attrName>
                                        </p:attrNameLst>
                                      </p:cBhvr>
                                      <p:to>
                                        <p:strVal val="visible"/>
                                      </p:to>
                                    </p:set>
                                    <p:anim calcmode="lin" valueType="num">
                                      <p:cBhvr additive="base">
                                        <p:cTn id="49" dur="500"/>
                                        <p:tgtEl>
                                          <p:spTgt spid="64"/>
                                        </p:tgtEl>
                                        <p:attrNameLst>
                                          <p:attrName>ppt_x</p:attrName>
                                        </p:attrNameLst>
                                      </p:cBhvr>
                                      <p:tavLst>
                                        <p:tav tm="0">
                                          <p:val>
                                            <p:strVal val="#ppt_x+#ppt_w*1.125000"/>
                                          </p:val>
                                        </p:tav>
                                        <p:tav tm="100000">
                                          <p:val>
                                            <p:strVal val="#ppt_x"/>
                                          </p:val>
                                        </p:tav>
                                      </p:tavLst>
                                    </p:anim>
                                    <p:animEffect transition="in" filter="wipe(left)">
                                      <p:cBhvr>
                                        <p:cTn id="50" dur="500"/>
                                        <p:tgtEl>
                                          <p:spTgt spid="64"/>
                                        </p:tgtEl>
                                      </p:cBhvr>
                                    </p:animEffect>
                                  </p:childTnLst>
                                </p:cTn>
                              </p:par>
                            </p:childTnLst>
                          </p:cTn>
                        </p:par>
                        <p:par>
                          <p:cTn id="51" fill="hold">
                            <p:stCondLst>
                              <p:cond delay="2000"/>
                            </p:stCondLst>
                            <p:childTnLst>
                              <p:par>
                                <p:cTn id="52" presetID="10" presetClass="entr" presetSubtype="0" fill="hold" grpId="0"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fade">
                                      <p:cBhvr>
                                        <p:cTn id="57" dur="500"/>
                                        <p:tgtEl>
                                          <p:spTgt spid="59"/>
                                        </p:tgtEl>
                                      </p:cBhvr>
                                    </p:animEffect>
                                  </p:childTnLst>
                                </p:cTn>
                              </p:par>
                              <p:par>
                                <p:cTn id="58" presetID="10" presetClass="entr" presetSubtype="0" fill="hold" nodeType="with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500"/>
                                        <p:tgtEl>
                                          <p:spTgt spid="50"/>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xit" presetSubtype="8" fill="hold" grpId="1" nodeType="clickEffect">
                                  <p:stCondLst>
                                    <p:cond delay="0"/>
                                  </p:stCondLst>
                                  <p:childTnLst>
                                    <p:anim calcmode="lin" valueType="num">
                                      <p:cBhvr additive="base">
                                        <p:cTn id="64" dur="500"/>
                                        <p:tgtEl>
                                          <p:spTgt spid="63"/>
                                        </p:tgtEl>
                                        <p:attrNameLst>
                                          <p:attrName>ppt_x</p:attrName>
                                        </p:attrNameLst>
                                      </p:cBhvr>
                                      <p:tavLst>
                                        <p:tav tm="0">
                                          <p:val>
                                            <p:strVal val="ppt_x"/>
                                          </p:val>
                                        </p:tav>
                                        <p:tav tm="100000">
                                          <p:val>
                                            <p:strVal val="0-ppt_w/2"/>
                                          </p:val>
                                        </p:tav>
                                      </p:tavLst>
                                    </p:anim>
                                    <p:anim calcmode="lin" valueType="num">
                                      <p:cBhvr additive="base">
                                        <p:cTn id="65" dur="500"/>
                                        <p:tgtEl>
                                          <p:spTgt spid="63"/>
                                        </p:tgtEl>
                                        <p:attrNameLst>
                                          <p:attrName>ppt_y</p:attrName>
                                        </p:attrNameLst>
                                      </p:cBhvr>
                                      <p:tavLst>
                                        <p:tav tm="0">
                                          <p:val>
                                            <p:strVal val="ppt_y"/>
                                          </p:val>
                                        </p:tav>
                                        <p:tav tm="100000">
                                          <p:val>
                                            <p:strVal val="ppt_y"/>
                                          </p:val>
                                        </p:tav>
                                      </p:tavLst>
                                    </p:anim>
                                    <p:set>
                                      <p:cBhvr>
                                        <p:cTn id="66" dur="1" fill="hold">
                                          <p:stCondLst>
                                            <p:cond delay="499"/>
                                          </p:stCondLst>
                                        </p:cTn>
                                        <p:tgtEl>
                                          <p:spTgt spid="63"/>
                                        </p:tgtEl>
                                        <p:attrNameLst>
                                          <p:attrName>style.visibility</p:attrName>
                                        </p:attrNameLst>
                                      </p:cBhvr>
                                      <p:to>
                                        <p:strVal val="hidden"/>
                                      </p:to>
                                    </p:set>
                                  </p:childTnLst>
                                </p:cTn>
                              </p:par>
                            </p:childTnLst>
                          </p:cTn>
                        </p:par>
                        <p:par>
                          <p:cTn id="67" fill="hold">
                            <p:stCondLst>
                              <p:cond delay="500"/>
                            </p:stCondLst>
                            <p:childTnLst>
                              <p:par>
                                <p:cTn id="68" presetID="12" presetClass="entr" presetSubtype="2" fill="hold" grpId="0" nodeType="afterEffect">
                                  <p:stCondLst>
                                    <p:cond delay="0"/>
                                  </p:stCondLst>
                                  <p:childTnLst>
                                    <p:set>
                                      <p:cBhvr>
                                        <p:cTn id="69" dur="1" fill="hold">
                                          <p:stCondLst>
                                            <p:cond delay="0"/>
                                          </p:stCondLst>
                                        </p:cTn>
                                        <p:tgtEl>
                                          <p:spTgt spid="65"/>
                                        </p:tgtEl>
                                        <p:attrNameLst>
                                          <p:attrName>style.visibility</p:attrName>
                                        </p:attrNameLst>
                                      </p:cBhvr>
                                      <p:to>
                                        <p:strVal val="visible"/>
                                      </p:to>
                                    </p:set>
                                    <p:anim calcmode="lin" valueType="num">
                                      <p:cBhvr additive="base">
                                        <p:cTn id="70" dur="500"/>
                                        <p:tgtEl>
                                          <p:spTgt spid="65"/>
                                        </p:tgtEl>
                                        <p:attrNameLst>
                                          <p:attrName>ppt_x</p:attrName>
                                        </p:attrNameLst>
                                      </p:cBhvr>
                                      <p:tavLst>
                                        <p:tav tm="0">
                                          <p:val>
                                            <p:strVal val="#ppt_x+#ppt_w*1.125000"/>
                                          </p:val>
                                        </p:tav>
                                        <p:tav tm="100000">
                                          <p:val>
                                            <p:strVal val="#ppt_x"/>
                                          </p:val>
                                        </p:tav>
                                      </p:tavLst>
                                    </p:anim>
                                    <p:animEffect transition="in" filter="wipe(left)">
                                      <p:cBhvr>
                                        <p:cTn id="71" dur="500"/>
                                        <p:tgtEl>
                                          <p:spTgt spid="65"/>
                                        </p:tgtEl>
                                      </p:cBhvr>
                                    </p:animEffect>
                                  </p:childTnLst>
                                </p:cTn>
                              </p:par>
                            </p:childTnLst>
                          </p:cTn>
                        </p:par>
                        <p:par>
                          <p:cTn id="72" fill="hold">
                            <p:stCondLst>
                              <p:cond delay="1000"/>
                            </p:stCondLst>
                            <p:childTnLst>
                              <p:par>
                                <p:cTn id="73" presetID="10" presetClass="entr" presetSubtype="0" fill="hold" grpId="0"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0"/>
                                        </p:tgtEl>
                                        <p:attrNameLst>
                                          <p:attrName>style.visibility</p:attrName>
                                        </p:attrNameLst>
                                      </p:cBhvr>
                                      <p:to>
                                        <p:strVal val="visible"/>
                                      </p:to>
                                    </p:set>
                                    <p:animEffect transition="in" filter="fade">
                                      <p:cBhvr>
                                        <p:cTn id="78" dur="500"/>
                                        <p:tgtEl>
                                          <p:spTgt spid="60"/>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500"/>
                                        <p:tgtEl>
                                          <p:spTgt spid="53"/>
                                        </p:tgtEl>
                                      </p:cBhvr>
                                    </p:animEffect>
                                  </p:childTnLst>
                                </p:cTn>
                              </p:par>
                            </p:childTnLst>
                          </p:cTn>
                        </p:par>
                      </p:childTnLst>
                    </p:cTn>
                  </p:par>
                  <p:par>
                    <p:cTn id="82" fill="hold">
                      <p:stCondLst>
                        <p:cond delay="indefinite"/>
                      </p:stCondLst>
                      <p:childTnLst>
                        <p:par>
                          <p:cTn id="83" fill="hold">
                            <p:stCondLst>
                              <p:cond delay="0"/>
                            </p:stCondLst>
                            <p:childTnLst>
                              <p:par>
                                <p:cTn id="84" presetID="2" presetClass="exit" presetSubtype="8" fill="hold" grpId="1" nodeType="clickEffect">
                                  <p:stCondLst>
                                    <p:cond delay="0"/>
                                  </p:stCondLst>
                                  <p:childTnLst>
                                    <p:anim calcmode="lin" valueType="num">
                                      <p:cBhvr additive="base">
                                        <p:cTn id="85" dur="500"/>
                                        <p:tgtEl>
                                          <p:spTgt spid="64"/>
                                        </p:tgtEl>
                                        <p:attrNameLst>
                                          <p:attrName>ppt_x</p:attrName>
                                        </p:attrNameLst>
                                      </p:cBhvr>
                                      <p:tavLst>
                                        <p:tav tm="0">
                                          <p:val>
                                            <p:strVal val="ppt_x"/>
                                          </p:val>
                                        </p:tav>
                                        <p:tav tm="100000">
                                          <p:val>
                                            <p:strVal val="0-ppt_w/2"/>
                                          </p:val>
                                        </p:tav>
                                      </p:tavLst>
                                    </p:anim>
                                    <p:anim calcmode="lin" valueType="num">
                                      <p:cBhvr additive="base">
                                        <p:cTn id="86" dur="500"/>
                                        <p:tgtEl>
                                          <p:spTgt spid="64"/>
                                        </p:tgtEl>
                                        <p:attrNameLst>
                                          <p:attrName>ppt_y</p:attrName>
                                        </p:attrNameLst>
                                      </p:cBhvr>
                                      <p:tavLst>
                                        <p:tav tm="0">
                                          <p:val>
                                            <p:strVal val="ppt_y"/>
                                          </p:val>
                                        </p:tav>
                                        <p:tav tm="100000">
                                          <p:val>
                                            <p:strVal val="ppt_y"/>
                                          </p:val>
                                        </p:tav>
                                      </p:tavLst>
                                    </p:anim>
                                    <p:set>
                                      <p:cBhvr>
                                        <p:cTn id="87" dur="1" fill="hold">
                                          <p:stCondLst>
                                            <p:cond delay="499"/>
                                          </p:stCondLst>
                                        </p:cTn>
                                        <p:tgtEl>
                                          <p:spTgt spid="64"/>
                                        </p:tgtEl>
                                        <p:attrNameLst>
                                          <p:attrName>style.visibility</p:attrName>
                                        </p:attrNameLst>
                                      </p:cBhvr>
                                      <p:to>
                                        <p:strVal val="hidden"/>
                                      </p:to>
                                    </p:set>
                                  </p:childTnLst>
                                </p:cTn>
                              </p:par>
                            </p:childTnLst>
                          </p:cTn>
                        </p:par>
                        <p:par>
                          <p:cTn id="88" fill="hold">
                            <p:stCondLst>
                              <p:cond delay="500"/>
                            </p:stCondLst>
                            <p:childTnLst>
                              <p:par>
                                <p:cTn id="89" presetID="12" presetClass="entr" presetSubtype="2" fill="hold" grpId="0" nodeType="afterEffect">
                                  <p:stCondLst>
                                    <p:cond delay="0"/>
                                  </p:stCondLst>
                                  <p:childTnLst>
                                    <p:set>
                                      <p:cBhvr>
                                        <p:cTn id="90" dur="1" fill="hold">
                                          <p:stCondLst>
                                            <p:cond delay="0"/>
                                          </p:stCondLst>
                                        </p:cTn>
                                        <p:tgtEl>
                                          <p:spTgt spid="66"/>
                                        </p:tgtEl>
                                        <p:attrNameLst>
                                          <p:attrName>style.visibility</p:attrName>
                                        </p:attrNameLst>
                                      </p:cBhvr>
                                      <p:to>
                                        <p:strVal val="visible"/>
                                      </p:to>
                                    </p:set>
                                    <p:anim calcmode="lin" valueType="num">
                                      <p:cBhvr additive="base">
                                        <p:cTn id="91" dur="500"/>
                                        <p:tgtEl>
                                          <p:spTgt spid="66"/>
                                        </p:tgtEl>
                                        <p:attrNameLst>
                                          <p:attrName>ppt_x</p:attrName>
                                        </p:attrNameLst>
                                      </p:cBhvr>
                                      <p:tavLst>
                                        <p:tav tm="0">
                                          <p:val>
                                            <p:strVal val="#ppt_x+#ppt_w*1.125000"/>
                                          </p:val>
                                        </p:tav>
                                        <p:tav tm="100000">
                                          <p:val>
                                            <p:strVal val="#ppt_x"/>
                                          </p:val>
                                        </p:tav>
                                      </p:tavLst>
                                    </p:anim>
                                    <p:animEffect transition="in" filter="wipe(left)">
                                      <p:cBhvr>
                                        <p:cTn id="92" dur="500"/>
                                        <p:tgtEl>
                                          <p:spTgt spid="66"/>
                                        </p:tgtEl>
                                      </p:cBhvr>
                                    </p:animEffect>
                                  </p:childTnLst>
                                </p:cTn>
                              </p:par>
                            </p:childTnLst>
                          </p:cTn>
                        </p:par>
                        <p:par>
                          <p:cTn id="93" fill="hold">
                            <p:stCondLst>
                              <p:cond delay="1000"/>
                            </p:stCondLst>
                            <p:childTnLst>
                              <p:par>
                                <p:cTn id="94" presetID="10" presetClass="entr" presetSubtype="0" fill="hold" grpId="0"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500"/>
                                        <p:tgtEl>
                                          <p:spTgt spid="61"/>
                                        </p:tgtEl>
                                      </p:cBhvr>
                                    </p:animEffect>
                                  </p:childTnLst>
                                </p:cTn>
                              </p:par>
                              <p:par>
                                <p:cTn id="100" presetID="10" presetClass="entr" presetSubtype="0" fill="hold" nodeType="with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fade">
                                      <p:cBhvr>
                                        <p:cTn id="102" dur="500"/>
                                        <p:tgtEl>
                                          <p:spTgt spid="55"/>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xit" presetSubtype="8" fill="hold" grpId="1" nodeType="clickEffect">
                                  <p:stCondLst>
                                    <p:cond delay="0"/>
                                  </p:stCondLst>
                                  <p:childTnLst>
                                    <p:anim calcmode="lin" valueType="num">
                                      <p:cBhvr additive="base">
                                        <p:cTn id="106" dur="500"/>
                                        <p:tgtEl>
                                          <p:spTgt spid="65"/>
                                        </p:tgtEl>
                                        <p:attrNameLst>
                                          <p:attrName>ppt_x</p:attrName>
                                        </p:attrNameLst>
                                      </p:cBhvr>
                                      <p:tavLst>
                                        <p:tav tm="0">
                                          <p:val>
                                            <p:strVal val="ppt_x"/>
                                          </p:val>
                                        </p:tav>
                                        <p:tav tm="100000">
                                          <p:val>
                                            <p:strVal val="0-ppt_w/2"/>
                                          </p:val>
                                        </p:tav>
                                      </p:tavLst>
                                    </p:anim>
                                    <p:anim calcmode="lin" valueType="num">
                                      <p:cBhvr additive="base">
                                        <p:cTn id="107" dur="500"/>
                                        <p:tgtEl>
                                          <p:spTgt spid="65"/>
                                        </p:tgtEl>
                                        <p:attrNameLst>
                                          <p:attrName>ppt_y</p:attrName>
                                        </p:attrNameLst>
                                      </p:cBhvr>
                                      <p:tavLst>
                                        <p:tav tm="0">
                                          <p:val>
                                            <p:strVal val="ppt_y"/>
                                          </p:val>
                                        </p:tav>
                                        <p:tav tm="100000">
                                          <p:val>
                                            <p:strVal val="ppt_y"/>
                                          </p:val>
                                        </p:tav>
                                      </p:tavLst>
                                    </p:anim>
                                    <p:set>
                                      <p:cBhvr>
                                        <p:cTn id="108" dur="1" fill="hold">
                                          <p:stCondLst>
                                            <p:cond delay="499"/>
                                          </p:stCondLst>
                                        </p:cTn>
                                        <p:tgtEl>
                                          <p:spTgt spid="65"/>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2" presetClass="exit" presetSubtype="8" fill="hold" grpId="1" nodeType="clickEffect">
                                  <p:stCondLst>
                                    <p:cond delay="0"/>
                                  </p:stCondLst>
                                  <p:childTnLst>
                                    <p:anim calcmode="lin" valueType="num">
                                      <p:cBhvr additive="base">
                                        <p:cTn id="112" dur="500"/>
                                        <p:tgtEl>
                                          <p:spTgt spid="66"/>
                                        </p:tgtEl>
                                        <p:attrNameLst>
                                          <p:attrName>ppt_x</p:attrName>
                                        </p:attrNameLst>
                                      </p:cBhvr>
                                      <p:tavLst>
                                        <p:tav tm="0">
                                          <p:val>
                                            <p:strVal val="ppt_x"/>
                                          </p:val>
                                        </p:tav>
                                        <p:tav tm="100000">
                                          <p:val>
                                            <p:strVal val="0-ppt_w/2"/>
                                          </p:val>
                                        </p:tav>
                                      </p:tavLst>
                                    </p:anim>
                                    <p:anim calcmode="lin" valueType="num">
                                      <p:cBhvr additive="base">
                                        <p:cTn id="113" dur="500"/>
                                        <p:tgtEl>
                                          <p:spTgt spid="66"/>
                                        </p:tgtEl>
                                        <p:attrNameLst>
                                          <p:attrName>ppt_y</p:attrName>
                                        </p:attrNameLst>
                                      </p:cBhvr>
                                      <p:tavLst>
                                        <p:tav tm="0">
                                          <p:val>
                                            <p:strVal val="ppt_y"/>
                                          </p:val>
                                        </p:tav>
                                        <p:tav tm="100000">
                                          <p:val>
                                            <p:strVal val="ppt_y"/>
                                          </p:val>
                                        </p:tav>
                                      </p:tavLst>
                                    </p:anim>
                                    <p:set>
                                      <p:cBhvr>
                                        <p:cTn id="114" dur="1" fill="hold">
                                          <p:stCondLst>
                                            <p:cond delay="499"/>
                                          </p:stCondLst>
                                        </p:cTn>
                                        <p:tgtEl>
                                          <p:spTgt spid="66"/>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8" grpId="0" animBg="1"/>
      <p:bldP spid="19" grpId="0" animBg="1"/>
      <p:bldP spid="20" grpId="0" animBg="1"/>
      <p:bldP spid="45" grpId="0"/>
      <p:bldP spid="46" grpId="0"/>
      <p:bldP spid="47" grpId="0" build="p"/>
      <p:bldP spid="57" grpId="0"/>
      <p:bldP spid="58" grpId="0"/>
      <p:bldP spid="59" grpId="0"/>
      <p:bldP spid="60" grpId="0"/>
      <p:bldP spid="61" grpId="0"/>
      <p:bldP spid="62" grpId="0"/>
      <p:bldP spid="62" grpId="1"/>
      <p:bldP spid="63" grpId="0"/>
      <p:bldP spid="63" grpId="1"/>
      <p:bldP spid="64" grpId="0"/>
      <p:bldP spid="64" grpId="1"/>
      <p:bldP spid="65" grpId="0"/>
      <p:bldP spid="65" grpId="1"/>
      <p:bldP spid="66" grpId="0"/>
      <p:bldP spid="6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16AED-4A5F-0B4E-943E-1D68DEE0F2E3}"/>
              </a:ext>
            </a:extLst>
          </p:cNvPr>
          <p:cNvSpPr>
            <a:spLocks noGrp="1"/>
          </p:cNvSpPr>
          <p:nvPr>
            <p:ph type="title"/>
          </p:nvPr>
        </p:nvSpPr>
        <p:spPr/>
        <p:txBody>
          <a:bodyPr/>
          <a:lstStyle/>
          <a:p>
            <a:r>
              <a:rPr lang="en-US" sz="3600" i="1" dirty="0">
                <a:solidFill>
                  <a:schemeClr val="accent4"/>
                </a:solidFill>
              </a:rPr>
              <a:t>Review</a:t>
            </a:r>
            <a:r>
              <a:rPr lang="en-US" dirty="0"/>
              <a:t>  What about the Target Vertex?</a:t>
            </a:r>
          </a:p>
        </p:txBody>
      </p:sp>
      <p:sp>
        <p:nvSpPr>
          <p:cNvPr id="3" name="Content Placeholder 2">
            <a:extLst>
              <a:ext uri="{FF2B5EF4-FFF2-40B4-BE49-F238E27FC236}">
                <a16:creationId xmlns:a16="http://schemas.microsoft.com/office/drawing/2014/main" id="{680A95B1-D60B-DA49-81D0-04A3DDFFD554}"/>
              </a:ext>
            </a:extLst>
          </p:cNvPr>
          <p:cNvSpPr>
            <a:spLocks noGrp="1"/>
          </p:cNvSpPr>
          <p:nvPr>
            <p:ph idx="1"/>
          </p:nvPr>
        </p:nvSpPr>
        <p:spPr>
          <a:xfrm>
            <a:off x="4595178" y="1371600"/>
            <a:ext cx="7406322" cy="5330536"/>
          </a:xfrm>
        </p:spPr>
        <p:txBody>
          <a:bodyPr>
            <a:normAutofit fontScale="92500" lnSpcReduction="20000"/>
          </a:bodyPr>
          <a:lstStyle/>
          <a:p>
            <a:r>
              <a:rPr lang="en-US" dirty="0"/>
              <a:t>This modification on BFS didn’t mention the target vertex at all!</a:t>
            </a:r>
          </a:p>
          <a:p>
            <a:r>
              <a:rPr lang="en-US" dirty="0"/>
              <a:t>Instead, it calculated the shortest path and distance from start to </a:t>
            </a:r>
            <a:r>
              <a:rPr lang="en-US" i="1" dirty="0"/>
              <a:t>every other vertex</a:t>
            </a:r>
          </a:p>
          <a:p>
            <a:pPr lvl="1"/>
            <a:r>
              <a:rPr lang="en-US" dirty="0"/>
              <a:t>This is called the </a:t>
            </a:r>
            <a:r>
              <a:rPr lang="en-US" b="1" dirty="0">
                <a:solidFill>
                  <a:schemeClr val="accent3"/>
                </a:solidFill>
              </a:rPr>
              <a:t>shortest path tree</a:t>
            </a:r>
          </a:p>
          <a:p>
            <a:pPr lvl="2"/>
            <a:r>
              <a:rPr lang="en-US" dirty="0"/>
              <a:t>A general concept: in this implementation, made up of </a:t>
            </a:r>
            <a:r>
              <a:rPr lang="en-US" b="1" dirty="0">
                <a:solidFill>
                  <a:srgbClr val="00B0F0"/>
                </a:solidFill>
              </a:rPr>
              <a:t>distances</a:t>
            </a:r>
            <a:r>
              <a:rPr lang="en-US" dirty="0"/>
              <a:t> and </a:t>
            </a:r>
            <a:r>
              <a:rPr lang="en-US" b="1" dirty="0" err="1">
                <a:solidFill>
                  <a:schemeClr val="accent2"/>
                </a:solidFill>
              </a:rPr>
              <a:t>backpointers</a:t>
            </a:r>
            <a:endParaRPr lang="en-US" b="1" dirty="0">
              <a:solidFill>
                <a:schemeClr val="accent2"/>
              </a:solidFill>
            </a:endParaRPr>
          </a:p>
          <a:p>
            <a:r>
              <a:rPr lang="en-US" dirty="0"/>
              <a:t>Shortest path tree has all the answers!</a:t>
            </a:r>
          </a:p>
          <a:p>
            <a:pPr lvl="1"/>
            <a:r>
              <a:rPr lang="en-US" b="1" dirty="0"/>
              <a:t>Length of shortest path from A to D?</a:t>
            </a:r>
          </a:p>
          <a:p>
            <a:pPr lvl="2"/>
            <a:r>
              <a:rPr lang="en-US" dirty="0"/>
              <a:t>Lookup in </a:t>
            </a:r>
            <a:r>
              <a:rPr lang="en-US" b="1" dirty="0" err="1">
                <a:solidFill>
                  <a:srgbClr val="00B0F0"/>
                </a:solidFill>
              </a:rPr>
              <a:t>distTo</a:t>
            </a:r>
            <a:r>
              <a:rPr lang="en-US" dirty="0"/>
              <a:t> map: </a:t>
            </a:r>
            <a:r>
              <a:rPr lang="en-US" b="1" dirty="0">
                <a:solidFill>
                  <a:srgbClr val="00B0F0"/>
                </a:solidFill>
              </a:rPr>
              <a:t>2</a:t>
            </a:r>
          </a:p>
          <a:p>
            <a:pPr lvl="1"/>
            <a:r>
              <a:rPr lang="en-US" b="1" dirty="0"/>
              <a:t>What’s the shortest path from A to D?</a:t>
            </a:r>
          </a:p>
          <a:p>
            <a:pPr lvl="2"/>
            <a:r>
              <a:rPr lang="en-US" dirty="0"/>
              <a:t>Build up backwards from </a:t>
            </a:r>
            <a:r>
              <a:rPr lang="en-US" b="1" dirty="0" err="1">
                <a:solidFill>
                  <a:schemeClr val="accent2"/>
                </a:solidFill>
              </a:rPr>
              <a:t>edgeTo</a:t>
            </a:r>
            <a:r>
              <a:rPr lang="en-US" dirty="0"/>
              <a:t> map: start at D, follow </a:t>
            </a:r>
            <a:r>
              <a:rPr lang="en-US" b="1" dirty="0" err="1">
                <a:solidFill>
                  <a:schemeClr val="accent2"/>
                </a:solidFill>
              </a:rPr>
              <a:t>backpointer</a:t>
            </a:r>
            <a:r>
              <a:rPr lang="en-US" dirty="0"/>
              <a:t> to B, follow </a:t>
            </a:r>
            <a:r>
              <a:rPr lang="en-US" b="1" dirty="0" err="1">
                <a:solidFill>
                  <a:schemeClr val="accent2"/>
                </a:solidFill>
              </a:rPr>
              <a:t>backpointer</a:t>
            </a:r>
            <a:r>
              <a:rPr lang="en-US" dirty="0"/>
              <a:t> to A – our shortest path is </a:t>
            </a:r>
            <a:r>
              <a:rPr lang="en-US" b="1" dirty="0">
                <a:solidFill>
                  <a:schemeClr val="accent2"/>
                </a:solidFill>
              </a:rPr>
              <a:t>A </a:t>
            </a:r>
            <a:r>
              <a:rPr lang="en-US" b="1" dirty="0">
                <a:solidFill>
                  <a:schemeClr val="accent2"/>
                </a:solidFill>
                <a:sym typeface="Wingdings" pitchFamily="2" charset="2"/>
              </a:rPr>
              <a:t> </a:t>
            </a:r>
            <a:r>
              <a:rPr lang="en-US" b="1" dirty="0">
                <a:solidFill>
                  <a:schemeClr val="accent2"/>
                </a:solidFill>
              </a:rPr>
              <a:t>B </a:t>
            </a:r>
            <a:r>
              <a:rPr lang="en-US" b="1" dirty="0">
                <a:solidFill>
                  <a:schemeClr val="accent2"/>
                </a:solidFill>
                <a:sym typeface="Wingdings" pitchFamily="2" charset="2"/>
              </a:rPr>
              <a:t> </a:t>
            </a:r>
            <a:r>
              <a:rPr lang="en-US" b="1" dirty="0">
                <a:solidFill>
                  <a:schemeClr val="accent2"/>
                </a:solidFill>
              </a:rPr>
              <a:t>D</a:t>
            </a:r>
          </a:p>
          <a:p>
            <a:endParaRPr lang="en-US" sz="1300" dirty="0"/>
          </a:p>
          <a:p>
            <a:r>
              <a:rPr lang="en-US" dirty="0"/>
              <a:t>All our shortest path algorithms will have this property</a:t>
            </a:r>
          </a:p>
          <a:p>
            <a:pPr lvl="1"/>
            <a:r>
              <a:rPr lang="en-US" dirty="0"/>
              <a:t>If you only care about t, you can sometimes stop early!</a:t>
            </a:r>
          </a:p>
          <a:p>
            <a:pPr marL="0" indent="0">
              <a:buNone/>
            </a:pPr>
            <a:endParaRPr lang="en-US" dirty="0"/>
          </a:p>
        </p:txBody>
      </p:sp>
      <p:sp>
        <p:nvSpPr>
          <p:cNvPr id="4" name="Google Shape;751;p43">
            <a:extLst>
              <a:ext uri="{FF2B5EF4-FFF2-40B4-BE49-F238E27FC236}">
                <a16:creationId xmlns:a16="http://schemas.microsoft.com/office/drawing/2014/main" id="{70AD8CE8-3DD3-5E4B-8C06-CAFD8C99F132}"/>
              </a:ext>
            </a:extLst>
          </p:cNvPr>
          <p:cNvSpPr/>
          <p:nvPr/>
        </p:nvSpPr>
        <p:spPr>
          <a:xfrm>
            <a:off x="1188929" y="3092485"/>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sp>
        <p:nvSpPr>
          <p:cNvPr id="5" name="Google Shape;752;p43">
            <a:extLst>
              <a:ext uri="{FF2B5EF4-FFF2-40B4-BE49-F238E27FC236}">
                <a16:creationId xmlns:a16="http://schemas.microsoft.com/office/drawing/2014/main" id="{8D20B668-AD09-264F-9D95-6F8701DA94CA}"/>
              </a:ext>
            </a:extLst>
          </p:cNvPr>
          <p:cNvSpPr/>
          <p:nvPr/>
        </p:nvSpPr>
        <p:spPr>
          <a:xfrm>
            <a:off x="1340208" y="454057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B</a:t>
            </a:r>
            <a:endParaRPr sz="2133" dirty="0">
              <a:latin typeface="Calibri" panose="020F0502020204030204" pitchFamily="34" charset="0"/>
              <a:cs typeface="Calibri" panose="020F0502020204030204" pitchFamily="34" charset="0"/>
            </a:endParaRPr>
          </a:p>
        </p:txBody>
      </p:sp>
      <p:sp>
        <p:nvSpPr>
          <p:cNvPr id="6" name="Google Shape;753;p43">
            <a:extLst>
              <a:ext uri="{FF2B5EF4-FFF2-40B4-BE49-F238E27FC236}">
                <a16:creationId xmlns:a16="http://schemas.microsoft.com/office/drawing/2014/main" id="{DEC3FA7F-8A1C-6D42-A3EB-8E6676B39961}"/>
              </a:ext>
            </a:extLst>
          </p:cNvPr>
          <p:cNvSpPr/>
          <p:nvPr/>
        </p:nvSpPr>
        <p:spPr>
          <a:xfrm>
            <a:off x="3774906" y="2669491"/>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E</a:t>
            </a:r>
            <a:endParaRPr sz="2133" dirty="0">
              <a:latin typeface="Calibri" panose="020F0502020204030204" pitchFamily="34" charset="0"/>
              <a:cs typeface="Calibri" panose="020F0502020204030204" pitchFamily="34" charset="0"/>
            </a:endParaRPr>
          </a:p>
        </p:txBody>
      </p:sp>
      <p:sp>
        <p:nvSpPr>
          <p:cNvPr id="7" name="Google Shape;754;p43">
            <a:extLst>
              <a:ext uri="{FF2B5EF4-FFF2-40B4-BE49-F238E27FC236}">
                <a16:creationId xmlns:a16="http://schemas.microsoft.com/office/drawing/2014/main" id="{FF995AD8-9D47-D44E-9AE9-5D999C6CDE7B}"/>
              </a:ext>
            </a:extLst>
          </p:cNvPr>
          <p:cNvSpPr/>
          <p:nvPr/>
        </p:nvSpPr>
        <p:spPr>
          <a:xfrm>
            <a:off x="2619030" y="3335191"/>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C</a:t>
            </a:r>
            <a:endParaRPr sz="2133" dirty="0">
              <a:latin typeface="Calibri" panose="020F0502020204030204" pitchFamily="34" charset="0"/>
              <a:cs typeface="Calibri" panose="020F0502020204030204" pitchFamily="34" charset="0"/>
            </a:endParaRPr>
          </a:p>
        </p:txBody>
      </p:sp>
      <p:sp>
        <p:nvSpPr>
          <p:cNvPr id="8" name="Google Shape;755;p43">
            <a:extLst>
              <a:ext uri="{FF2B5EF4-FFF2-40B4-BE49-F238E27FC236}">
                <a16:creationId xmlns:a16="http://schemas.microsoft.com/office/drawing/2014/main" id="{71AF73FF-0103-5648-925F-540CF669CD8E}"/>
              </a:ext>
            </a:extLst>
          </p:cNvPr>
          <p:cNvSpPr/>
          <p:nvPr/>
        </p:nvSpPr>
        <p:spPr>
          <a:xfrm>
            <a:off x="3251864" y="470917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D</a:t>
            </a:r>
            <a:endParaRPr sz="2133" dirty="0">
              <a:latin typeface="Calibri" panose="020F0502020204030204" pitchFamily="34" charset="0"/>
              <a:cs typeface="Calibri" panose="020F0502020204030204" pitchFamily="34" charset="0"/>
            </a:endParaRPr>
          </a:p>
        </p:txBody>
      </p:sp>
      <p:cxnSp>
        <p:nvCxnSpPr>
          <p:cNvPr id="9" name="Google Shape;759;p43">
            <a:extLst>
              <a:ext uri="{FF2B5EF4-FFF2-40B4-BE49-F238E27FC236}">
                <a16:creationId xmlns:a16="http://schemas.microsoft.com/office/drawing/2014/main" id="{77C0F930-BE63-6147-AD7A-8EDE6D3DF326}"/>
              </a:ext>
            </a:extLst>
          </p:cNvPr>
          <p:cNvCxnSpPr>
            <a:stCxn id="4" idx="2"/>
            <a:endCxn id="5" idx="0"/>
          </p:cNvCxnSpPr>
          <p:nvPr/>
        </p:nvCxnSpPr>
        <p:spPr>
          <a:xfrm>
            <a:off x="1400529" y="3429685"/>
            <a:ext cx="151279" cy="1110894"/>
          </a:xfrm>
          <a:prstGeom prst="straightConnector1">
            <a:avLst/>
          </a:prstGeom>
          <a:noFill/>
          <a:ln w="19050" cap="flat" cmpd="sng">
            <a:solidFill>
              <a:schemeClr val="dk2"/>
            </a:solidFill>
            <a:prstDash val="solid"/>
            <a:round/>
            <a:headEnd type="none" w="med" len="med"/>
            <a:tailEnd type="none" w="med" len="med"/>
          </a:ln>
        </p:spPr>
      </p:cxnSp>
      <p:cxnSp>
        <p:nvCxnSpPr>
          <p:cNvPr id="10" name="Google Shape;760;p43">
            <a:extLst>
              <a:ext uri="{FF2B5EF4-FFF2-40B4-BE49-F238E27FC236}">
                <a16:creationId xmlns:a16="http://schemas.microsoft.com/office/drawing/2014/main" id="{01F9B403-6DC6-7D4E-862C-349F0BF5FF01}"/>
              </a:ext>
            </a:extLst>
          </p:cNvPr>
          <p:cNvCxnSpPr>
            <a:stCxn id="4" idx="3"/>
            <a:endCxn id="7" idx="1"/>
          </p:cNvCxnSpPr>
          <p:nvPr/>
        </p:nvCxnSpPr>
        <p:spPr>
          <a:xfrm>
            <a:off x="1612129" y="3261085"/>
            <a:ext cx="1006901" cy="242706"/>
          </a:xfrm>
          <a:prstGeom prst="straightConnector1">
            <a:avLst/>
          </a:prstGeom>
          <a:noFill/>
          <a:ln w="19050" cap="flat" cmpd="sng">
            <a:solidFill>
              <a:schemeClr val="dk2"/>
            </a:solidFill>
            <a:prstDash val="solid"/>
            <a:round/>
            <a:headEnd type="none" w="med" len="med"/>
            <a:tailEnd type="none" w="med" len="med"/>
          </a:ln>
        </p:spPr>
      </p:cxnSp>
      <p:cxnSp>
        <p:nvCxnSpPr>
          <p:cNvPr id="11" name="Google Shape;761;p43">
            <a:extLst>
              <a:ext uri="{FF2B5EF4-FFF2-40B4-BE49-F238E27FC236}">
                <a16:creationId xmlns:a16="http://schemas.microsoft.com/office/drawing/2014/main" id="{090F2029-CA08-1F48-9EE6-FC71BA6CAC41}"/>
              </a:ext>
            </a:extLst>
          </p:cNvPr>
          <p:cNvCxnSpPr>
            <a:cxnSpLocks/>
            <a:stCxn id="6" idx="2"/>
            <a:endCxn id="7" idx="3"/>
          </p:cNvCxnSpPr>
          <p:nvPr/>
        </p:nvCxnSpPr>
        <p:spPr>
          <a:xfrm flipH="1">
            <a:off x="3042230" y="3006691"/>
            <a:ext cx="944276" cy="497100"/>
          </a:xfrm>
          <a:prstGeom prst="straightConnector1">
            <a:avLst/>
          </a:prstGeom>
          <a:noFill/>
          <a:ln w="19050" cap="flat" cmpd="sng">
            <a:solidFill>
              <a:schemeClr val="dk2"/>
            </a:solidFill>
            <a:prstDash val="solid"/>
            <a:round/>
            <a:headEnd type="none" w="med" len="med"/>
            <a:tailEnd type="none" w="med" len="med"/>
          </a:ln>
        </p:spPr>
      </p:cxnSp>
      <p:cxnSp>
        <p:nvCxnSpPr>
          <p:cNvPr id="12" name="Google Shape;765;p43">
            <a:extLst>
              <a:ext uri="{FF2B5EF4-FFF2-40B4-BE49-F238E27FC236}">
                <a16:creationId xmlns:a16="http://schemas.microsoft.com/office/drawing/2014/main" id="{CCBDC6F2-A2AC-5D46-93AE-D3433B294AB3}"/>
              </a:ext>
            </a:extLst>
          </p:cNvPr>
          <p:cNvCxnSpPr>
            <a:stCxn id="5" idx="3"/>
            <a:endCxn id="8" idx="1"/>
          </p:cNvCxnSpPr>
          <p:nvPr/>
        </p:nvCxnSpPr>
        <p:spPr>
          <a:xfrm>
            <a:off x="1763408" y="4709179"/>
            <a:ext cx="1488456" cy="168600"/>
          </a:xfrm>
          <a:prstGeom prst="straightConnector1">
            <a:avLst/>
          </a:prstGeom>
          <a:noFill/>
          <a:ln w="19050" cap="flat" cmpd="sng">
            <a:solidFill>
              <a:schemeClr val="dk2"/>
            </a:solidFill>
            <a:prstDash val="solid"/>
            <a:round/>
            <a:headEnd type="none" w="med" len="med"/>
            <a:tailEnd type="none" w="med" len="med"/>
          </a:ln>
        </p:spPr>
      </p:cxnSp>
      <p:sp>
        <p:nvSpPr>
          <p:cNvPr id="13" name="Google Shape;769;p43">
            <a:extLst>
              <a:ext uri="{FF2B5EF4-FFF2-40B4-BE49-F238E27FC236}">
                <a16:creationId xmlns:a16="http://schemas.microsoft.com/office/drawing/2014/main" id="{C992D81D-D503-DD45-8625-C3BCD18006BE}"/>
              </a:ext>
            </a:extLst>
          </p:cNvPr>
          <p:cNvSpPr txBox="1"/>
          <p:nvPr/>
        </p:nvSpPr>
        <p:spPr>
          <a:xfrm>
            <a:off x="190500" y="3006691"/>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20" name="Google Shape;763;p43">
            <a:extLst>
              <a:ext uri="{FF2B5EF4-FFF2-40B4-BE49-F238E27FC236}">
                <a16:creationId xmlns:a16="http://schemas.microsoft.com/office/drawing/2014/main" id="{8E0D6C47-D072-6F45-9935-C3AF1F846F77}"/>
              </a:ext>
            </a:extLst>
          </p:cNvPr>
          <p:cNvCxnSpPr>
            <a:cxnSpLocks/>
            <a:stCxn id="7" idx="2"/>
            <a:endCxn id="8" idx="0"/>
          </p:cNvCxnSpPr>
          <p:nvPr/>
        </p:nvCxnSpPr>
        <p:spPr>
          <a:xfrm>
            <a:off x="2830630" y="3672391"/>
            <a:ext cx="632834" cy="1036788"/>
          </a:xfrm>
          <a:prstGeom prst="straightConnector1">
            <a:avLst/>
          </a:prstGeom>
          <a:noFill/>
          <a:ln w="19050" cap="flat" cmpd="sng">
            <a:solidFill>
              <a:schemeClr val="dk2"/>
            </a:solidFill>
            <a:prstDash val="solid"/>
            <a:round/>
            <a:headEnd type="none" w="med" len="med"/>
            <a:tailEnd type="none" w="med" len="med"/>
          </a:ln>
        </p:spPr>
      </p:cxnSp>
      <p:sp>
        <p:nvSpPr>
          <p:cNvPr id="21" name="TextBox 20">
            <a:extLst>
              <a:ext uri="{FF2B5EF4-FFF2-40B4-BE49-F238E27FC236}">
                <a16:creationId xmlns:a16="http://schemas.microsoft.com/office/drawing/2014/main" id="{CE0140F0-8860-8E44-A53C-89F4FA1CFE8D}"/>
              </a:ext>
            </a:extLst>
          </p:cNvPr>
          <p:cNvSpPr txBox="1"/>
          <p:nvPr/>
        </p:nvSpPr>
        <p:spPr>
          <a:xfrm>
            <a:off x="377403" y="4065286"/>
            <a:ext cx="997581" cy="369332"/>
          </a:xfrm>
          <a:prstGeom prst="rect">
            <a:avLst/>
          </a:prstGeom>
          <a:noFill/>
        </p:spPr>
        <p:txBody>
          <a:bodyPr wrap="none" rtlCol="0">
            <a:spAutoFit/>
          </a:bodyPr>
          <a:lstStyle/>
          <a:p>
            <a:r>
              <a:rPr lang="en-US" b="1" spc="100" dirty="0">
                <a:solidFill>
                  <a:schemeClr val="accent2"/>
                </a:solidFill>
              </a:rPr>
              <a:t>E</a:t>
            </a:r>
            <a:r>
              <a:rPr lang="en-US" sz="1600" b="1" spc="100" dirty="0">
                <a:solidFill>
                  <a:schemeClr val="accent2"/>
                </a:solidFill>
              </a:rPr>
              <a:t>DGE</a:t>
            </a:r>
            <a:r>
              <a:rPr lang="en-US" b="1" spc="100" dirty="0">
                <a:solidFill>
                  <a:schemeClr val="accent2"/>
                </a:solidFill>
              </a:rPr>
              <a:t>T</a:t>
            </a:r>
            <a:r>
              <a:rPr lang="en-US" sz="1600" b="1" spc="100" dirty="0">
                <a:solidFill>
                  <a:schemeClr val="accent2"/>
                </a:solidFill>
              </a:rPr>
              <a:t>O</a:t>
            </a:r>
            <a:endParaRPr lang="en-US" b="1" spc="100" dirty="0">
              <a:solidFill>
                <a:schemeClr val="accent2"/>
              </a:solidFill>
            </a:endParaRPr>
          </a:p>
        </p:txBody>
      </p:sp>
      <p:sp>
        <p:nvSpPr>
          <p:cNvPr id="22" name="TextBox 21">
            <a:extLst>
              <a:ext uri="{FF2B5EF4-FFF2-40B4-BE49-F238E27FC236}">
                <a16:creationId xmlns:a16="http://schemas.microsoft.com/office/drawing/2014/main" id="{A6041D7F-BD6F-3C48-A632-CCD694D6FACF}"/>
              </a:ext>
            </a:extLst>
          </p:cNvPr>
          <p:cNvSpPr txBox="1"/>
          <p:nvPr/>
        </p:nvSpPr>
        <p:spPr>
          <a:xfrm>
            <a:off x="1352432" y="2509477"/>
            <a:ext cx="912045" cy="369332"/>
          </a:xfrm>
          <a:prstGeom prst="rect">
            <a:avLst/>
          </a:prstGeom>
          <a:noFill/>
        </p:spPr>
        <p:txBody>
          <a:bodyPr wrap="none" rtlCol="0">
            <a:spAutoFit/>
          </a:bodyPr>
          <a:lstStyle/>
          <a:p>
            <a:r>
              <a:rPr lang="en-US" b="1" spc="100" dirty="0">
                <a:solidFill>
                  <a:srgbClr val="00B0F0"/>
                </a:solidFill>
              </a:rPr>
              <a:t>D</a:t>
            </a:r>
            <a:r>
              <a:rPr lang="en-US" sz="1600" b="1" spc="100" dirty="0">
                <a:solidFill>
                  <a:srgbClr val="00B0F0"/>
                </a:solidFill>
              </a:rPr>
              <a:t>IST</a:t>
            </a:r>
            <a:r>
              <a:rPr lang="en-US" b="1" spc="100" dirty="0">
                <a:solidFill>
                  <a:srgbClr val="00B0F0"/>
                </a:solidFill>
              </a:rPr>
              <a:t>T</a:t>
            </a:r>
            <a:r>
              <a:rPr lang="en-US" sz="1600" b="1" spc="100" dirty="0">
                <a:solidFill>
                  <a:srgbClr val="00B0F0"/>
                </a:solidFill>
              </a:rPr>
              <a:t>O</a:t>
            </a:r>
            <a:endParaRPr lang="en-US" b="1" spc="100" dirty="0">
              <a:solidFill>
                <a:srgbClr val="00B0F0"/>
              </a:solidFill>
            </a:endParaRPr>
          </a:p>
        </p:txBody>
      </p:sp>
      <p:cxnSp>
        <p:nvCxnSpPr>
          <p:cNvPr id="23" name="Straight Arrow Connector 22">
            <a:extLst>
              <a:ext uri="{FF2B5EF4-FFF2-40B4-BE49-F238E27FC236}">
                <a16:creationId xmlns:a16="http://schemas.microsoft.com/office/drawing/2014/main" id="{FD1B0BE3-2143-7348-82B5-9800A204BD08}"/>
              </a:ext>
            </a:extLst>
          </p:cNvPr>
          <p:cNvCxnSpPr/>
          <p:nvPr/>
        </p:nvCxnSpPr>
        <p:spPr>
          <a:xfrm flipH="1" flipV="1">
            <a:off x="1366198" y="3825053"/>
            <a:ext cx="109970" cy="720381"/>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18F501E-CC1B-9647-BD68-F949C68BA189}"/>
              </a:ext>
            </a:extLst>
          </p:cNvPr>
          <p:cNvCxnSpPr>
            <a:cxnSpLocks/>
          </p:cNvCxnSpPr>
          <p:nvPr/>
        </p:nvCxnSpPr>
        <p:spPr>
          <a:xfrm flipH="1" flipV="1">
            <a:off x="1893921" y="3408218"/>
            <a:ext cx="730968" cy="17987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74EB6F9-E6D4-0D43-B2A2-5981A54A4A99}"/>
              </a:ext>
            </a:extLst>
          </p:cNvPr>
          <p:cNvCxnSpPr>
            <a:cxnSpLocks/>
          </p:cNvCxnSpPr>
          <p:nvPr/>
        </p:nvCxnSpPr>
        <p:spPr>
          <a:xfrm flipH="1" flipV="1">
            <a:off x="2502510" y="4697394"/>
            <a:ext cx="749354" cy="11003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6F52F2E-2FDB-644F-A373-E1B88DA9DB4F}"/>
              </a:ext>
            </a:extLst>
          </p:cNvPr>
          <p:cNvCxnSpPr>
            <a:cxnSpLocks/>
          </p:cNvCxnSpPr>
          <p:nvPr/>
        </p:nvCxnSpPr>
        <p:spPr>
          <a:xfrm flipH="1">
            <a:off x="3422060" y="3018476"/>
            <a:ext cx="662457" cy="38697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5531FD6-BD19-8A40-9004-9B8C52512886}"/>
              </a:ext>
            </a:extLst>
          </p:cNvPr>
          <p:cNvSpPr txBox="1"/>
          <p:nvPr/>
        </p:nvSpPr>
        <p:spPr>
          <a:xfrm>
            <a:off x="1623182" y="2807452"/>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0</a:t>
            </a:r>
          </a:p>
        </p:txBody>
      </p:sp>
      <p:sp>
        <p:nvSpPr>
          <p:cNvPr id="28" name="TextBox 27">
            <a:extLst>
              <a:ext uri="{FF2B5EF4-FFF2-40B4-BE49-F238E27FC236}">
                <a16:creationId xmlns:a16="http://schemas.microsoft.com/office/drawing/2014/main" id="{564C8C4B-42A4-884B-ABF7-7377590F3C33}"/>
              </a:ext>
            </a:extLst>
          </p:cNvPr>
          <p:cNvSpPr txBox="1"/>
          <p:nvPr/>
        </p:nvSpPr>
        <p:spPr>
          <a:xfrm>
            <a:off x="1796882" y="4236212"/>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29" name="TextBox 28">
            <a:extLst>
              <a:ext uri="{FF2B5EF4-FFF2-40B4-BE49-F238E27FC236}">
                <a16:creationId xmlns:a16="http://schemas.microsoft.com/office/drawing/2014/main" id="{91D87754-B33F-B145-95C1-48F8C4103E3D}"/>
              </a:ext>
            </a:extLst>
          </p:cNvPr>
          <p:cNvSpPr txBox="1"/>
          <p:nvPr/>
        </p:nvSpPr>
        <p:spPr>
          <a:xfrm>
            <a:off x="3066200" y="3000723"/>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30" name="TextBox 29">
            <a:extLst>
              <a:ext uri="{FF2B5EF4-FFF2-40B4-BE49-F238E27FC236}">
                <a16:creationId xmlns:a16="http://schemas.microsoft.com/office/drawing/2014/main" id="{AB8027C0-41B7-A542-8D73-98CC087B90A8}"/>
              </a:ext>
            </a:extLst>
          </p:cNvPr>
          <p:cNvSpPr txBox="1"/>
          <p:nvPr/>
        </p:nvSpPr>
        <p:spPr>
          <a:xfrm>
            <a:off x="3705486" y="4420878"/>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2</a:t>
            </a:r>
          </a:p>
        </p:txBody>
      </p:sp>
      <p:sp>
        <p:nvSpPr>
          <p:cNvPr id="31" name="TextBox 30">
            <a:extLst>
              <a:ext uri="{FF2B5EF4-FFF2-40B4-BE49-F238E27FC236}">
                <a16:creationId xmlns:a16="http://schemas.microsoft.com/office/drawing/2014/main" id="{1F252CBE-7354-2E47-B0FC-58A54A130C12}"/>
              </a:ext>
            </a:extLst>
          </p:cNvPr>
          <p:cNvSpPr txBox="1"/>
          <p:nvPr/>
        </p:nvSpPr>
        <p:spPr>
          <a:xfrm>
            <a:off x="4237689" y="2413180"/>
            <a:ext cx="311304" cy="369332"/>
          </a:xfrm>
          <a:prstGeom prst="rect">
            <a:avLst/>
          </a:prstGeom>
          <a:noFill/>
        </p:spPr>
        <p:txBody>
          <a:bodyPr wrap="none" rtlCol="0">
            <a:spAutoFit/>
          </a:bodyPr>
          <a:lstStyle/>
          <a:p>
            <a:r>
              <a:rPr lang="en-US" b="1" dirty="0">
                <a:solidFill>
                  <a:srgbClr val="00B0F0"/>
                </a:solidFill>
                <a:latin typeface="Consolas" panose="020B0609020204030204" pitchFamily="49" charset="0"/>
                <a:cs typeface="Consolas" panose="020B0609020204030204" pitchFamily="49" charset="0"/>
              </a:rPr>
              <a:t>2</a:t>
            </a:r>
          </a:p>
        </p:txBody>
      </p:sp>
      <p:sp>
        <p:nvSpPr>
          <p:cNvPr id="32" name="Content Placeholder 2">
            <a:extLst>
              <a:ext uri="{FF2B5EF4-FFF2-40B4-BE49-F238E27FC236}">
                <a16:creationId xmlns:a16="http://schemas.microsoft.com/office/drawing/2014/main" id="{09140488-7F77-B949-A194-7488BE707350}"/>
              </a:ext>
            </a:extLst>
          </p:cNvPr>
          <p:cNvSpPr txBox="1">
            <a:spLocks/>
          </p:cNvSpPr>
          <p:nvPr/>
        </p:nvSpPr>
        <p:spPr>
          <a:xfrm>
            <a:off x="4888010" y="5694218"/>
            <a:ext cx="7113490" cy="10079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3" name="TextBox 32">
            <a:extLst>
              <a:ext uri="{FF2B5EF4-FFF2-40B4-BE49-F238E27FC236}">
                <a16:creationId xmlns:a16="http://schemas.microsoft.com/office/drawing/2014/main" id="{ED6C2C5A-3393-514D-B421-6E341AC896C8}"/>
              </a:ext>
            </a:extLst>
          </p:cNvPr>
          <p:cNvSpPr txBox="1"/>
          <p:nvPr/>
        </p:nvSpPr>
        <p:spPr>
          <a:xfrm>
            <a:off x="953663" y="1782449"/>
            <a:ext cx="2611484" cy="461665"/>
          </a:xfrm>
          <a:prstGeom prst="rect">
            <a:avLst/>
          </a:prstGeom>
          <a:noFill/>
        </p:spPr>
        <p:txBody>
          <a:bodyPr wrap="none" rtlCol="0">
            <a:spAutoFit/>
          </a:bodyPr>
          <a:lstStyle/>
          <a:p>
            <a:r>
              <a:rPr lang="en-US" sz="2400" b="1" dirty="0"/>
              <a:t>Shortest Path Tree:</a:t>
            </a:r>
          </a:p>
        </p:txBody>
      </p:sp>
    </p:spTree>
    <p:extLst>
      <p:ext uri="{BB962C8B-B14F-4D97-AF65-F5344CB8AC3E}">
        <p14:creationId xmlns:p14="http://schemas.microsoft.com/office/powerpoint/2010/main" val="1687319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15294-A5E2-85BD-A78A-EA62410515B9}"/>
              </a:ext>
            </a:extLst>
          </p:cNvPr>
          <p:cNvSpPr>
            <a:spLocks noGrp="1"/>
          </p:cNvSpPr>
          <p:nvPr>
            <p:ph type="title"/>
          </p:nvPr>
        </p:nvSpPr>
        <p:spPr/>
        <p:txBody>
          <a:bodyPr/>
          <a:lstStyle/>
          <a:p>
            <a:endParaRPr lang="en-US"/>
          </a:p>
        </p:txBody>
      </p:sp>
      <p:graphicFrame>
        <p:nvGraphicFramePr>
          <p:cNvPr id="7" name="Content Placeholder 6">
            <a:extLst>
              <a:ext uri="{FF2B5EF4-FFF2-40B4-BE49-F238E27FC236}">
                <a16:creationId xmlns:a16="http://schemas.microsoft.com/office/drawing/2014/main" id="{69CBAD57-8CB5-E0FA-AA49-C9719297F71E}"/>
              </a:ext>
            </a:extLst>
          </p:cNvPr>
          <p:cNvGraphicFramePr>
            <a:graphicFrameLocks noGrp="1"/>
          </p:cNvGraphicFramePr>
          <p:nvPr>
            <p:ph sz="half" idx="2"/>
            <p:extLst>
              <p:ext uri="{D42A27DB-BD31-4B8C-83A1-F6EECF244321}">
                <p14:modId xmlns:p14="http://schemas.microsoft.com/office/powerpoint/2010/main" val="2251657086"/>
              </p:ext>
            </p:extLst>
          </p:nvPr>
        </p:nvGraphicFramePr>
        <p:xfrm>
          <a:off x="6197600" y="1657350"/>
          <a:ext cx="5080000" cy="2595880"/>
        </p:xfrm>
        <a:graphic>
          <a:graphicData uri="http://schemas.openxmlformats.org/drawingml/2006/table">
            <a:tbl>
              <a:tblPr firstRow="1" bandRow="1">
                <a:tableStyleId>{5940675A-B579-460E-94D1-54222C63F5DA}</a:tableStyleId>
              </a:tblPr>
              <a:tblGrid>
                <a:gridCol w="769791">
                  <a:extLst>
                    <a:ext uri="{9D8B030D-6E8A-4147-A177-3AD203B41FA5}">
                      <a16:colId xmlns:a16="http://schemas.microsoft.com/office/drawing/2014/main" val="145586255"/>
                    </a:ext>
                  </a:extLst>
                </a:gridCol>
                <a:gridCol w="4310209">
                  <a:extLst>
                    <a:ext uri="{9D8B030D-6E8A-4147-A177-3AD203B41FA5}">
                      <a16:colId xmlns:a16="http://schemas.microsoft.com/office/drawing/2014/main" val="854652781"/>
                    </a:ext>
                  </a:extLst>
                </a:gridCol>
              </a:tblGrid>
              <a:tr h="370840">
                <a:tc>
                  <a:txBody>
                    <a:bodyPr/>
                    <a:lstStyle/>
                    <a:p>
                      <a:r>
                        <a:rPr lang="en-US" dirty="0"/>
                        <a:t>0</a:t>
                      </a:r>
                    </a:p>
                  </a:txBody>
                  <a:tcPr/>
                </a:tc>
                <a:tc>
                  <a:txBody>
                    <a:bodyPr/>
                    <a:lstStyle/>
                    <a:p>
                      <a:r>
                        <a:rPr lang="en-US" dirty="0"/>
                        <a:t>(0,1) (0,5)</a:t>
                      </a:r>
                    </a:p>
                  </a:txBody>
                  <a:tcPr/>
                </a:tc>
                <a:extLst>
                  <a:ext uri="{0D108BD9-81ED-4DB2-BD59-A6C34878D82A}">
                    <a16:rowId xmlns:a16="http://schemas.microsoft.com/office/drawing/2014/main" val="37752198"/>
                  </a:ext>
                </a:extLst>
              </a:tr>
              <a:tr h="370840">
                <a:tc>
                  <a:txBody>
                    <a:bodyPr/>
                    <a:lstStyle/>
                    <a:p>
                      <a:r>
                        <a:rPr lang="en-US" dirty="0"/>
                        <a:t>1</a:t>
                      </a:r>
                    </a:p>
                  </a:txBody>
                  <a:tcPr/>
                </a:tc>
                <a:tc>
                  <a:txBody>
                    <a:bodyPr/>
                    <a:lstStyle/>
                    <a:p>
                      <a:r>
                        <a:rPr lang="en-US" dirty="0"/>
                        <a:t>(1,0) (1,2) (1,5) (1,6)</a:t>
                      </a:r>
                    </a:p>
                  </a:txBody>
                  <a:tcPr/>
                </a:tc>
                <a:extLst>
                  <a:ext uri="{0D108BD9-81ED-4DB2-BD59-A6C34878D82A}">
                    <a16:rowId xmlns:a16="http://schemas.microsoft.com/office/drawing/2014/main" val="1925781264"/>
                  </a:ext>
                </a:extLst>
              </a:tr>
              <a:tr h="370840">
                <a:tc>
                  <a:txBody>
                    <a:bodyPr/>
                    <a:lstStyle/>
                    <a:p>
                      <a:r>
                        <a:rPr lang="en-US" dirty="0"/>
                        <a:t>2</a:t>
                      </a:r>
                    </a:p>
                  </a:txBody>
                  <a:tcPr/>
                </a:tc>
                <a:tc>
                  <a:txBody>
                    <a:bodyPr/>
                    <a:lstStyle/>
                    <a:p>
                      <a:r>
                        <a:rPr lang="en-US" dirty="0"/>
                        <a:t>(2,1) (2,3) (2,4) (2,6)</a:t>
                      </a:r>
                    </a:p>
                  </a:txBody>
                  <a:tcPr/>
                </a:tc>
                <a:extLst>
                  <a:ext uri="{0D108BD9-81ED-4DB2-BD59-A6C34878D82A}">
                    <a16:rowId xmlns:a16="http://schemas.microsoft.com/office/drawing/2014/main" val="1834581242"/>
                  </a:ext>
                </a:extLst>
              </a:tr>
              <a:tr h="370840">
                <a:tc>
                  <a:txBody>
                    <a:bodyPr/>
                    <a:lstStyle/>
                    <a:p>
                      <a:r>
                        <a:rPr lang="en-US" dirty="0"/>
                        <a:t>3</a:t>
                      </a:r>
                    </a:p>
                  </a:txBody>
                  <a:tcPr/>
                </a:tc>
                <a:tc>
                  <a:txBody>
                    <a:bodyPr/>
                    <a:lstStyle/>
                    <a:p>
                      <a:r>
                        <a:rPr lang="en-US" dirty="0"/>
                        <a:t>(3,2) (3,4)</a:t>
                      </a:r>
                    </a:p>
                  </a:txBody>
                  <a:tcPr/>
                </a:tc>
                <a:extLst>
                  <a:ext uri="{0D108BD9-81ED-4DB2-BD59-A6C34878D82A}">
                    <a16:rowId xmlns:a16="http://schemas.microsoft.com/office/drawing/2014/main" val="4252686316"/>
                  </a:ext>
                </a:extLst>
              </a:tr>
              <a:tr h="370840">
                <a:tc>
                  <a:txBody>
                    <a:bodyPr/>
                    <a:lstStyle/>
                    <a:p>
                      <a:r>
                        <a:rPr lang="en-US" dirty="0"/>
                        <a:t>4</a:t>
                      </a:r>
                    </a:p>
                  </a:txBody>
                  <a:tcPr/>
                </a:tc>
                <a:tc>
                  <a:txBody>
                    <a:bodyPr/>
                    <a:lstStyle/>
                    <a:p>
                      <a:r>
                        <a:rPr lang="en-US" dirty="0"/>
                        <a:t>(4,2) (4,3) (4,5) (4,6)</a:t>
                      </a:r>
                    </a:p>
                  </a:txBody>
                  <a:tcPr/>
                </a:tc>
                <a:extLst>
                  <a:ext uri="{0D108BD9-81ED-4DB2-BD59-A6C34878D82A}">
                    <a16:rowId xmlns:a16="http://schemas.microsoft.com/office/drawing/2014/main" val="1011734084"/>
                  </a:ext>
                </a:extLst>
              </a:tr>
              <a:tr h="370840">
                <a:tc>
                  <a:txBody>
                    <a:bodyPr/>
                    <a:lstStyle/>
                    <a:p>
                      <a:r>
                        <a:rPr lang="en-US" dirty="0"/>
                        <a:t>5</a:t>
                      </a:r>
                    </a:p>
                  </a:txBody>
                  <a:tcPr/>
                </a:tc>
                <a:tc>
                  <a:txBody>
                    <a:bodyPr/>
                    <a:lstStyle/>
                    <a:p>
                      <a:r>
                        <a:rPr lang="en-US" dirty="0"/>
                        <a:t>(5,0) (5,1) (5,4) (5,6)</a:t>
                      </a:r>
                    </a:p>
                  </a:txBody>
                  <a:tcPr/>
                </a:tc>
                <a:extLst>
                  <a:ext uri="{0D108BD9-81ED-4DB2-BD59-A6C34878D82A}">
                    <a16:rowId xmlns:a16="http://schemas.microsoft.com/office/drawing/2014/main" val="235429183"/>
                  </a:ext>
                </a:extLst>
              </a:tr>
              <a:tr h="370840">
                <a:tc>
                  <a:txBody>
                    <a:bodyPr/>
                    <a:lstStyle/>
                    <a:p>
                      <a:r>
                        <a:rPr lang="en-US" dirty="0"/>
                        <a:t>6</a:t>
                      </a:r>
                    </a:p>
                  </a:txBody>
                  <a:tcPr/>
                </a:tc>
                <a:tc>
                  <a:txBody>
                    <a:bodyPr/>
                    <a:lstStyle/>
                    <a:p>
                      <a:r>
                        <a:rPr lang="en-US" dirty="0"/>
                        <a:t>(6,1) (6,2) (6,4) (6,5)</a:t>
                      </a:r>
                    </a:p>
                  </a:txBody>
                  <a:tcPr/>
                </a:tc>
                <a:extLst>
                  <a:ext uri="{0D108BD9-81ED-4DB2-BD59-A6C34878D82A}">
                    <a16:rowId xmlns:a16="http://schemas.microsoft.com/office/drawing/2014/main" val="237287871"/>
                  </a:ext>
                </a:extLst>
              </a:tr>
            </a:tbl>
          </a:graphicData>
        </a:graphic>
      </p:graphicFrame>
      <p:pic>
        <p:nvPicPr>
          <p:cNvPr id="5" name="Picture 18">
            <a:extLst>
              <a:ext uri="{FF2B5EF4-FFF2-40B4-BE49-F238E27FC236}">
                <a16:creationId xmlns:a16="http://schemas.microsoft.com/office/drawing/2014/main" id="{38CBD5EF-9E1D-DFF1-34A1-A1AA46B308B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914400" y="2067999"/>
            <a:ext cx="4050287" cy="32935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575198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bg2"/>
                </a:solidFill>
              </a:rPr>
              <a:t>Review</a:t>
            </a:r>
            <a:r>
              <a:rPr lang="en-US" sz="1900" dirty="0">
                <a:solidFill>
                  <a:schemeClr val="bg2"/>
                </a:solidFill>
              </a:rPr>
              <a:t>  </a:t>
            </a:r>
            <a:r>
              <a:rPr lang="en-US" sz="1900" b="1" dirty="0">
                <a:solidFill>
                  <a:schemeClr val="bg2"/>
                </a:solidFill>
              </a:rPr>
              <a:t>DFS, BFS, Unweighted Shortest Paths</a:t>
            </a:r>
          </a:p>
          <a:p>
            <a:pPr marL="0" indent="0">
              <a:buNone/>
            </a:pPr>
            <a:endParaRPr lang="en-US" sz="1900" dirty="0"/>
          </a:p>
          <a:p>
            <a:r>
              <a:rPr lang="en-US" sz="1900" dirty="0">
                <a:solidFill>
                  <a:srgbClr val="FF0000"/>
                </a:solidFill>
              </a:rPr>
              <a:t>Weighted </a:t>
            </a:r>
            <a:r>
              <a:rPr lang="en-US" sz="1900" dirty="0">
                <a:solidFill>
                  <a:srgbClr val="FF0000"/>
                </a:solidFill>
                <a:sym typeface="Wingdings" pitchFamily="2" charset="2"/>
              </a:rPr>
              <a:t>Graphs</a:t>
            </a:r>
          </a:p>
          <a:p>
            <a:pPr marL="0" indent="0">
              <a:buNone/>
            </a:pPr>
            <a:endParaRPr lang="en-US" sz="1900" dirty="0">
              <a:sym typeface="Wingdings" pitchFamily="2" charset="2"/>
            </a:endParaRPr>
          </a:p>
          <a:p>
            <a:r>
              <a:rPr lang="en-US" sz="1900" dirty="0">
                <a:sym typeface="Wingdings" pitchFamily="2" charset="2"/>
              </a:rPr>
              <a:t>Minimum Spanning Tree (MST)</a:t>
            </a:r>
          </a:p>
          <a:p>
            <a:pPr lvl="1"/>
            <a:r>
              <a:rPr lang="en-US" altLang="en-US" sz="1500" dirty="0"/>
              <a:t>Prim’s Algorithm </a:t>
            </a:r>
          </a:p>
          <a:p>
            <a:pPr lvl="1"/>
            <a:r>
              <a:rPr lang="en-US" sz="1500" dirty="0"/>
              <a:t>Kruskal’s </a:t>
            </a:r>
            <a:r>
              <a:rPr lang="en-US" altLang="en-US" sz="1500" dirty="0"/>
              <a:t>Algorithm</a:t>
            </a:r>
          </a:p>
          <a:p>
            <a:pPr lvl="1"/>
            <a:endParaRPr lang="en-US" sz="1500" dirty="0"/>
          </a:p>
          <a:p>
            <a:r>
              <a:rPr lang="en-US" sz="1900" dirty="0"/>
              <a:t>Weighted Shortest Path Problem</a:t>
            </a:r>
          </a:p>
          <a:p>
            <a:r>
              <a:rPr lang="en-US" sz="1900" dirty="0"/>
              <a:t>Dijkstra’s Algorithm</a:t>
            </a:r>
          </a:p>
          <a:p>
            <a:pPr marL="685800" lvl="2">
              <a:spcBef>
                <a:spcPts val="1000"/>
              </a:spcBef>
              <a:buFont typeface="Arial" panose="020B0604020202020204" pitchFamily="34" charset="0"/>
              <a:buChar char="•"/>
            </a:pPr>
            <a:r>
              <a:rPr lang="en-US" sz="1500" dirty="0"/>
              <a:t>Definition &amp; Examples</a:t>
            </a:r>
          </a:p>
          <a:p>
            <a:pPr marL="685800" lvl="2">
              <a:spcBef>
                <a:spcPts val="1000"/>
              </a:spcBef>
              <a:buFont typeface="Arial" panose="020B0604020202020204" pitchFamily="34" charset="0"/>
              <a:buChar char="•"/>
            </a:pPr>
            <a:r>
              <a:rPr lang="en-US" sz="1500" dirty="0"/>
              <a:t>Implementing Dijkstra’s</a:t>
            </a:r>
          </a:p>
          <a:p>
            <a:pPr marL="0" indent="0">
              <a:buNone/>
            </a:pPr>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2925467" y="2196930"/>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9880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A8DD0-D0D7-4FA2-8FC3-33BC8BCFD88D}"/>
              </a:ext>
            </a:extLst>
          </p:cNvPr>
          <p:cNvSpPr>
            <a:spLocks noGrp="1"/>
          </p:cNvSpPr>
          <p:nvPr>
            <p:ph type="title"/>
          </p:nvPr>
        </p:nvSpPr>
        <p:spPr/>
        <p:txBody>
          <a:bodyPr/>
          <a:lstStyle/>
          <a:p>
            <a:r>
              <a:rPr lang="en-US" dirty="0"/>
              <a:t>Weighted Graph</a:t>
            </a:r>
          </a:p>
        </p:txBody>
      </p:sp>
      <p:pic>
        <p:nvPicPr>
          <p:cNvPr id="6" name="Content Placeholder 5" descr="Chart&#10;&#10;Description automatically generated">
            <a:extLst>
              <a:ext uri="{FF2B5EF4-FFF2-40B4-BE49-F238E27FC236}">
                <a16:creationId xmlns:a16="http://schemas.microsoft.com/office/drawing/2014/main" id="{257D83FB-0A52-429C-BBBD-653293BCECB9}"/>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8356"/>
          <a:stretch/>
        </p:blipFill>
        <p:spPr>
          <a:xfrm>
            <a:off x="3074377" y="2001186"/>
            <a:ext cx="6043246" cy="3770963"/>
          </a:xfrm>
        </p:spPr>
      </p:pic>
      <p:sp>
        <p:nvSpPr>
          <p:cNvPr id="4" name="Slide Number Placeholder 3">
            <a:extLst>
              <a:ext uri="{FF2B5EF4-FFF2-40B4-BE49-F238E27FC236}">
                <a16:creationId xmlns:a16="http://schemas.microsoft.com/office/drawing/2014/main" id="{789AB5B6-58A2-4F07-B713-4CAA51988EEE}"/>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fld id="{6BB22796-5329-4D7E-880B-95B0A70ABA06}" type="slidenum">
              <a:rPr lang="en-US" altLang="en-US" smtClean="0"/>
              <a:pPr>
                <a:defRPr/>
              </a:pPr>
              <a:t>9</a:t>
            </a:fld>
            <a:endParaRPr lang="en-US" altLang="en-US"/>
          </a:p>
        </p:txBody>
      </p:sp>
    </p:spTree>
    <p:extLst>
      <p:ext uri="{BB962C8B-B14F-4D97-AF65-F5344CB8AC3E}">
        <p14:creationId xmlns:p14="http://schemas.microsoft.com/office/powerpoint/2010/main" val="2003449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387EF974-DEA8-42CE-BBB4-09B8193ED7EB}"/>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10</a:t>
            </a:fld>
            <a:endParaRPr lang="en-US" altLang="en-US" sz="1400"/>
          </a:p>
        </p:txBody>
      </p:sp>
      <p:sp>
        <p:nvSpPr>
          <p:cNvPr id="7171" name="Rectangle 2">
            <a:extLst>
              <a:ext uri="{FF2B5EF4-FFF2-40B4-BE49-F238E27FC236}">
                <a16:creationId xmlns:a16="http://schemas.microsoft.com/office/drawing/2014/main" id="{9FC30558-3A74-471C-9548-AFB48408FE8D}"/>
              </a:ext>
            </a:extLst>
          </p:cNvPr>
          <p:cNvSpPr>
            <a:spLocks noGrp="1" noChangeArrowheads="1"/>
          </p:cNvSpPr>
          <p:nvPr>
            <p:ph type="title"/>
          </p:nvPr>
        </p:nvSpPr>
        <p:spPr>
          <a:xfrm>
            <a:off x="2209800" y="285750"/>
            <a:ext cx="7772400" cy="704850"/>
          </a:xfrm>
        </p:spPr>
        <p:txBody>
          <a:bodyPr/>
          <a:lstStyle/>
          <a:p>
            <a:r>
              <a:rPr lang="en-US" altLang="en-US"/>
              <a:t>Representing Weighted Graphs </a:t>
            </a:r>
          </a:p>
        </p:txBody>
      </p:sp>
      <p:sp>
        <p:nvSpPr>
          <p:cNvPr id="7172" name="Text Box 3">
            <a:extLst>
              <a:ext uri="{FF2B5EF4-FFF2-40B4-BE49-F238E27FC236}">
                <a16:creationId xmlns:a16="http://schemas.microsoft.com/office/drawing/2014/main" id="{BCC57164-6F62-4989-8FCB-E4CEF1FE0574}"/>
              </a:ext>
            </a:extLst>
          </p:cNvPr>
          <p:cNvSpPr txBox="1">
            <a:spLocks noChangeArrowheads="1"/>
          </p:cNvSpPr>
          <p:nvPr/>
        </p:nvSpPr>
        <p:spPr bwMode="auto">
          <a:xfrm>
            <a:off x="2133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7173" name="Text Box 4">
            <a:extLst>
              <a:ext uri="{FF2B5EF4-FFF2-40B4-BE49-F238E27FC236}">
                <a16:creationId xmlns:a16="http://schemas.microsoft.com/office/drawing/2014/main" id="{7DDA2017-39C2-4E00-898F-D115B64DFF0D}"/>
              </a:ext>
            </a:extLst>
          </p:cNvPr>
          <p:cNvSpPr txBox="1">
            <a:spLocks noChangeArrowheads="1"/>
          </p:cNvSpPr>
          <p:nvPr/>
        </p:nvSpPr>
        <p:spPr bwMode="auto">
          <a:xfrm>
            <a:off x="1828800" y="1219201"/>
            <a:ext cx="8610600"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spcAft>
                <a:spcPts val="1200"/>
              </a:spcAft>
              <a:buClrTx/>
              <a:buSzTx/>
              <a:buNone/>
            </a:pPr>
            <a:r>
              <a:rPr lang="en-US" altLang="en-US" sz="2400"/>
              <a:t>Representing Weighted Edges: Edge Array </a:t>
            </a:r>
          </a:p>
          <a:p>
            <a:pPr>
              <a:spcBef>
                <a:spcPct val="0"/>
              </a:spcBef>
              <a:spcAft>
                <a:spcPts val="1200"/>
              </a:spcAft>
              <a:buClrTx/>
              <a:buSzTx/>
              <a:buNone/>
            </a:pPr>
            <a:r>
              <a:rPr lang="en-US" altLang="en-US" sz="2400"/>
              <a:t>Weighted Adjacency Matrices </a:t>
            </a:r>
          </a:p>
          <a:p>
            <a:pPr>
              <a:spcBef>
                <a:spcPct val="0"/>
              </a:spcBef>
              <a:spcAft>
                <a:spcPts val="1200"/>
              </a:spcAft>
              <a:buClrTx/>
              <a:buSzTx/>
              <a:buNone/>
            </a:pPr>
            <a:r>
              <a:rPr lang="en-US" altLang="en-US" sz="2400"/>
              <a:t>Adjacency Lists </a:t>
            </a:r>
          </a:p>
        </p:txBody>
      </p:sp>
      <p:pic>
        <p:nvPicPr>
          <p:cNvPr id="7" name="Picture 11">
            <a:extLst>
              <a:ext uri="{FF2B5EF4-FFF2-40B4-BE49-F238E27FC236}">
                <a16:creationId xmlns:a16="http://schemas.microsoft.com/office/drawing/2014/main" id="{B0815079-55D9-46F0-B405-56193835B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9558" y="2833142"/>
            <a:ext cx="6600825"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3F285667-6B06-46F8-8D42-2F0DDCD9B3CF}"/>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11</a:t>
            </a:fld>
            <a:endParaRPr lang="en-US" altLang="en-US" sz="1400"/>
          </a:p>
        </p:txBody>
      </p:sp>
      <p:sp>
        <p:nvSpPr>
          <p:cNvPr id="8195" name="Rectangle 2">
            <a:extLst>
              <a:ext uri="{FF2B5EF4-FFF2-40B4-BE49-F238E27FC236}">
                <a16:creationId xmlns:a16="http://schemas.microsoft.com/office/drawing/2014/main" id="{0426FCF5-4AED-4BE3-B3E7-8FA89A3D8001}"/>
              </a:ext>
            </a:extLst>
          </p:cNvPr>
          <p:cNvSpPr>
            <a:spLocks noGrp="1" noChangeArrowheads="1"/>
          </p:cNvSpPr>
          <p:nvPr>
            <p:ph type="title"/>
          </p:nvPr>
        </p:nvSpPr>
        <p:spPr>
          <a:xfrm>
            <a:off x="1752600" y="285750"/>
            <a:ext cx="8686800" cy="704850"/>
          </a:xfrm>
        </p:spPr>
        <p:txBody>
          <a:bodyPr/>
          <a:lstStyle/>
          <a:p>
            <a:r>
              <a:rPr lang="en-US" altLang="en-US" sz="3600"/>
              <a:t>Representing Weighted Edges: Edge Array</a:t>
            </a:r>
            <a:r>
              <a:rPr lang="en-US" altLang="en-US"/>
              <a:t> </a:t>
            </a:r>
          </a:p>
        </p:txBody>
      </p:sp>
      <p:sp>
        <p:nvSpPr>
          <p:cNvPr id="8196" name="Text Box 3">
            <a:extLst>
              <a:ext uri="{FF2B5EF4-FFF2-40B4-BE49-F238E27FC236}">
                <a16:creationId xmlns:a16="http://schemas.microsoft.com/office/drawing/2014/main" id="{049570D2-C52D-4D33-AC0D-B783182D8873}"/>
              </a:ext>
            </a:extLst>
          </p:cNvPr>
          <p:cNvSpPr txBox="1">
            <a:spLocks noChangeArrowheads="1"/>
          </p:cNvSpPr>
          <p:nvPr/>
        </p:nvSpPr>
        <p:spPr bwMode="auto">
          <a:xfrm>
            <a:off x="2133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8197" name="Rectangle 6">
            <a:extLst>
              <a:ext uri="{FF2B5EF4-FFF2-40B4-BE49-F238E27FC236}">
                <a16:creationId xmlns:a16="http://schemas.microsoft.com/office/drawing/2014/main" id="{4C1B2752-CE77-4E7F-A9D6-B90C21E61C90}"/>
              </a:ext>
            </a:extLst>
          </p:cNvPr>
          <p:cNvSpPr>
            <a:spLocks noChangeArrowheads="1"/>
          </p:cNvSpPr>
          <p:nvPr/>
        </p:nvSpPr>
        <p:spPr bwMode="auto">
          <a:xfrm>
            <a:off x="1524001" y="26234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8" name="Rectangle 8">
            <a:extLst>
              <a:ext uri="{FF2B5EF4-FFF2-40B4-BE49-F238E27FC236}">
                <a16:creationId xmlns:a16="http://schemas.microsoft.com/office/drawing/2014/main" id="{E5BF6CA7-DCCC-4AD0-ACB7-B4AB4EAF2654}"/>
              </a:ext>
            </a:extLst>
          </p:cNvPr>
          <p:cNvSpPr>
            <a:spLocks noChangeArrowheads="1"/>
          </p:cNvSpPr>
          <p:nvPr/>
        </p:nvSpPr>
        <p:spPr bwMode="auto">
          <a:xfrm>
            <a:off x="1524001" y="26076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9" name="Text Box 9">
            <a:extLst>
              <a:ext uri="{FF2B5EF4-FFF2-40B4-BE49-F238E27FC236}">
                <a16:creationId xmlns:a16="http://schemas.microsoft.com/office/drawing/2014/main" id="{A16DD793-3CE5-464B-929F-BBA4A821B55C}"/>
              </a:ext>
            </a:extLst>
          </p:cNvPr>
          <p:cNvSpPr txBox="1">
            <a:spLocks noChangeArrowheads="1"/>
          </p:cNvSpPr>
          <p:nvPr/>
        </p:nvSpPr>
        <p:spPr bwMode="auto">
          <a:xfrm>
            <a:off x="2057400" y="1371600"/>
            <a:ext cx="5715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a:t>int</a:t>
            </a:r>
            <a:r>
              <a:rPr lang="en-US" altLang="en-US" sz="2400"/>
              <a:t>[][] edges = {{0, 1, 2}, {0, 3, 8}, </a:t>
            </a:r>
          </a:p>
          <a:p>
            <a:pPr>
              <a:spcBef>
                <a:spcPct val="0"/>
              </a:spcBef>
              <a:buClrTx/>
              <a:buSzTx/>
              <a:buFontTx/>
              <a:buNone/>
            </a:pPr>
            <a:r>
              <a:rPr lang="en-US" altLang="en-US" sz="2400"/>
              <a:t>  {1, 0, 2}, {1, 2, 7}, {1, 3, 3},</a:t>
            </a:r>
          </a:p>
          <a:p>
            <a:pPr>
              <a:spcBef>
                <a:spcPct val="0"/>
              </a:spcBef>
              <a:buClrTx/>
              <a:buSzTx/>
              <a:buFontTx/>
              <a:buNone/>
            </a:pPr>
            <a:r>
              <a:rPr lang="en-US" altLang="en-US" sz="2400"/>
              <a:t>  {2, 1, 7}, {2, 3, 4}, {2, 4, 5},</a:t>
            </a:r>
          </a:p>
          <a:p>
            <a:pPr>
              <a:spcBef>
                <a:spcPct val="0"/>
              </a:spcBef>
              <a:buClrTx/>
              <a:buSzTx/>
              <a:buFontTx/>
              <a:buNone/>
            </a:pPr>
            <a:r>
              <a:rPr lang="en-US" altLang="en-US" sz="2400"/>
              <a:t>  {3, 0, 8}, {3, 1, 3}, {3, 2, 4}, {3, 4, 6},</a:t>
            </a:r>
          </a:p>
          <a:p>
            <a:pPr>
              <a:spcBef>
                <a:spcPct val="0"/>
              </a:spcBef>
              <a:buClrTx/>
              <a:buSzTx/>
              <a:buFontTx/>
              <a:buNone/>
            </a:pPr>
            <a:r>
              <a:rPr lang="en-US" altLang="en-US" sz="2400"/>
              <a:t>  {4, 2, 5}, {4, 3, 6}</a:t>
            </a:r>
          </a:p>
          <a:p>
            <a:pPr>
              <a:spcBef>
                <a:spcPct val="0"/>
              </a:spcBef>
              <a:buClrTx/>
              <a:buSzTx/>
              <a:buFontTx/>
              <a:buNone/>
            </a:pPr>
            <a:r>
              <a:rPr lang="en-US" altLang="en-US" sz="2400"/>
              <a:t>}; </a:t>
            </a:r>
          </a:p>
        </p:txBody>
      </p:sp>
      <p:sp>
        <p:nvSpPr>
          <p:cNvPr id="8200" name="Rectangle 11">
            <a:extLst>
              <a:ext uri="{FF2B5EF4-FFF2-40B4-BE49-F238E27FC236}">
                <a16:creationId xmlns:a16="http://schemas.microsoft.com/office/drawing/2014/main" id="{4C9F10DB-C594-443A-AFCD-BD7CC837DFDD}"/>
              </a:ext>
            </a:extLst>
          </p:cNvPr>
          <p:cNvSpPr>
            <a:spLocks noChangeArrowheads="1"/>
          </p:cNvSpPr>
          <p:nvPr/>
        </p:nvSpPr>
        <p:spPr bwMode="auto">
          <a:xfrm>
            <a:off x="1524001" y="26076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8201" name="Picture 11">
            <a:extLst>
              <a:ext uri="{FF2B5EF4-FFF2-40B4-BE49-F238E27FC236}">
                <a16:creationId xmlns:a16="http://schemas.microsoft.com/office/drawing/2014/main" id="{B7722A95-9D50-4B4B-8F8E-94BB8C5CE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3200401"/>
            <a:ext cx="6600825"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FE056B3E-2212-4378-83EB-563A5683B5C9}"/>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12</a:t>
            </a:fld>
            <a:endParaRPr lang="en-US" altLang="en-US" sz="1400"/>
          </a:p>
        </p:txBody>
      </p:sp>
      <p:sp>
        <p:nvSpPr>
          <p:cNvPr id="9219" name="Rectangle 2">
            <a:extLst>
              <a:ext uri="{FF2B5EF4-FFF2-40B4-BE49-F238E27FC236}">
                <a16:creationId xmlns:a16="http://schemas.microsoft.com/office/drawing/2014/main" id="{F684DFC3-D108-470D-9B69-D6E591F4725C}"/>
              </a:ext>
            </a:extLst>
          </p:cNvPr>
          <p:cNvSpPr>
            <a:spLocks noGrp="1" noChangeArrowheads="1"/>
          </p:cNvSpPr>
          <p:nvPr>
            <p:ph type="title"/>
          </p:nvPr>
        </p:nvSpPr>
        <p:spPr>
          <a:xfrm>
            <a:off x="1905000" y="0"/>
            <a:ext cx="8458200" cy="838200"/>
          </a:xfrm>
        </p:spPr>
        <p:txBody>
          <a:bodyPr/>
          <a:lstStyle/>
          <a:p>
            <a:r>
              <a:rPr lang="en-US" altLang="en-US" sz="3600"/>
              <a:t>Representing Weighted Edges: Edge Array</a:t>
            </a:r>
            <a:r>
              <a:rPr lang="en-US" altLang="en-US"/>
              <a:t> </a:t>
            </a:r>
          </a:p>
        </p:txBody>
      </p:sp>
      <p:sp>
        <p:nvSpPr>
          <p:cNvPr id="9220" name="Text Box 3">
            <a:extLst>
              <a:ext uri="{FF2B5EF4-FFF2-40B4-BE49-F238E27FC236}">
                <a16:creationId xmlns:a16="http://schemas.microsoft.com/office/drawing/2014/main" id="{D79F9854-A3C2-443E-B8DF-88A9EA848D3C}"/>
              </a:ext>
            </a:extLst>
          </p:cNvPr>
          <p:cNvSpPr txBox="1">
            <a:spLocks noChangeArrowheads="1"/>
          </p:cNvSpPr>
          <p:nvPr/>
        </p:nvSpPr>
        <p:spPr bwMode="auto">
          <a:xfrm>
            <a:off x="2133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9221" name="Rectangle 4">
            <a:extLst>
              <a:ext uri="{FF2B5EF4-FFF2-40B4-BE49-F238E27FC236}">
                <a16:creationId xmlns:a16="http://schemas.microsoft.com/office/drawing/2014/main" id="{2E80DC7E-8D26-437A-B4E2-40ED5FEBB892}"/>
              </a:ext>
            </a:extLst>
          </p:cNvPr>
          <p:cNvSpPr>
            <a:spLocks noChangeArrowheads="1"/>
          </p:cNvSpPr>
          <p:nvPr/>
        </p:nvSpPr>
        <p:spPr bwMode="auto">
          <a:xfrm>
            <a:off x="1524001" y="26234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2" name="Rectangle 5">
            <a:extLst>
              <a:ext uri="{FF2B5EF4-FFF2-40B4-BE49-F238E27FC236}">
                <a16:creationId xmlns:a16="http://schemas.microsoft.com/office/drawing/2014/main" id="{24A18247-B2FB-438D-A726-55B4875141B4}"/>
              </a:ext>
            </a:extLst>
          </p:cNvPr>
          <p:cNvSpPr>
            <a:spLocks noChangeArrowheads="1"/>
          </p:cNvSpPr>
          <p:nvPr/>
        </p:nvSpPr>
        <p:spPr bwMode="auto">
          <a:xfrm>
            <a:off x="1524001" y="26076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9223" name="Object 10">
            <a:extLst>
              <a:ext uri="{FF2B5EF4-FFF2-40B4-BE49-F238E27FC236}">
                <a16:creationId xmlns:a16="http://schemas.microsoft.com/office/drawing/2014/main" id="{21C7D6D4-1D47-43DE-A659-A63F80318250}"/>
              </a:ext>
            </a:extLst>
          </p:cNvPr>
          <p:cNvGraphicFramePr>
            <a:graphicFrameLocks noChangeAspect="1"/>
          </p:cNvGraphicFramePr>
          <p:nvPr/>
        </p:nvGraphicFramePr>
        <p:xfrm>
          <a:off x="6172200" y="1143000"/>
          <a:ext cx="4267200" cy="2203450"/>
        </p:xfrm>
        <a:graphic>
          <a:graphicData uri="http://schemas.openxmlformats.org/presentationml/2006/ole">
            <mc:AlternateContent xmlns:mc="http://schemas.openxmlformats.org/markup-compatibility/2006">
              <mc:Choice xmlns:v="urn:schemas-microsoft-com:vml" Requires="v">
                <p:oleObj name="Picture" r:id="rId3" imgW="2209800" imgH="1144524" progId="Word.Picture.8">
                  <p:embed/>
                </p:oleObj>
              </mc:Choice>
              <mc:Fallback>
                <p:oleObj name="Picture" r:id="rId3" imgW="2209800" imgH="1144524" progId="Word.Picture.8">
                  <p:embed/>
                  <p:pic>
                    <p:nvPicPr>
                      <p:cNvPr id="9223" name="Object 10">
                        <a:extLst>
                          <a:ext uri="{FF2B5EF4-FFF2-40B4-BE49-F238E27FC236}">
                            <a16:creationId xmlns:a16="http://schemas.microsoft.com/office/drawing/2014/main" id="{21C7D6D4-1D47-43DE-A659-A63F803182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1143000"/>
                        <a:ext cx="4267200"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Rectangle 13">
            <a:extLst>
              <a:ext uri="{FF2B5EF4-FFF2-40B4-BE49-F238E27FC236}">
                <a16:creationId xmlns:a16="http://schemas.microsoft.com/office/drawing/2014/main" id="{1054DD8B-D8C7-453A-95E6-F0F17485919D}"/>
              </a:ext>
            </a:extLst>
          </p:cNvPr>
          <p:cNvSpPr>
            <a:spLocks noChangeArrowheads="1"/>
          </p:cNvSpPr>
          <p:nvPr/>
        </p:nvSpPr>
        <p:spPr bwMode="auto">
          <a:xfrm>
            <a:off x="1844675" y="3321051"/>
            <a:ext cx="5461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800">
                <a:latin typeface="Courier New" panose="02070309020205020404" pitchFamily="49" charset="0"/>
                <a:ea typeface="Courier"/>
                <a:cs typeface="Courier New" panose="02070309020205020404" pitchFamily="49" charset="0"/>
              </a:rPr>
              <a:t>      </a:t>
            </a:r>
            <a:endParaRPr lang="en-US" altLang="en-US" sz="2400">
              <a:ea typeface="Courier"/>
              <a:cs typeface="Courier New" panose="02070309020205020404" pitchFamily="49" charset="0"/>
            </a:endParaRPr>
          </a:p>
        </p:txBody>
      </p:sp>
      <p:sp>
        <p:nvSpPr>
          <p:cNvPr id="9225" name="Rectangle 14">
            <a:extLst>
              <a:ext uri="{FF2B5EF4-FFF2-40B4-BE49-F238E27FC236}">
                <a16:creationId xmlns:a16="http://schemas.microsoft.com/office/drawing/2014/main" id="{EA9F6B28-D8DE-4627-B090-080A0079B71F}"/>
              </a:ext>
            </a:extLst>
          </p:cNvPr>
          <p:cNvSpPr>
            <a:spLocks noChangeArrowheads="1"/>
          </p:cNvSpPr>
          <p:nvPr/>
        </p:nvSpPr>
        <p:spPr bwMode="auto">
          <a:xfrm>
            <a:off x="1844675" y="42592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tabLst>
                <a:tab pos="5029200" algn="l"/>
              </a:tabLst>
              <a:defRPr sz="3200">
                <a:solidFill>
                  <a:schemeClr val="tx1"/>
                </a:solidFill>
                <a:latin typeface="Times New Roman" panose="02020603050405020304" pitchFamily="18" charset="0"/>
              </a:defRPr>
            </a:lvl1pPr>
            <a:lvl2pPr marL="742950" indent="-285750">
              <a:spcBef>
                <a:spcPct val="20000"/>
              </a:spcBef>
              <a:buClr>
                <a:schemeClr val="tx1"/>
              </a:buClr>
              <a:buChar char="–"/>
              <a:tabLst>
                <a:tab pos="5029200" algn="l"/>
              </a:tabLst>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tabLst>
                <a:tab pos="5029200" algn="l"/>
              </a:tabLst>
              <a:defRPr sz="2400">
                <a:solidFill>
                  <a:schemeClr val="tx1"/>
                </a:solidFill>
                <a:latin typeface="Times New Roman" panose="02020603050405020304" pitchFamily="18" charset="0"/>
              </a:defRPr>
            </a:lvl3pPr>
            <a:lvl4pPr marL="1600200" indent="-228600">
              <a:spcBef>
                <a:spcPct val="20000"/>
              </a:spcBef>
              <a:buClr>
                <a:schemeClr val="tx1"/>
              </a:buClr>
              <a:buChar char="–"/>
              <a:tabLst>
                <a:tab pos="5029200" algn="l"/>
              </a:tabLst>
              <a:defRPr sz="2000">
                <a:solidFill>
                  <a:schemeClr val="tx1"/>
                </a:solidFill>
                <a:latin typeface="Times New Roman" panose="02020603050405020304" pitchFamily="18" charset="0"/>
              </a:defRPr>
            </a:lvl4pPr>
            <a:lvl5pPr marL="2057400" indent="-228600">
              <a:spcBef>
                <a:spcPct val="20000"/>
              </a:spcBef>
              <a:buClr>
                <a:schemeClr val="tx2"/>
              </a:buClr>
              <a:buChar char="•"/>
              <a:tabLst>
                <a:tab pos="5029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tabLst>
                <a:tab pos="5029200" algn="l"/>
              </a:tabLst>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6" name="Rectangle 16">
            <a:extLst>
              <a:ext uri="{FF2B5EF4-FFF2-40B4-BE49-F238E27FC236}">
                <a16:creationId xmlns:a16="http://schemas.microsoft.com/office/drawing/2014/main" id="{E3001D50-2A2C-42AA-9FD5-531F8C210822}"/>
              </a:ext>
            </a:extLst>
          </p:cNvPr>
          <p:cNvSpPr>
            <a:spLocks noChangeArrowheads="1"/>
          </p:cNvSpPr>
          <p:nvPr/>
        </p:nvSpPr>
        <p:spPr bwMode="auto">
          <a:xfrm>
            <a:off x="1524001" y="27219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9227" name="Object 15">
            <a:extLst>
              <a:ext uri="{FF2B5EF4-FFF2-40B4-BE49-F238E27FC236}">
                <a16:creationId xmlns:a16="http://schemas.microsoft.com/office/drawing/2014/main" id="{05522B2D-E913-40B6-A659-583D66055008}"/>
              </a:ext>
            </a:extLst>
          </p:cNvPr>
          <p:cNvGraphicFramePr>
            <a:graphicFrameLocks noChangeAspect="1"/>
          </p:cNvGraphicFramePr>
          <p:nvPr/>
        </p:nvGraphicFramePr>
        <p:xfrm>
          <a:off x="1752600" y="1143001"/>
          <a:ext cx="4191000" cy="2163763"/>
        </p:xfrm>
        <a:graphic>
          <a:graphicData uri="http://schemas.openxmlformats.org/presentationml/2006/ole">
            <mc:AlternateContent xmlns:mc="http://schemas.openxmlformats.org/markup-compatibility/2006">
              <mc:Choice xmlns:v="urn:schemas-microsoft-com:vml" Requires="v">
                <p:oleObj name="Picture" r:id="rId5" imgW="2204915" imgH="1146616" progId="Word.Picture.8">
                  <p:embed/>
                </p:oleObj>
              </mc:Choice>
              <mc:Fallback>
                <p:oleObj name="Picture" r:id="rId5" imgW="2204915" imgH="1146616" progId="Word.Picture.8">
                  <p:embed/>
                  <p:pic>
                    <p:nvPicPr>
                      <p:cNvPr id="9227" name="Object 15">
                        <a:extLst>
                          <a:ext uri="{FF2B5EF4-FFF2-40B4-BE49-F238E27FC236}">
                            <a16:creationId xmlns:a16="http://schemas.microsoft.com/office/drawing/2014/main" id="{05522B2D-E913-40B6-A659-583D660550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1143001"/>
                        <a:ext cx="4191000"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9228" name="Picture 16">
            <a:extLst>
              <a:ext uri="{FF2B5EF4-FFF2-40B4-BE49-F238E27FC236}">
                <a16:creationId xmlns:a16="http://schemas.microsoft.com/office/drawing/2014/main" id="{23D0470E-3BA3-4EBE-95E4-99A09D753A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5889" y="3427414"/>
            <a:ext cx="6600825"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90FD2BAE-9991-4701-BDF7-3906ABC51100}"/>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13</a:t>
            </a:fld>
            <a:endParaRPr lang="en-US" altLang="en-US" sz="1400"/>
          </a:p>
        </p:txBody>
      </p:sp>
      <p:sp>
        <p:nvSpPr>
          <p:cNvPr id="10243" name="Rectangle 2">
            <a:extLst>
              <a:ext uri="{FF2B5EF4-FFF2-40B4-BE49-F238E27FC236}">
                <a16:creationId xmlns:a16="http://schemas.microsoft.com/office/drawing/2014/main" id="{C54F2501-1DC5-4FCB-A397-D263371D72C2}"/>
              </a:ext>
            </a:extLst>
          </p:cNvPr>
          <p:cNvSpPr>
            <a:spLocks noGrp="1" noChangeArrowheads="1"/>
          </p:cNvSpPr>
          <p:nvPr>
            <p:ph type="title"/>
          </p:nvPr>
        </p:nvSpPr>
        <p:spPr>
          <a:xfrm>
            <a:off x="2209800" y="285750"/>
            <a:ext cx="7772400" cy="781050"/>
          </a:xfrm>
        </p:spPr>
        <p:txBody>
          <a:bodyPr/>
          <a:lstStyle/>
          <a:p>
            <a:r>
              <a:rPr lang="en-US" altLang="en-US">
                <a:solidFill>
                  <a:schemeClr val="tx1"/>
                </a:solidFill>
              </a:rPr>
              <a:t>Edge Adjacency Lists</a:t>
            </a:r>
          </a:p>
        </p:txBody>
      </p:sp>
      <p:sp>
        <p:nvSpPr>
          <p:cNvPr id="10244" name="Text Box 3">
            <a:extLst>
              <a:ext uri="{FF2B5EF4-FFF2-40B4-BE49-F238E27FC236}">
                <a16:creationId xmlns:a16="http://schemas.microsoft.com/office/drawing/2014/main" id="{406B57E4-AA3F-4884-A1A4-98D62C9E28BC}"/>
              </a:ext>
            </a:extLst>
          </p:cNvPr>
          <p:cNvSpPr txBox="1">
            <a:spLocks noChangeArrowheads="1"/>
          </p:cNvSpPr>
          <p:nvPr/>
        </p:nvSpPr>
        <p:spPr bwMode="auto">
          <a:xfrm>
            <a:off x="2133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0245" name="Rectangle 4">
            <a:extLst>
              <a:ext uri="{FF2B5EF4-FFF2-40B4-BE49-F238E27FC236}">
                <a16:creationId xmlns:a16="http://schemas.microsoft.com/office/drawing/2014/main" id="{FB48E2B9-2AC0-4556-B51F-002957E96C90}"/>
              </a:ext>
            </a:extLst>
          </p:cNvPr>
          <p:cNvSpPr>
            <a:spLocks noChangeArrowheads="1"/>
          </p:cNvSpPr>
          <p:nvPr/>
        </p:nvSpPr>
        <p:spPr bwMode="auto">
          <a:xfrm>
            <a:off x="1524001" y="26234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6" name="Rectangle 11">
            <a:extLst>
              <a:ext uri="{FF2B5EF4-FFF2-40B4-BE49-F238E27FC236}">
                <a16:creationId xmlns:a16="http://schemas.microsoft.com/office/drawing/2014/main" id="{6F0858EC-4DB0-4977-84ED-F3806764E3E4}"/>
              </a:ext>
            </a:extLst>
          </p:cNvPr>
          <p:cNvSpPr>
            <a:spLocks noChangeArrowheads="1"/>
          </p:cNvSpPr>
          <p:nvPr/>
        </p:nvSpPr>
        <p:spPr bwMode="auto">
          <a:xfrm>
            <a:off x="1524001" y="26234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12">
            <a:extLst>
              <a:ext uri="{FF2B5EF4-FFF2-40B4-BE49-F238E27FC236}">
                <a16:creationId xmlns:a16="http://schemas.microsoft.com/office/drawing/2014/main" id="{0380392A-D008-4A7A-BBC5-242EF1A53DB9}"/>
              </a:ext>
            </a:extLst>
          </p:cNvPr>
          <p:cNvSpPr>
            <a:spLocks noChangeArrowheads="1"/>
          </p:cNvSpPr>
          <p:nvPr/>
        </p:nvSpPr>
        <p:spPr bwMode="auto">
          <a:xfrm>
            <a:off x="1524001" y="43934"/>
            <a:ext cx="184731" cy="36933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graphicFrame>
        <p:nvGraphicFramePr>
          <p:cNvPr id="10248" name="Object 2">
            <a:extLst>
              <a:ext uri="{FF2B5EF4-FFF2-40B4-BE49-F238E27FC236}">
                <a16:creationId xmlns:a16="http://schemas.microsoft.com/office/drawing/2014/main" id="{2D02A2E0-446C-4B5F-A8F8-35C4DC2D32E9}"/>
              </a:ext>
            </a:extLst>
          </p:cNvPr>
          <p:cNvGraphicFramePr>
            <a:graphicFrameLocks noChangeAspect="1"/>
          </p:cNvGraphicFramePr>
          <p:nvPr/>
        </p:nvGraphicFramePr>
        <p:xfrm>
          <a:off x="1501776" y="1914525"/>
          <a:ext cx="8848725" cy="2052638"/>
        </p:xfrm>
        <a:graphic>
          <a:graphicData uri="http://schemas.openxmlformats.org/presentationml/2006/ole">
            <mc:AlternateContent xmlns:mc="http://schemas.openxmlformats.org/markup-compatibility/2006">
              <mc:Choice xmlns:v="urn:schemas-microsoft-com:vml" Requires="v">
                <p:oleObj name="Picture" r:id="rId3" imgW="5997792" imgH="1386102" progId="Word.Picture.8">
                  <p:embed/>
                </p:oleObj>
              </mc:Choice>
              <mc:Fallback>
                <p:oleObj name="Picture" r:id="rId3" imgW="5997792" imgH="1386102" progId="Word.Picture.8">
                  <p:embed/>
                  <p:pic>
                    <p:nvPicPr>
                      <p:cNvPr id="10248" name="Object 2">
                        <a:extLst>
                          <a:ext uri="{FF2B5EF4-FFF2-40B4-BE49-F238E27FC236}">
                            <a16:creationId xmlns:a16="http://schemas.microsoft.com/office/drawing/2014/main" id="{2D02A2E0-446C-4B5F-A8F8-35C4DC2D32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1776" y="1914525"/>
                        <a:ext cx="8848725"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13">
            <a:extLst>
              <a:ext uri="{FF2B5EF4-FFF2-40B4-BE49-F238E27FC236}">
                <a16:creationId xmlns:a16="http://schemas.microsoft.com/office/drawing/2014/main" id="{5996204A-4E30-4EBE-B2DD-926CA1C375D0}"/>
              </a:ext>
            </a:extLst>
          </p:cNvPr>
          <p:cNvSpPr>
            <a:spLocks noChangeArrowheads="1"/>
          </p:cNvSpPr>
          <p:nvPr/>
        </p:nvSpPr>
        <p:spPr bwMode="auto">
          <a:xfrm>
            <a:off x="1524001" y="1652072"/>
            <a:ext cx="184731" cy="36933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tabLst>
                <a:tab pos="5029200" algn="l"/>
              </a:tabLst>
              <a:defRPr/>
            </a:pPr>
            <a:endParaRPr lang="en-US"/>
          </a:p>
        </p:txBody>
      </p:sp>
      <p:sp>
        <p:nvSpPr>
          <p:cNvPr id="10250" name="Text Box 4">
            <a:extLst>
              <a:ext uri="{FF2B5EF4-FFF2-40B4-BE49-F238E27FC236}">
                <a16:creationId xmlns:a16="http://schemas.microsoft.com/office/drawing/2014/main" id="{B1D42054-9CCD-404A-878F-2B36B34B3F3D}"/>
              </a:ext>
            </a:extLst>
          </p:cNvPr>
          <p:cNvSpPr txBox="1">
            <a:spLocks noChangeArrowheads="1"/>
          </p:cNvSpPr>
          <p:nvPr/>
        </p:nvSpPr>
        <p:spPr bwMode="auto">
          <a:xfrm>
            <a:off x="1828800" y="1219201"/>
            <a:ext cx="8610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AU" altLang="en-US" sz="2400"/>
              <a:t>java.util.List&lt;WeightedEdge&gt;[] neighbors = </a:t>
            </a:r>
            <a:r>
              <a:rPr lang="en-AU" altLang="en-US" sz="2400" b="1"/>
              <a:t>new</a:t>
            </a:r>
            <a:r>
              <a:rPr lang="en-AU" altLang="en-US" sz="2400"/>
              <a:t> java.util.List[</a:t>
            </a:r>
            <a:r>
              <a:rPr lang="en-AU" altLang="en-US" sz="2400" b="1"/>
              <a:t>5</a:t>
            </a:r>
            <a:r>
              <a:rPr lang="en-AU" altLang="en-US" sz="2400"/>
              <a:t>];</a:t>
            </a:r>
            <a:endParaRPr lang="en-US" altLang="en-US" sz="2400"/>
          </a:p>
        </p:txBody>
      </p:sp>
      <p:pic>
        <p:nvPicPr>
          <p:cNvPr id="10251" name="Picture 16">
            <a:extLst>
              <a:ext uri="{FF2B5EF4-FFF2-40B4-BE49-F238E27FC236}">
                <a16:creationId xmlns:a16="http://schemas.microsoft.com/office/drawing/2014/main" id="{77C5EA4E-1CBF-4E41-BE55-7940365FC8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1" y="4094164"/>
            <a:ext cx="5095875" cy="2300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D8E5F-C647-4B0F-B03A-1279E8DED08C}"/>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45AD967E-35E8-4F0F-A42F-D8EF2D0E87E7}"/>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fld id="{6BB22796-5329-4D7E-880B-95B0A70ABA06}" type="slidenum">
              <a:rPr lang="en-US" altLang="en-US" smtClean="0"/>
              <a:pPr>
                <a:defRPr/>
              </a:pPr>
              <a:t>14</a:t>
            </a:fld>
            <a:endParaRPr lang="en-US" altLang="en-US"/>
          </a:p>
        </p:txBody>
      </p:sp>
      <p:sp>
        <p:nvSpPr>
          <p:cNvPr id="5" name="Rectangle 1">
            <a:extLst>
              <a:ext uri="{FF2B5EF4-FFF2-40B4-BE49-F238E27FC236}">
                <a16:creationId xmlns:a16="http://schemas.microsoft.com/office/drawing/2014/main" id="{68D43474-BE82-4D3B-BAF0-D888A5331498}"/>
              </a:ext>
            </a:extLst>
          </p:cNvPr>
          <p:cNvSpPr>
            <a:spLocks noGrp="1" noChangeArrowheads="1"/>
          </p:cNvSpPr>
          <p:nvPr>
            <p:ph idx="1"/>
          </p:nvPr>
        </p:nvSpPr>
        <p:spPr bwMode="auto">
          <a:xfrm>
            <a:off x="2242226" y="2057401"/>
            <a:ext cx="6858000" cy="25853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1800" dirty="0">
                <a:solidFill>
                  <a:srgbClr val="000000"/>
                </a:solidFill>
                <a:latin typeface="Times New Roman" panose="02020603050405020304" pitchFamily="18" charset="0"/>
                <a:cs typeface="Times New Roman" panose="02020603050405020304" pitchFamily="18" charset="0"/>
              </a:rPr>
              <a:t>What is the output of the following code?</a:t>
            </a:r>
          </a:p>
          <a:p>
            <a:pPr marL="0" indent="0" eaLnBrk="0" fontAlgn="base" hangingPunct="0">
              <a:lnSpc>
                <a:spcPct val="100000"/>
              </a:lnSpc>
              <a:spcBef>
                <a:spcPct val="0"/>
              </a:spcBef>
              <a:spcAft>
                <a:spcPct val="0"/>
              </a:spcAft>
              <a:buNone/>
            </a:pPr>
            <a:endParaRPr lang="en-US" altLang="en-US" sz="1800" dirty="0">
              <a:solidFill>
                <a:srgbClr val="000000"/>
              </a:solidFill>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800" dirty="0">
                <a:solidFill>
                  <a:srgbClr val="000000"/>
                </a:solidFill>
                <a:latin typeface="Courier New" panose="02070309020205020404" pitchFamily="49" charset="0"/>
                <a:cs typeface="Courier New" panose="02070309020205020404" pitchFamily="49" charset="0"/>
              </a:rPr>
              <a:t>List&lt;</a:t>
            </a: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&gt; list = </a:t>
            </a:r>
            <a:r>
              <a:rPr lang="en-US" altLang="en-US" sz="1800" b="1" dirty="0">
                <a:solidFill>
                  <a:srgbClr val="000FD6"/>
                </a:solidFill>
                <a:latin typeface="Courier New" panose="02070309020205020404" pitchFamily="49" charset="0"/>
                <a:cs typeface="Courier New" panose="02070309020205020404" pitchFamily="49" charset="0"/>
              </a:rPr>
              <a:t>new</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err="1">
                <a:solidFill>
                  <a:srgbClr val="000000"/>
                </a:solidFill>
                <a:latin typeface="Courier New" panose="02070309020205020404" pitchFamily="49" charset="0"/>
                <a:cs typeface="Courier New" panose="02070309020205020404" pitchFamily="49" charset="0"/>
              </a:rPr>
              <a:t>ArrayList</a:t>
            </a:r>
            <a:r>
              <a:rPr lang="en-US" altLang="en-US" sz="1800" dirty="0">
                <a:solidFill>
                  <a:srgbClr val="000000"/>
                </a:solidFill>
                <a:latin typeface="Courier New" panose="02070309020205020404" pitchFamily="49" charset="0"/>
                <a:cs typeface="Courier New" panose="02070309020205020404" pitchFamily="49" charset="0"/>
              </a:rPr>
              <a:t>&lt;&gt;();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list.add</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b="1" dirty="0">
                <a:solidFill>
                  <a:srgbClr val="000FD6"/>
                </a:solidFill>
                <a:latin typeface="Courier New" panose="02070309020205020404" pitchFamily="49" charset="0"/>
                <a:cs typeface="Courier New" panose="02070309020205020404" pitchFamily="49" charset="0"/>
              </a:rPr>
              <a:t>new</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a:solidFill>
                  <a:srgbClr val="007D9F"/>
                </a:solidFill>
                <a:latin typeface="Courier New" panose="02070309020205020404" pitchFamily="49" charset="0"/>
                <a:cs typeface="Courier New" panose="02070309020205020404" pitchFamily="49" charset="0"/>
              </a:rPr>
              <a:t>1</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2</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3.5</a:t>
            </a:r>
            <a:r>
              <a:rPr lang="en-US" altLang="en-US" sz="1800" dirty="0">
                <a:solidFill>
                  <a:srgbClr val="000000"/>
                </a:solidFill>
                <a:latin typeface="Courier New" panose="02070309020205020404" pitchFamily="49" charset="0"/>
                <a:cs typeface="Courier New" panose="02070309020205020404" pitchFamily="49" charset="0"/>
              </a:rPr>
              <a: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list.add</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b="1" dirty="0">
                <a:solidFill>
                  <a:srgbClr val="000FD6"/>
                </a:solidFill>
                <a:latin typeface="Courier New" panose="02070309020205020404" pitchFamily="49" charset="0"/>
                <a:cs typeface="Courier New" panose="02070309020205020404" pitchFamily="49" charset="0"/>
              </a:rPr>
              <a:t>new</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a:solidFill>
                  <a:srgbClr val="007D9F"/>
                </a:solidFill>
                <a:latin typeface="Courier New" panose="02070309020205020404" pitchFamily="49" charset="0"/>
                <a:cs typeface="Courier New" panose="02070309020205020404" pitchFamily="49" charset="0"/>
              </a:rPr>
              <a:t>2</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3</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4.5</a:t>
            </a:r>
            <a:r>
              <a:rPr lang="en-US" altLang="en-US" sz="1800" dirty="0">
                <a:solidFill>
                  <a:srgbClr val="000000"/>
                </a:solidFill>
                <a:latin typeface="Courier New" panose="02070309020205020404" pitchFamily="49" charset="0"/>
                <a:cs typeface="Courier New" panose="02070309020205020404" pitchFamily="49" charset="0"/>
              </a:rPr>
              <a:t>));</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 e = </a:t>
            </a:r>
            <a:r>
              <a:rPr lang="en-US" altLang="en-US" sz="1800" dirty="0" err="1">
                <a:solidFill>
                  <a:srgbClr val="000000"/>
                </a:solidFill>
                <a:latin typeface="Courier New" panose="02070309020205020404" pitchFamily="49" charset="0"/>
                <a:cs typeface="Courier New" panose="02070309020205020404" pitchFamily="49" charset="0"/>
              </a:rPr>
              <a:t>java.util.Collections.max</a:t>
            </a:r>
            <a:r>
              <a:rPr lang="en-US" altLang="en-US" sz="1800" dirty="0">
                <a:solidFill>
                  <a:srgbClr val="000000"/>
                </a:solidFill>
                <a:latin typeface="Courier New" panose="02070309020205020404" pitchFamily="49" charset="0"/>
                <a:cs typeface="Courier New" panose="02070309020205020404" pitchFamily="49" charset="0"/>
              </a:rPr>
              <a:t>(list);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System.out.println</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err="1">
                <a:solidFill>
                  <a:srgbClr val="000000"/>
                </a:solidFill>
                <a:latin typeface="Courier New" panose="02070309020205020404" pitchFamily="49" charset="0"/>
                <a:cs typeface="Courier New" panose="02070309020205020404" pitchFamily="49" charset="0"/>
              </a:rPr>
              <a:t>e.u</a:t>
            </a:r>
            <a:r>
              <a:rPr lang="en-US" altLang="en-US" sz="1800" dirty="0">
                <a:solidFill>
                  <a:srgbClr val="000000"/>
                </a:solidFill>
                <a:latin typeface="Courier New" panose="02070309020205020404" pitchFamily="49" charset="0"/>
                <a:cs typeface="Courier New" panose="02070309020205020404" pitchFamily="49" charset="0"/>
              </a:rPr>
              <a: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System.out.println</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err="1">
                <a:solidFill>
                  <a:srgbClr val="000000"/>
                </a:solidFill>
                <a:latin typeface="Courier New" panose="02070309020205020404" pitchFamily="49" charset="0"/>
                <a:cs typeface="Courier New" panose="02070309020205020404" pitchFamily="49" charset="0"/>
              </a:rPr>
              <a:t>e.v</a:t>
            </a:r>
            <a:r>
              <a:rPr lang="en-US" altLang="en-US" sz="1800" dirty="0">
                <a:solidFill>
                  <a:srgbClr val="000000"/>
                </a:solidFill>
                <a:latin typeface="Courier New" panose="02070309020205020404" pitchFamily="49" charset="0"/>
                <a:cs typeface="Courier New" panose="02070309020205020404" pitchFamily="49" charset="0"/>
              </a:rPr>
              <a: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System.out.println</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err="1">
                <a:solidFill>
                  <a:srgbClr val="000000"/>
                </a:solidFill>
                <a:latin typeface="Courier New" panose="02070309020205020404" pitchFamily="49" charset="0"/>
                <a:cs typeface="Courier New" panose="02070309020205020404" pitchFamily="49" charset="0"/>
              </a:rPr>
              <a:t>e.weight</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a:t> </a:t>
            </a:r>
            <a:endParaRPr lang="en-US" altLang="en-US" sz="1800" dirty="0">
              <a:latin typeface="Arial" panose="020B0604020202020204" pitchFamily="34" charset="0"/>
            </a:endParaRPr>
          </a:p>
        </p:txBody>
      </p:sp>
    </p:spTree>
    <p:extLst>
      <p:ext uri="{BB962C8B-B14F-4D97-AF65-F5344CB8AC3E}">
        <p14:creationId xmlns:p14="http://schemas.microsoft.com/office/powerpoint/2010/main" val="25216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334C-EAA1-471C-950C-79C6DC29747E}"/>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B8107A5D-6509-4B19-8EF9-81A535DBACC7}"/>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fld id="{6BB22796-5329-4D7E-880B-95B0A70ABA06}" type="slidenum">
              <a:rPr lang="en-US" altLang="en-US" smtClean="0"/>
              <a:pPr>
                <a:defRPr/>
              </a:pPr>
              <a:t>15</a:t>
            </a:fld>
            <a:endParaRPr lang="en-US" altLang="en-US"/>
          </a:p>
        </p:txBody>
      </p:sp>
      <p:sp>
        <p:nvSpPr>
          <p:cNvPr id="5" name="Rectangle 1">
            <a:extLst>
              <a:ext uri="{FF2B5EF4-FFF2-40B4-BE49-F238E27FC236}">
                <a16:creationId xmlns:a16="http://schemas.microsoft.com/office/drawing/2014/main" id="{DF749150-E92F-435E-AC08-5966570D7AFE}"/>
              </a:ext>
            </a:extLst>
          </p:cNvPr>
          <p:cNvSpPr>
            <a:spLocks noGrp="1" noChangeArrowheads="1"/>
          </p:cNvSpPr>
          <p:nvPr>
            <p:ph idx="1"/>
          </p:nvPr>
        </p:nvSpPr>
        <p:spPr bwMode="auto">
          <a:xfrm>
            <a:off x="1798670" y="1752600"/>
            <a:ext cx="8594661"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45720" rIns="91440" bIns="45720" numCol="1" rtlCol="0"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1800" dirty="0">
                <a:solidFill>
                  <a:srgbClr val="000000"/>
                </a:solidFill>
                <a:latin typeface="Times New Roman" panose="02020603050405020304" pitchFamily="18" charset="0"/>
                <a:cs typeface="Times New Roman" panose="02020603050405020304" pitchFamily="18" charset="0"/>
              </a:rPr>
              <a:t>If a priority queue is used to store weighted edges, what is the output of the following code?</a:t>
            </a:r>
          </a:p>
          <a:p>
            <a:pPr marL="0" indent="0" eaLnBrk="0" fontAlgn="base" hangingPunct="0">
              <a:lnSpc>
                <a:spcPct val="100000"/>
              </a:lnSpc>
              <a:spcBef>
                <a:spcPct val="0"/>
              </a:spcBef>
              <a:spcAft>
                <a:spcPct val="0"/>
              </a:spcAft>
              <a:buNone/>
            </a:pPr>
            <a:endParaRPr lang="en-US" altLang="en-US" sz="1800" dirty="0">
              <a:solidFill>
                <a:srgbClr val="000000"/>
              </a:solidFill>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US" altLang="en-US" sz="1800" dirty="0">
              <a:solidFill>
                <a:srgbClr val="000000"/>
              </a:solidFill>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PriorityQueue</a:t>
            </a:r>
            <a:r>
              <a:rPr lang="en-US" altLang="en-US" sz="1800" dirty="0">
                <a:solidFill>
                  <a:srgbClr val="000000"/>
                </a:solidFill>
                <a:latin typeface="Courier New" panose="02070309020205020404" pitchFamily="49" charset="0"/>
                <a:cs typeface="Courier New" panose="02070309020205020404" pitchFamily="49" charset="0"/>
              </a:rPr>
              <a:t>&lt;</a:t>
            </a: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&gt; q = </a:t>
            </a:r>
            <a:r>
              <a:rPr lang="en-US" altLang="en-US" sz="1800" b="1" dirty="0">
                <a:solidFill>
                  <a:srgbClr val="000FD6"/>
                </a:solidFill>
                <a:latin typeface="Courier New" panose="02070309020205020404" pitchFamily="49" charset="0"/>
                <a:cs typeface="Courier New" panose="02070309020205020404" pitchFamily="49" charset="0"/>
              </a:rPr>
              <a:t>new</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err="1">
                <a:solidFill>
                  <a:srgbClr val="000000"/>
                </a:solidFill>
                <a:latin typeface="Courier New" panose="02070309020205020404" pitchFamily="49" charset="0"/>
                <a:cs typeface="Courier New" panose="02070309020205020404" pitchFamily="49" charset="0"/>
              </a:rPr>
              <a:t>PriorityQueue</a:t>
            </a:r>
            <a:r>
              <a:rPr lang="en-US" altLang="en-US" sz="1800" dirty="0">
                <a:solidFill>
                  <a:srgbClr val="000000"/>
                </a:solidFill>
                <a:latin typeface="Courier New" panose="02070309020205020404" pitchFamily="49" charset="0"/>
                <a:cs typeface="Courier New" panose="02070309020205020404" pitchFamily="49" charset="0"/>
              </a:rPr>
              <a:t>&lt;&gt;();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q.offer</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b="1" dirty="0">
                <a:solidFill>
                  <a:srgbClr val="000FD6"/>
                </a:solidFill>
                <a:latin typeface="Courier New" panose="02070309020205020404" pitchFamily="49" charset="0"/>
                <a:cs typeface="Courier New" panose="02070309020205020404" pitchFamily="49" charset="0"/>
              </a:rPr>
              <a:t>new</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a:solidFill>
                  <a:srgbClr val="007D9F"/>
                </a:solidFill>
                <a:latin typeface="Courier New" panose="02070309020205020404" pitchFamily="49" charset="0"/>
                <a:cs typeface="Courier New" panose="02070309020205020404" pitchFamily="49" charset="0"/>
              </a:rPr>
              <a:t>1</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2</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3.5</a:t>
            </a:r>
            <a:r>
              <a:rPr lang="en-US" altLang="en-US" sz="1800" dirty="0">
                <a:solidFill>
                  <a:srgbClr val="000000"/>
                </a:solidFill>
                <a:latin typeface="Courier New" panose="02070309020205020404" pitchFamily="49" charset="0"/>
                <a:cs typeface="Courier New" panose="02070309020205020404" pitchFamily="49" charset="0"/>
              </a:rPr>
              <a: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q.offer</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b="1" dirty="0">
                <a:solidFill>
                  <a:srgbClr val="000FD6"/>
                </a:solidFill>
                <a:latin typeface="Courier New" panose="02070309020205020404" pitchFamily="49" charset="0"/>
                <a:cs typeface="Courier New" panose="02070309020205020404" pitchFamily="49" charset="0"/>
              </a:rPr>
              <a:t>new</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a:solidFill>
                  <a:srgbClr val="007D9F"/>
                </a:solidFill>
                <a:latin typeface="Courier New" panose="02070309020205020404" pitchFamily="49" charset="0"/>
                <a:cs typeface="Courier New" panose="02070309020205020404" pitchFamily="49" charset="0"/>
              </a:rPr>
              <a:t>1</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6</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6.5</a:t>
            </a:r>
            <a:r>
              <a:rPr lang="en-US" altLang="en-US" sz="1800" dirty="0">
                <a:solidFill>
                  <a:srgbClr val="000000"/>
                </a:solidFill>
                <a:latin typeface="Courier New" panose="02070309020205020404" pitchFamily="49" charset="0"/>
                <a:cs typeface="Courier New" panose="02070309020205020404" pitchFamily="49" charset="0"/>
              </a:rPr>
              <a: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q.offer</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b="1" dirty="0">
                <a:solidFill>
                  <a:srgbClr val="000FD6"/>
                </a:solidFill>
                <a:latin typeface="Courier New" panose="02070309020205020404" pitchFamily="49" charset="0"/>
                <a:cs typeface="Courier New" panose="02070309020205020404" pitchFamily="49" charset="0"/>
              </a:rPr>
              <a:t>new</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err="1">
                <a:solidFill>
                  <a:srgbClr val="000000"/>
                </a:solidFill>
                <a:latin typeface="Courier New" panose="02070309020205020404" pitchFamily="49" charset="0"/>
                <a:cs typeface="Courier New" panose="02070309020205020404" pitchFamily="49" charset="0"/>
              </a:rPr>
              <a:t>WeightedEdge</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a:solidFill>
                  <a:srgbClr val="007D9F"/>
                </a:solidFill>
                <a:latin typeface="Courier New" panose="02070309020205020404" pitchFamily="49" charset="0"/>
                <a:cs typeface="Courier New" panose="02070309020205020404" pitchFamily="49" charset="0"/>
              </a:rPr>
              <a:t>1</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7</a:t>
            </a:r>
            <a:r>
              <a:rPr lang="en-US" altLang="en-US" sz="1800" dirty="0">
                <a:solidFill>
                  <a:srgbClr val="000000"/>
                </a:solidFill>
                <a:latin typeface="Courier New" panose="02070309020205020404" pitchFamily="49" charset="0"/>
                <a:cs typeface="Courier New" panose="02070309020205020404" pitchFamily="49" charset="0"/>
              </a:rPr>
              <a:t>, </a:t>
            </a:r>
            <a:r>
              <a:rPr lang="en-US" altLang="en-US" sz="1800" dirty="0">
                <a:solidFill>
                  <a:srgbClr val="007D9F"/>
                </a:solidFill>
                <a:latin typeface="Courier New" panose="02070309020205020404" pitchFamily="49" charset="0"/>
                <a:cs typeface="Courier New" panose="02070309020205020404" pitchFamily="49" charset="0"/>
              </a:rPr>
              <a:t>1.5</a:t>
            </a:r>
            <a:r>
              <a:rPr lang="en-US" altLang="en-US" sz="1800" dirty="0">
                <a:solidFill>
                  <a:srgbClr val="000000"/>
                </a:solidFill>
                <a:latin typeface="Courier New" panose="02070309020205020404" pitchFamily="49" charset="0"/>
                <a:cs typeface="Courier New" panose="02070309020205020404" pitchFamily="49" charset="0"/>
              </a:rPr>
              <a: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System.out.println</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err="1">
                <a:solidFill>
                  <a:srgbClr val="000000"/>
                </a:solidFill>
                <a:latin typeface="Courier New" panose="02070309020205020404" pitchFamily="49" charset="0"/>
                <a:cs typeface="Courier New" panose="02070309020205020404" pitchFamily="49" charset="0"/>
              </a:rPr>
              <a:t>q.poll</a:t>
            </a:r>
            <a:r>
              <a:rPr lang="en-US" altLang="en-US" sz="1800" dirty="0">
                <a:solidFill>
                  <a:srgbClr val="000000"/>
                </a:solidFill>
                <a:latin typeface="Courier New" panose="02070309020205020404" pitchFamily="49" charset="0"/>
                <a:cs typeface="Courier New" panose="02070309020205020404" pitchFamily="49" charset="0"/>
              </a:rPr>
              <a:t>().weight);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System.out.println</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err="1">
                <a:solidFill>
                  <a:srgbClr val="000000"/>
                </a:solidFill>
                <a:latin typeface="Courier New" panose="02070309020205020404" pitchFamily="49" charset="0"/>
                <a:cs typeface="Courier New" panose="02070309020205020404" pitchFamily="49" charset="0"/>
              </a:rPr>
              <a:t>q.poll</a:t>
            </a:r>
            <a:r>
              <a:rPr lang="en-US" altLang="en-US" sz="1800" dirty="0">
                <a:solidFill>
                  <a:srgbClr val="000000"/>
                </a:solidFill>
                <a:latin typeface="Courier New" panose="02070309020205020404" pitchFamily="49" charset="0"/>
                <a:cs typeface="Courier New" panose="02070309020205020404" pitchFamily="49" charset="0"/>
              </a:rPr>
              <a:t>().weight); </a:t>
            </a:r>
          </a:p>
          <a:p>
            <a:pPr marL="0" indent="0" eaLnBrk="0" fontAlgn="base" hangingPunct="0">
              <a:lnSpc>
                <a:spcPct val="100000"/>
              </a:lnSpc>
              <a:spcBef>
                <a:spcPct val="0"/>
              </a:spcBef>
              <a:spcAft>
                <a:spcPct val="0"/>
              </a:spcAft>
              <a:buNone/>
            </a:pPr>
            <a:r>
              <a:rPr lang="en-US" altLang="en-US" sz="1800" dirty="0" err="1">
                <a:solidFill>
                  <a:srgbClr val="000000"/>
                </a:solidFill>
                <a:latin typeface="Courier New" panose="02070309020205020404" pitchFamily="49" charset="0"/>
                <a:cs typeface="Courier New" panose="02070309020205020404" pitchFamily="49" charset="0"/>
              </a:rPr>
              <a:t>System.out.println</a:t>
            </a:r>
            <a:r>
              <a:rPr lang="en-US" altLang="en-US" sz="1800" dirty="0">
                <a:solidFill>
                  <a:srgbClr val="000000"/>
                </a:solidFill>
                <a:latin typeface="Courier New" panose="02070309020205020404" pitchFamily="49" charset="0"/>
                <a:cs typeface="Courier New" panose="02070309020205020404" pitchFamily="49" charset="0"/>
              </a:rPr>
              <a:t>(</a:t>
            </a:r>
            <a:r>
              <a:rPr lang="en-US" altLang="en-US" sz="1800" dirty="0" err="1">
                <a:solidFill>
                  <a:srgbClr val="000000"/>
                </a:solidFill>
                <a:latin typeface="Courier New" panose="02070309020205020404" pitchFamily="49" charset="0"/>
                <a:cs typeface="Courier New" panose="02070309020205020404" pitchFamily="49" charset="0"/>
              </a:rPr>
              <a:t>q.poll</a:t>
            </a:r>
            <a:r>
              <a:rPr lang="en-US" altLang="en-US" sz="1800" dirty="0">
                <a:solidFill>
                  <a:srgbClr val="000000"/>
                </a:solidFill>
                <a:latin typeface="Courier New" panose="02070309020205020404" pitchFamily="49" charset="0"/>
                <a:cs typeface="Courier New" panose="02070309020205020404" pitchFamily="49" charset="0"/>
              </a:rPr>
              <a:t>().weight);</a:t>
            </a:r>
            <a:r>
              <a:rPr lang="en-US" altLang="en-US" sz="1800" dirty="0"/>
              <a:t> </a:t>
            </a:r>
            <a:endParaRPr lang="en-US" altLang="en-US" sz="1800" dirty="0">
              <a:latin typeface="Arial" panose="020B0604020202020204" pitchFamily="34" charset="0"/>
            </a:endParaRPr>
          </a:p>
        </p:txBody>
      </p:sp>
    </p:spTree>
    <p:extLst>
      <p:ext uri="{BB962C8B-B14F-4D97-AF65-F5344CB8AC3E}">
        <p14:creationId xmlns:p14="http://schemas.microsoft.com/office/powerpoint/2010/main" val="3676427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37C03C-AFF9-45EA-9D1F-C0147FAB3D4A}"/>
              </a:ext>
            </a:extLst>
          </p:cNvPr>
          <p:cNvSpPr>
            <a:spLocks noGrp="1"/>
          </p:cNvSpPr>
          <p:nvPr>
            <p:ph idx="1"/>
          </p:nvPr>
        </p:nvSpPr>
        <p:spPr>
          <a:xfrm>
            <a:off x="2209800" y="381000"/>
            <a:ext cx="7772400" cy="5391150"/>
          </a:xfrm>
        </p:spPr>
        <p:txBody>
          <a:bodyPr/>
          <a:lstStyle/>
          <a:p>
            <a:r>
              <a:rPr lang="en-US" b="0" i="0" dirty="0">
                <a:solidFill>
                  <a:srgbClr val="000000"/>
                </a:solidFill>
                <a:effectLst/>
                <a:latin typeface="Times New Roman" panose="02020603050405020304" pitchFamily="18" charset="0"/>
              </a:rPr>
              <a:t>If a priority queue is used to store weighted edges, what is wrong in the following code? Fix it and show the output.</a:t>
            </a:r>
          </a:p>
          <a:p>
            <a:pPr marL="0" indent="0">
              <a:buNone/>
            </a:pPr>
            <a:endParaRPr lang="en-US" dirty="0">
              <a:solidFill>
                <a:srgbClr val="000000"/>
              </a:solidFill>
              <a:latin typeface="Times New Roman" panose="02020603050405020304" pitchFamily="18" charset="0"/>
            </a:endParaRPr>
          </a:p>
          <a:p>
            <a:pPr>
              <a:buFont typeface="+mj-lt"/>
              <a:buAutoNum type="arabicPeriod"/>
            </a:pPr>
            <a:r>
              <a:rPr lang="en-US" sz="1200" dirty="0">
                <a:solidFill>
                  <a:srgbClr val="000000"/>
                </a:solidFill>
                <a:latin typeface="Courier New" panose="02070309020205020404" pitchFamily="49" charset="0"/>
              </a:rPr>
              <a:t>List&lt;</a:t>
            </a:r>
            <a:r>
              <a:rPr lang="en-US" sz="1200" dirty="0" err="1">
                <a:solidFill>
                  <a:srgbClr val="000000"/>
                </a:solidFill>
                <a:latin typeface="Courier New" panose="02070309020205020404" pitchFamily="49" charset="0"/>
              </a:rPr>
              <a:t>PriorityQueue</a:t>
            </a:r>
            <a:r>
              <a:rPr lang="en-US" sz="1200" dirty="0">
                <a:solidFill>
                  <a:srgbClr val="000000"/>
                </a:solidFill>
                <a:latin typeface="Courier New" panose="02070309020205020404" pitchFamily="49" charset="0"/>
              </a:rPr>
              <a:t>&lt;</a:t>
            </a:r>
            <a:r>
              <a:rPr lang="en-US" sz="1200" dirty="0" err="1">
                <a:solidFill>
                  <a:srgbClr val="000000"/>
                </a:solidFill>
                <a:latin typeface="Courier New" panose="02070309020205020404" pitchFamily="49" charset="0"/>
              </a:rPr>
              <a:t>WeightedEdge</a:t>
            </a:r>
            <a:r>
              <a:rPr lang="en-US" sz="1200" dirty="0">
                <a:solidFill>
                  <a:srgbClr val="000000"/>
                </a:solidFill>
                <a:latin typeface="Courier New" panose="02070309020205020404" pitchFamily="49" charset="0"/>
              </a:rPr>
              <a:t>&gt;&gt; queues = </a:t>
            </a:r>
            <a:r>
              <a:rPr lang="en-US" sz="1200" dirty="0">
                <a:solidFill>
                  <a:srgbClr val="941EDF"/>
                </a:solidFill>
                <a:latin typeface="Courier New" panose="02070309020205020404" pitchFamily="49" charset="0"/>
              </a:rPr>
              <a:t>new</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ArrayList</a:t>
            </a:r>
            <a:r>
              <a:rPr lang="en-US" sz="1200" dirty="0">
                <a:solidFill>
                  <a:srgbClr val="000000"/>
                </a:solidFill>
                <a:latin typeface="Courier New" panose="02070309020205020404" pitchFamily="49" charset="0"/>
              </a:rPr>
              <a:t>&lt;&gt;();</a:t>
            </a:r>
          </a:p>
          <a:p>
            <a:pPr>
              <a:buFont typeface="+mj-lt"/>
              <a:buAutoNum type="arabicPeriod"/>
            </a:pP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(0).offer(</a:t>
            </a:r>
            <a:r>
              <a:rPr lang="en-US" sz="1200" dirty="0">
                <a:solidFill>
                  <a:srgbClr val="941EDF"/>
                </a:solidFill>
                <a:latin typeface="Courier New" panose="02070309020205020404" pitchFamily="49" charset="0"/>
              </a:rPr>
              <a:t>new</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WeightedEdge</a:t>
            </a:r>
            <a:r>
              <a:rPr lang="en-US" sz="1200" dirty="0">
                <a:solidFill>
                  <a:srgbClr val="000000"/>
                </a:solidFill>
                <a:latin typeface="Courier New" panose="02070309020205020404" pitchFamily="49" charset="0"/>
              </a:rPr>
              <a:t>(0, 2, 3.5)); </a:t>
            </a:r>
          </a:p>
          <a:p>
            <a:pPr>
              <a:buFont typeface="+mj-lt"/>
              <a:buAutoNum type="arabicPeriod"/>
            </a:pP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(0).offer(</a:t>
            </a:r>
            <a:r>
              <a:rPr lang="en-US" sz="1200" dirty="0">
                <a:solidFill>
                  <a:srgbClr val="941EDF"/>
                </a:solidFill>
                <a:latin typeface="Courier New" panose="02070309020205020404" pitchFamily="49" charset="0"/>
              </a:rPr>
              <a:t>new</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WeightedEdge</a:t>
            </a:r>
            <a:r>
              <a:rPr lang="en-US" sz="1200" dirty="0">
                <a:solidFill>
                  <a:srgbClr val="000000"/>
                </a:solidFill>
                <a:latin typeface="Courier New" panose="02070309020205020404" pitchFamily="49" charset="0"/>
              </a:rPr>
              <a:t>(0, 6, 6.5));</a:t>
            </a:r>
          </a:p>
          <a:p>
            <a:pPr>
              <a:buFont typeface="+mj-lt"/>
              <a:buAutoNum type="arabicPeriod"/>
            </a:pP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(0).offer(</a:t>
            </a:r>
            <a:r>
              <a:rPr lang="en-US" sz="1200" dirty="0">
                <a:solidFill>
                  <a:srgbClr val="941EDF"/>
                </a:solidFill>
                <a:latin typeface="Courier New" panose="02070309020205020404" pitchFamily="49" charset="0"/>
              </a:rPr>
              <a:t>new</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WeightedEdge</a:t>
            </a:r>
            <a:r>
              <a:rPr lang="en-US" sz="1200" dirty="0">
                <a:solidFill>
                  <a:srgbClr val="000000"/>
                </a:solidFill>
                <a:latin typeface="Courier New" panose="02070309020205020404" pitchFamily="49" charset="0"/>
              </a:rPr>
              <a:t>(0, 7, 1.5));</a:t>
            </a:r>
          </a:p>
          <a:p>
            <a:pPr>
              <a:buFont typeface="+mj-lt"/>
              <a:buAutoNum type="arabicPeriod"/>
            </a:pP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(1).offer(</a:t>
            </a:r>
            <a:r>
              <a:rPr lang="en-US" sz="1200" dirty="0">
                <a:solidFill>
                  <a:srgbClr val="941EDF"/>
                </a:solidFill>
                <a:latin typeface="Courier New" panose="02070309020205020404" pitchFamily="49" charset="0"/>
              </a:rPr>
              <a:t>new</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WeightedEdge</a:t>
            </a:r>
            <a:r>
              <a:rPr lang="en-US" sz="1200" dirty="0">
                <a:solidFill>
                  <a:srgbClr val="000000"/>
                </a:solidFill>
                <a:latin typeface="Courier New" panose="02070309020205020404" pitchFamily="49" charset="0"/>
              </a:rPr>
              <a:t>(1, 0, 3.5)); </a:t>
            </a:r>
          </a:p>
          <a:p>
            <a:pPr>
              <a:buFont typeface="+mj-lt"/>
              <a:buAutoNum type="arabicPeriod"/>
            </a:pP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(1).offer(</a:t>
            </a:r>
            <a:r>
              <a:rPr lang="en-US" sz="1200" dirty="0">
                <a:solidFill>
                  <a:srgbClr val="941EDF"/>
                </a:solidFill>
                <a:latin typeface="Courier New" panose="02070309020205020404" pitchFamily="49" charset="0"/>
              </a:rPr>
              <a:t>new</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WeightedEdge</a:t>
            </a:r>
            <a:r>
              <a:rPr lang="en-US" sz="1200" dirty="0">
                <a:solidFill>
                  <a:srgbClr val="000000"/>
                </a:solidFill>
                <a:latin typeface="Courier New" panose="02070309020205020404" pitchFamily="49" charset="0"/>
              </a:rPr>
              <a:t>(1, 5, 8.5));</a:t>
            </a:r>
          </a:p>
          <a:p>
            <a:pPr>
              <a:buFont typeface="+mj-lt"/>
              <a:buAutoNum type="arabicPeriod"/>
            </a:pP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(1).offer(</a:t>
            </a:r>
            <a:r>
              <a:rPr lang="en-US" sz="1200" dirty="0">
                <a:solidFill>
                  <a:srgbClr val="941EDF"/>
                </a:solidFill>
                <a:latin typeface="Courier New" panose="02070309020205020404" pitchFamily="49" charset="0"/>
              </a:rPr>
              <a:t>new</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WeightedEdge</a:t>
            </a:r>
            <a:r>
              <a:rPr lang="en-US" sz="1200" dirty="0">
                <a:solidFill>
                  <a:srgbClr val="000000"/>
                </a:solidFill>
                <a:latin typeface="Courier New" panose="02070309020205020404" pitchFamily="49" charset="0"/>
              </a:rPr>
              <a:t>(1, 8, 19.5)); </a:t>
            </a:r>
          </a:p>
          <a:p>
            <a:pPr>
              <a:buFont typeface="+mj-lt"/>
              <a:buAutoNum type="arabicPeriod"/>
            </a:pPr>
            <a:r>
              <a:rPr lang="en-US" sz="1200" dirty="0" err="1">
                <a:solidFill>
                  <a:srgbClr val="000000"/>
                </a:solidFill>
                <a:latin typeface="Courier New" panose="02070309020205020404" pitchFamily="49" charset="0"/>
              </a:rPr>
              <a:t>System.out.println</a:t>
            </a:r>
            <a:r>
              <a:rPr lang="en-US" sz="1200" dirty="0">
                <a:solidFill>
                  <a:srgbClr val="000000"/>
                </a:solidFill>
                <a:latin typeface="Courier New" panose="02070309020205020404" pitchFamily="49" charset="0"/>
              </a:rPr>
              <a:t>(</a:t>
            </a: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(0).peek().</a:t>
            </a:r>
            <a:r>
              <a:rPr lang="en-US" sz="1200" dirty="0" err="1">
                <a:solidFill>
                  <a:srgbClr val="000000"/>
                </a:solidFill>
                <a:latin typeface="Courier New" panose="02070309020205020404" pitchFamily="49" charset="0"/>
              </a:rPr>
              <a:t>compareTo</a:t>
            </a:r>
            <a:r>
              <a:rPr lang="en-US" sz="1200" dirty="0">
                <a:solidFill>
                  <a:srgbClr val="000000"/>
                </a:solidFill>
                <a:latin typeface="Courier New" panose="02070309020205020404" pitchFamily="49" charset="0"/>
              </a:rPr>
              <a:t>(</a:t>
            </a:r>
            <a:r>
              <a:rPr lang="en-US" sz="1200" dirty="0" err="1">
                <a:solidFill>
                  <a:srgbClr val="000000"/>
                </a:solidFill>
                <a:latin typeface="Courier New" panose="02070309020205020404" pitchFamily="49" charset="0"/>
              </a:rPr>
              <a:t>queues.get</a:t>
            </a:r>
            <a:r>
              <a:rPr lang="en-US" sz="1200" dirty="0">
                <a:solidFill>
                  <a:srgbClr val="000000"/>
                </a:solidFill>
                <a:latin typeface="Courier New" panose="02070309020205020404" pitchFamily="49" charset="0"/>
              </a:rPr>
              <a:t>(1).peek()));</a:t>
            </a:r>
            <a:endParaRPr lang="en-US" sz="1200" dirty="0"/>
          </a:p>
        </p:txBody>
      </p:sp>
      <p:sp>
        <p:nvSpPr>
          <p:cNvPr id="4" name="Slide Number Placeholder 3">
            <a:extLst>
              <a:ext uri="{FF2B5EF4-FFF2-40B4-BE49-F238E27FC236}">
                <a16:creationId xmlns:a16="http://schemas.microsoft.com/office/drawing/2014/main" id="{0A15C5CE-0DB0-4263-B158-52D1C56C03E9}"/>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fld id="{6BB22796-5329-4D7E-880B-95B0A70ABA06}" type="slidenum">
              <a:rPr lang="en-US" altLang="en-US" smtClean="0"/>
              <a:pPr>
                <a:defRPr/>
              </a:pPr>
              <a:t>16</a:t>
            </a:fld>
            <a:endParaRPr lang="en-US" altLang="en-US"/>
          </a:p>
        </p:txBody>
      </p:sp>
    </p:spTree>
    <p:extLst>
      <p:ext uri="{BB962C8B-B14F-4D97-AF65-F5344CB8AC3E}">
        <p14:creationId xmlns:p14="http://schemas.microsoft.com/office/powerpoint/2010/main" val="3493061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bg1">
                    <a:lumMod val="85000"/>
                  </a:schemeClr>
                </a:solidFill>
              </a:rPr>
              <a:t>Review</a:t>
            </a:r>
            <a:r>
              <a:rPr lang="en-US" sz="1900" dirty="0">
                <a:solidFill>
                  <a:schemeClr val="bg1">
                    <a:lumMod val="85000"/>
                  </a:schemeClr>
                </a:solidFill>
              </a:rPr>
              <a:t>  </a:t>
            </a:r>
            <a:r>
              <a:rPr lang="en-US" sz="1900" b="1" dirty="0">
                <a:solidFill>
                  <a:schemeClr val="bg1">
                    <a:lumMod val="85000"/>
                  </a:schemeClr>
                </a:solidFill>
              </a:rPr>
              <a:t>DFS, BFS, Unweighted Shortest Paths</a:t>
            </a:r>
          </a:p>
          <a:p>
            <a:pPr marL="0" indent="0">
              <a:buNone/>
            </a:pPr>
            <a:endParaRPr lang="en-US" sz="1900" dirty="0"/>
          </a:p>
          <a:p>
            <a:r>
              <a:rPr lang="en-US" sz="1900" dirty="0">
                <a:solidFill>
                  <a:schemeClr val="bg2"/>
                </a:solidFill>
              </a:rPr>
              <a:t>Weighted </a:t>
            </a:r>
            <a:r>
              <a:rPr lang="en-US" sz="1900" dirty="0">
                <a:solidFill>
                  <a:schemeClr val="bg2"/>
                </a:solidFill>
                <a:sym typeface="Wingdings" pitchFamily="2" charset="2"/>
              </a:rPr>
              <a:t>Graphs</a:t>
            </a:r>
          </a:p>
          <a:p>
            <a:pPr marL="0" indent="0">
              <a:buNone/>
            </a:pPr>
            <a:endParaRPr lang="en-US" sz="1900" dirty="0">
              <a:sym typeface="Wingdings" pitchFamily="2" charset="2"/>
            </a:endParaRPr>
          </a:p>
          <a:p>
            <a:r>
              <a:rPr lang="en-US" sz="1900" dirty="0">
                <a:solidFill>
                  <a:srgbClr val="FF0000"/>
                </a:solidFill>
                <a:sym typeface="Wingdings" pitchFamily="2" charset="2"/>
              </a:rPr>
              <a:t>Minimum Spanning Tree (MST)</a:t>
            </a:r>
          </a:p>
          <a:p>
            <a:pPr lvl="1"/>
            <a:r>
              <a:rPr lang="en-US" altLang="en-US" sz="1500" dirty="0"/>
              <a:t>Prim’s Algorithm </a:t>
            </a:r>
          </a:p>
          <a:p>
            <a:pPr lvl="1"/>
            <a:r>
              <a:rPr lang="en-US" sz="1500" dirty="0"/>
              <a:t>Kruskal’s </a:t>
            </a:r>
            <a:r>
              <a:rPr lang="en-US" altLang="en-US" sz="1500" dirty="0"/>
              <a:t>Algorithm</a:t>
            </a:r>
          </a:p>
          <a:p>
            <a:pPr lvl="1"/>
            <a:endParaRPr lang="en-US" sz="1500" dirty="0"/>
          </a:p>
          <a:p>
            <a:r>
              <a:rPr lang="en-US" sz="1900" dirty="0"/>
              <a:t>Weighted Shortest Path Problem</a:t>
            </a:r>
          </a:p>
          <a:p>
            <a:r>
              <a:rPr lang="en-US" sz="1900" dirty="0"/>
              <a:t>Dijkstra’s Algorithm</a:t>
            </a:r>
          </a:p>
          <a:p>
            <a:pPr marL="685800" lvl="2">
              <a:spcBef>
                <a:spcPts val="1000"/>
              </a:spcBef>
              <a:buFont typeface="Arial" panose="020B0604020202020204" pitchFamily="34" charset="0"/>
              <a:buChar char="•"/>
            </a:pPr>
            <a:r>
              <a:rPr lang="en-US" sz="1500" dirty="0"/>
              <a:t>Definition &amp; Examples</a:t>
            </a:r>
          </a:p>
          <a:p>
            <a:pPr marL="685800" lvl="2">
              <a:spcBef>
                <a:spcPts val="1000"/>
              </a:spcBef>
              <a:buFont typeface="Arial" panose="020B0604020202020204" pitchFamily="34" charset="0"/>
              <a:buChar char="•"/>
            </a:pPr>
            <a:r>
              <a:rPr lang="en-US" sz="1500" dirty="0"/>
              <a:t>Implementing Dijkstra’s</a:t>
            </a:r>
          </a:p>
          <a:p>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4253461" y="2951815"/>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3886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86931B8A-2430-448C-B4BF-99E5FAF7520D}"/>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18</a:t>
            </a:fld>
            <a:endParaRPr lang="en-US" altLang="en-US" sz="1400"/>
          </a:p>
        </p:txBody>
      </p:sp>
      <p:sp>
        <p:nvSpPr>
          <p:cNvPr id="13315" name="Rectangle 2">
            <a:extLst>
              <a:ext uri="{FF2B5EF4-FFF2-40B4-BE49-F238E27FC236}">
                <a16:creationId xmlns:a16="http://schemas.microsoft.com/office/drawing/2014/main" id="{74B4E884-572A-4463-8052-1E5AAAA1A9C9}"/>
              </a:ext>
            </a:extLst>
          </p:cNvPr>
          <p:cNvSpPr>
            <a:spLocks noGrp="1" noChangeArrowheads="1"/>
          </p:cNvSpPr>
          <p:nvPr>
            <p:ph type="title"/>
          </p:nvPr>
        </p:nvSpPr>
        <p:spPr>
          <a:xfrm>
            <a:off x="2209800" y="304800"/>
            <a:ext cx="7772400" cy="685800"/>
          </a:xfrm>
        </p:spPr>
        <p:txBody>
          <a:bodyPr>
            <a:normAutofit fontScale="90000"/>
          </a:bodyPr>
          <a:lstStyle/>
          <a:p>
            <a:r>
              <a:rPr lang="en-US" altLang="en-US" dirty="0"/>
              <a:t>Spanning Trees </a:t>
            </a:r>
          </a:p>
        </p:txBody>
      </p:sp>
      <p:sp>
        <p:nvSpPr>
          <p:cNvPr id="13316" name="Rectangle 3">
            <a:extLst>
              <a:ext uri="{FF2B5EF4-FFF2-40B4-BE49-F238E27FC236}">
                <a16:creationId xmlns:a16="http://schemas.microsoft.com/office/drawing/2014/main" id="{765543C9-FBF2-4E53-9FDD-A14D2D804F33}"/>
              </a:ext>
            </a:extLst>
          </p:cNvPr>
          <p:cNvSpPr>
            <a:spLocks noGrp="1" noChangeArrowheads="1"/>
          </p:cNvSpPr>
          <p:nvPr>
            <p:ph type="body" idx="1"/>
          </p:nvPr>
        </p:nvSpPr>
        <p:spPr>
          <a:xfrm>
            <a:off x="1828800" y="1066800"/>
            <a:ext cx="8610600" cy="1447800"/>
          </a:xfrm>
        </p:spPr>
        <p:txBody>
          <a:bodyPr/>
          <a:lstStyle/>
          <a:p>
            <a:pPr>
              <a:lnSpc>
                <a:spcPct val="80000"/>
              </a:lnSpc>
              <a:spcBef>
                <a:spcPct val="0"/>
              </a:spcBef>
            </a:pPr>
            <a:r>
              <a:rPr lang="en-US" altLang="en-US" sz="2000" dirty="0"/>
              <a:t>A Spanning tree of a connected undirected graph G is a subgraph of G that contains all of G’s vertices and enough of its edges to form a tree.</a:t>
            </a:r>
          </a:p>
          <a:p>
            <a:pPr>
              <a:lnSpc>
                <a:spcPct val="80000"/>
              </a:lnSpc>
              <a:spcBef>
                <a:spcPct val="0"/>
              </a:spcBef>
            </a:pPr>
            <a:r>
              <a:rPr lang="en-US" altLang="en-US" sz="2000" dirty="0"/>
              <a:t>A spanning tree is subgraph of G that is connected with no cycles</a:t>
            </a:r>
          </a:p>
          <a:p>
            <a:pPr>
              <a:lnSpc>
                <a:spcPct val="80000"/>
              </a:lnSpc>
              <a:spcBef>
                <a:spcPct val="0"/>
              </a:spcBef>
            </a:pPr>
            <a:r>
              <a:rPr lang="en-US" altLang="en-US" sz="2000" dirty="0"/>
              <a:t>A graph may have many spanning trees. </a:t>
            </a:r>
          </a:p>
          <a:p>
            <a:pPr marL="0" indent="0">
              <a:lnSpc>
                <a:spcPct val="80000"/>
              </a:lnSpc>
              <a:spcBef>
                <a:spcPct val="0"/>
              </a:spcBef>
              <a:buNone/>
            </a:pPr>
            <a:endParaRPr lang="en-US" altLang="en-US" sz="2000" dirty="0"/>
          </a:p>
        </p:txBody>
      </p:sp>
      <p:sp>
        <p:nvSpPr>
          <p:cNvPr id="13317" name="Rectangle 5">
            <a:extLst>
              <a:ext uri="{FF2B5EF4-FFF2-40B4-BE49-F238E27FC236}">
                <a16:creationId xmlns:a16="http://schemas.microsoft.com/office/drawing/2014/main" id="{B7518D75-951B-4C63-87EF-25470006BA2F}"/>
              </a:ext>
            </a:extLst>
          </p:cNvPr>
          <p:cNvSpPr>
            <a:spLocks noChangeArrowheads="1"/>
          </p:cNvSpPr>
          <p:nvPr/>
        </p:nvSpPr>
        <p:spPr bwMode="auto">
          <a:xfrm>
            <a:off x="1524001" y="19027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8" name="Rectangle 7">
            <a:extLst>
              <a:ext uri="{FF2B5EF4-FFF2-40B4-BE49-F238E27FC236}">
                <a16:creationId xmlns:a16="http://schemas.microsoft.com/office/drawing/2014/main" id="{0F92B337-A3C6-4BEA-8EFE-974EBD65416D}"/>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0" name="Rectangle 9">
            <a:extLst>
              <a:ext uri="{FF2B5EF4-FFF2-40B4-BE49-F238E27FC236}">
                <a16:creationId xmlns:a16="http://schemas.microsoft.com/office/drawing/2014/main" id="{A72553A8-E6E3-49F7-8033-6C224D6BEABE}"/>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2" name="Rectangle 11">
            <a:extLst>
              <a:ext uri="{FF2B5EF4-FFF2-40B4-BE49-F238E27FC236}">
                <a16:creationId xmlns:a16="http://schemas.microsoft.com/office/drawing/2014/main" id="{593B30B0-0D98-4CEF-A519-5BD2B86F5A75}"/>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4" name="Rectangle 13">
            <a:extLst>
              <a:ext uri="{FF2B5EF4-FFF2-40B4-BE49-F238E27FC236}">
                <a16:creationId xmlns:a16="http://schemas.microsoft.com/office/drawing/2014/main" id="{0A42D7F1-1EE8-4BC6-8DF6-7170C3514552}"/>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9" name="Rectangle 18">
            <a:extLst>
              <a:ext uri="{FF2B5EF4-FFF2-40B4-BE49-F238E27FC236}">
                <a16:creationId xmlns:a16="http://schemas.microsoft.com/office/drawing/2014/main" id="{F923D028-5BDD-4813-9793-E8388D71170C}"/>
              </a:ext>
            </a:extLst>
          </p:cNvPr>
          <p:cNvSpPr>
            <a:spLocks noChangeArrowheads="1"/>
          </p:cNvSpPr>
          <p:nvPr/>
        </p:nvSpPr>
        <p:spPr bwMode="auto">
          <a:xfrm>
            <a:off x="6477000" y="29718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(b)</a:t>
            </a:r>
          </a:p>
        </p:txBody>
      </p:sp>
      <p:sp>
        <p:nvSpPr>
          <p:cNvPr id="13330" name="Rectangle 19">
            <a:extLst>
              <a:ext uri="{FF2B5EF4-FFF2-40B4-BE49-F238E27FC236}">
                <a16:creationId xmlns:a16="http://schemas.microsoft.com/office/drawing/2014/main" id="{8C14CEE3-C384-43D5-906E-3B2146F63E69}"/>
              </a:ext>
            </a:extLst>
          </p:cNvPr>
          <p:cNvSpPr>
            <a:spLocks noChangeArrowheads="1"/>
          </p:cNvSpPr>
          <p:nvPr/>
        </p:nvSpPr>
        <p:spPr bwMode="auto">
          <a:xfrm>
            <a:off x="1676400" y="43434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(a)</a:t>
            </a:r>
          </a:p>
        </p:txBody>
      </p:sp>
      <p:sp>
        <p:nvSpPr>
          <p:cNvPr id="13331" name="Rectangle 20">
            <a:extLst>
              <a:ext uri="{FF2B5EF4-FFF2-40B4-BE49-F238E27FC236}">
                <a16:creationId xmlns:a16="http://schemas.microsoft.com/office/drawing/2014/main" id="{EC800B29-44E8-46BF-B958-516D17F75138}"/>
              </a:ext>
            </a:extLst>
          </p:cNvPr>
          <p:cNvSpPr>
            <a:spLocks noChangeArrowheads="1"/>
          </p:cNvSpPr>
          <p:nvPr/>
        </p:nvSpPr>
        <p:spPr bwMode="auto">
          <a:xfrm>
            <a:off x="4343400" y="51816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(c)</a:t>
            </a:r>
          </a:p>
        </p:txBody>
      </p:sp>
      <p:sp>
        <p:nvSpPr>
          <p:cNvPr id="13332" name="Rectangle 21">
            <a:extLst>
              <a:ext uri="{FF2B5EF4-FFF2-40B4-BE49-F238E27FC236}">
                <a16:creationId xmlns:a16="http://schemas.microsoft.com/office/drawing/2014/main" id="{C572E5DA-3A8E-4C9A-840E-841E6AF30113}"/>
              </a:ext>
            </a:extLst>
          </p:cNvPr>
          <p:cNvSpPr>
            <a:spLocks noChangeArrowheads="1"/>
          </p:cNvSpPr>
          <p:nvPr/>
        </p:nvSpPr>
        <p:spPr bwMode="auto">
          <a:xfrm>
            <a:off x="9906000" y="48006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(d)</a:t>
            </a:r>
          </a:p>
        </p:txBody>
      </p:sp>
      <p:cxnSp>
        <p:nvCxnSpPr>
          <p:cNvPr id="4" name="Straight Connector 3">
            <a:extLst>
              <a:ext uri="{FF2B5EF4-FFF2-40B4-BE49-F238E27FC236}">
                <a16:creationId xmlns:a16="http://schemas.microsoft.com/office/drawing/2014/main" id="{D0300FD9-79B7-4FE1-92C2-771622DC827D}"/>
              </a:ext>
            </a:extLst>
          </p:cNvPr>
          <p:cNvCxnSpPr>
            <a:stCxn id="2" idx="3"/>
            <a:endCxn id="22" idx="0"/>
          </p:cNvCxnSpPr>
          <p:nvPr/>
        </p:nvCxnSpPr>
        <p:spPr bwMode="auto">
          <a:xfrm flipH="1">
            <a:off x="2267896" y="2828409"/>
            <a:ext cx="496966" cy="487087"/>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a:extLst>
              <a:ext uri="{FF2B5EF4-FFF2-40B4-BE49-F238E27FC236}">
                <a16:creationId xmlns:a16="http://schemas.microsoft.com/office/drawing/2014/main" id="{95784C76-694D-40F2-AB40-394944E82FFE}"/>
              </a:ext>
            </a:extLst>
          </p:cNvPr>
          <p:cNvCxnSpPr>
            <a:stCxn id="23" idx="3"/>
          </p:cNvCxnSpPr>
          <p:nvPr/>
        </p:nvCxnSpPr>
        <p:spPr bwMode="auto">
          <a:xfrm flipH="1">
            <a:off x="3100051" y="3627718"/>
            <a:ext cx="466803" cy="417499"/>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C8F4C901-D097-4DB7-B83F-57FBD48AA4F6}"/>
              </a:ext>
            </a:extLst>
          </p:cNvPr>
          <p:cNvCxnSpPr>
            <a:endCxn id="23" idx="1"/>
          </p:cNvCxnSpPr>
          <p:nvPr/>
        </p:nvCxnSpPr>
        <p:spPr bwMode="auto">
          <a:xfrm>
            <a:off x="3072359" y="2822718"/>
            <a:ext cx="494495" cy="480591"/>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a:extLst>
              <a:ext uri="{FF2B5EF4-FFF2-40B4-BE49-F238E27FC236}">
                <a16:creationId xmlns:a16="http://schemas.microsoft.com/office/drawing/2014/main" id="{94F843D7-06D3-4544-B2D4-79119E75C4A9}"/>
              </a:ext>
            </a:extLst>
          </p:cNvPr>
          <p:cNvCxnSpPr>
            <a:stCxn id="2" idx="4"/>
            <a:endCxn id="24" idx="0"/>
          </p:cNvCxnSpPr>
          <p:nvPr/>
        </p:nvCxnSpPr>
        <p:spPr bwMode="auto">
          <a:xfrm>
            <a:off x="2913706" y="2895596"/>
            <a:ext cx="30163" cy="1066811"/>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Box 43">
            <a:extLst>
              <a:ext uri="{FF2B5EF4-FFF2-40B4-BE49-F238E27FC236}">
                <a16:creationId xmlns:a16="http://schemas.microsoft.com/office/drawing/2014/main" id="{29114D67-480B-4D5B-9F99-795C4452D597}"/>
              </a:ext>
            </a:extLst>
          </p:cNvPr>
          <p:cNvSpPr txBox="1"/>
          <p:nvPr/>
        </p:nvSpPr>
        <p:spPr>
          <a:xfrm>
            <a:off x="2251226" y="3800533"/>
            <a:ext cx="301686" cy="369332"/>
          </a:xfrm>
          <a:prstGeom prst="rect">
            <a:avLst/>
          </a:prstGeom>
          <a:noFill/>
        </p:spPr>
        <p:txBody>
          <a:bodyPr wrap="none" rtlCol="0">
            <a:spAutoFit/>
          </a:bodyPr>
          <a:lstStyle/>
          <a:p>
            <a:r>
              <a:rPr lang="en-US" dirty="0"/>
              <a:t>8</a:t>
            </a:r>
          </a:p>
        </p:txBody>
      </p:sp>
      <p:grpSp>
        <p:nvGrpSpPr>
          <p:cNvPr id="15" name="Group 14">
            <a:extLst>
              <a:ext uri="{FF2B5EF4-FFF2-40B4-BE49-F238E27FC236}">
                <a16:creationId xmlns:a16="http://schemas.microsoft.com/office/drawing/2014/main" id="{7D87FB86-21D4-48A2-89E1-09C9AB2B5A93}"/>
              </a:ext>
            </a:extLst>
          </p:cNvPr>
          <p:cNvGrpSpPr/>
          <p:nvPr/>
        </p:nvGrpSpPr>
        <p:grpSpPr>
          <a:xfrm>
            <a:off x="2057401" y="2436813"/>
            <a:ext cx="1868791" cy="1984377"/>
            <a:chOff x="533400" y="2436812"/>
            <a:chExt cx="1868791" cy="1984377"/>
          </a:xfrm>
        </p:grpSpPr>
        <p:sp>
          <p:nvSpPr>
            <p:cNvPr id="2" name="Oval 1">
              <a:extLst>
                <a:ext uri="{FF2B5EF4-FFF2-40B4-BE49-F238E27FC236}">
                  <a16:creationId xmlns:a16="http://schemas.microsoft.com/office/drawing/2014/main" id="{1AA3EB91-1CD7-4F3F-A127-1A378064B4ED}"/>
                </a:ext>
              </a:extLst>
            </p:cNvPr>
            <p:cNvSpPr/>
            <p:nvPr/>
          </p:nvSpPr>
          <p:spPr bwMode="auto">
            <a:xfrm>
              <a:off x="1179209" y="2436812"/>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A</a:t>
              </a:r>
            </a:p>
          </p:txBody>
        </p:sp>
        <p:sp>
          <p:nvSpPr>
            <p:cNvPr id="22" name="Oval 21">
              <a:extLst>
                <a:ext uri="{FF2B5EF4-FFF2-40B4-BE49-F238E27FC236}">
                  <a16:creationId xmlns:a16="http://schemas.microsoft.com/office/drawing/2014/main" id="{DE5CB180-DE44-4F4B-85CE-78195782BAF9}"/>
                </a:ext>
              </a:extLst>
            </p:cNvPr>
            <p:cNvSpPr/>
            <p:nvPr/>
          </p:nvSpPr>
          <p:spPr bwMode="auto">
            <a:xfrm>
              <a:off x="533400" y="3315495"/>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B</a:t>
              </a:r>
            </a:p>
          </p:txBody>
        </p:sp>
        <p:sp>
          <p:nvSpPr>
            <p:cNvPr id="23" name="Oval 22">
              <a:extLst>
                <a:ext uri="{FF2B5EF4-FFF2-40B4-BE49-F238E27FC236}">
                  <a16:creationId xmlns:a16="http://schemas.microsoft.com/office/drawing/2014/main" id="{7ACA578E-6C89-49BC-8BC1-7E613B317DC2}"/>
                </a:ext>
              </a:extLst>
            </p:cNvPr>
            <p:cNvSpPr/>
            <p:nvPr/>
          </p:nvSpPr>
          <p:spPr bwMode="auto">
            <a:xfrm>
              <a:off x="1981200" y="3236121"/>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C</a:t>
              </a:r>
            </a:p>
          </p:txBody>
        </p:sp>
        <p:sp>
          <p:nvSpPr>
            <p:cNvPr id="24" name="Oval 23">
              <a:extLst>
                <a:ext uri="{FF2B5EF4-FFF2-40B4-BE49-F238E27FC236}">
                  <a16:creationId xmlns:a16="http://schemas.microsoft.com/office/drawing/2014/main" id="{5F005A82-B413-4F9F-8832-13CEA3D9FF23}"/>
                </a:ext>
              </a:extLst>
            </p:cNvPr>
            <p:cNvSpPr/>
            <p:nvPr/>
          </p:nvSpPr>
          <p:spPr bwMode="auto">
            <a:xfrm>
              <a:off x="1209372" y="3962406"/>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D</a:t>
              </a:r>
            </a:p>
          </p:txBody>
        </p:sp>
        <p:cxnSp>
          <p:nvCxnSpPr>
            <p:cNvPr id="31" name="Straight Connector 30">
              <a:extLst>
                <a:ext uri="{FF2B5EF4-FFF2-40B4-BE49-F238E27FC236}">
                  <a16:creationId xmlns:a16="http://schemas.microsoft.com/office/drawing/2014/main" id="{90F04BD5-FC2C-43F2-AC67-C2B2A744960E}"/>
                </a:ext>
              </a:extLst>
            </p:cNvPr>
            <p:cNvCxnSpPr>
              <a:stCxn id="24" idx="1"/>
              <a:endCxn id="22" idx="4"/>
            </p:cNvCxnSpPr>
            <p:nvPr/>
          </p:nvCxnSpPr>
          <p:spPr bwMode="auto">
            <a:xfrm flipH="1" flipV="1">
              <a:off x="743896" y="3774278"/>
              <a:ext cx="527129" cy="255315"/>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a:extLst>
                <a:ext uri="{FF2B5EF4-FFF2-40B4-BE49-F238E27FC236}">
                  <a16:creationId xmlns:a16="http://schemas.microsoft.com/office/drawing/2014/main" id="{A9A12958-5968-4C83-B086-8FDBECEAEFDD}"/>
                </a:ext>
              </a:extLst>
            </p:cNvPr>
            <p:cNvSpPr txBox="1"/>
            <p:nvPr/>
          </p:nvSpPr>
          <p:spPr>
            <a:xfrm>
              <a:off x="766234" y="2720728"/>
              <a:ext cx="301686" cy="369332"/>
            </a:xfrm>
            <a:prstGeom prst="rect">
              <a:avLst/>
            </a:prstGeom>
            <a:noFill/>
          </p:spPr>
          <p:txBody>
            <a:bodyPr wrap="none" rtlCol="0">
              <a:spAutoFit/>
            </a:bodyPr>
            <a:lstStyle/>
            <a:p>
              <a:r>
                <a:rPr lang="en-US" dirty="0"/>
                <a:t>5</a:t>
              </a:r>
            </a:p>
          </p:txBody>
        </p:sp>
        <p:sp>
          <p:nvSpPr>
            <p:cNvPr id="42" name="TextBox 41">
              <a:extLst>
                <a:ext uri="{FF2B5EF4-FFF2-40B4-BE49-F238E27FC236}">
                  <a16:creationId xmlns:a16="http://schemas.microsoft.com/office/drawing/2014/main" id="{DD225D9B-F063-49D3-9DA6-FB83FB44F01D}"/>
                </a:ext>
              </a:extLst>
            </p:cNvPr>
            <p:cNvSpPr txBox="1"/>
            <p:nvPr/>
          </p:nvSpPr>
          <p:spPr>
            <a:xfrm>
              <a:off x="1652249" y="2654976"/>
              <a:ext cx="301686" cy="369332"/>
            </a:xfrm>
            <a:prstGeom prst="rect">
              <a:avLst/>
            </a:prstGeom>
            <a:noFill/>
          </p:spPr>
          <p:txBody>
            <a:bodyPr wrap="none" rtlCol="0">
              <a:spAutoFit/>
            </a:bodyPr>
            <a:lstStyle/>
            <a:p>
              <a:r>
                <a:rPr lang="en-US" dirty="0"/>
                <a:t>7</a:t>
              </a:r>
            </a:p>
          </p:txBody>
        </p:sp>
        <p:sp>
          <p:nvSpPr>
            <p:cNvPr id="43" name="TextBox 42">
              <a:extLst>
                <a:ext uri="{FF2B5EF4-FFF2-40B4-BE49-F238E27FC236}">
                  <a16:creationId xmlns:a16="http://schemas.microsoft.com/office/drawing/2014/main" id="{21D8F5B7-E539-45B0-8D13-14439E7CD640}"/>
                </a:ext>
              </a:extLst>
            </p:cNvPr>
            <p:cNvSpPr txBox="1"/>
            <p:nvPr/>
          </p:nvSpPr>
          <p:spPr>
            <a:xfrm>
              <a:off x="1325319" y="3115924"/>
              <a:ext cx="418704" cy="369332"/>
            </a:xfrm>
            <a:prstGeom prst="rect">
              <a:avLst/>
            </a:prstGeom>
            <a:noFill/>
          </p:spPr>
          <p:txBody>
            <a:bodyPr wrap="none" rtlCol="0">
              <a:spAutoFit/>
            </a:bodyPr>
            <a:lstStyle/>
            <a:p>
              <a:r>
                <a:rPr lang="en-US" dirty="0"/>
                <a:t>10</a:t>
              </a:r>
            </a:p>
          </p:txBody>
        </p:sp>
        <p:sp>
          <p:nvSpPr>
            <p:cNvPr id="45" name="TextBox 44">
              <a:extLst>
                <a:ext uri="{FF2B5EF4-FFF2-40B4-BE49-F238E27FC236}">
                  <a16:creationId xmlns:a16="http://schemas.microsoft.com/office/drawing/2014/main" id="{98A75BFC-62A7-4B95-93E7-4E2043215E91}"/>
                </a:ext>
              </a:extLst>
            </p:cNvPr>
            <p:cNvSpPr txBox="1"/>
            <p:nvPr/>
          </p:nvSpPr>
          <p:spPr>
            <a:xfrm>
              <a:off x="1733264" y="3730132"/>
              <a:ext cx="301686" cy="369332"/>
            </a:xfrm>
            <a:prstGeom prst="rect">
              <a:avLst/>
            </a:prstGeom>
            <a:noFill/>
          </p:spPr>
          <p:txBody>
            <a:bodyPr wrap="none" rtlCol="0">
              <a:spAutoFit/>
            </a:bodyPr>
            <a:lstStyle/>
            <a:p>
              <a:r>
                <a:rPr lang="en-US" dirty="0"/>
                <a:t>6</a:t>
              </a:r>
            </a:p>
          </p:txBody>
        </p:sp>
      </p:grpSp>
      <p:grpSp>
        <p:nvGrpSpPr>
          <p:cNvPr id="47" name="Group 46">
            <a:extLst>
              <a:ext uri="{FF2B5EF4-FFF2-40B4-BE49-F238E27FC236}">
                <a16:creationId xmlns:a16="http://schemas.microsoft.com/office/drawing/2014/main" id="{902DC749-E62A-4D76-B081-938AEA264643}"/>
              </a:ext>
            </a:extLst>
          </p:cNvPr>
          <p:cNvGrpSpPr/>
          <p:nvPr/>
        </p:nvGrpSpPr>
        <p:grpSpPr>
          <a:xfrm>
            <a:off x="4724978" y="2442565"/>
            <a:ext cx="1868791" cy="1984377"/>
            <a:chOff x="533400" y="2436812"/>
            <a:chExt cx="1868791" cy="1984377"/>
          </a:xfrm>
        </p:grpSpPr>
        <p:sp>
          <p:nvSpPr>
            <p:cNvPr id="48" name="Oval 47">
              <a:extLst>
                <a:ext uri="{FF2B5EF4-FFF2-40B4-BE49-F238E27FC236}">
                  <a16:creationId xmlns:a16="http://schemas.microsoft.com/office/drawing/2014/main" id="{33B42238-117F-4C99-9F24-750EC0010331}"/>
                </a:ext>
              </a:extLst>
            </p:cNvPr>
            <p:cNvSpPr/>
            <p:nvPr/>
          </p:nvSpPr>
          <p:spPr bwMode="auto">
            <a:xfrm>
              <a:off x="1179209" y="2436812"/>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A</a:t>
              </a:r>
            </a:p>
          </p:txBody>
        </p:sp>
        <p:sp>
          <p:nvSpPr>
            <p:cNvPr id="49" name="Oval 48">
              <a:extLst>
                <a:ext uri="{FF2B5EF4-FFF2-40B4-BE49-F238E27FC236}">
                  <a16:creationId xmlns:a16="http://schemas.microsoft.com/office/drawing/2014/main" id="{DBECD33F-1236-4E7D-8A5A-8ED5C244DDA8}"/>
                </a:ext>
              </a:extLst>
            </p:cNvPr>
            <p:cNvSpPr/>
            <p:nvPr/>
          </p:nvSpPr>
          <p:spPr bwMode="auto">
            <a:xfrm>
              <a:off x="533400" y="3315495"/>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B</a:t>
              </a:r>
            </a:p>
          </p:txBody>
        </p:sp>
        <p:sp>
          <p:nvSpPr>
            <p:cNvPr id="50" name="Oval 49">
              <a:extLst>
                <a:ext uri="{FF2B5EF4-FFF2-40B4-BE49-F238E27FC236}">
                  <a16:creationId xmlns:a16="http://schemas.microsoft.com/office/drawing/2014/main" id="{78351D52-7C2A-492D-8ED5-27586AE2145B}"/>
                </a:ext>
              </a:extLst>
            </p:cNvPr>
            <p:cNvSpPr/>
            <p:nvPr/>
          </p:nvSpPr>
          <p:spPr bwMode="auto">
            <a:xfrm>
              <a:off x="1981200" y="3236121"/>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C</a:t>
              </a:r>
            </a:p>
          </p:txBody>
        </p:sp>
        <p:sp>
          <p:nvSpPr>
            <p:cNvPr id="51" name="Oval 50">
              <a:extLst>
                <a:ext uri="{FF2B5EF4-FFF2-40B4-BE49-F238E27FC236}">
                  <a16:creationId xmlns:a16="http://schemas.microsoft.com/office/drawing/2014/main" id="{ACB69FC0-A29D-499D-B63A-7D083E3D975B}"/>
                </a:ext>
              </a:extLst>
            </p:cNvPr>
            <p:cNvSpPr/>
            <p:nvPr/>
          </p:nvSpPr>
          <p:spPr bwMode="auto">
            <a:xfrm>
              <a:off x="1209372" y="3962406"/>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D</a:t>
              </a:r>
            </a:p>
          </p:txBody>
        </p:sp>
        <p:cxnSp>
          <p:nvCxnSpPr>
            <p:cNvPr id="52" name="Straight Connector 51">
              <a:extLst>
                <a:ext uri="{FF2B5EF4-FFF2-40B4-BE49-F238E27FC236}">
                  <a16:creationId xmlns:a16="http://schemas.microsoft.com/office/drawing/2014/main" id="{177AD344-F37F-4EE8-A2D9-91207F849C37}"/>
                </a:ext>
              </a:extLst>
            </p:cNvPr>
            <p:cNvCxnSpPr>
              <a:stCxn id="51" idx="1"/>
              <a:endCxn id="49" idx="4"/>
            </p:cNvCxnSpPr>
            <p:nvPr/>
          </p:nvCxnSpPr>
          <p:spPr bwMode="auto">
            <a:xfrm flipH="1" flipV="1">
              <a:off x="743896" y="3774278"/>
              <a:ext cx="527129" cy="255315"/>
            </a:xfrm>
            <a:prstGeom prst="lin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 name="TextBox 52">
              <a:extLst>
                <a:ext uri="{FF2B5EF4-FFF2-40B4-BE49-F238E27FC236}">
                  <a16:creationId xmlns:a16="http://schemas.microsoft.com/office/drawing/2014/main" id="{550D3887-D580-4B1C-A445-41A5275F8759}"/>
                </a:ext>
              </a:extLst>
            </p:cNvPr>
            <p:cNvSpPr txBox="1"/>
            <p:nvPr/>
          </p:nvSpPr>
          <p:spPr>
            <a:xfrm>
              <a:off x="766234" y="2720728"/>
              <a:ext cx="301686" cy="369332"/>
            </a:xfrm>
            <a:prstGeom prst="rect">
              <a:avLst/>
            </a:prstGeom>
            <a:solidFill>
              <a:schemeClr val="bg1"/>
            </a:solid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5</a:t>
              </a:r>
            </a:p>
          </p:txBody>
        </p:sp>
        <p:sp>
          <p:nvSpPr>
            <p:cNvPr id="54" name="TextBox 53">
              <a:extLst>
                <a:ext uri="{FF2B5EF4-FFF2-40B4-BE49-F238E27FC236}">
                  <a16:creationId xmlns:a16="http://schemas.microsoft.com/office/drawing/2014/main" id="{BE97F5C1-DC8A-4B8C-8F1E-A6BEAE458C75}"/>
                </a:ext>
              </a:extLst>
            </p:cNvPr>
            <p:cNvSpPr txBox="1"/>
            <p:nvPr/>
          </p:nvSpPr>
          <p:spPr>
            <a:xfrm>
              <a:off x="1652249" y="2654976"/>
              <a:ext cx="301686" cy="369332"/>
            </a:xfrm>
            <a:prstGeom prst="rect">
              <a:avLst/>
            </a:prstGeom>
            <a:no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7</a:t>
              </a:r>
            </a:p>
          </p:txBody>
        </p:sp>
      </p:grpSp>
      <p:sp>
        <p:nvSpPr>
          <p:cNvPr id="57" name="TextBox 56">
            <a:extLst>
              <a:ext uri="{FF2B5EF4-FFF2-40B4-BE49-F238E27FC236}">
                <a16:creationId xmlns:a16="http://schemas.microsoft.com/office/drawing/2014/main" id="{A5B151AA-6E80-479A-99DB-05E5D8739340}"/>
              </a:ext>
            </a:extLst>
          </p:cNvPr>
          <p:cNvSpPr txBox="1"/>
          <p:nvPr/>
        </p:nvSpPr>
        <p:spPr>
          <a:xfrm>
            <a:off x="5043712" y="3920764"/>
            <a:ext cx="301686" cy="369332"/>
          </a:xfrm>
          <a:prstGeom prst="rect">
            <a:avLst/>
          </a:prstGeom>
          <a:noFill/>
        </p:spPr>
        <p:txBody>
          <a:bodyPr wrap="none" rtlCol="0">
            <a:spAutoFit/>
          </a:bodyPr>
          <a:lstStyle/>
          <a:p>
            <a:r>
              <a:rPr lang="en-US" dirty="0"/>
              <a:t>8</a:t>
            </a:r>
          </a:p>
        </p:txBody>
      </p:sp>
      <p:cxnSp>
        <p:nvCxnSpPr>
          <p:cNvPr id="17" name="Straight Connector 16">
            <a:extLst>
              <a:ext uri="{FF2B5EF4-FFF2-40B4-BE49-F238E27FC236}">
                <a16:creationId xmlns:a16="http://schemas.microsoft.com/office/drawing/2014/main" id="{E3B1C877-F414-4F34-B137-2D4B5D9143F1}"/>
              </a:ext>
            </a:extLst>
          </p:cNvPr>
          <p:cNvCxnSpPr>
            <a:stCxn id="48" idx="3"/>
            <a:endCxn id="49" idx="0"/>
          </p:cNvCxnSpPr>
          <p:nvPr/>
        </p:nvCxnSpPr>
        <p:spPr bwMode="auto">
          <a:xfrm flipH="1">
            <a:off x="4935473" y="2834161"/>
            <a:ext cx="496966" cy="487087"/>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E1A7F57D-813F-4D7E-9102-DC13AC551CED}"/>
              </a:ext>
            </a:extLst>
          </p:cNvPr>
          <p:cNvCxnSpPr>
            <a:stCxn id="48" idx="5"/>
            <a:endCxn id="50" idx="1"/>
          </p:cNvCxnSpPr>
          <p:nvPr/>
        </p:nvCxnSpPr>
        <p:spPr bwMode="auto">
          <a:xfrm>
            <a:off x="5730124" y="2834160"/>
            <a:ext cx="504306" cy="47490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2" name="Group 61">
            <a:extLst>
              <a:ext uri="{FF2B5EF4-FFF2-40B4-BE49-F238E27FC236}">
                <a16:creationId xmlns:a16="http://schemas.microsoft.com/office/drawing/2014/main" id="{DB056C6C-1B96-4239-B69F-79E88AA6E732}"/>
              </a:ext>
            </a:extLst>
          </p:cNvPr>
          <p:cNvGrpSpPr/>
          <p:nvPr/>
        </p:nvGrpSpPr>
        <p:grpSpPr>
          <a:xfrm>
            <a:off x="4795729" y="4752120"/>
            <a:ext cx="1868791" cy="1984377"/>
            <a:chOff x="533400" y="2436812"/>
            <a:chExt cx="1868791" cy="1984377"/>
          </a:xfrm>
        </p:grpSpPr>
        <p:sp>
          <p:nvSpPr>
            <p:cNvPr id="63" name="Oval 62">
              <a:extLst>
                <a:ext uri="{FF2B5EF4-FFF2-40B4-BE49-F238E27FC236}">
                  <a16:creationId xmlns:a16="http://schemas.microsoft.com/office/drawing/2014/main" id="{DF6D3DF9-F09A-4BCC-8B06-0BCE760849A6}"/>
                </a:ext>
              </a:extLst>
            </p:cNvPr>
            <p:cNvSpPr/>
            <p:nvPr/>
          </p:nvSpPr>
          <p:spPr bwMode="auto">
            <a:xfrm>
              <a:off x="1179209" y="2436812"/>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A</a:t>
              </a:r>
            </a:p>
          </p:txBody>
        </p:sp>
        <p:sp>
          <p:nvSpPr>
            <p:cNvPr id="64" name="Oval 63">
              <a:extLst>
                <a:ext uri="{FF2B5EF4-FFF2-40B4-BE49-F238E27FC236}">
                  <a16:creationId xmlns:a16="http://schemas.microsoft.com/office/drawing/2014/main" id="{60F12625-C8A6-453E-8C67-7DC748722B45}"/>
                </a:ext>
              </a:extLst>
            </p:cNvPr>
            <p:cNvSpPr/>
            <p:nvPr/>
          </p:nvSpPr>
          <p:spPr bwMode="auto">
            <a:xfrm>
              <a:off x="533400" y="3315495"/>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B</a:t>
              </a:r>
            </a:p>
          </p:txBody>
        </p:sp>
        <p:sp>
          <p:nvSpPr>
            <p:cNvPr id="65" name="Oval 64">
              <a:extLst>
                <a:ext uri="{FF2B5EF4-FFF2-40B4-BE49-F238E27FC236}">
                  <a16:creationId xmlns:a16="http://schemas.microsoft.com/office/drawing/2014/main" id="{B85D4CC7-06C9-49BD-B27B-37726BC7E695}"/>
                </a:ext>
              </a:extLst>
            </p:cNvPr>
            <p:cNvSpPr/>
            <p:nvPr/>
          </p:nvSpPr>
          <p:spPr bwMode="auto">
            <a:xfrm>
              <a:off x="1981200" y="3236121"/>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C</a:t>
              </a:r>
            </a:p>
          </p:txBody>
        </p:sp>
        <p:sp>
          <p:nvSpPr>
            <p:cNvPr id="66" name="Oval 65">
              <a:extLst>
                <a:ext uri="{FF2B5EF4-FFF2-40B4-BE49-F238E27FC236}">
                  <a16:creationId xmlns:a16="http://schemas.microsoft.com/office/drawing/2014/main" id="{866981B5-9A74-426B-AEAF-B0161D01388D}"/>
                </a:ext>
              </a:extLst>
            </p:cNvPr>
            <p:cNvSpPr/>
            <p:nvPr/>
          </p:nvSpPr>
          <p:spPr bwMode="auto">
            <a:xfrm>
              <a:off x="1209372" y="3962406"/>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D</a:t>
              </a:r>
            </a:p>
          </p:txBody>
        </p:sp>
        <p:cxnSp>
          <p:nvCxnSpPr>
            <p:cNvPr id="67" name="Straight Connector 66">
              <a:extLst>
                <a:ext uri="{FF2B5EF4-FFF2-40B4-BE49-F238E27FC236}">
                  <a16:creationId xmlns:a16="http://schemas.microsoft.com/office/drawing/2014/main" id="{FFD4436C-4465-43C3-A19A-50F4AF9E10B1}"/>
                </a:ext>
              </a:extLst>
            </p:cNvPr>
            <p:cNvCxnSpPr>
              <a:stCxn id="66" idx="0"/>
              <a:endCxn id="63" idx="4"/>
            </p:cNvCxnSpPr>
            <p:nvPr/>
          </p:nvCxnSpPr>
          <p:spPr bwMode="auto">
            <a:xfrm flipH="1" flipV="1">
              <a:off x="1389705" y="2895595"/>
              <a:ext cx="30163" cy="1066811"/>
            </a:xfrm>
            <a:prstGeom prst="lin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TextBox 67">
              <a:extLst>
                <a:ext uri="{FF2B5EF4-FFF2-40B4-BE49-F238E27FC236}">
                  <a16:creationId xmlns:a16="http://schemas.microsoft.com/office/drawing/2014/main" id="{7AEB63BD-F93D-475B-92D4-9AE9C69507F6}"/>
                </a:ext>
              </a:extLst>
            </p:cNvPr>
            <p:cNvSpPr txBox="1"/>
            <p:nvPr/>
          </p:nvSpPr>
          <p:spPr>
            <a:xfrm>
              <a:off x="766234" y="2720728"/>
              <a:ext cx="301686" cy="369332"/>
            </a:xfrm>
            <a:prstGeom prst="rect">
              <a:avLst/>
            </a:prstGeom>
            <a:no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5</a:t>
              </a:r>
            </a:p>
          </p:txBody>
        </p:sp>
        <p:sp>
          <p:nvSpPr>
            <p:cNvPr id="69" name="TextBox 68">
              <a:extLst>
                <a:ext uri="{FF2B5EF4-FFF2-40B4-BE49-F238E27FC236}">
                  <a16:creationId xmlns:a16="http://schemas.microsoft.com/office/drawing/2014/main" id="{E1F855EE-B33D-470F-B7F8-861521228CD4}"/>
                </a:ext>
              </a:extLst>
            </p:cNvPr>
            <p:cNvSpPr txBox="1"/>
            <p:nvPr/>
          </p:nvSpPr>
          <p:spPr>
            <a:xfrm>
              <a:off x="1652249" y="2654976"/>
              <a:ext cx="301686" cy="369332"/>
            </a:xfrm>
            <a:prstGeom prst="rect">
              <a:avLst/>
            </a:prstGeom>
            <a:no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7</a:t>
              </a:r>
            </a:p>
          </p:txBody>
        </p:sp>
        <p:sp>
          <p:nvSpPr>
            <p:cNvPr id="70" name="TextBox 69">
              <a:extLst>
                <a:ext uri="{FF2B5EF4-FFF2-40B4-BE49-F238E27FC236}">
                  <a16:creationId xmlns:a16="http://schemas.microsoft.com/office/drawing/2014/main" id="{8E80154D-FC3A-4AC6-B953-B687EC1CDA99}"/>
                </a:ext>
              </a:extLst>
            </p:cNvPr>
            <p:cNvSpPr txBox="1"/>
            <p:nvPr/>
          </p:nvSpPr>
          <p:spPr>
            <a:xfrm>
              <a:off x="1325319" y="3115924"/>
              <a:ext cx="418704" cy="369332"/>
            </a:xfrm>
            <a:prstGeom prst="rect">
              <a:avLst/>
            </a:prstGeom>
            <a:no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10</a:t>
              </a:r>
            </a:p>
          </p:txBody>
        </p:sp>
      </p:grpSp>
      <p:cxnSp>
        <p:nvCxnSpPr>
          <p:cNvPr id="74" name="Straight Connector 73">
            <a:extLst>
              <a:ext uri="{FF2B5EF4-FFF2-40B4-BE49-F238E27FC236}">
                <a16:creationId xmlns:a16="http://schemas.microsoft.com/office/drawing/2014/main" id="{FDAB8760-73F6-4BDD-8968-D0C3DF85E1CC}"/>
              </a:ext>
            </a:extLst>
          </p:cNvPr>
          <p:cNvCxnSpPr>
            <a:stCxn id="64" idx="0"/>
            <a:endCxn id="63" idx="4"/>
          </p:cNvCxnSpPr>
          <p:nvPr/>
        </p:nvCxnSpPr>
        <p:spPr bwMode="auto">
          <a:xfrm flipV="1">
            <a:off x="5006225" y="5210902"/>
            <a:ext cx="645809" cy="41990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Straight Connector 76">
            <a:extLst>
              <a:ext uri="{FF2B5EF4-FFF2-40B4-BE49-F238E27FC236}">
                <a16:creationId xmlns:a16="http://schemas.microsoft.com/office/drawing/2014/main" id="{8DBC284A-6373-43FF-82AF-262817E558DC}"/>
              </a:ext>
            </a:extLst>
          </p:cNvPr>
          <p:cNvCxnSpPr>
            <a:stCxn id="65" idx="1"/>
            <a:endCxn id="63" idx="4"/>
          </p:cNvCxnSpPr>
          <p:nvPr/>
        </p:nvCxnSpPr>
        <p:spPr bwMode="auto">
          <a:xfrm flipH="1" flipV="1">
            <a:off x="5652033" y="5210903"/>
            <a:ext cx="653148" cy="407713"/>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0" name="Group 79">
            <a:extLst>
              <a:ext uri="{FF2B5EF4-FFF2-40B4-BE49-F238E27FC236}">
                <a16:creationId xmlns:a16="http://schemas.microsoft.com/office/drawing/2014/main" id="{E207F13D-F5F2-4855-983B-05AC1C5967FA}"/>
              </a:ext>
            </a:extLst>
          </p:cNvPr>
          <p:cNvGrpSpPr/>
          <p:nvPr/>
        </p:nvGrpSpPr>
        <p:grpSpPr>
          <a:xfrm>
            <a:off x="8150913" y="3122394"/>
            <a:ext cx="1868791" cy="1984377"/>
            <a:chOff x="533400" y="2436812"/>
            <a:chExt cx="1868791" cy="1984377"/>
          </a:xfrm>
        </p:grpSpPr>
        <p:sp>
          <p:nvSpPr>
            <p:cNvPr id="81" name="Oval 80">
              <a:extLst>
                <a:ext uri="{FF2B5EF4-FFF2-40B4-BE49-F238E27FC236}">
                  <a16:creationId xmlns:a16="http://schemas.microsoft.com/office/drawing/2014/main" id="{C1D4C301-73E4-4D8F-8557-017EDA68C69E}"/>
                </a:ext>
              </a:extLst>
            </p:cNvPr>
            <p:cNvSpPr/>
            <p:nvPr/>
          </p:nvSpPr>
          <p:spPr bwMode="auto">
            <a:xfrm>
              <a:off x="1179209" y="2436812"/>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A</a:t>
              </a:r>
            </a:p>
          </p:txBody>
        </p:sp>
        <p:sp>
          <p:nvSpPr>
            <p:cNvPr id="82" name="Oval 81">
              <a:extLst>
                <a:ext uri="{FF2B5EF4-FFF2-40B4-BE49-F238E27FC236}">
                  <a16:creationId xmlns:a16="http://schemas.microsoft.com/office/drawing/2014/main" id="{36BB240B-91DE-4A43-88FC-61439401A535}"/>
                </a:ext>
              </a:extLst>
            </p:cNvPr>
            <p:cNvSpPr/>
            <p:nvPr/>
          </p:nvSpPr>
          <p:spPr bwMode="auto">
            <a:xfrm>
              <a:off x="533400" y="3315495"/>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B</a:t>
              </a:r>
            </a:p>
          </p:txBody>
        </p:sp>
        <p:sp>
          <p:nvSpPr>
            <p:cNvPr id="83" name="Oval 82">
              <a:extLst>
                <a:ext uri="{FF2B5EF4-FFF2-40B4-BE49-F238E27FC236}">
                  <a16:creationId xmlns:a16="http://schemas.microsoft.com/office/drawing/2014/main" id="{8427606E-BCB0-426A-B684-2364A0B966AF}"/>
                </a:ext>
              </a:extLst>
            </p:cNvPr>
            <p:cNvSpPr/>
            <p:nvPr/>
          </p:nvSpPr>
          <p:spPr bwMode="auto">
            <a:xfrm>
              <a:off x="1981200" y="3236121"/>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C</a:t>
              </a:r>
            </a:p>
          </p:txBody>
        </p:sp>
        <p:sp>
          <p:nvSpPr>
            <p:cNvPr id="84" name="Oval 83">
              <a:extLst>
                <a:ext uri="{FF2B5EF4-FFF2-40B4-BE49-F238E27FC236}">
                  <a16:creationId xmlns:a16="http://schemas.microsoft.com/office/drawing/2014/main" id="{8F48B141-2F8C-4B21-BDEF-DF090C7E2E93}"/>
                </a:ext>
              </a:extLst>
            </p:cNvPr>
            <p:cNvSpPr/>
            <p:nvPr/>
          </p:nvSpPr>
          <p:spPr bwMode="auto">
            <a:xfrm>
              <a:off x="1209372" y="3962406"/>
              <a:ext cx="420991" cy="458783"/>
            </a:xfrm>
            <a:prstGeom prst="ellips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D</a:t>
              </a:r>
            </a:p>
          </p:txBody>
        </p:sp>
        <p:cxnSp>
          <p:nvCxnSpPr>
            <p:cNvPr id="85" name="Straight Connector 84">
              <a:extLst>
                <a:ext uri="{FF2B5EF4-FFF2-40B4-BE49-F238E27FC236}">
                  <a16:creationId xmlns:a16="http://schemas.microsoft.com/office/drawing/2014/main" id="{0A63EEF9-5D69-4F90-A2E0-3570BE559E67}"/>
                </a:ext>
              </a:extLst>
            </p:cNvPr>
            <p:cNvCxnSpPr>
              <a:stCxn id="82" idx="0"/>
              <a:endCxn id="81" idx="4"/>
            </p:cNvCxnSpPr>
            <p:nvPr/>
          </p:nvCxnSpPr>
          <p:spPr bwMode="auto">
            <a:xfrm flipV="1">
              <a:off x="743896" y="2895595"/>
              <a:ext cx="645809" cy="419900"/>
            </a:xfrm>
            <a:prstGeom prst="line">
              <a:avLst/>
            </a:prstGeom>
            <a:solidFill>
              <a:schemeClr val="accent3">
                <a:lumMod val="60000"/>
                <a:lumOff val="40000"/>
              </a:schemeClr>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6" name="TextBox 85">
              <a:extLst>
                <a:ext uri="{FF2B5EF4-FFF2-40B4-BE49-F238E27FC236}">
                  <a16:creationId xmlns:a16="http://schemas.microsoft.com/office/drawing/2014/main" id="{13150EFE-9464-4F54-B93F-7429EE788A25}"/>
                </a:ext>
              </a:extLst>
            </p:cNvPr>
            <p:cNvSpPr txBox="1"/>
            <p:nvPr/>
          </p:nvSpPr>
          <p:spPr>
            <a:xfrm>
              <a:off x="766234" y="2720728"/>
              <a:ext cx="301686" cy="369332"/>
            </a:xfrm>
            <a:prstGeom prst="rect">
              <a:avLst/>
            </a:prstGeom>
            <a:no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5</a:t>
              </a:r>
            </a:p>
          </p:txBody>
        </p:sp>
        <p:sp>
          <p:nvSpPr>
            <p:cNvPr id="87" name="TextBox 86">
              <a:extLst>
                <a:ext uri="{FF2B5EF4-FFF2-40B4-BE49-F238E27FC236}">
                  <a16:creationId xmlns:a16="http://schemas.microsoft.com/office/drawing/2014/main" id="{CA80B597-7BE4-4AB5-9732-9560501A32D7}"/>
                </a:ext>
              </a:extLst>
            </p:cNvPr>
            <p:cNvSpPr txBox="1"/>
            <p:nvPr/>
          </p:nvSpPr>
          <p:spPr>
            <a:xfrm>
              <a:off x="1652249" y="2654976"/>
              <a:ext cx="301686" cy="322876"/>
            </a:xfrm>
            <a:prstGeom prst="rect">
              <a:avLst/>
            </a:prstGeom>
            <a:no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7</a:t>
              </a:r>
            </a:p>
          </p:txBody>
        </p:sp>
        <p:sp>
          <p:nvSpPr>
            <p:cNvPr id="89" name="TextBox 88">
              <a:extLst>
                <a:ext uri="{FF2B5EF4-FFF2-40B4-BE49-F238E27FC236}">
                  <a16:creationId xmlns:a16="http://schemas.microsoft.com/office/drawing/2014/main" id="{07BDE01B-4512-4E46-BA53-F70FA4382328}"/>
                </a:ext>
              </a:extLst>
            </p:cNvPr>
            <p:cNvSpPr txBox="1"/>
            <p:nvPr/>
          </p:nvSpPr>
          <p:spPr>
            <a:xfrm>
              <a:off x="1733264" y="3730132"/>
              <a:ext cx="301686" cy="369332"/>
            </a:xfrm>
            <a:prstGeom prst="rect">
              <a:avLst/>
            </a:prstGeom>
            <a:noFill/>
            <a:ln w="12700" cap="flat" cmpd="sng" algn="ctr">
              <a:no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defPPr>
                <a:defRPr lang="en-US"/>
              </a:defPPr>
              <a:lvl1pPr eaLnBrk="0" fontAlgn="base" hangingPunct="0">
                <a:spcBef>
                  <a:spcPct val="0"/>
                </a:spcBef>
                <a:spcAft>
                  <a:spcPct val="0"/>
                </a:spcAft>
                <a:defRPr sz="1600">
                  <a:latin typeface="Times New Roman" panose="02020603050405020304" pitchFamily="18" charset="0"/>
                </a:defRPr>
              </a:lvl1pPr>
            </a:lstStyle>
            <a:p>
              <a:r>
                <a:rPr lang="en-US" dirty="0"/>
                <a:t>6</a:t>
              </a:r>
            </a:p>
          </p:txBody>
        </p:sp>
      </p:grpSp>
      <p:cxnSp>
        <p:nvCxnSpPr>
          <p:cNvPr id="93" name="Straight Connector 92">
            <a:extLst>
              <a:ext uri="{FF2B5EF4-FFF2-40B4-BE49-F238E27FC236}">
                <a16:creationId xmlns:a16="http://schemas.microsoft.com/office/drawing/2014/main" id="{122FB0A8-7AD6-4737-B13D-A27AF041AFED}"/>
              </a:ext>
            </a:extLst>
          </p:cNvPr>
          <p:cNvCxnSpPr>
            <a:stCxn id="83" idx="1"/>
            <a:endCxn id="81" idx="4"/>
          </p:cNvCxnSpPr>
          <p:nvPr/>
        </p:nvCxnSpPr>
        <p:spPr bwMode="auto">
          <a:xfrm flipH="1" flipV="1">
            <a:off x="9007217" y="3581177"/>
            <a:ext cx="653148" cy="407713"/>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Straight Connector 95">
            <a:extLst>
              <a:ext uri="{FF2B5EF4-FFF2-40B4-BE49-F238E27FC236}">
                <a16:creationId xmlns:a16="http://schemas.microsoft.com/office/drawing/2014/main" id="{868998FD-520D-4519-9388-F523E256B37C}"/>
              </a:ext>
            </a:extLst>
          </p:cNvPr>
          <p:cNvCxnSpPr>
            <a:stCxn id="83" idx="3"/>
            <a:endCxn id="84" idx="7"/>
          </p:cNvCxnSpPr>
          <p:nvPr/>
        </p:nvCxnSpPr>
        <p:spPr bwMode="auto">
          <a:xfrm flipH="1">
            <a:off x="9186223" y="4313298"/>
            <a:ext cx="474143" cy="401876"/>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7770725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86931B8A-2430-448C-B4BF-99E5FAF7520D}"/>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19</a:t>
            </a:fld>
            <a:endParaRPr lang="en-US" altLang="en-US" sz="1400"/>
          </a:p>
        </p:txBody>
      </p:sp>
      <p:sp>
        <p:nvSpPr>
          <p:cNvPr id="13315" name="Rectangle 2">
            <a:extLst>
              <a:ext uri="{FF2B5EF4-FFF2-40B4-BE49-F238E27FC236}">
                <a16:creationId xmlns:a16="http://schemas.microsoft.com/office/drawing/2014/main" id="{74B4E884-572A-4463-8052-1E5AAAA1A9C9}"/>
              </a:ext>
            </a:extLst>
          </p:cNvPr>
          <p:cNvSpPr>
            <a:spLocks noGrp="1" noChangeArrowheads="1"/>
          </p:cNvSpPr>
          <p:nvPr>
            <p:ph type="title"/>
          </p:nvPr>
        </p:nvSpPr>
        <p:spPr>
          <a:xfrm>
            <a:off x="2209800" y="304800"/>
            <a:ext cx="7772400" cy="685800"/>
          </a:xfrm>
        </p:spPr>
        <p:txBody>
          <a:bodyPr>
            <a:normAutofit fontScale="90000"/>
          </a:bodyPr>
          <a:lstStyle/>
          <a:p>
            <a:r>
              <a:rPr lang="en-US" altLang="en-US"/>
              <a:t>Minimum Spanning Trees </a:t>
            </a:r>
          </a:p>
        </p:txBody>
      </p:sp>
      <p:sp>
        <p:nvSpPr>
          <p:cNvPr id="13316" name="Rectangle 3">
            <a:extLst>
              <a:ext uri="{FF2B5EF4-FFF2-40B4-BE49-F238E27FC236}">
                <a16:creationId xmlns:a16="http://schemas.microsoft.com/office/drawing/2014/main" id="{765543C9-FBF2-4E53-9FDD-A14D2D804F33}"/>
              </a:ext>
            </a:extLst>
          </p:cNvPr>
          <p:cNvSpPr>
            <a:spLocks noGrp="1" noChangeArrowheads="1"/>
          </p:cNvSpPr>
          <p:nvPr>
            <p:ph type="body" idx="1"/>
          </p:nvPr>
        </p:nvSpPr>
        <p:spPr>
          <a:xfrm>
            <a:off x="1828800" y="1066800"/>
            <a:ext cx="8610600" cy="1447800"/>
          </a:xfrm>
        </p:spPr>
        <p:txBody>
          <a:bodyPr/>
          <a:lstStyle/>
          <a:p>
            <a:pPr marL="0" indent="0">
              <a:lnSpc>
                <a:spcPct val="80000"/>
              </a:lnSpc>
              <a:spcBef>
                <a:spcPct val="0"/>
              </a:spcBef>
              <a:buNone/>
            </a:pPr>
            <a:r>
              <a:rPr lang="en-US" altLang="en-US" sz="2000"/>
              <a:t>A graph may have many spanning trees. Suppose that the edges are weighted. A minimum spanning tree is a spanning tree with the minimum total weights. For example, the trees in Figures (b), (c), (d) are spanning trees for the graph in Figure (a). The trees in Figures (c) and (d) are minimum spanning trees.</a:t>
            </a:r>
          </a:p>
        </p:txBody>
      </p:sp>
      <p:sp>
        <p:nvSpPr>
          <p:cNvPr id="13317" name="Rectangle 5">
            <a:extLst>
              <a:ext uri="{FF2B5EF4-FFF2-40B4-BE49-F238E27FC236}">
                <a16:creationId xmlns:a16="http://schemas.microsoft.com/office/drawing/2014/main" id="{B7518D75-951B-4C63-87EF-25470006BA2F}"/>
              </a:ext>
            </a:extLst>
          </p:cNvPr>
          <p:cNvSpPr>
            <a:spLocks noChangeArrowheads="1"/>
          </p:cNvSpPr>
          <p:nvPr/>
        </p:nvSpPr>
        <p:spPr bwMode="auto">
          <a:xfrm>
            <a:off x="1524001" y="19027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8" name="Rectangle 7">
            <a:extLst>
              <a:ext uri="{FF2B5EF4-FFF2-40B4-BE49-F238E27FC236}">
                <a16:creationId xmlns:a16="http://schemas.microsoft.com/office/drawing/2014/main" id="{0F92B337-A3C6-4BEA-8EFE-974EBD65416D}"/>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0" name="Rectangle 9">
            <a:extLst>
              <a:ext uri="{FF2B5EF4-FFF2-40B4-BE49-F238E27FC236}">
                <a16:creationId xmlns:a16="http://schemas.microsoft.com/office/drawing/2014/main" id="{A72553A8-E6E3-49F7-8033-6C224D6BEABE}"/>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21" name="Object 8">
            <a:extLst>
              <a:ext uri="{FF2B5EF4-FFF2-40B4-BE49-F238E27FC236}">
                <a16:creationId xmlns:a16="http://schemas.microsoft.com/office/drawing/2014/main" id="{A2CEDE98-1F2B-4945-9E4A-81FAE54545CC}"/>
              </a:ext>
            </a:extLst>
          </p:cNvPr>
          <p:cNvGraphicFramePr>
            <a:graphicFrameLocks noChangeAspect="1"/>
          </p:cNvGraphicFramePr>
          <p:nvPr/>
        </p:nvGraphicFramePr>
        <p:xfrm>
          <a:off x="4449763" y="2564266"/>
          <a:ext cx="2255838" cy="1684338"/>
        </p:xfrm>
        <a:graphic>
          <a:graphicData uri="http://schemas.openxmlformats.org/presentationml/2006/ole">
            <mc:AlternateContent xmlns:mc="http://schemas.openxmlformats.org/markup-compatibility/2006">
              <mc:Choice xmlns:v="urn:schemas-microsoft-com:vml" Requires="v">
                <p:oleObj name="Picture" r:id="rId3" imgW="2720340" imgH="2029968" progId="Word.Picture.8">
                  <p:embed/>
                </p:oleObj>
              </mc:Choice>
              <mc:Fallback>
                <p:oleObj name="Picture" r:id="rId3" imgW="2720340" imgH="2029968" progId="Word.Picture.8">
                  <p:embed/>
                  <p:pic>
                    <p:nvPicPr>
                      <p:cNvPr id="13321" name="Object 8">
                        <a:extLst>
                          <a:ext uri="{FF2B5EF4-FFF2-40B4-BE49-F238E27FC236}">
                            <a16:creationId xmlns:a16="http://schemas.microsoft.com/office/drawing/2014/main" id="{A2CEDE98-1F2B-4945-9E4A-81FAE54545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9763" y="2564266"/>
                        <a:ext cx="2255838"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2" name="Rectangle 11">
            <a:extLst>
              <a:ext uri="{FF2B5EF4-FFF2-40B4-BE49-F238E27FC236}">
                <a16:creationId xmlns:a16="http://schemas.microsoft.com/office/drawing/2014/main" id="{593B30B0-0D98-4CEF-A519-5BD2B86F5A75}"/>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23" name="Object 10">
            <a:extLst>
              <a:ext uri="{FF2B5EF4-FFF2-40B4-BE49-F238E27FC236}">
                <a16:creationId xmlns:a16="http://schemas.microsoft.com/office/drawing/2014/main" id="{C36AC94E-50B2-4DB8-A9DA-DFABFA7FC65B}"/>
              </a:ext>
            </a:extLst>
          </p:cNvPr>
          <p:cNvGraphicFramePr>
            <a:graphicFrameLocks noChangeAspect="1"/>
          </p:cNvGraphicFramePr>
          <p:nvPr/>
        </p:nvGraphicFramePr>
        <p:xfrm>
          <a:off x="4953000" y="4572000"/>
          <a:ext cx="2255838" cy="1684338"/>
        </p:xfrm>
        <a:graphic>
          <a:graphicData uri="http://schemas.openxmlformats.org/presentationml/2006/ole">
            <mc:AlternateContent xmlns:mc="http://schemas.openxmlformats.org/markup-compatibility/2006">
              <mc:Choice xmlns:v="urn:schemas-microsoft-com:vml" Requires="v">
                <p:oleObj name="Picture" r:id="rId5" imgW="2720340" imgH="2029968" progId="Word.Picture.8">
                  <p:embed/>
                </p:oleObj>
              </mc:Choice>
              <mc:Fallback>
                <p:oleObj name="Picture" r:id="rId5" imgW="2720340" imgH="2029968" progId="Word.Picture.8">
                  <p:embed/>
                  <p:pic>
                    <p:nvPicPr>
                      <p:cNvPr id="13323" name="Object 10">
                        <a:extLst>
                          <a:ext uri="{FF2B5EF4-FFF2-40B4-BE49-F238E27FC236}">
                            <a16:creationId xmlns:a16="http://schemas.microsoft.com/office/drawing/2014/main" id="{C36AC94E-50B2-4DB8-A9DA-DFABFA7FC6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4572000"/>
                        <a:ext cx="2255838"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4" name="Rectangle 13">
            <a:extLst>
              <a:ext uri="{FF2B5EF4-FFF2-40B4-BE49-F238E27FC236}">
                <a16:creationId xmlns:a16="http://schemas.microsoft.com/office/drawing/2014/main" id="{0A42D7F1-1EE8-4BC6-8DF6-7170C3514552}"/>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13325" name="Object 12">
            <a:extLst>
              <a:ext uri="{FF2B5EF4-FFF2-40B4-BE49-F238E27FC236}">
                <a16:creationId xmlns:a16="http://schemas.microsoft.com/office/drawing/2014/main" id="{219A693F-0B02-4017-8D70-2E07DDEE44DA}"/>
              </a:ext>
            </a:extLst>
          </p:cNvPr>
          <p:cNvGraphicFramePr>
            <a:graphicFrameLocks noChangeAspect="1"/>
          </p:cNvGraphicFramePr>
          <p:nvPr/>
        </p:nvGraphicFramePr>
        <p:xfrm>
          <a:off x="7620000" y="4648200"/>
          <a:ext cx="2255838" cy="1684338"/>
        </p:xfrm>
        <a:graphic>
          <a:graphicData uri="http://schemas.openxmlformats.org/presentationml/2006/ole">
            <mc:AlternateContent xmlns:mc="http://schemas.openxmlformats.org/markup-compatibility/2006">
              <mc:Choice xmlns:v="urn:schemas-microsoft-com:vml" Requires="v">
                <p:oleObj name="Picture" r:id="rId7" imgW="2720340" imgH="2029968" progId="Word.Picture.8">
                  <p:embed/>
                </p:oleObj>
              </mc:Choice>
              <mc:Fallback>
                <p:oleObj name="Picture" r:id="rId7" imgW="2720340" imgH="2029968" progId="Word.Picture.8">
                  <p:embed/>
                  <p:pic>
                    <p:nvPicPr>
                      <p:cNvPr id="13325" name="Object 12">
                        <a:extLst>
                          <a:ext uri="{FF2B5EF4-FFF2-40B4-BE49-F238E27FC236}">
                            <a16:creationId xmlns:a16="http://schemas.microsoft.com/office/drawing/2014/main" id="{219A693F-0B02-4017-8D70-2E07DDEE44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0" y="4648200"/>
                        <a:ext cx="2255838" cy="168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6" name="Rectangle 14">
            <a:extLst>
              <a:ext uri="{FF2B5EF4-FFF2-40B4-BE49-F238E27FC236}">
                <a16:creationId xmlns:a16="http://schemas.microsoft.com/office/drawing/2014/main" id="{4F605C10-2402-4A36-805D-4F4C38A2A1ED}"/>
              </a:ext>
            </a:extLst>
          </p:cNvPr>
          <p:cNvSpPr>
            <a:spLocks noChangeArrowheads="1"/>
          </p:cNvSpPr>
          <p:nvPr/>
        </p:nvSpPr>
        <p:spPr bwMode="auto">
          <a:xfrm>
            <a:off x="7772400" y="41148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Total w: 38</a:t>
            </a:r>
          </a:p>
        </p:txBody>
      </p:sp>
      <p:sp>
        <p:nvSpPr>
          <p:cNvPr id="13327" name="Rectangle 15">
            <a:extLst>
              <a:ext uri="{FF2B5EF4-FFF2-40B4-BE49-F238E27FC236}">
                <a16:creationId xmlns:a16="http://schemas.microsoft.com/office/drawing/2014/main" id="{A5C677A4-DC35-41A5-AB75-9F5581CA92F5}"/>
              </a:ext>
            </a:extLst>
          </p:cNvPr>
          <p:cNvSpPr>
            <a:spLocks noChangeArrowheads="1"/>
          </p:cNvSpPr>
          <p:nvPr/>
        </p:nvSpPr>
        <p:spPr bwMode="auto">
          <a:xfrm>
            <a:off x="6477000" y="24384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Total w: 42</a:t>
            </a:r>
          </a:p>
        </p:txBody>
      </p:sp>
      <p:sp>
        <p:nvSpPr>
          <p:cNvPr id="13328" name="Rectangle 16">
            <a:extLst>
              <a:ext uri="{FF2B5EF4-FFF2-40B4-BE49-F238E27FC236}">
                <a16:creationId xmlns:a16="http://schemas.microsoft.com/office/drawing/2014/main" id="{0B18B920-7554-439A-8CD8-773CEFEC604A}"/>
              </a:ext>
            </a:extLst>
          </p:cNvPr>
          <p:cNvSpPr>
            <a:spLocks noChangeArrowheads="1"/>
          </p:cNvSpPr>
          <p:nvPr/>
        </p:nvSpPr>
        <p:spPr bwMode="auto">
          <a:xfrm>
            <a:off x="3581400" y="4648200"/>
            <a:ext cx="1371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Total w: 38</a:t>
            </a:r>
          </a:p>
        </p:txBody>
      </p:sp>
      <p:sp>
        <p:nvSpPr>
          <p:cNvPr id="13329" name="Rectangle 18">
            <a:extLst>
              <a:ext uri="{FF2B5EF4-FFF2-40B4-BE49-F238E27FC236}">
                <a16:creationId xmlns:a16="http://schemas.microsoft.com/office/drawing/2014/main" id="{F923D028-5BDD-4813-9793-E8388D71170C}"/>
              </a:ext>
            </a:extLst>
          </p:cNvPr>
          <p:cNvSpPr>
            <a:spLocks noChangeArrowheads="1"/>
          </p:cNvSpPr>
          <p:nvPr/>
        </p:nvSpPr>
        <p:spPr bwMode="auto">
          <a:xfrm>
            <a:off x="6477000" y="29718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(b)</a:t>
            </a:r>
          </a:p>
        </p:txBody>
      </p:sp>
      <p:sp>
        <p:nvSpPr>
          <p:cNvPr id="13330" name="Rectangle 19">
            <a:extLst>
              <a:ext uri="{FF2B5EF4-FFF2-40B4-BE49-F238E27FC236}">
                <a16:creationId xmlns:a16="http://schemas.microsoft.com/office/drawing/2014/main" id="{8C14CEE3-C384-43D5-906E-3B2146F63E69}"/>
              </a:ext>
            </a:extLst>
          </p:cNvPr>
          <p:cNvSpPr>
            <a:spLocks noChangeArrowheads="1"/>
          </p:cNvSpPr>
          <p:nvPr/>
        </p:nvSpPr>
        <p:spPr bwMode="auto">
          <a:xfrm>
            <a:off x="1676400" y="43434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(a)</a:t>
            </a:r>
          </a:p>
        </p:txBody>
      </p:sp>
      <p:sp>
        <p:nvSpPr>
          <p:cNvPr id="13331" name="Rectangle 20">
            <a:extLst>
              <a:ext uri="{FF2B5EF4-FFF2-40B4-BE49-F238E27FC236}">
                <a16:creationId xmlns:a16="http://schemas.microsoft.com/office/drawing/2014/main" id="{EC800B29-44E8-46BF-B958-516D17F75138}"/>
              </a:ext>
            </a:extLst>
          </p:cNvPr>
          <p:cNvSpPr>
            <a:spLocks noChangeArrowheads="1"/>
          </p:cNvSpPr>
          <p:nvPr/>
        </p:nvSpPr>
        <p:spPr bwMode="auto">
          <a:xfrm>
            <a:off x="4343400" y="51816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(c)</a:t>
            </a:r>
          </a:p>
        </p:txBody>
      </p:sp>
      <p:sp>
        <p:nvSpPr>
          <p:cNvPr id="13332" name="Rectangle 21">
            <a:extLst>
              <a:ext uri="{FF2B5EF4-FFF2-40B4-BE49-F238E27FC236}">
                <a16:creationId xmlns:a16="http://schemas.microsoft.com/office/drawing/2014/main" id="{C572E5DA-3A8E-4C9A-840E-841E6AF30113}"/>
              </a:ext>
            </a:extLst>
          </p:cNvPr>
          <p:cNvSpPr>
            <a:spLocks noChangeArrowheads="1"/>
          </p:cNvSpPr>
          <p:nvPr/>
        </p:nvSpPr>
        <p:spPr bwMode="auto">
          <a:xfrm>
            <a:off x="9906000" y="48006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80000"/>
              </a:lnSpc>
              <a:spcBef>
                <a:spcPct val="0"/>
              </a:spcBef>
              <a:buFont typeface="Monotype Sorts" pitchFamily="2" charset="2"/>
              <a:buNone/>
            </a:pPr>
            <a:r>
              <a:rPr lang="en-US" altLang="en-US" sz="2000"/>
              <a:t>(d)</a:t>
            </a:r>
          </a:p>
        </p:txBody>
      </p:sp>
      <p:pic>
        <p:nvPicPr>
          <p:cNvPr id="21" name="Picture 18">
            <a:extLst>
              <a:ext uri="{FF2B5EF4-FFF2-40B4-BE49-F238E27FC236}">
                <a16:creationId xmlns:a16="http://schemas.microsoft.com/office/drawing/2014/main" id="{A59EDB1C-51FE-4BE3-9E8A-878E5666190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2601" y="2293938"/>
            <a:ext cx="2590800" cy="1965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E478D-DB05-4660-A76D-DF7C02ADEA81}"/>
              </a:ext>
            </a:extLst>
          </p:cNvPr>
          <p:cNvSpPr>
            <a:spLocks noGrp="1"/>
          </p:cNvSpPr>
          <p:nvPr>
            <p:ph type="title"/>
          </p:nvPr>
        </p:nvSpPr>
        <p:spPr/>
        <p:txBody>
          <a:bodyPr/>
          <a:lstStyle/>
          <a:p>
            <a:r>
              <a:rPr lang="en-US" dirty="0"/>
              <a:t>MST</a:t>
            </a:r>
          </a:p>
        </p:txBody>
      </p:sp>
      <p:sp>
        <p:nvSpPr>
          <p:cNvPr id="3" name="Content Placeholder 2">
            <a:extLst>
              <a:ext uri="{FF2B5EF4-FFF2-40B4-BE49-F238E27FC236}">
                <a16:creationId xmlns:a16="http://schemas.microsoft.com/office/drawing/2014/main" id="{8C20F6C8-D20C-48FE-91EA-E2D9E8A9336D}"/>
              </a:ext>
            </a:extLst>
          </p:cNvPr>
          <p:cNvSpPr>
            <a:spLocks noGrp="1"/>
          </p:cNvSpPr>
          <p:nvPr>
            <p:ph idx="1"/>
          </p:nvPr>
        </p:nvSpPr>
        <p:spPr/>
        <p:txBody>
          <a:bodyPr/>
          <a:lstStyle/>
          <a:p>
            <a:r>
              <a:rPr lang="en-US" dirty="0"/>
              <a:t>Given a connected and undirected graph, a spanning tree of that graph is a subgraph that is a tree and connects all the vertices together.</a:t>
            </a:r>
          </a:p>
          <a:p>
            <a:r>
              <a:rPr lang="en-US" dirty="0"/>
              <a:t>A MST has (V-1) edges where V is the number of vertices in the given graph.</a:t>
            </a:r>
          </a:p>
        </p:txBody>
      </p:sp>
      <p:sp>
        <p:nvSpPr>
          <p:cNvPr id="4" name="Slide Number Placeholder 3">
            <a:extLst>
              <a:ext uri="{FF2B5EF4-FFF2-40B4-BE49-F238E27FC236}">
                <a16:creationId xmlns:a16="http://schemas.microsoft.com/office/drawing/2014/main" id="{FB01E4CB-F2BD-4A39-AA04-E32E5A52FAEA}"/>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fld id="{6BB22796-5329-4D7E-880B-95B0A70ABA06}" type="slidenum">
              <a:rPr lang="en-US" altLang="en-US" smtClean="0"/>
              <a:pPr>
                <a:defRPr/>
              </a:pPr>
              <a:t>20</a:t>
            </a:fld>
            <a:endParaRPr lang="en-US" altLang="en-US"/>
          </a:p>
        </p:txBody>
      </p:sp>
    </p:spTree>
    <p:extLst>
      <p:ext uri="{BB962C8B-B14F-4D97-AF65-F5344CB8AC3E}">
        <p14:creationId xmlns:p14="http://schemas.microsoft.com/office/powerpoint/2010/main" val="2865143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bg1">
                    <a:lumMod val="85000"/>
                  </a:schemeClr>
                </a:solidFill>
              </a:rPr>
              <a:t>Review</a:t>
            </a:r>
            <a:r>
              <a:rPr lang="en-US" sz="1900" dirty="0">
                <a:solidFill>
                  <a:schemeClr val="bg1">
                    <a:lumMod val="85000"/>
                  </a:schemeClr>
                </a:solidFill>
              </a:rPr>
              <a:t>  </a:t>
            </a:r>
            <a:r>
              <a:rPr lang="en-US" sz="1900" b="1" dirty="0">
                <a:solidFill>
                  <a:schemeClr val="bg1">
                    <a:lumMod val="85000"/>
                  </a:schemeClr>
                </a:solidFill>
              </a:rPr>
              <a:t>DFS, BFS, Unweighted Shortest Paths</a:t>
            </a:r>
          </a:p>
          <a:p>
            <a:pPr marL="0" indent="0">
              <a:buNone/>
            </a:pPr>
            <a:endParaRPr lang="en-US" sz="1900" dirty="0"/>
          </a:p>
          <a:p>
            <a:r>
              <a:rPr lang="en-US" sz="1900" dirty="0">
                <a:solidFill>
                  <a:schemeClr val="bg2"/>
                </a:solidFill>
              </a:rPr>
              <a:t>Weighted </a:t>
            </a:r>
            <a:r>
              <a:rPr lang="en-US" sz="1900" dirty="0">
                <a:solidFill>
                  <a:schemeClr val="bg2"/>
                </a:solidFill>
                <a:sym typeface="Wingdings" pitchFamily="2" charset="2"/>
              </a:rPr>
              <a:t>Graphs</a:t>
            </a:r>
          </a:p>
          <a:p>
            <a:pPr marL="0" indent="0">
              <a:buNone/>
            </a:pPr>
            <a:endParaRPr lang="en-US" sz="1900" dirty="0">
              <a:sym typeface="Wingdings" pitchFamily="2" charset="2"/>
            </a:endParaRPr>
          </a:p>
          <a:p>
            <a:r>
              <a:rPr lang="en-US" sz="1900" dirty="0">
                <a:solidFill>
                  <a:schemeClr val="bg2"/>
                </a:solidFill>
                <a:sym typeface="Wingdings" pitchFamily="2" charset="2"/>
              </a:rPr>
              <a:t>Minimum Spanning Tree (MST)</a:t>
            </a:r>
          </a:p>
          <a:p>
            <a:pPr lvl="1"/>
            <a:r>
              <a:rPr lang="en-US" altLang="en-US" sz="1500" dirty="0">
                <a:solidFill>
                  <a:srgbClr val="FF0000"/>
                </a:solidFill>
              </a:rPr>
              <a:t>Prim’s Algorithm </a:t>
            </a:r>
          </a:p>
          <a:p>
            <a:pPr lvl="1"/>
            <a:r>
              <a:rPr lang="en-US" sz="1500" dirty="0"/>
              <a:t>Kruskal’s </a:t>
            </a:r>
            <a:r>
              <a:rPr lang="en-US" altLang="en-US" sz="1500" dirty="0"/>
              <a:t>Algorithm</a:t>
            </a:r>
          </a:p>
          <a:p>
            <a:pPr lvl="1"/>
            <a:endParaRPr lang="en-US" sz="1500" dirty="0"/>
          </a:p>
          <a:p>
            <a:r>
              <a:rPr lang="en-US" sz="1900" dirty="0"/>
              <a:t>Weighted Shortest Path Problem</a:t>
            </a:r>
          </a:p>
          <a:p>
            <a:r>
              <a:rPr lang="en-US" sz="1900" dirty="0"/>
              <a:t>Dijkstra’s Algorithm</a:t>
            </a:r>
          </a:p>
          <a:p>
            <a:pPr marL="685800" lvl="2">
              <a:spcBef>
                <a:spcPts val="1000"/>
              </a:spcBef>
              <a:buFont typeface="Arial" panose="020B0604020202020204" pitchFamily="34" charset="0"/>
              <a:buChar char="•"/>
            </a:pPr>
            <a:r>
              <a:rPr lang="en-US" sz="1500" dirty="0"/>
              <a:t>Definition &amp; Examples</a:t>
            </a:r>
          </a:p>
          <a:p>
            <a:pPr marL="685800" lvl="2">
              <a:spcBef>
                <a:spcPts val="1000"/>
              </a:spcBef>
              <a:buFont typeface="Arial" panose="020B0604020202020204" pitchFamily="34" charset="0"/>
              <a:buChar char="•"/>
            </a:pPr>
            <a:r>
              <a:rPr lang="en-US" sz="1500" dirty="0"/>
              <a:t>Implementing Dijkstra’s</a:t>
            </a:r>
          </a:p>
          <a:p>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3046753" y="3313155"/>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6771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23B268C-293E-4310-A729-FA974D8F24BB}"/>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209CC9D-BFA2-4E3A-B949-4988C479AD73}" type="slidenum">
              <a:rPr lang="en-US" altLang="en-US" sz="1400"/>
              <a:pPr>
                <a:spcBef>
                  <a:spcPct val="0"/>
                </a:spcBef>
                <a:buClrTx/>
                <a:buSzTx/>
                <a:buFontTx/>
                <a:buNone/>
              </a:pPr>
              <a:t>22</a:t>
            </a:fld>
            <a:endParaRPr lang="en-US" altLang="en-US" sz="1400"/>
          </a:p>
        </p:txBody>
      </p:sp>
      <p:sp>
        <p:nvSpPr>
          <p:cNvPr id="14339" name="Rectangle 2">
            <a:extLst>
              <a:ext uri="{FF2B5EF4-FFF2-40B4-BE49-F238E27FC236}">
                <a16:creationId xmlns:a16="http://schemas.microsoft.com/office/drawing/2014/main" id="{E2E2EB8C-3C1A-484F-989D-0391C4C4133F}"/>
              </a:ext>
            </a:extLst>
          </p:cNvPr>
          <p:cNvSpPr>
            <a:spLocks noGrp="1" noChangeArrowheads="1"/>
          </p:cNvSpPr>
          <p:nvPr>
            <p:ph type="title"/>
          </p:nvPr>
        </p:nvSpPr>
        <p:spPr>
          <a:xfrm>
            <a:off x="2209800" y="152400"/>
            <a:ext cx="7772400" cy="1143000"/>
          </a:xfrm>
        </p:spPr>
        <p:txBody>
          <a:bodyPr>
            <a:normAutofit fontScale="90000"/>
          </a:bodyPr>
          <a:lstStyle/>
          <a:p>
            <a:r>
              <a:rPr lang="en-US" altLang="en-US" dirty="0"/>
              <a:t>Prim’s Minimum Spanning Tree Algorithm </a:t>
            </a:r>
          </a:p>
        </p:txBody>
      </p:sp>
      <p:sp>
        <p:nvSpPr>
          <p:cNvPr id="14340" name="Rectangle 3">
            <a:extLst>
              <a:ext uri="{FF2B5EF4-FFF2-40B4-BE49-F238E27FC236}">
                <a16:creationId xmlns:a16="http://schemas.microsoft.com/office/drawing/2014/main" id="{9E25B9DC-839E-4292-A367-53F7EA2FCC85}"/>
              </a:ext>
            </a:extLst>
          </p:cNvPr>
          <p:cNvSpPr>
            <a:spLocks noGrp="1" noChangeArrowheads="1"/>
          </p:cNvSpPr>
          <p:nvPr>
            <p:ph type="body" sz="half" idx="1"/>
          </p:nvPr>
        </p:nvSpPr>
        <p:spPr>
          <a:xfrm>
            <a:off x="1752600" y="1524000"/>
            <a:ext cx="5943600" cy="4248150"/>
          </a:xfrm>
        </p:spPr>
        <p:txBody>
          <a:bodyPr>
            <a:normAutofit fontScale="70000" lnSpcReduction="20000"/>
          </a:bodyPr>
          <a:lstStyle/>
          <a:p>
            <a:pPr marL="0" indent="0">
              <a:buNone/>
            </a:pPr>
            <a:r>
              <a:rPr lang="en-US" altLang="en-US" sz="2000" dirty="0"/>
              <a:t>Input: G = (V, E) with non-negative weights. </a:t>
            </a:r>
          </a:p>
          <a:p>
            <a:pPr marL="0" indent="0">
              <a:buNone/>
            </a:pPr>
            <a:r>
              <a:rPr lang="en-US" altLang="en-US" sz="2000" dirty="0"/>
              <a:t>Output: a MST</a:t>
            </a:r>
          </a:p>
          <a:p>
            <a:pPr marL="0" indent="0">
              <a:buNone/>
            </a:pPr>
            <a:r>
              <a:rPr lang="en-US" altLang="en-US" sz="2000" dirty="0"/>
              <a:t>MST </a:t>
            </a:r>
            <a:r>
              <a:rPr lang="en-US" altLang="en-US" sz="2000" dirty="0" err="1"/>
              <a:t>minimumSpanningTree</a:t>
            </a:r>
            <a:r>
              <a:rPr lang="en-US" altLang="en-US" sz="2000" dirty="0"/>
              <a:t>(</a:t>
            </a:r>
            <a:r>
              <a:rPr lang="en-US" altLang="en-US" sz="2000" dirty="0" err="1"/>
              <a:t>sv</a:t>
            </a:r>
            <a:r>
              <a:rPr lang="en-US" altLang="en-US" sz="2000" dirty="0"/>
              <a:t>) { // </a:t>
            </a:r>
            <a:r>
              <a:rPr lang="en-US" altLang="en-US" sz="2000" dirty="0" err="1"/>
              <a:t>sv</a:t>
            </a:r>
            <a:r>
              <a:rPr lang="en-US" altLang="en-US" sz="2000" dirty="0"/>
              <a:t> </a:t>
            </a:r>
            <a:r>
              <a:rPr lang="en-US" altLang="en-US" sz="2000" dirty="0">
                <a:sym typeface="Wingdings" panose="05000000000000000000" pitchFamily="2" charset="2"/>
              </a:rPr>
              <a:t> </a:t>
            </a:r>
            <a:r>
              <a:rPr lang="en-US" altLang="en-US" sz="2000" dirty="0" err="1">
                <a:sym typeface="Wingdings" panose="05000000000000000000" pitchFamily="2" charset="2"/>
              </a:rPr>
              <a:t>startVertex</a:t>
            </a:r>
            <a:endParaRPr lang="en-US" altLang="en-US" sz="2000" dirty="0"/>
          </a:p>
          <a:p>
            <a:pPr marL="0" indent="0">
              <a:buNone/>
            </a:pPr>
            <a:r>
              <a:rPr lang="en-US" altLang="en-US" sz="2000" dirty="0"/>
              <a:t>  Let V denote the set of vertices in the graph;</a:t>
            </a:r>
          </a:p>
          <a:p>
            <a:pPr marL="0" indent="0">
              <a:buNone/>
            </a:pPr>
            <a:r>
              <a:rPr lang="en-US" altLang="en-US" sz="2000" dirty="0"/>
              <a:t>  Let T be a set for the vertices in the spanning tree;</a:t>
            </a:r>
          </a:p>
          <a:p>
            <a:pPr marL="0" indent="0">
              <a:buNone/>
            </a:pPr>
            <a:r>
              <a:rPr lang="en-US" altLang="en-US" sz="2000" dirty="0"/>
              <a:t>  Let MST be a set for the edges in the spanning tree;     </a:t>
            </a:r>
          </a:p>
          <a:p>
            <a:pPr marL="0" indent="0">
              <a:buNone/>
            </a:pPr>
            <a:r>
              <a:rPr lang="en-US" altLang="en-US" sz="2000" dirty="0"/>
              <a:t>  Initially, add the </a:t>
            </a:r>
            <a:r>
              <a:rPr lang="en-US" altLang="en-US" sz="2000" dirty="0" err="1"/>
              <a:t>sv</a:t>
            </a:r>
            <a:r>
              <a:rPr lang="en-US" altLang="en-US" sz="2000" dirty="0"/>
              <a:t> to T;</a:t>
            </a:r>
          </a:p>
          <a:p>
            <a:pPr marL="0" indent="0">
              <a:buNone/>
            </a:pPr>
            <a:r>
              <a:rPr lang="en-US" altLang="en-US" sz="2000" dirty="0"/>
              <a:t>  Add </a:t>
            </a:r>
            <a:r>
              <a:rPr lang="en-US" altLang="en-US" sz="2000" dirty="0" err="1"/>
              <a:t>edgeList</a:t>
            </a:r>
            <a:r>
              <a:rPr lang="en-US" altLang="en-US" sz="2000" dirty="0"/>
              <a:t> of </a:t>
            </a:r>
            <a:r>
              <a:rPr lang="en-US" altLang="en-US" sz="2000" dirty="0" err="1"/>
              <a:t>sv</a:t>
            </a:r>
            <a:r>
              <a:rPr lang="en-US" altLang="en-US" sz="2000" dirty="0"/>
              <a:t> to a collection (What kind? Later)</a:t>
            </a:r>
          </a:p>
          <a:p>
            <a:pPr marL="0" indent="0">
              <a:buNone/>
            </a:pPr>
            <a:r>
              <a:rPr lang="en-US" altLang="en-US" sz="2000" dirty="0"/>
              <a:t>  while (size of T &lt; n) {</a:t>
            </a:r>
          </a:p>
          <a:p>
            <a:pPr marL="0" indent="0">
              <a:buNone/>
            </a:pPr>
            <a:r>
              <a:rPr lang="en-US" altLang="en-US" sz="2000" dirty="0"/>
              <a:t>    find v in T and u in V – T with the smallest weight </a:t>
            </a:r>
          </a:p>
          <a:p>
            <a:pPr marL="0" indent="0">
              <a:buNone/>
            </a:pPr>
            <a:r>
              <a:rPr lang="en-US" altLang="en-US" sz="2000" dirty="0"/>
              <a:t>      on the edge (u, v), as shown in the figure;</a:t>
            </a:r>
          </a:p>
          <a:p>
            <a:pPr marL="0" indent="0">
              <a:buNone/>
            </a:pPr>
            <a:r>
              <a:rPr lang="en-US" altLang="en-US" sz="2000" dirty="0"/>
              <a:t>      add u to T; add edge to MST</a:t>
            </a:r>
          </a:p>
          <a:p>
            <a:pPr marL="0" indent="0">
              <a:buNone/>
            </a:pPr>
            <a:r>
              <a:rPr lang="en-US" altLang="en-US" sz="2000" dirty="0"/>
              <a:t>      add </a:t>
            </a:r>
            <a:r>
              <a:rPr lang="en-US" altLang="en-US" sz="2000" dirty="0" err="1"/>
              <a:t>edgeList</a:t>
            </a:r>
            <a:r>
              <a:rPr lang="en-US" altLang="en-US" sz="2000" dirty="0"/>
              <a:t> of u to collection</a:t>
            </a:r>
          </a:p>
          <a:p>
            <a:pPr marL="0" indent="0">
              <a:buNone/>
            </a:pPr>
            <a:r>
              <a:rPr lang="en-US" altLang="en-US" sz="2000" dirty="0"/>
              <a:t>  }</a:t>
            </a:r>
          </a:p>
          <a:p>
            <a:pPr marL="0" indent="0">
              <a:buNone/>
            </a:pPr>
            <a:r>
              <a:rPr lang="en-US" altLang="en-US" sz="2000" dirty="0"/>
              <a:t>}</a:t>
            </a:r>
          </a:p>
        </p:txBody>
      </p:sp>
      <p:sp>
        <p:nvSpPr>
          <p:cNvPr id="14341" name="Rectangle 5">
            <a:extLst>
              <a:ext uri="{FF2B5EF4-FFF2-40B4-BE49-F238E27FC236}">
                <a16:creationId xmlns:a16="http://schemas.microsoft.com/office/drawing/2014/main" id="{3B60F928-4982-4E12-A9D8-16259A34299F}"/>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2" name="Rectangle 7">
            <a:extLst>
              <a:ext uri="{FF2B5EF4-FFF2-40B4-BE49-F238E27FC236}">
                <a16:creationId xmlns:a16="http://schemas.microsoft.com/office/drawing/2014/main" id="{AF61FD32-A53C-4189-9348-239D952B5C28}"/>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3" name="Rectangle 9">
            <a:extLst>
              <a:ext uri="{FF2B5EF4-FFF2-40B4-BE49-F238E27FC236}">
                <a16:creationId xmlns:a16="http://schemas.microsoft.com/office/drawing/2014/main" id="{23610265-84AD-44E8-8BFF-67DD616A159B}"/>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4" name="Rectangle 11">
            <a:extLst>
              <a:ext uri="{FF2B5EF4-FFF2-40B4-BE49-F238E27FC236}">
                <a16:creationId xmlns:a16="http://schemas.microsoft.com/office/drawing/2014/main" id="{BEE8C13F-5A83-462A-B8AD-402F601F0EEF}"/>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5" name="Rectangle 3">
            <a:extLst>
              <a:ext uri="{FF2B5EF4-FFF2-40B4-BE49-F238E27FC236}">
                <a16:creationId xmlns:a16="http://schemas.microsoft.com/office/drawing/2014/main" id="{39E601E7-476D-4078-9315-CB24AA9B2F76}"/>
              </a:ext>
            </a:extLst>
          </p:cNvPr>
          <p:cNvSpPr txBox="1">
            <a:spLocks noChangeArrowheads="1"/>
          </p:cNvSpPr>
          <p:nvPr/>
        </p:nvSpPr>
        <p:spPr bwMode="auto">
          <a:xfrm>
            <a:off x="7467600" y="2971800"/>
            <a:ext cx="304800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pitchFamily="2" charset="2"/>
              <a:buNone/>
            </a:pPr>
            <a:r>
              <a:rPr lang="en-US" altLang="en-US" sz="2000"/>
              <a:t>Find a vertex in V-T that has the smallest weighted edge connecting to a vertex in T.</a:t>
            </a:r>
          </a:p>
        </p:txBody>
      </p:sp>
      <p:sp>
        <p:nvSpPr>
          <p:cNvPr id="3" name="Rectangle 13">
            <a:extLst>
              <a:ext uri="{FF2B5EF4-FFF2-40B4-BE49-F238E27FC236}">
                <a16:creationId xmlns:a16="http://schemas.microsoft.com/office/drawing/2014/main" id="{F37F9CBB-6F84-4603-8DE7-A20713372397}"/>
              </a:ext>
            </a:extLst>
          </p:cNvPr>
          <p:cNvSpPr>
            <a:spLocks noChangeArrowheads="1"/>
          </p:cNvSpPr>
          <p:nvPr/>
        </p:nvSpPr>
        <p:spPr bwMode="auto">
          <a:xfrm>
            <a:off x="1524001" y="-184666"/>
            <a:ext cx="184731" cy="36933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sp>
        <p:nvSpPr>
          <p:cNvPr id="5" name="Rectangle 14">
            <a:extLst>
              <a:ext uri="{FF2B5EF4-FFF2-40B4-BE49-F238E27FC236}">
                <a16:creationId xmlns:a16="http://schemas.microsoft.com/office/drawing/2014/main" id="{8828484B-2127-472E-B160-F0E121719D1E}"/>
              </a:ext>
            </a:extLst>
          </p:cNvPr>
          <p:cNvSpPr>
            <a:spLocks noChangeArrowheads="1"/>
          </p:cNvSpPr>
          <p:nvPr/>
        </p:nvSpPr>
        <p:spPr bwMode="auto">
          <a:xfrm>
            <a:off x="1524001" y="1501259"/>
            <a:ext cx="184731" cy="36933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p>
            <a:pPr>
              <a:defRPr/>
            </a:pPr>
            <a:endParaRPr lang="en-US"/>
          </a:p>
        </p:txBody>
      </p:sp>
      <p:pic>
        <p:nvPicPr>
          <p:cNvPr id="14" name="Picture 18">
            <a:extLst>
              <a:ext uri="{FF2B5EF4-FFF2-40B4-BE49-F238E27FC236}">
                <a16:creationId xmlns:a16="http://schemas.microsoft.com/office/drawing/2014/main" id="{1FFD2FC3-F196-44AF-ADBE-684BF994A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3177" y="4433893"/>
            <a:ext cx="2590800" cy="196532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chemeClr val="accent1"/>
                </a:solidFill>
              </a14:hiddenFill>
            </a:ext>
          </a:extLst>
        </p:spPr>
      </p:pic>
      <p:sp>
        <p:nvSpPr>
          <p:cNvPr id="2" name="Freeform: Shape 1">
            <a:extLst>
              <a:ext uri="{FF2B5EF4-FFF2-40B4-BE49-F238E27FC236}">
                <a16:creationId xmlns:a16="http://schemas.microsoft.com/office/drawing/2014/main" id="{5A7BA285-3D0F-40E0-B7BA-ECDA9BE4CA2C}"/>
              </a:ext>
            </a:extLst>
          </p:cNvPr>
          <p:cNvSpPr/>
          <p:nvPr/>
        </p:nvSpPr>
        <p:spPr bwMode="auto">
          <a:xfrm>
            <a:off x="5390970" y="5252526"/>
            <a:ext cx="1716963" cy="1464906"/>
          </a:xfrm>
          <a:custGeom>
            <a:avLst/>
            <a:gdLst>
              <a:gd name="connsiteX0" fmla="*/ 130 w 1716963"/>
              <a:gd name="connsiteY0" fmla="*/ 709127 h 1464906"/>
              <a:gd name="connsiteX1" fmla="*/ 18791 w 1716963"/>
              <a:gd name="connsiteY1" fmla="*/ 662473 h 1464906"/>
              <a:gd name="connsiteX2" fmla="*/ 37452 w 1716963"/>
              <a:gd name="connsiteY2" fmla="*/ 634482 h 1464906"/>
              <a:gd name="connsiteX3" fmla="*/ 56114 w 1716963"/>
              <a:gd name="connsiteY3" fmla="*/ 587829 h 1464906"/>
              <a:gd name="connsiteX4" fmla="*/ 84105 w 1716963"/>
              <a:gd name="connsiteY4" fmla="*/ 457200 h 1464906"/>
              <a:gd name="connsiteX5" fmla="*/ 93436 w 1716963"/>
              <a:gd name="connsiteY5" fmla="*/ 429208 h 1464906"/>
              <a:gd name="connsiteX6" fmla="*/ 112097 w 1716963"/>
              <a:gd name="connsiteY6" fmla="*/ 401216 h 1464906"/>
              <a:gd name="connsiteX7" fmla="*/ 177412 w 1716963"/>
              <a:gd name="connsiteY7" fmla="*/ 307910 h 1464906"/>
              <a:gd name="connsiteX8" fmla="*/ 214734 w 1716963"/>
              <a:gd name="connsiteY8" fmla="*/ 251927 h 1464906"/>
              <a:gd name="connsiteX9" fmla="*/ 233395 w 1716963"/>
              <a:gd name="connsiteY9" fmla="*/ 223935 h 1464906"/>
              <a:gd name="connsiteX10" fmla="*/ 289379 w 1716963"/>
              <a:gd name="connsiteY10" fmla="*/ 167951 h 1464906"/>
              <a:gd name="connsiteX11" fmla="*/ 336032 w 1716963"/>
              <a:gd name="connsiteY11" fmla="*/ 111967 h 1464906"/>
              <a:gd name="connsiteX12" fmla="*/ 429338 w 1716963"/>
              <a:gd name="connsiteY12" fmla="*/ 83975 h 1464906"/>
              <a:gd name="connsiteX13" fmla="*/ 457330 w 1716963"/>
              <a:gd name="connsiteY13" fmla="*/ 65314 h 1464906"/>
              <a:gd name="connsiteX14" fmla="*/ 531975 w 1716963"/>
              <a:gd name="connsiteY14" fmla="*/ 46653 h 1464906"/>
              <a:gd name="connsiteX15" fmla="*/ 559967 w 1716963"/>
              <a:gd name="connsiteY15" fmla="*/ 37322 h 1464906"/>
              <a:gd name="connsiteX16" fmla="*/ 625281 w 1716963"/>
              <a:gd name="connsiteY16" fmla="*/ 27992 h 1464906"/>
              <a:gd name="connsiteX17" fmla="*/ 718587 w 1716963"/>
              <a:gd name="connsiteY17" fmla="*/ 0 h 1464906"/>
              <a:gd name="connsiteX18" fmla="*/ 970514 w 1716963"/>
              <a:gd name="connsiteY18" fmla="*/ 27992 h 1464906"/>
              <a:gd name="connsiteX19" fmla="*/ 1082481 w 1716963"/>
              <a:gd name="connsiteY19" fmla="*/ 46653 h 1464906"/>
              <a:gd name="connsiteX20" fmla="*/ 1110473 w 1716963"/>
              <a:gd name="connsiteY20" fmla="*/ 55984 h 1464906"/>
              <a:gd name="connsiteX21" fmla="*/ 1194448 w 1716963"/>
              <a:gd name="connsiteY21" fmla="*/ 130629 h 1464906"/>
              <a:gd name="connsiteX22" fmla="*/ 1250432 w 1716963"/>
              <a:gd name="connsiteY22" fmla="*/ 167951 h 1464906"/>
              <a:gd name="connsiteX23" fmla="*/ 1315746 w 1716963"/>
              <a:gd name="connsiteY23" fmla="*/ 214604 h 1464906"/>
              <a:gd name="connsiteX24" fmla="*/ 1334407 w 1716963"/>
              <a:gd name="connsiteY24" fmla="*/ 251927 h 1464906"/>
              <a:gd name="connsiteX25" fmla="*/ 1381061 w 1716963"/>
              <a:gd name="connsiteY25" fmla="*/ 307910 h 1464906"/>
              <a:gd name="connsiteX26" fmla="*/ 1427714 w 1716963"/>
              <a:gd name="connsiteY26" fmla="*/ 382555 h 1464906"/>
              <a:gd name="connsiteX27" fmla="*/ 1446375 w 1716963"/>
              <a:gd name="connsiteY27" fmla="*/ 419878 h 1464906"/>
              <a:gd name="connsiteX28" fmla="*/ 1465036 w 1716963"/>
              <a:gd name="connsiteY28" fmla="*/ 447869 h 1464906"/>
              <a:gd name="connsiteX29" fmla="*/ 1493028 w 1716963"/>
              <a:gd name="connsiteY29" fmla="*/ 503853 h 1464906"/>
              <a:gd name="connsiteX30" fmla="*/ 1530350 w 1716963"/>
              <a:gd name="connsiteY30" fmla="*/ 559837 h 1464906"/>
              <a:gd name="connsiteX31" fmla="*/ 1539681 w 1716963"/>
              <a:gd name="connsiteY31" fmla="*/ 587829 h 1464906"/>
              <a:gd name="connsiteX32" fmla="*/ 1586334 w 1716963"/>
              <a:gd name="connsiteY32" fmla="*/ 653143 h 1464906"/>
              <a:gd name="connsiteX33" fmla="*/ 1660979 w 1716963"/>
              <a:gd name="connsiteY33" fmla="*/ 765110 h 1464906"/>
              <a:gd name="connsiteX34" fmla="*/ 1698301 w 1716963"/>
              <a:gd name="connsiteY34" fmla="*/ 849086 h 1464906"/>
              <a:gd name="connsiteX35" fmla="*/ 1707632 w 1716963"/>
              <a:gd name="connsiteY35" fmla="*/ 877078 h 1464906"/>
              <a:gd name="connsiteX36" fmla="*/ 1716963 w 1716963"/>
              <a:gd name="connsiteY36" fmla="*/ 905069 h 1464906"/>
              <a:gd name="connsiteX37" fmla="*/ 1707632 w 1716963"/>
              <a:gd name="connsiteY37" fmla="*/ 1082351 h 1464906"/>
              <a:gd name="connsiteX38" fmla="*/ 1698301 w 1716963"/>
              <a:gd name="connsiteY38" fmla="*/ 1110343 h 1464906"/>
              <a:gd name="connsiteX39" fmla="*/ 1688971 w 1716963"/>
              <a:gd name="connsiteY39" fmla="*/ 1156996 h 1464906"/>
              <a:gd name="connsiteX40" fmla="*/ 1660979 w 1716963"/>
              <a:gd name="connsiteY40" fmla="*/ 1175657 h 1464906"/>
              <a:gd name="connsiteX41" fmla="*/ 1642318 w 1716963"/>
              <a:gd name="connsiteY41" fmla="*/ 1203649 h 1464906"/>
              <a:gd name="connsiteX42" fmla="*/ 1614326 w 1716963"/>
              <a:gd name="connsiteY42" fmla="*/ 1212980 h 1464906"/>
              <a:gd name="connsiteX43" fmla="*/ 1586334 w 1716963"/>
              <a:gd name="connsiteY43" fmla="*/ 1231641 h 1464906"/>
              <a:gd name="connsiteX44" fmla="*/ 1558342 w 1716963"/>
              <a:gd name="connsiteY44" fmla="*/ 1259633 h 1464906"/>
              <a:gd name="connsiteX45" fmla="*/ 1511689 w 1716963"/>
              <a:gd name="connsiteY45" fmla="*/ 1278294 h 1464906"/>
              <a:gd name="connsiteX46" fmla="*/ 1483697 w 1716963"/>
              <a:gd name="connsiteY46" fmla="*/ 1296955 h 1464906"/>
              <a:gd name="connsiteX47" fmla="*/ 1446375 w 1716963"/>
              <a:gd name="connsiteY47" fmla="*/ 1306286 h 1464906"/>
              <a:gd name="connsiteX48" fmla="*/ 1418383 w 1716963"/>
              <a:gd name="connsiteY48" fmla="*/ 1315616 h 1464906"/>
              <a:gd name="connsiteX49" fmla="*/ 1334407 w 1716963"/>
              <a:gd name="connsiteY49" fmla="*/ 1334278 h 1464906"/>
              <a:gd name="connsiteX50" fmla="*/ 1306416 w 1716963"/>
              <a:gd name="connsiteY50" fmla="*/ 1343608 h 1464906"/>
              <a:gd name="connsiteX51" fmla="*/ 1231771 w 1716963"/>
              <a:gd name="connsiteY51" fmla="*/ 1362269 h 1464906"/>
              <a:gd name="connsiteX52" fmla="*/ 1166456 w 1716963"/>
              <a:gd name="connsiteY52" fmla="*/ 1408922 h 1464906"/>
              <a:gd name="connsiteX53" fmla="*/ 1082481 w 1716963"/>
              <a:gd name="connsiteY53" fmla="*/ 1455575 h 1464906"/>
              <a:gd name="connsiteX54" fmla="*/ 1045158 w 1716963"/>
              <a:gd name="connsiteY54" fmla="*/ 1464906 h 1464906"/>
              <a:gd name="connsiteX55" fmla="*/ 942522 w 1716963"/>
              <a:gd name="connsiteY55" fmla="*/ 1455575 h 1464906"/>
              <a:gd name="connsiteX56" fmla="*/ 895869 w 1716963"/>
              <a:gd name="connsiteY56" fmla="*/ 1446245 h 1464906"/>
              <a:gd name="connsiteX57" fmla="*/ 802563 w 1716963"/>
              <a:gd name="connsiteY57" fmla="*/ 1436914 h 1464906"/>
              <a:gd name="connsiteX58" fmla="*/ 718587 w 1716963"/>
              <a:gd name="connsiteY58" fmla="*/ 1427584 h 1464906"/>
              <a:gd name="connsiteX59" fmla="*/ 653273 w 1716963"/>
              <a:gd name="connsiteY59" fmla="*/ 1408922 h 1464906"/>
              <a:gd name="connsiteX60" fmla="*/ 597289 w 1716963"/>
              <a:gd name="connsiteY60" fmla="*/ 1390261 h 1464906"/>
              <a:gd name="connsiteX61" fmla="*/ 494652 w 1716963"/>
              <a:gd name="connsiteY61" fmla="*/ 1380931 h 1464906"/>
              <a:gd name="connsiteX62" fmla="*/ 457330 w 1716963"/>
              <a:gd name="connsiteY62" fmla="*/ 1362269 h 1464906"/>
              <a:gd name="connsiteX63" fmla="*/ 280048 w 1716963"/>
              <a:gd name="connsiteY63" fmla="*/ 1352939 h 1464906"/>
              <a:gd name="connsiteX64" fmla="*/ 233395 w 1716963"/>
              <a:gd name="connsiteY64" fmla="*/ 1343608 h 1464906"/>
              <a:gd name="connsiteX65" fmla="*/ 168081 w 1716963"/>
              <a:gd name="connsiteY65" fmla="*/ 1306286 h 1464906"/>
              <a:gd name="connsiteX66" fmla="*/ 140089 w 1716963"/>
              <a:gd name="connsiteY66" fmla="*/ 1296955 h 1464906"/>
              <a:gd name="connsiteX67" fmla="*/ 74775 w 1716963"/>
              <a:gd name="connsiteY67" fmla="*/ 1240971 h 1464906"/>
              <a:gd name="connsiteX68" fmla="*/ 37452 w 1716963"/>
              <a:gd name="connsiteY68" fmla="*/ 1184988 h 1464906"/>
              <a:gd name="connsiteX69" fmla="*/ 18791 w 1716963"/>
              <a:gd name="connsiteY69" fmla="*/ 1101012 h 1464906"/>
              <a:gd name="connsiteX70" fmla="*/ 28122 w 1716963"/>
              <a:gd name="connsiteY70" fmla="*/ 998375 h 1464906"/>
              <a:gd name="connsiteX71" fmla="*/ 130 w 1716963"/>
              <a:gd name="connsiteY71" fmla="*/ 709127 h 146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716963" h="1464906">
                <a:moveTo>
                  <a:pt x="130" y="709127"/>
                </a:moveTo>
                <a:cubicBezTo>
                  <a:pt x="-1425" y="653143"/>
                  <a:pt x="11301" y="677454"/>
                  <a:pt x="18791" y="662473"/>
                </a:cubicBezTo>
                <a:cubicBezTo>
                  <a:pt x="23806" y="652443"/>
                  <a:pt x="32437" y="644512"/>
                  <a:pt x="37452" y="634482"/>
                </a:cubicBezTo>
                <a:cubicBezTo>
                  <a:pt x="44943" y="619501"/>
                  <a:pt x="49893" y="603380"/>
                  <a:pt x="56114" y="587829"/>
                </a:cubicBezTo>
                <a:cubicBezTo>
                  <a:pt x="67883" y="493668"/>
                  <a:pt x="57515" y="536970"/>
                  <a:pt x="84105" y="457200"/>
                </a:cubicBezTo>
                <a:cubicBezTo>
                  <a:pt x="87215" y="447869"/>
                  <a:pt x="87980" y="437392"/>
                  <a:pt x="93436" y="429208"/>
                </a:cubicBezTo>
                <a:cubicBezTo>
                  <a:pt x="99656" y="419877"/>
                  <a:pt x="106727" y="411061"/>
                  <a:pt x="112097" y="401216"/>
                </a:cubicBezTo>
                <a:cubicBezTo>
                  <a:pt x="160483" y="312509"/>
                  <a:pt x="123836" y="343627"/>
                  <a:pt x="177412" y="307910"/>
                </a:cubicBezTo>
                <a:lnTo>
                  <a:pt x="214734" y="251927"/>
                </a:lnTo>
                <a:cubicBezTo>
                  <a:pt x="220954" y="242596"/>
                  <a:pt x="225466" y="231864"/>
                  <a:pt x="233395" y="223935"/>
                </a:cubicBezTo>
                <a:cubicBezTo>
                  <a:pt x="252056" y="205274"/>
                  <a:pt x="274740" y="189910"/>
                  <a:pt x="289379" y="167951"/>
                </a:cubicBezTo>
                <a:cubicBezTo>
                  <a:pt x="301270" y="150114"/>
                  <a:pt x="316689" y="123020"/>
                  <a:pt x="336032" y="111967"/>
                </a:cubicBezTo>
                <a:cubicBezTo>
                  <a:pt x="427332" y="59796"/>
                  <a:pt x="307662" y="165091"/>
                  <a:pt x="429338" y="83975"/>
                </a:cubicBezTo>
                <a:cubicBezTo>
                  <a:pt x="438669" y="77755"/>
                  <a:pt x="446791" y="69146"/>
                  <a:pt x="457330" y="65314"/>
                </a:cubicBezTo>
                <a:cubicBezTo>
                  <a:pt x="481433" y="56549"/>
                  <a:pt x="507644" y="54764"/>
                  <a:pt x="531975" y="46653"/>
                </a:cubicBezTo>
                <a:cubicBezTo>
                  <a:pt x="541306" y="43543"/>
                  <a:pt x="550323" y="39251"/>
                  <a:pt x="559967" y="37322"/>
                </a:cubicBezTo>
                <a:cubicBezTo>
                  <a:pt x="581532" y="33009"/>
                  <a:pt x="603643" y="31926"/>
                  <a:pt x="625281" y="27992"/>
                </a:cubicBezTo>
                <a:cubicBezTo>
                  <a:pt x="656298" y="22353"/>
                  <a:pt x="689382" y="9735"/>
                  <a:pt x="718587" y="0"/>
                </a:cubicBezTo>
                <a:cubicBezTo>
                  <a:pt x="893856" y="38948"/>
                  <a:pt x="702448" y="1185"/>
                  <a:pt x="970514" y="27992"/>
                </a:cubicBezTo>
                <a:cubicBezTo>
                  <a:pt x="1008163" y="31757"/>
                  <a:pt x="1046586" y="34687"/>
                  <a:pt x="1082481" y="46653"/>
                </a:cubicBezTo>
                <a:cubicBezTo>
                  <a:pt x="1091812" y="49763"/>
                  <a:pt x="1101875" y="51207"/>
                  <a:pt x="1110473" y="55984"/>
                </a:cubicBezTo>
                <a:cubicBezTo>
                  <a:pt x="1236128" y="125793"/>
                  <a:pt x="1113662" y="58819"/>
                  <a:pt x="1194448" y="130629"/>
                </a:cubicBezTo>
                <a:cubicBezTo>
                  <a:pt x="1211211" y="145529"/>
                  <a:pt x="1234573" y="152092"/>
                  <a:pt x="1250432" y="167951"/>
                </a:cubicBezTo>
                <a:cubicBezTo>
                  <a:pt x="1288259" y="205778"/>
                  <a:pt x="1266622" y="190042"/>
                  <a:pt x="1315746" y="214604"/>
                </a:cubicBezTo>
                <a:cubicBezTo>
                  <a:pt x="1321966" y="227045"/>
                  <a:pt x="1326322" y="240608"/>
                  <a:pt x="1334407" y="251927"/>
                </a:cubicBezTo>
                <a:cubicBezTo>
                  <a:pt x="1368801" y="300078"/>
                  <a:pt x="1356378" y="258545"/>
                  <a:pt x="1381061" y="307910"/>
                </a:cubicBezTo>
                <a:cubicBezTo>
                  <a:pt x="1416405" y="378597"/>
                  <a:pt x="1378596" y="333437"/>
                  <a:pt x="1427714" y="382555"/>
                </a:cubicBezTo>
                <a:cubicBezTo>
                  <a:pt x="1433934" y="394996"/>
                  <a:pt x="1439474" y="407801"/>
                  <a:pt x="1446375" y="419878"/>
                </a:cubicBezTo>
                <a:cubicBezTo>
                  <a:pt x="1451939" y="429614"/>
                  <a:pt x="1460021" y="437839"/>
                  <a:pt x="1465036" y="447869"/>
                </a:cubicBezTo>
                <a:cubicBezTo>
                  <a:pt x="1503669" y="525134"/>
                  <a:pt x="1439545" y="423628"/>
                  <a:pt x="1493028" y="503853"/>
                </a:cubicBezTo>
                <a:cubicBezTo>
                  <a:pt x="1515211" y="570408"/>
                  <a:pt x="1483757" y="489948"/>
                  <a:pt x="1530350" y="559837"/>
                </a:cubicBezTo>
                <a:cubicBezTo>
                  <a:pt x="1535806" y="568021"/>
                  <a:pt x="1534621" y="579395"/>
                  <a:pt x="1539681" y="587829"/>
                </a:cubicBezTo>
                <a:cubicBezTo>
                  <a:pt x="1553446" y="610771"/>
                  <a:pt x="1572312" y="630357"/>
                  <a:pt x="1586334" y="653143"/>
                </a:cubicBezTo>
                <a:cubicBezTo>
                  <a:pt x="1681158" y="807232"/>
                  <a:pt x="1535807" y="604174"/>
                  <a:pt x="1660979" y="765110"/>
                </a:cubicBezTo>
                <a:cubicBezTo>
                  <a:pt x="1686855" y="798379"/>
                  <a:pt x="1682578" y="801918"/>
                  <a:pt x="1698301" y="849086"/>
                </a:cubicBezTo>
                <a:lnTo>
                  <a:pt x="1707632" y="877078"/>
                </a:lnTo>
                <a:lnTo>
                  <a:pt x="1716963" y="905069"/>
                </a:lnTo>
                <a:cubicBezTo>
                  <a:pt x="1713853" y="964163"/>
                  <a:pt x="1712990" y="1023418"/>
                  <a:pt x="1707632" y="1082351"/>
                </a:cubicBezTo>
                <a:cubicBezTo>
                  <a:pt x="1706742" y="1092146"/>
                  <a:pt x="1700686" y="1100801"/>
                  <a:pt x="1698301" y="1110343"/>
                </a:cubicBezTo>
                <a:cubicBezTo>
                  <a:pt x="1694455" y="1125728"/>
                  <a:pt x="1696839" y="1143227"/>
                  <a:pt x="1688971" y="1156996"/>
                </a:cubicBezTo>
                <a:cubicBezTo>
                  <a:pt x="1683407" y="1166733"/>
                  <a:pt x="1670310" y="1169437"/>
                  <a:pt x="1660979" y="1175657"/>
                </a:cubicBezTo>
                <a:cubicBezTo>
                  <a:pt x="1654759" y="1184988"/>
                  <a:pt x="1651075" y="1196644"/>
                  <a:pt x="1642318" y="1203649"/>
                </a:cubicBezTo>
                <a:cubicBezTo>
                  <a:pt x="1634638" y="1209793"/>
                  <a:pt x="1623123" y="1208581"/>
                  <a:pt x="1614326" y="1212980"/>
                </a:cubicBezTo>
                <a:cubicBezTo>
                  <a:pt x="1604296" y="1217995"/>
                  <a:pt x="1594949" y="1224462"/>
                  <a:pt x="1586334" y="1231641"/>
                </a:cubicBezTo>
                <a:cubicBezTo>
                  <a:pt x="1576197" y="1240089"/>
                  <a:pt x="1569532" y="1252639"/>
                  <a:pt x="1558342" y="1259633"/>
                </a:cubicBezTo>
                <a:cubicBezTo>
                  <a:pt x="1544139" y="1268510"/>
                  <a:pt x="1526670" y="1270804"/>
                  <a:pt x="1511689" y="1278294"/>
                </a:cubicBezTo>
                <a:cubicBezTo>
                  <a:pt x="1501659" y="1283309"/>
                  <a:pt x="1494004" y="1292538"/>
                  <a:pt x="1483697" y="1296955"/>
                </a:cubicBezTo>
                <a:cubicBezTo>
                  <a:pt x="1471910" y="1302007"/>
                  <a:pt x="1458705" y="1302763"/>
                  <a:pt x="1446375" y="1306286"/>
                </a:cubicBezTo>
                <a:cubicBezTo>
                  <a:pt x="1436918" y="1308988"/>
                  <a:pt x="1427925" y="1313231"/>
                  <a:pt x="1418383" y="1315616"/>
                </a:cubicBezTo>
                <a:cubicBezTo>
                  <a:pt x="1390564" y="1322571"/>
                  <a:pt x="1362226" y="1327323"/>
                  <a:pt x="1334407" y="1334278"/>
                </a:cubicBezTo>
                <a:cubicBezTo>
                  <a:pt x="1324866" y="1336663"/>
                  <a:pt x="1315957" y="1341223"/>
                  <a:pt x="1306416" y="1343608"/>
                </a:cubicBezTo>
                <a:lnTo>
                  <a:pt x="1231771" y="1362269"/>
                </a:lnTo>
                <a:cubicBezTo>
                  <a:pt x="1187493" y="1406547"/>
                  <a:pt x="1211139" y="1394029"/>
                  <a:pt x="1166456" y="1408922"/>
                </a:cubicBezTo>
                <a:cubicBezTo>
                  <a:pt x="1116327" y="1442342"/>
                  <a:pt x="1125594" y="1443257"/>
                  <a:pt x="1082481" y="1455575"/>
                </a:cubicBezTo>
                <a:cubicBezTo>
                  <a:pt x="1070150" y="1459098"/>
                  <a:pt x="1057599" y="1461796"/>
                  <a:pt x="1045158" y="1464906"/>
                </a:cubicBezTo>
                <a:cubicBezTo>
                  <a:pt x="1010946" y="1461796"/>
                  <a:pt x="976610" y="1459836"/>
                  <a:pt x="942522" y="1455575"/>
                </a:cubicBezTo>
                <a:cubicBezTo>
                  <a:pt x="926786" y="1453608"/>
                  <a:pt x="911589" y="1448341"/>
                  <a:pt x="895869" y="1446245"/>
                </a:cubicBezTo>
                <a:cubicBezTo>
                  <a:pt x="864886" y="1442114"/>
                  <a:pt x="833648" y="1440186"/>
                  <a:pt x="802563" y="1436914"/>
                </a:cubicBezTo>
                <a:lnTo>
                  <a:pt x="718587" y="1427584"/>
                </a:lnTo>
                <a:cubicBezTo>
                  <a:pt x="624542" y="1396235"/>
                  <a:pt x="770396" y="1444059"/>
                  <a:pt x="653273" y="1408922"/>
                </a:cubicBezTo>
                <a:cubicBezTo>
                  <a:pt x="634432" y="1403270"/>
                  <a:pt x="616660" y="1393679"/>
                  <a:pt x="597289" y="1390261"/>
                </a:cubicBezTo>
                <a:cubicBezTo>
                  <a:pt x="563458" y="1384291"/>
                  <a:pt x="528864" y="1384041"/>
                  <a:pt x="494652" y="1380931"/>
                </a:cubicBezTo>
                <a:cubicBezTo>
                  <a:pt x="482211" y="1374710"/>
                  <a:pt x="471122" y="1364068"/>
                  <a:pt x="457330" y="1362269"/>
                </a:cubicBezTo>
                <a:cubicBezTo>
                  <a:pt x="398651" y="1354615"/>
                  <a:pt x="339019" y="1357853"/>
                  <a:pt x="280048" y="1352939"/>
                </a:cubicBezTo>
                <a:cubicBezTo>
                  <a:pt x="264244" y="1351622"/>
                  <a:pt x="248946" y="1346718"/>
                  <a:pt x="233395" y="1343608"/>
                </a:cubicBezTo>
                <a:cubicBezTo>
                  <a:pt x="205283" y="1324867"/>
                  <a:pt x="201227" y="1320492"/>
                  <a:pt x="168081" y="1306286"/>
                </a:cubicBezTo>
                <a:cubicBezTo>
                  <a:pt x="159041" y="1302412"/>
                  <a:pt x="149420" y="1300065"/>
                  <a:pt x="140089" y="1296955"/>
                </a:cubicBezTo>
                <a:cubicBezTo>
                  <a:pt x="116716" y="1279425"/>
                  <a:pt x="92970" y="1264364"/>
                  <a:pt x="74775" y="1240971"/>
                </a:cubicBezTo>
                <a:cubicBezTo>
                  <a:pt x="61005" y="1223268"/>
                  <a:pt x="37452" y="1184988"/>
                  <a:pt x="37452" y="1184988"/>
                </a:cubicBezTo>
                <a:cubicBezTo>
                  <a:pt x="27831" y="1156124"/>
                  <a:pt x="18791" y="1133851"/>
                  <a:pt x="18791" y="1101012"/>
                </a:cubicBezTo>
                <a:cubicBezTo>
                  <a:pt x="18791" y="1066659"/>
                  <a:pt x="27359" y="1032720"/>
                  <a:pt x="28122" y="998375"/>
                </a:cubicBezTo>
                <a:cubicBezTo>
                  <a:pt x="30471" y="892654"/>
                  <a:pt x="1685" y="765111"/>
                  <a:pt x="130" y="709127"/>
                </a:cubicBezTo>
                <a:close/>
              </a:path>
            </a:pathLst>
          </a:custGeom>
          <a:solidFill>
            <a:srgbClr val="BEFFFC"/>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Times New Roman" panose="02020603050405020304" pitchFamily="18" charset="0"/>
            </a:endParaRPr>
          </a:p>
        </p:txBody>
      </p:sp>
      <p:sp>
        <p:nvSpPr>
          <p:cNvPr id="4" name="TextBox 3">
            <a:extLst>
              <a:ext uri="{FF2B5EF4-FFF2-40B4-BE49-F238E27FC236}">
                <a16:creationId xmlns:a16="http://schemas.microsoft.com/office/drawing/2014/main" id="{B2BC04FD-07E6-49C5-B83A-8A780AE7AFD3}"/>
              </a:ext>
            </a:extLst>
          </p:cNvPr>
          <p:cNvSpPr txBox="1"/>
          <p:nvPr/>
        </p:nvSpPr>
        <p:spPr>
          <a:xfrm>
            <a:off x="6197414" y="5447120"/>
            <a:ext cx="304800" cy="369332"/>
          </a:xfrm>
          <a:prstGeom prst="rect">
            <a:avLst/>
          </a:prstGeom>
          <a:noFill/>
        </p:spPr>
        <p:txBody>
          <a:bodyPr wrap="square" rtlCol="0">
            <a:spAutoFit/>
          </a:bodyPr>
          <a:lstStyle/>
          <a:p>
            <a:r>
              <a:rPr lang="en-US" dirty="0"/>
              <a:t>0</a:t>
            </a:r>
          </a:p>
        </p:txBody>
      </p:sp>
      <p:sp>
        <p:nvSpPr>
          <p:cNvPr id="6" name="TextBox 5">
            <a:extLst>
              <a:ext uri="{FF2B5EF4-FFF2-40B4-BE49-F238E27FC236}">
                <a16:creationId xmlns:a16="http://schemas.microsoft.com/office/drawing/2014/main" id="{8CCC25C5-D137-4F44-9DB7-5385110C2419}"/>
              </a:ext>
            </a:extLst>
          </p:cNvPr>
          <p:cNvSpPr txBox="1"/>
          <p:nvPr/>
        </p:nvSpPr>
        <p:spPr>
          <a:xfrm>
            <a:off x="4703506" y="6003860"/>
            <a:ext cx="598241" cy="369332"/>
          </a:xfrm>
          <a:prstGeom prst="rect">
            <a:avLst/>
          </a:prstGeom>
          <a:noFill/>
        </p:spPr>
        <p:txBody>
          <a:bodyPr wrap="none" rtlCol="0">
            <a:spAutoFit/>
          </a:bodyPr>
          <a:lstStyle/>
          <a:p>
            <a:r>
              <a:rPr lang="en-US" dirty="0"/>
              <a:t>MST</a:t>
            </a:r>
          </a:p>
        </p:txBody>
      </p:sp>
      <p:sp>
        <p:nvSpPr>
          <p:cNvPr id="7" name="TextBox 6">
            <a:extLst>
              <a:ext uri="{FF2B5EF4-FFF2-40B4-BE49-F238E27FC236}">
                <a16:creationId xmlns:a16="http://schemas.microsoft.com/office/drawing/2014/main" id="{6A4E87C5-F728-430C-83E0-1C990F19784D}"/>
              </a:ext>
            </a:extLst>
          </p:cNvPr>
          <p:cNvSpPr txBox="1"/>
          <p:nvPr/>
        </p:nvSpPr>
        <p:spPr>
          <a:xfrm>
            <a:off x="9220201" y="3922143"/>
            <a:ext cx="498855" cy="369332"/>
          </a:xfrm>
          <a:prstGeom prst="rect">
            <a:avLst/>
          </a:prstGeom>
          <a:noFill/>
        </p:spPr>
        <p:txBody>
          <a:bodyPr wrap="none" rtlCol="0">
            <a:spAutoFit/>
          </a:bodyPr>
          <a:lstStyle/>
          <a:p>
            <a:r>
              <a:rPr lang="en-US" dirty="0"/>
              <a:t>V-T</a:t>
            </a:r>
          </a:p>
        </p:txBody>
      </p:sp>
      <p:sp>
        <p:nvSpPr>
          <p:cNvPr id="8" name="TextBox 7">
            <a:extLst>
              <a:ext uri="{FF2B5EF4-FFF2-40B4-BE49-F238E27FC236}">
                <a16:creationId xmlns:a16="http://schemas.microsoft.com/office/drawing/2014/main" id="{55F1DA65-638C-43C6-A482-4FEA8F667A34}"/>
              </a:ext>
            </a:extLst>
          </p:cNvPr>
          <p:cNvSpPr txBox="1"/>
          <p:nvPr/>
        </p:nvSpPr>
        <p:spPr>
          <a:xfrm>
            <a:off x="5863660" y="6151113"/>
            <a:ext cx="338335" cy="369332"/>
          </a:xfrm>
          <a:prstGeom prst="rect">
            <a:avLst/>
          </a:prstGeom>
          <a:noFill/>
        </p:spPr>
        <p:txBody>
          <a:bodyPr wrap="square" rtlCol="0">
            <a:spAutoFit/>
          </a:bodyPr>
          <a:lstStyle/>
          <a:p>
            <a:r>
              <a:rPr lang="en-US" dirty="0"/>
              <a:t>5</a:t>
            </a:r>
          </a:p>
        </p:txBody>
      </p:sp>
      <p:cxnSp>
        <p:nvCxnSpPr>
          <p:cNvPr id="10" name="Straight Connector 9">
            <a:extLst>
              <a:ext uri="{FF2B5EF4-FFF2-40B4-BE49-F238E27FC236}">
                <a16:creationId xmlns:a16="http://schemas.microsoft.com/office/drawing/2014/main" id="{A8EB0717-E4BB-48B7-901F-FB633C8BE779}"/>
              </a:ext>
            </a:extLst>
          </p:cNvPr>
          <p:cNvCxnSpPr/>
          <p:nvPr/>
        </p:nvCxnSpPr>
        <p:spPr bwMode="auto">
          <a:xfrm flipH="1">
            <a:off x="6087695" y="5771967"/>
            <a:ext cx="241508" cy="48599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a:extLst>
              <a:ext uri="{FF2B5EF4-FFF2-40B4-BE49-F238E27FC236}">
                <a16:creationId xmlns:a16="http://schemas.microsoft.com/office/drawing/2014/main" id="{AA5F2A56-70CC-466E-BC21-056A6098EAD6}"/>
              </a:ext>
            </a:extLst>
          </p:cNvPr>
          <p:cNvSpPr txBox="1"/>
          <p:nvPr/>
        </p:nvSpPr>
        <p:spPr>
          <a:xfrm>
            <a:off x="5876531" y="5689933"/>
            <a:ext cx="338335" cy="307777"/>
          </a:xfrm>
          <a:prstGeom prst="rect">
            <a:avLst/>
          </a:prstGeom>
          <a:noFill/>
        </p:spPr>
        <p:txBody>
          <a:bodyPr wrap="square" rtlCol="0">
            <a:spAutoFit/>
          </a:bodyPr>
          <a:lstStyle/>
          <a:p>
            <a:r>
              <a:rPr lang="en-US" sz="1400" dirty="0"/>
              <a:t>5</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DE85DF49-59B7-4816-836F-9151CCB31E7E}"/>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spcBef>
                <a:spcPct val="0"/>
              </a:spcBef>
              <a:buClrTx/>
              <a:buSzTx/>
              <a:buFontTx/>
              <a:buNone/>
              <a:defRPr/>
            </a:pPr>
            <a:fld id="{6BB22796-5329-4D7E-880B-95B0A70ABA06}" type="slidenum">
              <a:rPr lang="en-US" altLang="en-US" smtClean="0"/>
              <a:pPr>
                <a:spcBef>
                  <a:spcPct val="0"/>
                </a:spcBef>
                <a:buClrTx/>
                <a:buSzTx/>
                <a:buFontTx/>
                <a:buNone/>
                <a:defRPr/>
              </a:pPr>
              <a:t>23</a:t>
            </a:fld>
            <a:endParaRPr lang="en-US" altLang="en-US" sz="1400"/>
          </a:p>
        </p:txBody>
      </p:sp>
      <p:sp>
        <p:nvSpPr>
          <p:cNvPr id="16387" name="Rectangle 2">
            <a:extLst>
              <a:ext uri="{FF2B5EF4-FFF2-40B4-BE49-F238E27FC236}">
                <a16:creationId xmlns:a16="http://schemas.microsoft.com/office/drawing/2014/main" id="{B2D174C5-BE0C-4FFC-A900-516713F1530D}"/>
              </a:ext>
            </a:extLst>
          </p:cNvPr>
          <p:cNvSpPr>
            <a:spLocks noGrp="1" noChangeArrowheads="1"/>
          </p:cNvSpPr>
          <p:nvPr>
            <p:ph type="title"/>
          </p:nvPr>
        </p:nvSpPr>
        <p:spPr>
          <a:xfrm>
            <a:off x="1752600" y="152401"/>
            <a:ext cx="8686800" cy="685800"/>
          </a:xfrm>
        </p:spPr>
        <p:txBody>
          <a:bodyPr>
            <a:normAutofit fontScale="90000"/>
          </a:bodyPr>
          <a:lstStyle/>
          <a:p>
            <a:r>
              <a:rPr lang="en-US" altLang="en-US" dirty="0"/>
              <a:t>MST Example </a:t>
            </a:r>
          </a:p>
        </p:txBody>
      </p:sp>
      <p:sp>
        <p:nvSpPr>
          <p:cNvPr id="16388" name="Rectangle 3">
            <a:extLst>
              <a:ext uri="{FF2B5EF4-FFF2-40B4-BE49-F238E27FC236}">
                <a16:creationId xmlns:a16="http://schemas.microsoft.com/office/drawing/2014/main" id="{01650906-861D-46FB-AD95-B28C14B63DBE}"/>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89" name="Rectangle 4">
            <a:extLst>
              <a:ext uri="{FF2B5EF4-FFF2-40B4-BE49-F238E27FC236}">
                <a16:creationId xmlns:a16="http://schemas.microsoft.com/office/drawing/2014/main" id="{CA371DFC-37F0-42CC-B18A-DF22B7C95D3D}"/>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0" name="Rectangle 5">
            <a:extLst>
              <a:ext uri="{FF2B5EF4-FFF2-40B4-BE49-F238E27FC236}">
                <a16:creationId xmlns:a16="http://schemas.microsoft.com/office/drawing/2014/main" id="{A6CD67C0-B855-482C-9DA0-91500FB33E4A}"/>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1" name="Rectangle 6">
            <a:extLst>
              <a:ext uri="{FF2B5EF4-FFF2-40B4-BE49-F238E27FC236}">
                <a16:creationId xmlns:a16="http://schemas.microsoft.com/office/drawing/2014/main" id="{9896F864-DD71-46CE-A7E2-04C0362A2B1A}"/>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2" name="Rectangle 7">
            <a:extLst>
              <a:ext uri="{FF2B5EF4-FFF2-40B4-BE49-F238E27FC236}">
                <a16:creationId xmlns:a16="http://schemas.microsoft.com/office/drawing/2014/main" id="{A9F315F1-6DEB-4D8C-A424-48C186C72026}"/>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3" name="Rectangle 10">
            <a:extLst>
              <a:ext uri="{FF2B5EF4-FFF2-40B4-BE49-F238E27FC236}">
                <a16:creationId xmlns:a16="http://schemas.microsoft.com/office/drawing/2014/main" id="{42E79453-9F24-4DD4-9074-2D661652AB72}"/>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4" name="Rectangle 12">
            <a:extLst>
              <a:ext uri="{FF2B5EF4-FFF2-40B4-BE49-F238E27FC236}">
                <a16:creationId xmlns:a16="http://schemas.microsoft.com/office/drawing/2014/main" id="{C5A4A7B8-39A8-45C3-94E8-EF41E8543114}"/>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5" name="Rectangle 14">
            <a:extLst>
              <a:ext uri="{FF2B5EF4-FFF2-40B4-BE49-F238E27FC236}">
                <a16:creationId xmlns:a16="http://schemas.microsoft.com/office/drawing/2014/main" id="{D692B473-1FE5-4FE1-A34F-B3E1477A49BD}"/>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6" name="Rectangle 16">
            <a:extLst>
              <a:ext uri="{FF2B5EF4-FFF2-40B4-BE49-F238E27FC236}">
                <a16:creationId xmlns:a16="http://schemas.microsoft.com/office/drawing/2014/main" id="{8CEF2443-846B-4310-BA5E-44E09469D1F1}"/>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7" name="Rectangle 18">
            <a:extLst>
              <a:ext uri="{FF2B5EF4-FFF2-40B4-BE49-F238E27FC236}">
                <a16:creationId xmlns:a16="http://schemas.microsoft.com/office/drawing/2014/main" id="{2F159ECA-B1E8-4973-BA06-A962FAC52E93}"/>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8" name="Rectangle 20">
            <a:extLst>
              <a:ext uri="{FF2B5EF4-FFF2-40B4-BE49-F238E27FC236}">
                <a16:creationId xmlns:a16="http://schemas.microsoft.com/office/drawing/2014/main" id="{5235EF46-9630-447C-A572-35D59D3FB7E3}"/>
              </a:ext>
            </a:extLst>
          </p:cNvPr>
          <p:cNvSpPr>
            <a:spLocks noChangeArrowheads="1"/>
          </p:cNvSpPr>
          <p:nvPr/>
        </p:nvSpPr>
        <p:spPr bwMode="auto">
          <a:xfrm>
            <a:off x="1524001" y="23567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6399" name="Picture 18">
            <a:extLst>
              <a:ext uri="{FF2B5EF4-FFF2-40B4-BE49-F238E27FC236}">
                <a16:creationId xmlns:a16="http://schemas.microsoft.com/office/drawing/2014/main" id="{03E51F6A-DB24-4F85-AC04-CA47B1DA8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795222"/>
            <a:ext cx="5029200" cy="31571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graphicFrame>
        <p:nvGraphicFramePr>
          <p:cNvPr id="2" name="Table 2">
            <a:extLst>
              <a:ext uri="{FF2B5EF4-FFF2-40B4-BE49-F238E27FC236}">
                <a16:creationId xmlns:a16="http://schemas.microsoft.com/office/drawing/2014/main" id="{A14264A7-7664-42BC-8EFE-F73DFA3631A9}"/>
              </a:ext>
            </a:extLst>
          </p:cNvPr>
          <p:cNvGraphicFramePr>
            <a:graphicFrameLocks noGrp="1"/>
          </p:cNvGraphicFramePr>
          <p:nvPr/>
        </p:nvGraphicFramePr>
        <p:xfrm>
          <a:off x="2133600" y="4031933"/>
          <a:ext cx="533400" cy="256032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1250910416"/>
                    </a:ext>
                  </a:extLst>
                </a:gridCol>
              </a:tblGrid>
              <a:tr h="349295">
                <a:tc>
                  <a:txBody>
                    <a:bodyPr/>
                    <a:lstStyle/>
                    <a:p>
                      <a:r>
                        <a:rPr lang="en-US" dirty="0"/>
                        <a:t>0</a:t>
                      </a:r>
                    </a:p>
                  </a:txBody>
                  <a:tcPr/>
                </a:tc>
                <a:extLst>
                  <a:ext uri="{0D108BD9-81ED-4DB2-BD59-A6C34878D82A}">
                    <a16:rowId xmlns:a16="http://schemas.microsoft.com/office/drawing/2014/main" val="1301146197"/>
                  </a:ext>
                </a:extLst>
              </a:tr>
              <a:tr h="349295">
                <a:tc>
                  <a:txBody>
                    <a:bodyPr/>
                    <a:lstStyle/>
                    <a:p>
                      <a:r>
                        <a:rPr lang="en-US" dirty="0"/>
                        <a:t>1</a:t>
                      </a:r>
                    </a:p>
                  </a:txBody>
                  <a:tcPr/>
                </a:tc>
                <a:extLst>
                  <a:ext uri="{0D108BD9-81ED-4DB2-BD59-A6C34878D82A}">
                    <a16:rowId xmlns:a16="http://schemas.microsoft.com/office/drawing/2014/main" val="2561021111"/>
                  </a:ext>
                </a:extLst>
              </a:tr>
              <a:tr h="349295">
                <a:tc>
                  <a:txBody>
                    <a:bodyPr/>
                    <a:lstStyle/>
                    <a:p>
                      <a:r>
                        <a:rPr lang="en-US" dirty="0"/>
                        <a:t>2</a:t>
                      </a:r>
                    </a:p>
                  </a:txBody>
                  <a:tcPr/>
                </a:tc>
                <a:extLst>
                  <a:ext uri="{0D108BD9-81ED-4DB2-BD59-A6C34878D82A}">
                    <a16:rowId xmlns:a16="http://schemas.microsoft.com/office/drawing/2014/main" val="2143867115"/>
                  </a:ext>
                </a:extLst>
              </a:tr>
              <a:tr h="349295">
                <a:tc>
                  <a:txBody>
                    <a:bodyPr/>
                    <a:lstStyle/>
                    <a:p>
                      <a:r>
                        <a:rPr lang="en-US" dirty="0"/>
                        <a:t>3</a:t>
                      </a:r>
                    </a:p>
                  </a:txBody>
                  <a:tcPr/>
                </a:tc>
                <a:extLst>
                  <a:ext uri="{0D108BD9-81ED-4DB2-BD59-A6C34878D82A}">
                    <a16:rowId xmlns:a16="http://schemas.microsoft.com/office/drawing/2014/main" val="1450275637"/>
                  </a:ext>
                </a:extLst>
              </a:tr>
              <a:tr h="349295">
                <a:tc>
                  <a:txBody>
                    <a:bodyPr/>
                    <a:lstStyle/>
                    <a:p>
                      <a:r>
                        <a:rPr lang="en-US" dirty="0"/>
                        <a:t>4</a:t>
                      </a:r>
                    </a:p>
                  </a:txBody>
                  <a:tcPr/>
                </a:tc>
                <a:extLst>
                  <a:ext uri="{0D108BD9-81ED-4DB2-BD59-A6C34878D82A}">
                    <a16:rowId xmlns:a16="http://schemas.microsoft.com/office/drawing/2014/main" val="2904880112"/>
                  </a:ext>
                </a:extLst>
              </a:tr>
              <a:tr h="349295">
                <a:tc>
                  <a:txBody>
                    <a:bodyPr/>
                    <a:lstStyle/>
                    <a:p>
                      <a:r>
                        <a:rPr lang="en-US" dirty="0"/>
                        <a:t>5</a:t>
                      </a:r>
                    </a:p>
                  </a:txBody>
                  <a:tcPr/>
                </a:tc>
                <a:extLst>
                  <a:ext uri="{0D108BD9-81ED-4DB2-BD59-A6C34878D82A}">
                    <a16:rowId xmlns:a16="http://schemas.microsoft.com/office/drawing/2014/main" val="2755534972"/>
                  </a:ext>
                </a:extLst>
              </a:tr>
              <a:tr h="349295">
                <a:tc>
                  <a:txBody>
                    <a:bodyPr/>
                    <a:lstStyle/>
                    <a:p>
                      <a:r>
                        <a:rPr lang="en-US" dirty="0"/>
                        <a:t>6</a:t>
                      </a:r>
                    </a:p>
                  </a:txBody>
                  <a:tcPr/>
                </a:tc>
                <a:extLst>
                  <a:ext uri="{0D108BD9-81ED-4DB2-BD59-A6C34878D82A}">
                    <a16:rowId xmlns:a16="http://schemas.microsoft.com/office/drawing/2014/main" val="2984875976"/>
                  </a:ext>
                </a:extLst>
              </a:tr>
            </a:tbl>
          </a:graphicData>
        </a:graphic>
      </p:graphicFrame>
      <p:cxnSp>
        <p:nvCxnSpPr>
          <p:cNvPr id="5" name="Straight Arrow Connector 4">
            <a:extLst>
              <a:ext uri="{FF2B5EF4-FFF2-40B4-BE49-F238E27FC236}">
                <a16:creationId xmlns:a16="http://schemas.microsoft.com/office/drawing/2014/main" id="{C4B53C82-D3AE-4493-A95E-DC009210485C}"/>
              </a:ext>
            </a:extLst>
          </p:cNvPr>
          <p:cNvCxnSpPr/>
          <p:nvPr/>
        </p:nvCxnSpPr>
        <p:spPr bwMode="auto">
          <a:xfrm>
            <a:off x="2667000" y="4191000"/>
            <a:ext cx="3810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a:extLst>
              <a:ext uri="{FF2B5EF4-FFF2-40B4-BE49-F238E27FC236}">
                <a16:creationId xmlns:a16="http://schemas.microsoft.com/office/drawing/2014/main" id="{141AC81F-F7F5-4EFB-9AF4-AFE49D791E9E}"/>
              </a:ext>
            </a:extLst>
          </p:cNvPr>
          <p:cNvSpPr txBox="1"/>
          <p:nvPr/>
        </p:nvSpPr>
        <p:spPr>
          <a:xfrm>
            <a:off x="3124201" y="3953826"/>
            <a:ext cx="1176925" cy="307777"/>
          </a:xfrm>
          <a:prstGeom prst="rect">
            <a:avLst/>
          </a:prstGeom>
          <a:noFill/>
          <a:ln>
            <a:solidFill>
              <a:schemeClr val="tx1"/>
            </a:solidFill>
          </a:ln>
        </p:spPr>
        <p:txBody>
          <a:bodyPr wrap="none" rtlCol="0">
            <a:spAutoFit/>
          </a:bodyPr>
          <a:lstStyle/>
          <a:p>
            <a:r>
              <a:rPr lang="en-US" sz="1400" dirty="0"/>
              <a:t>{0,1,6} {0,5,5}</a:t>
            </a:r>
          </a:p>
        </p:txBody>
      </p:sp>
      <p:cxnSp>
        <p:nvCxnSpPr>
          <p:cNvPr id="21" name="Straight Arrow Connector 20">
            <a:extLst>
              <a:ext uri="{FF2B5EF4-FFF2-40B4-BE49-F238E27FC236}">
                <a16:creationId xmlns:a16="http://schemas.microsoft.com/office/drawing/2014/main" id="{4A603E48-40D7-460F-AB3D-EFE194913158}"/>
              </a:ext>
            </a:extLst>
          </p:cNvPr>
          <p:cNvCxnSpPr/>
          <p:nvPr/>
        </p:nvCxnSpPr>
        <p:spPr bwMode="auto">
          <a:xfrm>
            <a:off x="2667000" y="4572000"/>
            <a:ext cx="3810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4D77570E-6225-4034-87CD-F0669D8A9391}"/>
              </a:ext>
            </a:extLst>
          </p:cNvPr>
          <p:cNvCxnSpPr/>
          <p:nvPr/>
        </p:nvCxnSpPr>
        <p:spPr bwMode="auto">
          <a:xfrm>
            <a:off x="2667000" y="4955337"/>
            <a:ext cx="3810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Arrow Connector 22">
            <a:extLst>
              <a:ext uri="{FF2B5EF4-FFF2-40B4-BE49-F238E27FC236}">
                <a16:creationId xmlns:a16="http://schemas.microsoft.com/office/drawing/2014/main" id="{9EE3FF5C-19C6-42B4-B31C-D5280D9F9D78}"/>
              </a:ext>
            </a:extLst>
          </p:cNvPr>
          <p:cNvCxnSpPr/>
          <p:nvPr/>
        </p:nvCxnSpPr>
        <p:spPr bwMode="auto">
          <a:xfrm>
            <a:off x="2667000" y="5334000"/>
            <a:ext cx="3810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Arrow Connector 23">
            <a:extLst>
              <a:ext uri="{FF2B5EF4-FFF2-40B4-BE49-F238E27FC236}">
                <a16:creationId xmlns:a16="http://schemas.microsoft.com/office/drawing/2014/main" id="{9A0BD356-965E-465E-8D84-9BC73B6AE35D}"/>
              </a:ext>
            </a:extLst>
          </p:cNvPr>
          <p:cNvCxnSpPr/>
          <p:nvPr/>
        </p:nvCxnSpPr>
        <p:spPr bwMode="auto">
          <a:xfrm>
            <a:off x="2667000" y="5715000"/>
            <a:ext cx="3810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24">
            <a:extLst>
              <a:ext uri="{FF2B5EF4-FFF2-40B4-BE49-F238E27FC236}">
                <a16:creationId xmlns:a16="http://schemas.microsoft.com/office/drawing/2014/main" id="{265C81BB-2ACD-4286-A589-8FB25F808350}"/>
              </a:ext>
            </a:extLst>
          </p:cNvPr>
          <p:cNvCxnSpPr/>
          <p:nvPr/>
        </p:nvCxnSpPr>
        <p:spPr bwMode="auto">
          <a:xfrm>
            <a:off x="2667000" y="6019800"/>
            <a:ext cx="3810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Arrow Connector 25">
            <a:extLst>
              <a:ext uri="{FF2B5EF4-FFF2-40B4-BE49-F238E27FC236}">
                <a16:creationId xmlns:a16="http://schemas.microsoft.com/office/drawing/2014/main" id="{3303DA31-5DF5-442E-BCD0-97A31FA3604E}"/>
              </a:ext>
            </a:extLst>
          </p:cNvPr>
          <p:cNvCxnSpPr/>
          <p:nvPr/>
        </p:nvCxnSpPr>
        <p:spPr bwMode="auto">
          <a:xfrm>
            <a:off x="2667000" y="6405290"/>
            <a:ext cx="381000" cy="0"/>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Box 27">
            <a:extLst>
              <a:ext uri="{FF2B5EF4-FFF2-40B4-BE49-F238E27FC236}">
                <a16:creationId xmlns:a16="http://schemas.microsoft.com/office/drawing/2014/main" id="{59EBF633-8A8D-485D-A1D0-985688700BD6}"/>
              </a:ext>
            </a:extLst>
          </p:cNvPr>
          <p:cNvSpPr txBox="1"/>
          <p:nvPr/>
        </p:nvSpPr>
        <p:spPr>
          <a:xfrm>
            <a:off x="3124201" y="4412368"/>
            <a:ext cx="2260555" cy="307777"/>
          </a:xfrm>
          <a:prstGeom prst="rect">
            <a:avLst/>
          </a:prstGeom>
          <a:noFill/>
          <a:ln>
            <a:solidFill>
              <a:schemeClr val="tx1"/>
            </a:solidFill>
          </a:ln>
        </p:spPr>
        <p:txBody>
          <a:bodyPr wrap="none" rtlCol="0">
            <a:spAutoFit/>
          </a:bodyPr>
          <a:lstStyle/>
          <a:p>
            <a:r>
              <a:rPr lang="en-US" sz="1400" dirty="0"/>
              <a:t>{1,0,6} {1,2,10}{1,5,8} {1,6,7}</a:t>
            </a:r>
          </a:p>
        </p:txBody>
      </p:sp>
      <p:sp>
        <p:nvSpPr>
          <p:cNvPr id="29" name="TextBox 28">
            <a:extLst>
              <a:ext uri="{FF2B5EF4-FFF2-40B4-BE49-F238E27FC236}">
                <a16:creationId xmlns:a16="http://schemas.microsoft.com/office/drawing/2014/main" id="{3E3C4020-86E8-4080-9B61-E7AC3546F418}"/>
              </a:ext>
            </a:extLst>
          </p:cNvPr>
          <p:cNvSpPr txBox="1"/>
          <p:nvPr/>
        </p:nvSpPr>
        <p:spPr>
          <a:xfrm>
            <a:off x="3124201" y="4801449"/>
            <a:ext cx="2392001" cy="307777"/>
          </a:xfrm>
          <a:prstGeom prst="rect">
            <a:avLst/>
          </a:prstGeom>
          <a:noFill/>
          <a:ln>
            <a:solidFill>
              <a:schemeClr val="tx1"/>
            </a:solidFill>
          </a:ln>
        </p:spPr>
        <p:txBody>
          <a:bodyPr wrap="none" rtlCol="0">
            <a:spAutoFit/>
          </a:bodyPr>
          <a:lstStyle/>
          <a:p>
            <a:r>
              <a:rPr lang="en-US" sz="1400" dirty="0"/>
              <a:t>{2,1,10} {2,3,8} {2,4,10} {2,6,5}</a:t>
            </a:r>
          </a:p>
        </p:txBody>
      </p:sp>
      <p:sp>
        <p:nvSpPr>
          <p:cNvPr id="30" name="TextBox 29">
            <a:extLst>
              <a:ext uri="{FF2B5EF4-FFF2-40B4-BE49-F238E27FC236}">
                <a16:creationId xmlns:a16="http://schemas.microsoft.com/office/drawing/2014/main" id="{05862CA7-C14E-4EC6-8EEF-151D583F4F42}"/>
              </a:ext>
            </a:extLst>
          </p:cNvPr>
          <p:cNvSpPr txBox="1"/>
          <p:nvPr/>
        </p:nvSpPr>
        <p:spPr>
          <a:xfrm>
            <a:off x="3124201" y="5180112"/>
            <a:ext cx="1176925" cy="307777"/>
          </a:xfrm>
          <a:prstGeom prst="rect">
            <a:avLst/>
          </a:prstGeom>
          <a:noFill/>
          <a:ln>
            <a:solidFill>
              <a:schemeClr val="tx1"/>
            </a:solidFill>
          </a:ln>
        </p:spPr>
        <p:txBody>
          <a:bodyPr wrap="none" rtlCol="0">
            <a:spAutoFit/>
          </a:bodyPr>
          <a:lstStyle/>
          <a:p>
            <a:r>
              <a:rPr lang="en-US" sz="1400" dirty="0"/>
              <a:t>{3,2,8} {3,4,8}</a:t>
            </a:r>
          </a:p>
        </p:txBody>
      </p:sp>
      <p:sp>
        <p:nvSpPr>
          <p:cNvPr id="31" name="TextBox 30">
            <a:extLst>
              <a:ext uri="{FF2B5EF4-FFF2-40B4-BE49-F238E27FC236}">
                <a16:creationId xmlns:a16="http://schemas.microsoft.com/office/drawing/2014/main" id="{94DE913A-57B8-4600-B31E-FF2EDB1A6F2D}"/>
              </a:ext>
            </a:extLst>
          </p:cNvPr>
          <p:cNvSpPr txBox="1"/>
          <p:nvPr/>
        </p:nvSpPr>
        <p:spPr>
          <a:xfrm>
            <a:off x="3068465" y="5558775"/>
            <a:ext cx="2392001" cy="307777"/>
          </a:xfrm>
          <a:prstGeom prst="rect">
            <a:avLst/>
          </a:prstGeom>
          <a:noFill/>
          <a:ln>
            <a:solidFill>
              <a:schemeClr val="tx1"/>
            </a:solidFill>
          </a:ln>
        </p:spPr>
        <p:txBody>
          <a:bodyPr wrap="none" rtlCol="0">
            <a:spAutoFit/>
          </a:bodyPr>
          <a:lstStyle/>
          <a:p>
            <a:r>
              <a:rPr lang="en-US" sz="1400" dirty="0"/>
              <a:t>{$,2,10} {4,3,8} {4,5,12} {4,6,7}</a:t>
            </a:r>
          </a:p>
        </p:txBody>
      </p:sp>
      <p:sp>
        <p:nvSpPr>
          <p:cNvPr id="32" name="TextBox 31">
            <a:extLst>
              <a:ext uri="{FF2B5EF4-FFF2-40B4-BE49-F238E27FC236}">
                <a16:creationId xmlns:a16="http://schemas.microsoft.com/office/drawing/2014/main" id="{6C005F28-76A1-49B3-9BE3-5BCF3F976CCB}"/>
              </a:ext>
            </a:extLst>
          </p:cNvPr>
          <p:cNvSpPr txBox="1"/>
          <p:nvPr/>
        </p:nvSpPr>
        <p:spPr>
          <a:xfrm>
            <a:off x="3068464" y="5908890"/>
            <a:ext cx="2300630" cy="307777"/>
          </a:xfrm>
          <a:prstGeom prst="rect">
            <a:avLst/>
          </a:prstGeom>
          <a:noFill/>
          <a:ln>
            <a:solidFill>
              <a:schemeClr val="tx1"/>
            </a:solidFill>
          </a:ln>
        </p:spPr>
        <p:txBody>
          <a:bodyPr wrap="none" rtlCol="0">
            <a:spAutoFit/>
          </a:bodyPr>
          <a:lstStyle/>
          <a:p>
            <a:r>
              <a:rPr lang="en-US" sz="1400" dirty="0"/>
              <a:t>{5,0,5} {5,1,8} {5,4,12} {5,6,7}</a:t>
            </a:r>
          </a:p>
        </p:txBody>
      </p:sp>
      <p:sp>
        <p:nvSpPr>
          <p:cNvPr id="33" name="TextBox 32">
            <a:extLst>
              <a:ext uri="{FF2B5EF4-FFF2-40B4-BE49-F238E27FC236}">
                <a16:creationId xmlns:a16="http://schemas.microsoft.com/office/drawing/2014/main" id="{A6504847-E74D-48A7-AD00-ADB4C7D9AF3F}"/>
              </a:ext>
            </a:extLst>
          </p:cNvPr>
          <p:cNvSpPr txBox="1"/>
          <p:nvPr/>
        </p:nvSpPr>
        <p:spPr>
          <a:xfrm>
            <a:off x="3088572" y="6284477"/>
            <a:ext cx="2209259" cy="307777"/>
          </a:xfrm>
          <a:prstGeom prst="rect">
            <a:avLst/>
          </a:prstGeom>
          <a:noFill/>
          <a:ln>
            <a:solidFill>
              <a:schemeClr val="tx1"/>
            </a:solidFill>
          </a:ln>
        </p:spPr>
        <p:txBody>
          <a:bodyPr wrap="none" rtlCol="0">
            <a:spAutoFit/>
          </a:bodyPr>
          <a:lstStyle/>
          <a:p>
            <a:r>
              <a:rPr lang="en-US" sz="1400" dirty="0"/>
              <a:t>{6,1,7} {6,2,5} {6,4,7} {6,5,7}</a:t>
            </a:r>
          </a:p>
        </p:txBody>
      </p:sp>
      <p:sp>
        <p:nvSpPr>
          <p:cNvPr id="7" name="TextBox 6">
            <a:extLst>
              <a:ext uri="{FF2B5EF4-FFF2-40B4-BE49-F238E27FC236}">
                <a16:creationId xmlns:a16="http://schemas.microsoft.com/office/drawing/2014/main" id="{F200D7EE-1CA3-4B33-8C76-C38332F790DA}"/>
              </a:ext>
            </a:extLst>
          </p:cNvPr>
          <p:cNvSpPr txBox="1"/>
          <p:nvPr/>
        </p:nvSpPr>
        <p:spPr>
          <a:xfrm>
            <a:off x="1828800" y="3417780"/>
            <a:ext cx="316112" cy="369332"/>
          </a:xfrm>
          <a:prstGeom prst="rect">
            <a:avLst/>
          </a:prstGeom>
          <a:noFill/>
        </p:spPr>
        <p:txBody>
          <a:bodyPr wrap="none" rtlCol="0">
            <a:spAutoFit/>
          </a:bodyPr>
          <a:lstStyle/>
          <a:p>
            <a:r>
              <a:rPr lang="en-US" dirty="0"/>
              <a:t>V</a:t>
            </a:r>
          </a:p>
        </p:txBody>
      </p:sp>
      <p:cxnSp>
        <p:nvCxnSpPr>
          <p:cNvPr id="9" name="Straight Arrow Connector 8">
            <a:extLst>
              <a:ext uri="{FF2B5EF4-FFF2-40B4-BE49-F238E27FC236}">
                <a16:creationId xmlns:a16="http://schemas.microsoft.com/office/drawing/2014/main" id="{53F122FC-611B-49CB-93CE-85EF18F88E1A}"/>
              </a:ext>
            </a:extLst>
          </p:cNvPr>
          <p:cNvCxnSpPr/>
          <p:nvPr/>
        </p:nvCxnSpPr>
        <p:spPr bwMode="auto">
          <a:xfrm>
            <a:off x="2133600" y="3761335"/>
            <a:ext cx="152400" cy="270033"/>
          </a:xfrm>
          <a:prstGeom prst="straightConnector1">
            <a:avLst/>
          </a:prstGeom>
          <a:solidFill>
            <a:schemeClr val="accent1"/>
          </a:solidFill>
          <a:ln w="12700" cap="flat" cmpd="sng" algn="ctr">
            <a:solidFill>
              <a:schemeClr val="tx1"/>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E1683-1E1C-4C3D-868E-B269958912B3}"/>
              </a:ext>
            </a:extLst>
          </p:cNvPr>
          <p:cNvSpPr>
            <a:spLocks noGrp="1"/>
          </p:cNvSpPr>
          <p:nvPr>
            <p:ph type="title"/>
          </p:nvPr>
        </p:nvSpPr>
        <p:spPr/>
        <p:txBody>
          <a:bodyPr/>
          <a:lstStyle/>
          <a:p>
            <a:r>
              <a:rPr lang="en-US" dirty="0"/>
              <a:t>MST Example</a:t>
            </a:r>
          </a:p>
        </p:txBody>
      </p:sp>
      <p:pic>
        <p:nvPicPr>
          <p:cNvPr id="28" name="Content Placeholder 27" descr="A picture containing clock, room&#10;&#10;Description automatically generated">
            <a:extLst>
              <a:ext uri="{FF2B5EF4-FFF2-40B4-BE49-F238E27FC236}">
                <a16:creationId xmlns:a16="http://schemas.microsoft.com/office/drawing/2014/main" id="{4ACF84F2-2B48-4722-A737-A7C5FA8F68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987048" y="3661692"/>
            <a:ext cx="2976584" cy="947744"/>
          </a:xfrm>
        </p:spPr>
      </p:pic>
      <p:sp>
        <p:nvSpPr>
          <p:cNvPr id="5" name="Slide Number Placeholder 4">
            <a:extLst>
              <a:ext uri="{FF2B5EF4-FFF2-40B4-BE49-F238E27FC236}">
                <a16:creationId xmlns:a16="http://schemas.microsoft.com/office/drawing/2014/main" id="{29D58B40-C3E9-4A48-A8B4-AC2309253AC0}"/>
              </a:ext>
            </a:extLst>
          </p:cNvPr>
          <p:cNvSpPr>
            <a:spLocks noGrp="1"/>
          </p:cNvSpPr>
          <p:nvPr>
            <p:ph type="sldNum" sz="quarter" idx="11"/>
          </p:nvPr>
        </p:nvSpPr>
        <p:spPr/>
        <p:txBody>
          <a:bodyPr/>
          <a:lstStyle/>
          <a:p>
            <a:pPr>
              <a:defRPr/>
            </a:pPr>
            <a:fld id="{B8DA497F-1DE2-4DD7-A528-08024541998A}" type="slidenum">
              <a:rPr lang="en-US" altLang="en-US" smtClean="0"/>
              <a:pPr>
                <a:defRPr/>
              </a:pPr>
              <a:t>24</a:t>
            </a:fld>
            <a:endParaRPr lang="en-US" altLang="en-US"/>
          </a:p>
        </p:txBody>
      </p:sp>
      <p:grpSp>
        <p:nvGrpSpPr>
          <p:cNvPr id="6" name="Group 5">
            <a:extLst>
              <a:ext uri="{FF2B5EF4-FFF2-40B4-BE49-F238E27FC236}">
                <a16:creationId xmlns:a16="http://schemas.microsoft.com/office/drawing/2014/main" id="{F0BE9144-3965-479B-B865-36E8376D2088}"/>
              </a:ext>
            </a:extLst>
          </p:cNvPr>
          <p:cNvGrpSpPr/>
          <p:nvPr/>
        </p:nvGrpSpPr>
        <p:grpSpPr>
          <a:xfrm>
            <a:off x="2408541" y="1342627"/>
            <a:ext cx="1868791" cy="1984377"/>
            <a:chOff x="533400" y="2436812"/>
            <a:chExt cx="1868791" cy="1984377"/>
          </a:xfrm>
        </p:grpSpPr>
        <p:sp>
          <p:nvSpPr>
            <p:cNvPr id="7" name="Oval 6">
              <a:extLst>
                <a:ext uri="{FF2B5EF4-FFF2-40B4-BE49-F238E27FC236}">
                  <a16:creationId xmlns:a16="http://schemas.microsoft.com/office/drawing/2014/main" id="{5358DABC-09FC-40B3-BC5E-CD03AA85C2ED}"/>
                </a:ext>
              </a:extLst>
            </p:cNvPr>
            <p:cNvSpPr/>
            <p:nvPr/>
          </p:nvSpPr>
          <p:spPr bwMode="auto">
            <a:xfrm>
              <a:off x="1179209" y="2436812"/>
              <a:ext cx="420991" cy="458783"/>
            </a:xfrm>
            <a:prstGeom prst="ellipse">
              <a:avLst/>
            </a:prstGeom>
            <a:solidFill>
              <a:srgbClr val="C1FFF5"/>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A</a:t>
              </a:r>
            </a:p>
          </p:txBody>
        </p:sp>
        <p:sp>
          <p:nvSpPr>
            <p:cNvPr id="8" name="Oval 7">
              <a:extLst>
                <a:ext uri="{FF2B5EF4-FFF2-40B4-BE49-F238E27FC236}">
                  <a16:creationId xmlns:a16="http://schemas.microsoft.com/office/drawing/2014/main" id="{CED9C38C-B893-40D1-801C-33E084AE094F}"/>
                </a:ext>
              </a:extLst>
            </p:cNvPr>
            <p:cNvSpPr/>
            <p:nvPr/>
          </p:nvSpPr>
          <p:spPr bwMode="auto">
            <a:xfrm>
              <a:off x="533400" y="3315495"/>
              <a:ext cx="420991" cy="458783"/>
            </a:xfrm>
            <a:prstGeom prst="ellipse">
              <a:avLst/>
            </a:prstGeom>
            <a:solidFill>
              <a:srgbClr val="BEFFFC"/>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t>B</a:t>
              </a:r>
              <a:endParaRPr lang="en-US" sz="1600" dirty="0">
                <a:latin typeface="Times New Roman" panose="02020603050405020304" pitchFamily="18" charset="0"/>
              </a:endParaRPr>
            </a:p>
          </p:txBody>
        </p:sp>
        <p:sp>
          <p:nvSpPr>
            <p:cNvPr id="9" name="Oval 8">
              <a:extLst>
                <a:ext uri="{FF2B5EF4-FFF2-40B4-BE49-F238E27FC236}">
                  <a16:creationId xmlns:a16="http://schemas.microsoft.com/office/drawing/2014/main" id="{29CF5AA4-D807-4812-A580-239BFCBC07C2}"/>
                </a:ext>
              </a:extLst>
            </p:cNvPr>
            <p:cNvSpPr/>
            <p:nvPr/>
          </p:nvSpPr>
          <p:spPr bwMode="auto">
            <a:xfrm>
              <a:off x="1981200" y="3236121"/>
              <a:ext cx="420991" cy="458783"/>
            </a:xfrm>
            <a:prstGeom prst="ellipse">
              <a:avLst/>
            </a:prstGeom>
            <a:solidFill>
              <a:srgbClr val="C1FFF5"/>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C</a:t>
              </a:r>
            </a:p>
          </p:txBody>
        </p:sp>
        <p:sp>
          <p:nvSpPr>
            <p:cNvPr id="10" name="Oval 9">
              <a:extLst>
                <a:ext uri="{FF2B5EF4-FFF2-40B4-BE49-F238E27FC236}">
                  <a16:creationId xmlns:a16="http://schemas.microsoft.com/office/drawing/2014/main" id="{2242662E-B029-46A9-85FB-54F0E37E199E}"/>
                </a:ext>
              </a:extLst>
            </p:cNvPr>
            <p:cNvSpPr/>
            <p:nvPr/>
          </p:nvSpPr>
          <p:spPr bwMode="auto">
            <a:xfrm>
              <a:off x="1209372" y="3962406"/>
              <a:ext cx="420991" cy="458783"/>
            </a:xfrm>
            <a:prstGeom prst="ellipse">
              <a:avLst/>
            </a:prstGeom>
            <a:solidFill>
              <a:srgbClr val="BDFFF7"/>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600" dirty="0">
                  <a:latin typeface="Times New Roman" panose="02020603050405020304" pitchFamily="18" charset="0"/>
                </a:rPr>
                <a:t>D</a:t>
              </a:r>
            </a:p>
          </p:txBody>
        </p:sp>
        <p:cxnSp>
          <p:nvCxnSpPr>
            <p:cNvPr id="11" name="Straight Connector 10">
              <a:extLst>
                <a:ext uri="{FF2B5EF4-FFF2-40B4-BE49-F238E27FC236}">
                  <a16:creationId xmlns:a16="http://schemas.microsoft.com/office/drawing/2014/main" id="{EC6284F8-1087-4D0F-BE11-D3EB6461E044}"/>
                </a:ext>
              </a:extLst>
            </p:cNvPr>
            <p:cNvCxnSpPr>
              <a:endCxn id="8" idx="5"/>
            </p:cNvCxnSpPr>
            <p:nvPr/>
          </p:nvCxnSpPr>
          <p:spPr bwMode="auto">
            <a:xfrm flipH="1" flipV="1">
              <a:off x="892738" y="3707091"/>
              <a:ext cx="454177" cy="253873"/>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a:extLst>
                <a:ext uri="{FF2B5EF4-FFF2-40B4-BE49-F238E27FC236}">
                  <a16:creationId xmlns:a16="http://schemas.microsoft.com/office/drawing/2014/main" id="{916424FA-8093-4938-92CF-A5F2A97721EB}"/>
                </a:ext>
              </a:extLst>
            </p:cNvPr>
            <p:cNvSpPr txBox="1"/>
            <p:nvPr/>
          </p:nvSpPr>
          <p:spPr>
            <a:xfrm>
              <a:off x="766234" y="2720728"/>
              <a:ext cx="301686" cy="369332"/>
            </a:xfrm>
            <a:prstGeom prst="rect">
              <a:avLst/>
            </a:prstGeom>
            <a:noFill/>
          </p:spPr>
          <p:txBody>
            <a:bodyPr wrap="none" rtlCol="0">
              <a:spAutoFit/>
            </a:bodyPr>
            <a:lstStyle/>
            <a:p>
              <a:r>
                <a:rPr lang="en-US" dirty="0"/>
                <a:t>5</a:t>
              </a:r>
            </a:p>
          </p:txBody>
        </p:sp>
        <p:sp>
          <p:nvSpPr>
            <p:cNvPr id="13" name="TextBox 12">
              <a:extLst>
                <a:ext uri="{FF2B5EF4-FFF2-40B4-BE49-F238E27FC236}">
                  <a16:creationId xmlns:a16="http://schemas.microsoft.com/office/drawing/2014/main" id="{449D2E45-14E0-435D-BDEA-3838D95212E1}"/>
                </a:ext>
              </a:extLst>
            </p:cNvPr>
            <p:cNvSpPr txBox="1"/>
            <p:nvPr/>
          </p:nvSpPr>
          <p:spPr>
            <a:xfrm>
              <a:off x="1652249" y="2654976"/>
              <a:ext cx="301686" cy="369332"/>
            </a:xfrm>
            <a:prstGeom prst="rect">
              <a:avLst/>
            </a:prstGeom>
            <a:noFill/>
          </p:spPr>
          <p:txBody>
            <a:bodyPr wrap="none" rtlCol="0">
              <a:spAutoFit/>
            </a:bodyPr>
            <a:lstStyle/>
            <a:p>
              <a:r>
                <a:rPr lang="en-US" dirty="0"/>
                <a:t>7</a:t>
              </a:r>
            </a:p>
          </p:txBody>
        </p:sp>
        <p:sp>
          <p:nvSpPr>
            <p:cNvPr id="14" name="TextBox 13">
              <a:extLst>
                <a:ext uri="{FF2B5EF4-FFF2-40B4-BE49-F238E27FC236}">
                  <a16:creationId xmlns:a16="http://schemas.microsoft.com/office/drawing/2014/main" id="{499A6DDB-4FAE-4482-AFBB-98407070C081}"/>
                </a:ext>
              </a:extLst>
            </p:cNvPr>
            <p:cNvSpPr txBox="1"/>
            <p:nvPr/>
          </p:nvSpPr>
          <p:spPr>
            <a:xfrm>
              <a:off x="1325319" y="3115924"/>
              <a:ext cx="418704" cy="369332"/>
            </a:xfrm>
            <a:prstGeom prst="rect">
              <a:avLst/>
            </a:prstGeom>
            <a:noFill/>
          </p:spPr>
          <p:txBody>
            <a:bodyPr wrap="none" rtlCol="0">
              <a:spAutoFit/>
            </a:bodyPr>
            <a:lstStyle/>
            <a:p>
              <a:r>
                <a:rPr lang="en-US" dirty="0"/>
                <a:t>10</a:t>
              </a:r>
            </a:p>
          </p:txBody>
        </p:sp>
        <p:sp>
          <p:nvSpPr>
            <p:cNvPr id="15" name="TextBox 14">
              <a:extLst>
                <a:ext uri="{FF2B5EF4-FFF2-40B4-BE49-F238E27FC236}">
                  <a16:creationId xmlns:a16="http://schemas.microsoft.com/office/drawing/2014/main" id="{53C22ABC-E159-4D3B-8608-45DB16A0A600}"/>
                </a:ext>
              </a:extLst>
            </p:cNvPr>
            <p:cNvSpPr txBox="1"/>
            <p:nvPr/>
          </p:nvSpPr>
          <p:spPr>
            <a:xfrm>
              <a:off x="1733264" y="3730132"/>
              <a:ext cx="301686" cy="369332"/>
            </a:xfrm>
            <a:prstGeom prst="rect">
              <a:avLst/>
            </a:prstGeom>
            <a:noFill/>
          </p:spPr>
          <p:txBody>
            <a:bodyPr wrap="none" rtlCol="0">
              <a:spAutoFit/>
            </a:bodyPr>
            <a:lstStyle/>
            <a:p>
              <a:r>
                <a:rPr lang="en-US" dirty="0"/>
                <a:t>6</a:t>
              </a:r>
            </a:p>
          </p:txBody>
        </p:sp>
      </p:grpSp>
      <p:cxnSp>
        <p:nvCxnSpPr>
          <p:cNvPr id="17" name="Straight Connector 16">
            <a:extLst>
              <a:ext uri="{FF2B5EF4-FFF2-40B4-BE49-F238E27FC236}">
                <a16:creationId xmlns:a16="http://schemas.microsoft.com/office/drawing/2014/main" id="{74BC8C93-83C5-4324-BBC8-B3E1113BE93C}"/>
              </a:ext>
            </a:extLst>
          </p:cNvPr>
          <p:cNvCxnSpPr>
            <a:stCxn id="7" idx="4"/>
            <a:endCxn id="8" idx="7"/>
          </p:cNvCxnSpPr>
          <p:nvPr/>
        </p:nvCxnSpPr>
        <p:spPr bwMode="auto">
          <a:xfrm flipH="1">
            <a:off x="2767879" y="1801410"/>
            <a:ext cx="496967" cy="487087"/>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Connector 18">
            <a:extLst>
              <a:ext uri="{FF2B5EF4-FFF2-40B4-BE49-F238E27FC236}">
                <a16:creationId xmlns:a16="http://schemas.microsoft.com/office/drawing/2014/main" id="{95F014EE-16CD-477E-A219-7F444B44C4D4}"/>
              </a:ext>
            </a:extLst>
          </p:cNvPr>
          <p:cNvCxnSpPr>
            <a:endCxn id="9" idx="1"/>
          </p:cNvCxnSpPr>
          <p:nvPr/>
        </p:nvCxnSpPr>
        <p:spPr bwMode="auto">
          <a:xfrm>
            <a:off x="3295007" y="1829714"/>
            <a:ext cx="622986" cy="379409"/>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Connector 20">
            <a:extLst>
              <a:ext uri="{FF2B5EF4-FFF2-40B4-BE49-F238E27FC236}">
                <a16:creationId xmlns:a16="http://schemas.microsoft.com/office/drawing/2014/main" id="{081F1B82-288D-438C-8D77-10F4BCE71EED}"/>
              </a:ext>
            </a:extLst>
          </p:cNvPr>
          <p:cNvCxnSpPr/>
          <p:nvPr/>
        </p:nvCxnSpPr>
        <p:spPr bwMode="auto">
          <a:xfrm>
            <a:off x="3286575" y="1801409"/>
            <a:ext cx="0" cy="1052358"/>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F5E02937-BF71-4EA8-8358-20E6C8D7E3F4}"/>
              </a:ext>
            </a:extLst>
          </p:cNvPr>
          <p:cNvCxnSpPr>
            <a:stCxn id="9" idx="3"/>
            <a:endCxn id="10" idx="0"/>
          </p:cNvCxnSpPr>
          <p:nvPr/>
        </p:nvCxnSpPr>
        <p:spPr bwMode="auto">
          <a:xfrm flipH="1">
            <a:off x="3295009" y="2533532"/>
            <a:ext cx="622985" cy="334689"/>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C3FC79CB-A5AF-43BC-ABA4-43601EABB67B}"/>
              </a:ext>
            </a:extLst>
          </p:cNvPr>
          <p:cNvSpPr txBox="1"/>
          <p:nvPr/>
        </p:nvSpPr>
        <p:spPr>
          <a:xfrm>
            <a:off x="2694127" y="2582361"/>
            <a:ext cx="301686" cy="369332"/>
          </a:xfrm>
          <a:prstGeom prst="rect">
            <a:avLst/>
          </a:prstGeom>
          <a:noFill/>
        </p:spPr>
        <p:txBody>
          <a:bodyPr wrap="none" rtlCol="0">
            <a:spAutoFit/>
          </a:bodyPr>
          <a:lstStyle/>
          <a:p>
            <a:r>
              <a:rPr lang="en-US" dirty="0"/>
              <a:t>8</a:t>
            </a:r>
          </a:p>
        </p:txBody>
      </p:sp>
      <p:sp>
        <p:nvSpPr>
          <p:cNvPr id="29" name="TextBox 28">
            <a:extLst>
              <a:ext uri="{FF2B5EF4-FFF2-40B4-BE49-F238E27FC236}">
                <a16:creationId xmlns:a16="http://schemas.microsoft.com/office/drawing/2014/main" id="{E1681F1C-21C2-4DB9-B7B6-4D1E4967624D}"/>
              </a:ext>
            </a:extLst>
          </p:cNvPr>
          <p:cNvSpPr txBox="1"/>
          <p:nvPr/>
        </p:nvSpPr>
        <p:spPr>
          <a:xfrm>
            <a:off x="1858745" y="4819799"/>
            <a:ext cx="2443874" cy="369332"/>
          </a:xfrm>
          <a:prstGeom prst="rect">
            <a:avLst/>
          </a:prstGeom>
          <a:noFill/>
        </p:spPr>
        <p:txBody>
          <a:bodyPr wrap="none" rtlCol="0">
            <a:spAutoFit/>
          </a:bodyPr>
          <a:lstStyle/>
          <a:p>
            <a:r>
              <a:rPr lang="en-US" dirty="0"/>
              <a:t>Suppose we start with B</a:t>
            </a:r>
          </a:p>
        </p:txBody>
      </p:sp>
      <p:sp>
        <p:nvSpPr>
          <p:cNvPr id="30" name="TextBox 29">
            <a:extLst>
              <a:ext uri="{FF2B5EF4-FFF2-40B4-BE49-F238E27FC236}">
                <a16:creationId xmlns:a16="http://schemas.microsoft.com/office/drawing/2014/main" id="{50F3BDE9-D112-422B-ADE9-5D32A42BE43C}"/>
              </a:ext>
            </a:extLst>
          </p:cNvPr>
          <p:cNvSpPr txBox="1"/>
          <p:nvPr/>
        </p:nvSpPr>
        <p:spPr>
          <a:xfrm>
            <a:off x="6400799" y="1282492"/>
            <a:ext cx="2315861" cy="3970318"/>
          </a:xfrm>
          <a:prstGeom prst="rect">
            <a:avLst/>
          </a:prstGeom>
          <a:noFill/>
        </p:spPr>
        <p:txBody>
          <a:bodyPr wrap="square" rtlCol="0">
            <a:spAutoFit/>
          </a:bodyPr>
          <a:lstStyle/>
          <a:p>
            <a:r>
              <a:rPr lang="en-US" u="sng" dirty="0"/>
              <a:t>T</a:t>
            </a:r>
            <a:r>
              <a:rPr lang="en-US" dirty="0"/>
              <a:t>                 </a:t>
            </a:r>
            <a:r>
              <a:rPr lang="en-US" u="sng" dirty="0"/>
              <a:t>PQ</a:t>
            </a:r>
          </a:p>
          <a:p>
            <a:r>
              <a:rPr lang="en-US" dirty="0"/>
              <a:t>B             &lt;B,A,5&gt;</a:t>
            </a:r>
          </a:p>
          <a:p>
            <a:r>
              <a:rPr lang="en-US" dirty="0"/>
              <a:t>                &lt;B,D,8&gt;</a:t>
            </a:r>
          </a:p>
          <a:p>
            <a:endParaRPr lang="en-US" dirty="0"/>
          </a:p>
          <a:p>
            <a:r>
              <a:rPr lang="en-US" dirty="0"/>
              <a:t>A              &lt;A,C,7&gt;</a:t>
            </a:r>
          </a:p>
          <a:p>
            <a:r>
              <a:rPr lang="en-US" dirty="0"/>
              <a:t>                 &lt;B,D,8&gt;</a:t>
            </a:r>
          </a:p>
          <a:p>
            <a:r>
              <a:rPr lang="en-US" dirty="0"/>
              <a:t>                 &lt;A,D,10&gt;</a:t>
            </a:r>
          </a:p>
          <a:p>
            <a:endParaRPr lang="en-US" dirty="0"/>
          </a:p>
          <a:p>
            <a:r>
              <a:rPr lang="en-US" dirty="0"/>
              <a:t>C               &lt;C,D,6&gt;</a:t>
            </a:r>
          </a:p>
          <a:p>
            <a:r>
              <a:rPr lang="en-US" dirty="0"/>
              <a:t>                  &lt;B,D,8&gt;</a:t>
            </a:r>
          </a:p>
          <a:p>
            <a:r>
              <a:rPr lang="en-US" dirty="0"/>
              <a:t>                  &lt;A,D,10&gt;</a:t>
            </a:r>
          </a:p>
          <a:p>
            <a:endParaRPr lang="en-US" dirty="0"/>
          </a:p>
          <a:p>
            <a:r>
              <a:rPr lang="en-US" dirty="0"/>
              <a:t>D                &lt;B,D,8&gt;</a:t>
            </a:r>
          </a:p>
          <a:p>
            <a:r>
              <a:rPr lang="en-US" dirty="0"/>
              <a:t>                   &lt;A,D,10&gt;</a:t>
            </a:r>
          </a:p>
        </p:txBody>
      </p:sp>
      <p:sp>
        <p:nvSpPr>
          <p:cNvPr id="39" name="TextBox 38">
            <a:extLst>
              <a:ext uri="{FF2B5EF4-FFF2-40B4-BE49-F238E27FC236}">
                <a16:creationId xmlns:a16="http://schemas.microsoft.com/office/drawing/2014/main" id="{C8446279-D212-4CD0-A709-2E17E9FE3405}"/>
              </a:ext>
            </a:extLst>
          </p:cNvPr>
          <p:cNvSpPr txBox="1"/>
          <p:nvPr/>
        </p:nvSpPr>
        <p:spPr>
          <a:xfrm>
            <a:off x="1740361" y="5446330"/>
            <a:ext cx="3233834" cy="1200329"/>
          </a:xfrm>
          <a:prstGeom prst="rect">
            <a:avLst/>
          </a:prstGeom>
          <a:noFill/>
        </p:spPr>
        <p:txBody>
          <a:bodyPr wrap="none" rtlCol="0">
            <a:spAutoFit/>
          </a:bodyPr>
          <a:lstStyle/>
          <a:p>
            <a:r>
              <a:rPr lang="en-US" dirty="0"/>
              <a:t>MST {}</a:t>
            </a:r>
          </a:p>
          <a:p>
            <a:r>
              <a:rPr lang="en-US" dirty="0"/>
              <a:t>MST { &lt;B,A,5&gt; }</a:t>
            </a:r>
          </a:p>
          <a:p>
            <a:r>
              <a:rPr lang="en-US" dirty="0"/>
              <a:t>MST { &lt;B,A,5&gt;, &lt;A,C,7&gt; }</a:t>
            </a:r>
          </a:p>
          <a:p>
            <a:r>
              <a:rPr lang="en-US" dirty="0"/>
              <a:t>MST { &lt;B,A,5&gt;, &lt;A,C,7&gt;, &lt;C,D,6&gt;}</a:t>
            </a:r>
          </a:p>
        </p:txBody>
      </p:sp>
    </p:spTree>
    <p:extLst>
      <p:ext uri="{BB962C8B-B14F-4D97-AF65-F5344CB8AC3E}">
        <p14:creationId xmlns:p14="http://schemas.microsoft.com/office/powerpoint/2010/main" val="2322413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0">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0">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bg1">
                    <a:lumMod val="85000"/>
                  </a:schemeClr>
                </a:solidFill>
              </a:rPr>
              <a:t>Review</a:t>
            </a:r>
            <a:r>
              <a:rPr lang="en-US" sz="1900" dirty="0">
                <a:solidFill>
                  <a:schemeClr val="bg1">
                    <a:lumMod val="85000"/>
                  </a:schemeClr>
                </a:solidFill>
              </a:rPr>
              <a:t>  </a:t>
            </a:r>
            <a:r>
              <a:rPr lang="en-US" sz="1900" b="1" dirty="0">
                <a:solidFill>
                  <a:schemeClr val="bg1">
                    <a:lumMod val="85000"/>
                  </a:schemeClr>
                </a:solidFill>
              </a:rPr>
              <a:t>DFS, BFS, Unweighted Shortest Paths</a:t>
            </a:r>
          </a:p>
          <a:p>
            <a:pPr marL="0" indent="0">
              <a:buNone/>
            </a:pPr>
            <a:endParaRPr lang="en-US" sz="1900" dirty="0"/>
          </a:p>
          <a:p>
            <a:r>
              <a:rPr lang="en-US" sz="1900" dirty="0">
                <a:solidFill>
                  <a:schemeClr val="bg2"/>
                </a:solidFill>
              </a:rPr>
              <a:t>Weighted </a:t>
            </a:r>
            <a:r>
              <a:rPr lang="en-US" sz="1900" dirty="0">
                <a:solidFill>
                  <a:schemeClr val="bg2"/>
                </a:solidFill>
                <a:sym typeface="Wingdings" pitchFamily="2" charset="2"/>
              </a:rPr>
              <a:t>Graphs</a:t>
            </a:r>
          </a:p>
          <a:p>
            <a:pPr marL="0" indent="0">
              <a:buNone/>
            </a:pPr>
            <a:endParaRPr lang="en-US" sz="1900" dirty="0">
              <a:sym typeface="Wingdings" pitchFamily="2" charset="2"/>
            </a:endParaRPr>
          </a:p>
          <a:p>
            <a:r>
              <a:rPr lang="en-US" sz="1900" dirty="0">
                <a:solidFill>
                  <a:schemeClr val="bg2"/>
                </a:solidFill>
                <a:sym typeface="Wingdings" pitchFamily="2" charset="2"/>
              </a:rPr>
              <a:t>Minimum Spanning Tree (MST)</a:t>
            </a:r>
          </a:p>
          <a:p>
            <a:pPr lvl="1"/>
            <a:r>
              <a:rPr lang="en-US" altLang="en-US" sz="1500" dirty="0">
                <a:solidFill>
                  <a:schemeClr val="bg2"/>
                </a:solidFill>
              </a:rPr>
              <a:t>Prim’s Algorithm </a:t>
            </a:r>
          </a:p>
          <a:p>
            <a:pPr lvl="1"/>
            <a:r>
              <a:rPr lang="en-US" sz="1500" dirty="0">
                <a:solidFill>
                  <a:srgbClr val="FF0000"/>
                </a:solidFill>
              </a:rPr>
              <a:t>Kruskal’s </a:t>
            </a:r>
            <a:r>
              <a:rPr lang="en-US" altLang="en-US" sz="1500" dirty="0">
                <a:solidFill>
                  <a:srgbClr val="FF0000"/>
                </a:solidFill>
              </a:rPr>
              <a:t>Algorithm</a:t>
            </a:r>
          </a:p>
          <a:p>
            <a:pPr lvl="1"/>
            <a:endParaRPr lang="en-US" sz="1500" dirty="0"/>
          </a:p>
          <a:p>
            <a:r>
              <a:rPr lang="en-US" sz="1900" dirty="0"/>
              <a:t>Weighted Shortest Path Problem</a:t>
            </a:r>
          </a:p>
          <a:p>
            <a:r>
              <a:rPr lang="en-US" sz="1900" dirty="0"/>
              <a:t>Dijkstra’s Algorithm</a:t>
            </a:r>
          </a:p>
          <a:p>
            <a:pPr marL="685800" lvl="2">
              <a:spcBef>
                <a:spcPts val="1000"/>
              </a:spcBef>
              <a:buFont typeface="Arial" panose="020B0604020202020204" pitchFamily="34" charset="0"/>
              <a:buChar char="•"/>
            </a:pPr>
            <a:r>
              <a:rPr lang="en-US" sz="1500" dirty="0"/>
              <a:t>Definition &amp; Examples</a:t>
            </a:r>
          </a:p>
          <a:p>
            <a:pPr marL="685800" lvl="2">
              <a:spcBef>
                <a:spcPts val="1000"/>
              </a:spcBef>
              <a:buFont typeface="Arial" panose="020B0604020202020204" pitchFamily="34" charset="0"/>
              <a:buChar char="•"/>
            </a:pPr>
            <a:r>
              <a:rPr lang="en-US" sz="1500" dirty="0"/>
              <a:t>Implementing Dijkstra’s</a:t>
            </a:r>
          </a:p>
          <a:p>
            <a:pPr marL="0" indent="0">
              <a:buNone/>
            </a:pPr>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3136694" y="3544845"/>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96431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E478D-DB05-4660-A76D-DF7C02ADEA81}"/>
              </a:ext>
            </a:extLst>
          </p:cNvPr>
          <p:cNvSpPr>
            <a:spLocks noGrp="1"/>
          </p:cNvSpPr>
          <p:nvPr>
            <p:ph type="title"/>
          </p:nvPr>
        </p:nvSpPr>
        <p:spPr/>
        <p:txBody>
          <a:bodyPr/>
          <a:lstStyle/>
          <a:p>
            <a:r>
              <a:rPr lang="en-US" dirty="0"/>
              <a:t>Kruskal’s MST</a:t>
            </a:r>
          </a:p>
        </p:txBody>
      </p:sp>
      <p:sp>
        <p:nvSpPr>
          <p:cNvPr id="3" name="Content Placeholder 2">
            <a:extLst>
              <a:ext uri="{FF2B5EF4-FFF2-40B4-BE49-F238E27FC236}">
                <a16:creationId xmlns:a16="http://schemas.microsoft.com/office/drawing/2014/main" id="{8C20F6C8-D20C-48FE-91EA-E2D9E8A9336D}"/>
              </a:ext>
            </a:extLst>
          </p:cNvPr>
          <p:cNvSpPr>
            <a:spLocks noGrp="1"/>
          </p:cNvSpPr>
          <p:nvPr>
            <p:ph idx="1"/>
          </p:nvPr>
        </p:nvSpPr>
        <p:spPr/>
        <p:txBody>
          <a:bodyPr>
            <a:normAutofit/>
          </a:bodyPr>
          <a:lstStyle/>
          <a:p>
            <a:pPr marL="514350" indent="-514350">
              <a:buFont typeface="+mj-lt"/>
              <a:buAutoNum type="arabicPeriod"/>
            </a:pPr>
            <a:r>
              <a:rPr lang="en-US" dirty="0"/>
              <a:t>Sort all the edges in non-decreasing order of their weight.</a:t>
            </a:r>
          </a:p>
          <a:p>
            <a:pPr marL="514350" indent="-514350">
              <a:buFont typeface="+mj-lt"/>
              <a:buAutoNum type="arabicPeriod"/>
            </a:pPr>
            <a:r>
              <a:rPr lang="en-US" dirty="0"/>
              <a:t>Pick the smallest edge. Check if it forms a cycle with the spanning tree formed so far. </a:t>
            </a:r>
          </a:p>
          <a:p>
            <a:pPr lvl="1"/>
            <a:r>
              <a:rPr lang="en-US" dirty="0"/>
              <a:t>If (cycle is not formed)</a:t>
            </a:r>
          </a:p>
          <a:p>
            <a:pPr marL="914400" lvl="2" indent="0">
              <a:buNone/>
            </a:pPr>
            <a:r>
              <a:rPr lang="en-US" dirty="0"/>
              <a:t>    include this edge in MST</a:t>
            </a:r>
          </a:p>
          <a:p>
            <a:pPr marL="457200" lvl="1" indent="0">
              <a:buNone/>
            </a:pPr>
            <a:r>
              <a:rPr lang="en-US" dirty="0"/>
              <a:t>    else</a:t>
            </a:r>
          </a:p>
          <a:p>
            <a:pPr marL="457200" lvl="1" indent="0">
              <a:buNone/>
            </a:pPr>
            <a:r>
              <a:rPr lang="en-US" dirty="0"/>
              <a:t>	   discard it.</a:t>
            </a:r>
          </a:p>
          <a:p>
            <a:pPr marL="571500" indent="-514350">
              <a:buFont typeface="+mj-lt"/>
              <a:buAutoNum type="arabicPeriod"/>
            </a:pPr>
            <a:r>
              <a:rPr lang="en-US" dirty="0"/>
              <a:t>Repeat step # 2 until there are (V-1) edges in the spanning tree.</a:t>
            </a:r>
          </a:p>
        </p:txBody>
      </p:sp>
      <p:sp>
        <p:nvSpPr>
          <p:cNvPr id="4" name="Slide Number Placeholder 3">
            <a:extLst>
              <a:ext uri="{FF2B5EF4-FFF2-40B4-BE49-F238E27FC236}">
                <a16:creationId xmlns:a16="http://schemas.microsoft.com/office/drawing/2014/main" id="{FB01E4CB-F2BD-4A39-AA04-E32E5A52FAEA}"/>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fld id="{6BB22796-5329-4D7E-880B-95B0A70ABA06}" type="slidenum">
              <a:rPr lang="en-US" altLang="en-US" smtClean="0"/>
              <a:pPr>
                <a:defRPr/>
              </a:pPr>
              <a:t>26</a:t>
            </a:fld>
            <a:endParaRPr lang="en-US" altLang="en-US"/>
          </a:p>
        </p:txBody>
      </p:sp>
    </p:spTree>
    <p:extLst>
      <p:ext uri="{BB962C8B-B14F-4D97-AF65-F5344CB8AC3E}">
        <p14:creationId xmlns:p14="http://schemas.microsoft.com/office/powerpoint/2010/main" val="3377968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4929-E6C3-4560-9A87-39CFFAB3B713}"/>
              </a:ext>
            </a:extLst>
          </p:cNvPr>
          <p:cNvSpPr>
            <a:spLocks noGrp="1"/>
          </p:cNvSpPr>
          <p:nvPr>
            <p:ph type="title"/>
          </p:nvPr>
        </p:nvSpPr>
        <p:spPr/>
        <p:txBody>
          <a:bodyPr/>
          <a:lstStyle/>
          <a:p>
            <a:r>
              <a:rPr lang="en-US" dirty="0">
                <a:solidFill>
                  <a:srgbClr val="FF0000"/>
                </a:solidFill>
                <a:hlinkClick r:id="rId3">
                  <a:extLst>
                    <a:ext uri="{A12FA001-AC4F-418D-AE19-62706E023703}">
                      <ahyp:hlinkClr xmlns:ahyp="http://schemas.microsoft.com/office/drawing/2018/hyperlinkcolor" val="tx"/>
                    </a:ext>
                  </a:extLst>
                </a:hlinkClick>
              </a:rPr>
              <a:t>Kruskal’s MST</a:t>
            </a:r>
            <a:endParaRPr lang="en-US" dirty="0">
              <a:solidFill>
                <a:srgbClr val="FF0000"/>
              </a:solidFill>
            </a:endParaRPr>
          </a:p>
        </p:txBody>
      </p:sp>
      <p:pic>
        <p:nvPicPr>
          <p:cNvPr id="7" name="Content Placeholder 6" descr="A picture containing text, watch, clock&#10;&#10;Description automatically generated">
            <a:extLst>
              <a:ext uri="{FF2B5EF4-FFF2-40B4-BE49-F238E27FC236}">
                <a16:creationId xmlns:a16="http://schemas.microsoft.com/office/drawing/2014/main" id="{CDAE2C06-40D6-48F2-AA37-0F1A4D7B1381}"/>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2362200" y="2209801"/>
            <a:ext cx="4114800" cy="2166937"/>
          </a:xfrm>
        </p:spPr>
      </p:pic>
      <p:sp>
        <p:nvSpPr>
          <p:cNvPr id="5" name="Slide Number Placeholder 4">
            <a:extLst>
              <a:ext uri="{FF2B5EF4-FFF2-40B4-BE49-F238E27FC236}">
                <a16:creationId xmlns:a16="http://schemas.microsoft.com/office/drawing/2014/main" id="{5E74D877-90B6-44A3-B020-596147C2FB7E}"/>
              </a:ext>
            </a:extLst>
          </p:cNvPr>
          <p:cNvSpPr>
            <a:spLocks noGrp="1"/>
          </p:cNvSpPr>
          <p:nvPr>
            <p:ph type="sldNum" sz="quarter" idx="11"/>
          </p:nvPr>
        </p:nvSpPr>
        <p:spPr/>
        <p:txBody>
          <a:bodyPr/>
          <a:lstStyle/>
          <a:p>
            <a:pPr>
              <a:defRPr/>
            </a:pPr>
            <a:fld id="{B8DA497F-1DE2-4DD7-A528-08024541998A}" type="slidenum">
              <a:rPr lang="en-US" altLang="en-US" smtClean="0"/>
              <a:pPr>
                <a:defRPr/>
              </a:pPr>
              <a:t>27</a:t>
            </a:fld>
            <a:endParaRPr lang="en-US" altLang="en-US"/>
          </a:p>
        </p:txBody>
      </p:sp>
      <p:sp>
        <p:nvSpPr>
          <p:cNvPr id="9" name="Content Placeholder 8">
            <a:extLst>
              <a:ext uri="{FF2B5EF4-FFF2-40B4-BE49-F238E27FC236}">
                <a16:creationId xmlns:a16="http://schemas.microsoft.com/office/drawing/2014/main" id="{491226EB-67F4-4747-A64C-6A01CCB4EAEE}"/>
              </a:ext>
            </a:extLst>
          </p:cNvPr>
          <p:cNvSpPr>
            <a:spLocks noGrp="1"/>
          </p:cNvSpPr>
          <p:nvPr>
            <p:ph sz="half" idx="2"/>
          </p:nvPr>
        </p:nvSpPr>
        <p:spPr>
          <a:xfrm>
            <a:off x="6705600" y="1657350"/>
            <a:ext cx="3810000" cy="4114800"/>
          </a:xfrm>
        </p:spPr>
        <p:txBody>
          <a:bodyPr>
            <a:normAutofit fontScale="40000" lnSpcReduction="20000"/>
          </a:bodyPr>
          <a:lstStyle/>
          <a:p>
            <a:r>
              <a:rPr lang="en-US" dirty="0"/>
              <a:t>After sorting</a:t>
            </a:r>
          </a:p>
          <a:p>
            <a:pPr marL="0" indent="0">
              <a:buNone/>
            </a:pPr>
            <a:r>
              <a:rPr lang="en-US" dirty="0"/>
              <a:t>Weight	</a:t>
            </a:r>
            <a:r>
              <a:rPr lang="en-US" dirty="0" err="1"/>
              <a:t>src</a:t>
            </a:r>
            <a:r>
              <a:rPr lang="en-US" dirty="0"/>
              <a:t>	</a:t>
            </a:r>
            <a:r>
              <a:rPr lang="en-US" dirty="0" err="1"/>
              <a:t>dest</a:t>
            </a:r>
            <a:endParaRPr lang="en-US" dirty="0"/>
          </a:p>
          <a:p>
            <a:pPr marL="0" indent="0">
              <a:buNone/>
            </a:pPr>
            <a:r>
              <a:rPr lang="en-US" dirty="0"/>
              <a:t>1	7	6</a:t>
            </a:r>
          </a:p>
          <a:p>
            <a:pPr marL="0" indent="0">
              <a:buNone/>
            </a:pPr>
            <a:r>
              <a:rPr lang="en-US" dirty="0"/>
              <a:t>2	8	2</a:t>
            </a:r>
          </a:p>
          <a:p>
            <a:pPr marL="0" indent="0">
              <a:buNone/>
            </a:pPr>
            <a:r>
              <a:rPr lang="en-US" dirty="0"/>
              <a:t>2	6	5</a:t>
            </a:r>
          </a:p>
          <a:p>
            <a:pPr marL="0" indent="0">
              <a:buNone/>
            </a:pPr>
            <a:r>
              <a:rPr lang="en-US" dirty="0"/>
              <a:t>4	0	1</a:t>
            </a:r>
          </a:p>
          <a:p>
            <a:pPr marL="0" indent="0">
              <a:buNone/>
            </a:pPr>
            <a:r>
              <a:rPr lang="en-US" dirty="0"/>
              <a:t>4	2	5</a:t>
            </a:r>
          </a:p>
          <a:p>
            <a:pPr marL="0" indent="0">
              <a:buNone/>
            </a:pPr>
            <a:r>
              <a:rPr lang="en-US" dirty="0"/>
              <a:t>6	8	6</a:t>
            </a:r>
          </a:p>
          <a:p>
            <a:pPr marL="0" indent="0">
              <a:buNone/>
            </a:pPr>
            <a:r>
              <a:rPr lang="en-US" dirty="0"/>
              <a:t>7	2	3</a:t>
            </a:r>
          </a:p>
          <a:p>
            <a:pPr marL="0" indent="0">
              <a:buNone/>
            </a:pPr>
            <a:r>
              <a:rPr lang="en-US" dirty="0"/>
              <a:t>7	7	8</a:t>
            </a:r>
          </a:p>
          <a:p>
            <a:pPr marL="0" indent="0">
              <a:buNone/>
            </a:pPr>
            <a:r>
              <a:rPr lang="en-US" dirty="0"/>
              <a:t>8	0	7</a:t>
            </a:r>
          </a:p>
          <a:p>
            <a:pPr marL="0" indent="0">
              <a:buNone/>
            </a:pPr>
            <a:r>
              <a:rPr lang="en-US" dirty="0"/>
              <a:t>8	1	2</a:t>
            </a:r>
          </a:p>
          <a:p>
            <a:pPr marL="0" indent="0">
              <a:buNone/>
            </a:pPr>
            <a:r>
              <a:rPr lang="en-US" dirty="0"/>
              <a:t>9	3	4</a:t>
            </a:r>
          </a:p>
          <a:p>
            <a:pPr marL="0" indent="0">
              <a:buNone/>
            </a:pPr>
            <a:r>
              <a:rPr lang="en-US" dirty="0"/>
              <a:t>10	5	4</a:t>
            </a:r>
          </a:p>
          <a:p>
            <a:pPr marL="0" indent="0">
              <a:buNone/>
            </a:pPr>
            <a:r>
              <a:rPr lang="en-US" dirty="0"/>
              <a:t>11	1	7</a:t>
            </a:r>
          </a:p>
          <a:p>
            <a:pPr marL="0" indent="0">
              <a:buNone/>
            </a:pPr>
            <a:r>
              <a:rPr lang="en-US" dirty="0"/>
              <a:t>14	3	5</a:t>
            </a:r>
          </a:p>
        </p:txBody>
      </p:sp>
    </p:spTree>
    <p:extLst>
      <p:ext uri="{BB962C8B-B14F-4D97-AF65-F5344CB8AC3E}">
        <p14:creationId xmlns:p14="http://schemas.microsoft.com/office/powerpoint/2010/main" val="2579376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68E7-878F-4D1B-A526-8F03AA8EA959}"/>
              </a:ext>
            </a:extLst>
          </p:cNvPr>
          <p:cNvSpPr>
            <a:spLocks noGrp="1"/>
          </p:cNvSpPr>
          <p:nvPr>
            <p:ph type="title"/>
          </p:nvPr>
        </p:nvSpPr>
        <p:spPr>
          <a:xfrm>
            <a:off x="2209800" y="285750"/>
            <a:ext cx="7772400" cy="933450"/>
          </a:xfrm>
        </p:spPr>
        <p:txBody>
          <a:bodyPr>
            <a:normAutofit fontScale="90000"/>
          </a:bodyPr>
          <a:lstStyle/>
          <a:p>
            <a:br>
              <a:rPr lang="en-US" sz="2700" dirty="0"/>
            </a:br>
            <a:br>
              <a:rPr lang="en-US" sz="2700" dirty="0"/>
            </a:br>
            <a:r>
              <a:rPr lang="en-US" sz="2700" dirty="0"/>
              <a:t>Step # 2 (Cycle Detection)</a:t>
            </a:r>
            <a:br>
              <a:rPr lang="en-US" sz="2700" dirty="0"/>
            </a:br>
            <a:r>
              <a:rPr lang="en-US" sz="2700" dirty="0"/>
              <a:t>Union-Find algorithm</a:t>
            </a:r>
            <a:br>
              <a:rPr lang="en-US" dirty="0"/>
            </a:br>
            <a:endParaRPr lang="en-US" dirty="0"/>
          </a:p>
        </p:txBody>
      </p:sp>
      <p:sp>
        <p:nvSpPr>
          <p:cNvPr id="3" name="Content Placeholder 2">
            <a:extLst>
              <a:ext uri="{FF2B5EF4-FFF2-40B4-BE49-F238E27FC236}">
                <a16:creationId xmlns:a16="http://schemas.microsoft.com/office/drawing/2014/main" id="{DC7CA39A-9A70-40AE-AC68-9E8789338D6A}"/>
              </a:ext>
            </a:extLst>
          </p:cNvPr>
          <p:cNvSpPr>
            <a:spLocks noGrp="1"/>
          </p:cNvSpPr>
          <p:nvPr>
            <p:ph idx="1"/>
          </p:nvPr>
        </p:nvSpPr>
        <p:spPr/>
        <p:txBody>
          <a:bodyPr>
            <a:normAutofit/>
          </a:bodyPr>
          <a:lstStyle/>
          <a:p>
            <a:r>
              <a:rPr lang="en-US" b="0" i="0" dirty="0">
                <a:solidFill>
                  <a:srgbClr val="40424E"/>
                </a:solidFill>
                <a:effectLst/>
                <a:latin typeface="urw-din"/>
              </a:rPr>
              <a:t>A </a:t>
            </a:r>
            <a:r>
              <a:rPr lang="en-US" b="0" i="1" u="sng" dirty="0">
                <a:solidFill>
                  <a:srgbClr val="FF0000"/>
                </a:solidFill>
                <a:effectLst/>
                <a:latin typeface="urw-din"/>
                <a:hlinkClick r:id="rId3">
                  <a:extLst>
                    <a:ext uri="{A12FA001-AC4F-418D-AE19-62706E023703}">
                      <ahyp:hlinkClr xmlns:ahyp="http://schemas.microsoft.com/office/drawing/2018/hyperlinkcolor" val="tx"/>
                    </a:ext>
                  </a:extLst>
                </a:hlinkClick>
              </a:rPr>
              <a:t>disjoint-set data structure</a:t>
            </a:r>
            <a:r>
              <a:rPr lang="en-US" b="0" i="0" dirty="0">
                <a:solidFill>
                  <a:srgbClr val="FF0000"/>
                </a:solidFill>
                <a:effectLst/>
                <a:latin typeface="urw-din"/>
              </a:rPr>
              <a:t> </a:t>
            </a:r>
            <a:r>
              <a:rPr lang="en-US" b="0" i="0" dirty="0">
                <a:solidFill>
                  <a:srgbClr val="40424E"/>
                </a:solidFill>
                <a:effectLst/>
                <a:latin typeface="urw-din"/>
              </a:rPr>
              <a:t>is a data structure that keeps track of a set of elements partitioned into a number of disjoint (non-overlapping) subsets.</a:t>
            </a:r>
          </a:p>
          <a:p>
            <a:r>
              <a:rPr lang="en-US" b="0" i="0" dirty="0">
                <a:solidFill>
                  <a:srgbClr val="40424E"/>
                </a:solidFill>
                <a:effectLst/>
                <a:latin typeface="urw-din"/>
              </a:rPr>
              <a:t>A </a:t>
            </a:r>
            <a:r>
              <a:rPr lang="en-US" b="0" i="1" u="sng" dirty="0">
                <a:solidFill>
                  <a:srgbClr val="FF0000"/>
                </a:solidFill>
                <a:effectLst/>
                <a:latin typeface="urw-din"/>
                <a:hlinkClick r:id="rId3">
                  <a:extLst>
                    <a:ext uri="{A12FA001-AC4F-418D-AE19-62706E023703}">
                      <ahyp:hlinkClr xmlns:ahyp="http://schemas.microsoft.com/office/drawing/2018/hyperlinkcolor" val="tx"/>
                    </a:ext>
                  </a:extLst>
                </a:hlinkClick>
              </a:rPr>
              <a:t>union-find algorithm</a:t>
            </a:r>
            <a:r>
              <a:rPr lang="en-US" b="0" i="0" dirty="0">
                <a:solidFill>
                  <a:srgbClr val="FF0000"/>
                </a:solidFill>
                <a:effectLst/>
                <a:latin typeface="urw-din"/>
              </a:rPr>
              <a:t> </a:t>
            </a:r>
            <a:r>
              <a:rPr lang="en-US" b="0" i="0" dirty="0">
                <a:solidFill>
                  <a:srgbClr val="40424E"/>
                </a:solidFill>
                <a:effectLst/>
                <a:latin typeface="urw-din"/>
              </a:rPr>
              <a:t>is an algorithm that performs two useful operations on such a data structure:</a:t>
            </a:r>
          </a:p>
          <a:p>
            <a:pPr lvl="1"/>
            <a:r>
              <a:rPr lang="en-US" b="1" i="1" dirty="0">
                <a:solidFill>
                  <a:srgbClr val="40424E"/>
                </a:solidFill>
                <a:effectLst/>
                <a:latin typeface="urw-din"/>
              </a:rPr>
              <a:t>Find:</a:t>
            </a:r>
            <a:r>
              <a:rPr lang="en-US" b="0" i="0" dirty="0">
                <a:solidFill>
                  <a:srgbClr val="40424E"/>
                </a:solidFill>
                <a:effectLst/>
                <a:latin typeface="urw-din"/>
              </a:rPr>
              <a:t> Determine which subset a particular element is in. This can be used for determining if two elements are in the same subset.</a:t>
            </a:r>
          </a:p>
          <a:p>
            <a:pPr lvl="1"/>
            <a:r>
              <a:rPr lang="en-US" b="1" i="1" dirty="0">
                <a:solidFill>
                  <a:srgbClr val="40424E"/>
                </a:solidFill>
                <a:effectLst/>
                <a:latin typeface="urw-din"/>
              </a:rPr>
              <a:t>Union:</a:t>
            </a:r>
            <a:r>
              <a:rPr lang="en-US" b="0" i="0" dirty="0">
                <a:solidFill>
                  <a:srgbClr val="40424E"/>
                </a:solidFill>
                <a:effectLst/>
                <a:latin typeface="urw-din"/>
              </a:rPr>
              <a:t> Join two subsets into a single subset.</a:t>
            </a:r>
            <a:endParaRPr lang="en-US" dirty="0"/>
          </a:p>
        </p:txBody>
      </p:sp>
      <p:sp>
        <p:nvSpPr>
          <p:cNvPr id="4" name="Slide Number Placeholder 3">
            <a:extLst>
              <a:ext uri="{FF2B5EF4-FFF2-40B4-BE49-F238E27FC236}">
                <a16:creationId xmlns:a16="http://schemas.microsoft.com/office/drawing/2014/main" id="{D6EAAECA-1297-4329-8201-B4578961CD9B}"/>
              </a:ext>
            </a:extLst>
          </p:cNvPr>
          <p:cNvSpPr>
            <a:spLocks noGrp="1"/>
          </p:cNvSpPr>
          <p:nvPr>
            <p:ph type="sldNum" sz="quarter" idx="11"/>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pPr>
              <a:defRPr/>
            </a:pPr>
            <a:fld id="{6BB22796-5329-4D7E-880B-95B0A70ABA06}" type="slidenum">
              <a:rPr lang="en-US" altLang="en-US" smtClean="0"/>
              <a:pPr>
                <a:defRPr/>
              </a:pPr>
              <a:t>28</a:t>
            </a:fld>
            <a:endParaRPr lang="en-US" altLang="en-US"/>
          </a:p>
        </p:txBody>
      </p:sp>
    </p:spTree>
    <p:extLst>
      <p:ext uri="{BB962C8B-B14F-4D97-AF65-F5344CB8AC3E}">
        <p14:creationId xmlns:p14="http://schemas.microsoft.com/office/powerpoint/2010/main" val="3714808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bg1">
                    <a:lumMod val="85000"/>
                  </a:schemeClr>
                </a:solidFill>
              </a:rPr>
              <a:t>Review</a:t>
            </a:r>
            <a:r>
              <a:rPr lang="en-US" sz="1900" dirty="0">
                <a:solidFill>
                  <a:schemeClr val="bg1">
                    <a:lumMod val="85000"/>
                  </a:schemeClr>
                </a:solidFill>
              </a:rPr>
              <a:t>  </a:t>
            </a:r>
            <a:r>
              <a:rPr lang="en-US" sz="1900" b="1" dirty="0">
                <a:solidFill>
                  <a:schemeClr val="bg1">
                    <a:lumMod val="85000"/>
                  </a:schemeClr>
                </a:solidFill>
              </a:rPr>
              <a:t>DFS, BFS, Unweighted Shortest Paths</a:t>
            </a:r>
          </a:p>
          <a:p>
            <a:pPr marL="0" indent="0">
              <a:buNone/>
            </a:pPr>
            <a:endParaRPr lang="en-US" sz="1900" dirty="0"/>
          </a:p>
          <a:p>
            <a:r>
              <a:rPr lang="en-US" sz="1900" dirty="0">
                <a:solidFill>
                  <a:schemeClr val="bg2"/>
                </a:solidFill>
              </a:rPr>
              <a:t>Weighted </a:t>
            </a:r>
            <a:r>
              <a:rPr lang="en-US" sz="1900" dirty="0">
                <a:solidFill>
                  <a:schemeClr val="bg2"/>
                </a:solidFill>
                <a:sym typeface="Wingdings" pitchFamily="2" charset="2"/>
              </a:rPr>
              <a:t>Graphs</a:t>
            </a:r>
          </a:p>
          <a:p>
            <a:pPr marL="0" indent="0">
              <a:buNone/>
            </a:pPr>
            <a:endParaRPr lang="en-US" sz="1900" dirty="0">
              <a:sym typeface="Wingdings" pitchFamily="2" charset="2"/>
            </a:endParaRPr>
          </a:p>
          <a:p>
            <a:r>
              <a:rPr lang="en-US" sz="1900" dirty="0">
                <a:solidFill>
                  <a:schemeClr val="bg2"/>
                </a:solidFill>
                <a:sym typeface="Wingdings" pitchFamily="2" charset="2"/>
              </a:rPr>
              <a:t>Minimum Spanning Tree (MST)</a:t>
            </a:r>
          </a:p>
          <a:p>
            <a:pPr lvl="1"/>
            <a:r>
              <a:rPr lang="en-US" altLang="en-US" sz="1500" dirty="0">
                <a:solidFill>
                  <a:schemeClr val="bg2"/>
                </a:solidFill>
              </a:rPr>
              <a:t>Prim’s Algorithm </a:t>
            </a:r>
          </a:p>
          <a:p>
            <a:pPr lvl="1"/>
            <a:r>
              <a:rPr lang="en-US" sz="1500" dirty="0">
                <a:solidFill>
                  <a:schemeClr val="bg2"/>
                </a:solidFill>
              </a:rPr>
              <a:t>Kruskal’s </a:t>
            </a:r>
            <a:r>
              <a:rPr lang="en-US" altLang="en-US" sz="1500" dirty="0">
                <a:solidFill>
                  <a:schemeClr val="bg2"/>
                </a:solidFill>
              </a:rPr>
              <a:t>Algorithm</a:t>
            </a:r>
          </a:p>
          <a:p>
            <a:pPr lvl="1"/>
            <a:endParaRPr lang="en-US" sz="1500" dirty="0"/>
          </a:p>
          <a:p>
            <a:r>
              <a:rPr lang="en-US" sz="1900" dirty="0">
                <a:solidFill>
                  <a:srgbClr val="FF0000"/>
                </a:solidFill>
              </a:rPr>
              <a:t>Weighted Shortest Path Problem</a:t>
            </a:r>
          </a:p>
          <a:p>
            <a:r>
              <a:rPr lang="en-US" sz="1900" dirty="0"/>
              <a:t>Dijkstra’s Algorithm</a:t>
            </a:r>
          </a:p>
          <a:p>
            <a:pPr marL="685800" lvl="2">
              <a:spcBef>
                <a:spcPts val="1000"/>
              </a:spcBef>
              <a:buFont typeface="Arial" panose="020B0604020202020204" pitchFamily="34" charset="0"/>
              <a:buChar char="•"/>
            </a:pPr>
            <a:r>
              <a:rPr lang="en-US" sz="1500" dirty="0"/>
              <a:t>Definition &amp; Examples</a:t>
            </a:r>
          </a:p>
          <a:p>
            <a:pPr marL="685800" lvl="2">
              <a:spcBef>
                <a:spcPts val="1000"/>
              </a:spcBef>
              <a:buFont typeface="Arial" panose="020B0604020202020204" pitchFamily="34" charset="0"/>
              <a:buChar char="•"/>
            </a:pPr>
            <a:r>
              <a:rPr lang="en-US" sz="1500" dirty="0"/>
              <a:t>Implementing Dijkstra’s</a:t>
            </a:r>
          </a:p>
          <a:p>
            <a:pPr marL="0" indent="0">
              <a:buNone/>
            </a:pPr>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4463323" y="4181927"/>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0550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8118B-6657-2A49-A341-1A06A6F50C7B}"/>
              </a:ext>
            </a:extLst>
          </p:cNvPr>
          <p:cNvSpPr>
            <a:spLocks noGrp="1"/>
          </p:cNvSpPr>
          <p:nvPr>
            <p:ph type="title"/>
          </p:nvPr>
        </p:nvSpPr>
        <p:spPr/>
        <p:txBody>
          <a:bodyPr/>
          <a:lstStyle/>
          <a:p>
            <a:r>
              <a:rPr lang="en-US" dirty="0"/>
              <a:t>Our Graph Problem Collection</a:t>
            </a:r>
          </a:p>
        </p:txBody>
      </p:sp>
      <p:grpSp>
        <p:nvGrpSpPr>
          <p:cNvPr id="4" name="Group 3">
            <a:extLst>
              <a:ext uri="{FF2B5EF4-FFF2-40B4-BE49-F238E27FC236}">
                <a16:creationId xmlns:a16="http://schemas.microsoft.com/office/drawing/2014/main" id="{568A94B9-3C3C-A647-BE0A-23AFB41EED4A}"/>
              </a:ext>
            </a:extLst>
          </p:cNvPr>
          <p:cNvGrpSpPr/>
          <p:nvPr/>
        </p:nvGrpSpPr>
        <p:grpSpPr>
          <a:xfrm>
            <a:off x="668204" y="2469826"/>
            <a:ext cx="3383617" cy="1750843"/>
            <a:chOff x="1200498" y="1542028"/>
            <a:chExt cx="4815838" cy="1340815"/>
          </a:xfrm>
        </p:grpSpPr>
        <p:sp>
          <p:nvSpPr>
            <p:cNvPr id="5" name="Rectangle 4">
              <a:extLst>
                <a:ext uri="{FF2B5EF4-FFF2-40B4-BE49-F238E27FC236}">
                  <a16:creationId xmlns:a16="http://schemas.microsoft.com/office/drawing/2014/main" id="{D44C6D22-BF80-9843-A0CA-3132B063BE72}"/>
                </a:ext>
              </a:extLst>
            </p:cNvPr>
            <p:cNvSpPr/>
            <p:nvPr/>
          </p:nvSpPr>
          <p:spPr>
            <a:xfrm>
              <a:off x="1200498" y="1542028"/>
              <a:ext cx="4815838" cy="13408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 name="Rectangle 5">
              <a:extLst>
                <a:ext uri="{FF2B5EF4-FFF2-40B4-BE49-F238E27FC236}">
                  <a16:creationId xmlns:a16="http://schemas.microsoft.com/office/drawing/2014/main" id="{02D1EB5A-E771-4D49-A46B-F5B4A68A86B6}"/>
                </a:ext>
              </a:extLst>
            </p:cNvPr>
            <p:cNvSpPr/>
            <p:nvPr/>
          </p:nvSpPr>
          <p:spPr>
            <a:xfrm>
              <a:off x="1200498" y="1546719"/>
              <a:ext cx="4815838" cy="48235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s-t Connectivity Problem</a:t>
              </a:r>
            </a:p>
          </p:txBody>
        </p:sp>
        <p:sp>
          <p:nvSpPr>
            <p:cNvPr id="7" name="Rectangle 6">
              <a:extLst>
                <a:ext uri="{FF2B5EF4-FFF2-40B4-BE49-F238E27FC236}">
                  <a16:creationId xmlns:a16="http://schemas.microsoft.com/office/drawing/2014/main" id="{7C07586C-AEA1-DA40-BBAB-AAF37A8F8A6A}"/>
                </a:ext>
              </a:extLst>
            </p:cNvPr>
            <p:cNvSpPr/>
            <p:nvPr/>
          </p:nvSpPr>
          <p:spPr>
            <a:xfrm>
              <a:off x="1200498" y="2105477"/>
              <a:ext cx="4815838" cy="707096"/>
            </a:xfrm>
            <a:prstGeom prst="rect">
              <a:avLst/>
            </a:prstGeom>
          </p:spPr>
          <p:txBody>
            <a:bodyPr wrap="square">
              <a:spAutoFit/>
            </a:bodyPr>
            <a:lstStyle/>
            <a:p>
              <a:pPr algn="ctr">
                <a:spcBef>
                  <a:spcPts val="1067"/>
                </a:spcBef>
                <a:spcAft>
                  <a:spcPts val="1067"/>
                </a:spcAft>
              </a:pPr>
              <a:r>
                <a:rPr lang="en-US" dirty="0">
                  <a:solidFill>
                    <a:schemeClr val="bg1"/>
                  </a:solidFill>
                </a:rPr>
                <a:t>Given source vertex </a:t>
              </a:r>
              <a:r>
                <a:rPr lang="en-US" b="1" dirty="0">
                  <a:solidFill>
                    <a:schemeClr val="bg1"/>
                  </a:solidFill>
                </a:rPr>
                <a:t>s</a:t>
              </a:r>
              <a:r>
                <a:rPr lang="en-US" dirty="0">
                  <a:solidFill>
                    <a:schemeClr val="bg1"/>
                  </a:solidFill>
                </a:rPr>
                <a:t> and a target vertex </a:t>
              </a:r>
              <a:r>
                <a:rPr lang="en-US" b="1" dirty="0">
                  <a:solidFill>
                    <a:schemeClr val="bg1"/>
                  </a:solidFill>
                </a:rPr>
                <a:t>t</a:t>
              </a:r>
              <a:r>
                <a:rPr lang="en-US" dirty="0">
                  <a:solidFill>
                    <a:schemeClr val="bg1"/>
                  </a:solidFill>
                </a:rPr>
                <a:t>, does there exist a path from </a:t>
              </a:r>
              <a:r>
                <a:rPr lang="en-US" b="1" dirty="0">
                  <a:solidFill>
                    <a:schemeClr val="bg1"/>
                  </a:solidFill>
                </a:rPr>
                <a:t>s</a:t>
              </a:r>
              <a:r>
                <a:rPr lang="en-US" dirty="0">
                  <a:solidFill>
                    <a:schemeClr val="bg1"/>
                  </a:solidFill>
                </a:rPr>
                <a:t> to </a:t>
              </a:r>
              <a:r>
                <a:rPr lang="en-US" b="1" dirty="0">
                  <a:solidFill>
                    <a:schemeClr val="bg1"/>
                  </a:solidFill>
                </a:rPr>
                <a:t>t</a:t>
              </a:r>
              <a:r>
                <a:rPr lang="en-US" dirty="0">
                  <a:solidFill>
                    <a:schemeClr val="bg1"/>
                  </a:solidFill>
                </a:rPr>
                <a:t>?</a:t>
              </a:r>
            </a:p>
          </p:txBody>
        </p:sp>
      </p:grpSp>
      <p:grpSp>
        <p:nvGrpSpPr>
          <p:cNvPr id="8" name="Group 7">
            <a:extLst>
              <a:ext uri="{FF2B5EF4-FFF2-40B4-BE49-F238E27FC236}">
                <a16:creationId xmlns:a16="http://schemas.microsoft.com/office/drawing/2014/main" id="{0F0ED098-1EF0-024D-ACED-4F0E1007CC36}"/>
              </a:ext>
            </a:extLst>
          </p:cNvPr>
          <p:cNvGrpSpPr/>
          <p:nvPr/>
        </p:nvGrpSpPr>
        <p:grpSpPr>
          <a:xfrm>
            <a:off x="4410632" y="2186848"/>
            <a:ext cx="3383620" cy="2316801"/>
            <a:chOff x="1200495" y="1542028"/>
            <a:chExt cx="4815841" cy="854326"/>
          </a:xfrm>
        </p:grpSpPr>
        <p:sp>
          <p:nvSpPr>
            <p:cNvPr id="9" name="Rectangle 8">
              <a:extLst>
                <a:ext uri="{FF2B5EF4-FFF2-40B4-BE49-F238E27FC236}">
                  <a16:creationId xmlns:a16="http://schemas.microsoft.com/office/drawing/2014/main" id="{BEF38072-E630-694B-B06C-B03260858D51}"/>
                </a:ext>
              </a:extLst>
            </p:cNvPr>
            <p:cNvSpPr/>
            <p:nvPr/>
          </p:nvSpPr>
          <p:spPr>
            <a:xfrm>
              <a:off x="1200498" y="1542028"/>
              <a:ext cx="4815838" cy="85432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0" name="Rectangle 9">
              <a:extLst>
                <a:ext uri="{FF2B5EF4-FFF2-40B4-BE49-F238E27FC236}">
                  <a16:creationId xmlns:a16="http://schemas.microsoft.com/office/drawing/2014/main" id="{E41DE39B-16C2-BE49-955B-93BC0CB23286}"/>
                </a:ext>
              </a:extLst>
            </p:cNvPr>
            <p:cNvSpPr/>
            <p:nvPr/>
          </p:nvSpPr>
          <p:spPr>
            <a:xfrm>
              <a:off x="1200498" y="1546719"/>
              <a:ext cx="4815838" cy="22866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Unweighted Shortest Path Problem</a:t>
              </a:r>
            </a:p>
          </p:txBody>
        </p:sp>
        <p:sp>
          <p:nvSpPr>
            <p:cNvPr id="11" name="Rectangle 10">
              <a:extLst>
                <a:ext uri="{FF2B5EF4-FFF2-40B4-BE49-F238E27FC236}">
                  <a16:creationId xmlns:a16="http://schemas.microsoft.com/office/drawing/2014/main" id="{FFE19703-4EE4-8E43-BFC0-1D81AC5D8E29}"/>
                </a:ext>
              </a:extLst>
            </p:cNvPr>
            <p:cNvSpPr/>
            <p:nvPr/>
          </p:nvSpPr>
          <p:spPr>
            <a:xfrm>
              <a:off x="1200495" y="1812579"/>
              <a:ext cx="4815838" cy="544768"/>
            </a:xfrm>
            <a:prstGeom prst="rect">
              <a:avLst/>
            </a:prstGeom>
          </p:spPr>
          <p:txBody>
            <a:bodyPr wrap="square">
              <a:spAutoFit/>
            </a:bodyPr>
            <a:lstStyle/>
            <a:p>
              <a:pPr algn="ctr">
                <a:spcBef>
                  <a:spcPts val="1067"/>
                </a:spcBef>
                <a:spcAft>
                  <a:spcPts val="1067"/>
                </a:spcAft>
              </a:pPr>
              <a:r>
                <a:rPr lang="en-US" dirty="0">
                  <a:solidFill>
                    <a:schemeClr val="bg1"/>
                  </a:solidFill>
                </a:rPr>
                <a:t>Given source vertex </a:t>
              </a:r>
              <a:r>
                <a:rPr lang="en-US" b="1" dirty="0">
                  <a:solidFill>
                    <a:schemeClr val="bg1"/>
                  </a:solidFill>
                </a:rPr>
                <a:t>s</a:t>
              </a:r>
              <a:r>
                <a:rPr lang="en-US" dirty="0">
                  <a:solidFill>
                    <a:schemeClr val="bg1"/>
                  </a:solidFill>
                </a:rPr>
                <a:t> and target vertex </a:t>
              </a:r>
              <a:r>
                <a:rPr lang="en-US" b="1" dirty="0">
                  <a:solidFill>
                    <a:schemeClr val="bg1"/>
                  </a:solidFill>
                </a:rPr>
                <a:t>t</a:t>
              </a:r>
              <a:r>
                <a:rPr lang="en-US" dirty="0">
                  <a:solidFill>
                    <a:schemeClr val="bg1"/>
                  </a:solidFill>
                </a:rPr>
                <a:t>, what path from s to t </a:t>
              </a:r>
              <a:r>
                <a:rPr lang="en-US" b="1" u="sng" dirty="0">
                  <a:solidFill>
                    <a:schemeClr val="bg1"/>
                  </a:solidFill>
                </a:rPr>
                <a:t>minimizes</a:t>
              </a:r>
              <a:r>
                <a:rPr lang="en-US" u="sng" dirty="0">
                  <a:solidFill>
                    <a:schemeClr val="bg1"/>
                  </a:solidFill>
                </a:rPr>
                <a:t> </a:t>
              </a:r>
              <a:r>
                <a:rPr lang="en-US" b="1" u="sng" dirty="0">
                  <a:solidFill>
                    <a:schemeClr val="bg1"/>
                  </a:solidFill>
                </a:rPr>
                <a:t>the number of edges</a:t>
              </a:r>
              <a:r>
                <a:rPr lang="en-US" dirty="0">
                  <a:solidFill>
                    <a:schemeClr val="bg1"/>
                  </a:solidFill>
                </a:rPr>
                <a:t>? How long is that path, and what edges make it up?</a:t>
              </a:r>
            </a:p>
          </p:txBody>
        </p:sp>
      </p:grpSp>
      <p:grpSp>
        <p:nvGrpSpPr>
          <p:cNvPr id="12" name="Group 11">
            <a:extLst>
              <a:ext uri="{FF2B5EF4-FFF2-40B4-BE49-F238E27FC236}">
                <a16:creationId xmlns:a16="http://schemas.microsoft.com/office/drawing/2014/main" id="{1371EC7A-55C7-644E-999E-20C071121721}"/>
              </a:ext>
            </a:extLst>
          </p:cNvPr>
          <p:cNvGrpSpPr/>
          <p:nvPr/>
        </p:nvGrpSpPr>
        <p:grpSpPr>
          <a:xfrm>
            <a:off x="8153063" y="2186848"/>
            <a:ext cx="3383617" cy="2316805"/>
            <a:chOff x="1200498" y="1542028"/>
            <a:chExt cx="4815838" cy="1199215"/>
          </a:xfrm>
        </p:grpSpPr>
        <p:sp>
          <p:nvSpPr>
            <p:cNvPr id="13" name="Rectangle 12">
              <a:extLst>
                <a:ext uri="{FF2B5EF4-FFF2-40B4-BE49-F238E27FC236}">
                  <a16:creationId xmlns:a16="http://schemas.microsoft.com/office/drawing/2014/main" id="{47C1524D-C451-8B4B-8897-129C05A569B6}"/>
                </a:ext>
              </a:extLst>
            </p:cNvPr>
            <p:cNvSpPr/>
            <p:nvPr/>
          </p:nvSpPr>
          <p:spPr>
            <a:xfrm>
              <a:off x="1200498" y="1542028"/>
              <a:ext cx="4815838" cy="11992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C350CAE2-E843-1042-95EB-16CC5AD83AA0}"/>
                </a:ext>
              </a:extLst>
            </p:cNvPr>
            <p:cNvSpPr/>
            <p:nvPr/>
          </p:nvSpPr>
          <p:spPr>
            <a:xfrm>
              <a:off x="1200498" y="1546719"/>
              <a:ext cx="4815838" cy="322865"/>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Weighted Shortest Path Problem</a:t>
              </a:r>
            </a:p>
          </p:txBody>
        </p:sp>
        <p:sp>
          <p:nvSpPr>
            <p:cNvPr id="15" name="Rectangle 14">
              <a:extLst>
                <a:ext uri="{FF2B5EF4-FFF2-40B4-BE49-F238E27FC236}">
                  <a16:creationId xmlns:a16="http://schemas.microsoft.com/office/drawing/2014/main" id="{85A83390-8392-C948-A7E2-5ED32B3D8E07}"/>
                </a:ext>
              </a:extLst>
            </p:cNvPr>
            <p:cNvSpPr/>
            <p:nvPr/>
          </p:nvSpPr>
          <p:spPr>
            <a:xfrm>
              <a:off x="1200498" y="1921799"/>
              <a:ext cx="4815838" cy="764688"/>
            </a:xfrm>
            <a:prstGeom prst="rect">
              <a:avLst/>
            </a:prstGeom>
          </p:spPr>
          <p:txBody>
            <a:bodyPr wrap="square">
              <a:spAutoFit/>
            </a:bodyPr>
            <a:lstStyle/>
            <a:p>
              <a:pPr algn="ctr">
                <a:spcBef>
                  <a:spcPts val="1067"/>
                </a:spcBef>
                <a:spcAft>
                  <a:spcPts val="1067"/>
                </a:spcAft>
              </a:pPr>
              <a:r>
                <a:rPr lang="en-US" dirty="0">
                  <a:solidFill>
                    <a:schemeClr val="bg1"/>
                  </a:solidFill>
                </a:rPr>
                <a:t>Given source vertex </a:t>
              </a:r>
              <a:r>
                <a:rPr lang="en-US" b="1" dirty="0">
                  <a:solidFill>
                    <a:schemeClr val="bg1"/>
                  </a:solidFill>
                </a:rPr>
                <a:t>s</a:t>
              </a:r>
              <a:r>
                <a:rPr lang="en-US" dirty="0">
                  <a:solidFill>
                    <a:schemeClr val="bg1"/>
                  </a:solidFill>
                </a:rPr>
                <a:t> and target vertex </a:t>
              </a:r>
              <a:r>
                <a:rPr lang="en-US" b="1" dirty="0">
                  <a:solidFill>
                    <a:schemeClr val="bg1"/>
                  </a:solidFill>
                </a:rPr>
                <a:t>t</a:t>
              </a:r>
              <a:r>
                <a:rPr lang="en-US" dirty="0">
                  <a:solidFill>
                    <a:schemeClr val="bg1"/>
                  </a:solidFill>
                </a:rPr>
                <a:t>, what path from s to t </a:t>
              </a:r>
              <a:r>
                <a:rPr lang="en-US" b="1" u="sng" dirty="0">
                  <a:solidFill>
                    <a:schemeClr val="bg1"/>
                  </a:solidFill>
                </a:rPr>
                <a:t>minimizes the total weight of its edges</a:t>
              </a:r>
              <a:r>
                <a:rPr lang="en-US" dirty="0">
                  <a:solidFill>
                    <a:schemeClr val="bg1"/>
                  </a:solidFill>
                </a:rPr>
                <a:t>? How long is that path, and what edges make it up?</a:t>
              </a:r>
            </a:p>
          </p:txBody>
        </p:sp>
      </p:grpSp>
      <p:sp>
        <p:nvSpPr>
          <p:cNvPr id="16" name="10-Point Star 15">
            <a:extLst>
              <a:ext uri="{FF2B5EF4-FFF2-40B4-BE49-F238E27FC236}">
                <a16:creationId xmlns:a16="http://schemas.microsoft.com/office/drawing/2014/main" id="{A073707A-EA9B-4D41-881A-B1B390F645C0}"/>
              </a:ext>
            </a:extLst>
          </p:cNvPr>
          <p:cNvSpPr/>
          <p:nvPr/>
        </p:nvSpPr>
        <p:spPr>
          <a:xfrm>
            <a:off x="9176170" y="1173784"/>
            <a:ext cx="1337399" cy="1242564"/>
          </a:xfrm>
          <a:prstGeom prst="star1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spc="100" dirty="0"/>
              <a:t>NEW</a:t>
            </a:r>
            <a:endParaRPr lang="en-US" b="1" i="1" spc="100" dirty="0"/>
          </a:p>
        </p:txBody>
      </p:sp>
      <p:sp>
        <p:nvSpPr>
          <p:cNvPr id="17" name="Rectangle 16">
            <a:extLst>
              <a:ext uri="{FF2B5EF4-FFF2-40B4-BE49-F238E27FC236}">
                <a16:creationId xmlns:a16="http://schemas.microsoft.com/office/drawing/2014/main" id="{0EB014DA-5F32-834F-B4A3-ADB710E7FC8F}"/>
              </a:ext>
            </a:extLst>
          </p:cNvPr>
          <p:cNvSpPr/>
          <p:nvPr/>
        </p:nvSpPr>
        <p:spPr>
          <a:xfrm>
            <a:off x="668204" y="5070614"/>
            <a:ext cx="3383617" cy="1050083"/>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SOLUTION</a:t>
            </a:r>
          </a:p>
          <a:p>
            <a:r>
              <a:rPr lang="en-US" sz="1400" dirty="0"/>
              <a:t>Base Traversal: BFS or DFS</a:t>
            </a:r>
          </a:p>
          <a:p>
            <a:r>
              <a:rPr lang="en-US" sz="1400" dirty="0"/>
              <a:t>Modification: Check if each vertex == t</a:t>
            </a:r>
          </a:p>
        </p:txBody>
      </p:sp>
      <p:sp>
        <p:nvSpPr>
          <p:cNvPr id="18" name="Rectangle 17">
            <a:extLst>
              <a:ext uri="{FF2B5EF4-FFF2-40B4-BE49-F238E27FC236}">
                <a16:creationId xmlns:a16="http://schemas.microsoft.com/office/drawing/2014/main" id="{DBFB8C5A-2190-2F45-8B3E-F66BC464441E}"/>
              </a:ext>
            </a:extLst>
          </p:cNvPr>
          <p:cNvSpPr/>
          <p:nvPr/>
        </p:nvSpPr>
        <p:spPr>
          <a:xfrm>
            <a:off x="4404191" y="5070614"/>
            <a:ext cx="3383617" cy="105008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SOLUTION</a:t>
            </a:r>
          </a:p>
          <a:p>
            <a:r>
              <a:rPr lang="en-US" sz="1400" dirty="0"/>
              <a:t>Base Traversal: BFS</a:t>
            </a:r>
          </a:p>
          <a:p>
            <a:r>
              <a:rPr lang="en-US" sz="1400" dirty="0"/>
              <a:t>Modification: Generate shortest path tree as we go</a:t>
            </a:r>
          </a:p>
        </p:txBody>
      </p:sp>
      <p:sp>
        <p:nvSpPr>
          <p:cNvPr id="20" name="TextBox 19">
            <a:extLst>
              <a:ext uri="{FF2B5EF4-FFF2-40B4-BE49-F238E27FC236}">
                <a16:creationId xmlns:a16="http://schemas.microsoft.com/office/drawing/2014/main" id="{14FC7C2A-5BBA-E643-9A2B-5760F82B9E5A}"/>
              </a:ext>
            </a:extLst>
          </p:cNvPr>
          <p:cNvSpPr txBox="1"/>
          <p:nvPr/>
        </p:nvSpPr>
        <p:spPr>
          <a:xfrm>
            <a:off x="9591435" y="5408107"/>
            <a:ext cx="506870" cy="369332"/>
          </a:xfrm>
          <a:prstGeom prst="rect">
            <a:avLst/>
          </a:prstGeom>
          <a:noFill/>
        </p:spPr>
        <p:txBody>
          <a:bodyPr wrap="none" rtlCol="0">
            <a:spAutoFit/>
          </a:bodyPr>
          <a:lstStyle/>
          <a:p>
            <a:r>
              <a:rPr lang="en-US" b="1" dirty="0">
                <a:solidFill>
                  <a:schemeClr val="tx2">
                    <a:lumMod val="60000"/>
                    <a:lumOff val="40000"/>
                  </a:schemeClr>
                </a:solidFill>
              </a:rPr>
              <a:t>???</a:t>
            </a:r>
          </a:p>
        </p:txBody>
      </p:sp>
    </p:spTree>
    <p:extLst>
      <p:ext uri="{BB962C8B-B14F-4D97-AF65-F5344CB8AC3E}">
        <p14:creationId xmlns:p14="http://schemas.microsoft.com/office/powerpoint/2010/main" val="318240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p:tgtEl>
                                          <p:spTgt spid="18"/>
                                        </p:tgtEl>
                                        <p:attrNameLst>
                                          <p:attrName>ppt_y</p:attrName>
                                        </p:attrNameLst>
                                      </p:cBhvr>
                                      <p:tavLst>
                                        <p:tav tm="0">
                                          <p:val>
                                            <p:strVal val="#ppt_y+#ppt_h*1.125000"/>
                                          </p:val>
                                        </p:tav>
                                        <p:tav tm="100000">
                                          <p:val>
                                            <p:strVal val="#ppt_y"/>
                                          </p:val>
                                        </p:tav>
                                      </p:tavLst>
                                    </p:anim>
                                    <p:animEffect transition="in" filter="wipe(up)">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p:tgtEl>
                                          <p:spTgt spid="16"/>
                                        </p:tgtEl>
                                        <p:attrNameLst>
                                          <p:attrName>ppt_y</p:attrName>
                                        </p:attrNameLst>
                                      </p:cBhvr>
                                      <p:tavLst>
                                        <p:tav tm="0">
                                          <p:val>
                                            <p:strVal val="#ppt_y+#ppt_h*1.125000"/>
                                          </p:val>
                                        </p:tav>
                                        <p:tav tm="100000">
                                          <p:val>
                                            <p:strVal val="#ppt_y"/>
                                          </p:val>
                                        </p:tav>
                                      </p:tavLst>
                                    </p:anim>
                                    <p:animEffect transition="in" filter="wipe(up)">
                                      <p:cBhvr>
                                        <p:cTn id="18" dur="500"/>
                                        <p:tgtEl>
                                          <p:spTgt spid="16"/>
                                        </p:tgtEl>
                                      </p:cBhvr>
                                    </p:animEffect>
                                  </p:childTnLst>
                                </p:cTn>
                              </p:par>
                              <p:par>
                                <p:cTn id="19" presetID="12" presetClass="entr" presetSubtype="4"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p:tgtEl>
                                          <p:spTgt spid="12"/>
                                        </p:tgtEl>
                                        <p:attrNameLst>
                                          <p:attrName>ppt_y</p:attrName>
                                        </p:attrNameLst>
                                      </p:cBhvr>
                                      <p:tavLst>
                                        <p:tav tm="0">
                                          <p:val>
                                            <p:strVal val="#ppt_y+#ppt_h*1.125000"/>
                                          </p:val>
                                        </p:tav>
                                        <p:tav tm="100000">
                                          <p:val>
                                            <p:strVal val="#ppt_y"/>
                                          </p:val>
                                        </p:tav>
                                      </p:tavLst>
                                    </p:anim>
                                    <p:animEffect transition="in" filter="wipe(up)">
                                      <p:cBhvr>
                                        <p:cTn id="22" dur="500"/>
                                        <p:tgtEl>
                                          <p:spTgt spid="12"/>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p:tgtEl>
                                          <p:spTgt spid="20"/>
                                        </p:tgtEl>
                                        <p:attrNameLst>
                                          <p:attrName>ppt_y</p:attrName>
                                        </p:attrNameLst>
                                      </p:cBhvr>
                                      <p:tavLst>
                                        <p:tav tm="0">
                                          <p:val>
                                            <p:strVal val="#ppt_y+#ppt_h*1.125000"/>
                                          </p:val>
                                        </p:tav>
                                        <p:tav tm="100000">
                                          <p:val>
                                            <p:strVal val="#ppt_y"/>
                                          </p:val>
                                        </p:tav>
                                      </p:tavLst>
                                    </p:anim>
                                    <p:animEffect transition="in" filter="wipe(up)">
                                      <p:cBhvr>
                                        <p:cTn id="2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770C0-316D-E148-B16E-093F64E0C984}"/>
              </a:ext>
            </a:extLst>
          </p:cNvPr>
          <p:cNvSpPr>
            <a:spLocks noGrp="1"/>
          </p:cNvSpPr>
          <p:nvPr>
            <p:ph type="title"/>
          </p:nvPr>
        </p:nvSpPr>
        <p:spPr/>
        <p:txBody>
          <a:bodyPr/>
          <a:lstStyle/>
          <a:p>
            <a:r>
              <a:rPr lang="en-US" dirty="0"/>
              <a:t>The Weighted Shortest Path Problem</a:t>
            </a:r>
          </a:p>
        </p:txBody>
      </p:sp>
      <p:sp>
        <p:nvSpPr>
          <p:cNvPr id="3" name="Content Placeholder 2">
            <a:extLst>
              <a:ext uri="{FF2B5EF4-FFF2-40B4-BE49-F238E27FC236}">
                <a16:creationId xmlns:a16="http://schemas.microsoft.com/office/drawing/2014/main" id="{2771F765-3187-B540-9074-48C457C3B3C9}"/>
              </a:ext>
            </a:extLst>
          </p:cNvPr>
          <p:cNvSpPr>
            <a:spLocks noGrp="1"/>
          </p:cNvSpPr>
          <p:nvPr>
            <p:ph idx="1"/>
          </p:nvPr>
        </p:nvSpPr>
        <p:spPr>
          <a:xfrm>
            <a:off x="6040699" y="1371602"/>
            <a:ext cx="5819869" cy="3634260"/>
          </a:xfrm>
        </p:spPr>
        <p:txBody>
          <a:bodyPr>
            <a:normAutofit fontScale="92500" lnSpcReduction="20000"/>
          </a:bodyPr>
          <a:lstStyle/>
          <a:p>
            <a:r>
              <a:rPr lang="en-US" dirty="0"/>
              <a:t>It’s lunchtime, and that Pagliacci slice isn’t going to eat itself – Suppose we want to find the fastest path from Meany Hall to the HUB</a:t>
            </a:r>
          </a:p>
          <a:p>
            <a:pPr lvl="1"/>
            <a:r>
              <a:rPr lang="en-US" dirty="0"/>
              <a:t>Model as a graph: buildings &amp; road meeting points are vertices, roads are edges</a:t>
            </a:r>
          </a:p>
          <a:p>
            <a:r>
              <a:rPr lang="en-US" dirty="0"/>
              <a:t>Of course, want to take </a:t>
            </a:r>
            <a:br>
              <a:rPr lang="en-US" dirty="0"/>
            </a:br>
            <a:r>
              <a:rPr lang="en-US" dirty="0"/>
              <a:t>Asotin – Grant – King, not Stevens Way!</a:t>
            </a:r>
          </a:p>
          <a:p>
            <a:pPr lvl="1"/>
            <a:r>
              <a:rPr lang="en-US" dirty="0"/>
              <a:t>Use edge weights to model distance, since </a:t>
            </a:r>
            <a:r>
              <a:rPr lang="en-US" i="1" dirty="0"/>
              <a:t>not all edges have the same cost</a:t>
            </a:r>
          </a:p>
          <a:p>
            <a:pPr lvl="1"/>
            <a:r>
              <a:rPr lang="en-US" dirty="0"/>
              <a:t>Would BFS give us the right answer here?</a:t>
            </a:r>
          </a:p>
        </p:txBody>
      </p:sp>
      <p:pic>
        <p:nvPicPr>
          <p:cNvPr id="33" name="Picture 32">
            <a:extLst>
              <a:ext uri="{FF2B5EF4-FFF2-40B4-BE49-F238E27FC236}">
                <a16:creationId xmlns:a16="http://schemas.microsoft.com/office/drawing/2014/main" id="{FDBDA285-058B-3946-9FC3-14F0C0C9E112}"/>
              </a:ext>
            </a:extLst>
          </p:cNvPr>
          <p:cNvPicPr>
            <a:picLocks noChangeAspect="1"/>
          </p:cNvPicPr>
          <p:nvPr/>
        </p:nvPicPr>
        <p:blipFill>
          <a:blip r:embed="rId3"/>
          <a:stretch>
            <a:fillRect/>
          </a:stretch>
        </p:blipFill>
        <p:spPr>
          <a:xfrm>
            <a:off x="700802" y="1617588"/>
            <a:ext cx="4970529" cy="4313385"/>
          </a:xfrm>
          <a:prstGeom prst="rect">
            <a:avLst/>
          </a:prstGeom>
        </p:spPr>
      </p:pic>
      <p:pic>
        <p:nvPicPr>
          <p:cNvPr id="34" name="Picture 33">
            <a:extLst>
              <a:ext uri="{FF2B5EF4-FFF2-40B4-BE49-F238E27FC236}">
                <a16:creationId xmlns:a16="http://schemas.microsoft.com/office/drawing/2014/main" id="{4FFAD31B-C913-F545-B33D-15BFD086E812}"/>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colorTemperature colorTemp="1849"/>
                    </a14:imgEffect>
                    <a14:imgEffect>
                      <a14:saturation sat="34000"/>
                    </a14:imgEffect>
                  </a14:imgLayer>
                </a14:imgProps>
              </a:ext>
            </a:extLst>
          </a:blip>
          <a:stretch>
            <a:fillRect/>
          </a:stretch>
        </p:blipFill>
        <p:spPr>
          <a:xfrm>
            <a:off x="700801" y="1617587"/>
            <a:ext cx="4970529" cy="4313385"/>
          </a:xfrm>
          <a:prstGeom prst="rect">
            <a:avLst/>
          </a:prstGeom>
        </p:spPr>
      </p:pic>
      <p:sp>
        <p:nvSpPr>
          <p:cNvPr id="37" name="Arc 36">
            <a:extLst>
              <a:ext uri="{FF2B5EF4-FFF2-40B4-BE49-F238E27FC236}">
                <a16:creationId xmlns:a16="http://schemas.microsoft.com/office/drawing/2014/main" id="{82F1C7F0-E81E-D14B-9572-93F3154C7726}"/>
              </a:ext>
            </a:extLst>
          </p:cNvPr>
          <p:cNvSpPr/>
          <p:nvPr/>
        </p:nvSpPr>
        <p:spPr>
          <a:xfrm rot="8100000">
            <a:off x="1167681" y="1816951"/>
            <a:ext cx="3740549" cy="3914653"/>
          </a:xfrm>
          <a:prstGeom prst="arc">
            <a:avLst>
              <a:gd name="adj1" fmla="val 12795097"/>
              <a:gd name="adj2" fmla="val 934851"/>
            </a:avLst>
          </a:prstGeom>
          <a:ln w="762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07A989B3-95D3-8A4F-B187-1B77B30BAF61}"/>
              </a:ext>
            </a:extLst>
          </p:cNvPr>
          <p:cNvCxnSpPr/>
          <p:nvPr/>
        </p:nvCxnSpPr>
        <p:spPr>
          <a:xfrm>
            <a:off x="1429351" y="2654167"/>
            <a:ext cx="0" cy="2093494"/>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E26F5E59-D2FE-384A-AE32-821E02DD7D81}"/>
              </a:ext>
            </a:extLst>
          </p:cNvPr>
          <p:cNvSpPr/>
          <p:nvPr/>
        </p:nvSpPr>
        <p:spPr>
          <a:xfrm>
            <a:off x="1311441" y="2500163"/>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D9253702-8298-3443-A6C1-E94509B22142}"/>
              </a:ext>
            </a:extLst>
          </p:cNvPr>
          <p:cNvSpPr/>
          <p:nvPr/>
        </p:nvSpPr>
        <p:spPr>
          <a:xfrm>
            <a:off x="4757310" y="2169292"/>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D2947146-B6E7-5E4E-8600-C33E83EE2FDC}"/>
              </a:ext>
            </a:extLst>
          </p:cNvPr>
          <p:cNvCxnSpPr>
            <a:cxnSpLocks/>
            <a:endCxn id="38" idx="2"/>
          </p:cNvCxnSpPr>
          <p:nvPr/>
        </p:nvCxnSpPr>
        <p:spPr>
          <a:xfrm flipV="1">
            <a:off x="2157899" y="2160872"/>
            <a:ext cx="1685391" cy="782854"/>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BFA6F28-DDA6-494C-B203-0F5206092D1F}"/>
              </a:ext>
            </a:extLst>
          </p:cNvPr>
          <p:cNvCxnSpPr>
            <a:cxnSpLocks/>
            <a:stCxn id="42" idx="5"/>
            <a:endCxn id="39" idx="2"/>
          </p:cNvCxnSpPr>
          <p:nvPr/>
        </p:nvCxnSpPr>
        <p:spPr>
          <a:xfrm>
            <a:off x="1512725" y="2701447"/>
            <a:ext cx="460406" cy="25351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A6041E5-C4A6-474B-83F2-3BE55DE1B4D7}"/>
              </a:ext>
            </a:extLst>
          </p:cNvPr>
          <p:cNvCxnSpPr>
            <a:cxnSpLocks/>
            <a:stCxn id="38" idx="6"/>
            <a:endCxn id="43" idx="2"/>
          </p:cNvCxnSpPr>
          <p:nvPr/>
        </p:nvCxnSpPr>
        <p:spPr>
          <a:xfrm>
            <a:off x="4079109" y="2160872"/>
            <a:ext cx="678201" cy="12633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424E6B9-E85D-7F42-818D-E6281FA89C2F}"/>
              </a:ext>
            </a:extLst>
          </p:cNvPr>
          <p:cNvCxnSpPr>
            <a:cxnSpLocks/>
          </p:cNvCxnSpPr>
          <p:nvPr/>
        </p:nvCxnSpPr>
        <p:spPr>
          <a:xfrm flipH="1">
            <a:off x="4875219" y="2837047"/>
            <a:ext cx="351299" cy="628047"/>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BEBE88D-078A-294D-ACFD-D1C438F99D0F}"/>
              </a:ext>
            </a:extLst>
          </p:cNvPr>
          <p:cNvCxnSpPr>
            <a:cxnSpLocks/>
          </p:cNvCxnSpPr>
          <p:nvPr/>
        </p:nvCxnSpPr>
        <p:spPr>
          <a:xfrm flipH="1">
            <a:off x="5236767" y="2287201"/>
            <a:ext cx="63620" cy="558275"/>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1B8E6295-96EA-7442-8148-1E05D60D4748}"/>
              </a:ext>
            </a:extLst>
          </p:cNvPr>
          <p:cNvCxnSpPr>
            <a:cxnSpLocks/>
            <a:stCxn id="43" idx="6"/>
          </p:cNvCxnSpPr>
          <p:nvPr/>
        </p:nvCxnSpPr>
        <p:spPr>
          <a:xfrm>
            <a:off x="4993129" y="2287202"/>
            <a:ext cx="275448" cy="37486"/>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72716E70-AC2B-6C45-9EA7-957DDE95E24C}"/>
              </a:ext>
            </a:extLst>
          </p:cNvPr>
          <p:cNvSpPr/>
          <p:nvPr/>
        </p:nvSpPr>
        <p:spPr>
          <a:xfrm>
            <a:off x="1973131" y="2837047"/>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72B3A6D-BCAE-D34F-AB65-F9A3B735F1B7}"/>
              </a:ext>
            </a:extLst>
          </p:cNvPr>
          <p:cNvSpPr/>
          <p:nvPr/>
        </p:nvSpPr>
        <p:spPr>
          <a:xfrm>
            <a:off x="3843290" y="2042962"/>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296A432-D7D9-B243-AC1D-51DB0020F5E4}"/>
              </a:ext>
            </a:extLst>
          </p:cNvPr>
          <p:cNvSpPr/>
          <p:nvPr/>
        </p:nvSpPr>
        <p:spPr>
          <a:xfrm>
            <a:off x="4137567" y="5201962"/>
            <a:ext cx="1154483" cy="5253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Stevens Way</a:t>
            </a:r>
          </a:p>
          <a:p>
            <a:pPr algn="ctr"/>
            <a:r>
              <a:rPr lang="en-US" sz="1400" b="1" dirty="0"/>
              <a:t>0.7 Miles</a:t>
            </a:r>
          </a:p>
        </p:txBody>
      </p:sp>
      <p:sp>
        <p:nvSpPr>
          <p:cNvPr id="70" name="Rectangle 69">
            <a:extLst>
              <a:ext uri="{FF2B5EF4-FFF2-40B4-BE49-F238E27FC236}">
                <a16:creationId xmlns:a16="http://schemas.microsoft.com/office/drawing/2014/main" id="{D6DAD87A-C3BF-FC4D-83B1-6E010BA61722}"/>
              </a:ext>
            </a:extLst>
          </p:cNvPr>
          <p:cNvSpPr/>
          <p:nvPr/>
        </p:nvSpPr>
        <p:spPr>
          <a:xfrm>
            <a:off x="2054955" y="1791531"/>
            <a:ext cx="1252267" cy="5253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NE Grant Lane</a:t>
            </a:r>
          </a:p>
          <a:p>
            <a:pPr algn="ctr"/>
            <a:r>
              <a:rPr lang="en-US" sz="1400" b="1" dirty="0"/>
              <a:t>0.2 Miles</a:t>
            </a:r>
          </a:p>
        </p:txBody>
      </p:sp>
      <p:sp>
        <p:nvSpPr>
          <p:cNvPr id="71" name="Rectangle 70">
            <a:extLst>
              <a:ext uri="{FF2B5EF4-FFF2-40B4-BE49-F238E27FC236}">
                <a16:creationId xmlns:a16="http://schemas.microsoft.com/office/drawing/2014/main" id="{D10CF43A-92A3-1F40-BBF8-063475CBEEBC}"/>
              </a:ext>
            </a:extLst>
          </p:cNvPr>
          <p:cNvSpPr/>
          <p:nvPr/>
        </p:nvSpPr>
        <p:spPr>
          <a:xfrm>
            <a:off x="3827659" y="1354931"/>
            <a:ext cx="1252267" cy="5253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King Lane</a:t>
            </a:r>
          </a:p>
          <a:p>
            <a:pPr algn="ctr"/>
            <a:r>
              <a:rPr lang="en-US" sz="1400" b="1" dirty="0"/>
              <a:t>0.05 Miles</a:t>
            </a:r>
          </a:p>
        </p:txBody>
      </p:sp>
      <p:sp>
        <p:nvSpPr>
          <p:cNvPr id="72" name="Rectangle 71">
            <a:extLst>
              <a:ext uri="{FF2B5EF4-FFF2-40B4-BE49-F238E27FC236}">
                <a16:creationId xmlns:a16="http://schemas.microsoft.com/office/drawing/2014/main" id="{4328C9C4-39B7-F448-AB77-7921A4F9AB94}"/>
              </a:ext>
            </a:extLst>
          </p:cNvPr>
          <p:cNvSpPr/>
          <p:nvPr/>
        </p:nvSpPr>
        <p:spPr>
          <a:xfrm>
            <a:off x="661427" y="1753471"/>
            <a:ext cx="1252267" cy="5253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Asotin Place</a:t>
            </a:r>
          </a:p>
          <a:p>
            <a:pPr algn="ctr"/>
            <a:r>
              <a:rPr lang="en-US" sz="1400" b="1" dirty="0"/>
              <a:t>0.05 Miles</a:t>
            </a:r>
          </a:p>
        </p:txBody>
      </p:sp>
      <p:sp>
        <p:nvSpPr>
          <p:cNvPr id="73" name="Rectangle 72">
            <a:extLst>
              <a:ext uri="{FF2B5EF4-FFF2-40B4-BE49-F238E27FC236}">
                <a16:creationId xmlns:a16="http://schemas.microsoft.com/office/drawing/2014/main" id="{9E3D9E29-087F-ED4E-9CCC-CD7F9E795639}"/>
              </a:ext>
            </a:extLst>
          </p:cNvPr>
          <p:cNvSpPr/>
          <p:nvPr/>
        </p:nvSpPr>
        <p:spPr>
          <a:xfrm>
            <a:off x="147543" y="2500163"/>
            <a:ext cx="1100007" cy="2904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Meany Hall</a:t>
            </a:r>
          </a:p>
        </p:txBody>
      </p:sp>
      <p:sp>
        <p:nvSpPr>
          <p:cNvPr id="74" name="Rectangle 73">
            <a:extLst>
              <a:ext uri="{FF2B5EF4-FFF2-40B4-BE49-F238E27FC236}">
                <a16:creationId xmlns:a16="http://schemas.microsoft.com/office/drawing/2014/main" id="{EFDD39C8-A3C2-9D43-8CAE-FDAE260E9FDA}"/>
              </a:ext>
            </a:extLst>
          </p:cNvPr>
          <p:cNvSpPr/>
          <p:nvPr/>
        </p:nvSpPr>
        <p:spPr>
          <a:xfrm>
            <a:off x="5011415" y="1911152"/>
            <a:ext cx="550004" cy="2904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HUB</a:t>
            </a:r>
          </a:p>
        </p:txBody>
      </p:sp>
      <p:cxnSp>
        <p:nvCxnSpPr>
          <p:cNvPr id="75" name="Straight Connector 74">
            <a:extLst>
              <a:ext uri="{FF2B5EF4-FFF2-40B4-BE49-F238E27FC236}">
                <a16:creationId xmlns:a16="http://schemas.microsoft.com/office/drawing/2014/main" id="{B14D8C91-B7A3-CE43-9030-86B97A79EF49}"/>
              </a:ext>
            </a:extLst>
          </p:cNvPr>
          <p:cNvCxnSpPr>
            <a:cxnSpLocks/>
          </p:cNvCxnSpPr>
          <p:nvPr/>
        </p:nvCxnSpPr>
        <p:spPr>
          <a:xfrm>
            <a:off x="1742928" y="2160871"/>
            <a:ext cx="0" cy="667331"/>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75D78F5-BA77-054F-81C4-C377405F28DE}"/>
              </a:ext>
            </a:extLst>
          </p:cNvPr>
          <p:cNvCxnSpPr>
            <a:cxnSpLocks/>
          </p:cNvCxnSpPr>
          <p:nvPr/>
        </p:nvCxnSpPr>
        <p:spPr>
          <a:xfrm>
            <a:off x="4253731" y="1835627"/>
            <a:ext cx="0" cy="33366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55A1E35-94FA-724A-A781-7BD2E817166D}"/>
              </a:ext>
            </a:extLst>
          </p:cNvPr>
          <p:cNvCxnSpPr>
            <a:cxnSpLocks/>
          </p:cNvCxnSpPr>
          <p:nvPr/>
        </p:nvCxnSpPr>
        <p:spPr>
          <a:xfrm>
            <a:off x="2644708" y="2278781"/>
            <a:ext cx="0" cy="44035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E2EF8458-4345-BB45-AA4C-686B747AE023}"/>
              </a:ext>
            </a:extLst>
          </p:cNvPr>
          <p:cNvSpPr/>
          <p:nvPr/>
        </p:nvSpPr>
        <p:spPr>
          <a:xfrm>
            <a:off x="8421605" y="5704284"/>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99B55F76-C9CB-034D-A759-6F640411ECF5}"/>
              </a:ext>
            </a:extLst>
          </p:cNvPr>
          <p:cNvSpPr/>
          <p:nvPr/>
        </p:nvSpPr>
        <p:spPr>
          <a:xfrm>
            <a:off x="10165104" y="5704285"/>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EED89450-59CA-3143-B69E-EBCA5A45884B}"/>
              </a:ext>
            </a:extLst>
          </p:cNvPr>
          <p:cNvSpPr/>
          <p:nvPr/>
        </p:nvSpPr>
        <p:spPr>
          <a:xfrm>
            <a:off x="9289584" y="6136204"/>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FAC4F2DC-2B71-BB44-A1F7-F247FE7850CF}"/>
              </a:ext>
            </a:extLst>
          </p:cNvPr>
          <p:cNvSpPr/>
          <p:nvPr/>
        </p:nvSpPr>
        <p:spPr>
          <a:xfrm>
            <a:off x="9289585" y="5201962"/>
            <a:ext cx="235819" cy="2358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9B05CD7C-1783-6045-A4B4-6FF7571C27C2}"/>
              </a:ext>
            </a:extLst>
          </p:cNvPr>
          <p:cNvCxnSpPr>
            <a:cxnSpLocks/>
            <a:stCxn id="84" idx="3"/>
            <a:endCxn id="81" idx="7"/>
          </p:cNvCxnSpPr>
          <p:nvPr/>
        </p:nvCxnSpPr>
        <p:spPr>
          <a:xfrm flipH="1">
            <a:off x="8622889" y="5403246"/>
            <a:ext cx="701231" cy="335573"/>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480E23-A31E-2B4E-9BE0-12DFD3C7783D}"/>
              </a:ext>
            </a:extLst>
          </p:cNvPr>
          <p:cNvCxnSpPr>
            <a:cxnSpLocks/>
            <a:stCxn id="83" idx="2"/>
            <a:endCxn id="81" idx="5"/>
          </p:cNvCxnSpPr>
          <p:nvPr/>
        </p:nvCxnSpPr>
        <p:spPr>
          <a:xfrm flipH="1" flipV="1">
            <a:off x="8622889" y="5905568"/>
            <a:ext cx="666695" cy="34854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B4C57A9-CC5F-C149-9166-950CDE3E536F}"/>
              </a:ext>
            </a:extLst>
          </p:cNvPr>
          <p:cNvCxnSpPr>
            <a:cxnSpLocks/>
            <a:stCxn id="82" idx="1"/>
            <a:endCxn id="84" idx="5"/>
          </p:cNvCxnSpPr>
          <p:nvPr/>
        </p:nvCxnSpPr>
        <p:spPr>
          <a:xfrm flipH="1" flipV="1">
            <a:off x="9490869" y="5403246"/>
            <a:ext cx="708770" cy="33557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9FBFB5B-1A08-5C4E-AB48-A348ABD30EC2}"/>
              </a:ext>
            </a:extLst>
          </p:cNvPr>
          <p:cNvCxnSpPr>
            <a:cxnSpLocks/>
            <a:stCxn id="82" idx="3"/>
            <a:endCxn id="83" idx="6"/>
          </p:cNvCxnSpPr>
          <p:nvPr/>
        </p:nvCxnSpPr>
        <p:spPr>
          <a:xfrm flipH="1">
            <a:off x="9525403" y="5905569"/>
            <a:ext cx="674236" cy="34854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6C94B504-6438-6944-97DA-C10F2080F87F}"/>
              </a:ext>
            </a:extLst>
          </p:cNvPr>
          <p:cNvSpPr/>
          <p:nvPr/>
        </p:nvSpPr>
        <p:spPr>
          <a:xfrm>
            <a:off x="7238223" y="5699472"/>
            <a:ext cx="1100007" cy="2904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Meany Hall</a:t>
            </a:r>
          </a:p>
        </p:txBody>
      </p:sp>
      <p:sp>
        <p:nvSpPr>
          <p:cNvPr id="100" name="Rectangle 99">
            <a:extLst>
              <a:ext uri="{FF2B5EF4-FFF2-40B4-BE49-F238E27FC236}">
                <a16:creationId xmlns:a16="http://schemas.microsoft.com/office/drawing/2014/main" id="{287EAFE4-FA18-AD4B-A60A-D32656981697}"/>
              </a:ext>
            </a:extLst>
          </p:cNvPr>
          <p:cNvSpPr/>
          <p:nvPr/>
        </p:nvSpPr>
        <p:spPr>
          <a:xfrm>
            <a:off x="9132491" y="6457435"/>
            <a:ext cx="550004" cy="2904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HUB</a:t>
            </a:r>
          </a:p>
        </p:txBody>
      </p:sp>
      <p:sp>
        <p:nvSpPr>
          <p:cNvPr id="101" name="TextBox 100">
            <a:extLst>
              <a:ext uri="{FF2B5EF4-FFF2-40B4-BE49-F238E27FC236}">
                <a16:creationId xmlns:a16="http://schemas.microsoft.com/office/drawing/2014/main" id="{855FD99D-4EFE-924B-ACD2-126546A10797}"/>
              </a:ext>
            </a:extLst>
          </p:cNvPr>
          <p:cNvSpPr txBox="1"/>
          <p:nvPr/>
        </p:nvSpPr>
        <p:spPr>
          <a:xfrm>
            <a:off x="8576873" y="5245988"/>
            <a:ext cx="582211" cy="307777"/>
          </a:xfrm>
          <a:prstGeom prst="rect">
            <a:avLst/>
          </a:prstGeom>
          <a:noFill/>
        </p:spPr>
        <p:txBody>
          <a:bodyPr wrap="none" rtlCol="0">
            <a:spAutoFit/>
          </a:bodyPr>
          <a:lstStyle/>
          <a:p>
            <a:r>
              <a:rPr lang="en-US" sz="1400" dirty="0">
                <a:solidFill>
                  <a:schemeClr val="accent2"/>
                </a:solidFill>
                <a:latin typeface="Consolas" panose="020B0609020204030204" pitchFamily="49" charset="0"/>
                <a:cs typeface="Consolas" panose="020B0609020204030204" pitchFamily="49" charset="0"/>
              </a:rPr>
              <a:t>0.05</a:t>
            </a:r>
          </a:p>
        </p:txBody>
      </p:sp>
      <p:sp>
        <p:nvSpPr>
          <p:cNvPr id="102" name="TextBox 101">
            <a:extLst>
              <a:ext uri="{FF2B5EF4-FFF2-40B4-BE49-F238E27FC236}">
                <a16:creationId xmlns:a16="http://schemas.microsoft.com/office/drawing/2014/main" id="{BCCD37F4-DE67-C346-ABD1-4C3E62370FCD}"/>
              </a:ext>
            </a:extLst>
          </p:cNvPr>
          <p:cNvSpPr txBox="1"/>
          <p:nvPr/>
        </p:nvSpPr>
        <p:spPr>
          <a:xfrm>
            <a:off x="9751117" y="5259568"/>
            <a:ext cx="482824" cy="307777"/>
          </a:xfrm>
          <a:prstGeom prst="rect">
            <a:avLst/>
          </a:prstGeom>
          <a:noFill/>
        </p:spPr>
        <p:txBody>
          <a:bodyPr wrap="none" rtlCol="0">
            <a:spAutoFit/>
          </a:bodyPr>
          <a:lstStyle/>
          <a:p>
            <a:r>
              <a:rPr lang="en-US" sz="1400" dirty="0">
                <a:solidFill>
                  <a:schemeClr val="accent2"/>
                </a:solidFill>
                <a:latin typeface="Consolas" panose="020B0609020204030204" pitchFamily="49" charset="0"/>
                <a:cs typeface="Consolas" panose="020B0609020204030204" pitchFamily="49" charset="0"/>
              </a:rPr>
              <a:t>0.2</a:t>
            </a:r>
          </a:p>
        </p:txBody>
      </p:sp>
      <p:sp>
        <p:nvSpPr>
          <p:cNvPr id="103" name="TextBox 102">
            <a:extLst>
              <a:ext uri="{FF2B5EF4-FFF2-40B4-BE49-F238E27FC236}">
                <a16:creationId xmlns:a16="http://schemas.microsoft.com/office/drawing/2014/main" id="{AEA040FA-340D-FB4A-B74E-0AA02AAC4FA7}"/>
              </a:ext>
            </a:extLst>
          </p:cNvPr>
          <p:cNvSpPr txBox="1"/>
          <p:nvPr/>
        </p:nvSpPr>
        <p:spPr>
          <a:xfrm>
            <a:off x="9761222" y="6100224"/>
            <a:ext cx="582211" cy="307777"/>
          </a:xfrm>
          <a:prstGeom prst="rect">
            <a:avLst/>
          </a:prstGeom>
          <a:noFill/>
        </p:spPr>
        <p:txBody>
          <a:bodyPr wrap="none" rtlCol="0">
            <a:spAutoFit/>
          </a:bodyPr>
          <a:lstStyle/>
          <a:p>
            <a:r>
              <a:rPr lang="en-US" sz="1400" dirty="0">
                <a:solidFill>
                  <a:schemeClr val="accent2"/>
                </a:solidFill>
                <a:latin typeface="Consolas" panose="020B0609020204030204" pitchFamily="49" charset="0"/>
                <a:cs typeface="Consolas" panose="020B0609020204030204" pitchFamily="49" charset="0"/>
              </a:rPr>
              <a:t>0.05</a:t>
            </a:r>
          </a:p>
        </p:txBody>
      </p:sp>
      <p:sp>
        <p:nvSpPr>
          <p:cNvPr id="104" name="TextBox 103">
            <a:extLst>
              <a:ext uri="{FF2B5EF4-FFF2-40B4-BE49-F238E27FC236}">
                <a16:creationId xmlns:a16="http://schemas.microsoft.com/office/drawing/2014/main" id="{7C1E1CF2-FC4D-1943-9A54-1EA9345B781A}"/>
              </a:ext>
            </a:extLst>
          </p:cNvPr>
          <p:cNvSpPr txBox="1"/>
          <p:nvPr/>
        </p:nvSpPr>
        <p:spPr>
          <a:xfrm>
            <a:off x="8570941" y="6100224"/>
            <a:ext cx="482824" cy="307777"/>
          </a:xfrm>
          <a:prstGeom prst="rect">
            <a:avLst/>
          </a:prstGeom>
          <a:noFill/>
        </p:spPr>
        <p:txBody>
          <a:bodyPr wrap="none" rtlCol="0">
            <a:spAutoFit/>
          </a:bodyPr>
          <a:lstStyle/>
          <a:p>
            <a:r>
              <a:rPr lang="en-US" sz="1400" dirty="0">
                <a:solidFill>
                  <a:schemeClr val="accent2"/>
                </a:solidFill>
                <a:latin typeface="Consolas" panose="020B0609020204030204" pitchFamily="49" charset="0"/>
                <a:cs typeface="Consolas" panose="020B0609020204030204" pitchFamily="49" charset="0"/>
              </a:rPr>
              <a:t>0.7</a:t>
            </a:r>
          </a:p>
        </p:txBody>
      </p:sp>
    </p:spTree>
    <p:extLst>
      <p:ext uri="{BB962C8B-B14F-4D97-AF65-F5344CB8AC3E}">
        <p14:creationId xmlns:p14="http://schemas.microsoft.com/office/powerpoint/2010/main" val="933149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ounded Rectangle 70">
            <a:extLst>
              <a:ext uri="{FF2B5EF4-FFF2-40B4-BE49-F238E27FC236}">
                <a16:creationId xmlns:a16="http://schemas.microsoft.com/office/drawing/2014/main" id="{C19D51B6-32C9-2042-8117-98D231ECADCA}"/>
              </a:ext>
            </a:extLst>
          </p:cNvPr>
          <p:cNvSpPr/>
          <p:nvPr/>
        </p:nvSpPr>
        <p:spPr>
          <a:xfrm rot="18278539">
            <a:off x="910162" y="2838266"/>
            <a:ext cx="2959596" cy="834028"/>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C5389483-DDE1-964E-BA0F-550818D2716B}"/>
              </a:ext>
            </a:extLst>
          </p:cNvPr>
          <p:cNvSpPr/>
          <p:nvPr/>
        </p:nvSpPr>
        <p:spPr>
          <a:xfrm>
            <a:off x="1309412" y="2373279"/>
            <a:ext cx="811007" cy="8110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5222AE-3DE2-954A-82F9-5EBCE1F3AA00}"/>
              </a:ext>
            </a:extLst>
          </p:cNvPr>
          <p:cNvSpPr>
            <a:spLocks noGrp="1"/>
          </p:cNvSpPr>
          <p:nvPr>
            <p:ph type="title"/>
          </p:nvPr>
        </p:nvSpPr>
        <p:spPr/>
        <p:txBody>
          <a:bodyPr/>
          <a:lstStyle/>
          <a:p>
            <a:r>
              <a:rPr lang="en-US" dirty="0"/>
              <a:t>Why does BFS work for unweighted graphs?</a:t>
            </a:r>
          </a:p>
        </p:txBody>
      </p:sp>
      <p:cxnSp>
        <p:nvCxnSpPr>
          <p:cNvPr id="8" name="Google Shape;760;p43">
            <a:extLst>
              <a:ext uri="{FF2B5EF4-FFF2-40B4-BE49-F238E27FC236}">
                <a16:creationId xmlns:a16="http://schemas.microsoft.com/office/drawing/2014/main" id="{48FB26D1-DAF3-3346-8916-FA3BB066C642}"/>
              </a:ext>
            </a:extLst>
          </p:cNvPr>
          <p:cNvCxnSpPr>
            <a:stCxn id="4" idx="3"/>
            <a:endCxn id="6" idx="1"/>
          </p:cNvCxnSpPr>
          <p:nvPr/>
        </p:nvCxnSpPr>
        <p:spPr>
          <a:xfrm flipV="1">
            <a:off x="1975008" y="2309265"/>
            <a:ext cx="829905" cy="486324"/>
          </a:xfrm>
          <a:prstGeom prst="straightConnector1">
            <a:avLst/>
          </a:prstGeom>
          <a:noFill/>
          <a:ln w="19050" cap="flat" cmpd="sng">
            <a:solidFill>
              <a:schemeClr val="dk2"/>
            </a:solidFill>
            <a:prstDash val="solid"/>
            <a:round/>
            <a:headEnd type="none" w="med" len="med"/>
            <a:tailEnd type="none" w="med" len="med"/>
          </a:ln>
        </p:spPr>
      </p:cxnSp>
      <p:cxnSp>
        <p:nvCxnSpPr>
          <p:cNvPr id="9" name="Google Shape;763;p43">
            <a:extLst>
              <a:ext uri="{FF2B5EF4-FFF2-40B4-BE49-F238E27FC236}">
                <a16:creationId xmlns:a16="http://schemas.microsoft.com/office/drawing/2014/main" id="{8A062C73-7364-5146-86A1-CBB691567BAC}"/>
              </a:ext>
            </a:extLst>
          </p:cNvPr>
          <p:cNvCxnSpPr>
            <a:cxnSpLocks/>
            <a:stCxn id="6" idx="3"/>
            <a:endCxn id="7" idx="1"/>
          </p:cNvCxnSpPr>
          <p:nvPr/>
        </p:nvCxnSpPr>
        <p:spPr>
          <a:xfrm>
            <a:off x="3228113" y="2309265"/>
            <a:ext cx="913191" cy="486324"/>
          </a:xfrm>
          <a:prstGeom prst="straightConnector1">
            <a:avLst/>
          </a:prstGeom>
          <a:noFill/>
          <a:ln w="19050" cap="flat" cmpd="sng">
            <a:solidFill>
              <a:schemeClr val="dk2"/>
            </a:solidFill>
            <a:prstDash val="solid"/>
            <a:round/>
            <a:headEnd type="none" w="med" len="med"/>
            <a:tailEnd type="none" w="med" len="med"/>
          </a:ln>
        </p:spPr>
      </p:cxnSp>
      <p:sp>
        <p:nvSpPr>
          <p:cNvPr id="10" name="TextBox 9">
            <a:extLst>
              <a:ext uri="{FF2B5EF4-FFF2-40B4-BE49-F238E27FC236}">
                <a16:creationId xmlns:a16="http://schemas.microsoft.com/office/drawing/2014/main" id="{D16F491B-C88A-D644-813C-BBA5D4EF5081}"/>
              </a:ext>
            </a:extLst>
          </p:cNvPr>
          <p:cNvSpPr txBox="1"/>
          <p:nvPr/>
        </p:nvSpPr>
        <p:spPr>
          <a:xfrm>
            <a:off x="5432812" y="3625148"/>
            <a:ext cx="6172334" cy="1323439"/>
          </a:xfrm>
          <a:prstGeom prst="rect">
            <a:avLst/>
          </a:prstGeom>
          <a:noFill/>
        </p:spPr>
        <p:txBody>
          <a:bodyPr wrap="square" rtlCol="0">
            <a:spAutoFit/>
          </a:bodyPr>
          <a:lstStyle/>
          <a:p>
            <a:r>
              <a:rPr lang="en-US" sz="2000" b="1" dirty="0"/>
              <a:t>Key Intuition</a:t>
            </a:r>
            <a:r>
              <a:rPr lang="en-US" sz="2000" dirty="0"/>
              <a:t>: BFS works because:</a:t>
            </a:r>
          </a:p>
          <a:p>
            <a:pPr marL="342900" indent="-342900">
              <a:buFont typeface="Arial" panose="020B0604020202020204" pitchFamily="34" charset="0"/>
              <a:buChar char="•"/>
            </a:pPr>
            <a:r>
              <a:rPr lang="en-US" sz="2000" dirty="0"/>
              <a:t>IF we always process the closest vertices first,</a:t>
            </a:r>
          </a:p>
          <a:p>
            <a:pPr marL="342900" indent="-342900">
              <a:buFont typeface="Arial" panose="020B0604020202020204" pitchFamily="34" charset="0"/>
              <a:buChar char="•"/>
            </a:pPr>
            <a:r>
              <a:rPr lang="en-US" sz="2000" dirty="0">
                <a:sym typeface="Wingdings" pitchFamily="2" charset="2"/>
              </a:rPr>
              <a:t>THEN the first path we discover to a new vertex will </a:t>
            </a:r>
            <a:r>
              <a:rPr lang="en-US" sz="2000" i="1" dirty="0">
                <a:sym typeface="Wingdings" pitchFamily="2" charset="2"/>
              </a:rPr>
              <a:t>always be the shortest</a:t>
            </a:r>
            <a:r>
              <a:rPr lang="en-US" sz="2000" dirty="0">
                <a:sym typeface="Wingdings" pitchFamily="2" charset="2"/>
              </a:rPr>
              <a:t>!</a:t>
            </a:r>
            <a:endParaRPr lang="en-US" sz="2000" dirty="0"/>
          </a:p>
        </p:txBody>
      </p:sp>
      <p:sp>
        <p:nvSpPr>
          <p:cNvPr id="11" name="Google Shape;769;p43">
            <a:extLst>
              <a:ext uri="{FF2B5EF4-FFF2-40B4-BE49-F238E27FC236}">
                <a16:creationId xmlns:a16="http://schemas.microsoft.com/office/drawing/2014/main" id="{EFDE68A3-5BBE-9241-948C-EAF28D34420A}"/>
              </a:ext>
            </a:extLst>
          </p:cNvPr>
          <p:cNvSpPr txBox="1"/>
          <p:nvPr/>
        </p:nvSpPr>
        <p:spPr>
          <a:xfrm>
            <a:off x="586853" y="2556789"/>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26" name="Google Shape;763;p43">
            <a:extLst>
              <a:ext uri="{FF2B5EF4-FFF2-40B4-BE49-F238E27FC236}">
                <a16:creationId xmlns:a16="http://schemas.microsoft.com/office/drawing/2014/main" id="{F8E47E87-3997-F74E-9204-E09FD7792492}"/>
              </a:ext>
            </a:extLst>
          </p:cNvPr>
          <p:cNvCxnSpPr>
            <a:cxnSpLocks/>
            <a:stCxn id="7" idx="2"/>
            <a:endCxn id="22" idx="0"/>
          </p:cNvCxnSpPr>
          <p:nvPr/>
        </p:nvCxnSpPr>
        <p:spPr>
          <a:xfrm>
            <a:off x="4352904" y="2964189"/>
            <a:ext cx="0" cy="985479"/>
          </a:xfrm>
          <a:prstGeom prst="straightConnector1">
            <a:avLst/>
          </a:prstGeom>
          <a:noFill/>
          <a:ln w="19050" cap="flat" cmpd="sng">
            <a:solidFill>
              <a:schemeClr val="dk2"/>
            </a:solidFill>
            <a:prstDash val="solid"/>
            <a:round/>
            <a:headEnd type="none" w="med" len="med"/>
            <a:tailEnd type="none" w="med" len="med"/>
          </a:ln>
        </p:spPr>
      </p:cxnSp>
      <p:cxnSp>
        <p:nvCxnSpPr>
          <p:cNvPr id="29" name="Google Shape;763;p43">
            <a:extLst>
              <a:ext uri="{FF2B5EF4-FFF2-40B4-BE49-F238E27FC236}">
                <a16:creationId xmlns:a16="http://schemas.microsoft.com/office/drawing/2014/main" id="{B68FA107-95CE-A649-891B-F492ED6887D5}"/>
              </a:ext>
            </a:extLst>
          </p:cNvPr>
          <p:cNvCxnSpPr>
            <a:cxnSpLocks/>
            <a:stCxn id="4" idx="2"/>
            <a:endCxn id="5" idx="0"/>
          </p:cNvCxnSpPr>
          <p:nvPr/>
        </p:nvCxnSpPr>
        <p:spPr>
          <a:xfrm>
            <a:off x="1763408" y="2964189"/>
            <a:ext cx="0" cy="985479"/>
          </a:xfrm>
          <a:prstGeom prst="straightConnector1">
            <a:avLst/>
          </a:prstGeom>
          <a:noFill/>
          <a:ln w="19050" cap="flat" cmpd="sng">
            <a:solidFill>
              <a:schemeClr val="dk2"/>
            </a:solidFill>
            <a:prstDash val="solid"/>
            <a:round/>
            <a:headEnd type="none" w="med" len="med"/>
            <a:tailEnd type="none" w="med" len="med"/>
          </a:ln>
        </p:spPr>
      </p:cxnSp>
      <p:cxnSp>
        <p:nvCxnSpPr>
          <p:cNvPr id="32" name="Google Shape;763;p43">
            <a:extLst>
              <a:ext uri="{FF2B5EF4-FFF2-40B4-BE49-F238E27FC236}">
                <a16:creationId xmlns:a16="http://schemas.microsoft.com/office/drawing/2014/main" id="{5A064D55-7258-5A49-A3AA-D47BE962F5DA}"/>
              </a:ext>
            </a:extLst>
          </p:cNvPr>
          <p:cNvCxnSpPr>
            <a:cxnSpLocks/>
            <a:stCxn id="21" idx="1"/>
            <a:endCxn id="5" idx="3"/>
          </p:cNvCxnSpPr>
          <p:nvPr/>
        </p:nvCxnSpPr>
        <p:spPr>
          <a:xfrm flipH="1" flipV="1">
            <a:off x="1975008" y="4118268"/>
            <a:ext cx="829905" cy="430467"/>
          </a:xfrm>
          <a:prstGeom prst="straightConnector1">
            <a:avLst/>
          </a:prstGeom>
          <a:noFill/>
          <a:ln w="19050" cap="flat" cmpd="sng">
            <a:solidFill>
              <a:schemeClr val="dk2"/>
            </a:solidFill>
            <a:prstDash val="solid"/>
            <a:round/>
            <a:headEnd type="none" w="med" len="med"/>
            <a:tailEnd type="none" w="med" len="med"/>
          </a:ln>
        </p:spPr>
      </p:cxnSp>
      <p:cxnSp>
        <p:nvCxnSpPr>
          <p:cNvPr id="35" name="Google Shape;763;p43">
            <a:extLst>
              <a:ext uri="{FF2B5EF4-FFF2-40B4-BE49-F238E27FC236}">
                <a16:creationId xmlns:a16="http://schemas.microsoft.com/office/drawing/2014/main" id="{1E8E75E6-4E63-2D42-8C86-5EE1D86B9C2F}"/>
              </a:ext>
            </a:extLst>
          </p:cNvPr>
          <p:cNvCxnSpPr>
            <a:cxnSpLocks/>
            <a:stCxn id="22" idx="1"/>
            <a:endCxn id="21" idx="3"/>
          </p:cNvCxnSpPr>
          <p:nvPr/>
        </p:nvCxnSpPr>
        <p:spPr>
          <a:xfrm flipH="1">
            <a:off x="3228113" y="4118268"/>
            <a:ext cx="913191" cy="430467"/>
          </a:xfrm>
          <a:prstGeom prst="straightConnector1">
            <a:avLst/>
          </a:prstGeom>
          <a:noFill/>
          <a:ln w="19050" cap="flat" cmpd="sng">
            <a:solidFill>
              <a:schemeClr val="dk2"/>
            </a:solidFill>
            <a:prstDash val="solid"/>
            <a:round/>
            <a:headEnd type="none" w="med" len="med"/>
            <a:tailEnd type="none" w="med" len="med"/>
          </a:ln>
        </p:spPr>
      </p:cxnSp>
      <p:sp>
        <p:nvSpPr>
          <p:cNvPr id="7" name="Google Shape;755;p43">
            <a:extLst>
              <a:ext uri="{FF2B5EF4-FFF2-40B4-BE49-F238E27FC236}">
                <a16:creationId xmlns:a16="http://schemas.microsoft.com/office/drawing/2014/main" id="{81CEF2C6-865E-CE45-AF57-E285FE40C98A}"/>
              </a:ext>
            </a:extLst>
          </p:cNvPr>
          <p:cNvSpPr/>
          <p:nvPr/>
        </p:nvSpPr>
        <p:spPr>
          <a:xfrm>
            <a:off x="4141304" y="262698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E</a:t>
            </a:r>
            <a:endParaRPr sz="2133" dirty="0">
              <a:latin typeface="Calibri" panose="020F0502020204030204" pitchFamily="34" charset="0"/>
              <a:cs typeface="Calibri" panose="020F0502020204030204" pitchFamily="34" charset="0"/>
            </a:endParaRPr>
          </a:p>
        </p:txBody>
      </p:sp>
      <p:sp>
        <p:nvSpPr>
          <p:cNvPr id="6" name="Google Shape;754;p43">
            <a:extLst>
              <a:ext uri="{FF2B5EF4-FFF2-40B4-BE49-F238E27FC236}">
                <a16:creationId xmlns:a16="http://schemas.microsoft.com/office/drawing/2014/main" id="{96CA05A5-11C3-A04C-BC06-732D8C01EDCC}"/>
              </a:ext>
            </a:extLst>
          </p:cNvPr>
          <p:cNvSpPr/>
          <p:nvPr/>
        </p:nvSpPr>
        <p:spPr>
          <a:xfrm>
            <a:off x="2804913" y="2140665"/>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D</a:t>
            </a:r>
            <a:endParaRPr sz="2133" dirty="0">
              <a:latin typeface="Calibri" panose="020F0502020204030204" pitchFamily="34" charset="0"/>
              <a:cs typeface="Calibri" panose="020F0502020204030204" pitchFamily="34" charset="0"/>
            </a:endParaRPr>
          </a:p>
        </p:txBody>
      </p:sp>
      <p:sp>
        <p:nvSpPr>
          <p:cNvPr id="4" name="Google Shape;751;p43">
            <a:extLst>
              <a:ext uri="{FF2B5EF4-FFF2-40B4-BE49-F238E27FC236}">
                <a16:creationId xmlns:a16="http://schemas.microsoft.com/office/drawing/2014/main" id="{8DFEEE57-D1D9-694E-ABC7-CAF4E57729C4}"/>
              </a:ext>
            </a:extLst>
          </p:cNvPr>
          <p:cNvSpPr/>
          <p:nvPr/>
        </p:nvSpPr>
        <p:spPr>
          <a:xfrm>
            <a:off x="1551808" y="262698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sp>
        <p:nvSpPr>
          <p:cNvPr id="5" name="Google Shape;752;p43">
            <a:extLst>
              <a:ext uri="{FF2B5EF4-FFF2-40B4-BE49-F238E27FC236}">
                <a16:creationId xmlns:a16="http://schemas.microsoft.com/office/drawing/2014/main" id="{0FA43705-9C32-F04F-AB57-B87A9A562805}"/>
              </a:ext>
            </a:extLst>
          </p:cNvPr>
          <p:cNvSpPr/>
          <p:nvPr/>
        </p:nvSpPr>
        <p:spPr>
          <a:xfrm>
            <a:off x="1551808" y="3949668"/>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B</a:t>
            </a:r>
            <a:endParaRPr sz="2133" dirty="0">
              <a:latin typeface="Calibri" panose="020F0502020204030204" pitchFamily="34" charset="0"/>
              <a:cs typeface="Calibri" panose="020F0502020204030204" pitchFamily="34" charset="0"/>
            </a:endParaRPr>
          </a:p>
        </p:txBody>
      </p:sp>
      <p:sp>
        <p:nvSpPr>
          <p:cNvPr id="21" name="Google Shape;752;p43">
            <a:extLst>
              <a:ext uri="{FF2B5EF4-FFF2-40B4-BE49-F238E27FC236}">
                <a16:creationId xmlns:a16="http://schemas.microsoft.com/office/drawing/2014/main" id="{F0E9AE7F-1EC8-824F-996A-2471F2AFD387}"/>
              </a:ext>
            </a:extLst>
          </p:cNvPr>
          <p:cNvSpPr/>
          <p:nvPr/>
        </p:nvSpPr>
        <p:spPr>
          <a:xfrm>
            <a:off x="2804913" y="4380135"/>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C</a:t>
            </a:r>
            <a:endParaRPr sz="2133" dirty="0">
              <a:latin typeface="Calibri" panose="020F0502020204030204" pitchFamily="34" charset="0"/>
              <a:cs typeface="Calibri" panose="020F0502020204030204" pitchFamily="34" charset="0"/>
            </a:endParaRPr>
          </a:p>
        </p:txBody>
      </p:sp>
      <p:sp>
        <p:nvSpPr>
          <p:cNvPr id="22" name="Google Shape;752;p43">
            <a:extLst>
              <a:ext uri="{FF2B5EF4-FFF2-40B4-BE49-F238E27FC236}">
                <a16:creationId xmlns:a16="http://schemas.microsoft.com/office/drawing/2014/main" id="{30F2C4AC-A123-A849-8D7F-BA16FC56235D}"/>
              </a:ext>
            </a:extLst>
          </p:cNvPr>
          <p:cNvSpPr/>
          <p:nvPr/>
        </p:nvSpPr>
        <p:spPr>
          <a:xfrm>
            <a:off x="4141304" y="3949668"/>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F</a:t>
            </a:r>
            <a:endParaRPr sz="2133" dirty="0">
              <a:latin typeface="Calibri" panose="020F0502020204030204" pitchFamily="34" charset="0"/>
              <a:cs typeface="Calibri" panose="020F0502020204030204" pitchFamily="34" charset="0"/>
            </a:endParaRPr>
          </a:p>
        </p:txBody>
      </p:sp>
      <p:sp>
        <p:nvSpPr>
          <p:cNvPr id="64" name="TextBox 63">
            <a:extLst>
              <a:ext uri="{FF2B5EF4-FFF2-40B4-BE49-F238E27FC236}">
                <a16:creationId xmlns:a16="http://schemas.microsoft.com/office/drawing/2014/main" id="{0FF11D43-9554-FA4E-8AC5-CF409A0BDC3F}"/>
              </a:ext>
            </a:extLst>
          </p:cNvPr>
          <p:cNvSpPr txBox="1"/>
          <p:nvPr/>
        </p:nvSpPr>
        <p:spPr>
          <a:xfrm>
            <a:off x="5432812" y="1586670"/>
            <a:ext cx="6388400" cy="1323439"/>
          </a:xfrm>
          <a:prstGeom prst="rect">
            <a:avLst/>
          </a:prstGeom>
          <a:noFill/>
        </p:spPr>
        <p:txBody>
          <a:bodyPr wrap="square" rtlCol="0">
            <a:spAutoFit/>
          </a:bodyPr>
          <a:lstStyle/>
          <a:p>
            <a:r>
              <a:rPr lang="en-US" sz="2000" b="1" dirty="0"/>
              <a:t>Observation</a:t>
            </a:r>
            <a:r>
              <a:rPr lang="en-US" sz="2000" dirty="0"/>
              <a:t>: The “First Try Phenomenon”</a:t>
            </a:r>
          </a:p>
          <a:p>
            <a:pPr marL="285750" indent="-285750">
              <a:buFont typeface="Arial" panose="020B0604020202020204" pitchFamily="34" charset="0"/>
              <a:buChar char="•"/>
            </a:pPr>
            <a:r>
              <a:rPr lang="en-US" sz="2000" dirty="0"/>
              <a:t>BFS only enqueues each vertex once (makes it efficient)</a:t>
            </a:r>
          </a:p>
          <a:p>
            <a:pPr marL="285750" indent="-285750">
              <a:buFont typeface="Arial" panose="020B0604020202020204" pitchFamily="34" charset="0"/>
              <a:buChar char="•"/>
            </a:pPr>
            <a:r>
              <a:rPr lang="en-US" sz="2000" dirty="0"/>
              <a:t>As soon as BFS enqueues a vertex, the final path to that vertex has been chosen! Never re-evaluate its path.</a:t>
            </a:r>
          </a:p>
        </p:txBody>
      </p:sp>
      <p:sp>
        <p:nvSpPr>
          <p:cNvPr id="65" name="Down Arrow 64">
            <a:extLst>
              <a:ext uri="{FF2B5EF4-FFF2-40B4-BE49-F238E27FC236}">
                <a16:creationId xmlns:a16="http://schemas.microsoft.com/office/drawing/2014/main" id="{276F8250-98B2-B044-8F6C-05612E0FCA4D}"/>
              </a:ext>
            </a:extLst>
          </p:cNvPr>
          <p:cNvSpPr/>
          <p:nvPr/>
        </p:nvSpPr>
        <p:spPr>
          <a:xfrm>
            <a:off x="8066492" y="3011742"/>
            <a:ext cx="452487" cy="495030"/>
          </a:xfrm>
          <a:prstGeom prst="down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Google Shape;769;p43">
            <a:extLst>
              <a:ext uri="{FF2B5EF4-FFF2-40B4-BE49-F238E27FC236}">
                <a16:creationId xmlns:a16="http://schemas.microsoft.com/office/drawing/2014/main" id="{9F0C4FDF-FAB3-4240-9B96-8DF481E8FBEE}"/>
              </a:ext>
            </a:extLst>
          </p:cNvPr>
          <p:cNvSpPr txBox="1"/>
          <p:nvPr/>
        </p:nvSpPr>
        <p:spPr>
          <a:xfrm>
            <a:off x="2534035" y="4709787"/>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target</a:t>
            </a:r>
            <a:endParaRPr sz="1600" dirty="0">
              <a:latin typeface="Consolas" panose="020B0609020204030204" pitchFamily="49" charset="0"/>
              <a:cs typeface="Consolas" panose="020B0609020204030204" pitchFamily="49" charset="0"/>
            </a:endParaRPr>
          </a:p>
        </p:txBody>
      </p:sp>
      <p:sp>
        <p:nvSpPr>
          <p:cNvPr id="72" name="TextBox 71">
            <a:extLst>
              <a:ext uri="{FF2B5EF4-FFF2-40B4-BE49-F238E27FC236}">
                <a16:creationId xmlns:a16="http://schemas.microsoft.com/office/drawing/2014/main" id="{57FE9853-1DE0-4A41-82BC-30E19301ECF5}"/>
              </a:ext>
            </a:extLst>
          </p:cNvPr>
          <p:cNvSpPr txBox="1"/>
          <p:nvPr/>
        </p:nvSpPr>
        <p:spPr>
          <a:xfrm>
            <a:off x="2224149" y="5527336"/>
            <a:ext cx="3889210" cy="923330"/>
          </a:xfrm>
          <a:prstGeom prst="rect">
            <a:avLst/>
          </a:prstGeom>
          <a:noFill/>
        </p:spPr>
        <p:txBody>
          <a:bodyPr wrap="square" rtlCol="0">
            <a:spAutoFit/>
          </a:bodyPr>
          <a:lstStyle/>
          <a:p>
            <a:r>
              <a:rPr lang="en-US" b="1" dirty="0"/>
              <a:t>Example</a:t>
            </a:r>
            <a:r>
              <a:rPr lang="en-US" dirty="0"/>
              <a:t>: For shortest path to C, why do we choose edge (B</a:t>
            </a:r>
            <a:r>
              <a:rPr lang="en-US" dirty="0">
                <a:sym typeface="Wingdings" pitchFamily="2" charset="2"/>
              </a:rPr>
              <a:t>,C) and not (F,C)?</a:t>
            </a:r>
          </a:p>
          <a:p>
            <a:pPr marL="285750" indent="-285750">
              <a:buFont typeface="Arial" panose="020B0604020202020204" pitchFamily="34" charset="0"/>
              <a:buChar char="•"/>
            </a:pPr>
            <a:r>
              <a:rPr lang="en-US" dirty="0">
                <a:sym typeface="Wingdings" pitchFamily="2" charset="2"/>
              </a:rPr>
              <a:t>Exactly </a:t>
            </a:r>
            <a:r>
              <a:rPr lang="en-US" i="1" dirty="0">
                <a:sym typeface="Wingdings" pitchFamily="2" charset="2"/>
              </a:rPr>
              <a:t>because</a:t>
            </a:r>
            <a:r>
              <a:rPr lang="en-US" dirty="0">
                <a:sym typeface="Wingdings" pitchFamily="2" charset="2"/>
              </a:rPr>
              <a:t> we visit B before F!</a:t>
            </a:r>
            <a:endParaRPr lang="en-US" dirty="0"/>
          </a:p>
        </p:txBody>
      </p:sp>
      <p:cxnSp>
        <p:nvCxnSpPr>
          <p:cNvPr id="86" name="Straight Arrow Connector 85">
            <a:extLst>
              <a:ext uri="{FF2B5EF4-FFF2-40B4-BE49-F238E27FC236}">
                <a16:creationId xmlns:a16="http://schemas.microsoft.com/office/drawing/2014/main" id="{FD20E8FA-D9FB-F447-B762-6C618544D45B}"/>
              </a:ext>
            </a:extLst>
          </p:cNvPr>
          <p:cNvCxnSpPr>
            <a:cxnSpLocks/>
          </p:cNvCxnSpPr>
          <p:nvPr/>
        </p:nvCxnSpPr>
        <p:spPr>
          <a:xfrm flipH="1" flipV="1">
            <a:off x="1886929" y="3179230"/>
            <a:ext cx="11919" cy="698303"/>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88B485E2-A2D7-EE47-AEB8-6DEF4114CF42}"/>
              </a:ext>
            </a:extLst>
          </p:cNvPr>
          <p:cNvSpPr txBox="1"/>
          <p:nvPr/>
        </p:nvSpPr>
        <p:spPr>
          <a:xfrm>
            <a:off x="1886929" y="3561870"/>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90" name="Rectangle 89">
            <a:extLst>
              <a:ext uri="{FF2B5EF4-FFF2-40B4-BE49-F238E27FC236}">
                <a16:creationId xmlns:a16="http://schemas.microsoft.com/office/drawing/2014/main" id="{4FC12893-8A21-8C4B-AFA6-0C2FFBE73DA7}"/>
              </a:ext>
            </a:extLst>
          </p:cNvPr>
          <p:cNvSpPr/>
          <p:nvPr/>
        </p:nvSpPr>
        <p:spPr>
          <a:xfrm>
            <a:off x="1494154" y="2565374"/>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F4003C0D-5B85-A144-A014-2E5DCC4A0870}"/>
              </a:ext>
            </a:extLst>
          </p:cNvPr>
          <p:cNvSpPr/>
          <p:nvPr/>
        </p:nvSpPr>
        <p:spPr>
          <a:xfrm>
            <a:off x="1507621" y="3894555"/>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38930BF5-BDBA-2843-B7F3-98D23CC1CA29}"/>
              </a:ext>
            </a:extLst>
          </p:cNvPr>
          <p:cNvSpPr/>
          <p:nvPr/>
        </p:nvSpPr>
        <p:spPr>
          <a:xfrm>
            <a:off x="2754874" y="2085552"/>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Arrow Connector 93">
            <a:extLst>
              <a:ext uri="{FF2B5EF4-FFF2-40B4-BE49-F238E27FC236}">
                <a16:creationId xmlns:a16="http://schemas.microsoft.com/office/drawing/2014/main" id="{B3ACB969-B690-664A-9A50-0EEE88FEB62D}"/>
              </a:ext>
            </a:extLst>
          </p:cNvPr>
          <p:cNvCxnSpPr>
            <a:cxnSpLocks/>
          </p:cNvCxnSpPr>
          <p:nvPr/>
        </p:nvCxnSpPr>
        <p:spPr>
          <a:xfrm flipH="1">
            <a:off x="2224149" y="2457908"/>
            <a:ext cx="589787" cy="318107"/>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E43AD4E6-68AB-E04A-825E-AB7B9B3435E5}"/>
              </a:ext>
            </a:extLst>
          </p:cNvPr>
          <p:cNvCxnSpPr>
            <a:cxnSpLocks/>
          </p:cNvCxnSpPr>
          <p:nvPr/>
        </p:nvCxnSpPr>
        <p:spPr>
          <a:xfrm flipH="1" flipV="1">
            <a:off x="2332836" y="4134842"/>
            <a:ext cx="481100" cy="258615"/>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5C89DE6C-54E3-5942-8D4D-1DE3721DDE4D}"/>
              </a:ext>
            </a:extLst>
          </p:cNvPr>
          <p:cNvSpPr txBox="1"/>
          <p:nvPr/>
        </p:nvSpPr>
        <p:spPr>
          <a:xfrm>
            <a:off x="1831870" y="2194958"/>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0</a:t>
            </a:r>
          </a:p>
        </p:txBody>
      </p:sp>
      <p:sp>
        <p:nvSpPr>
          <p:cNvPr id="101" name="TextBox 100">
            <a:extLst>
              <a:ext uri="{FF2B5EF4-FFF2-40B4-BE49-F238E27FC236}">
                <a16:creationId xmlns:a16="http://schemas.microsoft.com/office/drawing/2014/main" id="{E68A5125-9260-2546-B53E-648FF4875BA9}"/>
              </a:ext>
            </a:extLst>
          </p:cNvPr>
          <p:cNvSpPr txBox="1"/>
          <p:nvPr/>
        </p:nvSpPr>
        <p:spPr>
          <a:xfrm>
            <a:off x="3072506" y="1727692"/>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102" name="TextBox 101">
            <a:extLst>
              <a:ext uri="{FF2B5EF4-FFF2-40B4-BE49-F238E27FC236}">
                <a16:creationId xmlns:a16="http://schemas.microsoft.com/office/drawing/2014/main" id="{F3AF3796-4F4F-7147-82CB-88BEE8B675F9}"/>
              </a:ext>
            </a:extLst>
          </p:cNvPr>
          <p:cNvSpPr txBox="1"/>
          <p:nvPr/>
        </p:nvSpPr>
        <p:spPr>
          <a:xfrm>
            <a:off x="3037615" y="4047487"/>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2</a:t>
            </a:r>
          </a:p>
        </p:txBody>
      </p:sp>
      <p:grpSp>
        <p:nvGrpSpPr>
          <p:cNvPr id="112" name="Group 111">
            <a:extLst>
              <a:ext uri="{FF2B5EF4-FFF2-40B4-BE49-F238E27FC236}">
                <a16:creationId xmlns:a16="http://schemas.microsoft.com/office/drawing/2014/main" id="{13BD4445-E27E-3849-8C52-808812F296F8}"/>
              </a:ext>
            </a:extLst>
          </p:cNvPr>
          <p:cNvGrpSpPr/>
          <p:nvPr/>
        </p:nvGrpSpPr>
        <p:grpSpPr>
          <a:xfrm>
            <a:off x="126777" y="5773014"/>
            <a:ext cx="1435944" cy="933778"/>
            <a:chOff x="7284772" y="5477007"/>
            <a:chExt cx="1435944" cy="933778"/>
          </a:xfrm>
        </p:grpSpPr>
        <p:sp>
          <p:nvSpPr>
            <p:cNvPr id="111" name="Rectangle 110">
              <a:extLst>
                <a:ext uri="{FF2B5EF4-FFF2-40B4-BE49-F238E27FC236}">
                  <a16:creationId xmlns:a16="http://schemas.microsoft.com/office/drawing/2014/main" id="{64925016-AE1B-0E4C-9DA0-6140D2F91EB5}"/>
                </a:ext>
              </a:extLst>
            </p:cNvPr>
            <p:cNvSpPr/>
            <p:nvPr/>
          </p:nvSpPr>
          <p:spPr>
            <a:xfrm>
              <a:off x="7284772" y="5486357"/>
              <a:ext cx="1359049" cy="924428"/>
            </a:xfrm>
            <a:prstGeom prst="rect">
              <a:avLst/>
            </a:prstGeom>
            <a:solidFill>
              <a:schemeClr val="bg1">
                <a:lumMod val="95000"/>
              </a:scheme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Arrow Connector 104">
              <a:extLst>
                <a:ext uri="{FF2B5EF4-FFF2-40B4-BE49-F238E27FC236}">
                  <a16:creationId xmlns:a16="http://schemas.microsoft.com/office/drawing/2014/main" id="{A31D7151-9386-6042-9C97-D3DAFF9F6D04}"/>
                </a:ext>
              </a:extLst>
            </p:cNvPr>
            <p:cNvCxnSpPr>
              <a:cxnSpLocks/>
            </p:cNvCxnSpPr>
            <p:nvPr/>
          </p:nvCxnSpPr>
          <p:spPr>
            <a:xfrm>
              <a:off x="7586682" y="6067161"/>
              <a:ext cx="0" cy="33427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BDDB822F-CE2B-B441-AA3D-3BFEE267C886}"/>
                </a:ext>
              </a:extLst>
            </p:cNvPr>
            <p:cNvSpPr txBox="1"/>
            <p:nvPr/>
          </p:nvSpPr>
          <p:spPr>
            <a:xfrm>
              <a:off x="7601254" y="6083548"/>
              <a:ext cx="997581" cy="307777"/>
            </a:xfrm>
            <a:prstGeom prst="rect">
              <a:avLst/>
            </a:prstGeom>
            <a:noFill/>
          </p:spPr>
          <p:txBody>
            <a:bodyPr wrap="square" rtlCol="0">
              <a:spAutoFit/>
            </a:bodyPr>
            <a:lstStyle/>
            <a:p>
              <a:r>
                <a:rPr lang="en-US" sz="1400" b="1" spc="100" dirty="0">
                  <a:solidFill>
                    <a:schemeClr val="accent2"/>
                  </a:solidFill>
                </a:rPr>
                <a:t>E</a:t>
              </a:r>
              <a:r>
                <a:rPr lang="en-US" sz="1200" b="1" spc="100" dirty="0">
                  <a:solidFill>
                    <a:schemeClr val="accent2"/>
                  </a:solidFill>
                </a:rPr>
                <a:t>DGE</a:t>
              </a:r>
              <a:r>
                <a:rPr lang="en-US" sz="1400" b="1" spc="100" dirty="0">
                  <a:solidFill>
                    <a:schemeClr val="accent2"/>
                  </a:solidFill>
                </a:rPr>
                <a:t>T</a:t>
              </a:r>
              <a:r>
                <a:rPr lang="en-US" sz="1200" b="1" spc="100" dirty="0">
                  <a:solidFill>
                    <a:schemeClr val="accent2"/>
                  </a:solidFill>
                </a:rPr>
                <a:t>O</a:t>
              </a:r>
              <a:endParaRPr lang="en-US" sz="1400" b="1" spc="100" dirty="0">
                <a:solidFill>
                  <a:schemeClr val="accent2"/>
                </a:solidFill>
              </a:endParaRPr>
            </a:p>
          </p:txBody>
        </p:sp>
        <p:sp>
          <p:nvSpPr>
            <p:cNvPr id="85" name="TextBox 84">
              <a:extLst>
                <a:ext uri="{FF2B5EF4-FFF2-40B4-BE49-F238E27FC236}">
                  <a16:creationId xmlns:a16="http://schemas.microsoft.com/office/drawing/2014/main" id="{977239EB-A9BB-0149-8EAA-781DDDFADE09}"/>
                </a:ext>
              </a:extLst>
            </p:cNvPr>
            <p:cNvSpPr txBox="1"/>
            <p:nvPr/>
          </p:nvSpPr>
          <p:spPr>
            <a:xfrm>
              <a:off x="7808671" y="5477007"/>
              <a:ext cx="912045" cy="307777"/>
            </a:xfrm>
            <a:prstGeom prst="rect">
              <a:avLst/>
            </a:prstGeom>
            <a:noFill/>
          </p:spPr>
          <p:txBody>
            <a:bodyPr wrap="square" rtlCol="0">
              <a:spAutoFit/>
            </a:bodyPr>
            <a:lstStyle/>
            <a:p>
              <a:r>
                <a:rPr lang="en-US" sz="1400" b="1" spc="100" dirty="0">
                  <a:solidFill>
                    <a:srgbClr val="00B0F0"/>
                  </a:solidFill>
                </a:rPr>
                <a:t>D</a:t>
              </a:r>
              <a:r>
                <a:rPr lang="en-US" sz="1200" b="1" spc="100" dirty="0">
                  <a:solidFill>
                    <a:srgbClr val="00B0F0"/>
                  </a:solidFill>
                </a:rPr>
                <a:t>IST</a:t>
              </a:r>
              <a:r>
                <a:rPr lang="en-US" sz="1400" b="1" spc="100" dirty="0">
                  <a:solidFill>
                    <a:srgbClr val="00B0F0"/>
                  </a:solidFill>
                </a:rPr>
                <a:t>T</a:t>
              </a:r>
              <a:r>
                <a:rPr lang="en-US" sz="1200" b="1" spc="100" dirty="0">
                  <a:solidFill>
                    <a:srgbClr val="00B0F0"/>
                  </a:solidFill>
                </a:rPr>
                <a:t>O</a:t>
              </a:r>
              <a:endParaRPr lang="en-US" sz="1400" b="1" spc="100" dirty="0">
                <a:solidFill>
                  <a:srgbClr val="00B0F0"/>
                </a:solidFill>
              </a:endParaRPr>
            </a:p>
          </p:txBody>
        </p:sp>
        <p:sp>
          <p:nvSpPr>
            <p:cNvPr id="89" name="TextBox 88">
              <a:extLst>
                <a:ext uri="{FF2B5EF4-FFF2-40B4-BE49-F238E27FC236}">
                  <a16:creationId xmlns:a16="http://schemas.microsoft.com/office/drawing/2014/main" id="{7208DAAC-4DA3-6045-8F03-E1365B833CAF}"/>
                </a:ext>
              </a:extLst>
            </p:cNvPr>
            <p:cNvSpPr txBox="1"/>
            <p:nvPr/>
          </p:nvSpPr>
          <p:spPr>
            <a:xfrm>
              <a:off x="7782879" y="5769563"/>
              <a:ext cx="851515" cy="307777"/>
            </a:xfrm>
            <a:prstGeom prst="rect">
              <a:avLst/>
            </a:prstGeom>
            <a:noFill/>
          </p:spPr>
          <p:txBody>
            <a:bodyPr wrap="none" rtlCol="0">
              <a:spAutoFit/>
            </a:bodyPr>
            <a:lstStyle/>
            <a:p>
              <a:r>
                <a:rPr lang="en-US" sz="1400" b="1" spc="100" dirty="0">
                  <a:solidFill>
                    <a:schemeClr val="accent6"/>
                  </a:solidFill>
                </a:rPr>
                <a:t>VISITED</a:t>
              </a:r>
            </a:p>
          </p:txBody>
        </p:sp>
        <p:sp>
          <p:nvSpPr>
            <p:cNvPr id="103" name="Google Shape;755;p43">
              <a:extLst>
                <a:ext uri="{FF2B5EF4-FFF2-40B4-BE49-F238E27FC236}">
                  <a16:creationId xmlns:a16="http://schemas.microsoft.com/office/drawing/2014/main" id="{3BFF2DA1-781B-3D4A-92F5-58DB98B6DDB8}"/>
                </a:ext>
              </a:extLst>
            </p:cNvPr>
            <p:cNvSpPr/>
            <p:nvPr/>
          </p:nvSpPr>
          <p:spPr>
            <a:xfrm>
              <a:off x="7442483" y="5803588"/>
              <a:ext cx="288398" cy="229792"/>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100" dirty="0">
                  <a:latin typeface="Calibri" panose="020F0502020204030204" pitchFamily="34" charset="0"/>
                  <a:cs typeface="Calibri" panose="020F0502020204030204" pitchFamily="34" charset="0"/>
                </a:rPr>
                <a:t>Z</a:t>
              </a:r>
              <a:endParaRPr sz="1100" dirty="0">
                <a:latin typeface="Calibri" panose="020F0502020204030204" pitchFamily="34" charset="0"/>
                <a:cs typeface="Calibri" panose="020F0502020204030204" pitchFamily="34" charset="0"/>
              </a:endParaRPr>
            </a:p>
          </p:txBody>
        </p:sp>
        <p:sp>
          <p:nvSpPr>
            <p:cNvPr id="104" name="Rectangle 103">
              <a:extLst>
                <a:ext uri="{FF2B5EF4-FFF2-40B4-BE49-F238E27FC236}">
                  <a16:creationId xmlns:a16="http://schemas.microsoft.com/office/drawing/2014/main" id="{7F2AC178-3B35-6048-A373-C17BDD3AFBE1}"/>
                </a:ext>
              </a:extLst>
            </p:cNvPr>
            <p:cNvSpPr/>
            <p:nvPr/>
          </p:nvSpPr>
          <p:spPr>
            <a:xfrm>
              <a:off x="7412267" y="5762253"/>
              <a:ext cx="356598" cy="304908"/>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2D231189-9578-8049-9029-FF32D99D6B91}"/>
                </a:ext>
              </a:extLst>
            </p:cNvPr>
            <p:cNvSpPr txBox="1"/>
            <p:nvPr/>
          </p:nvSpPr>
          <p:spPr>
            <a:xfrm>
              <a:off x="7613213" y="5486357"/>
              <a:ext cx="311304" cy="276999"/>
            </a:xfrm>
            <a:prstGeom prst="rect">
              <a:avLst/>
            </a:prstGeom>
            <a:noFill/>
          </p:spPr>
          <p:txBody>
            <a:bodyPr wrap="square" rtlCol="0">
              <a:spAutoFit/>
            </a:bodyPr>
            <a:lstStyle/>
            <a:p>
              <a:r>
                <a:rPr lang="en-US" sz="1200" b="1" dirty="0">
                  <a:solidFill>
                    <a:srgbClr val="00B0F0"/>
                  </a:solidFill>
                  <a:latin typeface="Consolas" panose="020B0609020204030204" pitchFamily="49" charset="0"/>
                  <a:cs typeface="Consolas" panose="020B0609020204030204" pitchFamily="49" charset="0"/>
                </a:rPr>
                <a:t>1</a:t>
              </a:r>
            </a:p>
          </p:txBody>
        </p:sp>
      </p:grpSp>
      <p:sp>
        <p:nvSpPr>
          <p:cNvPr id="114" name="TextBox 113">
            <a:extLst>
              <a:ext uri="{FF2B5EF4-FFF2-40B4-BE49-F238E27FC236}">
                <a16:creationId xmlns:a16="http://schemas.microsoft.com/office/drawing/2014/main" id="{EC362EB5-1244-5E46-8E53-C8275618166A}"/>
              </a:ext>
            </a:extLst>
          </p:cNvPr>
          <p:cNvSpPr txBox="1"/>
          <p:nvPr/>
        </p:nvSpPr>
        <p:spPr>
          <a:xfrm>
            <a:off x="244439" y="5487339"/>
            <a:ext cx="1132298" cy="307777"/>
          </a:xfrm>
          <a:prstGeom prst="rect">
            <a:avLst/>
          </a:prstGeom>
          <a:noFill/>
        </p:spPr>
        <p:txBody>
          <a:bodyPr wrap="none" rtlCol="0">
            <a:spAutoFit/>
          </a:bodyPr>
          <a:lstStyle/>
          <a:p>
            <a:r>
              <a:rPr lang="en-US" sz="1400" dirty="0"/>
              <a:t>BFS Tracking:</a:t>
            </a:r>
          </a:p>
        </p:txBody>
      </p:sp>
    </p:spTree>
    <p:extLst>
      <p:ext uri="{BB962C8B-B14F-4D97-AF65-F5344CB8AC3E}">
        <p14:creationId xmlns:p14="http://schemas.microsoft.com/office/powerpoint/2010/main" val="425916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5" grpId="0" animBg="1"/>
      <p:bldP spid="7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ounded Rectangle 45">
            <a:extLst>
              <a:ext uri="{FF2B5EF4-FFF2-40B4-BE49-F238E27FC236}">
                <a16:creationId xmlns:a16="http://schemas.microsoft.com/office/drawing/2014/main" id="{A45A90C1-674A-684D-8FE8-56BB2C12A546}"/>
              </a:ext>
            </a:extLst>
          </p:cNvPr>
          <p:cNvSpPr/>
          <p:nvPr/>
        </p:nvSpPr>
        <p:spPr>
          <a:xfrm rot="18278539">
            <a:off x="910162" y="2838266"/>
            <a:ext cx="2959596" cy="834028"/>
          </a:xfrm>
          <a:prstGeom prst="roundRect">
            <a:avLst>
              <a:gd name="adj" fmla="val 50000"/>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70C47D2-8624-A441-9F9A-78E29889A1FE}"/>
              </a:ext>
            </a:extLst>
          </p:cNvPr>
          <p:cNvSpPr/>
          <p:nvPr/>
        </p:nvSpPr>
        <p:spPr>
          <a:xfrm>
            <a:off x="1309412" y="2373279"/>
            <a:ext cx="811007" cy="8110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ED2877-C2D3-214E-AFFE-91F1AA06B7BA}"/>
              </a:ext>
            </a:extLst>
          </p:cNvPr>
          <p:cNvSpPr>
            <a:spLocks noGrp="1"/>
          </p:cNvSpPr>
          <p:nvPr>
            <p:ph type="title"/>
          </p:nvPr>
        </p:nvSpPr>
        <p:spPr>
          <a:xfrm>
            <a:off x="582385" y="456565"/>
            <a:ext cx="11027229" cy="762635"/>
          </a:xfrm>
        </p:spPr>
        <p:txBody>
          <a:bodyPr>
            <a:normAutofit/>
          </a:bodyPr>
          <a:lstStyle/>
          <a:p>
            <a:r>
              <a:rPr lang="en-US" dirty="0"/>
              <a:t>Why </a:t>
            </a:r>
            <a:r>
              <a:rPr lang="en-US" i="1" dirty="0"/>
              <a:t>doesn’t</a:t>
            </a:r>
            <a:r>
              <a:rPr lang="en-US" dirty="0"/>
              <a:t> BFS work for weighted graphs?</a:t>
            </a:r>
          </a:p>
        </p:txBody>
      </p:sp>
      <p:cxnSp>
        <p:nvCxnSpPr>
          <p:cNvPr id="4" name="Google Shape;760;p43">
            <a:extLst>
              <a:ext uri="{FF2B5EF4-FFF2-40B4-BE49-F238E27FC236}">
                <a16:creationId xmlns:a16="http://schemas.microsoft.com/office/drawing/2014/main" id="{AD8F5D95-4D0B-7341-92B6-14FABA62529F}"/>
              </a:ext>
            </a:extLst>
          </p:cNvPr>
          <p:cNvCxnSpPr>
            <a:stCxn id="12" idx="3"/>
            <a:endCxn id="11" idx="1"/>
          </p:cNvCxnSpPr>
          <p:nvPr/>
        </p:nvCxnSpPr>
        <p:spPr>
          <a:xfrm flipV="1">
            <a:off x="1975008" y="2309265"/>
            <a:ext cx="829905" cy="486324"/>
          </a:xfrm>
          <a:prstGeom prst="straightConnector1">
            <a:avLst/>
          </a:prstGeom>
          <a:noFill/>
          <a:ln w="19050" cap="flat" cmpd="sng">
            <a:solidFill>
              <a:schemeClr val="dk2"/>
            </a:solidFill>
            <a:prstDash val="solid"/>
            <a:round/>
            <a:headEnd type="none" w="med" len="med"/>
            <a:tailEnd type="none" w="med" len="med"/>
          </a:ln>
        </p:spPr>
      </p:cxnSp>
      <p:cxnSp>
        <p:nvCxnSpPr>
          <p:cNvPr id="5" name="Google Shape;763;p43">
            <a:extLst>
              <a:ext uri="{FF2B5EF4-FFF2-40B4-BE49-F238E27FC236}">
                <a16:creationId xmlns:a16="http://schemas.microsoft.com/office/drawing/2014/main" id="{EA537BC2-E09A-F940-BC5A-D663E55B2072}"/>
              </a:ext>
            </a:extLst>
          </p:cNvPr>
          <p:cNvCxnSpPr>
            <a:cxnSpLocks/>
            <a:stCxn id="11" idx="3"/>
            <a:endCxn id="10" idx="1"/>
          </p:cNvCxnSpPr>
          <p:nvPr/>
        </p:nvCxnSpPr>
        <p:spPr>
          <a:xfrm>
            <a:off x="3228113" y="2309265"/>
            <a:ext cx="913191" cy="486324"/>
          </a:xfrm>
          <a:prstGeom prst="straightConnector1">
            <a:avLst/>
          </a:prstGeom>
          <a:noFill/>
          <a:ln w="19050" cap="flat" cmpd="sng">
            <a:solidFill>
              <a:schemeClr val="dk2"/>
            </a:solidFill>
            <a:prstDash val="solid"/>
            <a:round/>
            <a:headEnd type="none" w="med" len="med"/>
            <a:tailEnd type="none" w="med" len="med"/>
          </a:ln>
        </p:spPr>
      </p:cxnSp>
      <p:cxnSp>
        <p:nvCxnSpPr>
          <p:cNvPr id="6" name="Google Shape;763;p43">
            <a:extLst>
              <a:ext uri="{FF2B5EF4-FFF2-40B4-BE49-F238E27FC236}">
                <a16:creationId xmlns:a16="http://schemas.microsoft.com/office/drawing/2014/main" id="{2BB310F6-C9A9-4446-A477-46DFF148921F}"/>
              </a:ext>
            </a:extLst>
          </p:cNvPr>
          <p:cNvCxnSpPr>
            <a:cxnSpLocks/>
            <a:stCxn id="10" idx="2"/>
            <a:endCxn id="15" idx="0"/>
          </p:cNvCxnSpPr>
          <p:nvPr/>
        </p:nvCxnSpPr>
        <p:spPr>
          <a:xfrm>
            <a:off x="4352904" y="2964189"/>
            <a:ext cx="0" cy="985479"/>
          </a:xfrm>
          <a:prstGeom prst="straightConnector1">
            <a:avLst/>
          </a:prstGeom>
          <a:noFill/>
          <a:ln w="19050" cap="flat" cmpd="sng">
            <a:solidFill>
              <a:schemeClr val="dk2"/>
            </a:solidFill>
            <a:prstDash val="solid"/>
            <a:round/>
            <a:headEnd type="none" w="med" len="med"/>
            <a:tailEnd type="none" w="med" len="med"/>
          </a:ln>
        </p:spPr>
      </p:cxnSp>
      <p:cxnSp>
        <p:nvCxnSpPr>
          <p:cNvPr id="7" name="Google Shape;763;p43">
            <a:extLst>
              <a:ext uri="{FF2B5EF4-FFF2-40B4-BE49-F238E27FC236}">
                <a16:creationId xmlns:a16="http://schemas.microsoft.com/office/drawing/2014/main" id="{E63D0321-DD10-7A43-8234-7C97ACB7C59B}"/>
              </a:ext>
            </a:extLst>
          </p:cNvPr>
          <p:cNvCxnSpPr>
            <a:cxnSpLocks/>
            <a:stCxn id="12" idx="2"/>
            <a:endCxn id="13" idx="0"/>
          </p:cNvCxnSpPr>
          <p:nvPr/>
        </p:nvCxnSpPr>
        <p:spPr>
          <a:xfrm>
            <a:off x="1763408" y="2964189"/>
            <a:ext cx="0" cy="985479"/>
          </a:xfrm>
          <a:prstGeom prst="straightConnector1">
            <a:avLst/>
          </a:prstGeom>
          <a:noFill/>
          <a:ln w="19050" cap="flat" cmpd="sng">
            <a:solidFill>
              <a:schemeClr val="dk2"/>
            </a:solidFill>
            <a:prstDash val="solid"/>
            <a:round/>
            <a:headEnd type="none" w="med" len="med"/>
            <a:tailEnd type="none" w="med" len="med"/>
          </a:ln>
        </p:spPr>
      </p:cxnSp>
      <p:cxnSp>
        <p:nvCxnSpPr>
          <p:cNvPr id="8" name="Google Shape;763;p43">
            <a:extLst>
              <a:ext uri="{FF2B5EF4-FFF2-40B4-BE49-F238E27FC236}">
                <a16:creationId xmlns:a16="http://schemas.microsoft.com/office/drawing/2014/main" id="{9F19CCCF-586F-9044-B201-1357D4A4EF93}"/>
              </a:ext>
            </a:extLst>
          </p:cNvPr>
          <p:cNvCxnSpPr>
            <a:cxnSpLocks/>
            <a:stCxn id="14" idx="1"/>
            <a:endCxn id="13" idx="3"/>
          </p:cNvCxnSpPr>
          <p:nvPr/>
        </p:nvCxnSpPr>
        <p:spPr>
          <a:xfrm flipH="1" flipV="1">
            <a:off x="1975008" y="4118268"/>
            <a:ext cx="829905" cy="430467"/>
          </a:xfrm>
          <a:prstGeom prst="straightConnector1">
            <a:avLst/>
          </a:prstGeom>
          <a:noFill/>
          <a:ln w="19050" cap="flat" cmpd="sng">
            <a:solidFill>
              <a:schemeClr val="dk2"/>
            </a:solidFill>
            <a:prstDash val="solid"/>
            <a:round/>
            <a:headEnd type="none" w="med" len="med"/>
            <a:tailEnd type="none" w="med" len="med"/>
          </a:ln>
        </p:spPr>
      </p:cxnSp>
      <p:cxnSp>
        <p:nvCxnSpPr>
          <p:cNvPr id="9" name="Google Shape;763;p43">
            <a:extLst>
              <a:ext uri="{FF2B5EF4-FFF2-40B4-BE49-F238E27FC236}">
                <a16:creationId xmlns:a16="http://schemas.microsoft.com/office/drawing/2014/main" id="{44038A19-D3CB-CF4C-AFFD-88DB3534F1A3}"/>
              </a:ext>
            </a:extLst>
          </p:cNvPr>
          <p:cNvCxnSpPr>
            <a:cxnSpLocks/>
            <a:stCxn id="15" idx="1"/>
            <a:endCxn id="14" idx="3"/>
          </p:cNvCxnSpPr>
          <p:nvPr/>
        </p:nvCxnSpPr>
        <p:spPr>
          <a:xfrm flipH="1">
            <a:off x="3228113" y="4118268"/>
            <a:ext cx="913191" cy="430467"/>
          </a:xfrm>
          <a:prstGeom prst="straightConnector1">
            <a:avLst/>
          </a:prstGeom>
          <a:noFill/>
          <a:ln w="19050" cap="flat" cmpd="sng">
            <a:solidFill>
              <a:schemeClr val="dk2"/>
            </a:solidFill>
            <a:prstDash val="solid"/>
            <a:round/>
            <a:headEnd type="none" w="med" len="med"/>
            <a:tailEnd type="none" w="med" len="med"/>
          </a:ln>
        </p:spPr>
      </p:cxnSp>
      <p:sp>
        <p:nvSpPr>
          <p:cNvPr id="10" name="Google Shape;755;p43">
            <a:extLst>
              <a:ext uri="{FF2B5EF4-FFF2-40B4-BE49-F238E27FC236}">
                <a16:creationId xmlns:a16="http://schemas.microsoft.com/office/drawing/2014/main" id="{8D1FE921-C811-974A-921F-73E368A53254}"/>
              </a:ext>
            </a:extLst>
          </p:cNvPr>
          <p:cNvSpPr/>
          <p:nvPr/>
        </p:nvSpPr>
        <p:spPr>
          <a:xfrm>
            <a:off x="4141304" y="262698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E</a:t>
            </a:r>
            <a:endParaRPr sz="2133" dirty="0">
              <a:latin typeface="Calibri" panose="020F0502020204030204" pitchFamily="34" charset="0"/>
              <a:cs typeface="Calibri" panose="020F0502020204030204" pitchFamily="34" charset="0"/>
            </a:endParaRPr>
          </a:p>
        </p:txBody>
      </p:sp>
      <p:sp>
        <p:nvSpPr>
          <p:cNvPr id="11" name="Google Shape;754;p43">
            <a:extLst>
              <a:ext uri="{FF2B5EF4-FFF2-40B4-BE49-F238E27FC236}">
                <a16:creationId xmlns:a16="http://schemas.microsoft.com/office/drawing/2014/main" id="{008BAD98-6EC4-F34A-87A6-4BA2C8B8F636}"/>
              </a:ext>
            </a:extLst>
          </p:cNvPr>
          <p:cNvSpPr/>
          <p:nvPr/>
        </p:nvSpPr>
        <p:spPr>
          <a:xfrm>
            <a:off x="2804913" y="2140665"/>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D</a:t>
            </a:r>
            <a:endParaRPr sz="2133" dirty="0">
              <a:latin typeface="Calibri" panose="020F0502020204030204" pitchFamily="34" charset="0"/>
              <a:cs typeface="Calibri" panose="020F0502020204030204" pitchFamily="34" charset="0"/>
            </a:endParaRPr>
          </a:p>
        </p:txBody>
      </p:sp>
      <p:sp>
        <p:nvSpPr>
          <p:cNvPr id="12" name="Google Shape;751;p43">
            <a:extLst>
              <a:ext uri="{FF2B5EF4-FFF2-40B4-BE49-F238E27FC236}">
                <a16:creationId xmlns:a16="http://schemas.microsoft.com/office/drawing/2014/main" id="{305876D1-568B-BC44-8310-555F1DBF8EB8}"/>
              </a:ext>
            </a:extLst>
          </p:cNvPr>
          <p:cNvSpPr/>
          <p:nvPr/>
        </p:nvSpPr>
        <p:spPr>
          <a:xfrm>
            <a:off x="1551808" y="262698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sp>
        <p:nvSpPr>
          <p:cNvPr id="13" name="Google Shape;752;p43">
            <a:extLst>
              <a:ext uri="{FF2B5EF4-FFF2-40B4-BE49-F238E27FC236}">
                <a16:creationId xmlns:a16="http://schemas.microsoft.com/office/drawing/2014/main" id="{8F2F82DA-C7FF-5C40-8294-48E8E8B74124}"/>
              </a:ext>
            </a:extLst>
          </p:cNvPr>
          <p:cNvSpPr/>
          <p:nvPr/>
        </p:nvSpPr>
        <p:spPr>
          <a:xfrm>
            <a:off x="1551808" y="3949668"/>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B</a:t>
            </a:r>
            <a:endParaRPr sz="2133" dirty="0">
              <a:latin typeface="Calibri" panose="020F0502020204030204" pitchFamily="34" charset="0"/>
              <a:cs typeface="Calibri" panose="020F0502020204030204" pitchFamily="34" charset="0"/>
            </a:endParaRPr>
          </a:p>
        </p:txBody>
      </p:sp>
      <p:sp>
        <p:nvSpPr>
          <p:cNvPr id="14" name="Google Shape;752;p43">
            <a:extLst>
              <a:ext uri="{FF2B5EF4-FFF2-40B4-BE49-F238E27FC236}">
                <a16:creationId xmlns:a16="http://schemas.microsoft.com/office/drawing/2014/main" id="{9A3D4924-65D3-4649-A233-C16FDD26CD55}"/>
              </a:ext>
            </a:extLst>
          </p:cNvPr>
          <p:cNvSpPr/>
          <p:nvPr/>
        </p:nvSpPr>
        <p:spPr>
          <a:xfrm>
            <a:off x="2804913" y="4380135"/>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C</a:t>
            </a:r>
            <a:endParaRPr sz="2133" dirty="0">
              <a:latin typeface="Calibri" panose="020F0502020204030204" pitchFamily="34" charset="0"/>
              <a:cs typeface="Calibri" panose="020F0502020204030204" pitchFamily="34" charset="0"/>
            </a:endParaRPr>
          </a:p>
        </p:txBody>
      </p:sp>
      <p:sp>
        <p:nvSpPr>
          <p:cNvPr id="15" name="Google Shape;752;p43">
            <a:extLst>
              <a:ext uri="{FF2B5EF4-FFF2-40B4-BE49-F238E27FC236}">
                <a16:creationId xmlns:a16="http://schemas.microsoft.com/office/drawing/2014/main" id="{28B63243-8DCD-E546-A5A2-5E3BCBFC3265}"/>
              </a:ext>
            </a:extLst>
          </p:cNvPr>
          <p:cNvSpPr/>
          <p:nvPr/>
        </p:nvSpPr>
        <p:spPr>
          <a:xfrm>
            <a:off x="4141304" y="3949668"/>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F</a:t>
            </a:r>
            <a:endParaRPr sz="2133"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E07C0F91-A9B9-164F-B386-2FC2C42C3A2D}"/>
              </a:ext>
            </a:extLst>
          </p:cNvPr>
          <p:cNvSpPr txBox="1"/>
          <p:nvPr/>
        </p:nvSpPr>
        <p:spPr>
          <a:xfrm>
            <a:off x="945555" y="3272262"/>
            <a:ext cx="817853" cy="369332"/>
          </a:xfrm>
          <a:prstGeom prst="rect">
            <a:avLst/>
          </a:prstGeom>
          <a:noFill/>
        </p:spPr>
        <p:txBody>
          <a:bodyPr wrap="none" rtlCol="0">
            <a:spAutoFit/>
          </a:bodyPr>
          <a:lstStyle/>
          <a:p>
            <a:r>
              <a:rPr lang="en-US" dirty="0">
                <a:solidFill>
                  <a:schemeClr val="tx2">
                    <a:lumMod val="60000"/>
                    <a:lumOff val="40000"/>
                  </a:schemeClr>
                </a:solidFill>
                <a:latin typeface="Consolas" panose="020B0609020204030204" pitchFamily="49" charset="0"/>
                <a:cs typeface="Consolas" panose="020B0609020204030204" pitchFamily="49" charset="0"/>
              </a:rPr>
              <a:t>100.0</a:t>
            </a:r>
          </a:p>
        </p:txBody>
      </p:sp>
      <p:sp>
        <p:nvSpPr>
          <p:cNvPr id="17" name="TextBox 16">
            <a:extLst>
              <a:ext uri="{FF2B5EF4-FFF2-40B4-BE49-F238E27FC236}">
                <a16:creationId xmlns:a16="http://schemas.microsoft.com/office/drawing/2014/main" id="{5AF05953-3B70-E34B-8431-177C3DD7DB69}"/>
              </a:ext>
            </a:extLst>
          </p:cNvPr>
          <p:cNvSpPr txBox="1"/>
          <p:nvPr/>
        </p:nvSpPr>
        <p:spPr>
          <a:xfrm>
            <a:off x="1775460" y="4378976"/>
            <a:ext cx="817853" cy="369332"/>
          </a:xfrm>
          <a:prstGeom prst="rect">
            <a:avLst/>
          </a:prstGeom>
          <a:noFill/>
        </p:spPr>
        <p:txBody>
          <a:bodyPr wrap="none" rtlCol="0">
            <a:spAutoFit/>
          </a:bodyPr>
          <a:lstStyle/>
          <a:p>
            <a:r>
              <a:rPr lang="en-US" dirty="0">
                <a:solidFill>
                  <a:schemeClr val="tx2">
                    <a:lumMod val="60000"/>
                    <a:lumOff val="40000"/>
                  </a:schemeClr>
                </a:solidFill>
                <a:latin typeface="Consolas" panose="020B0609020204030204" pitchFamily="49" charset="0"/>
                <a:cs typeface="Consolas" panose="020B0609020204030204" pitchFamily="49" charset="0"/>
              </a:rPr>
              <a:t>200.0</a:t>
            </a:r>
          </a:p>
        </p:txBody>
      </p:sp>
      <p:sp>
        <p:nvSpPr>
          <p:cNvPr id="18" name="TextBox 17">
            <a:extLst>
              <a:ext uri="{FF2B5EF4-FFF2-40B4-BE49-F238E27FC236}">
                <a16:creationId xmlns:a16="http://schemas.microsoft.com/office/drawing/2014/main" id="{5861E26A-A6C3-7A4D-A277-F0D422F21BAD}"/>
              </a:ext>
            </a:extLst>
          </p:cNvPr>
          <p:cNvSpPr txBox="1"/>
          <p:nvPr/>
        </p:nvSpPr>
        <p:spPr>
          <a:xfrm>
            <a:off x="1999689" y="2140665"/>
            <a:ext cx="564578" cy="369332"/>
          </a:xfrm>
          <a:prstGeom prst="rect">
            <a:avLst/>
          </a:prstGeom>
          <a:noFill/>
        </p:spPr>
        <p:txBody>
          <a:bodyPr wrap="none" rtlCol="0">
            <a:spAutoFit/>
          </a:bodyPr>
          <a:lstStyle/>
          <a:p>
            <a:r>
              <a:rPr lang="en-US" dirty="0">
                <a:solidFill>
                  <a:schemeClr val="tx2">
                    <a:lumMod val="60000"/>
                    <a:lumOff val="40000"/>
                  </a:schemeClr>
                </a:solidFill>
                <a:latin typeface="Consolas" panose="020B0609020204030204" pitchFamily="49" charset="0"/>
                <a:cs typeface="Consolas" panose="020B0609020204030204" pitchFamily="49" charset="0"/>
              </a:rPr>
              <a:t>1.0</a:t>
            </a:r>
          </a:p>
        </p:txBody>
      </p:sp>
      <p:sp>
        <p:nvSpPr>
          <p:cNvPr id="19" name="TextBox 18">
            <a:extLst>
              <a:ext uri="{FF2B5EF4-FFF2-40B4-BE49-F238E27FC236}">
                <a16:creationId xmlns:a16="http://schemas.microsoft.com/office/drawing/2014/main" id="{48D361D9-36E9-0549-BDD3-A83A832AB7D7}"/>
              </a:ext>
            </a:extLst>
          </p:cNvPr>
          <p:cNvSpPr txBox="1"/>
          <p:nvPr/>
        </p:nvSpPr>
        <p:spPr>
          <a:xfrm>
            <a:off x="3576726" y="2124599"/>
            <a:ext cx="564578" cy="369332"/>
          </a:xfrm>
          <a:prstGeom prst="rect">
            <a:avLst/>
          </a:prstGeom>
          <a:noFill/>
        </p:spPr>
        <p:txBody>
          <a:bodyPr wrap="none" rtlCol="0">
            <a:spAutoFit/>
          </a:bodyPr>
          <a:lstStyle/>
          <a:p>
            <a:r>
              <a:rPr lang="en-US" dirty="0">
                <a:solidFill>
                  <a:schemeClr val="tx2">
                    <a:lumMod val="60000"/>
                    <a:lumOff val="40000"/>
                  </a:schemeClr>
                </a:solidFill>
                <a:latin typeface="Consolas" panose="020B0609020204030204" pitchFamily="49" charset="0"/>
                <a:cs typeface="Consolas" panose="020B0609020204030204" pitchFamily="49" charset="0"/>
              </a:rPr>
              <a:t>1.0</a:t>
            </a:r>
          </a:p>
        </p:txBody>
      </p:sp>
      <p:sp>
        <p:nvSpPr>
          <p:cNvPr id="20" name="TextBox 19">
            <a:extLst>
              <a:ext uri="{FF2B5EF4-FFF2-40B4-BE49-F238E27FC236}">
                <a16:creationId xmlns:a16="http://schemas.microsoft.com/office/drawing/2014/main" id="{A88DC2E0-F473-3840-8052-37F1FFB1FE14}"/>
              </a:ext>
            </a:extLst>
          </p:cNvPr>
          <p:cNvSpPr txBox="1"/>
          <p:nvPr/>
        </p:nvSpPr>
        <p:spPr>
          <a:xfrm>
            <a:off x="4352903" y="3272262"/>
            <a:ext cx="564578" cy="369332"/>
          </a:xfrm>
          <a:prstGeom prst="rect">
            <a:avLst/>
          </a:prstGeom>
          <a:noFill/>
        </p:spPr>
        <p:txBody>
          <a:bodyPr wrap="none" rtlCol="0">
            <a:spAutoFit/>
          </a:bodyPr>
          <a:lstStyle/>
          <a:p>
            <a:r>
              <a:rPr lang="en-US" dirty="0">
                <a:solidFill>
                  <a:schemeClr val="tx2">
                    <a:lumMod val="60000"/>
                    <a:lumOff val="40000"/>
                  </a:schemeClr>
                </a:solidFill>
                <a:latin typeface="Consolas" panose="020B0609020204030204" pitchFamily="49" charset="0"/>
                <a:cs typeface="Consolas" panose="020B0609020204030204" pitchFamily="49" charset="0"/>
              </a:rPr>
              <a:t>1.0</a:t>
            </a:r>
          </a:p>
        </p:txBody>
      </p:sp>
      <p:sp>
        <p:nvSpPr>
          <p:cNvPr id="21" name="TextBox 20">
            <a:extLst>
              <a:ext uri="{FF2B5EF4-FFF2-40B4-BE49-F238E27FC236}">
                <a16:creationId xmlns:a16="http://schemas.microsoft.com/office/drawing/2014/main" id="{C3C877BA-F528-4348-9ED6-9320587C9E9D}"/>
              </a:ext>
            </a:extLst>
          </p:cNvPr>
          <p:cNvSpPr txBox="1"/>
          <p:nvPr/>
        </p:nvSpPr>
        <p:spPr>
          <a:xfrm>
            <a:off x="3576726" y="4380135"/>
            <a:ext cx="564578" cy="369332"/>
          </a:xfrm>
          <a:prstGeom prst="rect">
            <a:avLst/>
          </a:prstGeom>
          <a:noFill/>
        </p:spPr>
        <p:txBody>
          <a:bodyPr wrap="none" rtlCol="0">
            <a:spAutoFit/>
          </a:bodyPr>
          <a:lstStyle/>
          <a:p>
            <a:r>
              <a:rPr lang="en-US" dirty="0">
                <a:solidFill>
                  <a:schemeClr val="tx2">
                    <a:lumMod val="60000"/>
                    <a:lumOff val="40000"/>
                  </a:schemeClr>
                </a:solidFill>
                <a:latin typeface="Consolas" panose="020B0609020204030204" pitchFamily="49" charset="0"/>
                <a:cs typeface="Consolas" panose="020B0609020204030204" pitchFamily="49" charset="0"/>
              </a:rPr>
              <a:t>1.0</a:t>
            </a:r>
          </a:p>
        </p:txBody>
      </p:sp>
      <p:sp>
        <p:nvSpPr>
          <p:cNvPr id="22" name="Google Shape;769;p43">
            <a:extLst>
              <a:ext uri="{FF2B5EF4-FFF2-40B4-BE49-F238E27FC236}">
                <a16:creationId xmlns:a16="http://schemas.microsoft.com/office/drawing/2014/main" id="{8AE959AA-60EE-2147-A93A-809FA135BF07}"/>
              </a:ext>
            </a:extLst>
          </p:cNvPr>
          <p:cNvSpPr txBox="1"/>
          <p:nvPr/>
        </p:nvSpPr>
        <p:spPr>
          <a:xfrm>
            <a:off x="586853" y="2556789"/>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
        <p:nvSpPr>
          <p:cNvPr id="23" name="TextBox 22">
            <a:extLst>
              <a:ext uri="{FF2B5EF4-FFF2-40B4-BE49-F238E27FC236}">
                <a16:creationId xmlns:a16="http://schemas.microsoft.com/office/drawing/2014/main" id="{81E98E1C-48D0-6F49-8FC4-ADD600B823FE}"/>
              </a:ext>
            </a:extLst>
          </p:cNvPr>
          <p:cNvSpPr txBox="1"/>
          <p:nvPr/>
        </p:nvSpPr>
        <p:spPr>
          <a:xfrm>
            <a:off x="5696147" y="1488412"/>
            <a:ext cx="6172334"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t>We want the path that minimizes the sum of edge weights</a:t>
            </a:r>
          </a:p>
          <a:p>
            <a:pPr marL="800100" lvl="1" indent="-342900">
              <a:buFont typeface="Arial" panose="020B0604020202020204" pitchFamily="34" charset="0"/>
              <a:buChar char="•"/>
            </a:pPr>
            <a:r>
              <a:rPr lang="en-US" sz="2000" dirty="0"/>
              <a:t>A-D-E-F-C: total distance 4</a:t>
            </a:r>
          </a:p>
          <a:p>
            <a:pPr marL="800100" lvl="1" indent="-342900">
              <a:buFont typeface="Arial" panose="020B0604020202020204" pitchFamily="34" charset="0"/>
              <a:buChar char="•"/>
            </a:pPr>
            <a:r>
              <a:rPr lang="en-US" sz="2000" dirty="0"/>
              <a:t>A-B-C: total distance 300.</a:t>
            </a:r>
          </a:p>
          <a:p>
            <a:pPr marL="342900" indent="-342900">
              <a:buFont typeface="Arial" panose="020B0604020202020204" pitchFamily="34" charset="0"/>
              <a:buChar char="•"/>
            </a:pPr>
            <a:r>
              <a:rPr lang="en-US" sz="2000" dirty="0"/>
              <a:t>Do the edge weights affect how BFS runs?</a:t>
            </a:r>
          </a:p>
          <a:p>
            <a:pPr marL="800100" lvl="1" indent="-342900">
              <a:buFont typeface="Arial" panose="020B0604020202020204" pitchFamily="34" charset="0"/>
              <a:buChar char="•"/>
            </a:pPr>
            <a:r>
              <a:rPr lang="en-US" sz="2000" dirty="0"/>
              <a:t>Nope! Exactly the same path chosen</a:t>
            </a:r>
          </a:p>
        </p:txBody>
      </p:sp>
      <p:sp>
        <p:nvSpPr>
          <p:cNvPr id="24" name="Google Shape;769;p43">
            <a:extLst>
              <a:ext uri="{FF2B5EF4-FFF2-40B4-BE49-F238E27FC236}">
                <a16:creationId xmlns:a16="http://schemas.microsoft.com/office/drawing/2014/main" id="{3574F463-60D2-4649-8D2E-35C3C047393E}"/>
              </a:ext>
            </a:extLst>
          </p:cNvPr>
          <p:cNvSpPr txBox="1"/>
          <p:nvPr/>
        </p:nvSpPr>
        <p:spPr>
          <a:xfrm>
            <a:off x="2534035" y="4709787"/>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target</a:t>
            </a:r>
            <a:endParaRPr sz="1600" dirty="0">
              <a:latin typeface="Consolas" panose="020B0609020204030204" pitchFamily="49" charset="0"/>
              <a:cs typeface="Consolas" panose="020B0609020204030204" pitchFamily="49" charset="0"/>
            </a:endParaRPr>
          </a:p>
        </p:txBody>
      </p:sp>
      <p:grpSp>
        <p:nvGrpSpPr>
          <p:cNvPr id="25" name="Group 24">
            <a:extLst>
              <a:ext uri="{FF2B5EF4-FFF2-40B4-BE49-F238E27FC236}">
                <a16:creationId xmlns:a16="http://schemas.microsoft.com/office/drawing/2014/main" id="{96C88598-907B-C14F-9D1E-6C60C4372A2E}"/>
              </a:ext>
            </a:extLst>
          </p:cNvPr>
          <p:cNvGrpSpPr/>
          <p:nvPr/>
        </p:nvGrpSpPr>
        <p:grpSpPr>
          <a:xfrm>
            <a:off x="126777" y="5773014"/>
            <a:ext cx="1435944" cy="933778"/>
            <a:chOff x="7284772" y="5477007"/>
            <a:chExt cx="1435944" cy="933778"/>
          </a:xfrm>
        </p:grpSpPr>
        <p:sp>
          <p:nvSpPr>
            <p:cNvPr id="26" name="Rectangle 25">
              <a:extLst>
                <a:ext uri="{FF2B5EF4-FFF2-40B4-BE49-F238E27FC236}">
                  <a16:creationId xmlns:a16="http://schemas.microsoft.com/office/drawing/2014/main" id="{3B3D7031-14FA-B048-ACE5-0E867EE3879F}"/>
                </a:ext>
              </a:extLst>
            </p:cNvPr>
            <p:cNvSpPr/>
            <p:nvPr/>
          </p:nvSpPr>
          <p:spPr>
            <a:xfrm>
              <a:off x="7284772" y="5486357"/>
              <a:ext cx="1359049" cy="924428"/>
            </a:xfrm>
            <a:prstGeom prst="rect">
              <a:avLst/>
            </a:prstGeom>
            <a:solidFill>
              <a:schemeClr val="bg1">
                <a:lumMod val="95000"/>
              </a:scheme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A0C37672-4B52-1E47-8FB0-4ABA1563C7B8}"/>
                </a:ext>
              </a:extLst>
            </p:cNvPr>
            <p:cNvCxnSpPr>
              <a:cxnSpLocks/>
            </p:cNvCxnSpPr>
            <p:nvPr/>
          </p:nvCxnSpPr>
          <p:spPr>
            <a:xfrm>
              <a:off x="7586682" y="6067161"/>
              <a:ext cx="0" cy="33427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43B0123-D5CB-8C4C-A866-5C600E929F6F}"/>
                </a:ext>
              </a:extLst>
            </p:cNvPr>
            <p:cNvSpPr txBox="1"/>
            <p:nvPr/>
          </p:nvSpPr>
          <p:spPr>
            <a:xfrm>
              <a:off x="7601254" y="6083548"/>
              <a:ext cx="997581" cy="307777"/>
            </a:xfrm>
            <a:prstGeom prst="rect">
              <a:avLst/>
            </a:prstGeom>
            <a:noFill/>
          </p:spPr>
          <p:txBody>
            <a:bodyPr wrap="square" rtlCol="0">
              <a:spAutoFit/>
            </a:bodyPr>
            <a:lstStyle/>
            <a:p>
              <a:r>
                <a:rPr lang="en-US" sz="1400" b="1" spc="100" dirty="0">
                  <a:solidFill>
                    <a:schemeClr val="accent2"/>
                  </a:solidFill>
                </a:rPr>
                <a:t>E</a:t>
              </a:r>
              <a:r>
                <a:rPr lang="en-US" sz="1200" b="1" spc="100" dirty="0">
                  <a:solidFill>
                    <a:schemeClr val="accent2"/>
                  </a:solidFill>
                </a:rPr>
                <a:t>DGE</a:t>
              </a:r>
              <a:r>
                <a:rPr lang="en-US" sz="1400" b="1" spc="100" dirty="0">
                  <a:solidFill>
                    <a:schemeClr val="accent2"/>
                  </a:solidFill>
                </a:rPr>
                <a:t>T</a:t>
              </a:r>
              <a:r>
                <a:rPr lang="en-US" sz="1200" b="1" spc="100" dirty="0">
                  <a:solidFill>
                    <a:schemeClr val="accent2"/>
                  </a:solidFill>
                </a:rPr>
                <a:t>O</a:t>
              </a:r>
              <a:endParaRPr lang="en-US" sz="1400" b="1" spc="100" dirty="0">
                <a:solidFill>
                  <a:schemeClr val="accent2"/>
                </a:solidFill>
              </a:endParaRPr>
            </a:p>
          </p:txBody>
        </p:sp>
        <p:sp>
          <p:nvSpPr>
            <p:cNvPr id="29" name="TextBox 28">
              <a:extLst>
                <a:ext uri="{FF2B5EF4-FFF2-40B4-BE49-F238E27FC236}">
                  <a16:creationId xmlns:a16="http://schemas.microsoft.com/office/drawing/2014/main" id="{00C2076F-D91D-D44F-909B-D8D73D098989}"/>
                </a:ext>
              </a:extLst>
            </p:cNvPr>
            <p:cNvSpPr txBox="1"/>
            <p:nvPr/>
          </p:nvSpPr>
          <p:spPr>
            <a:xfrm>
              <a:off x="7808671" y="5477007"/>
              <a:ext cx="912045" cy="307777"/>
            </a:xfrm>
            <a:prstGeom prst="rect">
              <a:avLst/>
            </a:prstGeom>
            <a:noFill/>
          </p:spPr>
          <p:txBody>
            <a:bodyPr wrap="square" rtlCol="0">
              <a:spAutoFit/>
            </a:bodyPr>
            <a:lstStyle/>
            <a:p>
              <a:r>
                <a:rPr lang="en-US" sz="1400" b="1" spc="100" dirty="0">
                  <a:solidFill>
                    <a:srgbClr val="00B0F0"/>
                  </a:solidFill>
                </a:rPr>
                <a:t>D</a:t>
              </a:r>
              <a:r>
                <a:rPr lang="en-US" sz="1200" b="1" spc="100" dirty="0">
                  <a:solidFill>
                    <a:srgbClr val="00B0F0"/>
                  </a:solidFill>
                </a:rPr>
                <a:t>IST</a:t>
              </a:r>
              <a:r>
                <a:rPr lang="en-US" sz="1400" b="1" spc="100" dirty="0">
                  <a:solidFill>
                    <a:srgbClr val="00B0F0"/>
                  </a:solidFill>
                </a:rPr>
                <a:t>T</a:t>
              </a:r>
              <a:r>
                <a:rPr lang="en-US" sz="1200" b="1" spc="100" dirty="0">
                  <a:solidFill>
                    <a:srgbClr val="00B0F0"/>
                  </a:solidFill>
                </a:rPr>
                <a:t>O</a:t>
              </a:r>
              <a:endParaRPr lang="en-US" sz="1400" b="1" spc="100" dirty="0">
                <a:solidFill>
                  <a:srgbClr val="00B0F0"/>
                </a:solidFill>
              </a:endParaRPr>
            </a:p>
          </p:txBody>
        </p:sp>
        <p:sp>
          <p:nvSpPr>
            <p:cNvPr id="30" name="TextBox 29">
              <a:extLst>
                <a:ext uri="{FF2B5EF4-FFF2-40B4-BE49-F238E27FC236}">
                  <a16:creationId xmlns:a16="http://schemas.microsoft.com/office/drawing/2014/main" id="{9421CD31-BE96-EA4C-9455-0BC4A07330DA}"/>
                </a:ext>
              </a:extLst>
            </p:cNvPr>
            <p:cNvSpPr txBox="1"/>
            <p:nvPr/>
          </p:nvSpPr>
          <p:spPr>
            <a:xfrm>
              <a:off x="7782879" y="5769563"/>
              <a:ext cx="851515" cy="307777"/>
            </a:xfrm>
            <a:prstGeom prst="rect">
              <a:avLst/>
            </a:prstGeom>
            <a:noFill/>
          </p:spPr>
          <p:txBody>
            <a:bodyPr wrap="none" rtlCol="0">
              <a:spAutoFit/>
            </a:bodyPr>
            <a:lstStyle/>
            <a:p>
              <a:r>
                <a:rPr lang="en-US" sz="1400" b="1" spc="100" dirty="0">
                  <a:solidFill>
                    <a:schemeClr val="accent6"/>
                  </a:solidFill>
                </a:rPr>
                <a:t>VISITED</a:t>
              </a:r>
            </a:p>
          </p:txBody>
        </p:sp>
        <p:sp>
          <p:nvSpPr>
            <p:cNvPr id="31" name="Google Shape;755;p43">
              <a:extLst>
                <a:ext uri="{FF2B5EF4-FFF2-40B4-BE49-F238E27FC236}">
                  <a16:creationId xmlns:a16="http://schemas.microsoft.com/office/drawing/2014/main" id="{7675CB91-6CE4-734D-A328-A582AE9F5FD7}"/>
                </a:ext>
              </a:extLst>
            </p:cNvPr>
            <p:cNvSpPr/>
            <p:nvPr/>
          </p:nvSpPr>
          <p:spPr>
            <a:xfrm>
              <a:off x="7442483" y="5803588"/>
              <a:ext cx="288398" cy="229792"/>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100" dirty="0">
                  <a:latin typeface="Calibri" panose="020F0502020204030204" pitchFamily="34" charset="0"/>
                  <a:cs typeface="Calibri" panose="020F0502020204030204" pitchFamily="34" charset="0"/>
                </a:rPr>
                <a:t>Z</a:t>
              </a:r>
              <a:endParaRPr sz="1100" dirty="0">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9A22B0E5-6A81-094C-B1DC-51B102BFEC50}"/>
                </a:ext>
              </a:extLst>
            </p:cNvPr>
            <p:cNvSpPr/>
            <p:nvPr/>
          </p:nvSpPr>
          <p:spPr>
            <a:xfrm>
              <a:off x="7412267" y="5762253"/>
              <a:ext cx="356598" cy="304908"/>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58323864-13C2-A746-8B15-83F6FC521903}"/>
                </a:ext>
              </a:extLst>
            </p:cNvPr>
            <p:cNvSpPr txBox="1"/>
            <p:nvPr/>
          </p:nvSpPr>
          <p:spPr>
            <a:xfrm>
              <a:off x="7613213" y="5486357"/>
              <a:ext cx="311304" cy="276999"/>
            </a:xfrm>
            <a:prstGeom prst="rect">
              <a:avLst/>
            </a:prstGeom>
            <a:noFill/>
          </p:spPr>
          <p:txBody>
            <a:bodyPr wrap="square" rtlCol="0">
              <a:spAutoFit/>
            </a:bodyPr>
            <a:lstStyle/>
            <a:p>
              <a:r>
                <a:rPr lang="en-US" sz="1200" b="1" dirty="0">
                  <a:solidFill>
                    <a:srgbClr val="00B0F0"/>
                  </a:solidFill>
                  <a:latin typeface="Consolas" panose="020B0609020204030204" pitchFamily="49" charset="0"/>
                  <a:cs typeface="Consolas" panose="020B0609020204030204" pitchFamily="49" charset="0"/>
                </a:rPr>
                <a:t>1</a:t>
              </a:r>
            </a:p>
          </p:txBody>
        </p:sp>
      </p:grpSp>
      <p:cxnSp>
        <p:nvCxnSpPr>
          <p:cNvPr id="48" name="Straight Arrow Connector 47">
            <a:extLst>
              <a:ext uri="{FF2B5EF4-FFF2-40B4-BE49-F238E27FC236}">
                <a16:creationId xmlns:a16="http://schemas.microsoft.com/office/drawing/2014/main" id="{86402254-EAA1-EF47-A2B1-75120F46DF57}"/>
              </a:ext>
            </a:extLst>
          </p:cNvPr>
          <p:cNvCxnSpPr>
            <a:cxnSpLocks/>
          </p:cNvCxnSpPr>
          <p:nvPr/>
        </p:nvCxnSpPr>
        <p:spPr>
          <a:xfrm flipH="1" flipV="1">
            <a:off x="1886929" y="3179230"/>
            <a:ext cx="11919" cy="698303"/>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9DCCEF3F-ECDC-D948-8AA5-735509DFABC2}"/>
              </a:ext>
            </a:extLst>
          </p:cNvPr>
          <p:cNvSpPr/>
          <p:nvPr/>
        </p:nvSpPr>
        <p:spPr>
          <a:xfrm>
            <a:off x="1494154" y="2565374"/>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861F2DE-23FF-1A47-80D6-E9B22447B15E}"/>
              </a:ext>
            </a:extLst>
          </p:cNvPr>
          <p:cNvSpPr/>
          <p:nvPr/>
        </p:nvSpPr>
        <p:spPr>
          <a:xfrm>
            <a:off x="1507621" y="3894555"/>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1D82303D-3B2E-CF44-844B-334981216413}"/>
              </a:ext>
            </a:extLst>
          </p:cNvPr>
          <p:cNvSpPr/>
          <p:nvPr/>
        </p:nvSpPr>
        <p:spPr>
          <a:xfrm>
            <a:off x="2754874" y="2085552"/>
            <a:ext cx="523276" cy="447426"/>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819A23D1-2CB5-9F4A-B372-5EA048EA531A}"/>
              </a:ext>
            </a:extLst>
          </p:cNvPr>
          <p:cNvCxnSpPr>
            <a:cxnSpLocks/>
          </p:cNvCxnSpPr>
          <p:nvPr/>
        </p:nvCxnSpPr>
        <p:spPr>
          <a:xfrm flipH="1">
            <a:off x="2224149" y="2457908"/>
            <a:ext cx="589787" cy="318107"/>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F460C73-BD7F-F547-805B-BCFF1C32988F}"/>
              </a:ext>
            </a:extLst>
          </p:cNvPr>
          <p:cNvCxnSpPr>
            <a:cxnSpLocks/>
          </p:cNvCxnSpPr>
          <p:nvPr/>
        </p:nvCxnSpPr>
        <p:spPr>
          <a:xfrm flipH="1" flipV="1">
            <a:off x="2332836" y="4134842"/>
            <a:ext cx="481100" cy="258615"/>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2F93395-345B-4143-BB22-22CF75C9C6E4}"/>
              </a:ext>
            </a:extLst>
          </p:cNvPr>
          <p:cNvSpPr txBox="1"/>
          <p:nvPr/>
        </p:nvSpPr>
        <p:spPr>
          <a:xfrm>
            <a:off x="1886929" y="3561870"/>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59" name="TextBox 58">
            <a:extLst>
              <a:ext uri="{FF2B5EF4-FFF2-40B4-BE49-F238E27FC236}">
                <a16:creationId xmlns:a16="http://schemas.microsoft.com/office/drawing/2014/main" id="{7700A42C-E1F3-2240-996D-BBBF21552FF8}"/>
              </a:ext>
            </a:extLst>
          </p:cNvPr>
          <p:cNvSpPr txBox="1"/>
          <p:nvPr/>
        </p:nvSpPr>
        <p:spPr>
          <a:xfrm>
            <a:off x="1831870" y="2194958"/>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0</a:t>
            </a:r>
          </a:p>
        </p:txBody>
      </p:sp>
      <p:sp>
        <p:nvSpPr>
          <p:cNvPr id="60" name="TextBox 59">
            <a:extLst>
              <a:ext uri="{FF2B5EF4-FFF2-40B4-BE49-F238E27FC236}">
                <a16:creationId xmlns:a16="http://schemas.microsoft.com/office/drawing/2014/main" id="{837C17B1-4835-0C46-9A73-166351A11A35}"/>
              </a:ext>
            </a:extLst>
          </p:cNvPr>
          <p:cNvSpPr txBox="1"/>
          <p:nvPr/>
        </p:nvSpPr>
        <p:spPr>
          <a:xfrm>
            <a:off x="3072506" y="1727692"/>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1</a:t>
            </a:r>
          </a:p>
        </p:txBody>
      </p:sp>
      <p:sp>
        <p:nvSpPr>
          <p:cNvPr id="61" name="TextBox 60">
            <a:extLst>
              <a:ext uri="{FF2B5EF4-FFF2-40B4-BE49-F238E27FC236}">
                <a16:creationId xmlns:a16="http://schemas.microsoft.com/office/drawing/2014/main" id="{6AFB8C1C-26C1-2340-B861-6ED526A48757}"/>
              </a:ext>
            </a:extLst>
          </p:cNvPr>
          <p:cNvSpPr txBox="1"/>
          <p:nvPr/>
        </p:nvSpPr>
        <p:spPr>
          <a:xfrm>
            <a:off x="3037615" y="4047487"/>
            <a:ext cx="311304" cy="369332"/>
          </a:xfrm>
          <a:prstGeom prst="rect">
            <a:avLst/>
          </a:prstGeom>
          <a:noFill/>
        </p:spPr>
        <p:txBody>
          <a:bodyPr wrap="square" rtlCol="0">
            <a:spAutoFit/>
          </a:bodyPr>
          <a:lstStyle/>
          <a:p>
            <a:r>
              <a:rPr lang="en-US" b="1" dirty="0">
                <a:solidFill>
                  <a:srgbClr val="00B0F0"/>
                </a:solidFill>
                <a:latin typeface="Consolas" panose="020B0609020204030204" pitchFamily="49" charset="0"/>
                <a:cs typeface="Consolas" panose="020B0609020204030204" pitchFamily="49" charset="0"/>
              </a:rPr>
              <a:t>2</a:t>
            </a:r>
          </a:p>
        </p:txBody>
      </p:sp>
      <p:sp>
        <p:nvSpPr>
          <p:cNvPr id="62" name="TextBox 61">
            <a:extLst>
              <a:ext uri="{FF2B5EF4-FFF2-40B4-BE49-F238E27FC236}">
                <a16:creationId xmlns:a16="http://schemas.microsoft.com/office/drawing/2014/main" id="{90BEE128-5472-CA49-BDAA-E67716FEDF3F}"/>
              </a:ext>
            </a:extLst>
          </p:cNvPr>
          <p:cNvSpPr txBox="1"/>
          <p:nvPr/>
        </p:nvSpPr>
        <p:spPr>
          <a:xfrm>
            <a:off x="5625353" y="3662991"/>
            <a:ext cx="6172334" cy="2246769"/>
          </a:xfrm>
          <a:prstGeom prst="rect">
            <a:avLst/>
          </a:prstGeom>
          <a:noFill/>
        </p:spPr>
        <p:txBody>
          <a:bodyPr wrap="square" rtlCol="0">
            <a:spAutoFit/>
          </a:bodyPr>
          <a:lstStyle/>
          <a:p>
            <a:pPr marL="342900" indent="-342900">
              <a:buFont typeface="Arial" panose="020B0604020202020204" pitchFamily="34" charset="0"/>
              <a:buChar char="•"/>
            </a:pPr>
            <a:r>
              <a:rPr lang="en-US" sz="2000" b="1" dirty="0"/>
              <a:t>Observation</a:t>
            </a:r>
            <a:r>
              <a:rPr lang="en-US" sz="2000" dirty="0"/>
              <a:t>: still have “First Try Phenomenon”</a:t>
            </a:r>
          </a:p>
          <a:p>
            <a:pPr marL="342900" indent="-342900">
              <a:buFont typeface="Arial" panose="020B0604020202020204" pitchFamily="34" charset="0"/>
              <a:buChar char="•"/>
            </a:pPr>
            <a:r>
              <a:rPr lang="en-US" sz="2000" b="1" dirty="0"/>
              <a:t>Key</a:t>
            </a:r>
            <a:r>
              <a:rPr lang="en-US" sz="2000" dirty="0"/>
              <a:t> </a:t>
            </a:r>
            <a:r>
              <a:rPr lang="en-US" sz="2000" b="1" dirty="0"/>
              <a:t>Intuition</a:t>
            </a:r>
            <a:r>
              <a:rPr lang="en-US" sz="2000" dirty="0"/>
              <a:t>: yet BFS breaks because we no longer process the closest vertices first (that is, not closest according to the edge weights!)</a:t>
            </a:r>
          </a:p>
          <a:p>
            <a:pPr marL="800100" lvl="1" indent="-342900">
              <a:buFont typeface="Arial" panose="020B0604020202020204" pitchFamily="34" charset="0"/>
              <a:buChar char="•"/>
            </a:pPr>
            <a:r>
              <a:rPr lang="en-US" sz="2000" dirty="0"/>
              <a:t>So we can’t rely on first path found being best anymore </a:t>
            </a:r>
            <a:r>
              <a:rPr lang="en-US" sz="2000" dirty="0">
                <a:sym typeface="Wingdings" pitchFamily="2" charset="2"/>
              </a:rPr>
              <a:t></a:t>
            </a:r>
            <a:endParaRPr lang="en-US" sz="2000" dirty="0"/>
          </a:p>
          <a:p>
            <a:pPr lvl="1"/>
            <a:endParaRPr lang="en-US" sz="2000" dirty="0"/>
          </a:p>
        </p:txBody>
      </p:sp>
      <p:sp>
        <p:nvSpPr>
          <p:cNvPr id="63" name="TextBox 62">
            <a:extLst>
              <a:ext uri="{FF2B5EF4-FFF2-40B4-BE49-F238E27FC236}">
                <a16:creationId xmlns:a16="http://schemas.microsoft.com/office/drawing/2014/main" id="{A215E41E-37D1-E649-BAF1-335E02305317}"/>
              </a:ext>
            </a:extLst>
          </p:cNvPr>
          <p:cNvSpPr txBox="1"/>
          <p:nvPr/>
        </p:nvSpPr>
        <p:spPr>
          <a:xfrm>
            <a:off x="244439" y="5487339"/>
            <a:ext cx="1132298" cy="307777"/>
          </a:xfrm>
          <a:prstGeom prst="rect">
            <a:avLst/>
          </a:prstGeom>
          <a:noFill/>
        </p:spPr>
        <p:txBody>
          <a:bodyPr wrap="none" rtlCol="0">
            <a:spAutoFit/>
          </a:bodyPr>
          <a:lstStyle/>
          <a:p>
            <a:r>
              <a:rPr lang="en-US" sz="1400" dirty="0"/>
              <a:t>BFS Tracking:</a:t>
            </a:r>
          </a:p>
        </p:txBody>
      </p:sp>
    </p:spTree>
    <p:extLst>
      <p:ext uri="{BB962C8B-B14F-4D97-AF65-F5344CB8AC3E}">
        <p14:creationId xmlns:p14="http://schemas.microsoft.com/office/powerpoint/2010/main" val="152531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2">
                                            <p:txEl>
                                              <p:pRg st="1" end="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50" grpId="0" animBg="1"/>
      <p:bldP spid="51" grpId="0" animBg="1"/>
      <p:bldP spid="52" grpId="0" animBg="1"/>
      <p:bldP spid="58" grpId="0"/>
      <p:bldP spid="59" grpId="0"/>
      <p:bldP spid="60" grpId="0"/>
      <p:bldP spid="6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bg1">
                    <a:lumMod val="85000"/>
                  </a:schemeClr>
                </a:solidFill>
              </a:rPr>
              <a:t>Review</a:t>
            </a:r>
            <a:r>
              <a:rPr lang="en-US" sz="1900" dirty="0">
                <a:solidFill>
                  <a:schemeClr val="bg1">
                    <a:lumMod val="85000"/>
                  </a:schemeClr>
                </a:solidFill>
              </a:rPr>
              <a:t>  </a:t>
            </a:r>
            <a:r>
              <a:rPr lang="en-US" sz="1900" b="1" dirty="0">
                <a:solidFill>
                  <a:schemeClr val="bg1">
                    <a:lumMod val="85000"/>
                  </a:schemeClr>
                </a:solidFill>
              </a:rPr>
              <a:t>DFS, BFS, Unweighted Shortest Paths</a:t>
            </a:r>
          </a:p>
          <a:p>
            <a:pPr marL="0" indent="0">
              <a:buNone/>
            </a:pPr>
            <a:endParaRPr lang="en-US" sz="1900" dirty="0"/>
          </a:p>
          <a:p>
            <a:r>
              <a:rPr lang="en-US" sz="1900" dirty="0">
                <a:solidFill>
                  <a:schemeClr val="bg2"/>
                </a:solidFill>
              </a:rPr>
              <a:t>Weighted </a:t>
            </a:r>
            <a:r>
              <a:rPr lang="en-US" sz="1900" dirty="0">
                <a:solidFill>
                  <a:schemeClr val="bg2"/>
                </a:solidFill>
                <a:sym typeface="Wingdings" pitchFamily="2" charset="2"/>
              </a:rPr>
              <a:t>Graphs</a:t>
            </a:r>
          </a:p>
          <a:p>
            <a:pPr marL="0" indent="0">
              <a:buNone/>
            </a:pPr>
            <a:endParaRPr lang="en-US" sz="1900" dirty="0">
              <a:sym typeface="Wingdings" pitchFamily="2" charset="2"/>
            </a:endParaRPr>
          </a:p>
          <a:p>
            <a:r>
              <a:rPr lang="en-US" sz="1900" dirty="0">
                <a:solidFill>
                  <a:schemeClr val="bg2"/>
                </a:solidFill>
                <a:sym typeface="Wingdings" pitchFamily="2" charset="2"/>
              </a:rPr>
              <a:t>Minimum Spanning Tree (MST)</a:t>
            </a:r>
          </a:p>
          <a:p>
            <a:pPr lvl="1"/>
            <a:r>
              <a:rPr lang="en-US" altLang="en-US" sz="1500" dirty="0">
                <a:solidFill>
                  <a:schemeClr val="bg2"/>
                </a:solidFill>
              </a:rPr>
              <a:t>Prim’s Algorithm </a:t>
            </a:r>
          </a:p>
          <a:p>
            <a:pPr lvl="1"/>
            <a:r>
              <a:rPr lang="en-US" sz="1500" dirty="0">
                <a:solidFill>
                  <a:schemeClr val="bg2"/>
                </a:solidFill>
              </a:rPr>
              <a:t>Kruskal’s </a:t>
            </a:r>
            <a:r>
              <a:rPr lang="en-US" altLang="en-US" sz="1500" dirty="0">
                <a:solidFill>
                  <a:schemeClr val="bg2"/>
                </a:solidFill>
              </a:rPr>
              <a:t>Algorithm</a:t>
            </a:r>
          </a:p>
          <a:p>
            <a:pPr lvl="1"/>
            <a:endParaRPr lang="en-US" sz="1500" dirty="0"/>
          </a:p>
          <a:p>
            <a:r>
              <a:rPr lang="en-US" sz="1900" dirty="0">
                <a:solidFill>
                  <a:schemeClr val="bg2"/>
                </a:solidFill>
              </a:rPr>
              <a:t>Weighted Shortest Path Problem</a:t>
            </a:r>
          </a:p>
          <a:p>
            <a:r>
              <a:rPr lang="en-US" sz="1900" dirty="0">
                <a:solidFill>
                  <a:srgbClr val="FF0000"/>
                </a:solidFill>
              </a:rPr>
              <a:t>Dijkstra’s Algorithm</a:t>
            </a:r>
          </a:p>
          <a:p>
            <a:pPr marL="685800" lvl="2">
              <a:spcBef>
                <a:spcPts val="1000"/>
              </a:spcBef>
              <a:buFont typeface="Arial" panose="020B0604020202020204" pitchFamily="34" charset="0"/>
              <a:buChar char="•"/>
            </a:pPr>
            <a:r>
              <a:rPr lang="en-US" sz="1500" dirty="0">
                <a:solidFill>
                  <a:srgbClr val="FF0000"/>
                </a:solidFill>
              </a:rPr>
              <a:t>Definition &amp; Examples</a:t>
            </a:r>
          </a:p>
          <a:p>
            <a:pPr marL="685800" lvl="2">
              <a:spcBef>
                <a:spcPts val="1000"/>
              </a:spcBef>
              <a:buFont typeface="Arial" panose="020B0604020202020204" pitchFamily="34" charset="0"/>
              <a:buChar char="•"/>
            </a:pPr>
            <a:r>
              <a:rPr lang="en-US" sz="1500" dirty="0"/>
              <a:t>Implementing Dijkstra’s</a:t>
            </a:r>
          </a:p>
          <a:p>
            <a:pPr marL="0" indent="0">
              <a:buNone/>
            </a:pPr>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3541428" y="4946425"/>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1476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lstStyle/>
          <a:p>
            <a:r>
              <a:rPr lang="en-US" sz="2400" b="1" i="1" dirty="0">
                <a:solidFill>
                  <a:schemeClr val="accent4"/>
                </a:solidFill>
              </a:rPr>
              <a:t>Review</a:t>
            </a:r>
            <a:r>
              <a:rPr lang="en-US" dirty="0"/>
              <a:t>  DFS, BFS, Unweighted Shortest Paths</a:t>
            </a:r>
          </a:p>
          <a:p>
            <a:pPr marL="0" indent="0">
              <a:buNone/>
            </a:pPr>
            <a:endParaRPr lang="en-US" dirty="0"/>
          </a:p>
          <a:p>
            <a:r>
              <a:rPr lang="en-US" dirty="0"/>
              <a:t>Weighted Shortest Path Problem</a:t>
            </a:r>
          </a:p>
          <a:p>
            <a:endParaRPr lang="en-US" dirty="0"/>
          </a:p>
          <a:p>
            <a:r>
              <a:rPr lang="en-US" dirty="0"/>
              <a:t>Reductions: Weighted </a:t>
            </a:r>
            <a:r>
              <a:rPr lang="en-US" dirty="0">
                <a:sym typeface="Wingdings" pitchFamily="2" charset="2"/>
              </a:rPr>
              <a:t> Unweighted</a:t>
            </a:r>
            <a:endParaRPr lang="en-US" dirty="0"/>
          </a:p>
          <a:p>
            <a:pPr marL="0" indent="0">
              <a:buNone/>
            </a:pPr>
            <a:endParaRPr lang="en-US" dirty="0"/>
          </a:p>
          <a:p>
            <a:r>
              <a:rPr lang="en-US" b="1" dirty="0">
                <a:solidFill>
                  <a:schemeClr val="accent5"/>
                </a:solidFill>
              </a:rPr>
              <a:t>Dijkstra’s Algorithm</a:t>
            </a:r>
          </a:p>
          <a:p>
            <a:pPr lvl="1"/>
            <a:r>
              <a:rPr lang="en-US" b="1" dirty="0">
                <a:solidFill>
                  <a:schemeClr val="accent5"/>
                </a:solidFill>
              </a:rPr>
              <a:t>Definition &amp; Examples</a:t>
            </a:r>
          </a:p>
          <a:p>
            <a:pPr lvl="1"/>
            <a:r>
              <a:rPr lang="en-US" dirty="0"/>
              <a:t>Implementing Dijkstra’s</a:t>
            </a:r>
          </a:p>
          <a:p>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4642310" y="4929263"/>
            <a:ext cx="444843" cy="308919"/>
          </a:xfrm>
          <a:prstGeom prst="homePlat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0968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pPr eaLnBrk="1" hangingPunct="1"/>
            <a:r>
              <a:rPr lang="en-US"/>
              <a:t>Dijkstra’s Algorithm</a:t>
            </a:r>
          </a:p>
        </p:txBody>
      </p:sp>
      <p:sp>
        <p:nvSpPr>
          <p:cNvPr id="23554" name="Content Placeholder 2"/>
          <p:cNvSpPr>
            <a:spLocks noGrp="1"/>
          </p:cNvSpPr>
          <p:nvPr>
            <p:ph idx="1"/>
            <p:custDataLst>
              <p:tags r:id="rId2"/>
            </p:custDataLst>
          </p:nvPr>
        </p:nvSpPr>
        <p:spPr/>
        <p:txBody>
          <a:bodyPr/>
          <a:lstStyle/>
          <a:p>
            <a:pPr eaLnBrk="1" hangingPunct="1"/>
            <a:r>
              <a:rPr lang="en-US" dirty="0"/>
              <a:t>Named after its inventor, </a:t>
            </a:r>
            <a:r>
              <a:rPr lang="en-US" dirty="0" err="1"/>
              <a:t>Edsger</a:t>
            </a:r>
            <a:r>
              <a:rPr lang="en-US" dirty="0"/>
              <a:t> Dijkstra (1930-2002)</a:t>
            </a:r>
          </a:p>
          <a:p>
            <a:pPr lvl="1" eaLnBrk="1" hangingPunct="1"/>
            <a:r>
              <a:rPr lang="en-US" dirty="0"/>
              <a:t>Truly one of the “founders” of computer science</a:t>
            </a:r>
          </a:p>
          <a:p>
            <a:pPr lvl="1" eaLnBrk="1" hangingPunct="1"/>
            <a:r>
              <a:rPr lang="en-US" dirty="0"/>
              <a:t>1972 Turing Award</a:t>
            </a:r>
          </a:p>
          <a:p>
            <a:pPr lvl="1" eaLnBrk="1" hangingPunct="1"/>
            <a:r>
              <a:rPr lang="en-US" dirty="0"/>
              <a:t>This algorithm is just </a:t>
            </a:r>
            <a:r>
              <a:rPr lang="en-US" i="1" dirty="0"/>
              <a:t>one</a:t>
            </a:r>
            <a:r>
              <a:rPr lang="en-US" dirty="0"/>
              <a:t> of his many contributions!</a:t>
            </a:r>
          </a:p>
          <a:p>
            <a:pPr lvl="1" eaLnBrk="1" hangingPunct="1"/>
            <a:r>
              <a:rPr lang="en-US" dirty="0"/>
              <a:t>Example quote: “Computer science is no more about computers than astronomy is about telescopes”</a:t>
            </a:r>
          </a:p>
          <a:p>
            <a:pPr lvl="1" eaLnBrk="1" hangingPunct="1"/>
            <a:endParaRPr lang="en-US" dirty="0"/>
          </a:p>
          <a:p>
            <a:pPr eaLnBrk="1" hangingPunct="1"/>
            <a:r>
              <a:rPr lang="en-US" dirty="0"/>
              <a:t>The idea: reminiscent of BFS, but adapted to handle weights</a:t>
            </a:r>
          </a:p>
          <a:p>
            <a:pPr lvl="1"/>
            <a:r>
              <a:rPr lang="en-US" dirty="0"/>
              <a:t>Grow the set of nodes whose shortest distance has been computed</a:t>
            </a:r>
          </a:p>
          <a:p>
            <a:pPr lvl="1"/>
            <a:r>
              <a:rPr lang="en-US" dirty="0"/>
              <a:t>Nodes not in the set will have a “best distance so far”</a:t>
            </a:r>
          </a:p>
          <a:p>
            <a:pPr lvl="1" eaLnBrk="1" hangingPunct="1"/>
            <a:endParaRPr lang="en-US" dirty="0"/>
          </a:p>
          <a:p>
            <a:pPr eaLnBrk="1" hangingPunct="1"/>
            <a:endParaRPr lang="en-US" dirty="0"/>
          </a:p>
        </p:txBody>
      </p:sp>
    </p:spTree>
    <p:extLst>
      <p:ext uri="{BB962C8B-B14F-4D97-AF65-F5344CB8AC3E}">
        <p14:creationId xmlns:p14="http://schemas.microsoft.com/office/powerpoint/2010/main" val="4056231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3FF10C4D-FFF4-EC40-9E0A-9C1DD8BD9932}"/>
              </a:ext>
            </a:extLst>
          </p:cNvPr>
          <p:cNvSpPr/>
          <p:nvPr/>
        </p:nvSpPr>
        <p:spPr>
          <a:xfrm>
            <a:off x="3847392" y="1346231"/>
            <a:ext cx="2936837" cy="2420471"/>
          </a:xfrm>
          <a:custGeom>
            <a:avLst/>
            <a:gdLst>
              <a:gd name="connsiteX0" fmla="*/ 2528047 w 2936837"/>
              <a:gd name="connsiteY0" fmla="*/ 96819 h 2420471"/>
              <a:gd name="connsiteX1" fmla="*/ 2452743 w 2936837"/>
              <a:gd name="connsiteY1" fmla="*/ 86061 h 2420471"/>
              <a:gd name="connsiteX2" fmla="*/ 2388197 w 2936837"/>
              <a:gd name="connsiteY2" fmla="*/ 43031 h 2420471"/>
              <a:gd name="connsiteX3" fmla="*/ 2355924 w 2936837"/>
              <a:gd name="connsiteY3" fmla="*/ 21516 h 2420471"/>
              <a:gd name="connsiteX4" fmla="*/ 2291379 w 2936837"/>
              <a:gd name="connsiteY4" fmla="*/ 0 h 2420471"/>
              <a:gd name="connsiteX5" fmla="*/ 1990164 w 2936837"/>
              <a:gd name="connsiteY5" fmla="*/ 10758 h 2420471"/>
              <a:gd name="connsiteX6" fmla="*/ 1936376 w 2936837"/>
              <a:gd name="connsiteY6" fmla="*/ 21516 h 2420471"/>
              <a:gd name="connsiteX7" fmla="*/ 1850315 w 2936837"/>
              <a:gd name="connsiteY7" fmla="*/ 43031 h 2420471"/>
              <a:gd name="connsiteX8" fmla="*/ 1818042 w 2936837"/>
              <a:gd name="connsiteY8" fmla="*/ 53788 h 2420471"/>
              <a:gd name="connsiteX9" fmla="*/ 1731981 w 2936837"/>
              <a:gd name="connsiteY9" fmla="*/ 75304 h 2420471"/>
              <a:gd name="connsiteX10" fmla="*/ 1688950 w 2936837"/>
              <a:gd name="connsiteY10" fmla="*/ 86061 h 2420471"/>
              <a:gd name="connsiteX11" fmla="*/ 1613647 w 2936837"/>
              <a:gd name="connsiteY11" fmla="*/ 107577 h 2420471"/>
              <a:gd name="connsiteX12" fmla="*/ 1204856 w 2936837"/>
              <a:gd name="connsiteY12" fmla="*/ 96819 h 2420471"/>
              <a:gd name="connsiteX13" fmla="*/ 1161826 w 2936837"/>
              <a:gd name="connsiteY13" fmla="*/ 86061 h 2420471"/>
              <a:gd name="connsiteX14" fmla="*/ 1108037 w 2936837"/>
              <a:gd name="connsiteY14" fmla="*/ 75304 h 2420471"/>
              <a:gd name="connsiteX15" fmla="*/ 1043492 w 2936837"/>
              <a:gd name="connsiteY15" fmla="*/ 64546 h 2420471"/>
              <a:gd name="connsiteX16" fmla="*/ 1000461 w 2936837"/>
              <a:gd name="connsiteY16" fmla="*/ 53788 h 2420471"/>
              <a:gd name="connsiteX17" fmla="*/ 903642 w 2936837"/>
              <a:gd name="connsiteY17" fmla="*/ 43031 h 2420471"/>
              <a:gd name="connsiteX18" fmla="*/ 720762 w 2936837"/>
              <a:gd name="connsiteY18" fmla="*/ 53788 h 2420471"/>
              <a:gd name="connsiteX19" fmla="*/ 656216 w 2936837"/>
              <a:gd name="connsiteY19" fmla="*/ 75304 h 2420471"/>
              <a:gd name="connsiteX20" fmla="*/ 623943 w 2936837"/>
              <a:gd name="connsiteY20" fmla="*/ 86061 h 2420471"/>
              <a:gd name="connsiteX21" fmla="*/ 591670 w 2936837"/>
              <a:gd name="connsiteY21" fmla="*/ 107577 h 2420471"/>
              <a:gd name="connsiteX22" fmla="*/ 559397 w 2936837"/>
              <a:gd name="connsiteY22" fmla="*/ 118334 h 2420471"/>
              <a:gd name="connsiteX23" fmla="*/ 494852 w 2936837"/>
              <a:gd name="connsiteY23" fmla="*/ 161365 h 2420471"/>
              <a:gd name="connsiteX24" fmla="*/ 462579 w 2936837"/>
              <a:gd name="connsiteY24" fmla="*/ 182880 h 2420471"/>
              <a:gd name="connsiteX25" fmla="*/ 430306 w 2936837"/>
              <a:gd name="connsiteY25" fmla="*/ 204396 h 2420471"/>
              <a:gd name="connsiteX26" fmla="*/ 398033 w 2936837"/>
              <a:gd name="connsiteY26" fmla="*/ 225911 h 2420471"/>
              <a:gd name="connsiteX27" fmla="*/ 376517 w 2936837"/>
              <a:gd name="connsiteY27" fmla="*/ 247426 h 2420471"/>
              <a:gd name="connsiteX28" fmla="*/ 344244 w 2936837"/>
              <a:gd name="connsiteY28" fmla="*/ 258184 h 2420471"/>
              <a:gd name="connsiteX29" fmla="*/ 268941 w 2936837"/>
              <a:gd name="connsiteY29" fmla="*/ 355003 h 2420471"/>
              <a:gd name="connsiteX30" fmla="*/ 225910 w 2936837"/>
              <a:gd name="connsiteY30" fmla="*/ 441064 h 2420471"/>
              <a:gd name="connsiteX31" fmla="*/ 182880 w 2936837"/>
              <a:gd name="connsiteY31" fmla="*/ 570156 h 2420471"/>
              <a:gd name="connsiteX32" fmla="*/ 172122 w 2936837"/>
              <a:gd name="connsiteY32" fmla="*/ 602428 h 2420471"/>
              <a:gd name="connsiteX33" fmla="*/ 150607 w 2936837"/>
              <a:gd name="connsiteY33" fmla="*/ 677732 h 2420471"/>
              <a:gd name="connsiteX34" fmla="*/ 139849 w 2936837"/>
              <a:gd name="connsiteY34" fmla="*/ 753036 h 2420471"/>
              <a:gd name="connsiteX35" fmla="*/ 129092 w 2936837"/>
              <a:gd name="connsiteY35" fmla="*/ 1215614 h 2420471"/>
              <a:gd name="connsiteX36" fmla="*/ 118334 w 2936837"/>
              <a:gd name="connsiteY36" fmla="*/ 1269403 h 2420471"/>
              <a:gd name="connsiteX37" fmla="*/ 86061 w 2936837"/>
              <a:gd name="connsiteY37" fmla="*/ 1387737 h 2420471"/>
              <a:gd name="connsiteX38" fmla="*/ 75303 w 2936837"/>
              <a:gd name="connsiteY38" fmla="*/ 1430767 h 2420471"/>
              <a:gd name="connsiteX39" fmla="*/ 64546 w 2936837"/>
              <a:gd name="connsiteY39" fmla="*/ 1463040 h 2420471"/>
              <a:gd name="connsiteX40" fmla="*/ 43030 w 2936837"/>
              <a:gd name="connsiteY40" fmla="*/ 1570617 h 2420471"/>
              <a:gd name="connsiteX41" fmla="*/ 10757 w 2936837"/>
              <a:gd name="connsiteY41" fmla="*/ 1678193 h 2420471"/>
              <a:gd name="connsiteX42" fmla="*/ 0 w 2936837"/>
              <a:gd name="connsiteY42" fmla="*/ 1764254 h 2420471"/>
              <a:gd name="connsiteX43" fmla="*/ 10757 w 2936837"/>
              <a:gd name="connsiteY43" fmla="*/ 1914861 h 2420471"/>
              <a:gd name="connsiteX44" fmla="*/ 21515 w 2936837"/>
              <a:gd name="connsiteY44" fmla="*/ 1947134 h 2420471"/>
              <a:gd name="connsiteX45" fmla="*/ 32273 w 2936837"/>
              <a:gd name="connsiteY45" fmla="*/ 1990165 h 2420471"/>
              <a:gd name="connsiteX46" fmla="*/ 53788 w 2936837"/>
              <a:gd name="connsiteY46" fmla="*/ 2054711 h 2420471"/>
              <a:gd name="connsiteX47" fmla="*/ 64546 w 2936837"/>
              <a:gd name="connsiteY47" fmla="*/ 2086984 h 2420471"/>
              <a:gd name="connsiteX48" fmla="*/ 86061 w 2936837"/>
              <a:gd name="connsiteY48" fmla="*/ 2119257 h 2420471"/>
              <a:gd name="connsiteX49" fmla="*/ 118334 w 2936837"/>
              <a:gd name="connsiteY49" fmla="*/ 2183803 h 2420471"/>
              <a:gd name="connsiteX50" fmla="*/ 150607 w 2936837"/>
              <a:gd name="connsiteY50" fmla="*/ 2205318 h 2420471"/>
              <a:gd name="connsiteX51" fmla="*/ 182880 w 2936837"/>
              <a:gd name="connsiteY51" fmla="*/ 2237591 h 2420471"/>
              <a:gd name="connsiteX52" fmla="*/ 215153 w 2936837"/>
              <a:gd name="connsiteY52" fmla="*/ 2259106 h 2420471"/>
              <a:gd name="connsiteX53" fmla="*/ 247426 w 2936837"/>
              <a:gd name="connsiteY53" fmla="*/ 2291379 h 2420471"/>
              <a:gd name="connsiteX54" fmla="*/ 279699 w 2936837"/>
              <a:gd name="connsiteY54" fmla="*/ 2312894 h 2420471"/>
              <a:gd name="connsiteX55" fmla="*/ 301214 w 2936837"/>
              <a:gd name="connsiteY55" fmla="*/ 2334410 h 2420471"/>
              <a:gd name="connsiteX56" fmla="*/ 333487 w 2936837"/>
              <a:gd name="connsiteY56" fmla="*/ 2345167 h 2420471"/>
              <a:gd name="connsiteX57" fmla="*/ 419548 w 2936837"/>
              <a:gd name="connsiteY57" fmla="*/ 2388198 h 2420471"/>
              <a:gd name="connsiteX58" fmla="*/ 505609 w 2936837"/>
              <a:gd name="connsiteY58" fmla="*/ 2409713 h 2420471"/>
              <a:gd name="connsiteX59" fmla="*/ 623943 w 2936837"/>
              <a:gd name="connsiteY59" fmla="*/ 2420471 h 2420471"/>
              <a:gd name="connsiteX60" fmla="*/ 828339 w 2936837"/>
              <a:gd name="connsiteY60" fmla="*/ 2388198 h 2420471"/>
              <a:gd name="connsiteX61" fmla="*/ 892884 w 2936837"/>
              <a:gd name="connsiteY61" fmla="*/ 2345167 h 2420471"/>
              <a:gd name="connsiteX62" fmla="*/ 925157 w 2936837"/>
              <a:gd name="connsiteY62" fmla="*/ 2323652 h 2420471"/>
              <a:gd name="connsiteX63" fmla="*/ 957430 w 2936837"/>
              <a:gd name="connsiteY63" fmla="*/ 2312894 h 2420471"/>
              <a:gd name="connsiteX64" fmla="*/ 978946 w 2936837"/>
              <a:gd name="connsiteY64" fmla="*/ 2291379 h 2420471"/>
              <a:gd name="connsiteX65" fmla="*/ 1043492 w 2936837"/>
              <a:gd name="connsiteY65" fmla="*/ 2269864 h 2420471"/>
              <a:gd name="connsiteX66" fmla="*/ 1118795 w 2936837"/>
              <a:gd name="connsiteY66" fmla="*/ 2248348 h 2420471"/>
              <a:gd name="connsiteX67" fmla="*/ 1258644 w 2936837"/>
              <a:gd name="connsiteY67" fmla="*/ 2216076 h 2420471"/>
              <a:gd name="connsiteX68" fmla="*/ 1366221 w 2936837"/>
              <a:gd name="connsiteY68" fmla="*/ 2205318 h 2420471"/>
              <a:gd name="connsiteX69" fmla="*/ 1559859 w 2936837"/>
              <a:gd name="connsiteY69" fmla="*/ 2183803 h 2420471"/>
              <a:gd name="connsiteX70" fmla="*/ 2033195 w 2936837"/>
              <a:gd name="connsiteY70" fmla="*/ 2173045 h 2420471"/>
              <a:gd name="connsiteX71" fmla="*/ 2140772 w 2936837"/>
              <a:gd name="connsiteY71" fmla="*/ 2140772 h 2420471"/>
              <a:gd name="connsiteX72" fmla="*/ 2173044 w 2936837"/>
              <a:gd name="connsiteY72" fmla="*/ 2130014 h 2420471"/>
              <a:gd name="connsiteX73" fmla="*/ 2237590 w 2936837"/>
              <a:gd name="connsiteY73" fmla="*/ 2097741 h 2420471"/>
              <a:gd name="connsiteX74" fmla="*/ 2302136 w 2936837"/>
              <a:gd name="connsiteY74" fmla="*/ 2065468 h 2420471"/>
              <a:gd name="connsiteX75" fmla="*/ 2355924 w 2936837"/>
              <a:gd name="connsiteY75" fmla="*/ 2022438 h 2420471"/>
              <a:gd name="connsiteX76" fmla="*/ 2431228 w 2936837"/>
              <a:gd name="connsiteY76" fmla="*/ 1957892 h 2420471"/>
              <a:gd name="connsiteX77" fmla="*/ 2452743 w 2936837"/>
              <a:gd name="connsiteY77" fmla="*/ 1925619 h 2420471"/>
              <a:gd name="connsiteX78" fmla="*/ 2474259 w 2936837"/>
              <a:gd name="connsiteY78" fmla="*/ 1904104 h 2420471"/>
              <a:gd name="connsiteX79" fmla="*/ 2485016 w 2936837"/>
              <a:gd name="connsiteY79" fmla="*/ 1871831 h 2420471"/>
              <a:gd name="connsiteX80" fmla="*/ 2528047 w 2936837"/>
              <a:gd name="connsiteY80" fmla="*/ 1828800 h 2420471"/>
              <a:gd name="connsiteX81" fmla="*/ 2560320 w 2936837"/>
              <a:gd name="connsiteY81" fmla="*/ 1775012 h 2420471"/>
              <a:gd name="connsiteX82" fmla="*/ 2603350 w 2936837"/>
              <a:gd name="connsiteY82" fmla="*/ 1710466 h 2420471"/>
              <a:gd name="connsiteX83" fmla="*/ 2667896 w 2936837"/>
              <a:gd name="connsiteY83" fmla="*/ 1624405 h 2420471"/>
              <a:gd name="connsiteX84" fmla="*/ 2689412 w 2936837"/>
              <a:gd name="connsiteY84" fmla="*/ 1592132 h 2420471"/>
              <a:gd name="connsiteX85" fmla="*/ 2710927 w 2936837"/>
              <a:gd name="connsiteY85" fmla="*/ 1559859 h 2420471"/>
              <a:gd name="connsiteX86" fmla="*/ 2743200 w 2936837"/>
              <a:gd name="connsiteY86" fmla="*/ 1495313 h 2420471"/>
              <a:gd name="connsiteX87" fmla="*/ 2775473 w 2936837"/>
              <a:gd name="connsiteY87" fmla="*/ 1387737 h 2420471"/>
              <a:gd name="connsiteX88" fmla="*/ 2796988 w 2936837"/>
              <a:gd name="connsiteY88" fmla="*/ 1323191 h 2420471"/>
              <a:gd name="connsiteX89" fmla="*/ 2840019 w 2936837"/>
              <a:gd name="connsiteY89" fmla="*/ 1194099 h 2420471"/>
              <a:gd name="connsiteX90" fmla="*/ 2883049 w 2936837"/>
              <a:gd name="connsiteY90" fmla="*/ 1065007 h 2420471"/>
              <a:gd name="connsiteX91" fmla="*/ 2893807 w 2936837"/>
              <a:gd name="connsiteY91" fmla="*/ 1032734 h 2420471"/>
              <a:gd name="connsiteX92" fmla="*/ 2904564 w 2936837"/>
              <a:gd name="connsiteY92" fmla="*/ 1000461 h 2420471"/>
              <a:gd name="connsiteX93" fmla="*/ 2936837 w 2936837"/>
              <a:gd name="connsiteY93" fmla="*/ 785308 h 2420471"/>
              <a:gd name="connsiteX94" fmla="*/ 2926080 w 2936837"/>
              <a:gd name="connsiteY94" fmla="*/ 527125 h 2420471"/>
              <a:gd name="connsiteX95" fmla="*/ 2904564 w 2936837"/>
              <a:gd name="connsiteY95" fmla="*/ 462579 h 2420471"/>
              <a:gd name="connsiteX96" fmla="*/ 2850776 w 2936837"/>
              <a:gd name="connsiteY96" fmla="*/ 365760 h 2420471"/>
              <a:gd name="connsiteX97" fmla="*/ 2829261 w 2936837"/>
              <a:gd name="connsiteY97" fmla="*/ 333487 h 2420471"/>
              <a:gd name="connsiteX98" fmla="*/ 2807746 w 2936837"/>
              <a:gd name="connsiteY98" fmla="*/ 301214 h 2420471"/>
              <a:gd name="connsiteX99" fmla="*/ 2786230 w 2936837"/>
              <a:gd name="connsiteY99" fmla="*/ 279699 h 2420471"/>
              <a:gd name="connsiteX100" fmla="*/ 2753957 w 2936837"/>
              <a:gd name="connsiteY100" fmla="*/ 225911 h 2420471"/>
              <a:gd name="connsiteX101" fmla="*/ 2732442 w 2936837"/>
              <a:gd name="connsiteY101" fmla="*/ 193638 h 2420471"/>
              <a:gd name="connsiteX102" fmla="*/ 2635623 w 2936837"/>
              <a:gd name="connsiteY102" fmla="*/ 139850 h 2420471"/>
              <a:gd name="connsiteX103" fmla="*/ 2581835 w 2936837"/>
              <a:gd name="connsiteY103" fmla="*/ 107577 h 2420471"/>
              <a:gd name="connsiteX104" fmla="*/ 2528047 w 2936837"/>
              <a:gd name="connsiteY104" fmla="*/ 96819 h 242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936837" h="2420471">
                <a:moveTo>
                  <a:pt x="2528047" y="96819"/>
                </a:moveTo>
                <a:cubicBezTo>
                  <a:pt x="2506532" y="93233"/>
                  <a:pt x="2476409" y="95163"/>
                  <a:pt x="2452743" y="86061"/>
                </a:cubicBezTo>
                <a:cubicBezTo>
                  <a:pt x="2428608" y="76779"/>
                  <a:pt x="2409712" y="57374"/>
                  <a:pt x="2388197" y="43031"/>
                </a:cubicBezTo>
                <a:cubicBezTo>
                  <a:pt x="2377439" y="35859"/>
                  <a:pt x="2368190" y="25605"/>
                  <a:pt x="2355924" y="21516"/>
                </a:cubicBezTo>
                <a:lnTo>
                  <a:pt x="2291379" y="0"/>
                </a:lnTo>
                <a:cubicBezTo>
                  <a:pt x="2190974" y="3586"/>
                  <a:pt x="2090449" y="4680"/>
                  <a:pt x="1990164" y="10758"/>
                </a:cubicBezTo>
                <a:cubicBezTo>
                  <a:pt x="1971913" y="11864"/>
                  <a:pt x="1954192" y="17405"/>
                  <a:pt x="1936376" y="21516"/>
                </a:cubicBezTo>
                <a:cubicBezTo>
                  <a:pt x="1907563" y="28165"/>
                  <a:pt x="1878368" y="33681"/>
                  <a:pt x="1850315" y="43031"/>
                </a:cubicBezTo>
                <a:cubicBezTo>
                  <a:pt x="1839557" y="46617"/>
                  <a:pt x="1828982" y="50804"/>
                  <a:pt x="1818042" y="53788"/>
                </a:cubicBezTo>
                <a:cubicBezTo>
                  <a:pt x="1789514" y="61568"/>
                  <a:pt x="1760668" y="68132"/>
                  <a:pt x="1731981" y="75304"/>
                </a:cubicBezTo>
                <a:cubicBezTo>
                  <a:pt x="1717637" y="78890"/>
                  <a:pt x="1702976" y="81385"/>
                  <a:pt x="1688950" y="86061"/>
                </a:cubicBezTo>
                <a:cubicBezTo>
                  <a:pt x="1642651" y="101494"/>
                  <a:pt x="1667678" y="94069"/>
                  <a:pt x="1613647" y="107577"/>
                </a:cubicBezTo>
                <a:cubicBezTo>
                  <a:pt x="1477383" y="103991"/>
                  <a:pt x="1341013" y="103303"/>
                  <a:pt x="1204856" y="96819"/>
                </a:cubicBezTo>
                <a:cubicBezTo>
                  <a:pt x="1190088" y="96116"/>
                  <a:pt x="1176259" y="89268"/>
                  <a:pt x="1161826" y="86061"/>
                </a:cubicBezTo>
                <a:cubicBezTo>
                  <a:pt x="1143977" y="82095"/>
                  <a:pt x="1126027" y="78575"/>
                  <a:pt x="1108037" y="75304"/>
                </a:cubicBezTo>
                <a:cubicBezTo>
                  <a:pt x="1086577" y="71402"/>
                  <a:pt x="1064880" y="68824"/>
                  <a:pt x="1043492" y="64546"/>
                </a:cubicBezTo>
                <a:cubicBezTo>
                  <a:pt x="1028994" y="61646"/>
                  <a:pt x="1015074" y="56036"/>
                  <a:pt x="1000461" y="53788"/>
                </a:cubicBezTo>
                <a:cubicBezTo>
                  <a:pt x="968367" y="48851"/>
                  <a:pt x="935915" y="46617"/>
                  <a:pt x="903642" y="43031"/>
                </a:cubicBezTo>
                <a:cubicBezTo>
                  <a:pt x="842682" y="46617"/>
                  <a:pt x="781314" y="45890"/>
                  <a:pt x="720762" y="53788"/>
                </a:cubicBezTo>
                <a:cubicBezTo>
                  <a:pt x="698273" y="56721"/>
                  <a:pt x="677731" y="68132"/>
                  <a:pt x="656216" y="75304"/>
                </a:cubicBezTo>
                <a:lnTo>
                  <a:pt x="623943" y="86061"/>
                </a:lnTo>
                <a:cubicBezTo>
                  <a:pt x="613185" y="93233"/>
                  <a:pt x="603234" y="101795"/>
                  <a:pt x="591670" y="107577"/>
                </a:cubicBezTo>
                <a:cubicBezTo>
                  <a:pt x="581528" y="112648"/>
                  <a:pt x="569310" y="112827"/>
                  <a:pt x="559397" y="118334"/>
                </a:cubicBezTo>
                <a:cubicBezTo>
                  <a:pt x="536793" y="130892"/>
                  <a:pt x="516367" y="147021"/>
                  <a:pt x="494852" y="161365"/>
                </a:cubicBezTo>
                <a:lnTo>
                  <a:pt x="462579" y="182880"/>
                </a:lnTo>
                <a:lnTo>
                  <a:pt x="430306" y="204396"/>
                </a:lnTo>
                <a:cubicBezTo>
                  <a:pt x="419548" y="211568"/>
                  <a:pt x="407175" y="216769"/>
                  <a:pt x="398033" y="225911"/>
                </a:cubicBezTo>
                <a:cubicBezTo>
                  <a:pt x="390861" y="233083"/>
                  <a:pt x="385214" y="242208"/>
                  <a:pt x="376517" y="247426"/>
                </a:cubicBezTo>
                <a:cubicBezTo>
                  <a:pt x="366793" y="253260"/>
                  <a:pt x="355002" y="254598"/>
                  <a:pt x="344244" y="258184"/>
                </a:cubicBezTo>
                <a:cubicBezTo>
                  <a:pt x="292775" y="335389"/>
                  <a:pt x="319498" y="304446"/>
                  <a:pt x="268941" y="355003"/>
                </a:cubicBezTo>
                <a:cubicBezTo>
                  <a:pt x="244219" y="429170"/>
                  <a:pt x="263462" y="403512"/>
                  <a:pt x="225910" y="441064"/>
                </a:cubicBezTo>
                <a:lnTo>
                  <a:pt x="182880" y="570156"/>
                </a:lnTo>
                <a:lnTo>
                  <a:pt x="172122" y="602428"/>
                </a:lnTo>
                <a:cubicBezTo>
                  <a:pt x="162903" y="630083"/>
                  <a:pt x="156011" y="648008"/>
                  <a:pt x="150607" y="677732"/>
                </a:cubicBezTo>
                <a:cubicBezTo>
                  <a:pt x="146071" y="702679"/>
                  <a:pt x="143435" y="727935"/>
                  <a:pt x="139849" y="753036"/>
                </a:cubicBezTo>
                <a:cubicBezTo>
                  <a:pt x="136263" y="907229"/>
                  <a:pt x="135513" y="1061513"/>
                  <a:pt x="129092" y="1215614"/>
                </a:cubicBezTo>
                <a:cubicBezTo>
                  <a:pt x="128331" y="1233883"/>
                  <a:pt x="122445" y="1251586"/>
                  <a:pt x="118334" y="1269403"/>
                </a:cubicBezTo>
                <a:cubicBezTo>
                  <a:pt x="72318" y="1468806"/>
                  <a:pt x="114511" y="1288165"/>
                  <a:pt x="86061" y="1387737"/>
                </a:cubicBezTo>
                <a:cubicBezTo>
                  <a:pt x="81999" y="1401953"/>
                  <a:pt x="79365" y="1416551"/>
                  <a:pt x="75303" y="1430767"/>
                </a:cubicBezTo>
                <a:cubicBezTo>
                  <a:pt x="72188" y="1441670"/>
                  <a:pt x="67096" y="1451991"/>
                  <a:pt x="64546" y="1463040"/>
                </a:cubicBezTo>
                <a:cubicBezTo>
                  <a:pt x="56323" y="1498673"/>
                  <a:pt x="54594" y="1535924"/>
                  <a:pt x="43030" y="1570617"/>
                </a:cubicBezTo>
                <a:cubicBezTo>
                  <a:pt x="16840" y="1649189"/>
                  <a:pt x="27016" y="1613161"/>
                  <a:pt x="10757" y="1678193"/>
                </a:cubicBezTo>
                <a:cubicBezTo>
                  <a:pt x="7171" y="1706880"/>
                  <a:pt x="0" y="1735344"/>
                  <a:pt x="0" y="1764254"/>
                </a:cubicBezTo>
                <a:cubicBezTo>
                  <a:pt x="0" y="1814584"/>
                  <a:pt x="4876" y="1864875"/>
                  <a:pt x="10757" y="1914861"/>
                </a:cubicBezTo>
                <a:cubicBezTo>
                  <a:pt x="12082" y="1926123"/>
                  <a:pt x="18400" y="1936231"/>
                  <a:pt x="21515" y="1947134"/>
                </a:cubicBezTo>
                <a:cubicBezTo>
                  <a:pt x="25577" y="1961350"/>
                  <a:pt x="28025" y="1976003"/>
                  <a:pt x="32273" y="1990165"/>
                </a:cubicBezTo>
                <a:cubicBezTo>
                  <a:pt x="38790" y="2011888"/>
                  <a:pt x="46616" y="2033196"/>
                  <a:pt x="53788" y="2054711"/>
                </a:cubicBezTo>
                <a:cubicBezTo>
                  <a:pt x="57374" y="2065469"/>
                  <a:pt x="58256" y="2077549"/>
                  <a:pt x="64546" y="2086984"/>
                </a:cubicBezTo>
                <a:cubicBezTo>
                  <a:pt x="71718" y="2097742"/>
                  <a:pt x="80279" y="2107693"/>
                  <a:pt x="86061" y="2119257"/>
                </a:cubicBezTo>
                <a:cubicBezTo>
                  <a:pt x="103559" y="2154253"/>
                  <a:pt x="87506" y="2152975"/>
                  <a:pt x="118334" y="2183803"/>
                </a:cubicBezTo>
                <a:cubicBezTo>
                  <a:pt x="127476" y="2192945"/>
                  <a:pt x="140675" y="2197041"/>
                  <a:pt x="150607" y="2205318"/>
                </a:cubicBezTo>
                <a:cubicBezTo>
                  <a:pt x="162294" y="2215057"/>
                  <a:pt x="171193" y="2227852"/>
                  <a:pt x="182880" y="2237591"/>
                </a:cubicBezTo>
                <a:cubicBezTo>
                  <a:pt x="192812" y="2245868"/>
                  <a:pt x="205221" y="2250829"/>
                  <a:pt x="215153" y="2259106"/>
                </a:cubicBezTo>
                <a:cubicBezTo>
                  <a:pt x="226840" y="2268845"/>
                  <a:pt x="235739" y="2281640"/>
                  <a:pt x="247426" y="2291379"/>
                </a:cubicBezTo>
                <a:cubicBezTo>
                  <a:pt x="257358" y="2299656"/>
                  <a:pt x="269603" y="2304817"/>
                  <a:pt x="279699" y="2312894"/>
                </a:cubicBezTo>
                <a:cubicBezTo>
                  <a:pt x="287619" y="2319230"/>
                  <a:pt x="292517" y="2329192"/>
                  <a:pt x="301214" y="2334410"/>
                </a:cubicBezTo>
                <a:cubicBezTo>
                  <a:pt x="310938" y="2340244"/>
                  <a:pt x="322729" y="2341581"/>
                  <a:pt x="333487" y="2345167"/>
                </a:cubicBezTo>
                <a:cubicBezTo>
                  <a:pt x="371038" y="2382720"/>
                  <a:pt x="345379" y="2363475"/>
                  <a:pt x="419548" y="2388198"/>
                </a:cubicBezTo>
                <a:cubicBezTo>
                  <a:pt x="454680" y="2399909"/>
                  <a:pt x="464061" y="2404520"/>
                  <a:pt x="505609" y="2409713"/>
                </a:cubicBezTo>
                <a:cubicBezTo>
                  <a:pt x="544910" y="2414626"/>
                  <a:pt x="584498" y="2416885"/>
                  <a:pt x="623943" y="2420471"/>
                </a:cubicBezTo>
                <a:cubicBezTo>
                  <a:pt x="659505" y="2417735"/>
                  <a:pt x="780993" y="2419763"/>
                  <a:pt x="828339" y="2388198"/>
                </a:cubicBezTo>
                <a:lnTo>
                  <a:pt x="892884" y="2345167"/>
                </a:lnTo>
                <a:cubicBezTo>
                  <a:pt x="903642" y="2337995"/>
                  <a:pt x="912891" y="2327741"/>
                  <a:pt x="925157" y="2323652"/>
                </a:cubicBezTo>
                <a:lnTo>
                  <a:pt x="957430" y="2312894"/>
                </a:lnTo>
                <a:cubicBezTo>
                  <a:pt x="964602" y="2305722"/>
                  <a:pt x="969874" y="2295915"/>
                  <a:pt x="978946" y="2291379"/>
                </a:cubicBezTo>
                <a:cubicBezTo>
                  <a:pt x="999231" y="2281237"/>
                  <a:pt x="1021977" y="2277036"/>
                  <a:pt x="1043492" y="2269864"/>
                </a:cubicBezTo>
                <a:cubicBezTo>
                  <a:pt x="1120870" y="2244071"/>
                  <a:pt x="1024238" y="2275364"/>
                  <a:pt x="1118795" y="2248348"/>
                </a:cubicBezTo>
                <a:cubicBezTo>
                  <a:pt x="1183108" y="2229973"/>
                  <a:pt x="1148503" y="2227090"/>
                  <a:pt x="1258644" y="2216076"/>
                </a:cubicBezTo>
                <a:lnTo>
                  <a:pt x="1366221" y="2205318"/>
                </a:lnTo>
                <a:cubicBezTo>
                  <a:pt x="1454576" y="2194923"/>
                  <a:pt x="1457132" y="2187538"/>
                  <a:pt x="1559859" y="2183803"/>
                </a:cubicBezTo>
                <a:cubicBezTo>
                  <a:pt x="1717574" y="2178068"/>
                  <a:pt x="1875416" y="2176631"/>
                  <a:pt x="2033195" y="2173045"/>
                </a:cubicBezTo>
                <a:cubicBezTo>
                  <a:pt x="2098223" y="2156788"/>
                  <a:pt x="2062208" y="2166960"/>
                  <a:pt x="2140772" y="2140772"/>
                </a:cubicBezTo>
                <a:cubicBezTo>
                  <a:pt x="2151529" y="2137186"/>
                  <a:pt x="2163609" y="2136304"/>
                  <a:pt x="2173044" y="2130014"/>
                </a:cubicBezTo>
                <a:cubicBezTo>
                  <a:pt x="2265534" y="2068355"/>
                  <a:pt x="2148513" y="2142280"/>
                  <a:pt x="2237590" y="2097741"/>
                </a:cubicBezTo>
                <a:cubicBezTo>
                  <a:pt x="2321006" y="2056033"/>
                  <a:pt x="2221017" y="2092509"/>
                  <a:pt x="2302136" y="2065468"/>
                </a:cubicBezTo>
                <a:cubicBezTo>
                  <a:pt x="2375393" y="1992214"/>
                  <a:pt x="2260912" y="2103878"/>
                  <a:pt x="2355924" y="2022438"/>
                </a:cubicBezTo>
                <a:cubicBezTo>
                  <a:pt x="2447221" y="1944182"/>
                  <a:pt x="2357140" y="2007283"/>
                  <a:pt x="2431228" y="1957892"/>
                </a:cubicBezTo>
                <a:cubicBezTo>
                  <a:pt x="2438400" y="1947134"/>
                  <a:pt x="2444666" y="1935715"/>
                  <a:pt x="2452743" y="1925619"/>
                </a:cubicBezTo>
                <a:cubicBezTo>
                  <a:pt x="2459079" y="1917699"/>
                  <a:pt x="2469041" y="1912801"/>
                  <a:pt x="2474259" y="1904104"/>
                </a:cubicBezTo>
                <a:cubicBezTo>
                  <a:pt x="2480093" y="1894380"/>
                  <a:pt x="2478425" y="1881058"/>
                  <a:pt x="2485016" y="1871831"/>
                </a:cubicBezTo>
                <a:cubicBezTo>
                  <a:pt x="2496806" y="1855324"/>
                  <a:pt x="2528047" y="1828800"/>
                  <a:pt x="2528047" y="1828800"/>
                </a:cubicBezTo>
                <a:cubicBezTo>
                  <a:pt x="2548615" y="1767091"/>
                  <a:pt x="2524879" y="1822267"/>
                  <a:pt x="2560320" y="1775012"/>
                </a:cubicBezTo>
                <a:cubicBezTo>
                  <a:pt x="2575835" y="1754326"/>
                  <a:pt x="2585065" y="1728750"/>
                  <a:pt x="2603350" y="1710466"/>
                </a:cubicBezTo>
                <a:cubicBezTo>
                  <a:pt x="2643152" y="1670666"/>
                  <a:pt x="2619238" y="1697392"/>
                  <a:pt x="2667896" y="1624405"/>
                </a:cubicBezTo>
                <a:lnTo>
                  <a:pt x="2689412" y="1592132"/>
                </a:lnTo>
                <a:lnTo>
                  <a:pt x="2710927" y="1559859"/>
                </a:lnTo>
                <a:cubicBezTo>
                  <a:pt x="2750154" y="1442171"/>
                  <a:pt x="2687594" y="1620425"/>
                  <a:pt x="2743200" y="1495313"/>
                </a:cubicBezTo>
                <a:cubicBezTo>
                  <a:pt x="2766601" y="1442661"/>
                  <a:pt x="2761033" y="1435871"/>
                  <a:pt x="2775473" y="1387737"/>
                </a:cubicBezTo>
                <a:cubicBezTo>
                  <a:pt x="2781990" y="1366014"/>
                  <a:pt x="2789816" y="1344706"/>
                  <a:pt x="2796988" y="1323191"/>
                </a:cubicBezTo>
                <a:lnTo>
                  <a:pt x="2840019" y="1194099"/>
                </a:lnTo>
                <a:lnTo>
                  <a:pt x="2883049" y="1065007"/>
                </a:lnTo>
                <a:lnTo>
                  <a:pt x="2893807" y="1032734"/>
                </a:lnTo>
                <a:lnTo>
                  <a:pt x="2904564" y="1000461"/>
                </a:lnTo>
                <a:cubicBezTo>
                  <a:pt x="2929165" y="828261"/>
                  <a:pt x="2917743" y="899876"/>
                  <a:pt x="2936837" y="785308"/>
                </a:cubicBezTo>
                <a:cubicBezTo>
                  <a:pt x="2933251" y="699247"/>
                  <a:pt x="2934651" y="612833"/>
                  <a:pt x="2926080" y="527125"/>
                </a:cubicBezTo>
                <a:cubicBezTo>
                  <a:pt x="2923823" y="504558"/>
                  <a:pt x="2911736" y="484094"/>
                  <a:pt x="2904564" y="462579"/>
                </a:cubicBezTo>
                <a:cubicBezTo>
                  <a:pt x="2885628" y="405771"/>
                  <a:pt x="2900103" y="439750"/>
                  <a:pt x="2850776" y="365760"/>
                </a:cubicBezTo>
                <a:lnTo>
                  <a:pt x="2829261" y="333487"/>
                </a:lnTo>
                <a:cubicBezTo>
                  <a:pt x="2822089" y="322729"/>
                  <a:pt x="2816888" y="310356"/>
                  <a:pt x="2807746" y="301214"/>
                </a:cubicBezTo>
                <a:lnTo>
                  <a:pt x="2786230" y="279699"/>
                </a:lnTo>
                <a:cubicBezTo>
                  <a:pt x="2767549" y="223652"/>
                  <a:pt x="2787711" y="268102"/>
                  <a:pt x="2753957" y="225911"/>
                </a:cubicBezTo>
                <a:cubicBezTo>
                  <a:pt x="2745880" y="215815"/>
                  <a:pt x="2742172" y="202152"/>
                  <a:pt x="2732442" y="193638"/>
                </a:cubicBezTo>
                <a:cubicBezTo>
                  <a:pt x="2686914" y="153801"/>
                  <a:pt x="2679950" y="154625"/>
                  <a:pt x="2635623" y="139850"/>
                </a:cubicBezTo>
                <a:cubicBezTo>
                  <a:pt x="2593599" y="97824"/>
                  <a:pt x="2637696" y="135507"/>
                  <a:pt x="2581835" y="107577"/>
                </a:cubicBezTo>
                <a:cubicBezTo>
                  <a:pt x="2570271" y="101795"/>
                  <a:pt x="2549562" y="100405"/>
                  <a:pt x="2528047" y="96819"/>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D470F942-719B-E243-8FEE-637FA215E8B7}"/>
              </a:ext>
            </a:extLst>
          </p:cNvPr>
          <p:cNvSpPr/>
          <p:nvPr/>
        </p:nvSpPr>
        <p:spPr>
          <a:xfrm>
            <a:off x="6509385" y="1403866"/>
            <a:ext cx="1280160" cy="2357825"/>
          </a:xfrm>
          <a:custGeom>
            <a:avLst/>
            <a:gdLst>
              <a:gd name="connsiteX0" fmla="*/ 1140311 w 1280160"/>
              <a:gd name="connsiteY0" fmla="*/ 163265 h 2357825"/>
              <a:gd name="connsiteX1" fmla="*/ 978946 w 1280160"/>
              <a:gd name="connsiteY1" fmla="*/ 98719 h 2357825"/>
              <a:gd name="connsiteX2" fmla="*/ 914400 w 1280160"/>
              <a:gd name="connsiteY2" fmla="*/ 66446 h 2357825"/>
              <a:gd name="connsiteX3" fmla="*/ 882127 w 1280160"/>
              <a:gd name="connsiteY3" fmla="*/ 44930 h 2357825"/>
              <a:gd name="connsiteX4" fmla="*/ 849854 w 1280160"/>
              <a:gd name="connsiteY4" fmla="*/ 34173 h 2357825"/>
              <a:gd name="connsiteX5" fmla="*/ 817581 w 1280160"/>
              <a:gd name="connsiteY5" fmla="*/ 12657 h 2357825"/>
              <a:gd name="connsiteX6" fmla="*/ 602428 w 1280160"/>
              <a:gd name="connsiteY6" fmla="*/ 12657 h 2357825"/>
              <a:gd name="connsiteX7" fmla="*/ 570155 w 1280160"/>
              <a:gd name="connsiteY7" fmla="*/ 23415 h 2357825"/>
              <a:gd name="connsiteX8" fmla="*/ 516367 w 1280160"/>
              <a:gd name="connsiteY8" fmla="*/ 66446 h 2357825"/>
              <a:gd name="connsiteX9" fmla="*/ 494852 w 1280160"/>
              <a:gd name="connsiteY9" fmla="*/ 98719 h 2357825"/>
              <a:gd name="connsiteX10" fmla="*/ 451821 w 1280160"/>
              <a:gd name="connsiteY10" fmla="*/ 195537 h 2357825"/>
              <a:gd name="connsiteX11" fmla="*/ 451821 w 1280160"/>
              <a:gd name="connsiteY11" fmla="*/ 518267 h 2357825"/>
              <a:gd name="connsiteX12" fmla="*/ 473336 w 1280160"/>
              <a:gd name="connsiteY12" fmla="*/ 647359 h 2357825"/>
              <a:gd name="connsiteX13" fmla="*/ 462579 w 1280160"/>
              <a:gd name="connsiteY13" fmla="*/ 1045392 h 2357825"/>
              <a:gd name="connsiteX14" fmla="*/ 441064 w 1280160"/>
              <a:gd name="connsiteY14" fmla="*/ 1120695 h 2357825"/>
              <a:gd name="connsiteX15" fmla="*/ 419548 w 1280160"/>
              <a:gd name="connsiteY15" fmla="*/ 1217514 h 2357825"/>
              <a:gd name="connsiteX16" fmla="*/ 398033 w 1280160"/>
              <a:gd name="connsiteY16" fmla="*/ 1282060 h 2357825"/>
              <a:gd name="connsiteX17" fmla="*/ 365760 w 1280160"/>
              <a:gd name="connsiteY17" fmla="*/ 1378879 h 2357825"/>
              <a:gd name="connsiteX18" fmla="*/ 344245 w 1280160"/>
              <a:gd name="connsiteY18" fmla="*/ 1443425 h 2357825"/>
              <a:gd name="connsiteX19" fmla="*/ 333487 w 1280160"/>
              <a:gd name="connsiteY19" fmla="*/ 1475697 h 2357825"/>
              <a:gd name="connsiteX20" fmla="*/ 311972 w 1280160"/>
              <a:gd name="connsiteY20" fmla="*/ 1507970 h 2357825"/>
              <a:gd name="connsiteX21" fmla="*/ 301214 w 1280160"/>
              <a:gd name="connsiteY21" fmla="*/ 1540243 h 2357825"/>
              <a:gd name="connsiteX22" fmla="*/ 279699 w 1280160"/>
              <a:gd name="connsiteY22" fmla="*/ 1572516 h 2357825"/>
              <a:gd name="connsiteX23" fmla="*/ 247426 w 1280160"/>
              <a:gd name="connsiteY23" fmla="*/ 1626305 h 2357825"/>
              <a:gd name="connsiteX24" fmla="*/ 215153 w 1280160"/>
              <a:gd name="connsiteY24" fmla="*/ 1680093 h 2357825"/>
              <a:gd name="connsiteX25" fmla="*/ 150607 w 1280160"/>
              <a:gd name="connsiteY25" fmla="*/ 1776912 h 2357825"/>
              <a:gd name="connsiteX26" fmla="*/ 129092 w 1280160"/>
              <a:gd name="connsiteY26" fmla="*/ 1809185 h 2357825"/>
              <a:gd name="connsiteX27" fmla="*/ 64546 w 1280160"/>
              <a:gd name="connsiteY27" fmla="*/ 1895246 h 2357825"/>
              <a:gd name="connsiteX28" fmla="*/ 21515 w 1280160"/>
              <a:gd name="connsiteY28" fmla="*/ 1992065 h 2357825"/>
              <a:gd name="connsiteX29" fmla="*/ 10758 w 1280160"/>
              <a:gd name="connsiteY29" fmla="*/ 2024337 h 2357825"/>
              <a:gd name="connsiteX30" fmla="*/ 0 w 1280160"/>
              <a:gd name="connsiteY30" fmla="*/ 2056610 h 2357825"/>
              <a:gd name="connsiteX31" fmla="*/ 10758 w 1280160"/>
              <a:gd name="connsiteY31" fmla="*/ 2185702 h 2357825"/>
              <a:gd name="connsiteX32" fmla="*/ 64546 w 1280160"/>
              <a:gd name="connsiteY32" fmla="*/ 2239490 h 2357825"/>
              <a:gd name="connsiteX33" fmla="*/ 118334 w 1280160"/>
              <a:gd name="connsiteY33" fmla="*/ 2271763 h 2357825"/>
              <a:gd name="connsiteX34" fmla="*/ 204395 w 1280160"/>
              <a:gd name="connsiteY34" fmla="*/ 2314794 h 2357825"/>
              <a:gd name="connsiteX35" fmla="*/ 268941 w 1280160"/>
              <a:gd name="connsiteY35" fmla="*/ 2336309 h 2357825"/>
              <a:gd name="connsiteX36" fmla="*/ 301214 w 1280160"/>
              <a:gd name="connsiteY36" fmla="*/ 2347067 h 2357825"/>
              <a:gd name="connsiteX37" fmla="*/ 355002 w 1280160"/>
              <a:gd name="connsiteY37" fmla="*/ 2357825 h 2357825"/>
              <a:gd name="connsiteX38" fmla="*/ 656216 w 1280160"/>
              <a:gd name="connsiteY38" fmla="*/ 2347067 h 2357825"/>
              <a:gd name="connsiteX39" fmla="*/ 720762 w 1280160"/>
              <a:gd name="connsiteY39" fmla="*/ 2325552 h 2357825"/>
              <a:gd name="connsiteX40" fmla="*/ 796066 w 1280160"/>
              <a:gd name="connsiteY40" fmla="*/ 2282521 h 2357825"/>
              <a:gd name="connsiteX41" fmla="*/ 828339 w 1280160"/>
              <a:gd name="connsiteY41" fmla="*/ 2250248 h 2357825"/>
              <a:gd name="connsiteX42" fmla="*/ 839096 w 1280160"/>
              <a:gd name="connsiteY42" fmla="*/ 2217975 h 2357825"/>
              <a:gd name="connsiteX43" fmla="*/ 871369 w 1280160"/>
              <a:gd name="connsiteY43" fmla="*/ 2153429 h 2357825"/>
              <a:gd name="connsiteX44" fmla="*/ 892885 w 1280160"/>
              <a:gd name="connsiteY44" fmla="*/ 2013580 h 2357825"/>
              <a:gd name="connsiteX45" fmla="*/ 860612 w 1280160"/>
              <a:gd name="connsiteY45" fmla="*/ 1561759 h 2357825"/>
              <a:gd name="connsiteX46" fmla="*/ 849854 w 1280160"/>
              <a:gd name="connsiteY46" fmla="*/ 1529486 h 2357825"/>
              <a:gd name="connsiteX47" fmla="*/ 849854 w 1280160"/>
              <a:gd name="connsiteY47" fmla="*/ 1260545 h 2357825"/>
              <a:gd name="connsiteX48" fmla="*/ 892885 w 1280160"/>
              <a:gd name="connsiteY48" fmla="*/ 1174483 h 2357825"/>
              <a:gd name="connsiteX49" fmla="*/ 935915 w 1280160"/>
              <a:gd name="connsiteY49" fmla="*/ 1077665 h 2357825"/>
              <a:gd name="connsiteX50" fmla="*/ 989704 w 1280160"/>
              <a:gd name="connsiteY50" fmla="*/ 1023876 h 2357825"/>
              <a:gd name="connsiteX51" fmla="*/ 1043492 w 1280160"/>
              <a:gd name="connsiteY51" fmla="*/ 970088 h 2357825"/>
              <a:gd name="connsiteX52" fmla="*/ 1075765 w 1280160"/>
              <a:gd name="connsiteY52" fmla="*/ 937815 h 2357825"/>
              <a:gd name="connsiteX53" fmla="*/ 1129553 w 1280160"/>
              <a:gd name="connsiteY53" fmla="*/ 873269 h 2357825"/>
              <a:gd name="connsiteX54" fmla="*/ 1161826 w 1280160"/>
              <a:gd name="connsiteY54" fmla="*/ 808723 h 2357825"/>
              <a:gd name="connsiteX55" fmla="*/ 1183341 w 1280160"/>
              <a:gd name="connsiteY55" fmla="*/ 776450 h 2357825"/>
              <a:gd name="connsiteX56" fmla="*/ 1194099 w 1280160"/>
              <a:gd name="connsiteY56" fmla="*/ 744177 h 2357825"/>
              <a:gd name="connsiteX57" fmla="*/ 1215614 w 1280160"/>
              <a:gd name="connsiteY57" fmla="*/ 711905 h 2357825"/>
              <a:gd name="connsiteX58" fmla="*/ 1237129 w 1280160"/>
              <a:gd name="connsiteY58" fmla="*/ 647359 h 2357825"/>
              <a:gd name="connsiteX59" fmla="*/ 1247887 w 1280160"/>
              <a:gd name="connsiteY59" fmla="*/ 615086 h 2357825"/>
              <a:gd name="connsiteX60" fmla="*/ 1269402 w 1280160"/>
              <a:gd name="connsiteY60" fmla="*/ 550540 h 2357825"/>
              <a:gd name="connsiteX61" fmla="*/ 1280160 w 1280160"/>
              <a:gd name="connsiteY61" fmla="*/ 518267 h 2357825"/>
              <a:gd name="connsiteX62" fmla="*/ 1269402 w 1280160"/>
              <a:gd name="connsiteY62" fmla="*/ 356902 h 2357825"/>
              <a:gd name="connsiteX63" fmla="*/ 1258645 w 1280160"/>
              <a:gd name="connsiteY63" fmla="*/ 324629 h 2357825"/>
              <a:gd name="connsiteX64" fmla="*/ 1237129 w 1280160"/>
              <a:gd name="connsiteY64" fmla="*/ 303114 h 2357825"/>
              <a:gd name="connsiteX65" fmla="*/ 1194099 w 1280160"/>
              <a:gd name="connsiteY65" fmla="*/ 206295 h 2357825"/>
              <a:gd name="connsiteX66" fmla="*/ 1140311 w 1280160"/>
              <a:gd name="connsiteY66" fmla="*/ 163265 h 2357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80160" h="2357825">
                <a:moveTo>
                  <a:pt x="1140311" y="163265"/>
                </a:moveTo>
                <a:cubicBezTo>
                  <a:pt x="1104452" y="145336"/>
                  <a:pt x="1032194" y="121539"/>
                  <a:pt x="978946" y="98719"/>
                </a:cubicBezTo>
                <a:cubicBezTo>
                  <a:pt x="956836" y="89243"/>
                  <a:pt x="935428" y="78128"/>
                  <a:pt x="914400" y="66446"/>
                </a:cubicBezTo>
                <a:cubicBezTo>
                  <a:pt x="903098" y="60167"/>
                  <a:pt x="893691" y="50712"/>
                  <a:pt x="882127" y="44930"/>
                </a:cubicBezTo>
                <a:cubicBezTo>
                  <a:pt x="871985" y="39859"/>
                  <a:pt x="860612" y="37759"/>
                  <a:pt x="849854" y="34173"/>
                </a:cubicBezTo>
                <a:cubicBezTo>
                  <a:pt x="839096" y="27001"/>
                  <a:pt x="829465" y="17750"/>
                  <a:pt x="817581" y="12657"/>
                </a:cubicBezTo>
                <a:cubicBezTo>
                  <a:pt x="754711" y="-14287"/>
                  <a:pt x="649602" y="9709"/>
                  <a:pt x="602428" y="12657"/>
                </a:cubicBezTo>
                <a:cubicBezTo>
                  <a:pt x="591670" y="16243"/>
                  <a:pt x="580297" y="18344"/>
                  <a:pt x="570155" y="23415"/>
                </a:cubicBezTo>
                <a:cubicBezTo>
                  <a:pt x="551514" y="32735"/>
                  <a:pt x="529709" y="49767"/>
                  <a:pt x="516367" y="66446"/>
                </a:cubicBezTo>
                <a:cubicBezTo>
                  <a:pt x="508290" y="76542"/>
                  <a:pt x="500103" y="86904"/>
                  <a:pt x="494852" y="98719"/>
                </a:cubicBezTo>
                <a:cubicBezTo>
                  <a:pt x="443646" y="213932"/>
                  <a:pt x="500511" y="122503"/>
                  <a:pt x="451821" y="195537"/>
                </a:cubicBezTo>
                <a:cubicBezTo>
                  <a:pt x="411573" y="316290"/>
                  <a:pt x="430864" y="245820"/>
                  <a:pt x="451821" y="518267"/>
                </a:cubicBezTo>
                <a:cubicBezTo>
                  <a:pt x="455167" y="561763"/>
                  <a:pt x="473336" y="647359"/>
                  <a:pt x="473336" y="647359"/>
                </a:cubicBezTo>
                <a:cubicBezTo>
                  <a:pt x="469750" y="780037"/>
                  <a:pt x="469046" y="912824"/>
                  <a:pt x="462579" y="1045392"/>
                </a:cubicBezTo>
                <a:cubicBezTo>
                  <a:pt x="461360" y="1070383"/>
                  <a:pt x="447071" y="1096668"/>
                  <a:pt x="441064" y="1120695"/>
                </a:cubicBezTo>
                <a:cubicBezTo>
                  <a:pt x="425710" y="1182111"/>
                  <a:pt x="436112" y="1162300"/>
                  <a:pt x="419548" y="1217514"/>
                </a:cubicBezTo>
                <a:cubicBezTo>
                  <a:pt x="413031" y="1239237"/>
                  <a:pt x="405205" y="1260545"/>
                  <a:pt x="398033" y="1282060"/>
                </a:cubicBezTo>
                <a:lnTo>
                  <a:pt x="365760" y="1378879"/>
                </a:lnTo>
                <a:lnTo>
                  <a:pt x="344245" y="1443425"/>
                </a:lnTo>
                <a:cubicBezTo>
                  <a:pt x="340659" y="1454182"/>
                  <a:pt x="339777" y="1466262"/>
                  <a:pt x="333487" y="1475697"/>
                </a:cubicBezTo>
                <a:cubicBezTo>
                  <a:pt x="326315" y="1486455"/>
                  <a:pt x="317754" y="1496406"/>
                  <a:pt x="311972" y="1507970"/>
                </a:cubicBezTo>
                <a:cubicBezTo>
                  <a:pt x="306901" y="1518112"/>
                  <a:pt x="306285" y="1530101"/>
                  <a:pt x="301214" y="1540243"/>
                </a:cubicBezTo>
                <a:cubicBezTo>
                  <a:pt x="295432" y="1551807"/>
                  <a:pt x="285481" y="1560952"/>
                  <a:pt x="279699" y="1572516"/>
                </a:cubicBezTo>
                <a:cubicBezTo>
                  <a:pt x="251769" y="1628376"/>
                  <a:pt x="289450" y="1584279"/>
                  <a:pt x="247426" y="1626305"/>
                </a:cubicBezTo>
                <a:cubicBezTo>
                  <a:pt x="226857" y="1688009"/>
                  <a:pt x="250593" y="1632840"/>
                  <a:pt x="215153" y="1680093"/>
                </a:cubicBezTo>
                <a:cubicBezTo>
                  <a:pt x="215143" y="1680107"/>
                  <a:pt x="161369" y="1760768"/>
                  <a:pt x="150607" y="1776912"/>
                </a:cubicBezTo>
                <a:cubicBezTo>
                  <a:pt x="143435" y="1787670"/>
                  <a:pt x="138234" y="1800043"/>
                  <a:pt x="129092" y="1809185"/>
                </a:cubicBezTo>
                <a:cubicBezTo>
                  <a:pt x="89291" y="1848984"/>
                  <a:pt x="113202" y="1822261"/>
                  <a:pt x="64546" y="1895246"/>
                </a:cubicBezTo>
                <a:cubicBezTo>
                  <a:pt x="30452" y="1946388"/>
                  <a:pt x="47119" y="1915255"/>
                  <a:pt x="21515" y="1992065"/>
                </a:cubicBezTo>
                <a:lnTo>
                  <a:pt x="10758" y="2024337"/>
                </a:lnTo>
                <a:lnTo>
                  <a:pt x="0" y="2056610"/>
                </a:lnTo>
                <a:cubicBezTo>
                  <a:pt x="3586" y="2099641"/>
                  <a:pt x="2290" y="2143361"/>
                  <a:pt x="10758" y="2185702"/>
                </a:cubicBezTo>
                <a:cubicBezTo>
                  <a:pt x="16905" y="2216439"/>
                  <a:pt x="44055" y="2223097"/>
                  <a:pt x="64546" y="2239490"/>
                </a:cubicBezTo>
                <a:cubicBezTo>
                  <a:pt x="106737" y="2273244"/>
                  <a:pt x="62287" y="2253082"/>
                  <a:pt x="118334" y="2271763"/>
                </a:cubicBezTo>
                <a:cubicBezTo>
                  <a:pt x="155885" y="2309316"/>
                  <a:pt x="130226" y="2290071"/>
                  <a:pt x="204395" y="2314794"/>
                </a:cubicBezTo>
                <a:lnTo>
                  <a:pt x="268941" y="2336309"/>
                </a:lnTo>
                <a:cubicBezTo>
                  <a:pt x="279699" y="2339895"/>
                  <a:pt x="290095" y="2344843"/>
                  <a:pt x="301214" y="2347067"/>
                </a:cubicBezTo>
                <a:lnTo>
                  <a:pt x="355002" y="2357825"/>
                </a:lnTo>
                <a:cubicBezTo>
                  <a:pt x="455407" y="2354239"/>
                  <a:pt x="556136" y="2355898"/>
                  <a:pt x="656216" y="2347067"/>
                </a:cubicBezTo>
                <a:cubicBezTo>
                  <a:pt x="678807" y="2345074"/>
                  <a:pt x="700477" y="2335695"/>
                  <a:pt x="720762" y="2325552"/>
                </a:cubicBezTo>
                <a:cubicBezTo>
                  <a:pt x="747064" y="2312401"/>
                  <a:pt x="773260" y="2301526"/>
                  <a:pt x="796066" y="2282521"/>
                </a:cubicBezTo>
                <a:cubicBezTo>
                  <a:pt x="807753" y="2272782"/>
                  <a:pt x="817581" y="2261006"/>
                  <a:pt x="828339" y="2250248"/>
                </a:cubicBezTo>
                <a:cubicBezTo>
                  <a:pt x="831925" y="2239490"/>
                  <a:pt x="834025" y="2228117"/>
                  <a:pt x="839096" y="2217975"/>
                </a:cubicBezTo>
                <a:cubicBezTo>
                  <a:pt x="862309" y="2171549"/>
                  <a:pt x="860552" y="2202106"/>
                  <a:pt x="871369" y="2153429"/>
                </a:cubicBezTo>
                <a:cubicBezTo>
                  <a:pt x="877340" y="2126559"/>
                  <a:pt x="889453" y="2037604"/>
                  <a:pt x="892885" y="2013580"/>
                </a:cubicBezTo>
                <a:cubicBezTo>
                  <a:pt x="891424" y="1969753"/>
                  <a:pt x="895465" y="1666315"/>
                  <a:pt x="860612" y="1561759"/>
                </a:cubicBezTo>
                <a:lnTo>
                  <a:pt x="849854" y="1529486"/>
                </a:lnTo>
                <a:cubicBezTo>
                  <a:pt x="837870" y="1409652"/>
                  <a:pt x="830508" y="1395964"/>
                  <a:pt x="849854" y="1260545"/>
                </a:cubicBezTo>
                <a:cubicBezTo>
                  <a:pt x="858095" y="1202858"/>
                  <a:pt x="862703" y="1204665"/>
                  <a:pt x="892885" y="1174483"/>
                </a:cubicBezTo>
                <a:cubicBezTo>
                  <a:pt x="906988" y="1132175"/>
                  <a:pt x="908376" y="1109138"/>
                  <a:pt x="935915" y="1077665"/>
                </a:cubicBezTo>
                <a:cubicBezTo>
                  <a:pt x="952612" y="1058582"/>
                  <a:pt x="971774" y="1041806"/>
                  <a:pt x="989704" y="1023876"/>
                </a:cubicBezTo>
                <a:lnTo>
                  <a:pt x="1043492" y="970088"/>
                </a:lnTo>
                <a:cubicBezTo>
                  <a:pt x="1054250" y="959330"/>
                  <a:pt x="1067326" y="950474"/>
                  <a:pt x="1075765" y="937815"/>
                </a:cubicBezTo>
                <a:cubicBezTo>
                  <a:pt x="1129183" y="857687"/>
                  <a:pt x="1060528" y="956099"/>
                  <a:pt x="1129553" y="873269"/>
                </a:cubicBezTo>
                <a:cubicBezTo>
                  <a:pt x="1168088" y="827026"/>
                  <a:pt x="1137568" y="857239"/>
                  <a:pt x="1161826" y="808723"/>
                </a:cubicBezTo>
                <a:cubicBezTo>
                  <a:pt x="1167608" y="797159"/>
                  <a:pt x="1177559" y="788014"/>
                  <a:pt x="1183341" y="776450"/>
                </a:cubicBezTo>
                <a:cubicBezTo>
                  <a:pt x="1188412" y="766308"/>
                  <a:pt x="1189028" y="754319"/>
                  <a:pt x="1194099" y="744177"/>
                </a:cubicBezTo>
                <a:cubicBezTo>
                  <a:pt x="1199881" y="732613"/>
                  <a:pt x="1210363" y="723719"/>
                  <a:pt x="1215614" y="711905"/>
                </a:cubicBezTo>
                <a:cubicBezTo>
                  <a:pt x="1224825" y="691181"/>
                  <a:pt x="1229957" y="668874"/>
                  <a:pt x="1237129" y="647359"/>
                </a:cubicBezTo>
                <a:lnTo>
                  <a:pt x="1247887" y="615086"/>
                </a:lnTo>
                <a:lnTo>
                  <a:pt x="1269402" y="550540"/>
                </a:lnTo>
                <a:lnTo>
                  <a:pt x="1280160" y="518267"/>
                </a:lnTo>
                <a:cubicBezTo>
                  <a:pt x="1276574" y="464479"/>
                  <a:pt x="1275355" y="410480"/>
                  <a:pt x="1269402" y="356902"/>
                </a:cubicBezTo>
                <a:cubicBezTo>
                  <a:pt x="1268150" y="345632"/>
                  <a:pt x="1264479" y="334353"/>
                  <a:pt x="1258645" y="324629"/>
                </a:cubicBezTo>
                <a:cubicBezTo>
                  <a:pt x="1253427" y="315932"/>
                  <a:pt x="1244301" y="310286"/>
                  <a:pt x="1237129" y="303114"/>
                </a:cubicBezTo>
                <a:cubicBezTo>
                  <a:pt x="1220070" y="251935"/>
                  <a:pt x="1223323" y="242826"/>
                  <a:pt x="1194099" y="206295"/>
                </a:cubicBezTo>
                <a:cubicBezTo>
                  <a:pt x="1187763" y="198375"/>
                  <a:pt x="1176170" y="181194"/>
                  <a:pt x="1140311" y="163265"/>
                </a:cubicBez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Title 1"/>
          <p:cNvSpPr>
            <a:spLocks noGrp="1"/>
          </p:cNvSpPr>
          <p:nvPr>
            <p:ph type="title"/>
            <p:custDataLst>
              <p:tags r:id="rId1"/>
            </p:custDataLst>
          </p:nvPr>
        </p:nvSpPr>
        <p:spPr/>
        <p:txBody>
          <a:bodyPr/>
          <a:lstStyle/>
          <a:p>
            <a:pPr eaLnBrk="1" hangingPunct="1"/>
            <a:r>
              <a:rPr lang="en-US" dirty="0"/>
              <a:t>Dijkstra’s Algorithm: Idea</a:t>
            </a:r>
          </a:p>
        </p:txBody>
      </p:sp>
      <p:sp>
        <p:nvSpPr>
          <p:cNvPr id="25605" name="Content Placeholder 2"/>
          <p:cNvSpPr>
            <a:spLocks noGrp="1"/>
          </p:cNvSpPr>
          <p:nvPr>
            <p:ph idx="1"/>
            <p:custDataLst>
              <p:tags r:id="rId2"/>
            </p:custDataLst>
          </p:nvPr>
        </p:nvSpPr>
        <p:spPr>
          <a:xfrm>
            <a:off x="1920876" y="4078313"/>
            <a:ext cx="8366125" cy="2510554"/>
          </a:xfrm>
        </p:spPr>
        <p:txBody>
          <a:bodyPr>
            <a:normAutofit fontScale="92500" lnSpcReduction="20000"/>
          </a:bodyPr>
          <a:lstStyle/>
          <a:p>
            <a:pPr eaLnBrk="1" hangingPunct="1"/>
            <a:r>
              <a:rPr lang="en-US" dirty="0"/>
              <a:t>Initialization:</a:t>
            </a:r>
          </a:p>
          <a:p>
            <a:pPr lvl="1"/>
            <a:r>
              <a:rPr lang="en-US" dirty="0"/>
              <a:t>Start vertex has distance </a:t>
            </a:r>
            <a:r>
              <a:rPr lang="en-US" b="1" dirty="0">
                <a:solidFill>
                  <a:srgbClr val="FF0000"/>
                </a:solidFill>
              </a:rPr>
              <a:t>0</a:t>
            </a:r>
            <a:r>
              <a:rPr lang="en-US" dirty="0"/>
              <a:t>; all other vertices have distance </a:t>
            </a:r>
            <a:r>
              <a:rPr lang="en-US" b="1" dirty="0">
                <a:solidFill>
                  <a:srgbClr val="FF0000"/>
                </a:solidFill>
                <a:sym typeface="Symbol" pitchFamily="18" charset="2"/>
              </a:rPr>
              <a:t></a:t>
            </a:r>
            <a:r>
              <a:rPr lang="en-US" dirty="0">
                <a:sym typeface="Symbol" pitchFamily="18" charset="2"/>
              </a:rPr>
              <a:t> </a:t>
            </a:r>
          </a:p>
          <a:p>
            <a:pPr lvl="1"/>
            <a:endParaRPr lang="en-US" dirty="0">
              <a:sym typeface="Symbol" pitchFamily="18" charset="2"/>
            </a:endParaRPr>
          </a:p>
          <a:p>
            <a:pPr eaLnBrk="1" hangingPunct="1"/>
            <a:r>
              <a:rPr lang="en-US" dirty="0"/>
              <a:t>At each step:</a:t>
            </a:r>
          </a:p>
          <a:p>
            <a:pPr lvl="1" eaLnBrk="1" hangingPunct="1"/>
            <a:r>
              <a:rPr lang="en-US" dirty="0"/>
              <a:t>Pick closest unknown vertex v</a:t>
            </a:r>
          </a:p>
          <a:p>
            <a:pPr lvl="1" eaLnBrk="1" hangingPunct="1"/>
            <a:r>
              <a:rPr lang="en-US" dirty="0"/>
              <a:t>Add it to the “cloud” of known vertices</a:t>
            </a:r>
          </a:p>
          <a:p>
            <a:pPr lvl="1" eaLnBrk="1" hangingPunct="1"/>
            <a:r>
              <a:rPr lang="en-US" dirty="0"/>
              <a:t>Update “best-so-far” distances for vertices with edges from v</a:t>
            </a:r>
          </a:p>
          <a:p>
            <a:pPr lvl="1" eaLnBrk="1" hangingPunct="1"/>
            <a:endParaRPr lang="en-US" dirty="0"/>
          </a:p>
        </p:txBody>
      </p:sp>
      <p:grpSp>
        <p:nvGrpSpPr>
          <p:cNvPr id="54" name="Group 53">
            <a:extLst>
              <a:ext uri="{FF2B5EF4-FFF2-40B4-BE49-F238E27FC236}">
                <a16:creationId xmlns:a16="http://schemas.microsoft.com/office/drawing/2014/main" id="{B4466E9A-00E3-4AB6-8BF7-A35D01135CC4}"/>
              </a:ext>
            </a:extLst>
          </p:cNvPr>
          <p:cNvGrpSpPr/>
          <p:nvPr/>
        </p:nvGrpSpPr>
        <p:grpSpPr>
          <a:xfrm>
            <a:off x="4104519" y="1534742"/>
            <a:ext cx="4555069" cy="2238505"/>
            <a:chOff x="1681898" y="2177550"/>
            <a:chExt cx="3416302" cy="1678879"/>
          </a:xfrm>
        </p:grpSpPr>
        <p:sp>
          <p:nvSpPr>
            <p:cNvPr id="55" name="Oval 54">
              <a:extLst>
                <a:ext uri="{FF2B5EF4-FFF2-40B4-BE49-F238E27FC236}">
                  <a16:creationId xmlns:a16="http://schemas.microsoft.com/office/drawing/2014/main" id="{E6D1364F-2BF4-44B3-9AC5-A9EA7CC2936F}"/>
                </a:ext>
              </a:extLst>
            </p:cNvPr>
            <p:cNvSpPr>
              <a:spLocks noChangeArrowheads="1"/>
            </p:cNvSpPr>
            <p:nvPr>
              <p:custDataLst>
                <p:tags r:id="rId11"/>
              </p:custDataLst>
            </p:nvPr>
          </p:nvSpPr>
          <p:spPr bwMode="auto">
            <a:xfrm>
              <a:off x="1840650" y="2357632"/>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33AF5B2B-D910-4F1D-AB65-C27BE6F73393}"/>
                </a:ext>
              </a:extLst>
            </p:cNvPr>
            <p:cNvSpPr>
              <a:spLocks noChangeArrowheads="1"/>
            </p:cNvSpPr>
            <p:nvPr>
              <p:custDataLst>
                <p:tags r:id="rId12"/>
              </p:custDataLst>
            </p:nvPr>
          </p:nvSpPr>
          <p:spPr bwMode="auto">
            <a:xfrm>
              <a:off x="3097950" y="2300482"/>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9415703B-C75C-48C4-BEE7-4387B11699D9}"/>
                </a:ext>
              </a:extLst>
            </p:cNvPr>
            <p:cNvSpPr>
              <a:spLocks noChangeArrowheads="1"/>
            </p:cNvSpPr>
            <p:nvPr>
              <p:custDataLst>
                <p:tags r:id="rId13"/>
              </p:custDataLst>
            </p:nvPr>
          </p:nvSpPr>
          <p:spPr bwMode="auto">
            <a:xfrm>
              <a:off x="1726350" y="3272032"/>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FAD216C9-4740-443E-A68E-C1978221FD28}"/>
                </a:ext>
              </a:extLst>
            </p:cNvPr>
            <p:cNvSpPr>
              <a:spLocks noChangeArrowheads="1"/>
            </p:cNvSpPr>
            <p:nvPr>
              <p:custDataLst>
                <p:tags r:id="rId14"/>
              </p:custDataLst>
            </p:nvPr>
          </p:nvSpPr>
          <p:spPr bwMode="auto">
            <a:xfrm>
              <a:off x="2926500" y="3100582"/>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900387E8-C0E4-435E-8B99-53EFADC1C6CE}"/>
                </a:ext>
              </a:extLst>
            </p:cNvPr>
            <p:cNvSpPr>
              <a:spLocks noChangeArrowheads="1"/>
            </p:cNvSpPr>
            <p:nvPr>
              <p:custDataLst>
                <p:tags r:id="rId15"/>
              </p:custDataLst>
            </p:nvPr>
          </p:nvSpPr>
          <p:spPr bwMode="auto">
            <a:xfrm>
              <a:off x="4069500" y="2357632"/>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A451FD40-5752-439C-ADEA-F70299908F60}"/>
                </a:ext>
              </a:extLst>
            </p:cNvPr>
            <p:cNvSpPr>
              <a:spLocks noChangeArrowheads="1"/>
            </p:cNvSpPr>
            <p:nvPr>
              <p:custDataLst>
                <p:tags r:id="rId16"/>
              </p:custDataLst>
            </p:nvPr>
          </p:nvSpPr>
          <p:spPr bwMode="auto">
            <a:xfrm>
              <a:off x="4812450" y="2357632"/>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7C6C72D-408F-4AA7-AE9E-B9C7C511616E}"/>
                </a:ext>
              </a:extLst>
            </p:cNvPr>
            <p:cNvSpPr>
              <a:spLocks noChangeArrowheads="1"/>
            </p:cNvSpPr>
            <p:nvPr>
              <p:custDataLst>
                <p:tags r:id="rId17"/>
              </p:custDataLst>
            </p:nvPr>
          </p:nvSpPr>
          <p:spPr bwMode="auto">
            <a:xfrm>
              <a:off x="3612300" y="3386332"/>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690EFC21-8798-4466-9232-05275C9192DD}"/>
                </a:ext>
              </a:extLst>
            </p:cNvPr>
            <p:cNvSpPr>
              <a:spLocks noChangeArrowheads="1"/>
            </p:cNvSpPr>
            <p:nvPr>
              <p:custDataLst>
                <p:tags r:id="rId18"/>
              </p:custDataLst>
            </p:nvPr>
          </p:nvSpPr>
          <p:spPr bwMode="auto">
            <a:xfrm>
              <a:off x="4355250" y="2929132"/>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986E6729-83E5-4F50-9FF3-CDDECB7C8826}"/>
                </a:ext>
              </a:extLst>
            </p:cNvPr>
            <p:cNvCxnSpPr>
              <a:cxnSpLocks noChangeShapeType="1"/>
              <a:stCxn id="55" idx="6"/>
              <a:endCxn id="59" idx="1"/>
            </p:cNvCxnSpPr>
            <p:nvPr>
              <p:custDataLst>
                <p:tags r:id="rId19"/>
              </p:custDataLst>
            </p:nvPr>
          </p:nvCxnSpPr>
          <p:spPr bwMode="auto">
            <a:xfrm>
              <a:off x="2133544" y="2500506"/>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48D3C5D7-370A-424A-98A4-A36ACE00156A}"/>
                </a:ext>
              </a:extLst>
            </p:cNvPr>
            <p:cNvCxnSpPr>
              <a:cxnSpLocks noChangeShapeType="1"/>
              <a:stCxn id="59" idx="2"/>
              <a:endCxn id="55" idx="4"/>
            </p:cNvCxnSpPr>
            <p:nvPr>
              <p:custDataLst>
                <p:tags r:id="rId20"/>
              </p:custDataLst>
            </p:nvPr>
          </p:nvCxnSpPr>
          <p:spPr bwMode="auto">
            <a:xfrm rot="10800000">
              <a:off x="1983526" y="2650526"/>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F9BD5F6-3B20-41F9-A22F-3768379C0C92}"/>
                </a:ext>
              </a:extLst>
            </p:cNvPr>
            <p:cNvCxnSpPr>
              <a:cxnSpLocks noChangeShapeType="1"/>
              <a:stCxn id="63" idx="2"/>
              <a:endCxn id="62" idx="0"/>
            </p:cNvCxnSpPr>
            <p:nvPr>
              <p:custDataLst>
                <p:tags r:id="rId21"/>
              </p:custDataLst>
            </p:nvPr>
          </p:nvCxnSpPr>
          <p:spPr bwMode="auto">
            <a:xfrm rot="10800000" flipV="1">
              <a:off x="3755175" y="3072007"/>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D84637A3-F703-4773-8EA7-3FA9BCE0662C}"/>
                </a:ext>
              </a:extLst>
            </p:cNvPr>
            <p:cNvCxnSpPr>
              <a:cxnSpLocks noChangeShapeType="1"/>
              <a:stCxn id="62" idx="6"/>
              <a:endCxn id="63" idx="4"/>
            </p:cNvCxnSpPr>
            <p:nvPr>
              <p:custDataLst>
                <p:tags r:id="rId22"/>
              </p:custDataLst>
            </p:nvPr>
          </p:nvCxnSpPr>
          <p:spPr bwMode="auto">
            <a:xfrm flipV="1">
              <a:off x="3898050" y="3214882"/>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0218EF07-7137-4037-BFAE-F8641D3EE957}"/>
                </a:ext>
              </a:extLst>
            </p:cNvPr>
            <p:cNvCxnSpPr>
              <a:cxnSpLocks noChangeShapeType="1"/>
              <a:stCxn id="55" idx="3"/>
              <a:endCxn id="58" idx="0"/>
            </p:cNvCxnSpPr>
            <p:nvPr>
              <p:custDataLst>
                <p:tags r:id="rId23"/>
              </p:custDataLst>
            </p:nvPr>
          </p:nvCxnSpPr>
          <p:spPr bwMode="auto">
            <a:xfrm flipH="1">
              <a:off x="1869225" y="2608854"/>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0CB50653-96CF-4E29-8DB8-9F8D2CC17244}"/>
                </a:ext>
              </a:extLst>
            </p:cNvPr>
            <p:cNvCxnSpPr>
              <a:cxnSpLocks noChangeShapeType="1"/>
              <a:stCxn id="58" idx="6"/>
              <a:endCxn id="59" idx="3"/>
            </p:cNvCxnSpPr>
            <p:nvPr>
              <p:custDataLst>
                <p:tags r:id="rId24"/>
              </p:custDataLst>
            </p:nvPr>
          </p:nvCxnSpPr>
          <p:spPr bwMode="auto">
            <a:xfrm flipV="1">
              <a:off x="2019244" y="3351804"/>
              <a:ext cx="948928" cy="63103"/>
            </a:xfrm>
            <a:prstGeom prst="straightConnector1">
              <a:avLst/>
            </a:prstGeom>
            <a:noFill/>
            <a:ln w="9525">
              <a:solidFill>
                <a:schemeClr val="bg1">
                  <a:lumMod val="65000"/>
                </a:schemeClr>
              </a:solidFill>
              <a:prstDash val="dash"/>
              <a:round/>
              <a:headEnd/>
              <a:tailEnd type="triangle" w="med" len="med"/>
            </a:ln>
          </p:spPr>
        </p:cxnSp>
        <p:cxnSp>
          <p:nvCxnSpPr>
            <p:cNvPr id="70" name="AutoShape 26">
              <a:extLst>
                <a:ext uri="{FF2B5EF4-FFF2-40B4-BE49-F238E27FC236}">
                  <a16:creationId xmlns:a16="http://schemas.microsoft.com/office/drawing/2014/main" id="{16035329-6F2A-4201-8FEA-83D52F77DC81}"/>
                </a:ext>
              </a:extLst>
            </p:cNvPr>
            <p:cNvCxnSpPr>
              <a:cxnSpLocks noChangeShapeType="1"/>
              <a:stCxn id="55" idx="7"/>
              <a:endCxn id="57" idx="2"/>
            </p:cNvCxnSpPr>
            <p:nvPr>
              <p:custDataLst>
                <p:tags r:id="rId25"/>
              </p:custDataLst>
            </p:nvPr>
          </p:nvCxnSpPr>
          <p:spPr bwMode="auto">
            <a:xfrm>
              <a:off x="2084728" y="2392160"/>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BE209127-935A-44B0-B2F0-425D51CDC8DB}"/>
                </a:ext>
              </a:extLst>
            </p:cNvPr>
            <p:cNvCxnSpPr>
              <a:cxnSpLocks noChangeShapeType="1"/>
              <a:stCxn id="57" idx="6"/>
              <a:endCxn id="60" idx="2"/>
            </p:cNvCxnSpPr>
            <p:nvPr>
              <p:custDataLst>
                <p:tags r:id="rId26"/>
              </p:custDataLst>
            </p:nvPr>
          </p:nvCxnSpPr>
          <p:spPr bwMode="auto">
            <a:xfrm>
              <a:off x="3390844" y="2443357"/>
              <a:ext cx="671513" cy="57150"/>
            </a:xfrm>
            <a:prstGeom prst="straightConnector1">
              <a:avLst/>
            </a:prstGeom>
            <a:noFill/>
            <a:ln w="9525">
              <a:solidFill>
                <a:schemeClr val="tx1"/>
              </a:solidFill>
              <a:round/>
              <a:headEnd/>
              <a:tailEnd type="triangle" w="med" len="med"/>
            </a:ln>
          </p:spPr>
        </p:cxnSp>
        <p:cxnSp>
          <p:nvCxnSpPr>
            <p:cNvPr id="72" name="AutoShape 28">
              <a:extLst>
                <a:ext uri="{FF2B5EF4-FFF2-40B4-BE49-F238E27FC236}">
                  <a16:creationId xmlns:a16="http://schemas.microsoft.com/office/drawing/2014/main" id="{1D425C25-3DE6-46B2-926A-5CAFC1272875}"/>
                </a:ext>
              </a:extLst>
            </p:cNvPr>
            <p:cNvCxnSpPr>
              <a:cxnSpLocks noChangeShapeType="1"/>
              <a:stCxn id="60" idx="6"/>
              <a:endCxn id="61" idx="2"/>
            </p:cNvCxnSpPr>
            <p:nvPr>
              <p:custDataLst>
                <p:tags r:id="rId27"/>
              </p:custDataLst>
            </p:nvPr>
          </p:nvCxnSpPr>
          <p:spPr bwMode="auto">
            <a:xfrm>
              <a:off x="4362394" y="2500507"/>
              <a:ext cx="442913" cy="0"/>
            </a:xfrm>
            <a:prstGeom prst="straightConnector1">
              <a:avLst/>
            </a:prstGeom>
            <a:noFill/>
            <a:ln w="9525">
              <a:solidFill>
                <a:schemeClr val="tx1"/>
              </a:solidFill>
              <a:round/>
              <a:headEnd/>
              <a:tailEnd type="triangle" w="med" len="med"/>
            </a:ln>
          </p:spPr>
        </p:cxnSp>
        <p:cxnSp>
          <p:nvCxnSpPr>
            <p:cNvPr id="73" name="AutoShape 29">
              <a:extLst>
                <a:ext uri="{FF2B5EF4-FFF2-40B4-BE49-F238E27FC236}">
                  <a16:creationId xmlns:a16="http://schemas.microsoft.com/office/drawing/2014/main" id="{6102E7ED-DFE4-4751-8D37-87475EB03B38}"/>
                </a:ext>
              </a:extLst>
            </p:cNvPr>
            <p:cNvCxnSpPr>
              <a:cxnSpLocks noChangeShapeType="1"/>
              <a:stCxn id="63" idx="1"/>
              <a:endCxn id="60" idx="4"/>
            </p:cNvCxnSpPr>
            <p:nvPr>
              <p:custDataLst>
                <p:tags r:id="rId28"/>
              </p:custDataLst>
            </p:nvPr>
          </p:nvCxnSpPr>
          <p:spPr bwMode="auto">
            <a:xfrm flipH="1" flipV="1">
              <a:off x="4212375" y="2650526"/>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1F6EBFB5-4943-4E9B-BD00-8DA802E5884F}"/>
                </a:ext>
              </a:extLst>
            </p:cNvPr>
            <p:cNvCxnSpPr>
              <a:cxnSpLocks noChangeShapeType="1"/>
              <a:stCxn id="61" idx="4"/>
              <a:endCxn id="63" idx="7"/>
            </p:cNvCxnSpPr>
            <p:nvPr>
              <p:custDataLst>
                <p:tags r:id="rId29"/>
              </p:custDataLst>
            </p:nvPr>
          </p:nvCxnSpPr>
          <p:spPr bwMode="auto">
            <a:xfrm flipH="1">
              <a:off x="4599329" y="2650526"/>
              <a:ext cx="355997" cy="313135"/>
            </a:xfrm>
            <a:prstGeom prst="straightConnector1">
              <a:avLst/>
            </a:prstGeom>
            <a:noFill/>
            <a:ln w="9525">
              <a:solidFill>
                <a:schemeClr val="tx1"/>
              </a:solidFill>
              <a:round/>
              <a:headEnd/>
              <a:tailEnd type="triangle" w="med" len="med"/>
            </a:ln>
          </p:spPr>
        </p:cxnSp>
        <p:cxnSp>
          <p:nvCxnSpPr>
            <p:cNvPr id="75" name="AutoShape 31">
              <a:extLst>
                <a:ext uri="{FF2B5EF4-FFF2-40B4-BE49-F238E27FC236}">
                  <a16:creationId xmlns:a16="http://schemas.microsoft.com/office/drawing/2014/main" id="{C5731C2A-28FD-49BE-A380-606918449CAC}"/>
                </a:ext>
              </a:extLst>
            </p:cNvPr>
            <p:cNvCxnSpPr>
              <a:cxnSpLocks noChangeShapeType="1"/>
              <a:stCxn id="57" idx="5"/>
              <a:endCxn id="62" idx="1"/>
            </p:cNvCxnSpPr>
            <p:nvPr>
              <p:custDataLst>
                <p:tags r:id="rId30"/>
              </p:custDataLst>
            </p:nvPr>
          </p:nvCxnSpPr>
          <p:spPr bwMode="auto">
            <a:xfrm rot="16200000" flipH="1">
              <a:off x="3056278" y="2830310"/>
              <a:ext cx="883444" cy="311944"/>
            </a:xfrm>
            <a:prstGeom prst="straightConnector1">
              <a:avLst/>
            </a:prstGeom>
            <a:noFill/>
            <a:ln w="9525">
              <a:solidFill>
                <a:schemeClr val="tx1"/>
              </a:solidFill>
              <a:round/>
              <a:headEnd/>
              <a:tailEnd type="triangle" w="med" len="med"/>
            </a:ln>
          </p:spPr>
        </p:cxnSp>
        <p:cxnSp>
          <p:nvCxnSpPr>
            <p:cNvPr id="76" name="AutoShape 32">
              <a:extLst>
                <a:ext uri="{FF2B5EF4-FFF2-40B4-BE49-F238E27FC236}">
                  <a16:creationId xmlns:a16="http://schemas.microsoft.com/office/drawing/2014/main" id="{7B62572F-BE53-4B01-BDF6-4A3CFC0A9816}"/>
                </a:ext>
              </a:extLst>
            </p:cNvPr>
            <p:cNvCxnSpPr>
              <a:cxnSpLocks noChangeShapeType="1"/>
              <a:stCxn id="57" idx="4"/>
              <a:endCxn id="59" idx="0"/>
            </p:cNvCxnSpPr>
            <p:nvPr>
              <p:custDataLst>
                <p:tags r:id="rId31"/>
              </p:custDataLst>
            </p:nvPr>
          </p:nvCxnSpPr>
          <p:spPr bwMode="auto">
            <a:xfrm flipH="1">
              <a:off x="3069375" y="2593375"/>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EE29BE1B-5DF7-4529-852C-23CBCC89938F}"/>
                </a:ext>
              </a:extLst>
            </p:cNvPr>
            <p:cNvCxnSpPr>
              <a:cxnSpLocks noChangeShapeType="1"/>
              <a:stCxn id="59" idx="5"/>
              <a:endCxn id="62" idx="2"/>
            </p:cNvCxnSpPr>
            <p:nvPr>
              <p:custDataLst>
                <p:tags r:id="rId32"/>
              </p:custDataLst>
            </p:nvPr>
          </p:nvCxnSpPr>
          <p:spPr bwMode="auto">
            <a:xfrm rot="16200000" flipH="1">
              <a:off x="3299166" y="3216072"/>
              <a:ext cx="184547" cy="441722"/>
            </a:xfrm>
            <a:prstGeom prst="straightConnector1">
              <a:avLst/>
            </a:prstGeom>
            <a:noFill/>
            <a:ln w="9525">
              <a:solidFill>
                <a:schemeClr val="tx1"/>
              </a:solidFill>
              <a:round/>
              <a:headEnd/>
              <a:tailEnd type="triangle" w="med" len="med"/>
            </a:ln>
          </p:spPr>
        </p:cxnSp>
        <p:cxnSp>
          <p:nvCxnSpPr>
            <p:cNvPr id="78" name="AutoShape 34">
              <a:extLst>
                <a:ext uri="{FF2B5EF4-FFF2-40B4-BE49-F238E27FC236}">
                  <a16:creationId xmlns:a16="http://schemas.microsoft.com/office/drawing/2014/main" id="{544ADCFF-1750-4051-B8D0-44E66BBE2D20}"/>
                </a:ext>
              </a:extLst>
            </p:cNvPr>
            <p:cNvCxnSpPr>
              <a:cxnSpLocks noChangeShapeType="1"/>
              <a:stCxn id="62" idx="3"/>
              <a:endCxn id="58" idx="5"/>
            </p:cNvCxnSpPr>
            <p:nvPr>
              <p:custDataLst>
                <p:tags r:id="rId33"/>
              </p:custDataLst>
            </p:nvPr>
          </p:nvCxnSpPr>
          <p:spPr bwMode="auto">
            <a:xfrm rot="5400000" flipH="1">
              <a:off x="2755050" y="2731488"/>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3B16EF7F-75D7-4F94-8391-F0FC238384CF}"/>
                </a:ext>
              </a:extLst>
            </p:cNvPr>
            <p:cNvSpPr txBox="1">
              <a:spLocks noChangeArrowheads="1"/>
            </p:cNvSpPr>
            <p:nvPr>
              <p:custDataLst>
                <p:tags r:id="rId34"/>
              </p:custDataLst>
            </p:nvPr>
          </p:nvSpPr>
          <p:spPr bwMode="auto">
            <a:xfrm>
              <a:off x="2429351" y="217755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D5165016-2FB8-4672-ADB2-0575C78A135D}"/>
                </a:ext>
              </a:extLst>
            </p:cNvPr>
            <p:cNvSpPr txBox="1">
              <a:spLocks noChangeArrowheads="1"/>
            </p:cNvSpPr>
            <p:nvPr>
              <p:custDataLst>
                <p:tags r:id="rId35"/>
              </p:custDataLst>
            </p:nvPr>
          </p:nvSpPr>
          <p:spPr bwMode="auto">
            <a:xfrm>
              <a:off x="3580663" y="2201246"/>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87128F01-486D-4F28-B26D-D29C088B5F7A}"/>
                </a:ext>
              </a:extLst>
            </p:cNvPr>
            <p:cNvSpPr txBox="1">
              <a:spLocks noChangeArrowheads="1"/>
            </p:cNvSpPr>
            <p:nvPr>
              <p:custDataLst>
                <p:tags r:id="rId36"/>
              </p:custDataLst>
            </p:nvPr>
          </p:nvSpPr>
          <p:spPr bwMode="auto">
            <a:xfrm>
              <a:off x="4449995" y="223298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55DC039-3E41-427E-87F6-A7065431DD59}"/>
                </a:ext>
              </a:extLst>
            </p:cNvPr>
            <p:cNvSpPr txBox="1">
              <a:spLocks noChangeArrowheads="1"/>
            </p:cNvSpPr>
            <p:nvPr>
              <p:custDataLst>
                <p:tags r:id="rId37"/>
              </p:custDataLst>
            </p:nvPr>
          </p:nvSpPr>
          <p:spPr bwMode="auto">
            <a:xfrm>
              <a:off x="4755300" y="270053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DDAD4800-4241-4300-9AF0-C17AB3CD65F8}"/>
                </a:ext>
              </a:extLst>
            </p:cNvPr>
            <p:cNvSpPr txBox="1">
              <a:spLocks noChangeArrowheads="1"/>
            </p:cNvSpPr>
            <p:nvPr>
              <p:custDataLst>
                <p:tags r:id="rId38"/>
              </p:custDataLst>
            </p:nvPr>
          </p:nvSpPr>
          <p:spPr bwMode="auto">
            <a:xfrm>
              <a:off x="3411055" y="275113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6DFA00F7-0FB7-49FB-BC13-6A37A91A06A4}"/>
                </a:ext>
              </a:extLst>
            </p:cNvPr>
            <p:cNvSpPr txBox="1">
              <a:spLocks noChangeArrowheads="1"/>
            </p:cNvSpPr>
            <p:nvPr>
              <p:custDataLst>
                <p:tags r:id="rId39"/>
              </p:custDataLst>
            </p:nvPr>
          </p:nvSpPr>
          <p:spPr bwMode="auto">
            <a:xfrm>
              <a:off x="4126650" y="2700532"/>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B90B9297-1123-4855-9F81-8C284CC36E37}"/>
                </a:ext>
              </a:extLst>
            </p:cNvPr>
            <p:cNvSpPr txBox="1">
              <a:spLocks noChangeArrowheads="1"/>
            </p:cNvSpPr>
            <p:nvPr>
              <p:custDataLst>
                <p:tags r:id="rId40"/>
              </p:custDataLst>
            </p:nvPr>
          </p:nvSpPr>
          <p:spPr bwMode="auto">
            <a:xfrm>
              <a:off x="3876041" y="2907105"/>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80FFCC19-7C3F-476E-88E9-BD8A1572B2A3}"/>
                </a:ext>
              </a:extLst>
            </p:cNvPr>
            <p:cNvSpPr txBox="1">
              <a:spLocks noChangeArrowheads="1"/>
            </p:cNvSpPr>
            <p:nvPr>
              <p:custDataLst>
                <p:tags r:id="rId41"/>
              </p:custDataLst>
            </p:nvPr>
          </p:nvSpPr>
          <p:spPr bwMode="auto">
            <a:xfrm>
              <a:off x="4112726" y="3214881"/>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1A9C1223-5214-40AB-8B5A-E592B3759A81}"/>
                </a:ext>
              </a:extLst>
            </p:cNvPr>
            <p:cNvSpPr txBox="1">
              <a:spLocks noChangeArrowheads="1"/>
            </p:cNvSpPr>
            <p:nvPr>
              <p:custDataLst>
                <p:tags r:id="rId42"/>
              </p:custDataLst>
            </p:nvPr>
          </p:nvSpPr>
          <p:spPr bwMode="auto">
            <a:xfrm>
              <a:off x="3234259" y="318154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4AE8A07A-0156-4EC2-95C6-485F20165260}"/>
                </a:ext>
              </a:extLst>
            </p:cNvPr>
            <p:cNvSpPr txBox="1">
              <a:spLocks noChangeArrowheads="1"/>
            </p:cNvSpPr>
            <p:nvPr>
              <p:custDataLst>
                <p:tags r:id="rId43"/>
              </p:custDataLst>
            </p:nvPr>
          </p:nvSpPr>
          <p:spPr bwMode="auto">
            <a:xfrm>
              <a:off x="2707538" y="351018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ADF18C9A-0DE6-458B-8F3A-721CE0888DED}"/>
                </a:ext>
              </a:extLst>
            </p:cNvPr>
            <p:cNvSpPr txBox="1">
              <a:spLocks noChangeArrowheads="1"/>
            </p:cNvSpPr>
            <p:nvPr>
              <p:custDataLst>
                <p:tags r:id="rId44"/>
              </p:custDataLst>
            </p:nvPr>
          </p:nvSpPr>
          <p:spPr bwMode="auto">
            <a:xfrm>
              <a:off x="2636036" y="2489691"/>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08E4B44A-6B23-4E66-AF09-6103F99ED5D1}"/>
                </a:ext>
              </a:extLst>
            </p:cNvPr>
            <p:cNvSpPr txBox="1">
              <a:spLocks noChangeArrowheads="1"/>
            </p:cNvSpPr>
            <p:nvPr>
              <p:custDataLst>
                <p:tags r:id="rId45"/>
              </p:custDataLst>
            </p:nvPr>
          </p:nvSpPr>
          <p:spPr bwMode="auto">
            <a:xfrm>
              <a:off x="2412096" y="291128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8E77CA62-601D-491B-8C1D-BF8E178E7A62}"/>
                </a:ext>
              </a:extLst>
            </p:cNvPr>
            <p:cNvSpPr txBox="1">
              <a:spLocks noChangeArrowheads="1"/>
            </p:cNvSpPr>
            <p:nvPr>
              <p:custDataLst>
                <p:tags r:id="rId46"/>
              </p:custDataLst>
            </p:nvPr>
          </p:nvSpPr>
          <p:spPr bwMode="auto">
            <a:xfrm>
              <a:off x="2170111" y="315536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1B369EAC-401F-44E1-830F-064BDF95E17A}"/>
                </a:ext>
              </a:extLst>
            </p:cNvPr>
            <p:cNvSpPr txBox="1">
              <a:spLocks noChangeArrowheads="1"/>
            </p:cNvSpPr>
            <p:nvPr>
              <p:custDataLst>
                <p:tags r:id="rId47"/>
              </p:custDataLst>
            </p:nvPr>
          </p:nvSpPr>
          <p:spPr bwMode="auto">
            <a:xfrm>
              <a:off x="1681898" y="2794443"/>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D2FA2D6-9AA2-4E93-A44D-EC29BEC307D3}"/>
                </a:ext>
              </a:extLst>
            </p:cNvPr>
            <p:cNvSpPr txBox="1">
              <a:spLocks noChangeArrowheads="1"/>
            </p:cNvSpPr>
            <p:nvPr>
              <p:custDataLst>
                <p:tags r:id="rId48"/>
              </p:custDataLst>
            </p:nvPr>
          </p:nvSpPr>
          <p:spPr bwMode="auto">
            <a:xfrm>
              <a:off x="3078940" y="2736250"/>
              <a:ext cx="255119"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5</a:t>
              </a:r>
            </a:p>
          </p:txBody>
        </p:sp>
      </p:grpSp>
      <p:sp>
        <p:nvSpPr>
          <p:cNvPr id="94" name="Text Box 47">
            <a:extLst>
              <a:ext uri="{FF2B5EF4-FFF2-40B4-BE49-F238E27FC236}">
                <a16:creationId xmlns:a16="http://schemas.microsoft.com/office/drawing/2014/main" id="{CCDF21E3-D4DD-4DA6-8524-2AA82CFB56E2}"/>
              </a:ext>
            </a:extLst>
          </p:cNvPr>
          <p:cNvSpPr txBox="1">
            <a:spLocks noChangeArrowheads="1"/>
          </p:cNvSpPr>
          <p:nvPr>
            <p:custDataLst>
              <p:tags r:id="rId3"/>
            </p:custDataLst>
          </p:nvPr>
        </p:nvSpPr>
        <p:spPr bwMode="auto">
          <a:xfrm>
            <a:off x="4215762" y="1509856"/>
            <a:ext cx="288862"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95A386C9-E079-464B-813D-49020258D06A}"/>
              </a:ext>
            </a:extLst>
          </p:cNvPr>
          <p:cNvSpPr txBox="1">
            <a:spLocks noChangeArrowheads="1"/>
          </p:cNvSpPr>
          <p:nvPr>
            <p:custDataLst>
              <p:tags r:id="rId4"/>
            </p:custDataLst>
          </p:nvPr>
        </p:nvSpPr>
        <p:spPr bwMode="auto">
          <a:xfrm>
            <a:off x="4061210" y="2731081"/>
            <a:ext cx="288862"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42467F10-20CC-4F93-8B81-55DAF8B35F85}"/>
              </a:ext>
            </a:extLst>
          </p:cNvPr>
          <p:cNvSpPr txBox="1">
            <a:spLocks noChangeArrowheads="1"/>
          </p:cNvSpPr>
          <p:nvPr>
            <p:custDataLst>
              <p:tags r:id="rId5"/>
            </p:custDataLst>
          </p:nvPr>
        </p:nvSpPr>
        <p:spPr bwMode="auto">
          <a:xfrm>
            <a:off x="5805116" y="1464209"/>
            <a:ext cx="288862"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25703F0E-36DC-4DD5-836F-3AA5E9D42B03}"/>
              </a:ext>
            </a:extLst>
          </p:cNvPr>
          <p:cNvSpPr txBox="1">
            <a:spLocks noChangeArrowheads="1"/>
          </p:cNvSpPr>
          <p:nvPr>
            <p:custDataLst>
              <p:tags r:id="rId6"/>
            </p:custDataLst>
          </p:nvPr>
        </p:nvSpPr>
        <p:spPr bwMode="auto">
          <a:xfrm>
            <a:off x="5537306" y="2621417"/>
            <a:ext cx="288862"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1</a:t>
            </a:r>
            <a:endParaRPr lang="en-US" sz="24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B5EDFDA6-6284-42F3-90DA-08DC208B84BD}"/>
              </a:ext>
            </a:extLst>
          </p:cNvPr>
          <p:cNvSpPr txBox="1">
            <a:spLocks noChangeArrowheads="1"/>
          </p:cNvSpPr>
          <p:nvPr>
            <p:custDataLst>
              <p:tags r:id="rId7"/>
            </p:custDataLst>
          </p:nvPr>
        </p:nvSpPr>
        <p:spPr bwMode="auto">
          <a:xfrm>
            <a:off x="7103421" y="1495610"/>
            <a:ext cx="478016"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4??</a:t>
            </a:r>
            <a:endParaRPr lang="en-US" sz="24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E67F4286-11BB-4ECA-9674-E7C6C82EAEA2}"/>
              </a:ext>
            </a:extLst>
          </p:cNvPr>
          <p:cNvSpPr txBox="1">
            <a:spLocks noChangeArrowheads="1"/>
          </p:cNvSpPr>
          <p:nvPr>
            <p:custDataLst>
              <p:tags r:id="rId8"/>
            </p:custDataLst>
          </p:nvPr>
        </p:nvSpPr>
        <p:spPr bwMode="auto">
          <a:xfrm>
            <a:off x="6882804" y="3434693"/>
            <a:ext cx="582211"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12??</a:t>
            </a:r>
            <a:endParaRPr lang="en-US" sz="24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F7C073A5-9C9E-4E3B-BFD0-9B61857FE781}"/>
              </a:ext>
            </a:extLst>
          </p:cNvPr>
          <p:cNvSpPr txBox="1">
            <a:spLocks noChangeArrowheads="1"/>
          </p:cNvSpPr>
          <p:nvPr>
            <p:custDataLst>
              <p:tags r:id="rId9"/>
            </p:custDataLst>
          </p:nvPr>
        </p:nvSpPr>
        <p:spPr bwMode="auto">
          <a:xfrm>
            <a:off x="8139781" y="1524801"/>
            <a:ext cx="359394"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a:t>
            </a:r>
            <a:endParaRPr lang="en-US" sz="2400" dirty="0">
              <a:solidFill>
                <a:srgbClr val="FF0000"/>
              </a:solidFill>
              <a:latin typeface="Calibri" panose="020F0502020204030204" pitchFamily="34" charset="0"/>
              <a:cs typeface="Calibri" panose="020F0502020204030204" pitchFamily="34" charset="0"/>
            </a:endParaRPr>
          </a:p>
        </p:txBody>
      </p:sp>
      <p:sp>
        <p:nvSpPr>
          <p:cNvPr id="102" name="Text Box 47">
            <a:extLst>
              <a:ext uri="{FF2B5EF4-FFF2-40B4-BE49-F238E27FC236}">
                <a16:creationId xmlns:a16="http://schemas.microsoft.com/office/drawing/2014/main" id="{8BCD0F0F-E615-48F1-BD22-C752ED0C3388}"/>
              </a:ext>
            </a:extLst>
          </p:cNvPr>
          <p:cNvSpPr txBox="1">
            <a:spLocks noChangeArrowheads="1"/>
          </p:cNvSpPr>
          <p:nvPr>
            <p:custDataLst>
              <p:tags r:id="rId10"/>
            </p:custDataLst>
          </p:nvPr>
        </p:nvSpPr>
        <p:spPr bwMode="auto">
          <a:xfrm>
            <a:off x="7583519" y="2271617"/>
            <a:ext cx="359394"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a:t>
            </a:r>
            <a:endParaRPr lang="en-US" sz="2400" dirty="0">
              <a:solidFill>
                <a:srgbClr val="FF0000"/>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ACB76EA1-00BF-9248-BC88-9EE03AAE84AD}"/>
              </a:ext>
            </a:extLst>
          </p:cNvPr>
          <p:cNvSpPr txBox="1"/>
          <p:nvPr/>
        </p:nvSpPr>
        <p:spPr>
          <a:xfrm>
            <a:off x="2631804" y="2868321"/>
            <a:ext cx="1042658" cy="369332"/>
          </a:xfrm>
          <a:prstGeom prst="rect">
            <a:avLst/>
          </a:prstGeom>
          <a:noFill/>
        </p:spPr>
        <p:txBody>
          <a:bodyPr wrap="none" rtlCol="0">
            <a:spAutoFit/>
          </a:bodyPr>
          <a:lstStyle/>
          <a:p>
            <a:r>
              <a:rPr lang="en-US" b="1" spc="100">
                <a:solidFill>
                  <a:schemeClr val="accent6"/>
                </a:solidFill>
              </a:rPr>
              <a:t>KNOWN</a:t>
            </a:r>
            <a:endParaRPr lang="en-US" b="1" spc="100" dirty="0">
              <a:solidFill>
                <a:schemeClr val="accent6"/>
              </a:solidFill>
            </a:endParaRPr>
          </a:p>
        </p:txBody>
      </p:sp>
      <p:sp>
        <p:nvSpPr>
          <p:cNvPr id="56" name="TextBox 55">
            <a:extLst>
              <a:ext uri="{FF2B5EF4-FFF2-40B4-BE49-F238E27FC236}">
                <a16:creationId xmlns:a16="http://schemas.microsoft.com/office/drawing/2014/main" id="{FAA00BF2-5AB1-D649-BE07-9555A58FA046}"/>
              </a:ext>
            </a:extLst>
          </p:cNvPr>
          <p:cNvSpPr txBox="1"/>
          <p:nvPr/>
        </p:nvSpPr>
        <p:spPr>
          <a:xfrm>
            <a:off x="8618561" y="1359236"/>
            <a:ext cx="1371273" cy="369332"/>
          </a:xfrm>
          <a:prstGeom prst="rect">
            <a:avLst/>
          </a:prstGeom>
          <a:noFill/>
        </p:spPr>
        <p:txBody>
          <a:bodyPr wrap="none" rtlCol="0">
            <a:spAutoFit/>
          </a:bodyPr>
          <a:lstStyle/>
          <a:p>
            <a:r>
              <a:rPr lang="en-US" b="1" spc="100" dirty="0">
                <a:solidFill>
                  <a:schemeClr val="tx2">
                    <a:lumMod val="40000"/>
                    <a:lumOff val="60000"/>
                  </a:schemeClr>
                </a:solidFill>
              </a:rPr>
              <a:t>UNKNOWN</a:t>
            </a:r>
          </a:p>
        </p:txBody>
      </p:sp>
      <p:sp>
        <p:nvSpPr>
          <p:cNvPr id="98" name="TextBox 97">
            <a:extLst>
              <a:ext uri="{FF2B5EF4-FFF2-40B4-BE49-F238E27FC236}">
                <a16:creationId xmlns:a16="http://schemas.microsoft.com/office/drawing/2014/main" id="{87099A6F-D9E2-F94E-96EE-52B559570DCE}"/>
              </a:ext>
            </a:extLst>
          </p:cNvPr>
          <p:cNvSpPr txBox="1"/>
          <p:nvPr/>
        </p:nvSpPr>
        <p:spPr>
          <a:xfrm>
            <a:off x="6967913" y="1034534"/>
            <a:ext cx="1396536" cy="369332"/>
          </a:xfrm>
          <a:prstGeom prst="rect">
            <a:avLst/>
          </a:prstGeom>
          <a:noFill/>
        </p:spPr>
        <p:txBody>
          <a:bodyPr wrap="none" rtlCol="0">
            <a:spAutoFit/>
          </a:bodyPr>
          <a:lstStyle/>
          <a:p>
            <a:r>
              <a:rPr lang="en-US" b="1" spc="100" dirty="0">
                <a:solidFill>
                  <a:schemeClr val="accent5"/>
                </a:solidFill>
              </a:rPr>
              <a:t>PERIMETER</a:t>
            </a:r>
          </a:p>
        </p:txBody>
      </p:sp>
      <p:sp>
        <p:nvSpPr>
          <p:cNvPr id="103" name="Google Shape;769;p43">
            <a:extLst>
              <a:ext uri="{FF2B5EF4-FFF2-40B4-BE49-F238E27FC236}">
                <a16:creationId xmlns:a16="http://schemas.microsoft.com/office/drawing/2014/main" id="{BD40721E-1827-F444-A0A9-3AA95729C321}"/>
              </a:ext>
            </a:extLst>
          </p:cNvPr>
          <p:cNvSpPr txBox="1"/>
          <p:nvPr/>
        </p:nvSpPr>
        <p:spPr>
          <a:xfrm>
            <a:off x="3312837" y="1712130"/>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119565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036AF3FD-A525-154C-B00E-EB67E7A79584}"/>
              </a:ext>
            </a:extLst>
          </p:cNvPr>
          <p:cNvSpPr txBox="1">
            <a:spLocks/>
          </p:cNvSpPr>
          <p:nvPr/>
        </p:nvSpPr>
        <p:spPr bwMode="auto">
          <a:xfrm>
            <a:off x="3924139" y="2628569"/>
            <a:ext cx="7629234" cy="4140725"/>
          </a:xfrm>
          <a:prstGeom prst="rect">
            <a:avLst/>
          </a:prstGeom>
          <a:solidFill>
            <a:schemeClr val="bg1">
              <a:lumMod val="95000"/>
            </a:schemeClr>
          </a:solidFill>
          <a:ln w="9525">
            <a:solidFill>
              <a:schemeClr val="tx1"/>
            </a:solidFill>
            <a:miter lim="800000"/>
            <a:headEnd/>
            <a:tailEnd/>
          </a:ln>
        </p:spPr>
        <p:txBody>
          <a:bodyPr vert="horz" wrap="square" lIns="121920" tIns="60960" rIns="121920" bIns="60960" numCol="1" anchor="t" anchorCtr="0" compatLnSpc="1">
            <a:prstTxWarp prst="textNoShape">
              <a:avLst/>
            </a:prstTxWarp>
          </a:bodyPr>
          <a:lstStyle>
            <a:lvl1pPr marL="192881" indent="-192881" algn="l" rtl="0" eaLnBrk="1" fontAlgn="base" hangingPunct="1">
              <a:spcBef>
                <a:spcPct val="20000"/>
              </a:spcBef>
              <a:spcAft>
                <a:spcPct val="0"/>
              </a:spcAft>
              <a:buClr>
                <a:srgbClr val="4B2A85"/>
              </a:buClr>
              <a:buSzPct val="60000"/>
              <a:buFont typeface="Wingdings" panose="05000000000000000000" pitchFamily="2" charset="2"/>
              <a:buChar char="v"/>
              <a:defRPr sz="1600" b="1">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365189" indent="-160735" algn="l" rtl="0" eaLnBrk="1" fontAlgn="base" hangingPunct="1">
              <a:spcBef>
                <a:spcPct val="20000"/>
              </a:spcBef>
              <a:spcAft>
                <a:spcPct val="0"/>
              </a:spcAft>
              <a:buClr>
                <a:srgbClr val="4B2A85"/>
              </a:buClr>
              <a:buSzPct val="110000"/>
              <a:buFont typeface="Wingdings" pitchFamily="2" charset="2"/>
              <a:buChar char="§"/>
              <a:defRPr sz="14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514350" indent="-128588" algn="l" rtl="0" eaLnBrk="1" fontAlgn="base" hangingPunct="1">
              <a:spcBef>
                <a:spcPct val="20000"/>
              </a:spcBef>
              <a:spcAft>
                <a:spcPct val="0"/>
              </a:spcAft>
              <a:buClr>
                <a:srgbClr val="4B2A85"/>
              </a:buClr>
              <a:buSzPct val="80000"/>
              <a:buFont typeface="Arial" panose="020B0604020202020204" pitchFamily="34" charset="0"/>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58368"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812673"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1414463" indent="-128588" algn="l" rtl="0" eaLnBrk="1" fontAlgn="base" hangingPunct="1">
              <a:spcBef>
                <a:spcPct val="20000"/>
              </a:spcBef>
              <a:spcAft>
                <a:spcPct val="0"/>
              </a:spcAft>
              <a:buChar char="»"/>
              <a:defRPr sz="1125">
                <a:solidFill>
                  <a:schemeClr val="tx1"/>
                </a:solidFill>
                <a:latin typeface="Arial" charset="0"/>
              </a:defRPr>
            </a:lvl6pPr>
            <a:lvl7pPr marL="1671638" indent="-128588" algn="l" rtl="0" eaLnBrk="1" fontAlgn="base" hangingPunct="1">
              <a:spcBef>
                <a:spcPct val="20000"/>
              </a:spcBef>
              <a:spcAft>
                <a:spcPct val="0"/>
              </a:spcAft>
              <a:buChar char="»"/>
              <a:defRPr sz="1125">
                <a:solidFill>
                  <a:schemeClr val="tx1"/>
                </a:solidFill>
                <a:latin typeface="Arial" charset="0"/>
              </a:defRPr>
            </a:lvl7pPr>
            <a:lvl8pPr marL="1928813" indent="-128588" algn="l" rtl="0" eaLnBrk="1" fontAlgn="base" hangingPunct="1">
              <a:spcBef>
                <a:spcPct val="20000"/>
              </a:spcBef>
              <a:spcAft>
                <a:spcPct val="0"/>
              </a:spcAft>
              <a:buChar char="»"/>
              <a:defRPr sz="1125">
                <a:solidFill>
                  <a:schemeClr val="tx1"/>
                </a:solidFill>
                <a:latin typeface="Arial" charset="0"/>
              </a:defRPr>
            </a:lvl8pPr>
            <a:lvl9pPr marL="2185988" indent="-128588" algn="l" rtl="0" eaLnBrk="1" fontAlgn="base" hangingPunct="1">
              <a:spcBef>
                <a:spcPct val="20000"/>
              </a:spcBef>
              <a:spcAft>
                <a:spcPct val="0"/>
              </a:spcAft>
              <a:buChar char="»"/>
              <a:defRPr sz="1125">
                <a:solidFill>
                  <a:schemeClr val="tx1"/>
                </a:solidFill>
                <a:latin typeface="Arial" charset="0"/>
              </a:defRPr>
            </a:lvl9pPr>
          </a:lstStyle>
          <a:p>
            <a:pPr marL="0" indent="0">
              <a:lnSpc>
                <a:spcPct val="120000"/>
              </a:lnSpc>
              <a:spcBef>
                <a:spcPts val="0"/>
              </a:spcBef>
              <a:spcAft>
                <a:spcPts val="0"/>
              </a:spcAft>
              <a:buNone/>
            </a:pPr>
            <a:r>
              <a:rPr lang="en-US" dirty="0" err="1">
                <a:latin typeface="Consolas" panose="020B0609020204030204" pitchFamily="49" charset="0"/>
                <a:cs typeface="Consolas" panose="020B0609020204030204" pitchFamily="49" charset="0"/>
              </a:rPr>
              <a:t>dijkstraShortestPath</a:t>
            </a:r>
            <a:r>
              <a:rPr lang="en-US" b="0" dirty="0">
                <a:latin typeface="Consolas" panose="020B0609020204030204" pitchFamily="49" charset="0"/>
                <a:cs typeface="Consolas" panose="020B0609020204030204" pitchFamily="49" charset="0"/>
              </a:rPr>
              <a:t>(</a:t>
            </a:r>
            <a:r>
              <a:rPr lang="en-US" b="0" dirty="0">
                <a:solidFill>
                  <a:schemeClr val="accent3"/>
                </a:solidFill>
                <a:latin typeface="Consolas" panose="020B0609020204030204" pitchFamily="49" charset="0"/>
                <a:cs typeface="Consolas" panose="020B0609020204030204" pitchFamily="49" charset="0"/>
              </a:rPr>
              <a:t>G</a:t>
            </a:r>
            <a:r>
              <a:rPr lang="en-US" b="0" dirty="0">
                <a:latin typeface="Consolas" panose="020B0609020204030204" pitchFamily="49" charset="0"/>
                <a:cs typeface="Consolas" panose="020B0609020204030204" pitchFamily="49" charset="0"/>
              </a:rPr>
              <a:t> graph, </a:t>
            </a:r>
            <a:r>
              <a:rPr lang="en-US" b="0" dirty="0">
                <a:solidFill>
                  <a:schemeClr val="accent3"/>
                </a:solidFill>
                <a:latin typeface="Consolas" panose="020B0609020204030204" pitchFamily="49" charset="0"/>
                <a:cs typeface="Consolas" panose="020B0609020204030204" pitchFamily="49" charset="0"/>
              </a:rPr>
              <a:t>V </a:t>
            </a:r>
            <a:r>
              <a:rPr lang="en-US" b="0" dirty="0">
                <a:latin typeface="Consolas" panose="020B0609020204030204" pitchFamily="49" charset="0"/>
                <a:cs typeface="Consolas" panose="020B0609020204030204" pitchFamily="49" charset="0"/>
              </a:rPr>
              <a:t>start)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Set</a:t>
            </a:r>
            <a:r>
              <a:rPr lang="en-US" b="0" dirty="0">
                <a:latin typeface="Consolas" panose="020B0609020204030204" pitchFamily="49" charset="0"/>
                <a:cs typeface="Consolas" panose="020B0609020204030204" pitchFamily="49" charset="0"/>
              </a:rPr>
              <a:t> known; </a:t>
            </a:r>
            <a:r>
              <a:rPr lang="en-US" b="0" dirty="0">
                <a:solidFill>
                  <a:schemeClr val="accent3"/>
                </a:solidFill>
                <a:latin typeface="Consolas" panose="020B0609020204030204" pitchFamily="49" charset="0"/>
                <a:cs typeface="Consolas" panose="020B0609020204030204" pitchFamily="49" charset="0"/>
              </a:rPr>
              <a:t>Map</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edgeTo</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distTo</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initialize </a:t>
            </a:r>
            <a:r>
              <a:rPr lang="en-US" b="0" dirty="0" err="1">
                <a:latin typeface="Consolas" panose="020B0609020204030204" pitchFamily="49" charset="0"/>
                <a:cs typeface="Consolas" panose="020B0609020204030204" pitchFamily="49" charset="0"/>
              </a:rPr>
              <a:t>distTo</a:t>
            </a:r>
            <a:r>
              <a:rPr lang="en-US" b="0" dirty="0">
                <a:latin typeface="Consolas" panose="020B0609020204030204" pitchFamily="49" charset="0"/>
                <a:cs typeface="Consolas" panose="020B0609020204030204" pitchFamily="49" charset="0"/>
              </a:rPr>
              <a:t> with all nodes mapped to ∞, except start to 0</a:t>
            </a:r>
          </a:p>
          <a:p>
            <a:pPr marL="0" indent="0">
              <a:lnSpc>
                <a:spcPct val="120000"/>
              </a:lnSpc>
              <a:spcBef>
                <a:spcPts val="0"/>
              </a:spcBef>
              <a:spcAft>
                <a:spcPts val="0"/>
              </a:spcAft>
              <a:buNone/>
            </a:pPr>
            <a:endParaRPr lang="en-US"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while</a:t>
            </a:r>
            <a:r>
              <a:rPr lang="en-US" b="0" dirty="0">
                <a:latin typeface="Consolas" panose="020B0609020204030204" pitchFamily="49" charset="0"/>
                <a:cs typeface="Consolas" panose="020B0609020204030204" pitchFamily="49" charset="0"/>
              </a:rPr>
              <a:t> (there are unknown vertices):</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let u be the closest unknown vertex</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known.</a:t>
            </a:r>
            <a:r>
              <a:rPr lang="en-US" dirty="0" err="1">
                <a:latin typeface="Consolas" panose="020B0609020204030204" pitchFamily="49" charset="0"/>
                <a:cs typeface="Consolas" panose="020B0609020204030204" pitchFamily="49" charset="0"/>
              </a:rPr>
              <a:t>add</a:t>
            </a:r>
            <a:r>
              <a:rPr lang="en-US" b="0" dirty="0">
                <a:latin typeface="Consolas" panose="020B0609020204030204" pitchFamily="49" charset="0"/>
                <a:cs typeface="Consolas" panose="020B0609020204030204" pitchFamily="49" charset="0"/>
              </a:rPr>
              <a:t>(u);</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for</a:t>
            </a:r>
            <a:r>
              <a:rPr lang="en-US" b="0" dirty="0">
                <a:latin typeface="Consolas" panose="020B0609020204030204" pitchFamily="49" charset="0"/>
                <a:cs typeface="Consolas" panose="020B0609020204030204" pitchFamily="49" charset="0"/>
              </a:rPr>
              <a:t> each edge (</a:t>
            </a:r>
            <a:r>
              <a:rPr lang="en-US" b="0" dirty="0" err="1">
                <a:latin typeface="Consolas" panose="020B0609020204030204" pitchFamily="49" charset="0"/>
                <a:cs typeface="Consolas" panose="020B0609020204030204" pitchFamily="49" charset="0"/>
              </a:rPr>
              <a:t>u,v</a:t>
            </a:r>
            <a:r>
              <a:rPr lang="en-US" b="0" dirty="0">
                <a:latin typeface="Consolas" panose="020B0609020204030204" pitchFamily="49" charset="0"/>
                <a:cs typeface="Consolas" panose="020B0609020204030204" pitchFamily="49" charset="0"/>
              </a:rPr>
              <a:t>) from u with weight w:</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oldDist</a:t>
            </a:r>
            <a:r>
              <a:rPr lang="en-US" b="0" dirty="0">
                <a:latin typeface="Consolas" panose="020B0609020204030204" pitchFamily="49" charset="0"/>
                <a:cs typeface="Consolas" panose="020B0609020204030204" pitchFamily="49" charset="0"/>
              </a:rPr>
              <a:t> = </a:t>
            </a:r>
            <a:r>
              <a:rPr lang="en-US" b="0" dirty="0" err="1">
                <a:latin typeface="Consolas" panose="020B0609020204030204" pitchFamily="49" charset="0"/>
                <a:cs typeface="Consolas" panose="020B0609020204030204" pitchFamily="49" charset="0"/>
              </a:rPr>
              <a:t>distTo.</a:t>
            </a:r>
            <a:r>
              <a:rPr lang="en-US" dirty="0" err="1">
                <a:latin typeface="Consolas" panose="020B0609020204030204" pitchFamily="49" charset="0"/>
                <a:cs typeface="Consolas" panose="020B0609020204030204" pitchFamily="49" charset="0"/>
              </a:rPr>
              <a:t>get</a:t>
            </a:r>
            <a:r>
              <a:rPr lang="en-US" b="0" dirty="0">
                <a:latin typeface="Consolas" panose="020B0609020204030204" pitchFamily="49" charset="0"/>
                <a:cs typeface="Consolas" panose="020B0609020204030204" pitchFamily="49" charset="0"/>
              </a:rPr>
              <a:t>(v)      </a:t>
            </a:r>
            <a:r>
              <a:rPr lang="en-US" b="0" dirty="0">
                <a:solidFill>
                  <a:schemeClr val="tx2">
                    <a:lumMod val="60000"/>
                    <a:lumOff val="40000"/>
                  </a:schemeClr>
                </a:solidFill>
                <a:latin typeface="Consolas" panose="020B0609020204030204" pitchFamily="49" charset="0"/>
                <a:cs typeface="Consolas" panose="020B0609020204030204" pitchFamily="49" charset="0"/>
              </a:rPr>
              <a:t>// previous best path to v</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newDist</a:t>
            </a:r>
            <a:r>
              <a:rPr lang="en-US" b="0" dirty="0">
                <a:latin typeface="Consolas" panose="020B0609020204030204" pitchFamily="49" charset="0"/>
                <a:cs typeface="Consolas" panose="020B0609020204030204" pitchFamily="49" charset="0"/>
              </a:rPr>
              <a:t> = </a:t>
            </a:r>
            <a:r>
              <a:rPr lang="en-US" b="0" dirty="0" err="1">
                <a:latin typeface="Consolas" panose="020B0609020204030204" pitchFamily="49" charset="0"/>
                <a:cs typeface="Consolas" panose="020B0609020204030204" pitchFamily="49" charset="0"/>
              </a:rPr>
              <a:t>distTo.</a:t>
            </a:r>
            <a:r>
              <a:rPr lang="en-US" dirty="0" err="1">
                <a:latin typeface="Consolas" panose="020B0609020204030204" pitchFamily="49" charset="0"/>
                <a:cs typeface="Consolas" panose="020B0609020204030204" pitchFamily="49" charset="0"/>
              </a:rPr>
              <a:t>get</a:t>
            </a:r>
            <a:r>
              <a:rPr lang="en-US" b="0" dirty="0">
                <a:latin typeface="Consolas" panose="020B0609020204030204" pitchFamily="49" charset="0"/>
                <a:cs typeface="Consolas" panose="020B0609020204030204" pitchFamily="49" charset="0"/>
              </a:rPr>
              <a:t>(u) + w  </a:t>
            </a:r>
            <a:r>
              <a:rPr lang="en-US" b="0" dirty="0">
                <a:solidFill>
                  <a:schemeClr val="tx2">
                    <a:lumMod val="60000"/>
                    <a:lumOff val="40000"/>
                  </a:schemeClr>
                </a:solidFill>
                <a:latin typeface="Consolas" panose="020B0609020204030204" pitchFamily="49" charset="0"/>
                <a:cs typeface="Consolas" panose="020B0609020204030204" pitchFamily="49" charset="0"/>
              </a:rPr>
              <a:t>// what if we went through u?</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if</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newDist</a:t>
            </a:r>
            <a:r>
              <a:rPr lang="en-US" b="0" dirty="0">
                <a:latin typeface="Consolas" panose="020B0609020204030204" pitchFamily="49" charset="0"/>
                <a:cs typeface="Consolas" panose="020B0609020204030204" pitchFamily="49" charset="0"/>
              </a:rPr>
              <a:t> &lt; </a:t>
            </a:r>
            <a:r>
              <a:rPr lang="en-US" b="0" dirty="0" err="1">
                <a:latin typeface="Consolas" panose="020B0609020204030204" pitchFamily="49" charset="0"/>
                <a:cs typeface="Consolas" panose="020B0609020204030204" pitchFamily="49" charset="0"/>
              </a:rPr>
              <a:t>oldDist</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distTo.</a:t>
            </a:r>
            <a:r>
              <a:rPr lang="en-US" dirty="0" err="1">
                <a:latin typeface="Consolas" panose="020B0609020204030204" pitchFamily="49" charset="0"/>
                <a:cs typeface="Consolas" panose="020B0609020204030204" pitchFamily="49" charset="0"/>
              </a:rPr>
              <a:t>put</a:t>
            </a:r>
            <a:r>
              <a:rPr lang="en-US" b="0" dirty="0">
                <a:latin typeface="Consolas" panose="020B0609020204030204" pitchFamily="49" charset="0"/>
                <a:cs typeface="Consolas" panose="020B0609020204030204" pitchFamily="49" charset="0"/>
              </a:rPr>
              <a:t>(v, </a:t>
            </a:r>
            <a:r>
              <a:rPr lang="en-US" b="0" dirty="0" err="1">
                <a:latin typeface="Consolas" panose="020B0609020204030204" pitchFamily="49" charset="0"/>
                <a:cs typeface="Consolas" panose="020B0609020204030204" pitchFamily="49" charset="0"/>
              </a:rPr>
              <a:t>newDist</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edgeTo.</a:t>
            </a:r>
            <a:r>
              <a:rPr lang="en-US" dirty="0" err="1">
                <a:latin typeface="Consolas" panose="020B0609020204030204" pitchFamily="49" charset="0"/>
                <a:cs typeface="Consolas" panose="020B0609020204030204" pitchFamily="49" charset="0"/>
              </a:rPr>
              <a:t>put</a:t>
            </a:r>
            <a:r>
              <a:rPr lang="en-US" b="0" dirty="0">
                <a:latin typeface="Consolas" panose="020B0609020204030204" pitchFamily="49" charset="0"/>
                <a:cs typeface="Consolas" panose="020B0609020204030204" pitchFamily="49" charset="0"/>
              </a:rPr>
              <a:t>(v, u)</a:t>
            </a:r>
            <a:br>
              <a:rPr lang="en-US" b="0" dirty="0">
                <a:latin typeface="Consolas" panose="020B0609020204030204" pitchFamily="49" charset="0"/>
                <a:cs typeface="Consolas" panose="020B0609020204030204" pitchFamily="49" charset="0"/>
              </a:rPr>
            </a:br>
            <a:endParaRPr lang="en-US" b="0" dirty="0">
              <a:latin typeface="Consolas" panose="020B0609020204030204" pitchFamily="49" charset="0"/>
              <a:cs typeface="Consolas" panose="020B0609020204030204" pitchFamily="49" charset="0"/>
            </a:endParaRPr>
          </a:p>
        </p:txBody>
      </p:sp>
      <p:sp>
        <p:nvSpPr>
          <p:cNvPr id="5" name="Title 5">
            <a:extLst>
              <a:ext uri="{FF2B5EF4-FFF2-40B4-BE49-F238E27FC236}">
                <a16:creationId xmlns:a16="http://schemas.microsoft.com/office/drawing/2014/main" id="{15031B03-1DB1-E941-BC4F-E276E105C30E}"/>
              </a:ext>
            </a:extLst>
          </p:cNvPr>
          <p:cNvSpPr txBox="1">
            <a:spLocks/>
          </p:cNvSpPr>
          <p:nvPr/>
        </p:nvSpPr>
        <p:spPr>
          <a:xfrm>
            <a:off x="337070" y="263617"/>
            <a:ext cx="8322835" cy="68374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chemeClr val="tx1"/>
                </a:solidFill>
                <a:latin typeface="Calibri" panose="020F0502020204030204" pitchFamily="34" charset="0"/>
                <a:ea typeface="+mj-ea"/>
                <a:cs typeface="Calibri" panose="020F0502020204030204" pitchFamily="34" charset="0"/>
              </a:defRPr>
            </a:lvl1pPr>
          </a:lstStyle>
          <a:p>
            <a:r>
              <a:rPr lang="en-US" dirty="0"/>
              <a:t>Dijkstra’s Pseudocode (High-Level)</a:t>
            </a:r>
          </a:p>
        </p:txBody>
      </p:sp>
      <p:sp>
        <p:nvSpPr>
          <p:cNvPr id="6" name="Rectangular Callout 5">
            <a:extLst>
              <a:ext uri="{FF2B5EF4-FFF2-40B4-BE49-F238E27FC236}">
                <a16:creationId xmlns:a16="http://schemas.microsoft.com/office/drawing/2014/main" id="{6BC1F40C-B6AE-9E4D-809C-F2088A15356C}"/>
              </a:ext>
            </a:extLst>
          </p:cNvPr>
          <p:cNvSpPr/>
          <p:nvPr/>
        </p:nvSpPr>
        <p:spPr>
          <a:xfrm>
            <a:off x="593364" y="1619598"/>
            <a:ext cx="2935450" cy="1287893"/>
          </a:xfrm>
          <a:prstGeom prst="wedgeRectCallout">
            <a:avLst>
              <a:gd name="adj1" fmla="val 73701"/>
              <a:gd name="adj2" fmla="val 6397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Similar to “visited” in BFS, “known” is nodes that are finalized (we know their path)</a:t>
            </a:r>
          </a:p>
        </p:txBody>
      </p:sp>
      <p:sp>
        <p:nvSpPr>
          <p:cNvPr id="7" name="Rectangular Callout 6">
            <a:extLst>
              <a:ext uri="{FF2B5EF4-FFF2-40B4-BE49-F238E27FC236}">
                <a16:creationId xmlns:a16="http://schemas.microsoft.com/office/drawing/2014/main" id="{0846E949-D20A-C046-8636-5CA3DCACDDD6}"/>
              </a:ext>
            </a:extLst>
          </p:cNvPr>
          <p:cNvSpPr/>
          <p:nvPr/>
        </p:nvSpPr>
        <p:spPr>
          <a:xfrm>
            <a:off x="593364" y="3026161"/>
            <a:ext cx="2935450" cy="1287893"/>
          </a:xfrm>
          <a:prstGeom prst="wedgeRectCallout">
            <a:avLst>
              <a:gd name="adj1" fmla="val 74446"/>
              <a:gd name="adj2" fmla="val -1687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Dijkstra’s algorithm is all about updating “best-so-far” in </a:t>
            </a:r>
            <a:r>
              <a:rPr lang="en-US" dirty="0" err="1"/>
              <a:t>distTo</a:t>
            </a:r>
            <a:r>
              <a:rPr lang="en-US" dirty="0"/>
              <a:t> if we find shorter path! Init all paths to infinite.</a:t>
            </a:r>
          </a:p>
        </p:txBody>
      </p:sp>
      <p:sp>
        <p:nvSpPr>
          <p:cNvPr id="8" name="Rectangular Callout 7">
            <a:extLst>
              <a:ext uri="{FF2B5EF4-FFF2-40B4-BE49-F238E27FC236}">
                <a16:creationId xmlns:a16="http://schemas.microsoft.com/office/drawing/2014/main" id="{6AE287A6-8F59-F744-B508-D36CBA71FADA}"/>
              </a:ext>
            </a:extLst>
          </p:cNvPr>
          <p:cNvSpPr/>
          <p:nvPr/>
        </p:nvSpPr>
        <p:spPr>
          <a:xfrm>
            <a:off x="593364" y="4432724"/>
            <a:ext cx="2935450" cy="650837"/>
          </a:xfrm>
          <a:prstGeom prst="wedgeRectCallout">
            <a:avLst>
              <a:gd name="adj1" fmla="val 81112"/>
              <a:gd name="adj2" fmla="val -662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Order matters: always visit closest first!</a:t>
            </a:r>
          </a:p>
        </p:txBody>
      </p:sp>
      <p:sp>
        <p:nvSpPr>
          <p:cNvPr id="9" name="Rectangular Callout 8">
            <a:extLst>
              <a:ext uri="{FF2B5EF4-FFF2-40B4-BE49-F238E27FC236}">
                <a16:creationId xmlns:a16="http://schemas.microsoft.com/office/drawing/2014/main" id="{319A4DAA-F9A4-574D-8CA4-C8654836E999}"/>
              </a:ext>
            </a:extLst>
          </p:cNvPr>
          <p:cNvSpPr/>
          <p:nvPr/>
        </p:nvSpPr>
        <p:spPr>
          <a:xfrm>
            <a:off x="593364" y="5202231"/>
            <a:ext cx="2935450" cy="1581038"/>
          </a:xfrm>
          <a:prstGeom prst="wedgeRectCallout">
            <a:avLst>
              <a:gd name="adj1" fmla="val 87639"/>
              <a:gd name="adj2" fmla="val -387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Consider all vertices reachable from me: would getting there </a:t>
            </a:r>
            <a:r>
              <a:rPr lang="en-US" i="1" dirty="0"/>
              <a:t>through</a:t>
            </a:r>
            <a:r>
              <a:rPr lang="en-US" dirty="0"/>
              <a:t> me be a shorter path than they currently know about? </a:t>
            </a:r>
          </a:p>
        </p:txBody>
      </p:sp>
      <p:sp>
        <p:nvSpPr>
          <p:cNvPr id="38" name="TextBox 37">
            <a:extLst>
              <a:ext uri="{FF2B5EF4-FFF2-40B4-BE49-F238E27FC236}">
                <a16:creationId xmlns:a16="http://schemas.microsoft.com/office/drawing/2014/main" id="{5CE3ECBD-4550-7C47-B6EE-D40A06FFA529}"/>
              </a:ext>
            </a:extLst>
          </p:cNvPr>
          <p:cNvSpPr txBox="1"/>
          <p:nvPr/>
        </p:nvSpPr>
        <p:spPr>
          <a:xfrm>
            <a:off x="4518287" y="1217424"/>
            <a:ext cx="4456348" cy="1323439"/>
          </a:xfrm>
          <a:prstGeom prst="rect">
            <a:avLst/>
          </a:prstGeom>
          <a:noFill/>
        </p:spPr>
        <p:txBody>
          <a:bodyPr wrap="none" rtlCol="0">
            <a:spAutoFit/>
          </a:bodyPr>
          <a:lstStyle/>
          <a:p>
            <a:pPr marL="285750" indent="-285750">
              <a:buFont typeface="Arial" panose="020B0604020202020204" pitchFamily="34" charset="0"/>
              <a:buChar char="•"/>
            </a:pPr>
            <a:r>
              <a:rPr lang="en-US" sz="1600" dirty="0"/>
              <a:t>Suppose we already visited B, </a:t>
            </a:r>
            <a:r>
              <a:rPr lang="en-US" sz="1600" dirty="0" err="1"/>
              <a:t>distTo</a:t>
            </a:r>
            <a:r>
              <a:rPr lang="en-US" sz="1600" dirty="0"/>
              <a:t>[D] = </a:t>
            </a:r>
            <a:r>
              <a:rPr lang="en-US" sz="1600" dirty="0">
                <a:solidFill>
                  <a:srgbClr val="FF0000"/>
                </a:solidFill>
              </a:rPr>
              <a:t>7</a:t>
            </a:r>
          </a:p>
          <a:p>
            <a:pPr marL="285750" indent="-285750">
              <a:buFont typeface="Arial" panose="020B0604020202020204" pitchFamily="34" charset="0"/>
              <a:buChar char="•"/>
            </a:pPr>
            <a:r>
              <a:rPr lang="en-US" sz="1600" dirty="0"/>
              <a:t>Now considering edge (C, D):</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oldDist</a:t>
            </a:r>
            <a:r>
              <a:rPr lang="en-US" sz="1600" dirty="0">
                <a:latin typeface="Consolas" panose="020B0609020204030204" pitchFamily="49" charset="0"/>
                <a:cs typeface="Consolas" panose="020B0609020204030204" pitchFamily="49" charset="0"/>
              </a:rPr>
              <a:t> = </a:t>
            </a:r>
            <a:r>
              <a:rPr lang="en-US" sz="1600" dirty="0">
                <a:solidFill>
                  <a:srgbClr val="FF0000"/>
                </a:solidFill>
                <a:latin typeface="Consolas" panose="020B0609020204030204" pitchFamily="49" charset="0"/>
                <a:cs typeface="Consolas" panose="020B0609020204030204" pitchFamily="49" charset="0"/>
              </a:rPr>
              <a:t>7</a:t>
            </a:r>
          </a:p>
          <a:p>
            <a:pPr marL="742950" lvl="1" indent="-285750">
              <a:buFont typeface="Arial" panose="020B0604020202020204" pitchFamily="34" charset="0"/>
              <a:buChar char="•"/>
            </a:pPr>
            <a:r>
              <a:rPr lang="en-US" sz="1600" dirty="0" err="1">
                <a:latin typeface="Consolas" panose="020B0609020204030204" pitchFamily="49" charset="0"/>
                <a:cs typeface="Consolas" panose="020B0609020204030204" pitchFamily="49" charset="0"/>
              </a:rPr>
              <a:t>newDist</a:t>
            </a:r>
            <a:r>
              <a:rPr lang="en-US" sz="1600" dirty="0">
                <a:latin typeface="Consolas" panose="020B0609020204030204" pitchFamily="49" charset="0"/>
                <a:cs typeface="Consolas" panose="020B0609020204030204" pitchFamily="49" charset="0"/>
              </a:rPr>
              <a:t> = </a:t>
            </a:r>
            <a:r>
              <a:rPr lang="en-US" sz="1600" dirty="0">
                <a:solidFill>
                  <a:srgbClr val="FF0000"/>
                </a:solidFill>
                <a:latin typeface="Consolas" panose="020B0609020204030204" pitchFamily="49" charset="0"/>
                <a:cs typeface="Consolas" panose="020B0609020204030204" pitchFamily="49" charset="0"/>
              </a:rPr>
              <a:t>3</a:t>
            </a:r>
            <a:r>
              <a:rPr lang="en-US" sz="1600" dirty="0">
                <a:latin typeface="Consolas" panose="020B0609020204030204" pitchFamily="49" charset="0"/>
                <a:cs typeface="Consolas" panose="020B0609020204030204" pitchFamily="49" charset="0"/>
              </a:rPr>
              <a:t> + 1</a:t>
            </a:r>
          </a:p>
          <a:p>
            <a:pPr marL="742950" lvl="1" indent="-285750">
              <a:buFont typeface="Arial" panose="020B0604020202020204" pitchFamily="34" charset="0"/>
              <a:buChar char="•"/>
            </a:pPr>
            <a:r>
              <a:rPr lang="en-US" sz="1600" dirty="0"/>
              <a:t>That’s better! Update </a:t>
            </a:r>
            <a:r>
              <a:rPr lang="en-US" sz="1600" dirty="0" err="1"/>
              <a:t>distTo</a:t>
            </a:r>
            <a:r>
              <a:rPr lang="en-US" sz="1600" dirty="0"/>
              <a:t>[D], </a:t>
            </a:r>
            <a:r>
              <a:rPr lang="en-US" sz="1600" dirty="0" err="1"/>
              <a:t>edgeTo</a:t>
            </a:r>
            <a:r>
              <a:rPr lang="en-US" sz="1600" dirty="0"/>
              <a:t>[D]</a:t>
            </a:r>
          </a:p>
        </p:txBody>
      </p:sp>
      <p:grpSp>
        <p:nvGrpSpPr>
          <p:cNvPr id="43" name="Group 42">
            <a:extLst>
              <a:ext uri="{FF2B5EF4-FFF2-40B4-BE49-F238E27FC236}">
                <a16:creationId xmlns:a16="http://schemas.microsoft.com/office/drawing/2014/main" id="{D22F987D-8545-FC42-A09B-177D395221EC}"/>
              </a:ext>
            </a:extLst>
          </p:cNvPr>
          <p:cNvGrpSpPr/>
          <p:nvPr/>
        </p:nvGrpSpPr>
        <p:grpSpPr>
          <a:xfrm>
            <a:off x="7950783" y="198933"/>
            <a:ext cx="4057288" cy="2254224"/>
            <a:chOff x="7950783" y="198933"/>
            <a:chExt cx="4057288" cy="2254224"/>
          </a:xfrm>
        </p:grpSpPr>
        <p:grpSp>
          <p:nvGrpSpPr>
            <p:cNvPr id="40" name="Group 39">
              <a:extLst>
                <a:ext uri="{FF2B5EF4-FFF2-40B4-BE49-F238E27FC236}">
                  <a16:creationId xmlns:a16="http://schemas.microsoft.com/office/drawing/2014/main" id="{DEC345BB-5252-5348-8906-02A0263CB01C}"/>
                </a:ext>
              </a:extLst>
            </p:cNvPr>
            <p:cNvGrpSpPr/>
            <p:nvPr/>
          </p:nvGrpSpPr>
          <p:grpSpPr>
            <a:xfrm>
              <a:off x="7950783" y="198933"/>
              <a:ext cx="4057288" cy="2254224"/>
              <a:chOff x="7950783" y="198933"/>
              <a:chExt cx="4057288" cy="2254224"/>
            </a:xfrm>
          </p:grpSpPr>
          <p:sp>
            <p:nvSpPr>
              <p:cNvPr id="26" name="Freeform 25">
                <a:extLst>
                  <a:ext uri="{FF2B5EF4-FFF2-40B4-BE49-F238E27FC236}">
                    <a16:creationId xmlns:a16="http://schemas.microsoft.com/office/drawing/2014/main" id="{EE1A663D-FA41-C34C-9487-F0D643C6ABF3}"/>
                  </a:ext>
                </a:extLst>
              </p:cNvPr>
              <p:cNvSpPr/>
              <p:nvPr/>
            </p:nvSpPr>
            <p:spPr>
              <a:xfrm>
                <a:off x="9996254" y="1003735"/>
                <a:ext cx="1254868" cy="1449422"/>
              </a:xfrm>
              <a:custGeom>
                <a:avLst/>
                <a:gdLst>
                  <a:gd name="connsiteX0" fmla="*/ 992222 w 1254868"/>
                  <a:gd name="connsiteY0" fmla="*/ 9728 h 1449422"/>
                  <a:gd name="connsiteX1" fmla="*/ 758758 w 1254868"/>
                  <a:gd name="connsiteY1" fmla="*/ 19456 h 1449422"/>
                  <a:gd name="connsiteX2" fmla="*/ 700392 w 1254868"/>
                  <a:gd name="connsiteY2" fmla="*/ 38911 h 1449422"/>
                  <a:gd name="connsiteX3" fmla="*/ 671209 w 1254868"/>
                  <a:gd name="connsiteY3" fmla="*/ 58366 h 1449422"/>
                  <a:gd name="connsiteX4" fmla="*/ 612843 w 1254868"/>
                  <a:gd name="connsiteY4" fmla="*/ 145915 h 1449422"/>
                  <a:gd name="connsiteX5" fmla="*/ 593388 w 1254868"/>
                  <a:gd name="connsiteY5" fmla="*/ 175098 h 1449422"/>
                  <a:gd name="connsiteX6" fmla="*/ 564205 w 1254868"/>
                  <a:gd name="connsiteY6" fmla="*/ 252919 h 1449422"/>
                  <a:gd name="connsiteX7" fmla="*/ 535022 w 1254868"/>
                  <a:gd name="connsiteY7" fmla="*/ 282102 h 1449422"/>
                  <a:gd name="connsiteX8" fmla="*/ 515566 w 1254868"/>
                  <a:gd name="connsiteY8" fmla="*/ 321013 h 1449422"/>
                  <a:gd name="connsiteX9" fmla="*/ 457200 w 1254868"/>
                  <a:gd name="connsiteY9" fmla="*/ 398834 h 1449422"/>
                  <a:gd name="connsiteX10" fmla="*/ 437745 w 1254868"/>
                  <a:gd name="connsiteY10" fmla="*/ 437745 h 1449422"/>
                  <a:gd name="connsiteX11" fmla="*/ 408562 w 1254868"/>
                  <a:gd name="connsiteY11" fmla="*/ 486383 h 1449422"/>
                  <a:gd name="connsiteX12" fmla="*/ 311285 w 1254868"/>
                  <a:gd name="connsiteY12" fmla="*/ 661481 h 1449422"/>
                  <a:gd name="connsiteX13" fmla="*/ 282102 w 1254868"/>
                  <a:gd name="connsiteY13" fmla="*/ 700392 h 1449422"/>
                  <a:gd name="connsiteX14" fmla="*/ 243192 w 1254868"/>
                  <a:gd name="connsiteY14" fmla="*/ 758758 h 1449422"/>
                  <a:gd name="connsiteX15" fmla="*/ 165371 w 1254868"/>
                  <a:gd name="connsiteY15" fmla="*/ 856034 h 1449422"/>
                  <a:gd name="connsiteX16" fmla="*/ 136188 w 1254868"/>
                  <a:gd name="connsiteY16" fmla="*/ 894945 h 1449422"/>
                  <a:gd name="connsiteX17" fmla="*/ 107005 w 1254868"/>
                  <a:gd name="connsiteY17" fmla="*/ 933856 h 1449422"/>
                  <a:gd name="connsiteX18" fmla="*/ 87549 w 1254868"/>
                  <a:gd name="connsiteY18" fmla="*/ 972766 h 1449422"/>
                  <a:gd name="connsiteX19" fmla="*/ 58366 w 1254868"/>
                  <a:gd name="connsiteY19" fmla="*/ 1011677 h 1449422"/>
                  <a:gd name="connsiteX20" fmla="*/ 38911 w 1254868"/>
                  <a:gd name="connsiteY20" fmla="*/ 1050587 h 1449422"/>
                  <a:gd name="connsiteX21" fmla="*/ 0 w 1254868"/>
                  <a:gd name="connsiteY21" fmla="*/ 1128409 h 1449422"/>
                  <a:gd name="connsiteX22" fmla="*/ 19456 w 1254868"/>
                  <a:gd name="connsiteY22" fmla="*/ 1284051 h 1449422"/>
                  <a:gd name="connsiteX23" fmla="*/ 38911 w 1254868"/>
                  <a:gd name="connsiteY23" fmla="*/ 1303507 h 1449422"/>
                  <a:gd name="connsiteX24" fmla="*/ 107005 w 1254868"/>
                  <a:gd name="connsiteY24" fmla="*/ 1352145 h 1449422"/>
                  <a:gd name="connsiteX25" fmla="*/ 194554 w 1254868"/>
                  <a:gd name="connsiteY25" fmla="*/ 1381328 h 1449422"/>
                  <a:gd name="connsiteX26" fmla="*/ 233464 w 1254868"/>
                  <a:gd name="connsiteY26" fmla="*/ 1400783 h 1449422"/>
                  <a:gd name="connsiteX27" fmla="*/ 311285 w 1254868"/>
                  <a:gd name="connsiteY27" fmla="*/ 1420239 h 1449422"/>
                  <a:gd name="connsiteX28" fmla="*/ 408562 w 1254868"/>
                  <a:gd name="connsiteY28" fmla="*/ 1449422 h 1449422"/>
                  <a:gd name="connsiteX29" fmla="*/ 700392 w 1254868"/>
                  <a:gd name="connsiteY29" fmla="*/ 1420239 h 1449422"/>
                  <a:gd name="connsiteX30" fmla="*/ 729575 w 1254868"/>
                  <a:gd name="connsiteY30" fmla="*/ 1410511 h 1449422"/>
                  <a:gd name="connsiteX31" fmla="*/ 778213 w 1254868"/>
                  <a:gd name="connsiteY31" fmla="*/ 1381328 h 1449422"/>
                  <a:gd name="connsiteX32" fmla="*/ 846307 w 1254868"/>
                  <a:gd name="connsiteY32" fmla="*/ 1313234 h 1449422"/>
                  <a:gd name="connsiteX33" fmla="*/ 875490 w 1254868"/>
                  <a:gd name="connsiteY33" fmla="*/ 1284051 h 1449422"/>
                  <a:gd name="connsiteX34" fmla="*/ 953311 w 1254868"/>
                  <a:gd name="connsiteY34" fmla="*/ 1215958 h 1449422"/>
                  <a:gd name="connsiteX35" fmla="*/ 1021405 w 1254868"/>
                  <a:gd name="connsiteY35" fmla="*/ 1147864 h 1449422"/>
                  <a:gd name="connsiteX36" fmla="*/ 1060315 w 1254868"/>
                  <a:gd name="connsiteY36" fmla="*/ 1089498 h 1449422"/>
                  <a:gd name="connsiteX37" fmla="*/ 1089498 w 1254868"/>
                  <a:gd name="connsiteY37" fmla="*/ 1021405 h 1449422"/>
                  <a:gd name="connsiteX38" fmla="*/ 1118681 w 1254868"/>
                  <a:gd name="connsiteY38" fmla="*/ 972766 h 1449422"/>
                  <a:gd name="connsiteX39" fmla="*/ 1147864 w 1254868"/>
                  <a:gd name="connsiteY39" fmla="*/ 885217 h 1449422"/>
                  <a:gd name="connsiteX40" fmla="*/ 1167319 w 1254868"/>
                  <a:gd name="connsiteY40" fmla="*/ 846307 h 1449422"/>
                  <a:gd name="connsiteX41" fmla="*/ 1186775 w 1254868"/>
                  <a:gd name="connsiteY41" fmla="*/ 787941 h 1449422"/>
                  <a:gd name="connsiteX42" fmla="*/ 1196502 w 1254868"/>
                  <a:gd name="connsiteY42" fmla="*/ 758758 h 1449422"/>
                  <a:gd name="connsiteX43" fmla="*/ 1206230 w 1254868"/>
                  <a:gd name="connsiteY43" fmla="*/ 729575 h 1449422"/>
                  <a:gd name="connsiteX44" fmla="*/ 1215958 w 1254868"/>
                  <a:gd name="connsiteY44" fmla="*/ 690664 h 1449422"/>
                  <a:gd name="connsiteX45" fmla="*/ 1235413 w 1254868"/>
                  <a:gd name="connsiteY45" fmla="*/ 593387 h 1449422"/>
                  <a:gd name="connsiteX46" fmla="*/ 1254868 w 1254868"/>
                  <a:gd name="connsiteY46" fmla="*/ 486383 h 1449422"/>
                  <a:gd name="connsiteX47" fmla="*/ 1245141 w 1254868"/>
                  <a:gd name="connsiteY47" fmla="*/ 194553 h 1449422"/>
                  <a:gd name="connsiteX48" fmla="*/ 1225685 w 1254868"/>
                  <a:gd name="connsiteY48" fmla="*/ 165370 h 1449422"/>
                  <a:gd name="connsiteX49" fmla="*/ 1215958 w 1254868"/>
                  <a:gd name="connsiteY49" fmla="*/ 136187 h 1449422"/>
                  <a:gd name="connsiteX50" fmla="*/ 1138137 w 1254868"/>
                  <a:gd name="connsiteY50" fmla="*/ 77822 h 1449422"/>
                  <a:gd name="connsiteX51" fmla="*/ 1118681 w 1254868"/>
                  <a:gd name="connsiteY51" fmla="*/ 58366 h 1449422"/>
                  <a:gd name="connsiteX52" fmla="*/ 1001949 w 1254868"/>
                  <a:gd name="connsiteY52" fmla="*/ 0 h 1449422"/>
                  <a:gd name="connsiteX53" fmla="*/ 992222 w 1254868"/>
                  <a:gd name="connsiteY53" fmla="*/ 9728 h 1449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254868" h="1449422">
                    <a:moveTo>
                      <a:pt x="992222" y="9728"/>
                    </a:moveTo>
                    <a:cubicBezTo>
                      <a:pt x="914401" y="12971"/>
                      <a:pt x="836260" y="11706"/>
                      <a:pt x="758758" y="19456"/>
                    </a:cubicBezTo>
                    <a:cubicBezTo>
                      <a:pt x="738352" y="21497"/>
                      <a:pt x="717456" y="27536"/>
                      <a:pt x="700392" y="38911"/>
                    </a:cubicBezTo>
                    <a:lnTo>
                      <a:pt x="671209" y="58366"/>
                    </a:lnTo>
                    <a:lnTo>
                      <a:pt x="612843" y="145915"/>
                    </a:lnTo>
                    <a:cubicBezTo>
                      <a:pt x="606358" y="155643"/>
                      <a:pt x="597085" y="164007"/>
                      <a:pt x="593388" y="175098"/>
                    </a:cubicBezTo>
                    <a:cubicBezTo>
                      <a:pt x="586921" y="194499"/>
                      <a:pt x="572512" y="239628"/>
                      <a:pt x="564205" y="252919"/>
                    </a:cubicBezTo>
                    <a:cubicBezTo>
                      <a:pt x="556914" y="264585"/>
                      <a:pt x="543018" y="270908"/>
                      <a:pt x="535022" y="282102"/>
                    </a:cubicBezTo>
                    <a:cubicBezTo>
                      <a:pt x="526593" y="293902"/>
                      <a:pt x="523610" y="308947"/>
                      <a:pt x="515566" y="321013"/>
                    </a:cubicBezTo>
                    <a:cubicBezTo>
                      <a:pt x="497579" y="347993"/>
                      <a:pt x="471701" y="369832"/>
                      <a:pt x="457200" y="398834"/>
                    </a:cubicBezTo>
                    <a:cubicBezTo>
                      <a:pt x="450715" y="411804"/>
                      <a:pt x="444787" y="425069"/>
                      <a:pt x="437745" y="437745"/>
                    </a:cubicBezTo>
                    <a:cubicBezTo>
                      <a:pt x="428563" y="454273"/>
                      <a:pt x="417408" y="469673"/>
                      <a:pt x="408562" y="486383"/>
                    </a:cubicBezTo>
                    <a:cubicBezTo>
                      <a:pt x="341324" y="613388"/>
                      <a:pt x="373476" y="572637"/>
                      <a:pt x="311285" y="661481"/>
                    </a:cubicBezTo>
                    <a:cubicBezTo>
                      <a:pt x="301988" y="674763"/>
                      <a:pt x="291399" y="687110"/>
                      <a:pt x="282102" y="700392"/>
                    </a:cubicBezTo>
                    <a:cubicBezTo>
                      <a:pt x="268693" y="719548"/>
                      <a:pt x="257221" y="740052"/>
                      <a:pt x="243192" y="758758"/>
                    </a:cubicBezTo>
                    <a:cubicBezTo>
                      <a:pt x="218277" y="791978"/>
                      <a:pt x="191026" y="823382"/>
                      <a:pt x="165371" y="856034"/>
                    </a:cubicBezTo>
                    <a:cubicBezTo>
                      <a:pt x="155354" y="868782"/>
                      <a:pt x="145916" y="881975"/>
                      <a:pt x="136188" y="894945"/>
                    </a:cubicBezTo>
                    <a:cubicBezTo>
                      <a:pt x="126460" y="907915"/>
                      <a:pt x="114256" y="919355"/>
                      <a:pt x="107005" y="933856"/>
                    </a:cubicBezTo>
                    <a:cubicBezTo>
                      <a:pt x="100520" y="946826"/>
                      <a:pt x="95235" y="960469"/>
                      <a:pt x="87549" y="972766"/>
                    </a:cubicBezTo>
                    <a:cubicBezTo>
                      <a:pt x="78956" y="986514"/>
                      <a:pt x="66959" y="997929"/>
                      <a:pt x="58366" y="1011677"/>
                    </a:cubicBezTo>
                    <a:cubicBezTo>
                      <a:pt x="50681" y="1023974"/>
                      <a:pt x="46105" y="1037997"/>
                      <a:pt x="38911" y="1050587"/>
                    </a:cubicBezTo>
                    <a:cubicBezTo>
                      <a:pt x="56" y="1118584"/>
                      <a:pt x="38307" y="1032643"/>
                      <a:pt x="0" y="1128409"/>
                    </a:cubicBezTo>
                    <a:cubicBezTo>
                      <a:pt x="6485" y="1180290"/>
                      <a:pt x="8114" y="1233012"/>
                      <a:pt x="19456" y="1284051"/>
                    </a:cubicBezTo>
                    <a:cubicBezTo>
                      <a:pt x="21446" y="1293004"/>
                      <a:pt x="31865" y="1297636"/>
                      <a:pt x="38911" y="1303507"/>
                    </a:cubicBezTo>
                    <a:cubicBezTo>
                      <a:pt x="42016" y="1306095"/>
                      <a:pt x="96896" y="1347933"/>
                      <a:pt x="107005" y="1352145"/>
                    </a:cubicBezTo>
                    <a:cubicBezTo>
                      <a:pt x="135400" y="1363976"/>
                      <a:pt x="167040" y="1367571"/>
                      <a:pt x="194554" y="1381328"/>
                    </a:cubicBezTo>
                    <a:cubicBezTo>
                      <a:pt x="207524" y="1387813"/>
                      <a:pt x="219707" y="1396197"/>
                      <a:pt x="233464" y="1400783"/>
                    </a:cubicBezTo>
                    <a:cubicBezTo>
                      <a:pt x="258831" y="1409239"/>
                      <a:pt x="287369" y="1408281"/>
                      <a:pt x="311285" y="1420239"/>
                    </a:cubicBezTo>
                    <a:cubicBezTo>
                      <a:pt x="367838" y="1448515"/>
                      <a:pt x="335892" y="1437310"/>
                      <a:pt x="408562" y="1449422"/>
                    </a:cubicBezTo>
                    <a:cubicBezTo>
                      <a:pt x="543919" y="1439010"/>
                      <a:pt x="600146" y="1448880"/>
                      <a:pt x="700392" y="1420239"/>
                    </a:cubicBezTo>
                    <a:cubicBezTo>
                      <a:pt x="710251" y="1417422"/>
                      <a:pt x="720404" y="1415097"/>
                      <a:pt x="729575" y="1410511"/>
                    </a:cubicBezTo>
                    <a:cubicBezTo>
                      <a:pt x="746486" y="1402055"/>
                      <a:pt x="763688" y="1393432"/>
                      <a:pt x="778213" y="1381328"/>
                    </a:cubicBezTo>
                    <a:cubicBezTo>
                      <a:pt x="802873" y="1360778"/>
                      <a:pt x="823609" y="1335932"/>
                      <a:pt x="846307" y="1313234"/>
                    </a:cubicBezTo>
                    <a:cubicBezTo>
                      <a:pt x="856035" y="1303506"/>
                      <a:pt x="864484" y="1292305"/>
                      <a:pt x="875490" y="1284051"/>
                    </a:cubicBezTo>
                    <a:cubicBezTo>
                      <a:pt x="973606" y="1210462"/>
                      <a:pt x="852553" y="1304120"/>
                      <a:pt x="953311" y="1215958"/>
                    </a:cubicBezTo>
                    <a:cubicBezTo>
                      <a:pt x="1019340" y="1158184"/>
                      <a:pt x="968347" y="1218609"/>
                      <a:pt x="1021405" y="1147864"/>
                    </a:cubicBezTo>
                    <a:cubicBezTo>
                      <a:pt x="1042270" y="1085265"/>
                      <a:pt x="1014775" y="1153254"/>
                      <a:pt x="1060315" y="1089498"/>
                    </a:cubicBezTo>
                    <a:cubicBezTo>
                      <a:pt x="1094055" y="1042262"/>
                      <a:pt x="1068328" y="1063746"/>
                      <a:pt x="1089498" y="1021405"/>
                    </a:cubicBezTo>
                    <a:cubicBezTo>
                      <a:pt x="1097954" y="1004494"/>
                      <a:pt x="1110225" y="989677"/>
                      <a:pt x="1118681" y="972766"/>
                    </a:cubicBezTo>
                    <a:cubicBezTo>
                      <a:pt x="1161263" y="887602"/>
                      <a:pt x="1119997" y="959530"/>
                      <a:pt x="1147864" y="885217"/>
                    </a:cubicBezTo>
                    <a:cubicBezTo>
                      <a:pt x="1152955" y="871639"/>
                      <a:pt x="1161933" y="859771"/>
                      <a:pt x="1167319" y="846307"/>
                    </a:cubicBezTo>
                    <a:cubicBezTo>
                      <a:pt x="1174936" y="827266"/>
                      <a:pt x="1180290" y="807396"/>
                      <a:pt x="1186775" y="787941"/>
                    </a:cubicBezTo>
                    <a:lnTo>
                      <a:pt x="1196502" y="758758"/>
                    </a:lnTo>
                    <a:cubicBezTo>
                      <a:pt x="1199745" y="749030"/>
                      <a:pt x="1203743" y="739523"/>
                      <a:pt x="1206230" y="729575"/>
                    </a:cubicBezTo>
                    <a:cubicBezTo>
                      <a:pt x="1209473" y="716605"/>
                      <a:pt x="1213157" y="703737"/>
                      <a:pt x="1215958" y="690664"/>
                    </a:cubicBezTo>
                    <a:cubicBezTo>
                      <a:pt x="1222887" y="658330"/>
                      <a:pt x="1227392" y="625467"/>
                      <a:pt x="1235413" y="593387"/>
                    </a:cubicBezTo>
                    <a:cubicBezTo>
                      <a:pt x="1250702" y="532233"/>
                      <a:pt x="1243250" y="567712"/>
                      <a:pt x="1254868" y="486383"/>
                    </a:cubicBezTo>
                    <a:cubicBezTo>
                      <a:pt x="1251626" y="389106"/>
                      <a:pt x="1253953" y="291484"/>
                      <a:pt x="1245141" y="194553"/>
                    </a:cubicBezTo>
                    <a:cubicBezTo>
                      <a:pt x="1244083" y="182910"/>
                      <a:pt x="1230914" y="175827"/>
                      <a:pt x="1225685" y="165370"/>
                    </a:cubicBezTo>
                    <a:cubicBezTo>
                      <a:pt x="1221099" y="156199"/>
                      <a:pt x="1221234" y="144980"/>
                      <a:pt x="1215958" y="136187"/>
                    </a:cubicBezTo>
                    <a:cubicBezTo>
                      <a:pt x="1203017" y="114619"/>
                      <a:pt x="1145370" y="85055"/>
                      <a:pt x="1138137" y="77822"/>
                    </a:cubicBezTo>
                    <a:cubicBezTo>
                      <a:pt x="1131652" y="71337"/>
                      <a:pt x="1126018" y="63869"/>
                      <a:pt x="1118681" y="58366"/>
                    </a:cubicBezTo>
                    <a:cubicBezTo>
                      <a:pt x="1092452" y="38694"/>
                      <a:pt x="1039345" y="0"/>
                      <a:pt x="1001949" y="0"/>
                    </a:cubicBezTo>
                    <a:lnTo>
                      <a:pt x="992222" y="9728"/>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a:extLst>
                  <a:ext uri="{FF2B5EF4-FFF2-40B4-BE49-F238E27FC236}">
                    <a16:creationId xmlns:a16="http://schemas.microsoft.com/office/drawing/2014/main" id="{9305F8F2-C0ED-7C46-AA2C-7CD1F183A501}"/>
                  </a:ext>
                </a:extLst>
              </p:cNvPr>
              <p:cNvSpPr/>
              <p:nvPr/>
            </p:nvSpPr>
            <p:spPr>
              <a:xfrm>
                <a:off x="8659905" y="352344"/>
                <a:ext cx="1857983" cy="1834115"/>
              </a:xfrm>
              <a:custGeom>
                <a:avLst/>
                <a:gdLst>
                  <a:gd name="connsiteX0" fmla="*/ 1284051 w 1857983"/>
                  <a:gd name="connsiteY0" fmla="*/ 112319 h 1834115"/>
                  <a:gd name="connsiteX1" fmla="*/ 1147864 w 1857983"/>
                  <a:gd name="connsiteY1" fmla="*/ 102592 h 1834115"/>
                  <a:gd name="connsiteX2" fmla="*/ 1060315 w 1857983"/>
                  <a:gd name="connsiteY2" fmla="*/ 63681 h 1834115"/>
                  <a:gd name="connsiteX3" fmla="*/ 1011677 w 1857983"/>
                  <a:gd name="connsiteY3" fmla="*/ 53953 h 1834115"/>
                  <a:gd name="connsiteX4" fmla="*/ 875489 w 1857983"/>
                  <a:gd name="connsiteY4" fmla="*/ 24770 h 1834115"/>
                  <a:gd name="connsiteX5" fmla="*/ 486383 w 1857983"/>
                  <a:gd name="connsiteY5" fmla="*/ 24770 h 1834115"/>
                  <a:gd name="connsiteX6" fmla="*/ 389106 w 1857983"/>
                  <a:gd name="connsiteY6" fmla="*/ 34498 h 1834115"/>
                  <a:gd name="connsiteX7" fmla="*/ 340468 w 1857983"/>
                  <a:gd name="connsiteY7" fmla="*/ 44226 h 1834115"/>
                  <a:gd name="connsiteX8" fmla="*/ 291830 w 1857983"/>
                  <a:gd name="connsiteY8" fmla="*/ 63681 h 1834115"/>
                  <a:gd name="connsiteX9" fmla="*/ 252919 w 1857983"/>
                  <a:gd name="connsiteY9" fmla="*/ 73409 h 1834115"/>
                  <a:gd name="connsiteX10" fmla="*/ 223736 w 1857983"/>
                  <a:gd name="connsiteY10" fmla="*/ 92864 h 1834115"/>
                  <a:gd name="connsiteX11" fmla="*/ 155643 w 1857983"/>
                  <a:gd name="connsiteY11" fmla="*/ 122047 h 1834115"/>
                  <a:gd name="connsiteX12" fmla="*/ 136187 w 1857983"/>
                  <a:gd name="connsiteY12" fmla="*/ 141502 h 1834115"/>
                  <a:gd name="connsiteX13" fmla="*/ 97277 w 1857983"/>
                  <a:gd name="connsiteY13" fmla="*/ 170685 h 1834115"/>
                  <a:gd name="connsiteX14" fmla="*/ 77821 w 1857983"/>
                  <a:gd name="connsiteY14" fmla="*/ 199868 h 1834115"/>
                  <a:gd name="connsiteX15" fmla="*/ 38911 w 1857983"/>
                  <a:gd name="connsiteY15" fmla="*/ 248507 h 1834115"/>
                  <a:gd name="connsiteX16" fmla="*/ 29183 w 1857983"/>
                  <a:gd name="connsiteY16" fmla="*/ 277690 h 1834115"/>
                  <a:gd name="connsiteX17" fmla="*/ 0 w 1857983"/>
                  <a:gd name="connsiteY17" fmla="*/ 365238 h 1834115"/>
                  <a:gd name="connsiteX18" fmla="*/ 9728 w 1857983"/>
                  <a:gd name="connsiteY18" fmla="*/ 666796 h 1834115"/>
                  <a:gd name="connsiteX19" fmla="*/ 38911 w 1857983"/>
                  <a:gd name="connsiteY19" fmla="*/ 812711 h 1834115"/>
                  <a:gd name="connsiteX20" fmla="*/ 58366 w 1857983"/>
                  <a:gd name="connsiteY20" fmla="*/ 890532 h 1834115"/>
                  <a:gd name="connsiteX21" fmla="*/ 97277 w 1857983"/>
                  <a:gd name="connsiteY21" fmla="*/ 987809 h 1834115"/>
                  <a:gd name="connsiteX22" fmla="*/ 116732 w 1857983"/>
                  <a:gd name="connsiteY22" fmla="*/ 1065630 h 1834115"/>
                  <a:gd name="connsiteX23" fmla="*/ 126460 w 1857983"/>
                  <a:gd name="connsiteY23" fmla="*/ 1094813 h 1834115"/>
                  <a:gd name="connsiteX24" fmla="*/ 136187 w 1857983"/>
                  <a:gd name="connsiteY24" fmla="*/ 1143451 h 1834115"/>
                  <a:gd name="connsiteX25" fmla="*/ 175098 w 1857983"/>
                  <a:gd name="connsiteY25" fmla="*/ 1289366 h 1834115"/>
                  <a:gd name="connsiteX26" fmla="*/ 204281 w 1857983"/>
                  <a:gd name="connsiteY26" fmla="*/ 1396370 h 1834115"/>
                  <a:gd name="connsiteX27" fmla="*/ 243191 w 1857983"/>
                  <a:gd name="connsiteY27" fmla="*/ 1483919 h 1834115"/>
                  <a:gd name="connsiteX28" fmla="*/ 282102 w 1857983"/>
                  <a:gd name="connsiteY28" fmla="*/ 1561741 h 1834115"/>
                  <a:gd name="connsiteX29" fmla="*/ 291830 w 1857983"/>
                  <a:gd name="connsiteY29" fmla="*/ 1590924 h 1834115"/>
                  <a:gd name="connsiteX30" fmla="*/ 389106 w 1857983"/>
                  <a:gd name="connsiteY30" fmla="*/ 1707656 h 1834115"/>
                  <a:gd name="connsiteX31" fmla="*/ 447472 w 1857983"/>
                  <a:gd name="connsiteY31" fmla="*/ 1756294 h 1834115"/>
                  <a:gd name="connsiteX32" fmla="*/ 476655 w 1857983"/>
                  <a:gd name="connsiteY32" fmla="*/ 1775749 h 1834115"/>
                  <a:gd name="connsiteX33" fmla="*/ 505838 w 1857983"/>
                  <a:gd name="connsiteY33" fmla="*/ 1785477 h 1834115"/>
                  <a:gd name="connsiteX34" fmla="*/ 535021 w 1857983"/>
                  <a:gd name="connsiteY34" fmla="*/ 1804932 h 1834115"/>
                  <a:gd name="connsiteX35" fmla="*/ 573932 w 1857983"/>
                  <a:gd name="connsiteY35" fmla="*/ 1814660 h 1834115"/>
                  <a:gd name="connsiteX36" fmla="*/ 651753 w 1857983"/>
                  <a:gd name="connsiteY36" fmla="*/ 1834115 h 1834115"/>
                  <a:gd name="connsiteX37" fmla="*/ 885217 w 1857983"/>
                  <a:gd name="connsiteY37" fmla="*/ 1824387 h 1834115"/>
                  <a:gd name="connsiteX38" fmla="*/ 963038 w 1857983"/>
                  <a:gd name="connsiteY38" fmla="*/ 1804932 h 1834115"/>
                  <a:gd name="connsiteX39" fmla="*/ 1001949 w 1857983"/>
                  <a:gd name="connsiteY39" fmla="*/ 1785477 h 1834115"/>
                  <a:gd name="connsiteX40" fmla="*/ 1050587 w 1857983"/>
                  <a:gd name="connsiteY40" fmla="*/ 1775749 h 1834115"/>
                  <a:gd name="connsiteX41" fmla="*/ 1079770 w 1857983"/>
                  <a:gd name="connsiteY41" fmla="*/ 1756294 h 1834115"/>
                  <a:gd name="connsiteX42" fmla="*/ 1118681 w 1857983"/>
                  <a:gd name="connsiteY42" fmla="*/ 1736838 h 1834115"/>
                  <a:gd name="connsiteX43" fmla="*/ 1157591 w 1857983"/>
                  <a:gd name="connsiteY43" fmla="*/ 1707656 h 1834115"/>
                  <a:gd name="connsiteX44" fmla="*/ 1186774 w 1857983"/>
                  <a:gd name="connsiteY44" fmla="*/ 1688200 h 1834115"/>
                  <a:gd name="connsiteX45" fmla="*/ 1235413 w 1857983"/>
                  <a:gd name="connsiteY45" fmla="*/ 1639562 h 1834115"/>
                  <a:gd name="connsiteX46" fmla="*/ 1254868 w 1857983"/>
                  <a:gd name="connsiteY46" fmla="*/ 1610379 h 1834115"/>
                  <a:gd name="connsiteX47" fmla="*/ 1313234 w 1857983"/>
                  <a:gd name="connsiteY47" fmla="*/ 1571468 h 1834115"/>
                  <a:gd name="connsiteX48" fmla="*/ 1429966 w 1857983"/>
                  <a:gd name="connsiteY48" fmla="*/ 1464464 h 1834115"/>
                  <a:gd name="connsiteX49" fmla="*/ 1449421 w 1857983"/>
                  <a:gd name="connsiteY49" fmla="*/ 1435281 h 1834115"/>
                  <a:gd name="connsiteX50" fmla="*/ 1459149 w 1857983"/>
                  <a:gd name="connsiteY50" fmla="*/ 1406098 h 1834115"/>
                  <a:gd name="connsiteX51" fmla="*/ 1488332 w 1857983"/>
                  <a:gd name="connsiteY51" fmla="*/ 1376915 h 1834115"/>
                  <a:gd name="connsiteX52" fmla="*/ 1527243 w 1857983"/>
                  <a:gd name="connsiteY52" fmla="*/ 1318549 h 1834115"/>
                  <a:gd name="connsiteX53" fmla="*/ 1566153 w 1857983"/>
                  <a:gd name="connsiteY53" fmla="*/ 1260183 h 1834115"/>
                  <a:gd name="connsiteX54" fmla="*/ 1585608 w 1857983"/>
                  <a:gd name="connsiteY54" fmla="*/ 1231000 h 1834115"/>
                  <a:gd name="connsiteX55" fmla="*/ 1605064 w 1857983"/>
                  <a:gd name="connsiteY55" fmla="*/ 1201817 h 1834115"/>
                  <a:gd name="connsiteX56" fmla="*/ 1663430 w 1857983"/>
                  <a:gd name="connsiteY56" fmla="*/ 1094813 h 1834115"/>
                  <a:gd name="connsiteX57" fmla="*/ 1682885 w 1857983"/>
                  <a:gd name="connsiteY57" fmla="*/ 1065630 h 1834115"/>
                  <a:gd name="connsiteX58" fmla="*/ 1702340 w 1857983"/>
                  <a:gd name="connsiteY58" fmla="*/ 1036447 h 1834115"/>
                  <a:gd name="connsiteX59" fmla="*/ 1721796 w 1857983"/>
                  <a:gd name="connsiteY59" fmla="*/ 1016992 h 1834115"/>
                  <a:gd name="connsiteX60" fmla="*/ 1750979 w 1857983"/>
                  <a:gd name="connsiteY60" fmla="*/ 948898 h 1834115"/>
                  <a:gd name="connsiteX61" fmla="*/ 1789889 w 1857983"/>
                  <a:gd name="connsiteY61" fmla="*/ 890532 h 1834115"/>
                  <a:gd name="connsiteX62" fmla="*/ 1809345 w 1857983"/>
                  <a:gd name="connsiteY62" fmla="*/ 861349 h 1834115"/>
                  <a:gd name="connsiteX63" fmla="*/ 1838528 w 1857983"/>
                  <a:gd name="connsiteY63" fmla="*/ 773800 h 1834115"/>
                  <a:gd name="connsiteX64" fmla="*/ 1848255 w 1857983"/>
                  <a:gd name="connsiteY64" fmla="*/ 744617 h 1834115"/>
                  <a:gd name="connsiteX65" fmla="*/ 1857983 w 1857983"/>
                  <a:gd name="connsiteY65" fmla="*/ 695979 h 1834115"/>
                  <a:gd name="connsiteX66" fmla="*/ 1848255 w 1857983"/>
                  <a:gd name="connsiteY66" fmla="*/ 462515 h 1834115"/>
                  <a:gd name="connsiteX67" fmla="*/ 1838528 w 1857983"/>
                  <a:gd name="connsiteY67" fmla="*/ 433332 h 1834115"/>
                  <a:gd name="connsiteX68" fmla="*/ 1789889 w 1857983"/>
                  <a:gd name="connsiteY68" fmla="*/ 384694 h 1834115"/>
                  <a:gd name="connsiteX69" fmla="*/ 1760706 w 1857983"/>
                  <a:gd name="connsiteY69" fmla="*/ 355511 h 1834115"/>
                  <a:gd name="connsiteX70" fmla="*/ 1721796 w 1857983"/>
                  <a:gd name="connsiteY70" fmla="*/ 336056 h 1834115"/>
                  <a:gd name="connsiteX71" fmla="*/ 1702340 w 1857983"/>
                  <a:gd name="connsiteY71" fmla="*/ 316600 h 1834115"/>
                  <a:gd name="connsiteX72" fmla="*/ 1643974 w 1857983"/>
                  <a:gd name="connsiteY72" fmla="*/ 277690 h 1834115"/>
                  <a:gd name="connsiteX73" fmla="*/ 1624519 w 1857983"/>
                  <a:gd name="connsiteY73" fmla="*/ 258234 h 1834115"/>
                  <a:gd name="connsiteX74" fmla="*/ 1566153 w 1857983"/>
                  <a:gd name="connsiteY74" fmla="*/ 219324 h 1834115"/>
                  <a:gd name="connsiteX75" fmla="*/ 1527243 w 1857983"/>
                  <a:gd name="connsiteY75" fmla="*/ 209596 h 1834115"/>
                  <a:gd name="connsiteX76" fmla="*/ 1468877 w 1857983"/>
                  <a:gd name="connsiteY76" fmla="*/ 190141 h 1834115"/>
                  <a:gd name="connsiteX77" fmla="*/ 1420238 w 1857983"/>
                  <a:gd name="connsiteY77" fmla="*/ 180413 h 1834115"/>
                  <a:gd name="connsiteX78" fmla="*/ 1381328 w 1857983"/>
                  <a:gd name="connsiteY78" fmla="*/ 160958 h 1834115"/>
                  <a:gd name="connsiteX79" fmla="*/ 1342417 w 1857983"/>
                  <a:gd name="connsiteY79" fmla="*/ 151230 h 1834115"/>
                  <a:gd name="connsiteX80" fmla="*/ 1284051 w 1857983"/>
                  <a:gd name="connsiteY80" fmla="*/ 112319 h 18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857983" h="1834115">
                    <a:moveTo>
                      <a:pt x="1284051" y="112319"/>
                    </a:moveTo>
                    <a:cubicBezTo>
                      <a:pt x="1251626" y="104213"/>
                      <a:pt x="1192337" y="112260"/>
                      <a:pt x="1147864" y="102592"/>
                    </a:cubicBezTo>
                    <a:cubicBezTo>
                      <a:pt x="1116657" y="95808"/>
                      <a:pt x="1090390" y="74422"/>
                      <a:pt x="1060315" y="63681"/>
                    </a:cubicBezTo>
                    <a:cubicBezTo>
                      <a:pt x="1044744" y="58120"/>
                      <a:pt x="1027628" y="58303"/>
                      <a:pt x="1011677" y="53953"/>
                    </a:cubicBezTo>
                    <a:cubicBezTo>
                      <a:pt x="894393" y="21966"/>
                      <a:pt x="1017151" y="42478"/>
                      <a:pt x="875489" y="24770"/>
                    </a:cubicBezTo>
                    <a:cubicBezTo>
                      <a:pt x="733753" y="-22472"/>
                      <a:pt x="841264" y="9669"/>
                      <a:pt x="486383" y="24770"/>
                    </a:cubicBezTo>
                    <a:cubicBezTo>
                      <a:pt x="453825" y="26155"/>
                      <a:pt x="421532" y="31255"/>
                      <a:pt x="389106" y="34498"/>
                    </a:cubicBezTo>
                    <a:cubicBezTo>
                      <a:pt x="372893" y="37741"/>
                      <a:pt x="356304" y="39475"/>
                      <a:pt x="340468" y="44226"/>
                    </a:cubicBezTo>
                    <a:cubicBezTo>
                      <a:pt x="323743" y="49244"/>
                      <a:pt x="308395" y="58159"/>
                      <a:pt x="291830" y="63681"/>
                    </a:cubicBezTo>
                    <a:cubicBezTo>
                      <a:pt x="279147" y="67909"/>
                      <a:pt x="265889" y="70166"/>
                      <a:pt x="252919" y="73409"/>
                    </a:cubicBezTo>
                    <a:cubicBezTo>
                      <a:pt x="243191" y="79894"/>
                      <a:pt x="234193" y="87636"/>
                      <a:pt x="223736" y="92864"/>
                    </a:cubicBezTo>
                    <a:cubicBezTo>
                      <a:pt x="171856" y="118804"/>
                      <a:pt x="216368" y="81565"/>
                      <a:pt x="155643" y="122047"/>
                    </a:cubicBezTo>
                    <a:cubicBezTo>
                      <a:pt x="148012" y="127134"/>
                      <a:pt x="143233" y="135631"/>
                      <a:pt x="136187" y="141502"/>
                    </a:cubicBezTo>
                    <a:cubicBezTo>
                      <a:pt x="123732" y="151881"/>
                      <a:pt x="108741" y="159221"/>
                      <a:pt x="97277" y="170685"/>
                    </a:cubicBezTo>
                    <a:cubicBezTo>
                      <a:pt x="89010" y="178952"/>
                      <a:pt x="85124" y="190739"/>
                      <a:pt x="77821" y="199868"/>
                    </a:cubicBezTo>
                    <a:cubicBezTo>
                      <a:pt x="53695" y="230026"/>
                      <a:pt x="58870" y="208590"/>
                      <a:pt x="38911" y="248507"/>
                    </a:cubicBezTo>
                    <a:cubicBezTo>
                      <a:pt x="34325" y="257678"/>
                      <a:pt x="32783" y="268089"/>
                      <a:pt x="29183" y="277690"/>
                    </a:cubicBezTo>
                    <a:cubicBezTo>
                      <a:pt x="1711" y="350950"/>
                      <a:pt x="16300" y="300041"/>
                      <a:pt x="0" y="365238"/>
                    </a:cubicBezTo>
                    <a:cubicBezTo>
                      <a:pt x="3243" y="465757"/>
                      <a:pt x="1015" y="566602"/>
                      <a:pt x="9728" y="666796"/>
                    </a:cubicBezTo>
                    <a:cubicBezTo>
                      <a:pt x="14025" y="716211"/>
                      <a:pt x="26881" y="764590"/>
                      <a:pt x="38911" y="812711"/>
                    </a:cubicBezTo>
                    <a:cubicBezTo>
                      <a:pt x="45396" y="838651"/>
                      <a:pt x="48435" y="865706"/>
                      <a:pt x="58366" y="890532"/>
                    </a:cubicBezTo>
                    <a:cubicBezTo>
                      <a:pt x="71336" y="922958"/>
                      <a:pt x="88807" y="953928"/>
                      <a:pt x="97277" y="987809"/>
                    </a:cubicBezTo>
                    <a:cubicBezTo>
                      <a:pt x="103762" y="1013749"/>
                      <a:pt x="108276" y="1040264"/>
                      <a:pt x="116732" y="1065630"/>
                    </a:cubicBezTo>
                    <a:cubicBezTo>
                      <a:pt x="119975" y="1075358"/>
                      <a:pt x="123973" y="1084865"/>
                      <a:pt x="126460" y="1094813"/>
                    </a:cubicBezTo>
                    <a:cubicBezTo>
                      <a:pt x="130470" y="1110853"/>
                      <a:pt x="132469" y="1127341"/>
                      <a:pt x="136187" y="1143451"/>
                    </a:cubicBezTo>
                    <a:cubicBezTo>
                      <a:pt x="159985" y="1246577"/>
                      <a:pt x="149518" y="1193441"/>
                      <a:pt x="175098" y="1289366"/>
                    </a:cubicBezTo>
                    <a:cubicBezTo>
                      <a:pt x="178602" y="1302508"/>
                      <a:pt x="193168" y="1370439"/>
                      <a:pt x="204281" y="1396370"/>
                    </a:cubicBezTo>
                    <a:cubicBezTo>
                      <a:pt x="240980" y="1482001"/>
                      <a:pt x="206990" y="1384366"/>
                      <a:pt x="243191" y="1483919"/>
                    </a:cubicBezTo>
                    <a:cubicBezTo>
                      <a:pt x="268740" y="1554179"/>
                      <a:pt x="246718" y="1526355"/>
                      <a:pt x="282102" y="1561741"/>
                    </a:cubicBezTo>
                    <a:cubicBezTo>
                      <a:pt x="285345" y="1571469"/>
                      <a:pt x="286850" y="1581960"/>
                      <a:pt x="291830" y="1590924"/>
                    </a:cubicBezTo>
                    <a:cubicBezTo>
                      <a:pt x="325688" y="1651869"/>
                      <a:pt x="338110" y="1656660"/>
                      <a:pt x="389106" y="1707656"/>
                    </a:cubicBezTo>
                    <a:cubicBezTo>
                      <a:pt x="416751" y="1735300"/>
                      <a:pt x="407015" y="1727396"/>
                      <a:pt x="447472" y="1756294"/>
                    </a:cubicBezTo>
                    <a:cubicBezTo>
                      <a:pt x="456985" y="1763089"/>
                      <a:pt x="466198" y="1770521"/>
                      <a:pt x="476655" y="1775749"/>
                    </a:cubicBezTo>
                    <a:cubicBezTo>
                      <a:pt x="485826" y="1780335"/>
                      <a:pt x="496667" y="1780891"/>
                      <a:pt x="505838" y="1785477"/>
                    </a:cubicBezTo>
                    <a:cubicBezTo>
                      <a:pt x="516295" y="1790705"/>
                      <a:pt x="524275" y="1800327"/>
                      <a:pt x="535021" y="1804932"/>
                    </a:cubicBezTo>
                    <a:cubicBezTo>
                      <a:pt x="547310" y="1810198"/>
                      <a:pt x="560881" y="1811760"/>
                      <a:pt x="573932" y="1814660"/>
                    </a:cubicBezTo>
                    <a:cubicBezTo>
                      <a:pt x="644366" y="1830312"/>
                      <a:pt x="599603" y="1816731"/>
                      <a:pt x="651753" y="1834115"/>
                    </a:cubicBezTo>
                    <a:cubicBezTo>
                      <a:pt x="729574" y="1830872"/>
                      <a:pt x="807513" y="1829746"/>
                      <a:pt x="885217" y="1824387"/>
                    </a:cubicBezTo>
                    <a:cubicBezTo>
                      <a:pt x="903367" y="1823135"/>
                      <a:pt x="943314" y="1813385"/>
                      <a:pt x="963038" y="1804932"/>
                    </a:cubicBezTo>
                    <a:cubicBezTo>
                      <a:pt x="976367" y="1799220"/>
                      <a:pt x="988192" y="1790063"/>
                      <a:pt x="1001949" y="1785477"/>
                    </a:cubicBezTo>
                    <a:cubicBezTo>
                      <a:pt x="1017634" y="1780249"/>
                      <a:pt x="1034374" y="1778992"/>
                      <a:pt x="1050587" y="1775749"/>
                    </a:cubicBezTo>
                    <a:cubicBezTo>
                      <a:pt x="1060315" y="1769264"/>
                      <a:pt x="1069619" y="1762094"/>
                      <a:pt x="1079770" y="1756294"/>
                    </a:cubicBezTo>
                    <a:cubicBezTo>
                      <a:pt x="1092361" y="1749099"/>
                      <a:pt x="1106384" y="1744524"/>
                      <a:pt x="1118681" y="1736838"/>
                    </a:cubicBezTo>
                    <a:cubicBezTo>
                      <a:pt x="1132429" y="1728245"/>
                      <a:pt x="1144398" y="1717079"/>
                      <a:pt x="1157591" y="1707656"/>
                    </a:cubicBezTo>
                    <a:cubicBezTo>
                      <a:pt x="1167105" y="1700861"/>
                      <a:pt x="1177975" y="1695899"/>
                      <a:pt x="1186774" y="1688200"/>
                    </a:cubicBezTo>
                    <a:cubicBezTo>
                      <a:pt x="1204029" y="1673102"/>
                      <a:pt x="1222695" y="1658640"/>
                      <a:pt x="1235413" y="1639562"/>
                    </a:cubicBezTo>
                    <a:cubicBezTo>
                      <a:pt x="1241898" y="1629834"/>
                      <a:pt x="1246070" y="1618078"/>
                      <a:pt x="1254868" y="1610379"/>
                    </a:cubicBezTo>
                    <a:cubicBezTo>
                      <a:pt x="1272465" y="1594981"/>
                      <a:pt x="1293779" y="1584438"/>
                      <a:pt x="1313234" y="1571468"/>
                    </a:cubicBezTo>
                    <a:cubicBezTo>
                      <a:pt x="1360472" y="1539976"/>
                      <a:pt x="1391638" y="1521957"/>
                      <a:pt x="1429966" y="1464464"/>
                    </a:cubicBezTo>
                    <a:cubicBezTo>
                      <a:pt x="1436451" y="1454736"/>
                      <a:pt x="1444193" y="1445738"/>
                      <a:pt x="1449421" y="1435281"/>
                    </a:cubicBezTo>
                    <a:cubicBezTo>
                      <a:pt x="1454007" y="1426110"/>
                      <a:pt x="1453461" y="1414630"/>
                      <a:pt x="1459149" y="1406098"/>
                    </a:cubicBezTo>
                    <a:cubicBezTo>
                      <a:pt x="1466780" y="1394652"/>
                      <a:pt x="1479886" y="1387774"/>
                      <a:pt x="1488332" y="1376915"/>
                    </a:cubicBezTo>
                    <a:cubicBezTo>
                      <a:pt x="1502687" y="1358458"/>
                      <a:pt x="1514273" y="1338004"/>
                      <a:pt x="1527243" y="1318549"/>
                    </a:cubicBezTo>
                    <a:lnTo>
                      <a:pt x="1566153" y="1260183"/>
                    </a:lnTo>
                    <a:lnTo>
                      <a:pt x="1585608" y="1231000"/>
                    </a:lnTo>
                    <a:cubicBezTo>
                      <a:pt x="1592093" y="1221272"/>
                      <a:pt x="1600722" y="1212672"/>
                      <a:pt x="1605064" y="1201817"/>
                    </a:cubicBezTo>
                    <a:cubicBezTo>
                      <a:pt x="1633203" y="1131468"/>
                      <a:pt x="1614832" y="1167709"/>
                      <a:pt x="1663430" y="1094813"/>
                    </a:cubicBezTo>
                    <a:lnTo>
                      <a:pt x="1682885" y="1065630"/>
                    </a:lnTo>
                    <a:cubicBezTo>
                      <a:pt x="1689370" y="1055902"/>
                      <a:pt x="1694073" y="1044714"/>
                      <a:pt x="1702340" y="1036447"/>
                    </a:cubicBezTo>
                    <a:lnTo>
                      <a:pt x="1721796" y="1016992"/>
                    </a:lnTo>
                    <a:cubicBezTo>
                      <a:pt x="1731860" y="986798"/>
                      <a:pt x="1732946" y="978953"/>
                      <a:pt x="1750979" y="948898"/>
                    </a:cubicBezTo>
                    <a:cubicBezTo>
                      <a:pt x="1763009" y="928848"/>
                      <a:pt x="1776919" y="909987"/>
                      <a:pt x="1789889" y="890532"/>
                    </a:cubicBezTo>
                    <a:lnTo>
                      <a:pt x="1809345" y="861349"/>
                    </a:lnTo>
                    <a:lnTo>
                      <a:pt x="1838528" y="773800"/>
                    </a:lnTo>
                    <a:cubicBezTo>
                      <a:pt x="1841770" y="764072"/>
                      <a:pt x="1846244" y="754672"/>
                      <a:pt x="1848255" y="744617"/>
                    </a:cubicBezTo>
                    <a:lnTo>
                      <a:pt x="1857983" y="695979"/>
                    </a:lnTo>
                    <a:cubicBezTo>
                      <a:pt x="1854740" y="618158"/>
                      <a:pt x="1854009" y="540191"/>
                      <a:pt x="1848255" y="462515"/>
                    </a:cubicBezTo>
                    <a:cubicBezTo>
                      <a:pt x="1847498" y="452289"/>
                      <a:pt x="1844680" y="441535"/>
                      <a:pt x="1838528" y="433332"/>
                    </a:cubicBezTo>
                    <a:cubicBezTo>
                      <a:pt x="1824771" y="414989"/>
                      <a:pt x="1806102" y="400907"/>
                      <a:pt x="1789889" y="384694"/>
                    </a:cubicBezTo>
                    <a:cubicBezTo>
                      <a:pt x="1780161" y="374966"/>
                      <a:pt x="1773011" y="361663"/>
                      <a:pt x="1760706" y="355511"/>
                    </a:cubicBezTo>
                    <a:cubicBezTo>
                      <a:pt x="1747736" y="349026"/>
                      <a:pt x="1733861" y="344100"/>
                      <a:pt x="1721796" y="336056"/>
                    </a:cubicBezTo>
                    <a:cubicBezTo>
                      <a:pt x="1714165" y="330968"/>
                      <a:pt x="1709677" y="322103"/>
                      <a:pt x="1702340" y="316600"/>
                    </a:cubicBezTo>
                    <a:cubicBezTo>
                      <a:pt x="1683634" y="302571"/>
                      <a:pt x="1660507" y="294224"/>
                      <a:pt x="1643974" y="277690"/>
                    </a:cubicBezTo>
                    <a:cubicBezTo>
                      <a:pt x="1637489" y="271205"/>
                      <a:pt x="1631856" y="263737"/>
                      <a:pt x="1624519" y="258234"/>
                    </a:cubicBezTo>
                    <a:cubicBezTo>
                      <a:pt x="1605813" y="244205"/>
                      <a:pt x="1588837" y="224995"/>
                      <a:pt x="1566153" y="219324"/>
                    </a:cubicBezTo>
                    <a:cubicBezTo>
                      <a:pt x="1553183" y="216081"/>
                      <a:pt x="1540048" y="213438"/>
                      <a:pt x="1527243" y="209596"/>
                    </a:cubicBezTo>
                    <a:cubicBezTo>
                      <a:pt x="1507600" y="203703"/>
                      <a:pt x="1488986" y="194163"/>
                      <a:pt x="1468877" y="190141"/>
                    </a:cubicBezTo>
                    <a:lnTo>
                      <a:pt x="1420238" y="180413"/>
                    </a:lnTo>
                    <a:cubicBezTo>
                      <a:pt x="1407268" y="173928"/>
                      <a:pt x="1394906" y="166050"/>
                      <a:pt x="1381328" y="160958"/>
                    </a:cubicBezTo>
                    <a:cubicBezTo>
                      <a:pt x="1368810" y="156264"/>
                      <a:pt x="1355223" y="155072"/>
                      <a:pt x="1342417" y="151230"/>
                    </a:cubicBezTo>
                    <a:cubicBezTo>
                      <a:pt x="1288044" y="134918"/>
                      <a:pt x="1316476" y="120425"/>
                      <a:pt x="1284051" y="112319"/>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Google Shape;763;p43">
                <a:extLst>
                  <a:ext uri="{FF2B5EF4-FFF2-40B4-BE49-F238E27FC236}">
                    <a16:creationId xmlns:a16="http://schemas.microsoft.com/office/drawing/2014/main" id="{7347ED10-24CF-8342-B7F8-0AF6436CB4B6}"/>
                  </a:ext>
                </a:extLst>
              </p:cNvPr>
              <p:cNvCxnSpPr>
                <a:cxnSpLocks/>
                <a:stCxn id="12" idx="1"/>
                <a:endCxn id="11" idx="3"/>
              </p:cNvCxnSpPr>
              <p:nvPr/>
            </p:nvCxnSpPr>
            <p:spPr>
              <a:xfrm flipH="1">
                <a:off x="9563107" y="1801743"/>
                <a:ext cx="947341" cy="1214"/>
              </a:xfrm>
              <a:prstGeom prst="straightConnector1">
                <a:avLst/>
              </a:prstGeom>
              <a:noFill/>
              <a:ln w="76200" cap="flat" cmpd="sng">
                <a:solidFill>
                  <a:srgbClr val="0070C0"/>
                </a:solidFill>
                <a:prstDash val="solid"/>
                <a:round/>
                <a:headEnd type="none" w="med" len="med"/>
                <a:tailEnd type="none" w="med" len="med"/>
              </a:ln>
            </p:spPr>
          </p:cxnSp>
          <p:sp>
            <p:nvSpPr>
              <p:cNvPr id="11" name="Google Shape;752;p43">
                <a:extLst>
                  <a:ext uri="{FF2B5EF4-FFF2-40B4-BE49-F238E27FC236}">
                    <a16:creationId xmlns:a16="http://schemas.microsoft.com/office/drawing/2014/main" id="{BCD3E64E-5917-7543-A0BC-E58628176710}"/>
                  </a:ext>
                </a:extLst>
              </p:cNvPr>
              <p:cNvSpPr/>
              <p:nvPr/>
            </p:nvSpPr>
            <p:spPr>
              <a:xfrm>
                <a:off x="9139907" y="1634357"/>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C</a:t>
                </a:r>
                <a:endParaRPr sz="2133" dirty="0">
                  <a:latin typeface="Calibri" panose="020F0502020204030204" pitchFamily="34" charset="0"/>
                  <a:cs typeface="Calibri" panose="020F0502020204030204" pitchFamily="34" charset="0"/>
                </a:endParaRPr>
              </a:p>
            </p:txBody>
          </p:sp>
          <p:sp>
            <p:nvSpPr>
              <p:cNvPr id="12" name="Google Shape;752;p43">
                <a:extLst>
                  <a:ext uri="{FF2B5EF4-FFF2-40B4-BE49-F238E27FC236}">
                    <a16:creationId xmlns:a16="http://schemas.microsoft.com/office/drawing/2014/main" id="{4652A0B1-2515-AA40-8476-1D6309FCBFA2}"/>
                  </a:ext>
                </a:extLst>
              </p:cNvPr>
              <p:cNvSpPr/>
              <p:nvPr/>
            </p:nvSpPr>
            <p:spPr>
              <a:xfrm>
                <a:off x="10510448" y="1633143"/>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latin typeface="Calibri" panose="020F0502020204030204" pitchFamily="34" charset="0"/>
                    <a:cs typeface="Calibri" panose="020F0502020204030204" pitchFamily="34" charset="0"/>
                  </a:rPr>
                  <a:t>D</a:t>
                </a:r>
                <a:endParaRPr sz="2133" dirty="0">
                  <a:latin typeface="Calibri" panose="020F0502020204030204" pitchFamily="34" charset="0"/>
                  <a:cs typeface="Calibri" panose="020F0502020204030204" pitchFamily="34" charset="0"/>
                </a:endParaRPr>
              </a:p>
            </p:txBody>
          </p:sp>
          <p:sp>
            <p:nvSpPr>
              <p:cNvPr id="13" name="Google Shape;752;p43">
                <a:extLst>
                  <a:ext uri="{FF2B5EF4-FFF2-40B4-BE49-F238E27FC236}">
                    <a16:creationId xmlns:a16="http://schemas.microsoft.com/office/drawing/2014/main" id="{6041F67A-84AB-4B42-A46E-F9F7ABC97810}"/>
                  </a:ext>
                </a:extLst>
              </p:cNvPr>
              <p:cNvSpPr/>
              <p:nvPr/>
            </p:nvSpPr>
            <p:spPr>
              <a:xfrm>
                <a:off x="9822357" y="871795"/>
                <a:ext cx="423200" cy="337200"/>
              </a:xfrm>
              <a:prstGeom prst="rect">
                <a:avLst/>
              </a:prstGeom>
              <a:solidFill>
                <a:schemeClr val="accent2">
                  <a:lumMod val="20000"/>
                  <a:lumOff val="80000"/>
                </a:schemeClr>
              </a:solidFill>
              <a:ln w="19050" cap="flat" cmpd="sng">
                <a:solidFill>
                  <a:schemeClr val="bg1">
                    <a:lumMod val="75000"/>
                  </a:schemeClr>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solidFill>
                      <a:schemeClr val="bg1">
                        <a:lumMod val="75000"/>
                      </a:schemeClr>
                    </a:solidFill>
                    <a:latin typeface="Calibri" panose="020F0502020204030204" pitchFamily="34" charset="0"/>
                    <a:cs typeface="Calibri" panose="020F0502020204030204" pitchFamily="34" charset="0"/>
                  </a:rPr>
                  <a:t>B</a:t>
                </a:r>
                <a:endParaRPr sz="2133" dirty="0">
                  <a:solidFill>
                    <a:schemeClr val="bg1">
                      <a:lumMod val="75000"/>
                    </a:schemeClr>
                  </a:solidFill>
                  <a:latin typeface="Calibri" panose="020F0502020204030204" pitchFamily="34" charset="0"/>
                  <a:cs typeface="Calibri" panose="020F0502020204030204" pitchFamily="34" charset="0"/>
                </a:endParaRPr>
              </a:p>
            </p:txBody>
          </p:sp>
          <p:sp>
            <p:nvSpPr>
              <p:cNvPr id="14" name="Google Shape;752;p43">
                <a:extLst>
                  <a:ext uri="{FF2B5EF4-FFF2-40B4-BE49-F238E27FC236}">
                    <a16:creationId xmlns:a16="http://schemas.microsoft.com/office/drawing/2014/main" id="{A21C2734-2DF6-774D-BB6C-98B9A3F1C333}"/>
                  </a:ext>
                </a:extLst>
              </p:cNvPr>
              <p:cNvSpPr/>
              <p:nvPr/>
            </p:nvSpPr>
            <p:spPr>
              <a:xfrm>
                <a:off x="8863077" y="570568"/>
                <a:ext cx="423200" cy="337200"/>
              </a:xfrm>
              <a:prstGeom prst="rect">
                <a:avLst/>
              </a:prstGeom>
              <a:solidFill>
                <a:schemeClr val="accent2">
                  <a:lumMod val="20000"/>
                  <a:lumOff val="80000"/>
                </a:schemeClr>
              </a:solidFill>
              <a:ln w="19050" cap="flat" cmpd="sng">
                <a:solidFill>
                  <a:schemeClr val="bg1">
                    <a:lumMod val="75000"/>
                  </a:schemeClr>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133" dirty="0">
                    <a:solidFill>
                      <a:schemeClr val="bg1">
                        <a:lumMod val="75000"/>
                      </a:schemeClr>
                    </a:solidFill>
                    <a:latin typeface="Calibri" panose="020F0502020204030204" pitchFamily="34" charset="0"/>
                    <a:cs typeface="Calibri" panose="020F0502020204030204" pitchFamily="34" charset="0"/>
                  </a:rPr>
                  <a:t>A</a:t>
                </a:r>
                <a:endParaRPr sz="2133" dirty="0">
                  <a:solidFill>
                    <a:schemeClr val="bg1">
                      <a:lumMod val="75000"/>
                    </a:schemeClr>
                  </a:solidFill>
                  <a:latin typeface="Calibri" panose="020F0502020204030204" pitchFamily="34" charset="0"/>
                  <a:cs typeface="Calibri" panose="020F0502020204030204" pitchFamily="34" charset="0"/>
                </a:endParaRPr>
              </a:p>
            </p:txBody>
          </p:sp>
          <p:cxnSp>
            <p:nvCxnSpPr>
              <p:cNvPr id="15" name="Google Shape;763;p43">
                <a:extLst>
                  <a:ext uri="{FF2B5EF4-FFF2-40B4-BE49-F238E27FC236}">
                    <a16:creationId xmlns:a16="http://schemas.microsoft.com/office/drawing/2014/main" id="{79031B59-8527-AF4B-A69F-6E85FBD8C5C4}"/>
                  </a:ext>
                </a:extLst>
              </p:cNvPr>
              <p:cNvCxnSpPr>
                <a:cxnSpLocks/>
                <a:stCxn id="12" idx="0"/>
                <a:endCxn id="13" idx="3"/>
              </p:cNvCxnSpPr>
              <p:nvPr/>
            </p:nvCxnSpPr>
            <p:spPr>
              <a:xfrm flipH="1" flipV="1">
                <a:off x="10245557" y="1040395"/>
                <a:ext cx="476491" cy="592748"/>
              </a:xfrm>
              <a:prstGeom prst="straightConnector1">
                <a:avLst/>
              </a:prstGeom>
              <a:noFill/>
              <a:ln w="19050" cap="flat" cmpd="sng">
                <a:solidFill>
                  <a:schemeClr val="dk2"/>
                </a:solidFill>
                <a:prstDash val="solid"/>
                <a:round/>
                <a:headEnd type="none" w="med" len="med"/>
                <a:tailEnd type="none" w="med" len="med"/>
              </a:ln>
            </p:spPr>
          </p:cxnSp>
          <p:cxnSp>
            <p:nvCxnSpPr>
              <p:cNvPr id="18" name="Google Shape;763;p43">
                <a:extLst>
                  <a:ext uri="{FF2B5EF4-FFF2-40B4-BE49-F238E27FC236}">
                    <a16:creationId xmlns:a16="http://schemas.microsoft.com/office/drawing/2014/main" id="{7815778E-2063-4B4C-B6BC-27DB5D06D8D6}"/>
                  </a:ext>
                </a:extLst>
              </p:cNvPr>
              <p:cNvCxnSpPr>
                <a:cxnSpLocks/>
                <a:stCxn id="13" idx="1"/>
                <a:endCxn id="14" idx="3"/>
              </p:cNvCxnSpPr>
              <p:nvPr/>
            </p:nvCxnSpPr>
            <p:spPr>
              <a:xfrm flipH="1" flipV="1">
                <a:off x="9286277" y="739168"/>
                <a:ext cx="536080" cy="301227"/>
              </a:xfrm>
              <a:prstGeom prst="straightConnector1">
                <a:avLst/>
              </a:prstGeom>
              <a:noFill/>
              <a:ln w="19050" cap="flat" cmpd="sng">
                <a:solidFill>
                  <a:schemeClr val="dk2"/>
                </a:solidFill>
                <a:prstDash val="solid"/>
                <a:round/>
                <a:headEnd type="none" w="med" len="med"/>
                <a:tailEnd type="none" w="med" len="med"/>
              </a:ln>
            </p:spPr>
          </p:cxnSp>
          <p:cxnSp>
            <p:nvCxnSpPr>
              <p:cNvPr id="21" name="Google Shape;763;p43">
                <a:extLst>
                  <a:ext uri="{FF2B5EF4-FFF2-40B4-BE49-F238E27FC236}">
                    <a16:creationId xmlns:a16="http://schemas.microsoft.com/office/drawing/2014/main" id="{296A048A-C901-A54D-AA79-5A5B7DE55433}"/>
                  </a:ext>
                </a:extLst>
              </p:cNvPr>
              <p:cNvCxnSpPr>
                <a:cxnSpLocks/>
                <a:stCxn id="11" idx="0"/>
                <a:endCxn id="14" idx="2"/>
              </p:cNvCxnSpPr>
              <p:nvPr/>
            </p:nvCxnSpPr>
            <p:spPr>
              <a:xfrm flipH="1" flipV="1">
                <a:off x="9074677" y="907768"/>
                <a:ext cx="276830" cy="726589"/>
              </a:xfrm>
              <a:prstGeom prst="straightConnector1">
                <a:avLst/>
              </a:prstGeom>
              <a:noFill/>
              <a:ln w="19050" cap="flat" cmpd="sng">
                <a:solidFill>
                  <a:schemeClr val="dk2"/>
                </a:solidFill>
                <a:prstDash val="solid"/>
                <a:round/>
                <a:headEnd type="none" w="med" len="med"/>
                <a:tailEnd type="none" w="med" len="med"/>
              </a:ln>
            </p:spPr>
          </p:cxnSp>
          <p:sp>
            <p:nvSpPr>
              <p:cNvPr id="28" name="TextBox 27">
                <a:extLst>
                  <a:ext uri="{FF2B5EF4-FFF2-40B4-BE49-F238E27FC236}">
                    <a16:creationId xmlns:a16="http://schemas.microsoft.com/office/drawing/2014/main" id="{38A62778-93A4-7742-84A4-A07E9EC1FC04}"/>
                  </a:ext>
                </a:extLst>
              </p:cNvPr>
              <p:cNvSpPr txBox="1"/>
              <p:nvPr/>
            </p:nvSpPr>
            <p:spPr>
              <a:xfrm>
                <a:off x="9813817" y="198933"/>
                <a:ext cx="1042658" cy="369332"/>
              </a:xfrm>
              <a:prstGeom prst="rect">
                <a:avLst/>
              </a:prstGeom>
              <a:noFill/>
            </p:spPr>
            <p:txBody>
              <a:bodyPr wrap="none" rtlCol="0">
                <a:spAutoFit/>
              </a:bodyPr>
              <a:lstStyle/>
              <a:p>
                <a:r>
                  <a:rPr lang="en-US" b="1" spc="100" dirty="0">
                    <a:solidFill>
                      <a:schemeClr val="accent6"/>
                    </a:solidFill>
                  </a:rPr>
                  <a:t>KNOWN</a:t>
                </a:r>
              </a:p>
            </p:txBody>
          </p:sp>
          <p:sp>
            <p:nvSpPr>
              <p:cNvPr id="29" name="TextBox 28">
                <a:extLst>
                  <a:ext uri="{FF2B5EF4-FFF2-40B4-BE49-F238E27FC236}">
                    <a16:creationId xmlns:a16="http://schemas.microsoft.com/office/drawing/2014/main" id="{68B4339C-B7E6-0D4F-8645-51C156A9CF2E}"/>
                  </a:ext>
                </a:extLst>
              </p:cNvPr>
              <p:cNvSpPr txBox="1"/>
              <p:nvPr/>
            </p:nvSpPr>
            <p:spPr>
              <a:xfrm>
                <a:off x="10611535" y="719174"/>
                <a:ext cx="1396536" cy="369332"/>
              </a:xfrm>
              <a:prstGeom prst="rect">
                <a:avLst/>
              </a:prstGeom>
              <a:noFill/>
            </p:spPr>
            <p:txBody>
              <a:bodyPr wrap="none" rtlCol="0">
                <a:spAutoFit/>
              </a:bodyPr>
              <a:lstStyle/>
              <a:p>
                <a:r>
                  <a:rPr lang="en-US" b="1" spc="100" dirty="0">
                    <a:solidFill>
                      <a:schemeClr val="accent5"/>
                    </a:solidFill>
                  </a:rPr>
                  <a:t>PERIMETER</a:t>
                </a:r>
              </a:p>
            </p:txBody>
          </p:sp>
          <p:sp>
            <p:nvSpPr>
              <p:cNvPr id="30" name="Text Box 47">
                <a:extLst>
                  <a:ext uri="{FF2B5EF4-FFF2-40B4-BE49-F238E27FC236}">
                    <a16:creationId xmlns:a16="http://schemas.microsoft.com/office/drawing/2014/main" id="{B7269456-3FA9-FB42-98E6-BBEA1345ADDB}"/>
                  </a:ext>
                </a:extLst>
              </p:cNvPr>
              <p:cNvSpPr txBox="1">
                <a:spLocks noChangeArrowheads="1"/>
              </p:cNvSpPr>
              <p:nvPr>
                <p:custDataLst>
                  <p:tags r:id="rId1"/>
                </p:custDataLst>
              </p:nvPr>
            </p:nvSpPr>
            <p:spPr bwMode="auto">
              <a:xfrm>
                <a:off x="8924230" y="272233"/>
                <a:ext cx="288862"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31" name="Text Box 47">
                <a:extLst>
                  <a:ext uri="{FF2B5EF4-FFF2-40B4-BE49-F238E27FC236}">
                    <a16:creationId xmlns:a16="http://schemas.microsoft.com/office/drawing/2014/main" id="{55426C7C-DD4C-7547-8C32-058EF64ABA98}"/>
                  </a:ext>
                </a:extLst>
              </p:cNvPr>
              <p:cNvSpPr txBox="1">
                <a:spLocks noChangeArrowheads="1"/>
              </p:cNvSpPr>
              <p:nvPr>
                <p:custDataLst>
                  <p:tags r:id="rId2"/>
                </p:custDataLst>
              </p:nvPr>
            </p:nvSpPr>
            <p:spPr bwMode="auto">
              <a:xfrm>
                <a:off x="9889526" y="552399"/>
                <a:ext cx="288862"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32" name="Text Box 47">
                <a:extLst>
                  <a:ext uri="{FF2B5EF4-FFF2-40B4-BE49-F238E27FC236}">
                    <a16:creationId xmlns:a16="http://schemas.microsoft.com/office/drawing/2014/main" id="{7415FB72-3093-EB4D-86D3-42EFCF8FA19B}"/>
                  </a:ext>
                </a:extLst>
              </p:cNvPr>
              <p:cNvSpPr txBox="1">
                <a:spLocks noChangeArrowheads="1"/>
              </p:cNvSpPr>
              <p:nvPr>
                <p:custDataLst>
                  <p:tags r:id="rId3"/>
                </p:custDataLst>
              </p:nvPr>
            </p:nvSpPr>
            <p:spPr bwMode="auto">
              <a:xfrm>
                <a:off x="9274245" y="1330419"/>
                <a:ext cx="288862" cy="338554"/>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Calibri"/>
                  </a:rPr>
                  <a:t>3</a:t>
                </a:r>
                <a:endParaRPr lang="en-US" sz="2000" dirty="0">
                  <a:solidFill>
                    <a:srgbClr val="FF0000"/>
                  </a:solidFill>
                  <a:latin typeface="Calibri" panose="020F0502020204030204" pitchFamily="34" charset="0"/>
                  <a:cs typeface="Calibri" panose="020F0502020204030204" pitchFamily="34" charset="0"/>
                </a:endParaRPr>
              </a:p>
            </p:txBody>
          </p:sp>
          <p:sp>
            <p:nvSpPr>
              <p:cNvPr id="33" name="Text Box 47">
                <a:extLst>
                  <a:ext uri="{FF2B5EF4-FFF2-40B4-BE49-F238E27FC236}">
                    <a16:creationId xmlns:a16="http://schemas.microsoft.com/office/drawing/2014/main" id="{C9F99D9F-0F21-764A-A021-FE614CB9AB59}"/>
                  </a:ext>
                </a:extLst>
              </p:cNvPr>
              <p:cNvSpPr txBox="1">
                <a:spLocks noChangeArrowheads="1"/>
              </p:cNvSpPr>
              <p:nvPr>
                <p:custDataLst>
                  <p:tags r:id="rId4"/>
                </p:custDataLst>
              </p:nvPr>
            </p:nvSpPr>
            <p:spPr bwMode="auto">
              <a:xfrm>
                <a:off x="10636117" y="1286593"/>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7??</a:t>
                </a:r>
                <a:endParaRPr lang="en-US" sz="2000" dirty="0">
                  <a:solidFill>
                    <a:srgbClr val="FF0000"/>
                  </a:solidFill>
                  <a:latin typeface="Calibri" panose="020F0502020204030204" pitchFamily="34" charset="0"/>
                  <a:cs typeface="Calibri" panose="020F0502020204030204" pitchFamily="34" charset="0"/>
                </a:endParaRPr>
              </a:p>
            </p:txBody>
          </p:sp>
          <p:sp>
            <p:nvSpPr>
              <p:cNvPr id="34" name="Text Box 54">
                <a:extLst>
                  <a:ext uri="{FF2B5EF4-FFF2-40B4-BE49-F238E27FC236}">
                    <a16:creationId xmlns:a16="http://schemas.microsoft.com/office/drawing/2014/main" id="{DEB9A696-87D5-064F-B320-202B79BEE45F}"/>
                  </a:ext>
                </a:extLst>
              </p:cNvPr>
              <p:cNvSpPr txBox="1">
                <a:spLocks noChangeArrowheads="1"/>
              </p:cNvSpPr>
              <p:nvPr>
                <p:custDataLst>
                  <p:tags r:id="rId5"/>
                </p:custDataLst>
              </p:nvPr>
            </p:nvSpPr>
            <p:spPr bwMode="auto">
              <a:xfrm>
                <a:off x="9416969" y="524266"/>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35" name="Text Box 54">
                <a:extLst>
                  <a:ext uri="{FF2B5EF4-FFF2-40B4-BE49-F238E27FC236}">
                    <a16:creationId xmlns:a16="http://schemas.microsoft.com/office/drawing/2014/main" id="{84A2D207-E53E-B647-A55D-B377F5E76338}"/>
                  </a:ext>
                </a:extLst>
              </p:cNvPr>
              <p:cNvSpPr txBox="1">
                <a:spLocks noChangeArrowheads="1"/>
              </p:cNvSpPr>
              <p:nvPr>
                <p:custDataLst>
                  <p:tags r:id="rId6"/>
                </p:custDataLst>
              </p:nvPr>
            </p:nvSpPr>
            <p:spPr bwMode="auto">
              <a:xfrm>
                <a:off x="8922862" y="1036654"/>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36" name="Text Box 54">
                <a:extLst>
                  <a:ext uri="{FF2B5EF4-FFF2-40B4-BE49-F238E27FC236}">
                    <a16:creationId xmlns:a16="http://schemas.microsoft.com/office/drawing/2014/main" id="{8F197FE5-E669-1B49-AA1D-190BA2C292C3}"/>
                  </a:ext>
                </a:extLst>
              </p:cNvPr>
              <p:cNvSpPr txBox="1">
                <a:spLocks noChangeArrowheads="1"/>
              </p:cNvSpPr>
              <p:nvPr>
                <p:custDataLst>
                  <p:tags r:id="rId7"/>
                </p:custDataLst>
              </p:nvPr>
            </p:nvSpPr>
            <p:spPr bwMode="auto">
              <a:xfrm>
                <a:off x="10359034" y="959404"/>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37" name="Text Box 54">
                <a:extLst>
                  <a:ext uri="{FF2B5EF4-FFF2-40B4-BE49-F238E27FC236}">
                    <a16:creationId xmlns:a16="http://schemas.microsoft.com/office/drawing/2014/main" id="{68D8836B-C0FD-AF45-BB21-51F30E6D4008}"/>
                  </a:ext>
                </a:extLst>
              </p:cNvPr>
              <p:cNvSpPr txBox="1">
                <a:spLocks noChangeArrowheads="1"/>
              </p:cNvSpPr>
              <p:nvPr>
                <p:custDataLst>
                  <p:tags r:id="rId8"/>
                </p:custDataLst>
              </p:nvPr>
            </p:nvSpPr>
            <p:spPr bwMode="auto">
              <a:xfrm>
                <a:off x="9848988" y="1723612"/>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39" name="Google Shape;769;p43">
                <a:extLst>
                  <a:ext uri="{FF2B5EF4-FFF2-40B4-BE49-F238E27FC236}">
                    <a16:creationId xmlns:a16="http://schemas.microsoft.com/office/drawing/2014/main" id="{2F95C6C1-169F-BC41-9B90-CEAB204C318F}"/>
                  </a:ext>
                </a:extLst>
              </p:cNvPr>
              <p:cNvSpPr txBox="1"/>
              <p:nvPr/>
            </p:nvSpPr>
            <p:spPr>
              <a:xfrm>
                <a:off x="7950783" y="44493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grpSp>
        <p:sp>
          <p:nvSpPr>
            <p:cNvPr id="41" name="TextBox 40">
              <a:extLst>
                <a:ext uri="{FF2B5EF4-FFF2-40B4-BE49-F238E27FC236}">
                  <a16:creationId xmlns:a16="http://schemas.microsoft.com/office/drawing/2014/main" id="{27D5F1A4-1C8F-3B4B-BAC5-9A38A6E31271}"/>
                </a:ext>
              </a:extLst>
            </p:cNvPr>
            <p:cNvSpPr txBox="1"/>
            <p:nvPr/>
          </p:nvSpPr>
          <p:spPr>
            <a:xfrm>
              <a:off x="9532511" y="1720181"/>
              <a:ext cx="306494" cy="369332"/>
            </a:xfrm>
            <a:prstGeom prst="rect">
              <a:avLst/>
            </a:prstGeom>
            <a:noFill/>
          </p:spPr>
          <p:txBody>
            <a:bodyPr wrap="none" rtlCol="0">
              <a:spAutoFit/>
            </a:bodyPr>
            <a:lstStyle/>
            <a:p>
              <a:r>
                <a:rPr lang="en-US" b="1" dirty="0">
                  <a:solidFill>
                    <a:srgbClr val="0070C0"/>
                  </a:solidFill>
                </a:rPr>
                <a:t>u</a:t>
              </a:r>
            </a:p>
          </p:txBody>
        </p:sp>
        <p:sp>
          <p:nvSpPr>
            <p:cNvPr id="42" name="TextBox 41">
              <a:extLst>
                <a:ext uri="{FF2B5EF4-FFF2-40B4-BE49-F238E27FC236}">
                  <a16:creationId xmlns:a16="http://schemas.microsoft.com/office/drawing/2014/main" id="{985D1C64-A74D-C841-9115-DFB8F9196E42}"/>
                </a:ext>
              </a:extLst>
            </p:cNvPr>
            <p:cNvSpPr txBox="1"/>
            <p:nvPr/>
          </p:nvSpPr>
          <p:spPr>
            <a:xfrm>
              <a:off x="10238643" y="1736605"/>
              <a:ext cx="293670" cy="369332"/>
            </a:xfrm>
            <a:prstGeom prst="rect">
              <a:avLst/>
            </a:prstGeom>
            <a:noFill/>
          </p:spPr>
          <p:txBody>
            <a:bodyPr wrap="none" rtlCol="0">
              <a:spAutoFit/>
            </a:bodyPr>
            <a:lstStyle/>
            <a:p>
              <a:r>
                <a:rPr lang="en-US" b="1" dirty="0">
                  <a:solidFill>
                    <a:srgbClr val="0070C0"/>
                  </a:solidFill>
                </a:rPr>
                <a:t>v</a:t>
              </a:r>
            </a:p>
          </p:txBody>
        </p:sp>
      </p:grpSp>
    </p:spTree>
    <p:extLst>
      <p:ext uri="{BB962C8B-B14F-4D97-AF65-F5344CB8AC3E}">
        <p14:creationId xmlns:p14="http://schemas.microsoft.com/office/powerpoint/2010/main" val="162895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12" end="1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custDataLst>
              <p:tags r:id="rId1"/>
            </p:custDataLst>
          </p:nvPr>
        </p:nvSpPr>
        <p:spPr/>
        <p:txBody>
          <a:bodyPr/>
          <a:lstStyle/>
          <a:p>
            <a:pPr eaLnBrk="1" hangingPunct="1"/>
            <a:r>
              <a:rPr lang="en-US" dirty="0"/>
              <a:t>Dijkstra’s Algorithm: Key Properties</a:t>
            </a:r>
          </a:p>
        </p:txBody>
      </p:sp>
      <p:sp>
        <p:nvSpPr>
          <p:cNvPr id="29698" name="Content Placeholder 2"/>
          <p:cNvSpPr>
            <a:spLocks noGrp="1"/>
          </p:cNvSpPr>
          <p:nvPr>
            <p:ph idx="1"/>
            <p:custDataLst>
              <p:tags r:id="rId2"/>
            </p:custDataLst>
          </p:nvPr>
        </p:nvSpPr>
        <p:spPr>
          <a:xfrm>
            <a:off x="379872" y="1707071"/>
            <a:ext cx="3899170" cy="4694364"/>
          </a:xfrm>
        </p:spPr>
        <p:txBody>
          <a:bodyPr>
            <a:normAutofit fontScale="85000" lnSpcReduction="20000"/>
          </a:bodyPr>
          <a:lstStyle/>
          <a:p>
            <a:pPr eaLnBrk="1" hangingPunct="1"/>
            <a:r>
              <a:rPr lang="en-US" sz="2400" dirty="0"/>
              <a:t>Once a vertex is marked known, its shortest path is known</a:t>
            </a:r>
          </a:p>
          <a:p>
            <a:pPr lvl="1"/>
            <a:r>
              <a:rPr lang="en-US" sz="2000" dirty="0"/>
              <a:t>Can reconstruct path by following back-pointers (in </a:t>
            </a:r>
            <a:r>
              <a:rPr lang="en-US" sz="2000" dirty="0" err="1">
                <a:latin typeface="Consolas" panose="020B0609020204030204" pitchFamily="49" charset="0"/>
                <a:cs typeface="Consolas" panose="020B0609020204030204" pitchFamily="49" charset="0"/>
              </a:rPr>
              <a:t>edgeTo</a:t>
            </a:r>
            <a:r>
              <a:rPr lang="en-US" sz="2000" dirty="0"/>
              <a:t> map)</a:t>
            </a:r>
          </a:p>
          <a:p>
            <a:pPr eaLnBrk="1" hangingPunct="1"/>
            <a:endParaRPr lang="en-US" sz="2400" dirty="0"/>
          </a:p>
          <a:p>
            <a:pPr eaLnBrk="1" hangingPunct="1"/>
            <a:r>
              <a:rPr lang="en-US" sz="2400" dirty="0"/>
              <a:t>While a vertex is not known, another shorter path might be found</a:t>
            </a:r>
          </a:p>
          <a:p>
            <a:pPr lvl="1"/>
            <a:r>
              <a:rPr lang="en-US" sz="2000" dirty="0"/>
              <a:t>We call this update </a:t>
            </a:r>
            <a:r>
              <a:rPr lang="en-US" sz="2000" b="1" dirty="0">
                <a:solidFill>
                  <a:schemeClr val="accent3"/>
                </a:solidFill>
              </a:rPr>
              <a:t>relaxing</a:t>
            </a:r>
            <a:r>
              <a:rPr lang="en-US" sz="2000" dirty="0"/>
              <a:t> the distance because it only ever shortens the current best path</a:t>
            </a:r>
          </a:p>
          <a:p>
            <a:pPr lvl="1"/>
            <a:endParaRPr lang="en-US" sz="2000" dirty="0"/>
          </a:p>
          <a:p>
            <a:r>
              <a:rPr lang="en-US" sz="2400" dirty="0"/>
              <a:t>Going through closest vertices first lets us confidently say no shorter path will be found once known</a:t>
            </a:r>
          </a:p>
          <a:p>
            <a:pPr lvl="1"/>
            <a:r>
              <a:rPr lang="en-US" sz="2000" dirty="0"/>
              <a:t>Because not possible to find a shorter path that uses a farther vertex we’ll consider later</a:t>
            </a:r>
            <a:br>
              <a:rPr lang="en-US" sz="2000" dirty="0"/>
            </a:br>
            <a:endParaRPr lang="en-US" sz="2000" dirty="0"/>
          </a:p>
        </p:txBody>
      </p:sp>
      <p:sp>
        <p:nvSpPr>
          <p:cNvPr id="4" name="Content Placeholder 2">
            <a:extLst>
              <a:ext uri="{FF2B5EF4-FFF2-40B4-BE49-F238E27FC236}">
                <a16:creationId xmlns:a16="http://schemas.microsoft.com/office/drawing/2014/main" id="{BFDA20F5-210D-5745-890D-2AD3201E44B3}"/>
              </a:ext>
            </a:extLst>
          </p:cNvPr>
          <p:cNvSpPr txBox="1">
            <a:spLocks/>
          </p:cNvSpPr>
          <p:nvPr/>
        </p:nvSpPr>
        <p:spPr bwMode="auto">
          <a:xfrm>
            <a:off x="4279042" y="1703916"/>
            <a:ext cx="7629234" cy="4140725"/>
          </a:xfrm>
          <a:prstGeom prst="rect">
            <a:avLst/>
          </a:prstGeom>
          <a:solidFill>
            <a:schemeClr val="bg1">
              <a:lumMod val="95000"/>
            </a:schemeClr>
          </a:solidFill>
          <a:ln w="9525">
            <a:solidFill>
              <a:schemeClr val="tx1"/>
            </a:solidFill>
            <a:miter lim="800000"/>
            <a:headEnd/>
            <a:tailEnd/>
          </a:ln>
        </p:spPr>
        <p:txBody>
          <a:bodyPr vert="horz" wrap="square" lIns="121920" tIns="60960" rIns="121920" bIns="60960" numCol="1" anchor="t" anchorCtr="0" compatLnSpc="1">
            <a:prstTxWarp prst="textNoShape">
              <a:avLst/>
            </a:prstTxWarp>
          </a:bodyPr>
          <a:lstStyle>
            <a:lvl1pPr marL="192881" indent="-192881" algn="l" rtl="0" eaLnBrk="1" fontAlgn="base" hangingPunct="1">
              <a:spcBef>
                <a:spcPct val="20000"/>
              </a:spcBef>
              <a:spcAft>
                <a:spcPct val="0"/>
              </a:spcAft>
              <a:buClr>
                <a:srgbClr val="4B2A85"/>
              </a:buClr>
              <a:buSzPct val="60000"/>
              <a:buFont typeface="Wingdings" panose="05000000000000000000" pitchFamily="2" charset="2"/>
              <a:buChar char="v"/>
              <a:defRPr sz="1600" b="1">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365189" indent="-160735" algn="l" rtl="0" eaLnBrk="1" fontAlgn="base" hangingPunct="1">
              <a:spcBef>
                <a:spcPct val="20000"/>
              </a:spcBef>
              <a:spcAft>
                <a:spcPct val="0"/>
              </a:spcAft>
              <a:buClr>
                <a:srgbClr val="4B2A85"/>
              </a:buClr>
              <a:buSzPct val="110000"/>
              <a:buFont typeface="Wingdings" pitchFamily="2" charset="2"/>
              <a:buChar char="§"/>
              <a:defRPr sz="14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514350" indent="-128588" algn="l" rtl="0" eaLnBrk="1" fontAlgn="base" hangingPunct="1">
              <a:spcBef>
                <a:spcPct val="20000"/>
              </a:spcBef>
              <a:spcAft>
                <a:spcPct val="0"/>
              </a:spcAft>
              <a:buClr>
                <a:srgbClr val="4B2A85"/>
              </a:buClr>
              <a:buSzPct val="80000"/>
              <a:buFont typeface="Arial" panose="020B0604020202020204" pitchFamily="34" charset="0"/>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58368"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812673" indent="-128588" algn="l" rtl="0" eaLnBrk="1" fontAlgn="base" hangingPunct="1">
              <a:spcBef>
                <a:spcPct val="20000"/>
              </a:spcBef>
              <a:spcAft>
                <a:spcPct val="0"/>
              </a:spcAft>
              <a:buClr>
                <a:srgbClr val="4B2A85"/>
              </a:buClr>
              <a:buChar cha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1414463" indent="-128588" algn="l" rtl="0" eaLnBrk="1" fontAlgn="base" hangingPunct="1">
              <a:spcBef>
                <a:spcPct val="20000"/>
              </a:spcBef>
              <a:spcAft>
                <a:spcPct val="0"/>
              </a:spcAft>
              <a:buChar char="»"/>
              <a:defRPr sz="1125">
                <a:solidFill>
                  <a:schemeClr val="tx1"/>
                </a:solidFill>
                <a:latin typeface="Arial" charset="0"/>
              </a:defRPr>
            </a:lvl6pPr>
            <a:lvl7pPr marL="1671638" indent="-128588" algn="l" rtl="0" eaLnBrk="1" fontAlgn="base" hangingPunct="1">
              <a:spcBef>
                <a:spcPct val="20000"/>
              </a:spcBef>
              <a:spcAft>
                <a:spcPct val="0"/>
              </a:spcAft>
              <a:buChar char="»"/>
              <a:defRPr sz="1125">
                <a:solidFill>
                  <a:schemeClr val="tx1"/>
                </a:solidFill>
                <a:latin typeface="Arial" charset="0"/>
              </a:defRPr>
            </a:lvl7pPr>
            <a:lvl8pPr marL="1928813" indent="-128588" algn="l" rtl="0" eaLnBrk="1" fontAlgn="base" hangingPunct="1">
              <a:spcBef>
                <a:spcPct val="20000"/>
              </a:spcBef>
              <a:spcAft>
                <a:spcPct val="0"/>
              </a:spcAft>
              <a:buChar char="»"/>
              <a:defRPr sz="1125">
                <a:solidFill>
                  <a:schemeClr val="tx1"/>
                </a:solidFill>
                <a:latin typeface="Arial" charset="0"/>
              </a:defRPr>
            </a:lvl8pPr>
            <a:lvl9pPr marL="2185988" indent="-128588" algn="l" rtl="0" eaLnBrk="1" fontAlgn="base" hangingPunct="1">
              <a:spcBef>
                <a:spcPct val="20000"/>
              </a:spcBef>
              <a:spcAft>
                <a:spcPct val="0"/>
              </a:spcAft>
              <a:buChar char="»"/>
              <a:defRPr sz="1125">
                <a:solidFill>
                  <a:schemeClr val="tx1"/>
                </a:solidFill>
                <a:latin typeface="Arial" charset="0"/>
              </a:defRPr>
            </a:lvl9pPr>
          </a:lstStyle>
          <a:p>
            <a:pPr marL="0" indent="0">
              <a:lnSpc>
                <a:spcPct val="120000"/>
              </a:lnSpc>
              <a:spcBef>
                <a:spcPts val="0"/>
              </a:spcBef>
              <a:spcAft>
                <a:spcPts val="0"/>
              </a:spcAft>
              <a:buNone/>
            </a:pPr>
            <a:r>
              <a:rPr lang="en-US" dirty="0" err="1">
                <a:latin typeface="Consolas" panose="020B0609020204030204" pitchFamily="49" charset="0"/>
                <a:cs typeface="Consolas" panose="020B0609020204030204" pitchFamily="49" charset="0"/>
              </a:rPr>
              <a:t>dijkstraShortestPath</a:t>
            </a:r>
            <a:r>
              <a:rPr lang="en-US" b="0" dirty="0">
                <a:latin typeface="Consolas" panose="020B0609020204030204" pitchFamily="49" charset="0"/>
                <a:cs typeface="Consolas" panose="020B0609020204030204" pitchFamily="49" charset="0"/>
              </a:rPr>
              <a:t>(</a:t>
            </a:r>
            <a:r>
              <a:rPr lang="en-US" b="0" dirty="0">
                <a:solidFill>
                  <a:schemeClr val="accent3"/>
                </a:solidFill>
                <a:latin typeface="Consolas" panose="020B0609020204030204" pitchFamily="49" charset="0"/>
                <a:cs typeface="Consolas" panose="020B0609020204030204" pitchFamily="49" charset="0"/>
              </a:rPr>
              <a:t>G</a:t>
            </a:r>
            <a:r>
              <a:rPr lang="en-US" b="0" dirty="0">
                <a:latin typeface="Consolas" panose="020B0609020204030204" pitchFamily="49" charset="0"/>
                <a:cs typeface="Consolas" panose="020B0609020204030204" pitchFamily="49" charset="0"/>
              </a:rPr>
              <a:t> graph, </a:t>
            </a:r>
            <a:r>
              <a:rPr lang="en-US" b="0" dirty="0">
                <a:solidFill>
                  <a:schemeClr val="accent3"/>
                </a:solidFill>
                <a:latin typeface="Consolas" panose="020B0609020204030204" pitchFamily="49" charset="0"/>
                <a:cs typeface="Consolas" panose="020B0609020204030204" pitchFamily="49" charset="0"/>
              </a:rPr>
              <a:t>V </a:t>
            </a:r>
            <a:r>
              <a:rPr lang="en-US" b="0" dirty="0">
                <a:latin typeface="Consolas" panose="020B0609020204030204" pitchFamily="49" charset="0"/>
                <a:cs typeface="Consolas" panose="020B0609020204030204" pitchFamily="49" charset="0"/>
              </a:rPr>
              <a:t>start)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3"/>
                </a:solidFill>
                <a:latin typeface="Consolas" panose="020B0609020204030204" pitchFamily="49" charset="0"/>
                <a:cs typeface="Consolas" panose="020B0609020204030204" pitchFamily="49" charset="0"/>
              </a:rPr>
              <a:t>Set</a:t>
            </a:r>
            <a:r>
              <a:rPr lang="en-US" b="0" dirty="0">
                <a:latin typeface="Consolas" panose="020B0609020204030204" pitchFamily="49" charset="0"/>
                <a:cs typeface="Consolas" panose="020B0609020204030204" pitchFamily="49" charset="0"/>
              </a:rPr>
              <a:t> known; </a:t>
            </a:r>
            <a:r>
              <a:rPr lang="en-US" b="0" dirty="0">
                <a:solidFill>
                  <a:schemeClr val="accent3"/>
                </a:solidFill>
                <a:latin typeface="Consolas" panose="020B0609020204030204" pitchFamily="49" charset="0"/>
                <a:cs typeface="Consolas" panose="020B0609020204030204" pitchFamily="49" charset="0"/>
              </a:rPr>
              <a:t>Map</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edgeTo</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distTo</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initialize </a:t>
            </a:r>
            <a:r>
              <a:rPr lang="en-US" b="0" dirty="0" err="1">
                <a:latin typeface="Consolas" panose="020B0609020204030204" pitchFamily="49" charset="0"/>
                <a:cs typeface="Consolas" panose="020B0609020204030204" pitchFamily="49" charset="0"/>
              </a:rPr>
              <a:t>distTo</a:t>
            </a:r>
            <a:r>
              <a:rPr lang="en-US" b="0" dirty="0">
                <a:latin typeface="Consolas" panose="020B0609020204030204" pitchFamily="49" charset="0"/>
                <a:cs typeface="Consolas" panose="020B0609020204030204" pitchFamily="49" charset="0"/>
              </a:rPr>
              <a:t> with all nodes mapped to ∞, except start to 0</a:t>
            </a:r>
          </a:p>
          <a:p>
            <a:pPr marL="0" indent="0">
              <a:lnSpc>
                <a:spcPct val="120000"/>
              </a:lnSpc>
              <a:spcBef>
                <a:spcPts val="0"/>
              </a:spcBef>
              <a:spcAft>
                <a:spcPts val="0"/>
              </a:spcAft>
              <a:buNone/>
            </a:pPr>
            <a:endParaRPr lang="en-US" b="0" dirty="0">
              <a:latin typeface="Consolas" panose="020B0609020204030204" pitchFamily="49" charset="0"/>
              <a:cs typeface="Consolas" panose="020B0609020204030204" pitchFamily="49" charset="0"/>
            </a:endParaRP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while</a:t>
            </a:r>
            <a:r>
              <a:rPr lang="en-US" b="0" dirty="0">
                <a:latin typeface="Consolas" panose="020B0609020204030204" pitchFamily="49" charset="0"/>
                <a:cs typeface="Consolas" panose="020B0609020204030204" pitchFamily="49" charset="0"/>
              </a:rPr>
              <a:t> (there are unknown vertices):</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let u be the closest unknown vertex</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known.</a:t>
            </a:r>
            <a:r>
              <a:rPr lang="en-US" dirty="0" err="1">
                <a:latin typeface="Consolas" panose="020B0609020204030204" pitchFamily="49" charset="0"/>
                <a:cs typeface="Consolas" panose="020B0609020204030204" pitchFamily="49" charset="0"/>
              </a:rPr>
              <a:t>add</a:t>
            </a:r>
            <a:r>
              <a:rPr lang="en-US" b="0" dirty="0">
                <a:latin typeface="Consolas" panose="020B0609020204030204" pitchFamily="49" charset="0"/>
                <a:cs typeface="Consolas" panose="020B0609020204030204" pitchFamily="49" charset="0"/>
              </a:rPr>
              <a:t>(u)</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for</a:t>
            </a:r>
            <a:r>
              <a:rPr lang="en-US" b="0" dirty="0">
                <a:latin typeface="Consolas" panose="020B0609020204030204" pitchFamily="49" charset="0"/>
                <a:cs typeface="Consolas" panose="020B0609020204030204" pitchFamily="49" charset="0"/>
              </a:rPr>
              <a:t> each edge (</a:t>
            </a:r>
            <a:r>
              <a:rPr lang="en-US" b="0" dirty="0" err="1">
                <a:latin typeface="Consolas" panose="020B0609020204030204" pitchFamily="49" charset="0"/>
                <a:cs typeface="Consolas" panose="020B0609020204030204" pitchFamily="49" charset="0"/>
              </a:rPr>
              <a:t>u,v</a:t>
            </a:r>
            <a:r>
              <a:rPr lang="en-US" b="0" dirty="0">
                <a:latin typeface="Consolas" panose="020B0609020204030204" pitchFamily="49" charset="0"/>
                <a:cs typeface="Consolas" panose="020B0609020204030204" pitchFamily="49" charset="0"/>
              </a:rPr>
              <a:t>) to unknown v with weight w:</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oldDist</a:t>
            </a:r>
            <a:r>
              <a:rPr lang="en-US" b="0" dirty="0">
                <a:latin typeface="Consolas" panose="020B0609020204030204" pitchFamily="49" charset="0"/>
                <a:cs typeface="Consolas" panose="020B0609020204030204" pitchFamily="49" charset="0"/>
              </a:rPr>
              <a:t> = </a:t>
            </a:r>
            <a:r>
              <a:rPr lang="en-US" b="0" dirty="0" err="1">
                <a:latin typeface="Consolas" panose="020B0609020204030204" pitchFamily="49" charset="0"/>
                <a:cs typeface="Consolas" panose="020B0609020204030204" pitchFamily="49" charset="0"/>
              </a:rPr>
              <a:t>distTo.</a:t>
            </a:r>
            <a:r>
              <a:rPr lang="en-US" dirty="0" err="1">
                <a:latin typeface="Consolas" panose="020B0609020204030204" pitchFamily="49" charset="0"/>
                <a:cs typeface="Consolas" panose="020B0609020204030204" pitchFamily="49" charset="0"/>
              </a:rPr>
              <a:t>get</a:t>
            </a:r>
            <a:r>
              <a:rPr lang="en-US" b="0" dirty="0">
                <a:latin typeface="Consolas" panose="020B0609020204030204" pitchFamily="49" charset="0"/>
                <a:cs typeface="Consolas" panose="020B0609020204030204" pitchFamily="49" charset="0"/>
              </a:rPr>
              <a:t>(v)      </a:t>
            </a:r>
            <a:r>
              <a:rPr lang="en-US" b="0" dirty="0">
                <a:solidFill>
                  <a:schemeClr val="tx2">
                    <a:lumMod val="60000"/>
                    <a:lumOff val="40000"/>
                  </a:schemeClr>
                </a:solidFill>
                <a:latin typeface="Consolas" panose="020B0609020204030204" pitchFamily="49" charset="0"/>
                <a:cs typeface="Consolas" panose="020B0609020204030204" pitchFamily="49" charset="0"/>
              </a:rPr>
              <a:t>// previous best path to v</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newDist</a:t>
            </a:r>
            <a:r>
              <a:rPr lang="en-US" b="0" dirty="0">
                <a:latin typeface="Consolas" panose="020B0609020204030204" pitchFamily="49" charset="0"/>
                <a:cs typeface="Consolas" panose="020B0609020204030204" pitchFamily="49" charset="0"/>
              </a:rPr>
              <a:t> = </a:t>
            </a:r>
            <a:r>
              <a:rPr lang="en-US" b="0" dirty="0" err="1">
                <a:latin typeface="Consolas" panose="020B0609020204030204" pitchFamily="49" charset="0"/>
                <a:cs typeface="Consolas" panose="020B0609020204030204" pitchFamily="49" charset="0"/>
              </a:rPr>
              <a:t>distTo.</a:t>
            </a:r>
            <a:r>
              <a:rPr lang="en-US" dirty="0" err="1">
                <a:latin typeface="Consolas" panose="020B0609020204030204" pitchFamily="49" charset="0"/>
                <a:cs typeface="Consolas" panose="020B0609020204030204" pitchFamily="49" charset="0"/>
              </a:rPr>
              <a:t>get</a:t>
            </a:r>
            <a:r>
              <a:rPr lang="en-US" b="0" dirty="0">
                <a:latin typeface="Consolas" panose="020B0609020204030204" pitchFamily="49" charset="0"/>
                <a:cs typeface="Consolas" panose="020B0609020204030204" pitchFamily="49" charset="0"/>
              </a:rPr>
              <a:t>(u) + w  </a:t>
            </a:r>
            <a:r>
              <a:rPr lang="en-US" b="0" dirty="0">
                <a:solidFill>
                  <a:schemeClr val="tx2">
                    <a:lumMod val="60000"/>
                    <a:lumOff val="40000"/>
                  </a:schemeClr>
                </a:solidFill>
                <a:latin typeface="Consolas" panose="020B0609020204030204" pitchFamily="49" charset="0"/>
                <a:cs typeface="Consolas" panose="020B0609020204030204" pitchFamily="49" charset="0"/>
              </a:rPr>
              <a:t>// what if we went through u?</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a:solidFill>
                  <a:schemeClr val="accent2"/>
                </a:solidFill>
                <a:latin typeface="Consolas" panose="020B0609020204030204" pitchFamily="49" charset="0"/>
                <a:cs typeface="Consolas" panose="020B0609020204030204" pitchFamily="49" charset="0"/>
              </a:rPr>
              <a:t>if</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newDist</a:t>
            </a:r>
            <a:r>
              <a:rPr lang="en-US" b="0" dirty="0">
                <a:latin typeface="Consolas" panose="020B0609020204030204" pitchFamily="49" charset="0"/>
                <a:cs typeface="Consolas" panose="020B0609020204030204" pitchFamily="49" charset="0"/>
              </a:rPr>
              <a:t> &lt; </a:t>
            </a:r>
            <a:r>
              <a:rPr lang="en-US" b="0" dirty="0" err="1">
                <a:latin typeface="Consolas" panose="020B0609020204030204" pitchFamily="49" charset="0"/>
                <a:cs typeface="Consolas" panose="020B0609020204030204" pitchFamily="49" charset="0"/>
              </a:rPr>
              <a:t>oldDist</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distTo.</a:t>
            </a:r>
            <a:r>
              <a:rPr lang="en-US" dirty="0" err="1">
                <a:latin typeface="Consolas" panose="020B0609020204030204" pitchFamily="49" charset="0"/>
                <a:cs typeface="Consolas" panose="020B0609020204030204" pitchFamily="49" charset="0"/>
              </a:rPr>
              <a:t>put</a:t>
            </a:r>
            <a:r>
              <a:rPr lang="en-US" b="0" dirty="0">
                <a:latin typeface="Consolas" panose="020B0609020204030204" pitchFamily="49" charset="0"/>
                <a:cs typeface="Consolas" panose="020B0609020204030204" pitchFamily="49" charset="0"/>
              </a:rPr>
              <a:t>(v, </a:t>
            </a:r>
            <a:r>
              <a:rPr lang="en-US" b="0" dirty="0" err="1">
                <a:latin typeface="Consolas" panose="020B0609020204030204" pitchFamily="49" charset="0"/>
                <a:cs typeface="Consolas" panose="020B0609020204030204" pitchFamily="49" charset="0"/>
              </a:rPr>
              <a:t>newDist</a:t>
            </a:r>
            <a:r>
              <a:rPr lang="en-US" b="0" dirty="0">
                <a:latin typeface="Consolas" panose="020B0609020204030204" pitchFamily="49" charset="0"/>
                <a:cs typeface="Consolas" panose="020B0609020204030204" pitchFamily="49" charset="0"/>
              </a:rPr>
              <a:t>)</a:t>
            </a:r>
          </a:p>
          <a:p>
            <a:pPr marL="0" indent="0">
              <a:lnSpc>
                <a:spcPct val="120000"/>
              </a:lnSpc>
              <a:spcBef>
                <a:spcPts val="0"/>
              </a:spcBef>
              <a:spcAft>
                <a:spcPts val="0"/>
              </a:spcAft>
              <a:buNone/>
            </a:pP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edgeTo.</a:t>
            </a:r>
            <a:r>
              <a:rPr lang="en-US" dirty="0" err="1">
                <a:latin typeface="Consolas" panose="020B0609020204030204" pitchFamily="49" charset="0"/>
                <a:cs typeface="Consolas" panose="020B0609020204030204" pitchFamily="49" charset="0"/>
              </a:rPr>
              <a:t>put</a:t>
            </a:r>
            <a:r>
              <a:rPr lang="en-US" b="0" dirty="0">
                <a:latin typeface="Consolas" panose="020B0609020204030204" pitchFamily="49" charset="0"/>
                <a:cs typeface="Consolas" panose="020B0609020204030204" pitchFamily="49" charset="0"/>
              </a:rPr>
              <a:t>(v, u)</a:t>
            </a:r>
            <a:br>
              <a:rPr lang="en-US" b="0" dirty="0">
                <a:latin typeface="Consolas" panose="020B0609020204030204" pitchFamily="49" charset="0"/>
                <a:cs typeface="Consolas" panose="020B0609020204030204" pitchFamily="49" charset="0"/>
              </a:rPr>
            </a:br>
            <a:endParaRPr lang="en-US" b="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119385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69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9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40</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endParaRPr lang="en-US" sz="2400"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38376458"/>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noFill/>
            <a:ln w="19050">
              <a:solidFill>
                <a:schemeClr val="tx1"/>
              </a:solidFill>
              <a:round/>
              <a:headEnd/>
              <a:tailEnd/>
            </a:ln>
          </p:spPr>
          <p:txBody>
            <a:bodyPr wrap="none" anchor="ctr"/>
            <a:lstStyle/>
            <a:p>
              <a:pPr algn="ctr">
                <a:defRPr/>
              </a:pPr>
              <a:r>
                <a:rPr lang="en-US" sz="2400">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noFill/>
            <a:ln w="19050">
              <a:solidFill>
                <a:schemeClr val="tx1"/>
              </a:solidFill>
              <a:round/>
              <a:headEnd/>
              <a:tailEnd/>
            </a:ln>
          </p:spPr>
          <p:txBody>
            <a:bodyPr wrap="none" anchor="ctr"/>
            <a:lstStyle/>
            <a:p>
              <a:pPr algn="ctr">
                <a:defRPr/>
              </a:pPr>
              <a:r>
                <a:rPr lang="en-US" sz="240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tx1"/>
              </a:solidFill>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tx1"/>
              </a:solidFill>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tx1"/>
              </a:solidFill>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tx1"/>
              </a:solidFill>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tx1"/>
              </a:solidFill>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tx1"/>
              </a:solidFill>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tx1"/>
              </a:solidFill>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tx1"/>
              </a:solidFill>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tx1"/>
              </a:solidFill>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tx1"/>
              </a:solidFill>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tx1"/>
              </a:solidFill>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6D5D5832-DD1E-6048-8C9E-0A7032876F2B}"/>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88998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CE4B5218-80A3-384D-B931-762690D1FAFE}"/>
              </a:ext>
            </a:extLst>
          </p:cNvPr>
          <p:cNvSpPr/>
          <p:nvPr/>
        </p:nvSpPr>
        <p:spPr>
          <a:xfrm>
            <a:off x="1954045" y="1419970"/>
            <a:ext cx="1129623" cy="1138404"/>
          </a:xfrm>
          <a:custGeom>
            <a:avLst/>
            <a:gdLst>
              <a:gd name="connsiteX0" fmla="*/ 623785 w 1129623"/>
              <a:gd name="connsiteY0" fmla="*/ 268 h 1138404"/>
              <a:gd name="connsiteX1" fmla="*/ 448687 w 1129623"/>
              <a:gd name="connsiteY1" fmla="*/ 19724 h 1138404"/>
              <a:gd name="connsiteX2" fmla="*/ 390321 w 1129623"/>
              <a:gd name="connsiteY2" fmla="*/ 39179 h 1138404"/>
              <a:gd name="connsiteX3" fmla="*/ 331955 w 1129623"/>
              <a:gd name="connsiteY3" fmla="*/ 58634 h 1138404"/>
              <a:gd name="connsiteX4" fmla="*/ 302772 w 1129623"/>
              <a:gd name="connsiteY4" fmla="*/ 68362 h 1138404"/>
              <a:gd name="connsiteX5" fmla="*/ 244406 w 1129623"/>
              <a:gd name="connsiteY5" fmla="*/ 97545 h 1138404"/>
              <a:gd name="connsiteX6" fmla="*/ 186040 w 1129623"/>
              <a:gd name="connsiteY6" fmla="*/ 155911 h 1138404"/>
              <a:gd name="connsiteX7" fmla="*/ 166585 w 1129623"/>
              <a:gd name="connsiteY7" fmla="*/ 185094 h 1138404"/>
              <a:gd name="connsiteX8" fmla="*/ 117946 w 1129623"/>
              <a:gd name="connsiteY8" fmla="*/ 224004 h 1138404"/>
              <a:gd name="connsiteX9" fmla="*/ 88764 w 1129623"/>
              <a:gd name="connsiteY9" fmla="*/ 272643 h 1138404"/>
              <a:gd name="connsiteX10" fmla="*/ 79036 w 1129623"/>
              <a:gd name="connsiteY10" fmla="*/ 301826 h 1138404"/>
              <a:gd name="connsiteX11" fmla="*/ 40125 w 1129623"/>
              <a:gd name="connsiteY11" fmla="*/ 360192 h 1138404"/>
              <a:gd name="connsiteX12" fmla="*/ 10942 w 1129623"/>
              <a:gd name="connsiteY12" fmla="*/ 476924 h 1138404"/>
              <a:gd name="connsiteX13" fmla="*/ 10942 w 1129623"/>
              <a:gd name="connsiteY13" fmla="*/ 836847 h 1138404"/>
              <a:gd name="connsiteX14" fmla="*/ 40125 w 1129623"/>
              <a:gd name="connsiteY14" fmla="*/ 934124 h 1138404"/>
              <a:gd name="connsiteX15" fmla="*/ 59581 w 1129623"/>
              <a:gd name="connsiteY15" fmla="*/ 953579 h 1138404"/>
              <a:gd name="connsiteX16" fmla="*/ 79036 w 1129623"/>
              <a:gd name="connsiteY16" fmla="*/ 982762 h 1138404"/>
              <a:gd name="connsiteX17" fmla="*/ 137402 w 1129623"/>
              <a:gd name="connsiteY17" fmla="*/ 1011945 h 1138404"/>
              <a:gd name="connsiteX18" fmla="*/ 234678 w 1129623"/>
              <a:gd name="connsiteY18" fmla="*/ 1050856 h 1138404"/>
              <a:gd name="connsiteX19" fmla="*/ 293044 w 1129623"/>
              <a:gd name="connsiteY19" fmla="*/ 1070311 h 1138404"/>
              <a:gd name="connsiteX20" fmla="*/ 322227 w 1129623"/>
              <a:gd name="connsiteY20" fmla="*/ 1080039 h 1138404"/>
              <a:gd name="connsiteX21" fmla="*/ 361138 w 1129623"/>
              <a:gd name="connsiteY21" fmla="*/ 1089766 h 1138404"/>
              <a:gd name="connsiteX22" fmla="*/ 390321 w 1129623"/>
              <a:gd name="connsiteY22" fmla="*/ 1099494 h 1138404"/>
              <a:gd name="connsiteX23" fmla="*/ 468142 w 1129623"/>
              <a:gd name="connsiteY23" fmla="*/ 1118949 h 1138404"/>
              <a:gd name="connsiteX24" fmla="*/ 545964 w 1129623"/>
              <a:gd name="connsiteY24" fmla="*/ 1138404 h 1138404"/>
              <a:gd name="connsiteX25" fmla="*/ 682151 w 1129623"/>
              <a:gd name="connsiteY25" fmla="*/ 1118949 h 1138404"/>
              <a:gd name="connsiteX26" fmla="*/ 711334 w 1129623"/>
              <a:gd name="connsiteY26" fmla="*/ 1099494 h 1138404"/>
              <a:gd name="connsiteX27" fmla="*/ 769700 w 1129623"/>
              <a:gd name="connsiteY27" fmla="*/ 1080039 h 1138404"/>
              <a:gd name="connsiteX28" fmla="*/ 828066 w 1129623"/>
              <a:gd name="connsiteY28" fmla="*/ 1050856 h 1138404"/>
              <a:gd name="connsiteX29" fmla="*/ 886432 w 1129623"/>
              <a:gd name="connsiteY29" fmla="*/ 1021673 h 1138404"/>
              <a:gd name="connsiteX30" fmla="*/ 905887 w 1129623"/>
              <a:gd name="connsiteY30" fmla="*/ 1002217 h 1138404"/>
              <a:gd name="connsiteX31" fmla="*/ 935070 w 1129623"/>
              <a:gd name="connsiteY31" fmla="*/ 992490 h 1138404"/>
              <a:gd name="connsiteX32" fmla="*/ 954525 w 1129623"/>
              <a:gd name="connsiteY32" fmla="*/ 963307 h 1138404"/>
              <a:gd name="connsiteX33" fmla="*/ 1003164 w 1129623"/>
              <a:gd name="connsiteY33" fmla="*/ 924396 h 1138404"/>
              <a:gd name="connsiteX34" fmla="*/ 1022619 w 1129623"/>
              <a:gd name="connsiteY34" fmla="*/ 895213 h 1138404"/>
              <a:gd name="connsiteX35" fmla="*/ 1051802 w 1129623"/>
              <a:gd name="connsiteY35" fmla="*/ 875758 h 1138404"/>
              <a:gd name="connsiteX36" fmla="*/ 1061529 w 1129623"/>
              <a:gd name="connsiteY36" fmla="*/ 846575 h 1138404"/>
              <a:gd name="connsiteX37" fmla="*/ 1100440 w 1129623"/>
              <a:gd name="connsiteY37" fmla="*/ 797936 h 1138404"/>
              <a:gd name="connsiteX38" fmla="*/ 1119895 w 1129623"/>
              <a:gd name="connsiteY38" fmla="*/ 739570 h 1138404"/>
              <a:gd name="connsiteX39" fmla="*/ 1129623 w 1129623"/>
              <a:gd name="connsiteY39" fmla="*/ 671477 h 1138404"/>
              <a:gd name="connsiteX40" fmla="*/ 1110168 w 1129623"/>
              <a:gd name="connsiteY40" fmla="*/ 486651 h 1138404"/>
              <a:gd name="connsiteX41" fmla="*/ 1100440 w 1129623"/>
              <a:gd name="connsiteY41" fmla="*/ 457468 h 1138404"/>
              <a:gd name="connsiteX42" fmla="*/ 1061529 w 1129623"/>
              <a:gd name="connsiteY42" fmla="*/ 399102 h 1138404"/>
              <a:gd name="connsiteX43" fmla="*/ 1022619 w 1129623"/>
              <a:gd name="connsiteY43" fmla="*/ 350464 h 1138404"/>
              <a:gd name="connsiteX44" fmla="*/ 993436 w 1129623"/>
              <a:gd name="connsiteY44" fmla="*/ 292098 h 1138404"/>
              <a:gd name="connsiteX45" fmla="*/ 954525 w 1129623"/>
              <a:gd name="connsiteY45" fmla="*/ 243460 h 1138404"/>
              <a:gd name="connsiteX46" fmla="*/ 925342 w 1129623"/>
              <a:gd name="connsiteY46" fmla="*/ 194821 h 1138404"/>
              <a:gd name="connsiteX47" fmla="*/ 915615 w 1129623"/>
              <a:gd name="connsiteY47" fmla="*/ 165639 h 1138404"/>
              <a:gd name="connsiteX48" fmla="*/ 857249 w 1129623"/>
              <a:gd name="connsiteY48" fmla="*/ 136456 h 1138404"/>
              <a:gd name="connsiteX49" fmla="*/ 837793 w 1129623"/>
              <a:gd name="connsiteY49" fmla="*/ 117000 h 1138404"/>
              <a:gd name="connsiteX50" fmla="*/ 779427 w 1129623"/>
              <a:gd name="connsiteY50" fmla="*/ 78090 h 1138404"/>
              <a:gd name="connsiteX51" fmla="*/ 730789 w 1129623"/>
              <a:gd name="connsiteY51" fmla="*/ 48907 h 1138404"/>
              <a:gd name="connsiteX52" fmla="*/ 711334 w 1129623"/>
              <a:gd name="connsiteY52" fmla="*/ 29451 h 1138404"/>
              <a:gd name="connsiteX53" fmla="*/ 623785 w 1129623"/>
              <a:gd name="connsiteY53" fmla="*/ 268 h 1138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29623" h="1138404">
                <a:moveTo>
                  <a:pt x="623785" y="268"/>
                </a:moveTo>
                <a:cubicBezTo>
                  <a:pt x="580011" y="-1353"/>
                  <a:pt x="505321" y="4278"/>
                  <a:pt x="448687" y="19724"/>
                </a:cubicBezTo>
                <a:cubicBezTo>
                  <a:pt x="428902" y="25120"/>
                  <a:pt x="409776" y="32694"/>
                  <a:pt x="390321" y="39179"/>
                </a:cubicBezTo>
                <a:lnTo>
                  <a:pt x="331955" y="58634"/>
                </a:lnTo>
                <a:cubicBezTo>
                  <a:pt x="322227" y="61877"/>
                  <a:pt x="311304" y="62674"/>
                  <a:pt x="302772" y="68362"/>
                </a:cubicBezTo>
                <a:cubicBezTo>
                  <a:pt x="265057" y="93505"/>
                  <a:pt x="284680" y="84120"/>
                  <a:pt x="244406" y="97545"/>
                </a:cubicBezTo>
                <a:cubicBezTo>
                  <a:pt x="224951" y="117000"/>
                  <a:pt x="201302" y="133018"/>
                  <a:pt x="186040" y="155911"/>
                </a:cubicBezTo>
                <a:cubicBezTo>
                  <a:pt x="179555" y="165639"/>
                  <a:pt x="173888" y="175965"/>
                  <a:pt x="166585" y="185094"/>
                </a:cubicBezTo>
                <a:cubicBezTo>
                  <a:pt x="150745" y="204894"/>
                  <a:pt x="139612" y="209560"/>
                  <a:pt x="117946" y="224004"/>
                </a:cubicBezTo>
                <a:cubicBezTo>
                  <a:pt x="90393" y="306668"/>
                  <a:pt x="128820" y="205883"/>
                  <a:pt x="88764" y="272643"/>
                </a:cubicBezTo>
                <a:cubicBezTo>
                  <a:pt x="83488" y="281436"/>
                  <a:pt x="84016" y="292863"/>
                  <a:pt x="79036" y="301826"/>
                </a:cubicBezTo>
                <a:cubicBezTo>
                  <a:pt x="67680" y="322266"/>
                  <a:pt x="40125" y="360192"/>
                  <a:pt x="40125" y="360192"/>
                </a:cubicBezTo>
                <a:cubicBezTo>
                  <a:pt x="14433" y="437270"/>
                  <a:pt x="24042" y="398329"/>
                  <a:pt x="10942" y="476924"/>
                </a:cubicBezTo>
                <a:cubicBezTo>
                  <a:pt x="-2449" y="651017"/>
                  <a:pt x="-4800" y="616458"/>
                  <a:pt x="10942" y="836847"/>
                </a:cubicBezTo>
                <a:cubicBezTo>
                  <a:pt x="11959" y="851089"/>
                  <a:pt x="37433" y="931433"/>
                  <a:pt x="40125" y="934124"/>
                </a:cubicBezTo>
                <a:cubicBezTo>
                  <a:pt x="46610" y="940609"/>
                  <a:pt x="53852" y="946417"/>
                  <a:pt x="59581" y="953579"/>
                </a:cubicBezTo>
                <a:cubicBezTo>
                  <a:pt x="66884" y="962708"/>
                  <a:pt x="70769" y="974495"/>
                  <a:pt x="79036" y="982762"/>
                </a:cubicBezTo>
                <a:cubicBezTo>
                  <a:pt x="102402" y="1006128"/>
                  <a:pt x="109712" y="1000078"/>
                  <a:pt x="137402" y="1011945"/>
                </a:cubicBezTo>
                <a:cubicBezTo>
                  <a:pt x="237584" y="1054880"/>
                  <a:pt x="101843" y="1006578"/>
                  <a:pt x="234678" y="1050856"/>
                </a:cubicBezTo>
                <a:lnTo>
                  <a:pt x="293044" y="1070311"/>
                </a:lnTo>
                <a:cubicBezTo>
                  <a:pt x="302772" y="1073554"/>
                  <a:pt x="312279" y="1077552"/>
                  <a:pt x="322227" y="1080039"/>
                </a:cubicBezTo>
                <a:cubicBezTo>
                  <a:pt x="335197" y="1083281"/>
                  <a:pt x="348283" y="1086093"/>
                  <a:pt x="361138" y="1089766"/>
                </a:cubicBezTo>
                <a:cubicBezTo>
                  <a:pt x="370997" y="1092583"/>
                  <a:pt x="380428" y="1096796"/>
                  <a:pt x="390321" y="1099494"/>
                </a:cubicBezTo>
                <a:cubicBezTo>
                  <a:pt x="416117" y="1106529"/>
                  <a:pt x="442776" y="1110493"/>
                  <a:pt x="468142" y="1118949"/>
                </a:cubicBezTo>
                <a:cubicBezTo>
                  <a:pt x="513011" y="1133906"/>
                  <a:pt x="487270" y="1126666"/>
                  <a:pt x="545964" y="1138404"/>
                </a:cubicBezTo>
                <a:cubicBezTo>
                  <a:pt x="573310" y="1135918"/>
                  <a:pt x="644721" y="1137664"/>
                  <a:pt x="682151" y="1118949"/>
                </a:cubicBezTo>
                <a:cubicBezTo>
                  <a:pt x="692608" y="1113721"/>
                  <a:pt x="700650" y="1104242"/>
                  <a:pt x="711334" y="1099494"/>
                </a:cubicBezTo>
                <a:cubicBezTo>
                  <a:pt x="730074" y="1091165"/>
                  <a:pt x="769700" y="1080039"/>
                  <a:pt x="769700" y="1080039"/>
                </a:cubicBezTo>
                <a:cubicBezTo>
                  <a:pt x="853335" y="1024280"/>
                  <a:pt x="747517" y="1091130"/>
                  <a:pt x="828066" y="1050856"/>
                </a:cubicBezTo>
                <a:cubicBezTo>
                  <a:pt x="903495" y="1013141"/>
                  <a:pt x="813080" y="1046122"/>
                  <a:pt x="886432" y="1021673"/>
                </a:cubicBezTo>
                <a:cubicBezTo>
                  <a:pt x="892917" y="1015188"/>
                  <a:pt x="898023" y="1006936"/>
                  <a:pt x="905887" y="1002217"/>
                </a:cubicBezTo>
                <a:cubicBezTo>
                  <a:pt x="914680" y="996941"/>
                  <a:pt x="927063" y="998895"/>
                  <a:pt x="935070" y="992490"/>
                </a:cubicBezTo>
                <a:cubicBezTo>
                  <a:pt x="944199" y="985187"/>
                  <a:pt x="947222" y="972436"/>
                  <a:pt x="954525" y="963307"/>
                </a:cubicBezTo>
                <a:cubicBezTo>
                  <a:pt x="970367" y="943505"/>
                  <a:pt x="981495" y="938842"/>
                  <a:pt x="1003164" y="924396"/>
                </a:cubicBezTo>
                <a:cubicBezTo>
                  <a:pt x="1009649" y="914668"/>
                  <a:pt x="1014352" y="903480"/>
                  <a:pt x="1022619" y="895213"/>
                </a:cubicBezTo>
                <a:cubicBezTo>
                  <a:pt x="1030886" y="886946"/>
                  <a:pt x="1044499" y="884887"/>
                  <a:pt x="1051802" y="875758"/>
                </a:cubicBezTo>
                <a:cubicBezTo>
                  <a:pt x="1058207" y="867751"/>
                  <a:pt x="1056254" y="855368"/>
                  <a:pt x="1061529" y="846575"/>
                </a:cubicBezTo>
                <a:cubicBezTo>
                  <a:pt x="1096181" y="788821"/>
                  <a:pt x="1067065" y="873032"/>
                  <a:pt x="1100440" y="797936"/>
                </a:cubicBezTo>
                <a:cubicBezTo>
                  <a:pt x="1108769" y="779196"/>
                  <a:pt x="1119895" y="739570"/>
                  <a:pt x="1119895" y="739570"/>
                </a:cubicBezTo>
                <a:cubicBezTo>
                  <a:pt x="1123138" y="716872"/>
                  <a:pt x="1129623" y="694405"/>
                  <a:pt x="1129623" y="671477"/>
                </a:cubicBezTo>
                <a:cubicBezTo>
                  <a:pt x="1129623" y="588686"/>
                  <a:pt x="1128805" y="551882"/>
                  <a:pt x="1110168" y="486651"/>
                </a:cubicBezTo>
                <a:cubicBezTo>
                  <a:pt x="1107351" y="476792"/>
                  <a:pt x="1105420" y="466431"/>
                  <a:pt x="1100440" y="457468"/>
                </a:cubicBezTo>
                <a:cubicBezTo>
                  <a:pt x="1089084" y="437028"/>
                  <a:pt x="1061529" y="399102"/>
                  <a:pt x="1061529" y="399102"/>
                </a:cubicBezTo>
                <a:cubicBezTo>
                  <a:pt x="1042593" y="342289"/>
                  <a:pt x="1066619" y="394464"/>
                  <a:pt x="1022619" y="350464"/>
                </a:cubicBezTo>
                <a:cubicBezTo>
                  <a:pt x="994743" y="322588"/>
                  <a:pt x="1009258" y="323743"/>
                  <a:pt x="993436" y="292098"/>
                </a:cubicBezTo>
                <a:cubicBezTo>
                  <a:pt x="981164" y="267553"/>
                  <a:pt x="972623" y="261557"/>
                  <a:pt x="954525" y="243460"/>
                </a:cubicBezTo>
                <a:cubicBezTo>
                  <a:pt x="926972" y="160795"/>
                  <a:pt x="965399" y="261583"/>
                  <a:pt x="925342" y="194821"/>
                </a:cubicBezTo>
                <a:cubicBezTo>
                  <a:pt x="920067" y="186029"/>
                  <a:pt x="922020" y="173646"/>
                  <a:pt x="915615" y="165639"/>
                </a:cubicBezTo>
                <a:cubicBezTo>
                  <a:pt x="901899" y="148494"/>
                  <a:pt x="876475" y="142864"/>
                  <a:pt x="857249" y="136456"/>
                </a:cubicBezTo>
                <a:cubicBezTo>
                  <a:pt x="850764" y="129971"/>
                  <a:pt x="845130" y="122503"/>
                  <a:pt x="837793" y="117000"/>
                </a:cubicBezTo>
                <a:cubicBezTo>
                  <a:pt x="819087" y="102971"/>
                  <a:pt x="795960" y="94624"/>
                  <a:pt x="779427" y="78090"/>
                </a:cubicBezTo>
                <a:cubicBezTo>
                  <a:pt x="752722" y="51383"/>
                  <a:pt x="768673" y="61534"/>
                  <a:pt x="730789" y="48907"/>
                </a:cubicBezTo>
                <a:cubicBezTo>
                  <a:pt x="724304" y="42422"/>
                  <a:pt x="719537" y="33553"/>
                  <a:pt x="711334" y="29451"/>
                </a:cubicBezTo>
                <a:cubicBezTo>
                  <a:pt x="664222" y="5894"/>
                  <a:pt x="667559" y="1889"/>
                  <a:pt x="623785" y="268"/>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41</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753602299"/>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2</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1" dirty="0">
                          <a:solidFill>
                            <a:srgbClr val="FF0000"/>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1</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1" dirty="0">
                          <a:solidFill>
                            <a:srgbClr val="FF0000"/>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4</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1" dirty="0">
                          <a:solidFill>
                            <a:srgbClr val="FF0000"/>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noFill/>
            <a:ln w="19050">
              <a:solidFill>
                <a:schemeClr val="tx1"/>
              </a:solidFill>
              <a:round/>
              <a:headEnd/>
              <a:tailEnd/>
            </a:ln>
          </p:spPr>
          <p:txBody>
            <a:bodyPr wrap="none" anchor="ctr"/>
            <a:lstStyle/>
            <a:p>
              <a:pPr algn="ctr">
                <a:defRPr/>
              </a:pPr>
              <a:r>
                <a:rPr lang="en-US" sz="2400">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noFill/>
            <a:ln w="19050">
              <a:solidFill>
                <a:schemeClr val="tx1"/>
              </a:solidFill>
              <a:round/>
              <a:headEnd/>
              <a:tailEnd/>
            </a:ln>
          </p:spPr>
          <p:txBody>
            <a:bodyPr wrap="none" anchor="ctr"/>
            <a:lstStyle/>
            <a:p>
              <a:pPr algn="ctr">
                <a:defRPr/>
              </a:pPr>
              <a:r>
                <a:rPr lang="en-US" sz="240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tx1"/>
              </a:solidFill>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tx1"/>
              </a:solidFill>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tx1"/>
              </a:solidFill>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tx1"/>
              </a:solidFill>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tx1"/>
              </a:solidFill>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tx1"/>
              </a:solidFill>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tx1"/>
              </a:solidFill>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tx1"/>
              </a:solidFill>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EF2A7051-078E-484E-80FE-5DB34B811BCC}"/>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128996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A763B75-47E5-B444-91E1-21BF7835A670}"/>
              </a:ext>
            </a:extLst>
          </p:cNvPr>
          <p:cNvSpPr/>
          <p:nvPr/>
        </p:nvSpPr>
        <p:spPr>
          <a:xfrm>
            <a:off x="1846680" y="1410511"/>
            <a:ext cx="2326486" cy="1819072"/>
          </a:xfrm>
          <a:custGeom>
            <a:avLst/>
            <a:gdLst>
              <a:gd name="connsiteX0" fmla="*/ 964614 w 2326486"/>
              <a:gd name="connsiteY0" fmla="*/ 145915 h 1819072"/>
              <a:gd name="connsiteX1" fmla="*/ 896520 w 2326486"/>
              <a:gd name="connsiteY1" fmla="*/ 107004 h 1819072"/>
              <a:gd name="connsiteX2" fmla="*/ 867337 w 2326486"/>
              <a:gd name="connsiteY2" fmla="*/ 87549 h 1819072"/>
              <a:gd name="connsiteX3" fmla="*/ 799243 w 2326486"/>
              <a:gd name="connsiteY3" fmla="*/ 68093 h 1819072"/>
              <a:gd name="connsiteX4" fmla="*/ 770060 w 2326486"/>
              <a:gd name="connsiteY4" fmla="*/ 58366 h 1819072"/>
              <a:gd name="connsiteX5" fmla="*/ 740877 w 2326486"/>
              <a:gd name="connsiteY5" fmla="*/ 38910 h 1819072"/>
              <a:gd name="connsiteX6" fmla="*/ 682511 w 2326486"/>
              <a:gd name="connsiteY6" fmla="*/ 19455 h 1819072"/>
              <a:gd name="connsiteX7" fmla="*/ 594963 w 2326486"/>
              <a:gd name="connsiteY7" fmla="*/ 0 h 1819072"/>
              <a:gd name="connsiteX8" fmla="*/ 361499 w 2326486"/>
              <a:gd name="connsiteY8" fmla="*/ 9727 h 1819072"/>
              <a:gd name="connsiteX9" fmla="*/ 332316 w 2326486"/>
              <a:gd name="connsiteY9" fmla="*/ 19455 h 1819072"/>
              <a:gd name="connsiteX10" fmla="*/ 283677 w 2326486"/>
              <a:gd name="connsiteY10" fmla="*/ 29183 h 1819072"/>
              <a:gd name="connsiteX11" fmla="*/ 244767 w 2326486"/>
              <a:gd name="connsiteY11" fmla="*/ 48638 h 1819072"/>
              <a:gd name="connsiteX12" fmla="*/ 186401 w 2326486"/>
              <a:gd name="connsiteY12" fmla="*/ 77821 h 1819072"/>
              <a:gd name="connsiteX13" fmla="*/ 128035 w 2326486"/>
              <a:gd name="connsiteY13" fmla="*/ 136187 h 1819072"/>
              <a:gd name="connsiteX14" fmla="*/ 98852 w 2326486"/>
              <a:gd name="connsiteY14" fmla="*/ 165370 h 1819072"/>
              <a:gd name="connsiteX15" fmla="*/ 79397 w 2326486"/>
              <a:gd name="connsiteY15" fmla="*/ 194553 h 1819072"/>
              <a:gd name="connsiteX16" fmla="*/ 40486 w 2326486"/>
              <a:gd name="connsiteY16" fmla="*/ 243191 h 1819072"/>
              <a:gd name="connsiteX17" fmla="*/ 21031 w 2326486"/>
              <a:gd name="connsiteY17" fmla="*/ 301557 h 1819072"/>
              <a:gd name="connsiteX18" fmla="*/ 1575 w 2326486"/>
              <a:gd name="connsiteY18" fmla="*/ 340468 h 1819072"/>
              <a:gd name="connsiteX19" fmla="*/ 30758 w 2326486"/>
              <a:gd name="connsiteY19" fmla="*/ 719846 h 1819072"/>
              <a:gd name="connsiteX20" fmla="*/ 59941 w 2326486"/>
              <a:gd name="connsiteY20" fmla="*/ 768485 h 1819072"/>
              <a:gd name="connsiteX21" fmla="*/ 108580 w 2326486"/>
              <a:gd name="connsiteY21" fmla="*/ 856034 h 1819072"/>
              <a:gd name="connsiteX22" fmla="*/ 166946 w 2326486"/>
              <a:gd name="connsiteY22" fmla="*/ 894944 h 1819072"/>
              <a:gd name="connsiteX23" fmla="*/ 215584 w 2326486"/>
              <a:gd name="connsiteY23" fmla="*/ 943583 h 1819072"/>
              <a:gd name="connsiteX24" fmla="*/ 244767 w 2326486"/>
              <a:gd name="connsiteY24" fmla="*/ 972766 h 1819072"/>
              <a:gd name="connsiteX25" fmla="*/ 273950 w 2326486"/>
              <a:gd name="connsiteY25" fmla="*/ 992221 h 1819072"/>
              <a:gd name="connsiteX26" fmla="*/ 312860 w 2326486"/>
              <a:gd name="connsiteY26" fmla="*/ 1011676 h 1819072"/>
              <a:gd name="connsiteX27" fmla="*/ 332316 w 2326486"/>
              <a:gd name="connsiteY27" fmla="*/ 1031132 h 1819072"/>
              <a:gd name="connsiteX28" fmla="*/ 361499 w 2326486"/>
              <a:gd name="connsiteY28" fmla="*/ 1050587 h 1819072"/>
              <a:gd name="connsiteX29" fmla="*/ 390682 w 2326486"/>
              <a:gd name="connsiteY29" fmla="*/ 1079770 h 1819072"/>
              <a:gd name="connsiteX30" fmla="*/ 419865 w 2326486"/>
              <a:gd name="connsiteY30" fmla="*/ 1099225 h 1819072"/>
              <a:gd name="connsiteX31" fmla="*/ 478231 w 2326486"/>
              <a:gd name="connsiteY31" fmla="*/ 1147863 h 1819072"/>
              <a:gd name="connsiteX32" fmla="*/ 497686 w 2326486"/>
              <a:gd name="connsiteY32" fmla="*/ 1177046 h 1819072"/>
              <a:gd name="connsiteX33" fmla="*/ 556052 w 2326486"/>
              <a:gd name="connsiteY33" fmla="*/ 1215957 h 1819072"/>
              <a:gd name="connsiteX34" fmla="*/ 614418 w 2326486"/>
              <a:gd name="connsiteY34" fmla="*/ 1254868 h 1819072"/>
              <a:gd name="connsiteX35" fmla="*/ 643601 w 2326486"/>
              <a:gd name="connsiteY35" fmla="*/ 1274323 h 1819072"/>
              <a:gd name="connsiteX36" fmla="*/ 701967 w 2326486"/>
              <a:gd name="connsiteY36" fmla="*/ 1313234 h 1819072"/>
              <a:gd name="connsiteX37" fmla="*/ 808971 w 2326486"/>
              <a:gd name="connsiteY37" fmla="*/ 1381327 h 1819072"/>
              <a:gd name="connsiteX38" fmla="*/ 877065 w 2326486"/>
              <a:gd name="connsiteY38" fmla="*/ 1420238 h 1819072"/>
              <a:gd name="connsiteX39" fmla="*/ 935431 w 2326486"/>
              <a:gd name="connsiteY39" fmla="*/ 1459149 h 1819072"/>
              <a:gd name="connsiteX40" fmla="*/ 964614 w 2326486"/>
              <a:gd name="connsiteY40" fmla="*/ 1478604 h 1819072"/>
              <a:gd name="connsiteX41" fmla="*/ 993797 w 2326486"/>
              <a:gd name="connsiteY41" fmla="*/ 1498059 h 1819072"/>
              <a:gd name="connsiteX42" fmla="*/ 1022980 w 2326486"/>
              <a:gd name="connsiteY42" fmla="*/ 1527242 h 1819072"/>
              <a:gd name="connsiteX43" fmla="*/ 1052163 w 2326486"/>
              <a:gd name="connsiteY43" fmla="*/ 1536970 h 1819072"/>
              <a:gd name="connsiteX44" fmla="*/ 1081346 w 2326486"/>
              <a:gd name="connsiteY44" fmla="*/ 1556425 h 1819072"/>
              <a:gd name="connsiteX45" fmla="*/ 1149439 w 2326486"/>
              <a:gd name="connsiteY45" fmla="*/ 1585608 h 1819072"/>
              <a:gd name="connsiteX46" fmla="*/ 1207805 w 2326486"/>
              <a:gd name="connsiteY46" fmla="*/ 1624519 h 1819072"/>
              <a:gd name="connsiteX47" fmla="*/ 1236988 w 2326486"/>
              <a:gd name="connsiteY47" fmla="*/ 1643974 h 1819072"/>
              <a:gd name="connsiteX48" fmla="*/ 1266171 w 2326486"/>
              <a:gd name="connsiteY48" fmla="*/ 1653702 h 1819072"/>
              <a:gd name="connsiteX49" fmla="*/ 1324537 w 2326486"/>
              <a:gd name="connsiteY49" fmla="*/ 1692612 h 1819072"/>
              <a:gd name="connsiteX50" fmla="*/ 1382903 w 2326486"/>
              <a:gd name="connsiteY50" fmla="*/ 1721795 h 1819072"/>
              <a:gd name="connsiteX51" fmla="*/ 1470452 w 2326486"/>
              <a:gd name="connsiteY51" fmla="*/ 1750978 h 1819072"/>
              <a:gd name="connsiteX52" fmla="*/ 1528818 w 2326486"/>
              <a:gd name="connsiteY52" fmla="*/ 1770434 h 1819072"/>
              <a:gd name="connsiteX53" fmla="*/ 1558001 w 2326486"/>
              <a:gd name="connsiteY53" fmla="*/ 1780161 h 1819072"/>
              <a:gd name="connsiteX54" fmla="*/ 1587184 w 2326486"/>
              <a:gd name="connsiteY54" fmla="*/ 1799617 h 1819072"/>
              <a:gd name="connsiteX55" fmla="*/ 1703916 w 2326486"/>
              <a:gd name="connsiteY55" fmla="*/ 1819072 h 1819072"/>
              <a:gd name="connsiteX56" fmla="*/ 2024929 w 2326486"/>
              <a:gd name="connsiteY56" fmla="*/ 1809344 h 1819072"/>
              <a:gd name="connsiteX57" fmla="*/ 2063839 w 2326486"/>
              <a:gd name="connsiteY57" fmla="*/ 1799617 h 1819072"/>
              <a:gd name="connsiteX58" fmla="*/ 2122205 w 2326486"/>
              <a:gd name="connsiteY58" fmla="*/ 1770434 h 1819072"/>
              <a:gd name="connsiteX59" fmla="*/ 2161116 w 2326486"/>
              <a:gd name="connsiteY59" fmla="*/ 1731523 h 1819072"/>
              <a:gd name="connsiteX60" fmla="*/ 2209754 w 2326486"/>
              <a:gd name="connsiteY60" fmla="*/ 1692612 h 1819072"/>
              <a:gd name="connsiteX61" fmla="*/ 2229209 w 2326486"/>
              <a:gd name="connsiteY61" fmla="*/ 1663429 h 1819072"/>
              <a:gd name="connsiteX62" fmla="*/ 2287575 w 2326486"/>
              <a:gd name="connsiteY62" fmla="*/ 1585608 h 1819072"/>
              <a:gd name="connsiteX63" fmla="*/ 2316758 w 2326486"/>
              <a:gd name="connsiteY63" fmla="*/ 1498059 h 1819072"/>
              <a:gd name="connsiteX64" fmla="*/ 2326486 w 2326486"/>
              <a:gd name="connsiteY64" fmla="*/ 1468876 h 1819072"/>
              <a:gd name="connsiteX65" fmla="*/ 2307031 w 2326486"/>
              <a:gd name="connsiteY65" fmla="*/ 1371600 h 1819072"/>
              <a:gd name="connsiteX66" fmla="*/ 2248665 w 2326486"/>
              <a:gd name="connsiteY66" fmla="*/ 1293778 h 1819072"/>
              <a:gd name="connsiteX67" fmla="*/ 2238937 w 2326486"/>
              <a:gd name="connsiteY67" fmla="*/ 1264595 h 1819072"/>
              <a:gd name="connsiteX68" fmla="*/ 2200026 w 2326486"/>
              <a:gd name="connsiteY68" fmla="*/ 1215957 h 1819072"/>
              <a:gd name="connsiteX69" fmla="*/ 2170843 w 2326486"/>
              <a:gd name="connsiteY69" fmla="*/ 1157591 h 1819072"/>
              <a:gd name="connsiteX70" fmla="*/ 2161116 w 2326486"/>
              <a:gd name="connsiteY70" fmla="*/ 1128408 h 1819072"/>
              <a:gd name="connsiteX71" fmla="*/ 2122205 w 2326486"/>
              <a:gd name="connsiteY71" fmla="*/ 1070042 h 1819072"/>
              <a:gd name="connsiteX72" fmla="*/ 2083294 w 2326486"/>
              <a:gd name="connsiteY72" fmla="*/ 1001949 h 1819072"/>
              <a:gd name="connsiteX73" fmla="*/ 2054111 w 2326486"/>
              <a:gd name="connsiteY73" fmla="*/ 982493 h 1819072"/>
              <a:gd name="connsiteX74" fmla="*/ 2005473 w 2326486"/>
              <a:gd name="connsiteY74" fmla="*/ 933855 h 1819072"/>
              <a:gd name="connsiteX75" fmla="*/ 1917924 w 2326486"/>
              <a:gd name="connsiteY75" fmla="*/ 846306 h 1819072"/>
              <a:gd name="connsiteX76" fmla="*/ 1888741 w 2326486"/>
              <a:gd name="connsiteY76" fmla="*/ 817123 h 1819072"/>
              <a:gd name="connsiteX77" fmla="*/ 1859558 w 2326486"/>
              <a:gd name="connsiteY77" fmla="*/ 787940 h 1819072"/>
              <a:gd name="connsiteX78" fmla="*/ 1820648 w 2326486"/>
              <a:gd name="connsiteY78" fmla="*/ 758757 h 1819072"/>
              <a:gd name="connsiteX79" fmla="*/ 1791465 w 2326486"/>
              <a:gd name="connsiteY79" fmla="*/ 739302 h 1819072"/>
              <a:gd name="connsiteX80" fmla="*/ 1733099 w 2326486"/>
              <a:gd name="connsiteY80" fmla="*/ 719846 h 1819072"/>
              <a:gd name="connsiteX81" fmla="*/ 1684460 w 2326486"/>
              <a:gd name="connsiteY81" fmla="*/ 690663 h 1819072"/>
              <a:gd name="connsiteX82" fmla="*/ 1626094 w 2326486"/>
              <a:gd name="connsiteY82" fmla="*/ 651753 h 1819072"/>
              <a:gd name="connsiteX83" fmla="*/ 1596911 w 2326486"/>
              <a:gd name="connsiteY83" fmla="*/ 632298 h 1819072"/>
              <a:gd name="connsiteX84" fmla="*/ 1577456 w 2326486"/>
              <a:gd name="connsiteY84" fmla="*/ 612842 h 1819072"/>
              <a:gd name="connsiteX85" fmla="*/ 1519090 w 2326486"/>
              <a:gd name="connsiteY85" fmla="*/ 573932 h 1819072"/>
              <a:gd name="connsiteX86" fmla="*/ 1499635 w 2326486"/>
              <a:gd name="connsiteY86" fmla="*/ 554476 h 1819072"/>
              <a:gd name="connsiteX87" fmla="*/ 1431541 w 2326486"/>
              <a:gd name="connsiteY87" fmla="*/ 505838 h 1819072"/>
              <a:gd name="connsiteX88" fmla="*/ 1373175 w 2326486"/>
              <a:gd name="connsiteY88" fmla="*/ 466927 h 1819072"/>
              <a:gd name="connsiteX89" fmla="*/ 1353720 w 2326486"/>
              <a:gd name="connsiteY89" fmla="*/ 437744 h 1819072"/>
              <a:gd name="connsiteX90" fmla="*/ 1295354 w 2326486"/>
              <a:gd name="connsiteY90" fmla="*/ 398834 h 1819072"/>
              <a:gd name="connsiteX91" fmla="*/ 1236988 w 2326486"/>
              <a:gd name="connsiteY91" fmla="*/ 369651 h 1819072"/>
              <a:gd name="connsiteX92" fmla="*/ 1188350 w 2326486"/>
              <a:gd name="connsiteY92" fmla="*/ 340468 h 1819072"/>
              <a:gd name="connsiteX93" fmla="*/ 1168894 w 2326486"/>
              <a:gd name="connsiteY93" fmla="*/ 321012 h 1819072"/>
              <a:gd name="connsiteX94" fmla="*/ 1110529 w 2326486"/>
              <a:gd name="connsiteY94" fmla="*/ 282102 h 1819072"/>
              <a:gd name="connsiteX95" fmla="*/ 1052163 w 2326486"/>
              <a:gd name="connsiteY95" fmla="*/ 243191 h 1819072"/>
              <a:gd name="connsiteX96" fmla="*/ 1022980 w 2326486"/>
              <a:gd name="connsiteY96" fmla="*/ 233463 h 1819072"/>
              <a:gd name="connsiteX97" fmla="*/ 1003524 w 2326486"/>
              <a:gd name="connsiteY97" fmla="*/ 214008 h 1819072"/>
              <a:gd name="connsiteX98" fmla="*/ 974341 w 2326486"/>
              <a:gd name="connsiteY98" fmla="*/ 204280 h 1819072"/>
              <a:gd name="connsiteX99" fmla="*/ 964614 w 2326486"/>
              <a:gd name="connsiteY99" fmla="*/ 145915 h 1819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2326486" h="1819072">
                <a:moveTo>
                  <a:pt x="964614" y="145915"/>
                </a:moveTo>
                <a:cubicBezTo>
                  <a:pt x="951644" y="129702"/>
                  <a:pt x="918937" y="120454"/>
                  <a:pt x="896520" y="107004"/>
                </a:cubicBezTo>
                <a:cubicBezTo>
                  <a:pt x="886495" y="100989"/>
                  <a:pt x="877794" y="92777"/>
                  <a:pt x="867337" y="87549"/>
                </a:cubicBezTo>
                <a:cubicBezTo>
                  <a:pt x="851787" y="79774"/>
                  <a:pt x="813789" y="72249"/>
                  <a:pt x="799243" y="68093"/>
                </a:cubicBezTo>
                <a:cubicBezTo>
                  <a:pt x="789384" y="65276"/>
                  <a:pt x="779788" y="61608"/>
                  <a:pt x="770060" y="58366"/>
                </a:cubicBezTo>
                <a:cubicBezTo>
                  <a:pt x="760332" y="51881"/>
                  <a:pt x="751561" y="43658"/>
                  <a:pt x="740877" y="38910"/>
                </a:cubicBezTo>
                <a:cubicBezTo>
                  <a:pt x="722137" y="30581"/>
                  <a:pt x="702406" y="24429"/>
                  <a:pt x="682511" y="19455"/>
                </a:cubicBezTo>
                <a:cubicBezTo>
                  <a:pt x="627561" y="5717"/>
                  <a:pt x="656711" y="12349"/>
                  <a:pt x="594963" y="0"/>
                </a:cubicBezTo>
                <a:cubicBezTo>
                  <a:pt x="517142" y="3242"/>
                  <a:pt x="439175" y="3973"/>
                  <a:pt x="361499" y="9727"/>
                </a:cubicBezTo>
                <a:cubicBezTo>
                  <a:pt x="351273" y="10484"/>
                  <a:pt x="342264" y="16968"/>
                  <a:pt x="332316" y="19455"/>
                </a:cubicBezTo>
                <a:cubicBezTo>
                  <a:pt x="316276" y="23465"/>
                  <a:pt x="299890" y="25940"/>
                  <a:pt x="283677" y="29183"/>
                </a:cubicBezTo>
                <a:cubicBezTo>
                  <a:pt x="270707" y="35668"/>
                  <a:pt x="258095" y="42926"/>
                  <a:pt x="244767" y="48638"/>
                </a:cubicBezTo>
                <a:cubicBezTo>
                  <a:pt x="212130" y="62625"/>
                  <a:pt x="215408" y="52037"/>
                  <a:pt x="186401" y="77821"/>
                </a:cubicBezTo>
                <a:cubicBezTo>
                  <a:pt x="165837" y="96100"/>
                  <a:pt x="147490" y="116732"/>
                  <a:pt x="128035" y="136187"/>
                </a:cubicBezTo>
                <a:cubicBezTo>
                  <a:pt x="118307" y="145915"/>
                  <a:pt x="106483" y="153923"/>
                  <a:pt x="98852" y="165370"/>
                </a:cubicBezTo>
                <a:cubicBezTo>
                  <a:pt x="92367" y="175098"/>
                  <a:pt x="86700" y="185424"/>
                  <a:pt x="79397" y="194553"/>
                </a:cubicBezTo>
                <a:cubicBezTo>
                  <a:pt x="59182" y="219822"/>
                  <a:pt x="55458" y="209504"/>
                  <a:pt x="40486" y="243191"/>
                </a:cubicBezTo>
                <a:cubicBezTo>
                  <a:pt x="32157" y="261931"/>
                  <a:pt x="30203" y="283214"/>
                  <a:pt x="21031" y="301557"/>
                </a:cubicBezTo>
                <a:lnTo>
                  <a:pt x="1575" y="340468"/>
                </a:lnTo>
                <a:cubicBezTo>
                  <a:pt x="11924" y="681963"/>
                  <a:pt x="-22550" y="559923"/>
                  <a:pt x="30758" y="719846"/>
                </a:cubicBezTo>
                <a:cubicBezTo>
                  <a:pt x="43386" y="757729"/>
                  <a:pt x="33236" y="741779"/>
                  <a:pt x="59941" y="768485"/>
                </a:cubicBezTo>
                <a:cubicBezTo>
                  <a:pt x="70078" y="798896"/>
                  <a:pt x="79910" y="836921"/>
                  <a:pt x="108580" y="856034"/>
                </a:cubicBezTo>
                <a:cubicBezTo>
                  <a:pt x="128035" y="869004"/>
                  <a:pt x="150412" y="878410"/>
                  <a:pt x="166946" y="894944"/>
                </a:cubicBezTo>
                <a:lnTo>
                  <a:pt x="215584" y="943583"/>
                </a:lnTo>
                <a:cubicBezTo>
                  <a:pt x="225312" y="953311"/>
                  <a:pt x="233320" y="965135"/>
                  <a:pt x="244767" y="972766"/>
                </a:cubicBezTo>
                <a:cubicBezTo>
                  <a:pt x="254495" y="979251"/>
                  <a:pt x="263799" y="986421"/>
                  <a:pt x="273950" y="992221"/>
                </a:cubicBezTo>
                <a:cubicBezTo>
                  <a:pt x="286540" y="999415"/>
                  <a:pt x="300795" y="1003632"/>
                  <a:pt x="312860" y="1011676"/>
                </a:cubicBezTo>
                <a:cubicBezTo>
                  <a:pt x="320491" y="1016764"/>
                  <a:pt x="325154" y="1025403"/>
                  <a:pt x="332316" y="1031132"/>
                </a:cubicBezTo>
                <a:cubicBezTo>
                  <a:pt x="341445" y="1038435"/>
                  <a:pt x="352518" y="1043103"/>
                  <a:pt x="361499" y="1050587"/>
                </a:cubicBezTo>
                <a:cubicBezTo>
                  <a:pt x="372067" y="1059394"/>
                  <a:pt x="380114" y="1070963"/>
                  <a:pt x="390682" y="1079770"/>
                </a:cubicBezTo>
                <a:cubicBezTo>
                  <a:pt x="399663" y="1087254"/>
                  <a:pt x="410884" y="1091741"/>
                  <a:pt x="419865" y="1099225"/>
                </a:cubicBezTo>
                <a:cubicBezTo>
                  <a:pt x="494765" y="1161641"/>
                  <a:pt x="405775" y="1099560"/>
                  <a:pt x="478231" y="1147863"/>
                </a:cubicBezTo>
                <a:cubicBezTo>
                  <a:pt x="484716" y="1157591"/>
                  <a:pt x="488888" y="1169347"/>
                  <a:pt x="497686" y="1177046"/>
                </a:cubicBezTo>
                <a:cubicBezTo>
                  <a:pt x="515283" y="1192444"/>
                  <a:pt x="536597" y="1202987"/>
                  <a:pt x="556052" y="1215957"/>
                </a:cubicBezTo>
                <a:lnTo>
                  <a:pt x="614418" y="1254868"/>
                </a:lnTo>
                <a:cubicBezTo>
                  <a:pt x="624146" y="1261353"/>
                  <a:pt x="635334" y="1266056"/>
                  <a:pt x="643601" y="1274323"/>
                </a:cubicBezTo>
                <a:cubicBezTo>
                  <a:pt x="680035" y="1310757"/>
                  <a:pt x="659733" y="1299156"/>
                  <a:pt x="701967" y="1313234"/>
                </a:cubicBezTo>
                <a:cubicBezTo>
                  <a:pt x="787991" y="1377752"/>
                  <a:pt x="749026" y="1361347"/>
                  <a:pt x="808971" y="1381327"/>
                </a:cubicBezTo>
                <a:cubicBezTo>
                  <a:pt x="909907" y="1448620"/>
                  <a:pt x="753664" y="1346198"/>
                  <a:pt x="877065" y="1420238"/>
                </a:cubicBezTo>
                <a:cubicBezTo>
                  <a:pt x="897115" y="1432268"/>
                  <a:pt x="915976" y="1446179"/>
                  <a:pt x="935431" y="1459149"/>
                </a:cubicBezTo>
                <a:lnTo>
                  <a:pt x="964614" y="1478604"/>
                </a:lnTo>
                <a:cubicBezTo>
                  <a:pt x="974342" y="1485089"/>
                  <a:pt x="985530" y="1489792"/>
                  <a:pt x="993797" y="1498059"/>
                </a:cubicBezTo>
                <a:cubicBezTo>
                  <a:pt x="1003525" y="1507787"/>
                  <a:pt x="1011534" y="1519611"/>
                  <a:pt x="1022980" y="1527242"/>
                </a:cubicBezTo>
                <a:cubicBezTo>
                  <a:pt x="1031512" y="1532930"/>
                  <a:pt x="1042992" y="1532384"/>
                  <a:pt x="1052163" y="1536970"/>
                </a:cubicBezTo>
                <a:cubicBezTo>
                  <a:pt x="1062620" y="1542198"/>
                  <a:pt x="1070889" y="1551197"/>
                  <a:pt x="1081346" y="1556425"/>
                </a:cubicBezTo>
                <a:cubicBezTo>
                  <a:pt x="1161845" y="1596674"/>
                  <a:pt x="1048242" y="1524890"/>
                  <a:pt x="1149439" y="1585608"/>
                </a:cubicBezTo>
                <a:cubicBezTo>
                  <a:pt x="1169489" y="1597638"/>
                  <a:pt x="1188350" y="1611549"/>
                  <a:pt x="1207805" y="1624519"/>
                </a:cubicBezTo>
                <a:cubicBezTo>
                  <a:pt x="1217533" y="1631004"/>
                  <a:pt x="1225897" y="1640277"/>
                  <a:pt x="1236988" y="1643974"/>
                </a:cubicBezTo>
                <a:cubicBezTo>
                  <a:pt x="1246716" y="1647217"/>
                  <a:pt x="1257207" y="1648722"/>
                  <a:pt x="1266171" y="1653702"/>
                </a:cubicBezTo>
                <a:cubicBezTo>
                  <a:pt x="1286611" y="1665057"/>
                  <a:pt x="1302355" y="1685218"/>
                  <a:pt x="1324537" y="1692612"/>
                </a:cubicBezTo>
                <a:cubicBezTo>
                  <a:pt x="1430968" y="1728090"/>
                  <a:pt x="1269759" y="1671508"/>
                  <a:pt x="1382903" y="1721795"/>
                </a:cubicBezTo>
                <a:cubicBezTo>
                  <a:pt x="1382928" y="1721806"/>
                  <a:pt x="1455847" y="1746110"/>
                  <a:pt x="1470452" y="1750978"/>
                </a:cubicBezTo>
                <a:lnTo>
                  <a:pt x="1528818" y="1770434"/>
                </a:lnTo>
                <a:lnTo>
                  <a:pt x="1558001" y="1780161"/>
                </a:lnTo>
                <a:cubicBezTo>
                  <a:pt x="1567729" y="1786646"/>
                  <a:pt x="1575887" y="1796605"/>
                  <a:pt x="1587184" y="1799617"/>
                </a:cubicBezTo>
                <a:cubicBezTo>
                  <a:pt x="1625299" y="1809781"/>
                  <a:pt x="1703916" y="1819072"/>
                  <a:pt x="1703916" y="1819072"/>
                </a:cubicBezTo>
                <a:cubicBezTo>
                  <a:pt x="1810920" y="1815829"/>
                  <a:pt x="1918032" y="1815122"/>
                  <a:pt x="2024929" y="1809344"/>
                </a:cubicBezTo>
                <a:cubicBezTo>
                  <a:pt x="2038279" y="1808622"/>
                  <a:pt x="2050984" y="1803290"/>
                  <a:pt x="2063839" y="1799617"/>
                </a:cubicBezTo>
                <a:cubicBezTo>
                  <a:pt x="2089729" y="1792220"/>
                  <a:pt x="2100890" y="1788704"/>
                  <a:pt x="2122205" y="1770434"/>
                </a:cubicBezTo>
                <a:cubicBezTo>
                  <a:pt x="2136132" y="1758497"/>
                  <a:pt x="2145854" y="1741698"/>
                  <a:pt x="2161116" y="1731523"/>
                </a:cubicBezTo>
                <a:cubicBezTo>
                  <a:pt x="2182787" y="1717076"/>
                  <a:pt x="2193911" y="1712416"/>
                  <a:pt x="2209754" y="1692612"/>
                </a:cubicBezTo>
                <a:cubicBezTo>
                  <a:pt x="2217057" y="1683483"/>
                  <a:pt x="2221906" y="1672558"/>
                  <a:pt x="2229209" y="1663429"/>
                </a:cubicBezTo>
                <a:cubicBezTo>
                  <a:pt x="2255550" y="1630503"/>
                  <a:pt x="2268178" y="1643797"/>
                  <a:pt x="2287575" y="1585608"/>
                </a:cubicBezTo>
                <a:lnTo>
                  <a:pt x="2316758" y="1498059"/>
                </a:lnTo>
                <a:lnTo>
                  <a:pt x="2326486" y="1468876"/>
                </a:lnTo>
                <a:cubicBezTo>
                  <a:pt x="2324800" y="1457076"/>
                  <a:pt x="2319763" y="1392820"/>
                  <a:pt x="2307031" y="1371600"/>
                </a:cubicBezTo>
                <a:cubicBezTo>
                  <a:pt x="2272459" y="1313980"/>
                  <a:pt x="2289047" y="1414920"/>
                  <a:pt x="2248665" y="1293778"/>
                </a:cubicBezTo>
                <a:cubicBezTo>
                  <a:pt x="2245422" y="1284050"/>
                  <a:pt x="2243523" y="1273766"/>
                  <a:pt x="2238937" y="1264595"/>
                </a:cubicBezTo>
                <a:cubicBezTo>
                  <a:pt x="2226665" y="1240050"/>
                  <a:pt x="2218124" y="1234054"/>
                  <a:pt x="2200026" y="1215957"/>
                </a:cubicBezTo>
                <a:cubicBezTo>
                  <a:pt x="2176035" y="1119985"/>
                  <a:pt x="2208012" y="1219539"/>
                  <a:pt x="2170843" y="1157591"/>
                </a:cubicBezTo>
                <a:cubicBezTo>
                  <a:pt x="2165567" y="1148798"/>
                  <a:pt x="2166096" y="1137371"/>
                  <a:pt x="2161116" y="1128408"/>
                </a:cubicBezTo>
                <a:cubicBezTo>
                  <a:pt x="2149761" y="1107968"/>
                  <a:pt x="2129599" y="1092224"/>
                  <a:pt x="2122205" y="1070042"/>
                </a:cubicBezTo>
                <a:cubicBezTo>
                  <a:pt x="2111075" y="1036652"/>
                  <a:pt x="2112740" y="1031395"/>
                  <a:pt x="2083294" y="1001949"/>
                </a:cubicBezTo>
                <a:cubicBezTo>
                  <a:pt x="2075027" y="993682"/>
                  <a:pt x="2062910" y="990192"/>
                  <a:pt x="2054111" y="982493"/>
                </a:cubicBezTo>
                <a:cubicBezTo>
                  <a:pt x="2036856" y="967395"/>
                  <a:pt x="2021686" y="950068"/>
                  <a:pt x="2005473" y="933855"/>
                </a:cubicBezTo>
                <a:lnTo>
                  <a:pt x="1917924" y="846306"/>
                </a:lnTo>
                <a:lnTo>
                  <a:pt x="1888741" y="817123"/>
                </a:lnTo>
                <a:cubicBezTo>
                  <a:pt x="1879013" y="807395"/>
                  <a:pt x="1870564" y="796194"/>
                  <a:pt x="1859558" y="787940"/>
                </a:cubicBezTo>
                <a:cubicBezTo>
                  <a:pt x="1846588" y="778212"/>
                  <a:pt x="1833841" y="768180"/>
                  <a:pt x="1820648" y="758757"/>
                </a:cubicBezTo>
                <a:cubicBezTo>
                  <a:pt x="1811135" y="751962"/>
                  <a:pt x="1802148" y="744050"/>
                  <a:pt x="1791465" y="739302"/>
                </a:cubicBezTo>
                <a:cubicBezTo>
                  <a:pt x="1772725" y="730973"/>
                  <a:pt x="1733099" y="719846"/>
                  <a:pt x="1733099" y="719846"/>
                </a:cubicBezTo>
                <a:cubicBezTo>
                  <a:pt x="1689449" y="676199"/>
                  <a:pt x="1741286" y="722233"/>
                  <a:pt x="1684460" y="690663"/>
                </a:cubicBezTo>
                <a:cubicBezTo>
                  <a:pt x="1664020" y="679308"/>
                  <a:pt x="1645549" y="664723"/>
                  <a:pt x="1626094" y="651753"/>
                </a:cubicBezTo>
                <a:cubicBezTo>
                  <a:pt x="1616366" y="645268"/>
                  <a:pt x="1605178" y="640565"/>
                  <a:pt x="1596911" y="632298"/>
                </a:cubicBezTo>
                <a:cubicBezTo>
                  <a:pt x="1590426" y="625813"/>
                  <a:pt x="1584793" y="618345"/>
                  <a:pt x="1577456" y="612842"/>
                </a:cubicBezTo>
                <a:cubicBezTo>
                  <a:pt x="1558750" y="598813"/>
                  <a:pt x="1535623" y="590466"/>
                  <a:pt x="1519090" y="573932"/>
                </a:cubicBezTo>
                <a:cubicBezTo>
                  <a:pt x="1512605" y="567447"/>
                  <a:pt x="1506797" y="560205"/>
                  <a:pt x="1499635" y="554476"/>
                </a:cubicBezTo>
                <a:cubicBezTo>
                  <a:pt x="1422621" y="492864"/>
                  <a:pt x="1527427" y="588026"/>
                  <a:pt x="1431541" y="505838"/>
                </a:cubicBezTo>
                <a:cubicBezTo>
                  <a:pt x="1385170" y="466092"/>
                  <a:pt x="1422816" y="483474"/>
                  <a:pt x="1373175" y="466927"/>
                </a:cubicBezTo>
                <a:cubicBezTo>
                  <a:pt x="1366690" y="457199"/>
                  <a:pt x="1362518" y="445443"/>
                  <a:pt x="1353720" y="437744"/>
                </a:cubicBezTo>
                <a:cubicBezTo>
                  <a:pt x="1336123" y="422347"/>
                  <a:pt x="1314809" y="411804"/>
                  <a:pt x="1295354" y="398834"/>
                </a:cubicBezTo>
                <a:cubicBezTo>
                  <a:pt x="1257637" y="373689"/>
                  <a:pt x="1277265" y="383076"/>
                  <a:pt x="1236988" y="369651"/>
                </a:cubicBezTo>
                <a:cubicBezTo>
                  <a:pt x="1187695" y="320355"/>
                  <a:pt x="1251487" y="378350"/>
                  <a:pt x="1188350" y="340468"/>
                </a:cubicBezTo>
                <a:cubicBezTo>
                  <a:pt x="1180485" y="335749"/>
                  <a:pt x="1176231" y="326515"/>
                  <a:pt x="1168894" y="321012"/>
                </a:cubicBezTo>
                <a:cubicBezTo>
                  <a:pt x="1150188" y="306983"/>
                  <a:pt x="1129984" y="295072"/>
                  <a:pt x="1110529" y="282102"/>
                </a:cubicBezTo>
                <a:lnTo>
                  <a:pt x="1052163" y="243191"/>
                </a:lnTo>
                <a:lnTo>
                  <a:pt x="1022980" y="233463"/>
                </a:lnTo>
                <a:cubicBezTo>
                  <a:pt x="1016495" y="226978"/>
                  <a:pt x="1011388" y="218727"/>
                  <a:pt x="1003524" y="214008"/>
                </a:cubicBezTo>
                <a:cubicBezTo>
                  <a:pt x="994731" y="208732"/>
                  <a:pt x="982348" y="210686"/>
                  <a:pt x="974341" y="204280"/>
                </a:cubicBezTo>
                <a:cubicBezTo>
                  <a:pt x="934491" y="172400"/>
                  <a:pt x="977584" y="162128"/>
                  <a:pt x="964614" y="145915"/>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42</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2268856836"/>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12</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noFill/>
            <a:ln w="19050">
              <a:solidFill>
                <a:schemeClr val="tx1"/>
              </a:solidFill>
              <a:round/>
              <a:headEnd/>
              <a:tailEnd/>
            </a:ln>
          </p:spPr>
          <p:txBody>
            <a:bodyPr wrap="none" anchor="ctr"/>
            <a:lstStyle/>
            <a:p>
              <a:pPr algn="ctr">
                <a:defRPr/>
              </a:pPr>
              <a:r>
                <a:rPr lang="en-US" sz="2400">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tx1"/>
              </a:solidFill>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tx1"/>
              </a:solidFill>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tx1"/>
              </a:solidFill>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tx1"/>
              </a:solidFill>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tx1"/>
              </a:solidFill>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tx1"/>
              </a:solidFill>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436658"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12??</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C95C6BC8-3A74-544C-8735-FC26C7D9F41A}"/>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45231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3AED8170-8860-EA44-95CD-6E05D5E8D139}"/>
              </a:ext>
            </a:extLst>
          </p:cNvPr>
          <p:cNvSpPr/>
          <p:nvPr/>
        </p:nvSpPr>
        <p:spPr>
          <a:xfrm>
            <a:off x="1887166" y="1309656"/>
            <a:ext cx="2461098" cy="1890744"/>
          </a:xfrm>
          <a:custGeom>
            <a:avLst/>
            <a:gdLst>
              <a:gd name="connsiteX0" fmla="*/ 2120630 w 2461098"/>
              <a:gd name="connsiteY0" fmla="*/ 3578 h 1890744"/>
              <a:gd name="connsiteX1" fmla="*/ 1517515 w 2461098"/>
              <a:gd name="connsiteY1" fmla="*/ 23033 h 1890744"/>
              <a:gd name="connsiteX2" fmla="*/ 1050587 w 2461098"/>
              <a:gd name="connsiteY2" fmla="*/ 32761 h 1890744"/>
              <a:gd name="connsiteX3" fmla="*/ 953311 w 2461098"/>
              <a:gd name="connsiteY3" fmla="*/ 42489 h 1890744"/>
              <a:gd name="connsiteX4" fmla="*/ 758757 w 2461098"/>
              <a:gd name="connsiteY4" fmla="*/ 61944 h 1890744"/>
              <a:gd name="connsiteX5" fmla="*/ 282102 w 2461098"/>
              <a:gd name="connsiteY5" fmla="*/ 71672 h 1890744"/>
              <a:gd name="connsiteX6" fmla="*/ 252919 w 2461098"/>
              <a:gd name="connsiteY6" fmla="*/ 81399 h 1890744"/>
              <a:gd name="connsiteX7" fmla="*/ 184825 w 2461098"/>
              <a:gd name="connsiteY7" fmla="*/ 120310 h 1890744"/>
              <a:gd name="connsiteX8" fmla="*/ 165370 w 2461098"/>
              <a:gd name="connsiteY8" fmla="*/ 149493 h 1890744"/>
              <a:gd name="connsiteX9" fmla="*/ 136187 w 2461098"/>
              <a:gd name="connsiteY9" fmla="*/ 168948 h 1890744"/>
              <a:gd name="connsiteX10" fmla="*/ 116732 w 2461098"/>
              <a:gd name="connsiteY10" fmla="*/ 188404 h 1890744"/>
              <a:gd name="connsiteX11" fmla="*/ 87549 w 2461098"/>
              <a:gd name="connsiteY11" fmla="*/ 246770 h 1890744"/>
              <a:gd name="connsiteX12" fmla="*/ 77821 w 2461098"/>
              <a:gd name="connsiteY12" fmla="*/ 275953 h 1890744"/>
              <a:gd name="connsiteX13" fmla="*/ 58366 w 2461098"/>
              <a:gd name="connsiteY13" fmla="*/ 305135 h 1890744"/>
              <a:gd name="connsiteX14" fmla="*/ 19455 w 2461098"/>
              <a:gd name="connsiteY14" fmla="*/ 392684 h 1890744"/>
              <a:gd name="connsiteX15" fmla="*/ 0 w 2461098"/>
              <a:gd name="connsiteY15" fmla="*/ 489961 h 1890744"/>
              <a:gd name="connsiteX16" fmla="*/ 9728 w 2461098"/>
              <a:gd name="connsiteY16" fmla="*/ 635876 h 1890744"/>
              <a:gd name="connsiteX17" fmla="*/ 29183 w 2461098"/>
              <a:gd name="connsiteY17" fmla="*/ 694242 h 1890744"/>
              <a:gd name="connsiteX18" fmla="*/ 77821 w 2461098"/>
              <a:gd name="connsiteY18" fmla="*/ 781791 h 1890744"/>
              <a:gd name="connsiteX19" fmla="*/ 97277 w 2461098"/>
              <a:gd name="connsiteY19" fmla="*/ 810974 h 1890744"/>
              <a:gd name="connsiteX20" fmla="*/ 116732 w 2461098"/>
              <a:gd name="connsiteY20" fmla="*/ 840157 h 1890744"/>
              <a:gd name="connsiteX21" fmla="*/ 175098 w 2461098"/>
              <a:gd name="connsiteY21" fmla="*/ 898523 h 1890744"/>
              <a:gd name="connsiteX22" fmla="*/ 252919 w 2461098"/>
              <a:gd name="connsiteY22" fmla="*/ 986072 h 1890744"/>
              <a:gd name="connsiteX23" fmla="*/ 282102 w 2461098"/>
              <a:gd name="connsiteY23" fmla="*/ 995799 h 1890744"/>
              <a:gd name="connsiteX24" fmla="*/ 350196 w 2461098"/>
              <a:gd name="connsiteY24" fmla="*/ 1063893 h 1890744"/>
              <a:gd name="connsiteX25" fmla="*/ 379379 w 2461098"/>
              <a:gd name="connsiteY25" fmla="*/ 1093076 h 1890744"/>
              <a:gd name="connsiteX26" fmla="*/ 418289 w 2461098"/>
              <a:gd name="connsiteY26" fmla="*/ 1151442 h 1890744"/>
              <a:gd name="connsiteX27" fmla="*/ 437745 w 2461098"/>
              <a:gd name="connsiteY27" fmla="*/ 1170897 h 1890744"/>
              <a:gd name="connsiteX28" fmla="*/ 476655 w 2461098"/>
              <a:gd name="connsiteY28" fmla="*/ 1229263 h 1890744"/>
              <a:gd name="connsiteX29" fmla="*/ 515566 w 2461098"/>
              <a:gd name="connsiteY29" fmla="*/ 1268174 h 1890744"/>
              <a:gd name="connsiteX30" fmla="*/ 544749 w 2461098"/>
              <a:gd name="connsiteY30" fmla="*/ 1297357 h 1890744"/>
              <a:gd name="connsiteX31" fmla="*/ 603115 w 2461098"/>
              <a:gd name="connsiteY31" fmla="*/ 1345995 h 1890744"/>
              <a:gd name="connsiteX32" fmla="*/ 632298 w 2461098"/>
              <a:gd name="connsiteY32" fmla="*/ 1365450 h 1890744"/>
              <a:gd name="connsiteX33" fmla="*/ 651753 w 2461098"/>
              <a:gd name="connsiteY33" fmla="*/ 1384906 h 1890744"/>
              <a:gd name="connsiteX34" fmla="*/ 690664 w 2461098"/>
              <a:gd name="connsiteY34" fmla="*/ 1414089 h 1890744"/>
              <a:gd name="connsiteX35" fmla="*/ 719847 w 2461098"/>
              <a:gd name="connsiteY35" fmla="*/ 1443272 h 1890744"/>
              <a:gd name="connsiteX36" fmla="*/ 778213 w 2461098"/>
              <a:gd name="connsiteY36" fmla="*/ 1482182 h 1890744"/>
              <a:gd name="connsiteX37" fmla="*/ 826851 w 2461098"/>
              <a:gd name="connsiteY37" fmla="*/ 1511365 h 1890744"/>
              <a:gd name="connsiteX38" fmla="*/ 875489 w 2461098"/>
              <a:gd name="connsiteY38" fmla="*/ 1540548 h 1890744"/>
              <a:gd name="connsiteX39" fmla="*/ 924128 w 2461098"/>
              <a:gd name="connsiteY39" fmla="*/ 1569731 h 1890744"/>
              <a:gd name="connsiteX40" fmla="*/ 982494 w 2461098"/>
              <a:gd name="connsiteY40" fmla="*/ 1608642 h 1890744"/>
              <a:gd name="connsiteX41" fmla="*/ 1011677 w 2461098"/>
              <a:gd name="connsiteY41" fmla="*/ 1618370 h 1890744"/>
              <a:gd name="connsiteX42" fmla="*/ 1070043 w 2461098"/>
              <a:gd name="connsiteY42" fmla="*/ 1657280 h 1890744"/>
              <a:gd name="connsiteX43" fmla="*/ 1157591 w 2461098"/>
              <a:gd name="connsiteY43" fmla="*/ 1686463 h 1890744"/>
              <a:gd name="connsiteX44" fmla="*/ 1186774 w 2461098"/>
              <a:gd name="connsiteY44" fmla="*/ 1696191 h 1890744"/>
              <a:gd name="connsiteX45" fmla="*/ 1274323 w 2461098"/>
              <a:gd name="connsiteY45" fmla="*/ 1735101 h 1890744"/>
              <a:gd name="connsiteX46" fmla="*/ 1342417 w 2461098"/>
              <a:gd name="connsiteY46" fmla="*/ 1754557 h 1890744"/>
              <a:gd name="connsiteX47" fmla="*/ 1371600 w 2461098"/>
              <a:gd name="connsiteY47" fmla="*/ 1774012 h 1890744"/>
              <a:gd name="connsiteX48" fmla="*/ 1488332 w 2461098"/>
              <a:gd name="connsiteY48" fmla="*/ 1803195 h 1890744"/>
              <a:gd name="connsiteX49" fmla="*/ 1546698 w 2461098"/>
              <a:gd name="connsiteY49" fmla="*/ 1832378 h 1890744"/>
              <a:gd name="connsiteX50" fmla="*/ 1605064 w 2461098"/>
              <a:gd name="connsiteY50" fmla="*/ 1851833 h 1890744"/>
              <a:gd name="connsiteX51" fmla="*/ 1634247 w 2461098"/>
              <a:gd name="connsiteY51" fmla="*/ 1861561 h 1890744"/>
              <a:gd name="connsiteX52" fmla="*/ 1663430 w 2461098"/>
              <a:gd name="connsiteY52" fmla="*/ 1871289 h 1890744"/>
              <a:gd name="connsiteX53" fmla="*/ 1741251 w 2461098"/>
              <a:gd name="connsiteY53" fmla="*/ 1890744 h 1890744"/>
              <a:gd name="connsiteX54" fmla="*/ 2033081 w 2461098"/>
              <a:gd name="connsiteY54" fmla="*/ 1871289 h 1890744"/>
              <a:gd name="connsiteX55" fmla="*/ 2062264 w 2461098"/>
              <a:gd name="connsiteY55" fmla="*/ 1861561 h 1890744"/>
              <a:gd name="connsiteX56" fmla="*/ 2110902 w 2461098"/>
              <a:gd name="connsiteY56" fmla="*/ 1822650 h 1890744"/>
              <a:gd name="connsiteX57" fmla="*/ 2140085 w 2461098"/>
              <a:gd name="connsiteY57" fmla="*/ 1803195 h 1890744"/>
              <a:gd name="connsiteX58" fmla="*/ 2169268 w 2461098"/>
              <a:gd name="connsiteY58" fmla="*/ 1744829 h 1890744"/>
              <a:gd name="connsiteX59" fmla="*/ 2198451 w 2461098"/>
              <a:gd name="connsiteY59" fmla="*/ 1686463 h 1890744"/>
              <a:gd name="connsiteX60" fmla="*/ 2227634 w 2461098"/>
              <a:gd name="connsiteY60" fmla="*/ 1579459 h 1890744"/>
              <a:gd name="connsiteX61" fmla="*/ 2237362 w 2461098"/>
              <a:gd name="connsiteY61" fmla="*/ 1550276 h 1890744"/>
              <a:gd name="connsiteX62" fmla="*/ 2256817 w 2461098"/>
              <a:gd name="connsiteY62" fmla="*/ 1521093 h 1890744"/>
              <a:gd name="connsiteX63" fmla="*/ 2295728 w 2461098"/>
              <a:gd name="connsiteY63" fmla="*/ 1443272 h 1890744"/>
              <a:gd name="connsiteX64" fmla="*/ 2324911 w 2461098"/>
              <a:gd name="connsiteY64" fmla="*/ 1345995 h 1890744"/>
              <a:gd name="connsiteX65" fmla="*/ 2334638 w 2461098"/>
              <a:gd name="connsiteY65" fmla="*/ 1316812 h 1890744"/>
              <a:gd name="connsiteX66" fmla="*/ 2363821 w 2461098"/>
              <a:gd name="connsiteY66" fmla="*/ 1190353 h 1890744"/>
              <a:gd name="connsiteX67" fmla="*/ 2383277 w 2461098"/>
              <a:gd name="connsiteY67" fmla="*/ 1122259 h 1890744"/>
              <a:gd name="connsiteX68" fmla="*/ 2393004 w 2461098"/>
              <a:gd name="connsiteY68" fmla="*/ 1063893 h 1890744"/>
              <a:gd name="connsiteX69" fmla="*/ 2422187 w 2461098"/>
              <a:gd name="connsiteY69" fmla="*/ 898523 h 1890744"/>
              <a:gd name="connsiteX70" fmla="*/ 2441643 w 2461098"/>
              <a:gd name="connsiteY70" fmla="*/ 733153 h 1890744"/>
              <a:gd name="connsiteX71" fmla="*/ 2461098 w 2461098"/>
              <a:gd name="connsiteY71" fmla="*/ 587238 h 1890744"/>
              <a:gd name="connsiteX72" fmla="*/ 2451370 w 2461098"/>
              <a:gd name="connsiteY72" fmla="*/ 334318 h 1890744"/>
              <a:gd name="connsiteX73" fmla="*/ 2431915 w 2461098"/>
              <a:gd name="connsiteY73" fmla="*/ 266225 h 1890744"/>
              <a:gd name="connsiteX74" fmla="*/ 2412460 w 2461098"/>
              <a:gd name="connsiteY74" fmla="*/ 198131 h 1890744"/>
              <a:gd name="connsiteX75" fmla="*/ 2393004 w 2461098"/>
              <a:gd name="connsiteY75" fmla="*/ 178676 h 1890744"/>
              <a:gd name="connsiteX76" fmla="*/ 2334638 w 2461098"/>
              <a:gd name="connsiteY76" fmla="*/ 100855 h 1890744"/>
              <a:gd name="connsiteX77" fmla="*/ 2276272 w 2461098"/>
              <a:gd name="connsiteY77" fmla="*/ 61944 h 1890744"/>
              <a:gd name="connsiteX78" fmla="*/ 2247089 w 2461098"/>
              <a:gd name="connsiteY78" fmla="*/ 42489 h 1890744"/>
              <a:gd name="connsiteX79" fmla="*/ 2217906 w 2461098"/>
              <a:gd name="connsiteY79" fmla="*/ 32761 h 1890744"/>
              <a:gd name="connsiteX80" fmla="*/ 2188723 w 2461098"/>
              <a:gd name="connsiteY80" fmla="*/ 13306 h 1890744"/>
              <a:gd name="connsiteX81" fmla="*/ 2159540 w 2461098"/>
              <a:gd name="connsiteY81" fmla="*/ 3578 h 1890744"/>
              <a:gd name="connsiteX82" fmla="*/ 2120630 w 2461098"/>
              <a:gd name="connsiteY82" fmla="*/ 3578 h 1890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461098" h="1890744">
                <a:moveTo>
                  <a:pt x="2120630" y="3578"/>
                </a:moveTo>
                <a:cubicBezTo>
                  <a:pt x="1875241" y="38635"/>
                  <a:pt x="2081050" y="12091"/>
                  <a:pt x="1517515" y="23033"/>
                </a:cubicBezTo>
                <a:lnTo>
                  <a:pt x="1050587" y="32761"/>
                </a:lnTo>
                <a:lnTo>
                  <a:pt x="953311" y="42489"/>
                </a:lnTo>
                <a:cubicBezTo>
                  <a:pt x="877785" y="50881"/>
                  <a:pt x="840245" y="59272"/>
                  <a:pt x="758757" y="61944"/>
                </a:cubicBezTo>
                <a:cubicBezTo>
                  <a:pt x="599924" y="67152"/>
                  <a:pt x="440987" y="68429"/>
                  <a:pt x="282102" y="71672"/>
                </a:cubicBezTo>
                <a:cubicBezTo>
                  <a:pt x="272374" y="74914"/>
                  <a:pt x="262344" y="77360"/>
                  <a:pt x="252919" y="81399"/>
                </a:cubicBezTo>
                <a:cubicBezTo>
                  <a:pt x="218365" y="96208"/>
                  <a:pt x="214131" y="100773"/>
                  <a:pt x="184825" y="120310"/>
                </a:cubicBezTo>
                <a:cubicBezTo>
                  <a:pt x="178340" y="130038"/>
                  <a:pt x="173637" y="141226"/>
                  <a:pt x="165370" y="149493"/>
                </a:cubicBezTo>
                <a:cubicBezTo>
                  <a:pt x="157103" y="157760"/>
                  <a:pt x="145316" y="161645"/>
                  <a:pt x="136187" y="168948"/>
                </a:cubicBezTo>
                <a:cubicBezTo>
                  <a:pt x="129025" y="174677"/>
                  <a:pt x="123217" y="181919"/>
                  <a:pt x="116732" y="188404"/>
                </a:cubicBezTo>
                <a:cubicBezTo>
                  <a:pt x="92280" y="261757"/>
                  <a:pt x="125264" y="171340"/>
                  <a:pt x="87549" y="246770"/>
                </a:cubicBezTo>
                <a:cubicBezTo>
                  <a:pt x="82963" y="255941"/>
                  <a:pt x="82407" y="266782"/>
                  <a:pt x="77821" y="275953"/>
                </a:cubicBezTo>
                <a:cubicBezTo>
                  <a:pt x="72593" y="286410"/>
                  <a:pt x="63114" y="294452"/>
                  <a:pt x="58366" y="305135"/>
                </a:cubicBezTo>
                <a:cubicBezTo>
                  <a:pt x="12063" y="409318"/>
                  <a:pt x="63485" y="326641"/>
                  <a:pt x="19455" y="392684"/>
                </a:cubicBezTo>
                <a:cubicBezTo>
                  <a:pt x="13029" y="418392"/>
                  <a:pt x="0" y="466115"/>
                  <a:pt x="0" y="489961"/>
                </a:cubicBezTo>
                <a:cubicBezTo>
                  <a:pt x="0" y="538707"/>
                  <a:pt x="2834" y="587620"/>
                  <a:pt x="9728" y="635876"/>
                </a:cubicBezTo>
                <a:cubicBezTo>
                  <a:pt x="12628" y="656178"/>
                  <a:pt x="22698" y="674787"/>
                  <a:pt x="29183" y="694242"/>
                </a:cubicBezTo>
                <a:cubicBezTo>
                  <a:pt x="46304" y="745605"/>
                  <a:pt x="33227" y="714900"/>
                  <a:pt x="77821" y="781791"/>
                </a:cubicBezTo>
                <a:lnTo>
                  <a:pt x="97277" y="810974"/>
                </a:lnTo>
                <a:cubicBezTo>
                  <a:pt x="103762" y="820702"/>
                  <a:pt x="108465" y="831890"/>
                  <a:pt x="116732" y="840157"/>
                </a:cubicBezTo>
                <a:cubicBezTo>
                  <a:pt x="136187" y="859612"/>
                  <a:pt x="159836" y="875630"/>
                  <a:pt x="175098" y="898523"/>
                </a:cubicBezTo>
                <a:cubicBezTo>
                  <a:pt x="193636" y="926330"/>
                  <a:pt x="224362" y="976554"/>
                  <a:pt x="252919" y="986072"/>
                </a:cubicBezTo>
                <a:lnTo>
                  <a:pt x="282102" y="995799"/>
                </a:lnTo>
                <a:lnTo>
                  <a:pt x="350196" y="1063893"/>
                </a:lnTo>
                <a:cubicBezTo>
                  <a:pt x="359924" y="1073621"/>
                  <a:pt x="371748" y="1081629"/>
                  <a:pt x="379379" y="1093076"/>
                </a:cubicBezTo>
                <a:cubicBezTo>
                  <a:pt x="392349" y="1112531"/>
                  <a:pt x="401755" y="1134909"/>
                  <a:pt x="418289" y="1151442"/>
                </a:cubicBezTo>
                <a:cubicBezTo>
                  <a:pt x="424774" y="1157927"/>
                  <a:pt x="432242" y="1163560"/>
                  <a:pt x="437745" y="1170897"/>
                </a:cubicBezTo>
                <a:cubicBezTo>
                  <a:pt x="451774" y="1189603"/>
                  <a:pt x="460121" y="1212729"/>
                  <a:pt x="476655" y="1229263"/>
                </a:cubicBezTo>
                <a:lnTo>
                  <a:pt x="515566" y="1268174"/>
                </a:lnTo>
                <a:cubicBezTo>
                  <a:pt x="525294" y="1277902"/>
                  <a:pt x="533302" y="1289726"/>
                  <a:pt x="544749" y="1297357"/>
                </a:cubicBezTo>
                <a:cubicBezTo>
                  <a:pt x="617205" y="1345660"/>
                  <a:pt x="528215" y="1283579"/>
                  <a:pt x="603115" y="1345995"/>
                </a:cubicBezTo>
                <a:cubicBezTo>
                  <a:pt x="612096" y="1353479"/>
                  <a:pt x="623169" y="1358147"/>
                  <a:pt x="632298" y="1365450"/>
                </a:cubicBezTo>
                <a:cubicBezTo>
                  <a:pt x="639460" y="1371179"/>
                  <a:pt x="644707" y="1379035"/>
                  <a:pt x="651753" y="1384906"/>
                </a:cubicBezTo>
                <a:cubicBezTo>
                  <a:pt x="664208" y="1395285"/>
                  <a:pt x="678354" y="1403538"/>
                  <a:pt x="690664" y="1414089"/>
                </a:cubicBezTo>
                <a:cubicBezTo>
                  <a:pt x="701109" y="1423042"/>
                  <a:pt x="708988" y="1434826"/>
                  <a:pt x="719847" y="1443272"/>
                </a:cubicBezTo>
                <a:cubicBezTo>
                  <a:pt x="738304" y="1457627"/>
                  <a:pt x="761680" y="1465648"/>
                  <a:pt x="778213" y="1482182"/>
                </a:cubicBezTo>
                <a:cubicBezTo>
                  <a:pt x="804918" y="1508889"/>
                  <a:pt x="788967" y="1498738"/>
                  <a:pt x="826851" y="1511365"/>
                </a:cubicBezTo>
                <a:cubicBezTo>
                  <a:pt x="876144" y="1560661"/>
                  <a:pt x="812352" y="1502666"/>
                  <a:pt x="875489" y="1540548"/>
                </a:cubicBezTo>
                <a:cubicBezTo>
                  <a:pt x="942254" y="1580606"/>
                  <a:pt x="841459" y="1542177"/>
                  <a:pt x="924128" y="1569731"/>
                </a:cubicBezTo>
                <a:cubicBezTo>
                  <a:pt x="943583" y="1582701"/>
                  <a:pt x="960312" y="1601248"/>
                  <a:pt x="982494" y="1608642"/>
                </a:cubicBezTo>
                <a:cubicBezTo>
                  <a:pt x="992222" y="1611885"/>
                  <a:pt x="1002713" y="1613390"/>
                  <a:pt x="1011677" y="1618370"/>
                </a:cubicBezTo>
                <a:cubicBezTo>
                  <a:pt x="1032117" y="1629725"/>
                  <a:pt x="1047861" y="1649886"/>
                  <a:pt x="1070043" y="1657280"/>
                </a:cubicBezTo>
                <a:lnTo>
                  <a:pt x="1157591" y="1686463"/>
                </a:lnTo>
                <a:cubicBezTo>
                  <a:pt x="1167319" y="1689706"/>
                  <a:pt x="1178242" y="1690503"/>
                  <a:pt x="1186774" y="1696191"/>
                </a:cubicBezTo>
                <a:cubicBezTo>
                  <a:pt x="1225102" y="1721743"/>
                  <a:pt x="1218756" y="1721209"/>
                  <a:pt x="1274323" y="1735101"/>
                </a:cubicBezTo>
                <a:cubicBezTo>
                  <a:pt x="1286792" y="1738218"/>
                  <a:pt x="1328460" y="1747579"/>
                  <a:pt x="1342417" y="1754557"/>
                </a:cubicBezTo>
                <a:cubicBezTo>
                  <a:pt x="1352874" y="1759785"/>
                  <a:pt x="1360613" y="1770017"/>
                  <a:pt x="1371600" y="1774012"/>
                </a:cubicBezTo>
                <a:cubicBezTo>
                  <a:pt x="1478636" y="1812934"/>
                  <a:pt x="1415358" y="1778870"/>
                  <a:pt x="1488332" y="1803195"/>
                </a:cubicBezTo>
                <a:cubicBezTo>
                  <a:pt x="1594773" y="1838677"/>
                  <a:pt x="1433542" y="1782087"/>
                  <a:pt x="1546698" y="1832378"/>
                </a:cubicBezTo>
                <a:cubicBezTo>
                  <a:pt x="1565438" y="1840707"/>
                  <a:pt x="1585609" y="1845348"/>
                  <a:pt x="1605064" y="1851833"/>
                </a:cubicBezTo>
                <a:lnTo>
                  <a:pt x="1634247" y="1861561"/>
                </a:lnTo>
                <a:cubicBezTo>
                  <a:pt x="1643975" y="1864804"/>
                  <a:pt x="1653375" y="1869278"/>
                  <a:pt x="1663430" y="1871289"/>
                </a:cubicBezTo>
                <a:cubicBezTo>
                  <a:pt x="1722123" y="1883027"/>
                  <a:pt x="1696383" y="1875787"/>
                  <a:pt x="1741251" y="1890744"/>
                </a:cubicBezTo>
                <a:cubicBezTo>
                  <a:pt x="1851166" y="1886347"/>
                  <a:pt x="1935417" y="1895705"/>
                  <a:pt x="2033081" y="1871289"/>
                </a:cubicBezTo>
                <a:cubicBezTo>
                  <a:pt x="2043029" y="1868802"/>
                  <a:pt x="2053093" y="1866147"/>
                  <a:pt x="2062264" y="1861561"/>
                </a:cubicBezTo>
                <a:cubicBezTo>
                  <a:pt x="2102190" y="1841598"/>
                  <a:pt x="2080739" y="1846781"/>
                  <a:pt x="2110902" y="1822650"/>
                </a:cubicBezTo>
                <a:cubicBezTo>
                  <a:pt x="2120031" y="1815347"/>
                  <a:pt x="2130357" y="1809680"/>
                  <a:pt x="2140085" y="1803195"/>
                </a:cubicBezTo>
                <a:cubicBezTo>
                  <a:pt x="2195840" y="1719561"/>
                  <a:pt x="2128994" y="1825377"/>
                  <a:pt x="2169268" y="1744829"/>
                </a:cubicBezTo>
                <a:cubicBezTo>
                  <a:pt x="2193043" y="1697279"/>
                  <a:pt x="2186225" y="1735363"/>
                  <a:pt x="2198451" y="1686463"/>
                </a:cubicBezTo>
                <a:cubicBezTo>
                  <a:pt x="2225951" y="1576465"/>
                  <a:pt x="2185895" y="1704675"/>
                  <a:pt x="2227634" y="1579459"/>
                </a:cubicBezTo>
                <a:cubicBezTo>
                  <a:pt x="2230877" y="1569731"/>
                  <a:pt x="2231674" y="1558808"/>
                  <a:pt x="2237362" y="1550276"/>
                </a:cubicBezTo>
                <a:cubicBezTo>
                  <a:pt x="2243847" y="1540548"/>
                  <a:pt x="2252069" y="1531777"/>
                  <a:pt x="2256817" y="1521093"/>
                </a:cubicBezTo>
                <a:cubicBezTo>
                  <a:pt x="2292585" y="1440615"/>
                  <a:pt x="2255772" y="1483226"/>
                  <a:pt x="2295728" y="1443272"/>
                </a:cubicBezTo>
                <a:cubicBezTo>
                  <a:pt x="2341953" y="1304595"/>
                  <a:pt x="2295513" y="1448890"/>
                  <a:pt x="2324911" y="1345995"/>
                </a:cubicBezTo>
                <a:cubicBezTo>
                  <a:pt x="2327728" y="1336136"/>
                  <a:pt x="2332151" y="1326760"/>
                  <a:pt x="2334638" y="1316812"/>
                </a:cubicBezTo>
                <a:cubicBezTo>
                  <a:pt x="2350067" y="1255097"/>
                  <a:pt x="2339618" y="1262960"/>
                  <a:pt x="2363821" y="1190353"/>
                </a:cubicBezTo>
                <a:cubicBezTo>
                  <a:pt x="2373092" y="1162540"/>
                  <a:pt x="2377170" y="1152794"/>
                  <a:pt x="2383277" y="1122259"/>
                </a:cubicBezTo>
                <a:cubicBezTo>
                  <a:pt x="2387145" y="1102918"/>
                  <a:pt x="2389476" y="1083299"/>
                  <a:pt x="2393004" y="1063893"/>
                </a:cubicBezTo>
                <a:cubicBezTo>
                  <a:pt x="2406529" y="989503"/>
                  <a:pt x="2409412" y="1000717"/>
                  <a:pt x="2422187" y="898523"/>
                </a:cubicBezTo>
                <a:cubicBezTo>
                  <a:pt x="2446769" y="701870"/>
                  <a:pt x="2416435" y="947426"/>
                  <a:pt x="2441643" y="733153"/>
                </a:cubicBezTo>
                <a:cubicBezTo>
                  <a:pt x="2450029" y="661873"/>
                  <a:pt x="2451343" y="655519"/>
                  <a:pt x="2461098" y="587238"/>
                </a:cubicBezTo>
                <a:cubicBezTo>
                  <a:pt x="2457855" y="502931"/>
                  <a:pt x="2456982" y="418500"/>
                  <a:pt x="2451370" y="334318"/>
                </a:cubicBezTo>
                <a:cubicBezTo>
                  <a:pt x="2450048" y="314481"/>
                  <a:pt x="2437517" y="285833"/>
                  <a:pt x="2431915" y="266225"/>
                </a:cubicBezTo>
                <a:cubicBezTo>
                  <a:pt x="2429604" y="258136"/>
                  <a:pt x="2418819" y="208729"/>
                  <a:pt x="2412460" y="198131"/>
                </a:cubicBezTo>
                <a:cubicBezTo>
                  <a:pt x="2407741" y="190267"/>
                  <a:pt x="2398507" y="186013"/>
                  <a:pt x="2393004" y="178676"/>
                </a:cubicBezTo>
                <a:cubicBezTo>
                  <a:pt x="2375751" y="155672"/>
                  <a:pt x="2360138" y="119980"/>
                  <a:pt x="2334638" y="100855"/>
                </a:cubicBezTo>
                <a:cubicBezTo>
                  <a:pt x="2315932" y="86826"/>
                  <a:pt x="2295727" y="74914"/>
                  <a:pt x="2276272" y="61944"/>
                </a:cubicBezTo>
                <a:cubicBezTo>
                  <a:pt x="2266544" y="55459"/>
                  <a:pt x="2258180" y="46186"/>
                  <a:pt x="2247089" y="42489"/>
                </a:cubicBezTo>
                <a:cubicBezTo>
                  <a:pt x="2237361" y="39246"/>
                  <a:pt x="2227077" y="37347"/>
                  <a:pt x="2217906" y="32761"/>
                </a:cubicBezTo>
                <a:cubicBezTo>
                  <a:pt x="2207449" y="27533"/>
                  <a:pt x="2199180" y="18534"/>
                  <a:pt x="2188723" y="13306"/>
                </a:cubicBezTo>
                <a:cubicBezTo>
                  <a:pt x="2179552" y="8720"/>
                  <a:pt x="2169060" y="7386"/>
                  <a:pt x="2159540" y="3578"/>
                </a:cubicBezTo>
                <a:cubicBezTo>
                  <a:pt x="2152808" y="885"/>
                  <a:pt x="2146570" y="-2907"/>
                  <a:pt x="2120630" y="3578"/>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43</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 B</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865590524"/>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12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4</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B</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tx1"/>
              </a:solidFill>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bg1">
                  <a:lumMod val="65000"/>
                </a:schemeClr>
              </a:solidFill>
              <a:prstDash val="dash"/>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tx1"/>
              </a:solidFill>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tx1"/>
              </a:solidFill>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bg1">
                  <a:lumMod val="65000"/>
                </a:schemeClr>
              </a:solidFill>
              <a:prstDash val="dash"/>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436658"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12??</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27FD4101-5087-6249-BB91-19AA1115C130}"/>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49725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51B326B2-6A95-9145-B059-D1FF3F86C887}"/>
              </a:ext>
            </a:extLst>
          </p:cNvPr>
          <p:cNvSpPr/>
          <p:nvPr/>
        </p:nvSpPr>
        <p:spPr>
          <a:xfrm>
            <a:off x="1702340" y="1313234"/>
            <a:ext cx="2752928" cy="2217906"/>
          </a:xfrm>
          <a:custGeom>
            <a:avLst/>
            <a:gdLst>
              <a:gd name="connsiteX0" fmla="*/ 1566154 w 2752928"/>
              <a:gd name="connsiteY0" fmla="*/ 48638 h 2217906"/>
              <a:gd name="connsiteX1" fmla="*/ 1060315 w 2752928"/>
              <a:gd name="connsiteY1" fmla="*/ 48638 h 2217906"/>
              <a:gd name="connsiteX2" fmla="*/ 700392 w 2752928"/>
              <a:gd name="connsiteY2" fmla="*/ 38911 h 2217906"/>
              <a:gd name="connsiteX3" fmla="*/ 515566 w 2752928"/>
              <a:gd name="connsiteY3" fmla="*/ 48638 h 2217906"/>
              <a:gd name="connsiteX4" fmla="*/ 418290 w 2752928"/>
              <a:gd name="connsiteY4" fmla="*/ 77821 h 2217906"/>
              <a:gd name="connsiteX5" fmla="*/ 389107 w 2752928"/>
              <a:gd name="connsiteY5" fmla="*/ 87549 h 2217906"/>
              <a:gd name="connsiteX6" fmla="*/ 330741 w 2752928"/>
              <a:gd name="connsiteY6" fmla="*/ 116732 h 2217906"/>
              <a:gd name="connsiteX7" fmla="*/ 272375 w 2752928"/>
              <a:gd name="connsiteY7" fmla="*/ 155643 h 2217906"/>
              <a:gd name="connsiteX8" fmla="*/ 243192 w 2752928"/>
              <a:gd name="connsiteY8" fmla="*/ 175098 h 2217906"/>
              <a:gd name="connsiteX9" fmla="*/ 214009 w 2752928"/>
              <a:gd name="connsiteY9" fmla="*/ 233464 h 2217906"/>
              <a:gd name="connsiteX10" fmla="*/ 194554 w 2752928"/>
              <a:gd name="connsiteY10" fmla="*/ 272375 h 2217906"/>
              <a:gd name="connsiteX11" fmla="*/ 175098 w 2752928"/>
              <a:gd name="connsiteY11" fmla="*/ 330740 h 2217906"/>
              <a:gd name="connsiteX12" fmla="*/ 165371 w 2752928"/>
              <a:gd name="connsiteY12" fmla="*/ 359923 h 2217906"/>
              <a:gd name="connsiteX13" fmla="*/ 155643 w 2752928"/>
              <a:gd name="connsiteY13" fmla="*/ 389106 h 2217906"/>
              <a:gd name="connsiteX14" fmla="*/ 145915 w 2752928"/>
              <a:gd name="connsiteY14" fmla="*/ 428017 h 2217906"/>
              <a:gd name="connsiteX15" fmla="*/ 136188 w 2752928"/>
              <a:gd name="connsiteY15" fmla="*/ 457200 h 2217906"/>
              <a:gd name="connsiteX16" fmla="*/ 116732 w 2752928"/>
              <a:gd name="connsiteY16" fmla="*/ 535021 h 2217906"/>
              <a:gd name="connsiteX17" fmla="*/ 97277 w 2752928"/>
              <a:gd name="connsiteY17" fmla="*/ 612843 h 2217906"/>
              <a:gd name="connsiteX18" fmla="*/ 87549 w 2752928"/>
              <a:gd name="connsiteY18" fmla="*/ 651753 h 2217906"/>
              <a:gd name="connsiteX19" fmla="*/ 68094 w 2752928"/>
              <a:gd name="connsiteY19" fmla="*/ 778213 h 2217906"/>
              <a:gd name="connsiteX20" fmla="*/ 58366 w 2752928"/>
              <a:gd name="connsiteY20" fmla="*/ 856034 h 2217906"/>
              <a:gd name="connsiteX21" fmla="*/ 48639 w 2752928"/>
              <a:gd name="connsiteY21" fmla="*/ 904672 h 2217906"/>
              <a:gd name="connsiteX22" fmla="*/ 38911 w 2752928"/>
              <a:gd name="connsiteY22" fmla="*/ 1001949 h 2217906"/>
              <a:gd name="connsiteX23" fmla="*/ 29183 w 2752928"/>
              <a:gd name="connsiteY23" fmla="*/ 1089498 h 2217906"/>
              <a:gd name="connsiteX24" fmla="*/ 19456 w 2752928"/>
              <a:gd name="connsiteY24" fmla="*/ 1225685 h 2217906"/>
              <a:gd name="connsiteX25" fmla="*/ 0 w 2752928"/>
              <a:gd name="connsiteY25" fmla="*/ 1634247 h 2217906"/>
              <a:gd name="connsiteX26" fmla="*/ 19456 w 2752928"/>
              <a:gd name="connsiteY26" fmla="*/ 1916349 h 2217906"/>
              <a:gd name="connsiteX27" fmla="*/ 38911 w 2752928"/>
              <a:gd name="connsiteY27" fmla="*/ 1974715 h 2217906"/>
              <a:gd name="connsiteX28" fmla="*/ 77822 w 2752928"/>
              <a:gd name="connsiteY28" fmla="*/ 2023353 h 2217906"/>
              <a:gd name="connsiteX29" fmla="*/ 136188 w 2752928"/>
              <a:gd name="connsiteY29" fmla="*/ 2101175 h 2217906"/>
              <a:gd name="connsiteX30" fmla="*/ 194554 w 2752928"/>
              <a:gd name="connsiteY30" fmla="*/ 2149813 h 2217906"/>
              <a:gd name="connsiteX31" fmla="*/ 223737 w 2752928"/>
              <a:gd name="connsiteY31" fmla="*/ 2178996 h 2217906"/>
              <a:gd name="connsiteX32" fmla="*/ 282103 w 2752928"/>
              <a:gd name="connsiteY32" fmla="*/ 2198451 h 2217906"/>
              <a:gd name="connsiteX33" fmla="*/ 437745 w 2752928"/>
              <a:gd name="connsiteY33" fmla="*/ 2217906 h 2217906"/>
              <a:gd name="connsiteX34" fmla="*/ 710120 w 2752928"/>
              <a:gd name="connsiteY34" fmla="*/ 2198451 h 2217906"/>
              <a:gd name="connsiteX35" fmla="*/ 768486 w 2752928"/>
              <a:gd name="connsiteY35" fmla="*/ 2178996 h 2217906"/>
              <a:gd name="connsiteX36" fmla="*/ 807396 w 2752928"/>
              <a:gd name="connsiteY36" fmla="*/ 2169268 h 2217906"/>
              <a:gd name="connsiteX37" fmla="*/ 865762 w 2752928"/>
              <a:gd name="connsiteY37" fmla="*/ 2149813 h 2217906"/>
              <a:gd name="connsiteX38" fmla="*/ 933856 w 2752928"/>
              <a:gd name="connsiteY38" fmla="*/ 2130357 h 2217906"/>
              <a:gd name="connsiteX39" fmla="*/ 972766 w 2752928"/>
              <a:gd name="connsiteY39" fmla="*/ 2120630 h 2217906"/>
              <a:gd name="connsiteX40" fmla="*/ 1108954 w 2752928"/>
              <a:gd name="connsiteY40" fmla="*/ 2081719 h 2217906"/>
              <a:gd name="connsiteX41" fmla="*/ 1147864 w 2752928"/>
              <a:gd name="connsiteY41" fmla="*/ 2071992 h 2217906"/>
              <a:gd name="connsiteX42" fmla="*/ 1352145 w 2752928"/>
              <a:gd name="connsiteY42" fmla="*/ 2042809 h 2217906"/>
              <a:gd name="connsiteX43" fmla="*/ 1692613 w 2752928"/>
              <a:gd name="connsiteY43" fmla="*/ 2033081 h 2217906"/>
              <a:gd name="connsiteX44" fmla="*/ 2003898 w 2752928"/>
              <a:gd name="connsiteY44" fmla="*/ 2003898 h 2217906"/>
              <a:gd name="connsiteX45" fmla="*/ 2101175 w 2752928"/>
              <a:gd name="connsiteY45" fmla="*/ 1984443 h 2217906"/>
              <a:gd name="connsiteX46" fmla="*/ 2130358 w 2752928"/>
              <a:gd name="connsiteY46" fmla="*/ 1974715 h 2217906"/>
              <a:gd name="connsiteX47" fmla="*/ 2159541 w 2752928"/>
              <a:gd name="connsiteY47" fmla="*/ 1955260 h 2217906"/>
              <a:gd name="connsiteX48" fmla="*/ 2217907 w 2752928"/>
              <a:gd name="connsiteY48" fmla="*/ 1935804 h 2217906"/>
              <a:gd name="connsiteX49" fmla="*/ 2276273 w 2752928"/>
              <a:gd name="connsiteY49" fmla="*/ 1896894 h 2217906"/>
              <a:gd name="connsiteX50" fmla="*/ 2295728 w 2752928"/>
              <a:gd name="connsiteY50" fmla="*/ 1877438 h 2217906"/>
              <a:gd name="connsiteX51" fmla="*/ 2354094 w 2752928"/>
              <a:gd name="connsiteY51" fmla="*/ 1838528 h 2217906"/>
              <a:gd name="connsiteX52" fmla="*/ 2412460 w 2752928"/>
              <a:gd name="connsiteY52" fmla="*/ 1770434 h 2217906"/>
              <a:gd name="connsiteX53" fmla="*/ 2431915 w 2752928"/>
              <a:gd name="connsiteY53" fmla="*/ 1712068 h 2217906"/>
              <a:gd name="connsiteX54" fmla="*/ 2441643 w 2752928"/>
              <a:gd name="connsiteY54" fmla="*/ 1682885 h 2217906"/>
              <a:gd name="connsiteX55" fmla="*/ 2461098 w 2752928"/>
              <a:gd name="connsiteY55" fmla="*/ 1624519 h 2217906"/>
              <a:gd name="connsiteX56" fmla="*/ 2470826 w 2752928"/>
              <a:gd name="connsiteY56" fmla="*/ 1595336 h 2217906"/>
              <a:gd name="connsiteX57" fmla="*/ 2480554 w 2752928"/>
              <a:gd name="connsiteY57" fmla="*/ 1556426 h 2217906"/>
              <a:gd name="connsiteX58" fmla="*/ 2500009 w 2752928"/>
              <a:gd name="connsiteY58" fmla="*/ 1527243 h 2217906"/>
              <a:gd name="connsiteX59" fmla="*/ 2538920 w 2752928"/>
              <a:gd name="connsiteY59" fmla="*/ 1439694 h 2217906"/>
              <a:gd name="connsiteX60" fmla="*/ 2568103 w 2752928"/>
              <a:gd name="connsiteY60" fmla="*/ 1342417 h 2217906"/>
              <a:gd name="connsiteX61" fmla="*/ 2577830 w 2752928"/>
              <a:gd name="connsiteY61" fmla="*/ 1313234 h 2217906"/>
              <a:gd name="connsiteX62" fmla="*/ 2587558 w 2752928"/>
              <a:gd name="connsiteY62" fmla="*/ 1274323 h 2217906"/>
              <a:gd name="connsiteX63" fmla="*/ 2597286 w 2752928"/>
              <a:gd name="connsiteY63" fmla="*/ 1245140 h 2217906"/>
              <a:gd name="connsiteX64" fmla="*/ 2607013 w 2752928"/>
              <a:gd name="connsiteY64" fmla="*/ 1206230 h 2217906"/>
              <a:gd name="connsiteX65" fmla="*/ 2626469 w 2752928"/>
              <a:gd name="connsiteY65" fmla="*/ 1147864 h 2217906"/>
              <a:gd name="connsiteX66" fmla="*/ 2636196 w 2752928"/>
              <a:gd name="connsiteY66" fmla="*/ 1118681 h 2217906"/>
              <a:gd name="connsiteX67" fmla="*/ 2645924 w 2752928"/>
              <a:gd name="connsiteY67" fmla="*/ 1079770 h 2217906"/>
              <a:gd name="connsiteX68" fmla="*/ 2665379 w 2752928"/>
              <a:gd name="connsiteY68" fmla="*/ 1021404 h 2217906"/>
              <a:gd name="connsiteX69" fmla="*/ 2675107 w 2752928"/>
              <a:gd name="connsiteY69" fmla="*/ 982494 h 2217906"/>
              <a:gd name="connsiteX70" fmla="*/ 2694562 w 2752928"/>
              <a:gd name="connsiteY70" fmla="*/ 924128 h 2217906"/>
              <a:gd name="connsiteX71" fmla="*/ 2714017 w 2752928"/>
              <a:gd name="connsiteY71" fmla="*/ 865762 h 2217906"/>
              <a:gd name="connsiteX72" fmla="*/ 2723745 w 2752928"/>
              <a:gd name="connsiteY72" fmla="*/ 836579 h 2217906"/>
              <a:gd name="connsiteX73" fmla="*/ 2733473 w 2752928"/>
              <a:gd name="connsiteY73" fmla="*/ 797668 h 2217906"/>
              <a:gd name="connsiteX74" fmla="*/ 2752928 w 2752928"/>
              <a:gd name="connsiteY74" fmla="*/ 554477 h 2217906"/>
              <a:gd name="connsiteX75" fmla="*/ 2743200 w 2752928"/>
              <a:gd name="connsiteY75" fmla="*/ 350196 h 2217906"/>
              <a:gd name="connsiteX76" fmla="*/ 2704290 w 2752928"/>
              <a:gd name="connsiteY76" fmla="*/ 262647 h 2217906"/>
              <a:gd name="connsiteX77" fmla="*/ 2665379 w 2752928"/>
              <a:gd name="connsiteY77" fmla="*/ 223736 h 2217906"/>
              <a:gd name="connsiteX78" fmla="*/ 2616741 w 2752928"/>
              <a:gd name="connsiteY78" fmla="*/ 175098 h 2217906"/>
              <a:gd name="connsiteX79" fmla="*/ 2558375 w 2752928"/>
              <a:gd name="connsiteY79" fmla="*/ 107004 h 2217906"/>
              <a:gd name="connsiteX80" fmla="*/ 2529192 w 2752928"/>
              <a:gd name="connsiteY80" fmla="*/ 87549 h 2217906"/>
              <a:gd name="connsiteX81" fmla="*/ 2470826 w 2752928"/>
              <a:gd name="connsiteY81" fmla="*/ 68094 h 2217906"/>
              <a:gd name="connsiteX82" fmla="*/ 2441643 w 2752928"/>
              <a:gd name="connsiteY82" fmla="*/ 58366 h 2217906"/>
              <a:gd name="connsiteX83" fmla="*/ 2354094 w 2752928"/>
              <a:gd name="connsiteY83" fmla="*/ 29183 h 2217906"/>
              <a:gd name="connsiteX84" fmla="*/ 2276273 w 2752928"/>
              <a:gd name="connsiteY84" fmla="*/ 9728 h 2217906"/>
              <a:gd name="connsiteX85" fmla="*/ 2149813 w 2752928"/>
              <a:gd name="connsiteY85" fmla="*/ 0 h 2217906"/>
              <a:gd name="connsiteX86" fmla="*/ 1857983 w 2752928"/>
              <a:gd name="connsiteY86" fmla="*/ 9728 h 2217906"/>
              <a:gd name="connsiteX87" fmla="*/ 1780162 w 2752928"/>
              <a:gd name="connsiteY87" fmla="*/ 29183 h 2217906"/>
              <a:gd name="connsiteX88" fmla="*/ 1702341 w 2752928"/>
              <a:gd name="connsiteY88" fmla="*/ 38911 h 2217906"/>
              <a:gd name="connsiteX89" fmla="*/ 1673158 w 2752928"/>
              <a:gd name="connsiteY89" fmla="*/ 48638 h 2217906"/>
              <a:gd name="connsiteX90" fmla="*/ 1566154 w 2752928"/>
              <a:gd name="connsiteY90" fmla="*/ 48638 h 221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752928" h="2217906">
                <a:moveTo>
                  <a:pt x="1566154" y="48638"/>
                </a:moveTo>
                <a:cubicBezTo>
                  <a:pt x="1354514" y="78873"/>
                  <a:pt x="1515015" y="59728"/>
                  <a:pt x="1060315" y="48638"/>
                </a:cubicBezTo>
                <a:lnTo>
                  <a:pt x="700392" y="38911"/>
                </a:lnTo>
                <a:cubicBezTo>
                  <a:pt x="638783" y="42153"/>
                  <a:pt x="577028" y="43294"/>
                  <a:pt x="515566" y="48638"/>
                </a:cubicBezTo>
                <a:cubicBezTo>
                  <a:pt x="495680" y="50367"/>
                  <a:pt x="429639" y="74038"/>
                  <a:pt x="418290" y="77821"/>
                </a:cubicBezTo>
                <a:cubicBezTo>
                  <a:pt x="408562" y="81064"/>
                  <a:pt x="397639" y="81861"/>
                  <a:pt x="389107" y="87549"/>
                </a:cubicBezTo>
                <a:cubicBezTo>
                  <a:pt x="259540" y="173926"/>
                  <a:pt x="451576" y="49601"/>
                  <a:pt x="330741" y="116732"/>
                </a:cubicBezTo>
                <a:cubicBezTo>
                  <a:pt x="310301" y="128088"/>
                  <a:pt x="291830" y="142673"/>
                  <a:pt x="272375" y="155643"/>
                </a:cubicBezTo>
                <a:lnTo>
                  <a:pt x="243192" y="175098"/>
                </a:lnTo>
                <a:cubicBezTo>
                  <a:pt x="205806" y="231179"/>
                  <a:pt x="238173" y="177082"/>
                  <a:pt x="214009" y="233464"/>
                </a:cubicBezTo>
                <a:cubicBezTo>
                  <a:pt x="208297" y="246793"/>
                  <a:pt x="199940" y="258911"/>
                  <a:pt x="194554" y="272375"/>
                </a:cubicBezTo>
                <a:cubicBezTo>
                  <a:pt x="186938" y="291416"/>
                  <a:pt x="181583" y="311285"/>
                  <a:pt x="175098" y="330740"/>
                </a:cubicBezTo>
                <a:lnTo>
                  <a:pt x="165371" y="359923"/>
                </a:lnTo>
                <a:cubicBezTo>
                  <a:pt x="162128" y="369651"/>
                  <a:pt x="158130" y="379158"/>
                  <a:pt x="155643" y="389106"/>
                </a:cubicBezTo>
                <a:cubicBezTo>
                  <a:pt x="152400" y="402076"/>
                  <a:pt x="149588" y="415162"/>
                  <a:pt x="145915" y="428017"/>
                </a:cubicBezTo>
                <a:cubicBezTo>
                  <a:pt x="143098" y="437876"/>
                  <a:pt x="138886" y="447308"/>
                  <a:pt x="136188" y="457200"/>
                </a:cubicBezTo>
                <a:cubicBezTo>
                  <a:pt x="129153" y="482997"/>
                  <a:pt x="123217" y="509081"/>
                  <a:pt x="116732" y="535021"/>
                </a:cubicBezTo>
                <a:lnTo>
                  <a:pt x="97277" y="612843"/>
                </a:lnTo>
                <a:cubicBezTo>
                  <a:pt x="94034" y="625813"/>
                  <a:pt x="89747" y="638566"/>
                  <a:pt x="87549" y="651753"/>
                </a:cubicBezTo>
                <a:cubicBezTo>
                  <a:pt x="77643" y="711191"/>
                  <a:pt x="76438" y="715639"/>
                  <a:pt x="68094" y="778213"/>
                </a:cubicBezTo>
                <a:cubicBezTo>
                  <a:pt x="64639" y="804126"/>
                  <a:pt x="62341" y="830196"/>
                  <a:pt x="58366" y="856034"/>
                </a:cubicBezTo>
                <a:cubicBezTo>
                  <a:pt x="55852" y="872375"/>
                  <a:pt x="50824" y="888283"/>
                  <a:pt x="48639" y="904672"/>
                </a:cubicBezTo>
                <a:cubicBezTo>
                  <a:pt x="44332" y="936974"/>
                  <a:pt x="42323" y="969541"/>
                  <a:pt x="38911" y="1001949"/>
                </a:cubicBezTo>
                <a:cubicBezTo>
                  <a:pt x="35837" y="1031150"/>
                  <a:pt x="31727" y="1060246"/>
                  <a:pt x="29183" y="1089498"/>
                </a:cubicBezTo>
                <a:cubicBezTo>
                  <a:pt x="25240" y="1134838"/>
                  <a:pt x="22209" y="1180257"/>
                  <a:pt x="19456" y="1225685"/>
                </a:cubicBezTo>
                <a:cubicBezTo>
                  <a:pt x="11054" y="1364320"/>
                  <a:pt x="6056" y="1494966"/>
                  <a:pt x="0" y="1634247"/>
                </a:cubicBezTo>
                <a:cubicBezTo>
                  <a:pt x="4773" y="1753562"/>
                  <a:pt x="-9044" y="1821347"/>
                  <a:pt x="19456" y="1916349"/>
                </a:cubicBezTo>
                <a:cubicBezTo>
                  <a:pt x="25349" y="1935992"/>
                  <a:pt x="27536" y="1957651"/>
                  <a:pt x="38911" y="1974715"/>
                </a:cubicBezTo>
                <a:cubicBezTo>
                  <a:pt x="63453" y="2011529"/>
                  <a:pt x="50099" y="1995631"/>
                  <a:pt x="77822" y="2023353"/>
                </a:cubicBezTo>
                <a:cubicBezTo>
                  <a:pt x="94799" y="2074288"/>
                  <a:pt x="80299" y="2045287"/>
                  <a:pt x="136188" y="2101175"/>
                </a:cubicBezTo>
                <a:cubicBezTo>
                  <a:pt x="221444" y="2186430"/>
                  <a:pt x="113297" y="2082098"/>
                  <a:pt x="194554" y="2149813"/>
                </a:cubicBezTo>
                <a:cubicBezTo>
                  <a:pt x="205122" y="2158620"/>
                  <a:pt x="211711" y="2172315"/>
                  <a:pt x="223737" y="2178996"/>
                </a:cubicBezTo>
                <a:cubicBezTo>
                  <a:pt x="241664" y="2188955"/>
                  <a:pt x="262208" y="2193477"/>
                  <a:pt x="282103" y="2198451"/>
                </a:cubicBezTo>
                <a:cubicBezTo>
                  <a:pt x="358893" y="2217649"/>
                  <a:pt x="307690" y="2207069"/>
                  <a:pt x="437745" y="2217906"/>
                </a:cubicBezTo>
                <a:cubicBezTo>
                  <a:pt x="503505" y="2215047"/>
                  <a:pt x="626930" y="2221139"/>
                  <a:pt x="710120" y="2198451"/>
                </a:cubicBezTo>
                <a:cubicBezTo>
                  <a:pt x="729905" y="2193055"/>
                  <a:pt x="748591" y="2183970"/>
                  <a:pt x="768486" y="2178996"/>
                </a:cubicBezTo>
                <a:cubicBezTo>
                  <a:pt x="781456" y="2175753"/>
                  <a:pt x="794591" y="2173110"/>
                  <a:pt x="807396" y="2169268"/>
                </a:cubicBezTo>
                <a:cubicBezTo>
                  <a:pt x="827039" y="2163375"/>
                  <a:pt x="845867" y="2154787"/>
                  <a:pt x="865762" y="2149813"/>
                </a:cubicBezTo>
                <a:cubicBezTo>
                  <a:pt x="987442" y="2119392"/>
                  <a:pt x="836139" y="2158276"/>
                  <a:pt x="933856" y="2130357"/>
                </a:cubicBezTo>
                <a:cubicBezTo>
                  <a:pt x="946711" y="2126684"/>
                  <a:pt x="959961" y="2124471"/>
                  <a:pt x="972766" y="2120630"/>
                </a:cubicBezTo>
                <a:cubicBezTo>
                  <a:pt x="1112325" y="2078764"/>
                  <a:pt x="938448" y="2124346"/>
                  <a:pt x="1108954" y="2081719"/>
                </a:cubicBezTo>
                <a:cubicBezTo>
                  <a:pt x="1121924" y="2078477"/>
                  <a:pt x="1134677" y="2074190"/>
                  <a:pt x="1147864" y="2071992"/>
                </a:cubicBezTo>
                <a:cubicBezTo>
                  <a:pt x="1201333" y="2063080"/>
                  <a:pt x="1294038" y="2045450"/>
                  <a:pt x="1352145" y="2042809"/>
                </a:cubicBezTo>
                <a:cubicBezTo>
                  <a:pt x="1465564" y="2037654"/>
                  <a:pt x="1579124" y="2036324"/>
                  <a:pt x="1692613" y="2033081"/>
                </a:cubicBezTo>
                <a:cubicBezTo>
                  <a:pt x="1818017" y="2025243"/>
                  <a:pt x="1879576" y="2024619"/>
                  <a:pt x="2003898" y="2003898"/>
                </a:cubicBezTo>
                <a:cubicBezTo>
                  <a:pt x="2049749" y="1996256"/>
                  <a:pt x="2060551" y="1996050"/>
                  <a:pt x="2101175" y="1984443"/>
                </a:cubicBezTo>
                <a:cubicBezTo>
                  <a:pt x="2111034" y="1981626"/>
                  <a:pt x="2121187" y="1979301"/>
                  <a:pt x="2130358" y="1974715"/>
                </a:cubicBezTo>
                <a:cubicBezTo>
                  <a:pt x="2140815" y="1969487"/>
                  <a:pt x="2148858" y="1960008"/>
                  <a:pt x="2159541" y="1955260"/>
                </a:cubicBezTo>
                <a:cubicBezTo>
                  <a:pt x="2178281" y="1946931"/>
                  <a:pt x="2200843" y="1947180"/>
                  <a:pt x="2217907" y="1935804"/>
                </a:cubicBezTo>
                <a:cubicBezTo>
                  <a:pt x="2237362" y="1922834"/>
                  <a:pt x="2259740" y="1913428"/>
                  <a:pt x="2276273" y="1896894"/>
                </a:cubicBezTo>
                <a:cubicBezTo>
                  <a:pt x="2282758" y="1890409"/>
                  <a:pt x="2288391" y="1882941"/>
                  <a:pt x="2295728" y="1877438"/>
                </a:cubicBezTo>
                <a:cubicBezTo>
                  <a:pt x="2314434" y="1863409"/>
                  <a:pt x="2337560" y="1855062"/>
                  <a:pt x="2354094" y="1838528"/>
                </a:cubicBezTo>
                <a:cubicBezTo>
                  <a:pt x="2373380" y="1819242"/>
                  <a:pt x="2400608" y="1797102"/>
                  <a:pt x="2412460" y="1770434"/>
                </a:cubicBezTo>
                <a:cubicBezTo>
                  <a:pt x="2420789" y="1751694"/>
                  <a:pt x="2425430" y="1731523"/>
                  <a:pt x="2431915" y="1712068"/>
                </a:cubicBezTo>
                <a:lnTo>
                  <a:pt x="2441643" y="1682885"/>
                </a:lnTo>
                <a:lnTo>
                  <a:pt x="2461098" y="1624519"/>
                </a:lnTo>
                <a:cubicBezTo>
                  <a:pt x="2464341" y="1614791"/>
                  <a:pt x="2468339" y="1605284"/>
                  <a:pt x="2470826" y="1595336"/>
                </a:cubicBezTo>
                <a:cubicBezTo>
                  <a:pt x="2474069" y="1582366"/>
                  <a:pt x="2475288" y="1568714"/>
                  <a:pt x="2480554" y="1556426"/>
                </a:cubicBezTo>
                <a:cubicBezTo>
                  <a:pt x="2485159" y="1545680"/>
                  <a:pt x="2495261" y="1537927"/>
                  <a:pt x="2500009" y="1527243"/>
                </a:cubicBezTo>
                <a:cubicBezTo>
                  <a:pt x="2546311" y="1423062"/>
                  <a:pt x="2494891" y="1505736"/>
                  <a:pt x="2538920" y="1439694"/>
                </a:cubicBezTo>
                <a:cubicBezTo>
                  <a:pt x="2585145" y="1301017"/>
                  <a:pt x="2538705" y="1445312"/>
                  <a:pt x="2568103" y="1342417"/>
                </a:cubicBezTo>
                <a:cubicBezTo>
                  <a:pt x="2570920" y="1332558"/>
                  <a:pt x="2575013" y="1323093"/>
                  <a:pt x="2577830" y="1313234"/>
                </a:cubicBezTo>
                <a:cubicBezTo>
                  <a:pt x="2581503" y="1300379"/>
                  <a:pt x="2583885" y="1287178"/>
                  <a:pt x="2587558" y="1274323"/>
                </a:cubicBezTo>
                <a:cubicBezTo>
                  <a:pt x="2590375" y="1264464"/>
                  <a:pt x="2594469" y="1254999"/>
                  <a:pt x="2597286" y="1245140"/>
                </a:cubicBezTo>
                <a:cubicBezTo>
                  <a:pt x="2600959" y="1232285"/>
                  <a:pt x="2603171" y="1219035"/>
                  <a:pt x="2607013" y="1206230"/>
                </a:cubicBezTo>
                <a:cubicBezTo>
                  <a:pt x="2612906" y="1186587"/>
                  <a:pt x="2619984" y="1167319"/>
                  <a:pt x="2626469" y="1147864"/>
                </a:cubicBezTo>
                <a:cubicBezTo>
                  <a:pt x="2629712" y="1138136"/>
                  <a:pt x="2633709" y="1128629"/>
                  <a:pt x="2636196" y="1118681"/>
                </a:cubicBezTo>
                <a:cubicBezTo>
                  <a:pt x="2639439" y="1105711"/>
                  <a:pt x="2642082" y="1092576"/>
                  <a:pt x="2645924" y="1079770"/>
                </a:cubicBezTo>
                <a:cubicBezTo>
                  <a:pt x="2651817" y="1060127"/>
                  <a:pt x="2660405" y="1041299"/>
                  <a:pt x="2665379" y="1021404"/>
                </a:cubicBezTo>
                <a:cubicBezTo>
                  <a:pt x="2668622" y="1008434"/>
                  <a:pt x="2671265" y="995299"/>
                  <a:pt x="2675107" y="982494"/>
                </a:cubicBezTo>
                <a:cubicBezTo>
                  <a:pt x="2681000" y="962851"/>
                  <a:pt x="2688077" y="943583"/>
                  <a:pt x="2694562" y="924128"/>
                </a:cubicBezTo>
                <a:lnTo>
                  <a:pt x="2714017" y="865762"/>
                </a:lnTo>
                <a:cubicBezTo>
                  <a:pt x="2717260" y="856034"/>
                  <a:pt x="2721258" y="846527"/>
                  <a:pt x="2723745" y="836579"/>
                </a:cubicBezTo>
                <a:lnTo>
                  <a:pt x="2733473" y="797668"/>
                </a:lnTo>
                <a:cubicBezTo>
                  <a:pt x="2742410" y="717225"/>
                  <a:pt x="2752928" y="635380"/>
                  <a:pt x="2752928" y="554477"/>
                </a:cubicBezTo>
                <a:cubicBezTo>
                  <a:pt x="2752928" y="486306"/>
                  <a:pt x="2750728" y="417950"/>
                  <a:pt x="2743200" y="350196"/>
                </a:cubicBezTo>
                <a:cubicBezTo>
                  <a:pt x="2740083" y="322141"/>
                  <a:pt x="2723699" y="285291"/>
                  <a:pt x="2704290" y="262647"/>
                </a:cubicBezTo>
                <a:cubicBezTo>
                  <a:pt x="2692353" y="248720"/>
                  <a:pt x="2675554" y="238998"/>
                  <a:pt x="2665379" y="223736"/>
                </a:cubicBezTo>
                <a:cubicBezTo>
                  <a:pt x="2639439" y="184825"/>
                  <a:pt x="2655652" y="201038"/>
                  <a:pt x="2616741" y="175098"/>
                </a:cubicBezTo>
                <a:cubicBezTo>
                  <a:pt x="2599139" y="148695"/>
                  <a:pt x="2586682" y="125875"/>
                  <a:pt x="2558375" y="107004"/>
                </a:cubicBezTo>
                <a:cubicBezTo>
                  <a:pt x="2548647" y="100519"/>
                  <a:pt x="2539876" y="92297"/>
                  <a:pt x="2529192" y="87549"/>
                </a:cubicBezTo>
                <a:cubicBezTo>
                  <a:pt x="2510452" y="79220"/>
                  <a:pt x="2490281" y="74579"/>
                  <a:pt x="2470826" y="68094"/>
                </a:cubicBezTo>
                <a:lnTo>
                  <a:pt x="2441643" y="58366"/>
                </a:lnTo>
                <a:lnTo>
                  <a:pt x="2354094" y="29183"/>
                </a:lnTo>
                <a:cubicBezTo>
                  <a:pt x="2323783" y="19079"/>
                  <a:pt x="2311493" y="13641"/>
                  <a:pt x="2276273" y="9728"/>
                </a:cubicBezTo>
                <a:cubicBezTo>
                  <a:pt x="2234254" y="5059"/>
                  <a:pt x="2191966" y="3243"/>
                  <a:pt x="2149813" y="0"/>
                </a:cubicBezTo>
                <a:cubicBezTo>
                  <a:pt x="2052536" y="3243"/>
                  <a:pt x="1955012" y="2068"/>
                  <a:pt x="1857983" y="9728"/>
                </a:cubicBezTo>
                <a:cubicBezTo>
                  <a:pt x="1831327" y="11832"/>
                  <a:pt x="1806694" y="25866"/>
                  <a:pt x="1780162" y="29183"/>
                </a:cubicBezTo>
                <a:lnTo>
                  <a:pt x="1702341" y="38911"/>
                </a:lnTo>
                <a:cubicBezTo>
                  <a:pt x="1692613" y="42153"/>
                  <a:pt x="1683412" y="48638"/>
                  <a:pt x="1673158" y="48638"/>
                </a:cubicBezTo>
                <a:cubicBezTo>
                  <a:pt x="1640571" y="48638"/>
                  <a:pt x="1575881" y="38911"/>
                  <a:pt x="1566154" y="48638"/>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44</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 B, D</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2303923983"/>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12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B</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bg1">
                  <a:lumMod val="65000"/>
                </a:schemeClr>
              </a:solidFill>
              <a:prstDash val="dash"/>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bg1">
                  <a:lumMod val="65000"/>
                </a:schemeClr>
              </a:solidFill>
              <a:prstDash val="dash"/>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tx1"/>
              </a:solidFill>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tx1"/>
              </a:solidFill>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bg1">
                  <a:lumMod val="65000"/>
                </a:schemeClr>
              </a:solidFill>
              <a:prstDash val="dash"/>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436658"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12??</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D226B68E-2E44-6F4F-B6A4-589EE2333E5F}"/>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4925670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77058108-C25E-A243-BD98-A904117D9FDD}"/>
              </a:ext>
            </a:extLst>
          </p:cNvPr>
          <p:cNvSpPr/>
          <p:nvPr/>
        </p:nvSpPr>
        <p:spPr>
          <a:xfrm>
            <a:off x="1712068" y="1322707"/>
            <a:ext cx="3988341" cy="2237616"/>
          </a:xfrm>
          <a:custGeom>
            <a:avLst/>
            <a:gdLst>
              <a:gd name="connsiteX0" fmla="*/ 3852153 w 3988341"/>
              <a:gd name="connsiteY0" fmla="*/ 107259 h 2237616"/>
              <a:gd name="connsiteX1" fmla="*/ 3764604 w 3988341"/>
              <a:gd name="connsiteY1" fmla="*/ 97531 h 2237616"/>
              <a:gd name="connsiteX2" fmla="*/ 3667328 w 3988341"/>
              <a:gd name="connsiteY2" fmla="*/ 68348 h 2237616"/>
              <a:gd name="connsiteX3" fmla="*/ 3638145 w 3988341"/>
              <a:gd name="connsiteY3" fmla="*/ 58621 h 2237616"/>
              <a:gd name="connsiteX4" fmla="*/ 3540868 w 3988341"/>
              <a:gd name="connsiteY4" fmla="*/ 48893 h 2237616"/>
              <a:gd name="connsiteX5" fmla="*/ 2918298 w 3988341"/>
              <a:gd name="connsiteY5" fmla="*/ 39165 h 2237616"/>
              <a:gd name="connsiteX6" fmla="*/ 2110902 w 3988341"/>
              <a:gd name="connsiteY6" fmla="*/ 19710 h 2237616"/>
              <a:gd name="connsiteX7" fmla="*/ 1264596 w 3988341"/>
              <a:gd name="connsiteY7" fmla="*/ 9982 h 2237616"/>
              <a:gd name="connsiteX8" fmla="*/ 807396 w 3988341"/>
              <a:gd name="connsiteY8" fmla="*/ 9982 h 2237616"/>
              <a:gd name="connsiteX9" fmla="*/ 700392 w 3988341"/>
              <a:gd name="connsiteY9" fmla="*/ 29438 h 2237616"/>
              <a:gd name="connsiteX10" fmla="*/ 603115 w 3988341"/>
              <a:gd name="connsiteY10" fmla="*/ 58621 h 2237616"/>
              <a:gd name="connsiteX11" fmla="*/ 544749 w 3988341"/>
              <a:gd name="connsiteY11" fmla="*/ 78076 h 2237616"/>
              <a:gd name="connsiteX12" fmla="*/ 486383 w 3988341"/>
              <a:gd name="connsiteY12" fmla="*/ 97531 h 2237616"/>
              <a:gd name="connsiteX13" fmla="*/ 457200 w 3988341"/>
              <a:gd name="connsiteY13" fmla="*/ 107259 h 2237616"/>
              <a:gd name="connsiteX14" fmla="*/ 369651 w 3988341"/>
              <a:gd name="connsiteY14" fmla="*/ 155897 h 2237616"/>
              <a:gd name="connsiteX15" fmla="*/ 330741 w 3988341"/>
              <a:gd name="connsiteY15" fmla="*/ 204536 h 2237616"/>
              <a:gd name="connsiteX16" fmla="*/ 282102 w 3988341"/>
              <a:gd name="connsiteY16" fmla="*/ 243446 h 2237616"/>
              <a:gd name="connsiteX17" fmla="*/ 243192 w 3988341"/>
              <a:gd name="connsiteY17" fmla="*/ 292084 h 2237616"/>
              <a:gd name="connsiteX18" fmla="*/ 223736 w 3988341"/>
              <a:gd name="connsiteY18" fmla="*/ 311540 h 2237616"/>
              <a:gd name="connsiteX19" fmla="*/ 194553 w 3988341"/>
              <a:gd name="connsiteY19" fmla="*/ 360178 h 2237616"/>
              <a:gd name="connsiteX20" fmla="*/ 155643 w 3988341"/>
              <a:gd name="connsiteY20" fmla="*/ 437999 h 2237616"/>
              <a:gd name="connsiteX21" fmla="*/ 136187 w 3988341"/>
              <a:gd name="connsiteY21" fmla="*/ 467182 h 2237616"/>
              <a:gd name="connsiteX22" fmla="*/ 116732 w 3988341"/>
              <a:gd name="connsiteY22" fmla="*/ 525548 h 2237616"/>
              <a:gd name="connsiteX23" fmla="*/ 97277 w 3988341"/>
              <a:gd name="connsiteY23" fmla="*/ 554731 h 2237616"/>
              <a:gd name="connsiteX24" fmla="*/ 77821 w 3988341"/>
              <a:gd name="connsiteY24" fmla="*/ 613097 h 2237616"/>
              <a:gd name="connsiteX25" fmla="*/ 68094 w 3988341"/>
              <a:gd name="connsiteY25" fmla="*/ 642280 h 2237616"/>
              <a:gd name="connsiteX26" fmla="*/ 48638 w 3988341"/>
              <a:gd name="connsiteY26" fmla="*/ 729829 h 2237616"/>
              <a:gd name="connsiteX27" fmla="*/ 38911 w 3988341"/>
              <a:gd name="connsiteY27" fmla="*/ 768740 h 2237616"/>
              <a:gd name="connsiteX28" fmla="*/ 29183 w 3988341"/>
              <a:gd name="connsiteY28" fmla="*/ 836833 h 2237616"/>
              <a:gd name="connsiteX29" fmla="*/ 9728 w 3988341"/>
              <a:gd name="connsiteY29" fmla="*/ 1021659 h 2237616"/>
              <a:gd name="connsiteX30" fmla="*/ 0 w 3988341"/>
              <a:gd name="connsiteY30" fmla="*/ 1294033 h 2237616"/>
              <a:gd name="connsiteX31" fmla="*/ 9728 w 3988341"/>
              <a:gd name="connsiteY31" fmla="*/ 1556680 h 2237616"/>
              <a:gd name="connsiteX32" fmla="*/ 29183 w 3988341"/>
              <a:gd name="connsiteY32" fmla="*/ 1644229 h 2237616"/>
              <a:gd name="connsiteX33" fmla="*/ 38911 w 3988341"/>
              <a:gd name="connsiteY33" fmla="*/ 1673412 h 2237616"/>
              <a:gd name="connsiteX34" fmla="*/ 48638 w 3988341"/>
              <a:gd name="connsiteY34" fmla="*/ 1722050 h 2237616"/>
              <a:gd name="connsiteX35" fmla="*/ 58366 w 3988341"/>
              <a:gd name="connsiteY35" fmla="*/ 1760961 h 2237616"/>
              <a:gd name="connsiteX36" fmla="*/ 68094 w 3988341"/>
              <a:gd name="connsiteY36" fmla="*/ 1809599 h 2237616"/>
              <a:gd name="connsiteX37" fmla="*/ 97277 w 3988341"/>
              <a:gd name="connsiteY37" fmla="*/ 1906876 h 2237616"/>
              <a:gd name="connsiteX38" fmla="*/ 107004 w 3988341"/>
              <a:gd name="connsiteY38" fmla="*/ 1936059 h 2237616"/>
              <a:gd name="connsiteX39" fmla="*/ 126460 w 3988341"/>
              <a:gd name="connsiteY39" fmla="*/ 1955514 h 2237616"/>
              <a:gd name="connsiteX40" fmla="*/ 145915 w 3988341"/>
              <a:gd name="connsiteY40" fmla="*/ 1984697 h 2237616"/>
              <a:gd name="connsiteX41" fmla="*/ 233464 w 3988341"/>
              <a:gd name="connsiteY41" fmla="*/ 2043063 h 2237616"/>
              <a:gd name="connsiteX42" fmla="*/ 350196 w 3988341"/>
              <a:gd name="connsiteY42" fmla="*/ 2120884 h 2237616"/>
              <a:gd name="connsiteX43" fmla="*/ 408562 w 3988341"/>
              <a:gd name="connsiteY43" fmla="*/ 2159795 h 2237616"/>
              <a:gd name="connsiteX44" fmla="*/ 437745 w 3988341"/>
              <a:gd name="connsiteY44" fmla="*/ 2169523 h 2237616"/>
              <a:gd name="connsiteX45" fmla="*/ 496111 w 3988341"/>
              <a:gd name="connsiteY45" fmla="*/ 2208433 h 2237616"/>
              <a:gd name="connsiteX46" fmla="*/ 603115 w 3988341"/>
              <a:gd name="connsiteY46" fmla="*/ 2237616 h 2237616"/>
              <a:gd name="connsiteX47" fmla="*/ 894945 w 3988341"/>
              <a:gd name="connsiteY47" fmla="*/ 2227889 h 2237616"/>
              <a:gd name="connsiteX48" fmla="*/ 1001949 w 3988341"/>
              <a:gd name="connsiteY48" fmla="*/ 2198706 h 2237616"/>
              <a:gd name="connsiteX49" fmla="*/ 1040860 w 3988341"/>
              <a:gd name="connsiteY49" fmla="*/ 2188978 h 2237616"/>
              <a:gd name="connsiteX50" fmla="*/ 1099226 w 3988341"/>
              <a:gd name="connsiteY50" fmla="*/ 2169523 h 2237616"/>
              <a:gd name="connsiteX51" fmla="*/ 1157592 w 3988341"/>
              <a:gd name="connsiteY51" fmla="*/ 2150067 h 2237616"/>
              <a:gd name="connsiteX52" fmla="*/ 1235413 w 3988341"/>
              <a:gd name="connsiteY52" fmla="*/ 2120884 h 2237616"/>
              <a:gd name="connsiteX53" fmla="*/ 1264596 w 3988341"/>
              <a:gd name="connsiteY53" fmla="*/ 2101429 h 2237616"/>
              <a:gd name="connsiteX54" fmla="*/ 1332689 w 3988341"/>
              <a:gd name="connsiteY54" fmla="*/ 2072246 h 2237616"/>
              <a:gd name="connsiteX55" fmla="*/ 1361872 w 3988341"/>
              <a:gd name="connsiteY55" fmla="*/ 2052791 h 2237616"/>
              <a:gd name="connsiteX56" fmla="*/ 1420238 w 3988341"/>
              <a:gd name="connsiteY56" fmla="*/ 2033336 h 2237616"/>
              <a:gd name="connsiteX57" fmla="*/ 1527243 w 3988341"/>
              <a:gd name="connsiteY57" fmla="*/ 2004153 h 2237616"/>
              <a:gd name="connsiteX58" fmla="*/ 2062264 w 3988341"/>
              <a:gd name="connsiteY58" fmla="*/ 1984697 h 2237616"/>
              <a:gd name="connsiteX59" fmla="*/ 2130358 w 3988341"/>
              <a:gd name="connsiteY59" fmla="*/ 1974970 h 2237616"/>
              <a:gd name="connsiteX60" fmla="*/ 2188723 w 3988341"/>
              <a:gd name="connsiteY60" fmla="*/ 1955514 h 2237616"/>
              <a:gd name="connsiteX61" fmla="*/ 2227634 w 3988341"/>
              <a:gd name="connsiteY61" fmla="*/ 1945787 h 2237616"/>
              <a:gd name="connsiteX62" fmla="*/ 2266545 w 3988341"/>
              <a:gd name="connsiteY62" fmla="*/ 1906876 h 2237616"/>
              <a:gd name="connsiteX63" fmla="*/ 2324911 w 3988341"/>
              <a:gd name="connsiteY63" fmla="*/ 1867965 h 2237616"/>
              <a:gd name="connsiteX64" fmla="*/ 2373549 w 3988341"/>
              <a:gd name="connsiteY64" fmla="*/ 1809599 h 2237616"/>
              <a:gd name="connsiteX65" fmla="*/ 2402732 w 3988341"/>
              <a:gd name="connsiteY65" fmla="*/ 1780416 h 2237616"/>
              <a:gd name="connsiteX66" fmla="*/ 2441643 w 3988341"/>
              <a:gd name="connsiteY66" fmla="*/ 1712323 h 2237616"/>
              <a:gd name="connsiteX67" fmla="*/ 2461098 w 3988341"/>
              <a:gd name="connsiteY67" fmla="*/ 1683140 h 2237616"/>
              <a:gd name="connsiteX68" fmla="*/ 2480553 w 3988341"/>
              <a:gd name="connsiteY68" fmla="*/ 1624774 h 2237616"/>
              <a:gd name="connsiteX69" fmla="*/ 2490281 w 3988341"/>
              <a:gd name="connsiteY69" fmla="*/ 1595591 h 2237616"/>
              <a:gd name="connsiteX70" fmla="*/ 2529192 w 3988341"/>
              <a:gd name="connsiteY70" fmla="*/ 1508042 h 2237616"/>
              <a:gd name="connsiteX71" fmla="*/ 2538919 w 3988341"/>
              <a:gd name="connsiteY71" fmla="*/ 1478859 h 2237616"/>
              <a:gd name="connsiteX72" fmla="*/ 2548647 w 3988341"/>
              <a:gd name="connsiteY72" fmla="*/ 1449676 h 2237616"/>
              <a:gd name="connsiteX73" fmla="*/ 2558375 w 3988341"/>
              <a:gd name="connsiteY73" fmla="*/ 1410765 h 2237616"/>
              <a:gd name="connsiteX74" fmla="*/ 2577830 w 3988341"/>
              <a:gd name="connsiteY74" fmla="*/ 1381582 h 2237616"/>
              <a:gd name="connsiteX75" fmla="*/ 2597285 w 3988341"/>
              <a:gd name="connsiteY75" fmla="*/ 1323216 h 2237616"/>
              <a:gd name="connsiteX76" fmla="*/ 2616741 w 3988341"/>
              <a:gd name="connsiteY76" fmla="*/ 1255123 h 2237616"/>
              <a:gd name="connsiteX77" fmla="*/ 2636196 w 3988341"/>
              <a:gd name="connsiteY77" fmla="*/ 1225940 h 2237616"/>
              <a:gd name="connsiteX78" fmla="*/ 2655651 w 3988341"/>
              <a:gd name="connsiteY78" fmla="*/ 1167574 h 2237616"/>
              <a:gd name="connsiteX79" fmla="*/ 2665379 w 3988341"/>
              <a:gd name="connsiteY79" fmla="*/ 1138391 h 2237616"/>
              <a:gd name="connsiteX80" fmla="*/ 2743200 w 3988341"/>
              <a:gd name="connsiteY80" fmla="*/ 1041114 h 2237616"/>
              <a:gd name="connsiteX81" fmla="*/ 2801566 w 3988341"/>
              <a:gd name="connsiteY81" fmla="*/ 1002204 h 2237616"/>
              <a:gd name="connsiteX82" fmla="*/ 2821021 w 3988341"/>
              <a:gd name="connsiteY82" fmla="*/ 982748 h 2237616"/>
              <a:gd name="connsiteX83" fmla="*/ 2879387 w 3988341"/>
              <a:gd name="connsiteY83" fmla="*/ 963293 h 2237616"/>
              <a:gd name="connsiteX84" fmla="*/ 2937753 w 3988341"/>
              <a:gd name="connsiteY84" fmla="*/ 943838 h 2237616"/>
              <a:gd name="connsiteX85" fmla="*/ 2976664 w 3988341"/>
              <a:gd name="connsiteY85" fmla="*/ 934110 h 2237616"/>
              <a:gd name="connsiteX86" fmla="*/ 3589506 w 3988341"/>
              <a:gd name="connsiteY86" fmla="*/ 924382 h 2237616"/>
              <a:gd name="connsiteX87" fmla="*/ 3677055 w 3988341"/>
              <a:gd name="connsiteY87" fmla="*/ 904927 h 2237616"/>
              <a:gd name="connsiteX88" fmla="*/ 3706238 w 3988341"/>
              <a:gd name="connsiteY88" fmla="*/ 895199 h 2237616"/>
              <a:gd name="connsiteX89" fmla="*/ 3754877 w 3988341"/>
              <a:gd name="connsiteY89" fmla="*/ 856289 h 2237616"/>
              <a:gd name="connsiteX90" fmla="*/ 3793787 w 3988341"/>
              <a:gd name="connsiteY90" fmla="*/ 807650 h 2237616"/>
              <a:gd name="connsiteX91" fmla="*/ 3822970 w 3988341"/>
              <a:gd name="connsiteY91" fmla="*/ 788195 h 2237616"/>
              <a:gd name="connsiteX92" fmla="*/ 3861881 w 3988341"/>
              <a:gd name="connsiteY92" fmla="*/ 749284 h 2237616"/>
              <a:gd name="connsiteX93" fmla="*/ 3891064 w 3988341"/>
              <a:gd name="connsiteY93" fmla="*/ 720102 h 2237616"/>
              <a:gd name="connsiteX94" fmla="*/ 3910519 w 3988341"/>
              <a:gd name="connsiteY94" fmla="*/ 700646 h 2237616"/>
              <a:gd name="connsiteX95" fmla="*/ 3939702 w 3988341"/>
              <a:gd name="connsiteY95" fmla="*/ 642280 h 2237616"/>
              <a:gd name="connsiteX96" fmla="*/ 3949430 w 3988341"/>
              <a:gd name="connsiteY96" fmla="*/ 613097 h 2237616"/>
              <a:gd name="connsiteX97" fmla="*/ 3978613 w 3988341"/>
              <a:gd name="connsiteY97" fmla="*/ 554731 h 2237616"/>
              <a:gd name="connsiteX98" fmla="*/ 3988341 w 3988341"/>
              <a:gd name="connsiteY98" fmla="*/ 428272 h 2237616"/>
              <a:gd name="connsiteX99" fmla="*/ 3978613 w 3988341"/>
              <a:gd name="connsiteY99" fmla="*/ 272629 h 2237616"/>
              <a:gd name="connsiteX100" fmla="*/ 3959158 w 3988341"/>
              <a:gd name="connsiteY100" fmla="*/ 214263 h 2237616"/>
              <a:gd name="connsiteX101" fmla="*/ 3949430 w 3988341"/>
              <a:gd name="connsiteY101" fmla="*/ 185080 h 2237616"/>
              <a:gd name="connsiteX102" fmla="*/ 3910519 w 3988341"/>
              <a:gd name="connsiteY102" fmla="*/ 136442 h 2237616"/>
              <a:gd name="connsiteX103" fmla="*/ 3852153 w 3988341"/>
              <a:gd name="connsiteY103" fmla="*/ 107259 h 2237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988341" h="2237616">
                <a:moveTo>
                  <a:pt x="3852153" y="107259"/>
                </a:moveTo>
                <a:cubicBezTo>
                  <a:pt x="3827834" y="100774"/>
                  <a:pt x="3793625" y="101996"/>
                  <a:pt x="3764604" y="97531"/>
                </a:cubicBezTo>
                <a:cubicBezTo>
                  <a:pt x="3737295" y="93330"/>
                  <a:pt x="3690063" y="75926"/>
                  <a:pt x="3667328" y="68348"/>
                </a:cubicBezTo>
                <a:cubicBezTo>
                  <a:pt x="3657600" y="65105"/>
                  <a:pt x="3648348" y="59641"/>
                  <a:pt x="3638145" y="58621"/>
                </a:cubicBezTo>
                <a:cubicBezTo>
                  <a:pt x="3605719" y="55378"/>
                  <a:pt x="3573444" y="49773"/>
                  <a:pt x="3540868" y="48893"/>
                </a:cubicBezTo>
                <a:cubicBezTo>
                  <a:pt x="3333395" y="43285"/>
                  <a:pt x="3125821" y="42408"/>
                  <a:pt x="2918298" y="39165"/>
                </a:cubicBezTo>
                <a:cubicBezTo>
                  <a:pt x="2552395" y="16298"/>
                  <a:pt x="2787078" y="28492"/>
                  <a:pt x="2110902" y="19710"/>
                </a:cubicBezTo>
                <a:lnTo>
                  <a:pt x="1264596" y="9982"/>
                </a:lnTo>
                <a:cubicBezTo>
                  <a:pt x="1031271" y="-623"/>
                  <a:pt x="1051810" y="-5786"/>
                  <a:pt x="807396" y="9982"/>
                </a:cubicBezTo>
                <a:cubicBezTo>
                  <a:pt x="792515" y="10942"/>
                  <a:pt x="718247" y="25470"/>
                  <a:pt x="700392" y="29438"/>
                </a:cubicBezTo>
                <a:cubicBezTo>
                  <a:pt x="656274" y="39242"/>
                  <a:pt x="651634" y="42448"/>
                  <a:pt x="603115" y="58621"/>
                </a:cubicBezTo>
                <a:lnTo>
                  <a:pt x="544749" y="78076"/>
                </a:lnTo>
                <a:lnTo>
                  <a:pt x="486383" y="97531"/>
                </a:lnTo>
                <a:cubicBezTo>
                  <a:pt x="476655" y="100774"/>
                  <a:pt x="465732" y="101571"/>
                  <a:pt x="457200" y="107259"/>
                </a:cubicBezTo>
                <a:cubicBezTo>
                  <a:pt x="390302" y="151858"/>
                  <a:pt x="421017" y="138776"/>
                  <a:pt x="369651" y="155897"/>
                </a:cubicBezTo>
                <a:cubicBezTo>
                  <a:pt x="322668" y="202883"/>
                  <a:pt x="379837" y="143167"/>
                  <a:pt x="330741" y="204536"/>
                </a:cubicBezTo>
                <a:cubicBezTo>
                  <a:pt x="309864" y="230632"/>
                  <a:pt x="310190" y="220976"/>
                  <a:pt x="282102" y="243446"/>
                </a:cubicBezTo>
                <a:cubicBezTo>
                  <a:pt x="256008" y="264322"/>
                  <a:pt x="265660" y="263999"/>
                  <a:pt x="243192" y="292084"/>
                </a:cubicBezTo>
                <a:cubicBezTo>
                  <a:pt x="237462" y="299246"/>
                  <a:pt x="230221" y="305055"/>
                  <a:pt x="223736" y="311540"/>
                </a:cubicBezTo>
                <a:cubicBezTo>
                  <a:pt x="196181" y="394210"/>
                  <a:pt x="234612" y="293414"/>
                  <a:pt x="194553" y="360178"/>
                </a:cubicBezTo>
                <a:cubicBezTo>
                  <a:pt x="179631" y="385047"/>
                  <a:pt x="171731" y="413868"/>
                  <a:pt x="155643" y="437999"/>
                </a:cubicBezTo>
                <a:lnTo>
                  <a:pt x="136187" y="467182"/>
                </a:lnTo>
                <a:cubicBezTo>
                  <a:pt x="129702" y="486637"/>
                  <a:pt x="128107" y="508484"/>
                  <a:pt x="116732" y="525548"/>
                </a:cubicBezTo>
                <a:cubicBezTo>
                  <a:pt x="110247" y="535276"/>
                  <a:pt x="102025" y="544048"/>
                  <a:pt x="97277" y="554731"/>
                </a:cubicBezTo>
                <a:cubicBezTo>
                  <a:pt x="88948" y="573471"/>
                  <a:pt x="84306" y="593642"/>
                  <a:pt x="77821" y="613097"/>
                </a:cubicBezTo>
                <a:cubicBezTo>
                  <a:pt x="74578" y="622825"/>
                  <a:pt x="70581" y="632332"/>
                  <a:pt x="68094" y="642280"/>
                </a:cubicBezTo>
                <a:cubicBezTo>
                  <a:pt x="44379" y="737139"/>
                  <a:pt x="73327" y="618728"/>
                  <a:pt x="48638" y="729829"/>
                </a:cubicBezTo>
                <a:cubicBezTo>
                  <a:pt x="45738" y="742880"/>
                  <a:pt x="41303" y="755586"/>
                  <a:pt x="38911" y="768740"/>
                </a:cubicBezTo>
                <a:cubicBezTo>
                  <a:pt x="34810" y="791298"/>
                  <a:pt x="32213" y="814106"/>
                  <a:pt x="29183" y="836833"/>
                </a:cubicBezTo>
                <a:cubicBezTo>
                  <a:pt x="17037" y="927928"/>
                  <a:pt x="19049" y="919123"/>
                  <a:pt x="9728" y="1021659"/>
                </a:cubicBezTo>
                <a:cubicBezTo>
                  <a:pt x="6485" y="1112450"/>
                  <a:pt x="0" y="1203184"/>
                  <a:pt x="0" y="1294033"/>
                </a:cubicBezTo>
                <a:cubicBezTo>
                  <a:pt x="0" y="1381642"/>
                  <a:pt x="4263" y="1469242"/>
                  <a:pt x="9728" y="1556680"/>
                </a:cubicBezTo>
                <a:cubicBezTo>
                  <a:pt x="10531" y="1569525"/>
                  <a:pt x="24781" y="1628821"/>
                  <a:pt x="29183" y="1644229"/>
                </a:cubicBezTo>
                <a:cubicBezTo>
                  <a:pt x="32000" y="1654088"/>
                  <a:pt x="36424" y="1663464"/>
                  <a:pt x="38911" y="1673412"/>
                </a:cubicBezTo>
                <a:cubicBezTo>
                  <a:pt x="42921" y="1689452"/>
                  <a:pt x="45051" y="1705910"/>
                  <a:pt x="48638" y="1722050"/>
                </a:cubicBezTo>
                <a:cubicBezTo>
                  <a:pt x="51538" y="1735101"/>
                  <a:pt x="55466" y="1747910"/>
                  <a:pt x="58366" y="1760961"/>
                </a:cubicBezTo>
                <a:cubicBezTo>
                  <a:pt x="61953" y="1777101"/>
                  <a:pt x="64507" y="1793459"/>
                  <a:pt x="68094" y="1809599"/>
                </a:cubicBezTo>
                <a:cubicBezTo>
                  <a:pt x="77898" y="1853717"/>
                  <a:pt x="81104" y="1858357"/>
                  <a:pt x="97277" y="1906876"/>
                </a:cubicBezTo>
                <a:cubicBezTo>
                  <a:pt x="100520" y="1916604"/>
                  <a:pt x="99753" y="1928809"/>
                  <a:pt x="107004" y="1936059"/>
                </a:cubicBezTo>
                <a:cubicBezTo>
                  <a:pt x="113489" y="1942544"/>
                  <a:pt x="120731" y="1948352"/>
                  <a:pt x="126460" y="1955514"/>
                </a:cubicBezTo>
                <a:cubicBezTo>
                  <a:pt x="133763" y="1964643"/>
                  <a:pt x="137117" y="1976998"/>
                  <a:pt x="145915" y="1984697"/>
                </a:cubicBezTo>
                <a:cubicBezTo>
                  <a:pt x="145923" y="1984704"/>
                  <a:pt x="218868" y="2033332"/>
                  <a:pt x="233464" y="2043063"/>
                </a:cubicBezTo>
                <a:lnTo>
                  <a:pt x="350196" y="2120884"/>
                </a:lnTo>
                <a:lnTo>
                  <a:pt x="408562" y="2159795"/>
                </a:lnTo>
                <a:cubicBezTo>
                  <a:pt x="418290" y="2163038"/>
                  <a:pt x="428781" y="2164543"/>
                  <a:pt x="437745" y="2169523"/>
                </a:cubicBezTo>
                <a:cubicBezTo>
                  <a:pt x="458185" y="2180878"/>
                  <a:pt x="473929" y="2201039"/>
                  <a:pt x="496111" y="2208433"/>
                </a:cubicBezTo>
                <a:cubicBezTo>
                  <a:pt x="570162" y="2233118"/>
                  <a:pt x="534367" y="2223867"/>
                  <a:pt x="603115" y="2237616"/>
                </a:cubicBezTo>
                <a:cubicBezTo>
                  <a:pt x="700392" y="2234374"/>
                  <a:pt x="797916" y="2235549"/>
                  <a:pt x="894945" y="2227889"/>
                </a:cubicBezTo>
                <a:cubicBezTo>
                  <a:pt x="942849" y="2224107"/>
                  <a:pt x="962687" y="2209924"/>
                  <a:pt x="1001949" y="2198706"/>
                </a:cubicBezTo>
                <a:cubicBezTo>
                  <a:pt x="1014804" y="2195033"/>
                  <a:pt x="1028054" y="2192820"/>
                  <a:pt x="1040860" y="2188978"/>
                </a:cubicBezTo>
                <a:cubicBezTo>
                  <a:pt x="1060503" y="2183085"/>
                  <a:pt x="1079771" y="2176008"/>
                  <a:pt x="1099226" y="2169523"/>
                </a:cubicBezTo>
                <a:lnTo>
                  <a:pt x="1157592" y="2150067"/>
                </a:lnTo>
                <a:cubicBezTo>
                  <a:pt x="1182858" y="2141645"/>
                  <a:pt x="1212136" y="2132523"/>
                  <a:pt x="1235413" y="2120884"/>
                </a:cubicBezTo>
                <a:cubicBezTo>
                  <a:pt x="1245870" y="2115656"/>
                  <a:pt x="1254139" y="2106657"/>
                  <a:pt x="1264596" y="2101429"/>
                </a:cubicBezTo>
                <a:cubicBezTo>
                  <a:pt x="1373716" y="2046871"/>
                  <a:pt x="1191015" y="2153204"/>
                  <a:pt x="1332689" y="2072246"/>
                </a:cubicBezTo>
                <a:cubicBezTo>
                  <a:pt x="1342840" y="2066445"/>
                  <a:pt x="1351188" y="2057539"/>
                  <a:pt x="1361872" y="2052791"/>
                </a:cubicBezTo>
                <a:cubicBezTo>
                  <a:pt x="1380612" y="2044462"/>
                  <a:pt x="1400783" y="2039821"/>
                  <a:pt x="1420238" y="2033336"/>
                </a:cubicBezTo>
                <a:cubicBezTo>
                  <a:pt x="1462174" y="2019357"/>
                  <a:pt x="1472367" y="2015129"/>
                  <a:pt x="1527243" y="2004153"/>
                </a:cubicBezTo>
                <a:cubicBezTo>
                  <a:pt x="1734892" y="1962622"/>
                  <a:pt x="1559351" y="1994756"/>
                  <a:pt x="2062264" y="1984697"/>
                </a:cubicBezTo>
                <a:cubicBezTo>
                  <a:pt x="2084962" y="1981455"/>
                  <a:pt x="2108017" y="1980126"/>
                  <a:pt x="2130358" y="1974970"/>
                </a:cubicBezTo>
                <a:cubicBezTo>
                  <a:pt x="2150340" y="1970359"/>
                  <a:pt x="2168828" y="1960487"/>
                  <a:pt x="2188723" y="1955514"/>
                </a:cubicBezTo>
                <a:lnTo>
                  <a:pt x="2227634" y="1945787"/>
                </a:lnTo>
                <a:cubicBezTo>
                  <a:pt x="2240604" y="1932817"/>
                  <a:pt x="2251283" y="1917051"/>
                  <a:pt x="2266545" y="1906876"/>
                </a:cubicBezTo>
                <a:cubicBezTo>
                  <a:pt x="2286000" y="1893906"/>
                  <a:pt x="2308377" y="1884499"/>
                  <a:pt x="2324911" y="1867965"/>
                </a:cubicBezTo>
                <a:cubicBezTo>
                  <a:pt x="2410170" y="1782706"/>
                  <a:pt x="2305834" y="1890858"/>
                  <a:pt x="2373549" y="1809599"/>
                </a:cubicBezTo>
                <a:cubicBezTo>
                  <a:pt x="2382356" y="1799031"/>
                  <a:pt x="2393925" y="1790984"/>
                  <a:pt x="2402732" y="1780416"/>
                </a:cubicBezTo>
                <a:cubicBezTo>
                  <a:pt x="2424274" y="1754566"/>
                  <a:pt x="2424347" y="1742590"/>
                  <a:pt x="2441643" y="1712323"/>
                </a:cubicBezTo>
                <a:cubicBezTo>
                  <a:pt x="2447444" y="1702172"/>
                  <a:pt x="2456350" y="1693824"/>
                  <a:pt x="2461098" y="1683140"/>
                </a:cubicBezTo>
                <a:cubicBezTo>
                  <a:pt x="2469427" y="1664400"/>
                  <a:pt x="2474068" y="1644229"/>
                  <a:pt x="2480553" y="1624774"/>
                </a:cubicBezTo>
                <a:cubicBezTo>
                  <a:pt x="2483796" y="1615046"/>
                  <a:pt x="2484593" y="1604123"/>
                  <a:pt x="2490281" y="1595591"/>
                </a:cubicBezTo>
                <a:cubicBezTo>
                  <a:pt x="2521111" y="1549346"/>
                  <a:pt x="2506040" y="1577497"/>
                  <a:pt x="2529192" y="1508042"/>
                </a:cubicBezTo>
                <a:lnTo>
                  <a:pt x="2538919" y="1478859"/>
                </a:lnTo>
                <a:cubicBezTo>
                  <a:pt x="2542162" y="1469131"/>
                  <a:pt x="2546160" y="1459624"/>
                  <a:pt x="2548647" y="1449676"/>
                </a:cubicBezTo>
                <a:cubicBezTo>
                  <a:pt x="2551890" y="1436706"/>
                  <a:pt x="2553109" y="1423054"/>
                  <a:pt x="2558375" y="1410765"/>
                </a:cubicBezTo>
                <a:cubicBezTo>
                  <a:pt x="2562980" y="1400019"/>
                  <a:pt x="2573082" y="1392266"/>
                  <a:pt x="2577830" y="1381582"/>
                </a:cubicBezTo>
                <a:cubicBezTo>
                  <a:pt x="2586159" y="1362842"/>
                  <a:pt x="2592311" y="1343111"/>
                  <a:pt x="2597285" y="1323216"/>
                </a:cubicBezTo>
                <a:cubicBezTo>
                  <a:pt x="2600402" y="1310748"/>
                  <a:pt x="2609763" y="1269079"/>
                  <a:pt x="2616741" y="1255123"/>
                </a:cubicBezTo>
                <a:cubicBezTo>
                  <a:pt x="2621969" y="1244666"/>
                  <a:pt x="2629711" y="1235668"/>
                  <a:pt x="2636196" y="1225940"/>
                </a:cubicBezTo>
                <a:lnTo>
                  <a:pt x="2655651" y="1167574"/>
                </a:lnTo>
                <a:cubicBezTo>
                  <a:pt x="2658894" y="1157846"/>
                  <a:pt x="2659691" y="1146923"/>
                  <a:pt x="2665379" y="1138391"/>
                </a:cubicBezTo>
                <a:cubicBezTo>
                  <a:pt x="2714464" y="1064763"/>
                  <a:pt x="2687755" y="1096559"/>
                  <a:pt x="2743200" y="1041114"/>
                </a:cubicBezTo>
                <a:cubicBezTo>
                  <a:pt x="2779634" y="1004680"/>
                  <a:pt x="2759332" y="1016281"/>
                  <a:pt x="2801566" y="1002204"/>
                </a:cubicBezTo>
                <a:cubicBezTo>
                  <a:pt x="2808051" y="995719"/>
                  <a:pt x="2812818" y="986850"/>
                  <a:pt x="2821021" y="982748"/>
                </a:cubicBezTo>
                <a:cubicBezTo>
                  <a:pt x="2839364" y="973577"/>
                  <a:pt x="2859932" y="969778"/>
                  <a:pt x="2879387" y="963293"/>
                </a:cubicBezTo>
                <a:lnTo>
                  <a:pt x="2937753" y="943838"/>
                </a:lnTo>
                <a:cubicBezTo>
                  <a:pt x="2950723" y="940595"/>
                  <a:pt x="2963300" y="934509"/>
                  <a:pt x="2976664" y="934110"/>
                </a:cubicBezTo>
                <a:cubicBezTo>
                  <a:pt x="3180879" y="928014"/>
                  <a:pt x="3385225" y="927625"/>
                  <a:pt x="3589506" y="924382"/>
                </a:cubicBezTo>
                <a:cubicBezTo>
                  <a:pt x="3622948" y="917694"/>
                  <a:pt x="3644993" y="914088"/>
                  <a:pt x="3677055" y="904927"/>
                </a:cubicBezTo>
                <a:cubicBezTo>
                  <a:pt x="3686914" y="902110"/>
                  <a:pt x="3696510" y="898442"/>
                  <a:pt x="3706238" y="895199"/>
                </a:cubicBezTo>
                <a:cubicBezTo>
                  <a:pt x="3753224" y="848216"/>
                  <a:pt x="3693508" y="905385"/>
                  <a:pt x="3754877" y="856289"/>
                </a:cubicBezTo>
                <a:cubicBezTo>
                  <a:pt x="3803007" y="817784"/>
                  <a:pt x="3743229" y="858208"/>
                  <a:pt x="3793787" y="807650"/>
                </a:cubicBezTo>
                <a:cubicBezTo>
                  <a:pt x="3802054" y="799383"/>
                  <a:pt x="3814093" y="795803"/>
                  <a:pt x="3822970" y="788195"/>
                </a:cubicBezTo>
                <a:cubicBezTo>
                  <a:pt x="3836897" y="776258"/>
                  <a:pt x="3848911" y="762254"/>
                  <a:pt x="3861881" y="749284"/>
                </a:cubicBezTo>
                <a:lnTo>
                  <a:pt x="3891064" y="720102"/>
                </a:lnTo>
                <a:lnTo>
                  <a:pt x="3910519" y="700646"/>
                </a:lnTo>
                <a:cubicBezTo>
                  <a:pt x="3934971" y="627293"/>
                  <a:pt x="3901987" y="717710"/>
                  <a:pt x="3939702" y="642280"/>
                </a:cubicBezTo>
                <a:cubicBezTo>
                  <a:pt x="3944288" y="633109"/>
                  <a:pt x="3944844" y="622268"/>
                  <a:pt x="3949430" y="613097"/>
                </a:cubicBezTo>
                <a:cubicBezTo>
                  <a:pt x="3987145" y="537667"/>
                  <a:pt x="3954161" y="628084"/>
                  <a:pt x="3978613" y="554731"/>
                </a:cubicBezTo>
                <a:cubicBezTo>
                  <a:pt x="3981856" y="512578"/>
                  <a:pt x="3988341" y="470550"/>
                  <a:pt x="3988341" y="428272"/>
                </a:cubicBezTo>
                <a:cubicBezTo>
                  <a:pt x="3988341" y="376290"/>
                  <a:pt x="3985636" y="324135"/>
                  <a:pt x="3978613" y="272629"/>
                </a:cubicBezTo>
                <a:cubicBezTo>
                  <a:pt x="3975842" y="252309"/>
                  <a:pt x="3965643" y="233718"/>
                  <a:pt x="3959158" y="214263"/>
                </a:cubicBezTo>
                <a:cubicBezTo>
                  <a:pt x="3955915" y="204535"/>
                  <a:pt x="3955118" y="193612"/>
                  <a:pt x="3949430" y="185080"/>
                </a:cubicBezTo>
                <a:cubicBezTo>
                  <a:pt x="3942555" y="174768"/>
                  <a:pt x="3924382" y="143373"/>
                  <a:pt x="3910519" y="136442"/>
                </a:cubicBezTo>
                <a:cubicBezTo>
                  <a:pt x="3869557" y="115962"/>
                  <a:pt x="3876472" y="113744"/>
                  <a:pt x="3852153" y="107259"/>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45</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 B, D, F</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1733000474"/>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12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B</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7</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F</a:t>
                      </a: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2" y="1368475"/>
            <a:ext cx="4726714"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defRPr/>
              </a:pPr>
              <a:r>
                <a:rPr lang="en-US" sz="2400" dirty="0">
                  <a:solidFill>
                    <a:schemeClr val="bg1">
                      <a:lumMod val="50000"/>
                    </a:schemeClr>
                  </a:solidFill>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bg1">
                  <a:lumMod val="65000"/>
                </a:schemeClr>
              </a:solidFill>
              <a:prstDash val="dash"/>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bg1">
                  <a:lumMod val="65000"/>
                </a:schemeClr>
              </a:solidFill>
              <a:prstDash val="dash"/>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bg1">
                  <a:lumMod val="65000"/>
                </a:schemeClr>
              </a:solidFill>
              <a:prstDash val="dash"/>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tx1"/>
              </a:solidFill>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bg1">
                  <a:lumMod val="65000"/>
                </a:schemeClr>
              </a:solidFill>
              <a:prstDash val="dash"/>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9"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436658"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12??</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E6786140-4A33-ED4B-B9C4-0FC8484FE575}"/>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3157432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CFCBFC4D-7381-514F-B8E2-FCB1204AC4CD}"/>
              </a:ext>
            </a:extLst>
          </p:cNvPr>
          <p:cNvSpPr/>
          <p:nvPr/>
        </p:nvSpPr>
        <p:spPr>
          <a:xfrm>
            <a:off x="1708765" y="1303506"/>
            <a:ext cx="4983865" cy="2247090"/>
          </a:xfrm>
          <a:custGeom>
            <a:avLst/>
            <a:gdLst>
              <a:gd name="connsiteX0" fmla="*/ 4828222 w 4983865"/>
              <a:gd name="connsiteY0" fmla="*/ 136188 h 2247090"/>
              <a:gd name="connsiteX1" fmla="*/ 4730946 w 4983865"/>
              <a:gd name="connsiteY1" fmla="*/ 126460 h 2247090"/>
              <a:gd name="connsiteX2" fmla="*/ 4672580 w 4983865"/>
              <a:gd name="connsiteY2" fmla="*/ 107005 h 2247090"/>
              <a:gd name="connsiteX3" fmla="*/ 4643397 w 4983865"/>
              <a:gd name="connsiteY3" fmla="*/ 97277 h 2247090"/>
              <a:gd name="connsiteX4" fmla="*/ 4225107 w 4983865"/>
              <a:gd name="connsiteY4" fmla="*/ 77822 h 2247090"/>
              <a:gd name="connsiteX5" fmla="*/ 4108375 w 4983865"/>
              <a:gd name="connsiteY5" fmla="*/ 68094 h 2247090"/>
              <a:gd name="connsiteX6" fmla="*/ 4030554 w 4983865"/>
              <a:gd name="connsiteY6" fmla="*/ 58366 h 2247090"/>
              <a:gd name="connsiteX7" fmla="*/ 3894367 w 4983865"/>
              <a:gd name="connsiteY7" fmla="*/ 48639 h 2247090"/>
              <a:gd name="connsiteX8" fmla="*/ 3573354 w 4983865"/>
              <a:gd name="connsiteY8" fmla="*/ 29183 h 2247090"/>
              <a:gd name="connsiteX9" fmla="*/ 3505261 w 4983865"/>
              <a:gd name="connsiteY9" fmla="*/ 19456 h 2247090"/>
              <a:gd name="connsiteX10" fmla="*/ 3466350 w 4983865"/>
              <a:gd name="connsiteY10" fmla="*/ 9728 h 2247090"/>
              <a:gd name="connsiteX11" fmla="*/ 3369073 w 4983865"/>
              <a:gd name="connsiteY11" fmla="*/ 0 h 2247090"/>
              <a:gd name="connsiteX12" fmla="*/ 2688137 w 4983865"/>
              <a:gd name="connsiteY12" fmla="*/ 9728 h 2247090"/>
              <a:gd name="connsiteX13" fmla="*/ 2454673 w 4983865"/>
              <a:gd name="connsiteY13" fmla="*/ 19456 h 2247090"/>
              <a:gd name="connsiteX14" fmla="*/ 1647278 w 4983865"/>
              <a:gd name="connsiteY14" fmla="*/ 38911 h 2247090"/>
              <a:gd name="connsiteX15" fmla="*/ 1481907 w 4983865"/>
              <a:gd name="connsiteY15" fmla="*/ 58366 h 2247090"/>
              <a:gd name="connsiteX16" fmla="*/ 1258171 w 4983865"/>
              <a:gd name="connsiteY16" fmla="*/ 77822 h 2247090"/>
              <a:gd name="connsiteX17" fmla="*/ 1083073 w 4983865"/>
              <a:gd name="connsiteY17" fmla="*/ 107005 h 2247090"/>
              <a:gd name="connsiteX18" fmla="*/ 1024707 w 4983865"/>
              <a:gd name="connsiteY18" fmla="*/ 116732 h 2247090"/>
              <a:gd name="connsiteX19" fmla="*/ 985797 w 4983865"/>
              <a:gd name="connsiteY19" fmla="*/ 126460 h 2247090"/>
              <a:gd name="connsiteX20" fmla="*/ 742605 w 4983865"/>
              <a:gd name="connsiteY20" fmla="*/ 155643 h 2247090"/>
              <a:gd name="connsiteX21" fmla="*/ 664784 w 4983865"/>
              <a:gd name="connsiteY21" fmla="*/ 165371 h 2247090"/>
              <a:gd name="connsiteX22" fmla="*/ 528597 w 4983865"/>
              <a:gd name="connsiteY22" fmla="*/ 184826 h 2247090"/>
              <a:gd name="connsiteX23" fmla="*/ 499414 w 4983865"/>
              <a:gd name="connsiteY23" fmla="*/ 194554 h 2247090"/>
              <a:gd name="connsiteX24" fmla="*/ 460503 w 4983865"/>
              <a:gd name="connsiteY24" fmla="*/ 204281 h 2247090"/>
              <a:gd name="connsiteX25" fmla="*/ 431320 w 4983865"/>
              <a:gd name="connsiteY25" fmla="*/ 223737 h 2247090"/>
              <a:gd name="connsiteX26" fmla="*/ 402137 w 4983865"/>
              <a:gd name="connsiteY26" fmla="*/ 233464 h 2247090"/>
              <a:gd name="connsiteX27" fmla="*/ 382682 w 4983865"/>
              <a:gd name="connsiteY27" fmla="*/ 252920 h 2247090"/>
              <a:gd name="connsiteX28" fmla="*/ 343771 w 4983865"/>
              <a:gd name="connsiteY28" fmla="*/ 272375 h 2247090"/>
              <a:gd name="connsiteX29" fmla="*/ 314588 w 4983865"/>
              <a:gd name="connsiteY29" fmla="*/ 291830 h 2247090"/>
              <a:gd name="connsiteX30" fmla="*/ 236767 w 4983865"/>
              <a:gd name="connsiteY30" fmla="*/ 379379 h 2247090"/>
              <a:gd name="connsiteX31" fmla="*/ 207584 w 4983865"/>
              <a:gd name="connsiteY31" fmla="*/ 408562 h 2247090"/>
              <a:gd name="connsiteX32" fmla="*/ 178401 w 4983865"/>
              <a:gd name="connsiteY32" fmla="*/ 437745 h 2247090"/>
              <a:gd name="connsiteX33" fmla="*/ 139490 w 4983865"/>
              <a:gd name="connsiteY33" fmla="*/ 496111 h 2247090"/>
              <a:gd name="connsiteX34" fmla="*/ 100580 w 4983865"/>
              <a:gd name="connsiteY34" fmla="*/ 564205 h 2247090"/>
              <a:gd name="connsiteX35" fmla="*/ 81124 w 4983865"/>
              <a:gd name="connsiteY35" fmla="*/ 583660 h 2247090"/>
              <a:gd name="connsiteX36" fmla="*/ 71397 w 4983865"/>
              <a:gd name="connsiteY36" fmla="*/ 612843 h 2247090"/>
              <a:gd name="connsiteX37" fmla="*/ 51941 w 4983865"/>
              <a:gd name="connsiteY37" fmla="*/ 632298 h 2247090"/>
              <a:gd name="connsiteX38" fmla="*/ 32486 w 4983865"/>
              <a:gd name="connsiteY38" fmla="*/ 710120 h 2247090"/>
              <a:gd name="connsiteX39" fmla="*/ 13031 w 4983865"/>
              <a:gd name="connsiteY39" fmla="*/ 768485 h 2247090"/>
              <a:gd name="connsiteX40" fmla="*/ 3303 w 4983865"/>
              <a:gd name="connsiteY40" fmla="*/ 846307 h 2247090"/>
              <a:gd name="connsiteX41" fmla="*/ 22758 w 4983865"/>
              <a:gd name="connsiteY41" fmla="*/ 1468877 h 2247090"/>
              <a:gd name="connsiteX42" fmla="*/ 32486 w 4983865"/>
              <a:gd name="connsiteY42" fmla="*/ 1634247 h 2247090"/>
              <a:gd name="connsiteX43" fmla="*/ 51941 w 4983865"/>
              <a:gd name="connsiteY43" fmla="*/ 1838528 h 2247090"/>
              <a:gd name="connsiteX44" fmla="*/ 71397 w 4983865"/>
              <a:gd name="connsiteY44" fmla="*/ 1935805 h 2247090"/>
              <a:gd name="connsiteX45" fmla="*/ 90852 w 4983865"/>
              <a:gd name="connsiteY45" fmla="*/ 1994171 h 2247090"/>
              <a:gd name="connsiteX46" fmla="*/ 100580 w 4983865"/>
              <a:gd name="connsiteY46" fmla="*/ 2023354 h 2247090"/>
              <a:gd name="connsiteX47" fmla="*/ 158946 w 4983865"/>
              <a:gd name="connsiteY47" fmla="*/ 2071992 h 2247090"/>
              <a:gd name="connsiteX48" fmla="*/ 246495 w 4983865"/>
              <a:gd name="connsiteY48" fmla="*/ 2120630 h 2247090"/>
              <a:gd name="connsiteX49" fmla="*/ 275678 w 4983865"/>
              <a:gd name="connsiteY49" fmla="*/ 2140085 h 2247090"/>
              <a:gd name="connsiteX50" fmla="*/ 334044 w 4983865"/>
              <a:gd name="connsiteY50" fmla="*/ 2159541 h 2247090"/>
              <a:gd name="connsiteX51" fmla="*/ 421592 w 4983865"/>
              <a:gd name="connsiteY51" fmla="*/ 2198451 h 2247090"/>
              <a:gd name="connsiteX52" fmla="*/ 450775 w 4983865"/>
              <a:gd name="connsiteY52" fmla="*/ 2208179 h 2247090"/>
              <a:gd name="connsiteX53" fmla="*/ 538324 w 4983865"/>
              <a:gd name="connsiteY53" fmla="*/ 2227634 h 2247090"/>
              <a:gd name="connsiteX54" fmla="*/ 596690 w 4983865"/>
              <a:gd name="connsiteY54" fmla="*/ 2237362 h 2247090"/>
              <a:gd name="connsiteX55" fmla="*/ 703695 w 4983865"/>
              <a:gd name="connsiteY55" fmla="*/ 2247090 h 2247090"/>
              <a:gd name="connsiteX56" fmla="*/ 1170622 w 4983865"/>
              <a:gd name="connsiteY56" fmla="*/ 2237362 h 2247090"/>
              <a:gd name="connsiteX57" fmla="*/ 1277626 w 4983865"/>
              <a:gd name="connsiteY57" fmla="*/ 2217907 h 2247090"/>
              <a:gd name="connsiteX58" fmla="*/ 1335992 w 4983865"/>
              <a:gd name="connsiteY58" fmla="*/ 2208179 h 2247090"/>
              <a:gd name="connsiteX59" fmla="*/ 1423541 w 4983865"/>
              <a:gd name="connsiteY59" fmla="*/ 2188724 h 2247090"/>
              <a:gd name="connsiteX60" fmla="*/ 1481907 w 4983865"/>
              <a:gd name="connsiteY60" fmla="*/ 2169268 h 2247090"/>
              <a:gd name="connsiteX61" fmla="*/ 1579184 w 4983865"/>
              <a:gd name="connsiteY61" fmla="*/ 2149813 h 2247090"/>
              <a:gd name="connsiteX62" fmla="*/ 1637550 w 4983865"/>
              <a:gd name="connsiteY62" fmla="*/ 2130358 h 2247090"/>
              <a:gd name="connsiteX63" fmla="*/ 1666733 w 4983865"/>
              <a:gd name="connsiteY63" fmla="*/ 2120630 h 2247090"/>
              <a:gd name="connsiteX64" fmla="*/ 1744554 w 4983865"/>
              <a:gd name="connsiteY64" fmla="*/ 2101175 h 2247090"/>
              <a:gd name="connsiteX65" fmla="*/ 1890469 w 4983865"/>
              <a:gd name="connsiteY65" fmla="*/ 2052537 h 2247090"/>
              <a:gd name="connsiteX66" fmla="*/ 1978018 w 4983865"/>
              <a:gd name="connsiteY66" fmla="*/ 2023354 h 2247090"/>
              <a:gd name="connsiteX67" fmla="*/ 2007201 w 4983865"/>
              <a:gd name="connsiteY67" fmla="*/ 2013626 h 2247090"/>
              <a:gd name="connsiteX68" fmla="*/ 2094750 w 4983865"/>
              <a:gd name="connsiteY68" fmla="*/ 1994171 h 2247090"/>
              <a:gd name="connsiteX69" fmla="*/ 2153116 w 4983865"/>
              <a:gd name="connsiteY69" fmla="*/ 1974715 h 2247090"/>
              <a:gd name="connsiteX70" fmla="*/ 2182299 w 4983865"/>
              <a:gd name="connsiteY70" fmla="*/ 1964988 h 2247090"/>
              <a:gd name="connsiteX71" fmla="*/ 2240665 w 4983865"/>
              <a:gd name="connsiteY71" fmla="*/ 1926077 h 2247090"/>
              <a:gd name="connsiteX72" fmla="*/ 2260120 w 4983865"/>
              <a:gd name="connsiteY72" fmla="*/ 1896894 h 2247090"/>
              <a:gd name="connsiteX73" fmla="*/ 2289303 w 4983865"/>
              <a:gd name="connsiteY73" fmla="*/ 1877439 h 2247090"/>
              <a:gd name="connsiteX74" fmla="*/ 2308758 w 4983865"/>
              <a:gd name="connsiteY74" fmla="*/ 1857983 h 2247090"/>
              <a:gd name="connsiteX75" fmla="*/ 2357397 w 4983865"/>
              <a:gd name="connsiteY75" fmla="*/ 1819073 h 2247090"/>
              <a:gd name="connsiteX76" fmla="*/ 2367124 w 4983865"/>
              <a:gd name="connsiteY76" fmla="*/ 1789890 h 2247090"/>
              <a:gd name="connsiteX77" fmla="*/ 2386580 w 4983865"/>
              <a:gd name="connsiteY77" fmla="*/ 1770434 h 2247090"/>
              <a:gd name="connsiteX78" fmla="*/ 2435218 w 4983865"/>
              <a:gd name="connsiteY78" fmla="*/ 1702341 h 2247090"/>
              <a:gd name="connsiteX79" fmla="*/ 2464401 w 4983865"/>
              <a:gd name="connsiteY79" fmla="*/ 1634247 h 2247090"/>
              <a:gd name="connsiteX80" fmla="*/ 2483856 w 4983865"/>
              <a:gd name="connsiteY80" fmla="*/ 1575881 h 2247090"/>
              <a:gd name="connsiteX81" fmla="*/ 2493584 w 4983865"/>
              <a:gd name="connsiteY81" fmla="*/ 1546698 h 2247090"/>
              <a:gd name="connsiteX82" fmla="*/ 2532495 w 4983865"/>
              <a:gd name="connsiteY82" fmla="*/ 1449422 h 2247090"/>
              <a:gd name="connsiteX83" fmla="*/ 2571405 w 4983865"/>
              <a:gd name="connsiteY83" fmla="*/ 1332690 h 2247090"/>
              <a:gd name="connsiteX84" fmla="*/ 2581133 w 4983865"/>
              <a:gd name="connsiteY84" fmla="*/ 1303507 h 2247090"/>
              <a:gd name="connsiteX85" fmla="*/ 2590861 w 4983865"/>
              <a:gd name="connsiteY85" fmla="*/ 1274324 h 2247090"/>
              <a:gd name="connsiteX86" fmla="*/ 2610316 w 4983865"/>
              <a:gd name="connsiteY86" fmla="*/ 1245141 h 2247090"/>
              <a:gd name="connsiteX87" fmla="*/ 2620044 w 4983865"/>
              <a:gd name="connsiteY87" fmla="*/ 1215958 h 2247090"/>
              <a:gd name="connsiteX88" fmla="*/ 2649226 w 4983865"/>
              <a:gd name="connsiteY88" fmla="*/ 1196503 h 2247090"/>
              <a:gd name="connsiteX89" fmla="*/ 2697865 w 4983865"/>
              <a:gd name="connsiteY89" fmla="*/ 1147864 h 2247090"/>
              <a:gd name="connsiteX90" fmla="*/ 2756231 w 4983865"/>
              <a:gd name="connsiteY90" fmla="*/ 1108954 h 2247090"/>
              <a:gd name="connsiteX91" fmla="*/ 2785414 w 4983865"/>
              <a:gd name="connsiteY91" fmla="*/ 1089498 h 2247090"/>
              <a:gd name="connsiteX92" fmla="*/ 2843780 w 4983865"/>
              <a:gd name="connsiteY92" fmla="*/ 1070043 h 2247090"/>
              <a:gd name="connsiteX93" fmla="*/ 2872963 w 4983865"/>
              <a:gd name="connsiteY93" fmla="*/ 1050588 h 2247090"/>
              <a:gd name="connsiteX94" fmla="*/ 2941056 w 4983865"/>
              <a:gd name="connsiteY94" fmla="*/ 1031132 h 2247090"/>
              <a:gd name="connsiteX95" fmla="*/ 3339890 w 4983865"/>
              <a:gd name="connsiteY95" fmla="*/ 1040860 h 2247090"/>
              <a:gd name="connsiteX96" fmla="*/ 3476078 w 4983865"/>
              <a:gd name="connsiteY96" fmla="*/ 1050588 h 2247090"/>
              <a:gd name="connsiteX97" fmla="*/ 4409933 w 4983865"/>
              <a:gd name="connsiteY97" fmla="*/ 1040860 h 2247090"/>
              <a:gd name="connsiteX98" fmla="*/ 4526665 w 4983865"/>
              <a:gd name="connsiteY98" fmla="*/ 1021405 h 2247090"/>
              <a:gd name="connsiteX99" fmla="*/ 4555848 w 4983865"/>
              <a:gd name="connsiteY99" fmla="*/ 1011677 h 2247090"/>
              <a:gd name="connsiteX100" fmla="*/ 4643397 w 4983865"/>
              <a:gd name="connsiteY100" fmla="*/ 992222 h 2247090"/>
              <a:gd name="connsiteX101" fmla="*/ 4701763 w 4983865"/>
              <a:gd name="connsiteY101" fmla="*/ 972766 h 2247090"/>
              <a:gd name="connsiteX102" fmla="*/ 4730946 w 4983865"/>
              <a:gd name="connsiteY102" fmla="*/ 963039 h 2247090"/>
              <a:gd name="connsiteX103" fmla="*/ 4808767 w 4983865"/>
              <a:gd name="connsiteY103" fmla="*/ 904673 h 2247090"/>
              <a:gd name="connsiteX104" fmla="*/ 4867133 w 4983865"/>
              <a:gd name="connsiteY104" fmla="*/ 875490 h 2247090"/>
              <a:gd name="connsiteX105" fmla="*/ 4906044 w 4983865"/>
              <a:gd name="connsiteY105" fmla="*/ 826851 h 2247090"/>
              <a:gd name="connsiteX106" fmla="*/ 4935226 w 4983865"/>
              <a:gd name="connsiteY106" fmla="*/ 797668 h 2247090"/>
              <a:gd name="connsiteX107" fmla="*/ 4964409 w 4983865"/>
              <a:gd name="connsiteY107" fmla="*/ 710120 h 2247090"/>
              <a:gd name="connsiteX108" fmla="*/ 4974137 w 4983865"/>
              <a:gd name="connsiteY108" fmla="*/ 680937 h 2247090"/>
              <a:gd name="connsiteX109" fmla="*/ 4983865 w 4983865"/>
              <a:gd name="connsiteY109" fmla="*/ 642026 h 2247090"/>
              <a:gd name="connsiteX110" fmla="*/ 4964409 w 4983865"/>
              <a:gd name="connsiteY110" fmla="*/ 350196 h 2247090"/>
              <a:gd name="connsiteX111" fmla="*/ 4944954 w 4983865"/>
              <a:gd name="connsiteY111" fmla="*/ 291830 h 2247090"/>
              <a:gd name="connsiteX112" fmla="*/ 4896316 w 4983865"/>
              <a:gd name="connsiteY112" fmla="*/ 204281 h 2247090"/>
              <a:gd name="connsiteX113" fmla="*/ 4867133 w 4983865"/>
              <a:gd name="connsiteY113" fmla="*/ 184826 h 2247090"/>
              <a:gd name="connsiteX114" fmla="*/ 4828222 w 4983865"/>
              <a:gd name="connsiteY114" fmla="*/ 136188 h 22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4983865" h="2247090">
                <a:moveTo>
                  <a:pt x="4828222" y="136188"/>
                </a:moveTo>
                <a:cubicBezTo>
                  <a:pt x="4805524" y="126460"/>
                  <a:pt x="4762975" y="132465"/>
                  <a:pt x="4730946" y="126460"/>
                </a:cubicBezTo>
                <a:cubicBezTo>
                  <a:pt x="4710790" y="122681"/>
                  <a:pt x="4692035" y="113490"/>
                  <a:pt x="4672580" y="107005"/>
                </a:cubicBezTo>
                <a:cubicBezTo>
                  <a:pt x="4662852" y="103762"/>
                  <a:pt x="4653635" y="97846"/>
                  <a:pt x="4643397" y="97277"/>
                </a:cubicBezTo>
                <a:cubicBezTo>
                  <a:pt x="4387295" y="83049"/>
                  <a:pt x="4526708" y="89885"/>
                  <a:pt x="4225107" y="77822"/>
                </a:cubicBezTo>
                <a:lnTo>
                  <a:pt x="4108375" y="68094"/>
                </a:lnTo>
                <a:cubicBezTo>
                  <a:pt x="4082363" y="65493"/>
                  <a:pt x="4056589" y="60733"/>
                  <a:pt x="4030554" y="58366"/>
                </a:cubicBezTo>
                <a:cubicBezTo>
                  <a:pt x="3985230" y="54246"/>
                  <a:pt x="3939786" y="51538"/>
                  <a:pt x="3894367" y="48639"/>
                </a:cubicBezTo>
                <a:lnTo>
                  <a:pt x="3573354" y="29183"/>
                </a:lnTo>
                <a:cubicBezTo>
                  <a:pt x="3550656" y="25941"/>
                  <a:pt x="3527819" y="23557"/>
                  <a:pt x="3505261" y="19456"/>
                </a:cubicBezTo>
                <a:cubicBezTo>
                  <a:pt x="3492107" y="17064"/>
                  <a:pt x="3479585" y="11619"/>
                  <a:pt x="3466350" y="9728"/>
                </a:cubicBezTo>
                <a:cubicBezTo>
                  <a:pt x="3434090" y="5119"/>
                  <a:pt x="3401499" y="3243"/>
                  <a:pt x="3369073" y="0"/>
                </a:cubicBezTo>
                <a:lnTo>
                  <a:pt x="2688137" y="9728"/>
                </a:lnTo>
                <a:cubicBezTo>
                  <a:pt x="2610266" y="11385"/>
                  <a:pt x="2532519" y="16861"/>
                  <a:pt x="2454673" y="19456"/>
                </a:cubicBezTo>
                <a:lnTo>
                  <a:pt x="1647278" y="38911"/>
                </a:lnTo>
                <a:cubicBezTo>
                  <a:pt x="1596446" y="45265"/>
                  <a:pt x="1532400" y="53632"/>
                  <a:pt x="1481907" y="58366"/>
                </a:cubicBezTo>
                <a:cubicBezTo>
                  <a:pt x="1407374" y="65354"/>
                  <a:pt x="1332013" y="65515"/>
                  <a:pt x="1258171" y="77822"/>
                </a:cubicBezTo>
                <a:lnTo>
                  <a:pt x="1083073" y="107005"/>
                </a:lnTo>
                <a:cubicBezTo>
                  <a:pt x="1063618" y="110247"/>
                  <a:pt x="1043842" y="111948"/>
                  <a:pt x="1024707" y="116732"/>
                </a:cubicBezTo>
                <a:cubicBezTo>
                  <a:pt x="1011737" y="119975"/>
                  <a:pt x="998951" y="124068"/>
                  <a:pt x="985797" y="126460"/>
                </a:cubicBezTo>
                <a:cubicBezTo>
                  <a:pt x="927233" y="137108"/>
                  <a:pt x="767185" y="152570"/>
                  <a:pt x="742605" y="155643"/>
                </a:cubicBezTo>
                <a:lnTo>
                  <a:pt x="664784" y="165371"/>
                </a:lnTo>
                <a:cubicBezTo>
                  <a:pt x="468428" y="193421"/>
                  <a:pt x="774706" y="154061"/>
                  <a:pt x="528597" y="184826"/>
                </a:cubicBezTo>
                <a:cubicBezTo>
                  <a:pt x="518869" y="188069"/>
                  <a:pt x="509273" y="191737"/>
                  <a:pt x="499414" y="194554"/>
                </a:cubicBezTo>
                <a:cubicBezTo>
                  <a:pt x="486559" y="198227"/>
                  <a:pt x="472791" y="199015"/>
                  <a:pt x="460503" y="204281"/>
                </a:cubicBezTo>
                <a:cubicBezTo>
                  <a:pt x="449757" y="208886"/>
                  <a:pt x="441777" y="218508"/>
                  <a:pt x="431320" y="223737"/>
                </a:cubicBezTo>
                <a:cubicBezTo>
                  <a:pt x="422149" y="228323"/>
                  <a:pt x="411865" y="230222"/>
                  <a:pt x="402137" y="233464"/>
                </a:cubicBezTo>
                <a:cubicBezTo>
                  <a:pt x="395652" y="239949"/>
                  <a:pt x="390313" y="247833"/>
                  <a:pt x="382682" y="252920"/>
                </a:cubicBezTo>
                <a:cubicBezTo>
                  <a:pt x="370616" y="260964"/>
                  <a:pt x="356362" y="265181"/>
                  <a:pt x="343771" y="272375"/>
                </a:cubicBezTo>
                <a:cubicBezTo>
                  <a:pt x="333620" y="278175"/>
                  <a:pt x="324316" y="285345"/>
                  <a:pt x="314588" y="291830"/>
                </a:cubicBezTo>
                <a:cubicBezTo>
                  <a:pt x="279871" y="343906"/>
                  <a:pt x="303400" y="312746"/>
                  <a:pt x="236767" y="379379"/>
                </a:cubicBezTo>
                <a:lnTo>
                  <a:pt x="207584" y="408562"/>
                </a:lnTo>
                <a:lnTo>
                  <a:pt x="178401" y="437745"/>
                </a:lnTo>
                <a:cubicBezTo>
                  <a:pt x="161305" y="489032"/>
                  <a:pt x="179972" y="447532"/>
                  <a:pt x="139490" y="496111"/>
                </a:cubicBezTo>
                <a:cubicBezTo>
                  <a:pt x="106320" y="535915"/>
                  <a:pt x="132298" y="516629"/>
                  <a:pt x="100580" y="564205"/>
                </a:cubicBezTo>
                <a:cubicBezTo>
                  <a:pt x="95493" y="571836"/>
                  <a:pt x="87609" y="577175"/>
                  <a:pt x="81124" y="583660"/>
                </a:cubicBezTo>
                <a:cubicBezTo>
                  <a:pt x="77882" y="593388"/>
                  <a:pt x="76673" y="604050"/>
                  <a:pt x="71397" y="612843"/>
                </a:cubicBezTo>
                <a:cubicBezTo>
                  <a:pt x="66678" y="620707"/>
                  <a:pt x="55347" y="623783"/>
                  <a:pt x="51941" y="632298"/>
                </a:cubicBezTo>
                <a:cubicBezTo>
                  <a:pt x="42010" y="657125"/>
                  <a:pt x="40942" y="684753"/>
                  <a:pt x="32486" y="710120"/>
                </a:cubicBezTo>
                <a:lnTo>
                  <a:pt x="13031" y="768485"/>
                </a:lnTo>
                <a:cubicBezTo>
                  <a:pt x="9788" y="794426"/>
                  <a:pt x="3303" y="820164"/>
                  <a:pt x="3303" y="846307"/>
                </a:cubicBezTo>
                <a:cubicBezTo>
                  <a:pt x="3303" y="1352791"/>
                  <a:pt x="-11853" y="1226583"/>
                  <a:pt x="22758" y="1468877"/>
                </a:cubicBezTo>
                <a:cubicBezTo>
                  <a:pt x="26001" y="1524000"/>
                  <a:pt x="28140" y="1579200"/>
                  <a:pt x="32486" y="1634247"/>
                </a:cubicBezTo>
                <a:cubicBezTo>
                  <a:pt x="37869" y="1702437"/>
                  <a:pt x="40695" y="1771057"/>
                  <a:pt x="51941" y="1838528"/>
                </a:cubicBezTo>
                <a:cubicBezTo>
                  <a:pt x="58515" y="1877972"/>
                  <a:pt x="60513" y="1899524"/>
                  <a:pt x="71397" y="1935805"/>
                </a:cubicBezTo>
                <a:cubicBezTo>
                  <a:pt x="77290" y="1955448"/>
                  <a:pt x="84367" y="1974716"/>
                  <a:pt x="90852" y="1994171"/>
                </a:cubicBezTo>
                <a:cubicBezTo>
                  <a:pt x="94095" y="2003899"/>
                  <a:pt x="92048" y="2017666"/>
                  <a:pt x="100580" y="2023354"/>
                </a:cubicBezTo>
                <a:cubicBezTo>
                  <a:pt x="204852" y="2092867"/>
                  <a:pt x="46608" y="1984617"/>
                  <a:pt x="158946" y="2071992"/>
                </a:cubicBezTo>
                <a:cubicBezTo>
                  <a:pt x="209121" y="2111017"/>
                  <a:pt x="202463" y="2105954"/>
                  <a:pt x="246495" y="2120630"/>
                </a:cubicBezTo>
                <a:cubicBezTo>
                  <a:pt x="256223" y="2127115"/>
                  <a:pt x="264995" y="2135337"/>
                  <a:pt x="275678" y="2140085"/>
                </a:cubicBezTo>
                <a:cubicBezTo>
                  <a:pt x="294418" y="2148414"/>
                  <a:pt x="316981" y="2148165"/>
                  <a:pt x="334044" y="2159541"/>
                </a:cubicBezTo>
                <a:cubicBezTo>
                  <a:pt x="380290" y="2190372"/>
                  <a:pt x="352134" y="2175298"/>
                  <a:pt x="421592" y="2198451"/>
                </a:cubicBezTo>
                <a:cubicBezTo>
                  <a:pt x="431320" y="2201694"/>
                  <a:pt x="440827" y="2205692"/>
                  <a:pt x="450775" y="2208179"/>
                </a:cubicBezTo>
                <a:cubicBezTo>
                  <a:pt x="492420" y="2218591"/>
                  <a:pt x="493031" y="2219399"/>
                  <a:pt x="538324" y="2227634"/>
                </a:cubicBezTo>
                <a:cubicBezTo>
                  <a:pt x="557730" y="2231162"/>
                  <a:pt x="577101" y="2235057"/>
                  <a:pt x="596690" y="2237362"/>
                </a:cubicBezTo>
                <a:cubicBezTo>
                  <a:pt x="632260" y="2241547"/>
                  <a:pt x="668027" y="2243847"/>
                  <a:pt x="703695" y="2247090"/>
                </a:cubicBezTo>
                <a:lnTo>
                  <a:pt x="1170622" y="2237362"/>
                </a:lnTo>
                <a:cubicBezTo>
                  <a:pt x="1231061" y="2235164"/>
                  <a:pt x="1228653" y="2227702"/>
                  <a:pt x="1277626" y="2217907"/>
                </a:cubicBezTo>
                <a:cubicBezTo>
                  <a:pt x="1296967" y="2214039"/>
                  <a:pt x="1316586" y="2211707"/>
                  <a:pt x="1335992" y="2208179"/>
                </a:cubicBezTo>
                <a:cubicBezTo>
                  <a:pt x="1359480" y="2203908"/>
                  <a:pt x="1399527" y="2195928"/>
                  <a:pt x="1423541" y="2188724"/>
                </a:cubicBezTo>
                <a:cubicBezTo>
                  <a:pt x="1443184" y="2182831"/>
                  <a:pt x="1461797" y="2173290"/>
                  <a:pt x="1481907" y="2169268"/>
                </a:cubicBezTo>
                <a:cubicBezTo>
                  <a:pt x="1514333" y="2162783"/>
                  <a:pt x="1547813" y="2160270"/>
                  <a:pt x="1579184" y="2149813"/>
                </a:cubicBezTo>
                <a:lnTo>
                  <a:pt x="1637550" y="2130358"/>
                </a:lnTo>
                <a:cubicBezTo>
                  <a:pt x="1647278" y="2127115"/>
                  <a:pt x="1656785" y="2123117"/>
                  <a:pt x="1666733" y="2120630"/>
                </a:cubicBezTo>
                <a:cubicBezTo>
                  <a:pt x="1692673" y="2114145"/>
                  <a:pt x="1719187" y="2109630"/>
                  <a:pt x="1744554" y="2101175"/>
                </a:cubicBezTo>
                <a:lnTo>
                  <a:pt x="1890469" y="2052537"/>
                </a:lnTo>
                <a:lnTo>
                  <a:pt x="1978018" y="2023354"/>
                </a:lnTo>
                <a:cubicBezTo>
                  <a:pt x="1987746" y="2020111"/>
                  <a:pt x="1997146" y="2015637"/>
                  <a:pt x="2007201" y="2013626"/>
                </a:cubicBezTo>
                <a:cubicBezTo>
                  <a:pt x="2034955" y="2008075"/>
                  <a:pt x="2067287" y="2002410"/>
                  <a:pt x="2094750" y="1994171"/>
                </a:cubicBezTo>
                <a:cubicBezTo>
                  <a:pt x="2114393" y="1988278"/>
                  <a:pt x="2133661" y="1981200"/>
                  <a:pt x="2153116" y="1974715"/>
                </a:cubicBezTo>
                <a:lnTo>
                  <a:pt x="2182299" y="1964988"/>
                </a:lnTo>
                <a:cubicBezTo>
                  <a:pt x="2201754" y="1952018"/>
                  <a:pt x="2227695" y="1945532"/>
                  <a:pt x="2240665" y="1926077"/>
                </a:cubicBezTo>
                <a:cubicBezTo>
                  <a:pt x="2247150" y="1916349"/>
                  <a:pt x="2251853" y="1905161"/>
                  <a:pt x="2260120" y="1896894"/>
                </a:cubicBezTo>
                <a:cubicBezTo>
                  <a:pt x="2268387" y="1888627"/>
                  <a:pt x="2280174" y="1884742"/>
                  <a:pt x="2289303" y="1877439"/>
                </a:cubicBezTo>
                <a:cubicBezTo>
                  <a:pt x="2296465" y="1871710"/>
                  <a:pt x="2301596" y="1863712"/>
                  <a:pt x="2308758" y="1857983"/>
                </a:cubicBezTo>
                <a:cubicBezTo>
                  <a:pt x="2370127" y="1808887"/>
                  <a:pt x="2310411" y="1866056"/>
                  <a:pt x="2357397" y="1819073"/>
                </a:cubicBezTo>
                <a:cubicBezTo>
                  <a:pt x="2360639" y="1809345"/>
                  <a:pt x="2361849" y="1798683"/>
                  <a:pt x="2367124" y="1789890"/>
                </a:cubicBezTo>
                <a:cubicBezTo>
                  <a:pt x="2371843" y="1782025"/>
                  <a:pt x="2380708" y="1777480"/>
                  <a:pt x="2386580" y="1770434"/>
                </a:cubicBezTo>
                <a:cubicBezTo>
                  <a:pt x="2406693" y="1746299"/>
                  <a:pt x="2418369" y="1727615"/>
                  <a:pt x="2435218" y="1702341"/>
                </a:cubicBezTo>
                <a:cubicBezTo>
                  <a:pt x="2460952" y="1599406"/>
                  <a:pt x="2426013" y="1720622"/>
                  <a:pt x="2464401" y="1634247"/>
                </a:cubicBezTo>
                <a:cubicBezTo>
                  <a:pt x="2472730" y="1615507"/>
                  <a:pt x="2477371" y="1595336"/>
                  <a:pt x="2483856" y="1575881"/>
                </a:cubicBezTo>
                <a:cubicBezTo>
                  <a:pt x="2487099" y="1566153"/>
                  <a:pt x="2488998" y="1555869"/>
                  <a:pt x="2493584" y="1546698"/>
                </a:cubicBezTo>
                <a:cubicBezTo>
                  <a:pt x="2522209" y="1489449"/>
                  <a:pt x="2508456" y="1521540"/>
                  <a:pt x="2532495" y="1449422"/>
                </a:cubicBezTo>
                <a:lnTo>
                  <a:pt x="2571405" y="1332690"/>
                </a:lnTo>
                <a:lnTo>
                  <a:pt x="2581133" y="1303507"/>
                </a:lnTo>
                <a:cubicBezTo>
                  <a:pt x="2584376" y="1293779"/>
                  <a:pt x="2585173" y="1282856"/>
                  <a:pt x="2590861" y="1274324"/>
                </a:cubicBezTo>
                <a:cubicBezTo>
                  <a:pt x="2597346" y="1264596"/>
                  <a:pt x="2605088" y="1255598"/>
                  <a:pt x="2610316" y="1245141"/>
                </a:cubicBezTo>
                <a:cubicBezTo>
                  <a:pt x="2614902" y="1235970"/>
                  <a:pt x="2613638" y="1223965"/>
                  <a:pt x="2620044" y="1215958"/>
                </a:cubicBezTo>
                <a:cubicBezTo>
                  <a:pt x="2627347" y="1206829"/>
                  <a:pt x="2640428" y="1204202"/>
                  <a:pt x="2649226" y="1196503"/>
                </a:cubicBezTo>
                <a:cubicBezTo>
                  <a:pt x="2666481" y="1181404"/>
                  <a:pt x="2678787" y="1160582"/>
                  <a:pt x="2697865" y="1147864"/>
                </a:cubicBezTo>
                <a:lnTo>
                  <a:pt x="2756231" y="1108954"/>
                </a:lnTo>
                <a:cubicBezTo>
                  <a:pt x="2765959" y="1102469"/>
                  <a:pt x="2774323" y="1093195"/>
                  <a:pt x="2785414" y="1089498"/>
                </a:cubicBezTo>
                <a:cubicBezTo>
                  <a:pt x="2804869" y="1083013"/>
                  <a:pt x="2826716" y="1081418"/>
                  <a:pt x="2843780" y="1070043"/>
                </a:cubicBezTo>
                <a:cubicBezTo>
                  <a:pt x="2853508" y="1063558"/>
                  <a:pt x="2862506" y="1055816"/>
                  <a:pt x="2872963" y="1050588"/>
                </a:cubicBezTo>
                <a:cubicBezTo>
                  <a:pt x="2886919" y="1043610"/>
                  <a:pt x="2928588" y="1034249"/>
                  <a:pt x="2941056" y="1031132"/>
                </a:cubicBezTo>
                <a:lnTo>
                  <a:pt x="3339890" y="1040860"/>
                </a:lnTo>
                <a:cubicBezTo>
                  <a:pt x="3385372" y="1042514"/>
                  <a:pt x="3430566" y="1050588"/>
                  <a:pt x="3476078" y="1050588"/>
                </a:cubicBezTo>
                <a:cubicBezTo>
                  <a:pt x="3787380" y="1050588"/>
                  <a:pt x="4098648" y="1044103"/>
                  <a:pt x="4409933" y="1040860"/>
                </a:cubicBezTo>
                <a:cubicBezTo>
                  <a:pt x="4448353" y="1035371"/>
                  <a:pt x="4488744" y="1030885"/>
                  <a:pt x="4526665" y="1021405"/>
                </a:cubicBezTo>
                <a:cubicBezTo>
                  <a:pt x="4536613" y="1018918"/>
                  <a:pt x="4545900" y="1014164"/>
                  <a:pt x="4555848" y="1011677"/>
                </a:cubicBezTo>
                <a:cubicBezTo>
                  <a:pt x="4611362" y="997798"/>
                  <a:pt x="4593487" y="1007195"/>
                  <a:pt x="4643397" y="992222"/>
                </a:cubicBezTo>
                <a:cubicBezTo>
                  <a:pt x="4663040" y="986329"/>
                  <a:pt x="4682308" y="979251"/>
                  <a:pt x="4701763" y="972766"/>
                </a:cubicBezTo>
                <a:lnTo>
                  <a:pt x="4730946" y="963039"/>
                </a:lnTo>
                <a:cubicBezTo>
                  <a:pt x="4766935" y="927048"/>
                  <a:pt x="4742768" y="948673"/>
                  <a:pt x="4808767" y="904673"/>
                </a:cubicBezTo>
                <a:cubicBezTo>
                  <a:pt x="4846484" y="879528"/>
                  <a:pt x="4826856" y="888915"/>
                  <a:pt x="4867133" y="875490"/>
                </a:cubicBezTo>
                <a:cubicBezTo>
                  <a:pt x="4923736" y="818885"/>
                  <a:pt x="4844685" y="900483"/>
                  <a:pt x="4906044" y="826851"/>
                </a:cubicBezTo>
                <a:cubicBezTo>
                  <a:pt x="4914851" y="816283"/>
                  <a:pt x="4925499" y="807396"/>
                  <a:pt x="4935226" y="797668"/>
                </a:cubicBezTo>
                <a:lnTo>
                  <a:pt x="4964409" y="710120"/>
                </a:lnTo>
                <a:cubicBezTo>
                  <a:pt x="4967652" y="700392"/>
                  <a:pt x="4971650" y="690885"/>
                  <a:pt x="4974137" y="680937"/>
                </a:cubicBezTo>
                <a:lnTo>
                  <a:pt x="4983865" y="642026"/>
                </a:lnTo>
                <a:cubicBezTo>
                  <a:pt x="4982214" y="602396"/>
                  <a:pt x="4984689" y="431316"/>
                  <a:pt x="4964409" y="350196"/>
                </a:cubicBezTo>
                <a:cubicBezTo>
                  <a:pt x="4959435" y="330301"/>
                  <a:pt x="4951439" y="311285"/>
                  <a:pt x="4944954" y="291830"/>
                </a:cubicBezTo>
                <a:cubicBezTo>
                  <a:pt x="4934818" y="261421"/>
                  <a:pt x="4924984" y="223392"/>
                  <a:pt x="4896316" y="204281"/>
                </a:cubicBezTo>
                <a:cubicBezTo>
                  <a:pt x="4886588" y="197796"/>
                  <a:pt x="4877590" y="190054"/>
                  <a:pt x="4867133" y="184826"/>
                </a:cubicBezTo>
                <a:cubicBezTo>
                  <a:pt x="4822420" y="162470"/>
                  <a:pt x="4850920" y="145916"/>
                  <a:pt x="4828222" y="136188"/>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46</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 B, D, F, H</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1714666132"/>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12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B</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8</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H</a:t>
                      </a: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7</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F</a:t>
                      </a: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defRPr/>
              </a:pPr>
              <a:r>
                <a:rPr lang="en-US" sz="2400" dirty="0">
                  <a:solidFill>
                    <a:schemeClr val="bg1">
                      <a:lumMod val="50000"/>
                    </a:schemeClr>
                  </a:solidFill>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tx1"/>
              </a:solidFill>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bg1">
                  <a:lumMod val="65000"/>
                </a:schemeClr>
              </a:solidFill>
              <a:prstDash val="dash"/>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bg1">
                  <a:lumMod val="65000"/>
                </a:schemeClr>
              </a:solidFill>
              <a:prstDash val="dash"/>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bg1">
                  <a:lumMod val="65000"/>
                </a:schemeClr>
              </a:solidFill>
              <a:prstDash val="dash"/>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tx1"/>
              </a:solidFill>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bg1">
                  <a:lumMod val="65000"/>
                </a:schemeClr>
              </a:solidFill>
              <a:prstDash val="dash"/>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bg1">
                  <a:lumMod val="65000"/>
                </a:schemeClr>
              </a:solidFill>
              <a:prstDash val="dash"/>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8??</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436658"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12??</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A592A852-B5E1-6D40-A03E-19FEAEECE15A}"/>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4209788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F9CF498B-6B8D-7048-ABB5-7B07667AFA5D}"/>
              </a:ext>
            </a:extLst>
          </p:cNvPr>
          <p:cNvSpPr/>
          <p:nvPr/>
        </p:nvSpPr>
        <p:spPr>
          <a:xfrm>
            <a:off x="1731523" y="1264596"/>
            <a:ext cx="5107022" cy="2383276"/>
          </a:xfrm>
          <a:custGeom>
            <a:avLst/>
            <a:gdLst>
              <a:gd name="connsiteX0" fmla="*/ 3317132 w 5107022"/>
              <a:gd name="connsiteY0" fmla="*/ 29183 h 2383276"/>
              <a:gd name="connsiteX1" fmla="*/ 2636196 w 5107022"/>
              <a:gd name="connsiteY1" fmla="*/ 29183 h 2383276"/>
              <a:gd name="connsiteX2" fmla="*/ 2519464 w 5107022"/>
              <a:gd name="connsiteY2" fmla="*/ 9727 h 2383276"/>
              <a:gd name="connsiteX3" fmla="*/ 2169268 w 5107022"/>
              <a:gd name="connsiteY3" fmla="*/ 0 h 2383276"/>
              <a:gd name="connsiteX4" fmla="*/ 1235413 w 5107022"/>
              <a:gd name="connsiteY4" fmla="*/ 19455 h 2383276"/>
              <a:gd name="connsiteX5" fmla="*/ 1021405 w 5107022"/>
              <a:gd name="connsiteY5" fmla="*/ 38910 h 2383276"/>
              <a:gd name="connsiteX6" fmla="*/ 953311 w 5107022"/>
              <a:gd name="connsiteY6" fmla="*/ 48638 h 2383276"/>
              <a:gd name="connsiteX7" fmla="*/ 875490 w 5107022"/>
              <a:gd name="connsiteY7" fmla="*/ 58366 h 2383276"/>
              <a:gd name="connsiteX8" fmla="*/ 836579 w 5107022"/>
              <a:gd name="connsiteY8" fmla="*/ 68093 h 2383276"/>
              <a:gd name="connsiteX9" fmla="*/ 719847 w 5107022"/>
              <a:gd name="connsiteY9" fmla="*/ 87549 h 2383276"/>
              <a:gd name="connsiteX10" fmla="*/ 359924 w 5107022"/>
              <a:gd name="connsiteY10" fmla="*/ 97276 h 2383276"/>
              <a:gd name="connsiteX11" fmla="*/ 272375 w 5107022"/>
              <a:gd name="connsiteY11" fmla="*/ 116732 h 2383276"/>
              <a:gd name="connsiteX12" fmla="*/ 223737 w 5107022"/>
              <a:gd name="connsiteY12" fmla="*/ 126459 h 2383276"/>
              <a:gd name="connsiteX13" fmla="*/ 165371 w 5107022"/>
              <a:gd name="connsiteY13" fmla="*/ 165370 h 2383276"/>
              <a:gd name="connsiteX14" fmla="*/ 126460 w 5107022"/>
              <a:gd name="connsiteY14" fmla="*/ 204281 h 2383276"/>
              <a:gd name="connsiteX15" fmla="*/ 87549 w 5107022"/>
              <a:gd name="connsiteY15" fmla="*/ 252919 h 2383276"/>
              <a:gd name="connsiteX16" fmla="*/ 58366 w 5107022"/>
              <a:gd name="connsiteY16" fmla="*/ 311285 h 2383276"/>
              <a:gd name="connsiteX17" fmla="*/ 48639 w 5107022"/>
              <a:gd name="connsiteY17" fmla="*/ 350195 h 2383276"/>
              <a:gd name="connsiteX18" fmla="*/ 29183 w 5107022"/>
              <a:gd name="connsiteY18" fmla="*/ 408561 h 2383276"/>
              <a:gd name="connsiteX19" fmla="*/ 19456 w 5107022"/>
              <a:gd name="connsiteY19" fmla="*/ 457200 h 2383276"/>
              <a:gd name="connsiteX20" fmla="*/ 0 w 5107022"/>
              <a:gd name="connsiteY20" fmla="*/ 680936 h 2383276"/>
              <a:gd name="connsiteX21" fmla="*/ 9728 w 5107022"/>
              <a:gd name="connsiteY21" fmla="*/ 972766 h 2383276"/>
              <a:gd name="connsiteX22" fmla="*/ 29183 w 5107022"/>
              <a:gd name="connsiteY22" fmla="*/ 1215957 h 2383276"/>
              <a:gd name="connsiteX23" fmla="*/ 48639 w 5107022"/>
              <a:gd name="connsiteY23" fmla="*/ 1682885 h 2383276"/>
              <a:gd name="connsiteX24" fmla="*/ 58366 w 5107022"/>
              <a:gd name="connsiteY24" fmla="*/ 2149813 h 2383276"/>
              <a:gd name="connsiteX25" fmla="*/ 126460 w 5107022"/>
              <a:gd name="connsiteY25" fmla="*/ 2256817 h 2383276"/>
              <a:gd name="connsiteX26" fmla="*/ 155643 w 5107022"/>
              <a:gd name="connsiteY26" fmla="*/ 2266544 h 2383276"/>
              <a:gd name="connsiteX27" fmla="*/ 204281 w 5107022"/>
              <a:gd name="connsiteY27" fmla="*/ 2295727 h 2383276"/>
              <a:gd name="connsiteX28" fmla="*/ 233464 w 5107022"/>
              <a:gd name="connsiteY28" fmla="*/ 2315183 h 2383276"/>
              <a:gd name="connsiteX29" fmla="*/ 301558 w 5107022"/>
              <a:gd name="connsiteY29" fmla="*/ 2334638 h 2383276"/>
              <a:gd name="connsiteX30" fmla="*/ 389107 w 5107022"/>
              <a:gd name="connsiteY30" fmla="*/ 2363821 h 2383276"/>
              <a:gd name="connsiteX31" fmla="*/ 418290 w 5107022"/>
              <a:gd name="connsiteY31" fmla="*/ 2373549 h 2383276"/>
              <a:gd name="connsiteX32" fmla="*/ 457200 w 5107022"/>
              <a:gd name="connsiteY32" fmla="*/ 2383276 h 2383276"/>
              <a:gd name="connsiteX33" fmla="*/ 807396 w 5107022"/>
              <a:gd name="connsiteY33" fmla="*/ 2373549 h 2383276"/>
              <a:gd name="connsiteX34" fmla="*/ 865762 w 5107022"/>
              <a:gd name="connsiteY34" fmla="*/ 2363821 h 2383276"/>
              <a:gd name="connsiteX35" fmla="*/ 943583 w 5107022"/>
              <a:gd name="connsiteY35" fmla="*/ 2344366 h 2383276"/>
              <a:gd name="connsiteX36" fmla="*/ 982494 w 5107022"/>
              <a:gd name="connsiteY36" fmla="*/ 2334638 h 2383276"/>
              <a:gd name="connsiteX37" fmla="*/ 1060315 w 5107022"/>
              <a:gd name="connsiteY37" fmla="*/ 2315183 h 2383276"/>
              <a:gd name="connsiteX38" fmla="*/ 1138137 w 5107022"/>
              <a:gd name="connsiteY38" fmla="*/ 2295727 h 2383276"/>
              <a:gd name="connsiteX39" fmla="*/ 1167320 w 5107022"/>
              <a:gd name="connsiteY39" fmla="*/ 2286000 h 2383276"/>
              <a:gd name="connsiteX40" fmla="*/ 1206230 w 5107022"/>
              <a:gd name="connsiteY40" fmla="*/ 2276272 h 2383276"/>
              <a:gd name="connsiteX41" fmla="*/ 1235413 w 5107022"/>
              <a:gd name="connsiteY41" fmla="*/ 2266544 h 2383276"/>
              <a:gd name="connsiteX42" fmla="*/ 1274324 w 5107022"/>
              <a:gd name="connsiteY42" fmla="*/ 2256817 h 2383276"/>
              <a:gd name="connsiteX43" fmla="*/ 1303507 w 5107022"/>
              <a:gd name="connsiteY43" fmla="*/ 2247089 h 2383276"/>
              <a:gd name="connsiteX44" fmla="*/ 1342417 w 5107022"/>
              <a:gd name="connsiteY44" fmla="*/ 2237361 h 2383276"/>
              <a:gd name="connsiteX45" fmla="*/ 1371600 w 5107022"/>
              <a:gd name="connsiteY45" fmla="*/ 2227634 h 2383276"/>
              <a:gd name="connsiteX46" fmla="*/ 1410511 w 5107022"/>
              <a:gd name="connsiteY46" fmla="*/ 2217906 h 2383276"/>
              <a:gd name="connsiteX47" fmla="*/ 1478605 w 5107022"/>
              <a:gd name="connsiteY47" fmla="*/ 2198451 h 2383276"/>
              <a:gd name="connsiteX48" fmla="*/ 1517515 w 5107022"/>
              <a:gd name="connsiteY48" fmla="*/ 2178995 h 2383276"/>
              <a:gd name="connsiteX49" fmla="*/ 1624520 w 5107022"/>
              <a:gd name="connsiteY49" fmla="*/ 2149813 h 2383276"/>
              <a:gd name="connsiteX50" fmla="*/ 1663430 w 5107022"/>
              <a:gd name="connsiteY50" fmla="*/ 2130357 h 2383276"/>
              <a:gd name="connsiteX51" fmla="*/ 1702341 w 5107022"/>
              <a:gd name="connsiteY51" fmla="*/ 2120630 h 2383276"/>
              <a:gd name="connsiteX52" fmla="*/ 1731524 w 5107022"/>
              <a:gd name="connsiteY52" fmla="*/ 2110902 h 2383276"/>
              <a:gd name="connsiteX53" fmla="*/ 1780162 w 5107022"/>
              <a:gd name="connsiteY53" fmla="*/ 2101174 h 2383276"/>
              <a:gd name="connsiteX54" fmla="*/ 1838528 w 5107022"/>
              <a:gd name="connsiteY54" fmla="*/ 2081719 h 2383276"/>
              <a:gd name="connsiteX55" fmla="*/ 1935805 w 5107022"/>
              <a:gd name="connsiteY55" fmla="*/ 2052536 h 2383276"/>
              <a:gd name="connsiteX56" fmla="*/ 1994171 w 5107022"/>
              <a:gd name="connsiteY56" fmla="*/ 2033081 h 2383276"/>
              <a:gd name="connsiteX57" fmla="*/ 2101175 w 5107022"/>
              <a:gd name="connsiteY57" fmla="*/ 2003898 h 2383276"/>
              <a:gd name="connsiteX58" fmla="*/ 2149813 w 5107022"/>
              <a:gd name="connsiteY58" fmla="*/ 1974715 h 2383276"/>
              <a:gd name="connsiteX59" fmla="*/ 2208179 w 5107022"/>
              <a:gd name="connsiteY59" fmla="*/ 1935804 h 2383276"/>
              <a:gd name="connsiteX60" fmla="*/ 2247090 w 5107022"/>
              <a:gd name="connsiteY60" fmla="*/ 1916349 h 2383276"/>
              <a:gd name="connsiteX61" fmla="*/ 2266545 w 5107022"/>
              <a:gd name="connsiteY61" fmla="*/ 1896893 h 2383276"/>
              <a:gd name="connsiteX62" fmla="*/ 2363822 w 5107022"/>
              <a:gd name="connsiteY62" fmla="*/ 1828800 h 2383276"/>
              <a:gd name="connsiteX63" fmla="*/ 2383277 w 5107022"/>
              <a:gd name="connsiteY63" fmla="*/ 1809344 h 2383276"/>
              <a:gd name="connsiteX64" fmla="*/ 2412460 w 5107022"/>
              <a:gd name="connsiteY64" fmla="*/ 1789889 h 2383276"/>
              <a:gd name="connsiteX65" fmla="*/ 2441643 w 5107022"/>
              <a:gd name="connsiteY65" fmla="*/ 1760706 h 2383276"/>
              <a:gd name="connsiteX66" fmla="*/ 2470826 w 5107022"/>
              <a:gd name="connsiteY66" fmla="*/ 1750978 h 2383276"/>
              <a:gd name="connsiteX67" fmla="*/ 2500009 w 5107022"/>
              <a:gd name="connsiteY67" fmla="*/ 1731523 h 2383276"/>
              <a:gd name="connsiteX68" fmla="*/ 2597286 w 5107022"/>
              <a:gd name="connsiteY68" fmla="*/ 1702340 h 2383276"/>
              <a:gd name="connsiteX69" fmla="*/ 2655651 w 5107022"/>
              <a:gd name="connsiteY69" fmla="*/ 1682885 h 2383276"/>
              <a:gd name="connsiteX70" fmla="*/ 2714017 w 5107022"/>
              <a:gd name="connsiteY70" fmla="*/ 1663430 h 2383276"/>
              <a:gd name="connsiteX71" fmla="*/ 2743200 w 5107022"/>
              <a:gd name="connsiteY71" fmla="*/ 1653702 h 2383276"/>
              <a:gd name="connsiteX72" fmla="*/ 2811294 w 5107022"/>
              <a:gd name="connsiteY72" fmla="*/ 1643974 h 2383276"/>
              <a:gd name="connsiteX73" fmla="*/ 3161490 w 5107022"/>
              <a:gd name="connsiteY73" fmla="*/ 1653702 h 2383276"/>
              <a:gd name="connsiteX74" fmla="*/ 3190673 w 5107022"/>
              <a:gd name="connsiteY74" fmla="*/ 1663430 h 2383276"/>
              <a:gd name="connsiteX75" fmla="*/ 3229583 w 5107022"/>
              <a:gd name="connsiteY75" fmla="*/ 1673157 h 2383276"/>
              <a:gd name="connsiteX76" fmla="*/ 3287949 w 5107022"/>
              <a:gd name="connsiteY76" fmla="*/ 1692613 h 2383276"/>
              <a:gd name="connsiteX77" fmla="*/ 3385226 w 5107022"/>
              <a:gd name="connsiteY77" fmla="*/ 1702340 h 2383276"/>
              <a:gd name="connsiteX78" fmla="*/ 3482503 w 5107022"/>
              <a:gd name="connsiteY78" fmla="*/ 1721795 h 2383276"/>
              <a:gd name="connsiteX79" fmla="*/ 3570051 w 5107022"/>
              <a:gd name="connsiteY79" fmla="*/ 1750978 h 2383276"/>
              <a:gd name="connsiteX80" fmla="*/ 3599234 w 5107022"/>
              <a:gd name="connsiteY80" fmla="*/ 1760706 h 2383276"/>
              <a:gd name="connsiteX81" fmla="*/ 3638145 w 5107022"/>
              <a:gd name="connsiteY81" fmla="*/ 1770434 h 2383276"/>
              <a:gd name="connsiteX82" fmla="*/ 3745149 w 5107022"/>
              <a:gd name="connsiteY82" fmla="*/ 1799617 h 2383276"/>
              <a:gd name="connsiteX83" fmla="*/ 3891064 w 5107022"/>
              <a:gd name="connsiteY83" fmla="*/ 1819072 h 2383276"/>
              <a:gd name="connsiteX84" fmla="*/ 4134256 w 5107022"/>
              <a:gd name="connsiteY84" fmla="*/ 1809344 h 2383276"/>
              <a:gd name="connsiteX85" fmla="*/ 4241260 w 5107022"/>
              <a:gd name="connsiteY85" fmla="*/ 1780161 h 2383276"/>
              <a:gd name="connsiteX86" fmla="*/ 4260715 w 5107022"/>
              <a:gd name="connsiteY86" fmla="*/ 1750978 h 2383276"/>
              <a:gd name="connsiteX87" fmla="*/ 4309354 w 5107022"/>
              <a:gd name="connsiteY87" fmla="*/ 1702340 h 2383276"/>
              <a:gd name="connsiteX88" fmla="*/ 4319081 w 5107022"/>
              <a:gd name="connsiteY88" fmla="*/ 1673157 h 2383276"/>
              <a:gd name="connsiteX89" fmla="*/ 4396903 w 5107022"/>
              <a:gd name="connsiteY89" fmla="*/ 1605064 h 2383276"/>
              <a:gd name="connsiteX90" fmla="*/ 4474724 w 5107022"/>
              <a:gd name="connsiteY90" fmla="*/ 1536970 h 2383276"/>
              <a:gd name="connsiteX91" fmla="*/ 4484451 w 5107022"/>
              <a:gd name="connsiteY91" fmla="*/ 1507787 h 2383276"/>
              <a:gd name="connsiteX92" fmla="*/ 4523362 w 5107022"/>
              <a:gd name="connsiteY92" fmla="*/ 1468876 h 2383276"/>
              <a:gd name="connsiteX93" fmla="*/ 4572000 w 5107022"/>
              <a:gd name="connsiteY93" fmla="*/ 1410510 h 2383276"/>
              <a:gd name="connsiteX94" fmla="*/ 4591456 w 5107022"/>
              <a:gd name="connsiteY94" fmla="*/ 1391055 h 2383276"/>
              <a:gd name="connsiteX95" fmla="*/ 4659549 w 5107022"/>
              <a:gd name="connsiteY95" fmla="*/ 1322961 h 2383276"/>
              <a:gd name="connsiteX96" fmla="*/ 4708188 w 5107022"/>
              <a:gd name="connsiteY96" fmla="*/ 1284051 h 2383276"/>
              <a:gd name="connsiteX97" fmla="*/ 4727643 w 5107022"/>
              <a:gd name="connsiteY97" fmla="*/ 1264595 h 2383276"/>
              <a:gd name="connsiteX98" fmla="*/ 4756826 w 5107022"/>
              <a:gd name="connsiteY98" fmla="*/ 1254868 h 2383276"/>
              <a:gd name="connsiteX99" fmla="*/ 4776281 w 5107022"/>
              <a:gd name="connsiteY99" fmla="*/ 1225685 h 2383276"/>
              <a:gd name="connsiteX100" fmla="*/ 4824920 w 5107022"/>
              <a:gd name="connsiteY100" fmla="*/ 1196502 h 2383276"/>
              <a:gd name="connsiteX101" fmla="*/ 4863830 w 5107022"/>
              <a:gd name="connsiteY101" fmla="*/ 1138136 h 2383276"/>
              <a:gd name="connsiteX102" fmla="*/ 4902741 w 5107022"/>
              <a:gd name="connsiteY102" fmla="*/ 1099225 h 2383276"/>
              <a:gd name="connsiteX103" fmla="*/ 4941651 w 5107022"/>
              <a:gd name="connsiteY103" fmla="*/ 1040859 h 2383276"/>
              <a:gd name="connsiteX104" fmla="*/ 4990290 w 5107022"/>
              <a:gd name="connsiteY104" fmla="*/ 992221 h 2383276"/>
              <a:gd name="connsiteX105" fmla="*/ 5029200 w 5107022"/>
              <a:gd name="connsiteY105" fmla="*/ 933855 h 2383276"/>
              <a:gd name="connsiteX106" fmla="*/ 5068111 w 5107022"/>
              <a:gd name="connsiteY106" fmla="*/ 885217 h 2383276"/>
              <a:gd name="connsiteX107" fmla="*/ 5087566 w 5107022"/>
              <a:gd name="connsiteY107" fmla="*/ 826851 h 2383276"/>
              <a:gd name="connsiteX108" fmla="*/ 5097294 w 5107022"/>
              <a:gd name="connsiteY108" fmla="*/ 797668 h 2383276"/>
              <a:gd name="connsiteX109" fmla="*/ 5107022 w 5107022"/>
              <a:gd name="connsiteY109" fmla="*/ 768485 h 2383276"/>
              <a:gd name="connsiteX110" fmla="*/ 5087566 w 5107022"/>
              <a:gd name="connsiteY110" fmla="*/ 476655 h 2383276"/>
              <a:gd name="connsiteX111" fmla="*/ 5068111 w 5107022"/>
              <a:gd name="connsiteY111" fmla="*/ 418289 h 2383276"/>
              <a:gd name="connsiteX112" fmla="*/ 5048656 w 5107022"/>
              <a:gd name="connsiteY112" fmla="*/ 389106 h 2383276"/>
              <a:gd name="connsiteX113" fmla="*/ 5038928 w 5107022"/>
              <a:gd name="connsiteY113" fmla="*/ 359923 h 2383276"/>
              <a:gd name="connsiteX114" fmla="*/ 4951379 w 5107022"/>
              <a:gd name="connsiteY114" fmla="*/ 282102 h 2383276"/>
              <a:gd name="connsiteX115" fmla="*/ 4922196 w 5107022"/>
              <a:gd name="connsiteY115" fmla="*/ 252919 h 2383276"/>
              <a:gd name="connsiteX116" fmla="*/ 4893013 w 5107022"/>
              <a:gd name="connsiteY116" fmla="*/ 233464 h 2383276"/>
              <a:gd name="connsiteX117" fmla="*/ 4873558 w 5107022"/>
              <a:gd name="connsiteY117" fmla="*/ 214008 h 2383276"/>
              <a:gd name="connsiteX118" fmla="*/ 4834647 w 5107022"/>
              <a:gd name="connsiteY118" fmla="*/ 194553 h 2383276"/>
              <a:gd name="connsiteX119" fmla="*/ 4805464 w 5107022"/>
              <a:gd name="connsiteY119" fmla="*/ 175098 h 2383276"/>
              <a:gd name="connsiteX120" fmla="*/ 4669277 w 5107022"/>
              <a:gd name="connsiteY120" fmla="*/ 136187 h 2383276"/>
              <a:gd name="connsiteX121" fmla="*/ 4610911 w 5107022"/>
              <a:gd name="connsiteY121" fmla="*/ 116732 h 2383276"/>
              <a:gd name="connsiteX122" fmla="*/ 4581728 w 5107022"/>
              <a:gd name="connsiteY122" fmla="*/ 107004 h 2383276"/>
              <a:gd name="connsiteX123" fmla="*/ 4513634 w 5107022"/>
              <a:gd name="connsiteY123" fmla="*/ 97276 h 2383276"/>
              <a:gd name="connsiteX124" fmla="*/ 4435813 w 5107022"/>
              <a:gd name="connsiteY124" fmla="*/ 87549 h 2383276"/>
              <a:gd name="connsiteX125" fmla="*/ 4241260 w 5107022"/>
              <a:gd name="connsiteY125" fmla="*/ 68093 h 2383276"/>
              <a:gd name="connsiteX126" fmla="*/ 3754877 w 5107022"/>
              <a:gd name="connsiteY126" fmla="*/ 58366 h 2383276"/>
              <a:gd name="connsiteX127" fmla="*/ 3638145 w 5107022"/>
              <a:gd name="connsiteY127" fmla="*/ 48638 h 2383276"/>
              <a:gd name="connsiteX128" fmla="*/ 3589507 w 5107022"/>
              <a:gd name="connsiteY128" fmla="*/ 38910 h 2383276"/>
              <a:gd name="connsiteX129" fmla="*/ 3453320 w 5107022"/>
              <a:gd name="connsiteY129" fmla="*/ 48638 h 2383276"/>
              <a:gd name="connsiteX130" fmla="*/ 3317132 w 5107022"/>
              <a:gd name="connsiteY130" fmla="*/ 29183 h 2383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5107022" h="2383276">
                <a:moveTo>
                  <a:pt x="3317132" y="29183"/>
                </a:moveTo>
                <a:cubicBezTo>
                  <a:pt x="3180945" y="25941"/>
                  <a:pt x="3172648" y="50931"/>
                  <a:pt x="2636196" y="29183"/>
                </a:cubicBezTo>
                <a:cubicBezTo>
                  <a:pt x="2596781" y="27585"/>
                  <a:pt x="2558896" y="10822"/>
                  <a:pt x="2519464" y="9727"/>
                </a:cubicBezTo>
                <a:lnTo>
                  <a:pt x="2169268" y="0"/>
                </a:lnTo>
                <a:lnTo>
                  <a:pt x="1235413" y="19455"/>
                </a:lnTo>
                <a:cubicBezTo>
                  <a:pt x="1183999" y="23264"/>
                  <a:pt x="1075917" y="32497"/>
                  <a:pt x="1021405" y="38910"/>
                </a:cubicBezTo>
                <a:cubicBezTo>
                  <a:pt x="998634" y="41589"/>
                  <a:pt x="976038" y="45608"/>
                  <a:pt x="953311" y="48638"/>
                </a:cubicBezTo>
                <a:cubicBezTo>
                  <a:pt x="927398" y="52093"/>
                  <a:pt x="901277" y="54068"/>
                  <a:pt x="875490" y="58366"/>
                </a:cubicBezTo>
                <a:cubicBezTo>
                  <a:pt x="862302" y="60564"/>
                  <a:pt x="849630" y="65193"/>
                  <a:pt x="836579" y="68093"/>
                </a:cubicBezTo>
                <a:cubicBezTo>
                  <a:pt x="807957" y="74453"/>
                  <a:pt x="745373" y="86389"/>
                  <a:pt x="719847" y="87549"/>
                </a:cubicBezTo>
                <a:cubicBezTo>
                  <a:pt x="599953" y="92999"/>
                  <a:pt x="479898" y="94034"/>
                  <a:pt x="359924" y="97276"/>
                </a:cubicBezTo>
                <a:cubicBezTo>
                  <a:pt x="213153" y="126631"/>
                  <a:pt x="396077" y="89243"/>
                  <a:pt x="272375" y="116732"/>
                </a:cubicBezTo>
                <a:cubicBezTo>
                  <a:pt x="256235" y="120319"/>
                  <a:pt x="239950" y="123217"/>
                  <a:pt x="223737" y="126459"/>
                </a:cubicBezTo>
                <a:cubicBezTo>
                  <a:pt x="204282" y="139429"/>
                  <a:pt x="181905" y="148836"/>
                  <a:pt x="165371" y="165370"/>
                </a:cubicBezTo>
                <a:cubicBezTo>
                  <a:pt x="152401" y="178340"/>
                  <a:pt x="136635" y="189019"/>
                  <a:pt x="126460" y="204281"/>
                </a:cubicBezTo>
                <a:cubicBezTo>
                  <a:pt x="101918" y="241095"/>
                  <a:pt x="115272" y="225197"/>
                  <a:pt x="87549" y="252919"/>
                </a:cubicBezTo>
                <a:cubicBezTo>
                  <a:pt x="46568" y="375870"/>
                  <a:pt x="114930" y="179303"/>
                  <a:pt x="58366" y="311285"/>
                </a:cubicBezTo>
                <a:cubicBezTo>
                  <a:pt x="53100" y="323573"/>
                  <a:pt x="52481" y="337390"/>
                  <a:pt x="48639" y="350195"/>
                </a:cubicBezTo>
                <a:cubicBezTo>
                  <a:pt x="42746" y="369838"/>
                  <a:pt x="33205" y="388451"/>
                  <a:pt x="29183" y="408561"/>
                </a:cubicBezTo>
                <a:cubicBezTo>
                  <a:pt x="25941" y="424774"/>
                  <a:pt x="21794" y="440832"/>
                  <a:pt x="19456" y="457200"/>
                </a:cubicBezTo>
                <a:cubicBezTo>
                  <a:pt x="8917" y="530976"/>
                  <a:pt x="5287" y="606919"/>
                  <a:pt x="0" y="680936"/>
                </a:cubicBezTo>
                <a:cubicBezTo>
                  <a:pt x="3243" y="778213"/>
                  <a:pt x="4427" y="875580"/>
                  <a:pt x="9728" y="972766"/>
                </a:cubicBezTo>
                <a:cubicBezTo>
                  <a:pt x="14157" y="1053968"/>
                  <a:pt x="25490" y="1134718"/>
                  <a:pt x="29183" y="1215957"/>
                </a:cubicBezTo>
                <a:cubicBezTo>
                  <a:pt x="35000" y="1343927"/>
                  <a:pt x="45313" y="1559837"/>
                  <a:pt x="48639" y="1682885"/>
                </a:cubicBezTo>
                <a:cubicBezTo>
                  <a:pt x="52845" y="1838505"/>
                  <a:pt x="49731" y="1994376"/>
                  <a:pt x="58366" y="2149813"/>
                </a:cubicBezTo>
                <a:cubicBezTo>
                  <a:pt x="60266" y="2184011"/>
                  <a:pt x="91057" y="2245017"/>
                  <a:pt x="126460" y="2256817"/>
                </a:cubicBezTo>
                <a:lnTo>
                  <a:pt x="155643" y="2266544"/>
                </a:lnTo>
                <a:cubicBezTo>
                  <a:pt x="193644" y="2304547"/>
                  <a:pt x="153769" y="2270471"/>
                  <a:pt x="204281" y="2295727"/>
                </a:cubicBezTo>
                <a:cubicBezTo>
                  <a:pt x="214738" y="2300956"/>
                  <a:pt x="223007" y="2309954"/>
                  <a:pt x="233464" y="2315183"/>
                </a:cubicBezTo>
                <a:cubicBezTo>
                  <a:pt x="247415" y="2322158"/>
                  <a:pt x="289097" y="2331523"/>
                  <a:pt x="301558" y="2334638"/>
                </a:cubicBezTo>
                <a:cubicBezTo>
                  <a:pt x="352332" y="2368486"/>
                  <a:pt x="310471" y="2346346"/>
                  <a:pt x="389107" y="2363821"/>
                </a:cubicBezTo>
                <a:cubicBezTo>
                  <a:pt x="399117" y="2366045"/>
                  <a:pt x="408431" y="2370732"/>
                  <a:pt x="418290" y="2373549"/>
                </a:cubicBezTo>
                <a:cubicBezTo>
                  <a:pt x="431145" y="2377222"/>
                  <a:pt x="444230" y="2380034"/>
                  <a:pt x="457200" y="2383276"/>
                </a:cubicBezTo>
                <a:lnTo>
                  <a:pt x="807396" y="2373549"/>
                </a:lnTo>
                <a:cubicBezTo>
                  <a:pt x="827097" y="2372611"/>
                  <a:pt x="846476" y="2367954"/>
                  <a:pt x="865762" y="2363821"/>
                </a:cubicBezTo>
                <a:cubicBezTo>
                  <a:pt x="891907" y="2358218"/>
                  <a:pt x="917643" y="2350851"/>
                  <a:pt x="943583" y="2344366"/>
                </a:cubicBezTo>
                <a:cubicBezTo>
                  <a:pt x="956553" y="2341123"/>
                  <a:pt x="969384" y="2337260"/>
                  <a:pt x="982494" y="2334638"/>
                </a:cubicBezTo>
                <a:cubicBezTo>
                  <a:pt x="1101464" y="2310843"/>
                  <a:pt x="978064" y="2337615"/>
                  <a:pt x="1060315" y="2315183"/>
                </a:cubicBezTo>
                <a:cubicBezTo>
                  <a:pt x="1086112" y="2308148"/>
                  <a:pt x="1112770" y="2304182"/>
                  <a:pt x="1138137" y="2295727"/>
                </a:cubicBezTo>
                <a:cubicBezTo>
                  <a:pt x="1147865" y="2292485"/>
                  <a:pt x="1157461" y="2288817"/>
                  <a:pt x="1167320" y="2286000"/>
                </a:cubicBezTo>
                <a:cubicBezTo>
                  <a:pt x="1180175" y="2282327"/>
                  <a:pt x="1193375" y="2279945"/>
                  <a:pt x="1206230" y="2276272"/>
                </a:cubicBezTo>
                <a:cubicBezTo>
                  <a:pt x="1216089" y="2273455"/>
                  <a:pt x="1225554" y="2269361"/>
                  <a:pt x="1235413" y="2266544"/>
                </a:cubicBezTo>
                <a:cubicBezTo>
                  <a:pt x="1248268" y="2262871"/>
                  <a:pt x="1261469" y="2260490"/>
                  <a:pt x="1274324" y="2256817"/>
                </a:cubicBezTo>
                <a:cubicBezTo>
                  <a:pt x="1284183" y="2254000"/>
                  <a:pt x="1293648" y="2249906"/>
                  <a:pt x="1303507" y="2247089"/>
                </a:cubicBezTo>
                <a:cubicBezTo>
                  <a:pt x="1316362" y="2243416"/>
                  <a:pt x="1329562" y="2241034"/>
                  <a:pt x="1342417" y="2237361"/>
                </a:cubicBezTo>
                <a:cubicBezTo>
                  <a:pt x="1352276" y="2234544"/>
                  <a:pt x="1361741" y="2230451"/>
                  <a:pt x="1371600" y="2227634"/>
                </a:cubicBezTo>
                <a:cubicBezTo>
                  <a:pt x="1384455" y="2223961"/>
                  <a:pt x="1397656" y="2221579"/>
                  <a:pt x="1410511" y="2217906"/>
                </a:cubicBezTo>
                <a:cubicBezTo>
                  <a:pt x="1508159" y="2190006"/>
                  <a:pt x="1357015" y="2228846"/>
                  <a:pt x="1478605" y="2198451"/>
                </a:cubicBezTo>
                <a:cubicBezTo>
                  <a:pt x="1491575" y="2191966"/>
                  <a:pt x="1503758" y="2183581"/>
                  <a:pt x="1517515" y="2178995"/>
                </a:cubicBezTo>
                <a:cubicBezTo>
                  <a:pt x="1581556" y="2157648"/>
                  <a:pt x="1556308" y="2183921"/>
                  <a:pt x="1624520" y="2149813"/>
                </a:cubicBezTo>
                <a:cubicBezTo>
                  <a:pt x="1637490" y="2143328"/>
                  <a:pt x="1649852" y="2135449"/>
                  <a:pt x="1663430" y="2130357"/>
                </a:cubicBezTo>
                <a:cubicBezTo>
                  <a:pt x="1675948" y="2125663"/>
                  <a:pt x="1689486" y="2124303"/>
                  <a:pt x="1702341" y="2120630"/>
                </a:cubicBezTo>
                <a:cubicBezTo>
                  <a:pt x="1712200" y="2117813"/>
                  <a:pt x="1721576" y="2113389"/>
                  <a:pt x="1731524" y="2110902"/>
                </a:cubicBezTo>
                <a:cubicBezTo>
                  <a:pt x="1747564" y="2106892"/>
                  <a:pt x="1764211" y="2105524"/>
                  <a:pt x="1780162" y="2101174"/>
                </a:cubicBezTo>
                <a:cubicBezTo>
                  <a:pt x="1799947" y="2095778"/>
                  <a:pt x="1818633" y="2086693"/>
                  <a:pt x="1838528" y="2081719"/>
                </a:cubicBezTo>
                <a:cubicBezTo>
                  <a:pt x="1897331" y="2067018"/>
                  <a:pt x="1864760" y="2076218"/>
                  <a:pt x="1935805" y="2052536"/>
                </a:cubicBezTo>
                <a:lnTo>
                  <a:pt x="1994171" y="2033081"/>
                </a:lnTo>
                <a:cubicBezTo>
                  <a:pt x="2081940" y="2011138"/>
                  <a:pt x="2046625" y="2022080"/>
                  <a:pt x="2101175" y="2003898"/>
                </a:cubicBezTo>
                <a:cubicBezTo>
                  <a:pt x="2144822" y="1960249"/>
                  <a:pt x="2092988" y="2006284"/>
                  <a:pt x="2149813" y="1974715"/>
                </a:cubicBezTo>
                <a:cubicBezTo>
                  <a:pt x="2170253" y="1963360"/>
                  <a:pt x="2187265" y="1946261"/>
                  <a:pt x="2208179" y="1935804"/>
                </a:cubicBezTo>
                <a:lnTo>
                  <a:pt x="2247090" y="1916349"/>
                </a:lnTo>
                <a:cubicBezTo>
                  <a:pt x="2253575" y="1909864"/>
                  <a:pt x="2259208" y="1902396"/>
                  <a:pt x="2266545" y="1896893"/>
                </a:cubicBezTo>
                <a:cubicBezTo>
                  <a:pt x="2327158" y="1851433"/>
                  <a:pt x="2314001" y="1870318"/>
                  <a:pt x="2363822" y="1828800"/>
                </a:cubicBezTo>
                <a:cubicBezTo>
                  <a:pt x="2370868" y="1822929"/>
                  <a:pt x="2376115" y="1815073"/>
                  <a:pt x="2383277" y="1809344"/>
                </a:cubicBezTo>
                <a:cubicBezTo>
                  <a:pt x="2392406" y="1802041"/>
                  <a:pt x="2403479" y="1797373"/>
                  <a:pt x="2412460" y="1789889"/>
                </a:cubicBezTo>
                <a:cubicBezTo>
                  <a:pt x="2423028" y="1781082"/>
                  <a:pt x="2430197" y="1768337"/>
                  <a:pt x="2441643" y="1760706"/>
                </a:cubicBezTo>
                <a:cubicBezTo>
                  <a:pt x="2450175" y="1755018"/>
                  <a:pt x="2461655" y="1755564"/>
                  <a:pt x="2470826" y="1750978"/>
                </a:cubicBezTo>
                <a:cubicBezTo>
                  <a:pt x="2481283" y="1745750"/>
                  <a:pt x="2489552" y="1736751"/>
                  <a:pt x="2500009" y="1731523"/>
                </a:cubicBezTo>
                <a:cubicBezTo>
                  <a:pt x="2558067" y="1702495"/>
                  <a:pt x="2537141" y="1718743"/>
                  <a:pt x="2597286" y="1702340"/>
                </a:cubicBezTo>
                <a:cubicBezTo>
                  <a:pt x="2617071" y="1696944"/>
                  <a:pt x="2636196" y="1689370"/>
                  <a:pt x="2655651" y="1682885"/>
                </a:cubicBezTo>
                <a:lnTo>
                  <a:pt x="2714017" y="1663430"/>
                </a:lnTo>
                <a:cubicBezTo>
                  <a:pt x="2723745" y="1660187"/>
                  <a:pt x="2733049" y="1655152"/>
                  <a:pt x="2743200" y="1653702"/>
                </a:cubicBezTo>
                <a:lnTo>
                  <a:pt x="2811294" y="1643974"/>
                </a:lnTo>
                <a:cubicBezTo>
                  <a:pt x="2928026" y="1647217"/>
                  <a:pt x="3044866" y="1647721"/>
                  <a:pt x="3161490" y="1653702"/>
                </a:cubicBezTo>
                <a:cubicBezTo>
                  <a:pt x="3171730" y="1654227"/>
                  <a:pt x="3180814" y="1660613"/>
                  <a:pt x="3190673" y="1663430"/>
                </a:cubicBezTo>
                <a:cubicBezTo>
                  <a:pt x="3203528" y="1667103"/>
                  <a:pt x="3216778" y="1669315"/>
                  <a:pt x="3229583" y="1673157"/>
                </a:cubicBezTo>
                <a:cubicBezTo>
                  <a:pt x="3249226" y="1679050"/>
                  <a:pt x="3267543" y="1690573"/>
                  <a:pt x="3287949" y="1692613"/>
                </a:cubicBezTo>
                <a:lnTo>
                  <a:pt x="3385226" y="1702340"/>
                </a:lnTo>
                <a:cubicBezTo>
                  <a:pt x="3417652" y="1708825"/>
                  <a:pt x="3451132" y="1711338"/>
                  <a:pt x="3482503" y="1721795"/>
                </a:cubicBezTo>
                <a:lnTo>
                  <a:pt x="3570051" y="1750978"/>
                </a:lnTo>
                <a:cubicBezTo>
                  <a:pt x="3579779" y="1754221"/>
                  <a:pt x="3589286" y="1758219"/>
                  <a:pt x="3599234" y="1760706"/>
                </a:cubicBezTo>
                <a:cubicBezTo>
                  <a:pt x="3612204" y="1763949"/>
                  <a:pt x="3625290" y="1766761"/>
                  <a:pt x="3638145" y="1770434"/>
                </a:cubicBezTo>
                <a:cubicBezTo>
                  <a:pt x="3680791" y="1782618"/>
                  <a:pt x="3688423" y="1793315"/>
                  <a:pt x="3745149" y="1799617"/>
                </a:cubicBezTo>
                <a:cubicBezTo>
                  <a:pt x="3852301" y="1811522"/>
                  <a:pt x="3803735" y="1804517"/>
                  <a:pt x="3891064" y="1819072"/>
                </a:cubicBezTo>
                <a:cubicBezTo>
                  <a:pt x="3972128" y="1815829"/>
                  <a:pt x="4053460" y="1816689"/>
                  <a:pt x="4134256" y="1809344"/>
                </a:cubicBezTo>
                <a:cubicBezTo>
                  <a:pt x="4164430" y="1806601"/>
                  <a:pt x="4208797" y="1790982"/>
                  <a:pt x="4241260" y="1780161"/>
                </a:cubicBezTo>
                <a:cubicBezTo>
                  <a:pt x="4247745" y="1770433"/>
                  <a:pt x="4253016" y="1759776"/>
                  <a:pt x="4260715" y="1750978"/>
                </a:cubicBezTo>
                <a:cubicBezTo>
                  <a:pt x="4275814" y="1733723"/>
                  <a:pt x="4309354" y="1702340"/>
                  <a:pt x="4309354" y="1702340"/>
                </a:cubicBezTo>
                <a:cubicBezTo>
                  <a:pt x="4312596" y="1692612"/>
                  <a:pt x="4312929" y="1681360"/>
                  <a:pt x="4319081" y="1673157"/>
                </a:cubicBezTo>
                <a:cubicBezTo>
                  <a:pt x="4377625" y="1595099"/>
                  <a:pt x="4347807" y="1648023"/>
                  <a:pt x="4396903" y="1605064"/>
                </a:cubicBezTo>
                <a:cubicBezTo>
                  <a:pt x="4487951" y="1525396"/>
                  <a:pt x="4409054" y="1580749"/>
                  <a:pt x="4474724" y="1536970"/>
                </a:cubicBezTo>
                <a:cubicBezTo>
                  <a:pt x="4477966" y="1527242"/>
                  <a:pt x="4478491" y="1516131"/>
                  <a:pt x="4484451" y="1507787"/>
                </a:cubicBezTo>
                <a:cubicBezTo>
                  <a:pt x="4495112" y="1492861"/>
                  <a:pt x="4510392" y="1481846"/>
                  <a:pt x="4523362" y="1468876"/>
                </a:cubicBezTo>
                <a:cubicBezTo>
                  <a:pt x="4592692" y="1399546"/>
                  <a:pt x="4517821" y="1478232"/>
                  <a:pt x="4572000" y="1410510"/>
                </a:cubicBezTo>
                <a:cubicBezTo>
                  <a:pt x="4577729" y="1403348"/>
                  <a:pt x="4585953" y="1398392"/>
                  <a:pt x="4591456" y="1391055"/>
                </a:cubicBezTo>
                <a:cubicBezTo>
                  <a:pt x="4643488" y="1321679"/>
                  <a:pt x="4604923" y="1341170"/>
                  <a:pt x="4659549" y="1322961"/>
                </a:cubicBezTo>
                <a:cubicBezTo>
                  <a:pt x="4706535" y="1275978"/>
                  <a:pt x="4646819" y="1333147"/>
                  <a:pt x="4708188" y="1284051"/>
                </a:cubicBezTo>
                <a:cubicBezTo>
                  <a:pt x="4715350" y="1278322"/>
                  <a:pt x="4719779" y="1269314"/>
                  <a:pt x="4727643" y="1264595"/>
                </a:cubicBezTo>
                <a:cubicBezTo>
                  <a:pt x="4736436" y="1259319"/>
                  <a:pt x="4747098" y="1258110"/>
                  <a:pt x="4756826" y="1254868"/>
                </a:cubicBezTo>
                <a:cubicBezTo>
                  <a:pt x="4763311" y="1245140"/>
                  <a:pt x="4767152" y="1232988"/>
                  <a:pt x="4776281" y="1225685"/>
                </a:cubicBezTo>
                <a:cubicBezTo>
                  <a:pt x="4828649" y="1183790"/>
                  <a:pt x="4785258" y="1249385"/>
                  <a:pt x="4824920" y="1196502"/>
                </a:cubicBezTo>
                <a:cubicBezTo>
                  <a:pt x="4838949" y="1177796"/>
                  <a:pt x="4847296" y="1154670"/>
                  <a:pt x="4863830" y="1138136"/>
                </a:cubicBezTo>
                <a:cubicBezTo>
                  <a:pt x="4876800" y="1125166"/>
                  <a:pt x="4892566" y="1114487"/>
                  <a:pt x="4902741" y="1099225"/>
                </a:cubicBezTo>
                <a:cubicBezTo>
                  <a:pt x="4915711" y="1079770"/>
                  <a:pt x="4925117" y="1057393"/>
                  <a:pt x="4941651" y="1040859"/>
                </a:cubicBezTo>
                <a:cubicBezTo>
                  <a:pt x="4957864" y="1024646"/>
                  <a:pt x="4977572" y="1011299"/>
                  <a:pt x="4990290" y="992221"/>
                </a:cubicBezTo>
                <a:cubicBezTo>
                  <a:pt x="5003260" y="972766"/>
                  <a:pt x="5012666" y="950388"/>
                  <a:pt x="5029200" y="933855"/>
                </a:cubicBezTo>
                <a:cubicBezTo>
                  <a:pt x="5045372" y="917684"/>
                  <a:pt x="5058293" y="907307"/>
                  <a:pt x="5068111" y="885217"/>
                </a:cubicBezTo>
                <a:cubicBezTo>
                  <a:pt x="5076440" y="866477"/>
                  <a:pt x="5081081" y="846306"/>
                  <a:pt x="5087566" y="826851"/>
                </a:cubicBezTo>
                <a:lnTo>
                  <a:pt x="5097294" y="797668"/>
                </a:lnTo>
                <a:lnTo>
                  <a:pt x="5107022" y="768485"/>
                </a:lnTo>
                <a:cubicBezTo>
                  <a:pt x="5102383" y="647874"/>
                  <a:pt x="5116869" y="574332"/>
                  <a:pt x="5087566" y="476655"/>
                </a:cubicBezTo>
                <a:cubicBezTo>
                  <a:pt x="5081673" y="457012"/>
                  <a:pt x="5079486" y="435353"/>
                  <a:pt x="5068111" y="418289"/>
                </a:cubicBezTo>
                <a:cubicBezTo>
                  <a:pt x="5061626" y="408561"/>
                  <a:pt x="5053884" y="399563"/>
                  <a:pt x="5048656" y="389106"/>
                </a:cubicBezTo>
                <a:cubicBezTo>
                  <a:pt x="5044070" y="379935"/>
                  <a:pt x="5045223" y="368017"/>
                  <a:pt x="5038928" y="359923"/>
                </a:cubicBezTo>
                <a:cubicBezTo>
                  <a:pt x="4969224" y="270304"/>
                  <a:pt x="5004760" y="326586"/>
                  <a:pt x="4951379" y="282102"/>
                </a:cubicBezTo>
                <a:cubicBezTo>
                  <a:pt x="4940811" y="273295"/>
                  <a:pt x="4932764" y="261726"/>
                  <a:pt x="4922196" y="252919"/>
                </a:cubicBezTo>
                <a:cubicBezTo>
                  <a:pt x="4913215" y="245435"/>
                  <a:pt x="4902142" y="240767"/>
                  <a:pt x="4893013" y="233464"/>
                </a:cubicBezTo>
                <a:cubicBezTo>
                  <a:pt x="4885851" y="227735"/>
                  <a:pt x="4881189" y="219095"/>
                  <a:pt x="4873558" y="214008"/>
                </a:cubicBezTo>
                <a:cubicBezTo>
                  <a:pt x="4861492" y="205964"/>
                  <a:pt x="4847238" y="201747"/>
                  <a:pt x="4834647" y="194553"/>
                </a:cubicBezTo>
                <a:cubicBezTo>
                  <a:pt x="4824496" y="188753"/>
                  <a:pt x="4816147" y="179846"/>
                  <a:pt x="4805464" y="175098"/>
                </a:cubicBezTo>
                <a:cubicBezTo>
                  <a:pt x="4749248" y="150113"/>
                  <a:pt x="4731116" y="156800"/>
                  <a:pt x="4669277" y="136187"/>
                </a:cubicBezTo>
                <a:lnTo>
                  <a:pt x="4610911" y="116732"/>
                </a:lnTo>
                <a:cubicBezTo>
                  <a:pt x="4601183" y="113489"/>
                  <a:pt x="4591879" y="108454"/>
                  <a:pt x="4581728" y="107004"/>
                </a:cubicBezTo>
                <a:lnTo>
                  <a:pt x="4513634" y="97276"/>
                </a:lnTo>
                <a:lnTo>
                  <a:pt x="4435813" y="87549"/>
                </a:lnTo>
                <a:cubicBezTo>
                  <a:pt x="4334838" y="73124"/>
                  <a:pt x="4391852" y="72799"/>
                  <a:pt x="4241260" y="68093"/>
                </a:cubicBezTo>
                <a:cubicBezTo>
                  <a:pt x="4079179" y="63028"/>
                  <a:pt x="3917005" y="61608"/>
                  <a:pt x="3754877" y="58366"/>
                </a:cubicBezTo>
                <a:cubicBezTo>
                  <a:pt x="3715966" y="55123"/>
                  <a:pt x="3676923" y="53200"/>
                  <a:pt x="3638145" y="48638"/>
                </a:cubicBezTo>
                <a:cubicBezTo>
                  <a:pt x="3621724" y="46706"/>
                  <a:pt x="3606041" y="38910"/>
                  <a:pt x="3589507" y="38910"/>
                </a:cubicBezTo>
                <a:cubicBezTo>
                  <a:pt x="3543996" y="38910"/>
                  <a:pt x="3498716" y="45395"/>
                  <a:pt x="3453320" y="48638"/>
                </a:cubicBezTo>
                <a:cubicBezTo>
                  <a:pt x="3358565" y="38109"/>
                  <a:pt x="3453319" y="32425"/>
                  <a:pt x="3317132" y="29183"/>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47</a:t>
            </a:fld>
            <a:endParaRPr lang="en-US"/>
          </a:p>
        </p:txBody>
      </p:sp>
      <p:sp>
        <p:nvSpPr>
          <p:cNvPr id="54" name="TextBox 53"/>
          <p:cNvSpPr txBox="1"/>
          <p:nvPr>
            <p:custDataLst>
              <p:tags r:id="rId3"/>
            </p:custDataLst>
          </p:nvPr>
        </p:nvSpPr>
        <p:spPr>
          <a:xfrm>
            <a:off x="2536980" y="4883684"/>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 B, D, F, H, G</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3082669421"/>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11</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G</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B</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8</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H</a:t>
                      </a: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7</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F</a:t>
                      </a: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defRPr/>
              </a:pPr>
              <a:r>
                <a:rPr lang="en-US" sz="2400" dirty="0">
                  <a:solidFill>
                    <a:schemeClr val="bg1">
                      <a:lumMod val="50000"/>
                    </a:schemeClr>
                  </a:solidFill>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defRPr/>
              </a:pPr>
              <a:r>
                <a:rPr lang="en-US" sz="2400" dirty="0">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bg1">
                  <a:lumMod val="65000"/>
                </a:schemeClr>
              </a:solidFill>
              <a:prstDash val="dash"/>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tx1"/>
              </a:solidFill>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bg1">
                  <a:lumMod val="65000"/>
                </a:schemeClr>
              </a:solidFill>
              <a:prstDash val="dash"/>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bg1">
                  <a:lumMod val="65000"/>
                </a:schemeClr>
              </a:solidFill>
              <a:prstDash val="dash"/>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bg1">
                  <a:lumMod val="65000"/>
                </a:schemeClr>
              </a:solidFill>
              <a:prstDash val="dash"/>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bg1">
                  <a:lumMod val="65000"/>
                </a:schemeClr>
              </a:solidFill>
              <a:prstDash val="dash"/>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bg1">
                  <a:lumMod val="65000"/>
                </a:schemeClr>
              </a:solidFill>
              <a:prstDash val="dash"/>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bg1">
                  <a:lumMod val="65000"/>
                </a:schemeClr>
              </a:solidFill>
              <a:prstDash val="dash"/>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tx1"/>
              </a:solidFill>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8</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436658"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11??</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499FCDD1-FE53-7F4C-A09D-A0AE38A84AA2}"/>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4679923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D582685E-24E7-2341-9CF2-B7CDC8EB5370}"/>
              </a:ext>
            </a:extLst>
          </p:cNvPr>
          <p:cNvSpPr/>
          <p:nvPr/>
        </p:nvSpPr>
        <p:spPr>
          <a:xfrm>
            <a:off x="1741251" y="1361872"/>
            <a:ext cx="4893013" cy="2402732"/>
          </a:xfrm>
          <a:custGeom>
            <a:avLst/>
            <a:gdLst>
              <a:gd name="connsiteX0" fmla="*/ 4056434 w 4893013"/>
              <a:gd name="connsiteY0" fmla="*/ 58366 h 2402732"/>
              <a:gd name="connsiteX1" fmla="*/ 3463047 w 4893013"/>
              <a:gd name="connsiteY1" fmla="*/ 58366 h 2402732"/>
              <a:gd name="connsiteX2" fmla="*/ 3171217 w 4893013"/>
              <a:gd name="connsiteY2" fmla="*/ 48639 h 2402732"/>
              <a:gd name="connsiteX3" fmla="*/ 2441643 w 4893013"/>
              <a:gd name="connsiteY3" fmla="*/ 38911 h 2402732"/>
              <a:gd name="connsiteX4" fmla="*/ 2033081 w 4893013"/>
              <a:gd name="connsiteY4" fmla="*/ 19456 h 2402732"/>
              <a:gd name="connsiteX5" fmla="*/ 1867711 w 4893013"/>
              <a:gd name="connsiteY5" fmla="*/ 9728 h 2402732"/>
              <a:gd name="connsiteX6" fmla="*/ 466928 w 4893013"/>
              <a:gd name="connsiteY6" fmla="*/ 0 h 2402732"/>
              <a:gd name="connsiteX7" fmla="*/ 272375 w 4893013"/>
              <a:gd name="connsiteY7" fmla="*/ 9728 h 2402732"/>
              <a:gd name="connsiteX8" fmla="*/ 243192 w 4893013"/>
              <a:gd name="connsiteY8" fmla="*/ 19456 h 2402732"/>
              <a:gd name="connsiteX9" fmla="*/ 136187 w 4893013"/>
              <a:gd name="connsiteY9" fmla="*/ 107005 h 2402732"/>
              <a:gd name="connsiteX10" fmla="*/ 116732 w 4893013"/>
              <a:gd name="connsiteY10" fmla="*/ 136188 h 2402732"/>
              <a:gd name="connsiteX11" fmla="*/ 77821 w 4893013"/>
              <a:gd name="connsiteY11" fmla="*/ 223737 h 2402732"/>
              <a:gd name="connsiteX12" fmla="*/ 58366 w 4893013"/>
              <a:gd name="connsiteY12" fmla="*/ 282102 h 2402732"/>
              <a:gd name="connsiteX13" fmla="*/ 48638 w 4893013"/>
              <a:gd name="connsiteY13" fmla="*/ 311285 h 2402732"/>
              <a:gd name="connsiteX14" fmla="*/ 29183 w 4893013"/>
              <a:gd name="connsiteY14" fmla="*/ 797668 h 2402732"/>
              <a:gd name="connsiteX15" fmla="*/ 19455 w 4893013"/>
              <a:gd name="connsiteY15" fmla="*/ 1284051 h 2402732"/>
              <a:gd name="connsiteX16" fmla="*/ 9728 w 4893013"/>
              <a:gd name="connsiteY16" fmla="*/ 1352145 h 2402732"/>
              <a:gd name="connsiteX17" fmla="*/ 0 w 4893013"/>
              <a:gd name="connsiteY17" fmla="*/ 1459149 h 2402732"/>
              <a:gd name="connsiteX18" fmla="*/ 9728 w 4893013"/>
              <a:gd name="connsiteY18" fmla="*/ 1867711 h 2402732"/>
              <a:gd name="connsiteX19" fmla="*/ 29183 w 4893013"/>
              <a:gd name="connsiteY19" fmla="*/ 1955260 h 2402732"/>
              <a:gd name="connsiteX20" fmla="*/ 48638 w 4893013"/>
              <a:gd name="connsiteY20" fmla="*/ 1984443 h 2402732"/>
              <a:gd name="connsiteX21" fmla="*/ 107004 w 4893013"/>
              <a:gd name="connsiteY21" fmla="*/ 2081719 h 2402732"/>
              <a:gd name="connsiteX22" fmla="*/ 194553 w 4893013"/>
              <a:gd name="connsiteY22" fmla="*/ 2159541 h 2402732"/>
              <a:gd name="connsiteX23" fmla="*/ 233464 w 4893013"/>
              <a:gd name="connsiteY23" fmla="*/ 2178996 h 2402732"/>
              <a:gd name="connsiteX24" fmla="*/ 262647 w 4893013"/>
              <a:gd name="connsiteY24" fmla="*/ 2208179 h 2402732"/>
              <a:gd name="connsiteX25" fmla="*/ 447472 w 4893013"/>
              <a:gd name="connsiteY25" fmla="*/ 2266545 h 2402732"/>
              <a:gd name="connsiteX26" fmla="*/ 476655 w 4893013"/>
              <a:gd name="connsiteY26" fmla="*/ 2276273 h 2402732"/>
              <a:gd name="connsiteX27" fmla="*/ 515566 w 4893013"/>
              <a:gd name="connsiteY27" fmla="*/ 2286000 h 2402732"/>
              <a:gd name="connsiteX28" fmla="*/ 544749 w 4893013"/>
              <a:gd name="connsiteY28" fmla="*/ 2295728 h 2402732"/>
              <a:gd name="connsiteX29" fmla="*/ 622570 w 4893013"/>
              <a:gd name="connsiteY29" fmla="*/ 2305456 h 2402732"/>
              <a:gd name="connsiteX30" fmla="*/ 661481 w 4893013"/>
              <a:gd name="connsiteY30" fmla="*/ 2315183 h 2402732"/>
              <a:gd name="connsiteX31" fmla="*/ 710119 w 4893013"/>
              <a:gd name="connsiteY31" fmla="*/ 2324911 h 2402732"/>
              <a:gd name="connsiteX32" fmla="*/ 749030 w 4893013"/>
              <a:gd name="connsiteY32" fmla="*/ 2334639 h 2402732"/>
              <a:gd name="connsiteX33" fmla="*/ 914400 w 4893013"/>
              <a:gd name="connsiteY33" fmla="*/ 2354094 h 2402732"/>
              <a:gd name="connsiteX34" fmla="*/ 943583 w 4893013"/>
              <a:gd name="connsiteY34" fmla="*/ 2363822 h 2402732"/>
              <a:gd name="connsiteX35" fmla="*/ 1070043 w 4893013"/>
              <a:gd name="connsiteY35" fmla="*/ 2383277 h 2402732"/>
              <a:gd name="connsiteX36" fmla="*/ 1177047 w 4893013"/>
              <a:gd name="connsiteY36" fmla="*/ 2393005 h 2402732"/>
              <a:gd name="connsiteX37" fmla="*/ 1916349 w 4893013"/>
              <a:gd name="connsiteY37" fmla="*/ 2402732 h 2402732"/>
              <a:gd name="connsiteX38" fmla="*/ 2568102 w 4893013"/>
              <a:gd name="connsiteY38" fmla="*/ 2393005 h 2402732"/>
              <a:gd name="connsiteX39" fmla="*/ 2655651 w 4893013"/>
              <a:gd name="connsiteY39" fmla="*/ 2383277 h 2402732"/>
              <a:gd name="connsiteX40" fmla="*/ 2762655 w 4893013"/>
              <a:gd name="connsiteY40" fmla="*/ 2373549 h 2402732"/>
              <a:gd name="connsiteX41" fmla="*/ 2966936 w 4893013"/>
              <a:gd name="connsiteY41" fmla="*/ 2344366 h 2402732"/>
              <a:gd name="connsiteX42" fmla="*/ 3142034 w 4893013"/>
              <a:gd name="connsiteY42" fmla="*/ 2315183 h 2402732"/>
              <a:gd name="connsiteX43" fmla="*/ 3142034 w 4893013"/>
              <a:gd name="connsiteY43" fmla="*/ 2315183 h 2402732"/>
              <a:gd name="connsiteX44" fmla="*/ 3190672 w 4893013"/>
              <a:gd name="connsiteY44" fmla="*/ 2305456 h 2402732"/>
              <a:gd name="connsiteX45" fmla="*/ 3229583 w 4893013"/>
              <a:gd name="connsiteY45" fmla="*/ 2295728 h 2402732"/>
              <a:gd name="connsiteX46" fmla="*/ 3336587 w 4893013"/>
              <a:gd name="connsiteY46" fmla="*/ 2276273 h 2402732"/>
              <a:gd name="connsiteX47" fmla="*/ 3365770 w 4893013"/>
              <a:gd name="connsiteY47" fmla="*/ 2266545 h 2402732"/>
              <a:gd name="connsiteX48" fmla="*/ 3453319 w 4893013"/>
              <a:gd name="connsiteY48" fmla="*/ 2256817 h 2402732"/>
              <a:gd name="connsiteX49" fmla="*/ 3492230 w 4893013"/>
              <a:gd name="connsiteY49" fmla="*/ 2247090 h 2402732"/>
              <a:gd name="connsiteX50" fmla="*/ 3521413 w 4893013"/>
              <a:gd name="connsiteY50" fmla="*/ 2227634 h 2402732"/>
              <a:gd name="connsiteX51" fmla="*/ 3550596 w 4893013"/>
              <a:gd name="connsiteY51" fmla="*/ 2217907 h 2402732"/>
              <a:gd name="connsiteX52" fmla="*/ 3579779 w 4893013"/>
              <a:gd name="connsiteY52" fmla="*/ 2198451 h 2402732"/>
              <a:gd name="connsiteX53" fmla="*/ 3608962 w 4893013"/>
              <a:gd name="connsiteY53" fmla="*/ 2188724 h 2402732"/>
              <a:gd name="connsiteX54" fmla="*/ 3706238 w 4893013"/>
              <a:gd name="connsiteY54" fmla="*/ 2140085 h 2402732"/>
              <a:gd name="connsiteX55" fmla="*/ 3725694 w 4893013"/>
              <a:gd name="connsiteY55" fmla="*/ 2120630 h 2402732"/>
              <a:gd name="connsiteX56" fmla="*/ 3784060 w 4893013"/>
              <a:gd name="connsiteY56" fmla="*/ 2081719 h 2402732"/>
              <a:gd name="connsiteX57" fmla="*/ 3832698 w 4893013"/>
              <a:gd name="connsiteY57" fmla="*/ 2033081 h 2402732"/>
              <a:gd name="connsiteX58" fmla="*/ 3861881 w 4893013"/>
              <a:gd name="connsiteY58" fmla="*/ 2003898 h 2402732"/>
              <a:gd name="connsiteX59" fmla="*/ 3900792 w 4893013"/>
              <a:gd name="connsiteY59" fmla="*/ 1974715 h 2402732"/>
              <a:gd name="connsiteX60" fmla="*/ 3959158 w 4893013"/>
              <a:gd name="connsiteY60" fmla="*/ 1916349 h 2402732"/>
              <a:gd name="connsiteX61" fmla="*/ 4027251 w 4893013"/>
              <a:gd name="connsiteY61" fmla="*/ 1867711 h 2402732"/>
              <a:gd name="connsiteX62" fmla="*/ 4056434 w 4893013"/>
              <a:gd name="connsiteY62" fmla="*/ 1838528 h 2402732"/>
              <a:gd name="connsiteX63" fmla="*/ 4095345 w 4893013"/>
              <a:gd name="connsiteY63" fmla="*/ 1819073 h 2402732"/>
              <a:gd name="connsiteX64" fmla="*/ 4114800 w 4893013"/>
              <a:gd name="connsiteY64" fmla="*/ 1789890 h 2402732"/>
              <a:gd name="connsiteX65" fmla="*/ 4173166 w 4893013"/>
              <a:gd name="connsiteY65" fmla="*/ 1741251 h 2402732"/>
              <a:gd name="connsiteX66" fmla="*/ 4202349 w 4893013"/>
              <a:gd name="connsiteY66" fmla="*/ 1702341 h 2402732"/>
              <a:gd name="connsiteX67" fmla="*/ 4250987 w 4893013"/>
              <a:gd name="connsiteY67" fmla="*/ 1653702 h 2402732"/>
              <a:gd name="connsiteX68" fmla="*/ 4270443 w 4893013"/>
              <a:gd name="connsiteY68" fmla="*/ 1614792 h 2402732"/>
              <a:gd name="connsiteX69" fmla="*/ 4338536 w 4893013"/>
              <a:gd name="connsiteY69" fmla="*/ 1546698 h 2402732"/>
              <a:gd name="connsiteX70" fmla="*/ 4357992 w 4893013"/>
              <a:gd name="connsiteY70" fmla="*/ 1527243 h 2402732"/>
              <a:gd name="connsiteX71" fmla="*/ 4387175 w 4893013"/>
              <a:gd name="connsiteY71" fmla="*/ 1488332 h 2402732"/>
              <a:gd name="connsiteX72" fmla="*/ 4426085 w 4893013"/>
              <a:gd name="connsiteY72" fmla="*/ 1459149 h 2402732"/>
              <a:gd name="connsiteX73" fmla="*/ 4455268 w 4893013"/>
              <a:gd name="connsiteY73" fmla="*/ 1420239 h 2402732"/>
              <a:gd name="connsiteX74" fmla="*/ 4494179 w 4893013"/>
              <a:gd name="connsiteY74" fmla="*/ 1381328 h 2402732"/>
              <a:gd name="connsiteX75" fmla="*/ 4513634 w 4893013"/>
              <a:gd name="connsiteY75" fmla="*/ 1342417 h 2402732"/>
              <a:gd name="connsiteX76" fmla="*/ 4562272 w 4893013"/>
              <a:gd name="connsiteY76" fmla="*/ 1274324 h 2402732"/>
              <a:gd name="connsiteX77" fmla="*/ 4581728 w 4893013"/>
              <a:gd name="connsiteY77" fmla="*/ 1235413 h 2402732"/>
              <a:gd name="connsiteX78" fmla="*/ 4630366 w 4893013"/>
              <a:gd name="connsiteY78" fmla="*/ 1167319 h 2402732"/>
              <a:gd name="connsiteX79" fmla="*/ 4669277 w 4893013"/>
              <a:gd name="connsiteY79" fmla="*/ 1108954 h 2402732"/>
              <a:gd name="connsiteX80" fmla="*/ 4708187 w 4893013"/>
              <a:gd name="connsiteY80" fmla="*/ 1050588 h 2402732"/>
              <a:gd name="connsiteX81" fmla="*/ 4727643 w 4893013"/>
              <a:gd name="connsiteY81" fmla="*/ 1021405 h 2402732"/>
              <a:gd name="connsiteX82" fmla="*/ 4766553 w 4893013"/>
              <a:gd name="connsiteY82" fmla="*/ 943583 h 2402732"/>
              <a:gd name="connsiteX83" fmla="*/ 4776281 w 4893013"/>
              <a:gd name="connsiteY83" fmla="*/ 914400 h 2402732"/>
              <a:gd name="connsiteX84" fmla="*/ 4795736 w 4893013"/>
              <a:gd name="connsiteY84" fmla="*/ 885217 h 2402732"/>
              <a:gd name="connsiteX85" fmla="*/ 4824919 w 4893013"/>
              <a:gd name="connsiteY85" fmla="*/ 797668 h 2402732"/>
              <a:gd name="connsiteX86" fmla="*/ 4834647 w 4893013"/>
              <a:gd name="connsiteY86" fmla="*/ 768485 h 2402732"/>
              <a:gd name="connsiteX87" fmla="*/ 4854102 w 4893013"/>
              <a:gd name="connsiteY87" fmla="*/ 739302 h 2402732"/>
              <a:gd name="connsiteX88" fmla="*/ 4863830 w 4893013"/>
              <a:gd name="connsiteY88" fmla="*/ 700392 h 2402732"/>
              <a:gd name="connsiteX89" fmla="*/ 4873558 w 4893013"/>
              <a:gd name="connsiteY89" fmla="*/ 671209 h 2402732"/>
              <a:gd name="connsiteX90" fmla="*/ 4893013 w 4893013"/>
              <a:gd name="connsiteY90" fmla="*/ 573932 h 2402732"/>
              <a:gd name="connsiteX91" fmla="*/ 4863830 w 4893013"/>
              <a:gd name="connsiteY91" fmla="*/ 350196 h 2402732"/>
              <a:gd name="connsiteX92" fmla="*/ 4844375 w 4893013"/>
              <a:gd name="connsiteY92" fmla="*/ 321013 h 2402732"/>
              <a:gd name="connsiteX93" fmla="*/ 4815192 w 4893013"/>
              <a:gd name="connsiteY93" fmla="*/ 262647 h 2402732"/>
              <a:gd name="connsiteX94" fmla="*/ 4766553 w 4893013"/>
              <a:gd name="connsiteY94" fmla="*/ 214009 h 2402732"/>
              <a:gd name="connsiteX95" fmla="*/ 4679004 w 4893013"/>
              <a:gd name="connsiteY95" fmla="*/ 155643 h 2402732"/>
              <a:gd name="connsiteX96" fmla="*/ 4649821 w 4893013"/>
              <a:gd name="connsiteY96" fmla="*/ 136188 h 2402732"/>
              <a:gd name="connsiteX97" fmla="*/ 4620638 w 4893013"/>
              <a:gd name="connsiteY97" fmla="*/ 116732 h 2402732"/>
              <a:gd name="connsiteX98" fmla="*/ 4581728 w 4893013"/>
              <a:gd name="connsiteY98" fmla="*/ 107005 h 2402732"/>
              <a:gd name="connsiteX99" fmla="*/ 4503906 w 4893013"/>
              <a:gd name="connsiteY99" fmla="*/ 77822 h 2402732"/>
              <a:gd name="connsiteX100" fmla="*/ 4464996 w 4893013"/>
              <a:gd name="connsiteY100" fmla="*/ 68094 h 2402732"/>
              <a:gd name="connsiteX101" fmla="*/ 4406630 w 4893013"/>
              <a:gd name="connsiteY101" fmla="*/ 48639 h 2402732"/>
              <a:gd name="connsiteX102" fmla="*/ 4377447 w 4893013"/>
              <a:gd name="connsiteY102" fmla="*/ 38911 h 2402732"/>
              <a:gd name="connsiteX103" fmla="*/ 4338536 w 4893013"/>
              <a:gd name="connsiteY103" fmla="*/ 29183 h 2402732"/>
              <a:gd name="connsiteX104" fmla="*/ 4124528 w 4893013"/>
              <a:gd name="connsiteY104" fmla="*/ 38911 h 2402732"/>
              <a:gd name="connsiteX105" fmla="*/ 4056434 w 4893013"/>
              <a:gd name="connsiteY105" fmla="*/ 58366 h 2402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893013" h="2402732">
                <a:moveTo>
                  <a:pt x="4056434" y="58366"/>
                </a:moveTo>
                <a:cubicBezTo>
                  <a:pt x="3817251" y="92536"/>
                  <a:pt x="3993865" y="71004"/>
                  <a:pt x="3463047" y="58366"/>
                </a:cubicBezTo>
                <a:lnTo>
                  <a:pt x="3171217" y="48639"/>
                </a:lnTo>
                <a:lnTo>
                  <a:pt x="2441643" y="38911"/>
                </a:lnTo>
                <a:cubicBezTo>
                  <a:pt x="2057186" y="16295"/>
                  <a:pt x="2534342" y="43325"/>
                  <a:pt x="2033081" y="19456"/>
                </a:cubicBezTo>
                <a:cubicBezTo>
                  <a:pt x="1977925" y="16830"/>
                  <a:pt x="1922925" y="10414"/>
                  <a:pt x="1867711" y="9728"/>
                </a:cubicBezTo>
                <a:lnTo>
                  <a:pt x="466928" y="0"/>
                </a:lnTo>
                <a:cubicBezTo>
                  <a:pt x="402077" y="3243"/>
                  <a:pt x="337063" y="4103"/>
                  <a:pt x="272375" y="9728"/>
                </a:cubicBezTo>
                <a:cubicBezTo>
                  <a:pt x="262160" y="10616"/>
                  <a:pt x="252156" y="14476"/>
                  <a:pt x="243192" y="19456"/>
                </a:cubicBezTo>
                <a:cubicBezTo>
                  <a:pt x="210045" y="37871"/>
                  <a:pt x="157922" y="74401"/>
                  <a:pt x="136187" y="107005"/>
                </a:cubicBezTo>
                <a:cubicBezTo>
                  <a:pt x="129702" y="116733"/>
                  <a:pt x="121480" y="125504"/>
                  <a:pt x="116732" y="136188"/>
                </a:cubicBezTo>
                <a:cubicBezTo>
                  <a:pt x="70430" y="240369"/>
                  <a:pt x="121850" y="157695"/>
                  <a:pt x="77821" y="223737"/>
                </a:cubicBezTo>
                <a:lnTo>
                  <a:pt x="58366" y="282102"/>
                </a:lnTo>
                <a:lnTo>
                  <a:pt x="48638" y="311285"/>
                </a:lnTo>
                <a:cubicBezTo>
                  <a:pt x="19338" y="516398"/>
                  <a:pt x="38535" y="362822"/>
                  <a:pt x="29183" y="797668"/>
                </a:cubicBezTo>
                <a:cubicBezTo>
                  <a:pt x="25696" y="959791"/>
                  <a:pt x="25141" y="1121991"/>
                  <a:pt x="19455" y="1284051"/>
                </a:cubicBezTo>
                <a:cubicBezTo>
                  <a:pt x="18651" y="1306965"/>
                  <a:pt x="12260" y="1329357"/>
                  <a:pt x="9728" y="1352145"/>
                </a:cubicBezTo>
                <a:cubicBezTo>
                  <a:pt x="5773" y="1387741"/>
                  <a:pt x="3243" y="1423481"/>
                  <a:pt x="0" y="1459149"/>
                </a:cubicBezTo>
                <a:cubicBezTo>
                  <a:pt x="3243" y="1595336"/>
                  <a:pt x="3936" y="1731608"/>
                  <a:pt x="9728" y="1867711"/>
                </a:cubicBezTo>
                <a:cubicBezTo>
                  <a:pt x="9946" y="1872840"/>
                  <a:pt x="25254" y="1946092"/>
                  <a:pt x="29183" y="1955260"/>
                </a:cubicBezTo>
                <a:cubicBezTo>
                  <a:pt x="33788" y="1966006"/>
                  <a:pt x="42838" y="1974292"/>
                  <a:pt x="48638" y="1984443"/>
                </a:cubicBezTo>
                <a:cubicBezTo>
                  <a:pt x="69106" y="2020263"/>
                  <a:pt x="75278" y="2049993"/>
                  <a:pt x="107004" y="2081719"/>
                </a:cubicBezTo>
                <a:cubicBezTo>
                  <a:pt x="140114" y="2114829"/>
                  <a:pt x="156387" y="2135687"/>
                  <a:pt x="194553" y="2159541"/>
                </a:cubicBezTo>
                <a:cubicBezTo>
                  <a:pt x="206850" y="2167227"/>
                  <a:pt x="220494" y="2172511"/>
                  <a:pt x="233464" y="2178996"/>
                </a:cubicBezTo>
                <a:cubicBezTo>
                  <a:pt x="243192" y="2188724"/>
                  <a:pt x="250181" y="2202361"/>
                  <a:pt x="262647" y="2208179"/>
                </a:cubicBezTo>
                <a:cubicBezTo>
                  <a:pt x="306492" y="2228640"/>
                  <a:pt x="394780" y="2250737"/>
                  <a:pt x="447472" y="2266545"/>
                </a:cubicBezTo>
                <a:cubicBezTo>
                  <a:pt x="457293" y="2269491"/>
                  <a:pt x="466796" y="2273456"/>
                  <a:pt x="476655" y="2276273"/>
                </a:cubicBezTo>
                <a:cubicBezTo>
                  <a:pt x="489510" y="2279946"/>
                  <a:pt x="502711" y="2282327"/>
                  <a:pt x="515566" y="2286000"/>
                </a:cubicBezTo>
                <a:cubicBezTo>
                  <a:pt x="525425" y="2288817"/>
                  <a:pt x="534661" y="2293894"/>
                  <a:pt x="544749" y="2295728"/>
                </a:cubicBezTo>
                <a:cubicBezTo>
                  <a:pt x="570470" y="2300405"/>
                  <a:pt x="596783" y="2301158"/>
                  <a:pt x="622570" y="2305456"/>
                </a:cubicBezTo>
                <a:cubicBezTo>
                  <a:pt x="635758" y="2307654"/>
                  <a:pt x="648430" y="2312283"/>
                  <a:pt x="661481" y="2315183"/>
                </a:cubicBezTo>
                <a:cubicBezTo>
                  <a:pt x="677621" y="2318770"/>
                  <a:pt x="693979" y="2321324"/>
                  <a:pt x="710119" y="2324911"/>
                </a:cubicBezTo>
                <a:cubicBezTo>
                  <a:pt x="723170" y="2327811"/>
                  <a:pt x="735842" y="2332441"/>
                  <a:pt x="749030" y="2334639"/>
                </a:cubicBezTo>
                <a:cubicBezTo>
                  <a:pt x="775750" y="2339092"/>
                  <a:pt x="890990" y="2351493"/>
                  <a:pt x="914400" y="2354094"/>
                </a:cubicBezTo>
                <a:cubicBezTo>
                  <a:pt x="924128" y="2357337"/>
                  <a:pt x="933635" y="2361335"/>
                  <a:pt x="943583" y="2363822"/>
                </a:cubicBezTo>
                <a:cubicBezTo>
                  <a:pt x="984065" y="2373942"/>
                  <a:pt x="1029243" y="2378982"/>
                  <a:pt x="1070043" y="2383277"/>
                </a:cubicBezTo>
                <a:cubicBezTo>
                  <a:pt x="1105661" y="2387026"/>
                  <a:pt x="1141241" y="2392182"/>
                  <a:pt x="1177047" y="2393005"/>
                </a:cubicBezTo>
                <a:lnTo>
                  <a:pt x="1916349" y="2402732"/>
                </a:lnTo>
                <a:lnTo>
                  <a:pt x="2568102" y="2393005"/>
                </a:lnTo>
                <a:cubicBezTo>
                  <a:pt x="2597454" y="2392233"/>
                  <a:pt x="2626434" y="2386199"/>
                  <a:pt x="2655651" y="2383277"/>
                </a:cubicBezTo>
                <a:cubicBezTo>
                  <a:pt x="2691288" y="2379713"/>
                  <a:pt x="2727141" y="2378181"/>
                  <a:pt x="2762655" y="2373549"/>
                </a:cubicBezTo>
                <a:cubicBezTo>
                  <a:pt x="3181557" y="2318910"/>
                  <a:pt x="2636820" y="2381047"/>
                  <a:pt x="2966936" y="2344366"/>
                </a:cubicBezTo>
                <a:cubicBezTo>
                  <a:pt x="3050335" y="2323518"/>
                  <a:pt x="2992612" y="2336530"/>
                  <a:pt x="3142034" y="2315183"/>
                </a:cubicBezTo>
                <a:lnTo>
                  <a:pt x="3142034" y="2315183"/>
                </a:lnTo>
                <a:cubicBezTo>
                  <a:pt x="3158247" y="2311941"/>
                  <a:pt x="3174532" y="2309043"/>
                  <a:pt x="3190672" y="2305456"/>
                </a:cubicBezTo>
                <a:cubicBezTo>
                  <a:pt x="3203723" y="2302556"/>
                  <a:pt x="3216473" y="2298350"/>
                  <a:pt x="3229583" y="2295728"/>
                </a:cubicBezTo>
                <a:cubicBezTo>
                  <a:pt x="3272926" y="2287059"/>
                  <a:pt x="3294872" y="2286702"/>
                  <a:pt x="3336587" y="2276273"/>
                </a:cubicBezTo>
                <a:cubicBezTo>
                  <a:pt x="3346535" y="2273786"/>
                  <a:pt x="3355656" y="2268231"/>
                  <a:pt x="3365770" y="2266545"/>
                </a:cubicBezTo>
                <a:cubicBezTo>
                  <a:pt x="3394733" y="2261718"/>
                  <a:pt x="3424136" y="2260060"/>
                  <a:pt x="3453319" y="2256817"/>
                </a:cubicBezTo>
                <a:cubicBezTo>
                  <a:pt x="3466289" y="2253575"/>
                  <a:pt x="3479942" y="2252356"/>
                  <a:pt x="3492230" y="2247090"/>
                </a:cubicBezTo>
                <a:cubicBezTo>
                  <a:pt x="3502976" y="2242485"/>
                  <a:pt x="3510956" y="2232863"/>
                  <a:pt x="3521413" y="2227634"/>
                </a:cubicBezTo>
                <a:cubicBezTo>
                  <a:pt x="3530584" y="2223048"/>
                  <a:pt x="3540868" y="2221149"/>
                  <a:pt x="3550596" y="2217907"/>
                </a:cubicBezTo>
                <a:cubicBezTo>
                  <a:pt x="3560324" y="2211422"/>
                  <a:pt x="3569322" y="2203680"/>
                  <a:pt x="3579779" y="2198451"/>
                </a:cubicBezTo>
                <a:cubicBezTo>
                  <a:pt x="3588950" y="2193865"/>
                  <a:pt x="3599999" y="2193704"/>
                  <a:pt x="3608962" y="2188724"/>
                </a:cubicBezTo>
                <a:cubicBezTo>
                  <a:pt x="3703724" y="2136079"/>
                  <a:pt x="3630194" y="2159097"/>
                  <a:pt x="3706238" y="2140085"/>
                </a:cubicBezTo>
                <a:cubicBezTo>
                  <a:pt x="3712723" y="2133600"/>
                  <a:pt x="3718357" y="2126133"/>
                  <a:pt x="3725694" y="2120630"/>
                </a:cubicBezTo>
                <a:cubicBezTo>
                  <a:pt x="3744400" y="2106601"/>
                  <a:pt x="3767526" y="2098253"/>
                  <a:pt x="3784060" y="2081719"/>
                </a:cubicBezTo>
                <a:lnTo>
                  <a:pt x="3832698" y="2033081"/>
                </a:lnTo>
                <a:cubicBezTo>
                  <a:pt x="3842426" y="2023353"/>
                  <a:pt x="3850875" y="2012152"/>
                  <a:pt x="3861881" y="2003898"/>
                </a:cubicBezTo>
                <a:lnTo>
                  <a:pt x="3900792" y="1974715"/>
                </a:lnTo>
                <a:cubicBezTo>
                  <a:pt x="3935041" y="1923340"/>
                  <a:pt x="3902849" y="1964614"/>
                  <a:pt x="3959158" y="1916349"/>
                </a:cubicBezTo>
                <a:cubicBezTo>
                  <a:pt x="4014370" y="1869024"/>
                  <a:pt x="3959406" y="1901633"/>
                  <a:pt x="4027251" y="1867711"/>
                </a:cubicBezTo>
                <a:cubicBezTo>
                  <a:pt x="4036979" y="1857983"/>
                  <a:pt x="4045239" y="1846524"/>
                  <a:pt x="4056434" y="1838528"/>
                </a:cubicBezTo>
                <a:cubicBezTo>
                  <a:pt x="4068234" y="1830099"/>
                  <a:pt x="4084205" y="1828356"/>
                  <a:pt x="4095345" y="1819073"/>
                </a:cubicBezTo>
                <a:cubicBezTo>
                  <a:pt x="4104326" y="1811589"/>
                  <a:pt x="4106533" y="1798157"/>
                  <a:pt x="4114800" y="1789890"/>
                </a:cubicBezTo>
                <a:cubicBezTo>
                  <a:pt x="4204873" y="1699816"/>
                  <a:pt x="4077537" y="1852817"/>
                  <a:pt x="4173166" y="1741251"/>
                </a:cubicBezTo>
                <a:cubicBezTo>
                  <a:pt x="4183717" y="1728942"/>
                  <a:pt x="4191578" y="1714458"/>
                  <a:pt x="4202349" y="1702341"/>
                </a:cubicBezTo>
                <a:cubicBezTo>
                  <a:pt x="4217582" y="1685204"/>
                  <a:pt x="4240733" y="1674210"/>
                  <a:pt x="4250987" y="1653702"/>
                </a:cubicBezTo>
                <a:cubicBezTo>
                  <a:pt x="4257472" y="1640732"/>
                  <a:pt x="4261260" y="1626015"/>
                  <a:pt x="4270443" y="1614792"/>
                </a:cubicBezTo>
                <a:cubicBezTo>
                  <a:pt x="4290770" y="1589948"/>
                  <a:pt x="4315838" y="1569396"/>
                  <a:pt x="4338536" y="1546698"/>
                </a:cubicBezTo>
                <a:cubicBezTo>
                  <a:pt x="4345021" y="1540213"/>
                  <a:pt x="4352489" y="1534580"/>
                  <a:pt x="4357992" y="1527243"/>
                </a:cubicBezTo>
                <a:cubicBezTo>
                  <a:pt x="4367720" y="1514273"/>
                  <a:pt x="4375711" y="1499796"/>
                  <a:pt x="4387175" y="1488332"/>
                </a:cubicBezTo>
                <a:cubicBezTo>
                  <a:pt x="4398639" y="1476868"/>
                  <a:pt x="4414621" y="1470613"/>
                  <a:pt x="4426085" y="1459149"/>
                </a:cubicBezTo>
                <a:cubicBezTo>
                  <a:pt x="4437549" y="1447685"/>
                  <a:pt x="4444592" y="1432440"/>
                  <a:pt x="4455268" y="1420239"/>
                </a:cubicBezTo>
                <a:cubicBezTo>
                  <a:pt x="4467347" y="1406435"/>
                  <a:pt x="4494179" y="1381328"/>
                  <a:pt x="4494179" y="1381328"/>
                </a:cubicBezTo>
                <a:cubicBezTo>
                  <a:pt x="4500664" y="1368358"/>
                  <a:pt x="4505948" y="1354714"/>
                  <a:pt x="4513634" y="1342417"/>
                </a:cubicBezTo>
                <a:cubicBezTo>
                  <a:pt x="4548448" y="1286714"/>
                  <a:pt x="4534822" y="1322362"/>
                  <a:pt x="4562272" y="1274324"/>
                </a:cubicBezTo>
                <a:cubicBezTo>
                  <a:pt x="4569467" y="1261733"/>
                  <a:pt x="4574533" y="1248004"/>
                  <a:pt x="4581728" y="1235413"/>
                </a:cubicBezTo>
                <a:cubicBezTo>
                  <a:pt x="4595785" y="1210814"/>
                  <a:pt x="4614126" y="1190519"/>
                  <a:pt x="4630366" y="1167319"/>
                </a:cubicBezTo>
                <a:cubicBezTo>
                  <a:pt x="4643775" y="1148164"/>
                  <a:pt x="4656307" y="1128409"/>
                  <a:pt x="4669277" y="1108954"/>
                </a:cubicBezTo>
                <a:lnTo>
                  <a:pt x="4708187" y="1050588"/>
                </a:lnTo>
                <a:cubicBezTo>
                  <a:pt x="4714672" y="1040860"/>
                  <a:pt x="4722415" y="1031862"/>
                  <a:pt x="4727643" y="1021405"/>
                </a:cubicBezTo>
                <a:cubicBezTo>
                  <a:pt x="4740613" y="995464"/>
                  <a:pt x="4757381" y="971097"/>
                  <a:pt x="4766553" y="943583"/>
                </a:cubicBezTo>
                <a:cubicBezTo>
                  <a:pt x="4769796" y="933855"/>
                  <a:pt x="4771695" y="923571"/>
                  <a:pt x="4776281" y="914400"/>
                </a:cubicBezTo>
                <a:cubicBezTo>
                  <a:pt x="4781509" y="903943"/>
                  <a:pt x="4790988" y="895900"/>
                  <a:pt x="4795736" y="885217"/>
                </a:cubicBezTo>
                <a:cubicBezTo>
                  <a:pt x="4795747" y="885192"/>
                  <a:pt x="4820051" y="812273"/>
                  <a:pt x="4824919" y="797668"/>
                </a:cubicBezTo>
                <a:cubicBezTo>
                  <a:pt x="4828162" y="787940"/>
                  <a:pt x="4828959" y="777017"/>
                  <a:pt x="4834647" y="768485"/>
                </a:cubicBezTo>
                <a:lnTo>
                  <a:pt x="4854102" y="739302"/>
                </a:lnTo>
                <a:cubicBezTo>
                  <a:pt x="4857345" y="726332"/>
                  <a:pt x="4860157" y="713247"/>
                  <a:pt x="4863830" y="700392"/>
                </a:cubicBezTo>
                <a:cubicBezTo>
                  <a:pt x="4866647" y="690533"/>
                  <a:pt x="4871252" y="681200"/>
                  <a:pt x="4873558" y="671209"/>
                </a:cubicBezTo>
                <a:cubicBezTo>
                  <a:pt x="4880994" y="638988"/>
                  <a:pt x="4893013" y="573932"/>
                  <a:pt x="4893013" y="573932"/>
                </a:cubicBezTo>
                <a:cubicBezTo>
                  <a:pt x="4891701" y="551623"/>
                  <a:pt x="4897174" y="400212"/>
                  <a:pt x="4863830" y="350196"/>
                </a:cubicBezTo>
                <a:cubicBezTo>
                  <a:pt x="4857345" y="340468"/>
                  <a:pt x="4849603" y="331470"/>
                  <a:pt x="4844375" y="321013"/>
                </a:cubicBezTo>
                <a:cubicBezTo>
                  <a:pt x="4824478" y="281219"/>
                  <a:pt x="4847714" y="299814"/>
                  <a:pt x="4815192" y="262647"/>
                </a:cubicBezTo>
                <a:cubicBezTo>
                  <a:pt x="4800093" y="245392"/>
                  <a:pt x="4785631" y="226727"/>
                  <a:pt x="4766553" y="214009"/>
                </a:cubicBezTo>
                <a:lnTo>
                  <a:pt x="4679004" y="155643"/>
                </a:lnTo>
                <a:lnTo>
                  <a:pt x="4649821" y="136188"/>
                </a:lnTo>
                <a:cubicBezTo>
                  <a:pt x="4640093" y="129703"/>
                  <a:pt x="4631980" y="119567"/>
                  <a:pt x="4620638" y="116732"/>
                </a:cubicBezTo>
                <a:cubicBezTo>
                  <a:pt x="4607668" y="113490"/>
                  <a:pt x="4594411" y="111233"/>
                  <a:pt x="4581728" y="107005"/>
                </a:cubicBezTo>
                <a:cubicBezTo>
                  <a:pt x="4520011" y="86433"/>
                  <a:pt x="4551744" y="91490"/>
                  <a:pt x="4503906" y="77822"/>
                </a:cubicBezTo>
                <a:cubicBezTo>
                  <a:pt x="4491051" y="74149"/>
                  <a:pt x="4477801" y="71936"/>
                  <a:pt x="4464996" y="68094"/>
                </a:cubicBezTo>
                <a:cubicBezTo>
                  <a:pt x="4445353" y="62201"/>
                  <a:pt x="4426085" y="55124"/>
                  <a:pt x="4406630" y="48639"/>
                </a:cubicBezTo>
                <a:cubicBezTo>
                  <a:pt x="4396902" y="45396"/>
                  <a:pt x="4387395" y="41398"/>
                  <a:pt x="4377447" y="38911"/>
                </a:cubicBezTo>
                <a:lnTo>
                  <a:pt x="4338536" y="29183"/>
                </a:lnTo>
                <a:cubicBezTo>
                  <a:pt x="4267200" y="32426"/>
                  <a:pt x="4195727" y="33434"/>
                  <a:pt x="4124528" y="38911"/>
                </a:cubicBezTo>
                <a:cubicBezTo>
                  <a:pt x="4111198" y="39936"/>
                  <a:pt x="4085617" y="48639"/>
                  <a:pt x="4056434" y="58366"/>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#1</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48</a:t>
            </a:fld>
            <a:endParaRPr lang="en-US"/>
          </a:p>
        </p:txBody>
      </p:sp>
      <p:sp>
        <p:nvSpPr>
          <p:cNvPr id="54" name="TextBox 53"/>
          <p:cNvSpPr txBox="1"/>
          <p:nvPr>
            <p:custDataLst>
              <p:tags r:id="rId3"/>
            </p:custDataLst>
          </p:nvPr>
        </p:nvSpPr>
        <p:spPr>
          <a:xfrm>
            <a:off x="2536980" y="4883684"/>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 B, D, F, H, G, E</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2541738184"/>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G</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B</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8</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H</a:t>
                      </a: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7</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F</a:t>
                      </a: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defRPr/>
              </a:pPr>
              <a:r>
                <a:rPr lang="en-US" sz="2400" dirty="0">
                  <a:solidFill>
                    <a:schemeClr val="bg1">
                      <a:lumMod val="50000"/>
                    </a:schemeClr>
                  </a:solidFill>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defRPr/>
              </a:pPr>
              <a:r>
                <a:rPr lang="en-US" sz="2400" dirty="0">
                  <a:solidFill>
                    <a:schemeClr val="bg1">
                      <a:lumMod val="50000"/>
                    </a:schemeClr>
                  </a:solidFill>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bg1">
                  <a:lumMod val="65000"/>
                </a:schemeClr>
              </a:solidFill>
              <a:prstDash val="dash"/>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bg1">
                  <a:lumMod val="65000"/>
                </a:schemeClr>
              </a:solidFill>
              <a:prstDash val="dash"/>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bg1">
                  <a:lumMod val="65000"/>
                </a:schemeClr>
              </a:solidFill>
              <a:prstDash val="dash"/>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bg1">
                  <a:lumMod val="65000"/>
                </a:schemeClr>
              </a:solidFill>
              <a:prstDash val="dash"/>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bg1">
                  <a:lumMod val="65000"/>
                </a:schemeClr>
              </a:solidFill>
              <a:prstDash val="dash"/>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bg1">
                  <a:lumMod val="65000"/>
                </a:schemeClr>
              </a:solidFill>
              <a:prstDash val="dash"/>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bg1">
                  <a:lumMod val="65000"/>
                </a:schemeClr>
              </a:solidFill>
              <a:prstDash val="dash"/>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bg1">
                  <a:lumMod val="65000"/>
                </a:schemeClr>
              </a:solidFill>
              <a:prstDash val="dash"/>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bg1">
                  <a:lumMod val="65000"/>
                </a:schemeClr>
              </a:solidFill>
              <a:prstDash val="dash"/>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8</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29479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11</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3" name="Google Shape;769;p43">
            <a:extLst>
              <a:ext uri="{FF2B5EF4-FFF2-40B4-BE49-F238E27FC236}">
                <a16:creationId xmlns:a16="http://schemas.microsoft.com/office/drawing/2014/main" id="{A2C0A168-AFBB-FC48-9F82-23CC758EADBE}"/>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857619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lstStyle/>
          <a:p>
            <a:r>
              <a:rPr lang="en-US" dirty="0"/>
              <a:t>Dijkstra’s Algorithm: Interpreting the Results</a:t>
            </a:r>
          </a:p>
        </p:txBody>
      </p:sp>
      <p:sp>
        <p:nvSpPr>
          <p:cNvPr id="2" name="Content Placeholder 1">
            <a:extLst>
              <a:ext uri="{FF2B5EF4-FFF2-40B4-BE49-F238E27FC236}">
                <a16:creationId xmlns:a16="http://schemas.microsoft.com/office/drawing/2014/main" id="{BCA8D718-4EAD-4443-B071-17FBDAA1D33C}"/>
              </a:ext>
            </a:extLst>
          </p:cNvPr>
          <p:cNvSpPr>
            <a:spLocks noGrp="1"/>
          </p:cNvSpPr>
          <p:nvPr>
            <p:ph idx="1"/>
          </p:nvPr>
        </p:nvSpPr>
        <p:spPr>
          <a:xfrm>
            <a:off x="6935823" y="1329373"/>
            <a:ext cx="4820554" cy="1506659"/>
          </a:xfrm>
        </p:spPr>
        <p:txBody>
          <a:bodyPr>
            <a:normAutofit fontScale="92500" lnSpcReduction="10000"/>
          </a:bodyPr>
          <a:lstStyle/>
          <a:p>
            <a:pPr marL="0" indent="0">
              <a:buNone/>
            </a:pPr>
            <a:r>
              <a:rPr lang="en-US" sz="2000" dirty="0"/>
              <a:t>Now that we’re done, how do we get the path from A to E?</a:t>
            </a:r>
          </a:p>
          <a:p>
            <a:r>
              <a:rPr lang="en-US" sz="2000" dirty="0"/>
              <a:t>Follow </a:t>
            </a:r>
            <a:r>
              <a:rPr lang="en-US" sz="2000" dirty="0" err="1"/>
              <a:t>edgeTo</a:t>
            </a:r>
            <a:r>
              <a:rPr lang="en-US" sz="2000" dirty="0"/>
              <a:t> </a:t>
            </a:r>
            <a:r>
              <a:rPr lang="en-US" sz="2000" dirty="0" err="1"/>
              <a:t>backpointers</a:t>
            </a:r>
            <a:r>
              <a:rPr lang="en-US" sz="2000" dirty="0"/>
              <a:t>!</a:t>
            </a:r>
          </a:p>
          <a:p>
            <a:r>
              <a:rPr lang="en-US" sz="2000" dirty="0" err="1"/>
              <a:t>distTo</a:t>
            </a:r>
            <a:r>
              <a:rPr lang="en-US" sz="2000" dirty="0"/>
              <a:t> and </a:t>
            </a:r>
            <a:r>
              <a:rPr lang="en-US" sz="2000" dirty="0" err="1"/>
              <a:t>edgeTo</a:t>
            </a:r>
            <a:r>
              <a:rPr lang="en-US" sz="2000" dirty="0"/>
              <a:t> make up the </a:t>
            </a:r>
            <a:r>
              <a:rPr lang="en-US" sz="2000" b="1" dirty="0"/>
              <a:t>shortest path tree</a:t>
            </a:r>
            <a:endParaRPr lang="en-US" sz="2000" dirty="0"/>
          </a:p>
          <a:p>
            <a:endParaRPr lang="en-US" sz="2000" dirty="0"/>
          </a:p>
        </p:txBody>
      </p:sp>
      <p:sp>
        <p:nvSpPr>
          <p:cNvPr id="31747" name="Slide Number Placeholder 4"/>
          <p:cNvSpPr>
            <a:spLocks noGrp="1"/>
          </p:cNvSpPr>
          <p:nvPr>
            <p:ph type="sldNum" sz="quarter" idx="10"/>
            <p:custDataLst>
              <p:tags r:id="rId2"/>
            </p:custDataLst>
          </p:nvPr>
        </p:nvSpPr>
        <p:spPr>
          <a:xfrm>
            <a:off x="6400800" y="4869180"/>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49</a:t>
            </a:fld>
            <a:endParaRPr lang="en-US"/>
          </a:p>
        </p:txBody>
      </p:sp>
      <p:sp>
        <p:nvSpPr>
          <p:cNvPr id="54" name="TextBox 53"/>
          <p:cNvSpPr txBox="1"/>
          <p:nvPr>
            <p:custDataLst>
              <p:tags r:id="rId3"/>
            </p:custDataLst>
          </p:nvPr>
        </p:nvSpPr>
        <p:spPr>
          <a:xfrm>
            <a:off x="2536980" y="4883684"/>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C, B, D, F, H, G, E</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496762710"/>
              </p:ext>
            </p:extLst>
          </p:nvPr>
        </p:nvGraphicFramePr>
        <p:xfrm>
          <a:off x="6316888" y="3054960"/>
          <a:ext cx="4123612" cy="333756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0</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horzOverflow="overflow"/>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G</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B</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8</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H</a:t>
                      </a:r>
                    </a:p>
                  </a:txBody>
                  <a:tcPr marL="60960" marR="60960" marT="60960" marB="60960" anchor="ctr"/>
                </a:tc>
                <a:extLst>
                  <a:ext uri="{0D108BD9-81ED-4DB2-BD59-A6C34878D82A}">
                    <a16:rowId xmlns:a16="http://schemas.microsoft.com/office/drawing/2014/main" val="3330431894"/>
                  </a:ext>
                </a:extLst>
              </a:tr>
              <a:tr h="365760">
                <a:tc>
                  <a:txBody>
                    <a:bodyPr/>
                    <a:lstStyle/>
                    <a:p>
                      <a:pPr algn="ctr"/>
                      <a:r>
                        <a:rPr lang="en-US" sz="1600" dirty="0">
                          <a:latin typeface="Calibri" panose="020F0502020204030204" pitchFamily="34" charset="0"/>
                          <a:cs typeface="Calibri" panose="020F0502020204030204" pitchFamily="34" charset="0"/>
                        </a:rPr>
                        <a:t>H</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7</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F</a:t>
                      </a:r>
                    </a:p>
                  </a:txBody>
                  <a:tcPr marL="60960" marR="60960" marT="60960" marB="60960" anchor="ctr"/>
                </a:tc>
                <a:extLst>
                  <a:ext uri="{0D108BD9-81ED-4DB2-BD59-A6C34878D82A}">
                    <a16:rowId xmlns:a16="http://schemas.microsoft.com/office/drawing/2014/main" val="2442653456"/>
                  </a:ext>
                </a:extLst>
              </a:tr>
            </a:tbl>
          </a:graphicData>
        </a:graphic>
      </p:graphicFrame>
      <p:grpSp>
        <p:nvGrpSpPr>
          <p:cNvPr id="4" name="Group 3">
            <a:extLst>
              <a:ext uri="{FF2B5EF4-FFF2-40B4-BE49-F238E27FC236}">
                <a16:creationId xmlns:a16="http://schemas.microsoft.com/office/drawing/2014/main" id="{A0C26F3A-BB81-414F-B54F-A34F100FDAE4}"/>
              </a:ext>
            </a:extLst>
          </p:cNvPr>
          <p:cNvGrpSpPr/>
          <p:nvPr/>
        </p:nvGrpSpPr>
        <p:grpSpPr>
          <a:xfrm>
            <a:off x="1751501" y="1368475"/>
            <a:ext cx="4726715" cy="2331624"/>
            <a:chOff x="-2863816" y="1556555"/>
            <a:chExt cx="3545036" cy="1748718"/>
          </a:xfrm>
        </p:grpSpPr>
        <p:sp>
          <p:nvSpPr>
            <p:cNvPr id="56" name="Oval 55">
              <a:extLst>
                <a:ext uri="{FF2B5EF4-FFF2-40B4-BE49-F238E27FC236}">
                  <a16:creationId xmlns:a16="http://schemas.microsoft.com/office/drawing/2014/main" id="{0A0643EB-F44B-48FE-AE17-8B1C11B154FD}"/>
                </a:ext>
              </a:extLst>
            </p:cNvPr>
            <p:cNvSpPr>
              <a:spLocks noChangeArrowheads="1"/>
            </p:cNvSpPr>
            <p:nvPr>
              <p:custDataLst>
                <p:tags r:id="rId4"/>
              </p:custDataLst>
            </p:nvPr>
          </p:nvSpPr>
          <p:spPr bwMode="auto">
            <a:xfrm>
              <a:off x="-2576330" y="1806476"/>
              <a:ext cx="285750" cy="285750"/>
            </a:xfrm>
            <a:prstGeom prst="ellipse">
              <a:avLst/>
            </a:prstGeom>
            <a:solidFill>
              <a:schemeClr val="accent5">
                <a:lumMod val="60000"/>
                <a:lumOff val="40000"/>
              </a:schemeClr>
            </a:solidFill>
            <a:ln w="3810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A</a:t>
              </a:r>
            </a:p>
          </p:txBody>
        </p:sp>
        <p:sp>
          <p:nvSpPr>
            <p:cNvPr id="57" name="Oval 9">
              <a:extLst>
                <a:ext uri="{FF2B5EF4-FFF2-40B4-BE49-F238E27FC236}">
                  <a16:creationId xmlns:a16="http://schemas.microsoft.com/office/drawing/2014/main" id="{0C512F41-458B-4EDA-A1F2-A47419E86BE6}"/>
                </a:ext>
              </a:extLst>
            </p:cNvPr>
            <p:cNvSpPr>
              <a:spLocks noChangeArrowheads="1"/>
            </p:cNvSpPr>
            <p:nvPr>
              <p:custDataLst>
                <p:tags r:id="rId5"/>
              </p:custDataLst>
            </p:nvPr>
          </p:nvSpPr>
          <p:spPr bwMode="auto">
            <a:xfrm>
              <a:off x="-1319030" y="17493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58" name="Oval 10">
              <a:extLst>
                <a:ext uri="{FF2B5EF4-FFF2-40B4-BE49-F238E27FC236}">
                  <a16:creationId xmlns:a16="http://schemas.microsoft.com/office/drawing/2014/main" id="{F37AEFE6-67E9-4761-9702-4B0797FCF483}"/>
                </a:ext>
              </a:extLst>
            </p:cNvPr>
            <p:cNvSpPr>
              <a:spLocks noChangeArrowheads="1"/>
            </p:cNvSpPr>
            <p:nvPr>
              <p:custDataLst>
                <p:tags r:id="rId6"/>
              </p:custDataLst>
            </p:nvPr>
          </p:nvSpPr>
          <p:spPr bwMode="auto">
            <a:xfrm>
              <a:off x="-2690630" y="27208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59" name="Oval 11">
              <a:extLst>
                <a:ext uri="{FF2B5EF4-FFF2-40B4-BE49-F238E27FC236}">
                  <a16:creationId xmlns:a16="http://schemas.microsoft.com/office/drawing/2014/main" id="{B241D14A-DA66-400B-8E7D-F1BFE8A3361F}"/>
                </a:ext>
              </a:extLst>
            </p:cNvPr>
            <p:cNvSpPr>
              <a:spLocks noChangeArrowheads="1"/>
            </p:cNvSpPr>
            <p:nvPr>
              <p:custDataLst>
                <p:tags r:id="rId7"/>
              </p:custDataLst>
            </p:nvPr>
          </p:nvSpPr>
          <p:spPr bwMode="auto">
            <a:xfrm>
              <a:off x="-1490480" y="254942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60" name="Oval 59">
              <a:extLst>
                <a:ext uri="{FF2B5EF4-FFF2-40B4-BE49-F238E27FC236}">
                  <a16:creationId xmlns:a16="http://schemas.microsoft.com/office/drawing/2014/main" id="{ADB1B0A6-AE3E-433A-88DC-C776080D2E19}"/>
                </a:ext>
              </a:extLst>
            </p:cNvPr>
            <p:cNvSpPr>
              <a:spLocks noChangeArrowheads="1"/>
            </p:cNvSpPr>
            <p:nvPr>
              <p:custDataLst>
                <p:tags r:id="rId8"/>
              </p:custDataLst>
            </p:nvPr>
          </p:nvSpPr>
          <p:spPr bwMode="auto">
            <a:xfrm>
              <a:off x="-34748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defRPr/>
              </a:pPr>
              <a:r>
                <a:rPr lang="en-US" sz="2400" dirty="0">
                  <a:solidFill>
                    <a:schemeClr val="bg1">
                      <a:lumMod val="50000"/>
                    </a:schemeClr>
                  </a:solidFill>
                  <a:latin typeface="Calibri" panose="020F0502020204030204" pitchFamily="34" charset="0"/>
                  <a:cs typeface="Calibri" panose="020F0502020204030204" pitchFamily="34" charset="0"/>
                </a:rPr>
                <a:t>F</a:t>
              </a:r>
            </a:p>
          </p:txBody>
        </p:sp>
        <p:sp>
          <p:nvSpPr>
            <p:cNvPr id="61" name="Oval 13">
              <a:extLst>
                <a:ext uri="{FF2B5EF4-FFF2-40B4-BE49-F238E27FC236}">
                  <a16:creationId xmlns:a16="http://schemas.microsoft.com/office/drawing/2014/main" id="{9069A803-4AFA-4325-AE9E-BCDAF36E3B64}"/>
                </a:ext>
              </a:extLst>
            </p:cNvPr>
            <p:cNvSpPr>
              <a:spLocks noChangeArrowheads="1"/>
            </p:cNvSpPr>
            <p:nvPr>
              <p:custDataLst>
                <p:tags r:id="rId9"/>
              </p:custDataLst>
            </p:nvPr>
          </p:nvSpPr>
          <p:spPr bwMode="auto">
            <a:xfrm>
              <a:off x="395470" y="18064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H</a:t>
              </a:r>
            </a:p>
          </p:txBody>
        </p:sp>
        <p:sp>
          <p:nvSpPr>
            <p:cNvPr id="62" name="Oval 61">
              <a:extLst>
                <a:ext uri="{FF2B5EF4-FFF2-40B4-BE49-F238E27FC236}">
                  <a16:creationId xmlns:a16="http://schemas.microsoft.com/office/drawing/2014/main" id="{D449A290-A1B5-47CB-BB83-2548FBBDEC0A}"/>
                </a:ext>
              </a:extLst>
            </p:cNvPr>
            <p:cNvSpPr>
              <a:spLocks noChangeArrowheads="1"/>
            </p:cNvSpPr>
            <p:nvPr>
              <p:custDataLst>
                <p:tags r:id="rId10"/>
              </p:custDataLst>
            </p:nvPr>
          </p:nvSpPr>
          <p:spPr bwMode="auto">
            <a:xfrm>
              <a:off x="-804680" y="28351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defRPr/>
              </a:pPr>
              <a:r>
                <a:rPr lang="en-US" sz="2400" dirty="0">
                  <a:solidFill>
                    <a:schemeClr val="bg1">
                      <a:lumMod val="50000"/>
                    </a:schemeClr>
                  </a:solidFill>
                  <a:latin typeface="Calibri" panose="020F0502020204030204" pitchFamily="34" charset="0"/>
                  <a:cs typeface="Calibri" panose="020F0502020204030204" pitchFamily="34" charset="0"/>
                </a:rPr>
                <a:t>E</a:t>
              </a:r>
            </a:p>
          </p:txBody>
        </p:sp>
        <p:sp>
          <p:nvSpPr>
            <p:cNvPr id="63" name="Oval 15">
              <a:extLst>
                <a:ext uri="{FF2B5EF4-FFF2-40B4-BE49-F238E27FC236}">
                  <a16:creationId xmlns:a16="http://schemas.microsoft.com/office/drawing/2014/main" id="{85B3CBC1-F73C-430A-A390-A9F6F74A4500}"/>
                </a:ext>
              </a:extLst>
            </p:cNvPr>
            <p:cNvSpPr>
              <a:spLocks noChangeArrowheads="1"/>
            </p:cNvSpPr>
            <p:nvPr>
              <p:custDataLst>
                <p:tags r:id="rId11"/>
              </p:custDataLst>
            </p:nvPr>
          </p:nvSpPr>
          <p:spPr bwMode="auto">
            <a:xfrm>
              <a:off x="-61730" y="2377976"/>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G</a:t>
              </a:r>
            </a:p>
          </p:txBody>
        </p:sp>
        <p:cxnSp>
          <p:nvCxnSpPr>
            <p:cNvPr id="64" name="AutoShape 14">
              <a:extLst>
                <a:ext uri="{FF2B5EF4-FFF2-40B4-BE49-F238E27FC236}">
                  <a16:creationId xmlns:a16="http://schemas.microsoft.com/office/drawing/2014/main" id="{257DC169-51E9-4A20-A39B-0953F078A3DB}"/>
                </a:ext>
              </a:extLst>
            </p:cNvPr>
            <p:cNvCxnSpPr>
              <a:cxnSpLocks noChangeShapeType="1"/>
              <a:stCxn id="56" idx="6"/>
              <a:endCxn id="59" idx="1"/>
            </p:cNvCxnSpPr>
            <p:nvPr>
              <p:custDataLst>
                <p:tags r:id="rId12"/>
              </p:custDataLst>
            </p:nvPr>
          </p:nvCxnSpPr>
          <p:spPr bwMode="auto">
            <a:xfrm>
              <a:off x="-2283436" y="1949350"/>
              <a:ext cx="834628" cy="634604"/>
            </a:xfrm>
            <a:prstGeom prst="curvedConnector2">
              <a:avLst/>
            </a:prstGeom>
            <a:noFill/>
            <a:ln w="9525">
              <a:solidFill>
                <a:schemeClr val="bg1">
                  <a:lumMod val="65000"/>
                </a:schemeClr>
              </a:solidFill>
              <a:prstDash val="dash"/>
              <a:round/>
              <a:headEnd/>
              <a:tailEnd type="triangle" w="med" len="med"/>
            </a:ln>
          </p:spPr>
        </p:cxnSp>
        <p:cxnSp>
          <p:nvCxnSpPr>
            <p:cNvPr id="65" name="AutoShape 15">
              <a:extLst>
                <a:ext uri="{FF2B5EF4-FFF2-40B4-BE49-F238E27FC236}">
                  <a16:creationId xmlns:a16="http://schemas.microsoft.com/office/drawing/2014/main" id="{AA4D11DC-18A5-41BF-9817-90E53C51B13E}"/>
                </a:ext>
              </a:extLst>
            </p:cNvPr>
            <p:cNvCxnSpPr>
              <a:cxnSpLocks noChangeShapeType="1"/>
              <a:stCxn id="59" idx="2"/>
              <a:endCxn id="56" idx="4"/>
            </p:cNvCxnSpPr>
            <p:nvPr>
              <p:custDataLst>
                <p:tags r:id="rId13"/>
              </p:custDataLst>
            </p:nvPr>
          </p:nvCxnSpPr>
          <p:spPr bwMode="auto">
            <a:xfrm rot="10800000">
              <a:off x="-2433454" y="2099370"/>
              <a:ext cx="935831" cy="592931"/>
            </a:xfrm>
            <a:prstGeom prst="curvedConnector2">
              <a:avLst/>
            </a:prstGeom>
            <a:noFill/>
            <a:ln w="9525">
              <a:solidFill>
                <a:schemeClr val="bg1">
                  <a:lumMod val="65000"/>
                </a:schemeClr>
              </a:solidFill>
              <a:prstDash val="dash"/>
              <a:round/>
              <a:headEnd/>
              <a:tailEnd type="triangle" w="med" len="med"/>
            </a:ln>
          </p:spPr>
        </p:cxnSp>
        <p:cxnSp>
          <p:nvCxnSpPr>
            <p:cNvPr id="66" name="AutoShape 20">
              <a:extLst>
                <a:ext uri="{FF2B5EF4-FFF2-40B4-BE49-F238E27FC236}">
                  <a16:creationId xmlns:a16="http://schemas.microsoft.com/office/drawing/2014/main" id="{78B394E8-C649-48E1-B92B-9EF7FEB41FA9}"/>
                </a:ext>
              </a:extLst>
            </p:cNvPr>
            <p:cNvCxnSpPr>
              <a:cxnSpLocks noChangeShapeType="1"/>
              <a:stCxn id="63" idx="2"/>
              <a:endCxn id="62" idx="0"/>
            </p:cNvCxnSpPr>
            <p:nvPr>
              <p:custDataLst>
                <p:tags r:id="rId14"/>
              </p:custDataLst>
            </p:nvPr>
          </p:nvCxnSpPr>
          <p:spPr bwMode="auto">
            <a:xfrm rot="10800000" flipV="1">
              <a:off x="-661805" y="2520851"/>
              <a:ext cx="600075" cy="314325"/>
            </a:xfrm>
            <a:prstGeom prst="curvedConnector2">
              <a:avLst/>
            </a:prstGeom>
            <a:noFill/>
            <a:ln w="9525">
              <a:solidFill>
                <a:schemeClr val="bg1">
                  <a:lumMod val="65000"/>
                </a:schemeClr>
              </a:solidFill>
              <a:prstDash val="dash"/>
              <a:round/>
              <a:headEnd/>
              <a:tailEnd type="triangle" w="med" len="med"/>
            </a:ln>
          </p:spPr>
        </p:cxnSp>
        <p:cxnSp>
          <p:nvCxnSpPr>
            <p:cNvPr id="67" name="AutoShape 21">
              <a:extLst>
                <a:ext uri="{FF2B5EF4-FFF2-40B4-BE49-F238E27FC236}">
                  <a16:creationId xmlns:a16="http://schemas.microsoft.com/office/drawing/2014/main" id="{15089836-3FF0-4D25-87AD-CAE1F23F4A68}"/>
                </a:ext>
              </a:extLst>
            </p:cNvPr>
            <p:cNvCxnSpPr>
              <a:cxnSpLocks noChangeShapeType="1"/>
              <a:stCxn id="62" idx="6"/>
              <a:endCxn id="63" idx="4"/>
            </p:cNvCxnSpPr>
            <p:nvPr>
              <p:custDataLst>
                <p:tags r:id="rId15"/>
              </p:custDataLst>
            </p:nvPr>
          </p:nvCxnSpPr>
          <p:spPr bwMode="auto">
            <a:xfrm flipV="1">
              <a:off x="-518930" y="2663726"/>
              <a:ext cx="600075" cy="314325"/>
            </a:xfrm>
            <a:prstGeom prst="curvedConnector2">
              <a:avLst/>
            </a:prstGeom>
            <a:noFill/>
            <a:ln w="9525">
              <a:solidFill>
                <a:schemeClr val="bg1">
                  <a:lumMod val="65000"/>
                </a:schemeClr>
              </a:solidFill>
              <a:prstDash val="dash"/>
              <a:round/>
              <a:headEnd/>
              <a:tailEnd type="triangle" w="med" len="med"/>
            </a:ln>
          </p:spPr>
        </p:cxnSp>
        <p:cxnSp>
          <p:nvCxnSpPr>
            <p:cNvPr id="68" name="AutoShape 24">
              <a:extLst>
                <a:ext uri="{FF2B5EF4-FFF2-40B4-BE49-F238E27FC236}">
                  <a16:creationId xmlns:a16="http://schemas.microsoft.com/office/drawing/2014/main" id="{E7DA6D75-6B89-40F5-8898-F2173107A78B}"/>
                </a:ext>
              </a:extLst>
            </p:cNvPr>
            <p:cNvCxnSpPr>
              <a:cxnSpLocks noChangeShapeType="1"/>
              <a:stCxn id="56" idx="3"/>
              <a:endCxn id="58" idx="0"/>
            </p:cNvCxnSpPr>
            <p:nvPr>
              <p:custDataLst>
                <p:tags r:id="rId16"/>
              </p:custDataLst>
            </p:nvPr>
          </p:nvCxnSpPr>
          <p:spPr bwMode="auto">
            <a:xfrm flipH="1">
              <a:off x="-2547755" y="2057698"/>
              <a:ext cx="13097" cy="656034"/>
            </a:xfrm>
            <a:prstGeom prst="straightConnector1">
              <a:avLst/>
            </a:prstGeom>
            <a:noFill/>
            <a:ln w="9525">
              <a:solidFill>
                <a:schemeClr val="bg1">
                  <a:lumMod val="65000"/>
                </a:schemeClr>
              </a:solidFill>
              <a:prstDash val="dash"/>
              <a:round/>
              <a:headEnd/>
              <a:tailEnd type="triangle" w="med" len="med"/>
            </a:ln>
          </p:spPr>
        </p:cxnSp>
        <p:cxnSp>
          <p:nvCxnSpPr>
            <p:cNvPr id="69" name="AutoShape 25">
              <a:extLst>
                <a:ext uri="{FF2B5EF4-FFF2-40B4-BE49-F238E27FC236}">
                  <a16:creationId xmlns:a16="http://schemas.microsoft.com/office/drawing/2014/main" id="{15C7721C-ADD2-4E07-A6C6-3609FFF743F7}"/>
                </a:ext>
              </a:extLst>
            </p:cNvPr>
            <p:cNvCxnSpPr>
              <a:cxnSpLocks noChangeShapeType="1"/>
              <a:stCxn id="58" idx="6"/>
              <a:endCxn id="59" idx="3"/>
            </p:cNvCxnSpPr>
            <p:nvPr>
              <p:custDataLst>
                <p:tags r:id="rId17"/>
              </p:custDataLst>
            </p:nvPr>
          </p:nvCxnSpPr>
          <p:spPr bwMode="auto">
            <a:xfrm flipV="1">
              <a:off x="-2397736" y="2800648"/>
              <a:ext cx="948928" cy="63103"/>
            </a:xfrm>
            <a:prstGeom prst="straightConnector1">
              <a:avLst/>
            </a:prstGeom>
            <a:noFill/>
            <a:ln w="9525">
              <a:solidFill>
                <a:schemeClr val="bg1">
                  <a:lumMod val="65000"/>
                </a:schemeClr>
              </a:solidFill>
              <a:prstDash val="dash"/>
              <a:round/>
              <a:headEnd/>
              <a:tailEnd type="triangle" w="med" len="med"/>
            </a:ln>
          </p:spPr>
        </p:cxnSp>
        <p:cxnSp>
          <p:nvCxnSpPr>
            <p:cNvPr id="70" name="AutoShape 26">
              <a:extLst>
                <a:ext uri="{FF2B5EF4-FFF2-40B4-BE49-F238E27FC236}">
                  <a16:creationId xmlns:a16="http://schemas.microsoft.com/office/drawing/2014/main" id="{47D9DA7E-03F5-4EDA-BCE5-B2CEDDF300DF}"/>
                </a:ext>
              </a:extLst>
            </p:cNvPr>
            <p:cNvCxnSpPr>
              <a:cxnSpLocks noChangeShapeType="1"/>
              <a:stCxn id="56" idx="7"/>
              <a:endCxn id="57" idx="2"/>
            </p:cNvCxnSpPr>
            <p:nvPr>
              <p:custDataLst>
                <p:tags r:id="rId18"/>
              </p:custDataLst>
            </p:nvPr>
          </p:nvCxnSpPr>
          <p:spPr bwMode="auto">
            <a:xfrm>
              <a:off x="-2332252" y="1841004"/>
              <a:ext cx="1006079" cy="51197"/>
            </a:xfrm>
            <a:prstGeom prst="straightConnector1">
              <a:avLst/>
            </a:prstGeom>
            <a:noFill/>
            <a:ln w="9525">
              <a:solidFill>
                <a:schemeClr val="bg1">
                  <a:lumMod val="65000"/>
                </a:schemeClr>
              </a:solidFill>
              <a:prstDash val="dash"/>
              <a:round/>
              <a:headEnd/>
              <a:tailEnd type="triangle" w="med" len="med"/>
            </a:ln>
          </p:spPr>
        </p:cxnSp>
        <p:cxnSp>
          <p:nvCxnSpPr>
            <p:cNvPr id="71" name="AutoShape 27">
              <a:extLst>
                <a:ext uri="{FF2B5EF4-FFF2-40B4-BE49-F238E27FC236}">
                  <a16:creationId xmlns:a16="http://schemas.microsoft.com/office/drawing/2014/main" id="{CA36FEAE-D428-4E4D-BAC9-1CFDD10C8AD1}"/>
                </a:ext>
              </a:extLst>
            </p:cNvPr>
            <p:cNvCxnSpPr>
              <a:cxnSpLocks noChangeShapeType="1"/>
              <a:stCxn id="57" idx="6"/>
              <a:endCxn id="60" idx="2"/>
            </p:cNvCxnSpPr>
            <p:nvPr>
              <p:custDataLst>
                <p:tags r:id="rId19"/>
              </p:custDataLst>
            </p:nvPr>
          </p:nvCxnSpPr>
          <p:spPr bwMode="auto">
            <a:xfrm>
              <a:off x="-1026136" y="1892201"/>
              <a:ext cx="671513" cy="57150"/>
            </a:xfrm>
            <a:prstGeom prst="straightConnector1">
              <a:avLst/>
            </a:prstGeom>
            <a:noFill/>
            <a:ln w="9525">
              <a:solidFill>
                <a:schemeClr val="bg1">
                  <a:lumMod val="65000"/>
                </a:schemeClr>
              </a:solidFill>
              <a:prstDash val="dash"/>
              <a:round/>
              <a:headEnd/>
              <a:tailEnd type="triangle" w="med" len="med"/>
            </a:ln>
          </p:spPr>
        </p:cxnSp>
        <p:cxnSp>
          <p:nvCxnSpPr>
            <p:cNvPr id="72" name="AutoShape 28">
              <a:extLst>
                <a:ext uri="{FF2B5EF4-FFF2-40B4-BE49-F238E27FC236}">
                  <a16:creationId xmlns:a16="http://schemas.microsoft.com/office/drawing/2014/main" id="{3DA52E15-539A-48AF-B289-6D7274252BA7}"/>
                </a:ext>
              </a:extLst>
            </p:cNvPr>
            <p:cNvCxnSpPr>
              <a:cxnSpLocks noChangeShapeType="1"/>
              <a:stCxn id="60" idx="6"/>
              <a:endCxn id="61" idx="2"/>
            </p:cNvCxnSpPr>
            <p:nvPr>
              <p:custDataLst>
                <p:tags r:id="rId20"/>
              </p:custDataLst>
            </p:nvPr>
          </p:nvCxnSpPr>
          <p:spPr bwMode="auto">
            <a:xfrm>
              <a:off x="-54586" y="1949351"/>
              <a:ext cx="442913" cy="0"/>
            </a:xfrm>
            <a:prstGeom prst="straightConnector1">
              <a:avLst/>
            </a:prstGeom>
            <a:noFill/>
            <a:ln w="9525">
              <a:solidFill>
                <a:schemeClr val="bg1">
                  <a:lumMod val="65000"/>
                </a:schemeClr>
              </a:solidFill>
              <a:prstDash val="dash"/>
              <a:round/>
              <a:headEnd/>
              <a:tailEnd type="triangle" w="med" len="med"/>
            </a:ln>
          </p:spPr>
        </p:cxnSp>
        <p:cxnSp>
          <p:nvCxnSpPr>
            <p:cNvPr id="73" name="AutoShape 29">
              <a:extLst>
                <a:ext uri="{FF2B5EF4-FFF2-40B4-BE49-F238E27FC236}">
                  <a16:creationId xmlns:a16="http://schemas.microsoft.com/office/drawing/2014/main" id="{CD4D6B5D-F0E8-48AA-BF72-5D011737BB61}"/>
                </a:ext>
              </a:extLst>
            </p:cNvPr>
            <p:cNvCxnSpPr>
              <a:cxnSpLocks noChangeShapeType="1"/>
              <a:stCxn id="63" idx="1"/>
              <a:endCxn id="60" idx="4"/>
            </p:cNvCxnSpPr>
            <p:nvPr>
              <p:custDataLst>
                <p:tags r:id="rId21"/>
              </p:custDataLst>
            </p:nvPr>
          </p:nvCxnSpPr>
          <p:spPr bwMode="auto">
            <a:xfrm flipH="1" flipV="1">
              <a:off x="-204605" y="2099370"/>
              <a:ext cx="184547" cy="313135"/>
            </a:xfrm>
            <a:prstGeom prst="straightConnector1">
              <a:avLst/>
            </a:prstGeom>
            <a:noFill/>
            <a:ln w="9525">
              <a:solidFill>
                <a:schemeClr val="bg1">
                  <a:lumMod val="65000"/>
                </a:schemeClr>
              </a:solidFill>
              <a:prstDash val="dash"/>
              <a:round/>
              <a:headEnd/>
              <a:tailEnd type="triangle" w="med" len="med"/>
            </a:ln>
          </p:spPr>
        </p:cxnSp>
        <p:cxnSp>
          <p:nvCxnSpPr>
            <p:cNvPr id="74" name="AutoShape 30">
              <a:extLst>
                <a:ext uri="{FF2B5EF4-FFF2-40B4-BE49-F238E27FC236}">
                  <a16:creationId xmlns:a16="http://schemas.microsoft.com/office/drawing/2014/main" id="{C27006CA-22FA-4F48-9828-1B503885E069}"/>
                </a:ext>
              </a:extLst>
            </p:cNvPr>
            <p:cNvCxnSpPr>
              <a:cxnSpLocks noChangeShapeType="1"/>
              <a:stCxn id="61" idx="4"/>
              <a:endCxn id="63" idx="7"/>
            </p:cNvCxnSpPr>
            <p:nvPr>
              <p:custDataLst>
                <p:tags r:id="rId22"/>
              </p:custDataLst>
            </p:nvPr>
          </p:nvCxnSpPr>
          <p:spPr bwMode="auto">
            <a:xfrm flipH="1">
              <a:off x="182349" y="2099370"/>
              <a:ext cx="355997" cy="313135"/>
            </a:xfrm>
            <a:prstGeom prst="straightConnector1">
              <a:avLst/>
            </a:prstGeom>
            <a:noFill/>
            <a:ln w="9525">
              <a:solidFill>
                <a:schemeClr val="bg1">
                  <a:lumMod val="65000"/>
                </a:schemeClr>
              </a:solidFill>
              <a:prstDash val="dash"/>
              <a:round/>
              <a:headEnd/>
              <a:tailEnd type="triangle" w="med" len="med"/>
            </a:ln>
          </p:spPr>
        </p:cxnSp>
        <p:cxnSp>
          <p:nvCxnSpPr>
            <p:cNvPr id="75" name="AutoShape 31">
              <a:extLst>
                <a:ext uri="{FF2B5EF4-FFF2-40B4-BE49-F238E27FC236}">
                  <a16:creationId xmlns:a16="http://schemas.microsoft.com/office/drawing/2014/main" id="{ED4C8239-09A4-4C9F-81BB-ED57F4B63E4D}"/>
                </a:ext>
              </a:extLst>
            </p:cNvPr>
            <p:cNvCxnSpPr>
              <a:cxnSpLocks noChangeShapeType="1"/>
              <a:stCxn id="57" idx="5"/>
              <a:endCxn id="62" idx="1"/>
            </p:cNvCxnSpPr>
            <p:nvPr>
              <p:custDataLst>
                <p:tags r:id="rId23"/>
              </p:custDataLst>
            </p:nvPr>
          </p:nvCxnSpPr>
          <p:spPr bwMode="auto">
            <a:xfrm rot="16200000" flipH="1">
              <a:off x="-1360702" y="2279154"/>
              <a:ext cx="883444" cy="311944"/>
            </a:xfrm>
            <a:prstGeom prst="straightConnector1">
              <a:avLst/>
            </a:prstGeom>
            <a:noFill/>
            <a:ln w="9525">
              <a:solidFill>
                <a:schemeClr val="bg1">
                  <a:lumMod val="65000"/>
                </a:schemeClr>
              </a:solidFill>
              <a:prstDash val="dash"/>
              <a:round/>
              <a:headEnd/>
              <a:tailEnd type="triangle" w="med" len="med"/>
            </a:ln>
          </p:spPr>
        </p:cxnSp>
        <p:cxnSp>
          <p:nvCxnSpPr>
            <p:cNvPr id="76" name="AutoShape 32">
              <a:extLst>
                <a:ext uri="{FF2B5EF4-FFF2-40B4-BE49-F238E27FC236}">
                  <a16:creationId xmlns:a16="http://schemas.microsoft.com/office/drawing/2014/main" id="{94861D8B-6374-4579-A4B7-FD55BF59B67B}"/>
                </a:ext>
              </a:extLst>
            </p:cNvPr>
            <p:cNvCxnSpPr>
              <a:cxnSpLocks noChangeShapeType="1"/>
              <a:stCxn id="57" idx="4"/>
              <a:endCxn id="59" idx="0"/>
            </p:cNvCxnSpPr>
            <p:nvPr>
              <p:custDataLst>
                <p:tags r:id="rId24"/>
              </p:custDataLst>
            </p:nvPr>
          </p:nvCxnSpPr>
          <p:spPr bwMode="auto">
            <a:xfrm flipH="1">
              <a:off x="-1347605" y="2042219"/>
              <a:ext cx="171450" cy="500063"/>
            </a:xfrm>
            <a:prstGeom prst="straightConnector1">
              <a:avLst/>
            </a:prstGeom>
            <a:noFill/>
            <a:ln w="9525">
              <a:solidFill>
                <a:schemeClr val="bg1">
                  <a:lumMod val="65000"/>
                </a:schemeClr>
              </a:solidFill>
              <a:prstDash val="dash"/>
              <a:round/>
              <a:headEnd/>
              <a:tailEnd type="triangle" w="med" len="med"/>
            </a:ln>
          </p:spPr>
        </p:cxnSp>
        <p:cxnSp>
          <p:nvCxnSpPr>
            <p:cNvPr id="77" name="AutoShape 33">
              <a:extLst>
                <a:ext uri="{FF2B5EF4-FFF2-40B4-BE49-F238E27FC236}">
                  <a16:creationId xmlns:a16="http://schemas.microsoft.com/office/drawing/2014/main" id="{459DA518-B376-4D2C-B6DE-9D434F010769}"/>
                </a:ext>
              </a:extLst>
            </p:cNvPr>
            <p:cNvCxnSpPr>
              <a:cxnSpLocks noChangeShapeType="1"/>
              <a:stCxn id="59" idx="5"/>
              <a:endCxn id="62" idx="2"/>
            </p:cNvCxnSpPr>
            <p:nvPr>
              <p:custDataLst>
                <p:tags r:id="rId25"/>
              </p:custDataLst>
            </p:nvPr>
          </p:nvCxnSpPr>
          <p:spPr bwMode="auto">
            <a:xfrm rot="16200000" flipH="1">
              <a:off x="-1117814" y="2664916"/>
              <a:ext cx="184547" cy="441722"/>
            </a:xfrm>
            <a:prstGeom prst="straightConnector1">
              <a:avLst/>
            </a:prstGeom>
            <a:noFill/>
            <a:ln w="9525">
              <a:solidFill>
                <a:schemeClr val="bg1">
                  <a:lumMod val="65000"/>
                </a:schemeClr>
              </a:solidFill>
              <a:prstDash val="dash"/>
              <a:round/>
              <a:headEnd/>
              <a:tailEnd type="triangle" w="med" len="med"/>
            </a:ln>
          </p:spPr>
        </p:cxnSp>
        <p:cxnSp>
          <p:nvCxnSpPr>
            <p:cNvPr id="78" name="AutoShape 34">
              <a:extLst>
                <a:ext uri="{FF2B5EF4-FFF2-40B4-BE49-F238E27FC236}">
                  <a16:creationId xmlns:a16="http://schemas.microsoft.com/office/drawing/2014/main" id="{FA975372-55A7-45C2-89D2-DA0F6D964ABA}"/>
                </a:ext>
              </a:extLst>
            </p:cNvPr>
            <p:cNvCxnSpPr>
              <a:cxnSpLocks noChangeShapeType="1"/>
              <a:stCxn id="62" idx="3"/>
              <a:endCxn id="58" idx="5"/>
            </p:cNvCxnSpPr>
            <p:nvPr>
              <p:custDataLst>
                <p:tags r:id="rId26"/>
              </p:custDataLst>
            </p:nvPr>
          </p:nvCxnSpPr>
          <p:spPr bwMode="auto">
            <a:xfrm rot="5400000" flipH="1">
              <a:off x="-1661930" y="2180332"/>
              <a:ext cx="114300" cy="1683544"/>
            </a:xfrm>
            <a:prstGeom prst="straightConnector1">
              <a:avLst/>
            </a:prstGeom>
            <a:noFill/>
            <a:ln w="9525">
              <a:solidFill>
                <a:schemeClr val="bg1">
                  <a:lumMod val="65000"/>
                </a:schemeClr>
              </a:solidFill>
              <a:prstDash val="dash"/>
              <a:round/>
              <a:headEnd/>
              <a:tailEnd type="triangle" w="med" len="med"/>
            </a:ln>
          </p:spPr>
        </p:cxnSp>
        <p:sp>
          <p:nvSpPr>
            <p:cNvPr id="79" name="Text Box 53">
              <a:extLst>
                <a:ext uri="{FF2B5EF4-FFF2-40B4-BE49-F238E27FC236}">
                  <a16:creationId xmlns:a16="http://schemas.microsoft.com/office/drawing/2014/main" id="{AE97507B-2CEF-4C4D-87DB-62A876DA6843}"/>
                </a:ext>
              </a:extLst>
            </p:cNvPr>
            <p:cNvSpPr txBox="1">
              <a:spLocks noChangeArrowheads="1"/>
            </p:cNvSpPr>
            <p:nvPr>
              <p:custDataLst>
                <p:tags r:id="rId27"/>
              </p:custDataLst>
            </p:nvPr>
          </p:nvSpPr>
          <p:spPr bwMode="auto">
            <a:xfrm>
              <a:off x="-1987629" y="16263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0" name="Text Box 54">
              <a:extLst>
                <a:ext uri="{FF2B5EF4-FFF2-40B4-BE49-F238E27FC236}">
                  <a16:creationId xmlns:a16="http://schemas.microsoft.com/office/drawing/2014/main" id="{CE3FB223-BE45-4D28-9993-2AF0A9C549D8}"/>
                </a:ext>
              </a:extLst>
            </p:cNvPr>
            <p:cNvSpPr txBox="1">
              <a:spLocks noChangeArrowheads="1"/>
            </p:cNvSpPr>
            <p:nvPr>
              <p:custDataLst>
                <p:tags r:id="rId28"/>
              </p:custDataLst>
            </p:nvPr>
          </p:nvSpPr>
          <p:spPr bwMode="auto">
            <a:xfrm>
              <a:off x="-828619" y="16856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1" name="Text Box 55">
              <a:extLst>
                <a:ext uri="{FF2B5EF4-FFF2-40B4-BE49-F238E27FC236}">
                  <a16:creationId xmlns:a16="http://schemas.microsoft.com/office/drawing/2014/main" id="{CFCD24FF-B68E-4BC8-AE58-B958245F2865}"/>
                </a:ext>
              </a:extLst>
            </p:cNvPr>
            <p:cNvSpPr txBox="1">
              <a:spLocks noChangeArrowheads="1"/>
            </p:cNvSpPr>
            <p:nvPr>
              <p:custDataLst>
                <p:tags r:id="rId29"/>
              </p:custDataLst>
            </p:nvPr>
          </p:nvSpPr>
          <p:spPr bwMode="auto">
            <a:xfrm>
              <a:off x="12808" y="1727299"/>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2" name="Text Box 56">
              <a:extLst>
                <a:ext uri="{FF2B5EF4-FFF2-40B4-BE49-F238E27FC236}">
                  <a16:creationId xmlns:a16="http://schemas.microsoft.com/office/drawing/2014/main" id="{F6B1696A-6983-4A07-88B7-7CD91320379D}"/>
                </a:ext>
              </a:extLst>
            </p:cNvPr>
            <p:cNvSpPr txBox="1">
              <a:spLocks noChangeArrowheads="1"/>
            </p:cNvSpPr>
            <p:nvPr>
              <p:custDataLst>
                <p:tags r:id="rId30"/>
              </p:custDataLst>
            </p:nvPr>
          </p:nvSpPr>
          <p:spPr bwMode="auto">
            <a:xfrm>
              <a:off x="338320" y="214937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83" name="Text Box 57">
              <a:extLst>
                <a:ext uri="{FF2B5EF4-FFF2-40B4-BE49-F238E27FC236}">
                  <a16:creationId xmlns:a16="http://schemas.microsoft.com/office/drawing/2014/main" id="{992994F9-0F7E-4CB8-B742-559BD0A90750}"/>
                </a:ext>
              </a:extLst>
            </p:cNvPr>
            <p:cNvSpPr txBox="1">
              <a:spLocks noChangeArrowheads="1"/>
            </p:cNvSpPr>
            <p:nvPr>
              <p:custDataLst>
                <p:tags r:id="rId31"/>
              </p:custDataLst>
            </p:nvPr>
          </p:nvSpPr>
          <p:spPr bwMode="auto">
            <a:xfrm>
              <a:off x="-1005925" y="219997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84" name="Text Box 58">
              <a:extLst>
                <a:ext uri="{FF2B5EF4-FFF2-40B4-BE49-F238E27FC236}">
                  <a16:creationId xmlns:a16="http://schemas.microsoft.com/office/drawing/2014/main" id="{18B092A9-B731-42BC-820F-7E429362AC72}"/>
                </a:ext>
              </a:extLst>
            </p:cNvPr>
            <p:cNvSpPr txBox="1">
              <a:spLocks noChangeArrowheads="1"/>
            </p:cNvSpPr>
            <p:nvPr>
              <p:custDataLst>
                <p:tags r:id="rId32"/>
              </p:custDataLst>
            </p:nvPr>
          </p:nvSpPr>
          <p:spPr bwMode="auto">
            <a:xfrm>
              <a:off x="-290330" y="214937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85" name="Text Box 59">
              <a:extLst>
                <a:ext uri="{FF2B5EF4-FFF2-40B4-BE49-F238E27FC236}">
                  <a16:creationId xmlns:a16="http://schemas.microsoft.com/office/drawing/2014/main" id="{EAFCB945-1FD5-494B-A110-1F79B98DB30A}"/>
                </a:ext>
              </a:extLst>
            </p:cNvPr>
            <p:cNvSpPr txBox="1">
              <a:spLocks noChangeArrowheads="1"/>
            </p:cNvSpPr>
            <p:nvPr>
              <p:custDataLst>
                <p:tags r:id="rId33"/>
              </p:custDataLst>
            </p:nvPr>
          </p:nvSpPr>
          <p:spPr bwMode="auto">
            <a:xfrm>
              <a:off x="-540939" y="2355949"/>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sp>
          <p:nvSpPr>
            <p:cNvPr id="86" name="Text Box 60">
              <a:extLst>
                <a:ext uri="{FF2B5EF4-FFF2-40B4-BE49-F238E27FC236}">
                  <a16:creationId xmlns:a16="http://schemas.microsoft.com/office/drawing/2014/main" id="{E9945623-9A6C-4AD1-86E9-8DD98DDCF584}"/>
                </a:ext>
              </a:extLst>
            </p:cNvPr>
            <p:cNvSpPr txBox="1">
              <a:spLocks noChangeArrowheads="1"/>
            </p:cNvSpPr>
            <p:nvPr>
              <p:custDataLst>
                <p:tags r:id="rId34"/>
              </p:custDataLst>
            </p:nvPr>
          </p:nvSpPr>
          <p:spPr bwMode="auto">
            <a:xfrm>
              <a:off x="-304254" y="2663725"/>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87" name="Text Box 61">
              <a:extLst>
                <a:ext uri="{FF2B5EF4-FFF2-40B4-BE49-F238E27FC236}">
                  <a16:creationId xmlns:a16="http://schemas.microsoft.com/office/drawing/2014/main" id="{5BCC9065-74BD-4F40-A5A7-5B22C577C3A2}"/>
                </a:ext>
              </a:extLst>
            </p:cNvPr>
            <p:cNvSpPr txBox="1">
              <a:spLocks noChangeArrowheads="1"/>
            </p:cNvSpPr>
            <p:nvPr>
              <p:custDataLst>
                <p:tags r:id="rId35"/>
              </p:custDataLst>
            </p:nvPr>
          </p:nvSpPr>
          <p:spPr bwMode="auto">
            <a:xfrm>
              <a:off x="-1182721" y="2630388"/>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11</a:t>
              </a:r>
            </a:p>
          </p:txBody>
        </p:sp>
        <p:sp>
          <p:nvSpPr>
            <p:cNvPr id="88" name="Text Box 62">
              <a:extLst>
                <a:ext uri="{FF2B5EF4-FFF2-40B4-BE49-F238E27FC236}">
                  <a16:creationId xmlns:a16="http://schemas.microsoft.com/office/drawing/2014/main" id="{C38103E0-97CC-4992-B585-050557972DCB}"/>
                </a:ext>
              </a:extLst>
            </p:cNvPr>
            <p:cNvSpPr txBox="1">
              <a:spLocks noChangeArrowheads="1"/>
            </p:cNvSpPr>
            <p:nvPr>
              <p:custDataLst>
                <p:tags r:id="rId36"/>
              </p:custDataLst>
            </p:nvPr>
          </p:nvSpPr>
          <p:spPr bwMode="auto">
            <a:xfrm>
              <a:off x="-1709442" y="2959024"/>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7</a:t>
              </a:r>
            </a:p>
          </p:txBody>
        </p:sp>
        <p:sp>
          <p:nvSpPr>
            <p:cNvPr id="89" name="Text Box 63">
              <a:extLst>
                <a:ext uri="{FF2B5EF4-FFF2-40B4-BE49-F238E27FC236}">
                  <a16:creationId xmlns:a16="http://schemas.microsoft.com/office/drawing/2014/main" id="{434F955B-6319-4983-9E67-740962158C21}"/>
                </a:ext>
              </a:extLst>
            </p:cNvPr>
            <p:cNvSpPr txBox="1">
              <a:spLocks noChangeArrowheads="1"/>
            </p:cNvSpPr>
            <p:nvPr>
              <p:custDataLst>
                <p:tags r:id="rId37"/>
              </p:custDataLst>
            </p:nvPr>
          </p:nvSpPr>
          <p:spPr bwMode="auto">
            <a:xfrm>
              <a:off x="-1780944" y="1938535"/>
              <a:ext cx="255118"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1</a:t>
              </a:r>
            </a:p>
          </p:txBody>
        </p:sp>
        <p:sp>
          <p:nvSpPr>
            <p:cNvPr id="90" name="Text Box 64">
              <a:extLst>
                <a:ext uri="{FF2B5EF4-FFF2-40B4-BE49-F238E27FC236}">
                  <a16:creationId xmlns:a16="http://schemas.microsoft.com/office/drawing/2014/main" id="{2304B905-222E-4FF7-ABC4-03677A63AA47}"/>
                </a:ext>
              </a:extLst>
            </p:cNvPr>
            <p:cNvSpPr txBox="1">
              <a:spLocks noChangeArrowheads="1"/>
            </p:cNvSpPr>
            <p:nvPr>
              <p:custDataLst>
                <p:tags r:id="rId38"/>
              </p:custDataLst>
            </p:nvPr>
          </p:nvSpPr>
          <p:spPr bwMode="auto">
            <a:xfrm>
              <a:off x="-2004884" y="2360126"/>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9</a:t>
              </a:r>
            </a:p>
          </p:txBody>
        </p:sp>
        <p:sp>
          <p:nvSpPr>
            <p:cNvPr id="91" name="Text Box 65">
              <a:extLst>
                <a:ext uri="{FF2B5EF4-FFF2-40B4-BE49-F238E27FC236}">
                  <a16:creationId xmlns:a16="http://schemas.microsoft.com/office/drawing/2014/main" id="{9B811DA1-FD7D-4D91-B68D-0CB46DA8CEFA}"/>
                </a:ext>
              </a:extLst>
            </p:cNvPr>
            <p:cNvSpPr txBox="1">
              <a:spLocks noChangeArrowheads="1"/>
            </p:cNvSpPr>
            <p:nvPr>
              <p:custDataLst>
                <p:tags r:id="rId39"/>
              </p:custDataLst>
            </p:nvPr>
          </p:nvSpPr>
          <p:spPr bwMode="auto">
            <a:xfrm>
              <a:off x="-2246869" y="260420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92" name="Text Box 66">
              <a:extLst>
                <a:ext uri="{FF2B5EF4-FFF2-40B4-BE49-F238E27FC236}">
                  <a16:creationId xmlns:a16="http://schemas.microsoft.com/office/drawing/2014/main" id="{3F3BB0B0-AEE4-466D-BF88-C79ED72C2DA6}"/>
                </a:ext>
              </a:extLst>
            </p:cNvPr>
            <p:cNvSpPr txBox="1">
              <a:spLocks noChangeArrowheads="1"/>
            </p:cNvSpPr>
            <p:nvPr>
              <p:custDataLst>
                <p:tags r:id="rId40"/>
              </p:custDataLst>
            </p:nvPr>
          </p:nvSpPr>
          <p:spPr bwMode="auto">
            <a:xfrm>
              <a:off x="-2735082" y="2243287"/>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4</a:t>
              </a:r>
            </a:p>
          </p:txBody>
        </p:sp>
        <p:sp>
          <p:nvSpPr>
            <p:cNvPr id="93" name="Text Box 63">
              <a:extLst>
                <a:ext uri="{FF2B5EF4-FFF2-40B4-BE49-F238E27FC236}">
                  <a16:creationId xmlns:a16="http://schemas.microsoft.com/office/drawing/2014/main" id="{17E4E7A7-E5C7-4F18-9EC9-F8877096132A}"/>
                </a:ext>
              </a:extLst>
            </p:cNvPr>
            <p:cNvSpPr txBox="1">
              <a:spLocks noChangeArrowheads="1"/>
            </p:cNvSpPr>
            <p:nvPr>
              <p:custDataLst>
                <p:tags r:id="rId41"/>
              </p:custDataLst>
            </p:nvPr>
          </p:nvSpPr>
          <p:spPr bwMode="auto">
            <a:xfrm>
              <a:off x="-1338040" y="2185094"/>
              <a:ext cx="255118"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sp>
          <p:nvSpPr>
            <p:cNvPr id="94" name="Text Box 47">
              <a:extLst>
                <a:ext uri="{FF2B5EF4-FFF2-40B4-BE49-F238E27FC236}">
                  <a16:creationId xmlns:a16="http://schemas.microsoft.com/office/drawing/2014/main" id="{1216031B-07F4-4924-9D4E-DB7F4C4D8BCB}"/>
                </a:ext>
              </a:extLst>
            </p:cNvPr>
            <p:cNvSpPr txBox="1">
              <a:spLocks noChangeArrowheads="1"/>
            </p:cNvSpPr>
            <p:nvPr>
              <p:custDataLst>
                <p:tags r:id="rId42"/>
              </p:custDataLst>
            </p:nvPr>
          </p:nvSpPr>
          <p:spPr bwMode="auto">
            <a:xfrm>
              <a:off x="-1417640" y="155655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000" dirty="0">
                <a:solidFill>
                  <a:srgbClr val="FF0000"/>
                </a:solidFill>
                <a:latin typeface="Calibri" panose="020F0502020204030204" pitchFamily="34" charset="0"/>
                <a:cs typeface="Calibri" panose="020F0502020204030204" pitchFamily="34" charset="0"/>
              </a:endParaRPr>
            </a:p>
          </p:txBody>
        </p:sp>
        <p:sp>
          <p:nvSpPr>
            <p:cNvPr id="95" name="Text Box 47">
              <a:extLst>
                <a:ext uri="{FF2B5EF4-FFF2-40B4-BE49-F238E27FC236}">
                  <a16:creationId xmlns:a16="http://schemas.microsoft.com/office/drawing/2014/main" id="{2DE54F1A-60C4-4DA5-A3B1-0AA7E2AC3939}"/>
                </a:ext>
              </a:extLst>
            </p:cNvPr>
            <p:cNvSpPr txBox="1">
              <a:spLocks noChangeArrowheads="1"/>
            </p:cNvSpPr>
            <p:nvPr>
              <p:custDataLst>
                <p:tags r:id="rId43"/>
              </p:custDataLst>
            </p:nvPr>
          </p:nvSpPr>
          <p:spPr bwMode="auto">
            <a:xfrm>
              <a:off x="-477173" y="1609371"/>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6" name="Text Box 47">
              <a:extLst>
                <a:ext uri="{FF2B5EF4-FFF2-40B4-BE49-F238E27FC236}">
                  <a16:creationId xmlns:a16="http://schemas.microsoft.com/office/drawing/2014/main" id="{97C46E1D-525D-460D-977C-2237413C4C14}"/>
                </a:ext>
              </a:extLst>
            </p:cNvPr>
            <p:cNvSpPr txBox="1">
              <a:spLocks noChangeArrowheads="1"/>
            </p:cNvSpPr>
            <p:nvPr>
              <p:custDataLst>
                <p:tags r:id="rId44"/>
              </p:custDataLst>
            </p:nvPr>
          </p:nvSpPr>
          <p:spPr bwMode="auto">
            <a:xfrm>
              <a:off x="248635" y="162332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000" dirty="0">
                <a:solidFill>
                  <a:srgbClr val="FF0000"/>
                </a:solidFill>
                <a:latin typeface="Calibri" panose="020F0502020204030204" pitchFamily="34" charset="0"/>
                <a:cs typeface="Calibri" panose="020F0502020204030204" pitchFamily="34" charset="0"/>
              </a:endParaRPr>
            </a:p>
          </p:txBody>
        </p:sp>
        <p:sp>
          <p:nvSpPr>
            <p:cNvPr id="97" name="Text Box 47">
              <a:extLst>
                <a:ext uri="{FF2B5EF4-FFF2-40B4-BE49-F238E27FC236}">
                  <a16:creationId xmlns:a16="http://schemas.microsoft.com/office/drawing/2014/main" id="{5A8AB569-9DC4-401C-9748-E72AA392275D}"/>
                </a:ext>
              </a:extLst>
            </p:cNvPr>
            <p:cNvSpPr txBox="1">
              <a:spLocks noChangeArrowheads="1"/>
            </p:cNvSpPr>
            <p:nvPr>
              <p:custDataLst>
                <p:tags r:id="rId45"/>
              </p:custDataLst>
            </p:nvPr>
          </p:nvSpPr>
          <p:spPr bwMode="auto">
            <a:xfrm>
              <a:off x="-1531640" y="2269658"/>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000" dirty="0">
                <a:solidFill>
                  <a:srgbClr val="FF0000"/>
                </a:solidFill>
                <a:latin typeface="Calibri" panose="020F0502020204030204" pitchFamily="34" charset="0"/>
                <a:cs typeface="Calibri" panose="020F0502020204030204" pitchFamily="34" charset="0"/>
              </a:endParaRPr>
            </a:p>
          </p:txBody>
        </p:sp>
        <p:sp>
          <p:nvSpPr>
            <p:cNvPr id="98" name="Text Box 47">
              <a:extLst>
                <a:ext uri="{FF2B5EF4-FFF2-40B4-BE49-F238E27FC236}">
                  <a16:creationId xmlns:a16="http://schemas.microsoft.com/office/drawing/2014/main" id="{F4E9D94C-8FF7-469B-BC97-227E622B6FD7}"/>
                </a:ext>
              </a:extLst>
            </p:cNvPr>
            <p:cNvSpPr txBox="1">
              <a:spLocks noChangeArrowheads="1"/>
            </p:cNvSpPr>
            <p:nvPr>
              <p:custDataLst>
                <p:tags r:id="rId46"/>
              </p:custDataLst>
            </p:nvPr>
          </p:nvSpPr>
          <p:spPr bwMode="auto">
            <a:xfrm>
              <a:off x="-2863816" y="2543734"/>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000" dirty="0">
                <a:solidFill>
                  <a:srgbClr val="FF0000"/>
                </a:solidFill>
                <a:latin typeface="Calibri" panose="020F0502020204030204" pitchFamily="34" charset="0"/>
                <a:cs typeface="Calibri" panose="020F0502020204030204" pitchFamily="34" charset="0"/>
              </a:endParaRPr>
            </a:p>
          </p:txBody>
        </p:sp>
        <p:sp>
          <p:nvSpPr>
            <p:cNvPr id="99" name="Text Box 47">
              <a:extLst>
                <a:ext uri="{FF2B5EF4-FFF2-40B4-BE49-F238E27FC236}">
                  <a16:creationId xmlns:a16="http://schemas.microsoft.com/office/drawing/2014/main" id="{DF66A5A6-7C91-4E80-9038-95C6E5F1AE89}"/>
                </a:ext>
              </a:extLst>
            </p:cNvPr>
            <p:cNvSpPr txBox="1">
              <a:spLocks noChangeArrowheads="1"/>
            </p:cNvSpPr>
            <p:nvPr>
              <p:custDataLst>
                <p:tags r:id="rId47"/>
              </p:custDataLst>
            </p:nvPr>
          </p:nvSpPr>
          <p:spPr bwMode="auto">
            <a:xfrm>
              <a:off x="-122920" y="2169351"/>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8</a:t>
              </a:r>
              <a:endParaRPr lang="en-US" sz="2000" dirty="0">
                <a:solidFill>
                  <a:srgbClr val="FF0000"/>
                </a:solidFill>
                <a:latin typeface="Calibri" panose="020F0502020204030204" pitchFamily="34" charset="0"/>
                <a:cs typeface="Calibri" panose="020F0502020204030204" pitchFamily="34" charset="0"/>
              </a:endParaRPr>
            </a:p>
          </p:txBody>
        </p:sp>
        <p:sp>
          <p:nvSpPr>
            <p:cNvPr id="100" name="Text Box 47">
              <a:extLst>
                <a:ext uri="{FF2B5EF4-FFF2-40B4-BE49-F238E27FC236}">
                  <a16:creationId xmlns:a16="http://schemas.microsoft.com/office/drawing/2014/main" id="{23A8CDC3-2CFE-4B48-BFD8-EB2250BB97B7}"/>
                </a:ext>
              </a:extLst>
            </p:cNvPr>
            <p:cNvSpPr txBox="1">
              <a:spLocks noChangeArrowheads="1"/>
            </p:cNvSpPr>
            <p:nvPr>
              <p:custDataLst>
                <p:tags r:id="rId48"/>
              </p:custDataLst>
            </p:nvPr>
          </p:nvSpPr>
          <p:spPr bwMode="auto">
            <a:xfrm>
              <a:off x="-865204" y="2562041"/>
              <a:ext cx="29479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11</a:t>
              </a:r>
              <a:endParaRPr lang="en-US" sz="2000" dirty="0">
                <a:solidFill>
                  <a:srgbClr val="FF0000"/>
                </a:solidFill>
                <a:latin typeface="Calibri" panose="020F0502020204030204" pitchFamily="34" charset="0"/>
                <a:cs typeface="Calibri" panose="020F0502020204030204" pitchFamily="34" charset="0"/>
              </a:endParaRPr>
            </a:p>
          </p:txBody>
        </p:sp>
        <p:sp>
          <p:nvSpPr>
            <p:cNvPr id="101" name="Text Box 47">
              <a:extLst>
                <a:ext uri="{FF2B5EF4-FFF2-40B4-BE49-F238E27FC236}">
                  <a16:creationId xmlns:a16="http://schemas.microsoft.com/office/drawing/2014/main" id="{ADECA6BB-E275-4E73-BF42-FFCC829FF88A}"/>
                </a:ext>
              </a:extLst>
            </p:cNvPr>
            <p:cNvSpPr txBox="1">
              <a:spLocks noChangeArrowheads="1"/>
            </p:cNvSpPr>
            <p:nvPr>
              <p:custDataLst>
                <p:tags r:id="rId49"/>
              </p:custDataLst>
            </p:nvPr>
          </p:nvSpPr>
          <p:spPr bwMode="auto">
            <a:xfrm>
              <a:off x="-2684397" y="1600695"/>
              <a:ext cx="216646"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0</a:t>
              </a:r>
              <a:endParaRPr lang="en-US" sz="2000" dirty="0">
                <a:solidFill>
                  <a:srgbClr val="FF0000"/>
                </a:solidFill>
                <a:latin typeface="Calibri" panose="020F0502020204030204" pitchFamily="34" charset="0"/>
                <a:cs typeface="Calibri" panose="020F0502020204030204" pitchFamily="34" charset="0"/>
              </a:endParaRPr>
            </a:p>
          </p:txBody>
        </p:sp>
      </p:grpSp>
      <p:sp>
        <p:nvSpPr>
          <p:cNvPr id="55" name="Google Shape;769;p43">
            <a:extLst>
              <a:ext uri="{FF2B5EF4-FFF2-40B4-BE49-F238E27FC236}">
                <a16:creationId xmlns:a16="http://schemas.microsoft.com/office/drawing/2014/main" id="{811FECC6-8EDB-3A46-8B9F-E80DD42D342D}"/>
              </a:ext>
            </a:extLst>
          </p:cNvPr>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
        <p:nvSpPr>
          <p:cNvPr id="102" name="Content Placeholder 1">
            <a:extLst>
              <a:ext uri="{FF2B5EF4-FFF2-40B4-BE49-F238E27FC236}">
                <a16:creationId xmlns:a16="http://schemas.microsoft.com/office/drawing/2014/main" id="{BB96BDBB-7218-5045-97E5-F243919C62F1}"/>
              </a:ext>
            </a:extLst>
          </p:cNvPr>
          <p:cNvSpPr txBox="1">
            <a:spLocks/>
          </p:cNvSpPr>
          <p:nvPr/>
        </p:nvSpPr>
        <p:spPr>
          <a:xfrm>
            <a:off x="7202249" y="2331584"/>
            <a:ext cx="3396378" cy="8135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p>
        </p:txBody>
      </p:sp>
    </p:spTree>
    <p:extLst>
      <p:ext uri="{BB962C8B-B14F-4D97-AF65-F5344CB8AC3E}">
        <p14:creationId xmlns:p14="http://schemas.microsoft.com/office/powerpoint/2010/main" val="40630580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custDataLst>
              <p:tags r:id="rId1"/>
            </p:custDataLst>
          </p:nvPr>
        </p:nvSpPr>
        <p:spPr/>
        <p:txBody>
          <a:bodyPr/>
          <a:lstStyle/>
          <a:p>
            <a:pPr eaLnBrk="1" hangingPunct="1"/>
            <a:r>
              <a:rPr lang="en-US" dirty="0"/>
              <a:t>Review: Key Features</a:t>
            </a:r>
          </a:p>
        </p:txBody>
      </p:sp>
      <p:sp>
        <p:nvSpPr>
          <p:cNvPr id="29698" name="Content Placeholder 2"/>
          <p:cNvSpPr>
            <a:spLocks noGrp="1"/>
          </p:cNvSpPr>
          <p:nvPr>
            <p:ph idx="1"/>
            <p:custDataLst>
              <p:tags r:id="rId2"/>
            </p:custDataLst>
          </p:nvPr>
        </p:nvSpPr>
        <p:spPr>
          <a:xfrm>
            <a:off x="838200" y="1371600"/>
            <a:ext cx="10515600" cy="5321030"/>
          </a:xfrm>
        </p:spPr>
        <p:txBody>
          <a:bodyPr>
            <a:normAutofit lnSpcReduction="10000"/>
          </a:bodyPr>
          <a:lstStyle/>
          <a:p>
            <a:pPr eaLnBrk="1" hangingPunct="1"/>
            <a:r>
              <a:rPr lang="en-US" dirty="0"/>
              <a:t>Once a vertex is marked known, its shortest path is known</a:t>
            </a:r>
          </a:p>
          <a:p>
            <a:pPr lvl="1"/>
            <a:r>
              <a:rPr lang="en-US" dirty="0"/>
              <a:t>Can reconstruct path by following </a:t>
            </a:r>
            <a:r>
              <a:rPr lang="en-US" dirty="0" err="1"/>
              <a:t>backpointers</a:t>
            </a:r>
            <a:endParaRPr lang="en-US" dirty="0"/>
          </a:p>
          <a:p>
            <a:pPr eaLnBrk="1" hangingPunct="1"/>
            <a:r>
              <a:rPr lang="en-US" dirty="0"/>
              <a:t>While a vertex is not known, another shorter path might be found!</a:t>
            </a:r>
          </a:p>
          <a:p>
            <a:pPr eaLnBrk="1" hangingPunct="1"/>
            <a:endParaRPr lang="en-US" dirty="0"/>
          </a:p>
          <a:p>
            <a:r>
              <a:rPr lang="en-US" dirty="0"/>
              <a:t>The “Order Added to Known Set” is unimportant</a:t>
            </a:r>
          </a:p>
          <a:p>
            <a:pPr lvl="1"/>
            <a:r>
              <a:rPr lang="en-US" dirty="0"/>
              <a:t>A detail about how the algorithm works </a:t>
            </a:r>
            <a:r>
              <a:rPr lang="en-US" i="1" dirty="0">
                <a:solidFill>
                  <a:schemeClr val="bg1">
                    <a:lumMod val="50000"/>
                  </a:schemeClr>
                </a:solidFill>
              </a:rPr>
              <a:t>(client doesn’t care)</a:t>
            </a:r>
          </a:p>
          <a:p>
            <a:pPr lvl="1"/>
            <a:r>
              <a:rPr lang="en-US" dirty="0"/>
              <a:t>Not used by the algorithm </a:t>
            </a:r>
            <a:r>
              <a:rPr lang="en-US" i="1" dirty="0">
                <a:solidFill>
                  <a:schemeClr val="bg1">
                    <a:lumMod val="50000"/>
                  </a:schemeClr>
                </a:solidFill>
              </a:rPr>
              <a:t>(implementation doesn’t care)</a:t>
            </a:r>
          </a:p>
          <a:p>
            <a:pPr lvl="1"/>
            <a:r>
              <a:rPr lang="en-US" dirty="0"/>
              <a:t>It is sorted by path-distance; ties are resolved “somehow”</a:t>
            </a:r>
          </a:p>
          <a:p>
            <a:pPr lvl="1"/>
            <a:endParaRPr lang="en-US" dirty="0"/>
          </a:p>
          <a:p>
            <a:r>
              <a:rPr lang="en-US" dirty="0"/>
              <a:t>If we only need path to a specific vertex, can stop early once that vertex is known</a:t>
            </a:r>
          </a:p>
          <a:p>
            <a:pPr lvl="1"/>
            <a:r>
              <a:rPr lang="en-US" dirty="0"/>
              <a:t>Because its shortest path cannot change!</a:t>
            </a:r>
          </a:p>
          <a:p>
            <a:pPr lvl="1"/>
            <a:r>
              <a:rPr lang="en-US" dirty="0"/>
              <a:t>Return a partial </a:t>
            </a:r>
            <a:r>
              <a:rPr lang="en-US" b="1" dirty="0"/>
              <a:t>shortest path tree</a:t>
            </a:r>
          </a:p>
        </p:txBody>
      </p:sp>
    </p:spTree>
    <p:extLst>
      <p:ext uri="{BB962C8B-B14F-4D97-AF65-F5344CB8AC3E}">
        <p14:creationId xmlns:p14="http://schemas.microsoft.com/office/powerpoint/2010/main" val="3960826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8">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698">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69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69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51</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endParaRPr lang="en-US" sz="2400"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1928666901"/>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tx1"/>
              </a:solidFill>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tx1"/>
              </a:solidFill>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tx1"/>
              </a:solidFill>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tx1"/>
              </a:solidFill>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tx1"/>
              </a:solidFill>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tx1"/>
              </a:solidFill>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tx1"/>
              </a:solidFill>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tx1"/>
              </a:solidFill>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tx1"/>
              </a:solidFill>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tx1"/>
              </a:solidFill>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tx1"/>
              </a:solidFill>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tx1"/>
              </a:solidFill>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081117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7D90D783-7452-C74C-835B-1E2C8F2090BB}"/>
              </a:ext>
            </a:extLst>
          </p:cNvPr>
          <p:cNvSpPr/>
          <p:nvPr/>
        </p:nvSpPr>
        <p:spPr>
          <a:xfrm>
            <a:off x="2237362" y="1225685"/>
            <a:ext cx="1177047" cy="992221"/>
          </a:xfrm>
          <a:custGeom>
            <a:avLst/>
            <a:gdLst>
              <a:gd name="connsiteX0" fmla="*/ 846306 w 1177047"/>
              <a:gd name="connsiteY0" fmla="*/ 9728 h 992221"/>
              <a:gd name="connsiteX1" fmla="*/ 778212 w 1177047"/>
              <a:gd name="connsiteY1" fmla="*/ 19455 h 992221"/>
              <a:gd name="connsiteX2" fmla="*/ 739302 w 1177047"/>
              <a:gd name="connsiteY2" fmla="*/ 9728 h 992221"/>
              <a:gd name="connsiteX3" fmla="*/ 651753 w 1177047"/>
              <a:gd name="connsiteY3" fmla="*/ 0 h 992221"/>
              <a:gd name="connsiteX4" fmla="*/ 204281 w 1177047"/>
              <a:gd name="connsiteY4" fmla="*/ 9728 h 992221"/>
              <a:gd name="connsiteX5" fmla="*/ 175098 w 1177047"/>
              <a:gd name="connsiteY5" fmla="*/ 19455 h 992221"/>
              <a:gd name="connsiteX6" fmla="*/ 155642 w 1177047"/>
              <a:gd name="connsiteY6" fmla="*/ 38911 h 992221"/>
              <a:gd name="connsiteX7" fmla="*/ 126459 w 1177047"/>
              <a:gd name="connsiteY7" fmla="*/ 58366 h 992221"/>
              <a:gd name="connsiteX8" fmla="*/ 116732 w 1177047"/>
              <a:gd name="connsiteY8" fmla="*/ 87549 h 992221"/>
              <a:gd name="connsiteX9" fmla="*/ 97276 w 1177047"/>
              <a:gd name="connsiteY9" fmla="*/ 116732 h 992221"/>
              <a:gd name="connsiteX10" fmla="*/ 58366 w 1177047"/>
              <a:gd name="connsiteY10" fmla="*/ 204281 h 992221"/>
              <a:gd name="connsiteX11" fmla="*/ 29183 w 1177047"/>
              <a:gd name="connsiteY11" fmla="*/ 321013 h 992221"/>
              <a:gd name="connsiteX12" fmla="*/ 19455 w 1177047"/>
              <a:gd name="connsiteY12" fmla="*/ 359924 h 992221"/>
              <a:gd name="connsiteX13" fmla="*/ 0 w 1177047"/>
              <a:gd name="connsiteY13" fmla="*/ 486383 h 992221"/>
              <a:gd name="connsiteX14" fmla="*/ 9727 w 1177047"/>
              <a:gd name="connsiteY14" fmla="*/ 671209 h 992221"/>
              <a:gd name="connsiteX15" fmla="*/ 48638 w 1177047"/>
              <a:gd name="connsiteY15" fmla="*/ 758758 h 992221"/>
              <a:gd name="connsiteX16" fmla="*/ 77821 w 1177047"/>
              <a:gd name="connsiteY16" fmla="*/ 787941 h 992221"/>
              <a:gd name="connsiteX17" fmla="*/ 97276 w 1177047"/>
              <a:gd name="connsiteY17" fmla="*/ 817124 h 992221"/>
              <a:gd name="connsiteX18" fmla="*/ 145915 w 1177047"/>
              <a:gd name="connsiteY18" fmla="*/ 856034 h 992221"/>
              <a:gd name="connsiteX19" fmla="*/ 175098 w 1177047"/>
              <a:gd name="connsiteY19" fmla="*/ 885217 h 992221"/>
              <a:gd name="connsiteX20" fmla="*/ 204281 w 1177047"/>
              <a:gd name="connsiteY20" fmla="*/ 904672 h 992221"/>
              <a:gd name="connsiteX21" fmla="*/ 223736 w 1177047"/>
              <a:gd name="connsiteY21" fmla="*/ 924128 h 992221"/>
              <a:gd name="connsiteX22" fmla="*/ 252919 w 1177047"/>
              <a:gd name="connsiteY22" fmla="*/ 933855 h 992221"/>
              <a:gd name="connsiteX23" fmla="*/ 350195 w 1177047"/>
              <a:gd name="connsiteY23" fmla="*/ 972766 h 992221"/>
              <a:gd name="connsiteX24" fmla="*/ 379378 w 1177047"/>
              <a:gd name="connsiteY24" fmla="*/ 982494 h 992221"/>
              <a:gd name="connsiteX25" fmla="*/ 408561 w 1177047"/>
              <a:gd name="connsiteY25" fmla="*/ 992221 h 992221"/>
              <a:gd name="connsiteX26" fmla="*/ 622570 w 1177047"/>
              <a:gd name="connsiteY26" fmla="*/ 982494 h 992221"/>
              <a:gd name="connsiteX27" fmla="*/ 690664 w 1177047"/>
              <a:gd name="connsiteY27" fmla="*/ 953311 h 992221"/>
              <a:gd name="connsiteX28" fmla="*/ 749029 w 1177047"/>
              <a:gd name="connsiteY28" fmla="*/ 933855 h 992221"/>
              <a:gd name="connsiteX29" fmla="*/ 817123 w 1177047"/>
              <a:gd name="connsiteY29" fmla="*/ 894945 h 992221"/>
              <a:gd name="connsiteX30" fmla="*/ 875489 w 1177047"/>
              <a:gd name="connsiteY30" fmla="*/ 865762 h 992221"/>
              <a:gd name="connsiteX31" fmla="*/ 924127 w 1177047"/>
              <a:gd name="connsiteY31" fmla="*/ 826851 h 992221"/>
              <a:gd name="connsiteX32" fmla="*/ 953310 w 1177047"/>
              <a:gd name="connsiteY32" fmla="*/ 817124 h 992221"/>
              <a:gd name="connsiteX33" fmla="*/ 972766 w 1177047"/>
              <a:gd name="connsiteY33" fmla="*/ 797668 h 992221"/>
              <a:gd name="connsiteX34" fmla="*/ 1001949 w 1177047"/>
              <a:gd name="connsiteY34" fmla="*/ 778213 h 992221"/>
              <a:gd name="connsiteX35" fmla="*/ 1021404 w 1177047"/>
              <a:gd name="connsiteY35" fmla="*/ 749030 h 992221"/>
              <a:gd name="connsiteX36" fmla="*/ 1050587 w 1177047"/>
              <a:gd name="connsiteY36" fmla="*/ 710119 h 992221"/>
              <a:gd name="connsiteX37" fmla="*/ 1070042 w 1177047"/>
              <a:gd name="connsiteY37" fmla="*/ 680936 h 992221"/>
              <a:gd name="connsiteX38" fmla="*/ 1128408 w 1177047"/>
              <a:gd name="connsiteY38" fmla="*/ 603115 h 992221"/>
              <a:gd name="connsiteX39" fmla="*/ 1157591 w 1177047"/>
              <a:gd name="connsiteY39" fmla="*/ 544749 h 992221"/>
              <a:gd name="connsiteX40" fmla="*/ 1177047 w 1177047"/>
              <a:gd name="connsiteY40" fmla="*/ 486383 h 992221"/>
              <a:gd name="connsiteX41" fmla="*/ 1167319 w 1177047"/>
              <a:gd name="connsiteY41" fmla="*/ 291830 h 992221"/>
              <a:gd name="connsiteX42" fmla="*/ 1157591 w 1177047"/>
              <a:gd name="connsiteY42" fmla="*/ 262647 h 992221"/>
              <a:gd name="connsiteX43" fmla="*/ 1147864 w 1177047"/>
              <a:gd name="connsiteY43" fmla="*/ 223736 h 992221"/>
              <a:gd name="connsiteX44" fmla="*/ 1108953 w 1177047"/>
              <a:gd name="connsiteY44" fmla="*/ 165370 h 992221"/>
              <a:gd name="connsiteX45" fmla="*/ 1070042 w 1177047"/>
              <a:gd name="connsiteY45" fmla="*/ 107004 h 992221"/>
              <a:gd name="connsiteX46" fmla="*/ 1050587 w 1177047"/>
              <a:gd name="connsiteY46" fmla="*/ 77821 h 992221"/>
              <a:gd name="connsiteX47" fmla="*/ 963038 w 1177047"/>
              <a:gd name="connsiteY47" fmla="*/ 38911 h 992221"/>
              <a:gd name="connsiteX48" fmla="*/ 933855 w 1177047"/>
              <a:gd name="connsiteY48" fmla="*/ 29183 h 992221"/>
              <a:gd name="connsiteX49" fmla="*/ 904672 w 1177047"/>
              <a:gd name="connsiteY49" fmla="*/ 19455 h 992221"/>
              <a:gd name="connsiteX50" fmla="*/ 865761 w 1177047"/>
              <a:gd name="connsiteY50" fmla="*/ 9728 h 992221"/>
              <a:gd name="connsiteX51" fmla="*/ 846306 w 1177047"/>
              <a:gd name="connsiteY51" fmla="*/ 9728 h 992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177047" h="992221">
                <a:moveTo>
                  <a:pt x="846306" y="9728"/>
                </a:moveTo>
                <a:cubicBezTo>
                  <a:pt x="831715" y="11349"/>
                  <a:pt x="801140" y="19455"/>
                  <a:pt x="778212" y="19455"/>
                </a:cubicBezTo>
                <a:cubicBezTo>
                  <a:pt x="764843" y="19455"/>
                  <a:pt x="752516" y="11761"/>
                  <a:pt x="739302" y="9728"/>
                </a:cubicBezTo>
                <a:cubicBezTo>
                  <a:pt x="710281" y="5263"/>
                  <a:pt x="680936" y="3243"/>
                  <a:pt x="651753" y="0"/>
                </a:cubicBezTo>
                <a:lnTo>
                  <a:pt x="204281" y="9728"/>
                </a:lnTo>
                <a:cubicBezTo>
                  <a:pt x="194036" y="10146"/>
                  <a:pt x="183891" y="14180"/>
                  <a:pt x="175098" y="19455"/>
                </a:cubicBezTo>
                <a:cubicBezTo>
                  <a:pt x="167233" y="24174"/>
                  <a:pt x="162804" y="33182"/>
                  <a:pt x="155642" y="38911"/>
                </a:cubicBezTo>
                <a:cubicBezTo>
                  <a:pt x="146513" y="46214"/>
                  <a:pt x="136187" y="51881"/>
                  <a:pt x="126459" y="58366"/>
                </a:cubicBezTo>
                <a:cubicBezTo>
                  <a:pt x="123217" y="68094"/>
                  <a:pt x="121318" y="78378"/>
                  <a:pt x="116732" y="87549"/>
                </a:cubicBezTo>
                <a:cubicBezTo>
                  <a:pt x="111503" y="98006"/>
                  <a:pt x="102024" y="106048"/>
                  <a:pt x="97276" y="116732"/>
                </a:cubicBezTo>
                <a:cubicBezTo>
                  <a:pt x="50968" y="220923"/>
                  <a:pt x="102397" y="138233"/>
                  <a:pt x="58366" y="204281"/>
                </a:cubicBezTo>
                <a:lnTo>
                  <a:pt x="29183" y="321013"/>
                </a:lnTo>
                <a:cubicBezTo>
                  <a:pt x="25940" y="333983"/>
                  <a:pt x="21653" y="346736"/>
                  <a:pt x="19455" y="359924"/>
                </a:cubicBezTo>
                <a:cubicBezTo>
                  <a:pt x="5957" y="440905"/>
                  <a:pt x="12516" y="398764"/>
                  <a:pt x="0" y="486383"/>
                </a:cubicBezTo>
                <a:cubicBezTo>
                  <a:pt x="3242" y="547992"/>
                  <a:pt x="2376" y="609955"/>
                  <a:pt x="9727" y="671209"/>
                </a:cubicBezTo>
                <a:cubicBezTo>
                  <a:pt x="13294" y="700938"/>
                  <a:pt x="28973" y="735160"/>
                  <a:pt x="48638" y="758758"/>
                </a:cubicBezTo>
                <a:cubicBezTo>
                  <a:pt x="57445" y="769326"/>
                  <a:pt x="69014" y="777373"/>
                  <a:pt x="77821" y="787941"/>
                </a:cubicBezTo>
                <a:cubicBezTo>
                  <a:pt x="85305" y="796922"/>
                  <a:pt x="89973" y="807995"/>
                  <a:pt x="97276" y="817124"/>
                </a:cubicBezTo>
                <a:cubicBezTo>
                  <a:pt x="119915" y="845423"/>
                  <a:pt x="115581" y="830756"/>
                  <a:pt x="145915" y="856034"/>
                </a:cubicBezTo>
                <a:cubicBezTo>
                  <a:pt x="156483" y="864841"/>
                  <a:pt x="164530" y="876410"/>
                  <a:pt x="175098" y="885217"/>
                </a:cubicBezTo>
                <a:cubicBezTo>
                  <a:pt x="184079" y="892701"/>
                  <a:pt x="195152" y="897369"/>
                  <a:pt x="204281" y="904672"/>
                </a:cubicBezTo>
                <a:cubicBezTo>
                  <a:pt x="211443" y="910401"/>
                  <a:pt x="215872" y="919409"/>
                  <a:pt x="223736" y="924128"/>
                </a:cubicBezTo>
                <a:cubicBezTo>
                  <a:pt x="232529" y="929404"/>
                  <a:pt x="243494" y="929816"/>
                  <a:pt x="252919" y="933855"/>
                </a:cubicBezTo>
                <a:cubicBezTo>
                  <a:pt x="353125" y="976801"/>
                  <a:pt x="217326" y="928476"/>
                  <a:pt x="350195" y="972766"/>
                </a:cubicBezTo>
                <a:lnTo>
                  <a:pt x="379378" y="982494"/>
                </a:lnTo>
                <a:lnTo>
                  <a:pt x="408561" y="992221"/>
                </a:lnTo>
                <a:cubicBezTo>
                  <a:pt x="479897" y="988979"/>
                  <a:pt x="551387" y="988188"/>
                  <a:pt x="622570" y="982494"/>
                </a:cubicBezTo>
                <a:cubicBezTo>
                  <a:pt x="642137" y="980929"/>
                  <a:pt x="675635" y="959323"/>
                  <a:pt x="690664" y="953311"/>
                </a:cubicBezTo>
                <a:cubicBezTo>
                  <a:pt x="709705" y="945695"/>
                  <a:pt x="731966" y="945230"/>
                  <a:pt x="749029" y="933855"/>
                </a:cubicBezTo>
                <a:cubicBezTo>
                  <a:pt x="820139" y="886449"/>
                  <a:pt x="730716" y="944321"/>
                  <a:pt x="817123" y="894945"/>
                </a:cubicBezTo>
                <a:cubicBezTo>
                  <a:pt x="869925" y="864772"/>
                  <a:pt x="821982" y="883596"/>
                  <a:pt x="875489" y="865762"/>
                </a:cubicBezTo>
                <a:cubicBezTo>
                  <a:pt x="893585" y="847665"/>
                  <a:pt x="899583" y="839123"/>
                  <a:pt x="924127" y="826851"/>
                </a:cubicBezTo>
                <a:cubicBezTo>
                  <a:pt x="933298" y="822265"/>
                  <a:pt x="943582" y="820366"/>
                  <a:pt x="953310" y="817124"/>
                </a:cubicBezTo>
                <a:cubicBezTo>
                  <a:pt x="959795" y="810639"/>
                  <a:pt x="965604" y="803397"/>
                  <a:pt x="972766" y="797668"/>
                </a:cubicBezTo>
                <a:cubicBezTo>
                  <a:pt x="981895" y="790365"/>
                  <a:pt x="993682" y="786480"/>
                  <a:pt x="1001949" y="778213"/>
                </a:cubicBezTo>
                <a:cubicBezTo>
                  <a:pt x="1010216" y="769946"/>
                  <a:pt x="1014609" y="758544"/>
                  <a:pt x="1021404" y="749030"/>
                </a:cubicBezTo>
                <a:cubicBezTo>
                  <a:pt x="1030827" y="735837"/>
                  <a:pt x="1041164" y="723312"/>
                  <a:pt x="1050587" y="710119"/>
                </a:cubicBezTo>
                <a:cubicBezTo>
                  <a:pt x="1057382" y="700605"/>
                  <a:pt x="1062739" y="690065"/>
                  <a:pt x="1070042" y="680936"/>
                </a:cubicBezTo>
                <a:cubicBezTo>
                  <a:pt x="1096383" y="648010"/>
                  <a:pt x="1109011" y="661304"/>
                  <a:pt x="1128408" y="603115"/>
                </a:cubicBezTo>
                <a:cubicBezTo>
                  <a:pt x="1163886" y="496684"/>
                  <a:pt x="1107304" y="657893"/>
                  <a:pt x="1157591" y="544749"/>
                </a:cubicBezTo>
                <a:cubicBezTo>
                  <a:pt x="1165920" y="526009"/>
                  <a:pt x="1177047" y="486383"/>
                  <a:pt x="1177047" y="486383"/>
                </a:cubicBezTo>
                <a:cubicBezTo>
                  <a:pt x="1173804" y="421532"/>
                  <a:pt x="1172944" y="356518"/>
                  <a:pt x="1167319" y="291830"/>
                </a:cubicBezTo>
                <a:cubicBezTo>
                  <a:pt x="1166431" y="281615"/>
                  <a:pt x="1160408" y="272506"/>
                  <a:pt x="1157591" y="262647"/>
                </a:cubicBezTo>
                <a:cubicBezTo>
                  <a:pt x="1153918" y="249792"/>
                  <a:pt x="1153843" y="235694"/>
                  <a:pt x="1147864" y="223736"/>
                </a:cubicBezTo>
                <a:cubicBezTo>
                  <a:pt x="1137407" y="202822"/>
                  <a:pt x="1119410" y="186284"/>
                  <a:pt x="1108953" y="165370"/>
                </a:cubicBezTo>
                <a:cubicBezTo>
                  <a:pt x="1069738" y="86940"/>
                  <a:pt x="1109655" y="156521"/>
                  <a:pt x="1070042" y="107004"/>
                </a:cubicBezTo>
                <a:cubicBezTo>
                  <a:pt x="1062739" y="97875"/>
                  <a:pt x="1058854" y="86088"/>
                  <a:pt x="1050587" y="77821"/>
                </a:cubicBezTo>
                <a:cubicBezTo>
                  <a:pt x="1027464" y="54698"/>
                  <a:pt x="991933" y="48543"/>
                  <a:pt x="963038" y="38911"/>
                </a:cubicBezTo>
                <a:lnTo>
                  <a:pt x="933855" y="29183"/>
                </a:lnTo>
                <a:cubicBezTo>
                  <a:pt x="924127" y="25940"/>
                  <a:pt x="914620" y="21942"/>
                  <a:pt x="904672" y="19455"/>
                </a:cubicBezTo>
                <a:cubicBezTo>
                  <a:pt x="891702" y="16213"/>
                  <a:pt x="878996" y="11619"/>
                  <a:pt x="865761" y="9728"/>
                </a:cubicBezTo>
                <a:cubicBezTo>
                  <a:pt x="856131" y="8352"/>
                  <a:pt x="860897" y="8107"/>
                  <a:pt x="846306" y="9728"/>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52</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1019719009"/>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2</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1</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bg1">
                  <a:lumMod val="65000"/>
                </a:schemeClr>
              </a:solidFill>
              <a:prstDash val="dash"/>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tx1"/>
              </a:solidFill>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tx1"/>
              </a:solidFill>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bg1">
                  <a:lumMod val="65000"/>
                </a:schemeClr>
              </a:solidFill>
              <a:prstDash val="dash"/>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tx1"/>
              </a:solidFill>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tx1"/>
              </a:solidFill>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tx1"/>
              </a:solidFill>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tx1"/>
              </a:solidFill>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tx1"/>
              </a:solidFill>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tx1"/>
              </a:solidFill>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tx1"/>
              </a:solidFill>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tx1"/>
              </a:solidFill>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6F288373-F071-E048-BD78-5F39AD3BD996}"/>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53466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A75461D-F88A-0C4B-AC34-BBBD05F53B2A}"/>
              </a:ext>
            </a:extLst>
          </p:cNvPr>
          <p:cNvSpPr/>
          <p:nvPr/>
        </p:nvSpPr>
        <p:spPr>
          <a:xfrm>
            <a:off x="2276272" y="1207087"/>
            <a:ext cx="2464315" cy="1915492"/>
          </a:xfrm>
          <a:custGeom>
            <a:avLst/>
            <a:gdLst>
              <a:gd name="connsiteX0" fmla="*/ 1741251 w 2464315"/>
              <a:gd name="connsiteY0" fmla="*/ 816266 h 1915492"/>
              <a:gd name="connsiteX1" fmla="*/ 1673158 w 2464315"/>
              <a:gd name="connsiteY1" fmla="*/ 806539 h 1915492"/>
              <a:gd name="connsiteX2" fmla="*/ 1614792 w 2464315"/>
              <a:gd name="connsiteY2" fmla="*/ 777356 h 1915492"/>
              <a:gd name="connsiteX3" fmla="*/ 1575881 w 2464315"/>
              <a:gd name="connsiteY3" fmla="*/ 767628 h 1915492"/>
              <a:gd name="connsiteX4" fmla="*/ 1517515 w 2464315"/>
              <a:gd name="connsiteY4" fmla="*/ 748173 h 1915492"/>
              <a:gd name="connsiteX5" fmla="*/ 1488332 w 2464315"/>
              <a:gd name="connsiteY5" fmla="*/ 728717 h 1915492"/>
              <a:gd name="connsiteX6" fmla="*/ 1459149 w 2464315"/>
              <a:gd name="connsiteY6" fmla="*/ 718990 h 1915492"/>
              <a:gd name="connsiteX7" fmla="*/ 1410511 w 2464315"/>
              <a:gd name="connsiteY7" fmla="*/ 670351 h 1915492"/>
              <a:gd name="connsiteX8" fmla="*/ 1352145 w 2464315"/>
              <a:gd name="connsiteY8" fmla="*/ 631441 h 1915492"/>
              <a:gd name="connsiteX9" fmla="*/ 1322962 w 2464315"/>
              <a:gd name="connsiteY9" fmla="*/ 611985 h 1915492"/>
              <a:gd name="connsiteX10" fmla="*/ 1293779 w 2464315"/>
              <a:gd name="connsiteY10" fmla="*/ 582802 h 1915492"/>
              <a:gd name="connsiteX11" fmla="*/ 1264596 w 2464315"/>
              <a:gd name="connsiteY11" fmla="*/ 563347 h 1915492"/>
              <a:gd name="connsiteX12" fmla="*/ 1206230 w 2464315"/>
              <a:gd name="connsiteY12" fmla="*/ 504981 h 1915492"/>
              <a:gd name="connsiteX13" fmla="*/ 1167319 w 2464315"/>
              <a:gd name="connsiteY13" fmla="*/ 456343 h 1915492"/>
              <a:gd name="connsiteX14" fmla="*/ 1157592 w 2464315"/>
              <a:gd name="connsiteY14" fmla="*/ 427160 h 1915492"/>
              <a:gd name="connsiteX15" fmla="*/ 1108954 w 2464315"/>
              <a:gd name="connsiteY15" fmla="*/ 388249 h 1915492"/>
              <a:gd name="connsiteX16" fmla="*/ 1060315 w 2464315"/>
              <a:gd name="connsiteY16" fmla="*/ 339611 h 1915492"/>
              <a:gd name="connsiteX17" fmla="*/ 1040860 w 2464315"/>
              <a:gd name="connsiteY17" fmla="*/ 310428 h 1915492"/>
              <a:gd name="connsiteX18" fmla="*/ 1011677 w 2464315"/>
              <a:gd name="connsiteY18" fmla="*/ 300700 h 1915492"/>
              <a:gd name="connsiteX19" fmla="*/ 982494 w 2464315"/>
              <a:gd name="connsiteY19" fmla="*/ 271517 h 1915492"/>
              <a:gd name="connsiteX20" fmla="*/ 924128 w 2464315"/>
              <a:gd name="connsiteY20" fmla="*/ 232607 h 1915492"/>
              <a:gd name="connsiteX21" fmla="*/ 846307 w 2464315"/>
              <a:gd name="connsiteY21" fmla="*/ 174241 h 1915492"/>
              <a:gd name="connsiteX22" fmla="*/ 787941 w 2464315"/>
              <a:gd name="connsiteY22" fmla="*/ 145058 h 1915492"/>
              <a:gd name="connsiteX23" fmla="*/ 729575 w 2464315"/>
              <a:gd name="connsiteY23" fmla="*/ 115875 h 1915492"/>
              <a:gd name="connsiteX24" fmla="*/ 671209 w 2464315"/>
              <a:gd name="connsiteY24" fmla="*/ 86692 h 1915492"/>
              <a:gd name="connsiteX25" fmla="*/ 583660 w 2464315"/>
              <a:gd name="connsiteY25" fmla="*/ 47781 h 1915492"/>
              <a:gd name="connsiteX26" fmla="*/ 525294 w 2464315"/>
              <a:gd name="connsiteY26" fmla="*/ 28326 h 1915492"/>
              <a:gd name="connsiteX27" fmla="*/ 496111 w 2464315"/>
              <a:gd name="connsiteY27" fmla="*/ 18598 h 1915492"/>
              <a:gd name="connsiteX28" fmla="*/ 447473 w 2464315"/>
              <a:gd name="connsiteY28" fmla="*/ 8870 h 1915492"/>
              <a:gd name="connsiteX29" fmla="*/ 155643 w 2464315"/>
              <a:gd name="connsiteY29" fmla="*/ 57509 h 1915492"/>
              <a:gd name="connsiteX30" fmla="*/ 126460 w 2464315"/>
              <a:gd name="connsiteY30" fmla="*/ 86692 h 1915492"/>
              <a:gd name="connsiteX31" fmla="*/ 107005 w 2464315"/>
              <a:gd name="connsiteY31" fmla="*/ 115875 h 1915492"/>
              <a:gd name="connsiteX32" fmla="*/ 68094 w 2464315"/>
              <a:gd name="connsiteY32" fmla="*/ 164513 h 1915492"/>
              <a:gd name="connsiteX33" fmla="*/ 58366 w 2464315"/>
              <a:gd name="connsiteY33" fmla="*/ 193696 h 1915492"/>
              <a:gd name="connsiteX34" fmla="*/ 19456 w 2464315"/>
              <a:gd name="connsiteY34" fmla="*/ 252062 h 1915492"/>
              <a:gd name="connsiteX35" fmla="*/ 0 w 2464315"/>
              <a:gd name="connsiteY35" fmla="*/ 310428 h 1915492"/>
              <a:gd name="connsiteX36" fmla="*/ 9728 w 2464315"/>
              <a:gd name="connsiteY36" fmla="*/ 524436 h 1915492"/>
              <a:gd name="connsiteX37" fmla="*/ 38911 w 2464315"/>
              <a:gd name="connsiteY37" fmla="*/ 582802 h 1915492"/>
              <a:gd name="connsiteX38" fmla="*/ 48639 w 2464315"/>
              <a:gd name="connsiteY38" fmla="*/ 611985 h 1915492"/>
              <a:gd name="connsiteX39" fmla="*/ 68094 w 2464315"/>
              <a:gd name="connsiteY39" fmla="*/ 631441 h 1915492"/>
              <a:gd name="connsiteX40" fmla="*/ 87549 w 2464315"/>
              <a:gd name="connsiteY40" fmla="*/ 660624 h 1915492"/>
              <a:gd name="connsiteX41" fmla="*/ 107005 w 2464315"/>
              <a:gd name="connsiteY41" fmla="*/ 699534 h 1915492"/>
              <a:gd name="connsiteX42" fmla="*/ 126460 w 2464315"/>
              <a:gd name="connsiteY42" fmla="*/ 718990 h 1915492"/>
              <a:gd name="connsiteX43" fmla="*/ 145915 w 2464315"/>
              <a:gd name="connsiteY43" fmla="*/ 748173 h 1915492"/>
              <a:gd name="connsiteX44" fmla="*/ 194554 w 2464315"/>
              <a:gd name="connsiteY44" fmla="*/ 787083 h 1915492"/>
              <a:gd name="connsiteX45" fmla="*/ 214009 w 2464315"/>
              <a:gd name="connsiteY45" fmla="*/ 806539 h 1915492"/>
              <a:gd name="connsiteX46" fmla="*/ 301558 w 2464315"/>
              <a:gd name="connsiteY46" fmla="*/ 864904 h 1915492"/>
              <a:gd name="connsiteX47" fmla="*/ 359924 w 2464315"/>
              <a:gd name="connsiteY47" fmla="*/ 903815 h 1915492"/>
              <a:gd name="connsiteX48" fmla="*/ 389107 w 2464315"/>
              <a:gd name="connsiteY48" fmla="*/ 923270 h 1915492"/>
              <a:gd name="connsiteX49" fmla="*/ 428017 w 2464315"/>
              <a:gd name="connsiteY49" fmla="*/ 932998 h 1915492"/>
              <a:gd name="connsiteX50" fmla="*/ 457200 w 2464315"/>
              <a:gd name="connsiteY50" fmla="*/ 952453 h 1915492"/>
              <a:gd name="connsiteX51" fmla="*/ 515566 w 2464315"/>
              <a:gd name="connsiteY51" fmla="*/ 971909 h 1915492"/>
              <a:gd name="connsiteX52" fmla="*/ 544749 w 2464315"/>
              <a:gd name="connsiteY52" fmla="*/ 981636 h 1915492"/>
              <a:gd name="connsiteX53" fmla="*/ 573932 w 2464315"/>
              <a:gd name="connsiteY53" fmla="*/ 991364 h 1915492"/>
              <a:gd name="connsiteX54" fmla="*/ 612843 w 2464315"/>
              <a:gd name="connsiteY54" fmla="*/ 1001092 h 1915492"/>
              <a:gd name="connsiteX55" fmla="*/ 671209 w 2464315"/>
              <a:gd name="connsiteY55" fmla="*/ 1020547 h 1915492"/>
              <a:gd name="connsiteX56" fmla="*/ 700392 w 2464315"/>
              <a:gd name="connsiteY56" fmla="*/ 1030275 h 1915492"/>
              <a:gd name="connsiteX57" fmla="*/ 768485 w 2464315"/>
              <a:gd name="connsiteY57" fmla="*/ 1049730 h 1915492"/>
              <a:gd name="connsiteX58" fmla="*/ 807396 w 2464315"/>
              <a:gd name="connsiteY58" fmla="*/ 1059458 h 1915492"/>
              <a:gd name="connsiteX59" fmla="*/ 846307 w 2464315"/>
              <a:gd name="connsiteY59" fmla="*/ 1078913 h 1915492"/>
              <a:gd name="connsiteX60" fmla="*/ 904673 w 2464315"/>
              <a:gd name="connsiteY60" fmla="*/ 1098368 h 1915492"/>
              <a:gd name="connsiteX61" fmla="*/ 933856 w 2464315"/>
              <a:gd name="connsiteY61" fmla="*/ 1108096 h 1915492"/>
              <a:gd name="connsiteX62" fmla="*/ 963039 w 2464315"/>
              <a:gd name="connsiteY62" fmla="*/ 1127551 h 1915492"/>
              <a:gd name="connsiteX63" fmla="*/ 1021405 w 2464315"/>
              <a:gd name="connsiteY63" fmla="*/ 1147007 h 1915492"/>
              <a:gd name="connsiteX64" fmla="*/ 1079771 w 2464315"/>
              <a:gd name="connsiteY64" fmla="*/ 1176190 h 1915492"/>
              <a:gd name="connsiteX65" fmla="*/ 1108954 w 2464315"/>
              <a:gd name="connsiteY65" fmla="*/ 1195645 h 1915492"/>
              <a:gd name="connsiteX66" fmla="*/ 1138137 w 2464315"/>
              <a:gd name="connsiteY66" fmla="*/ 1205373 h 1915492"/>
              <a:gd name="connsiteX67" fmla="*/ 1167319 w 2464315"/>
              <a:gd name="connsiteY67" fmla="*/ 1224828 h 1915492"/>
              <a:gd name="connsiteX68" fmla="*/ 1206230 w 2464315"/>
              <a:gd name="connsiteY68" fmla="*/ 1263739 h 1915492"/>
              <a:gd name="connsiteX69" fmla="*/ 1235413 w 2464315"/>
              <a:gd name="connsiteY69" fmla="*/ 1273466 h 1915492"/>
              <a:gd name="connsiteX70" fmla="*/ 1313234 w 2464315"/>
              <a:gd name="connsiteY70" fmla="*/ 1331832 h 1915492"/>
              <a:gd name="connsiteX71" fmla="*/ 1342417 w 2464315"/>
              <a:gd name="connsiteY71" fmla="*/ 1351287 h 1915492"/>
              <a:gd name="connsiteX72" fmla="*/ 1381328 w 2464315"/>
              <a:gd name="connsiteY72" fmla="*/ 1399926 h 1915492"/>
              <a:gd name="connsiteX73" fmla="*/ 1410511 w 2464315"/>
              <a:gd name="connsiteY73" fmla="*/ 1429109 h 1915492"/>
              <a:gd name="connsiteX74" fmla="*/ 1429966 w 2464315"/>
              <a:gd name="connsiteY74" fmla="*/ 1458292 h 1915492"/>
              <a:gd name="connsiteX75" fmla="*/ 1449422 w 2464315"/>
              <a:gd name="connsiteY75" fmla="*/ 1477747 h 1915492"/>
              <a:gd name="connsiteX76" fmla="*/ 1498060 w 2464315"/>
              <a:gd name="connsiteY76" fmla="*/ 1565296 h 1915492"/>
              <a:gd name="connsiteX77" fmla="*/ 1536971 w 2464315"/>
              <a:gd name="connsiteY77" fmla="*/ 1613934 h 1915492"/>
              <a:gd name="connsiteX78" fmla="*/ 1556426 w 2464315"/>
              <a:gd name="connsiteY78" fmla="*/ 1643117 h 1915492"/>
              <a:gd name="connsiteX79" fmla="*/ 1575881 w 2464315"/>
              <a:gd name="connsiteY79" fmla="*/ 1662573 h 1915492"/>
              <a:gd name="connsiteX80" fmla="*/ 1643975 w 2464315"/>
              <a:gd name="connsiteY80" fmla="*/ 1740394 h 1915492"/>
              <a:gd name="connsiteX81" fmla="*/ 1673158 w 2464315"/>
              <a:gd name="connsiteY81" fmla="*/ 1759849 h 1915492"/>
              <a:gd name="connsiteX82" fmla="*/ 1731524 w 2464315"/>
              <a:gd name="connsiteY82" fmla="*/ 1818215 h 1915492"/>
              <a:gd name="connsiteX83" fmla="*/ 1848256 w 2464315"/>
              <a:gd name="connsiteY83" fmla="*/ 1876581 h 1915492"/>
              <a:gd name="connsiteX84" fmla="*/ 1945532 w 2464315"/>
              <a:gd name="connsiteY84" fmla="*/ 1905764 h 1915492"/>
              <a:gd name="connsiteX85" fmla="*/ 1974715 w 2464315"/>
              <a:gd name="connsiteY85" fmla="*/ 1915492 h 1915492"/>
              <a:gd name="connsiteX86" fmla="*/ 2120630 w 2464315"/>
              <a:gd name="connsiteY86" fmla="*/ 1905764 h 1915492"/>
              <a:gd name="connsiteX87" fmla="*/ 2178996 w 2464315"/>
              <a:gd name="connsiteY87" fmla="*/ 1886309 h 1915492"/>
              <a:gd name="connsiteX88" fmla="*/ 2237362 w 2464315"/>
              <a:gd name="connsiteY88" fmla="*/ 1847398 h 1915492"/>
              <a:gd name="connsiteX89" fmla="*/ 2266545 w 2464315"/>
              <a:gd name="connsiteY89" fmla="*/ 1827943 h 1915492"/>
              <a:gd name="connsiteX90" fmla="*/ 2305456 w 2464315"/>
              <a:gd name="connsiteY90" fmla="*/ 1789032 h 1915492"/>
              <a:gd name="connsiteX91" fmla="*/ 2334639 w 2464315"/>
              <a:gd name="connsiteY91" fmla="*/ 1759849 h 1915492"/>
              <a:gd name="connsiteX92" fmla="*/ 2393005 w 2464315"/>
              <a:gd name="connsiteY92" fmla="*/ 1682028 h 1915492"/>
              <a:gd name="connsiteX93" fmla="*/ 2422188 w 2464315"/>
              <a:gd name="connsiteY93" fmla="*/ 1633390 h 1915492"/>
              <a:gd name="connsiteX94" fmla="*/ 2431915 w 2464315"/>
              <a:gd name="connsiteY94" fmla="*/ 1604207 h 1915492"/>
              <a:gd name="connsiteX95" fmla="*/ 2451371 w 2464315"/>
              <a:gd name="connsiteY95" fmla="*/ 1575024 h 1915492"/>
              <a:gd name="connsiteX96" fmla="*/ 2451371 w 2464315"/>
              <a:gd name="connsiteY96" fmla="*/ 1283194 h 1915492"/>
              <a:gd name="connsiteX97" fmla="*/ 2422188 w 2464315"/>
              <a:gd name="connsiteY97" fmla="*/ 1185917 h 1915492"/>
              <a:gd name="connsiteX98" fmla="*/ 2412460 w 2464315"/>
              <a:gd name="connsiteY98" fmla="*/ 1156734 h 1915492"/>
              <a:gd name="connsiteX99" fmla="*/ 2383277 w 2464315"/>
              <a:gd name="connsiteY99" fmla="*/ 1098368 h 1915492"/>
              <a:gd name="connsiteX100" fmla="*/ 2354094 w 2464315"/>
              <a:gd name="connsiteY100" fmla="*/ 1078913 h 1915492"/>
              <a:gd name="connsiteX101" fmla="*/ 2324911 w 2464315"/>
              <a:gd name="connsiteY101" fmla="*/ 1049730 h 1915492"/>
              <a:gd name="connsiteX102" fmla="*/ 2295728 w 2464315"/>
              <a:gd name="connsiteY102" fmla="*/ 1030275 h 1915492"/>
              <a:gd name="connsiteX103" fmla="*/ 2217907 w 2464315"/>
              <a:gd name="connsiteY103" fmla="*/ 971909 h 1915492"/>
              <a:gd name="connsiteX104" fmla="*/ 2198451 w 2464315"/>
              <a:gd name="connsiteY104" fmla="*/ 952453 h 1915492"/>
              <a:gd name="connsiteX105" fmla="*/ 2140085 w 2464315"/>
              <a:gd name="connsiteY105" fmla="*/ 932998 h 1915492"/>
              <a:gd name="connsiteX106" fmla="*/ 2081719 w 2464315"/>
              <a:gd name="connsiteY106" fmla="*/ 913543 h 1915492"/>
              <a:gd name="connsiteX107" fmla="*/ 2023354 w 2464315"/>
              <a:gd name="connsiteY107" fmla="*/ 894087 h 1915492"/>
              <a:gd name="connsiteX108" fmla="*/ 1994171 w 2464315"/>
              <a:gd name="connsiteY108" fmla="*/ 884360 h 1915492"/>
              <a:gd name="connsiteX109" fmla="*/ 1916349 w 2464315"/>
              <a:gd name="connsiteY109" fmla="*/ 845449 h 1915492"/>
              <a:gd name="connsiteX110" fmla="*/ 1887166 w 2464315"/>
              <a:gd name="connsiteY110" fmla="*/ 835722 h 1915492"/>
              <a:gd name="connsiteX111" fmla="*/ 1857983 w 2464315"/>
              <a:gd name="connsiteY111" fmla="*/ 825994 h 1915492"/>
              <a:gd name="connsiteX112" fmla="*/ 1819073 w 2464315"/>
              <a:gd name="connsiteY112" fmla="*/ 816266 h 1915492"/>
              <a:gd name="connsiteX113" fmla="*/ 1789890 w 2464315"/>
              <a:gd name="connsiteY113" fmla="*/ 806539 h 1915492"/>
              <a:gd name="connsiteX114" fmla="*/ 1741251 w 2464315"/>
              <a:gd name="connsiteY114" fmla="*/ 816266 h 191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2464315" h="1915492">
                <a:moveTo>
                  <a:pt x="1741251" y="816266"/>
                </a:moveTo>
                <a:cubicBezTo>
                  <a:pt x="1721796" y="816266"/>
                  <a:pt x="1695641" y="811036"/>
                  <a:pt x="1673158" y="806539"/>
                </a:cubicBezTo>
                <a:cubicBezTo>
                  <a:pt x="1621924" y="796292"/>
                  <a:pt x="1665003" y="798875"/>
                  <a:pt x="1614792" y="777356"/>
                </a:cubicBezTo>
                <a:cubicBezTo>
                  <a:pt x="1602503" y="772090"/>
                  <a:pt x="1588687" y="771470"/>
                  <a:pt x="1575881" y="767628"/>
                </a:cubicBezTo>
                <a:cubicBezTo>
                  <a:pt x="1556238" y="761735"/>
                  <a:pt x="1517515" y="748173"/>
                  <a:pt x="1517515" y="748173"/>
                </a:cubicBezTo>
                <a:cubicBezTo>
                  <a:pt x="1507787" y="741688"/>
                  <a:pt x="1498789" y="733946"/>
                  <a:pt x="1488332" y="728717"/>
                </a:cubicBezTo>
                <a:cubicBezTo>
                  <a:pt x="1479161" y="724131"/>
                  <a:pt x="1467352" y="725142"/>
                  <a:pt x="1459149" y="718990"/>
                </a:cubicBezTo>
                <a:cubicBezTo>
                  <a:pt x="1440806" y="705233"/>
                  <a:pt x="1429589" y="683069"/>
                  <a:pt x="1410511" y="670351"/>
                </a:cubicBezTo>
                <a:lnTo>
                  <a:pt x="1352145" y="631441"/>
                </a:lnTo>
                <a:cubicBezTo>
                  <a:pt x="1342417" y="624956"/>
                  <a:pt x="1331229" y="620252"/>
                  <a:pt x="1322962" y="611985"/>
                </a:cubicBezTo>
                <a:cubicBezTo>
                  <a:pt x="1313234" y="602257"/>
                  <a:pt x="1304347" y="591609"/>
                  <a:pt x="1293779" y="582802"/>
                </a:cubicBezTo>
                <a:cubicBezTo>
                  <a:pt x="1284798" y="575318"/>
                  <a:pt x="1273334" y="571114"/>
                  <a:pt x="1264596" y="563347"/>
                </a:cubicBezTo>
                <a:cubicBezTo>
                  <a:pt x="1244032" y="545068"/>
                  <a:pt x="1221492" y="527874"/>
                  <a:pt x="1206230" y="504981"/>
                </a:cubicBezTo>
                <a:cubicBezTo>
                  <a:pt x="1181688" y="468167"/>
                  <a:pt x="1195042" y="484065"/>
                  <a:pt x="1167319" y="456343"/>
                </a:cubicBezTo>
                <a:cubicBezTo>
                  <a:pt x="1164077" y="446615"/>
                  <a:pt x="1162867" y="435953"/>
                  <a:pt x="1157592" y="427160"/>
                </a:cubicBezTo>
                <a:cubicBezTo>
                  <a:pt x="1145614" y="407196"/>
                  <a:pt x="1125699" y="402900"/>
                  <a:pt x="1108954" y="388249"/>
                </a:cubicBezTo>
                <a:cubicBezTo>
                  <a:pt x="1091698" y="373151"/>
                  <a:pt x="1073033" y="358689"/>
                  <a:pt x="1060315" y="339611"/>
                </a:cubicBezTo>
                <a:cubicBezTo>
                  <a:pt x="1053830" y="329883"/>
                  <a:pt x="1049989" y="317731"/>
                  <a:pt x="1040860" y="310428"/>
                </a:cubicBezTo>
                <a:cubicBezTo>
                  <a:pt x="1032853" y="304022"/>
                  <a:pt x="1021405" y="303943"/>
                  <a:pt x="1011677" y="300700"/>
                </a:cubicBezTo>
                <a:cubicBezTo>
                  <a:pt x="1001949" y="290972"/>
                  <a:pt x="993353" y="279963"/>
                  <a:pt x="982494" y="271517"/>
                </a:cubicBezTo>
                <a:cubicBezTo>
                  <a:pt x="964037" y="257162"/>
                  <a:pt x="940661" y="249141"/>
                  <a:pt x="924128" y="232607"/>
                </a:cubicBezTo>
                <a:cubicBezTo>
                  <a:pt x="888139" y="196616"/>
                  <a:pt x="912306" y="218241"/>
                  <a:pt x="846307" y="174241"/>
                </a:cubicBezTo>
                <a:cubicBezTo>
                  <a:pt x="808590" y="149096"/>
                  <a:pt x="828218" y="158483"/>
                  <a:pt x="787941" y="145058"/>
                </a:cubicBezTo>
                <a:cubicBezTo>
                  <a:pt x="704306" y="89299"/>
                  <a:pt x="810124" y="156149"/>
                  <a:pt x="729575" y="115875"/>
                </a:cubicBezTo>
                <a:cubicBezTo>
                  <a:pt x="654146" y="78160"/>
                  <a:pt x="744561" y="111141"/>
                  <a:pt x="671209" y="86692"/>
                </a:cubicBezTo>
                <a:cubicBezTo>
                  <a:pt x="624962" y="55860"/>
                  <a:pt x="653119" y="70934"/>
                  <a:pt x="583660" y="47781"/>
                </a:cubicBezTo>
                <a:lnTo>
                  <a:pt x="525294" y="28326"/>
                </a:lnTo>
                <a:cubicBezTo>
                  <a:pt x="515566" y="25083"/>
                  <a:pt x="506166" y="20609"/>
                  <a:pt x="496111" y="18598"/>
                </a:cubicBezTo>
                <a:lnTo>
                  <a:pt x="447473" y="8870"/>
                </a:lnTo>
                <a:cubicBezTo>
                  <a:pt x="176225" y="19303"/>
                  <a:pt x="254212" y="-41060"/>
                  <a:pt x="155643" y="57509"/>
                </a:cubicBezTo>
                <a:cubicBezTo>
                  <a:pt x="145915" y="67237"/>
                  <a:pt x="134091" y="75245"/>
                  <a:pt x="126460" y="86692"/>
                </a:cubicBezTo>
                <a:cubicBezTo>
                  <a:pt x="119975" y="96420"/>
                  <a:pt x="114308" y="106746"/>
                  <a:pt x="107005" y="115875"/>
                </a:cubicBezTo>
                <a:cubicBezTo>
                  <a:pt x="82874" y="146038"/>
                  <a:pt x="88057" y="124587"/>
                  <a:pt x="68094" y="164513"/>
                </a:cubicBezTo>
                <a:cubicBezTo>
                  <a:pt x="63508" y="173684"/>
                  <a:pt x="63346" y="184732"/>
                  <a:pt x="58366" y="193696"/>
                </a:cubicBezTo>
                <a:cubicBezTo>
                  <a:pt x="47011" y="214136"/>
                  <a:pt x="26850" y="229880"/>
                  <a:pt x="19456" y="252062"/>
                </a:cubicBezTo>
                <a:lnTo>
                  <a:pt x="0" y="310428"/>
                </a:lnTo>
                <a:cubicBezTo>
                  <a:pt x="3243" y="381764"/>
                  <a:pt x="4033" y="453254"/>
                  <a:pt x="9728" y="524436"/>
                </a:cubicBezTo>
                <a:cubicBezTo>
                  <a:pt x="12057" y="553542"/>
                  <a:pt x="26420" y="557820"/>
                  <a:pt x="38911" y="582802"/>
                </a:cubicBezTo>
                <a:cubicBezTo>
                  <a:pt x="43497" y="591973"/>
                  <a:pt x="43363" y="603192"/>
                  <a:pt x="48639" y="611985"/>
                </a:cubicBezTo>
                <a:cubicBezTo>
                  <a:pt x="53358" y="619849"/>
                  <a:pt x="62365" y="624279"/>
                  <a:pt x="68094" y="631441"/>
                </a:cubicBezTo>
                <a:cubicBezTo>
                  <a:pt x="75397" y="640570"/>
                  <a:pt x="81748" y="650473"/>
                  <a:pt x="87549" y="660624"/>
                </a:cubicBezTo>
                <a:cubicBezTo>
                  <a:pt x="94744" y="673214"/>
                  <a:pt x="98961" y="687468"/>
                  <a:pt x="107005" y="699534"/>
                </a:cubicBezTo>
                <a:cubicBezTo>
                  <a:pt x="112092" y="707165"/>
                  <a:pt x="120731" y="711828"/>
                  <a:pt x="126460" y="718990"/>
                </a:cubicBezTo>
                <a:cubicBezTo>
                  <a:pt x="133763" y="728119"/>
                  <a:pt x="138612" y="739044"/>
                  <a:pt x="145915" y="748173"/>
                </a:cubicBezTo>
                <a:cubicBezTo>
                  <a:pt x="166792" y="774269"/>
                  <a:pt x="166466" y="764613"/>
                  <a:pt x="194554" y="787083"/>
                </a:cubicBezTo>
                <a:cubicBezTo>
                  <a:pt x="201716" y="792812"/>
                  <a:pt x="206672" y="801036"/>
                  <a:pt x="214009" y="806539"/>
                </a:cubicBezTo>
                <a:cubicBezTo>
                  <a:pt x="214015" y="806544"/>
                  <a:pt x="286963" y="855174"/>
                  <a:pt x="301558" y="864904"/>
                </a:cubicBezTo>
                <a:lnTo>
                  <a:pt x="359924" y="903815"/>
                </a:lnTo>
                <a:cubicBezTo>
                  <a:pt x="369652" y="910300"/>
                  <a:pt x="377765" y="920434"/>
                  <a:pt x="389107" y="923270"/>
                </a:cubicBezTo>
                <a:lnTo>
                  <a:pt x="428017" y="932998"/>
                </a:lnTo>
                <a:cubicBezTo>
                  <a:pt x="437745" y="939483"/>
                  <a:pt x="446517" y="947705"/>
                  <a:pt x="457200" y="952453"/>
                </a:cubicBezTo>
                <a:cubicBezTo>
                  <a:pt x="475940" y="960782"/>
                  <a:pt x="496111" y="965424"/>
                  <a:pt x="515566" y="971909"/>
                </a:cubicBezTo>
                <a:lnTo>
                  <a:pt x="544749" y="981636"/>
                </a:lnTo>
                <a:cubicBezTo>
                  <a:pt x="554477" y="984879"/>
                  <a:pt x="563984" y="988877"/>
                  <a:pt x="573932" y="991364"/>
                </a:cubicBezTo>
                <a:cubicBezTo>
                  <a:pt x="586902" y="994607"/>
                  <a:pt x="600037" y="997250"/>
                  <a:pt x="612843" y="1001092"/>
                </a:cubicBezTo>
                <a:cubicBezTo>
                  <a:pt x="632486" y="1006985"/>
                  <a:pt x="651754" y="1014062"/>
                  <a:pt x="671209" y="1020547"/>
                </a:cubicBezTo>
                <a:cubicBezTo>
                  <a:pt x="680937" y="1023790"/>
                  <a:pt x="690444" y="1027788"/>
                  <a:pt x="700392" y="1030275"/>
                </a:cubicBezTo>
                <a:cubicBezTo>
                  <a:pt x="821992" y="1060673"/>
                  <a:pt x="670827" y="1021827"/>
                  <a:pt x="768485" y="1049730"/>
                </a:cubicBezTo>
                <a:cubicBezTo>
                  <a:pt x="781340" y="1053403"/>
                  <a:pt x="794878" y="1054764"/>
                  <a:pt x="807396" y="1059458"/>
                </a:cubicBezTo>
                <a:cubicBezTo>
                  <a:pt x="820974" y="1064550"/>
                  <a:pt x="832843" y="1073527"/>
                  <a:pt x="846307" y="1078913"/>
                </a:cubicBezTo>
                <a:cubicBezTo>
                  <a:pt x="865348" y="1086529"/>
                  <a:pt x="885218" y="1091883"/>
                  <a:pt x="904673" y="1098368"/>
                </a:cubicBezTo>
                <a:cubicBezTo>
                  <a:pt x="914401" y="1101611"/>
                  <a:pt x="925324" y="1102408"/>
                  <a:pt x="933856" y="1108096"/>
                </a:cubicBezTo>
                <a:cubicBezTo>
                  <a:pt x="943584" y="1114581"/>
                  <a:pt x="952356" y="1122803"/>
                  <a:pt x="963039" y="1127551"/>
                </a:cubicBezTo>
                <a:cubicBezTo>
                  <a:pt x="981779" y="1135880"/>
                  <a:pt x="1004341" y="1135631"/>
                  <a:pt x="1021405" y="1147007"/>
                </a:cubicBezTo>
                <a:cubicBezTo>
                  <a:pt x="1105039" y="1202762"/>
                  <a:pt x="999223" y="1135916"/>
                  <a:pt x="1079771" y="1176190"/>
                </a:cubicBezTo>
                <a:cubicBezTo>
                  <a:pt x="1090228" y="1181418"/>
                  <a:pt x="1098497" y="1190417"/>
                  <a:pt x="1108954" y="1195645"/>
                </a:cubicBezTo>
                <a:cubicBezTo>
                  <a:pt x="1118125" y="1200231"/>
                  <a:pt x="1128966" y="1200787"/>
                  <a:pt x="1138137" y="1205373"/>
                </a:cubicBezTo>
                <a:cubicBezTo>
                  <a:pt x="1148594" y="1210601"/>
                  <a:pt x="1158443" y="1217220"/>
                  <a:pt x="1167319" y="1224828"/>
                </a:cubicBezTo>
                <a:cubicBezTo>
                  <a:pt x="1181246" y="1236765"/>
                  <a:pt x="1188828" y="1257939"/>
                  <a:pt x="1206230" y="1263739"/>
                </a:cubicBezTo>
                <a:lnTo>
                  <a:pt x="1235413" y="1273466"/>
                </a:lnTo>
                <a:cubicBezTo>
                  <a:pt x="1271401" y="1309456"/>
                  <a:pt x="1247237" y="1287835"/>
                  <a:pt x="1313234" y="1331832"/>
                </a:cubicBezTo>
                <a:cubicBezTo>
                  <a:pt x="1322962" y="1338317"/>
                  <a:pt x="1334150" y="1343020"/>
                  <a:pt x="1342417" y="1351287"/>
                </a:cubicBezTo>
                <a:cubicBezTo>
                  <a:pt x="1399021" y="1407891"/>
                  <a:pt x="1319971" y="1326297"/>
                  <a:pt x="1381328" y="1399926"/>
                </a:cubicBezTo>
                <a:cubicBezTo>
                  <a:pt x="1390135" y="1410494"/>
                  <a:pt x="1401704" y="1418541"/>
                  <a:pt x="1410511" y="1429109"/>
                </a:cubicBezTo>
                <a:cubicBezTo>
                  <a:pt x="1417995" y="1438090"/>
                  <a:pt x="1422663" y="1449163"/>
                  <a:pt x="1429966" y="1458292"/>
                </a:cubicBezTo>
                <a:cubicBezTo>
                  <a:pt x="1435695" y="1465454"/>
                  <a:pt x="1443919" y="1470410"/>
                  <a:pt x="1449422" y="1477747"/>
                </a:cubicBezTo>
                <a:cubicBezTo>
                  <a:pt x="1541429" y="1600422"/>
                  <a:pt x="1460147" y="1489471"/>
                  <a:pt x="1498060" y="1565296"/>
                </a:cubicBezTo>
                <a:cubicBezTo>
                  <a:pt x="1518023" y="1605222"/>
                  <a:pt x="1512840" y="1583771"/>
                  <a:pt x="1536971" y="1613934"/>
                </a:cubicBezTo>
                <a:cubicBezTo>
                  <a:pt x="1544274" y="1623063"/>
                  <a:pt x="1549123" y="1633988"/>
                  <a:pt x="1556426" y="1643117"/>
                </a:cubicBezTo>
                <a:cubicBezTo>
                  <a:pt x="1562155" y="1650279"/>
                  <a:pt x="1570152" y="1655411"/>
                  <a:pt x="1575881" y="1662573"/>
                </a:cubicBezTo>
                <a:cubicBezTo>
                  <a:pt x="1605260" y="1699297"/>
                  <a:pt x="1592552" y="1706113"/>
                  <a:pt x="1643975" y="1740394"/>
                </a:cubicBezTo>
                <a:cubicBezTo>
                  <a:pt x="1653703" y="1746879"/>
                  <a:pt x="1664420" y="1752082"/>
                  <a:pt x="1673158" y="1759849"/>
                </a:cubicBezTo>
                <a:cubicBezTo>
                  <a:pt x="1693722" y="1778128"/>
                  <a:pt x="1708631" y="1802953"/>
                  <a:pt x="1731524" y="1818215"/>
                </a:cubicBezTo>
                <a:cubicBezTo>
                  <a:pt x="1788589" y="1856259"/>
                  <a:pt x="1783814" y="1860470"/>
                  <a:pt x="1848256" y="1876581"/>
                </a:cubicBezTo>
                <a:cubicBezTo>
                  <a:pt x="1907058" y="1891282"/>
                  <a:pt x="1874488" y="1882083"/>
                  <a:pt x="1945532" y="1905764"/>
                </a:cubicBezTo>
                <a:lnTo>
                  <a:pt x="1974715" y="1915492"/>
                </a:lnTo>
                <a:cubicBezTo>
                  <a:pt x="2023353" y="1912249"/>
                  <a:pt x="2072374" y="1912658"/>
                  <a:pt x="2120630" y="1905764"/>
                </a:cubicBezTo>
                <a:cubicBezTo>
                  <a:pt x="2140932" y="1902864"/>
                  <a:pt x="2178996" y="1886309"/>
                  <a:pt x="2178996" y="1886309"/>
                </a:cubicBezTo>
                <a:lnTo>
                  <a:pt x="2237362" y="1847398"/>
                </a:lnTo>
                <a:cubicBezTo>
                  <a:pt x="2247090" y="1840913"/>
                  <a:pt x="2258278" y="1836210"/>
                  <a:pt x="2266545" y="1827943"/>
                </a:cubicBezTo>
                <a:lnTo>
                  <a:pt x="2305456" y="1789032"/>
                </a:lnTo>
                <a:cubicBezTo>
                  <a:pt x="2315184" y="1779304"/>
                  <a:pt x="2327008" y="1771296"/>
                  <a:pt x="2334639" y="1759849"/>
                </a:cubicBezTo>
                <a:cubicBezTo>
                  <a:pt x="2378636" y="1693852"/>
                  <a:pt x="2357015" y="1718016"/>
                  <a:pt x="2393005" y="1682028"/>
                </a:cubicBezTo>
                <a:cubicBezTo>
                  <a:pt x="2420560" y="1599358"/>
                  <a:pt x="2382129" y="1700154"/>
                  <a:pt x="2422188" y="1633390"/>
                </a:cubicBezTo>
                <a:cubicBezTo>
                  <a:pt x="2427464" y="1624597"/>
                  <a:pt x="2427329" y="1613378"/>
                  <a:pt x="2431915" y="1604207"/>
                </a:cubicBezTo>
                <a:cubicBezTo>
                  <a:pt x="2437144" y="1593750"/>
                  <a:pt x="2444886" y="1584752"/>
                  <a:pt x="2451371" y="1575024"/>
                </a:cubicBezTo>
                <a:cubicBezTo>
                  <a:pt x="2470128" y="1443717"/>
                  <a:pt x="2467064" y="1495047"/>
                  <a:pt x="2451371" y="1283194"/>
                </a:cubicBezTo>
                <a:cubicBezTo>
                  <a:pt x="2449971" y="1264295"/>
                  <a:pt x="2425467" y="1195753"/>
                  <a:pt x="2422188" y="1185917"/>
                </a:cubicBezTo>
                <a:lnTo>
                  <a:pt x="2412460" y="1156734"/>
                </a:lnTo>
                <a:cubicBezTo>
                  <a:pt x="2404548" y="1133000"/>
                  <a:pt x="2402133" y="1117224"/>
                  <a:pt x="2383277" y="1098368"/>
                </a:cubicBezTo>
                <a:cubicBezTo>
                  <a:pt x="2375010" y="1090101"/>
                  <a:pt x="2363075" y="1086397"/>
                  <a:pt x="2354094" y="1078913"/>
                </a:cubicBezTo>
                <a:cubicBezTo>
                  <a:pt x="2343526" y="1070106"/>
                  <a:pt x="2335479" y="1058537"/>
                  <a:pt x="2324911" y="1049730"/>
                </a:cubicBezTo>
                <a:cubicBezTo>
                  <a:pt x="2315930" y="1042246"/>
                  <a:pt x="2304526" y="1037974"/>
                  <a:pt x="2295728" y="1030275"/>
                </a:cubicBezTo>
                <a:cubicBezTo>
                  <a:pt x="2226942" y="970086"/>
                  <a:pt x="2274610" y="990809"/>
                  <a:pt x="2217907" y="971909"/>
                </a:cubicBezTo>
                <a:cubicBezTo>
                  <a:pt x="2211422" y="965424"/>
                  <a:pt x="2206654" y="956555"/>
                  <a:pt x="2198451" y="952453"/>
                </a:cubicBezTo>
                <a:cubicBezTo>
                  <a:pt x="2180108" y="943282"/>
                  <a:pt x="2159540" y="939483"/>
                  <a:pt x="2140085" y="932998"/>
                </a:cubicBezTo>
                <a:lnTo>
                  <a:pt x="2081719" y="913543"/>
                </a:lnTo>
                <a:lnTo>
                  <a:pt x="2023354" y="894087"/>
                </a:lnTo>
                <a:lnTo>
                  <a:pt x="1994171" y="884360"/>
                </a:lnTo>
                <a:cubicBezTo>
                  <a:pt x="1960214" y="850403"/>
                  <a:pt x="1983415" y="867804"/>
                  <a:pt x="1916349" y="845449"/>
                </a:cubicBezTo>
                <a:lnTo>
                  <a:pt x="1887166" y="835722"/>
                </a:lnTo>
                <a:cubicBezTo>
                  <a:pt x="1877438" y="832479"/>
                  <a:pt x="1867931" y="828481"/>
                  <a:pt x="1857983" y="825994"/>
                </a:cubicBezTo>
                <a:cubicBezTo>
                  <a:pt x="1845013" y="822751"/>
                  <a:pt x="1831928" y="819939"/>
                  <a:pt x="1819073" y="816266"/>
                </a:cubicBezTo>
                <a:cubicBezTo>
                  <a:pt x="1809214" y="813449"/>
                  <a:pt x="1800004" y="808225"/>
                  <a:pt x="1789890" y="806539"/>
                </a:cubicBezTo>
                <a:cubicBezTo>
                  <a:pt x="1780295" y="804940"/>
                  <a:pt x="1760706" y="816266"/>
                  <a:pt x="1741251" y="816266"/>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53</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3273553525"/>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6</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2</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7</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6</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529826" cy="2895600"/>
            <a:chOff x="-2841517" y="667954"/>
            <a:chExt cx="2647370"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bg1">
                  <a:lumMod val="65000"/>
                </a:schemeClr>
              </a:solidFill>
              <a:prstDash val="dash"/>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tx1"/>
              </a:solidFill>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bg1">
                  <a:lumMod val="65000"/>
                </a:schemeClr>
              </a:solidFill>
              <a:prstDash val="dash"/>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bg1">
                  <a:lumMod val="65000"/>
                </a:schemeClr>
              </a:solidFill>
              <a:prstDash val="dash"/>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tx1"/>
              </a:solidFill>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bg1">
                  <a:lumMod val="65000"/>
                </a:schemeClr>
              </a:solidFill>
              <a:prstDash val="dash"/>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tx1"/>
              </a:solidFill>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tx1"/>
              </a:solidFill>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bg1">
                  <a:lumMod val="65000"/>
                </a:schemeClr>
              </a:solidFill>
              <a:prstDash val="dash"/>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bg1">
                  <a:lumMod val="65000"/>
                </a:schemeClr>
              </a:solidFill>
              <a:prstDash val="dash"/>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tx1"/>
              </a:solidFill>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tx1"/>
              </a:solidFill>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F53DC22C-380B-AB48-999F-B7FA74A32BDA}"/>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389390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24A23ACB-8DBA-B44F-85FF-515C171FBF74}"/>
              </a:ext>
            </a:extLst>
          </p:cNvPr>
          <p:cNvSpPr/>
          <p:nvPr/>
        </p:nvSpPr>
        <p:spPr>
          <a:xfrm>
            <a:off x="2130357" y="1245140"/>
            <a:ext cx="2509737" cy="2042809"/>
          </a:xfrm>
          <a:custGeom>
            <a:avLst/>
            <a:gdLst>
              <a:gd name="connsiteX0" fmla="*/ 1819073 w 2509737"/>
              <a:gd name="connsiteY0" fmla="*/ 690664 h 2042809"/>
              <a:gd name="connsiteX1" fmla="*/ 1750979 w 2509737"/>
              <a:gd name="connsiteY1" fmla="*/ 710120 h 2042809"/>
              <a:gd name="connsiteX2" fmla="*/ 1682886 w 2509737"/>
              <a:gd name="connsiteY2" fmla="*/ 700392 h 2042809"/>
              <a:gd name="connsiteX3" fmla="*/ 1585609 w 2509737"/>
              <a:gd name="connsiteY3" fmla="*/ 671209 h 2042809"/>
              <a:gd name="connsiteX4" fmla="*/ 1556426 w 2509737"/>
              <a:gd name="connsiteY4" fmla="*/ 661481 h 2042809"/>
              <a:gd name="connsiteX5" fmla="*/ 1468877 w 2509737"/>
              <a:gd name="connsiteY5" fmla="*/ 603115 h 2042809"/>
              <a:gd name="connsiteX6" fmla="*/ 1439694 w 2509737"/>
              <a:gd name="connsiteY6" fmla="*/ 583660 h 2042809"/>
              <a:gd name="connsiteX7" fmla="*/ 1410511 w 2509737"/>
              <a:gd name="connsiteY7" fmla="*/ 573932 h 2042809"/>
              <a:gd name="connsiteX8" fmla="*/ 1352145 w 2509737"/>
              <a:gd name="connsiteY8" fmla="*/ 535022 h 2042809"/>
              <a:gd name="connsiteX9" fmla="*/ 1264596 w 2509737"/>
              <a:gd name="connsiteY9" fmla="*/ 486383 h 2042809"/>
              <a:gd name="connsiteX10" fmla="*/ 1235413 w 2509737"/>
              <a:gd name="connsiteY10" fmla="*/ 457200 h 2042809"/>
              <a:gd name="connsiteX11" fmla="*/ 1206230 w 2509737"/>
              <a:gd name="connsiteY11" fmla="*/ 437745 h 2042809"/>
              <a:gd name="connsiteX12" fmla="*/ 1118681 w 2509737"/>
              <a:gd name="connsiteY12" fmla="*/ 350196 h 2042809"/>
              <a:gd name="connsiteX13" fmla="*/ 1089498 w 2509737"/>
              <a:gd name="connsiteY13" fmla="*/ 321013 h 2042809"/>
              <a:gd name="connsiteX14" fmla="*/ 1001949 w 2509737"/>
              <a:gd name="connsiteY14" fmla="*/ 262647 h 2042809"/>
              <a:gd name="connsiteX15" fmla="*/ 972766 w 2509737"/>
              <a:gd name="connsiteY15" fmla="*/ 243192 h 2042809"/>
              <a:gd name="connsiteX16" fmla="*/ 943583 w 2509737"/>
              <a:gd name="connsiteY16" fmla="*/ 223737 h 2042809"/>
              <a:gd name="connsiteX17" fmla="*/ 924128 w 2509737"/>
              <a:gd name="connsiteY17" fmla="*/ 204281 h 2042809"/>
              <a:gd name="connsiteX18" fmla="*/ 894945 w 2509737"/>
              <a:gd name="connsiteY18" fmla="*/ 184826 h 2042809"/>
              <a:gd name="connsiteX19" fmla="*/ 836579 w 2509737"/>
              <a:gd name="connsiteY19" fmla="*/ 165371 h 2042809"/>
              <a:gd name="connsiteX20" fmla="*/ 778213 w 2509737"/>
              <a:gd name="connsiteY20" fmla="*/ 126460 h 2042809"/>
              <a:gd name="connsiteX21" fmla="*/ 719847 w 2509737"/>
              <a:gd name="connsiteY21" fmla="*/ 107005 h 2042809"/>
              <a:gd name="connsiteX22" fmla="*/ 661481 w 2509737"/>
              <a:gd name="connsiteY22" fmla="*/ 77822 h 2042809"/>
              <a:gd name="connsiteX23" fmla="*/ 632298 w 2509737"/>
              <a:gd name="connsiteY23" fmla="*/ 58366 h 2042809"/>
              <a:gd name="connsiteX24" fmla="*/ 496111 w 2509737"/>
              <a:gd name="connsiteY24" fmla="*/ 19456 h 2042809"/>
              <a:gd name="connsiteX25" fmla="*/ 389107 w 2509737"/>
              <a:gd name="connsiteY25" fmla="*/ 0 h 2042809"/>
              <a:gd name="connsiteX26" fmla="*/ 301558 w 2509737"/>
              <a:gd name="connsiteY26" fmla="*/ 9728 h 2042809"/>
              <a:gd name="connsiteX27" fmla="*/ 243192 w 2509737"/>
              <a:gd name="connsiteY27" fmla="*/ 48639 h 2042809"/>
              <a:gd name="connsiteX28" fmla="*/ 214009 w 2509737"/>
              <a:gd name="connsiteY28" fmla="*/ 58366 h 2042809"/>
              <a:gd name="connsiteX29" fmla="*/ 126460 w 2509737"/>
              <a:gd name="connsiteY29" fmla="*/ 136188 h 2042809"/>
              <a:gd name="connsiteX30" fmla="*/ 97277 w 2509737"/>
              <a:gd name="connsiteY30" fmla="*/ 165371 h 2042809"/>
              <a:gd name="connsiteX31" fmla="*/ 68094 w 2509737"/>
              <a:gd name="connsiteY31" fmla="*/ 252920 h 2042809"/>
              <a:gd name="connsiteX32" fmla="*/ 48639 w 2509737"/>
              <a:gd name="connsiteY32" fmla="*/ 321013 h 2042809"/>
              <a:gd name="connsiteX33" fmla="*/ 38911 w 2509737"/>
              <a:gd name="connsiteY33" fmla="*/ 389107 h 2042809"/>
              <a:gd name="connsiteX34" fmla="*/ 29183 w 2509737"/>
              <a:gd name="connsiteY34" fmla="*/ 437745 h 2042809"/>
              <a:gd name="connsiteX35" fmla="*/ 19456 w 2509737"/>
              <a:gd name="connsiteY35" fmla="*/ 525294 h 2042809"/>
              <a:gd name="connsiteX36" fmla="*/ 0 w 2509737"/>
              <a:gd name="connsiteY36" fmla="*/ 690664 h 2042809"/>
              <a:gd name="connsiteX37" fmla="*/ 9728 w 2509737"/>
              <a:gd name="connsiteY37" fmla="*/ 1264596 h 2042809"/>
              <a:gd name="connsiteX38" fmla="*/ 19456 w 2509737"/>
              <a:gd name="connsiteY38" fmla="*/ 1322962 h 2042809"/>
              <a:gd name="connsiteX39" fmla="*/ 38911 w 2509737"/>
              <a:gd name="connsiteY39" fmla="*/ 1478605 h 2042809"/>
              <a:gd name="connsiteX40" fmla="*/ 48639 w 2509737"/>
              <a:gd name="connsiteY40" fmla="*/ 1517515 h 2042809"/>
              <a:gd name="connsiteX41" fmla="*/ 58366 w 2509737"/>
              <a:gd name="connsiteY41" fmla="*/ 1575881 h 2042809"/>
              <a:gd name="connsiteX42" fmla="*/ 68094 w 2509737"/>
              <a:gd name="connsiteY42" fmla="*/ 1624520 h 2042809"/>
              <a:gd name="connsiteX43" fmla="*/ 87549 w 2509737"/>
              <a:gd name="connsiteY43" fmla="*/ 1731524 h 2042809"/>
              <a:gd name="connsiteX44" fmla="*/ 97277 w 2509737"/>
              <a:gd name="connsiteY44" fmla="*/ 1760707 h 2042809"/>
              <a:gd name="connsiteX45" fmla="*/ 107005 w 2509737"/>
              <a:gd name="connsiteY45" fmla="*/ 1799617 h 2042809"/>
              <a:gd name="connsiteX46" fmla="*/ 126460 w 2509737"/>
              <a:gd name="connsiteY46" fmla="*/ 1857983 h 2042809"/>
              <a:gd name="connsiteX47" fmla="*/ 165371 w 2509737"/>
              <a:gd name="connsiteY47" fmla="*/ 1896894 h 2042809"/>
              <a:gd name="connsiteX48" fmla="*/ 184826 w 2509737"/>
              <a:gd name="connsiteY48" fmla="*/ 1926077 h 2042809"/>
              <a:gd name="connsiteX49" fmla="*/ 243192 w 2509737"/>
              <a:gd name="connsiteY49" fmla="*/ 1964988 h 2042809"/>
              <a:gd name="connsiteX50" fmla="*/ 272375 w 2509737"/>
              <a:gd name="connsiteY50" fmla="*/ 1984443 h 2042809"/>
              <a:gd name="connsiteX51" fmla="*/ 301558 w 2509737"/>
              <a:gd name="connsiteY51" fmla="*/ 2003898 h 2042809"/>
              <a:gd name="connsiteX52" fmla="*/ 359924 w 2509737"/>
              <a:gd name="connsiteY52" fmla="*/ 2023354 h 2042809"/>
              <a:gd name="connsiteX53" fmla="*/ 389107 w 2509737"/>
              <a:gd name="connsiteY53" fmla="*/ 2033081 h 2042809"/>
              <a:gd name="connsiteX54" fmla="*/ 428017 w 2509737"/>
              <a:gd name="connsiteY54" fmla="*/ 2042809 h 2042809"/>
              <a:gd name="connsiteX55" fmla="*/ 603115 w 2509737"/>
              <a:gd name="connsiteY55" fmla="*/ 2023354 h 2042809"/>
              <a:gd name="connsiteX56" fmla="*/ 632298 w 2509737"/>
              <a:gd name="connsiteY56" fmla="*/ 2003898 h 2042809"/>
              <a:gd name="connsiteX57" fmla="*/ 690664 w 2509737"/>
              <a:gd name="connsiteY57" fmla="*/ 1984443 h 2042809"/>
              <a:gd name="connsiteX58" fmla="*/ 719847 w 2509737"/>
              <a:gd name="connsiteY58" fmla="*/ 1974715 h 2042809"/>
              <a:gd name="connsiteX59" fmla="*/ 778213 w 2509737"/>
              <a:gd name="connsiteY59" fmla="*/ 1945532 h 2042809"/>
              <a:gd name="connsiteX60" fmla="*/ 846307 w 2509737"/>
              <a:gd name="connsiteY60" fmla="*/ 1916349 h 2042809"/>
              <a:gd name="connsiteX61" fmla="*/ 875490 w 2509737"/>
              <a:gd name="connsiteY61" fmla="*/ 1896894 h 2042809"/>
              <a:gd name="connsiteX62" fmla="*/ 904673 w 2509737"/>
              <a:gd name="connsiteY62" fmla="*/ 1887166 h 2042809"/>
              <a:gd name="connsiteX63" fmla="*/ 1099226 w 2509737"/>
              <a:gd name="connsiteY63" fmla="*/ 1848256 h 2042809"/>
              <a:gd name="connsiteX64" fmla="*/ 1264596 w 2509737"/>
              <a:gd name="connsiteY64" fmla="*/ 1828800 h 2042809"/>
              <a:gd name="connsiteX65" fmla="*/ 1478605 w 2509737"/>
              <a:gd name="connsiteY65" fmla="*/ 1809345 h 2042809"/>
              <a:gd name="connsiteX66" fmla="*/ 1731524 w 2509737"/>
              <a:gd name="connsiteY66" fmla="*/ 1819073 h 2042809"/>
              <a:gd name="connsiteX67" fmla="*/ 1789890 w 2509737"/>
              <a:gd name="connsiteY67" fmla="*/ 1828800 h 2042809"/>
              <a:gd name="connsiteX68" fmla="*/ 1867711 w 2509737"/>
              <a:gd name="connsiteY68" fmla="*/ 1838528 h 2042809"/>
              <a:gd name="connsiteX69" fmla="*/ 2198452 w 2509737"/>
              <a:gd name="connsiteY69" fmla="*/ 1819073 h 2042809"/>
              <a:gd name="connsiteX70" fmla="*/ 2286000 w 2509737"/>
              <a:gd name="connsiteY70" fmla="*/ 1799617 h 2042809"/>
              <a:gd name="connsiteX71" fmla="*/ 2334639 w 2509737"/>
              <a:gd name="connsiteY71" fmla="*/ 1760707 h 2042809"/>
              <a:gd name="connsiteX72" fmla="*/ 2363822 w 2509737"/>
              <a:gd name="connsiteY72" fmla="*/ 1750979 h 2042809"/>
              <a:gd name="connsiteX73" fmla="*/ 2441643 w 2509737"/>
              <a:gd name="connsiteY73" fmla="*/ 1692613 h 2042809"/>
              <a:gd name="connsiteX74" fmla="*/ 2461098 w 2509737"/>
              <a:gd name="connsiteY74" fmla="*/ 1663430 h 2042809"/>
              <a:gd name="connsiteX75" fmla="*/ 2480554 w 2509737"/>
              <a:gd name="connsiteY75" fmla="*/ 1643975 h 2042809"/>
              <a:gd name="connsiteX76" fmla="*/ 2509737 w 2509737"/>
              <a:gd name="connsiteY76" fmla="*/ 1585609 h 2042809"/>
              <a:gd name="connsiteX77" fmla="*/ 2500009 w 2509737"/>
              <a:gd name="connsiteY77" fmla="*/ 1342417 h 2042809"/>
              <a:gd name="connsiteX78" fmla="*/ 2490281 w 2509737"/>
              <a:gd name="connsiteY78" fmla="*/ 1313234 h 2042809"/>
              <a:gd name="connsiteX79" fmla="*/ 2461098 w 2509737"/>
              <a:gd name="connsiteY79" fmla="*/ 1215958 h 2042809"/>
              <a:gd name="connsiteX80" fmla="*/ 2441643 w 2509737"/>
              <a:gd name="connsiteY80" fmla="*/ 1157592 h 2042809"/>
              <a:gd name="connsiteX81" fmla="*/ 2402732 w 2509737"/>
              <a:gd name="connsiteY81" fmla="*/ 1099226 h 2042809"/>
              <a:gd name="connsiteX82" fmla="*/ 2383277 w 2509737"/>
              <a:gd name="connsiteY82" fmla="*/ 1070043 h 2042809"/>
              <a:gd name="connsiteX83" fmla="*/ 2344366 w 2509737"/>
              <a:gd name="connsiteY83" fmla="*/ 1001949 h 2042809"/>
              <a:gd name="connsiteX84" fmla="*/ 2324911 w 2509737"/>
              <a:gd name="connsiteY84" fmla="*/ 972766 h 2042809"/>
              <a:gd name="connsiteX85" fmla="*/ 2295728 w 2509737"/>
              <a:gd name="connsiteY85" fmla="*/ 953311 h 2042809"/>
              <a:gd name="connsiteX86" fmla="*/ 2237362 w 2509737"/>
              <a:gd name="connsiteY86" fmla="*/ 885217 h 2042809"/>
              <a:gd name="connsiteX87" fmla="*/ 2208179 w 2509737"/>
              <a:gd name="connsiteY87" fmla="*/ 875490 h 2042809"/>
              <a:gd name="connsiteX88" fmla="*/ 2178996 w 2509737"/>
              <a:gd name="connsiteY88" fmla="*/ 856034 h 2042809"/>
              <a:gd name="connsiteX89" fmla="*/ 2110903 w 2509737"/>
              <a:gd name="connsiteY89" fmla="*/ 826851 h 2042809"/>
              <a:gd name="connsiteX90" fmla="*/ 2062264 w 2509737"/>
              <a:gd name="connsiteY90" fmla="*/ 797669 h 2042809"/>
              <a:gd name="connsiteX91" fmla="*/ 1984443 w 2509737"/>
              <a:gd name="connsiteY91" fmla="*/ 739303 h 2042809"/>
              <a:gd name="connsiteX92" fmla="*/ 1955260 w 2509737"/>
              <a:gd name="connsiteY92" fmla="*/ 719847 h 2042809"/>
              <a:gd name="connsiteX93" fmla="*/ 1896894 w 2509737"/>
              <a:gd name="connsiteY93" fmla="*/ 700392 h 2042809"/>
              <a:gd name="connsiteX94" fmla="*/ 1838528 w 2509737"/>
              <a:gd name="connsiteY94" fmla="*/ 680937 h 2042809"/>
              <a:gd name="connsiteX95" fmla="*/ 1819073 w 2509737"/>
              <a:gd name="connsiteY95" fmla="*/ 690664 h 2042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2509737" h="2042809">
                <a:moveTo>
                  <a:pt x="1819073" y="690664"/>
                </a:moveTo>
                <a:cubicBezTo>
                  <a:pt x="1796375" y="697149"/>
                  <a:pt x="1774525" y="708438"/>
                  <a:pt x="1750979" y="710120"/>
                </a:cubicBezTo>
                <a:cubicBezTo>
                  <a:pt x="1728109" y="711754"/>
                  <a:pt x="1705444" y="704494"/>
                  <a:pt x="1682886" y="700392"/>
                </a:cubicBezTo>
                <a:cubicBezTo>
                  <a:pt x="1650545" y="694512"/>
                  <a:pt x="1616063" y="681360"/>
                  <a:pt x="1585609" y="671209"/>
                </a:cubicBezTo>
                <a:cubicBezTo>
                  <a:pt x="1575881" y="667966"/>
                  <a:pt x="1564958" y="667169"/>
                  <a:pt x="1556426" y="661481"/>
                </a:cubicBezTo>
                <a:lnTo>
                  <a:pt x="1468877" y="603115"/>
                </a:lnTo>
                <a:cubicBezTo>
                  <a:pt x="1459149" y="596630"/>
                  <a:pt x="1450785" y="587357"/>
                  <a:pt x="1439694" y="583660"/>
                </a:cubicBezTo>
                <a:cubicBezTo>
                  <a:pt x="1429966" y="580417"/>
                  <a:pt x="1419475" y="578912"/>
                  <a:pt x="1410511" y="573932"/>
                </a:cubicBezTo>
                <a:cubicBezTo>
                  <a:pt x="1390071" y="562577"/>
                  <a:pt x="1374327" y="542416"/>
                  <a:pt x="1352145" y="535022"/>
                </a:cubicBezTo>
                <a:cubicBezTo>
                  <a:pt x="1315448" y="522789"/>
                  <a:pt x="1298045" y="519832"/>
                  <a:pt x="1264596" y="486383"/>
                </a:cubicBezTo>
                <a:cubicBezTo>
                  <a:pt x="1254868" y="476655"/>
                  <a:pt x="1245981" y="466007"/>
                  <a:pt x="1235413" y="457200"/>
                </a:cubicBezTo>
                <a:cubicBezTo>
                  <a:pt x="1226432" y="449716"/>
                  <a:pt x="1214968" y="445512"/>
                  <a:pt x="1206230" y="437745"/>
                </a:cubicBezTo>
                <a:lnTo>
                  <a:pt x="1118681" y="350196"/>
                </a:lnTo>
                <a:cubicBezTo>
                  <a:pt x="1108953" y="340468"/>
                  <a:pt x="1100945" y="328644"/>
                  <a:pt x="1089498" y="321013"/>
                </a:cubicBezTo>
                <a:lnTo>
                  <a:pt x="1001949" y="262647"/>
                </a:lnTo>
                <a:lnTo>
                  <a:pt x="972766" y="243192"/>
                </a:lnTo>
                <a:cubicBezTo>
                  <a:pt x="963038" y="236707"/>
                  <a:pt x="951850" y="232004"/>
                  <a:pt x="943583" y="223737"/>
                </a:cubicBezTo>
                <a:cubicBezTo>
                  <a:pt x="937098" y="217252"/>
                  <a:pt x="931290" y="210010"/>
                  <a:pt x="924128" y="204281"/>
                </a:cubicBezTo>
                <a:cubicBezTo>
                  <a:pt x="914999" y="196978"/>
                  <a:pt x="905629" y="189574"/>
                  <a:pt x="894945" y="184826"/>
                </a:cubicBezTo>
                <a:cubicBezTo>
                  <a:pt x="876205" y="176497"/>
                  <a:pt x="836579" y="165371"/>
                  <a:pt x="836579" y="165371"/>
                </a:cubicBezTo>
                <a:cubicBezTo>
                  <a:pt x="817124" y="152401"/>
                  <a:pt x="800396" y="133854"/>
                  <a:pt x="778213" y="126460"/>
                </a:cubicBezTo>
                <a:lnTo>
                  <a:pt x="719847" y="107005"/>
                </a:lnTo>
                <a:cubicBezTo>
                  <a:pt x="636212" y="51246"/>
                  <a:pt x="742030" y="118096"/>
                  <a:pt x="661481" y="77822"/>
                </a:cubicBezTo>
                <a:cubicBezTo>
                  <a:pt x="651024" y="72593"/>
                  <a:pt x="642982" y="63114"/>
                  <a:pt x="632298" y="58366"/>
                </a:cubicBezTo>
                <a:cubicBezTo>
                  <a:pt x="576088" y="33384"/>
                  <a:pt x="557942" y="40067"/>
                  <a:pt x="496111" y="19456"/>
                </a:cubicBezTo>
                <a:cubicBezTo>
                  <a:pt x="442127" y="1461"/>
                  <a:pt x="477103" y="11000"/>
                  <a:pt x="389107" y="0"/>
                </a:cubicBezTo>
                <a:cubicBezTo>
                  <a:pt x="359924" y="3243"/>
                  <a:pt x="330169" y="3126"/>
                  <a:pt x="301558" y="9728"/>
                </a:cubicBezTo>
                <a:cubicBezTo>
                  <a:pt x="237903" y="24418"/>
                  <a:pt x="283362" y="24537"/>
                  <a:pt x="243192" y="48639"/>
                </a:cubicBezTo>
                <a:cubicBezTo>
                  <a:pt x="234399" y="53915"/>
                  <a:pt x="223737" y="55124"/>
                  <a:pt x="214009" y="58366"/>
                </a:cubicBezTo>
                <a:cubicBezTo>
                  <a:pt x="161933" y="93084"/>
                  <a:pt x="193093" y="69555"/>
                  <a:pt x="126460" y="136188"/>
                </a:cubicBezTo>
                <a:lnTo>
                  <a:pt x="97277" y="165371"/>
                </a:lnTo>
                <a:lnTo>
                  <a:pt x="68094" y="252920"/>
                </a:lnTo>
                <a:cubicBezTo>
                  <a:pt x="59758" y="277927"/>
                  <a:pt x="53526" y="294136"/>
                  <a:pt x="48639" y="321013"/>
                </a:cubicBezTo>
                <a:cubicBezTo>
                  <a:pt x="44537" y="343572"/>
                  <a:pt x="42681" y="366491"/>
                  <a:pt x="38911" y="389107"/>
                </a:cubicBezTo>
                <a:cubicBezTo>
                  <a:pt x="36193" y="405416"/>
                  <a:pt x="31521" y="421377"/>
                  <a:pt x="29183" y="437745"/>
                </a:cubicBezTo>
                <a:cubicBezTo>
                  <a:pt x="25031" y="466812"/>
                  <a:pt x="23337" y="496189"/>
                  <a:pt x="19456" y="525294"/>
                </a:cubicBezTo>
                <a:cubicBezTo>
                  <a:pt x="-2855" y="692632"/>
                  <a:pt x="23671" y="430292"/>
                  <a:pt x="0" y="690664"/>
                </a:cubicBezTo>
                <a:cubicBezTo>
                  <a:pt x="3243" y="881975"/>
                  <a:pt x="3843" y="1073348"/>
                  <a:pt x="9728" y="1264596"/>
                </a:cubicBezTo>
                <a:cubicBezTo>
                  <a:pt x="10335" y="1284310"/>
                  <a:pt x="16849" y="1303411"/>
                  <a:pt x="19456" y="1322962"/>
                </a:cubicBezTo>
                <a:cubicBezTo>
                  <a:pt x="27581" y="1383900"/>
                  <a:pt x="28259" y="1420018"/>
                  <a:pt x="38911" y="1478605"/>
                </a:cubicBezTo>
                <a:cubicBezTo>
                  <a:pt x="41303" y="1491759"/>
                  <a:pt x="46017" y="1504405"/>
                  <a:pt x="48639" y="1517515"/>
                </a:cubicBezTo>
                <a:cubicBezTo>
                  <a:pt x="52507" y="1536856"/>
                  <a:pt x="54838" y="1556475"/>
                  <a:pt x="58366" y="1575881"/>
                </a:cubicBezTo>
                <a:cubicBezTo>
                  <a:pt x="61324" y="1592148"/>
                  <a:pt x="65136" y="1608253"/>
                  <a:pt x="68094" y="1624520"/>
                </a:cubicBezTo>
                <a:cubicBezTo>
                  <a:pt x="73873" y="1656303"/>
                  <a:pt x="79543" y="1699500"/>
                  <a:pt x="87549" y="1731524"/>
                </a:cubicBezTo>
                <a:cubicBezTo>
                  <a:pt x="90036" y="1741472"/>
                  <a:pt x="94460" y="1750848"/>
                  <a:pt x="97277" y="1760707"/>
                </a:cubicBezTo>
                <a:cubicBezTo>
                  <a:pt x="100950" y="1773562"/>
                  <a:pt x="103163" y="1786812"/>
                  <a:pt x="107005" y="1799617"/>
                </a:cubicBezTo>
                <a:cubicBezTo>
                  <a:pt x="112898" y="1819260"/>
                  <a:pt x="111959" y="1843482"/>
                  <a:pt x="126460" y="1857983"/>
                </a:cubicBezTo>
                <a:cubicBezTo>
                  <a:pt x="139430" y="1870953"/>
                  <a:pt x="155196" y="1881632"/>
                  <a:pt x="165371" y="1896894"/>
                </a:cubicBezTo>
                <a:cubicBezTo>
                  <a:pt x="171856" y="1906622"/>
                  <a:pt x="176028" y="1918378"/>
                  <a:pt x="184826" y="1926077"/>
                </a:cubicBezTo>
                <a:cubicBezTo>
                  <a:pt x="202423" y="1941475"/>
                  <a:pt x="223737" y="1952018"/>
                  <a:pt x="243192" y="1964988"/>
                </a:cubicBezTo>
                <a:lnTo>
                  <a:pt x="272375" y="1984443"/>
                </a:lnTo>
                <a:cubicBezTo>
                  <a:pt x="282103" y="1990928"/>
                  <a:pt x="290467" y="2000201"/>
                  <a:pt x="301558" y="2003898"/>
                </a:cubicBezTo>
                <a:lnTo>
                  <a:pt x="359924" y="2023354"/>
                </a:lnTo>
                <a:cubicBezTo>
                  <a:pt x="369652" y="2026597"/>
                  <a:pt x="379159" y="2030594"/>
                  <a:pt x="389107" y="2033081"/>
                </a:cubicBezTo>
                <a:lnTo>
                  <a:pt x="428017" y="2042809"/>
                </a:lnTo>
                <a:cubicBezTo>
                  <a:pt x="446227" y="2041595"/>
                  <a:pt x="556702" y="2046561"/>
                  <a:pt x="603115" y="2023354"/>
                </a:cubicBezTo>
                <a:cubicBezTo>
                  <a:pt x="613572" y="2018125"/>
                  <a:pt x="621614" y="2008646"/>
                  <a:pt x="632298" y="2003898"/>
                </a:cubicBezTo>
                <a:cubicBezTo>
                  <a:pt x="651038" y="1995569"/>
                  <a:pt x="671209" y="1990928"/>
                  <a:pt x="690664" y="1984443"/>
                </a:cubicBezTo>
                <a:lnTo>
                  <a:pt x="719847" y="1974715"/>
                </a:lnTo>
                <a:cubicBezTo>
                  <a:pt x="759006" y="1935558"/>
                  <a:pt x="715465" y="1972424"/>
                  <a:pt x="778213" y="1945532"/>
                </a:cubicBezTo>
                <a:cubicBezTo>
                  <a:pt x="872260" y="1905226"/>
                  <a:pt x="734599" y="1944277"/>
                  <a:pt x="846307" y="1916349"/>
                </a:cubicBezTo>
                <a:cubicBezTo>
                  <a:pt x="856035" y="1909864"/>
                  <a:pt x="865033" y="1902122"/>
                  <a:pt x="875490" y="1896894"/>
                </a:cubicBezTo>
                <a:cubicBezTo>
                  <a:pt x="884661" y="1892308"/>
                  <a:pt x="894780" y="1889864"/>
                  <a:pt x="904673" y="1887166"/>
                </a:cubicBezTo>
                <a:cubicBezTo>
                  <a:pt x="1028954" y="1853271"/>
                  <a:pt x="944036" y="1879295"/>
                  <a:pt x="1099226" y="1848256"/>
                </a:cubicBezTo>
                <a:cubicBezTo>
                  <a:pt x="1192558" y="1829589"/>
                  <a:pt x="1116257" y="1842927"/>
                  <a:pt x="1264596" y="1828800"/>
                </a:cubicBezTo>
                <a:cubicBezTo>
                  <a:pt x="1506439" y="1805768"/>
                  <a:pt x="1161209" y="1833761"/>
                  <a:pt x="1478605" y="1809345"/>
                </a:cubicBezTo>
                <a:cubicBezTo>
                  <a:pt x="1562911" y="1812588"/>
                  <a:pt x="1647320" y="1813810"/>
                  <a:pt x="1731524" y="1819073"/>
                </a:cubicBezTo>
                <a:cubicBezTo>
                  <a:pt x="1751209" y="1820303"/>
                  <a:pt x="1770365" y="1826011"/>
                  <a:pt x="1789890" y="1828800"/>
                </a:cubicBezTo>
                <a:cubicBezTo>
                  <a:pt x="1815769" y="1832497"/>
                  <a:pt x="1841771" y="1835285"/>
                  <a:pt x="1867711" y="1838528"/>
                </a:cubicBezTo>
                <a:cubicBezTo>
                  <a:pt x="2265213" y="1824821"/>
                  <a:pt x="2040175" y="1847850"/>
                  <a:pt x="2198452" y="1819073"/>
                </a:cubicBezTo>
                <a:cubicBezTo>
                  <a:pt x="2273774" y="1805378"/>
                  <a:pt x="2234549" y="1816768"/>
                  <a:pt x="2286000" y="1799617"/>
                </a:cubicBezTo>
                <a:cubicBezTo>
                  <a:pt x="2304096" y="1781522"/>
                  <a:pt x="2310097" y="1772978"/>
                  <a:pt x="2334639" y="1760707"/>
                </a:cubicBezTo>
                <a:cubicBezTo>
                  <a:pt x="2343810" y="1756121"/>
                  <a:pt x="2354858" y="1755959"/>
                  <a:pt x="2363822" y="1750979"/>
                </a:cubicBezTo>
                <a:cubicBezTo>
                  <a:pt x="2386234" y="1738528"/>
                  <a:pt x="2422750" y="1716230"/>
                  <a:pt x="2441643" y="1692613"/>
                </a:cubicBezTo>
                <a:cubicBezTo>
                  <a:pt x="2448946" y="1683484"/>
                  <a:pt x="2453795" y="1672559"/>
                  <a:pt x="2461098" y="1663430"/>
                </a:cubicBezTo>
                <a:cubicBezTo>
                  <a:pt x="2466827" y="1656268"/>
                  <a:pt x="2474825" y="1651137"/>
                  <a:pt x="2480554" y="1643975"/>
                </a:cubicBezTo>
                <a:cubicBezTo>
                  <a:pt x="2502104" y="1617038"/>
                  <a:pt x="2499463" y="1616431"/>
                  <a:pt x="2509737" y="1585609"/>
                </a:cubicBezTo>
                <a:cubicBezTo>
                  <a:pt x="2506494" y="1504545"/>
                  <a:pt x="2505789" y="1423340"/>
                  <a:pt x="2500009" y="1342417"/>
                </a:cubicBezTo>
                <a:cubicBezTo>
                  <a:pt x="2499278" y="1332189"/>
                  <a:pt x="2493098" y="1323093"/>
                  <a:pt x="2490281" y="1313234"/>
                </a:cubicBezTo>
                <a:cubicBezTo>
                  <a:pt x="2460872" y="1210302"/>
                  <a:pt x="2507344" y="1354696"/>
                  <a:pt x="2461098" y="1215958"/>
                </a:cubicBezTo>
                <a:cubicBezTo>
                  <a:pt x="2461096" y="1215953"/>
                  <a:pt x="2441646" y="1157596"/>
                  <a:pt x="2441643" y="1157592"/>
                </a:cubicBezTo>
                <a:lnTo>
                  <a:pt x="2402732" y="1099226"/>
                </a:lnTo>
                <a:cubicBezTo>
                  <a:pt x="2396247" y="1089498"/>
                  <a:pt x="2386974" y="1081134"/>
                  <a:pt x="2383277" y="1070043"/>
                </a:cubicBezTo>
                <a:cubicBezTo>
                  <a:pt x="2367491" y="1022685"/>
                  <a:pt x="2381174" y="1053481"/>
                  <a:pt x="2344366" y="1001949"/>
                </a:cubicBezTo>
                <a:cubicBezTo>
                  <a:pt x="2337571" y="992435"/>
                  <a:pt x="2333178" y="981033"/>
                  <a:pt x="2324911" y="972766"/>
                </a:cubicBezTo>
                <a:cubicBezTo>
                  <a:pt x="2316644" y="964499"/>
                  <a:pt x="2305456" y="959796"/>
                  <a:pt x="2295728" y="953311"/>
                </a:cubicBezTo>
                <a:cubicBezTo>
                  <a:pt x="2283281" y="934640"/>
                  <a:pt x="2257581" y="891956"/>
                  <a:pt x="2237362" y="885217"/>
                </a:cubicBezTo>
                <a:lnTo>
                  <a:pt x="2208179" y="875490"/>
                </a:lnTo>
                <a:cubicBezTo>
                  <a:pt x="2198451" y="869005"/>
                  <a:pt x="2189453" y="861263"/>
                  <a:pt x="2178996" y="856034"/>
                </a:cubicBezTo>
                <a:cubicBezTo>
                  <a:pt x="2127105" y="830088"/>
                  <a:pt x="2171643" y="867345"/>
                  <a:pt x="2110903" y="826851"/>
                </a:cubicBezTo>
                <a:cubicBezTo>
                  <a:pt x="2057496" y="791246"/>
                  <a:pt x="2129999" y="820246"/>
                  <a:pt x="2062264" y="797669"/>
                </a:cubicBezTo>
                <a:cubicBezTo>
                  <a:pt x="2026275" y="761678"/>
                  <a:pt x="2050442" y="783303"/>
                  <a:pt x="1984443" y="739303"/>
                </a:cubicBezTo>
                <a:cubicBezTo>
                  <a:pt x="1974715" y="732818"/>
                  <a:pt x="1966351" y="723544"/>
                  <a:pt x="1955260" y="719847"/>
                </a:cubicBezTo>
                <a:lnTo>
                  <a:pt x="1896894" y="700392"/>
                </a:lnTo>
                <a:cubicBezTo>
                  <a:pt x="1896893" y="700392"/>
                  <a:pt x="1838530" y="680936"/>
                  <a:pt x="1838528" y="680937"/>
                </a:cubicBezTo>
                <a:lnTo>
                  <a:pt x="1819073" y="690664"/>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54</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C</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3942405538"/>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6</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4</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6</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529826" cy="2895600"/>
            <a:chOff x="-2841517" y="667954"/>
            <a:chExt cx="2647370"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bg1">
                  <a:lumMod val="65000"/>
                </a:schemeClr>
              </a:solidFill>
              <a:prstDash val="dash"/>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tx1"/>
              </a:solidFill>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bg1">
                  <a:lumMod val="65000"/>
                </a:schemeClr>
              </a:solidFill>
              <a:prstDash val="dash"/>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bg1">
                  <a:lumMod val="65000"/>
                </a:schemeClr>
              </a:solidFill>
              <a:prstDash val="dash"/>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bg1">
                  <a:lumMod val="65000"/>
                </a:schemeClr>
              </a:solidFill>
              <a:prstDash val="dash"/>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bg1">
                  <a:lumMod val="65000"/>
                </a:schemeClr>
              </a:solidFill>
              <a:prstDash val="dash"/>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tx1"/>
              </a:solidFill>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bg1">
                  <a:lumMod val="65000"/>
                </a:schemeClr>
              </a:solidFill>
              <a:prstDash val="dash"/>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bg1">
                  <a:lumMod val="65000"/>
                </a:schemeClr>
              </a:solidFill>
              <a:prstDash val="dash"/>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bg1">
                  <a:lumMod val="65000"/>
                </a:schemeClr>
              </a:solidFill>
              <a:prstDash val="dash"/>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tx1"/>
              </a:solidFill>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tx1"/>
              </a:solidFill>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D4FD8907-7080-684B-A02D-209A34B9CB04}"/>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26480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F4C8B43-2CC7-D543-BDB3-8C2333643E4D}"/>
              </a:ext>
            </a:extLst>
          </p:cNvPr>
          <p:cNvSpPr/>
          <p:nvPr/>
        </p:nvSpPr>
        <p:spPr>
          <a:xfrm>
            <a:off x="2125042" y="1206230"/>
            <a:ext cx="3857988" cy="2052536"/>
          </a:xfrm>
          <a:custGeom>
            <a:avLst/>
            <a:gdLst>
              <a:gd name="connsiteX0" fmla="*/ 3799103 w 3857988"/>
              <a:gd name="connsiteY0" fmla="*/ 1381327 h 2052536"/>
              <a:gd name="connsiteX1" fmla="*/ 3789375 w 3857988"/>
              <a:gd name="connsiteY1" fmla="*/ 1313234 h 2052536"/>
              <a:gd name="connsiteX2" fmla="*/ 3808830 w 3857988"/>
              <a:gd name="connsiteY2" fmla="*/ 1274323 h 2052536"/>
              <a:gd name="connsiteX3" fmla="*/ 3828286 w 3857988"/>
              <a:gd name="connsiteY3" fmla="*/ 1215957 h 2052536"/>
              <a:gd name="connsiteX4" fmla="*/ 3838013 w 3857988"/>
              <a:gd name="connsiteY4" fmla="*/ 1186774 h 2052536"/>
              <a:gd name="connsiteX5" fmla="*/ 3847741 w 3857988"/>
              <a:gd name="connsiteY5" fmla="*/ 1157591 h 2052536"/>
              <a:gd name="connsiteX6" fmla="*/ 3847741 w 3857988"/>
              <a:gd name="connsiteY6" fmla="*/ 1001949 h 2052536"/>
              <a:gd name="connsiteX7" fmla="*/ 3828286 w 3857988"/>
              <a:gd name="connsiteY7" fmla="*/ 943583 h 2052536"/>
              <a:gd name="connsiteX8" fmla="*/ 3789375 w 3857988"/>
              <a:gd name="connsiteY8" fmla="*/ 894944 h 2052536"/>
              <a:gd name="connsiteX9" fmla="*/ 3750464 w 3857988"/>
              <a:gd name="connsiteY9" fmla="*/ 846306 h 2052536"/>
              <a:gd name="connsiteX10" fmla="*/ 3721281 w 3857988"/>
              <a:gd name="connsiteY10" fmla="*/ 836579 h 2052536"/>
              <a:gd name="connsiteX11" fmla="*/ 3643460 w 3857988"/>
              <a:gd name="connsiteY11" fmla="*/ 778213 h 2052536"/>
              <a:gd name="connsiteX12" fmla="*/ 3585094 w 3857988"/>
              <a:gd name="connsiteY12" fmla="*/ 749030 h 2052536"/>
              <a:gd name="connsiteX13" fmla="*/ 3565639 w 3857988"/>
              <a:gd name="connsiteY13" fmla="*/ 729574 h 2052536"/>
              <a:gd name="connsiteX14" fmla="*/ 3400269 w 3857988"/>
              <a:gd name="connsiteY14" fmla="*/ 700391 h 2052536"/>
              <a:gd name="connsiteX15" fmla="*/ 3234898 w 3857988"/>
              <a:gd name="connsiteY15" fmla="*/ 719847 h 2052536"/>
              <a:gd name="connsiteX16" fmla="*/ 3176532 w 3857988"/>
              <a:gd name="connsiteY16" fmla="*/ 739302 h 2052536"/>
              <a:gd name="connsiteX17" fmla="*/ 3118167 w 3857988"/>
              <a:gd name="connsiteY17" fmla="*/ 778213 h 2052536"/>
              <a:gd name="connsiteX18" fmla="*/ 3098711 w 3857988"/>
              <a:gd name="connsiteY18" fmla="*/ 797668 h 2052536"/>
              <a:gd name="connsiteX19" fmla="*/ 3069528 w 3857988"/>
              <a:gd name="connsiteY19" fmla="*/ 807396 h 2052536"/>
              <a:gd name="connsiteX20" fmla="*/ 3040345 w 3857988"/>
              <a:gd name="connsiteY20" fmla="*/ 836579 h 2052536"/>
              <a:gd name="connsiteX21" fmla="*/ 2981979 w 3857988"/>
              <a:gd name="connsiteY21" fmla="*/ 875489 h 2052536"/>
              <a:gd name="connsiteX22" fmla="*/ 2952796 w 3857988"/>
              <a:gd name="connsiteY22" fmla="*/ 894944 h 2052536"/>
              <a:gd name="connsiteX23" fmla="*/ 2904158 w 3857988"/>
              <a:gd name="connsiteY23" fmla="*/ 924127 h 2052536"/>
              <a:gd name="connsiteX24" fmla="*/ 2836064 w 3857988"/>
              <a:gd name="connsiteY24" fmla="*/ 972766 h 2052536"/>
              <a:gd name="connsiteX25" fmla="*/ 2748515 w 3857988"/>
              <a:gd name="connsiteY25" fmla="*/ 1040859 h 2052536"/>
              <a:gd name="connsiteX26" fmla="*/ 2719332 w 3857988"/>
              <a:gd name="connsiteY26" fmla="*/ 1050587 h 2052536"/>
              <a:gd name="connsiteX27" fmla="*/ 2660967 w 3857988"/>
              <a:gd name="connsiteY27" fmla="*/ 1089498 h 2052536"/>
              <a:gd name="connsiteX28" fmla="*/ 2553962 w 3857988"/>
              <a:gd name="connsiteY28" fmla="*/ 1118681 h 2052536"/>
              <a:gd name="connsiteX29" fmla="*/ 2515052 w 3857988"/>
              <a:gd name="connsiteY29" fmla="*/ 1128408 h 2052536"/>
              <a:gd name="connsiteX30" fmla="*/ 2446958 w 3857988"/>
              <a:gd name="connsiteY30" fmla="*/ 1147864 h 2052536"/>
              <a:gd name="connsiteX31" fmla="*/ 2417775 w 3857988"/>
              <a:gd name="connsiteY31" fmla="*/ 1157591 h 2052536"/>
              <a:gd name="connsiteX32" fmla="*/ 2369137 w 3857988"/>
              <a:gd name="connsiteY32" fmla="*/ 1167319 h 2052536"/>
              <a:gd name="connsiteX33" fmla="*/ 2330226 w 3857988"/>
              <a:gd name="connsiteY33" fmla="*/ 1177047 h 2052536"/>
              <a:gd name="connsiteX34" fmla="*/ 2184311 w 3857988"/>
              <a:gd name="connsiteY34" fmla="*/ 1167319 h 2052536"/>
              <a:gd name="connsiteX35" fmla="*/ 2096762 w 3857988"/>
              <a:gd name="connsiteY35" fmla="*/ 1118681 h 2052536"/>
              <a:gd name="connsiteX36" fmla="*/ 2048124 w 3857988"/>
              <a:gd name="connsiteY36" fmla="*/ 1070042 h 2052536"/>
              <a:gd name="connsiteX37" fmla="*/ 2018941 w 3857988"/>
              <a:gd name="connsiteY37" fmla="*/ 1050587 h 2052536"/>
              <a:gd name="connsiteX38" fmla="*/ 1960575 w 3857988"/>
              <a:gd name="connsiteY38" fmla="*/ 982493 h 2052536"/>
              <a:gd name="connsiteX39" fmla="*/ 1931392 w 3857988"/>
              <a:gd name="connsiteY39" fmla="*/ 972766 h 2052536"/>
              <a:gd name="connsiteX40" fmla="*/ 1882754 w 3857988"/>
              <a:gd name="connsiteY40" fmla="*/ 933855 h 2052536"/>
              <a:gd name="connsiteX41" fmla="*/ 1863298 w 3857988"/>
              <a:gd name="connsiteY41" fmla="*/ 914400 h 2052536"/>
              <a:gd name="connsiteX42" fmla="*/ 1804932 w 3857988"/>
              <a:gd name="connsiteY42" fmla="*/ 875489 h 2052536"/>
              <a:gd name="connsiteX43" fmla="*/ 1746567 w 3857988"/>
              <a:gd name="connsiteY43" fmla="*/ 836579 h 2052536"/>
              <a:gd name="connsiteX44" fmla="*/ 1697928 w 3857988"/>
              <a:gd name="connsiteY44" fmla="*/ 797668 h 2052536"/>
              <a:gd name="connsiteX45" fmla="*/ 1659018 w 3857988"/>
              <a:gd name="connsiteY45" fmla="*/ 778213 h 2052536"/>
              <a:gd name="connsiteX46" fmla="*/ 1600652 w 3857988"/>
              <a:gd name="connsiteY46" fmla="*/ 749030 h 2052536"/>
              <a:gd name="connsiteX47" fmla="*/ 1552013 w 3857988"/>
              <a:gd name="connsiteY47" fmla="*/ 710119 h 2052536"/>
              <a:gd name="connsiteX48" fmla="*/ 1522830 w 3857988"/>
              <a:gd name="connsiteY48" fmla="*/ 680936 h 2052536"/>
              <a:gd name="connsiteX49" fmla="*/ 1493647 w 3857988"/>
              <a:gd name="connsiteY49" fmla="*/ 661481 h 2052536"/>
              <a:gd name="connsiteX50" fmla="*/ 1474192 w 3857988"/>
              <a:gd name="connsiteY50" fmla="*/ 642025 h 2052536"/>
              <a:gd name="connsiteX51" fmla="*/ 1415826 w 3857988"/>
              <a:gd name="connsiteY51" fmla="*/ 603115 h 2052536"/>
              <a:gd name="connsiteX52" fmla="*/ 1357460 w 3857988"/>
              <a:gd name="connsiteY52" fmla="*/ 564204 h 2052536"/>
              <a:gd name="connsiteX53" fmla="*/ 1328277 w 3857988"/>
              <a:gd name="connsiteY53" fmla="*/ 544749 h 2052536"/>
              <a:gd name="connsiteX54" fmla="*/ 1250456 w 3857988"/>
              <a:gd name="connsiteY54" fmla="*/ 486383 h 2052536"/>
              <a:gd name="connsiteX55" fmla="*/ 1221273 w 3857988"/>
              <a:gd name="connsiteY55" fmla="*/ 466927 h 2052536"/>
              <a:gd name="connsiteX56" fmla="*/ 1162907 w 3857988"/>
              <a:gd name="connsiteY56" fmla="*/ 418289 h 2052536"/>
              <a:gd name="connsiteX57" fmla="*/ 1143452 w 3857988"/>
              <a:gd name="connsiteY57" fmla="*/ 389106 h 2052536"/>
              <a:gd name="connsiteX58" fmla="*/ 1055903 w 3857988"/>
              <a:gd name="connsiteY58" fmla="*/ 321013 h 2052536"/>
              <a:gd name="connsiteX59" fmla="*/ 1036447 w 3857988"/>
              <a:gd name="connsiteY59" fmla="*/ 291830 h 2052536"/>
              <a:gd name="connsiteX60" fmla="*/ 987809 w 3857988"/>
              <a:gd name="connsiteY60" fmla="*/ 243191 h 2052536"/>
              <a:gd name="connsiteX61" fmla="*/ 958626 w 3857988"/>
              <a:gd name="connsiteY61" fmla="*/ 214008 h 2052536"/>
              <a:gd name="connsiteX62" fmla="*/ 929443 w 3857988"/>
              <a:gd name="connsiteY62" fmla="*/ 194553 h 2052536"/>
              <a:gd name="connsiteX63" fmla="*/ 841894 w 3857988"/>
              <a:gd name="connsiteY63" fmla="*/ 126459 h 2052536"/>
              <a:gd name="connsiteX64" fmla="*/ 802984 w 3857988"/>
              <a:gd name="connsiteY64" fmla="*/ 116732 h 2052536"/>
              <a:gd name="connsiteX65" fmla="*/ 773801 w 3857988"/>
              <a:gd name="connsiteY65" fmla="*/ 97276 h 2052536"/>
              <a:gd name="connsiteX66" fmla="*/ 715435 w 3857988"/>
              <a:gd name="connsiteY66" fmla="*/ 77821 h 2052536"/>
              <a:gd name="connsiteX67" fmla="*/ 686252 w 3857988"/>
              <a:gd name="connsiteY67" fmla="*/ 68093 h 2052536"/>
              <a:gd name="connsiteX68" fmla="*/ 618158 w 3857988"/>
              <a:gd name="connsiteY68" fmla="*/ 58366 h 2052536"/>
              <a:gd name="connsiteX69" fmla="*/ 530609 w 3857988"/>
              <a:gd name="connsiteY69" fmla="*/ 29183 h 2052536"/>
              <a:gd name="connsiteX70" fmla="*/ 501426 w 3857988"/>
              <a:gd name="connsiteY70" fmla="*/ 19455 h 2052536"/>
              <a:gd name="connsiteX71" fmla="*/ 472243 w 3857988"/>
              <a:gd name="connsiteY71" fmla="*/ 0 h 2052536"/>
              <a:gd name="connsiteX72" fmla="*/ 374967 w 3857988"/>
              <a:gd name="connsiteY72" fmla="*/ 9727 h 2052536"/>
              <a:gd name="connsiteX73" fmla="*/ 355511 w 3857988"/>
              <a:gd name="connsiteY73" fmla="*/ 29183 h 2052536"/>
              <a:gd name="connsiteX74" fmla="*/ 297145 w 3857988"/>
              <a:gd name="connsiteY74" fmla="*/ 77821 h 2052536"/>
              <a:gd name="connsiteX75" fmla="*/ 277690 w 3857988"/>
              <a:gd name="connsiteY75" fmla="*/ 107004 h 2052536"/>
              <a:gd name="connsiteX76" fmla="*/ 229052 w 3857988"/>
              <a:gd name="connsiteY76" fmla="*/ 165370 h 2052536"/>
              <a:gd name="connsiteX77" fmla="*/ 209596 w 3857988"/>
              <a:gd name="connsiteY77" fmla="*/ 223736 h 2052536"/>
              <a:gd name="connsiteX78" fmla="*/ 190141 w 3857988"/>
              <a:gd name="connsiteY78" fmla="*/ 252919 h 2052536"/>
              <a:gd name="connsiteX79" fmla="*/ 170686 w 3857988"/>
              <a:gd name="connsiteY79" fmla="*/ 311285 h 2052536"/>
              <a:gd name="connsiteX80" fmla="*/ 160958 w 3857988"/>
              <a:gd name="connsiteY80" fmla="*/ 340468 h 2052536"/>
              <a:gd name="connsiteX81" fmla="*/ 141503 w 3857988"/>
              <a:gd name="connsiteY81" fmla="*/ 398834 h 2052536"/>
              <a:gd name="connsiteX82" fmla="*/ 131775 w 3857988"/>
              <a:gd name="connsiteY82" fmla="*/ 428017 h 2052536"/>
              <a:gd name="connsiteX83" fmla="*/ 112320 w 3857988"/>
              <a:gd name="connsiteY83" fmla="*/ 505838 h 2052536"/>
              <a:gd name="connsiteX84" fmla="*/ 102592 w 3857988"/>
              <a:gd name="connsiteY84" fmla="*/ 544749 h 2052536"/>
              <a:gd name="connsiteX85" fmla="*/ 83137 w 3857988"/>
              <a:gd name="connsiteY85" fmla="*/ 651753 h 2052536"/>
              <a:gd name="connsiteX86" fmla="*/ 73409 w 3857988"/>
              <a:gd name="connsiteY86" fmla="*/ 680936 h 2052536"/>
              <a:gd name="connsiteX87" fmla="*/ 44226 w 3857988"/>
              <a:gd name="connsiteY87" fmla="*/ 846306 h 2052536"/>
              <a:gd name="connsiteX88" fmla="*/ 34498 w 3857988"/>
              <a:gd name="connsiteY88" fmla="*/ 894944 h 2052536"/>
              <a:gd name="connsiteX89" fmla="*/ 15043 w 3857988"/>
              <a:gd name="connsiteY89" fmla="*/ 972766 h 2052536"/>
              <a:gd name="connsiteX90" fmla="*/ 15043 w 3857988"/>
              <a:gd name="connsiteY90" fmla="*/ 1663430 h 2052536"/>
              <a:gd name="connsiteX91" fmla="*/ 34498 w 3857988"/>
              <a:gd name="connsiteY91" fmla="*/ 1721796 h 2052536"/>
              <a:gd name="connsiteX92" fmla="*/ 63681 w 3857988"/>
              <a:gd name="connsiteY92" fmla="*/ 1780161 h 2052536"/>
              <a:gd name="connsiteX93" fmla="*/ 112320 w 3857988"/>
              <a:gd name="connsiteY93" fmla="*/ 1828800 h 2052536"/>
              <a:gd name="connsiteX94" fmla="*/ 160958 w 3857988"/>
              <a:gd name="connsiteY94" fmla="*/ 1877438 h 2052536"/>
              <a:gd name="connsiteX95" fmla="*/ 180413 w 3857988"/>
              <a:gd name="connsiteY95" fmla="*/ 1906621 h 2052536"/>
              <a:gd name="connsiteX96" fmla="*/ 277690 w 3857988"/>
              <a:gd name="connsiteY96" fmla="*/ 1984442 h 2052536"/>
              <a:gd name="connsiteX97" fmla="*/ 336056 w 3857988"/>
              <a:gd name="connsiteY97" fmla="*/ 2003898 h 2052536"/>
              <a:gd name="connsiteX98" fmla="*/ 365239 w 3857988"/>
              <a:gd name="connsiteY98" fmla="*/ 2013625 h 2052536"/>
              <a:gd name="connsiteX99" fmla="*/ 423605 w 3857988"/>
              <a:gd name="connsiteY99" fmla="*/ 2023353 h 2052536"/>
              <a:gd name="connsiteX100" fmla="*/ 579247 w 3857988"/>
              <a:gd name="connsiteY100" fmla="*/ 2052536 h 2052536"/>
              <a:gd name="connsiteX101" fmla="*/ 715435 w 3857988"/>
              <a:gd name="connsiteY101" fmla="*/ 2042808 h 2052536"/>
              <a:gd name="connsiteX102" fmla="*/ 744618 w 3857988"/>
              <a:gd name="connsiteY102" fmla="*/ 2023353 h 2052536"/>
              <a:gd name="connsiteX103" fmla="*/ 773801 w 3857988"/>
              <a:gd name="connsiteY103" fmla="*/ 2013625 h 2052536"/>
              <a:gd name="connsiteX104" fmla="*/ 832167 w 3857988"/>
              <a:gd name="connsiteY104" fmla="*/ 1984442 h 2052536"/>
              <a:gd name="connsiteX105" fmla="*/ 890532 w 3857988"/>
              <a:gd name="connsiteY105" fmla="*/ 1935804 h 2052536"/>
              <a:gd name="connsiteX106" fmla="*/ 948898 w 3857988"/>
              <a:gd name="connsiteY106" fmla="*/ 1916349 h 2052536"/>
              <a:gd name="connsiteX107" fmla="*/ 978081 w 3857988"/>
              <a:gd name="connsiteY107" fmla="*/ 1906621 h 2052536"/>
              <a:gd name="connsiteX108" fmla="*/ 1036447 w 3857988"/>
              <a:gd name="connsiteY108" fmla="*/ 1887166 h 2052536"/>
              <a:gd name="connsiteX109" fmla="*/ 1075358 w 3857988"/>
              <a:gd name="connsiteY109" fmla="*/ 1877438 h 2052536"/>
              <a:gd name="connsiteX110" fmla="*/ 1192090 w 3857988"/>
              <a:gd name="connsiteY110" fmla="*/ 1857983 h 2052536"/>
              <a:gd name="connsiteX111" fmla="*/ 1328277 w 3857988"/>
              <a:gd name="connsiteY111" fmla="*/ 1848255 h 2052536"/>
              <a:gd name="connsiteX112" fmla="*/ 1454737 w 3857988"/>
              <a:gd name="connsiteY112" fmla="*/ 1828800 h 2052536"/>
              <a:gd name="connsiteX113" fmla="*/ 1542286 w 3857988"/>
              <a:gd name="connsiteY113" fmla="*/ 1819072 h 2052536"/>
              <a:gd name="connsiteX114" fmla="*/ 1590924 w 3857988"/>
              <a:gd name="connsiteY114" fmla="*/ 1809344 h 2052536"/>
              <a:gd name="connsiteX115" fmla="*/ 1649290 w 3857988"/>
              <a:gd name="connsiteY115" fmla="*/ 1799617 h 2052536"/>
              <a:gd name="connsiteX116" fmla="*/ 2223222 w 3857988"/>
              <a:gd name="connsiteY116" fmla="*/ 1799617 h 2052536"/>
              <a:gd name="connsiteX117" fmla="*/ 2330226 w 3857988"/>
              <a:gd name="connsiteY117" fmla="*/ 1770434 h 2052536"/>
              <a:gd name="connsiteX118" fmla="*/ 2359409 w 3857988"/>
              <a:gd name="connsiteY118" fmla="*/ 1760706 h 2052536"/>
              <a:gd name="connsiteX119" fmla="*/ 2388592 w 3857988"/>
              <a:gd name="connsiteY119" fmla="*/ 1750979 h 2052536"/>
              <a:gd name="connsiteX120" fmla="*/ 2476141 w 3857988"/>
              <a:gd name="connsiteY120" fmla="*/ 1712068 h 2052536"/>
              <a:gd name="connsiteX121" fmla="*/ 2505324 w 3857988"/>
              <a:gd name="connsiteY121" fmla="*/ 1702340 h 2052536"/>
              <a:gd name="connsiteX122" fmla="*/ 2534507 w 3857988"/>
              <a:gd name="connsiteY122" fmla="*/ 1692613 h 2052536"/>
              <a:gd name="connsiteX123" fmla="*/ 2583145 w 3857988"/>
              <a:gd name="connsiteY123" fmla="*/ 1663430 h 2052536"/>
              <a:gd name="connsiteX124" fmla="*/ 2602601 w 3857988"/>
              <a:gd name="connsiteY124" fmla="*/ 1643974 h 2052536"/>
              <a:gd name="connsiteX125" fmla="*/ 2660967 w 3857988"/>
              <a:gd name="connsiteY125" fmla="*/ 1624519 h 2052536"/>
              <a:gd name="connsiteX126" fmla="*/ 2748515 w 3857988"/>
              <a:gd name="connsiteY126" fmla="*/ 1595336 h 2052536"/>
              <a:gd name="connsiteX127" fmla="*/ 2836064 w 3857988"/>
              <a:gd name="connsiteY127" fmla="*/ 1566153 h 2052536"/>
              <a:gd name="connsiteX128" fmla="*/ 2865247 w 3857988"/>
              <a:gd name="connsiteY128" fmla="*/ 1556425 h 2052536"/>
              <a:gd name="connsiteX129" fmla="*/ 2894430 w 3857988"/>
              <a:gd name="connsiteY129" fmla="*/ 1536970 h 2052536"/>
              <a:gd name="connsiteX130" fmla="*/ 2991707 w 3857988"/>
              <a:gd name="connsiteY130" fmla="*/ 1517515 h 2052536"/>
              <a:gd name="connsiteX131" fmla="*/ 3244626 w 3857988"/>
              <a:gd name="connsiteY131" fmla="*/ 1488332 h 2052536"/>
              <a:gd name="connsiteX132" fmla="*/ 3653188 w 3857988"/>
              <a:gd name="connsiteY132" fmla="*/ 1478604 h 2052536"/>
              <a:gd name="connsiteX133" fmla="*/ 3711554 w 3857988"/>
              <a:gd name="connsiteY133" fmla="*/ 1459149 h 2052536"/>
              <a:gd name="connsiteX134" fmla="*/ 3760192 w 3857988"/>
              <a:gd name="connsiteY134" fmla="*/ 1429966 h 2052536"/>
              <a:gd name="connsiteX135" fmla="*/ 3799103 w 3857988"/>
              <a:gd name="connsiteY135" fmla="*/ 1381327 h 2052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857988" h="2052536">
                <a:moveTo>
                  <a:pt x="3799103" y="1381327"/>
                </a:moveTo>
                <a:cubicBezTo>
                  <a:pt x="3803967" y="1361872"/>
                  <a:pt x="3787299" y="1336068"/>
                  <a:pt x="3789375" y="1313234"/>
                </a:cubicBezTo>
                <a:cubicBezTo>
                  <a:pt x="3790688" y="1298792"/>
                  <a:pt x="3803444" y="1287787"/>
                  <a:pt x="3808830" y="1274323"/>
                </a:cubicBezTo>
                <a:cubicBezTo>
                  <a:pt x="3816446" y="1255282"/>
                  <a:pt x="3821801" y="1235412"/>
                  <a:pt x="3828286" y="1215957"/>
                </a:cubicBezTo>
                <a:lnTo>
                  <a:pt x="3838013" y="1186774"/>
                </a:lnTo>
                <a:lnTo>
                  <a:pt x="3847741" y="1157591"/>
                </a:lnTo>
                <a:cubicBezTo>
                  <a:pt x="3858431" y="1082766"/>
                  <a:pt x="3864088" y="1083682"/>
                  <a:pt x="3847741" y="1001949"/>
                </a:cubicBezTo>
                <a:cubicBezTo>
                  <a:pt x="3843719" y="981840"/>
                  <a:pt x="3839662" y="960646"/>
                  <a:pt x="3828286" y="943583"/>
                </a:cubicBezTo>
                <a:cubicBezTo>
                  <a:pt x="3768393" y="853747"/>
                  <a:pt x="3844827" y="964261"/>
                  <a:pt x="3789375" y="894944"/>
                </a:cubicBezTo>
                <a:cubicBezTo>
                  <a:pt x="3777139" y="879648"/>
                  <a:pt x="3768533" y="857147"/>
                  <a:pt x="3750464" y="846306"/>
                </a:cubicBezTo>
                <a:cubicBezTo>
                  <a:pt x="3741671" y="841031"/>
                  <a:pt x="3731009" y="839821"/>
                  <a:pt x="3721281" y="836579"/>
                </a:cubicBezTo>
                <a:cubicBezTo>
                  <a:pt x="3685292" y="800588"/>
                  <a:pt x="3709459" y="822213"/>
                  <a:pt x="3643460" y="778213"/>
                </a:cubicBezTo>
                <a:cubicBezTo>
                  <a:pt x="3605743" y="753068"/>
                  <a:pt x="3625371" y="762455"/>
                  <a:pt x="3585094" y="749030"/>
                </a:cubicBezTo>
                <a:cubicBezTo>
                  <a:pt x="3578609" y="742545"/>
                  <a:pt x="3573842" y="733676"/>
                  <a:pt x="3565639" y="729574"/>
                </a:cubicBezTo>
                <a:cubicBezTo>
                  <a:pt x="3510920" y="702214"/>
                  <a:pt x="3461989" y="706002"/>
                  <a:pt x="3400269" y="700391"/>
                </a:cubicBezTo>
                <a:cubicBezTo>
                  <a:pt x="3317122" y="706787"/>
                  <a:pt x="3296912" y="701243"/>
                  <a:pt x="3234898" y="719847"/>
                </a:cubicBezTo>
                <a:cubicBezTo>
                  <a:pt x="3215255" y="725740"/>
                  <a:pt x="3193595" y="727926"/>
                  <a:pt x="3176532" y="739302"/>
                </a:cubicBezTo>
                <a:cubicBezTo>
                  <a:pt x="3157077" y="752272"/>
                  <a:pt x="3134701" y="761680"/>
                  <a:pt x="3118167" y="778213"/>
                </a:cubicBezTo>
                <a:cubicBezTo>
                  <a:pt x="3111682" y="784698"/>
                  <a:pt x="3106575" y="792949"/>
                  <a:pt x="3098711" y="797668"/>
                </a:cubicBezTo>
                <a:cubicBezTo>
                  <a:pt x="3089918" y="802944"/>
                  <a:pt x="3079256" y="804153"/>
                  <a:pt x="3069528" y="807396"/>
                </a:cubicBezTo>
                <a:cubicBezTo>
                  <a:pt x="3059800" y="817124"/>
                  <a:pt x="3051204" y="828133"/>
                  <a:pt x="3040345" y="836579"/>
                </a:cubicBezTo>
                <a:cubicBezTo>
                  <a:pt x="3021888" y="850934"/>
                  <a:pt x="3001434" y="862519"/>
                  <a:pt x="2981979" y="875489"/>
                </a:cubicBezTo>
                <a:cubicBezTo>
                  <a:pt x="2972251" y="881974"/>
                  <a:pt x="2961063" y="886677"/>
                  <a:pt x="2952796" y="894944"/>
                </a:cubicBezTo>
                <a:cubicBezTo>
                  <a:pt x="2926091" y="921651"/>
                  <a:pt x="2942042" y="911500"/>
                  <a:pt x="2904158" y="924127"/>
                </a:cubicBezTo>
                <a:cubicBezTo>
                  <a:pt x="2857996" y="970289"/>
                  <a:pt x="2882648" y="957237"/>
                  <a:pt x="2836064" y="972766"/>
                </a:cubicBezTo>
                <a:cubicBezTo>
                  <a:pt x="2810883" y="997947"/>
                  <a:pt x="2783423" y="1029223"/>
                  <a:pt x="2748515" y="1040859"/>
                </a:cubicBezTo>
                <a:cubicBezTo>
                  <a:pt x="2738787" y="1044102"/>
                  <a:pt x="2728295" y="1045607"/>
                  <a:pt x="2719332" y="1050587"/>
                </a:cubicBezTo>
                <a:cubicBezTo>
                  <a:pt x="2698892" y="1061943"/>
                  <a:pt x="2683149" y="1082104"/>
                  <a:pt x="2660967" y="1089498"/>
                </a:cubicBezTo>
                <a:cubicBezTo>
                  <a:pt x="2606420" y="1107679"/>
                  <a:pt x="2641725" y="1096740"/>
                  <a:pt x="2553962" y="1118681"/>
                </a:cubicBezTo>
                <a:cubicBezTo>
                  <a:pt x="2540992" y="1121923"/>
                  <a:pt x="2527735" y="1124180"/>
                  <a:pt x="2515052" y="1128408"/>
                </a:cubicBezTo>
                <a:cubicBezTo>
                  <a:pt x="2445102" y="1151726"/>
                  <a:pt x="2532434" y="1123443"/>
                  <a:pt x="2446958" y="1147864"/>
                </a:cubicBezTo>
                <a:cubicBezTo>
                  <a:pt x="2437099" y="1150681"/>
                  <a:pt x="2427723" y="1155104"/>
                  <a:pt x="2417775" y="1157591"/>
                </a:cubicBezTo>
                <a:cubicBezTo>
                  <a:pt x="2401735" y="1161601"/>
                  <a:pt x="2385277" y="1163732"/>
                  <a:pt x="2369137" y="1167319"/>
                </a:cubicBezTo>
                <a:cubicBezTo>
                  <a:pt x="2356086" y="1170219"/>
                  <a:pt x="2343196" y="1173804"/>
                  <a:pt x="2330226" y="1177047"/>
                </a:cubicBezTo>
                <a:cubicBezTo>
                  <a:pt x="2281588" y="1173804"/>
                  <a:pt x="2232759" y="1172702"/>
                  <a:pt x="2184311" y="1167319"/>
                </a:cubicBezTo>
                <a:cubicBezTo>
                  <a:pt x="2156789" y="1164261"/>
                  <a:pt x="2109288" y="1131208"/>
                  <a:pt x="2096762" y="1118681"/>
                </a:cubicBezTo>
                <a:cubicBezTo>
                  <a:pt x="2080549" y="1102468"/>
                  <a:pt x="2067202" y="1082760"/>
                  <a:pt x="2048124" y="1070042"/>
                </a:cubicBezTo>
                <a:lnTo>
                  <a:pt x="2018941" y="1050587"/>
                </a:lnTo>
                <a:cubicBezTo>
                  <a:pt x="2006494" y="1031916"/>
                  <a:pt x="1980794" y="989232"/>
                  <a:pt x="1960575" y="982493"/>
                </a:cubicBezTo>
                <a:lnTo>
                  <a:pt x="1931392" y="972766"/>
                </a:lnTo>
                <a:cubicBezTo>
                  <a:pt x="1884426" y="925798"/>
                  <a:pt x="1944099" y="982930"/>
                  <a:pt x="1882754" y="933855"/>
                </a:cubicBezTo>
                <a:cubicBezTo>
                  <a:pt x="1875592" y="928126"/>
                  <a:pt x="1870635" y="919903"/>
                  <a:pt x="1863298" y="914400"/>
                </a:cubicBezTo>
                <a:cubicBezTo>
                  <a:pt x="1844592" y="900371"/>
                  <a:pt x="1821466" y="892023"/>
                  <a:pt x="1804932" y="875489"/>
                </a:cubicBezTo>
                <a:cubicBezTo>
                  <a:pt x="1768499" y="839056"/>
                  <a:pt x="1788800" y="850656"/>
                  <a:pt x="1746567" y="836579"/>
                </a:cubicBezTo>
                <a:cubicBezTo>
                  <a:pt x="1725261" y="815273"/>
                  <a:pt x="1726562" y="814030"/>
                  <a:pt x="1697928" y="797668"/>
                </a:cubicBezTo>
                <a:cubicBezTo>
                  <a:pt x="1685338" y="790474"/>
                  <a:pt x="1671608" y="785408"/>
                  <a:pt x="1659018" y="778213"/>
                </a:cubicBezTo>
                <a:cubicBezTo>
                  <a:pt x="1606218" y="748041"/>
                  <a:pt x="1654157" y="766864"/>
                  <a:pt x="1600652" y="749030"/>
                </a:cubicBezTo>
                <a:cubicBezTo>
                  <a:pt x="1544048" y="692426"/>
                  <a:pt x="1625642" y="771476"/>
                  <a:pt x="1552013" y="710119"/>
                </a:cubicBezTo>
                <a:cubicBezTo>
                  <a:pt x="1541445" y="701312"/>
                  <a:pt x="1533398" y="689743"/>
                  <a:pt x="1522830" y="680936"/>
                </a:cubicBezTo>
                <a:cubicBezTo>
                  <a:pt x="1513849" y="673452"/>
                  <a:pt x="1502776" y="668784"/>
                  <a:pt x="1493647" y="661481"/>
                </a:cubicBezTo>
                <a:cubicBezTo>
                  <a:pt x="1486485" y="655752"/>
                  <a:pt x="1481529" y="647528"/>
                  <a:pt x="1474192" y="642025"/>
                </a:cubicBezTo>
                <a:cubicBezTo>
                  <a:pt x="1455486" y="627996"/>
                  <a:pt x="1435281" y="616085"/>
                  <a:pt x="1415826" y="603115"/>
                </a:cubicBezTo>
                <a:lnTo>
                  <a:pt x="1357460" y="564204"/>
                </a:lnTo>
                <a:cubicBezTo>
                  <a:pt x="1347732" y="557719"/>
                  <a:pt x="1336544" y="553016"/>
                  <a:pt x="1328277" y="544749"/>
                </a:cubicBezTo>
                <a:cubicBezTo>
                  <a:pt x="1292288" y="508758"/>
                  <a:pt x="1316455" y="530383"/>
                  <a:pt x="1250456" y="486383"/>
                </a:cubicBezTo>
                <a:cubicBezTo>
                  <a:pt x="1240728" y="479898"/>
                  <a:pt x="1229540" y="475194"/>
                  <a:pt x="1221273" y="466927"/>
                </a:cubicBezTo>
                <a:cubicBezTo>
                  <a:pt x="1183823" y="429477"/>
                  <a:pt x="1203537" y="445375"/>
                  <a:pt x="1162907" y="418289"/>
                </a:cubicBezTo>
                <a:cubicBezTo>
                  <a:pt x="1156422" y="408561"/>
                  <a:pt x="1152250" y="396805"/>
                  <a:pt x="1143452" y="389106"/>
                </a:cubicBezTo>
                <a:cubicBezTo>
                  <a:pt x="1076700" y="330698"/>
                  <a:pt x="1099819" y="373712"/>
                  <a:pt x="1055903" y="321013"/>
                </a:cubicBezTo>
                <a:cubicBezTo>
                  <a:pt x="1048418" y="312032"/>
                  <a:pt x="1044146" y="300629"/>
                  <a:pt x="1036447" y="291830"/>
                </a:cubicBezTo>
                <a:cubicBezTo>
                  <a:pt x="1021349" y="274575"/>
                  <a:pt x="1004022" y="259404"/>
                  <a:pt x="987809" y="243191"/>
                </a:cubicBezTo>
                <a:cubicBezTo>
                  <a:pt x="978081" y="233463"/>
                  <a:pt x="970073" y="221639"/>
                  <a:pt x="958626" y="214008"/>
                </a:cubicBezTo>
                <a:cubicBezTo>
                  <a:pt x="948898" y="207523"/>
                  <a:pt x="938424" y="202037"/>
                  <a:pt x="929443" y="194553"/>
                </a:cubicBezTo>
                <a:cubicBezTo>
                  <a:pt x="900003" y="170020"/>
                  <a:pt x="884040" y="136995"/>
                  <a:pt x="841894" y="126459"/>
                </a:cubicBezTo>
                <a:lnTo>
                  <a:pt x="802984" y="116732"/>
                </a:lnTo>
                <a:cubicBezTo>
                  <a:pt x="793256" y="110247"/>
                  <a:pt x="784485" y="102024"/>
                  <a:pt x="773801" y="97276"/>
                </a:cubicBezTo>
                <a:cubicBezTo>
                  <a:pt x="755061" y="88947"/>
                  <a:pt x="734890" y="84306"/>
                  <a:pt x="715435" y="77821"/>
                </a:cubicBezTo>
                <a:cubicBezTo>
                  <a:pt x="705707" y="74578"/>
                  <a:pt x="696403" y="69543"/>
                  <a:pt x="686252" y="68093"/>
                </a:cubicBezTo>
                <a:lnTo>
                  <a:pt x="618158" y="58366"/>
                </a:lnTo>
                <a:lnTo>
                  <a:pt x="530609" y="29183"/>
                </a:lnTo>
                <a:cubicBezTo>
                  <a:pt x="520881" y="25940"/>
                  <a:pt x="509958" y="25143"/>
                  <a:pt x="501426" y="19455"/>
                </a:cubicBezTo>
                <a:lnTo>
                  <a:pt x="472243" y="0"/>
                </a:lnTo>
                <a:cubicBezTo>
                  <a:pt x="439818" y="3242"/>
                  <a:pt x="406581" y="1823"/>
                  <a:pt x="374967" y="9727"/>
                </a:cubicBezTo>
                <a:cubicBezTo>
                  <a:pt x="366069" y="11951"/>
                  <a:pt x="362673" y="23454"/>
                  <a:pt x="355511" y="29183"/>
                </a:cubicBezTo>
                <a:cubicBezTo>
                  <a:pt x="317251" y="59791"/>
                  <a:pt x="331806" y="36227"/>
                  <a:pt x="297145" y="77821"/>
                </a:cubicBezTo>
                <a:cubicBezTo>
                  <a:pt x="289661" y="86802"/>
                  <a:pt x="285174" y="98023"/>
                  <a:pt x="277690" y="107004"/>
                </a:cubicBezTo>
                <a:cubicBezTo>
                  <a:pt x="255871" y="133187"/>
                  <a:pt x="242854" y="134316"/>
                  <a:pt x="229052" y="165370"/>
                </a:cubicBezTo>
                <a:cubicBezTo>
                  <a:pt x="220723" y="184110"/>
                  <a:pt x="220972" y="206672"/>
                  <a:pt x="209596" y="223736"/>
                </a:cubicBezTo>
                <a:cubicBezTo>
                  <a:pt x="203111" y="233464"/>
                  <a:pt x="194889" y="242235"/>
                  <a:pt x="190141" y="252919"/>
                </a:cubicBezTo>
                <a:cubicBezTo>
                  <a:pt x="181812" y="271659"/>
                  <a:pt x="177171" y="291830"/>
                  <a:pt x="170686" y="311285"/>
                </a:cubicBezTo>
                <a:lnTo>
                  <a:pt x="160958" y="340468"/>
                </a:lnTo>
                <a:lnTo>
                  <a:pt x="141503" y="398834"/>
                </a:lnTo>
                <a:cubicBezTo>
                  <a:pt x="138260" y="408562"/>
                  <a:pt x="134262" y="418069"/>
                  <a:pt x="131775" y="428017"/>
                </a:cubicBezTo>
                <a:lnTo>
                  <a:pt x="112320" y="505838"/>
                </a:lnTo>
                <a:cubicBezTo>
                  <a:pt x="109077" y="518808"/>
                  <a:pt x="104790" y="531561"/>
                  <a:pt x="102592" y="544749"/>
                </a:cubicBezTo>
                <a:cubicBezTo>
                  <a:pt x="98258" y="570753"/>
                  <a:pt x="89932" y="624573"/>
                  <a:pt x="83137" y="651753"/>
                </a:cubicBezTo>
                <a:cubicBezTo>
                  <a:pt x="80650" y="661701"/>
                  <a:pt x="76652" y="671208"/>
                  <a:pt x="73409" y="680936"/>
                </a:cubicBezTo>
                <a:cubicBezTo>
                  <a:pt x="59005" y="781760"/>
                  <a:pt x="68177" y="726554"/>
                  <a:pt x="44226" y="846306"/>
                </a:cubicBezTo>
                <a:cubicBezTo>
                  <a:pt x="40983" y="862519"/>
                  <a:pt x="39726" y="879259"/>
                  <a:pt x="34498" y="894944"/>
                </a:cubicBezTo>
                <a:cubicBezTo>
                  <a:pt x="19543" y="939813"/>
                  <a:pt x="26782" y="914072"/>
                  <a:pt x="15043" y="972766"/>
                </a:cubicBezTo>
                <a:cubicBezTo>
                  <a:pt x="-3948" y="1257622"/>
                  <a:pt x="-6054" y="1227420"/>
                  <a:pt x="15043" y="1663430"/>
                </a:cubicBezTo>
                <a:cubicBezTo>
                  <a:pt x="16034" y="1683914"/>
                  <a:pt x="28013" y="1702341"/>
                  <a:pt x="34498" y="1721796"/>
                </a:cubicBezTo>
                <a:cubicBezTo>
                  <a:pt x="43682" y="1749347"/>
                  <a:pt x="43374" y="1756953"/>
                  <a:pt x="63681" y="1780161"/>
                </a:cubicBezTo>
                <a:cubicBezTo>
                  <a:pt x="78780" y="1797416"/>
                  <a:pt x="99602" y="1809722"/>
                  <a:pt x="112320" y="1828800"/>
                </a:cubicBezTo>
                <a:cubicBezTo>
                  <a:pt x="138260" y="1867711"/>
                  <a:pt x="122047" y="1851498"/>
                  <a:pt x="160958" y="1877438"/>
                </a:cubicBezTo>
                <a:cubicBezTo>
                  <a:pt x="167443" y="1887166"/>
                  <a:pt x="172805" y="1897744"/>
                  <a:pt x="180413" y="1906621"/>
                </a:cubicBezTo>
                <a:cubicBezTo>
                  <a:pt x="201666" y="1931416"/>
                  <a:pt x="247647" y="1974427"/>
                  <a:pt x="277690" y="1984442"/>
                </a:cubicBezTo>
                <a:lnTo>
                  <a:pt x="336056" y="2003898"/>
                </a:lnTo>
                <a:cubicBezTo>
                  <a:pt x="345784" y="2007141"/>
                  <a:pt x="355125" y="2011939"/>
                  <a:pt x="365239" y="2013625"/>
                </a:cubicBezTo>
                <a:cubicBezTo>
                  <a:pt x="384694" y="2016868"/>
                  <a:pt x="404319" y="2019220"/>
                  <a:pt x="423605" y="2023353"/>
                </a:cubicBezTo>
                <a:cubicBezTo>
                  <a:pt x="568058" y="2054307"/>
                  <a:pt x="434544" y="2034447"/>
                  <a:pt x="579247" y="2052536"/>
                </a:cubicBezTo>
                <a:cubicBezTo>
                  <a:pt x="624643" y="2049293"/>
                  <a:pt x="670616" y="2050717"/>
                  <a:pt x="715435" y="2042808"/>
                </a:cubicBezTo>
                <a:cubicBezTo>
                  <a:pt x="726948" y="2040776"/>
                  <a:pt x="734161" y="2028581"/>
                  <a:pt x="744618" y="2023353"/>
                </a:cubicBezTo>
                <a:cubicBezTo>
                  <a:pt x="753789" y="2018767"/>
                  <a:pt x="764630" y="2018211"/>
                  <a:pt x="773801" y="2013625"/>
                </a:cubicBezTo>
                <a:cubicBezTo>
                  <a:pt x="849231" y="1975910"/>
                  <a:pt x="758814" y="2008894"/>
                  <a:pt x="832167" y="1984442"/>
                </a:cubicBezTo>
                <a:cubicBezTo>
                  <a:pt x="850494" y="1966114"/>
                  <a:pt x="866153" y="1946639"/>
                  <a:pt x="890532" y="1935804"/>
                </a:cubicBezTo>
                <a:cubicBezTo>
                  <a:pt x="909272" y="1927475"/>
                  <a:pt x="929443" y="1922834"/>
                  <a:pt x="948898" y="1916349"/>
                </a:cubicBezTo>
                <a:lnTo>
                  <a:pt x="978081" y="1906621"/>
                </a:lnTo>
                <a:lnTo>
                  <a:pt x="1036447" y="1887166"/>
                </a:lnTo>
                <a:cubicBezTo>
                  <a:pt x="1049417" y="1883923"/>
                  <a:pt x="1062307" y="1880338"/>
                  <a:pt x="1075358" y="1877438"/>
                </a:cubicBezTo>
                <a:cubicBezTo>
                  <a:pt x="1111200" y="1869473"/>
                  <a:pt x="1156551" y="1861368"/>
                  <a:pt x="1192090" y="1857983"/>
                </a:cubicBezTo>
                <a:cubicBezTo>
                  <a:pt x="1237396" y="1853668"/>
                  <a:pt x="1282881" y="1851498"/>
                  <a:pt x="1328277" y="1848255"/>
                </a:cubicBezTo>
                <a:cubicBezTo>
                  <a:pt x="1376978" y="1840138"/>
                  <a:pt x="1404644" y="1835061"/>
                  <a:pt x="1454737" y="1828800"/>
                </a:cubicBezTo>
                <a:cubicBezTo>
                  <a:pt x="1483873" y="1825158"/>
                  <a:pt x="1513219" y="1823225"/>
                  <a:pt x="1542286" y="1819072"/>
                </a:cubicBezTo>
                <a:cubicBezTo>
                  <a:pt x="1558654" y="1816734"/>
                  <a:pt x="1574657" y="1812302"/>
                  <a:pt x="1590924" y="1809344"/>
                </a:cubicBezTo>
                <a:cubicBezTo>
                  <a:pt x="1610330" y="1805816"/>
                  <a:pt x="1629835" y="1802859"/>
                  <a:pt x="1649290" y="1799617"/>
                </a:cubicBezTo>
                <a:cubicBezTo>
                  <a:pt x="1930213" y="1808395"/>
                  <a:pt x="1956356" y="1816296"/>
                  <a:pt x="2223222" y="1799617"/>
                </a:cubicBezTo>
                <a:cubicBezTo>
                  <a:pt x="2257063" y="1797502"/>
                  <a:pt x="2299470" y="1780686"/>
                  <a:pt x="2330226" y="1770434"/>
                </a:cubicBezTo>
                <a:lnTo>
                  <a:pt x="2359409" y="1760706"/>
                </a:lnTo>
                <a:lnTo>
                  <a:pt x="2388592" y="1750979"/>
                </a:lnTo>
                <a:cubicBezTo>
                  <a:pt x="2434839" y="1720147"/>
                  <a:pt x="2406682" y="1735221"/>
                  <a:pt x="2476141" y="1712068"/>
                </a:cubicBezTo>
                <a:lnTo>
                  <a:pt x="2505324" y="1702340"/>
                </a:lnTo>
                <a:lnTo>
                  <a:pt x="2534507" y="1692613"/>
                </a:lnTo>
                <a:cubicBezTo>
                  <a:pt x="2583800" y="1643317"/>
                  <a:pt x="2520008" y="1701312"/>
                  <a:pt x="2583145" y="1663430"/>
                </a:cubicBezTo>
                <a:cubicBezTo>
                  <a:pt x="2591010" y="1658711"/>
                  <a:pt x="2594398" y="1648076"/>
                  <a:pt x="2602601" y="1643974"/>
                </a:cubicBezTo>
                <a:cubicBezTo>
                  <a:pt x="2620944" y="1634803"/>
                  <a:pt x="2641512" y="1631004"/>
                  <a:pt x="2660967" y="1624519"/>
                </a:cubicBezTo>
                <a:lnTo>
                  <a:pt x="2748515" y="1595336"/>
                </a:lnTo>
                <a:lnTo>
                  <a:pt x="2836064" y="1566153"/>
                </a:lnTo>
                <a:cubicBezTo>
                  <a:pt x="2845792" y="1562910"/>
                  <a:pt x="2856715" y="1562113"/>
                  <a:pt x="2865247" y="1556425"/>
                </a:cubicBezTo>
                <a:cubicBezTo>
                  <a:pt x="2874975" y="1549940"/>
                  <a:pt x="2883256" y="1540408"/>
                  <a:pt x="2894430" y="1536970"/>
                </a:cubicBezTo>
                <a:cubicBezTo>
                  <a:pt x="2926036" y="1527245"/>
                  <a:pt x="2959089" y="1522951"/>
                  <a:pt x="2991707" y="1517515"/>
                </a:cubicBezTo>
                <a:cubicBezTo>
                  <a:pt x="3111843" y="1497492"/>
                  <a:pt x="3116957" y="1492892"/>
                  <a:pt x="3244626" y="1488332"/>
                </a:cubicBezTo>
                <a:cubicBezTo>
                  <a:pt x="3380765" y="1483470"/>
                  <a:pt x="3517001" y="1481847"/>
                  <a:pt x="3653188" y="1478604"/>
                </a:cubicBezTo>
                <a:cubicBezTo>
                  <a:pt x="3672643" y="1472119"/>
                  <a:pt x="3697053" y="1473650"/>
                  <a:pt x="3711554" y="1459149"/>
                </a:cubicBezTo>
                <a:cubicBezTo>
                  <a:pt x="3738259" y="1432442"/>
                  <a:pt x="3722308" y="1442593"/>
                  <a:pt x="3760192" y="1429966"/>
                </a:cubicBezTo>
                <a:cubicBezTo>
                  <a:pt x="3788818" y="1401339"/>
                  <a:pt x="3794239" y="1400782"/>
                  <a:pt x="3799103" y="1381327"/>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55</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C, E</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4251576891"/>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sym typeface="Symbol"/>
                        </a:rPr>
                        <a:t> 3</a:t>
                      </a:r>
                      <a:endParaRPr kumimoji="0" lang="en-US" sz="1600" b="1" i="0" u="none" strike="noStrike" cap="none" normalizeH="0" baseline="0" dirty="0">
                        <a:ln>
                          <a:noFill/>
                        </a:ln>
                        <a:solidFill>
                          <a:srgbClr val="FF0000"/>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1" dirty="0">
                          <a:solidFill>
                            <a:srgbClr val="FF0000"/>
                          </a:solidFill>
                          <a:latin typeface="Calibri" panose="020F0502020204030204" pitchFamily="34" charset="0"/>
                          <a:cs typeface="Calibri" panose="020F0502020204030204" pitchFamily="34" charset="0"/>
                        </a:rPr>
                        <a:t>E</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6</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bg1">
                  <a:lumMod val="65000"/>
                </a:schemeClr>
              </a:solidFill>
              <a:prstDash val="dash"/>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tx1"/>
              </a:solidFill>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bg1">
                  <a:lumMod val="65000"/>
                </a:schemeClr>
              </a:solidFill>
              <a:prstDash val="dash"/>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3??</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bg1">
                  <a:lumMod val="65000"/>
                </a:schemeClr>
              </a:solidFill>
              <a:prstDash val="dash"/>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bg1">
                  <a:lumMod val="65000"/>
                </a:schemeClr>
              </a:solidFill>
              <a:prstDash val="dash"/>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bg1">
                  <a:lumMod val="65000"/>
                </a:schemeClr>
              </a:solidFill>
              <a:prstDash val="dash"/>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bg1">
                  <a:lumMod val="65000"/>
                </a:schemeClr>
              </a:solidFill>
              <a:prstDash val="dash"/>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bg1">
                  <a:lumMod val="65000"/>
                </a:schemeClr>
              </a:solidFill>
              <a:prstDash val="dash"/>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bg1">
                  <a:lumMod val="65000"/>
                </a:schemeClr>
              </a:solidFill>
              <a:prstDash val="dash"/>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bg1">
                  <a:lumMod val="65000"/>
                </a:schemeClr>
              </a:solidFill>
              <a:prstDash val="dash"/>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tx1"/>
              </a:solidFill>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tx1"/>
              </a:solidFill>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818AAF82-852B-0E41-93D7-B036BD543E7F}"/>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94533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53A963D6-93FF-1B4A-9536-145AFDEDFF15}"/>
              </a:ext>
            </a:extLst>
          </p:cNvPr>
          <p:cNvSpPr/>
          <p:nvPr/>
        </p:nvSpPr>
        <p:spPr>
          <a:xfrm>
            <a:off x="2091447" y="1099226"/>
            <a:ext cx="3871608" cy="2081719"/>
          </a:xfrm>
          <a:custGeom>
            <a:avLst/>
            <a:gdLst>
              <a:gd name="connsiteX0" fmla="*/ 3161489 w 3871608"/>
              <a:gd name="connsiteY0" fmla="*/ 282102 h 2081719"/>
              <a:gd name="connsiteX1" fmla="*/ 3093396 w 3871608"/>
              <a:gd name="connsiteY1" fmla="*/ 252919 h 2081719"/>
              <a:gd name="connsiteX2" fmla="*/ 3044757 w 3871608"/>
              <a:gd name="connsiteY2" fmla="*/ 223736 h 2081719"/>
              <a:gd name="connsiteX3" fmla="*/ 2996119 w 3871608"/>
              <a:gd name="connsiteY3" fmla="*/ 184825 h 2081719"/>
              <a:gd name="connsiteX4" fmla="*/ 2928025 w 3871608"/>
              <a:gd name="connsiteY4" fmla="*/ 165370 h 2081719"/>
              <a:gd name="connsiteX5" fmla="*/ 2869659 w 3871608"/>
              <a:gd name="connsiteY5" fmla="*/ 145914 h 2081719"/>
              <a:gd name="connsiteX6" fmla="*/ 2840476 w 3871608"/>
              <a:gd name="connsiteY6" fmla="*/ 126459 h 2081719"/>
              <a:gd name="connsiteX7" fmla="*/ 2782110 w 3871608"/>
              <a:gd name="connsiteY7" fmla="*/ 107004 h 2081719"/>
              <a:gd name="connsiteX8" fmla="*/ 2752927 w 3871608"/>
              <a:gd name="connsiteY8" fmla="*/ 97276 h 2081719"/>
              <a:gd name="connsiteX9" fmla="*/ 2723744 w 3871608"/>
              <a:gd name="connsiteY9" fmla="*/ 87548 h 2081719"/>
              <a:gd name="connsiteX10" fmla="*/ 2645923 w 3871608"/>
              <a:gd name="connsiteY10" fmla="*/ 68093 h 2081719"/>
              <a:gd name="connsiteX11" fmla="*/ 2568102 w 3871608"/>
              <a:gd name="connsiteY11" fmla="*/ 48638 h 2081719"/>
              <a:gd name="connsiteX12" fmla="*/ 2538919 w 3871608"/>
              <a:gd name="connsiteY12" fmla="*/ 38910 h 2081719"/>
              <a:gd name="connsiteX13" fmla="*/ 2422187 w 3871608"/>
              <a:gd name="connsiteY13" fmla="*/ 19455 h 2081719"/>
              <a:gd name="connsiteX14" fmla="*/ 2227634 w 3871608"/>
              <a:gd name="connsiteY14" fmla="*/ 0 h 2081719"/>
              <a:gd name="connsiteX15" fmla="*/ 1634247 w 3871608"/>
              <a:gd name="connsiteY15" fmla="*/ 9727 h 2081719"/>
              <a:gd name="connsiteX16" fmla="*/ 1585608 w 3871608"/>
              <a:gd name="connsiteY16" fmla="*/ 19455 h 2081719"/>
              <a:gd name="connsiteX17" fmla="*/ 1507787 w 3871608"/>
              <a:gd name="connsiteY17" fmla="*/ 29183 h 2081719"/>
              <a:gd name="connsiteX18" fmla="*/ 1459149 w 3871608"/>
              <a:gd name="connsiteY18" fmla="*/ 38910 h 2081719"/>
              <a:gd name="connsiteX19" fmla="*/ 1293779 w 3871608"/>
              <a:gd name="connsiteY19" fmla="*/ 68093 h 2081719"/>
              <a:gd name="connsiteX20" fmla="*/ 1264596 w 3871608"/>
              <a:gd name="connsiteY20" fmla="*/ 77821 h 2081719"/>
              <a:gd name="connsiteX21" fmla="*/ 1215957 w 3871608"/>
              <a:gd name="connsiteY21" fmla="*/ 87548 h 2081719"/>
              <a:gd name="connsiteX22" fmla="*/ 1147864 w 3871608"/>
              <a:gd name="connsiteY22" fmla="*/ 107004 h 2081719"/>
              <a:gd name="connsiteX23" fmla="*/ 1070042 w 3871608"/>
              <a:gd name="connsiteY23" fmla="*/ 126459 h 2081719"/>
              <a:gd name="connsiteX24" fmla="*/ 992221 w 3871608"/>
              <a:gd name="connsiteY24" fmla="*/ 145914 h 2081719"/>
              <a:gd name="connsiteX25" fmla="*/ 875489 w 3871608"/>
              <a:gd name="connsiteY25" fmla="*/ 184825 h 2081719"/>
              <a:gd name="connsiteX26" fmla="*/ 817123 w 3871608"/>
              <a:gd name="connsiteY26" fmla="*/ 204280 h 2081719"/>
              <a:gd name="connsiteX27" fmla="*/ 447472 w 3871608"/>
              <a:gd name="connsiteY27" fmla="*/ 214008 h 2081719"/>
              <a:gd name="connsiteX28" fmla="*/ 379379 w 3871608"/>
              <a:gd name="connsiteY28" fmla="*/ 233463 h 2081719"/>
              <a:gd name="connsiteX29" fmla="*/ 330740 w 3871608"/>
              <a:gd name="connsiteY29" fmla="*/ 272374 h 2081719"/>
              <a:gd name="connsiteX30" fmla="*/ 282102 w 3871608"/>
              <a:gd name="connsiteY30" fmla="*/ 311285 h 2081719"/>
              <a:gd name="connsiteX31" fmla="*/ 252919 w 3871608"/>
              <a:gd name="connsiteY31" fmla="*/ 350195 h 2081719"/>
              <a:gd name="connsiteX32" fmla="*/ 214008 w 3871608"/>
              <a:gd name="connsiteY32" fmla="*/ 408561 h 2081719"/>
              <a:gd name="connsiteX33" fmla="*/ 194553 w 3871608"/>
              <a:gd name="connsiteY33" fmla="*/ 428017 h 2081719"/>
              <a:gd name="connsiteX34" fmla="*/ 155642 w 3871608"/>
              <a:gd name="connsiteY34" fmla="*/ 505838 h 2081719"/>
              <a:gd name="connsiteX35" fmla="*/ 126459 w 3871608"/>
              <a:gd name="connsiteY35" fmla="*/ 583659 h 2081719"/>
              <a:gd name="connsiteX36" fmla="*/ 116732 w 3871608"/>
              <a:gd name="connsiteY36" fmla="*/ 612842 h 2081719"/>
              <a:gd name="connsiteX37" fmla="*/ 97276 w 3871608"/>
              <a:gd name="connsiteY37" fmla="*/ 661480 h 2081719"/>
              <a:gd name="connsiteX38" fmla="*/ 77821 w 3871608"/>
              <a:gd name="connsiteY38" fmla="*/ 768485 h 2081719"/>
              <a:gd name="connsiteX39" fmla="*/ 68093 w 3871608"/>
              <a:gd name="connsiteY39" fmla="*/ 826851 h 2081719"/>
              <a:gd name="connsiteX40" fmla="*/ 48638 w 3871608"/>
              <a:gd name="connsiteY40" fmla="*/ 933855 h 2081719"/>
              <a:gd name="connsiteX41" fmla="*/ 29183 w 3871608"/>
              <a:gd name="connsiteY41" fmla="*/ 1089497 h 2081719"/>
              <a:gd name="connsiteX42" fmla="*/ 0 w 3871608"/>
              <a:gd name="connsiteY42" fmla="*/ 1313234 h 2081719"/>
              <a:gd name="connsiteX43" fmla="*/ 9727 w 3871608"/>
              <a:gd name="connsiteY43" fmla="*/ 1653702 h 2081719"/>
              <a:gd name="connsiteX44" fmla="*/ 38910 w 3871608"/>
              <a:gd name="connsiteY44" fmla="*/ 1760706 h 2081719"/>
              <a:gd name="connsiteX45" fmla="*/ 58366 w 3871608"/>
              <a:gd name="connsiteY45" fmla="*/ 1780161 h 2081719"/>
              <a:gd name="connsiteX46" fmla="*/ 68093 w 3871608"/>
              <a:gd name="connsiteY46" fmla="*/ 1809344 h 2081719"/>
              <a:gd name="connsiteX47" fmla="*/ 116732 w 3871608"/>
              <a:gd name="connsiteY47" fmla="*/ 1857983 h 2081719"/>
              <a:gd name="connsiteX48" fmla="*/ 204281 w 3871608"/>
              <a:gd name="connsiteY48" fmla="*/ 1926076 h 2081719"/>
              <a:gd name="connsiteX49" fmla="*/ 243191 w 3871608"/>
              <a:gd name="connsiteY49" fmla="*/ 1945531 h 2081719"/>
              <a:gd name="connsiteX50" fmla="*/ 262647 w 3871608"/>
              <a:gd name="connsiteY50" fmla="*/ 1964987 h 2081719"/>
              <a:gd name="connsiteX51" fmla="*/ 330740 w 3871608"/>
              <a:gd name="connsiteY51" fmla="*/ 1984442 h 2081719"/>
              <a:gd name="connsiteX52" fmla="*/ 389106 w 3871608"/>
              <a:gd name="connsiteY52" fmla="*/ 2023353 h 2081719"/>
              <a:gd name="connsiteX53" fmla="*/ 476655 w 3871608"/>
              <a:gd name="connsiteY53" fmla="*/ 2052536 h 2081719"/>
              <a:gd name="connsiteX54" fmla="*/ 505838 w 3871608"/>
              <a:gd name="connsiteY54" fmla="*/ 2062263 h 2081719"/>
              <a:gd name="connsiteX55" fmla="*/ 535021 w 3871608"/>
              <a:gd name="connsiteY55" fmla="*/ 2071991 h 2081719"/>
              <a:gd name="connsiteX56" fmla="*/ 573932 w 3871608"/>
              <a:gd name="connsiteY56" fmla="*/ 2081719 h 2081719"/>
              <a:gd name="connsiteX57" fmla="*/ 778213 w 3871608"/>
              <a:gd name="connsiteY57" fmla="*/ 2071991 h 2081719"/>
              <a:gd name="connsiteX58" fmla="*/ 807396 w 3871608"/>
              <a:gd name="connsiteY58" fmla="*/ 2062263 h 2081719"/>
              <a:gd name="connsiteX59" fmla="*/ 885217 w 3871608"/>
              <a:gd name="connsiteY59" fmla="*/ 2042808 h 2081719"/>
              <a:gd name="connsiteX60" fmla="*/ 1040859 w 3871608"/>
              <a:gd name="connsiteY60" fmla="*/ 2013625 h 2081719"/>
              <a:gd name="connsiteX61" fmla="*/ 1264596 w 3871608"/>
              <a:gd name="connsiteY61" fmla="*/ 1994170 h 2081719"/>
              <a:gd name="connsiteX62" fmla="*/ 1332689 w 3871608"/>
              <a:gd name="connsiteY62" fmla="*/ 1984442 h 2081719"/>
              <a:gd name="connsiteX63" fmla="*/ 1536970 w 3871608"/>
              <a:gd name="connsiteY63" fmla="*/ 1964987 h 2081719"/>
              <a:gd name="connsiteX64" fmla="*/ 2003898 w 3871608"/>
              <a:gd name="connsiteY64" fmla="*/ 1955259 h 2081719"/>
              <a:gd name="connsiteX65" fmla="*/ 2140085 w 3871608"/>
              <a:gd name="connsiteY65" fmla="*/ 1926076 h 2081719"/>
              <a:gd name="connsiteX66" fmla="*/ 2198451 w 3871608"/>
              <a:gd name="connsiteY66" fmla="*/ 1906621 h 2081719"/>
              <a:gd name="connsiteX67" fmla="*/ 2237362 w 3871608"/>
              <a:gd name="connsiteY67" fmla="*/ 1896893 h 2081719"/>
              <a:gd name="connsiteX68" fmla="*/ 2324910 w 3871608"/>
              <a:gd name="connsiteY68" fmla="*/ 1867710 h 2081719"/>
              <a:gd name="connsiteX69" fmla="*/ 2354093 w 3871608"/>
              <a:gd name="connsiteY69" fmla="*/ 1857983 h 2081719"/>
              <a:gd name="connsiteX70" fmla="*/ 2431915 w 3871608"/>
              <a:gd name="connsiteY70" fmla="*/ 1828800 h 2081719"/>
              <a:gd name="connsiteX71" fmla="*/ 2490281 w 3871608"/>
              <a:gd name="connsiteY71" fmla="*/ 1809344 h 2081719"/>
              <a:gd name="connsiteX72" fmla="*/ 2587557 w 3871608"/>
              <a:gd name="connsiteY72" fmla="*/ 1789889 h 2081719"/>
              <a:gd name="connsiteX73" fmla="*/ 2616740 w 3871608"/>
              <a:gd name="connsiteY73" fmla="*/ 1780161 h 2081719"/>
              <a:gd name="connsiteX74" fmla="*/ 2645923 w 3871608"/>
              <a:gd name="connsiteY74" fmla="*/ 1760706 h 2081719"/>
              <a:gd name="connsiteX75" fmla="*/ 2694562 w 3871608"/>
              <a:gd name="connsiteY75" fmla="*/ 1750978 h 2081719"/>
              <a:gd name="connsiteX76" fmla="*/ 2762655 w 3871608"/>
              <a:gd name="connsiteY76" fmla="*/ 1731523 h 2081719"/>
              <a:gd name="connsiteX77" fmla="*/ 2840476 w 3871608"/>
              <a:gd name="connsiteY77" fmla="*/ 1712068 h 2081719"/>
              <a:gd name="connsiteX78" fmla="*/ 2947481 w 3871608"/>
              <a:gd name="connsiteY78" fmla="*/ 1682885 h 2081719"/>
              <a:gd name="connsiteX79" fmla="*/ 2986391 w 3871608"/>
              <a:gd name="connsiteY79" fmla="*/ 1673157 h 2081719"/>
              <a:gd name="connsiteX80" fmla="*/ 3044757 w 3871608"/>
              <a:gd name="connsiteY80" fmla="*/ 1653702 h 2081719"/>
              <a:gd name="connsiteX81" fmla="*/ 3073940 w 3871608"/>
              <a:gd name="connsiteY81" fmla="*/ 1643974 h 2081719"/>
              <a:gd name="connsiteX82" fmla="*/ 3122579 w 3871608"/>
              <a:gd name="connsiteY82" fmla="*/ 1634246 h 2081719"/>
              <a:gd name="connsiteX83" fmla="*/ 3180944 w 3871608"/>
              <a:gd name="connsiteY83" fmla="*/ 1624519 h 2081719"/>
              <a:gd name="connsiteX84" fmla="*/ 3258766 w 3871608"/>
              <a:gd name="connsiteY84" fmla="*/ 1605063 h 2081719"/>
              <a:gd name="connsiteX85" fmla="*/ 3356042 w 3871608"/>
              <a:gd name="connsiteY85" fmla="*/ 1585608 h 2081719"/>
              <a:gd name="connsiteX86" fmla="*/ 3414408 w 3871608"/>
              <a:gd name="connsiteY86" fmla="*/ 1575880 h 2081719"/>
              <a:gd name="connsiteX87" fmla="*/ 3443591 w 3871608"/>
              <a:gd name="connsiteY87" fmla="*/ 1566153 h 2081719"/>
              <a:gd name="connsiteX88" fmla="*/ 3482502 w 3871608"/>
              <a:gd name="connsiteY88" fmla="*/ 1556425 h 2081719"/>
              <a:gd name="connsiteX89" fmla="*/ 3540868 w 3871608"/>
              <a:gd name="connsiteY89" fmla="*/ 1527242 h 2081719"/>
              <a:gd name="connsiteX90" fmla="*/ 3599234 w 3871608"/>
              <a:gd name="connsiteY90" fmla="*/ 1507787 h 2081719"/>
              <a:gd name="connsiteX91" fmla="*/ 3628417 w 3871608"/>
              <a:gd name="connsiteY91" fmla="*/ 1488331 h 2081719"/>
              <a:gd name="connsiteX92" fmla="*/ 3667327 w 3871608"/>
              <a:gd name="connsiteY92" fmla="*/ 1468876 h 2081719"/>
              <a:gd name="connsiteX93" fmla="*/ 3686783 w 3871608"/>
              <a:gd name="connsiteY93" fmla="*/ 1449421 h 2081719"/>
              <a:gd name="connsiteX94" fmla="*/ 3715966 w 3871608"/>
              <a:gd name="connsiteY94" fmla="*/ 1439693 h 2081719"/>
              <a:gd name="connsiteX95" fmla="*/ 3774332 w 3871608"/>
              <a:gd name="connsiteY95" fmla="*/ 1400783 h 2081719"/>
              <a:gd name="connsiteX96" fmla="*/ 3803515 w 3871608"/>
              <a:gd name="connsiteY96" fmla="*/ 1381327 h 2081719"/>
              <a:gd name="connsiteX97" fmla="*/ 3852153 w 3871608"/>
              <a:gd name="connsiteY97" fmla="*/ 1313234 h 2081719"/>
              <a:gd name="connsiteX98" fmla="*/ 3861881 w 3871608"/>
              <a:gd name="connsiteY98" fmla="*/ 1264595 h 2081719"/>
              <a:gd name="connsiteX99" fmla="*/ 3871608 w 3871608"/>
              <a:gd name="connsiteY99" fmla="*/ 1225685 h 2081719"/>
              <a:gd name="connsiteX100" fmla="*/ 3861881 w 3871608"/>
              <a:gd name="connsiteY100" fmla="*/ 1060314 h 2081719"/>
              <a:gd name="connsiteX101" fmla="*/ 3852153 w 3871608"/>
              <a:gd name="connsiteY101" fmla="*/ 1031131 h 2081719"/>
              <a:gd name="connsiteX102" fmla="*/ 3822970 w 3871608"/>
              <a:gd name="connsiteY102" fmla="*/ 924127 h 2081719"/>
              <a:gd name="connsiteX103" fmla="*/ 3803515 w 3871608"/>
              <a:gd name="connsiteY103" fmla="*/ 865761 h 2081719"/>
              <a:gd name="connsiteX104" fmla="*/ 3764604 w 3871608"/>
              <a:gd name="connsiteY104" fmla="*/ 787940 h 2081719"/>
              <a:gd name="connsiteX105" fmla="*/ 3745149 w 3871608"/>
              <a:gd name="connsiteY105" fmla="*/ 758757 h 2081719"/>
              <a:gd name="connsiteX106" fmla="*/ 3677055 w 3871608"/>
              <a:gd name="connsiteY106" fmla="*/ 651753 h 2081719"/>
              <a:gd name="connsiteX107" fmla="*/ 3647872 w 3871608"/>
              <a:gd name="connsiteY107" fmla="*/ 593387 h 2081719"/>
              <a:gd name="connsiteX108" fmla="*/ 3628417 w 3871608"/>
              <a:gd name="connsiteY108" fmla="*/ 573931 h 2081719"/>
              <a:gd name="connsiteX109" fmla="*/ 3608962 w 3871608"/>
              <a:gd name="connsiteY109" fmla="*/ 544748 h 2081719"/>
              <a:gd name="connsiteX110" fmla="*/ 3589506 w 3871608"/>
              <a:gd name="connsiteY110" fmla="*/ 525293 h 2081719"/>
              <a:gd name="connsiteX111" fmla="*/ 3550596 w 3871608"/>
              <a:gd name="connsiteY111" fmla="*/ 466927 h 2081719"/>
              <a:gd name="connsiteX112" fmla="*/ 3531140 w 3871608"/>
              <a:gd name="connsiteY112" fmla="*/ 437744 h 2081719"/>
              <a:gd name="connsiteX113" fmla="*/ 3501957 w 3871608"/>
              <a:gd name="connsiteY113" fmla="*/ 418289 h 2081719"/>
              <a:gd name="connsiteX114" fmla="*/ 3472774 w 3871608"/>
              <a:gd name="connsiteY114" fmla="*/ 389106 h 2081719"/>
              <a:gd name="connsiteX115" fmla="*/ 3443591 w 3871608"/>
              <a:gd name="connsiteY115" fmla="*/ 379378 h 2081719"/>
              <a:gd name="connsiteX116" fmla="*/ 3414408 w 3871608"/>
              <a:gd name="connsiteY116" fmla="*/ 359923 h 2081719"/>
              <a:gd name="connsiteX117" fmla="*/ 3385225 w 3871608"/>
              <a:gd name="connsiteY117" fmla="*/ 350195 h 2081719"/>
              <a:gd name="connsiteX118" fmla="*/ 3287949 w 3871608"/>
              <a:gd name="connsiteY118" fmla="*/ 311285 h 2081719"/>
              <a:gd name="connsiteX119" fmla="*/ 3258766 w 3871608"/>
              <a:gd name="connsiteY119" fmla="*/ 301557 h 2081719"/>
              <a:gd name="connsiteX120" fmla="*/ 3229583 w 3871608"/>
              <a:gd name="connsiteY120" fmla="*/ 291829 h 2081719"/>
              <a:gd name="connsiteX121" fmla="*/ 3161489 w 3871608"/>
              <a:gd name="connsiteY121" fmla="*/ 282102 h 208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871608" h="2081719">
                <a:moveTo>
                  <a:pt x="3161489" y="282102"/>
                </a:moveTo>
                <a:cubicBezTo>
                  <a:pt x="3138791" y="272374"/>
                  <a:pt x="3114983" y="264912"/>
                  <a:pt x="3093396" y="252919"/>
                </a:cubicBezTo>
                <a:cubicBezTo>
                  <a:pt x="3013285" y="208412"/>
                  <a:pt x="3142347" y="256264"/>
                  <a:pt x="3044757" y="223736"/>
                </a:cubicBezTo>
                <a:cubicBezTo>
                  <a:pt x="3026660" y="205638"/>
                  <a:pt x="3020664" y="197097"/>
                  <a:pt x="2996119" y="184825"/>
                </a:cubicBezTo>
                <a:cubicBezTo>
                  <a:pt x="2979767" y="176649"/>
                  <a:pt x="2943617" y="170048"/>
                  <a:pt x="2928025" y="165370"/>
                </a:cubicBezTo>
                <a:cubicBezTo>
                  <a:pt x="2908382" y="159477"/>
                  <a:pt x="2886723" y="157290"/>
                  <a:pt x="2869659" y="145914"/>
                </a:cubicBezTo>
                <a:cubicBezTo>
                  <a:pt x="2859931" y="139429"/>
                  <a:pt x="2851160" y="131207"/>
                  <a:pt x="2840476" y="126459"/>
                </a:cubicBezTo>
                <a:cubicBezTo>
                  <a:pt x="2821736" y="118130"/>
                  <a:pt x="2801565" y="113489"/>
                  <a:pt x="2782110" y="107004"/>
                </a:cubicBezTo>
                <a:lnTo>
                  <a:pt x="2752927" y="97276"/>
                </a:lnTo>
                <a:cubicBezTo>
                  <a:pt x="2743199" y="94033"/>
                  <a:pt x="2733692" y="90035"/>
                  <a:pt x="2723744" y="87548"/>
                </a:cubicBezTo>
                <a:cubicBezTo>
                  <a:pt x="2697804" y="81063"/>
                  <a:pt x="2671289" y="76549"/>
                  <a:pt x="2645923" y="68093"/>
                </a:cubicBezTo>
                <a:cubicBezTo>
                  <a:pt x="2579215" y="45856"/>
                  <a:pt x="2662011" y="72115"/>
                  <a:pt x="2568102" y="48638"/>
                </a:cubicBezTo>
                <a:cubicBezTo>
                  <a:pt x="2558154" y="46151"/>
                  <a:pt x="2548974" y="40921"/>
                  <a:pt x="2538919" y="38910"/>
                </a:cubicBezTo>
                <a:cubicBezTo>
                  <a:pt x="2500238" y="31174"/>
                  <a:pt x="2461498" y="22731"/>
                  <a:pt x="2422187" y="19455"/>
                </a:cubicBezTo>
                <a:cubicBezTo>
                  <a:pt x="2279403" y="7556"/>
                  <a:pt x="2344199" y="14570"/>
                  <a:pt x="2227634" y="0"/>
                </a:cubicBezTo>
                <a:lnTo>
                  <a:pt x="1634247" y="9727"/>
                </a:lnTo>
                <a:cubicBezTo>
                  <a:pt x="1617720" y="10228"/>
                  <a:pt x="1601950" y="16941"/>
                  <a:pt x="1585608" y="19455"/>
                </a:cubicBezTo>
                <a:cubicBezTo>
                  <a:pt x="1559770" y="23430"/>
                  <a:pt x="1533625" y="25208"/>
                  <a:pt x="1507787" y="29183"/>
                </a:cubicBezTo>
                <a:cubicBezTo>
                  <a:pt x="1491446" y="31697"/>
                  <a:pt x="1475431" y="36037"/>
                  <a:pt x="1459149" y="38910"/>
                </a:cubicBezTo>
                <a:cubicBezTo>
                  <a:pt x="1450019" y="40521"/>
                  <a:pt x="1329163" y="59247"/>
                  <a:pt x="1293779" y="68093"/>
                </a:cubicBezTo>
                <a:cubicBezTo>
                  <a:pt x="1283831" y="70580"/>
                  <a:pt x="1274544" y="75334"/>
                  <a:pt x="1264596" y="77821"/>
                </a:cubicBezTo>
                <a:cubicBezTo>
                  <a:pt x="1248556" y="81831"/>
                  <a:pt x="1231997" y="83538"/>
                  <a:pt x="1215957" y="87548"/>
                </a:cubicBezTo>
                <a:cubicBezTo>
                  <a:pt x="1085953" y="120048"/>
                  <a:pt x="1311638" y="70610"/>
                  <a:pt x="1147864" y="107004"/>
                </a:cubicBezTo>
                <a:cubicBezTo>
                  <a:pt x="976507" y="145083"/>
                  <a:pt x="1184781" y="95167"/>
                  <a:pt x="1070042" y="126459"/>
                </a:cubicBezTo>
                <a:cubicBezTo>
                  <a:pt x="1044246" y="133494"/>
                  <a:pt x="1017587" y="137458"/>
                  <a:pt x="992221" y="145914"/>
                </a:cubicBezTo>
                <a:lnTo>
                  <a:pt x="875489" y="184825"/>
                </a:lnTo>
                <a:cubicBezTo>
                  <a:pt x="875485" y="184826"/>
                  <a:pt x="817127" y="204280"/>
                  <a:pt x="817123" y="204280"/>
                </a:cubicBezTo>
                <a:lnTo>
                  <a:pt x="447472" y="214008"/>
                </a:lnTo>
                <a:cubicBezTo>
                  <a:pt x="435012" y="217123"/>
                  <a:pt x="393329" y="226488"/>
                  <a:pt x="379379" y="233463"/>
                </a:cubicBezTo>
                <a:cubicBezTo>
                  <a:pt x="339463" y="253421"/>
                  <a:pt x="360897" y="248249"/>
                  <a:pt x="330740" y="272374"/>
                </a:cubicBezTo>
                <a:cubicBezTo>
                  <a:pt x="299320" y="297509"/>
                  <a:pt x="305592" y="283097"/>
                  <a:pt x="282102" y="311285"/>
                </a:cubicBezTo>
                <a:cubicBezTo>
                  <a:pt x="271723" y="323740"/>
                  <a:pt x="262216" y="336913"/>
                  <a:pt x="252919" y="350195"/>
                </a:cubicBezTo>
                <a:cubicBezTo>
                  <a:pt x="239510" y="369351"/>
                  <a:pt x="230541" y="392027"/>
                  <a:pt x="214008" y="408561"/>
                </a:cubicBezTo>
                <a:cubicBezTo>
                  <a:pt x="207523" y="415046"/>
                  <a:pt x="199272" y="420153"/>
                  <a:pt x="194553" y="428017"/>
                </a:cubicBezTo>
                <a:cubicBezTo>
                  <a:pt x="179632" y="452886"/>
                  <a:pt x="155642" y="505838"/>
                  <a:pt x="155642" y="505838"/>
                </a:cubicBezTo>
                <a:cubicBezTo>
                  <a:pt x="137708" y="577578"/>
                  <a:pt x="156981" y="512440"/>
                  <a:pt x="126459" y="583659"/>
                </a:cubicBezTo>
                <a:cubicBezTo>
                  <a:pt x="122420" y="593084"/>
                  <a:pt x="120332" y="603241"/>
                  <a:pt x="116732" y="612842"/>
                </a:cubicBezTo>
                <a:cubicBezTo>
                  <a:pt x="110601" y="629192"/>
                  <a:pt x="103761" y="645267"/>
                  <a:pt x="97276" y="661480"/>
                </a:cubicBezTo>
                <a:cubicBezTo>
                  <a:pt x="68632" y="833356"/>
                  <a:pt x="104997" y="619023"/>
                  <a:pt x="77821" y="768485"/>
                </a:cubicBezTo>
                <a:cubicBezTo>
                  <a:pt x="74293" y="787891"/>
                  <a:pt x="71621" y="807445"/>
                  <a:pt x="68093" y="826851"/>
                </a:cubicBezTo>
                <a:cubicBezTo>
                  <a:pt x="58381" y="880267"/>
                  <a:pt x="56452" y="876553"/>
                  <a:pt x="48638" y="933855"/>
                </a:cubicBezTo>
                <a:cubicBezTo>
                  <a:pt x="41574" y="985660"/>
                  <a:pt x="36577" y="1037738"/>
                  <a:pt x="29183" y="1089497"/>
                </a:cubicBezTo>
                <a:cubicBezTo>
                  <a:pt x="5574" y="1254752"/>
                  <a:pt x="14791" y="1180109"/>
                  <a:pt x="0" y="1313234"/>
                </a:cubicBezTo>
                <a:cubicBezTo>
                  <a:pt x="3242" y="1426723"/>
                  <a:pt x="4057" y="1540308"/>
                  <a:pt x="9727" y="1653702"/>
                </a:cubicBezTo>
                <a:cubicBezTo>
                  <a:pt x="10527" y="1669697"/>
                  <a:pt x="30290" y="1752086"/>
                  <a:pt x="38910" y="1760706"/>
                </a:cubicBezTo>
                <a:lnTo>
                  <a:pt x="58366" y="1780161"/>
                </a:lnTo>
                <a:cubicBezTo>
                  <a:pt x="61608" y="1789889"/>
                  <a:pt x="61941" y="1801141"/>
                  <a:pt x="68093" y="1809344"/>
                </a:cubicBezTo>
                <a:cubicBezTo>
                  <a:pt x="81850" y="1827687"/>
                  <a:pt x="100519" y="1841770"/>
                  <a:pt x="116732" y="1857983"/>
                </a:cubicBezTo>
                <a:cubicBezTo>
                  <a:pt x="148755" y="1890006"/>
                  <a:pt x="157744" y="1902808"/>
                  <a:pt x="204281" y="1926076"/>
                </a:cubicBezTo>
                <a:cubicBezTo>
                  <a:pt x="217251" y="1932561"/>
                  <a:pt x="231126" y="1937487"/>
                  <a:pt x="243191" y="1945531"/>
                </a:cubicBezTo>
                <a:cubicBezTo>
                  <a:pt x="250822" y="1950619"/>
                  <a:pt x="254444" y="1960885"/>
                  <a:pt x="262647" y="1964987"/>
                </a:cubicBezTo>
                <a:cubicBezTo>
                  <a:pt x="313038" y="1990183"/>
                  <a:pt x="287698" y="1960529"/>
                  <a:pt x="330740" y="1984442"/>
                </a:cubicBezTo>
                <a:cubicBezTo>
                  <a:pt x="351180" y="1995798"/>
                  <a:pt x="366923" y="2015959"/>
                  <a:pt x="389106" y="2023353"/>
                </a:cubicBezTo>
                <a:lnTo>
                  <a:pt x="476655" y="2052536"/>
                </a:lnTo>
                <a:lnTo>
                  <a:pt x="505838" y="2062263"/>
                </a:lnTo>
                <a:cubicBezTo>
                  <a:pt x="515566" y="2065506"/>
                  <a:pt x="525073" y="2069504"/>
                  <a:pt x="535021" y="2071991"/>
                </a:cubicBezTo>
                <a:lnTo>
                  <a:pt x="573932" y="2081719"/>
                </a:lnTo>
                <a:cubicBezTo>
                  <a:pt x="642026" y="2078476"/>
                  <a:pt x="710278" y="2077652"/>
                  <a:pt x="778213" y="2071991"/>
                </a:cubicBezTo>
                <a:cubicBezTo>
                  <a:pt x="788431" y="2071139"/>
                  <a:pt x="797503" y="2064961"/>
                  <a:pt x="807396" y="2062263"/>
                </a:cubicBezTo>
                <a:cubicBezTo>
                  <a:pt x="833192" y="2055228"/>
                  <a:pt x="858998" y="2048052"/>
                  <a:pt x="885217" y="2042808"/>
                </a:cubicBezTo>
                <a:cubicBezTo>
                  <a:pt x="902958" y="2039260"/>
                  <a:pt x="1008852" y="2016994"/>
                  <a:pt x="1040859" y="2013625"/>
                </a:cubicBezTo>
                <a:cubicBezTo>
                  <a:pt x="1305928" y="1985722"/>
                  <a:pt x="1043456" y="2020186"/>
                  <a:pt x="1264596" y="1994170"/>
                </a:cubicBezTo>
                <a:cubicBezTo>
                  <a:pt x="1287367" y="1991491"/>
                  <a:pt x="1309938" y="1987286"/>
                  <a:pt x="1332689" y="1984442"/>
                </a:cubicBezTo>
                <a:cubicBezTo>
                  <a:pt x="1380025" y="1978525"/>
                  <a:pt x="1496055" y="1966351"/>
                  <a:pt x="1536970" y="1964987"/>
                </a:cubicBezTo>
                <a:cubicBezTo>
                  <a:pt x="1692560" y="1959801"/>
                  <a:pt x="1848255" y="1958502"/>
                  <a:pt x="2003898" y="1955259"/>
                </a:cubicBezTo>
                <a:cubicBezTo>
                  <a:pt x="2052878" y="1947095"/>
                  <a:pt x="2091609" y="1942234"/>
                  <a:pt x="2140085" y="1926076"/>
                </a:cubicBezTo>
                <a:cubicBezTo>
                  <a:pt x="2159540" y="1919591"/>
                  <a:pt x="2178556" y="1911595"/>
                  <a:pt x="2198451" y="1906621"/>
                </a:cubicBezTo>
                <a:cubicBezTo>
                  <a:pt x="2211421" y="1903378"/>
                  <a:pt x="2224556" y="1900735"/>
                  <a:pt x="2237362" y="1896893"/>
                </a:cubicBezTo>
                <a:cubicBezTo>
                  <a:pt x="2237400" y="1896881"/>
                  <a:pt x="2310300" y="1872580"/>
                  <a:pt x="2324910" y="1867710"/>
                </a:cubicBezTo>
                <a:lnTo>
                  <a:pt x="2354093" y="1857983"/>
                </a:lnTo>
                <a:cubicBezTo>
                  <a:pt x="2404880" y="1824124"/>
                  <a:pt x="2360714" y="1848218"/>
                  <a:pt x="2431915" y="1828800"/>
                </a:cubicBezTo>
                <a:cubicBezTo>
                  <a:pt x="2451700" y="1823404"/>
                  <a:pt x="2470171" y="1813366"/>
                  <a:pt x="2490281" y="1809344"/>
                </a:cubicBezTo>
                <a:cubicBezTo>
                  <a:pt x="2522706" y="1802859"/>
                  <a:pt x="2556187" y="1800346"/>
                  <a:pt x="2587557" y="1789889"/>
                </a:cubicBezTo>
                <a:cubicBezTo>
                  <a:pt x="2597285" y="1786646"/>
                  <a:pt x="2607569" y="1784747"/>
                  <a:pt x="2616740" y="1780161"/>
                </a:cubicBezTo>
                <a:cubicBezTo>
                  <a:pt x="2627197" y="1774933"/>
                  <a:pt x="2634976" y="1764811"/>
                  <a:pt x="2645923" y="1760706"/>
                </a:cubicBezTo>
                <a:cubicBezTo>
                  <a:pt x="2661404" y="1754901"/>
                  <a:pt x="2678422" y="1754565"/>
                  <a:pt x="2694562" y="1750978"/>
                </a:cubicBezTo>
                <a:cubicBezTo>
                  <a:pt x="2782067" y="1731533"/>
                  <a:pt x="2691147" y="1751025"/>
                  <a:pt x="2762655" y="1731523"/>
                </a:cubicBezTo>
                <a:cubicBezTo>
                  <a:pt x="2788451" y="1724488"/>
                  <a:pt x="2815110" y="1720524"/>
                  <a:pt x="2840476" y="1712068"/>
                </a:cubicBezTo>
                <a:cubicBezTo>
                  <a:pt x="2895028" y="1693883"/>
                  <a:pt x="2859704" y="1704829"/>
                  <a:pt x="2947481" y="1682885"/>
                </a:cubicBezTo>
                <a:cubicBezTo>
                  <a:pt x="2960451" y="1679642"/>
                  <a:pt x="2973708" y="1677385"/>
                  <a:pt x="2986391" y="1673157"/>
                </a:cubicBezTo>
                <a:lnTo>
                  <a:pt x="3044757" y="1653702"/>
                </a:lnTo>
                <a:cubicBezTo>
                  <a:pt x="3054485" y="1650459"/>
                  <a:pt x="3063885" y="1645985"/>
                  <a:pt x="3073940" y="1643974"/>
                </a:cubicBezTo>
                <a:lnTo>
                  <a:pt x="3122579" y="1634246"/>
                </a:lnTo>
                <a:cubicBezTo>
                  <a:pt x="3141984" y="1630718"/>
                  <a:pt x="3161658" y="1628652"/>
                  <a:pt x="3180944" y="1624519"/>
                </a:cubicBezTo>
                <a:cubicBezTo>
                  <a:pt x="3207090" y="1618916"/>
                  <a:pt x="3232546" y="1610307"/>
                  <a:pt x="3258766" y="1605063"/>
                </a:cubicBezTo>
                <a:cubicBezTo>
                  <a:pt x="3291191" y="1598578"/>
                  <a:pt x="3323424" y="1591044"/>
                  <a:pt x="3356042" y="1585608"/>
                </a:cubicBezTo>
                <a:cubicBezTo>
                  <a:pt x="3375497" y="1582365"/>
                  <a:pt x="3395154" y="1580159"/>
                  <a:pt x="3414408" y="1575880"/>
                </a:cubicBezTo>
                <a:cubicBezTo>
                  <a:pt x="3424418" y="1573656"/>
                  <a:pt x="3433732" y="1568970"/>
                  <a:pt x="3443591" y="1566153"/>
                </a:cubicBezTo>
                <a:cubicBezTo>
                  <a:pt x="3456446" y="1562480"/>
                  <a:pt x="3469647" y="1560098"/>
                  <a:pt x="3482502" y="1556425"/>
                </a:cubicBezTo>
                <a:cubicBezTo>
                  <a:pt x="3557005" y="1535138"/>
                  <a:pt x="3464126" y="1561349"/>
                  <a:pt x="3540868" y="1527242"/>
                </a:cubicBezTo>
                <a:cubicBezTo>
                  <a:pt x="3559608" y="1518913"/>
                  <a:pt x="3599234" y="1507787"/>
                  <a:pt x="3599234" y="1507787"/>
                </a:cubicBezTo>
                <a:cubicBezTo>
                  <a:pt x="3608962" y="1501302"/>
                  <a:pt x="3618266" y="1494132"/>
                  <a:pt x="3628417" y="1488331"/>
                </a:cubicBezTo>
                <a:cubicBezTo>
                  <a:pt x="3641007" y="1481136"/>
                  <a:pt x="3655261" y="1476920"/>
                  <a:pt x="3667327" y="1468876"/>
                </a:cubicBezTo>
                <a:cubicBezTo>
                  <a:pt x="3674958" y="1463789"/>
                  <a:pt x="3678919" y="1454140"/>
                  <a:pt x="3686783" y="1449421"/>
                </a:cubicBezTo>
                <a:cubicBezTo>
                  <a:pt x="3695576" y="1444145"/>
                  <a:pt x="3707002" y="1444673"/>
                  <a:pt x="3715966" y="1439693"/>
                </a:cubicBezTo>
                <a:cubicBezTo>
                  <a:pt x="3736406" y="1428338"/>
                  <a:pt x="3754877" y="1413753"/>
                  <a:pt x="3774332" y="1400783"/>
                </a:cubicBezTo>
                <a:cubicBezTo>
                  <a:pt x="3784060" y="1394298"/>
                  <a:pt x="3796500" y="1390680"/>
                  <a:pt x="3803515" y="1381327"/>
                </a:cubicBezTo>
                <a:cubicBezTo>
                  <a:pt x="3839713" y="1333064"/>
                  <a:pt x="3823705" y="1355907"/>
                  <a:pt x="3852153" y="1313234"/>
                </a:cubicBezTo>
                <a:cubicBezTo>
                  <a:pt x="3855396" y="1297021"/>
                  <a:pt x="3858294" y="1280735"/>
                  <a:pt x="3861881" y="1264595"/>
                </a:cubicBezTo>
                <a:cubicBezTo>
                  <a:pt x="3864781" y="1251544"/>
                  <a:pt x="3871608" y="1239054"/>
                  <a:pt x="3871608" y="1225685"/>
                </a:cubicBezTo>
                <a:cubicBezTo>
                  <a:pt x="3871608" y="1170466"/>
                  <a:pt x="3867375" y="1115259"/>
                  <a:pt x="3861881" y="1060314"/>
                </a:cubicBezTo>
                <a:cubicBezTo>
                  <a:pt x="3860861" y="1050111"/>
                  <a:pt x="3854640" y="1041079"/>
                  <a:pt x="3852153" y="1031131"/>
                </a:cubicBezTo>
                <a:cubicBezTo>
                  <a:pt x="3824651" y="921126"/>
                  <a:pt x="3864711" y="1049352"/>
                  <a:pt x="3822970" y="924127"/>
                </a:cubicBezTo>
                <a:cubicBezTo>
                  <a:pt x="3816485" y="904672"/>
                  <a:pt x="3812686" y="884104"/>
                  <a:pt x="3803515" y="865761"/>
                </a:cubicBezTo>
                <a:cubicBezTo>
                  <a:pt x="3790545" y="839821"/>
                  <a:pt x="3780691" y="812071"/>
                  <a:pt x="3764604" y="787940"/>
                </a:cubicBezTo>
                <a:cubicBezTo>
                  <a:pt x="3758119" y="778212"/>
                  <a:pt x="3750747" y="769021"/>
                  <a:pt x="3745149" y="758757"/>
                </a:cubicBezTo>
                <a:cubicBezTo>
                  <a:pt x="3691074" y="659620"/>
                  <a:pt x="3731020" y="705718"/>
                  <a:pt x="3677055" y="651753"/>
                </a:cubicBezTo>
                <a:cubicBezTo>
                  <a:pt x="3666780" y="620930"/>
                  <a:pt x="3669423" y="620326"/>
                  <a:pt x="3647872" y="593387"/>
                </a:cubicBezTo>
                <a:cubicBezTo>
                  <a:pt x="3642143" y="586225"/>
                  <a:pt x="3634146" y="581093"/>
                  <a:pt x="3628417" y="573931"/>
                </a:cubicBezTo>
                <a:cubicBezTo>
                  <a:pt x="3621114" y="564802"/>
                  <a:pt x="3616265" y="553877"/>
                  <a:pt x="3608962" y="544748"/>
                </a:cubicBezTo>
                <a:cubicBezTo>
                  <a:pt x="3603233" y="537586"/>
                  <a:pt x="3595009" y="532630"/>
                  <a:pt x="3589506" y="525293"/>
                </a:cubicBezTo>
                <a:cubicBezTo>
                  <a:pt x="3575477" y="506587"/>
                  <a:pt x="3563566" y="486382"/>
                  <a:pt x="3550596" y="466927"/>
                </a:cubicBezTo>
                <a:cubicBezTo>
                  <a:pt x="3544111" y="457199"/>
                  <a:pt x="3540868" y="444229"/>
                  <a:pt x="3531140" y="437744"/>
                </a:cubicBezTo>
                <a:cubicBezTo>
                  <a:pt x="3521412" y="431259"/>
                  <a:pt x="3510938" y="425773"/>
                  <a:pt x="3501957" y="418289"/>
                </a:cubicBezTo>
                <a:cubicBezTo>
                  <a:pt x="3491389" y="409482"/>
                  <a:pt x="3484220" y="396737"/>
                  <a:pt x="3472774" y="389106"/>
                </a:cubicBezTo>
                <a:cubicBezTo>
                  <a:pt x="3464242" y="383418"/>
                  <a:pt x="3452762" y="383964"/>
                  <a:pt x="3443591" y="379378"/>
                </a:cubicBezTo>
                <a:cubicBezTo>
                  <a:pt x="3433134" y="374150"/>
                  <a:pt x="3424865" y="365151"/>
                  <a:pt x="3414408" y="359923"/>
                </a:cubicBezTo>
                <a:cubicBezTo>
                  <a:pt x="3405237" y="355337"/>
                  <a:pt x="3394650" y="354234"/>
                  <a:pt x="3385225" y="350195"/>
                </a:cubicBezTo>
                <a:cubicBezTo>
                  <a:pt x="3285034" y="307256"/>
                  <a:pt x="3420796" y="355567"/>
                  <a:pt x="3287949" y="311285"/>
                </a:cubicBezTo>
                <a:lnTo>
                  <a:pt x="3258766" y="301557"/>
                </a:lnTo>
                <a:lnTo>
                  <a:pt x="3229583" y="291829"/>
                </a:lnTo>
                <a:lnTo>
                  <a:pt x="3161489" y="282102"/>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56</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C, E, B</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385446990"/>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3</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E</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6</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bg1">
                  <a:lumMod val="65000"/>
                </a:schemeClr>
              </a:solidFill>
              <a:prstDash val="dash"/>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bg1">
                  <a:lumMod val="65000"/>
                </a:schemeClr>
              </a:solidFill>
              <a:prstDash val="dash"/>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bg1">
                  <a:lumMod val="65000"/>
                </a:schemeClr>
              </a:solidFill>
              <a:prstDash val="dash"/>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3</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bg1">
                  <a:lumMod val="65000"/>
                </a:schemeClr>
              </a:solidFill>
              <a:prstDash val="dash"/>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bg1">
                  <a:lumMod val="65000"/>
                </a:schemeClr>
              </a:solidFill>
              <a:prstDash val="dash"/>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bg1">
                  <a:lumMod val="65000"/>
                </a:schemeClr>
              </a:solidFill>
              <a:prstDash val="dash"/>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bg1">
                  <a:lumMod val="65000"/>
                </a:schemeClr>
              </a:solidFill>
              <a:prstDash val="dash"/>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bg1">
                  <a:lumMod val="65000"/>
                </a:schemeClr>
              </a:solidFill>
              <a:prstDash val="dash"/>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bg1">
                  <a:lumMod val="65000"/>
                </a:schemeClr>
              </a:solidFill>
              <a:prstDash val="dash"/>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bg1">
                  <a:lumMod val="65000"/>
                </a:schemeClr>
              </a:solidFill>
              <a:prstDash val="dash"/>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tx1"/>
              </a:solidFill>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tx1"/>
              </a:solidFill>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7D08B8A7-BB75-6E4D-990D-B115CEC71D21}"/>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493725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D6E25D04-89F6-A04F-9E47-D60173392155}"/>
              </a:ext>
            </a:extLst>
          </p:cNvPr>
          <p:cNvSpPr/>
          <p:nvPr/>
        </p:nvSpPr>
        <p:spPr>
          <a:xfrm>
            <a:off x="2176237" y="1136093"/>
            <a:ext cx="3845184" cy="3028105"/>
          </a:xfrm>
          <a:custGeom>
            <a:avLst/>
            <a:gdLst>
              <a:gd name="connsiteX0" fmla="*/ 2337397 w 3845184"/>
              <a:gd name="connsiteY0" fmla="*/ 2043 h 3028105"/>
              <a:gd name="connsiteX1" fmla="*/ 1938563 w 3845184"/>
              <a:gd name="connsiteY1" fmla="*/ 21498 h 3028105"/>
              <a:gd name="connsiteX2" fmla="*/ 1831559 w 3845184"/>
              <a:gd name="connsiteY2" fmla="*/ 40954 h 3028105"/>
              <a:gd name="connsiteX3" fmla="*/ 1802376 w 3845184"/>
              <a:gd name="connsiteY3" fmla="*/ 50681 h 3028105"/>
              <a:gd name="connsiteX4" fmla="*/ 1763465 w 3845184"/>
              <a:gd name="connsiteY4" fmla="*/ 60409 h 3028105"/>
              <a:gd name="connsiteX5" fmla="*/ 1705099 w 3845184"/>
              <a:gd name="connsiteY5" fmla="*/ 79864 h 3028105"/>
              <a:gd name="connsiteX6" fmla="*/ 1617550 w 3845184"/>
              <a:gd name="connsiteY6" fmla="*/ 89592 h 3028105"/>
              <a:gd name="connsiteX7" fmla="*/ 1325720 w 3845184"/>
              <a:gd name="connsiteY7" fmla="*/ 79864 h 3028105"/>
              <a:gd name="connsiteX8" fmla="*/ 1131167 w 3845184"/>
              <a:gd name="connsiteY8" fmla="*/ 50681 h 3028105"/>
              <a:gd name="connsiteX9" fmla="*/ 1072801 w 3845184"/>
              <a:gd name="connsiteY9" fmla="*/ 40954 h 3028105"/>
              <a:gd name="connsiteX10" fmla="*/ 751789 w 3845184"/>
              <a:gd name="connsiteY10" fmla="*/ 21498 h 3028105"/>
              <a:gd name="connsiteX11" fmla="*/ 644784 w 3845184"/>
              <a:gd name="connsiteY11" fmla="*/ 11771 h 3028105"/>
              <a:gd name="connsiteX12" fmla="*/ 479414 w 3845184"/>
              <a:gd name="connsiteY12" fmla="*/ 2043 h 3028105"/>
              <a:gd name="connsiteX13" fmla="*/ 304316 w 3845184"/>
              <a:gd name="connsiteY13" fmla="*/ 21498 h 3028105"/>
              <a:gd name="connsiteX14" fmla="*/ 226495 w 3845184"/>
              <a:gd name="connsiteY14" fmla="*/ 40954 h 3028105"/>
              <a:gd name="connsiteX15" fmla="*/ 197312 w 3845184"/>
              <a:gd name="connsiteY15" fmla="*/ 60409 h 3028105"/>
              <a:gd name="connsiteX16" fmla="*/ 158401 w 3845184"/>
              <a:gd name="connsiteY16" fmla="*/ 79864 h 3028105"/>
              <a:gd name="connsiteX17" fmla="*/ 109763 w 3845184"/>
              <a:gd name="connsiteY17" fmla="*/ 128503 h 3028105"/>
              <a:gd name="connsiteX18" fmla="*/ 80580 w 3845184"/>
              <a:gd name="connsiteY18" fmla="*/ 157686 h 3028105"/>
              <a:gd name="connsiteX19" fmla="*/ 61125 w 3845184"/>
              <a:gd name="connsiteY19" fmla="*/ 216052 h 3028105"/>
              <a:gd name="connsiteX20" fmla="*/ 51397 w 3845184"/>
              <a:gd name="connsiteY20" fmla="*/ 245235 h 3028105"/>
              <a:gd name="connsiteX21" fmla="*/ 61125 w 3845184"/>
              <a:gd name="connsiteY21" fmla="*/ 498154 h 3028105"/>
              <a:gd name="connsiteX22" fmla="*/ 70852 w 3845184"/>
              <a:gd name="connsiteY22" fmla="*/ 527337 h 3028105"/>
              <a:gd name="connsiteX23" fmla="*/ 90308 w 3845184"/>
              <a:gd name="connsiteY23" fmla="*/ 634341 h 3028105"/>
              <a:gd name="connsiteX24" fmla="*/ 80580 w 3845184"/>
              <a:gd name="connsiteY24" fmla="*/ 1062358 h 3028105"/>
              <a:gd name="connsiteX25" fmla="*/ 70852 w 3845184"/>
              <a:gd name="connsiteY25" fmla="*/ 1130452 h 3028105"/>
              <a:gd name="connsiteX26" fmla="*/ 51397 w 3845184"/>
              <a:gd name="connsiteY26" fmla="*/ 1286094 h 3028105"/>
              <a:gd name="connsiteX27" fmla="*/ 41669 w 3845184"/>
              <a:gd name="connsiteY27" fmla="*/ 1354188 h 3028105"/>
              <a:gd name="connsiteX28" fmla="*/ 31942 w 3845184"/>
              <a:gd name="connsiteY28" fmla="*/ 1412554 h 3028105"/>
              <a:gd name="connsiteX29" fmla="*/ 12486 w 3845184"/>
              <a:gd name="connsiteY29" fmla="*/ 1548741 h 3028105"/>
              <a:gd name="connsiteX30" fmla="*/ 12486 w 3845184"/>
              <a:gd name="connsiteY30" fmla="*/ 1928120 h 3028105"/>
              <a:gd name="connsiteX31" fmla="*/ 31942 w 3845184"/>
              <a:gd name="connsiteY31" fmla="*/ 1996213 h 3028105"/>
              <a:gd name="connsiteX32" fmla="*/ 51397 w 3845184"/>
              <a:gd name="connsiteY32" fmla="*/ 2025396 h 3028105"/>
              <a:gd name="connsiteX33" fmla="*/ 61125 w 3845184"/>
              <a:gd name="connsiteY33" fmla="*/ 2064307 h 3028105"/>
              <a:gd name="connsiteX34" fmla="*/ 119491 w 3845184"/>
              <a:gd name="connsiteY34" fmla="*/ 2142128 h 3028105"/>
              <a:gd name="connsiteX35" fmla="*/ 138946 w 3845184"/>
              <a:gd name="connsiteY35" fmla="*/ 2171311 h 3028105"/>
              <a:gd name="connsiteX36" fmla="*/ 158401 w 3845184"/>
              <a:gd name="connsiteY36" fmla="*/ 2190767 h 3028105"/>
              <a:gd name="connsiteX37" fmla="*/ 197312 w 3845184"/>
              <a:gd name="connsiteY37" fmla="*/ 2258860 h 3028105"/>
              <a:gd name="connsiteX38" fmla="*/ 226495 w 3845184"/>
              <a:gd name="connsiteY38" fmla="*/ 2288043 h 3028105"/>
              <a:gd name="connsiteX39" fmla="*/ 245950 w 3845184"/>
              <a:gd name="connsiteY39" fmla="*/ 2317226 h 3028105"/>
              <a:gd name="connsiteX40" fmla="*/ 294589 w 3845184"/>
              <a:gd name="connsiteY40" fmla="*/ 2365864 h 3028105"/>
              <a:gd name="connsiteX41" fmla="*/ 343227 w 3845184"/>
              <a:gd name="connsiteY41" fmla="*/ 2414503 h 3028105"/>
              <a:gd name="connsiteX42" fmla="*/ 372410 w 3845184"/>
              <a:gd name="connsiteY42" fmla="*/ 2433958 h 3028105"/>
              <a:gd name="connsiteX43" fmla="*/ 459959 w 3845184"/>
              <a:gd name="connsiteY43" fmla="*/ 2521507 h 3028105"/>
              <a:gd name="connsiteX44" fmla="*/ 489142 w 3845184"/>
              <a:gd name="connsiteY44" fmla="*/ 2550690 h 3028105"/>
              <a:gd name="connsiteX45" fmla="*/ 518325 w 3845184"/>
              <a:gd name="connsiteY45" fmla="*/ 2570145 h 3028105"/>
              <a:gd name="connsiteX46" fmla="*/ 537780 w 3845184"/>
              <a:gd name="connsiteY46" fmla="*/ 2589601 h 3028105"/>
              <a:gd name="connsiteX47" fmla="*/ 596146 w 3845184"/>
              <a:gd name="connsiteY47" fmla="*/ 2628511 h 3028105"/>
              <a:gd name="connsiteX48" fmla="*/ 673967 w 3845184"/>
              <a:gd name="connsiteY48" fmla="*/ 2686877 h 3028105"/>
              <a:gd name="connsiteX49" fmla="*/ 703150 w 3845184"/>
              <a:gd name="connsiteY49" fmla="*/ 2706333 h 3028105"/>
              <a:gd name="connsiteX50" fmla="*/ 732333 w 3845184"/>
              <a:gd name="connsiteY50" fmla="*/ 2725788 h 3028105"/>
              <a:gd name="connsiteX51" fmla="*/ 751789 w 3845184"/>
              <a:gd name="connsiteY51" fmla="*/ 2745243 h 3028105"/>
              <a:gd name="connsiteX52" fmla="*/ 819882 w 3845184"/>
              <a:gd name="connsiteY52" fmla="*/ 2784154 h 3028105"/>
              <a:gd name="connsiteX53" fmla="*/ 887976 w 3845184"/>
              <a:gd name="connsiteY53" fmla="*/ 2823064 h 3028105"/>
              <a:gd name="connsiteX54" fmla="*/ 1004708 w 3845184"/>
              <a:gd name="connsiteY54" fmla="*/ 2900886 h 3028105"/>
              <a:gd name="connsiteX55" fmla="*/ 1033891 w 3845184"/>
              <a:gd name="connsiteY55" fmla="*/ 2920341 h 3028105"/>
              <a:gd name="connsiteX56" fmla="*/ 1063074 w 3845184"/>
              <a:gd name="connsiteY56" fmla="*/ 2939796 h 3028105"/>
              <a:gd name="connsiteX57" fmla="*/ 1092257 w 3845184"/>
              <a:gd name="connsiteY57" fmla="*/ 2949524 h 3028105"/>
              <a:gd name="connsiteX58" fmla="*/ 1160350 w 3845184"/>
              <a:gd name="connsiteY58" fmla="*/ 2988435 h 3028105"/>
              <a:gd name="connsiteX59" fmla="*/ 1189533 w 3845184"/>
              <a:gd name="connsiteY59" fmla="*/ 3007890 h 3028105"/>
              <a:gd name="connsiteX60" fmla="*/ 1257627 w 3845184"/>
              <a:gd name="connsiteY60" fmla="*/ 3027345 h 3028105"/>
              <a:gd name="connsiteX61" fmla="*/ 1520274 w 3845184"/>
              <a:gd name="connsiteY61" fmla="*/ 2998162 h 3028105"/>
              <a:gd name="connsiteX62" fmla="*/ 1578640 w 3845184"/>
              <a:gd name="connsiteY62" fmla="*/ 2959252 h 3028105"/>
              <a:gd name="connsiteX63" fmla="*/ 1607823 w 3845184"/>
              <a:gd name="connsiteY63" fmla="*/ 2939796 h 3028105"/>
              <a:gd name="connsiteX64" fmla="*/ 1627278 w 3845184"/>
              <a:gd name="connsiteY64" fmla="*/ 2910613 h 3028105"/>
              <a:gd name="connsiteX65" fmla="*/ 1714827 w 3845184"/>
              <a:gd name="connsiteY65" fmla="*/ 2832792 h 3028105"/>
              <a:gd name="connsiteX66" fmla="*/ 1782920 w 3845184"/>
              <a:gd name="connsiteY66" fmla="*/ 2716060 h 3028105"/>
              <a:gd name="connsiteX67" fmla="*/ 1802376 w 3845184"/>
              <a:gd name="connsiteY67" fmla="*/ 2686877 h 3028105"/>
              <a:gd name="connsiteX68" fmla="*/ 1821831 w 3845184"/>
              <a:gd name="connsiteY68" fmla="*/ 2657694 h 3028105"/>
              <a:gd name="connsiteX69" fmla="*/ 1831559 w 3845184"/>
              <a:gd name="connsiteY69" fmla="*/ 2618784 h 3028105"/>
              <a:gd name="connsiteX70" fmla="*/ 1870469 w 3845184"/>
              <a:gd name="connsiteY70" fmla="*/ 2560418 h 3028105"/>
              <a:gd name="connsiteX71" fmla="*/ 1899652 w 3845184"/>
              <a:gd name="connsiteY71" fmla="*/ 2492324 h 3028105"/>
              <a:gd name="connsiteX72" fmla="*/ 1909380 w 3845184"/>
              <a:gd name="connsiteY72" fmla="*/ 2463141 h 3028105"/>
              <a:gd name="connsiteX73" fmla="*/ 1919108 w 3845184"/>
              <a:gd name="connsiteY73" fmla="*/ 2424230 h 3028105"/>
              <a:gd name="connsiteX74" fmla="*/ 1958018 w 3845184"/>
              <a:gd name="connsiteY74" fmla="*/ 2365864 h 3028105"/>
              <a:gd name="connsiteX75" fmla="*/ 2016384 w 3845184"/>
              <a:gd name="connsiteY75" fmla="*/ 2249133 h 3028105"/>
              <a:gd name="connsiteX76" fmla="*/ 2035840 w 3845184"/>
              <a:gd name="connsiteY76" fmla="*/ 2210222 h 3028105"/>
              <a:gd name="connsiteX77" fmla="*/ 2045567 w 3845184"/>
              <a:gd name="connsiteY77" fmla="*/ 2181039 h 3028105"/>
              <a:gd name="connsiteX78" fmla="*/ 2065023 w 3845184"/>
              <a:gd name="connsiteY78" fmla="*/ 2161584 h 3028105"/>
              <a:gd name="connsiteX79" fmla="*/ 2094206 w 3845184"/>
              <a:gd name="connsiteY79" fmla="*/ 2112945 h 3028105"/>
              <a:gd name="connsiteX80" fmla="*/ 2103933 w 3845184"/>
              <a:gd name="connsiteY80" fmla="*/ 2083762 h 3028105"/>
              <a:gd name="connsiteX81" fmla="*/ 2123389 w 3845184"/>
              <a:gd name="connsiteY81" fmla="*/ 2064307 h 3028105"/>
              <a:gd name="connsiteX82" fmla="*/ 2142844 w 3845184"/>
              <a:gd name="connsiteY82" fmla="*/ 2035124 h 3028105"/>
              <a:gd name="connsiteX83" fmla="*/ 2201210 w 3845184"/>
              <a:gd name="connsiteY83" fmla="*/ 1976758 h 3028105"/>
              <a:gd name="connsiteX84" fmla="*/ 2240120 w 3845184"/>
              <a:gd name="connsiteY84" fmla="*/ 1937847 h 3028105"/>
              <a:gd name="connsiteX85" fmla="*/ 2269303 w 3845184"/>
              <a:gd name="connsiteY85" fmla="*/ 1918392 h 3028105"/>
              <a:gd name="connsiteX86" fmla="*/ 2308214 w 3845184"/>
              <a:gd name="connsiteY86" fmla="*/ 1879481 h 3028105"/>
              <a:gd name="connsiteX87" fmla="*/ 2327669 w 3845184"/>
              <a:gd name="connsiteY87" fmla="*/ 1850298 h 3028105"/>
              <a:gd name="connsiteX88" fmla="*/ 2356852 w 3845184"/>
              <a:gd name="connsiteY88" fmla="*/ 1830843 h 3028105"/>
              <a:gd name="connsiteX89" fmla="*/ 2376308 w 3845184"/>
              <a:gd name="connsiteY89" fmla="*/ 1801660 h 3028105"/>
              <a:gd name="connsiteX90" fmla="*/ 2463857 w 3845184"/>
              <a:gd name="connsiteY90" fmla="*/ 1753022 h 3028105"/>
              <a:gd name="connsiteX91" fmla="*/ 2493040 w 3845184"/>
              <a:gd name="connsiteY91" fmla="*/ 1733567 h 3028105"/>
              <a:gd name="connsiteX92" fmla="*/ 2561133 w 3845184"/>
              <a:gd name="connsiteY92" fmla="*/ 1704384 h 3028105"/>
              <a:gd name="connsiteX93" fmla="*/ 2590316 w 3845184"/>
              <a:gd name="connsiteY93" fmla="*/ 1684928 h 3028105"/>
              <a:gd name="connsiteX94" fmla="*/ 2648682 w 3845184"/>
              <a:gd name="connsiteY94" fmla="*/ 1665473 h 3028105"/>
              <a:gd name="connsiteX95" fmla="*/ 2677865 w 3845184"/>
              <a:gd name="connsiteY95" fmla="*/ 1646018 h 3028105"/>
              <a:gd name="connsiteX96" fmla="*/ 2736231 w 3845184"/>
              <a:gd name="connsiteY96" fmla="*/ 1626562 h 3028105"/>
              <a:gd name="connsiteX97" fmla="*/ 2765414 w 3845184"/>
              <a:gd name="connsiteY97" fmla="*/ 1607107 h 3028105"/>
              <a:gd name="connsiteX98" fmla="*/ 2804325 w 3845184"/>
              <a:gd name="connsiteY98" fmla="*/ 1597379 h 3028105"/>
              <a:gd name="connsiteX99" fmla="*/ 2862691 w 3845184"/>
              <a:gd name="connsiteY99" fmla="*/ 1577924 h 3028105"/>
              <a:gd name="connsiteX100" fmla="*/ 2901601 w 3845184"/>
              <a:gd name="connsiteY100" fmla="*/ 1568196 h 3028105"/>
              <a:gd name="connsiteX101" fmla="*/ 2989150 w 3845184"/>
              <a:gd name="connsiteY101" fmla="*/ 1539013 h 3028105"/>
              <a:gd name="connsiteX102" fmla="*/ 3018333 w 3845184"/>
              <a:gd name="connsiteY102" fmla="*/ 1529286 h 3028105"/>
              <a:gd name="connsiteX103" fmla="*/ 3086427 w 3845184"/>
              <a:gd name="connsiteY103" fmla="*/ 1519558 h 3028105"/>
              <a:gd name="connsiteX104" fmla="*/ 3417167 w 3845184"/>
              <a:gd name="connsiteY104" fmla="*/ 1480647 h 3028105"/>
              <a:gd name="connsiteX105" fmla="*/ 3524172 w 3845184"/>
              <a:gd name="connsiteY105" fmla="*/ 1451464 h 3028105"/>
              <a:gd name="connsiteX106" fmla="*/ 3553354 w 3845184"/>
              <a:gd name="connsiteY106" fmla="*/ 1441737 h 3028105"/>
              <a:gd name="connsiteX107" fmla="*/ 3601993 w 3845184"/>
              <a:gd name="connsiteY107" fmla="*/ 1412554 h 3028105"/>
              <a:gd name="connsiteX108" fmla="*/ 3660359 w 3845184"/>
              <a:gd name="connsiteY108" fmla="*/ 1373643 h 3028105"/>
              <a:gd name="connsiteX109" fmla="*/ 3728452 w 3845184"/>
              <a:gd name="connsiteY109" fmla="*/ 1334733 h 3028105"/>
              <a:gd name="connsiteX110" fmla="*/ 3747908 w 3845184"/>
              <a:gd name="connsiteY110" fmla="*/ 1315277 h 3028105"/>
              <a:gd name="connsiteX111" fmla="*/ 3786818 w 3845184"/>
              <a:gd name="connsiteY111" fmla="*/ 1286094 h 3028105"/>
              <a:gd name="connsiteX112" fmla="*/ 3825729 w 3845184"/>
              <a:gd name="connsiteY112" fmla="*/ 1227728 h 3028105"/>
              <a:gd name="connsiteX113" fmla="*/ 3845184 w 3845184"/>
              <a:gd name="connsiteY113" fmla="*/ 1169362 h 3028105"/>
              <a:gd name="connsiteX114" fmla="*/ 3835457 w 3845184"/>
              <a:gd name="connsiteY114" fmla="*/ 955354 h 3028105"/>
              <a:gd name="connsiteX115" fmla="*/ 3816001 w 3845184"/>
              <a:gd name="connsiteY115" fmla="*/ 896988 h 3028105"/>
              <a:gd name="connsiteX116" fmla="*/ 3806274 w 3845184"/>
              <a:gd name="connsiteY116" fmla="*/ 867805 h 3028105"/>
              <a:gd name="connsiteX117" fmla="*/ 3767363 w 3845184"/>
              <a:gd name="connsiteY117" fmla="*/ 828894 h 3028105"/>
              <a:gd name="connsiteX118" fmla="*/ 3728452 w 3845184"/>
              <a:gd name="connsiteY118" fmla="*/ 780256 h 3028105"/>
              <a:gd name="connsiteX119" fmla="*/ 3699269 w 3845184"/>
              <a:gd name="connsiteY119" fmla="*/ 760801 h 3028105"/>
              <a:gd name="connsiteX120" fmla="*/ 3679814 w 3845184"/>
              <a:gd name="connsiteY120" fmla="*/ 741345 h 3028105"/>
              <a:gd name="connsiteX121" fmla="*/ 3640903 w 3845184"/>
              <a:gd name="connsiteY121" fmla="*/ 712162 h 3028105"/>
              <a:gd name="connsiteX122" fmla="*/ 3611720 w 3845184"/>
              <a:gd name="connsiteY122" fmla="*/ 682979 h 3028105"/>
              <a:gd name="connsiteX123" fmla="*/ 3582537 w 3845184"/>
              <a:gd name="connsiteY123" fmla="*/ 663524 h 3028105"/>
              <a:gd name="connsiteX124" fmla="*/ 3553354 w 3845184"/>
              <a:gd name="connsiteY124" fmla="*/ 634341 h 3028105"/>
              <a:gd name="connsiteX125" fmla="*/ 3465806 w 3845184"/>
              <a:gd name="connsiteY125" fmla="*/ 585703 h 3028105"/>
              <a:gd name="connsiteX126" fmla="*/ 3417167 w 3845184"/>
              <a:gd name="connsiteY126" fmla="*/ 546792 h 3028105"/>
              <a:gd name="connsiteX127" fmla="*/ 3378257 w 3845184"/>
              <a:gd name="connsiteY127" fmla="*/ 527337 h 3028105"/>
              <a:gd name="connsiteX128" fmla="*/ 3319891 w 3845184"/>
              <a:gd name="connsiteY128" fmla="*/ 498154 h 3028105"/>
              <a:gd name="connsiteX129" fmla="*/ 3242069 w 3845184"/>
              <a:gd name="connsiteY129" fmla="*/ 459243 h 3028105"/>
              <a:gd name="connsiteX130" fmla="*/ 3242069 w 3845184"/>
              <a:gd name="connsiteY130" fmla="*/ 459243 h 3028105"/>
              <a:gd name="connsiteX131" fmla="*/ 3212886 w 3845184"/>
              <a:gd name="connsiteY131" fmla="*/ 439788 h 3028105"/>
              <a:gd name="connsiteX132" fmla="*/ 3154520 w 3845184"/>
              <a:gd name="connsiteY132" fmla="*/ 420333 h 3028105"/>
              <a:gd name="connsiteX133" fmla="*/ 3125337 w 3845184"/>
              <a:gd name="connsiteY133" fmla="*/ 400877 h 3028105"/>
              <a:gd name="connsiteX134" fmla="*/ 3096154 w 3845184"/>
              <a:gd name="connsiteY134" fmla="*/ 391150 h 3028105"/>
              <a:gd name="connsiteX135" fmla="*/ 3076699 w 3845184"/>
              <a:gd name="connsiteY135" fmla="*/ 371694 h 3028105"/>
              <a:gd name="connsiteX136" fmla="*/ 3047516 w 3845184"/>
              <a:gd name="connsiteY136" fmla="*/ 352239 h 3028105"/>
              <a:gd name="connsiteX137" fmla="*/ 3018333 w 3845184"/>
              <a:gd name="connsiteY137" fmla="*/ 342511 h 3028105"/>
              <a:gd name="connsiteX138" fmla="*/ 2989150 w 3845184"/>
              <a:gd name="connsiteY138" fmla="*/ 323056 h 3028105"/>
              <a:gd name="connsiteX139" fmla="*/ 2959967 w 3845184"/>
              <a:gd name="connsiteY139" fmla="*/ 313328 h 3028105"/>
              <a:gd name="connsiteX140" fmla="*/ 2930784 w 3845184"/>
              <a:gd name="connsiteY140" fmla="*/ 293873 h 3028105"/>
              <a:gd name="connsiteX141" fmla="*/ 2862691 w 3845184"/>
              <a:gd name="connsiteY141" fmla="*/ 264690 h 3028105"/>
              <a:gd name="connsiteX142" fmla="*/ 2765414 w 3845184"/>
              <a:gd name="connsiteY142" fmla="*/ 206324 h 3028105"/>
              <a:gd name="connsiteX143" fmla="*/ 2707048 w 3845184"/>
              <a:gd name="connsiteY143" fmla="*/ 167413 h 3028105"/>
              <a:gd name="connsiteX144" fmla="*/ 2648682 w 3845184"/>
              <a:gd name="connsiteY144" fmla="*/ 128503 h 3028105"/>
              <a:gd name="connsiteX145" fmla="*/ 2561133 w 3845184"/>
              <a:gd name="connsiteY145" fmla="*/ 60409 h 3028105"/>
              <a:gd name="connsiteX146" fmla="*/ 2473584 w 3845184"/>
              <a:gd name="connsiteY146" fmla="*/ 31226 h 3028105"/>
              <a:gd name="connsiteX147" fmla="*/ 2415218 w 3845184"/>
              <a:gd name="connsiteY147" fmla="*/ 11771 h 3028105"/>
              <a:gd name="connsiteX148" fmla="*/ 2376308 w 3845184"/>
              <a:gd name="connsiteY148" fmla="*/ 2043 h 3028105"/>
              <a:gd name="connsiteX149" fmla="*/ 2337397 w 3845184"/>
              <a:gd name="connsiteY149" fmla="*/ 2043 h 302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845184" h="3028105">
                <a:moveTo>
                  <a:pt x="2337397" y="2043"/>
                </a:moveTo>
                <a:lnTo>
                  <a:pt x="1938563" y="21498"/>
                </a:lnTo>
                <a:cubicBezTo>
                  <a:pt x="1905331" y="23119"/>
                  <a:pt x="1864668" y="31494"/>
                  <a:pt x="1831559" y="40954"/>
                </a:cubicBezTo>
                <a:cubicBezTo>
                  <a:pt x="1821700" y="43771"/>
                  <a:pt x="1812235" y="47864"/>
                  <a:pt x="1802376" y="50681"/>
                </a:cubicBezTo>
                <a:cubicBezTo>
                  <a:pt x="1789521" y="54354"/>
                  <a:pt x="1776271" y="56567"/>
                  <a:pt x="1763465" y="60409"/>
                </a:cubicBezTo>
                <a:cubicBezTo>
                  <a:pt x="1743822" y="66302"/>
                  <a:pt x="1725481" y="77599"/>
                  <a:pt x="1705099" y="79864"/>
                </a:cubicBezTo>
                <a:lnTo>
                  <a:pt x="1617550" y="89592"/>
                </a:lnTo>
                <a:lnTo>
                  <a:pt x="1325720" y="79864"/>
                </a:lnTo>
                <a:cubicBezTo>
                  <a:pt x="1282971" y="77614"/>
                  <a:pt x="1161699" y="55770"/>
                  <a:pt x="1131167" y="50681"/>
                </a:cubicBezTo>
                <a:cubicBezTo>
                  <a:pt x="1111712" y="47438"/>
                  <a:pt x="1092457" y="42592"/>
                  <a:pt x="1072801" y="40954"/>
                </a:cubicBezTo>
                <a:cubicBezTo>
                  <a:pt x="788641" y="17273"/>
                  <a:pt x="1168777" y="47559"/>
                  <a:pt x="751789" y="21498"/>
                </a:cubicBezTo>
                <a:cubicBezTo>
                  <a:pt x="716043" y="19264"/>
                  <a:pt x="680508" y="14323"/>
                  <a:pt x="644784" y="11771"/>
                </a:cubicBezTo>
                <a:cubicBezTo>
                  <a:pt x="589706" y="7837"/>
                  <a:pt x="534537" y="5286"/>
                  <a:pt x="479414" y="2043"/>
                </a:cubicBezTo>
                <a:cubicBezTo>
                  <a:pt x="277831" y="16442"/>
                  <a:pt x="402673" y="-359"/>
                  <a:pt x="304316" y="21498"/>
                </a:cubicBezTo>
                <a:cubicBezTo>
                  <a:pt x="284335" y="25938"/>
                  <a:pt x="247355" y="30524"/>
                  <a:pt x="226495" y="40954"/>
                </a:cubicBezTo>
                <a:cubicBezTo>
                  <a:pt x="216038" y="46182"/>
                  <a:pt x="207463" y="54609"/>
                  <a:pt x="197312" y="60409"/>
                </a:cubicBezTo>
                <a:cubicBezTo>
                  <a:pt x="184721" y="67603"/>
                  <a:pt x="171371" y="73379"/>
                  <a:pt x="158401" y="79864"/>
                </a:cubicBezTo>
                <a:lnTo>
                  <a:pt x="109763" y="128503"/>
                </a:lnTo>
                <a:lnTo>
                  <a:pt x="80580" y="157686"/>
                </a:lnTo>
                <a:lnTo>
                  <a:pt x="61125" y="216052"/>
                </a:lnTo>
                <a:lnTo>
                  <a:pt x="51397" y="245235"/>
                </a:lnTo>
                <a:cubicBezTo>
                  <a:pt x="54640" y="329541"/>
                  <a:pt x="55320" y="413985"/>
                  <a:pt x="61125" y="498154"/>
                </a:cubicBezTo>
                <a:cubicBezTo>
                  <a:pt x="61830" y="508383"/>
                  <a:pt x="68365" y="517389"/>
                  <a:pt x="70852" y="527337"/>
                </a:cubicBezTo>
                <a:cubicBezTo>
                  <a:pt x="77651" y="554533"/>
                  <a:pt x="85970" y="608317"/>
                  <a:pt x="90308" y="634341"/>
                </a:cubicBezTo>
                <a:cubicBezTo>
                  <a:pt x="87065" y="777013"/>
                  <a:pt x="86172" y="919758"/>
                  <a:pt x="80580" y="1062358"/>
                </a:cubicBezTo>
                <a:cubicBezTo>
                  <a:pt x="79682" y="1085269"/>
                  <a:pt x="73531" y="1107681"/>
                  <a:pt x="70852" y="1130452"/>
                </a:cubicBezTo>
                <a:cubicBezTo>
                  <a:pt x="44164" y="1357302"/>
                  <a:pt x="75560" y="1129037"/>
                  <a:pt x="51397" y="1286094"/>
                </a:cubicBezTo>
                <a:cubicBezTo>
                  <a:pt x="47910" y="1308756"/>
                  <a:pt x="45155" y="1331526"/>
                  <a:pt x="41669" y="1354188"/>
                </a:cubicBezTo>
                <a:cubicBezTo>
                  <a:pt x="38670" y="1373682"/>
                  <a:pt x="34549" y="1393003"/>
                  <a:pt x="31942" y="1412554"/>
                </a:cubicBezTo>
                <a:cubicBezTo>
                  <a:pt x="13459" y="1551181"/>
                  <a:pt x="31875" y="1451802"/>
                  <a:pt x="12486" y="1548741"/>
                </a:cubicBezTo>
                <a:cubicBezTo>
                  <a:pt x="-4830" y="1721912"/>
                  <a:pt x="-3482" y="1664638"/>
                  <a:pt x="12486" y="1928120"/>
                </a:cubicBezTo>
                <a:cubicBezTo>
                  <a:pt x="12916" y="1935213"/>
                  <a:pt x="27025" y="1986379"/>
                  <a:pt x="31942" y="1996213"/>
                </a:cubicBezTo>
                <a:cubicBezTo>
                  <a:pt x="37170" y="2006670"/>
                  <a:pt x="44912" y="2015668"/>
                  <a:pt x="51397" y="2025396"/>
                </a:cubicBezTo>
                <a:cubicBezTo>
                  <a:pt x="54640" y="2038366"/>
                  <a:pt x="55146" y="2052349"/>
                  <a:pt x="61125" y="2064307"/>
                </a:cubicBezTo>
                <a:cubicBezTo>
                  <a:pt x="106380" y="2154819"/>
                  <a:pt x="83007" y="2096524"/>
                  <a:pt x="119491" y="2142128"/>
                </a:cubicBezTo>
                <a:cubicBezTo>
                  <a:pt x="126794" y="2151257"/>
                  <a:pt x="131643" y="2162182"/>
                  <a:pt x="138946" y="2171311"/>
                </a:cubicBezTo>
                <a:cubicBezTo>
                  <a:pt x="144675" y="2178473"/>
                  <a:pt x="153314" y="2183136"/>
                  <a:pt x="158401" y="2190767"/>
                </a:cubicBezTo>
                <a:cubicBezTo>
                  <a:pt x="190110" y="2238330"/>
                  <a:pt x="164150" y="2219065"/>
                  <a:pt x="197312" y="2258860"/>
                </a:cubicBezTo>
                <a:cubicBezTo>
                  <a:pt x="206119" y="2269428"/>
                  <a:pt x="217688" y="2277475"/>
                  <a:pt x="226495" y="2288043"/>
                </a:cubicBezTo>
                <a:cubicBezTo>
                  <a:pt x="233979" y="2297024"/>
                  <a:pt x="238251" y="2308428"/>
                  <a:pt x="245950" y="2317226"/>
                </a:cubicBezTo>
                <a:cubicBezTo>
                  <a:pt x="261049" y="2334481"/>
                  <a:pt x="278376" y="2349651"/>
                  <a:pt x="294589" y="2365864"/>
                </a:cubicBezTo>
                <a:lnTo>
                  <a:pt x="343227" y="2414503"/>
                </a:lnTo>
                <a:cubicBezTo>
                  <a:pt x="352955" y="2420988"/>
                  <a:pt x="363672" y="2426191"/>
                  <a:pt x="372410" y="2433958"/>
                </a:cubicBezTo>
                <a:lnTo>
                  <a:pt x="459959" y="2521507"/>
                </a:lnTo>
                <a:cubicBezTo>
                  <a:pt x="469687" y="2531235"/>
                  <a:pt x="477695" y="2543059"/>
                  <a:pt x="489142" y="2550690"/>
                </a:cubicBezTo>
                <a:cubicBezTo>
                  <a:pt x="498870" y="2557175"/>
                  <a:pt x="509196" y="2562842"/>
                  <a:pt x="518325" y="2570145"/>
                </a:cubicBezTo>
                <a:cubicBezTo>
                  <a:pt x="525487" y="2575874"/>
                  <a:pt x="530443" y="2584098"/>
                  <a:pt x="537780" y="2589601"/>
                </a:cubicBezTo>
                <a:cubicBezTo>
                  <a:pt x="556486" y="2603630"/>
                  <a:pt x="579613" y="2611977"/>
                  <a:pt x="596146" y="2628511"/>
                </a:cubicBezTo>
                <a:cubicBezTo>
                  <a:pt x="632135" y="2664502"/>
                  <a:pt x="607968" y="2642877"/>
                  <a:pt x="673967" y="2686877"/>
                </a:cubicBezTo>
                <a:lnTo>
                  <a:pt x="703150" y="2706333"/>
                </a:lnTo>
                <a:cubicBezTo>
                  <a:pt x="712878" y="2712818"/>
                  <a:pt x="724066" y="2717521"/>
                  <a:pt x="732333" y="2725788"/>
                </a:cubicBezTo>
                <a:cubicBezTo>
                  <a:pt x="738818" y="2732273"/>
                  <a:pt x="744627" y="2739514"/>
                  <a:pt x="751789" y="2745243"/>
                </a:cubicBezTo>
                <a:cubicBezTo>
                  <a:pt x="790038" y="2775842"/>
                  <a:pt x="774235" y="2755624"/>
                  <a:pt x="819882" y="2784154"/>
                </a:cubicBezTo>
                <a:cubicBezTo>
                  <a:pt x="887183" y="2826218"/>
                  <a:pt x="830645" y="2803955"/>
                  <a:pt x="887976" y="2823064"/>
                </a:cubicBezTo>
                <a:lnTo>
                  <a:pt x="1004708" y="2900886"/>
                </a:lnTo>
                <a:lnTo>
                  <a:pt x="1033891" y="2920341"/>
                </a:lnTo>
                <a:cubicBezTo>
                  <a:pt x="1043619" y="2926826"/>
                  <a:pt x="1051983" y="2936099"/>
                  <a:pt x="1063074" y="2939796"/>
                </a:cubicBezTo>
                <a:lnTo>
                  <a:pt x="1092257" y="2949524"/>
                </a:lnTo>
                <a:cubicBezTo>
                  <a:pt x="1147697" y="3004964"/>
                  <a:pt x="1091764" y="2959041"/>
                  <a:pt x="1160350" y="2988435"/>
                </a:cubicBezTo>
                <a:cubicBezTo>
                  <a:pt x="1171096" y="2993040"/>
                  <a:pt x="1179076" y="3002662"/>
                  <a:pt x="1189533" y="3007890"/>
                </a:cubicBezTo>
                <a:cubicBezTo>
                  <a:pt x="1203493" y="3014870"/>
                  <a:pt x="1245154" y="3024227"/>
                  <a:pt x="1257627" y="3027345"/>
                </a:cubicBezTo>
                <a:cubicBezTo>
                  <a:pt x="1262176" y="3027128"/>
                  <a:pt x="1463483" y="3036022"/>
                  <a:pt x="1520274" y="2998162"/>
                </a:cubicBezTo>
                <a:lnTo>
                  <a:pt x="1578640" y="2959252"/>
                </a:lnTo>
                <a:lnTo>
                  <a:pt x="1607823" y="2939796"/>
                </a:lnTo>
                <a:cubicBezTo>
                  <a:pt x="1614308" y="2930068"/>
                  <a:pt x="1619511" y="2919351"/>
                  <a:pt x="1627278" y="2910613"/>
                </a:cubicBezTo>
                <a:cubicBezTo>
                  <a:pt x="1675738" y="2856095"/>
                  <a:pt x="1670473" y="2862361"/>
                  <a:pt x="1714827" y="2832792"/>
                </a:cubicBezTo>
                <a:cubicBezTo>
                  <a:pt x="1746181" y="2770082"/>
                  <a:pt x="1730353" y="2798665"/>
                  <a:pt x="1782920" y="2716060"/>
                </a:cubicBezTo>
                <a:cubicBezTo>
                  <a:pt x="1789197" y="2706197"/>
                  <a:pt x="1795891" y="2696605"/>
                  <a:pt x="1802376" y="2686877"/>
                </a:cubicBezTo>
                <a:lnTo>
                  <a:pt x="1821831" y="2657694"/>
                </a:lnTo>
                <a:cubicBezTo>
                  <a:pt x="1825074" y="2644724"/>
                  <a:pt x="1825580" y="2630742"/>
                  <a:pt x="1831559" y="2618784"/>
                </a:cubicBezTo>
                <a:cubicBezTo>
                  <a:pt x="1842016" y="2597870"/>
                  <a:pt x="1863075" y="2582600"/>
                  <a:pt x="1870469" y="2560418"/>
                </a:cubicBezTo>
                <a:cubicBezTo>
                  <a:pt x="1893283" y="2491979"/>
                  <a:pt x="1863591" y="2576468"/>
                  <a:pt x="1899652" y="2492324"/>
                </a:cubicBezTo>
                <a:cubicBezTo>
                  <a:pt x="1903691" y="2482899"/>
                  <a:pt x="1906563" y="2473000"/>
                  <a:pt x="1909380" y="2463141"/>
                </a:cubicBezTo>
                <a:cubicBezTo>
                  <a:pt x="1913053" y="2450286"/>
                  <a:pt x="1913129" y="2436188"/>
                  <a:pt x="1919108" y="2424230"/>
                </a:cubicBezTo>
                <a:cubicBezTo>
                  <a:pt x="1929565" y="2403316"/>
                  <a:pt x="1950624" y="2388046"/>
                  <a:pt x="1958018" y="2365864"/>
                </a:cubicBezTo>
                <a:cubicBezTo>
                  <a:pt x="2006919" y="2219165"/>
                  <a:pt x="1940957" y="2399984"/>
                  <a:pt x="2016384" y="2249133"/>
                </a:cubicBezTo>
                <a:cubicBezTo>
                  <a:pt x="2022869" y="2236163"/>
                  <a:pt x="2030128" y="2223551"/>
                  <a:pt x="2035840" y="2210222"/>
                </a:cubicBezTo>
                <a:cubicBezTo>
                  <a:pt x="2039879" y="2200797"/>
                  <a:pt x="2040291" y="2189832"/>
                  <a:pt x="2045567" y="2181039"/>
                </a:cubicBezTo>
                <a:cubicBezTo>
                  <a:pt x="2050286" y="2173175"/>
                  <a:pt x="2058538" y="2168069"/>
                  <a:pt x="2065023" y="2161584"/>
                </a:cubicBezTo>
                <a:cubicBezTo>
                  <a:pt x="2092577" y="2078915"/>
                  <a:pt x="2054148" y="2179710"/>
                  <a:pt x="2094206" y="2112945"/>
                </a:cubicBezTo>
                <a:cubicBezTo>
                  <a:pt x="2099481" y="2104152"/>
                  <a:pt x="2098657" y="2092555"/>
                  <a:pt x="2103933" y="2083762"/>
                </a:cubicBezTo>
                <a:cubicBezTo>
                  <a:pt x="2108652" y="2075898"/>
                  <a:pt x="2117660" y="2071469"/>
                  <a:pt x="2123389" y="2064307"/>
                </a:cubicBezTo>
                <a:cubicBezTo>
                  <a:pt x="2130692" y="2055178"/>
                  <a:pt x="2135077" y="2043862"/>
                  <a:pt x="2142844" y="2035124"/>
                </a:cubicBezTo>
                <a:cubicBezTo>
                  <a:pt x="2161123" y="2014560"/>
                  <a:pt x="2181755" y="1996213"/>
                  <a:pt x="2201210" y="1976758"/>
                </a:cubicBezTo>
                <a:cubicBezTo>
                  <a:pt x="2214180" y="1963788"/>
                  <a:pt x="2224858" y="1948022"/>
                  <a:pt x="2240120" y="1937847"/>
                </a:cubicBezTo>
                <a:cubicBezTo>
                  <a:pt x="2249848" y="1931362"/>
                  <a:pt x="2260426" y="1926000"/>
                  <a:pt x="2269303" y="1918392"/>
                </a:cubicBezTo>
                <a:cubicBezTo>
                  <a:pt x="2283230" y="1906455"/>
                  <a:pt x="2298039" y="1894743"/>
                  <a:pt x="2308214" y="1879481"/>
                </a:cubicBezTo>
                <a:cubicBezTo>
                  <a:pt x="2314699" y="1869753"/>
                  <a:pt x="2319402" y="1858565"/>
                  <a:pt x="2327669" y="1850298"/>
                </a:cubicBezTo>
                <a:cubicBezTo>
                  <a:pt x="2335936" y="1842031"/>
                  <a:pt x="2347124" y="1837328"/>
                  <a:pt x="2356852" y="1830843"/>
                </a:cubicBezTo>
                <a:cubicBezTo>
                  <a:pt x="2363337" y="1821115"/>
                  <a:pt x="2367509" y="1809359"/>
                  <a:pt x="2376308" y="1801660"/>
                </a:cubicBezTo>
                <a:cubicBezTo>
                  <a:pt x="2458096" y="1730097"/>
                  <a:pt x="2405962" y="1781970"/>
                  <a:pt x="2463857" y="1753022"/>
                </a:cubicBezTo>
                <a:cubicBezTo>
                  <a:pt x="2474314" y="1747794"/>
                  <a:pt x="2482583" y="1738795"/>
                  <a:pt x="2493040" y="1733567"/>
                </a:cubicBezTo>
                <a:cubicBezTo>
                  <a:pt x="2602151" y="1679011"/>
                  <a:pt x="2419473" y="1785334"/>
                  <a:pt x="2561133" y="1704384"/>
                </a:cubicBezTo>
                <a:cubicBezTo>
                  <a:pt x="2571284" y="1698583"/>
                  <a:pt x="2579632" y="1689676"/>
                  <a:pt x="2590316" y="1684928"/>
                </a:cubicBezTo>
                <a:cubicBezTo>
                  <a:pt x="2609056" y="1676599"/>
                  <a:pt x="2631618" y="1676848"/>
                  <a:pt x="2648682" y="1665473"/>
                </a:cubicBezTo>
                <a:cubicBezTo>
                  <a:pt x="2658410" y="1658988"/>
                  <a:pt x="2667182" y="1650766"/>
                  <a:pt x="2677865" y="1646018"/>
                </a:cubicBezTo>
                <a:cubicBezTo>
                  <a:pt x="2696605" y="1637689"/>
                  <a:pt x="2719167" y="1637938"/>
                  <a:pt x="2736231" y="1626562"/>
                </a:cubicBezTo>
                <a:cubicBezTo>
                  <a:pt x="2745959" y="1620077"/>
                  <a:pt x="2754668" y="1611712"/>
                  <a:pt x="2765414" y="1607107"/>
                </a:cubicBezTo>
                <a:cubicBezTo>
                  <a:pt x="2777703" y="1601841"/>
                  <a:pt x="2791519" y="1601221"/>
                  <a:pt x="2804325" y="1597379"/>
                </a:cubicBezTo>
                <a:cubicBezTo>
                  <a:pt x="2823968" y="1591486"/>
                  <a:pt x="2842796" y="1582898"/>
                  <a:pt x="2862691" y="1577924"/>
                </a:cubicBezTo>
                <a:cubicBezTo>
                  <a:pt x="2875661" y="1574681"/>
                  <a:pt x="2888796" y="1572038"/>
                  <a:pt x="2901601" y="1568196"/>
                </a:cubicBezTo>
                <a:cubicBezTo>
                  <a:pt x="2901651" y="1568181"/>
                  <a:pt x="2974534" y="1543885"/>
                  <a:pt x="2989150" y="1539013"/>
                </a:cubicBezTo>
                <a:cubicBezTo>
                  <a:pt x="2998878" y="1535771"/>
                  <a:pt x="3008182" y="1530736"/>
                  <a:pt x="3018333" y="1529286"/>
                </a:cubicBezTo>
                <a:cubicBezTo>
                  <a:pt x="3041031" y="1526043"/>
                  <a:pt x="3063639" y="1522090"/>
                  <a:pt x="3086427" y="1519558"/>
                </a:cubicBezTo>
                <a:cubicBezTo>
                  <a:pt x="3173297" y="1509906"/>
                  <a:pt x="3324330" y="1499213"/>
                  <a:pt x="3417167" y="1480647"/>
                </a:cubicBezTo>
                <a:cubicBezTo>
                  <a:pt x="3485919" y="1466898"/>
                  <a:pt x="3450116" y="1476150"/>
                  <a:pt x="3524172" y="1451464"/>
                </a:cubicBezTo>
                <a:lnTo>
                  <a:pt x="3553354" y="1441737"/>
                </a:lnTo>
                <a:cubicBezTo>
                  <a:pt x="3597005" y="1398086"/>
                  <a:pt x="3545165" y="1444125"/>
                  <a:pt x="3601993" y="1412554"/>
                </a:cubicBezTo>
                <a:cubicBezTo>
                  <a:pt x="3622433" y="1401199"/>
                  <a:pt x="3639445" y="1384100"/>
                  <a:pt x="3660359" y="1373643"/>
                </a:cubicBezTo>
                <a:cubicBezTo>
                  <a:pt x="3686986" y="1360330"/>
                  <a:pt x="3705537" y="1353065"/>
                  <a:pt x="3728452" y="1334733"/>
                </a:cubicBezTo>
                <a:cubicBezTo>
                  <a:pt x="3735614" y="1329004"/>
                  <a:pt x="3740862" y="1321149"/>
                  <a:pt x="3747908" y="1315277"/>
                </a:cubicBezTo>
                <a:cubicBezTo>
                  <a:pt x="3760363" y="1304898"/>
                  <a:pt x="3776047" y="1298211"/>
                  <a:pt x="3786818" y="1286094"/>
                </a:cubicBezTo>
                <a:cubicBezTo>
                  <a:pt x="3802352" y="1268618"/>
                  <a:pt x="3818335" y="1249911"/>
                  <a:pt x="3825729" y="1227728"/>
                </a:cubicBezTo>
                <a:lnTo>
                  <a:pt x="3845184" y="1169362"/>
                </a:lnTo>
                <a:cubicBezTo>
                  <a:pt x="3841942" y="1098026"/>
                  <a:pt x="3843065" y="1026357"/>
                  <a:pt x="3835457" y="955354"/>
                </a:cubicBezTo>
                <a:cubicBezTo>
                  <a:pt x="3833272" y="934963"/>
                  <a:pt x="3822486" y="916443"/>
                  <a:pt x="3816001" y="896988"/>
                </a:cubicBezTo>
                <a:cubicBezTo>
                  <a:pt x="3812758" y="887260"/>
                  <a:pt x="3813525" y="875056"/>
                  <a:pt x="3806274" y="867805"/>
                </a:cubicBezTo>
                <a:cubicBezTo>
                  <a:pt x="3793304" y="854835"/>
                  <a:pt x="3777538" y="844156"/>
                  <a:pt x="3767363" y="828894"/>
                </a:cubicBezTo>
                <a:cubicBezTo>
                  <a:pt x="3752916" y="807223"/>
                  <a:pt x="3748256" y="796099"/>
                  <a:pt x="3728452" y="780256"/>
                </a:cubicBezTo>
                <a:cubicBezTo>
                  <a:pt x="3719323" y="772953"/>
                  <a:pt x="3708398" y="768104"/>
                  <a:pt x="3699269" y="760801"/>
                </a:cubicBezTo>
                <a:cubicBezTo>
                  <a:pt x="3692107" y="755072"/>
                  <a:pt x="3686860" y="747216"/>
                  <a:pt x="3679814" y="741345"/>
                </a:cubicBezTo>
                <a:cubicBezTo>
                  <a:pt x="3667359" y="730966"/>
                  <a:pt x="3653213" y="722713"/>
                  <a:pt x="3640903" y="712162"/>
                </a:cubicBezTo>
                <a:cubicBezTo>
                  <a:pt x="3630458" y="703209"/>
                  <a:pt x="3622288" y="691786"/>
                  <a:pt x="3611720" y="682979"/>
                </a:cubicBezTo>
                <a:cubicBezTo>
                  <a:pt x="3602739" y="675495"/>
                  <a:pt x="3591518" y="671008"/>
                  <a:pt x="3582537" y="663524"/>
                </a:cubicBezTo>
                <a:cubicBezTo>
                  <a:pt x="3571969" y="654717"/>
                  <a:pt x="3564213" y="642787"/>
                  <a:pt x="3553354" y="634341"/>
                </a:cubicBezTo>
                <a:cubicBezTo>
                  <a:pt x="3503180" y="595316"/>
                  <a:pt x="3509838" y="600379"/>
                  <a:pt x="3465806" y="585703"/>
                </a:cubicBezTo>
                <a:cubicBezTo>
                  <a:pt x="3444500" y="564397"/>
                  <a:pt x="3445801" y="563154"/>
                  <a:pt x="3417167" y="546792"/>
                </a:cubicBezTo>
                <a:cubicBezTo>
                  <a:pt x="3404577" y="539598"/>
                  <a:pt x="3390847" y="534532"/>
                  <a:pt x="3378257" y="527337"/>
                </a:cubicBezTo>
                <a:cubicBezTo>
                  <a:pt x="3325457" y="497165"/>
                  <a:pt x="3373396" y="515988"/>
                  <a:pt x="3319891" y="498154"/>
                </a:cubicBezTo>
                <a:cubicBezTo>
                  <a:pt x="3285934" y="464197"/>
                  <a:pt x="3309136" y="481598"/>
                  <a:pt x="3242069" y="459243"/>
                </a:cubicBezTo>
                <a:lnTo>
                  <a:pt x="3242069" y="459243"/>
                </a:lnTo>
                <a:cubicBezTo>
                  <a:pt x="3232341" y="452758"/>
                  <a:pt x="3223570" y="444536"/>
                  <a:pt x="3212886" y="439788"/>
                </a:cubicBezTo>
                <a:cubicBezTo>
                  <a:pt x="3194146" y="431459"/>
                  <a:pt x="3154520" y="420333"/>
                  <a:pt x="3154520" y="420333"/>
                </a:cubicBezTo>
                <a:cubicBezTo>
                  <a:pt x="3144792" y="413848"/>
                  <a:pt x="3135794" y="406106"/>
                  <a:pt x="3125337" y="400877"/>
                </a:cubicBezTo>
                <a:cubicBezTo>
                  <a:pt x="3116166" y="396291"/>
                  <a:pt x="3104947" y="396426"/>
                  <a:pt x="3096154" y="391150"/>
                </a:cubicBezTo>
                <a:cubicBezTo>
                  <a:pt x="3088290" y="386431"/>
                  <a:pt x="3083861" y="377423"/>
                  <a:pt x="3076699" y="371694"/>
                </a:cubicBezTo>
                <a:cubicBezTo>
                  <a:pt x="3067570" y="364391"/>
                  <a:pt x="3057973" y="357467"/>
                  <a:pt x="3047516" y="352239"/>
                </a:cubicBezTo>
                <a:cubicBezTo>
                  <a:pt x="3038345" y="347653"/>
                  <a:pt x="3027504" y="347097"/>
                  <a:pt x="3018333" y="342511"/>
                </a:cubicBezTo>
                <a:cubicBezTo>
                  <a:pt x="3007876" y="337283"/>
                  <a:pt x="2999607" y="328284"/>
                  <a:pt x="2989150" y="323056"/>
                </a:cubicBezTo>
                <a:cubicBezTo>
                  <a:pt x="2979979" y="318470"/>
                  <a:pt x="2969138" y="317914"/>
                  <a:pt x="2959967" y="313328"/>
                </a:cubicBezTo>
                <a:cubicBezTo>
                  <a:pt x="2949510" y="308100"/>
                  <a:pt x="2941241" y="299101"/>
                  <a:pt x="2930784" y="293873"/>
                </a:cubicBezTo>
                <a:cubicBezTo>
                  <a:pt x="2850285" y="253624"/>
                  <a:pt x="2963888" y="325408"/>
                  <a:pt x="2862691" y="264690"/>
                </a:cubicBezTo>
                <a:cubicBezTo>
                  <a:pt x="2745312" y="194262"/>
                  <a:pt x="2854355" y="250793"/>
                  <a:pt x="2765414" y="206324"/>
                </a:cubicBezTo>
                <a:cubicBezTo>
                  <a:pt x="2672318" y="113228"/>
                  <a:pt x="2791516" y="223725"/>
                  <a:pt x="2707048" y="167413"/>
                </a:cubicBezTo>
                <a:cubicBezTo>
                  <a:pt x="2634185" y="118837"/>
                  <a:pt x="2718069" y="151630"/>
                  <a:pt x="2648682" y="128503"/>
                </a:cubicBezTo>
                <a:cubicBezTo>
                  <a:pt x="2623503" y="103324"/>
                  <a:pt x="2596038" y="72044"/>
                  <a:pt x="2561133" y="60409"/>
                </a:cubicBezTo>
                <a:lnTo>
                  <a:pt x="2473584" y="31226"/>
                </a:lnTo>
                <a:lnTo>
                  <a:pt x="2415218" y="11771"/>
                </a:lnTo>
                <a:cubicBezTo>
                  <a:pt x="2402248" y="8528"/>
                  <a:pt x="2389631" y="3153"/>
                  <a:pt x="2376308" y="2043"/>
                </a:cubicBezTo>
                <a:cubicBezTo>
                  <a:pt x="2350457" y="-111"/>
                  <a:pt x="2410354" y="-1199"/>
                  <a:pt x="2337397" y="2043"/>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57</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C, E, B, F</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2924357537"/>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3</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E</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 6</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solidFill>
              <a:schemeClr val="accent2">
                <a:lumMod val="20000"/>
                <a:lumOff val="80000"/>
              </a:schemeClr>
            </a:solid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bg1">
                  <a:lumMod val="65000"/>
                </a:schemeClr>
              </a:solidFill>
              <a:prstDash val="dash"/>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bg1">
                  <a:lumMod val="65000"/>
                </a:schemeClr>
              </a:solidFill>
              <a:prstDash val="dash"/>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bg1">
                  <a:lumMod val="65000"/>
                </a:schemeClr>
              </a:solidFill>
              <a:prstDash val="dash"/>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3</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bg1">
                  <a:lumMod val="65000"/>
                </a:schemeClr>
              </a:solidFill>
              <a:prstDash val="dash"/>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bg1">
                  <a:lumMod val="65000"/>
                </a:schemeClr>
              </a:solidFill>
              <a:prstDash val="dash"/>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bg1">
                  <a:lumMod val="65000"/>
                </a:schemeClr>
              </a:solidFill>
              <a:prstDash val="dash"/>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bg1">
                  <a:lumMod val="65000"/>
                </a:schemeClr>
              </a:solidFill>
              <a:prstDash val="dash"/>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bg1">
                  <a:lumMod val="65000"/>
                </a:schemeClr>
              </a:solidFill>
              <a:prstDash val="dash"/>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bg1">
                  <a:lumMod val="65000"/>
                </a:schemeClr>
              </a:solidFill>
              <a:prstDash val="dash"/>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bg1">
                  <a:lumMod val="65000"/>
                </a:schemeClr>
              </a:solidFill>
              <a:prstDash val="dash"/>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tx1"/>
              </a:solidFill>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bg1">
                  <a:lumMod val="65000"/>
                </a:schemeClr>
              </a:solidFill>
              <a:prstDash val="dash"/>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358512"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A84DD991-E77E-FD48-BC3C-A072DED93995}"/>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458901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F5853091-A879-884C-926F-2B341ADD1864}"/>
              </a:ext>
            </a:extLst>
          </p:cNvPr>
          <p:cNvSpPr/>
          <p:nvPr/>
        </p:nvSpPr>
        <p:spPr>
          <a:xfrm>
            <a:off x="2120630" y="1070043"/>
            <a:ext cx="3774332" cy="3122578"/>
          </a:xfrm>
          <a:custGeom>
            <a:avLst/>
            <a:gdLst>
              <a:gd name="connsiteX0" fmla="*/ 2694561 w 3774332"/>
              <a:gd name="connsiteY0" fmla="*/ 194553 h 3122578"/>
              <a:gd name="connsiteX1" fmla="*/ 2626468 w 3774332"/>
              <a:gd name="connsiteY1" fmla="*/ 184825 h 3122578"/>
              <a:gd name="connsiteX2" fmla="*/ 2587557 w 3774332"/>
              <a:gd name="connsiteY2" fmla="*/ 145914 h 3122578"/>
              <a:gd name="connsiteX3" fmla="*/ 2529191 w 3774332"/>
              <a:gd name="connsiteY3" fmla="*/ 116731 h 3122578"/>
              <a:gd name="connsiteX4" fmla="*/ 2470825 w 3774332"/>
              <a:gd name="connsiteY4" fmla="*/ 77821 h 3122578"/>
              <a:gd name="connsiteX5" fmla="*/ 2412459 w 3774332"/>
              <a:gd name="connsiteY5" fmla="*/ 58366 h 3122578"/>
              <a:gd name="connsiteX6" fmla="*/ 2383276 w 3774332"/>
              <a:gd name="connsiteY6" fmla="*/ 38910 h 3122578"/>
              <a:gd name="connsiteX7" fmla="*/ 2276272 w 3774332"/>
              <a:gd name="connsiteY7" fmla="*/ 9727 h 3122578"/>
              <a:gd name="connsiteX8" fmla="*/ 2159540 w 3774332"/>
              <a:gd name="connsiteY8" fmla="*/ 0 h 3122578"/>
              <a:gd name="connsiteX9" fmla="*/ 1984442 w 3774332"/>
              <a:gd name="connsiteY9" fmla="*/ 9727 h 3122578"/>
              <a:gd name="connsiteX10" fmla="*/ 1935804 w 3774332"/>
              <a:gd name="connsiteY10" fmla="*/ 19455 h 3122578"/>
              <a:gd name="connsiteX11" fmla="*/ 1857983 w 3774332"/>
              <a:gd name="connsiteY11" fmla="*/ 29183 h 3122578"/>
              <a:gd name="connsiteX12" fmla="*/ 1760706 w 3774332"/>
              <a:gd name="connsiteY12" fmla="*/ 48638 h 3122578"/>
              <a:gd name="connsiteX13" fmla="*/ 1546698 w 3774332"/>
              <a:gd name="connsiteY13" fmla="*/ 68093 h 3122578"/>
              <a:gd name="connsiteX14" fmla="*/ 992221 w 3774332"/>
              <a:gd name="connsiteY14" fmla="*/ 58366 h 3122578"/>
              <a:gd name="connsiteX15" fmla="*/ 846306 w 3774332"/>
              <a:gd name="connsiteY15" fmla="*/ 38910 h 3122578"/>
              <a:gd name="connsiteX16" fmla="*/ 817123 w 3774332"/>
              <a:gd name="connsiteY16" fmla="*/ 29183 h 3122578"/>
              <a:gd name="connsiteX17" fmla="*/ 476655 w 3774332"/>
              <a:gd name="connsiteY17" fmla="*/ 38910 h 3122578"/>
              <a:gd name="connsiteX18" fmla="*/ 398834 w 3774332"/>
              <a:gd name="connsiteY18" fmla="*/ 68093 h 3122578"/>
              <a:gd name="connsiteX19" fmla="*/ 369651 w 3774332"/>
              <a:gd name="connsiteY19" fmla="*/ 87548 h 3122578"/>
              <a:gd name="connsiteX20" fmla="*/ 272374 w 3774332"/>
              <a:gd name="connsiteY20" fmla="*/ 145914 h 3122578"/>
              <a:gd name="connsiteX21" fmla="*/ 243191 w 3774332"/>
              <a:gd name="connsiteY21" fmla="*/ 165370 h 3122578"/>
              <a:gd name="connsiteX22" fmla="*/ 184825 w 3774332"/>
              <a:gd name="connsiteY22" fmla="*/ 214008 h 3122578"/>
              <a:gd name="connsiteX23" fmla="*/ 145915 w 3774332"/>
              <a:gd name="connsiteY23" fmla="*/ 272374 h 3122578"/>
              <a:gd name="connsiteX24" fmla="*/ 116732 w 3774332"/>
              <a:gd name="connsiteY24" fmla="*/ 330740 h 3122578"/>
              <a:gd name="connsiteX25" fmla="*/ 87549 w 3774332"/>
              <a:gd name="connsiteY25" fmla="*/ 389106 h 3122578"/>
              <a:gd name="connsiteX26" fmla="*/ 77821 w 3774332"/>
              <a:gd name="connsiteY26" fmla="*/ 437744 h 3122578"/>
              <a:gd name="connsiteX27" fmla="*/ 68093 w 3774332"/>
              <a:gd name="connsiteY27" fmla="*/ 466927 h 3122578"/>
              <a:gd name="connsiteX28" fmla="*/ 48638 w 3774332"/>
              <a:gd name="connsiteY28" fmla="*/ 554476 h 3122578"/>
              <a:gd name="connsiteX29" fmla="*/ 29183 w 3774332"/>
              <a:gd name="connsiteY29" fmla="*/ 778212 h 3122578"/>
              <a:gd name="connsiteX30" fmla="*/ 19455 w 3774332"/>
              <a:gd name="connsiteY30" fmla="*/ 1001948 h 3122578"/>
              <a:gd name="connsiteX31" fmla="*/ 0 w 3774332"/>
              <a:gd name="connsiteY31" fmla="*/ 1527242 h 3122578"/>
              <a:gd name="connsiteX32" fmla="*/ 9727 w 3774332"/>
              <a:gd name="connsiteY32" fmla="*/ 1994170 h 3122578"/>
              <a:gd name="connsiteX33" fmla="*/ 19455 w 3774332"/>
              <a:gd name="connsiteY33" fmla="*/ 2052536 h 3122578"/>
              <a:gd name="connsiteX34" fmla="*/ 38910 w 3774332"/>
              <a:gd name="connsiteY34" fmla="*/ 2081719 h 3122578"/>
              <a:gd name="connsiteX35" fmla="*/ 68093 w 3774332"/>
              <a:gd name="connsiteY35" fmla="*/ 2169268 h 3122578"/>
              <a:gd name="connsiteX36" fmla="*/ 107004 w 3774332"/>
              <a:gd name="connsiteY36" fmla="*/ 2266544 h 3122578"/>
              <a:gd name="connsiteX37" fmla="*/ 136187 w 3774332"/>
              <a:gd name="connsiteY37" fmla="*/ 2305455 h 3122578"/>
              <a:gd name="connsiteX38" fmla="*/ 214008 w 3774332"/>
              <a:gd name="connsiteY38" fmla="*/ 2431914 h 3122578"/>
              <a:gd name="connsiteX39" fmla="*/ 233464 w 3774332"/>
              <a:gd name="connsiteY39" fmla="*/ 2451370 h 3122578"/>
              <a:gd name="connsiteX40" fmla="*/ 291830 w 3774332"/>
              <a:gd name="connsiteY40" fmla="*/ 2538919 h 3122578"/>
              <a:gd name="connsiteX41" fmla="*/ 350196 w 3774332"/>
              <a:gd name="connsiteY41" fmla="*/ 2597285 h 3122578"/>
              <a:gd name="connsiteX42" fmla="*/ 437744 w 3774332"/>
              <a:gd name="connsiteY42" fmla="*/ 2694561 h 3122578"/>
              <a:gd name="connsiteX43" fmla="*/ 466927 w 3774332"/>
              <a:gd name="connsiteY43" fmla="*/ 2723744 h 3122578"/>
              <a:gd name="connsiteX44" fmla="*/ 496110 w 3774332"/>
              <a:gd name="connsiteY44" fmla="*/ 2743200 h 3122578"/>
              <a:gd name="connsiteX45" fmla="*/ 554476 w 3774332"/>
              <a:gd name="connsiteY45" fmla="*/ 2801566 h 3122578"/>
              <a:gd name="connsiteX46" fmla="*/ 583659 w 3774332"/>
              <a:gd name="connsiteY46" fmla="*/ 2830748 h 3122578"/>
              <a:gd name="connsiteX47" fmla="*/ 622570 w 3774332"/>
              <a:gd name="connsiteY47" fmla="*/ 2859931 h 3122578"/>
              <a:gd name="connsiteX48" fmla="*/ 680936 w 3774332"/>
              <a:gd name="connsiteY48" fmla="*/ 2898842 h 3122578"/>
              <a:gd name="connsiteX49" fmla="*/ 778213 w 3774332"/>
              <a:gd name="connsiteY49" fmla="*/ 2966936 h 3122578"/>
              <a:gd name="connsiteX50" fmla="*/ 807396 w 3774332"/>
              <a:gd name="connsiteY50" fmla="*/ 2976663 h 3122578"/>
              <a:gd name="connsiteX51" fmla="*/ 875489 w 3774332"/>
              <a:gd name="connsiteY51" fmla="*/ 3015574 h 3122578"/>
              <a:gd name="connsiteX52" fmla="*/ 933855 w 3774332"/>
              <a:gd name="connsiteY52" fmla="*/ 3035029 h 3122578"/>
              <a:gd name="connsiteX53" fmla="*/ 1021404 w 3774332"/>
              <a:gd name="connsiteY53" fmla="*/ 3064212 h 3122578"/>
              <a:gd name="connsiteX54" fmla="*/ 1099225 w 3774332"/>
              <a:gd name="connsiteY54" fmla="*/ 3083668 h 3122578"/>
              <a:gd name="connsiteX55" fmla="*/ 1313234 w 3774332"/>
              <a:gd name="connsiteY55" fmla="*/ 3103123 h 3122578"/>
              <a:gd name="connsiteX56" fmla="*/ 1566153 w 3774332"/>
              <a:gd name="connsiteY56" fmla="*/ 3112851 h 3122578"/>
              <a:gd name="connsiteX57" fmla="*/ 1789889 w 3774332"/>
              <a:gd name="connsiteY57" fmla="*/ 3122578 h 3122578"/>
              <a:gd name="connsiteX58" fmla="*/ 2169268 w 3774332"/>
              <a:gd name="connsiteY58" fmla="*/ 3112851 h 3122578"/>
              <a:gd name="connsiteX59" fmla="*/ 2247089 w 3774332"/>
              <a:gd name="connsiteY59" fmla="*/ 3093395 h 3122578"/>
              <a:gd name="connsiteX60" fmla="*/ 2334638 w 3774332"/>
              <a:gd name="connsiteY60" fmla="*/ 3073940 h 3122578"/>
              <a:gd name="connsiteX61" fmla="*/ 2393004 w 3774332"/>
              <a:gd name="connsiteY61" fmla="*/ 3054485 h 3122578"/>
              <a:gd name="connsiteX62" fmla="*/ 2461098 w 3774332"/>
              <a:gd name="connsiteY62" fmla="*/ 3025302 h 3122578"/>
              <a:gd name="connsiteX63" fmla="*/ 2548647 w 3774332"/>
              <a:gd name="connsiteY63" fmla="*/ 2976663 h 3122578"/>
              <a:gd name="connsiteX64" fmla="*/ 2636196 w 3774332"/>
              <a:gd name="connsiteY64" fmla="*/ 2947480 h 3122578"/>
              <a:gd name="connsiteX65" fmla="*/ 2714017 w 3774332"/>
              <a:gd name="connsiteY65" fmla="*/ 2908570 h 3122578"/>
              <a:gd name="connsiteX66" fmla="*/ 2743200 w 3774332"/>
              <a:gd name="connsiteY66" fmla="*/ 2889114 h 3122578"/>
              <a:gd name="connsiteX67" fmla="*/ 2772383 w 3774332"/>
              <a:gd name="connsiteY67" fmla="*/ 2879387 h 3122578"/>
              <a:gd name="connsiteX68" fmla="*/ 2811293 w 3774332"/>
              <a:gd name="connsiteY68" fmla="*/ 2859931 h 3122578"/>
              <a:gd name="connsiteX69" fmla="*/ 2937753 w 3774332"/>
              <a:gd name="connsiteY69" fmla="*/ 2821021 h 3122578"/>
              <a:gd name="connsiteX70" fmla="*/ 2976664 w 3774332"/>
              <a:gd name="connsiteY70" fmla="*/ 2801566 h 3122578"/>
              <a:gd name="connsiteX71" fmla="*/ 3083668 w 3774332"/>
              <a:gd name="connsiteY71" fmla="*/ 2772383 h 3122578"/>
              <a:gd name="connsiteX72" fmla="*/ 3122579 w 3774332"/>
              <a:gd name="connsiteY72" fmla="*/ 2752927 h 3122578"/>
              <a:gd name="connsiteX73" fmla="*/ 3151761 w 3774332"/>
              <a:gd name="connsiteY73" fmla="*/ 2733472 h 3122578"/>
              <a:gd name="connsiteX74" fmla="*/ 3180944 w 3774332"/>
              <a:gd name="connsiteY74" fmla="*/ 2723744 h 3122578"/>
              <a:gd name="connsiteX75" fmla="*/ 3219855 w 3774332"/>
              <a:gd name="connsiteY75" fmla="*/ 2704289 h 3122578"/>
              <a:gd name="connsiteX76" fmla="*/ 3249038 w 3774332"/>
              <a:gd name="connsiteY76" fmla="*/ 2684834 h 3122578"/>
              <a:gd name="connsiteX77" fmla="*/ 3278221 w 3774332"/>
              <a:gd name="connsiteY77" fmla="*/ 2675106 h 3122578"/>
              <a:gd name="connsiteX78" fmla="*/ 3307404 w 3774332"/>
              <a:gd name="connsiteY78" fmla="*/ 2655651 h 3122578"/>
              <a:gd name="connsiteX79" fmla="*/ 3365770 w 3774332"/>
              <a:gd name="connsiteY79" fmla="*/ 2626468 h 3122578"/>
              <a:gd name="connsiteX80" fmla="*/ 3404681 w 3774332"/>
              <a:gd name="connsiteY80" fmla="*/ 2587557 h 3122578"/>
              <a:gd name="connsiteX81" fmla="*/ 3463047 w 3774332"/>
              <a:gd name="connsiteY81" fmla="*/ 2519463 h 3122578"/>
              <a:gd name="connsiteX82" fmla="*/ 3482502 w 3774332"/>
              <a:gd name="connsiteY82" fmla="*/ 2480553 h 3122578"/>
              <a:gd name="connsiteX83" fmla="*/ 3501957 w 3774332"/>
              <a:gd name="connsiteY83" fmla="*/ 2451370 h 3122578"/>
              <a:gd name="connsiteX84" fmla="*/ 3511685 w 3774332"/>
              <a:gd name="connsiteY84" fmla="*/ 2422187 h 3122578"/>
              <a:gd name="connsiteX85" fmla="*/ 3550596 w 3774332"/>
              <a:gd name="connsiteY85" fmla="*/ 2354093 h 3122578"/>
              <a:gd name="connsiteX86" fmla="*/ 3560323 w 3774332"/>
              <a:gd name="connsiteY86" fmla="*/ 2324910 h 3122578"/>
              <a:gd name="connsiteX87" fmla="*/ 3579779 w 3774332"/>
              <a:gd name="connsiteY87" fmla="*/ 2305455 h 3122578"/>
              <a:gd name="connsiteX88" fmla="*/ 3599234 w 3774332"/>
              <a:gd name="connsiteY88" fmla="*/ 2276272 h 3122578"/>
              <a:gd name="connsiteX89" fmla="*/ 3608961 w 3774332"/>
              <a:gd name="connsiteY89" fmla="*/ 2237361 h 3122578"/>
              <a:gd name="connsiteX90" fmla="*/ 3686783 w 3774332"/>
              <a:gd name="connsiteY90" fmla="*/ 2101174 h 3122578"/>
              <a:gd name="connsiteX91" fmla="*/ 3735421 w 3774332"/>
              <a:gd name="connsiteY91" fmla="*/ 1955259 h 3122578"/>
              <a:gd name="connsiteX92" fmla="*/ 3754876 w 3774332"/>
              <a:gd name="connsiteY92" fmla="*/ 1896893 h 3122578"/>
              <a:gd name="connsiteX93" fmla="*/ 3774332 w 3774332"/>
              <a:gd name="connsiteY93" fmla="*/ 1770434 h 3122578"/>
              <a:gd name="connsiteX94" fmla="*/ 3764604 w 3774332"/>
              <a:gd name="connsiteY94" fmla="*/ 1089497 h 3122578"/>
              <a:gd name="connsiteX95" fmla="*/ 3754876 w 3774332"/>
              <a:gd name="connsiteY95" fmla="*/ 1060314 h 3122578"/>
              <a:gd name="connsiteX96" fmla="*/ 3745149 w 3774332"/>
              <a:gd name="connsiteY96" fmla="*/ 1001948 h 3122578"/>
              <a:gd name="connsiteX97" fmla="*/ 3725693 w 3774332"/>
              <a:gd name="connsiteY97" fmla="*/ 953310 h 3122578"/>
              <a:gd name="connsiteX98" fmla="*/ 3715966 w 3774332"/>
              <a:gd name="connsiteY98" fmla="*/ 914400 h 3122578"/>
              <a:gd name="connsiteX99" fmla="*/ 3696510 w 3774332"/>
              <a:gd name="connsiteY99" fmla="*/ 885217 h 3122578"/>
              <a:gd name="connsiteX100" fmla="*/ 3677055 w 3774332"/>
              <a:gd name="connsiteY100" fmla="*/ 846306 h 3122578"/>
              <a:gd name="connsiteX101" fmla="*/ 3628417 w 3774332"/>
              <a:gd name="connsiteY101" fmla="*/ 787940 h 3122578"/>
              <a:gd name="connsiteX102" fmla="*/ 3589506 w 3774332"/>
              <a:gd name="connsiteY102" fmla="*/ 739302 h 3122578"/>
              <a:gd name="connsiteX103" fmla="*/ 3560323 w 3774332"/>
              <a:gd name="connsiteY103" fmla="*/ 710119 h 3122578"/>
              <a:gd name="connsiteX104" fmla="*/ 3540868 w 3774332"/>
              <a:gd name="connsiteY104" fmla="*/ 680936 h 3122578"/>
              <a:gd name="connsiteX105" fmla="*/ 3482502 w 3774332"/>
              <a:gd name="connsiteY105" fmla="*/ 622570 h 3122578"/>
              <a:gd name="connsiteX106" fmla="*/ 3443591 w 3774332"/>
              <a:gd name="connsiteY106" fmla="*/ 573931 h 3122578"/>
              <a:gd name="connsiteX107" fmla="*/ 3414408 w 3774332"/>
              <a:gd name="connsiteY107" fmla="*/ 554476 h 3122578"/>
              <a:gd name="connsiteX108" fmla="*/ 3385225 w 3774332"/>
              <a:gd name="connsiteY108" fmla="*/ 525293 h 3122578"/>
              <a:gd name="connsiteX109" fmla="*/ 3326859 w 3774332"/>
              <a:gd name="connsiteY109" fmla="*/ 496110 h 3122578"/>
              <a:gd name="connsiteX110" fmla="*/ 3297676 w 3774332"/>
              <a:gd name="connsiteY110" fmla="*/ 476655 h 3122578"/>
              <a:gd name="connsiteX111" fmla="*/ 3239310 w 3774332"/>
              <a:gd name="connsiteY111" fmla="*/ 457200 h 3122578"/>
              <a:gd name="connsiteX112" fmla="*/ 3190672 w 3774332"/>
              <a:gd name="connsiteY112" fmla="*/ 428017 h 3122578"/>
              <a:gd name="connsiteX113" fmla="*/ 3132306 w 3774332"/>
              <a:gd name="connsiteY113" fmla="*/ 398834 h 3122578"/>
              <a:gd name="connsiteX114" fmla="*/ 3044757 w 3774332"/>
              <a:gd name="connsiteY114" fmla="*/ 340468 h 3122578"/>
              <a:gd name="connsiteX115" fmla="*/ 3015574 w 3774332"/>
              <a:gd name="connsiteY115" fmla="*/ 321012 h 3122578"/>
              <a:gd name="connsiteX116" fmla="*/ 2986391 w 3774332"/>
              <a:gd name="connsiteY116" fmla="*/ 311285 h 3122578"/>
              <a:gd name="connsiteX117" fmla="*/ 2937753 w 3774332"/>
              <a:gd name="connsiteY117" fmla="*/ 282102 h 3122578"/>
              <a:gd name="connsiteX118" fmla="*/ 2918298 w 3774332"/>
              <a:gd name="connsiteY118" fmla="*/ 262646 h 3122578"/>
              <a:gd name="connsiteX119" fmla="*/ 2859932 w 3774332"/>
              <a:gd name="connsiteY119" fmla="*/ 243191 h 3122578"/>
              <a:gd name="connsiteX120" fmla="*/ 2830749 w 3774332"/>
              <a:gd name="connsiteY120" fmla="*/ 233463 h 3122578"/>
              <a:gd name="connsiteX121" fmla="*/ 2723744 w 3774332"/>
              <a:gd name="connsiteY121" fmla="*/ 204280 h 3122578"/>
              <a:gd name="connsiteX122" fmla="*/ 2694561 w 3774332"/>
              <a:gd name="connsiteY122" fmla="*/ 194553 h 312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3774332" h="3122578">
                <a:moveTo>
                  <a:pt x="2694561" y="194553"/>
                </a:moveTo>
                <a:cubicBezTo>
                  <a:pt x="2678348" y="191311"/>
                  <a:pt x="2647341" y="194313"/>
                  <a:pt x="2626468" y="184825"/>
                </a:cubicBezTo>
                <a:cubicBezTo>
                  <a:pt x="2609769" y="177235"/>
                  <a:pt x="2601484" y="157851"/>
                  <a:pt x="2587557" y="145914"/>
                </a:cubicBezTo>
                <a:cubicBezTo>
                  <a:pt x="2539830" y="105005"/>
                  <a:pt x="2578246" y="143984"/>
                  <a:pt x="2529191" y="116731"/>
                </a:cubicBezTo>
                <a:cubicBezTo>
                  <a:pt x="2508751" y="105376"/>
                  <a:pt x="2493007" y="85215"/>
                  <a:pt x="2470825" y="77821"/>
                </a:cubicBezTo>
                <a:lnTo>
                  <a:pt x="2412459" y="58366"/>
                </a:lnTo>
                <a:cubicBezTo>
                  <a:pt x="2402731" y="51881"/>
                  <a:pt x="2393960" y="43658"/>
                  <a:pt x="2383276" y="38910"/>
                </a:cubicBezTo>
                <a:cubicBezTo>
                  <a:pt x="2355894" y="26740"/>
                  <a:pt x="2307393" y="13388"/>
                  <a:pt x="2276272" y="9727"/>
                </a:cubicBezTo>
                <a:cubicBezTo>
                  <a:pt x="2237494" y="5165"/>
                  <a:pt x="2198451" y="3242"/>
                  <a:pt x="2159540" y="0"/>
                </a:cubicBezTo>
                <a:cubicBezTo>
                  <a:pt x="2101174" y="3242"/>
                  <a:pt x="2042678" y="4663"/>
                  <a:pt x="1984442" y="9727"/>
                </a:cubicBezTo>
                <a:cubicBezTo>
                  <a:pt x="1967970" y="11159"/>
                  <a:pt x="1952145" y="16941"/>
                  <a:pt x="1935804" y="19455"/>
                </a:cubicBezTo>
                <a:cubicBezTo>
                  <a:pt x="1909966" y="23430"/>
                  <a:pt x="1883923" y="25940"/>
                  <a:pt x="1857983" y="29183"/>
                </a:cubicBezTo>
                <a:cubicBezTo>
                  <a:pt x="1802048" y="47827"/>
                  <a:pt x="1850131" y="33733"/>
                  <a:pt x="1760706" y="48638"/>
                </a:cubicBezTo>
                <a:cubicBezTo>
                  <a:pt x="1626153" y="71064"/>
                  <a:pt x="1834674" y="51154"/>
                  <a:pt x="1546698" y="68093"/>
                </a:cubicBezTo>
                <a:lnTo>
                  <a:pt x="992221" y="58366"/>
                </a:lnTo>
                <a:cubicBezTo>
                  <a:pt x="976200" y="57873"/>
                  <a:pt x="866123" y="41741"/>
                  <a:pt x="846306" y="38910"/>
                </a:cubicBezTo>
                <a:cubicBezTo>
                  <a:pt x="836578" y="35668"/>
                  <a:pt x="827377" y="29183"/>
                  <a:pt x="817123" y="29183"/>
                </a:cubicBezTo>
                <a:cubicBezTo>
                  <a:pt x="703587" y="29183"/>
                  <a:pt x="590042" y="33095"/>
                  <a:pt x="476655" y="38910"/>
                </a:cubicBezTo>
                <a:cubicBezTo>
                  <a:pt x="450357" y="40259"/>
                  <a:pt x="420763" y="55562"/>
                  <a:pt x="398834" y="68093"/>
                </a:cubicBezTo>
                <a:cubicBezTo>
                  <a:pt x="388683" y="73893"/>
                  <a:pt x="379802" y="81748"/>
                  <a:pt x="369651" y="87548"/>
                </a:cubicBezTo>
                <a:cubicBezTo>
                  <a:pt x="264969" y="147367"/>
                  <a:pt x="415135" y="50740"/>
                  <a:pt x="272374" y="145914"/>
                </a:cubicBezTo>
                <a:cubicBezTo>
                  <a:pt x="262646" y="152399"/>
                  <a:pt x="251458" y="157103"/>
                  <a:pt x="243191" y="165370"/>
                </a:cubicBezTo>
                <a:cubicBezTo>
                  <a:pt x="205741" y="202820"/>
                  <a:pt x="225455" y="186922"/>
                  <a:pt x="184825" y="214008"/>
                </a:cubicBezTo>
                <a:cubicBezTo>
                  <a:pt x="171855" y="233463"/>
                  <a:pt x="153309" y="250192"/>
                  <a:pt x="145915" y="272374"/>
                </a:cubicBezTo>
                <a:cubicBezTo>
                  <a:pt x="121463" y="345727"/>
                  <a:pt x="154447" y="255310"/>
                  <a:pt x="116732" y="330740"/>
                </a:cubicBezTo>
                <a:cubicBezTo>
                  <a:pt x="76458" y="411288"/>
                  <a:pt x="143304" y="305472"/>
                  <a:pt x="87549" y="389106"/>
                </a:cubicBezTo>
                <a:cubicBezTo>
                  <a:pt x="84306" y="405319"/>
                  <a:pt x="81831" y="421704"/>
                  <a:pt x="77821" y="437744"/>
                </a:cubicBezTo>
                <a:cubicBezTo>
                  <a:pt x="75334" y="447692"/>
                  <a:pt x="70317" y="456917"/>
                  <a:pt x="68093" y="466927"/>
                </a:cubicBezTo>
                <a:cubicBezTo>
                  <a:pt x="45267" y="569648"/>
                  <a:pt x="70537" y="488781"/>
                  <a:pt x="48638" y="554476"/>
                </a:cubicBezTo>
                <a:cubicBezTo>
                  <a:pt x="40592" y="634934"/>
                  <a:pt x="33769" y="695659"/>
                  <a:pt x="29183" y="778212"/>
                </a:cubicBezTo>
                <a:cubicBezTo>
                  <a:pt x="25042" y="852746"/>
                  <a:pt x="21716" y="927333"/>
                  <a:pt x="19455" y="1001948"/>
                </a:cubicBezTo>
                <a:cubicBezTo>
                  <a:pt x="4094" y="1508853"/>
                  <a:pt x="23586" y="1267782"/>
                  <a:pt x="0" y="1527242"/>
                </a:cubicBezTo>
                <a:cubicBezTo>
                  <a:pt x="3242" y="1682885"/>
                  <a:pt x="3965" y="1838600"/>
                  <a:pt x="9727" y="1994170"/>
                </a:cubicBezTo>
                <a:cubicBezTo>
                  <a:pt x="10457" y="2013880"/>
                  <a:pt x="13218" y="2033824"/>
                  <a:pt x="19455" y="2052536"/>
                </a:cubicBezTo>
                <a:cubicBezTo>
                  <a:pt x="23152" y="2063627"/>
                  <a:pt x="34413" y="2070927"/>
                  <a:pt x="38910" y="2081719"/>
                </a:cubicBezTo>
                <a:cubicBezTo>
                  <a:pt x="50741" y="2110114"/>
                  <a:pt x="58365" y="2140085"/>
                  <a:pt x="68093" y="2169268"/>
                </a:cubicBezTo>
                <a:cubicBezTo>
                  <a:pt x="79717" y="2204140"/>
                  <a:pt x="88022" y="2231745"/>
                  <a:pt x="107004" y="2266544"/>
                </a:cubicBezTo>
                <a:cubicBezTo>
                  <a:pt x="114768" y="2280777"/>
                  <a:pt x="127483" y="2291777"/>
                  <a:pt x="136187" y="2305455"/>
                </a:cubicBezTo>
                <a:cubicBezTo>
                  <a:pt x="182774" y="2378663"/>
                  <a:pt x="164108" y="2365379"/>
                  <a:pt x="214008" y="2431914"/>
                </a:cubicBezTo>
                <a:cubicBezTo>
                  <a:pt x="219511" y="2439251"/>
                  <a:pt x="228069" y="2443953"/>
                  <a:pt x="233464" y="2451370"/>
                </a:cubicBezTo>
                <a:cubicBezTo>
                  <a:pt x="254093" y="2479735"/>
                  <a:pt x="267029" y="2514118"/>
                  <a:pt x="291830" y="2538919"/>
                </a:cubicBezTo>
                <a:cubicBezTo>
                  <a:pt x="311285" y="2558374"/>
                  <a:pt x="333687" y="2575274"/>
                  <a:pt x="350196" y="2597285"/>
                </a:cubicBezTo>
                <a:cubicBezTo>
                  <a:pt x="395887" y="2658205"/>
                  <a:pt x="367916" y="2624732"/>
                  <a:pt x="437744" y="2694561"/>
                </a:cubicBezTo>
                <a:cubicBezTo>
                  <a:pt x="447472" y="2704289"/>
                  <a:pt x="455481" y="2716113"/>
                  <a:pt x="466927" y="2723744"/>
                </a:cubicBezTo>
                <a:cubicBezTo>
                  <a:pt x="476655" y="2730229"/>
                  <a:pt x="487372" y="2735433"/>
                  <a:pt x="496110" y="2743200"/>
                </a:cubicBezTo>
                <a:cubicBezTo>
                  <a:pt x="516674" y="2761479"/>
                  <a:pt x="535021" y="2782111"/>
                  <a:pt x="554476" y="2801566"/>
                </a:cubicBezTo>
                <a:cubicBezTo>
                  <a:pt x="564204" y="2811293"/>
                  <a:pt x="572654" y="2822494"/>
                  <a:pt x="583659" y="2830748"/>
                </a:cubicBezTo>
                <a:cubicBezTo>
                  <a:pt x="596629" y="2840476"/>
                  <a:pt x="609288" y="2850634"/>
                  <a:pt x="622570" y="2859931"/>
                </a:cubicBezTo>
                <a:cubicBezTo>
                  <a:pt x="641726" y="2873340"/>
                  <a:pt x="662230" y="2884813"/>
                  <a:pt x="680936" y="2898842"/>
                </a:cubicBezTo>
                <a:cubicBezTo>
                  <a:pt x="698693" y="2912159"/>
                  <a:pt x="763844" y="2962147"/>
                  <a:pt x="778213" y="2966936"/>
                </a:cubicBezTo>
                <a:lnTo>
                  <a:pt x="807396" y="2976663"/>
                </a:lnTo>
                <a:cubicBezTo>
                  <a:pt x="833719" y="2994213"/>
                  <a:pt x="844633" y="3003232"/>
                  <a:pt x="875489" y="3015574"/>
                </a:cubicBezTo>
                <a:cubicBezTo>
                  <a:pt x="894530" y="3023190"/>
                  <a:pt x="915512" y="3025857"/>
                  <a:pt x="933855" y="3035029"/>
                </a:cubicBezTo>
                <a:cubicBezTo>
                  <a:pt x="993857" y="3065031"/>
                  <a:pt x="951360" y="3048048"/>
                  <a:pt x="1021404" y="3064212"/>
                </a:cubicBezTo>
                <a:cubicBezTo>
                  <a:pt x="1047458" y="3070224"/>
                  <a:pt x="1072693" y="3080352"/>
                  <a:pt x="1099225" y="3083668"/>
                </a:cubicBezTo>
                <a:cubicBezTo>
                  <a:pt x="1195571" y="3095710"/>
                  <a:pt x="1197341" y="3097328"/>
                  <a:pt x="1313234" y="3103123"/>
                </a:cubicBezTo>
                <a:cubicBezTo>
                  <a:pt x="1397497" y="3107336"/>
                  <a:pt x="1481855" y="3109410"/>
                  <a:pt x="1566153" y="3112851"/>
                </a:cubicBezTo>
                <a:lnTo>
                  <a:pt x="1789889" y="3122578"/>
                </a:lnTo>
                <a:lnTo>
                  <a:pt x="2169268" y="3112851"/>
                </a:lnTo>
                <a:cubicBezTo>
                  <a:pt x="2204549" y="3111247"/>
                  <a:pt x="2216740" y="3102066"/>
                  <a:pt x="2247089" y="3093395"/>
                </a:cubicBezTo>
                <a:cubicBezTo>
                  <a:pt x="2430521" y="3040987"/>
                  <a:pt x="2114000" y="3134114"/>
                  <a:pt x="2334638" y="3073940"/>
                </a:cubicBezTo>
                <a:cubicBezTo>
                  <a:pt x="2354423" y="3068544"/>
                  <a:pt x="2393004" y="3054485"/>
                  <a:pt x="2393004" y="3054485"/>
                </a:cubicBezTo>
                <a:cubicBezTo>
                  <a:pt x="2452147" y="3015055"/>
                  <a:pt x="2389306" y="3052224"/>
                  <a:pt x="2461098" y="3025302"/>
                </a:cubicBezTo>
                <a:cubicBezTo>
                  <a:pt x="2536530" y="2997015"/>
                  <a:pt x="2462003" y="3013796"/>
                  <a:pt x="2548647" y="2976663"/>
                </a:cubicBezTo>
                <a:cubicBezTo>
                  <a:pt x="2576921" y="2964545"/>
                  <a:pt x="2610601" y="2964543"/>
                  <a:pt x="2636196" y="2947480"/>
                </a:cubicBezTo>
                <a:cubicBezTo>
                  <a:pt x="2703813" y="2902403"/>
                  <a:pt x="2618821" y="2956169"/>
                  <a:pt x="2714017" y="2908570"/>
                </a:cubicBezTo>
                <a:cubicBezTo>
                  <a:pt x="2724474" y="2903341"/>
                  <a:pt x="2732743" y="2894343"/>
                  <a:pt x="2743200" y="2889114"/>
                </a:cubicBezTo>
                <a:cubicBezTo>
                  <a:pt x="2752371" y="2884528"/>
                  <a:pt x="2762958" y="2883426"/>
                  <a:pt x="2772383" y="2879387"/>
                </a:cubicBezTo>
                <a:cubicBezTo>
                  <a:pt x="2785712" y="2873675"/>
                  <a:pt x="2797715" y="2865023"/>
                  <a:pt x="2811293" y="2859931"/>
                </a:cubicBezTo>
                <a:cubicBezTo>
                  <a:pt x="2890735" y="2830140"/>
                  <a:pt x="2812929" y="2883432"/>
                  <a:pt x="2937753" y="2821021"/>
                </a:cubicBezTo>
                <a:cubicBezTo>
                  <a:pt x="2950723" y="2814536"/>
                  <a:pt x="2963200" y="2806952"/>
                  <a:pt x="2976664" y="2801566"/>
                </a:cubicBezTo>
                <a:cubicBezTo>
                  <a:pt x="3026037" y="2781817"/>
                  <a:pt x="3034817" y="2782153"/>
                  <a:pt x="3083668" y="2772383"/>
                </a:cubicBezTo>
                <a:cubicBezTo>
                  <a:pt x="3096638" y="2765898"/>
                  <a:pt x="3109988" y="2760122"/>
                  <a:pt x="3122579" y="2752927"/>
                </a:cubicBezTo>
                <a:cubicBezTo>
                  <a:pt x="3132729" y="2747127"/>
                  <a:pt x="3141304" y="2738700"/>
                  <a:pt x="3151761" y="2733472"/>
                </a:cubicBezTo>
                <a:cubicBezTo>
                  <a:pt x="3160932" y="2728886"/>
                  <a:pt x="3171519" y="2727783"/>
                  <a:pt x="3180944" y="2723744"/>
                </a:cubicBezTo>
                <a:cubicBezTo>
                  <a:pt x="3194273" y="2718032"/>
                  <a:pt x="3207264" y="2711483"/>
                  <a:pt x="3219855" y="2704289"/>
                </a:cubicBezTo>
                <a:cubicBezTo>
                  <a:pt x="3230006" y="2698489"/>
                  <a:pt x="3238581" y="2690062"/>
                  <a:pt x="3249038" y="2684834"/>
                </a:cubicBezTo>
                <a:cubicBezTo>
                  <a:pt x="3258209" y="2680248"/>
                  <a:pt x="3269050" y="2679692"/>
                  <a:pt x="3278221" y="2675106"/>
                </a:cubicBezTo>
                <a:cubicBezTo>
                  <a:pt x="3288678" y="2669878"/>
                  <a:pt x="3296947" y="2660879"/>
                  <a:pt x="3307404" y="2655651"/>
                </a:cubicBezTo>
                <a:cubicBezTo>
                  <a:pt x="3348829" y="2634938"/>
                  <a:pt x="3326743" y="2659920"/>
                  <a:pt x="3365770" y="2626468"/>
                </a:cubicBezTo>
                <a:cubicBezTo>
                  <a:pt x="3379697" y="2614531"/>
                  <a:pt x="3391711" y="2600527"/>
                  <a:pt x="3404681" y="2587557"/>
                </a:cubicBezTo>
                <a:cubicBezTo>
                  <a:pt x="3431210" y="2561028"/>
                  <a:pt x="3442248" y="2552741"/>
                  <a:pt x="3463047" y="2519463"/>
                </a:cubicBezTo>
                <a:cubicBezTo>
                  <a:pt x="3470732" y="2507166"/>
                  <a:pt x="3475308" y="2493143"/>
                  <a:pt x="3482502" y="2480553"/>
                </a:cubicBezTo>
                <a:cubicBezTo>
                  <a:pt x="3488302" y="2470402"/>
                  <a:pt x="3496729" y="2461827"/>
                  <a:pt x="3501957" y="2451370"/>
                </a:cubicBezTo>
                <a:cubicBezTo>
                  <a:pt x="3506543" y="2442199"/>
                  <a:pt x="3507099" y="2431358"/>
                  <a:pt x="3511685" y="2422187"/>
                </a:cubicBezTo>
                <a:cubicBezTo>
                  <a:pt x="3560524" y="2324508"/>
                  <a:pt x="3499441" y="2473455"/>
                  <a:pt x="3550596" y="2354093"/>
                </a:cubicBezTo>
                <a:cubicBezTo>
                  <a:pt x="3554635" y="2344668"/>
                  <a:pt x="3555047" y="2333703"/>
                  <a:pt x="3560323" y="2324910"/>
                </a:cubicBezTo>
                <a:cubicBezTo>
                  <a:pt x="3565042" y="2317046"/>
                  <a:pt x="3574050" y="2312617"/>
                  <a:pt x="3579779" y="2305455"/>
                </a:cubicBezTo>
                <a:cubicBezTo>
                  <a:pt x="3587082" y="2296326"/>
                  <a:pt x="3592749" y="2286000"/>
                  <a:pt x="3599234" y="2276272"/>
                </a:cubicBezTo>
                <a:cubicBezTo>
                  <a:pt x="3602476" y="2263302"/>
                  <a:pt x="3602982" y="2249319"/>
                  <a:pt x="3608961" y="2237361"/>
                </a:cubicBezTo>
                <a:cubicBezTo>
                  <a:pt x="3651656" y="2151970"/>
                  <a:pt x="3652675" y="2203498"/>
                  <a:pt x="3686783" y="2101174"/>
                </a:cubicBezTo>
                <a:lnTo>
                  <a:pt x="3735421" y="1955259"/>
                </a:lnTo>
                <a:lnTo>
                  <a:pt x="3754876" y="1896893"/>
                </a:lnTo>
                <a:cubicBezTo>
                  <a:pt x="3769731" y="1822620"/>
                  <a:pt x="3762553" y="1864661"/>
                  <a:pt x="3774332" y="1770434"/>
                </a:cubicBezTo>
                <a:cubicBezTo>
                  <a:pt x="3771089" y="1543455"/>
                  <a:pt x="3770821" y="1316414"/>
                  <a:pt x="3764604" y="1089497"/>
                </a:cubicBezTo>
                <a:cubicBezTo>
                  <a:pt x="3764323" y="1079247"/>
                  <a:pt x="3757100" y="1070324"/>
                  <a:pt x="3754876" y="1060314"/>
                </a:cubicBezTo>
                <a:cubicBezTo>
                  <a:pt x="3750597" y="1041060"/>
                  <a:pt x="3750339" y="1020977"/>
                  <a:pt x="3745149" y="1001948"/>
                </a:cubicBezTo>
                <a:cubicBezTo>
                  <a:pt x="3740555" y="985102"/>
                  <a:pt x="3731215" y="969876"/>
                  <a:pt x="3725693" y="953310"/>
                </a:cubicBezTo>
                <a:cubicBezTo>
                  <a:pt x="3721465" y="940627"/>
                  <a:pt x="3721232" y="926688"/>
                  <a:pt x="3715966" y="914400"/>
                </a:cubicBezTo>
                <a:cubicBezTo>
                  <a:pt x="3711361" y="903654"/>
                  <a:pt x="3702311" y="895368"/>
                  <a:pt x="3696510" y="885217"/>
                </a:cubicBezTo>
                <a:cubicBezTo>
                  <a:pt x="3689315" y="872626"/>
                  <a:pt x="3684249" y="858897"/>
                  <a:pt x="3677055" y="846306"/>
                </a:cubicBezTo>
                <a:cubicBezTo>
                  <a:pt x="3653634" y="805319"/>
                  <a:pt x="3661554" y="825810"/>
                  <a:pt x="3628417" y="787940"/>
                </a:cubicBezTo>
                <a:cubicBezTo>
                  <a:pt x="3614745" y="772315"/>
                  <a:pt x="3603178" y="754927"/>
                  <a:pt x="3589506" y="739302"/>
                </a:cubicBezTo>
                <a:cubicBezTo>
                  <a:pt x="3580447" y="728949"/>
                  <a:pt x="3569130" y="720687"/>
                  <a:pt x="3560323" y="710119"/>
                </a:cubicBezTo>
                <a:cubicBezTo>
                  <a:pt x="3552839" y="701138"/>
                  <a:pt x="3548635" y="689674"/>
                  <a:pt x="3540868" y="680936"/>
                </a:cubicBezTo>
                <a:cubicBezTo>
                  <a:pt x="3522589" y="660372"/>
                  <a:pt x="3497764" y="645463"/>
                  <a:pt x="3482502" y="622570"/>
                </a:cubicBezTo>
                <a:cubicBezTo>
                  <a:pt x="3468056" y="600901"/>
                  <a:pt x="3463393" y="589773"/>
                  <a:pt x="3443591" y="573931"/>
                </a:cubicBezTo>
                <a:cubicBezTo>
                  <a:pt x="3434462" y="566628"/>
                  <a:pt x="3423389" y="561960"/>
                  <a:pt x="3414408" y="554476"/>
                </a:cubicBezTo>
                <a:cubicBezTo>
                  <a:pt x="3403840" y="545669"/>
                  <a:pt x="3395793" y="534100"/>
                  <a:pt x="3385225" y="525293"/>
                </a:cubicBezTo>
                <a:cubicBezTo>
                  <a:pt x="3343410" y="490448"/>
                  <a:pt x="3370729" y="518045"/>
                  <a:pt x="3326859" y="496110"/>
                </a:cubicBezTo>
                <a:cubicBezTo>
                  <a:pt x="3316402" y="490882"/>
                  <a:pt x="3308360" y="481403"/>
                  <a:pt x="3297676" y="476655"/>
                </a:cubicBezTo>
                <a:cubicBezTo>
                  <a:pt x="3278936" y="468326"/>
                  <a:pt x="3239310" y="457200"/>
                  <a:pt x="3239310" y="457200"/>
                </a:cubicBezTo>
                <a:cubicBezTo>
                  <a:pt x="3201309" y="419197"/>
                  <a:pt x="3241184" y="453273"/>
                  <a:pt x="3190672" y="428017"/>
                </a:cubicBezTo>
                <a:cubicBezTo>
                  <a:pt x="3115243" y="390302"/>
                  <a:pt x="3205658" y="423283"/>
                  <a:pt x="3132306" y="398834"/>
                </a:cubicBezTo>
                <a:lnTo>
                  <a:pt x="3044757" y="340468"/>
                </a:lnTo>
                <a:cubicBezTo>
                  <a:pt x="3035029" y="333983"/>
                  <a:pt x="3026665" y="324709"/>
                  <a:pt x="3015574" y="321012"/>
                </a:cubicBezTo>
                <a:lnTo>
                  <a:pt x="2986391" y="311285"/>
                </a:lnTo>
                <a:cubicBezTo>
                  <a:pt x="2937096" y="261988"/>
                  <a:pt x="3000892" y="319986"/>
                  <a:pt x="2937753" y="282102"/>
                </a:cubicBezTo>
                <a:cubicBezTo>
                  <a:pt x="2929889" y="277383"/>
                  <a:pt x="2926501" y="266748"/>
                  <a:pt x="2918298" y="262646"/>
                </a:cubicBezTo>
                <a:cubicBezTo>
                  <a:pt x="2899955" y="253475"/>
                  <a:pt x="2879387" y="249676"/>
                  <a:pt x="2859932" y="243191"/>
                </a:cubicBezTo>
                <a:cubicBezTo>
                  <a:pt x="2850204" y="239948"/>
                  <a:pt x="2840804" y="235474"/>
                  <a:pt x="2830749" y="233463"/>
                </a:cubicBezTo>
                <a:cubicBezTo>
                  <a:pt x="2804642" y="228242"/>
                  <a:pt x="2744906" y="218388"/>
                  <a:pt x="2723744" y="204280"/>
                </a:cubicBezTo>
                <a:cubicBezTo>
                  <a:pt x="2690746" y="182281"/>
                  <a:pt x="2710774" y="197795"/>
                  <a:pt x="2694561" y="194553"/>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5" name="Title 1"/>
          <p:cNvSpPr>
            <a:spLocks noGrp="1"/>
          </p:cNvSpPr>
          <p:nvPr>
            <p:ph type="title"/>
            <p:custDataLst>
              <p:tags r:id="rId1"/>
            </p:custDataLst>
          </p:nvPr>
        </p:nvSpPr>
        <p:spPr/>
        <p:txBody>
          <a:bodyPr/>
          <a:lstStyle/>
          <a:p>
            <a:pPr eaLnBrk="1" hangingPunct="1"/>
            <a:r>
              <a:rPr lang="en-US" dirty="0"/>
              <a:t>Dijkstra’s Algorithm: Example #2</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58</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C, E, B, F, G</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1336872157"/>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3</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E</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1</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2</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4</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 typeface="Symbol" panose="05050102010706020507" pitchFamily="18" charset="2"/>
                        <a:buNone/>
                        <a:tabLst/>
                        <a:defRPr/>
                      </a:pPr>
                      <a:r>
                        <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Symbol"/>
                        </a:rPr>
                        <a:t>6</a:t>
                      </a:r>
                      <a:endParaRPr kumimoji="0" 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a:solidFill>
                    <a:schemeClr val="bg1">
                      <a:lumMod val="50000"/>
                    </a:schemeClr>
                  </a:solidFill>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solidFill>
              <a:schemeClr val="bg1">
                <a:lumMod val="85000"/>
              </a:schemeClr>
            </a:solidFill>
            <a:ln w="19050">
              <a:solidFill>
                <a:schemeClr val="bg1">
                  <a:lumMod val="65000"/>
                </a:schemeClr>
              </a:solidFill>
              <a:round/>
              <a:headEnd/>
              <a:tailEnd/>
            </a:ln>
          </p:spPr>
          <p:txBody>
            <a:bodyPr wrap="none" anchor="ctr"/>
            <a:lstStyle/>
            <a:p>
              <a:pPr algn="ctr"/>
              <a:r>
                <a:rPr lang="en-US" sz="2400" dirty="0">
                  <a:solidFill>
                    <a:schemeClr val="bg1">
                      <a:lumMod val="50000"/>
                    </a:schemeClr>
                  </a:solidFill>
                  <a:latin typeface="Calibri" panose="020F0502020204030204" pitchFamily="34" charset="0"/>
                  <a:cs typeface="Calibri" panose="020F0502020204030204" pitchFamily="34" charset="0"/>
                </a:rPr>
                <a:t>G</a:t>
              </a:r>
            </a:p>
          </p:txBody>
        </p:sp>
        <p:cxnSp>
          <p:nvCxnSpPr>
            <p:cNvPr id="107" name="AutoShape 24">
              <a:extLst>
                <a:ext uri="{FF2B5EF4-FFF2-40B4-BE49-F238E27FC236}">
                  <a16:creationId xmlns:a16="http://schemas.microsoft.com/office/drawing/2014/main" id="{13AC1D93-5536-4A4F-9FDC-6B4CB51EEF97}"/>
                </a:ext>
              </a:extLst>
            </p:cNvPr>
            <p:cNvCxnSpPr>
              <a:cxnSpLocks noChangeShapeType="1"/>
              <a:stCxn id="53" idx="3"/>
              <a:endCxn id="102" idx="0"/>
            </p:cNvCxnSpPr>
            <p:nvPr>
              <p:custDataLst>
                <p:tags r:id="rId11"/>
              </p:custDataLst>
            </p:nvPr>
          </p:nvCxnSpPr>
          <p:spPr bwMode="auto">
            <a:xfrm flipH="1">
              <a:off x="-2565488" y="1253742"/>
              <a:ext cx="13097" cy="656034"/>
            </a:xfrm>
            <a:prstGeom prst="straightConnector1">
              <a:avLst/>
            </a:prstGeom>
            <a:noFill/>
            <a:ln w="9525">
              <a:solidFill>
                <a:schemeClr val="bg1">
                  <a:lumMod val="65000"/>
                </a:schemeClr>
              </a:solidFill>
              <a:prstDash val="dash"/>
              <a:round/>
              <a:headEnd/>
              <a:tailEnd type="triangle" w="med" len="med"/>
            </a:ln>
          </p:spPr>
        </p:cxnSp>
        <p:cxnSp>
          <p:nvCxnSpPr>
            <p:cNvPr id="108" name="AutoShape 26">
              <a:extLst>
                <a:ext uri="{FF2B5EF4-FFF2-40B4-BE49-F238E27FC236}">
                  <a16:creationId xmlns:a16="http://schemas.microsoft.com/office/drawing/2014/main" id="{43B95634-7922-46C2-96FA-6F4CB4216CCF}"/>
                </a:ext>
              </a:extLst>
            </p:cNvPr>
            <p:cNvCxnSpPr>
              <a:cxnSpLocks noChangeShapeType="1"/>
              <a:stCxn id="55" idx="2"/>
              <a:endCxn id="53" idx="6"/>
            </p:cNvCxnSpPr>
            <p:nvPr>
              <p:custDataLst>
                <p:tags r:id="rId12"/>
              </p:custDataLst>
            </p:nvPr>
          </p:nvCxnSpPr>
          <p:spPr bwMode="auto">
            <a:xfrm rot="10800000" flipV="1">
              <a:off x="-2308314" y="1088244"/>
              <a:ext cx="971550" cy="57150"/>
            </a:xfrm>
            <a:prstGeom prst="straightConnector1">
              <a:avLst/>
            </a:prstGeom>
            <a:noFill/>
            <a:ln w="9525">
              <a:solidFill>
                <a:schemeClr val="bg1">
                  <a:lumMod val="65000"/>
                </a:schemeClr>
              </a:solidFill>
              <a:prstDash val="dash"/>
              <a:round/>
              <a:headEnd/>
              <a:tailEnd type="triangle" w="med" len="med"/>
            </a:ln>
          </p:spPr>
        </p:cxnSp>
        <p:cxnSp>
          <p:nvCxnSpPr>
            <p:cNvPr id="109" name="AutoShape 32">
              <a:extLst>
                <a:ext uri="{FF2B5EF4-FFF2-40B4-BE49-F238E27FC236}">
                  <a16:creationId xmlns:a16="http://schemas.microsoft.com/office/drawing/2014/main" id="{7F315CE7-92A1-4ECA-B8FC-39076C60A457}"/>
                </a:ext>
              </a:extLst>
            </p:cNvPr>
            <p:cNvCxnSpPr>
              <a:cxnSpLocks noChangeShapeType="1"/>
              <a:stCxn id="103" idx="0"/>
              <a:endCxn id="55" idx="4"/>
            </p:cNvCxnSpPr>
            <p:nvPr>
              <p:custDataLst>
                <p:tags r:id="rId13"/>
              </p:custDataLst>
            </p:nvPr>
          </p:nvCxnSpPr>
          <p:spPr bwMode="auto">
            <a:xfrm rot="5400000" flipH="1" flipV="1">
              <a:off x="-1536789" y="1402569"/>
              <a:ext cx="514350" cy="171450"/>
            </a:xfrm>
            <a:prstGeom prst="straightConnector1">
              <a:avLst/>
            </a:prstGeom>
            <a:noFill/>
            <a:ln w="9525">
              <a:solidFill>
                <a:schemeClr val="bg1">
                  <a:lumMod val="65000"/>
                </a:schemeClr>
              </a:solidFill>
              <a:prstDash val="dash"/>
              <a:round/>
              <a:headEnd/>
              <a:tailEnd type="triangle" w="med" len="med"/>
            </a:ln>
          </p:spPr>
        </p:cxn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4"/>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5"/>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6"/>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3</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7"/>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solidFill>
                    <a:schemeClr val="bg1">
                      <a:lumMod val="50000"/>
                    </a:schemeClr>
                  </a:solidFill>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8"/>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9"/>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20"/>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22" name="AutoShape 26">
              <a:extLst>
                <a:ext uri="{FF2B5EF4-FFF2-40B4-BE49-F238E27FC236}">
                  <a16:creationId xmlns:a16="http://schemas.microsoft.com/office/drawing/2014/main" id="{40D1A03A-16E0-4954-BF5F-865C3F9DEA4A}"/>
                </a:ext>
              </a:extLst>
            </p:cNvPr>
            <p:cNvCxnSpPr>
              <a:cxnSpLocks noChangeShapeType="1"/>
              <a:stCxn id="53" idx="5"/>
              <a:endCxn id="103" idx="1"/>
            </p:cNvCxnSpPr>
            <p:nvPr>
              <p:custDataLst>
                <p:tags r:id="rId21"/>
              </p:custDataLst>
            </p:nvPr>
          </p:nvCxnSpPr>
          <p:spPr bwMode="auto">
            <a:xfrm rot="16200000" flipH="1">
              <a:off x="-2178711" y="1074972"/>
              <a:ext cx="540894" cy="883794"/>
            </a:xfrm>
            <a:prstGeom prst="straightConnector1">
              <a:avLst/>
            </a:prstGeom>
            <a:noFill/>
            <a:ln w="9525">
              <a:solidFill>
                <a:schemeClr val="bg1">
                  <a:lumMod val="65000"/>
                </a:schemeClr>
              </a:solidFill>
              <a:prstDash val="dash"/>
              <a:round/>
              <a:headEnd/>
              <a:tailEnd type="triangle" w="med" len="med"/>
            </a:ln>
          </p:spPr>
        </p:cxnSp>
        <p:cxnSp>
          <p:nvCxnSpPr>
            <p:cNvPr id="123" name="AutoShape 26">
              <a:extLst>
                <a:ext uri="{FF2B5EF4-FFF2-40B4-BE49-F238E27FC236}">
                  <a16:creationId xmlns:a16="http://schemas.microsoft.com/office/drawing/2014/main" id="{7A55B914-38F2-4DB2-A3BB-BFAB750FC41E}"/>
                </a:ext>
              </a:extLst>
            </p:cNvPr>
            <p:cNvCxnSpPr>
              <a:cxnSpLocks noChangeShapeType="1"/>
              <a:stCxn id="102" idx="6"/>
              <a:endCxn id="103" idx="3"/>
            </p:cNvCxnSpPr>
            <p:nvPr>
              <p:custDataLst>
                <p:tags r:id="rId22"/>
              </p:custDataLst>
            </p:nvPr>
          </p:nvCxnSpPr>
          <p:spPr bwMode="auto">
            <a:xfrm flipV="1">
              <a:off x="-2422614" y="1989372"/>
              <a:ext cx="956247" cy="70422"/>
            </a:xfrm>
            <a:prstGeom prst="straightConnector1">
              <a:avLst/>
            </a:prstGeom>
            <a:noFill/>
            <a:ln w="9525">
              <a:solidFill>
                <a:schemeClr val="bg1">
                  <a:lumMod val="65000"/>
                </a:schemeClr>
              </a:solidFill>
              <a:prstDash val="dash"/>
              <a:round/>
              <a:headEnd/>
              <a:tailEnd type="triangle" w="med" len="med"/>
            </a:ln>
          </p:spPr>
        </p:cxn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23"/>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5" name="AutoShape 26">
              <a:extLst>
                <a:ext uri="{FF2B5EF4-FFF2-40B4-BE49-F238E27FC236}">
                  <a16:creationId xmlns:a16="http://schemas.microsoft.com/office/drawing/2014/main" id="{8E95B2CC-8244-4E9E-8BA6-CE2937A8BE13}"/>
                </a:ext>
              </a:extLst>
            </p:cNvPr>
            <p:cNvCxnSpPr>
              <a:cxnSpLocks noChangeShapeType="1"/>
              <a:stCxn id="103" idx="6"/>
              <a:endCxn id="105" idx="3"/>
            </p:cNvCxnSpPr>
            <p:nvPr>
              <p:custDataLst>
                <p:tags r:id="rId24"/>
              </p:custDataLst>
            </p:nvPr>
          </p:nvCxnSpPr>
          <p:spPr bwMode="auto">
            <a:xfrm flipV="1">
              <a:off x="-1222464" y="1711958"/>
              <a:ext cx="727647" cy="176387"/>
            </a:xfrm>
            <a:prstGeom prst="straightConnector1">
              <a:avLst/>
            </a:prstGeom>
            <a:noFill/>
            <a:ln w="9525">
              <a:solidFill>
                <a:schemeClr val="bg1">
                  <a:lumMod val="65000"/>
                </a:schemeClr>
              </a:solidFill>
              <a:prstDash val="dash"/>
              <a:round/>
              <a:headEnd/>
              <a:tailEnd type="triangle" w="med" len="med"/>
            </a:ln>
          </p:spPr>
        </p:cxn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25"/>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7" name="AutoShape 32">
              <a:extLst>
                <a:ext uri="{FF2B5EF4-FFF2-40B4-BE49-F238E27FC236}">
                  <a16:creationId xmlns:a16="http://schemas.microsoft.com/office/drawing/2014/main" id="{FD06B17C-408B-4EB6-BA52-09079D6D719B}"/>
                </a:ext>
              </a:extLst>
            </p:cNvPr>
            <p:cNvCxnSpPr>
              <a:cxnSpLocks noChangeShapeType="1"/>
              <a:stCxn id="105" idx="1"/>
              <a:endCxn id="55" idx="6"/>
            </p:cNvCxnSpPr>
            <p:nvPr>
              <p:custDataLst>
                <p:tags r:id="rId26"/>
              </p:custDataLst>
            </p:nvPr>
          </p:nvCxnSpPr>
          <p:spPr bwMode="auto">
            <a:xfrm rot="16200000" flipV="1">
              <a:off x="-983743" y="1020975"/>
              <a:ext cx="421657" cy="556197"/>
            </a:xfrm>
            <a:prstGeom prst="straightConnector1">
              <a:avLst/>
            </a:prstGeom>
            <a:noFill/>
            <a:ln w="9525">
              <a:solidFill>
                <a:schemeClr val="bg1">
                  <a:lumMod val="65000"/>
                </a:schemeClr>
              </a:solidFill>
              <a:prstDash val="dash"/>
              <a:round/>
              <a:headEnd/>
              <a:tailEnd type="triangle" w="med" len="med"/>
            </a:ln>
          </p:spPr>
        </p:cxn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7"/>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a:t>
              </a:r>
            </a:p>
          </p:txBody>
        </p:sp>
        <p:cxnSp>
          <p:nvCxnSpPr>
            <p:cNvPr id="129" name="AutoShape 26">
              <a:extLst>
                <a:ext uri="{FF2B5EF4-FFF2-40B4-BE49-F238E27FC236}">
                  <a16:creationId xmlns:a16="http://schemas.microsoft.com/office/drawing/2014/main" id="{D878E866-0280-4255-886B-F243B8856A87}"/>
                </a:ext>
              </a:extLst>
            </p:cNvPr>
            <p:cNvCxnSpPr>
              <a:cxnSpLocks noChangeShapeType="1"/>
              <a:stCxn id="102" idx="5"/>
              <a:endCxn id="104" idx="1"/>
            </p:cNvCxnSpPr>
            <p:nvPr>
              <p:custDataLst>
                <p:tags r:id="rId28"/>
              </p:custDataLst>
            </p:nvPr>
          </p:nvCxnSpPr>
          <p:spPr bwMode="auto">
            <a:xfrm rot="16200000" flipH="1">
              <a:off x="-2440053" y="2136414"/>
              <a:ext cx="434929" cy="483744"/>
            </a:xfrm>
            <a:prstGeom prst="straightConnector1">
              <a:avLst/>
            </a:prstGeom>
            <a:noFill/>
            <a:ln w="9525">
              <a:solidFill>
                <a:schemeClr val="bg1">
                  <a:lumMod val="65000"/>
                </a:schemeClr>
              </a:solidFill>
              <a:prstDash val="dash"/>
              <a:round/>
              <a:headEnd/>
              <a:tailEnd type="triangle" w="med" len="med"/>
            </a:ln>
          </p:spPr>
        </p:cxn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9"/>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2</a:t>
              </a:r>
            </a:p>
          </p:txBody>
        </p:sp>
        <p:cxnSp>
          <p:nvCxnSpPr>
            <p:cNvPr id="131" name="AutoShape 32">
              <a:extLst>
                <a:ext uri="{FF2B5EF4-FFF2-40B4-BE49-F238E27FC236}">
                  <a16:creationId xmlns:a16="http://schemas.microsoft.com/office/drawing/2014/main" id="{73898537-6ECD-46AD-A20A-B2E581ACC3C8}"/>
                </a:ext>
              </a:extLst>
            </p:cNvPr>
            <p:cNvCxnSpPr>
              <a:cxnSpLocks noChangeShapeType="1"/>
              <a:stCxn id="103" idx="4"/>
              <a:endCxn id="104" idx="7"/>
            </p:cNvCxnSpPr>
            <p:nvPr>
              <p:custDataLst>
                <p:tags r:id="rId30"/>
              </p:custDataLst>
            </p:nvPr>
          </p:nvCxnSpPr>
          <p:spPr bwMode="auto">
            <a:xfrm rot="5400000">
              <a:off x="-1854265" y="2106824"/>
              <a:ext cx="564532" cy="413322"/>
            </a:xfrm>
            <a:prstGeom prst="straightConnector1">
              <a:avLst/>
            </a:prstGeom>
            <a:noFill/>
            <a:ln w="9525">
              <a:solidFill>
                <a:schemeClr val="bg1">
                  <a:lumMod val="65000"/>
                </a:schemeClr>
              </a:solidFill>
              <a:prstDash val="dash"/>
              <a:round/>
              <a:headEnd/>
              <a:tailEnd type="triangle" w="med" len="med"/>
            </a:ln>
          </p:spPr>
        </p:cxn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31"/>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32"/>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5</a:t>
              </a:r>
            </a:p>
          </p:txBody>
        </p:sp>
        <p:cxnSp>
          <p:nvCxnSpPr>
            <p:cNvPr id="134" name="AutoShape 26">
              <a:extLst>
                <a:ext uri="{FF2B5EF4-FFF2-40B4-BE49-F238E27FC236}">
                  <a16:creationId xmlns:a16="http://schemas.microsoft.com/office/drawing/2014/main" id="{9A7B6B2E-B0FB-47E7-A334-532B069906F7}"/>
                </a:ext>
              </a:extLst>
            </p:cNvPr>
            <p:cNvCxnSpPr>
              <a:cxnSpLocks noChangeShapeType="1"/>
              <a:stCxn id="103" idx="5"/>
              <a:endCxn id="106" idx="1"/>
            </p:cNvCxnSpPr>
            <p:nvPr>
              <p:custDataLst>
                <p:tags r:id="rId33"/>
              </p:custDataLst>
            </p:nvPr>
          </p:nvCxnSpPr>
          <p:spPr bwMode="auto">
            <a:xfrm rot="16200000" flipH="1">
              <a:off x="-1068453" y="1793514"/>
              <a:ext cx="263479" cy="655194"/>
            </a:xfrm>
            <a:prstGeom prst="straightConnector1">
              <a:avLst/>
            </a:prstGeom>
            <a:noFill/>
            <a:ln w="9525">
              <a:solidFill>
                <a:schemeClr val="bg1">
                  <a:lumMod val="65000"/>
                </a:schemeClr>
              </a:solidFill>
              <a:prstDash val="dash"/>
              <a:round/>
              <a:headEnd/>
              <a:tailEnd type="triangle" w="med" len="med"/>
            </a:ln>
          </p:spPr>
        </p:cxnSp>
        <p:cxnSp>
          <p:nvCxnSpPr>
            <p:cNvPr id="135" name="AutoShape 26">
              <a:extLst>
                <a:ext uri="{FF2B5EF4-FFF2-40B4-BE49-F238E27FC236}">
                  <a16:creationId xmlns:a16="http://schemas.microsoft.com/office/drawing/2014/main" id="{C33E4403-DEFE-4144-B09F-CB486C27F71F}"/>
                </a:ext>
              </a:extLst>
            </p:cNvPr>
            <p:cNvCxnSpPr>
              <a:cxnSpLocks noChangeShapeType="1"/>
              <a:stCxn id="106" idx="0"/>
              <a:endCxn id="105" idx="4"/>
            </p:cNvCxnSpPr>
            <p:nvPr>
              <p:custDataLst>
                <p:tags r:id="rId34"/>
              </p:custDataLst>
            </p:nvPr>
          </p:nvCxnSpPr>
          <p:spPr bwMode="auto">
            <a:xfrm rot="5400000" flipH="1" flipV="1">
              <a:off x="-679539" y="1925254"/>
              <a:ext cx="457200" cy="114300"/>
            </a:xfrm>
            <a:prstGeom prst="straightConnector1">
              <a:avLst/>
            </a:prstGeom>
            <a:noFill/>
            <a:ln w="9525">
              <a:solidFill>
                <a:schemeClr val="bg1">
                  <a:lumMod val="65000"/>
                </a:schemeClr>
              </a:solidFill>
              <a:prstDash val="dash"/>
              <a:round/>
              <a:headEnd/>
              <a:tailEnd type="triangle" w="med" len="med"/>
            </a:ln>
          </p:spPr>
        </p:cxn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35"/>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3</a:t>
              </a:r>
            </a:p>
          </p:txBody>
        </p:sp>
        <p:cxnSp>
          <p:nvCxnSpPr>
            <p:cNvPr id="137" name="AutoShape 26">
              <a:extLst>
                <a:ext uri="{FF2B5EF4-FFF2-40B4-BE49-F238E27FC236}">
                  <a16:creationId xmlns:a16="http://schemas.microsoft.com/office/drawing/2014/main" id="{7DECE6D3-4B1C-45C8-B4A0-1F931D2C95E9}"/>
                </a:ext>
              </a:extLst>
            </p:cNvPr>
            <p:cNvCxnSpPr>
              <a:cxnSpLocks noChangeShapeType="1"/>
              <a:stCxn id="104" idx="6"/>
              <a:endCxn id="106" idx="3"/>
            </p:cNvCxnSpPr>
            <p:nvPr>
              <p:custDataLst>
                <p:tags r:id="rId36"/>
              </p:custDataLst>
            </p:nvPr>
          </p:nvCxnSpPr>
          <p:spPr bwMode="auto">
            <a:xfrm flipV="1">
              <a:off x="-1736814" y="2454907"/>
              <a:ext cx="1127697" cy="241872"/>
            </a:xfrm>
            <a:prstGeom prst="straightConnector1">
              <a:avLst/>
            </a:prstGeom>
            <a:noFill/>
            <a:ln w="9525">
              <a:solidFill>
                <a:schemeClr val="bg1">
                  <a:lumMod val="65000"/>
                </a:schemeClr>
              </a:solidFill>
              <a:prstDash val="dash"/>
              <a:round/>
              <a:headEnd/>
              <a:tailEnd type="triangle" w="med" len="med"/>
            </a:ln>
          </p:spPr>
        </p:cxn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37"/>
              </p:custDataLst>
            </p:nvPr>
          </p:nvSpPr>
          <p:spPr bwMode="auto">
            <a:xfrm>
              <a:off x="-1342844" y="2325304"/>
              <a:ext cx="371737" cy="346249"/>
            </a:xfrm>
            <a:prstGeom prst="rect">
              <a:avLst/>
            </a:prstGeom>
            <a:noFill/>
            <a:ln w="9525">
              <a:noFill/>
              <a:miter lim="800000"/>
              <a:headEnd/>
              <a:tailEnd/>
            </a:ln>
          </p:spPr>
          <p:txBody>
            <a:bodyPr wrap="none">
              <a:spAutoFit/>
            </a:bodyPr>
            <a:lstStyle/>
            <a:p>
              <a:r>
                <a:rPr lang="en-US" sz="2400" dirty="0">
                  <a:solidFill>
                    <a:schemeClr val="bg1">
                      <a:lumMod val="50000"/>
                    </a:schemeClr>
                  </a:solidFill>
                  <a:latin typeface="Calibri" panose="020F0502020204030204" pitchFamily="34" charset="0"/>
                  <a:cs typeface="Calibri" panose="020F0502020204030204" pitchFamily="34" charset="0"/>
                </a:rPr>
                <a:t>10</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38"/>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39"/>
              </p:custDataLst>
            </p:nvPr>
          </p:nvSpPr>
          <p:spPr bwMode="auto">
            <a:xfrm>
              <a:off x="-752597" y="201871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40"/>
              </p:custDataLst>
            </p:nvPr>
          </p:nvSpPr>
          <p:spPr bwMode="auto">
            <a:xfrm>
              <a:off x="-1595641"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41"/>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42"/>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3A63E94-7FBE-4741-ADDF-C4114FEEC2A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180619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59</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endParaRPr lang="en-US" sz="2400"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595641" y="1540799"/>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41" idx="2"/>
          </p:cNvCxnSpPr>
          <p:nvPr/>
        </p:nvCxnSpPr>
        <p:spPr>
          <a:xfrm>
            <a:off x="2928675" y="1825822"/>
            <a:ext cx="1171297" cy="731057"/>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8324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60</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1692251147"/>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1</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624535"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47905"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03" idx="1"/>
          </p:cNvCxnSpPr>
          <p:nvPr/>
        </p:nvCxnSpPr>
        <p:spPr>
          <a:xfrm>
            <a:off x="2928675" y="1825822"/>
            <a:ext cx="1178392" cy="72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65001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61</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566900111"/>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1</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7</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6</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624535"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03" idx="1"/>
          </p:cNvCxnSpPr>
          <p:nvPr/>
        </p:nvCxnSpPr>
        <p:spPr>
          <a:xfrm>
            <a:off x="2928675" y="1825822"/>
            <a:ext cx="1178392" cy="72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1790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62</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B, </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2049748243"/>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1</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7</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6</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624535"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03" idx="1"/>
          </p:cNvCxnSpPr>
          <p:nvPr/>
        </p:nvCxnSpPr>
        <p:spPr>
          <a:xfrm>
            <a:off x="2928675" y="1825822"/>
            <a:ext cx="1178392" cy="72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23432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63</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B, C, </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2021267896"/>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1</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2</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7</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6</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624535"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03" idx="1"/>
          </p:cNvCxnSpPr>
          <p:nvPr/>
        </p:nvCxnSpPr>
        <p:spPr>
          <a:xfrm>
            <a:off x="2928675" y="1825822"/>
            <a:ext cx="1178392" cy="72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4252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64</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B, C, E</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637460085"/>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1</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7</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endParaRPr lang="en-US" sz="1600" dirty="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4</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371737"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624535"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7</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03" idx="1"/>
          </p:cNvCxnSpPr>
          <p:nvPr/>
        </p:nvCxnSpPr>
        <p:spPr>
          <a:xfrm>
            <a:off x="2928675" y="1825822"/>
            <a:ext cx="1178392" cy="72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8638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65</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B, C, E, G</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3544207128"/>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1</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endParaRPr lang="en-US" sz="1600">
                        <a:latin typeface="Calibri" panose="020F0502020204030204" pitchFamily="34" charset="0"/>
                        <a:cs typeface="Calibri" panose="020F0502020204030204" pitchFamily="34" charset="0"/>
                      </a:endParaRP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rgbClr val="FF0000"/>
                          </a:solidFill>
                          <a:latin typeface="Calibri" panose="020F0502020204030204" pitchFamily="34" charset="0"/>
                          <a:cs typeface="Calibri" panose="020F0502020204030204" pitchFamily="34" charset="0"/>
                          <a:sym typeface="Symbol" pitchFamily="18" charset="2"/>
                        </a:rPr>
                        <a:t>≤ 6</a:t>
                      </a:r>
                      <a:endParaRPr lang="en-US" sz="1600" b="0" dirty="0">
                        <a:solidFill>
                          <a:srgbClr val="FF0000"/>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4</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624535"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6</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03" idx="1"/>
          </p:cNvCxnSpPr>
          <p:nvPr/>
        </p:nvCxnSpPr>
        <p:spPr>
          <a:xfrm>
            <a:off x="2928675" y="1825822"/>
            <a:ext cx="1178392" cy="72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8012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custDataLst>
              <p:tags r:id="rId1"/>
            </p:custDataLst>
          </p:nvPr>
        </p:nvSpPr>
        <p:spPr/>
        <p:txBody>
          <a:bodyPr>
            <a:normAutofit fontScale="90000"/>
          </a:bodyPr>
          <a:lstStyle/>
          <a:p>
            <a:pPr eaLnBrk="1" hangingPunct="1"/>
            <a:r>
              <a:rPr lang="en-US" dirty="0"/>
              <a:t>Dijkstra’s Algorithm: Example #3 (undirected)</a:t>
            </a:r>
          </a:p>
        </p:txBody>
      </p:sp>
      <p:sp>
        <p:nvSpPr>
          <p:cNvPr id="31747" name="Slide Number Placeholder 4"/>
          <p:cNvSpPr>
            <a:spLocks noGrp="1"/>
          </p:cNvSpPr>
          <p:nvPr>
            <p:ph type="sldNum" sz="quarter" idx="10"/>
            <p:custDataLst>
              <p:tags r:id="rId2"/>
            </p:custDataLst>
          </p:nvPr>
        </p:nvSpPr>
        <p:spPr>
          <a:xfrm>
            <a:off x="6400800" y="4869657"/>
            <a:ext cx="457200" cy="273844"/>
          </a:xfrm>
          <a:prstGeom prst="rect">
            <a:avLst/>
          </a:prstGeom>
          <a:noFill/>
        </p:spPr>
        <p:txBody>
          <a:bodyPr vert="horz" lIns="91440" tIns="45720" rIns="91440" bIns="45720" rtlCol="0"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675" b="1" i="0" u="none" strike="noStrike" cap="none">
                <a:solidFill>
                  <a:srgbClr val="4B2A85"/>
                </a:solidFill>
                <a:latin typeface="Calibri" pitchFamily="34" charset="0"/>
                <a:ea typeface="Arial"/>
                <a:cs typeface="Calibri"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A352B390-DEB2-4C03-8333-A0E41D1ED728}" type="slidenum">
              <a:rPr lang="en-US" smtClean="0"/>
              <a:pPr/>
              <a:t>66</a:t>
            </a:fld>
            <a:endParaRPr lang="en-US"/>
          </a:p>
        </p:txBody>
      </p:sp>
      <p:sp>
        <p:nvSpPr>
          <p:cNvPr id="54" name="TextBox 53"/>
          <p:cNvSpPr txBox="1"/>
          <p:nvPr>
            <p:custDataLst>
              <p:tags r:id="rId3"/>
            </p:custDataLst>
          </p:nvPr>
        </p:nvSpPr>
        <p:spPr>
          <a:xfrm>
            <a:off x="2536980" y="4883685"/>
            <a:ext cx="2938832" cy="1200329"/>
          </a:xfrm>
          <a:prstGeom prst="rect">
            <a:avLst/>
          </a:prstGeom>
          <a:solidFill>
            <a:schemeClr val="bg1">
              <a:lumMod val="85000"/>
            </a:schemeClr>
          </a:solidFill>
          <a:ln>
            <a:solidFill>
              <a:schemeClr val="tx1"/>
            </a:solidFill>
          </a:ln>
        </p:spPr>
        <p:txBody>
          <a:bodyPr wrap="square">
            <a:spAutoFit/>
          </a:bodyPr>
          <a:lstStyle/>
          <a:p>
            <a:pPr>
              <a:defRPr/>
            </a:pPr>
            <a:r>
              <a:rPr lang="en-US" sz="2400" u="sng" dirty="0">
                <a:latin typeface="Calibri" panose="020F0502020204030204" pitchFamily="34" charset="0"/>
                <a:cs typeface="Calibri" panose="020F0502020204030204" pitchFamily="34" charset="0"/>
              </a:rPr>
              <a:t>Order Added to Known Set:</a:t>
            </a:r>
          </a:p>
          <a:p>
            <a:pPr>
              <a:defRPr/>
            </a:pPr>
            <a:r>
              <a:rPr lang="en-US" sz="2400" dirty="0">
                <a:latin typeface="Calibri" panose="020F0502020204030204" pitchFamily="34" charset="0"/>
                <a:cs typeface="Calibri" panose="020F0502020204030204" pitchFamily="34" charset="0"/>
              </a:rPr>
              <a:t>A, D, B, C, E, G,F</a:t>
            </a:r>
          </a:p>
        </p:txBody>
      </p:sp>
      <p:graphicFrame>
        <p:nvGraphicFramePr>
          <p:cNvPr id="3" name="Table 2">
            <a:extLst>
              <a:ext uri="{FF2B5EF4-FFF2-40B4-BE49-F238E27FC236}">
                <a16:creationId xmlns:a16="http://schemas.microsoft.com/office/drawing/2014/main" id="{A368A07A-8402-4358-9253-DC5A42F4B0B5}"/>
              </a:ext>
            </a:extLst>
          </p:cNvPr>
          <p:cNvGraphicFramePr>
            <a:graphicFrameLocks noGrp="1"/>
          </p:cNvGraphicFramePr>
          <p:nvPr>
            <p:extLst>
              <p:ext uri="{D42A27DB-BD31-4B8C-83A1-F6EECF244321}">
                <p14:modId xmlns:p14="http://schemas.microsoft.com/office/powerpoint/2010/main" val="2305895334"/>
              </p:ext>
            </p:extLst>
          </p:nvPr>
        </p:nvGraphicFramePr>
        <p:xfrm>
          <a:off x="6316888" y="3054960"/>
          <a:ext cx="4123612" cy="2971800"/>
        </p:xfrm>
        <a:graphic>
          <a:graphicData uri="http://schemas.openxmlformats.org/drawingml/2006/table">
            <a:tbl>
              <a:tblPr firstRow="1" bandRow="1">
                <a:tableStyleId>{21E4AEA4-8DFA-4A89-87EB-49C32662AFE0}</a:tableStyleId>
              </a:tblPr>
              <a:tblGrid>
                <a:gridCol w="1030903">
                  <a:extLst>
                    <a:ext uri="{9D8B030D-6E8A-4147-A177-3AD203B41FA5}">
                      <a16:colId xmlns:a16="http://schemas.microsoft.com/office/drawing/2014/main" val="2574439550"/>
                    </a:ext>
                  </a:extLst>
                </a:gridCol>
                <a:gridCol w="1030903">
                  <a:extLst>
                    <a:ext uri="{9D8B030D-6E8A-4147-A177-3AD203B41FA5}">
                      <a16:colId xmlns:a16="http://schemas.microsoft.com/office/drawing/2014/main" val="1912065580"/>
                    </a:ext>
                  </a:extLst>
                </a:gridCol>
                <a:gridCol w="1030903">
                  <a:extLst>
                    <a:ext uri="{9D8B030D-6E8A-4147-A177-3AD203B41FA5}">
                      <a16:colId xmlns:a16="http://schemas.microsoft.com/office/drawing/2014/main" val="882459887"/>
                    </a:ext>
                  </a:extLst>
                </a:gridCol>
                <a:gridCol w="1030903">
                  <a:extLst>
                    <a:ext uri="{9D8B030D-6E8A-4147-A177-3AD203B41FA5}">
                      <a16:colId xmlns:a16="http://schemas.microsoft.com/office/drawing/2014/main" val="1418435671"/>
                    </a:ext>
                  </a:extLst>
                </a:gridCol>
              </a:tblGrid>
              <a:tr h="406400">
                <a:tc>
                  <a:txBody>
                    <a:bodyPr/>
                    <a:lstStyle/>
                    <a:p>
                      <a:pPr algn="ctr"/>
                      <a:r>
                        <a:rPr lang="en-US" sz="1900" dirty="0">
                          <a:latin typeface="Calibri" panose="020F0502020204030204" pitchFamily="34" charset="0"/>
                          <a:cs typeface="Calibri" panose="020F0502020204030204" pitchFamily="34" charset="0"/>
                        </a:rPr>
                        <a:t>Vertex</a:t>
                      </a:r>
                    </a:p>
                  </a:txBody>
                  <a:tcPr marL="60960" marR="60960" marT="60960" marB="60960" anchor="ctr">
                    <a:solidFill>
                      <a:srgbClr val="4B2A85"/>
                    </a:solidFill>
                  </a:tcPr>
                </a:tc>
                <a:tc>
                  <a:txBody>
                    <a:bodyPr/>
                    <a:lstStyle/>
                    <a:p>
                      <a:pPr algn="ctr"/>
                      <a:r>
                        <a:rPr lang="en-US" sz="1900" dirty="0">
                          <a:latin typeface="Calibri" panose="020F0502020204030204" pitchFamily="34" charset="0"/>
                          <a:cs typeface="Calibri" panose="020F0502020204030204" pitchFamily="34" charset="0"/>
                        </a:rPr>
                        <a:t>Known?</a:t>
                      </a: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distTo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tc>
                  <a:txBody>
                    <a:bodyPr/>
                    <a:lstStyle/>
                    <a:p>
                      <a:pPr algn="ctr"/>
                      <a:r>
                        <a:rPr lang="en-US" sz="1900" dirty="0" err="1">
                          <a:latin typeface="Calibri" panose="020F0502020204030204" pitchFamily="34" charset="0"/>
                          <a:cs typeface="Calibri" panose="020F0502020204030204" pitchFamily="34" charset="0"/>
                        </a:rPr>
                        <a:t>edgeTo</a:t>
                      </a:r>
                      <a:endParaRPr lang="en-US" sz="1900" dirty="0">
                        <a:latin typeface="Calibri" panose="020F0502020204030204" pitchFamily="34" charset="0"/>
                        <a:cs typeface="Calibri" panose="020F0502020204030204" pitchFamily="34" charset="0"/>
                      </a:endParaRPr>
                    </a:p>
                  </a:txBody>
                  <a:tcPr marL="60960" marR="60960" marT="60960" marB="60960" anchor="ctr">
                    <a:solidFill>
                      <a:srgbClr val="4B2A85"/>
                    </a:solidFill>
                  </a:tcPr>
                </a:tc>
                <a:extLst>
                  <a:ext uri="{0D108BD9-81ED-4DB2-BD59-A6C34878D82A}">
                    <a16:rowId xmlns:a16="http://schemas.microsoft.com/office/drawing/2014/main" val="2605731364"/>
                  </a:ext>
                </a:extLst>
              </a:tr>
              <a:tr h="365760">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algn="ctr"/>
                      <a:r>
                        <a:rPr lang="en-US" sz="1600" b="0" dirty="0">
                          <a:solidFill>
                            <a:schemeClr val="tx1"/>
                          </a:solidFill>
                          <a:latin typeface="Calibri" panose="020F0502020204030204" pitchFamily="34" charset="0"/>
                          <a:cs typeface="Calibri" panose="020F0502020204030204" pitchFamily="34" charset="0"/>
                          <a:sym typeface="Symbol" pitchFamily="18" charset="2"/>
                        </a:rPr>
                        <a:t>0</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t>
                      </a:r>
                    </a:p>
                  </a:txBody>
                  <a:tcPr marL="60960" marR="60960" marT="60960" marB="60960" anchor="ctr"/>
                </a:tc>
                <a:extLst>
                  <a:ext uri="{0D108BD9-81ED-4DB2-BD59-A6C34878D82A}">
                    <a16:rowId xmlns:a16="http://schemas.microsoft.com/office/drawing/2014/main" val="1611088557"/>
                  </a:ext>
                </a:extLst>
              </a:tr>
              <a:tr h="365760">
                <a:tc>
                  <a:txBody>
                    <a:bodyPr/>
                    <a:lstStyle/>
                    <a:p>
                      <a:pPr algn="ctr"/>
                      <a:r>
                        <a:rPr lang="en-US" sz="1600" dirty="0">
                          <a:latin typeface="Calibri" panose="020F0502020204030204" pitchFamily="34" charset="0"/>
                          <a:cs typeface="Calibri" panose="020F0502020204030204" pitchFamily="34" charset="0"/>
                        </a:rPr>
                        <a:t>B</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150586423"/>
                  </a:ext>
                </a:extLst>
              </a:tr>
              <a:tr h="365760">
                <a:tc>
                  <a:txBody>
                    <a:bodyPr/>
                    <a:lstStyle/>
                    <a:p>
                      <a:pPr algn="ctr"/>
                      <a:r>
                        <a:rPr lang="en-US" sz="1600" dirty="0">
                          <a:latin typeface="Calibri" panose="020F0502020204030204" pitchFamily="34" charset="0"/>
                          <a:cs typeface="Calibri" panose="020F0502020204030204" pitchFamily="34" charset="0"/>
                        </a:rPr>
                        <a:t>C</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3470565506"/>
                  </a:ext>
                </a:extLst>
              </a:tr>
              <a:tr h="365760">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1</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A</a:t>
                      </a:r>
                    </a:p>
                  </a:txBody>
                  <a:tcPr marL="60960" marR="60960" marT="60960" marB="60960" anchor="ctr"/>
                </a:tc>
                <a:extLst>
                  <a:ext uri="{0D108BD9-81ED-4DB2-BD59-A6C34878D82A}">
                    <a16:rowId xmlns:a16="http://schemas.microsoft.com/office/drawing/2014/main" val="944238246"/>
                  </a:ext>
                </a:extLst>
              </a:tr>
              <a:tr h="365760">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2</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D</a:t>
                      </a:r>
                    </a:p>
                  </a:txBody>
                  <a:tcPr marL="60960" marR="60960" marT="60960" marB="60960" anchor="ctr"/>
                </a:tc>
                <a:extLst>
                  <a:ext uri="{0D108BD9-81ED-4DB2-BD59-A6C34878D82A}">
                    <a16:rowId xmlns:a16="http://schemas.microsoft.com/office/drawing/2014/main" val="4250253396"/>
                  </a:ext>
                </a:extLst>
              </a:tr>
              <a:tr h="365760">
                <a:tc>
                  <a:txBody>
                    <a:bodyPr/>
                    <a:lstStyle/>
                    <a:p>
                      <a:pPr algn="ctr"/>
                      <a:r>
                        <a:rPr lang="en-US" sz="1600" dirty="0">
                          <a:latin typeface="Calibri" panose="020F0502020204030204" pitchFamily="34" charset="0"/>
                          <a:cs typeface="Calibri" panose="020F0502020204030204" pitchFamily="34" charset="0"/>
                        </a:rPr>
                        <a:t>F</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5</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extLst>
                  <a:ext uri="{0D108BD9-81ED-4DB2-BD59-A6C34878D82A}">
                    <a16:rowId xmlns:a16="http://schemas.microsoft.com/office/drawing/2014/main" val="233354795"/>
                  </a:ext>
                </a:extLst>
              </a:tr>
              <a:tr h="365760">
                <a:tc>
                  <a:txBody>
                    <a:bodyPr/>
                    <a:lstStyle/>
                    <a:p>
                      <a:pPr algn="ctr"/>
                      <a:r>
                        <a:rPr lang="en-US" sz="1600" dirty="0">
                          <a:latin typeface="Calibri" panose="020F0502020204030204" pitchFamily="34" charset="0"/>
                          <a:cs typeface="Calibri" panose="020F0502020204030204" pitchFamily="34" charset="0"/>
                        </a:rPr>
                        <a:t>G</a:t>
                      </a: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Y</a:t>
                      </a:r>
                    </a:p>
                  </a:txBody>
                  <a:tcPr marL="60960" marR="60960" marT="60960" marB="60960" anchor="ct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Calibri" panose="020F0502020204030204" pitchFamily="34" charset="0"/>
                          <a:cs typeface="Calibri" panose="020F0502020204030204" pitchFamily="34" charset="0"/>
                          <a:sym typeface="Symbol" pitchFamily="18" charset="2"/>
                        </a:rPr>
                        <a:t>≤ 4</a:t>
                      </a:r>
                      <a:endParaRPr lang="en-US" sz="1600" b="0" dirty="0">
                        <a:solidFill>
                          <a:schemeClr val="tx1"/>
                        </a:solidFill>
                        <a:latin typeface="Calibri" panose="020F0502020204030204" pitchFamily="34" charset="0"/>
                        <a:cs typeface="Calibri" panose="020F0502020204030204" pitchFamily="34" charset="0"/>
                      </a:endParaRPr>
                    </a:p>
                  </a:txBody>
                  <a:tcPr marL="60960" marR="60960" marT="60960" marB="60960" anchor="ctr"/>
                </a:tc>
                <a:tc>
                  <a:txBody>
                    <a:bodyPr/>
                    <a:lstStyle/>
                    <a:p>
                      <a:pPr algn="ctr"/>
                      <a:r>
                        <a:rPr lang="en-US" sz="1600" dirty="0">
                          <a:latin typeface="Calibri" panose="020F0502020204030204" pitchFamily="34" charset="0"/>
                          <a:cs typeface="Calibri" panose="020F0502020204030204" pitchFamily="34" charset="0"/>
                        </a:rPr>
                        <a:t>E</a:t>
                      </a:r>
                    </a:p>
                  </a:txBody>
                  <a:tcPr marL="60960" marR="60960" marT="60960" marB="60960" anchor="ctr"/>
                </a:tc>
                <a:extLst>
                  <a:ext uri="{0D108BD9-81ED-4DB2-BD59-A6C34878D82A}">
                    <a16:rowId xmlns:a16="http://schemas.microsoft.com/office/drawing/2014/main" val="3330431894"/>
                  </a:ext>
                </a:extLst>
              </a:tr>
            </a:tbl>
          </a:graphicData>
        </a:graphic>
      </p:graphicFrame>
      <p:grpSp>
        <p:nvGrpSpPr>
          <p:cNvPr id="2" name="Group 1">
            <a:extLst>
              <a:ext uri="{FF2B5EF4-FFF2-40B4-BE49-F238E27FC236}">
                <a16:creationId xmlns:a16="http://schemas.microsoft.com/office/drawing/2014/main" id="{AABBC7E0-031D-46A6-85E8-34993C47E493}"/>
              </a:ext>
            </a:extLst>
          </p:cNvPr>
          <p:cNvGrpSpPr/>
          <p:nvPr/>
        </p:nvGrpSpPr>
        <p:grpSpPr>
          <a:xfrm>
            <a:off x="2273534" y="1054531"/>
            <a:ext cx="3454137" cy="2895600"/>
            <a:chOff x="-2841517" y="667954"/>
            <a:chExt cx="2590603" cy="2171700"/>
          </a:xfrm>
        </p:grpSpPr>
        <p:sp>
          <p:nvSpPr>
            <p:cNvPr id="53" name="Oval 5">
              <a:extLst>
                <a:ext uri="{FF2B5EF4-FFF2-40B4-BE49-F238E27FC236}">
                  <a16:creationId xmlns:a16="http://schemas.microsoft.com/office/drawing/2014/main" id="{96CAA9EB-AD86-4129-B6C5-FD7903932561}"/>
                </a:ext>
              </a:extLst>
            </p:cNvPr>
            <p:cNvSpPr>
              <a:spLocks noChangeArrowheads="1"/>
            </p:cNvSpPr>
            <p:nvPr>
              <p:custDataLst>
                <p:tags r:id="rId4"/>
              </p:custDataLst>
            </p:nvPr>
          </p:nvSpPr>
          <p:spPr bwMode="auto">
            <a:xfrm>
              <a:off x="-2594064" y="1002519"/>
              <a:ext cx="285750" cy="285750"/>
            </a:xfrm>
            <a:prstGeom prst="ellipse">
              <a:avLst/>
            </a:prstGeom>
            <a:solidFill>
              <a:schemeClr val="accent1">
                <a:lumMod val="20000"/>
                <a:lumOff val="80000"/>
              </a:schemeClr>
            </a:solidFill>
            <a:ln w="3810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A</a:t>
              </a:r>
            </a:p>
          </p:txBody>
        </p:sp>
        <p:sp>
          <p:nvSpPr>
            <p:cNvPr id="55" name="Oval 54">
              <a:extLst>
                <a:ext uri="{FF2B5EF4-FFF2-40B4-BE49-F238E27FC236}">
                  <a16:creationId xmlns:a16="http://schemas.microsoft.com/office/drawing/2014/main" id="{A36B8D89-6FFB-40E8-B56A-D80D16EA0798}"/>
                </a:ext>
              </a:extLst>
            </p:cNvPr>
            <p:cNvSpPr>
              <a:spLocks noChangeArrowheads="1"/>
            </p:cNvSpPr>
            <p:nvPr>
              <p:custDataLst>
                <p:tags r:id="rId5"/>
              </p:custDataLst>
            </p:nvPr>
          </p:nvSpPr>
          <p:spPr bwMode="auto">
            <a:xfrm>
              <a:off x="-1336764" y="945369"/>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B</a:t>
              </a:r>
            </a:p>
          </p:txBody>
        </p:sp>
        <p:sp>
          <p:nvSpPr>
            <p:cNvPr id="102" name="Oval 101">
              <a:extLst>
                <a:ext uri="{FF2B5EF4-FFF2-40B4-BE49-F238E27FC236}">
                  <a16:creationId xmlns:a16="http://schemas.microsoft.com/office/drawing/2014/main" id="{15E8E4AB-7AE2-488F-8391-43D1DB0B7051}"/>
                </a:ext>
              </a:extLst>
            </p:cNvPr>
            <p:cNvSpPr>
              <a:spLocks noChangeArrowheads="1"/>
            </p:cNvSpPr>
            <p:nvPr>
              <p:custDataLst>
                <p:tags r:id="rId6"/>
              </p:custDataLst>
            </p:nvPr>
          </p:nvSpPr>
          <p:spPr bwMode="auto">
            <a:xfrm>
              <a:off x="-2708364" y="191691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C</a:t>
              </a:r>
            </a:p>
          </p:txBody>
        </p:sp>
        <p:sp>
          <p:nvSpPr>
            <p:cNvPr id="103" name="Oval 102">
              <a:extLst>
                <a:ext uri="{FF2B5EF4-FFF2-40B4-BE49-F238E27FC236}">
                  <a16:creationId xmlns:a16="http://schemas.microsoft.com/office/drawing/2014/main" id="{124341BB-0FC9-4756-80F5-1C64578C1543}"/>
                </a:ext>
              </a:extLst>
            </p:cNvPr>
            <p:cNvSpPr>
              <a:spLocks noChangeArrowheads="1"/>
            </p:cNvSpPr>
            <p:nvPr>
              <p:custDataLst>
                <p:tags r:id="rId7"/>
              </p:custDataLst>
            </p:nvPr>
          </p:nvSpPr>
          <p:spPr bwMode="auto">
            <a:xfrm>
              <a:off x="-1508214" y="1745469"/>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D</a:t>
              </a:r>
            </a:p>
          </p:txBody>
        </p:sp>
        <p:sp>
          <p:nvSpPr>
            <p:cNvPr id="104" name="Oval 103">
              <a:extLst>
                <a:ext uri="{FF2B5EF4-FFF2-40B4-BE49-F238E27FC236}">
                  <a16:creationId xmlns:a16="http://schemas.microsoft.com/office/drawing/2014/main" id="{25FA1066-F92C-42A2-8BB9-7A55597440B7}"/>
                </a:ext>
              </a:extLst>
            </p:cNvPr>
            <p:cNvSpPr>
              <a:spLocks noChangeArrowheads="1"/>
            </p:cNvSpPr>
            <p:nvPr>
              <p:custDataLst>
                <p:tags r:id="rId8"/>
              </p:custDataLst>
            </p:nvPr>
          </p:nvSpPr>
          <p:spPr bwMode="auto">
            <a:xfrm>
              <a:off x="-2022564" y="255390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F</a:t>
              </a:r>
            </a:p>
          </p:txBody>
        </p:sp>
        <p:sp>
          <p:nvSpPr>
            <p:cNvPr id="105" name="Oval 104">
              <a:extLst>
                <a:ext uri="{FF2B5EF4-FFF2-40B4-BE49-F238E27FC236}">
                  <a16:creationId xmlns:a16="http://schemas.microsoft.com/office/drawing/2014/main" id="{F02F3730-4AF6-499B-BEE3-55CCD2341748}"/>
                </a:ext>
              </a:extLst>
            </p:cNvPr>
            <p:cNvSpPr>
              <a:spLocks noChangeArrowheads="1"/>
            </p:cNvSpPr>
            <p:nvPr>
              <p:custDataLst>
                <p:tags r:id="rId9"/>
              </p:custDataLst>
            </p:nvPr>
          </p:nvSpPr>
          <p:spPr bwMode="auto">
            <a:xfrm>
              <a:off x="-536664" y="1468054"/>
              <a:ext cx="285750" cy="285750"/>
            </a:xfrm>
            <a:prstGeom prst="ellipse">
              <a:avLst/>
            </a:prstGeom>
            <a:noFill/>
            <a:ln w="19050">
              <a:solidFill>
                <a:schemeClr val="tx1"/>
              </a:solidFill>
              <a:round/>
              <a:headEnd/>
              <a:tailEnd/>
            </a:ln>
          </p:spPr>
          <p:txBody>
            <a:bodyPr wrap="none" anchor="ctr"/>
            <a:lstStyle/>
            <a:p>
              <a:pPr algn="ctr"/>
              <a:r>
                <a:rPr lang="en-US" sz="2400">
                  <a:latin typeface="Calibri" panose="020F0502020204030204" pitchFamily="34" charset="0"/>
                  <a:cs typeface="Calibri" panose="020F0502020204030204" pitchFamily="34" charset="0"/>
                </a:rPr>
                <a:t>E</a:t>
              </a:r>
            </a:p>
          </p:txBody>
        </p:sp>
        <p:sp>
          <p:nvSpPr>
            <p:cNvPr id="106" name="Oval 105">
              <a:extLst>
                <a:ext uri="{FF2B5EF4-FFF2-40B4-BE49-F238E27FC236}">
                  <a16:creationId xmlns:a16="http://schemas.microsoft.com/office/drawing/2014/main" id="{0B4262A1-7CF7-47B9-9512-C457D6F4CF62}"/>
                </a:ext>
              </a:extLst>
            </p:cNvPr>
            <p:cNvSpPr>
              <a:spLocks noChangeArrowheads="1"/>
            </p:cNvSpPr>
            <p:nvPr>
              <p:custDataLst>
                <p:tags r:id="rId10"/>
              </p:custDataLst>
            </p:nvPr>
          </p:nvSpPr>
          <p:spPr bwMode="auto">
            <a:xfrm>
              <a:off x="-650964" y="2211004"/>
              <a:ext cx="285750" cy="285750"/>
            </a:xfrm>
            <a:prstGeom prst="ellipse">
              <a:avLst/>
            </a:prstGeom>
            <a:noFill/>
            <a:ln w="19050">
              <a:solidFill>
                <a:schemeClr val="tx1"/>
              </a:solidFill>
              <a:round/>
              <a:headEnd/>
              <a:tailEnd/>
            </a:ln>
          </p:spPr>
          <p:txBody>
            <a:bodyPr wrap="none" anchor="ctr"/>
            <a:lstStyle/>
            <a:p>
              <a:pPr algn="ctr"/>
              <a:r>
                <a:rPr lang="en-US" sz="2400" dirty="0">
                  <a:latin typeface="Calibri" panose="020F0502020204030204" pitchFamily="34" charset="0"/>
                  <a:cs typeface="Calibri" panose="020F0502020204030204" pitchFamily="34" charset="0"/>
                </a:rPr>
                <a:t>G</a:t>
              </a:r>
            </a:p>
          </p:txBody>
        </p:sp>
        <p:sp>
          <p:nvSpPr>
            <p:cNvPr id="110" name="Text Box 44">
              <a:extLst>
                <a:ext uri="{FF2B5EF4-FFF2-40B4-BE49-F238E27FC236}">
                  <a16:creationId xmlns:a16="http://schemas.microsoft.com/office/drawing/2014/main" id="{DD3D14AB-7D34-49B3-A5B5-77036CFC5D2A}"/>
                </a:ext>
              </a:extLst>
            </p:cNvPr>
            <p:cNvSpPr txBox="1">
              <a:spLocks noChangeArrowheads="1"/>
            </p:cNvSpPr>
            <p:nvPr>
              <p:custDataLst>
                <p:tags r:id="rId11"/>
              </p:custDataLst>
            </p:nvPr>
          </p:nvSpPr>
          <p:spPr bwMode="auto">
            <a:xfrm>
              <a:off x="-2719407" y="775851"/>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rPr>
                <a:t>0</a:t>
              </a:r>
              <a:endParaRPr lang="en-US" sz="2400" dirty="0">
                <a:solidFill>
                  <a:srgbClr val="FF0000"/>
                </a:solidFill>
                <a:latin typeface="Calibri" panose="020F0502020204030204" pitchFamily="34" charset="0"/>
                <a:cs typeface="Calibri" panose="020F0502020204030204" pitchFamily="34" charset="0"/>
              </a:endParaRPr>
            </a:p>
          </p:txBody>
        </p:sp>
        <p:sp>
          <p:nvSpPr>
            <p:cNvPr id="111" name="Text Box 45">
              <a:extLst>
                <a:ext uri="{FF2B5EF4-FFF2-40B4-BE49-F238E27FC236}">
                  <a16:creationId xmlns:a16="http://schemas.microsoft.com/office/drawing/2014/main" id="{E43AC9F3-CD3F-4498-BD9D-31506600B63F}"/>
                </a:ext>
              </a:extLst>
            </p:cNvPr>
            <p:cNvSpPr txBox="1">
              <a:spLocks noChangeArrowheads="1"/>
            </p:cNvSpPr>
            <p:nvPr>
              <p:custDataLst>
                <p:tags r:id="rId12"/>
              </p:custDataLst>
            </p:nvPr>
          </p:nvSpPr>
          <p:spPr bwMode="auto">
            <a:xfrm>
              <a:off x="-1291520" y="667954"/>
              <a:ext cx="138548" cy="346249"/>
            </a:xfrm>
            <a:prstGeom prst="rect">
              <a:avLst/>
            </a:prstGeom>
            <a:noFill/>
            <a:ln w="9525">
              <a:noFill/>
              <a:miter lim="800000"/>
              <a:headEnd/>
              <a:tailEnd/>
            </a:ln>
          </p:spPr>
          <p:txBody>
            <a:bodyPr wrap="none">
              <a:spAutoFit/>
            </a:bodyPr>
            <a:lstStyle/>
            <a:p>
              <a:endParaRPr lang="en-US" sz="2400">
                <a:latin typeface="Calibri" panose="020F0502020204030204" pitchFamily="34" charset="0"/>
                <a:cs typeface="Calibri" panose="020F0502020204030204" pitchFamily="34" charset="0"/>
              </a:endParaRPr>
            </a:p>
          </p:txBody>
        </p:sp>
        <p:sp>
          <p:nvSpPr>
            <p:cNvPr id="112" name="Text Box 46">
              <a:extLst>
                <a:ext uri="{FF2B5EF4-FFF2-40B4-BE49-F238E27FC236}">
                  <a16:creationId xmlns:a16="http://schemas.microsoft.com/office/drawing/2014/main" id="{0D2B97F9-42ED-448E-B988-CFE9501B1BA1}"/>
                </a:ext>
              </a:extLst>
            </p:cNvPr>
            <p:cNvSpPr txBox="1">
              <a:spLocks noChangeArrowheads="1"/>
            </p:cNvSpPr>
            <p:nvPr>
              <p:custDataLst>
                <p:tags r:id="rId13"/>
              </p:custDataLst>
            </p:nvPr>
          </p:nvSpPr>
          <p:spPr bwMode="auto">
            <a:xfrm>
              <a:off x="-1411146" y="7275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18" name="Text Box 53">
              <a:extLst>
                <a:ext uri="{FF2B5EF4-FFF2-40B4-BE49-F238E27FC236}">
                  <a16:creationId xmlns:a16="http://schemas.microsoft.com/office/drawing/2014/main" id="{8C6C435E-5131-4773-AD35-06BA557BBCAB}"/>
                </a:ext>
              </a:extLst>
            </p:cNvPr>
            <p:cNvSpPr txBox="1">
              <a:spLocks noChangeArrowheads="1"/>
            </p:cNvSpPr>
            <p:nvPr>
              <p:custDataLst>
                <p:tags r:id="rId14"/>
              </p:custDataLst>
            </p:nvPr>
          </p:nvSpPr>
          <p:spPr bwMode="auto">
            <a:xfrm>
              <a:off x="-1959046" y="869490"/>
              <a:ext cx="255119" cy="346249"/>
            </a:xfrm>
            <a:prstGeom prst="rect">
              <a:avLst/>
            </a:prstGeom>
            <a:noFill/>
            <a:ln w="9525">
              <a:noFill/>
              <a:miter lim="800000"/>
              <a:headEnd/>
              <a:tailEnd/>
            </a:ln>
          </p:spPr>
          <p:txBody>
            <a:bodyPr wrap="none">
              <a:spAutoFit/>
            </a:bodyPr>
            <a:lstStyle/>
            <a:p>
              <a:r>
                <a:rPr lang="en-US" sz="2400">
                  <a:latin typeface="Calibri" panose="020F0502020204030204" pitchFamily="34" charset="0"/>
                  <a:cs typeface="Calibri" panose="020F0502020204030204" pitchFamily="34" charset="0"/>
                </a:rPr>
                <a:t>2</a:t>
              </a:r>
            </a:p>
          </p:txBody>
        </p:sp>
        <p:sp>
          <p:nvSpPr>
            <p:cNvPr id="119" name="Text Box 63">
              <a:extLst>
                <a:ext uri="{FF2B5EF4-FFF2-40B4-BE49-F238E27FC236}">
                  <a16:creationId xmlns:a16="http://schemas.microsoft.com/office/drawing/2014/main" id="{A3CF4007-CF45-480D-A500-A7F21BF1855A}"/>
                </a:ext>
              </a:extLst>
            </p:cNvPr>
            <p:cNvSpPr txBox="1">
              <a:spLocks noChangeArrowheads="1"/>
            </p:cNvSpPr>
            <p:nvPr>
              <p:custDataLst>
                <p:tags r:id="rId15"/>
              </p:custDataLst>
            </p:nvPr>
          </p:nvSpPr>
          <p:spPr bwMode="auto">
            <a:xfrm>
              <a:off x="-1953824" y="129873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0" name="Text Box 66">
              <a:extLst>
                <a:ext uri="{FF2B5EF4-FFF2-40B4-BE49-F238E27FC236}">
                  <a16:creationId xmlns:a16="http://schemas.microsoft.com/office/drawing/2014/main" id="{CFAC2304-95CD-4B45-98F9-7BF7390DB20B}"/>
                </a:ext>
              </a:extLst>
            </p:cNvPr>
            <p:cNvSpPr txBox="1">
              <a:spLocks noChangeArrowheads="1"/>
            </p:cNvSpPr>
            <p:nvPr>
              <p:custDataLst>
                <p:tags r:id="rId16"/>
              </p:custDataLst>
            </p:nvPr>
          </p:nvSpPr>
          <p:spPr bwMode="auto">
            <a:xfrm>
              <a:off x="-2765514" y="1459720"/>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21" name="Text Box 63">
              <a:extLst>
                <a:ext uri="{FF2B5EF4-FFF2-40B4-BE49-F238E27FC236}">
                  <a16:creationId xmlns:a16="http://schemas.microsoft.com/office/drawing/2014/main" id="{B75C1551-6658-4CD0-9DD1-4129B540ADE5}"/>
                </a:ext>
              </a:extLst>
            </p:cNvPr>
            <p:cNvSpPr txBox="1">
              <a:spLocks noChangeArrowheads="1"/>
            </p:cNvSpPr>
            <p:nvPr>
              <p:custDataLst>
                <p:tags r:id="rId17"/>
              </p:custDataLst>
            </p:nvPr>
          </p:nvSpPr>
          <p:spPr bwMode="auto">
            <a:xfrm>
              <a:off x="-1344790" y="1365918"/>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24" name="Text Box 63">
              <a:extLst>
                <a:ext uri="{FF2B5EF4-FFF2-40B4-BE49-F238E27FC236}">
                  <a16:creationId xmlns:a16="http://schemas.microsoft.com/office/drawing/2014/main" id="{147BF01C-6D82-4DE4-93A5-BCF92A08728B}"/>
                </a:ext>
              </a:extLst>
            </p:cNvPr>
            <p:cNvSpPr txBox="1">
              <a:spLocks noChangeArrowheads="1"/>
            </p:cNvSpPr>
            <p:nvPr>
              <p:custDataLst>
                <p:tags r:id="rId18"/>
              </p:custDataLst>
            </p:nvPr>
          </p:nvSpPr>
          <p:spPr bwMode="auto">
            <a:xfrm>
              <a:off x="-2200094" y="17966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6" name="Text Box 63">
              <a:extLst>
                <a:ext uri="{FF2B5EF4-FFF2-40B4-BE49-F238E27FC236}">
                  <a16:creationId xmlns:a16="http://schemas.microsoft.com/office/drawing/2014/main" id="{0D277545-6A12-404D-BC69-6919290FDCA7}"/>
                </a:ext>
              </a:extLst>
            </p:cNvPr>
            <p:cNvSpPr txBox="1">
              <a:spLocks noChangeArrowheads="1"/>
            </p:cNvSpPr>
            <p:nvPr>
              <p:custDataLst>
                <p:tags r:id="rId19"/>
              </p:custDataLst>
            </p:nvPr>
          </p:nvSpPr>
          <p:spPr bwMode="auto">
            <a:xfrm>
              <a:off x="-999944" y="1568022"/>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28" name="Text Box 63">
              <a:extLst>
                <a:ext uri="{FF2B5EF4-FFF2-40B4-BE49-F238E27FC236}">
                  <a16:creationId xmlns:a16="http://schemas.microsoft.com/office/drawing/2014/main" id="{8CD8EF33-395C-495D-A4C1-EC808C3C77BD}"/>
                </a:ext>
              </a:extLst>
            </p:cNvPr>
            <p:cNvSpPr txBox="1">
              <a:spLocks noChangeArrowheads="1"/>
            </p:cNvSpPr>
            <p:nvPr>
              <p:custDataLst>
                <p:tags r:id="rId20"/>
              </p:custDataLst>
            </p:nvPr>
          </p:nvSpPr>
          <p:spPr bwMode="auto">
            <a:xfrm>
              <a:off x="-836239" y="108177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0" name="Text Box 66">
              <a:extLst>
                <a:ext uri="{FF2B5EF4-FFF2-40B4-BE49-F238E27FC236}">
                  <a16:creationId xmlns:a16="http://schemas.microsoft.com/office/drawing/2014/main" id="{A5CF820C-1D0D-4F6A-B9E8-3116A2BFDF76}"/>
                </a:ext>
              </a:extLst>
            </p:cNvPr>
            <p:cNvSpPr txBox="1">
              <a:spLocks noChangeArrowheads="1"/>
            </p:cNvSpPr>
            <p:nvPr>
              <p:custDataLst>
                <p:tags r:id="rId21"/>
              </p:custDataLst>
            </p:nvPr>
          </p:nvSpPr>
          <p:spPr bwMode="auto">
            <a:xfrm>
              <a:off x="-2314926" y="2138969"/>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2" name="Text Box 63">
              <a:extLst>
                <a:ext uri="{FF2B5EF4-FFF2-40B4-BE49-F238E27FC236}">
                  <a16:creationId xmlns:a16="http://schemas.microsoft.com/office/drawing/2014/main" id="{9531ADFD-9B22-4A68-80E1-76B21CF5CDDC}"/>
                </a:ext>
              </a:extLst>
            </p:cNvPr>
            <p:cNvSpPr txBox="1">
              <a:spLocks noChangeArrowheads="1"/>
            </p:cNvSpPr>
            <p:nvPr>
              <p:custDataLst>
                <p:tags r:id="rId22"/>
              </p:custDataLst>
            </p:nvPr>
          </p:nvSpPr>
          <p:spPr bwMode="auto">
            <a:xfrm>
              <a:off x="-1793964" y="215385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sp>
          <p:nvSpPr>
            <p:cNvPr id="133" name="Text Box 63">
              <a:extLst>
                <a:ext uri="{FF2B5EF4-FFF2-40B4-BE49-F238E27FC236}">
                  <a16:creationId xmlns:a16="http://schemas.microsoft.com/office/drawing/2014/main" id="{2F9118A3-9578-417A-B798-585B4B71E673}"/>
                </a:ext>
              </a:extLst>
            </p:cNvPr>
            <p:cNvSpPr txBox="1">
              <a:spLocks noChangeArrowheads="1"/>
            </p:cNvSpPr>
            <p:nvPr>
              <p:custDataLst>
                <p:tags r:id="rId23"/>
              </p:custDataLst>
            </p:nvPr>
          </p:nvSpPr>
          <p:spPr bwMode="auto">
            <a:xfrm>
              <a:off x="-980886" y="190492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36" name="Text Box 63">
              <a:extLst>
                <a:ext uri="{FF2B5EF4-FFF2-40B4-BE49-F238E27FC236}">
                  <a16:creationId xmlns:a16="http://schemas.microsoft.com/office/drawing/2014/main" id="{3EFC73FF-7A0D-43B8-8856-CDF57D8B1946}"/>
                </a:ext>
              </a:extLst>
            </p:cNvPr>
            <p:cNvSpPr txBox="1">
              <a:spLocks noChangeArrowheads="1"/>
            </p:cNvSpPr>
            <p:nvPr>
              <p:custDataLst>
                <p:tags r:id="rId24"/>
              </p:custDataLst>
            </p:nvPr>
          </p:nvSpPr>
          <p:spPr bwMode="auto">
            <a:xfrm>
              <a:off x="-518262" y="1856077"/>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2</a:t>
              </a:r>
            </a:p>
          </p:txBody>
        </p:sp>
        <p:sp>
          <p:nvSpPr>
            <p:cNvPr id="138" name="Text Box 63">
              <a:extLst>
                <a:ext uri="{FF2B5EF4-FFF2-40B4-BE49-F238E27FC236}">
                  <a16:creationId xmlns:a16="http://schemas.microsoft.com/office/drawing/2014/main" id="{EFD14966-9940-4DF7-AE02-721E23200B58}"/>
                </a:ext>
              </a:extLst>
            </p:cNvPr>
            <p:cNvSpPr txBox="1">
              <a:spLocks noChangeArrowheads="1"/>
            </p:cNvSpPr>
            <p:nvPr>
              <p:custDataLst>
                <p:tags r:id="rId25"/>
              </p:custDataLst>
            </p:nvPr>
          </p:nvSpPr>
          <p:spPr bwMode="auto">
            <a:xfrm>
              <a:off x="-1342844" y="2325304"/>
              <a:ext cx="255119" cy="346249"/>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139" name="Text Box 46">
              <a:extLst>
                <a:ext uri="{FF2B5EF4-FFF2-40B4-BE49-F238E27FC236}">
                  <a16:creationId xmlns:a16="http://schemas.microsoft.com/office/drawing/2014/main" id="{3B125DED-BF60-4AC0-96BC-DA232F85D8E5}"/>
                </a:ext>
              </a:extLst>
            </p:cNvPr>
            <p:cNvSpPr txBox="1">
              <a:spLocks noChangeArrowheads="1"/>
            </p:cNvSpPr>
            <p:nvPr>
              <p:custDataLst>
                <p:tags r:id="rId26"/>
              </p:custDataLst>
            </p:nvPr>
          </p:nvSpPr>
          <p:spPr bwMode="auto">
            <a:xfrm>
              <a:off x="-552659" y="1255733"/>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0" name="Text Box 46">
              <a:extLst>
                <a:ext uri="{FF2B5EF4-FFF2-40B4-BE49-F238E27FC236}">
                  <a16:creationId xmlns:a16="http://schemas.microsoft.com/office/drawing/2014/main" id="{9E99A0CC-A22B-4B21-912C-D6728A1861FC}"/>
                </a:ext>
              </a:extLst>
            </p:cNvPr>
            <p:cNvSpPr txBox="1">
              <a:spLocks noChangeArrowheads="1"/>
            </p:cNvSpPr>
            <p:nvPr>
              <p:custDataLst>
                <p:tags r:id="rId27"/>
              </p:custDataLst>
            </p:nvPr>
          </p:nvSpPr>
          <p:spPr bwMode="auto">
            <a:xfrm>
              <a:off x="-752597" y="201871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4</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1" name="Text Box 46">
              <a:extLst>
                <a:ext uri="{FF2B5EF4-FFF2-40B4-BE49-F238E27FC236}">
                  <a16:creationId xmlns:a16="http://schemas.microsoft.com/office/drawing/2014/main" id="{D83B3D9F-5A6C-4AD3-A9C1-1AD08048BC06}"/>
                </a:ext>
              </a:extLst>
            </p:cNvPr>
            <p:cNvSpPr txBox="1">
              <a:spLocks noChangeArrowheads="1"/>
            </p:cNvSpPr>
            <p:nvPr>
              <p:custDataLst>
                <p:tags r:id="rId28"/>
              </p:custDataLst>
            </p:nvPr>
          </p:nvSpPr>
          <p:spPr bwMode="auto">
            <a:xfrm>
              <a:off x="-1624535" y="1540799"/>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1</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2" name="Text Box 46">
              <a:extLst>
                <a:ext uri="{FF2B5EF4-FFF2-40B4-BE49-F238E27FC236}">
                  <a16:creationId xmlns:a16="http://schemas.microsoft.com/office/drawing/2014/main" id="{ED9A919C-49F5-4FD9-8FF5-2647203332C0}"/>
                </a:ext>
              </a:extLst>
            </p:cNvPr>
            <p:cNvSpPr txBox="1">
              <a:spLocks noChangeArrowheads="1"/>
            </p:cNvSpPr>
            <p:nvPr>
              <p:custDataLst>
                <p:tags r:id="rId29"/>
              </p:custDataLst>
            </p:nvPr>
          </p:nvSpPr>
          <p:spPr bwMode="auto">
            <a:xfrm>
              <a:off x="-2841517" y="1750740"/>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2</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sp>
          <p:nvSpPr>
            <p:cNvPr id="143" name="Text Box 46">
              <a:extLst>
                <a:ext uri="{FF2B5EF4-FFF2-40B4-BE49-F238E27FC236}">
                  <a16:creationId xmlns:a16="http://schemas.microsoft.com/office/drawing/2014/main" id="{C3ADEFEF-1C12-422A-BBF4-8E7DF15BF819}"/>
                </a:ext>
              </a:extLst>
            </p:cNvPr>
            <p:cNvSpPr txBox="1">
              <a:spLocks noChangeArrowheads="1"/>
            </p:cNvSpPr>
            <p:nvPr>
              <p:custDataLst>
                <p:tags r:id="rId30"/>
              </p:custDataLst>
            </p:nvPr>
          </p:nvSpPr>
          <p:spPr bwMode="auto">
            <a:xfrm>
              <a:off x="-2095398" y="2337927"/>
              <a:ext cx="216647" cy="253916"/>
            </a:xfrm>
            <a:prstGeom prst="rect">
              <a:avLst/>
            </a:prstGeom>
            <a:noFill/>
            <a:ln w="9525">
              <a:noFill/>
              <a:miter lim="800000"/>
              <a:headEnd/>
              <a:tailEnd/>
            </a:ln>
          </p:spPr>
          <p:txBody>
            <a:bodyPr wrap="none">
              <a:spAutoFit/>
            </a:bodyPr>
            <a:lstStyle/>
            <a:p>
              <a:r>
                <a:rPr lang="en-US" sz="1600" dirty="0">
                  <a:solidFill>
                    <a:srgbClr val="FF0000"/>
                  </a:solidFill>
                  <a:latin typeface="Calibri" panose="020F0502020204030204" pitchFamily="34" charset="0"/>
                  <a:cs typeface="Calibri" panose="020F0502020204030204" pitchFamily="34" charset="0"/>
                  <a:sym typeface="Symbol" pitchFamily="18" charset="2"/>
                </a:rPr>
                <a:t>5</a:t>
              </a:r>
              <a:endParaRPr lang="en-US" sz="2400" dirty="0">
                <a:solidFill>
                  <a:srgbClr val="FF0000"/>
                </a:solidFill>
                <a:latin typeface="Calibri" panose="020F0502020204030204" pitchFamily="34" charset="0"/>
                <a:cs typeface="Calibri" panose="020F0502020204030204" pitchFamily="34" charset="0"/>
                <a:sym typeface="Calibri" pitchFamily="2" charset="2"/>
              </a:endParaRPr>
            </a:p>
          </p:txBody>
        </p:sp>
      </p:grpSp>
      <p:sp>
        <p:nvSpPr>
          <p:cNvPr id="46" name="Google Shape;769;p43">
            <a:extLst>
              <a:ext uri="{FF2B5EF4-FFF2-40B4-BE49-F238E27FC236}">
                <a16:creationId xmlns:a16="http://schemas.microsoft.com/office/drawing/2014/main" id="{CC972679-61A1-6441-9D36-9B8A0BABF83D}"/>
              </a:ext>
            </a:extLst>
          </p:cNvPr>
          <p:cNvSpPr txBox="1"/>
          <p:nvPr/>
        </p:nvSpPr>
        <p:spPr>
          <a:xfrm>
            <a:off x="1653937" y="1438606"/>
            <a:ext cx="964955" cy="47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1600" dirty="0">
                <a:latin typeface="Consolas" panose="020B0609020204030204" pitchFamily="49" charset="0"/>
                <a:cs typeface="Consolas" panose="020B0609020204030204" pitchFamily="49" charset="0"/>
              </a:rPr>
              <a:t>start</a:t>
            </a:r>
            <a:endParaRPr sz="1600" dirty="0">
              <a:latin typeface="Consolas" panose="020B0609020204030204" pitchFamily="49" charset="0"/>
              <a:cs typeface="Consolas" panose="020B0609020204030204" pitchFamily="49" charset="0"/>
            </a:endParaRPr>
          </a:p>
        </p:txBody>
      </p:sp>
      <p:cxnSp>
        <p:nvCxnSpPr>
          <p:cNvPr id="5" name="Straight Connector 4">
            <a:extLst>
              <a:ext uri="{FF2B5EF4-FFF2-40B4-BE49-F238E27FC236}">
                <a16:creationId xmlns:a16="http://schemas.microsoft.com/office/drawing/2014/main" id="{F1137D7F-CB3E-43E5-B358-7DA9DA98C9B9}"/>
              </a:ext>
            </a:extLst>
          </p:cNvPr>
          <p:cNvCxnSpPr>
            <a:cxnSpLocks/>
            <a:stCxn id="53" idx="6"/>
            <a:endCxn id="55" idx="2"/>
          </p:cNvCxnSpPr>
          <p:nvPr/>
        </p:nvCxnSpPr>
        <p:spPr>
          <a:xfrm flipV="1">
            <a:off x="2984471" y="1614918"/>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488D247-BFF6-4537-9C68-7FA365849623}"/>
              </a:ext>
            </a:extLst>
          </p:cNvPr>
          <p:cNvCxnSpPr>
            <a:cxnSpLocks/>
            <a:stCxn id="53" idx="5"/>
            <a:endCxn id="103" idx="1"/>
          </p:cNvCxnSpPr>
          <p:nvPr/>
        </p:nvCxnSpPr>
        <p:spPr>
          <a:xfrm>
            <a:off x="2928675" y="1825822"/>
            <a:ext cx="1178392" cy="721192"/>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A606CAC-88A0-419A-9095-2BBF01FB1963}"/>
              </a:ext>
            </a:extLst>
          </p:cNvPr>
          <p:cNvCxnSpPr>
            <a:cxnSpLocks/>
            <a:stCxn id="53" idx="4"/>
            <a:endCxn id="102" idx="0"/>
          </p:cNvCxnSpPr>
          <p:nvPr/>
        </p:nvCxnSpPr>
        <p:spPr>
          <a:xfrm flipH="1">
            <a:off x="2641571" y="1881618"/>
            <a:ext cx="1524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E58F3D4-C245-4901-896F-6C1EA8E6EF8D}"/>
              </a:ext>
            </a:extLst>
          </p:cNvPr>
          <p:cNvCxnSpPr>
            <a:cxnSpLocks/>
            <a:stCxn id="103" idx="0"/>
            <a:endCxn id="55" idx="4"/>
          </p:cNvCxnSpPr>
          <p:nvPr/>
        </p:nvCxnSpPr>
        <p:spPr>
          <a:xfrm flipV="1">
            <a:off x="4241771" y="1805418"/>
            <a:ext cx="22860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E138251-B2AE-449B-A830-70C71AA8F265}"/>
              </a:ext>
            </a:extLst>
          </p:cNvPr>
          <p:cNvCxnSpPr>
            <a:cxnSpLocks/>
            <a:stCxn id="105" idx="1"/>
            <a:endCxn id="55" idx="5"/>
          </p:cNvCxnSpPr>
          <p:nvPr/>
        </p:nvCxnSpPr>
        <p:spPr>
          <a:xfrm flipH="1" flipV="1">
            <a:off x="4605075" y="1749622"/>
            <a:ext cx="797392" cy="4275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BDFCFC4-DE5E-4A62-9DC6-FC647C814EE1}"/>
              </a:ext>
            </a:extLst>
          </p:cNvPr>
          <p:cNvCxnSpPr>
            <a:cxnSpLocks/>
          </p:cNvCxnSpPr>
          <p:nvPr/>
        </p:nvCxnSpPr>
        <p:spPr>
          <a:xfrm flipV="1">
            <a:off x="2824643" y="2821683"/>
            <a:ext cx="12954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92AE25-6ADD-49E1-A4CE-F8C9701A2CC8}"/>
              </a:ext>
            </a:extLst>
          </p:cNvPr>
          <p:cNvCxnSpPr>
            <a:cxnSpLocks/>
            <a:endCxn id="105" idx="3"/>
          </p:cNvCxnSpPr>
          <p:nvPr/>
        </p:nvCxnSpPr>
        <p:spPr>
          <a:xfrm flipV="1">
            <a:off x="4446834" y="2446535"/>
            <a:ext cx="955633" cy="21756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D747C7B-35CA-433A-9F21-ADB2C92C1DB5}"/>
              </a:ext>
            </a:extLst>
          </p:cNvPr>
          <p:cNvCxnSpPr>
            <a:cxnSpLocks/>
            <a:stCxn id="106" idx="0"/>
          </p:cNvCxnSpPr>
          <p:nvPr/>
        </p:nvCxnSpPr>
        <p:spPr>
          <a:xfrm flipV="1">
            <a:off x="5384771" y="2488291"/>
            <a:ext cx="110518" cy="623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6A24798-FD1A-472A-9624-A9AE61381715}"/>
              </a:ext>
            </a:extLst>
          </p:cNvPr>
          <p:cNvCxnSpPr>
            <a:cxnSpLocks/>
            <a:endCxn id="106" idx="1"/>
          </p:cNvCxnSpPr>
          <p:nvPr/>
        </p:nvCxnSpPr>
        <p:spPr>
          <a:xfrm>
            <a:off x="4366918" y="2831882"/>
            <a:ext cx="883149" cy="33584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F6304B9-817C-447B-8D74-AB0D9EEE1EFC}"/>
              </a:ext>
            </a:extLst>
          </p:cNvPr>
          <p:cNvCxnSpPr>
            <a:cxnSpLocks/>
            <a:endCxn id="104" idx="1"/>
          </p:cNvCxnSpPr>
          <p:nvPr/>
        </p:nvCxnSpPr>
        <p:spPr>
          <a:xfrm>
            <a:off x="2704761" y="3103128"/>
            <a:ext cx="716506" cy="521799"/>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6B8EED9-E55C-4418-B2BF-D380258E2668}"/>
              </a:ext>
            </a:extLst>
          </p:cNvPr>
          <p:cNvCxnSpPr>
            <a:cxnSpLocks/>
            <a:stCxn id="104" idx="7"/>
          </p:cNvCxnSpPr>
          <p:nvPr/>
        </p:nvCxnSpPr>
        <p:spPr>
          <a:xfrm flipV="1">
            <a:off x="3690675" y="2874543"/>
            <a:ext cx="507135" cy="750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AEA45EB-2EFF-4CF4-BBFB-E53C620644D9}"/>
              </a:ext>
            </a:extLst>
          </p:cNvPr>
          <p:cNvCxnSpPr>
            <a:cxnSpLocks/>
            <a:endCxn id="106" idx="3"/>
          </p:cNvCxnSpPr>
          <p:nvPr/>
        </p:nvCxnSpPr>
        <p:spPr>
          <a:xfrm flipV="1">
            <a:off x="3759481" y="3437135"/>
            <a:ext cx="1490586" cy="384652"/>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FB7A1A8-7A10-4E14-999A-DD6F08212484}"/>
              </a:ext>
            </a:extLst>
          </p:cNvPr>
          <p:cNvSpPr txBox="1"/>
          <p:nvPr/>
        </p:nvSpPr>
        <p:spPr>
          <a:xfrm>
            <a:off x="5117317" y="6349589"/>
            <a:ext cx="1962012" cy="369332"/>
          </a:xfrm>
          <a:prstGeom prst="rect">
            <a:avLst/>
          </a:prstGeom>
          <a:noFill/>
        </p:spPr>
        <p:txBody>
          <a:bodyPr wrap="none" rtlCol="0">
            <a:spAutoFit/>
          </a:bodyPr>
          <a:lstStyle/>
          <a:p>
            <a:r>
              <a:rPr lang="en-US" dirty="0"/>
              <a:t>Path </a:t>
            </a:r>
            <a:r>
              <a:rPr lang="en-US" dirty="0">
                <a:sym typeface="Wingdings" panose="05000000000000000000" pitchFamily="2" charset="2"/>
              </a:rPr>
              <a:t> A, D, E,G, F</a:t>
            </a:r>
            <a:endParaRPr lang="en-US" dirty="0"/>
          </a:p>
        </p:txBody>
      </p:sp>
    </p:spTree>
    <p:extLst>
      <p:ext uri="{BB962C8B-B14F-4D97-AF65-F5344CB8AC3E}">
        <p14:creationId xmlns:p14="http://schemas.microsoft.com/office/powerpoint/2010/main" val="29132244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BC791-174B-0842-B23E-788A691D7F9E}"/>
              </a:ext>
            </a:extLst>
          </p:cNvPr>
          <p:cNvSpPr>
            <a:spLocks noGrp="1"/>
          </p:cNvSpPr>
          <p:nvPr>
            <p:ph type="title"/>
          </p:nvPr>
        </p:nvSpPr>
        <p:spPr/>
        <p:txBody>
          <a:bodyPr/>
          <a:lstStyle/>
          <a:p>
            <a:r>
              <a:rPr lang="en-US" dirty="0"/>
              <a:t>Why Does Dijkstra’s Work?</a:t>
            </a:r>
          </a:p>
        </p:txBody>
      </p:sp>
      <p:sp>
        <p:nvSpPr>
          <p:cNvPr id="12" name="Freeform 11">
            <a:extLst>
              <a:ext uri="{FF2B5EF4-FFF2-40B4-BE49-F238E27FC236}">
                <a16:creationId xmlns:a16="http://schemas.microsoft.com/office/drawing/2014/main" id="{4290EC5D-478A-AA44-84BB-5619E773CA33}"/>
              </a:ext>
            </a:extLst>
          </p:cNvPr>
          <p:cNvSpPr/>
          <p:nvPr/>
        </p:nvSpPr>
        <p:spPr>
          <a:xfrm>
            <a:off x="777724" y="1467225"/>
            <a:ext cx="2335396" cy="2084345"/>
          </a:xfrm>
          <a:custGeom>
            <a:avLst/>
            <a:gdLst>
              <a:gd name="connsiteX0" fmla="*/ 1284051 w 1857983"/>
              <a:gd name="connsiteY0" fmla="*/ 112319 h 1834115"/>
              <a:gd name="connsiteX1" fmla="*/ 1147864 w 1857983"/>
              <a:gd name="connsiteY1" fmla="*/ 102592 h 1834115"/>
              <a:gd name="connsiteX2" fmla="*/ 1060315 w 1857983"/>
              <a:gd name="connsiteY2" fmla="*/ 63681 h 1834115"/>
              <a:gd name="connsiteX3" fmla="*/ 1011677 w 1857983"/>
              <a:gd name="connsiteY3" fmla="*/ 53953 h 1834115"/>
              <a:gd name="connsiteX4" fmla="*/ 875489 w 1857983"/>
              <a:gd name="connsiteY4" fmla="*/ 24770 h 1834115"/>
              <a:gd name="connsiteX5" fmla="*/ 486383 w 1857983"/>
              <a:gd name="connsiteY5" fmla="*/ 24770 h 1834115"/>
              <a:gd name="connsiteX6" fmla="*/ 389106 w 1857983"/>
              <a:gd name="connsiteY6" fmla="*/ 34498 h 1834115"/>
              <a:gd name="connsiteX7" fmla="*/ 340468 w 1857983"/>
              <a:gd name="connsiteY7" fmla="*/ 44226 h 1834115"/>
              <a:gd name="connsiteX8" fmla="*/ 291830 w 1857983"/>
              <a:gd name="connsiteY8" fmla="*/ 63681 h 1834115"/>
              <a:gd name="connsiteX9" fmla="*/ 252919 w 1857983"/>
              <a:gd name="connsiteY9" fmla="*/ 73409 h 1834115"/>
              <a:gd name="connsiteX10" fmla="*/ 223736 w 1857983"/>
              <a:gd name="connsiteY10" fmla="*/ 92864 h 1834115"/>
              <a:gd name="connsiteX11" fmla="*/ 155643 w 1857983"/>
              <a:gd name="connsiteY11" fmla="*/ 122047 h 1834115"/>
              <a:gd name="connsiteX12" fmla="*/ 136187 w 1857983"/>
              <a:gd name="connsiteY12" fmla="*/ 141502 h 1834115"/>
              <a:gd name="connsiteX13" fmla="*/ 97277 w 1857983"/>
              <a:gd name="connsiteY13" fmla="*/ 170685 h 1834115"/>
              <a:gd name="connsiteX14" fmla="*/ 77821 w 1857983"/>
              <a:gd name="connsiteY14" fmla="*/ 199868 h 1834115"/>
              <a:gd name="connsiteX15" fmla="*/ 38911 w 1857983"/>
              <a:gd name="connsiteY15" fmla="*/ 248507 h 1834115"/>
              <a:gd name="connsiteX16" fmla="*/ 29183 w 1857983"/>
              <a:gd name="connsiteY16" fmla="*/ 277690 h 1834115"/>
              <a:gd name="connsiteX17" fmla="*/ 0 w 1857983"/>
              <a:gd name="connsiteY17" fmla="*/ 365238 h 1834115"/>
              <a:gd name="connsiteX18" fmla="*/ 9728 w 1857983"/>
              <a:gd name="connsiteY18" fmla="*/ 666796 h 1834115"/>
              <a:gd name="connsiteX19" fmla="*/ 38911 w 1857983"/>
              <a:gd name="connsiteY19" fmla="*/ 812711 h 1834115"/>
              <a:gd name="connsiteX20" fmla="*/ 58366 w 1857983"/>
              <a:gd name="connsiteY20" fmla="*/ 890532 h 1834115"/>
              <a:gd name="connsiteX21" fmla="*/ 97277 w 1857983"/>
              <a:gd name="connsiteY21" fmla="*/ 987809 h 1834115"/>
              <a:gd name="connsiteX22" fmla="*/ 116732 w 1857983"/>
              <a:gd name="connsiteY22" fmla="*/ 1065630 h 1834115"/>
              <a:gd name="connsiteX23" fmla="*/ 126460 w 1857983"/>
              <a:gd name="connsiteY23" fmla="*/ 1094813 h 1834115"/>
              <a:gd name="connsiteX24" fmla="*/ 136187 w 1857983"/>
              <a:gd name="connsiteY24" fmla="*/ 1143451 h 1834115"/>
              <a:gd name="connsiteX25" fmla="*/ 175098 w 1857983"/>
              <a:gd name="connsiteY25" fmla="*/ 1289366 h 1834115"/>
              <a:gd name="connsiteX26" fmla="*/ 204281 w 1857983"/>
              <a:gd name="connsiteY26" fmla="*/ 1396370 h 1834115"/>
              <a:gd name="connsiteX27" fmla="*/ 243191 w 1857983"/>
              <a:gd name="connsiteY27" fmla="*/ 1483919 h 1834115"/>
              <a:gd name="connsiteX28" fmla="*/ 282102 w 1857983"/>
              <a:gd name="connsiteY28" fmla="*/ 1561741 h 1834115"/>
              <a:gd name="connsiteX29" fmla="*/ 291830 w 1857983"/>
              <a:gd name="connsiteY29" fmla="*/ 1590924 h 1834115"/>
              <a:gd name="connsiteX30" fmla="*/ 389106 w 1857983"/>
              <a:gd name="connsiteY30" fmla="*/ 1707656 h 1834115"/>
              <a:gd name="connsiteX31" fmla="*/ 447472 w 1857983"/>
              <a:gd name="connsiteY31" fmla="*/ 1756294 h 1834115"/>
              <a:gd name="connsiteX32" fmla="*/ 476655 w 1857983"/>
              <a:gd name="connsiteY32" fmla="*/ 1775749 h 1834115"/>
              <a:gd name="connsiteX33" fmla="*/ 505838 w 1857983"/>
              <a:gd name="connsiteY33" fmla="*/ 1785477 h 1834115"/>
              <a:gd name="connsiteX34" fmla="*/ 535021 w 1857983"/>
              <a:gd name="connsiteY34" fmla="*/ 1804932 h 1834115"/>
              <a:gd name="connsiteX35" fmla="*/ 573932 w 1857983"/>
              <a:gd name="connsiteY35" fmla="*/ 1814660 h 1834115"/>
              <a:gd name="connsiteX36" fmla="*/ 651753 w 1857983"/>
              <a:gd name="connsiteY36" fmla="*/ 1834115 h 1834115"/>
              <a:gd name="connsiteX37" fmla="*/ 885217 w 1857983"/>
              <a:gd name="connsiteY37" fmla="*/ 1824387 h 1834115"/>
              <a:gd name="connsiteX38" fmla="*/ 963038 w 1857983"/>
              <a:gd name="connsiteY38" fmla="*/ 1804932 h 1834115"/>
              <a:gd name="connsiteX39" fmla="*/ 1001949 w 1857983"/>
              <a:gd name="connsiteY39" fmla="*/ 1785477 h 1834115"/>
              <a:gd name="connsiteX40" fmla="*/ 1050587 w 1857983"/>
              <a:gd name="connsiteY40" fmla="*/ 1775749 h 1834115"/>
              <a:gd name="connsiteX41" fmla="*/ 1079770 w 1857983"/>
              <a:gd name="connsiteY41" fmla="*/ 1756294 h 1834115"/>
              <a:gd name="connsiteX42" fmla="*/ 1118681 w 1857983"/>
              <a:gd name="connsiteY42" fmla="*/ 1736838 h 1834115"/>
              <a:gd name="connsiteX43" fmla="*/ 1157591 w 1857983"/>
              <a:gd name="connsiteY43" fmla="*/ 1707656 h 1834115"/>
              <a:gd name="connsiteX44" fmla="*/ 1186774 w 1857983"/>
              <a:gd name="connsiteY44" fmla="*/ 1688200 h 1834115"/>
              <a:gd name="connsiteX45" fmla="*/ 1235413 w 1857983"/>
              <a:gd name="connsiteY45" fmla="*/ 1639562 h 1834115"/>
              <a:gd name="connsiteX46" fmla="*/ 1254868 w 1857983"/>
              <a:gd name="connsiteY46" fmla="*/ 1610379 h 1834115"/>
              <a:gd name="connsiteX47" fmla="*/ 1313234 w 1857983"/>
              <a:gd name="connsiteY47" fmla="*/ 1571468 h 1834115"/>
              <a:gd name="connsiteX48" fmla="*/ 1429966 w 1857983"/>
              <a:gd name="connsiteY48" fmla="*/ 1464464 h 1834115"/>
              <a:gd name="connsiteX49" fmla="*/ 1449421 w 1857983"/>
              <a:gd name="connsiteY49" fmla="*/ 1435281 h 1834115"/>
              <a:gd name="connsiteX50" fmla="*/ 1459149 w 1857983"/>
              <a:gd name="connsiteY50" fmla="*/ 1406098 h 1834115"/>
              <a:gd name="connsiteX51" fmla="*/ 1488332 w 1857983"/>
              <a:gd name="connsiteY51" fmla="*/ 1376915 h 1834115"/>
              <a:gd name="connsiteX52" fmla="*/ 1527243 w 1857983"/>
              <a:gd name="connsiteY52" fmla="*/ 1318549 h 1834115"/>
              <a:gd name="connsiteX53" fmla="*/ 1566153 w 1857983"/>
              <a:gd name="connsiteY53" fmla="*/ 1260183 h 1834115"/>
              <a:gd name="connsiteX54" fmla="*/ 1585608 w 1857983"/>
              <a:gd name="connsiteY54" fmla="*/ 1231000 h 1834115"/>
              <a:gd name="connsiteX55" fmla="*/ 1605064 w 1857983"/>
              <a:gd name="connsiteY55" fmla="*/ 1201817 h 1834115"/>
              <a:gd name="connsiteX56" fmla="*/ 1663430 w 1857983"/>
              <a:gd name="connsiteY56" fmla="*/ 1094813 h 1834115"/>
              <a:gd name="connsiteX57" fmla="*/ 1682885 w 1857983"/>
              <a:gd name="connsiteY57" fmla="*/ 1065630 h 1834115"/>
              <a:gd name="connsiteX58" fmla="*/ 1702340 w 1857983"/>
              <a:gd name="connsiteY58" fmla="*/ 1036447 h 1834115"/>
              <a:gd name="connsiteX59" fmla="*/ 1721796 w 1857983"/>
              <a:gd name="connsiteY59" fmla="*/ 1016992 h 1834115"/>
              <a:gd name="connsiteX60" fmla="*/ 1750979 w 1857983"/>
              <a:gd name="connsiteY60" fmla="*/ 948898 h 1834115"/>
              <a:gd name="connsiteX61" fmla="*/ 1789889 w 1857983"/>
              <a:gd name="connsiteY61" fmla="*/ 890532 h 1834115"/>
              <a:gd name="connsiteX62" fmla="*/ 1809345 w 1857983"/>
              <a:gd name="connsiteY62" fmla="*/ 861349 h 1834115"/>
              <a:gd name="connsiteX63" fmla="*/ 1838528 w 1857983"/>
              <a:gd name="connsiteY63" fmla="*/ 773800 h 1834115"/>
              <a:gd name="connsiteX64" fmla="*/ 1848255 w 1857983"/>
              <a:gd name="connsiteY64" fmla="*/ 744617 h 1834115"/>
              <a:gd name="connsiteX65" fmla="*/ 1857983 w 1857983"/>
              <a:gd name="connsiteY65" fmla="*/ 695979 h 1834115"/>
              <a:gd name="connsiteX66" fmla="*/ 1848255 w 1857983"/>
              <a:gd name="connsiteY66" fmla="*/ 462515 h 1834115"/>
              <a:gd name="connsiteX67" fmla="*/ 1838528 w 1857983"/>
              <a:gd name="connsiteY67" fmla="*/ 433332 h 1834115"/>
              <a:gd name="connsiteX68" fmla="*/ 1789889 w 1857983"/>
              <a:gd name="connsiteY68" fmla="*/ 384694 h 1834115"/>
              <a:gd name="connsiteX69" fmla="*/ 1760706 w 1857983"/>
              <a:gd name="connsiteY69" fmla="*/ 355511 h 1834115"/>
              <a:gd name="connsiteX70" fmla="*/ 1721796 w 1857983"/>
              <a:gd name="connsiteY70" fmla="*/ 336056 h 1834115"/>
              <a:gd name="connsiteX71" fmla="*/ 1702340 w 1857983"/>
              <a:gd name="connsiteY71" fmla="*/ 316600 h 1834115"/>
              <a:gd name="connsiteX72" fmla="*/ 1643974 w 1857983"/>
              <a:gd name="connsiteY72" fmla="*/ 277690 h 1834115"/>
              <a:gd name="connsiteX73" fmla="*/ 1624519 w 1857983"/>
              <a:gd name="connsiteY73" fmla="*/ 258234 h 1834115"/>
              <a:gd name="connsiteX74" fmla="*/ 1566153 w 1857983"/>
              <a:gd name="connsiteY74" fmla="*/ 219324 h 1834115"/>
              <a:gd name="connsiteX75" fmla="*/ 1527243 w 1857983"/>
              <a:gd name="connsiteY75" fmla="*/ 209596 h 1834115"/>
              <a:gd name="connsiteX76" fmla="*/ 1468877 w 1857983"/>
              <a:gd name="connsiteY76" fmla="*/ 190141 h 1834115"/>
              <a:gd name="connsiteX77" fmla="*/ 1420238 w 1857983"/>
              <a:gd name="connsiteY77" fmla="*/ 180413 h 1834115"/>
              <a:gd name="connsiteX78" fmla="*/ 1381328 w 1857983"/>
              <a:gd name="connsiteY78" fmla="*/ 160958 h 1834115"/>
              <a:gd name="connsiteX79" fmla="*/ 1342417 w 1857983"/>
              <a:gd name="connsiteY79" fmla="*/ 151230 h 1834115"/>
              <a:gd name="connsiteX80" fmla="*/ 1284051 w 1857983"/>
              <a:gd name="connsiteY80" fmla="*/ 112319 h 18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857983" h="1834115">
                <a:moveTo>
                  <a:pt x="1284051" y="112319"/>
                </a:moveTo>
                <a:cubicBezTo>
                  <a:pt x="1251626" y="104213"/>
                  <a:pt x="1192337" y="112260"/>
                  <a:pt x="1147864" y="102592"/>
                </a:cubicBezTo>
                <a:cubicBezTo>
                  <a:pt x="1116657" y="95808"/>
                  <a:pt x="1090390" y="74422"/>
                  <a:pt x="1060315" y="63681"/>
                </a:cubicBezTo>
                <a:cubicBezTo>
                  <a:pt x="1044744" y="58120"/>
                  <a:pt x="1027628" y="58303"/>
                  <a:pt x="1011677" y="53953"/>
                </a:cubicBezTo>
                <a:cubicBezTo>
                  <a:pt x="894393" y="21966"/>
                  <a:pt x="1017151" y="42478"/>
                  <a:pt x="875489" y="24770"/>
                </a:cubicBezTo>
                <a:cubicBezTo>
                  <a:pt x="733753" y="-22472"/>
                  <a:pt x="841264" y="9669"/>
                  <a:pt x="486383" y="24770"/>
                </a:cubicBezTo>
                <a:cubicBezTo>
                  <a:pt x="453825" y="26155"/>
                  <a:pt x="421532" y="31255"/>
                  <a:pt x="389106" y="34498"/>
                </a:cubicBezTo>
                <a:cubicBezTo>
                  <a:pt x="372893" y="37741"/>
                  <a:pt x="356304" y="39475"/>
                  <a:pt x="340468" y="44226"/>
                </a:cubicBezTo>
                <a:cubicBezTo>
                  <a:pt x="323743" y="49244"/>
                  <a:pt x="308395" y="58159"/>
                  <a:pt x="291830" y="63681"/>
                </a:cubicBezTo>
                <a:cubicBezTo>
                  <a:pt x="279147" y="67909"/>
                  <a:pt x="265889" y="70166"/>
                  <a:pt x="252919" y="73409"/>
                </a:cubicBezTo>
                <a:cubicBezTo>
                  <a:pt x="243191" y="79894"/>
                  <a:pt x="234193" y="87636"/>
                  <a:pt x="223736" y="92864"/>
                </a:cubicBezTo>
                <a:cubicBezTo>
                  <a:pt x="171856" y="118804"/>
                  <a:pt x="216368" y="81565"/>
                  <a:pt x="155643" y="122047"/>
                </a:cubicBezTo>
                <a:cubicBezTo>
                  <a:pt x="148012" y="127134"/>
                  <a:pt x="143233" y="135631"/>
                  <a:pt x="136187" y="141502"/>
                </a:cubicBezTo>
                <a:cubicBezTo>
                  <a:pt x="123732" y="151881"/>
                  <a:pt x="108741" y="159221"/>
                  <a:pt x="97277" y="170685"/>
                </a:cubicBezTo>
                <a:cubicBezTo>
                  <a:pt x="89010" y="178952"/>
                  <a:pt x="85124" y="190739"/>
                  <a:pt x="77821" y="199868"/>
                </a:cubicBezTo>
                <a:cubicBezTo>
                  <a:pt x="53695" y="230026"/>
                  <a:pt x="58870" y="208590"/>
                  <a:pt x="38911" y="248507"/>
                </a:cubicBezTo>
                <a:cubicBezTo>
                  <a:pt x="34325" y="257678"/>
                  <a:pt x="32783" y="268089"/>
                  <a:pt x="29183" y="277690"/>
                </a:cubicBezTo>
                <a:cubicBezTo>
                  <a:pt x="1711" y="350950"/>
                  <a:pt x="16300" y="300041"/>
                  <a:pt x="0" y="365238"/>
                </a:cubicBezTo>
                <a:cubicBezTo>
                  <a:pt x="3243" y="465757"/>
                  <a:pt x="1015" y="566602"/>
                  <a:pt x="9728" y="666796"/>
                </a:cubicBezTo>
                <a:cubicBezTo>
                  <a:pt x="14025" y="716211"/>
                  <a:pt x="26881" y="764590"/>
                  <a:pt x="38911" y="812711"/>
                </a:cubicBezTo>
                <a:cubicBezTo>
                  <a:pt x="45396" y="838651"/>
                  <a:pt x="48435" y="865706"/>
                  <a:pt x="58366" y="890532"/>
                </a:cubicBezTo>
                <a:cubicBezTo>
                  <a:pt x="71336" y="922958"/>
                  <a:pt x="88807" y="953928"/>
                  <a:pt x="97277" y="987809"/>
                </a:cubicBezTo>
                <a:cubicBezTo>
                  <a:pt x="103762" y="1013749"/>
                  <a:pt x="108276" y="1040264"/>
                  <a:pt x="116732" y="1065630"/>
                </a:cubicBezTo>
                <a:cubicBezTo>
                  <a:pt x="119975" y="1075358"/>
                  <a:pt x="123973" y="1084865"/>
                  <a:pt x="126460" y="1094813"/>
                </a:cubicBezTo>
                <a:cubicBezTo>
                  <a:pt x="130470" y="1110853"/>
                  <a:pt x="132469" y="1127341"/>
                  <a:pt x="136187" y="1143451"/>
                </a:cubicBezTo>
                <a:cubicBezTo>
                  <a:pt x="159985" y="1246577"/>
                  <a:pt x="149518" y="1193441"/>
                  <a:pt x="175098" y="1289366"/>
                </a:cubicBezTo>
                <a:cubicBezTo>
                  <a:pt x="178602" y="1302508"/>
                  <a:pt x="193168" y="1370439"/>
                  <a:pt x="204281" y="1396370"/>
                </a:cubicBezTo>
                <a:cubicBezTo>
                  <a:pt x="240980" y="1482001"/>
                  <a:pt x="206990" y="1384366"/>
                  <a:pt x="243191" y="1483919"/>
                </a:cubicBezTo>
                <a:cubicBezTo>
                  <a:pt x="268740" y="1554179"/>
                  <a:pt x="246718" y="1526355"/>
                  <a:pt x="282102" y="1561741"/>
                </a:cubicBezTo>
                <a:cubicBezTo>
                  <a:pt x="285345" y="1571469"/>
                  <a:pt x="286850" y="1581960"/>
                  <a:pt x="291830" y="1590924"/>
                </a:cubicBezTo>
                <a:cubicBezTo>
                  <a:pt x="325688" y="1651869"/>
                  <a:pt x="338110" y="1656660"/>
                  <a:pt x="389106" y="1707656"/>
                </a:cubicBezTo>
                <a:cubicBezTo>
                  <a:pt x="416751" y="1735300"/>
                  <a:pt x="407015" y="1727396"/>
                  <a:pt x="447472" y="1756294"/>
                </a:cubicBezTo>
                <a:cubicBezTo>
                  <a:pt x="456985" y="1763089"/>
                  <a:pt x="466198" y="1770521"/>
                  <a:pt x="476655" y="1775749"/>
                </a:cubicBezTo>
                <a:cubicBezTo>
                  <a:pt x="485826" y="1780335"/>
                  <a:pt x="496667" y="1780891"/>
                  <a:pt x="505838" y="1785477"/>
                </a:cubicBezTo>
                <a:cubicBezTo>
                  <a:pt x="516295" y="1790705"/>
                  <a:pt x="524275" y="1800327"/>
                  <a:pt x="535021" y="1804932"/>
                </a:cubicBezTo>
                <a:cubicBezTo>
                  <a:pt x="547310" y="1810198"/>
                  <a:pt x="560881" y="1811760"/>
                  <a:pt x="573932" y="1814660"/>
                </a:cubicBezTo>
                <a:cubicBezTo>
                  <a:pt x="644366" y="1830312"/>
                  <a:pt x="599603" y="1816731"/>
                  <a:pt x="651753" y="1834115"/>
                </a:cubicBezTo>
                <a:cubicBezTo>
                  <a:pt x="729574" y="1830872"/>
                  <a:pt x="807513" y="1829746"/>
                  <a:pt x="885217" y="1824387"/>
                </a:cubicBezTo>
                <a:cubicBezTo>
                  <a:pt x="903367" y="1823135"/>
                  <a:pt x="943314" y="1813385"/>
                  <a:pt x="963038" y="1804932"/>
                </a:cubicBezTo>
                <a:cubicBezTo>
                  <a:pt x="976367" y="1799220"/>
                  <a:pt x="988192" y="1790063"/>
                  <a:pt x="1001949" y="1785477"/>
                </a:cubicBezTo>
                <a:cubicBezTo>
                  <a:pt x="1017634" y="1780249"/>
                  <a:pt x="1034374" y="1778992"/>
                  <a:pt x="1050587" y="1775749"/>
                </a:cubicBezTo>
                <a:cubicBezTo>
                  <a:pt x="1060315" y="1769264"/>
                  <a:pt x="1069619" y="1762094"/>
                  <a:pt x="1079770" y="1756294"/>
                </a:cubicBezTo>
                <a:cubicBezTo>
                  <a:pt x="1092361" y="1749099"/>
                  <a:pt x="1106384" y="1744524"/>
                  <a:pt x="1118681" y="1736838"/>
                </a:cubicBezTo>
                <a:cubicBezTo>
                  <a:pt x="1132429" y="1728245"/>
                  <a:pt x="1144398" y="1717079"/>
                  <a:pt x="1157591" y="1707656"/>
                </a:cubicBezTo>
                <a:cubicBezTo>
                  <a:pt x="1167105" y="1700861"/>
                  <a:pt x="1177975" y="1695899"/>
                  <a:pt x="1186774" y="1688200"/>
                </a:cubicBezTo>
                <a:cubicBezTo>
                  <a:pt x="1204029" y="1673102"/>
                  <a:pt x="1222695" y="1658640"/>
                  <a:pt x="1235413" y="1639562"/>
                </a:cubicBezTo>
                <a:cubicBezTo>
                  <a:pt x="1241898" y="1629834"/>
                  <a:pt x="1246070" y="1618078"/>
                  <a:pt x="1254868" y="1610379"/>
                </a:cubicBezTo>
                <a:cubicBezTo>
                  <a:pt x="1272465" y="1594981"/>
                  <a:pt x="1293779" y="1584438"/>
                  <a:pt x="1313234" y="1571468"/>
                </a:cubicBezTo>
                <a:cubicBezTo>
                  <a:pt x="1360472" y="1539976"/>
                  <a:pt x="1391638" y="1521957"/>
                  <a:pt x="1429966" y="1464464"/>
                </a:cubicBezTo>
                <a:cubicBezTo>
                  <a:pt x="1436451" y="1454736"/>
                  <a:pt x="1444193" y="1445738"/>
                  <a:pt x="1449421" y="1435281"/>
                </a:cubicBezTo>
                <a:cubicBezTo>
                  <a:pt x="1454007" y="1426110"/>
                  <a:pt x="1453461" y="1414630"/>
                  <a:pt x="1459149" y="1406098"/>
                </a:cubicBezTo>
                <a:cubicBezTo>
                  <a:pt x="1466780" y="1394652"/>
                  <a:pt x="1479886" y="1387774"/>
                  <a:pt x="1488332" y="1376915"/>
                </a:cubicBezTo>
                <a:cubicBezTo>
                  <a:pt x="1502687" y="1358458"/>
                  <a:pt x="1514273" y="1338004"/>
                  <a:pt x="1527243" y="1318549"/>
                </a:cubicBezTo>
                <a:lnTo>
                  <a:pt x="1566153" y="1260183"/>
                </a:lnTo>
                <a:lnTo>
                  <a:pt x="1585608" y="1231000"/>
                </a:lnTo>
                <a:cubicBezTo>
                  <a:pt x="1592093" y="1221272"/>
                  <a:pt x="1600722" y="1212672"/>
                  <a:pt x="1605064" y="1201817"/>
                </a:cubicBezTo>
                <a:cubicBezTo>
                  <a:pt x="1633203" y="1131468"/>
                  <a:pt x="1614832" y="1167709"/>
                  <a:pt x="1663430" y="1094813"/>
                </a:cubicBezTo>
                <a:lnTo>
                  <a:pt x="1682885" y="1065630"/>
                </a:lnTo>
                <a:cubicBezTo>
                  <a:pt x="1689370" y="1055902"/>
                  <a:pt x="1694073" y="1044714"/>
                  <a:pt x="1702340" y="1036447"/>
                </a:cubicBezTo>
                <a:lnTo>
                  <a:pt x="1721796" y="1016992"/>
                </a:lnTo>
                <a:cubicBezTo>
                  <a:pt x="1731860" y="986798"/>
                  <a:pt x="1732946" y="978953"/>
                  <a:pt x="1750979" y="948898"/>
                </a:cubicBezTo>
                <a:cubicBezTo>
                  <a:pt x="1763009" y="928848"/>
                  <a:pt x="1776919" y="909987"/>
                  <a:pt x="1789889" y="890532"/>
                </a:cubicBezTo>
                <a:lnTo>
                  <a:pt x="1809345" y="861349"/>
                </a:lnTo>
                <a:lnTo>
                  <a:pt x="1838528" y="773800"/>
                </a:lnTo>
                <a:cubicBezTo>
                  <a:pt x="1841770" y="764072"/>
                  <a:pt x="1846244" y="754672"/>
                  <a:pt x="1848255" y="744617"/>
                </a:cubicBezTo>
                <a:lnTo>
                  <a:pt x="1857983" y="695979"/>
                </a:lnTo>
                <a:cubicBezTo>
                  <a:pt x="1854740" y="618158"/>
                  <a:pt x="1854009" y="540191"/>
                  <a:pt x="1848255" y="462515"/>
                </a:cubicBezTo>
                <a:cubicBezTo>
                  <a:pt x="1847498" y="452289"/>
                  <a:pt x="1844680" y="441535"/>
                  <a:pt x="1838528" y="433332"/>
                </a:cubicBezTo>
                <a:cubicBezTo>
                  <a:pt x="1824771" y="414989"/>
                  <a:pt x="1806102" y="400907"/>
                  <a:pt x="1789889" y="384694"/>
                </a:cubicBezTo>
                <a:cubicBezTo>
                  <a:pt x="1780161" y="374966"/>
                  <a:pt x="1773011" y="361663"/>
                  <a:pt x="1760706" y="355511"/>
                </a:cubicBezTo>
                <a:cubicBezTo>
                  <a:pt x="1747736" y="349026"/>
                  <a:pt x="1733861" y="344100"/>
                  <a:pt x="1721796" y="336056"/>
                </a:cubicBezTo>
                <a:cubicBezTo>
                  <a:pt x="1714165" y="330968"/>
                  <a:pt x="1709677" y="322103"/>
                  <a:pt x="1702340" y="316600"/>
                </a:cubicBezTo>
                <a:cubicBezTo>
                  <a:pt x="1683634" y="302571"/>
                  <a:pt x="1660507" y="294224"/>
                  <a:pt x="1643974" y="277690"/>
                </a:cubicBezTo>
                <a:cubicBezTo>
                  <a:pt x="1637489" y="271205"/>
                  <a:pt x="1631856" y="263737"/>
                  <a:pt x="1624519" y="258234"/>
                </a:cubicBezTo>
                <a:cubicBezTo>
                  <a:pt x="1605813" y="244205"/>
                  <a:pt x="1588837" y="224995"/>
                  <a:pt x="1566153" y="219324"/>
                </a:cubicBezTo>
                <a:cubicBezTo>
                  <a:pt x="1553183" y="216081"/>
                  <a:pt x="1540048" y="213438"/>
                  <a:pt x="1527243" y="209596"/>
                </a:cubicBezTo>
                <a:cubicBezTo>
                  <a:pt x="1507600" y="203703"/>
                  <a:pt x="1488986" y="194163"/>
                  <a:pt x="1468877" y="190141"/>
                </a:cubicBezTo>
                <a:lnTo>
                  <a:pt x="1420238" y="180413"/>
                </a:lnTo>
                <a:cubicBezTo>
                  <a:pt x="1407268" y="173928"/>
                  <a:pt x="1394906" y="166050"/>
                  <a:pt x="1381328" y="160958"/>
                </a:cubicBezTo>
                <a:cubicBezTo>
                  <a:pt x="1368810" y="156264"/>
                  <a:pt x="1355223" y="155072"/>
                  <a:pt x="1342417" y="151230"/>
                </a:cubicBezTo>
                <a:cubicBezTo>
                  <a:pt x="1288044" y="134918"/>
                  <a:pt x="1316476" y="120425"/>
                  <a:pt x="1284051" y="112319"/>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752;p43">
            <a:extLst>
              <a:ext uri="{FF2B5EF4-FFF2-40B4-BE49-F238E27FC236}">
                <a16:creationId xmlns:a16="http://schemas.microsoft.com/office/drawing/2014/main" id="{4A8FC290-A399-1E45-AD5D-72AB522EF2E9}"/>
              </a:ext>
            </a:extLst>
          </p:cNvPr>
          <p:cNvSpPr/>
          <p:nvPr/>
        </p:nvSpPr>
        <p:spPr>
          <a:xfrm>
            <a:off x="2358560" y="401005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2133" dirty="0">
                <a:latin typeface="Calibri" panose="020F0502020204030204" pitchFamily="34" charset="0"/>
                <a:cs typeface="Calibri" panose="020F0502020204030204" pitchFamily="34" charset="0"/>
              </a:rPr>
              <a:t>X</a:t>
            </a:r>
            <a:endParaRPr sz="2133"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628C49C6-0FBA-694F-9A22-702E00CB24C5}"/>
              </a:ext>
            </a:extLst>
          </p:cNvPr>
          <p:cNvSpPr txBox="1"/>
          <p:nvPr/>
        </p:nvSpPr>
        <p:spPr>
          <a:xfrm>
            <a:off x="1424093" y="2247379"/>
            <a:ext cx="1042658" cy="369332"/>
          </a:xfrm>
          <a:prstGeom prst="rect">
            <a:avLst/>
          </a:prstGeom>
          <a:noFill/>
        </p:spPr>
        <p:txBody>
          <a:bodyPr wrap="none" rtlCol="0">
            <a:spAutoFit/>
          </a:bodyPr>
          <a:lstStyle/>
          <a:p>
            <a:r>
              <a:rPr lang="en-US" b="1" spc="100" dirty="0">
                <a:solidFill>
                  <a:schemeClr val="accent6"/>
                </a:solidFill>
              </a:rPr>
              <a:t>KNOWN</a:t>
            </a:r>
          </a:p>
        </p:txBody>
      </p:sp>
      <p:sp>
        <p:nvSpPr>
          <p:cNvPr id="26" name="Text Box 47">
            <a:extLst>
              <a:ext uri="{FF2B5EF4-FFF2-40B4-BE49-F238E27FC236}">
                <a16:creationId xmlns:a16="http://schemas.microsoft.com/office/drawing/2014/main" id="{BCD3E982-9191-BF42-B769-D0DBDCD433F4}"/>
              </a:ext>
            </a:extLst>
          </p:cNvPr>
          <p:cNvSpPr txBox="1">
            <a:spLocks noChangeArrowheads="1"/>
          </p:cNvSpPr>
          <p:nvPr>
            <p:custDataLst>
              <p:tags r:id="rId1"/>
            </p:custDataLst>
          </p:nvPr>
        </p:nvSpPr>
        <p:spPr bwMode="auto">
          <a:xfrm>
            <a:off x="2602304" y="3677968"/>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8??</a:t>
            </a:r>
            <a:endParaRPr lang="en-US" sz="2000" dirty="0">
              <a:solidFill>
                <a:srgbClr val="FF0000"/>
              </a:solidFill>
              <a:latin typeface="Calibri" panose="020F0502020204030204" pitchFamily="34" charset="0"/>
              <a:cs typeface="Calibri" panose="020F0502020204030204" pitchFamily="34" charset="0"/>
            </a:endParaRPr>
          </a:p>
        </p:txBody>
      </p:sp>
      <p:sp>
        <p:nvSpPr>
          <p:cNvPr id="29" name="Text Box 54">
            <a:extLst>
              <a:ext uri="{FF2B5EF4-FFF2-40B4-BE49-F238E27FC236}">
                <a16:creationId xmlns:a16="http://schemas.microsoft.com/office/drawing/2014/main" id="{B7ACE27B-7407-1E49-8CBD-D6154157CF5D}"/>
              </a:ext>
            </a:extLst>
          </p:cNvPr>
          <p:cNvSpPr txBox="1">
            <a:spLocks noChangeArrowheads="1"/>
          </p:cNvSpPr>
          <p:nvPr>
            <p:custDataLst>
              <p:tags r:id="rId2"/>
            </p:custDataLst>
          </p:nvPr>
        </p:nvSpPr>
        <p:spPr bwMode="auto">
          <a:xfrm>
            <a:off x="2416153" y="3198167"/>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30" name="Text Box 54">
            <a:extLst>
              <a:ext uri="{FF2B5EF4-FFF2-40B4-BE49-F238E27FC236}">
                <a16:creationId xmlns:a16="http://schemas.microsoft.com/office/drawing/2014/main" id="{5A0C4C4F-583B-7B4F-926B-6BDACA7F4B79}"/>
              </a:ext>
            </a:extLst>
          </p:cNvPr>
          <p:cNvSpPr txBox="1">
            <a:spLocks noChangeArrowheads="1"/>
          </p:cNvSpPr>
          <p:nvPr>
            <p:custDataLst>
              <p:tags r:id="rId3"/>
            </p:custDataLst>
          </p:nvPr>
        </p:nvSpPr>
        <p:spPr bwMode="auto">
          <a:xfrm>
            <a:off x="3214521" y="2628611"/>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32" name="AutoShape 32">
            <a:extLst>
              <a:ext uri="{FF2B5EF4-FFF2-40B4-BE49-F238E27FC236}">
                <a16:creationId xmlns:a16="http://schemas.microsoft.com/office/drawing/2014/main" id="{2C03EB4C-4DF3-EE4F-A552-74FE74667D06}"/>
              </a:ext>
            </a:extLst>
          </p:cNvPr>
          <p:cNvCxnSpPr>
            <a:cxnSpLocks noChangeShapeType="1"/>
            <a:stCxn id="59" idx="2"/>
            <a:endCxn id="15" idx="0"/>
          </p:cNvCxnSpPr>
          <p:nvPr>
            <p:custDataLst>
              <p:tags r:id="rId4"/>
            </p:custDataLst>
          </p:nvPr>
        </p:nvCxnSpPr>
        <p:spPr bwMode="auto">
          <a:xfrm>
            <a:off x="2373038" y="2981949"/>
            <a:ext cx="197122" cy="1028110"/>
          </a:xfrm>
          <a:prstGeom prst="straightConnector1">
            <a:avLst/>
          </a:prstGeom>
          <a:noFill/>
          <a:ln w="9525">
            <a:solidFill>
              <a:schemeClr val="tx1"/>
            </a:solidFill>
            <a:round/>
            <a:headEnd/>
            <a:tailEnd type="triangle" w="med" len="med"/>
          </a:ln>
        </p:spPr>
      </p:cxnSp>
      <p:sp>
        <p:nvSpPr>
          <p:cNvPr id="37" name="Google Shape;752;p43">
            <a:extLst>
              <a:ext uri="{FF2B5EF4-FFF2-40B4-BE49-F238E27FC236}">
                <a16:creationId xmlns:a16="http://schemas.microsoft.com/office/drawing/2014/main" id="{1F5309C3-1849-0D4A-9B39-18D682EF1E3A}"/>
              </a:ext>
            </a:extLst>
          </p:cNvPr>
          <p:cNvSpPr/>
          <p:nvPr/>
        </p:nvSpPr>
        <p:spPr>
          <a:xfrm>
            <a:off x="3762790" y="3189164"/>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cxnSp>
        <p:nvCxnSpPr>
          <p:cNvPr id="45" name="AutoShape 32">
            <a:extLst>
              <a:ext uri="{FF2B5EF4-FFF2-40B4-BE49-F238E27FC236}">
                <a16:creationId xmlns:a16="http://schemas.microsoft.com/office/drawing/2014/main" id="{BCE77C57-E868-C343-AB2C-C1393A437080}"/>
              </a:ext>
            </a:extLst>
          </p:cNvPr>
          <p:cNvCxnSpPr>
            <a:cxnSpLocks noChangeShapeType="1"/>
            <a:stCxn id="59" idx="3"/>
            <a:endCxn id="37" idx="0"/>
          </p:cNvCxnSpPr>
          <p:nvPr>
            <p:custDataLst>
              <p:tags r:id="rId5"/>
            </p:custDataLst>
          </p:nvPr>
        </p:nvCxnSpPr>
        <p:spPr bwMode="auto">
          <a:xfrm>
            <a:off x="2584638" y="2813349"/>
            <a:ext cx="1389752" cy="375815"/>
          </a:xfrm>
          <a:prstGeom prst="straightConnector1">
            <a:avLst/>
          </a:prstGeom>
          <a:noFill/>
          <a:ln w="9525">
            <a:solidFill>
              <a:schemeClr val="tx1"/>
            </a:solidFill>
            <a:round/>
            <a:headEnd/>
            <a:tailEnd type="triangle" w="med" len="med"/>
          </a:ln>
        </p:spPr>
      </p:cxnSp>
      <p:cxnSp>
        <p:nvCxnSpPr>
          <p:cNvPr id="51" name="AutoShape 32">
            <a:extLst>
              <a:ext uri="{FF2B5EF4-FFF2-40B4-BE49-F238E27FC236}">
                <a16:creationId xmlns:a16="http://schemas.microsoft.com/office/drawing/2014/main" id="{8D07B29F-F59D-2543-8636-B6EB9BBB1CC2}"/>
              </a:ext>
            </a:extLst>
          </p:cNvPr>
          <p:cNvCxnSpPr>
            <a:cxnSpLocks noChangeShapeType="1"/>
            <a:stCxn id="37" idx="2"/>
            <a:endCxn id="15" idx="3"/>
          </p:cNvCxnSpPr>
          <p:nvPr>
            <p:custDataLst>
              <p:tags r:id="rId6"/>
            </p:custDataLst>
          </p:nvPr>
        </p:nvCxnSpPr>
        <p:spPr bwMode="auto">
          <a:xfrm flipH="1">
            <a:off x="2781760" y="3526364"/>
            <a:ext cx="1192630" cy="652295"/>
          </a:xfrm>
          <a:prstGeom prst="straightConnector1">
            <a:avLst/>
          </a:prstGeom>
          <a:noFill/>
          <a:ln w="9525">
            <a:solidFill>
              <a:schemeClr val="tx1"/>
            </a:solidFill>
            <a:round/>
            <a:headEnd/>
            <a:tailEnd type="triangle" w="med" len="med"/>
          </a:ln>
        </p:spPr>
      </p:cxnSp>
      <p:sp>
        <p:nvSpPr>
          <p:cNvPr id="58" name="Text Box 54">
            <a:extLst>
              <a:ext uri="{FF2B5EF4-FFF2-40B4-BE49-F238E27FC236}">
                <a16:creationId xmlns:a16="http://schemas.microsoft.com/office/drawing/2014/main" id="{5B1FC8FD-9A33-0B40-9831-859B9F244C72}"/>
              </a:ext>
            </a:extLst>
          </p:cNvPr>
          <p:cNvSpPr txBox="1">
            <a:spLocks noChangeArrowheads="1"/>
          </p:cNvSpPr>
          <p:nvPr>
            <p:custDataLst>
              <p:tags r:id="rId7"/>
            </p:custDataLst>
          </p:nvPr>
        </p:nvSpPr>
        <p:spPr bwMode="auto">
          <a:xfrm>
            <a:off x="3365381" y="3725148"/>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59" name="Google Shape;752;p43">
            <a:extLst>
              <a:ext uri="{FF2B5EF4-FFF2-40B4-BE49-F238E27FC236}">
                <a16:creationId xmlns:a16="http://schemas.microsoft.com/office/drawing/2014/main" id="{F5A96F77-9451-574B-9430-A45E148FFD16}"/>
              </a:ext>
            </a:extLst>
          </p:cNvPr>
          <p:cNvSpPr/>
          <p:nvPr/>
        </p:nvSpPr>
        <p:spPr>
          <a:xfrm>
            <a:off x="2161438" y="264474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sz="2133" dirty="0">
              <a:latin typeface="Calibri" panose="020F0502020204030204" pitchFamily="34" charset="0"/>
              <a:cs typeface="Calibri" panose="020F0502020204030204" pitchFamily="34" charset="0"/>
            </a:endParaRPr>
          </a:p>
        </p:txBody>
      </p:sp>
      <p:sp>
        <p:nvSpPr>
          <p:cNvPr id="64" name="Text Box 47">
            <a:extLst>
              <a:ext uri="{FF2B5EF4-FFF2-40B4-BE49-F238E27FC236}">
                <a16:creationId xmlns:a16="http://schemas.microsoft.com/office/drawing/2014/main" id="{7BF58D7B-071C-BB4C-9A77-990F10A406C4}"/>
              </a:ext>
            </a:extLst>
          </p:cNvPr>
          <p:cNvSpPr txBox="1">
            <a:spLocks noChangeArrowheads="1"/>
          </p:cNvSpPr>
          <p:nvPr>
            <p:custDataLst>
              <p:tags r:id="rId8"/>
            </p:custDataLst>
          </p:nvPr>
        </p:nvSpPr>
        <p:spPr bwMode="auto">
          <a:xfrm>
            <a:off x="2449309" y="2311487"/>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5</a:t>
            </a:r>
            <a:endParaRPr lang="en-US" sz="2000" dirty="0">
              <a:solidFill>
                <a:srgbClr val="FF0000"/>
              </a:solidFill>
              <a:latin typeface="Calibri" panose="020F0502020204030204" pitchFamily="34" charset="0"/>
              <a:cs typeface="Calibri" panose="020F0502020204030204" pitchFamily="34" charset="0"/>
            </a:endParaRPr>
          </a:p>
        </p:txBody>
      </p:sp>
      <p:sp>
        <p:nvSpPr>
          <p:cNvPr id="65" name="Text Box 47">
            <a:extLst>
              <a:ext uri="{FF2B5EF4-FFF2-40B4-BE49-F238E27FC236}">
                <a16:creationId xmlns:a16="http://schemas.microsoft.com/office/drawing/2014/main" id="{1F80B96F-60B6-EC44-B650-0B23AA7DD8D7}"/>
              </a:ext>
            </a:extLst>
          </p:cNvPr>
          <p:cNvSpPr txBox="1">
            <a:spLocks noChangeArrowheads="1"/>
          </p:cNvSpPr>
          <p:nvPr>
            <p:custDataLst>
              <p:tags r:id="rId9"/>
            </p:custDataLst>
          </p:nvPr>
        </p:nvSpPr>
        <p:spPr bwMode="auto">
          <a:xfrm>
            <a:off x="4040322" y="2861637"/>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6??</a:t>
            </a:r>
            <a:endParaRPr lang="en-US" sz="2000" dirty="0">
              <a:solidFill>
                <a:srgbClr val="FF0000"/>
              </a:solidFill>
              <a:latin typeface="Calibri" panose="020F0502020204030204" pitchFamily="34" charset="0"/>
              <a:cs typeface="Calibri" panose="020F0502020204030204" pitchFamily="34" charset="0"/>
            </a:endParaRPr>
          </a:p>
        </p:txBody>
      </p:sp>
      <p:sp>
        <p:nvSpPr>
          <p:cNvPr id="68" name="Content Placeholder 2">
            <a:extLst>
              <a:ext uri="{FF2B5EF4-FFF2-40B4-BE49-F238E27FC236}">
                <a16:creationId xmlns:a16="http://schemas.microsoft.com/office/drawing/2014/main" id="{EE53FA44-08EC-5341-8FCA-9739B93ED165}"/>
              </a:ext>
            </a:extLst>
          </p:cNvPr>
          <p:cNvSpPr txBox="1">
            <a:spLocks/>
          </p:cNvSpPr>
          <p:nvPr/>
        </p:nvSpPr>
        <p:spPr>
          <a:xfrm>
            <a:off x="233573" y="4697486"/>
            <a:ext cx="5045476" cy="181704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Example</a:t>
            </a:r>
            <a:r>
              <a:rPr lang="en-US" sz="2400" dirty="0"/>
              <a:t>:</a:t>
            </a:r>
          </a:p>
          <a:p>
            <a:r>
              <a:rPr lang="en-US" sz="2400" dirty="0"/>
              <a:t>We’re about to add X to the known set</a:t>
            </a:r>
          </a:p>
          <a:p>
            <a:r>
              <a:rPr lang="en-US" sz="2400" dirty="0"/>
              <a:t>But how can we be sure we won’t later find a path through some node A that is shorter to X?</a:t>
            </a:r>
          </a:p>
          <a:p>
            <a:r>
              <a:rPr lang="en-US" sz="2400" dirty="0">
                <a:solidFill>
                  <a:schemeClr val="bg1"/>
                </a:solidFill>
              </a:rPr>
              <a:t>Because </a:t>
            </a:r>
            <a:r>
              <a:rPr lang="en-US" sz="2400" i="1" dirty="0">
                <a:solidFill>
                  <a:schemeClr val="bg1"/>
                </a:solidFill>
              </a:rPr>
              <a:t>if we could, Dijkstra’s would explore A first</a:t>
            </a:r>
            <a:endParaRPr lang="en-US" sz="2000" i="1" dirty="0">
              <a:solidFill>
                <a:schemeClr val="bg1"/>
              </a:solidFill>
            </a:endParaRPr>
          </a:p>
        </p:txBody>
      </p:sp>
      <p:sp>
        <p:nvSpPr>
          <p:cNvPr id="71" name="Content Placeholder 2">
            <a:extLst>
              <a:ext uri="{FF2B5EF4-FFF2-40B4-BE49-F238E27FC236}">
                <a16:creationId xmlns:a16="http://schemas.microsoft.com/office/drawing/2014/main" id="{2D1D8485-D2BB-FC40-9D6E-E3220A628EEA}"/>
              </a:ext>
            </a:extLst>
          </p:cNvPr>
          <p:cNvSpPr>
            <a:spLocks noGrp="1"/>
          </p:cNvSpPr>
          <p:nvPr>
            <p:ph idx="1"/>
          </p:nvPr>
        </p:nvSpPr>
        <p:spPr>
          <a:xfrm>
            <a:off x="5591665" y="2964111"/>
            <a:ext cx="6150631" cy="3349140"/>
          </a:xfrm>
        </p:spPr>
        <p:txBody>
          <a:bodyPr>
            <a:noAutofit/>
          </a:bodyPr>
          <a:lstStyle/>
          <a:p>
            <a:r>
              <a:rPr lang="en-US" sz="2400" dirty="0"/>
              <a:t>Similar “First Try Phenomenon” to BFS</a:t>
            </a:r>
          </a:p>
          <a:p>
            <a:endParaRPr lang="en-US" sz="2400" dirty="0"/>
          </a:p>
          <a:p>
            <a:r>
              <a:rPr lang="en-US" sz="2400" dirty="0"/>
              <a:t>How can we be sure we won’t find a shorter path to X later?</a:t>
            </a:r>
          </a:p>
          <a:p>
            <a:pPr lvl="1"/>
            <a:r>
              <a:rPr lang="en-US" sz="2000" b="1" dirty="0">
                <a:solidFill>
                  <a:schemeClr val="bg1"/>
                </a:solidFill>
              </a:rPr>
              <a:t>Key Intuition</a:t>
            </a:r>
            <a:r>
              <a:rPr lang="en-US" sz="2000" dirty="0">
                <a:solidFill>
                  <a:schemeClr val="bg1"/>
                </a:solidFill>
              </a:rPr>
              <a:t>: Dijkstra’s works because:</a:t>
            </a:r>
          </a:p>
          <a:p>
            <a:pPr marL="800100" lvl="1" indent="-342900"/>
            <a:r>
              <a:rPr lang="en-US" sz="1800" dirty="0">
                <a:solidFill>
                  <a:schemeClr val="bg1"/>
                </a:solidFill>
              </a:rPr>
              <a:t>IF we always add the closest vertices to “known” first,</a:t>
            </a:r>
          </a:p>
          <a:p>
            <a:pPr marL="800100" lvl="1" indent="-342900"/>
            <a:r>
              <a:rPr lang="en-US" sz="1800" dirty="0">
                <a:solidFill>
                  <a:schemeClr val="bg1"/>
                </a:solidFill>
                <a:sym typeface="Wingdings" pitchFamily="2" charset="2"/>
              </a:rPr>
              <a:t>THEN by the time a vertex is added, any possible relaxing has happened and the path we know is </a:t>
            </a:r>
            <a:r>
              <a:rPr lang="en-US" sz="1800" i="1" dirty="0">
                <a:solidFill>
                  <a:schemeClr val="bg1"/>
                </a:solidFill>
                <a:sym typeface="Wingdings" pitchFamily="2" charset="2"/>
              </a:rPr>
              <a:t>always the shortest</a:t>
            </a:r>
            <a:r>
              <a:rPr lang="en-US" sz="1800" dirty="0">
                <a:solidFill>
                  <a:schemeClr val="bg1"/>
                </a:solidFill>
                <a:sym typeface="Wingdings" pitchFamily="2" charset="2"/>
              </a:rPr>
              <a:t>!</a:t>
            </a:r>
            <a:endParaRPr lang="en-US" sz="1800" dirty="0">
              <a:solidFill>
                <a:schemeClr val="bg1"/>
              </a:solidFill>
            </a:endParaRPr>
          </a:p>
        </p:txBody>
      </p:sp>
      <p:sp>
        <p:nvSpPr>
          <p:cNvPr id="72" name="Rectangle 71">
            <a:extLst>
              <a:ext uri="{FF2B5EF4-FFF2-40B4-BE49-F238E27FC236}">
                <a16:creationId xmlns:a16="http://schemas.microsoft.com/office/drawing/2014/main" id="{65B102E9-45DB-FE45-9511-583EB1E8F0A8}"/>
              </a:ext>
            </a:extLst>
          </p:cNvPr>
          <p:cNvSpPr/>
          <p:nvPr/>
        </p:nvSpPr>
        <p:spPr>
          <a:xfrm>
            <a:off x="6213444" y="1627198"/>
            <a:ext cx="5014907" cy="11861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Dijkstra’s Algorithm Invariant</a:t>
            </a:r>
          </a:p>
          <a:p>
            <a:pPr marL="349250">
              <a:tabLst>
                <a:tab pos="336550" algn="l"/>
              </a:tabLst>
            </a:pPr>
            <a:r>
              <a:rPr lang="en-US" dirty="0"/>
              <a:t>All vertices in the “known” set have the correct shortest path</a:t>
            </a:r>
          </a:p>
        </p:txBody>
      </p:sp>
      <p:sp>
        <p:nvSpPr>
          <p:cNvPr id="73" name="Rectangle 72">
            <a:extLst>
              <a:ext uri="{FF2B5EF4-FFF2-40B4-BE49-F238E27FC236}">
                <a16:creationId xmlns:a16="http://schemas.microsoft.com/office/drawing/2014/main" id="{D1FD5896-5CC3-3D4A-909A-0FAA49C5A03B}"/>
              </a:ext>
            </a:extLst>
          </p:cNvPr>
          <p:cNvSpPr/>
          <p:nvPr/>
        </p:nvSpPr>
        <p:spPr>
          <a:xfrm rot="16200000">
            <a:off x="5347238" y="1947141"/>
            <a:ext cx="1186150" cy="546265"/>
          </a:xfrm>
          <a:prstGeom prst="rect">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100" dirty="0"/>
              <a:t>INVARIANT</a:t>
            </a:r>
          </a:p>
        </p:txBody>
      </p:sp>
      <p:sp>
        <p:nvSpPr>
          <p:cNvPr id="74" name="Down Arrow 73">
            <a:extLst>
              <a:ext uri="{FF2B5EF4-FFF2-40B4-BE49-F238E27FC236}">
                <a16:creationId xmlns:a16="http://schemas.microsoft.com/office/drawing/2014/main" id="{6713F82D-247B-9245-9EB0-F5D17ECBCACA}"/>
              </a:ext>
            </a:extLst>
          </p:cNvPr>
          <p:cNvSpPr/>
          <p:nvPr/>
        </p:nvSpPr>
        <p:spPr>
          <a:xfrm>
            <a:off x="8440736" y="3423634"/>
            <a:ext cx="452487" cy="495030"/>
          </a:xfrm>
          <a:prstGeom prst="down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294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8">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21" grpId="0"/>
      <p:bldP spid="26" grpId="0"/>
      <p:bldP spid="29" grpId="0"/>
      <p:bldP spid="30" grpId="0"/>
      <p:bldP spid="37" grpId="0" animBg="1"/>
      <p:bldP spid="58" grpId="0"/>
      <p:bldP spid="59" grpId="0" animBg="1"/>
      <p:bldP spid="64" grpId="0"/>
      <p:bldP spid="65" grpId="0"/>
      <p:bldP spid="7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7808FF3A-0092-8746-AF4B-ADBE54A9173D}"/>
              </a:ext>
            </a:extLst>
          </p:cNvPr>
          <p:cNvSpPr/>
          <p:nvPr/>
        </p:nvSpPr>
        <p:spPr>
          <a:xfrm>
            <a:off x="846306" y="1478446"/>
            <a:ext cx="3599234" cy="2188882"/>
          </a:xfrm>
          <a:custGeom>
            <a:avLst/>
            <a:gdLst>
              <a:gd name="connsiteX0" fmla="*/ 865762 w 3599234"/>
              <a:gd name="connsiteY0" fmla="*/ 19614 h 2188882"/>
              <a:gd name="connsiteX1" fmla="*/ 719847 w 3599234"/>
              <a:gd name="connsiteY1" fmla="*/ 29341 h 2188882"/>
              <a:gd name="connsiteX2" fmla="*/ 408562 w 3599234"/>
              <a:gd name="connsiteY2" fmla="*/ 39069 h 2188882"/>
              <a:gd name="connsiteX3" fmla="*/ 369651 w 3599234"/>
              <a:gd name="connsiteY3" fmla="*/ 48797 h 2188882"/>
              <a:gd name="connsiteX4" fmla="*/ 282103 w 3599234"/>
              <a:gd name="connsiteY4" fmla="*/ 77980 h 2188882"/>
              <a:gd name="connsiteX5" fmla="*/ 252920 w 3599234"/>
              <a:gd name="connsiteY5" fmla="*/ 87707 h 2188882"/>
              <a:gd name="connsiteX6" fmla="*/ 223737 w 3599234"/>
              <a:gd name="connsiteY6" fmla="*/ 97435 h 2188882"/>
              <a:gd name="connsiteX7" fmla="*/ 204281 w 3599234"/>
              <a:gd name="connsiteY7" fmla="*/ 116890 h 2188882"/>
              <a:gd name="connsiteX8" fmla="*/ 175098 w 3599234"/>
              <a:gd name="connsiteY8" fmla="*/ 126618 h 2188882"/>
              <a:gd name="connsiteX9" fmla="*/ 155643 w 3599234"/>
              <a:gd name="connsiteY9" fmla="*/ 155801 h 2188882"/>
              <a:gd name="connsiteX10" fmla="*/ 97277 w 3599234"/>
              <a:gd name="connsiteY10" fmla="*/ 194711 h 2188882"/>
              <a:gd name="connsiteX11" fmla="*/ 87549 w 3599234"/>
              <a:gd name="connsiteY11" fmla="*/ 223894 h 2188882"/>
              <a:gd name="connsiteX12" fmla="*/ 68094 w 3599234"/>
              <a:gd name="connsiteY12" fmla="*/ 243350 h 2188882"/>
              <a:gd name="connsiteX13" fmla="*/ 38911 w 3599234"/>
              <a:gd name="connsiteY13" fmla="*/ 340626 h 2188882"/>
              <a:gd name="connsiteX14" fmla="*/ 29183 w 3599234"/>
              <a:gd name="connsiteY14" fmla="*/ 408720 h 2188882"/>
              <a:gd name="connsiteX15" fmla="*/ 19456 w 3599234"/>
              <a:gd name="connsiteY15" fmla="*/ 437903 h 2188882"/>
              <a:gd name="connsiteX16" fmla="*/ 9728 w 3599234"/>
              <a:gd name="connsiteY16" fmla="*/ 476814 h 2188882"/>
              <a:gd name="connsiteX17" fmla="*/ 0 w 3599234"/>
              <a:gd name="connsiteY17" fmla="*/ 544907 h 2188882"/>
              <a:gd name="connsiteX18" fmla="*/ 9728 w 3599234"/>
              <a:gd name="connsiteY18" fmla="*/ 797826 h 2188882"/>
              <a:gd name="connsiteX19" fmla="*/ 29183 w 3599234"/>
              <a:gd name="connsiteY19" fmla="*/ 856192 h 2188882"/>
              <a:gd name="connsiteX20" fmla="*/ 48639 w 3599234"/>
              <a:gd name="connsiteY20" fmla="*/ 924286 h 2188882"/>
              <a:gd name="connsiteX21" fmla="*/ 68094 w 3599234"/>
              <a:gd name="connsiteY21" fmla="*/ 953469 h 2188882"/>
              <a:gd name="connsiteX22" fmla="*/ 87549 w 3599234"/>
              <a:gd name="connsiteY22" fmla="*/ 1011835 h 2188882"/>
              <a:gd name="connsiteX23" fmla="*/ 97277 w 3599234"/>
              <a:gd name="connsiteY23" fmla="*/ 1041018 h 2188882"/>
              <a:gd name="connsiteX24" fmla="*/ 116732 w 3599234"/>
              <a:gd name="connsiteY24" fmla="*/ 1070201 h 2188882"/>
              <a:gd name="connsiteX25" fmla="*/ 136188 w 3599234"/>
              <a:gd name="connsiteY25" fmla="*/ 1138294 h 2188882"/>
              <a:gd name="connsiteX26" fmla="*/ 165371 w 3599234"/>
              <a:gd name="connsiteY26" fmla="*/ 1225843 h 2188882"/>
              <a:gd name="connsiteX27" fmla="*/ 184826 w 3599234"/>
              <a:gd name="connsiteY27" fmla="*/ 1284209 h 2188882"/>
              <a:gd name="connsiteX28" fmla="*/ 204281 w 3599234"/>
              <a:gd name="connsiteY28" fmla="*/ 1313392 h 2188882"/>
              <a:gd name="connsiteX29" fmla="*/ 223737 w 3599234"/>
              <a:gd name="connsiteY29" fmla="*/ 1381486 h 2188882"/>
              <a:gd name="connsiteX30" fmla="*/ 243192 w 3599234"/>
              <a:gd name="connsiteY30" fmla="*/ 1410669 h 2188882"/>
              <a:gd name="connsiteX31" fmla="*/ 282103 w 3599234"/>
              <a:gd name="connsiteY31" fmla="*/ 1488490 h 2188882"/>
              <a:gd name="connsiteX32" fmla="*/ 301558 w 3599234"/>
              <a:gd name="connsiteY32" fmla="*/ 1546856 h 2188882"/>
              <a:gd name="connsiteX33" fmla="*/ 311285 w 3599234"/>
              <a:gd name="connsiteY33" fmla="*/ 1576039 h 2188882"/>
              <a:gd name="connsiteX34" fmla="*/ 330741 w 3599234"/>
              <a:gd name="connsiteY34" fmla="*/ 1595494 h 2188882"/>
              <a:gd name="connsiteX35" fmla="*/ 359924 w 3599234"/>
              <a:gd name="connsiteY35" fmla="*/ 1653860 h 2188882"/>
              <a:gd name="connsiteX36" fmla="*/ 369651 w 3599234"/>
              <a:gd name="connsiteY36" fmla="*/ 1683043 h 2188882"/>
              <a:gd name="connsiteX37" fmla="*/ 389107 w 3599234"/>
              <a:gd name="connsiteY37" fmla="*/ 1702499 h 2188882"/>
              <a:gd name="connsiteX38" fmla="*/ 428017 w 3599234"/>
              <a:gd name="connsiteY38" fmla="*/ 1760865 h 2188882"/>
              <a:gd name="connsiteX39" fmla="*/ 476656 w 3599234"/>
              <a:gd name="connsiteY39" fmla="*/ 1809503 h 2188882"/>
              <a:gd name="connsiteX40" fmla="*/ 525294 w 3599234"/>
              <a:gd name="connsiteY40" fmla="*/ 1858141 h 2188882"/>
              <a:gd name="connsiteX41" fmla="*/ 564205 w 3599234"/>
              <a:gd name="connsiteY41" fmla="*/ 1897052 h 2188882"/>
              <a:gd name="connsiteX42" fmla="*/ 622571 w 3599234"/>
              <a:gd name="connsiteY42" fmla="*/ 1926235 h 2188882"/>
              <a:gd name="connsiteX43" fmla="*/ 651754 w 3599234"/>
              <a:gd name="connsiteY43" fmla="*/ 1935963 h 2188882"/>
              <a:gd name="connsiteX44" fmla="*/ 690664 w 3599234"/>
              <a:gd name="connsiteY44" fmla="*/ 1955418 h 2188882"/>
              <a:gd name="connsiteX45" fmla="*/ 797668 w 3599234"/>
              <a:gd name="connsiteY45" fmla="*/ 1984601 h 2188882"/>
              <a:gd name="connsiteX46" fmla="*/ 885217 w 3599234"/>
              <a:gd name="connsiteY46" fmla="*/ 1994328 h 2188882"/>
              <a:gd name="connsiteX47" fmla="*/ 1254868 w 3599234"/>
              <a:gd name="connsiteY47" fmla="*/ 1984601 h 2188882"/>
              <a:gd name="connsiteX48" fmla="*/ 1322962 w 3599234"/>
              <a:gd name="connsiteY48" fmla="*/ 1965145 h 2188882"/>
              <a:gd name="connsiteX49" fmla="*/ 1381328 w 3599234"/>
              <a:gd name="connsiteY49" fmla="*/ 1926235 h 2188882"/>
              <a:gd name="connsiteX50" fmla="*/ 1410511 w 3599234"/>
              <a:gd name="connsiteY50" fmla="*/ 1916507 h 2188882"/>
              <a:gd name="connsiteX51" fmla="*/ 1439694 w 3599234"/>
              <a:gd name="connsiteY51" fmla="*/ 1887324 h 2188882"/>
              <a:gd name="connsiteX52" fmla="*/ 1498060 w 3599234"/>
              <a:gd name="connsiteY52" fmla="*/ 1848414 h 2188882"/>
              <a:gd name="connsiteX53" fmla="*/ 1527243 w 3599234"/>
              <a:gd name="connsiteY53" fmla="*/ 1828958 h 2188882"/>
              <a:gd name="connsiteX54" fmla="*/ 1585609 w 3599234"/>
              <a:gd name="connsiteY54" fmla="*/ 1780320 h 2188882"/>
              <a:gd name="connsiteX55" fmla="*/ 1624520 w 3599234"/>
              <a:gd name="connsiteY55" fmla="*/ 1770592 h 2188882"/>
              <a:gd name="connsiteX56" fmla="*/ 1653703 w 3599234"/>
              <a:gd name="connsiteY56" fmla="*/ 1751137 h 2188882"/>
              <a:gd name="connsiteX57" fmla="*/ 1731524 w 3599234"/>
              <a:gd name="connsiteY57" fmla="*/ 1731682 h 2188882"/>
              <a:gd name="connsiteX58" fmla="*/ 1819073 w 3599234"/>
              <a:gd name="connsiteY58" fmla="*/ 1692771 h 2188882"/>
              <a:gd name="connsiteX59" fmla="*/ 1877439 w 3599234"/>
              <a:gd name="connsiteY59" fmla="*/ 1673316 h 2188882"/>
              <a:gd name="connsiteX60" fmla="*/ 1945532 w 3599234"/>
              <a:gd name="connsiteY60" fmla="*/ 1663588 h 2188882"/>
              <a:gd name="connsiteX61" fmla="*/ 2149813 w 3599234"/>
              <a:gd name="connsiteY61" fmla="*/ 1673316 h 2188882"/>
              <a:gd name="connsiteX62" fmla="*/ 2266545 w 3599234"/>
              <a:gd name="connsiteY62" fmla="*/ 1731682 h 2188882"/>
              <a:gd name="connsiteX63" fmla="*/ 2305456 w 3599234"/>
              <a:gd name="connsiteY63" fmla="*/ 1760865 h 2188882"/>
              <a:gd name="connsiteX64" fmla="*/ 2334639 w 3599234"/>
              <a:gd name="connsiteY64" fmla="*/ 1790048 h 2188882"/>
              <a:gd name="connsiteX65" fmla="*/ 2393005 w 3599234"/>
              <a:gd name="connsiteY65" fmla="*/ 1828958 h 2188882"/>
              <a:gd name="connsiteX66" fmla="*/ 2412460 w 3599234"/>
              <a:gd name="connsiteY66" fmla="*/ 1858141 h 2188882"/>
              <a:gd name="connsiteX67" fmla="*/ 2451371 w 3599234"/>
              <a:gd name="connsiteY67" fmla="*/ 1897052 h 2188882"/>
              <a:gd name="connsiteX68" fmla="*/ 2470826 w 3599234"/>
              <a:gd name="connsiteY68" fmla="*/ 1926235 h 2188882"/>
              <a:gd name="connsiteX69" fmla="*/ 2500009 w 3599234"/>
              <a:gd name="connsiteY69" fmla="*/ 1945690 h 2188882"/>
              <a:gd name="connsiteX70" fmla="*/ 2558375 w 3599234"/>
              <a:gd name="connsiteY70" fmla="*/ 1994328 h 2188882"/>
              <a:gd name="connsiteX71" fmla="*/ 2587558 w 3599234"/>
              <a:gd name="connsiteY71" fmla="*/ 2004056 h 2188882"/>
              <a:gd name="connsiteX72" fmla="*/ 2616741 w 3599234"/>
              <a:gd name="connsiteY72" fmla="*/ 2023511 h 2188882"/>
              <a:gd name="connsiteX73" fmla="*/ 2636196 w 3599234"/>
              <a:gd name="connsiteY73" fmla="*/ 2042967 h 2188882"/>
              <a:gd name="connsiteX74" fmla="*/ 2665379 w 3599234"/>
              <a:gd name="connsiteY74" fmla="*/ 2052694 h 2188882"/>
              <a:gd name="connsiteX75" fmla="*/ 2762656 w 3599234"/>
              <a:gd name="connsiteY75" fmla="*/ 2111060 h 2188882"/>
              <a:gd name="connsiteX76" fmla="*/ 2811294 w 3599234"/>
              <a:gd name="connsiteY76" fmla="*/ 2140243 h 2188882"/>
              <a:gd name="connsiteX77" fmla="*/ 2840477 w 3599234"/>
              <a:gd name="connsiteY77" fmla="*/ 2159699 h 2188882"/>
              <a:gd name="connsiteX78" fmla="*/ 3073941 w 3599234"/>
              <a:gd name="connsiteY78" fmla="*/ 2188882 h 2188882"/>
              <a:gd name="connsiteX79" fmla="*/ 3278222 w 3599234"/>
              <a:gd name="connsiteY79" fmla="*/ 2179154 h 2188882"/>
              <a:gd name="connsiteX80" fmla="*/ 3336588 w 3599234"/>
              <a:gd name="connsiteY80" fmla="*/ 2159699 h 2188882"/>
              <a:gd name="connsiteX81" fmla="*/ 3365771 w 3599234"/>
              <a:gd name="connsiteY81" fmla="*/ 2149971 h 2188882"/>
              <a:gd name="connsiteX82" fmla="*/ 3394954 w 3599234"/>
              <a:gd name="connsiteY82" fmla="*/ 2140243 h 2188882"/>
              <a:gd name="connsiteX83" fmla="*/ 3424137 w 3599234"/>
              <a:gd name="connsiteY83" fmla="*/ 2120788 h 2188882"/>
              <a:gd name="connsiteX84" fmla="*/ 3463047 w 3599234"/>
              <a:gd name="connsiteY84" fmla="*/ 2062422 h 2188882"/>
              <a:gd name="connsiteX85" fmla="*/ 3472775 w 3599234"/>
              <a:gd name="connsiteY85" fmla="*/ 2033239 h 2188882"/>
              <a:gd name="connsiteX86" fmla="*/ 3511685 w 3599234"/>
              <a:gd name="connsiteY86" fmla="*/ 1974873 h 2188882"/>
              <a:gd name="connsiteX87" fmla="*/ 3521413 w 3599234"/>
              <a:gd name="connsiteY87" fmla="*/ 1945690 h 2188882"/>
              <a:gd name="connsiteX88" fmla="*/ 3560324 w 3599234"/>
              <a:gd name="connsiteY88" fmla="*/ 1887324 h 2188882"/>
              <a:gd name="connsiteX89" fmla="*/ 3579779 w 3599234"/>
              <a:gd name="connsiteY89" fmla="*/ 1828958 h 2188882"/>
              <a:gd name="connsiteX90" fmla="*/ 3589507 w 3599234"/>
              <a:gd name="connsiteY90" fmla="*/ 1799775 h 2188882"/>
              <a:gd name="connsiteX91" fmla="*/ 3599234 w 3599234"/>
              <a:gd name="connsiteY91" fmla="*/ 1751137 h 2188882"/>
              <a:gd name="connsiteX92" fmla="*/ 3589507 w 3599234"/>
              <a:gd name="connsiteY92" fmla="*/ 1576039 h 2188882"/>
              <a:gd name="connsiteX93" fmla="*/ 3570051 w 3599234"/>
              <a:gd name="connsiteY93" fmla="*/ 1517673 h 2188882"/>
              <a:gd name="connsiteX94" fmla="*/ 3560324 w 3599234"/>
              <a:gd name="connsiteY94" fmla="*/ 1488490 h 2188882"/>
              <a:gd name="connsiteX95" fmla="*/ 3550596 w 3599234"/>
              <a:gd name="connsiteY95" fmla="*/ 1459307 h 2188882"/>
              <a:gd name="connsiteX96" fmla="*/ 3531141 w 3599234"/>
              <a:gd name="connsiteY96" fmla="*/ 1430124 h 2188882"/>
              <a:gd name="connsiteX97" fmla="*/ 3521413 w 3599234"/>
              <a:gd name="connsiteY97" fmla="*/ 1400941 h 2188882"/>
              <a:gd name="connsiteX98" fmla="*/ 3482503 w 3599234"/>
              <a:gd name="connsiteY98" fmla="*/ 1342575 h 2188882"/>
              <a:gd name="connsiteX99" fmla="*/ 3404681 w 3599234"/>
              <a:gd name="connsiteY99" fmla="*/ 1235571 h 2188882"/>
              <a:gd name="connsiteX100" fmla="*/ 3336588 w 3599234"/>
              <a:gd name="connsiteY100" fmla="*/ 1167477 h 2188882"/>
              <a:gd name="connsiteX101" fmla="*/ 3317132 w 3599234"/>
              <a:gd name="connsiteY101" fmla="*/ 1138294 h 2188882"/>
              <a:gd name="connsiteX102" fmla="*/ 3287949 w 3599234"/>
              <a:gd name="connsiteY102" fmla="*/ 1118839 h 2188882"/>
              <a:gd name="connsiteX103" fmla="*/ 3249039 w 3599234"/>
              <a:gd name="connsiteY103" fmla="*/ 1089656 h 2188882"/>
              <a:gd name="connsiteX104" fmla="*/ 3190673 w 3599234"/>
              <a:gd name="connsiteY104" fmla="*/ 1021563 h 2188882"/>
              <a:gd name="connsiteX105" fmla="*/ 3112851 w 3599234"/>
              <a:gd name="connsiteY105" fmla="*/ 963197 h 2188882"/>
              <a:gd name="connsiteX106" fmla="*/ 3064213 w 3599234"/>
              <a:gd name="connsiteY106" fmla="*/ 934014 h 2188882"/>
              <a:gd name="connsiteX107" fmla="*/ 3005847 w 3599234"/>
              <a:gd name="connsiteY107" fmla="*/ 895103 h 2188882"/>
              <a:gd name="connsiteX108" fmla="*/ 2947481 w 3599234"/>
              <a:gd name="connsiteY108" fmla="*/ 875648 h 2188882"/>
              <a:gd name="connsiteX109" fmla="*/ 2869660 w 3599234"/>
              <a:gd name="connsiteY109" fmla="*/ 817282 h 2188882"/>
              <a:gd name="connsiteX110" fmla="*/ 2801566 w 3599234"/>
              <a:gd name="connsiteY110" fmla="*/ 778371 h 2188882"/>
              <a:gd name="connsiteX111" fmla="*/ 2772383 w 3599234"/>
              <a:gd name="connsiteY111" fmla="*/ 768643 h 2188882"/>
              <a:gd name="connsiteX112" fmla="*/ 2675107 w 3599234"/>
              <a:gd name="connsiteY112" fmla="*/ 720005 h 2188882"/>
              <a:gd name="connsiteX113" fmla="*/ 2597285 w 3599234"/>
              <a:gd name="connsiteY113" fmla="*/ 661639 h 2188882"/>
              <a:gd name="connsiteX114" fmla="*/ 2568103 w 3599234"/>
              <a:gd name="connsiteY114" fmla="*/ 642184 h 2188882"/>
              <a:gd name="connsiteX115" fmla="*/ 2538920 w 3599234"/>
              <a:gd name="connsiteY115" fmla="*/ 622728 h 2188882"/>
              <a:gd name="connsiteX116" fmla="*/ 2470826 w 3599234"/>
              <a:gd name="connsiteY116" fmla="*/ 593545 h 2188882"/>
              <a:gd name="connsiteX117" fmla="*/ 2412460 w 3599234"/>
              <a:gd name="connsiteY117" fmla="*/ 574090 h 2188882"/>
              <a:gd name="connsiteX118" fmla="*/ 2383277 w 3599234"/>
              <a:gd name="connsiteY118" fmla="*/ 564363 h 2188882"/>
              <a:gd name="connsiteX119" fmla="*/ 2295728 w 3599234"/>
              <a:gd name="connsiteY119" fmla="*/ 505997 h 2188882"/>
              <a:gd name="connsiteX120" fmla="*/ 2266545 w 3599234"/>
              <a:gd name="connsiteY120" fmla="*/ 486541 h 2188882"/>
              <a:gd name="connsiteX121" fmla="*/ 2198451 w 3599234"/>
              <a:gd name="connsiteY121" fmla="*/ 467086 h 2188882"/>
              <a:gd name="connsiteX122" fmla="*/ 2110903 w 3599234"/>
              <a:gd name="connsiteY122" fmla="*/ 418448 h 2188882"/>
              <a:gd name="connsiteX123" fmla="*/ 2081720 w 3599234"/>
              <a:gd name="connsiteY123" fmla="*/ 398992 h 2188882"/>
              <a:gd name="connsiteX124" fmla="*/ 2052537 w 3599234"/>
              <a:gd name="connsiteY124" fmla="*/ 389265 h 2188882"/>
              <a:gd name="connsiteX125" fmla="*/ 2003898 w 3599234"/>
              <a:gd name="connsiteY125" fmla="*/ 360082 h 2188882"/>
              <a:gd name="connsiteX126" fmla="*/ 1974715 w 3599234"/>
              <a:gd name="connsiteY126" fmla="*/ 340626 h 2188882"/>
              <a:gd name="connsiteX127" fmla="*/ 1916349 w 3599234"/>
              <a:gd name="connsiteY127" fmla="*/ 321171 h 2188882"/>
              <a:gd name="connsiteX128" fmla="*/ 1838528 w 3599234"/>
              <a:gd name="connsiteY128" fmla="*/ 272533 h 2188882"/>
              <a:gd name="connsiteX129" fmla="*/ 1809345 w 3599234"/>
              <a:gd name="connsiteY129" fmla="*/ 253077 h 2188882"/>
              <a:gd name="connsiteX130" fmla="*/ 1780162 w 3599234"/>
              <a:gd name="connsiteY130" fmla="*/ 243350 h 2188882"/>
              <a:gd name="connsiteX131" fmla="*/ 1750979 w 3599234"/>
              <a:gd name="connsiteY131" fmla="*/ 223894 h 2188882"/>
              <a:gd name="connsiteX132" fmla="*/ 1692613 w 3599234"/>
              <a:gd name="connsiteY132" fmla="*/ 204439 h 2188882"/>
              <a:gd name="connsiteX133" fmla="*/ 1634247 w 3599234"/>
              <a:gd name="connsiteY133" fmla="*/ 175256 h 2188882"/>
              <a:gd name="connsiteX134" fmla="*/ 1595337 w 3599234"/>
              <a:gd name="connsiteY134" fmla="*/ 155801 h 2188882"/>
              <a:gd name="connsiteX135" fmla="*/ 1566154 w 3599234"/>
              <a:gd name="connsiteY135" fmla="*/ 146073 h 2188882"/>
              <a:gd name="connsiteX136" fmla="*/ 1536971 w 3599234"/>
              <a:gd name="connsiteY136" fmla="*/ 126618 h 2188882"/>
              <a:gd name="connsiteX137" fmla="*/ 1507788 w 3599234"/>
              <a:gd name="connsiteY137" fmla="*/ 116890 h 2188882"/>
              <a:gd name="connsiteX138" fmla="*/ 1478605 w 3599234"/>
              <a:gd name="connsiteY138" fmla="*/ 97435 h 2188882"/>
              <a:gd name="connsiteX139" fmla="*/ 1361873 w 3599234"/>
              <a:gd name="connsiteY139" fmla="*/ 68252 h 2188882"/>
              <a:gd name="connsiteX140" fmla="*/ 1225685 w 3599234"/>
              <a:gd name="connsiteY140" fmla="*/ 29341 h 2188882"/>
              <a:gd name="connsiteX141" fmla="*/ 1099226 w 3599234"/>
              <a:gd name="connsiteY141" fmla="*/ 9886 h 2188882"/>
              <a:gd name="connsiteX142" fmla="*/ 1001949 w 3599234"/>
              <a:gd name="connsiteY142" fmla="*/ 158 h 2188882"/>
              <a:gd name="connsiteX143" fmla="*/ 865762 w 3599234"/>
              <a:gd name="connsiteY143" fmla="*/ 19614 h 218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3599234" h="2188882">
                <a:moveTo>
                  <a:pt x="865762" y="19614"/>
                </a:moveTo>
                <a:cubicBezTo>
                  <a:pt x="818745" y="24478"/>
                  <a:pt x="768549" y="27269"/>
                  <a:pt x="719847" y="29341"/>
                </a:cubicBezTo>
                <a:cubicBezTo>
                  <a:pt x="616129" y="33754"/>
                  <a:pt x="512214" y="33310"/>
                  <a:pt x="408562" y="39069"/>
                </a:cubicBezTo>
                <a:cubicBezTo>
                  <a:pt x="395213" y="39811"/>
                  <a:pt x="382457" y="44955"/>
                  <a:pt x="369651" y="48797"/>
                </a:cubicBezTo>
                <a:cubicBezTo>
                  <a:pt x="369573" y="48820"/>
                  <a:pt x="296733" y="73103"/>
                  <a:pt x="282103" y="77980"/>
                </a:cubicBezTo>
                <a:lnTo>
                  <a:pt x="252920" y="87707"/>
                </a:lnTo>
                <a:lnTo>
                  <a:pt x="223737" y="97435"/>
                </a:lnTo>
                <a:cubicBezTo>
                  <a:pt x="217252" y="103920"/>
                  <a:pt x="212145" y="112171"/>
                  <a:pt x="204281" y="116890"/>
                </a:cubicBezTo>
                <a:cubicBezTo>
                  <a:pt x="195488" y="122166"/>
                  <a:pt x="183105" y="120212"/>
                  <a:pt x="175098" y="126618"/>
                </a:cubicBezTo>
                <a:cubicBezTo>
                  <a:pt x="165969" y="133921"/>
                  <a:pt x="164441" y="148102"/>
                  <a:pt x="155643" y="155801"/>
                </a:cubicBezTo>
                <a:cubicBezTo>
                  <a:pt x="138046" y="171198"/>
                  <a:pt x="97277" y="194711"/>
                  <a:pt x="97277" y="194711"/>
                </a:cubicBezTo>
                <a:cubicBezTo>
                  <a:pt x="94034" y="204439"/>
                  <a:pt x="92825" y="215101"/>
                  <a:pt x="87549" y="223894"/>
                </a:cubicBezTo>
                <a:cubicBezTo>
                  <a:pt x="82830" y="231758"/>
                  <a:pt x="72195" y="235147"/>
                  <a:pt x="68094" y="243350"/>
                </a:cubicBezTo>
                <a:cubicBezTo>
                  <a:pt x="60844" y="257850"/>
                  <a:pt x="42900" y="318686"/>
                  <a:pt x="38911" y="340626"/>
                </a:cubicBezTo>
                <a:cubicBezTo>
                  <a:pt x="34809" y="363185"/>
                  <a:pt x="33680" y="386237"/>
                  <a:pt x="29183" y="408720"/>
                </a:cubicBezTo>
                <a:cubicBezTo>
                  <a:pt x="27172" y="418775"/>
                  <a:pt x="22273" y="428044"/>
                  <a:pt x="19456" y="437903"/>
                </a:cubicBezTo>
                <a:cubicBezTo>
                  <a:pt x="15783" y="450758"/>
                  <a:pt x="12120" y="463660"/>
                  <a:pt x="9728" y="476814"/>
                </a:cubicBezTo>
                <a:cubicBezTo>
                  <a:pt x="5626" y="499372"/>
                  <a:pt x="3243" y="522209"/>
                  <a:pt x="0" y="544907"/>
                </a:cubicBezTo>
                <a:cubicBezTo>
                  <a:pt x="3243" y="629213"/>
                  <a:pt x="1853" y="713826"/>
                  <a:pt x="9728" y="797826"/>
                </a:cubicBezTo>
                <a:cubicBezTo>
                  <a:pt x="11642" y="818244"/>
                  <a:pt x="24209" y="836297"/>
                  <a:pt x="29183" y="856192"/>
                </a:cubicBezTo>
                <a:cubicBezTo>
                  <a:pt x="32300" y="868661"/>
                  <a:pt x="41661" y="910329"/>
                  <a:pt x="48639" y="924286"/>
                </a:cubicBezTo>
                <a:cubicBezTo>
                  <a:pt x="53867" y="934743"/>
                  <a:pt x="63346" y="942785"/>
                  <a:pt x="68094" y="953469"/>
                </a:cubicBezTo>
                <a:cubicBezTo>
                  <a:pt x="76423" y="972209"/>
                  <a:pt x="81064" y="992380"/>
                  <a:pt x="87549" y="1011835"/>
                </a:cubicBezTo>
                <a:cubicBezTo>
                  <a:pt x="90792" y="1021563"/>
                  <a:pt x="91589" y="1032486"/>
                  <a:pt x="97277" y="1041018"/>
                </a:cubicBezTo>
                <a:cubicBezTo>
                  <a:pt x="103762" y="1050746"/>
                  <a:pt x="111504" y="1059744"/>
                  <a:pt x="116732" y="1070201"/>
                </a:cubicBezTo>
                <a:cubicBezTo>
                  <a:pt x="124905" y="1086547"/>
                  <a:pt x="131513" y="1122710"/>
                  <a:pt x="136188" y="1138294"/>
                </a:cubicBezTo>
                <a:cubicBezTo>
                  <a:pt x="136203" y="1138344"/>
                  <a:pt x="160499" y="1211227"/>
                  <a:pt x="165371" y="1225843"/>
                </a:cubicBezTo>
                <a:cubicBezTo>
                  <a:pt x="165373" y="1225848"/>
                  <a:pt x="184823" y="1284205"/>
                  <a:pt x="184826" y="1284209"/>
                </a:cubicBezTo>
                <a:lnTo>
                  <a:pt x="204281" y="1313392"/>
                </a:lnTo>
                <a:cubicBezTo>
                  <a:pt x="207398" y="1325861"/>
                  <a:pt x="216759" y="1367529"/>
                  <a:pt x="223737" y="1381486"/>
                </a:cubicBezTo>
                <a:cubicBezTo>
                  <a:pt x="228965" y="1391943"/>
                  <a:pt x="238444" y="1399985"/>
                  <a:pt x="243192" y="1410669"/>
                </a:cubicBezTo>
                <a:cubicBezTo>
                  <a:pt x="278960" y="1491147"/>
                  <a:pt x="242147" y="1448536"/>
                  <a:pt x="282103" y="1488490"/>
                </a:cubicBezTo>
                <a:lnTo>
                  <a:pt x="301558" y="1546856"/>
                </a:lnTo>
                <a:cubicBezTo>
                  <a:pt x="304800" y="1556584"/>
                  <a:pt x="304034" y="1568789"/>
                  <a:pt x="311285" y="1576039"/>
                </a:cubicBezTo>
                <a:lnTo>
                  <a:pt x="330741" y="1595494"/>
                </a:lnTo>
                <a:cubicBezTo>
                  <a:pt x="355190" y="1668846"/>
                  <a:pt x="322209" y="1578431"/>
                  <a:pt x="359924" y="1653860"/>
                </a:cubicBezTo>
                <a:cubicBezTo>
                  <a:pt x="364510" y="1663031"/>
                  <a:pt x="364376" y="1674250"/>
                  <a:pt x="369651" y="1683043"/>
                </a:cubicBezTo>
                <a:cubicBezTo>
                  <a:pt x="374370" y="1690908"/>
                  <a:pt x="383604" y="1695162"/>
                  <a:pt x="389107" y="1702499"/>
                </a:cubicBezTo>
                <a:cubicBezTo>
                  <a:pt x="403136" y="1721205"/>
                  <a:pt x="411483" y="1744331"/>
                  <a:pt x="428017" y="1760865"/>
                </a:cubicBezTo>
                <a:cubicBezTo>
                  <a:pt x="444230" y="1777078"/>
                  <a:pt x="463938" y="1790425"/>
                  <a:pt x="476656" y="1809503"/>
                </a:cubicBezTo>
                <a:cubicBezTo>
                  <a:pt x="514125" y="1865707"/>
                  <a:pt x="474854" y="1814907"/>
                  <a:pt x="525294" y="1858141"/>
                </a:cubicBezTo>
                <a:cubicBezTo>
                  <a:pt x="539221" y="1870078"/>
                  <a:pt x="546804" y="1891251"/>
                  <a:pt x="564205" y="1897052"/>
                </a:cubicBezTo>
                <a:cubicBezTo>
                  <a:pt x="637558" y="1921504"/>
                  <a:pt x="547141" y="1888520"/>
                  <a:pt x="622571" y="1926235"/>
                </a:cubicBezTo>
                <a:cubicBezTo>
                  <a:pt x="631742" y="1930821"/>
                  <a:pt x="642329" y="1931924"/>
                  <a:pt x="651754" y="1935963"/>
                </a:cubicBezTo>
                <a:cubicBezTo>
                  <a:pt x="665082" y="1941675"/>
                  <a:pt x="677200" y="1950033"/>
                  <a:pt x="690664" y="1955418"/>
                </a:cubicBezTo>
                <a:cubicBezTo>
                  <a:pt x="726564" y="1969778"/>
                  <a:pt x="759679" y="1979174"/>
                  <a:pt x="797668" y="1984601"/>
                </a:cubicBezTo>
                <a:cubicBezTo>
                  <a:pt x="826735" y="1988753"/>
                  <a:pt x="856034" y="1991086"/>
                  <a:pt x="885217" y="1994328"/>
                </a:cubicBezTo>
                <a:cubicBezTo>
                  <a:pt x="1008434" y="1991086"/>
                  <a:pt x="1131748" y="1990464"/>
                  <a:pt x="1254868" y="1984601"/>
                </a:cubicBezTo>
                <a:cubicBezTo>
                  <a:pt x="1260378" y="1984339"/>
                  <a:pt x="1314342" y="1969934"/>
                  <a:pt x="1322962" y="1965145"/>
                </a:cubicBezTo>
                <a:cubicBezTo>
                  <a:pt x="1343402" y="1953790"/>
                  <a:pt x="1359146" y="1933629"/>
                  <a:pt x="1381328" y="1926235"/>
                </a:cubicBezTo>
                <a:lnTo>
                  <a:pt x="1410511" y="1916507"/>
                </a:lnTo>
                <a:cubicBezTo>
                  <a:pt x="1420239" y="1906779"/>
                  <a:pt x="1428835" y="1895770"/>
                  <a:pt x="1439694" y="1887324"/>
                </a:cubicBezTo>
                <a:cubicBezTo>
                  <a:pt x="1458151" y="1872969"/>
                  <a:pt x="1478605" y="1861384"/>
                  <a:pt x="1498060" y="1848414"/>
                </a:cubicBezTo>
                <a:cubicBezTo>
                  <a:pt x="1507788" y="1841929"/>
                  <a:pt x="1518976" y="1837225"/>
                  <a:pt x="1527243" y="1828958"/>
                </a:cubicBezTo>
                <a:cubicBezTo>
                  <a:pt x="1544773" y="1811428"/>
                  <a:pt x="1561908" y="1790478"/>
                  <a:pt x="1585609" y="1780320"/>
                </a:cubicBezTo>
                <a:cubicBezTo>
                  <a:pt x="1597898" y="1775054"/>
                  <a:pt x="1611550" y="1773835"/>
                  <a:pt x="1624520" y="1770592"/>
                </a:cubicBezTo>
                <a:cubicBezTo>
                  <a:pt x="1634248" y="1764107"/>
                  <a:pt x="1642716" y="1755132"/>
                  <a:pt x="1653703" y="1751137"/>
                </a:cubicBezTo>
                <a:cubicBezTo>
                  <a:pt x="1678832" y="1741999"/>
                  <a:pt x="1731524" y="1731682"/>
                  <a:pt x="1731524" y="1731682"/>
                </a:cubicBezTo>
                <a:cubicBezTo>
                  <a:pt x="1777771" y="1700850"/>
                  <a:pt x="1749614" y="1715924"/>
                  <a:pt x="1819073" y="1692771"/>
                </a:cubicBezTo>
                <a:lnTo>
                  <a:pt x="1877439" y="1673316"/>
                </a:lnTo>
                <a:lnTo>
                  <a:pt x="1945532" y="1663588"/>
                </a:lnTo>
                <a:cubicBezTo>
                  <a:pt x="2013626" y="1666831"/>
                  <a:pt x="2082059" y="1665788"/>
                  <a:pt x="2149813" y="1673316"/>
                </a:cubicBezTo>
                <a:cubicBezTo>
                  <a:pt x="2193717" y="1678194"/>
                  <a:pt x="2232897" y="1706446"/>
                  <a:pt x="2266545" y="1731682"/>
                </a:cubicBezTo>
                <a:cubicBezTo>
                  <a:pt x="2279515" y="1741410"/>
                  <a:pt x="2293146" y="1750314"/>
                  <a:pt x="2305456" y="1760865"/>
                </a:cubicBezTo>
                <a:cubicBezTo>
                  <a:pt x="2315901" y="1769818"/>
                  <a:pt x="2323780" y="1781602"/>
                  <a:pt x="2334639" y="1790048"/>
                </a:cubicBezTo>
                <a:cubicBezTo>
                  <a:pt x="2353096" y="1804403"/>
                  <a:pt x="2393005" y="1828958"/>
                  <a:pt x="2393005" y="1828958"/>
                </a:cubicBezTo>
                <a:cubicBezTo>
                  <a:pt x="2399490" y="1838686"/>
                  <a:pt x="2404852" y="1849264"/>
                  <a:pt x="2412460" y="1858141"/>
                </a:cubicBezTo>
                <a:cubicBezTo>
                  <a:pt x="2424397" y="1872068"/>
                  <a:pt x="2441196" y="1881790"/>
                  <a:pt x="2451371" y="1897052"/>
                </a:cubicBezTo>
                <a:cubicBezTo>
                  <a:pt x="2457856" y="1906780"/>
                  <a:pt x="2462559" y="1917968"/>
                  <a:pt x="2470826" y="1926235"/>
                </a:cubicBezTo>
                <a:cubicBezTo>
                  <a:pt x="2479093" y="1934502"/>
                  <a:pt x="2491028" y="1938206"/>
                  <a:pt x="2500009" y="1945690"/>
                </a:cubicBezTo>
                <a:cubicBezTo>
                  <a:pt x="2532282" y="1972584"/>
                  <a:pt x="2522145" y="1976213"/>
                  <a:pt x="2558375" y="1994328"/>
                </a:cubicBezTo>
                <a:cubicBezTo>
                  <a:pt x="2567546" y="1998914"/>
                  <a:pt x="2578387" y="1999470"/>
                  <a:pt x="2587558" y="2004056"/>
                </a:cubicBezTo>
                <a:cubicBezTo>
                  <a:pt x="2598015" y="2009284"/>
                  <a:pt x="2607612" y="2016208"/>
                  <a:pt x="2616741" y="2023511"/>
                </a:cubicBezTo>
                <a:cubicBezTo>
                  <a:pt x="2623903" y="2029240"/>
                  <a:pt x="2628332" y="2038248"/>
                  <a:pt x="2636196" y="2042967"/>
                </a:cubicBezTo>
                <a:cubicBezTo>
                  <a:pt x="2644989" y="2048243"/>
                  <a:pt x="2655651" y="2049452"/>
                  <a:pt x="2665379" y="2052694"/>
                </a:cubicBezTo>
                <a:cubicBezTo>
                  <a:pt x="2735811" y="2099649"/>
                  <a:pt x="2702831" y="2081148"/>
                  <a:pt x="2762656" y="2111060"/>
                </a:cubicBezTo>
                <a:cubicBezTo>
                  <a:pt x="2800657" y="2149063"/>
                  <a:pt x="2760782" y="2114987"/>
                  <a:pt x="2811294" y="2140243"/>
                </a:cubicBezTo>
                <a:cubicBezTo>
                  <a:pt x="2821751" y="2145472"/>
                  <a:pt x="2829490" y="2155704"/>
                  <a:pt x="2840477" y="2159699"/>
                </a:cubicBezTo>
                <a:cubicBezTo>
                  <a:pt x="2920329" y="2188736"/>
                  <a:pt x="2985704" y="2183367"/>
                  <a:pt x="3073941" y="2188882"/>
                </a:cubicBezTo>
                <a:cubicBezTo>
                  <a:pt x="3142035" y="2185639"/>
                  <a:pt x="3210468" y="2186682"/>
                  <a:pt x="3278222" y="2179154"/>
                </a:cubicBezTo>
                <a:cubicBezTo>
                  <a:pt x="3298604" y="2176889"/>
                  <a:pt x="3317133" y="2166184"/>
                  <a:pt x="3336588" y="2159699"/>
                </a:cubicBezTo>
                <a:lnTo>
                  <a:pt x="3365771" y="2149971"/>
                </a:lnTo>
                <a:cubicBezTo>
                  <a:pt x="3375499" y="2146728"/>
                  <a:pt x="3386422" y="2145931"/>
                  <a:pt x="3394954" y="2140243"/>
                </a:cubicBezTo>
                <a:lnTo>
                  <a:pt x="3424137" y="2120788"/>
                </a:lnTo>
                <a:cubicBezTo>
                  <a:pt x="3437107" y="2101333"/>
                  <a:pt x="3455653" y="2084604"/>
                  <a:pt x="3463047" y="2062422"/>
                </a:cubicBezTo>
                <a:cubicBezTo>
                  <a:pt x="3466290" y="2052694"/>
                  <a:pt x="3467795" y="2042203"/>
                  <a:pt x="3472775" y="2033239"/>
                </a:cubicBezTo>
                <a:cubicBezTo>
                  <a:pt x="3484130" y="2012799"/>
                  <a:pt x="3504291" y="1997055"/>
                  <a:pt x="3511685" y="1974873"/>
                </a:cubicBezTo>
                <a:cubicBezTo>
                  <a:pt x="3514928" y="1965145"/>
                  <a:pt x="3516433" y="1954653"/>
                  <a:pt x="3521413" y="1945690"/>
                </a:cubicBezTo>
                <a:cubicBezTo>
                  <a:pt x="3532769" y="1925250"/>
                  <a:pt x="3560324" y="1887324"/>
                  <a:pt x="3560324" y="1887324"/>
                </a:cubicBezTo>
                <a:lnTo>
                  <a:pt x="3579779" y="1828958"/>
                </a:lnTo>
                <a:cubicBezTo>
                  <a:pt x="3583022" y="1819230"/>
                  <a:pt x="3587496" y="1809830"/>
                  <a:pt x="3589507" y="1799775"/>
                </a:cubicBezTo>
                <a:lnTo>
                  <a:pt x="3599234" y="1751137"/>
                </a:lnTo>
                <a:cubicBezTo>
                  <a:pt x="3595992" y="1692771"/>
                  <a:pt x="3596758" y="1634044"/>
                  <a:pt x="3589507" y="1576039"/>
                </a:cubicBezTo>
                <a:cubicBezTo>
                  <a:pt x="3586963" y="1555690"/>
                  <a:pt x="3576536" y="1537128"/>
                  <a:pt x="3570051" y="1517673"/>
                </a:cubicBezTo>
                <a:lnTo>
                  <a:pt x="3560324" y="1488490"/>
                </a:lnTo>
                <a:cubicBezTo>
                  <a:pt x="3557081" y="1478762"/>
                  <a:pt x="3556284" y="1467839"/>
                  <a:pt x="3550596" y="1459307"/>
                </a:cubicBezTo>
                <a:cubicBezTo>
                  <a:pt x="3544111" y="1449579"/>
                  <a:pt x="3536369" y="1440581"/>
                  <a:pt x="3531141" y="1430124"/>
                </a:cubicBezTo>
                <a:cubicBezTo>
                  <a:pt x="3526555" y="1420953"/>
                  <a:pt x="3526393" y="1409905"/>
                  <a:pt x="3521413" y="1400941"/>
                </a:cubicBezTo>
                <a:cubicBezTo>
                  <a:pt x="3510058" y="1380501"/>
                  <a:pt x="3495473" y="1362030"/>
                  <a:pt x="3482503" y="1342575"/>
                </a:cubicBezTo>
                <a:cubicBezTo>
                  <a:pt x="3460779" y="1309989"/>
                  <a:pt x="3426465" y="1257356"/>
                  <a:pt x="3404681" y="1235571"/>
                </a:cubicBezTo>
                <a:cubicBezTo>
                  <a:pt x="3381983" y="1212873"/>
                  <a:pt x="3354394" y="1194185"/>
                  <a:pt x="3336588" y="1167477"/>
                </a:cubicBezTo>
                <a:cubicBezTo>
                  <a:pt x="3330103" y="1157749"/>
                  <a:pt x="3325399" y="1146561"/>
                  <a:pt x="3317132" y="1138294"/>
                </a:cubicBezTo>
                <a:cubicBezTo>
                  <a:pt x="3308865" y="1130027"/>
                  <a:pt x="3297462" y="1125634"/>
                  <a:pt x="3287949" y="1118839"/>
                </a:cubicBezTo>
                <a:cubicBezTo>
                  <a:pt x="3274756" y="1109416"/>
                  <a:pt x="3261240" y="1100332"/>
                  <a:pt x="3249039" y="1089656"/>
                </a:cubicBezTo>
                <a:cubicBezTo>
                  <a:pt x="3186593" y="1035015"/>
                  <a:pt x="3230034" y="1070764"/>
                  <a:pt x="3190673" y="1021563"/>
                </a:cubicBezTo>
                <a:cubicBezTo>
                  <a:pt x="3156148" y="978407"/>
                  <a:pt x="3175115" y="1025464"/>
                  <a:pt x="3112851" y="963197"/>
                </a:cubicBezTo>
                <a:cubicBezTo>
                  <a:pt x="3086146" y="936490"/>
                  <a:pt x="3102097" y="946641"/>
                  <a:pt x="3064213" y="934014"/>
                </a:cubicBezTo>
                <a:cubicBezTo>
                  <a:pt x="3039470" y="909270"/>
                  <a:pt x="3045110" y="910808"/>
                  <a:pt x="3005847" y="895103"/>
                </a:cubicBezTo>
                <a:cubicBezTo>
                  <a:pt x="2986806" y="887487"/>
                  <a:pt x="2947481" y="875648"/>
                  <a:pt x="2947481" y="875648"/>
                </a:cubicBezTo>
                <a:cubicBezTo>
                  <a:pt x="2911492" y="839657"/>
                  <a:pt x="2935659" y="861282"/>
                  <a:pt x="2869660" y="817282"/>
                </a:cubicBezTo>
                <a:cubicBezTo>
                  <a:pt x="2840346" y="797739"/>
                  <a:pt x="2836131" y="793184"/>
                  <a:pt x="2801566" y="778371"/>
                </a:cubicBezTo>
                <a:cubicBezTo>
                  <a:pt x="2792141" y="774332"/>
                  <a:pt x="2781347" y="773623"/>
                  <a:pt x="2772383" y="768643"/>
                </a:cubicBezTo>
                <a:cubicBezTo>
                  <a:pt x="2677624" y="716000"/>
                  <a:pt x="2751149" y="739016"/>
                  <a:pt x="2675107" y="720005"/>
                </a:cubicBezTo>
                <a:cubicBezTo>
                  <a:pt x="2639117" y="684016"/>
                  <a:pt x="2663282" y="705638"/>
                  <a:pt x="2597285" y="661639"/>
                </a:cubicBezTo>
                <a:lnTo>
                  <a:pt x="2568103" y="642184"/>
                </a:lnTo>
                <a:cubicBezTo>
                  <a:pt x="2558375" y="635699"/>
                  <a:pt x="2550011" y="626425"/>
                  <a:pt x="2538920" y="622728"/>
                </a:cubicBezTo>
                <a:cubicBezTo>
                  <a:pt x="2444995" y="591422"/>
                  <a:pt x="2591012" y="641620"/>
                  <a:pt x="2470826" y="593545"/>
                </a:cubicBezTo>
                <a:cubicBezTo>
                  <a:pt x="2451785" y="585929"/>
                  <a:pt x="2431915" y="580575"/>
                  <a:pt x="2412460" y="574090"/>
                </a:cubicBezTo>
                <a:lnTo>
                  <a:pt x="2383277" y="564363"/>
                </a:lnTo>
                <a:lnTo>
                  <a:pt x="2295728" y="505997"/>
                </a:lnTo>
                <a:cubicBezTo>
                  <a:pt x="2286000" y="499512"/>
                  <a:pt x="2277636" y="490238"/>
                  <a:pt x="2266545" y="486541"/>
                </a:cubicBezTo>
                <a:cubicBezTo>
                  <a:pt x="2224678" y="472586"/>
                  <a:pt x="2247310" y="479301"/>
                  <a:pt x="2198451" y="467086"/>
                </a:cubicBezTo>
                <a:cubicBezTo>
                  <a:pt x="2131554" y="422487"/>
                  <a:pt x="2162268" y="435569"/>
                  <a:pt x="2110903" y="418448"/>
                </a:cubicBezTo>
                <a:cubicBezTo>
                  <a:pt x="2101175" y="411963"/>
                  <a:pt x="2092177" y="404221"/>
                  <a:pt x="2081720" y="398992"/>
                </a:cubicBezTo>
                <a:cubicBezTo>
                  <a:pt x="2072549" y="394406"/>
                  <a:pt x="2061330" y="394540"/>
                  <a:pt x="2052537" y="389265"/>
                </a:cubicBezTo>
                <a:cubicBezTo>
                  <a:pt x="1985772" y="349207"/>
                  <a:pt x="2086567" y="387636"/>
                  <a:pt x="2003898" y="360082"/>
                </a:cubicBezTo>
                <a:cubicBezTo>
                  <a:pt x="1994170" y="353597"/>
                  <a:pt x="1985399" y="345374"/>
                  <a:pt x="1974715" y="340626"/>
                </a:cubicBezTo>
                <a:cubicBezTo>
                  <a:pt x="1955975" y="332297"/>
                  <a:pt x="1933739" y="332040"/>
                  <a:pt x="1916349" y="321171"/>
                </a:cubicBezTo>
                <a:cubicBezTo>
                  <a:pt x="1890409" y="304958"/>
                  <a:pt x="1863980" y="289502"/>
                  <a:pt x="1838528" y="272533"/>
                </a:cubicBezTo>
                <a:cubicBezTo>
                  <a:pt x="1828800" y="266048"/>
                  <a:pt x="1819802" y="258306"/>
                  <a:pt x="1809345" y="253077"/>
                </a:cubicBezTo>
                <a:cubicBezTo>
                  <a:pt x="1800174" y="248491"/>
                  <a:pt x="1789890" y="246592"/>
                  <a:pt x="1780162" y="243350"/>
                </a:cubicBezTo>
                <a:cubicBezTo>
                  <a:pt x="1770434" y="236865"/>
                  <a:pt x="1761663" y="228642"/>
                  <a:pt x="1750979" y="223894"/>
                </a:cubicBezTo>
                <a:cubicBezTo>
                  <a:pt x="1732239" y="215565"/>
                  <a:pt x="1709677" y="215814"/>
                  <a:pt x="1692613" y="204439"/>
                </a:cubicBezTo>
                <a:cubicBezTo>
                  <a:pt x="1636531" y="167051"/>
                  <a:pt x="1690631" y="199421"/>
                  <a:pt x="1634247" y="175256"/>
                </a:cubicBezTo>
                <a:cubicBezTo>
                  <a:pt x="1620919" y="169544"/>
                  <a:pt x="1608665" y="161513"/>
                  <a:pt x="1595337" y="155801"/>
                </a:cubicBezTo>
                <a:cubicBezTo>
                  <a:pt x="1585912" y="151762"/>
                  <a:pt x="1575325" y="150659"/>
                  <a:pt x="1566154" y="146073"/>
                </a:cubicBezTo>
                <a:cubicBezTo>
                  <a:pt x="1555697" y="140845"/>
                  <a:pt x="1547428" y="131846"/>
                  <a:pt x="1536971" y="126618"/>
                </a:cubicBezTo>
                <a:cubicBezTo>
                  <a:pt x="1527800" y="122032"/>
                  <a:pt x="1516959" y="121476"/>
                  <a:pt x="1507788" y="116890"/>
                </a:cubicBezTo>
                <a:cubicBezTo>
                  <a:pt x="1497331" y="111662"/>
                  <a:pt x="1489592" y="101430"/>
                  <a:pt x="1478605" y="97435"/>
                </a:cubicBezTo>
                <a:cubicBezTo>
                  <a:pt x="1371669" y="58550"/>
                  <a:pt x="1434795" y="92559"/>
                  <a:pt x="1361873" y="68252"/>
                </a:cubicBezTo>
                <a:cubicBezTo>
                  <a:pt x="1315619" y="52834"/>
                  <a:pt x="1274536" y="37482"/>
                  <a:pt x="1225685" y="29341"/>
                </a:cubicBezTo>
                <a:cubicBezTo>
                  <a:pt x="1183476" y="22307"/>
                  <a:pt x="1141772" y="14892"/>
                  <a:pt x="1099226" y="9886"/>
                </a:cubicBezTo>
                <a:cubicBezTo>
                  <a:pt x="1066862" y="6078"/>
                  <a:pt x="1034510" y="1460"/>
                  <a:pt x="1001949" y="158"/>
                </a:cubicBezTo>
                <a:cubicBezTo>
                  <a:pt x="953350" y="-1786"/>
                  <a:pt x="912779" y="14750"/>
                  <a:pt x="865762" y="19614"/>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ABC791-174B-0842-B23E-788A691D7F9E}"/>
              </a:ext>
            </a:extLst>
          </p:cNvPr>
          <p:cNvSpPr>
            <a:spLocks noGrp="1"/>
          </p:cNvSpPr>
          <p:nvPr>
            <p:ph type="title"/>
          </p:nvPr>
        </p:nvSpPr>
        <p:spPr/>
        <p:txBody>
          <a:bodyPr/>
          <a:lstStyle/>
          <a:p>
            <a:r>
              <a:rPr lang="en-US" dirty="0"/>
              <a:t>Why Does Dijkstra’s Work?</a:t>
            </a:r>
          </a:p>
        </p:txBody>
      </p:sp>
      <p:sp>
        <p:nvSpPr>
          <p:cNvPr id="3" name="Content Placeholder 2">
            <a:extLst>
              <a:ext uri="{FF2B5EF4-FFF2-40B4-BE49-F238E27FC236}">
                <a16:creationId xmlns:a16="http://schemas.microsoft.com/office/drawing/2014/main" id="{773E890B-72FC-514E-8075-C4894B82CFBD}"/>
              </a:ext>
            </a:extLst>
          </p:cNvPr>
          <p:cNvSpPr>
            <a:spLocks noGrp="1"/>
          </p:cNvSpPr>
          <p:nvPr>
            <p:ph idx="1"/>
          </p:nvPr>
        </p:nvSpPr>
        <p:spPr>
          <a:xfrm>
            <a:off x="5591665" y="2964111"/>
            <a:ext cx="6150631" cy="3349140"/>
          </a:xfrm>
        </p:spPr>
        <p:txBody>
          <a:bodyPr>
            <a:noAutofit/>
          </a:bodyPr>
          <a:lstStyle/>
          <a:p>
            <a:r>
              <a:rPr lang="en-US" sz="2400" dirty="0"/>
              <a:t>Similar “First Try Phenomenon” to BFS</a:t>
            </a:r>
          </a:p>
          <a:p>
            <a:endParaRPr lang="en-US" sz="2400" dirty="0"/>
          </a:p>
          <a:p>
            <a:r>
              <a:rPr lang="en-US" sz="2400" dirty="0"/>
              <a:t>How can we be sure we won’t find a shorter path to X later?</a:t>
            </a:r>
          </a:p>
          <a:p>
            <a:pPr lvl="1"/>
            <a:r>
              <a:rPr lang="en-US" sz="2000" b="1" dirty="0"/>
              <a:t>Key Intuition</a:t>
            </a:r>
            <a:r>
              <a:rPr lang="en-US" sz="2000" dirty="0"/>
              <a:t>: Dijkstra’s works because:</a:t>
            </a:r>
          </a:p>
          <a:p>
            <a:pPr marL="800100" lvl="1" indent="-342900"/>
            <a:r>
              <a:rPr lang="en-US" sz="1800" dirty="0"/>
              <a:t>IF we always add the closest vertices to “known” first,</a:t>
            </a:r>
          </a:p>
          <a:p>
            <a:pPr marL="800100" lvl="1" indent="-342900"/>
            <a:r>
              <a:rPr lang="en-US" sz="1800" dirty="0">
                <a:sym typeface="Wingdings" pitchFamily="2" charset="2"/>
              </a:rPr>
              <a:t>THEN by the time a vertex is added, any possible relaxing has happened and the path we know is </a:t>
            </a:r>
            <a:r>
              <a:rPr lang="en-US" sz="1800" i="1" dirty="0">
                <a:sym typeface="Wingdings" pitchFamily="2" charset="2"/>
              </a:rPr>
              <a:t>always the shortest</a:t>
            </a:r>
            <a:r>
              <a:rPr lang="en-US" sz="1800" dirty="0">
                <a:sym typeface="Wingdings" pitchFamily="2" charset="2"/>
              </a:rPr>
              <a:t>!</a:t>
            </a:r>
            <a:endParaRPr lang="en-US" sz="1800" dirty="0"/>
          </a:p>
        </p:txBody>
      </p:sp>
      <p:sp>
        <p:nvSpPr>
          <p:cNvPr id="4" name="Rectangle 3">
            <a:extLst>
              <a:ext uri="{FF2B5EF4-FFF2-40B4-BE49-F238E27FC236}">
                <a16:creationId xmlns:a16="http://schemas.microsoft.com/office/drawing/2014/main" id="{22807A21-037E-CA46-A3A8-3EDD086F37C3}"/>
              </a:ext>
            </a:extLst>
          </p:cNvPr>
          <p:cNvSpPr/>
          <p:nvPr/>
        </p:nvSpPr>
        <p:spPr>
          <a:xfrm>
            <a:off x="6213444" y="1627198"/>
            <a:ext cx="5014907" cy="11861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Dijkstra’s Algorithm Invariant</a:t>
            </a:r>
          </a:p>
          <a:p>
            <a:pPr marL="349250">
              <a:tabLst>
                <a:tab pos="336550" algn="l"/>
              </a:tabLst>
            </a:pPr>
            <a:r>
              <a:rPr lang="en-US" dirty="0"/>
              <a:t>All vertices in the “known” set have the correct shortest path</a:t>
            </a:r>
          </a:p>
        </p:txBody>
      </p:sp>
      <p:sp>
        <p:nvSpPr>
          <p:cNvPr id="5" name="Rectangle 4">
            <a:extLst>
              <a:ext uri="{FF2B5EF4-FFF2-40B4-BE49-F238E27FC236}">
                <a16:creationId xmlns:a16="http://schemas.microsoft.com/office/drawing/2014/main" id="{EE736AFC-A88A-1D49-8227-C7BB45B25A6D}"/>
              </a:ext>
            </a:extLst>
          </p:cNvPr>
          <p:cNvSpPr/>
          <p:nvPr/>
        </p:nvSpPr>
        <p:spPr>
          <a:xfrm rot="16200000">
            <a:off x="5347238" y="1947141"/>
            <a:ext cx="1186150" cy="546265"/>
          </a:xfrm>
          <a:prstGeom prst="rect">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100" dirty="0"/>
              <a:t>INVARIANT</a:t>
            </a:r>
          </a:p>
        </p:txBody>
      </p:sp>
      <p:sp>
        <p:nvSpPr>
          <p:cNvPr id="15" name="Google Shape;752;p43">
            <a:extLst>
              <a:ext uri="{FF2B5EF4-FFF2-40B4-BE49-F238E27FC236}">
                <a16:creationId xmlns:a16="http://schemas.microsoft.com/office/drawing/2014/main" id="{4A8FC290-A399-1E45-AD5D-72AB522EF2E9}"/>
              </a:ext>
            </a:extLst>
          </p:cNvPr>
          <p:cNvSpPr/>
          <p:nvPr/>
        </p:nvSpPr>
        <p:spPr>
          <a:xfrm>
            <a:off x="2358560" y="401005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2133" dirty="0">
                <a:latin typeface="Calibri" panose="020F0502020204030204" pitchFamily="34" charset="0"/>
                <a:cs typeface="Calibri" panose="020F0502020204030204" pitchFamily="34" charset="0"/>
              </a:rPr>
              <a:t>X</a:t>
            </a:r>
            <a:endParaRPr sz="2133"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628C49C6-0FBA-694F-9A22-702E00CB24C5}"/>
              </a:ext>
            </a:extLst>
          </p:cNvPr>
          <p:cNvSpPr txBox="1"/>
          <p:nvPr/>
        </p:nvSpPr>
        <p:spPr>
          <a:xfrm>
            <a:off x="1424093" y="2247379"/>
            <a:ext cx="1042658" cy="369332"/>
          </a:xfrm>
          <a:prstGeom prst="rect">
            <a:avLst/>
          </a:prstGeom>
          <a:noFill/>
        </p:spPr>
        <p:txBody>
          <a:bodyPr wrap="none" rtlCol="0">
            <a:spAutoFit/>
          </a:bodyPr>
          <a:lstStyle/>
          <a:p>
            <a:r>
              <a:rPr lang="en-US" b="1" spc="100" dirty="0">
                <a:solidFill>
                  <a:schemeClr val="accent6"/>
                </a:solidFill>
              </a:rPr>
              <a:t>KNOWN</a:t>
            </a:r>
          </a:p>
        </p:txBody>
      </p:sp>
      <p:sp>
        <p:nvSpPr>
          <p:cNvPr id="26" name="Text Box 47">
            <a:extLst>
              <a:ext uri="{FF2B5EF4-FFF2-40B4-BE49-F238E27FC236}">
                <a16:creationId xmlns:a16="http://schemas.microsoft.com/office/drawing/2014/main" id="{BCD3E982-9191-BF42-B769-D0DBDCD433F4}"/>
              </a:ext>
            </a:extLst>
          </p:cNvPr>
          <p:cNvSpPr txBox="1">
            <a:spLocks noChangeArrowheads="1"/>
          </p:cNvSpPr>
          <p:nvPr>
            <p:custDataLst>
              <p:tags r:id="rId1"/>
            </p:custDataLst>
          </p:nvPr>
        </p:nvSpPr>
        <p:spPr bwMode="auto">
          <a:xfrm>
            <a:off x="2602304" y="3677968"/>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7??</a:t>
            </a:r>
            <a:endParaRPr lang="en-US" sz="2000" dirty="0">
              <a:solidFill>
                <a:srgbClr val="FF0000"/>
              </a:solidFill>
              <a:latin typeface="Calibri" panose="020F0502020204030204" pitchFamily="34" charset="0"/>
              <a:cs typeface="Calibri" panose="020F0502020204030204" pitchFamily="34" charset="0"/>
            </a:endParaRPr>
          </a:p>
        </p:txBody>
      </p:sp>
      <p:sp>
        <p:nvSpPr>
          <p:cNvPr id="29" name="Text Box 54">
            <a:extLst>
              <a:ext uri="{FF2B5EF4-FFF2-40B4-BE49-F238E27FC236}">
                <a16:creationId xmlns:a16="http://schemas.microsoft.com/office/drawing/2014/main" id="{B7ACE27B-7407-1E49-8CBD-D6154157CF5D}"/>
              </a:ext>
            </a:extLst>
          </p:cNvPr>
          <p:cNvSpPr txBox="1">
            <a:spLocks noChangeArrowheads="1"/>
          </p:cNvSpPr>
          <p:nvPr>
            <p:custDataLst>
              <p:tags r:id="rId2"/>
            </p:custDataLst>
          </p:nvPr>
        </p:nvSpPr>
        <p:spPr bwMode="auto">
          <a:xfrm>
            <a:off x="2416153" y="3198167"/>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30" name="Text Box 54">
            <a:extLst>
              <a:ext uri="{FF2B5EF4-FFF2-40B4-BE49-F238E27FC236}">
                <a16:creationId xmlns:a16="http://schemas.microsoft.com/office/drawing/2014/main" id="{5A0C4C4F-583B-7B4F-926B-6BDACA7F4B79}"/>
              </a:ext>
            </a:extLst>
          </p:cNvPr>
          <p:cNvSpPr txBox="1">
            <a:spLocks noChangeArrowheads="1"/>
          </p:cNvSpPr>
          <p:nvPr>
            <p:custDataLst>
              <p:tags r:id="rId3"/>
            </p:custDataLst>
          </p:nvPr>
        </p:nvSpPr>
        <p:spPr bwMode="auto">
          <a:xfrm>
            <a:off x="3214521" y="2628611"/>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cxnSp>
        <p:nvCxnSpPr>
          <p:cNvPr id="32" name="AutoShape 32">
            <a:extLst>
              <a:ext uri="{FF2B5EF4-FFF2-40B4-BE49-F238E27FC236}">
                <a16:creationId xmlns:a16="http://schemas.microsoft.com/office/drawing/2014/main" id="{2C03EB4C-4DF3-EE4F-A552-74FE74667D06}"/>
              </a:ext>
            </a:extLst>
          </p:cNvPr>
          <p:cNvCxnSpPr>
            <a:cxnSpLocks noChangeShapeType="1"/>
            <a:stCxn id="59" idx="2"/>
            <a:endCxn id="15" idx="0"/>
          </p:cNvCxnSpPr>
          <p:nvPr>
            <p:custDataLst>
              <p:tags r:id="rId4"/>
            </p:custDataLst>
          </p:nvPr>
        </p:nvCxnSpPr>
        <p:spPr bwMode="auto">
          <a:xfrm>
            <a:off x="2373038" y="2981949"/>
            <a:ext cx="197122" cy="1028110"/>
          </a:xfrm>
          <a:prstGeom prst="straightConnector1">
            <a:avLst/>
          </a:prstGeom>
          <a:noFill/>
          <a:ln w="9525">
            <a:solidFill>
              <a:schemeClr val="tx1"/>
            </a:solidFill>
            <a:round/>
            <a:headEnd/>
            <a:tailEnd type="triangle" w="med" len="med"/>
          </a:ln>
        </p:spPr>
      </p:cxnSp>
      <p:sp>
        <p:nvSpPr>
          <p:cNvPr id="37" name="Google Shape;752;p43">
            <a:extLst>
              <a:ext uri="{FF2B5EF4-FFF2-40B4-BE49-F238E27FC236}">
                <a16:creationId xmlns:a16="http://schemas.microsoft.com/office/drawing/2014/main" id="{1F5309C3-1849-0D4A-9B39-18D682EF1E3A}"/>
              </a:ext>
            </a:extLst>
          </p:cNvPr>
          <p:cNvSpPr/>
          <p:nvPr/>
        </p:nvSpPr>
        <p:spPr>
          <a:xfrm>
            <a:off x="3762790" y="3189164"/>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cxnSp>
        <p:nvCxnSpPr>
          <p:cNvPr id="45" name="AutoShape 32">
            <a:extLst>
              <a:ext uri="{FF2B5EF4-FFF2-40B4-BE49-F238E27FC236}">
                <a16:creationId xmlns:a16="http://schemas.microsoft.com/office/drawing/2014/main" id="{BCE77C57-E868-C343-AB2C-C1393A437080}"/>
              </a:ext>
            </a:extLst>
          </p:cNvPr>
          <p:cNvCxnSpPr>
            <a:cxnSpLocks noChangeShapeType="1"/>
            <a:stCxn id="59" idx="3"/>
            <a:endCxn id="37" idx="0"/>
          </p:cNvCxnSpPr>
          <p:nvPr>
            <p:custDataLst>
              <p:tags r:id="rId5"/>
            </p:custDataLst>
          </p:nvPr>
        </p:nvCxnSpPr>
        <p:spPr bwMode="auto">
          <a:xfrm>
            <a:off x="2584638" y="2813349"/>
            <a:ext cx="1389752" cy="375815"/>
          </a:xfrm>
          <a:prstGeom prst="straightConnector1">
            <a:avLst/>
          </a:prstGeom>
          <a:noFill/>
          <a:ln w="9525">
            <a:solidFill>
              <a:schemeClr val="tx1"/>
            </a:solidFill>
            <a:round/>
            <a:headEnd/>
            <a:tailEnd type="triangle" w="med" len="med"/>
          </a:ln>
        </p:spPr>
      </p:cxnSp>
      <p:cxnSp>
        <p:nvCxnSpPr>
          <p:cNvPr id="51" name="AutoShape 32">
            <a:extLst>
              <a:ext uri="{FF2B5EF4-FFF2-40B4-BE49-F238E27FC236}">
                <a16:creationId xmlns:a16="http://schemas.microsoft.com/office/drawing/2014/main" id="{8D07B29F-F59D-2543-8636-B6EB9BBB1CC2}"/>
              </a:ext>
            </a:extLst>
          </p:cNvPr>
          <p:cNvCxnSpPr>
            <a:cxnSpLocks noChangeShapeType="1"/>
            <a:stCxn id="37" idx="2"/>
            <a:endCxn id="15" idx="3"/>
          </p:cNvCxnSpPr>
          <p:nvPr>
            <p:custDataLst>
              <p:tags r:id="rId6"/>
            </p:custDataLst>
          </p:nvPr>
        </p:nvCxnSpPr>
        <p:spPr bwMode="auto">
          <a:xfrm flipH="1">
            <a:off x="2781760" y="3526364"/>
            <a:ext cx="1192630" cy="652295"/>
          </a:xfrm>
          <a:prstGeom prst="straightConnector1">
            <a:avLst/>
          </a:prstGeom>
          <a:noFill/>
          <a:ln w="9525">
            <a:solidFill>
              <a:schemeClr val="tx1"/>
            </a:solidFill>
            <a:round/>
            <a:headEnd/>
            <a:tailEnd type="triangle" w="med" len="med"/>
          </a:ln>
        </p:spPr>
      </p:cxnSp>
      <p:sp>
        <p:nvSpPr>
          <p:cNvPr id="58" name="Text Box 54">
            <a:extLst>
              <a:ext uri="{FF2B5EF4-FFF2-40B4-BE49-F238E27FC236}">
                <a16:creationId xmlns:a16="http://schemas.microsoft.com/office/drawing/2014/main" id="{5B1FC8FD-9A33-0B40-9831-859B9F244C72}"/>
              </a:ext>
            </a:extLst>
          </p:cNvPr>
          <p:cNvSpPr txBox="1">
            <a:spLocks noChangeArrowheads="1"/>
          </p:cNvSpPr>
          <p:nvPr>
            <p:custDataLst>
              <p:tags r:id="rId7"/>
            </p:custDataLst>
          </p:nvPr>
        </p:nvSpPr>
        <p:spPr bwMode="auto">
          <a:xfrm>
            <a:off x="3365381" y="3725148"/>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1</a:t>
            </a:r>
          </a:p>
        </p:txBody>
      </p:sp>
      <p:sp>
        <p:nvSpPr>
          <p:cNvPr id="59" name="Google Shape;752;p43">
            <a:extLst>
              <a:ext uri="{FF2B5EF4-FFF2-40B4-BE49-F238E27FC236}">
                <a16:creationId xmlns:a16="http://schemas.microsoft.com/office/drawing/2014/main" id="{F5A96F77-9451-574B-9430-A45E148FFD16}"/>
              </a:ext>
            </a:extLst>
          </p:cNvPr>
          <p:cNvSpPr/>
          <p:nvPr/>
        </p:nvSpPr>
        <p:spPr>
          <a:xfrm>
            <a:off x="2161438" y="264474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sz="2133" dirty="0">
              <a:latin typeface="Calibri" panose="020F0502020204030204" pitchFamily="34" charset="0"/>
              <a:cs typeface="Calibri" panose="020F0502020204030204" pitchFamily="34" charset="0"/>
            </a:endParaRPr>
          </a:p>
        </p:txBody>
      </p:sp>
      <p:sp>
        <p:nvSpPr>
          <p:cNvPr id="64" name="Text Box 47">
            <a:extLst>
              <a:ext uri="{FF2B5EF4-FFF2-40B4-BE49-F238E27FC236}">
                <a16:creationId xmlns:a16="http://schemas.microsoft.com/office/drawing/2014/main" id="{7BF58D7B-071C-BB4C-9A77-990F10A406C4}"/>
              </a:ext>
            </a:extLst>
          </p:cNvPr>
          <p:cNvSpPr txBox="1">
            <a:spLocks noChangeArrowheads="1"/>
          </p:cNvSpPr>
          <p:nvPr>
            <p:custDataLst>
              <p:tags r:id="rId8"/>
            </p:custDataLst>
          </p:nvPr>
        </p:nvSpPr>
        <p:spPr bwMode="auto">
          <a:xfrm>
            <a:off x="2449309" y="2311487"/>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5</a:t>
            </a:r>
            <a:endParaRPr lang="en-US" sz="2000" dirty="0">
              <a:solidFill>
                <a:srgbClr val="FF0000"/>
              </a:solidFill>
              <a:latin typeface="Calibri" panose="020F0502020204030204" pitchFamily="34" charset="0"/>
              <a:cs typeface="Calibri" panose="020F0502020204030204" pitchFamily="34" charset="0"/>
            </a:endParaRPr>
          </a:p>
        </p:txBody>
      </p:sp>
      <p:sp>
        <p:nvSpPr>
          <p:cNvPr id="65" name="Text Box 47">
            <a:extLst>
              <a:ext uri="{FF2B5EF4-FFF2-40B4-BE49-F238E27FC236}">
                <a16:creationId xmlns:a16="http://schemas.microsoft.com/office/drawing/2014/main" id="{1F80B96F-60B6-EC44-B650-0B23AA7DD8D7}"/>
              </a:ext>
            </a:extLst>
          </p:cNvPr>
          <p:cNvSpPr txBox="1">
            <a:spLocks noChangeArrowheads="1"/>
          </p:cNvSpPr>
          <p:nvPr>
            <p:custDataLst>
              <p:tags r:id="rId9"/>
            </p:custDataLst>
          </p:nvPr>
        </p:nvSpPr>
        <p:spPr bwMode="auto">
          <a:xfrm>
            <a:off x="4040322" y="2861637"/>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6</a:t>
            </a:r>
            <a:endParaRPr lang="en-US" sz="2000" dirty="0">
              <a:solidFill>
                <a:srgbClr val="FF0000"/>
              </a:solidFill>
              <a:latin typeface="Calibri" panose="020F0502020204030204" pitchFamily="34" charset="0"/>
              <a:cs typeface="Calibri" panose="020F0502020204030204" pitchFamily="34" charset="0"/>
            </a:endParaRPr>
          </a:p>
        </p:txBody>
      </p:sp>
      <p:sp>
        <p:nvSpPr>
          <p:cNvPr id="66" name="Content Placeholder 2">
            <a:extLst>
              <a:ext uri="{FF2B5EF4-FFF2-40B4-BE49-F238E27FC236}">
                <a16:creationId xmlns:a16="http://schemas.microsoft.com/office/drawing/2014/main" id="{60EEC5DD-F3FD-2344-8058-5306AB663C39}"/>
              </a:ext>
            </a:extLst>
          </p:cNvPr>
          <p:cNvSpPr txBox="1">
            <a:spLocks/>
          </p:cNvSpPr>
          <p:nvPr/>
        </p:nvSpPr>
        <p:spPr>
          <a:xfrm>
            <a:off x="233573" y="4697486"/>
            <a:ext cx="5045476" cy="1817049"/>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Example</a:t>
            </a:r>
            <a:r>
              <a:rPr lang="en-US" sz="2400" dirty="0"/>
              <a:t>:</a:t>
            </a:r>
          </a:p>
          <a:p>
            <a:r>
              <a:rPr lang="en-US" sz="2400" dirty="0"/>
              <a:t>We’re about to add X to the known set</a:t>
            </a:r>
          </a:p>
          <a:p>
            <a:r>
              <a:rPr lang="en-US" sz="2400" dirty="0"/>
              <a:t>But how can we be sure we won’t later find a path through some node A that is shorter to X?</a:t>
            </a:r>
          </a:p>
          <a:p>
            <a:r>
              <a:rPr lang="en-US" sz="2400" dirty="0"/>
              <a:t>Because </a:t>
            </a:r>
            <a:r>
              <a:rPr lang="en-US" sz="2400" i="1" dirty="0"/>
              <a:t>if we could, Dijkstra’s would explore A first</a:t>
            </a:r>
            <a:endParaRPr lang="en-US" sz="2000" i="1" dirty="0"/>
          </a:p>
        </p:txBody>
      </p:sp>
      <p:sp>
        <p:nvSpPr>
          <p:cNvPr id="22" name="Down Arrow 21">
            <a:extLst>
              <a:ext uri="{FF2B5EF4-FFF2-40B4-BE49-F238E27FC236}">
                <a16:creationId xmlns:a16="http://schemas.microsoft.com/office/drawing/2014/main" id="{C68057D7-C42C-DA49-BC0A-B494E0C25C2C}"/>
              </a:ext>
            </a:extLst>
          </p:cNvPr>
          <p:cNvSpPr/>
          <p:nvPr/>
        </p:nvSpPr>
        <p:spPr>
          <a:xfrm>
            <a:off x="8440736" y="3423634"/>
            <a:ext cx="452487" cy="495030"/>
          </a:xfrm>
          <a:prstGeom prst="downArrow">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463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F5242-456F-2048-A0C7-6857C7DF9869}"/>
              </a:ext>
            </a:extLst>
          </p:cNvPr>
          <p:cNvSpPr>
            <a:spLocks noGrp="1"/>
          </p:cNvSpPr>
          <p:nvPr>
            <p:ph type="title"/>
          </p:nvPr>
        </p:nvSpPr>
        <p:spPr/>
        <p:txBody>
          <a:bodyPr/>
          <a:lstStyle/>
          <a:p>
            <a:r>
              <a:rPr lang="en-US" dirty="0"/>
              <a:t>When </a:t>
            </a:r>
            <a:r>
              <a:rPr lang="en-US" i="1" dirty="0"/>
              <a:t>Doesn’t</a:t>
            </a:r>
            <a:r>
              <a:rPr lang="en-US" dirty="0"/>
              <a:t> Dijkstra’s Work?</a:t>
            </a:r>
          </a:p>
        </p:txBody>
      </p:sp>
      <p:sp>
        <p:nvSpPr>
          <p:cNvPr id="4" name="Freeform 3">
            <a:extLst>
              <a:ext uri="{FF2B5EF4-FFF2-40B4-BE49-F238E27FC236}">
                <a16:creationId xmlns:a16="http://schemas.microsoft.com/office/drawing/2014/main" id="{89882478-05A5-9C4B-BFCE-40F965C8F5C2}"/>
              </a:ext>
            </a:extLst>
          </p:cNvPr>
          <p:cNvSpPr/>
          <p:nvPr/>
        </p:nvSpPr>
        <p:spPr>
          <a:xfrm>
            <a:off x="777724" y="1467225"/>
            <a:ext cx="2335396" cy="2084345"/>
          </a:xfrm>
          <a:custGeom>
            <a:avLst/>
            <a:gdLst>
              <a:gd name="connsiteX0" fmla="*/ 1284051 w 1857983"/>
              <a:gd name="connsiteY0" fmla="*/ 112319 h 1834115"/>
              <a:gd name="connsiteX1" fmla="*/ 1147864 w 1857983"/>
              <a:gd name="connsiteY1" fmla="*/ 102592 h 1834115"/>
              <a:gd name="connsiteX2" fmla="*/ 1060315 w 1857983"/>
              <a:gd name="connsiteY2" fmla="*/ 63681 h 1834115"/>
              <a:gd name="connsiteX3" fmla="*/ 1011677 w 1857983"/>
              <a:gd name="connsiteY3" fmla="*/ 53953 h 1834115"/>
              <a:gd name="connsiteX4" fmla="*/ 875489 w 1857983"/>
              <a:gd name="connsiteY4" fmla="*/ 24770 h 1834115"/>
              <a:gd name="connsiteX5" fmla="*/ 486383 w 1857983"/>
              <a:gd name="connsiteY5" fmla="*/ 24770 h 1834115"/>
              <a:gd name="connsiteX6" fmla="*/ 389106 w 1857983"/>
              <a:gd name="connsiteY6" fmla="*/ 34498 h 1834115"/>
              <a:gd name="connsiteX7" fmla="*/ 340468 w 1857983"/>
              <a:gd name="connsiteY7" fmla="*/ 44226 h 1834115"/>
              <a:gd name="connsiteX8" fmla="*/ 291830 w 1857983"/>
              <a:gd name="connsiteY8" fmla="*/ 63681 h 1834115"/>
              <a:gd name="connsiteX9" fmla="*/ 252919 w 1857983"/>
              <a:gd name="connsiteY9" fmla="*/ 73409 h 1834115"/>
              <a:gd name="connsiteX10" fmla="*/ 223736 w 1857983"/>
              <a:gd name="connsiteY10" fmla="*/ 92864 h 1834115"/>
              <a:gd name="connsiteX11" fmla="*/ 155643 w 1857983"/>
              <a:gd name="connsiteY11" fmla="*/ 122047 h 1834115"/>
              <a:gd name="connsiteX12" fmla="*/ 136187 w 1857983"/>
              <a:gd name="connsiteY12" fmla="*/ 141502 h 1834115"/>
              <a:gd name="connsiteX13" fmla="*/ 97277 w 1857983"/>
              <a:gd name="connsiteY13" fmla="*/ 170685 h 1834115"/>
              <a:gd name="connsiteX14" fmla="*/ 77821 w 1857983"/>
              <a:gd name="connsiteY14" fmla="*/ 199868 h 1834115"/>
              <a:gd name="connsiteX15" fmla="*/ 38911 w 1857983"/>
              <a:gd name="connsiteY15" fmla="*/ 248507 h 1834115"/>
              <a:gd name="connsiteX16" fmla="*/ 29183 w 1857983"/>
              <a:gd name="connsiteY16" fmla="*/ 277690 h 1834115"/>
              <a:gd name="connsiteX17" fmla="*/ 0 w 1857983"/>
              <a:gd name="connsiteY17" fmla="*/ 365238 h 1834115"/>
              <a:gd name="connsiteX18" fmla="*/ 9728 w 1857983"/>
              <a:gd name="connsiteY18" fmla="*/ 666796 h 1834115"/>
              <a:gd name="connsiteX19" fmla="*/ 38911 w 1857983"/>
              <a:gd name="connsiteY19" fmla="*/ 812711 h 1834115"/>
              <a:gd name="connsiteX20" fmla="*/ 58366 w 1857983"/>
              <a:gd name="connsiteY20" fmla="*/ 890532 h 1834115"/>
              <a:gd name="connsiteX21" fmla="*/ 97277 w 1857983"/>
              <a:gd name="connsiteY21" fmla="*/ 987809 h 1834115"/>
              <a:gd name="connsiteX22" fmla="*/ 116732 w 1857983"/>
              <a:gd name="connsiteY22" fmla="*/ 1065630 h 1834115"/>
              <a:gd name="connsiteX23" fmla="*/ 126460 w 1857983"/>
              <a:gd name="connsiteY23" fmla="*/ 1094813 h 1834115"/>
              <a:gd name="connsiteX24" fmla="*/ 136187 w 1857983"/>
              <a:gd name="connsiteY24" fmla="*/ 1143451 h 1834115"/>
              <a:gd name="connsiteX25" fmla="*/ 175098 w 1857983"/>
              <a:gd name="connsiteY25" fmla="*/ 1289366 h 1834115"/>
              <a:gd name="connsiteX26" fmla="*/ 204281 w 1857983"/>
              <a:gd name="connsiteY26" fmla="*/ 1396370 h 1834115"/>
              <a:gd name="connsiteX27" fmla="*/ 243191 w 1857983"/>
              <a:gd name="connsiteY27" fmla="*/ 1483919 h 1834115"/>
              <a:gd name="connsiteX28" fmla="*/ 282102 w 1857983"/>
              <a:gd name="connsiteY28" fmla="*/ 1561741 h 1834115"/>
              <a:gd name="connsiteX29" fmla="*/ 291830 w 1857983"/>
              <a:gd name="connsiteY29" fmla="*/ 1590924 h 1834115"/>
              <a:gd name="connsiteX30" fmla="*/ 389106 w 1857983"/>
              <a:gd name="connsiteY30" fmla="*/ 1707656 h 1834115"/>
              <a:gd name="connsiteX31" fmla="*/ 447472 w 1857983"/>
              <a:gd name="connsiteY31" fmla="*/ 1756294 h 1834115"/>
              <a:gd name="connsiteX32" fmla="*/ 476655 w 1857983"/>
              <a:gd name="connsiteY32" fmla="*/ 1775749 h 1834115"/>
              <a:gd name="connsiteX33" fmla="*/ 505838 w 1857983"/>
              <a:gd name="connsiteY33" fmla="*/ 1785477 h 1834115"/>
              <a:gd name="connsiteX34" fmla="*/ 535021 w 1857983"/>
              <a:gd name="connsiteY34" fmla="*/ 1804932 h 1834115"/>
              <a:gd name="connsiteX35" fmla="*/ 573932 w 1857983"/>
              <a:gd name="connsiteY35" fmla="*/ 1814660 h 1834115"/>
              <a:gd name="connsiteX36" fmla="*/ 651753 w 1857983"/>
              <a:gd name="connsiteY36" fmla="*/ 1834115 h 1834115"/>
              <a:gd name="connsiteX37" fmla="*/ 885217 w 1857983"/>
              <a:gd name="connsiteY37" fmla="*/ 1824387 h 1834115"/>
              <a:gd name="connsiteX38" fmla="*/ 963038 w 1857983"/>
              <a:gd name="connsiteY38" fmla="*/ 1804932 h 1834115"/>
              <a:gd name="connsiteX39" fmla="*/ 1001949 w 1857983"/>
              <a:gd name="connsiteY39" fmla="*/ 1785477 h 1834115"/>
              <a:gd name="connsiteX40" fmla="*/ 1050587 w 1857983"/>
              <a:gd name="connsiteY40" fmla="*/ 1775749 h 1834115"/>
              <a:gd name="connsiteX41" fmla="*/ 1079770 w 1857983"/>
              <a:gd name="connsiteY41" fmla="*/ 1756294 h 1834115"/>
              <a:gd name="connsiteX42" fmla="*/ 1118681 w 1857983"/>
              <a:gd name="connsiteY42" fmla="*/ 1736838 h 1834115"/>
              <a:gd name="connsiteX43" fmla="*/ 1157591 w 1857983"/>
              <a:gd name="connsiteY43" fmla="*/ 1707656 h 1834115"/>
              <a:gd name="connsiteX44" fmla="*/ 1186774 w 1857983"/>
              <a:gd name="connsiteY44" fmla="*/ 1688200 h 1834115"/>
              <a:gd name="connsiteX45" fmla="*/ 1235413 w 1857983"/>
              <a:gd name="connsiteY45" fmla="*/ 1639562 h 1834115"/>
              <a:gd name="connsiteX46" fmla="*/ 1254868 w 1857983"/>
              <a:gd name="connsiteY46" fmla="*/ 1610379 h 1834115"/>
              <a:gd name="connsiteX47" fmla="*/ 1313234 w 1857983"/>
              <a:gd name="connsiteY47" fmla="*/ 1571468 h 1834115"/>
              <a:gd name="connsiteX48" fmla="*/ 1429966 w 1857983"/>
              <a:gd name="connsiteY48" fmla="*/ 1464464 h 1834115"/>
              <a:gd name="connsiteX49" fmla="*/ 1449421 w 1857983"/>
              <a:gd name="connsiteY49" fmla="*/ 1435281 h 1834115"/>
              <a:gd name="connsiteX50" fmla="*/ 1459149 w 1857983"/>
              <a:gd name="connsiteY50" fmla="*/ 1406098 h 1834115"/>
              <a:gd name="connsiteX51" fmla="*/ 1488332 w 1857983"/>
              <a:gd name="connsiteY51" fmla="*/ 1376915 h 1834115"/>
              <a:gd name="connsiteX52" fmla="*/ 1527243 w 1857983"/>
              <a:gd name="connsiteY52" fmla="*/ 1318549 h 1834115"/>
              <a:gd name="connsiteX53" fmla="*/ 1566153 w 1857983"/>
              <a:gd name="connsiteY53" fmla="*/ 1260183 h 1834115"/>
              <a:gd name="connsiteX54" fmla="*/ 1585608 w 1857983"/>
              <a:gd name="connsiteY54" fmla="*/ 1231000 h 1834115"/>
              <a:gd name="connsiteX55" fmla="*/ 1605064 w 1857983"/>
              <a:gd name="connsiteY55" fmla="*/ 1201817 h 1834115"/>
              <a:gd name="connsiteX56" fmla="*/ 1663430 w 1857983"/>
              <a:gd name="connsiteY56" fmla="*/ 1094813 h 1834115"/>
              <a:gd name="connsiteX57" fmla="*/ 1682885 w 1857983"/>
              <a:gd name="connsiteY57" fmla="*/ 1065630 h 1834115"/>
              <a:gd name="connsiteX58" fmla="*/ 1702340 w 1857983"/>
              <a:gd name="connsiteY58" fmla="*/ 1036447 h 1834115"/>
              <a:gd name="connsiteX59" fmla="*/ 1721796 w 1857983"/>
              <a:gd name="connsiteY59" fmla="*/ 1016992 h 1834115"/>
              <a:gd name="connsiteX60" fmla="*/ 1750979 w 1857983"/>
              <a:gd name="connsiteY60" fmla="*/ 948898 h 1834115"/>
              <a:gd name="connsiteX61" fmla="*/ 1789889 w 1857983"/>
              <a:gd name="connsiteY61" fmla="*/ 890532 h 1834115"/>
              <a:gd name="connsiteX62" fmla="*/ 1809345 w 1857983"/>
              <a:gd name="connsiteY62" fmla="*/ 861349 h 1834115"/>
              <a:gd name="connsiteX63" fmla="*/ 1838528 w 1857983"/>
              <a:gd name="connsiteY63" fmla="*/ 773800 h 1834115"/>
              <a:gd name="connsiteX64" fmla="*/ 1848255 w 1857983"/>
              <a:gd name="connsiteY64" fmla="*/ 744617 h 1834115"/>
              <a:gd name="connsiteX65" fmla="*/ 1857983 w 1857983"/>
              <a:gd name="connsiteY65" fmla="*/ 695979 h 1834115"/>
              <a:gd name="connsiteX66" fmla="*/ 1848255 w 1857983"/>
              <a:gd name="connsiteY66" fmla="*/ 462515 h 1834115"/>
              <a:gd name="connsiteX67" fmla="*/ 1838528 w 1857983"/>
              <a:gd name="connsiteY67" fmla="*/ 433332 h 1834115"/>
              <a:gd name="connsiteX68" fmla="*/ 1789889 w 1857983"/>
              <a:gd name="connsiteY68" fmla="*/ 384694 h 1834115"/>
              <a:gd name="connsiteX69" fmla="*/ 1760706 w 1857983"/>
              <a:gd name="connsiteY69" fmla="*/ 355511 h 1834115"/>
              <a:gd name="connsiteX70" fmla="*/ 1721796 w 1857983"/>
              <a:gd name="connsiteY70" fmla="*/ 336056 h 1834115"/>
              <a:gd name="connsiteX71" fmla="*/ 1702340 w 1857983"/>
              <a:gd name="connsiteY71" fmla="*/ 316600 h 1834115"/>
              <a:gd name="connsiteX72" fmla="*/ 1643974 w 1857983"/>
              <a:gd name="connsiteY72" fmla="*/ 277690 h 1834115"/>
              <a:gd name="connsiteX73" fmla="*/ 1624519 w 1857983"/>
              <a:gd name="connsiteY73" fmla="*/ 258234 h 1834115"/>
              <a:gd name="connsiteX74" fmla="*/ 1566153 w 1857983"/>
              <a:gd name="connsiteY74" fmla="*/ 219324 h 1834115"/>
              <a:gd name="connsiteX75" fmla="*/ 1527243 w 1857983"/>
              <a:gd name="connsiteY75" fmla="*/ 209596 h 1834115"/>
              <a:gd name="connsiteX76" fmla="*/ 1468877 w 1857983"/>
              <a:gd name="connsiteY76" fmla="*/ 190141 h 1834115"/>
              <a:gd name="connsiteX77" fmla="*/ 1420238 w 1857983"/>
              <a:gd name="connsiteY77" fmla="*/ 180413 h 1834115"/>
              <a:gd name="connsiteX78" fmla="*/ 1381328 w 1857983"/>
              <a:gd name="connsiteY78" fmla="*/ 160958 h 1834115"/>
              <a:gd name="connsiteX79" fmla="*/ 1342417 w 1857983"/>
              <a:gd name="connsiteY79" fmla="*/ 151230 h 1834115"/>
              <a:gd name="connsiteX80" fmla="*/ 1284051 w 1857983"/>
              <a:gd name="connsiteY80" fmla="*/ 112319 h 183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857983" h="1834115">
                <a:moveTo>
                  <a:pt x="1284051" y="112319"/>
                </a:moveTo>
                <a:cubicBezTo>
                  <a:pt x="1251626" y="104213"/>
                  <a:pt x="1192337" y="112260"/>
                  <a:pt x="1147864" y="102592"/>
                </a:cubicBezTo>
                <a:cubicBezTo>
                  <a:pt x="1116657" y="95808"/>
                  <a:pt x="1090390" y="74422"/>
                  <a:pt x="1060315" y="63681"/>
                </a:cubicBezTo>
                <a:cubicBezTo>
                  <a:pt x="1044744" y="58120"/>
                  <a:pt x="1027628" y="58303"/>
                  <a:pt x="1011677" y="53953"/>
                </a:cubicBezTo>
                <a:cubicBezTo>
                  <a:pt x="894393" y="21966"/>
                  <a:pt x="1017151" y="42478"/>
                  <a:pt x="875489" y="24770"/>
                </a:cubicBezTo>
                <a:cubicBezTo>
                  <a:pt x="733753" y="-22472"/>
                  <a:pt x="841264" y="9669"/>
                  <a:pt x="486383" y="24770"/>
                </a:cubicBezTo>
                <a:cubicBezTo>
                  <a:pt x="453825" y="26155"/>
                  <a:pt x="421532" y="31255"/>
                  <a:pt x="389106" y="34498"/>
                </a:cubicBezTo>
                <a:cubicBezTo>
                  <a:pt x="372893" y="37741"/>
                  <a:pt x="356304" y="39475"/>
                  <a:pt x="340468" y="44226"/>
                </a:cubicBezTo>
                <a:cubicBezTo>
                  <a:pt x="323743" y="49244"/>
                  <a:pt x="308395" y="58159"/>
                  <a:pt x="291830" y="63681"/>
                </a:cubicBezTo>
                <a:cubicBezTo>
                  <a:pt x="279147" y="67909"/>
                  <a:pt x="265889" y="70166"/>
                  <a:pt x="252919" y="73409"/>
                </a:cubicBezTo>
                <a:cubicBezTo>
                  <a:pt x="243191" y="79894"/>
                  <a:pt x="234193" y="87636"/>
                  <a:pt x="223736" y="92864"/>
                </a:cubicBezTo>
                <a:cubicBezTo>
                  <a:pt x="171856" y="118804"/>
                  <a:pt x="216368" y="81565"/>
                  <a:pt x="155643" y="122047"/>
                </a:cubicBezTo>
                <a:cubicBezTo>
                  <a:pt x="148012" y="127134"/>
                  <a:pt x="143233" y="135631"/>
                  <a:pt x="136187" y="141502"/>
                </a:cubicBezTo>
                <a:cubicBezTo>
                  <a:pt x="123732" y="151881"/>
                  <a:pt x="108741" y="159221"/>
                  <a:pt x="97277" y="170685"/>
                </a:cubicBezTo>
                <a:cubicBezTo>
                  <a:pt x="89010" y="178952"/>
                  <a:pt x="85124" y="190739"/>
                  <a:pt x="77821" y="199868"/>
                </a:cubicBezTo>
                <a:cubicBezTo>
                  <a:pt x="53695" y="230026"/>
                  <a:pt x="58870" y="208590"/>
                  <a:pt x="38911" y="248507"/>
                </a:cubicBezTo>
                <a:cubicBezTo>
                  <a:pt x="34325" y="257678"/>
                  <a:pt x="32783" y="268089"/>
                  <a:pt x="29183" y="277690"/>
                </a:cubicBezTo>
                <a:cubicBezTo>
                  <a:pt x="1711" y="350950"/>
                  <a:pt x="16300" y="300041"/>
                  <a:pt x="0" y="365238"/>
                </a:cubicBezTo>
                <a:cubicBezTo>
                  <a:pt x="3243" y="465757"/>
                  <a:pt x="1015" y="566602"/>
                  <a:pt x="9728" y="666796"/>
                </a:cubicBezTo>
                <a:cubicBezTo>
                  <a:pt x="14025" y="716211"/>
                  <a:pt x="26881" y="764590"/>
                  <a:pt x="38911" y="812711"/>
                </a:cubicBezTo>
                <a:cubicBezTo>
                  <a:pt x="45396" y="838651"/>
                  <a:pt x="48435" y="865706"/>
                  <a:pt x="58366" y="890532"/>
                </a:cubicBezTo>
                <a:cubicBezTo>
                  <a:pt x="71336" y="922958"/>
                  <a:pt x="88807" y="953928"/>
                  <a:pt x="97277" y="987809"/>
                </a:cubicBezTo>
                <a:cubicBezTo>
                  <a:pt x="103762" y="1013749"/>
                  <a:pt x="108276" y="1040264"/>
                  <a:pt x="116732" y="1065630"/>
                </a:cubicBezTo>
                <a:cubicBezTo>
                  <a:pt x="119975" y="1075358"/>
                  <a:pt x="123973" y="1084865"/>
                  <a:pt x="126460" y="1094813"/>
                </a:cubicBezTo>
                <a:cubicBezTo>
                  <a:pt x="130470" y="1110853"/>
                  <a:pt x="132469" y="1127341"/>
                  <a:pt x="136187" y="1143451"/>
                </a:cubicBezTo>
                <a:cubicBezTo>
                  <a:pt x="159985" y="1246577"/>
                  <a:pt x="149518" y="1193441"/>
                  <a:pt x="175098" y="1289366"/>
                </a:cubicBezTo>
                <a:cubicBezTo>
                  <a:pt x="178602" y="1302508"/>
                  <a:pt x="193168" y="1370439"/>
                  <a:pt x="204281" y="1396370"/>
                </a:cubicBezTo>
                <a:cubicBezTo>
                  <a:pt x="240980" y="1482001"/>
                  <a:pt x="206990" y="1384366"/>
                  <a:pt x="243191" y="1483919"/>
                </a:cubicBezTo>
                <a:cubicBezTo>
                  <a:pt x="268740" y="1554179"/>
                  <a:pt x="246718" y="1526355"/>
                  <a:pt x="282102" y="1561741"/>
                </a:cubicBezTo>
                <a:cubicBezTo>
                  <a:pt x="285345" y="1571469"/>
                  <a:pt x="286850" y="1581960"/>
                  <a:pt x="291830" y="1590924"/>
                </a:cubicBezTo>
                <a:cubicBezTo>
                  <a:pt x="325688" y="1651869"/>
                  <a:pt x="338110" y="1656660"/>
                  <a:pt x="389106" y="1707656"/>
                </a:cubicBezTo>
                <a:cubicBezTo>
                  <a:pt x="416751" y="1735300"/>
                  <a:pt x="407015" y="1727396"/>
                  <a:pt x="447472" y="1756294"/>
                </a:cubicBezTo>
                <a:cubicBezTo>
                  <a:pt x="456985" y="1763089"/>
                  <a:pt x="466198" y="1770521"/>
                  <a:pt x="476655" y="1775749"/>
                </a:cubicBezTo>
                <a:cubicBezTo>
                  <a:pt x="485826" y="1780335"/>
                  <a:pt x="496667" y="1780891"/>
                  <a:pt x="505838" y="1785477"/>
                </a:cubicBezTo>
                <a:cubicBezTo>
                  <a:pt x="516295" y="1790705"/>
                  <a:pt x="524275" y="1800327"/>
                  <a:pt x="535021" y="1804932"/>
                </a:cubicBezTo>
                <a:cubicBezTo>
                  <a:pt x="547310" y="1810198"/>
                  <a:pt x="560881" y="1811760"/>
                  <a:pt x="573932" y="1814660"/>
                </a:cubicBezTo>
                <a:cubicBezTo>
                  <a:pt x="644366" y="1830312"/>
                  <a:pt x="599603" y="1816731"/>
                  <a:pt x="651753" y="1834115"/>
                </a:cubicBezTo>
                <a:cubicBezTo>
                  <a:pt x="729574" y="1830872"/>
                  <a:pt x="807513" y="1829746"/>
                  <a:pt x="885217" y="1824387"/>
                </a:cubicBezTo>
                <a:cubicBezTo>
                  <a:pt x="903367" y="1823135"/>
                  <a:pt x="943314" y="1813385"/>
                  <a:pt x="963038" y="1804932"/>
                </a:cubicBezTo>
                <a:cubicBezTo>
                  <a:pt x="976367" y="1799220"/>
                  <a:pt x="988192" y="1790063"/>
                  <a:pt x="1001949" y="1785477"/>
                </a:cubicBezTo>
                <a:cubicBezTo>
                  <a:pt x="1017634" y="1780249"/>
                  <a:pt x="1034374" y="1778992"/>
                  <a:pt x="1050587" y="1775749"/>
                </a:cubicBezTo>
                <a:cubicBezTo>
                  <a:pt x="1060315" y="1769264"/>
                  <a:pt x="1069619" y="1762094"/>
                  <a:pt x="1079770" y="1756294"/>
                </a:cubicBezTo>
                <a:cubicBezTo>
                  <a:pt x="1092361" y="1749099"/>
                  <a:pt x="1106384" y="1744524"/>
                  <a:pt x="1118681" y="1736838"/>
                </a:cubicBezTo>
                <a:cubicBezTo>
                  <a:pt x="1132429" y="1728245"/>
                  <a:pt x="1144398" y="1717079"/>
                  <a:pt x="1157591" y="1707656"/>
                </a:cubicBezTo>
                <a:cubicBezTo>
                  <a:pt x="1167105" y="1700861"/>
                  <a:pt x="1177975" y="1695899"/>
                  <a:pt x="1186774" y="1688200"/>
                </a:cubicBezTo>
                <a:cubicBezTo>
                  <a:pt x="1204029" y="1673102"/>
                  <a:pt x="1222695" y="1658640"/>
                  <a:pt x="1235413" y="1639562"/>
                </a:cubicBezTo>
                <a:cubicBezTo>
                  <a:pt x="1241898" y="1629834"/>
                  <a:pt x="1246070" y="1618078"/>
                  <a:pt x="1254868" y="1610379"/>
                </a:cubicBezTo>
                <a:cubicBezTo>
                  <a:pt x="1272465" y="1594981"/>
                  <a:pt x="1293779" y="1584438"/>
                  <a:pt x="1313234" y="1571468"/>
                </a:cubicBezTo>
                <a:cubicBezTo>
                  <a:pt x="1360472" y="1539976"/>
                  <a:pt x="1391638" y="1521957"/>
                  <a:pt x="1429966" y="1464464"/>
                </a:cubicBezTo>
                <a:cubicBezTo>
                  <a:pt x="1436451" y="1454736"/>
                  <a:pt x="1444193" y="1445738"/>
                  <a:pt x="1449421" y="1435281"/>
                </a:cubicBezTo>
                <a:cubicBezTo>
                  <a:pt x="1454007" y="1426110"/>
                  <a:pt x="1453461" y="1414630"/>
                  <a:pt x="1459149" y="1406098"/>
                </a:cubicBezTo>
                <a:cubicBezTo>
                  <a:pt x="1466780" y="1394652"/>
                  <a:pt x="1479886" y="1387774"/>
                  <a:pt x="1488332" y="1376915"/>
                </a:cubicBezTo>
                <a:cubicBezTo>
                  <a:pt x="1502687" y="1358458"/>
                  <a:pt x="1514273" y="1338004"/>
                  <a:pt x="1527243" y="1318549"/>
                </a:cubicBezTo>
                <a:lnTo>
                  <a:pt x="1566153" y="1260183"/>
                </a:lnTo>
                <a:lnTo>
                  <a:pt x="1585608" y="1231000"/>
                </a:lnTo>
                <a:cubicBezTo>
                  <a:pt x="1592093" y="1221272"/>
                  <a:pt x="1600722" y="1212672"/>
                  <a:pt x="1605064" y="1201817"/>
                </a:cubicBezTo>
                <a:cubicBezTo>
                  <a:pt x="1633203" y="1131468"/>
                  <a:pt x="1614832" y="1167709"/>
                  <a:pt x="1663430" y="1094813"/>
                </a:cubicBezTo>
                <a:lnTo>
                  <a:pt x="1682885" y="1065630"/>
                </a:lnTo>
                <a:cubicBezTo>
                  <a:pt x="1689370" y="1055902"/>
                  <a:pt x="1694073" y="1044714"/>
                  <a:pt x="1702340" y="1036447"/>
                </a:cubicBezTo>
                <a:lnTo>
                  <a:pt x="1721796" y="1016992"/>
                </a:lnTo>
                <a:cubicBezTo>
                  <a:pt x="1731860" y="986798"/>
                  <a:pt x="1732946" y="978953"/>
                  <a:pt x="1750979" y="948898"/>
                </a:cubicBezTo>
                <a:cubicBezTo>
                  <a:pt x="1763009" y="928848"/>
                  <a:pt x="1776919" y="909987"/>
                  <a:pt x="1789889" y="890532"/>
                </a:cubicBezTo>
                <a:lnTo>
                  <a:pt x="1809345" y="861349"/>
                </a:lnTo>
                <a:lnTo>
                  <a:pt x="1838528" y="773800"/>
                </a:lnTo>
                <a:cubicBezTo>
                  <a:pt x="1841770" y="764072"/>
                  <a:pt x="1846244" y="754672"/>
                  <a:pt x="1848255" y="744617"/>
                </a:cubicBezTo>
                <a:lnTo>
                  <a:pt x="1857983" y="695979"/>
                </a:lnTo>
                <a:cubicBezTo>
                  <a:pt x="1854740" y="618158"/>
                  <a:pt x="1854009" y="540191"/>
                  <a:pt x="1848255" y="462515"/>
                </a:cubicBezTo>
                <a:cubicBezTo>
                  <a:pt x="1847498" y="452289"/>
                  <a:pt x="1844680" y="441535"/>
                  <a:pt x="1838528" y="433332"/>
                </a:cubicBezTo>
                <a:cubicBezTo>
                  <a:pt x="1824771" y="414989"/>
                  <a:pt x="1806102" y="400907"/>
                  <a:pt x="1789889" y="384694"/>
                </a:cubicBezTo>
                <a:cubicBezTo>
                  <a:pt x="1780161" y="374966"/>
                  <a:pt x="1773011" y="361663"/>
                  <a:pt x="1760706" y="355511"/>
                </a:cubicBezTo>
                <a:cubicBezTo>
                  <a:pt x="1747736" y="349026"/>
                  <a:pt x="1733861" y="344100"/>
                  <a:pt x="1721796" y="336056"/>
                </a:cubicBezTo>
                <a:cubicBezTo>
                  <a:pt x="1714165" y="330968"/>
                  <a:pt x="1709677" y="322103"/>
                  <a:pt x="1702340" y="316600"/>
                </a:cubicBezTo>
                <a:cubicBezTo>
                  <a:pt x="1683634" y="302571"/>
                  <a:pt x="1660507" y="294224"/>
                  <a:pt x="1643974" y="277690"/>
                </a:cubicBezTo>
                <a:cubicBezTo>
                  <a:pt x="1637489" y="271205"/>
                  <a:pt x="1631856" y="263737"/>
                  <a:pt x="1624519" y="258234"/>
                </a:cubicBezTo>
                <a:cubicBezTo>
                  <a:pt x="1605813" y="244205"/>
                  <a:pt x="1588837" y="224995"/>
                  <a:pt x="1566153" y="219324"/>
                </a:cubicBezTo>
                <a:cubicBezTo>
                  <a:pt x="1553183" y="216081"/>
                  <a:pt x="1540048" y="213438"/>
                  <a:pt x="1527243" y="209596"/>
                </a:cubicBezTo>
                <a:cubicBezTo>
                  <a:pt x="1507600" y="203703"/>
                  <a:pt x="1488986" y="194163"/>
                  <a:pt x="1468877" y="190141"/>
                </a:cubicBezTo>
                <a:lnTo>
                  <a:pt x="1420238" y="180413"/>
                </a:lnTo>
                <a:cubicBezTo>
                  <a:pt x="1407268" y="173928"/>
                  <a:pt x="1394906" y="166050"/>
                  <a:pt x="1381328" y="160958"/>
                </a:cubicBezTo>
                <a:cubicBezTo>
                  <a:pt x="1368810" y="156264"/>
                  <a:pt x="1355223" y="155072"/>
                  <a:pt x="1342417" y="151230"/>
                </a:cubicBezTo>
                <a:cubicBezTo>
                  <a:pt x="1288044" y="134918"/>
                  <a:pt x="1316476" y="120425"/>
                  <a:pt x="1284051" y="112319"/>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752;p43">
            <a:extLst>
              <a:ext uri="{FF2B5EF4-FFF2-40B4-BE49-F238E27FC236}">
                <a16:creationId xmlns:a16="http://schemas.microsoft.com/office/drawing/2014/main" id="{BFA3B357-4C75-C74C-9672-D882E8D9ACE0}"/>
              </a:ext>
            </a:extLst>
          </p:cNvPr>
          <p:cNvSpPr/>
          <p:nvPr/>
        </p:nvSpPr>
        <p:spPr>
          <a:xfrm>
            <a:off x="2358560" y="401005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2133" dirty="0">
                <a:latin typeface="Calibri" panose="020F0502020204030204" pitchFamily="34" charset="0"/>
                <a:cs typeface="Calibri" panose="020F0502020204030204" pitchFamily="34" charset="0"/>
              </a:rPr>
              <a:t>X</a:t>
            </a:r>
            <a:endParaRPr sz="2133"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DB14DBB-162D-9441-A98B-BCFDF540CE35}"/>
              </a:ext>
            </a:extLst>
          </p:cNvPr>
          <p:cNvSpPr txBox="1"/>
          <p:nvPr/>
        </p:nvSpPr>
        <p:spPr>
          <a:xfrm>
            <a:off x="1424093" y="2247379"/>
            <a:ext cx="1042658" cy="369332"/>
          </a:xfrm>
          <a:prstGeom prst="rect">
            <a:avLst/>
          </a:prstGeom>
          <a:noFill/>
        </p:spPr>
        <p:txBody>
          <a:bodyPr wrap="none" rtlCol="0">
            <a:spAutoFit/>
          </a:bodyPr>
          <a:lstStyle/>
          <a:p>
            <a:r>
              <a:rPr lang="en-US" b="1" spc="100" dirty="0">
                <a:solidFill>
                  <a:schemeClr val="accent6"/>
                </a:solidFill>
              </a:rPr>
              <a:t>KNOWN</a:t>
            </a:r>
          </a:p>
        </p:txBody>
      </p:sp>
      <p:sp>
        <p:nvSpPr>
          <p:cNvPr id="7" name="Text Box 47">
            <a:extLst>
              <a:ext uri="{FF2B5EF4-FFF2-40B4-BE49-F238E27FC236}">
                <a16:creationId xmlns:a16="http://schemas.microsoft.com/office/drawing/2014/main" id="{0C09A784-1C81-8047-A099-5A3E1FE7B5B9}"/>
              </a:ext>
            </a:extLst>
          </p:cNvPr>
          <p:cNvSpPr txBox="1">
            <a:spLocks noChangeArrowheads="1"/>
          </p:cNvSpPr>
          <p:nvPr>
            <p:custDataLst>
              <p:tags r:id="rId1"/>
            </p:custDataLst>
          </p:nvPr>
        </p:nvSpPr>
        <p:spPr bwMode="auto">
          <a:xfrm>
            <a:off x="2602304" y="3677968"/>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8??</a:t>
            </a:r>
            <a:endParaRPr lang="en-US" sz="2000" dirty="0">
              <a:solidFill>
                <a:srgbClr val="FF0000"/>
              </a:solidFill>
              <a:latin typeface="Calibri" panose="020F0502020204030204" pitchFamily="34" charset="0"/>
              <a:cs typeface="Calibri" panose="020F0502020204030204" pitchFamily="34" charset="0"/>
            </a:endParaRPr>
          </a:p>
        </p:txBody>
      </p:sp>
      <p:sp>
        <p:nvSpPr>
          <p:cNvPr id="8" name="Text Box 54">
            <a:extLst>
              <a:ext uri="{FF2B5EF4-FFF2-40B4-BE49-F238E27FC236}">
                <a16:creationId xmlns:a16="http://schemas.microsoft.com/office/drawing/2014/main" id="{139B0609-C3F8-4F4D-812C-FE0446A913BE}"/>
              </a:ext>
            </a:extLst>
          </p:cNvPr>
          <p:cNvSpPr txBox="1">
            <a:spLocks noChangeArrowheads="1"/>
          </p:cNvSpPr>
          <p:nvPr>
            <p:custDataLst>
              <p:tags r:id="rId2"/>
            </p:custDataLst>
          </p:nvPr>
        </p:nvSpPr>
        <p:spPr bwMode="auto">
          <a:xfrm>
            <a:off x="2416153" y="3198167"/>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9" name="Text Box 54">
            <a:extLst>
              <a:ext uri="{FF2B5EF4-FFF2-40B4-BE49-F238E27FC236}">
                <a16:creationId xmlns:a16="http://schemas.microsoft.com/office/drawing/2014/main" id="{C275FFA1-B8E6-BD45-8504-B32047772F2F}"/>
              </a:ext>
            </a:extLst>
          </p:cNvPr>
          <p:cNvSpPr txBox="1">
            <a:spLocks noChangeArrowheads="1"/>
          </p:cNvSpPr>
          <p:nvPr>
            <p:custDataLst>
              <p:tags r:id="rId3"/>
            </p:custDataLst>
          </p:nvPr>
        </p:nvSpPr>
        <p:spPr bwMode="auto">
          <a:xfrm>
            <a:off x="3214521" y="2628611"/>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cxnSp>
        <p:nvCxnSpPr>
          <p:cNvPr id="10" name="AutoShape 32">
            <a:extLst>
              <a:ext uri="{FF2B5EF4-FFF2-40B4-BE49-F238E27FC236}">
                <a16:creationId xmlns:a16="http://schemas.microsoft.com/office/drawing/2014/main" id="{1EEDE247-9E85-5A45-9B28-0EEB0628D081}"/>
              </a:ext>
            </a:extLst>
          </p:cNvPr>
          <p:cNvCxnSpPr>
            <a:cxnSpLocks noChangeShapeType="1"/>
            <a:stCxn id="15" idx="2"/>
            <a:endCxn id="5" idx="0"/>
          </p:cNvCxnSpPr>
          <p:nvPr>
            <p:custDataLst>
              <p:tags r:id="rId4"/>
            </p:custDataLst>
          </p:nvPr>
        </p:nvCxnSpPr>
        <p:spPr bwMode="auto">
          <a:xfrm>
            <a:off x="2373038" y="2981949"/>
            <a:ext cx="197122" cy="1028110"/>
          </a:xfrm>
          <a:prstGeom prst="straightConnector1">
            <a:avLst/>
          </a:prstGeom>
          <a:noFill/>
          <a:ln w="9525">
            <a:solidFill>
              <a:schemeClr val="tx1"/>
            </a:solidFill>
            <a:round/>
            <a:headEnd/>
            <a:tailEnd type="triangle" w="med" len="med"/>
          </a:ln>
        </p:spPr>
      </p:cxnSp>
      <p:sp>
        <p:nvSpPr>
          <p:cNvPr id="11" name="Google Shape;752;p43">
            <a:extLst>
              <a:ext uri="{FF2B5EF4-FFF2-40B4-BE49-F238E27FC236}">
                <a16:creationId xmlns:a16="http://schemas.microsoft.com/office/drawing/2014/main" id="{CF88E93A-F1A8-A24D-86E2-62792C6AE206}"/>
              </a:ext>
            </a:extLst>
          </p:cNvPr>
          <p:cNvSpPr/>
          <p:nvPr/>
        </p:nvSpPr>
        <p:spPr>
          <a:xfrm>
            <a:off x="3762790" y="3189164"/>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cxnSp>
        <p:nvCxnSpPr>
          <p:cNvPr id="12" name="AutoShape 32">
            <a:extLst>
              <a:ext uri="{FF2B5EF4-FFF2-40B4-BE49-F238E27FC236}">
                <a16:creationId xmlns:a16="http://schemas.microsoft.com/office/drawing/2014/main" id="{2724F4BA-B975-4740-A624-764E64B40630}"/>
              </a:ext>
            </a:extLst>
          </p:cNvPr>
          <p:cNvCxnSpPr>
            <a:cxnSpLocks noChangeShapeType="1"/>
            <a:stCxn id="15" idx="3"/>
            <a:endCxn id="11" idx="0"/>
          </p:cNvCxnSpPr>
          <p:nvPr>
            <p:custDataLst>
              <p:tags r:id="rId5"/>
            </p:custDataLst>
          </p:nvPr>
        </p:nvCxnSpPr>
        <p:spPr bwMode="auto">
          <a:xfrm>
            <a:off x="2584638" y="2813349"/>
            <a:ext cx="1389752" cy="375815"/>
          </a:xfrm>
          <a:prstGeom prst="straightConnector1">
            <a:avLst/>
          </a:prstGeom>
          <a:noFill/>
          <a:ln w="9525">
            <a:solidFill>
              <a:schemeClr val="tx1"/>
            </a:solidFill>
            <a:round/>
            <a:headEnd/>
            <a:tailEnd type="triangle" w="med" len="med"/>
          </a:ln>
        </p:spPr>
      </p:cxnSp>
      <p:cxnSp>
        <p:nvCxnSpPr>
          <p:cNvPr id="13" name="AutoShape 32">
            <a:extLst>
              <a:ext uri="{FF2B5EF4-FFF2-40B4-BE49-F238E27FC236}">
                <a16:creationId xmlns:a16="http://schemas.microsoft.com/office/drawing/2014/main" id="{EED858D5-13D5-664B-8E19-FE74559F10BC}"/>
              </a:ext>
            </a:extLst>
          </p:cNvPr>
          <p:cNvCxnSpPr>
            <a:cxnSpLocks noChangeShapeType="1"/>
            <a:stCxn id="11" idx="2"/>
            <a:endCxn id="5" idx="3"/>
          </p:cNvCxnSpPr>
          <p:nvPr>
            <p:custDataLst>
              <p:tags r:id="rId6"/>
            </p:custDataLst>
          </p:nvPr>
        </p:nvCxnSpPr>
        <p:spPr bwMode="auto">
          <a:xfrm flipH="1">
            <a:off x="2781760" y="3526364"/>
            <a:ext cx="1192630" cy="652295"/>
          </a:xfrm>
          <a:prstGeom prst="straightConnector1">
            <a:avLst/>
          </a:prstGeom>
          <a:noFill/>
          <a:ln w="9525">
            <a:solidFill>
              <a:schemeClr val="tx1"/>
            </a:solidFill>
            <a:round/>
            <a:headEnd/>
            <a:tailEnd type="triangle" w="med" len="med"/>
          </a:ln>
        </p:spPr>
      </p:cxnSp>
      <p:sp>
        <p:nvSpPr>
          <p:cNvPr id="14" name="Text Box 54">
            <a:extLst>
              <a:ext uri="{FF2B5EF4-FFF2-40B4-BE49-F238E27FC236}">
                <a16:creationId xmlns:a16="http://schemas.microsoft.com/office/drawing/2014/main" id="{CD9BB9B7-603C-0343-8990-67B655B0542B}"/>
              </a:ext>
            </a:extLst>
          </p:cNvPr>
          <p:cNvSpPr txBox="1">
            <a:spLocks noChangeArrowheads="1"/>
          </p:cNvSpPr>
          <p:nvPr>
            <p:custDataLst>
              <p:tags r:id="rId7"/>
            </p:custDataLst>
          </p:nvPr>
        </p:nvSpPr>
        <p:spPr bwMode="auto">
          <a:xfrm>
            <a:off x="3365381" y="3725148"/>
            <a:ext cx="434734"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5" name="Google Shape;752;p43">
            <a:extLst>
              <a:ext uri="{FF2B5EF4-FFF2-40B4-BE49-F238E27FC236}">
                <a16:creationId xmlns:a16="http://schemas.microsoft.com/office/drawing/2014/main" id="{187422EF-BED0-964E-919B-B325629E5806}"/>
              </a:ext>
            </a:extLst>
          </p:cNvPr>
          <p:cNvSpPr/>
          <p:nvPr/>
        </p:nvSpPr>
        <p:spPr>
          <a:xfrm>
            <a:off x="2161438" y="264474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sz="2133" dirty="0">
              <a:latin typeface="Calibri" panose="020F0502020204030204" pitchFamily="34" charset="0"/>
              <a:cs typeface="Calibri" panose="020F0502020204030204" pitchFamily="34" charset="0"/>
            </a:endParaRPr>
          </a:p>
        </p:txBody>
      </p:sp>
      <p:sp>
        <p:nvSpPr>
          <p:cNvPr id="16" name="Text Box 47">
            <a:extLst>
              <a:ext uri="{FF2B5EF4-FFF2-40B4-BE49-F238E27FC236}">
                <a16:creationId xmlns:a16="http://schemas.microsoft.com/office/drawing/2014/main" id="{C408EB4F-015E-3A49-B162-FB42BF92CD21}"/>
              </a:ext>
            </a:extLst>
          </p:cNvPr>
          <p:cNvSpPr txBox="1">
            <a:spLocks noChangeArrowheads="1"/>
          </p:cNvSpPr>
          <p:nvPr>
            <p:custDataLst>
              <p:tags r:id="rId8"/>
            </p:custDataLst>
          </p:nvPr>
        </p:nvSpPr>
        <p:spPr bwMode="auto">
          <a:xfrm>
            <a:off x="2449309" y="2311487"/>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5</a:t>
            </a:r>
            <a:endParaRPr lang="en-US" sz="2000" dirty="0">
              <a:solidFill>
                <a:srgbClr val="FF0000"/>
              </a:solidFill>
              <a:latin typeface="Calibri" panose="020F0502020204030204" pitchFamily="34" charset="0"/>
              <a:cs typeface="Calibri" panose="020F0502020204030204" pitchFamily="34" charset="0"/>
            </a:endParaRPr>
          </a:p>
        </p:txBody>
      </p:sp>
      <p:sp>
        <p:nvSpPr>
          <p:cNvPr id="17" name="Text Box 47">
            <a:extLst>
              <a:ext uri="{FF2B5EF4-FFF2-40B4-BE49-F238E27FC236}">
                <a16:creationId xmlns:a16="http://schemas.microsoft.com/office/drawing/2014/main" id="{DA3F9B02-2CAA-7A44-B911-00AF48131286}"/>
              </a:ext>
            </a:extLst>
          </p:cNvPr>
          <p:cNvSpPr txBox="1">
            <a:spLocks noChangeArrowheads="1"/>
          </p:cNvSpPr>
          <p:nvPr>
            <p:custDataLst>
              <p:tags r:id="rId9"/>
            </p:custDataLst>
          </p:nvPr>
        </p:nvSpPr>
        <p:spPr bwMode="auto">
          <a:xfrm>
            <a:off x="4040322" y="2861637"/>
            <a:ext cx="668112"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11??</a:t>
            </a:r>
            <a:endParaRPr lang="en-US" sz="2000" dirty="0">
              <a:solidFill>
                <a:srgbClr val="FF0000"/>
              </a:solidFill>
              <a:latin typeface="Calibri" panose="020F0502020204030204" pitchFamily="34" charset="0"/>
              <a:cs typeface="Calibri" panose="020F0502020204030204" pitchFamily="34" charset="0"/>
            </a:endParaRPr>
          </a:p>
        </p:txBody>
      </p:sp>
      <p:sp>
        <p:nvSpPr>
          <p:cNvPr id="19" name="Content Placeholder 2">
            <a:extLst>
              <a:ext uri="{FF2B5EF4-FFF2-40B4-BE49-F238E27FC236}">
                <a16:creationId xmlns:a16="http://schemas.microsoft.com/office/drawing/2014/main" id="{9E0B178E-ABF1-EB46-9F98-68EE3113AC4D}"/>
              </a:ext>
            </a:extLst>
          </p:cNvPr>
          <p:cNvSpPr txBox="1">
            <a:spLocks/>
          </p:cNvSpPr>
          <p:nvPr/>
        </p:nvSpPr>
        <p:spPr>
          <a:xfrm>
            <a:off x="243300" y="4556100"/>
            <a:ext cx="5554384" cy="18170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Example</a:t>
            </a:r>
            <a:r>
              <a:rPr lang="en-US" sz="2000" dirty="0"/>
              <a:t>:</a:t>
            </a:r>
          </a:p>
          <a:p>
            <a:r>
              <a:rPr lang="en-US" sz="2000" dirty="0"/>
              <a:t>Which vertex do we add first?</a:t>
            </a:r>
          </a:p>
          <a:p>
            <a:pPr lvl="1"/>
            <a:r>
              <a:rPr lang="en-US" sz="1800" dirty="0"/>
              <a:t>X, using edge 3, because </a:t>
            </a:r>
            <a:r>
              <a:rPr lang="en-US" sz="1800" dirty="0">
                <a:solidFill>
                  <a:srgbClr val="FF0000"/>
                </a:solidFill>
              </a:rPr>
              <a:t>8</a:t>
            </a:r>
            <a:r>
              <a:rPr lang="en-US" sz="1800" dirty="0"/>
              <a:t> &lt; </a:t>
            </a:r>
            <a:r>
              <a:rPr lang="en-US" sz="1800" dirty="0">
                <a:solidFill>
                  <a:srgbClr val="FF0000"/>
                </a:solidFill>
              </a:rPr>
              <a:t>11</a:t>
            </a:r>
          </a:p>
          <a:p>
            <a:pPr marL="457200" lvl="1" indent="0">
              <a:buNone/>
            </a:pPr>
            <a:endParaRPr lang="en-US" sz="1800" dirty="0"/>
          </a:p>
          <a:p>
            <a:pPr marL="457200" lvl="1" indent="0">
              <a:buNone/>
            </a:pPr>
            <a:endParaRPr lang="en-US" sz="1400" dirty="0">
              <a:solidFill>
                <a:srgbClr val="FF0000"/>
              </a:solidFill>
            </a:endParaRPr>
          </a:p>
        </p:txBody>
      </p:sp>
    </p:spTree>
    <p:extLst>
      <p:ext uri="{BB962C8B-B14F-4D97-AF65-F5344CB8AC3E}">
        <p14:creationId xmlns:p14="http://schemas.microsoft.com/office/powerpoint/2010/main" val="402195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5117ECD8-6EAA-234E-A306-E2A2579D204B}"/>
              </a:ext>
            </a:extLst>
          </p:cNvPr>
          <p:cNvSpPr/>
          <p:nvPr/>
        </p:nvSpPr>
        <p:spPr>
          <a:xfrm>
            <a:off x="879306" y="1484216"/>
            <a:ext cx="2344366" cy="3093396"/>
          </a:xfrm>
          <a:custGeom>
            <a:avLst/>
            <a:gdLst>
              <a:gd name="connsiteX0" fmla="*/ 437745 w 2344366"/>
              <a:gd name="connsiteY0" fmla="*/ 58366 h 3093396"/>
              <a:gd name="connsiteX1" fmla="*/ 301558 w 2344366"/>
              <a:gd name="connsiteY1" fmla="*/ 77821 h 3093396"/>
              <a:gd name="connsiteX2" fmla="*/ 272375 w 2344366"/>
              <a:gd name="connsiteY2" fmla="*/ 87549 h 3093396"/>
              <a:gd name="connsiteX3" fmla="*/ 214009 w 2344366"/>
              <a:gd name="connsiteY3" fmla="*/ 126460 h 3093396"/>
              <a:gd name="connsiteX4" fmla="*/ 184826 w 2344366"/>
              <a:gd name="connsiteY4" fmla="*/ 145915 h 3093396"/>
              <a:gd name="connsiteX5" fmla="*/ 155643 w 2344366"/>
              <a:gd name="connsiteY5" fmla="*/ 165370 h 3093396"/>
              <a:gd name="connsiteX6" fmla="*/ 136188 w 2344366"/>
              <a:gd name="connsiteY6" fmla="*/ 194553 h 3093396"/>
              <a:gd name="connsiteX7" fmla="*/ 97277 w 2344366"/>
              <a:gd name="connsiteY7" fmla="*/ 233464 h 3093396"/>
              <a:gd name="connsiteX8" fmla="*/ 58366 w 2344366"/>
              <a:gd name="connsiteY8" fmla="*/ 291830 h 3093396"/>
              <a:gd name="connsiteX9" fmla="*/ 38911 w 2344366"/>
              <a:gd name="connsiteY9" fmla="*/ 350196 h 3093396"/>
              <a:gd name="connsiteX10" fmla="*/ 19456 w 2344366"/>
              <a:gd name="connsiteY10" fmla="*/ 379379 h 3093396"/>
              <a:gd name="connsiteX11" fmla="*/ 0 w 2344366"/>
              <a:gd name="connsiteY11" fmla="*/ 437745 h 3093396"/>
              <a:gd name="connsiteX12" fmla="*/ 9728 w 2344366"/>
              <a:gd name="connsiteY12" fmla="*/ 564204 h 3093396"/>
              <a:gd name="connsiteX13" fmla="*/ 29183 w 2344366"/>
              <a:gd name="connsiteY13" fmla="*/ 632298 h 3093396"/>
              <a:gd name="connsiteX14" fmla="*/ 38911 w 2344366"/>
              <a:gd name="connsiteY14" fmla="*/ 671208 h 3093396"/>
              <a:gd name="connsiteX15" fmla="*/ 48639 w 2344366"/>
              <a:gd name="connsiteY15" fmla="*/ 700391 h 3093396"/>
              <a:gd name="connsiteX16" fmla="*/ 58366 w 2344366"/>
              <a:gd name="connsiteY16" fmla="*/ 749030 h 3093396"/>
              <a:gd name="connsiteX17" fmla="*/ 68094 w 2344366"/>
              <a:gd name="connsiteY17" fmla="*/ 778213 h 3093396"/>
              <a:gd name="connsiteX18" fmla="*/ 77822 w 2344366"/>
              <a:gd name="connsiteY18" fmla="*/ 826851 h 3093396"/>
              <a:gd name="connsiteX19" fmla="*/ 87549 w 2344366"/>
              <a:gd name="connsiteY19" fmla="*/ 856034 h 3093396"/>
              <a:gd name="connsiteX20" fmla="*/ 97277 w 2344366"/>
              <a:gd name="connsiteY20" fmla="*/ 894945 h 3093396"/>
              <a:gd name="connsiteX21" fmla="*/ 136188 w 2344366"/>
              <a:gd name="connsiteY21" fmla="*/ 992221 h 3093396"/>
              <a:gd name="connsiteX22" fmla="*/ 145915 w 2344366"/>
              <a:gd name="connsiteY22" fmla="*/ 1031132 h 3093396"/>
              <a:gd name="connsiteX23" fmla="*/ 165371 w 2344366"/>
              <a:gd name="connsiteY23" fmla="*/ 1089498 h 3093396"/>
              <a:gd name="connsiteX24" fmla="*/ 194554 w 2344366"/>
              <a:gd name="connsiteY24" fmla="*/ 1177047 h 3093396"/>
              <a:gd name="connsiteX25" fmla="*/ 204281 w 2344366"/>
              <a:gd name="connsiteY25" fmla="*/ 1206230 h 3093396"/>
              <a:gd name="connsiteX26" fmla="*/ 214009 w 2344366"/>
              <a:gd name="connsiteY26" fmla="*/ 1235413 h 3093396"/>
              <a:gd name="connsiteX27" fmla="*/ 243192 w 2344366"/>
              <a:gd name="connsiteY27" fmla="*/ 1332689 h 3093396"/>
              <a:gd name="connsiteX28" fmla="*/ 252920 w 2344366"/>
              <a:gd name="connsiteY28" fmla="*/ 1361872 h 3093396"/>
              <a:gd name="connsiteX29" fmla="*/ 262647 w 2344366"/>
              <a:gd name="connsiteY29" fmla="*/ 1391055 h 3093396"/>
              <a:gd name="connsiteX30" fmla="*/ 282103 w 2344366"/>
              <a:gd name="connsiteY30" fmla="*/ 1429966 h 3093396"/>
              <a:gd name="connsiteX31" fmla="*/ 311286 w 2344366"/>
              <a:gd name="connsiteY31" fmla="*/ 1498060 h 3093396"/>
              <a:gd name="connsiteX32" fmla="*/ 340468 w 2344366"/>
              <a:gd name="connsiteY32" fmla="*/ 1585608 h 3093396"/>
              <a:gd name="connsiteX33" fmla="*/ 350196 w 2344366"/>
              <a:gd name="connsiteY33" fmla="*/ 1614791 h 3093396"/>
              <a:gd name="connsiteX34" fmla="*/ 369651 w 2344366"/>
              <a:gd name="connsiteY34" fmla="*/ 1643974 h 3093396"/>
              <a:gd name="connsiteX35" fmla="*/ 389107 w 2344366"/>
              <a:gd name="connsiteY35" fmla="*/ 1702340 h 3093396"/>
              <a:gd name="connsiteX36" fmla="*/ 398834 w 2344366"/>
              <a:gd name="connsiteY36" fmla="*/ 1731523 h 3093396"/>
              <a:gd name="connsiteX37" fmla="*/ 418290 w 2344366"/>
              <a:gd name="connsiteY37" fmla="*/ 1760706 h 3093396"/>
              <a:gd name="connsiteX38" fmla="*/ 447473 w 2344366"/>
              <a:gd name="connsiteY38" fmla="*/ 1857983 h 3093396"/>
              <a:gd name="connsiteX39" fmla="*/ 466928 w 2344366"/>
              <a:gd name="connsiteY39" fmla="*/ 1896894 h 3093396"/>
              <a:gd name="connsiteX40" fmla="*/ 486383 w 2344366"/>
              <a:gd name="connsiteY40" fmla="*/ 1926077 h 3093396"/>
              <a:gd name="connsiteX41" fmla="*/ 505839 w 2344366"/>
              <a:gd name="connsiteY41" fmla="*/ 1984442 h 3093396"/>
              <a:gd name="connsiteX42" fmla="*/ 515566 w 2344366"/>
              <a:gd name="connsiteY42" fmla="*/ 2013625 h 3093396"/>
              <a:gd name="connsiteX43" fmla="*/ 554477 w 2344366"/>
              <a:gd name="connsiteY43" fmla="*/ 2071991 h 3093396"/>
              <a:gd name="connsiteX44" fmla="*/ 573932 w 2344366"/>
              <a:gd name="connsiteY44" fmla="*/ 2110902 h 3093396"/>
              <a:gd name="connsiteX45" fmla="*/ 612843 w 2344366"/>
              <a:gd name="connsiteY45" fmla="*/ 2169268 h 3093396"/>
              <a:gd name="connsiteX46" fmla="*/ 632298 w 2344366"/>
              <a:gd name="connsiteY46" fmla="*/ 2198451 h 3093396"/>
              <a:gd name="connsiteX47" fmla="*/ 671209 w 2344366"/>
              <a:gd name="connsiteY47" fmla="*/ 2237362 h 3093396"/>
              <a:gd name="connsiteX48" fmla="*/ 700392 w 2344366"/>
              <a:gd name="connsiteY48" fmla="*/ 2266545 h 3093396"/>
              <a:gd name="connsiteX49" fmla="*/ 729575 w 2344366"/>
              <a:gd name="connsiteY49" fmla="*/ 2286000 h 3093396"/>
              <a:gd name="connsiteX50" fmla="*/ 787941 w 2344366"/>
              <a:gd name="connsiteY50" fmla="*/ 2354094 h 3093396"/>
              <a:gd name="connsiteX51" fmla="*/ 817124 w 2344366"/>
              <a:gd name="connsiteY51" fmla="*/ 2373549 h 3093396"/>
              <a:gd name="connsiteX52" fmla="*/ 846307 w 2344366"/>
              <a:gd name="connsiteY52" fmla="*/ 2402732 h 3093396"/>
              <a:gd name="connsiteX53" fmla="*/ 875490 w 2344366"/>
              <a:gd name="connsiteY53" fmla="*/ 2422187 h 3093396"/>
              <a:gd name="connsiteX54" fmla="*/ 933856 w 2344366"/>
              <a:gd name="connsiteY54" fmla="*/ 2470825 h 3093396"/>
              <a:gd name="connsiteX55" fmla="*/ 943583 w 2344366"/>
              <a:gd name="connsiteY55" fmla="*/ 2500008 h 3093396"/>
              <a:gd name="connsiteX56" fmla="*/ 972766 w 2344366"/>
              <a:gd name="connsiteY56" fmla="*/ 2519464 h 3093396"/>
              <a:gd name="connsiteX57" fmla="*/ 992222 w 2344366"/>
              <a:gd name="connsiteY57" fmla="*/ 2538919 h 3093396"/>
              <a:gd name="connsiteX58" fmla="*/ 1031132 w 2344366"/>
              <a:gd name="connsiteY58" fmla="*/ 2597285 h 3093396"/>
              <a:gd name="connsiteX59" fmla="*/ 1050588 w 2344366"/>
              <a:gd name="connsiteY59" fmla="*/ 2616740 h 3093396"/>
              <a:gd name="connsiteX60" fmla="*/ 1070043 w 2344366"/>
              <a:gd name="connsiteY60" fmla="*/ 2645923 h 3093396"/>
              <a:gd name="connsiteX61" fmla="*/ 1099226 w 2344366"/>
              <a:gd name="connsiteY61" fmla="*/ 2665379 h 3093396"/>
              <a:gd name="connsiteX62" fmla="*/ 1128409 w 2344366"/>
              <a:gd name="connsiteY62" fmla="*/ 2704289 h 3093396"/>
              <a:gd name="connsiteX63" fmla="*/ 1177047 w 2344366"/>
              <a:gd name="connsiteY63" fmla="*/ 2743200 h 3093396"/>
              <a:gd name="connsiteX64" fmla="*/ 1225686 w 2344366"/>
              <a:gd name="connsiteY64" fmla="*/ 2791838 h 3093396"/>
              <a:gd name="connsiteX65" fmla="*/ 1274324 w 2344366"/>
              <a:gd name="connsiteY65" fmla="*/ 2840477 h 3093396"/>
              <a:gd name="connsiteX66" fmla="*/ 1303507 w 2344366"/>
              <a:gd name="connsiteY66" fmla="*/ 2869660 h 3093396"/>
              <a:gd name="connsiteX67" fmla="*/ 1361873 w 2344366"/>
              <a:gd name="connsiteY67" fmla="*/ 2947481 h 3093396"/>
              <a:gd name="connsiteX68" fmla="*/ 1391056 w 2344366"/>
              <a:gd name="connsiteY68" fmla="*/ 2976664 h 3093396"/>
              <a:gd name="connsiteX69" fmla="*/ 1478605 w 2344366"/>
              <a:gd name="connsiteY69" fmla="*/ 3044757 h 3093396"/>
              <a:gd name="connsiteX70" fmla="*/ 1536971 w 2344366"/>
              <a:gd name="connsiteY70" fmla="*/ 3064213 h 3093396"/>
              <a:gd name="connsiteX71" fmla="*/ 1595337 w 2344366"/>
              <a:gd name="connsiteY71" fmla="*/ 3093396 h 3093396"/>
              <a:gd name="connsiteX72" fmla="*/ 1799617 w 2344366"/>
              <a:gd name="connsiteY72" fmla="*/ 3083668 h 3093396"/>
              <a:gd name="connsiteX73" fmla="*/ 1828800 w 2344366"/>
              <a:gd name="connsiteY73" fmla="*/ 3073940 h 3093396"/>
              <a:gd name="connsiteX74" fmla="*/ 1867711 w 2344366"/>
              <a:gd name="connsiteY74" fmla="*/ 3064213 h 3093396"/>
              <a:gd name="connsiteX75" fmla="*/ 1896894 w 2344366"/>
              <a:gd name="connsiteY75" fmla="*/ 3054485 h 3093396"/>
              <a:gd name="connsiteX76" fmla="*/ 2013626 w 2344366"/>
              <a:gd name="connsiteY76" fmla="*/ 3035030 h 3093396"/>
              <a:gd name="connsiteX77" fmla="*/ 2052537 w 2344366"/>
              <a:gd name="connsiteY77" fmla="*/ 3025302 h 3093396"/>
              <a:gd name="connsiteX78" fmla="*/ 2110903 w 2344366"/>
              <a:gd name="connsiteY78" fmla="*/ 3005847 h 3093396"/>
              <a:gd name="connsiteX79" fmla="*/ 2130358 w 2344366"/>
              <a:gd name="connsiteY79" fmla="*/ 2986391 h 3093396"/>
              <a:gd name="connsiteX80" fmla="*/ 2159541 w 2344366"/>
              <a:gd name="connsiteY80" fmla="*/ 2966936 h 3093396"/>
              <a:gd name="connsiteX81" fmla="*/ 2169268 w 2344366"/>
              <a:gd name="connsiteY81" fmla="*/ 2937753 h 3093396"/>
              <a:gd name="connsiteX82" fmla="*/ 2188724 w 2344366"/>
              <a:gd name="connsiteY82" fmla="*/ 2918298 h 3093396"/>
              <a:gd name="connsiteX83" fmla="*/ 2227634 w 2344366"/>
              <a:gd name="connsiteY83" fmla="*/ 2859932 h 3093396"/>
              <a:gd name="connsiteX84" fmla="*/ 2266545 w 2344366"/>
              <a:gd name="connsiteY84" fmla="*/ 2801566 h 3093396"/>
              <a:gd name="connsiteX85" fmla="*/ 2286000 w 2344366"/>
              <a:gd name="connsiteY85" fmla="*/ 2772383 h 3093396"/>
              <a:gd name="connsiteX86" fmla="*/ 2305456 w 2344366"/>
              <a:gd name="connsiteY86" fmla="*/ 2714017 h 3093396"/>
              <a:gd name="connsiteX87" fmla="*/ 2334639 w 2344366"/>
              <a:gd name="connsiteY87" fmla="*/ 2607013 h 3093396"/>
              <a:gd name="connsiteX88" fmla="*/ 2344366 w 2344366"/>
              <a:gd name="connsiteY88" fmla="*/ 2538919 h 3093396"/>
              <a:gd name="connsiteX89" fmla="*/ 2334639 w 2344366"/>
              <a:gd name="connsiteY89" fmla="*/ 2373549 h 3093396"/>
              <a:gd name="connsiteX90" fmla="*/ 2295728 w 2344366"/>
              <a:gd name="connsiteY90" fmla="*/ 2237362 h 3093396"/>
              <a:gd name="connsiteX91" fmla="*/ 2286000 w 2344366"/>
              <a:gd name="connsiteY91" fmla="*/ 2208179 h 3093396"/>
              <a:gd name="connsiteX92" fmla="*/ 2266545 w 2344366"/>
              <a:gd name="connsiteY92" fmla="*/ 2140085 h 3093396"/>
              <a:gd name="connsiteX93" fmla="*/ 2247090 w 2344366"/>
              <a:gd name="connsiteY93" fmla="*/ 2110902 h 3093396"/>
              <a:gd name="connsiteX94" fmla="*/ 2237362 w 2344366"/>
              <a:gd name="connsiteY94" fmla="*/ 2081719 h 3093396"/>
              <a:gd name="connsiteX95" fmla="*/ 2217907 w 2344366"/>
              <a:gd name="connsiteY95" fmla="*/ 2052536 h 3093396"/>
              <a:gd name="connsiteX96" fmla="*/ 2208179 w 2344366"/>
              <a:gd name="connsiteY96" fmla="*/ 2023353 h 3093396"/>
              <a:gd name="connsiteX97" fmla="*/ 2188724 w 2344366"/>
              <a:gd name="connsiteY97" fmla="*/ 1994170 h 3093396"/>
              <a:gd name="connsiteX98" fmla="*/ 2178996 w 2344366"/>
              <a:gd name="connsiteY98" fmla="*/ 1964987 h 3093396"/>
              <a:gd name="connsiteX99" fmla="*/ 2140086 w 2344366"/>
              <a:gd name="connsiteY99" fmla="*/ 1887166 h 3093396"/>
              <a:gd name="connsiteX100" fmla="*/ 2110903 w 2344366"/>
              <a:gd name="connsiteY100" fmla="*/ 1819072 h 3093396"/>
              <a:gd name="connsiteX101" fmla="*/ 2101175 w 2344366"/>
              <a:gd name="connsiteY101" fmla="*/ 1789889 h 3093396"/>
              <a:gd name="connsiteX102" fmla="*/ 2081720 w 2344366"/>
              <a:gd name="connsiteY102" fmla="*/ 1760706 h 3093396"/>
              <a:gd name="connsiteX103" fmla="*/ 2071992 w 2344366"/>
              <a:gd name="connsiteY103" fmla="*/ 1731523 h 3093396"/>
              <a:gd name="connsiteX104" fmla="*/ 2052537 w 2344366"/>
              <a:gd name="connsiteY104" fmla="*/ 1702340 h 3093396"/>
              <a:gd name="connsiteX105" fmla="*/ 2042809 w 2344366"/>
              <a:gd name="connsiteY105" fmla="*/ 1673157 h 3093396"/>
              <a:gd name="connsiteX106" fmla="*/ 2003898 w 2344366"/>
              <a:gd name="connsiteY106" fmla="*/ 1614791 h 3093396"/>
              <a:gd name="connsiteX107" fmla="*/ 1974715 w 2344366"/>
              <a:gd name="connsiteY107" fmla="*/ 1546698 h 3093396"/>
              <a:gd name="connsiteX108" fmla="*/ 1955260 w 2344366"/>
              <a:gd name="connsiteY108" fmla="*/ 1488332 h 3093396"/>
              <a:gd name="connsiteX109" fmla="*/ 1945532 w 2344366"/>
              <a:gd name="connsiteY109" fmla="*/ 1459149 h 3093396"/>
              <a:gd name="connsiteX110" fmla="*/ 1974715 w 2344366"/>
              <a:gd name="connsiteY110" fmla="*/ 1313234 h 3093396"/>
              <a:gd name="connsiteX111" fmla="*/ 1994171 w 2344366"/>
              <a:gd name="connsiteY111" fmla="*/ 1293779 h 3093396"/>
              <a:gd name="connsiteX112" fmla="*/ 2013626 w 2344366"/>
              <a:gd name="connsiteY112" fmla="*/ 1235413 h 3093396"/>
              <a:gd name="connsiteX113" fmla="*/ 2052537 w 2344366"/>
              <a:gd name="connsiteY113" fmla="*/ 1186774 h 3093396"/>
              <a:gd name="connsiteX114" fmla="*/ 2062264 w 2344366"/>
              <a:gd name="connsiteY114" fmla="*/ 1157591 h 3093396"/>
              <a:gd name="connsiteX115" fmla="*/ 2101175 w 2344366"/>
              <a:gd name="connsiteY115" fmla="*/ 1099225 h 3093396"/>
              <a:gd name="connsiteX116" fmla="*/ 2110903 w 2344366"/>
              <a:gd name="connsiteY116" fmla="*/ 1070042 h 3093396"/>
              <a:gd name="connsiteX117" fmla="*/ 2140086 w 2344366"/>
              <a:gd name="connsiteY117" fmla="*/ 1040860 h 3093396"/>
              <a:gd name="connsiteX118" fmla="*/ 2198451 w 2344366"/>
              <a:gd name="connsiteY118" fmla="*/ 953311 h 3093396"/>
              <a:gd name="connsiteX119" fmla="*/ 2217907 w 2344366"/>
              <a:gd name="connsiteY119" fmla="*/ 924128 h 3093396"/>
              <a:gd name="connsiteX120" fmla="*/ 2247090 w 2344366"/>
              <a:gd name="connsiteY120" fmla="*/ 865762 h 3093396"/>
              <a:gd name="connsiteX121" fmla="*/ 2266545 w 2344366"/>
              <a:gd name="connsiteY121" fmla="*/ 797668 h 3093396"/>
              <a:gd name="connsiteX122" fmla="*/ 2295728 w 2344366"/>
              <a:gd name="connsiteY122" fmla="*/ 729574 h 3093396"/>
              <a:gd name="connsiteX123" fmla="*/ 2286000 w 2344366"/>
              <a:gd name="connsiteY123" fmla="*/ 554477 h 3093396"/>
              <a:gd name="connsiteX124" fmla="*/ 2276273 w 2344366"/>
              <a:gd name="connsiteY124" fmla="*/ 525294 h 3093396"/>
              <a:gd name="connsiteX125" fmla="*/ 2247090 w 2344366"/>
              <a:gd name="connsiteY125" fmla="*/ 505838 h 3093396"/>
              <a:gd name="connsiteX126" fmla="*/ 2198451 w 2344366"/>
              <a:gd name="connsiteY126" fmla="*/ 476655 h 3093396"/>
              <a:gd name="connsiteX127" fmla="*/ 2130358 w 2344366"/>
              <a:gd name="connsiteY127" fmla="*/ 428017 h 3093396"/>
              <a:gd name="connsiteX128" fmla="*/ 2101175 w 2344366"/>
              <a:gd name="connsiteY128" fmla="*/ 408562 h 3093396"/>
              <a:gd name="connsiteX129" fmla="*/ 2081720 w 2344366"/>
              <a:gd name="connsiteY129" fmla="*/ 389106 h 3093396"/>
              <a:gd name="connsiteX130" fmla="*/ 2052537 w 2344366"/>
              <a:gd name="connsiteY130" fmla="*/ 379379 h 3093396"/>
              <a:gd name="connsiteX131" fmla="*/ 1974715 w 2344366"/>
              <a:gd name="connsiteY131" fmla="*/ 340468 h 3093396"/>
              <a:gd name="connsiteX132" fmla="*/ 1916349 w 2344366"/>
              <a:gd name="connsiteY132" fmla="*/ 311285 h 3093396"/>
              <a:gd name="connsiteX133" fmla="*/ 1887166 w 2344366"/>
              <a:gd name="connsiteY133" fmla="*/ 291830 h 3093396"/>
              <a:gd name="connsiteX134" fmla="*/ 1857983 w 2344366"/>
              <a:gd name="connsiteY134" fmla="*/ 282102 h 3093396"/>
              <a:gd name="connsiteX135" fmla="*/ 1828800 w 2344366"/>
              <a:gd name="connsiteY135" fmla="*/ 262647 h 3093396"/>
              <a:gd name="connsiteX136" fmla="*/ 1770434 w 2344366"/>
              <a:gd name="connsiteY136" fmla="*/ 243191 h 3093396"/>
              <a:gd name="connsiteX137" fmla="*/ 1663430 w 2344366"/>
              <a:gd name="connsiteY137" fmla="*/ 204281 h 3093396"/>
              <a:gd name="connsiteX138" fmla="*/ 1566154 w 2344366"/>
              <a:gd name="connsiteY138" fmla="*/ 175098 h 3093396"/>
              <a:gd name="connsiteX139" fmla="*/ 1536971 w 2344366"/>
              <a:gd name="connsiteY139" fmla="*/ 165370 h 3093396"/>
              <a:gd name="connsiteX140" fmla="*/ 1498060 w 2344366"/>
              <a:gd name="connsiteY140" fmla="*/ 155642 h 3093396"/>
              <a:gd name="connsiteX141" fmla="*/ 1468877 w 2344366"/>
              <a:gd name="connsiteY141" fmla="*/ 145915 h 3093396"/>
              <a:gd name="connsiteX142" fmla="*/ 1429966 w 2344366"/>
              <a:gd name="connsiteY142" fmla="*/ 136187 h 3093396"/>
              <a:gd name="connsiteX143" fmla="*/ 1342417 w 2344366"/>
              <a:gd name="connsiteY143" fmla="*/ 107004 h 3093396"/>
              <a:gd name="connsiteX144" fmla="*/ 1284051 w 2344366"/>
              <a:gd name="connsiteY144" fmla="*/ 87549 h 3093396"/>
              <a:gd name="connsiteX145" fmla="*/ 1254868 w 2344366"/>
              <a:gd name="connsiteY145" fmla="*/ 77821 h 3093396"/>
              <a:gd name="connsiteX146" fmla="*/ 1215958 w 2344366"/>
              <a:gd name="connsiteY146" fmla="*/ 68094 h 3093396"/>
              <a:gd name="connsiteX147" fmla="*/ 1186775 w 2344366"/>
              <a:gd name="connsiteY147" fmla="*/ 58366 h 3093396"/>
              <a:gd name="connsiteX148" fmla="*/ 1128409 w 2344366"/>
              <a:gd name="connsiteY148" fmla="*/ 48638 h 3093396"/>
              <a:gd name="connsiteX149" fmla="*/ 1001949 w 2344366"/>
              <a:gd name="connsiteY149" fmla="*/ 29183 h 3093396"/>
              <a:gd name="connsiteX150" fmla="*/ 933856 w 2344366"/>
              <a:gd name="connsiteY150" fmla="*/ 19455 h 3093396"/>
              <a:gd name="connsiteX151" fmla="*/ 807396 w 2344366"/>
              <a:gd name="connsiteY151" fmla="*/ 9728 h 3093396"/>
              <a:gd name="connsiteX152" fmla="*/ 729575 w 2344366"/>
              <a:gd name="connsiteY152" fmla="*/ 0 h 3093396"/>
              <a:gd name="connsiteX153" fmla="*/ 525294 w 2344366"/>
              <a:gd name="connsiteY153" fmla="*/ 9728 h 3093396"/>
              <a:gd name="connsiteX154" fmla="*/ 466928 w 2344366"/>
              <a:gd name="connsiteY154" fmla="*/ 38911 h 3093396"/>
              <a:gd name="connsiteX155" fmla="*/ 437745 w 2344366"/>
              <a:gd name="connsiteY155" fmla="*/ 58366 h 3093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2344366" h="3093396">
                <a:moveTo>
                  <a:pt x="437745" y="58366"/>
                </a:moveTo>
                <a:cubicBezTo>
                  <a:pt x="410183" y="64851"/>
                  <a:pt x="358516" y="61548"/>
                  <a:pt x="301558" y="77821"/>
                </a:cubicBezTo>
                <a:cubicBezTo>
                  <a:pt x="291699" y="80638"/>
                  <a:pt x="281338" y="82569"/>
                  <a:pt x="272375" y="87549"/>
                </a:cubicBezTo>
                <a:cubicBezTo>
                  <a:pt x="251935" y="98905"/>
                  <a:pt x="233464" y="113490"/>
                  <a:pt x="214009" y="126460"/>
                </a:cubicBezTo>
                <a:lnTo>
                  <a:pt x="184826" y="145915"/>
                </a:lnTo>
                <a:lnTo>
                  <a:pt x="155643" y="165370"/>
                </a:lnTo>
                <a:cubicBezTo>
                  <a:pt x="149158" y="175098"/>
                  <a:pt x="143796" y="185676"/>
                  <a:pt x="136188" y="194553"/>
                </a:cubicBezTo>
                <a:cubicBezTo>
                  <a:pt x="124251" y="208480"/>
                  <a:pt x="107452" y="218202"/>
                  <a:pt x="97277" y="233464"/>
                </a:cubicBezTo>
                <a:lnTo>
                  <a:pt x="58366" y="291830"/>
                </a:lnTo>
                <a:cubicBezTo>
                  <a:pt x="51881" y="311285"/>
                  <a:pt x="50286" y="333132"/>
                  <a:pt x="38911" y="350196"/>
                </a:cubicBezTo>
                <a:cubicBezTo>
                  <a:pt x="32426" y="359924"/>
                  <a:pt x="24204" y="368696"/>
                  <a:pt x="19456" y="379379"/>
                </a:cubicBezTo>
                <a:cubicBezTo>
                  <a:pt x="11127" y="398119"/>
                  <a:pt x="0" y="437745"/>
                  <a:pt x="0" y="437745"/>
                </a:cubicBezTo>
                <a:cubicBezTo>
                  <a:pt x="3243" y="479898"/>
                  <a:pt x="4788" y="522216"/>
                  <a:pt x="9728" y="564204"/>
                </a:cubicBezTo>
                <a:cubicBezTo>
                  <a:pt x="12768" y="590045"/>
                  <a:pt x="22265" y="608085"/>
                  <a:pt x="29183" y="632298"/>
                </a:cubicBezTo>
                <a:cubicBezTo>
                  <a:pt x="32856" y="645153"/>
                  <a:pt x="35238" y="658353"/>
                  <a:pt x="38911" y="671208"/>
                </a:cubicBezTo>
                <a:cubicBezTo>
                  <a:pt x="41728" y="681067"/>
                  <a:pt x="46152" y="690443"/>
                  <a:pt x="48639" y="700391"/>
                </a:cubicBezTo>
                <a:cubicBezTo>
                  <a:pt x="52649" y="716431"/>
                  <a:pt x="54356" y="732990"/>
                  <a:pt x="58366" y="749030"/>
                </a:cubicBezTo>
                <a:cubicBezTo>
                  <a:pt x="60853" y="758978"/>
                  <a:pt x="65607" y="768265"/>
                  <a:pt x="68094" y="778213"/>
                </a:cubicBezTo>
                <a:cubicBezTo>
                  <a:pt x="72104" y="794253"/>
                  <a:pt x="73812" y="810811"/>
                  <a:pt x="77822" y="826851"/>
                </a:cubicBezTo>
                <a:cubicBezTo>
                  <a:pt x="80309" y="836799"/>
                  <a:pt x="84732" y="846175"/>
                  <a:pt x="87549" y="856034"/>
                </a:cubicBezTo>
                <a:cubicBezTo>
                  <a:pt x="91222" y="868889"/>
                  <a:pt x="92583" y="882427"/>
                  <a:pt x="97277" y="894945"/>
                </a:cubicBezTo>
                <a:cubicBezTo>
                  <a:pt x="127461" y="975435"/>
                  <a:pt x="109944" y="887235"/>
                  <a:pt x="136188" y="992221"/>
                </a:cubicBezTo>
                <a:cubicBezTo>
                  <a:pt x="139430" y="1005191"/>
                  <a:pt x="142073" y="1018326"/>
                  <a:pt x="145915" y="1031132"/>
                </a:cubicBezTo>
                <a:cubicBezTo>
                  <a:pt x="151808" y="1050775"/>
                  <a:pt x="158886" y="1070043"/>
                  <a:pt x="165371" y="1089498"/>
                </a:cubicBezTo>
                <a:lnTo>
                  <a:pt x="194554" y="1177047"/>
                </a:lnTo>
                <a:lnTo>
                  <a:pt x="204281" y="1206230"/>
                </a:lnTo>
                <a:cubicBezTo>
                  <a:pt x="207524" y="1215958"/>
                  <a:pt x="211522" y="1225465"/>
                  <a:pt x="214009" y="1235413"/>
                </a:cubicBezTo>
                <a:cubicBezTo>
                  <a:pt x="228710" y="1294215"/>
                  <a:pt x="219511" y="1261645"/>
                  <a:pt x="243192" y="1332689"/>
                </a:cubicBezTo>
                <a:lnTo>
                  <a:pt x="252920" y="1361872"/>
                </a:lnTo>
                <a:cubicBezTo>
                  <a:pt x="256162" y="1371600"/>
                  <a:pt x="258061" y="1381884"/>
                  <a:pt x="262647" y="1391055"/>
                </a:cubicBezTo>
                <a:lnTo>
                  <a:pt x="282103" y="1429966"/>
                </a:lnTo>
                <a:cubicBezTo>
                  <a:pt x="307833" y="1532892"/>
                  <a:pt x="272899" y="1411692"/>
                  <a:pt x="311286" y="1498060"/>
                </a:cubicBezTo>
                <a:cubicBezTo>
                  <a:pt x="311294" y="1498078"/>
                  <a:pt x="335601" y="1571007"/>
                  <a:pt x="340468" y="1585608"/>
                </a:cubicBezTo>
                <a:cubicBezTo>
                  <a:pt x="343711" y="1595336"/>
                  <a:pt x="344508" y="1606259"/>
                  <a:pt x="350196" y="1614791"/>
                </a:cubicBezTo>
                <a:cubicBezTo>
                  <a:pt x="356681" y="1624519"/>
                  <a:pt x="364903" y="1633291"/>
                  <a:pt x="369651" y="1643974"/>
                </a:cubicBezTo>
                <a:cubicBezTo>
                  <a:pt x="377980" y="1662714"/>
                  <a:pt x="382622" y="1682885"/>
                  <a:pt x="389107" y="1702340"/>
                </a:cubicBezTo>
                <a:cubicBezTo>
                  <a:pt x="392350" y="1712068"/>
                  <a:pt x="393146" y="1722991"/>
                  <a:pt x="398834" y="1731523"/>
                </a:cubicBezTo>
                <a:lnTo>
                  <a:pt x="418290" y="1760706"/>
                </a:lnTo>
                <a:cubicBezTo>
                  <a:pt x="425273" y="1788639"/>
                  <a:pt x="435628" y="1834292"/>
                  <a:pt x="447473" y="1857983"/>
                </a:cubicBezTo>
                <a:cubicBezTo>
                  <a:pt x="453958" y="1870953"/>
                  <a:pt x="459734" y="1884303"/>
                  <a:pt x="466928" y="1896894"/>
                </a:cubicBezTo>
                <a:cubicBezTo>
                  <a:pt x="472728" y="1907045"/>
                  <a:pt x="481635" y="1915394"/>
                  <a:pt x="486383" y="1926077"/>
                </a:cubicBezTo>
                <a:cubicBezTo>
                  <a:pt x="494712" y="1944817"/>
                  <a:pt x="499354" y="1964987"/>
                  <a:pt x="505839" y="1984442"/>
                </a:cubicBezTo>
                <a:cubicBezTo>
                  <a:pt x="509082" y="1994170"/>
                  <a:pt x="509878" y="2005093"/>
                  <a:pt x="515566" y="2013625"/>
                </a:cubicBezTo>
                <a:cubicBezTo>
                  <a:pt x="528536" y="2033080"/>
                  <a:pt x="544020" y="2051077"/>
                  <a:pt x="554477" y="2071991"/>
                </a:cubicBezTo>
                <a:cubicBezTo>
                  <a:pt x="560962" y="2084961"/>
                  <a:pt x="566471" y="2098467"/>
                  <a:pt x="573932" y="2110902"/>
                </a:cubicBezTo>
                <a:cubicBezTo>
                  <a:pt x="585962" y="2130952"/>
                  <a:pt x="599873" y="2149813"/>
                  <a:pt x="612843" y="2169268"/>
                </a:cubicBezTo>
                <a:cubicBezTo>
                  <a:pt x="619328" y="2178996"/>
                  <a:pt x="624031" y="2190184"/>
                  <a:pt x="632298" y="2198451"/>
                </a:cubicBezTo>
                <a:lnTo>
                  <a:pt x="671209" y="2237362"/>
                </a:lnTo>
                <a:cubicBezTo>
                  <a:pt x="680937" y="2247090"/>
                  <a:pt x="688945" y="2258914"/>
                  <a:pt x="700392" y="2266545"/>
                </a:cubicBezTo>
                <a:lnTo>
                  <a:pt x="729575" y="2286000"/>
                </a:lnTo>
                <a:cubicBezTo>
                  <a:pt x="747177" y="2312403"/>
                  <a:pt x="759634" y="2335223"/>
                  <a:pt x="787941" y="2354094"/>
                </a:cubicBezTo>
                <a:cubicBezTo>
                  <a:pt x="797669" y="2360579"/>
                  <a:pt x="808143" y="2366065"/>
                  <a:pt x="817124" y="2373549"/>
                </a:cubicBezTo>
                <a:cubicBezTo>
                  <a:pt x="827692" y="2382356"/>
                  <a:pt x="835739" y="2393925"/>
                  <a:pt x="846307" y="2402732"/>
                </a:cubicBezTo>
                <a:cubicBezTo>
                  <a:pt x="855288" y="2410216"/>
                  <a:pt x="866509" y="2414703"/>
                  <a:pt x="875490" y="2422187"/>
                </a:cubicBezTo>
                <a:cubicBezTo>
                  <a:pt x="950390" y="2484603"/>
                  <a:pt x="861400" y="2422522"/>
                  <a:pt x="933856" y="2470825"/>
                </a:cubicBezTo>
                <a:cubicBezTo>
                  <a:pt x="937098" y="2480553"/>
                  <a:pt x="937178" y="2492001"/>
                  <a:pt x="943583" y="2500008"/>
                </a:cubicBezTo>
                <a:cubicBezTo>
                  <a:pt x="950886" y="2509137"/>
                  <a:pt x="963637" y="2512161"/>
                  <a:pt x="972766" y="2519464"/>
                </a:cubicBezTo>
                <a:cubicBezTo>
                  <a:pt x="979928" y="2525193"/>
                  <a:pt x="986719" y="2531582"/>
                  <a:pt x="992222" y="2538919"/>
                </a:cubicBezTo>
                <a:cubicBezTo>
                  <a:pt x="1006251" y="2557625"/>
                  <a:pt x="1014598" y="2580752"/>
                  <a:pt x="1031132" y="2597285"/>
                </a:cubicBezTo>
                <a:cubicBezTo>
                  <a:pt x="1037617" y="2603770"/>
                  <a:pt x="1044859" y="2609578"/>
                  <a:pt x="1050588" y="2616740"/>
                </a:cubicBezTo>
                <a:cubicBezTo>
                  <a:pt x="1057891" y="2625869"/>
                  <a:pt x="1061776" y="2637656"/>
                  <a:pt x="1070043" y="2645923"/>
                </a:cubicBezTo>
                <a:cubicBezTo>
                  <a:pt x="1078310" y="2654190"/>
                  <a:pt x="1090959" y="2657112"/>
                  <a:pt x="1099226" y="2665379"/>
                </a:cubicBezTo>
                <a:cubicBezTo>
                  <a:pt x="1110690" y="2676843"/>
                  <a:pt x="1118030" y="2691834"/>
                  <a:pt x="1128409" y="2704289"/>
                </a:cubicBezTo>
                <a:cubicBezTo>
                  <a:pt x="1145738" y="2725084"/>
                  <a:pt x="1153481" y="2727490"/>
                  <a:pt x="1177047" y="2743200"/>
                </a:cubicBezTo>
                <a:cubicBezTo>
                  <a:pt x="1215961" y="2801569"/>
                  <a:pt x="1173802" y="2746439"/>
                  <a:pt x="1225686" y="2791838"/>
                </a:cubicBezTo>
                <a:cubicBezTo>
                  <a:pt x="1242941" y="2806937"/>
                  <a:pt x="1258111" y="2824264"/>
                  <a:pt x="1274324" y="2840477"/>
                </a:cubicBezTo>
                <a:lnTo>
                  <a:pt x="1303507" y="2869660"/>
                </a:lnTo>
                <a:cubicBezTo>
                  <a:pt x="1320484" y="2920594"/>
                  <a:pt x="1305984" y="2891592"/>
                  <a:pt x="1361873" y="2947481"/>
                </a:cubicBezTo>
                <a:lnTo>
                  <a:pt x="1391056" y="2976664"/>
                </a:lnTo>
                <a:cubicBezTo>
                  <a:pt x="1416237" y="3001845"/>
                  <a:pt x="1443697" y="3033121"/>
                  <a:pt x="1478605" y="3044757"/>
                </a:cubicBezTo>
                <a:cubicBezTo>
                  <a:pt x="1498060" y="3051242"/>
                  <a:pt x="1519907" y="3052837"/>
                  <a:pt x="1536971" y="3064213"/>
                </a:cubicBezTo>
                <a:cubicBezTo>
                  <a:pt x="1574686" y="3089356"/>
                  <a:pt x="1555063" y="3079971"/>
                  <a:pt x="1595337" y="3093396"/>
                </a:cubicBezTo>
                <a:cubicBezTo>
                  <a:pt x="1663430" y="3090153"/>
                  <a:pt x="1731682" y="3089329"/>
                  <a:pt x="1799617" y="3083668"/>
                </a:cubicBezTo>
                <a:cubicBezTo>
                  <a:pt x="1809835" y="3082816"/>
                  <a:pt x="1818941" y="3076757"/>
                  <a:pt x="1828800" y="3073940"/>
                </a:cubicBezTo>
                <a:cubicBezTo>
                  <a:pt x="1841655" y="3070267"/>
                  <a:pt x="1854856" y="3067886"/>
                  <a:pt x="1867711" y="3064213"/>
                </a:cubicBezTo>
                <a:cubicBezTo>
                  <a:pt x="1877570" y="3061396"/>
                  <a:pt x="1887035" y="3057302"/>
                  <a:pt x="1896894" y="3054485"/>
                </a:cubicBezTo>
                <a:cubicBezTo>
                  <a:pt x="1946884" y="3040202"/>
                  <a:pt x="1950465" y="3042925"/>
                  <a:pt x="2013626" y="3035030"/>
                </a:cubicBezTo>
                <a:cubicBezTo>
                  <a:pt x="2026596" y="3031787"/>
                  <a:pt x="2039731" y="3029144"/>
                  <a:pt x="2052537" y="3025302"/>
                </a:cubicBezTo>
                <a:cubicBezTo>
                  <a:pt x="2072180" y="3019409"/>
                  <a:pt x="2110903" y="3005847"/>
                  <a:pt x="2110903" y="3005847"/>
                </a:cubicBezTo>
                <a:cubicBezTo>
                  <a:pt x="2117388" y="2999362"/>
                  <a:pt x="2123196" y="2992120"/>
                  <a:pt x="2130358" y="2986391"/>
                </a:cubicBezTo>
                <a:cubicBezTo>
                  <a:pt x="2139487" y="2979088"/>
                  <a:pt x="2152238" y="2976065"/>
                  <a:pt x="2159541" y="2966936"/>
                </a:cubicBezTo>
                <a:cubicBezTo>
                  <a:pt x="2165946" y="2958929"/>
                  <a:pt x="2163992" y="2946546"/>
                  <a:pt x="2169268" y="2937753"/>
                </a:cubicBezTo>
                <a:cubicBezTo>
                  <a:pt x="2173987" y="2929889"/>
                  <a:pt x="2183221" y="2925635"/>
                  <a:pt x="2188724" y="2918298"/>
                </a:cubicBezTo>
                <a:cubicBezTo>
                  <a:pt x="2202753" y="2899592"/>
                  <a:pt x="2214664" y="2879387"/>
                  <a:pt x="2227634" y="2859932"/>
                </a:cubicBezTo>
                <a:lnTo>
                  <a:pt x="2266545" y="2801566"/>
                </a:lnTo>
                <a:cubicBezTo>
                  <a:pt x="2273030" y="2791838"/>
                  <a:pt x="2282303" y="2783474"/>
                  <a:pt x="2286000" y="2772383"/>
                </a:cubicBezTo>
                <a:lnTo>
                  <a:pt x="2305456" y="2714017"/>
                </a:lnTo>
                <a:cubicBezTo>
                  <a:pt x="2317325" y="2678409"/>
                  <a:pt x="2329157" y="2645388"/>
                  <a:pt x="2334639" y="2607013"/>
                </a:cubicBezTo>
                <a:lnTo>
                  <a:pt x="2344366" y="2538919"/>
                </a:lnTo>
                <a:cubicBezTo>
                  <a:pt x="2341124" y="2483796"/>
                  <a:pt x="2341218" y="2428374"/>
                  <a:pt x="2334639" y="2373549"/>
                </a:cubicBezTo>
                <a:cubicBezTo>
                  <a:pt x="2330059" y="2335386"/>
                  <a:pt x="2308414" y="2275419"/>
                  <a:pt x="2295728" y="2237362"/>
                </a:cubicBezTo>
                <a:cubicBezTo>
                  <a:pt x="2292485" y="2227634"/>
                  <a:pt x="2288487" y="2218127"/>
                  <a:pt x="2286000" y="2208179"/>
                </a:cubicBezTo>
                <a:cubicBezTo>
                  <a:pt x="2282882" y="2195706"/>
                  <a:pt x="2273525" y="2154045"/>
                  <a:pt x="2266545" y="2140085"/>
                </a:cubicBezTo>
                <a:cubicBezTo>
                  <a:pt x="2261317" y="2129628"/>
                  <a:pt x="2252318" y="2121359"/>
                  <a:pt x="2247090" y="2110902"/>
                </a:cubicBezTo>
                <a:cubicBezTo>
                  <a:pt x="2242504" y="2101731"/>
                  <a:pt x="2241948" y="2090890"/>
                  <a:pt x="2237362" y="2081719"/>
                </a:cubicBezTo>
                <a:cubicBezTo>
                  <a:pt x="2232134" y="2071262"/>
                  <a:pt x="2223135" y="2062993"/>
                  <a:pt x="2217907" y="2052536"/>
                </a:cubicBezTo>
                <a:cubicBezTo>
                  <a:pt x="2213321" y="2043365"/>
                  <a:pt x="2212765" y="2032524"/>
                  <a:pt x="2208179" y="2023353"/>
                </a:cubicBezTo>
                <a:cubicBezTo>
                  <a:pt x="2202951" y="2012896"/>
                  <a:pt x="2193952" y="2004627"/>
                  <a:pt x="2188724" y="1994170"/>
                </a:cubicBezTo>
                <a:cubicBezTo>
                  <a:pt x="2184138" y="1984999"/>
                  <a:pt x="2183239" y="1974322"/>
                  <a:pt x="2178996" y="1964987"/>
                </a:cubicBezTo>
                <a:cubicBezTo>
                  <a:pt x="2166995" y="1938584"/>
                  <a:pt x="2149258" y="1914680"/>
                  <a:pt x="2140086" y="1887166"/>
                </a:cubicBezTo>
                <a:cubicBezTo>
                  <a:pt x="2117272" y="1818727"/>
                  <a:pt x="2146964" y="1903216"/>
                  <a:pt x="2110903" y="1819072"/>
                </a:cubicBezTo>
                <a:cubicBezTo>
                  <a:pt x="2106864" y="1809647"/>
                  <a:pt x="2105761" y="1799060"/>
                  <a:pt x="2101175" y="1789889"/>
                </a:cubicBezTo>
                <a:cubicBezTo>
                  <a:pt x="2095947" y="1779432"/>
                  <a:pt x="2086948" y="1771163"/>
                  <a:pt x="2081720" y="1760706"/>
                </a:cubicBezTo>
                <a:cubicBezTo>
                  <a:pt x="2077134" y="1751535"/>
                  <a:pt x="2076578" y="1740694"/>
                  <a:pt x="2071992" y="1731523"/>
                </a:cubicBezTo>
                <a:cubicBezTo>
                  <a:pt x="2066764" y="1721066"/>
                  <a:pt x="2057765" y="1712797"/>
                  <a:pt x="2052537" y="1702340"/>
                </a:cubicBezTo>
                <a:cubicBezTo>
                  <a:pt x="2047951" y="1693169"/>
                  <a:pt x="2047789" y="1682120"/>
                  <a:pt x="2042809" y="1673157"/>
                </a:cubicBezTo>
                <a:cubicBezTo>
                  <a:pt x="2031453" y="1652717"/>
                  <a:pt x="2003898" y="1614791"/>
                  <a:pt x="2003898" y="1614791"/>
                </a:cubicBezTo>
                <a:cubicBezTo>
                  <a:pt x="1978167" y="1511863"/>
                  <a:pt x="2013103" y="1633069"/>
                  <a:pt x="1974715" y="1546698"/>
                </a:cubicBezTo>
                <a:cubicBezTo>
                  <a:pt x="1966386" y="1527958"/>
                  <a:pt x="1961745" y="1507787"/>
                  <a:pt x="1955260" y="1488332"/>
                </a:cubicBezTo>
                <a:lnTo>
                  <a:pt x="1945532" y="1459149"/>
                </a:lnTo>
                <a:cubicBezTo>
                  <a:pt x="1947236" y="1443809"/>
                  <a:pt x="1953161" y="1334787"/>
                  <a:pt x="1974715" y="1313234"/>
                </a:cubicBezTo>
                <a:lnTo>
                  <a:pt x="1994171" y="1293779"/>
                </a:lnTo>
                <a:cubicBezTo>
                  <a:pt x="2000656" y="1274324"/>
                  <a:pt x="1999125" y="1249914"/>
                  <a:pt x="2013626" y="1235413"/>
                </a:cubicBezTo>
                <a:cubicBezTo>
                  <a:pt x="2041348" y="1207690"/>
                  <a:pt x="2027993" y="1223588"/>
                  <a:pt x="2052537" y="1186774"/>
                </a:cubicBezTo>
                <a:cubicBezTo>
                  <a:pt x="2055779" y="1177046"/>
                  <a:pt x="2057284" y="1166554"/>
                  <a:pt x="2062264" y="1157591"/>
                </a:cubicBezTo>
                <a:cubicBezTo>
                  <a:pt x="2073619" y="1137151"/>
                  <a:pt x="2093781" y="1121407"/>
                  <a:pt x="2101175" y="1099225"/>
                </a:cubicBezTo>
                <a:cubicBezTo>
                  <a:pt x="2104418" y="1089497"/>
                  <a:pt x="2105215" y="1078574"/>
                  <a:pt x="2110903" y="1070042"/>
                </a:cubicBezTo>
                <a:cubicBezTo>
                  <a:pt x="2118534" y="1058596"/>
                  <a:pt x="2131640" y="1051719"/>
                  <a:pt x="2140086" y="1040860"/>
                </a:cubicBezTo>
                <a:cubicBezTo>
                  <a:pt x="2140090" y="1040855"/>
                  <a:pt x="2188722" y="967905"/>
                  <a:pt x="2198451" y="953311"/>
                </a:cubicBezTo>
                <a:lnTo>
                  <a:pt x="2217907" y="924128"/>
                </a:lnTo>
                <a:cubicBezTo>
                  <a:pt x="2242356" y="850776"/>
                  <a:pt x="2209375" y="941191"/>
                  <a:pt x="2247090" y="865762"/>
                </a:cubicBezTo>
                <a:cubicBezTo>
                  <a:pt x="2254862" y="850218"/>
                  <a:pt x="2262391" y="812206"/>
                  <a:pt x="2266545" y="797668"/>
                </a:cubicBezTo>
                <a:cubicBezTo>
                  <a:pt x="2276087" y="764272"/>
                  <a:pt x="2278436" y="764159"/>
                  <a:pt x="2295728" y="729574"/>
                </a:cubicBezTo>
                <a:cubicBezTo>
                  <a:pt x="2292485" y="671208"/>
                  <a:pt x="2291542" y="612669"/>
                  <a:pt x="2286000" y="554477"/>
                </a:cubicBezTo>
                <a:cubicBezTo>
                  <a:pt x="2285028" y="544269"/>
                  <a:pt x="2282678" y="533301"/>
                  <a:pt x="2276273" y="525294"/>
                </a:cubicBezTo>
                <a:cubicBezTo>
                  <a:pt x="2268970" y="516165"/>
                  <a:pt x="2256219" y="513141"/>
                  <a:pt x="2247090" y="505838"/>
                </a:cubicBezTo>
                <a:cubicBezTo>
                  <a:pt x="2208940" y="475318"/>
                  <a:pt x="2249129" y="493548"/>
                  <a:pt x="2198451" y="476655"/>
                </a:cubicBezTo>
                <a:cubicBezTo>
                  <a:pt x="2150917" y="429121"/>
                  <a:pt x="2190108" y="462160"/>
                  <a:pt x="2130358" y="428017"/>
                </a:cubicBezTo>
                <a:cubicBezTo>
                  <a:pt x="2120207" y="422217"/>
                  <a:pt x="2110304" y="415865"/>
                  <a:pt x="2101175" y="408562"/>
                </a:cubicBezTo>
                <a:cubicBezTo>
                  <a:pt x="2094013" y="402833"/>
                  <a:pt x="2089584" y="393825"/>
                  <a:pt x="2081720" y="389106"/>
                </a:cubicBezTo>
                <a:cubicBezTo>
                  <a:pt x="2072927" y="383830"/>
                  <a:pt x="2062265" y="382621"/>
                  <a:pt x="2052537" y="379379"/>
                </a:cubicBezTo>
                <a:cubicBezTo>
                  <a:pt x="1988587" y="315429"/>
                  <a:pt x="2108846" y="429887"/>
                  <a:pt x="1974715" y="340468"/>
                </a:cubicBezTo>
                <a:cubicBezTo>
                  <a:pt x="1891081" y="284713"/>
                  <a:pt x="1996897" y="351559"/>
                  <a:pt x="1916349" y="311285"/>
                </a:cubicBezTo>
                <a:cubicBezTo>
                  <a:pt x="1905892" y="306057"/>
                  <a:pt x="1897623" y="297058"/>
                  <a:pt x="1887166" y="291830"/>
                </a:cubicBezTo>
                <a:cubicBezTo>
                  <a:pt x="1877995" y="287244"/>
                  <a:pt x="1867154" y="286688"/>
                  <a:pt x="1857983" y="282102"/>
                </a:cubicBezTo>
                <a:cubicBezTo>
                  <a:pt x="1847526" y="276874"/>
                  <a:pt x="1839483" y="267395"/>
                  <a:pt x="1828800" y="262647"/>
                </a:cubicBezTo>
                <a:cubicBezTo>
                  <a:pt x="1810060" y="254318"/>
                  <a:pt x="1787498" y="254567"/>
                  <a:pt x="1770434" y="243191"/>
                </a:cubicBezTo>
                <a:cubicBezTo>
                  <a:pt x="1709254" y="202405"/>
                  <a:pt x="1774889" y="241435"/>
                  <a:pt x="1663430" y="204281"/>
                </a:cubicBezTo>
                <a:cubicBezTo>
                  <a:pt x="1524726" y="158045"/>
                  <a:pt x="1669064" y="204501"/>
                  <a:pt x="1566154" y="175098"/>
                </a:cubicBezTo>
                <a:cubicBezTo>
                  <a:pt x="1556295" y="172281"/>
                  <a:pt x="1546830" y="168187"/>
                  <a:pt x="1536971" y="165370"/>
                </a:cubicBezTo>
                <a:cubicBezTo>
                  <a:pt x="1524116" y="161697"/>
                  <a:pt x="1510915" y="159315"/>
                  <a:pt x="1498060" y="155642"/>
                </a:cubicBezTo>
                <a:cubicBezTo>
                  <a:pt x="1488201" y="152825"/>
                  <a:pt x="1478736" y="148732"/>
                  <a:pt x="1468877" y="145915"/>
                </a:cubicBezTo>
                <a:cubicBezTo>
                  <a:pt x="1456022" y="142242"/>
                  <a:pt x="1442772" y="140029"/>
                  <a:pt x="1429966" y="136187"/>
                </a:cubicBezTo>
                <a:cubicBezTo>
                  <a:pt x="1429916" y="136172"/>
                  <a:pt x="1357033" y="111876"/>
                  <a:pt x="1342417" y="107004"/>
                </a:cubicBezTo>
                <a:lnTo>
                  <a:pt x="1284051" y="87549"/>
                </a:lnTo>
                <a:cubicBezTo>
                  <a:pt x="1274323" y="84306"/>
                  <a:pt x="1264816" y="80308"/>
                  <a:pt x="1254868" y="77821"/>
                </a:cubicBezTo>
                <a:cubicBezTo>
                  <a:pt x="1241898" y="74579"/>
                  <a:pt x="1228813" y="71767"/>
                  <a:pt x="1215958" y="68094"/>
                </a:cubicBezTo>
                <a:cubicBezTo>
                  <a:pt x="1206099" y="65277"/>
                  <a:pt x="1196785" y="60590"/>
                  <a:pt x="1186775" y="58366"/>
                </a:cubicBezTo>
                <a:cubicBezTo>
                  <a:pt x="1167521" y="54087"/>
                  <a:pt x="1147815" y="52166"/>
                  <a:pt x="1128409" y="48638"/>
                </a:cubicBezTo>
                <a:cubicBezTo>
                  <a:pt x="1016049" y="28209"/>
                  <a:pt x="1156399" y="49777"/>
                  <a:pt x="1001949" y="29183"/>
                </a:cubicBezTo>
                <a:cubicBezTo>
                  <a:pt x="979222" y="26153"/>
                  <a:pt x="956670" y="21736"/>
                  <a:pt x="933856" y="19455"/>
                </a:cubicBezTo>
                <a:cubicBezTo>
                  <a:pt x="891788" y="15248"/>
                  <a:pt x="849483" y="13736"/>
                  <a:pt x="807396" y="9728"/>
                </a:cubicBezTo>
                <a:cubicBezTo>
                  <a:pt x="781372" y="7250"/>
                  <a:pt x="755515" y="3243"/>
                  <a:pt x="729575" y="0"/>
                </a:cubicBezTo>
                <a:cubicBezTo>
                  <a:pt x="661481" y="3243"/>
                  <a:pt x="593229" y="4067"/>
                  <a:pt x="525294" y="9728"/>
                </a:cubicBezTo>
                <a:cubicBezTo>
                  <a:pt x="495949" y="12173"/>
                  <a:pt x="492180" y="26285"/>
                  <a:pt x="466928" y="38911"/>
                </a:cubicBezTo>
                <a:cubicBezTo>
                  <a:pt x="445423" y="49663"/>
                  <a:pt x="465307" y="51881"/>
                  <a:pt x="437745" y="58366"/>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9F5242-456F-2048-A0C7-6857C7DF9869}"/>
              </a:ext>
            </a:extLst>
          </p:cNvPr>
          <p:cNvSpPr>
            <a:spLocks noGrp="1"/>
          </p:cNvSpPr>
          <p:nvPr>
            <p:ph type="title"/>
          </p:nvPr>
        </p:nvSpPr>
        <p:spPr/>
        <p:txBody>
          <a:bodyPr/>
          <a:lstStyle/>
          <a:p>
            <a:r>
              <a:rPr lang="en-US" dirty="0"/>
              <a:t>When </a:t>
            </a:r>
            <a:r>
              <a:rPr lang="en-US" i="1" dirty="0"/>
              <a:t>Doesn’t</a:t>
            </a:r>
            <a:r>
              <a:rPr lang="en-US" dirty="0"/>
              <a:t> Dijkstra’s Work?</a:t>
            </a:r>
          </a:p>
        </p:txBody>
      </p:sp>
      <p:sp>
        <p:nvSpPr>
          <p:cNvPr id="3" name="Content Placeholder 2">
            <a:extLst>
              <a:ext uri="{FF2B5EF4-FFF2-40B4-BE49-F238E27FC236}">
                <a16:creationId xmlns:a16="http://schemas.microsoft.com/office/drawing/2014/main" id="{A32C4693-C754-4146-8DFA-74CDCFEC1DFD}"/>
              </a:ext>
            </a:extLst>
          </p:cNvPr>
          <p:cNvSpPr>
            <a:spLocks noGrp="1"/>
          </p:cNvSpPr>
          <p:nvPr>
            <p:ph idx="1"/>
          </p:nvPr>
        </p:nvSpPr>
        <p:spPr>
          <a:xfrm>
            <a:off x="5977140" y="2944624"/>
            <a:ext cx="5344516" cy="3086687"/>
          </a:xfrm>
        </p:spPr>
        <p:txBody>
          <a:bodyPr/>
          <a:lstStyle/>
          <a:p>
            <a:r>
              <a:rPr lang="en-US" dirty="0"/>
              <a:t>Dijkstra’s Algorithm is not guaranteed to work on graphs with </a:t>
            </a:r>
            <a:r>
              <a:rPr lang="en-US" b="1" dirty="0"/>
              <a:t>negative edge weights</a:t>
            </a:r>
          </a:p>
          <a:p>
            <a:pPr lvl="1"/>
            <a:r>
              <a:rPr lang="en-US" dirty="0"/>
              <a:t>It </a:t>
            </a:r>
            <a:r>
              <a:rPr lang="en-US" i="1" dirty="0"/>
              <a:t>can</a:t>
            </a:r>
            <a:r>
              <a:rPr lang="en-US" dirty="0"/>
              <a:t> work, but is fooled when a negative edge “hides” behind a large edge weight</a:t>
            </a:r>
          </a:p>
          <a:p>
            <a:pPr lvl="1"/>
            <a:r>
              <a:rPr lang="en-US" dirty="0"/>
              <a:t>Will still run, but give wrong answer</a:t>
            </a:r>
          </a:p>
        </p:txBody>
      </p:sp>
      <p:sp>
        <p:nvSpPr>
          <p:cNvPr id="5" name="Google Shape;752;p43">
            <a:extLst>
              <a:ext uri="{FF2B5EF4-FFF2-40B4-BE49-F238E27FC236}">
                <a16:creationId xmlns:a16="http://schemas.microsoft.com/office/drawing/2014/main" id="{BFA3B357-4C75-C74C-9672-D882E8D9ACE0}"/>
              </a:ext>
            </a:extLst>
          </p:cNvPr>
          <p:cNvSpPr/>
          <p:nvPr/>
        </p:nvSpPr>
        <p:spPr>
          <a:xfrm>
            <a:off x="2358560" y="401005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2133" dirty="0">
                <a:latin typeface="Calibri" panose="020F0502020204030204" pitchFamily="34" charset="0"/>
                <a:cs typeface="Calibri" panose="020F0502020204030204" pitchFamily="34" charset="0"/>
              </a:rPr>
              <a:t>X</a:t>
            </a:r>
            <a:endParaRPr sz="2133"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DB14DBB-162D-9441-A98B-BCFDF540CE35}"/>
              </a:ext>
            </a:extLst>
          </p:cNvPr>
          <p:cNvSpPr txBox="1"/>
          <p:nvPr/>
        </p:nvSpPr>
        <p:spPr>
          <a:xfrm>
            <a:off x="1424093" y="2247379"/>
            <a:ext cx="1042658" cy="369332"/>
          </a:xfrm>
          <a:prstGeom prst="rect">
            <a:avLst/>
          </a:prstGeom>
          <a:noFill/>
        </p:spPr>
        <p:txBody>
          <a:bodyPr wrap="none" rtlCol="0">
            <a:spAutoFit/>
          </a:bodyPr>
          <a:lstStyle/>
          <a:p>
            <a:r>
              <a:rPr lang="en-US" b="1" spc="100" dirty="0">
                <a:solidFill>
                  <a:schemeClr val="accent6"/>
                </a:solidFill>
              </a:rPr>
              <a:t>KNOWN</a:t>
            </a:r>
          </a:p>
        </p:txBody>
      </p:sp>
      <p:sp>
        <p:nvSpPr>
          <p:cNvPr id="7" name="Text Box 47">
            <a:extLst>
              <a:ext uri="{FF2B5EF4-FFF2-40B4-BE49-F238E27FC236}">
                <a16:creationId xmlns:a16="http://schemas.microsoft.com/office/drawing/2014/main" id="{0C09A784-1C81-8047-A099-5A3E1FE7B5B9}"/>
              </a:ext>
            </a:extLst>
          </p:cNvPr>
          <p:cNvSpPr txBox="1">
            <a:spLocks noChangeArrowheads="1"/>
          </p:cNvSpPr>
          <p:nvPr>
            <p:custDataLst>
              <p:tags r:id="rId1"/>
            </p:custDataLst>
          </p:nvPr>
        </p:nvSpPr>
        <p:spPr bwMode="auto">
          <a:xfrm>
            <a:off x="2602304" y="3677968"/>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8</a:t>
            </a:r>
            <a:endParaRPr lang="en-US" sz="2000" dirty="0">
              <a:solidFill>
                <a:srgbClr val="FF0000"/>
              </a:solidFill>
              <a:latin typeface="Calibri" panose="020F0502020204030204" pitchFamily="34" charset="0"/>
              <a:cs typeface="Calibri" panose="020F0502020204030204" pitchFamily="34" charset="0"/>
            </a:endParaRPr>
          </a:p>
        </p:txBody>
      </p:sp>
      <p:sp>
        <p:nvSpPr>
          <p:cNvPr id="8" name="Text Box 54">
            <a:extLst>
              <a:ext uri="{FF2B5EF4-FFF2-40B4-BE49-F238E27FC236}">
                <a16:creationId xmlns:a16="http://schemas.microsoft.com/office/drawing/2014/main" id="{139B0609-C3F8-4F4D-812C-FE0446A913BE}"/>
              </a:ext>
            </a:extLst>
          </p:cNvPr>
          <p:cNvSpPr txBox="1">
            <a:spLocks noChangeArrowheads="1"/>
          </p:cNvSpPr>
          <p:nvPr>
            <p:custDataLst>
              <p:tags r:id="rId2"/>
            </p:custDataLst>
          </p:nvPr>
        </p:nvSpPr>
        <p:spPr bwMode="auto">
          <a:xfrm>
            <a:off x="2416153" y="3198167"/>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3</a:t>
            </a:r>
          </a:p>
        </p:txBody>
      </p:sp>
      <p:sp>
        <p:nvSpPr>
          <p:cNvPr id="9" name="Text Box 54">
            <a:extLst>
              <a:ext uri="{FF2B5EF4-FFF2-40B4-BE49-F238E27FC236}">
                <a16:creationId xmlns:a16="http://schemas.microsoft.com/office/drawing/2014/main" id="{C275FFA1-B8E6-BD45-8504-B32047772F2F}"/>
              </a:ext>
            </a:extLst>
          </p:cNvPr>
          <p:cNvSpPr txBox="1">
            <a:spLocks noChangeArrowheads="1"/>
          </p:cNvSpPr>
          <p:nvPr>
            <p:custDataLst>
              <p:tags r:id="rId3"/>
            </p:custDataLst>
          </p:nvPr>
        </p:nvSpPr>
        <p:spPr bwMode="auto">
          <a:xfrm>
            <a:off x="3214521" y="2628611"/>
            <a:ext cx="340158"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6</a:t>
            </a:r>
          </a:p>
        </p:txBody>
      </p:sp>
      <p:cxnSp>
        <p:nvCxnSpPr>
          <p:cNvPr id="10" name="AutoShape 32">
            <a:extLst>
              <a:ext uri="{FF2B5EF4-FFF2-40B4-BE49-F238E27FC236}">
                <a16:creationId xmlns:a16="http://schemas.microsoft.com/office/drawing/2014/main" id="{1EEDE247-9E85-5A45-9B28-0EEB0628D081}"/>
              </a:ext>
            </a:extLst>
          </p:cNvPr>
          <p:cNvCxnSpPr>
            <a:cxnSpLocks noChangeShapeType="1"/>
            <a:stCxn id="15" idx="2"/>
            <a:endCxn id="5" idx="0"/>
          </p:cNvCxnSpPr>
          <p:nvPr>
            <p:custDataLst>
              <p:tags r:id="rId4"/>
            </p:custDataLst>
          </p:nvPr>
        </p:nvCxnSpPr>
        <p:spPr bwMode="auto">
          <a:xfrm>
            <a:off x="2373038" y="2981949"/>
            <a:ext cx="197122" cy="1028110"/>
          </a:xfrm>
          <a:prstGeom prst="straightConnector1">
            <a:avLst/>
          </a:prstGeom>
          <a:noFill/>
          <a:ln w="9525">
            <a:solidFill>
              <a:schemeClr val="tx1"/>
            </a:solidFill>
            <a:round/>
            <a:headEnd/>
            <a:tailEnd type="triangle" w="med" len="med"/>
          </a:ln>
        </p:spPr>
      </p:cxnSp>
      <p:sp>
        <p:nvSpPr>
          <p:cNvPr id="11" name="Google Shape;752;p43">
            <a:extLst>
              <a:ext uri="{FF2B5EF4-FFF2-40B4-BE49-F238E27FC236}">
                <a16:creationId xmlns:a16="http://schemas.microsoft.com/office/drawing/2014/main" id="{CF88E93A-F1A8-A24D-86E2-62792C6AE206}"/>
              </a:ext>
            </a:extLst>
          </p:cNvPr>
          <p:cNvSpPr/>
          <p:nvPr/>
        </p:nvSpPr>
        <p:spPr>
          <a:xfrm>
            <a:off x="3762790" y="3189164"/>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133" dirty="0">
                <a:latin typeface="Calibri" panose="020F0502020204030204" pitchFamily="34" charset="0"/>
                <a:cs typeface="Calibri" panose="020F0502020204030204" pitchFamily="34" charset="0"/>
              </a:rPr>
              <a:t>A</a:t>
            </a:r>
            <a:endParaRPr sz="2133" dirty="0">
              <a:latin typeface="Calibri" panose="020F0502020204030204" pitchFamily="34" charset="0"/>
              <a:cs typeface="Calibri" panose="020F0502020204030204" pitchFamily="34" charset="0"/>
            </a:endParaRPr>
          </a:p>
        </p:txBody>
      </p:sp>
      <p:cxnSp>
        <p:nvCxnSpPr>
          <p:cNvPr id="12" name="AutoShape 32">
            <a:extLst>
              <a:ext uri="{FF2B5EF4-FFF2-40B4-BE49-F238E27FC236}">
                <a16:creationId xmlns:a16="http://schemas.microsoft.com/office/drawing/2014/main" id="{2724F4BA-B975-4740-A624-764E64B40630}"/>
              </a:ext>
            </a:extLst>
          </p:cNvPr>
          <p:cNvCxnSpPr>
            <a:cxnSpLocks noChangeShapeType="1"/>
            <a:stCxn id="15" idx="3"/>
            <a:endCxn id="11" idx="0"/>
          </p:cNvCxnSpPr>
          <p:nvPr>
            <p:custDataLst>
              <p:tags r:id="rId5"/>
            </p:custDataLst>
          </p:nvPr>
        </p:nvCxnSpPr>
        <p:spPr bwMode="auto">
          <a:xfrm>
            <a:off x="2584638" y="2813349"/>
            <a:ext cx="1389752" cy="375815"/>
          </a:xfrm>
          <a:prstGeom prst="straightConnector1">
            <a:avLst/>
          </a:prstGeom>
          <a:noFill/>
          <a:ln w="9525">
            <a:solidFill>
              <a:schemeClr val="tx1"/>
            </a:solidFill>
            <a:round/>
            <a:headEnd/>
            <a:tailEnd type="triangle" w="med" len="med"/>
          </a:ln>
        </p:spPr>
      </p:cxnSp>
      <p:cxnSp>
        <p:nvCxnSpPr>
          <p:cNvPr id="13" name="AutoShape 32">
            <a:extLst>
              <a:ext uri="{FF2B5EF4-FFF2-40B4-BE49-F238E27FC236}">
                <a16:creationId xmlns:a16="http://schemas.microsoft.com/office/drawing/2014/main" id="{EED858D5-13D5-664B-8E19-FE74559F10BC}"/>
              </a:ext>
            </a:extLst>
          </p:cNvPr>
          <p:cNvCxnSpPr>
            <a:cxnSpLocks noChangeShapeType="1"/>
            <a:stCxn id="11" idx="2"/>
            <a:endCxn id="5" idx="3"/>
          </p:cNvCxnSpPr>
          <p:nvPr>
            <p:custDataLst>
              <p:tags r:id="rId6"/>
            </p:custDataLst>
          </p:nvPr>
        </p:nvCxnSpPr>
        <p:spPr bwMode="auto">
          <a:xfrm flipH="1">
            <a:off x="2781760" y="3526364"/>
            <a:ext cx="1192630" cy="652295"/>
          </a:xfrm>
          <a:prstGeom prst="straightConnector1">
            <a:avLst/>
          </a:prstGeom>
          <a:noFill/>
          <a:ln w="9525">
            <a:solidFill>
              <a:schemeClr val="tx1"/>
            </a:solidFill>
            <a:round/>
            <a:headEnd/>
            <a:tailEnd type="triangle" w="med" len="med"/>
          </a:ln>
        </p:spPr>
      </p:cxnSp>
      <p:sp>
        <p:nvSpPr>
          <p:cNvPr id="14" name="Text Box 54">
            <a:extLst>
              <a:ext uri="{FF2B5EF4-FFF2-40B4-BE49-F238E27FC236}">
                <a16:creationId xmlns:a16="http://schemas.microsoft.com/office/drawing/2014/main" id="{CD9BB9B7-603C-0343-8990-67B655B0542B}"/>
              </a:ext>
            </a:extLst>
          </p:cNvPr>
          <p:cNvSpPr txBox="1">
            <a:spLocks noChangeArrowheads="1"/>
          </p:cNvSpPr>
          <p:nvPr>
            <p:custDataLst>
              <p:tags r:id="rId7"/>
            </p:custDataLst>
          </p:nvPr>
        </p:nvSpPr>
        <p:spPr bwMode="auto">
          <a:xfrm>
            <a:off x="3365381" y="3725148"/>
            <a:ext cx="434734" cy="461665"/>
          </a:xfrm>
          <a:prstGeom prst="rect">
            <a:avLst/>
          </a:prstGeom>
          <a:noFill/>
          <a:ln w="9525">
            <a:noFill/>
            <a:miter lim="800000"/>
            <a:headEnd/>
            <a:tailEnd/>
          </a:ln>
        </p:spPr>
        <p:txBody>
          <a:bodyPr wrap="none">
            <a:spAutoFit/>
          </a:bodyPr>
          <a:lstStyle/>
          <a:p>
            <a:r>
              <a:rPr lang="en-US" sz="2400" dirty="0">
                <a:latin typeface="Calibri" panose="020F0502020204030204" pitchFamily="34" charset="0"/>
                <a:cs typeface="Calibri" panose="020F0502020204030204" pitchFamily="34" charset="0"/>
              </a:rPr>
              <a:t>-5</a:t>
            </a:r>
          </a:p>
        </p:txBody>
      </p:sp>
      <p:sp>
        <p:nvSpPr>
          <p:cNvPr id="15" name="Google Shape;752;p43">
            <a:extLst>
              <a:ext uri="{FF2B5EF4-FFF2-40B4-BE49-F238E27FC236}">
                <a16:creationId xmlns:a16="http://schemas.microsoft.com/office/drawing/2014/main" id="{187422EF-BED0-964E-919B-B325629E5806}"/>
              </a:ext>
            </a:extLst>
          </p:cNvPr>
          <p:cNvSpPr/>
          <p:nvPr/>
        </p:nvSpPr>
        <p:spPr>
          <a:xfrm>
            <a:off x="2161438" y="2644749"/>
            <a:ext cx="423200" cy="337200"/>
          </a:xfrm>
          <a:prstGeom prst="rect">
            <a:avLst/>
          </a:prstGeom>
          <a:solidFill>
            <a:schemeClr val="accent2">
              <a:lumMod val="40000"/>
              <a:lumOff val="60000"/>
            </a:schemeClr>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sz="2133" dirty="0">
              <a:latin typeface="Calibri" panose="020F0502020204030204" pitchFamily="34" charset="0"/>
              <a:cs typeface="Calibri" panose="020F0502020204030204" pitchFamily="34" charset="0"/>
            </a:endParaRPr>
          </a:p>
        </p:txBody>
      </p:sp>
      <p:sp>
        <p:nvSpPr>
          <p:cNvPr id="16" name="Text Box 47">
            <a:extLst>
              <a:ext uri="{FF2B5EF4-FFF2-40B4-BE49-F238E27FC236}">
                <a16:creationId xmlns:a16="http://schemas.microsoft.com/office/drawing/2014/main" id="{C408EB4F-015E-3A49-B162-FB42BF92CD21}"/>
              </a:ext>
            </a:extLst>
          </p:cNvPr>
          <p:cNvSpPr txBox="1">
            <a:spLocks noChangeArrowheads="1"/>
          </p:cNvSpPr>
          <p:nvPr>
            <p:custDataLst>
              <p:tags r:id="rId8"/>
            </p:custDataLst>
          </p:nvPr>
        </p:nvSpPr>
        <p:spPr bwMode="auto">
          <a:xfrm>
            <a:off x="2449309" y="2311487"/>
            <a:ext cx="494226"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5</a:t>
            </a:r>
            <a:endParaRPr lang="en-US" sz="2000" dirty="0">
              <a:solidFill>
                <a:srgbClr val="FF0000"/>
              </a:solidFill>
              <a:latin typeface="Calibri" panose="020F0502020204030204" pitchFamily="34" charset="0"/>
              <a:cs typeface="Calibri" panose="020F0502020204030204" pitchFamily="34" charset="0"/>
            </a:endParaRPr>
          </a:p>
        </p:txBody>
      </p:sp>
      <p:sp>
        <p:nvSpPr>
          <p:cNvPr id="17" name="Text Box 47">
            <a:extLst>
              <a:ext uri="{FF2B5EF4-FFF2-40B4-BE49-F238E27FC236}">
                <a16:creationId xmlns:a16="http://schemas.microsoft.com/office/drawing/2014/main" id="{DA3F9B02-2CAA-7A44-B911-00AF48131286}"/>
              </a:ext>
            </a:extLst>
          </p:cNvPr>
          <p:cNvSpPr txBox="1">
            <a:spLocks noChangeArrowheads="1"/>
          </p:cNvSpPr>
          <p:nvPr>
            <p:custDataLst>
              <p:tags r:id="rId9"/>
            </p:custDataLst>
          </p:nvPr>
        </p:nvSpPr>
        <p:spPr bwMode="auto">
          <a:xfrm>
            <a:off x="4040322" y="2861637"/>
            <a:ext cx="668112" cy="338554"/>
          </a:xfrm>
          <a:prstGeom prst="rect">
            <a:avLst/>
          </a:prstGeom>
          <a:noFill/>
          <a:ln w="9525">
            <a:noFill/>
            <a:miter lim="800000"/>
            <a:headEnd/>
            <a:tailEnd/>
          </a:ln>
        </p:spPr>
        <p:txBody>
          <a:bodyPr wrap="square">
            <a:spAutoFit/>
          </a:bodyPr>
          <a:lstStyle/>
          <a:p>
            <a:r>
              <a:rPr lang="en-US" sz="1600" dirty="0">
                <a:solidFill>
                  <a:srgbClr val="FF0000"/>
                </a:solidFill>
                <a:latin typeface="Calibri" panose="020F0502020204030204" pitchFamily="34" charset="0"/>
                <a:cs typeface="Calibri" panose="020F0502020204030204" pitchFamily="34" charset="0"/>
                <a:sym typeface="Calibri"/>
              </a:rPr>
              <a:t>11??</a:t>
            </a:r>
            <a:endParaRPr lang="en-US" sz="2000" dirty="0">
              <a:solidFill>
                <a:srgbClr val="FF0000"/>
              </a:solidFill>
              <a:latin typeface="Calibri" panose="020F0502020204030204" pitchFamily="34" charset="0"/>
              <a:cs typeface="Calibri" panose="020F0502020204030204" pitchFamily="34" charset="0"/>
            </a:endParaRPr>
          </a:p>
        </p:txBody>
      </p:sp>
      <p:sp>
        <p:nvSpPr>
          <p:cNvPr id="18" name="Content Placeholder 2">
            <a:extLst>
              <a:ext uri="{FF2B5EF4-FFF2-40B4-BE49-F238E27FC236}">
                <a16:creationId xmlns:a16="http://schemas.microsoft.com/office/drawing/2014/main" id="{F7AB4EE8-864D-2F43-A1D8-80E1B9227CF2}"/>
              </a:ext>
            </a:extLst>
          </p:cNvPr>
          <p:cNvSpPr txBox="1">
            <a:spLocks/>
          </p:cNvSpPr>
          <p:nvPr/>
        </p:nvSpPr>
        <p:spPr>
          <a:xfrm>
            <a:off x="243300" y="4556100"/>
            <a:ext cx="5554384" cy="19914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Example</a:t>
            </a:r>
            <a:r>
              <a:rPr lang="en-US" sz="2000" dirty="0"/>
              <a:t>:</a:t>
            </a:r>
          </a:p>
          <a:p>
            <a:r>
              <a:rPr lang="en-US" sz="2000" dirty="0"/>
              <a:t>Which vertex do we add first?</a:t>
            </a:r>
          </a:p>
          <a:p>
            <a:pPr lvl="1"/>
            <a:r>
              <a:rPr lang="en-US" sz="1800" dirty="0"/>
              <a:t>X, using edge 3, because </a:t>
            </a:r>
            <a:r>
              <a:rPr lang="en-US" sz="1800" dirty="0">
                <a:solidFill>
                  <a:srgbClr val="FF0000"/>
                </a:solidFill>
              </a:rPr>
              <a:t>8</a:t>
            </a:r>
            <a:r>
              <a:rPr lang="en-US" sz="1800" dirty="0"/>
              <a:t> &lt; </a:t>
            </a:r>
            <a:r>
              <a:rPr lang="en-US" sz="1800" dirty="0">
                <a:solidFill>
                  <a:srgbClr val="FF0000"/>
                </a:solidFill>
              </a:rPr>
              <a:t>11</a:t>
            </a:r>
          </a:p>
          <a:p>
            <a:r>
              <a:rPr lang="en-US" sz="2000" dirty="0"/>
              <a:t>Is 8 the correct shortest path length to X?</a:t>
            </a:r>
          </a:p>
          <a:p>
            <a:pPr lvl="1"/>
            <a:r>
              <a:rPr lang="en-US" sz="1800" dirty="0"/>
              <a:t>No! Going through A, we could have gotten a path of length 6</a:t>
            </a:r>
          </a:p>
          <a:p>
            <a:pPr lvl="1"/>
            <a:endParaRPr lang="en-US" sz="1800" dirty="0"/>
          </a:p>
          <a:p>
            <a:pPr marL="457200" lvl="1" indent="0">
              <a:buNone/>
            </a:pPr>
            <a:endParaRPr lang="en-US" sz="1400" dirty="0">
              <a:solidFill>
                <a:srgbClr val="FF0000"/>
              </a:solidFill>
            </a:endParaRPr>
          </a:p>
        </p:txBody>
      </p:sp>
      <p:grpSp>
        <p:nvGrpSpPr>
          <p:cNvPr id="25" name="Group 24">
            <a:extLst>
              <a:ext uri="{FF2B5EF4-FFF2-40B4-BE49-F238E27FC236}">
                <a16:creationId xmlns:a16="http://schemas.microsoft.com/office/drawing/2014/main" id="{D6C1B928-B978-3545-A1D0-2316D70405FF}"/>
              </a:ext>
            </a:extLst>
          </p:cNvPr>
          <p:cNvGrpSpPr/>
          <p:nvPr/>
        </p:nvGrpSpPr>
        <p:grpSpPr>
          <a:xfrm>
            <a:off x="5667180" y="1330830"/>
            <a:ext cx="5561171" cy="1186151"/>
            <a:chOff x="5667180" y="1330830"/>
            <a:chExt cx="5561171" cy="1186151"/>
          </a:xfrm>
        </p:grpSpPr>
        <p:sp>
          <p:nvSpPr>
            <p:cNvPr id="20" name="Rectangle 19">
              <a:extLst>
                <a:ext uri="{FF2B5EF4-FFF2-40B4-BE49-F238E27FC236}">
                  <a16:creationId xmlns:a16="http://schemas.microsoft.com/office/drawing/2014/main" id="{DD9F8CDF-EC7B-8340-9816-7492E3AF28C7}"/>
                </a:ext>
              </a:extLst>
            </p:cNvPr>
            <p:cNvSpPr/>
            <p:nvPr/>
          </p:nvSpPr>
          <p:spPr>
            <a:xfrm>
              <a:off x="6213444" y="1330830"/>
              <a:ext cx="5014907" cy="118615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t>Dijkstra’s Algorithm Invariant</a:t>
              </a:r>
            </a:p>
            <a:p>
              <a:pPr marL="349250">
                <a:tabLst>
                  <a:tab pos="336550" algn="l"/>
                </a:tabLst>
              </a:pPr>
              <a:r>
                <a:rPr lang="en-US" dirty="0"/>
                <a:t>All vertices in the “known” set have the correct shortest path</a:t>
              </a:r>
            </a:p>
          </p:txBody>
        </p:sp>
        <p:sp>
          <p:nvSpPr>
            <p:cNvPr id="21" name="Rectangle 20">
              <a:extLst>
                <a:ext uri="{FF2B5EF4-FFF2-40B4-BE49-F238E27FC236}">
                  <a16:creationId xmlns:a16="http://schemas.microsoft.com/office/drawing/2014/main" id="{6861D12D-8BB6-1E43-9ACA-B49D25A431C0}"/>
                </a:ext>
              </a:extLst>
            </p:cNvPr>
            <p:cNvSpPr/>
            <p:nvPr/>
          </p:nvSpPr>
          <p:spPr>
            <a:xfrm rot="16200000">
              <a:off x="5347238" y="1650773"/>
              <a:ext cx="1186150" cy="546265"/>
            </a:xfrm>
            <a:prstGeom prst="rect">
              <a:avLst/>
            </a:prstGeom>
            <a:solidFill>
              <a:schemeClr val="accent6">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pc="100" dirty="0"/>
                <a:t>INVARIANT</a:t>
              </a:r>
            </a:p>
          </p:txBody>
        </p:sp>
      </p:grpSp>
      <p:sp>
        <p:nvSpPr>
          <p:cNvPr id="22" name="Lightning Bolt 21">
            <a:extLst>
              <a:ext uri="{FF2B5EF4-FFF2-40B4-BE49-F238E27FC236}">
                <a16:creationId xmlns:a16="http://schemas.microsoft.com/office/drawing/2014/main" id="{62D54BA3-CE1C-B641-9FFF-151A502BCBB6}"/>
              </a:ext>
            </a:extLst>
          </p:cNvPr>
          <p:cNvSpPr/>
          <p:nvPr/>
        </p:nvSpPr>
        <p:spPr>
          <a:xfrm>
            <a:off x="7334656" y="1035359"/>
            <a:ext cx="2408035" cy="1609390"/>
          </a:xfrm>
          <a:prstGeom prst="lightningBol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E4BD5A7-1024-EF40-8847-95A746FE6BBC}"/>
              </a:ext>
            </a:extLst>
          </p:cNvPr>
          <p:cNvSpPr txBox="1"/>
          <p:nvPr/>
        </p:nvSpPr>
        <p:spPr>
          <a:xfrm>
            <a:off x="10712825" y="826689"/>
            <a:ext cx="1031051" cy="1107996"/>
          </a:xfrm>
          <a:prstGeom prst="rect">
            <a:avLst/>
          </a:prstGeom>
          <a:noFill/>
        </p:spPr>
        <p:txBody>
          <a:bodyPr wrap="none" rtlCol="0">
            <a:spAutoFit/>
          </a:bodyPr>
          <a:lstStyle/>
          <a:p>
            <a:r>
              <a:rPr lang="en-US" sz="6600" dirty="0"/>
              <a:t>😵</a:t>
            </a:r>
          </a:p>
        </p:txBody>
      </p:sp>
    </p:spTree>
    <p:extLst>
      <p:ext uri="{BB962C8B-B14F-4D97-AF65-F5344CB8AC3E}">
        <p14:creationId xmlns:p14="http://schemas.microsoft.com/office/powerpoint/2010/main" val="540075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1000"/>
                                        <p:tgtEl>
                                          <p:spTgt spid="25"/>
                                        </p:tgtEl>
                                      </p:cBhvr>
                                    </p:animEffect>
                                    <p:anim calcmode="lin" valueType="num">
                                      <p:cBhvr>
                                        <p:cTn id="16" dur="1000" fill="hold"/>
                                        <p:tgtEl>
                                          <p:spTgt spid="25"/>
                                        </p:tgtEl>
                                        <p:attrNameLst>
                                          <p:attrName>ppt_x</p:attrName>
                                        </p:attrNameLst>
                                      </p:cBhvr>
                                      <p:tavLst>
                                        <p:tav tm="0">
                                          <p:val>
                                            <p:strVal val="#ppt_x"/>
                                          </p:val>
                                        </p:tav>
                                        <p:tav tm="100000">
                                          <p:val>
                                            <p:strVal val="#ppt_x"/>
                                          </p:val>
                                        </p:tav>
                                      </p:tavLst>
                                    </p:anim>
                                    <p:anim calcmode="lin" valueType="num">
                                      <p:cBhvr>
                                        <p:cTn id="17" dur="900" decel="100000" fill="hold"/>
                                        <p:tgtEl>
                                          <p:spTgt spid="25"/>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25"/>
                                        </p:tgtEl>
                                        <p:attrNameLst>
                                          <p:attrName>ppt_y</p:attrName>
                                        </p:attrNameLst>
                                      </p:cBhvr>
                                      <p:tavLst>
                                        <p:tav tm="0">
                                          <p:val>
                                            <p:strVal val="#ppt_y-.03"/>
                                          </p:val>
                                        </p:tav>
                                        <p:tav tm="100000">
                                          <p:val>
                                            <p:strVal val="#ppt_y"/>
                                          </p:val>
                                        </p:tav>
                                      </p:tavLst>
                                    </p:anim>
                                  </p:childTnLst>
                                </p:cTn>
                              </p:par>
                            </p:childTnLst>
                          </p:cTn>
                        </p:par>
                        <p:par>
                          <p:cTn id="19" fill="hold">
                            <p:stCondLst>
                              <p:cond delay="1000"/>
                            </p:stCondLst>
                            <p:childTnLst>
                              <p:par>
                                <p:cTn id="20" presetID="16" presetClass="entr" presetSubtype="42"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arn(outHorizontal)">
                                      <p:cBhvr>
                                        <p:cTn id="22" dur="500"/>
                                        <p:tgtEl>
                                          <p:spTgt spid="22"/>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11B2-A58F-C140-9EF2-75CC42DEE147}"/>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2DCE81C-FFDE-374A-96F7-91C227904DC7}"/>
              </a:ext>
            </a:extLst>
          </p:cNvPr>
          <p:cNvSpPr>
            <a:spLocks noGrp="1"/>
          </p:cNvSpPr>
          <p:nvPr>
            <p:ph idx="1"/>
          </p:nvPr>
        </p:nvSpPr>
        <p:spPr/>
        <p:txBody>
          <a:bodyPr>
            <a:normAutofit/>
          </a:bodyPr>
          <a:lstStyle/>
          <a:p>
            <a:r>
              <a:rPr lang="en-US" sz="1900" b="1" i="1" dirty="0">
                <a:solidFill>
                  <a:schemeClr val="bg1">
                    <a:lumMod val="85000"/>
                  </a:schemeClr>
                </a:solidFill>
              </a:rPr>
              <a:t>Review</a:t>
            </a:r>
            <a:r>
              <a:rPr lang="en-US" sz="1900" dirty="0">
                <a:solidFill>
                  <a:schemeClr val="bg1">
                    <a:lumMod val="85000"/>
                  </a:schemeClr>
                </a:solidFill>
              </a:rPr>
              <a:t>  </a:t>
            </a:r>
            <a:r>
              <a:rPr lang="en-US" sz="1900" b="1" dirty="0">
                <a:solidFill>
                  <a:schemeClr val="bg1">
                    <a:lumMod val="85000"/>
                  </a:schemeClr>
                </a:solidFill>
              </a:rPr>
              <a:t>DFS, BFS, Unweighted Shortest Paths</a:t>
            </a:r>
          </a:p>
          <a:p>
            <a:pPr marL="0" indent="0">
              <a:buNone/>
            </a:pPr>
            <a:endParaRPr lang="en-US" sz="1900" dirty="0"/>
          </a:p>
          <a:p>
            <a:r>
              <a:rPr lang="en-US" sz="1900" dirty="0">
                <a:solidFill>
                  <a:schemeClr val="bg2"/>
                </a:solidFill>
              </a:rPr>
              <a:t>Weighted </a:t>
            </a:r>
            <a:r>
              <a:rPr lang="en-US" sz="1900" dirty="0">
                <a:solidFill>
                  <a:schemeClr val="bg2"/>
                </a:solidFill>
                <a:sym typeface="Wingdings" pitchFamily="2" charset="2"/>
              </a:rPr>
              <a:t>Graphs</a:t>
            </a:r>
          </a:p>
          <a:p>
            <a:pPr marL="0" indent="0">
              <a:buNone/>
            </a:pPr>
            <a:endParaRPr lang="en-US" sz="1900" dirty="0">
              <a:sym typeface="Wingdings" pitchFamily="2" charset="2"/>
            </a:endParaRPr>
          </a:p>
          <a:p>
            <a:r>
              <a:rPr lang="en-US" sz="1900" dirty="0">
                <a:solidFill>
                  <a:schemeClr val="bg2"/>
                </a:solidFill>
                <a:sym typeface="Wingdings" pitchFamily="2" charset="2"/>
              </a:rPr>
              <a:t>Minimum Spanning Tree (MST)</a:t>
            </a:r>
          </a:p>
          <a:p>
            <a:pPr lvl="1"/>
            <a:r>
              <a:rPr lang="en-US" altLang="en-US" sz="1500" dirty="0">
                <a:solidFill>
                  <a:schemeClr val="bg2"/>
                </a:solidFill>
              </a:rPr>
              <a:t>Prim’s Algorithm </a:t>
            </a:r>
          </a:p>
          <a:p>
            <a:pPr lvl="1"/>
            <a:r>
              <a:rPr lang="en-US" sz="1500" dirty="0">
                <a:solidFill>
                  <a:schemeClr val="bg2"/>
                </a:solidFill>
              </a:rPr>
              <a:t>Kruskal’s </a:t>
            </a:r>
            <a:r>
              <a:rPr lang="en-US" altLang="en-US" sz="1500" dirty="0">
                <a:solidFill>
                  <a:schemeClr val="bg2"/>
                </a:solidFill>
              </a:rPr>
              <a:t>Algorithm</a:t>
            </a:r>
          </a:p>
          <a:p>
            <a:pPr lvl="1"/>
            <a:endParaRPr lang="en-US" sz="1500" dirty="0"/>
          </a:p>
          <a:p>
            <a:r>
              <a:rPr lang="en-US" sz="1900" dirty="0">
                <a:solidFill>
                  <a:schemeClr val="bg2"/>
                </a:solidFill>
              </a:rPr>
              <a:t>Weighted Shortest Path Problem</a:t>
            </a:r>
          </a:p>
          <a:p>
            <a:r>
              <a:rPr lang="en-US" sz="1900" dirty="0">
                <a:solidFill>
                  <a:schemeClr val="bg2"/>
                </a:solidFill>
              </a:rPr>
              <a:t>Dijkstra’s Algorithm</a:t>
            </a:r>
          </a:p>
          <a:p>
            <a:pPr marL="685800" lvl="2">
              <a:spcBef>
                <a:spcPts val="1000"/>
              </a:spcBef>
              <a:buFont typeface="Arial" panose="020B0604020202020204" pitchFamily="34" charset="0"/>
              <a:buChar char="•"/>
            </a:pPr>
            <a:r>
              <a:rPr lang="en-US" sz="1500" dirty="0">
                <a:solidFill>
                  <a:schemeClr val="bg2"/>
                </a:solidFill>
              </a:rPr>
              <a:t>Definition &amp; Examples</a:t>
            </a:r>
          </a:p>
          <a:p>
            <a:pPr marL="685800" lvl="2">
              <a:spcBef>
                <a:spcPts val="1000"/>
              </a:spcBef>
              <a:buFont typeface="Arial" panose="020B0604020202020204" pitchFamily="34" charset="0"/>
              <a:buChar char="•"/>
            </a:pPr>
            <a:r>
              <a:rPr lang="en-US" sz="1500" dirty="0"/>
              <a:t>Implementing Dijkstra’s</a:t>
            </a:r>
          </a:p>
          <a:p>
            <a:pPr marL="228600" lvl="1">
              <a:spcBef>
                <a:spcPts val="1000"/>
              </a:spcBef>
              <a:buFont typeface="Arial" panose="020B0604020202020204" pitchFamily="34" charset="0"/>
              <a:buChar char="•"/>
            </a:pPr>
            <a:r>
              <a:rPr lang="en-US" sz="1900" dirty="0">
                <a:solidFill>
                  <a:schemeClr val="accent2"/>
                </a:solidFill>
              </a:rPr>
              <a:t> Topological Sorting</a:t>
            </a:r>
          </a:p>
          <a:p>
            <a:pPr marL="0" indent="0">
              <a:buNone/>
            </a:pPr>
            <a:endParaRPr lang="en-US" dirty="0"/>
          </a:p>
        </p:txBody>
      </p:sp>
      <p:sp>
        <p:nvSpPr>
          <p:cNvPr id="4" name="Pentagon 3">
            <a:extLst>
              <a:ext uri="{FF2B5EF4-FFF2-40B4-BE49-F238E27FC236}">
                <a16:creationId xmlns:a16="http://schemas.microsoft.com/office/drawing/2014/main" id="{58165A75-060D-3B41-A8F5-F02C35F0D9F2}"/>
              </a:ext>
            </a:extLst>
          </p:cNvPr>
          <p:cNvSpPr/>
          <p:nvPr/>
        </p:nvSpPr>
        <p:spPr>
          <a:xfrm rot="10800000">
            <a:off x="3374611" y="5676097"/>
            <a:ext cx="333632" cy="231689"/>
          </a:xfrm>
          <a:prstGeom prst="homePlat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54586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F2B69-58AD-B248-9269-9228C4E97E10}"/>
              </a:ext>
            </a:extLst>
          </p:cNvPr>
          <p:cNvSpPr>
            <a:spLocks noGrp="1"/>
          </p:cNvSpPr>
          <p:nvPr>
            <p:ph type="ctrTitle"/>
          </p:nvPr>
        </p:nvSpPr>
        <p:spPr/>
        <p:txBody>
          <a:bodyPr>
            <a:normAutofit fontScale="90000"/>
          </a:bodyPr>
          <a:lstStyle/>
          <a:p>
            <a:r>
              <a:rPr lang="en-US" b="1" dirty="0">
                <a:solidFill>
                  <a:schemeClr val="accent5"/>
                </a:solidFill>
              </a:rPr>
              <a:t>Topological Sort</a:t>
            </a:r>
            <a:br>
              <a:rPr lang="en-US" b="1" dirty="0">
                <a:solidFill>
                  <a:schemeClr val="accent5"/>
                </a:solidFill>
              </a:rPr>
            </a:br>
            <a:br>
              <a:rPr lang="en-US" b="1" dirty="0">
                <a:solidFill>
                  <a:schemeClr val="accent5"/>
                </a:solidFill>
              </a:rPr>
            </a:br>
            <a:endParaRPr lang="en-US" dirty="0"/>
          </a:p>
        </p:txBody>
      </p:sp>
      <p:sp>
        <p:nvSpPr>
          <p:cNvPr id="3" name="Subtitle 2">
            <a:extLst>
              <a:ext uri="{FF2B5EF4-FFF2-40B4-BE49-F238E27FC236}">
                <a16:creationId xmlns:a16="http://schemas.microsoft.com/office/drawing/2014/main" id="{EBE440BF-44AA-044A-BE2F-69998EA90BA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531335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7892F576-55AF-454E-966B-E7F104311999}"/>
              </a:ext>
            </a:extLst>
          </p:cNvPr>
          <p:cNvPicPr>
            <a:picLocks noChangeAspect="1"/>
          </p:cNvPicPr>
          <p:nvPr/>
        </p:nvPicPr>
        <p:blipFill>
          <a:blip r:embed="rId3"/>
          <a:stretch>
            <a:fillRect/>
          </a:stretch>
        </p:blipFill>
        <p:spPr>
          <a:xfrm>
            <a:off x="1879688" y="747207"/>
            <a:ext cx="7081771" cy="5144636"/>
          </a:xfrm>
          <a:prstGeom prst="rect">
            <a:avLst/>
          </a:prstGeom>
        </p:spPr>
      </p:pic>
    </p:spTree>
    <p:extLst>
      <p:ext uri="{BB962C8B-B14F-4D97-AF65-F5344CB8AC3E}">
        <p14:creationId xmlns:p14="http://schemas.microsoft.com/office/powerpoint/2010/main" val="26097596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 Dependencies</a:t>
            </a:r>
          </a:p>
        </p:txBody>
      </p:sp>
      <p:sp>
        <p:nvSpPr>
          <p:cNvPr id="3" name="Content Placeholder 2"/>
          <p:cNvSpPr>
            <a:spLocks noGrp="1"/>
          </p:cNvSpPr>
          <p:nvPr>
            <p:ph idx="1"/>
          </p:nvPr>
        </p:nvSpPr>
        <p:spPr/>
        <p:txBody>
          <a:bodyPr/>
          <a:lstStyle/>
          <a:p>
            <a:r>
              <a:rPr lang="en-US" dirty="0"/>
              <a:t>Given a set of courses and their prerequisites, find an order to take the courses in (assuming you can only take one course per quarter)</a:t>
            </a:r>
          </a:p>
          <a:p>
            <a:endParaRPr lang="en-US" dirty="0"/>
          </a:p>
          <a:p>
            <a:endParaRPr lang="en-US" dirty="0"/>
          </a:p>
          <a:p>
            <a:endParaRPr lang="en-US" dirty="0"/>
          </a:p>
          <a:p>
            <a:endParaRPr lang="en-US" dirty="0"/>
          </a:p>
          <a:p>
            <a:r>
              <a:rPr lang="en-US" dirty="0"/>
              <a:t>Possible ordering:</a:t>
            </a:r>
          </a:p>
        </p:txBody>
      </p:sp>
      <p:grpSp>
        <p:nvGrpSpPr>
          <p:cNvPr id="14" name="Group 13">
            <a:extLst>
              <a:ext uri="{FF2B5EF4-FFF2-40B4-BE49-F238E27FC236}">
                <a16:creationId xmlns:a16="http://schemas.microsoft.com/office/drawing/2014/main" id="{361D1B99-CC09-4881-849C-63A43D5A7A13}"/>
              </a:ext>
            </a:extLst>
          </p:cNvPr>
          <p:cNvGrpSpPr/>
          <p:nvPr/>
        </p:nvGrpSpPr>
        <p:grpSpPr>
          <a:xfrm>
            <a:off x="2596440" y="2925850"/>
            <a:ext cx="8055797" cy="1681615"/>
            <a:chOff x="946768" y="2257371"/>
            <a:chExt cx="4411791" cy="848379"/>
          </a:xfrm>
        </p:grpSpPr>
        <p:sp>
          <p:nvSpPr>
            <p:cNvPr id="6" name="Rectangle 5"/>
            <p:cNvSpPr/>
            <p:nvPr/>
          </p:nvSpPr>
          <p:spPr>
            <a:xfrm>
              <a:off x="946768" y="2306003"/>
              <a:ext cx="843666"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b="1" dirty="0">
                  <a:solidFill>
                    <a:srgbClr val="000000"/>
                  </a:solidFill>
                  <a:latin typeface="Calibri" panose="020F0502020204030204" pitchFamily="34" charset="0"/>
                  <a:cs typeface="Calibri" panose="020F0502020204030204" pitchFamily="34" charset="0"/>
                </a:rPr>
                <a:t>A</a:t>
              </a:r>
            </a:p>
          </p:txBody>
        </p:sp>
        <p:sp>
          <p:nvSpPr>
            <p:cNvPr id="7" name="Rectangle 6"/>
            <p:cNvSpPr/>
            <p:nvPr/>
          </p:nvSpPr>
          <p:spPr>
            <a:xfrm>
              <a:off x="1008622" y="2775776"/>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G</a:t>
              </a:r>
            </a:p>
          </p:txBody>
        </p:sp>
        <p:sp>
          <p:nvSpPr>
            <p:cNvPr id="8" name="Rectangle 7"/>
            <p:cNvSpPr/>
            <p:nvPr/>
          </p:nvSpPr>
          <p:spPr>
            <a:xfrm>
              <a:off x="2144074" y="2869149"/>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D</a:t>
              </a:r>
            </a:p>
          </p:txBody>
        </p:sp>
        <p:sp>
          <p:nvSpPr>
            <p:cNvPr id="9" name="Rectangle 8"/>
            <p:cNvSpPr/>
            <p:nvPr/>
          </p:nvSpPr>
          <p:spPr>
            <a:xfrm>
              <a:off x="4576747" y="2598538"/>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F</a:t>
              </a:r>
            </a:p>
          </p:txBody>
        </p:sp>
        <p:sp>
          <p:nvSpPr>
            <p:cNvPr id="10" name="Rectangle 9"/>
            <p:cNvSpPr/>
            <p:nvPr/>
          </p:nvSpPr>
          <p:spPr>
            <a:xfrm>
              <a:off x="3447659" y="2573004"/>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E</a:t>
              </a:r>
            </a:p>
          </p:txBody>
        </p:sp>
        <p:sp>
          <p:nvSpPr>
            <p:cNvPr id="11" name="Rectangle 10"/>
            <p:cNvSpPr/>
            <p:nvPr/>
          </p:nvSpPr>
          <p:spPr>
            <a:xfrm>
              <a:off x="3684722" y="2257371"/>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C</a:t>
              </a:r>
            </a:p>
          </p:txBody>
        </p:sp>
        <p:cxnSp>
          <p:nvCxnSpPr>
            <p:cNvPr id="13" name="Straight Arrow Connector 12"/>
            <p:cNvCxnSpPr>
              <a:cxnSpLocks/>
              <a:stCxn id="6" idx="3"/>
              <a:endCxn id="8" idx="1"/>
            </p:cNvCxnSpPr>
            <p:nvPr/>
          </p:nvCxnSpPr>
          <p:spPr>
            <a:xfrm>
              <a:off x="1790434" y="2424304"/>
              <a:ext cx="353640" cy="563145"/>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3"/>
              <a:endCxn id="8" idx="1"/>
            </p:cNvCxnSpPr>
            <p:nvPr/>
          </p:nvCxnSpPr>
          <p:spPr>
            <a:xfrm>
              <a:off x="1790434" y="2894076"/>
              <a:ext cx="353640" cy="9337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a:stCxn id="8" idx="3"/>
              <a:endCxn id="10" idx="1"/>
            </p:cNvCxnSpPr>
            <p:nvPr/>
          </p:nvCxnSpPr>
          <p:spPr>
            <a:xfrm flipV="1">
              <a:off x="2925886" y="2691305"/>
              <a:ext cx="521773" cy="296145"/>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a:stCxn id="10" idx="3"/>
              <a:endCxn id="9" idx="1"/>
            </p:cNvCxnSpPr>
            <p:nvPr/>
          </p:nvCxnSpPr>
          <p:spPr>
            <a:xfrm>
              <a:off x="4229471" y="2691305"/>
              <a:ext cx="347276" cy="25534"/>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a:extLst>
              <a:ext uri="{FF2B5EF4-FFF2-40B4-BE49-F238E27FC236}">
                <a16:creationId xmlns:a16="http://schemas.microsoft.com/office/drawing/2014/main" id="{06183EDB-E9DA-4CBC-AE5E-B55B572BC30D}"/>
              </a:ext>
            </a:extLst>
          </p:cNvPr>
          <p:cNvCxnSpPr>
            <a:cxnSpLocks/>
          </p:cNvCxnSpPr>
          <p:nvPr/>
        </p:nvCxnSpPr>
        <p:spPr>
          <a:xfrm>
            <a:off x="4131065" y="3169142"/>
            <a:ext cx="674216"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54F2CBE5-5EFE-40E4-9E1B-068E9E3425FD}"/>
              </a:ext>
            </a:extLst>
          </p:cNvPr>
          <p:cNvSpPr/>
          <p:nvPr/>
        </p:nvSpPr>
        <p:spPr>
          <a:xfrm>
            <a:off x="4815211" y="3026677"/>
            <a:ext cx="1042416"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B</a:t>
            </a:r>
          </a:p>
        </p:txBody>
      </p:sp>
      <p:cxnSp>
        <p:nvCxnSpPr>
          <p:cNvPr id="41" name="Straight Arrow Connector 40">
            <a:extLst>
              <a:ext uri="{FF2B5EF4-FFF2-40B4-BE49-F238E27FC236}">
                <a16:creationId xmlns:a16="http://schemas.microsoft.com/office/drawing/2014/main" id="{D93FF693-0AE8-46A4-A66A-86D8B01725D1}"/>
              </a:ext>
            </a:extLst>
          </p:cNvPr>
          <p:cNvCxnSpPr>
            <a:cxnSpLocks/>
          </p:cNvCxnSpPr>
          <p:nvPr/>
        </p:nvCxnSpPr>
        <p:spPr>
          <a:xfrm>
            <a:off x="5857627" y="3191708"/>
            <a:ext cx="1280925" cy="604182"/>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D22203C-CD89-49C9-892C-EFB31E1C1E3C}"/>
              </a:ext>
            </a:extLst>
          </p:cNvPr>
          <p:cNvCxnSpPr>
            <a:cxnSpLocks/>
            <a:endCxn id="11" idx="1"/>
          </p:cNvCxnSpPr>
          <p:nvPr/>
        </p:nvCxnSpPr>
        <p:spPr>
          <a:xfrm flipV="1">
            <a:off x="5890153" y="3160341"/>
            <a:ext cx="1705708" cy="6172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220D5240-6BDE-4339-9219-F5920524D389}"/>
              </a:ext>
            </a:extLst>
          </p:cNvPr>
          <p:cNvGrpSpPr/>
          <p:nvPr/>
        </p:nvGrpSpPr>
        <p:grpSpPr>
          <a:xfrm>
            <a:off x="1922542" y="5316988"/>
            <a:ext cx="8890139" cy="435873"/>
            <a:chOff x="2186702" y="5828678"/>
            <a:chExt cx="8890139" cy="435873"/>
          </a:xfrm>
        </p:grpSpPr>
        <p:grpSp>
          <p:nvGrpSpPr>
            <p:cNvPr id="45" name="Group 44">
              <a:extLst>
                <a:ext uri="{FF2B5EF4-FFF2-40B4-BE49-F238E27FC236}">
                  <a16:creationId xmlns:a16="http://schemas.microsoft.com/office/drawing/2014/main" id="{3815984D-462D-334E-AC8F-6D5EA7245657}"/>
                </a:ext>
              </a:extLst>
            </p:cNvPr>
            <p:cNvGrpSpPr/>
            <p:nvPr/>
          </p:nvGrpSpPr>
          <p:grpSpPr>
            <a:xfrm>
              <a:off x="2186702" y="5828678"/>
              <a:ext cx="7628853" cy="435873"/>
              <a:chOff x="2186703" y="5828678"/>
              <a:chExt cx="7246460" cy="334334"/>
            </a:xfrm>
          </p:grpSpPr>
          <p:sp>
            <p:nvSpPr>
              <p:cNvPr id="18" name="Rectangle 17">
                <a:extLst>
                  <a:ext uri="{FF2B5EF4-FFF2-40B4-BE49-F238E27FC236}">
                    <a16:creationId xmlns:a16="http://schemas.microsoft.com/office/drawing/2014/main" id="{CE1FE580-7005-6048-86B0-60793C7E9D04}"/>
                  </a:ext>
                </a:extLst>
              </p:cNvPr>
              <p:cNvSpPr/>
              <p:nvPr/>
            </p:nvSpPr>
            <p:spPr>
              <a:xfrm>
                <a:off x="2186703" y="5828678"/>
                <a:ext cx="120794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A</a:t>
                </a:r>
              </a:p>
            </p:txBody>
          </p:sp>
          <p:sp>
            <p:nvSpPr>
              <p:cNvPr id="20" name="Rectangle 19">
                <a:extLst>
                  <a:ext uri="{FF2B5EF4-FFF2-40B4-BE49-F238E27FC236}">
                    <a16:creationId xmlns:a16="http://schemas.microsoft.com/office/drawing/2014/main" id="{7BA4C6FD-17EF-1A49-9202-917BA2588E59}"/>
                  </a:ext>
                </a:extLst>
              </p:cNvPr>
              <p:cNvSpPr/>
              <p:nvPr/>
            </p:nvSpPr>
            <p:spPr>
              <a:xfrm>
                <a:off x="3636595" y="5833650"/>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G</a:t>
                </a:r>
              </a:p>
            </p:txBody>
          </p:sp>
          <p:sp>
            <p:nvSpPr>
              <p:cNvPr id="22" name="Rectangle 21">
                <a:extLst>
                  <a:ext uri="{FF2B5EF4-FFF2-40B4-BE49-F238E27FC236}">
                    <a16:creationId xmlns:a16="http://schemas.microsoft.com/office/drawing/2014/main" id="{57CF3C72-4520-A248-9D9E-F81A6A236959}"/>
                  </a:ext>
                </a:extLst>
              </p:cNvPr>
              <p:cNvSpPr/>
              <p:nvPr/>
            </p:nvSpPr>
            <p:spPr>
              <a:xfrm>
                <a:off x="4843943" y="5834733"/>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D</a:t>
                </a:r>
              </a:p>
            </p:txBody>
          </p:sp>
          <p:sp>
            <p:nvSpPr>
              <p:cNvPr id="23" name="Rectangle 22">
                <a:extLst>
                  <a:ext uri="{FF2B5EF4-FFF2-40B4-BE49-F238E27FC236}">
                    <a16:creationId xmlns:a16="http://schemas.microsoft.com/office/drawing/2014/main" id="{A325C0A3-65C9-EE42-86F8-7E3A0A9DB7EA}"/>
                  </a:ext>
                </a:extLst>
              </p:cNvPr>
              <p:cNvSpPr/>
              <p:nvPr/>
            </p:nvSpPr>
            <p:spPr>
              <a:xfrm>
                <a:off x="6052477" y="5833650"/>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B</a:t>
                </a:r>
              </a:p>
            </p:txBody>
          </p:sp>
          <p:sp>
            <p:nvSpPr>
              <p:cNvPr id="24" name="Rectangle 23">
                <a:extLst>
                  <a:ext uri="{FF2B5EF4-FFF2-40B4-BE49-F238E27FC236}">
                    <a16:creationId xmlns:a16="http://schemas.microsoft.com/office/drawing/2014/main" id="{1ECA0EEA-5CD7-ED49-AD8B-3A5BAFFDBBA0}"/>
                  </a:ext>
                </a:extLst>
              </p:cNvPr>
              <p:cNvSpPr/>
              <p:nvPr/>
            </p:nvSpPr>
            <p:spPr>
              <a:xfrm>
                <a:off x="7259686" y="5833650"/>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E</a:t>
                </a:r>
              </a:p>
            </p:txBody>
          </p:sp>
          <p:sp>
            <p:nvSpPr>
              <p:cNvPr id="25" name="Rectangle 24">
                <a:extLst>
                  <a:ext uri="{FF2B5EF4-FFF2-40B4-BE49-F238E27FC236}">
                    <a16:creationId xmlns:a16="http://schemas.microsoft.com/office/drawing/2014/main" id="{5057292F-87E7-4242-880F-3C3DF139B5E8}"/>
                  </a:ext>
                </a:extLst>
              </p:cNvPr>
              <p:cNvSpPr/>
              <p:nvPr/>
            </p:nvSpPr>
            <p:spPr>
              <a:xfrm>
                <a:off x="8467173" y="5847544"/>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C</a:t>
                </a:r>
              </a:p>
            </p:txBody>
          </p:sp>
          <p:cxnSp>
            <p:nvCxnSpPr>
              <p:cNvPr id="26" name="Straight Arrow Connector 25">
                <a:extLst>
                  <a:ext uri="{FF2B5EF4-FFF2-40B4-BE49-F238E27FC236}">
                    <a16:creationId xmlns:a16="http://schemas.microsoft.com/office/drawing/2014/main" id="{EB0FC675-5C02-B341-AE4B-A17208DC3340}"/>
                  </a:ext>
                </a:extLst>
              </p:cNvPr>
              <p:cNvCxnSpPr>
                <a:cxnSpLocks/>
                <a:stCxn id="20" idx="3"/>
                <a:endCxn id="22" idx="1"/>
              </p:cNvCxnSpPr>
              <p:nvPr/>
            </p:nvCxnSpPr>
            <p:spPr>
              <a:xfrm>
                <a:off x="4602585" y="5991384"/>
                <a:ext cx="241358" cy="108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A3D4CC2-90CD-F640-AB38-B74D7A6BC45E}"/>
                  </a:ext>
                </a:extLst>
              </p:cNvPr>
              <p:cNvCxnSpPr>
                <a:cxnSpLocks/>
                <a:stCxn id="22" idx="3"/>
                <a:endCxn id="23" idx="1"/>
              </p:cNvCxnSpPr>
              <p:nvPr/>
            </p:nvCxnSpPr>
            <p:spPr>
              <a:xfrm flipV="1">
                <a:off x="5809933" y="5991384"/>
                <a:ext cx="242544" cy="108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CEC3233-7FF4-3040-B3E5-8B8249F89694}"/>
                  </a:ext>
                </a:extLst>
              </p:cNvPr>
              <p:cNvCxnSpPr>
                <a:cxnSpLocks/>
                <a:stCxn id="23" idx="3"/>
                <a:endCxn id="24" idx="1"/>
              </p:cNvCxnSpPr>
              <p:nvPr/>
            </p:nvCxnSpPr>
            <p:spPr>
              <a:xfrm>
                <a:off x="7018467" y="5991384"/>
                <a:ext cx="241219"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47" name="Straight Arrow Connector 46">
              <a:extLst>
                <a:ext uri="{FF2B5EF4-FFF2-40B4-BE49-F238E27FC236}">
                  <a16:creationId xmlns:a16="http://schemas.microsoft.com/office/drawing/2014/main" id="{3BBD0D6A-FFA1-49E7-AE56-2A9C1CF21EA6}"/>
                </a:ext>
              </a:extLst>
            </p:cNvPr>
            <p:cNvCxnSpPr>
              <a:cxnSpLocks/>
            </p:cNvCxnSpPr>
            <p:nvPr/>
          </p:nvCxnSpPr>
          <p:spPr>
            <a:xfrm>
              <a:off x="3449683" y="5968048"/>
              <a:ext cx="241358" cy="108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9BDAB0C-ED55-4DF7-A531-329C614830C2}"/>
                </a:ext>
              </a:extLst>
            </p:cNvPr>
            <p:cNvCxnSpPr>
              <a:cxnSpLocks/>
            </p:cNvCxnSpPr>
            <p:nvPr/>
          </p:nvCxnSpPr>
          <p:spPr>
            <a:xfrm>
              <a:off x="8510764" y="5991384"/>
              <a:ext cx="245798"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E657A1D-8B57-4918-9A0B-02C10D4780D0}"/>
                </a:ext>
              </a:extLst>
            </p:cNvPr>
            <p:cNvCxnSpPr>
              <a:cxnSpLocks/>
            </p:cNvCxnSpPr>
            <p:nvPr/>
          </p:nvCxnSpPr>
          <p:spPr>
            <a:xfrm>
              <a:off x="9815555" y="6005278"/>
              <a:ext cx="245798"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5A2CF984-3441-4C27-8EE1-0CC027B1D8A0}"/>
                </a:ext>
              </a:extLst>
            </p:cNvPr>
            <p:cNvSpPr/>
            <p:nvPr/>
          </p:nvSpPr>
          <p:spPr>
            <a:xfrm>
              <a:off x="10092514" y="5876581"/>
              <a:ext cx="984327" cy="315469"/>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F</a:t>
              </a:r>
            </a:p>
          </p:txBody>
        </p:sp>
      </p:grpSp>
      <p:grpSp>
        <p:nvGrpSpPr>
          <p:cNvPr id="57" name="Group 56">
            <a:extLst>
              <a:ext uri="{FF2B5EF4-FFF2-40B4-BE49-F238E27FC236}">
                <a16:creationId xmlns:a16="http://schemas.microsoft.com/office/drawing/2014/main" id="{52F9FC97-C9C4-472B-962C-BEEDA378AD85}"/>
              </a:ext>
            </a:extLst>
          </p:cNvPr>
          <p:cNvGrpSpPr/>
          <p:nvPr/>
        </p:nvGrpSpPr>
        <p:grpSpPr>
          <a:xfrm>
            <a:off x="1871742" y="5967962"/>
            <a:ext cx="8890139" cy="435873"/>
            <a:chOff x="2186702" y="5828678"/>
            <a:chExt cx="8890139" cy="435873"/>
          </a:xfrm>
        </p:grpSpPr>
        <p:grpSp>
          <p:nvGrpSpPr>
            <p:cNvPr id="58" name="Group 57">
              <a:extLst>
                <a:ext uri="{FF2B5EF4-FFF2-40B4-BE49-F238E27FC236}">
                  <a16:creationId xmlns:a16="http://schemas.microsoft.com/office/drawing/2014/main" id="{E847FD1E-1C14-40C5-9438-217C445EB21B}"/>
                </a:ext>
              </a:extLst>
            </p:cNvPr>
            <p:cNvGrpSpPr/>
            <p:nvPr/>
          </p:nvGrpSpPr>
          <p:grpSpPr>
            <a:xfrm>
              <a:off x="2186702" y="5828678"/>
              <a:ext cx="7628853" cy="435873"/>
              <a:chOff x="2186703" y="5828678"/>
              <a:chExt cx="7246460" cy="334334"/>
            </a:xfrm>
          </p:grpSpPr>
          <p:sp>
            <p:nvSpPr>
              <p:cNvPr id="63" name="Rectangle 62">
                <a:extLst>
                  <a:ext uri="{FF2B5EF4-FFF2-40B4-BE49-F238E27FC236}">
                    <a16:creationId xmlns:a16="http://schemas.microsoft.com/office/drawing/2014/main" id="{A1088927-F082-468C-8D50-6DEBEBAFD3B8}"/>
                  </a:ext>
                </a:extLst>
              </p:cNvPr>
              <p:cNvSpPr/>
              <p:nvPr/>
            </p:nvSpPr>
            <p:spPr>
              <a:xfrm>
                <a:off x="2186703" y="5828678"/>
                <a:ext cx="120794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A</a:t>
                </a:r>
              </a:p>
            </p:txBody>
          </p:sp>
          <p:sp>
            <p:nvSpPr>
              <p:cNvPr id="64" name="Rectangle 63">
                <a:extLst>
                  <a:ext uri="{FF2B5EF4-FFF2-40B4-BE49-F238E27FC236}">
                    <a16:creationId xmlns:a16="http://schemas.microsoft.com/office/drawing/2014/main" id="{844830FA-75A5-4A3A-9902-0AC8C39D663B}"/>
                  </a:ext>
                </a:extLst>
              </p:cNvPr>
              <p:cNvSpPr/>
              <p:nvPr/>
            </p:nvSpPr>
            <p:spPr>
              <a:xfrm>
                <a:off x="3636595" y="5833650"/>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B</a:t>
                </a:r>
              </a:p>
            </p:txBody>
          </p:sp>
          <p:sp>
            <p:nvSpPr>
              <p:cNvPr id="65" name="Rectangle 64">
                <a:extLst>
                  <a:ext uri="{FF2B5EF4-FFF2-40B4-BE49-F238E27FC236}">
                    <a16:creationId xmlns:a16="http://schemas.microsoft.com/office/drawing/2014/main" id="{CA73CFEE-0373-4217-ACAB-5D3224715CB5}"/>
                  </a:ext>
                </a:extLst>
              </p:cNvPr>
              <p:cNvSpPr/>
              <p:nvPr/>
            </p:nvSpPr>
            <p:spPr>
              <a:xfrm>
                <a:off x="4843943" y="5834733"/>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G</a:t>
                </a:r>
              </a:p>
            </p:txBody>
          </p:sp>
          <p:sp>
            <p:nvSpPr>
              <p:cNvPr id="66" name="Rectangle 65">
                <a:extLst>
                  <a:ext uri="{FF2B5EF4-FFF2-40B4-BE49-F238E27FC236}">
                    <a16:creationId xmlns:a16="http://schemas.microsoft.com/office/drawing/2014/main" id="{BD7093AD-226D-4223-B050-59F41AEB7BAD}"/>
                  </a:ext>
                </a:extLst>
              </p:cNvPr>
              <p:cNvSpPr/>
              <p:nvPr/>
            </p:nvSpPr>
            <p:spPr>
              <a:xfrm>
                <a:off x="6052477" y="5833650"/>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D</a:t>
                </a:r>
              </a:p>
            </p:txBody>
          </p:sp>
          <p:sp>
            <p:nvSpPr>
              <p:cNvPr id="67" name="Rectangle 66">
                <a:extLst>
                  <a:ext uri="{FF2B5EF4-FFF2-40B4-BE49-F238E27FC236}">
                    <a16:creationId xmlns:a16="http://schemas.microsoft.com/office/drawing/2014/main" id="{A6ED4D20-B738-4166-9317-E2C00284BA60}"/>
                  </a:ext>
                </a:extLst>
              </p:cNvPr>
              <p:cNvSpPr/>
              <p:nvPr/>
            </p:nvSpPr>
            <p:spPr>
              <a:xfrm>
                <a:off x="7259686" y="5833650"/>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E</a:t>
                </a:r>
              </a:p>
            </p:txBody>
          </p:sp>
          <p:sp>
            <p:nvSpPr>
              <p:cNvPr id="68" name="Rectangle 67">
                <a:extLst>
                  <a:ext uri="{FF2B5EF4-FFF2-40B4-BE49-F238E27FC236}">
                    <a16:creationId xmlns:a16="http://schemas.microsoft.com/office/drawing/2014/main" id="{9B3CDE60-1399-4FC8-8E71-264085DF4037}"/>
                  </a:ext>
                </a:extLst>
              </p:cNvPr>
              <p:cNvSpPr/>
              <p:nvPr/>
            </p:nvSpPr>
            <p:spPr>
              <a:xfrm>
                <a:off x="8467173" y="5847544"/>
                <a:ext cx="965990"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F</a:t>
                </a:r>
              </a:p>
            </p:txBody>
          </p:sp>
          <p:cxnSp>
            <p:nvCxnSpPr>
              <p:cNvPr id="69" name="Straight Arrow Connector 68">
                <a:extLst>
                  <a:ext uri="{FF2B5EF4-FFF2-40B4-BE49-F238E27FC236}">
                    <a16:creationId xmlns:a16="http://schemas.microsoft.com/office/drawing/2014/main" id="{9A1766E9-0B7F-4539-87E9-5C6896A1D778}"/>
                  </a:ext>
                </a:extLst>
              </p:cNvPr>
              <p:cNvCxnSpPr>
                <a:cxnSpLocks/>
                <a:stCxn id="64" idx="3"/>
                <a:endCxn id="65" idx="1"/>
              </p:cNvCxnSpPr>
              <p:nvPr/>
            </p:nvCxnSpPr>
            <p:spPr>
              <a:xfrm>
                <a:off x="4602585" y="5991384"/>
                <a:ext cx="241358" cy="108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376308C0-CE61-40CA-AB44-70E1B463589E}"/>
                  </a:ext>
                </a:extLst>
              </p:cNvPr>
              <p:cNvCxnSpPr>
                <a:cxnSpLocks/>
                <a:stCxn id="65" idx="3"/>
                <a:endCxn id="66" idx="1"/>
              </p:cNvCxnSpPr>
              <p:nvPr/>
            </p:nvCxnSpPr>
            <p:spPr>
              <a:xfrm flipV="1">
                <a:off x="5809933" y="5991384"/>
                <a:ext cx="242544" cy="108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A62AB00-3304-4CED-AAE5-6D26B554E28A}"/>
                  </a:ext>
                </a:extLst>
              </p:cNvPr>
              <p:cNvCxnSpPr>
                <a:cxnSpLocks/>
                <a:stCxn id="66" idx="3"/>
                <a:endCxn id="67" idx="1"/>
              </p:cNvCxnSpPr>
              <p:nvPr/>
            </p:nvCxnSpPr>
            <p:spPr>
              <a:xfrm>
                <a:off x="7018467" y="5991384"/>
                <a:ext cx="241219"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59" name="Straight Arrow Connector 58">
              <a:extLst>
                <a:ext uri="{FF2B5EF4-FFF2-40B4-BE49-F238E27FC236}">
                  <a16:creationId xmlns:a16="http://schemas.microsoft.com/office/drawing/2014/main" id="{F34724D4-D0B8-415B-9990-B2924C2DBDA4}"/>
                </a:ext>
              </a:extLst>
            </p:cNvPr>
            <p:cNvCxnSpPr>
              <a:cxnSpLocks/>
            </p:cNvCxnSpPr>
            <p:nvPr/>
          </p:nvCxnSpPr>
          <p:spPr>
            <a:xfrm>
              <a:off x="3449683" y="5968048"/>
              <a:ext cx="241358" cy="108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0CF3833-472C-4FB8-AC63-261825778C06}"/>
                </a:ext>
              </a:extLst>
            </p:cNvPr>
            <p:cNvCxnSpPr>
              <a:cxnSpLocks/>
            </p:cNvCxnSpPr>
            <p:nvPr/>
          </p:nvCxnSpPr>
          <p:spPr>
            <a:xfrm>
              <a:off x="8510764" y="5991384"/>
              <a:ext cx="245798"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6EC2917-5A36-4390-B45B-86FC665968CB}"/>
                </a:ext>
              </a:extLst>
            </p:cNvPr>
            <p:cNvCxnSpPr>
              <a:cxnSpLocks/>
            </p:cNvCxnSpPr>
            <p:nvPr/>
          </p:nvCxnSpPr>
          <p:spPr>
            <a:xfrm>
              <a:off x="9815555" y="6005278"/>
              <a:ext cx="245798"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E7BCAFA7-6663-46F3-AD4B-7FF6725D4174}"/>
                </a:ext>
              </a:extLst>
            </p:cNvPr>
            <p:cNvSpPr/>
            <p:nvPr/>
          </p:nvSpPr>
          <p:spPr>
            <a:xfrm>
              <a:off x="10092514" y="5876581"/>
              <a:ext cx="984327" cy="315469"/>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C</a:t>
              </a:r>
            </a:p>
          </p:txBody>
        </p:sp>
      </p:grpSp>
    </p:spTree>
    <p:extLst>
      <p:ext uri="{BB962C8B-B14F-4D97-AF65-F5344CB8AC3E}">
        <p14:creationId xmlns:p14="http://schemas.microsoft.com/office/powerpoint/2010/main" val="394247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Topological Sort</a:t>
            </a:r>
          </a:p>
        </p:txBody>
      </p:sp>
      <p:sp>
        <p:nvSpPr>
          <p:cNvPr id="3" name="Content Placeholder 2"/>
          <p:cNvSpPr>
            <a:spLocks noGrp="1"/>
          </p:cNvSpPr>
          <p:nvPr>
            <p:ph idx="1"/>
          </p:nvPr>
        </p:nvSpPr>
        <p:spPr>
          <a:xfrm>
            <a:off x="838201" y="1429385"/>
            <a:ext cx="6772603" cy="4972051"/>
          </a:xfrm>
        </p:spPr>
        <p:txBody>
          <a:bodyPr>
            <a:normAutofit fontScale="92500" lnSpcReduction="10000"/>
          </a:bodyPr>
          <a:lstStyle/>
          <a:p>
            <a:r>
              <a:rPr lang="en-US" dirty="0"/>
              <a:t>A </a:t>
            </a:r>
            <a:r>
              <a:rPr lang="en-US" b="1" dirty="0">
                <a:solidFill>
                  <a:schemeClr val="accent3"/>
                </a:solidFill>
              </a:rPr>
              <a:t>topological sort </a:t>
            </a:r>
            <a:r>
              <a:rPr lang="en-US" dirty="0"/>
              <a:t>of a directed graph G without cycles is an ordering of the nodes, where for every edge in the graph, the origin appears before the destination in the ordering</a:t>
            </a:r>
          </a:p>
          <a:p>
            <a:pPr lvl="1"/>
            <a:endParaRPr lang="en-US" dirty="0"/>
          </a:p>
          <a:p>
            <a:r>
              <a:rPr lang="en-US" dirty="0"/>
              <a:t>Intuition: a “dependency graph”</a:t>
            </a:r>
          </a:p>
          <a:p>
            <a:pPr lvl="1"/>
            <a:r>
              <a:rPr lang="en-US" dirty="0"/>
              <a:t>An edge (u, v) means u must happen before v</a:t>
            </a:r>
          </a:p>
          <a:p>
            <a:pPr lvl="1"/>
            <a:r>
              <a:rPr lang="en-US" dirty="0"/>
              <a:t>A topological sort of a dependency graph gives an ordering that </a:t>
            </a:r>
            <a:r>
              <a:rPr lang="en-US" b="1" dirty="0"/>
              <a:t>respects dependencies</a:t>
            </a:r>
            <a:br>
              <a:rPr lang="en-US" b="1" dirty="0"/>
            </a:br>
            <a:endParaRPr lang="en-US" dirty="0"/>
          </a:p>
          <a:p>
            <a:r>
              <a:rPr lang="en-US" dirty="0"/>
              <a:t>Applications:</a:t>
            </a:r>
          </a:p>
          <a:p>
            <a:pPr lvl="1"/>
            <a:r>
              <a:rPr lang="en-US" dirty="0"/>
              <a:t>Graduating</a:t>
            </a:r>
          </a:p>
          <a:p>
            <a:pPr lvl="1"/>
            <a:r>
              <a:rPr lang="en-US" dirty="0"/>
              <a:t>Compiling multiple Java files</a:t>
            </a:r>
          </a:p>
          <a:p>
            <a:pPr lvl="1"/>
            <a:r>
              <a:rPr lang="en-US" dirty="0"/>
              <a:t>Multi-job Workflows</a:t>
            </a:r>
          </a:p>
        </p:txBody>
      </p:sp>
      <p:grpSp>
        <p:nvGrpSpPr>
          <p:cNvPr id="48" name="Group 47">
            <a:extLst>
              <a:ext uri="{FF2B5EF4-FFF2-40B4-BE49-F238E27FC236}">
                <a16:creationId xmlns:a16="http://schemas.microsoft.com/office/drawing/2014/main" id="{952932F1-F774-1D43-9F63-B81A28FB9E2B}"/>
              </a:ext>
            </a:extLst>
          </p:cNvPr>
          <p:cNvGrpSpPr/>
          <p:nvPr/>
        </p:nvGrpSpPr>
        <p:grpSpPr>
          <a:xfrm>
            <a:off x="9337245" y="1731231"/>
            <a:ext cx="1666327" cy="1323704"/>
            <a:chOff x="9337243" y="2135533"/>
            <a:chExt cx="1666327" cy="1323704"/>
          </a:xfrm>
        </p:grpSpPr>
        <p:sp>
          <p:nvSpPr>
            <p:cNvPr id="6" name="Rectangle 5">
              <a:extLst>
                <a:ext uri="{FF2B5EF4-FFF2-40B4-BE49-F238E27FC236}">
                  <a16:creationId xmlns:a16="http://schemas.microsoft.com/office/drawing/2014/main" id="{5C36D542-E270-B34F-9A6E-A3A8A0EC969C}"/>
                </a:ext>
              </a:extLst>
            </p:cNvPr>
            <p:cNvSpPr/>
            <p:nvPr/>
          </p:nvSpPr>
          <p:spPr>
            <a:xfrm>
              <a:off x="9337243" y="2135533"/>
              <a:ext cx="424274"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A</a:t>
              </a:r>
            </a:p>
          </p:txBody>
        </p:sp>
        <p:cxnSp>
          <p:nvCxnSpPr>
            <p:cNvPr id="7" name="Straight Arrow Connector 6">
              <a:extLst>
                <a:ext uri="{FF2B5EF4-FFF2-40B4-BE49-F238E27FC236}">
                  <a16:creationId xmlns:a16="http://schemas.microsoft.com/office/drawing/2014/main" id="{EDA3186A-94F4-B74F-9303-932C8AC62D8E}"/>
                </a:ext>
              </a:extLst>
            </p:cNvPr>
            <p:cNvCxnSpPr>
              <a:cxnSpLocks/>
              <a:stCxn id="6" idx="3"/>
              <a:endCxn id="12" idx="1"/>
            </p:cNvCxnSpPr>
            <p:nvPr/>
          </p:nvCxnSpPr>
          <p:spPr>
            <a:xfrm>
              <a:off x="9761517" y="2293267"/>
              <a:ext cx="817779" cy="504118"/>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2848BE8-5C4E-874D-ABCD-C7F496319C78}"/>
                </a:ext>
              </a:extLst>
            </p:cNvPr>
            <p:cNvSpPr/>
            <p:nvPr/>
          </p:nvSpPr>
          <p:spPr>
            <a:xfrm>
              <a:off x="9549380" y="3143769"/>
              <a:ext cx="424274"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B</a:t>
              </a:r>
            </a:p>
          </p:txBody>
        </p:sp>
        <p:cxnSp>
          <p:nvCxnSpPr>
            <p:cNvPr id="11" name="Straight Arrow Connector 10">
              <a:extLst>
                <a:ext uri="{FF2B5EF4-FFF2-40B4-BE49-F238E27FC236}">
                  <a16:creationId xmlns:a16="http://schemas.microsoft.com/office/drawing/2014/main" id="{F65C00BB-639B-A24B-B187-AF8B3CF83CB0}"/>
                </a:ext>
              </a:extLst>
            </p:cNvPr>
            <p:cNvCxnSpPr>
              <a:cxnSpLocks/>
              <a:stCxn id="10" idx="3"/>
              <a:endCxn id="12" idx="1"/>
            </p:cNvCxnSpPr>
            <p:nvPr/>
          </p:nvCxnSpPr>
          <p:spPr>
            <a:xfrm flipV="1">
              <a:off x="9973654" y="2797385"/>
              <a:ext cx="605642" cy="504118"/>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6B20E3-4C0F-884E-80E1-B73C2FA1D993}"/>
                </a:ext>
              </a:extLst>
            </p:cNvPr>
            <p:cNvSpPr/>
            <p:nvPr/>
          </p:nvSpPr>
          <p:spPr>
            <a:xfrm>
              <a:off x="10579296" y="2639651"/>
              <a:ext cx="424274"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C</a:t>
              </a:r>
            </a:p>
          </p:txBody>
        </p:sp>
        <p:cxnSp>
          <p:nvCxnSpPr>
            <p:cNvPr id="15" name="Straight Arrow Connector 14">
              <a:extLst>
                <a:ext uri="{FF2B5EF4-FFF2-40B4-BE49-F238E27FC236}">
                  <a16:creationId xmlns:a16="http://schemas.microsoft.com/office/drawing/2014/main" id="{21FC526A-2595-C047-8BB6-D8E60D67F34C}"/>
                </a:ext>
              </a:extLst>
            </p:cNvPr>
            <p:cNvCxnSpPr>
              <a:cxnSpLocks/>
              <a:stCxn id="6" idx="2"/>
              <a:endCxn id="10" idx="0"/>
            </p:cNvCxnSpPr>
            <p:nvPr/>
          </p:nvCxnSpPr>
          <p:spPr>
            <a:xfrm>
              <a:off x="9549380" y="2451001"/>
              <a:ext cx="212137" cy="692768"/>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AC45DDD3-6C44-614E-B2C3-C69FE6DFEDA6}"/>
              </a:ext>
            </a:extLst>
          </p:cNvPr>
          <p:cNvGrpSpPr/>
          <p:nvPr/>
        </p:nvGrpSpPr>
        <p:grpSpPr>
          <a:xfrm>
            <a:off x="8204638" y="1517507"/>
            <a:ext cx="3382351" cy="1672427"/>
            <a:chOff x="8204637" y="1921808"/>
            <a:chExt cx="3382351" cy="1672427"/>
          </a:xfrm>
        </p:grpSpPr>
        <p:sp>
          <p:nvSpPr>
            <p:cNvPr id="22" name="Rounded Rectangular Callout 21">
              <a:extLst>
                <a:ext uri="{FF2B5EF4-FFF2-40B4-BE49-F238E27FC236}">
                  <a16:creationId xmlns:a16="http://schemas.microsoft.com/office/drawing/2014/main" id="{B143D437-2071-8C40-8EFE-C20A14191453}"/>
                </a:ext>
              </a:extLst>
            </p:cNvPr>
            <p:cNvSpPr/>
            <p:nvPr/>
          </p:nvSpPr>
          <p:spPr>
            <a:xfrm>
              <a:off x="10070679" y="1921808"/>
              <a:ext cx="1310513" cy="340426"/>
            </a:xfrm>
            <a:prstGeom prst="wedgeRoundRectCallout">
              <a:avLst>
                <a:gd name="adj1" fmla="val -45299"/>
                <a:gd name="adj2" fmla="val 97384"/>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dirty="0">
                  <a:solidFill>
                    <a:srgbClr val="FFFFFF"/>
                  </a:solidFill>
                  <a:latin typeface="Calibri" panose="020F0502020204030204"/>
                </a:rPr>
                <a:t>A before C</a:t>
              </a:r>
            </a:p>
          </p:txBody>
        </p:sp>
        <p:sp>
          <p:nvSpPr>
            <p:cNvPr id="23" name="Rounded Rectangular Callout 22">
              <a:extLst>
                <a:ext uri="{FF2B5EF4-FFF2-40B4-BE49-F238E27FC236}">
                  <a16:creationId xmlns:a16="http://schemas.microsoft.com/office/drawing/2014/main" id="{52118AC1-0072-8F4D-B4AC-BFB6BFE9C711}"/>
                </a:ext>
              </a:extLst>
            </p:cNvPr>
            <p:cNvSpPr/>
            <p:nvPr/>
          </p:nvSpPr>
          <p:spPr>
            <a:xfrm>
              <a:off x="10276475" y="3253809"/>
              <a:ext cx="1310513" cy="340426"/>
            </a:xfrm>
            <a:prstGeom prst="wedgeRoundRectCallout">
              <a:avLst>
                <a:gd name="adj1" fmla="val -48017"/>
                <a:gd name="adj2" fmla="val -80523"/>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dirty="0">
                  <a:solidFill>
                    <a:srgbClr val="FFFFFF"/>
                  </a:solidFill>
                  <a:latin typeface="Calibri" panose="020F0502020204030204"/>
                </a:rPr>
                <a:t>B before C</a:t>
              </a:r>
            </a:p>
          </p:txBody>
        </p:sp>
        <p:sp>
          <p:nvSpPr>
            <p:cNvPr id="24" name="Rounded Rectangular Callout 23">
              <a:extLst>
                <a:ext uri="{FF2B5EF4-FFF2-40B4-BE49-F238E27FC236}">
                  <a16:creationId xmlns:a16="http://schemas.microsoft.com/office/drawing/2014/main" id="{33D977E3-4333-9A41-84BA-0E86FD9A45F8}"/>
                </a:ext>
              </a:extLst>
            </p:cNvPr>
            <p:cNvSpPr/>
            <p:nvPr/>
          </p:nvSpPr>
          <p:spPr>
            <a:xfrm>
              <a:off x="8204637" y="2766469"/>
              <a:ext cx="1310513" cy="340426"/>
            </a:xfrm>
            <a:prstGeom prst="wedgeRoundRectCallout">
              <a:avLst>
                <a:gd name="adj1" fmla="val 48035"/>
                <a:gd name="adj2" fmla="val -90987"/>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dirty="0">
                  <a:solidFill>
                    <a:srgbClr val="FFFFFF"/>
                  </a:solidFill>
                  <a:latin typeface="Calibri" panose="020F0502020204030204"/>
                </a:rPr>
                <a:t>A before B</a:t>
              </a:r>
            </a:p>
          </p:txBody>
        </p:sp>
      </p:grpSp>
      <p:sp>
        <p:nvSpPr>
          <p:cNvPr id="32" name="TextBox 31">
            <a:extLst>
              <a:ext uri="{FF2B5EF4-FFF2-40B4-BE49-F238E27FC236}">
                <a16:creationId xmlns:a16="http://schemas.microsoft.com/office/drawing/2014/main" id="{27ECD932-C5F5-A240-BC5F-B3EA35DBE1D9}"/>
              </a:ext>
            </a:extLst>
          </p:cNvPr>
          <p:cNvSpPr txBox="1"/>
          <p:nvPr/>
        </p:nvSpPr>
        <p:spPr>
          <a:xfrm>
            <a:off x="8428582" y="3707220"/>
            <a:ext cx="1737976" cy="369332"/>
          </a:xfrm>
          <a:prstGeom prst="rect">
            <a:avLst/>
          </a:prstGeom>
          <a:noFill/>
        </p:spPr>
        <p:txBody>
          <a:bodyPr wrap="none" rtlCol="0">
            <a:spAutoFit/>
          </a:bodyPr>
          <a:lstStyle/>
          <a:p>
            <a:pPr defTabSz="914377"/>
            <a:r>
              <a:rPr lang="en-US" dirty="0">
                <a:latin typeface="Calibri" panose="020F0502020204030204"/>
              </a:rPr>
              <a:t>Topological Sort:</a:t>
            </a:r>
          </a:p>
        </p:txBody>
      </p:sp>
      <p:sp>
        <p:nvSpPr>
          <p:cNvPr id="33" name="TextBox 32">
            <a:extLst>
              <a:ext uri="{FF2B5EF4-FFF2-40B4-BE49-F238E27FC236}">
                <a16:creationId xmlns:a16="http://schemas.microsoft.com/office/drawing/2014/main" id="{4794DFD7-C23E-6F4D-8533-1012C15D3206}"/>
              </a:ext>
            </a:extLst>
          </p:cNvPr>
          <p:cNvSpPr txBox="1"/>
          <p:nvPr/>
        </p:nvSpPr>
        <p:spPr>
          <a:xfrm>
            <a:off x="8428584" y="5024313"/>
            <a:ext cx="3333157" cy="369332"/>
          </a:xfrm>
          <a:prstGeom prst="rect">
            <a:avLst/>
          </a:prstGeom>
          <a:noFill/>
        </p:spPr>
        <p:txBody>
          <a:bodyPr wrap="none" rtlCol="0">
            <a:spAutoFit/>
          </a:bodyPr>
          <a:lstStyle/>
          <a:p>
            <a:pPr defTabSz="914377"/>
            <a:r>
              <a:rPr lang="en-US" dirty="0">
                <a:latin typeface="Calibri" panose="020F0502020204030204"/>
              </a:rPr>
              <a:t>With original edges for reference:</a:t>
            </a:r>
          </a:p>
        </p:txBody>
      </p:sp>
      <p:grpSp>
        <p:nvGrpSpPr>
          <p:cNvPr id="5" name="Group 4">
            <a:extLst>
              <a:ext uri="{FF2B5EF4-FFF2-40B4-BE49-F238E27FC236}">
                <a16:creationId xmlns:a16="http://schemas.microsoft.com/office/drawing/2014/main" id="{353AC002-0C54-47B1-302E-3714B80F2967}"/>
              </a:ext>
            </a:extLst>
          </p:cNvPr>
          <p:cNvGrpSpPr/>
          <p:nvPr/>
        </p:nvGrpSpPr>
        <p:grpSpPr>
          <a:xfrm>
            <a:off x="9090876" y="5809406"/>
            <a:ext cx="1988579" cy="321818"/>
            <a:chOff x="9090876" y="5809406"/>
            <a:chExt cx="1988579" cy="321818"/>
          </a:xfrm>
        </p:grpSpPr>
        <p:sp>
          <p:nvSpPr>
            <p:cNvPr id="34" name="Rectangle 33">
              <a:extLst>
                <a:ext uri="{FF2B5EF4-FFF2-40B4-BE49-F238E27FC236}">
                  <a16:creationId xmlns:a16="http://schemas.microsoft.com/office/drawing/2014/main" id="{41F2ADE8-B5A4-C540-A1FC-90112B292C45}"/>
                </a:ext>
              </a:extLst>
            </p:cNvPr>
            <p:cNvSpPr/>
            <p:nvPr/>
          </p:nvSpPr>
          <p:spPr>
            <a:xfrm>
              <a:off x="9090876" y="5815755"/>
              <a:ext cx="424274" cy="315469"/>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A</a:t>
              </a:r>
            </a:p>
          </p:txBody>
        </p:sp>
        <p:sp>
          <p:nvSpPr>
            <p:cNvPr id="35" name="Rectangle 34">
              <a:extLst>
                <a:ext uri="{FF2B5EF4-FFF2-40B4-BE49-F238E27FC236}">
                  <a16:creationId xmlns:a16="http://schemas.microsoft.com/office/drawing/2014/main" id="{1CEB1632-60F0-C641-8494-02EC309EB33E}"/>
                </a:ext>
              </a:extLst>
            </p:cNvPr>
            <p:cNvSpPr/>
            <p:nvPr/>
          </p:nvSpPr>
          <p:spPr>
            <a:xfrm>
              <a:off x="9873028" y="5815755"/>
              <a:ext cx="424274" cy="315469"/>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B</a:t>
              </a:r>
            </a:p>
          </p:txBody>
        </p:sp>
        <p:sp>
          <p:nvSpPr>
            <p:cNvPr id="36" name="Rectangle 35">
              <a:extLst>
                <a:ext uri="{FF2B5EF4-FFF2-40B4-BE49-F238E27FC236}">
                  <a16:creationId xmlns:a16="http://schemas.microsoft.com/office/drawing/2014/main" id="{E5235A5A-5FDC-094F-9538-2FF1C965DECB}"/>
                </a:ext>
              </a:extLst>
            </p:cNvPr>
            <p:cNvSpPr/>
            <p:nvPr/>
          </p:nvSpPr>
          <p:spPr>
            <a:xfrm>
              <a:off x="10655181" y="5815755"/>
              <a:ext cx="424274" cy="315469"/>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C</a:t>
              </a:r>
            </a:p>
          </p:txBody>
        </p:sp>
        <p:cxnSp>
          <p:nvCxnSpPr>
            <p:cNvPr id="37" name="Straight Arrow Connector 36">
              <a:extLst>
                <a:ext uri="{FF2B5EF4-FFF2-40B4-BE49-F238E27FC236}">
                  <a16:creationId xmlns:a16="http://schemas.microsoft.com/office/drawing/2014/main" id="{6BA1B843-3D2A-3149-AFFA-8B9863748075}"/>
                </a:ext>
              </a:extLst>
            </p:cNvPr>
            <p:cNvCxnSpPr>
              <a:cxnSpLocks/>
              <a:stCxn id="34" idx="3"/>
              <a:endCxn id="35" idx="1"/>
            </p:cNvCxnSpPr>
            <p:nvPr/>
          </p:nvCxnSpPr>
          <p:spPr>
            <a:xfrm>
              <a:off x="9515150" y="5973490"/>
              <a:ext cx="357878"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96A8831-CB9E-7F46-AC5E-B443911554B2}"/>
                </a:ext>
              </a:extLst>
            </p:cNvPr>
            <p:cNvCxnSpPr>
              <a:cxnSpLocks/>
              <a:stCxn id="35" idx="3"/>
              <a:endCxn id="36" idx="1"/>
            </p:cNvCxnSpPr>
            <p:nvPr/>
          </p:nvCxnSpPr>
          <p:spPr>
            <a:xfrm>
              <a:off x="10297303" y="5973490"/>
              <a:ext cx="357878"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Curved Connector 24">
              <a:extLst>
                <a:ext uri="{FF2B5EF4-FFF2-40B4-BE49-F238E27FC236}">
                  <a16:creationId xmlns:a16="http://schemas.microsoft.com/office/drawing/2014/main" id="{337BE1E9-2B66-7C4B-B7AE-51B2F590F886}"/>
                </a:ext>
              </a:extLst>
            </p:cNvPr>
            <p:cNvCxnSpPr>
              <a:cxnSpLocks/>
              <a:stCxn id="34" idx="0"/>
              <a:endCxn id="36" idx="0"/>
            </p:cNvCxnSpPr>
            <p:nvPr/>
          </p:nvCxnSpPr>
          <p:spPr>
            <a:xfrm rot="5400000" flipH="1" flipV="1">
              <a:off x="10085165" y="5033603"/>
              <a:ext cx="12700" cy="1564305"/>
            </a:xfrm>
            <a:prstGeom prst="curvedConnector3">
              <a:avLst>
                <a:gd name="adj1" fmla="val 1800000"/>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221B359A-FDDE-9848-A54C-75A5E4FC543E}"/>
              </a:ext>
            </a:extLst>
          </p:cNvPr>
          <p:cNvSpPr txBox="1"/>
          <p:nvPr/>
        </p:nvSpPr>
        <p:spPr>
          <a:xfrm>
            <a:off x="8428583" y="1219200"/>
            <a:ext cx="747320" cy="369332"/>
          </a:xfrm>
          <a:prstGeom prst="rect">
            <a:avLst/>
          </a:prstGeom>
          <a:noFill/>
        </p:spPr>
        <p:txBody>
          <a:bodyPr wrap="none" rtlCol="0">
            <a:spAutoFit/>
          </a:bodyPr>
          <a:lstStyle/>
          <a:p>
            <a:pPr defTabSz="914377"/>
            <a:r>
              <a:rPr lang="en-US" dirty="0">
                <a:latin typeface="Calibri" panose="020F0502020204030204"/>
              </a:rPr>
              <a:t>Input:</a:t>
            </a:r>
          </a:p>
        </p:txBody>
      </p:sp>
      <p:grpSp>
        <p:nvGrpSpPr>
          <p:cNvPr id="4" name="Group 3">
            <a:extLst>
              <a:ext uri="{FF2B5EF4-FFF2-40B4-BE49-F238E27FC236}">
                <a16:creationId xmlns:a16="http://schemas.microsoft.com/office/drawing/2014/main" id="{DF50484B-9D3A-01F2-E142-B87F0B53A6B1}"/>
              </a:ext>
            </a:extLst>
          </p:cNvPr>
          <p:cNvGrpSpPr/>
          <p:nvPr/>
        </p:nvGrpSpPr>
        <p:grpSpPr>
          <a:xfrm>
            <a:off x="9090876" y="4274232"/>
            <a:ext cx="1988579" cy="327973"/>
            <a:chOff x="9090876" y="4274232"/>
            <a:chExt cx="1988579" cy="327973"/>
          </a:xfrm>
        </p:grpSpPr>
        <p:grpSp>
          <p:nvGrpSpPr>
            <p:cNvPr id="50" name="Group 49">
              <a:extLst>
                <a:ext uri="{FF2B5EF4-FFF2-40B4-BE49-F238E27FC236}">
                  <a16:creationId xmlns:a16="http://schemas.microsoft.com/office/drawing/2014/main" id="{BF2383EC-9B58-7B4D-B53D-EF5A6257E38F}"/>
                </a:ext>
              </a:extLst>
            </p:cNvPr>
            <p:cNvGrpSpPr/>
            <p:nvPr/>
          </p:nvGrpSpPr>
          <p:grpSpPr>
            <a:xfrm>
              <a:off x="9090876" y="4274232"/>
              <a:ext cx="1988579" cy="327973"/>
              <a:chOff x="9090876" y="4678533"/>
              <a:chExt cx="1988578" cy="327973"/>
            </a:xfrm>
          </p:grpSpPr>
          <p:sp>
            <p:nvSpPr>
              <p:cNvPr id="29" name="Rectangle 28">
                <a:extLst>
                  <a:ext uri="{FF2B5EF4-FFF2-40B4-BE49-F238E27FC236}">
                    <a16:creationId xmlns:a16="http://schemas.microsoft.com/office/drawing/2014/main" id="{770ABD53-2FC1-964D-AF47-8A8B0F9D30BA}"/>
                  </a:ext>
                </a:extLst>
              </p:cNvPr>
              <p:cNvSpPr/>
              <p:nvPr/>
            </p:nvSpPr>
            <p:spPr>
              <a:xfrm>
                <a:off x="9090876" y="4691038"/>
                <a:ext cx="424274"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A</a:t>
                </a:r>
              </a:p>
            </p:txBody>
          </p:sp>
          <p:sp>
            <p:nvSpPr>
              <p:cNvPr id="30" name="Rectangle 29">
                <a:extLst>
                  <a:ext uri="{FF2B5EF4-FFF2-40B4-BE49-F238E27FC236}">
                    <a16:creationId xmlns:a16="http://schemas.microsoft.com/office/drawing/2014/main" id="{6C6D98D3-C7F3-D84B-8A26-49499BDEB39E}"/>
                  </a:ext>
                </a:extLst>
              </p:cNvPr>
              <p:cNvSpPr/>
              <p:nvPr/>
            </p:nvSpPr>
            <p:spPr>
              <a:xfrm>
                <a:off x="9873028" y="4691038"/>
                <a:ext cx="424274"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B</a:t>
                </a:r>
              </a:p>
            </p:txBody>
          </p:sp>
          <p:sp>
            <p:nvSpPr>
              <p:cNvPr id="31" name="Rectangle 30">
                <a:extLst>
                  <a:ext uri="{FF2B5EF4-FFF2-40B4-BE49-F238E27FC236}">
                    <a16:creationId xmlns:a16="http://schemas.microsoft.com/office/drawing/2014/main" id="{11A32340-B0D9-0344-8BBD-0AD1241E40D7}"/>
                  </a:ext>
                </a:extLst>
              </p:cNvPr>
              <p:cNvSpPr/>
              <p:nvPr/>
            </p:nvSpPr>
            <p:spPr>
              <a:xfrm>
                <a:off x="10655180" y="4678533"/>
                <a:ext cx="424274" cy="315468"/>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C</a:t>
                </a:r>
              </a:p>
            </p:txBody>
          </p:sp>
        </p:grpSp>
        <p:cxnSp>
          <p:nvCxnSpPr>
            <p:cNvPr id="38" name="Straight Arrow Connector 37">
              <a:extLst>
                <a:ext uri="{FF2B5EF4-FFF2-40B4-BE49-F238E27FC236}">
                  <a16:creationId xmlns:a16="http://schemas.microsoft.com/office/drawing/2014/main" id="{46584C87-E9D3-4D55-89AA-BE7A10729A1D}"/>
                </a:ext>
              </a:extLst>
            </p:cNvPr>
            <p:cNvCxnSpPr>
              <a:cxnSpLocks/>
              <a:endCxn id="30" idx="1"/>
            </p:cNvCxnSpPr>
            <p:nvPr/>
          </p:nvCxnSpPr>
          <p:spPr>
            <a:xfrm>
              <a:off x="9515149" y="4421870"/>
              <a:ext cx="357879" cy="22601"/>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7287F16-5E2E-4098-95B1-CE6F795EDC1D}"/>
                </a:ext>
              </a:extLst>
            </p:cNvPr>
            <p:cNvCxnSpPr>
              <a:cxnSpLocks/>
            </p:cNvCxnSpPr>
            <p:nvPr/>
          </p:nvCxnSpPr>
          <p:spPr>
            <a:xfrm>
              <a:off x="10297301" y="4444471"/>
              <a:ext cx="357879" cy="22601"/>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07474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1079"/>
          </a:xfrm>
        </p:spPr>
        <p:txBody>
          <a:bodyPr/>
          <a:lstStyle/>
          <a:p>
            <a:r>
              <a:rPr lang="en-US" dirty="0"/>
              <a:t>Can We Always Topo Sort a Graph?</a:t>
            </a:r>
          </a:p>
        </p:txBody>
      </p:sp>
      <p:sp>
        <p:nvSpPr>
          <p:cNvPr id="20" name="Content Placeholder 19">
            <a:extLst>
              <a:ext uri="{FF2B5EF4-FFF2-40B4-BE49-F238E27FC236}">
                <a16:creationId xmlns:a16="http://schemas.microsoft.com/office/drawing/2014/main" id="{FC28882B-37A0-485E-9AA0-6A4348E28667}"/>
              </a:ext>
            </a:extLst>
          </p:cNvPr>
          <p:cNvSpPr>
            <a:spLocks noGrp="1"/>
          </p:cNvSpPr>
          <p:nvPr>
            <p:ph idx="1"/>
          </p:nvPr>
        </p:nvSpPr>
        <p:spPr>
          <a:xfrm>
            <a:off x="728263" y="1246908"/>
            <a:ext cx="9233951" cy="5413327"/>
          </a:xfrm>
        </p:spPr>
        <p:txBody>
          <a:bodyPr>
            <a:normAutofit lnSpcReduction="10000"/>
          </a:bodyPr>
          <a:lstStyle/>
          <a:p>
            <a:r>
              <a:rPr lang="en-US" dirty="0"/>
              <a:t>Can you topologically sort this graph?</a:t>
            </a:r>
            <a:br>
              <a:rPr lang="en-US" dirty="0"/>
            </a:br>
            <a:br>
              <a:rPr lang="en-US" dirty="0"/>
            </a:br>
            <a:br>
              <a:rPr lang="en-US" dirty="0"/>
            </a:br>
            <a:br>
              <a:rPr lang="en-US" dirty="0"/>
            </a:br>
            <a:br>
              <a:rPr lang="en-US" dirty="0"/>
            </a:br>
            <a:endParaRPr lang="en-US" dirty="0"/>
          </a:p>
          <a:p>
            <a:r>
              <a:rPr lang="en-US" dirty="0"/>
              <a:t>What’s the difference between this graph and our first graph?</a:t>
            </a:r>
            <a:br>
              <a:rPr lang="en-US" dirty="0"/>
            </a:br>
            <a:br>
              <a:rPr lang="en-US" dirty="0"/>
            </a:br>
            <a:br>
              <a:rPr lang="en-US" dirty="0"/>
            </a:br>
            <a:br>
              <a:rPr lang="en-US" dirty="0"/>
            </a:br>
            <a:endParaRPr lang="en-US" dirty="0"/>
          </a:p>
          <a:p>
            <a:r>
              <a:rPr lang="en-US" dirty="0"/>
              <a:t>A graph has a topological ordering </a:t>
            </a:r>
            <a:r>
              <a:rPr lang="en-US" dirty="0" err="1"/>
              <a:t>iff</a:t>
            </a:r>
            <a:r>
              <a:rPr lang="en-US" dirty="0"/>
              <a:t> it is a DAG</a:t>
            </a:r>
          </a:p>
          <a:p>
            <a:pPr lvl="1"/>
            <a:r>
              <a:rPr lang="en-US" dirty="0"/>
              <a:t>But a DAG can have multiple orderings</a:t>
            </a:r>
          </a:p>
        </p:txBody>
      </p:sp>
      <p:grpSp>
        <p:nvGrpSpPr>
          <p:cNvPr id="54" name="Group 53">
            <a:extLst>
              <a:ext uri="{FF2B5EF4-FFF2-40B4-BE49-F238E27FC236}">
                <a16:creationId xmlns:a16="http://schemas.microsoft.com/office/drawing/2014/main" id="{207A8017-D2CC-43E8-90A0-2A0CA3FC02F6}"/>
              </a:ext>
            </a:extLst>
          </p:cNvPr>
          <p:cNvGrpSpPr/>
          <p:nvPr/>
        </p:nvGrpSpPr>
        <p:grpSpPr>
          <a:xfrm>
            <a:off x="3078481" y="1631872"/>
            <a:ext cx="2875263" cy="1041339"/>
            <a:chOff x="2408665" y="1614144"/>
            <a:chExt cx="2156447" cy="781004"/>
          </a:xfrm>
        </p:grpSpPr>
        <p:sp>
          <p:nvSpPr>
            <p:cNvPr id="24" name="Rectangle 23">
              <a:extLst>
                <a:ext uri="{FF2B5EF4-FFF2-40B4-BE49-F238E27FC236}">
                  <a16:creationId xmlns:a16="http://schemas.microsoft.com/office/drawing/2014/main" id="{6678A9FA-B0AC-49B6-99CE-2BE21978B585}"/>
                </a:ext>
              </a:extLst>
            </p:cNvPr>
            <p:cNvSpPr/>
            <p:nvPr/>
          </p:nvSpPr>
          <p:spPr>
            <a:xfrm>
              <a:off x="2408665" y="2147410"/>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B</a:t>
              </a:r>
            </a:p>
          </p:txBody>
        </p:sp>
        <p:sp>
          <p:nvSpPr>
            <p:cNvPr id="25" name="Rectangle 24">
              <a:extLst>
                <a:ext uri="{FF2B5EF4-FFF2-40B4-BE49-F238E27FC236}">
                  <a16:creationId xmlns:a16="http://schemas.microsoft.com/office/drawing/2014/main" id="{22BCA98F-89A3-480F-AE27-68B162941EC3}"/>
                </a:ext>
              </a:extLst>
            </p:cNvPr>
            <p:cNvSpPr/>
            <p:nvPr/>
          </p:nvSpPr>
          <p:spPr>
            <a:xfrm>
              <a:off x="3108232" y="1614144"/>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A</a:t>
              </a:r>
            </a:p>
          </p:txBody>
        </p:sp>
        <p:sp>
          <p:nvSpPr>
            <p:cNvPr id="27" name="Rectangle 26">
              <a:extLst>
                <a:ext uri="{FF2B5EF4-FFF2-40B4-BE49-F238E27FC236}">
                  <a16:creationId xmlns:a16="http://schemas.microsoft.com/office/drawing/2014/main" id="{1BF766C9-18A9-49C1-972B-6A2FBACAB1D7}"/>
                </a:ext>
              </a:extLst>
            </p:cNvPr>
            <p:cNvSpPr/>
            <p:nvPr/>
          </p:nvSpPr>
          <p:spPr>
            <a:xfrm>
              <a:off x="3783300" y="2158546"/>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600" b="1" dirty="0">
                  <a:solidFill>
                    <a:srgbClr val="000000"/>
                  </a:solidFill>
                  <a:latin typeface="Calibri" panose="020F0502020204030204" pitchFamily="34" charset="0"/>
                  <a:cs typeface="Calibri" panose="020F0502020204030204" pitchFamily="34" charset="0"/>
                </a:rPr>
                <a:t>C</a:t>
              </a:r>
            </a:p>
          </p:txBody>
        </p:sp>
        <p:cxnSp>
          <p:nvCxnSpPr>
            <p:cNvPr id="31" name="Straight Arrow Connector 30">
              <a:extLst>
                <a:ext uri="{FF2B5EF4-FFF2-40B4-BE49-F238E27FC236}">
                  <a16:creationId xmlns:a16="http://schemas.microsoft.com/office/drawing/2014/main" id="{7F615079-1DF0-442A-A71A-67F8DEDB0DAB}"/>
                </a:ext>
              </a:extLst>
            </p:cNvPr>
            <p:cNvCxnSpPr>
              <a:cxnSpLocks/>
              <a:stCxn id="24" idx="0"/>
              <a:endCxn id="25" idx="1"/>
            </p:cNvCxnSpPr>
            <p:nvPr/>
          </p:nvCxnSpPr>
          <p:spPr>
            <a:xfrm flipV="1">
              <a:off x="2799571" y="1732445"/>
              <a:ext cx="308661" cy="414965"/>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95CE62D-CA66-4E46-BD14-AA17E68ECF97}"/>
                </a:ext>
              </a:extLst>
            </p:cNvPr>
            <p:cNvCxnSpPr>
              <a:cxnSpLocks/>
              <a:stCxn id="25" idx="3"/>
              <a:endCxn id="27" idx="0"/>
            </p:cNvCxnSpPr>
            <p:nvPr/>
          </p:nvCxnSpPr>
          <p:spPr>
            <a:xfrm>
              <a:off x="3890044" y="1732445"/>
              <a:ext cx="284162" cy="426101"/>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Curved Connector 24">
              <a:extLst>
                <a:ext uri="{FF2B5EF4-FFF2-40B4-BE49-F238E27FC236}">
                  <a16:creationId xmlns:a16="http://schemas.microsoft.com/office/drawing/2014/main" id="{8A54D601-D6DD-46FD-A2B5-5ABB8861C81B}"/>
                </a:ext>
              </a:extLst>
            </p:cNvPr>
            <p:cNvCxnSpPr>
              <a:cxnSpLocks/>
              <a:stCxn id="27" idx="2"/>
              <a:endCxn id="24" idx="2"/>
            </p:cNvCxnSpPr>
            <p:nvPr/>
          </p:nvCxnSpPr>
          <p:spPr>
            <a:xfrm rot="5400000" flipH="1">
              <a:off x="3481321" y="1702262"/>
              <a:ext cx="11136" cy="1374635"/>
            </a:xfrm>
            <a:prstGeom prst="curvedConnector3">
              <a:avLst>
                <a:gd name="adj1" fmla="val -2052802"/>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D052EC82-85AE-466E-AD83-BC1210863BE7}"/>
              </a:ext>
            </a:extLst>
          </p:cNvPr>
          <p:cNvSpPr txBox="1"/>
          <p:nvPr/>
        </p:nvSpPr>
        <p:spPr>
          <a:xfrm>
            <a:off x="1881019" y="1854684"/>
            <a:ext cx="1954061" cy="338554"/>
          </a:xfrm>
          <a:prstGeom prst="rect">
            <a:avLst/>
          </a:prstGeom>
          <a:noFill/>
        </p:spPr>
        <p:txBody>
          <a:bodyPr wrap="none" rtlCol="0">
            <a:spAutoFit/>
          </a:bodyPr>
          <a:lstStyle/>
          <a:p>
            <a:pPr defTabSz="914377"/>
            <a:r>
              <a:rPr lang="en-US" sz="1600" dirty="0">
                <a:solidFill>
                  <a:srgbClr val="E83C60">
                    <a:lumMod val="50000"/>
                  </a:srgbClr>
                </a:solidFill>
                <a:latin typeface="Calibri" pitchFamily="34" charset="0"/>
              </a:rPr>
              <a:t>🤔 </a:t>
            </a:r>
            <a:r>
              <a:rPr lang="en-US" sz="1600" i="1" dirty="0">
                <a:solidFill>
                  <a:srgbClr val="E83C60">
                    <a:lumMod val="50000"/>
                  </a:srgbClr>
                </a:solidFill>
                <a:latin typeface="Calibri" pitchFamily="34" charset="0"/>
              </a:rPr>
              <a:t>Where do I start?</a:t>
            </a:r>
          </a:p>
        </p:txBody>
      </p:sp>
      <p:sp>
        <p:nvSpPr>
          <p:cNvPr id="58" name="TextBox 57">
            <a:extLst>
              <a:ext uri="{FF2B5EF4-FFF2-40B4-BE49-F238E27FC236}">
                <a16:creationId xmlns:a16="http://schemas.microsoft.com/office/drawing/2014/main" id="{A51B7F9E-3A53-4D0D-8DD3-B615010E8E12}"/>
              </a:ext>
            </a:extLst>
          </p:cNvPr>
          <p:cNvSpPr txBox="1"/>
          <p:nvPr/>
        </p:nvSpPr>
        <p:spPr>
          <a:xfrm>
            <a:off x="5189239" y="1841907"/>
            <a:ext cx="1874231" cy="338554"/>
          </a:xfrm>
          <a:prstGeom prst="rect">
            <a:avLst/>
          </a:prstGeom>
          <a:noFill/>
        </p:spPr>
        <p:txBody>
          <a:bodyPr wrap="none" rtlCol="0">
            <a:spAutoFit/>
          </a:bodyPr>
          <a:lstStyle/>
          <a:p>
            <a:pPr defTabSz="914377"/>
            <a:r>
              <a:rPr lang="en-US" sz="1600" i="1" dirty="0">
                <a:solidFill>
                  <a:srgbClr val="E83C60">
                    <a:lumMod val="50000"/>
                  </a:srgbClr>
                </a:solidFill>
                <a:latin typeface="Calibri" pitchFamily="34" charset="0"/>
              </a:rPr>
              <a:t>Where do I end?</a:t>
            </a:r>
            <a:r>
              <a:rPr lang="en-US" sz="1600" dirty="0">
                <a:solidFill>
                  <a:srgbClr val="E83C60">
                    <a:lumMod val="50000"/>
                  </a:srgbClr>
                </a:solidFill>
                <a:latin typeface="Calibri" pitchFamily="34" charset="0"/>
              </a:rPr>
              <a:t> 🤔</a:t>
            </a:r>
            <a:endParaRPr lang="en-US" sz="1600" i="1" dirty="0">
              <a:solidFill>
                <a:srgbClr val="E83C60">
                  <a:lumMod val="50000"/>
                </a:srgbClr>
              </a:solidFill>
              <a:latin typeface="Calibri" pitchFamily="34" charset="0"/>
            </a:endParaRPr>
          </a:p>
        </p:txBody>
      </p:sp>
      <p:sp>
        <p:nvSpPr>
          <p:cNvPr id="3" name="TextBox 2">
            <a:extLst>
              <a:ext uri="{FF2B5EF4-FFF2-40B4-BE49-F238E27FC236}">
                <a16:creationId xmlns:a16="http://schemas.microsoft.com/office/drawing/2014/main" id="{0E0DB6B2-2AF5-4197-B326-D656F1A82ACB}"/>
              </a:ext>
            </a:extLst>
          </p:cNvPr>
          <p:cNvSpPr txBox="1"/>
          <p:nvPr/>
        </p:nvSpPr>
        <p:spPr>
          <a:xfrm>
            <a:off x="7703459" y="2026571"/>
            <a:ext cx="1219200" cy="502766"/>
          </a:xfrm>
          <a:prstGeom prst="rect">
            <a:avLst/>
          </a:prstGeom>
          <a:noFill/>
        </p:spPr>
        <p:txBody>
          <a:bodyPr wrap="square" rtlCol="0">
            <a:spAutoFit/>
          </a:bodyPr>
          <a:lstStyle/>
          <a:p>
            <a:pPr defTabSz="914377"/>
            <a:r>
              <a:rPr lang="en-US" sz="2667" dirty="0">
                <a:solidFill>
                  <a:srgbClr val="C00000"/>
                </a:solidFill>
                <a:latin typeface="Calibri" panose="020F0502020204030204" pitchFamily="34" charset="0"/>
                <a:cs typeface="Calibri" panose="020F0502020204030204" pitchFamily="34" charset="0"/>
              </a:rPr>
              <a:t>No 😭</a:t>
            </a:r>
          </a:p>
        </p:txBody>
      </p:sp>
      <p:sp>
        <p:nvSpPr>
          <p:cNvPr id="4" name="TextBox 3">
            <a:extLst>
              <a:ext uri="{FF2B5EF4-FFF2-40B4-BE49-F238E27FC236}">
                <a16:creationId xmlns:a16="http://schemas.microsoft.com/office/drawing/2014/main" id="{DF65D12B-947E-416B-BDC8-43C0C798F9D2}"/>
              </a:ext>
            </a:extLst>
          </p:cNvPr>
          <p:cNvSpPr txBox="1"/>
          <p:nvPr/>
        </p:nvSpPr>
        <p:spPr>
          <a:xfrm>
            <a:off x="6179042" y="2779374"/>
            <a:ext cx="184731" cy="461665"/>
          </a:xfrm>
          <a:prstGeom prst="rect">
            <a:avLst/>
          </a:prstGeom>
          <a:noFill/>
        </p:spPr>
        <p:txBody>
          <a:bodyPr wrap="none" rtlCol="0">
            <a:spAutoFit/>
          </a:bodyPr>
          <a:lstStyle/>
          <a:p>
            <a:pPr defTabSz="914377"/>
            <a:endParaRPr lang="en-US" sz="2400" dirty="0">
              <a:latin typeface="Calibri" pitchFamily="34" charset="0"/>
            </a:endParaRPr>
          </a:p>
        </p:txBody>
      </p:sp>
      <p:grpSp>
        <p:nvGrpSpPr>
          <p:cNvPr id="7" name="Group 6">
            <a:extLst>
              <a:ext uri="{FF2B5EF4-FFF2-40B4-BE49-F238E27FC236}">
                <a16:creationId xmlns:a16="http://schemas.microsoft.com/office/drawing/2014/main" id="{94FFAE71-83AC-9944-8109-2F43AE1E3D3A}"/>
              </a:ext>
            </a:extLst>
          </p:cNvPr>
          <p:cNvGrpSpPr/>
          <p:nvPr/>
        </p:nvGrpSpPr>
        <p:grpSpPr>
          <a:xfrm>
            <a:off x="9174202" y="3873857"/>
            <a:ext cx="2419465" cy="2455241"/>
            <a:chOff x="9435291" y="2411446"/>
            <a:chExt cx="2419465" cy="2455241"/>
          </a:xfrm>
        </p:grpSpPr>
        <p:sp>
          <p:nvSpPr>
            <p:cNvPr id="6" name="Rectangle 5">
              <a:extLst>
                <a:ext uri="{FF2B5EF4-FFF2-40B4-BE49-F238E27FC236}">
                  <a16:creationId xmlns:a16="http://schemas.microsoft.com/office/drawing/2014/main" id="{FD3F7F26-974F-5848-A3A8-553134AF0A7B}"/>
                </a:ext>
              </a:extLst>
            </p:cNvPr>
            <p:cNvSpPr/>
            <p:nvPr/>
          </p:nvSpPr>
          <p:spPr>
            <a:xfrm>
              <a:off x="9435291" y="2411447"/>
              <a:ext cx="2413874" cy="7626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dirty="0">
                  <a:solidFill>
                    <a:srgbClr val="FFFFFF"/>
                  </a:solidFill>
                  <a:latin typeface="Calibri" panose="020F0502020204030204"/>
                </a:rPr>
                <a:t>DIRECTED ACYCLIC GRAPH</a:t>
              </a:r>
            </a:p>
          </p:txBody>
        </p:sp>
        <p:sp>
          <p:nvSpPr>
            <p:cNvPr id="30" name="Rectangle 29">
              <a:extLst>
                <a:ext uri="{FF2B5EF4-FFF2-40B4-BE49-F238E27FC236}">
                  <a16:creationId xmlns:a16="http://schemas.microsoft.com/office/drawing/2014/main" id="{1A82B448-4DF2-1644-A3DE-A8051D71099B}"/>
                </a:ext>
              </a:extLst>
            </p:cNvPr>
            <p:cNvSpPr/>
            <p:nvPr/>
          </p:nvSpPr>
          <p:spPr>
            <a:xfrm>
              <a:off x="9440882" y="2411446"/>
              <a:ext cx="2413874" cy="245524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defTabSz="914377">
                <a:buFont typeface="Arial" panose="020B0604020202020204" pitchFamily="34" charset="0"/>
                <a:buChar char="•"/>
              </a:pPr>
              <a:endParaRPr lang="en-US" sz="2000" dirty="0">
                <a:solidFill>
                  <a:srgbClr val="2E235D"/>
                </a:solidFill>
                <a:latin typeface="Calibri" panose="020F0502020204030204"/>
              </a:endParaRPr>
            </a:p>
            <a:p>
              <a:pPr marL="285744" indent="-285744" defTabSz="914377">
                <a:buFont typeface="Arial" panose="020B0604020202020204" pitchFamily="34" charset="0"/>
                <a:buChar char="•"/>
              </a:pPr>
              <a:endParaRPr lang="en-US" sz="2000" dirty="0">
                <a:solidFill>
                  <a:srgbClr val="2E235D"/>
                </a:solidFill>
                <a:latin typeface="Calibri" panose="020F0502020204030204"/>
              </a:endParaRPr>
            </a:p>
            <a:p>
              <a:pPr marL="285744" indent="-285744" defTabSz="914377">
                <a:buFont typeface="Arial" panose="020B0604020202020204" pitchFamily="34" charset="0"/>
                <a:buChar char="•"/>
              </a:pPr>
              <a:r>
                <a:rPr lang="en-US" sz="2000" dirty="0">
                  <a:solidFill>
                    <a:srgbClr val="2E235D"/>
                  </a:solidFill>
                  <a:latin typeface="Calibri" panose="020F0502020204030204"/>
                </a:rPr>
                <a:t>A </a:t>
              </a:r>
              <a:r>
                <a:rPr lang="en-US" sz="2000" b="1" dirty="0">
                  <a:solidFill>
                    <a:srgbClr val="2E235D"/>
                  </a:solidFill>
                  <a:latin typeface="Calibri" panose="020F0502020204030204"/>
                </a:rPr>
                <a:t>directed graph </a:t>
              </a:r>
              <a:r>
                <a:rPr lang="en-US" sz="2000" dirty="0">
                  <a:solidFill>
                    <a:srgbClr val="2E235D"/>
                  </a:solidFill>
                  <a:latin typeface="Calibri" panose="020F0502020204030204"/>
                </a:rPr>
                <a:t>without any </a:t>
              </a:r>
              <a:r>
                <a:rPr lang="en-US" sz="2000" b="1" dirty="0">
                  <a:solidFill>
                    <a:srgbClr val="2E235D"/>
                  </a:solidFill>
                  <a:latin typeface="Calibri" panose="020F0502020204030204"/>
                </a:rPr>
                <a:t>cycles</a:t>
              </a:r>
            </a:p>
            <a:p>
              <a:pPr marL="285744" indent="-285744" defTabSz="914377">
                <a:buFont typeface="Arial" panose="020B0604020202020204" pitchFamily="34" charset="0"/>
                <a:buChar char="•"/>
              </a:pPr>
              <a:r>
                <a:rPr lang="en-US" sz="2000" dirty="0">
                  <a:solidFill>
                    <a:srgbClr val="2E235D"/>
                  </a:solidFill>
                  <a:latin typeface="Calibri" panose="020F0502020204030204"/>
                </a:rPr>
                <a:t>Edges may or may not be weighted</a:t>
              </a:r>
            </a:p>
          </p:txBody>
        </p:sp>
      </p:grpSp>
      <p:grpSp>
        <p:nvGrpSpPr>
          <p:cNvPr id="33" name="Group 32">
            <a:extLst>
              <a:ext uri="{FF2B5EF4-FFF2-40B4-BE49-F238E27FC236}">
                <a16:creationId xmlns:a16="http://schemas.microsoft.com/office/drawing/2014/main" id="{87FA8010-C886-413E-9E5E-B3E709456FB8}"/>
              </a:ext>
            </a:extLst>
          </p:cNvPr>
          <p:cNvGrpSpPr/>
          <p:nvPr/>
        </p:nvGrpSpPr>
        <p:grpSpPr>
          <a:xfrm>
            <a:off x="920539" y="4109830"/>
            <a:ext cx="8055797" cy="1412174"/>
            <a:chOff x="946768" y="2257371"/>
            <a:chExt cx="4411791" cy="848379"/>
          </a:xfrm>
        </p:grpSpPr>
        <p:sp>
          <p:nvSpPr>
            <p:cNvPr id="34" name="Rectangle 33">
              <a:extLst>
                <a:ext uri="{FF2B5EF4-FFF2-40B4-BE49-F238E27FC236}">
                  <a16:creationId xmlns:a16="http://schemas.microsoft.com/office/drawing/2014/main" id="{0269ED0C-8B2D-4AAC-AE66-B260496D9989}"/>
                </a:ext>
              </a:extLst>
            </p:cNvPr>
            <p:cNvSpPr/>
            <p:nvPr/>
          </p:nvSpPr>
          <p:spPr>
            <a:xfrm>
              <a:off x="946768" y="2306003"/>
              <a:ext cx="843666"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400" b="1" dirty="0">
                  <a:solidFill>
                    <a:srgbClr val="000000"/>
                  </a:solidFill>
                  <a:latin typeface="Calibri" panose="020F0502020204030204" pitchFamily="34" charset="0"/>
                  <a:cs typeface="Calibri" panose="020F0502020204030204" pitchFamily="34" charset="0"/>
                </a:rPr>
                <a:t>A</a:t>
              </a:r>
            </a:p>
          </p:txBody>
        </p:sp>
        <p:sp>
          <p:nvSpPr>
            <p:cNvPr id="35" name="Rectangle 34">
              <a:extLst>
                <a:ext uri="{FF2B5EF4-FFF2-40B4-BE49-F238E27FC236}">
                  <a16:creationId xmlns:a16="http://schemas.microsoft.com/office/drawing/2014/main" id="{19304D9E-DEAD-4D10-BCF3-6C8A13CBC121}"/>
                </a:ext>
              </a:extLst>
            </p:cNvPr>
            <p:cNvSpPr/>
            <p:nvPr/>
          </p:nvSpPr>
          <p:spPr>
            <a:xfrm>
              <a:off x="1008622" y="2775776"/>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G</a:t>
              </a:r>
            </a:p>
          </p:txBody>
        </p:sp>
        <p:sp>
          <p:nvSpPr>
            <p:cNvPr id="36" name="Rectangle 35">
              <a:extLst>
                <a:ext uri="{FF2B5EF4-FFF2-40B4-BE49-F238E27FC236}">
                  <a16:creationId xmlns:a16="http://schemas.microsoft.com/office/drawing/2014/main" id="{036411ED-EBF7-4AE7-9672-BA411A0C8F0C}"/>
                </a:ext>
              </a:extLst>
            </p:cNvPr>
            <p:cNvSpPr/>
            <p:nvPr/>
          </p:nvSpPr>
          <p:spPr>
            <a:xfrm>
              <a:off x="2144074" y="2869149"/>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D</a:t>
              </a:r>
            </a:p>
          </p:txBody>
        </p:sp>
        <p:sp>
          <p:nvSpPr>
            <p:cNvPr id="37" name="Rectangle 36">
              <a:extLst>
                <a:ext uri="{FF2B5EF4-FFF2-40B4-BE49-F238E27FC236}">
                  <a16:creationId xmlns:a16="http://schemas.microsoft.com/office/drawing/2014/main" id="{FCD519F9-690F-40DA-82CE-85EE2C2BD1B6}"/>
                </a:ext>
              </a:extLst>
            </p:cNvPr>
            <p:cNvSpPr/>
            <p:nvPr/>
          </p:nvSpPr>
          <p:spPr>
            <a:xfrm>
              <a:off x="4576747" y="2598538"/>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F</a:t>
              </a:r>
            </a:p>
          </p:txBody>
        </p:sp>
        <p:sp>
          <p:nvSpPr>
            <p:cNvPr id="38" name="Rectangle 37">
              <a:extLst>
                <a:ext uri="{FF2B5EF4-FFF2-40B4-BE49-F238E27FC236}">
                  <a16:creationId xmlns:a16="http://schemas.microsoft.com/office/drawing/2014/main" id="{31F75426-6D10-4BE8-B80D-B992D199C000}"/>
                </a:ext>
              </a:extLst>
            </p:cNvPr>
            <p:cNvSpPr/>
            <p:nvPr/>
          </p:nvSpPr>
          <p:spPr>
            <a:xfrm>
              <a:off x="3447659" y="2573004"/>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E</a:t>
              </a:r>
            </a:p>
          </p:txBody>
        </p:sp>
        <p:sp>
          <p:nvSpPr>
            <p:cNvPr id="39" name="Rectangle 38">
              <a:extLst>
                <a:ext uri="{FF2B5EF4-FFF2-40B4-BE49-F238E27FC236}">
                  <a16:creationId xmlns:a16="http://schemas.microsoft.com/office/drawing/2014/main" id="{1F7E954A-8388-46D4-93AD-2452B457682E}"/>
                </a:ext>
              </a:extLst>
            </p:cNvPr>
            <p:cNvSpPr/>
            <p:nvPr/>
          </p:nvSpPr>
          <p:spPr>
            <a:xfrm>
              <a:off x="3684722" y="2257371"/>
              <a:ext cx="781812" cy="236601"/>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1200" b="1" dirty="0">
                  <a:solidFill>
                    <a:srgbClr val="000000"/>
                  </a:solidFill>
                  <a:latin typeface="Calibri" panose="020F0502020204030204" pitchFamily="34" charset="0"/>
                  <a:cs typeface="Calibri" panose="020F0502020204030204" pitchFamily="34" charset="0"/>
                </a:rPr>
                <a:t>C</a:t>
              </a:r>
            </a:p>
          </p:txBody>
        </p:sp>
        <p:cxnSp>
          <p:nvCxnSpPr>
            <p:cNvPr id="40" name="Straight Arrow Connector 39">
              <a:extLst>
                <a:ext uri="{FF2B5EF4-FFF2-40B4-BE49-F238E27FC236}">
                  <a16:creationId xmlns:a16="http://schemas.microsoft.com/office/drawing/2014/main" id="{89CEEB1A-FB15-4AAE-B957-27FF7C196248}"/>
                </a:ext>
              </a:extLst>
            </p:cNvPr>
            <p:cNvCxnSpPr>
              <a:cxnSpLocks/>
              <a:stCxn id="34" idx="3"/>
              <a:endCxn id="36" idx="1"/>
            </p:cNvCxnSpPr>
            <p:nvPr/>
          </p:nvCxnSpPr>
          <p:spPr>
            <a:xfrm>
              <a:off x="1790434" y="2424304"/>
              <a:ext cx="353640" cy="563145"/>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3C1ED4-A02F-468B-8D7D-2EA705EF0AFC}"/>
                </a:ext>
              </a:extLst>
            </p:cNvPr>
            <p:cNvCxnSpPr>
              <a:stCxn id="35" idx="3"/>
              <a:endCxn id="36" idx="1"/>
            </p:cNvCxnSpPr>
            <p:nvPr/>
          </p:nvCxnSpPr>
          <p:spPr>
            <a:xfrm>
              <a:off x="1790434" y="2894076"/>
              <a:ext cx="353640" cy="9337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F0029AA-6CC2-4513-A864-934475681ADE}"/>
                </a:ext>
              </a:extLst>
            </p:cNvPr>
            <p:cNvCxnSpPr>
              <a:cxnSpLocks/>
              <a:stCxn id="36" idx="3"/>
              <a:endCxn id="38" idx="1"/>
            </p:cNvCxnSpPr>
            <p:nvPr/>
          </p:nvCxnSpPr>
          <p:spPr>
            <a:xfrm flipV="1">
              <a:off x="2925886" y="2691305"/>
              <a:ext cx="521773" cy="296145"/>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E24BB1B-9D53-4E14-B39B-EBC7EE8E0FCC}"/>
                </a:ext>
              </a:extLst>
            </p:cNvPr>
            <p:cNvCxnSpPr>
              <a:cxnSpLocks/>
              <a:stCxn id="38" idx="3"/>
              <a:endCxn id="37" idx="1"/>
            </p:cNvCxnSpPr>
            <p:nvPr/>
          </p:nvCxnSpPr>
          <p:spPr>
            <a:xfrm>
              <a:off x="4229471" y="2691305"/>
              <a:ext cx="347276" cy="25534"/>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7101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2" end="2"/>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0">
                                            <p:txEl>
                                              <p:pRg st="3" end="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8" grpId="0"/>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1F82E3CC-CA8C-2245-9FF0-09160E4C3403}"/>
              </a:ext>
            </a:extLst>
          </p:cNvPr>
          <p:cNvSpPr/>
          <p:nvPr/>
        </p:nvSpPr>
        <p:spPr>
          <a:xfrm>
            <a:off x="1439142" y="5212417"/>
            <a:ext cx="5185316" cy="10262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400" dirty="0">
                <a:solidFill>
                  <a:srgbClr val="FFFFFF"/>
                </a:solidFill>
                <a:latin typeface="Calibri" panose="020F0502020204030204"/>
              </a:rPr>
              <a:t>Doesn’t reach all vertices </a:t>
            </a:r>
            <a:r>
              <a:rPr lang="en-US" sz="2400" dirty="0">
                <a:solidFill>
                  <a:srgbClr val="FFFFFF"/>
                </a:solidFill>
                <a:latin typeface="Calibri" panose="020F0502020204030204"/>
                <a:sym typeface="Wingdings" pitchFamily="2" charset="2"/>
              </a:rPr>
              <a:t></a:t>
            </a:r>
            <a:endParaRPr lang="en-US" sz="2400" dirty="0">
              <a:solidFill>
                <a:srgbClr val="FFFFFF"/>
              </a:solidFill>
              <a:latin typeface="Calibri" panose="020F0502020204030204"/>
            </a:endParaRPr>
          </a:p>
        </p:txBody>
      </p:sp>
      <p:sp>
        <p:nvSpPr>
          <p:cNvPr id="2" name="Title 1">
            <a:extLst>
              <a:ext uri="{FF2B5EF4-FFF2-40B4-BE49-F238E27FC236}">
                <a16:creationId xmlns:a16="http://schemas.microsoft.com/office/drawing/2014/main" id="{BF039FC9-D81A-0942-A6D0-85DE135BD49C}"/>
              </a:ext>
            </a:extLst>
          </p:cNvPr>
          <p:cNvSpPr>
            <a:spLocks noGrp="1"/>
          </p:cNvSpPr>
          <p:nvPr>
            <p:ph type="title"/>
          </p:nvPr>
        </p:nvSpPr>
        <p:spPr/>
        <p:txBody>
          <a:bodyPr/>
          <a:lstStyle/>
          <a:p>
            <a:r>
              <a:rPr lang="en-US" dirty="0"/>
              <a:t>How To Perform Topo Sort?</a:t>
            </a:r>
          </a:p>
        </p:txBody>
      </p:sp>
      <p:sp>
        <p:nvSpPr>
          <p:cNvPr id="3" name="Content Placeholder 2">
            <a:extLst>
              <a:ext uri="{FF2B5EF4-FFF2-40B4-BE49-F238E27FC236}">
                <a16:creationId xmlns:a16="http://schemas.microsoft.com/office/drawing/2014/main" id="{62FA17CA-C83D-7F40-B145-084DE6FE4987}"/>
              </a:ext>
            </a:extLst>
          </p:cNvPr>
          <p:cNvSpPr>
            <a:spLocks noGrp="1"/>
          </p:cNvSpPr>
          <p:nvPr>
            <p:ph idx="1"/>
          </p:nvPr>
        </p:nvSpPr>
        <p:spPr>
          <a:xfrm>
            <a:off x="838201" y="1371601"/>
            <a:ext cx="6522151" cy="1058432"/>
          </a:xfrm>
        </p:spPr>
        <p:txBody>
          <a:bodyPr/>
          <a:lstStyle/>
          <a:p>
            <a:r>
              <a:rPr lang="en-US" dirty="0"/>
              <a:t>Topo sort is an ordering problem. Could we use… BFS?</a:t>
            </a:r>
          </a:p>
        </p:txBody>
      </p:sp>
      <p:grpSp>
        <p:nvGrpSpPr>
          <p:cNvPr id="16" name="Google Shape;743;p34">
            <a:extLst>
              <a:ext uri="{FF2B5EF4-FFF2-40B4-BE49-F238E27FC236}">
                <a16:creationId xmlns:a16="http://schemas.microsoft.com/office/drawing/2014/main" id="{825F9C15-7BFC-334F-AFE8-88495CDFE06C}"/>
              </a:ext>
            </a:extLst>
          </p:cNvPr>
          <p:cNvGrpSpPr/>
          <p:nvPr/>
        </p:nvGrpSpPr>
        <p:grpSpPr>
          <a:xfrm>
            <a:off x="8228685" y="1315844"/>
            <a:ext cx="3125116" cy="1872304"/>
            <a:chOff x="756020" y="683300"/>
            <a:chExt cx="2419775" cy="1945738"/>
          </a:xfrm>
          <a:solidFill>
            <a:schemeClr val="accent2">
              <a:lumMod val="20000"/>
              <a:lumOff val="80000"/>
            </a:schemeClr>
          </a:solidFill>
        </p:grpSpPr>
        <p:sp>
          <p:nvSpPr>
            <p:cNvPr id="17" name="Google Shape;744;p34">
              <a:extLst>
                <a:ext uri="{FF2B5EF4-FFF2-40B4-BE49-F238E27FC236}">
                  <a16:creationId xmlns:a16="http://schemas.microsoft.com/office/drawing/2014/main" id="{E2A4E731-78C7-3B4E-B9FB-6AF728E88A88}"/>
                </a:ext>
              </a:extLst>
            </p:cNvPr>
            <p:cNvSpPr/>
            <p:nvPr/>
          </p:nvSpPr>
          <p:spPr>
            <a:xfrm>
              <a:off x="932470" y="19381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1</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18" name="Google Shape;745;p34">
              <a:extLst>
                <a:ext uri="{FF2B5EF4-FFF2-40B4-BE49-F238E27FC236}">
                  <a16:creationId xmlns:a16="http://schemas.microsoft.com/office/drawing/2014/main" id="{601D60C4-1483-D846-8290-4490F2670CFE}"/>
                </a:ext>
              </a:extLst>
            </p:cNvPr>
            <p:cNvSpPr/>
            <p:nvPr/>
          </p:nvSpPr>
          <p:spPr>
            <a:xfrm>
              <a:off x="1806370" y="683300"/>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2</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19" name="Google Shape;746;p34">
              <a:extLst>
                <a:ext uri="{FF2B5EF4-FFF2-40B4-BE49-F238E27FC236}">
                  <a16:creationId xmlns:a16="http://schemas.microsoft.com/office/drawing/2014/main" id="{0F7C3D55-43F4-844B-AE8E-F1BA078B00F0}"/>
                </a:ext>
              </a:extLst>
            </p:cNvPr>
            <p:cNvSpPr/>
            <p:nvPr/>
          </p:nvSpPr>
          <p:spPr>
            <a:xfrm>
              <a:off x="1781370" y="12544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3</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20" name="Google Shape;747;p34">
              <a:extLst>
                <a:ext uri="{FF2B5EF4-FFF2-40B4-BE49-F238E27FC236}">
                  <a16:creationId xmlns:a16="http://schemas.microsoft.com/office/drawing/2014/main" id="{5217E9FC-CDE7-5741-A9B1-D8770185F971}"/>
                </a:ext>
              </a:extLst>
            </p:cNvPr>
            <p:cNvSpPr/>
            <p:nvPr/>
          </p:nvSpPr>
          <p:spPr>
            <a:xfrm>
              <a:off x="1868645" y="1865563"/>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4</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1" name="Google Shape;748;p34">
              <a:extLst>
                <a:ext uri="{FF2B5EF4-FFF2-40B4-BE49-F238E27FC236}">
                  <a16:creationId xmlns:a16="http://schemas.microsoft.com/office/drawing/2014/main" id="{AE152A5F-D055-2C45-B4E4-161000E150B9}"/>
                </a:ext>
              </a:extLst>
            </p:cNvPr>
            <p:cNvSpPr/>
            <p:nvPr/>
          </p:nvSpPr>
          <p:spPr>
            <a:xfrm>
              <a:off x="2446495" y="1184188"/>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5</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2" name="Google Shape;749;p34">
              <a:extLst>
                <a:ext uri="{FF2B5EF4-FFF2-40B4-BE49-F238E27FC236}">
                  <a16:creationId xmlns:a16="http://schemas.microsoft.com/office/drawing/2014/main" id="{48DAB077-4C3D-E540-8003-81FF0229F5D0}"/>
                </a:ext>
              </a:extLst>
            </p:cNvPr>
            <p:cNvSpPr/>
            <p:nvPr/>
          </p:nvSpPr>
          <p:spPr>
            <a:xfrm>
              <a:off x="2858395" y="1841263"/>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6</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3" name="Google Shape;750;p34">
              <a:extLst>
                <a:ext uri="{FF2B5EF4-FFF2-40B4-BE49-F238E27FC236}">
                  <a16:creationId xmlns:a16="http://schemas.microsoft.com/office/drawing/2014/main" id="{D4F759DB-A256-8844-B660-4639D8552556}"/>
                </a:ext>
              </a:extLst>
            </p:cNvPr>
            <p:cNvSpPr/>
            <p:nvPr/>
          </p:nvSpPr>
          <p:spPr>
            <a:xfrm>
              <a:off x="1944845" y="2376138"/>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7</a:t>
              </a:r>
              <a:endParaRPr sz="1600" b="1">
                <a:solidFill>
                  <a:srgbClr val="2E235D"/>
                </a:solidFill>
                <a:latin typeface="Calibri" panose="020F0502020204030204" pitchFamily="34" charset="0"/>
                <a:cs typeface="Calibri" panose="020F0502020204030204" pitchFamily="34" charset="0"/>
                <a:sym typeface="Roboto"/>
              </a:endParaRPr>
            </a:p>
          </p:txBody>
        </p:sp>
        <p:cxnSp>
          <p:nvCxnSpPr>
            <p:cNvPr id="24" name="Google Shape;751;p34">
              <a:extLst>
                <a:ext uri="{FF2B5EF4-FFF2-40B4-BE49-F238E27FC236}">
                  <a16:creationId xmlns:a16="http://schemas.microsoft.com/office/drawing/2014/main" id="{A9C2465C-6DE3-6D40-935B-C1FCAD0B16CD}"/>
                </a:ext>
              </a:extLst>
            </p:cNvPr>
            <p:cNvCxnSpPr>
              <a:stCxn id="33" idx="2"/>
              <a:endCxn id="17" idx="0"/>
            </p:cNvCxnSpPr>
            <p:nvPr/>
          </p:nvCxnSpPr>
          <p:spPr>
            <a:xfrm>
              <a:off x="914720" y="1507375"/>
              <a:ext cx="176400" cy="4308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Google Shape;753;p34">
              <a:extLst>
                <a:ext uri="{FF2B5EF4-FFF2-40B4-BE49-F238E27FC236}">
                  <a16:creationId xmlns:a16="http://schemas.microsoft.com/office/drawing/2014/main" id="{17DFF7EF-E758-E042-B2F1-DF9921722A9C}"/>
                </a:ext>
              </a:extLst>
            </p:cNvPr>
            <p:cNvCxnSpPr>
              <a:stCxn id="33" idx="3"/>
              <a:endCxn id="19" idx="1"/>
            </p:cNvCxnSpPr>
            <p:nvPr/>
          </p:nvCxnSpPr>
          <p:spPr>
            <a:xfrm>
              <a:off x="1073420" y="1380925"/>
              <a:ext cx="708000"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Google Shape;754;p34">
              <a:extLst>
                <a:ext uri="{FF2B5EF4-FFF2-40B4-BE49-F238E27FC236}">
                  <a16:creationId xmlns:a16="http://schemas.microsoft.com/office/drawing/2014/main" id="{12B0E78B-38D9-584E-9D8C-57567A316DBB}"/>
                </a:ext>
              </a:extLst>
            </p:cNvPr>
            <p:cNvCxnSpPr>
              <a:stCxn id="18" idx="2"/>
              <a:endCxn id="19" idx="0"/>
            </p:cNvCxnSpPr>
            <p:nvPr/>
          </p:nvCxnSpPr>
          <p:spPr>
            <a:xfrm flipH="1">
              <a:off x="1940170" y="936200"/>
              <a:ext cx="24900" cy="3183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Google Shape;755;p34">
              <a:extLst>
                <a:ext uri="{FF2B5EF4-FFF2-40B4-BE49-F238E27FC236}">
                  <a16:creationId xmlns:a16="http://schemas.microsoft.com/office/drawing/2014/main" id="{C1288571-D200-314E-BFA2-70237C604613}"/>
                </a:ext>
              </a:extLst>
            </p:cNvPr>
            <p:cNvCxnSpPr>
              <a:stCxn id="18" idx="3"/>
              <a:endCxn id="21" idx="0"/>
            </p:cNvCxnSpPr>
            <p:nvPr/>
          </p:nvCxnSpPr>
          <p:spPr>
            <a:xfrm>
              <a:off x="2123770" y="809750"/>
              <a:ext cx="481500" cy="3744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Google Shape;756;p34">
              <a:extLst>
                <a:ext uri="{FF2B5EF4-FFF2-40B4-BE49-F238E27FC236}">
                  <a16:creationId xmlns:a16="http://schemas.microsoft.com/office/drawing/2014/main" id="{05F8C1BA-67B1-C04B-95AA-DE520930A77B}"/>
                </a:ext>
              </a:extLst>
            </p:cNvPr>
            <p:cNvCxnSpPr>
              <a:stCxn id="21" idx="2"/>
              <a:endCxn id="22" idx="0"/>
            </p:cNvCxnSpPr>
            <p:nvPr/>
          </p:nvCxnSpPr>
          <p:spPr>
            <a:xfrm>
              <a:off x="2605195" y="1437088"/>
              <a:ext cx="411900" cy="4041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Google Shape;757;p34">
              <a:extLst>
                <a:ext uri="{FF2B5EF4-FFF2-40B4-BE49-F238E27FC236}">
                  <a16:creationId xmlns:a16="http://schemas.microsoft.com/office/drawing/2014/main" id="{81409A00-3285-4342-B8FE-DCCBE39E8950}"/>
                </a:ext>
              </a:extLst>
            </p:cNvPr>
            <p:cNvCxnSpPr>
              <a:stCxn id="21" idx="2"/>
              <a:endCxn id="20" idx="3"/>
            </p:cNvCxnSpPr>
            <p:nvPr/>
          </p:nvCxnSpPr>
          <p:spPr>
            <a:xfrm flipH="1">
              <a:off x="2186095" y="1437088"/>
              <a:ext cx="419100" cy="5550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Google Shape;758;p34">
              <a:extLst>
                <a:ext uri="{FF2B5EF4-FFF2-40B4-BE49-F238E27FC236}">
                  <a16:creationId xmlns:a16="http://schemas.microsoft.com/office/drawing/2014/main" id="{05C843AF-1184-9648-9CBA-4982853C2237}"/>
                </a:ext>
              </a:extLst>
            </p:cNvPr>
            <p:cNvCxnSpPr>
              <a:stCxn id="19" idx="2"/>
              <a:endCxn id="20" idx="0"/>
            </p:cNvCxnSpPr>
            <p:nvPr/>
          </p:nvCxnSpPr>
          <p:spPr>
            <a:xfrm>
              <a:off x="1940070" y="1507375"/>
              <a:ext cx="87300" cy="3582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Google Shape;759;p34">
              <a:extLst>
                <a:ext uri="{FF2B5EF4-FFF2-40B4-BE49-F238E27FC236}">
                  <a16:creationId xmlns:a16="http://schemas.microsoft.com/office/drawing/2014/main" id="{41E9CD99-423A-9140-A0A2-D81C9728ADD7}"/>
                </a:ext>
              </a:extLst>
            </p:cNvPr>
            <p:cNvCxnSpPr>
              <a:stCxn id="17" idx="3"/>
              <a:endCxn id="20" idx="1"/>
            </p:cNvCxnSpPr>
            <p:nvPr/>
          </p:nvCxnSpPr>
          <p:spPr>
            <a:xfrm rot="10800000" flipH="1">
              <a:off x="1249870" y="1992025"/>
              <a:ext cx="618900" cy="726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Google Shape;760;p34">
              <a:extLst>
                <a:ext uri="{FF2B5EF4-FFF2-40B4-BE49-F238E27FC236}">
                  <a16:creationId xmlns:a16="http://schemas.microsoft.com/office/drawing/2014/main" id="{6778A6AB-996E-5A41-AD51-6F2602326E97}"/>
                </a:ext>
              </a:extLst>
            </p:cNvPr>
            <p:cNvCxnSpPr>
              <a:stCxn id="20" idx="2"/>
              <a:endCxn id="23" idx="0"/>
            </p:cNvCxnSpPr>
            <p:nvPr/>
          </p:nvCxnSpPr>
          <p:spPr>
            <a:xfrm>
              <a:off x="2027345" y="2118463"/>
              <a:ext cx="76200" cy="2577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Google Shape;752;p34">
              <a:extLst>
                <a:ext uri="{FF2B5EF4-FFF2-40B4-BE49-F238E27FC236}">
                  <a16:creationId xmlns:a16="http://schemas.microsoft.com/office/drawing/2014/main" id="{D8366903-208B-714D-BAFA-A141B9DA4AA1}"/>
                </a:ext>
              </a:extLst>
            </p:cNvPr>
            <p:cNvSpPr/>
            <p:nvPr/>
          </p:nvSpPr>
          <p:spPr>
            <a:xfrm>
              <a:off x="756020" y="12544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0</a:t>
              </a:r>
              <a:endParaRPr sz="1600" b="1">
                <a:solidFill>
                  <a:srgbClr val="2E235D"/>
                </a:solidFill>
                <a:latin typeface="Calibri" panose="020F0502020204030204" pitchFamily="34" charset="0"/>
                <a:cs typeface="Calibri" panose="020F0502020204030204" pitchFamily="34" charset="0"/>
                <a:sym typeface="Roboto"/>
              </a:endParaRPr>
            </a:p>
          </p:txBody>
        </p:sp>
      </p:grpSp>
      <p:sp>
        <p:nvSpPr>
          <p:cNvPr id="34" name="TextBox 33">
            <a:extLst>
              <a:ext uri="{FF2B5EF4-FFF2-40B4-BE49-F238E27FC236}">
                <a16:creationId xmlns:a16="http://schemas.microsoft.com/office/drawing/2014/main" id="{BBD89B0E-EC52-8C45-BCC9-4611E61F7ED4}"/>
              </a:ext>
            </a:extLst>
          </p:cNvPr>
          <p:cNvSpPr txBox="1"/>
          <p:nvPr/>
        </p:nvSpPr>
        <p:spPr>
          <a:xfrm>
            <a:off x="8119167" y="1107911"/>
            <a:ext cx="747320" cy="369332"/>
          </a:xfrm>
          <a:prstGeom prst="rect">
            <a:avLst/>
          </a:prstGeom>
          <a:noFill/>
        </p:spPr>
        <p:txBody>
          <a:bodyPr wrap="none" rtlCol="0">
            <a:spAutoFit/>
          </a:bodyPr>
          <a:lstStyle/>
          <a:p>
            <a:pPr defTabSz="914377"/>
            <a:r>
              <a:rPr lang="en-US" dirty="0">
                <a:latin typeface="Calibri" panose="020F0502020204030204"/>
              </a:rPr>
              <a:t>Input:</a:t>
            </a:r>
          </a:p>
        </p:txBody>
      </p:sp>
      <p:sp>
        <p:nvSpPr>
          <p:cNvPr id="35" name="TextBox 34">
            <a:extLst>
              <a:ext uri="{FF2B5EF4-FFF2-40B4-BE49-F238E27FC236}">
                <a16:creationId xmlns:a16="http://schemas.microsoft.com/office/drawing/2014/main" id="{0D5E6801-7E4B-064B-ACFD-648907E6ACFA}"/>
              </a:ext>
            </a:extLst>
          </p:cNvPr>
          <p:cNvSpPr txBox="1"/>
          <p:nvPr/>
        </p:nvSpPr>
        <p:spPr>
          <a:xfrm>
            <a:off x="8119168" y="3913715"/>
            <a:ext cx="1754455" cy="369332"/>
          </a:xfrm>
          <a:prstGeom prst="rect">
            <a:avLst/>
          </a:prstGeom>
          <a:noFill/>
        </p:spPr>
        <p:txBody>
          <a:bodyPr wrap="none" rtlCol="0">
            <a:spAutoFit/>
          </a:bodyPr>
          <a:lstStyle/>
          <a:p>
            <a:pPr defTabSz="914377"/>
            <a:r>
              <a:rPr lang="en-US" dirty="0">
                <a:latin typeface="Calibri" panose="020F0502020204030204"/>
              </a:rPr>
              <a:t>BFS starting at 0:</a:t>
            </a:r>
          </a:p>
        </p:txBody>
      </p:sp>
      <p:sp>
        <p:nvSpPr>
          <p:cNvPr id="36" name="Google Shape;752;p34">
            <a:extLst>
              <a:ext uri="{FF2B5EF4-FFF2-40B4-BE49-F238E27FC236}">
                <a16:creationId xmlns:a16="http://schemas.microsoft.com/office/drawing/2014/main" id="{63821C33-A298-F447-B77B-88E7FDF241C5}"/>
              </a:ext>
            </a:extLst>
          </p:cNvPr>
          <p:cNvSpPr/>
          <p:nvPr/>
        </p:nvSpPr>
        <p:spPr>
          <a:xfrm>
            <a:off x="8228685" y="4519816"/>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0</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37" name="Google Shape;752;p34">
            <a:extLst>
              <a:ext uri="{FF2B5EF4-FFF2-40B4-BE49-F238E27FC236}">
                <a16:creationId xmlns:a16="http://schemas.microsoft.com/office/drawing/2014/main" id="{962B5BF0-37BC-FB4C-9D29-6A08486CD203}"/>
              </a:ext>
            </a:extLst>
          </p:cNvPr>
          <p:cNvSpPr/>
          <p:nvPr/>
        </p:nvSpPr>
        <p:spPr>
          <a:xfrm>
            <a:off x="8791434" y="4519816"/>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1</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38" name="Google Shape;752;p34">
            <a:extLst>
              <a:ext uri="{FF2B5EF4-FFF2-40B4-BE49-F238E27FC236}">
                <a16:creationId xmlns:a16="http://schemas.microsoft.com/office/drawing/2014/main" id="{76B66DE5-4B35-6746-A332-A70025492E18}"/>
              </a:ext>
            </a:extLst>
          </p:cNvPr>
          <p:cNvSpPr/>
          <p:nvPr/>
        </p:nvSpPr>
        <p:spPr>
          <a:xfrm>
            <a:off x="9356465" y="4519816"/>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3</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39" name="Google Shape;752;p34">
            <a:extLst>
              <a:ext uri="{FF2B5EF4-FFF2-40B4-BE49-F238E27FC236}">
                <a16:creationId xmlns:a16="http://schemas.microsoft.com/office/drawing/2014/main" id="{42AC2298-E7F9-9845-BBCB-434381BA3450}"/>
              </a:ext>
            </a:extLst>
          </p:cNvPr>
          <p:cNvSpPr/>
          <p:nvPr/>
        </p:nvSpPr>
        <p:spPr>
          <a:xfrm>
            <a:off x="9921494" y="4519816"/>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4</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40" name="Google Shape;752;p34">
            <a:extLst>
              <a:ext uri="{FF2B5EF4-FFF2-40B4-BE49-F238E27FC236}">
                <a16:creationId xmlns:a16="http://schemas.microsoft.com/office/drawing/2014/main" id="{6D1715B7-4727-0848-A09D-122122C9A051}"/>
              </a:ext>
            </a:extLst>
          </p:cNvPr>
          <p:cNvSpPr/>
          <p:nvPr/>
        </p:nvSpPr>
        <p:spPr>
          <a:xfrm>
            <a:off x="10486525" y="4519816"/>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7</a:t>
            </a:r>
            <a:endParaRPr sz="1600" b="1" dirty="0">
              <a:solidFill>
                <a:srgbClr val="2E235D"/>
              </a:solidFill>
              <a:latin typeface="Calibri" panose="020F0502020204030204" pitchFamily="34" charset="0"/>
              <a:cs typeface="Calibri" panose="020F0502020204030204" pitchFamily="34" charset="0"/>
              <a:sym typeface="Roboto"/>
            </a:endParaRPr>
          </a:p>
        </p:txBody>
      </p:sp>
      <p:grpSp>
        <p:nvGrpSpPr>
          <p:cNvPr id="57" name="Group 56">
            <a:extLst>
              <a:ext uri="{FF2B5EF4-FFF2-40B4-BE49-F238E27FC236}">
                <a16:creationId xmlns:a16="http://schemas.microsoft.com/office/drawing/2014/main" id="{BAE45B12-4CD3-7044-864B-6F48C7406B7E}"/>
              </a:ext>
            </a:extLst>
          </p:cNvPr>
          <p:cNvGrpSpPr/>
          <p:nvPr/>
        </p:nvGrpSpPr>
        <p:grpSpPr>
          <a:xfrm>
            <a:off x="869121" y="2434987"/>
            <a:ext cx="5755337" cy="2702820"/>
            <a:chOff x="869120" y="2434987"/>
            <a:chExt cx="5755337" cy="2702820"/>
          </a:xfrm>
        </p:grpSpPr>
        <p:sp>
          <p:nvSpPr>
            <p:cNvPr id="42" name="Rectangle 41">
              <a:extLst>
                <a:ext uri="{FF2B5EF4-FFF2-40B4-BE49-F238E27FC236}">
                  <a16:creationId xmlns:a16="http://schemas.microsoft.com/office/drawing/2014/main" id="{AD18D255-6942-9F45-BDAA-C3F3806306B2}"/>
                </a:ext>
              </a:extLst>
            </p:cNvPr>
            <p:cNvSpPr/>
            <p:nvPr/>
          </p:nvSpPr>
          <p:spPr>
            <a:xfrm>
              <a:off x="1439141" y="2875321"/>
              <a:ext cx="5185316" cy="226248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2800" dirty="0">
                <a:solidFill>
                  <a:srgbClr val="FFFFFF"/>
                </a:solidFill>
                <a:latin typeface="Calibri" panose="020F0502020204030204"/>
              </a:endParaRPr>
            </a:p>
          </p:txBody>
        </p:sp>
        <p:sp>
          <p:nvSpPr>
            <p:cNvPr id="43" name="Oval 42">
              <a:extLst>
                <a:ext uri="{FF2B5EF4-FFF2-40B4-BE49-F238E27FC236}">
                  <a16:creationId xmlns:a16="http://schemas.microsoft.com/office/drawing/2014/main" id="{1C510B11-6C26-FF4A-A93E-D2103601393A}"/>
                </a:ext>
              </a:extLst>
            </p:cNvPr>
            <p:cNvSpPr/>
            <p:nvPr/>
          </p:nvSpPr>
          <p:spPr>
            <a:xfrm>
              <a:off x="869120" y="2434987"/>
              <a:ext cx="1480179" cy="1480179"/>
            </a:xfrm>
            <a:prstGeom prst="ellipse">
              <a:avLst/>
            </a:prstGeom>
            <a:solidFill>
              <a:schemeClr val="accent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400" b="1" i="1" dirty="0">
                  <a:solidFill>
                    <a:srgbClr val="FFFFFF"/>
                  </a:solidFill>
                  <a:latin typeface="Calibri" panose="020F0502020204030204"/>
                </a:rPr>
                <a:t>IDEA 1</a:t>
              </a:r>
            </a:p>
          </p:txBody>
        </p:sp>
        <p:sp>
          <p:nvSpPr>
            <p:cNvPr id="44" name="TextBox 43">
              <a:extLst>
                <a:ext uri="{FF2B5EF4-FFF2-40B4-BE49-F238E27FC236}">
                  <a16:creationId xmlns:a16="http://schemas.microsoft.com/office/drawing/2014/main" id="{7CC8A0B8-69C7-1B4C-A039-12D92DC7E94B}"/>
                </a:ext>
              </a:extLst>
            </p:cNvPr>
            <p:cNvSpPr txBox="1"/>
            <p:nvPr/>
          </p:nvSpPr>
          <p:spPr>
            <a:xfrm>
              <a:off x="1771207" y="3976155"/>
              <a:ext cx="4451806" cy="830997"/>
            </a:xfrm>
            <a:prstGeom prst="rect">
              <a:avLst/>
            </a:prstGeom>
            <a:noFill/>
          </p:spPr>
          <p:txBody>
            <a:bodyPr wrap="square" rtlCol="0">
              <a:spAutoFit/>
            </a:bodyPr>
            <a:lstStyle/>
            <a:p>
              <a:pPr defTabSz="914377"/>
              <a:r>
                <a:rPr lang="en-US" sz="2400" dirty="0">
                  <a:solidFill>
                    <a:srgbClr val="FFFFFF"/>
                  </a:solidFill>
                  <a:latin typeface="Calibri" panose="020F0502020204030204"/>
                </a:rPr>
                <a:t>Use BFS, starting from a vertex with no incoming edges</a:t>
              </a:r>
            </a:p>
          </p:txBody>
        </p:sp>
        <p:sp>
          <p:nvSpPr>
            <p:cNvPr id="45" name="TextBox 44">
              <a:extLst>
                <a:ext uri="{FF2B5EF4-FFF2-40B4-BE49-F238E27FC236}">
                  <a16:creationId xmlns:a16="http://schemas.microsoft.com/office/drawing/2014/main" id="{97D4B680-2210-1445-A5B2-1A356E5E32D3}"/>
                </a:ext>
              </a:extLst>
            </p:cNvPr>
            <p:cNvSpPr txBox="1"/>
            <p:nvPr/>
          </p:nvSpPr>
          <p:spPr>
            <a:xfrm>
              <a:off x="2455847" y="2990410"/>
              <a:ext cx="2448363" cy="400110"/>
            </a:xfrm>
            <a:prstGeom prst="rect">
              <a:avLst/>
            </a:prstGeom>
            <a:noFill/>
          </p:spPr>
          <p:txBody>
            <a:bodyPr wrap="none" rtlCol="0">
              <a:spAutoFit/>
            </a:bodyPr>
            <a:lstStyle/>
            <a:p>
              <a:pPr defTabSz="914377"/>
              <a:r>
                <a:rPr lang="en-US" sz="2000" b="1" dirty="0">
                  <a:solidFill>
                    <a:srgbClr val="FFFFFF"/>
                  </a:solidFill>
                  <a:latin typeface="Calibri" panose="020F0502020204030204"/>
                </a:rPr>
                <a:t>Performing Topo Sort</a:t>
              </a:r>
            </a:p>
          </p:txBody>
        </p:sp>
      </p:grpSp>
      <p:sp>
        <p:nvSpPr>
          <p:cNvPr id="47" name="Rectangle 46">
            <a:extLst>
              <a:ext uri="{FF2B5EF4-FFF2-40B4-BE49-F238E27FC236}">
                <a16:creationId xmlns:a16="http://schemas.microsoft.com/office/drawing/2014/main" id="{68DB9F76-1DDB-F84B-A3B4-3600E4B61F26}"/>
              </a:ext>
            </a:extLst>
          </p:cNvPr>
          <p:cNvSpPr/>
          <p:nvPr/>
        </p:nvSpPr>
        <p:spPr>
          <a:xfrm>
            <a:off x="8160022" y="1797794"/>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48" name="Rectangle 47">
            <a:extLst>
              <a:ext uri="{FF2B5EF4-FFF2-40B4-BE49-F238E27FC236}">
                <a16:creationId xmlns:a16="http://schemas.microsoft.com/office/drawing/2014/main" id="{C23A41FA-9036-BC4C-BA4D-70F2C419776F}"/>
              </a:ext>
            </a:extLst>
          </p:cNvPr>
          <p:cNvSpPr/>
          <p:nvPr/>
        </p:nvSpPr>
        <p:spPr>
          <a:xfrm>
            <a:off x="8391280" y="246066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49" name="Rectangle 48">
            <a:extLst>
              <a:ext uri="{FF2B5EF4-FFF2-40B4-BE49-F238E27FC236}">
                <a16:creationId xmlns:a16="http://schemas.microsoft.com/office/drawing/2014/main" id="{2DE81C07-85AA-074B-907C-7E4C55C0B351}"/>
              </a:ext>
            </a:extLst>
          </p:cNvPr>
          <p:cNvSpPr/>
          <p:nvPr/>
        </p:nvSpPr>
        <p:spPr>
          <a:xfrm>
            <a:off x="9488573" y="1801089"/>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0" name="Rectangle 49">
            <a:extLst>
              <a:ext uri="{FF2B5EF4-FFF2-40B4-BE49-F238E27FC236}">
                <a16:creationId xmlns:a16="http://schemas.microsoft.com/office/drawing/2014/main" id="{BDCAC965-C1B0-4D4B-8787-620F6E41CC3F}"/>
              </a:ext>
            </a:extLst>
          </p:cNvPr>
          <p:cNvSpPr/>
          <p:nvPr/>
        </p:nvSpPr>
        <p:spPr>
          <a:xfrm>
            <a:off x="9600404" y="238132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1" name="Rectangle 50">
            <a:extLst>
              <a:ext uri="{FF2B5EF4-FFF2-40B4-BE49-F238E27FC236}">
                <a16:creationId xmlns:a16="http://schemas.microsoft.com/office/drawing/2014/main" id="{B65C2540-8D5E-4741-9768-1F3D9F11D17E}"/>
              </a:ext>
            </a:extLst>
          </p:cNvPr>
          <p:cNvSpPr/>
          <p:nvPr/>
        </p:nvSpPr>
        <p:spPr>
          <a:xfrm>
            <a:off x="9692649" y="2884879"/>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grpSp>
        <p:nvGrpSpPr>
          <p:cNvPr id="55" name="Group 54">
            <a:extLst>
              <a:ext uri="{FF2B5EF4-FFF2-40B4-BE49-F238E27FC236}">
                <a16:creationId xmlns:a16="http://schemas.microsoft.com/office/drawing/2014/main" id="{AE1ECF6F-ACE6-5947-9895-F89A09439140}"/>
              </a:ext>
            </a:extLst>
          </p:cNvPr>
          <p:cNvGrpSpPr/>
          <p:nvPr/>
        </p:nvGrpSpPr>
        <p:grpSpPr>
          <a:xfrm>
            <a:off x="9519977" y="1171973"/>
            <a:ext cx="1899049" cy="1658280"/>
            <a:chOff x="9519975" y="1171973"/>
            <a:chExt cx="1899049" cy="1658280"/>
          </a:xfrm>
        </p:grpSpPr>
        <p:sp>
          <p:nvSpPr>
            <p:cNvPr id="52" name="&quot;No&quot; Symbol 51">
              <a:extLst>
                <a:ext uri="{FF2B5EF4-FFF2-40B4-BE49-F238E27FC236}">
                  <a16:creationId xmlns:a16="http://schemas.microsoft.com/office/drawing/2014/main" id="{52763451-ABD4-C34B-9CB4-584BFAFE2299}"/>
                </a:ext>
              </a:extLst>
            </p:cNvPr>
            <p:cNvSpPr/>
            <p:nvPr/>
          </p:nvSpPr>
          <p:spPr>
            <a:xfrm>
              <a:off x="9519975" y="1171973"/>
              <a:ext cx="540369" cy="540369"/>
            </a:xfrm>
            <a:prstGeom prst="noSmoking">
              <a:avLst>
                <a:gd name="adj" fmla="val 965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000000"/>
                </a:solidFill>
                <a:latin typeface="Calibri" panose="020F0502020204030204"/>
              </a:endParaRPr>
            </a:p>
          </p:txBody>
        </p:sp>
        <p:sp>
          <p:nvSpPr>
            <p:cNvPr id="53" name="&quot;No&quot; Symbol 52">
              <a:extLst>
                <a:ext uri="{FF2B5EF4-FFF2-40B4-BE49-F238E27FC236}">
                  <a16:creationId xmlns:a16="http://schemas.microsoft.com/office/drawing/2014/main" id="{03FC05A6-4486-444C-A890-8D73B68EFA4F}"/>
                </a:ext>
              </a:extLst>
            </p:cNvPr>
            <p:cNvSpPr/>
            <p:nvPr/>
          </p:nvSpPr>
          <p:spPr>
            <a:xfrm>
              <a:off x="10346690" y="1649285"/>
              <a:ext cx="540369" cy="540369"/>
            </a:xfrm>
            <a:prstGeom prst="noSmoking">
              <a:avLst>
                <a:gd name="adj" fmla="val 965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000000"/>
                </a:solidFill>
                <a:latin typeface="Calibri" panose="020F0502020204030204"/>
              </a:endParaRPr>
            </a:p>
          </p:txBody>
        </p:sp>
        <p:sp>
          <p:nvSpPr>
            <p:cNvPr id="54" name="&quot;No&quot; Symbol 53">
              <a:extLst>
                <a:ext uri="{FF2B5EF4-FFF2-40B4-BE49-F238E27FC236}">
                  <a16:creationId xmlns:a16="http://schemas.microsoft.com/office/drawing/2014/main" id="{C33BDE10-C6A6-E34B-9F74-A086C5CE3242}"/>
                </a:ext>
              </a:extLst>
            </p:cNvPr>
            <p:cNvSpPr/>
            <p:nvPr/>
          </p:nvSpPr>
          <p:spPr>
            <a:xfrm>
              <a:off x="10878655" y="2289884"/>
              <a:ext cx="540369" cy="540369"/>
            </a:xfrm>
            <a:prstGeom prst="noSmoking">
              <a:avLst>
                <a:gd name="adj" fmla="val 965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000000"/>
                </a:solidFill>
                <a:latin typeface="Calibri" panose="020F0502020204030204"/>
              </a:endParaRPr>
            </a:p>
          </p:txBody>
        </p:sp>
      </p:grpSp>
    </p:spTree>
    <p:extLst>
      <p:ext uri="{BB962C8B-B14F-4D97-AF65-F5344CB8AC3E}">
        <p14:creationId xmlns:p14="http://schemas.microsoft.com/office/powerpoint/2010/main" val="200563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36" grpId="0" animBg="1"/>
      <p:bldP spid="37" grpId="0" animBg="1"/>
      <p:bldP spid="38" grpId="0" animBg="1"/>
      <p:bldP spid="39" grpId="0" animBg="1"/>
      <p:bldP spid="40" grpId="0" animBg="1"/>
      <p:bldP spid="47" grpId="0" animBg="1"/>
      <p:bldP spid="48" grpId="0" animBg="1"/>
      <p:bldP spid="49" grpId="0" animBg="1"/>
      <p:bldP spid="50" grpId="0" animBg="1"/>
      <p:bldP spid="5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39FC9-D81A-0942-A6D0-85DE135BD49C}"/>
              </a:ext>
            </a:extLst>
          </p:cNvPr>
          <p:cNvSpPr>
            <a:spLocks noGrp="1"/>
          </p:cNvSpPr>
          <p:nvPr>
            <p:ph type="title"/>
          </p:nvPr>
        </p:nvSpPr>
        <p:spPr/>
        <p:txBody>
          <a:bodyPr/>
          <a:lstStyle/>
          <a:p>
            <a:r>
              <a:rPr lang="en-US" dirty="0"/>
              <a:t>How To Perform Topo Sort?</a:t>
            </a:r>
          </a:p>
        </p:txBody>
      </p:sp>
      <p:sp>
        <p:nvSpPr>
          <p:cNvPr id="3" name="Content Placeholder 2">
            <a:extLst>
              <a:ext uri="{FF2B5EF4-FFF2-40B4-BE49-F238E27FC236}">
                <a16:creationId xmlns:a16="http://schemas.microsoft.com/office/drawing/2014/main" id="{62FA17CA-C83D-7F40-B145-084DE6FE4987}"/>
              </a:ext>
            </a:extLst>
          </p:cNvPr>
          <p:cNvSpPr>
            <a:spLocks noGrp="1"/>
          </p:cNvSpPr>
          <p:nvPr>
            <p:ph idx="1"/>
          </p:nvPr>
        </p:nvSpPr>
        <p:spPr>
          <a:xfrm>
            <a:off x="838201" y="1371601"/>
            <a:ext cx="6522151" cy="1058432"/>
          </a:xfrm>
        </p:spPr>
        <p:txBody>
          <a:bodyPr/>
          <a:lstStyle/>
          <a:p>
            <a:r>
              <a:rPr lang="en-US" dirty="0"/>
              <a:t>Okay, there may be multiple “roots”. What if we use BFS multiple times?</a:t>
            </a:r>
          </a:p>
        </p:txBody>
      </p:sp>
      <p:grpSp>
        <p:nvGrpSpPr>
          <p:cNvPr id="16" name="Google Shape;743;p34">
            <a:extLst>
              <a:ext uri="{FF2B5EF4-FFF2-40B4-BE49-F238E27FC236}">
                <a16:creationId xmlns:a16="http://schemas.microsoft.com/office/drawing/2014/main" id="{825F9C15-7BFC-334F-AFE8-88495CDFE06C}"/>
              </a:ext>
            </a:extLst>
          </p:cNvPr>
          <p:cNvGrpSpPr/>
          <p:nvPr/>
        </p:nvGrpSpPr>
        <p:grpSpPr>
          <a:xfrm>
            <a:off x="8228685" y="1315844"/>
            <a:ext cx="3125116" cy="1872304"/>
            <a:chOff x="756020" y="683300"/>
            <a:chExt cx="2419775" cy="1945738"/>
          </a:xfrm>
          <a:solidFill>
            <a:schemeClr val="accent2">
              <a:lumMod val="20000"/>
              <a:lumOff val="80000"/>
            </a:schemeClr>
          </a:solidFill>
        </p:grpSpPr>
        <p:sp>
          <p:nvSpPr>
            <p:cNvPr id="17" name="Google Shape;744;p34">
              <a:extLst>
                <a:ext uri="{FF2B5EF4-FFF2-40B4-BE49-F238E27FC236}">
                  <a16:creationId xmlns:a16="http://schemas.microsoft.com/office/drawing/2014/main" id="{E2A4E731-78C7-3B4E-B9FB-6AF728E88A88}"/>
                </a:ext>
              </a:extLst>
            </p:cNvPr>
            <p:cNvSpPr/>
            <p:nvPr/>
          </p:nvSpPr>
          <p:spPr>
            <a:xfrm>
              <a:off x="932470" y="19381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1</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18" name="Google Shape;745;p34">
              <a:extLst>
                <a:ext uri="{FF2B5EF4-FFF2-40B4-BE49-F238E27FC236}">
                  <a16:creationId xmlns:a16="http://schemas.microsoft.com/office/drawing/2014/main" id="{601D60C4-1483-D846-8290-4490F2670CFE}"/>
                </a:ext>
              </a:extLst>
            </p:cNvPr>
            <p:cNvSpPr/>
            <p:nvPr/>
          </p:nvSpPr>
          <p:spPr>
            <a:xfrm>
              <a:off x="1806370" y="683300"/>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2</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19" name="Google Shape;746;p34">
              <a:extLst>
                <a:ext uri="{FF2B5EF4-FFF2-40B4-BE49-F238E27FC236}">
                  <a16:creationId xmlns:a16="http://schemas.microsoft.com/office/drawing/2014/main" id="{0F7C3D55-43F4-844B-AE8E-F1BA078B00F0}"/>
                </a:ext>
              </a:extLst>
            </p:cNvPr>
            <p:cNvSpPr/>
            <p:nvPr/>
          </p:nvSpPr>
          <p:spPr>
            <a:xfrm>
              <a:off x="1781370" y="12544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3</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20" name="Google Shape;747;p34">
              <a:extLst>
                <a:ext uri="{FF2B5EF4-FFF2-40B4-BE49-F238E27FC236}">
                  <a16:creationId xmlns:a16="http://schemas.microsoft.com/office/drawing/2014/main" id="{5217E9FC-CDE7-5741-A9B1-D8770185F971}"/>
                </a:ext>
              </a:extLst>
            </p:cNvPr>
            <p:cNvSpPr/>
            <p:nvPr/>
          </p:nvSpPr>
          <p:spPr>
            <a:xfrm>
              <a:off x="1868645" y="1865563"/>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4</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1" name="Google Shape;748;p34">
              <a:extLst>
                <a:ext uri="{FF2B5EF4-FFF2-40B4-BE49-F238E27FC236}">
                  <a16:creationId xmlns:a16="http://schemas.microsoft.com/office/drawing/2014/main" id="{AE152A5F-D055-2C45-B4E4-161000E150B9}"/>
                </a:ext>
              </a:extLst>
            </p:cNvPr>
            <p:cNvSpPr/>
            <p:nvPr/>
          </p:nvSpPr>
          <p:spPr>
            <a:xfrm>
              <a:off x="2446495" y="1184188"/>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5</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2" name="Google Shape;749;p34">
              <a:extLst>
                <a:ext uri="{FF2B5EF4-FFF2-40B4-BE49-F238E27FC236}">
                  <a16:creationId xmlns:a16="http://schemas.microsoft.com/office/drawing/2014/main" id="{48DAB077-4C3D-E540-8003-81FF0229F5D0}"/>
                </a:ext>
              </a:extLst>
            </p:cNvPr>
            <p:cNvSpPr/>
            <p:nvPr/>
          </p:nvSpPr>
          <p:spPr>
            <a:xfrm>
              <a:off x="2858395" y="1841263"/>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6</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3" name="Google Shape;750;p34">
              <a:extLst>
                <a:ext uri="{FF2B5EF4-FFF2-40B4-BE49-F238E27FC236}">
                  <a16:creationId xmlns:a16="http://schemas.microsoft.com/office/drawing/2014/main" id="{D4F759DB-A256-8844-B660-4639D8552556}"/>
                </a:ext>
              </a:extLst>
            </p:cNvPr>
            <p:cNvSpPr/>
            <p:nvPr/>
          </p:nvSpPr>
          <p:spPr>
            <a:xfrm>
              <a:off x="1944845" y="2376138"/>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7</a:t>
              </a:r>
              <a:endParaRPr sz="1600" b="1">
                <a:solidFill>
                  <a:srgbClr val="2E235D"/>
                </a:solidFill>
                <a:latin typeface="Calibri" panose="020F0502020204030204" pitchFamily="34" charset="0"/>
                <a:cs typeface="Calibri" panose="020F0502020204030204" pitchFamily="34" charset="0"/>
                <a:sym typeface="Roboto"/>
              </a:endParaRPr>
            </a:p>
          </p:txBody>
        </p:sp>
        <p:cxnSp>
          <p:nvCxnSpPr>
            <p:cNvPr id="24" name="Google Shape;751;p34">
              <a:extLst>
                <a:ext uri="{FF2B5EF4-FFF2-40B4-BE49-F238E27FC236}">
                  <a16:creationId xmlns:a16="http://schemas.microsoft.com/office/drawing/2014/main" id="{A9C2465C-6DE3-6D40-935B-C1FCAD0B16CD}"/>
                </a:ext>
              </a:extLst>
            </p:cNvPr>
            <p:cNvCxnSpPr>
              <a:stCxn id="33" idx="2"/>
              <a:endCxn id="17" idx="0"/>
            </p:cNvCxnSpPr>
            <p:nvPr/>
          </p:nvCxnSpPr>
          <p:spPr>
            <a:xfrm>
              <a:off x="914720" y="1507375"/>
              <a:ext cx="176400" cy="4308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Google Shape;753;p34">
              <a:extLst>
                <a:ext uri="{FF2B5EF4-FFF2-40B4-BE49-F238E27FC236}">
                  <a16:creationId xmlns:a16="http://schemas.microsoft.com/office/drawing/2014/main" id="{17DFF7EF-E758-E042-B2F1-DF9921722A9C}"/>
                </a:ext>
              </a:extLst>
            </p:cNvPr>
            <p:cNvCxnSpPr>
              <a:stCxn id="33" idx="3"/>
              <a:endCxn id="19" idx="1"/>
            </p:cNvCxnSpPr>
            <p:nvPr/>
          </p:nvCxnSpPr>
          <p:spPr>
            <a:xfrm>
              <a:off x="1073420" y="1380925"/>
              <a:ext cx="708000"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Google Shape;754;p34">
              <a:extLst>
                <a:ext uri="{FF2B5EF4-FFF2-40B4-BE49-F238E27FC236}">
                  <a16:creationId xmlns:a16="http://schemas.microsoft.com/office/drawing/2014/main" id="{12B0E78B-38D9-584E-9D8C-57567A316DBB}"/>
                </a:ext>
              </a:extLst>
            </p:cNvPr>
            <p:cNvCxnSpPr>
              <a:stCxn id="18" idx="2"/>
              <a:endCxn id="19" idx="0"/>
            </p:cNvCxnSpPr>
            <p:nvPr/>
          </p:nvCxnSpPr>
          <p:spPr>
            <a:xfrm flipH="1">
              <a:off x="1940170" y="936200"/>
              <a:ext cx="24900" cy="3183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Google Shape;755;p34">
              <a:extLst>
                <a:ext uri="{FF2B5EF4-FFF2-40B4-BE49-F238E27FC236}">
                  <a16:creationId xmlns:a16="http://schemas.microsoft.com/office/drawing/2014/main" id="{C1288571-D200-314E-BFA2-70237C604613}"/>
                </a:ext>
              </a:extLst>
            </p:cNvPr>
            <p:cNvCxnSpPr>
              <a:stCxn id="18" idx="3"/>
              <a:endCxn id="21" idx="0"/>
            </p:cNvCxnSpPr>
            <p:nvPr/>
          </p:nvCxnSpPr>
          <p:spPr>
            <a:xfrm>
              <a:off x="2123770" y="809750"/>
              <a:ext cx="481500" cy="3744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Google Shape;756;p34">
              <a:extLst>
                <a:ext uri="{FF2B5EF4-FFF2-40B4-BE49-F238E27FC236}">
                  <a16:creationId xmlns:a16="http://schemas.microsoft.com/office/drawing/2014/main" id="{05F8C1BA-67B1-C04B-95AA-DE520930A77B}"/>
                </a:ext>
              </a:extLst>
            </p:cNvPr>
            <p:cNvCxnSpPr>
              <a:stCxn id="21" idx="2"/>
              <a:endCxn id="22" idx="0"/>
            </p:cNvCxnSpPr>
            <p:nvPr/>
          </p:nvCxnSpPr>
          <p:spPr>
            <a:xfrm>
              <a:off x="2605195" y="1437088"/>
              <a:ext cx="411900" cy="4041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Google Shape;757;p34">
              <a:extLst>
                <a:ext uri="{FF2B5EF4-FFF2-40B4-BE49-F238E27FC236}">
                  <a16:creationId xmlns:a16="http://schemas.microsoft.com/office/drawing/2014/main" id="{81409A00-3285-4342-B8FE-DCCBE39E8950}"/>
                </a:ext>
              </a:extLst>
            </p:cNvPr>
            <p:cNvCxnSpPr>
              <a:stCxn id="21" idx="2"/>
              <a:endCxn id="20" idx="3"/>
            </p:cNvCxnSpPr>
            <p:nvPr/>
          </p:nvCxnSpPr>
          <p:spPr>
            <a:xfrm flipH="1">
              <a:off x="2186095" y="1437088"/>
              <a:ext cx="419100" cy="5550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Google Shape;758;p34">
              <a:extLst>
                <a:ext uri="{FF2B5EF4-FFF2-40B4-BE49-F238E27FC236}">
                  <a16:creationId xmlns:a16="http://schemas.microsoft.com/office/drawing/2014/main" id="{05C843AF-1184-9648-9CBA-4982853C2237}"/>
                </a:ext>
              </a:extLst>
            </p:cNvPr>
            <p:cNvCxnSpPr>
              <a:stCxn id="19" idx="2"/>
              <a:endCxn id="20" idx="0"/>
            </p:cNvCxnSpPr>
            <p:nvPr/>
          </p:nvCxnSpPr>
          <p:spPr>
            <a:xfrm>
              <a:off x="1940070" y="1507375"/>
              <a:ext cx="87300" cy="3582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Google Shape;759;p34">
              <a:extLst>
                <a:ext uri="{FF2B5EF4-FFF2-40B4-BE49-F238E27FC236}">
                  <a16:creationId xmlns:a16="http://schemas.microsoft.com/office/drawing/2014/main" id="{41E9CD99-423A-9140-A0A2-D81C9728ADD7}"/>
                </a:ext>
              </a:extLst>
            </p:cNvPr>
            <p:cNvCxnSpPr>
              <a:stCxn id="17" idx="3"/>
              <a:endCxn id="20" idx="1"/>
            </p:cNvCxnSpPr>
            <p:nvPr/>
          </p:nvCxnSpPr>
          <p:spPr>
            <a:xfrm rot="10800000" flipH="1">
              <a:off x="1249870" y="1992025"/>
              <a:ext cx="618900" cy="726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Google Shape;760;p34">
              <a:extLst>
                <a:ext uri="{FF2B5EF4-FFF2-40B4-BE49-F238E27FC236}">
                  <a16:creationId xmlns:a16="http://schemas.microsoft.com/office/drawing/2014/main" id="{6778A6AB-996E-5A41-AD51-6F2602326E97}"/>
                </a:ext>
              </a:extLst>
            </p:cNvPr>
            <p:cNvCxnSpPr>
              <a:stCxn id="20" idx="2"/>
              <a:endCxn id="23" idx="0"/>
            </p:cNvCxnSpPr>
            <p:nvPr/>
          </p:nvCxnSpPr>
          <p:spPr>
            <a:xfrm>
              <a:off x="2027345" y="2118463"/>
              <a:ext cx="76200" cy="2577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Google Shape;752;p34">
              <a:extLst>
                <a:ext uri="{FF2B5EF4-FFF2-40B4-BE49-F238E27FC236}">
                  <a16:creationId xmlns:a16="http://schemas.microsoft.com/office/drawing/2014/main" id="{D8366903-208B-714D-BAFA-A141B9DA4AA1}"/>
                </a:ext>
              </a:extLst>
            </p:cNvPr>
            <p:cNvSpPr/>
            <p:nvPr/>
          </p:nvSpPr>
          <p:spPr>
            <a:xfrm>
              <a:off x="756020" y="12544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0</a:t>
              </a:r>
              <a:endParaRPr sz="1600" b="1">
                <a:solidFill>
                  <a:srgbClr val="2E235D"/>
                </a:solidFill>
                <a:latin typeface="Calibri" panose="020F0502020204030204" pitchFamily="34" charset="0"/>
                <a:cs typeface="Calibri" panose="020F0502020204030204" pitchFamily="34" charset="0"/>
                <a:sym typeface="Roboto"/>
              </a:endParaRPr>
            </a:p>
          </p:txBody>
        </p:sp>
      </p:grpSp>
      <p:sp>
        <p:nvSpPr>
          <p:cNvPr id="34" name="TextBox 33">
            <a:extLst>
              <a:ext uri="{FF2B5EF4-FFF2-40B4-BE49-F238E27FC236}">
                <a16:creationId xmlns:a16="http://schemas.microsoft.com/office/drawing/2014/main" id="{BBD89B0E-EC52-8C45-BCC9-4611E61F7ED4}"/>
              </a:ext>
            </a:extLst>
          </p:cNvPr>
          <p:cNvSpPr txBox="1"/>
          <p:nvPr/>
        </p:nvSpPr>
        <p:spPr>
          <a:xfrm>
            <a:off x="8119167" y="1107911"/>
            <a:ext cx="747320" cy="369332"/>
          </a:xfrm>
          <a:prstGeom prst="rect">
            <a:avLst/>
          </a:prstGeom>
          <a:noFill/>
        </p:spPr>
        <p:txBody>
          <a:bodyPr wrap="none" rtlCol="0">
            <a:spAutoFit/>
          </a:bodyPr>
          <a:lstStyle/>
          <a:p>
            <a:pPr defTabSz="914377"/>
            <a:r>
              <a:rPr lang="en-US" dirty="0">
                <a:latin typeface="Calibri" panose="020F0502020204030204"/>
              </a:rPr>
              <a:t>Input:</a:t>
            </a:r>
          </a:p>
        </p:txBody>
      </p:sp>
      <p:sp>
        <p:nvSpPr>
          <p:cNvPr id="35" name="TextBox 34">
            <a:extLst>
              <a:ext uri="{FF2B5EF4-FFF2-40B4-BE49-F238E27FC236}">
                <a16:creationId xmlns:a16="http://schemas.microsoft.com/office/drawing/2014/main" id="{0D5E6801-7E4B-064B-ACFD-648907E6ACFA}"/>
              </a:ext>
            </a:extLst>
          </p:cNvPr>
          <p:cNvSpPr txBox="1"/>
          <p:nvPr/>
        </p:nvSpPr>
        <p:spPr>
          <a:xfrm>
            <a:off x="8119168" y="3913715"/>
            <a:ext cx="1754455" cy="369332"/>
          </a:xfrm>
          <a:prstGeom prst="rect">
            <a:avLst/>
          </a:prstGeom>
          <a:noFill/>
        </p:spPr>
        <p:txBody>
          <a:bodyPr wrap="none" rtlCol="0">
            <a:spAutoFit/>
          </a:bodyPr>
          <a:lstStyle/>
          <a:p>
            <a:pPr defTabSz="914377"/>
            <a:r>
              <a:rPr lang="en-US" dirty="0">
                <a:latin typeface="Calibri" panose="020F0502020204030204"/>
              </a:rPr>
              <a:t>BFS starting at 0:</a:t>
            </a:r>
          </a:p>
        </p:txBody>
      </p:sp>
      <p:sp>
        <p:nvSpPr>
          <p:cNvPr id="36" name="Google Shape;752;p34">
            <a:extLst>
              <a:ext uri="{FF2B5EF4-FFF2-40B4-BE49-F238E27FC236}">
                <a16:creationId xmlns:a16="http://schemas.microsoft.com/office/drawing/2014/main" id="{63821C33-A298-F447-B77B-88E7FDF241C5}"/>
              </a:ext>
            </a:extLst>
          </p:cNvPr>
          <p:cNvSpPr/>
          <p:nvPr/>
        </p:nvSpPr>
        <p:spPr>
          <a:xfrm>
            <a:off x="7470658"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0</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37" name="Google Shape;752;p34">
            <a:extLst>
              <a:ext uri="{FF2B5EF4-FFF2-40B4-BE49-F238E27FC236}">
                <a16:creationId xmlns:a16="http://schemas.microsoft.com/office/drawing/2014/main" id="{962B5BF0-37BC-FB4C-9D29-6A08486CD203}"/>
              </a:ext>
            </a:extLst>
          </p:cNvPr>
          <p:cNvSpPr/>
          <p:nvPr/>
        </p:nvSpPr>
        <p:spPr>
          <a:xfrm>
            <a:off x="8033409"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1</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38" name="Google Shape;752;p34">
            <a:extLst>
              <a:ext uri="{FF2B5EF4-FFF2-40B4-BE49-F238E27FC236}">
                <a16:creationId xmlns:a16="http://schemas.microsoft.com/office/drawing/2014/main" id="{76B66DE5-4B35-6746-A332-A70025492E18}"/>
              </a:ext>
            </a:extLst>
          </p:cNvPr>
          <p:cNvSpPr/>
          <p:nvPr/>
        </p:nvSpPr>
        <p:spPr>
          <a:xfrm>
            <a:off x="8598438"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3</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39" name="Google Shape;752;p34">
            <a:extLst>
              <a:ext uri="{FF2B5EF4-FFF2-40B4-BE49-F238E27FC236}">
                <a16:creationId xmlns:a16="http://schemas.microsoft.com/office/drawing/2014/main" id="{42AC2298-E7F9-9845-BBCB-434381BA3450}"/>
              </a:ext>
            </a:extLst>
          </p:cNvPr>
          <p:cNvSpPr/>
          <p:nvPr/>
        </p:nvSpPr>
        <p:spPr>
          <a:xfrm>
            <a:off x="9163469"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4</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40" name="Google Shape;752;p34">
            <a:extLst>
              <a:ext uri="{FF2B5EF4-FFF2-40B4-BE49-F238E27FC236}">
                <a16:creationId xmlns:a16="http://schemas.microsoft.com/office/drawing/2014/main" id="{6D1715B7-4727-0848-A09D-122122C9A051}"/>
              </a:ext>
            </a:extLst>
          </p:cNvPr>
          <p:cNvSpPr/>
          <p:nvPr/>
        </p:nvSpPr>
        <p:spPr>
          <a:xfrm>
            <a:off x="9728498"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7</a:t>
            </a:r>
            <a:endParaRPr sz="1600" b="1" dirty="0">
              <a:solidFill>
                <a:srgbClr val="2E235D"/>
              </a:solidFill>
              <a:latin typeface="Calibri" panose="020F0502020204030204" pitchFamily="34" charset="0"/>
              <a:cs typeface="Calibri" panose="020F0502020204030204" pitchFamily="34" charset="0"/>
              <a:sym typeface="Roboto"/>
            </a:endParaRPr>
          </a:p>
        </p:txBody>
      </p:sp>
      <p:grpSp>
        <p:nvGrpSpPr>
          <p:cNvPr id="57" name="Group 56">
            <a:extLst>
              <a:ext uri="{FF2B5EF4-FFF2-40B4-BE49-F238E27FC236}">
                <a16:creationId xmlns:a16="http://schemas.microsoft.com/office/drawing/2014/main" id="{BAE45B12-4CD3-7044-864B-6F48C7406B7E}"/>
              </a:ext>
            </a:extLst>
          </p:cNvPr>
          <p:cNvGrpSpPr/>
          <p:nvPr/>
        </p:nvGrpSpPr>
        <p:grpSpPr>
          <a:xfrm>
            <a:off x="869121" y="2434987"/>
            <a:ext cx="5755337" cy="2702820"/>
            <a:chOff x="869120" y="2434987"/>
            <a:chExt cx="5755337" cy="2702820"/>
          </a:xfrm>
        </p:grpSpPr>
        <p:sp>
          <p:nvSpPr>
            <p:cNvPr id="42" name="Rectangle 41">
              <a:extLst>
                <a:ext uri="{FF2B5EF4-FFF2-40B4-BE49-F238E27FC236}">
                  <a16:creationId xmlns:a16="http://schemas.microsoft.com/office/drawing/2014/main" id="{AD18D255-6942-9F45-BDAA-C3F3806306B2}"/>
                </a:ext>
              </a:extLst>
            </p:cNvPr>
            <p:cNvSpPr/>
            <p:nvPr/>
          </p:nvSpPr>
          <p:spPr>
            <a:xfrm>
              <a:off x="1439141" y="2875321"/>
              <a:ext cx="5185316" cy="226248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2800" dirty="0">
                <a:solidFill>
                  <a:srgbClr val="FFFFFF"/>
                </a:solidFill>
                <a:latin typeface="Calibri" panose="020F0502020204030204"/>
              </a:endParaRPr>
            </a:p>
          </p:txBody>
        </p:sp>
        <p:sp>
          <p:nvSpPr>
            <p:cNvPr id="43" name="Oval 42">
              <a:extLst>
                <a:ext uri="{FF2B5EF4-FFF2-40B4-BE49-F238E27FC236}">
                  <a16:creationId xmlns:a16="http://schemas.microsoft.com/office/drawing/2014/main" id="{1C510B11-6C26-FF4A-A93E-D2103601393A}"/>
                </a:ext>
              </a:extLst>
            </p:cNvPr>
            <p:cNvSpPr/>
            <p:nvPr/>
          </p:nvSpPr>
          <p:spPr>
            <a:xfrm>
              <a:off x="869120" y="2434987"/>
              <a:ext cx="1480179" cy="1480179"/>
            </a:xfrm>
            <a:prstGeom prst="ellipse">
              <a:avLst/>
            </a:prstGeom>
            <a:solidFill>
              <a:schemeClr val="accent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400" b="1" i="1" dirty="0">
                  <a:solidFill>
                    <a:srgbClr val="FFFFFF"/>
                  </a:solidFill>
                  <a:latin typeface="Calibri" panose="020F0502020204030204"/>
                </a:rPr>
                <a:t>IDEA 2</a:t>
              </a:r>
            </a:p>
          </p:txBody>
        </p:sp>
        <p:sp>
          <p:nvSpPr>
            <p:cNvPr id="44" name="TextBox 43">
              <a:extLst>
                <a:ext uri="{FF2B5EF4-FFF2-40B4-BE49-F238E27FC236}">
                  <a16:creationId xmlns:a16="http://schemas.microsoft.com/office/drawing/2014/main" id="{7CC8A0B8-69C7-1B4C-A039-12D92DC7E94B}"/>
                </a:ext>
              </a:extLst>
            </p:cNvPr>
            <p:cNvSpPr txBox="1"/>
            <p:nvPr/>
          </p:nvSpPr>
          <p:spPr>
            <a:xfrm>
              <a:off x="1771207" y="3976155"/>
              <a:ext cx="4451806" cy="830997"/>
            </a:xfrm>
            <a:prstGeom prst="rect">
              <a:avLst/>
            </a:prstGeom>
            <a:noFill/>
          </p:spPr>
          <p:txBody>
            <a:bodyPr wrap="square" rtlCol="0">
              <a:spAutoFit/>
            </a:bodyPr>
            <a:lstStyle/>
            <a:p>
              <a:pPr defTabSz="914377"/>
              <a:r>
                <a:rPr lang="en-US" sz="2400" dirty="0">
                  <a:solidFill>
                    <a:srgbClr val="FFFFFF"/>
                  </a:solidFill>
                  <a:latin typeface="Calibri" panose="020F0502020204030204"/>
                </a:rPr>
                <a:t>Use BFS, starting from ALL vertices with no incoming edges</a:t>
              </a:r>
            </a:p>
          </p:txBody>
        </p:sp>
        <p:sp>
          <p:nvSpPr>
            <p:cNvPr id="45" name="TextBox 44">
              <a:extLst>
                <a:ext uri="{FF2B5EF4-FFF2-40B4-BE49-F238E27FC236}">
                  <a16:creationId xmlns:a16="http://schemas.microsoft.com/office/drawing/2014/main" id="{97D4B680-2210-1445-A5B2-1A356E5E32D3}"/>
                </a:ext>
              </a:extLst>
            </p:cNvPr>
            <p:cNvSpPr txBox="1"/>
            <p:nvPr/>
          </p:nvSpPr>
          <p:spPr>
            <a:xfrm>
              <a:off x="2455847" y="2990410"/>
              <a:ext cx="2448363" cy="400110"/>
            </a:xfrm>
            <a:prstGeom prst="rect">
              <a:avLst/>
            </a:prstGeom>
            <a:noFill/>
          </p:spPr>
          <p:txBody>
            <a:bodyPr wrap="none" rtlCol="0">
              <a:spAutoFit/>
            </a:bodyPr>
            <a:lstStyle/>
            <a:p>
              <a:pPr defTabSz="914377"/>
              <a:r>
                <a:rPr lang="en-US" sz="2000" b="1" dirty="0">
                  <a:solidFill>
                    <a:srgbClr val="FFFFFF"/>
                  </a:solidFill>
                  <a:latin typeface="Calibri" panose="020F0502020204030204"/>
                </a:rPr>
                <a:t>Performing Topo Sort</a:t>
              </a:r>
            </a:p>
          </p:txBody>
        </p:sp>
      </p:grpSp>
      <p:sp>
        <p:nvSpPr>
          <p:cNvPr id="47" name="Rectangle 46">
            <a:extLst>
              <a:ext uri="{FF2B5EF4-FFF2-40B4-BE49-F238E27FC236}">
                <a16:creationId xmlns:a16="http://schemas.microsoft.com/office/drawing/2014/main" id="{68DB9F76-1DDB-F84B-A3B4-3600E4B61F26}"/>
              </a:ext>
            </a:extLst>
          </p:cNvPr>
          <p:cNvSpPr/>
          <p:nvPr/>
        </p:nvSpPr>
        <p:spPr>
          <a:xfrm>
            <a:off x="8160022" y="1797794"/>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48" name="Rectangle 47">
            <a:extLst>
              <a:ext uri="{FF2B5EF4-FFF2-40B4-BE49-F238E27FC236}">
                <a16:creationId xmlns:a16="http://schemas.microsoft.com/office/drawing/2014/main" id="{C23A41FA-9036-BC4C-BA4D-70F2C419776F}"/>
              </a:ext>
            </a:extLst>
          </p:cNvPr>
          <p:cNvSpPr/>
          <p:nvPr/>
        </p:nvSpPr>
        <p:spPr>
          <a:xfrm>
            <a:off x="8391280" y="246066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49" name="Rectangle 48">
            <a:extLst>
              <a:ext uri="{FF2B5EF4-FFF2-40B4-BE49-F238E27FC236}">
                <a16:creationId xmlns:a16="http://schemas.microsoft.com/office/drawing/2014/main" id="{2DE81C07-85AA-074B-907C-7E4C55C0B351}"/>
              </a:ext>
            </a:extLst>
          </p:cNvPr>
          <p:cNvSpPr/>
          <p:nvPr/>
        </p:nvSpPr>
        <p:spPr>
          <a:xfrm>
            <a:off x="9488573" y="1801089"/>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0" name="Rectangle 49">
            <a:extLst>
              <a:ext uri="{FF2B5EF4-FFF2-40B4-BE49-F238E27FC236}">
                <a16:creationId xmlns:a16="http://schemas.microsoft.com/office/drawing/2014/main" id="{BDCAC965-C1B0-4D4B-8787-620F6E41CC3F}"/>
              </a:ext>
            </a:extLst>
          </p:cNvPr>
          <p:cNvSpPr/>
          <p:nvPr/>
        </p:nvSpPr>
        <p:spPr>
          <a:xfrm>
            <a:off x="9600404" y="238132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1" name="Rectangle 50">
            <a:extLst>
              <a:ext uri="{FF2B5EF4-FFF2-40B4-BE49-F238E27FC236}">
                <a16:creationId xmlns:a16="http://schemas.microsoft.com/office/drawing/2014/main" id="{B65C2540-8D5E-4741-9768-1F3D9F11D17E}"/>
              </a:ext>
            </a:extLst>
          </p:cNvPr>
          <p:cNvSpPr/>
          <p:nvPr/>
        </p:nvSpPr>
        <p:spPr>
          <a:xfrm>
            <a:off x="9692649" y="2884879"/>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6" name="TextBox 55">
            <a:extLst>
              <a:ext uri="{FF2B5EF4-FFF2-40B4-BE49-F238E27FC236}">
                <a16:creationId xmlns:a16="http://schemas.microsoft.com/office/drawing/2014/main" id="{0E93126A-B3D6-9F45-81F2-11421FF94111}"/>
              </a:ext>
            </a:extLst>
          </p:cNvPr>
          <p:cNvSpPr txBox="1"/>
          <p:nvPr/>
        </p:nvSpPr>
        <p:spPr>
          <a:xfrm>
            <a:off x="8116132" y="4232604"/>
            <a:ext cx="1922770" cy="369332"/>
          </a:xfrm>
          <a:prstGeom prst="rect">
            <a:avLst/>
          </a:prstGeom>
          <a:noFill/>
        </p:spPr>
        <p:txBody>
          <a:bodyPr wrap="none" rtlCol="0">
            <a:spAutoFit/>
          </a:bodyPr>
          <a:lstStyle/>
          <a:p>
            <a:pPr defTabSz="914377"/>
            <a:r>
              <a:rPr lang="en-US" dirty="0">
                <a:latin typeface="Calibri" panose="020F0502020204030204"/>
              </a:rPr>
              <a:t>+ BFS starting at 2:</a:t>
            </a:r>
          </a:p>
        </p:txBody>
      </p:sp>
      <p:sp>
        <p:nvSpPr>
          <p:cNvPr id="58" name="Rectangle 57">
            <a:extLst>
              <a:ext uri="{FF2B5EF4-FFF2-40B4-BE49-F238E27FC236}">
                <a16:creationId xmlns:a16="http://schemas.microsoft.com/office/drawing/2014/main" id="{49AA3BC7-69B7-5A42-AAF6-8CD5FEE20510}"/>
              </a:ext>
            </a:extLst>
          </p:cNvPr>
          <p:cNvSpPr/>
          <p:nvPr/>
        </p:nvSpPr>
        <p:spPr>
          <a:xfrm>
            <a:off x="9519977" y="1244881"/>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9" name="Rectangle 58">
            <a:extLst>
              <a:ext uri="{FF2B5EF4-FFF2-40B4-BE49-F238E27FC236}">
                <a16:creationId xmlns:a16="http://schemas.microsoft.com/office/drawing/2014/main" id="{603C0A37-E1FC-1B4C-8639-9E8752AD33DA}"/>
              </a:ext>
            </a:extLst>
          </p:cNvPr>
          <p:cNvSpPr/>
          <p:nvPr/>
        </p:nvSpPr>
        <p:spPr>
          <a:xfrm>
            <a:off x="10346692" y="173014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60" name="Rectangle 59">
            <a:extLst>
              <a:ext uri="{FF2B5EF4-FFF2-40B4-BE49-F238E27FC236}">
                <a16:creationId xmlns:a16="http://schemas.microsoft.com/office/drawing/2014/main" id="{330D34B3-7344-0444-AF11-CAAB7E7FD58D}"/>
              </a:ext>
            </a:extLst>
          </p:cNvPr>
          <p:cNvSpPr/>
          <p:nvPr/>
        </p:nvSpPr>
        <p:spPr>
          <a:xfrm>
            <a:off x="10878660" y="2362382"/>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61" name="Google Shape;752;p34">
            <a:extLst>
              <a:ext uri="{FF2B5EF4-FFF2-40B4-BE49-F238E27FC236}">
                <a16:creationId xmlns:a16="http://schemas.microsoft.com/office/drawing/2014/main" id="{3914619C-E1E1-A64C-91E5-C4D84E1E96FF}"/>
              </a:ext>
            </a:extLst>
          </p:cNvPr>
          <p:cNvSpPr/>
          <p:nvPr/>
        </p:nvSpPr>
        <p:spPr>
          <a:xfrm>
            <a:off x="10293529" y="5235729"/>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2</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62" name="Google Shape;752;p34">
            <a:extLst>
              <a:ext uri="{FF2B5EF4-FFF2-40B4-BE49-F238E27FC236}">
                <a16:creationId xmlns:a16="http://schemas.microsoft.com/office/drawing/2014/main" id="{E2501CB1-6EC6-E04A-89E2-46118FA27D29}"/>
              </a:ext>
            </a:extLst>
          </p:cNvPr>
          <p:cNvSpPr/>
          <p:nvPr/>
        </p:nvSpPr>
        <p:spPr>
          <a:xfrm>
            <a:off x="10856278" y="5235729"/>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5</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63" name="Google Shape;752;p34">
            <a:extLst>
              <a:ext uri="{FF2B5EF4-FFF2-40B4-BE49-F238E27FC236}">
                <a16:creationId xmlns:a16="http://schemas.microsoft.com/office/drawing/2014/main" id="{262D78F0-438F-4C4B-88C7-D3A790542799}"/>
              </a:ext>
            </a:extLst>
          </p:cNvPr>
          <p:cNvSpPr/>
          <p:nvPr/>
        </p:nvSpPr>
        <p:spPr>
          <a:xfrm>
            <a:off x="11419029" y="5235729"/>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6</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64" name="&quot;No&quot; Symbol 63">
            <a:extLst>
              <a:ext uri="{FF2B5EF4-FFF2-40B4-BE49-F238E27FC236}">
                <a16:creationId xmlns:a16="http://schemas.microsoft.com/office/drawing/2014/main" id="{635A6E59-6DB5-9F4C-9E2E-417C5963730D}"/>
              </a:ext>
            </a:extLst>
          </p:cNvPr>
          <p:cNvSpPr/>
          <p:nvPr/>
        </p:nvSpPr>
        <p:spPr>
          <a:xfrm>
            <a:off x="10165448" y="2147204"/>
            <a:ext cx="337768" cy="337768"/>
          </a:xfrm>
          <a:prstGeom prst="noSmoking">
            <a:avLst>
              <a:gd name="adj" fmla="val 965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000000"/>
              </a:solidFill>
              <a:latin typeface="Calibri" panose="020F0502020204030204"/>
            </a:endParaRPr>
          </a:p>
        </p:txBody>
      </p:sp>
      <p:sp>
        <p:nvSpPr>
          <p:cNvPr id="65" name="&quot;No&quot; Symbol 64">
            <a:extLst>
              <a:ext uri="{FF2B5EF4-FFF2-40B4-BE49-F238E27FC236}">
                <a16:creationId xmlns:a16="http://schemas.microsoft.com/office/drawing/2014/main" id="{3A5FF001-8532-8B4D-A5B0-9A5467EEA377}"/>
              </a:ext>
            </a:extLst>
          </p:cNvPr>
          <p:cNvSpPr/>
          <p:nvPr/>
        </p:nvSpPr>
        <p:spPr>
          <a:xfrm>
            <a:off x="9619359" y="1544249"/>
            <a:ext cx="337768" cy="337768"/>
          </a:xfrm>
          <a:prstGeom prst="noSmoking">
            <a:avLst>
              <a:gd name="adj" fmla="val 965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000000"/>
              </a:solidFill>
              <a:latin typeface="Calibri" panose="020F0502020204030204"/>
            </a:endParaRPr>
          </a:p>
        </p:txBody>
      </p:sp>
    </p:spTree>
    <p:extLst>
      <p:ext uri="{BB962C8B-B14F-4D97-AF65-F5344CB8AC3E}">
        <p14:creationId xmlns:p14="http://schemas.microsoft.com/office/powerpoint/2010/main" val="41983413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500"/>
                                        <p:tgtEl>
                                          <p:spTgt spid="3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fade">
                                      <p:cBhvr>
                                        <p:cTn id="24" dur="500"/>
                                        <p:tgtEl>
                                          <p:spTgt spid="48"/>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500"/>
                                        <p:tgtEl>
                                          <p:spTgt spid="49"/>
                                        </p:tgtEl>
                                      </p:cBhvr>
                                    </p:animEffec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childTnLst>
                          </p:cTn>
                        </p:par>
                        <p:par>
                          <p:cTn id="39" fill="hold">
                            <p:stCondLst>
                              <p:cond delay="2000"/>
                            </p:stCondLst>
                            <p:childTnLst>
                              <p:par>
                                <p:cTn id="40" presetID="10" presetClass="entr" presetSubtype="0" fill="hold" grpId="0" nodeType="after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500"/>
                                        <p:tgtEl>
                                          <p:spTgt spid="4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fade">
                                      <p:cBhvr>
                                        <p:cTn id="45" dur="500"/>
                                        <p:tgtEl>
                                          <p:spTgt spid="51"/>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6"/>
                                        </p:tgtEl>
                                        <p:attrNameLst>
                                          <p:attrName>style.visibility</p:attrName>
                                        </p:attrNameLst>
                                      </p:cBhvr>
                                      <p:to>
                                        <p:strVal val="visible"/>
                                      </p:to>
                                    </p:se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61"/>
                                        </p:tgtEl>
                                        <p:attrNameLst>
                                          <p:attrName>style.visibility</p:attrName>
                                        </p:attrNameLst>
                                      </p:cBhvr>
                                      <p:to>
                                        <p:strVal val="visible"/>
                                      </p:to>
                                    </p:set>
                                    <p:animEffect transition="in" filter="fade">
                                      <p:cBhvr>
                                        <p:cTn id="53" dur="500"/>
                                        <p:tgtEl>
                                          <p:spTgt spid="6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8"/>
                                        </p:tgtEl>
                                        <p:attrNameLst>
                                          <p:attrName>style.visibility</p:attrName>
                                        </p:attrNameLst>
                                      </p:cBhvr>
                                      <p:to>
                                        <p:strVal val="visible"/>
                                      </p:to>
                                    </p:set>
                                    <p:animEffect transition="in" filter="fade">
                                      <p:cBhvr>
                                        <p:cTn id="56" dur="500"/>
                                        <p:tgtEl>
                                          <p:spTgt spid="58"/>
                                        </p:tgtEl>
                                      </p:cBhvr>
                                    </p:animEffect>
                                  </p:childTnLst>
                                </p:cTn>
                              </p:par>
                            </p:childTnLst>
                          </p:cTn>
                        </p:par>
                        <p:par>
                          <p:cTn id="57" fill="hold">
                            <p:stCondLst>
                              <p:cond delay="1000"/>
                            </p:stCondLst>
                            <p:childTnLst>
                              <p:par>
                                <p:cTn id="58" presetID="10" presetClass="entr" presetSubtype="0" fill="hold" grpId="0" nodeType="afterEffect">
                                  <p:stCondLst>
                                    <p:cond delay="0"/>
                                  </p:stCondLst>
                                  <p:childTnLst>
                                    <p:set>
                                      <p:cBhvr>
                                        <p:cTn id="59" dur="1" fill="hold">
                                          <p:stCondLst>
                                            <p:cond delay="0"/>
                                          </p:stCondLst>
                                        </p:cTn>
                                        <p:tgtEl>
                                          <p:spTgt spid="62"/>
                                        </p:tgtEl>
                                        <p:attrNameLst>
                                          <p:attrName>style.visibility</p:attrName>
                                        </p:attrNameLst>
                                      </p:cBhvr>
                                      <p:to>
                                        <p:strVal val="visible"/>
                                      </p:to>
                                    </p:set>
                                    <p:animEffect transition="in" filter="fade">
                                      <p:cBhvr>
                                        <p:cTn id="60" dur="500"/>
                                        <p:tgtEl>
                                          <p:spTgt spid="6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0"/>
                                        </p:tgtEl>
                                        <p:attrNameLst>
                                          <p:attrName>style.visibility</p:attrName>
                                        </p:attrNameLst>
                                      </p:cBhvr>
                                      <p:to>
                                        <p:strVal val="visible"/>
                                      </p:to>
                                    </p:set>
                                    <p:animEffect transition="in" filter="fade">
                                      <p:cBhvr>
                                        <p:cTn id="70" dur="500"/>
                                        <p:tgtEl>
                                          <p:spTgt spid="6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4"/>
                                        </p:tgtEl>
                                        <p:attrNameLst>
                                          <p:attrName>style.visibility</p:attrName>
                                        </p:attrNameLst>
                                      </p:cBhvr>
                                      <p:to>
                                        <p:strVal val="visible"/>
                                      </p:to>
                                    </p:set>
                                    <p:animEffect transition="in" filter="fade">
                                      <p:cBhvr>
                                        <p:cTn id="73" dur="2000"/>
                                        <p:tgtEl>
                                          <p:spTgt spid="6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5"/>
                                        </p:tgtEl>
                                        <p:attrNameLst>
                                          <p:attrName>style.visibility</p:attrName>
                                        </p:attrNameLst>
                                      </p:cBhvr>
                                      <p:to>
                                        <p:strVal val="visible"/>
                                      </p:to>
                                    </p:set>
                                    <p:animEffect transition="in" filter="fade">
                                      <p:cBhvr>
                                        <p:cTn id="76"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P spid="37" grpId="0" animBg="1"/>
      <p:bldP spid="38" grpId="0" animBg="1"/>
      <p:bldP spid="39" grpId="0" animBg="1"/>
      <p:bldP spid="40" grpId="0" animBg="1"/>
      <p:bldP spid="47" grpId="0" animBg="1"/>
      <p:bldP spid="48" grpId="0" animBg="1"/>
      <p:bldP spid="49" grpId="0" animBg="1"/>
      <p:bldP spid="50" grpId="0" animBg="1"/>
      <p:bldP spid="51" grpId="0" animBg="1"/>
      <p:bldP spid="56" grpId="0"/>
      <p:bldP spid="58" grpId="0" animBg="1"/>
      <p:bldP spid="59" grpId="0" animBg="1"/>
      <p:bldP spid="60" grpId="0" animBg="1"/>
      <p:bldP spid="61" grpId="0" animBg="1"/>
      <p:bldP spid="62" grpId="0" animBg="1"/>
      <p:bldP spid="63" grpId="0" animBg="1"/>
      <p:bldP spid="64" grpId="0" animBg="1"/>
      <p:bldP spid="6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1F82E3CC-CA8C-2245-9FF0-09160E4C3403}"/>
              </a:ext>
            </a:extLst>
          </p:cNvPr>
          <p:cNvSpPr/>
          <p:nvPr/>
        </p:nvSpPr>
        <p:spPr>
          <a:xfrm>
            <a:off x="1439142" y="5212417"/>
            <a:ext cx="5185316" cy="10262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400" dirty="0">
                <a:solidFill>
                  <a:srgbClr val="FFFFFF"/>
                </a:solidFill>
                <a:latin typeface="Calibri" panose="020F0502020204030204"/>
              </a:rPr>
              <a:t>Doesn’t respect all edges </a:t>
            </a:r>
            <a:r>
              <a:rPr lang="en-US" sz="2400" dirty="0">
                <a:solidFill>
                  <a:srgbClr val="FFFFFF"/>
                </a:solidFill>
                <a:latin typeface="Calibri" panose="020F0502020204030204"/>
                <a:sym typeface="Wingdings" pitchFamily="2" charset="2"/>
              </a:rPr>
              <a:t></a:t>
            </a:r>
            <a:endParaRPr lang="en-US" sz="2400" dirty="0">
              <a:solidFill>
                <a:srgbClr val="FFFFFF"/>
              </a:solidFill>
              <a:latin typeface="Calibri" panose="020F0502020204030204"/>
            </a:endParaRPr>
          </a:p>
        </p:txBody>
      </p:sp>
      <p:sp>
        <p:nvSpPr>
          <p:cNvPr id="2" name="Title 1">
            <a:extLst>
              <a:ext uri="{FF2B5EF4-FFF2-40B4-BE49-F238E27FC236}">
                <a16:creationId xmlns:a16="http://schemas.microsoft.com/office/drawing/2014/main" id="{BF039FC9-D81A-0942-A6D0-85DE135BD49C}"/>
              </a:ext>
            </a:extLst>
          </p:cNvPr>
          <p:cNvSpPr>
            <a:spLocks noGrp="1"/>
          </p:cNvSpPr>
          <p:nvPr>
            <p:ph type="title"/>
          </p:nvPr>
        </p:nvSpPr>
        <p:spPr/>
        <p:txBody>
          <a:bodyPr/>
          <a:lstStyle/>
          <a:p>
            <a:r>
              <a:rPr lang="en-US" dirty="0"/>
              <a:t>How To Perform Topo Sort?</a:t>
            </a:r>
          </a:p>
        </p:txBody>
      </p:sp>
      <p:sp>
        <p:nvSpPr>
          <p:cNvPr id="3" name="Content Placeholder 2">
            <a:extLst>
              <a:ext uri="{FF2B5EF4-FFF2-40B4-BE49-F238E27FC236}">
                <a16:creationId xmlns:a16="http://schemas.microsoft.com/office/drawing/2014/main" id="{62FA17CA-C83D-7F40-B145-084DE6FE4987}"/>
              </a:ext>
            </a:extLst>
          </p:cNvPr>
          <p:cNvSpPr>
            <a:spLocks noGrp="1"/>
          </p:cNvSpPr>
          <p:nvPr>
            <p:ph idx="1"/>
          </p:nvPr>
        </p:nvSpPr>
        <p:spPr>
          <a:xfrm>
            <a:off x="838201" y="1371601"/>
            <a:ext cx="6522151" cy="1058432"/>
          </a:xfrm>
        </p:spPr>
        <p:txBody>
          <a:bodyPr/>
          <a:lstStyle/>
          <a:p>
            <a:r>
              <a:rPr lang="en-US" dirty="0"/>
              <a:t>Okay, there may be multiple “roots”. What if we use BFS multiple times?</a:t>
            </a:r>
          </a:p>
        </p:txBody>
      </p:sp>
      <p:grpSp>
        <p:nvGrpSpPr>
          <p:cNvPr id="16" name="Google Shape;743;p34">
            <a:extLst>
              <a:ext uri="{FF2B5EF4-FFF2-40B4-BE49-F238E27FC236}">
                <a16:creationId xmlns:a16="http://schemas.microsoft.com/office/drawing/2014/main" id="{825F9C15-7BFC-334F-AFE8-88495CDFE06C}"/>
              </a:ext>
            </a:extLst>
          </p:cNvPr>
          <p:cNvGrpSpPr/>
          <p:nvPr/>
        </p:nvGrpSpPr>
        <p:grpSpPr>
          <a:xfrm>
            <a:off x="8228685" y="1315844"/>
            <a:ext cx="3125116" cy="1872304"/>
            <a:chOff x="756020" y="683300"/>
            <a:chExt cx="2419775" cy="1945738"/>
          </a:xfrm>
          <a:solidFill>
            <a:schemeClr val="accent2">
              <a:lumMod val="20000"/>
              <a:lumOff val="80000"/>
            </a:schemeClr>
          </a:solidFill>
        </p:grpSpPr>
        <p:sp>
          <p:nvSpPr>
            <p:cNvPr id="17" name="Google Shape;744;p34">
              <a:extLst>
                <a:ext uri="{FF2B5EF4-FFF2-40B4-BE49-F238E27FC236}">
                  <a16:creationId xmlns:a16="http://schemas.microsoft.com/office/drawing/2014/main" id="{E2A4E731-78C7-3B4E-B9FB-6AF728E88A88}"/>
                </a:ext>
              </a:extLst>
            </p:cNvPr>
            <p:cNvSpPr/>
            <p:nvPr/>
          </p:nvSpPr>
          <p:spPr>
            <a:xfrm>
              <a:off x="932470" y="19381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1</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18" name="Google Shape;745;p34">
              <a:extLst>
                <a:ext uri="{FF2B5EF4-FFF2-40B4-BE49-F238E27FC236}">
                  <a16:creationId xmlns:a16="http://schemas.microsoft.com/office/drawing/2014/main" id="{601D60C4-1483-D846-8290-4490F2670CFE}"/>
                </a:ext>
              </a:extLst>
            </p:cNvPr>
            <p:cNvSpPr/>
            <p:nvPr/>
          </p:nvSpPr>
          <p:spPr>
            <a:xfrm>
              <a:off x="1806370" y="683300"/>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2</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19" name="Google Shape;746;p34">
              <a:extLst>
                <a:ext uri="{FF2B5EF4-FFF2-40B4-BE49-F238E27FC236}">
                  <a16:creationId xmlns:a16="http://schemas.microsoft.com/office/drawing/2014/main" id="{0F7C3D55-43F4-844B-AE8E-F1BA078B00F0}"/>
                </a:ext>
              </a:extLst>
            </p:cNvPr>
            <p:cNvSpPr/>
            <p:nvPr/>
          </p:nvSpPr>
          <p:spPr>
            <a:xfrm>
              <a:off x="1781370" y="12544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3</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20" name="Google Shape;747;p34">
              <a:extLst>
                <a:ext uri="{FF2B5EF4-FFF2-40B4-BE49-F238E27FC236}">
                  <a16:creationId xmlns:a16="http://schemas.microsoft.com/office/drawing/2014/main" id="{5217E9FC-CDE7-5741-A9B1-D8770185F971}"/>
                </a:ext>
              </a:extLst>
            </p:cNvPr>
            <p:cNvSpPr/>
            <p:nvPr/>
          </p:nvSpPr>
          <p:spPr>
            <a:xfrm>
              <a:off x="1868645" y="1865563"/>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4</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1" name="Google Shape;748;p34">
              <a:extLst>
                <a:ext uri="{FF2B5EF4-FFF2-40B4-BE49-F238E27FC236}">
                  <a16:creationId xmlns:a16="http://schemas.microsoft.com/office/drawing/2014/main" id="{AE152A5F-D055-2C45-B4E4-161000E150B9}"/>
                </a:ext>
              </a:extLst>
            </p:cNvPr>
            <p:cNvSpPr/>
            <p:nvPr/>
          </p:nvSpPr>
          <p:spPr>
            <a:xfrm>
              <a:off x="2446495" y="1184188"/>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5</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2" name="Google Shape;749;p34">
              <a:extLst>
                <a:ext uri="{FF2B5EF4-FFF2-40B4-BE49-F238E27FC236}">
                  <a16:creationId xmlns:a16="http://schemas.microsoft.com/office/drawing/2014/main" id="{48DAB077-4C3D-E540-8003-81FF0229F5D0}"/>
                </a:ext>
              </a:extLst>
            </p:cNvPr>
            <p:cNvSpPr/>
            <p:nvPr/>
          </p:nvSpPr>
          <p:spPr>
            <a:xfrm>
              <a:off x="2858395" y="1841263"/>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6</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23" name="Google Shape;750;p34">
              <a:extLst>
                <a:ext uri="{FF2B5EF4-FFF2-40B4-BE49-F238E27FC236}">
                  <a16:creationId xmlns:a16="http://schemas.microsoft.com/office/drawing/2014/main" id="{D4F759DB-A256-8844-B660-4639D8552556}"/>
                </a:ext>
              </a:extLst>
            </p:cNvPr>
            <p:cNvSpPr/>
            <p:nvPr/>
          </p:nvSpPr>
          <p:spPr>
            <a:xfrm>
              <a:off x="1944845" y="2376138"/>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7</a:t>
              </a:r>
              <a:endParaRPr sz="1600" b="1">
                <a:solidFill>
                  <a:srgbClr val="2E235D"/>
                </a:solidFill>
                <a:latin typeface="Calibri" panose="020F0502020204030204" pitchFamily="34" charset="0"/>
                <a:cs typeface="Calibri" panose="020F0502020204030204" pitchFamily="34" charset="0"/>
                <a:sym typeface="Roboto"/>
              </a:endParaRPr>
            </a:p>
          </p:txBody>
        </p:sp>
        <p:cxnSp>
          <p:nvCxnSpPr>
            <p:cNvPr id="24" name="Google Shape;751;p34">
              <a:extLst>
                <a:ext uri="{FF2B5EF4-FFF2-40B4-BE49-F238E27FC236}">
                  <a16:creationId xmlns:a16="http://schemas.microsoft.com/office/drawing/2014/main" id="{A9C2465C-6DE3-6D40-935B-C1FCAD0B16CD}"/>
                </a:ext>
              </a:extLst>
            </p:cNvPr>
            <p:cNvCxnSpPr>
              <a:stCxn id="33" idx="2"/>
              <a:endCxn id="17" idx="0"/>
            </p:cNvCxnSpPr>
            <p:nvPr/>
          </p:nvCxnSpPr>
          <p:spPr>
            <a:xfrm>
              <a:off x="914720" y="1507375"/>
              <a:ext cx="176400" cy="4308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Google Shape;753;p34">
              <a:extLst>
                <a:ext uri="{FF2B5EF4-FFF2-40B4-BE49-F238E27FC236}">
                  <a16:creationId xmlns:a16="http://schemas.microsoft.com/office/drawing/2014/main" id="{17DFF7EF-E758-E042-B2F1-DF9921722A9C}"/>
                </a:ext>
              </a:extLst>
            </p:cNvPr>
            <p:cNvCxnSpPr>
              <a:stCxn id="33" idx="3"/>
              <a:endCxn id="19" idx="1"/>
            </p:cNvCxnSpPr>
            <p:nvPr/>
          </p:nvCxnSpPr>
          <p:spPr>
            <a:xfrm>
              <a:off x="1073420" y="1380925"/>
              <a:ext cx="708000"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Google Shape;754;p34">
              <a:extLst>
                <a:ext uri="{FF2B5EF4-FFF2-40B4-BE49-F238E27FC236}">
                  <a16:creationId xmlns:a16="http://schemas.microsoft.com/office/drawing/2014/main" id="{12B0E78B-38D9-584E-9D8C-57567A316DBB}"/>
                </a:ext>
              </a:extLst>
            </p:cNvPr>
            <p:cNvCxnSpPr>
              <a:stCxn id="18" idx="2"/>
              <a:endCxn id="19" idx="0"/>
            </p:cNvCxnSpPr>
            <p:nvPr/>
          </p:nvCxnSpPr>
          <p:spPr>
            <a:xfrm flipH="1">
              <a:off x="1940170" y="936200"/>
              <a:ext cx="24900" cy="3183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Google Shape;755;p34">
              <a:extLst>
                <a:ext uri="{FF2B5EF4-FFF2-40B4-BE49-F238E27FC236}">
                  <a16:creationId xmlns:a16="http://schemas.microsoft.com/office/drawing/2014/main" id="{C1288571-D200-314E-BFA2-70237C604613}"/>
                </a:ext>
              </a:extLst>
            </p:cNvPr>
            <p:cNvCxnSpPr>
              <a:stCxn id="18" idx="3"/>
              <a:endCxn id="21" idx="0"/>
            </p:cNvCxnSpPr>
            <p:nvPr/>
          </p:nvCxnSpPr>
          <p:spPr>
            <a:xfrm>
              <a:off x="2123770" y="809750"/>
              <a:ext cx="481500" cy="3744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Google Shape;756;p34">
              <a:extLst>
                <a:ext uri="{FF2B5EF4-FFF2-40B4-BE49-F238E27FC236}">
                  <a16:creationId xmlns:a16="http://schemas.microsoft.com/office/drawing/2014/main" id="{05F8C1BA-67B1-C04B-95AA-DE520930A77B}"/>
                </a:ext>
              </a:extLst>
            </p:cNvPr>
            <p:cNvCxnSpPr>
              <a:stCxn id="21" idx="2"/>
              <a:endCxn id="22" idx="0"/>
            </p:cNvCxnSpPr>
            <p:nvPr/>
          </p:nvCxnSpPr>
          <p:spPr>
            <a:xfrm>
              <a:off x="2605195" y="1437088"/>
              <a:ext cx="411900" cy="4041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9" name="Google Shape;757;p34">
              <a:extLst>
                <a:ext uri="{FF2B5EF4-FFF2-40B4-BE49-F238E27FC236}">
                  <a16:creationId xmlns:a16="http://schemas.microsoft.com/office/drawing/2014/main" id="{81409A00-3285-4342-B8FE-DCCBE39E8950}"/>
                </a:ext>
              </a:extLst>
            </p:cNvPr>
            <p:cNvCxnSpPr>
              <a:stCxn id="21" idx="2"/>
              <a:endCxn id="20" idx="3"/>
            </p:cNvCxnSpPr>
            <p:nvPr/>
          </p:nvCxnSpPr>
          <p:spPr>
            <a:xfrm flipH="1">
              <a:off x="2186095" y="1437088"/>
              <a:ext cx="419100" cy="5550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0" name="Google Shape;758;p34">
              <a:extLst>
                <a:ext uri="{FF2B5EF4-FFF2-40B4-BE49-F238E27FC236}">
                  <a16:creationId xmlns:a16="http://schemas.microsoft.com/office/drawing/2014/main" id="{05C843AF-1184-9648-9CBA-4982853C2237}"/>
                </a:ext>
              </a:extLst>
            </p:cNvPr>
            <p:cNvCxnSpPr>
              <a:stCxn id="19" idx="2"/>
              <a:endCxn id="20" idx="0"/>
            </p:cNvCxnSpPr>
            <p:nvPr/>
          </p:nvCxnSpPr>
          <p:spPr>
            <a:xfrm>
              <a:off x="1940070" y="1507375"/>
              <a:ext cx="87300" cy="3582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Google Shape;759;p34">
              <a:extLst>
                <a:ext uri="{FF2B5EF4-FFF2-40B4-BE49-F238E27FC236}">
                  <a16:creationId xmlns:a16="http://schemas.microsoft.com/office/drawing/2014/main" id="{41E9CD99-423A-9140-A0A2-D81C9728ADD7}"/>
                </a:ext>
              </a:extLst>
            </p:cNvPr>
            <p:cNvCxnSpPr>
              <a:stCxn id="17" idx="3"/>
              <a:endCxn id="20" idx="1"/>
            </p:cNvCxnSpPr>
            <p:nvPr/>
          </p:nvCxnSpPr>
          <p:spPr>
            <a:xfrm rot="10800000" flipH="1">
              <a:off x="1249870" y="1992025"/>
              <a:ext cx="618900" cy="726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Google Shape;760;p34">
              <a:extLst>
                <a:ext uri="{FF2B5EF4-FFF2-40B4-BE49-F238E27FC236}">
                  <a16:creationId xmlns:a16="http://schemas.microsoft.com/office/drawing/2014/main" id="{6778A6AB-996E-5A41-AD51-6F2602326E97}"/>
                </a:ext>
              </a:extLst>
            </p:cNvPr>
            <p:cNvCxnSpPr>
              <a:stCxn id="20" idx="2"/>
              <a:endCxn id="23" idx="0"/>
            </p:cNvCxnSpPr>
            <p:nvPr/>
          </p:nvCxnSpPr>
          <p:spPr>
            <a:xfrm>
              <a:off x="2027345" y="2118463"/>
              <a:ext cx="76200" cy="25770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33" name="Google Shape;752;p34">
              <a:extLst>
                <a:ext uri="{FF2B5EF4-FFF2-40B4-BE49-F238E27FC236}">
                  <a16:creationId xmlns:a16="http://schemas.microsoft.com/office/drawing/2014/main" id="{D8366903-208B-714D-BAFA-A141B9DA4AA1}"/>
                </a:ext>
              </a:extLst>
            </p:cNvPr>
            <p:cNvSpPr/>
            <p:nvPr/>
          </p:nvSpPr>
          <p:spPr>
            <a:xfrm>
              <a:off x="756020" y="1254475"/>
              <a:ext cx="317400" cy="252900"/>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0</a:t>
              </a:r>
              <a:endParaRPr sz="1600" b="1">
                <a:solidFill>
                  <a:srgbClr val="2E235D"/>
                </a:solidFill>
                <a:latin typeface="Calibri" panose="020F0502020204030204" pitchFamily="34" charset="0"/>
                <a:cs typeface="Calibri" panose="020F0502020204030204" pitchFamily="34" charset="0"/>
                <a:sym typeface="Roboto"/>
              </a:endParaRPr>
            </a:p>
          </p:txBody>
        </p:sp>
      </p:grpSp>
      <p:sp>
        <p:nvSpPr>
          <p:cNvPr id="34" name="TextBox 33">
            <a:extLst>
              <a:ext uri="{FF2B5EF4-FFF2-40B4-BE49-F238E27FC236}">
                <a16:creationId xmlns:a16="http://schemas.microsoft.com/office/drawing/2014/main" id="{BBD89B0E-EC52-8C45-BCC9-4611E61F7ED4}"/>
              </a:ext>
            </a:extLst>
          </p:cNvPr>
          <p:cNvSpPr txBox="1"/>
          <p:nvPr/>
        </p:nvSpPr>
        <p:spPr>
          <a:xfrm>
            <a:off x="8119167" y="1107911"/>
            <a:ext cx="747320" cy="369332"/>
          </a:xfrm>
          <a:prstGeom prst="rect">
            <a:avLst/>
          </a:prstGeom>
          <a:noFill/>
        </p:spPr>
        <p:txBody>
          <a:bodyPr wrap="none" rtlCol="0">
            <a:spAutoFit/>
          </a:bodyPr>
          <a:lstStyle/>
          <a:p>
            <a:pPr defTabSz="914377"/>
            <a:r>
              <a:rPr lang="en-US" dirty="0">
                <a:latin typeface="Calibri" panose="020F0502020204030204"/>
              </a:rPr>
              <a:t>Input:</a:t>
            </a:r>
          </a:p>
        </p:txBody>
      </p:sp>
      <p:sp>
        <p:nvSpPr>
          <p:cNvPr id="35" name="TextBox 34">
            <a:extLst>
              <a:ext uri="{FF2B5EF4-FFF2-40B4-BE49-F238E27FC236}">
                <a16:creationId xmlns:a16="http://schemas.microsoft.com/office/drawing/2014/main" id="{0D5E6801-7E4B-064B-ACFD-648907E6ACFA}"/>
              </a:ext>
            </a:extLst>
          </p:cNvPr>
          <p:cNvSpPr txBox="1"/>
          <p:nvPr/>
        </p:nvSpPr>
        <p:spPr>
          <a:xfrm>
            <a:off x="8119168" y="3913715"/>
            <a:ext cx="1754455" cy="369332"/>
          </a:xfrm>
          <a:prstGeom prst="rect">
            <a:avLst/>
          </a:prstGeom>
          <a:noFill/>
        </p:spPr>
        <p:txBody>
          <a:bodyPr wrap="none" rtlCol="0">
            <a:spAutoFit/>
          </a:bodyPr>
          <a:lstStyle/>
          <a:p>
            <a:pPr defTabSz="914377"/>
            <a:r>
              <a:rPr lang="en-US" dirty="0">
                <a:latin typeface="Calibri" panose="020F0502020204030204"/>
              </a:rPr>
              <a:t>BFS starting at 0:</a:t>
            </a:r>
          </a:p>
        </p:txBody>
      </p:sp>
      <p:sp>
        <p:nvSpPr>
          <p:cNvPr id="36" name="Google Shape;752;p34">
            <a:extLst>
              <a:ext uri="{FF2B5EF4-FFF2-40B4-BE49-F238E27FC236}">
                <a16:creationId xmlns:a16="http://schemas.microsoft.com/office/drawing/2014/main" id="{63821C33-A298-F447-B77B-88E7FDF241C5}"/>
              </a:ext>
            </a:extLst>
          </p:cNvPr>
          <p:cNvSpPr/>
          <p:nvPr/>
        </p:nvSpPr>
        <p:spPr>
          <a:xfrm>
            <a:off x="7470658"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a:solidFill>
                  <a:srgbClr val="2E235D"/>
                </a:solidFill>
                <a:latin typeface="Calibri" panose="020F0502020204030204" pitchFamily="34" charset="0"/>
                <a:cs typeface="Calibri" panose="020F0502020204030204" pitchFamily="34" charset="0"/>
                <a:sym typeface="Roboto"/>
              </a:rPr>
              <a:t>0</a:t>
            </a:r>
            <a:endParaRPr sz="1600" b="1">
              <a:solidFill>
                <a:srgbClr val="2E235D"/>
              </a:solidFill>
              <a:latin typeface="Calibri" panose="020F0502020204030204" pitchFamily="34" charset="0"/>
              <a:cs typeface="Calibri" panose="020F0502020204030204" pitchFamily="34" charset="0"/>
              <a:sym typeface="Roboto"/>
            </a:endParaRPr>
          </a:p>
        </p:txBody>
      </p:sp>
      <p:sp>
        <p:nvSpPr>
          <p:cNvPr id="37" name="Google Shape;752;p34">
            <a:extLst>
              <a:ext uri="{FF2B5EF4-FFF2-40B4-BE49-F238E27FC236}">
                <a16:creationId xmlns:a16="http://schemas.microsoft.com/office/drawing/2014/main" id="{962B5BF0-37BC-FB4C-9D29-6A08486CD203}"/>
              </a:ext>
            </a:extLst>
          </p:cNvPr>
          <p:cNvSpPr/>
          <p:nvPr/>
        </p:nvSpPr>
        <p:spPr>
          <a:xfrm>
            <a:off x="8033409"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1</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38" name="Google Shape;752;p34">
            <a:extLst>
              <a:ext uri="{FF2B5EF4-FFF2-40B4-BE49-F238E27FC236}">
                <a16:creationId xmlns:a16="http://schemas.microsoft.com/office/drawing/2014/main" id="{76B66DE5-4B35-6746-A332-A70025492E18}"/>
              </a:ext>
            </a:extLst>
          </p:cNvPr>
          <p:cNvSpPr/>
          <p:nvPr/>
        </p:nvSpPr>
        <p:spPr>
          <a:xfrm>
            <a:off x="8598438"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3</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39" name="Google Shape;752;p34">
            <a:extLst>
              <a:ext uri="{FF2B5EF4-FFF2-40B4-BE49-F238E27FC236}">
                <a16:creationId xmlns:a16="http://schemas.microsoft.com/office/drawing/2014/main" id="{42AC2298-E7F9-9845-BBCB-434381BA3450}"/>
              </a:ext>
            </a:extLst>
          </p:cNvPr>
          <p:cNvSpPr/>
          <p:nvPr/>
        </p:nvSpPr>
        <p:spPr>
          <a:xfrm>
            <a:off x="9163469"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4</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40" name="Google Shape;752;p34">
            <a:extLst>
              <a:ext uri="{FF2B5EF4-FFF2-40B4-BE49-F238E27FC236}">
                <a16:creationId xmlns:a16="http://schemas.microsoft.com/office/drawing/2014/main" id="{6D1715B7-4727-0848-A09D-122122C9A051}"/>
              </a:ext>
            </a:extLst>
          </p:cNvPr>
          <p:cNvSpPr/>
          <p:nvPr/>
        </p:nvSpPr>
        <p:spPr>
          <a:xfrm>
            <a:off x="9728498" y="5235731"/>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7</a:t>
            </a:r>
            <a:endParaRPr sz="1600" b="1" dirty="0">
              <a:solidFill>
                <a:srgbClr val="2E235D"/>
              </a:solidFill>
              <a:latin typeface="Calibri" panose="020F0502020204030204" pitchFamily="34" charset="0"/>
              <a:cs typeface="Calibri" panose="020F0502020204030204" pitchFamily="34" charset="0"/>
              <a:sym typeface="Roboto"/>
            </a:endParaRPr>
          </a:p>
        </p:txBody>
      </p:sp>
      <p:grpSp>
        <p:nvGrpSpPr>
          <p:cNvPr id="57" name="Group 56">
            <a:extLst>
              <a:ext uri="{FF2B5EF4-FFF2-40B4-BE49-F238E27FC236}">
                <a16:creationId xmlns:a16="http://schemas.microsoft.com/office/drawing/2014/main" id="{BAE45B12-4CD3-7044-864B-6F48C7406B7E}"/>
              </a:ext>
            </a:extLst>
          </p:cNvPr>
          <p:cNvGrpSpPr/>
          <p:nvPr/>
        </p:nvGrpSpPr>
        <p:grpSpPr>
          <a:xfrm>
            <a:off x="869121" y="2434987"/>
            <a:ext cx="5755337" cy="2702820"/>
            <a:chOff x="869120" y="2434987"/>
            <a:chExt cx="5755337" cy="2702820"/>
          </a:xfrm>
        </p:grpSpPr>
        <p:sp>
          <p:nvSpPr>
            <p:cNvPr id="42" name="Rectangle 41">
              <a:extLst>
                <a:ext uri="{FF2B5EF4-FFF2-40B4-BE49-F238E27FC236}">
                  <a16:creationId xmlns:a16="http://schemas.microsoft.com/office/drawing/2014/main" id="{AD18D255-6942-9F45-BDAA-C3F3806306B2}"/>
                </a:ext>
              </a:extLst>
            </p:cNvPr>
            <p:cNvSpPr/>
            <p:nvPr/>
          </p:nvSpPr>
          <p:spPr>
            <a:xfrm>
              <a:off x="1439141" y="2875321"/>
              <a:ext cx="5185316" cy="226248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sz="2800" dirty="0">
                <a:solidFill>
                  <a:srgbClr val="FFFFFF"/>
                </a:solidFill>
                <a:latin typeface="Calibri" panose="020F0502020204030204"/>
              </a:endParaRPr>
            </a:p>
          </p:txBody>
        </p:sp>
        <p:sp>
          <p:nvSpPr>
            <p:cNvPr id="43" name="Oval 42">
              <a:extLst>
                <a:ext uri="{FF2B5EF4-FFF2-40B4-BE49-F238E27FC236}">
                  <a16:creationId xmlns:a16="http://schemas.microsoft.com/office/drawing/2014/main" id="{1C510B11-6C26-FF4A-A93E-D2103601393A}"/>
                </a:ext>
              </a:extLst>
            </p:cNvPr>
            <p:cNvSpPr/>
            <p:nvPr/>
          </p:nvSpPr>
          <p:spPr>
            <a:xfrm>
              <a:off x="869120" y="2434987"/>
              <a:ext cx="1480179" cy="1480179"/>
            </a:xfrm>
            <a:prstGeom prst="ellipse">
              <a:avLst/>
            </a:prstGeom>
            <a:solidFill>
              <a:schemeClr val="accent4"/>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US" sz="2400" b="1" i="1" dirty="0">
                  <a:solidFill>
                    <a:srgbClr val="FFFFFF"/>
                  </a:solidFill>
                  <a:latin typeface="Calibri" panose="020F0502020204030204"/>
                </a:rPr>
                <a:t>IDEA 2</a:t>
              </a:r>
            </a:p>
          </p:txBody>
        </p:sp>
        <p:sp>
          <p:nvSpPr>
            <p:cNvPr id="44" name="TextBox 43">
              <a:extLst>
                <a:ext uri="{FF2B5EF4-FFF2-40B4-BE49-F238E27FC236}">
                  <a16:creationId xmlns:a16="http://schemas.microsoft.com/office/drawing/2014/main" id="{7CC8A0B8-69C7-1B4C-A039-12D92DC7E94B}"/>
                </a:ext>
              </a:extLst>
            </p:cNvPr>
            <p:cNvSpPr txBox="1"/>
            <p:nvPr/>
          </p:nvSpPr>
          <p:spPr>
            <a:xfrm>
              <a:off x="1771207" y="3976155"/>
              <a:ext cx="4451806" cy="830997"/>
            </a:xfrm>
            <a:prstGeom prst="rect">
              <a:avLst/>
            </a:prstGeom>
            <a:noFill/>
          </p:spPr>
          <p:txBody>
            <a:bodyPr wrap="square" rtlCol="0">
              <a:spAutoFit/>
            </a:bodyPr>
            <a:lstStyle/>
            <a:p>
              <a:pPr defTabSz="914377"/>
              <a:r>
                <a:rPr lang="en-US" sz="2400" dirty="0">
                  <a:solidFill>
                    <a:srgbClr val="FFFFFF"/>
                  </a:solidFill>
                  <a:latin typeface="Calibri" panose="020F0502020204030204"/>
                </a:rPr>
                <a:t>Use BFS, starting from ALL vertices with no incoming edges</a:t>
              </a:r>
            </a:p>
          </p:txBody>
        </p:sp>
        <p:sp>
          <p:nvSpPr>
            <p:cNvPr id="45" name="TextBox 44">
              <a:extLst>
                <a:ext uri="{FF2B5EF4-FFF2-40B4-BE49-F238E27FC236}">
                  <a16:creationId xmlns:a16="http://schemas.microsoft.com/office/drawing/2014/main" id="{97D4B680-2210-1445-A5B2-1A356E5E32D3}"/>
                </a:ext>
              </a:extLst>
            </p:cNvPr>
            <p:cNvSpPr txBox="1"/>
            <p:nvPr/>
          </p:nvSpPr>
          <p:spPr>
            <a:xfrm>
              <a:off x="2455847" y="2990410"/>
              <a:ext cx="2448363" cy="400110"/>
            </a:xfrm>
            <a:prstGeom prst="rect">
              <a:avLst/>
            </a:prstGeom>
            <a:noFill/>
          </p:spPr>
          <p:txBody>
            <a:bodyPr wrap="none" rtlCol="0">
              <a:spAutoFit/>
            </a:bodyPr>
            <a:lstStyle/>
            <a:p>
              <a:pPr defTabSz="914377"/>
              <a:r>
                <a:rPr lang="en-US" sz="2000" b="1" dirty="0">
                  <a:solidFill>
                    <a:srgbClr val="FFFFFF"/>
                  </a:solidFill>
                  <a:latin typeface="Calibri" panose="020F0502020204030204"/>
                </a:rPr>
                <a:t>Performing Topo Sort</a:t>
              </a:r>
            </a:p>
          </p:txBody>
        </p:sp>
      </p:grpSp>
      <p:sp>
        <p:nvSpPr>
          <p:cNvPr id="47" name="Rectangle 46">
            <a:extLst>
              <a:ext uri="{FF2B5EF4-FFF2-40B4-BE49-F238E27FC236}">
                <a16:creationId xmlns:a16="http://schemas.microsoft.com/office/drawing/2014/main" id="{68DB9F76-1DDB-F84B-A3B4-3600E4B61F26}"/>
              </a:ext>
            </a:extLst>
          </p:cNvPr>
          <p:cNvSpPr/>
          <p:nvPr/>
        </p:nvSpPr>
        <p:spPr>
          <a:xfrm>
            <a:off x="8160022" y="1797794"/>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48" name="Rectangle 47">
            <a:extLst>
              <a:ext uri="{FF2B5EF4-FFF2-40B4-BE49-F238E27FC236}">
                <a16:creationId xmlns:a16="http://schemas.microsoft.com/office/drawing/2014/main" id="{C23A41FA-9036-BC4C-BA4D-70F2C419776F}"/>
              </a:ext>
            </a:extLst>
          </p:cNvPr>
          <p:cNvSpPr/>
          <p:nvPr/>
        </p:nvSpPr>
        <p:spPr>
          <a:xfrm>
            <a:off x="8391280" y="246066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49" name="Rectangle 48">
            <a:extLst>
              <a:ext uri="{FF2B5EF4-FFF2-40B4-BE49-F238E27FC236}">
                <a16:creationId xmlns:a16="http://schemas.microsoft.com/office/drawing/2014/main" id="{2DE81C07-85AA-074B-907C-7E4C55C0B351}"/>
              </a:ext>
            </a:extLst>
          </p:cNvPr>
          <p:cNvSpPr/>
          <p:nvPr/>
        </p:nvSpPr>
        <p:spPr>
          <a:xfrm>
            <a:off x="9488573" y="1801089"/>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0" name="Rectangle 49">
            <a:extLst>
              <a:ext uri="{FF2B5EF4-FFF2-40B4-BE49-F238E27FC236}">
                <a16:creationId xmlns:a16="http://schemas.microsoft.com/office/drawing/2014/main" id="{BDCAC965-C1B0-4D4B-8787-620F6E41CC3F}"/>
              </a:ext>
            </a:extLst>
          </p:cNvPr>
          <p:cNvSpPr/>
          <p:nvPr/>
        </p:nvSpPr>
        <p:spPr>
          <a:xfrm>
            <a:off x="9600404" y="238132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1" name="Rectangle 50">
            <a:extLst>
              <a:ext uri="{FF2B5EF4-FFF2-40B4-BE49-F238E27FC236}">
                <a16:creationId xmlns:a16="http://schemas.microsoft.com/office/drawing/2014/main" id="{B65C2540-8D5E-4741-9768-1F3D9F11D17E}"/>
              </a:ext>
            </a:extLst>
          </p:cNvPr>
          <p:cNvSpPr/>
          <p:nvPr/>
        </p:nvSpPr>
        <p:spPr>
          <a:xfrm>
            <a:off x="9692649" y="2884879"/>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6" name="TextBox 55">
            <a:extLst>
              <a:ext uri="{FF2B5EF4-FFF2-40B4-BE49-F238E27FC236}">
                <a16:creationId xmlns:a16="http://schemas.microsoft.com/office/drawing/2014/main" id="{0E93126A-B3D6-9F45-81F2-11421FF94111}"/>
              </a:ext>
            </a:extLst>
          </p:cNvPr>
          <p:cNvSpPr txBox="1"/>
          <p:nvPr/>
        </p:nvSpPr>
        <p:spPr>
          <a:xfrm>
            <a:off x="8116132" y="4232604"/>
            <a:ext cx="1922770" cy="369332"/>
          </a:xfrm>
          <a:prstGeom prst="rect">
            <a:avLst/>
          </a:prstGeom>
          <a:noFill/>
        </p:spPr>
        <p:txBody>
          <a:bodyPr wrap="none" rtlCol="0">
            <a:spAutoFit/>
          </a:bodyPr>
          <a:lstStyle/>
          <a:p>
            <a:pPr defTabSz="914377"/>
            <a:r>
              <a:rPr lang="en-US" dirty="0">
                <a:latin typeface="Calibri" panose="020F0502020204030204"/>
              </a:rPr>
              <a:t>+ BFS starting at 2:</a:t>
            </a:r>
          </a:p>
        </p:txBody>
      </p:sp>
      <p:sp>
        <p:nvSpPr>
          <p:cNvPr id="58" name="Rectangle 57">
            <a:extLst>
              <a:ext uri="{FF2B5EF4-FFF2-40B4-BE49-F238E27FC236}">
                <a16:creationId xmlns:a16="http://schemas.microsoft.com/office/drawing/2014/main" id="{49AA3BC7-69B7-5A42-AAF6-8CD5FEE20510}"/>
              </a:ext>
            </a:extLst>
          </p:cNvPr>
          <p:cNvSpPr/>
          <p:nvPr/>
        </p:nvSpPr>
        <p:spPr>
          <a:xfrm>
            <a:off x="9519977" y="1244881"/>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59" name="Rectangle 58">
            <a:extLst>
              <a:ext uri="{FF2B5EF4-FFF2-40B4-BE49-F238E27FC236}">
                <a16:creationId xmlns:a16="http://schemas.microsoft.com/office/drawing/2014/main" id="{603C0A37-E1FC-1B4C-8639-9E8752AD33DA}"/>
              </a:ext>
            </a:extLst>
          </p:cNvPr>
          <p:cNvSpPr/>
          <p:nvPr/>
        </p:nvSpPr>
        <p:spPr>
          <a:xfrm>
            <a:off x="10346692" y="1730143"/>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60" name="Rectangle 59">
            <a:extLst>
              <a:ext uri="{FF2B5EF4-FFF2-40B4-BE49-F238E27FC236}">
                <a16:creationId xmlns:a16="http://schemas.microsoft.com/office/drawing/2014/main" id="{330D34B3-7344-0444-AF11-CAAB7E7FD58D}"/>
              </a:ext>
            </a:extLst>
          </p:cNvPr>
          <p:cNvSpPr/>
          <p:nvPr/>
        </p:nvSpPr>
        <p:spPr>
          <a:xfrm>
            <a:off x="10878660" y="2362382"/>
            <a:ext cx="540369" cy="378692"/>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FFFFFF"/>
              </a:solidFill>
              <a:latin typeface="Calibri" panose="020F0502020204030204"/>
            </a:endParaRPr>
          </a:p>
        </p:txBody>
      </p:sp>
      <p:sp>
        <p:nvSpPr>
          <p:cNvPr id="61" name="Google Shape;752;p34">
            <a:extLst>
              <a:ext uri="{FF2B5EF4-FFF2-40B4-BE49-F238E27FC236}">
                <a16:creationId xmlns:a16="http://schemas.microsoft.com/office/drawing/2014/main" id="{3914619C-E1E1-A64C-91E5-C4D84E1E96FF}"/>
              </a:ext>
            </a:extLst>
          </p:cNvPr>
          <p:cNvSpPr/>
          <p:nvPr/>
        </p:nvSpPr>
        <p:spPr>
          <a:xfrm>
            <a:off x="10293529" y="5235729"/>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2</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62" name="Google Shape;752;p34">
            <a:extLst>
              <a:ext uri="{FF2B5EF4-FFF2-40B4-BE49-F238E27FC236}">
                <a16:creationId xmlns:a16="http://schemas.microsoft.com/office/drawing/2014/main" id="{E2501CB1-6EC6-E04A-89E2-46118FA27D29}"/>
              </a:ext>
            </a:extLst>
          </p:cNvPr>
          <p:cNvSpPr/>
          <p:nvPr/>
        </p:nvSpPr>
        <p:spPr>
          <a:xfrm>
            <a:off x="10856278" y="5235729"/>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5</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63" name="Google Shape;752;p34">
            <a:extLst>
              <a:ext uri="{FF2B5EF4-FFF2-40B4-BE49-F238E27FC236}">
                <a16:creationId xmlns:a16="http://schemas.microsoft.com/office/drawing/2014/main" id="{262D78F0-438F-4C4B-88C7-D3A790542799}"/>
              </a:ext>
            </a:extLst>
          </p:cNvPr>
          <p:cNvSpPr/>
          <p:nvPr/>
        </p:nvSpPr>
        <p:spPr>
          <a:xfrm>
            <a:off x="11419029" y="5235729"/>
            <a:ext cx="409919" cy="243355"/>
          </a:xfrm>
          <a:prstGeom prst="rect">
            <a:avLst/>
          </a:prstGeom>
          <a:solidFill>
            <a:schemeClr val="accent1">
              <a:lumMod val="20000"/>
              <a:lumOff val="80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r>
              <a:rPr lang="en" sz="1600" b="1" dirty="0">
                <a:solidFill>
                  <a:srgbClr val="2E235D"/>
                </a:solidFill>
                <a:latin typeface="Calibri" panose="020F0502020204030204" pitchFamily="34" charset="0"/>
                <a:cs typeface="Calibri" panose="020F0502020204030204" pitchFamily="34" charset="0"/>
                <a:sym typeface="Roboto"/>
              </a:rPr>
              <a:t>6</a:t>
            </a:r>
            <a:endParaRPr sz="1600" b="1" dirty="0">
              <a:solidFill>
                <a:srgbClr val="2E235D"/>
              </a:solidFill>
              <a:latin typeface="Calibri" panose="020F0502020204030204" pitchFamily="34" charset="0"/>
              <a:cs typeface="Calibri" panose="020F0502020204030204" pitchFamily="34" charset="0"/>
              <a:sym typeface="Roboto"/>
            </a:endParaRPr>
          </a:p>
        </p:txBody>
      </p:sp>
      <p:sp>
        <p:nvSpPr>
          <p:cNvPr id="64" name="&quot;No&quot; Symbol 63">
            <a:extLst>
              <a:ext uri="{FF2B5EF4-FFF2-40B4-BE49-F238E27FC236}">
                <a16:creationId xmlns:a16="http://schemas.microsoft.com/office/drawing/2014/main" id="{635A6E59-6DB5-9F4C-9E2E-417C5963730D}"/>
              </a:ext>
            </a:extLst>
          </p:cNvPr>
          <p:cNvSpPr/>
          <p:nvPr/>
        </p:nvSpPr>
        <p:spPr>
          <a:xfrm>
            <a:off x="10165448" y="2147204"/>
            <a:ext cx="337768" cy="337768"/>
          </a:xfrm>
          <a:prstGeom prst="noSmoking">
            <a:avLst>
              <a:gd name="adj" fmla="val 965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000000"/>
              </a:solidFill>
              <a:latin typeface="Calibri" panose="020F0502020204030204"/>
            </a:endParaRPr>
          </a:p>
        </p:txBody>
      </p:sp>
      <p:sp>
        <p:nvSpPr>
          <p:cNvPr id="65" name="&quot;No&quot; Symbol 64">
            <a:extLst>
              <a:ext uri="{FF2B5EF4-FFF2-40B4-BE49-F238E27FC236}">
                <a16:creationId xmlns:a16="http://schemas.microsoft.com/office/drawing/2014/main" id="{3A5FF001-8532-8B4D-A5B0-9A5467EEA377}"/>
              </a:ext>
            </a:extLst>
          </p:cNvPr>
          <p:cNvSpPr/>
          <p:nvPr/>
        </p:nvSpPr>
        <p:spPr>
          <a:xfrm>
            <a:off x="9619359" y="1544249"/>
            <a:ext cx="337768" cy="337768"/>
          </a:xfrm>
          <a:prstGeom prst="noSmoking">
            <a:avLst>
              <a:gd name="adj" fmla="val 965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a:solidFill>
                <a:srgbClr val="000000"/>
              </a:solidFill>
              <a:latin typeface="Calibri" panose="020F0502020204030204"/>
            </a:endParaRPr>
          </a:p>
        </p:txBody>
      </p:sp>
      <p:cxnSp>
        <p:nvCxnSpPr>
          <p:cNvPr id="66" name="Straight Arrow Connector 65">
            <a:extLst>
              <a:ext uri="{FF2B5EF4-FFF2-40B4-BE49-F238E27FC236}">
                <a16:creationId xmlns:a16="http://schemas.microsoft.com/office/drawing/2014/main" id="{919E8B04-DAE4-FD46-8BFF-A22F1D53DEB0}"/>
              </a:ext>
            </a:extLst>
          </p:cNvPr>
          <p:cNvCxnSpPr>
            <a:cxnSpLocks/>
            <a:stCxn id="36" idx="3"/>
            <a:endCxn id="37" idx="1"/>
          </p:cNvCxnSpPr>
          <p:nvPr/>
        </p:nvCxnSpPr>
        <p:spPr>
          <a:xfrm>
            <a:off x="7880578" y="5357408"/>
            <a:ext cx="152831" cy="0"/>
          </a:xfrm>
          <a:prstGeom prst="straightConnector1">
            <a:avLst/>
          </a:prstGeom>
          <a:ln w="127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7" name="Curved Connector 24">
            <a:extLst>
              <a:ext uri="{FF2B5EF4-FFF2-40B4-BE49-F238E27FC236}">
                <a16:creationId xmlns:a16="http://schemas.microsoft.com/office/drawing/2014/main" id="{855CD00E-F387-7347-BC5D-19BD99E41739}"/>
              </a:ext>
            </a:extLst>
          </p:cNvPr>
          <p:cNvCxnSpPr>
            <a:cxnSpLocks/>
            <a:stCxn id="36" idx="0"/>
            <a:endCxn id="38" idx="0"/>
          </p:cNvCxnSpPr>
          <p:nvPr/>
        </p:nvCxnSpPr>
        <p:spPr>
          <a:xfrm rot="5400000" flipH="1" flipV="1">
            <a:off x="8239507" y="4671841"/>
            <a:ext cx="12700" cy="1127780"/>
          </a:xfrm>
          <a:prstGeom prst="curvedConnector3">
            <a:avLst>
              <a:gd name="adj1" fmla="val 1800000"/>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8E22D65-DCB2-6F48-BAFF-E50F8E36971A}"/>
              </a:ext>
            </a:extLst>
          </p:cNvPr>
          <p:cNvCxnSpPr>
            <a:cxnSpLocks/>
            <a:stCxn id="38" idx="3"/>
            <a:endCxn id="39" idx="1"/>
          </p:cNvCxnSpPr>
          <p:nvPr/>
        </p:nvCxnSpPr>
        <p:spPr>
          <a:xfrm>
            <a:off x="9008358" y="5357408"/>
            <a:ext cx="155111" cy="0"/>
          </a:xfrm>
          <a:prstGeom prst="straightConnector1">
            <a:avLst/>
          </a:prstGeom>
          <a:ln w="127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339BD34-9ADF-A449-9112-3DEA8251E13E}"/>
              </a:ext>
            </a:extLst>
          </p:cNvPr>
          <p:cNvCxnSpPr>
            <a:cxnSpLocks/>
            <a:stCxn id="39" idx="3"/>
            <a:endCxn id="40" idx="1"/>
          </p:cNvCxnSpPr>
          <p:nvPr/>
        </p:nvCxnSpPr>
        <p:spPr>
          <a:xfrm>
            <a:off x="9573387" y="5357408"/>
            <a:ext cx="155111" cy="0"/>
          </a:xfrm>
          <a:prstGeom prst="straightConnector1">
            <a:avLst/>
          </a:prstGeom>
          <a:ln w="127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1752E7A-5862-714A-8699-566BED858323}"/>
              </a:ext>
            </a:extLst>
          </p:cNvPr>
          <p:cNvCxnSpPr>
            <a:cxnSpLocks/>
            <a:stCxn id="61" idx="3"/>
            <a:endCxn id="62" idx="1"/>
          </p:cNvCxnSpPr>
          <p:nvPr/>
        </p:nvCxnSpPr>
        <p:spPr>
          <a:xfrm>
            <a:off x="10703447" y="5357407"/>
            <a:ext cx="152831" cy="0"/>
          </a:xfrm>
          <a:prstGeom prst="straightConnector1">
            <a:avLst/>
          </a:prstGeom>
          <a:ln w="127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AE40BCD-8DEE-F444-A7CA-8406107C25E2}"/>
              </a:ext>
            </a:extLst>
          </p:cNvPr>
          <p:cNvCxnSpPr>
            <a:cxnSpLocks/>
            <a:stCxn id="62" idx="3"/>
            <a:endCxn id="63" idx="1"/>
          </p:cNvCxnSpPr>
          <p:nvPr/>
        </p:nvCxnSpPr>
        <p:spPr>
          <a:xfrm>
            <a:off x="11266198" y="5357407"/>
            <a:ext cx="152831" cy="0"/>
          </a:xfrm>
          <a:prstGeom prst="straightConnector1">
            <a:avLst/>
          </a:prstGeom>
          <a:ln w="127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5" name="Curved Connector 24">
            <a:extLst>
              <a:ext uri="{FF2B5EF4-FFF2-40B4-BE49-F238E27FC236}">
                <a16:creationId xmlns:a16="http://schemas.microsoft.com/office/drawing/2014/main" id="{1D79D183-57C4-E94E-B38E-53257D47AB95}"/>
              </a:ext>
            </a:extLst>
          </p:cNvPr>
          <p:cNvCxnSpPr>
            <a:cxnSpLocks/>
            <a:stCxn id="37" idx="2"/>
            <a:endCxn id="39" idx="2"/>
          </p:cNvCxnSpPr>
          <p:nvPr/>
        </p:nvCxnSpPr>
        <p:spPr>
          <a:xfrm rot="16200000" flipH="1">
            <a:off x="8803398" y="4914055"/>
            <a:ext cx="12700" cy="1130060"/>
          </a:xfrm>
          <a:prstGeom prst="curvedConnector3">
            <a:avLst>
              <a:gd name="adj1" fmla="val 1800000"/>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8" name="Curved Connector 24">
            <a:extLst>
              <a:ext uri="{FF2B5EF4-FFF2-40B4-BE49-F238E27FC236}">
                <a16:creationId xmlns:a16="http://schemas.microsoft.com/office/drawing/2014/main" id="{9812FF4D-3EAC-2442-98E1-9DF46DDB44FB}"/>
              </a:ext>
            </a:extLst>
          </p:cNvPr>
          <p:cNvCxnSpPr>
            <a:cxnSpLocks/>
            <a:stCxn id="61" idx="0"/>
            <a:endCxn id="38" idx="0"/>
          </p:cNvCxnSpPr>
          <p:nvPr/>
        </p:nvCxnSpPr>
        <p:spPr>
          <a:xfrm rot="16200000" flipH="1" flipV="1">
            <a:off x="9650942" y="4388184"/>
            <a:ext cx="1" cy="1695091"/>
          </a:xfrm>
          <a:prstGeom prst="curvedConnector3">
            <a:avLst>
              <a:gd name="adj1" fmla="val -22860000000"/>
            </a:avLst>
          </a:prstGeom>
          <a:ln w="28575">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1" name="Curved Connector 24">
            <a:extLst>
              <a:ext uri="{FF2B5EF4-FFF2-40B4-BE49-F238E27FC236}">
                <a16:creationId xmlns:a16="http://schemas.microsoft.com/office/drawing/2014/main" id="{FD93B4D9-5F4E-8E48-942F-EBE028FB7689}"/>
              </a:ext>
            </a:extLst>
          </p:cNvPr>
          <p:cNvCxnSpPr>
            <a:cxnSpLocks/>
            <a:stCxn id="62" idx="2"/>
            <a:endCxn id="39" idx="2"/>
          </p:cNvCxnSpPr>
          <p:nvPr/>
        </p:nvCxnSpPr>
        <p:spPr>
          <a:xfrm rot="5400000">
            <a:off x="10214833" y="4632679"/>
            <a:ext cx="1" cy="1692811"/>
          </a:xfrm>
          <a:prstGeom prst="curvedConnector3">
            <a:avLst>
              <a:gd name="adj1" fmla="val 22860100000"/>
            </a:avLst>
          </a:prstGeom>
          <a:ln w="28575">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4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2000"/>
                                        <p:tgtEl>
                                          <p:spTgt spid="46"/>
                                        </p:tgtEl>
                                      </p:cBhvr>
                                    </p:animEffect>
                                    <p:anim calcmode="lin" valueType="num">
                                      <p:cBhvr>
                                        <p:cTn id="8" dur="2000" fill="hold"/>
                                        <p:tgtEl>
                                          <p:spTgt spid="46"/>
                                        </p:tgtEl>
                                        <p:attrNameLst>
                                          <p:attrName>ppt_x</p:attrName>
                                        </p:attrNameLst>
                                      </p:cBhvr>
                                      <p:tavLst>
                                        <p:tav tm="0">
                                          <p:val>
                                            <p:strVal val="#ppt_x"/>
                                          </p:val>
                                        </p:tav>
                                        <p:tav tm="100000">
                                          <p:val>
                                            <p:strVal val="#ppt_x"/>
                                          </p:val>
                                        </p:tav>
                                      </p:tavLst>
                                    </p:anim>
                                    <p:anim calcmode="lin" valueType="num">
                                      <p:cBhvr>
                                        <p:cTn id="9" dur="2000" fill="hold"/>
                                        <p:tgtEl>
                                          <p:spTgt spid="46"/>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2000"/>
                                        <p:tgtEl>
                                          <p:spTgt spid="6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2000"/>
                                        <p:tgtEl>
                                          <p:spTgt spid="65"/>
                                        </p:tgtEl>
                                      </p:cBhvr>
                                    </p:animEffect>
                                  </p:childTnLst>
                                </p:cTn>
                              </p:par>
                              <p:par>
                                <p:cTn id="16" presetID="10" presetClass="entr" presetSubtype="0" fill="hold" nodeType="with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fade">
                                      <p:cBhvr>
                                        <p:cTn id="18" dur="2000"/>
                                        <p:tgtEl>
                                          <p:spTgt spid="67"/>
                                        </p:tgtEl>
                                      </p:cBhvr>
                                    </p:animEffect>
                                  </p:childTnLst>
                                </p:cTn>
                              </p:par>
                              <p:par>
                                <p:cTn id="19" presetID="10" presetClass="entr" presetSubtype="0" fill="hold" nodeType="with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fade">
                                      <p:cBhvr>
                                        <p:cTn id="21" dur="2000"/>
                                        <p:tgtEl>
                                          <p:spTgt spid="78"/>
                                        </p:tgtEl>
                                      </p:cBhvr>
                                    </p:animEffect>
                                  </p:childTnLst>
                                </p:cTn>
                              </p:par>
                              <p:par>
                                <p:cTn id="22" presetID="10" presetClass="entr" presetSubtype="0" fill="hold" nodeType="withEffect">
                                  <p:stCondLst>
                                    <p:cond delay="0"/>
                                  </p:stCondLst>
                                  <p:childTnLst>
                                    <p:set>
                                      <p:cBhvr>
                                        <p:cTn id="23" dur="1" fill="hold">
                                          <p:stCondLst>
                                            <p:cond delay="0"/>
                                          </p:stCondLst>
                                        </p:cTn>
                                        <p:tgtEl>
                                          <p:spTgt spid="75"/>
                                        </p:tgtEl>
                                        <p:attrNameLst>
                                          <p:attrName>style.visibility</p:attrName>
                                        </p:attrNameLst>
                                      </p:cBhvr>
                                      <p:to>
                                        <p:strVal val="visible"/>
                                      </p:to>
                                    </p:set>
                                    <p:animEffect transition="in" filter="fade">
                                      <p:cBhvr>
                                        <p:cTn id="24" dur="2000"/>
                                        <p:tgtEl>
                                          <p:spTgt spid="75"/>
                                        </p:tgtEl>
                                      </p:cBhvr>
                                    </p:animEffect>
                                  </p:childTnLst>
                                </p:cTn>
                              </p:par>
                              <p:par>
                                <p:cTn id="25" presetID="10" presetClass="entr" presetSubtype="0" fill="hold" nodeType="withEffect">
                                  <p:stCondLst>
                                    <p:cond delay="0"/>
                                  </p:stCondLst>
                                  <p:childTnLst>
                                    <p:set>
                                      <p:cBhvr>
                                        <p:cTn id="26" dur="1" fill="hold">
                                          <p:stCondLst>
                                            <p:cond delay="0"/>
                                          </p:stCondLst>
                                        </p:cTn>
                                        <p:tgtEl>
                                          <p:spTgt spid="81"/>
                                        </p:tgtEl>
                                        <p:attrNameLst>
                                          <p:attrName>style.visibility</p:attrName>
                                        </p:attrNameLst>
                                      </p:cBhvr>
                                      <p:to>
                                        <p:strVal val="visible"/>
                                      </p:to>
                                    </p:set>
                                    <p:animEffect transition="in" filter="fade">
                                      <p:cBhvr>
                                        <p:cTn id="27" dur="2000"/>
                                        <p:tgtEl>
                                          <p:spTgt spid="81"/>
                                        </p:tgtEl>
                                      </p:cBhvr>
                                    </p:animEffect>
                                  </p:childTnLst>
                                </p:cTn>
                              </p:par>
                              <p:par>
                                <p:cTn id="28" presetID="10" presetClass="entr" presetSubtype="0" fill="hold" nodeType="withEffect">
                                  <p:stCondLst>
                                    <p:cond delay="0"/>
                                  </p:stCondLst>
                                  <p:childTnLst>
                                    <p:set>
                                      <p:cBhvr>
                                        <p:cTn id="29" dur="1" fill="hold">
                                          <p:stCondLst>
                                            <p:cond delay="0"/>
                                          </p:stCondLst>
                                        </p:cTn>
                                        <p:tgtEl>
                                          <p:spTgt spid="66"/>
                                        </p:tgtEl>
                                        <p:attrNameLst>
                                          <p:attrName>style.visibility</p:attrName>
                                        </p:attrNameLst>
                                      </p:cBhvr>
                                      <p:to>
                                        <p:strVal val="visible"/>
                                      </p:to>
                                    </p:set>
                                    <p:animEffect transition="in" filter="fade">
                                      <p:cBhvr>
                                        <p:cTn id="30" dur="2000"/>
                                        <p:tgtEl>
                                          <p:spTgt spid="66"/>
                                        </p:tgtEl>
                                      </p:cBhvr>
                                    </p:animEffect>
                                  </p:childTnLst>
                                </p:cTn>
                              </p:par>
                              <p:par>
                                <p:cTn id="31" presetID="10"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fade">
                                      <p:cBhvr>
                                        <p:cTn id="33" dur="2000"/>
                                        <p:tgtEl>
                                          <p:spTgt spid="69"/>
                                        </p:tgtEl>
                                      </p:cBhvr>
                                    </p:animEffect>
                                  </p:childTnLst>
                                </p:cTn>
                              </p:par>
                              <p:par>
                                <p:cTn id="34" presetID="10" presetClass="entr" presetSubtype="0" fill="hold" nodeType="withEffect">
                                  <p:stCondLst>
                                    <p:cond delay="0"/>
                                  </p:stCondLst>
                                  <p:childTnLst>
                                    <p:set>
                                      <p:cBhvr>
                                        <p:cTn id="35" dur="1" fill="hold">
                                          <p:stCondLst>
                                            <p:cond delay="0"/>
                                          </p:stCondLst>
                                        </p:cTn>
                                        <p:tgtEl>
                                          <p:spTgt spid="70"/>
                                        </p:tgtEl>
                                        <p:attrNameLst>
                                          <p:attrName>style.visibility</p:attrName>
                                        </p:attrNameLst>
                                      </p:cBhvr>
                                      <p:to>
                                        <p:strVal val="visible"/>
                                      </p:to>
                                    </p:set>
                                    <p:animEffect transition="in" filter="fade">
                                      <p:cBhvr>
                                        <p:cTn id="36" dur="2000"/>
                                        <p:tgtEl>
                                          <p:spTgt spid="70"/>
                                        </p:tgtEl>
                                      </p:cBhvr>
                                    </p:animEffect>
                                  </p:childTnLst>
                                </p:cTn>
                              </p:par>
                              <p:par>
                                <p:cTn id="37" presetID="10"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2000"/>
                                        <p:tgtEl>
                                          <p:spTgt spid="71"/>
                                        </p:tgtEl>
                                      </p:cBhvr>
                                    </p:animEffect>
                                  </p:childTnLst>
                                </p:cTn>
                              </p:par>
                              <p:par>
                                <p:cTn id="40" presetID="10" presetClass="entr" presetSubtype="0" fill="hold" nodeType="with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fade">
                                      <p:cBhvr>
                                        <p:cTn id="42" dur="2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64" grpId="0" animBg="1"/>
      <p:bldP spid="65"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6F95E-5DE0-7740-ACA6-2F08E6F7210B}"/>
              </a:ext>
            </a:extLst>
          </p:cNvPr>
          <p:cNvSpPr>
            <a:spLocks noGrp="1"/>
          </p:cNvSpPr>
          <p:nvPr>
            <p:ph type="title"/>
          </p:nvPr>
        </p:nvSpPr>
        <p:spPr/>
        <p:txBody>
          <a:bodyPr/>
          <a:lstStyle/>
          <a:p>
            <a:r>
              <a:rPr lang="en-US" dirty="0"/>
              <a:t>Idea: DFS: </a:t>
            </a:r>
          </a:p>
        </p:txBody>
      </p:sp>
      <p:sp>
        <p:nvSpPr>
          <p:cNvPr id="3" name="Content Placeholder 2">
            <a:extLst>
              <a:ext uri="{FF2B5EF4-FFF2-40B4-BE49-F238E27FC236}">
                <a16:creationId xmlns:a16="http://schemas.microsoft.com/office/drawing/2014/main" id="{A6BA0681-A837-904A-B068-71D9D14BF5F5}"/>
              </a:ext>
            </a:extLst>
          </p:cNvPr>
          <p:cNvSpPr>
            <a:spLocks noGrp="1"/>
          </p:cNvSpPr>
          <p:nvPr>
            <p:ph idx="1"/>
          </p:nvPr>
        </p:nvSpPr>
        <p:spPr/>
        <p:txBody>
          <a:bodyPr>
            <a:normAutofit fontScale="92500" lnSpcReduction="10000"/>
          </a:bodyPr>
          <a:lstStyle/>
          <a:p>
            <a:r>
              <a:rPr lang="en-US" dirty="0"/>
              <a:t>In DFS, we print a vertex and then recursively call DFS for its adjacent vertices. In topological sorting, we need to print a vertex before its adjacent vertices.</a:t>
            </a:r>
          </a:p>
          <a:p>
            <a:r>
              <a:rPr lang="en-US" dirty="0"/>
              <a:t>We can modify DFS to find the Topological Sorting of a graph. In DFS, </a:t>
            </a:r>
          </a:p>
          <a:p>
            <a:pPr lvl="1" fontAlgn="base"/>
            <a:r>
              <a:rPr lang="en-US" dirty="0"/>
              <a:t>We start from a vertex, we first print it, and then </a:t>
            </a:r>
          </a:p>
          <a:p>
            <a:pPr lvl="1" fontAlgn="base"/>
            <a:r>
              <a:rPr lang="en-US" dirty="0"/>
              <a:t>Recursively call DFS for its adjacent vertices. </a:t>
            </a:r>
          </a:p>
          <a:p>
            <a:pPr fontAlgn="base"/>
            <a:r>
              <a:rPr lang="en-US" dirty="0"/>
              <a:t>In topological sorting,</a:t>
            </a:r>
          </a:p>
          <a:p>
            <a:pPr lvl="1" fontAlgn="base"/>
            <a:r>
              <a:rPr lang="en-US" dirty="0"/>
              <a:t>We use a temporary stack. </a:t>
            </a:r>
          </a:p>
          <a:p>
            <a:pPr lvl="1" fontAlgn="base"/>
            <a:r>
              <a:rPr lang="en-US" dirty="0"/>
              <a:t>We don’t print the vertex immediately, </a:t>
            </a:r>
          </a:p>
          <a:p>
            <a:pPr lvl="1" fontAlgn="base"/>
            <a:r>
              <a:rPr lang="en-US" dirty="0"/>
              <a:t>We first recursively call topological sorting for all its adjacent vertices, then push it to a stack. </a:t>
            </a:r>
          </a:p>
          <a:p>
            <a:pPr lvl="1" fontAlgn="base"/>
            <a:r>
              <a:rPr lang="en-US" dirty="0"/>
              <a:t>Finally, print the contents of the stack. </a:t>
            </a:r>
          </a:p>
          <a:p>
            <a:pPr fontAlgn="base"/>
            <a:r>
              <a:rPr lang="en-US" dirty="0">
                <a:hlinkClick r:id="rId3"/>
              </a:rPr>
              <a:t>Demo for </a:t>
            </a:r>
            <a:r>
              <a:rPr lang="en-US" dirty="0" err="1">
                <a:hlinkClick r:id="rId3"/>
              </a:rPr>
              <a:t>topSort</a:t>
            </a:r>
            <a:endParaRPr lang="en-US" dirty="0"/>
          </a:p>
          <a:p>
            <a:pPr lvl="1" fontAlgn="base"/>
            <a:endParaRPr lang="en-US" dirty="0"/>
          </a:p>
          <a:p>
            <a:pPr lvl="1"/>
            <a:endParaRPr lang="en-US" dirty="0"/>
          </a:p>
        </p:txBody>
      </p:sp>
    </p:spTree>
    <p:extLst>
      <p:ext uri="{BB962C8B-B14F-4D97-AF65-F5344CB8AC3E}">
        <p14:creationId xmlns:p14="http://schemas.microsoft.com/office/powerpoint/2010/main" val="37442564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grpSp>
        <p:nvGrpSpPr>
          <p:cNvPr id="179" name="Google Shape;179;p20"/>
          <p:cNvGrpSpPr/>
          <p:nvPr/>
        </p:nvGrpSpPr>
        <p:grpSpPr>
          <a:xfrm>
            <a:off x="277835" y="911083"/>
            <a:ext cx="2689981" cy="2916733"/>
            <a:chOff x="208375" y="683311"/>
            <a:chExt cx="2017486" cy="2187550"/>
          </a:xfrm>
        </p:grpSpPr>
        <p:grpSp>
          <p:nvGrpSpPr>
            <p:cNvPr id="180" name="Google Shape;180;p20"/>
            <p:cNvGrpSpPr/>
            <p:nvPr/>
          </p:nvGrpSpPr>
          <p:grpSpPr>
            <a:xfrm>
              <a:off x="247226" y="683311"/>
              <a:ext cx="1978635" cy="2187550"/>
              <a:chOff x="247226" y="683311"/>
              <a:chExt cx="1978635" cy="2187550"/>
            </a:xfrm>
          </p:grpSpPr>
          <p:sp>
            <p:nvSpPr>
              <p:cNvPr id="181" name="Google Shape;181;p20"/>
              <p:cNvSpPr/>
              <p:nvPr/>
            </p:nvSpPr>
            <p:spPr>
              <a:xfrm>
                <a:off x="247226" y="119772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182" name="Google Shape;182;p20"/>
              <p:cNvSpPr/>
              <p:nvPr/>
            </p:nvSpPr>
            <p:spPr>
              <a:xfrm>
                <a:off x="402615" y="1813474"/>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183" name="Google Shape;183;p20"/>
              <p:cNvSpPr/>
              <p:nvPr/>
            </p:nvSpPr>
            <p:spPr>
              <a:xfrm>
                <a:off x="1172206" y="68331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184" name="Google Shape;184;p20"/>
              <p:cNvSpPr/>
              <p:nvPr/>
            </p:nvSpPr>
            <p:spPr>
              <a:xfrm>
                <a:off x="1150190" y="119772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185" name="Google Shape;185;p20"/>
              <p:cNvSpPr/>
              <p:nvPr/>
            </p:nvSpPr>
            <p:spPr>
              <a:xfrm>
                <a:off x="1227048" y="174807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dirty="0"/>
                  <a:t>4</a:t>
                </a:r>
                <a:endParaRPr sz="2400" dirty="0"/>
              </a:p>
            </p:txBody>
          </p:sp>
          <p:sp>
            <p:nvSpPr>
              <p:cNvPr id="186" name="Google Shape;186;p20"/>
              <p:cNvSpPr/>
              <p:nvPr/>
            </p:nvSpPr>
            <p:spPr>
              <a:xfrm>
                <a:off x="1583525" y="113441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187" name="Google Shape;187;p20"/>
              <p:cNvSpPr/>
              <p:nvPr/>
            </p:nvSpPr>
            <p:spPr>
              <a:xfrm>
                <a:off x="1946261" y="1726193"/>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188" name="Google Shape;188;p20"/>
              <p:cNvSpPr/>
              <p:nvPr/>
            </p:nvSpPr>
            <p:spPr>
              <a:xfrm>
                <a:off x="1294152" y="2207912"/>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189" name="Google Shape;189;p20"/>
              <p:cNvCxnSpPr>
                <a:stCxn id="181" idx="2"/>
                <a:endCxn id="182" idx="0"/>
              </p:cNvCxnSpPr>
              <p:nvPr/>
            </p:nvCxnSpPr>
            <p:spPr>
              <a:xfrm>
                <a:off x="387026" y="1425422"/>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190" name="Google Shape;190;p20"/>
              <p:cNvCxnSpPr>
                <a:stCxn id="181" idx="3"/>
                <a:endCxn id="184" idx="1"/>
              </p:cNvCxnSpPr>
              <p:nvPr/>
            </p:nvCxnSpPr>
            <p:spPr>
              <a:xfrm>
                <a:off x="526826" y="1311572"/>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191" name="Google Shape;191;p20"/>
              <p:cNvCxnSpPr>
                <a:stCxn id="183" idx="2"/>
                <a:endCxn id="184" idx="0"/>
              </p:cNvCxnSpPr>
              <p:nvPr/>
            </p:nvCxnSpPr>
            <p:spPr>
              <a:xfrm flipH="1">
                <a:off x="1290106" y="911011"/>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192" name="Google Shape;192;p20"/>
              <p:cNvCxnSpPr>
                <a:stCxn id="183" idx="3"/>
                <a:endCxn id="186" idx="0"/>
              </p:cNvCxnSpPr>
              <p:nvPr/>
            </p:nvCxnSpPr>
            <p:spPr>
              <a:xfrm>
                <a:off x="1451806" y="797161"/>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193" name="Google Shape;193;p20"/>
              <p:cNvCxnSpPr>
                <a:stCxn id="186" idx="2"/>
                <a:endCxn id="187" idx="0"/>
              </p:cNvCxnSpPr>
              <p:nvPr/>
            </p:nvCxnSpPr>
            <p:spPr>
              <a:xfrm>
                <a:off x="1723325" y="1362119"/>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194" name="Google Shape;194;p20"/>
              <p:cNvCxnSpPr>
                <a:stCxn id="186" idx="2"/>
                <a:endCxn id="185" idx="3"/>
              </p:cNvCxnSpPr>
              <p:nvPr/>
            </p:nvCxnSpPr>
            <p:spPr>
              <a:xfrm flipH="1">
                <a:off x="1506725" y="1362119"/>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195" name="Google Shape;195;p20"/>
              <p:cNvCxnSpPr>
                <a:stCxn id="184" idx="2"/>
                <a:endCxn id="185" idx="0"/>
              </p:cNvCxnSpPr>
              <p:nvPr/>
            </p:nvCxnSpPr>
            <p:spPr>
              <a:xfrm>
                <a:off x="1289990" y="1425422"/>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196" name="Google Shape;196;p20"/>
              <p:cNvCxnSpPr>
                <a:stCxn id="182" idx="3"/>
                <a:endCxn id="185" idx="1"/>
              </p:cNvCxnSpPr>
              <p:nvPr/>
            </p:nvCxnSpPr>
            <p:spPr>
              <a:xfrm rot="10800000" flipH="1">
                <a:off x="682215" y="1861924"/>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197" name="Google Shape;197;p20"/>
              <p:cNvCxnSpPr>
                <a:stCxn id="185" idx="2"/>
                <a:endCxn id="188" idx="0"/>
              </p:cNvCxnSpPr>
              <p:nvPr/>
            </p:nvCxnSpPr>
            <p:spPr>
              <a:xfrm>
                <a:off x="1366848" y="1975778"/>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198" name="Google Shape;198;p20"/>
              <p:cNvSpPr txBox="1"/>
              <p:nvPr/>
            </p:nvSpPr>
            <p:spPr>
              <a:xfrm>
                <a:off x="682123" y="2482961"/>
                <a:ext cx="1308900" cy="387900"/>
              </a:xfrm>
              <a:prstGeom prst="rect">
                <a:avLst/>
              </a:prstGeom>
              <a:noFill/>
              <a:ln>
                <a:noFill/>
              </a:ln>
            </p:spPr>
            <p:txBody>
              <a:bodyPr spcFirstLastPara="1" wrap="square" lIns="121900" tIns="121900" rIns="121900" bIns="121900" anchor="t" anchorCtr="0">
                <a:noAutofit/>
              </a:bodyPr>
              <a:lstStyle/>
              <a:p>
                <a:pPr defTabSz="1219140"/>
                <a:r>
                  <a:rPr lang="en" sz="2400"/>
                  <a:t>Postorder: []</a:t>
                </a:r>
                <a:endParaRPr sz="2400"/>
              </a:p>
            </p:txBody>
          </p:sp>
        </p:grpSp>
        <p:sp>
          <p:nvSpPr>
            <p:cNvPr id="199" name="Google Shape;199;p20"/>
            <p:cNvSpPr txBox="1"/>
            <p:nvPr/>
          </p:nvSpPr>
          <p:spPr>
            <a:xfrm>
              <a:off x="208375" y="915050"/>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200" name="Google Shape;200;p20"/>
          <p:cNvGrpSpPr/>
          <p:nvPr/>
        </p:nvGrpSpPr>
        <p:grpSpPr>
          <a:xfrm>
            <a:off x="3180719" y="911064"/>
            <a:ext cx="2638180" cy="2916733"/>
            <a:chOff x="2385539" y="683298"/>
            <a:chExt cx="1978635" cy="2187550"/>
          </a:xfrm>
        </p:grpSpPr>
        <p:grpSp>
          <p:nvGrpSpPr>
            <p:cNvPr id="201" name="Google Shape;201;p20"/>
            <p:cNvGrpSpPr/>
            <p:nvPr/>
          </p:nvGrpSpPr>
          <p:grpSpPr>
            <a:xfrm>
              <a:off x="2385539" y="683298"/>
              <a:ext cx="1978635" cy="2187550"/>
              <a:chOff x="2385539" y="683298"/>
              <a:chExt cx="1978635" cy="2187550"/>
            </a:xfrm>
          </p:grpSpPr>
          <p:sp>
            <p:nvSpPr>
              <p:cNvPr id="202" name="Google Shape;202;p20"/>
              <p:cNvSpPr/>
              <p:nvPr/>
            </p:nvSpPr>
            <p:spPr>
              <a:xfrm>
                <a:off x="23855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203" name="Google Shape;203;p20"/>
              <p:cNvSpPr/>
              <p:nvPr/>
            </p:nvSpPr>
            <p:spPr>
              <a:xfrm>
                <a:off x="25409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204" name="Google Shape;204;p20"/>
              <p:cNvSpPr/>
              <p:nvPr/>
            </p:nvSpPr>
            <p:spPr>
              <a:xfrm>
                <a:off x="3310519" y="6832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205" name="Google Shape;205;p20"/>
              <p:cNvSpPr/>
              <p:nvPr/>
            </p:nvSpPr>
            <p:spPr>
              <a:xfrm>
                <a:off x="3288503" y="11977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206" name="Google Shape;206;p20"/>
              <p:cNvSpPr/>
              <p:nvPr/>
            </p:nvSpPr>
            <p:spPr>
              <a:xfrm>
                <a:off x="3365361" y="1748066"/>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207" name="Google Shape;207;p20"/>
              <p:cNvSpPr/>
              <p:nvPr/>
            </p:nvSpPr>
            <p:spPr>
              <a:xfrm>
                <a:off x="3721839" y="11344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208" name="Google Shape;208;p20"/>
              <p:cNvSpPr/>
              <p:nvPr/>
            </p:nvSpPr>
            <p:spPr>
              <a:xfrm>
                <a:off x="4084574" y="17261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209" name="Google Shape;209;p20"/>
              <p:cNvSpPr/>
              <p:nvPr/>
            </p:nvSpPr>
            <p:spPr>
              <a:xfrm>
                <a:off x="3432466" y="220789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210" name="Google Shape;210;p20"/>
              <p:cNvCxnSpPr>
                <a:stCxn id="202" idx="2"/>
                <a:endCxn id="203" idx="0"/>
              </p:cNvCxnSpPr>
              <p:nvPr/>
            </p:nvCxnSpPr>
            <p:spPr>
              <a:xfrm>
                <a:off x="25253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11" name="Google Shape;211;p20"/>
              <p:cNvCxnSpPr>
                <a:stCxn id="202" idx="3"/>
                <a:endCxn id="205" idx="1"/>
              </p:cNvCxnSpPr>
              <p:nvPr/>
            </p:nvCxnSpPr>
            <p:spPr>
              <a:xfrm>
                <a:off x="26651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12" name="Google Shape;212;p20"/>
              <p:cNvCxnSpPr>
                <a:stCxn id="204" idx="2"/>
                <a:endCxn id="205" idx="0"/>
              </p:cNvCxnSpPr>
              <p:nvPr/>
            </p:nvCxnSpPr>
            <p:spPr>
              <a:xfrm flipH="1">
                <a:off x="342841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13" name="Google Shape;213;p20"/>
              <p:cNvCxnSpPr>
                <a:stCxn id="204" idx="3"/>
                <a:endCxn id="207" idx="0"/>
              </p:cNvCxnSpPr>
              <p:nvPr/>
            </p:nvCxnSpPr>
            <p:spPr>
              <a:xfrm>
                <a:off x="359011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14" name="Google Shape;214;p20"/>
              <p:cNvCxnSpPr>
                <a:stCxn id="207" idx="2"/>
                <a:endCxn id="208" idx="0"/>
              </p:cNvCxnSpPr>
              <p:nvPr/>
            </p:nvCxnSpPr>
            <p:spPr>
              <a:xfrm>
                <a:off x="38616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15" name="Google Shape;215;p20"/>
              <p:cNvCxnSpPr>
                <a:stCxn id="207" idx="2"/>
                <a:endCxn id="206" idx="3"/>
              </p:cNvCxnSpPr>
              <p:nvPr/>
            </p:nvCxnSpPr>
            <p:spPr>
              <a:xfrm flipH="1">
                <a:off x="36450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216" name="Google Shape;216;p20"/>
              <p:cNvCxnSpPr>
                <a:stCxn id="205" idx="2"/>
                <a:endCxn id="206" idx="0"/>
              </p:cNvCxnSpPr>
              <p:nvPr/>
            </p:nvCxnSpPr>
            <p:spPr>
              <a:xfrm>
                <a:off x="34283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217" name="Google Shape;217;p20"/>
              <p:cNvCxnSpPr>
                <a:stCxn id="203" idx="3"/>
                <a:endCxn id="206" idx="1"/>
              </p:cNvCxnSpPr>
              <p:nvPr/>
            </p:nvCxnSpPr>
            <p:spPr>
              <a:xfrm rot="10800000" flipH="1">
                <a:off x="28205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218" name="Google Shape;218;p20"/>
              <p:cNvCxnSpPr>
                <a:stCxn id="206" idx="2"/>
                <a:endCxn id="209" idx="0"/>
              </p:cNvCxnSpPr>
              <p:nvPr/>
            </p:nvCxnSpPr>
            <p:spPr>
              <a:xfrm>
                <a:off x="350516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219" name="Google Shape;219;p20"/>
              <p:cNvSpPr txBox="1"/>
              <p:nvPr/>
            </p:nvSpPr>
            <p:spPr>
              <a:xfrm>
                <a:off x="2820436" y="2482948"/>
                <a:ext cx="1308900" cy="387900"/>
              </a:xfrm>
              <a:prstGeom prst="rect">
                <a:avLst/>
              </a:prstGeom>
              <a:noFill/>
              <a:ln>
                <a:noFill/>
              </a:ln>
            </p:spPr>
            <p:txBody>
              <a:bodyPr spcFirstLastPara="1" wrap="square" lIns="121900" tIns="121900" rIns="121900" bIns="121900" anchor="t" anchorCtr="0">
                <a:noAutofit/>
              </a:bodyPr>
              <a:lstStyle/>
              <a:p>
                <a:pPr defTabSz="1219140"/>
                <a:r>
                  <a:rPr lang="en" sz="2400"/>
                  <a:t>Postorder: []</a:t>
                </a:r>
                <a:endParaRPr sz="2400"/>
              </a:p>
            </p:txBody>
          </p:sp>
        </p:grpSp>
        <p:sp>
          <p:nvSpPr>
            <p:cNvPr id="220" name="Google Shape;220;p20"/>
            <p:cNvSpPr txBox="1"/>
            <p:nvPr/>
          </p:nvSpPr>
          <p:spPr>
            <a:xfrm>
              <a:off x="2390936" y="1588686"/>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221" name="Google Shape;221;p20"/>
          <p:cNvGrpSpPr/>
          <p:nvPr/>
        </p:nvGrpSpPr>
        <p:grpSpPr>
          <a:xfrm>
            <a:off x="6116119" y="911064"/>
            <a:ext cx="2638180" cy="2916736"/>
            <a:chOff x="4587089" y="683298"/>
            <a:chExt cx="1978635" cy="2187552"/>
          </a:xfrm>
        </p:grpSpPr>
        <p:grpSp>
          <p:nvGrpSpPr>
            <p:cNvPr id="222" name="Google Shape;222;p20"/>
            <p:cNvGrpSpPr/>
            <p:nvPr/>
          </p:nvGrpSpPr>
          <p:grpSpPr>
            <a:xfrm>
              <a:off x="4587089" y="683298"/>
              <a:ext cx="1978635" cy="2187552"/>
              <a:chOff x="4587089" y="683298"/>
              <a:chExt cx="1978635" cy="2187552"/>
            </a:xfrm>
          </p:grpSpPr>
          <p:sp>
            <p:nvSpPr>
              <p:cNvPr id="223" name="Google Shape;223;p20"/>
              <p:cNvSpPr/>
              <p:nvPr/>
            </p:nvSpPr>
            <p:spPr>
              <a:xfrm>
                <a:off x="458708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224" name="Google Shape;224;p20"/>
              <p:cNvSpPr/>
              <p:nvPr/>
            </p:nvSpPr>
            <p:spPr>
              <a:xfrm>
                <a:off x="474247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225" name="Google Shape;225;p20"/>
              <p:cNvSpPr/>
              <p:nvPr/>
            </p:nvSpPr>
            <p:spPr>
              <a:xfrm>
                <a:off x="5512069" y="6832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226" name="Google Shape;226;p20"/>
              <p:cNvSpPr/>
              <p:nvPr/>
            </p:nvSpPr>
            <p:spPr>
              <a:xfrm>
                <a:off x="5490053" y="11977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227" name="Google Shape;227;p20"/>
              <p:cNvSpPr/>
              <p:nvPr/>
            </p:nvSpPr>
            <p:spPr>
              <a:xfrm>
                <a:off x="556691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228" name="Google Shape;228;p20"/>
              <p:cNvSpPr/>
              <p:nvPr/>
            </p:nvSpPr>
            <p:spPr>
              <a:xfrm>
                <a:off x="5923389" y="11344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229" name="Google Shape;229;p20"/>
              <p:cNvSpPr/>
              <p:nvPr/>
            </p:nvSpPr>
            <p:spPr>
              <a:xfrm>
                <a:off x="6286124" y="17261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230" name="Google Shape;230;p20"/>
              <p:cNvSpPr/>
              <p:nvPr/>
            </p:nvSpPr>
            <p:spPr>
              <a:xfrm>
                <a:off x="5634016" y="220789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231" name="Google Shape;231;p20"/>
              <p:cNvCxnSpPr>
                <a:stCxn id="223" idx="2"/>
                <a:endCxn id="224" idx="0"/>
              </p:cNvCxnSpPr>
              <p:nvPr/>
            </p:nvCxnSpPr>
            <p:spPr>
              <a:xfrm>
                <a:off x="472688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32" name="Google Shape;232;p20"/>
              <p:cNvCxnSpPr>
                <a:stCxn id="223" idx="3"/>
                <a:endCxn id="226" idx="1"/>
              </p:cNvCxnSpPr>
              <p:nvPr/>
            </p:nvCxnSpPr>
            <p:spPr>
              <a:xfrm>
                <a:off x="486668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33" name="Google Shape;233;p20"/>
              <p:cNvCxnSpPr>
                <a:stCxn id="225" idx="2"/>
                <a:endCxn id="226" idx="0"/>
              </p:cNvCxnSpPr>
              <p:nvPr/>
            </p:nvCxnSpPr>
            <p:spPr>
              <a:xfrm flipH="1">
                <a:off x="562996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34" name="Google Shape;234;p20"/>
              <p:cNvCxnSpPr>
                <a:stCxn id="225" idx="3"/>
                <a:endCxn id="228" idx="0"/>
              </p:cNvCxnSpPr>
              <p:nvPr/>
            </p:nvCxnSpPr>
            <p:spPr>
              <a:xfrm>
                <a:off x="579166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35" name="Google Shape;235;p20"/>
              <p:cNvCxnSpPr>
                <a:stCxn id="228" idx="2"/>
                <a:endCxn id="229" idx="0"/>
              </p:cNvCxnSpPr>
              <p:nvPr/>
            </p:nvCxnSpPr>
            <p:spPr>
              <a:xfrm>
                <a:off x="606318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36" name="Google Shape;236;p20"/>
              <p:cNvCxnSpPr>
                <a:stCxn id="228" idx="2"/>
                <a:endCxn id="227" idx="3"/>
              </p:cNvCxnSpPr>
              <p:nvPr/>
            </p:nvCxnSpPr>
            <p:spPr>
              <a:xfrm flipH="1">
                <a:off x="584658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237" name="Google Shape;237;p20"/>
              <p:cNvCxnSpPr>
                <a:stCxn id="226" idx="2"/>
                <a:endCxn id="227" idx="0"/>
              </p:cNvCxnSpPr>
              <p:nvPr/>
            </p:nvCxnSpPr>
            <p:spPr>
              <a:xfrm>
                <a:off x="562985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238" name="Google Shape;238;p20"/>
              <p:cNvCxnSpPr>
                <a:stCxn id="224" idx="3"/>
                <a:endCxn id="227" idx="1"/>
              </p:cNvCxnSpPr>
              <p:nvPr/>
            </p:nvCxnSpPr>
            <p:spPr>
              <a:xfrm rot="10800000" flipH="1">
                <a:off x="502207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239" name="Google Shape;239;p20"/>
              <p:cNvCxnSpPr>
                <a:stCxn id="227" idx="2"/>
                <a:endCxn id="230" idx="0"/>
              </p:cNvCxnSpPr>
              <p:nvPr/>
            </p:nvCxnSpPr>
            <p:spPr>
              <a:xfrm>
                <a:off x="570671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240" name="Google Shape;240;p20"/>
              <p:cNvSpPr txBox="1"/>
              <p:nvPr/>
            </p:nvSpPr>
            <p:spPr>
              <a:xfrm>
                <a:off x="5021974" y="2482950"/>
                <a:ext cx="1466700" cy="387900"/>
              </a:xfrm>
              <a:prstGeom prst="rect">
                <a:avLst/>
              </a:prstGeom>
              <a:noFill/>
              <a:ln>
                <a:noFill/>
              </a:ln>
            </p:spPr>
            <p:txBody>
              <a:bodyPr spcFirstLastPara="1" wrap="square" lIns="121900" tIns="121900" rIns="121900" bIns="121900" anchor="t" anchorCtr="0">
                <a:noAutofit/>
              </a:bodyPr>
              <a:lstStyle/>
              <a:p>
                <a:pPr defTabSz="1219140"/>
                <a:r>
                  <a:rPr lang="en" sz="2400"/>
                  <a:t>Postorder: []</a:t>
                </a:r>
                <a:endParaRPr sz="2400"/>
              </a:p>
            </p:txBody>
          </p:sp>
        </p:grpSp>
        <p:sp>
          <p:nvSpPr>
            <p:cNvPr id="241" name="Google Shape;241;p20"/>
            <p:cNvSpPr txBox="1"/>
            <p:nvPr/>
          </p:nvSpPr>
          <p:spPr>
            <a:xfrm>
              <a:off x="5410788" y="1547586"/>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242" name="Google Shape;242;p20"/>
          <p:cNvGrpSpPr/>
          <p:nvPr/>
        </p:nvGrpSpPr>
        <p:grpSpPr>
          <a:xfrm>
            <a:off x="9238852" y="911064"/>
            <a:ext cx="2835048" cy="2916736"/>
            <a:chOff x="6929139" y="683298"/>
            <a:chExt cx="2126286" cy="2187552"/>
          </a:xfrm>
        </p:grpSpPr>
        <p:grpSp>
          <p:nvGrpSpPr>
            <p:cNvPr id="243" name="Google Shape;243;p20"/>
            <p:cNvGrpSpPr/>
            <p:nvPr/>
          </p:nvGrpSpPr>
          <p:grpSpPr>
            <a:xfrm>
              <a:off x="6929139" y="683298"/>
              <a:ext cx="1978635" cy="1752301"/>
              <a:chOff x="6929139" y="683298"/>
              <a:chExt cx="1978635" cy="1752301"/>
            </a:xfrm>
          </p:grpSpPr>
          <p:sp>
            <p:nvSpPr>
              <p:cNvPr id="244" name="Google Shape;244;p20"/>
              <p:cNvSpPr/>
              <p:nvPr/>
            </p:nvSpPr>
            <p:spPr>
              <a:xfrm>
                <a:off x="69291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245" name="Google Shape;245;p20"/>
              <p:cNvSpPr/>
              <p:nvPr/>
            </p:nvSpPr>
            <p:spPr>
              <a:xfrm>
                <a:off x="70845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246" name="Google Shape;246;p20"/>
              <p:cNvSpPr/>
              <p:nvPr/>
            </p:nvSpPr>
            <p:spPr>
              <a:xfrm>
                <a:off x="7854120" y="6832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247" name="Google Shape;247;p20"/>
              <p:cNvSpPr/>
              <p:nvPr/>
            </p:nvSpPr>
            <p:spPr>
              <a:xfrm>
                <a:off x="7832103" y="11977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248" name="Google Shape;248;p20"/>
              <p:cNvSpPr/>
              <p:nvPr/>
            </p:nvSpPr>
            <p:spPr>
              <a:xfrm>
                <a:off x="790896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249" name="Google Shape;249;p20"/>
              <p:cNvSpPr/>
              <p:nvPr/>
            </p:nvSpPr>
            <p:spPr>
              <a:xfrm>
                <a:off x="8265439" y="11344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250" name="Google Shape;250;p20"/>
              <p:cNvSpPr/>
              <p:nvPr/>
            </p:nvSpPr>
            <p:spPr>
              <a:xfrm>
                <a:off x="8628174" y="17261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251" name="Google Shape;251;p20"/>
              <p:cNvSpPr/>
              <p:nvPr/>
            </p:nvSpPr>
            <p:spPr>
              <a:xfrm>
                <a:off x="7976066" y="22078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252" name="Google Shape;252;p20"/>
              <p:cNvCxnSpPr>
                <a:stCxn id="244" idx="2"/>
                <a:endCxn id="245" idx="0"/>
              </p:cNvCxnSpPr>
              <p:nvPr/>
            </p:nvCxnSpPr>
            <p:spPr>
              <a:xfrm>
                <a:off x="70689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53" name="Google Shape;253;p20"/>
              <p:cNvCxnSpPr>
                <a:stCxn id="244" idx="3"/>
                <a:endCxn id="247" idx="1"/>
              </p:cNvCxnSpPr>
              <p:nvPr/>
            </p:nvCxnSpPr>
            <p:spPr>
              <a:xfrm>
                <a:off x="72087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54" name="Google Shape;254;p20"/>
              <p:cNvCxnSpPr>
                <a:stCxn id="246" idx="2"/>
                <a:endCxn id="247" idx="0"/>
              </p:cNvCxnSpPr>
              <p:nvPr/>
            </p:nvCxnSpPr>
            <p:spPr>
              <a:xfrm flipH="1">
                <a:off x="7972020"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55" name="Google Shape;255;p20"/>
              <p:cNvCxnSpPr>
                <a:stCxn id="246" idx="3"/>
                <a:endCxn id="249" idx="0"/>
              </p:cNvCxnSpPr>
              <p:nvPr/>
            </p:nvCxnSpPr>
            <p:spPr>
              <a:xfrm>
                <a:off x="8133720"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56" name="Google Shape;256;p20"/>
              <p:cNvCxnSpPr>
                <a:stCxn id="249" idx="2"/>
                <a:endCxn id="250" idx="0"/>
              </p:cNvCxnSpPr>
              <p:nvPr/>
            </p:nvCxnSpPr>
            <p:spPr>
              <a:xfrm>
                <a:off x="84052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57" name="Google Shape;257;p20"/>
              <p:cNvCxnSpPr>
                <a:stCxn id="249" idx="2"/>
                <a:endCxn id="248" idx="3"/>
              </p:cNvCxnSpPr>
              <p:nvPr/>
            </p:nvCxnSpPr>
            <p:spPr>
              <a:xfrm flipH="1">
                <a:off x="81886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258" name="Google Shape;258;p20"/>
              <p:cNvCxnSpPr>
                <a:stCxn id="247" idx="2"/>
                <a:endCxn id="248" idx="0"/>
              </p:cNvCxnSpPr>
              <p:nvPr/>
            </p:nvCxnSpPr>
            <p:spPr>
              <a:xfrm>
                <a:off x="79719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259" name="Google Shape;259;p20"/>
              <p:cNvCxnSpPr>
                <a:stCxn id="245" idx="3"/>
                <a:endCxn id="248" idx="1"/>
              </p:cNvCxnSpPr>
              <p:nvPr/>
            </p:nvCxnSpPr>
            <p:spPr>
              <a:xfrm rot="10800000" flipH="1">
                <a:off x="73641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260" name="Google Shape;260;p20"/>
              <p:cNvCxnSpPr>
                <a:stCxn id="248" idx="2"/>
                <a:endCxn id="251" idx="0"/>
              </p:cNvCxnSpPr>
              <p:nvPr/>
            </p:nvCxnSpPr>
            <p:spPr>
              <a:xfrm>
                <a:off x="8048761" y="1975766"/>
                <a:ext cx="67200" cy="232200"/>
              </a:xfrm>
              <a:prstGeom prst="straightConnector1">
                <a:avLst/>
              </a:prstGeom>
              <a:noFill/>
              <a:ln w="19050" cap="flat" cmpd="sng">
                <a:solidFill>
                  <a:schemeClr val="dk2"/>
                </a:solidFill>
                <a:prstDash val="solid"/>
                <a:round/>
                <a:headEnd type="none" w="med" len="med"/>
                <a:tailEnd type="triangle" w="med" len="med"/>
              </a:ln>
            </p:spPr>
          </p:cxnSp>
        </p:grpSp>
        <p:sp>
          <p:nvSpPr>
            <p:cNvPr id="261" name="Google Shape;261;p20"/>
            <p:cNvSpPr txBox="1"/>
            <p:nvPr/>
          </p:nvSpPr>
          <p:spPr>
            <a:xfrm>
              <a:off x="7364025" y="2482950"/>
              <a:ext cx="16914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a:t>
              </a:r>
              <a:endParaRPr sz="2400"/>
            </a:p>
          </p:txBody>
        </p:sp>
        <p:sp>
          <p:nvSpPr>
            <p:cNvPr id="262" name="Google Shape;262;p20"/>
            <p:cNvSpPr txBox="1"/>
            <p:nvPr/>
          </p:nvSpPr>
          <p:spPr>
            <a:xfrm>
              <a:off x="7849188" y="1972642"/>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263" name="Google Shape;263;p20"/>
          <p:cNvGrpSpPr/>
          <p:nvPr/>
        </p:nvGrpSpPr>
        <p:grpSpPr>
          <a:xfrm>
            <a:off x="302469" y="3860664"/>
            <a:ext cx="2743064" cy="2916736"/>
            <a:chOff x="226852" y="2895498"/>
            <a:chExt cx="2057298" cy="2187552"/>
          </a:xfrm>
        </p:grpSpPr>
        <p:grpSp>
          <p:nvGrpSpPr>
            <p:cNvPr id="264" name="Google Shape;264;p20"/>
            <p:cNvGrpSpPr/>
            <p:nvPr/>
          </p:nvGrpSpPr>
          <p:grpSpPr>
            <a:xfrm>
              <a:off x="226852" y="2895498"/>
              <a:ext cx="1978635" cy="1752301"/>
              <a:chOff x="226852" y="2895498"/>
              <a:chExt cx="1978635" cy="1752301"/>
            </a:xfrm>
          </p:grpSpPr>
          <p:sp>
            <p:nvSpPr>
              <p:cNvPr id="265" name="Google Shape;265;p20"/>
              <p:cNvSpPr/>
              <p:nvPr/>
            </p:nvSpPr>
            <p:spPr>
              <a:xfrm>
                <a:off x="226852" y="34099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266" name="Google Shape;266;p20"/>
              <p:cNvSpPr/>
              <p:nvPr/>
            </p:nvSpPr>
            <p:spPr>
              <a:xfrm>
                <a:off x="382241" y="40256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267" name="Google Shape;267;p20"/>
              <p:cNvSpPr/>
              <p:nvPr/>
            </p:nvSpPr>
            <p:spPr>
              <a:xfrm>
                <a:off x="1151832" y="28954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268" name="Google Shape;268;p20"/>
              <p:cNvSpPr/>
              <p:nvPr/>
            </p:nvSpPr>
            <p:spPr>
              <a:xfrm>
                <a:off x="1129816" y="34099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269" name="Google Shape;269;p20"/>
              <p:cNvSpPr/>
              <p:nvPr/>
            </p:nvSpPr>
            <p:spPr>
              <a:xfrm>
                <a:off x="1206674" y="39602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270" name="Google Shape;270;p20"/>
              <p:cNvSpPr/>
              <p:nvPr/>
            </p:nvSpPr>
            <p:spPr>
              <a:xfrm>
                <a:off x="1563151" y="33466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271" name="Google Shape;271;p20"/>
              <p:cNvSpPr/>
              <p:nvPr/>
            </p:nvSpPr>
            <p:spPr>
              <a:xfrm>
                <a:off x="1925887" y="39383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272" name="Google Shape;272;p20"/>
              <p:cNvSpPr/>
              <p:nvPr/>
            </p:nvSpPr>
            <p:spPr>
              <a:xfrm>
                <a:off x="1273778" y="44200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273" name="Google Shape;273;p20"/>
              <p:cNvCxnSpPr>
                <a:stCxn id="265" idx="2"/>
                <a:endCxn id="266" idx="0"/>
              </p:cNvCxnSpPr>
              <p:nvPr/>
            </p:nvCxnSpPr>
            <p:spPr>
              <a:xfrm>
                <a:off x="366652" y="36376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74" name="Google Shape;274;p20"/>
              <p:cNvCxnSpPr>
                <a:stCxn id="265" idx="3"/>
                <a:endCxn id="268" idx="1"/>
              </p:cNvCxnSpPr>
              <p:nvPr/>
            </p:nvCxnSpPr>
            <p:spPr>
              <a:xfrm>
                <a:off x="506452" y="35237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75" name="Google Shape;275;p20"/>
              <p:cNvCxnSpPr>
                <a:stCxn id="267" idx="2"/>
                <a:endCxn id="268" idx="0"/>
              </p:cNvCxnSpPr>
              <p:nvPr/>
            </p:nvCxnSpPr>
            <p:spPr>
              <a:xfrm flipH="1">
                <a:off x="1269732" y="31231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76" name="Google Shape;276;p20"/>
              <p:cNvCxnSpPr>
                <a:stCxn id="267" idx="3"/>
                <a:endCxn id="270" idx="0"/>
              </p:cNvCxnSpPr>
              <p:nvPr/>
            </p:nvCxnSpPr>
            <p:spPr>
              <a:xfrm>
                <a:off x="1431432" y="30093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77" name="Google Shape;277;p20"/>
              <p:cNvCxnSpPr>
                <a:stCxn id="270" idx="2"/>
                <a:endCxn id="271" idx="0"/>
              </p:cNvCxnSpPr>
              <p:nvPr/>
            </p:nvCxnSpPr>
            <p:spPr>
              <a:xfrm>
                <a:off x="1702951" y="35743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78" name="Google Shape;278;p20"/>
              <p:cNvCxnSpPr>
                <a:stCxn id="270" idx="2"/>
                <a:endCxn id="269" idx="3"/>
              </p:cNvCxnSpPr>
              <p:nvPr/>
            </p:nvCxnSpPr>
            <p:spPr>
              <a:xfrm flipH="1">
                <a:off x="1486351" y="35743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279" name="Google Shape;279;p20"/>
              <p:cNvCxnSpPr>
                <a:stCxn id="268" idx="2"/>
                <a:endCxn id="269" idx="0"/>
              </p:cNvCxnSpPr>
              <p:nvPr/>
            </p:nvCxnSpPr>
            <p:spPr>
              <a:xfrm>
                <a:off x="1269616" y="36376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280" name="Google Shape;280;p20"/>
              <p:cNvCxnSpPr>
                <a:stCxn id="266" idx="3"/>
                <a:endCxn id="269" idx="1"/>
              </p:cNvCxnSpPr>
              <p:nvPr/>
            </p:nvCxnSpPr>
            <p:spPr>
              <a:xfrm rot="10800000" flipH="1">
                <a:off x="661841" y="40741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281" name="Google Shape;281;p20"/>
              <p:cNvCxnSpPr>
                <a:stCxn id="269" idx="2"/>
                <a:endCxn id="272" idx="0"/>
              </p:cNvCxnSpPr>
              <p:nvPr/>
            </p:nvCxnSpPr>
            <p:spPr>
              <a:xfrm>
                <a:off x="1346474" y="4187966"/>
                <a:ext cx="67200" cy="232200"/>
              </a:xfrm>
              <a:prstGeom prst="straightConnector1">
                <a:avLst/>
              </a:prstGeom>
              <a:noFill/>
              <a:ln w="19050" cap="flat" cmpd="sng">
                <a:solidFill>
                  <a:schemeClr val="dk2"/>
                </a:solidFill>
                <a:prstDash val="solid"/>
                <a:round/>
                <a:headEnd type="none" w="med" len="med"/>
                <a:tailEnd type="triangle" w="med" len="med"/>
              </a:ln>
            </p:spPr>
          </p:cxnSp>
        </p:grpSp>
        <p:sp>
          <p:nvSpPr>
            <p:cNvPr id="282" name="Google Shape;282;p20"/>
            <p:cNvSpPr txBox="1"/>
            <p:nvPr/>
          </p:nvSpPr>
          <p:spPr>
            <a:xfrm>
              <a:off x="280750" y="4695150"/>
              <a:ext cx="20034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 4]</a:t>
              </a:r>
              <a:endParaRPr sz="2400"/>
            </a:p>
          </p:txBody>
        </p:sp>
        <p:sp>
          <p:nvSpPr>
            <p:cNvPr id="283" name="Google Shape;283;p20"/>
            <p:cNvSpPr txBox="1"/>
            <p:nvPr/>
          </p:nvSpPr>
          <p:spPr>
            <a:xfrm>
              <a:off x="1065825" y="3733984"/>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284" name="Google Shape;284;p20"/>
          <p:cNvGrpSpPr/>
          <p:nvPr/>
        </p:nvGrpSpPr>
        <p:grpSpPr>
          <a:xfrm>
            <a:off x="3289903" y="3890931"/>
            <a:ext cx="2743064" cy="2916736"/>
            <a:chOff x="2467427" y="2918198"/>
            <a:chExt cx="2057298" cy="2187552"/>
          </a:xfrm>
        </p:grpSpPr>
        <p:grpSp>
          <p:nvGrpSpPr>
            <p:cNvPr id="285" name="Google Shape;285;p20"/>
            <p:cNvGrpSpPr/>
            <p:nvPr/>
          </p:nvGrpSpPr>
          <p:grpSpPr>
            <a:xfrm>
              <a:off x="2467427" y="2918198"/>
              <a:ext cx="1978635" cy="1752301"/>
              <a:chOff x="2543627" y="2918198"/>
              <a:chExt cx="1978635" cy="1752301"/>
            </a:xfrm>
          </p:grpSpPr>
          <p:sp>
            <p:nvSpPr>
              <p:cNvPr id="286" name="Google Shape;286;p20"/>
              <p:cNvSpPr/>
              <p:nvPr/>
            </p:nvSpPr>
            <p:spPr>
              <a:xfrm>
                <a:off x="2543627" y="34326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287" name="Google Shape;287;p20"/>
              <p:cNvSpPr/>
              <p:nvPr/>
            </p:nvSpPr>
            <p:spPr>
              <a:xfrm>
                <a:off x="2699016" y="40483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288" name="Google Shape;288;p20"/>
              <p:cNvSpPr/>
              <p:nvPr/>
            </p:nvSpPr>
            <p:spPr>
              <a:xfrm>
                <a:off x="3468607" y="29181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289" name="Google Shape;289;p20"/>
              <p:cNvSpPr/>
              <p:nvPr/>
            </p:nvSpPr>
            <p:spPr>
              <a:xfrm>
                <a:off x="3446591" y="34326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290" name="Google Shape;290;p20"/>
              <p:cNvSpPr/>
              <p:nvPr/>
            </p:nvSpPr>
            <p:spPr>
              <a:xfrm>
                <a:off x="3523448" y="39829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291" name="Google Shape;291;p20"/>
              <p:cNvSpPr/>
              <p:nvPr/>
            </p:nvSpPr>
            <p:spPr>
              <a:xfrm>
                <a:off x="3879926" y="33693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292" name="Google Shape;292;p20"/>
              <p:cNvSpPr/>
              <p:nvPr/>
            </p:nvSpPr>
            <p:spPr>
              <a:xfrm>
                <a:off x="4242662" y="39610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293" name="Google Shape;293;p20"/>
              <p:cNvSpPr/>
              <p:nvPr/>
            </p:nvSpPr>
            <p:spPr>
              <a:xfrm>
                <a:off x="3590554" y="44427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294" name="Google Shape;294;p20"/>
              <p:cNvCxnSpPr>
                <a:stCxn id="286" idx="2"/>
                <a:endCxn id="287" idx="0"/>
              </p:cNvCxnSpPr>
              <p:nvPr/>
            </p:nvCxnSpPr>
            <p:spPr>
              <a:xfrm>
                <a:off x="2683427" y="36603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295" name="Google Shape;295;p20"/>
              <p:cNvCxnSpPr>
                <a:stCxn id="286" idx="3"/>
                <a:endCxn id="289" idx="1"/>
              </p:cNvCxnSpPr>
              <p:nvPr/>
            </p:nvCxnSpPr>
            <p:spPr>
              <a:xfrm>
                <a:off x="2823227" y="35464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296" name="Google Shape;296;p20"/>
              <p:cNvCxnSpPr>
                <a:stCxn id="288" idx="2"/>
                <a:endCxn id="289" idx="0"/>
              </p:cNvCxnSpPr>
              <p:nvPr/>
            </p:nvCxnSpPr>
            <p:spPr>
              <a:xfrm flipH="1">
                <a:off x="3586507" y="31458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297" name="Google Shape;297;p20"/>
              <p:cNvCxnSpPr>
                <a:stCxn id="288" idx="3"/>
                <a:endCxn id="291" idx="0"/>
              </p:cNvCxnSpPr>
              <p:nvPr/>
            </p:nvCxnSpPr>
            <p:spPr>
              <a:xfrm>
                <a:off x="3748207" y="30320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298" name="Google Shape;298;p20"/>
              <p:cNvCxnSpPr>
                <a:stCxn id="291" idx="2"/>
                <a:endCxn id="292" idx="0"/>
              </p:cNvCxnSpPr>
              <p:nvPr/>
            </p:nvCxnSpPr>
            <p:spPr>
              <a:xfrm>
                <a:off x="4019726" y="35970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299" name="Google Shape;299;p20"/>
              <p:cNvCxnSpPr>
                <a:stCxn id="291" idx="2"/>
                <a:endCxn id="290" idx="3"/>
              </p:cNvCxnSpPr>
              <p:nvPr/>
            </p:nvCxnSpPr>
            <p:spPr>
              <a:xfrm flipH="1">
                <a:off x="3803126" y="35970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00" name="Google Shape;300;p20"/>
              <p:cNvCxnSpPr>
                <a:stCxn id="289" idx="2"/>
                <a:endCxn id="290" idx="0"/>
              </p:cNvCxnSpPr>
              <p:nvPr/>
            </p:nvCxnSpPr>
            <p:spPr>
              <a:xfrm>
                <a:off x="3586391" y="36603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01" name="Google Shape;301;p20"/>
              <p:cNvCxnSpPr>
                <a:stCxn id="287" idx="3"/>
                <a:endCxn id="290" idx="1"/>
              </p:cNvCxnSpPr>
              <p:nvPr/>
            </p:nvCxnSpPr>
            <p:spPr>
              <a:xfrm rot="10800000" flipH="1">
                <a:off x="2978616" y="40968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02" name="Google Shape;302;p20"/>
              <p:cNvCxnSpPr>
                <a:stCxn id="290" idx="2"/>
                <a:endCxn id="293" idx="0"/>
              </p:cNvCxnSpPr>
              <p:nvPr/>
            </p:nvCxnSpPr>
            <p:spPr>
              <a:xfrm>
                <a:off x="3663248" y="4210666"/>
                <a:ext cx="67200" cy="232200"/>
              </a:xfrm>
              <a:prstGeom prst="straightConnector1">
                <a:avLst/>
              </a:prstGeom>
              <a:noFill/>
              <a:ln w="19050" cap="flat" cmpd="sng">
                <a:solidFill>
                  <a:schemeClr val="dk2"/>
                </a:solidFill>
                <a:prstDash val="solid"/>
                <a:round/>
                <a:headEnd type="none" w="med" len="med"/>
                <a:tailEnd type="triangle" w="med" len="med"/>
              </a:ln>
            </p:spPr>
          </p:cxnSp>
        </p:grpSp>
        <p:sp>
          <p:nvSpPr>
            <p:cNvPr id="303" name="Google Shape;303;p20"/>
            <p:cNvSpPr txBox="1"/>
            <p:nvPr/>
          </p:nvSpPr>
          <p:spPr>
            <a:xfrm>
              <a:off x="2521325" y="4717850"/>
              <a:ext cx="20034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 4, 1]</a:t>
              </a:r>
              <a:endParaRPr sz="2400"/>
            </a:p>
          </p:txBody>
        </p:sp>
        <p:sp>
          <p:nvSpPr>
            <p:cNvPr id="304" name="Google Shape;304;p20"/>
            <p:cNvSpPr txBox="1"/>
            <p:nvPr/>
          </p:nvSpPr>
          <p:spPr>
            <a:xfrm>
              <a:off x="2473811" y="3833114"/>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305" name="Google Shape;305;p20"/>
          <p:cNvGrpSpPr/>
          <p:nvPr/>
        </p:nvGrpSpPr>
        <p:grpSpPr>
          <a:xfrm>
            <a:off x="6116150" y="3881707"/>
            <a:ext cx="2763103" cy="2907495"/>
            <a:chOff x="4587111" y="2911279"/>
            <a:chExt cx="2072327" cy="2180621"/>
          </a:xfrm>
        </p:grpSpPr>
        <p:grpSp>
          <p:nvGrpSpPr>
            <p:cNvPr id="306" name="Google Shape;306;p20"/>
            <p:cNvGrpSpPr/>
            <p:nvPr/>
          </p:nvGrpSpPr>
          <p:grpSpPr>
            <a:xfrm>
              <a:off x="4668427" y="2911279"/>
              <a:ext cx="1978635" cy="1752301"/>
              <a:chOff x="2543627" y="2918198"/>
              <a:chExt cx="1978635" cy="1752301"/>
            </a:xfrm>
          </p:grpSpPr>
          <p:sp>
            <p:nvSpPr>
              <p:cNvPr id="307" name="Google Shape;307;p20"/>
              <p:cNvSpPr/>
              <p:nvPr/>
            </p:nvSpPr>
            <p:spPr>
              <a:xfrm>
                <a:off x="2543627" y="34326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308" name="Google Shape;308;p20"/>
              <p:cNvSpPr/>
              <p:nvPr/>
            </p:nvSpPr>
            <p:spPr>
              <a:xfrm>
                <a:off x="2699016" y="40483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309" name="Google Shape;309;p20"/>
              <p:cNvSpPr/>
              <p:nvPr/>
            </p:nvSpPr>
            <p:spPr>
              <a:xfrm>
                <a:off x="3468607" y="29181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310" name="Google Shape;310;p20"/>
              <p:cNvSpPr/>
              <p:nvPr/>
            </p:nvSpPr>
            <p:spPr>
              <a:xfrm>
                <a:off x="3446591" y="343260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311" name="Google Shape;311;p20"/>
              <p:cNvSpPr/>
              <p:nvPr/>
            </p:nvSpPr>
            <p:spPr>
              <a:xfrm>
                <a:off x="3523448" y="39829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312" name="Google Shape;312;p20"/>
              <p:cNvSpPr/>
              <p:nvPr/>
            </p:nvSpPr>
            <p:spPr>
              <a:xfrm>
                <a:off x="3879926" y="33693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313" name="Google Shape;313;p20"/>
              <p:cNvSpPr/>
              <p:nvPr/>
            </p:nvSpPr>
            <p:spPr>
              <a:xfrm>
                <a:off x="4242662" y="39610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314" name="Google Shape;314;p20"/>
              <p:cNvSpPr/>
              <p:nvPr/>
            </p:nvSpPr>
            <p:spPr>
              <a:xfrm>
                <a:off x="3590554" y="44427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315" name="Google Shape;315;p20"/>
              <p:cNvCxnSpPr>
                <a:stCxn id="307" idx="2"/>
                <a:endCxn id="308" idx="0"/>
              </p:cNvCxnSpPr>
              <p:nvPr/>
            </p:nvCxnSpPr>
            <p:spPr>
              <a:xfrm>
                <a:off x="2683427" y="36603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16" name="Google Shape;316;p20"/>
              <p:cNvCxnSpPr>
                <a:stCxn id="307" idx="3"/>
                <a:endCxn id="310" idx="1"/>
              </p:cNvCxnSpPr>
              <p:nvPr/>
            </p:nvCxnSpPr>
            <p:spPr>
              <a:xfrm>
                <a:off x="2823227" y="35464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17" name="Google Shape;317;p20"/>
              <p:cNvCxnSpPr>
                <a:stCxn id="309" idx="2"/>
                <a:endCxn id="310" idx="0"/>
              </p:cNvCxnSpPr>
              <p:nvPr/>
            </p:nvCxnSpPr>
            <p:spPr>
              <a:xfrm flipH="1">
                <a:off x="3586507" y="31458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18" name="Google Shape;318;p20"/>
              <p:cNvCxnSpPr>
                <a:stCxn id="309" idx="3"/>
                <a:endCxn id="312" idx="0"/>
              </p:cNvCxnSpPr>
              <p:nvPr/>
            </p:nvCxnSpPr>
            <p:spPr>
              <a:xfrm>
                <a:off x="3748207" y="30320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19" name="Google Shape;319;p20"/>
              <p:cNvCxnSpPr>
                <a:stCxn id="312" idx="2"/>
                <a:endCxn id="313" idx="0"/>
              </p:cNvCxnSpPr>
              <p:nvPr/>
            </p:nvCxnSpPr>
            <p:spPr>
              <a:xfrm>
                <a:off x="4019726" y="35970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20" name="Google Shape;320;p20"/>
              <p:cNvCxnSpPr>
                <a:stCxn id="312" idx="2"/>
                <a:endCxn id="311" idx="3"/>
              </p:cNvCxnSpPr>
              <p:nvPr/>
            </p:nvCxnSpPr>
            <p:spPr>
              <a:xfrm flipH="1">
                <a:off x="3803126" y="35970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21" name="Google Shape;321;p20"/>
              <p:cNvCxnSpPr>
                <a:stCxn id="310" idx="2"/>
                <a:endCxn id="311" idx="0"/>
              </p:cNvCxnSpPr>
              <p:nvPr/>
            </p:nvCxnSpPr>
            <p:spPr>
              <a:xfrm>
                <a:off x="3586391" y="36603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22" name="Google Shape;322;p20"/>
              <p:cNvCxnSpPr>
                <a:stCxn id="308" idx="3"/>
                <a:endCxn id="311" idx="1"/>
              </p:cNvCxnSpPr>
              <p:nvPr/>
            </p:nvCxnSpPr>
            <p:spPr>
              <a:xfrm rot="10800000" flipH="1">
                <a:off x="2978616" y="40968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23" name="Google Shape;323;p20"/>
              <p:cNvCxnSpPr>
                <a:stCxn id="311" idx="2"/>
                <a:endCxn id="314" idx="0"/>
              </p:cNvCxnSpPr>
              <p:nvPr/>
            </p:nvCxnSpPr>
            <p:spPr>
              <a:xfrm>
                <a:off x="3663248" y="4210666"/>
                <a:ext cx="67200" cy="232200"/>
              </a:xfrm>
              <a:prstGeom prst="straightConnector1">
                <a:avLst/>
              </a:prstGeom>
              <a:noFill/>
              <a:ln w="19050" cap="flat" cmpd="sng">
                <a:solidFill>
                  <a:schemeClr val="dk2"/>
                </a:solidFill>
                <a:prstDash val="solid"/>
                <a:round/>
                <a:headEnd type="none" w="med" len="med"/>
                <a:tailEnd type="triangle" w="med" len="med"/>
              </a:ln>
            </p:spPr>
          </p:cxnSp>
        </p:grpSp>
        <p:sp>
          <p:nvSpPr>
            <p:cNvPr id="324" name="Google Shape;324;p20"/>
            <p:cNvSpPr txBox="1"/>
            <p:nvPr/>
          </p:nvSpPr>
          <p:spPr>
            <a:xfrm>
              <a:off x="4587111" y="3198380"/>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sp>
          <p:nvSpPr>
            <p:cNvPr id="325" name="Google Shape;325;p20"/>
            <p:cNvSpPr txBox="1"/>
            <p:nvPr/>
          </p:nvSpPr>
          <p:spPr>
            <a:xfrm>
              <a:off x="4656038" y="4704000"/>
              <a:ext cx="20034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 4, 1]</a:t>
              </a:r>
              <a:endParaRPr sz="2400"/>
            </a:p>
          </p:txBody>
        </p:sp>
      </p:grpSp>
      <p:grpSp>
        <p:nvGrpSpPr>
          <p:cNvPr id="326" name="Google Shape;326;p20"/>
          <p:cNvGrpSpPr/>
          <p:nvPr/>
        </p:nvGrpSpPr>
        <p:grpSpPr>
          <a:xfrm>
            <a:off x="9238851" y="3877081"/>
            <a:ext cx="2819397" cy="2830471"/>
            <a:chOff x="6929139" y="2907809"/>
            <a:chExt cx="2114548" cy="2122853"/>
          </a:xfrm>
        </p:grpSpPr>
        <p:grpSp>
          <p:nvGrpSpPr>
            <p:cNvPr id="327" name="Google Shape;327;p20"/>
            <p:cNvGrpSpPr/>
            <p:nvPr/>
          </p:nvGrpSpPr>
          <p:grpSpPr>
            <a:xfrm>
              <a:off x="7065052" y="2907809"/>
              <a:ext cx="1978635" cy="1752301"/>
              <a:chOff x="2543627" y="2918198"/>
              <a:chExt cx="1978635" cy="1752301"/>
            </a:xfrm>
          </p:grpSpPr>
          <p:sp>
            <p:nvSpPr>
              <p:cNvPr id="328" name="Google Shape;328;p20"/>
              <p:cNvSpPr/>
              <p:nvPr/>
            </p:nvSpPr>
            <p:spPr>
              <a:xfrm>
                <a:off x="2543627" y="34326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329" name="Google Shape;329;p20"/>
              <p:cNvSpPr/>
              <p:nvPr/>
            </p:nvSpPr>
            <p:spPr>
              <a:xfrm>
                <a:off x="2699016" y="40483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330" name="Google Shape;330;p20"/>
              <p:cNvSpPr/>
              <p:nvPr/>
            </p:nvSpPr>
            <p:spPr>
              <a:xfrm>
                <a:off x="3468607" y="29181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331" name="Google Shape;331;p20"/>
              <p:cNvSpPr/>
              <p:nvPr/>
            </p:nvSpPr>
            <p:spPr>
              <a:xfrm>
                <a:off x="3446591" y="34326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332" name="Google Shape;332;p20"/>
              <p:cNvSpPr/>
              <p:nvPr/>
            </p:nvSpPr>
            <p:spPr>
              <a:xfrm>
                <a:off x="3523448" y="39829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333" name="Google Shape;333;p20"/>
              <p:cNvSpPr/>
              <p:nvPr/>
            </p:nvSpPr>
            <p:spPr>
              <a:xfrm>
                <a:off x="3879926" y="33693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334" name="Google Shape;334;p20"/>
              <p:cNvSpPr/>
              <p:nvPr/>
            </p:nvSpPr>
            <p:spPr>
              <a:xfrm>
                <a:off x="4242662" y="39610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335" name="Google Shape;335;p20"/>
              <p:cNvSpPr/>
              <p:nvPr/>
            </p:nvSpPr>
            <p:spPr>
              <a:xfrm>
                <a:off x="3590554" y="44427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336" name="Google Shape;336;p20"/>
              <p:cNvCxnSpPr>
                <a:stCxn id="328" idx="2"/>
                <a:endCxn id="329" idx="0"/>
              </p:cNvCxnSpPr>
              <p:nvPr/>
            </p:nvCxnSpPr>
            <p:spPr>
              <a:xfrm>
                <a:off x="2683427" y="36603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37" name="Google Shape;337;p20"/>
              <p:cNvCxnSpPr>
                <a:stCxn id="328" idx="3"/>
                <a:endCxn id="331" idx="1"/>
              </p:cNvCxnSpPr>
              <p:nvPr/>
            </p:nvCxnSpPr>
            <p:spPr>
              <a:xfrm>
                <a:off x="2823227" y="35464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38" name="Google Shape;338;p20"/>
              <p:cNvCxnSpPr>
                <a:stCxn id="330" idx="2"/>
                <a:endCxn id="331" idx="0"/>
              </p:cNvCxnSpPr>
              <p:nvPr/>
            </p:nvCxnSpPr>
            <p:spPr>
              <a:xfrm flipH="1">
                <a:off x="3586507" y="31458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39" name="Google Shape;339;p20"/>
              <p:cNvCxnSpPr>
                <a:stCxn id="330" idx="3"/>
                <a:endCxn id="333" idx="0"/>
              </p:cNvCxnSpPr>
              <p:nvPr/>
            </p:nvCxnSpPr>
            <p:spPr>
              <a:xfrm>
                <a:off x="3748207" y="30320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40" name="Google Shape;340;p20"/>
              <p:cNvCxnSpPr>
                <a:stCxn id="333" idx="2"/>
                <a:endCxn id="334" idx="0"/>
              </p:cNvCxnSpPr>
              <p:nvPr/>
            </p:nvCxnSpPr>
            <p:spPr>
              <a:xfrm>
                <a:off x="4019726" y="35970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41" name="Google Shape;341;p20"/>
              <p:cNvCxnSpPr>
                <a:stCxn id="333" idx="2"/>
                <a:endCxn id="332" idx="3"/>
              </p:cNvCxnSpPr>
              <p:nvPr/>
            </p:nvCxnSpPr>
            <p:spPr>
              <a:xfrm flipH="1">
                <a:off x="3803126" y="35970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42" name="Google Shape;342;p20"/>
              <p:cNvCxnSpPr>
                <a:stCxn id="331" idx="2"/>
                <a:endCxn id="332" idx="0"/>
              </p:cNvCxnSpPr>
              <p:nvPr/>
            </p:nvCxnSpPr>
            <p:spPr>
              <a:xfrm>
                <a:off x="3586391" y="36603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43" name="Google Shape;343;p20"/>
              <p:cNvCxnSpPr>
                <a:stCxn id="329" idx="3"/>
                <a:endCxn id="332" idx="1"/>
              </p:cNvCxnSpPr>
              <p:nvPr/>
            </p:nvCxnSpPr>
            <p:spPr>
              <a:xfrm rot="10800000" flipH="1">
                <a:off x="2978616" y="40968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44" name="Google Shape;344;p20"/>
              <p:cNvCxnSpPr>
                <a:stCxn id="332" idx="2"/>
                <a:endCxn id="335" idx="0"/>
              </p:cNvCxnSpPr>
              <p:nvPr/>
            </p:nvCxnSpPr>
            <p:spPr>
              <a:xfrm>
                <a:off x="3663248" y="4210666"/>
                <a:ext cx="67200" cy="232200"/>
              </a:xfrm>
              <a:prstGeom prst="straightConnector1">
                <a:avLst/>
              </a:prstGeom>
              <a:noFill/>
              <a:ln w="19050" cap="flat" cmpd="sng">
                <a:solidFill>
                  <a:schemeClr val="dk2"/>
                </a:solidFill>
                <a:prstDash val="solid"/>
                <a:round/>
                <a:headEnd type="none" w="med" len="med"/>
                <a:tailEnd type="triangle" w="med" len="med"/>
              </a:ln>
            </p:spPr>
          </p:cxnSp>
        </p:grpSp>
        <p:sp>
          <p:nvSpPr>
            <p:cNvPr id="345" name="Google Shape;345;p20"/>
            <p:cNvSpPr txBox="1"/>
            <p:nvPr/>
          </p:nvSpPr>
          <p:spPr>
            <a:xfrm>
              <a:off x="7839630" y="3193919"/>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sp>
          <p:nvSpPr>
            <p:cNvPr id="346" name="Google Shape;346;p20"/>
            <p:cNvSpPr txBox="1"/>
            <p:nvPr/>
          </p:nvSpPr>
          <p:spPr>
            <a:xfrm>
              <a:off x="6929139" y="4642762"/>
              <a:ext cx="2003400" cy="387900"/>
            </a:xfrm>
            <a:prstGeom prst="rect">
              <a:avLst/>
            </a:prstGeom>
            <a:noFill/>
            <a:ln>
              <a:noFill/>
            </a:ln>
          </p:spPr>
          <p:txBody>
            <a:bodyPr spcFirstLastPara="1" wrap="square" lIns="121900" tIns="121900" rIns="121900" bIns="121900" anchor="t" anchorCtr="0">
              <a:noAutofit/>
            </a:bodyPr>
            <a:lstStyle/>
            <a:p>
              <a:pPr defTabSz="1219140"/>
              <a:r>
                <a:rPr lang="en" sz="2000" dirty="0">
                  <a:highlight>
                    <a:srgbClr val="FFFFFF"/>
                  </a:highlight>
                </a:rPr>
                <a:t>Postorder: [7, 4, 1, 3]</a:t>
              </a:r>
              <a:endParaRPr sz="2000" dirty="0">
                <a:highlight>
                  <a:srgbClr val="FFFFFF"/>
                </a:highlight>
              </a:endParaRPr>
            </a:p>
          </p:txBody>
        </p:sp>
      </p:grpSp>
      <p:sp>
        <p:nvSpPr>
          <p:cNvPr id="3" name="Title 2">
            <a:extLst>
              <a:ext uri="{FF2B5EF4-FFF2-40B4-BE49-F238E27FC236}">
                <a16:creationId xmlns:a16="http://schemas.microsoft.com/office/drawing/2014/main" id="{FF6EA9B0-EA1A-4D02-A1E9-2C7B8DC2C42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5785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1000"/>
                                        <p:tgtEl>
                                          <p:spTgt spid="2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1"/>
                                        </p:tgtEl>
                                        <p:attrNameLst>
                                          <p:attrName>style.visibility</p:attrName>
                                        </p:attrNameLst>
                                      </p:cBhvr>
                                      <p:to>
                                        <p:strVal val="visible"/>
                                      </p:to>
                                    </p:set>
                                    <p:animEffect transition="in" filter="fade">
                                      <p:cBhvr>
                                        <p:cTn id="12" dur="1000"/>
                                        <p:tgtEl>
                                          <p:spTgt spid="2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2"/>
                                        </p:tgtEl>
                                        <p:attrNameLst>
                                          <p:attrName>style.visibility</p:attrName>
                                        </p:attrNameLst>
                                      </p:cBhvr>
                                      <p:to>
                                        <p:strVal val="visible"/>
                                      </p:to>
                                    </p:set>
                                    <p:animEffect transition="in" filter="fade">
                                      <p:cBhvr>
                                        <p:cTn id="17" dur="1000"/>
                                        <p:tgtEl>
                                          <p:spTgt spid="2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3"/>
                                        </p:tgtEl>
                                        <p:attrNameLst>
                                          <p:attrName>style.visibility</p:attrName>
                                        </p:attrNameLst>
                                      </p:cBhvr>
                                      <p:to>
                                        <p:strVal val="visible"/>
                                      </p:to>
                                    </p:set>
                                    <p:animEffect transition="in" filter="fade">
                                      <p:cBhvr>
                                        <p:cTn id="22" dur="1000"/>
                                        <p:tgtEl>
                                          <p:spTgt spid="26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4"/>
                                        </p:tgtEl>
                                        <p:attrNameLst>
                                          <p:attrName>style.visibility</p:attrName>
                                        </p:attrNameLst>
                                      </p:cBhvr>
                                      <p:to>
                                        <p:strVal val="visible"/>
                                      </p:to>
                                    </p:set>
                                    <p:animEffect transition="in" filter="fade">
                                      <p:cBhvr>
                                        <p:cTn id="27" dur="1000"/>
                                        <p:tgtEl>
                                          <p:spTgt spid="28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5"/>
                                        </p:tgtEl>
                                        <p:attrNameLst>
                                          <p:attrName>style.visibility</p:attrName>
                                        </p:attrNameLst>
                                      </p:cBhvr>
                                      <p:to>
                                        <p:strVal val="visible"/>
                                      </p:to>
                                    </p:set>
                                    <p:animEffect transition="in" filter="fade">
                                      <p:cBhvr>
                                        <p:cTn id="32" dur="1000"/>
                                        <p:tgtEl>
                                          <p:spTgt spid="30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6"/>
                                        </p:tgtEl>
                                        <p:attrNameLst>
                                          <p:attrName>style.visibility</p:attrName>
                                        </p:attrNameLst>
                                      </p:cBhvr>
                                      <p:to>
                                        <p:strVal val="visible"/>
                                      </p:to>
                                    </p:set>
                                    <p:animEffect transition="in" filter="fade">
                                      <p:cBhvr>
                                        <p:cTn id="37" dur="10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1"/>
          <p:cNvSpPr txBox="1">
            <a:spLocks noGrp="1"/>
          </p:cNvSpPr>
          <p:nvPr>
            <p:ph type="title"/>
          </p:nvPr>
        </p:nvSpPr>
        <p:spPr>
          <a:xfrm>
            <a:off x="222400" y="123335"/>
            <a:ext cx="10972800" cy="660400"/>
          </a:xfrm>
          <a:prstGeom prst="rect">
            <a:avLst/>
          </a:prstGeom>
        </p:spPr>
        <p:txBody>
          <a:bodyPr spcFirstLastPara="1" vert="horz" wrap="square" lIns="121900" tIns="121900" rIns="121900" bIns="121900" rtlCol="0" anchor="b" anchorCtr="0">
            <a:noAutofit/>
          </a:bodyPr>
          <a:lstStyle/>
          <a:p>
            <a:r>
              <a:rPr lang="en"/>
              <a:t>Topological Sort (Demo 2/2)</a:t>
            </a:r>
            <a:endParaRPr/>
          </a:p>
        </p:txBody>
      </p:sp>
      <p:grpSp>
        <p:nvGrpSpPr>
          <p:cNvPr id="352" name="Google Shape;352;p21"/>
          <p:cNvGrpSpPr/>
          <p:nvPr/>
        </p:nvGrpSpPr>
        <p:grpSpPr>
          <a:xfrm>
            <a:off x="329637" y="911083"/>
            <a:ext cx="3209599" cy="2916719"/>
            <a:chOff x="247226" y="683311"/>
            <a:chExt cx="2407199" cy="2187539"/>
          </a:xfrm>
        </p:grpSpPr>
        <p:grpSp>
          <p:nvGrpSpPr>
            <p:cNvPr id="353" name="Google Shape;353;p21"/>
            <p:cNvGrpSpPr/>
            <p:nvPr/>
          </p:nvGrpSpPr>
          <p:grpSpPr>
            <a:xfrm>
              <a:off x="247226" y="683311"/>
              <a:ext cx="2407199" cy="2187539"/>
              <a:chOff x="247226" y="683311"/>
              <a:chExt cx="2407199" cy="2187539"/>
            </a:xfrm>
          </p:grpSpPr>
          <p:sp>
            <p:nvSpPr>
              <p:cNvPr id="354" name="Google Shape;354;p21"/>
              <p:cNvSpPr/>
              <p:nvPr/>
            </p:nvSpPr>
            <p:spPr>
              <a:xfrm>
                <a:off x="247226" y="119772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355" name="Google Shape;355;p21"/>
              <p:cNvSpPr/>
              <p:nvPr/>
            </p:nvSpPr>
            <p:spPr>
              <a:xfrm>
                <a:off x="402615" y="1813474"/>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356" name="Google Shape;356;p21"/>
              <p:cNvSpPr/>
              <p:nvPr/>
            </p:nvSpPr>
            <p:spPr>
              <a:xfrm>
                <a:off x="1172206" y="68331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357" name="Google Shape;357;p21"/>
              <p:cNvSpPr/>
              <p:nvPr/>
            </p:nvSpPr>
            <p:spPr>
              <a:xfrm>
                <a:off x="1150190" y="119772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358" name="Google Shape;358;p21"/>
              <p:cNvSpPr/>
              <p:nvPr/>
            </p:nvSpPr>
            <p:spPr>
              <a:xfrm>
                <a:off x="1227048" y="174807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359" name="Google Shape;359;p21"/>
              <p:cNvSpPr/>
              <p:nvPr/>
            </p:nvSpPr>
            <p:spPr>
              <a:xfrm>
                <a:off x="1583525" y="1134419"/>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360" name="Google Shape;360;p21"/>
              <p:cNvSpPr/>
              <p:nvPr/>
            </p:nvSpPr>
            <p:spPr>
              <a:xfrm>
                <a:off x="1946261" y="1726193"/>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361" name="Google Shape;361;p21"/>
              <p:cNvSpPr/>
              <p:nvPr/>
            </p:nvSpPr>
            <p:spPr>
              <a:xfrm>
                <a:off x="1294152" y="220791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362" name="Google Shape;362;p21"/>
              <p:cNvCxnSpPr>
                <a:stCxn id="354" idx="2"/>
                <a:endCxn id="355" idx="0"/>
              </p:cNvCxnSpPr>
              <p:nvPr/>
            </p:nvCxnSpPr>
            <p:spPr>
              <a:xfrm>
                <a:off x="387026" y="1425422"/>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63" name="Google Shape;363;p21"/>
              <p:cNvCxnSpPr>
                <a:stCxn id="354" idx="3"/>
                <a:endCxn id="357" idx="1"/>
              </p:cNvCxnSpPr>
              <p:nvPr/>
            </p:nvCxnSpPr>
            <p:spPr>
              <a:xfrm>
                <a:off x="526826" y="1311572"/>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64" name="Google Shape;364;p21"/>
              <p:cNvCxnSpPr>
                <a:stCxn id="356" idx="2"/>
                <a:endCxn id="357" idx="0"/>
              </p:cNvCxnSpPr>
              <p:nvPr/>
            </p:nvCxnSpPr>
            <p:spPr>
              <a:xfrm flipH="1">
                <a:off x="1290106" y="911011"/>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65" name="Google Shape;365;p21"/>
              <p:cNvCxnSpPr>
                <a:stCxn id="356" idx="3"/>
                <a:endCxn id="359" idx="0"/>
              </p:cNvCxnSpPr>
              <p:nvPr/>
            </p:nvCxnSpPr>
            <p:spPr>
              <a:xfrm>
                <a:off x="1451806" y="797161"/>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66" name="Google Shape;366;p21"/>
              <p:cNvCxnSpPr>
                <a:stCxn id="359" idx="2"/>
                <a:endCxn id="360" idx="0"/>
              </p:cNvCxnSpPr>
              <p:nvPr/>
            </p:nvCxnSpPr>
            <p:spPr>
              <a:xfrm>
                <a:off x="1723325" y="1362119"/>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67" name="Google Shape;367;p21"/>
              <p:cNvCxnSpPr>
                <a:stCxn id="359" idx="2"/>
                <a:endCxn id="358" idx="3"/>
              </p:cNvCxnSpPr>
              <p:nvPr/>
            </p:nvCxnSpPr>
            <p:spPr>
              <a:xfrm flipH="1">
                <a:off x="1506725" y="1362119"/>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68" name="Google Shape;368;p21"/>
              <p:cNvCxnSpPr>
                <a:stCxn id="357" idx="2"/>
                <a:endCxn id="358" idx="0"/>
              </p:cNvCxnSpPr>
              <p:nvPr/>
            </p:nvCxnSpPr>
            <p:spPr>
              <a:xfrm>
                <a:off x="1289990" y="1425422"/>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69" name="Google Shape;369;p21"/>
              <p:cNvCxnSpPr>
                <a:stCxn id="355" idx="3"/>
                <a:endCxn id="358" idx="1"/>
              </p:cNvCxnSpPr>
              <p:nvPr/>
            </p:nvCxnSpPr>
            <p:spPr>
              <a:xfrm rot="10800000" flipH="1">
                <a:off x="682215" y="1861924"/>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70" name="Google Shape;370;p21"/>
              <p:cNvCxnSpPr>
                <a:stCxn id="358" idx="2"/>
                <a:endCxn id="361" idx="0"/>
              </p:cNvCxnSpPr>
              <p:nvPr/>
            </p:nvCxnSpPr>
            <p:spPr>
              <a:xfrm>
                <a:off x="1366848" y="1975778"/>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371" name="Google Shape;371;p21"/>
              <p:cNvSpPr txBox="1"/>
              <p:nvPr/>
            </p:nvSpPr>
            <p:spPr>
              <a:xfrm>
                <a:off x="402625" y="2482950"/>
                <a:ext cx="22518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 4, 1, 3]</a:t>
                </a:r>
                <a:endParaRPr sz="2400"/>
              </a:p>
            </p:txBody>
          </p:sp>
        </p:grpSp>
        <p:sp>
          <p:nvSpPr>
            <p:cNvPr id="372" name="Google Shape;372;p21"/>
            <p:cNvSpPr txBox="1"/>
            <p:nvPr/>
          </p:nvSpPr>
          <p:spPr>
            <a:xfrm>
              <a:off x="1065838" y="971039"/>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373" name="Google Shape;373;p21"/>
          <p:cNvGrpSpPr/>
          <p:nvPr/>
        </p:nvGrpSpPr>
        <p:grpSpPr>
          <a:xfrm>
            <a:off x="3230769" y="911064"/>
            <a:ext cx="3259967" cy="2916736"/>
            <a:chOff x="2423075" y="683298"/>
            <a:chExt cx="2444975" cy="2187552"/>
          </a:xfrm>
        </p:grpSpPr>
        <p:grpSp>
          <p:nvGrpSpPr>
            <p:cNvPr id="374" name="Google Shape;374;p21"/>
            <p:cNvGrpSpPr/>
            <p:nvPr/>
          </p:nvGrpSpPr>
          <p:grpSpPr>
            <a:xfrm>
              <a:off x="2537939" y="683298"/>
              <a:ext cx="2330111" cy="2187552"/>
              <a:chOff x="2385539" y="683298"/>
              <a:chExt cx="2330111" cy="2187552"/>
            </a:xfrm>
          </p:grpSpPr>
          <p:sp>
            <p:nvSpPr>
              <p:cNvPr id="375" name="Google Shape;375;p21"/>
              <p:cNvSpPr/>
              <p:nvPr/>
            </p:nvSpPr>
            <p:spPr>
              <a:xfrm>
                <a:off x="23855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376" name="Google Shape;376;p21"/>
              <p:cNvSpPr/>
              <p:nvPr/>
            </p:nvSpPr>
            <p:spPr>
              <a:xfrm>
                <a:off x="25409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377" name="Google Shape;377;p21"/>
              <p:cNvSpPr/>
              <p:nvPr/>
            </p:nvSpPr>
            <p:spPr>
              <a:xfrm>
                <a:off x="3310519" y="683298"/>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378" name="Google Shape;378;p21"/>
              <p:cNvSpPr/>
              <p:nvPr/>
            </p:nvSpPr>
            <p:spPr>
              <a:xfrm>
                <a:off x="3288503"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379" name="Google Shape;379;p21"/>
              <p:cNvSpPr/>
              <p:nvPr/>
            </p:nvSpPr>
            <p:spPr>
              <a:xfrm>
                <a:off x="336536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380" name="Google Shape;380;p21"/>
              <p:cNvSpPr/>
              <p:nvPr/>
            </p:nvSpPr>
            <p:spPr>
              <a:xfrm>
                <a:off x="3721839" y="11344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381" name="Google Shape;381;p21"/>
              <p:cNvSpPr/>
              <p:nvPr/>
            </p:nvSpPr>
            <p:spPr>
              <a:xfrm>
                <a:off x="4084574" y="17261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382" name="Google Shape;382;p21"/>
              <p:cNvSpPr/>
              <p:nvPr/>
            </p:nvSpPr>
            <p:spPr>
              <a:xfrm>
                <a:off x="3432466" y="22078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383" name="Google Shape;383;p21"/>
              <p:cNvCxnSpPr>
                <a:stCxn id="375" idx="2"/>
                <a:endCxn id="376" idx="0"/>
              </p:cNvCxnSpPr>
              <p:nvPr/>
            </p:nvCxnSpPr>
            <p:spPr>
              <a:xfrm>
                <a:off x="25253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384" name="Google Shape;384;p21"/>
              <p:cNvCxnSpPr>
                <a:stCxn id="375" idx="3"/>
                <a:endCxn id="378" idx="1"/>
              </p:cNvCxnSpPr>
              <p:nvPr/>
            </p:nvCxnSpPr>
            <p:spPr>
              <a:xfrm>
                <a:off x="26651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385" name="Google Shape;385;p21"/>
              <p:cNvCxnSpPr>
                <a:stCxn id="377" idx="2"/>
                <a:endCxn id="378" idx="0"/>
              </p:cNvCxnSpPr>
              <p:nvPr/>
            </p:nvCxnSpPr>
            <p:spPr>
              <a:xfrm flipH="1">
                <a:off x="342841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386" name="Google Shape;386;p21"/>
              <p:cNvCxnSpPr>
                <a:stCxn id="377" idx="3"/>
                <a:endCxn id="380" idx="0"/>
              </p:cNvCxnSpPr>
              <p:nvPr/>
            </p:nvCxnSpPr>
            <p:spPr>
              <a:xfrm>
                <a:off x="359011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387" name="Google Shape;387;p21"/>
              <p:cNvCxnSpPr>
                <a:stCxn id="380" idx="2"/>
                <a:endCxn id="381" idx="0"/>
              </p:cNvCxnSpPr>
              <p:nvPr/>
            </p:nvCxnSpPr>
            <p:spPr>
              <a:xfrm>
                <a:off x="38616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388" name="Google Shape;388;p21"/>
              <p:cNvCxnSpPr>
                <a:stCxn id="380" idx="2"/>
                <a:endCxn id="379" idx="3"/>
              </p:cNvCxnSpPr>
              <p:nvPr/>
            </p:nvCxnSpPr>
            <p:spPr>
              <a:xfrm flipH="1">
                <a:off x="36450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389" name="Google Shape;389;p21"/>
              <p:cNvCxnSpPr>
                <a:stCxn id="378" idx="2"/>
                <a:endCxn id="379" idx="0"/>
              </p:cNvCxnSpPr>
              <p:nvPr/>
            </p:nvCxnSpPr>
            <p:spPr>
              <a:xfrm>
                <a:off x="34283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390" name="Google Shape;390;p21"/>
              <p:cNvCxnSpPr>
                <a:stCxn id="376" idx="3"/>
                <a:endCxn id="379" idx="1"/>
              </p:cNvCxnSpPr>
              <p:nvPr/>
            </p:nvCxnSpPr>
            <p:spPr>
              <a:xfrm rot="10800000" flipH="1">
                <a:off x="28205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391" name="Google Shape;391;p21"/>
              <p:cNvCxnSpPr>
                <a:stCxn id="379" idx="2"/>
                <a:endCxn id="382" idx="0"/>
              </p:cNvCxnSpPr>
              <p:nvPr/>
            </p:nvCxnSpPr>
            <p:spPr>
              <a:xfrm>
                <a:off x="350516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392" name="Google Shape;392;p21"/>
              <p:cNvSpPr txBox="1"/>
              <p:nvPr/>
            </p:nvSpPr>
            <p:spPr>
              <a:xfrm>
                <a:off x="2385550" y="2482950"/>
                <a:ext cx="23301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 4, 1, 3, 0]</a:t>
                </a:r>
                <a:endParaRPr sz="2400"/>
              </a:p>
            </p:txBody>
          </p:sp>
        </p:grpSp>
        <p:sp>
          <p:nvSpPr>
            <p:cNvPr id="393" name="Google Shape;393;p21"/>
            <p:cNvSpPr txBox="1"/>
            <p:nvPr/>
          </p:nvSpPr>
          <p:spPr>
            <a:xfrm>
              <a:off x="2423075" y="960047"/>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394" name="Google Shape;394;p21"/>
          <p:cNvGrpSpPr/>
          <p:nvPr/>
        </p:nvGrpSpPr>
        <p:grpSpPr>
          <a:xfrm>
            <a:off x="6375787" y="855392"/>
            <a:ext cx="3106815" cy="2972408"/>
            <a:chOff x="4781839" y="641544"/>
            <a:chExt cx="2330111" cy="2229306"/>
          </a:xfrm>
        </p:grpSpPr>
        <p:grpSp>
          <p:nvGrpSpPr>
            <p:cNvPr id="395" name="Google Shape;395;p21"/>
            <p:cNvGrpSpPr/>
            <p:nvPr/>
          </p:nvGrpSpPr>
          <p:grpSpPr>
            <a:xfrm>
              <a:off x="4781839" y="683298"/>
              <a:ext cx="2330111" cy="2187552"/>
              <a:chOff x="2385539" y="683298"/>
              <a:chExt cx="2330111" cy="2187552"/>
            </a:xfrm>
          </p:grpSpPr>
          <p:sp>
            <p:nvSpPr>
              <p:cNvPr id="396" name="Google Shape;396;p21"/>
              <p:cNvSpPr/>
              <p:nvPr/>
            </p:nvSpPr>
            <p:spPr>
              <a:xfrm>
                <a:off x="23855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397" name="Google Shape;397;p21"/>
              <p:cNvSpPr/>
              <p:nvPr/>
            </p:nvSpPr>
            <p:spPr>
              <a:xfrm>
                <a:off x="25409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398" name="Google Shape;398;p21"/>
              <p:cNvSpPr/>
              <p:nvPr/>
            </p:nvSpPr>
            <p:spPr>
              <a:xfrm>
                <a:off x="3310519" y="68329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399" name="Google Shape;399;p21"/>
              <p:cNvSpPr/>
              <p:nvPr/>
            </p:nvSpPr>
            <p:spPr>
              <a:xfrm>
                <a:off x="3288503"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400" name="Google Shape;400;p21"/>
              <p:cNvSpPr/>
              <p:nvPr/>
            </p:nvSpPr>
            <p:spPr>
              <a:xfrm>
                <a:off x="336536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401" name="Google Shape;401;p21"/>
              <p:cNvSpPr/>
              <p:nvPr/>
            </p:nvSpPr>
            <p:spPr>
              <a:xfrm>
                <a:off x="3721839" y="1134407"/>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402" name="Google Shape;402;p21"/>
              <p:cNvSpPr/>
              <p:nvPr/>
            </p:nvSpPr>
            <p:spPr>
              <a:xfrm>
                <a:off x="4084574" y="17261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403" name="Google Shape;403;p21"/>
              <p:cNvSpPr/>
              <p:nvPr/>
            </p:nvSpPr>
            <p:spPr>
              <a:xfrm>
                <a:off x="3432466" y="22078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404" name="Google Shape;404;p21"/>
              <p:cNvCxnSpPr>
                <a:stCxn id="396" idx="2"/>
                <a:endCxn id="397" idx="0"/>
              </p:cNvCxnSpPr>
              <p:nvPr/>
            </p:nvCxnSpPr>
            <p:spPr>
              <a:xfrm>
                <a:off x="25253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05" name="Google Shape;405;p21"/>
              <p:cNvCxnSpPr>
                <a:stCxn id="396" idx="3"/>
                <a:endCxn id="399" idx="1"/>
              </p:cNvCxnSpPr>
              <p:nvPr/>
            </p:nvCxnSpPr>
            <p:spPr>
              <a:xfrm>
                <a:off x="26651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06" name="Google Shape;406;p21"/>
              <p:cNvCxnSpPr>
                <a:stCxn id="398" idx="2"/>
                <a:endCxn id="399" idx="0"/>
              </p:cNvCxnSpPr>
              <p:nvPr/>
            </p:nvCxnSpPr>
            <p:spPr>
              <a:xfrm flipH="1">
                <a:off x="342841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07" name="Google Shape;407;p21"/>
              <p:cNvCxnSpPr>
                <a:stCxn id="398" idx="3"/>
                <a:endCxn id="401" idx="0"/>
              </p:cNvCxnSpPr>
              <p:nvPr/>
            </p:nvCxnSpPr>
            <p:spPr>
              <a:xfrm>
                <a:off x="359011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08" name="Google Shape;408;p21"/>
              <p:cNvCxnSpPr>
                <a:stCxn id="401" idx="2"/>
                <a:endCxn id="402" idx="0"/>
              </p:cNvCxnSpPr>
              <p:nvPr/>
            </p:nvCxnSpPr>
            <p:spPr>
              <a:xfrm>
                <a:off x="38616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09" name="Google Shape;409;p21"/>
              <p:cNvCxnSpPr>
                <a:stCxn id="401" idx="2"/>
                <a:endCxn id="400" idx="3"/>
              </p:cNvCxnSpPr>
              <p:nvPr/>
            </p:nvCxnSpPr>
            <p:spPr>
              <a:xfrm flipH="1">
                <a:off x="36450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10" name="Google Shape;410;p21"/>
              <p:cNvCxnSpPr>
                <a:stCxn id="399" idx="2"/>
                <a:endCxn id="400" idx="0"/>
              </p:cNvCxnSpPr>
              <p:nvPr/>
            </p:nvCxnSpPr>
            <p:spPr>
              <a:xfrm>
                <a:off x="34283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11" name="Google Shape;411;p21"/>
              <p:cNvCxnSpPr>
                <a:stCxn id="397" idx="3"/>
                <a:endCxn id="400" idx="1"/>
              </p:cNvCxnSpPr>
              <p:nvPr/>
            </p:nvCxnSpPr>
            <p:spPr>
              <a:xfrm rot="10800000" flipH="1">
                <a:off x="28205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12" name="Google Shape;412;p21"/>
              <p:cNvCxnSpPr>
                <a:stCxn id="400" idx="2"/>
                <a:endCxn id="403" idx="0"/>
              </p:cNvCxnSpPr>
              <p:nvPr/>
            </p:nvCxnSpPr>
            <p:spPr>
              <a:xfrm>
                <a:off x="350516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13" name="Google Shape;413;p21"/>
              <p:cNvSpPr txBox="1"/>
              <p:nvPr/>
            </p:nvSpPr>
            <p:spPr>
              <a:xfrm>
                <a:off x="2385550" y="2482950"/>
                <a:ext cx="23301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 4, 1, 3, 0]</a:t>
                </a:r>
                <a:endParaRPr sz="2400"/>
              </a:p>
            </p:txBody>
          </p:sp>
        </p:grpSp>
        <p:sp>
          <p:nvSpPr>
            <p:cNvPr id="414" name="Google Shape;414;p21"/>
            <p:cNvSpPr txBox="1"/>
            <p:nvPr/>
          </p:nvSpPr>
          <p:spPr>
            <a:xfrm>
              <a:off x="5481994" y="641544"/>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grpSp>
        <p:nvGrpSpPr>
          <p:cNvPr id="415" name="Google Shape;415;p21"/>
          <p:cNvGrpSpPr/>
          <p:nvPr/>
        </p:nvGrpSpPr>
        <p:grpSpPr>
          <a:xfrm>
            <a:off x="9346354" y="885331"/>
            <a:ext cx="3106815" cy="2916736"/>
            <a:chOff x="7009764" y="663998"/>
            <a:chExt cx="2330111" cy="2187552"/>
          </a:xfrm>
        </p:grpSpPr>
        <p:sp>
          <p:nvSpPr>
            <p:cNvPr id="416" name="Google Shape;416;p21"/>
            <p:cNvSpPr txBox="1"/>
            <p:nvPr/>
          </p:nvSpPr>
          <p:spPr>
            <a:xfrm>
              <a:off x="8570820" y="1048158"/>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nvGrpSpPr>
            <p:cNvPr id="417" name="Google Shape;417;p21"/>
            <p:cNvGrpSpPr/>
            <p:nvPr/>
          </p:nvGrpSpPr>
          <p:grpSpPr>
            <a:xfrm>
              <a:off x="7009764" y="663998"/>
              <a:ext cx="2330111" cy="2187552"/>
              <a:chOff x="2385539" y="683298"/>
              <a:chExt cx="2330111" cy="2187552"/>
            </a:xfrm>
          </p:grpSpPr>
          <p:sp>
            <p:nvSpPr>
              <p:cNvPr id="418" name="Google Shape;418;p21"/>
              <p:cNvSpPr/>
              <p:nvPr/>
            </p:nvSpPr>
            <p:spPr>
              <a:xfrm>
                <a:off x="23855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419" name="Google Shape;419;p21"/>
              <p:cNvSpPr/>
              <p:nvPr/>
            </p:nvSpPr>
            <p:spPr>
              <a:xfrm>
                <a:off x="25409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420" name="Google Shape;420;p21"/>
              <p:cNvSpPr/>
              <p:nvPr/>
            </p:nvSpPr>
            <p:spPr>
              <a:xfrm>
                <a:off x="3310519" y="68329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421" name="Google Shape;421;p21"/>
              <p:cNvSpPr/>
              <p:nvPr/>
            </p:nvSpPr>
            <p:spPr>
              <a:xfrm>
                <a:off x="3288503"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422" name="Google Shape;422;p21"/>
              <p:cNvSpPr/>
              <p:nvPr/>
            </p:nvSpPr>
            <p:spPr>
              <a:xfrm>
                <a:off x="336536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423" name="Google Shape;423;p21"/>
              <p:cNvSpPr/>
              <p:nvPr/>
            </p:nvSpPr>
            <p:spPr>
              <a:xfrm>
                <a:off x="3721839" y="113440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424" name="Google Shape;424;p21"/>
              <p:cNvSpPr/>
              <p:nvPr/>
            </p:nvSpPr>
            <p:spPr>
              <a:xfrm>
                <a:off x="4084574" y="1726181"/>
                <a:ext cx="279600" cy="2277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425" name="Google Shape;425;p21"/>
              <p:cNvSpPr/>
              <p:nvPr/>
            </p:nvSpPr>
            <p:spPr>
              <a:xfrm>
                <a:off x="3432466" y="22078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426" name="Google Shape;426;p21"/>
              <p:cNvCxnSpPr>
                <a:stCxn id="418" idx="2"/>
                <a:endCxn id="419" idx="0"/>
              </p:cNvCxnSpPr>
              <p:nvPr/>
            </p:nvCxnSpPr>
            <p:spPr>
              <a:xfrm>
                <a:off x="25253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27" name="Google Shape;427;p21"/>
              <p:cNvCxnSpPr>
                <a:stCxn id="418" idx="3"/>
                <a:endCxn id="421" idx="1"/>
              </p:cNvCxnSpPr>
              <p:nvPr/>
            </p:nvCxnSpPr>
            <p:spPr>
              <a:xfrm>
                <a:off x="26651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28" name="Google Shape;428;p21"/>
              <p:cNvCxnSpPr>
                <a:stCxn id="420" idx="2"/>
                <a:endCxn id="421" idx="0"/>
              </p:cNvCxnSpPr>
              <p:nvPr/>
            </p:nvCxnSpPr>
            <p:spPr>
              <a:xfrm flipH="1">
                <a:off x="342841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29" name="Google Shape;429;p21"/>
              <p:cNvCxnSpPr>
                <a:stCxn id="420" idx="3"/>
                <a:endCxn id="423" idx="0"/>
              </p:cNvCxnSpPr>
              <p:nvPr/>
            </p:nvCxnSpPr>
            <p:spPr>
              <a:xfrm>
                <a:off x="359011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30" name="Google Shape;430;p21"/>
              <p:cNvCxnSpPr>
                <a:stCxn id="423" idx="2"/>
                <a:endCxn id="424" idx="0"/>
              </p:cNvCxnSpPr>
              <p:nvPr/>
            </p:nvCxnSpPr>
            <p:spPr>
              <a:xfrm>
                <a:off x="38616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31" name="Google Shape;431;p21"/>
              <p:cNvCxnSpPr>
                <a:stCxn id="423" idx="2"/>
                <a:endCxn id="422" idx="3"/>
              </p:cNvCxnSpPr>
              <p:nvPr/>
            </p:nvCxnSpPr>
            <p:spPr>
              <a:xfrm flipH="1">
                <a:off x="36450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32" name="Google Shape;432;p21"/>
              <p:cNvCxnSpPr>
                <a:stCxn id="421" idx="2"/>
                <a:endCxn id="422" idx="0"/>
              </p:cNvCxnSpPr>
              <p:nvPr/>
            </p:nvCxnSpPr>
            <p:spPr>
              <a:xfrm>
                <a:off x="34283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33" name="Google Shape;433;p21"/>
              <p:cNvCxnSpPr>
                <a:stCxn id="419" idx="3"/>
                <a:endCxn id="422" idx="1"/>
              </p:cNvCxnSpPr>
              <p:nvPr/>
            </p:nvCxnSpPr>
            <p:spPr>
              <a:xfrm rot="10800000" flipH="1">
                <a:off x="28205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34" name="Google Shape;434;p21"/>
              <p:cNvCxnSpPr>
                <a:stCxn id="422" idx="2"/>
                <a:endCxn id="425" idx="0"/>
              </p:cNvCxnSpPr>
              <p:nvPr/>
            </p:nvCxnSpPr>
            <p:spPr>
              <a:xfrm>
                <a:off x="350516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35" name="Google Shape;435;p21"/>
              <p:cNvSpPr txBox="1"/>
              <p:nvPr/>
            </p:nvSpPr>
            <p:spPr>
              <a:xfrm>
                <a:off x="2385550" y="2482950"/>
                <a:ext cx="2330100" cy="387900"/>
              </a:xfrm>
              <a:prstGeom prst="rect">
                <a:avLst/>
              </a:prstGeom>
              <a:noFill/>
              <a:ln>
                <a:noFill/>
              </a:ln>
            </p:spPr>
            <p:txBody>
              <a:bodyPr spcFirstLastPara="1" wrap="square" lIns="121900" tIns="121900" rIns="121900" bIns="121900" anchor="t" anchorCtr="0">
                <a:noAutofit/>
              </a:bodyPr>
              <a:lstStyle/>
              <a:p>
                <a:pPr defTabSz="1219140"/>
                <a:r>
                  <a:rPr lang="en" sz="2400"/>
                  <a:t>Postorder: [7, 4, 1, 3, 0]</a:t>
                </a:r>
                <a:endParaRPr sz="2400"/>
              </a:p>
            </p:txBody>
          </p:sp>
        </p:grpSp>
      </p:grpSp>
      <p:grpSp>
        <p:nvGrpSpPr>
          <p:cNvPr id="436" name="Google Shape;436;p21"/>
          <p:cNvGrpSpPr/>
          <p:nvPr/>
        </p:nvGrpSpPr>
        <p:grpSpPr>
          <a:xfrm>
            <a:off x="95321" y="3868216"/>
            <a:ext cx="3106815" cy="2916736"/>
            <a:chOff x="71489" y="2901162"/>
            <a:chExt cx="2330111" cy="2187552"/>
          </a:xfrm>
        </p:grpSpPr>
        <p:sp>
          <p:nvSpPr>
            <p:cNvPr id="437" name="Google Shape;437;p21"/>
            <p:cNvSpPr txBox="1"/>
            <p:nvPr/>
          </p:nvSpPr>
          <p:spPr>
            <a:xfrm>
              <a:off x="2029047" y="3917845"/>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nvGrpSpPr>
            <p:cNvPr id="438" name="Google Shape;438;p21"/>
            <p:cNvGrpSpPr/>
            <p:nvPr/>
          </p:nvGrpSpPr>
          <p:grpSpPr>
            <a:xfrm>
              <a:off x="71489" y="2901162"/>
              <a:ext cx="2330111" cy="2187552"/>
              <a:chOff x="2385539" y="683298"/>
              <a:chExt cx="2330111" cy="2187552"/>
            </a:xfrm>
          </p:grpSpPr>
          <p:sp>
            <p:nvSpPr>
              <p:cNvPr id="439" name="Google Shape;439;p21"/>
              <p:cNvSpPr/>
              <p:nvPr/>
            </p:nvSpPr>
            <p:spPr>
              <a:xfrm>
                <a:off x="23855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440" name="Google Shape;440;p21"/>
              <p:cNvSpPr/>
              <p:nvPr/>
            </p:nvSpPr>
            <p:spPr>
              <a:xfrm>
                <a:off x="25409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441" name="Google Shape;441;p21"/>
              <p:cNvSpPr/>
              <p:nvPr/>
            </p:nvSpPr>
            <p:spPr>
              <a:xfrm>
                <a:off x="3310519" y="68329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442" name="Google Shape;442;p21"/>
              <p:cNvSpPr/>
              <p:nvPr/>
            </p:nvSpPr>
            <p:spPr>
              <a:xfrm>
                <a:off x="3288503"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443" name="Google Shape;443;p21"/>
              <p:cNvSpPr/>
              <p:nvPr/>
            </p:nvSpPr>
            <p:spPr>
              <a:xfrm>
                <a:off x="336536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444" name="Google Shape;444;p21"/>
              <p:cNvSpPr/>
              <p:nvPr/>
            </p:nvSpPr>
            <p:spPr>
              <a:xfrm>
                <a:off x="3721839" y="113440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445" name="Google Shape;445;p21"/>
              <p:cNvSpPr/>
              <p:nvPr/>
            </p:nvSpPr>
            <p:spPr>
              <a:xfrm>
                <a:off x="4084574" y="172618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446" name="Google Shape;446;p21"/>
              <p:cNvSpPr/>
              <p:nvPr/>
            </p:nvSpPr>
            <p:spPr>
              <a:xfrm>
                <a:off x="3432466" y="22078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447" name="Google Shape;447;p21"/>
              <p:cNvCxnSpPr>
                <a:stCxn id="439" idx="2"/>
                <a:endCxn id="440" idx="0"/>
              </p:cNvCxnSpPr>
              <p:nvPr/>
            </p:nvCxnSpPr>
            <p:spPr>
              <a:xfrm>
                <a:off x="25253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48" name="Google Shape;448;p21"/>
              <p:cNvCxnSpPr>
                <a:stCxn id="439" idx="3"/>
                <a:endCxn id="442" idx="1"/>
              </p:cNvCxnSpPr>
              <p:nvPr/>
            </p:nvCxnSpPr>
            <p:spPr>
              <a:xfrm>
                <a:off x="26651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49" name="Google Shape;449;p21"/>
              <p:cNvCxnSpPr>
                <a:stCxn id="441" idx="2"/>
                <a:endCxn id="442" idx="0"/>
              </p:cNvCxnSpPr>
              <p:nvPr/>
            </p:nvCxnSpPr>
            <p:spPr>
              <a:xfrm flipH="1">
                <a:off x="342841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50" name="Google Shape;450;p21"/>
              <p:cNvCxnSpPr>
                <a:stCxn id="441" idx="3"/>
                <a:endCxn id="444" idx="0"/>
              </p:cNvCxnSpPr>
              <p:nvPr/>
            </p:nvCxnSpPr>
            <p:spPr>
              <a:xfrm>
                <a:off x="359011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51" name="Google Shape;451;p21"/>
              <p:cNvCxnSpPr>
                <a:stCxn id="444" idx="2"/>
                <a:endCxn id="445" idx="0"/>
              </p:cNvCxnSpPr>
              <p:nvPr/>
            </p:nvCxnSpPr>
            <p:spPr>
              <a:xfrm>
                <a:off x="38616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52" name="Google Shape;452;p21"/>
              <p:cNvCxnSpPr>
                <a:stCxn id="444" idx="2"/>
                <a:endCxn id="443" idx="3"/>
              </p:cNvCxnSpPr>
              <p:nvPr/>
            </p:nvCxnSpPr>
            <p:spPr>
              <a:xfrm flipH="1">
                <a:off x="36450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53" name="Google Shape;453;p21"/>
              <p:cNvCxnSpPr>
                <a:stCxn id="442" idx="2"/>
                <a:endCxn id="443" idx="0"/>
              </p:cNvCxnSpPr>
              <p:nvPr/>
            </p:nvCxnSpPr>
            <p:spPr>
              <a:xfrm>
                <a:off x="34283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54" name="Google Shape;454;p21"/>
              <p:cNvCxnSpPr>
                <a:stCxn id="440" idx="3"/>
                <a:endCxn id="443" idx="1"/>
              </p:cNvCxnSpPr>
              <p:nvPr/>
            </p:nvCxnSpPr>
            <p:spPr>
              <a:xfrm rot="10800000" flipH="1">
                <a:off x="28205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55" name="Google Shape;455;p21"/>
              <p:cNvCxnSpPr>
                <a:stCxn id="443" idx="2"/>
                <a:endCxn id="446" idx="0"/>
              </p:cNvCxnSpPr>
              <p:nvPr/>
            </p:nvCxnSpPr>
            <p:spPr>
              <a:xfrm>
                <a:off x="350516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56" name="Google Shape;456;p21"/>
              <p:cNvSpPr txBox="1"/>
              <p:nvPr/>
            </p:nvSpPr>
            <p:spPr>
              <a:xfrm>
                <a:off x="2385550" y="2482950"/>
                <a:ext cx="2330100" cy="387900"/>
              </a:xfrm>
              <a:prstGeom prst="rect">
                <a:avLst/>
              </a:prstGeom>
              <a:noFill/>
              <a:ln>
                <a:noFill/>
              </a:ln>
            </p:spPr>
            <p:txBody>
              <a:bodyPr spcFirstLastPara="1" wrap="square" lIns="121900" tIns="121900" rIns="121900" bIns="121900" anchor="t" anchorCtr="0">
                <a:noAutofit/>
              </a:bodyPr>
              <a:lstStyle/>
              <a:p>
                <a:pPr defTabSz="1219140"/>
                <a:r>
                  <a:rPr lang="en" sz="2000" dirty="0"/>
                  <a:t>Postorder: [7, 4, 1, 3, 0, 6]</a:t>
                </a:r>
                <a:endParaRPr sz="2000" dirty="0"/>
              </a:p>
            </p:txBody>
          </p:sp>
        </p:grpSp>
      </p:grpSp>
      <p:grpSp>
        <p:nvGrpSpPr>
          <p:cNvPr id="457" name="Google Shape;457;p21"/>
          <p:cNvGrpSpPr/>
          <p:nvPr/>
        </p:nvGrpSpPr>
        <p:grpSpPr>
          <a:xfrm>
            <a:off x="4514695" y="3853533"/>
            <a:ext cx="3328815" cy="2916751"/>
            <a:chOff x="3386020" y="2890148"/>
            <a:chExt cx="2496611" cy="2187563"/>
          </a:xfrm>
        </p:grpSpPr>
        <p:sp>
          <p:nvSpPr>
            <p:cNvPr id="458" name="Google Shape;458;p21"/>
            <p:cNvSpPr txBox="1"/>
            <p:nvPr/>
          </p:nvSpPr>
          <p:spPr>
            <a:xfrm>
              <a:off x="5036311" y="3312973"/>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nvGrpSpPr>
            <p:cNvPr id="459" name="Google Shape;459;p21"/>
            <p:cNvGrpSpPr/>
            <p:nvPr/>
          </p:nvGrpSpPr>
          <p:grpSpPr>
            <a:xfrm>
              <a:off x="3386020" y="2890148"/>
              <a:ext cx="2496611" cy="2187563"/>
              <a:chOff x="2385539" y="683298"/>
              <a:chExt cx="2496611" cy="2187563"/>
            </a:xfrm>
          </p:grpSpPr>
          <p:sp>
            <p:nvSpPr>
              <p:cNvPr id="460" name="Google Shape;460;p21"/>
              <p:cNvSpPr/>
              <p:nvPr/>
            </p:nvSpPr>
            <p:spPr>
              <a:xfrm>
                <a:off x="23855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461" name="Google Shape;461;p21"/>
              <p:cNvSpPr/>
              <p:nvPr/>
            </p:nvSpPr>
            <p:spPr>
              <a:xfrm>
                <a:off x="25409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462" name="Google Shape;462;p21"/>
              <p:cNvSpPr/>
              <p:nvPr/>
            </p:nvSpPr>
            <p:spPr>
              <a:xfrm>
                <a:off x="3310519" y="68329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463" name="Google Shape;463;p21"/>
              <p:cNvSpPr/>
              <p:nvPr/>
            </p:nvSpPr>
            <p:spPr>
              <a:xfrm>
                <a:off x="3288503"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464" name="Google Shape;464;p21"/>
              <p:cNvSpPr/>
              <p:nvPr/>
            </p:nvSpPr>
            <p:spPr>
              <a:xfrm>
                <a:off x="336536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465" name="Google Shape;465;p21"/>
              <p:cNvSpPr/>
              <p:nvPr/>
            </p:nvSpPr>
            <p:spPr>
              <a:xfrm>
                <a:off x="3721839" y="113440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466" name="Google Shape;466;p21"/>
              <p:cNvSpPr/>
              <p:nvPr/>
            </p:nvSpPr>
            <p:spPr>
              <a:xfrm>
                <a:off x="4084574" y="172618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467" name="Google Shape;467;p21"/>
              <p:cNvSpPr/>
              <p:nvPr/>
            </p:nvSpPr>
            <p:spPr>
              <a:xfrm>
                <a:off x="3432466" y="22078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468" name="Google Shape;468;p21"/>
              <p:cNvCxnSpPr>
                <a:stCxn id="460" idx="2"/>
                <a:endCxn id="461" idx="0"/>
              </p:cNvCxnSpPr>
              <p:nvPr/>
            </p:nvCxnSpPr>
            <p:spPr>
              <a:xfrm>
                <a:off x="25253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69" name="Google Shape;469;p21"/>
              <p:cNvCxnSpPr>
                <a:stCxn id="460" idx="3"/>
                <a:endCxn id="463" idx="1"/>
              </p:cNvCxnSpPr>
              <p:nvPr/>
            </p:nvCxnSpPr>
            <p:spPr>
              <a:xfrm>
                <a:off x="26651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70" name="Google Shape;470;p21"/>
              <p:cNvCxnSpPr>
                <a:stCxn id="462" idx="2"/>
                <a:endCxn id="463" idx="0"/>
              </p:cNvCxnSpPr>
              <p:nvPr/>
            </p:nvCxnSpPr>
            <p:spPr>
              <a:xfrm flipH="1">
                <a:off x="342841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71" name="Google Shape;471;p21"/>
              <p:cNvCxnSpPr>
                <a:stCxn id="462" idx="3"/>
                <a:endCxn id="465" idx="0"/>
              </p:cNvCxnSpPr>
              <p:nvPr/>
            </p:nvCxnSpPr>
            <p:spPr>
              <a:xfrm>
                <a:off x="359011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72" name="Google Shape;472;p21"/>
              <p:cNvCxnSpPr>
                <a:stCxn id="465" idx="2"/>
                <a:endCxn id="466" idx="0"/>
              </p:cNvCxnSpPr>
              <p:nvPr/>
            </p:nvCxnSpPr>
            <p:spPr>
              <a:xfrm>
                <a:off x="38616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73" name="Google Shape;473;p21"/>
              <p:cNvCxnSpPr>
                <a:stCxn id="465" idx="2"/>
                <a:endCxn id="464" idx="3"/>
              </p:cNvCxnSpPr>
              <p:nvPr/>
            </p:nvCxnSpPr>
            <p:spPr>
              <a:xfrm flipH="1">
                <a:off x="36450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74" name="Google Shape;474;p21"/>
              <p:cNvCxnSpPr>
                <a:stCxn id="463" idx="2"/>
                <a:endCxn id="464" idx="0"/>
              </p:cNvCxnSpPr>
              <p:nvPr/>
            </p:nvCxnSpPr>
            <p:spPr>
              <a:xfrm>
                <a:off x="34283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75" name="Google Shape;475;p21"/>
              <p:cNvCxnSpPr>
                <a:stCxn id="461" idx="3"/>
                <a:endCxn id="464" idx="1"/>
              </p:cNvCxnSpPr>
              <p:nvPr/>
            </p:nvCxnSpPr>
            <p:spPr>
              <a:xfrm rot="10800000" flipH="1">
                <a:off x="28205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76" name="Google Shape;476;p21"/>
              <p:cNvCxnSpPr>
                <a:stCxn id="464" idx="2"/>
                <a:endCxn id="467" idx="0"/>
              </p:cNvCxnSpPr>
              <p:nvPr/>
            </p:nvCxnSpPr>
            <p:spPr>
              <a:xfrm>
                <a:off x="350516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77" name="Google Shape;477;p21"/>
              <p:cNvSpPr txBox="1"/>
              <p:nvPr/>
            </p:nvSpPr>
            <p:spPr>
              <a:xfrm>
                <a:off x="2385550" y="2482961"/>
                <a:ext cx="2496600" cy="387900"/>
              </a:xfrm>
              <a:prstGeom prst="rect">
                <a:avLst/>
              </a:prstGeom>
              <a:noFill/>
              <a:ln>
                <a:noFill/>
              </a:ln>
            </p:spPr>
            <p:txBody>
              <a:bodyPr spcFirstLastPara="1" wrap="square" lIns="121900" tIns="121900" rIns="121900" bIns="121900" anchor="t" anchorCtr="0">
                <a:noAutofit/>
              </a:bodyPr>
              <a:lstStyle/>
              <a:p>
                <a:pPr defTabSz="1219140"/>
                <a:r>
                  <a:rPr lang="en" sz="2000" dirty="0"/>
                  <a:t>Postorder: [7, 4, 1, 3, 0, 6, 5]</a:t>
                </a:r>
                <a:endParaRPr sz="2000" dirty="0"/>
              </a:p>
            </p:txBody>
          </p:sp>
        </p:grpSp>
      </p:grpSp>
      <p:grpSp>
        <p:nvGrpSpPr>
          <p:cNvPr id="478" name="Google Shape;478;p21"/>
          <p:cNvGrpSpPr/>
          <p:nvPr/>
        </p:nvGrpSpPr>
        <p:grpSpPr>
          <a:xfrm>
            <a:off x="8473367" y="3802064"/>
            <a:ext cx="3718800" cy="2975509"/>
            <a:chOff x="6355025" y="2851548"/>
            <a:chExt cx="2789100" cy="2231632"/>
          </a:xfrm>
        </p:grpSpPr>
        <p:sp>
          <p:nvSpPr>
            <p:cNvPr id="479" name="Google Shape;479;p21"/>
            <p:cNvSpPr txBox="1"/>
            <p:nvPr/>
          </p:nvSpPr>
          <p:spPr>
            <a:xfrm>
              <a:off x="7710886" y="2851548"/>
              <a:ext cx="341400" cy="154200"/>
            </a:xfrm>
            <a:prstGeom prst="rect">
              <a:avLst/>
            </a:prstGeom>
            <a:noFill/>
            <a:ln>
              <a:noFill/>
            </a:ln>
          </p:spPr>
          <p:txBody>
            <a:bodyPr spcFirstLastPara="1" wrap="square" lIns="121900" tIns="121900" rIns="121900" bIns="121900" anchor="t" anchorCtr="0">
              <a:noAutofit/>
            </a:bodyPr>
            <a:lstStyle/>
            <a:p>
              <a:pPr defTabSz="1219140"/>
              <a:r>
                <a:rPr lang="en" sz="2400"/>
                <a:t>*</a:t>
              </a:r>
              <a:endParaRPr sz="2400"/>
            </a:p>
          </p:txBody>
        </p:sp>
        <p:grpSp>
          <p:nvGrpSpPr>
            <p:cNvPr id="480" name="Google Shape;480;p21"/>
            <p:cNvGrpSpPr/>
            <p:nvPr/>
          </p:nvGrpSpPr>
          <p:grpSpPr>
            <a:xfrm>
              <a:off x="6355025" y="2895618"/>
              <a:ext cx="2789100" cy="2187563"/>
              <a:chOff x="2261450" y="683298"/>
              <a:chExt cx="2789100" cy="2187563"/>
            </a:xfrm>
          </p:grpSpPr>
          <p:sp>
            <p:nvSpPr>
              <p:cNvPr id="481" name="Google Shape;481;p21"/>
              <p:cNvSpPr/>
              <p:nvPr/>
            </p:nvSpPr>
            <p:spPr>
              <a:xfrm>
                <a:off x="2385539"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482" name="Google Shape;482;p21"/>
              <p:cNvSpPr/>
              <p:nvPr/>
            </p:nvSpPr>
            <p:spPr>
              <a:xfrm>
                <a:off x="2540928" y="1813462"/>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483" name="Google Shape;483;p21"/>
              <p:cNvSpPr/>
              <p:nvPr/>
            </p:nvSpPr>
            <p:spPr>
              <a:xfrm>
                <a:off x="3310519" y="683298"/>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484" name="Google Shape;484;p21"/>
              <p:cNvSpPr/>
              <p:nvPr/>
            </p:nvSpPr>
            <p:spPr>
              <a:xfrm>
                <a:off x="3288503" y="119770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485" name="Google Shape;485;p21"/>
              <p:cNvSpPr/>
              <p:nvPr/>
            </p:nvSpPr>
            <p:spPr>
              <a:xfrm>
                <a:off x="3365361" y="1748066"/>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486" name="Google Shape;486;p21"/>
              <p:cNvSpPr/>
              <p:nvPr/>
            </p:nvSpPr>
            <p:spPr>
              <a:xfrm>
                <a:off x="3721839" y="1134407"/>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487" name="Google Shape;487;p21"/>
              <p:cNvSpPr/>
              <p:nvPr/>
            </p:nvSpPr>
            <p:spPr>
              <a:xfrm>
                <a:off x="4084574" y="1726181"/>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488" name="Google Shape;488;p21"/>
              <p:cNvSpPr/>
              <p:nvPr/>
            </p:nvSpPr>
            <p:spPr>
              <a:xfrm>
                <a:off x="3432466" y="2207899"/>
                <a:ext cx="279600" cy="227700"/>
              </a:xfrm>
              <a:prstGeom prst="rect">
                <a:avLst/>
              </a:prstGeom>
              <a:solidFill>
                <a:srgbClr val="FFFFFF"/>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489" name="Google Shape;489;p21"/>
              <p:cNvCxnSpPr>
                <a:stCxn id="481" idx="2"/>
                <a:endCxn id="482" idx="0"/>
              </p:cNvCxnSpPr>
              <p:nvPr/>
            </p:nvCxnSpPr>
            <p:spPr>
              <a:xfrm>
                <a:off x="2525339" y="1425409"/>
                <a:ext cx="155400" cy="388200"/>
              </a:xfrm>
              <a:prstGeom prst="straightConnector1">
                <a:avLst/>
              </a:prstGeom>
              <a:noFill/>
              <a:ln w="19050" cap="flat" cmpd="sng">
                <a:solidFill>
                  <a:schemeClr val="dk2"/>
                </a:solidFill>
                <a:prstDash val="solid"/>
                <a:round/>
                <a:headEnd type="none" w="med" len="med"/>
                <a:tailEnd type="triangle" w="med" len="med"/>
              </a:ln>
            </p:spPr>
          </p:cxnSp>
          <p:cxnSp>
            <p:nvCxnSpPr>
              <p:cNvPr id="490" name="Google Shape;490;p21"/>
              <p:cNvCxnSpPr>
                <a:stCxn id="481" idx="3"/>
                <a:endCxn id="484" idx="1"/>
              </p:cNvCxnSpPr>
              <p:nvPr/>
            </p:nvCxnSpPr>
            <p:spPr>
              <a:xfrm>
                <a:off x="2665139" y="1311559"/>
                <a:ext cx="623400" cy="0"/>
              </a:xfrm>
              <a:prstGeom prst="straightConnector1">
                <a:avLst/>
              </a:prstGeom>
              <a:noFill/>
              <a:ln w="19050" cap="flat" cmpd="sng">
                <a:solidFill>
                  <a:schemeClr val="dk2"/>
                </a:solidFill>
                <a:prstDash val="solid"/>
                <a:round/>
                <a:headEnd type="none" w="med" len="med"/>
                <a:tailEnd type="triangle" w="med" len="med"/>
              </a:ln>
            </p:spPr>
          </p:cxnSp>
          <p:cxnSp>
            <p:nvCxnSpPr>
              <p:cNvPr id="491" name="Google Shape;491;p21"/>
              <p:cNvCxnSpPr>
                <a:stCxn id="483" idx="2"/>
                <a:endCxn id="484" idx="0"/>
              </p:cNvCxnSpPr>
              <p:nvPr/>
            </p:nvCxnSpPr>
            <p:spPr>
              <a:xfrm flipH="1">
                <a:off x="3428419" y="910998"/>
                <a:ext cx="21900" cy="286800"/>
              </a:xfrm>
              <a:prstGeom prst="straightConnector1">
                <a:avLst/>
              </a:prstGeom>
              <a:noFill/>
              <a:ln w="19050" cap="flat" cmpd="sng">
                <a:solidFill>
                  <a:schemeClr val="dk2"/>
                </a:solidFill>
                <a:prstDash val="solid"/>
                <a:round/>
                <a:headEnd type="none" w="med" len="med"/>
                <a:tailEnd type="triangle" w="med" len="med"/>
              </a:ln>
            </p:spPr>
          </p:cxnSp>
          <p:cxnSp>
            <p:nvCxnSpPr>
              <p:cNvPr id="492" name="Google Shape;492;p21"/>
              <p:cNvCxnSpPr>
                <a:stCxn id="483" idx="3"/>
                <a:endCxn id="486" idx="0"/>
              </p:cNvCxnSpPr>
              <p:nvPr/>
            </p:nvCxnSpPr>
            <p:spPr>
              <a:xfrm>
                <a:off x="3590119" y="797148"/>
                <a:ext cx="271500" cy="337200"/>
              </a:xfrm>
              <a:prstGeom prst="straightConnector1">
                <a:avLst/>
              </a:prstGeom>
              <a:noFill/>
              <a:ln w="19050" cap="flat" cmpd="sng">
                <a:solidFill>
                  <a:schemeClr val="dk2"/>
                </a:solidFill>
                <a:prstDash val="solid"/>
                <a:round/>
                <a:headEnd type="none" w="med" len="med"/>
                <a:tailEnd type="triangle" w="med" len="med"/>
              </a:ln>
            </p:spPr>
          </p:cxnSp>
          <p:cxnSp>
            <p:nvCxnSpPr>
              <p:cNvPr id="493" name="Google Shape;493;p21"/>
              <p:cNvCxnSpPr>
                <a:stCxn id="486" idx="2"/>
                <a:endCxn id="487" idx="0"/>
              </p:cNvCxnSpPr>
              <p:nvPr/>
            </p:nvCxnSpPr>
            <p:spPr>
              <a:xfrm>
                <a:off x="3861639" y="1362107"/>
                <a:ext cx="362700" cy="364200"/>
              </a:xfrm>
              <a:prstGeom prst="straightConnector1">
                <a:avLst/>
              </a:prstGeom>
              <a:noFill/>
              <a:ln w="19050" cap="flat" cmpd="sng">
                <a:solidFill>
                  <a:schemeClr val="dk2"/>
                </a:solidFill>
                <a:prstDash val="solid"/>
                <a:round/>
                <a:headEnd type="none" w="med" len="med"/>
                <a:tailEnd type="triangle" w="med" len="med"/>
              </a:ln>
            </p:spPr>
          </p:cxnSp>
          <p:cxnSp>
            <p:nvCxnSpPr>
              <p:cNvPr id="494" name="Google Shape;494;p21"/>
              <p:cNvCxnSpPr>
                <a:stCxn id="486" idx="2"/>
                <a:endCxn id="485" idx="3"/>
              </p:cNvCxnSpPr>
              <p:nvPr/>
            </p:nvCxnSpPr>
            <p:spPr>
              <a:xfrm flipH="1">
                <a:off x="3645039" y="1362107"/>
                <a:ext cx="216600" cy="499800"/>
              </a:xfrm>
              <a:prstGeom prst="straightConnector1">
                <a:avLst/>
              </a:prstGeom>
              <a:noFill/>
              <a:ln w="19050" cap="flat" cmpd="sng">
                <a:solidFill>
                  <a:schemeClr val="dk2"/>
                </a:solidFill>
                <a:prstDash val="solid"/>
                <a:round/>
                <a:headEnd type="none" w="med" len="med"/>
                <a:tailEnd type="triangle" w="med" len="med"/>
              </a:ln>
            </p:spPr>
          </p:cxnSp>
          <p:cxnSp>
            <p:nvCxnSpPr>
              <p:cNvPr id="495" name="Google Shape;495;p21"/>
              <p:cNvCxnSpPr>
                <a:stCxn id="484" idx="2"/>
                <a:endCxn id="485" idx="0"/>
              </p:cNvCxnSpPr>
              <p:nvPr/>
            </p:nvCxnSpPr>
            <p:spPr>
              <a:xfrm>
                <a:off x="3428303" y="1425409"/>
                <a:ext cx="76800" cy="322800"/>
              </a:xfrm>
              <a:prstGeom prst="straightConnector1">
                <a:avLst/>
              </a:prstGeom>
              <a:noFill/>
              <a:ln w="19050" cap="flat" cmpd="sng">
                <a:solidFill>
                  <a:schemeClr val="dk2"/>
                </a:solidFill>
                <a:prstDash val="solid"/>
                <a:round/>
                <a:headEnd type="none" w="med" len="med"/>
                <a:tailEnd type="triangle" w="med" len="med"/>
              </a:ln>
            </p:spPr>
          </p:cxnSp>
          <p:cxnSp>
            <p:nvCxnSpPr>
              <p:cNvPr id="496" name="Google Shape;496;p21"/>
              <p:cNvCxnSpPr>
                <a:stCxn id="482" idx="3"/>
                <a:endCxn id="485" idx="1"/>
              </p:cNvCxnSpPr>
              <p:nvPr/>
            </p:nvCxnSpPr>
            <p:spPr>
              <a:xfrm rot="10800000" flipH="1">
                <a:off x="2820528" y="1861912"/>
                <a:ext cx="544800" cy="65400"/>
              </a:xfrm>
              <a:prstGeom prst="straightConnector1">
                <a:avLst/>
              </a:prstGeom>
              <a:noFill/>
              <a:ln w="19050" cap="flat" cmpd="sng">
                <a:solidFill>
                  <a:schemeClr val="dk2"/>
                </a:solidFill>
                <a:prstDash val="solid"/>
                <a:round/>
                <a:headEnd type="none" w="med" len="med"/>
                <a:tailEnd type="triangle" w="med" len="med"/>
              </a:ln>
            </p:spPr>
          </p:cxnSp>
          <p:cxnSp>
            <p:nvCxnSpPr>
              <p:cNvPr id="497" name="Google Shape;497;p21"/>
              <p:cNvCxnSpPr>
                <a:stCxn id="485" idx="2"/>
                <a:endCxn id="488" idx="0"/>
              </p:cNvCxnSpPr>
              <p:nvPr/>
            </p:nvCxnSpPr>
            <p:spPr>
              <a:xfrm>
                <a:off x="3505161" y="1975766"/>
                <a:ext cx="67200" cy="232200"/>
              </a:xfrm>
              <a:prstGeom prst="straightConnector1">
                <a:avLst/>
              </a:prstGeom>
              <a:noFill/>
              <a:ln w="19050" cap="flat" cmpd="sng">
                <a:solidFill>
                  <a:schemeClr val="dk2"/>
                </a:solidFill>
                <a:prstDash val="solid"/>
                <a:round/>
                <a:headEnd type="none" w="med" len="med"/>
                <a:tailEnd type="triangle" w="med" len="med"/>
              </a:ln>
            </p:spPr>
          </p:cxnSp>
          <p:sp>
            <p:nvSpPr>
              <p:cNvPr id="498" name="Google Shape;498;p21"/>
              <p:cNvSpPr txBox="1"/>
              <p:nvPr/>
            </p:nvSpPr>
            <p:spPr>
              <a:xfrm>
                <a:off x="2261450" y="2482961"/>
                <a:ext cx="2789100" cy="387900"/>
              </a:xfrm>
              <a:prstGeom prst="rect">
                <a:avLst/>
              </a:prstGeom>
              <a:noFill/>
              <a:ln>
                <a:noFill/>
              </a:ln>
            </p:spPr>
            <p:txBody>
              <a:bodyPr spcFirstLastPara="1" wrap="square" lIns="121900" tIns="121900" rIns="121900" bIns="121900" anchor="t" anchorCtr="0">
                <a:noAutofit/>
              </a:bodyPr>
              <a:lstStyle/>
              <a:p>
                <a:pPr defTabSz="1219140"/>
                <a:r>
                  <a:rPr lang="en" sz="2000" dirty="0">
                    <a:highlight>
                      <a:srgbClr val="FFFFFF"/>
                    </a:highlight>
                  </a:rPr>
                  <a:t>Postorder: [7, 4, 1, 3, 0, 6, 5, 2]</a:t>
                </a:r>
                <a:endParaRPr sz="2000" dirty="0">
                  <a:highlight>
                    <a:srgbClr val="FFFFFF"/>
                  </a:highlight>
                </a:endParaRPr>
              </a:p>
            </p:txBody>
          </p:sp>
        </p:grpSp>
      </p:grpSp>
    </p:spTree>
    <p:extLst>
      <p:ext uri="{BB962C8B-B14F-4D97-AF65-F5344CB8AC3E}">
        <p14:creationId xmlns:p14="http://schemas.microsoft.com/office/powerpoint/2010/main" val="314058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3"/>
                                        </p:tgtEl>
                                        <p:attrNameLst>
                                          <p:attrName>style.visibility</p:attrName>
                                        </p:attrNameLst>
                                      </p:cBhvr>
                                      <p:to>
                                        <p:strVal val="visible"/>
                                      </p:to>
                                    </p:set>
                                    <p:animEffect transition="in" filter="fade">
                                      <p:cBhvr>
                                        <p:cTn id="7" dur="1000"/>
                                        <p:tgtEl>
                                          <p:spTgt spid="3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4"/>
                                        </p:tgtEl>
                                        <p:attrNameLst>
                                          <p:attrName>style.visibility</p:attrName>
                                        </p:attrNameLst>
                                      </p:cBhvr>
                                      <p:to>
                                        <p:strVal val="visible"/>
                                      </p:to>
                                    </p:set>
                                    <p:animEffect transition="in" filter="fade">
                                      <p:cBhvr>
                                        <p:cTn id="12" dur="1000"/>
                                        <p:tgtEl>
                                          <p:spTgt spid="39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5"/>
                                        </p:tgtEl>
                                        <p:attrNameLst>
                                          <p:attrName>style.visibility</p:attrName>
                                        </p:attrNameLst>
                                      </p:cBhvr>
                                      <p:to>
                                        <p:strVal val="visible"/>
                                      </p:to>
                                    </p:set>
                                    <p:animEffect transition="in" filter="fade">
                                      <p:cBhvr>
                                        <p:cTn id="17" dur="1000"/>
                                        <p:tgtEl>
                                          <p:spTgt spid="4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6"/>
                                        </p:tgtEl>
                                        <p:attrNameLst>
                                          <p:attrName>style.visibility</p:attrName>
                                        </p:attrNameLst>
                                      </p:cBhvr>
                                      <p:to>
                                        <p:strVal val="visible"/>
                                      </p:to>
                                    </p:set>
                                    <p:animEffect transition="in" filter="fade">
                                      <p:cBhvr>
                                        <p:cTn id="22" dur="1000"/>
                                        <p:tgtEl>
                                          <p:spTgt spid="4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57"/>
                                        </p:tgtEl>
                                        <p:attrNameLst>
                                          <p:attrName>style.visibility</p:attrName>
                                        </p:attrNameLst>
                                      </p:cBhvr>
                                      <p:to>
                                        <p:strVal val="visible"/>
                                      </p:to>
                                    </p:set>
                                    <p:animEffect transition="in" filter="fade">
                                      <p:cBhvr>
                                        <p:cTn id="27" dur="1000"/>
                                        <p:tgtEl>
                                          <p:spTgt spid="45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8"/>
                                        </p:tgtEl>
                                        <p:attrNameLst>
                                          <p:attrName>style.visibility</p:attrName>
                                        </p:attrNameLst>
                                      </p:cBhvr>
                                      <p:to>
                                        <p:strVal val="visible"/>
                                      </p:to>
                                    </p:set>
                                    <p:animEffect transition="in" filter="fade">
                                      <p:cBhvr>
                                        <p:cTn id="32" dur="10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3"/>
          <p:cNvSpPr txBox="1">
            <a:spLocks noGrp="1"/>
          </p:cNvSpPr>
          <p:nvPr>
            <p:ph type="title"/>
          </p:nvPr>
        </p:nvSpPr>
        <p:spPr>
          <a:xfrm>
            <a:off x="222400" y="123335"/>
            <a:ext cx="10972800" cy="660400"/>
          </a:xfrm>
          <a:prstGeom prst="rect">
            <a:avLst/>
          </a:prstGeom>
        </p:spPr>
        <p:txBody>
          <a:bodyPr spcFirstLastPara="1" vert="horz" wrap="square" lIns="121900" tIns="121900" rIns="121900" bIns="121900" rtlCol="0" anchor="b" anchorCtr="0">
            <a:noAutofit/>
          </a:bodyPr>
          <a:lstStyle/>
          <a:p>
            <a:r>
              <a:rPr lang="en"/>
              <a:t>Topological Sort</a:t>
            </a:r>
            <a:endParaRPr/>
          </a:p>
        </p:txBody>
      </p:sp>
      <p:sp>
        <p:nvSpPr>
          <p:cNvPr id="528" name="Google Shape;528;p23"/>
          <p:cNvSpPr txBox="1">
            <a:spLocks noGrp="1"/>
          </p:cNvSpPr>
          <p:nvPr>
            <p:ph type="body" idx="1"/>
          </p:nvPr>
        </p:nvSpPr>
        <p:spPr>
          <a:xfrm>
            <a:off x="324000" y="4743333"/>
            <a:ext cx="11463200" cy="1536800"/>
          </a:xfrm>
          <a:prstGeom prst="rect">
            <a:avLst/>
          </a:prstGeom>
        </p:spPr>
        <p:txBody>
          <a:bodyPr spcFirstLastPara="1" vert="horz" wrap="square" lIns="121900" tIns="121900" rIns="121900" bIns="121900" rtlCol="0" anchor="t" anchorCtr="0">
            <a:noAutofit/>
          </a:bodyPr>
          <a:lstStyle/>
          <a:p>
            <a:pPr marL="0" indent="0">
              <a:buNone/>
            </a:pPr>
            <a:r>
              <a:rPr lang="en"/>
              <a:t>The reason it’s called topological sort: Can think of this process as sorting our nodes so they appear in an order consistent with edges, e.g. [2, 5, 6, 0, 3, 1, 4, 7]</a:t>
            </a:r>
            <a:endParaRPr/>
          </a:p>
          <a:p>
            <a:r>
              <a:rPr lang="en"/>
              <a:t>When nodes are sorted in diagram, arrows all point rightwards.</a:t>
            </a:r>
            <a:endParaRPr/>
          </a:p>
        </p:txBody>
      </p:sp>
      <p:sp>
        <p:nvSpPr>
          <p:cNvPr id="546" name="Google Shape;546;p23"/>
          <p:cNvSpPr/>
          <p:nvPr/>
        </p:nvSpPr>
        <p:spPr>
          <a:xfrm>
            <a:off x="7978269"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0</a:t>
            </a:r>
            <a:endParaRPr sz="2400"/>
          </a:p>
        </p:txBody>
      </p:sp>
      <p:sp>
        <p:nvSpPr>
          <p:cNvPr id="547" name="Google Shape;547;p23"/>
          <p:cNvSpPr/>
          <p:nvPr/>
        </p:nvSpPr>
        <p:spPr>
          <a:xfrm>
            <a:off x="9724781"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548" name="Google Shape;548;p23"/>
          <p:cNvSpPr/>
          <p:nvPr/>
        </p:nvSpPr>
        <p:spPr>
          <a:xfrm>
            <a:off x="5358543"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2</a:t>
            </a:r>
            <a:endParaRPr sz="2400"/>
          </a:p>
        </p:txBody>
      </p:sp>
      <p:sp>
        <p:nvSpPr>
          <p:cNvPr id="549" name="Google Shape;549;p23"/>
          <p:cNvSpPr/>
          <p:nvPr/>
        </p:nvSpPr>
        <p:spPr>
          <a:xfrm>
            <a:off x="8851533"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550" name="Google Shape;550;p23"/>
          <p:cNvSpPr/>
          <p:nvPr/>
        </p:nvSpPr>
        <p:spPr>
          <a:xfrm>
            <a:off x="10598029"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551" name="Google Shape;551;p23"/>
          <p:cNvSpPr/>
          <p:nvPr/>
        </p:nvSpPr>
        <p:spPr>
          <a:xfrm>
            <a:off x="6231791"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5</a:t>
            </a:r>
            <a:endParaRPr sz="2400"/>
          </a:p>
        </p:txBody>
      </p:sp>
      <p:sp>
        <p:nvSpPr>
          <p:cNvPr id="552" name="Google Shape;552;p23"/>
          <p:cNvSpPr/>
          <p:nvPr/>
        </p:nvSpPr>
        <p:spPr>
          <a:xfrm>
            <a:off x="7105039"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553" name="Google Shape;553;p23"/>
          <p:cNvSpPr/>
          <p:nvPr/>
        </p:nvSpPr>
        <p:spPr>
          <a:xfrm>
            <a:off x="11544709" y="2714433"/>
            <a:ext cx="423200" cy="3372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554" name="Google Shape;554;p23"/>
          <p:cNvCxnSpPr>
            <a:stCxn id="548" idx="3"/>
            <a:endCxn id="551" idx="1"/>
          </p:cNvCxnSpPr>
          <p:nvPr/>
        </p:nvCxnSpPr>
        <p:spPr>
          <a:xfrm>
            <a:off x="5781743" y="2883033"/>
            <a:ext cx="450000" cy="0"/>
          </a:xfrm>
          <a:prstGeom prst="straightConnector1">
            <a:avLst/>
          </a:prstGeom>
          <a:noFill/>
          <a:ln w="19050" cap="flat" cmpd="sng">
            <a:solidFill>
              <a:schemeClr val="dk2"/>
            </a:solidFill>
            <a:prstDash val="solid"/>
            <a:round/>
            <a:headEnd type="none" w="med" len="med"/>
            <a:tailEnd type="triangle" w="med" len="med"/>
          </a:ln>
        </p:spPr>
      </p:cxnSp>
      <p:cxnSp>
        <p:nvCxnSpPr>
          <p:cNvPr id="555" name="Google Shape;555;p23"/>
          <p:cNvCxnSpPr>
            <a:stCxn id="548" idx="0"/>
            <a:endCxn id="549" idx="0"/>
          </p:cNvCxnSpPr>
          <p:nvPr/>
        </p:nvCxnSpPr>
        <p:spPr>
          <a:xfrm rot="-5400000" flipH="1">
            <a:off x="7316143" y="968433"/>
            <a:ext cx="800" cy="34928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556" name="Google Shape;556;p23"/>
          <p:cNvCxnSpPr>
            <a:stCxn id="551" idx="3"/>
            <a:endCxn id="552" idx="1"/>
          </p:cNvCxnSpPr>
          <p:nvPr/>
        </p:nvCxnSpPr>
        <p:spPr>
          <a:xfrm>
            <a:off x="6654991" y="2883033"/>
            <a:ext cx="450000" cy="0"/>
          </a:xfrm>
          <a:prstGeom prst="straightConnector1">
            <a:avLst/>
          </a:prstGeom>
          <a:noFill/>
          <a:ln w="19050" cap="flat" cmpd="sng">
            <a:solidFill>
              <a:schemeClr val="dk2"/>
            </a:solidFill>
            <a:prstDash val="solid"/>
            <a:round/>
            <a:headEnd type="none" w="med" len="med"/>
            <a:tailEnd type="triangle" w="med" len="med"/>
          </a:ln>
        </p:spPr>
      </p:cxnSp>
      <p:cxnSp>
        <p:nvCxnSpPr>
          <p:cNvPr id="557" name="Google Shape;557;p23"/>
          <p:cNvCxnSpPr>
            <a:stCxn id="551" idx="2"/>
            <a:endCxn id="550" idx="2"/>
          </p:cNvCxnSpPr>
          <p:nvPr/>
        </p:nvCxnSpPr>
        <p:spPr>
          <a:xfrm rot="-5400000" flipH="1">
            <a:off x="8626191" y="868833"/>
            <a:ext cx="800" cy="4366400"/>
          </a:xfrm>
          <a:prstGeom prst="curvedConnector3">
            <a:avLst>
              <a:gd name="adj1" fmla="val 68279167"/>
            </a:avLst>
          </a:prstGeom>
          <a:noFill/>
          <a:ln w="19050" cap="flat" cmpd="sng">
            <a:solidFill>
              <a:schemeClr val="dk2"/>
            </a:solidFill>
            <a:prstDash val="solid"/>
            <a:round/>
            <a:headEnd type="none" w="med" len="med"/>
            <a:tailEnd type="triangle" w="med" len="med"/>
          </a:ln>
        </p:spPr>
      </p:cxnSp>
      <p:cxnSp>
        <p:nvCxnSpPr>
          <p:cNvPr id="558" name="Google Shape;558;p23"/>
          <p:cNvCxnSpPr>
            <a:stCxn id="546" idx="3"/>
            <a:endCxn id="549" idx="1"/>
          </p:cNvCxnSpPr>
          <p:nvPr/>
        </p:nvCxnSpPr>
        <p:spPr>
          <a:xfrm>
            <a:off x="8401469" y="2883033"/>
            <a:ext cx="450000" cy="0"/>
          </a:xfrm>
          <a:prstGeom prst="straightConnector1">
            <a:avLst/>
          </a:prstGeom>
          <a:noFill/>
          <a:ln w="19050" cap="flat" cmpd="sng">
            <a:solidFill>
              <a:schemeClr val="dk2"/>
            </a:solidFill>
            <a:prstDash val="solid"/>
            <a:round/>
            <a:headEnd type="none" w="med" len="med"/>
            <a:tailEnd type="triangle" w="med" len="med"/>
          </a:ln>
        </p:spPr>
      </p:cxnSp>
      <p:cxnSp>
        <p:nvCxnSpPr>
          <p:cNvPr id="559" name="Google Shape;559;p23"/>
          <p:cNvCxnSpPr>
            <a:stCxn id="546" idx="2"/>
            <a:endCxn id="547" idx="2"/>
          </p:cNvCxnSpPr>
          <p:nvPr/>
        </p:nvCxnSpPr>
        <p:spPr>
          <a:xfrm rot="-5400000" flipH="1">
            <a:off x="9062669" y="2178833"/>
            <a:ext cx="800" cy="17464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560" name="Google Shape;560;p23"/>
          <p:cNvCxnSpPr>
            <a:stCxn id="547" idx="3"/>
            <a:endCxn id="550" idx="1"/>
          </p:cNvCxnSpPr>
          <p:nvPr/>
        </p:nvCxnSpPr>
        <p:spPr>
          <a:xfrm>
            <a:off x="10147981" y="2883033"/>
            <a:ext cx="450000" cy="0"/>
          </a:xfrm>
          <a:prstGeom prst="straightConnector1">
            <a:avLst/>
          </a:prstGeom>
          <a:noFill/>
          <a:ln w="19050" cap="flat" cmpd="sng">
            <a:solidFill>
              <a:schemeClr val="dk2"/>
            </a:solidFill>
            <a:prstDash val="solid"/>
            <a:round/>
            <a:headEnd type="none" w="med" len="med"/>
            <a:tailEnd type="triangle" w="med" len="med"/>
          </a:ln>
        </p:spPr>
      </p:cxnSp>
      <p:cxnSp>
        <p:nvCxnSpPr>
          <p:cNvPr id="561" name="Google Shape;561;p23"/>
          <p:cNvCxnSpPr>
            <a:stCxn id="549" idx="0"/>
            <a:endCxn id="550" idx="0"/>
          </p:cNvCxnSpPr>
          <p:nvPr/>
        </p:nvCxnSpPr>
        <p:spPr>
          <a:xfrm rot="-5400000" flipH="1">
            <a:off x="9935933" y="1841633"/>
            <a:ext cx="800" cy="1746400"/>
          </a:xfrm>
          <a:prstGeom prst="curvedConnector3">
            <a:avLst>
              <a:gd name="adj1" fmla="val -39687500"/>
            </a:avLst>
          </a:prstGeom>
          <a:noFill/>
          <a:ln w="19050" cap="flat" cmpd="sng">
            <a:solidFill>
              <a:schemeClr val="dk2"/>
            </a:solidFill>
            <a:prstDash val="solid"/>
            <a:round/>
            <a:headEnd type="none" w="med" len="med"/>
            <a:tailEnd type="triangle" w="med" len="med"/>
          </a:ln>
        </p:spPr>
      </p:cxnSp>
      <p:cxnSp>
        <p:nvCxnSpPr>
          <p:cNvPr id="562" name="Google Shape;562;p23"/>
          <p:cNvCxnSpPr>
            <a:stCxn id="550" idx="3"/>
            <a:endCxn id="553" idx="1"/>
          </p:cNvCxnSpPr>
          <p:nvPr/>
        </p:nvCxnSpPr>
        <p:spPr>
          <a:xfrm>
            <a:off x="11021229" y="2883033"/>
            <a:ext cx="523600" cy="0"/>
          </a:xfrm>
          <a:prstGeom prst="straightConnector1">
            <a:avLst/>
          </a:prstGeom>
          <a:noFill/>
          <a:ln w="19050" cap="flat" cmpd="sng">
            <a:solidFill>
              <a:schemeClr val="dk2"/>
            </a:solidFill>
            <a:prstDash val="solid"/>
            <a:round/>
            <a:headEnd type="none" w="med" len="med"/>
            <a:tailEnd type="triangle" w="med" len="med"/>
          </a:ln>
        </p:spPr>
      </p:cxnSp>
      <p:grpSp>
        <p:nvGrpSpPr>
          <p:cNvPr id="38" name="Google Shape;505;p22">
            <a:extLst>
              <a:ext uri="{FF2B5EF4-FFF2-40B4-BE49-F238E27FC236}">
                <a16:creationId xmlns:a16="http://schemas.microsoft.com/office/drawing/2014/main" id="{D0563CBD-4934-AC4B-9832-6DD22C6F476F}"/>
              </a:ext>
            </a:extLst>
          </p:cNvPr>
          <p:cNvGrpSpPr/>
          <p:nvPr/>
        </p:nvGrpSpPr>
        <p:grpSpPr>
          <a:xfrm>
            <a:off x="1286442" y="1585875"/>
            <a:ext cx="3226367" cy="2594317"/>
            <a:chOff x="756020" y="683300"/>
            <a:chExt cx="2419775" cy="1945738"/>
          </a:xfrm>
        </p:grpSpPr>
        <p:sp>
          <p:nvSpPr>
            <p:cNvPr id="39" name="Google Shape;506;p22">
              <a:extLst>
                <a:ext uri="{FF2B5EF4-FFF2-40B4-BE49-F238E27FC236}">
                  <a16:creationId xmlns:a16="http://schemas.microsoft.com/office/drawing/2014/main" id="{7F96665A-AA1A-8D4A-A4A5-DD0211F21263}"/>
                </a:ext>
              </a:extLst>
            </p:cNvPr>
            <p:cNvSpPr/>
            <p:nvPr/>
          </p:nvSpPr>
          <p:spPr>
            <a:xfrm>
              <a:off x="75602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dirty="0"/>
                <a:t>0</a:t>
              </a:r>
              <a:endParaRPr sz="2400" dirty="0"/>
            </a:p>
          </p:txBody>
        </p:sp>
        <p:sp>
          <p:nvSpPr>
            <p:cNvPr id="40" name="Google Shape;507;p22">
              <a:extLst>
                <a:ext uri="{FF2B5EF4-FFF2-40B4-BE49-F238E27FC236}">
                  <a16:creationId xmlns:a16="http://schemas.microsoft.com/office/drawing/2014/main" id="{0300FF87-BDF1-5E48-96BB-17348EA888A6}"/>
                </a:ext>
              </a:extLst>
            </p:cNvPr>
            <p:cNvSpPr/>
            <p:nvPr/>
          </p:nvSpPr>
          <p:spPr>
            <a:xfrm>
              <a:off x="932470" y="19381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1</a:t>
              </a:r>
              <a:endParaRPr sz="2400"/>
            </a:p>
          </p:txBody>
        </p:sp>
        <p:sp>
          <p:nvSpPr>
            <p:cNvPr id="41" name="Google Shape;508;p22">
              <a:extLst>
                <a:ext uri="{FF2B5EF4-FFF2-40B4-BE49-F238E27FC236}">
                  <a16:creationId xmlns:a16="http://schemas.microsoft.com/office/drawing/2014/main" id="{380070DB-B628-4144-A136-985C9BACC741}"/>
                </a:ext>
              </a:extLst>
            </p:cNvPr>
            <p:cNvSpPr/>
            <p:nvPr/>
          </p:nvSpPr>
          <p:spPr>
            <a:xfrm>
              <a:off x="1806370" y="683300"/>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dirty="0"/>
                <a:t>2</a:t>
              </a:r>
              <a:endParaRPr sz="2400" dirty="0"/>
            </a:p>
          </p:txBody>
        </p:sp>
        <p:sp>
          <p:nvSpPr>
            <p:cNvPr id="42" name="Google Shape;509;p22">
              <a:extLst>
                <a:ext uri="{FF2B5EF4-FFF2-40B4-BE49-F238E27FC236}">
                  <a16:creationId xmlns:a16="http://schemas.microsoft.com/office/drawing/2014/main" id="{324AB251-BDF8-1B4E-A658-3A2DAF180D7B}"/>
                </a:ext>
              </a:extLst>
            </p:cNvPr>
            <p:cNvSpPr/>
            <p:nvPr/>
          </p:nvSpPr>
          <p:spPr>
            <a:xfrm>
              <a:off x="1781370" y="1254475"/>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3</a:t>
              </a:r>
              <a:endParaRPr sz="2400"/>
            </a:p>
          </p:txBody>
        </p:sp>
        <p:sp>
          <p:nvSpPr>
            <p:cNvPr id="43" name="Google Shape;510;p22">
              <a:extLst>
                <a:ext uri="{FF2B5EF4-FFF2-40B4-BE49-F238E27FC236}">
                  <a16:creationId xmlns:a16="http://schemas.microsoft.com/office/drawing/2014/main" id="{993C3ED2-54CB-8F46-B257-9E3471F39979}"/>
                </a:ext>
              </a:extLst>
            </p:cNvPr>
            <p:cNvSpPr/>
            <p:nvPr/>
          </p:nvSpPr>
          <p:spPr>
            <a:xfrm>
              <a:off x="1868645" y="18655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4</a:t>
              </a:r>
              <a:endParaRPr sz="2400"/>
            </a:p>
          </p:txBody>
        </p:sp>
        <p:sp>
          <p:nvSpPr>
            <p:cNvPr id="44" name="Google Shape;511;p22">
              <a:extLst>
                <a:ext uri="{FF2B5EF4-FFF2-40B4-BE49-F238E27FC236}">
                  <a16:creationId xmlns:a16="http://schemas.microsoft.com/office/drawing/2014/main" id="{6C139900-1B97-CE45-8C5A-30334807C2EA}"/>
                </a:ext>
              </a:extLst>
            </p:cNvPr>
            <p:cNvSpPr/>
            <p:nvPr/>
          </p:nvSpPr>
          <p:spPr>
            <a:xfrm>
              <a:off x="2446495" y="118418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dirty="0"/>
                <a:t>5</a:t>
              </a:r>
              <a:endParaRPr sz="2400" dirty="0"/>
            </a:p>
          </p:txBody>
        </p:sp>
        <p:sp>
          <p:nvSpPr>
            <p:cNvPr id="45" name="Google Shape;512;p22">
              <a:extLst>
                <a:ext uri="{FF2B5EF4-FFF2-40B4-BE49-F238E27FC236}">
                  <a16:creationId xmlns:a16="http://schemas.microsoft.com/office/drawing/2014/main" id="{CF7409C5-1F1C-544B-9D39-D645AF061552}"/>
                </a:ext>
              </a:extLst>
            </p:cNvPr>
            <p:cNvSpPr/>
            <p:nvPr/>
          </p:nvSpPr>
          <p:spPr>
            <a:xfrm>
              <a:off x="2858395" y="1841263"/>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6</a:t>
              </a:r>
              <a:endParaRPr sz="2400"/>
            </a:p>
          </p:txBody>
        </p:sp>
        <p:sp>
          <p:nvSpPr>
            <p:cNvPr id="46" name="Google Shape;513;p22">
              <a:extLst>
                <a:ext uri="{FF2B5EF4-FFF2-40B4-BE49-F238E27FC236}">
                  <a16:creationId xmlns:a16="http://schemas.microsoft.com/office/drawing/2014/main" id="{6F85A830-0AE6-2E4A-AEF7-B6147E62B24A}"/>
                </a:ext>
              </a:extLst>
            </p:cNvPr>
            <p:cNvSpPr/>
            <p:nvPr/>
          </p:nvSpPr>
          <p:spPr>
            <a:xfrm>
              <a:off x="1944845" y="2376138"/>
              <a:ext cx="317400" cy="252900"/>
            </a:xfrm>
            <a:prstGeom prst="rect">
              <a:avLst/>
            </a:prstGeom>
            <a:solidFill>
              <a:srgbClr val="B6D7A8"/>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defTabSz="1219140"/>
              <a:r>
                <a:rPr lang="en" sz="2400"/>
                <a:t>7</a:t>
              </a:r>
              <a:endParaRPr sz="2400"/>
            </a:p>
          </p:txBody>
        </p:sp>
        <p:cxnSp>
          <p:nvCxnSpPr>
            <p:cNvPr id="47" name="Google Shape;514;p22">
              <a:extLst>
                <a:ext uri="{FF2B5EF4-FFF2-40B4-BE49-F238E27FC236}">
                  <a16:creationId xmlns:a16="http://schemas.microsoft.com/office/drawing/2014/main" id="{BC661BE0-E351-D04B-8204-1DA717EF80BA}"/>
                </a:ext>
              </a:extLst>
            </p:cNvPr>
            <p:cNvCxnSpPr>
              <a:stCxn id="39" idx="2"/>
              <a:endCxn id="40" idx="0"/>
            </p:cNvCxnSpPr>
            <p:nvPr/>
          </p:nvCxnSpPr>
          <p:spPr>
            <a:xfrm>
              <a:off x="914720" y="1507375"/>
              <a:ext cx="176400" cy="430800"/>
            </a:xfrm>
            <a:prstGeom prst="straightConnector1">
              <a:avLst/>
            </a:prstGeom>
            <a:noFill/>
            <a:ln w="19050" cap="flat" cmpd="sng">
              <a:solidFill>
                <a:schemeClr val="dk2"/>
              </a:solidFill>
              <a:prstDash val="solid"/>
              <a:round/>
              <a:headEnd type="none" w="med" len="med"/>
              <a:tailEnd type="triangle" w="med" len="med"/>
            </a:ln>
          </p:spPr>
        </p:cxnSp>
        <p:cxnSp>
          <p:nvCxnSpPr>
            <p:cNvPr id="48" name="Google Shape;515;p22">
              <a:extLst>
                <a:ext uri="{FF2B5EF4-FFF2-40B4-BE49-F238E27FC236}">
                  <a16:creationId xmlns:a16="http://schemas.microsoft.com/office/drawing/2014/main" id="{1071D31D-E869-1F4C-8CA5-3FC06045FEAE}"/>
                </a:ext>
              </a:extLst>
            </p:cNvPr>
            <p:cNvCxnSpPr>
              <a:stCxn id="39" idx="3"/>
              <a:endCxn id="42" idx="1"/>
            </p:cNvCxnSpPr>
            <p:nvPr/>
          </p:nvCxnSpPr>
          <p:spPr>
            <a:xfrm>
              <a:off x="1073420" y="1380925"/>
              <a:ext cx="708000" cy="0"/>
            </a:xfrm>
            <a:prstGeom prst="straightConnector1">
              <a:avLst/>
            </a:prstGeom>
            <a:noFill/>
            <a:ln w="19050" cap="flat" cmpd="sng">
              <a:solidFill>
                <a:schemeClr val="dk2"/>
              </a:solidFill>
              <a:prstDash val="solid"/>
              <a:round/>
              <a:headEnd type="none" w="med" len="med"/>
              <a:tailEnd type="triangle" w="med" len="med"/>
            </a:ln>
          </p:spPr>
        </p:cxnSp>
        <p:cxnSp>
          <p:nvCxnSpPr>
            <p:cNvPr id="49" name="Google Shape;516;p22">
              <a:extLst>
                <a:ext uri="{FF2B5EF4-FFF2-40B4-BE49-F238E27FC236}">
                  <a16:creationId xmlns:a16="http://schemas.microsoft.com/office/drawing/2014/main" id="{31257851-0742-1548-956F-B3A9A80F3F9F}"/>
                </a:ext>
              </a:extLst>
            </p:cNvPr>
            <p:cNvCxnSpPr>
              <a:stCxn id="41" idx="2"/>
              <a:endCxn id="42" idx="0"/>
            </p:cNvCxnSpPr>
            <p:nvPr/>
          </p:nvCxnSpPr>
          <p:spPr>
            <a:xfrm flipH="1">
              <a:off x="1940170" y="936200"/>
              <a:ext cx="24900" cy="318300"/>
            </a:xfrm>
            <a:prstGeom prst="straightConnector1">
              <a:avLst/>
            </a:prstGeom>
            <a:noFill/>
            <a:ln w="19050" cap="flat" cmpd="sng">
              <a:solidFill>
                <a:schemeClr val="dk2"/>
              </a:solidFill>
              <a:prstDash val="solid"/>
              <a:round/>
              <a:headEnd type="none" w="med" len="med"/>
              <a:tailEnd type="triangle" w="med" len="med"/>
            </a:ln>
          </p:spPr>
        </p:cxnSp>
        <p:cxnSp>
          <p:nvCxnSpPr>
            <p:cNvPr id="50" name="Google Shape;517;p22">
              <a:extLst>
                <a:ext uri="{FF2B5EF4-FFF2-40B4-BE49-F238E27FC236}">
                  <a16:creationId xmlns:a16="http://schemas.microsoft.com/office/drawing/2014/main" id="{B45029D9-74D0-B245-9179-5CD6B28C1072}"/>
                </a:ext>
              </a:extLst>
            </p:cNvPr>
            <p:cNvCxnSpPr>
              <a:cxnSpLocks/>
              <a:stCxn id="41" idx="3"/>
              <a:endCxn id="44" idx="0"/>
            </p:cNvCxnSpPr>
            <p:nvPr/>
          </p:nvCxnSpPr>
          <p:spPr>
            <a:xfrm>
              <a:off x="2123770" y="809750"/>
              <a:ext cx="481500" cy="374400"/>
            </a:xfrm>
            <a:prstGeom prst="straightConnector1">
              <a:avLst/>
            </a:prstGeom>
            <a:noFill/>
            <a:ln w="19050" cap="flat" cmpd="sng">
              <a:solidFill>
                <a:schemeClr val="dk2"/>
              </a:solidFill>
              <a:prstDash val="solid"/>
              <a:round/>
              <a:headEnd type="none" w="med" len="med"/>
              <a:tailEnd type="triangle" w="med" len="med"/>
            </a:ln>
          </p:spPr>
        </p:cxnSp>
        <p:cxnSp>
          <p:nvCxnSpPr>
            <p:cNvPr id="51" name="Google Shape;518;p22">
              <a:extLst>
                <a:ext uri="{FF2B5EF4-FFF2-40B4-BE49-F238E27FC236}">
                  <a16:creationId xmlns:a16="http://schemas.microsoft.com/office/drawing/2014/main" id="{7FD8E381-AFA6-1349-A819-F00BFDC8A30E}"/>
                </a:ext>
              </a:extLst>
            </p:cNvPr>
            <p:cNvCxnSpPr>
              <a:stCxn id="44" idx="2"/>
              <a:endCxn id="45" idx="0"/>
            </p:cNvCxnSpPr>
            <p:nvPr/>
          </p:nvCxnSpPr>
          <p:spPr>
            <a:xfrm>
              <a:off x="2605195" y="1437087"/>
              <a:ext cx="411900" cy="404100"/>
            </a:xfrm>
            <a:prstGeom prst="straightConnector1">
              <a:avLst/>
            </a:prstGeom>
            <a:noFill/>
            <a:ln w="19050" cap="flat" cmpd="sng">
              <a:solidFill>
                <a:schemeClr val="dk2"/>
              </a:solidFill>
              <a:prstDash val="solid"/>
              <a:round/>
              <a:headEnd type="none" w="med" len="med"/>
              <a:tailEnd type="triangle" w="med" len="med"/>
            </a:ln>
          </p:spPr>
        </p:cxnSp>
        <p:cxnSp>
          <p:nvCxnSpPr>
            <p:cNvPr id="52" name="Google Shape;519;p22">
              <a:extLst>
                <a:ext uri="{FF2B5EF4-FFF2-40B4-BE49-F238E27FC236}">
                  <a16:creationId xmlns:a16="http://schemas.microsoft.com/office/drawing/2014/main" id="{1D4BDD4F-8DF4-E144-93DA-E3940198F1B6}"/>
                </a:ext>
              </a:extLst>
            </p:cNvPr>
            <p:cNvCxnSpPr>
              <a:stCxn id="44" idx="2"/>
              <a:endCxn id="43" idx="3"/>
            </p:cNvCxnSpPr>
            <p:nvPr/>
          </p:nvCxnSpPr>
          <p:spPr>
            <a:xfrm flipH="1">
              <a:off x="2186095" y="1437087"/>
              <a:ext cx="419100" cy="555000"/>
            </a:xfrm>
            <a:prstGeom prst="straightConnector1">
              <a:avLst/>
            </a:prstGeom>
            <a:noFill/>
            <a:ln w="19050" cap="flat" cmpd="sng">
              <a:solidFill>
                <a:schemeClr val="dk2"/>
              </a:solidFill>
              <a:prstDash val="solid"/>
              <a:round/>
              <a:headEnd type="none" w="med" len="med"/>
              <a:tailEnd type="triangle" w="med" len="med"/>
            </a:ln>
          </p:spPr>
        </p:cxnSp>
        <p:cxnSp>
          <p:nvCxnSpPr>
            <p:cNvPr id="53" name="Google Shape;520;p22">
              <a:extLst>
                <a:ext uri="{FF2B5EF4-FFF2-40B4-BE49-F238E27FC236}">
                  <a16:creationId xmlns:a16="http://schemas.microsoft.com/office/drawing/2014/main" id="{0CC5064A-1B9F-D34F-B43A-96415DAA43A9}"/>
                </a:ext>
              </a:extLst>
            </p:cNvPr>
            <p:cNvCxnSpPr>
              <a:stCxn id="42" idx="2"/>
              <a:endCxn id="43" idx="0"/>
            </p:cNvCxnSpPr>
            <p:nvPr/>
          </p:nvCxnSpPr>
          <p:spPr>
            <a:xfrm>
              <a:off x="1940070" y="1507375"/>
              <a:ext cx="87300" cy="358200"/>
            </a:xfrm>
            <a:prstGeom prst="straightConnector1">
              <a:avLst/>
            </a:prstGeom>
            <a:noFill/>
            <a:ln w="19050" cap="flat" cmpd="sng">
              <a:solidFill>
                <a:schemeClr val="dk2"/>
              </a:solidFill>
              <a:prstDash val="solid"/>
              <a:round/>
              <a:headEnd type="none" w="med" len="med"/>
              <a:tailEnd type="triangle" w="med" len="med"/>
            </a:ln>
          </p:spPr>
        </p:cxnSp>
        <p:cxnSp>
          <p:nvCxnSpPr>
            <p:cNvPr id="54" name="Google Shape;521;p22">
              <a:extLst>
                <a:ext uri="{FF2B5EF4-FFF2-40B4-BE49-F238E27FC236}">
                  <a16:creationId xmlns:a16="http://schemas.microsoft.com/office/drawing/2014/main" id="{5FFD4237-3CEE-2443-9DF2-85E4D91CD9A7}"/>
                </a:ext>
              </a:extLst>
            </p:cNvPr>
            <p:cNvCxnSpPr>
              <a:stCxn id="40" idx="3"/>
              <a:endCxn id="43" idx="1"/>
            </p:cNvCxnSpPr>
            <p:nvPr/>
          </p:nvCxnSpPr>
          <p:spPr>
            <a:xfrm rot="10800000" flipH="1">
              <a:off x="1249870" y="1992025"/>
              <a:ext cx="618900" cy="72600"/>
            </a:xfrm>
            <a:prstGeom prst="straightConnector1">
              <a:avLst/>
            </a:prstGeom>
            <a:noFill/>
            <a:ln w="19050" cap="flat" cmpd="sng">
              <a:solidFill>
                <a:schemeClr val="dk2"/>
              </a:solidFill>
              <a:prstDash val="solid"/>
              <a:round/>
              <a:headEnd type="none" w="med" len="med"/>
              <a:tailEnd type="triangle" w="med" len="med"/>
            </a:ln>
          </p:spPr>
        </p:cxnSp>
        <p:cxnSp>
          <p:nvCxnSpPr>
            <p:cNvPr id="55" name="Google Shape;522;p22">
              <a:extLst>
                <a:ext uri="{FF2B5EF4-FFF2-40B4-BE49-F238E27FC236}">
                  <a16:creationId xmlns:a16="http://schemas.microsoft.com/office/drawing/2014/main" id="{B11FC827-006A-E24E-89A0-26759274F783}"/>
                </a:ext>
              </a:extLst>
            </p:cNvPr>
            <p:cNvCxnSpPr>
              <a:stCxn id="43" idx="2"/>
              <a:endCxn id="46" idx="0"/>
            </p:cNvCxnSpPr>
            <p:nvPr/>
          </p:nvCxnSpPr>
          <p:spPr>
            <a:xfrm>
              <a:off x="2027345" y="2118462"/>
              <a:ext cx="76200" cy="257700"/>
            </a:xfrm>
            <a:prstGeom prst="straightConnector1">
              <a:avLst/>
            </a:prstGeom>
            <a:noFill/>
            <a:ln w="19050" cap="flat" cmpd="sng">
              <a:solidFill>
                <a:schemeClr val="dk2"/>
              </a:solidFill>
              <a:prstDash val="solid"/>
              <a:round/>
              <a:headEnd type="none" w="med" len="med"/>
              <a:tailEnd type="triangle" w="med" len="med"/>
            </a:ln>
          </p:spPr>
        </p:cxnSp>
      </p:grpSp>
    </p:spTree>
    <p:extLst>
      <p:ext uri="{BB962C8B-B14F-4D97-AF65-F5344CB8AC3E}">
        <p14:creationId xmlns:p14="http://schemas.microsoft.com/office/powerpoint/2010/main" val="39297774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48384-BFC6-470B-B441-999E5949D410}"/>
              </a:ext>
            </a:extLst>
          </p:cNvPr>
          <p:cNvSpPr>
            <a:spLocks noGrp="1"/>
          </p:cNvSpPr>
          <p:nvPr>
            <p:ph type="title"/>
          </p:nvPr>
        </p:nvSpPr>
        <p:spPr/>
        <p:txBody>
          <a:bodyPr/>
          <a:lstStyle/>
          <a:p>
            <a:r>
              <a:rPr lang="en-US" dirty="0"/>
              <a:t>None Recursive Algorithm</a:t>
            </a:r>
          </a:p>
        </p:txBody>
      </p:sp>
      <p:sp>
        <p:nvSpPr>
          <p:cNvPr id="3" name="Content Placeholder 2">
            <a:extLst>
              <a:ext uri="{FF2B5EF4-FFF2-40B4-BE49-F238E27FC236}">
                <a16:creationId xmlns:a16="http://schemas.microsoft.com/office/drawing/2014/main" id="{3E5741B4-6495-4515-BF12-4B0AA6A0B8D9}"/>
              </a:ext>
            </a:extLst>
          </p:cNvPr>
          <p:cNvSpPr>
            <a:spLocks noGrp="1"/>
          </p:cNvSpPr>
          <p:nvPr>
            <p:ph idx="1"/>
          </p:nvPr>
        </p:nvSpPr>
        <p:spPr/>
        <p:txBody>
          <a:bodyPr/>
          <a:lstStyle/>
          <a:p>
            <a:pPr marL="514350" indent="-514350">
              <a:buFont typeface="+mj-lt"/>
              <a:buAutoNum type="arabicPeriod"/>
            </a:pPr>
            <a:r>
              <a:rPr lang="en-US" dirty="0"/>
              <a:t>Created visited list</a:t>
            </a:r>
          </a:p>
          <a:p>
            <a:pPr marL="514350" indent="-514350">
              <a:buFont typeface="+mj-lt"/>
              <a:buAutoNum type="arabicPeriod"/>
            </a:pPr>
            <a:r>
              <a:rPr lang="en-US" dirty="0"/>
              <a:t>While the visited list does not contain all the vertices </a:t>
            </a:r>
          </a:p>
          <a:p>
            <a:pPr lvl="1"/>
            <a:r>
              <a:rPr lang="en-US" dirty="0"/>
              <a:t>Find a vertex that has no successor </a:t>
            </a:r>
          </a:p>
          <a:p>
            <a:pPr lvl="1"/>
            <a:r>
              <a:rPr lang="en-US" dirty="0"/>
              <a:t>Remove all the edges that lead to it from </a:t>
            </a:r>
            <a:r>
              <a:rPr lang="en-US" dirty="0" err="1"/>
              <a:t>edgeList</a:t>
            </a:r>
            <a:endParaRPr lang="en-US" dirty="0"/>
          </a:p>
          <a:p>
            <a:pPr lvl="1"/>
            <a:r>
              <a:rPr lang="en-US" dirty="0"/>
              <a:t>Add it to the visited list</a:t>
            </a:r>
          </a:p>
          <a:p>
            <a:pPr lvl="1"/>
            <a:r>
              <a:rPr lang="en-US" dirty="0"/>
              <a:t>Add it to the topological list</a:t>
            </a:r>
          </a:p>
          <a:p>
            <a:pPr marL="971550" lvl="1" indent="-514350">
              <a:buFont typeface="+mj-lt"/>
              <a:buAutoNum type="arabicPeriod"/>
            </a:pPr>
            <a:endParaRPr lang="en-US" dirty="0"/>
          </a:p>
          <a:p>
            <a:pPr marL="971550" lvl="1" indent="-514350">
              <a:buFont typeface="+mj-lt"/>
              <a:buAutoNum type="arabicPeriod"/>
            </a:pPr>
            <a:endParaRPr lang="en-US" dirty="0"/>
          </a:p>
        </p:txBody>
      </p:sp>
    </p:spTree>
    <p:extLst>
      <p:ext uri="{BB962C8B-B14F-4D97-AF65-F5344CB8AC3E}">
        <p14:creationId xmlns:p14="http://schemas.microsoft.com/office/powerpoint/2010/main" val="23224636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41CF0-8F20-460B-861E-0D6F3A44609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F1EE035-41BA-4F96-9D81-EA4B7C3AEB5E}"/>
              </a:ext>
            </a:extLst>
          </p:cNvPr>
          <p:cNvSpPr>
            <a:spLocks noGrp="1"/>
          </p:cNvSpPr>
          <p:nvPr>
            <p:ph idx="1"/>
          </p:nvPr>
        </p:nvSpPr>
        <p:spPr>
          <a:xfrm>
            <a:off x="838200" y="1371600"/>
            <a:ext cx="9600644" cy="4805363"/>
          </a:xfrm>
        </p:spPr>
        <p:txBody>
          <a:bodyPr/>
          <a:lstStyle/>
          <a:p>
            <a:pPr marL="0" indent="0">
              <a:buNone/>
            </a:pPr>
            <a:endParaRPr lang="en-US" dirty="0"/>
          </a:p>
          <a:p>
            <a:pPr marL="0" indent="0">
              <a:buNone/>
            </a:pPr>
            <a:endParaRPr lang="en-US" dirty="0"/>
          </a:p>
        </p:txBody>
      </p:sp>
      <p:grpSp>
        <p:nvGrpSpPr>
          <p:cNvPr id="28" name="Group 27">
            <a:extLst>
              <a:ext uri="{FF2B5EF4-FFF2-40B4-BE49-F238E27FC236}">
                <a16:creationId xmlns:a16="http://schemas.microsoft.com/office/drawing/2014/main" id="{5F6EF67E-1E2E-4D54-AA2C-CEAC502BBD7C}"/>
              </a:ext>
            </a:extLst>
          </p:cNvPr>
          <p:cNvGrpSpPr/>
          <p:nvPr/>
        </p:nvGrpSpPr>
        <p:grpSpPr>
          <a:xfrm>
            <a:off x="2112464" y="2352745"/>
            <a:ext cx="6313476" cy="3508536"/>
            <a:chOff x="2112464" y="2352745"/>
            <a:chExt cx="6313476" cy="3508536"/>
          </a:xfrm>
        </p:grpSpPr>
        <p:sp>
          <p:nvSpPr>
            <p:cNvPr id="4" name="Oval 3">
              <a:extLst>
                <a:ext uri="{FF2B5EF4-FFF2-40B4-BE49-F238E27FC236}">
                  <a16:creationId xmlns:a16="http://schemas.microsoft.com/office/drawing/2014/main" id="{35F06A86-D19D-4E50-8F56-EC6D3C90093E}"/>
                </a:ext>
              </a:extLst>
            </p:cNvPr>
            <p:cNvSpPr/>
            <p:nvPr/>
          </p:nvSpPr>
          <p:spPr>
            <a:xfrm>
              <a:off x="2569664" y="25963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A538B830-5358-4ED1-8120-CC030FBE7F24}"/>
                </a:ext>
              </a:extLst>
            </p:cNvPr>
            <p:cNvSpPr/>
            <p:nvPr/>
          </p:nvSpPr>
          <p:spPr>
            <a:xfrm>
              <a:off x="7511540" y="4501917"/>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6" name="Oval 5">
              <a:extLst>
                <a:ext uri="{FF2B5EF4-FFF2-40B4-BE49-F238E27FC236}">
                  <a16:creationId xmlns:a16="http://schemas.microsoft.com/office/drawing/2014/main" id="{133B5528-B268-4FB4-AA50-780EB6CA7284}"/>
                </a:ext>
              </a:extLst>
            </p:cNvPr>
            <p:cNvSpPr/>
            <p:nvPr/>
          </p:nvSpPr>
          <p:spPr>
            <a:xfrm>
              <a:off x="5333440" y="4294888"/>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 name="Oval 6">
              <a:extLst>
                <a:ext uri="{FF2B5EF4-FFF2-40B4-BE49-F238E27FC236}">
                  <a16:creationId xmlns:a16="http://schemas.microsoft.com/office/drawing/2014/main" id="{84887E7E-1E71-4E7E-A3B6-BFD70E583372}"/>
                </a:ext>
              </a:extLst>
            </p:cNvPr>
            <p:cNvSpPr/>
            <p:nvPr/>
          </p:nvSpPr>
          <p:spPr>
            <a:xfrm>
              <a:off x="6671674" y="2352745"/>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 name="Oval 7">
              <a:extLst>
                <a:ext uri="{FF2B5EF4-FFF2-40B4-BE49-F238E27FC236}">
                  <a16:creationId xmlns:a16="http://schemas.microsoft.com/office/drawing/2014/main" id="{E6C0EE1C-C802-44D9-B586-026815B751FF}"/>
                </a:ext>
              </a:extLst>
            </p:cNvPr>
            <p:cNvSpPr/>
            <p:nvPr/>
          </p:nvSpPr>
          <p:spPr>
            <a:xfrm>
              <a:off x="4605928" y="24439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9" name="Oval 8">
              <a:extLst>
                <a:ext uri="{FF2B5EF4-FFF2-40B4-BE49-F238E27FC236}">
                  <a16:creationId xmlns:a16="http://schemas.microsoft.com/office/drawing/2014/main" id="{9A63AD32-734E-4113-A3DF-95426228BF3C}"/>
                </a:ext>
              </a:extLst>
            </p:cNvPr>
            <p:cNvSpPr/>
            <p:nvPr/>
          </p:nvSpPr>
          <p:spPr>
            <a:xfrm>
              <a:off x="2112464" y="4946881"/>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0" name="Oval 9">
              <a:extLst>
                <a:ext uri="{FF2B5EF4-FFF2-40B4-BE49-F238E27FC236}">
                  <a16:creationId xmlns:a16="http://schemas.microsoft.com/office/drawing/2014/main" id="{2F8257EA-E074-4FDE-ADFD-83F73E0C5EAC}"/>
                </a:ext>
              </a:extLst>
            </p:cNvPr>
            <p:cNvSpPr/>
            <p:nvPr/>
          </p:nvSpPr>
          <p:spPr>
            <a:xfrm>
              <a:off x="3717670" y="42342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12" name="Straight Arrow Connector 11">
              <a:extLst>
                <a:ext uri="{FF2B5EF4-FFF2-40B4-BE49-F238E27FC236}">
                  <a16:creationId xmlns:a16="http://schemas.microsoft.com/office/drawing/2014/main" id="{993F1254-C230-46EF-903B-4E863F7D2BD2}"/>
                </a:ext>
              </a:extLst>
            </p:cNvPr>
            <p:cNvCxnSpPr>
              <a:stCxn id="4" idx="6"/>
              <a:endCxn id="8" idx="2"/>
            </p:cNvCxnSpPr>
            <p:nvPr/>
          </p:nvCxnSpPr>
          <p:spPr>
            <a:xfrm flipV="1">
              <a:off x="3484064" y="2901162"/>
              <a:ext cx="1121864"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D840BC8-BACD-4D6D-B244-D766148F527A}"/>
                </a:ext>
              </a:extLst>
            </p:cNvPr>
            <p:cNvCxnSpPr>
              <a:endCxn id="10" idx="1"/>
            </p:cNvCxnSpPr>
            <p:nvPr/>
          </p:nvCxnSpPr>
          <p:spPr>
            <a:xfrm>
              <a:off x="3026864" y="3510762"/>
              <a:ext cx="824717" cy="857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CE33310-7F0E-4C27-BEAD-FA40B8A423B5}"/>
                </a:ext>
              </a:extLst>
            </p:cNvPr>
            <p:cNvCxnSpPr/>
            <p:nvPr/>
          </p:nvCxnSpPr>
          <p:spPr>
            <a:xfrm flipV="1">
              <a:off x="3026864" y="4959117"/>
              <a:ext cx="744202" cy="444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A28E2D4-3727-44F4-98D8-07FACCAF5FE2}"/>
                </a:ext>
              </a:extLst>
            </p:cNvPr>
            <p:cNvCxnSpPr>
              <a:stCxn id="10" idx="6"/>
              <a:endCxn id="6" idx="2"/>
            </p:cNvCxnSpPr>
            <p:nvPr/>
          </p:nvCxnSpPr>
          <p:spPr>
            <a:xfrm>
              <a:off x="4632070" y="4691462"/>
              <a:ext cx="701370" cy="60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B93F5E1-8878-4852-8B6C-9E93C00E0193}"/>
                </a:ext>
              </a:extLst>
            </p:cNvPr>
            <p:cNvCxnSpPr/>
            <p:nvPr/>
          </p:nvCxnSpPr>
          <p:spPr>
            <a:xfrm>
              <a:off x="5199399" y="3358362"/>
              <a:ext cx="427165" cy="1009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6E9C6D6-C71C-4572-9A4A-319DFFA89E69}"/>
                </a:ext>
              </a:extLst>
            </p:cNvPr>
            <p:cNvCxnSpPr>
              <a:stCxn id="8" idx="6"/>
              <a:endCxn id="7" idx="2"/>
            </p:cNvCxnSpPr>
            <p:nvPr/>
          </p:nvCxnSpPr>
          <p:spPr>
            <a:xfrm flipV="1">
              <a:off x="5520328" y="2809945"/>
              <a:ext cx="1151346" cy="91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A78168D-5786-467E-97CE-4DF060F68897}"/>
                </a:ext>
              </a:extLst>
            </p:cNvPr>
            <p:cNvCxnSpPr>
              <a:stCxn id="6" idx="7"/>
            </p:cNvCxnSpPr>
            <p:nvPr/>
          </p:nvCxnSpPr>
          <p:spPr>
            <a:xfrm flipV="1">
              <a:off x="6113929" y="3236554"/>
              <a:ext cx="833062" cy="1192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FB9E1DD-A956-4040-83B9-B11F505B1B74}"/>
                </a:ext>
              </a:extLst>
            </p:cNvPr>
            <p:cNvCxnSpPr>
              <a:stCxn id="6" idx="6"/>
              <a:endCxn id="5" idx="2"/>
            </p:cNvCxnSpPr>
            <p:nvPr/>
          </p:nvCxnSpPr>
          <p:spPr>
            <a:xfrm>
              <a:off x="6247840" y="4752088"/>
              <a:ext cx="1263700" cy="207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012743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endParaRPr lang="en-US"/>
          </a:p>
        </p:txBody>
      </p:sp>
      <p:graphicFrame>
        <p:nvGraphicFramePr>
          <p:cNvPr id="21" name="Table 21">
            <a:extLst>
              <a:ext uri="{FF2B5EF4-FFF2-40B4-BE49-F238E27FC236}">
                <a16:creationId xmlns:a16="http://schemas.microsoft.com/office/drawing/2014/main" id="{EE5A095B-126B-4E64-AC75-76029570DC86}"/>
              </a:ext>
            </a:extLst>
          </p:cNvPr>
          <p:cNvGraphicFramePr>
            <a:graphicFrameLocks noGrp="1"/>
          </p:cNvGraphicFramePr>
          <p:nvPr>
            <p:ph sz="half" idx="2"/>
            <p:extLst>
              <p:ext uri="{D42A27DB-BD31-4B8C-83A1-F6EECF244321}">
                <p14:modId xmlns:p14="http://schemas.microsoft.com/office/powerpoint/2010/main" val="403490539"/>
              </p:ext>
            </p:extLst>
          </p:nvPr>
        </p:nvGraphicFramePr>
        <p:xfrm>
          <a:off x="6270802" y="214680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grpSp>
        <p:nvGrpSpPr>
          <p:cNvPr id="5" name="Group 4">
            <a:extLst>
              <a:ext uri="{FF2B5EF4-FFF2-40B4-BE49-F238E27FC236}">
                <a16:creationId xmlns:a16="http://schemas.microsoft.com/office/drawing/2014/main" id="{8C530D60-6875-48A9-AC83-1E1730CA4D0E}"/>
              </a:ext>
            </a:extLst>
          </p:cNvPr>
          <p:cNvGrpSpPr/>
          <p:nvPr/>
        </p:nvGrpSpPr>
        <p:grpSpPr>
          <a:xfrm>
            <a:off x="1314163" y="1907781"/>
            <a:ext cx="3407864" cy="3508536"/>
            <a:chOff x="2112464" y="2352745"/>
            <a:chExt cx="6313476" cy="3508536"/>
          </a:xfrm>
        </p:grpSpPr>
        <p:sp>
          <p:nvSpPr>
            <p:cNvPr id="6" name="Oval 5">
              <a:extLst>
                <a:ext uri="{FF2B5EF4-FFF2-40B4-BE49-F238E27FC236}">
                  <a16:creationId xmlns:a16="http://schemas.microsoft.com/office/drawing/2014/main" id="{254BA6FD-2222-44F3-A684-729685F025AD}"/>
                </a:ext>
              </a:extLst>
            </p:cNvPr>
            <p:cNvSpPr/>
            <p:nvPr/>
          </p:nvSpPr>
          <p:spPr>
            <a:xfrm>
              <a:off x="2569664" y="25963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BDB5FD40-46F7-4EB7-BB41-F852B7956EC7}"/>
                </a:ext>
              </a:extLst>
            </p:cNvPr>
            <p:cNvSpPr/>
            <p:nvPr/>
          </p:nvSpPr>
          <p:spPr>
            <a:xfrm>
              <a:off x="7511540" y="4501917"/>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 name="Oval 7">
              <a:extLst>
                <a:ext uri="{FF2B5EF4-FFF2-40B4-BE49-F238E27FC236}">
                  <a16:creationId xmlns:a16="http://schemas.microsoft.com/office/drawing/2014/main" id="{DE0E05BA-663E-4BAA-8C7A-EB464EFC24BD}"/>
                </a:ext>
              </a:extLst>
            </p:cNvPr>
            <p:cNvSpPr/>
            <p:nvPr/>
          </p:nvSpPr>
          <p:spPr>
            <a:xfrm>
              <a:off x="5333440" y="4294888"/>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Oval 8">
              <a:extLst>
                <a:ext uri="{FF2B5EF4-FFF2-40B4-BE49-F238E27FC236}">
                  <a16:creationId xmlns:a16="http://schemas.microsoft.com/office/drawing/2014/main" id="{A6CB107F-59E1-4D37-89BC-542FD9D04F83}"/>
                </a:ext>
              </a:extLst>
            </p:cNvPr>
            <p:cNvSpPr/>
            <p:nvPr/>
          </p:nvSpPr>
          <p:spPr>
            <a:xfrm>
              <a:off x="6671674" y="2352745"/>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0" name="Oval 9">
              <a:extLst>
                <a:ext uri="{FF2B5EF4-FFF2-40B4-BE49-F238E27FC236}">
                  <a16:creationId xmlns:a16="http://schemas.microsoft.com/office/drawing/2014/main" id="{77BDA10A-4A2C-43DB-A785-37EC427842C2}"/>
                </a:ext>
              </a:extLst>
            </p:cNvPr>
            <p:cNvSpPr/>
            <p:nvPr/>
          </p:nvSpPr>
          <p:spPr>
            <a:xfrm>
              <a:off x="4605928" y="24439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 name="Oval 10">
              <a:extLst>
                <a:ext uri="{FF2B5EF4-FFF2-40B4-BE49-F238E27FC236}">
                  <a16:creationId xmlns:a16="http://schemas.microsoft.com/office/drawing/2014/main" id="{C4912F07-2F81-4755-BDD2-C0C1B35F225E}"/>
                </a:ext>
              </a:extLst>
            </p:cNvPr>
            <p:cNvSpPr/>
            <p:nvPr/>
          </p:nvSpPr>
          <p:spPr>
            <a:xfrm>
              <a:off x="2112464" y="4946881"/>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2" name="Oval 11">
              <a:extLst>
                <a:ext uri="{FF2B5EF4-FFF2-40B4-BE49-F238E27FC236}">
                  <a16:creationId xmlns:a16="http://schemas.microsoft.com/office/drawing/2014/main" id="{443EF124-CDEA-4F78-BDFC-2441C99DDE01}"/>
                </a:ext>
              </a:extLst>
            </p:cNvPr>
            <p:cNvSpPr/>
            <p:nvPr/>
          </p:nvSpPr>
          <p:spPr>
            <a:xfrm>
              <a:off x="3717670" y="42342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13" name="Straight Arrow Connector 12">
              <a:extLst>
                <a:ext uri="{FF2B5EF4-FFF2-40B4-BE49-F238E27FC236}">
                  <a16:creationId xmlns:a16="http://schemas.microsoft.com/office/drawing/2014/main" id="{AE316B5D-A207-4876-A9B6-5E1EDD71B74B}"/>
                </a:ext>
              </a:extLst>
            </p:cNvPr>
            <p:cNvCxnSpPr>
              <a:stCxn id="6" idx="6"/>
              <a:endCxn id="10" idx="2"/>
            </p:cNvCxnSpPr>
            <p:nvPr/>
          </p:nvCxnSpPr>
          <p:spPr>
            <a:xfrm flipV="1">
              <a:off x="3484064" y="2901162"/>
              <a:ext cx="1121864"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582C74A-1C10-4ED4-8449-8367D382FA8C}"/>
                </a:ext>
              </a:extLst>
            </p:cNvPr>
            <p:cNvCxnSpPr>
              <a:endCxn id="12" idx="1"/>
            </p:cNvCxnSpPr>
            <p:nvPr/>
          </p:nvCxnSpPr>
          <p:spPr>
            <a:xfrm>
              <a:off x="3026864" y="3510762"/>
              <a:ext cx="824717" cy="857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BA8EC72-992E-4C18-861A-2E98BE3312BB}"/>
                </a:ext>
              </a:extLst>
            </p:cNvPr>
            <p:cNvCxnSpPr/>
            <p:nvPr/>
          </p:nvCxnSpPr>
          <p:spPr>
            <a:xfrm flipV="1">
              <a:off x="3026864" y="4959117"/>
              <a:ext cx="744202" cy="444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2DD7B53-A538-41D7-A6DD-7217AF0E91F5}"/>
                </a:ext>
              </a:extLst>
            </p:cNvPr>
            <p:cNvCxnSpPr>
              <a:stCxn id="12" idx="6"/>
              <a:endCxn id="8" idx="2"/>
            </p:cNvCxnSpPr>
            <p:nvPr/>
          </p:nvCxnSpPr>
          <p:spPr>
            <a:xfrm>
              <a:off x="4632070" y="4691462"/>
              <a:ext cx="701370" cy="60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E5197A8-9BA0-44D3-87CF-14947F41625C}"/>
                </a:ext>
              </a:extLst>
            </p:cNvPr>
            <p:cNvCxnSpPr/>
            <p:nvPr/>
          </p:nvCxnSpPr>
          <p:spPr>
            <a:xfrm>
              <a:off x="5199399" y="3358362"/>
              <a:ext cx="427165" cy="1009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024BC31-27B8-4F45-B41C-D03603F7164F}"/>
                </a:ext>
              </a:extLst>
            </p:cNvPr>
            <p:cNvCxnSpPr>
              <a:stCxn id="10" idx="6"/>
              <a:endCxn id="9" idx="2"/>
            </p:cNvCxnSpPr>
            <p:nvPr/>
          </p:nvCxnSpPr>
          <p:spPr>
            <a:xfrm flipV="1">
              <a:off x="5520328" y="2809945"/>
              <a:ext cx="1151346" cy="91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165AFF8-662F-42EE-8CDF-7F1754AFB600}"/>
                </a:ext>
              </a:extLst>
            </p:cNvPr>
            <p:cNvCxnSpPr>
              <a:stCxn id="8" idx="7"/>
            </p:cNvCxnSpPr>
            <p:nvPr/>
          </p:nvCxnSpPr>
          <p:spPr>
            <a:xfrm flipV="1">
              <a:off x="6113929" y="3236554"/>
              <a:ext cx="833062" cy="1192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B0E23F8-19C6-414E-836C-FA9604997FF7}"/>
                </a:ext>
              </a:extLst>
            </p:cNvPr>
            <p:cNvCxnSpPr>
              <a:stCxn id="8" idx="6"/>
              <a:endCxn id="7" idx="2"/>
            </p:cNvCxnSpPr>
            <p:nvPr/>
          </p:nvCxnSpPr>
          <p:spPr>
            <a:xfrm>
              <a:off x="6247840" y="4752088"/>
              <a:ext cx="1263700" cy="207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F0DDAB99-5ECF-457A-8BCD-D6B792A6441A}"/>
              </a:ext>
            </a:extLst>
          </p:cNvPr>
          <p:cNvCxnSpPr/>
          <p:nvPr/>
        </p:nvCxnSpPr>
        <p:spPr>
          <a:xfrm>
            <a:off x="6960936" y="236498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Content Placeholder 25">
            <a:extLst>
              <a:ext uri="{FF2B5EF4-FFF2-40B4-BE49-F238E27FC236}">
                <a16:creationId xmlns:a16="http://schemas.microsoft.com/office/drawing/2014/main" id="{101DA06E-38A7-4ECE-8769-90D1C76E2349}"/>
              </a:ext>
            </a:extLst>
          </p:cNvPr>
          <p:cNvSpPr>
            <a:spLocks noGrp="1"/>
          </p:cNvSpPr>
          <p:nvPr>
            <p:ph sz="half" idx="1"/>
          </p:nvPr>
        </p:nvSpPr>
        <p:spPr/>
        <p:txBody>
          <a:bodyPr/>
          <a:lstStyle/>
          <a:p>
            <a:pPr marL="0" indent="0">
              <a:buNone/>
            </a:pPr>
            <a:endParaRPr lang="en-US" dirty="0"/>
          </a:p>
        </p:txBody>
      </p:sp>
      <p:sp>
        <p:nvSpPr>
          <p:cNvPr id="27" name="TextBox 26">
            <a:extLst>
              <a:ext uri="{FF2B5EF4-FFF2-40B4-BE49-F238E27FC236}">
                <a16:creationId xmlns:a16="http://schemas.microsoft.com/office/drawing/2014/main" id="{4D6FC02B-7452-408F-8C3A-0E2F4D44235A}"/>
              </a:ext>
            </a:extLst>
          </p:cNvPr>
          <p:cNvSpPr txBox="1"/>
          <p:nvPr/>
        </p:nvSpPr>
        <p:spPr>
          <a:xfrm>
            <a:off x="7555344" y="2225923"/>
            <a:ext cx="309700" cy="369332"/>
          </a:xfrm>
          <a:prstGeom prst="rect">
            <a:avLst/>
          </a:prstGeom>
          <a:noFill/>
        </p:spPr>
        <p:txBody>
          <a:bodyPr wrap="none" rtlCol="0">
            <a:spAutoFit/>
          </a:bodyPr>
          <a:lstStyle/>
          <a:p>
            <a:r>
              <a:rPr lang="en-US" dirty="0"/>
              <a:t>B</a:t>
            </a:r>
          </a:p>
        </p:txBody>
      </p:sp>
      <p:cxnSp>
        <p:nvCxnSpPr>
          <p:cNvPr id="28" name="Straight Arrow Connector 27">
            <a:extLst>
              <a:ext uri="{FF2B5EF4-FFF2-40B4-BE49-F238E27FC236}">
                <a16:creationId xmlns:a16="http://schemas.microsoft.com/office/drawing/2014/main" id="{03F66EB5-4BB9-4462-8C3B-DEE9046AC3D4}"/>
              </a:ext>
            </a:extLst>
          </p:cNvPr>
          <p:cNvCxnSpPr/>
          <p:nvPr/>
        </p:nvCxnSpPr>
        <p:spPr>
          <a:xfrm>
            <a:off x="7865044" y="2372768"/>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59F206B-0FF4-4D80-9686-49E6FDE17263}"/>
              </a:ext>
            </a:extLst>
          </p:cNvPr>
          <p:cNvSpPr txBox="1"/>
          <p:nvPr/>
        </p:nvSpPr>
        <p:spPr>
          <a:xfrm>
            <a:off x="8372820" y="2193657"/>
            <a:ext cx="327334" cy="369332"/>
          </a:xfrm>
          <a:prstGeom prst="rect">
            <a:avLst/>
          </a:prstGeom>
          <a:noFill/>
        </p:spPr>
        <p:txBody>
          <a:bodyPr wrap="none" rtlCol="0">
            <a:spAutoFit/>
          </a:bodyPr>
          <a:lstStyle/>
          <a:p>
            <a:r>
              <a:rPr lang="en-US" dirty="0"/>
              <a:t>D</a:t>
            </a:r>
          </a:p>
        </p:txBody>
      </p:sp>
      <p:cxnSp>
        <p:nvCxnSpPr>
          <p:cNvPr id="30" name="Straight Arrow Connector 29">
            <a:extLst>
              <a:ext uri="{FF2B5EF4-FFF2-40B4-BE49-F238E27FC236}">
                <a16:creationId xmlns:a16="http://schemas.microsoft.com/office/drawing/2014/main" id="{F93C9476-6E5E-48F9-BFB3-BE9834FFBCEA}"/>
              </a:ext>
            </a:extLst>
          </p:cNvPr>
          <p:cNvCxnSpPr/>
          <p:nvPr/>
        </p:nvCxnSpPr>
        <p:spPr>
          <a:xfrm>
            <a:off x="6960936" y="272428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DCA5DA9-6CEA-4756-BC03-A23CC1A95A97}"/>
              </a:ext>
            </a:extLst>
          </p:cNvPr>
          <p:cNvSpPr txBox="1"/>
          <p:nvPr/>
        </p:nvSpPr>
        <p:spPr>
          <a:xfrm>
            <a:off x="7412900" y="2546284"/>
            <a:ext cx="308098" cy="369332"/>
          </a:xfrm>
          <a:prstGeom prst="rect">
            <a:avLst/>
          </a:prstGeom>
          <a:noFill/>
        </p:spPr>
        <p:txBody>
          <a:bodyPr wrap="none" rtlCol="0">
            <a:spAutoFit/>
          </a:bodyPr>
          <a:lstStyle/>
          <a:p>
            <a:r>
              <a:rPr lang="en-US" dirty="0"/>
              <a:t>C</a:t>
            </a:r>
          </a:p>
        </p:txBody>
      </p:sp>
      <p:cxnSp>
        <p:nvCxnSpPr>
          <p:cNvPr id="32" name="Straight Arrow Connector 31">
            <a:extLst>
              <a:ext uri="{FF2B5EF4-FFF2-40B4-BE49-F238E27FC236}">
                <a16:creationId xmlns:a16="http://schemas.microsoft.com/office/drawing/2014/main" id="{61F4C705-CE68-4E67-8844-D6D689EF660F}"/>
              </a:ext>
            </a:extLst>
          </p:cNvPr>
          <p:cNvCxnSpPr/>
          <p:nvPr/>
        </p:nvCxnSpPr>
        <p:spPr>
          <a:xfrm>
            <a:off x="6960936" y="3435674"/>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82E0BD1-5DD2-4DC1-A592-F0EFF67A5296}"/>
              </a:ext>
            </a:extLst>
          </p:cNvPr>
          <p:cNvSpPr txBox="1"/>
          <p:nvPr/>
        </p:nvSpPr>
        <p:spPr>
          <a:xfrm>
            <a:off x="7446399" y="3232646"/>
            <a:ext cx="296876" cy="369332"/>
          </a:xfrm>
          <a:prstGeom prst="rect">
            <a:avLst/>
          </a:prstGeom>
          <a:noFill/>
        </p:spPr>
        <p:txBody>
          <a:bodyPr wrap="none" rtlCol="0">
            <a:spAutoFit/>
          </a:bodyPr>
          <a:lstStyle/>
          <a:p>
            <a:r>
              <a:rPr lang="en-US" dirty="0"/>
              <a:t>E</a:t>
            </a:r>
          </a:p>
        </p:txBody>
      </p:sp>
      <p:cxnSp>
        <p:nvCxnSpPr>
          <p:cNvPr id="34" name="Straight Arrow Connector 33">
            <a:extLst>
              <a:ext uri="{FF2B5EF4-FFF2-40B4-BE49-F238E27FC236}">
                <a16:creationId xmlns:a16="http://schemas.microsoft.com/office/drawing/2014/main" id="{09A59F22-B529-4A7D-8748-7ECFCDC7F7A8}"/>
              </a:ext>
            </a:extLst>
          </p:cNvPr>
          <p:cNvCxnSpPr/>
          <p:nvPr/>
        </p:nvCxnSpPr>
        <p:spPr>
          <a:xfrm>
            <a:off x="6960936" y="3849924"/>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AA629EA-F215-4CB8-A3B1-9974A8C18679}"/>
              </a:ext>
            </a:extLst>
          </p:cNvPr>
          <p:cNvSpPr txBox="1"/>
          <p:nvPr/>
        </p:nvSpPr>
        <p:spPr>
          <a:xfrm>
            <a:off x="7468712" y="3624436"/>
            <a:ext cx="308098" cy="369332"/>
          </a:xfrm>
          <a:prstGeom prst="rect">
            <a:avLst/>
          </a:prstGeom>
          <a:noFill/>
        </p:spPr>
        <p:txBody>
          <a:bodyPr wrap="none" rtlCol="0">
            <a:spAutoFit/>
          </a:bodyPr>
          <a:lstStyle/>
          <a:p>
            <a:r>
              <a:rPr lang="en-US" dirty="0"/>
              <a:t>C</a:t>
            </a:r>
          </a:p>
        </p:txBody>
      </p:sp>
      <p:cxnSp>
        <p:nvCxnSpPr>
          <p:cNvPr id="36" name="Straight Arrow Connector 35">
            <a:extLst>
              <a:ext uri="{FF2B5EF4-FFF2-40B4-BE49-F238E27FC236}">
                <a16:creationId xmlns:a16="http://schemas.microsoft.com/office/drawing/2014/main" id="{02264F85-387C-416F-BF52-FC41CCFB1FD8}"/>
              </a:ext>
            </a:extLst>
          </p:cNvPr>
          <p:cNvCxnSpPr/>
          <p:nvPr/>
        </p:nvCxnSpPr>
        <p:spPr>
          <a:xfrm>
            <a:off x="6938623" y="458300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0A617BA-B893-4B7D-B16E-D813C71AB29D}"/>
              </a:ext>
            </a:extLst>
          </p:cNvPr>
          <p:cNvSpPr txBox="1"/>
          <p:nvPr/>
        </p:nvSpPr>
        <p:spPr>
          <a:xfrm>
            <a:off x="7475880" y="4410638"/>
            <a:ext cx="327334" cy="369332"/>
          </a:xfrm>
          <a:prstGeom prst="rect">
            <a:avLst/>
          </a:prstGeom>
          <a:noFill/>
        </p:spPr>
        <p:txBody>
          <a:bodyPr wrap="none" rtlCol="0">
            <a:spAutoFit/>
          </a:bodyPr>
          <a:lstStyle/>
          <a:p>
            <a:r>
              <a:rPr lang="en-US" dirty="0"/>
              <a:t>D</a:t>
            </a:r>
          </a:p>
        </p:txBody>
      </p:sp>
      <p:sp>
        <p:nvSpPr>
          <p:cNvPr id="38" name="TextBox 37">
            <a:extLst>
              <a:ext uri="{FF2B5EF4-FFF2-40B4-BE49-F238E27FC236}">
                <a16:creationId xmlns:a16="http://schemas.microsoft.com/office/drawing/2014/main" id="{A1E52D73-274C-4045-97AD-5B208F5CC841}"/>
              </a:ext>
            </a:extLst>
          </p:cNvPr>
          <p:cNvSpPr txBox="1"/>
          <p:nvPr/>
        </p:nvSpPr>
        <p:spPr>
          <a:xfrm>
            <a:off x="8046529" y="2544066"/>
            <a:ext cx="296876" cy="369332"/>
          </a:xfrm>
          <a:prstGeom prst="rect">
            <a:avLst/>
          </a:prstGeom>
          <a:noFill/>
        </p:spPr>
        <p:txBody>
          <a:bodyPr wrap="none" rtlCol="0">
            <a:spAutoFit/>
          </a:bodyPr>
          <a:lstStyle/>
          <a:p>
            <a:r>
              <a:rPr lang="en-US" dirty="0"/>
              <a:t>E</a:t>
            </a:r>
          </a:p>
        </p:txBody>
      </p:sp>
      <p:cxnSp>
        <p:nvCxnSpPr>
          <p:cNvPr id="39" name="Straight Arrow Connector 38">
            <a:extLst>
              <a:ext uri="{FF2B5EF4-FFF2-40B4-BE49-F238E27FC236}">
                <a16:creationId xmlns:a16="http://schemas.microsoft.com/office/drawing/2014/main" id="{60B71FC5-A83F-4515-9C0A-CFB3019E8BF3}"/>
              </a:ext>
            </a:extLst>
          </p:cNvPr>
          <p:cNvCxnSpPr/>
          <p:nvPr/>
        </p:nvCxnSpPr>
        <p:spPr>
          <a:xfrm>
            <a:off x="7613944" y="272428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E6859E5-3B20-4543-AF61-DD1B24DB4DA5}"/>
              </a:ext>
            </a:extLst>
          </p:cNvPr>
          <p:cNvCxnSpPr/>
          <p:nvPr/>
        </p:nvCxnSpPr>
        <p:spPr>
          <a:xfrm>
            <a:off x="7743275" y="3849924"/>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84574ED-523B-4332-9BA6-B16AF22F8AA2}"/>
              </a:ext>
            </a:extLst>
          </p:cNvPr>
          <p:cNvSpPr txBox="1"/>
          <p:nvPr/>
        </p:nvSpPr>
        <p:spPr>
          <a:xfrm>
            <a:off x="8324161" y="3665258"/>
            <a:ext cx="290464" cy="369332"/>
          </a:xfrm>
          <a:prstGeom prst="rect">
            <a:avLst/>
          </a:prstGeom>
          <a:noFill/>
        </p:spPr>
        <p:txBody>
          <a:bodyPr wrap="none" rtlCol="0">
            <a:spAutoFit/>
          </a:bodyPr>
          <a:lstStyle/>
          <a:p>
            <a:r>
              <a:rPr lang="en-US" dirty="0"/>
              <a:t>F</a:t>
            </a:r>
          </a:p>
        </p:txBody>
      </p:sp>
    </p:spTree>
    <p:extLst>
      <p:ext uri="{BB962C8B-B14F-4D97-AF65-F5344CB8AC3E}">
        <p14:creationId xmlns:p14="http://schemas.microsoft.com/office/powerpoint/2010/main" val="36710654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r>
              <a:rPr lang="en-US" dirty="0"/>
              <a:t>Loop 1: Vertex C is selected</a:t>
            </a:r>
          </a:p>
        </p:txBody>
      </p:sp>
      <p:graphicFrame>
        <p:nvGraphicFramePr>
          <p:cNvPr id="21" name="Table 21">
            <a:extLst>
              <a:ext uri="{FF2B5EF4-FFF2-40B4-BE49-F238E27FC236}">
                <a16:creationId xmlns:a16="http://schemas.microsoft.com/office/drawing/2014/main" id="{EE5A095B-126B-4E64-AC75-76029570DC86}"/>
              </a:ext>
            </a:extLst>
          </p:cNvPr>
          <p:cNvGraphicFramePr>
            <a:graphicFrameLocks noGrp="1"/>
          </p:cNvGraphicFramePr>
          <p:nvPr>
            <p:ph sz="half" idx="2"/>
            <p:extLst>
              <p:ext uri="{D42A27DB-BD31-4B8C-83A1-F6EECF244321}">
                <p14:modId xmlns:p14="http://schemas.microsoft.com/office/powerpoint/2010/main" val="1861703397"/>
              </p:ext>
            </p:extLst>
          </p:nvPr>
        </p:nvGraphicFramePr>
        <p:xfrm>
          <a:off x="883780" y="1962143"/>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23" name="Straight Arrow Connector 22">
            <a:extLst>
              <a:ext uri="{FF2B5EF4-FFF2-40B4-BE49-F238E27FC236}">
                <a16:creationId xmlns:a16="http://schemas.microsoft.com/office/drawing/2014/main" id="{F0DDAB99-5ECF-457A-8BCD-D6B792A6441A}"/>
              </a:ext>
            </a:extLst>
          </p:cNvPr>
          <p:cNvCxnSpPr/>
          <p:nvPr/>
        </p:nvCxnSpPr>
        <p:spPr>
          <a:xfrm>
            <a:off x="1573914" y="2180315"/>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D6FC02B-7452-408F-8C3A-0E2F4D44235A}"/>
              </a:ext>
            </a:extLst>
          </p:cNvPr>
          <p:cNvSpPr txBox="1"/>
          <p:nvPr/>
        </p:nvSpPr>
        <p:spPr>
          <a:xfrm>
            <a:off x="2168322" y="2041257"/>
            <a:ext cx="309700" cy="369332"/>
          </a:xfrm>
          <a:prstGeom prst="rect">
            <a:avLst/>
          </a:prstGeom>
          <a:noFill/>
        </p:spPr>
        <p:txBody>
          <a:bodyPr wrap="none" rtlCol="0">
            <a:spAutoFit/>
          </a:bodyPr>
          <a:lstStyle/>
          <a:p>
            <a:r>
              <a:rPr lang="en-US" dirty="0"/>
              <a:t>B</a:t>
            </a:r>
          </a:p>
        </p:txBody>
      </p:sp>
      <p:cxnSp>
        <p:nvCxnSpPr>
          <p:cNvPr id="28" name="Straight Arrow Connector 27">
            <a:extLst>
              <a:ext uri="{FF2B5EF4-FFF2-40B4-BE49-F238E27FC236}">
                <a16:creationId xmlns:a16="http://schemas.microsoft.com/office/drawing/2014/main" id="{03F66EB5-4BB9-4462-8C3B-DEE9046AC3D4}"/>
              </a:ext>
            </a:extLst>
          </p:cNvPr>
          <p:cNvCxnSpPr/>
          <p:nvPr/>
        </p:nvCxnSpPr>
        <p:spPr>
          <a:xfrm>
            <a:off x="2478022" y="2188102"/>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59F206B-0FF4-4D80-9686-49E6FDE17263}"/>
              </a:ext>
            </a:extLst>
          </p:cNvPr>
          <p:cNvSpPr txBox="1"/>
          <p:nvPr/>
        </p:nvSpPr>
        <p:spPr>
          <a:xfrm>
            <a:off x="2985798" y="2008991"/>
            <a:ext cx="327334" cy="369332"/>
          </a:xfrm>
          <a:prstGeom prst="rect">
            <a:avLst/>
          </a:prstGeom>
          <a:noFill/>
        </p:spPr>
        <p:txBody>
          <a:bodyPr wrap="none" rtlCol="0">
            <a:spAutoFit/>
          </a:bodyPr>
          <a:lstStyle/>
          <a:p>
            <a:r>
              <a:rPr lang="en-US" dirty="0"/>
              <a:t>D</a:t>
            </a:r>
          </a:p>
        </p:txBody>
      </p:sp>
      <p:cxnSp>
        <p:nvCxnSpPr>
          <p:cNvPr id="30" name="Straight Arrow Connector 29">
            <a:extLst>
              <a:ext uri="{FF2B5EF4-FFF2-40B4-BE49-F238E27FC236}">
                <a16:creationId xmlns:a16="http://schemas.microsoft.com/office/drawing/2014/main" id="{F93C9476-6E5E-48F9-BFB3-BE9834FFBCEA}"/>
              </a:ext>
            </a:extLst>
          </p:cNvPr>
          <p:cNvCxnSpPr/>
          <p:nvPr/>
        </p:nvCxnSpPr>
        <p:spPr>
          <a:xfrm>
            <a:off x="1573914" y="2539623"/>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DCA5DA9-6CEA-4756-BC03-A23CC1A95A97}"/>
              </a:ext>
            </a:extLst>
          </p:cNvPr>
          <p:cNvSpPr txBox="1"/>
          <p:nvPr/>
        </p:nvSpPr>
        <p:spPr>
          <a:xfrm>
            <a:off x="2025878" y="2361618"/>
            <a:ext cx="308098" cy="369332"/>
          </a:xfrm>
          <a:prstGeom prst="rect">
            <a:avLst/>
          </a:prstGeom>
          <a:noFill/>
        </p:spPr>
        <p:txBody>
          <a:bodyPr wrap="none" rtlCol="0">
            <a:spAutoFit/>
          </a:bodyPr>
          <a:lstStyle/>
          <a:p>
            <a:r>
              <a:rPr lang="en-US" dirty="0"/>
              <a:t>C</a:t>
            </a:r>
          </a:p>
        </p:txBody>
      </p:sp>
      <p:cxnSp>
        <p:nvCxnSpPr>
          <p:cNvPr id="32" name="Straight Arrow Connector 31">
            <a:extLst>
              <a:ext uri="{FF2B5EF4-FFF2-40B4-BE49-F238E27FC236}">
                <a16:creationId xmlns:a16="http://schemas.microsoft.com/office/drawing/2014/main" id="{61F4C705-CE68-4E67-8844-D6D689EF660F}"/>
              </a:ext>
            </a:extLst>
          </p:cNvPr>
          <p:cNvCxnSpPr/>
          <p:nvPr/>
        </p:nvCxnSpPr>
        <p:spPr>
          <a:xfrm>
            <a:off x="1573914" y="3251008"/>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82E0BD1-5DD2-4DC1-A592-F0EFF67A5296}"/>
              </a:ext>
            </a:extLst>
          </p:cNvPr>
          <p:cNvSpPr txBox="1"/>
          <p:nvPr/>
        </p:nvSpPr>
        <p:spPr>
          <a:xfrm>
            <a:off x="2059377" y="3047980"/>
            <a:ext cx="296876" cy="369332"/>
          </a:xfrm>
          <a:prstGeom prst="rect">
            <a:avLst/>
          </a:prstGeom>
          <a:noFill/>
        </p:spPr>
        <p:txBody>
          <a:bodyPr wrap="none" rtlCol="0">
            <a:spAutoFit/>
          </a:bodyPr>
          <a:lstStyle/>
          <a:p>
            <a:r>
              <a:rPr lang="en-US" dirty="0"/>
              <a:t>E</a:t>
            </a:r>
          </a:p>
        </p:txBody>
      </p:sp>
      <p:cxnSp>
        <p:nvCxnSpPr>
          <p:cNvPr id="34" name="Straight Arrow Connector 33">
            <a:extLst>
              <a:ext uri="{FF2B5EF4-FFF2-40B4-BE49-F238E27FC236}">
                <a16:creationId xmlns:a16="http://schemas.microsoft.com/office/drawing/2014/main" id="{09A59F22-B529-4A7D-8748-7ECFCDC7F7A8}"/>
              </a:ext>
            </a:extLst>
          </p:cNvPr>
          <p:cNvCxnSpPr/>
          <p:nvPr/>
        </p:nvCxnSpPr>
        <p:spPr>
          <a:xfrm>
            <a:off x="1573914" y="3665258"/>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AA629EA-F215-4CB8-A3B1-9974A8C18679}"/>
              </a:ext>
            </a:extLst>
          </p:cNvPr>
          <p:cNvSpPr txBox="1"/>
          <p:nvPr/>
        </p:nvSpPr>
        <p:spPr>
          <a:xfrm>
            <a:off x="2081690" y="3439770"/>
            <a:ext cx="308098" cy="369332"/>
          </a:xfrm>
          <a:prstGeom prst="rect">
            <a:avLst/>
          </a:prstGeom>
          <a:noFill/>
        </p:spPr>
        <p:txBody>
          <a:bodyPr wrap="none" rtlCol="0">
            <a:spAutoFit/>
          </a:bodyPr>
          <a:lstStyle/>
          <a:p>
            <a:r>
              <a:rPr lang="en-US" dirty="0"/>
              <a:t>C</a:t>
            </a:r>
          </a:p>
        </p:txBody>
      </p:sp>
      <p:cxnSp>
        <p:nvCxnSpPr>
          <p:cNvPr id="36" name="Straight Arrow Connector 35">
            <a:extLst>
              <a:ext uri="{FF2B5EF4-FFF2-40B4-BE49-F238E27FC236}">
                <a16:creationId xmlns:a16="http://schemas.microsoft.com/office/drawing/2014/main" id="{02264F85-387C-416F-BF52-FC41CCFB1FD8}"/>
              </a:ext>
            </a:extLst>
          </p:cNvPr>
          <p:cNvCxnSpPr/>
          <p:nvPr/>
        </p:nvCxnSpPr>
        <p:spPr>
          <a:xfrm>
            <a:off x="1551601" y="4398335"/>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0A617BA-B893-4B7D-B16E-D813C71AB29D}"/>
              </a:ext>
            </a:extLst>
          </p:cNvPr>
          <p:cNvSpPr txBox="1"/>
          <p:nvPr/>
        </p:nvSpPr>
        <p:spPr>
          <a:xfrm>
            <a:off x="2088858" y="4225972"/>
            <a:ext cx="327334" cy="369332"/>
          </a:xfrm>
          <a:prstGeom prst="rect">
            <a:avLst/>
          </a:prstGeom>
          <a:noFill/>
        </p:spPr>
        <p:txBody>
          <a:bodyPr wrap="none" rtlCol="0">
            <a:spAutoFit/>
          </a:bodyPr>
          <a:lstStyle/>
          <a:p>
            <a:r>
              <a:rPr lang="en-US" dirty="0"/>
              <a:t>D</a:t>
            </a:r>
          </a:p>
        </p:txBody>
      </p:sp>
      <p:sp>
        <p:nvSpPr>
          <p:cNvPr id="38" name="TextBox 37">
            <a:extLst>
              <a:ext uri="{FF2B5EF4-FFF2-40B4-BE49-F238E27FC236}">
                <a16:creationId xmlns:a16="http://schemas.microsoft.com/office/drawing/2014/main" id="{A1E52D73-274C-4045-97AD-5B208F5CC841}"/>
              </a:ext>
            </a:extLst>
          </p:cNvPr>
          <p:cNvSpPr txBox="1"/>
          <p:nvPr/>
        </p:nvSpPr>
        <p:spPr>
          <a:xfrm>
            <a:off x="2659507" y="2359400"/>
            <a:ext cx="296876" cy="369332"/>
          </a:xfrm>
          <a:prstGeom prst="rect">
            <a:avLst/>
          </a:prstGeom>
          <a:noFill/>
        </p:spPr>
        <p:txBody>
          <a:bodyPr wrap="none" rtlCol="0">
            <a:spAutoFit/>
          </a:bodyPr>
          <a:lstStyle/>
          <a:p>
            <a:r>
              <a:rPr lang="en-US" dirty="0"/>
              <a:t>E</a:t>
            </a:r>
          </a:p>
        </p:txBody>
      </p:sp>
      <p:cxnSp>
        <p:nvCxnSpPr>
          <p:cNvPr id="39" name="Straight Arrow Connector 38">
            <a:extLst>
              <a:ext uri="{FF2B5EF4-FFF2-40B4-BE49-F238E27FC236}">
                <a16:creationId xmlns:a16="http://schemas.microsoft.com/office/drawing/2014/main" id="{60B71FC5-A83F-4515-9C0A-CFB3019E8BF3}"/>
              </a:ext>
            </a:extLst>
          </p:cNvPr>
          <p:cNvCxnSpPr/>
          <p:nvPr/>
        </p:nvCxnSpPr>
        <p:spPr>
          <a:xfrm>
            <a:off x="2226922" y="2539623"/>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E6859E5-3B20-4543-AF61-DD1B24DB4DA5}"/>
              </a:ext>
            </a:extLst>
          </p:cNvPr>
          <p:cNvCxnSpPr/>
          <p:nvPr/>
        </p:nvCxnSpPr>
        <p:spPr>
          <a:xfrm>
            <a:off x="2356253" y="3665258"/>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84574ED-523B-4332-9BA6-B16AF22F8AA2}"/>
              </a:ext>
            </a:extLst>
          </p:cNvPr>
          <p:cNvSpPr txBox="1"/>
          <p:nvPr/>
        </p:nvSpPr>
        <p:spPr>
          <a:xfrm>
            <a:off x="2937139" y="3480592"/>
            <a:ext cx="290464" cy="369332"/>
          </a:xfrm>
          <a:prstGeom prst="rect">
            <a:avLst/>
          </a:prstGeom>
          <a:noFill/>
        </p:spPr>
        <p:txBody>
          <a:bodyPr wrap="none" rtlCol="0">
            <a:spAutoFit/>
          </a:bodyPr>
          <a:lstStyle/>
          <a:p>
            <a:r>
              <a:rPr lang="en-US" dirty="0"/>
              <a:t>F</a:t>
            </a:r>
          </a:p>
        </p:txBody>
      </p:sp>
      <p:sp>
        <p:nvSpPr>
          <p:cNvPr id="3" name="TextBox 2">
            <a:extLst>
              <a:ext uri="{FF2B5EF4-FFF2-40B4-BE49-F238E27FC236}">
                <a16:creationId xmlns:a16="http://schemas.microsoft.com/office/drawing/2014/main" id="{9A14C5E0-7DA5-4021-AC6E-944DFC526C23}"/>
              </a:ext>
            </a:extLst>
          </p:cNvPr>
          <p:cNvSpPr txBox="1"/>
          <p:nvPr/>
        </p:nvSpPr>
        <p:spPr>
          <a:xfrm>
            <a:off x="5126182" y="1838036"/>
            <a:ext cx="4406311" cy="1477328"/>
          </a:xfrm>
          <a:prstGeom prst="rect">
            <a:avLst/>
          </a:prstGeom>
          <a:noFill/>
        </p:spPr>
        <p:txBody>
          <a:bodyPr wrap="square" rtlCol="0">
            <a:spAutoFit/>
          </a:bodyPr>
          <a:lstStyle/>
          <a:p>
            <a:r>
              <a:rPr lang="en-US" dirty="0" err="1"/>
              <a:t>visitedList</a:t>
            </a:r>
            <a:r>
              <a:rPr lang="en-US" dirty="0"/>
              <a:t> {C}</a:t>
            </a:r>
          </a:p>
          <a:p>
            <a:r>
              <a:rPr lang="en-US" dirty="0"/>
              <a:t>List {C}</a:t>
            </a:r>
          </a:p>
          <a:p>
            <a:endParaRPr lang="en-US" dirty="0"/>
          </a:p>
          <a:p>
            <a:endParaRPr lang="en-US" dirty="0"/>
          </a:p>
          <a:p>
            <a:endParaRPr lang="en-US" dirty="0"/>
          </a:p>
        </p:txBody>
      </p:sp>
      <p:graphicFrame>
        <p:nvGraphicFramePr>
          <p:cNvPr id="59" name="Table 21">
            <a:extLst>
              <a:ext uri="{FF2B5EF4-FFF2-40B4-BE49-F238E27FC236}">
                <a16:creationId xmlns:a16="http://schemas.microsoft.com/office/drawing/2014/main" id="{016D39FC-C623-4B40-9FC5-812B346EADF4}"/>
              </a:ext>
            </a:extLst>
          </p:cNvPr>
          <p:cNvGraphicFramePr>
            <a:graphicFrameLocks/>
          </p:cNvGraphicFramePr>
          <p:nvPr>
            <p:extLst>
              <p:ext uri="{D42A27DB-BD31-4B8C-83A1-F6EECF244321}">
                <p14:modId xmlns:p14="http://schemas.microsoft.com/office/powerpoint/2010/main" val="2781551974"/>
              </p:ext>
            </p:extLst>
          </p:nvPr>
        </p:nvGraphicFramePr>
        <p:xfrm>
          <a:off x="5292306" y="256298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60" name="Straight Arrow Connector 59">
            <a:extLst>
              <a:ext uri="{FF2B5EF4-FFF2-40B4-BE49-F238E27FC236}">
                <a16:creationId xmlns:a16="http://schemas.microsoft.com/office/drawing/2014/main" id="{DCAB9CFC-6B21-4081-B695-E8E1666C8337}"/>
              </a:ext>
            </a:extLst>
          </p:cNvPr>
          <p:cNvCxnSpPr/>
          <p:nvPr/>
        </p:nvCxnSpPr>
        <p:spPr>
          <a:xfrm>
            <a:off x="5982440" y="278116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516B9D95-C624-4A98-8E02-4E2C409B4911}"/>
              </a:ext>
            </a:extLst>
          </p:cNvPr>
          <p:cNvSpPr txBox="1"/>
          <p:nvPr/>
        </p:nvSpPr>
        <p:spPr>
          <a:xfrm>
            <a:off x="6576848" y="2642103"/>
            <a:ext cx="309700" cy="369332"/>
          </a:xfrm>
          <a:prstGeom prst="rect">
            <a:avLst/>
          </a:prstGeom>
          <a:noFill/>
        </p:spPr>
        <p:txBody>
          <a:bodyPr wrap="none" rtlCol="0">
            <a:spAutoFit/>
          </a:bodyPr>
          <a:lstStyle/>
          <a:p>
            <a:r>
              <a:rPr lang="en-US" dirty="0"/>
              <a:t>B</a:t>
            </a:r>
          </a:p>
        </p:txBody>
      </p:sp>
      <p:cxnSp>
        <p:nvCxnSpPr>
          <p:cNvPr id="62" name="Straight Arrow Connector 61">
            <a:extLst>
              <a:ext uri="{FF2B5EF4-FFF2-40B4-BE49-F238E27FC236}">
                <a16:creationId xmlns:a16="http://schemas.microsoft.com/office/drawing/2014/main" id="{0F47433C-6728-41F6-B88E-7B4A8232D9F8}"/>
              </a:ext>
            </a:extLst>
          </p:cNvPr>
          <p:cNvCxnSpPr/>
          <p:nvPr/>
        </p:nvCxnSpPr>
        <p:spPr>
          <a:xfrm>
            <a:off x="6886548" y="2788948"/>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6B653F9-9D19-42F9-8682-DEABDC881B45}"/>
              </a:ext>
            </a:extLst>
          </p:cNvPr>
          <p:cNvSpPr txBox="1"/>
          <p:nvPr/>
        </p:nvSpPr>
        <p:spPr>
          <a:xfrm>
            <a:off x="7394324" y="2609837"/>
            <a:ext cx="327334" cy="369332"/>
          </a:xfrm>
          <a:prstGeom prst="rect">
            <a:avLst/>
          </a:prstGeom>
          <a:noFill/>
        </p:spPr>
        <p:txBody>
          <a:bodyPr wrap="none" rtlCol="0">
            <a:spAutoFit/>
          </a:bodyPr>
          <a:lstStyle/>
          <a:p>
            <a:r>
              <a:rPr lang="en-US" dirty="0"/>
              <a:t>D</a:t>
            </a:r>
          </a:p>
        </p:txBody>
      </p:sp>
      <p:cxnSp>
        <p:nvCxnSpPr>
          <p:cNvPr id="64" name="Straight Arrow Connector 63">
            <a:extLst>
              <a:ext uri="{FF2B5EF4-FFF2-40B4-BE49-F238E27FC236}">
                <a16:creationId xmlns:a16="http://schemas.microsoft.com/office/drawing/2014/main" id="{8E7F5C22-F6FD-424F-811D-5AAED4F6A062}"/>
              </a:ext>
            </a:extLst>
          </p:cNvPr>
          <p:cNvCxnSpPr/>
          <p:nvPr/>
        </p:nvCxnSpPr>
        <p:spPr>
          <a:xfrm>
            <a:off x="5982440" y="314046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F658F74-8CBD-4A44-B23A-CD2D7EFC2F42}"/>
              </a:ext>
            </a:extLst>
          </p:cNvPr>
          <p:cNvCxnSpPr/>
          <p:nvPr/>
        </p:nvCxnSpPr>
        <p:spPr>
          <a:xfrm>
            <a:off x="5982440" y="3851854"/>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45FA269-7C7C-47EB-9FA9-F78057A3419F}"/>
              </a:ext>
            </a:extLst>
          </p:cNvPr>
          <p:cNvSpPr txBox="1"/>
          <p:nvPr/>
        </p:nvSpPr>
        <p:spPr>
          <a:xfrm>
            <a:off x="6467903" y="3648826"/>
            <a:ext cx="296876" cy="369332"/>
          </a:xfrm>
          <a:prstGeom prst="rect">
            <a:avLst/>
          </a:prstGeom>
          <a:noFill/>
        </p:spPr>
        <p:txBody>
          <a:bodyPr wrap="none" rtlCol="0">
            <a:spAutoFit/>
          </a:bodyPr>
          <a:lstStyle/>
          <a:p>
            <a:r>
              <a:rPr lang="en-US" dirty="0"/>
              <a:t>E</a:t>
            </a:r>
          </a:p>
        </p:txBody>
      </p:sp>
      <p:cxnSp>
        <p:nvCxnSpPr>
          <p:cNvPr id="68" name="Straight Arrow Connector 67">
            <a:extLst>
              <a:ext uri="{FF2B5EF4-FFF2-40B4-BE49-F238E27FC236}">
                <a16:creationId xmlns:a16="http://schemas.microsoft.com/office/drawing/2014/main" id="{9FC07E8A-3F34-4D1B-977E-C6CED42578B0}"/>
              </a:ext>
            </a:extLst>
          </p:cNvPr>
          <p:cNvCxnSpPr/>
          <p:nvPr/>
        </p:nvCxnSpPr>
        <p:spPr>
          <a:xfrm>
            <a:off x="5982440" y="4266104"/>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3F46D88-0F29-404A-BA91-98A9398B7208}"/>
              </a:ext>
            </a:extLst>
          </p:cNvPr>
          <p:cNvCxnSpPr/>
          <p:nvPr/>
        </p:nvCxnSpPr>
        <p:spPr>
          <a:xfrm>
            <a:off x="5960127" y="499918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9317DFA7-CD19-4F73-8537-94C428EF4275}"/>
              </a:ext>
            </a:extLst>
          </p:cNvPr>
          <p:cNvSpPr txBox="1"/>
          <p:nvPr/>
        </p:nvSpPr>
        <p:spPr>
          <a:xfrm>
            <a:off x="6497384" y="4826818"/>
            <a:ext cx="327334" cy="369332"/>
          </a:xfrm>
          <a:prstGeom prst="rect">
            <a:avLst/>
          </a:prstGeom>
          <a:noFill/>
        </p:spPr>
        <p:txBody>
          <a:bodyPr wrap="none" rtlCol="0">
            <a:spAutoFit/>
          </a:bodyPr>
          <a:lstStyle/>
          <a:p>
            <a:r>
              <a:rPr lang="en-US" dirty="0"/>
              <a:t>D</a:t>
            </a:r>
          </a:p>
        </p:txBody>
      </p:sp>
      <p:sp>
        <p:nvSpPr>
          <p:cNvPr id="72" name="TextBox 71">
            <a:extLst>
              <a:ext uri="{FF2B5EF4-FFF2-40B4-BE49-F238E27FC236}">
                <a16:creationId xmlns:a16="http://schemas.microsoft.com/office/drawing/2014/main" id="{1EF0F759-A1E8-4950-9811-65B71E145412}"/>
              </a:ext>
            </a:extLst>
          </p:cNvPr>
          <p:cNvSpPr txBox="1"/>
          <p:nvPr/>
        </p:nvSpPr>
        <p:spPr>
          <a:xfrm>
            <a:off x="6539944" y="2960246"/>
            <a:ext cx="296876" cy="369332"/>
          </a:xfrm>
          <a:prstGeom prst="rect">
            <a:avLst/>
          </a:prstGeom>
          <a:noFill/>
        </p:spPr>
        <p:txBody>
          <a:bodyPr wrap="none" rtlCol="0">
            <a:spAutoFit/>
          </a:bodyPr>
          <a:lstStyle/>
          <a:p>
            <a:r>
              <a:rPr lang="en-US" dirty="0"/>
              <a:t>E</a:t>
            </a:r>
          </a:p>
        </p:txBody>
      </p:sp>
      <p:sp>
        <p:nvSpPr>
          <p:cNvPr id="75" name="TextBox 74">
            <a:extLst>
              <a:ext uri="{FF2B5EF4-FFF2-40B4-BE49-F238E27FC236}">
                <a16:creationId xmlns:a16="http://schemas.microsoft.com/office/drawing/2014/main" id="{E27912CE-B6B6-43F5-A8ED-29A4C07493F5}"/>
              </a:ext>
            </a:extLst>
          </p:cNvPr>
          <p:cNvSpPr txBox="1"/>
          <p:nvPr/>
        </p:nvSpPr>
        <p:spPr>
          <a:xfrm>
            <a:off x="6483625" y="4119431"/>
            <a:ext cx="290464" cy="369332"/>
          </a:xfrm>
          <a:prstGeom prst="rect">
            <a:avLst/>
          </a:prstGeom>
          <a:noFill/>
        </p:spPr>
        <p:txBody>
          <a:bodyPr wrap="none" rtlCol="0">
            <a:spAutoFit/>
          </a:bodyPr>
          <a:lstStyle/>
          <a:p>
            <a:r>
              <a:rPr lang="en-US" dirty="0"/>
              <a:t>F</a:t>
            </a:r>
          </a:p>
        </p:txBody>
      </p:sp>
    </p:spTree>
    <p:extLst>
      <p:ext uri="{BB962C8B-B14F-4D97-AF65-F5344CB8AC3E}">
        <p14:creationId xmlns:p14="http://schemas.microsoft.com/office/powerpoint/2010/main" val="29745005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r>
              <a:rPr lang="en-US" dirty="0"/>
              <a:t>Loop 2: Vertex F is selected</a:t>
            </a:r>
          </a:p>
        </p:txBody>
      </p:sp>
      <p:sp>
        <p:nvSpPr>
          <p:cNvPr id="3" name="TextBox 2">
            <a:extLst>
              <a:ext uri="{FF2B5EF4-FFF2-40B4-BE49-F238E27FC236}">
                <a16:creationId xmlns:a16="http://schemas.microsoft.com/office/drawing/2014/main" id="{9A14C5E0-7DA5-4021-AC6E-944DFC526C23}"/>
              </a:ext>
            </a:extLst>
          </p:cNvPr>
          <p:cNvSpPr txBox="1"/>
          <p:nvPr/>
        </p:nvSpPr>
        <p:spPr>
          <a:xfrm>
            <a:off x="5126182" y="1838036"/>
            <a:ext cx="4406311" cy="1477328"/>
          </a:xfrm>
          <a:prstGeom prst="rect">
            <a:avLst/>
          </a:prstGeom>
          <a:noFill/>
        </p:spPr>
        <p:txBody>
          <a:bodyPr wrap="square" rtlCol="0">
            <a:spAutoFit/>
          </a:bodyPr>
          <a:lstStyle/>
          <a:p>
            <a:r>
              <a:rPr lang="en-US" dirty="0" err="1"/>
              <a:t>visitedList</a:t>
            </a:r>
            <a:r>
              <a:rPr lang="en-US" dirty="0"/>
              <a:t> {C,F}</a:t>
            </a:r>
          </a:p>
          <a:p>
            <a:r>
              <a:rPr lang="en-US" dirty="0"/>
              <a:t>List {F,C}</a:t>
            </a:r>
          </a:p>
          <a:p>
            <a:endParaRPr lang="en-US" dirty="0"/>
          </a:p>
          <a:p>
            <a:endParaRPr lang="en-US" dirty="0"/>
          </a:p>
          <a:p>
            <a:endParaRPr lang="en-US" dirty="0"/>
          </a:p>
        </p:txBody>
      </p:sp>
      <p:graphicFrame>
        <p:nvGraphicFramePr>
          <p:cNvPr id="59" name="Table 21">
            <a:extLst>
              <a:ext uri="{FF2B5EF4-FFF2-40B4-BE49-F238E27FC236}">
                <a16:creationId xmlns:a16="http://schemas.microsoft.com/office/drawing/2014/main" id="{016D39FC-C623-4B40-9FC5-812B346EADF4}"/>
              </a:ext>
            </a:extLst>
          </p:cNvPr>
          <p:cNvGraphicFramePr>
            <a:graphicFrameLocks/>
          </p:cNvGraphicFramePr>
          <p:nvPr/>
        </p:nvGraphicFramePr>
        <p:xfrm>
          <a:off x="5292306" y="256298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60" name="Straight Arrow Connector 59">
            <a:extLst>
              <a:ext uri="{FF2B5EF4-FFF2-40B4-BE49-F238E27FC236}">
                <a16:creationId xmlns:a16="http://schemas.microsoft.com/office/drawing/2014/main" id="{DCAB9CFC-6B21-4081-B695-E8E1666C8337}"/>
              </a:ext>
            </a:extLst>
          </p:cNvPr>
          <p:cNvCxnSpPr/>
          <p:nvPr/>
        </p:nvCxnSpPr>
        <p:spPr>
          <a:xfrm>
            <a:off x="5982440" y="278116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516B9D95-C624-4A98-8E02-4E2C409B4911}"/>
              </a:ext>
            </a:extLst>
          </p:cNvPr>
          <p:cNvSpPr txBox="1"/>
          <p:nvPr/>
        </p:nvSpPr>
        <p:spPr>
          <a:xfrm>
            <a:off x="6576848" y="2642103"/>
            <a:ext cx="309700" cy="369332"/>
          </a:xfrm>
          <a:prstGeom prst="rect">
            <a:avLst/>
          </a:prstGeom>
          <a:noFill/>
        </p:spPr>
        <p:txBody>
          <a:bodyPr wrap="none" rtlCol="0">
            <a:spAutoFit/>
          </a:bodyPr>
          <a:lstStyle/>
          <a:p>
            <a:r>
              <a:rPr lang="en-US" dirty="0"/>
              <a:t>B</a:t>
            </a:r>
          </a:p>
        </p:txBody>
      </p:sp>
      <p:cxnSp>
        <p:nvCxnSpPr>
          <p:cNvPr id="62" name="Straight Arrow Connector 61">
            <a:extLst>
              <a:ext uri="{FF2B5EF4-FFF2-40B4-BE49-F238E27FC236}">
                <a16:creationId xmlns:a16="http://schemas.microsoft.com/office/drawing/2014/main" id="{0F47433C-6728-41F6-B88E-7B4A8232D9F8}"/>
              </a:ext>
            </a:extLst>
          </p:cNvPr>
          <p:cNvCxnSpPr/>
          <p:nvPr/>
        </p:nvCxnSpPr>
        <p:spPr>
          <a:xfrm>
            <a:off x="6886548" y="2788948"/>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6B653F9-9D19-42F9-8682-DEABDC881B45}"/>
              </a:ext>
            </a:extLst>
          </p:cNvPr>
          <p:cNvSpPr txBox="1"/>
          <p:nvPr/>
        </p:nvSpPr>
        <p:spPr>
          <a:xfrm>
            <a:off x="7394324" y="2609837"/>
            <a:ext cx="327334" cy="369332"/>
          </a:xfrm>
          <a:prstGeom prst="rect">
            <a:avLst/>
          </a:prstGeom>
          <a:noFill/>
        </p:spPr>
        <p:txBody>
          <a:bodyPr wrap="none" rtlCol="0">
            <a:spAutoFit/>
          </a:bodyPr>
          <a:lstStyle/>
          <a:p>
            <a:r>
              <a:rPr lang="en-US" dirty="0"/>
              <a:t>D</a:t>
            </a:r>
          </a:p>
        </p:txBody>
      </p:sp>
      <p:cxnSp>
        <p:nvCxnSpPr>
          <p:cNvPr id="64" name="Straight Arrow Connector 63">
            <a:extLst>
              <a:ext uri="{FF2B5EF4-FFF2-40B4-BE49-F238E27FC236}">
                <a16:creationId xmlns:a16="http://schemas.microsoft.com/office/drawing/2014/main" id="{8E7F5C22-F6FD-424F-811D-5AAED4F6A062}"/>
              </a:ext>
            </a:extLst>
          </p:cNvPr>
          <p:cNvCxnSpPr/>
          <p:nvPr/>
        </p:nvCxnSpPr>
        <p:spPr>
          <a:xfrm>
            <a:off x="5982440" y="314046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F658F74-8CBD-4A44-B23A-CD2D7EFC2F42}"/>
              </a:ext>
            </a:extLst>
          </p:cNvPr>
          <p:cNvCxnSpPr/>
          <p:nvPr/>
        </p:nvCxnSpPr>
        <p:spPr>
          <a:xfrm>
            <a:off x="5982440" y="3851854"/>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45FA269-7C7C-47EB-9FA9-F78057A3419F}"/>
              </a:ext>
            </a:extLst>
          </p:cNvPr>
          <p:cNvSpPr txBox="1"/>
          <p:nvPr/>
        </p:nvSpPr>
        <p:spPr>
          <a:xfrm>
            <a:off x="6467903" y="3648826"/>
            <a:ext cx="296876" cy="369332"/>
          </a:xfrm>
          <a:prstGeom prst="rect">
            <a:avLst/>
          </a:prstGeom>
          <a:noFill/>
        </p:spPr>
        <p:txBody>
          <a:bodyPr wrap="none" rtlCol="0">
            <a:spAutoFit/>
          </a:bodyPr>
          <a:lstStyle/>
          <a:p>
            <a:r>
              <a:rPr lang="en-US" dirty="0"/>
              <a:t>E</a:t>
            </a:r>
          </a:p>
        </p:txBody>
      </p:sp>
      <p:cxnSp>
        <p:nvCxnSpPr>
          <p:cNvPr id="70" name="Straight Arrow Connector 69">
            <a:extLst>
              <a:ext uri="{FF2B5EF4-FFF2-40B4-BE49-F238E27FC236}">
                <a16:creationId xmlns:a16="http://schemas.microsoft.com/office/drawing/2014/main" id="{D3F46D88-0F29-404A-BA91-98A9398B7208}"/>
              </a:ext>
            </a:extLst>
          </p:cNvPr>
          <p:cNvCxnSpPr/>
          <p:nvPr/>
        </p:nvCxnSpPr>
        <p:spPr>
          <a:xfrm>
            <a:off x="5960127" y="499918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9317DFA7-CD19-4F73-8537-94C428EF4275}"/>
              </a:ext>
            </a:extLst>
          </p:cNvPr>
          <p:cNvSpPr txBox="1"/>
          <p:nvPr/>
        </p:nvSpPr>
        <p:spPr>
          <a:xfrm>
            <a:off x="6497384" y="4826818"/>
            <a:ext cx="327334" cy="369332"/>
          </a:xfrm>
          <a:prstGeom prst="rect">
            <a:avLst/>
          </a:prstGeom>
          <a:noFill/>
        </p:spPr>
        <p:txBody>
          <a:bodyPr wrap="none" rtlCol="0">
            <a:spAutoFit/>
          </a:bodyPr>
          <a:lstStyle/>
          <a:p>
            <a:r>
              <a:rPr lang="en-US" dirty="0"/>
              <a:t>D</a:t>
            </a:r>
          </a:p>
        </p:txBody>
      </p:sp>
      <p:sp>
        <p:nvSpPr>
          <p:cNvPr id="72" name="TextBox 71">
            <a:extLst>
              <a:ext uri="{FF2B5EF4-FFF2-40B4-BE49-F238E27FC236}">
                <a16:creationId xmlns:a16="http://schemas.microsoft.com/office/drawing/2014/main" id="{1EF0F759-A1E8-4950-9811-65B71E145412}"/>
              </a:ext>
            </a:extLst>
          </p:cNvPr>
          <p:cNvSpPr txBox="1"/>
          <p:nvPr/>
        </p:nvSpPr>
        <p:spPr>
          <a:xfrm>
            <a:off x="6539944" y="2960246"/>
            <a:ext cx="296876" cy="369332"/>
          </a:xfrm>
          <a:prstGeom prst="rect">
            <a:avLst/>
          </a:prstGeom>
          <a:noFill/>
        </p:spPr>
        <p:txBody>
          <a:bodyPr wrap="none" rtlCol="0">
            <a:spAutoFit/>
          </a:bodyPr>
          <a:lstStyle/>
          <a:p>
            <a:r>
              <a:rPr lang="en-US" dirty="0"/>
              <a:t>E</a:t>
            </a:r>
          </a:p>
        </p:txBody>
      </p:sp>
      <p:graphicFrame>
        <p:nvGraphicFramePr>
          <p:cNvPr id="42" name="Table 21">
            <a:extLst>
              <a:ext uri="{FF2B5EF4-FFF2-40B4-BE49-F238E27FC236}">
                <a16:creationId xmlns:a16="http://schemas.microsoft.com/office/drawing/2014/main" id="{6E233416-90D2-48B1-BA72-309E3A00EC28}"/>
              </a:ext>
            </a:extLst>
          </p:cNvPr>
          <p:cNvGraphicFramePr>
            <a:graphicFrameLocks/>
          </p:cNvGraphicFramePr>
          <p:nvPr>
            <p:extLst>
              <p:ext uri="{D42A27DB-BD31-4B8C-83A1-F6EECF244321}">
                <p14:modId xmlns:p14="http://schemas.microsoft.com/office/powerpoint/2010/main" val="1172287507"/>
              </p:ext>
            </p:extLst>
          </p:nvPr>
        </p:nvGraphicFramePr>
        <p:xfrm>
          <a:off x="862872" y="2224934"/>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43" name="Straight Arrow Connector 42">
            <a:extLst>
              <a:ext uri="{FF2B5EF4-FFF2-40B4-BE49-F238E27FC236}">
                <a16:creationId xmlns:a16="http://schemas.microsoft.com/office/drawing/2014/main" id="{32D315CA-B6DC-4A97-99BE-E9F1F2CC9DB2}"/>
              </a:ext>
            </a:extLst>
          </p:cNvPr>
          <p:cNvCxnSpPr/>
          <p:nvPr/>
        </p:nvCxnSpPr>
        <p:spPr>
          <a:xfrm>
            <a:off x="1553006" y="2443106"/>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F5884E86-400F-4E59-9419-6EFEFC4ABADA}"/>
              </a:ext>
            </a:extLst>
          </p:cNvPr>
          <p:cNvSpPr txBox="1"/>
          <p:nvPr/>
        </p:nvSpPr>
        <p:spPr>
          <a:xfrm>
            <a:off x="2147414" y="2304048"/>
            <a:ext cx="309700" cy="369332"/>
          </a:xfrm>
          <a:prstGeom prst="rect">
            <a:avLst/>
          </a:prstGeom>
          <a:noFill/>
        </p:spPr>
        <p:txBody>
          <a:bodyPr wrap="none" rtlCol="0">
            <a:spAutoFit/>
          </a:bodyPr>
          <a:lstStyle/>
          <a:p>
            <a:r>
              <a:rPr lang="en-US" dirty="0"/>
              <a:t>B</a:t>
            </a:r>
          </a:p>
        </p:txBody>
      </p:sp>
      <p:cxnSp>
        <p:nvCxnSpPr>
          <p:cNvPr id="45" name="Straight Arrow Connector 44">
            <a:extLst>
              <a:ext uri="{FF2B5EF4-FFF2-40B4-BE49-F238E27FC236}">
                <a16:creationId xmlns:a16="http://schemas.microsoft.com/office/drawing/2014/main" id="{473DBB9A-1E7A-4CCF-A761-70C093C2A128}"/>
              </a:ext>
            </a:extLst>
          </p:cNvPr>
          <p:cNvCxnSpPr/>
          <p:nvPr/>
        </p:nvCxnSpPr>
        <p:spPr>
          <a:xfrm>
            <a:off x="2457114" y="2450893"/>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215C2AF2-8699-4DB4-8770-5A4D6FB7FCEE}"/>
              </a:ext>
            </a:extLst>
          </p:cNvPr>
          <p:cNvSpPr txBox="1"/>
          <p:nvPr/>
        </p:nvSpPr>
        <p:spPr>
          <a:xfrm>
            <a:off x="2964890" y="2271782"/>
            <a:ext cx="327334" cy="369332"/>
          </a:xfrm>
          <a:prstGeom prst="rect">
            <a:avLst/>
          </a:prstGeom>
          <a:noFill/>
        </p:spPr>
        <p:txBody>
          <a:bodyPr wrap="none" rtlCol="0">
            <a:spAutoFit/>
          </a:bodyPr>
          <a:lstStyle/>
          <a:p>
            <a:r>
              <a:rPr lang="en-US" dirty="0"/>
              <a:t>D</a:t>
            </a:r>
          </a:p>
        </p:txBody>
      </p:sp>
      <p:cxnSp>
        <p:nvCxnSpPr>
          <p:cNvPr id="47" name="Straight Arrow Connector 46">
            <a:extLst>
              <a:ext uri="{FF2B5EF4-FFF2-40B4-BE49-F238E27FC236}">
                <a16:creationId xmlns:a16="http://schemas.microsoft.com/office/drawing/2014/main" id="{B093250D-81EB-45FD-A4DC-4F186F5F8306}"/>
              </a:ext>
            </a:extLst>
          </p:cNvPr>
          <p:cNvCxnSpPr/>
          <p:nvPr/>
        </p:nvCxnSpPr>
        <p:spPr>
          <a:xfrm>
            <a:off x="1553006" y="2802414"/>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7606CE8-F38D-43BA-A37B-561F47217D28}"/>
              </a:ext>
            </a:extLst>
          </p:cNvPr>
          <p:cNvCxnSpPr/>
          <p:nvPr/>
        </p:nvCxnSpPr>
        <p:spPr>
          <a:xfrm>
            <a:off x="1553006" y="351379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C11C62D-F0C8-4826-8451-1FB662107462}"/>
              </a:ext>
            </a:extLst>
          </p:cNvPr>
          <p:cNvSpPr txBox="1"/>
          <p:nvPr/>
        </p:nvSpPr>
        <p:spPr>
          <a:xfrm>
            <a:off x="2038469" y="3310771"/>
            <a:ext cx="296876" cy="369332"/>
          </a:xfrm>
          <a:prstGeom prst="rect">
            <a:avLst/>
          </a:prstGeom>
          <a:noFill/>
        </p:spPr>
        <p:txBody>
          <a:bodyPr wrap="none" rtlCol="0">
            <a:spAutoFit/>
          </a:bodyPr>
          <a:lstStyle/>
          <a:p>
            <a:r>
              <a:rPr lang="en-US" dirty="0"/>
              <a:t>E</a:t>
            </a:r>
          </a:p>
        </p:txBody>
      </p:sp>
      <p:cxnSp>
        <p:nvCxnSpPr>
          <p:cNvPr id="50" name="Straight Arrow Connector 49">
            <a:extLst>
              <a:ext uri="{FF2B5EF4-FFF2-40B4-BE49-F238E27FC236}">
                <a16:creationId xmlns:a16="http://schemas.microsoft.com/office/drawing/2014/main" id="{7AB8B7B0-4957-47E6-9650-439DD8FF3753}"/>
              </a:ext>
            </a:extLst>
          </p:cNvPr>
          <p:cNvCxnSpPr/>
          <p:nvPr/>
        </p:nvCxnSpPr>
        <p:spPr>
          <a:xfrm>
            <a:off x="1553006" y="392804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5EFF190-2C03-4230-9755-F75DDA070C47}"/>
              </a:ext>
            </a:extLst>
          </p:cNvPr>
          <p:cNvCxnSpPr/>
          <p:nvPr/>
        </p:nvCxnSpPr>
        <p:spPr>
          <a:xfrm>
            <a:off x="1530693" y="4661126"/>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DFA348B-1B28-48B2-BCBC-F291C50B3AF9}"/>
              </a:ext>
            </a:extLst>
          </p:cNvPr>
          <p:cNvSpPr txBox="1"/>
          <p:nvPr/>
        </p:nvSpPr>
        <p:spPr>
          <a:xfrm>
            <a:off x="2067950" y="4488763"/>
            <a:ext cx="327334" cy="369332"/>
          </a:xfrm>
          <a:prstGeom prst="rect">
            <a:avLst/>
          </a:prstGeom>
          <a:noFill/>
        </p:spPr>
        <p:txBody>
          <a:bodyPr wrap="none" rtlCol="0">
            <a:spAutoFit/>
          </a:bodyPr>
          <a:lstStyle/>
          <a:p>
            <a:r>
              <a:rPr lang="en-US" dirty="0"/>
              <a:t>D</a:t>
            </a:r>
          </a:p>
        </p:txBody>
      </p:sp>
      <p:sp>
        <p:nvSpPr>
          <p:cNvPr id="53" name="TextBox 52">
            <a:extLst>
              <a:ext uri="{FF2B5EF4-FFF2-40B4-BE49-F238E27FC236}">
                <a16:creationId xmlns:a16="http://schemas.microsoft.com/office/drawing/2014/main" id="{DC19B643-50B6-4F99-BDD1-01CC4B3C5A02}"/>
              </a:ext>
            </a:extLst>
          </p:cNvPr>
          <p:cNvSpPr txBox="1"/>
          <p:nvPr/>
        </p:nvSpPr>
        <p:spPr>
          <a:xfrm>
            <a:off x="2110510" y="2622191"/>
            <a:ext cx="296876" cy="369332"/>
          </a:xfrm>
          <a:prstGeom prst="rect">
            <a:avLst/>
          </a:prstGeom>
          <a:noFill/>
        </p:spPr>
        <p:txBody>
          <a:bodyPr wrap="none" rtlCol="0">
            <a:spAutoFit/>
          </a:bodyPr>
          <a:lstStyle/>
          <a:p>
            <a:r>
              <a:rPr lang="en-US" dirty="0"/>
              <a:t>E</a:t>
            </a:r>
          </a:p>
        </p:txBody>
      </p:sp>
      <p:sp>
        <p:nvSpPr>
          <p:cNvPr id="54" name="TextBox 53">
            <a:extLst>
              <a:ext uri="{FF2B5EF4-FFF2-40B4-BE49-F238E27FC236}">
                <a16:creationId xmlns:a16="http://schemas.microsoft.com/office/drawing/2014/main" id="{492FE775-5299-43F5-9EEA-A52A7A95BF43}"/>
              </a:ext>
            </a:extLst>
          </p:cNvPr>
          <p:cNvSpPr txBox="1"/>
          <p:nvPr/>
        </p:nvSpPr>
        <p:spPr>
          <a:xfrm>
            <a:off x="2054191" y="3781376"/>
            <a:ext cx="290464" cy="369332"/>
          </a:xfrm>
          <a:prstGeom prst="rect">
            <a:avLst/>
          </a:prstGeom>
          <a:noFill/>
        </p:spPr>
        <p:txBody>
          <a:bodyPr wrap="none" rtlCol="0">
            <a:spAutoFit/>
          </a:bodyPr>
          <a:lstStyle/>
          <a:p>
            <a:r>
              <a:rPr lang="en-US" dirty="0"/>
              <a:t>F</a:t>
            </a:r>
          </a:p>
        </p:txBody>
      </p:sp>
    </p:spTree>
    <p:extLst>
      <p:ext uri="{BB962C8B-B14F-4D97-AF65-F5344CB8AC3E}">
        <p14:creationId xmlns:p14="http://schemas.microsoft.com/office/powerpoint/2010/main" val="6507561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r>
              <a:rPr lang="en-US" dirty="0"/>
              <a:t>Loop 3: Vertex E is selected</a:t>
            </a:r>
          </a:p>
        </p:txBody>
      </p:sp>
      <p:sp>
        <p:nvSpPr>
          <p:cNvPr id="3" name="TextBox 2">
            <a:extLst>
              <a:ext uri="{FF2B5EF4-FFF2-40B4-BE49-F238E27FC236}">
                <a16:creationId xmlns:a16="http://schemas.microsoft.com/office/drawing/2014/main" id="{9A14C5E0-7DA5-4021-AC6E-944DFC526C23}"/>
              </a:ext>
            </a:extLst>
          </p:cNvPr>
          <p:cNvSpPr txBox="1"/>
          <p:nvPr/>
        </p:nvSpPr>
        <p:spPr>
          <a:xfrm>
            <a:off x="5126182" y="1838036"/>
            <a:ext cx="4406311" cy="1477328"/>
          </a:xfrm>
          <a:prstGeom prst="rect">
            <a:avLst/>
          </a:prstGeom>
          <a:noFill/>
        </p:spPr>
        <p:txBody>
          <a:bodyPr wrap="square" rtlCol="0">
            <a:spAutoFit/>
          </a:bodyPr>
          <a:lstStyle/>
          <a:p>
            <a:r>
              <a:rPr lang="en-US" dirty="0" err="1"/>
              <a:t>visitedList</a:t>
            </a:r>
            <a:r>
              <a:rPr lang="en-US" dirty="0"/>
              <a:t> {C,F,E}</a:t>
            </a:r>
          </a:p>
          <a:p>
            <a:r>
              <a:rPr lang="en-US" dirty="0"/>
              <a:t>List {E,F,C}</a:t>
            </a:r>
          </a:p>
          <a:p>
            <a:endParaRPr lang="en-US" dirty="0"/>
          </a:p>
          <a:p>
            <a:endParaRPr lang="en-US" dirty="0"/>
          </a:p>
          <a:p>
            <a:endParaRPr lang="en-US" dirty="0"/>
          </a:p>
        </p:txBody>
      </p:sp>
      <p:graphicFrame>
        <p:nvGraphicFramePr>
          <p:cNvPr id="59" name="Table 21">
            <a:extLst>
              <a:ext uri="{FF2B5EF4-FFF2-40B4-BE49-F238E27FC236}">
                <a16:creationId xmlns:a16="http://schemas.microsoft.com/office/drawing/2014/main" id="{016D39FC-C623-4B40-9FC5-812B346EADF4}"/>
              </a:ext>
            </a:extLst>
          </p:cNvPr>
          <p:cNvGraphicFramePr>
            <a:graphicFrameLocks/>
          </p:cNvGraphicFramePr>
          <p:nvPr/>
        </p:nvGraphicFramePr>
        <p:xfrm>
          <a:off x="5292306" y="256298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60" name="Straight Arrow Connector 59">
            <a:extLst>
              <a:ext uri="{FF2B5EF4-FFF2-40B4-BE49-F238E27FC236}">
                <a16:creationId xmlns:a16="http://schemas.microsoft.com/office/drawing/2014/main" id="{DCAB9CFC-6B21-4081-B695-E8E1666C8337}"/>
              </a:ext>
            </a:extLst>
          </p:cNvPr>
          <p:cNvCxnSpPr/>
          <p:nvPr/>
        </p:nvCxnSpPr>
        <p:spPr>
          <a:xfrm>
            <a:off x="5982440" y="278116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516B9D95-C624-4A98-8E02-4E2C409B4911}"/>
              </a:ext>
            </a:extLst>
          </p:cNvPr>
          <p:cNvSpPr txBox="1"/>
          <p:nvPr/>
        </p:nvSpPr>
        <p:spPr>
          <a:xfrm>
            <a:off x="6576848" y="2642103"/>
            <a:ext cx="309700" cy="369332"/>
          </a:xfrm>
          <a:prstGeom prst="rect">
            <a:avLst/>
          </a:prstGeom>
          <a:noFill/>
        </p:spPr>
        <p:txBody>
          <a:bodyPr wrap="none" rtlCol="0">
            <a:spAutoFit/>
          </a:bodyPr>
          <a:lstStyle/>
          <a:p>
            <a:r>
              <a:rPr lang="en-US" dirty="0"/>
              <a:t>B</a:t>
            </a:r>
          </a:p>
        </p:txBody>
      </p:sp>
      <p:cxnSp>
        <p:nvCxnSpPr>
          <p:cNvPr id="62" name="Straight Arrow Connector 61">
            <a:extLst>
              <a:ext uri="{FF2B5EF4-FFF2-40B4-BE49-F238E27FC236}">
                <a16:creationId xmlns:a16="http://schemas.microsoft.com/office/drawing/2014/main" id="{0F47433C-6728-41F6-B88E-7B4A8232D9F8}"/>
              </a:ext>
            </a:extLst>
          </p:cNvPr>
          <p:cNvCxnSpPr/>
          <p:nvPr/>
        </p:nvCxnSpPr>
        <p:spPr>
          <a:xfrm>
            <a:off x="6886548" y="2788948"/>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6B653F9-9D19-42F9-8682-DEABDC881B45}"/>
              </a:ext>
            </a:extLst>
          </p:cNvPr>
          <p:cNvSpPr txBox="1"/>
          <p:nvPr/>
        </p:nvSpPr>
        <p:spPr>
          <a:xfrm>
            <a:off x="7394324" y="2609837"/>
            <a:ext cx="327334" cy="369332"/>
          </a:xfrm>
          <a:prstGeom prst="rect">
            <a:avLst/>
          </a:prstGeom>
          <a:noFill/>
        </p:spPr>
        <p:txBody>
          <a:bodyPr wrap="none" rtlCol="0">
            <a:spAutoFit/>
          </a:bodyPr>
          <a:lstStyle/>
          <a:p>
            <a:r>
              <a:rPr lang="en-US" dirty="0"/>
              <a:t>D</a:t>
            </a:r>
          </a:p>
        </p:txBody>
      </p:sp>
      <p:cxnSp>
        <p:nvCxnSpPr>
          <p:cNvPr id="70" name="Straight Arrow Connector 69">
            <a:extLst>
              <a:ext uri="{FF2B5EF4-FFF2-40B4-BE49-F238E27FC236}">
                <a16:creationId xmlns:a16="http://schemas.microsoft.com/office/drawing/2014/main" id="{D3F46D88-0F29-404A-BA91-98A9398B7208}"/>
              </a:ext>
            </a:extLst>
          </p:cNvPr>
          <p:cNvCxnSpPr/>
          <p:nvPr/>
        </p:nvCxnSpPr>
        <p:spPr>
          <a:xfrm>
            <a:off x="5960127" y="499918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9317DFA7-CD19-4F73-8537-94C428EF4275}"/>
              </a:ext>
            </a:extLst>
          </p:cNvPr>
          <p:cNvSpPr txBox="1"/>
          <p:nvPr/>
        </p:nvSpPr>
        <p:spPr>
          <a:xfrm>
            <a:off x="6497384" y="4826818"/>
            <a:ext cx="327334" cy="369332"/>
          </a:xfrm>
          <a:prstGeom prst="rect">
            <a:avLst/>
          </a:prstGeom>
          <a:noFill/>
        </p:spPr>
        <p:txBody>
          <a:bodyPr wrap="none" rtlCol="0">
            <a:spAutoFit/>
          </a:bodyPr>
          <a:lstStyle/>
          <a:p>
            <a:r>
              <a:rPr lang="en-US" dirty="0"/>
              <a:t>D</a:t>
            </a:r>
          </a:p>
        </p:txBody>
      </p:sp>
      <p:graphicFrame>
        <p:nvGraphicFramePr>
          <p:cNvPr id="28" name="Table 21">
            <a:extLst>
              <a:ext uri="{FF2B5EF4-FFF2-40B4-BE49-F238E27FC236}">
                <a16:creationId xmlns:a16="http://schemas.microsoft.com/office/drawing/2014/main" id="{7BD18D49-2217-432F-9CB3-FBE8E7CE32D8}"/>
              </a:ext>
            </a:extLst>
          </p:cNvPr>
          <p:cNvGraphicFramePr>
            <a:graphicFrameLocks/>
          </p:cNvGraphicFramePr>
          <p:nvPr>
            <p:extLst>
              <p:ext uri="{D42A27DB-BD31-4B8C-83A1-F6EECF244321}">
                <p14:modId xmlns:p14="http://schemas.microsoft.com/office/powerpoint/2010/main" val="1038613425"/>
              </p:ext>
            </p:extLst>
          </p:nvPr>
        </p:nvGraphicFramePr>
        <p:xfrm>
          <a:off x="899818" y="2078080"/>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29" name="Straight Arrow Connector 28">
            <a:extLst>
              <a:ext uri="{FF2B5EF4-FFF2-40B4-BE49-F238E27FC236}">
                <a16:creationId xmlns:a16="http://schemas.microsoft.com/office/drawing/2014/main" id="{AAEF170B-B20D-4730-A1FC-ED6C65EABB1B}"/>
              </a:ext>
            </a:extLst>
          </p:cNvPr>
          <p:cNvCxnSpPr/>
          <p:nvPr/>
        </p:nvCxnSpPr>
        <p:spPr>
          <a:xfrm>
            <a:off x="1589952" y="2296252"/>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267A226-2CF0-4EC7-A6D3-01A521E069A1}"/>
              </a:ext>
            </a:extLst>
          </p:cNvPr>
          <p:cNvSpPr txBox="1"/>
          <p:nvPr/>
        </p:nvSpPr>
        <p:spPr>
          <a:xfrm>
            <a:off x="2184360" y="2157194"/>
            <a:ext cx="309700" cy="369332"/>
          </a:xfrm>
          <a:prstGeom prst="rect">
            <a:avLst/>
          </a:prstGeom>
          <a:noFill/>
        </p:spPr>
        <p:txBody>
          <a:bodyPr wrap="none" rtlCol="0">
            <a:spAutoFit/>
          </a:bodyPr>
          <a:lstStyle/>
          <a:p>
            <a:r>
              <a:rPr lang="en-US" dirty="0"/>
              <a:t>B</a:t>
            </a:r>
          </a:p>
        </p:txBody>
      </p:sp>
      <p:cxnSp>
        <p:nvCxnSpPr>
          <p:cNvPr id="31" name="Straight Arrow Connector 30">
            <a:extLst>
              <a:ext uri="{FF2B5EF4-FFF2-40B4-BE49-F238E27FC236}">
                <a16:creationId xmlns:a16="http://schemas.microsoft.com/office/drawing/2014/main" id="{653F07FA-DB5B-43DA-A529-0CBFECA3A089}"/>
              </a:ext>
            </a:extLst>
          </p:cNvPr>
          <p:cNvCxnSpPr/>
          <p:nvPr/>
        </p:nvCxnSpPr>
        <p:spPr>
          <a:xfrm>
            <a:off x="2494060" y="230403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2B0CFDB-4827-4ADA-B5AF-58B25F1133F7}"/>
              </a:ext>
            </a:extLst>
          </p:cNvPr>
          <p:cNvSpPr txBox="1"/>
          <p:nvPr/>
        </p:nvSpPr>
        <p:spPr>
          <a:xfrm>
            <a:off x="3001836" y="2124928"/>
            <a:ext cx="327334" cy="369332"/>
          </a:xfrm>
          <a:prstGeom prst="rect">
            <a:avLst/>
          </a:prstGeom>
          <a:noFill/>
        </p:spPr>
        <p:txBody>
          <a:bodyPr wrap="none" rtlCol="0">
            <a:spAutoFit/>
          </a:bodyPr>
          <a:lstStyle/>
          <a:p>
            <a:r>
              <a:rPr lang="en-US" dirty="0"/>
              <a:t>D</a:t>
            </a:r>
          </a:p>
        </p:txBody>
      </p:sp>
      <p:cxnSp>
        <p:nvCxnSpPr>
          <p:cNvPr id="33" name="Straight Arrow Connector 32">
            <a:extLst>
              <a:ext uri="{FF2B5EF4-FFF2-40B4-BE49-F238E27FC236}">
                <a16:creationId xmlns:a16="http://schemas.microsoft.com/office/drawing/2014/main" id="{8CC76E9A-A650-4560-B6E2-27291077E62C}"/>
              </a:ext>
            </a:extLst>
          </p:cNvPr>
          <p:cNvCxnSpPr/>
          <p:nvPr/>
        </p:nvCxnSpPr>
        <p:spPr>
          <a:xfrm>
            <a:off x="1589952" y="2655560"/>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97DB9D8-D472-4AA5-8E7C-C0930C53EAF6}"/>
              </a:ext>
            </a:extLst>
          </p:cNvPr>
          <p:cNvCxnSpPr/>
          <p:nvPr/>
        </p:nvCxnSpPr>
        <p:spPr>
          <a:xfrm>
            <a:off x="1589952" y="3366945"/>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6D32F8F-05CC-4C58-9505-FC260485B042}"/>
              </a:ext>
            </a:extLst>
          </p:cNvPr>
          <p:cNvSpPr txBox="1"/>
          <p:nvPr/>
        </p:nvSpPr>
        <p:spPr>
          <a:xfrm>
            <a:off x="2075415" y="3163917"/>
            <a:ext cx="296876" cy="369332"/>
          </a:xfrm>
          <a:prstGeom prst="rect">
            <a:avLst/>
          </a:prstGeom>
          <a:noFill/>
        </p:spPr>
        <p:txBody>
          <a:bodyPr wrap="none" rtlCol="0">
            <a:spAutoFit/>
          </a:bodyPr>
          <a:lstStyle/>
          <a:p>
            <a:r>
              <a:rPr lang="en-US" dirty="0"/>
              <a:t>E</a:t>
            </a:r>
          </a:p>
        </p:txBody>
      </p:sp>
      <p:cxnSp>
        <p:nvCxnSpPr>
          <p:cNvPr id="36" name="Straight Arrow Connector 35">
            <a:extLst>
              <a:ext uri="{FF2B5EF4-FFF2-40B4-BE49-F238E27FC236}">
                <a16:creationId xmlns:a16="http://schemas.microsoft.com/office/drawing/2014/main" id="{615B45F3-DFCD-4C39-80F2-A15DADEF6849}"/>
              </a:ext>
            </a:extLst>
          </p:cNvPr>
          <p:cNvCxnSpPr/>
          <p:nvPr/>
        </p:nvCxnSpPr>
        <p:spPr>
          <a:xfrm>
            <a:off x="1567639" y="4514272"/>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27CC1A8-0771-4355-A16D-F016231ECEDC}"/>
              </a:ext>
            </a:extLst>
          </p:cNvPr>
          <p:cNvSpPr txBox="1"/>
          <p:nvPr/>
        </p:nvSpPr>
        <p:spPr>
          <a:xfrm>
            <a:off x="2104896" y="4341909"/>
            <a:ext cx="327334" cy="369332"/>
          </a:xfrm>
          <a:prstGeom prst="rect">
            <a:avLst/>
          </a:prstGeom>
          <a:noFill/>
        </p:spPr>
        <p:txBody>
          <a:bodyPr wrap="none" rtlCol="0">
            <a:spAutoFit/>
          </a:bodyPr>
          <a:lstStyle/>
          <a:p>
            <a:r>
              <a:rPr lang="en-US" dirty="0"/>
              <a:t>D</a:t>
            </a:r>
          </a:p>
        </p:txBody>
      </p:sp>
      <p:sp>
        <p:nvSpPr>
          <p:cNvPr id="38" name="TextBox 37">
            <a:extLst>
              <a:ext uri="{FF2B5EF4-FFF2-40B4-BE49-F238E27FC236}">
                <a16:creationId xmlns:a16="http://schemas.microsoft.com/office/drawing/2014/main" id="{E8F1FD4A-93EF-41BA-BEE6-7C2444737D37}"/>
              </a:ext>
            </a:extLst>
          </p:cNvPr>
          <p:cNvSpPr txBox="1"/>
          <p:nvPr/>
        </p:nvSpPr>
        <p:spPr>
          <a:xfrm>
            <a:off x="2147456" y="2475337"/>
            <a:ext cx="296876" cy="369332"/>
          </a:xfrm>
          <a:prstGeom prst="rect">
            <a:avLst/>
          </a:prstGeom>
          <a:noFill/>
        </p:spPr>
        <p:txBody>
          <a:bodyPr wrap="none" rtlCol="0">
            <a:spAutoFit/>
          </a:bodyPr>
          <a:lstStyle/>
          <a:p>
            <a:r>
              <a:rPr lang="en-US" dirty="0"/>
              <a:t>E</a:t>
            </a:r>
          </a:p>
        </p:txBody>
      </p:sp>
    </p:spTree>
    <p:extLst>
      <p:ext uri="{BB962C8B-B14F-4D97-AF65-F5344CB8AC3E}">
        <p14:creationId xmlns:p14="http://schemas.microsoft.com/office/powerpoint/2010/main" val="40152910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r>
              <a:rPr lang="en-US" dirty="0"/>
              <a:t>Loop 4: Vertex B is selected</a:t>
            </a:r>
          </a:p>
        </p:txBody>
      </p:sp>
      <p:sp>
        <p:nvSpPr>
          <p:cNvPr id="3" name="TextBox 2">
            <a:extLst>
              <a:ext uri="{FF2B5EF4-FFF2-40B4-BE49-F238E27FC236}">
                <a16:creationId xmlns:a16="http://schemas.microsoft.com/office/drawing/2014/main" id="{9A14C5E0-7DA5-4021-AC6E-944DFC526C23}"/>
              </a:ext>
            </a:extLst>
          </p:cNvPr>
          <p:cNvSpPr txBox="1"/>
          <p:nvPr/>
        </p:nvSpPr>
        <p:spPr>
          <a:xfrm>
            <a:off x="5126182" y="1838036"/>
            <a:ext cx="4406311" cy="1477328"/>
          </a:xfrm>
          <a:prstGeom prst="rect">
            <a:avLst/>
          </a:prstGeom>
          <a:noFill/>
        </p:spPr>
        <p:txBody>
          <a:bodyPr wrap="square" rtlCol="0">
            <a:spAutoFit/>
          </a:bodyPr>
          <a:lstStyle/>
          <a:p>
            <a:r>
              <a:rPr lang="en-US" dirty="0" err="1"/>
              <a:t>visitedList</a:t>
            </a:r>
            <a:r>
              <a:rPr lang="en-US" dirty="0"/>
              <a:t> {C,F,E,B}</a:t>
            </a:r>
          </a:p>
          <a:p>
            <a:r>
              <a:rPr lang="en-US" dirty="0"/>
              <a:t>List {B,E,F,C}</a:t>
            </a:r>
          </a:p>
          <a:p>
            <a:endParaRPr lang="en-US" dirty="0"/>
          </a:p>
          <a:p>
            <a:endParaRPr lang="en-US" dirty="0"/>
          </a:p>
          <a:p>
            <a:endParaRPr lang="en-US" dirty="0"/>
          </a:p>
        </p:txBody>
      </p:sp>
      <p:graphicFrame>
        <p:nvGraphicFramePr>
          <p:cNvPr id="59" name="Table 21">
            <a:extLst>
              <a:ext uri="{FF2B5EF4-FFF2-40B4-BE49-F238E27FC236}">
                <a16:creationId xmlns:a16="http://schemas.microsoft.com/office/drawing/2014/main" id="{016D39FC-C623-4B40-9FC5-812B346EADF4}"/>
              </a:ext>
            </a:extLst>
          </p:cNvPr>
          <p:cNvGraphicFramePr>
            <a:graphicFrameLocks/>
          </p:cNvGraphicFramePr>
          <p:nvPr/>
        </p:nvGraphicFramePr>
        <p:xfrm>
          <a:off x="5292306" y="256298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62" name="Straight Arrow Connector 61">
            <a:extLst>
              <a:ext uri="{FF2B5EF4-FFF2-40B4-BE49-F238E27FC236}">
                <a16:creationId xmlns:a16="http://schemas.microsoft.com/office/drawing/2014/main" id="{0F47433C-6728-41F6-B88E-7B4A8232D9F8}"/>
              </a:ext>
            </a:extLst>
          </p:cNvPr>
          <p:cNvCxnSpPr/>
          <p:nvPr/>
        </p:nvCxnSpPr>
        <p:spPr>
          <a:xfrm>
            <a:off x="5960127" y="275156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6B653F9-9D19-42F9-8682-DEABDC881B45}"/>
              </a:ext>
            </a:extLst>
          </p:cNvPr>
          <p:cNvSpPr txBox="1"/>
          <p:nvPr/>
        </p:nvSpPr>
        <p:spPr>
          <a:xfrm>
            <a:off x="6452710" y="2548104"/>
            <a:ext cx="327334" cy="369332"/>
          </a:xfrm>
          <a:prstGeom prst="rect">
            <a:avLst/>
          </a:prstGeom>
          <a:noFill/>
        </p:spPr>
        <p:txBody>
          <a:bodyPr wrap="none" rtlCol="0">
            <a:spAutoFit/>
          </a:bodyPr>
          <a:lstStyle/>
          <a:p>
            <a:r>
              <a:rPr lang="en-US" dirty="0"/>
              <a:t>D</a:t>
            </a:r>
          </a:p>
        </p:txBody>
      </p:sp>
      <p:cxnSp>
        <p:nvCxnSpPr>
          <p:cNvPr id="70" name="Straight Arrow Connector 69">
            <a:extLst>
              <a:ext uri="{FF2B5EF4-FFF2-40B4-BE49-F238E27FC236}">
                <a16:creationId xmlns:a16="http://schemas.microsoft.com/office/drawing/2014/main" id="{D3F46D88-0F29-404A-BA91-98A9398B7208}"/>
              </a:ext>
            </a:extLst>
          </p:cNvPr>
          <p:cNvCxnSpPr/>
          <p:nvPr/>
        </p:nvCxnSpPr>
        <p:spPr>
          <a:xfrm>
            <a:off x="5960127" y="4999181"/>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9317DFA7-CD19-4F73-8537-94C428EF4275}"/>
              </a:ext>
            </a:extLst>
          </p:cNvPr>
          <p:cNvSpPr txBox="1"/>
          <p:nvPr/>
        </p:nvSpPr>
        <p:spPr>
          <a:xfrm>
            <a:off x="6497384" y="4826818"/>
            <a:ext cx="327334" cy="369332"/>
          </a:xfrm>
          <a:prstGeom prst="rect">
            <a:avLst/>
          </a:prstGeom>
          <a:noFill/>
        </p:spPr>
        <p:txBody>
          <a:bodyPr wrap="none" rtlCol="0">
            <a:spAutoFit/>
          </a:bodyPr>
          <a:lstStyle/>
          <a:p>
            <a:r>
              <a:rPr lang="en-US" dirty="0"/>
              <a:t>D</a:t>
            </a:r>
          </a:p>
        </p:txBody>
      </p:sp>
      <p:graphicFrame>
        <p:nvGraphicFramePr>
          <p:cNvPr id="22" name="Table 21">
            <a:extLst>
              <a:ext uri="{FF2B5EF4-FFF2-40B4-BE49-F238E27FC236}">
                <a16:creationId xmlns:a16="http://schemas.microsoft.com/office/drawing/2014/main" id="{5DA17E47-0D80-4599-AE8B-FD9E873CBD13}"/>
              </a:ext>
            </a:extLst>
          </p:cNvPr>
          <p:cNvGraphicFramePr>
            <a:graphicFrameLocks/>
          </p:cNvGraphicFramePr>
          <p:nvPr>
            <p:extLst>
              <p:ext uri="{D42A27DB-BD31-4B8C-83A1-F6EECF244321}">
                <p14:modId xmlns:p14="http://schemas.microsoft.com/office/powerpoint/2010/main" val="3947507978"/>
              </p:ext>
            </p:extLst>
          </p:nvPr>
        </p:nvGraphicFramePr>
        <p:xfrm>
          <a:off x="987563" y="2193657"/>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23" name="Straight Arrow Connector 22">
            <a:extLst>
              <a:ext uri="{FF2B5EF4-FFF2-40B4-BE49-F238E27FC236}">
                <a16:creationId xmlns:a16="http://schemas.microsoft.com/office/drawing/2014/main" id="{2CA5E31F-67E0-4237-B318-973C05ABF34C}"/>
              </a:ext>
            </a:extLst>
          </p:cNvPr>
          <p:cNvCxnSpPr/>
          <p:nvPr/>
        </p:nvCxnSpPr>
        <p:spPr>
          <a:xfrm>
            <a:off x="1677697" y="241182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F5EC7E7-9557-4154-B068-22134963BC49}"/>
              </a:ext>
            </a:extLst>
          </p:cNvPr>
          <p:cNvSpPr txBox="1"/>
          <p:nvPr/>
        </p:nvSpPr>
        <p:spPr>
          <a:xfrm>
            <a:off x="2272105" y="2272771"/>
            <a:ext cx="309700" cy="369332"/>
          </a:xfrm>
          <a:prstGeom prst="rect">
            <a:avLst/>
          </a:prstGeom>
          <a:noFill/>
        </p:spPr>
        <p:txBody>
          <a:bodyPr wrap="none" rtlCol="0">
            <a:spAutoFit/>
          </a:bodyPr>
          <a:lstStyle/>
          <a:p>
            <a:r>
              <a:rPr lang="en-US" dirty="0"/>
              <a:t>B</a:t>
            </a:r>
          </a:p>
        </p:txBody>
      </p:sp>
      <p:cxnSp>
        <p:nvCxnSpPr>
          <p:cNvPr id="25" name="Straight Arrow Connector 24">
            <a:extLst>
              <a:ext uri="{FF2B5EF4-FFF2-40B4-BE49-F238E27FC236}">
                <a16:creationId xmlns:a16="http://schemas.microsoft.com/office/drawing/2014/main" id="{DE546BEF-1A89-474D-A494-F545877E70B8}"/>
              </a:ext>
            </a:extLst>
          </p:cNvPr>
          <p:cNvCxnSpPr/>
          <p:nvPr/>
        </p:nvCxnSpPr>
        <p:spPr>
          <a:xfrm>
            <a:off x="2581805" y="2419616"/>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18E940F-FEF3-44D0-BF44-BA843BE1B511}"/>
              </a:ext>
            </a:extLst>
          </p:cNvPr>
          <p:cNvSpPr txBox="1"/>
          <p:nvPr/>
        </p:nvSpPr>
        <p:spPr>
          <a:xfrm>
            <a:off x="3089581" y="2240505"/>
            <a:ext cx="327334" cy="369332"/>
          </a:xfrm>
          <a:prstGeom prst="rect">
            <a:avLst/>
          </a:prstGeom>
          <a:noFill/>
        </p:spPr>
        <p:txBody>
          <a:bodyPr wrap="none" rtlCol="0">
            <a:spAutoFit/>
          </a:bodyPr>
          <a:lstStyle/>
          <a:p>
            <a:r>
              <a:rPr lang="en-US" dirty="0"/>
              <a:t>D</a:t>
            </a:r>
          </a:p>
        </p:txBody>
      </p:sp>
      <p:cxnSp>
        <p:nvCxnSpPr>
          <p:cNvPr id="27" name="Straight Arrow Connector 26">
            <a:extLst>
              <a:ext uri="{FF2B5EF4-FFF2-40B4-BE49-F238E27FC236}">
                <a16:creationId xmlns:a16="http://schemas.microsoft.com/office/drawing/2014/main" id="{4C995605-7369-4F5D-A37F-D609422A8AE9}"/>
              </a:ext>
            </a:extLst>
          </p:cNvPr>
          <p:cNvCxnSpPr/>
          <p:nvPr/>
        </p:nvCxnSpPr>
        <p:spPr>
          <a:xfrm>
            <a:off x="1655384" y="462984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9287936-D13B-4226-B1B1-F72CA79F1C45}"/>
              </a:ext>
            </a:extLst>
          </p:cNvPr>
          <p:cNvSpPr txBox="1"/>
          <p:nvPr/>
        </p:nvSpPr>
        <p:spPr>
          <a:xfrm>
            <a:off x="2192641" y="4457486"/>
            <a:ext cx="327334" cy="369332"/>
          </a:xfrm>
          <a:prstGeom prst="rect">
            <a:avLst/>
          </a:prstGeom>
          <a:noFill/>
        </p:spPr>
        <p:txBody>
          <a:bodyPr wrap="none" rtlCol="0">
            <a:spAutoFit/>
          </a:bodyPr>
          <a:lstStyle/>
          <a:p>
            <a:r>
              <a:rPr lang="en-US" dirty="0"/>
              <a:t>D</a:t>
            </a:r>
          </a:p>
        </p:txBody>
      </p:sp>
    </p:spTree>
    <p:extLst>
      <p:ext uri="{BB962C8B-B14F-4D97-AF65-F5344CB8AC3E}">
        <p14:creationId xmlns:p14="http://schemas.microsoft.com/office/powerpoint/2010/main" val="1991233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r>
              <a:rPr lang="en-US" dirty="0"/>
              <a:t>Loop 5: Vertex D is selected</a:t>
            </a:r>
          </a:p>
        </p:txBody>
      </p:sp>
      <p:sp>
        <p:nvSpPr>
          <p:cNvPr id="3" name="TextBox 2">
            <a:extLst>
              <a:ext uri="{FF2B5EF4-FFF2-40B4-BE49-F238E27FC236}">
                <a16:creationId xmlns:a16="http://schemas.microsoft.com/office/drawing/2014/main" id="{9A14C5E0-7DA5-4021-AC6E-944DFC526C23}"/>
              </a:ext>
            </a:extLst>
          </p:cNvPr>
          <p:cNvSpPr txBox="1"/>
          <p:nvPr/>
        </p:nvSpPr>
        <p:spPr>
          <a:xfrm>
            <a:off x="5126182" y="1838036"/>
            <a:ext cx="4406311" cy="1477328"/>
          </a:xfrm>
          <a:prstGeom prst="rect">
            <a:avLst/>
          </a:prstGeom>
          <a:noFill/>
        </p:spPr>
        <p:txBody>
          <a:bodyPr wrap="square" rtlCol="0">
            <a:spAutoFit/>
          </a:bodyPr>
          <a:lstStyle/>
          <a:p>
            <a:r>
              <a:rPr lang="en-US" dirty="0" err="1"/>
              <a:t>visitedList</a:t>
            </a:r>
            <a:r>
              <a:rPr lang="en-US" dirty="0"/>
              <a:t> {C,F,E,B,D}</a:t>
            </a:r>
          </a:p>
          <a:p>
            <a:r>
              <a:rPr lang="en-US" dirty="0"/>
              <a:t>List {D,B,E,F,C}</a:t>
            </a:r>
          </a:p>
          <a:p>
            <a:endParaRPr lang="en-US" dirty="0"/>
          </a:p>
          <a:p>
            <a:endParaRPr lang="en-US" dirty="0"/>
          </a:p>
          <a:p>
            <a:endParaRPr lang="en-US" dirty="0"/>
          </a:p>
        </p:txBody>
      </p:sp>
      <p:graphicFrame>
        <p:nvGraphicFramePr>
          <p:cNvPr id="59" name="Table 21">
            <a:extLst>
              <a:ext uri="{FF2B5EF4-FFF2-40B4-BE49-F238E27FC236}">
                <a16:creationId xmlns:a16="http://schemas.microsoft.com/office/drawing/2014/main" id="{016D39FC-C623-4B40-9FC5-812B346EADF4}"/>
              </a:ext>
            </a:extLst>
          </p:cNvPr>
          <p:cNvGraphicFramePr>
            <a:graphicFrameLocks/>
          </p:cNvGraphicFramePr>
          <p:nvPr/>
        </p:nvGraphicFramePr>
        <p:xfrm>
          <a:off x="5292306" y="256298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graphicFrame>
        <p:nvGraphicFramePr>
          <p:cNvPr id="22" name="Table 21">
            <a:extLst>
              <a:ext uri="{FF2B5EF4-FFF2-40B4-BE49-F238E27FC236}">
                <a16:creationId xmlns:a16="http://schemas.microsoft.com/office/drawing/2014/main" id="{5DA17E47-0D80-4599-AE8B-FD9E873CBD13}"/>
              </a:ext>
            </a:extLst>
          </p:cNvPr>
          <p:cNvGraphicFramePr>
            <a:graphicFrameLocks/>
          </p:cNvGraphicFramePr>
          <p:nvPr/>
        </p:nvGraphicFramePr>
        <p:xfrm>
          <a:off x="987563" y="2193657"/>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cxnSp>
        <p:nvCxnSpPr>
          <p:cNvPr id="25" name="Straight Arrow Connector 24">
            <a:extLst>
              <a:ext uri="{FF2B5EF4-FFF2-40B4-BE49-F238E27FC236}">
                <a16:creationId xmlns:a16="http://schemas.microsoft.com/office/drawing/2014/main" id="{DE546BEF-1A89-474D-A494-F545877E70B8}"/>
              </a:ext>
            </a:extLst>
          </p:cNvPr>
          <p:cNvCxnSpPr/>
          <p:nvPr/>
        </p:nvCxnSpPr>
        <p:spPr>
          <a:xfrm>
            <a:off x="1684865" y="2391596"/>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18E940F-FEF3-44D0-BF44-BA843BE1B511}"/>
              </a:ext>
            </a:extLst>
          </p:cNvPr>
          <p:cNvSpPr txBox="1"/>
          <p:nvPr/>
        </p:nvSpPr>
        <p:spPr>
          <a:xfrm>
            <a:off x="2108038" y="2228151"/>
            <a:ext cx="327334" cy="369332"/>
          </a:xfrm>
          <a:prstGeom prst="rect">
            <a:avLst/>
          </a:prstGeom>
          <a:noFill/>
        </p:spPr>
        <p:txBody>
          <a:bodyPr wrap="none" rtlCol="0">
            <a:spAutoFit/>
          </a:bodyPr>
          <a:lstStyle/>
          <a:p>
            <a:r>
              <a:rPr lang="en-US" dirty="0"/>
              <a:t>D</a:t>
            </a:r>
          </a:p>
        </p:txBody>
      </p:sp>
      <p:cxnSp>
        <p:nvCxnSpPr>
          <p:cNvPr id="27" name="Straight Arrow Connector 26">
            <a:extLst>
              <a:ext uri="{FF2B5EF4-FFF2-40B4-BE49-F238E27FC236}">
                <a16:creationId xmlns:a16="http://schemas.microsoft.com/office/drawing/2014/main" id="{4C995605-7369-4F5D-A37F-D609422A8AE9}"/>
              </a:ext>
            </a:extLst>
          </p:cNvPr>
          <p:cNvCxnSpPr/>
          <p:nvPr/>
        </p:nvCxnSpPr>
        <p:spPr>
          <a:xfrm>
            <a:off x="1655384" y="4629849"/>
            <a:ext cx="507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F9287936-D13B-4226-B1B1-F72CA79F1C45}"/>
              </a:ext>
            </a:extLst>
          </p:cNvPr>
          <p:cNvSpPr txBox="1"/>
          <p:nvPr/>
        </p:nvSpPr>
        <p:spPr>
          <a:xfrm>
            <a:off x="2192641" y="4457486"/>
            <a:ext cx="327334" cy="369332"/>
          </a:xfrm>
          <a:prstGeom prst="rect">
            <a:avLst/>
          </a:prstGeom>
          <a:noFill/>
        </p:spPr>
        <p:txBody>
          <a:bodyPr wrap="none" rtlCol="0">
            <a:spAutoFit/>
          </a:bodyPr>
          <a:lstStyle/>
          <a:p>
            <a:r>
              <a:rPr lang="en-US" dirty="0"/>
              <a:t>D</a:t>
            </a:r>
          </a:p>
        </p:txBody>
      </p:sp>
    </p:spTree>
    <p:extLst>
      <p:ext uri="{BB962C8B-B14F-4D97-AF65-F5344CB8AC3E}">
        <p14:creationId xmlns:p14="http://schemas.microsoft.com/office/powerpoint/2010/main" val="31441102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r>
              <a:rPr lang="en-US" dirty="0"/>
              <a:t>Loop 6: Vertex A is selected</a:t>
            </a:r>
          </a:p>
        </p:txBody>
      </p:sp>
      <p:sp>
        <p:nvSpPr>
          <p:cNvPr id="3" name="TextBox 2">
            <a:extLst>
              <a:ext uri="{FF2B5EF4-FFF2-40B4-BE49-F238E27FC236}">
                <a16:creationId xmlns:a16="http://schemas.microsoft.com/office/drawing/2014/main" id="{9A14C5E0-7DA5-4021-AC6E-944DFC526C23}"/>
              </a:ext>
            </a:extLst>
          </p:cNvPr>
          <p:cNvSpPr txBox="1"/>
          <p:nvPr/>
        </p:nvSpPr>
        <p:spPr>
          <a:xfrm>
            <a:off x="5126182" y="1838036"/>
            <a:ext cx="4406311" cy="1477328"/>
          </a:xfrm>
          <a:prstGeom prst="rect">
            <a:avLst/>
          </a:prstGeom>
          <a:noFill/>
        </p:spPr>
        <p:txBody>
          <a:bodyPr wrap="square" rtlCol="0">
            <a:spAutoFit/>
          </a:bodyPr>
          <a:lstStyle/>
          <a:p>
            <a:r>
              <a:rPr lang="en-US" dirty="0" err="1"/>
              <a:t>visitedList</a:t>
            </a:r>
            <a:r>
              <a:rPr lang="en-US" dirty="0"/>
              <a:t> {C,F,E,B,D,A}</a:t>
            </a:r>
          </a:p>
          <a:p>
            <a:r>
              <a:rPr lang="en-US" dirty="0"/>
              <a:t>List {A,D,B,E,F,C}</a:t>
            </a:r>
          </a:p>
          <a:p>
            <a:endParaRPr lang="en-US" dirty="0"/>
          </a:p>
          <a:p>
            <a:endParaRPr lang="en-US" dirty="0"/>
          </a:p>
          <a:p>
            <a:endParaRPr lang="en-US" dirty="0"/>
          </a:p>
        </p:txBody>
      </p:sp>
      <p:graphicFrame>
        <p:nvGraphicFramePr>
          <p:cNvPr id="59" name="Table 21">
            <a:extLst>
              <a:ext uri="{FF2B5EF4-FFF2-40B4-BE49-F238E27FC236}">
                <a16:creationId xmlns:a16="http://schemas.microsoft.com/office/drawing/2014/main" id="{016D39FC-C623-4B40-9FC5-812B346EADF4}"/>
              </a:ext>
            </a:extLst>
          </p:cNvPr>
          <p:cNvGraphicFramePr>
            <a:graphicFrameLocks/>
          </p:cNvGraphicFramePr>
          <p:nvPr/>
        </p:nvGraphicFramePr>
        <p:xfrm>
          <a:off x="5292306" y="256298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graphicFrame>
        <p:nvGraphicFramePr>
          <p:cNvPr id="22" name="Table 21">
            <a:extLst>
              <a:ext uri="{FF2B5EF4-FFF2-40B4-BE49-F238E27FC236}">
                <a16:creationId xmlns:a16="http://schemas.microsoft.com/office/drawing/2014/main" id="{5DA17E47-0D80-4599-AE8B-FD9E873CBD13}"/>
              </a:ext>
            </a:extLst>
          </p:cNvPr>
          <p:cNvGraphicFramePr>
            <a:graphicFrameLocks/>
          </p:cNvGraphicFramePr>
          <p:nvPr/>
        </p:nvGraphicFramePr>
        <p:xfrm>
          <a:off x="987563" y="2193657"/>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spTree>
    <p:extLst>
      <p:ext uri="{BB962C8B-B14F-4D97-AF65-F5344CB8AC3E}">
        <p14:creationId xmlns:p14="http://schemas.microsoft.com/office/powerpoint/2010/main" val="30885130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A6C95-1605-4C66-9239-A5FFC0EBE24B}"/>
              </a:ext>
            </a:extLst>
          </p:cNvPr>
          <p:cNvSpPr>
            <a:spLocks noGrp="1"/>
          </p:cNvSpPr>
          <p:nvPr>
            <p:ph type="title"/>
          </p:nvPr>
        </p:nvSpPr>
        <p:spPr/>
        <p:txBody>
          <a:bodyPr/>
          <a:lstStyle/>
          <a:p>
            <a:r>
              <a:rPr lang="en-US" dirty="0"/>
              <a:t>Loop 7: Vertex G is selected</a:t>
            </a:r>
          </a:p>
        </p:txBody>
      </p:sp>
      <p:sp>
        <p:nvSpPr>
          <p:cNvPr id="3" name="TextBox 2">
            <a:extLst>
              <a:ext uri="{FF2B5EF4-FFF2-40B4-BE49-F238E27FC236}">
                <a16:creationId xmlns:a16="http://schemas.microsoft.com/office/drawing/2014/main" id="{9A14C5E0-7DA5-4021-AC6E-944DFC526C23}"/>
              </a:ext>
            </a:extLst>
          </p:cNvPr>
          <p:cNvSpPr txBox="1"/>
          <p:nvPr/>
        </p:nvSpPr>
        <p:spPr>
          <a:xfrm>
            <a:off x="5126182" y="1838036"/>
            <a:ext cx="4406311" cy="1477328"/>
          </a:xfrm>
          <a:prstGeom prst="rect">
            <a:avLst/>
          </a:prstGeom>
          <a:noFill/>
        </p:spPr>
        <p:txBody>
          <a:bodyPr wrap="square" rtlCol="0">
            <a:spAutoFit/>
          </a:bodyPr>
          <a:lstStyle/>
          <a:p>
            <a:r>
              <a:rPr lang="en-US" dirty="0" err="1"/>
              <a:t>visitedList</a:t>
            </a:r>
            <a:r>
              <a:rPr lang="en-US" dirty="0"/>
              <a:t> {C,F,E,B,D,A,G}</a:t>
            </a:r>
          </a:p>
          <a:p>
            <a:r>
              <a:rPr lang="en-US" dirty="0"/>
              <a:t>List {G,A,D,B,E,F,C}</a:t>
            </a:r>
          </a:p>
          <a:p>
            <a:endParaRPr lang="en-US" dirty="0"/>
          </a:p>
          <a:p>
            <a:endParaRPr lang="en-US" dirty="0"/>
          </a:p>
          <a:p>
            <a:endParaRPr lang="en-US" dirty="0"/>
          </a:p>
        </p:txBody>
      </p:sp>
      <p:graphicFrame>
        <p:nvGraphicFramePr>
          <p:cNvPr id="59" name="Table 21">
            <a:extLst>
              <a:ext uri="{FF2B5EF4-FFF2-40B4-BE49-F238E27FC236}">
                <a16:creationId xmlns:a16="http://schemas.microsoft.com/office/drawing/2014/main" id="{016D39FC-C623-4B40-9FC5-812B346EADF4}"/>
              </a:ext>
            </a:extLst>
          </p:cNvPr>
          <p:cNvGraphicFramePr>
            <a:graphicFrameLocks/>
          </p:cNvGraphicFramePr>
          <p:nvPr/>
        </p:nvGraphicFramePr>
        <p:xfrm>
          <a:off x="5292306" y="2562989"/>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graphicFrame>
        <p:nvGraphicFramePr>
          <p:cNvPr id="22" name="Table 21">
            <a:extLst>
              <a:ext uri="{FF2B5EF4-FFF2-40B4-BE49-F238E27FC236}">
                <a16:creationId xmlns:a16="http://schemas.microsoft.com/office/drawing/2014/main" id="{5DA17E47-0D80-4599-AE8B-FD9E873CBD13}"/>
              </a:ext>
            </a:extLst>
          </p:cNvPr>
          <p:cNvGraphicFramePr>
            <a:graphicFrameLocks/>
          </p:cNvGraphicFramePr>
          <p:nvPr/>
        </p:nvGraphicFramePr>
        <p:xfrm>
          <a:off x="987563" y="2193657"/>
          <a:ext cx="690134" cy="2595880"/>
        </p:xfrm>
        <a:graphic>
          <a:graphicData uri="http://schemas.openxmlformats.org/drawingml/2006/table">
            <a:tbl>
              <a:tblPr firstRow="1" bandRow="1">
                <a:tableStyleId>{5C22544A-7EE6-4342-B048-85BDC9FD1C3A}</a:tableStyleId>
              </a:tblPr>
              <a:tblGrid>
                <a:gridCol w="690134">
                  <a:extLst>
                    <a:ext uri="{9D8B030D-6E8A-4147-A177-3AD203B41FA5}">
                      <a16:colId xmlns:a16="http://schemas.microsoft.com/office/drawing/2014/main" val="1778251955"/>
                    </a:ext>
                  </a:extLst>
                </a:gridCol>
              </a:tblGrid>
              <a:tr h="370840">
                <a:tc>
                  <a:txBody>
                    <a:bodyPr/>
                    <a:lstStyle/>
                    <a:p>
                      <a:r>
                        <a:rPr lang="en-US" dirty="0">
                          <a:solidFill>
                            <a:schemeClr val="tx1"/>
                          </a:solidFill>
                        </a:rPr>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1873878"/>
                  </a:ext>
                </a:extLst>
              </a:tr>
              <a:tr h="370840">
                <a:tc>
                  <a:txBody>
                    <a:bodyPr/>
                    <a:lstStyle/>
                    <a:p>
                      <a:r>
                        <a:rPr lang="en-US"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3073956"/>
                  </a:ext>
                </a:extLst>
              </a:tr>
              <a:tr h="370840">
                <a:tc>
                  <a:txBody>
                    <a:bodyPr/>
                    <a:lstStyle/>
                    <a:p>
                      <a:r>
                        <a:rPr lang="en-US"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8023813"/>
                  </a:ext>
                </a:extLst>
              </a:tr>
              <a:tr h="370840">
                <a:tc>
                  <a:txBody>
                    <a:bodyPr/>
                    <a:lstStyle/>
                    <a:p>
                      <a:r>
                        <a:rPr lang="en-US"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358072"/>
                  </a:ext>
                </a:extLst>
              </a:tr>
              <a:tr h="370840">
                <a:tc>
                  <a:txBody>
                    <a:bodyPr/>
                    <a:lstStyle/>
                    <a:p>
                      <a:r>
                        <a:rPr lang="en-US"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4407058"/>
                  </a:ext>
                </a:extLst>
              </a:tr>
              <a:tr h="370840">
                <a:tc>
                  <a:txBody>
                    <a:bodyPr/>
                    <a:lstStyle/>
                    <a:p>
                      <a:r>
                        <a:rPr lang="en-US" dirty="0"/>
                        <a:t>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3124241"/>
                  </a:ext>
                </a:extLst>
              </a:tr>
              <a:tr h="370840">
                <a:tc>
                  <a:txBody>
                    <a:bodyPr/>
                    <a:lstStyle/>
                    <a:p>
                      <a:r>
                        <a:rPr lang="en-US" dirty="0"/>
                        <a:t>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527675"/>
                  </a:ext>
                </a:extLst>
              </a:tr>
            </a:tbl>
          </a:graphicData>
        </a:graphic>
      </p:graphicFrame>
      <p:sp>
        <p:nvSpPr>
          <p:cNvPr id="4" name="TextBox 3">
            <a:extLst>
              <a:ext uri="{FF2B5EF4-FFF2-40B4-BE49-F238E27FC236}">
                <a16:creationId xmlns:a16="http://schemas.microsoft.com/office/drawing/2014/main" id="{3D15EDE1-3829-4EC7-810A-92FC952EC35F}"/>
              </a:ext>
            </a:extLst>
          </p:cNvPr>
          <p:cNvSpPr txBox="1"/>
          <p:nvPr/>
        </p:nvSpPr>
        <p:spPr>
          <a:xfrm>
            <a:off x="987563" y="5874327"/>
            <a:ext cx="4953600" cy="369332"/>
          </a:xfrm>
          <a:prstGeom prst="rect">
            <a:avLst/>
          </a:prstGeom>
          <a:noFill/>
        </p:spPr>
        <p:txBody>
          <a:bodyPr wrap="none" rtlCol="0">
            <a:spAutoFit/>
          </a:bodyPr>
          <a:lstStyle/>
          <a:p>
            <a:r>
              <a:rPr lang="en-US" dirty="0"/>
              <a:t>Topological Sorting: G </a:t>
            </a:r>
            <a:r>
              <a:rPr lang="en-US" dirty="0">
                <a:sym typeface="Wingdings" panose="05000000000000000000" pitchFamily="2" charset="2"/>
              </a:rPr>
              <a:t> A  D  B  E  F  C</a:t>
            </a:r>
            <a:endParaRPr lang="en-US" dirty="0"/>
          </a:p>
        </p:txBody>
      </p:sp>
      <p:grpSp>
        <p:nvGrpSpPr>
          <p:cNvPr id="11" name="Group 10">
            <a:extLst>
              <a:ext uri="{FF2B5EF4-FFF2-40B4-BE49-F238E27FC236}">
                <a16:creationId xmlns:a16="http://schemas.microsoft.com/office/drawing/2014/main" id="{B89650F3-B354-4F0B-9921-302AB71746C2}"/>
              </a:ext>
            </a:extLst>
          </p:cNvPr>
          <p:cNvGrpSpPr/>
          <p:nvPr/>
        </p:nvGrpSpPr>
        <p:grpSpPr>
          <a:xfrm>
            <a:off x="6731388" y="2674531"/>
            <a:ext cx="4708270" cy="3508536"/>
            <a:chOff x="2112464" y="2352745"/>
            <a:chExt cx="6313476" cy="3508536"/>
          </a:xfrm>
        </p:grpSpPr>
        <p:sp>
          <p:nvSpPr>
            <p:cNvPr id="12" name="Oval 11">
              <a:extLst>
                <a:ext uri="{FF2B5EF4-FFF2-40B4-BE49-F238E27FC236}">
                  <a16:creationId xmlns:a16="http://schemas.microsoft.com/office/drawing/2014/main" id="{D0310504-B0E9-4DA9-9934-1D8B65C65AE9}"/>
                </a:ext>
              </a:extLst>
            </p:cNvPr>
            <p:cNvSpPr/>
            <p:nvPr/>
          </p:nvSpPr>
          <p:spPr>
            <a:xfrm>
              <a:off x="2569664" y="25963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3" name="Oval 12">
              <a:extLst>
                <a:ext uri="{FF2B5EF4-FFF2-40B4-BE49-F238E27FC236}">
                  <a16:creationId xmlns:a16="http://schemas.microsoft.com/office/drawing/2014/main" id="{9BDC363A-6C24-4DB0-A040-773873A31561}"/>
                </a:ext>
              </a:extLst>
            </p:cNvPr>
            <p:cNvSpPr/>
            <p:nvPr/>
          </p:nvSpPr>
          <p:spPr>
            <a:xfrm>
              <a:off x="7511540" y="4501917"/>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4" name="Oval 13">
              <a:extLst>
                <a:ext uri="{FF2B5EF4-FFF2-40B4-BE49-F238E27FC236}">
                  <a16:creationId xmlns:a16="http://schemas.microsoft.com/office/drawing/2014/main" id="{C7243DA9-CEB9-47D6-9038-7ED2D25A7045}"/>
                </a:ext>
              </a:extLst>
            </p:cNvPr>
            <p:cNvSpPr/>
            <p:nvPr/>
          </p:nvSpPr>
          <p:spPr>
            <a:xfrm>
              <a:off x="5333440" y="4294888"/>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5" name="Oval 14">
              <a:extLst>
                <a:ext uri="{FF2B5EF4-FFF2-40B4-BE49-F238E27FC236}">
                  <a16:creationId xmlns:a16="http://schemas.microsoft.com/office/drawing/2014/main" id="{61016E7B-5034-4E93-B233-3B4D5F0F5847}"/>
                </a:ext>
              </a:extLst>
            </p:cNvPr>
            <p:cNvSpPr/>
            <p:nvPr/>
          </p:nvSpPr>
          <p:spPr>
            <a:xfrm>
              <a:off x="6671674" y="2352745"/>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6" name="Oval 15">
              <a:extLst>
                <a:ext uri="{FF2B5EF4-FFF2-40B4-BE49-F238E27FC236}">
                  <a16:creationId xmlns:a16="http://schemas.microsoft.com/office/drawing/2014/main" id="{3FDA7DD2-B486-4C90-B7F7-4BEC36E86B89}"/>
                </a:ext>
              </a:extLst>
            </p:cNvPr>
            <p:cNvSpPr/>
            <p:nvPr/>
          </p:nvSpPr>
          <p:spPr>
            <a:xfrm>
              <a:off x="4605928" y="24439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7" name="Oval 16">
              <a:extLst>
                <a:ext uri="{FF2B5EF4-FFF2-40B4-BE49-F238E27FC236}">
                  <a16:creationId xmlns:a16="http://schemas.microsoft.com/office/drawing/2014/main" id="{6538AF25-49BC-4DB0-9CF2-23E4895AA395}"/>
                </a:ext>
              </a:extLst>
            </p:cNvPr>
            <p:cNvSpPr/>
            <p:nvPr/>
          </p:nvSpPr>
          <p:spPr>
            <a:xfrm>
              <a:off x="2112464" y="4946881"/>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8" name="Oval 17">
              <a:extLst>
                <a:ext uri="{FF2B5EF4-FFF2-40B4-BE49-F238E27FC236}">
                  <a16:creationId xmlns:a16="http://schemas.microsoft.com/office/drawing/2014/main" id="{B91B3830-7E32-467B-9F39-DF5DDC0AEBC4}"/>
                </a:ext>
              </a:extLst>
            </p:cNvPr>
            <p:cNvSpPr/>
            <p:nvPr/>
          </p:nvSpPr>
          <p:spPr>
            <a:xfrm>
              <a:off x="3717670" y="4234262"/>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19" name="Straight Arrow Connector 18">
              <a:extLst>
                <a:ext uri="{FF2B5EF4-FFF2-40B4-BE49-F238E27FC236}">
                  <a16:creationId xmlns:a16="http://schemas.microsoft.com/office/drawing/2014/main" id="{45BC35B2-47D9-46F9-AEF6-95F608E791C7}"/>
                </a:ext>
              </a:extLst>
            </p:cNvPr>
            <p:cNvCxnSpPr>
              <a:stCxn id="12" idx="6"/>
              <a:endCxn id="16" idx="2"/>
            </p:cNvCxnSpPr>
            <p:nvPr/>
          </p:nvCxnSpPr>
          <p:spPr>
            <a:xfrm flipV="1">
              <a:off x="3484064" y="2901162"/>
              <a:ext cx="1121864"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2174A85-813F-4954-A7A1-AABFE318BDC6}"/>
                </a:ext>
              </a:extLst>
            </p:cNvPr>
            <p:cNvCxnSpPr>
              <a:endCxn id="18" idx="1"/>
            </p:cNvCxnSpPr>
            <p:nvPr/>
          </p:nvCxnSpPr>
          <p:spPr>
            <a:xfrm>
              <a:off x="3026864" y="3510762"/>
              <a:ext cx="824717" cy="857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116B350-8DD4-468D-90D8-8B0BF6A8822B}"/>
                </a:ext>
              </a:extLst>
            </p:cNvPr>
            <p:cNvCxnSpPr/>
            <p:nvPr/>
          </p:nvCxnSpPr>
          <p:spPr>
            <a:xfrm flipV="1">
              <a:off x="3026864" y="4959117"/>
              <a:ext cx="744202" cy="444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EE29225-765E-429B-9EE4-169AEAC01CA7}"/>
                </a:ext>
              </a:extLst>
            </p:cNvPr>
            <p:cNvCxnSpPr>
              <a:stCxn id="18" idx="6"/>
              <a:endCxn id="14" idx="2"/>
            </p:cNvCxnSpPr>
            <p:nvPr/>
          </p:nvCxnSpPr>
          <p:spPr>
            <a:xfrm>
              <a:off x="4632070" y="4691462"/>
              <a:ext cx="701370" cy="60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81570BF-6604-4EC9-80BC-C6A4206845AF}"/>
                </a:ext>
              </a:extLst>
            </p:cNvPr>
            <p:cNvCxnSpPr/>
            <p:nvPr/>
          </p:nvCxnSpPr>
          <p:spPr>
            <a:xfrm>
              <a:off x="5199399" y="3358362"/>
              <a:ext cx="427165" cy="1009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9A64977-E033-4364-A6C6-F4F9BB44D8DF}"/>
                </a:ext>
              </a:extLst>
            </p:cNvPr>
            <p:cNvCxnSpPr>
              <a:stCxn id="16" idx="6"/>
              <a:endCxn id="15" idx="2"/>
            </p:cNvCxnSpPr>
            <p:nvPr/>
          </p:nvCxnSpPr>
          <p:spPr>
            <a:xfrm flipV="1">
              <a:off x="5520328" y="2809945"/>
              <a:ext cx="1151346" cy="91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6B5C356-25F2-478F-9532-1D75D8EF1FCD}"/>
                </a:ext>
              </a:extLst>
            </p:cNvPr>
            <p:cNvCxnSpPr>
              <a:stCxn id="14" idx="7"/>
            </p:cNvCxnSpPr>
            <p:nvPr/>
          </p:nvCxnSpPr>
          <p:spPr>
            <a:xfrm flipV="1">
              <a:off x="6113929" y="3236554"/>
              <a:ext cx="833062" cy="1192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D3D707E-5E71-445C-9BA4-EA48A3EDF266}"/>
                </a:ext>
              </a:extLst>
            </p:cNvPr>
            <p:cNvCxnSpPr>
              <a:stCxn id="14" idx="6"/>
              <a:endCxn id="13" idx="2"/>
            </p:cNvCxnSpPr>
            <p:nvPr/>
          </p:nvCxnSpPr>
          <p:spPr>
            <a:xfrm>
              <a:off x="6247840" y="4752088"/>
              <a:ext cx="1263700" cy="207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841683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AF457-CB1C-4049-803F-F1E6D9594767}"/>
              </a:ext>
            </a:extLst>
          </p:cNvPr>
          <p:cNvSpPr>
            <a:spLocks noGrp="1"/>
          </p:cNvSpPr>
          <p:nvPr>
            <p:ph type="title"/>
          </p:nvPr>
        </p:nvSpPr>
        <p:spPr/>
        <p:txBody>
          <a:bodyPr/>
          <a:lstStyle/>
          <a:p>
            <a:pPr algn="ctr"/>
            <a:r>
              <a:rPr lang="en-US" dirty="0"/>
              <a:t>Opening Problem</a:t>
            </a:r>
          </a:p>
        </p:txBody>
      </p:sp>
      <p:sp>
        <p:nvSpPr>
          <p:cNvPr id="3" name="Content Placeholder 2">
            <a:extLst>
              <a:ext uri="{FF2B5EF4-FFF2-40B4-BE49-F238E27FC236}">
                <a16:creationId xmlns:a16="http://schemas.microsoft.com/office/drawing/2014/main" id="{3FFFF05D-BBA5-474A-AD5D-979608A82A9A}"/>
              </a:ext>
            </a:extLst>
          </p:cNvPr>
          <p:cNvSpPr>
            <a:spLocks noGrp="1"/>
          </p:cNvSpPr>
          <p:nvPr>
            <p:ph idx="1"/>
          </p:nvPr>
        </p:nvSpPr>
        <p:spPr/>
        <p:txBody>
          <a:bodyPr/>
          <a:lstStyle/>
          <a:p>
            <a:r>
              <a:rPr lang="en-US" altLang="en-US" dirty="0"/>
              <a:t>T</a:t>
            </a:r>
            <a:r>
              <a:rPr lang="en-US" altLang="en-US" sz="2800" dirty="0"/>
              <a:t>he Seven Bridges of </a:t>
            </a:r>
            <a:r>
              <a:rPr lang="en-US" altLang="en-US" sz="2800" dirty="0" err="1"/>
              <a:t>Königsberg</a:t>
            </a:r>
            <a:r>
              <a:rPr lang="en-US" altLang="en-US" sz="2800" dirty="0"/>
              <a:t> problem.</a:t>
            </a:r>
          </a:p>
          <a:p>
            <a:pPr lvl="1"/>
            <a:r>
              <a:rPr lang="en-US" b="0" i="0" dirty="0">
                <a:solidFill>
                  <a:srgbClr val="001D35"/>
                </a:solidFill>
                <a:effectLst/>
                <a:latin typeface="Google Sans"/>
              </a:rPr>
              <a:t>The Seven Bridges of </a:t>
            </a:r>
            <a:r>
              <a:rPr lang="en-US" b="0" i="0" dirty="0" err="1">
                <a:solidFill>
                  <a:srgbClr val="001D35"/>
                </a:solidFill>
                <a:effectLst/>
                <a:latin typeface="Google Sans"/>
              </a:rPr>
              <a:t>Königsberg</a:t>
            </a:r>
            <a:r>
              <a:rPr lang="en-US" b="0" i="0" dirty="0">
                <a:solidFill>
                  <a:srgbClr val="001D35"/>
                </a:solidFill>
                <a:effectLst/>
                <a:latin typeface="Google Sans"/>
              </a:rPr>
              <a:t> is </a:t>
            </a:r>
            <a:r>
              <a:rPr lang="en-US" dirty="0"/>
              <a:t>a famous mathematical problem that involves finding a route across each of seven bridges in the city of </a:t>
            </a:r>
            <a:r>
              <a:rPr lang="en-US" dirty="0" err="1"/>
              <a:t>Königsberg</a:t>
            </a:r>
            <a:r>
              <a:rPr lang="en-US" dirty="0"/>
              <a:t> (now Kaliningrad) exactly once.</a:t>
            </a:r>
          </a:p>
          <a:p>
            <a:pPr lvl="1"/>
            <a:r>
              <a:rPr lang="en-US" b="0" i="0" dirty="0">
                <a:effectLst/>
                <a:latin typeface="Google Sans"/>
                <a:hlinkClick r:id="rId3"/>
              </a:rPr>
              <a:t>Leonhard Euler</a:t>
            </a:r>
            <a:r>
              <a:rPr lang="en-US" b="0" i="0" dirty="0">
                <a:solidFill>
                  <a:srgbClr val="001D35"/>
                </a:solidFill>
                <a:effectLst/>
                <a:latin typeface="Google Sans"/>
              </a:rPr>
              <a:t> proved that such a route was impossible, laying the foundation for graph theory.</a:t>
            </a:r>
          </a:p>
          <a:p>
            <a:pPr lvl="1"/>
            <a:r>
              <a:rPr lang="en-US" b="0" i="0" dirty="0">
                <a:solidFill>
                  <a:srgbClr val="001D35"/>
                </a:solidFill>
                <a:effectLst/>
                <a:latin typeface="Google Sans"/>
                <a:hlinkClick r:id="rId4"/>
              </a:rPr>
              <a:t>Eulerian Walk </a:t>
            </a:r>
            <a:endParaRPr lang="en-US" b="0" i="0" dirty="0">
              <a:solidFill>
                <a:srgbClr val="001D35"/>
              </a:solidFill>
              <a:effectLst/>
              <a:latin typeface="Google Sans"/>
            </a:endParaRPr>
          </a:p>
        </p:txBody>
      </p:sp>
    </p:spTree>
    <p:extLst>
      <p:ext uri="{BB962C8B-B14F-4D97-AF65-F5344CB8AC3E}">
        <p14:creationId xmlns:p14="http://schemas.microsoft.com/office/powerpoint/2010/main" val="8906480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CSE 373 Summer 2020">
  <a:themeElements>
    <a:clrScheme name="CSE 373 20su">
      <a:dk1>
        <a:srgbClr val="000000"/>
      </a:dk1>
      <a:lt1>
        <a:srgbClr val="FFFFFF"/>
      </a:lt1>
      <a:dk2>
        <a:srgbClr val="44546A"/>
      </a:dk2>
      <a:lt2>
        <a:srgbClr val="E7E6E6"/>
      </a:lt2>
      <a:accent1>
        <a:srgbClr val="2E235D"/>
      </a:accent1>
      <a:accent2>
        <a:srgbClr val="E83C60"/>
      </a:accent2>
      <a:accent3>
        <a:srgbClr val="2699A9"/>
      </a:accent3>
      <a:accent4>
        <a:srgbClr val="FFC000"/>
      </a:accent4>
      <a:accent5>
        <a:srgbClr val="EE8A64"/>
      </a:accent5>
      <a:accent6>
        <a:srgbClr val="09A98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SE 373 Summer 2020">
  <a:themeElements>
    <a:clrScheme name="CSE 373 20su">
      <a:dk1>
        <a:srgbClr val="000000"/>
      </a:dk1>
      <a:lt1>
        <a:srgbClr val="FFFFFF"/>
      </a:lt1>
      <a:dk2>
        <a:srgbClr val="44546A"/>
      </a:dk2>
      <a:lt2>
        <a:srgbClr val="E7E6E6"/>
      </a:lt2>
      <a:accent1>
        <a:srgbClr val="2E235D"/>
      </a:accent1>
      <a:accent2>
        <a:srgbClr val="E83C60"/>
      </a:accent2>
      <a:accent3>
        <a:srgbClr val="2699A9"/>
      </a:accent3>
      <a:accent4>
        <a:srgbClr val="FFC000"/>
      </a:accent4>
      <a:accent5>
        <a:srgbClr val="EE8A64"/>
      </a:accent5>
      <a:accent6>
        <a:srgbClr val="09A98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25348</TotalTime>
  <Words>8525</Words>
  <Application>Microsoft Office PowerPoint</Application>
  <PresentationFormat>Widescreen</PresentationFormat>
  <Paragraphs>3067</Paragraphs>
  <Slides>94</Slides>
  <Notes>94</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94</vt:i4>
      </vt:variant>
    </vt:vector>
  </HeadingPairs>
  <TitlesOfParts>
    <vt:vector size="112" baseType="lpstr">
      <vt:lpstr>Arial</vt:lpstr>
      <vt:lpstr>Calibri</vt:lpstr>
      <vt:lpstr>Consolas</vt:lpstr>
      <vt:lpstr>Courier</vt:lpstr>
      <vt:lpstr>Courier New</vt:lpstr>
      <vt:lpstr>Google Sans</vt:lpstr>
      <vt:lpstr>Monotype Sorts</vt:lpstr>
      <vt:lpstr>Montserrat</vt:lpstr>
      <vt:lpstr>Montserrat ExtraBold</vt:lpstr>
      <vt:lpstr>Montserrat SemiBold</vt:lpstr>
      <vt:lpstr>Symbol</vt:lpstr>
      <vt:lpstr>System Font Regular</vt:lpstr>
      <vt:lpstr>Times New Roman</vt:lpstr>
      <vt:lpstr>urw-din</vt:lpstr>
      <vt:lpstr>Wingdings</vt:lpstr>
      <vt:lpstr>CSE 373 Summer 2020</vt:lpstr>
      <vt:lpstr>1_CSE 373 Summer 2020</vt:lpstr>
      <vt:lpstr>Picture</vt:lpstr>
      <vt:lpstr>Weighted Graphs and Applications</vt:lpstr>
      <vt:lpstr>Lecture Outline</vt:lpstr>
      <vt:lpstr>PowerPoint Presentation</vt:lpstr>
      <vt:lpstr>Review  Using BFS for the Shortest Path Problem</vt:lpstr>
      <vt:lpstr>Review  BFS for Shortest Paths: Example</vt:lpstr>
      <vt:lpstr>Review  What about the Target Vertex?</vt:lpstr>
      <vt:lpstr>PowerPoint Presentation</vt:lpstr>
      <vt:lpstr>Lecture Outline</vt:lpstr>
      <vt:lpstr>Weighted Graph</vt:lpstr>
      <vt:lpstr>Representing Weighted Graphs </vt:lpstr>
      <vt:lpstr>Representing Weighted Edges: Edge Array </vt:lpstr>
      <vt:lpstr>Representing Weighted Edges: Edge Array </vt:lpstr>
      <vt:lpstr>Edge Adjacency Lists</vt:lpstr>
      <vt:lpstr>PowerPoint Presentation</vt:lpstr>
      <vt:lpstr>PowerPoint Presentation</vt:lpstr>
      <vt:lpstr>PowerPoint Presentation</vt:lpstr>
      <vt:lpstr>Lecture Outline</vt:lpstr>
      <vt:lpstr>Spanning Trees </vt:lpstr>
      <vt:lpstr>Minimum Spanning Trees </vt:lpstr>
      <vt:lpstr>MST</vt:lpstr>
      <vt:lpstr>Lecture Outline</vt:lpstr>
      <vt:lpstr>Prim’s Minimum Spanning Tree Algorithm </vt:lpstr>
      <vt:lpstr>MST Example </vt:lpstr>
      <vt:lpstr>MST Example</vt:lpstr>
      <vt:lpstr>Lecture Outline</vt:lpstr>
      <vt:lpstr>Kruskal’s MST</vt:lpstr>
      <vt:lpstr>Kruskal’s MST</vt:lpstr>
      <vt:lpstr>  Step # 2 (Cycle Detection) Union-Find algorithm </vt:lpstr>
      <vt:lpstr>Lecture Outline</vt:lpstr>
      <vt:lpstr>Our Graph Problem Collection</vt:lpstr>
      <vt:lpstr>The Weighted Shortest Path Problem</vt:lpstr>
      <vt:lpstr>Why does BFS work for unweighted graphs?</vt:lpstr>
      <vt:lpstr>Why doesn’t BFS work for weighted graphs?</vt:lpstr>
      <vt:lpstr>Lecture Outline</vt:lpstr>
      <vt:lpstr>Lecture Outline</vt:lpstr>
      <vt:lpstr>Dijkstra’s Algorithm</vt:lpstr>
      <vt:lpstr>Dijkstra’s Algorithm: Idea</vt:lpstr>
      <vt:lpstr>PowerPoint Presentation</vt:lpstr>
      <vt:lpstr>Dijkstra’s Algorithm: Key Properties</vt:lpstr>
      <vt:lpstr>Dijkstra’s Algorithm: Example #1</vt:lpstr>
      <vt:lpstr>Dijkstra’s Algorithm: Example #1</vt:lpstr>
      <vt:lpstr>Dijkstra’s Algorithm: Example #1</vt:lpstr>
      <vt:lpstr>Dijkstra’s Algorithm: Example #1</vt:lpstr>
      <vt:lpstr>Dijkstra’s Algorithm: Example #1</vt:lpstr>
      <vt:lpstr>Dijkstra’s Algorithm: Example #1</vt:lpstr>
      <vt:lpstr>Dijkstra’s Algorithm: Example #1</vt:lpstr>
      <vt:lpstr>Dijkstra’s Algorithm: Example #1</vt:lpstr>
      <vt:lpstr>Dijkstra’s Algorithm: Example #1</vt:lpstr>
      <vt:lpstr>Dijkstra’s Algorithm: Interpreting the Results</vt:lpstr>
      <vt:lpstr>Review: Key Features</vt:lpstr>
      <vt:lpstr>Dijkstra’s Algorithm: Example #2</vt:lpstr>
      <vt:lpstr>Dijkstra’s Algorithm: Example #2</vt:lpstr>
      <vt:lpstr>Dijkstra’s Algorithm: Example #2</vt:lpstr>
      <vt:lpstr>Dijkstra’s Algorithm: Example #2</vt:lpstr>
      <vt:lpstr>Dijkstra’s Algorithm: Example #2</vt:lpstr>
      <vt:lpstr>Dijkstra’s Algorithm: Example #2</vt:lpstr>
      <vt:lpstr>Dijkstra’s Algorithm: Example #2</vt:lpstr>
      <vt:lpstr>Dijkstra’s Algorithm: Example #2</vt:lpstr>
      <vt:lpstr>Dijkstra’s Algorithm: Example #3 (undirected)</vt:lpstr>
      <vt:lpstr>Dijkstra’s Algorithm: Example #3 (undirected)</vt:lpstr>
      <vt:lpstr>Dijkstra’s Algorithm: Example #3 (undirected)</vt:lpstr>
      <vt:lpstr>Dijkstra’s Algorithm: Example #3 (undirected)</vt:lpstr>
      <vt:lpstr>Dijkstra’s Algorithm: Example #3 (undirected)</vt:lpstr>
      <vt:lpstr>Dijkstra’s Algorithm: Example #3 (undirected)</vt:lpstr>
      <vt:lpstr>Dijkstra’s Algorithm: Example #3 (undirected)</vt:lpstr>
      <vt:lpstr>Dijkstra’s Algorithm: Example #3 (undirected)</vt:lpstr>
      <vt:lpstr>Why Does Dijkstra’s Work?</vt:lpstr>
      <vt:lpstr>Why Does Dijkstra’s Work?</vt:lpstr>
      <vt:lpstr>When Doesn’t Dijkstra’s Work?</vt:lpstr>
      <vt:lpstr>When Doesn’t Dijkstra’s Work?</vt:lpstr>
      <vt:lpstr>Lecture Outline</vt:lpstr>
      <vt:lpstr>Topological Sort  </vt:lpstr>
      <vt:lpstr>PowerPoint Presentation</vt:lpstr>
      <vt:lpstr>Sorting Dependencies</vt:lpstr>
      <vt:lpstr>Topological Sort</vt:lpstr>
      <vt:lpstr>Can We Always Topo Sort a Graph?</vt:lpstr>
      <vt:lpstr>How To Perform Topo Sort?</vt:lpstr>
      <vt:lpstr>How To Perform Topo Sort?</vt:lpstr>
      <vt:lpstr>How To Perform Topo Sort?</vt:lpstr>
      <vt:lpstr>Idea: DFS: </vt:lpstr>
      <vt:lpstr>PowerPoint Presentation</vt:lpstr>
      <vt:lpstr>Topological Sort (Demo 2/2)</vt:lpstr>
      <vt:lpstr>Topological Sort</vt:lpstr>
      <vt:lpstr>None Recursive Algorithm</vt:lpstr>
      <vt:lpstr>PowerPoint Presentation</vt:lpstr>
      <vt:lpstr>PowerPoint Presentation</vt:lpstr>
      <vt:lpstr>Loop 1: Vertex C is selected</vt:lpstr>
      <vt:lpstr>Loop 2: Vertex F is selected</vt:lpstr>
      <vt:lpstr>Loop 3: Vertex E is selected</vt:lpstr>
      <vt:lpstr>Loop 4: Vertex B is selected</vt:lpstr>
      <vt:lpstr>Loop 5: Vertex D is selected</vt:lpstr>
      <vt:lpstr>Loop 6: Vertex A is selected</vt:lpstr>
      <vt:lpstr>Loop 7: Vertex G is selected</vt:lpstr>
      <vt:lpstr>Opening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Aaron S Johnston</dc:creator>
  <cp:lastModifiedBy>Zartoshty, Bahram</cp:lastModifiedBy>
  <cp:revision>869</cp:revision>
  <cp:lastPrinted>2026-08-05T21:38:50Z</cp:lastPrinted>
  <dcterms:created xsi:type="dcterms:W3CDTF">2020-06-13T06:27:42Z</dcterms:created>
  <dcterms:modified xsi:type="dcterms:W3CDTF">2026-08-05T22:34:01Z</dcterms:modified>
</cp:coreProperties>
</file>