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39"/>
  </p:notesMasterIdLst>
  <p:handoutMasterIdLst>
    <p:handoutMasterId r:id="rId40"/>
  </p:handoutMasterIdLst>
  <p:sldIdLst>
    <p:sldId id="330" r:id="rId6"/>
    <p:sldId id="576" r:id="rId7"/>
    <p:sldId id="408" r:id="rId8"/>
    <p:sldId id="410" r:id="rId9"/>
    <p:sldId id="412" r:id="rId10"/>
    <p:sldId id="465" r:id="rId11"/>
    <p:sldId id="421" r:id="rId12"/>
    <p:sldId id="422" r:id="rId13"/>
    <p:sldId id="423" r:id="rId14"/>
    <p:sldId id="424" r:id="rId15"/>
    <p:sldId id="425" r:id="rId16"/>
    <p:sldId id="430" r:id="rId17"/>
    <p:sldId id="432" r:id="rId18"/>
    <p:sldId id="463" r:id="rId19"/>
    <p:sldId id="436" r:id="rId20"/>
    <p:sldId id="437" r:id="rId21"/>
    <p:sldId id="441" r:id="rId22"/>
    <p:sldId id="445" r:id="rId23"/>
    <p:sldId id="447" r:id="rId24"/>
    <p:sldId id="448" r:id="rId25"/>
    <p:sldId id="449" r:id="rId26"/>
    <p:sldId id="450" r:id="rId27"/>
    <p:sldId id="452" r:id="rId28"/>
    <p:sldId id="453" r:id="rId29"/>
    <p:sldId id="454" r:id="rId30"/>
    <p:sldId id="577" r:id="rId31"/>
    <p:sldId id="456" r:id="rId32"/>
    <p:sldId id="457" r:id="rId33"/>
    <p:sldId id="458" r:id="rId34"/>
    <p:sldId id="459" r:id="rId35"/>
    <p:sldId id="460" r:id="rId36"/>
    <p:sldId id="461" r:id="rId37"/>
    <p:sldId id="462" r:id="rId38"/>
  </p:sldIdLst>
  <p:sldSz cx="9144000" cy="6858000" type="screen4x3"/>
  <p:notesSz cx="7010400" cy="9296400"/>
  <p:embeddedFontLst>
    <p:embeddedFont>
      <p:font typeface="Noto Sans Symbols" panose="020B060402020202020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42"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0" autoAdjust="0"/>
    <p:restoredTop sz="91696" autoAdjust="0"/>
  </p:normalViewPr>
  <p:slideViewPr>
    <p:cSldViewPr snapToGrid="0" snapToObjects="1">
      <p:cViewPr varScale="1">
        <p:scale>
          <a:sx n="207" d="100"/>
          <a:sy n="207" d="100"/>
        </p:scale>
        <p:origin x="1428" y="174"/>
      </p:cViewPr>
      <p:guideLst>
        <p:guide orient="horz" pos="4042"/>
        <p:guide pos="295"/>
        <p:guide orient="horz" pos="4178"/>
        <p:guide orient="horz" pos="119"/>
        <p:guide orient="horz" pos="709"/>
        <p:guide orient="horz" pos="1071"/>
        <p:guide pos="635"/>
      </p:guideLst>
    </p:cSldViewPr>
  </p:slideViewPr>
  <p:outlineViewPr>
    <p:cViewPr>
      <p:scale>
        <a:sx n="33" d="100"/>
        <a:sy n="33" d="100"/>
      </p:scale>
      <p:origin x="0" y="-2961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6.fntdata"/><Relationship Id="rId20" Type="http://schemas.openxmlformats.org/officeDocument/2006/relationships/slide" Target="slides/slide15.xml"/><Relationship Id="rId41"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2885CB01-6679-D646-ACB3-8B04B786C15F}" type="datetimeFigureOut">
              <a:rPr lang="en-US" smtClean="0"/>
              <a:t>11/12/2025</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1" y="0"/>
            <a:ext cx="3037839" cy="464820"/>
          </a:xfrm>
          <a:prstGeom prst="rect">
            <a:avLst/>
          </a:prstGeom>
          <a:noFill/>
          <a:ln>
            <a:noFill/>
          </a:ln>
        </p:spPr>
        <p:txBody>
          <a:bodyPr lIns="93162" tIns="93162" rIns="93162" bIns="93162"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65887" marR="0" lvl="1" indent="0" algn="l" rtl="0">
              <a:spcBef>
                <a:spcPts val="0"/>
              </a:spcBef>
              <a:buNone/>
              <a:defRPr sz="1800" b="0" i="0" u="none" strike="noStrike" cap="none">
                <a:solidFill>
                  <a:schemeClr val="dk1"/>
                </a:solidFill>
                <a:latin typeface="Arial"/>
                <a:ea typeface="Arial"/>
                <a:cs typeface="Arial"/>
                <a:sym typeface="Arial"/>
              </a:defRPr>
            </a:lvl2pPr>
            <a:lvl3pPr marL="931774" marR="0" lvl="2" indent="0" algn="l" rtl="0">
              <a:spcBef>
                <a:spcPts val="0"/>
              </a:spcBef>
              <a:buNone/>
              <a:defRPr sz="1800" b="0" i="0" u="none" strike="noStrike" cap="none">
                <a:solidFill>
                  <a:schemeClr val="dk1"/>
                </a:solidFill>
                <a:latin typeface="Arial"/>
                <a:ea typeface="Arial"/>
                <a:cs typeface="Arial"/>
                <a:sym typeface="Arial"/>
              </a:defRPr>
            </a:lvl3pPr>
            <a:lvl4pPr marL="1397660" marR="0" lvl="3" indent="0" algn="l" rtl="0">
              <a:spcBef>
                <a:spcPts val="0"/>
              </a:spcBef>
              <a:buNone/>
              <a:defRPr sz="1800" b="0" i="0" u="none" strike="noStrike" cap="none">
                <a:solidFill>
                  <a:schemeClr val="dk1"/>
                </a:solidFill>
                <a:latin typeface="Arial"/>
                <a:ea typeface="Arial"/>
                <a:cs typeface="Arial"/>
                <a:sym typeface="Arial"/>
              </a:defRPr>
            </a:lvl4pPr>
            <a:lvl5pPr marL="1863547" marR="0" lvl="4" indent="0" algn="l" rtl="0">
              <a:spcBef>
                <a:spcPts val="0"/>
              </a:spcBef>
              <a:buNone/>
              <a:defRPr sz="1800" b="0" i="0" u="none" strike="noStrike" cap="none">
                <a:solidFill>
                  <a:schemeClr val="dk1"/>
                </a:solidFill>
                <a:latin typeface="Arial"/>
                <a:ea typeface="Arial"/>
                <a:cs typeface="Arial"/>
                <a:sym typeface="Arial"/>
              </a:defRPr>
            </a:lvl5pPr>
            <a:lvl6pPr marL="2329434" marR="0" lvl="5" indent="0" algn="l" rtl="0">
              <a:spcBef>
                <a:spcPts val="0"/>
              </a:spcBef>
              <a:buNone/>
              <a:defRPr sz="1800" b="0" i="0" u="none" strike="noStrike" cap="none">
                <a:solidFill>
                  <a:schemeClr val="dk1"/>
                </a:solidFill>
                <a:latin typeface="Arial"/>
                <a:ea typeface="Arial"/>
                <a:cs typeface="Arial"/>
                <a:sym typeface="Arial"/>
              </a:defRPr>
            </a:lvl6pPr>
            <a:lvl7pPr marL="2795321" marR="0" lvl="6" indent="0" algn="l" rtl="0">
              <a:spcBef>
                <a:spcPts val="0"/>
              </a:spcBef>
              <a:buNone/>
              <a:defRPr sz="1800" b="0" i="0" u="none" strike="noStrike" cap="none">
                <a:solidFill>
                  <a:schemeClr val="dk1"/>
                </a:solidFill>
                <a:latin typeface="Arial"/>
                <a:ea typeface="Arial"/>
                <a:cs typeface="Arial"/>
                <a:sym typeface="Arial"/>
              </a:defRPr>
            </a:lvl7pPr>
            <a:lvl8pPr marL="3261208" marR="0" lvl="7" indent="0" algn="l" rtl="0">
              <a:spcBef>
                <a:spcPts val="0"/>
              </a:spcBef>
              <a:buNone/>
              <a:defRPr sz="1800" b="0" i="0" u="none" strike="noStrike" cap="none">
                <a:solidFill>
                  <a:schemeClr val="dk1"/>
                </a:solidFill>
                <a:latin typeface="Arial"/>
                <a:ea typeface="Arial"/>
                <a:cs typeface="Arial"/>
                <a:sym typeface="Arial"/>
              </a:defRPr>
            </a:lvl8pPr>
            <a:lvl9pPr marL="3727094"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970937" y="0"/>
            <a:ext cx="3037839" cy="464820"/>
          </a:xfrm>
          <a:prstGeom prst="rect">
            <a:avLst/>
          </a:prstGeom>
          <a:noFill/>
          <a:ln>
            <a:noFill/>
          </a:ln>
        </p:spPr>
        <p:txBody>
          <a:bodyPr lIns="93162" tIns="93162" rIns="93162" bIns="93162"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65887" marR="0" lvl="1" indent="0" algn="l" rtl="0">
              <a:spcBef>
                <a:spcPts val="0"/>
              </a:spcBef>
              <a:buNone/>
              <a:defRPr sz="1800" b="0" i="0" u="none" strike="noStrike" cap="none">
                <a:solidFill>
                  <a:schemeClr val="dk1"/>
                </a:solidFill>
                <a:latin typeface="Arial"/>
                <a:ea typeface="Arial"/>
                <a:cs typeface="Arial"/>
                <a:sym typeface="Arial"/>
              </a:defRPr>
            </a:lvl2pPr>
            <a:lvl3pPr marL="931774" marR="0" lvl="2" indent="0" algn="l" rtl="0">
              <a:spcBef>
                <a:spcPts val="0"/>
              </a:spcBef>
              <a:buNone/>
              <a:defRPr sz="1800" b="0" i="0" u="none" strike="noStrike" cap="none">
                <a:solidFill>
                  <a:schemeClr val="dk1"/>
                </a:solidFill>
                <a:latin typeface="Arial"/>
                <a:ea typeface="Arial"/>
                <a:cs typeface="Arial"/>
                <a:sym typeface="Arial"/>
              </a:defRPr>
            </a:lvl3pPr>
            <a:lvl4pPr marL="1397660" marR="0" lvl="3" indent="0" algn="l" rtl="0">
              <a:spcBef>
                <a:spcPts val="0"/>
              </a:spcBef>
              <a:buNone/>
              <a:defRPr sz="1800" b="0" i="0" u="none" strike="noStrike" cap="none">
                <a:solidFill>
                  <a:schemeClr val="dk1"/>
                </a:solidFill>
                <a:latin typeface="Arial"/>
                <a:ea typeface="Arial"/>
                <a:cs typeface="Arial"/>
                <a:sym typeface="Arial"/>
              </a:defRPr>
            </a:lvl4pPr>
            <a:lvl5pPr marL="1863547" marR="0" lvl="4" indent="0" algn="l" rtl="0">
              <a:spcBef>
                <a:spcPts val="0"/>
              </a:spcBef>
              <a:buNone/>
              <a:defRPr sz="1800" b="0" i="0" u="none" strike="noStrike" cap="none">
                <a:solidFill>
                  <a:schemeClr val="dk1"/>
                </a:solidFill>
                <a:latin typeface="Arial"/>
                <a:ea typeface="Arial"/>
                <a:cs typeface="Arial"/>
                <a:sym typeface="Arial"/>
              </a:defRPr>
            </a:lvl5pPr>
            <a:lvl6pPr marL="2329434" marR="0" lvl="5" indent="0" algn="l" rtl="0">
              <a:spcBef>
                <a:spcPts val="0"/>
              </a:spcBef>
              <a:buNone/>
              <a:defRPr sz="1800" b="0" i="0" u="none" strike="noStrike" cap="none">
                <a:solidFill>
                  <a:schemeClr val="dk1"/>
                </a:solidFill>
                <a:latin typeface="Arial"/>
                <a:ea typeface="Arial"/>
                <a:cs typeface="Arial"/>
                <a:sym typeface="Arial"/>
              </a:defRPr>
            </a:lvl6pPr>
            <a:lvl7pPr marL="2795321" marR="0" lvl="6" indent="0" algn="l" rtl="0">
              <a:spcBef>
                <a:spcPts val="0"/>
              </a:spcBef>
              <a:buNone/>
              <a:defRPr sz="1800" b="0" i="0" u="none" strike="noStrike" cap="none">
                <a:solidFill>
                  <a:schemeClr val="dk1"/>
                </a:solidFill>
                <a:latin typeface="Arial"/>
                <a:ea typeface="Arial"/>
                <a:cs typeface="Arial"/>
                <a:sym typeface="Arial"/>
              </a:defRPr>
            </a:lvl7pPr>
            <a:lvl8pPr marL="3261208" marR="0" lvl="7" indent="0" algn="l" rtl="0">
              <a:spcBef>
                <a:spcPts val="0"/>
              </a:spcBef>
              <a:buNone/>
              <a:defRPr sz="1800" b="0" i="0" u="none" strike="noStrike" cap="none">
                <a:solidFill>
                  <a:schemeClr val="dk1"/>
                </a:solidFill>
                <a:latin typeface="Arial"/>
                <a:ea typeface="Arial"/>
                <a:cs typeface="Arial"/>
                <a:sym typeface="Arial"/>
              </a:defRPr>
            </a:lvl8pPr>
            <a:lvl9pPr marL="3727094"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81100" y="696913"/>
            <a:ext cx="4648200" cy="34861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701041" y="4415790"/>
            <a:ext cx="5608319" cy="4183380"/>
          </a:xfrm>
          <a:prstGeom prst="rect">
            <a:avLst/>
          </a:prstGeom>
          <a:noFill/>
          <a:ln>
            <a:noFill/>
          </a:ln>
        </p:spPr>
        <p:txBody>
          <a:bodyPr lIns="93162" tIns="93162" rIns="93162" bIns="93162"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1" y="8829967"/>
            <a:ext cx="3037839" cy="464820"/>
          </a:xfrm>
          <a:prstGeom prst="rect">
            <a:avLst/>
          </a:prstGeom>
          <a:noFill/>
          <a:ln>
            <a:noFill/>
          </a:ln>
        </p:spPr>
        <p:txBody>
          <a:bodyPr lIns="93162" tIns="93162" rIns="93162" bIns="93162"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65887" marR="0" lvl="1" indent="0" algn="l" rtl="0">
              <a:spcBef>
                <a:spcPts val="0"/>
              </a:spcBef>
              <a:buNone/>
              <a:defRPr sz="1800" b="0" i="0" u="none" strike="noStrike" cap="none">
                <a:solidFill>
                  <a:schemeClr val="dk1"/>
                </a:solidFill>
                <a:latin typeface="Arial"/>
                <a:ea typeface="Arial"/>
                <a:cs typeface="Arial"/>
                <a:sym typeface="Arial"/>
              </a:defRPr>
            </a:lvl2pPr>
            <a:lvl3pPr marL="931774" marR="0" lvl="2" indent="0" algn="l" rtl="0">
              <a:spcBef>
                <a:spcPts val="0"/>
              </a:spcBef>
              <a:buNone/>
              <a:defRPr sz="1800" b="0" i="0" u="none" strike="noStrike" cap="none">
                <a:solidFill>
                  <a:schemeClr val="dk1"/>
                </a:solidFill>
                <a:latin typeface="Arial"/>
                <a:ea typeface="Arial"/>
                <a:cs typeface="Arial"/>
                <a:sym typeface="Arial"/>
              </a:defRPr>
            </a:lvl3pPr>
            <a:lvl4pPr marL="1397660" marR="0" lvl="3" indent="0" algn="l" rtl="0">
              <a:spcBef>
                <a:spcPts val="0"/>
              </a:spcBef>
              <a:buNone/>
              <a:defRPr sz="1800" b="0" i="0" u="none" strike="noStrike" cap="none">
                <a:solidFill>
                  <a:schemeClr val="dk1"/>
                </a:solidFill>
                <a:latin typeface="Arial"/>
                <a:ea typeface="Arial"/>
                <a:cs typeface="Arial"/>
                <a:sym typeface="Arial"/>
              </a:defRPr>
            </a:lvl4pPr>
            <a:lvl5pPr marL="1863547" marR="0" lvl="4" indent="0" algn="l" rtl="0">
              <a:spcBef>
                <a:spcPts val="0"/>
              </a:spcBef>
              <a:buNone/>
              <a:defRPr sz="1800" b="0" i="0" u="none" strike="noStrike" cap="none">
                <a:solidFill>
                  <a:schemeClr val="dk1"/>
                </a:solidFill>
                <a:latin typeface="Arial"/>
                <a:ea typeface="Arial"/>
                <a:cs typeface="Arial"/>
                <a:sym typeface="Arial"/>
              </a:defRPr>
            </a:lvl5pPr>
            <a:lvl6pPr marL="2329434" marR="0" lvl="5" indent="0" algn="l" rtl="0">
              <a:spcBef>
                <a:spcPts val="0"/>
              </a:spcBef>
              <a:buNone/>
              <a:defRPr sz="1800" b="0" i="0" u="none" strike="noStrike" cap="none">
                <a:solidFill>
                  <a:schemeClr val="dk1"/>
                </a:solidFill>
                <a:latin typeface="Arial"/>
                <a:ea typeface="Arial"/>
                <a:cs typeface="Arial"/>
                <a:sym typeface="Arial"/>
              </a:defRPr>
            </a:lvl6pPr>
            <a:lvl7pPr marL="2795321" marR="0" lvl="6" indent="0" algn="l" rtl="0">
              <a:spcBef>
                <a:spcPts val="0"/>
              </a:spcBef>
              <a:buNone/>
              <a:defRPr sz="1800" b="0" i="0" u="none" strike="noStrike" cap="none">
                <a:solidFill>
                  <a:schemeClr val="dk1"/>
                </a:solidFill>
                <a:latin typeface="Arial"/>
                <a:ea typeface="Arial"/>
                <a:cs typeface="Arial"/>
                <a:sym typeface="Arial"/>
              </a:defRPr>
            </a:lvl7pPr>
            <a:lvl8pPr marL="3261208" marR="0" lvl="7" indent="0" algn="l" rtl="0">
              <a:spcBef>
                <a:spcPts val="0"/>
              </a:spcBef>
              <a:buNone/>
              <a:defRPr sz="1800" b="0" i="0" u="none" strike="noStrike" cap="none">
                <a:solidFill>
                  <a:schemeClr val="dk1"/>
                </a:solidFill>
                <a:latin typeface="Arial"/>
                <a:ea typeface="Arial"/>
                <a:cs typeface="Arial"/>
                <a:sym typeface="Arial"/>
              </a:defRPr>
            </a:lvl8pPr>
            <a:lvl9pPr marL="3727094"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970937" y="8829967"/>
            <a:ext cx="3037839" cy="464820"/>
          </a:xfrm>
          <a:prstGeom prst="rect">
            <a:avLst/>
          </a:prstGeom>
          <a:noFill/>
          <a:ln>
            <a:noFill/>
          </a:ln>
        </p:spPr>
        <p:txBody>
          <a:bodyPr lIns="93162" tIns="46568" rIns="93162" bIns="46568" anchor="b" anchorCtr="0">
            <a:noAutofit/>
          </a:bodyPr>
          <a:lstStyle/>
          <a:p>
            <a:pPr algn="r">
              <a:buSzPct val="25000"/>
            </a:pPr>
            <a:fld id="{00000000-1234-1234-1234-123412341234}" type="slidenum">
              <a:rPr lang="en-US" sz="1200" smtClean="0">
                <a:solidFill>
                  <a:schemeClr val="dk1"/>
                </a:solidFill>
              </a:rPr>
              <a:pPr algn="r">
                <a:buSzPct val="25000"/>
              </a:pPr>
              <a:t>‹#›</a:t>
            </a:fld>
            <a:endParaRPr lang="en-US" sz="1200" dirty="0">
              <a:solidFill>
                <a:schemeClr val="dk1"/>
              </a:solidFil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iveexample.pearsoncmg.com/html/TestStackOfIntegers.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liveexample.pearsoncmg.com/html/StackOfIntegers.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liveexample.pearsoncmg.com/html/PalindromeIgnoreNonAlphanumeric.html"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MathType Plugin</a:t>
            </a:r>
          </a:p>
          <a:p>
            <a:r>
              <a:rPr lang="en-US" dirty="0"/>
              <a:t>2) Math Player (free versions available)</a:t>
            </a:r>
          </a:p>
          <a:p>
            <a:r>
              <a:rPr lang="en-US" dirty="0"/>
              <a:t>3) NVDA Reader (free versions available)</a:t>
            </a:r>
          </a:p>
          <a:p>
            <a:endParaRPr lang="en-US" dirty="0"/>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algn="r">
              <a:buSzPct val="25000"/>
            </a:pPr>
            <a:fld id="{00000000-1234-1234-1234-123412341234}" type="slidenum">
              <a:rPr lang="en-US" sz="1200">
                <a:solidFill>
                  <a:schemeClr val="dk1"/>
                </a:solidFill>
              </a:rPr>
              <a:pPr algn="r">
                <a:buSzPct val="25000"/>
              </a:pPr>
              <a:t>1</a:t>
            </a:fld>
            <a:endParaRPr lang="en-US" sz="1200" dirty="0">
              <a:solidFill>
                <a:schemeClr val="dk1"/>
              </a:solidFil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 the class.</a:t>
            </a:r>
          </a:p>
          <a:p>
            <a:endParaRPr lang="en-US" dirty="0"/>
          </a:p>
        </p:txBody>
      </p:sp>
      <p:sp>
        <p:nvSpPr>
          <p:cNvPr id="4" name="Slide Number Placeholder 3"/>
          <p:cNvSpPr>
            <a:spLocks noGrp="1"/>
          </p:cNvSpPr>
          <p:nvPr>
            <p:ph type="sldNum" sz="quarter" idx="5"/>
          </p:nvPr>
        </p:nvSpPr>
        <p:spPr/>
        <p:txBody>
          <a:bodyPr/>
          <a:lstStyle/>
          <a:p>
            <a:fld id="{B04FDA2A-5419-44B5-AE75-0024CAFD0903}" type="slidenum">
              <a:rPr lang="en-US" altLang="en-US" smtClean="0"/>
              <a:pPr/>
              <a:t>2</a:t>
            </a:fld>
            <a:endParaRPr lang="en-US" altLang="en-US"/>
          </a:p>
        </p:txBody>
      </p:sp>
    </p:spTree>
    <p:extLst>
      <p:ext uri="{BB962C8B-B14F-4D97-AF65-F5344CB8AC3E}">
        <p14:creationId xmlns:p14="http://schemas.microsoft.com/office/powerpoint/2010/main" val="1568603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3</a:t>
            </a:fld>
            <a:endParaRPr lang="en-US" sz="1200" dirty="0">
              <a:solidFill>
                <a:schemeClr val="dk1"/>
              </a:solidFill>
            </a:endParaRPr>
          </a:p>
        </p:txBody>
      </p:sp>
    </p:spTree>
    <p:extLst>
      <p:ext uri="{BB962C8B-B14F-4D97-AF65-F5344CB8AC3E}">
        <p14:creationId xmlns:p14="http://schemas.microsoft.com/office/powerpoint/2010/main" val="1773130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Next to this box is a box with text, class contacts (Signatures of public methods and public constants). There is a two way arrow between this box and a box to the right. The text in the box on the right reads, clients use the class through the contact of the class.</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4</a:t>
            </a:fld>
            <a:endParaRPr lang="en-US" sz="1200" dirty="0">
              <a:solidFill>
                <a:schemeClr val="dk1"/>
              </a:solidFill>
            </a:endParaRPr>
          </a:p>
        </p:txBody>
      </p:sp>
    </p:spTree>
    <p:extLst>
      <p:ext uri="{BB962C8B-B14F-4D97-AF65-F5344CB8AC3E}">
        <p14:creationId xmlns:p14="http://schemas.microsoft.com/office/powerpoint/2010/main" val="2921519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5</a:t>
            </a:fld>
            <a:endParaRPr lang="en-US" sz="1200" dirty="0">
              <a:solidFill>
                <a:schemeClr val="dk1"/>
              </a:solidFill>
            </a:endParaRPr>
          </a:p>
        </p:txBody>
      </p:sp>
    </p:spTree>
    <p:extLst>
      <p:ext uri="{BB962C8B-B14F-4D97-AF65-F5344CB8AC3E}">
        <p14:creationId xmlns:p14="http://schemas.microsoft.com/office/powerpoint/2010/main" val="1956485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elements colon int left bracket right bracket. An array to store integers in the stack.</a:t>
            </a:r>
          </a:p>
          <a:p>
            <a:r>
              <a:rPr lang="en-US" dirty="0"/>
              <a:t>Row 2. size colon int. The number of integers in the stack.</a:t>
            </a:r>
          </a:p>
          <a:p>
            <a:r>
              <a:rPr lang="en-US" dirty="0"/>
              <a:t>Row 3. +</a:t>
            </a:r>
            <a:r>
              <a:rPr lang="en-US" dirty="0" err="1"/>
              <a:t>StackOfIntegers</a:t>
            </a:r>
            <a:r>
              <a:rPr lang="en-US" dirty="0"/>
              <a:t> left parenthesis right parenthesis. Constructs an empty stack with a default capacity of 16.</a:t>
            </a:r>
          </a:p>
          <a:p>
            <a:r>
              <a:rPr lang="en-US" dirty="0"/>
              <a:t>Row 4. +</a:t>
            </a:r>
            <a:r>
              <a:rPr lang="en-US" dirty="0" err="1"/>
              <a:t>StackOflntegers</a:t>
            </a:r>
            <a:r>
              <a:rPr lang="en-US" dirty="0"/>
              <a:t> left parenthesis capacity colon int right parenthesis. Constructs an empty stack with a specified capacity.</a:t>
            </a:r>
          </a:p>
          <a:p>
            <a:r>
              <a:rPr lang="en-US" dirty="0"/>
              <a:t>Row 5. +empty left parenthesis right parenthesis colon Boolean. Returns true if the stack is empty.</a:t>
            </a:r>
          </a:p>
          <a:p>
            <a:r>
              <a:rPr lang="en-US" dirty="0"/>
              <a:t>Row 6. +peek left parenthesis right parenthesis colon int. Returns the integer at the top of the stack without removing it from the stack.</a:t>
            </a:r>
          </a:p>
          <a:p>
            <a:r>
              <a:rPr lang="en-US" dirty="0"/>
              <a:t>Row 7. +push left parenthesis value colon int right parenthesis colon int. Stores an integer into the top of the stack.</a:t>
            </a:r>
          </a:p>
          <a:p>
            <a:r>
              <a:rPr lang="en-US" dirty="0"/>
              <a:t>Row 8. +pop left parenthesis right parenthesis colon int. Removes the integer at the top of the stack and returns it.</a:t>
            </a:r>
          </a:p>
          <a:p>
            <a:r>
              <a:rPr lang="en-US" dirty="0"/>
              <a:t>Row 9. +</a:t>
            </a:r>
            <a:r>
              <a:rPr lang="en-US" dirty="0" err="1"/>
              <a:t>getSize</a:t>
            </a:r>
            <a:r>
              <a:rPr lang="en-US" dirty="0"/>
              <a:t> left parenthesis right parenthesis colon int. Returns the number of elements in the stack.</a:t>
            </a:r>
          </a:p>
          <a:p>
            <a:endParaRPr lang="en-US" dirty="0"/>
          </a:p>
          <a:p>
            <a:r>
              <a:rPr lang="en-US" dirty="0" err="1"/>
              <a:t>TestStackOfIntegers</a:t>
            </a:r>
            <a:r>
              <a:rPr lang="en-US" dirty="0"/>
              <a:t>: </a:t>
            </a:r>
            <a:r>
              <a:rPr lang="en-IN" dirty="0">
                <a:hlinkClick r:id="rId3"/>
              </a:rPr>
              <a:t>https://liveexample.pearsoncmg.com/html/TestStackOfIntegers.html</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7</a:t>
            </a:fld>
            <a:endParaRPr lang="en-US" sz="1200" dirty="0">
              <a:solidFill>
                <a:schemeClr val="dk1"/>
              </a:solidFill>
            </a:endParaRPr>
          </a:p>
        </p:txBody>
      </p:sp>
    </p:spTree>
    <p:extLst>
      <p:ext uri="{BB962C8B-B14F-4D97-AF65-F5344CB8AC3E}">
        <p14:creationId xmlns:p14="http://schemas.microsoft.com/office/powerpoint/2010/main" val="3601454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8</a:t>
            </a:fld>
            <a:endParaRPr lang="en-US" sz="1200" dirty="0">
              <a:solidFill>
                <a:schemeClr val="dk1"/>
              </a:solidFill>
            </a:endParaRPr>
          </a:p>
        </p:txBody>
      </p:sp>
    </p:spTree>
    <p:extLst>
      <p:ext uri="{BB962C8B-B14F-4D97-AF65-F5344CB8AC3E}">
        <p14:creationId xmlns:p14="http://schemas.microsoft.com/office/powerpoint/2010/main" val="27117910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box elements array for size minus 1 is labeled, top and last box is labeled, bottom. The boxes from the box labeled, top to box labeled, bottom are labeled, size. The whole vertical column is labeled, capacity.</a:t>
            </a:r>
          </a:p>
          <a:p>
            <a:endParaRPr lang="en-US" dirty="0"/>
          </a:p>
          <a:p>
            <a:r>
              <a:rPr lang="en-US" dirty="0" err="1"/>
              <a:t>StackOfIntegers</a:t>
            </a:r>
            <a:r>
              <a:rPr lang="en-US" dirty="0"/>
              <a:t>: </a:t>
            </a:r>
            <a:r>
              <a:rPr lang="en-IN" dirty="0">
                <a:hlinkClick r:id="rId3"/>
              </a:rPr>
              <a:t>https://liveexample.pearsoncmg.com/html/StackOfIntegers.html</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9</a:t>
            </a:fld>
            <a:endParaRPr lang="en-US" sz="1200" dirty="0">
              <a:solidFill>
                <a:schemeClr val="dk1"/>
              </a:solidFill>
            </a:endParaRPr>
          </a:p>
        </p:txBody>
      </p:sp>
    </p:spTree>
    <p:extLst>
      <p:ext uri="{BB962C8B-B14F-4D97-AF65-F5344CB8AC3E}">
        <p14:creationId xmlns:p14="http://schemas.microsoft.com/office/powerpoint/2010/main" val="2060889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10</a:t>
            </a:fld>
            <a:endParaRPr lang="en-US" sz="1200" dirty="0">
              <a:solidFill>
                <a:schemeClr val="dk1"/>
              </a:solidFill>
            </a:endParaRPr>
          </a:p>
        </p:txBody>
      </p:sp>
    </p:spTree>
    <p:extLst>
      <p:ext uri="{BB962C8B-B14F-4D97-AF65-F5344CB8AC3E}">
        <p14:creationId xmlns:p14="http://schemas.microsoft.com/office/powerpoint/2010/main" val="2222457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computer code is divided into 2 boxes. The left box shows the java period </a:t>
            </a:r>
            <a:r>
              <a:rPr lang="en-IN" dirty="0" err="1"/>
              <a:t>lang</a:t>
            </a:r>
            <a:r>
              <a:rPr lang="en-IN" dirty="0"/>
              <a:t> period Integer. The computer code has of  14 lines. </a:t>
            </a:r>
          </a:p>
          <a:p>
            <a:r>
              <a:rPr lang="en-IN" dirty="0"/>
              <a:t>Line1, minus value colon </a:t>
            </a:r>
            <a:r>
              <a:rPr lang="en-IN" dirty="0" err="1"/>
              <a:t>int</a:t>
            </a:r>
            <a:endParaRPr lang="en-IN" dirty="0"/>
          </a:p>
          <a:p>
            <a:r>
              <a:rPr lang="en-IN" dirty="0"/>
              <a:t>Line 2, plus MAX_VALUE colon </a:t>
            </a:r>
            <a:r>
              <a:rPr lang="en-IN" dirty="0" err="1"/>
              <a:t>int</a:t>
            </a:r>
            <a:endParaRPr lang="en-IN" dirty="0"/>
          </a:p>
          <a:p>
            <a:r>
              <a:rPr lang="en-IN" dirty="0"/>
              <a:t>Line 3, plus MIN_VALUE colon </a:t>
            </a:r>
            <a:r>
              <a:rPr lang="en-IN" dirty="0" err="1"/>
              <a:t>int</a:t>
            </a:r>
            <a:endParaRPr lang="en-IN" dirty="0"/>
          </a:p>
          <a:p>
            <a:r>
              <a:rPr lang="en-IN" dirty="0"/>
              <a:t>Line 4, plus Integer open parenthesis value colon </a:t>
            </a:r>
            <a:r>
              <a:rPr lang="en-IN" dirty="0" err="1"/>
              <a:t>int</a:t>
            </a:r>
            <a:r>
              <a:rPr lang="en-IN" dirty="0"/>
              <a:t> close parenthesis</a:t>
            </a:r>
          </a:p>
          <a:p>
            <a:r>
              <a:rPr lang="en-IN" dirty="0"/>
              <a:t>Line 5, plus Integer open </a:t>
            </a:r>
            <a:r>
              <a:rPr lang="en-IN" dirty="0" err="1"/>
              <a:t>parenthesiss</a:t>
            </a:r>
            <a:r>
              <a:rPr lang="en-IN" dirty="0"/>
              <a:t> colon String close parenthesis</a:t>
            </a:r>
          </a:p>
          <a:p>
            <a:r>
              <a:rPr lang="en-IN" dirty="0"/>
              <a:t>Line 6, plus byte Value open parenthesis close parenthesis colon byte</a:t>
            </a:r>
          </a:p>
          <a:p>
            <a:r>
              <a:rPr lang="en-IN" dirty="0"/>
              <a:t>Line 7, plus short Value open parenthesis close parenthesis colon short</a:t>
            </a:r>
          </a:p>
          <a:p>
            <a:r>
              <a:rPr lang="en-IN" dirty="0"/>
              <a:t>Line 8, plus </a:t>
            </a:r>
            <a:r>
              <a:rPr lang="en-IN" dirty="0" err="1"/>
              <a:t>intValue</a:t>
            </a:r>
            <a:r>
              <a:rPr lang="en-IN" dirty="0"/>
              <a:t> open parenthesis close parenthesis colon </a:t>
            </a:r>
            <a:r>
              <a:rPr lang="en-IN" dirty="0" err="1"/>
              <a:t>int</a:t>
            </a:r>
            <a:endParaRPr lang="en-IN" dirty="0"/>
          </a:p>
          <a:p>
            <a:r>
              <a:rPr lang="en-IN" dirty="0"/>
              <a:t>Line 9, plus </a:t>
            </a:r>
            <a:r>
              <a:rPr lang="en-IN" dirty="0" err="1"/>
              <a:t>longValue</a:t>
            </a:r>
            <a:r>
              <a:rPr lang="en-IN" dirty="0"/>
              <a:t> open parenthesis close parenthesis colon long</a:t>
            </a:r>
          </a:p>
          <a:p>
            <a:r>
              <a:rPr lang="en-IN" dirty="0"/>
              <a:t>Line 10, plus float Value open parenthesis close parenthesis colon float</a:t>
            </a:r>
          </a:p>
          <a:p>
            <a:r>
              <a:rPr lang="en-IN" dirty="0"/>
              <a:t>Line 11, plus double Value open parenthesis close parenthesis colon double</a:t>
            </a:r>
          </a:p>
          <a:p>
            <a:r>
              <a:rPr lang="en-IN" dirty="0"/>
              <a:t>Line 12, plus compare To open parenthesis colon Integer close parenthesis colon </a:t>
            </a:r>
            <a:r>
              <a:rPr lang="en-IN" dirty="0" err="1"/>
              <a:t>int</a:t>
            </a:r>
            <a:r>
              <a:rPr lang="en-IN" dirty="0"/>
              <a:t> </a:t>
            </a:r>
          </a:p>
          <a:p>
            <a:r>
              <a:rPr lang="en-IN" dirty="0"/>
              <a:t>Line 13, plus to String open parenthesis close parenthesis colon String</a:t>
            </a:r>
          </a:p>
          <a:p>
            <a:r>
              <a:rPr lang="en-IN" dirty="0"/>
              <a:t>Line 14, plus value Of open parenthesis colon String close parenthesis colon Integer</a:t>
            </a:r>
          </a:p>
          <a:p>
            <a:r>
              <a:rPr lang="en-IN" dirty="0"/>
              <a:t>Line 15, plus value Of open parenthesis colon String, radix colon </a:t>
            </a:r>
            <a:r>
              <a:rPr lang="en-IN" dirty="0" err="1"/>
              <a:t>int</a:t>
            </a:r>
            <a:r>
              <a:rPr lang="en-IN" dirty="0"/>
              <a:t> close parenthesis colon Integer</a:t>
            </a:r>
          </a:p>
          <a:p>
            <a:r>
              <a:rPr lang="en-IN" dirty="0"/>
              <a:t>Line 16, plus </a:t>
            </a:r>
            <a:r>
              <a:rPr lang="en-IN" dirty="0" err="1"/>
              <a:t>parseInt</a:t>
            </a:r>
            <a:r>
              <a:rPr lang="en-IN" dirty="0"/>
              <a:t> open parenthesis colon String close parenthesis colon </a:t>
            </a:r>
            <a:r>
              <a:rPr lang="en-IN" dirty="0" err="1"/>
              <a:t>int</a:t>
            </a:r>
            <a:endParaRPr lang="en-IN" dirty="0"/>
          </a:p>
          <a:p>
            <a:r>
              <a:rPr lang="en-IN" dirty="0"/>
              <a:t>Line 17, plus </a:t>
            </a:r>
            <a:r>
              <a:rPr lang="en-IN" dirty="0" err="1"/>
              <a:t>parseInt</a:t>
            </a:r>
            <a:r>
              <a:rPr lang="en-IN" dirty="0"/>
              <a:t> open parenthesis colon String, radix colon </a:t>
            </a:r>
            <a:r>
              <a:rPr lang="en-IN" dirty="0" err="1"/>
              <a:t>int</a:t>
            </a:r>
            <a:r>
              <a:rPr lang="en-IN" dirty="0"/>
              <a:t> close parenthesis colon </a:t>
            </a:r>
            <a:r>
              <a:rPr lang="en-IN" dirty="0" err="1"/>
              <a:t>int</a:t>
            </a:r>
            <a:endParaRPr lang="en-IN" dirty="0"/>
          </a:p>
          <a:p>
            <a:endParaRPr lang="en-IN" dirty="0"/>
          </a:p>
          <a:p>
            <a:r>
              <a:rPr lang="en-IN" dirty="0"/>
              <a:t>The Right box shows java period </a:t>
            </a:r>
            <a:r>
              <a:rPr lang="en-IN" dirty="0" err="1"/>
              <a:t>lang</a:t>
            </a:r>
            <a:r>
              <a:rPr lang="en-IN" dirty="0"/>
              <a:t> period Double. </a:t>
            </a:r>
          </a:p>
          <a:p>
            <a:r>
              <a:rPr lang="en-IN" dirty="0"/>
              <a:t>The computer code has of  17 lines. </a:t>
            </a:r>
          </a:p>
          <a:p>
            <a:r>
              <a:rPr lang="en-IN" dirty="0"/>
              <a:t>Line1, minus value colon double</a:t>
            </a:r>
          </a:p>
          <a:p>
            <a:r>
              <a:rPr lang="en-IN" dirty="0"/>
              <a:t>Line 2, plus MAX_VALUE colon double</a:t>
            </a:r>
          </a:p>
          <a:p>
            <a:r>
              <a:rPr lang="en-IN" dirty="0"/>
              <a:t>Line 3, plus MIN_VALUE colon double</a:t>
            </a:r>
          </a:p>
          <a:p>
            <a:r>
              <a:rPr lang="en-IN" dirty="0"/>
              <a:t>Line 4, plus Double open parenthesis value colon double close parenthesis</a:t>
            </a:r>
          </a:p>
          <a:p>
            <a:r>
              <a:rPr lang="en-IN" dirty="0"/>
              <a:t>Line 5, plus Double open parenthesis colon String close parenthesis</a:t>
            </a:r>
          </a:p>
          <a:p>
            <a:r>
              <a:rPr lang="en-IN" dirty="0"/>
              <a:t>Line 6, plus byte Value open parenthesis close parenthesis colon byte</a:t>
            </a:r>
          </a:p>
          <a:p>
            <a:r>
              <a:rPr lang="en-IN" dirty="0"/>
              <a:t>Line 7, plus short Value open parenthesis close parenthesis colon short</a:t>
            </a:r>
          </a:p>
          <a:p>
            <a:r>
              <a:rPr lang="en-IN" dirty="0"/>
              <a:t>Line 8, plus </a:t>
            </a:r>
            <a:r>
              <a:rPr lang="en-IN" dirty="0" err="1"/>
              <a:t>intValue</a:t>
            </a:r>
            <a:r>
              <a:rPr lang="en-IN" dirty="0"/>
              <a:t> open parenthesis close parenthesis colon </a:t>
            </a:r>
            <a:r>
              <a:rPr lang="en-IN" dirty="0" err="1"/>
              <a:t>int</a:t>
            </a:r>
            <a:endParaRPr lang="en-IN" dirty="0"/>
          </a:p>
          <a:p>
            <a:r>
              <a:rPr lang="en-IN" dirty="0"/>
              <a:t>Line 9, plus </a:t>
            </a:r>
            <a:r>
              <a:rPr lang="en-IN" dirty="0" err="1"/>
              <a:t>longValue</a:t>
            </a:r>
            <a:r>
              <a:rPr lang="en-IN" dirty="0"/>
              <a:t> open parenthesis close parenthesis colon long</a:t>
            </a:r>
          </a:p>
          <a:p>
            <a:r>
              <a:rPr lang="en-IN" dirty="0"/>
              <a:t>Line 10, plus float Value open parenthesis close parenthesis colon float</a:t>
            </a:r>
          </a:p>
          <a:p>
            <a:r>
              <a:rPr lang="en-IN" dirty="0"/>
              <a:t>Line 11, plus double Value open parenthesis close parenthesis colon double</a:t>
            </a:r>
          </a:p>
          <a:p>
            <a:r>
              <a:rPr lang="en-IN" dirty="0"/>
              <a:t>Line 12, plus compare To open parenthesis colon Double close parenthesis colon into </a:t>
            </a:r>
          </a:p>
          <a:p>
            <a:r>
              <a:rPr lang="en-IN" dirty="0"/>
              <a:t>Line 13, plus to String open parenthesis close parenthesis colon String</a:t>
            </a:r>
          </a:p>
          <a:p>
            <a:r>
              <a:rPr lang="en-IN" dirty="0"/>
              <a:t>Line 14, plus value Of open parenthesis colon String close parenthesis colon Double</a:t>
            </a:r>
          </a:p>
          <a:p>
            <a:r>
              <a:rPr lang="en-IN" dirty="0"/>
              <a:t>Line 15, plus value Of open parenthesis colon String, radix colon </a:t>
            </a:r>
            <a:r>
              <a:rPr lang="en-IN" dirty="0" err="1"/>
              <a:t>int</a:t>
            </a:r>
            <a:r>
              <a:rPr lang="en-IN" dirty="0"/>
              <a:t> close parenthesis colon Double</a:t>
            </a:r>
          </a:p>
          <a:p>
            <a:r>
              <a:rPr lang="en-IN" dirty="0"/>
              <a:t>Line 16, plus parse Double open parenthesis colon String close parenthesis colon double</a:t>
            </a:r>
          </a:p>
          <a:p>
            <a:r>
              <a:rPr lang="en-IN" dirty="0"/>
              <a:t>Line 17, plus parse Double open parenthesis colon String, radix colon </a:t>
            </a:r>
            <a:r>
              <a:rPr lang="en-IN" dirty="0" err="1"/>
              <a:t>int</a:t>
            </a:r>
            <a:r>
              <a:rPr lang="en-IN" dirty="0"/>
              <a:t> close parenthesis colon double</a:t>
            </a:r>
          </a:p>
        </p:txBody>
      </p:sp>
      <p:sp>
        <p:nvSpPr>
          <p:cNvPr id="4" name="Slide Number Placeholder 3"/>
          <p:cNvSpPr>
            <a:spLocks noGrp="1"/>
          </p:cNvSpPr>
          <p:nvPr>
            <p:ph type="sldNum" idx="10"/>
          </p:nvPr>
        </p:nvSpPr>
        <p:spPr/>
        <p:txBody>
          <a:bodyPr/>
          <a:lstStyle/>
          <a:p>
            <a:pPr algn="r">
              <a:buSzPct val="25000"/>
            </a:pPr>
            <a:fld id="{00000000-1234-1234-1234-123412341234}" type="slidenum">
              <a:rPr lang="en-US" sz="1200">
                <a:solidFill>
                  <a:schemeClr val="dk1"/>
                </a:solidFill>
              </a:rPr>
              <a:pPr algn="r">
                <a:buSzPct val="25000"/>
              </a:pPr>
              <a:t>11</a:t>
            </a:fld>
            <a:endParaRPr lang="en-US" sz="1200" dirty="0">
              <a:solidFill>
                <a:schemeClr val="dk1"/>
              </a:solidFill>
            </a:endParaRPr>
          </a:p>
        </p:txBody>
      </p:sp>
    </p:spTree>
    <p:extLst>
      <p:ext uri="{BB962C8B-B14F-4D97-AF65-F5344CB8AC3E}">
        <p14:creationId xmlns:p14="http://schemas.microsoft.com/office/powerpoint/2010/main" val="1404915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12</a:t>
            </a:fld>
            <a:endParaRPr lang="en-US" sz="1200" dirty="0">
              <a:solidFill>
                <a:schemeClr val="dk1"/>
              </a:solidFill>
            </a:endParaRPr>
          </a:p>
        </p:txBody>
      </p:sp>
    </p:spTree>
    <p:extLst>
      <p:ext uri="{BB962C8B-B14F-4D97-AF65-F5344CB8AC3E}">
        <p14:creationId xmlns:p14="http://schemas.microsoft.com/office/powerpoint/2010/main" val="7124592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left computer code shows the coding of Integer open bracket close bracket int Array equals to open braces new Integer open parenthesis 2 close parenthesis comma  new Integer open parenthesis 4 close parenthesis, new Integer open parenthesis3 close parenthesis close braces semicolon which is equivalent to right computer code that shows the Integer open bracket close bracket int Array equals to open braces 2, 4, 3 close braces semicolon are New JDK 1.5 boxing.</a:t>
            </a:r>
          </a:p>
          <a:p>
            <a:endParaRPr lang="en-IN" dirty="0"/>
          </a:p>
          <a:p>
            <a:r>
              <a:rPr lang="en-US" dirty="0" err="1"/>
              <a:t>System.out.prinln</a:t>
            </a:r>
            <a:r>
              <a:rPr lang="en-US" dirty="0"/>
              <a:t> left parenthesis </a:t>
            </a:r>
            <a:r>
              <a:rPr lang="en-US" dirty="0" err="1"/>
              <a:t>intArray</a:t>
            </a:r>
            <a:r>
              <a:rPr lang="en-US" dirty="0"/>
              <a:t> left bracket 0 right bracket + </a:t>
            </a:r>
            <a:r>
              <a:rPr lang="en-US" dirty="0" err="1"/>
              <a:t>intArray</a:t>
            </a:r>
            <a:r>
              <a:rPr lang="en-US" dirty="0"/>
              <a:t> left bracket 1 right bracket + </a:t>
            </a:r>
            <a:r>
              <a:rPr lang="en-US" dirty="0" err="1"/>
              <a:t>intArray</a:t>
            </a:r>
            <a:r>
              <a:rPr lang="en-US" dirty="0"/>
              <a:t> left bracket 2 right bracket. The arrays are together labeled, unboxing.</a:t>
            </a:r>
            <a:endParaRPr lang="en-IN" dirty="0"/>
          </a:p>
        </p:txBody>
      </p:sp>
      <p:sp>
        <p:nvSpPr>
          <p:cNvPr id="4" name="Slide Number Placeholder 3"/>
          <p:cNvSpPr>
            <a:spLocks noGrp="1"/>
          </p:cNvSpPr>
          <p:nvPr>
            <p:ph type="sldNum" idx="10"/>
          </p:nvPr>
        </p:nvSpPr>
        <p:spPr/>
        <p:txBody>
          <a:bodyPr/>
          <a:lstStyle/>
          <a:p>
            <a:pPr algn="r">
              <a:buSzPct val="25000"/>
            </a:pPr>
            <a:fld id="{00000000-1234-1234-1234-123412341234}" type="slidenum">
              <a:rPr lang="en-US" sz="1200">
                <a:solidFill>
                  <a:schemeClr val="dk1"/>
                </a:solidFill>
              </a:rPr>
              <a:pPr algn="r">
                <a:buSzPct val="25000"/>
              </a:pPr>
              <a:t>13</a:t>
            </a:fld>
            <a:endParaRPr lang="en-US" sz="1200" dirty="0">
              <a:solidFill>
                <a:schemeClr val="dk1"/>
              </a:solidFill>
            </a:endParaRPr>
          </a:p>
        </p:txBody>
      </p:sp>
    </p:spTree>
    <p:extLst>
      <p:ext uri="{BB962C8B-B14F-4D97-AF65-F5344CB8AC3E}">
        <p14:creationId xmlns:p14="http://schemas.microsoft.com/office/powerpoint/2010/main" val="598136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14</a:t>
            </a:fld>
            <a:endParaRPr lang="en-US" sz="1200" dirty="0">
              <a:solidFill>
                <a:schemeClr val="dk1"/>
              </a:solidFill>
            </a:endParaRPr>
          </a:p>
        </p:txBody>
      </p:sp>
    </p:spTree>
    <p:extLst>
      <p:ext uri="{BB962C8B-B14F-4D97-AF65-F5344CB8AC3E}">
        <p14:creationId xmlns:p14="http://schemas.microsoft.com/office/powerpoint/2010/main" val="2344694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15</a:t>
            </a:fld>
            <a:endParaRPr lang="en-US" sz="1200" dirty="0">
              <a:solidFill>
                <a:schemeClr val="dk1"/>
              </a:solidFill>
            </a:endParaRPr>
          </a:p>
        </p:txBody>
      </p:sp>
    </p:spTree>
    <p:extLst>
      <p:ext uri="{BB962C8B-B14F-4D97-AF65-F5344CB8AC3E}">
        <p14:creationId xmlns:p14="http://schemas.microsoft.com/office/powerpoint/2010/main" val="1414008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16</a:t>
            </a:fld>
            <a:endParaRPr lang="en-US" sz="1200" dirty="0">
              <a:solidFill>
                <a:schemeClr val="dk1"/>
              </a:solidFill>
            </a:endParaRPr>
          </a:p>
        </p:txBody>
      </p:sp>
    </p:spTree>
    <p:extLst>
      <p:ext uri="{BB962C8B-B14F-4D97-AF65-F5344CB8AC3E}">
        <p14:creationId xmlns:p14="http://schemas.microsoft.com/office/powerpoint/2010/main" val="573671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32" indent="0">
              <a:buNone/>
            </a:pPr>
            <a:r>
              <a:rPr lang="en-IN" dirty="0"/>
              <a:t>Since strings are immutable and are frequently used, to improve efficiency and save memory, </a:t>
            </a:r>
          </a:p>
          <a:p>
            <a:pPr marL="432" indent="0">
              <a:buNone/>
            </a:pPr>
            <a:r>
              <a:rPr lang="en-IN" dirty="0"/>
              <a:t>the J</a:t>
            </a:r>
            <a:r>
              <a:rPr lang="en-IN" sz="100" dirty="0"/>
              <a:t> </a:t>
            </a:r>
            <a:r>
              <a:rPr lang="en-IN" dirty="0"/>
              <a:t>V</a:t>
            </a:r>
            <a:r>
              <a:rPr lang="en-IN" sz="100" dirty="0"/>
              <a:t> </a:t>
            </a:r>
            <a:r>
              <a:rPr lang="en-IN" dirty="0"/>
              <a:t>M uses a unique instance for string literals with the same character sequence. Such an instance is called </a:t>
            </a:r>
            <a:r>
              <a:rPr lang="en-IN" b="1" dirty="0"/>
              <a:t>interned</a:t>
            </a:r>
            <a:r>
              <a:rPr lang="en-IN" dirty="0"/>
              <a:t>. For example, the following statements:</a:t>
            </a:r>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17</a:t>
            </a:fld>
            <a:endParaRPr lang="en-US" sz="1200" dirty="0">
              <a:solidFill>
                <a:schemeClr val="dk1"/>
              </a:solidFill>
            </a:endParaRPr>
          </a:p>
        </p:txBody>
      </p:sp>
    </p:spTree>
    <p:extLst>
      <p:ext uri="{BB962C8B-B14F-4D97-AF65-F5344CB8AC3E}">
        <p14:creationId xmlns:p14="http://schemas.microsoft.com/office/powerpoint/2010/main" val="1960791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18</a:t>
            </a:fld>
            <a:endParaRPr lang="en-US" sz="1200" dirty="0">
              <a:solidFill>
                <a:schemeClr val="dk1"/>
              </a:solidFill>
            </a:endParaRPr>
          </a:p>
        </p:txBody>
      </p:sp>
    </p:spTree>
    <p:extLst>
      <p:ext uri="{BB962C8B-B14F-4D97-AF65-F5344CB8AC3E}">
        <p14:creationId xmlns:p14="http://schemas.microsoft.com/office/powerpoint/2010/main" val="523088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19</a:t>
            </a:fld>
            <a:endParaRPr lang="en-US" sz="1200" dirty="0">
              <a:solidFill>
                <a:schemeClr val="dk1"/>
              </a:solidFill>
            </a:endParaRPr>
          </a:p>
        </p:txBody>
      </p:sp>
    </p:spTree>
    <p:extLst>
      <p:ext uri="{BB962C8B-B14F-4D97-AF65-F5344CB8AC3E}">
        <p14:creationId xmlns:p14="http://schemas.microsoft.com/office/powerpoint/2010/main" val="2284073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20</a:t>
            </a:fld>
            <a:endParaRPr lang="en-US" sz="1200" dirty="0">
              <a:solidFill>
                <a:schemeClr val="dk1"/>
              </a:solidFill>
            </a:endParaRPr>
          </a:p>
        </p:txBody>
      </p:sp>
    </p:spTree>
    <p:extLst>
      <p:ext uri="{BB962C8B-B14F-4D97-AF65-F5344CB8AC3E}">
        <p14:creationId xmlns:p14="http://schemas.microsoft.com/office/powerpoint/2010/main" val="153270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21</a:t>
            </a:fld>
            <a:endParaRPr lang="en-US" sz="1200" dirty="0">
              <a:solidFill>
                <a:schemeClr val="dk1"/>
              </a:solidFill>
            </a:endParaRPr>
          </a:p>
        </p:txBody>
      </p:sp>
    </p:spTree>
    <p:extLst>
      <p:ext uri="{BB962C8B-B14F-4D97-AF65-F5344CB8AC3E}">
        <p14:creationId xmlns:p14="http://schemas.microsoft.com/office/powerpoint/2010/main" val="2819402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22</a:t>
            </a:fld>
            <a:endParaRPr lang="en-US" sz="1200" dirty="0">
              <a:solidFill>
                <a:schemeClr val="dk1"/>
              </a:solidFill>
            </a:endParaRPr>
          </a:p>
        </p:txBody>
      </p:sp>
    </p:spTree>
    <p:extLst>
      <p:ext uri="{BB962C8B-B14F-4D97-AF65-F5344CB8AC3E}">
        <p14:creationId xmlns:p14="http://schemas.microsoft.com/office/powerpoint/2010/main" val="943584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23</a:t>
            </a:fld>
            <a:endParaRPr lang="en-US" sz="1200" dirty="0">
              <a:solidFill>
                <a:schemeClr val="dk1"/>
              </a:solidFill>
            </a:endParaRPr>
          </a:p>
        </p:txBody>
      </p:sp>
    </p:spTree>
    <p:extLst>
      <p:ext uri="{BB962C8B-B14F-4D97-AF65-F5344CB8AC3E}">
        <p14:creationId xmlns:p14="http://schemas.microsoft.com/office/powerpoint/2010/main" val="34035332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+StringBuilder left parenthesis right parenthesis. Constructs an empty string builder with capacity 16.</a:t>
            </a:r>
          </a:p>
          <a:p>
            <a:r>
              <a:rPr lang="en-US" dirty="0"/>
              <a:t>Row 2. +StringBuilder left parenthesis capacity colon int right parenthesis. Constructs a string builder with the specified capacity.</a:t>
            </a:r>
          </a:p>
          <a:p>
            <a:r>
              <a:rPr lang="en-US" dirty="0"/>
              <a:t>Row 3. +StringBuilder left parenthesis S colon String right parenthesis. </a:t>
            </a:r>
            <a:r>
              <a:rPr lang="en-US" dirty="0" err="1"/>
              <a:t>Construcyts</a:t>
            </a:r>
            <a:r>
              <a:rPr lang="en-US" dirty="0"/>
              <a:t> a string builder with the specified string.</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24</a:t>
            </a:fld>
            <a:endParaRPr lang="en-US" sz="1200" dirty="0">
              <a:solidFill>
                <a:schemeClr val="dk1"/>
              </a:solidFill>
            </a:endParaRPr>
          </a:p>
        </p:txBody>
      </p:sp>
    </p:spTree>
    <p:extLst>
      <p:ext uri="{BB962C8B-B14F-4D97-AF65-F5344CB8AC3E}">
        <p14:creationId xmlns:p14="http://schemas.microsoft.com/office/powerpoint/2010/main" val="1579414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+append left parenthesis data colon char left bracket right bracket right parenthesis colon StringBuilder. Appends a char array into this string builder.</a:t>
            </a:r>
          </a:p>
          <a:p>
            <a:r>
              <a:rPr lang="en-US" dirty="0"/>
              <a:t>Row 2. +append left parenthesis data colon char left bracket right bracket, offset colon int, </a:t>
            </a:r>
            <a:r>
              <a:rPr lang="en-US" dirty="0" err="1"/>
              <a:t>len</a:t>
            </a:r>
            <a:r>
              <a:rPr lang="en-US" dirty="0"/>
              <a:t> colon int right parenthesis colon StringBuilder. Appends a subarray in data into this string builder.</a:t>
            </a:r>
          </a:p>
          <a:p>
            <a:r>
              <a:rPr lang="en-US" dirty="0"/>
              <a:t>Row 3. +append left parenthesis v colon </a:t>
            </a:r>
            <a:r>
              <a:rPr lang="en-US" dirty="0" err="1"/>
              <a:t>aPrimitiveType</a:t>
            </a:r>
            <a:r>
              <a:rPr lang="en-US" dirty="0"/>
              <a:t> right parenthesis colon String Builder. Appends a primitive type value as a string to this builder.</a:t>
            </a:r>
          </a:p>
          <a:p>
            <a:r>
              <a:rPr lang="en-US" dirty="0"/>
              <a:t>Row 4. +append left parenthesis s colon String right parenthesis colon StringBuilder. Appends a string to this string builder.</a:t>
            </a:r>
          </a:p>
          <a:p>
            <a:r>
              <a:rPr lang="en-US" dirty="0"/>
              <a:t>Row 5. +delete left parenthesis </a:t>
            </a:r>
            <a:r>
              <a:rPr lang="en-US" dirty="0" err="1"/>
              <a:t>startIndex</a:t>
            </a:r>
            <a:r>
              <a:rPr lang="en-US" dirty="0"/>
              <a:t> colon int, </a:t>
            </a:r>
            <a:r>
              <a:rPr lang="en-US" dirty="0" err="1"/>
              <a:t>endlndex</a:t>
            </a:r>
            <a:r>
              <a:rPr lang="en-US" dirty="0"/>
              <a:t> colon int right parenthesis colon StringBuilder. Deletes characters from </a:t>
            </a:r>
            <a:r>
              <a:rPr lang="en-US" dirty="0" err="1"/>
              <a:t>startlndex</a:t>
            </a:r>
            <a:r>
              <a:rPr lang="en-US" dirty="0"/>
              <a:t> to </a:t>
            </a:r>
            <a:r>
              <a:rPr lang="en-US" dirty="0" err="1"/>
              <a:t>endlndex</a:t>
            </a:r>
            <a:r>
              <a:rPr lang="en-US" dirty="0"/>
              <a:t>.</a:t>
            </a:r>
          </a:p>
          <a:p>
            <a:r>
              <a:rPr lang="en-US" dirty="0"/>
              <a:t>Row 6. +</a:t>
            </a:r>
            <a:r>
              <a:rPr lang="en-US" dirty="0" err="1"/>
              <a:t>deleteCharAt</a:t>
            </a:r>
            <a:r>
              <a:rPr lang="en-US" dirty="0"/>
              <a:t> left parenthesis index colon int right parenthesis colon StringBuilder. Deletes a character at the specified index.</a:t>
            </a:r>
          </a:p>
          <a:p>
            <a:r>
              <a:rPr lang="en-US" dirty="0"/>
              <a:t>Row 7. +insert left parenthesis index colon int, data colon char left bracket right bracket, offset colon int, </a:t>
            </a:r>
            <a:r>
              <a:rPr lang="en-US" dirty="0" err="1"/>
              <a:t>len</a:t>
            </a:r>
            <a:r>
              <a:rPr lang="en-US" dirty="0"/>
              <a:t> colon int right parenthesis colon StringBuilder. Inserts a subarray of the data in the array to the builder at the specified index.</a:t>
            </a:r>
          </a:p>
          <a:p>
            <a:r>
              <a:rPr lang="en-US" dirty="0"/>
              <a:t>Row 8. +insert left parenthesis offset colon int, data colon char left bracket right bracket right parenthesis colon StringBuilder. Inserts data into this builder at the position offset.</a:t>
            </a:r>
          </a:p>
          <a:p>
            <a:r>
              <a:rPr lang="en-US" dirty="0"/>
              <a:t>Row 9. +insert left parenthesis offset colon int, b colon </a:t>
            </a:r>
            <a:r>
              <a:rPr lang="en-US" dirty="0" err="1"/>
              <a:t>aPrimitiveType</a:t>
            </a:r>
            <a:r>
              <a:rPr lang="en-US" dirty="0"/>
              <a:t> right parenthesis colon StringBuilder. Inserts a value converted to a string into this builder.</a:t>
            </a:r>
          </a:p>
          <a:p>
            <a:r>
              <a:rPr lang="en-US" dirty="0"/>
              <a:t>Row 10. +insert left parenthesis offset colon int, s colon String right parenthesis colon StringBuilder. Inserts a string into this builder at the position offset.</a:t>
            </a:r>
          </a:p>
          <a:p>
            <a:r>
              <a:rPr lang="en-US" dirty="0"/>
              <a:t>Row 11. +replace left parenthesis </a:t>
            </a:r>
            <a:r>
              <a:rPr lang="en-US" dirty="0" err="1"/>
              <a:t>startlndex</a:t>
            </a:r>
            <a:r>
              <a:rPr lang="en-US" dirty="0"/>
              <a:t> colon int, </a:t>
            </a:r>
            <a:r>
              <a:rPr lang="en-US" dirty="0" err="1"/>
              <a:t>endlndex</a:t>
            </a:r>
            <a:r>
              <a:rPr lang="en-US" dirty="0"/>
              <a:t> colon int, s colon String right parenthesis colon StringBuilder. Replaces the characters in this builder from </a:t>
            </a:r>
            <a:r>
              <a:rPr lang="en-US" dirty="0" err="1"/>
              <a:t>startlndex</a:t>
            </a:r>
            <a:r>
              <a:rPr lang="en-US" dirty="0"/>
              <a:t> to </a:t>
            </a:r>
            <a:r>
              <a:rPr lang="en-US" dirty="0" err="1"/>
              <a:t>endlndex</a:t>
            </a:r>
            <a:r>
              <a:rPr lang="en-US" dirty="0"/>
              <a:t> with the specified string.</a:t>
            </a:r>
          </a:p>
          <a:p>
            <a:r>
              <a:rPr lang="en-US" dirty="0"/>
              <a:t>Row 12. +reverse left parenthesis right parenthesis colon StringBuilder. Reverses the characters in the builder.</a:t>
            </a:r>
          </a:p>
          <a:p>
            <a:r>
              <a:rPr lang="en-US" dirty="0"/>
              <a:t>Row 13. +</a:t>
            </a:r>
            <a:r>
              <a:rPr lang="en-US" dirty="0" err="1"/>
              <a:t>setCharAt</a:t>
            </a:r>
            <a:r>
              <a:rPr lang="en-US" dirty="0"/>
              <a:t> left parenthesis index colon int, </a:t>
            </a:r>
            <a:r>
              <a:rPr lang="en-US" dirty="0" err="1"/>
              <a:t>ch</a:t>
            </a:r>
            <a:r>
              <a:rPr lang="en-US" dirty="0"/>
              <a:t> colon char right parenthesis colon void. Sets a new character at the specified index in this builder.</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25</a:t>
            </a:fld>
            <a:endParaRPr lang="en-US" sz="1200" dirty="0">
              <a:solidFill>
                <a:schemeClr val="dk1"/>
              </a:solidFill>
            </a:endParaRPr>
          </a:p>
        </p:txBody>
      </p:sp>
    </p:spTree>
    <p:extLst>
      <p:ext uri="{BB962C8B-B14F-4D97-AF65-F5344CB8AC3E}">
        <p14:creationId xmlns:p14="http://schemas.microsoft.com/office/powerpoint/2010/main" val="40819116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a:t>
            </a:r>
            <a:r>
              <a:rPr lang="en-US" dirty="0" err="1"/>
              <a:t>toString</a:t>
            </a:r>
            <a:r>
              <a:rPr lang="en-US" dirty="0"/>
              <a:t> left parenthesis right parenthesis colon String. Returns a string object from the string builder.</a:t>
            </a:r>
          </a:p>
          <a:p>
            <a:r>
              <a:rPr lang="en-US" dirty="0"/>
              <a:t>Row 2. +capacity left parenthesis right parenthesis colon int. Returns the capacity of this string builder.</a:t>
            </a:r>
          </a:p>
          <a:p>
            <a:r>
              <a:rPr lang="en-US" dirty="0"/>
              <a:t>Row 3. +</a:t>
            </a:r>
            <a:r>
              <a:rPr lang="en-US" dirty="0" err="1"/>
              <a:t>charAt</a:t>
            </a:r>
            <a:r>
              <a:rPr lang="en-US" dirty="0"/>
              <a:t> left parenthesis index colon int right parenthesis colon char. Returns the character at the specified index.</a:t>
            </a:r>
          </a:p>
          <a:p>
            <a:r>
              <a:rPr lang="en-US" dirty="0"/>
              <a:t>Row 4. +length left parenthesis right parenthesis colon int. Returns the number of characters in this builder.</a:t>
            </a:r>
          </a:p>
          <a:p>
            <a:r>
              <a:rPr lang="en-US" dirty="0"/>
              <a:t>Row 5. +</a:t>
            </a:r>
            <a:r>
              <a:rPr lang="en-US" dirty="0" err="1"/>
              <a:t>setLength</a:t>
            </a:r>
            <a:r>
              <a:rPr lang="en-US" dirty="0"/>
              <a:t> left parenthesis </a:t>
            </a:r>
            <a:r>
              <a:rPr lang="en-US" dirty="0" err="1"/>
              <a:t>newLength</a:t>
            </a:r>
            <a:r>
              <a:rPr lang="en-US" dirty="0"/>
              <a:t> colon int right parenthesis colon void. Sets a new length in this builder.</a:t>
            </a:r>
          </a:p>
          <a:p>
            <a:r>
              <a:rPr lang="en-US" dirty="0"/>
              <a:t>Row 6. +substring left parenthesis </a:t>
            </a:r>
            <a:r>
              <a:rPr lang="en-US" dirty="0" err="1"/>
              <a:t>startlndex</a:t>
            </a:r>
            <a:r>
              <a:rPr lang="en-US" dirty="0"/>
              <a:t> colon int right parenthesis colon String. Returns a substring starting at </a:t>
            </a:r>
            <a:r>
              <a:rPr lang="en-US" dirty="0" err="1"/>
              <a:t>startlndex</a:t>
            </a:r>
            <a:r>
              <a:rPr lang="en-US" dirty="0"/>
              <a:t>.</a:t>
            </a:r>
          </a:p>
          <a:p>
            <a:r>
              <a:rPr lang="en-US" dirty="0"/>
              <a:t>Row 7. +substring left parenthesis </a:t>
            </a:r>
            <a:r>
              <a:rPr lang="en-US" dirty="0" err="1"/>
              <a:t>startlndex</a:t>
            </a:r>
            <a:r>
              <a:rPr lang="en-US" dirty="0"/>
              <a:t> colon int, </a:t>
            </a:r>
            <a:r>
              <a:rPr lang="en-US" dirty="0" err="1"/>
              <a:t>endlndex</a:t>
            </a:r>
            <a:r>
              <a:rPr lang="en-US" dirty="0"/>
              <a:t> colon int right parenthesis colon String. Returns a substring from </a:t>
            </a:r>
            <a:r>
              <a:rPr lang="en-US" dirty="0" err="1"/>
              <a:t>startlndex</a:t>
            </a:r>
            <a:r>
              <a:rPr lang="en-US" dirty="0"/>
              <a:t> to </a:t>
            </a:r>
            <a:r>
              <a:rPr lang="en-US" dirty="0" err="1"/>
              <a:t>endlndex</a:t>
            </a:r>
            <a:r>
              <a:rPr lang="en-US" dirty="0"/>
              <a:t> 1.</a:t>
            </a:r>
          </a:p>
          <a:p>
            <a:r>
              <a:rPr lang="en-US" dirty="0"/>
              <a:t>Row 8. +</a:t>
            </a:r>
            <a:r>
              <a:rPr lang="en-US" dirty="0" err="1"/>
              <a:t>trimToSize</a:t>
            </a:r>
            <a:r>
              <a:rPr lang="en-US" dirty="0"/>
              <a:t> left parenthesis right parenthesis colon void. Reduces the storage size used for the string builder.</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27</a:t>
            </a:fld>
            <a:endParaRPr lang="en-US" sz="1200" dirty="0">
              <a:solidFill>
                <a:schemeClr val="dk1"/>
              </a:solidFill>
            </a:endParaRPr>
          </a:p>
        </p:txBody>
      </p:sp>
    </p:spTree>
    <p:extLst>
      <p:ext uri="{BB962C8B-B14F-4D97-AF65-F5344CB8AC3E}">
        <p14:creationId xmlns:p14="http://schemas.microsoft.com/office/powerpoint/2010/main" val="23838516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PalindromeIgnoreNonAlphanumeric</a:t>
            </a:r>
            <a:r>
              <a:rPr lang="en-IN" dirty="0"/>
              <a:t>: </a:t>
            </a:r>
            <a:r>
              <a:rPr lang="en-IN" dirty="0">
                <a:hlinkClick r:id="rId3"/>
              </a:rPr>
              <a:t>https://liveexample.pearsoncmg.com/html/PalindromeIgnoreNonAlphanumeric.html</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28</a:t>
            </a:fld>
            <a:endParaRPr lang="en-US" sz="1200" dirty="0">
              <a:solidFill>
                <a:schemeClr val="dk1"/>
              </a:solidFill>
            </a:endParaRPr>
          </a:p>
        </p:txBody>
      </p:sp>
    </p:spTree>
    <p:extLst>
      <p:ext uri="{BB962C8B-B14F-4D97-AF65-F5344CB8AC3E}">
        <p14:creationId xmlns:p14="http://schemas.microsoft.com/office/powerpoint/2010/main" val="8065075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29</a:t>
            </a:fld>
            <a:endParaRPr lang="en-US" sz="1200" dirty="0">
              <a:solidFill>
                <a:schemeClr val="dk1"/>
              </a:solidFill>
            </a:endParaRPr>
          </a:p>
        </p:txBody>
      </p:sp>
    </p:spTree>
    <p:extLst>
      <p:ext uri="{BB962C8B-B14F-4D97-AF65-F5344CB8AC3E}">
        <p14:creationId xmlns:p14="http://schemas.microsoft.com/office/powerpoint/2010/main" val="22799480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30</a:t>
            </a:fld>
            <a:endParaRPr lang="en-US" sz="1200" dirty="0">
              <a:solidFill>
                <a:schemeClr val="dk1"/>
              </a:solidFill>
            </a:endParaRPr>
          </a:p>
        </p:txBody>
      </p:sp>
    </p:spTree>
    <p:extLst>
      <p:ext uri="{BB962C8B-B14F-4D97-AF65-F5344CB8AC3E}">
        <p14:creationId xmlns:p14="http://schemas.microsoft.com/office/powerpoint/2010/main" val="5996679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 entries are as follows.</a:t>
            </a:r>
          </a:p>
          <a:p>
            <a:r>
              <a:rPr lang="en-US" dirty="0"/>
              <a:t>Row 1. X, a specified character x, Java matches Java.</a:t>
            </a:r>
          </a:p>
          <a:p>
            <a:r>
              <a:rPr lang="en-US" dirty="0"/>
              <a:t>Row 2. dot, any single character, Java matches J dot </a:t>
            </a:r>
            <a:r>
              <a:rPr lang="en-US" dirty="0" err="1"/>
              <a:t>dot</a:t>
            </a:r>
            <a:r>
              <a:rPr lang="en-US" dirty="0"/>
              <a:t> a.</a:t>
            </a:r>
          </a:p>
          <a:p>
            <a:r>
              <a:rPr lang="en-US" dirty="0"/>
              <a:t>Row 3. Left parenthesis ab vertical line cd right parenthesis, ab or cd, ten matches t left parenthesis </a:t>
            </a:r>
            <a:r>
              <a:rPr lang="en-US" dirty="0" err="1"/>
              <a:t>en</a:t>
            </a:r>
            <a:r>
              <a:rPr lang="en-US" dirty="0"/>
              <a:t> vertical line </a:t>
            </a:r>
            <a:r>
              <a:rPr lang="en-US" dirty="0" err="1"/>
              <a:t>im</a:t>
            </a:r>
            <a:r>
              <a:rPr lang="en-US" dirty="0"/>
              <a:t> right parenthesis.</a:t>
            </a:r>
          </a:p>
          <a:p>
            <a:r>
              <a:rPr lang="en-US" dirty="0"/>
              <a:t>Row 4. Left parenthesis a b c right parenthesis, a, b. or c, Java matches Ja left bracket </a:t>
            </a:r>
            <a:r>
              <a:rPr lang="en-US" dirty="0" err="1"/>
              <a:t>uvwx</a:t>
            </a:r>
            <a:r>
              <a:rPr lang="en-US" dirty="0"/>
              <a:t> right bracket a.</a:t>
            </a:r>
          </a:p>
          <a:p>
            <a:r>
              <a:rPr lang="en-US" dirty="0"/>
              <a:t>Row 5. Left bracket cap a b c right bracket, any character except a, b, or c, Java matches la left bracket cap a r s right bracket a</a:t>
            </a:r>
          </a:p>
          <a:p>
            <a:r>
              <a:rPr lang="en-US" dirty="0"/>
              <a:t>Row 6. Left bracket a to z right bracket, a through z, Java matches left bracket A to M right bracket a v left bracket a to d right bracket </a:t>
            </a:r>
          </a:p>
          <a:p>
            <a:r>
              <a:rPr lang="en-US" dirty="0"/>
              <a:t>Row 7. Left bracket cap a to z, any character except a through z, Java matches </a:t>
            </a:r>
            <a:r>
              <a:rPr lang="en-US" dirty="0" err="1"/>
              <a:t>Jav</a:t>
            </a:r>
            <a:r>
              <a:rPr lang="en-US" dirty="0"/>
              <a:t> left bracket cap b to d right bracket </a:t>
            </a:r>
          </a:p>
          <a:p>
            <a:r>
              <a:rPr lang="en-US" dirty="0"/>
              <a:t>Row 8. left bracket a to e left bracket m to p right bracket, right bracket, a through e or m through p, Java matches left bracket A to G left bracket I to M right bracket a v left bracket a to d right bracket </a:t>
            </a:r>
          </a:p>
          <a:p>
            <a:r>
              <a:rPr lang="en-US" dirty="0"/>
              <a:t>Row 9. left bracket a to e and </a:t>
            </a:r>
            <a:r>
              <a:rPr lang="en-US" dirty="0" err="1"/>
              <a:t>and</a:t>
            </a:r>
            <a:r>
              <a:rPr lang="en-US" dirty="0"/>
              <a:t> left bracket c to p right bracket, right bracket, intersection of a to e with c to p, Java matches left bracket A to P and </a:t>
            </a:r>
            <a:r>
              <a:rPr lang="en-US" dirty="0" err="1"/>
              <a:t>and</a:t>
            </a:r>
            <a:r>
              <a:rPr lang="en-US" dirty="0"/>
              <a:t> left bracket I to M a v left bracket a to d right bracket.</a:t>
            </a:r>
          </a:p>
          <a:p>
            <a:r>
              <a:rPr lang="en-US" dirty="0"/>
              <a:t>Row 10. Backslash slash lowercase d, a digit, same as left bracket 0 to 9 right bracket, Java2 matches double quotation marks Java left bracket backslash </a:t>
            </a:r>
            <a:r>
              <a:rPr lang="en-US" dirty="0" err="1"/>
              <a:t>backslash</a:t>
            </a:r>
            <a:r>
              <a:rPr lang="en-US" dirty="0"/>
              <a:t> lowercase d right bracket double quotation marks.</a:t>
            </a:r>
          </a:p>
          <a:p>
            <a:r>
              <a:rPr lang="en-US" dirty="0"/>
              <a:t>Row 11. Backslash slash uppercase d, a non digit, Java matches double quotation marks left bracket backslash, backslash uppercase D right bracket left bracket backslash, backslash uppercase D right bracket left bracket uppercase D right bracket ava double quotation marks.</a:t>
            </a:r>
          </a:p>
          <a:p>
            <a:r>
              <a:rPr lang="en-US" dirty="0"/>
              <a:t>Row 12. backslash lowercase w, a word character, Java matches double quotation marks left bracket backslash </a:t>
            </a:r>
            <a:r>
              <a:rPr lang="en-US" dirty="0" err="1"/>
              <a:t>backslash</a:t>
            </a:r>
            <a:r>
              <a:rPr lang="en-US" dirty="0"/>
              <a:t> w right bracket ava left bracket backslash, backslash, w right bracket double quotation marks.</a:t>
            </a:r>
          </a:p>
          <a:p>
            <a:r>
              <a:rPr lang="en-US" dirty="0"/>
              <a:t>Row 13. backslash uppercase W, a non word character, Java matches double quotation marks left bracket backslash </a:t>
            </a:r>
            <a:r>
              <a:rPr lang="en-US" dirty="0" err="1"/>
              <a:t>backslash</a:t>
            </a:r>
            <a:r>
              <a:rPr lang="en-US" dirty="0"/>
              <a:t> W left bracket backslash </a:t>
            </a:r>
            <a:r>
              <a:rPr lang="en-US" dirty="0" err="1"/>
              <a:t>backslash</a:t>
            </a:r>
            <a:r>
              <a:rPr lang="en-US" dirty="0"/>
              <a:t> W right bracket ava double quotation marks.</a:t>
            </a:r>
          </a:p>
          <a:p>
            <a:r>
              <a:rPr lang="en-US" dirty="0"/>
              <a:t>Row 14. backslash lowercase s, a whitespace character, double quotation marks Java 2 double quotation marks matches double quotation marks Java backslash </a:t>
            </a:r>
            <a:r>
              <a:rPr lang="en-US" dirty="0" err="1"/>
              <a:t>backslash</a:t>
            </a:r>
            <a:r>
              <a:rPr lang="en-US" dirty="0"/>
              <a:t> s2 double quotation marks.</a:t>
            </a:r>
          </a:p>
          <a:p>
            <a:r>
              <a:rPr lang="en-US" dirty="0"/>
              <a:t>Row 15. backslash uppercase S, a non whitespace char, Java matches double quotation marks left bracket backslash </a:t>
            </a:r>
            <a:r>
              <a:rPr lang="en-US" dirty="0" err="1"/>
              <a:t>backslash</a:t>
            </a:r>
            <a:r>
              <a:rPr lang="en-US" dirty="0"/>
              <a:t> S right bracket ava double quotation marks.</a:t>
            </a:r>
          </a:p>
          <a:p>
            <a:r>
              <a:rPr lang="en-US" dirty="0"/>
              <a:t>Row 16. p asterisk, zero or more occurrences of pattern p, </a:t>
            </a:r>
            <a:r>
              <a:rPr lang="en-US" dirty="0" err="1"/>
              <a:t>aaaabb</a:t>
            </a:r>
            <a:r>
              <a:rPr lang="en-US" dirty="0"/>
              <a:t> matches double quotation marks a asterisk bb double quotation marks, </a:t>
            </a:r>
            <a:r>
              <a:rPr lang="en-US" dirty="0" err="1"/>
              <a:t>ababab</a:t>
            </a:r>
            <a:r>
              <a:rPr lang="en-US" dirty="0"/>
              <a:t> matches double quotation marks left bracket ab right bracket double quotation marks</a:t>
            </a:r>
          </a:p>
          <a:p>
            <a:r>
              <a:rPr lang="en-US" dirty="0"/>
              <a:t>Row 17. p+, one or more occurrences of pattern p, a matches double quotation marks a + b asterisk double quotation marks, able matches double quotation marks left bracket ab right bracket + double quotation marks</a:t>
            </a:r>
          </a:p>
          <a:p>
            <a:r>
              <a:rPr lang="en-US" dirty="0"/>
              <a:t>Row 18. p left brace n right brace, zero or one occurrence of pattern p, Java matches double quotation marks Ja left brace 1 right brace. double quotation marks</a:t>
            </a:r>
          </a:p>
          <a:p>
            <a:r>
              <a:rPr lang="en-US" dirty="0"/>
              <a:t>Row 19. P left brace n, right brace, exactly n occurrences of pattern p, </a:t>
            </a:r>
            <a:r>
              <a:rPr lang="en-US" dirty="0" err="1"/>
              <a:t>aaaa</a:t>
            </a:r>
            <a:r>
              <a:rPr lang="en-US" dirty="0"/>
              <a:t> matches double quotation marks a left brace 1 right brace double quotation marks, a does not match double quotation marks a left brace 2, right brace double quotation marks.</a:t>
            </a:r>
          </a:p>
          <a:p>
            <a:r>
              <a:rPr lang="en-US" dirty="0"/>
              <a:t>Row 20. p left brace n, m right brace, at least n occurrences of pattern p between n and m occurrences (inclusive), </a:t>
            </a:r>
            <a:r>
              <a:rPr lang="en-US" dirty="0" err="1"/>
              <a:t>aaaa</a:t>
            </a:r>
            <a:r>
              <a:rPr lang="en-US" dirty="0"/>
              <a:t> matches double quotation marks a left brace 1, 9 right brace double quotation marks, abb does not match double quotation marks a left brace 2, 9 right brace bb double quotation marks.</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31</a:t>
            </a:fld>
            <a:endParaRPr lang="en-US" sz="1200" dirty="0">
              <a:solidFill>
                <a:schemeClr val="dk1"/>
              </a:solidFill>
            </a:endParaRPr>
          </a:p>
        </p:txBody>
      </p:sp>
    </p:spTree>
    <p:extLst>
      <p:ext uri="{BB962C8B-B14F-4D97-AF65-F5344CB8AC3E}">
        <p14:creationId xmlns:p14="http://schemas.microsoft.com/office/powerpoint/2010/main" val="627051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+matches left parenthesis regex colon String right parenthesis colon Boolean. Returns true if this string matches the pattern.</a:t>
            </a:r>
          </a:p>
          <a:p>
            <a:r>
              <a:rPr lang="en-US" dirty="0"/>
              <a:t>Row 2. +</a:t>
            </a:r>
            <a:r>
              <a:rPr lang="en-US" dirty="0" err="1"/>
              <a:t>replaceAll</a:t>
            </a:r>
            <a:r>
              <a:rPr lang="en-US" dirty="0"/>
              <a:t> left parenthesis regex colon String, replacement colon String right parenthesis colon String. Returns a new string that replaces all matching substrings with the replacement.</a:t>
            </a:r>
          </a:p>
          <a:p>
            <a:r>
              <a:rPr lang="en-US" dirty="0"/>
              <a:t>Row 3. +</a:t>
            </a:r>
            <a:r>
              <a:rPr lang="en-US" dirty="0" err="1"/>
              <a:t>replaceFirst</a:t>
            </a:r>
            <a:r>
              <a:rPr lang="en-US" dirty="0"/>
              <a:t> left parenthesis regex colon String, replacement colon String right parenthesis colon String. Returns a new string that replaces the first matching substring with the replacement.</a:t>
            </a:r>
          </a:p>
          <a:p>
            <a:r>
              <a:rPr lang="en-US" dirty="0"/>
              <a:t>Row 4. +split left parenthesis regex colon String right parenthesis colon String. Returns an array of strings consisting of the substrings split by the matches.</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32</a:t>
            </a:fld>
            <a:endParaRPr lang="en-US" sz="1200" dirty="0">
              <a:solidFill>
                <a:schemeClr val="dk1"/>
              </a:solidFill>
            </a:endParaRPr>
          </a:p>
        </p:txBody>
      </p:sp>
    </p:spTree>
    <p:extLst>
      <p:ext uri="{BB962C8B-B14F-4D97-AF65-F5344CB8AC3E}">
        <p14:creationId xmlns:p14="http://schemas.microsoft.com/office/powerpoint/2010/main" val="24136779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smtClean="0">
                <a:solidFill>
                  <a:schemeClr val="dk1"/>
                </a:solidFill>
              </a:rPr>
              <a:pPr algn="r">
                <a:buSzPct val="25000"/>
              </a:pPr>
              <a:t>33</a:t>
            </a:fld>
            <a:endParaRPr lang="en-US" sz="1200" dirty="0">
              <a:solidFill>
                <a:schemeClr val="dk1"/>
              </a:solidFill>
            </a:endParaRPr>
          </a:p>
        </p:txBody>
      </p:sp>
    </p:spTree>
    <p:extLst>
      <p:ext uri="{BB962C8B-B14F-4D97-AF65-F5344CB8AC3E}">
        <p14:creationId xmlns:p14="http://schemas.microsoft.com/office/powerpoint/2010/main" val="1947038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7086600" cy="715962"/>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304800" y="1143000"/>
            <a:ext cx="8458200" cy="5105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1"/>
          </p:nvPr>
        </p:nvSpPr>
        <p:spPr>
          <a:xfrm>
            <a:off x="7239000" y="6400800"/>
            <a:ext cx="1600200" cy="304800"/>
          </a:xfrm>
        </p:spPr>
        <p:txBody>
          <a:bodyPr/>
          <a:lstStyle>
            <a:lvl1pPr>
              <a:defRPr/>
            </a:lvl1pPr>
          </a:lstStyle>
          <a:p>
            <a:r>
              <a:rPr lang="en-US" altLang="en-US"/>
              <a:t>Page </a:t>
            </a:r>
            <a:fld id="{2559D688-2AB9-4281-813D-F294D99D723F}" type="slidenum">
              <a:rPr lang="en-US" altLang="en-US"/>
              <a:pPr/>
              <a:t>‹#›</a:t>
            </a:fld>
            <a:endParaRPr lang="en-US" altLang="en-US"/>
          </a:p>
        </p:txBody>
      </p:sp>
    </p:spTree>
    <p:extLst>
      <p:ext uri="{BB962C8B-B14F-4D97-AF65-F5344CB8AC3E}">
        <p14:creationId xmlns:p14="http://schemas.microsoft.com/office/powerpoint/2010/main" val="4250748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6" Type="http://schemas.openxmlformats.org/officeDocument/2006/relationships/image" Target="../media/image1.jpg"/><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theme" Target="../theme/theme2.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IntelliJ-Workspace/CourseProject"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hyperlink" Target="https://liveexample.pearsoncmg.com/html/TestStackOfIntegers.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hyperlink" Target="https://liveexample.pearsoncmg.com/html/StackOfIntegers.html"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vmlDrawing" Target="../drawings/vmlDrawing1.vml"/><Relationship Id="rId5" Type="http://schemas.openxmlformats.org/officeDocument/2006/relationships/image" Target="../media/image13.w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hyperlink" Target="https://liveexample.pearsoncmg.com/html/PalindromeIgnoreNonAlphanumeric.html"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hyperlink" Target="https://docs.oracle.com/javase/8/docs/api/java/util/regex/Pattern.html" TargetMode="External"/><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8046721"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solidFill>
                  <a:schemeClr val="tx2"/>
                </a:solidFill>
              </a:rPr>
              <a:t>Thirteenth Edition</a:t>
            </a:r>
          </a:p>
        </p:txBody>
      </p:sp>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10</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589177"/>
          </a:xfrm>
        </p:spPr>
        <p:txBody>
          <a:bodyPr/>
          <a:lstStyle/>
          <a:p>
            <a:r>
              <a:rPr lang="en-US" dirty="0"/>
              <a:t>Thinking in Objects</a:t>
            </a:r>
          </a:p>
        </p:txBody>
      </p:sp>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IN" dirty="0"/>
              <a:t>2024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3"/>
          <a:srcRect t="22152" b="22152"/>
          <a:stretch>
            <a:fillRect/>
          </a:stretch>
        </p:blipFill>
        <p:spPr>
          <a:xfrm>
            <a:off x="315677" y="6420639"/>
            <a:ext cx="1176574" cy="296443"/>
          </a:xfrm>
        </p:spPr>
      </p:pic>
      <p:pic>
        <p:nvPicPr>
          <p:cNvPr id="9" name="Picture 8" descr="Graphical user interface&#10;&#10;Description automatically generated">
            <a:extLst>
              <a:ext uri="{FF2B5EF4-FFF2-40B4-BE49-F238E27FC236}">
                <a16:creationId xmlns:a16="http://schemas.microsoft.com/office/drawing/2014/main" id="{C9CF1B25-0F39-4E38-92C8-BAF387D68FC4}"/>
              </a:ext>
            </a:extLst>
          </p:cNvPr>
          <p:cNvPicPr>
            <a:picLocks noChangeAspect="1"/>
          </p:cNvPicPr>
          <p:nvPr/>
        </p:nvPicPr>
        <p:blipFill>
          <a:blip r:embed="rId4"/>
          <a:stretch>
            <a:fillRect/>
          </a:stretch>
        </p:blipFill>
        <p:spPr>
          <a:xfrm>
            <a:off x="581108" y="1707337"/>
            <a:ext cx="3797134" cy="4523213"/>
          </a:xfrm>
          <a:prstGeom prst="rect">
            <a:avLst/>
          </a:prstGeom>
        </p:spPr>
      </p:pic>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65AA-3A0A-44EA-B25C-DC9AE2002B6B}"/>
              </a:ext>
            </a:extLst>
          </p:cNvPr>
          <p:cNvSpPr>
            <a:spLocks noGrp="1"/>
          </p:cNvSpPr>
          <p:nvPr>
            <p:ph type="title"/>
          </p:nvPr>
        </p:nvSpPr>
        <p:spPr/>
        <p:txBody>
          <a:bodyPr/>
          <a:lstStyle/>
          <a:p>
            <a:pPr algn="ctr"/>
            <a:r>
              <a:rPr lang="en-US" sz="2000" dirty="0"/>
              <a:t>Review: Objects and Classes</a:t>
            </a:r>
            <a:br>
              <a:rPr lang="en-US" sz="2000" dirty="0"/>
            </a:br>
            <a:r>
              <a:rPr lang="en-US" sz="2000" dirty="0"/>
              <a:t>Money Class</a:t>
            </a:r>
          </a:p>
        </p:txBody>
      </p:sp>
      <p:sp>
        <p:nvSpPr>
          <p:cNvPr id="3" name="Content Placeholder 2">
            <a:extLst>
              <a:ext uri="{FF2B5EF4-FFF2-40B4-BE49-F238E27FC236}">
                <a16:creationId xmlns:a16="http://schemas.microsoft.com/office/drawing/2014/main" id="{1730FD2E-EC5F-4106-8E30-0EFE379128FA}"/>
              </a:ext>
            </a:extLst>
          </p:cNvPr>
          <p:cNvSpPr>
            <a:spLocks noGrp="1"/>
          </p:cNvSpPr>
          <p:nvPr>
            <p:ph idx="1"/>
          </p:nvPr>
        </p:nvSpPr>
        <p:spPr/>
        <p:txBody>
          <a:bodyPr/>
          <a:lstStyle/>
          <a:p>
            <a:r>
              <a:rPr lang="en-US" dirty="0"/>
              <a:t>A Money object can be represented by the following UML:</a:t>
            </a:r>
          </a:p>
          <a:p>
            <a:pPr marL="0" indent="0">
              <a:buNone/>
            </a:pPr>
            <a:endParaRPr lang="en-US" dirty="0"/>
          </a:p>
        </p:txBody>
      </p:sp>
      <p:sp>
        <p:nvSpPr>
          <p:cNvPr id="4" name="Slide Number Placeholder 3">
            <a:extLst>
              <a:ext uri="{FF2B5EF4-FFF2-40B4-BE49-F238E27FC236}">
                <a16:creationId xmlns:a16="http://schemas.microsoft.com/office/drawing/2014/main" id="{66AC99CC-D76B-4514-BEC1-8BC6DC067791}"/>
              </a:ext>
            </a:extLst>
          </p:cNvPr>
          <p:cNvSpPr>
            <a:spLocks noGrp="1"/>
          </p:cNvSpPr>
          <p:nvPr>
            <p:ph type="sldNum" sz="quarter" idx="11"/>
          </p:nvPr>
        </p:nvSpPr>
        <p:spPr/>
        <p:txBody>
          <a:bodyPr/>
          <a:lstStyle/>
          <a:p>
            <a:r>
              <a:rPr lang="en-US" altLang="en-US"/>
              <a:t>Page </a:t>
            </a:r>
            <a:fld id="{2559D688-2AB9-4281-813D-F294D99D723F}" type="slidenum">
              <a:rPr lang="en-US" altLang="en-US" smtClean="0"/>
              <a:pPr/>
              <a:t>2</a:t>
            </a:fld>
            <a:endParaRPr lang="en-US" altLang="en-US"/>
          </a:p>
        </p:txBody>
      </p:sp>
      <p:graphicFrame>
        <p:nvGraphicFramePr>
          <p:cNvPr id="5" name="Table 4">
            <a:extLst>
              <a:ext uri="{FF2B5EF4-FFF2-40B4-BE49-F238E27FC236}">
                <a16:creationId xmlns:a16="http://schemas.microsoft.com/office/drawing/2014/main" id="{478E30D1-C6B3-4416-B39C-DCAD92C54F49}"/>
              </a:ext>
            </a:extLst>
          </p:cNvPr>
          <p:cNvGraphicFramePr>
            <a:graphicFrameLocks noGrp="1"/>
          </p:cNvGraphicFramePr>
          <p:nvPr/>
        </p:nvGraphicFramePr>
        <p:xfrm>
          <a:off x="1600200" y="2895600"/>
          <a:ext cx="5943600" cy="3045460"/>
        </p:xfrm>
        <a:graphic>
          <a:graphicData uri="http://schemas.openxmlformats.org/drawingml/2006/table">
            <a:tbl>
              <a:tblPr>
                <a:tableStyleId>{5C22544A-7EE6-4342-B048-85BDC9FD1C3A}</a:tableStyleId>
              </a:tblPr>
              <a:tblGrid>
                <a:gridCol w="5943600">
                  <a:extLst>
                    <a:ext uri="{9D8B030D-6E8A-4147-A177-3AD203B41FA5}">
                      <a16:colId xmlns:a16="http://schemas.microsoft.com/office/drawing/2014/main" val="1342199948"/>
                    </a:ext>
                  </a:extLst>
                </a:gridCol>
              </a:tblGrid>
              <a:tr h="287020">
                <a:tc>
                  <a:txBody>
                    <a:bodyPr/>
                    <a:lstStyle/>
                    <a:p>
                      <a:pPr marL="2741295" marR="2727960" algn="ctr" eaLnBrk="0" hangingPunct="0">
                        <a:lnSpc>
                          <a:spcPts val="1260"/>
                        </a:lnSpc>
                        <a:spcBef>
                          <a:spcPts val="500"/>
                        </a:spcBef>
                        <a:spcAft>
                          <a:spcPts val="0"/>
                        </a:spcAft>
                      </a:pPr>
                      <a:r>
                        <a:rPr lang="en-US" sz="1100" spc="-10" dirty="0">
                          <a:effectLst/>
                        </a:rPr>
                        <a:t>Money</a:t>
                      </a:r>
                      <a:endParaRPr lang="en-US"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253206293"/>
                  </a:ext>
                </a:extLst>
              </a:tr>
              <a:tr h="447040">
                <a:tc>
                  <a:txBody>
                    <a:bodyPr/>
                    <a:lstStyle/>
                    <a:p>
                      <a:pPr marL="342900" marR="0" lvl="0" indent="-342900" rtl="0" eaLnBrk="0" hangingPunct="0">
                        <a:lnSpc>
                          <a:spcPts val="1260"/>
                        </a:lnSpc>
                        <a:spcBef>
                          <a:spcPts val="500"/>
                        </a:spcBef>
                        <a:spcAft>
                          <a:spcPts val="0"/>
                        </a:spcAft>
                        <a:buSzPts val="1100"/>
                        <a:buFont typeface="Symbol" panose="05050102010706020507" pitchFamily="18" charset="2"/>
                        <a:buChar char="-"/>
                        <a:tabLst>
                          <a:tab pos="520700" algn="l"/>
                        </a:tabLst>
                      </a:pPr>
                      <a:r>
                        <a:rPr lang="en-US" sz="1100">
                          <a:effectLst/>
                        </a:rPr>
                        <a:t>dollars</a:t>
                      </a:r>
                      <a:r>
                        <a:rPr lang="en-US" sz="1100" spc="-5">
                          <a:effectLst/>
                        </a:rPr>
                        <a:t> </a:t>
                      </a:r>
                      <a:r>
                        <a:rPr lang="en-US" sz="1100">
                          <a:effectLst/>
                        </a:rPr>
                        <a:t>:</a:t>
                      </a:r>
                      <a:r>
                        <a:rPr lang="en-US" sz="1100" spc="-5">
                          <a:effectLst/>
                        </a:rPr>
                        <a:t> </a:t>
                      </a:r>
                      <a:r>
                        <a:rPr lang="en-US" sz="1100" spc="-25">
                          <a:effectLst/>
                        </a:rPr>
                        <a:t>int</a:t>
                      </a:r>
                      <a:endParaRPr lang="en-US" sz="1200">
                        <a:effectLst/>
                      </a:endParaRPr>
                    </a:p>
                    <a:p>
                      <a:pPr marL="342900" marR="0" lvl="0" indent="-342900" eaLnBrk="0" hangingPunct="0">
                        <a:lnSpc>
                          <a:spcPts val="1260"/>
                        </a:lnSpc>
                        <a:spcBef>
                          <a:spcPts val="0"/>
                        </a:spcBef>
                        <a:spcAft>
                          <a:spcPts val="0"/>
                        </a:spcAft>
                        <a:buSzPts val="1100"/>
                        <a:buFont typeface="Symbol" panose="05050102010706020507" pitchFamily="18" charset="2"/>
                        <a:buChar char="-"/>
                        <a:tabLst>
                          <a:tab pos="520700" algn="l"/>
                        </a:tabLst>
                      </a:pPr>
                      <a:r>
                        <a:rPr lang="en-US" sz="1100">
                          <a:effectLst/>
                        </a:rPr>
                        <a:t>cents :</a:t>
                      </a:r>
                      <a:r>
                        <a:rPr lang="en-US" sz="1100" spc="10">
                          <a:effectLst/>
                        </a:rPr>
                        <a:t> </a:t>
                      </a:r>
                      <a:r>
                        <a:rPr lang="en-US" sz="1100" spc="-25">
                          <a:effectLst/>
                        </a:rPr>
                        <a:t>int  (Must be 0 to 99)</a:t>
                      </a:r>
                      <a:endParaRPr lang="en-US" sz="120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69801298"/>
                  </a:ext>
                </a:extLst>
              </a:tr>
              <a:tr h="1573530">
                <a:tc>
                  <a:txBody>
                    <a:bodyPr/>
                    <a:lstStyle/>
                    <a:p>
                      <a:pPr marL="292100" marR="0" eaLnBrk="0" hangingPunct="0">
                        <a:lnSpc>
                          <a:spcPts val="1260"/>
                        </a:lnSpc>
                        <a:spcBef>
                          <a:spcPts val="500"/>
                        </a:spcBef>
                        <a:spcAft>
                          <a:spcPts val="0"/>
                        </a:spcAft>
                        <a:tabLst>
                          <a:tab pos="520700" algn="l"/>
                        </a:tabLst>
                      </a:pPr>
                      <a:r>
                        <a:rPr lang="en-US" sz="1100" spc="-50" dirty="0">
                          <a:effectLst/>
                        </a:rPr>
                        <a:t>+</a:t>
                      </a:r>
                      <a:r>
                        <a:rPr lang="en-US" sz="1100" dirty="0">
                          <a:effectLst/>
                        </a:rPr>
                        <a:t>	</a:t>
                      </a:r>
                      <a:r>
                        <a:rPr lang="en-US" sz="1100" spc="-10" dirty="0">
                          <a:effectLst/>
                        </a:rPr>
                        <a:t>Money() // default value 0.0</a:t>
                      </a:r>
                      <a:endParaRPr lang="en-US" sz="1200" dirty="0">
                        <a:effectLst/>
                      </a:endParaRPr>
                    </a:p>
                    <a:p>
                      <a:pPr marL="292100" marR="0" eaLnBrk="0" hangingPunct="0">
                        <a:lnSpc>
                          <a:spcPts val="1260"/>
                        </a:lnSpc>
                        <a:spcBef>
                          <a:spcPts val="10"/>
                        </a:spcBef>
                        <a:spcAft>
                          <a:spcPts val="0"/>
                        </a:spcAft>
                        <a:tabLst>
                          <a:tab pos="520700" algn="l"/>
                        </a:tabLst>
                      </a:pPr>
                      <a:r>
                        <a:rPr lang="en-US" sz="1100" spc="-50" dirty="0">
                          <a:effectLst/>
                        </a:rPr>
                        <a:t>+</a:t>
                      </a:r>
                      <a:r>
                        <a:rPr lang="en-US" sz="1100" dirty="0">
                          <a:effectLst/>
                        </a:rPr>
                        <a:t>	Money(dollar</a:t>
                      </a:r>
                      <a:r>
                        <a:rPr lang="en-US" sz="1100" spc="-10" dirty="0">
                          <a:effectLst/>
                        </a:rPr>
                        <a:t> </a:t>
                      </a:r>
                      <a:r>
                        <a:rPr lang="en-US" sz="1100" dirty="0">
                          <a:effectLst/>
                        </a:rPr>
                        <a:t>:</a:t>
                      </a:r>
                      <a:r>
                        <a:rPr lang="en-US" sz="1100" spc="-15" dirty="0">
                          <a:effectLst/>
                        </a:rPr>
                        <a:t> </a:t>
                      </a:r>
                      <a:r>
                        <a:rPr lang="en-US" sz="1100" dirty="0">
                          <a:effectLst/>
                        </a:rPr>
                        <a:t>int,</a:t>
                      </a:r>
                      <a:r>
                        <a:rPr lang="en-US" sz="1100" spc="-10" dirty="0">
                          <a:effectLst/>
                        </a:rPr>
                        <a:t> </a:t>
                      </a:r>
                      <a:r>
                        <a:rPr lang="en-US" sz="1100" dirty="0">
                          <a:effectLst/>
                        </a:rPr>
                        <a:t>cent</a:t>
                      </a:r>
                      <a:r>
                        <a:rPr lang="en-US" sz="1100" spc="-15" dirty="0">
                          <a:effectLst/>
                        </a:rPr>
                        <a:t> </a:t>
                      </a:r>
                      <a:r>
                        <a:rPr lang="en-US" sz="1100" dirty="0">
                          <a:effectLst/>
                        </a:rPr>
                        <a:t>: </a:t>
                      </a:r>
                      <a:r>
                        <a:rPr lang="en-US" sz="1100" spc="-20" dirty="0">
                          <a:effectLst/>
                        </a:rPr>
                        <a:t>int)  </a:t>
                      </a:r>
                      <a:endParaRPr lang="en-US" sz="1200" dirty="0">
                        <a:effectLst/>
                      </a:endParaRPr>
                    </a:p>
                    <a:p>
                      <a:pPr marL="292100" marR="0" eaLnBrk="0" hangingPunct="0">
                        <a:lnSpc>
                          <a:spcPts val="1260"/>
                        </a:lnSpc>
                        <a:spcBef>
                          <a:spcPts val="0"/>
                        </a:spcBef>
                        <a:spcAft>
                          <a:spcPts val="0"/>
                        </a:spcAft>
                        <a:tabLst>
                          <a:tab pos="520700" algn="l"/>
                        </a:tabLst>
                      </a:pPr>
                      <a:r>
                        <a:rPr lang="en-US" sz="1100" spc="-50" dirty="0">
                          <a:effectLst/>
                        </a:rPr>
                        <a:t>+</a:t>
                      </a:r>
                      <a:r>
                        <a:rPr lang="en-US" sz="1100" dirty="0">
                          <a:effectLst/>
                        </a:rPr>
                        <a:t>	</a:t>
                      </a:r>
                      <a:r>
                        <a:rPr lang="en-US" sz="1100" dirty="0" err="1">
                          <a:effectLst/>
                        </a:rPr>
                        <a:t>getDollars</a:t>
                      </a:r>
                      <a:r>
                        <a:rPr lang="en-US" sz="1100" dirty="0">
                          <a:effectLst/>
                        </a:rPr>
                        <a:t>()</a:t>
                      </a:r>
                      <a:r>
                        <a:rPr lang="en-US" sz="1100" spc="-15" dirty="0">
                          <a:effectLst/>
                        </a:rPr>
                        <a:t> </a:t>
                      </a:r>
                      <a:r>
                        <a:rPr lang="en-US" sz="1100" dirty="0">
                          <a:effectLst/>
                        </a:rPr>
                        <a:t>:</a:t>
                      </a:r>
                      <a:r>
                        <a:rPr lang="en-US" sz="1100" spc="-15" dirty="0">
                          <a:effectLst/>
                        </a:rPr>
                        <a:t> </a:t>
                      </a:r>
                      <a:r>
                        <a:rPr lang="en-US" sz="1100" spc="-25" dirty="0">
                          <a:effectLst/>
                        </a:rPr>
                        <a:t>int</a:t>
                      </a:r>
                      <a:endParaRPr lang="en-US" sz="1200" dirty="0">
                        <a:effectLst/>
                      </a:endParaRPr>
                    </a:p>
                    <a:p>
                      <a:pPr marL="292100" marR="0" eaLnBrk="0" hangingPunct="0">
                        <a:lnSpc>
                          <a:spcPts val="1260"/>
                        </a:lnSpc>
                        <a:spcBef>
                          <a:spcPts val="5"/>
                        </a:spcBef>
                        <a:spcAft>
                          <a:spcPts val="0"/>
                        </a:spcAft>
                        <a:tabLst>
                          <a:tab pos="520700" algn="l"/>
                        </a:tabLst>
                      </a:pPr>
                      <a:r>
                        <a:rPr lang="en-US" sz="1100" spc="-50" dirty="0">
                          <a:effectLst/>
                        </a:rPr>
                        <a:t>+</a:t>
                      </a:r>
                      <a:r>
                        <a:rPr lang="en-US" sz="1100" dirty="0">
                          <a:effectLst/>
                        </a:rPr>
                        <a:t>	</a:t>
                      </a:r>
                      <a:r>
                        <a:rPr lang="en-US" sz="1100" dirty="0" err="1">
                          <a:effectLst/>
                        </a:rPr>
                        <a:t>setDollars</a:t>
                      </a:r>
                      <a:r>
                        <a:rPr lang="en-US" sz="1100" dirty="0">
                          <a:effectLst/>
                        </a:rPr>
                        <a:t>(dollar</a:t>
                      </a:r>
                      <a:r>
                        <a:rPr lang="en-US" sz="1100" spc="-20" dirty="0">
                          <a:effectLst/>
                        </a:rPr>
                        <a:t> </a:t>
                      </a:r>
                      <a:r>
                        <a:rPr lang="en-US" sz="1100" dirty="0">
                          <a:effectLst/>
                        </a:rPr>
                        <a:t>:</a:t>
                      </a:r>
                      <a:r>
                        <a:rPr lang="en-US" sz="1100" spc="-10" dirty="0">
                          <a:effectLst/>
                        </a:rPr>
                        <a:t> </a:t>
                      </a:r>
                      <a:r>
                        <a:rPr lang="en-US" sz="1100" dirty="0">
                          <a:effectLst/>
                        </a:rPr>
                        <a:t>int)</a:t>
                      </a:r>
                      <a:r>
                        <a:rPr lang="en-US" sz="1100" spc="-15" dirty="0">
                          <a:effectLst/>
                        </a:rPr>
                        <a:t> </a:t>
                      </a:r>
                      <a:r>
                        <a:rPr lang="en-US" sz="1100" dirty="0">
                          <a:effectLst/>
                        </a:rPr>
                        <a:t>:</a:t>
                      </a:r>
                      <a:r>
                        <a:rPr lang="en-US" sz="1100" spc="-10" dirty="0">
                          <a:effectLst/>
                        </a:rPr>
                        <a:t> </a:t>
                      </a:r>
                      <a:r>
                        <a:rPr lang="en-US" sz="1100" spc="-20" dirty="0">
                          <a:effectLst/>
                        </a:rPr>
                        <a:t>void</a:t>
                      </a:r>
                      <a:endParaRPr lang="en-US" sz="1200" dirty="0">
                        <a:effectLst/>
                      </a:endParaRPr>
                    </a:p>
                    <a:p>
                      <a:pPr marL="292100" marR="0" eaLnBrk="0" hangingPunct="0">
                        <a:lnSpc>
                          <a:spcPts val="1260"/>
                        </a:lnSpc>
                        <a:spcBef>
                          <a:spcPts val="0"/>
                        </a:spcBef>
                        <a:spcAft>
                          <a:spcPts val="0"/>
                        </a:spcAft>
                        <a:tabLst>
                          <a:tab pos="520700" algn="l"/>
                        </a:tabLst>
                      </a:pPr>
                      <a:r>
                        <a:rPr lang="en-US" sz="1100" spc="-50" dirty="0">
                          <a:effectLst/>
                        </a:rPr>
                        <a:t>+</a:t>
                      </a:r>
                      <a:r>
                        <a:rPr lang="en-US" sz="1100" dirty="0">
                          <a:effectLst/>
                        </a:rPr>
                        <a:t>	</a:t>
                      </a:r>
                      <a:r>
                        <a:rPr lang="en-US" sz="1100" dirty="0" err="1">
                          <a:effectLst/>
                        </a:rPr>
                        <a:t>getCents</a:t>
                      </a:r>
                      <a:r>
                        <a:rPr lang="en-US" sz="1100" dirty="0">
                          <a:effectLst/>
                        </a:rPr>
                        <a:t>()</a:t>
                      </a:r>
                      <a:r>
                        <a:rPr lang="en-US" sz="1100" spc="-15" dirty="0">
                          <a:effectLst/>
                        </a:rPr>
                        <a:t> </a:t>
                      </a:r>
                      <a:r>
                        <a:rPr lang="en-US" sz="1100" dirty="0">
                          <a:effectLst/>
                        </a:rPr>
                        <a:t>:</a:t>
                      </a:r>
                      <a:r>
                        <a:rPr lang="en-US" sz="1100" spc="-15" dirty="0">
                          <a:effectLst/>
                        </a:rPr>
                        <a:t> </a:t>
                      </a:r>
                      <a:r>
                        <a:rPr lang="en-US" sz="1100" spc="-25" dirty="0">
                          <a:effectLst/>
                        </a:rPr>
                        <a:t>int</a:t>
                      </a:r>
                      <a:endParaRPr lang="en-US" sz="1200" dirty="0">
                        <a:effectLst/>
                      </a:endParaRPr>
                    </a:p>
                    <a:p>
                      <a:pPr marL="292100" marR="0" eaLnBrk="0" hangingPunct="0">
                        <a:lnSpc>
                          <a:spcPts val="1260"/>
                        </a:lnSpc>
                        <a:spcBef>
                          <a:spcPts val="0"/>
                        </a:spcBef>
                        <a:spcAft>
                          <a:spcPts val="0"/>
                        </a:spcAft>
                        <a:tabLst>
                          <a:tab pos="520700" algn="l"/>
                        </a:tabLst>
                      </a:pPr>
                      <a:r>
                        <a:rPr lang="en-US" sz="1100" spc="-50" dirty="0">
                          <a:effectLst/>
                        </a:rPr>
                        <a:t>+</a:t>
                      </a:r>
                      <a:r>
                        <a:rPr lang="en-US" sz="1100" dirty="0">
                          <a:effectLst/>
                        </a:rPr>
                        <a:t>	</a:t>
                      </a:r>
                      <a:r>
                        <a:rPr lang="en-US" sz="1100" dirty="0" err="1">
                          <a:effectLst/>
                        </a:rPr>
                        <a:t>SetCents</a:t>
                      </a:r>
                      <a:r>
                        <a:rPr lang="en-US" sz="1100" dirty="0">
                          <a:effectLst/>
                        </a:rPr>
                        <a:t>(cent</a:t>
                      </a:r>
                      <a:r>
                        <a:rPr lang="en-US" sz="1100" spc="-20" dirty="0">
                          <a:effectLst/>
                        </a:rPr>
                        <a:t> </a:t>
                      </a:r>
                      <a:r>
                        <a:rPr lang="en-US" sz="1100" dirty="0">
                          <a:effectLst/>
                        </a:rPr>
                        <a:t>:</a:t>
                      </a:r>
                      <a:r>
                        <a:rPr lang="en-US" sz="1100" spc="-5" dirty="0">
                          <a:effectLst/>
                        </a:rPr>
                        <a:t> </a:t>
                      </a:r>
                      <a:r>
                        <a:rPr lang="en-US" sz="1100" dirty="0">
                          <a:effectLst/>
                        </a:rPr>
                        <a:t>int)</a:t>
                      </a:r>
                      <a:r>
                        <a:rPr lang="en-US" sz="1100" spc="-5" dirty="0">
                          <a:effectLst/>
                        </a:rPr>
                        <a:t> </a:t>
                      </a:r>
                      <a:r>
                        <a:rPr lang="en-US" sz="1100" dirty="0">
                          <a:effectLst/>
                        </a:rPr>
                        <a:t>: </a:t>
                      </a:r>
                      <a:r>
                        <a:rPr lang="en-US" sz="1100" spc="-20" dirty="0">
                          <a:effectLst/>
                        </a:rPr>
                        <a:t>void</a:t>
                      </a:r>
                      <a:endParaRPr lang="en-US" sz="1200" dirty="0">
                        <a:effectLst/>
                      </a:endParaRPr>
                    </a:p>
                    <a:p>
                      <a:pPr marL="292100" marR="0" eaLnBrk="0" hangingPunct="0">
                        <a:lnSpc>
                          <a:spcPts val="1260"/>
                        </a:lnSpc>
                        <a:spcBef>
                          <a:spcPts val="5"/>
                        </a:spcBef>
                        <a:spcAft>
                          <a:spcPts val="0"/>
                        </a:spcAft>
                        <a:tabLst>
                          <a:tab pos="520700" algn="l"/>
                        </a:tabLst>
                      </a:pPr>
                      <a:r>
                        <a:rPr lang="en-US" sz="1100" spc="-50" dirty="0">
                          <a:effectLst/>
                        </a:rPr>
                        <a:t>+</a:t>
                      </a:r>
                      <a:r>
                        <a:rPr lang="en-US" sz="1100" dirty="0">
                          <a:effectLst/>
                        </a:rPr>
                        <a:t>	add(m</a:t>
                      </a:r>
                      <a:r>
                        <a:rPr lang="en-US" sz="1100" spc="-25" dirty="0">
                          <a:effectLst/>
                        </a:rPr>
                        <a:t> </a:t>
                      </a:r>
                      <a:r>
                        <a:rPr lang="en-US" sz="1100" dirty="0">
                          <a:effectLst/>
                        </a:rPr>
                        <a:t>:</a:t>
                      </a:r>
                      <a:r>
                        <a:rPr lang="en-US" sz="1100" spc="-5" dirty="0">
                          <a:effectLst/>
                        </a:rPr>
                        <a:t> </a:t>
                      </a:r>
                      <a:r>
                        <a:rPr lang="en-US" sz="1100" dirty="0">
                          <a:effectLst/>
                        </a:rPr>
                        <a:t>Money)</a:t>
                      </a:r>
                      <a:r>
                        <a:rPr lang="en-US" sz="1100" spc="-10" dirty="0">
                          <a:effectLst/>
                        </a:rPr>
                        <a:t> </a:t>
                      </a:r>
                      <a:r>
                        <a:rPr lang="en-US" sz="1100" dirty="0">
                          <a:effectLst/>
                        </a:rPr>
                        <a:t>:</a:t>
                      </a:r>
                      <a:r>
                        <a:rPr lang="en-US" sz="1100" spc="-10" dirty="0">
                          <a:effectLst/>
                        </a:rPr>
                        <a:t> Money</a:t>
                      </a:r>
                      <a:endParaRPr lang="en-US" sz="1200" dirty="0">
                        <a:effectLst/>
                      </a:endParaRPr>
                    </a:p>
                    <a:p>
                      <a:pPr marL="292100" marR="0" eaLnBrk="0" hangingPunct="0">
                        <a:lnSpc>
                          <a:spcPts val="1260"/>
                        </a:lnSpc>
                        <a:spcBef>
                          <a:spcPts val="0"/>
                        </a:spcBef>
                        <a:spcAft>
                          <a:spcPts val="0"/>
                        </a:spcAft>
                        <a:tabLst>
                          <a:tab pos="520700" algn="l"/>
                        </a:tabLst>
                      </a:pPr>
                      <a:r>
                        <a:rPr lang="en-US" sz="1100" spc="-50" dirty="0">
                          <a:effectLst/>
                        </a:rPr>
                        <a:t>+</a:t>
                      </a:r>
                      <a:r>
                        <a:rPr lang="en-US" sz="1100" dirty="0">
                          <a:effectLst/>
                        </a:rPr>
                        <a:t>	subtract(m</a:t>
                      </a:r>
                      <a:r>
                        <a:rPr lang="en-US" sz="1100" spc="-15" dirty="0">
                          <a:effectLst/>
                        </a:rPr>
                        <a:t> </a:t>
                      </a:r>
                      <a:r>
                        <a:rPr lang="en-US" sz="1100" dirty="0">
                          <a:effectLst/>
                        </a:rPr>
                        <a:t>:</a:t>
                      </a:r>
                      <a:r>
                        <a:rPr lang="en-US" sz="1100" spc="-10" dirty="0">
                          <a:effectLst/>
                        </a:rPr>
                        <a:t> </a:t>
                      </a:r>
                      <a:r>
                        <a:rPr lang="en-US" sz="1100" dirty="0">
                          <a:effectLst/>
                        </a:rPr>
                        <a:t>Money)</a:t>
                      </a:r>
                      <a:r>
                        <a:rPr lang="en-US" sz="1100" spc="-15" dirty="0">
                          <a:effectLst/>
                        </a:rPr>
                        <a:t> </a:t>
                      </a:r>
                      <a:r>
                        <a:rPr lang="en-US" sz="1100" dirty="0">
                          <a:effectLst/>
                        </a:rPr>
                        <a:t>:</a:t>
                      </a:r>
                      <a:r>
                        <a:rPr lang="en-US" sz="1100" spc="-20" dirty="0">
                          <a:effectLst/>
                        </a:rPr>
                        <a:t> Money        // return null if m is greater than this object</a:t>
                      </a:r>
                      <a:endParaRPr lang="en-US" sz="1200" dirty="0">
                        <a:effectLst/>
                      </a:endParaRPr>
                    </a:p>
                    <a:p>
                      <a:pPr marL="292100" marR="0" eaLnBrk="0" hangingPunct="0">
                        <a:lnSpc>
                          <a:spcPts val="1260"/>
                        </a:lnSpc>
                        <a:spcBef>
                          <a:spcPts val="0"/>
                        </a:spcBef>
                        <a:spcAft>
                          <a:spcPts val="0"/>
                        </a:spcAft>
                        <a:tabLst>
                          <a:tab pos="520700" algn="l"/>
                        </a:tabLst>
                      </a:pPr>
                      <a:r>
                        <a:rPr lang="en-US" sz="1100" spc="-20" dirty="0">
                          <a:effectLst/>
                        </a:rPr>
                        <a:t>+    equals(m : Money) : Boolean</a:t>
                      </a:r>
                      <a:endParaRPr lang="en-US" sz="1200" dirty="0">
                        <a:effectLst/>
                      </a:endParaRPr>
                    </a:p>
                    <a:p>
                      <a:pPr marL="292100" marR="0" eaLnBrk="0" hangingPunct="0">
                        <a:lnSpc>
                          <a:spcPts val="1260"/>
                        </a:lnSpc>
                        <a:spcBef>
                          <a:spcPts val="0"/>
                        </a:spcBef>
                        <a:spcAft>
                          <a:spcPts val="0"/>
                        </a:spcAft>
                        <a:tabLst>
                          <a:tab pos="520700" algn="l"/>
                        </a:tabLst>
                      </a:pPr>
                      <a:r>
                        <a:rPr lang="en-US" sz="1100" spc="-20" dirty="0">
                          <a:effectLst/>
                        </a:rPr>
                        <a:t>+    </a:t>
                      </a:r>
                      <a:r>
                        <a:rPr lang="en-US" sz="1100" spc="-20" dirty="0" err="1">
                          <a:effectLst/>
                        </a:rPr>
                        <a:t>compareTo</a:t>
                      </a:r>
                      <a:r>
                        <a:rPr lang="en-US" sz="1100" spc="-20" dirty="0">
                          <a:effectLst/>
                        </a:rPr>
                        <a:t>(m : Money) : int</a:t>
                      </a:r>
                      <a:endParaRPr lang="en-US" sz="1200" dirty="0">
                        <a:effectLst/>
                      </a:endParaRPr>
                    </a:p>
                    <a:p>
                      <a:pPr marL="292100" marR="0" eaLnBrk="0" hangingPunct="0">
                        <a:lnSpc>
                          <a:spcPts val="1260"/>
                        </a:lnSpc>
                        <a:spcBef>
                          <a:spcPts val="0"/>
                        </a:spcBef>
                        <a:spcAft>
                          <a:spcPts val="0"/>
                        </a:spcAft>
                        <a:tabLst>
                          <a:tab pos="520700" algn="l"/>
                        </a:tabLst>
                      </a:pPr>
                      <a:r>
                        <a:rPr lang="en-US" sz="1100" spc="-20" dirty="0">
                          <a:effectLst/>
                        </a:rPr>
                        <a:t>+    </a:t>
                      </a:r>
                      <a:r>
                        <a:rPr lang="en-US" sz="1100" u="sng" spc="-20" dirty="0" err="1">
                          <a:effectLst/>
                        </a:rPr>
                        <a:t>printList</a:t>
                      </a:r>
                      <a:r>
                        <a:rPr lang="en-US" sz="1100" u="sng" spc="-20" dirty="0">
                          <a:effectLst/>
                        </a:rPr>
                        <a:t>(list : Money[] , n : int) : void</a:t>
                      </a:r>
                      <a:r>
                        <a:rPr lang="en-US" sz="1100" spc="-20" dirty="0">
                          <a:effectLst/>
                        </a:rPr>
                        <a:t>      // print n values per line separated by 1 blank space</a:t>
                      </a:r>
                      <a:endParaRPr lang="en-US" sz="1200" dirty="0">
                        <a:effectLst/>
                      </a:endParaRPr>
                    </a:p>
                    <a:p>
                      <a:pPr marL="292100" marR="0" eaLnBrk="0" hangingPunct="0">
                        <a:lnSpc>
                          <a:spcPts val="1260"/>
                        </a:lnSpc>
                        <a:spcBef>
                          <a:spcPts val="0"/>
                        </a:spcBef>
                        <a:spcAft>
                          <a:spcPts val="0"/>
                        </a:spcAft>
                        <a:tabLst>
                          <a:tab pos="520700" algn="l"/>
                        </a:tabLst>
                      </a:pPr>
                      <a:r>
                        <a:rPr lang="en-US" sz="1100" spc="-20" dirty="0">
                          <a:effectLst/>
                        </a:rPr>
                        <a:t>+    </a:t>
                      </a:r>
                      <a:r>
                        <a:rPr lang="en-US" sz="1100" u="sng" spc="-20" dirty="0" err="1">
                          <a:effectLst/>
                        </a:rPr>
                        <a:t>selectionSort</a:t>
                      </a:r>
                      <a:r>
                        <a:rPr lang="en-US" sz="1100" u="sng" spc="-20" dirty="0">
                          <a:effectLst/>
                        </a:rPr>
                        <a:t>(list : Money[]) : void</a:t>
                      </a:r>
                      <a:r>
                        <a:rPr lang="en-US" sz="1100" spc="-20" dirty="0">
                          <a:effectLst/>
                        </a:rPr>
                        <a:t>      // sort Money array using selection sort</a:t>
                      </a:r>
                      <a:endParaRPr lang="en-US" sz="1200" dirty="0">
                        <a:effectLst/>
                      </a:endParaRPr>
                    </a:p>
                    <a:p>
                      <a:pPr marL="292100" marR="0" eaLnBrk="0" hangingPunct="0">
                        <a:lnSpc>
                          <a:spcPts val="1260"/>
                        </a:lnSpc>
                        <a:spcBef>
                          <a:spcPts val="0"/>
                        </a:spcBef>
                        <a:spcAft>
                          <a:spcPts val="0"/>
                        </a:spcAft>
                        <a:tabLst>
                          <a:tab pos="520700" algn="l"/>
                        </a:tabLst>
                      </a:pPr>
                      <a:r>
                        <a:rPr lang="en-US" sz="1100" spc="-20" dirty="0">
                          <a:effectLst/>
                        </a:rPr>
                        <a:t>+    </a:t>
                      </a:r>
                      <a:r>
                        <a:rPr lang="en-US" sz="1100" u="sng" spc="-20" dirty="0">
                          <a:effectLst/>
                        </a:rPr>
                        <a:t>max(list : Money[] ) : Money </a:t>
                      </a:r>
                      <a:r>
                        <a:rPr lang="en-US" sz="1100" spc="-20" dirty="0">
                          <a:effectLst/>
                        </a:rPr>
                        <a:t>             // return the largest Money object</a:t>
                      </a:r>
                      <a:br>
                        <a:rPr lang="en-US" sz="1100" spc="-20" dirty="0">
                          <a:effectLst/>
                        </a:rPr>
                      </a:br>
                      <a:r>
                        <a:rPr lang="en-US" sz="1100" spc="-50" dirty="0">
                          <a:effectLst/>
                        </a:rPr>
                        <a:t>+</a:t>
                      </a:r>
                      <a:r>
                        <a:rPr lang="en-US" sz="1100" dirty="0">
                          <a:effectLst/>
                        </a:rPr>
                        <a:t>	</a:t>
                      </a:r>
                      <a:r>
                        <a:rPr lang="en-US" sz="1100" dirty="0" err="1">
                          <a:effectLst/>
                        </a:rPr>
                        <a:t>toString</a:t>
                      </a:r>
                      <a:r>
                        <a:rPr lang="en-US" sz="1100" dirty="0">
                          <a:effectLst/>
                        </a:rPr>
                        <a:t>()</a:t>
                      </a:r>
                      <a:r>
                        <a:rPr lang="en-US" sz="1100" spc="-10" dirty="0">
                          <a:effectLst/>
                        </a:rPr>
                        <a:t> </a:t>
                      </a:r>
                      <a:r>
                        <a:rPr lang="en-US" sz="1100" dirty="0">
                          <a:effectLst/>
                        </a:rPr>
                        <a:t>:</a:t>
                      </a:r>
                      <a:r>
                        <a:rPr lang="en-US" sz="1100" spc="-15" dirty="0">
                          <a:effectLst/>
                        </a:rPr>
                        <a:t> </a:t>
                      </a:r>
                      <a:r>
                        <a:rPr lang="en-US" sz="1100" spc="-10" dirty="0">
                          <a:effectLst/>
                        </a:rPr>
                        <a:t>String                            //  format is: $#.##</a:t>
                      </a:r>
                      <a:endParaRPr lang="en-US"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2027322"/>
                  </a:ext>
                </a:extLst>
              </a:tr>
            </a:tbl>
          </a:graphicData>
        </a:graphic>
      </p:graphicFrame>
    </p:spTree>
    <p:extLst>
      <p:ext uri="{BB962C8B-B14F-4D97-AF65-F5344CB8AC3E}">
        <p14:creationId xmlns:p14="http://schemas.microsoft.com/office/powerpoint/2010/main" val="3996674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Motivations</a:t>
            </a:r>
          </a:p>
        </p:txBody>
      </p:sp>
      <p:sp>
        <p:nvSpPr>
          <p:cNvPr id="3" name="Content Placeholder 2"/>
          <p:cNvSpPr>
            <a:spLocks noGrp="1"/>
          </p:cNvSpPr>
          <p:nvPr>
            <p:ph sz="quarter" idx="13"/>
          </p:nvPr>
        </p:nvSpPr>
        <p:spPr/>
        <p:txBody>
          <a:bodyPr/>
          <a:lstStyle/>
          <a:p>
            <a:pPr marL="432" indent="0">
              <a:buNone/>
            </a:pPr>
            <a:r>
              <a:rPr lang="en-IN" dirty="0"/>
              <a:t>You see the advantages of object-oriented programming from the preceding chapter. This chapter will demonstrate how to solve problems using the object-oriented paradigm.</a:t>
            </a:r>
          </a:p>
        </p:txBody>
      </p:sp>
    </p:spTree>
    <p:extLst>
      <p:ext uri="{BB962C8B-B14F-4D97-AF65-F5344CB8AC3E}">
        <p14:creationId xmlns:p14="http://schemas.microsoft.com/office/powerpoint/2010/main" val="3452098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C1D42-CFE6-4299-B80E-5DD363A3EF3C}"/>
              </a:ext>
            </a:extLst>
          </p:cNvPr>
          <p:cNvSpPr>
            <a:spLocks noGrp="1"/>
          </p:cNvSpPr>
          <p:nvPr>
            <p:ph type="title"/>
          </p:nvPr>
        </p:nvSpPr>
        <p:spPr/>
        <p:txBody>
          <a:bodyPr/>
          <a:lstStyle/>
          <a:p>
            <a:r>
              <a:rPr lang="en-IN" sz="3200" dirty="0"/>
              <a:t>Class Abstraction and Encapsulation</a:t>
            </a:r>
          </a:p>
        </p:txBody>
      </p:sp>
      <p:sp>
        <p:nvSpPr>
          <p:cNvPr id="3" name="Content Placeholder 2">
            <a:extLst>
              <a:ext uri="{FF2B5EF4-FFF2-40B4-BE49-F238E27FC236}">
                <a16:creationId xmlns:a16="http://schemas.microsoft.com/office/drawing/2014/main" id="{93E5468D-BCB4-44EE-8E8E-B1BD793F9C22}"/>
              </a:ext>
            </a:extLst>
          </p:cNvPr>
          <p:cNvSpPr>
            <a:spLocks noGrp="1"/>
          </p:cNvSpPr>
          <p:nvPr>
            <p:ph sz="quarter" idx="13"/>
          </p:nvPr>
        </p:nvSpPr>
        <p:spPr>
          <a:xfrm>
            <a:off x="457200" y="1556326"/>
            <a:ext cx="8229600" cy="2369287"/>
          </a:xfrm>
        </p:spPr>
        <p:txBody>
          <a:bodyPr/>
          <a:lstStyle/>
          <a:p>
            <a:pPr marL="432" indent="0">
              <a:buNone/>
            </a:pPr>
            <a:r>
              <a:rPr lang="en-IN" dirty="0"/>
              <a:t>Class abstraction means to separate class implementation from the use of the class. The creator of the class provides a description of the class and let the user know how the class can be used. The user of the class does not need to know how the class is implemented. The detail of implementation is encapsulated and hidden from the user.</a:t>
            </a:r>
          </a:p>
        </p:txBody>
      </p:sp>
      <p:pic>
        <p:nvPicPr>
          <p:cNvPr id="5" name="Content Placeholder 4" descr="A box for class is shaded and labeled, class implementation is like a black box hidden from the clients. For long description in Notes pane, press F6.">
            <a:extLst>
              <a:ext uri="{FF2B5EF4-FFF2-40B4-BE49-F238E27FC236}">
                <a16:creationId xmlns:a16="http://schemas.microsoft.com/office/drawing/2014/main" id="{B68D6FC8-EC43-4C9B-9CC0-B605D56F2CB8}"/>
              </a:ext>
            </a:extLst>
          </p:cNvPr>
          <p:cNvPicPr>
            <a:picLocks noGrp="1" noChangeAspect="1"/>
          </p:cNvPicPr>
          <p:nvPr>
            <p:ph sz="quarter" idx="14"/>
          </p:nvPr>
        </p:nvPicPr>
        <p:blipFill>
          <a:blip r:embed="rId3"/>
          <a:stretch>
            <a:fillRect/>
          </a:stretch>
        </p:blipFill>
        <p:spPr>
          <a:xfrm>
            <a:off x="457200" y="4363568"/>
            <a:ext cx="8229600" cy="1416988"/>
          </a:xfrm>
          <a:prstGeom prst="rect">
            <a:avLst/>
          </a:prstGeom>
        </p:spPr>
      </p:pic>
    </p:spTree>
    <p:extLst>
      <p:ext uri="{BB962C8B-B14F-4D97-AF65-F5344CB8AC3E}">
        <p14:creationId xmlns:p14="http://schemas.microsoft.com/office/powerpoint/2010/main" val="1880356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895F6-1AC4-48DF-8C54-8A42A1C82582}"/>
              </a:ext>
            </a:extLst>
          </p:cNvPr>
          <p:cNvSpPr>
            <a:spLocks noGrp="1"/>
          </p:cNvSpPr>
          <p:nvPr>
            <p:ph type="title"/>
          </p:nvPr>
        </p:nvSpPr>
        <p:spPr/>
        <p:txBody>
          <a:bodyPr/>
          <a:lstStyle/>
          <a:p>
            <a:r>
              <a:rPr lang="en-IN" dirty="0"/>
              <a:t>Object-Oriented Thinking</a:t>
            </a:r>
          </a:p>
        </p:txBody>
      </p:sp>
      <p:sp>
        <p:nvSpPr>
          <p:cNvPr id="3" name="Content Placeholder 2">
            <a:extLst>
              <a:ext uri="{FF2B5EF4-FFF2-40B4-BE49-F238E27FC236}">
                <a16:creationId xmlns:a16="http://schemas.microsoft.com/office/drawing/2014/main" id="{6899FC1F-D0C2-44D8-BCA9-94201B3F0291}"/>
              </a:ext>
            </a:extLst>
          </p:cNvPr>
          <p:cNvSpPr>
            <a:spLocks noGrp="1"/>
          </p:cNvSpPr>
          <p:nvPr>
            <p:ph sz="quarter" idx="13"/>
          </p:nvPr>
        </p:nvSpPr>
        <p:spPr>
          <a:xfrm>
            <a:off x="457200" y="1554920"/>
            <a:ext cx="8339959" cy="4663335"/>
          </a:xfrm>
        </p:spPr>
        <p:txBody>
          <a:bodyPr/>
          <a:lstStyle/>
          <a:p>
            <a:pPr marL="432" indent="0">
              <a:buNone/>
            </a:pPr>
            <a:r>
              <a:rPr lang="en-IN" dirty="0"/>
              <a:t>Chapters 1-8 introduced fundamental programming techniques for problem solving using loops, methods, and arrays. The studies of these techniques lay a solid foundation for object-oriented programming. Classes provide more flexibility and modularity for building reusable software. This section improves the solution for a problem introduced in Chapter 3 using the object-oriented approach. From the improvements, you will gain the insight on the differences between the procedural programming and object-oriented programming and see the benefits of developing reusable code using objects and classes.</a:t>
            </a:r>
          </a:p>
        </p:txBody>
      </p:sp>
    </p:spTree>
    <p:extLst>
      <p:ext uri="{BB962C8B-B14F-4D97-AF65-F5344CB8AC3E}">
        <p14:creationId xmlns:p14="http://schemas.microsoft.com/office/powerpoint/2010/main" val="4062642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D9D5E-F358-4E33-8095-AAC267C26478}"/>
              </a:ext>
            </a:extLst>
          </p:cNvPr>
          <p:cNvSpPr>
            <a:spLocks noGrp="1"/>
          </p:cNvSpPr>
          <p:nvPr>
            <p:ph type="title"/>
          </p:nvPr>
        </p:nvSpPr>
        <p:spPr/>
        <p:txBody>
          <a:bodyPr/>
          <a:lstStyle/>
          <a:p>
            <a:pPr algn="ctr"/>
            <a:r>
              <a:rPr lang="en-US" dirty="0">
                <a:hlinkClick r:id="rId2" action="ppaction://hlinkfile"/>
              </a:rPr>
              <a:t>Course UML</a:t>
            </a:r>
            <a:endParaRPr lang="en-US" dirty="0"/>
          </a:p>
        </p:txBody>
      </p:sp>
      <p:pic>
        <p:nvPicPr>
          <p:cNvPr id="15" name="Content Placeholder 14">
            <a:extLst>
              <a:ext uri="{FF2B5EF4-FFF2-40B4-BE49-F238E27FC236}">
                <a16:creationId xmlns:a16="http://schemas.microsoft.com/office/drawing/2014/main" id="{C4771CF9-299D-49FE-B9AF-245560BF3669}"/>
              </a:ext>
            </a:extLst>
          </p:cNvPr>
          <p:cNvPicPr>
            <a:picLocks noGrp="1" noChangeAspect="1"/>
          </p:cNvPicPr>
          <p:nvPr>
            <p:ph sz="quarter" idx="13"/>
          </p:nvPr>
        </p:nvPicPr>
        <p:blipFill>
          <a:blip r:embed="rId3"/>
          <a:stretch>
            <a:fillRect/>
          </a:stretch>
        </p:blipFill>
        <p:spPr>
          <a:xfrm>
            <a:off x="1960754" y="1554163"/>
            <a:ext cx="5225667" cy="4664075"/>
          </a:xfrm>
        </p:spPr>
      </p:pic>
    </p:spTree>
    <p:extLst>
      <p:ext uri="{BB962C8B-B14F-4D97-AF65-F5344CB8AC3E}">
        <p14:creationId xmlns:p14="http://schemas.microsoft.com/office/powerpoint/2010/main" val="3694686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161DE-3EB8-4C3F-ABD8-AA43676A3FB8}"/>
              </a:ext>
            </a:extLst>
          </p:cNvPr>
          <p:cNvSpPr>
            <a:spLocks noGrp="1"/>
          </p:cNvSpPr>
          <p:nvPr>
            <p:ph type="title"/>
          </p:nvPr>
        </p:nvSpPr>
        <p:spPr/>
        <p:txBody>
          <a:bodyPr/>
          <a:lstStyle/>
          <a:p>
            <a:r>
              <a:rPr lang="en-IN" sz="3200" dirty="0"/>
              <a:t>Example: The </a:t>
            </a:r>
            <a:r>
              <a:rPr lang="en-IN" sz="3200" dirty="0">
                <a:latin typeface="Courier New" panose="02070309020205020404" pitchFamily="49" charset="0"/>
                <a:cs typeface="Courier New" panose="02070309020205020404" pitchFamily="49" charset="0"/>
              </a:rPr>
              <a:t>StackOfIntegers</a:t>
            </a:r>
            <a:r>
              <a:rPr lang="en-IN" sz="3200" dirty="0"/>
              <a:t> Class</a:t>
            </a:r>
          </a:p>
        </p:txBody>
      </p:sp>
      <p:pic>
        <p:nvPicPr>
          <p:cNvPr id="5" name="Content Placeholder 4" descr="Nine rows of codes and description for StackOfIntegers as follows. For long description in Notes pane, press F6.">
            <a:extLst>
              <a:ext uri="{FF2B5EF4-FFF2-40B4-BE49-F238E27FC236}">
                <a16:creationId xmlns:a16="http://schemas.microsoft.com/office/drawing/2014/main" id="{938CE6DB-8877-4C5A-A5AF-297A3ADA466C}"/>
              </a:ext>
            </a:extLst>
          </p:cNvPr>
          <p:cNvPicPr>
            <a:picLocks noGrp="1" noChangeAspect="1"/>
          </p:cNvPicPr>
          <p:nvPr>
            <p:ph sz="quarter" idx="13"/>
          </p:nvPr>
        </p:nvPicPr>
        <p:blipFill>
          <a:blip r:embed="rId3"/>
          <a:stretch>
            <a:fillRect/>
          </a:stretch>
        </p:blipFill>
        <p:spPr>
          <a:xfrm>
            <a:off x="533278" y="1582420"/>
            <a:ext cx="8077445" cy="3693159"/>
          </a:xfrm>
          <a:prstGeom prst="rect">
            <a:avLst/>
          </a:prstGeom>
        </p:spPr>
      </p:pic>
      <p:sp>
        <p:nvSpPr>
          <p:cNvPr id="10" name="Text Placeholder 9">
            <a:extLst>
              <a:ext uri="{FF2B5EF4-FFF2-40B4-BE49-F238E27FC236}">
                <a16:creationId xmlns:a16="http://schemas.microsoft.com/office/drawing/2014/main" id="{8F484094-5968-4203-A229-BD6B057CAC71}"/>
              </a:ext>
            </a:extLst>
          </p:cNvPr>
          <p:cNvSpPr>
            <a:spLocks noGrp="1"/>
          </p:cNvSpPr>
          <p:nvPr>
            <p:ph type="body" sz="quarter" idx="20"/>
          </p:nvPr>
        </p:nvSpPr>
        <p:spPr>
          <a:xfrm>
            <a:off x="5612523" y="5651596"/>
            <a:ext cx="3067019" cy="543435"/>
          </a:xfrm>
        </p:spPr>
        <p:txBody>
          <a:bodyPr/>
          <a:lstStyle/>
          <a:p>
            <a:pPr marL="432" indent="0" algn="ctr">
              <a:buNone/>
            </a:pPr>
            <a:r>
              <a:rPr lang="en-IN" dirty="0">
                <a:hlinkClick r:id="rId4" tooltip="https://liveexample.pearsoncmg.com/html/TestStackOfIntegers.html"/>
              </a:rPr>
              <a:t>TestStackOfIntegers</a:t>
            </a:r>
            <a:endParaRPr lang="en-IN" dirty="0">
              <a:hlinkClick r:id="rId4"/>
            </a:endParaRPr>
          </a:p>
        </p:txBody>
      </p:sp>
    </p:spTree>
    <p:extLst>
      <p:ext uri="{BB962C8B-B14F-4D97-AF65-F5344CB8AC3E}">
        <p14:creationId xmlns:p14="http://schemas.microsoft.com/office/powerpoint/2010/main" val="1819008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38D82-DBE9-4FF2-B033-DBB63C7A4042}"/>
              </a:ext>
            </a:extLst>
          </p:cNvPr>
          <p:cNvSpPr>
            <a:spLocks noGrp="1"/>
          </p:cNvSpPr>
          <p:nvPr>
            <p:ph type="title"/>
          </p:nvPr>
        </p:nvSpPr>
        <p:spPr/>
        <p:txBody>
          <a:bodyPr/>
          <a:lstStyle/>
          <a:p>
            <a:r>
              <a:rPr lang="en-IN" dirty="0"/>
              <a:t>Designing the StackOfIntegers Class</a:t>
            </a:r>
          </a:p>
        </p:txBody>
      </p:sp>
      <p:pic>
        <p:nvPicPr>
          <p:cNvPr id="4" name="Content Placeholder 3" descr="An illustraton shows a stake of integers in an array. Data 1 is stored first, data 2 Is stored above data 2, and data 3 is stored above data 2. While retrieving the data, data 3 is retrieved first, then data 2 is retrieved, and finally data 1 is retrived.">
            <a:extLst>
              <a:ext uri="{FF2B5EF4-FFF2-40B4-BE49-F238E27FC236}">
                <a16:creationId xmlns:a16="http://schemas.microsoft.com/office/drawing/2014/main" id="{4DB0D5A5-894A-440A-A0B9-1D28C3D08EFD}"/>
              </a:ext>
            </a:extLst>
          </p:cNvPr>
          <p:cNvPicPr>
            <a:picLocks noGrp="1" noChangeAspect="1"/>
          </p:cNvPicPr>
          <p:nvPr>
            <p:ph sz="quarter" idx="13"/>
          </p:nvPr>
        </p:nvPicPr>
        <p:blipFill>
          <a:blip r:embed="rId3"/>
          <a:stretch>
            <a:fillRect/>
          </a:stretch>
        </p:blipFill>
        <p:spPr>
          <a:xfrm>
            <a:off x="457200" y="1771642"/>
            <a:ext cx="8232775" cy="3314715"/>
          </a:xfrm>
          <a:prstGeom prst="rect">
            <a:avLst/>
          </a:prstGeom>
        </p:spPr>
      </p:pic>
    </p:spTree>
    <p:extLst>
      <p:ext uri="{BB962C8B-B14F-4D97-AF65-F5344CB8AC3E}">
        <p14:creationId xmlns:p14="http://schemas.microsoft.com/office/powerpoint/2010/main" val="382815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161DE-3EB8-4C3F-ABD8-AA43676A3FB8}"/>
              </a:ext>
            </a:extLst>
          </p:cNvPr>
          <p:cNvSpPr>
            <a:spLocks noGrp="1"/>
          </p:cNvSpPr>
          <p:nvPr>
            <p:ph type="title"/>
          </p:nvPr>
        </p:nvSpPr>
        <p:spPr/>
        <p:txBody>
          <a:bodyPr/>
          <a:lstStyle/>
          <a:p>
            <a:r>
              <a:rPr lang="en-IN" sz="3200" dirty="0"/>
              <a:t>Implementing </a:t>
            </a:r>
            <a:r>
              <a:rPr lang="en-IN" sz="3200" dirty="0">
                <a:latin typeface="Courier New" panose="02070309020205020404" pitchFamily="49" charset="0"/>
                <a:cs typeface="Courier New" panose="02070309020205020404" pitchFamily="49" charset="0"/>
              </a:rPr>
              <a:t>StackOfIntegers</a:t>
            </a:r>
            <a:r>
              <a:rPr lang="en-IN" sz="3200" dirty="0"/>
              <a:t> Class</a:t>
            </a:r>
          </a:p>
        </p:txBody>
      </p:sp>
      <p:pic>
        <p:nvPicPr>
          <p:cNvPr id="6" name="Content Placeholder 5" descr="An illustration shows a vertical column with six boxes labeled from top to bottom as elements array for capacity minus 1, vertical ellipsis elements array for size minus 1, vertical ellipsis, element array 1, element array 0. For long description in Notes pane, press F6.">
            <a:extLst>
              <a:ext uri="{FF2B5EF4-FFF2-40B4-BE49-F238E27FC236}">
                <a16:creationId xmlns:a16="http://schemas.microsoft.com/office/drawing/2014/main" id="{22FB8EDB-8412-4692-83E2-6CD02A6385BF}"/>
              </a:ext>
            </a:extLst>
          </p:cNvPr>
          <p:cNvPicPr>
            <a:picLocks noGrp="1" noChangeAspect="1"/>
          </p:cNvPicPr>
          <p:nvPr>
            <p:ph sz="quarter" idx="13"/>
          </p:nvPr>
        </p:nvPicPr>
        <p:blipFill>
          <a:blip r:embed="rId3"/>
          <a:stretch>
            <a:fillRect/>
          </a:stretch>
        </p:blipFill>
        <p:spPr>
          <a:xfrm>
            <a:off x="527772" y="1582420"/>
            <a:ext cx="8088455" cy="3693159"/>
          </a:xfrm>
          <a:prstGeom prst="rect">
            <a:avLst/>
          </a:prstGeom>
        </p:spPr>
      </p:pic>
      <p:sp>
        <p:nvSpPr>
          <p:cNvPr id="10" name="Text Placeholder 9">
            <a:extLst>
              <a:ext uri="{FF2B5EF4-FFF2-40B4-BE49-F238E27FC236}">
                <a16:creationId xmlns:a16="http://schemas.microsoft.com/office/drawing/2014/main" id="{8F484094-5968-4203-A229-BD6B057CAC71}"/>
              </a:ext>
            </a:extLst>
          </p:cNvPr>
          <p:cNvSpPr>
            <a:spLocks noGrp="1"/>
          </p:cNvSpPr>
          <p:nvPr>
            <p:ph type="body" sz="quarter" idx="20"/>
          </p:nvPr>
        </p:nvSpPr>
        <p:spPr>
          <a:xfrm>
            <a:off x="6195848" y="5651596"/>
            <a:ext cx="2414876" cy="543435"/>
          </a:xfrm>
        </p:spPr>
        <p:txBody>
          <a:bodyPr/>
          <a:lstStyle/>
          <a:p>
            <a:pPr marL="432" indent="0" algn="ctr">
              <a:buNone/>
            </a:pPr>
            <a:r>
              <a:rPr lang="en-IN" dirty="0">
                <a:hlinkClick r:id="rId4" tooltip="https://liveexample.pearsoncmg.com/html/StackOfIntegers.html"/>
              </a:rPr>
              <a:t>StackOfIntegers</a:t>
            </a:r>
            <a:endParaRPr lang="en-IN" dirty="0">
              <a:hlinkClick r:id="rId4"/>
            </a:endParaRPr>
          </a:p>
        </p:txBody>
      </p:sp>
    </p:spTree>
    <p:extLst>
      <p:ext uri="{BB962C8B-B14F-4D97-AF65-F5344CB8AC3E}">
        <p14:creationId xmlns:p14="http://schemas.microsoft.com/office/powerpoint/2010/main" val="306610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64797-420D-4B2B-B1A3-C0ADCB02F5D6}"/>
              </a:ext>
            </a:extLst>
          </p:cNvPr>
          <p:cNvSpPr>
            <a:spLocks noGrp="1"/>
          </p:cNvSpPr>
          <p:nvPr>
            <p:ph type="title"/>
          </p:nvPr>
        </p:nvSpPr>
        <p:spPr/>
        <p:txBody>
          <a:bodyPr/>
          <a:lstStyle/>
          <a:p>
            <a:r>
              <a:rPr lang="en-IN" dirty="0"/>
              <a:t>Wrapper Classes</a:t>
            </a:r>
          </a:p>
        </p:txBody>
      </p:sp>
      <p:sp>
        <p:nvSpPr>
          <p:cNvPr id="3" name="Content Placeholder 2">
            <a:extLst>
              <a:ext uri="{FF2B5EF4-FFF2-40B4-BE49-F238E27FC236}">
                <a16:creationId xmlns:a16="http://schemas.microsoft.com/office/drawing/2014/main" id="{58BAC428-D3E2-41E6-8784-8751D1C38A1E}"/>
              </a:ext>
            </a:extLst>
          </p:cNvPr>
          <p:cNvSpPr>
            <a:spLocks noGrp="1"/>
          </p:cNvSpPr>
          <p:nvPr>
            <p:ph sz="quarter" idx="13"/>
          </p:nvPr>
        </p:nvSpPr>
        <p:spPr/>
        <p:txBody>
          <a:bodyPr/>
          <a:lstStyle/>
          <a:p>
            <a:r>
              <a:rPr lang="en-IN" dirty="0"/>
              <a:t>Boolean</a:t>
            </a:r>
          </a:p>
          <a:p>
            <a:r>
              <a:rPr lang="en-IN" dirty="0"/>
              <a:t>Character</a:t>
            </a:r>
          </a:p>
          <a:p>
            <a:r>
              <a:rPr lang="en-IN" dirty="0"/>
              <a:t>Short</a:t>
            </a:r>
          </a:p>
          <a:p>
            <a:r>
              <a:rPr lang="en-IN" dirty="0"/>
              <a:t>Byte</a:t>
            </a:r>
          </a:p>
          <a:p>
            <a:r>
              <a:rPr lang="en-IN" dirty="0"/>
              <a:t>Integer</a:t>
            </a:r>
          </a:p>
          <a:p>
            <a:r>
              <a:rPr lang="en-IN" dirty="0"/>
              <a:t>Long</a:t>
            </a:r>
          </a:p>
          <a:p>
            <a:r>
              <a:rPr lang="en-IN" dirty="0"/>
              <a:t>Float</a:t>
            </a:r>
          </a:p>
          <a:p>
            <a:r>
              <a:rPr lang="en-IN" dirty="0"/>
              <a:t>Double</a:t>
            </a:r>
          </a:p>
        </p:txBody>
      </p:sp>
      <p:sp>
        <p:nvSpPr>
          <p:cNvPr id="4" name="Content Placeholder 3">
            <a:extLst>
              <a:ext uri="{FF2B5EF4-FFF2-40B4-BE49-F238E27FC236}">
                <a16:creationId xmlns:a16="http://schemas.microsoft.com/office/drawing/2014/main" id="{F299B70A-AE06-4411-B6FE-BB3A1B623A69}"/>
              </a:ext>
            </a:extLst>
          </p:cNvPr>
          <p:cNvSpPr>
            <a:spLocks noGrp="1"/>
          </p:cNvSpPr>
          <p:nvPr>
            <p:ph sz="quarter" idx="14"/>
          </p:nvPr>
        </p:nvSpPr>
        <p:spPr>
          <a:xfrm>
            <a:off x="4694832" y="2222773"/>
            <a:ext cx="3991970" cy="3098253"/>
          </a:xfrm>
        </p:spPr>
        <p:txBody>
          <a:bodyPr/>
          <a:lstStyle/>
          <a:p>
            <a:pPr marL="432" indent="0">
              <a:buNone/>
            </a:pPr>
            <a:r>
              <a:rPr lang="en-IN" b="1" dirty="0"/>
              <a:t>Note: </a:t>
            </a:r>
            <a:r>
              <a:rPr lang="en-IN" dirty="0"/>
              <a:t>(1) The wrapper classes do not have no-arg constructors. (2) The instances of all wrapper classes are immutable, i.e., their internal values cannot be changed once the objects are created.</a:t>
            </a:r>
          </a:p>
        </p:txBody>
      </p:sp>
    </p:spTree>
    <p:extLst>
      <p:ext uri="{BB962C8B-B14F-4D97-AF65-F5344CB8AC3E}">
        <p14:creationId xmlns:p14="http://schemas.microsoft.com/office/powerpoint/2010/main" val="3608809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58A17-9A27-43D8-874B-12FED14547AE}"/>
              </a:ext>
            </a:extLst>
          </p:cNvPr>
          <p:cNvSpPr>
            <a:spLocks noGrp="1"/>
          </p:cNvSpPr>
          <p:nvPr>
            <p:ph type="title"/>
          </p:nvPr>
        </p:nvSpPr>
        <p:spPr/>
        <p:txBody>
          <a:bodyPr/>
          <a:lstStyle/>
          <a:p>
            <a:r>
              <a:rPr lang="en-IN" dirty="0"/>
              <a:t>The </a:t>
            </a:r>
            <a:r>
              <a:rPr lang="en-IN" dirty="0">
                <a:latin typeface="Courier New" panose="02070309020205020404" pitchFamily="49" charset="0"/>
                <a:cs typeface="Courier New" panose="02070309020205020404" pitchFamily="49" charset="0"/>
              </a:rPr>
              <a:t>Integer</a:t>
            </a:r>
            <a:r>
              <a:rPr lang="en-IN" dirty="0"/>
              <a:t> and </a:t>
            </a:r>
            <a:r>
              <a:rPr lang="en-IN" dirty="0">
                <a:latin typeface="Courier New" panose="02070309020205020404" pitchFamily="49" charset="0"/>
                <a:cs typeface="Courier New" panose="02070309020205020404" pitchFamily="49" charset="0"/>
              </a:rPr>
              <a:t>Double</a:t>
            </a:r>
            <a:r>
              <a:rPr lang="en-IN" dirty="0"/>
              <a:t> Classes</a:t>
            </a:r>
          </a:p>
        </p:txBody>
      </p:sp>
      <p:pic>
        <p:nvPicPr>
          <p:cNvPr id="4" name="Content Placeholder 3" descr="The computer code shows The Integer and Double Classes. For long description in Notes pane, press F6.&#10;">
            <a:extLst>
              <a:ext uri="{FF2B5EF4-FFF2-40B4-BE49-F238E27FC236}">
                <a16:creationId xmlns:a16="http://schemas.microsoft.com/office/drawing/2014/main" id="{C8E70AFC-6C3B-48A4-B3BD-9A248E3FC2BD}"/>
              </a:ext>
            </a:extLst>
          </p:cNvPr>
          <p:cNvPicPr>
            <a:picLocks noGrp="1" noChangeAspect="1"/>
          </p:cNvPicPr>
          <p:nvPr>
            <p:ph sz="quarter" idx="13"/>
          </p:nvPr>
        </p:nvPicPr>
        <p:blipFill>
          <a:blip r:embed="rId3"/>
          <a:stretch>
            <a:fillRect/>
          </a:stretch>
        </p:blipFill>
        <p:spPr>
          <a:xfrm>
            <a:off x="457200" y="1647331"/>
            <a:ext cx="8232775" cy="4477739"/>
          </a:xfrm>
          <a:prstGeom prst="rect">
            <a:avLst/>
          </a:prstGeom>
        </p:spPr>
      </p:pic>
    </p:spTree>
    <p:extLst>
      <p:ext uri="{BB962C8B-B14F-4D97-AF65-F5344CB8AC3E}">
        <p14:creationId xmlns:p14="http://schemas.microsoft.com/office/powerpoint/2010/main" val="3649455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64F0-DD39-4B01-BDBD-08042A61AED6}"/>
              </a:ext>
            </a:extLst>
          </p:cNvPr>
          <p:cNvSpPr>
            <a:spLocks noGrp="1"/>
          </p:cNvSpPr>
          <p:nvPr>
            <p:ph type="title"/>
          </p:nvPr>
        </p:nvSpPr>
        <p:spPr/>
        <p:txBody>
          <a:bodyPr/>
          <a:lstStyle/>
          <a:p>
            <a:r>
              <a:rPr lang="en-IN" dirty="0"/>
              <a:t>The Static </a:t>
            </a:r>
            <a:r>
              <a:rPr lang="en-IN" u="sng" dirty="0"/>
              <a:t>valueOf</a:t>
            </a:r>
            <a:r>
              <a:rPr lang="en-IN" dirty="0"/>
              <a:t> Methods</a:t>
            </a:r>
          </a:p>
        </p:txBody>
      </p:sp>
      <p:sp>
        <p:nvSpPr>
          <p:cNvPr id="3" name="Content Placeholder 2">
            <a:extLst>
              <a:ext uri="{FF2B5EF4-FFF2-40B4-BE49-F238E27FC236}">
                <a16:creationId xmlns:a16="http://schemas.microsoft.com/office/drawing/2014/main" id="{3810BFA2-CCF4-4C2A-B3C7-FFF22B2E89DB}"/>
              </a:ext>
            </a:extLst>
          </p:cNvPr>
          <p:cNvSpPr>
            <a:spLocks noGrp="1"/>
          </p:cNvSpPr>
          <p:nvPr>
            <p:ph sz="quarter" idx="13"/>
          </p:nvPr>
        </p:nvSpPr>
        <p:spPr/>
        <p:txBody>
          <a:bodyPr/>
          <a:lstStyle/>
          <a:p>
            <a:pPr marL="432" indent="0">
              <a:buNone/>
            </a:pPr>
            <a:r>
              <a:rPr lang="en-IN" dirty="0"/>
              <a:t>The numeric wrapper classes have a useful class method, valueOf(String s). This method creates a new object initialized to the value represented by the specified string. For example:</a:t>
            </a:r>
          </a:p>
          <a:p>
            <a:pPr marL="255600" indent="0">
              <a:buNone/>
            </a:pPr>
            <a:r>
              <a:rPr lang="en-IN" dirty="0"/>
              <a:t>Double doubleObject = Double.valueOf("12.4");</a:t>
            </a:r>
          </a:p>
          <a:p>
            <a:pPr marL="255600" indent="0">
              <a:buNone/>
            </a:pPr>
            <a:r>
              <a:rPr lang="en-IN" dirty="0"/>
              <a:t>Integer integerObject = Integer.valueOf("12");</a:t>
            </a:r>
          </a:p>
        </p:txBody>
      </p:sp>
    </p:spTree>
    <p:extLst>
      <p:ext uri="{BB962C8B-B14F-4D97-AF65-F5344CB8AC3E}">
        <p14:creationId xmlns:p14="http://schemas.microsoft.com/office/powerpoint/2010/main" val="4054153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DA1703-96F8-4923-B6F9-2930FA46BADA}"/>
              </a:ext>
            </a:extLst>
          </p:cNvPr>
          <p:cNvSpPr>
            <a:spLocks noGrp="1"/>
          </p:cNvSpPr>
          <p:nvPr>
            <p:ph type="title"/>
          </p:nvPr>
        </p:nvSpPr>
        <p:spPr/>
        <p:txBody>
          <a:bodyPr/>
          <a:lstStyle/>
          <a:p>
            <a:r>
              <a:rPr lang="en-IN" sz="2600" dirty="0">
                <a:latin typeface="Courier New" panose="02070309020205020404" pitchFamily="49" charset="0"/>
                <a:cs typeface="Courier New" panose="02070309020205020404" pitchFamily="49" charset="0"/>
              </a:rPr>
              <a:t>Automatic Conversion Between Primitive Types and Wrapper Class Types</a:t>
            </a:r>
          </a:p>
        </p:txBody>
      </p:sp>
      <p:sp>
        <p:nvSpPr>
          <p:cNvPr id="5" name="Content Placeholder 4">
            <a:extLst>
              <a:ext uri="{FF2B5EF4-FFF2-40B4-BE49-F238E27FC236}">
                <a16:creationId xmlns:a16="http://schemas.microsoft.com/office/drawing/2014/main" id="{DFDB429D-9E0A-4196-8ABD-6A7759823DC1}"/>
              </a:ext>
            </a:extLst>
          </p:cNvPr>
          <p:cNvSpPr>
            <a:spLocks noGrp="1"/>
          </p:cNvSpPr>
          <p:nvPr>
            <p:ph sz="quarter" idx="13"/>
          </p:nvPr>
        </p:nvSpPr>
        <p:spPr>
          <a:xfrm>
            <a:off x="457199" y="1552575"/>
            <a:ext cx="8229599" cy="1285218"/>
          </a:xfrm>
        </p:spPr>
        <p:txBody>
          <a:bodyPr/>
          <a:lstStyle/>
          <a:p>
            <a:pPr marL="432" indent="0">
              <a:buNone/>
            </a:pPr>
            <a:r>
              <a:rPr lang="en-IN" dirty="0"/>
              <a:t>J</a:t>
            </a:r>
            <a:r>
              <a:rPr lang="en-IN" sz="100" dirty="0"/>
              <a:t> </a:t>
            </a:r>
            <a:r>
              <a:rPr lang="en-IN" dirty="0"/>
              <a:t>D</a:t>
            </a:r>
            <a:r>
              <a:rPr lang="en-IN" sz="100" dirty="0"/>
              <a:t> </a:t>
            </a:r>
            <a:r>
              <a:rPr lang="en-IN" dirty="0"/>
              <a:t>K 1.5 allows primitive type and wrapper classes to be converted automatically. For example, the following statement in (a) can be simplified as in (b):</a:t>
            </a:r>
          </a:p>
        </p:txBody>
      </p:sp>
      <p:pic>
        <p:nvPicPr>
          <p:cNvPr id="9" name="Content Placeholder 8" descr="The computer code shows the Automatic Conversion Between Primitive Types and Wrapper Class Types. For long description in Notes pane, press F6.">
            <a:extLst>
              <a:ext uri="{FF2B5EF4-FFF2-40B4-BE49-F238E27FC236}">
                <a16:creationId xmlns:a16="http://schemas.microsoft.com/office/drawing/2014/main" id="{2D734CD1-7149-48F8-A154-2E6F8376B861}"/>
              </a:ext>
            </a:extLst>
          </p:cNvPr>
          <p:cNvPicPr>
            <a:picLocks noGrp="1" noChangeAspect="1"/>
          </p:cNvPicPr>
          <p:nvPr>
            <p:ph sz="quarter" idx="14"/>
          </p:nvPr>
        </p:nvPicPr>
        <p:blipFill>
          <a:blip r:embed="rId3"/>
          <a:stretch>
            <a:fillRect/>
          </a:stretch>
        </p:blipFill>
        <p:spPr>
          <a:xfrm>
            <a:off x="496242" y="3117727"/>
            <a:ext cx="8209568" cy="1128566"/>
          </a:xfrm>
          <a:prstGeom prst="rect">
            <a:avLst/>
          </a:prstGeom>
        </p:spPr>
      </p:pic>
      <p:pic>
        <p:nvPicPr>
          <p:cNvPr id="10" name="Content Placeholder 9" descr="Integer left bracket right bracket Array = left brace 1, 2, 3 right brace semi colon. For long description in Notes pane, press F6.">
            <a:extLst>
              <a:ext uri="{FF2B5EF4-FFF2-40B4-BE49-F238E27FC236}">
                <a16:creationId xmlns:a16="http://schemas.microsoft.com/office/drawing/2014/main" id="{8E36DCE2-99D5-4548-A81D-A82E512AF770}"/>
              </a:ext>
            </a:extLst>
          </p:cNvPr>
          <p:cNvPicPr>
            <a:picLocks noGrp="1" noChangeAspect="1"/>
          </p:cNvPicPr>
          <p:nvPr>
            <p:ph sz="quarter" idx="15"/>
          </p:nvPr>
        </p:nvPicPr>
        <p:blipFill>
          <a:blip r:embed="rId4"/>
          <a:stretch>
            <a:fillRect/>
          </a:stretch>
        </p:blipFill>
        <p:spPr>
          <a:xfrm>
            <a:off x="457200" y="4497200"/>
            <a:ext cx="8229600" cy="1656235"/>
          </a:xfrm>
          <a:prstGeom prst="rect">
            <a:avLst/>
          </a:prstGeom>
        </p:spPr>
      </p:pic>
    </p:spTree>
    <p:extLst>
      <p:ext uri="{BB962C8B-B14F-4D97-AF65-F5344CB8AC3E}">
        <p14:creationId xmlns:p14="http://schemas.microsoft.com/office/powerpoint/2010/main" val="1710879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EC0BB3-97DE-445D-8C91-F0A36753D6CF}"/>
              </a:ext>
            </a:extLst>
          </p:cNvPr>
          <p:cNvSpPr>
            <a:spLocks noGrp="1"/>
          </p:cNvSpPr>
          <p:nvPr>
            <p:ph type="title"/>
          </p:nvPr>
        </p:nvSpPr>
        <p:spPr/>
        <p:txBody>
          <a:bodyPr/>
          <a:lstStyle/>
          <a:p>
            <a:r>
              <a:rPr lang="en-IN" dirty="0"/>
              <a:t>The </a:t>
            </a:r>
            <a:r>
              <a:rPr lang="en-IN" dirty="0">
                <a:latin typeface="Courier New" panose="02070309020205020404" pitchFamily="49" charset="0"/>
                <a:cs typeface="Courier New" panose="02070309020205020404" pitchFamily="49" charset="0"/>
              </a:rPr>
              <a:t>String</a:t>
            </a:r>
            <a:r>
              <a:rPr lang="en-IN" dirty="0"/>
              <a:t> Class</a:t>
            </a:r>
          </a:p>
        </p:txBody>
      </p:sp>
      <p:sp>
        <p:nvSpPr>
          <p:cNvPr id="6" name="Content Placeholder 5">
            <a:extLst>
              <a:ext uri="{FF2B5EF4-FFF2-40B4-BE49-F238E27FC236}">
                <a16:creationId xmlns:a16="http://schemas.microsoft.com/office/drawing/2014/main" id="{9FF2C537-5267-4B4C-A628-19F94C9AB32B}"/>
              </a:ext>
            </a:extLst>
          </p:cNvPr>
          <p:cNvSpPr>
            <a:spLocks noGrp="1"/>
          </p:cNvSpPr>
          <p:nvPr>
            <p:ph sz="quarter" idx="13"/>
          </p:nvPr>
        </p:nvSpPr>
        <p:spPr>
          <a:xfrm>
            <a:off x="457200" y="1552575"/>
            <a:ext cx="6346178" cy="462837"/>
          </a:xfrm>
        </p:spPr>
        <p:txBody>
          <a:bodyPr/>
          <a:lstStyle/>
          <a:p>
            <a:r>
              <a:rPr lang="en-IN" sz="2000" dirty="0"/>
              <a:t>Constructing a String:</a:t>
            </a:r>
          </a:p>
        </p:txBody>
      </p:sp>
      <p:sp>
        <p:nvSpPr>
          <p:cNvPr id="7" name="Content Placeholder 6">
            <a:extLst>
              <a:ext uri="{FF2B5EF4-FFF2-40B4-BE49-F238E27FC236}">
                <a16:creationId xmlns:a16="http://schemas.microsoft.com/office/drawing/2014/main" id="{787CB9CC-B88F-48DF-9E7B-C9861AAC60A7}"/>
              </a:ext>
            </a:extLst>
          </p:cNvPr>
          <p:cNvSpPr>
            <a:spLocks noGrp="1"/>
          </p:cNvSpPr>
          <p:nvPr>
            <p:ph sz="quarter" idx="14"/>
          </p:nvPr>
        </p:nvSpPr>
        <p:spPr>
          <a:xfrm>
            <a:off x="457200" y="2090058"/>
            <a:ext cx="8388220" cy="1103086"/>
          </a:xfrm>
        </p:spPr>
        <p:txBody>
          <a:bodyPr tIns="0"/>
          <a:lstStyle/>
          <a:p>
            <a:pPr marL="255600" lvl="1" indent="0">
              <a:buNone/>
            </a:pPr>
            <a:r>
              <a:rPr lang="en-IN" sz="2000" dirty="0">
                <a:latin typeface="Courier New" panose="02070309020205020404" pitchFamily="49" charset="0"/>
                <a:cs typeface="Courier New" panose="02070309020205020404" pitchFamily="49" charset="0"/>
              </a:rPr>
              <a:t>String message = "Welcome to Java“;</a:t>
            </a:r>
          </a:p>
          <a:p>
            <a:pPr marL="255600" lvl="1" indent="0">
              <a:buNone/>
            </a:pPr>
            <a:r>
              <a:rPr lang="en-IN" sz="2000" dirty="0">
                <a:latin typeface="Courier New" panose="02070309020205020404" pitchFamily="49" charset="0"/>
                <a:cs typeface="Courier New" panose="02070309020205020404" pitchFamily="49" charset="0"/>
              </a:rPr>
              <a:t>String message = new String("Welcome to Java“);</a:t>
            </a:r>
          </a:p>
          <a:p>
            <a:pPr marL="255600" lvl="1" indent="0">
              <a:buNone/>
            </a:pPr>
            <a:r>
              <a:rPr lang="en-IN" sz="2000" dirty="0">
                <a:latin typeface="Courier New" panose="02070309020205020404" pitchFamily="49" charset="0"/>
                <a:cs typeface="Courier New" panose="02070309020205020404" pitchFamily="49" charset="0"/>
              </a:rPr>
              <a:t>String s = new String();</a:t>
            </a:r>
            <a:endParaRPr lang="en-IN" sz="2000" dirty="0"/>
          </a:p>
        </p:txBody>
      </p:sp>
      <p:sp>
        <p:nvSpPr>
          <p:cNvPr id="8" name="Content Placeholder 7">
            <a:extLst>
              <a:ext uri="{FF2B5EF4-FFF2-40B4-BE49-F238E27FC236}">
                <a16:creationId xmlns:a16="http://schemas.microsoft.com/office/drawing/2014/main" id="{E8576952-2B46-4BD3-8B23-935AFC422F27}"/>
              </a:ext>
            </a:extLst>
          </p:cNvPr>
          <p:cNvSpPr>
            <a:spLocks noGrp="1"/>
          </p:cNvSpPr>
          <p:nvPr>
            <p:ph sz="quarter" idx="15"/>
          </p:nvPr>
        </p:nvSpPr>
        <p:spPr>
          <a:xfrm>
            <a:off x="457200" y="3287487"/>
            <a:ext cx="8388220" cy="3060439"/>
          </a:xfrm>
        </p:spPr>
        <p:txBody>
          <a:bodyPr lIns="90000" tIns="0"/>
          <a:lstStyle/>
          <a:p>
            <a:pPr>
              <a:spcBef>
                <a:spcPts val="600"/>
              </a:spcBef>
            </a:pPr>
            <a:r>
              <a:rPr lang="en-IN" sz="2000" dirty="0"/>
              <a:t>Obtaining String length and Retrieving Individual Characters in a string</a:t>
            </a:r>
          </a:p>
          <a:p>
            <a:pPr>
              <a:spcBef>
                <a:spcPts val="600"/>
              </a:spcBef>
            </a:pPr>
            <a:r>
              <a:rPr lang="en-IN" sz="2000" dirty="0"/>
              <a:t>String Concatenation (concat)</a:t>
            </a:r>
          </a:p>
          <a:p>
            <a:pPr>
              <a:spcBef>
                <a:spcPts val="600"/>
              </a:spcBef>
            </a:pPr>
            <a:r>
              <a:rPr lang="en-IN" sz="2000" dirty="0"/>
              <a:t>Substrings (substring(index), substring(start, end))</a:t>
            </a:r>
          </a:p>
          <a:p>
            <a:pPr>
              <a:spcBef>
                <a:spcPts val="600"/>
              </a:spcBef>
            </a:pPr>
            <a:r>
              <a:rPr lang="en-IN" sz="2000" dirty="0"/>
              <a:t>Comparisons (equals, compareTo)</a:t>
            </a:r>
          </a:p>
          <a:p>
            <a:pPr>
              <a:spcBef>
                <a:spcPts val="600"/>
              </a:spcBef>
            </a:pPr>
            <a:r>
              <a:rPr lang="en-IN" sz="2000" dirty="0"/>
              <a:t>String Conversions</a:t>
            </a:r>
          </a:p>
          <a:p>
            <a:pPr>
              <a:spcBef>
                <a:spcPts val="600"/>
              </a:spcBef>
            </a:pPr>
            <a:r>
              <a:rPr lang="en-IN" sz="2000" dirty="0"/>
              <a:t>Finding a Character or a Substring in a String</a:t>
            </a:r>
          </a:p>
          <a:p>
            <a:pPr>
              <a:spcBef>
                <a:spcPts val="600"/>
              </a:spcBef>
            </a:pPr>
            <a:r>
              <a:rPr lang="en-IN" sz="2000" dirty="0"/>
              <a:t>Conversions between Strings and Arrays</a:t>
            </a:r>
          </a:p>
          <a:p>
            <a:pPr>
              <a:spcBef>
                <a:spcPts val="600"/>
              </a:spcBef>
            </a:pPr>
            <a:r>
              <a:rPr lang="en-IN" sz="2000" dirty="0"/>
              <a:t>Converting Characters and Numeric Values to Strings</a:t>
            </a:r>
          </a:p>
        </p:txBody>
      </p:sp>
    </p:spTree>
    <p:extLst>
      <p:ext uri="{BB962C8B-B14F-4D97-AF65-F5344CB8AC3E}">
        <p14:creationId xmlns:p14="http://schemas.microsoft.com/office/powerpoint/2010/main" val="2353316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7D7BA-5EC6-4F4C-8692-3391C8FA571C}"/>
              </a:ext>
            </a:extLst>
          </p:cNvPr>
          <p:cNvSpPr>
            <a:spLocks noGrp="1"/>
          </p:cNvSpPr>
          <p:nvPr>
            <p:ph type="title"/>
          </p:nvPr>
        </p:nvSpPr>
        <p:spPr/>
        <p:txBody>
          <a:bodyPr/>
          <a:lstStyle/>
          <a:p>
            <a:r>
              <a:rPr lang="en-IN" dirty="0"/>
              <a:t>Constructing Strings</a:t>
            </a:r>
          </a:p>
        </p:txBody>
      </p:sp>
      <p:sp>
        <p:nvSpPr>
          <p:cNvPr id="3" name="Content Placeholder 2">
            <a:extLst>
              <a:ext uri="{FF2B5EF4-FFF2-40B4-BE49-F238E27FC236}">
                <a16:creationId xmlns:a16="http://schemas.microsoft.com/office/drawing/2014/main" id="{F56A1FA2-F41D-4064-B927-EB2F24C579F8}"/>
              </a:ext>
            </a:extLst>
          </p:cNvPr>
          <p:cNvSpPr>
            <a:spLocks noGrp="1"/>
          </p:cNvSpPr>
          <p:nvPr>
            <p:ph sz="quarter" idx="13"/>
          </p:nvPr>
        </p:nvSpPr>
        <p:spPr/>
        <p:txBody>
          <a:bodyPr/>
          <a:lstStyle/>
          <a:p>
            <a:pPr marL="432" indent="0">
              <a:buNone/>
            </a:pPr>
            <a:r>
              <a:rPr lang="en-IN" dirty="0"/>
              <a:t>String newString = new String(stringLiteral);</a:t>
            </a:r>
          </a:p>
          <a:p>
            <a:pPr marL="432" indent="0">
              <a:buNone/>
            </a:pPr>
            <a:r>
              <a:rPr lang="en-IN" dirty="0"/>
              <a:t>String message = new String("Welcome to Java");</a:t>
            </a:r>
          </a:p>
          <a:p>
            <a:pPr marL="432" indent="0">
              <a:buNone/>
            </a:pPr>
            <a:r>
              <a:rPr lang="en-IN" dirty="0"/>
              <a:t>Since strings are used frequently, Java provides a shorthand initializer for creating a string:</a:t>
            </a:r>
          </a:p>
          <a:p>
            <a:pPr marL="432" indent="0">
              <a:buNone/>
            </a:pPr>
            <a:r>
              <a:rPr lang="en-IN" dirty="0"/>
              <a:t>String message = "Welcome to Java";</a:t>
            </a:r>
          </a:p>
        </p:txBody>
      </p:sp>
    </p:spTree>
    <p:extLst>
      <p:ext uri="{BB962C8B-B14F-4D97-AF65-F5344CB8AC3E}">
        <p14:creationId xmlns:p14="http://schemas.microsoft.com/office/powerpoint/2010/main" val="4138095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38626-0714-4B3A-816F-4408DC8B8A78}"/>
              </a:ext>
            </a:extLst>
          </p:cNvPr>
          <p:cNvSpPr>
            <a:spLocks noGrp="1"/>
          </p:cNvSpPr>
          <p:nvPr>
            <p:ph type="title"/>
          </p:nvPr>
        </p:nvSpPr>
        <p:spPr/>
        <p:txBody>
          <a:bodyPr/>
          <a:lstStyle/>
          <a:p>
            <a:r>
              <a:rPr lang="en-IN" dirty="0"/>
              <a:t>Strings Are Immutable</a:t>
            </a:r>
          </a:p>
        </p:txBody>
      </p:sp>
      <p:sp>
        <p:nvSpPr>
          <p:cNvPr id="3" name="Content Placeholder 2">
            <a:extLst>
              <a:ext uri="{FF2B5EF4-FFF2-40B4-BE49-F238E27FC236}">
                <a16:creationId xmlns:a16="http://schemas.microsoft.com/office/drawing/2014/main" id="{C5332750-4A6E-4649-AD15-5F2358A21909}"/>
              </a:ext>
            </a:extLst>
          </p:cNvPr>
          <p:cNvSpPr>
            <a:spLocks noGrp="1"/>
          </p:cNvSpPr>
          <p:nvPr>
            <p:ph sz="quarter" idx="13"/>
          </p:nvPr>
        </p:nvSpPr>
        <p:spPr/>
        <p:txBody>
          <a:bodyPr/>
          <a:lstStyle/>
          <a:p>
            <a:pPr marL="432" indent="0">
              <a:buNone/>
            </a:pPr>
            <a:r>
              <a:rPr lang="en-IN" dirty="0"/>
              <a:t>A String object is immutable; its contents cannot be changed. Does the following code change the contents of the string?</a:t>
            </a:r>
          </a:p>
          <a:p>
            <a:pPr marL="255600" indent="0">
              <a:buNone/>
            </a:pPr>
            <a:r>
              <a:rPr lang="en-IN" dirty="0"/>
              <a:t>String s = "Java";</a:t>
            </a:r>
          </a:p>
          <a:p>
            <a:pPr marL="255600" indent="0">
              <a:buNone/>
            </a:pPr>
            <a:r>
              <a:rPr lang="en-IN" dirty="0"/>
              <a:t>s = "HTML";</a:t>
            </a:r>
          </a:p>
        </p:txBody>
      </p:sp>
    </p:spTree>
    <p:extLst>
      <p:ext uri="{BB962C8B-B14F-4D97-AF65-F5344CB8AC3E}">
        <p14:creationId xmlns:p14="http://schemas.microsoft.com/office/powerpoint/2010/main" val="633593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6D8F-5CBD-4795-A2EB-ED42D703E888}"/>
              </a:ext>
            </a:extLst>
          </p:cNvPr>
          <p:cNvSpPr>
            <a:spLocks noGrp="1"/>
          </p:cNvSpPr>
          <p:nvPr>
            <p:ph type="title"/>
          </p:nvPr>
        </p:nvSpPr>
        <p:spPr/>
        <p:txBody>
          <a:bodyPr/>
          <a:lstStyle/>
          <a:p>
            <a:r>
              <a:rPr lang="en-IN" dirty="0"/>
              <a:t>Interned Strings</a:t>
            </a:r>
            <a:endParaRPr lang="en-IN" b="0" dirty="0"/>
          </a:p>
        </p:txBody>
      </p:sp>
      <p:pic>
        <p:nvPicPr>
          <p:cNvPr id="7" name="Content Placeholder 6" descr="String s1 = Start double quotation marks Welcome to Java end double quotation marks semi colon. For long description in Notes pane, press F6.">
            <a:extLst>
              <a:ext uri="{FF2B5EF4-FFF2-40B4-BE49-F238E27FC236}">
                <a16:creationId xmlns:a16="http://schemas.microsoft.com/office/drawing/2014/main" id="{C149A918-7163-41A5-86B3-966EE7B71BB8}"/>
              </a:ext>
            </a:extLst>
          </p:cNvPr>
          <p:cNvPicPr>
            <a:picLocks noGrp="1" noChangeAspect="1"/>
          </p:cNvPicPr>
          <p:nvPr>
            <p:ph sz="quarter" idx="13"/>
          </p:nvPr>
        </p:nvPicPr>
        <p:blipFill>
          <a:blip r:embed="rId3"/>
          <a:stretch>
            <a:fillRect/>
          </a:stretch>
        </p:blipFill>
        <p:spPr>
          <a:xfrm>
            <a:off x="457200" y="1572167"/>
            <a:ext cx="8229600" cy="2198190"/>
          </a:xfrm>
          <a:prstGeom prst="rect">
            <a:avLst/>
          </a:prstGeom>
        </p:spPr>
      </p:pic>
      <p:sp>
        <p:nvSpPr>
          <p:cNvPr id="4" name="Content Placeholder 3">
            <a:extLst>
              <a:ext uri="{FF2B5EF4-FFF2-40B4-BE49-F238E27FC236}">
                <a16:creationId xmlns:a16="http://schemas.microsoft.com/office/drawing/2014/main" id="{F4AFFA4B-BE31-490E-82B3-F88B9D1FD260}"/>
              </a:ext>
            </a:extLst>
          </p:cNvPr>
          <p:cNvSpPr>
            <a:spLocks noGrp="1"/>
          </p:cNvSpPr>
          <p:nvPr>
            <p:ph sz="quarter" idx="14"/>
          </p:nvPr>
        </p:nvSpPr>
        <p:spPr>
          <a:xfrm>
            <a:off x="457200" y="3987057"/>
            <a:ext cx="2575560" cy="1647825"/>
          </a:xfrm>
        </p:spPr>
        <p:txBody>
          <a:bodyPr/>
          <a:lstStyle/>
          <a:p>
            <a:pPr marL="432" indent="0">
              <a:buNone/>
            </a:pPr>
            <a:r>
              <a:rPr lang="en-IN" dirty="0"/>
              <a:t>display</a:t>
            </a:r>
          </a:p>
          <a:p>
            <a:pPr marL="255600" indent="0">
              <a:buNone/>
            </a:pPr>
            <a:r>
              <a:rPr lang="en-IN" dirty="0"/>
              <a:t>s1 == s is false</a:t>
            </a:r>
          </a:p>
          <a:p>
            <a:pPr marL="255600" indent="0">
              <a:buNone/>
            </a:pPr>
            <a:r>
              <a:rPr lang="en-IN" dirty="0"/>
              <a:t>s1 == s3 is true</a:t>
            </a:r>
          </a:p>
        </p:txBody>
      </p:sp>
      <p:sp>
        <p:nvSpPr>
          <p:cNvPr id="5" name="Content Placeholder 4">
            <a:extLst>
              <a:ext uri="{FF2B5EF4-FFF2-40B4-BE49-F238E27FC236}">
                <a16:creationId xmlns:a16="http://schemas.microsoft.com/office/drawing/2014/main" id="{E3C05176-186E-452C-B774-EE94B96F2D13}"/>
              </a:ext>
            </a:extLst>
          </p:cNvPr>
          <p:cNvSpPr>
            <a:spLocks noGrp="1"/>
          </p:cNvSpPr>
          <p:nvPr>
            <p:ph sz="quarter" idx="15"/>
          </p:nvPr>
        </p:nvSpPr>
        <p:spPr>
          <a:xfrm>
            <a:off x="3742483" y="3987057"/>
            <a:ext cx="4944317" cy="2291823"/>
          </a:xfrm>
        </p:spPr>
        <p:txBody>
          <a:bodyPr/>
          <a:lstStyle/>
          <a:p>
            <a:pPr marL="432" indent="0">
              <a:buNone/>
            </a:pPr>
            <a:r>
              <a:rPr lang="en-IN" dirty="0"/>
              <a:t>A new object is created if you use the new operator.</a:t>
            </a:r>
          </a:p>
          <a:p>
            <a:pPr marL="432" indent="0">
              <a:buNone/>
            </a:pPr>
            <a:r>
              <a:rPr lang="en-IN" dirty="0"/>
              <a:t>If you use the string initializer, no new object is created if the interned object is already created.</a:t>
            </a:r>
          </a:p>
        </p:txBody>
      </p:sp>
    </p:spTree>
    <p:extLst>
      <p:ext uri="{BB962C8B-B14F-4D97-AF65-F5344CB8AC3E}">
        <p14:creationId xmlns:p14="http://schemas.microsoft.com/office/powerpoint/2010/main" val="404429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1157E-5DD9-479C-B338-5208E30DA766}"/>
              </a:ext>
            </a:extLst>
          </p:cNvPr>
          <p:cNvSpPr>
            <a:spLocks noGrp="1"/>
          </p:cNvSpPr>
          <p:nvPr>
            <p:ph type="title"/>
          </p:nvPr>
        </p:nvSpPr>
        <p:spPr/>
        <p:txBody>
          <a:bodyPr/>
          <a:lstStyle/>
          <a:p>
            <a:r>
              <a:rPr lang="en-IN" dirty="0"/>
              <a:t>Replacing and Splitting Strings </a:t>
            </a:r>
            <a:r>
              <a:rPr lang="en-IN" sz="2000" b="0" dirty="0"/>
              <a:t>(1 of 2)</a:t>
            </a:r>
            <a:endParaRPr lang="en-IN" b="0" dirty="0"/>
          </a:p>
        </p:txBody>
      </p:sp>
      <p:pic>
        <p:nvPicPr>
          <p:cNvPr id="4" name="Content Placeholder 3" descr="Four rows of codes and descriptions for java.lang.String as follows. For long description in Notes pane, press F6.">
            <a:extLst>
              <a:ext uri="{FF2B5EF4-FFF2-40B4-BE49-F238E27FC236}">
                <a16:creationId xmlns:a16="http://schemas.microsoft.com/office/drawing/2014/main" id="{726CB43C-CB94-49CB-9D04-7F634597C548}"/>
              </a:ext>
            </a:extLst>
          </p:cNvPr>
          <p:cNvPicPr>
            <a:picLocks noGrp="1" noChangeAspect="1"/>
          </p:cNvPicPr>
          <p:nvPr>
            <p:ph sz="quarter" idx="13"/>
          </p:nvPr>
        </p:nvPicPr>
        <p:blipFill>
          <a:blip r:embed="rId3"/>
          <a:stretch>
            <a:fillRect/>
          </a:stretch>
        </p:blipFill>
        <p:spPr>
          <a:xfrm>
            <a:off x="454025" y="1725582"/>
            <a:ext cx="8232775" cy="3041270"/>
          </a:xfrm>
          <a:prstGeom prst="rect">
            <a:avLst/>
          </a:prstGeom>
        </p:spPr>
      </p:pic>
    </p:spTree>
    <p:extLst>
      <p:ext uri="{BB962C8B-B14F-4D97-AF65-F5344CB8AC3E}">
        <p14:creationId xmlns:p14="http://schemas.microsoft.com/office/powerpoint/2010/main" val="1013017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C4F9A-158B-406B-89AE-59EE530721F6}"/>
              </a:ext>
            </a:extLst>
          </p:cNvPr>
          <p:cNvSpPr>
            <a:spLocks noGrp="1"/>
          </p:cNvSpPr>
          <p:nvPr>
            <p:ph type="title"/>
          </p:nvPr>
        </p:nvSpPr>
        <p:spPr/>
        <p:txBody>
          <a:bodyPr/>
          <a:lstStyle/>
          <a:p>
            <a:r>
              <a:rPr lang="en-IN" dirty="0"/>
              <a:t>Splitting a String</a:t>
            </a:r>
          </a:p>
        </p:txBody>
      </p:sp>
      <p:sp>
        <p:nvSpPr>
          <p:cNvPr id="3" name="Content Placeholder 2">
            <a:extLst>
              <a:ext uri="{FF2B5EF4-FFF2-40B4-BE49-F238E27FC236}">
                <a16:creationId xmlns:a16="http://schemas.microsoft.com/office/drawing/2014/main" id="{4986E853-DD39-45D5-968B-9246B460BB07}"/>
              </a:ext>
            </a:extLst>
          </p:cNvPr>
          <p:cNvSpPr>
            <a:spLocks noGrp="1"/>
          </p:cNvSpPr>
          <p:nvPr>
            <p:ph sz="quarter" idx="13"/>
          </p:nvPr>
        </p:nvSpPr>
        <p:spPr>
          <a:xfrm>
            <a:off x="457200" y="1556327"/>
            <a:ext cx="8229600" cy="2105025"/>
          </a:xfrm>
        </p:spPr>
        <p:txBody>
          <a:bodyPr/>
          <a:lstStyle/>
          <a:p>
            <a:pPr marL="432" indent="0">
              <a:buNone/>
            </a:pPr>
            <a:r>
              <a:rPr lang="en-IN" b="1" dirty="0">
                <a:latin typeface="Courier New" panose="02070309020205020404" pitchFamily="49" charset="0"/>
                <a:cs typeface="Courier New" panose="02070309020205020404" pitchFamily="49" charset="0"/>
              </a:rPr>
              <a:t>String[] tokens = "Java#HTML#Perl".split("#");</a:t>
            </a:r>
          </a:p>
          <a:p>
            <a:pPr marL="432" indent="0">
              <a:buNone/>
            </a:pPr>
            <a:r>
              <a:rPr lang="en-IN" b="1" dirty="0">
                <a:latin typeface="Courier New" panose="02070309020205020404" pitchFamily="49" charset="0"/>
                <a:cs typeface="Courier New" panose="02070309020205020404" pitchFamily="49" charset="0"/>
              </a:rPr>
              <a:t>for (int i = 0; i &lt; tokens.length; i++)</a:t>
            </a:r>
          </a:p>
          <a:p>
            <a:pPr marL="360000" indent="0">
              <a:buNone/>
            </a:pPr>
            <a:r>
              <a:rPr lang="en-IN" b="1" dirty="0">
                <a:latin typeface="Courier New" panose="02070309020205020404" pitchFamily="49" charset="0"/>
                <a:cs typeface="Courier New" panose="02070309020205020404" pitchFamily="49" charset="0"/>
              </a:rPr>
              <a:t>System.out.print(tokens[i] + " ");</a:t>
            </a:r>
          </a:p>
        </p:txBody>
      </p:sp>
      <p:sp>
        <p:nvSpPr>
          <p:cNvPr id="4" name="Content Placeholder 3">
            <a:extLst>
              <a:ext uri="{FF2B5EF4-FFF2-40B4-BE49-F238E27FC236}">
                <a16:creationId xmlns:a16="http://schemas.microsoft.com/office/drawing/2014/main" id="{EC08B75B-67AC-4996-A7E6-B284DAA86886}"/>
              </a:ext>
            </a:extLst>
          </p:cNvPr>
          <p:cNvSpPr>
            <a:spLocks noGrp="1"/>
          </p:cNvSpPr>
          <p:nvPr>
            <p:ph sz="quarter" idx="14"/>
          </p:nvPr>
        </p:nvSpPr>
        <p:spPr>
          <a:xfrm>
            <a:off x="457200" y="3783272"/>
            <a:ext cx="8229600" cy="2105025"/>
          </a:xfrm>
        </p:spPr>
        <p:txBody>
          <a:bodyPr/>
          <a:lstStyle/>
          <a:p>
            <a:pPr marL="432" indent="0">
              <a:buNone/>
            </a:pPr>
            <a:r>
              <a:rPr lang="en-IN" dirty="0"/>
              <a:t>displays</a:t>
            </a:r>
          </a:p>
          <a:p>
            <a:pPr marL="432" indent="0">
              <a:buNone/>
            </a:pPr>
            <a:r>
              <a:rPr lang="en-IN" dirty="0"/>
              <a:t>Java H</a:t>
            </a:r>
            <a:r>
              <a:rPr lang="en-IN" sz="100" dirty="0"/>
              <a:t> </a:t>
            </a:r>
            <a:r>
              <a:rPr lang="en-IN" dirty="0"/>
              <a:t>T</a:t>
            </a:r>
            <a:r>
              <a:rPr lang="en-IN" sz="100" dirty="0"/>
              <a:t> </a:t>
            </a:r>
            <a:r>
              <a:rPr lang="en-IN" dirty="0"/>
              <a:t>M</a:t>
            </a:r>
            <a:r>
              <a:rPr lang="en-IN" sz="100" dirty="0"/>
              <a:t> </a:t>
            </a:r>
            <a:r>
              <a:rPr lang="en-IN" dirty="0"/>
              <a:t>L Perl</a:t>
            </a:r>
          </a:p>
        </p:txBody>
      </p:sp>
    </p:spTree>
    <p:extLst>
      <p:ext uri="{BB962C8B-B14F-4D97-AF65-F5344CB8AC3E}">
        <p14:creationId xmlns:p14="http://schemas.microsoft.com/office/powerpoint/2010/main" val="903115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A7F0-D03A-4771-ACAC-C4DB383504CF}"/>
              </a:ext>
            </a:extLst>
          </p:cNvPr>
          <p:cNvSpPr>
            <a:spLocks noGrp="1"/>
          </p:cNvSpPr>
          <p:nvPr>
            <p:ph type="title"/>
          </p:nvPr>
        </p:nvSpPr>
        <p:spPr/>
        <p:txBody>
          <a:bodyPr/>
          <a:lstStyle/>
          <a:p>
            <a:r>
              <a:rPr lang="en-IN" sz="3200" dirty="0"/>
              <a:t>Matching, Replacing and Splitting by Patterns </a:t>
            </a:r>
            <a:r>
              <a:rPr lang="en-IN" sz="2000" b="0" dirty="0"/>
              <a:t>(1 of 3)</a:t>
            </a:r>
          </a:p>
        </p:txBody>
      </p:sp>
      <p:sp>
        <p:nvSpPr>
          <p:cNvPr id="4" name="Content Placeholder 3">
            <a:extLst>
              <a:ext uri="{FF2B5EF4-FFF2-40B4-BE49-F238E27FC236}">
                <a16:creationId xmlns:a16="http://schemas.microsoft.com/office/drawing/2014/main" id="{6DF4B2A7-B2FE-425C-9DE1-B52E46DEF38B}"/>
              </a:ext>
            </a:extLst>
          </p:cNvPr>
          <p:cNvSpPr>
            <a:spLocks noGrp="1"/>
          </p:cNvSpPr>
          <p:nvPr>
            <p:ph sz="quarter" idx="13"/>
          </p:nvPr>
        </p:nvSpPr>
        <p:spPr>
          <a:xfrm>
            <a:off x="457200" y="1552574"/>
            <a:ext cx="8260080" cy="1967866"/>
          </a:xfrm>
        </p:spPr>
        <p:txBody>
          <a:bodyPr bIns="0"/>
          <a:lstStyle/>
          <a:p>
            <a:pPr marL="432" indent="0">
              <a:buNone/>
            </a:pPr>
            <a:r>
              <a:rPr lang="en-IN" dirty="0"/>
              <a:t>You can match, replace, or split a string by specifying a pattern. This is an extremely useful and powerful feature, commonly known as </a:t>
            </a:r>
            <a:r>
              <a:rPr lang="en-IN" b="1" dirty="0"/>
              <a:t>regular expression</a:t>
            </a:r>
            <a:r>
              <a:rPr lang="en-IN" dirty="0"/>
              <a:t>. Regular expression is complex to beginning students. For this reason, two simple patterns are used in this section. Please</a:t>
            </a:r>
          </a:p>
        </p:txBody>
      </p:sp>
      <p:sp>
        <p:nvSpPr>
          <p:cNvPr id="6" name="Content Placeholder 5">
            <a:extLst>
              <a:ext uri="{FF2B5EF4-FFF2-40B4-BE49-F238E27FC236}">
                <a16:creationId xmlns:a16="http://schemas.microsoft.com/office/drawing/2014/main" id="{B7F9D7A2-7797-4AD9-991A-9544593FC7D7}"/>
              </a:ext>
            </a:extLst>
          </p:cNvPr>
          <p:cNvSpPr>
            <a:spLocks noGrp="1"/>
          </p:cNvSpPr>
          <p:nvPr>
            <p:ph sz="quarter" idx="14"/>
          </p:nvPr>
        </p:nvSpPr>
        <p:spPr>
          <a:xfrm>
            <a:off x="457200" y="3578212"/>
            <a:ext cx="2895599" cy="414668"/>
          </a:xfrm>
        </p:spPr>
        <p:txBody>
          <a:bodyPr tIns="0" rIns="0" bIns="0"/>
          <a:lstStyle/>
          <a:p>
            <a:pPr marL="432" indent="0">
              <a:buNone/>
            </a:pPr>
            <a:r>
              <a:rPr lang="en-IN" dirty="0"/>
              <a:t>refer to Supplement</a:t>
            </a:r>
          </a:p>
        </p:txBody>
      </p:sp>
      <p:graphicFrame>
        <p:nvGraphicFramePr>
          <p:cNvPr id="19" name="Object 18" descr="Three. F,">
            <a:extLst>
              <a:ext uri="{FF2B5EF4-FFF2-40B4-BE49-F238E27FC236}">
                <a16:creationId xmlns:a16="http://schemas.microsoft.com/office/drawing/2014/main" id="{4103CB5A-1D4B-48A8-AFD4-6EE3738CEDF8}"/>
              </a:ext>
            </a:extLst>
          </p:cNvPr>
          <p:cNvGraphicFramePr>
            <a:graphicFrameLocks noChangeAspect="1"/>
          </p:cNvGraphicFramePr>
          <p:nvPr>
            <p:extLst>
              <p:ext uri="{D42A27DB-BD31-4B8C-83A1-F6EECF244321}">
                <p14:modId xmlns:p14="http://schemas.microsoft.com/office/powerpoint/2010/main" val="1803034845"/>
              </p:ext>
            </p:extLst>
          </p:nvPr>
        </p:nvGraphicFramePr>
        <p:xfrm>
          <a:off x="3472541" y="3617912"/>
          <a:ext cx="609600" cy="330200"/>
        </p:xfrm>
        <a:graphic>
          <a:graphicData uri="http://schemas.openxmlformats.org/presentationml/2006/ole">
            <mc:AlternateContent xmlns:mc="http://schemas.openxmlformats.org/markup-compatibility/2006">
              <mc:Choice xmlns:v="urn:schemas-microsoft-com:vml" Requires="v">
                <p:oleObj spid="_x0000_s1048" name="Equation" r:id="rId4" imgW="609480" imgH="330120" progId="Equation.DSMT4">
                  <p:embed/>
                </p:oleObj>
              </mc:Choice>
              <mc:Fallback>
                <p:oleObj name="Equation" r:id="rId4" imgW="609480" imgH="330120" progId="Equation.DSMT4">
                  <p:embed/>
                  <p:pic>
                    <p:nvPicPr>
                      <p:cNvPr id="0" name=""/>
                      <p:cNvPicPr/>
                      <p:nvPr/>
                    </p:nvPicPr>
                    <p:blipFill>
                      <a:blip r:embed="rId5"/>
                      <a:stretch>
                        <a:fillRect/>
                      </a:stretch>
                    </p:blipFill>
                    <p:spPr>
                      <a:xfrm>
                        <a:off x="3472541" y="3617912"/>
                        <a:ext cx="609600" cy="3302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C4A8B518-AF92-4A44-909F-061CB564B9F9}"/>
              </a:ext>
            </a:extLst>
          </p:cNvPr>
          <p:cNvSpPr>
            <a:spLocks noGrp="1"/>
          </p:cNvSpPr>
          <p:nvPr>
            <p:ph sz="quarter" idx="15"/>
          </p:nvPr>
        </p:nvSpPr>
        <p:spPr>
          <a:xfrm>
            <a:off x="4217849" y="3578212"/>
            <a:ext cx="4709888" cy="414668"/>
          </a:xfrm>
        </p:spPr>
        <p:txBody>
          <a:bodyPr lIns="0" tIns="0" bIns="0"/>
          <a:lstStyle/>
          <a:p>
            <a:pPr marL="432" indent="0">
              <a:buNone/>
            </a:pPr>
            <a:r>
              <a:rPr lang="en-IN" dirty="0"/>
              <a:t>“Regular Expressions,” for further</a:t>
            </a:r>
          </a:p>
        </p:txBody>
      </p:sp>
      <p:sp>
        <p:nvSpPr>
          <p:cNvPr id="8" name="Content Placeholder 7">
            <a:extLst>
              <a:ext uri="{FF2B5EF4-FFF2-40B4-BE49-F238E27FC236}">
                <a16:creationId xmlns:a16="http://schemas.microsoft.com/office/drawing/2014/main" id="{578B5C51-C075-4FC0-8140-21E9357C2E4A}"/>
              </a:ext>
            </a:extLst>
          </p:cNvPr>
          <p:cNvSpPr>
            <a:spLocks noGrp="1"/>
          </p:cNvSpPr>
          <p:nvPr>
            <p:ph sz="quarter" idx="16"/>
          </p:nvPr>
        </p:nvSpPr>
        <p:spPr>
          <a:xfrm>
            <a:off x="457200" y="4060824"/>
            <a:ext cx="8229600" cy="404496"/>
          </a:xfrm>
        </p:spPr>
        <p:txBody>
          <a:bodyPr tIns="0" rIns="90000"/>
          <a:lstStyle/>
          <a:p>
            <a:pPr marL="432" indent="0">
              <a:buNone/>
            </a:pPr>
            <a:r>
              <a:rPr lang="en-IN" dirty="0"/>
              <a:t>studies.</a:t>
            </a:r>
          </a:p>
        </p:txBody>
      </p:sp>
      <p:sp>
        <p:nvSpPr>
          <p:cNvPr id="9" name="Content Placeholder 8">
            <a:extLst>
              <a:ext uri="{FF2B5EF4-FFF2-40B4-BE49-F238E27FC236}">
                <a16:creationId xmlns:a16="http://schemas.microsoft.com/office/drawing/2014/main" id="{C5A04ED4-03D8-4CC4-BE53-6991518E5C5F}"/>
              </a:ext>
            </a:extLst>
          </p:cNvPr>
          <p:cNvSpPr>
            <a:spLocks noGrp="1"/>
          </p:cNvSpPr>
          <p:nvPr>
            <p:ph sz="quarter" idx="17"/>
          </p:nvPr>
        </p:nvSpPr>
        <p:spPr>
          <a:xfrm>
            <a:off x="457200" y="4542693"/>
            <a:ext cx="8229600" cy="1842867"/>
          </a:xfrm>
        </p:spPr>
        <p:txBody>
          <a:bodyPr/>
          <a:lstStyle/>
          <a:p>
            <a:pPr marL="432" indent="0">
              <a:spcBef>
                <a:spcPts val="600"/>
              </a:spcBef>
              <a:buNone/>
            </a:pPr>
            <a:r>
              <a:rPr lang="en-IN" dirty="0"/>
              <a:t>"Java".matches("Java");</a:t>
            </a:r>
          </a:p>
          <a:p>
            <a:pPr marL="432" indent="0">
              <a:spcBef>
                <a:spcPts val="600"/>
              </a:spcBef>
              <a:buNone/>
            </a:pPr>
            <a:r>
              <a:rPr lang="en-IN" dirty="0"/>
              <a:t>"Java".equals("Java");</a:t>
            </a:r>
          </a:p>
          <a:p>
            <a:pPr marL="432" indent="0">
              <a:spcBef>
                <a:spcPts val="600"/>
              </a:spcBef>
              <a:buNone/>
            </a:pPr>
            <a:r>
              <a:rPr lang="en-IN" dirty="0"/>
              <a:t>"Java is fun".matches("Java.*");</a:t>
            </a:r>
          </a:p>
          <a:p>
            <a:pPr marL="432" indent="0">
              <a:spcBef>
                <a:spcPts val="600"/>
              </a:spcBef>
              <a:buNone/>
            </a:pPr>
            <a:r>
              <a:rPr lang="en-IN" dirty="0"/>
              <a:t>"Java is cool".matches("Java.*");</a:t>
            </a:r>
          </a:p>
        </p:txBody>
      </p:sp>
    </p:spTree>
    <p:extLst>
      <p:ext uri="{BB962C8B-B14F-4D97-AF65-F5344CB8AC3E}">
        <p14:creationId xmlns:p14="http://schemas.microsoft.com/office/powerpoint/2010/main" val="875060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4547C-0859-4E52-A4ED-E4D91EDF0BDC}"/>
              </a:ext>
            </a:extLst>
          </p:cNvPr>
          <p:cNvSpPr>
            <a:spLocks noGrp="1"/>
          </p:cNvSpPr>
          <p:nvPr>
            <p:ph type="title"/>
          </p:nvPr>
        </p:nvSpPr>
        <p:spPr/>
        <p:txBody>
          <a:bodyPr/>
          <a:lstStyle/>
          <a:p>
            <a:r>
              <a:rPr lang="en-IN" sz="3200" dirty="0"/>
              <a:t>Matching, Replacing and Splitting by Patterns </a:t>
            </a:r>
            <a:r>
              <a:rPr lang="en-IN" sz="2000" b="0" dirty="0"/>
              <a:t>(2 of 3)</a:t>
            </a:r>
            <a:endParaRPr lang="en-IN" sz="3200" b="0" dirty="0"/>
          </a:p>
        </p:txBody>
      </p:sp>
      <p:sp>
        <p:nvSpPr>
          <p:cNvPr id="3" name="Content Placeholder 2">
            <a:extLst>
              <a:ext uri="{FF2B5EF4-FFF2-40B4-BE49-F238E27FC236}">
                <a16:creationId xmlns:a16="http://schemas.microsoft.com/office/drawing/2014/main" id="{12394D27-27F7-4E2B-8AAB-A3CE51A77B6F}"/>
              </a:ext>
            </a:extLst>
          </p:cNvPr>
          <p:cNvSpPr>
            <a:spLocks noGrp="1"/>
          </p:cNvSpPr>
          <p:nvPr>
            <p:ph sz="quarter" idx="13"/>
          </p:nvPr>
        </p:nvSpPr>
        <p:spPr/>
        <p:txBody>
          <a:bodyPr/>
          <a:lstStyle/>
          <a:p>
            <a:pPr marL="432" indent="0">
              <a:buNone/>
            </a:pPr>
            <a:r>
              <a:rPr lang="en-IN" dirty="0"/>
              <a:t>The replaceAll, replaceFirst, and split methods can be used with a regular expression. For example, the following statement returns a new string that replaces $, +, or # in "</a:t>
            </a:r>
            <a:r>
              <a:rPr lang="en-IN" dirty="0" err="1"/>
              <a:t>a+b</a:t>
            </a:r>
            <a:r>
              <a:rPr lang="en-IN" dirty="0"/>
              <a:t>$#c" by the string NNN.</a:t>
            </a:r>
          </a:p>
          <a:p>
            <a:pPr marL="432" indent="0">
              <a:buNone/>
            </a:pPr>
            <a:r>
              <a:rPr lang="en-IN" dirty="0"/>
              <a:t>String s = "a+b$#c".replaceAll("[$+#]", "NNN");</a:t>
            </a:r>
          </a:p>
          <a:p>
            <a:pPr marL="432" indent="0">
              <a:buNone/>
            </a:pPr>
            <a:r>
              <a:rPr lang="en-IN" dirty="0"/>
              <a:t>System.out.println(s);</a:t>
            </a:r>
          </a:p>
          <a:p>
            <a:pPr marL="432" indent="0">
              <a:buNone/>
            </a:pPr>
            <a:r>
              <a:rPr lang="en-IN" dirty="0"/>
              <a:t>Here the regular expression [$+#] specifies a pattern that matches $, +, or #. So, the output is aNNNbNNNNNNc.</a:t>
            </a:r>
          </a:p>
        </p:txBody>
      </p:sp>
    </p:spTree>
    <p:extLst>
      <p:ext uri="{BB962C8B-B14F-4D97-AF65-F5344CB8AC3E}">
        <p14:creationId xmlns:p14="http://schemas.microsoft.com/office/powerpoint/2010/main" val="2685195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4547C-0859-4E52-A4ED-E4D91EDF0BDC}"/>
              </a:ext>
            </a:extLst>
          </p:cNvPr>
          <p:cNvSpPr>
            <a:spLocks noGrp="1"/>
          </p:cNvSpPr>
          <p:nvPr>
            <p:ph type="title"/>
          </p:nvPr>
        </p:nvSpPr>
        <p:spPr/>
        <p:txBody>
          <a:bodyPr/>
          <a:lstStyle/>
          <a:p>
            <a:r>
              <a:rPr lang="en-IN" sz="3200" dirty="0"/>
              <a:t>Matching, Replacing and Splitting by Patterns </a:t>
            </a:r>
            <a:r>
              <a:rPr lang="en-IN" sz="2000" b="0" dirty="0"/>
              <a:t>(3 of 3)</a:t>
            </a:r>
            <a:endParaRPr lang="en-IN" sz="3200" b="0" dirty="0"/>
          </a:p>
        </p:txBody>
      </p:sp>
      <p:sp>
        <p:nvSpPr>
          <p:cNvPr id="3" name="Content Placeholder 2">
            <a:extLst>
              <a:ext uri="{FF2B5EF4-FFF2-40B4-BE49-F238E27FC236}">
                <a16:creationId xmlns:a16="http://schemas.microsoft.com/office/drawing/2014/main" id="{12394D27-27F7-4E2B-8AAB-A3CE51A77B6F}"/>
              </a:ext>
            </a:extLst>
          </p:cNvPr>
          <p:cNvSpPr>
            <a:spLocks noGrp="1"/>
          </p:cNvSpPr>
          <p:nvPr>
            <p:ph sz="quarter" idx="13"/>
          </p:nvPr>
        </p:nvSpPr>
        <p:spPr/>
        <p:txBody>
          <a:bodyPr/>
          <a:lstStyle/>
          <a:p>
            <a:pPr marL="432" indent="0">
              <a:buNone/>
            </a:pPr>
            <a:r>
              <a:rPr lang="en-IN" dirty="0"/>
              <a:t>The following statement splits the string into an array of strings delimited by some punctuation marks.</a:t>
            </a:r>
          </a:p>
          <a:p>
            <a:pPr marL="432" indent="0">
              <a:buNone/>
            </a:pPr>
            <a:r>
              <a:rPr lang="en-IN" dirty="0"/>
              <a:t>String[] tokens = "Java,C?C#,C++".split("[.,:;?]");</a:t>
            </a:r>
          </a:p>
          <a:p>
            <a:pPr marL="432" indent="0">
              <a:buNone/>
            </a:pPr>
            <a:r>
              <a:rPr lang="en-IN" dirty="0"/>
              <a:t>for (int i = 0; i &lt; tokens.length; i++)</a:t>
            </a:r>
          </a:p>
          <a:p>
            <a:pPr marL="432" indent="0">
              <a:buNone/>
            </a:pPr>
            <a:r>
              <a:rPr lang="en-IN" dirty="0"/>
              <a:t>System.out.println(tokens[i]);</a:t>
            </a:r>
          </a:p>
        </p:txBody>
      </p:sp>
    </p:spTree>
    <p:extLst>
      <p:ext uri="{BB962C8B-B14F-4D97-AF65-F5344CB8AC3E}">
        <p14:creationId xmlns:p14="http://schemas.microsoft.com/office/powerpoint/2010/main" val="335498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65EC-DEEA-4E37-8856-1D1371253D90}"/>
              </a:ext>
            </a:extLst>
          </p:cNvPr>
          <p:cNvSpPr>
            <a:spLocks noGrp="1"/>
          </p:cNvSpPr>
          <p:nvPr>
            <p:ph type="title"/>
          </p:nvPr>
        </p:nvSpPr>
        <p:spPr/>
        <p:txBody>
          <a:bodyPr/>
          <a:lstStyle/>
          <a:p>
            <a:r>
              <a:rPr lang="en-IN" dirty="0">
                <a:latin typeface="Courier New" panose="02070309020205020404" pitchFamily="49" charset="0"/>
                <a:cs typeface="Courier New" panose="02070309020205020404" pitchFamily="49" charset="0"/>
              </a:rPr>
              <a:t>StringBuilder</a:t>
            </a:r>
          </a:p>
        </p:txBody>
      </p:sp>
      <p:sp>
        <p:nvSpPr>
          <p:cNvPr id="3" name="Content Placeholder 2">
            <a:extLst>
              <a:ext uri="{FF2B5EF4-FFF2-40B4-BE49-F238E27FC236}">
                <a16:creationId xmlns:a16="http://schemas.microsoft.com/office/drawing/2014/main" id="{24CBFE82-E718-456E-BB91-09D60A8F4856}"/>
              </a:ext>
            </a:extLst>
          </p:cNvPr>
          <p:cNvSpPr>
            <a:spLocks noGrp="1"/>
          </p:cNvSpPr>
          <p:nvPr>
            <p:ph sz="quarter" idx="13"/>
          </p:nvPr>
        </p:nvSpPr>
        <p:spPr>
          <a:xfrm>
            <a:off x="457200" y="1554920"/>
            <a:ext cx="8321040" cy="4663335"/>
          </a:xfrm>
        </p:spPr>
        <p:txBody>
          <a:bodyPr/>
          <a:lstStyle/>
          <a:p>
            <a:pPr marL="432" indent="0">
              <a:buNone/>
            </a:pPr>
            <a:r>
              <a:rPr lang="en-IN" dirty="0"/>
              <a:t>The </a:t>
            </a:r>
            <a:r>
              <a:rPr lang="en-IN" dirty="0">
                <a:latin typeface="Courier New" panose="02070309020205020404" pitchFamily="49" charset="0"/>
                <a:cs typeface="Courier New" panose="02070309020205020404" pitchFamily="49" charset="0"/>
              </a:rPr>
              <a:t>StringBuilder </a:t>
            </a:r>
            <a:r>
              <a:rPr lang="en-IN" dirty="0"/>
              <a:t>class is an alternative to the </a:t>
            </a:r>
            <a:r>
              <a:rPr lang="en-IN" dirty="0">
                <a:latin typeface="Courier New" panose="02070309020205020404" pitchFamily="49" charset="0"/>
                <a:cs typeface="Courier New" panose="02070309020205020404" pitchFamily="49" charset="0"/>
              </a:rPr>
              <a:t>String</a:t>
            </a:r>
            <a:r>
              <a:rPr lang="en-IN" dirty="0"/>
              <a:t> class. In general, a StringBuilder can be used wherever a string is used. StringBuilder is more flexible than String. You can add, insert, or append new contents into a string buffer, whereas the value of a String object is fixed once the string is created.</a:t>
            </a:r>
          </a:p>
        </p:txBody>
      </p:sp>
    </p:spTree>
    <p:extLst>
      <p:ext uri="{BB962C8B-B14F-4D97-AF65-F5344CB8AC3E}">
        <p14:creationId xmlns:p14="http://schemas.microsoft.com/office/powerpoint/2010/main" val="215590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C9C4B-E733-4D71-B97D-1CB113EC655C}"/>
              </a:ext>
            </a:extLst>
          </p:cNvPr>
          <p:cNvSpPr>
            <a:spLocks noGrp="1"/>
          </p:cNvSpPr>
          <p:nvPr>
            <p:ph type="title"/>
          </p:nvPr>
        </p:nvSpPr>
        <p:spPr/>
        <p:txBody>
          <a:bodyPr/>
          <a:lstStyle/>
          <a:p>
            <a:r>
              <a:rPr lang="en-IN" dirty="0">
                <a:latin typeface="Courier New" panose="02070309020205020404" pitchFamily="49" charset="0"/>
                <a:cs typeface="Courier New" panose="02070309020205020404" pitchFamily="49" charset="0"/>
              </a:rPr>
              <a:t>StringBuilder</a:t>
            </a:r>
            <a:r>
              <a:rPr lang="en-IN" dirty="0"/>
              <a:t> Constructors</a:t>
            </a:r>
          </a:p>
        </p:txBody>
      </p:sp>
      <p:pic>
        <p:nvPicPr>
          <p:cNvPr id="4" name="Content Placeholder 3" descr="Three rows of codes and descriptions for java.lang.StringBuilder as follows. For long description in Notes pane, press F6.">
            <a:extLst>
              <a:ext uri="{FF2B5EF4-FFF2-40B4-BE49-F238E27FC236}">
                <a16:creationId xmlns:a16="http://schemas.microsoft.com/office/drawing/2014/main" id="{468DF509-08BD-4BCF-BC99-F30703435F4D}"/>
              </a:ext>
            </a:extLst>
          </p:cNvPr>
          <p:cNvPicPr>
            <a:picLocks noGrp="1" noChangeAspect="1"/>
          </p:cNvPicPr>
          <p:nvPr>
            <p:ph sz="quarter" idx="13"/>
          </p:nvPr>
        </p:nvPicPr>
        <p:blipFill>
          <a:blip r:embed="rId3"/>
          <a:stretch>
            <a:fillRect/>
          </a:stretch>
        </p:blipFill>
        <p:spPr>
          <a:xfrm>
            <a:off x="457200" y="1709737"/>
            <a:ext cx="8232775" cy="1963103"/>
          </a:xfrm>
          <a:prstGeom prst="rect">
            <a:avLst/>
          </a:prstGeom>
        </p:spPr>
      </p:pic>
    </p:spTree>
    <p:extLst>
      <p:ext uri="{BB962C8B-B14F-4D97-AF65-F5344CB8AC3E}">
        <p14:creationId xmlns:p14="http://schemas.microsoft.com/office/powerpoint/2010/main" val="2000019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B62AD-B844-4F76-B4E0-92244F774CD8}"/>
              </a:ext>
            </a:extLst>
          </p:cNvPr>
          <p:cNvSpPr>
            <a:spLocks noGrp="1"/>
          </p:cNvSpPr>
          <p:nvPr>
            <p:ph type="title"/>
          </p:nvPr>
        </p:nvSpPr>
        <p:spPr/>
        <p:txBody>
          <a:bodyPr/>
          <a:lstStyle/>
          <a:p>
            <a:r>
              <a:rPr lang="en-IN" dirty="0"/>
              <a:t>Modifying Strings in the Builder</a:t>
            </a:r>
          </a:p>
        </p:txBody>
      </p:sp>
      <p:pic>
        <p:nvPicPr>
          <p:cNvPr id="8" name="Content Placeholder 7" descr="Thirteen rows of codes and descriptions for java.lang.StringBuilder as follows. For long description in Notes pane, press F6.">
            <a:extLst>
              <a:ext uri="{FF2B5EF4-FFF2-40B4-BE49-F238E27FC236}">
                <a16:creationId xmlns:a16="http://schemas.microsoft.com/office/drawing/2014/main" id="{E6811F7B-DF4D-4DAC-9968-015A38EB289B}"/>
              </a:ext>
            </a:extLst>
          </p:cNvPr>
          <p:cNvPicPr>
            <a:picLocks noGrp="1" noChangeAspect="1"/>
          </p:cNvPicPr>
          <p:nvPr>
            <p:ph sz="quarter" idx="13"/>
          </p:nvPr>
        </p:nvPicPr>
        <p:blipFill rotWithShape="1">
          <a:blip r:embed="rId3"/>
          <a:srcRect b="7849"/>
          <a:stretch/>
        </p:blipFill>
        <p:spPr>
          <a:xfrm>
            <a:off x="1364474" y="1574224"/>
            <a:ext cx="6415052" cy="4654114"/>
          </a:xfrm>
        </p:spPr>
      </p:pic>
    </p:spTree>
    <p:extLst>
      <p:ext uri="{BB962C8B-B14F-4D97-AF65-F5344CB8AC3E}">
        <p14:creationId xmlns:p14="http://schemas.microsoft.com/office/powerpoint/2010/main" val="1994522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AEA41-9686-4C62-9801-312C6B274629}"/>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7D64DFE8-A76B-43A7-AE1F-CC9D33CE6D28}"/>
              </a:ext>
            </a:extLst>
          </p:cNvPr>
          <p:cNvSpPr>
            <a:spLocks noGrp="1"/>
          </p:cNvSpPr>
          <p:nvPr>
            <p:ph sz="quarter" idx="13"/>
          </p:nvPr>
        </p:nvSpPr>
        <p:spPr/>
        <p:txBody>
          <a:bodyPr/>
          <a:lstStyle/>
          <a:p>
            <a:pPr marL="432" indent="0">
              <a:buNone/>
            </a:pPr>
            <a:r>
              <a:rPr lang="en-US" sz="1800" dirty="0">
                <a:solidFill>
                  <a:srgbClr val="000000"/>
                </a:solidFill>
                <a:latin typeface="Courier New" panose="02070309020205020404" pitchFamily="49" charset="0"/>
              </a:rPr>
              <a:t> 	</a:t>
            </a:r>
            <a:r>
              <a:rPr lang="en-US" sz="1800" dirty="0">
                <a:solidFill>
                  <a:schemeClr val="tx1"/>
                </a:solidFill>
                <a:latin typeface="Courier New" panose="02070309020205020404" pitchFamily="49" charset="0"/>
              </a:rPr>
              <a:t>StringBuilder s = new StringBuilder();</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s.append</a:t>
            </a:r>
            <a:r>
              <a:rPr lang="en-US" sz="1800" dirty="0">
                <a:solidFill>
                  <a:schemeClr val="tx1"/>
                </a:solidFill>
                <a:latin typeface="Courier New" panose="02070309020205020404" pitchFamily="49" charset="0"/>
              </a:rPr>
              <a:t>("Welcome to Java");</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System.out.println</a:t>
            </a:r>
            <a:r>
              <a:rPr lang="en-US" sz="1800" dirty="0">
                <a:solidFill>
                  <a:schemeClr val="tx1"/>
                </a:solidFill>
                <a:latin typeface="Courier New" panose="02070309020205020404" pitchFamily="49" charset="0"/>
              </a:rPr>
              <a:t>(</a:t>
            </a:r>
            <a:r>
              <a:rPr lang="en-US" sz="1800" dirty="0" err="1">
                <a:solidFill>
                  <a:schemeClr val="tx1"/>
                </a:solidFill>
                <a:latin typeface="Courier New" panose="02070309020205020404" pitchFamily="49" charset="0"/>
              </a:rPr>
              <a:t>s.toString</a:t>
            </a:r>
            <a:r>
              <a:rPr lang="en-US" sz="1800" dirty="0">
                <a:solidFill>
                  <a:schemeClr val="tx1"/>
                </a:solidFill>
                <a:latin typeface="Courier New" panose="02070309020205020404" pitchFamily="49" charset="0"/>
              </a:rPr>
              <a:t>());</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s.insert</a:t>
            </a:r>
            <a:r>
              <a:rPr lang="en-US" sz="1800" dirty="0">
                <a:solidFill>
                  <a:schemeClr val="tx1"/>
                </a:solidFill>
                <a:latin typeface="Courier New" panose="02070309020205020404" pitchFamily="49" charset="0"/>
              </a:rPr>
              <a:t>(11,"C++ and ");</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System.out.println</a:t>
            </a:r>
            <a:r>
              <a:rPr lang="en-US" sz="1800" dirty="0">
                <a:solidFill>
                  <a:schemeClr val="tx1"/>
                </a:solidFill>
                <a:latin typeface="Courier New" panose="02070309020205020404" pitchFamily="49" charset="0"/>
              </a:rPr>
              <a:t>(</a:t>
            </a:r>
            <a:r>
              <a:rPr lang="en-US" sz="1800" dirty="0" err="1">
                <a:solidFill>
                  <a:schemeClr val="tx1"/>
                </a:solidFill>
                <a:latin typeface="Courier New" panose="02070309020205020404" pitchFamily="49" charset="0"/>
              </a:rPr>
              <a:t>s.toString</a:t>
            </a:r>
            <a:r>
              <a:rPr lang="en-US" sz="1800" dirty="0">
                <a:solidFill>
                  <a:schemeClr val="tx1"/>
                </a:solidFill>
                <a:latin typeface="Courier New" panose="02070309020205020404" pitchFamily="49" charset="0"/>
              </a:rPr>
              <a:t>());</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s.deleteCharAt</a:t>
            </a:r>
            <a:r>
              <a:rPr lang="en-US" sz="1800" dirty="0">
                <a:solidFill>
                  <a:schemeClr val="tx1"/>
                </a:solidFill>
                <a:latin typeface="Courier New" panose="02070309020205020404" pitchFamily="49" charset="0"/>
              </a:rPr>
              <a:t>(1);</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System.out.println</a:t>
            </a:r>
            <a:r>
              <a:rPr lang="en-US" sz="1800" dirty="0">
                <a:solidFill>
                  <a:schemeClr val="tx1"/>
                </a:solidFill>
                <a:latin typeface="Courier New" panose="02070309020205020404" pitchFamily="49" charset="0"/>
              </a:rPr>
              <a:t>(</a:t>
            </a:r>
            <a:r>
              <a:rPr lang="en-US" sz="1800" dirty="0" err="1">
                <a:solidFill>
                  <a:schemeClr val="tx1"/>
                </a:solidFill>
                <a:latin typeface="Courier New" panose="02070309020205020404" pitchFamily="49" charset="0"/>
              </a:rPr>
              <a:t>s.toString</a:t>
            </a:r>
            <a:r>
              <a:rPr lang="en-US" sz="1800" dirty="0">
                <a:solidFill>
                  <a:schemeClr val="tx1"/>
                </a:solidFill>
                <a:latin typeface="Courier New" panose="02070309020205020404" pitchFamily="49" charset="0"/>
              </a:rPr>
              <a:t>());</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s.insert</a:t>
            </a:r>
            <a:r>
              <a:rPr lang="en-US" sz="1800" dirty="0">
                <a:solidFill>
                  <a:schemeClr val="tx1"/>
                </a:solidFill>
                <a:latin typeface="Courier New" panose="02070309020205020404" pitchFamily="49" charset="0"/>
              </a:rPr>
              <a:t>(1,"e");</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System.out.println</a:t>
            </a:r>
            <a:r>
              <a:rPr lang="en-US" sz="1800" dirty="0">
                <a:solidFill>
                  <a:schemeClr val="tx1"/>
                </a:solidFill>
                <a:latin typeface="Courier New" panose="02070309020205020404" pitchFamily="49" charset="0"/>
              </a:rPr>
              <a:t>(</a:t>
            </a:r>
            <a:r>
              <a:rPr lang="en-US" sz="1800" dirty="0" err="1">
                <a:solidFill>
                  <a:schemeClr val="tx1"/>
                </a:solidFill>
                <a:latin typeface="Courier New" panose="02070309020205020404" pitchFamily="49" charset="0"/>
              </a:rPr>
              <a:t>s.toString</a:t>
            </a:r>
            <a:r>
              <a:rPr lang="en-US" sz="1800" dirty="0">
                <a:solidFill>
                  <a:schemeClr val="tx1"/>
                </a:solidFill>
                <a:latin typeface="Courier New" panose="02070309020205020404" pitchFamily="49" charset="0"/>
              </a:rPr>
              <a:t>());</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s.replace</a:t>
            </a:r>
            <a:r>
              <a:rPr lang="en-US" sz="1800" dirty="0">
                <a:solidFill>
                  <a:schemeClr val="tx1"/>
                </a:solidFill>
                <a:latin typeface="Courier New" panose="02070309020205020404" pitchFamily="49" charset="0"/>
              </a:rPr>
              <a:t>(11,14,"CPP");</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System.out.println</a:t>
            </a:r>
            <a:r>
              <a:rPr lang="en-US" sz="1800" dirty="0">
                <a:solidFill>
                  <a:schemeClr val="tx1"/>
                </a:solidFill>
                <a:latin typeface="Courier New" panose="02070309020205020404" pitchFamily="49" charset="0"/>
              </a:rPr>
              <a:t>(</a:t>
            </a:r>
            <a:r>
              <a:rPr lang="en-US" sz="1800" dirty="0" err="1">
                <a:solidFill>
                  <a:schemeClr val="tx1"/>
                </a:solidFill>
                <a:latin typeface="Courier New" panose="02070309020205020404" pitchFamily="49" charset="0"/>
              </a:rPr>
              <a:t>s.toString</a:t>
            </a:r>
            <a:r>
              <a:rPr lang="en-US" sz="1800" dirty="0">
                <a:solidFill>
                  <a:schemeClr val="tx1"/>
                </a:solidFill>
                <a:latin typeface="Courier New" panose="02070309020205020404" pitchFamily="49" charset="0"/>
              </a:rPr>
              <a:t>());</a:t>
            </a:r>
            <a:br>
              <a:rPr lang="en-US" sz="1800" dirty="0">
                <a:solidFill>
                  <a:schemeClr val="tx1"/>
                </a:solidFill>
                <a:latin typeface="Courier New" panose="02070309020205020404" pitchFamily="49" charset="0"/>
              </a:rPr>
            </a:br>
            <a:r>
              <a:rPr lang="en-US" sz="1800" dirty="0">
                <a:solidFill>
                  <a:schemeClr val="tx1"/>
                </a:solidFill>
                <a:latin typeface="Courier New" panose="02070309020205020404" pitchFamily="49" charset="0"/>
              </a:rPr>
              <a:t>      	</a:t>
            </a:r>
            <a:r>
              <a:rPr lang="en-US" sz="1800" dirty="0" err="1">
                <a:solidFill>
                  <a:schemeClr val="tx1"/>
                </a:solidFill>
                <a:latin typeface="Courier New" panose="02070309020205020404" pitchFamily="49" charset="0"/>
              </a:rPr>
              <a:t>System.out.println</a:t>
            </a:r>
            <a:r>
              <a:rPr lang="en-US" sz="1800" dirty="0">
                <a:solidFill>
                  <a:schemeClr val="tx1"/>
                </a:solidFill>
                <a:latin typeface="Courier New" panose="02070309020205020404" pitchFamily="49" charset="0"/>
              </a:rPr>
              <a:t>(</a:t>
            </a:r>
            <a:r>
              <a:rPr lang="en-US" sz="1800" dirty="0" err="1">
                <a:solidFill>
                  <a:schemeClr val="tx1"/>
                </a:solidFill>
                <a:latin typeface="Courier New" panose="02070309020205020404" pitchFamily="49" charset="0"/>
              </a:rPr>
              <a:t>s.reverse</a:t>
            </a:r>
            <a:r>
              <a:rPr lang="en-US" sz="1800" dirty="0">
                <a:solidFill>
                  <a:schemeClr val="tx1"/>
                </a:solidFill>
                <a:latin typeface="Courier New" panose="02070309020205020404" pitchFamily="49" charset="0"/>
              </a:rPr>
              <a:t>());</a:t>
            </a:r>
            <a:br>
              <a:rPr lang="en-US" sz="1800" dirty="0">
                <a:solidFill>
                  <a:schemeClr val="tx1"/>
                </a:solidFill>
                <a:latin typeface="Courier New" panose="02070309020205020404" pitchFamily="49" charset="0"/>
              </a:rPr>
            </a:br>
            <a:endParaRPr lang="en-US" dirty="0">
              <a:solidFill>
                <a:schemeClr val="tx1"/>
              </a:solidFill>
            </a:endParaRPr>
          </a:p>
        </p:txBody>
      </p:sp>
    </p:spTree>
    <p:extLst>
      <p:ext uri="{BB962C8B-B14F-4D97-AF65-F5344CB8AC3E}">
        <p14:creationId xmlns:p14="http://schemas.microsoft.com/office/powerpoint/2010/main" val="719377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9C049-AF35-4E02-A027-2B7F8518A1C3}"/>
              </a:ext>
            </a:extLst>
          </p:cNvPr>
          <p:cNvSpPr>
            <a:spLocks noGrp="1"/>
          </p:cNvSpPr>
          <p:nvPr>
            <p:ph type="title"/>
          </p:nvPr>
        </p:nvSpPr>
        <p:spPr/>
        <p:txBody>
          <a:bodyPr/>
          <a:lstStyle/>
          <a:p>
            <a:r>
              <a:rPr lang="en-IN" sz="3200" dirty="0"/>
              <a:t>The </a:t>
            </a:r>
            <a:r>
              <a:rPr lang="en-IN" sz="3200" u="sng" dirty="0"/>
              <a:t>toString</a:t>
            </a:r>
            <a:r>
              <a:rPr lang="en-IN" sz="3200" dirty="0"/>
              <a:t>, </a:t>
            </a:r>
            <a:r>
              <a:rPr lang="en-IN" sz="3200" u="sng" dirty="0"/>
              <a:t>capacity</a:t>
            </a:r>
            <a:r>
              <a:rPr lang="en-IN" sz="3200" dirty="0"/>
              <a:t>, </a:t>
            </a:r>
            <a:r>
              <a:rPr lang="en-IN" sz="3200" u="sng" dirty="0"/>
              <a:t>length</a:t>
            </a:r>
            <a:r>
              <a:rPr lang="en-IN" sz="3200" dirty="0"/>
              <a:t>, </a:t>
            </a:r>
            <a:r>
              <a:rPr lang="en-IN" sz="3200" u="sng" dirty="0" err="1"/>
              <a:t>setLength</a:t>
            </a:r>
            <a:r>
              <a:rPr lang="en-IN" sz="3200" dirty="0"/>
              <a:t>, and </a:t>
            </a:r>
            <a:r>
              <a:rPr lang="en-IN" sz="3200" u="sng" dirty="0"/>
              <a:t>charAt</a:t>
            </a:r>
            <a:r>
              <a:rPr lang="en-IN" sz="3200" dirty="0"/>
              <a:t> Methods</a:t>
            </a:r>
          </a:p>
        </p:txBody>
      </p:sp>
      <p:pic>
        <p:nvPicPr>
          <p:cNvPr id="4" name="Content Placeholder 3" descr="Eight rows of codes and descriptions for java.lang.StringBuilder as follows. For long description in Notes pane, press F6.">
            <a:extLst>
              <a:ext uri="{FF2B5EF4-FFF2-40B4-BE49-F238E27FC236}">
                <a16:creationId xmlns:a16="http://schemas.microsoft.com/office/drawing/2014/main" id="{7CF1258F-2730-4C42-9946-80F437C633EF}"/>
              </a:ext>
            </a:extLst>
          </p:cNvPr>
          <p:cNvPicPr>
            <a:picLocks noGrp="1" noChangeAspect="1"/>
          </p:cNvPicPr>
          <p:nvPr>
            <p:ph sz="quarter" idx="13"/>
          </p:nvPr>
        </p:nvPicPr>
        <p:blipFill>
          <a:blip r:embed="rId3"/>
          <a:stretch>
            <a:fillRect/>
          </a:stretch>
        </p:blipFill>
        <p:spPr>
          <a:xfrm>
            <a:off x="454025" y="1625829"/>
            <a:ext cx="8232775" cy="3362503"/>
          </a:xfrm>
          <a:prstGeom prst="rect">
            <a:avLst/>
          </a:prstGeom>
        </p:spPr>
      </p:pic>
    </p:spTree>
    <p:extLst>
      <p:ext uri="{BB962C8B-B14F-4D97-AF65-F5344CB8AC3E}">
        <p14:creationId xmlns:p14="http://schemas.microsoft.com/office/powerpoint/2010/main" val="3857137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161DE-3EB8-4C3F-ABD8-AA43676A3FB8}"/>
              </a:ext>
            </a:extLst>
          </p:cNvPr>
          <p:cNvSpPr>
            <a:spLocks noGrp="1"/>
          </p:cNvSpPr>
          <p:nvPr>
            <p:ph type="title"/>
          </p:nvPr>
        </p:nvSpPr>
        <p:spPr/>
        <p:txBody>
          <a:bodyPr/>
          <a:lstStyle/>
          <a:p>
            <a:r>
              <a:rPr lang="en-IN" sz="3200" dirty="0"/>
              <a:t>Problem: Checking Palindromes Ignoring Non-alphanumeric Characters</a:t>
            </a:r>
          </a:p>
        </p:txBody>
      </p:sp>
      <p:sp>
        <p:nvSpPr>
          <p:cNvPr id="4" name="Content Placeholder 3">
            <a:extLst>
              <a:ext uri="{FF2B5EF4-FFF2-40B4-BE49-F238E27FC236}">
                <a16:creationId xmlns:a16="http://schemas.microsoft.com/office/drawing/2014/main" id="{BCBBD2AC-8D26-490A-A523-4DF7CE15BA88}"/>
              </a:ext>
            </a:extLst>
          </p:cNvPr>
          <p:cNvSpPr>
            <a:spLocks noGrp="1"/>
          </p:cNvSpPr>
          <p:nvPr>
            <p:ph sz="quarter" idx="13"/>
          </p:nvPr>
        </p:nvSpPr>
        <p:spPr>
          <a:xfrm>
            <a:off x="457200" y="1552575"/>
            <a:ext cx="8229600" cy="1358265"/>
          </a:xfrm>
        </p:spPr>
        <p:txBody>
          <a:bodyPr/>
          <a:lstStyle/>
          <a:p>
            <a:pPr marL="432" indent="0">
              <a:buNone/>
            </a:pPr>
            <a:r>
              <a:rPr lang="en-IN" dirty="0"/>
              <a:t>This example gives a program that counts the number of occurrence of each letter in a string. Assume the letters are not case-sensitive.</a:t>
            </a:r>
          </a:p>
        </p:txBody>
      </p:sp>
      <p:sp>
        <p:nvSpPr>
          <p:cNvPr id="10" name="Text Placeholder 9">
            <a:extLst>
              <a:ext uri="{FF2B5EF4-FFF2-40B4-BE49-F238E27FC236}">
                <a16:creationId xmlns:a16="http://schemas.microsoft.com/office/drawing/2014/main" id="{8F484094-5968-4203-A229-BD6B057CAC71}"/>
              </a:ext>
            </a:extLst>
          </p:cNvPr>
          <p:cNvSpPr>
            <a:spLocks noGrp="1"/>
          </p:cNvSpPr>
          <p:nvPr>
            <p:ph type="body" sz="quarter" idx="20"/>
          </p:nvPr>
        </p:nvSpPr>
        <p:spPr>
          <a:xfrm>
            <a:off x="3566160" y="5651596"/>
            <a:ext cx="5151120" cy="543435"/>
          </a:xfrm>
        </p:spPr>
        <p:txBody>
          <a:bodyPr/>
          <a:lstStyle/>
          <a:p>
            <a:pPr marL="432" indent="0" algn="ctr">
              <a:buNone/>
            </a:pPr>
            <a:r>
              <a:rPr lang="en-IN" dirty="0">
                <a:hlinkClick r:id="rId3" tooltip="https://liveexample.pearsoncmg.com/html/PalindromeIgnoreNonAlphanumeric.html"/>
              </a:rPr>
              <a:t>PalindromeIgnoreNonAlphanumeric</a:t>
            </a:r>
            <a:endParaRPr lang="en-IN" dirty="0">
              <a:hlinkClick r:id="rId3"/>
            </a:endParaRPr>
          </a:p>
        </p:txBody>
      </p:sp>
    </p:spTree>
    <p:extLst>
      <p:ext uri="{BB962C8B-B14F-4D97-AF65-F5344CB8AC3E}">
        <p14:creationId xmlns:p14="http://schemas.microsoft.com/office/powerpoint/2010/main" val="1119006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3382F-4DAD-44F3-90B9-D69734B9D3D4}"/>
              </a:ext>
            </a:extLst>
          </p:cNvPr>
          <p:cNvSpPr>
            <a:spLocks noGrp="1"/>
          </p:cNvSpPr>
          <p:nvPr>
            <p:ph type="title"/>
          </p:nvPr>
        </p:nvSpPr>
        <p:spPr/>
        <p:txBody>
          <a:bodyPr/>
          <a:lstStyle/>
          <a:p>
            <a:r>
              <a:rPr lang="en-IN" dirty="0"/>
              <a:t>Regular Expressions</a:t>
            </a:r>
          </a:p>
        </p:txBody>
      </p:sp>
      <p:sp>
        <p:nvSpPr>
          <p:cNvPr id="3" name="Content Placeholder 2">
            <a:extLst>
              <a:ext uri="{FF2B5EF4-FFF2-40B4-BE49-F238E27FC236}">
                <a16:creationId xmlns:a16="http://schemas.microsoft.com/office/drawing/2014/main" id="{ED5DF7D8-B214-4464-84E1-A61882783394}"/>
              </a:ext>
            </a:extLst>
          </p:cNvPr>
          <p:cNvSpPr>
            <a:spLocks noGrp="1"/>
          </p:cNvSpPr>
          <p:nvPr>
            <p:ph sz="quarter" idx="13"/>
          </p:nvPr>
        </p:nvSpPr>
        <p:spPr/>
        <p:txBody>
          <a:bodyPr/>
          <a:lstStyle/>
          <a:p>
            <a:pPr marL="432" indent="0">
              <a:buNone/>
            </a:pPr>
            <a:r>
              <a:rPr lang="en-IN" dirty="0"/>
              <a:t>A </a:t>
            </a:r>
            <a:r>
              <a:rPr lang="en-IN" b="1" dirty="0"/>
              <a:t>regular expression </a:t>
            </a:r>
            <a:r>
              <a:rPr lang="en-IN" dirty="0"/>
              <a:t>(abbreviated </a:t>
            </a:r>
            <a:r>
              <a:rPr lang="en-IN" b="1" dirty="0"/>
              <a:t>regex</a:t>
            </a:r>
            <a:r>
              <a:rPr lang="en-IN" dirty="0"/>
              <a:t>) is a string that describes a pattern for matching a set of strings. Regular expression is a powerful tool for string manipulations. You can use regular expressions for matching, replacing, and splitting strings.</a:t>
            </a:r>
          </a:p>
        </p:txBody>
      </p:sp>
    </p:spTree>
    <p:extLst>
      <p:ext uri="{BB962C8B-B14F-4D97-AF65-F5344CB8AC3E}">
        <p14:creationId xmlns:p14="http://schemas.microsoft.com/office/powerpoint/2010/main" val="2072343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C785D-90DC-42C6-A483-3006B5E6172D}"/>
              </a:ext>
            </a:extLst>
          </p:cNvPr>
          <p:cNvSpPr>
            <a:spLocks noGrp="1"/>
          </p:cNvSpPr>
          <p:nvPr>
            <p:ph type="title"/>
          </p:nvPr>
        </p:nvSpPr>
        <p:spPr/>
        <p:txBody>
          <a:bodyPr/>
          <a:lstStyle/>
          <a:p>
            <a:r>
              <a:rPr lang="en-IN" dirty="0"/>
              <a:t>Matching Strings</a:t>
            </a:r>
          </a:p>
        </p:txBody>
      </p:sp>
      <p:sp>
        <p:nvSpPr>
          <p:cNvPr id="4" name="Content Placeholder 3">
            <a:extLst>
              <a:ext uri="{FF2B5EF4-FFF2-40B4-BE49-F238E27FC236}">
                <a16:creationId xmlns:a16="http://schemas.microsoft.com/office/drawing/2014/main" id="{EEC2861C-E8F7-41D5-B7FD-7E31E896AA55}"/>
              </a:ext>
            </a:extLst>
          </p:cNvPr>
          <p:cNvSpPr>
            <a:spLocks noGrp="1"/>
          </p:cNvSpPr>
          <p:nvPr>
            <p:ph sz="quarter" idx="13"/>
          </p:nvPr>
        </p:nvSpPr>
        <p:spPr>
          <a:xfrm>
            <a:off x="457200" y="1556327"/>
            <a:ext cx="8229600" cy="1097279"/>
          </a:xfrm>
        </p:spPr>
        <p:txBody>
          <a:bodyPr/>
          <a:lstStyle/>
          <a:p>
            <a:pPr marL="432" indent="0">
              <a:buNone/>
            </a:pPr>
            <a:r>
              <a:rPr lang="en-IN" dirty="0"/>
              <a:t>"Java".matches("Java");</a:t>
            </a:r>
          </a:p>
          <a:p>
            <a:pPr marL="432" indent="0">
              <a:buNone/>
            </a:pPr>
            <a:r>
              <a:rPr lang="en-IN" dirty="0"/>
              <a:t>"Java".equals("Java");</a:t>
            </a:r>
          </a:p>
        </p:txBody>
      </p:sp>
      <p:sp>
        <p:nvSpPr>
          <p:cNvPr id="5" name="Content Placeholder 4">
            <a:extLst>
              <a:ext uri="{FF2B5EF4-FFF2-40B4-BE49-F238E27FC236}">
                <a16:creationId xmlns:a16="http://schemas.microsoft.com/office/drawing/2014/main" id="{2A4844E5-6F9A-4495-863A-5CE5402EA7A5}"/>
              </a:ext>
            </a:extLst>
          </p:cNvPr>
          <p:cNvSpPr>
            <a:spLocks noGrp="1"/>
          </p:cNvSpPr>
          <p:nvPr>
            <p:ph sz="quarter" idx="14"/>
          </p:nvPr>
        </p:nvSpPr>
        <p:spPr>
          <a:xfrm>
            <a:off x="457200" y="2773681"/>
            <a:ext cx="8229600" cy="3303270"/>
          </a:xfrm>
        </p:spPr>
        <p:txBody>
          <a:bodyPr/>
          <a:lstStyle/>
          <a:p>
            <a:pPr marL="432" indent="0">
              <a:buNone/>
            </a:pPr>
            <a:r>
              <a:rPr lang="en-IN" dirty="0"/>
              <a:t>"Java is </a:t>
            </a:r>
            <a:r>
              <a:rPr lang="en-IN" dirty="0" err="1"/>
              <a:t>fun".matches</a:t>
            </a:r>
            <a:r>
              <a:rPr lang="en-IN" dirty="0"/>
              <a:t>("Java.*")</a:t>
            </a:r>
          </a:p>
          <a:p>
            <a:pPr marL="432" indent="0">
              <a:buNone/>
            </a:pPr>
            <a:r>
              <a:rPr lang="en-IN" dirty="0"/>
              <a:t>"Java is </a:t>
            </a:r>
            <a:r>
              <a:rPr lang="en-IN" dirty="0" err="1"/>
              <a:t>cool".matches</a:t>
            </a:r>
            <a:r>
              <a:rPr lang="en-IN" dirty="0"/>
              <a:t>("Java.*")</a:t>
            </a:r>
          </a:p>
          <a:p>
            <a:pPr marL="432" indent="0">
              <a:buNone/>
            </a:pPr>
            <a:r>
              <a:rPr lang="en-IN" dirty="0"/>
              <a:t>"Java is </a:t>
            </a:r>
            <a:r>
              <a:rPr lang="en-IN" dirty="0" err="1"/>
              <a:t>powerful".matches</a:t>
            </a:r>
            <a:r>
              <a:rPr lang="en-IN" dirty="0"/>
              <a:t>("Java.*")</a:t>
            </a:r>
          </a:p>
        </p:txBody>
      </p:sp>
    </p:spTree>
    <p:extLst>
      <p:ext uri="{BB962C8B-B14F-4D97-AF65-F5344CB8AC3E}">
        <p14:creationId xmlns:p14="http://schemas.microsoft.com/office/powerpoint/2010/main" val="3961934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44B1-5C51-4A00-820A-94867ACC6327}"/>
              </a:ext>
            </a:extLst>
          </p:cNvPr>
          <p:cNvSpPr>
            <a:spLocks noGrp="1"/>
          </p:cNvSpPr>
          <p:nvPr>
            <p:ph type="title"/>
          </p:nvPr>
        </p:nvSpPr>
        <p:spPr/>
        <p:txBody>
          <a:bodyPr/>
          <a:lstStyle/>
          <a:p>
            <a:r>
              <a:rPr lang="en-IN" dirty="0"/>
              <a:t>Regular Expression Syntax</a:t>
            </a:r>
          </a:p>
        </p:txBody>
      </p:sp>
      <p:pic>
        <p:nvPicPr>
          <p:cNvPr id="4" name="Content Placeholder 3" descr="A table with column heading from left to right as regular expression, matches, and example. For long description in Notes pane, press F6.">
            <a:extLst>
              <a:ext uri="{FF2B5EF4-FFF2-40B4-BE49-F238E27FC236}">
                <a16:creationId xmlns:a16="http://schemas.microsoft.com/office/drawing/2014/main" id="{08F8B9C7-578C-4C34-A1BF-C88702E630C9}"/>
              </a:ext>
            </a:extLst>
          </p:cNvPr>
          <p:cNvPicPr>
            <a:picLocks noGrp="1" noChangeAspect="1"/>
          </p:cNvPicPr>
          <p:nvPr>
            <p:ph sz="quarter" idx="13"/>
          </p:nvPr>
        </p:nvPicPr>
        <p:blipFill>
          <a:blip r:embed="rId3"/>
          <a:stretch>
            <a:fillRect/>
          </a:stretch>
        </p:blipFill>
        <p:spPr>
          <a:xfrm>
            <a:off x="2617684" y="1498740"/>
            <a:ext cx="3908633" cy="4805401"/>
          </a:xfrm>
          <a:prstGeom prst="rect">
            <a:avLst/>
          </a:prstGeom>
        </p:spPr>
      </p:pic>
    </p:spTree>
    <p:extLst>
      <p:ext uri="{BB962C8B-B14F-4D97-AF65-F5344CB8AC3E}">
        <p14:creationId xmlns:p14="http://schemas.microsoft.com/office/powerpoint/2010/main" val="3964886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60B0-D83A-4BDD-AB54-FA969C4EF952}"/>
              </a:ext>
            </a:extLst>
          </p:cNvPr>
          <p:cNvSpPr>
            <a:spLocks noGrp="1"/>
          </p:cNvSpPr>
          <p:nvPr>
            <p:ph type="title"/>
          </p:nvPr>
        </p:nvSpPr>
        <p:spPr/>
        <p:txBody>
          <a:bodyPr/>
          <a:lstStyle/>
          <a:p>
            <a:r>
              <a:rPr lang="en-IN" dirty="0"/>
              <a:t>Replacing and Splitting Strings </a:t>
            </a:r>
            <a:r>
              <a:rPr lang="en-IN" sz="2000" b="0" dirty="0"/>
              <a:t>(2 of 2)</a:t>
            </a:r>
            <a:endParaRPr lang="en-IN" b="0" dirty="0"/>
          </a:p>
        </p:txBody>
      </p:sp>
      <p:pic>
        <p:nvPicPr>
          <p:cNvPr id="4" name="Content Placeholder 3" descr="Four rows of codes and descriptions for java.lang.String as follows. For long description in Notes pane, press F6.">
            <a:extLst>
              <a:ext uri="{FF2B5EF4-FFF2-40B4-BE49-F238E27FC236}">
                <a16:creationId xmlns:a16="http://schemas.microsoft.com/office/drawing/2014/main" id="{EAB29DFF-60FC-4F25-9D30-9A10BAD7613D}"/>
              </a:ext>
            </a:extLst>
          </p:cNvPr>
          <p:cNvPicPr>
            <a:picLocks noGrp="1" noChangeAspect="1"/>
          </p:cNvPicPr>
          <p:nvPr>
            <p:ph sz="quarter" idx="13"/>
          </p:nvPr>
        </p:nvPicPr>
        <p:blipFill>
          <a:blip r:embed="rId3"/>
          <a:stretch>
            <a:fillRect/>
          </a:stretch>
        </p:blipFill>
        <p:spPr>
          <a:xfrm>
            <a:off x="454025" y="1571730"/>
            <a:ext cx="8232775" cy="2747337"/>
          </a:xfrm>
          <a:prstGeom prst="rect">
            <a:avLst/>
          </a:prstGeom>
        </p:spPr>
      </p:pic>
    </p:spTree>
    <p:extLst>
      <p:ext uri="{BB962C8B-B14F-4D97-AF65-F5344CB8AC3E}">
        <p14:creationId xmlns:p14="http://schemas.microsoft.com/office/powerpoint/2010/main" val="4082195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636E3-40FA-48A6-BD1F-70565D79D8FE}"/>
              </a:ext>
            </a:extLst>
          </p:cNvPr>
          <p:cNvSpPr>
            <a:spLocks noGrp="1"/>
          </p:cNvSpPr>
          <p:nvPr>
            <p:ph type="title"/>
          </p:nvPr>
        </p:nvSpPr>
        <p:spPr/>
        <p:txBody>
          <a:bodyPr/>
          <a:lstStyle/>
          <a:p>
            <a:r>
              <a:rPr lang="en-IN" dirty="0"/>
              <a:t>Examples </a:t>
            </a:r>
            <a:r>
              <a:rPr lang="en-IN" sz="2000" b="0" dirty="0"/>
              <a:t>(4 of 4)</a:t>
            </a:r>
            <a:endParaRPr lang="en-IN" b="0" dirty="0"/>
          </a:p>
        </p:txBody>
      </p:sp>
      <p:sp>
        <p:nvSpPr>
          <p:cNvPr id="3" name="Content Placeholder 2">
            <a:extLst>
              <a:ext uri="{FF2B5EF4-FFF2-40B4-BE49-F238E27FC236}">
                <a16:creationId xmlns:a16="http://schemas.microsoft.com/office/drawing/2014/main" id="{14F8388E-FF1D-4BAC-AEB6-F61788BA5BDA}"/>
              </a:ext>
            </a:extLst>
          </p:cNvPr>
          <p:cNvSpPr>
            <a:spLocks noGrp="1"/>
          </p:cNvSpPr>
          <p:nvPr>
            <p:ph sz="quarter" idx="13"/>
          </p:nvPr>
        </p:nvSpPr>
        <p:spPr/>
        <p:txBody>
          <a:bodyPr>
            <a:normAutofit/>
          </a:bodyPr>
          <a:lstStyle/>
          <a:p>
            <a:pPr marL="432" indent="0">
              <a:buNone/>
            </a:pPr>
            <a:r>
              <a:rPr lang="en-IN" dirty="0"/>
              <a:t>// replace v followed by any word char. With “</a:t>
            </a:r>
            <a:r>
              <a:rPr lang="en-IN" dirty="0" err="1"/>
              <a:t>wi</a:t>
            </a:r>
            <a:r>
              <a:rPr lang="en-IN" dirty="0"/>
              <a:t>”</a:t>
            </a:r>
          </a:p>
          <a:p>
            <a:pPr marL="432" indent="0">
              <a:buNone/>
            </a:pPr>
            <a:r>
              <a:rPr lang="en-IN" dirty="0"/>
              <a:t>String s = "Java </a:t>
            </a:r>
            <a:r>
              <a:rPr lang="en-IN" dirty="0" err="1"/>
              <a:t>Java</a:t>
            </a:r>
            <a:r>
              <a:rPr lang="en-IN" dirty="0"/>
              <a:t> Java".</a:t>
            </a:r>
            <a:r>
              <a:rPr lang="en-IN" dirty="0" err="1"/>
              <a:t>replaceAll</a:t>
            </a:r>
            <a:r>
              <a:rPr lang="en-IN" dirty="0"/>
              <a:t>("v\\w", "</a:t>
            </a:r>
            <a:r>
              <a:rPr lang="en-IN" dirty="0" err="1"/>
              <a:t>wi</a:t>
            </a:r>
            <a:r>
              <a:rPr lang="en-IN" dirty="0"/>
              <a:t>") ;</a:t>
            </a:r>
          </a:p>
          <a:p>
            <a:pPr marL="432" indent="0">
              <a:buNone/>
            </a:pPr>
            <a:r>
              <a:rPr lang="en-IN" dirty="0"/>
              <a:t>S </a:t>
            </a:r>
            <a:r>
              <a:rPr lang="en-IN" dirty="0">
                <a:sym typeface="Wingdings" panose="05000000000000000000" pitchFamily="2" charset="2"/>
              </a:rPr>
              <a:t> “</a:t>
            </a:r>
            <a:r>
              <a:rPr lang="en-IN" dirty="0" err="1"/>
              <a:t>Jawi</a:t>
            </a:r>
            <a:r>
              <a:rPr lang="en-IN" dirty="0"/>
              <a:t> </a:t>
            </a:r>
            <a:r>
              <a:rPr lang="en-IN" dirty="0" err="1"/>
              <a:t>Jawi</a:t>
            </a:r>
            <a:r>
              <a:rPr lang="en-IN" dirty="0"/>
              <a:t> </a:t>
            </a:r>
            <a:r>
              <a:rPr lang="en-IN" dirty="0" err="1"/>
              <a:t>Jawi</a:t>
            </a:r>
            <a:r>
              <a:rPr lang="en-IN" dirty="0"/>
              <a:t>”</a:t>
            </a:r>
          </a:p>
          <a:p>
            <a:pPr marL="432" indent="0">
              <a:buNone/>
            </a:pPr>
            <a:r>
              <a:rPr lang="en-IN" dirty="0"/>
              <a:t>String s = "Java </a:t>
            </a:r>
            <a:r>
              <a:rPr lang="en-IN" dirty="0" err="1"/>
              <a:t>Java</a:t>
            </a:r>
            <a:r>
              <a:rPr lang="en-IN" dirty="0"/>
              <a:t> Java".</a:t>
            </a:r>
            <a:r>
              <a:rPr lang="en-IN" dirty="0" err="1"/>
              <a:t>replaceFirst</a:t>
            </a:r>
            <a:r>
              <a:rPr lang="en-IN" dirty="0"/>
              <a:t>("v\\w", "</a:t>
            </a:r>
            <a:r>
              <a:rPr lang="en-IN" dirty="0" err="1"/>
              <a:t>wi</a:t>
            </a:r>
            <a:r>
              <a:rPr lang="en-IN" dirty="0"/>
              <a:t>") ;</a:t>
            </a:r>
          </a:p>
          <a:p>
            <a:pPr marL="432" indent="0">
              <a:buNone/>
            </a:pPr>
            <a:r>
              <a:rPr lang="en-IN" dirty="0"/>
              <a:t>S </a:t>
            </a:r>
            <a:r>
              <a:rPr lang="en-IN" dirty="0">
                <a:sym typeface="Wingdings" panose="05000000000000000000" pitchFamily="2" charset="2"/>
              </a:rPr>
              <a:t> “</a:t>
            </a:r>
            <a:r>
              <a:rPr lang="en-IN" dirty="0" err="1"/>
              <a:t>Jawi</a:t>
            </a:r>
            <a:r>
              <a:rPr lang="en-IN" dirty="0"/>
              <a:t> Java </a:t>
            </a:r>
            <a:r>
              <a:rPr lang="en-IN" dirty="0" err="1"/>
              <a:t>Java</a:t>
            </a:r>
            <a:r>
              <a:rPr lang="en-IN" dirty="0"/>
              <a:t>”</a:t>
            </a:r>
          </a:p>
          <a:p>
            <a:pPr marL="432" indent="0">
              <a:buNone/>
            </a:pPr>
            <a:r>
              <a:rPr lang="en-IN" dirty="0"/>
              <a:t>String[] s = "Java1HTML2Perl".split("\\d");</a:t>
            </a:r>
          </a:p>
          <a:p>
            <a:pPr marL="432" indent="0">
              <a:buNone/>
            </a:pPr>
            <a:endParaRPr lang="en-IN" dirty="0"/>
          </a:p>
          <a:p>
            <a:pPr marL="432" indent="0">
              <a:buNone/>
            </a:pPr>
            <a:r>
              <a:rPr lang="en-IN" sz="1800" dirty="0">
                <a:hlinkClick r:id="rId3"/>
              </a:rPr>
              <a:t>https://docs.oracle.com/javase/8/docs/api/java/util/regex/Pattern.html</a:t>
            </a:r>
            <a:endParaRPr lang="en-IN" sz="1800" dirty="0"/>
          </a:p>
        </p:txBody>
      </p:sp>
    </p:spTree>
    <p:extLst>
      <p:ext uri="{BB962C8B-B14F-4D97-AF65-F5344CB8AC3E}">
        <p14:creationId xmlns:p14="http://schemas.microsoft.com/office/powerpoint/2010/main" val="3414112850"/>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b22d00c-ba54-415e-ac47-142f0dfcf7e9" xsi:nil="true"/>
    <lcf76f155ced4ddcb4097134ff3c332f xmlns="bde507ab-19d9-42c9-b69f-59bb821f2f6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83B758-1054-4A21-AEAA-0B7956AC01C9}">
  <ds:schemaRefs>
    <ds:schemaRef ds:uri="http://schemas.microsoft.com/office/2006/metadata/properties"/>
    <ds:schemaRef ds:uri="http://schemas.microsoft.com/office/2006/documentManagement/types"/>
    <ds:schemaRef ds:uri="2b22d00c-ba54-415e-ac47-142f0dfcf7e9"/>
    <ds:schemaRef ds:uri="bde507ab-19d9-42c9-b69f-59bb821f2f61"/>
    <ds:schemaRef ds:uri="http://purl.org/dc/elements/1.1/"/>
    <ds:schemaRef ds:uri="http://purl.org/dc/terms/"/>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E442BCF4-2FF1-4D4C-87AD-0E2E9D842E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4F2005-B61A-4A80-A9C6-33738739671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146934</TotalTime>
  <Words>4162</Words>
  <Application>Microsoft Office PowerPoint</Application>
  <PresentationFormat>On-screen Show (4:3)</PresentationFormat>
  <Paragraphs>282</Paragraphs>
  <Slides>33</Slides>
  <Notes>31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42" baseType="lpstr">
      <vt:lpstr>Verdana</vt:lpstr>
      <vt:lpstr>Symbol</vt:lpstr>
      <vt:lpstr>Noto Sans Symbols</vt:lpstr>
      <vt:lpstr>Arial</vt:lpstr>
      <vt:lpstr>Times New Roman</vt:lpstr>
      <vt:lpstr>Courier New</vt:lpstr>
      <vt:lpstr>USHE</vt:lpstr>
      <vt:lpstr>USHE_slide options</vt:lpstr>
      <vt:lpstr>Equation</vt:lpstr>
      <vt:lpstr>Introduction to Java Programming and Data Structures</vt:lpstr>
      <vt:lpstr>Review: Objects and Classes Money Class</vt:lpstr>
      <vt:lpstr>Motivations</vt:lpstr>
      <vt:lpstr>Class Abstraction and Encapsulation</vt:lpstr>
      <vt:lpstr>Object-Oriented Thinking</vt:lpstr>
      <vt:lpstr>Course UML</vt:lpstr>
      <vt:lpstr>Example: The StackOfIntegers Class</vt:lpstr>
      <vt:lpstr>Designing the StackOfIntegers Class</vt:lpstr>
      <vt:lpstr>Implementing StackOfIntegers Class</vt:lpstr>
      <vt:lpstr>Wrapper Classes</vt:lpstr>
      <vt:lpstr>The Integer and Double Classes</vt:lpstr>
      <vt:lpstr>The Static valueOf Methods</vt:lpstr>
      <vt:lpstr>Automatic Conversion Between Primitive Types and Wrapper Class Types</vt:lpstr>
      <vt:lpstr>The String Class</vt:lpstr>
      <vt:lpstr>Constructing Strings</vt:lpstr>
      <vt:lpstr>Strings Are Immutable</vt:lpstr>
      <vt:lpstr>Interned Strings</vt:lpstr>
      <vt:lpstr>Replacing and Splitting Strings (1 of 2)</vt:lpstr>
      <vt:lpstr>Splitting a String</vt:lpstr>
      <vt:lpstr>Matching, Replacing and Splitting by Patterns (1 of 3)</vt:lpstr>
      <vt:lpstr>Matching, Replacing and Splitting by Patterns (2 of 3)</vt:lpstr>
      <vt:lpstr>Matching, Replacing and Splitting by Patterns (3 of 3)</vt:lpstr>
      <vt:lpstr>StringBuilder</vt:lpstr>
      <vt:lpstr>StringBuilder Constructors</vt:lpstr>
      <vt:lpstr>Modifying Strings in the Builder</vt:lpstr>
      <vt:lpstr>Examples</vt:lpstr>
      <vt:lpstr>The toString, capacity, length, setLength, and charAt Methods</vt:lpstr>
      <vt:lpstr>Problem: Checking Palindromes Ignoring Non-alphanumeric Characters</vt:lpstr>
      <vt:lpstr>Regular Expressions</vt:lpstr>
      <vt:lpstr>Matching Strings</vt:lpstr>
      <vt:lpstr>Regular Expression Syntax</vt:lpstr>
      <vt:lpstr>Replacing and Splitting Strings (2 of 2)</vt:lpstr>
      <vt:lpstr>Examples (4 of 4)</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Twelfth Edition, Chapter 10, Thinking in Objects</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Zartoshty, Bahram</cp:lastModifiedBy>
  <cp:revision>885</cp:revision>
  <cp:lastPrinted>2024-11-13T19:04:56Z</cp:lastPrinted>
  <dcterms:modified xsi:type="dcterms:W3CDTF">2025-11-12T18:03:32Z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