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330" r:id="rId2"/>
    <p:sldId id="410" r:id="rId3"/>
    <p:sldId id="408" r:id="rId4"/>
    <p:sldId id="411" r:id="rId5"/>
    <p:sldId id="472" r:id="rId6"/>
    <p:sldId id="473" r:id="rId7"/>
    <p:sldId id="369" r:id="rId8"/>
    <p:sldId id="413" r:id="rId9"/>
    <p:sldId id="415" r:id="rId10"/>
    <p:sldId id="435" r:id="rId11"/>
    <p:sldId id="563" r:id="rId12"/>
    <p:sldId id="416" r:id="rId13"/>
    <p:sldId id="477" r:id="rId14"/>
    <p:sldId id="478" r:id="rId15"/>
    <p:sldId id="479" r:id="rId16"/>
    <p:sldId id="480" r:id="rId17"/>
    <p:sldId id="481" r:id="rId18"/>
    <p:sldId id="483" r:id="rId19"/>
    <p:sldId id="484" r:id="rId20"/>
    <p:sldId id="488" r:id="rId21"/>
    <p:sldId id="489" r:id="rId22"/>
    <p:sldId id="490" r:id="rId23"/>
    <p:sldId id="493" r:id="rId24"/>
    <p:sldId id="457" r:id="rId25"/>
    <p:sldId id="458" r:id="rId26"/>
    <p:sldId id="461" r:id="rId27"/>
    <p:sldId id="500" r:id="rId28"/>
    <p:sldId id="469" r:id="rId29"/>
    <p:sldId id="470" r:id="rId30"/>
    <p:sldId id="468" r:id="rId31"/>
    <p:sldId id="471" r:id="rId32"/>
    <p:sldId id="571" r:id="rId33"/>
    <p:sldId id="464" r:id="rId34"/>
    <p:sldId id="465" r:id="rId35"/>
    <p:sldId id="466" r:id="rId36"/>
    <p:sldId id="575" r:id="rId37"/>
    <p:sldId id="496" r:id="rId38"/>
    <p:sldId id="497" r:id="rId39"/>
    <p:sldId id="498" r:id="rId40"/>
    <p:sldId id="499" r:id="rId41"/>
  </p:sldIdLst>
  <p:sldSz cx="9144000" cy="6858000" type="screen4x3"/>
  <p:notesSz cx="6400800" cy="86868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333333"/>
    <a:srgbClr val="9933FF"/>
    <a:srgbClr val="9966FF"/>
    <a:srgbClr val="3853A8"/>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607" autoAdjust="0"/>
  </p:normalViewPr>
  <p:slideViewPr>
    <p:cSldViewPr>
      <p:cViewPr varScale="1">
        <p:scale>
          <a:sx n="166" d="100"/>
          <a:sy n="166" d="100"/>
        </p:scale>
        <p:origin x="2502" y="138"/>
      </p:cViewPr>
      <p:guideLst>
        <p:guide orient="horz" pos="2160"/>
        <p:guide pos="2880"/>
      </p:guideLst>
    </p:cSldViewPr>
  </p:slideViewPr>
  <p:outlineViewPr>
    <p:cViewPr>
      <p:scale>
        <a:sx n="33" d="100"/>
        <a:sy n="33" d="100"/>
      </p:scale>
      <p:origin x="0" y="8364"/>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52" d="100"/>
          <a:sy n="52" d="100"/>
        </p:scale>
        <p:origin x="2676"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774419" cy="436120"/>
          </a:xfrm>
          <a:prstGeom prst="rect">
            <a:avLst/>
          </a:prstGeom>
        </p:spPr>
        <p:txBody>
          <a:bodyPr vert="horz" lIns="85268" tIns="42634" rIns="85268" bIns="42634" rtlCol="0"/>
          <a:lstStyle>
            <a:lvl1pPr algn="l">
              <a:defRPr sz="1100"/>
            </a:lvl1pPr>
          </a:lstStyle>
          <a:p>
            <a:endParaRPr lang="en-US"/>
          </a:p>
        </p:txBody>
      </p:sp>
      <p:sp>
        <p:nvSpPr>
          <p:cNvPr id="3" name="Date Placeholder 2"/>
          <p:cNvSpPr>
            <a:spLocks noGrp="1"/>
          </p:cNvSpPr>
          <p:nvPr>
            <p:ph type="dt" sz="quarter" idx="1"/>
          </p:nvPr>
        </p:nvSpPr>
        <p:spPr>
          <a:xfrm>
            <a:off x="3624905" y="1"/>
            <a:ext cx="2774418" cy="436120"/>
          </a:xfrm>
          <a:prstGeom prst="rect">
            <a:avLst/>
          </a:prstGeom>
        </p:spPr>
        <p:txBody>
          <a:bodyPr vert="horz" lIns="85268" tIns="42634" rIns="85268" bIns="42634" rtlCol="0"/>
          <a:lstStyle>
            <a:lvl1pPr algn="r">
              <a:defRPr sz="1100"/>
            </a:lvl1pPr>
          </a:lstStyle>
          <a:p>
            <a:fld id="{3A4C0F8E-31BD-4D8E-8C4F-C25B04B9591E}" type="datetimeFigureOut">
              <a:rPr lang="en-US" smtClean="0"/>
              <a:t>4/16/2025</a:t>
            </a:fld>
            <a:endParaRPr lang="en-US"/>
          </a:p>
        </p:txBody>
      </p:sp>
      <p:sp>
        <p:nvSpPr>
          <p:cNvPr id="4" name="Footer Placeholder 3"/>
          <p:cNvSpPr>
            <a:spLocks noGrp="1"/>
          </p:cNvSpPr>
          <p:nvPr>
            <p:ph type="ftr" sz="quarter" idx="2"/>
          </p:nvPr>
        </p:nvSpPr>
        <p:spPr>
          <a:xfrm>
            <a:off x="0" y="8250680"/>
            <a:ext cx="2774419" cy="436120"/>
          </a:xfrm>
          <a:prstGeom prst="rect">
            <a:avLst/>
          </a:prstGeom>
        </p:spPr>
        <p:txBody>
          <a:bodyPr vert="horz" lIns="85268" tIns="42634" rIns="85268" bIns="42634" rtlCol="0" anchor="b"/>
          <a:lstStyle>
            <a:lvl1pPr algn="l">
              <a:defRPr sz="1100"/>
            </a:lvl1pPr>
          </a:lstStyle>
          <a:p>
            <a:endParaRPr lang="en-US"/>
          </a:p>
        </p:txBody>
      </p:sp>
      <p:sp>
        <p:nvSpPr>
          <p:cNvPr id="5" name="Slide Number Placeholder 4"/>
          <p:cNvSpPr>
            <a:spLocks noGrp="1"/>
          </p:cNvSpPr>
          <p:nvPr>
            <p:ph type="sldNum" sz="quarter" idx="3"/>
          </p:nvPr>
        </p:nvSpPr>
        <p:spPr>
          <a:xfrm>
            <a:off x="3624905" y="8250680"/>
            <a:ext cx="2774418" cy="436120"/>
          </a:xfrm>
          <a:prstGeom prst="rect">
            <a:avLst/>
          </a:prstGeom>
        </p:spPr>
        <p:txBody>
          <a:bodyPr vert="horz" lIns="85268" tIns="42634" rIns="85268" bIns="42634" rtlCol="0" anchor="b"/>
          <a:lstStyle>
            <a:lvl1pPr algn="r">
              <a:defRPr sz="1100"/>
            </a:lvl1pPr>
          </a:lstStyle>
          <a:p>
            <a:fld id="{76C9EE0D-F32F-4972-B43A-7ED87048B855}" type="slidenum">
              <a:rPr lang="en-US" smtClean="0"/>
              <a:t>‹#›</a:t>
            </a:fld>
            <a:endParaRPr lang="en-US"/>
          </a:p>
        </p:txBody>
      </p:sp>
    </p:spTree>
    <p:extLst>
      <p:ext uri="{BB962C8B-B14F-4D97-AF65-F5344CB8AC3E}">
        <p14:creationId xmlns:p14="http://schemas.microsoft.com/office/powerpoint/2010/main" val="40812925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773680" cy="434340"/>
          </a:xfrm>
          <a:prstGeom prst="rect">
            <a:avLst/>
          </a:prstGeom>
        </p:spPr>
        <p:txBody>
          <a:bodyPr vert="horz" lIns="86206" tIns="43103" rIns="86206" bIns="43103" rtlCol="0"/>
          <a:lstStyle>
            <a:lvl1pPr algn="l">
              <a:defRPr sz="1100">
                <a:latin typeface="Arial" charset="0"/>
                <a:ea typeface="+mn-ea"/>
                <a:cs typeface="+mn-cs"/>
              </a:defRPr>
            </a:lvl1pPr>
          </a:lstStyle>
          <a:p>
            <a:pPr>
              <a:defRPr/>
            </a:pPr>
            <a:endParaRPr lang="en-US"/>
          </a:p>
        </p:txBody>
      </p:sp>
      <p:sp>
        <p:nvSpPr>
          <p:cNvPr id="3" name="Date Placeholder 2"/>
          <p:cNvSpPr>
            <a:spLocks noGrp="1"/>
          </p:cNvSpPr>
          <p:nvPr>
            <p:ph type="dt" idx="1"/>
          </p:nvPr>
        </p:nvSpPr>
        <p:spPr>
          <a:xfrm>
            <a:off x="3625640" y="0"/>
            <a:ext cx="2773680" cy="434340"/>
          </a:xfrm>
          <a:prstGeom prst="rect">
            <a:avLst/>
          </a:prstGeom>
        </p:spPr>
        <p:txBody>
          <a:bodyPr vert="horz" wrap="square" lIns="86206" tIns="43103" rIns="86206" bIns="43103" numCol="1" anchor="t" anchorCtr="0" compatLnSpc="1">
            <a:prstTxWarp prst="textNoShape">
              <a:avLst/>
            </a:prstTxWarp>
          </a:bodyPr>
          <a:lstStyle>
            <a:lvl1pPr algn="r">
              <a:defRPr sz="1100">
                <a:cs typeface="Arial" panose="020B0604020202020204" pitchFamily="34" charset="0"/>
              </a:defRPr>
            </a:lvl1pPr>
          </a:lstStyle>
          <a:p>
            <a:fld id="{9FF82490-4016-48B2-8AFA-F88003C3FC9E}" type="datetimeFigureOut">
              <a:rPr lang="en-US" altLang="en-US"/>
              <a:pPr/>
              <a:t>4/16/2025</a:t>
            </a:fld>
            <a:endParaRPr lang="en-US" altLang="en-US"/>
          </a:p>
        </p:txBody>
      </p:sp>
      <p:sp>
        <p:nvSpPr>
          <p:cNvPr id="4" name="Slide Image Placeholder 3"/>
          <p:cNvSpPr>
            <a:spLocks noGrp="1" noRot="1" noChangeAspect="1"/>
          </p:cNvSpPr>
          <p:nvPr>
            <p:ph type="sldImg" idx="2"/>
          </p:nvPr>
        </p:nvSpPr>
        <p:spPr>
          <a:xfrm>
            <a:off x="1030288" y="650875"/>
            <a:ext cx="4341812" cy="3257550"/>
          </a:xfrm>
          <a:prstGeom prst="rect">
            <a:avLst/>
          </a:prstGeom>
          <a:noFill/>
          <a:ln w="12700">
            <a:solidFill>
              <a:prstClr val="black"/>
            </a:solidFill>
          </a:ln>
        </p:spPr>
        <p:txBody>
          <a:bodyPr vert="horz" lIns="86206" tIns="43103" rIns="86206" bIns="43103" rtlCol="0" anchor="ctr"/>
          <a:lstStyle/>
          <a:p>
            <a:pPr lvl="0"/>
            <a:endParaRPr lang="en-US" noProof="0" dirty="0"/>
          </a:p>
        </p:txBody>
      </p:sp>
      <p:sp>
        <p:nvSpPr>
          <p:cNvPr id="5" name="Notes Placeholder 4"/>
          <p:cNvSpPr>
            <a:spLocks noGrp="1"/>
          </p:cNvSpPr>
          <p:nvPr>
            <p:ph type="body" sz="quarter" idx="3"/>
          </p:nvPr>
        </p:nvSpPr>
        <p:spPr>
          <a:xfrm>
            <a:off x="640080" y="4126230"/>
            <a:ext cx="5120640" cy="3909060"/>
          </a:xfrm>
          <a:prstGeom prst="rect">
            <a:avLst/>
          </a:prstGeom>
        </p:spPr>
        <p:txBody>
          <a:bodyPr vert="horz" lIns="86206" tIns="43103" rIns="86206" bIns="4310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250953"/>
            <a:ext cx="2773680" cy="434340"/>
          </a:xfrm>
          <a:prstGeom prst="rect">
            <a:avLst/>
          </a:prstGeom>
        </p:spPr>
        <p:txBody>
          <a:bodyPr vert="horz" lIns="86206" tIns="43103" rIns="86206" bIns="43103" rtlCol="0" anchor="b"/>
          <a:lstStyle>
            <a:lvl1pPr algn="l">
              <a:defRPr sz="1100">
                <a:latin typeface="Arial" charset="0"/>
                <a:ea typeface="+mn-ea"/>
                <a:cs typeface="+mn-cs"/>
              </a:defRPr>
            </a:lvl1pPr>
          </a:lstStyle>
          <a:p>
            <a:pPr>
              <a:defRPr/>
            </a:pPr>
            <a:endParaRPr lang="en-US"/>
          </a:p>
        </p:txBody>
      </p:sp>
      <p:sp>
        <p:nvSpPr>
          <p:cNvPr id="7" name="Slide Number Placeholder 6"/>
          <p:cNvSpPr>
            <a:spLocks noGrp="1"/>
          </p:cNvSpPr>
          <p:nvPr>
            <p:ph type="sldNum" sz="quarter" idx="5"/>
          </p:nvPr>
        </p:nvSpPr>
        <p:spPr>
          <a:xfrm>
            <a:off x="3625640" y="8250953"/>
            <a:ext cx="2773680" cy="434340"/>
          </a:xfrm>
          <a:prstGeom prst="rect">
            <a:avLst/>
          </a:prstGeom>
        </p:spPr>
        <p:txBody>
          <a:bodyPr vert="horz" wrap="square" lIns="86206" tIns="43103" rIns="86206" bIns="43103" numCol="1" anchor="b" anchorCtr="0" compatLnSpc="1">
            <a:prstTxWarp prst="textNoShape">
              <a:avLst/>
            </a:prstTxWarp>
          </a:bodyPr>
          <a:lstStyle>
            <a:lvl1pPr algn="r">
              <a:defRPr sz="1100">
                <a:cs typeface="Arial" panose="020B0604020202020204" pitchFamily="34" charset="0"/>
              </a:defRPr>
            </a:lvl1pPr>
          </a:lstStyle>
          <a:p>
            <a:fld id="{B04FDA2A-5419-44B5-AE75-0024CAFD0903}" type="slidenum">
              <a:rPr lang="en-US" altLang="en-US"/>
              <a:pPr/>
              <a:t>‹#›</a:t>
            </a:fld>
            <a:endParaRPr lang="en-US" altLang="en-US"/>
          </a:p>
        </p:txBody>
      </p:sp>
    </p:spTree>
    <p:extLst>
      <p:ext uri="{BB962C8B-B14F-4D97-AF65-F5344CB8AC3E}">
        <p14:creationId xmlns:p14="http://schemas.microsoft.com/office/powerpoint/2010/main" val="20918167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sz="1200" b="0" i="0" u="none" strike="noStrike" kern="1200" cap="none" dirty="0">
                <a:solidFill>
                  <a:schemeClr val="tx1"/>
                </a:solidFill>
                <a:latin typeface="Arial"/>
                <a:ea typeface="Arial"/>
                <a:cs typeface="Arial"/>
                <a:sym typeface="Arial"/>
              </a:rPr>
              <a:t>Slides in this presentation contain hyperlinks. JAWS users should be able to get a list of links by using INSERT+F7</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name, Circle.</a:t>
            </a:r>
          </a:p>
          <a:p>
            <a:r>
              <a:rPr lang="en-US" dirty="0"/>
              <a:t>Data fields. Radius is, blank space. Methods, </a:t>
            </a:r>
            <a:r>
              <a:rPr lang="en-US" dirty="0" err="1"/>
              <a:t>getArea</a:t>
            </a:r>
            <a:r>
              <a:rPr lang="en-US" dirty="0"/>
              <a:t>.</a:t>
            </a:r>
          </a:p>
          <a:p>
            <a:r>
              <a:rPr lang="en-US" dirty="0"/>
              <a:t>Three objects of the Circle class are as follows.</a:t>
            </a:r>
          </a:p>
          <a:p>
            <a:r>
              <a:rPr lang="en-US" dirty="0"/>
              <a:t>Circle object 1. Data fields, radius is 10.</a:t>
            </a:r>
          </a:p>
          <a:p>
            <a:r>
              <a:rPr lang="en-US" dirty="0"/>
              <a:t>Circle object 2. Data fields, radius is 25.</a:t>
            </a:r>
          </a:p>
          <a:p>
            <a:r>
              <a:rPr lang="en-US" dirty="0"/>
              <a:t>Circle object 3. Data fields, radius is 125.</a:t>
            </a:r>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8</a:t>
            </a:fld>
            <a:endParaRPr lang="en-US" sz="1200" dirty="0">
              <a:solidFill>
                <a:schemeClr val="dk1"/>
              </a:solidFill>
            </a:endParaRPr>
          </a:p>
        </p:txBody>
      </p:sp>
    </p:spTree>
    <p:extLst>
      <p:ext uri="{BB962C8B-B14F-4D97-AF65-F5344CB8AC3E}">
        <p14:creationId xmlns:p14="http://schemas.microsoft.com/office/powerpoint/2010/main" val="473380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1, indicates class Circle open braces. Line 2, slash forward address </a:t>
            </a:r>
            <a:r>
              <a:rPr lang="en-US" dirty="0" err="1"/>
              <a:t>address</a:t>
            </a:r>
            <a:r>
              <a:rPr lang="en-US" dirty="0"/>
              <a:t> The radius of this circle address slash forward. Line 3, double radius equal to 1.0 semicolon. The line 3 is Data field. Line 4, Blank. Line 5, slash forward address </a:t>
            </a:r>
            <a:r>
              <a:rPr lang="en-US" dirty="0" err="1"/>
              <a:t>address</a:t>
            </a:r>
            <a:r>
              <a:rPr lang="en-US" dirty="0"/>
              <a:t> Construct a circle object address slash forward. Line 6, Circle open parenthesis close parenthesis open braces. Line 7, close braces. Line 8, Blank. Line 9, slash forward address </a:t>
            </a:r>
            <a:r>
              <a:rPr lang="en-US" dirty="0" err="1"/>
              <a:t>address</a:t>
            </a:r>
            <a:r>
              <a:rPr lang="en-US" dirty="0"/>
              <a:t> Construct a circle object address slash forward. Line 10, Circle open parenthesis double new Radius close parenthesis open braces. Line 11, radius equal to new Radius semicolon. Line 12, close braces. The lines 5, 6, 7, 8, 9, 10, 11 and 12 are Constructors. Line 13, Blank. Line 14, slash forward address </a:t>
            </a:r>
            <a:r>
              <a:rPr lang="en-US" dirty="0" err="1"/>
              <a:t>address</a:t>
            </a:r>
            <a:r>
              <a:rPr lang="en-US" dirty="0"/>
              <a:t> Return the area of this circle address slash forward. Line 15, double get Area open parenthesis close parenthesis open braces. The line 15 is Method. Line 16, return radius address radius address 3 period 14159 semicolon. Line 17, close braces. Line 18, close braces. </a:t>
            </a:r>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9</a:t>
            </a:fld>
            <a:endParaRPr lang="en-US" sz="1200" dirty="0">
              <a:solidFill>
                <a:schemeClr val="dk1"/>
              </a:solidFill>
            </a:endParaRPr>
          </a:p>
        </p:txBody>
      </p:sp>
    </p:spTree>
    <p:extLst>
      <p:ext uri="{BB962C8B-B14F-4D97-AF65-F5344CB8AC3E}">
        <p14:creationId xmlns:p14="http://schemas.microsoft.com/office/powerpoint/2010/main" val="1462628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buFontTx/>
              <a:buBlip>
                <a:blip r:embed="rId3"/>
              </a:buBlip>
            </a:pPr>
            <a:r>
              <a:rPr lang="en-US" altLang="en-US" sz="1200" dirty="0"/>
              <a:t>Classes should be as limited in scope as needed to accomplish the goal.</a:t>
            </a:r>
          </a:p>
          <a:p>
            <a:pPr eaLnBrk="1" hangingPunct="1">
              <a:buFontTx/>
              <a:buBlip>
                <a:blip r:embed="rId3"/>
              </a:buBlip>
            </a:pPr>
            <a:r>
              <a:rPr lang="en-US" altLang="en-US" sz="1200" dirty="0"/>
              <a:t>Each class should contain all that is needed for it to operate.</a:t>
            </a:r>
          </a:p>
          <a:p>
            <a:pPr eaLnBrk="1" hangingPunct="1">
              <a:buFontTx/>
              <a:buBlip>
                <a:blip r:embed="rId3"/>
              </a:buBlip>
            </a:pPr>
            <a:r>
              <a:rPr lang="en-US" altLang="en-US" sz="1200" dirty="0"/>
              <a:t>Enclosing the proper attributes and methods inside a single class is called </a:t>
            </a:r>
            <a:r>
              <a:rPr lang="en-US" altLang="en-US" sz="1200" i="1" dirty="0"/>
              <a:t>encapsulation</a:t>
            </a:r>
            <a:r>
              <a:rPr lang="en-US" altLang="en-US" sz="1200" dirty="0"/>
              <a:t>.</a:t>
            </a:r>
          </a:p>
          <a:p>
            <a:pPr eaLnBrk="1" hangingPunct="1">
              <a:buFontTx/>
              <a:buBlip>
                <a:blip r:embed="rId3"/>
              </a:buBlip>
            </a:pPr>
            <a:r>
              <a:rPr lang="en-US" altLang="en-US" sz="1200" dirty="0"/>
              <a:t>Encapsulation ensures that the class is </a:t>
            </a:r>
            <a:r>
              <a:rPr lang="en-US" altLang="en-US" sz="1200" i="1" dirty="0"/>
              <a:t>self-contained</a:t>
            </a:r>
            <a:r>
              <a:rPr lang="en-US" altLang="en-US" sz="1200" dirty="0"/>
              <a:t>.</a:t>
            </a:r>
          </a:p>
          <a:p>
            <a:endParaRPr lang="en-US" dirty="0"/>
          </a:p>
        </p:txBody>
      </p:sp>
      <p:sp>
        <p:nvSpPr>
          <p:cNvPr id="4" name="Slide Number Placeholder 3"/>
          <p:cNvSpPr>
            <a:spLocks noGrp="1"/>
          </p:cNvSpPr>
          <p:nvPr>
            <p:ph type="sldNum" sz="quarter" idx="5"/>
          </p:nvPr>
        </p:nvSpPr>
        <p:spPr/>
        <p:txBody>
          <a:bodyPr/>
          <a:lstStyle/>
          <a:p>
            <a:fld id="{B04FDA2A-5419-44B5-AE75-0024CAFD0903}" type="slidenum">
              <a:rPr lang="en-US" altLang="en-US" smtClean="0"/>
              <a:pPr/>
              <a:t>10</a:t>
            </a:fld>
            <a:endParaRPr lang="en-US" altLang="en-US"/>
          </a:p>
        </p:txBody>
      </p:sp>
    </p:spTree>
    <p:extLst>
      <p:ext uri="{BB962C8B-B14F-4D97-AF65-F5344CB8AC3E}">
        <p14:creationId xmlns:p14="http://schemas.microsoft.com/office/powerpoint/2010/main" val="6347142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BB929B6-BD61-4750-A6B4-47FEDF4318B6}" type="slidenum">
              <a:rPr lang="en-US" altLang="en-US" smtClean="0"/>
              <a:pPr>
                <a:defRPr/>
              </a:pPr>
              <a:t>11</a:t>
            </a:fld>
            <a:endParaRPr lang="en-US" altLang="en-US"/>
          </a:p>
        </p:txBody>
      </p:sp>
    </p:spTree>
    <p:extLst>
      <p:ext uri="{BB962C8B-B14F-4D97-AF65-F5344CB8AC3E}">
        <p14:creationId xmlns:p14="http://schemas.microsoft.com/office/powerpoint/2010/main" val="1832247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IN" dirty="0"/>
              <a:t> Constructors are a special kind of methods that are invoked to construct objects.</a:t>
            </a:r>
          </a:p>
          <a:p>
            <a:pPr marL="432" indent="0">
              <a:buNone/>
            </a:pPr>
            <a:r>
              <a:rPr lang="en-IN" dirty="0"/>
              <a:t>A constructor with no parameters is referred to as a </a:t>
            </a:r>
            <a:r>
              <a:rPr lang="en-IN" b="1" dirty="0"/>
              <a:t>no-</a:t>
            </a:r>
            <a:r>
              <a:rPr lang="en-IN" b="1" dirty="0" err="1"/>
              <a:t>arg</a:t>
            </a:r>
            <a:r>
              <a:rPr lang="en-IN" b="1" dirty="0"/>
              <a:t> constructor</a:t>
            </a:r>
            <a:r>
              <a:rPr lang="en-IN" dirty="0"/>
              <a:t>.</a:t>
            </a:r>
          </a:p>
          <a:p>
            <a:r>
              <a:rPr lang="en-IN" dirty="0"/>
              <a:t>Constructors must have the same name as the class itself.</a:t>
            </a:r>
          </a:p>
          <a:p>
            <a:r>
              <a:rPr lang="en-IN" dirty="0"/>
              <a:t>Constructors do not have a return type—not even void.</a:t>
            </a:r>
          </a:p>
          <a:p>
            <a:r>
              <a:rPr lang="en-IN" dirty="0"/>
              <a:t>Constructors are invoked using the new operator when an object is created. Constructors play the role of initializing objects.  </a:t>
            </a:r>
          </a:p>
          <a:p>
            <a:r>
              <a:rPr lang="en-IN" b="1" dirty="0">
                <a:latin typeface="Courier New" panose="02070309020205020404" pitchFamily="49" charset="0"/>
                <a:cs typeface="Courier New" panose="02070309020205020404" pitchFamily="49" charset="0"/>
              </a:rPr>
              <a:t>Example:  new </a:t>
            </a:r>
            <a:r>
              <a:rPr lang="en-IN" b="1" dirty="0" err="1">
                <a:latin typeface="Courier New" panose="02070309020205020404" pitchFamily="49" charset="0"/>
                <a:cs typeface="Courier New" panose="02070309020205020404" pitchFamily="49" charset="0"/>
              </a:rPr>
              <a:t>ClassName</a:t>
            </a:r>
            <a:r>
              <a:rPr lang="en-IN" b="1" dirty="0">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IN" dirty="0"/>
              <a:t>A class may be defined without constructors. In this case, a no-</a:t>
            </a:r>
            <a:r>
              <a:rPr lang="en-IN" dirty="0" err="1"/>
              <a:t>arg</a:t>
            </a:r>
            <a:r>
              <a:rPr lang="en-IN" dirty="0"/>
              <a:t> constructor with an empty body is implicitly defined in the class. This constructor, called a </a:t>
            </a:r>
            <a:r>
              <a:rPr lang="en-IN" b="1" dirty="0"/>
              <a:t>default constructor</a:t>
            </a:r>
            <a:r>
              <a:rPr lang="en-IN" dirty="0"/>
              <a:t>, is provided automatically </a:t>
            </a:r>
            <a:r>
              <a:rPr lang="en-IN" b="1" dirty="0"/>
              <a:t>only if no constructors are explicitly defined in the class</a:t>
            </a:r>
            <a:r>
              <a:rPr lang="en-IN" dirty="0"/>
              <a:t>.</a:t>
            </a:r>
          </a:p>
          <a:p>
            <a:pPr marL="432" indent="0">
              <a:buNone/>
            </a:pPr>
            <a:r>
              <a:rPr lang="en-IN" dirty="0"/>
              <a:t>To reference an object, assign the object to a reference variable.</a:t>
            </a:r>
          </a:p>
          <a:p>
            <a:pPr marL="432" indent="0">
              <a:buNone/>
            </a:pPr>
            <a:r>
              <a:rPr lang="en-IN" dirty="0"/>
              <a:t>To declare a reference variable, use the syntax:</a:t>
            </a:r>
          </a:p>
          <a:p>
            <a:pPr marL="432" indent="0">
              <a:buNone/>
            </a:pPr>
            <a:r>
              <a:rPr lang="en-IN" b="1" dirty="0" err="1">
                <a:latin typeface="Courier New" panose="02070309020205020404" pitchFamily="49" charset="0"/>
                <a:cs typeface="Courier New" panose="02070309020205020404" pitchFamily="49" charset="0"/>
              </a:rPr>
              <a:t>ClassName</a:t>
            </a:r>
            <a:r>
              <a:rPr lang="en-IN" b="1" dirty="0">
                <a:latin typeface="Courier New" panose="02070309020205020404" pitchFamily="49" charset="0"/>
                <a:cs typeface="Courier New" panose="02070309020205020404" pitchFamily="49" charset="0"/>
              </a:rPr>
              <a:t> </a:t>
            </a:r>
            <a:r>
              <a:rPr lang="en-IN" b="1" dirty="0" err="1">
                <a:latin typeface="Courier New" panose="02070309020205020404" pitchFamily="49" charset="0"/>
                <a:cs typeface="Courier New" panose="02070309020205020404" pitchFamily="49" charset="0"/>
              </a:rPr>
              <a:t>objectRefVar</a:t>
            </a:r>
            <a:r>
              <a:rPr lang="en-IN" b="1" dirty="0">
                <a:latin typeface="Courier New" panose="02070309020205020404" pitchFamily="49" charset="0"/>
                <a:cs typeface="Courier New" panose="02070309020205020404" pitchFamily="49" charset="0"/>
              </a:rPr>
              <a:t>;</a:t>
            </a:r>
          </a:p>
          <a:p>
            <a:pPr marL="432" indent="0">
              <a:buNone/>
            </a:pPr>
            <a:r>
              <a:rPr lang="en-IN" dirty="0"/>
              <a:t>Example:</a:t>
            </a:r>
          </a:p>
          <a:p>
            <a:pPr marL="432" indent="0">
              <a:buNone/>
            </a:pPr>
            <a:r>
              <a:rPr lang="en-IN" b="1" dirty="0">
                <a:latin typeface="Courier New" panose="02070309020205020404" pitchFamily="49" charset="0"/>
                <a:cs typeface="Courier New" panose="02070309020205020404" pitchFamily="49" charset="0"/>
              </a:rPr>
              <a:t>Circle </a:t>
            </a:r>
            <a:r>
              <a:rPr lang="en-IN" b="1" dirty="0" err="1">
                <a:latin typeface="Courier New" panose="02070309020205020404" pitchFamily="49" charset="0"/>
                <a:cs typeface="Courier New" panose="02070309020205020404" pitchFamily="49" charset="0"/>
              </a:rPr>
              <a:t>myCircle</a:t>
            </a:r>
            <a:r>
              <a:rPr lang="en-IN" b="1" dirty="0">
                <a:latin typeface="Courier New" panose="02070309020205020404" pitchFamily="49" charset="0"/>
                <a:cs typeface="Courier New" panose="02070309020205020404" pitchFamily="49" charset="0"/>
              </a:rPr>
              <a:t>;</a:t>
            </a:r>
          </a:p>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12</a:t>
            </a:fld>
            <a:endParaRPr lang="en-US" sz="1200" dirty="0">
              <a:solidFill>
                <a:schemeClr val="dk1"/>
              </a:solidFill>
            </a:endParaRPr>
          </a:p>
        </p:txBody>
      </p:sp>
    </p:spTree>
    <p:extLst>
      <p:ext uri="{BB962C8B-B14F-4D97-AF65-F5344CB8AC3E}">
        <p14:creationId xmlns:p14="http://schemas.microsoft.com/office/powerpoint/2010/main" val="1753544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sz="1100" dirty="0"/>
              <a:t>Another aspect of encapsulation is the concept of </a:t>
            </a:r>
            <a:r>
              <a:rPr lang="en-US" altLang="en-US" sz="1100" i="1" dirty="0"/>
              <a:t>data hiding</a:t>
            </a:r>
            <a:r>
              <a:rPr lang="en-US" altLang="en-US" sz="1100" dirty="0"/>
              <a:t>.</a:t>
            </a:r>
          </a:p>
          <a:p>
            <a:pPr eaLnBrk="1" hangingPunct="1"/>
            <a:r>
              <a:rPr lang="en-US" altLang="en-US" sz="1100" dirty="0"/>
              <a:t>Classes should not only be self-contained but they should be </a:t>
            </a:r>
            <a:r>
              <a:rPr lang="en-US" altLang="en-US" sz="1100" i="1" dirty="0"/>
              <a:t>self-governing</a:t>
            </a:r>
            <a:r>
              <a:rPr lang="en-US" altLang="en-US" sz="1100" dirty="0"/>
              <a:t> as well.</a:t>
            </a:r>
          </a:p>
          <a:p>
            <a:pPr eaLnBrk="1" hangingPunct="1"/>
            <a:r>
              <a:rPr lang="en-US" altLang="en-US" sz="1100" dirty="0"/>
              <a:t>Classes use the </a:t>
            </a:r>
            <a:r>
              <a:rPr lang="en-US" altLang="en-US" sz="1100" i="1" dirty="0"/>
              <a:t>private</a:t>
            </a:r>
            <a:r>
              <a:rPr lang="en-US" altLang="en-US" sz="1100" dirty="0"/>
              <a:t> access modifier on fields to hide them from other classes.</a:t>
            </a:r>
          </a:p>
          <a:p>
            <a:pPr eaLnBrk="1" hangingPunct="1"/>
            <a:r>
              <a:rPr lang="en-US" altLang="en-US" sz="1100" dirty="0"/>
              <a:t>Classes need methods to allow access and modification of the class’ data.</a:t>
            </a:r>
          </a:p>
          <a:p>
            <a:endParaRPr lang="en-US" dirty="0"/>
          </a:p>
        </p:txBody>
      </p:sp>
      <p:sp>
        <p:nvSpPr>
          <p:cNvPr id="4" name="Slide Number Placeholder 3"/>
          <p:cNvSpPr>
            <a:spLocks noGrp="1"/>
          </p:cNvSpPr>
          <p:nvPr>
            <p:ph type="sldNum" sz="quarter" idx="10"/>
          </p:nvPr>
        </p:nvSpPr>
        <p:spPr/>
        <p:txBody>
          <a:bodyPr/>
          <a:lstStyle/>
          <a:p>
            <a:fld id="{B04FDA2A-5419-44B5-AE75-0024CAFD0903}" type="slidenum">
              <a:rPr lang="en-US" altLang="en-US" smtClean="0"/>
              <a:pPr/>
              <a:t>15</a:t>
            </a:fld>
            <a:endParaRPr lang="en-US" altLang="en-US"/>
          </a:p>
        </p:txBody>
      </p:sp>
    </p:spTree>
    <p:extLst>
      <p:ext uri="{BB962C8B-B14F-4D97-AF65-F5344CB8AC3E}">
        <p14:creationId xmlns:p14="http://schemas.microsoft.com/office/powerpoint/2010/main" val="2801997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pPr>
            <a:r>
              <a:rPr lang="en-US" altLang="en-US" sz="1100" dirty="0"/>
              <a:t>Because of the concept of data hiding, fields in a class are private.</a:t>
            </a:r>
          </a:p>
          <a:p>
            <a:pPr eaLnBrk="1" hangingPunct="1">
              <a:lnSpc>
                <a:spcPct val="90000"/>
              </a:lnSpc>
            </a:pPr>
            <a:r>
              <a:rPr lang="en-US" altLang="en-US" sz="1100" dirty="0"/>
              <a:t>The methods that retrieve the data of fields are called </a:t>
            </a:r>
            <a:r>
              <a:rPr lang="en-US" altLang="en-US" sz="1100" i="1" dirty="0"/>
              <a:t>accessors</a:t>
            </a:r>
            <a:r>
              <a:rPr lang="en-US" altLang="en-US" sz="1100" dirty="0"/>
              <a:t>.</a:t>
            </a:r>
          </a:p>
          <a:p>
            <a:pPr eaLnBrk="1" hangingPunct="1">
              <a:lnSpc>
                <a:spcPct val="90000"/>
              </a:lnSpc>
            </a:pPr>
            <a:r>
              <a:rPr lang="en-US" altLang="en-US" sz="1100" dirty="0"/>
              <a:t>The methods that modify the data of fields are called </a:t>
            </a:r>
            <a:r>
              <a:rPr lang="en-US" altLang="en-US" sz="1100" i="1" dirty="0" err="1"/>
              <a:t>mutators</a:t>
            </a:r>
            <a:r>
              <a:rPr lang="en-US" altLang="en-US" sz="1100" dirty="0"/>
              <a:t>.</a:t>
            </a:r>
          </a:p>
          <a:p>
            <a:pPr eaLnBrk="1" hangingPunct="1">
              <a:lnSpc>
                <a:spcPct val="90000"/>
              </a:lnSpc>
            </a:pPr>
            <a:r>
              <a:rPr lang="en-US" altLang="en-US" sz="1100" dirty="0"/>
              <a:t>Each field that the programmer wishes to be viewed by other classes needs an accessor.</a:t>
            </a:r>
          </a:p>
          <a:p>
            <a:pPr eaLnBrk="1" hangingPunct="1">
              <a:lnSpc>
                <a:spcPct val="90000"/>
              </a:lnSpc>
            </a:pPr>
            <a:r>
              <a:rPr lang="en-US" altLang="en-US" sz="1100" dirty="0"/>
              <a:t>Each field that the programmer wishes to be modified by other classes needs a </a:t>
            </a:r>
            <a:r>
              <a:rPr lang="en-US" altLang="en-US" sz="1100" dirty="0" err="1"/>
              <a:t>mutator</a:t>
            </a:r>
            <a:r>
              <a:rPr lang="en-US" altLang="en-US" sz="1100" dirty="0"/>
              <a:t>.</a:t>
            </a:r>
          </a:p>
          <a:p>
            <a:endParaRPr lang="en-US" dirty="0"/>
          </a:p>
        </p:txBody>
      </p:sp>
      <p:sp>
        <p:nvSpPr>
          <p:cNvPr id="4" name="Slide Number Placeholder 3"/>
          <p:cNvSpPr>
            <a:spLocks noGrp="1"/>
          </p:cNvSpPr>
          <p:nvPr>
            <p:ph type="sldNum" sz="quarter" idx="10"/>
          </p:nvPr>
        </p:nvSpPr>
        <p:spPr/>
        <p:txBody>
          <a:bodyPr/>
          <a:lstStyle/>
          <a:p>
            <a:fld id="{B04FDA2A-5419-44B5-AE75-0024CAFD0903}" type="slidenum">
              <a:rPr lang="en-US" altLang="en-US" smtClean="0"/>
              <a:pPr/>
              <a:t>17</a:t>
            </a:fld>
            <a:endParaRPr lang="en-US" altLang="en-US"/>
          </a:p>
        </p:txBody>
      </p:sp>
    </p:spTree>
    <p:extLst>
      <p:ext uri="{BB962C8B-B14F-4D97-AF65-F5344CB8AC3E}">
        <p14:creationId xmlns:p14="http://schemas.microsoft.com/office/powerpoint/2010/main" val="2144511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eaLnBrk="1" hangingPunct="1"/>
            <a:r>
              <a:rPr lang="en-US" altLang="en-US" sz="2800" dirty="0"/>
              <a:t>Some data is the result of a calculation.</a:t>
            </a:r>
          </a:p>
          <a:p>
            <a:pPr eaLnBrk="1" hangingPunct="1"/>
            <a:r>
              <a:rPr lang="en-US" altLang="en-US" sz="2800" dirty="0"/>
              <a:t>Consider the area of a rectangle.</a:t>
            </a:r>
          </a:p>
          <a:p>
            <a:pPr lvl="1" eaLnBrk="1" hangingPunct="1"/>
            <a:r>
              <a:rPr lang="en-US" altLang="en-US" sz="2400" dirty="0">
                <a:latin typeface="Courier New" panose="02070309020205020404" pitchFamily="49" charset="0"/>
              </a:rPr>
              <a:t>length</a:t>
            </a:r>
            <a:r>
              <a:rPr lang="en-US" altLang="en-US" sz="2400" dirty="0"/>
              <a:t> times </a:t>
            </a:r>
            <a:r>
              <a:rPr lang="en-US" altLang="en-US" sz="2400" dirty="0">
                <a:latin typeface="Courier New" panose="02070309020205020404" pitchFamily="49" charset="0"/>
              </a:rPr>
              <a:t>width</a:t>
            </a:r>
          </a:p>
          <a:p>
            <a:pPr eaLnBrk="1" hangingPunct="1"/>
            <a:r>
              <a:rPr lang="en-US" altLang="en-US" sz="2800" dirty="0"/>
              <a:t>It would be impractical to use an </a:t>
            </a:r>
            <a:r>
              <a:rPr lang="en-US" altLang="en-US" sz="2800" dirty="0">
                <a:latin typeface="Courier New" panose="02070309020205020404" pitchFamily="49" charset="0"/>
              </a:rPr>
              <a:t>area</a:t>
            </a:r>
            <a:r>
              <a:rPr lang="en-US" altLang="en-US" sz="2800" dirty="0"/>
              <a:t> variable here.</a:t>
            </a:r>
          </a:p>
          <a:p>
            <a:pPr eaLnBrk="1" hangingPunct="1"/>
            <a:r>
              <a:rPr lang="en-US" altLang="en-US" sz="2800" dirty="0"/>
              <a:t>Data that requires the calculation of various factors has the potential to become </a:t>
            </a:r>
            <a:r>
              <a:rPr lang="en-US" altLang="en-US" sz="2800" i="1" dirty="0"/>
              <a:t>stale</a:t>
            </a:r>
            <a:r>
              <a:rPr lang="en-US" altLang="en-US" sz="2800" dirty="0"/>
              <a:t>.</a:t>
            </a:r>
          </a:p>
          <a:p>
            <a:pPr eaLnBrk="1" hangingPunct="1"/>
            <a:r>
              <a:rPr lang="en-US" altLang="en-US" sz="2800" dirty="0"/>
              <a:t>To avoid stale data, it is best to calculate the value of that data within a method rather than store it in a variable.</a:t>
            </a:r>
          </a:p>
          <a:p>
            <a:endParaRPr lang="en-US" dirty="0"/>
          </a:p>
        </p:txBody>
      </p:sp>
      <p:sp>
        <p:nvSpPr>
          <p:cNvPr id="4" name="Slide Number Placeholder 3"/>
          <p:cNvSpPr>
            <a:spLocks noGrp="1"/>
          </p:cNvSpPr>
          <p:nvPr>
            <p:ph type="sldNum" sz="quarter" idx="5"/>
          </p:nvPr>
        </p:nvSpPr>
        <p:spPr/>
        <p:txBody>
          <a:bodyPr/>
          <a:lstStyle/>
          <a:p>
            <a:fld id="{B04FDA2A-5419-44B5-AE75-0024CAFD0903}" type="slidenum">
              <a:rPr lang="en-US" altLang="en-US" smtClean="0"/>
              <a:pPr/>
              <a:t>18</a:t>
            </a:fld>
            <a:endParaRPr lang="en-US" altLang="en-US"/>
          </a:p>
        </p:txBody>
      </p:sp>
    </p:spTree>
    <p:extLst>
      <p:ext uri="{BB962C8B-B14F-4D97-AF65-F5344CB8AC3E}">
        <p14:creationId xmlns:p14="http://schemas.microsoft.com/office/powerpoint/2010/main" val="2445869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 the class</a:t>
            </a:r>
          </a:p>
          <a:p>
            <a:pPr eaLnBrk="1" hangingPunct="1"/>
            <a:r>
              <a:rPr lang="en-US" altLang="en-US" dirty="0"/>
              <a:t>The layout of a source code file can vary by individual programmers.</a:t>
            </a:r>
          </a:p>
          <a:p>
            <a:pPr eaLnBrk="1" hangingPunct="1"/>
            <a:r>
              <a:rPr lang="en-US" altLang="en-US" dirty="0"/>
              <a:t>Generally the layout is:</a:t>
            </a:r>
          </a:p>
          <a:p>
            <a:pPr lvl="1" eaLnBrk="1" hangingPunct="1"/>
            <a:r>
              <a:rPr lang="en-US" altLang="en-US" dirty="0"/>
              <a:t>Attributes are typically listed first</a:t>
            </a:r>
          </a:p>
          <a:p>
            <a:pPr lvl="1" eaLnBrk="1" hangingPunct="1"/>
            <a:r>
              <a:rPr lang="en-US" altLang="en-US" dirty="0"/>
              <a:t>Methods are typically listed second</a:t>
            </a:r>
          </a:p>
          <a:p>
            <a:pPr lvl="2" eaLnBrk="1" hangingPunct="1"/>
            <a:r>
              <a:rPr lang="en-US" altLang="en-US" dirty="0"/>
              <a:t>The main method is sometimes first, sometimes last.</a:t>
            </a:r>
          </a:p>
          <a:p>
            <a:pPr lvl="2" eaLnBrk="1" hangingPunct="1"/>
            <a:r>
              <a:rPr lang="en-US" altLang="en-US" dirty="0"/>
              <a:t>Accessors and </a:t>
            </a:r>
            <a:r>
              <a:rPr lang="en-US" altLang="en-US" dirty="0" err="1"/>
              <a:t>mutators</a:t>
            </a:r>
            <a:r>
              <a:rPr lang="en-US" altLang="en-US" dirty="0"/>
              <a:t> are typically grouped.</a:t>
            </a:r>
          </a:p>
          <a:p>
            <a:endParaRPr lang="en-US" dirty="0"/>
          </a:p>
        </p:txBody>
      </p:sp>
      <p:sp>
        <p:nvSpPr>
          <p:cNvPr id="4" name="Slide Number Placeholder 3"/>
          <p:cNvSpPr>
            <a:spLocks noGrp="1"/>
          </p:cNvSpPr>
          <p:nvPr>
            <p:ph type="sldNum" sz="quarter" idx="10"/>
          </p:nvPr>
        </p:nvSpPr>
        <p:spPr/>
        <p:txBody>
          <a:bodyPr/>
          <a:lstStyle/>
          <a:p>
            <a:fld id="{B04FDA2A-5419-44B5-AE75-0024CAFD0903}" type="slidenum">
              <a:rPr lang="en-US" altLang="en-US" smtClean="0"/>
              <a:pPr/>
              <a:t>20</a:t>
            </a:fld>
            <a:endParaRPr lang="en-US" altLang="en-US"/>
          </a:p>
        </p:txBody>
      </p:sp>
    </p:spTree>
    <p:extLst>
      <p:ext uri="{BB962C8B-B14F-4D97-AF65-F5344CB8AC3E}">
        <p14:creationId xmlns:p14="http://schemas.microsoft.com/office/powerpoint/2010/main" val="1519642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04FDA2A-5419-44B5-AE75-0024CAFD0903}" type="slidenum">
              <a:rPr lang="en-US" altLang="en-US" smtClean="0"/>
              <a:pPr/>
              <a:t>28</a:t>
            </a:fld>
            <a:endParaRPr lang="en-US" altLang="en-US"/>
          </a:p>
        </p:txBody>
      </p:sp>
    </p:spTree>
    <p:extLst>
      <p:ext uri="{BB962C8B-B14F-4D97-AF65-F5344CB8AC3E}">
        <p14:creationId xmlns:p14="http://schemas.microsoft.com/office/powerpoint/2010/main" val="904670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04FDA2A-5419-44B5-AE75-0024CAFD0903}" type="slidenum">
              <a:rPr lang="en-US" altLang="en-US" smtClean="0"/>
              <a:pPr/>
              <a:t>29</a:t>
            </a:fld>
            <a:endParaRPr lang="en-US" altLang="en-US"/>
          </a:p>
        </p:txBody>
      </p:sp>
    </p:spTree>
    <p:extLst>
      <p:ext uri="{BB962C8B-B14F-4D97-AF65-F5344CB8AC3E}">
        <p14:creationId xmlns:p14="http://schemas.microsoft.com/office/powerpoint/2010/main" val="1117382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04FDA2A-5419-44B5-AE75-0024CAFD0903}" type="slidenum">
              <a:rPr lang="en-US" altLang="en-US" smtClean="0"/>
              <a:pPr/>
              <a:t>30</a:t>
            </a:fld>
            <a:endParaRPr lang="en-US" altLang="en-US"/>
          </a:p>
        </p:txBody>
      </p:sp>
    </p:spTree>
    <p:extLst>
      <p:ext uri="{BB962C8B-B14F-4D97-AF65-F5344CB8AC3E}">
        <p14:creationId xmlns:p14="http://schemas.microsoft.com/office/powerpoint/2010/main" val="1976450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04FDA2A-5419-44B5-AE75-0024CAFD0903}" type="slidenum">
              <a:rPr lang="en-US" altLang="en-US" smtClean="0"/>
              <a:pPr/>
              <a:t>31</a:t>
            </a:fld>
            <a:endParaRPr lang="en-US" altLang="en-US"/>
          </a:p>
        </p:txBody>
      </p:sp>
    </p:spTree>
    <p:extLst>
      <p:ext uri="{BB962C8B-B14F-4D97-AF65-F5344CB8AC3E}">
        <p14:creationId xmlns:p14="http://schemas.microsoft.com/office/powerpoint/2010/main" val="27144532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04FDA2A-5419-44B5-AE75-0024CAFD0903}" type="slidenum">
              <a:rPr lang="en-US" altLang="en-US" smtClean="0"/>
              <a:pPr/>
              <a:t>33</a:t>
            </a:fld>
            <a:endParaRPr lang="en-US" altLang="en-US"/>
          </a:p>
        </p:txBody>
      </p:sp>
    </p:spTree>
    <p:extLst>
      <p:ext uri="{BB962C8B-B14F-4D97-AF65-F5344CB8AC3E}">
        <p14:creationId xmlns:p14="http://schemas.microsoft.com/office/powerpoint/2010/main" val="37484940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04FDA2A-5419-44B5-AE75-0024CAFD0903}" type="slidenum">
              <a:rPr lang="en-US" altLang="en-US" smtClean="0"/>
              <a:pPr/>
              <a:t>34</a:t>
            </a:fld>
            <a:endParaRPr lang="en-US" altLang="en-US"/>
          </a:p>
        </p:txBody>
      </p:sp>
    </p:spTree>
    <p:extLst>
      <p:ext uri="{BB962C8B-B14F-4D97-AF65-F5344CB8AC3E}">
        <p14:creationId xmlns:p14="http://schemas.microsoft.com/office/powerpoint/2010/main" val="14178392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04FDA2A-5419-44B5-AE75-0024CAFD0903}" type="slidenum">
              <a:rPr lang="en-US" altLang="en-US" smtClean="0"/>
              <a:pPr/>
              <a:t>35</a:t>
            </a:fld>
            <a:endParaRPr lang="en-US" altLang="en-US"/>
          </a:p>
        </p:txBody>
      </p:sp>
    </p:spTree>
    <p:extLst>
      <p:ext uri="{BB962C8B-B14F-4D97-AF65-F5344CB8AC3E}">
        <p14:creationId xmlns:p14="http://schemas.microsoft.com/office/powerpoint/2010/main" val="3551027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322375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7086600" cy="715962"/>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304800" y="1143000"/>
            <a:ext cx="8458200" cy="5105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1"/>
          </p:nvPr>
        </p:nvSpPr>
        <p:spPr>
          <a:xfrm>
            <a:off x="7239000" y="6400800"/>
            <a:ext cx="1600200" cy="304800"/>
          </a:xfrm>
        </p:spPr>
        <p:txBody>
          <a:bodyPr/>
          <a:lstStyle>
            <a:lvl1pPr>
              <a:defRPr/>
            </a:lvl1pPr>
          </a:lstStyle>
          <a:p>
            <a:r>
              <a:rPr lang="en-US" altLang="en-US"/>
              <a:t>Page </a:t>
            </a:r>
            <a:fld id="{2559D688-2AB9-4281-813D-F294D99D723F}" type="slidenum">
              <a:rPr lang="en-US" altLang="en-US"/>
              <a:pPr/>
              <a:t>‹#›</a:t>
            </a:fld>
            <a:endParaRPr lang="en-US" altLang="en-US"/>
          </a:p>
        </p:txBody>
      </p:sp>
    </p:spTree>
    <p:extLst>
      <p:ext uri="{BB962C8B-B14F-4D97-AF65-F5344CB8AC3E}">
        <p14:creationId xmlns:p14="http://schemas.microsoft.com/office/powerpoint/2010/main" val="4215313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8742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1739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957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5952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55954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14203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3255649975"/>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159533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04257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981200" y="274638"/>
            <a:ext cx="67056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381000" y="1143000"/>
            <a:ext cx="8458200" cy="498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1" name="Rectangle 7"/>
          <p:cNvSpPr>
            <a:spLocks noGrp="1" noChangeArrowheads="1"/>
          </p:cNvSpPr>
          <p:nvPr>
            <p:ph type="ftr" sz="quarter" idx="3"/>
          </p:nvPr>
        </p:nvSpPr>
        <p:spPr bwMode="auto">
          <a:xfrm>
            <a:off x="381000" y="6324600"/>
            <a:ext cx="3886200" cy="4000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cs typeface="Arial" panose="020B0604020202020204" pitchFamily="34" charset="0"/>
              </a:defRPr>
            </a:lvl1pPr>
          </a:lstStyle>
          <a:p>
            <a:endParaRPr lang="en-US" altLang="en-US"/>
          </a:p>
          <a:p>
            <a:r>
              <a:rPr lang="en-US" altLang="en-US"/>
              <a:t>Copyright © 2013 by John Wiley &amp; Sons.  All rights reserved.</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cs typeface="Arial" panose="020B0604020202020204" pitchFamily="34" charset="0"/>
              </a:defRPr>
            </a:lvl1pPr>
          </a:lstStyle>
          <a:p>
            <a:fld id="{5EE3B144-EA62-4272-9361-D51664647770}"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88" r:id="rId1"/>
    <p:sldLayoutId id="2147484089" r:id="rId2"/>
    <p:sldLayoutId id="2147484090" r:id="rId3"/>
    <p:sldLayoutId id="2147484091" r:id="rId4"/>
    <p:sldLayoutId id="2147484092" r:id="rId5"/>
    <p:sldLayoutId id="2147484093" r:id="rId6"/>
    <p:sldLayoutId id="2147484094" r:id="rId7"/>
    <p:sldLayoutId id="2147484095" r:id="rId8"/>
    <p:sldLayoutId id="2147484096" r:id="rId9"/>
    <p:sldLayoutId id="2147484097" r:id="rId10"/>
    <p:sldLayoutId id="2147484098" r:id="rId11"/>
  </p:sldLayoutIdLst>
  <p:hf hdr="0" dt="0"/>
  <p:txStyles>
    <p:titleStyle>
      <a:lvl1pPr algn="ctr" rtl="0" eaLnBrk="0" fontAlgn="base" hangingPunct="0">
        <a:spcBef>
          <a:spcPct val="0"/>
        </a:spcBef>
        <a:spcAft>
          <a:spcPct val="0"/>
        </a:spcAft>
        <a:defRPr sz="4000">
          <a:solidFill>
            <a:srgbClr val="835E01"/>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000">
          <a:solidFill>
            <a:srgbClr val="835E01"/>
          </a:solidFill>
          <a:latin typeface="Arial" charset="0"/>
          <a:ea typeface="MS PGothic" panose="020B0600070205080204" pitchFamily="34" charset="-128"/>
          <a:cs typeface="ＭＳ Ｐゴシック" charset="0"/>
        </a:defRPr>
      </a:lvl2pPr>
      <a:lvl3pPr algn="ctr" rtl="0" eaLnBrk="0" fontAlgn="base" hangingPunct="0">
        <a:spcBef>
          <a:spcPct val="0"/>
        </a:spcBef>
        <a:spcAft>
          <a:spcPct val="0"/>
        </a:spcAft>
        <a:defRPr sz="4000">
          <a:solidFill>
            <a:srgbClr val="835E01"/>
          </a:solidFill>
          <a:latin typeface="Arial" charset="0"/>
          <a:ea typeface="MS PGothic" panose="020B0600070205080204" pitchFamily="34" charset="-128"/>
          <a:cs typeface="ＭＳ Ｐゴシック" charset="0"/>
        </a:defRPr>
      </a:lvl3pPr>
      <a:lvl4pPr algn="ctr" rtl="0" eaLnBrk="0" fontAlgn="base" hangingPunct="0">
        <a:spcBef>
          <a:spcPct val="0"/>
        </a:spcBef>
        <a:spcAft>
          <a:spcPct val="0"/>
        </a:spcAft>
        <a:defRPr sz="4000">
          <a:solidFill>
            <a:srgbClr val="835E01"/>
          </a:solidFill>
          <a:latin typeface="Arial" charset="0"/>
          <a:ea typeface="MS PGothic" panose="020B0600070205080204" pitchFamily="34" charset="-128"/>
          <a:cs typeface="ＭＳ Ｐゴシック" charset="0"/>
        </a:defRPr>
      </a:lvl4pPr>
      <a:lvl5pPr algn="ctr" rtl="0" eaLnBrk="0" fontAlgn="base" hangingPunct="0">
        <a:spcBef>
          <a:spcPct val="0"/>
        </a:spcBef>
        <a:spcAft>
          <a:spcPct val="0"/>
        </a:spcAft>
        <a:defRPr sz="4000">
          <a:solidFill>
            <a:srgbClr val="835E01"/>
          </a:solidFill>
          <a:latin typeface="Arial" charset="0"/>
          <a:ea typeface="MS PGothic" panose="020B0600070205080204" pitchFamily="34" charset="-128"/>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lr>
          <a:srgbClr val="835E01"/>
        </a:buClr>
        <a:buSzPct val="60000"/>
        <a:buFont typeface="Wingdings" panose="05000000000000000000" pitchFamily="2" charset="2"/>
        <a:buChar char="q"/>
        <a:defRPr sz="32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20000"/>
        </a:spcBef>
        <a:spcAft>
          <a:spcPct val="0"/>
        </a:spcAft>
        <a:buClr>
          <a:srgbClr val="835E01"/>
        </a:buClr>
        <a:buSzPct val="100000"/>
        <a:buFont typeface="Wingdings" panose="05000000000000000000" pitchFamily="2" charset="2"/>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wmf"/><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hyperlink" Target="winword%20TestCircleWithConstructors.java" TargetMode="Externa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0.wmf"/><Relationship Id="rId4"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2.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hyperlink" Target="TestCircle.java" TargetMode="External"/><Relationship Id="rId5" Type="http://schemas.openxmlformats.org/officeDocument/2006/relationships/hyperlink" Target="Circle.java" TargetMode="External"/><Relationship Id="rId4" Type="http://schemas.openxmlformats.org/officeDocument/2006/relationships/image" Target="../media/image12.wmf"/></Relationships>
</file>

<file path=ppt/slides/_rels/slide28.xml.rels><?xml version="1.0" encoding="UTF-8" standalone="yes"?>
<Relationships xmlns="http://schemas.openxmlformats.org/package/2006/relationships"><Relationship Id="rId3" Type="http://schemas.openxmlformats.org/officeDocument/2006/relationships/hyperlink" Target="winword%20TestMortgageClass.java"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3.wmf"/><Relationship Id="rId5" Type="http://schemas.openxmlformats.org/officeDocument/2006/relationships/oleObject" Target="../embeddings/oleObject5.bin"/><Relationship Id="rId4" Type="http://schemas.openxmlformats.org/officeDocument/2006/relationships/hyperlink" Target="winword%20TestMortgageClass.java"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winword%20TestMortgageClass.java"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4.wmf"/><Relationship Id="rId5" Type="http://schemas.openxmlformats.org/officeDocument/2006/relationships/oleObject" Target="../embeddings/oleObject6.bin"/><Relationship Id="rId4" Type="http://schemas.openxmlformats.org/officeDocument/2006/relationships/hyperlink" Target="winword%20TestMortgageClass.java" TargetMode="External"/></Relationships>
</file>

<file path=ppt/slides/_rels/slide32.xml.rels><?xml version="1.0" encoding="UTF-8" standalone="yes"?>
<Relationships xmlns="http://schemas.openxmlformats.org/package/2006/relationships"><Relationship Id="rId2" Type="http://schemas.openxmlformats.org/officeDocument/2006/relationships/hyperlink" Target="TestPassObject.java"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winword%20TestMortgageClass.java"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winword%20TestMortgageClass.java"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2" Type="http://schemas.openxmlformats.org/officeDocument/2006/relationships/hyperlink" Target="TotalArea.java"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200" y="143692"/>
            <a:ext cx="7586134" cy="987333"/>
          </a:xfrm>
        </p:spPr>
        <p:txBody>
          <a:bodyPr anchor="ctr"/>
          <a:lstStyle/>
          <a:p>
            <a:r>
              <a:rPr lang="en-US" sz="3000" dirty="0"/>
              <a:t>Introduction to Java Programming and Data Structures</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solidFill>
                  <a:schemeClr val="tx2"/>
                </a:solidFill>
              </a:rPr>
              <a:t>Thirteenth Edition</a:t>
            </a:r>
          </a:p>
        </p:txBody>
      </p:sp>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9</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200" y="3252789"/>
            <a:ext cx="3657600" cy="1589177"/>
          </a:xfrm>
        </p:spPr>
        <p:txBody>
          <a:bodyPr/>
          <a:lstStyle/>
          <a:p>
            <a:r>
              <a:rPr lang="en-US" dirty="0"/>
              <a:t>Objects and Classes</a:t>
            </a:r>
          </a:p>
        </p:txBody>
      </p:sp>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IN" dirty="0"/>
              <a:t>2024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3"/>
          <a:srcRect t="22152" b="22152"/>
          <a:stretch>
            <a:fillRect/>
          </a:stretch>
        </p:blipFill>
        <p:spPr>
          <a:xfrm>
            <a:off x="315677" y="6420639"/>
            <a:ext cx="1176574" cy="296443"/>
          </a:xfrm>
        </p:spPr>
      </p:pic>
      <p:pic>
        <p:nvPicPr>
          <p:cNvPr id="9" name="Picture 8" descr="Graphical user interface&#10;&#10;Description automatically generated">
            <a:extLst>
              <a:ext uri="{FF2B5EF4-FFF2-40B4-BE49-F238E27FC236}">
                <a16:creationId xmlns:a16="http://schemas.microsoft.com/office/drawing/2014/main" id="{06D41134-5319-44AA-A170-48041B438E7E}"/>
              </a:ext>
            </a:extLst>
          </p:cNvPr>
          <p:cNvPicPr>
            <a:picLocks noChangeAspect="1"/>
          </p:cNvPicPr>
          <p:nvPr/>
        </p:nvPicPr>
        <p:blipFill>
          <a:blip r:embed="rId4"/>
          <a:stretch>
            <a:fillRect/>
          </a:stretch>
        </p:blipFill>
        <p:spPr>
          <a:xfrm>
            <a:off x="581108" y="1707337"/>
            <a:ext cx="3797134" cy="4523213"/>
          </a:xfrm>
          <a:prstGeom prst="rect">
            <a:avLst/>
          </a:prstGeom>
        </p:spPr>
      </p:pic>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Motivations</a:t>
            </a:r>
          </a:p>
        </p:txBody>
      </p:sp>
      <p:sp>
        <p:nvSpPr>
          <p:cNvPr id="5" name="Content Placeholder 4"/>
          <p:cNvSpPr>
            <a:spLocks noGrp="1"/>
          </p:cNvSpPr>
          <p:nvPr>
            <p:ph sz="quarter" idx="13"/>
          </p:nvPr>
        </p:nvSpPr>
        <p:spPr>
          <a:xfrm>
            <a:off x="457200" y="1556327"/>
            <a:ext cx="8343900" cy="2716128"/>
          </a:xfrm>
        </p:spPr>
        <p:txBody>
          <a:bodyPr/>
          <a:lstStyle/>
          <a:p>
            <a:pPr marL="432" indent="0">
              <a:buNone/>
            </a:pPr>
            <a:r>
              <a:rPr lang="en-IN" dirty="0"/>
              <a:t>After learning the preceding chapters, you are capable of solving many programming problems using selections, loops, methods, and arrays. However, these Java features are not sufficient for developing graphical user interfaces and large scale software systems. Suppose you want to develop a graphical user interface as shown below. How do you program it?</a:t>
            </a:r>
          </a:p>
        </p:txBody>
      </p:sp>
      <p:pic>
        <p:nvPicPr>
          <p:cNvPr id="2" name="Content Placeholder 1" descr="A screenshot of Show GUI window shows button OK and Cancel on the left, followed by text box for enter you name, check boxes for bold and italic, radio buttons as red and yellow with red selected, and a drop down button with freshman selected.">
            <a:extLst>
              <a:ext uri="{FF2B5EF4-FFF2-40B4-BE49-F238E27FC236}">
                <a16:creationId xmlns:a16="http://schemas.microsoft.com/office/drawing/2014/main" id="{64F0D953-8E4A-4044-B06B-2238BA7E01CA}"/>
              </a:ext>
            </a:extLst>
          </p:cNvPr>
          <p:cNvPicPr>
            <a:picLocks noGrp="1" noChangeAspect="1"/>
          </p:cNvPicPr>
          <p:nvPr>
            <p:ph sz="quarter" idx="14"/>
          </p:nvPr>
        </p:nvPicPr>
        <p:blipFill>
          <a:blip r:embed="rId2"/>
          <a:stretch>
            <a:fillRect/>
          </a:stretch>
        </p:blipFill>
        <p:spPr>
          <a:xfrm>
            <a:off x="457200" y="4721086"/>
            <a:ext cx="8229600" cy="878943"/>
          </a:xfrm>
          <a:prstGeom prst="rect">
            <a:avLst/>
          </a:prstGeom>
        </p:spPr>
      </p:pic>
    </p:spTree>
    <p:extLst>
      <p:ext uri="{BB962C8B-B14F-4D97-AF65-F5344CB8AC3E}">
        <p14:creationId xmlns:p14="http://schemas.microsoft.com/office/powerpoint/2010/main" val="2712661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Objectives </a:t>
            </a:r>
            <a:r>
              <a:rPr lang="en-IN" sz="2000" b="0" dirty="0"/>
              <a:t>(1 of 2)</a:t>
            </a:r>
            <a:endParaRPr lang="en-IN" b="0" dirty="0"/>
          </a:p>
        </p:txBody>
      </p:sp>
      <p:sp>
        <p:nvSpPr>
          <p:cNvPr id="3" name="Content Placeholder 2"/>
          <p:cNvSpPr>
            <a:spLocks noGrp="1"/>
          </p:cNvSpPr>
          <p:nvPr>
            <p:ph sz="quarter" idx="13"/>
          </p:nvPr>
        </p:nvSpPr>
        <p:spPr>
          <a:xfrm>
            <a:off x="457199" y="1554920"/>
            <a:ext cx="8513379" cy="4735521"/>
          </a:xfrm>
        </p:spPr>
        <p:txBody>
          <a:bodyPr/>
          <a:lstStyle/>
          <a:p>
            <a:pPr marL="432" indent="0">
              <a:spcBef>
                <a:spcPts val="600"/>
              </a:spcBef>
              <a:buNone/>
            </a:pPr>
            <a:r>
              <a:rPr lang="en-IN" sz="2000" b="1" dirty="0">
                <a:solidFill>
                  <a:srgbClr val="007FA3"/>
                </a:solidFill>
              </a:rPr>
              <a:t>9.1</a:t>
            </a:r>
            <a:r>
              <a:rPr lang="en-IN" sz="2000" dirty="0"/>
              <a:t> To describe objects and classes, and use classes to model objects (§9.2).</a:t>
            </a:r>
          </a:p>
          <a:p>
            <a:pPr marL="432" indent="0">
              <a:spcBef>
                <a:spcPts val="600"/>
              </a:spcBef>
              <a:buNone/>
            </a:pPr>
            <a:r>
              <a:rPr lang="en-IN" sz="2000" b="1" dirty="0">
                <a:solidFill>
                  <a:srgbClr val="007FA3"/>
                </a:solidFill>
              </a:rPr>
              <a:t>9.2</a:t>
            </a:r>
            <a:r>
              <a:rPr lang="en-IN" sz="2000" dirty="0"/>
              <a:t> To use U</a:t>
            </a:r>
            <a:r>
              <a:rPr lang="en-IN" sz="100" dirty="0"/>
              <a:t> </a:t>
            </a:r>
            <a:r>
              <a:rPr lang="en-IN" sz="2000" dirty="0"/>
              <a:t>M</a:t>
            </a:r>
            <a:r>
              <a:rPr lang="en-IN" sz="100" dirty="0"/>
              <a:t> </a:t>
            </a:r>
            <a:r>
              <a:rPr lang="en-IN" sz="2000" dirty="0"/>
              <a:t>L graphical notation to describe classes and objects (§9.2).</a:t>
            </a:r>
          </a:p>
          <a:p>
            <a:pPr marL="432" indent="0">
              <a:spcBef>
                <a:spcPts val="600"/>
              </a:spcBef>
              <a:buNone/>
            </a:pPr>
            <a:r>
              <a:rPr lang="en-IN" sz="2000" b="1" dirty="0">
                <a:solidFill>
                  <a:srgbClr val="007FA3"/>
                </a:solidFill>
              </a:rPr>
              <a:t>9.3</a:t>
            </a:r>
            <a:r>
              <a:rPr lang="en-IN" sz="2000" dirty="0"/>
              <a:t> To demonstrate how to define classes and create objects (§9.3).</a:t>
            </a:r>
          </a:p>
          <a:p>
            <a:pPr marL="432" indent="0">
              <a:spcBef>
                <a:spcPts val="600"/>
              </a:spcBef>
              <a:buNone/>
            </a:pPr>
            <a:r>
              <a:rPr lang="en-IN" sz="2000" b="1" dirty="0">
                <a:solidFill>
                  <a:srgbClr val="007FA3"/>
                </a:solidFill>
              </a:rPr>
              <a:t>9.4</a:t>
            </a:r>
            <a:r>
              <a:rPr lang="en-IN" sz="2000" dirty="0"/>
              <a:t> To create objects using constructors (§9.4).</a:t>
            </a:r>
          </a:p>
          <a:p>
            <a:pPr marL="432" indent="0">
              <a:spcBef>
                <a:spcPts val="600"/>
              </a:spcBef>
              <a:buNone/>
            </a:pPr>
            <a:r>
              <a:rPr lang="en-IN" sz="2000" b="1" dirty="0">
                <a:solidFill>
                  <a:srgbClr val="007FA3"/>
                </a:solidFill>
              </a:rPr>
              <a:t>9.5</a:t>
            </a:r>
            <a:r>
              <a:rPr lang="en-IN" sz="2000" dirty="0"/>
              <a:t> To define a reference variable using a reference type and access objects via object reference variables (§9.5). </a:t>
            </a:r>
          </a:p>
          <a:p>
            <a:pPr marL="432" indent="0">
              <a:spcBef>
                <a:spcPts val="600"/>
              </a:spcBef>
              <a:buNone/>
            </a:pPr>
            <a:r>
              <a:rPr lang="en-IN" sz="2000" b="1" dirty="0">
                <a:solidFill>
                  <a:srgbClr val="007FA3"/>
                </a:solidFill>
              </a:rPr>
              <a:t>9.6</a:t>
            </a:r>
            <a:r>
              <a:rPr lang="en-IN" sz="2000" dirty="0"/>
              <a:t> To access an object’s data and methods using the object member access operator (.) (§9.5.1).</a:t>
            </a:r>
          </a:p>
          <a:p>
            <a:pPr marL="432" indent="0">
              <a:spcBef>
                <a:spcPts val="600"/>
              </a:spcBef>
              <a:buNone/>
            </a:pPr>
            <a:r>
              <a:rPr lang="en-IN" sz="2000" b="1" dirty="0">
                <a:solidFill>
                  <a:srgbClr val="007FA3"/>
                </a:solidFill>
              </a:rPr>
              <a:t>9.7</a:t>
            </a:r>
            <a:r>
              <a:rPr lang="en-IN" sz="2000" dirty="0"/>
              <a:t> To define data fields of reference types and assign default values for an object’s data fields (§9.5.2).</a:t>
            </a:r>
          </a:p>
          <a:p>
            <a:pPr marL="432" indent="0">
              <a:spcBef>
                <a:spcPts val="600"/>
              </a:spcBef>
              <a:buNone/>
            </a:pPr>
            <a:r>
              <a:rPr lang="en-IN" sz="2000" b="1" dirty="0">
                <a:solidFill>
                  <a:srgbClr val="007FA3"/>
                </a:solidFill>
              </a:rPr>
              <a:t>9.8</a:t>
            </a:r>
            <a:r>
              <a:rPr lang="en-IN" sz="2000" dirty="0"/>
              <a:t> To distinguish between object reference variables and primitive data type variables (§9.5.3).</a:t>
            </a:r>
          </a:p>
        </p:txBody>
      </p:sp>
    </p:spTree>
    <p:extLst>
      <p:ext uri="{BB962C8B-B14F-4D97-AF65-F5344CB8AC3E}">
        <p14:creationId xmlns:p14="http://schemas.microsoft.com/office/powerpoint/2010/main" val="3452098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Objectives </a:t>
            </a:r>
            <a:r>
              <a:rPr lang="en-IN" sz="2000" b="0" dirty="0"/>
              <a:t>(2 of 2)</a:t>
            </a:r>
            <a:endParaRPr lang="en-IN" b="0" dirty="0"/>
          </a:p>
        </p:txBody>
      </p:sp>
      <p:sp>
        <p:nvSpPr>
          <p:cNvPr id="3" name="Content Placeholder 2"/>
          <p:cNvSpPr>
            <a:spLocks noGrp="1"/>
          </p:cNvSpPr>
          <p:nvPr>
            <p:ph sz="quarter" idx="13"/>
          </p:nvPr>
        </p:nvSpPr>
        <p:spPr>
          <a:xfrm>
            <a:off x="457200" y="1554920"/>
            <a:ext cx="8232775" cy="4751287"/>
          </a:xfrm>
        </p:spPr>
        <p:txBody>
          <a:bodyPr/>
          <a:lstStyle/>
          <a:p>
            <a:pPr marL="432" indent="0">
              <a:buNone/>
            </a:pPr>
            <a:r>
              <a:rPr lang="en-IN" sz="1800" b="1" dirty="0">
                <a:solidFill>
                  <a:srgbClr val="007FA3"/>
                </a:solidFill>
              </a:rPr>
              <a:t>9.9</a:t>
            </a:r>
            <a:r>
              <a:rPr lang="en-IN" sz="1800" dirty="0"/>
              <a:t> To use the Java library classes </a:t>
            </a:r>
            <a:r>
              <a:rPr lang="en-IN" sz="1800" b="1" dirty="0"/>
              <a:t>Date</a:t>
            </a:r>
            <a:r>
              <a:rPr lang="en-IN" sz="1800" dirty="0"/>
              <a:t>, </a:t>
            </a:r>
            <a:r>
              <a:rPr lang="en-IN" sz="1800" b="1" dirty="0"/>
              <a:t>Random</a:t>
            </a:r>
            <a:r>
              <a:rPr lang="en-IN" sz="1800" dirty="0"/>
              <a:t>, and </a:t>
            </a:r>
            <a:r>
              <a:rPr lang="en-IN" sz="1800" b="1" dirty="0"/>
              <a:t>Point2D</a:t>
            </a:r>
            <a:r>
              <a:rPr lang="en-IN" sz="1800" dirty="0"/>
              <a:t> (§9.6).</a:t>
            </a:r>
          </a:p>
          <a:p>
            <a:pPr marL="432" indent="0">
              <a:buNone/>
            </a:pPr>
            <a:r>
              <a:rPr lang="en-IN" sz="1800" b="1" dirty="0">
                <a:solidFill>
                  <a:srgbClr val="007FA3"/>
                </a:solidFill>
              </a:rPr>
              <a:t>9.10</a:t>
            </a:r>
            <a:r>
              <a:rPr lang="en-IN" sz="1800" dirty="0"/>
              <a:t> To distinguish between instance and static variables and methods (§9.7).</a:t>
            </a:r>
          </a:p>
          <a:p>
            <a:pPr marL="432" indent="0">
              <a:buNone/>
            </a:pPr>
            <a:r>
              <a:rPr lang="en-IN" sz="1800" b="1" dirty="0">
                <a:solidFill>
                  <a:srgbClr val="007FA3"/>
                </a:solidFill>
              </a:rPr>
              <a:t>9.11</a:t>
            </a:r>
            <a:r>
              <a:rPr lang="en-IN" sz="1800" dirty="0"/>
              <a:t> To define private data fields with appropriate </a:t>
            </a:r>
            <a:r>
              <a:rPr lang="en-IN" sz="1800" b="1" dirty="0"/>
              <a:t>get</a:t>
            </a:r>
            <a:r>
              <a:rPr lang="en-IN" sz="1800" dirty="0"/>
              <a:t> and </a:t>
            </a:r>
            <a:r>
              <a:rPr lang="en-IN" sz="1800" b="1" dirty="0"/>
              <a:t>set</a:t>
            </a:r>
            <a:r>
              <a:rPr lang="en-IN" sz="1800" dirty="0"/>
              <a:t> methods (§9.8).</a:t>
            </a:r>
          </a:p>
          <a:p>
            <a:pPr marL="432" indent="0">
              <a:buNone/>
            </a:pPr>
            <a:r>
              <a:rPr lang="en-IN" sz="1800" b="1" dirty="0">
                <a:solidFill>
                  <a:srgbClr val="007FA3"/>
                </a:solidFill>
              </a:rPr>
              <a:t>9.12</a:t>
            </a:r>
            <a:r>
              <a:rPr lang="en-IN" sz="1800" dirty="0"/>
              <a:t> To encapsulate data fields to make classes easy to maintain (§9.9).</a:t>
            </a:r>
          </a:p>
          <a:p>
            <a:pPr marL="432" indent="0">
              <a:buNone/>
            </a:pPr>
            <a:r>
              <a:rPr lang="en-IN" sz="1800" b="1" dirty="0">
                <a:solidFill>
                  <a:srgbClr val="007FA3"/>
                </a:solidFill>
              </a:rPr>
              <a:t>9.13</a:t>
            </a:r>
            <a:r>
              <a:rPr lang="en-IN" sz="1800" dirty="0"/>
              <a:t> To develop methods with object arguments and differentiate between primitive-type arguments and object-type arguments (§9.10).</a:t>
            </a:r>
          </a:p>
          <a:p>
            <a:pPr marL="432" indent="0">
              <a:buNone/>
            </a:pPr>
            <a:r>
              <a:rPr lang="en-IN" sz="1800" b="1" dirty="0">
                <a:solidFill>
                  <a:srgbClr val="007FA3"/>
                </a:solidFill>
              </a:rPr>
              <a:t>9.14</a:t>
            </a:r>
            <a:r>
              <a:rPr lang="en-IN" sz="1800" dirty="0"/>
              <a:t> To store and process objects in arrays (§9.11).</a:t>
            </a:r>
          </a:p>
          <a:p>
            <a:pPr marL="432" indent="0">
              <a:buNone/>
            </a:pPr>
            <a:r>
              <a:rPr lang="en-IN" sz="1800" b="1" dirty="0">
                <a:solidFill>
                  <a:srgbClr val="007FA3"/>
                </a:solidFill>
              </a:rPr>
              <a:t>9.15</a:t>
            </a:r>
            <a:r>
              <a:rPr lang="en-IN" sz="1800" dirty="0"/>
              <a:t> To create immutable objects from immutable classes to protect the contents of objects (§9.12).</a:t>
            </a:r>
          </a:p>
          <a:p>
            <a:pPr marL="432" indent="0">
              <a:buNone/>
            </a:pPr>
            <a:r>
              <a:rPr lang="en-IN" sz="1800" b="1" dirty="0">
                <a:solidFill>
                  <a:srgbClr val="007FA3"/>
                </a:solidFill>
              </a:rPr>
              <a:t>9.16</a:t>
            </a:r>
            <a:r>
              <a:rPr lang="en-IN" sz="1800" dirty="0"/>
              <a:t> To determine the scope of variables in the context of a class (§9.13).</a:t>
            </a:r>
          </a:p>
          <a:p>
            <a:pPr marL="432" indent="0">
              <a:buNone/>
            </a:pPr>
            <a:r>
              <a:rPr lang="en-IN" sz="1800" b="1">
                <a:solidFill>
                  <a:srgbClr val="007FA3"/>
                </a:solidFill>
              </a:rPr>
              <a:t>9.17</a:t>
            </a:r>
            <a:r>
              <a:rPr lang="en-IN" sz="1800"/>
              <a:t> </a:t>
            </a:r>
            <a:r>
              <a:rPr lang="en-IN" sz="1800" dirty="0"/>
              <a:t>To use the keyword </a:t>
            </a:r>
            <a:r>
              <a:rPr lang="en-IN" sz="1800" b="1" dirty="0"/>
              <a:t>this</a:t>
            </a:r>
            <a:r>
              <a:rPr lang="en-IN" sz="1800" dirty="0"/>
              <a:t> to refer to the calling object itself (§9.14).</a:t>
            </a:r>
          </a:p>
        </p:txBody>
      </p:sp>
    </p:spTree>
    <p:extLst>
      <p:ext uri="{BB962C8B-B14F-4D97-AF65-F5344CB8AC3E}">
        <p14:creationId xmlns:p14="http://schemas.microsoft.com/office/powerpoint/2010/main" val="2882277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CB026B68-3CDE-498D-B53F-F078BA566635}"/>
              </a:ext>
            </a:extLst>
          </p:cNvPr>
          <p:cNvSpPr>
            <a:spLocks noGrp="1" noChangeArrowheads="1"/>
          </p:cNvSpPr>
          <p:nvPr>
            <p:ph type="title"/>
          </p:nvPr>
        </p:nvSpPr>
        <p:spPr>
          <a:xfrm>
            <a:off x="838200" y="304800"/>
            <a:ext cx="7086600" cy="715962"/>
          </a:xfrm>
        </p:spPr>
        <p:txBody>
          <a:bodyPr/>
          <a:lstStyle/>
          <a:p>
            <a:pPr algn="ctr"/>
            <a:r>
              <a:rPr lang="en-US" altLang="en-US" dirty="0"/>
              <a:t>Classes</a:t>
            </a:r>
          </a:p>
        </p:txBody>
      </p:sp>
      <p:sp>
        <p:nvSpPr>
          <p:cNvPr id="5123" name="Content Placeholder 2">
            <a:extLst>
              <a:ext uri="{FF2B5EF4-FFF2-40B4-BE49-F238E27FC236}">
                <a16:creationId xmlns:a16="http://schemas.microsoft.com/office/drawing/2014/main" id="{0FDA8DDD-03DC-45C6-BCBB-5BD170D9CAAB}"/>
              </a:ext>
            </a:extLst>
          </p:cNvPr>
          <p:cNvSpPr>
            <a:spLocks noGrp="1" noChangeArrowheads="1"/>
          </p:cNvSpPr>
          <p:nvPr>
            <p:ph idx="1"/>
          </p:nvPr>
        </p:nvSpPr>
        <p:spPr/>
        <p:txBody>
          <a:bodyPr/>
          <a:lstStyle/>
          <a:p>
            <a:pPr>
              <a:buFontTx/>
              <a:buChar char="•"/>
            </a:pPr>
            <a:r>
              <a:rPr lang="en-US" altLang="en-US" sz="2800" dirty="0"/>
              <a:t>In an object-oriented programming language, like Java, you create programs that are made of objects.</a:t>
            </a:r>
          </a:p>
          <a:p>
            <a:pPr>
              <a:buFontTx/>
              <a:buChar char="•"/>
            </a:pPr>
            <a:r>
              <a:rPr lang="en-US" altLang="en-US" sz="2800" dirty="0"/>
              <a:t>In software, an object has two capabilities:</a:t>
            </a:r>
          </a:p>
          <a:p>
            <a:pPr lvl="1"/>
            <a:r>
              <a:rPr lang="en-US" altLang="en-US" dirty="0"/>
              <a:t>An object can store data.</a:t>
            </a:r>
          </a:p>
          <a:p>
            <a:pPr lvl="1"/>
            <a:r>
              <a:rPr lang="en-US" altLang="en-US" dirty="0"/>
              <a:t>An object can perform operations.</a:t>
            </a:r>
          </a:p>
          <a:p>
            <a:pPr>
              <a:buFontTx/>
              <a:buChar char="•"/>
            </a:pPr>
            <a:r>
              <a:rPr lang="en-US" altLang="en-US" sz="2800" dirty="0"/>
              <a:t>The data stored in an object are commonly called </a:t>
            </a:r>
            <a:r>
              <a:rPr lang="en-US" altLang="en-US" sz="2800" i="1" dirty="0"/>
              <a:t>attributes </a:t>
            </a:r>
            <a:r>
              <a:rPr lang="en-US" altLang="en-US" sz="2800" dirty="0"/>
              <a:t>or </a:t>
            </a:r>
            <a:r>
              <a:rPr lang="en-US" altLang="en-US" sz="2800" i="1" dirty="0"/>
              <a:t>fields</a:t>
            </a:r>
            <a:r>
              <a:rPr lang="en-US" altLang="en-US" sz="2800" dirty="0"/>
              <a:t>.</a:t>
            </a:r>
          </a:p>
          <a:p>
            <a:pPr>
              <a:buFontTx/>
              <a:buChar char="•"/>
            </a:pPr>
            <a:r>
              <a:rPr lang="en-US" altLang="en-US" sz="2800" dirty="0"/>
              <a:t>The operations that an object can perform are called </a:t>
            </a:r>
            <a:r>
              <a:rPr lang="en-US" altLang="en-US" sz="2800" i="1" dirty="0"/>
              <a:t>methods</a:t>
            </a:r>
            <a:r>
              <a:rPr lang="en-US" altLang="en-US" sz="2800" dirty="0"/>
              <a:t>.</a:t>
            </a:r>
          </a:p>
          <a:p>
            <a:pPr lvl="2">
              <a:buFontTx/>
              <a:buChar char="•"/>
            </a:pPr>
            <a:endParaRPr lang="en-US" altLang="en-US" sz="2800" dirty="0"/>
          </a:p>
        </p:txBody>
      </p:sp>
    </p:spTree>
    <p:extLst>
      <p:ext uri="{BB962C8B-B14F-4D97-AF65-F5344CB8AC3E}">
        <p14:creationId xmlns:p14="http://schemas.microsoft.com/office/powerpoint/2010/main" val="825037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1ECA6EA8-2C93-4B2D-B9D0-E89E531B3B21}"/>
              </a:ext>
            </a:extLst>
          </p:cNvPr>
          <p:cNvSpPr>
            <a:spLocks noGrp="1" noChangeArrowheads="1"/>
          </p:cNvSpPr>
          <p:nvPr>
            <p:ph type="title"/>
          </p:nvPr>
        </p:nvSpPr>
        <p:spPr/>
        <p:txBody>
          <a:bodyPr/>
          <a:lstStyle/>
          <a:p>
            <a:r>
              <a:rPr lang="en-US" altLang="en-US"/>
              <a:t>Classes and Instances</a:t>
            </a:r>
          </a:p>
        </p:txBody>
      </p:sp>
      <p:sp>
        <p:nvSpPr>
          <p:cNvPr id="9219" name="Content Placeholder 2">
            <a:extLst>
              <a:ext uri="{FF2B5EF4-FFF2-40B4-BE49-F238E27FC236}">
                <a16:creationId xmlns:a16="http://schemas.microsoft.com/office/drawing/2014/main" id="{A9B56F27-2116-42EC-A1A7-D3844258DA32}"/>
              </a:ext>
            </a:extLst>
          </p:cNvPr>
          <p:cNvSpPr>
            <a:spLocks noGrp="1" noChangeArrowheads="1"/>
          </p:cNvSpPr>
          <p:nvPr>
            <p:ph idx="1"/>
          </p:nvPr>
        </p:nvSpPr>
        <p:spPr/>
        <p:txBody>
          <a:bodyPr/>
          <a:lstStyle/>
          <a:p>
            <a:pPr eaLnBrk="1" hangingPunct="1">
              <a:buFontTx/>
              <a:buChar char="•"/>
            </a:pPr>
            <a:r>
              <a:rPr lang="en-US" altLang="en-US" sz="2000"/>
              <a:t>Many objects can be created from a class.</a:t>
            </a:r>
          </a:p>
          <a:p>
            <a:pPr eaLnBrk="1" hangingPunct="1">
              <a:buFontTx/>
              <a:buChar char="•"/>
            </a:pPr>
            <a:r>
              <a:rPr lang="en-US" altLang="en-US" sz="2000"/>
              <a:t>Each object is independent of the others.</a:t>
            </a:r>
          </a:p>
          <a:p>
            <a:pPr>
              <a:buFontTx/>
              <a:buChar char="•"/>
            </a:pPr>
            <a:endParaRPr lang="en-US" altLang="en-US"/>
          </a:p>
        </p:txBody>
      </p:sp>
      <p:pic>
        <p:nvPicPr>
          <p:cNvPr id="3" name="Picture 2">
            <a:extLst>
              <a:ext uri="{FF2B5EF4-FFF2-40B4-BE49-F238E27FC236}">
                <a16:creationId xmlns:a16="http://schemas.microsoft.com/office/drawing/2014/main" id="{83D75427-8D88-402D-954E-27258FDEE4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4501" y="2047289"/>
            <a:ext cx="6258798" cy="4201111"/>
          </a:xfrm>
          <a:prstGeom prst="rect">
            <a:avLst/>
          </a:prstGeom>
        </p:spPr>
      </p:pic>
    </p:spTree>
    <p:extLst>
      <p:ext uri="{BB962C8B-B14F-4D97-AF65-F5344CB8AC3E}">
        <p14:creationId xmlns:p14="http://schemas.microsoft.com/office/powerpoint/2010/main" val="2507319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lstStyle/>
          <a:p>
            <a:r>
              <a:rPr lang="en-US" altLang="en-US"/>
              <a:t>Objects and Programs</a:t>
            </a:r>
          </a:p>
        </p:txBody>
      </p:sp>
      <p:sp>
        <p:nvSpPr>
          <p:cNvPr id="15362" name="Content Placeholder 2"/>
          <p:cNvSpPr>
            <a:spLocks noGrp="1"/>
          </p:cNvSpPr>
          <p:nvPr>
            <p:ph idx="1"/>
          </p:nvPr>
        </p:nvSpPr>
        <p:spPr>
          <a:xfrm>
            <a:off x="304800" y="1066800"/>
            <a:ext cx="8458200" cy="1295400"/>
          </a:xfrm>
        </p:spPr>
        <p:txBody>
          <a:bodyPr/>
          <a:lstStyle/>
          <a:p>
            <a:pPr lvl="1">
              <a:spcBef>
                <a:spcPct val="0"/>
              </a:spcBef>
            </a:pPr>
            <a:r>
              <a:rPr lang="en-US" altLang="en-US" sz="2400" dirty="0"/>
              <a:t>For example, the </a:t>
            </a:r>
            <a:r>
              <a:rPr lang="en-US" altLang="en-US" sz="2400" dirty="0">
                <a:latin typeface="Consolas" panose="020B0609020204030204" pitchFamily="49" charset="0"/>
              </a:rPr>
              <a:t>String</a:t>
            </a:r>
            <a:r>
              <a:rPr lang="en-US" altLang="en-US" sz="2400" dirty="0"/>
              <a:t> class provides methods:</a:t>
            </a:r>
          </a:p>
          <a:p>
            <a:pPr lvl="2">
              <a:spcBef>
                <a:spcPct val="0"/>
              </a:spcBef>
            </a:pPr>
            <a:r>
              <a:rPr lang="en-US" altLang="en-US" sz="2000" dirty="0"/>
              <a:t>Examples:  </a:t>
            </a:r>
            <a:r>
              <a:rPr lang="en-US" altLang="en-US" sz="2000" dirty="0">
                <a:solidFill>
                  <a:srgbClr val="0033CC"/>
                </a:solidFill>
                <a:latin typeface="Consolas" panose="020B0609020204030204" pitchFamily="49" charset="0"/>
              </a:rPr>
              <a:t>length()</a:t>
            </a:r>
            <a:r>
              <a:rPr lang="en-US" altLang="en-US" sz="2000" dirty="0">
                <a:solidFill>
                  <a:srgbClr val="0033CC"/>
                </a:solidFill>
              </a:rPr>
              <a:t> </a:t>
            </a:r>
            <a:r>
              <a:rPr lang="en-US" altLang="en-US" sz="2000" dirty="0"/>
              <a:t>and </a:t>
            </a:r>
            <a:r>
              <a:rPr lang="en-US" altLang="en-US" sz="2000" dirty="0" err="1">
                <a:solidFill>
                  <a:srgbClr val="00B050"/>
                </a:solidFill>
                <a:latin typeface="Consolas" panose="020B0609020204030204" pitchFamily="49" charset="0"/>
              </a:rPr>
              <a:t>charAt</a:t>
            </a:r>
            <a:r>
              <a:rPr lang="en-US" altLang="en-US" sz="2000" dirty="0">
                <a:solidFill>
                  <a:srgbClr val="00B050"/>
                </a:solidFill>
                <a:latin typeface="Consolas" panose="020B0609020204030204" pitchFamily="49" charset="0"/>
              </a:rPr>
              <a:t>()</a:t>
            </a:r>
            <a:r>
              <a:rPr lang="en-US" altLang="en-US" sz="2000" dirty="0">
                <a:solidFill>
                  <a:srgbClr val="00B050"/>
                </a:solidFill>
              </a:rPr>
              <a:t> </a:t>
            </a:r>
            <a:r>
              <a:rPr lang="en-US" altLang="en-US" sz="2000" dirty="0"/>
              <a:t>methods</a:t>
            </a:r>
          </a:p>
        </p:txBody>
      </p:sp>
      <p:sp>
        <p:nvSpPr>
          <p:cNvPr id="15364" name="Slide Number Placeholder 2"/>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1200">
                <a:solidFill>
                  <a:srgbClr val="898989"/>
                </a:solidFill>
              </a:rPr>
              <a:t>Page </a:t>
            </a:r>
            <a:fld id="{F85BF249-A724-4F60-8C47-A81E82A7A858}" type="slidenum">
              <a:rPr lang="en-US" altLang="en-US" sz="1200">
                <a:solidFill>
                  <a:srgbClr val="898989"/>
                </a:solidFill>
              </a:rPr>
              <a:pPr eaLnBrk="1" hangingPunct="1"/>
              <a:t>7</a:t>
            </a:fld>
            <a:endParaRPr lang="en-US" altLang="en-US" sz="1200">
              <a:solidFill>
                <a:srgbClr val="898989"/>
              </a:solidFill>
            </a:endParaRPr>
          </a:p>
        </p:txBody>
      </p:sp>
      <p:sp>
        <p:nvSpPr>
          <p:cNvPr id="18" name="Content Placeholder 2"/>
          <p:cNvSpPr txBox="1">
            <a:spLocks/>
          </p:cNvSpPr>
          <p:nvPr/>
        </p:nvSpPr>
        <p:spPr bwMode="auto">
          <a:xfrm>
            <a:off x="1219200" y="2895600"/>
            <a:ext cx="6629400" cy="11430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buClr>
                <a:srgbClr val="835E01"/>
              </a:buClr>
              <a:buSzPct val="60000"/>
              <a:buFont typeface="Wingdings" panose="05000000000000000000" pitchFamily="2" charset="2"/>
              <a:buNone/>
            </a:pPr>
            <a:r>
              <a:rPr lang="en-US" altLang="en-US" sz="2000" dirty="0">
                <a:latin typeface="Consolas" panose="020B0609020204030204" pitchFamily="49" charset="0"/>
              </a:rPr>
              <a:t>String greeting = new String(</a:t>
            </a:r>
            <a:r>
              <a:rPr lang="ja-JP" altLang="en-US" sz="2000" dirty="0">
                <a:latin typeface="Consolas" panose="020B0609020204030204" pitchFamily="49" charset="0"/>
              </a:rPr>
              <a:t>“</a:t>
            </a:r>
            <a:r>
              <a:rPr lang="en-US" altLang="ja-JP" sz="2000" dirty="0">
                <a:latin typeface="Consolas" panose="020B0609020204030204" pitchFamily="49" charset="0"/>
              </a:rPr>
              <a:t>Hello World</a:t>
            </a:r>
            <a:r>
              <a:rPr lang="ja-JP" altLang="en-US" sz="2000" dirty="0">
                <a:latin typeface="Consolas" panose="020B0609020204030204" pitchFamily="49" charset="0"/>
              </a:rPr>
              <a:t>”</a:t>
            </a:r>
            <a:r>
              <a:rPr lang="en-US" altLang="ja-JP" sz="2000" dirty="0">
                <a:latin typeface="Consolas" panose="020B0609020204030204" pitchFamily="49" charset="0"/>
              </a:rPr>
              <a:t>);</a:t>
            </a:r>
          </a:p>
          <a:p>
            <a:pPr>
              <a:buClr>
                <a:srgbClr val="835E01"/>
              </a:buClr>
              <a:buSzPct val="60000"/>
              <a:buFont typeface="Wingdings" panose="05000000000000000000" pitchFamily="2" charset="2"/>
              <a:buNone/>
            </a:pPr>
            <a:r>
              <a:rPr lang="en-US" altLang="en-US" sz="2000" dirty="0" err="1">
                <a:latin typeface="Consolas" panose="020B0609020204030204" pitchFamily="49" charset="0"/>
              </a:rPr>
              <a:t>int</a:t>
            </a:r>
            <a:r>
              <a:rPr lang="en-US" altLang="en-US" sz="2000" dirty="0">
                <a:latin typeface="Consolas" panose="020B0609020204030204" pitchFamily="49" charset="0"/>
              </a:rPr>
              <a:t> </a:t>
            </a:r>
            <a:r>
              <a:rPr lang="en-US" altLang="en-US" sz="2000" dirty="0" err="1">
                <a:latin typeface="Consolas" panose="020B0609020204030204" pitchFamily="49" charset="0"/>
              </a:rPr>
              <a:t>len</a:t>
            </a:r>
            <a:r>
              <a:rPr lang="en-US" altLang="en-US" sz="2000" dirty="0">
                <a:latin typeface="Consolas" panose="020B0609020204030204" pitchFamily="49" charset="0"/>
              </a:rPr>
              <a:t> = </a:t>
            </a:r>
            <a:r>
              <a:rPr lang="en-US" altLang="en-US" sz="2000" dirty="0" err="1">
                <a:latin typeface="Consolas" panose="020B0609020204030204" pitchFamily="49" charset="0"/>
              </a:rPr>
              <a:t>greeting.</a:t>
            </a:r>
            <a:r>
              <a:rPr lang="en-US" altLang="en-US" sz="2000" dirty="0" err="1">
                <a:solidFill>
                  <a:srgbClr val="0033CC"/>
                </a:solidFill>
                <a:latin typeface="Consolas" panose="020B0609020204030204" pitchFamily="49" charset="0"/>
              </a:rPr>
              <a:t>length</a:t>
            </a:r>
            <a:r>
              <a:rPr lang="en-US" altLang="en-US" sz="2000" dirty="0">
                <a:solidFill>
                  <a:srgbClr val="0033CC"/>
                </a:solidFill>
                <a:latin typeface="Consolas" panose="020B0609020204030204" pitchFamily="49" charset="0"/>
              </a:rPr>
              <a:t>()</a:t>
            </a:r>
            <a:r>
              <a:rPr lang="en-US" altLang="en-US" sz="2000" dirty="0">
                <a:latin typeface="Consolas" panose="020B0609020204030204" pitchFamily="49" charset="0"/>
              </a:rPr>
              <a:t>;</a:t>
            </a:r>
          </a:p>
          <a:p>
            <a:pPr>
              <a:buClr>
                <a:srgbClr val="835E01"/>
              </a:buClr>
              <a:buSzPct val="60000"/>
              <a:buFont typeface="Wingdings" panose="05000000000000000000" pitchFamily="2" charset="2"/>
              <a:buNone/>
            </a:pPr>
            <a:r>
              <a:rPr lang="en-US" altLang="en-US" sz="2000" dirty="0">
                <a:latin typeface="Consolas" panose="020B0609020204030204" pitchFamily="49" charset="0"/>
              </a:rPr>
              <a:t>char c1 = </a:t>
            </a:r>
            <a:r>
              <a:rPr lang="en-US" altLang="en-US" sz="2000" dirty="0" err="1">
                <a:latin typeface="Consolas" panose="020B0609020204030204" pitchFamily="49" charset="0"/>
              </a:rPr>
              <a:t>greeting.</a:t>
            </a:r>
            <a:r>
              <a:rPr lang="en-US" altLang="en-US" sz="2000" dirty="0" err="1">
                <a:solidFill>
                  <a:srgbClr val="00B050"/>
                </a:solidFill>
                <a:latin typeface="Consolas" panose="020B0609020204030204" pitchFamily="49" charset="0"/>
              </a:rPr>
              <a:t>charAt</a:t>
            </a:r>
            <a:r>
              <a:rPr lang="en-US" altLang="en-US" sz="2000" dirty="0">
                <a:solidFill>
                  <a:srgbClr val="00B050"/>
                </a:solidFill>
                <a:latin typeface="Consolas" panose="020B0609020204030204" pitchFamily="49" charset="0"/>
              </a:rPr>
              <a:t>(0)</a:t>
            </a:r>
            <a:r>
              <a:rPr lang="en-US" altLang="en-US" sz="2000" dirty="0">
                <a:latin typeface="Consolas" panose="020B0609020204030204" pitchFamily="49" charset="0"/>
              </a:rPr>
              <a:t>;</a:t>
            </a:r>
          </a:p>
        </p:txBody>
      </p:sp>
      <p:sp>
        <p:nvSpPr>
          <p:cNvPr id="5" name="TextBox 4">
            <a:extLst>
              <a:ext uri="{FF2B5EF4-FFF2-40B4-BE49-F238E27FC236}">
                <a16:creationId xmlns:a16="http://schemas.microsoft.com/office/drawing/2014/main" id="{7A2E1D62-79BD-4375-AC85-F0029ACEA0EC}"/>
              </a:ext>
            </a:extLst>
          </p:cNvPr>
          <p:cNvSpPr txBox="1"/>
          <p:nvPr/>
        </p:nvSpPr>
        <p:spPr>
          <a:xfrm>
            <a:off x="1198485" y="4769872"/>
            <a:ext cx="2362199" cy="923330"/>
          </a:xfrm>
          <a:prstGeom prst="rect">
            <a:avLst/>
          </a:prstGeom>
          <a:noFill/>
        </p:spPr>
        <p:txBody>
          <a:bodyPr wrap="square" rtlCol="0">
            <a:spAutoFit/>
          </a:bodyPr>
          <a:lstStyle/>
          <a:p>
            <a:r>
              <a:rPr lang="en-US" dirty="0"/>
              <a:t>The </a:t>
            </a:r>
            <a:r>
              <a:rPr lang="en-US" i="1" dirty="0">
                <a:solidFill>
                  <a:srgbClr val="FF0000"/>
                </a:solidFill>
              </a:rPr>
              <a:t>greeting</a:t>
            </a:r>
            <a:r>
              <a:rPr lang="en-US" dirty="0"/>
              <a:t> variable</a:t>
            </a:r>
          </a:p>
          <a:p>
            <a:r>
              <a:rPr lang="en-US" dirty="0"/>
              <a:t>Holds the address of a String object.</a:t>
            </a:r>
          </a:p>
        </p:txBody>
      </p:sp>
      <p:sp>
        <p:nvSpPr>
          <p:cNvPr id="6" name="TextBox 5">
            <a:extLst>
              <a:ext uri="{FF2B5EF4-FFF2-40B4-BE49-F238E27FC236}">
                <a16:creationId xmlns:a16="http://schemas.microsoft.com/office/drawing/2014/main" id="{B1AD740F-4483-480E-A0F4-36FFE1CBF699}"/>
              </a:ext>
            </a:extLst>
          </p:cNvPr>
          <p:cNvSpPr txBox="1"/>
          <p:nvPr/>
        </p:nvSpPr>
        <p:spPr>
          <a:xfrm>
            <a:off x="3657600" y="5035034"/>
            <a:ext cx="1005403" cy="369332"/>
          </a:xfrm>
          <a:prstGeom prst="rect">
            <a:avLst/>
          </a:prstGeom>
          <a:noFill/>
          <a:ln>
            <a:solidFill>
              <a:schemeClr val="accent1"/>
            </a:solidFill>
          </a:ln>
        </p:spPr>
        <p:txBody>
          <a:bodyPr wrap="none" rtlCol="0">
            <a:spAutoFit/>
          </a:bodyPr>
          <a:lstStyle/>
          <a:p>
            <a:r>
              <a:rPr lang="en-US" dirty="0"/>
              <a:t>address</a:t>
            </a:r>
          </a:p>
        </p:txBody>
      </p:sp>
      <p:cxnSp>
        <p:nvCxnSpPr>
          <p:cNvPr id="8" name="Straight Arrow Connector 7">
            <a:extLst>
              <a:ext uri="{FF2B5EF4-FFF2-40B4-BE49-F238E27FC236}">
                <a16:creationId xmlns:a16="http://schemas.microsoft.com/office/drawing/2014/main" id="{FC933076-81B8-4B1C-AA3C-331E460084A5}"/>
              </a:ext>
            </a:extLst>
          </p:cNvPr>
          <p:cNvCxnSpPr>
            <a:cxnSpLocks/>
            <a:stCxn id="6" idx="3"/>
            <a:endCxn id="10" idx="1"/>
          </p:cNvCxnSpPr>
          <p:nvPr/>
        </p:nvCxnSpPr>
        <p:spPr>
          <a:xfrm>
            <a:off x="4663003" y="5219700"/>
            <a:ext cx="1005403" cy="118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6D3CB6F-328A-4459-86E1-7BB9064379B8}"/>
              </a:ext>
            </a:extLst>
          </p:cNvPr>
          <p:cNvSpPr txBox="1"/>
          <p:nvPr/>
        </p:nvSpPr>
        <p:spPr>
          <a:xfrm>
            <a:off x="5590357" y="4592715"/>
            <a:ext cx="1672317" cy="369332"/>
          </a:xfrm>
          <a:prstGeom prst="rect">
            <a:avLst/>
          </a:prstGeom>
          <a:noFill/>
        </p:spPr>
        <p:txBody>
          <a:bodyPr wrap="none" rtlCol="0">
            <a:spAutoFit/>
          </a:bodyPr>
          <a:lstStyle/>
          <a:p>
            <a:r>
              <a:rPr lang="en-US" dirty="0"/>
              <a:t>A String object</a:t>
            </a:r>
          </a:p>
        </p:txBody>
      </p:sp>
      <p:sp>
        <p:nvSpPr>
          <p:cNvPr id="10" name="TextBox 9">
            <a:extLst>
              <a:ext uri="{FF2B5EF4-FFF2-40B4-BE49-F238E27FC236}">
                <a16:creationId xmlns:a16="http://schemas.microsoft.com/office/drawing/2014/main" id="{B08FBE9F-0221-4FF6-BDF2-53C8AC6ED4B4}"/>
              </a:ext>
            </a:extLst>
          </p:cNvPr>
          <p:cNvSpPr txBox="1"/>
          <p:nvPr/>
        </p:nvSpPr>
        <p:spPr>
          <a:xfrm>
            <a:off x="5668406" y="5046871"/>
            <a:ext cx="1531830" cy="369332"/>
          </a:xfrm>
          <a:prstGeom prst="rect">
            <a:avLst/>
          </a:prstGeom>
          <a:noFill/>
          <a:ln>
            <a:solidFill>
              <a:schemeClr val="accent1">
                <a:shade val="95000"/>
                <a:satMod val="105000"/>
              </a:schemeClr>
            </a:solidFill>
          </a:ln>
        </p:spPr>
        <p:txBody>
          <a:bodyPr wrap="none" rtlCol="0">
            <a:spAutoFit/>
          </a:bodyPr>
          <a:lstStyle/>
          <a:p>
            <a:r>
              <a:rPr lang="en-US" dirty="0"/>
              <a:t>“Hello World”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A7AD2-E1FF-4CE5-BC3F-67D0B8B1A9DF}"/>
              </a:ext>
            </a:extLst>
          </p:cNvPr>
          <p:cNvSpPr>
            <a:spLocks noGrp="1"/>
          </p:cNvSpPr>
          <p:nvPr>
            <p:ph type="title"/>
          </p:nvPr>
        </p:nvSpPr>
        <p:spPr/>
        <p:txBody>
          <a:bodyPr/>
          <a:lstStyle/>
          <a:p>
            <a:r>
              <a:rPr lang="en-IN" dirty="0"/>
              <a:t>Objects</a:t>
            </a:r>
          </a:p>
        </p:txBody>
      </p:sp>
      <p:pic>
        <p:nvPicPr>
          <p:cNvPr id="8" name="Content Placeholder 7" descr="A class template with detail as follows. For long description in Notes pane, press F6.">
            <a:extLst>
              <a:ext uri="{FF2B5EF4-FFF2-40B4-BE49-F238E27FC236}">
                <a16:creationId xmlns:a16="http://schemas.microsoft.com/office/drawing/2014/main" id="{7CC139EA-A494-4F7C-9EC1-9327C983E51D}"/>
              </a:ext>
            </a:extLst>
          </p:cNvPr>
          <p:cNvPicPr>
            <a:picLocks noGrp="1" noChangeAspect="1"/>
          </p:cNvPicPr>
          <p:nvPr>
            <p:ph sz="quarter" idx="13"/>
          </p:nvPr>
        </p:nvPicPr>
        <p:blipFill>
          <a:blip r:embed="rId3"/>
          <a:stretch>
            <a:fillRect/>
          </a:stretch>
        </p:blipFill>
        <p:spPr>
          <a:xfrm>
            <a:off x="471786" y="1596007"/>
            <a:ext cx="8200428" cy="2909242"/>
          </a:xfrm>
          <a:prstGeom prst="rect">
            <a:avLst/>
          </a:prstGeom>
        </p:spPr>
      </p:pic>
      <p:sp>
        <p:nvSpPr>
          <p:cNvPr id="4" name="Content Placeholder 3">
            <a:extLst>
              <a:ext uri="{FF2B5EF4-FFF2-40B4-BE49-F238E27FC236}">
                <a16:creationId xmlns:a16="http://schemas.microsoft.com/office/drawing/2014/main" id="{77C8716F-2F9C-4DA7-9914-C6E8D671E245}"/>
              </a:ext>
            </a:extLst>
          </p:cNvPr>
          <p:cNvSpPr>
            <a:spLocks noGrp="1"/>
          </p:cNvSpPr>
          <p:nvPr>
            <p:ph sz="quarter" idx="14"/>
          </p:nvPr>
        </p:nvSpPr>
        <p:spPr>
          <a:xfrm>
            <a:off x="457200" y="4788607"/>
            <a:ext cx="8229600" cy="968922"/>
          </a:xfrm>
        </p:spPr>
        <p:txBody>
          <a:bodyPr/>
          <a:lstStyle/>
          <a:p>
            <a:pPr marL="432" indent="0">
              <a:buNone/>
            </a:pPr>
            <a:r>
              <a:rPr lang="en-IN" dirty="0"/>
              <a:t>An object has both a state and behavior. The state defines the object, and the behavior defines what the object does.</a:t>
            </a:r>
          </a:p>
        </p:txBody>
      </p:sp>
    </p:spTree>
    <p:extLst>
      <p:ext uri="{BB962C8B-B14F-4D97-AF65-F5344CB8AC3E}">
        <p14:creationId xmlns:p14="http://schemas.microsoft.com/office/powerpoint/2010/main" val="2203443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27D3E-CDB6-43F8-8B9E-14F27EAC66C2}"/>
              </a:ext>
            </a:extLst>
          </p:cNvPr>
          <p:cNvSpPr>
            <a:spLocks noGrp="1"/>
          </p:cNvSpPr>
          <p:nvPr>
            <p:ph type="title"/>
          </p:nvPr>
        </p:nvSpPr>
        <p:spPr/>
        <p:txBody>
          <a:bodyPr/>
          <a:lstStyle/>
          <a:p>
            <a:r>
              <a:rPr lang="en-IN" dirty="0"/>
              <a:t>Classes </a:t>
            </a:r>
            <a:r>
              <a:rPr lang="en-IN" sz="2000" b="0" dirty="0"/>
              <a:t>(2 of 2)</a:t>
            </a:r>
            <a:endParaRPr lang="en-IN" b="0" dirty="0"/>
          </a:p>
        </p:txBody>
      </p:sp>
      <p:pic>
        <p:nvPicPr>
          <p:cNvPr id="6" name="Content Placeholder 5" descr="A text box shows the Classes. The computer code consists 18 lines. For long description in Notes pane, press F6.">
            <a:extLst>
              <a:ext uri="{FF2B5EF4-FFF2-40B4-BE49-F238E27FC236}">
                <a16:creationId xmlns:a16="http://schemas.microsoft.com/office/drawing/2014/main" id="{67F87AA7-E49A-47FE-B902-529C83EDB1D1}"/>
              </a:ext>
            </a:extLst>
          </p:cNvPr>
          <p:cNvPicPr>
            <a:picLocks noGrp="1" noChangeAspect="1"/>
          </p:cNvPicPr>
          <p:nvPr>
            <p:ph sz="quarter" idx="13"/>
          </p:nvPr>
        </p:nvPicPr>
        <p:blipFill>
          <a:blip r:embed="rId3"/>
          <a:stretch>
            <a:fillRect/>
          </a:stretch>
        </p:blipFill>
        <p:spPr>
          <a:xfrm>
            <a:off x="952544" y="1539649"/>
            <a:ext cx="7242086" cy="4664075"/>
          </a:xfrm>
          <a:prstGeom prst="rect">
            <a:avLst/>
          </a:prstGeom>
        </p:spPr>
      </p:pic>
    </p:spTree>
    <p:extLst>
      <p:ext uri="{BB962C8B-B14F-4D97-AF65-F5344CB8AC3E}">
        <p14:creationId xmlns:p14="http://schemas.microsoft.com/office/powerpoint/2010/main" val="3708099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r>
              <a:rPr lang="en-US" altLang="en-US"/>
              <a:t>Diagram of a Class</a:t>
            </a:r>
          </a:p>
        </p:txBody>
      </p:sp>
      <p:sp>
        <p:nvSpPr>
          <p:cNvPr id="16386" name="Content Placeholder 2"/>
          <p:cNvSpPr>
            <a:spLocks noGrp="1"/>
          </p:cNvSpPr>
          <p:nvPr>
            <p:ph idx="1"/>
          </p:nvPr>
        </p:nvSpPr>
        <p:spPr>
          <a:xfrm>
            <a:off x="457200" y="1155700"/>
            <a:ext cx="5257800" cy="5092700"/>
          </a:xfrm>
        </p:spPr>
        <p:txBody>
          <a:bodyPr/>
          <a:lstStyle/>
          <a:p>
            <a:pPr>
              <a:spcBef>
                <a:spcPct val="0"/>
              </a:spcBef>
            </a:pPr>
            <a:r>
              <a:rPr lang="en-US" altLang="en-US" sz="2800"/>
              <a:t>Private Data</a:t>
            </a:r>
          </a:p>
          <a:p>
            <a:pPr lvl="1">
              <a:spcBef>
                <a:spcPct val="0"/>
              </a:spcBef>
            </a:pPr>
            <a:r>
              <a:rPr lang="en-US" altLang="en-US" sz="2400"/>
              <a:t>Each object has its own private data that other objects cannot directly access</a:t>
            </a:r>
          </a:p>
          <a:p>
            <a:pPr lvl="1">
              <a:spcBef>
                <a:spcPct val="0"/>
              </a:spcBef>
            </a:pPr>
            <a:r>
              <a:rPr lang="en-US" altLang="en-US" sz="2400"/>
              <a:t>Methods of the public interface provide access to private data, while hiding implementation details:  </a:t>
            </a:r>
          </a:p>
          <a:p>
            <a:pPr lvl="1">
              <a:spcBef>
                <a:spcPct val="0"/>
              </a:spcBef>
            </a:pPr>
            <a:r>
              <a:rPr lang="en-US" altLang="en-US" sz="2400"/>
              <a:t>This is called Encapsulation</a:t>
            </a:r>
            <a:endParaRPr lang="en-US" altLang="en-US"/>
          </a:p>
          <a:p>
            <a:pPr>
              <a:spcBef>
                <a:spcPct val="0"/>
              </a:spcBef>
            </a:pPr>
            <a:r>
              <a:rPr lang="en-US" altLang="en-US" sz="2800"/>
              <a:t>Public Interface</a:t>
            </a:r>
          </a:p>
          <a:p>
            <a:pPr lvl="1">
              <a:spcBef>
                <a:spcPct val="0"/>
              </a:spcBef>
            </a:pPr>
            <a:r>
              <a:rPr lang="en-US" altLang="en-US" sz="2400"/>
              <a:t>Each object has a set of methods available for other objects to use</a:t>
            </a:r>
          </a:p>
        </p:txBody>
      </p:sp>
      <p:sp>
        <p:nvSpPr>
          <p:cNvPr id="16388"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1200">
                <a:solidFill>
                  <a:srgbClr val="898989"/>
                </a:solidFill>
              </a:rPr>
              <a:t>Page </a:t>
            </a:r>
            <a:fld id="{D3370946-A7A1-4BFC-A69A-5B56148C20B5}" type="slidenum">
              <a:rPr lang="en-US" altLang="en-US" sz="1200">
                <a:solidFill>
                  <a:srgbClr val="898989"/>
                </a:solidFill>
              </a:rPr>
              <a:pPr eaLnBrk="1" hangingPunct="1"/>
              <a:t>10</a:t>
            </a:fld>
            <a:endParaRPr lang="en-US" altLang="en-US" sz="1200">
              <a:solidFill>
                <a:srgbClr val="898989"/>
              </a:solidFill>
            </a:endParaRPr>
          </a:p>
        </p:txBody>
      </p:sp>
      <p:grpSp>
        <p:nvGrpSpPr>
          <p:cNvPr id="16389" name="Group 9"/>
          <p:cNvGrpSpPr>
            <a:grpSpLocks/>
          </p:cNvGrpSpPr>
          <p:nvPr/>
        </p:nvGrpSpPr>
        <p:grpSpPr bwMode="auto">
          <a:xfrm>
            <a:off x="5867400" y="1143000"/>
            <a:ext cx="2895600" cy="3048000"/>
            <a:chOff x="5867400" y="1143000"/>
            <a:chExt cx="2895600" cy="3048000"/>
          </a:xfrm>
        </p:grpSpPr>
        <p:sp>
          <p:nvSpPr>
            <p:cNvPr id="7" name="Rectangle 6"/>
            <p:cNvSpPr/>
            <p:nvPr/>
          </p:nvSpPr>
          <p:spPr>
            <a:xfrm>
              <a:off x="5867400" y="1143000"/>
              <a:ext cx="2895600" cy="30480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en-US" sz="2400" dirty="0">
                  <a:solidFill>
                    <a:schemeClr val="tx1"/>
                  </a:solidFill>
                </a:rPr>
                <a:t>Class</a:t>
              </a:r>
            </a:p>
          </p:txBody>
        </p:sp>
        <p:sp>
          <p:nvSpPr>
            <p:cNvPr id="8" name="Rectangle 7"/>
            <p:cNvSpPr/>
            <p:nvPr/>
          </p:nvSpPr>
          <p:spPr>
            <a:xfrm>
              <a:off x="6019800" y="1627188"/>
              <a:ext cx="2590800" cy="113665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en-US" sz="2400" dirty="0">
                  <a:solidFill>
                    <a:schemeClr val="tx1"/>
                  </a:solidFill>
                </a:rPr>
                <a:t>Private Data</a:t>
              </a:r>
            </a:p>
            <a:p>
              <a:pPr algn="ctr">
                <a:defRPr/>
              </a:pPr>
              <a:r>
                <a:rPr lang="en-US" sz="2400" dirty="0">
                  <a:solidFill>
                    <a:schemeClr val="tx1"/>
                  </a:solidFill>
                </a:rPr>
                <a:t>(Variables)</a:t>
              </a:r>
            </a:p>
          </p:txBody>
        </p:sp>
        <p:sp>
          <p:nvSpPr>
            <p:cNvPr id="9" name="Rectangle 8"/>
            <p:cNvSpPr/>
            <p:nvPr/>
          </p:nvSpPr>
          <p:spPr>
            <a:xfrm>
              <a:off x="6019800" y="2916238"/>
              <a:ext cx="2590800" cy="113823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en-US" sz="2400" dirty="0">
                  <a:solidFill>
                    <a:schemeClr val="tx1"/>
                  </a:solidFill>
                </a:rPr>
                <a:t>Public Interface</a:t>
              </a:r>
            </a:p>
            <a:p>
              <a:pPr algn="ctr">
                <a:defRPr/>
              </a:pPr>
              <a:r>
                <a:rPr lang="en-US" sz="2400" dirty="0">
                  <a:solidFill>
                    <a:schemeClr val="tx1"/>
                  </a:solidFill>
                </a:rPr>
                <a:t>(Methods)</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8D068B5-603B-4210-9F9C-37DC45871EF0}" type="slidenum">
              <a:rPr lang="en-US" altLang="en-US" sz="1400" smtClean="0"/>
              <a:pPr>
                <a:spcBef>
                  <a:spcPct val="0"/>
                </a:spcBef>
                <a:buClrTx/>
                <a:buSzTx/>
                <a:buFontTx/>
                <a:buNone/>
              </a:pPr>
              <a:t>11</a:t>
            </a:fld>
            <a:endParaRPr lang="en-US" altLang="en-US" sz="1400"/>
          </a:p>
        </p:txBody>
      </p:sp>
      <p:sp>
        <p:nvSpPr>
          <p:cNvPr id="55299" name="Rectangle 2"/>
          <p:cNvSpPr>
            <a:spLocks noGrp="1" noChangeArrowheads="1"/>
          </p:cNvSpPr>
          <p:nvPr>
            <p:ph type="title"/>
          </p:nvPr>
        </p:nvSpPr>
        <p:spPr>
          <a:xfrm>
            <a:off x="685800" y="309563"/>
            <a:ext cx="7772400" cy="1428750"/>
          </a:xfrm>
        </p:spPr>
        <p:txBody>
          <a:bodyPr>
            <a:normAutofit/>
          </a:bodyPr>
          <a:lstStyle/>
          <a:p>
            <a:r>
              <a:rPr lang="en-US" altLang="en-US" sz="1800" dirty="0"/>
              <a:t>An access modifier is a Java key word that indicates how a field or method can be accessed.</a:t>
            </a:r>
            <a:br>
              <a:rPr lang="en-US" altLang="en-US" sz="1800" dirty="0"/>
            </a:br>
            <a:endParaRPr lang="en-US" altLang="en-US" sz="1800" dirty="0"/>
          </a:p>
        </p:txBody>
      </p:sp>
      <p:sp>
        <p:nvSpPr>
          <p:cNvPr id="55300" name="Rectangle 4"/>
          <p:cNvSpPr>
            <a:spLocks noChangeArrowheads="1"/>
          </p:cNvSpPr>
          <p:nvPr/>
        </p:nvSpPr>
        <p:spPr bwMode="auto">
          <a:xfrm>
            <a:off x="1643063" y="3062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5301" name="Rectangle 8"/>
          <p:cNvSpPr>
            <a:spLocks noChangeArrowheads="1"/>
          </p:cNvSpPr>
          <p:nvPr/>
        </p:nvSpPr>
        <p:spPr bwMode="auto">
          <a:xfrm>
            <a:off x="2247900"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55302" name="Object 7"/>
          <p:cNvGraphicFramePr>
            <a:graphicFrameLocks noChangeAspect="1"/>
          </p:cNvGraphicFramePr>
          <p:nvPr/>
        </p:nvGraphicFramePr>
        <p:xfrm>
          <a:off x="381000" y="1981200"/>
          <a:ext cx="8382000" cy="3709988"/>
        </p:xfrm>
        <a:graphic>
          <a:graphicData uri="http://schemas.openxmlformats.org/presentationml/2006/ole">
            <mc:AlternateContent xmlns:mc="http://schemas.openxmlformats.org/markup-compatibility/2006">
              <mc:Choice xmlns:v="urn:schemas-microsoft-com:vml" Requires="v">
                <p:oleObj spid="_x0000_s6154" r:id="rId4" imgW="4648200" imgH="2057400" progId="Word.Picture.8">
                  <p:embed/>
                </p:oleObj>
              </mc:Choice>
              <mc:Fallback>
                <p:oleObj r:id="rId4" imgW="4648200" imgH="2057400" progId="Word.Picture.8">
                  <p:embed/>
                  <p:pic>
                    <p:nvPicPr>
                      <p:cNvPr id="55302"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1981200"/>
                        <a:ext cx="8382000" cy="370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D54B1-C989-4C03-B88F-30F4D9C4B1C2}"/>
              </a:ext>
            </a:extLst>
          </p:cNvPr>
          <p:cNvSpPr>
            <a:spLocks noGrp="1"/>
          </p:cNvSpPr>
          <p:nvPr>
            <p:ph type="title"/>
          </p:nvPr>
        </p:nvSpPr>
        <p:spPr/>
        <p:txBody>
          <a:bodyPr/>
          <a:lstStyle/>
          <a:p>
            <a:r>
              <a:rPr lang="en-IN" dirty="0"/>
              <a:t>U</a:t>
            </a:r>
            <a:r>
              <a:rPr lang="en-IN" sz="100" dirty="0"/>
              <a:t> </a:t>
            </a:r>
            <a:r>
              <a:rPr lang="en-IN" dirty="0"/>
              <a:t>M</a:t>
            </a:r>
            <a:r>
              <a:rPr lang="en-IN" sz="100" dirty="0"/>
              <a:t> </a:t>
            </a:r>
            <a:r>
              <a:rPr lang="en-IN" dirty="0"/>
              <a:t>L Class Diagram</a:t>
            </a:r>
          </a:p>
        </p:txBody>
      </p:sp>
      <p:pic>
        <p:nvPicPr>
          <p:cNvPr id="6" name="Content Placeholder 5" descr="The top box shows the UML Class Diagram. For long description in Notes pane, press F6.">
            <a:extLst>
              <a:ext uri="{FF2B5EF4-FFF2-40B4-BE49-F238E27FC236}">
                <a16:creationId xmlns:a16="http://schemas.microsoft.com/office/drawing/2014/main" id="{5BB6FC4F-853F-4F9D-BF2D-5BAB6B789837}"/>
              </a:ext>
            </a:extLst>
          </p:cNvPr>
          <p:cNvPicPr>
            <a:picLocks noGrp="1" noChangeAspect="1"/>
          </p:cNvPicPr>
          <p:nvPr>
            <p:ph sz="quarter" idx="13"/>
          </p:nvPr>
        </p:nvPicPr>
        <p:blipFill rotWithShape="1">
          <a:blip r:embed="rId3"/>
          <a:srcRect t="67332"/>
          <a:stretch/>
        </p:blipFill>
        <p:spPr>
          <a:xfrm>
            <a:off x="381000" y="5038090"/>
            <a:ext cx="8232775" cy="1201419"/>
          </a:xfrm>
          <a:prstGeom prst="rect">
            <a:avLst/>
          </a:prstGeom>
        </p:spPr>
      </p:pic>
      <p:graphicFrame>
        <p:nvGraphicFramePr>
          <p:cNvPr id="4" name="Table 9">
            <a:extLst>
              <a:ext uri="{FF2B5EF4-FFF2-40B4-BE49-F238E27FC236}">
                <a16:creationId xmlns:a16="http://schemas.microsoft.com/office/drawing/2014/main" id="{67053C13-08AA-4A69-A251-E4F8A068657F}"/>
              </a:ext>
            </a:extLst>
          </p:cNvPr>
          <p:cNvGraphicFramePr>
            <a:graphicFrameLocks noGrp="1"/>
          </p:cNvGraphicFramePr>
          <p:nvPr>
            <p:extLst>
              <p:ext uri="{D42A27DB-BD31-4B8C-83A1-F6EECF244321}">
                <p14:modId xmlns:p14="http://schemas.microsoft.com/office/powerpoint/2010/main" val="2082009479"/>
              </p:ext>
            </p:extLst>
          </p:nvPr>
        </p:nvGraphicFramePr>
        <p:xfrm>
          <a:off x="1066800" y="1440296"/>
          <a:ext cx="6096000" cy="347014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3434032726"/>
                    </a:ext>
                  </a:extLst>
                </a:gridCol>
              </a:tblGrid>
              <a:tr h="370840">
                <a:tc>
                  <a:txBody>
                    <a:bodyPr/>
                    <a:lstStyle/>
                    <a:p>
                      <a:pPr marL="0" marR="0" algn="ctr">
                        <a:lnSpc>
                          <a:spcPct val="107000"/>
                        </a:lnSpc>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Circle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83296166"/>
                  </a:ext>
                </a:extLst>
              </a:tr>
              <a:tr h="370840">
                <a:tc>
                  <a:txBody>
                    <a:bodyPr/>
                    <a:lstStyle/>
                    <a:p>
                      <a:pPr marL="0" marR="0">
                        <a:lnSpc>
                          <a:spcPct val="107000"/>
                        </a:lnSpc>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-Radius : double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44542389"/>
                  </a:ext>
                </a:extLst>
              </a:tr>
              <a:tr h="370840">
                <a:tc>
                  <a:txBody>
                    <a:bodyPr/>
                    <a:lstStyle/>
                    <a:p>
                      <a:pPr marL="0" marR="0">
                        <a:lnSpc>
                          <a:spcPct val="107000"/>
                        </a:lnSpc>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+Circle()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+Circle(</a:t>
                      </a:r>
                      <a:r>
                        <a:rPr lang="en-US" sz="2400" dirty="0" err="1">
                          <a:effectLst/>
                          <a:latin typeface="Calibri" panose="020F0502020204030204" pitchFamily="34" charset="0"/>
                          <a:ea typeface="Calibri" panose="020F0502020204030204" pitchFamily="34" charset="0"/>
                          <a:cs typeface="Times New Roman" panose="02020603050405020304" pitchFamily="18" charset="0"/>
                        </a:rPr>
                        <a:t>newRadius</a:t>
                      </a:r>
                      <a:r>
                        <a:rPr lang="en-US" sz="2400" dirty="0">
                          <a:effectLst/>
                          <a:latin typeface="Calibri" panose="020F0502020204030204" pitchFamily="34" charset="0"/>
                          <a:ea typeface="Calibri" panose="020F0502020204030204" pitchFamily="34" charset="0"/>
                          <a:cs typeface="Times New Roman" panose="02020603050405020304" pitchFamily="18" charset="0"/>
                        </a:rPr>
                        <a:t>: double)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a:t>
                      </a:r>
                      <a:r>
                        <a:rPr lang="en-US" sz="2400" dirty="0" err="1">
                          <a:effectLst/>
                          <a:latin typeface="Calibri" panose="020F0502020204030204" pitchFamily="34" charset="0"/>
                          <a:ea typeface="Calibri" panose="020F0502020204030204" pitchFamily="34" charset="0"/>
                          <a:cs typeface="Times New Roman" panose="02020603050405020304" pitchFamily="18" charset="0"/>
                        </a:rPr>
                        <a:t>getArea</a:t>
                      </a:r>
                      <a:r>
                        <a:rPr lang="en-US" sz="2400" dirty="0">
                          <a:effectLst/>
                          <a:latin typeface="Calibri" panose="020F0502020204030204" pitchFamily="34" charset="0"/>
                          <a:ea typeface="Calibri" panose="020F0502020204030204" pitchFamily="34" charset="0"/>
                          <a:cs typeface="Times New Roman" panose="02020603050405020304" pitchFamily="18" charset="0"/>
                        </a:rPr>
                        <a:t>(): double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a:t>
                      </a:r>
                      <a:r>
                        <a:rPr lang="en-US" sz="2400" dirty="0" err="1">
                          <a:effectLst/>
                          <a:latin typeface="Calibri" panose="020F0502020204030204" pitchFamily="34" charset="0"/>
                          <a:ea typeface="Calibri" panose="020F0502020204030204" pitchFamily="34" charset="0"/>
                          <a:cs typeface="Times New Roman" panose="02020603050405020304" pitchFamily="18" charset="0"/>
                        </a:rPr>
                        <a:t>getRadius</a:t>
                      </a:r>
                      <a:r>
                        <a:rPr lang="en-US" sz="2400" dirty="0">
                          <a:effectLst/>
                          <a:latin typeface="Calibri" panose="020F0502020204030204" pitchFamily="34" charset="0"/>
                          <a:ea typeface="Calibri" panose="020F0502020204030204" pitchFamily="34" charset="0"/>
                          <a:cs typeface="Times New Roman" panose="02020603050405020304" pitchFamily="18" charset="0"/>
                        </a:rPr>
                        <a:t>(): double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a:t>
                      </a:r>
                      <a:r>
                        <a:rPr lang="en-US" sz="2400" dirty="0" err="1">
                          <a:effectLst/>
                          <a:latin typeface="Calibri" panose="020F0502020204030204" pitchFamily="34" charset="0"/>
                          <a:ea typeface="Calibri" panose="020F0502020204030204" pitchFamily="34" charset="0"/>
                          <a:cs typeface="Times New Roman" panose="02020603050405020304" pitchFamily="18" charset="0"/>
                        </a:rPr>
                        <a:t>setRadius</a:t>
                      </a:r>
                      <a:r>
                        <a:rPr lang="en-US" sz="2400" dirty="0">
                          <a:effectLst/>
                          <a:latin typeface="Calibri" panose="020F0502020204030204" pitchFamily="34" charset="0"/>
                          <a:ea typeface="Calibri" panose="020F0502020204030204" pitchFamily="34" charset="0"/>
                          <a:cs typeface="Times New Roman" panose="02020603050405020304" pitchFamily="18" charset="0"/>
                        </a:rPr>
                        <a:t>(</a:t>
                      </a:r>
                      <a:r>
                        <a:rPr lang="en-US" sz="2400" dirty="0" err="1">
                          <a:effectLst/>
                          <a:latin typeface="Calibri" panose="020F0502020204030204" pitchFamily="34" charset="0"/>
                          <a:ea typeface="Calibri" panose="020F0502020204030204" pitchFamily="34" charset="0"/>
                          <a:cs typeface="Times New Roman" panose="02020603050405020304" pitchFamily="18" charset="0"/>
                        </a:rPr>
                        <a:t>newRadius</a:t>
                      </a:r>
                      <a:r>
                        <a:rPr lang="en-US" sz="2400" dirty="0">
                          <a:effectLst/>
                          <a:latin typeface="Calibri" panose="020F0502020204030204" pitchFamily="34" charset="0"/>
                          <a:ea typeface="Calibri" panose="020F0502020204030204" pitchFamily="34" charset="0"/>
                          <a:cs typeface="Times New Roman" panose="02020603050405020304" pitchFamily="18" charset="0"/>
                        </a:rPr>
                        <a:t>): void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a:t>
                      </a:r>
                      <a:r>
                        <a:rPr lang="en-US" sz="2400" dirty="0" err="1">
                          <a:effectLst/>
                          <a:latin typeface="Calibri" panose="020F0502020204030204" pitchFamily="34" charset="0"/>
                          <a:ea typeface="Calibri" panose="020F0502020204030204" pitchFamily="34" charset="0"/>
                          <a:cs typeface="Times New Roman" panose="02020603050405020304" pitchFamily="18" charset="0"/>
                        </a:rPr>
                        <a:t>getArea</a:t>
                      </a:r>
                      <a:r>
                        <a:rPr lang="en-US" sz="2400" dirty="0">
                          <a:effectLst/>
                          <a:latin typeface="Calibri" panose="020F0502020204030204" pitchFamily="34" charset="0"/>
                          <a:ea typeface="Calibri" panose="020F0502020204030204" pitchFamily="34" charset="0"/>
                          <a:cs typeface="Times New Roman" panose="02020603050405020304" pitchFamily="18" charset="0"/>
                        </a:rPr>
                        <a:t>(): double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a:t>
                      </a:r>
                      <a:r>
                        <a:rPr lang="en-US" sz="2400" dirty="0" err="1">
                          <a:effectLst/>
                          <a:latin typeface="Calibri" panose="020F0502020204030204" pitchFamily="34" charset="0"/>
                          <a:ea typeface="Calibri" panose="020F0502020204030204" pitchFamily="34" charset="0"/>
                          <a:cs typeface="Times New Roman" panose="02020603050405020304" pitchFamily="18" charset="0"/>
                        </a:rPr>
                        <a:t>getPerimeter</a:t>
                      </a:r>
                      <a:r>
                        <a:rPr lang="en-US" sz="2400" dirty="0">
                          <a:effectLst/>
                          <a:latin typeface="Calibri" panose="020F0502020204030204" pitchFamily="34" charset="0"/>
                          <a:ea typeface="Calibri" panose="020F0502020204030204" pitchFamily="34" charset="0"/>
                          <a:cs typeface="Times New Roman" panose="02020603050405020304" pitchFamily="18" charset="0"/>
                        </a:rPr>
                        <a:t>(): double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39936002"/>
                  </a:ext>
                </a:extLst>
              </a:tr>
            </a:tbl>
          </a:graphicData>
        </a:graphic>
      </p:graphicFrame>
    </p:spTree>
    <p:extLst>
      <p:ext uri="{BB962C8B-B14F-4D97-AF65-F5344CB8AC3E}">
        <p14:creationId xmlns:p14="http://schemas.microsoft.com/office/powerpoint/2010/main" val="986569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30060AC-C4B0-434B-B026-33110311E1B1}"/>
              </a:ext>
            </a:extLst>
          </p:cNvPr>
          <p:cNvSpPr>
            <a:spLocks noGrp="1" noChangeArrowheads="1"/>
          </p:cNvSpPr>
          <p:nvPr>
            <p:ph type="title" idx="4294967295"/>
          </p:nvPr>
        </p:nvSpPr>
        <p:spPr>
          <a:xfrm>
            <a:off x="914400" y="304800"/>
            <a:ext cx="6705600" cy="715962"/>
          </a:xfrm>
        </p:spPr>
        <p:txBody>
          <a:bodyPr/>
          <a:lstStyle/>
          <a:p>
            <a:pPr eaLnBrk="1" hangingPunct="1"/>
            <a:r>
              <a:rPr lang="en-US" altLang="en-US" dirty="0"/>
              <a:t>Designing a Class</a:t>
            </a:r>
          </a:p>
        </p:txBody>
      </p:sp>
      <p:sp>
        <p:nvSpPr>
          <p:cNvPr id="16387" name="Rectangle 3">
            <a:extLst>
              <a:ext uri="{FF2B5EF4-FFF2-40B4-BE49-F238E27FC236}">
                <a16:creationId xmlns:a16="http://schemas.microsoft.com/office/drawing/2014/main" id="{DAB54BFF-7C40-448A-A78F-C52AEFC8BB48}"/>
              </a:ext>
            </a:extLst>
          </p:cNvPr>
          <p:cNvSpPr>
            <a:spLocks noGrp="1" noChangeArrowheads="1"/>
          </p:cNvSpPr>
          <p:nvPr>
            <p:ph type="body" idx="4294967295"/>
          </p:nvPr>
        </p:nvSpPr>
        <p:spPr/>
        <p:txBody>
          <a:bodyPr/>
          <a:lstStyle/>
          <a:p>
            <a:pPr eaLnBrk="1" hangingPunct="1">
              <a:lnSpc>
                <a:spcPct val="90000"/>
              </a:lnSpc>
              <a:buFontTx/>
              <a:buBlip>
                <a:blip r:embed="rId2"/>
              </a:buBlip>
            </a:pPr>
            <a:r>
              <a:rPr lang="en-US" altLang="en-US"/>
              <a:t>When designing a class, decisions about the following must be made.</a:t>
            </a:r>
          </a:p>
          <a:p>
            <a:pPr lvl="1" eaLnBrk="1" hangingPunct="1">
              <a:lnSpc>
                <a:spcPct val="90000"/>
              </a:lnSpc>
              <a:buFont typeface="Arial" panose="020B0604020202020204" pitchFamily="34" charset="0"/>
              <a:buBlip>
                <a:blip r:embed="rId2"/>
              </a:buBlip>
            </a:pPr>
            <a:r>
              <a:rPr lang="en-US" altLang="en-US"/>
              <a:t>what data must be accounted for</a:t>
            </a:r>
          </a:p>
          <a:p>
            <a:pPr lvl="1" eaLnBrk="1" hangingPunct="1">
              <a:lnSpc>
                <a:spcPct val="90000"/>
              </a:lnSpc>
              <a:buFont typeface="Arial" panose="020B0604020202020204" pitchFamily="34" charset="0"/>
              <a:buBlip>
                <a:blip r:embed="rId2"/>
              </a:buBlip>
            </a:pPr>
            <a:r>
              <a:rPr lang="en-US" altLang="en-US"/>
              <a:t>what actions need to be performed</a:t>
            </a:r>
          </a:p>
          <a:p>
            <a:pPr lvl="1" eaLnBrk="1" hangingPunct="1">
              <a:lnSpc>
                <a:spcPct val="90000"/>
              </a:lnSpc>
              <a:buFont typeface="Arial" panose="020B0604020202020204" pitchFamily="34" charset="0"/>
              <a:buBlip>
                <a:blip r:embed="rId2"/>
              </a:buBlip>
            </a:pPr>
            <a:r>
              <a:rPr lang="en-US" altLang="en-US"/>
              <a:t>what data can be modified</a:t>
            </a:r>
          </a:p>
          <a:p>
            <a:pPr lvl="1" eaLnBrk="1" hangingPunct="1">
              <a:lnSpc>
                <a:spcPct val="90000"/>
              </a:lnSpc>
              <a:buFont typeface="Arial" panose="020B0604020202020204" pitchFamily="34" charset="0"/>
              <a:buBlip>
                <a:blip r:embed="rId2"/>
              </a:buBlip>
            </a:pPr>
            <a:r>
              <a:rPr lang="en-US" altLang="en-US"/>
              <a:t>what data needs to be accessible</a:t>
            </a:r>
          </a:p>
          <a:p>
            <a:pPr lvl="1" eaLnBrk="1" hangingPunct="1">
              <a:lnSpc>
                <a:spcPct val="90000"/>
              </a:lnSpc>
              <a:buFont typeface="Arial" panose="020B0604020202020204" pitchFamily="34" charset="0"/>
              <a:buBlip>
                <a:blip r:embed="rId2"/>
              </a:buBlip>
            </a:pPr>
            <a:r>
              <a:rPr lang="en-US" altLang="en-US"/>
              <a:t>any rules as to how data should be modified</a:t>
            </a:r>
          </a:p>
          <a:p>
            <a:pPr eaLnBrk="1" hangingPunct="1">
              <a:lnSpc>
                <a:spcPct val="90000"/>
              </a:lnSpc>
              <a:buFontTx/>
              <a:buBlip>
                <a:blip r:embed="rId2"/>
              </a:buBlip>
            </a:pPr>
            <a:r>
              <a:rPr lang="en-US" altLang="en-US"/>
              <a:t>Class design typically is done with the aid of a Unified Modeling Language (UML) diagram.</a:t>
            </a:r>
          </a:p>
        </p:txBody>
      </p:sp>
    </p:spTree>
    <p:extLst>
      <p:ext uri="{BB962C8B-B14F-4D97-AF65-F5344CB8AC3E}">
        <p14:creationId xmlns:p14="http://schemas.microsoft.com/office/powerpoint/2010/main" val="1787153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CD75003F-D8E1-4507-AC9E-C558F6D5854D}"/>
              </a:ext>
            </a:extLst>
          </p:cNvPr>
          <p:cNvSpPr>
            <a:spLocks noGrp="1" noChangeArrowheads="1"/>
          </p:cNvSpPr>
          <p:nvPr>
            <p:ph type="title" idx="4294967295"/>
          </p:nvPr>
        </p:nvSpPr>
        <p:spPr>
          <a:xfrm>
            <a:off x="1099344" y="259927"/>
            <a:ext cx="6705600" cy="715962"/>
          </a:xfrm>
        </p:spPr>
        <p:txBody>
          <a:bodyPr/>
          <a:lstStyle/>
          <a:p>
            <a:pPr eaLnBrk="1" hangingPunct="1"/>
            <a:r>
              <a:rPr lang="en-US" altLang="en-US" dirty="0"/>
              <a:t>UML Class Diagram</a:t>
            </a:r>
          </a:p>
        </p:txBody>
      </p:sp>
      <p:sp>
        <p:nvSpPr>
          <p:cNvPr id="17411" name="Rectangle 3">
            <a:extLst>
              <a:ext uri="{FF2B5EF4-FFF2-40B4-BE49-F238E27FC236}">
                <a16:creationId xmlns:a16="http://schemas.microsoft.com/office/drawing/2014/main" id="{02B5760B-91C1-4879-B097-7C0608648419}"/>
              </a:ext>
            </a:extLst>
          </p:cNvPr>
          <p:cNvSpPr>
            <a:spLocks noGrp="1" noChangeArrowheads="1"/>
          </p:cNvSpPr>
          <p:nvPr>
            <p:ph type="body" idx="4294967295"/>
          </p:nvPr>
        </p:nvSpPr>
        <p:spPr>
          <a:xfrm>
            <a:off x="304800" y="1600200"/>
            <a:ext cx="8294688" cy="1770063"/>
          </a:xfrm>
        </p:spPr>
        <p:txBody>
          <a:bodyPr/>
          <a:lstStyle/>
          <a:p>
            <a:pPr eaLnBrk="1" hangingPunct="1">
              <a:buFontTx/>
              <a:buBlip>
                <a:blip r:embed="rId2"/>
              </a:buBlip>
            </a:pPr>
            <a:r>
              <a:rPr lang="en-US" altLang="en-US"/>
              <a:t>A UML class diagram is a graphical tool that can aid in the design of a class.</a:t>
            </a:r>
          </a:p>
          <a:p>
            <a:pPr eaLnBrk="1" hangingPunct="1">
              <a:buFontTx/>
              <a:buBlip>
                <a:blip r:embed="rId2"/>
              </a:buBlip>
            </a:pPr>
            <a:r>
              <a:rPr lang="en-US" altLang="en-US"/>
              <a:t>The diagram has three main sections.</a:t>
            </a:r>
          </a:p>
        </p:txBody>
      </p:sp>
      <p:grpSp>
        <p:nvGrpSpPr>
          <p:cNvPr id="17412" name="Group 8">
            <a:extLst>
              <a:ext uri="{FF2B5EF4-FFF2-40B4-BE49-F238E27FC236}">
                <a16:creationId xmlns:a16="http://schemas.microsoft.com/office/drawing/2014/main" id="{8A0C9FA6-05C4-4447-9E60-7E5E1BB8D3D6}"/>
              </a:ext>
            </a:extLst>
          </p:cNvPr>
          <p:cNvGrpSpPr>
            <a:grpSpLocks/>
          </p:cNvGrpSpPr>
          <p:nvPr/>
        </p:nvGrpSpPr>
        <p:grpSpPr bwMode="auto">
          <a:xfrm>
            <a:off x="1066800" y="3276600"/>
            <a:ext cx="2971800" cy="1371600"/>
            <a:chOff x="1968" y="2208"/>
            <a:chExt cx="1872" cy="864"/>
          </a:xfrm>
        </p:grpSpPr>
        <p:sp>
          <p:nvSpPr>
            <p:cNvPr id="15369" name="Rectangle 4">
              <a:extLst>
                <a:ext uri="{FF2B5EF4-FFF2-40B4-BE49-F238E27FC236}">
                  <a16:creationId xmlns:a16="http://schemas.microsoft.com/office/drawing/2014/main" id="{AFCE01BF-B3F1-4936-84E6-10E503EBF2AF}"/>
                </a:ext>
              </a:extLst>
            </p:cNvPr>
            <p:cNvSpPr>
              <a:spLocks noChangeArrowheads="1"/>
            </p:cNvSpPr>
            <p:nvPr/>
          </p:nvSpPr>
          <p:spPr bwMode="auto">
            <a:xfrm>
              <a:off x="1968" y="2208"/>
              <a:ext cx="1872" cy="28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defRPr sz="2400">
                  <a:solidFill>
                    <a:schemeClr val="tx1"/>
                  </a:solidFill>
                  <a:latin typeface="Times New Roman" pitchFamily="18" charset="0"/>
                  <a:cs typeface="Arial" charset="0"/>
                </a:defRPr>
              </a:lvl1pPr>
              <a:lvl2pPr marL="742950" indent="-285750" eaLnBrk="0" hangingPunct="0">
                <a:defRPr sz="2400">
                  <a:solidFill>
                    <a:schemeClr val="tx1"/>
                  </a:solidFill>
                  <a:latin typeface="Times New Roman" pitchFamily="18" charset="0"/>
                  <a:cs typeface="Arial" charset="0"/>
                </a:defRPr>
              </a:lvl2pPr>
              <a:lvl3pPr marL="1143000" indent="-228600" eaLnBrk="0" hangingPunct="0">
                <a:defRPr sz="2400">
                  <a:solidFill>
                    <a:schemeClr val="tx1"/>
                  </a:solidFill>
                  <a:latin typeface="Times New Roman" pitchFamily="18" charset="0"/>
                  <a:cs typeface="Arial" charset="0"/>
                </a:defRPr>
              </a:lvl3pPr>
              <a:lvl4pPr marL="1600200" indent="-228600" eaLnBrk="0" hangingPunct="0">
                <a:defRPr sz="2400">
                  <a:solidFill>
                    <a:schemeClr val="tx1"/>
                  </a:solidFill>
                  <a:latin typeface="Times New Roman" pitchFamily="18" charset="0"/>
                  <a:cs typeface="Arial" charset="0"/>
                </a:defRPr>
              </a:lvl4pPr>
              <a:lvl5pPr marL="2057400" indent="-228600" eaLnBrk="0" hangingPunct="0">
                <a:defRPr sz="2400">
                  <a:solidFill>
                    <a:schemeClr val="tx1"/>
                  </a:solidFill>
                  <a:latin typeface="Times New Roman" pitchFamily="18" charset="0"/>
                  <a:cs typeface="Arial" charset="0"/>
                </a:defRPr>
              </a:lvl5pPr>
              <a:lvl6pPr marL="2514600" indent="-228600" algn="ctr"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algn="ctr"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algn="ctr"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algn="ctr" eaLnBrk="0" fontAlgn="base" hangingPunct="0">
                <a:spcBef>
                  <a:spcPct val="0"/>
                </a:spcBef>
                <a:spcAft>
                  <a:spcPct val="0"/>
                </a:spcAft>
                <a:defRPr sz="2400">
                  <a:solidFill>
                    <a:schemeClr val="tx1"/>
                  </a:solidFill>
                  <a:latin typeface="Times New Roman" pitchFamily="18" charset="0"/>
                  <a:cs typeface="Arial" charset="0"/>
                </a:defRPr>
              </a:lvl9pPr>
            </a:lstStyle>
            <a:p>
              <a:pPr eaLnBrk="1" hangingPunct="1">
                <a:defRPr/>
              </a:pPr>
              <a:r>
                <a:rPr lang="en-US" altLang="en-US"/>
                <a:t>Class Name</a:t>
              </a:r>
            </a:p>
          </p:txBody>
        </p:sp>
        <p:sp>
          <p:nvSpPr>
            <p:cNvPr id="15370" name="Rectangle 6">
              <a:extLst>
                <a:ext uri="{FF2B5EF4-FFF2-40B4-BE49-F238E27FC236}">
                  <a16:creationId xmlns:a16="http://schemas.microsoft.com/office/drawing/2014/main" id="{5F92097A-1B44-4D7B-B845-59FB9B435FE6}"/>
                </a:ext>
              </a:extLst>
            </p:cNvPr>
            <p:cNvSpPr>
              <a:spLocks noChangeArrowheads="1"/>
            </p:cNvSpPr>
            <p:nvPr/>
          </p:nvSpPr>
          <p:spPr bwMode="auto">
            <a:xfrm>
              <a:off x="1968" y="2496"/>
              <a:ext cx="1872" cy="28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defRPr sz="2400">
                  <a:solidFill>
                    <a:schemeClr val="tx1"/>
                  </a:solidFill>
                  <a:latin typeface="Times New Roman" pitchFamily="18" charset="0"/>
                  <a:cs typeface="Arial" charset="0"/>
                </a:defRPr>
              </a:lvl1pPr>
              <a:lvl2pPr marL="742950" indent="-285750" eaLnBrk="0" hangingPunct="0">
                <a:defRPr sz="2400">
                  <a:solidFill>
                    <a:schemeClr val="tx1"/>
                  </a:solidFill>
                  <a:latin typeface="Times New Roman" pitchFamily="18" charset="0"/>
                  <a:cs typeface="Arial" charset="0"/>
                </a:defRPr>
              </a:lvl2pPr>
              <a:lvl3pPr marL="1143000" indent="-228600" eaLnBrk="0" hangingPunct="0">
                <a:defRPr sz="2400">
                  <a:solidFill>
                    <a:schemeClr val="tx1"/>
                  </a:solidFill>
                  <a:latin typeface="Times New Roman" pitchFamily="18" charset="0"/>
                  <a:cs typeface="Arial" charset="0"/>
                </a:defRPr>
              </a:lvl3pPr>
              <a:lvl4pPr marL="1600200" indent="-228600" eaLnBrk="0" hangingPunct="0">
                <a:defRPr sz="2400">
                  <a:solidFill>
                    <a:schemeClr val="tx1"/>
                  </a:solidFill>
                  <a:latin typeface="Times New Roman" pitchFamily="18" charset="0"/>
                  <a:cs typeface="Arial" charset="0"/>
                </a:defRPr>
              </a:lvl4pPr>
              <a:lvl5pPr marL="2057400" indent="-228600" eaLnBrk="0" hangingPunct="0">
                <a:defRPr sz="2400">
                  <a:solidFill>
                    <a:schemeClr val="tx1"/>
                  </a:solidFill>
                  <a:latin typeface="Times New Roman" pitchFamily="18" charset="0"/>
                  <a:cs typeface="Arial" charset="0"/>
                </a:defRPr>
              </a:lvl5pPr>
              <a:lvl6pPr marL="2514600" indent="-228600" algn="ctr"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algn="ctr"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algn="ctr"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algn="ctr" eaLnBrk="0" fontAlgn="base" hangingPunct="0">
                <a:spcBef>
                  <a:spcPct val="0"/>
                </a:spcBef>
                <a:spcAft>
                  <a:spcPct val="0"/>
                </a:spcAft>
                <a:defRPr sz="2400">
                  <a:solidFill>
                    <a:schemeClr val="tx1"/>
                  </a:solidFill>
                  <a:latin typeface="Times New Roman" pitchFamily="18" charset="0"/>
                  <a:cs typeface="Arial" charset="0"/>
                </a:defRPr>
              </a:lvl9pPr>
            </a:lstStyle>
            <a:p>
              <a:pPr eaLnBrk="1" hangingPunct="1">
                <a:defRPr/>
              </a:pPr>
              <a:r>
                <a:rPr lang="en-US" altLang="en-US"/>
                <a:t>Attributes</a:t>
              </a:r>
            </a:p>
          </p:txBody>
        </p:sp>
        <p:sp>
          <p:nvSpPr>
            <p:cNvPr id="15371" name="Rectangle 7">
              <a:extLst>
                <a:ext uri="{FF2B5EF4-FFF2-40B4-BE49-F238E27FC236}">
                  <a16:creationId xmlns:a16="http://schemas.microsoft.com/office/drawing/2014/main" id="{CFDF81AF-707A-4D7E-971E-61664A4E32EB}"/>
                </a:ext>
              </a:extLst>
            </p:cNvPr>
            <p:cNvSpPr>
              <a:spLocks noChangeArrowheads="1"/>
            </p:cNvSpPr>
            <p:nvPr/>
          </p:nvSpPr>
          <p:spPr bwMode="auto">
            <a:xfrm>
              <a:off x="1968" y="2784"/>
              <a:ext cx="1872" cy="28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defRPr sz="2400">
                  <a:solidFill>
                    <a:schemeClr val="tx1"/>
                  </a:solidFill>
                  <a:latin typeface="Times New Roman" pitchFamily="18" charset="0"/>
                  <a:cs typeface="Arial" charset="0"/>
                </a:defRPr>
              </a:lvl1pPr>
              <a:lvl2pPr marL="742950" indent="-285750" eaLnBrk="0" hangingPunct="0">
                <a:defRPr sz="2400">
                  <a:solidFill>
                    <a:schemeClr val="tx1"/>
                  </a:solidFill>
                  <a:latin typeface="Times New Roman" pitchFamily="18" charset="0"/>
                  <a:cs typeface="Arial" charset="0"/>
                </a:defRPr>
              </a:lvl2pPr>
              <a:lvl3pPr marL="1143000" indent="-228600" eaLnBrk="0" hangingPunct="0">
                <a:defRPr sz="2400">
                  <a:solidFill>
                    <a:schemeClr val="tx1"/>
                  </a:solidFill>
                  <a:latin typeface="Times New Roman" pitchFamily="18" charset="0"/>
                  <a:cs typeface="Arial" charset="0"/>
                </a:defRPr>
              </a:lvl3pPr>
              <a:lvl4pPr marL="1600200" indent="-228600" eaLnBrk="0" hangingPunct="0">
                <a:defRPr sz="2400">
                  <a:solidFill>
                    <a:schemeClr val="tx1"/>
                  </a:solidFill>
                  <a:latin typeface="Times New Roman" pitchFamily="18" charset="0"/>
                  <a:cs typeface="Arial" charset="0"/>
                </a:defRPr>
              </a:lvl4pPr>
              <a:lvl5pPr marL="2057400" indent="-228600" eaLnBrk="0" hangingPunct="0">
                <a:defRPr sz="2400">
                  <a:solidFill>
                    <a:schemeClr val="tx1"/>
                  </a:solidFill>
                  <a:latin typeface="Times New Roman" pitchFamily="18" charset="0"/>
                  <a:cs typeface="Arial" charset="0"/>
                </a:defRPr>
              </a:lvl5pPr>
              <a:lvl6pPr marL="2514600" indent="-228600" algn="ctr"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algn="ctr"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algn="ctr"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algn="ctr" eaLnBrk="0" fontAlgn="base" hangingPunct="0">
                <a:spcBef>
                  <a:spcPct val="0"/>
                </a:spcBef>
                <a:spcAft>
                  <a:spcPct val="0"/>
                </a:spcAft>
                <a:defRPr sz="2400">
                  <a:solidFill>
                    <a:schemeClr val="tx1"/>
                  </a:solidFill>
                  <a:latin typeface="Times New Roman" pitchFamily="18" charset="0"/>
                  <a:cs typeface="Arial" charset="0"/>
                </a:defRPr>
              </a:lvl9pPr>
            </a:lstStyle>
            <a:p>
              <a:pPr eaLnBrk="1" hangingPunct="1">
                <a:defRPr/>
              </a:pPr>
              <a:r>
                <a:rPr lang="en-US" altLang="en-US"/>
                <a:t>Methods</a:t>
              </a:r>
            </a:p>
          </p:txBody>
        </p:sp>
      </p:grpSp>
      <p:sp>
        <p:nvSpPr>
          <p:cNvPr id="17413" name="Text Box 9">
            <a:extLst>
              <a:ext uri="{FF2B5EF4-FFF2-40B4-BE49-F238E27FC236}">
                <a16:creationId xmlns:a16="http://schemas.microsoft.com/office/drawing/2014/main" id="{70330DF6-0195-423B-B0D0-F6904ADE6B07}"/>
              </a:ext>
            </a:extLst>
          </p:cNvPr>
          <p:cNvSpPr txBox="1">
            <a:spLocks noChangeArrowheads="1"/>
          </p:cNvSpPr>
          <p:nvPr/>
        </p:nvSpPr>
        <p:spPr bwMode="auto">
          <a:xfrm>
            <a:off x="4648200" y="3429000"/>
            <a:ext cx="42830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rgbClr val="C00000"/>
                </a:solidFill>
                <a:latin typeface="Times New Roman" panose="02020603050405020304" pitchFamily="18" charset="0"/>
              </a:rPr>
              <a:t>UML diagrams are easily converted</a:t>
            </a:r>
          </a:p>
          <a:p>
            <a:pPr eaLnBrk="1" hangingPunct="1">
              <a:spcBef>
                <a:spcPct val="0"/>
              </a:spcBef>
              <a:buFontTx/>
              <a:buNone/>
            </a:pPr>
            <a:r>
              <a:rPr lang="en-US" altLang="en-US" sz="2000">
                <a:solidFill>
                  <a:srgbClr val="C00000"/>
                </a:solidFill>
                <a:latin typeface="Times New Roman" panose="02020603050405020304" pitchFamily="18" charset="0"/>
              </a:rPr>
              <a:t>to Java class files.  There will be more</a:t>
            </a:r>
          </a:p>
          <a:p>
            <a:pPr eaLnBrk="1" hangingPunct="1">
              <a:spcBef>
                <a:spcPct val="0"/>
              </a:spcBef>
              <a:buFontTx/>
              <a:buNone/>
            </a:pPr>
            <a:r>
              <a:rPr lang="en-US" altLang="en-US" sz="2000">
                <a:solidFill>
                  <a:srgbClr val="C00000"/>
                </a:solidFill>
                <a:latin typeface="Times New Roman" panose="02020603050405020304" pitchFamily="18" charset="0"/>
              </a:rPr>
              <a:t>about UML diagrams a little later.</a:t>
            </a:r>
          </a:p>
        </p:txBody>
      </p:sp>
      <p:sp>
        <p:nvSpPr>
          <p:cNvPr id="17414" name="AutoShape 10">
            <a:extLst>
              <a:ext uri="{FF2B5EF4-FFF2-40B4-BE49-F238E27FC236}">
                <a16:creationId xmlns:a16="http://schemas.microsoft.com/office/drawing/2014/main" id="{300D903E-A05D-4132-BFF3-9AE2F8DC9634}"/>
              </a:ext>
            </a:extLst>
          </p:cNvPr>
          <p:cNvSpPr>
            <a:spLocks/>
          </p:cNvSpPr>
          <p:nvPr/>
        </p:nvSpPr>
        <p:spPr bwMode="auto">
          <a:xfrm>
            <a:off x="4191000" y="3276600"/>
            <a:ext cx="228600" cy="1371600"/>
          </a:xfrm>
          <a:prstGeom prst="rightBrace">
            <a:avLst>
              <a:gd name="adj1" fmla="val 50000"/>
              <a:gd name="adj2" fmla="val 50000"/>
            </a:avLst>
          </a:prstGeom>
          <a:noFill/>
          <a:ln w="2540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b="0">
              <a:latin typeface="Times New Roman" panose="02020603050405020304" pitchFamily="18" charset="0"/>
            </a:endParaRPr>
          </a:p>
        </p:txBody>
      </p:sp>
      <p:sp>
        <p:nvSpPr>
          <p:cNvPr id="17415" name="Text Box 12">
            <a:extLst>
              <a:ext uri="{FF2B5EF4-FFF2-40B4-BE49-F238E27FC236}">
                <a16:creationId xmlns:a16="http://schemas.microsoft.com/office/drawing/2014/main" id="{6F9F54C3-066B-437A-A6C5-AC51FFF48112}"/>
              </a:ext>
            </a:extLst>
          </p:cNvPr>
          <p:cNvSpPr txBox="1">
            <a:spLocks noChangeArrowheads="1"/>
          </p:cNvSpPr>
          <p:nvPr/>
        </p:nvSpPr>
        <p:spPr bwMode="auto">
          <a:xfrm>
            <a:off x="685800" y="5029200"/>
            <a:ext cx="8081963"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har char="•"/>
              <a:defRPr sz="3200" b="1">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Blip>
                <a:blip r:embed="rId2"/>
              </a:buBlip>
            </a:pPr>
            <a:r>
              <a:rPr lang="en-US" altLang="en-US" b="0">
                <a:latin typeface="Times New Roman" panose="02020603050405020304" pitchFamily="18" charset="0"/>
              </a:rPr>
              <a:t>The class name should concisely reflect what</a:t>
            </a:r>
            <a:br>
              <a:rPr lang="en-US" altLang="en-US" b="0">
                <a:latin typeface="Times New Roman" panose="02020603050405020304" pitchFamily="18" charset="0"/>
              </a:rPr>
            </a:br>
            <a:r>
              <a:rPr lang="en-US" altLang="en-US" b="0">
                <a:latin typeface="Times New Roman" panose="02020603050405020304" pitchFamily="18" charset="0"/>
              </a:rPr>
              <a:t>the class represents.</a:t>
            </a:r>
          </a:p>
        </p:txBody>
      </p:sp>
    </p:spTree>
    <p:extLst>
      <p:ext uri="{BB962C8B-B14F-4D97-AF65-F5344CB8AC3E}">
        <p14:creationId xmlns:p14="http://schemas.microsoft.com/office/powerpoint/2010/main" val="1749593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C9F0F9CC-30AE-4162-A511-247C0365B903}"/>
              </a:ext>
            </a:extLst>
          </p:cNvPr>
          <p:cNvSpPr>
            <a:spLocks noGrp="1" noChangeArrowheads="1"/>
          </p:cNvSpPr>
          <p:nvPr>
            <p:ph type="title" idx="4294967295"/>
          </p:nvPr>
        </p:nvSpPr>
        <p:spPr>
          <a:xfrm>
            <a:off x="1257300" y="389308"/>
            <a:ext cx="6705600" cy="715962"/>
          </a:xfrm>
        </p:spPr>
        <p:txBody>
          <a:bodyPr/>
          <a:lstStyle/>
          <a:p>
            <a:pPr eaLnBrk="1" hangingPunct="1"/>
            <a:r>
              <a:rPr lang="en-US" altLang="en-US" dirty="0"/>
              <a:t>Attributes</a:t>
            </a:r>
          </a:p>
        </p:txBody>
      </p:sp>
      <p:sp>
        <p:nvSpPr>
          <p:cNvPr id="18435" name="Rectangle 3">
            <a:extLst>
              <a:ext uri="{FF2B5EF4-FFF2-40B4-BE49-F238E27FC236}">
                <a16:creationId xmlns:a16="http://schemas.microsoft.com/office/drawing/2014/main" id="{C154222E-C8B2-464C-A73E-312C9CE32014}"/>
              </a:ext>
            </a:extLst>
          </p:cNvPr>
          <p:cNvSpPr>
            <a:spLocks noGrp="1" noChangeArrowheads="1"/>
          </p:cNvSpPr>
          <p:nvPr>
            <p:ph type="body" idx="4294967295"/>
          </p:nvPr>
        </p:nvSpPr>
        <p:spPr/>
        <p:txBody>
          <a:bodyPr/>
          <a:lstStyle/>
          <a:p>
            <a:pPr eaLnBrk="1" hangingPunct="1">
              <a:lnSpc>
                <a:spcPct val="90000"/>
              </a:lnSpc>
              <a:buFontTx/>
              <a:buBlip>
                <a:blip r:embed="rId3"/>
              </a:buBlip>
            </a:pPr>
            <a:r>
              <a:rPr lang="en-US" altLang="en-US"/>
              <a:t>The data elements of a class define the object to be instantiated from the class.</a:t>
            </a:r>
          </a:p>
          <a:p>
            <a:pPr eaLnBrk="1" hangingPunct="1">
              <a:lnSpc>
                <a:spcPct val="90000"/>
              </a:lnSpc>
              <a:buFontTx/>
              <a:buBlip>
                <a:blip r:embed="rId3"/>
              </a:buBlip>
            </a:pPr>
            <a:r>
              <a:rPr lang="en-US" altLang="en-US"/>
              <a:t>The attributes must be specific to the class and define it completely.</a:t>
            </a:r>
          </a:p>
          <a:p>
            <a:pPr eaLnBrk="1" hangingPunct="1">
              <a:lnSpc>
                <a:spcPct val="90000"/>
              </a:lnSpc>
              <a:buFontTx/>
              <a:buBlip>
                <a:blip r:embed="rId3"/>
              </a:buBlip>
            </a:pPr>
            <a:r>
              <a:rPr lang="en-US" altLang="en-US"/>
              <a:t>Example:  A rectangle is defined by</a:t>
            </a:r>
          </a:p>
          <a:p>
            <a:pPr lvl="1" eaLnBrk="1" hangingPunct="1">
              <a:lnSpc>
                <a:spcPct val="90000"/>
              </a:lnSpc>
              <a:buFont typeface="Arial" panose="020B0604020202020204" pitchFamily="34" charset="0"/>
              <a:buBlip>
                <a:blip r:embed="rId3"/>
              </a:buBlip>
            </a:pPr>
            <a:r>
              <a:rPr lang="en-US" altLang="en-US"/>
              <a:t>length</a:t>
            </a:r>
          </a:p>
          <a:p>
            <a:pPr lvl="1" eaLnBrk="1" hangingPunct="1">
              <a:lnSpc>
                <a:spcPct val="90000"/>
              </a:lnSpc>
              <a:buFont typeface="Arial" panose="020B0604020202020204" pitchFamily="34" charset="0"/>
              <a:buBlip>
                <a:blip r:embed="rId3"/>
              </a:buBlip>
            </a:pPr>
            <a:r>
              <a:rPr lang="en-US" altLang="en-US"/>
              <a:t>width</a:t>
            </a:r>
          </a:p>
          <a:p>
            <a:pPr eaLnBrk="1" hangingPunct="1">
              <a:lnSpc>
                <a:spcPct val="90000"/>
              </a:lnSpc>
              <a:buFontTx/>
              <a:buBlip>
                <a:blip r:embed="rId3"/>
              </a:buBlip>
            </a:pPr>
            <a:r>
              <a:rPr lang="en-US" altLang="en-US"/>
              <a:t>The attributes are then accessed by methods within the class.</a:t>
            </a:r>
          </a:p>
        </p:txBody>
      </p:sp>
    </p:spTree>
    <p:extLst>
      <p:ext uri="{BB962C8B-B14F-4D97-AF65-F5344CB8AC3E}">
        <p14:creationId xmlns:p14="http://schemas.microsoft.com/office/powerpoint/2010/main" val="3654295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92BE202F-5D03-46DF-ABCB-9DB67DE3F9E5}"/>
              </a:ext>
            </a:extLst>
          </p:cNvPr>
          <p:cNvSpPr>
            <a:spLocks noGrp="1" noChangeArrowheads="1"/>
          </p:cNvSpPr>
          <p:nvPr>
            <p:ph type="title" idx="4294967295"/>
          </p:nvPr>
        </p:nvSpPr>
        <p:spPr>
          <a:xfrm>
            <a:off x="1257300" y="398186"/>
            <a:ext cx="6705600" cy="715962"/>
          </a:xfrm>
        </p:spPr>
        <p:txBody>
          <a:bodyPr/>
          <a:lstStyle/>
          <a:p>
            <a:pPr eaLnBrk="1" hangingPunct="1"/>
            <a:r>
              <a:rPr lang="en-US" altLang="en-US" dirty="0"/>
              <a:t>Methods</a:t>
            </a:r>
          </a:p>
        </p:txBody>
      </p:sp>
      <p:sp>
        <p:nvSpPr>
          <p:cNvPr id="20483" name="Rectangle 3">
            <a:extLst>
              <a:ext uri="{FF2B5EF4-FFF2-40B4-BE49-F238E27FC236}">
                <a16:creationId xmlns:a16="http://schemas.microsoft.com/office/drawing/2014/main" id="{6ADA82F6-D37C-4BA1-970C-82E41E742A5F}"/>
              </a:ext>
            </a:extLst>
          </p:cNvPr>
          <p:cNvSpPr>
            <a:spLocks noGrp="1" noChangeArrowheads="1"/>
          </p:cNvSpPr>
          <p:nvPr>
            <p:ph type="body" idx="4294967295"/>
          </p:nvPr>
        </p:nvSpPr>
        <p:spPr/>
        <p:txBody>
          <a:bodyPr/>
          <a:lstStyle/>
          <a:p>
            <a:pPr eaLnBrk="1" hangingPunct="1"/>
            <a:r>
              <a:rPr lang="en-US" altLang="en-US" sz="2400"/>
              <a:t>The class’ methods define the actions that an instance of the class can perform</a:t>
            </a:r>
          </a:p>
          <a:p>
            <a:pPr eaLnBrk="1" hangingPunct="1"/>
            <a:r>
              <a:rPr lang="en-US" altLang="en-US" sz="2400"/>
              <a:t>Methods headers have a format:</a:t>
            </a:r>
          </a:p>
          <a:p>
            <a:pPr lvl="1" eaLnBrk="1" hangingPunct="1">
              <a:buFontTx/>
              <a:buNone/>
            </a:pPr>
            <a:r>
              <a:rPr lang="en-US" altLang="en-US" sz="2400" i="1">
                <a:solidFill>
                  <a:srgbClr val="CA0C48"/>
                </a:solidFill>
                <a:latin typeface="Courier New" panose="02070309020205020404" pitchFamily="49" charset="0"/>
              </a:rPr>
              <a:t>AccessModifier</a:t>
            </a:r>
            <a:r>
              <a:rPr lang="en-US" altLang="en-US" sz="2400">
                <a:solidFill>
                  <a:srgbClr val="CA0C48"/>
                </a:solidFill>
                <a:latin typeface="Courier New" panose="02070309020205020404" pitchFamily="49" charset="0"/>
              </a:rPr>
              <a:t> </a:t>
            </a:r>
            <a:r>
              <a:rPr lang="en-US" altLang="en-US" sz="2400" i="1">
                <a:solidFill>
                  <a:srgbClr val="CA0C48"/>
                </a:solidFill>
                <a:latin typeface="Courier New" panose="02070309020205020404" pitchFamily="49" charset="0"/>
              </a:rPr>
              <a:t>ReturnType</a:t>
            </a:r>
            <a:r>
              <a:rPr lang="en-US" altLang="en-US" sz="2400">
                <a:solidFill>
                  <a:srgbClr val="CA0C48"/>
                </a:solidFill>
                <a:latin typeface="Courier New" panose="02070309020205020404" pitchFamily="49" charset="0"/>
              </a:rPr>
              <a:t> </a:t>
            </a:r>
            <a:r>
              <a:rPr lang="en-US" altLang="en-US" sz="2400" i="1">
                <a:solidFill>
                  <a:srgbClr val="CA0C48"/>
                </a:solidFill>
                <a:latin typeface="Courier New" panose="02070309020205020404" pitchFamily="49" charset="0"/>
              </a:rPr>
              <a:t>MethodName(Parameters</a:t>
            </a:r>
            <a:r>
              <a:rPr lang="en-US" altLang="en-US" sz="2400">
                <a:solidFill>
                  <a:srgbClr val="CA0C48"/>
                </a:solidFill>
                <a:latin typeface="Courier New" panose="02070309020205020404" pitchFamily="49" charset="0"/>
              </a:rPr>
              <a:t>)</a:t>
            </a:r>
          </a:p>
          <a:p>
            <a:pPr lvl="1" eaLnBrk="1" hangingPunct="1">
              <a:buFontTx/>
              <a:buNone/>
            </a:pPr>
            <a:r>
              <a:rPr lang="en-US" altLang="en-US" sz="2400">
                <a:solidFill>
                  <a:srgbClr val="CA0C48"/>
                </a:solidFill>
                <a:latin typeface="Courier New" panose="02070309020205020404" pitchFamily="49" charset="0"/>
              </a:rPr>
              <a:t>{</a:t>
            </a:r>
          </a:p>
          <a:p>
            <a:pPr lvl="2" eaLnBrk="1" hangingPunct="1">
              <a:buFontTx/>
              <a:buNone/>
            </a:pPr>
            <a:r>
              <a:rPr lang="en-US" altLang="en-US">
                <a:solidFill>
                  <a:srgbClr val="CA0C48"/>
                </a:solidFill>
                <a:latin typeface="Courier New" panose="02070309020205020404" pitchFamily="49" charset="0"/>
              </a:rPr>
              <a:t>// </a:t>
            </a:r>
            <a:r>
              <a:rPr lang="en-US" altLang="en-US" i="1">
                <a:solidFill>
                  <a:srgbClr val="CA0C48"/>
                </a:solidFill>
                <a:latin typeface="Courier New" panose="02070309020205020404" pitchFamily="49" charset="0"/>
              </a:rPr>
              <a:t>Method body.</a:t>
            </a:r>
          </a:p>
          <a:p>
            <a:pPr lvl="1" eaLnBrk="1" hangingPunct="1">
              <a:buFontTx/>
              <a:buNone/>
            </a:pPr>
            <a:r>
              <a:rPr lang="en-US" altLang="en-US" sz="2400">
                <a:solidFill>
                  <a:srgbClr val="CA0C48"/>
                </a:solidFill>
                <a:latin typeface="Courier New" panose="02070309020205020404" pitchFamily="49" charset="0"/>
              </a:rPr>
              <a:t>}</a:t>
            </a:r>
          </a:p>
          <a:p>
            <a:pPr eaLnBrk="1" hangingPunct="1"/>
            <a:r>
              <a:rPr lang="en-US" altLang="en-US" sz="2400"/>
              <a:t>Methods that need to be used by other classes should be made public</a:t>
            </a:r>
            <a:r>
              <a:rPr lang="en-US" altLang="en-US"/>
              <a:t>.</a:t>
            </a:r>
          </a:p>
        </p:txBody>
      </p:sp>
    </p:spTree>
    <p:extLst>
      <p:ext uri="{BB962C8B-B14F-4D97-AF65-F5344CB8AC3E}">
        <p14:creationId xmlns:p14="http://schemas.microsoft.com/office/powerpoint/2010/main" val="4014637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BCEC441B-1607-4F5A-9193-F74DB4217FAB}"/>
              </a:ext>
            </a:extLst>
          </p:cNvPr>
          <p:cNvSpPr>
            <a:spLocks noGrp="1" noChangeArrowheads="1"/>
          </p:cNvSpPr>
          <p:nvPr>
            <p:ph type="title" idx="4294967295"/>
          </p:nvPr>
        </p:nvSpPr>
        <p:spPr>
          <a:xfrm>
            <a:off x="1257300" y="389308"/>
            <a:ext cx="6705600" cy="715962"/>
          </a:xfrm>
        </p:spPr>
        <p:txBody>
          <a:bodyPr/>
          <a:lstStyle/>
          <a:p>
            <a:pPr eaLnBrk="1" hangingPunct="1"/>
            <a:r>
              <a:rPr lang="en-US" altLang="en-US" dirty="0"/>
              <a:t>Methods</a:t>
            </a:r>
          </a:p>
        </p:txBody>
      </p:sp>
      <p:sp>
        <p:nvSpPr>
          <p:cNvPr id="21507" name="Rectangle 3">
            <a:extLst>
              <a:ext uri="{FF2B5EF4-FFF2-40B4-BE49-F238E27FC236}">
                <a16:creationId xmlns:a16="http://schemas.microsoft.com/office/drawing/2014/main" id="{1F35A8FE-F5C1-4C08-9601-D6F2E43BBF41}"/>
              </a:ext>
            </a:extLst>
          </p:cNvPr>
          <p:cNvSpPr>
            <a:spLocks noGrp="1" noChangeArrowheads="1"/>
          </p:cNvSpPr>
          <p:nvPr>
            <p:ph type="body" idx="4294967295"/>
          </p:nvPr>
        </p:nvSpPr>
        <p:spPr/>
        <p:txBody>
          <a:bodyPr/>
          <a:lstStyle/>
          <a:p>
            <a:pPr eaLnBrk="1" hangingPunct="1"/>
            <a:r>
              <a:rPr lang="en-US" altLang="en-US"/>
              <a:t>The attributes of a class might need to be:</a:t>
            </a:r>
          </a:p>
          <a:p>
            <a:pPr lvl="1" eaLnBrk="1" hangingPunct="1"/>
            <a:r>
              <a:rPr lang="en-US" altLang="en-US"/>
              <a:t>changed</a:t>
            </a:r>
          </a:p>
          <a:p>
            <a:pPr lvl="1" eaLnBrk="1" hangingPunct="1"/>
            <a:r>
              <a:rPr lang="en-US" altLang="en-US"/>
              <a:t>accessed</a:t>
            </a:r>
          </a:p>
          <a:p>
            <a:pPr lvl="1" eaLnBrk="1" hangingPunct="1"/>
            <a:r>
              <a:rPr lang="en-US" altLang="en-US"/>
              <a:t>calculated</a:t>
            </a:r>
          </a:p>
          <a:p>
            <a:pPr eaLnBrk="1" hangingPunct="1"/>
            <a:r>
              <a:rPr lang="en-US" altLang="en-US"/>
              <a:t>The methods that change and access attributes are called </a:t>
            </a:r>
            <a:r>
              <a:rPr lang="en-US" altLang="en-US" i="1"/>
              <a:t>accessors</a:t>
            </a:r>
            <a:r>
              <a:rPr lang="en-US" altLang="en-US"/>
              <a:t> and </a:t>
            </a:r>
            <a:r>
              <a:rPr lang="en-US" altLang="en-US" i="1"/>
              <a:t>mutators</a:t>
            </a:r>
            <a:r>
              <a:rPr lang="en-US" altLang="en-US"/>
              <a:t>.</a:t>
            </a:r>
          </a:p>
        </p:txBody>
      </p:sp>
    </p:spTree>
    <p:extLst>
      <p:ext uri="{BB962C8B-B14F-4D97-AF65-F5344CB8AC3E}">
        <p14:creationId xmlns:p14="http://schemas.microsoft.com/office/powerpoint/2010/main" val="2681501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50966356-683D-4CFD-9A0C-BE67173405D3}"/>
              </a:ext>
            </a:extLst>
          </p:cNvPr>
          <p:cNvSpPr>
            <a:spLocks noGrp="1" noChangeArrowheads="1"/>
          </p:cNvSpPr>
          <p:nvPr>
            <p:ph type="title" idx="4294967295"/>
          </p:nvPr>
        </p:nvSpPr>
        <p:spPr/>
        <p:txBody>
          <a:bodyPr/>
          <a:lstStyle/>
          <a:p>
            <a:pPr eaLnBrk="1" hangingPunct="1"/>
            <a:r>
              <a:rPr lang="en-US" altLang="en-US"/>
              <a:t>Stale Data</a:t>
            </a:r>
          </a:p>
        </p:txBody>
      </p:sp>
      <p:sp>
        <p:nvSpPr>
          <p:cNvPr id="25603" name="Rectangle 3">
            <a:extLst>
              <a:ext uri="{FF2B5EF4-FFF2-40B4-BE49-F238E27FC236}">
                <a16:creationId xmlns:a16="http://schemas.microsoft.com/office/drawing/2014/main" id="{F262324A-3E75-4EBE-8E53-008A44AA81C0}"/>
              </a:ext>
            </a:extLst>
          </p:cNvPr>
          <p:cNvSpPr>
            <a:spLocks noGrp="1" noChangeArrowheads="1"/>
          </p:cNvSpPr>
          <p:nvPr>
            <p:ph type="body" idx="4294967295"/>
          </p:nvPr>
        </p:nvSpPr>
        <p:spPr/>
        <p:txBody>
          <a:bodyPr/>
          <a:lstStyle/>
          <a:p>
            <a:pPr eaLnBrk="1" hangingPunct="1"/>
            <a:r>
              <a:rPr lang="en-US" altLang="en-US" sz="2800"/>
              <a:t>Rather than use an </a:t>
            </a:r>
            <a:r>
              <a:rPr lang="en-US" altLang="en-US" sz="2800">
                <a:latin typeface="Courier New" panose="02070309020205020404" pitchFamily="49" charset="0"/>
              </a:rPr>
              <a:t>area</a:t>
            </a:r>
            <a:r>
              <a:rPr lang="en-US" altLang="en-US" sz="2800"/>
              <a:t> variable in a rectangle class:</a:t>
            </a:r>
          </a:p>
          <a:p>
            <a:pPr lvl="1" eaLnBrk="1" hangingPunct="1">
              <a:buFontTx/>
              <a:buNone/>
            </a:pPr>
            <a:r>
              <a:rPr lang="en-US" altLang="en-US" sz="2000">
                <a:solidFill>
                  <a:srgbClr val="CA0C48"/>
                </a:solidFill>
                <a:latin typeface="Courier New" panose="02070309020205020404" pitchFamily="49" charset="0"/>
              </a:rPr>
              <a:t>public double getArea()</a:t>
            </a:r>
          </a:p>
          <a:p>
            <a:pPr lvl="1" eaLnBrk="1" hangingPunct="1">
              <a:buFontTx/>
              <a:buNone/>
            </a:pPr>
            <a:r>
              <a:rPr lang="en-US" altLang="en-US" sz="2000">
                <a:solidFill>
                  <a:srgbClr val="CA0C48"/>
                </a:solidFill>
                <a:latin typeface="Courier New" panose="02070309020205020404" pitchFamily="49" charset="0"/>
              </a:rPr>
              <a:t>{</a:t>
            </a:r>
          </a:p>
          <a:p>
            <a:pPr lvl="1" eaLnBrk="1" hangingPunct="1">
              <a:buFontTx/>
              <a:buNone/>
            </a:pPr>
            <a:r>
              <a:rPr lang="en-US" altLang="en-US" sz="2000">
                <a:solidFill>
                  <a:srgbClr val="CA0C48"/>
                </a:solidFill>
                <a:latin typeface="Courier New" panose="02070309020205020404" pitchFamily="49" charset="0"/>
              </a:rPr>
              <a:t>	return length * width;</a:t>
            </a:r>
          </a:p>
          <a:p>
            <a:pPr lvl="1" eaLnBrk="1" hangingPunct="1">
              <a:buFontTx/>
              <a:buNone/>
            </a:pPr>
            <a:r>
              <a:rPr lang="en-US" altLang="en-US" sz="2000">
                <a:solidFill>
                  <a:srgbClr val="CA0C48"/>
                </a:solidFill>
                <a:latin typeface="Courier New" panose="02070309020205020404" pitchFamily="49" charset="0"/>
              </a:rPr>
              <a:t>}</a:t>
            </a:r>
          </a:p>
          <a:p>
            <a:pPr eaLnBrk="1" hangingPunct="1"/>
            <a:r>
              <a:rPr lang="en-US" altLang="en-US" sz="2800"/>
              <a:t>This dynamically calculates the value of the rectangle’s area when the method is called.</a:t>
            </a:r>
          </a:p>
          <a:p>
            <a:pPr eaLnBrk="1" hangingPunct="1"/>
            <a:r>
              <a:rPr lang="en-US" altLang="en-US" sz="2800"/>
              <a:t>Now, any change to the </a:t>
            </a:r>
            <a:r>
              <a:rPr lang="en-US" altLang="en-US" sz="2800">
                <a:latin typeface="Courier New" panose="02070309020205020404" pitchFamily="49" charset="0"/>
              </a:rPr>
              <a:t>length</a:t>
            </a:r>
            <a:r>
              <a:rPr lang="en-US" altLang="en-US" sz="2800"/>
              <a:t> or </a:t>
            </a:r>
            <a:r>
              <a:rPr lang="en-US" altLang="en-US" sz="2800">
                <a:latin typeface="Courier New" panose="02070309020205020404" pitchFamily="49" charset="0"/>
              </a:rPr>
              <a:t>width</a:t>
            </a:r>
            <a:r>
              <a:rPr lang="en-US" altLang="en-US" sz="2800"/>
              <a:t> variables will not leave the area of the rectangle stale.</a:t>
            </a:r>
          </a:p>
        </p:txBody>
      </p:sp>
    </p:spTree>
    <p:extLst>
      <p:ext uri="{BB962C8B-B14F-4D97-AF65-F5344CB8AC3E}">
        <p14:creationId xmlns:p14="http://schemas.microsoft.com/office/powerpoint/2010/main" val="1006372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A362A15A-0063-4C5A-9394-FDD4F09728AA}"/>
              </a:ext>
            </a:extLst>
          </p:cNvPr>
          <p:cNvSpPr>
            <a:spLocks noGrp="1" noChangeArrowheads="1"/>
          </p:cNvSpPr>
          <p:nvPr>
            <p:ph type="title" idx="4294967295"/>
          </p:nvPr>
        </p:nvSpPr>
        <p:spPr/>
        <p:txBody>
          <a:bodyPr/>
          <a:lstStyle/>
          <a:p>
            <a:pPr eaLnBrk="1" hangingPunct="1"/>
            <a:r>
              <a:rPr lang="en-US" altLang="en-US"/>
              <a:t>UML Data Type and Parameter Notation</a:t>
            </a:r>
          </a:p>
        </p:txBody>
      </p:sp>
      <p:sp>
        <p:nvSpPr>
          <p:cNvPr id="26627" name="Rectangle 3">
            <a:extLst>
              <a:ext uri="{FF2B5EF4-FFF2-40B4-BE49-F238E27FC236}">
                <a16:creationId xmlns:a16="http://schemas.microsoft.com/office/drawing/2014/main" id="{4D6B9920-F7CF-4F9A-A229-F9B1DB4A41B4}"/>
              </a:ext>
            </a:extLst>
          </p:cNvPr>
          <p:cNvSpPr>
            <a:spLocks noGrp="1" noChangeArrowheads="1"/>
          </p:cNvSpPr>
          <p:nvPr>
            <p:ph type="body" idx="4294967295"/>
          </p:nvPr>
        </p:nvSpPr>
        <p:spPr>
          <a:xfrm>
            <a:off x="304800" y="1600200"/>
            <a:ext cx="8294688" cy="1770063"/>
          </a:xfrm>
        </p:spPr>
        <p:txBody>
          <a:bodyPr/>
          <a:lstStyle/>
          <a:p>
            <a:pPr eaLnBrk="1" hangingPunct="1"/>
            <a:r>
              <a:rPr lang="en-US" altLang="en-US" sz="2800"/>
              <a:t>UML diagrams are language independent.</a:t>
            </a:r>
          </a:p>
          <a:p>
            <a:pPr eaLnBrk="1" hangingPunct="1"/>
            <a:r>
              <a:rPr lang="en-US" altLang="en-US" sz="2800"/>
              <a:t>UML diagrams use an independent notation to show return types, access modifiers, etc.</a:t>
            </a:r>
          </a:p>
        </p:txBody>
      </p:sp>
      <p:grpSp>
        <p:nvGrpSpPr>
          <p:cNvPr id="26628" name="Group 4">
            <a:extLst>
              <a:ext uri="{FF2B5EF4-FFF2-40B4-BE49-F238E27FC236}">
                <a16:creationId xmlns:a16="http://schemas.microsoft.com/office/drawing/2014/main" id="{24122C1D-DA37-4CBC-86E0-E3F3EE13AB1B}"/>
              </a:ext>
            </a:extLst>
          </p:cNvPr>
          <p:cNvGrpSpPr>
            <a:grpSpLocks/>
          </p:cNvGrpSpPr>
          <p:nvPr/>
        </p:nvGrpSpPr>
        <p:grpSpPr bwMode="auto">
          <a:xfrm>
            <a:off x="4052888" y="3429000"/>
            <a:ext cx="3352800" cy="2667000"/>
            <a:chOff x="1968" y="2208"/>
            <a:chExt cx="1872" cy="864"/>
          </a:xfrm>
        </p:grpSpPr>
        <p:sp>
          <p:nvSpPr>
            <p:cNvPr id="25609" name="Rectangle 5">
              <a:extLst>
                <a:ext uri="{FF2B5EF4-FFF2-40B4-BE49-F238E27FC236}">
                  <a16:creationId xmlns:a16="http://schemas.microsoft.com/office/drawing/2014/main" id="{213B4F6F-DEB1-479F-BF7D-04F801E155A1}"/>
                </a:ext>
              </a:extLst>
            </p:cNvPr>
            <p:cNvSpPr>
              <a:spLocks noChangeArrowheads="1"/>
            </p:cNvSpPr>
            <p:nvPr/>
          </p:nvSpPr>
          <p:spPr bwMode="auto">
            <a:xfrm>
              <a:off x="1968" y="2208"/>
              <a:ext cx="1872" cy="28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har char="•"/>
                <a:defRPr sz="3200" b="1">
                  <a:solidFill>
                    <a:schemeClr val="tx1"/>
                  </a:solidFill>
                  <a:latin typeface="Arial" charset="0"/>
                  <a:cs typeface="Arial" charset="0"/>
                </a:defRPr>
              </a:lvl1pPr>
              <a:lvl2pPr marL="742950" indent="-285750" eaLnBrk="0" hangingPunct="0">
                <a:spcBef>
                  <a:spcPct val="20000"/>
                </a:spcBef>
                <a:buFont typeface="Arial" charset="0"/>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Font typeface="Arial" charset="0"/>
                <a:buChar char="–"/>
                <a:defRPr sz="2000">
                  <a:solidFill>
                    <a:schemeClr val="tx1"/>
                  </a:solidFill>
                  <a:latin typeface="Arial" charset="0"/>
                  <a:cs typeface="Arial" charset="0"/>
                </a:defRPr>
              </a:lvl4pPr>
              <a:lvl5pPr marL="2057400" indent="-228600" eaLnBrk="0" hangingPunct="0">
                <a:spcBef>
                  <a:spcPct val="20000"/>
                </a:spcBef>
                <a:buFont typeface="Arial" charset="0"/>
                <a:buChar char="»"/>
                <a:defRPr sz="20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9pPr>
            </a:lstStyle>
            <a:p>
              <a:pPr eaLnBrk="1" hangingPunct="1">
                <a:spcBef>
                  <a:spcPct val="0"/>
                </a:spcBef>
                <a:buFontTx/>
                <a:buNone/>
                <a:defRPr/>
              </a:pPr>
              <a:r>
                <a:rPr lang="en-US" altLang="en-US" sz="2000" b="0">
                  <a:latin typeface="Times New Roman" pitchFamily="18" charset="0"/>
                </a:rPr>
                <a:t>Rectangle</a:t>
              </a:r>
            </a:p>
          </p:txBody>
        </p:sp>
        <p:sp>
          <p:nvSpPr>
            <p:cNvPr id="25610" name="Rectangle 6">
              <a:extLst>
                <a:ext uri="{FF2B5EF4-FFF2-40B4-BE49-F238E27FC236}">
                  <a16:creationId xmlns:a16="http://schemas.microsoft.com/office/drawing/2014/main" id="{07D613D5-46AD-4F88-ACD0-1BA5C3EECE09}"/>
                </a:ext>
              </a:extLst>
            </p:cNvPr>
            <p:cNvSpPr>
              <a:spLocks noChangeArrowheads="1"/>
            </p:cNvSpPr>
            <p:nvPr/>
          </p:nvSpPr>
          <p:spPr bwMode="auto">
            <a:xfrm>
              <a:off x="1968" y="2496"/>
              <a:ext cx="1872" cy="28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har char="•"/>
                <a:defRPr sz="3200" b="1">
                  <a:solidFill>
                    <a:schemeClr val="tx1"/>
                  </a:solidFill>
                  <a:latin typeface="Arial" charset="0"/>
                  <a:cs typeface="Arial" charset="0"/>
                </a:defRPr>
              </a:lvl1pPr>
              <a:lvl2pPr marL="742950" indent="-285750" eaLnBrk="0" hangingPunct="0">
                <a:spcBef>
                  <a:spcPct val="20000"/>
                </a:spcBef>
                <a:buFont typeface="Arial" charset="0"/>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Font typeface="Arial" charset="0"/>
                <a:buChar char="–"/>
                <a:defRPr sz="2000">
                  <a:solidFill>
                    <a:schemeClr val="tx1"/>
                  </a:solidFill>
                  <a:latin typeface="Arial" charset="0"/>
                  <a:cs typeface="Arial" charset="0"/>
                </a:defRPr>
              </a:lvl4pPr>
              <a:lvl5pPr marL="2057400" indent="-228600" eaLnBrk="0" hangingPunct="0">
                <a:spcBef>
                  <a:spcPct val="20000"/>
                </a:spcBef>
                <a:buFont typeface="Arial" charset="0"/>
                <a:buChar char="»"/>
                <a:defRPr sz="20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9pPr>
            </a:lstStyle>
            <a:p>
              <a:pPr eaLnBrk="1" hangingPunct="1">
                <a:spcBef>
                  <a:spcPct val="0"/>
                </a:spcBef>
                <a:buFontTx/>
                <a:buNone/>
                <a:defRPr/>
              </a:pPr>
              <a:r>
                <a:rPr lang="en-US" altLang="en-US" sz="2400" dirty="0">
                  <a:solidFill>
                    <a:srgbClr val="CA0C48"/>
                  </a:solidFill>
                  <a:latin typeface="Times New Roman" pitchFamily="18" charset="0"/>
                </a:rPr>
                <a:t>-</a:t>
              </a:r>
              <a:r>
                <a:rPr lang="en-US" altLang="en-US" sz="2400" b="0" dirty="0">
                  <a:latin typeface="Times New Roman" pitchFamily="18" charset="0"/>
                </a:rPr>
                <a:t> </a:t>
              </a:r>
              <a:r>
                <a:rPr lang="en-US" altLang="en-US" sz="2000" b="0" dirty="0">
                  <a:latin typeface="Times New Roman" pitchFamily="18" charset="0"/>
                </a:rPr>
                <a:t>width : double</a:t>
              </a:r>
            </a:p>
          </p:txBody>
        </p:sp>
        <p:sp>
          <p:nvSpPr>
            <p:cNvPr id="25611" name="Rectangle 7">
              <a:extLst>
                <a:ext uri="{FF2B5EF4-FFF2-40B4-BE49-F238E27FC236}">
                  <a16:creationId xmlns:a16="http://schemas.microsoft.com/office/drawing/2014/main" id="{A186EDBE-7AE9-43F4-BC40-9A1FEC38786F}"/>
                </a:ext>
              </a:extLst>
            </p:cNvPr>
            <p:cNvSpPr>
              <a:spLocks noChangeArrowheads="1"/>
            </p:cNvSpPr>
            <p:nvPr/>
          </p:nvSpPr>
          <p:spPr bwMode="auto">
            <a:xfrm>
              <a:off x="1968" y="2784"/>
              <a:ext cx="1872" cy="28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har char="•"/>
                <a:defRPr sz="3200" b="1">
                  <a:solidFill>
                    <a:schemeClr val="tx1"/>
                  </a:solidFill>
                  <a:latin typeface="Arial" charset="0"/>
                  <a:cs typeface="Arial" charset="0"/>
                </a:defRPr>
              </a:lvl1pPr>
              <a:lvl2pPr marL="742950" indent="-285750" eaLnBrk="0" hangingPunct="0">
                <a:spcBef>
                  <a:spcPct val="20000"/>
                </a:spcBef>
                <a:buFont typeface="Arial" charset="0"/>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Font typeface="Arial" charset="0"/>
                <a:buChar char="–"/>
                <a:defRPr sz="2000">
                  <a:solidFill>
                    <a:schemeClr val="tx1"/>
                  </a:solidFill>
                  <a:latin typeface="Arial" charset="0"/>
                  <a:cs typeface="Arial" charset="0"/>
                </a:defRPr>
              </a:lvl4pPr>
              <a:lvl5pPr marL="2057400" indent="-228600" eaLnBrk="0" hangingPunct="0">
                <a:spcBef>
                  <a:spcPct val="20000"/>
                </a:spcBef>
                <a:buFont typeface="Arial" charset="0"/>
                <a:buChar char="»"/>
                <a:defRPr sz="20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9pPr>
            </a:lstStyle>
            <a:p>
              <a:pPr eaLnBrk="1" hangingPunct="1">
                <a:spcBef>
                  <a:spcPct val="0"/>
                </a:spcBef>
                <a:buFontTx/>
                <a:buNone/>
                <a:defRPr/>
              </a:pPr>
              <a:r>
                <a:rPr lang="en-US" altLang="en-US" sz="2400" dirty="0">
                  <a:solidFill>
                    <a:srgbClr val="CA0C48"/>
                  </a:solidFill>
                  <a:latin typeface="Times New Roman" pitchFamily="18" charset="0"/>
                </a:rPr>
                <a:t>+</a:t>
              </a:r>
              <a:r>
                <a:rPr lang="en-US" altLang="en-US" sz="2000" b="0" dirty="0">
                  <a:latin typeface="Times New Roman" pitchFamily="18" charset="0"/>
                </a:rPr>
                <a:t> </a:t>
              </a:r>
              <a:r>
                <a:rPr lang="en-US" altLang="en-US" sz="2000" b="0" dirty="0" err="1">
                  <a:latin typeface="Times New Roman" pitchFamily="18" charset="0"/>
                </a:rPr>
                <a:t>setWidth</a:t>
              </a:r>
              <a:r>
                <a:rPr lang="en-US" altLang="en-US" sz="2000" b="0" dirty="0">
                  <a:latin typeface="Times New Roman" pitchFamily="18" charset="0"/>
                </a:rPr>
                <a:t>(w : double) : void</a:t>
              </a:r>
            </a:p>
          </p:txBody>
        </p:sp>
      </p:grpSp>
    </p:spTree>
    <p:extLst>
      <p:ext uri="{BB962C8B-B14F-4D97-AF65-F5344CB8AC3E}">
        <p14:creationId xmlns:p14="http://schemas.microsoft.com/office/powerpoint/2010/main" val="2626319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720AB5A-E898-4B7C-8422-6C1EC6E78F9D}"/>
              </a:ext>
            </a:extLst>
          </p:cNvPr>
          <p:cNvSpPr>
            <a:spLocks noGrp="1" noChangeArrowheads="1"/>
          </p:cNvSpPr>
          <p:nvPr>
            <p:ph type="title" idx="4294967295"/>
          </p:nvPr>
        </p:nvSpPr>
        <p:spPr>
          <a:xfrm>
            <a:off x="1371600" y="223838"/>
            <a:ext cx="6705600" cy="715962"/>
          </a:xfrm>
        </p:spPr>
        <p:txBody>
          <a:bodyPr/>
          <a:lstStyle/>
          <a:p>
            <a:pPr eaLnBrk="1" hangingPunct="1"/>
            <a:r>
              <a:rPr lang="en-US" altLang="en-US" sz="2800" dirty="0"/>
              <a:t>The UML Diagram for Rectangle class</a:t>
            </a:r>
          </a:p>
        </p:txBody>
      </p:sp>
      <p:grpSp>
        <p:nvGrpSpPr>
          <p:cNvPr id="31747" name="Group 7">
            <a:extLst>
              <a:ext uri="{FF2B5EF4-FFF2-40B4-BE49-F238E27FC236}">
                <a16:creationId xmlns:a16="http://schemas.microsoft.com/office/drawing/2014/main" id="{B8237DCA-CC0B-4CAF-9937-768544E56DE2}"/>
              </a:ext>
            </a:extLst>
          </p:cNvPr>
          <p:cNvGrpSpPr>
            <a:grpSpLocks/>
          </p:cNvGrpSpPr>
          <p:nvPr/>
        </p:nvGrpSpPr>
        <p:grpSpPr bwMode="auto">
          <a:xfrm>
            <a:off x="2590800" y="1752600"/>
            <a:ext cx="3352800" cy="3276600"/>
            <a:chOff x="96" y="864"/>
            <a:chExt cx="2112" cy="2064"/>
          </a:xfrm>
        </p:grpSpPr>
        <p:sp>
          <p:nvSpPr>
            <p:cNvPr id="30727" name="Rectangle 4">
              <a:extLst>
                <a:ext uri="{FF2B5EF4-FFF2-40B4-BE49-F238E27FC236}">
                  <a16:creationId xmlns:a16="http://schemas.microsoft.com/office/drawing/2014/main" id="{839BEF07-DED5-4D7D-87FA-0C7673B87693}"/>
                </a:ext>
              </a:extLst>
            </p:cNvPr>
            <p:cNvSpPr>
              <a:spLocks noChangeArrowheads="1"/>
            </p:cNvSpPr>
            <p:nvPr/>
          </p:nvSpPr>
          <p:spPr bwMode="auto">
            <a:xfrm>
              <a:off x="96" y="864"/>
              <a:ext cx="2112" cy="384"/>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har char="•"/>
                <a:defRPr sz="3200" b="1">
                  <a:solidFill>
                    <a:schemeClr val="tx1"/>
                  </a:solidFill>
                  <a:latin typeface="Arial" charset="0"/>
                  <a:cs typeface="Arial" charset="0"/>
                </a:defRPr>
              </a:lvl1pPr>
              <a:lvl2pPr marL="742950" indent="-285750" eaLnBrk="0" hangingPunct="0">
                <a:spcBef>
                  <a:spcPct val="20000"/>
                </a:spcBef>
                <a:buFont typeface="Arial" charset="0"/>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Font typeface="Arial" charset="0"/>
                <a:buChar char="–"/>
                <a:defRPr sz="2000">
                  <a:solidFill>
                    <a:schemeClr val="tx1"/>
                  </a:solidFill>
                  <a:latin typeface="Arial" charset="0"/>
                  <a:cs typeface="Arial" charset="0"/>
                </a:defRPr>
              </a:lvl4pPr>
              <a:lvl5pPr marL="2057400" indent="-228600" eaLnBrk="0" hangingPunct="0">
                <a:spcBef>
                  <a:spcPct val="20000"/>
                </a:spcBef>
                <a:buFont typeface="Arial" charset="0"/>
                <a:buChar char="»"/>
                <a:defRPr sz="20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9pPr>
            </a:lstStyle>
            <a:p>
              <a:pPr algn="ctr" eaLnBrk="1" hangingPunct="1">
                <a:spcBef>
                  <a:spcPct val="0"/>
                </a:spcBef>
                <a:buFontTx/>
                <a:buNone/>
                <a:defRPr/>
              </a:pPr>
              <a:r>
                <a:rPr lang="en-US" altLang="en-US" sz="2000" b="0" dirty="0">
                  <a:latin typeface="Times New Roman" pitchFamily="18" charset="0"/>
                </a:rPr>
                <a:t>Rectangle</a:t>
              </a:r>
            </a:p>
          </p:txBody>
        </p:sp>
        <p:sp>
          <p:nvSpPr>
            <p:cNvPr id="30728" name="Rectangle 5">
              <a:extLst>
                <a:ext uri="{FF2B5EF4-FFF2-40B4-BE49-F238E27FC236}">
                  <a16:creationId xmlns:a16="http://schemas.microsoft.com/office/drawing/2014/main" id="{A6D0B1E4-E84B-4F89-81EE-63C9418D6DF4}"/>
                </a:ext>
              </a:extLst>
            </p:cNvPr>
            <p:cNvSpPr>
              <a:spLocks noChangeArrowheads="1"/>
            </p:cNvSpPr>
            <p:nvPr/>
          </p:nvSpPr>
          <p:spPr bwMode="auto">
            <a:xfrm>
              <a:off x="96" y="1248"/>
              <a:ext cx="2112" cy="496"/>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har char="•"/>
                <a:defRPr sz="3200" b="1">
                  <a:solidFill>
                    <a:schemeClr val="tx1"/>
                  </a:solidFill>
                  <a:latin typeface="Arial" charset="0"/>
                  <a:cs typeface="Arial" charset="0"/>
                </a:defRPr>
              </a:lvl1pPr>
              <a:lvl2pPr marL="742950" indent="-285750" eaLnBrk="0" hangingPunct="0">
                <a:spcBef>
                  <a:spcPct val="20000"/>
                </a:spcBef>
                <a:buFont typeface="Arial" charset="0"/>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Font typeface="Arial" charset="0"/>
                <a:buChar char="–"/>
                <a:defRPr sz="2000">
                  <a:solidFill>
                    <a:schemeClr val="tx1"/>
                  </a:solidFill>
                  <a:latin typeface="Arial" charset="0"/>
                  <a:cs typeface="Arial" charset="0"/>
                </a:defRPr>
              </a:lvl4pPr>
              <a:lvl5pPr marL="2057400" indent="-228600" eaLnBrk="0" hangingPunct="0">
                <a:spcBef>
                  <a:spcPct val="20000"/>
                </a:spcBef>
                <a:buFont typeface="Arial" charset="0"/>
                <a:buChar char="»"/>
                <a:defRPr sz="20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9pPr>
            </a:lstStyle>
            <a:p>
              <a:pPr eaLnBrk="1" hangingPunct="1">
                <a:spcBef>
                  <a:spcPct val="0"/>
                </a:spcBef>
                <a:buFontTx/>
                <a:buChar char="-"/>
                <a:defRPr/>
              </a:pPr>
              <a:r>
                <a:rPr lang="en-US" altLang="en-US" sz="2000" b="0">
                  <a:latin typeface="Times New Roman" pitchFamily="18" charset="0"/>
                </a:rPr>
                <a:t> width : double</a:t>
              </a:r>
            </a:p>
            <a:p>
              <a:pPr eaLnBrk="1" hangingPunct="1">
                <a:spcBef>
                  <a:spcPct val="0"/>
                </a:spcBef>
                <a:buFontTx/>
                <a:buChar char="-"/>
                <a:defRPr/>
              </a:pPr>
              <a:r>
                <a:rPr lang="en-US" altLang="en-US" sz="2000" b="0">
                  <a:latin typeface="Times New Roman" pitchFamily="18" charset="0"/>
                </a:rPr>
                <a:t> length : double</a:t>
              </a:r>
            </a:p>
          </p:txBody>
        </p:sp>
        <p:sp>
          <p:nvSpPr>
            <p:cNvPr id="30729" name="Rectangle 6">
              <a:extLst>
                <a:ext uri="{FF2B5EF4-FFF2-40B4-BE49-F238E27FC236}">
                  <a16:creationId xmlns:a16="http://schemas.microsoft.com/office/drawing/2014/main" id="{EFF783E1-CE9B-4C4C-9C67-CB05D59E529D}"/>
                </a:ext>
              </a:extLst>
            </p:cNvPr>
            <p:cNvSpPr>
              <a:spLocks noChangeArrowheads="1"/>
            </p:cNvSpPr>
            <p:nvPr/>
          </p:nvSpPr>
          <p:spPr bwMode="auto">
            <a:xfrm>
              <a:off x="96" y="1728"/>
              <a:ext cx="2112" cy="1200"/>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har char="•"/>
                <a:defRPr sz="3200" b="1">
                  <a:solidFill>
                    <a:schemeClr val="tx1"/>
                  </a:solidFill>
                  <a:latin typeface="Arial" charset="0"/>
                  <a:cs typeface="Arial" charset="0"/>
                </a:defRPr>
              </a:lvl1pPr>
              <a:lvl2pPr marL="742950" indent="-285750" eaLnBrk="0" hangingPunct="0">
                <a:spcBef>
                  <a:spcPct val="20000"/>
                </a:spcBef>
                <a:buFont typeface="Arial" charset="0"/>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Font typeface="Arial" charset="0"/>
                <a:buChar char="–"/>
                <a:defRPr sz="2000">
                  <a:solidFill>
                    <a:schemeClr val="tx1"/>
                  </a:solidFill>
                  <a:latin typeface="Arial" charset="0"/>
                  <a:cs typeface="Arial" charset="0"/>
                </a:defRPr>
              </a:lvl4pPr>
              <a:lvl5pPr marL="2057400" indent="-228600" eaLnBrk="0" hangingPunct="0">
                <a:spcBef>
                  <a:spcPct val="20000"/>
                </a:spcBef>
                <a:buFont typeface="Arial" charset="0"/>
                <a:buChar char="»"/>
                <a:defRPr sz="20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9pPr>
            </a:lstStyle>
            <a:p>
              <a:pPr eaLnBrk="1" hangingPunct="1">
                <a:spcBef>
                  <a:spcPct val="0"/>
                </a:spcBef>
                <a:buFontTx/>
                <a:buNone/>
                <a:defRPr/>
              </a:pPr>
              <a:r>
                <a:rPr lang="en-US" altLang="en-US" sz="2000" b="0" dirty="0">
                  <a:latin typeface="Times New Roman" pitchFamily="18" charset="0"/>
                </a:rPr>
                <a:t>+ </a:t>
              </a:r>
              <a:r>
                <a:rPr lang="en-US" altLang="en-US" sz="2000" b="0" dirty="0" err="1">
                  <a:latin typeface="Times New Roman" pitchFamily="18" charset="0"/>
                </a:rPr>
                <a:t>setWidth</a:t>
              </a:r>
              <a:r>
                <a:rPr lang="en-US" altLang="en-US" sz="2000" b="0" dirty="0">
                  <a:latin typeface="Times New Roman" pitchFamily="18" charset="0"/>
                </a:rPr>
                <a:t>(w : double) : void</a:t>
              </a:r>
            </a:p>
            <a:p>
              <a:pPr eaLnBrk="1" hangingPunct="1">
                <a:spcBef>
                  <a:spcPct val="0"/>
                </a:spcBef>
                <a:buFontTx/>
                <a:buNone/>
                <a:defRPr/>
              </a:pPr>
              <a:r>
                <a:rPr lang="en-US" altLang="en-US" sz="2000" b="0" dirty="0">
                  <a:latin typeface="Times New Roman" pitchFamily="18" charset="0"/>
                </a:rPr>
                <a:t>+ </a:t>
              </a:r>
              <a:r>
                <a:rPr lang="en-US" altLang="en-US" sz="2000" b="0" dirty="0" err="1">
                  <a:latin typeface="Times New Roman" pitchFamily="18" charset="0"/>
                </a:rPr>
                <a:t>setLength</a:t>
              </a:r>
              <a:r>
                <a:rPr lang="en-US" altLang="en-US" sz="2000" b="0" dirty="0">
                  <a:latin typeface="Times New Roman" pitchFamily="18" charset="0"/>
                </a:rPr>
                <a:t>(</a:t>
              </a:r>
              <a:r>
                <a:rPr lang="en-US" altLang="en-US" sz="2000" b="0" dirty="0" err="1">
                  <a:latin typeface="Times New Roman" pitchFamily="18" charset="0"/>
                </a:rPr>
                <a:t>len</a:t>
              </a:r>
              <a:r>
                <a:rPr lang="en-US" altLang="en-US" sz="2000" b="0" dirty="0">
                  <a:latin typeface="Times New Roman" pitchFamily="18" charset="0"/>
                </a:rPr>
                <a:t> : double): void</a:t>
              </a:r>
            </a:p>
            <a:p>
              <a:pPr eaLnBrk="1" hangingPunct="1">
                <a:spcBef>
                  <a:spcPct val="0"/>
                </a:spcBef>
                <a:buFontTx/>
                <a:buNone/>
                <a:defRPr/>
              </a:pPr>
              <a:r>
                <a:rPr lang="en-US" altLang="en-US" sz="2000" b="0" dirty="0">
                  <a:latin typeface="Times New Roman" pitchFamily="18" charset="0"/>
                </a:rPr>
                <a:t>+ </a:t>
              </a:r>
              <a:r>
                <a:rPr lang="en-US" altLang="en-US" sz="2000" b="0" dirty="0" err="1">
                  <a:latin typeface="Times New Roman" pitchFamily="18" charset="0"/>
                </a:rPr>
                <a:t>getWidth</a:t>
              </a:r>
              <a:r>
                <a:rPr lang="en-US" altLang="en-US" sz="2000" b="0" dirty="0">
                  <a:latin typeface="Times New Roman" pitchFamily="18" charset="0"/>
                </a:rPr>
                <a:t>() : double</a:t>
              </a:r>
            </a:p>
            <a:p>
              <a:pPr eaLnBrk="1" hangingPunct="1">
                <a:spcBef>
                  <a:spcPct val="0"/>
                </a:spcBef>
                <a:buFontTx/>
                <a:buNone/>
                <a:defRPr/>
              </a:pPr>
              <a:r>
                <a:rPr lang="en-US" altLang="en-US" sz="2000" b="0" dirty="0">
                  <a:latin typeface="Times New Roman" pitchFamily="18" charset="0"/>
                </a:rPr>
                <a:t>+ </a:t>
              </a:r>
              <a:r>
                <a:rPr lang="en-US" altLang="en-US" sz="2000" b="0" dirty="0" err="1">
                  <a:latin typeface="Times New Roman" pitchFamily="18" charset="0"/>
                </a:rPr>
                <a:t>getLength</a:t>
              </a:r>
              <a:r>
                <a:rPr lang="en-US" altLang="en-US" sz="2000" b="0" dirty="0">
                  <a:latin typeface="Times New Roman" pitchFamily="18" charset="0"/>
                </a:rPr>
                <a:t>() : double</a:t>
              </a:r>
            </a:p>
            <a:p>
              <a:pPr eaLnBrk="1" hangingPunct="1">
                <a:spcBef>
                  <a:spcPct val="0"/>
                </a:spcBef>
                <a:buFontTx/>
                <a:buNone/>
                <a:defRPr/>
              </a:pPr>
              <a:r>
                <a:rPr lang="en-US" altLang="en-US" sz="2000" b="0" dirty="0">
                  <a:latin typeface="Times New Roman" pitchFamily="18" charset="0"/>
                </a:rPr>
                <a:t>+ </a:t>
              </a:r>
              <a:r>
                <a:rPr lang="en-US" altLang="en-US" sz="2000" b="0" dirty="0" err="1">
                  <a:latin typeface="Times New Roman" pitchFamily="18" charset="0"/>
                </a:rPr>
                <a:t>getArea</a:t>
              </a:r>
              <a:r>
                <a:rPr lang="en-US" altLang="en-US" sz="2000" b="0" dirty="0">
                  <a:latin typeface="Times New Roman" pitchFamily="18" charset="0"/>
                </a:rPr>
                <a:t>() : double</a:t>
              </a:r>
            </a:p>
            <a:p>
              <a:pPr eaLnBrk="1" hangingPunct="1">
                <a:spcBef>
                  <a:spcPct val="0"/>
                </a:spcBef>
                <a:buFontTx/>
                <a:buNone/>
                <a:defRPr/>
              </a:pPr>
              <a:r>
                <a:rPr lang="en-US" altLang="en-US" sz="2000" b="0" dirty="0">
                  <a:latin typeface="Times New Roman" pitchFamily="18" charset="0"/>
                </a:rPr>
                <a:t>+ </a:t>
              </a:r>
              <a:r>
                <a:rPr lang="en-US" altLang="en-US" sz="2000" b="0" dirty="0" err="1">
                  <a:latin typeface="Times New Roman" pitchFamily="18" charset="0"/>
                </a:rPr>
                <a:t>getPerimeter</a:t>
              </a:r>
              <a:r>
                <a:rPr lang="en-US" altLang="en-US" sz="2000" b="0" dirty="0">
                  <a:latin typeface="Times New Roman" pitchFamily="18" charset="0"/>
                </a:rPr>
                <a:t>() : double</a:t>
              </a:r>
            </a:p>
          </p:txBody>
        </p:sp>
      </p:grpSp>
    </p:spTree>
    <p:extLst>
      <p:ext uri="{BB962C8B-B14F-4D97-AF65-F5344CB8AC3E}">
        <p14:creationId xmlns:p14="http://schemas.microsoft.com/office/powerpoint/2010/main" val="1782769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BE7921A-C488-481E-82F0-AD95FCA8D639}"/>
              </a:ext>
            </a:extLst>
          </p:cNvPr>
          <p:cNvSpPr>
            <a:spLocks noGrp="1" noChangeArrowheads="1"/>
          </p:cNvSpPr>
          <p:nvPr>
            <p:ph type="title" idx="4294967295"/>
          </p:nvPr>
        </p:nvSpPr>
        <p:spPr>
          <a:xfrm>
            <a:off x="1066800" y="304800"/>
            <a:ext cx="6705600" cy="715962"/>
          </a:xfrm>
        </p:spPr>
        <p:txBody>
          <a:bodyPr/>
          <a:lstStyle/>
          <a:p>
            <a:pPr eaLnBrk="1" hangingPunct="1"/>
            <a:r>
              <a:rPr lang="en-US" altLang="en-US" dirty="0"/>
              <a:t>A Driver Program</a:t>
            </a:r>
          </a:p>
        </p:txBody>
      </p:sp>
      <p:sp>
        <p:nvSpPr>
          <p:cNvPr id="34819" name="Rectangle 3">
            <a:extLst>
              <a:ext uri="{FF2B5EF4-FFF2-40B4-BE49-F238E27FC236}">
                <a16:creationId xmlns:a16="http://schemas.microsoft.com/office/drawing/2014/main" id="{A7C30276-1B86-45C7-BD35-E99FD854D518}"/>
              </a:ext>
            </a:extLst>
          </p:cNvPr>
          <p:cNvSpPr>
            <a:spLocks noGrp="1" noChangeArrowheads="1"/>
          </p:cNvSpPr>
          <p:nvPr>
            <p:ph type="body" idx="4294967295"/>
          </p:nvPr>
        </p:nvSpPr>
        <p:spPr/>
        <p:txBody>
          <a:bodyPr/>
          <a:lstStyle/>
          <a:p>
            <a:pPr eaLnBrk="1" hangingPunct="1"/>
            <a:r>
              <a:rPr lang="en-US" altLang="en-US"/>
              <a:t>An application in Java is a collection of classes that interact.</a:t>
            </a:r>
          </a:p>
          <a:p>
            <a:pPr eaLnBrk="1" hangingPunct="1"/>
            <a:r>
              <a:rPr lang="en-US" altLang="en-US"/>
              <a:t>The class that starts the application must have a </a:t>
            </a:r>
            <a:r>
              <a:rPr lang="en-US" altLang="en-US">
                <a:latin typeface="Courier New" panose="02070309020205020404" pitchFamily="49" charset="0"/>
              </a:rPr>
              <a:t>main</a:t>
            </a:r>
            <a:r>
              <a:rPr lang="en-US" altLang="en-US"/>
              <a:t> method.</a:t>
            </a:r>
          </a:p>
          <a:p>
            <a:pPr eaLnBrk="1" hangingPunct="1"/>
            <a:r>
              <a:rPr lang="en-US" altLang="en-US"/>
              <a:t>This class can be used as a </a:t>
            </a:r>
            <a:r>
              <a:rPr lang="en-US" altLang="en-US" i="1"/>
              <a:t>driver</a:t>
            </a:r>
            <a:r>
              <a:rPr lang="en-US" altLang="en-US"/>
              <a:t> to test the capabilities of other classes.</a:t>
            </a:r>
          </a:p>
          <a:p>
            <a:pPr eaLnBrk="1" hangingPunct="1"/>
            <a:r>
              <a:rPr lang="en-US" altLang="en-US"/>
              <a:t>In the </a:t>
            </a:r>
            <a:r>
              <a:rPr lang="en-US" altLang="en-US">
                <a:latin typeface="Courier New" panose="02070309020205020404" pitchFamily="49" charset="0"/>
              </a:rPr>
              <a:t>Rectangle</a:t>
            </a:r>
            <a:r>
              <a:rPr lang="en-US" altLang="en-US"/>
              <a:t> class example, notice that there was no </a:t>
            </a:r>
            <a:r>
              <a:rPr lang="en-US" altLang="en-US">
                <a:latin typeface="Courier New" panose="02070309020205020404" pitchFamily="49" charset="0"/>
              </a:rPr>
              <a:t>main</a:t>
            </a:r>
            <a:r>
              <a:rPr lang="en-US" altLang="en-US"/>
              <a:t> method.</a:t>
            </a:r>
          </a:p>
        </p:txBody>
      </p:sp>
    </p:spTree>
    <p:extLst>
      <p:ext uri="{BB962C8B-B14F-4D97-AF65-F5344CB8AC3E}">
        <p14:creationId xmlns:p14="http://schemas.microsoft.com/office/powerpoint/2010/main" val="1340506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1F2E38D7-27DE-4CA4-AD76-15E6ADFD0657}"/>
              </a:ext>
            </a:extLst>
          </p:cNvPr>
          <p:cNvSpPr>
            <a:spLocks noGrp="1" noChangeArrowheads="1"/>
          </p:cNvSpPr>
          <p:nvPr>
            <p:ph type="title" idx="4294967295"/>
          </p:nvPr>
        </p:nvSpPr>
        <p:spPr>
          <a:xfrm>
            <a:off x="1066800" y="304800"/>
            <a:ext cx="6705600" cy="715962"/>
          </a:xfrm>
        </p:spPr>
        <p:txBody>
          <a:bodyPr/>
          <a:lstStyle/>
          <a:p>
            <a:pPr eaLnBrk="1" hangingPunct="1"/>
            <a:r>
              <a:rPr lang="en-US" altLang="en-US" dirty="0"/>
              <a:t>Constructors</a:t>
            </a:r>
          </a:p>
        </p:txBody>
      </p:sp>
      <p:sp>
        <p:nvSpPr>
          <p:cNvPr id="40963" name="Rectangle 3">
            <a:extLst>
              <a:ext uri="{FF2B5EF4-FFF2-40B4-BE49-F238E27FC236}">
                <a16:creationId xmlns:a16="http://schemas.microsoft.com/office/drawing/2014/main" id="{38A534CB-F82C-4625-B674-D63974FE6F8A}"/>
              </a:ext>
            </a:extLst>
          </p:cNvPr>
          <p:cNvSpPr>
            <a:spLocks noGrp="1" noChangeArrowheads="1"/>
          </p:cNvSpPr>
          <p:nvPr>
            <p:ph type="body" idx="4294967295"/>
          </p:nvPr>
        </p:nvSpPr>
        <p:spPr/>
        <p:txBody>
          <a:bodyPr/>
          <a:lstStyle/>
          <a:p>
            <a:pPr eaLnBrk="1" hangingPunct="1"/>
            <a:r>
              <a:rPr lang="en-US" altLang="en-US"/>
              <a:t>Classes can have special methods called </a:t>
            </a:r>
            <a:r>
              <a:rPr lang="en-US" altLang="en-US" i="1"/>
              <a:t>constructors</a:t>
            </a:r>
            <a:r>
              <a:rPr lang="en-US" altLang="en-US"/>
              <a:t>.</a:t>
            </a:r>
          </a:p>
          <a:p>
            <a:pPr eaLnBrk="1" hangingPunct="1"/>
            <a:r>
              <a:rPr lang="en-US" altLang="en-US"/>
              <a:t>Constructors are used to perform operations at the time an object is created.</a:t>
            </a:r>
          </a:p>
          <a:p>
            <a:pPr eaLnBrk="1" hangingPunct="1"/>
            <a:r>
              <a:rPr lang="en-US" altLang="en-US"/>
              <a:t>Constructors typically initialize instance fields and perform other object initialization tasks.</a:t>
            </a:r>
          </a:p>
        </p:txBody>
      </p:sp>
    </p:spTree>
    <p:extLst>
      <p:ext uri="{BB962C8B-B14F-4D97-AF65-F5344CB8AC3E}">
        <p14:creationId xmlns:p14="http://schemas.microsoft.com/office/powerpoint/2010/main" val="709500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5A28D55-94F0-4649-A21E-AA89F8EC9DAA}"/>
              </a:ext>
            </a:extLst>
          </p:cNvPr>
          <p:cNvSpPr>
            <a:spLocks noGrp="1" noChangeArrowheads="1"/>
          </p:cNvSpPr>
          <p:nvPr>
            <p:ph type="title" idx="4294967295"/>
          </p:nvPr>
        </p:nvSpPr>
        <p:spPr>
          <a:xfrm>
            <a:off x="1257300" y="305594"/>
            <a:ext cx="6705600" cy="715962"/>
          </a:xfrm>
        </p:spPr>
        <p:txBody>
          <a:bodyPr/>
          <a:lstStyle/>
          <a:p>
            <a:pPr eaLnBrk="1" hangingPunct="1"/>
            <a:r>
              <a:rPr lang="en-US" altLang="en-US" dirty="0"/>
              <a:t>Constructors in UML</a:t>
            </a:r>
          </a:p>
        </p:txBody>
      </p:sp>
      <p:sp>
        <p:nvSpPr>
          <p:cNvPr id="44035" name="Rectangle 3">
            <a:extLst>
              <a:ext uri="{FF2B5EF4-FFF2-40B4-BE49-F238E27FC236}">
                <a16:creationId xmlns:a16="http://schemas.microsoft.com/office/drawing/2014/main" id="{6A1033B8-6FD1-40C8-9509-AAAFC13F69AE}"/>
              </a:ext>
            </a:extLst>
          </p:cNvPr>
          <p:cNvSpPr>
            <a:spLocks noGrp="1" noChangeArrowheads="1"/>
          </p:cNvSpPr>
          <p:nvPr>
            <p:ph type="body" idx="4294967295"/>
          </p:nvPr>
        </p:nvSpPr>
        <p:spPr/>
        <p:txBody>
          <a:bodyPr/>
          <a:lstStyle/>
          <a:p>
            <a:pPr eaLnBrk="1" hangingPunct="1"/>
            <a:r>
              <a:rPr lang="en-US" altLang="en-US" sz="2800"/>
              <a:t>In UML, the most common way constructors are defined is:</a:t>
            </a:r>
            <a:endParaRPr lang="en-US" altLang="en-US" sz="2800">
              <a:latin typeface="Courier New" panose="02070309020205020404" pitchFamily="49" charset="0"/>
            </a:endParaRPr>
          </a:p>
        </p:txBody>
      </p:sp>
      <p:grpSp>
        <p:nvGrpSpPr>
          <p:cNvPr id="44036" name="Group 5">
            <a:extLst>
              <a:ext uri="{FF2B5EF4-FFF2-40B4-BE49-F238E27FC236}">
                <a16:creationId xmlns:a16="http://schemas.microsoft.com/office/drawing/2014/main" id="{C255950D-7DE8-4444-9D50-33A1F5C8D5B4}"/>
              </a:ext>
            </a:extLst>
          </p:cNvPr>
          <p:cNvGrpSpPr>
            <a:grpSpLocks/>
          </p:cNvGrpSpPr>
          <p:nvPr/>
        </p:nvGrpSpPr>
        <p:grpSpPr bwMode="auto">
          <a:xfrm>
            <a:off x="1143000" y="2590800"/>
            <a:ext cx="3962400" cy="3276600"/>
            <a:chOff x="96" y="864"/>
            <a:chExt cx="2112" cy="2064"/>
          </a:xfrm>
        </p:grpSpPr>
        <p:sp>
          <p:nvSpPr>
            <p:cNvPr id="43018" name="Rectangle 6">
              <a:extLst>
                <a:ext uri="{FF2B5EF4-FFF2-40B4-BE49-F238E27FC236}">
                  <a16:creationId xmlns:a16="http://schemas.microsoft.com/office/drawing/2014/main" id="{1F0A0A99-E900-48B9-9616-2DED02DB9CA3}"/>
                </a:ext>
              </a:extLst>
            </p:cNvPr>
            <p:cNvSpPr>
              <a:spLocks noChangeArrowheads="1"/>
            </p:cNvSpPr>
            <p:nvPr/>
          </p:nvSpPr>
          <p:spPr bwMode="auto">
            <a:xfrm>
              <a:off x="96" y="864"/>
              <a:ext cx="2112" cy="384"/>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har char="•"/>
                <a:defRPr sz="3200" b="1">
                  <a:solidFill>
                    <a:schemeClr val="tx1"/>
                  </a:solidFill>
                  <a:latin typeface="Arial" charset="0"/>
                  <a:cs typeface="Arial" charset="0"/>
                </a:defRPr>
              </a:lvl1pPr>
              <a:lvl2pPr marL="742950" indent="-285750" eaLnBrk="0" hangingPunct="0">
                <a:spcBef>
                  <a:spcPct val="20000"/>
                </a:spcBef>
                <a:buFont typeface="Arial" charset="0"/>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Font typeface="Arial" charset="0"/>
                <a:buChar char="–"/>
                <a:defRPr sz="2000">
                  <a:solidFill>
                    <a:schemeClr val="tx1"/>
                  </a:solidFill>
                  <a:latin typeface="Arial" charset="0"/>
                  <a:cs typeface="Arial" charset="0"/>
                </a:defRPr>
              </a:lvl4pPr>
              <a:lvl5pPr marL="2057400" indent="-228600" eaLnBrk="0" hangingPunct="0">
                <a:spcBef>
                  <a:spcPct val="20000"/>
                </a:spcBef>
                <a:buFont typeface="Arial" charset="0"/>
                <a:buChar char="»"/>
                <a:defRPr sz="20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9pPr>
            </a:lstStyle>
            <a:p>
              <a:pPr eaLnBrk="1" hangingPunct="1">
                <a:spcBef>
                  <a:spcPct val="0"/>
                </a:spcBef>
                <a:buFontTx/>
                <a:buNone/>
                <a:defRPr/>
              </a:pPr>
              <a:r>
                <a:rPr lang="en-US" altLang="en-US" sz="2000" b="0">
                  <a:latin typeface="Times New Roman" pitchFamily="18" charset="0"/>
                </a:rPr>
                <a:t>Rectangle</a:t>
              </a:r>
            </a:p>
          </p:txBody>
        </p:sp>
        <p:sp>
          <p:nvSpPr>
            <p:cNvPr id="43019" name="Rectangle 7">
              <a:extLst>
                <a:ext uri="{FF2B5EF4-FFF2-40B4-BE49-F238E27FC236}">
                  <a16:creationId xmlns:a16="http://schemas.microsoft.com/office/drawing/2014/main" id="{0D724AEB-8E95-4DA5-AA8B-D16532B78070}"/>
                </a:ext>
              </a:extLst>
            </p:cNvPr>
            <p:cNvSpPr>
              <a:spLocks noChangeArrowheads="1"/>
            </p:cNvSpPr>
            <p:nvPr/>
          </p:nvSpPr>
          <p:spPr bwMode="auto">
            <a:xfrm>
              <a:off x="96" y="1248"/>
              <a:ext cx="2112" cy="496"/>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har char="•"/>
                <a:defRPr sz="3200" b="1">
                  <a:solidFill>
                    <a:schemeClr val="tx1"/>
                  </a:solidFill>
                  <a:latin typeface="Arial" charset="0"/>
                  <a:cs typeface="Arial" charset="0"/>
                </a:defRPr>
              </a:lvl1pPr>
              <a:lvl2pPr marL="742950" indent="-285750" eaLnBrk="0" hangingPunct="0">
                <a:spcBef>
                  <a:spcPct val="20000"/>
                </a:spcBef>
                <a:buFont typeface="Arial" charset="0"/>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Font typeface="Arial" charset="0"/>
                <a:buChar char="–"/>
                <a:defRPr sz="2000">
                  <a:solidFill>
                    <a:schemeClr val="tx1"/>
                  </a:solidFill>
                  <a:latin typeface="Arial" charset="0"/>
                  <a:cs typeface="Arial" charset="0"/>
                </a:defRPr>
              </a:lvl4pPr>
              <a:lvl5pPr marL="2057400" indent="-228600" eaLnBrk="0" hangingPunct="0">
                <a:spcBef>
                  <a:spcPct val="20000"/>
                </a:spcBef>
                <a:buFont typeface="Arial" charset="0"/>
                <a:buChar char="»"/>
                <a:defRPr sz="20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9pPr>
            </a:lstStyle>
            <a:p>
              <a:pPr eaLnBrk="1" hangingPunct="1">
                <a:spcBef>
                  <a:spcPct val="0"/>
                </a:spcBef>
                <a:buFontTx/>
                <a:buChar char="-"/>
                <a:defRPr/>
              </a:pPr>
              <a:r>
                <a:rPr lang="en-US" altLang="en-US" sz="2000" b="0">
                  <a:latin typeface="Times New Roman" pitchFamily="18" charset="0"/>
                </a:rPr>
                <a:t> width : double</a:t>
              </a:r>
            </a:p>
            <a:p>
              <a:pPr eaLnBrk="1" hangingPunct="1">
                <a:spcBef>
                  <a:spcPct val="0"/>
                </a:spcBef>
                <a:buFontTx/>
                <a:buChar char="-"/>
                <a:defRPr/>
              </a:pPr>
              <a:r>
                <a:rPr lang="en-US" altLang="en-US" sz="2000" b="0">
                  <a:latin typeface="Times New Roman" pitchFamily="18" charset="0"/>
                </a:rPr>
                <a:t> length : double</a:t>
              </a:r>
            </a:p>
          </p:txBody>
        </p:sp>
        <p:sp>
          <p:nvSpPr>
            <p:cNvPr id="43020" name="Rectangle 8">
              <a:extLst>
                <a:ext uri="{FF2B5EF4-FFF2-40B4-BE49-F238E27FC236}">
                  <a16:creationId xmlns:a16="http://schemas.microsoft.com/office/drawing/2014/main" id="{81A62536-AE66-41AD-97E3-C45F41245811}"/>
                </a:ext>
              </a:extLst>
            </p:cNvPr>
            <p:cNvSpPr>
              <a:spLocks noChangeArrowheads="1"/>
            </p:cNvSpPr>
            <p:nvPr/>
          </p:nvSpPr>
          <p:spPr bwMode="auto">
            <a:xfrm>
              <a:off x="96" y="1728"/>
              <a:ext cx="2112" cy="1200"/>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har char="•"/>
                <a:defRPr sz="3200" b="1">
                  <a:solidFill>
                    <a:schemeClr val="tx1"/>
                  </a:solidFill>
                  <a:latin typeface="Arial" charset="0"/>
                  <a:cs typeface="Arial" charset="0"/>
                </a:defRPr>
              </a:lvl1pPr>
              <a:lvl2pPr marL="742950" indent="-285750" eaLnBrk="0" hangingPunct="0">
                <a:spcBef>
                  <a:spcPct val="20000"/>
                </a:spcBef>
                <a:buFont typeface="Arial" charset="0"/>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Font typeface="Arial" charset="0"/>
                <a:buChar char="–"/>
                <a:defRPr sz="2000">
                  <a:solidFill>
                    <a:schemeClr val="tx1"/>
                  </a:solidFill>
                  <a:latin typeface="Arial" charset="0"/>
                  <a:cs typeface="Arial" charset="0"/>
                </a:defRPr>
              </a:lvl4pPr>
              <a:lvl5pPr marL="2057400" indent="-228600" eaLnBrk="0" hangingPunct="0">
                <a:spcBef>
                  <a:spcPct val="20000"/>
                </a:spcBef>
                <a:buFont typeface="Arial" charset="0"/>
                <a:buChar char="»"/>
                <a:defRPr sz="20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2000">
                  <a:solidFill>
                    <a:schemeClr val="tx1"/>
                  </a:solidFill>
                  <a:latin typeface="Arial" charset="0"/>
                  <a:cs typeface="Arial" charset="0"/>
                </a:defRPr>
              </a:lvl9pPr>
            </a:lstStyle>
            <a:p>
              <a:pPr eaLnBrk="1" hangingPunct="1">
                <a:spcBef>
                  <a:spcPct val="0"/>
                </a:spcBef>
                <a:buFontTx/>
                <a:buNone/>
                <a:defRPr/>
              </a:pPr>
              <a:r>
                <a:rPr lang="en-US" altLang="en-US" sz="2000" dirty="0">
                  <a:solidFill>
                    <a:srgbClr val="CA0C48"/>
                  </a:solidFill>
                  <a:latin typeface="Times New Roman" pitchFamily="18" charset="0"/>
                </a:rPr>
                <a:t>+Rectangle(</a:t>
              </a:r>
              <a:r>
                <a:rPr lang="en-US" altLang="en-US" sz="2000" dirty="0" err="1">
                  <a:solidFill>
                    <a:srgbClr val="CA0C48"/>
                  </a:solidFill>
                  <a:latin typeface="Times New Roman" pitchFamily="18" charset="0"/>
                </a:rPr>
                <a:t>len:double</a:t>
              </a:r>
              <a:r>
                <a:rPr lang="en-US" altLang="en-US" sz="2000" dirty="0">
                  <a:solidFill>
                    <a:srgbClr val="CA0C48"/>
                  </a:solidFill>
                  <a:latin typeface="Times New Roman" pitchFamily="18" charset="0"/>
                </a:rPr>
                <a:t>, w:double)</a:t>
              </a:r>
            </a:p>
            <a:p>
              <a:pPr eaLnBrk="1" hangingPunct="1">
                <a:spcBef>
                  <a:spcPct val="0"/>
                </a:spcBef>
                <a:buFontTx/>
                <a:buNone/>
                <a:defRPr/>
              </a:pPr>
              <a:r>
                <a:rPr lang="en-US" altLang="en-US" sz="2000" b="0" dirty="0">
                  <a:latin typeface="Times New Roman" pitchFamily="18" charset="0"/>
                </a:rPr>
                <a:t>+ </a:t>
              </a:r>
              <a:r>
                <a:rPr lang="en-US" altLang="en-US" sz="2000" b="0" dirty="0" err="1">
                  <a:latin typeface="Times New Roman" pitchFamily="18" charset="0"/>
                </a:rPr>
                <a:t>setWidth</a:t>
              </a:r>
              <a:r>
                <a:rPr lang="en-US" altLang="en-US" sz="2000" b="0" dirty="0">
                  <a:latin typeface="Times New Roman" pitchFamily="18" charset="0"/>
                </a:rPr>
                <a:t>(w : double) : void</a:t>
              </a:r>
            </a:p>
            <a:p>
              <a:pPr eaLnBrk="1" hangingPunct="1">
                <a:spcBef>
                  <a:spcPct val="0"/>
                </a:spcBef>
                <a:buFontTx/>
                <a:buNone/>
                <a:defRPr/>
              </a:pPr>
              <a:r>
                <a:rPr lang="en-US" altLang="en-US" sz="2000" b="0" dirty="0">
                  <a:latin typeface="Times New Roman" pitchFamily="18" charset="0"/>
                </a:rPr>
                <a:t>+ </a:t>
              </a:r>
              <a:r>
                <a:rPr lang="en-US" altLang="en-US" sz="2000" b="0" dirty="0" err="1">
                  <a:latin typeface="Times New Roman" pitchFamily="18" charset="0"/>
                </a:rPr>
                <a:t>setLength</a:t>
              </a:r>
              <a:r>
                <a:rPr lang="en-US" altLang="en-US" sz="2000" b="0" dirty="0">
                  <a:latin typeface="Times New Roman" pitchFamily="18" charset="0"/>
                </a:rPr>
                <a:t>(</a:t>
              </a:r>
              <a:r>
                <a:rPr lang="en-US" altLang="en-US" sz="2000" b="0" dirty="0" err="1">
                  <a:latin typeface="Times New Roman" pitchFamily="18" charset="0"/>
                </a:rPr>
                <a:t>len</a:t>
              </a:r>
              <a:r>
                <a:rPr lang="en-US" altLang="en-US" sz="2000" b="0" dirty="0">
                  <a:latin typeface="Times New Roman" pitchFamily="18" charset="0"/>
                </a:rPr>
                <a:t> : double): void</a:t>
              </a:r>
            </a:p>
            <a:p>
              <a:pPr eaLnBrk="1" hangingPunct="1">
                <a:spcBef>
                  <a:spcPct val="0"/>
                </a:spcBef>
                <a:buFontTx/>
                <a:buNone/>
                <a:defRPr/>
              </a:pPr>
              <a:r>
                <a:rPr lang="en-US" altLang="en-US" sz="2000" b="0" dirty="0">
                  <a:latin typeface="Times New Roman" pitchFamily="18" charset="0"/>
                </a:rPr>
                <a:t>+ </a:t>
              </a:r>
              <a:r>
                <a:rPr lang="en-US" altLang="en-US" sz="2000" b="0" dirty="0" err="1">
                  <a:latin typeface="Times New Roman" pitchFamily="18" charset="0"/>
                </a:rPr>
                <a:t>getWidth</a:t>
              </a:r>
              <a:r>
                <a:rPr lang="en-US" altLang="en-US" sz="2000" b="0" dirty="0">
                  <a:latin typeface="Times New Roman" pitchFamily="18" charset="0"/>
                </a:rPr>
                <a:t>() : double</a:t>
              </a:r>
            </a:p>
            <a:p>
              <a:pPr eaLnBrk="1" hangingPunct="1">
                <a:spcBef>
                  <a:spcPct val="0"/>
                </a:spcBef>
                <a:buFontTx/>
                <a:buNone/>
                <a:defRPr/>
              </a:pPr>
              <a:r>
                <a:rPr lang="en-US" altLang="en-US" sz="2000" b="0" dirty="0">
                  <a:latin typeface="Times New Roman" pitchFamily="18" charset="0"/>
                </a:rPr>
                <a:t>+ </a:t>
              </a:r>
              <a:r>
                <a:rPr lang="en-US" altLang="en-US" sz="2000" b="0" dirty="0" err="1">
                  <a:latin typeface="Times New Roman" pitchFamily="18" charset="0"/>
                </a:rPr>
                <a:t>getLength</a:t>
              </a:r>
              <a:r>
                <a:rPr lang="en-US" altLang="en-US" sz="2000" b="0" dirty="0">
                  <a:latin typeface="Times New Roman" pitchFamily="18" charset="0"/>
                </a:rPr>
                <a:t>() : double</a:t>
              </a:r>
            </a:p>
            <a:p>
              <a:pPr eaLnBrk="1" hangingPunct="1">
                <a:spcBef>
                  <a:spcPct val="0"/>
                </a:spcBef>
                <a:buFontTx/>
                <a:buNone/>
                <a:defRPr/>
              </a:pPr>
              <a:r>
                <a:rPr lang="en-US" altLang="en-US" sz="2000" b="0" dirty="0">
                  <a:latin typeface="Times New Roman" pitchFamily="18" charset="0"/>
                </a:rPr>
                <a:t>+ </a:t>
              </a:r>
              <a:r>
                <a:rPr lang="en-US" altLang="en-US" sz="2000" b="0" dirty="0" err="1">
                  <a:latin typeface="Times New Roman" pitchFamily="18" charset="0"/>
                </a:rPr>
                <a:t>getArea</a:t>
              </a:r>
              <a:r>
                <a:rPr lang="en-US" altLang="en-US" sz="2000" b="0" dirty="0">
                  <a:latin typeface="Times New Roman" pitchFamily="18" charset="0"/>
                </a:rPr>
                <a:t>() : double</a:t>
              </a:r>
            </a:p>
          </p:txBody>
        </p:sp>
      </p:grpSp>
    </p:spTree>
    <p:extLst>
      <p:ext uri="{BB962C8B-B14F-4D97-AF65-F5344CB8AC3E}">
        <p14:creationId xmlns:p14="http://schemas.microsoft.com/office/powerpoint/2010/main" val="374503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fld id="{CDE4C131-421A-4F1E-BA53-D7BFFC7559A5}" type="slidenum">
              <a:rPr lang="en-US" altLang="en-US" sz="1400" smtClean="0"/>
              <a:pPr>
                <a:spcBef>
                  <a:spcPct val="0"/>
                </a:spcBef>
                <a:buClrTx/>
                <a:buSzTx/>
                <a:buFontTx/>
                <a:buNone/>
              </a:pPr>
              <a:t>24</a:t>
            </a:fld>
            <a:endParaRPr lang="en-US" altLang="en-US" sz="1400"/>
          </a:p>
        </p:txBody>
      </p:sp>
      <p:sp>
        <p:nvSpPr>
          <p:cNvPr id="32771" name="Rectangle 2"/>
          <p:cNvSpPr>
            <a:spLocks noGrp="1" noChangeArrowheads="1"/>
          </p:cNvSpPr>
          <p:nvPr>
            <p:ph type="title"/>
          </p:nvPr>
        </p:nvSpPr>
        <p:spPr>
          <a:xfrm>
            <a:off x="1600200" y="304800"/>
            <a:ext cx="7543800" cy="533400"/>
          </a:xfrm>
        </p:spPr>
        <p:txBody>
          <a:bodyPr/>
          <a:lstStyle/>
          <a:p>
            <a:r>
              <a:rPr lang="en-US" altLang="en-US" dirty="0"/>
              <a:t>The Random Class</a:t>
            </a:r>
            <a:endParaRPr lang="en-US" altLang="en-US" dirty="0">
              <a:solidFill>
                <a:schemeClr val="tx1"/>
              </a:solidFill>
              <a:latin typeface="Book Antiqua" panose="02040602050305030304" pitchFamily="18" charset="0"/>
              <a:hlinkClick r:id="rId3" action="ppaction://program"/>
            </a:endParaRPr>
          </a:p>
        </p:txBody>
      </p:sp>
      <p:sp>
        <p:nvSpPr>
          <p:cNvPr id="32772" name="Rectangle 3"/>
          <p:cNvSpPr>
            <a:spLocks noGrp="1" noChangeArrowheads="1"/>
          </p:cNvSpPr>
          <p:nvPr>
            <p:ph type="body" idx="1"/>
          </p:nvPr>
        </p:nvSpPr>
        <p:spPr>
          <a:xfrm>
            <a:off x="152400" y="1066800"/>
            <a:ext cx="8991600" cy="1747838"/>
          </a:xfrm>
        </p:spPr>
        <p:txBody>
          <a:bodyPr/>
          <a:lstStyle/>
          <a:p>
            <a:pPr marL="0" indent="0">
              <a:lnSpc>
                <a:spcPct val="90000"/>
              </a:lnSpc>
              <a:buFont typeface="Monotype Sorts" charset="2"/>
              <a:buNone/>
              <a:tabLst>
                <a:tab pos="0" algn="l"/>
              </a:tabLst>
            </a:pPr>
            <a:r>
              <a:rPr lang="en-US" altLang="en-US" sz="2800"/>
              <a:t>You have used </a:t>
            </a:r>
            <a:r>
              <a:rPr lang="en-US" altLang="en-US" sz="2800" u="sng"/>
              <a:t>Math.random()</a:t>
            </a:r>
            <a:r>
              <a:rPr lang="en-US" altLang="en-US" sz="2800"/>
              <a:t> to obtain a random double value between 0.0 and 1.0 (excluding 1.0). A more useful random number generator is provided in the </a:t>
            </a:r>
            <a:r>
              <a:rPr lang="en-US" altLang="en-US" sz="2800" u="sng"/>
              <a:t>java.util.Random</a:t>
            </a:r>
            <a:r>
              <a:rPr lang="en-US" altLang="en-US" sz="2800"/>
              <a:t> class. </a:t>
            </a:r>
          </a:p>
        </p:txBody>
      </p:sp>
      <p:sp>
        <p:nvSpPr>
          <p:cNvPr id="32773" name="Rectangle 4"/>
          <p:cNvSpPr>
            <a:spLocks noChangeArrowheads="1"/>
          </p:cNvSpPr>
          <p:nvPr/>
        </p:nvSpPr>
        <p:spPr bwMode="auto">
          <a:xfrm>
            <a:off x="0" y="2754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sp>
        <p:nvSpPr>
          <p:cNvPr id="32774" name="Rectangle 7"/>
          <p:cNvSpPr>
            <a:spLocks noChangeArrowheads="1"/>
          </p:cNvSpPr>
          <p:nvPr/>
        </p:nvSpPr>
        <p:spPr bwMode="auto">
          <a:xfrm>
            <a:off x="0" y="26447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graphicFrame>
        <p:nvGraphicFramePr>
          <p:cNvPr id="32775" name="Object 6"/>
          <p:cNvGraphicFramePr>
            <a:graphicFrameLocks noChangeAspect="1"/>
          </p:cNvGraphicFramePr>
          <p:nvPr/>
        </p:nvGraphicFramePr>
        <p:xfrm>
          <a:off x="309563" y="2814638"/>
          <a:ext cx="8564562" cy="3360737"/>
        </p:xfrm>
        <a:graphic>
          <a:graphicData uri="http://schemas.openxmlformats.org/presentationml/2006/ole">
            <mc:AlternateContent xmlns:mc="http://schemas.openxmlformats.org/markup-compatibility/2006">
              <mc:Choice xmlns:v="urn:schemas-microsoft-com:vml" Requires="v">
                <p:oleObj spid="_x0000_s1039" name="Picture" r:id="rId4" imgW="4006596" imgH="1571244" progId="Word.Picture.8">
                  <p:embed/>
                </p:oleObj>
              </mc:Choice>
              <mc:Fallback>
                <p:oleObj name="Picture" r:id="rId4" imgW="4006596" imgH="1571244"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563" y="2814638"/>
                        <a:ext cx="8564562"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46248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fld id="{E6DCB726-4D11-483F-B335-71285667B322}" type="slidenum">
              <a:rPr lang="en-US" altLang="en-US" sz="1400" smtClean="0"/>
              <a:pPr>
                <a:spcBef>
                  <a:spcPct val="0"/>
                </a:spcBef>
                <a:buClrTx/>
                <a:buSzTx/>
                <a:buFontTx/>
                <a:buNone/>
              </a:pPr>
              <a:t>25</a:t>
            </a:fld>
            <a:endParaRPr lang="en-US" altLang="en-US" sz="1400"/>
          </a:p>
        </p:txBody>
      </p:sp>
      <p:sp>
        <p:nvSpPr>
          <p:cNvPr id="33795" name="Rectangle 2"/>
          <p:cNvSpPr>
            <a:spLocks noGrp="1" noChangeArrowheads="1"/>
          </p:cNvSpPr>
          <p:nvPr>
            <p:ph type="title"/>
          </p:nvPr>
        </p:nvSpPr>
        <p:spPr>
          <a:xfrm>
            <a:off x="1219200" y="223731"/>
            <a:ext cx="6934200" cy="1066800"/>
          </a:xfrm>
        </p:spPr>
        <p:txBody>
          <a:bodyPr/>
          <a:lstStyle/>
          <a:p>
            <a:pPr algn="ctr"/>
            <a:r>
              <a:rPr lang="en-US" altLang="en-US" sz="2400" dirty="0"/>
              <a:t>Static Variables, Constants, and Methods</a:t>
            </a:r>
            <a:endParaRPr lang="en-US" altLang="en-US" sz="2400" b="1" dirty="0">
              <a:latin typeface="Courier" charset="0"/>
            </a:endParaRPr>
          </a:p>
        </p:txBody>
      </p:sp>
      <p:sp>
        <p:nvSpPr>
          <p:cNvPr id="33796" name="Rectangle 5"/>
          <p:cNvSpPr>
            <a:spLocks noChangeArrowheads="1"/>
          </p:cNvSpPr>
          <p:nvPr/>
        </p:nvSpPr>
        <p:spPr bwMode="auto">
          <a:xfrm>
            <a:off x="2000250" y="22288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sp>
        <p:nvSpPr>
          <p:cNvPr id="33797" name="Rectangle 7"/>
          <p:cNvSpPr>
            <a:spLocks noChangeArrowheads="1"/>
          </p:cNvSpPr>
          <p:nvPr/>
        </p:nvSpPr>
        <p:spPr bwMode="auto">
          <a:xfrm>
            <a:off x="2000250" y="2286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sp>
        <p:nvSpPr>
          <p:cNvPr id="33798" name="Rectangle 9"/>
          <p:cNvSpPr>
            <a:spLocks noChangeArrowheads="1"/>
          </p:cNvSpPr>
          <p:nvPr/>
        </p:nvSpPr>
        <p:spPr bwMode="auto">
          <a:xfrm>
            <a:off x="0" y="2400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sp>
        <p:nvSpPr>
          <p:cNvPr id="33799" name="Rectangle 11"/>
          <p:cNvSpPr>
            <a:spLocks noChangeArrowheads="1"/>
          </p:cNvSpPr>
          <p:nvPr/>
        </p:nvSpPr>
        <p:spPr bwMode="auto">
          <a:xfrm>
            <a:off x="0" y="2400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sp>
        <p:nvSpPr>
          <p:cNvPr id="33800" name="Rectangle 13"/>
          <p:cNvSpPr>
            <a:spLocks noChangeArrowheads="1"/>
          </p:cNvSpPr>
          <p:nvPr/>
        </p:nvSpPr>
        <p:spPr bwMode="auto">
          <a:xfrm>
            <a:off x="0" y="2476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pic>
        <p:nvPicPr>
          <p:cNvPr id="33801"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8175"/>
            <a:ext cx="9144000" cy="2662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20320673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fld id="{D2BB9C58-11AC-44A7-BD12-38ECA71B67DD}" type="slidenum">
              <a:rPr lang="en-US" altLang="en-US" sz="1400" smtClean="0"/>
              <a:pPr>
                <a:spcBef>
                  <a:spcPct val="0"/>
                </a:spcBef>
                <a:buClrTx/>
                <a:buSzTx/>
                <a:buFontTx/>
                <a:buNone/>
              </a:pPr>
              <a:t>26</a:t>
            </a:fld>
            <a:endParaRPr lang="en-US" altLang="en-US" sz="1400"/>
          </a:p>
        </p:txBody>
      </p:sp>
      <p:sp>
        <p:nvSpPr>
          <p:cNvPr id="36867" name="Rectangle 2"/>
          <p:cNvSpPr>
            <a:spLocks noGrp="1" noChangeArrowheads="1"/>
          </p:cNvSpPr>
          <p:nvPr>
            <p:ph type="title"/>
          </p:nvPr>
        </p:nvSpPr>
        <p:spPr>
          <a:xfrm>
            <a:off x="996950" y="304800"/>
            <a:ext cx="7042150" cy="749300"/>
          </a:xfrm>
        </p:spPr>
        <p:txBody>
          <a:bodyPr/>
          <a:lstStyle/>
          <a:p>
            <a:pPr algn="ctr"/>
            <a:r>
              <a:rPr lang="en-US" altLang="en-US" sz="2800" dirty="0"/>
              <a:t>Example of Data Field Encapsulation</a:t>
            </a:r>
            <a:endParaRPr lang="en-US" altLang="en-US" sz="2800" b="1" dirty="0">
              <a:latin typeface="Book Antiqua" panose="02040602050305030304" pitchFamily="18" charset="0"/>
            </a:endParaRPr>
          </a:p>
        </p:txBody>
      </p:sp>
      <p:sp>
        <p:nvSpPr>
          <p:cNvPr id="36868" name="Rectangle 11"/>
          <p:cNvSpPr>
            <a:spLocks noChangeArrowheads="1"/>
          </p:cNvSpPr>
          <p:nvPr/>
        </p:nvSpPr>
        <p:spPr bwMode="auto">
          <a:xfrm>
            <a:off x="0" y="2563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graphicFrame>
        <p:nvGraphicFramePr>
          <p:cNvPr id="36869" name="Object 10"/>
          <p:cNvGraphicFramePr>
            <a:graphicFrameLocks noChangeAspect="1"/>
          </p:cNvGraphicFramePr>
          <p:nvPr/>
        </p:nvGraphicFramePr>
        <p:xfrm>
          <a:off x="11113" y="1892300"/>
          <a:ext cx="8924925" cy="3175000"/>
        </p:xfrm>
        <a:graphic>
          <a:graphicData uri="http://schemas.openxmlformats.org/presentationml/2006/ole">
            <mc:AlternateContent xmlns:mc="http://schemas.openxmlformats.org/markup-compatibility/2006">
              <mc:Choice xmlns:v="urn:schemas-microsoft-com:vml" Requires="v">
                <p:oleObj spid="_x0000_s2063" name="Picture" r:id="rId3" imgW="4877309" imgH="1734154" progId="Word.Picture.8">
                  <p:embed/>
                </p:oleObj>
              </mc:Choice>
              <mc:Fallback>
                <p:oleObj name="Picture" r:id="rId3" imgW="4877309" imgH="1734154"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3" y="1892300"/>
                        <a:ext cx="8924925" cy="317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33078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4">
            <a:extLst>
              <a:ext uri="{FF2B5EF4-FFF2-40B4-BE49-F238E27FC236}">
                <a16:creationId xmlns:a16="http://schemas.microsoft.com/office/drawing/2014/main" id="{E724136C-2666-4A0E-8E83-136340DA4C5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3C74D03-4D11-449D-B875-9121090680E3}" type="slidenum">
              <a:rPr lang="en-US" altLang="en-US" sz="1400"/>
              <a:pPr>
                <a:spcBef>
                  <a:spcPct val="0"/>
                </a:spcBef>
                <a:buClrTx/>
                <a:buSzTx/>
                <a:buFontTx/>
                <a:buNone/>
              </a:pPr>
              <a:t>27</a:t>
            </a:fld>
            <a:endParaRPr lang="en-US" altLang="en-US" sz="1400"/>
          </a:p>
        </p:txBody>
      </p:sp>
      <p:sp>
        <p:nvSpPr>
          <p:cNvPr id="54275" name="Rectangle 2">
            <a:extLst>
              <a:ext uri="{FF2B5EF4-FFF2-40B4-BE49-F238E27FC236}">
                <a16:creationId xmlns:a16="http://schemas.microsoft.com/office/drawing/2014/main" id="{50B53AEF-2E4A-4E92-8BDA-3F03C1E5DD3D}"/>
              </a:ext>
            </a:extLst>
          </p:cNvPr>
          <p:cNvSpPr>
            <a:spLocks noGrp="1" noChangeArrowheads="1"/>
          </p:cNvSpPr>
          <p:nvPr>
            <p:ph type="title"/>
          </p:nvPr>
        </p:nvSpPr>
        <p:spPr>
          <a:xfrm>
            <a:off x="615950" y="165100"/>
            <a:ext cx="7950200" cy="1190625"/>
          </a:xfrm>
        </p:spPr>
        <p:txBody>
          <a:bodyPr/>
          <a:lstStyle/>
          <a:p>
            <a:r>
              <a:rPr lang="en-US" altLang="en-US"/>
              <a:t>Example of</a:t>
            </a:r>
            <a:br>
              <a:rPr lang="en-US" altLang="en-US"/>
            </a:br>
            <a:r>
              <a:rPr lang="en-US" altLang="en-US"/>
              <a:t>Data Field Encapsulation</a:t>
            </a:r>
            <a:endParaRPr lang="en-US" altLang="en-US" b="1">
              <a:latin typeface="Book Antiqua" panose="02040602050305030304" pitchFamily="18" charset="0"/>
            </a:endParaRPr>
          </a:p>
        </p:txBody>
      </p:sp>
      <p:sp>
        <p:nvSpPr>
          <p:cNvPr id="54276" name="Rectangle 11">
            <a:extLst>
              <a:ext uri="{FF2B5EF4-FFF2-40B4-BE49-F238E27FC236}">
                <a16:creationId xmlns:a16="http://schemas.microsoft.com/office/drawing/2014/main" id="{517CFDC5-4CC4-4186-A807-F4985E88E501}"/>
              </a:ext>
            </a:extLst>
          </p:cNvPr>
          <p:cNvSpPr>
            <a:spLocks noChangeArrowheads="1"/>
          </p:cNvSpPr>
          <p:nvPr/>
        </p:nvSpPr>
        <p:spPr bwMode="auto">
          <a:xfrm>
            <a:off x="0" y="25638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54277" name="Object 10">
            <a:extLst>
              <a:ext uri="{FF2B5EF4-FFF2-40B4-BE49-F238E27FC236}">
                <a16:creationId xmlns:a16="http://schemas.microsoft.com/office/drawing/2014/main" id="{CD7ABD74-5086-4E3E-9C4F-EC8F398FA46A}"/>
              </a:ext>
            </a:extLst>
          </p:cNvPr>
          <p:cNvGraphicFramePr>
            <a:graphicFrameLocks noChangeAspect="1"/>
          </p:cNvGraphicFramePr>
          <p:nvPr/>
        </p:nvGraphicFramePr>
        <p:xfrm>
          <a:off x="11113" y="1892300"/>
          <a:ext cx="8924925" cy="3175000"/>
        </p:xfrm>
        <a:graphic>
          <a:graphicData uri="http://schemas.openxmlformats.org/presentationml/2006/ole">
            <mc:AlternateContent xmlns:mc="http://schemas.openxmlformats.org/markup-compatibility/2006">
              <mc:Choice xmlns:v="urn:schemas-microsoft-com:vml" Requires="v">
                <p:oleObj spid="_x0000_s3087" name="Picture" r:id="rId3" imgW="4877309" imgH="1734154" progId="Word.Picture.8">
                  <p:embed/>
                </p:oleObj>
              </mc:Choice>
              <mc:Fallback>
                <p:oleObj name="Picture" r:id="rId3" imgW="4877309" imgH="1734154" progId="Word.Picture.8">
                  <p:embed/>
                  <p:pic>
                    <p:nvPicPr>
                      <p:cNvPr id="54277" name="Object 10">
                        <a:extLst>
                          <a:ext uri="{FF2B5EF4-FFF2-40B4-BE49-F238E27FC236}">
                            <a16:creationId xmlns:a16="http://schemas.microsoft.com/office/drawing/2014/main" id="{CD7ABD74-5086-4E3E-9C4F-EC8F398FA4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3" y="1892300"/>
                        <a:ext cx="8924925" cy="317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279" name="Rectangle 11">
            <a:hlinkClick r:id="rId5" action="ppaction://hlinkfile"/>
            <a:extLst>
              <a:ext uri="{FF2B5EF4-FFF2-40B4-BE49-F238E27FC236}">
                <a16:creationId xmlns:a16="http://schemas.microsoft.com/office/drawing/2014/main" id="{DB054790-6352-4F0A-AE75-45E962A114B1}"/>
              </a:ext>
            </a:extLst>
          </p:cNvPr>
          <p:cNvSpPr>
            <a:spLocks noChangeArrowheads="1"/>
          </p:cNvSpPr>
          <p:nvPr/>
        </p:nvSpPr>
        <p:spPr bwMode="auto">
          <a:xfrm>
            <a:off x="4300538" y="5349875"/>
            <a:ext cx="36322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a:t>Circle</a:t>
            </a:r>
          </a:p>
        </p:txBody>
      </p:sp>
      <p:sp>
        <p:nvSpPr>
          <p:cNvPr id="54280" name="Rectangle 12">
            <a:hlinkClick r:id="rId6" action="ppaction://hlinkfile"/>
            <a:extLst>
              <a:ext uri="{FF2B5EF4-FFF2-40B4-BE49-F238E27FC236}">
                <a16:creationId xmlns:a16="http://schemas.microsoft.com/office/drawing/2014/main" id="{22E1B5D7-389D-4DF6-8837-96A650229573}"/>
              </a:ext>
            </a:extLst>
          </p:cNvPr>
          <p:cNvSpPr>
            <a:spLocks noChangeArrowheads="1"/>
          </p:cNvSpPr>
          <p:nvPr/>
        </p:nvSpPr>
        <p:spPr bwMode="auto">
          <a:xfrm>
            <a:off x="4300538" y="5889625"/>
            <a:ext cx="36322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err="1"/>
              <a:t>TestCircle</a:t>
            </a:r>
            <a:endParaRPr lang="en-US" alt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fld id="{EBB50D72-3F03-4226-B2C8-492CF81B7AB7}" type="slidenum">
              <a:rPr lang="en-US" altLang="en-US" sz="1400" smtClean="0"/>
              <a:pPr>
                <a:spcBef>
                  <a:spcPct val="0"/>
                </a:spcBef>
                <a:buClrTx/>
                <a:buSzTx/>
                <a:buFontTx/>
                <a:buNone/>
              </a:pPr>
              <a:t>28</a:t>
            </a:fld>
            <a:endParaRPr lang="en-US" altLang="en-US" sz="1400"/>
          </a:p>
        </p:txBody>
      </p:sp>
      <p:sp>
        <p:nvSpPr>
          <p:cNvPr id="45059" name="Rectangle 2"/>
          <p:cNvSpPr>
            <a:spLocks noGrp="1" noChangeArrowheads="1"/>
          </p:cNvSpPr>
          <p:nvPr>
            <p:ph type="title"/>
          </p:nvPr>
        </p:nvSpPr>
        <p:spPr>
          <a:xfrm>
            <a:off x="1143000" y="288818"/>
            <a:ext cx="7010400" cy="762000"/>
          </a:xfrm>
        </p:spPr>
        <p:txBody>
          <a:bodyPr/>
          <a:lstStyle/>
          <a:p>
            <a:pPr algn="ctr"/>
            <a:r>
              <a:rPr lang="en-US" altLang="en-US" dirty="0"/>
              <a:t>The this Keyword </a:t>
            </a:r>
            <a:endParaRPr lang="en-US" altLang="en-US" dirty="0">
              <a:hlinkClick r:id="rId3" action="ppaction://program"/>
            </a:endParaRPr>
          </a:p>
        </p:txBody>
      </p:sp>
      <p:sp>
        <p:nvSpPr>
          <p:cNvPr id="45060" name="Rectangle 3"/>
          <p:cNvSpPr>
            <a:spLocks noGrp="1" noChangeArrowheads="1"/>
          </p:cNvSpPr>
          <p:nvPr>
            <p:ph type="body" idx="1"/>
          </p:nvPr>
        </p:nvSpPr>
        <p:spPr>
          <a:xfrm>
            <a:off x="309563" y="1277938"/>
            <a:ext cx="8524875" cy="4894262"/>
          </a:xfrm>
        </p:spPr>
        <p:txBody>
          <a:bodyPr/>
          <a:lstStyle/>
          <a:p>
            <a:pPr>
              <a:lnSpc>
                <a:spcPct val="120000"/>
              </a:lnSpc>
              <a:buFont typeface="Wingdings" panose="05000000000000000000" pitchFamily="2" charset="2"/>
              <a:buChar char="q"/>
            </a:pPr>
            <a:r>
              <a:rPr lang="en-US" altLang="en-US"/>
              <a:t>The </a:t>
            </a:r>
            <a:r>
              <a:rPr lang="en-US" altLang="en-US" u="sng"/>
              <a:t>this</a:t>
            </a:r>
            <a:r>
              <a:rPr lang="en-US" altLang="en-US"/>
              <a:t> keyword is the name of a reference that refers to an object itself. One common use of the </a:t>
            </a:r>
            <a:r>
              <a:rPr lang="en-US" altLang="en-US" u="sng"/>
              <a:t>this</a:t>
            </a:r>
            <a:r>
              <a:rPr lang="en-US" altLang="en-US"/>
              <a:t> keyword is reference a class’s </a:t>
            </a:r>
            <a:r>
              <a:rPr lang="en-US" altLang="en-US" i="1"/>
              <a:t>hidden data fields</a:t>
            </a:r>
            <a:r>
              <a:rPr lang="en-US" altLang="en-US"/>
              <a:t>. </a:t>
            </a:r>
          </a:p>
          <a:p>
            <a:pPr>
              <a:lnSpc>
                <a:spcPct val="120000"/>
              </a:lnSpc>
              <a:buFont typeface="Wingdings" panose="05000000000000000000" pitchFamily="2" charset="2"/>
              <a:buChar char="q"/>
            </a:pPr>
            <a:r>
              <a:rPr lang="en-US" altLang="en-US"/>
              <a:t>Another common use of the </a:t>
            </a:r>
            <a:r>
              <a:rPr lang="en-US" altLang="en-US" u="sng"/>
              <a:t>this</a:t>
            </a:r>
            <a:r>
              <a:rPr lang="en-US" altLang="en-US"/>
              <a:t> keyword to enable a constructor to invoke another constructor of the same class. </a:t>
            </a:r>
          </a:p>
        </p:txBody>
      </p:sp>
    </p:spTree>
    <p:extLst>
      <p:ext uri="{BB962C8B-B14F-4D97-AF65-F5344CB8AC3E}">
        <p14:creationId xmlns:p14="http://schemas.microsoft.com/office/powerpoint/2010/main" val="8898870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fld id="{26A92B9B-C334-44FC-979C-2E1934AECDB6}" type="slidenum">
              <a:rPr lang="en-US" altLang="en-US" sz="1400" smtClean="0"/>
              <a:pPr>
                <a:spcBef>
                  <a:spcPct val="0"/>
                </a:spcBef>
                <a:buClrTx/>
                <a:buSzTx/>
                <a:buFontTx/>
                <a:buNone/>
              </a:pPr>
              <a:t>29</a:t>
            </a:fld>
            <a:endParaRPr lang="en-US" altLang="en-US" sz="1400"/>
          </a:p>
        </p:txBody>
      </p:sp>
      <p:sp>
        <p:nvSpPr>
          <p:cNvPr id="46083" name="Rectangle 2"/>
          <p:cNvSpPr>
            <a:spLocks noGrp="1" noChangeArrowheads="1"/>
          </p:cNvSpPr>
          <p:nvPr>
            <p:ph type="title"/>
          </p:nvPr>
        </p:nvSpPr>
        <p:spPr>
          <a:xfrm>
            <a:off x="548481" y="511176"/>
            <a:ext cx="7696200" cy="762000"/>
          </a:xfrm>
        </p:spPr>
        <p:txBody>
          <a:bodyPr/>
          <a:lstStyle/>
          <a:p>
            <a:pPr algn="ctr"/>
            <a:r>
              <a:rPr lang="en-US" altLang="en-US" sz="2400" dirty="0"/>
              <a:t>Reference the Hidden Data Fields</a:t>
            </a:r>
            <a:endParaRPr lang="en-US" altLang="en-US" sz="2400" dirty="0">
              <a:hlinkClick r:id="rId4" action="ppaction://program"/>
            </a:endParaRPr>
          </a:p>
        </p:txBody>
      </p:sp>
      <p:sp>
        <p:nvSpPr>
          <p:cNvPr id="46084" name="Rectangle 6"/>
          <p:cNvSpPr>
            <a:spLocks noChangeArrowheads="1"/>
          </p:cNvSpPr>
          <p:nvPr/>
        </p:nvSpPr>
        <p:spPr bwMode="auto">
          <a:xfrm>
            <a:off x="2047875" y="26098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sp>
        <p:nvSpPr>
          <p:cNvPr id="46085" name="Rectangle 8"/>
          <p:cNvSpPr>
            <a:spLocks noChangeArrowheads="1"/>
          </p:cNvSpPr>
          <p:nvPr/>
        </p:nvSpPr>
        <p:spPr bwMode="auto">
          <a:xfrm>
            <a:off x="0" y="26098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graphicFrame>
        <p:nvGraphicFramePr>
          <p:cNvPr id="46086" name="Object 7"/>
          <p:cNvGraphicFramePr>
            <a:graphicFrameLocks noChangeAspect="1"/>
          </p:cNvGraphicFramePr>
          <p:nvPr/>
        </p:nvGraphicFramePr>
        <p:xfrm>
          <a:off x="1588" y="1506538"/>
          <a:ext cx="8789987" cy="2820987"/>
        </p:xfrm>
        <a:graphic>
          <a:graphicData uri="http://schemas.openxmlformats.org/presentationml/2006/ole">
            <mc:AlternateContent xmlns:mc="http://schemas.openxmlformats.org/markup-compatibility/2006">
              <mc:Choice xmlns:v="urn:schemas-microsoft-com:vml" Requires="v">
                <p:oleObj spid="_x0000_s7176" name="Picture" r:id="rId5" imgW="5118100" imgH="1625600" progId="Word.Picture.8">
                  <p:embed/>
                </p:oleObj>
              </mc:Choice>
              <mc:Fallback>
                <p:oleObj name="Picture" r:id="rId5" imgW="5118100" imgH="1625600" progId="Word.Picture.8">
                  <p:embed/>
                  <p:pic>
                    <p:nvPicPr>
                      <p:cNvPr id="46086"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06538"/>
                        <a:ext cx="8789987" cy="282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94470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fld id="{89492D8C-DC6B-4B5C-84B6-A2D978AF90E8}" type="slidenum">
              <a:rPr lang="en-US" altLang="en-US" sz="1400" smtClean="0"/>
              <a:pPr>
                <a:spcBef>
                  <a:spcPct val="0"/>
                </a:spcBef>
                <a:buClrTx/>
                <a:buSzTx/>
                <a:buFontTx/>
                <a:buNone/>
              </a:pPr>
              <a:t>30</a:t>
            </a:fld>
            <a:endParaRPr lang="en-US" altLang="en-US" sz="1400"/>
          </a:p>
        </p:txBody>
      </p:sp>
      <p:sp>
        <p:nvSpPr>
          <p:cNvPr id="44035" name="Rectangle 2"/>
          <p:cNvSpPr>
            <a:spLocks noGrp="1" noChangeArrowheads="1"/>
          </p:cNvSpPr>
          <p:nvPr>
            <p:ph type="title"/>
          </p:nvPr>
        </p:nvSpPr>
        <p:spPr>
          <a:xfrm>
            <a:off x="1257300" y="266700"/>
            <a:ext cx="6629400" cy="914400"/>
          </a:xfrm>
        </p:spPr>
        <p:txBody>
          <a:bodyPr/>
          <a:lstStyle/>
          <a:p>
            <a:pPr algn="ctr"/>
            <a:r>
              <a:rPr lang="en-US" altLang="en-US" dirty="0"/>
              <a:t>Scope of Variables</a:t>
            </a:r>
            <a:endParaRPr lang="en-US" altLang="en-US" dirty="0">
              <a:hlinkClick r:id="rId3" action="ppaction://program"/>
            </a:endParaRPr>
          </a:p>
        </p:txBody>
      </p:sp>
      <p:sp>
        <p:nvSpPr>
          <p:cNvPr id="44036" name="Rectangle 3"/>
          <p:cNvSpPr>
            <a:spLocks noGrp="1" noChangeArrowheads="1"/>
          </p:cNvSpPr>
          <p:nvPr>
            <p:ph type="body" idx="1"/>
          </p:nvPr>
        </p:nvSpPr>
        <p:spPr>
          <a:xfrm>
            <a:off x="685800" y="1752600"/>
            <a:ext cx="7772400" cy="4419600"/>
          </a:xfrm>
        </p:spPr>
        <p:txBody>
          <a:bodyPr/>
          <a:lstStyle/>
          <a:p>
            <a:pPr>
              <a:lnSpc>
                <a:spcPct val="120000"/>
              </a:lnSpc>
              <a:buFont typeface="Wingdings" panose="05000000000000000000" pitchFamily="2" charset="2"/>
              <a:buChar char="q"/>
            </a:pPr>
            <a:r>
              <a:rPr lang="en-US" altLang="en-US" sz="2800"/>
              <a:t>The scope of instance and static variables is the entire class. They can be declared anywhere inside a class.</a:t>
            </a:r>
          </a:p>
          <a:p>
            <a:pPr>
              <a:lnSpc>
                <a:spcPct val="120000"/>
              </a:lnSpc>
              <a:buFont typeface="Wingdings" panose="05000000000000000000" pitchFamily="2" charset="2"/>
              <a:buChar char="q"/>
            </a:pPr>
            <a:r>
              <a:rPr lang="en-US" altLang="en-US" sz="2800"/>
              <a:t>The scope of a local variable starts from its declaration and continues to the end of the block that contains the variable. A local variable must be initialized explicitly before it can be used.</a:t>
            </a:r>
          </a:p>
        </p:txBody>
      </p:sp>
    </p:spTree>
    <p:extLst>
      <p:ext uri="{BB962C8B-B14F-4D97-AF65-F5344CB8AC3E}">
        <p14:creationId xmlns:p14="http://schemas.microsoft.com/office/powerpoint/2010/main" val="30084825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fld id="{A937D19F-E5CE-4F76-84FD-15DAA4F94630}" type="slidenum">
              <a:rPr lang="en-US" altLang="en-US" sz="1400" smtClean="0"/>
              <a:pPr>
                <a:spcBef>
                  <a:spcPct val="0"/>
                </a:spcBef>
                <a:buClrTx/>
                <a:buSzTx/>
                <a:buFontTx/>
                <a:buNone/>
              </a:pPr>
              <a:t>31</a:t>
            </a:fld>
            <a:endParaRPr lang="en-US" altLang="en-US" sz="1400"/>
          </a:p>
        </p:txBody>
      </p:sp>
      <p:sp>
        <p:nvSpPr>
          <p:cNvPr id="47107" name="Rectangle 2"/>
          <p:cNvSpPr>
            <a:spLocks noGrp="1" noChangeArrowheads="1"/>
          </p:cNvSpPr>
          <p:nvPr>
            <p:ph type="title"/>
          </p:nvPr>
        </p:nvSpPr>
        <p:spPr>
          <a:xfrm>
            <a:off x="914400" y="381000"/>
            <a:ext cx="7620000" cy="762000"/>
          </a:xfrm>
        </p:spPr>
        <p:txBody>
          <a:bodyPr/>
          <a:lstStyle/>
          <a:p>
            <a:pPr algn="ctr"/>
            <a:r>
              <a:rPr lang="en-US" altLang="en-US" dirty="0"/>
              <a:t>Calling Overloaded Constructor</a:t>
            </a:r>
            <a:endParaRPr lang="en-US" altLang="en-US" dirty="0">
              <a:hlinkClick r:id="rId4" action="ppaction://program"/>
            </a:endParaRPr>
          </a:p>
        </p:txBody>
      </p:sp>
      <p:sp>
        <p:nvSpPr>
          <p:cNvPr id="47108" name="Rectangle 3"/>
          <p:cNvSpPr>
            <a:spLocks noChangeArrowheads="1"/>
          </p:cNvSpPr>
          <p:nvPr/>
        </p:nvSpPr>
        <p:spPr bwMode="auto">
          <a:xfrm>
            <a:off x="2047875" y="26098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sp>
        <p:nvSpPr>
          <p:cNvPr id="47109" name="Rectangle 6"/>
          <p:cNvSpPr>
            <a:spLocks noChangeArrowheads="1"/>
          </p:cNvSpPr>
          <p:nvPr/>
        </p:nvSpPr>
        <p:spPr bwMode="auto">
          <a:xfrm>
            <a:off x="2919413" y="2433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sp>
        <p:nvSpPr>
          <p:cNvPr id="47110" name="Rectangle 8"/>
          <p:cNvSpPr>
            <a:spLocks noChangeArrowheads="1"/>
          </p:cNvSpPr>
          <p:nvPr/>
        </p:nvSpPr>
        <p:spPr bwMode="auto">
          <a:xfrm>
            <a:off x="2871788" y="2433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graphicFrame>
        <p:nvGraphicFramePr>
          <p:cNvPr id="47111" name="Object 7"/>
          <p:cNvGraphicFramePr>
            <a:graphicFrameLocks noChangeAspect="1"/>
          </p:cNvGraphicFramePr>
          <p:nvPr/>
        </p:nvGraphicFramePr>
        <p:xfrm>
          <a:off x="0" y="1143000"/>
          <a:ext cx="9144000" cy="5353050"/>
        </p:xfrm>
        <a:graphic>
          <a:graphicData uri="http://schemas.openxmlformats.org/presentationml/2006/ole">
            <mc:AlternateContent xmlns:mc="http://schemas.openxmlformats.org/markup-compatibility/2006">
              <mc:Choice xmlns:v="urn:schemas-microsoft-com:vml" Requires="v">
                <p:oleObj spid="_x0000_s8200" name="Picture" r:id="rId5" imgW="3390900" imgH="1993900" progId="Word.Picture.8">
                  <p:embed/>
                </p:oleObj>
              </mc:Choice>
              <mc:Fallback>
                <p:oleObj name="Picture" r:id="rId5" imgW="3390900" imgH="1993900" progId="Word.Picture.8">
                  <p:embed/>
                  <p:pic>
                    <p:nvPicPr>
                      <p:cNvPr id="47111"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143000"/>
                        <a:ext cx="9144000" cy="535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79978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4">
            <a:extLst>
              <a:ext uri="{FF2B5EF4-FFF2-40B4-BE49-F238E27FC236}">
                <a16:creationId xmlns:a16="http://schemas.microsoft.com/office/drawing/2014/main" id="{127997C3-A90F-496B-A47D-F3BB5229E3B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94792B0-4526-41C7-B2CC-9C566C053B13}" type="slidenum">
              <a:rPr lang="en-US" altLang="en-US" sz="1400"/>
              <a:pPr>
                <a:spcBef>
                  <a:spcPct val="0"/>
                </a:spcBef>
                <a:buClrTx/>
                <a:buSzTx/>
                <a:buFontTx/>
                <a:buNone/>
              </a:pPr>
              <a:t>32</a:t>
            </a:fld>
            <a:endParaRPr lang="en-US" altLang="en-US" sz="1400"/>
          </a:p>
        </p:txBody>
      </p:sp>
      <p:sp>
        <p:nvSpPr>
          <p:cNvPr id="55299" name="Rectangle 2">
            <a:extLst>
              <a:ext uri="{FF2B5EF4-FFF2-40B4-BE49-F238E27FC236}">
                <a16:creationId xmlns:a16="http://schemas.microsoft.com/office/drawing/2014/main" id="{574EF9F0-031B-4786-A701-F2F72BF6E9C1}"/>
              </a:ext>
            </a:extLst>
          </p:cNvPr>
          <p:cNvSpPr>
            <a:spLocks noGrp="1" noChangeArrowheads="1"/>
          </p:cNvSpPr>
          <p:nvPr>
            <p:ph type="title"/>
          </p:nvPr>
        </p:nvSpPr>
        <p:spPr>
          <a:xfrm>
            <a:off x="685800" y="0"/>
            <a:ext cx="7772400" cy="1428750"/>
          </a:xfrm>
        </p:spPr>
        <p:txBody>
          <a:bodyPr/>
          <a:lstStyle/>
          <a:p>
            <a:r>
              <a:rPr lang="en-US" altLang="en-US"/>
              <a:t>Passing Objects to Methods</a:t>
            </a:r>
            <a:endParaRPr lang="en-US" altLang="en-US" b="1">
              <a:latin typeface="Book Antiqua" panose="02040602050305030304" pitchFamily="18" charset="0"/>
            </a:endParaRPr>
          </a:p>
        </p:txBody>
      </p:sp>
      <p:sp>
        <p:nvSpPr>
          <p:cNvPr id="55300" name="Rectangle 3">
            <a:extLst>
              <a:ext uri="{FF2B5EF4-FFF2-40B4-BE49-F238E27FC236}">
                <a16:creationId xmlns:a16="http://schemas.microsoft.com/office/drawing/2014/main" id="{BB1B72B3-9D49-4A0E-8039-197002541459}"/>
              </a:ext>
            </a:extLst>
          </p:cNvPr>
          <p:cNvSpPr>
            <a:spLocks noGrp="1" noChangeArrowheads="1"/>
          </p:cNvSpPr>
          <p:nvPr>
            <p:ph type="body" idx="1"/>
          </p:nvPr>
        </p:nvSpPr>
        <p:spPr>
          <a:xfrm>
            <a:off x="685800" y="1657350"/>
            <a:ext cx="7848600" cy="2457450"/>
          </a:xfrm>
        </p:spPr>
        <p:txBody>
          <a:bodyPr/>
          <a:lstStyle/>
          <a:p>
            <a:pPr>
              <a:spcBef>
                <a:spcPct val="50000"/>
              </a:spcBef>
              <a:buFont typeface="Wingdings" panose="05000000000000000000" pitchFamily="2" charset="2"/>
              <a:buChar char="q"/>
            </a:pPr>
            <a:r>
              <a:rPr lang="en-US" altLang="en-US"/>
              <a:t>Passing by value for primitive type value (the value is passed to the parameter)</a:t>
            </a:r>
          </a:p>
          <a:p>
            <a:pPr>
              <a:spcBef>
                <a:spcPct val="50000"/>
              </a:spcBef>
              <a:buFont typeface="Wingdings" panose="05000000000000000000" pitchFamily="2" charset="2"/>
              <a:buChar char="q"/>
            </a:pPr>
            <a:r>
              <a:rPr lang="en-US" altLang="en-US"/>
              <a:t>Passing by value for reference type value (the value is the reference to the object)</a:t>
            </a:r>
          </a:p>
        </p:txBody>
      </p:sp>
      <p:sp>
        <p:nvSpPr>
          <p:cNvPr id="55302" name="Rectangle 8">
            <a:hlinkClick r:id="rId2" action="ppaction://hlinkfile"/>
            <a:extLst>
              <a:ext uri="{FF2B5EF4-FFF2-40B4-BE49-F238E27FC236}">
                <a16:creationId xmlns:a16="http://schemas.microsoft.com/office/drawing/2014/main" id="{8D40B26B-1F2E-42EB-9BD6-F67C5FB7BA1F}"/>
              </a:ext>
            </a:extLst>
          </p:cNvPr>
          <p:cNvSpPr>
            <a:spLocks noChangeArrowheads="1"/>
          </p:cNvSpPr>
          <p:nvPr/>
        </p:nvSpPr>
        <p:spPr bwMode="auto">
          <a:xfrm>
            <a:off x="3946525" y="5654675"/>
            <a:ext cx="193198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err="1"/>
              <a:t>TestPassObject</a:t>
            </a:r>
            <a:endParaRPr lang="en-US" alt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fld id="{674E53DB-53A1-4E41-97FB-D56743FE4A2D}" type="slidenum">
              <a:rPr lang="en-US" altLang="en-US" sz="1400" smtClean="0"/>
              <a:pPr>
                <a:spcBef>
                  <a:spcPct val="0"/>
                </a:spcBef>
                <a:buClrTx/>
                <a:buSzTx/>
                <a:buFontTx/>
                <a:buNone/>
              </a:pPr>
              <a:t>33</a:t>
            </a:fld>
            <a:endParaRPr lang="en-US" altLang="en-US" sz="1400"/>
          </a:p>
        </p:txBody>
      </p:sp>
      <p:sp>
        <p:nvSpPr>
          <p:cNvPr id="39939" name="Rectangle 2"/>
          <p:cNvSpPr>
            <a:spLocks noGrp="1" noChangeArrowheads="1"/>
          </p:cNvSpPr>
          <p:nvPr>
            <p:ph type="title"/>
          </p:nvPr>
        </p:nvSpPr>
        <p:spPr>
          <a:xfrm>
            <a:off x="1524000" y="152400"/>
            <a:ext cx="7620000" cy="762000"/>
          </a:xfrm>
        </p:spPr>
        <p:txBody>
          <a:bodyPr/>
          <a:lstStyle/>
          <a:p>
            <a:pPr algn="ctr"/>
            <a:r>
              <a:rPr lang="en-US" altLang="en-US" sz="2400" dirty="0"/>
              <a:t>Passing Objects to Methods, cont.</a:t>
            </a:r>
            <a:endParaRPr lang="en-US" altLang="en-US" sz="2400" b="1" dirty="0">
              <a:latin typeface="Book Antiqua" panose="02040602050305030304" pitchFamily="18" charset="0"/>
            </a:endParaRPr>
          </a:p>
        </p:txBody>
      </p:sp>
      <p:sp>
        <p:nvSpPr>
          <p:cNvPr id="39940" name="Rectangle 3"/>
          <p:cNvSpPr>
            <a:spLocks noChangeArrowheads="1"/>
          </p:cNvSpPr>
          <p:nvPr/>
        </p:nvSpPr>
        <p:spPr bwMode="auto">
          <a:xfrm>
            <a:off x="2598738" y="2114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sp>
        <p:nvSpPr>
          <p:cNvPr id="39941" name="Rectangle 4"/>
          <p:cNvSpPr>
            <a:spLocks noChangeArrowheads="1"/>
          </p:cNvSpPr>
          <p:nvPr/>
        </p:nvSpPr>
        <p:spPr bwMode="auto">
          <a:xfrm>
            <a:off x="2598738" y="2114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sp>
        <p:nvSpPr>
          <p:cNvPr id="39942" name="Rectangle 5"/>
          <p:cNvSpPr>
            <a:spLocks noChangeArrowheads="1"/>
          </p:cNvSpPr>
          <p:nvPr/>
        </p:nvSpPr>
        <p:spPr bwMode="auto">
          <a:xfrm>
            <a:off x="2598738" y="2114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sp>
        <p:nvSpPr>
          <p:cNvPr id="39943" name="Rectangle 6"/>
          <p:cNvSpPr>
            <a:spLocks noChangeArrowheads="1"/>
          </p:cNvSpPr>
          <p:nvPr/>
        </p:nvSpPr>
        <p:spPr bwMode="auto">
          <a:xfrm>
            <a:off x="2571750" y="27130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pic>
        <p:nvPicPr>
          <p:cNvPr id="39944"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475" y="1901825"/>
            <a:ext cx="8655050" cy="305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36960072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fld id="{240279DA-655E-4391-BCE1-80C62281340A}" type="slidenum">
              <a:rPr lang="en-US" altLang="en-US" sz="1400" smtClean="0"/>
              <a:pPr>
                <a:spcBef>
                  <a:spcPct val="0"/>
                </a:spcBef>
                <a:buClrTx/>
                <a:buSzTx/>
                <a:buFontTx/>
                <a:buNone/>
              </a:pPr>
              <a:t>34</a:t>
            </a:fld>
            <a:endParaRPr lang="en-US" altLang="en-US" sz="1400"/>
          </a:p>
        </p:txBody>
      </p:sp>
      <p:sp>
        <p:nvSpPr>
          <p:cNvPr id="40963" name="Rectangle 2"/>
          <p:cNvSpPr>
            <a:spLocks noGrp="1" noChangeArrowheads="1"/>
          </p:cNvSpPr>
          <p:nvPr>
            <p:ph type="title"/>
          </p:nvPr>
        </p:nvSpPr>
        <p:spPr>
          <a:xfrm>
            <a:off x="1219200" y="304800"/>
            <a:ext cx="6705600" cy="609600"/>
          </a:xfrm>
        </p:spPr>
        <p:txBody>
          <a:bodyPr/>
          <a:lstStyle/>
          <a:p>
            <a:pPr algn="ctr"/>
            <a:r>
              <a:rPr lang="en-US" altLang="en-US" dirty="0"/>
              <a:t>Array of Objects</a:t>
            </a:r>
            <a:endParaRPr lang="en-US" altLang="en-US" dirty="0">
              <a:hlinkClick r:id="rId3" action="ppaction://program"/>
            </a:endParaRPr>
          </a:p>
        </p:txBody>
      </p:sp>
      <p:sp>
        <p:nvSpPr>
          <p:cNvPr id="40964" name="Rectangle 3"/>
          <p:cNvSpPr>
            <a:spLocks noGrp="1" noChangeArrowheads="1"/>
          </p:cNvSpPr>
          <p:nvPr>
            <p:ph type="body" idx="1"/>
          </p:nvPr>
        </p:nvSpPr>
        <p:spPr>
          <a:xfrm>
            <a:off x="228600" y="1447800"/>
            <a:ext cx="8686800" cy="5105400"/>
          </a:xfrm>
        </p:spPr>
        <p:txBody>
          <a:bodyPr/>
          <a:lstStyle/>
          <a:p>
            <a:pPr>
              <a:lnSpc>
                <a:spcPct val="90000"/>
              </a:lnSpc>
              <a:buFont typeface="Monotype Sorts" charset="2"/>
              <a:buNone/>
            </a:pPr>
            <a:r>
              <a:rPr lang="en-US" altLang="en-US" sz="2800">
                <a:latin typeface="Courier New" panose="02070309020205020404" pitchFamily="49" charset="0"/>
                <a:cs typeface="Times New Roman" panose="02020603050405020304" pitchFamily="18" charset="0"/>
              </a:rPr>
              <a:t> Circle[] circleArray = new Circle[10];</a:t>
            </a:r>
            <a:r>
              <a:rPr lang="en-US" altLang="en-US" sz="2800"/>
              <a:t> </a:t>
            </a:r>
          </a:p>
          <a:p>
            <a:pPr>
              <a:lnSpc>
                <a:spcPct val="90000"/>
              </a:lnSpc>
              <a:buFont typeface="Monotype Sorts" charset="2"/>
              <a:buNone/>
            </a:pPr>
            <a:endParaRPr lang="en-US" altLang="en-US" sz="2800"/>
          </a:p>
          <a:p>
            <a:pPr>
              <a:lnSpc>
                <a:spcPct val="90000"/>
              </a:lnSpc>
              <a:buFont typeface="Monotype Sorts" charset="2"/>
              <a:buNone/>
            </a:pPr>
            <a:r>
              <a:rPr lang="en-US" altLang="en-US" sz="3800">
                <a:latin typeface="Courier" charset="0"/>
                <a:cs typeface="Times New Roman" panose="02020603050405020304" pitchFamily="18" charset="0"/>
              </a:rPr>
              <a:t> </a:t>
            </a:r>
            <a:r>
              <a:rPr lang="en-US" altLang="en-US" sz="3800">
                <a:cs typeface="Times New Roman" panose="02020603050405020304" pitchFamily="18" charset="0"/>
              </a:rPr>
              <a:t>An array of objects is actually an </a:t>
            </a:r>
            <a:r>
              <a:rPr lang="en-US" altLang="en-US" sz="3800" i="1">
                <a:cs typeface="Times New Roman" panose="02020603050405020304" pitchFamily="18" charset="0"/>
              </a:rPr>
              <a:t>array of reference variables</a:t>
            </a:r>
            <a:r>
              <a:rPr lang="en-US" altLang="en-US" sz="3800">
                <a:cs typeface="Times New Roman" panose="02020603050405020304" pitchFamily="18" charset="0"/>
              </a:rPr>
              <a:t>. So invoking circleArray[1].getArea() involves two levels of referencing as shown in the next figure. circleArray references to the entire array. circleArray[1] references to a Circle object.</a:t>
            </a:r>
            <a:r>
              <a:rPr lang="en-US" altLang="en-US" sz="3800">
                <a:latin typeface="Courier" charset="0"/>
                <a:cs typeface="Times New Roman" panose="02020603050405020304" pitchFamily="18" charset="0"/>
              </a:rPr>
              <a:t> </a:t>
            </a:r>
            <a:endParaRPr lang="en-US" altLang="en-US" sz="3800"/>
          </a:p>
        </p:txBody>
      </p:sp>
    </p:spTree>
    <p:extLst>
      <p:ext uri="{BB962C8B-B14F-4D97-AF65-F5344CB8AC3E}">
        <p14:creationId xmlns:p14="http://schemas.microsoft.com/office/powerpoint/2010/main" val="19831211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fld id="{FE6CC943-97FD-48EA-A450-20EFF23C4222}" type="slidenum">
              <a:rPr lang="en-US" altLang="en-US" sz="1400" smtClean="0"/>
              <a:pPr>
                <a:spcBef>
                  <a:spcPct val="0"/>
                </a:spcBef>
                <a:buClrTx/>
                <a:buSzTx/>
                <a:buFontTx/>
                <a:buNone/>
              </a:pPr>
              <a:t>35</a:t>
            </a:fld>
            <a:endParaRPr lang="en-US" altLang="en-US" sz="1400"/>
          </a:p>
        </p:txBody>
      </p:sp>
      <p:sp>
        <p:nvSpPr>
          <p:cNvPr id="41987" name="Rectangle 2"/>
          <p:cNvSpPr>
            <a:spLocks noGrp="1" noChangeArrowheads="1"/>
          </p:cNvSpPr>
          <p:nvPr>
            <p:ph type="title"/>
          </p:nvPr>
        </p:nvSpPr>
        <p:spPr>
          <a:xfrm>
            <a:off x="1143000" y="317502"/>
            <a:ext cx="6858000" cy="914400"/>
          </a:xfrm>
        </p:spPr>
        <p:txBody>
          <a:bodyPr/>
          <a:lstStyle/>
          <a:p>
            <a:pPr algn="ctr"/>
            <a:r>
              <a:rPr lang="en-US" altLang="en-US" dirty="0"/>
              <a:t>Array of Objects, cont.</a:t>
            </a:r>
            <a:endParaRPr lang="en-US" altLang="en-US" dirty="0">
              <a:hlinkClick r:id="rId3" action="ppaction://program"/>
            </a:endParaRPr>
          </a:p>
        </p:txBody>
      </p:sp>
      <p:sp>
        <p:nvSpPr>
          <p:cNvPr id="41988" name="Rectangle 3"/>
          <p:cNvSpPr>
            <a:spLocks noChangeArrowheads="1"/>
          </p:cNvSpPr>
          <p:nvPr/>
        </p:nvSpPr>
        <p:spPr bwMode="auto">
          <a:xfrm>
            <a:off x="2598738" y="28844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charset="2"/>
              <a:buChar char="F"/>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accent2"/>
              </a:buClr>
              <a:buSzPct val="65000"/>
              <a:buFont typeface="Monotype Sorts" charset="2"/>
              <a:buChar char="u"/>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endParaRPr lang="en-US" altLang="en-US" sz="2400"/>
          </a:p>
        </p:txBody>
      </p:sp>
      <p:sp>
        <p:nvSpPr>
          <p:cNvPr id="41989" name="Rectangle 5"/>
          <p:cNvSpPr>
            <a:spLocks noGrp="1" noChangeArrowheads="1"/>
          </p:cNvSpPr>
          <p:nvPr>
            <p:ph type="body" idx="1"/>
          </p:nvPr>
        </p:nvSpPr>
        <p:spPr>
          <a:xfrm>
            <a:off x="228600" y="1447800"/>
            <a:ext cx="8686800" cy="5105400"/>
          </a:xfrm>
        </p:spPr>
        <p:txBody>
          <a:bodyPr/>
          <a:lstStyle/>
          <a:p>
            <a:pPr>
              <a:buFont typeface="Monotype Sorts" charset="2"/>
              <a:buNone/>
            </a:pPr>
            <a:r>
              <a:rPr lang="en-US" altLang="en-US" sz="2400">
                <a:latin typeface="Courier New" panose="02070309020205020404" pitchFamily="49" charset="0"/>
                <a:cs typeface="Times New Roman" panose="02020603050405020304" pitchFamily="18" charset="0"/>
              </a:rPr>
              <a:t>   Circle[] circleArray = new Circle[10];</a:t>
            </a:r>
            <a:r>
              <a:rPr lang="en-US" altLang="en-US" sz="2400">
                <a:latin typeface="Courier New" panose="02070309020205020404" pitchFamily="49" charset="0"/>
              </a:rPr>
              <a:t> </a:t>
            </a:r>
          </a:p>
          <a:p>
            <a:pPr>
              <a:buFont typeface="Monotype Sorts" charset="2"/>
              <a:buNone/>
            </a:pPr>
            <a:endParaRPr lang="en-US" altLang="en-US" sz="2400">
              <a:latin typeface="Courier New" panose="02070309020205020404" pitchFamily="49" charset="0"/>
            </a:endParaRPr>
          </a:p>
        </p:txBody>
      </p:sp>
      <p:pic>
        <p:nvPicPr>
          <p:cNvPr id="4199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5" y="2320925"/>
            <a:ext cx="8972550" cy="221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5638750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4">
            <a:extLst>
              <a:ext uri="{FF2B5EF4-FFF2-40B4-BE49-F238E27FC236}">
                <a16:creationId xmlns:a16="http://schemas.microsoft.com/office/drawing/2014/main" id="{5B38682C-9043-4AAA-90F7-F579383F752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F161C13-8834-4EA9-BD28-7C0E84A0AC65}" type="slidenum">
              <a:rPr lang="en-US" altLang="en-US" sz="1400"/>
              <a:pPr>
                <a:spcBef>
                  <a:spcPct val="0"/>
                </a:spcBef>
                <a:buClrTx/>
                <a:buSzTx/>
                <a:buFontTx/>
                <a:buNone/>
              </a:pPr>
              <a:t>36</a:t>
            </a:fld>
            <a:endParaRPr lang="en-US" altLang="en-US" sz="1400"/>
          </a:p>
        </p:txBody>
      </p:sp>
      <p:sp>
        <p:nvSpPr>
          <p:cNvPr id="59395" name="Rectangle 2">
            <a:extLst>
              <a:ext uri="{FF2B5EF4-FFF2-40B4-BE49-F238E27FC236}">
                <a16:creationId xmlns:a16="http://schemas.microsoft.com/office/drawing/2014/main" id="{E16D1F03-323E-4991-BF14-1043CEE85E33}"/>
              </a:ext>
            </a:extLst>
          </p:cNvPr>
          <p:cNvSpPr>
            <a:spLocks noGrp="1" noChangeArrowheads="1"/>
          </p:cNvSpPr>
          <p:nvPr>
            <p:ph type="title"/>
          </p:nvPr>
        </p:nvSpPr>
        <p:spPr>
          <a:xfrm>
            <a:off x="685800" y="381000"/>
            <a:ext cx="7772400" cy="914400"/>
          </a:xfrm>
        </p:spPr>
        <p:txBody>
          <a:bodyPr/>
          <a:lstStyle/>
          <a:p>
            <a:r>
              <a:rPr lang="en-US" altLang="en-US"/>
              <a:t>Array of Objects, cont.</a:t>
            </a:r>
          </a:p>
        </p:txBody>
      </p:sp>
      <p:sp>
        <p:nvSpPr>
          <p:cNvPr id="59396" name="Rectangle 3">
            <a:extLst>
              <a:ext uri="{FF2B5EF4-FFF2-40B4-BE49-F238E27FC236}">
                <a16:creationId xmlns:a16="http://schemas.microsoft.com/office/drawing/2014/main" id="{E7AF6AFF-F017-4058-80DD-0EE8CF450879}"/>
              </a:ext>
            </a:extLst>
          </p:cNvPr>
          <p:cNvSpPr>
            <a:spLocks noChangeArrowheads="1"/>
          </p:cNvSpPr>
          <p:nvPr/>
        </p:nvSpPr>
        <p:spPr bwMode="auto">
          <a:xfrm>
            <a:off x="2598738" y="2884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9397" name="Rectangle 4">
            <a:extLst>
              <a:ext uri="{FF2B5EF4-FFF2-40B4-BE49-F238E27FC236}">
                <a16:creationId xmlns:a16="http://schemas.microsoft.com/office/drawing/2014/main" id="{744E446F-E758-4810-8403-19C1BA26ECF5}"/>
              </a:ext>
            </a:extLst>
          </p:cNvPr>
          <p:cNvSpPr>
            <a:spLocks noGrp="1" noChangeArrowheads="1"/>
          </p:cNvSpPr>
          <p:nvPr>
            <p:ph type="body" idx="1"/>
          </p:nvPr>
        </p:nvSpPr>
        <p:spPr>
          <a:xfrm>
            <a:off x="304800" y="1295400"/>
            <a:ext cx="8458200" cy="4038600"/>
          </a:xfrm>
        </p:spPr>
        <p:txBody>
          <a:bodyPr/>
          <a:lstStyle/>
          <a:p>
            <a:pPr>
              <a:buFont typeface="Monotype Sorts"/>
              <a:buNone/>
            </a:pPr>
            <a:r>
              <a:rPr lang="en-US" altLang="en-US" sz="4000" dirty="0"/>
              <a:t>Summarizing the areas of the circles</a:t>
            </a:r>
          </a:p>
          <a:p>
            <a:r>
              <a:rPr lang="en-US" altLang="en-US" sz="3400" dirty="0"/>
              <a:t>create an array of five random circles. </a:t>
            </a:r>
          </a:p>
          <a:p>
            <a:r>
              <a:rPr lang="en-US" altLang="en-US" sz="3400" dirty="0"/>
              <a:t>Print the circles and their area.</a:t>
            </a:r>
          </a:p>
          <a:p>
            <a:r>
              <a:rPr lang="en-US" altLang="en-US" sz="3400" dirty="0"/>
              <a:t>Print their total area.</a:t>
            </a:r>
          </a:p>
          <a:p>
            <a:pPr>
              <a:buFont typeface="Monotype Sorts"/>
              <a:buNone/>
            </a:pPr>
            <a:endParaRPr lang="en-US" altLang="en-US" sz="3400" dirty="0"/>
          </a:p>
          <a:p>
            <a:pPr>
              <a:buFont typeface="Monotype Sorts"/>
              <a:buNone/>
            </a:pPr>
            <a:endParaRPr lang="en-US" altLang="en-US" sz="3400" dirty="0"/>
          </a:p>
        </p:txBody>
      </p:sp>
      <p:sp>
        <p:nvSpPr>
          <p:cNvPr id="59399" name="Rectangle 9">
            <a:hlinkClick r:id="rId2" action="ppaction://hlinkfile"/>
            <a:extLst>
              <a:ext uri="{FF2B5EF4-FFF2-40B4-BE49-F238E27FC236}">
                <a16:creationId xmlns:a16="http://schemas.microsoft.com/office/drawing/2014/main" id="{4CE834F0-98A3-42F1-BFB0-D976055EDCFF}"/>
              </a:ext>
            </a:extLst>
          </p:cNvPr>
          <p:cNvSpPr>
            <a:spLocks noChangeArrowheads="1"/>
          </p:cNvSpPr>
          <p:nvPr/>
        </p:nvSpPr>
        <p:spPr bwMode="auto">
          <a:xfrm>
            <a:off x="7073106" y="5791200"/>
            <a:ext cx="193198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TotalArea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
          <p:cNvSpPr txBox="1">
            <a:spLocks noChangeAspect="1" noChangeArrowheads="1"/>
          </p:cNvSpPr>
          <p:nvPr/>
        </p:nvSpPr>
        <p:spPr bwMode="auto">
          <a:xfrm>
            <a:off x="1657350" y="1257300"/>
            <a:ext cx="6000750" cy="2000250"/>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rIns="342900"/>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eaLnBrk="1" hangingPunct="1">
              <a:spcBef>
                <a:spcPct val="50000"/>
              </a:spcBef>
            </a:pPr>
            <a:endParaRPr lang="en-US" altLang="en-US" sz="3000" b="1"/>
          </a:p>
        </p:txBody>
      </p:sp>
      <p:sp>
        <p:nvSpPr>
          <p:cNvPr id="11267" name="Text Box 3"/>
          <p:cNvSpPr txBox="1">
            <a:spLocks noChangeArrowheads="1"/>
          </p:cNvSpPr>
          <p:nvPr/>
        </p:nvSpPr>
        <p:spPr bwMode="auto">
          <a:xfrm>
            <a:off x="2286000" y="2114551"/>
            <a:ext cx="2286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US" altLang="en-US" b="1" dirty="0">
                <a:latin typeface="Arial Unicode MS" panose="020B0604020202020204" pitchFamily="34" charset="-128"/>
                <a:ea typeface="Arial Unicode MS" panose="020B0604020202020204" pitchFamily="34" charset="-128"/>
                <a:cs typeface="Arial Unicode MS" panose="020B0604020202020204" pitchFamily="34" charset="-128"/>
              </a:rPr>
              <a:t>Rational Class</a:t>
            </a:r>
          </a:p>
        </p:txBody>
      </p:sp>
      <p:sp>
        <p:nvSpPr>
          <p:cNvPr id="8" name="Rounded Rectangle 7"/>
          <p:cNvSpPr/>
          <p:nvPr/>
        </p:nvSpPr>
        <p:spPr>
          <a:xfrm>
            <a:off x="1828800" y="1657350"/>
            <a:ext cx="2457450" cy="3429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en-US" dirty="0">
                <a:solidFill>
                  <a:srgbClr val="FFCC00"/>
                </a:solidFill>
              </a:rPr>
              <a:t>Objects &amp; Classes</a:t>
            </a:r>
          </a:p>
        </p:txBody>
      </p:sp>
      <p:pic>
        <p:nvPicPr>
          <p:cNvPr id="10249"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2533" y="1257300"/>
            <a:ext cx="2651522" cy="2000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pic>
    </p:spTree>
    <p:extLst>
      <p:ext uri="{BB962C8B-B14F-4D97-AF65-F5344CB8AC3E}">
        <p14:creationId xmlns:p14="http://schemas.microsoft.com/office/powerpoint/2010/main" val="10508205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 Numbers UML</a:t>
            </a:r>
          </a:p>
        </p:txBody>
      </p:sp>
      <p:graphicFrame>
        <p:nvGraphicFramePr>
          <p:cNvPr id="4" name="Content Placeholder 3"/>
          <p:cNvGraphicFramePr>
            <a:graphicFrameLocks noGrp="1"/>
          </p:cNvGraphicFramePr>
          <p:nvPr>
            <p:ph idx="1"/>
          </p:nvPr>
        </p:nvGraphicFramePr>
        <p:xfrm>
          <a:off x="628650" y="1947672"/>
          <a:ext cx="2743200" cy="3490724"/>
        </p:xfrm>
        <a:graphic>
          <a:graphicData uri="http://schemas.openxmlformats.org/drawingml/2006/table">
            <a:tbl>
              <a:tblPr firstRow="1" firstCol="1" bandRow="1">
                <a:tableStyleId>{5C22544A-7EE6-4342-B048-85BDC9FD1C3A}</a:tableStyleId>
              </a:tblPr>
              <a:tblGrid>
                <a:gridCol w="2743200">
                  <a:extLst>
                    <a:ext uri="{9D8B030D-6E8A-4147-A177-3AD203B41FA5}">
                      <a16:colId xmlns:a16="http://schemas.microsoft.com/office/drawing/2014/main" val="20000"/>
                    </a:ext>
                  </a:extLst>
                </a:gridCol>
              </a:tblGrid>
              <a:tr h="205337">
                <a:tc>
                  <a:txBody>
                    <a:bodyPr/>
                    <a:lstStyle/>
                    <a:p>
                      <a:pPr marL="0" marR="0" algn="ctr">
                        <a:spcBef>
                          <a:spcPts val="0"/>
                        </a:spcBef>
                        <a:spcAft>
                          <a:spcPts val="0"/>
                        </a:spcAft>
                      </a:pPr>
                      <a:r>
                        <a:rPr lang="en-US" sz="1200" dirty="0">
                          <a:effectLst/>
                        </a:rPr>
                        <a:t>Rational</a:t>
                      </a:r>
                      <a:endParaRPr lang="en-US" sz="1200" dirty="0">
                        <a:effectLst/>
                        <a:latin typeface="Times New Roman" panose="020206030504050203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0"/>
                  </a:ext>
                </a:extLst>
              </a:tr>
              <a:tr h="410674">
                <a:tc>
                  <a:txBody>
                    <a:bodyPr/>
                    <a:lstStyle/>
                    <a:p>
                      <a:pPr marL="0" marR="0">
                        <a:spcBef>
                          <a:spcPts val="0"/>
                        </a:spcBef>
                        <a:spcAft>
                          <a:spcPts val="0"/>
                        </a:spcAft>
                      </a:pPr>
                      <a:r>
                        <a:rPr lang="en-US" sz="1200" dirty="0">
                          <a:effectLst/>
                        </a:rPr>
                        <a:t>- numerator : </a:t>
                      </a:r>
                      <a:r>
                        <a:rPr lang="en-US" sz="1200" dirty="0" err="1">
                          <a:effectLst/>
                        </a:rPr>
                        <a:t>int</a:t>
                      </a:r>
                      <a:endParaRPr lang="en-US" sz="1200" dirty="0">
                        <a:effectLst/>
                      </a:endParaRPr>
                    </a:p>
                    <a:p>
                      <a:pPr marL="0" marR="0">
                        <a:spcBef>
                          <a:spcPts val="0"/>
                        </a:spcBef>
                        <a:spcAft>
                          <a:spcPts val="0"/>
                        </a:spcAft>
                      </a:pPr>
                      <a:r>
                        <a:rPr lang="en-US" sz="1200" dirty="0">
                          <a:effectLst/>
                        </a:rPr>
                        <a:t>- denominator : </a:t>
                      </a:r>
                      <a:r>
                        <a:rPr lang="en-US" sz="1200" dirty="0" err="1">
                          <a:effectLst/>
                        </a:rPr>
                        <a:t>int</a:t>
                      </a:r>
                      <a:endParaRPr lang="en-US" sz="1200" dirty="0">
                        <a:effectLst/>
                        <a:latin typeface="Times New Roman" panose="020206030504050203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1"/>
                  </a:ext>
                </a:extLst>
              </a:tr>
              <a:tr h="2874713">
                <a:tc>
                  <a:txBody>
                    <a:bodyPr/>
                    <a:lstStyle/>
                    <a:p>
                      <a:pPr marL="0" marR="0">
                        <a:spcBef>
                          <a:spcPts val="0"/>
                        </a:spcBef>
                        <a:spcAft>
                          <a:spcPts val="0"/>
                        </a:spcAft>
                      </a:pPr>
                      <a:r>
                        <a:rPr lang="en-US" sz="1200" dirty="0">
                          <a:effectLst/>
                        </a:rPr>
                        <a:t>+ Rational()</a:t>
                      </a:r>
                    </a:p>
                    <a:p>
                      <a:pPr marL="0" marR="0">
                        <a:spcBef>
                          <a:spcPts val="0"/>
                        </a:spcBef>
                        <a:spcAft>
                          <a:spcPts val="0"/>
                        </a:spcAft>
                      </a:pPr>
                      <a:r>
                        <a:rPr lang="en-US" sz="1200" dirty="0">
                          <a:effectLst/>
                        </a:rPr>
                        <a:t>+ Rational(n : </a:t>
                      </a:r>
                      <a:r>
                        <a:rPr lang="en-US" sz="1200" dirty="0" err="1">
                          <a:effectLst/>
                        </a:rPr>
                        <a:t>int</a:t>
                      </a:r>
                      <a:r>
                        <a:rPr lang="en-US" sz="1200" dirty="0">
                          <a:effectLst/>
                        </a:rPr>
                        <a:t>, d : </a:t>
                      </a:r>
                      <a:r>
                        <a:rPr lang="en-US" sz="1200" dirty="0" err="1">
                          <a:effectLst/>
                        </a:rPr>
                        <a:t>int</a:t>
                      </a:r>
                      <a:r>
                        <a:rPr lang="en-US" sz="1200" dirty="0">
                          <a:effectLst/>
                        </a:rPr>
                        <a:t>)</a:t>
                      </a:r>
                    </a:p>
                    <a:p>
                      <a:pPr marL="0" marR="0">
                        <a:spcBef>
                          <a:spcPts val="0"/>
                        </a:spcBef>
                        <a:spcAft>
                          <a:spcPts val="0"/>
                        </a:spcAft>
                      </a:pPr>
                      <a:r>
                        <a:rPr lang="en-US" sz="1200" dirty="0">
                          <a:effectLst/>
                        </a:rPr>
                        <a:t>+ </a:t>
                      </a:r>
                      <a:r>
                        <a:rPr lang="en-US" sz="1200" dirty="0" err="1">
                          <a:effectLst/>
                        </a:rPr>
                        <a:t>getNumerator</a:t>
                      </a:r>
                      <a:r>
                        <a:rPr lang="en-US" sz="1200" dirty="0">
                          <a:effectLst/>
                        </a:rPr>
                        <a:t>() : </a:t>
                      </a:r>
                      <a:r>
                        <a:rPr lang="en-US" sz="1200" dirty="0" err="1">
                          <a:effectLst/>
                        </a:rPr>
                        <a:t>int</a:t>
                      </a:r>
                      <a:endParaRPr lang="en-US" sz="1200" dirty="0">
                        <a:effectLst/>
                      </a:endParaRPr>
                    </a:p>
                    <a:p>
                      <a:pPr marL="0" marR="0">
                        <a:spcBef>
                          <a:spcPts val="0"/>
                        </a:spcBef>
                        <a:spcAft>
                          <a:spcPts val="0"/>
                        </a:spcAft>
                      </a:pPr>
                      <a:r>
                        <a:rPr lang="en-US" sz="1200" dirty="0">
                          <a:effectLst/>
                        </a:rPr>
                        <a:t>+ </a:t>
                      </a:r>
                      <a:r>
                        <a:rPr lang="en-US" sz="1200" dirty="0" err="1">
                          <a:effectLst/>
                        </a:rPr>
                        <a:t>setNumerator</a:t>
                      </a:r>
                      <a:r>
                        <a:rPr lang="en-US" sz="1200" dirty="0">
                          <a:effectLst/>
                        </a:rPr>
                        <a:t>(n : </a:t>
                      </a:r>
                      <a:r>
                        <a:rPr lang="en-US" sz="1200" dirty="0" err="1">
                          <a:effectLst/>
                        </a:rPr>
                        <a:t>int</a:t>
                      </a:r>
                      <a:r>
                        <a:rPr lang="en-US" sz="1200" dirty="0">
                          <a:effectLst/>
                        </a:rPr>
                        <a:t>)</a:t>
                      </a:r>
                    </a:p>
                    <a:p>
                      <a:pPr marL="0" marR="0">
                        <a:spcBef>
                          <a:spcPts val="0"/>
                        </a:spcBef>
                        <a:spcAft>
                          <a:spcPts val="0"/>
                        </a:spcAft>
                      </a:pPr>
                      <a:r>
                        <a:rPr lang="en-US" sz="1200" dirty="0">
                          <a:effectLst/>
                        </a:rPr>
                        <a:t>+ </a:t>
                      </a:r>
                      <a:r>
                        <a:rPr lang="en-US" sz="1200" dirty="0" err="1">
                          <a:effectLst/>
                        </a:rPr>
                        <a:t>getDenominator</a:t>
                      </a:r>
                      <a:r>
                        <a:rPr lang="en-US" sz="1200" dirty="0">
                          <a:effectLst/>
                        </a:rPr>
                        <a:t>() : </a:t>
                      </a:r>
                      <a:r>
                        <a:rPr lang="en-US" sz="1200" dirty="0" err="1">
                          <a:effectLst/>
                        </a:rPr>
                        <a:t>int</a:t>
                      </a:r>
                      <a:endParaRPr lang="en-US" sz="1200" dirty="0">
                        <a:effectLst/>
                      </a:endParaRPr>
                    </a:p>
                    <a:p>
                      <a:pPr marL="0" marR="0">
                        <a:spcBef>
                          <a:spcPts val="0"/>
                        </a:spcBef>
                        <a:spcAft>
                          <a:spcPts val="0"/>
                        </a:spcAft>
                      </a:pPr>
                      <a:r>
                        <a:rPr lang="en-US" sz="1200" dirty="0">
                          <a:effectLst/>
                        </a:rPr>
                        <a:t>+ </a:t>
                      </a:r>
                      <a:r>
                        <a:rPr lang="en-US" sz="1200" dirty="0" err="1">
                          <a:effectLst/>
                        </a:rPr>
                        <a:t>setDenominator</a:t>
                      </a:r>
                      <a:r>
                        <a:rPr lang="en-US" sz="1200" dirty="0">
                          <a:effectLst/>
                        </a:rPr>
                        <a:t>(d : </a:t>
                      </a:r>
                      <a:r>
                        <a:rPr lang="en-US" sz="1200" dirty="0" err="1">
                          <a:effectLst/>
                        </a:rPr>
                        <a:t>int</a:t>
                      </a:r>
                      <a:r>
                        <a:rPr lang="en-US" sz="1200" dirty="0">
                          <a:effectLst/>
                        </a:rPr>
                        <a:t>)</a:t>
                      </a:r>
                    </a:p>
                    <a:p>
                      <a:pPr marL="0" marR="0">
                        <a:spcBef>
                          <a:spcPts val="0"/>
                        </a:spcBef>
                        <a:spcAft>
                          <a:spcPts val="0"/>
                        </a:spcAft>
                      </a:pPr>
                      <a:r>
                        <a:rPr lang="en-US" sz="1200" dirty="0">
                          <a:effectLst/>
                        </a:rPr>
                        <a:t>+ add(r : Rational) : Rational</a:t>
                      </a:r>
                    </a:p>
                    <a:p>
                      <a:pPr marL="0" marR="0">
                        <a:spcBef>
                          <a:spcPts val="0"/>
                        </a:spcBef>
                        <a:spcAft>
                          <a:spcPts val="0"/>
                        </a:spcAft>
                      </a:pPr>
                      <a:r>
                        <a:rPr lang="en-US" sz="1200" dirty="0">
                          <a:effectLst/>
                        </a:rPr>
                        <a:t>+ subtract(r : Rational) : Rational</a:t>
                      </a:r>
                    </a:p>
                    <a:p>
                      <a:pPr marL="0" marR="0">
                        <a:spcBef>
                          <a:spcPts val="0"/>
                        </a:spcBef>
                        <a:spcAft>
                          <a:spcPts val="0"/>
                        </a:spcAft>
                      </a:pPr>
                      <a:r>
                        <a:rPr lang="en-US" sz="1200" dirty="0">
                          <a:effectLst/>
                        </a:rPr>
                        <a:t>+ divide(r : Rational) : Rational</a:t>
                      </a:r>
                    </a:p>
                    <a:p>
                      <a:pPr marL="0" marR="0">
                        <a:spcBef>
                          <a:spcPts val="0"/>
                        </a:spcBef>
                        <a:spcAft>
                          <a:spcPts val="0"/>
                        </a:spcAft>
                      </a:pPr>
                      <a:r>
                        <a:rPr lang="en-US" sz="1200" dirty="0">
                          <a:effectLst/>
                        </a:rPr>
                        <a:t>+ multiply(r : Rational) : Rational</a:t>
                      </a:r>
                    </a:p>
                    <a:p>
                      <a:pPr marL="0" marR="0">
                        <a:spcBef>
                          <a:spcPts val="0"/>
                        </a:spcBef>
                        <a:spcAft>
                          <a:spcPts val="0"/>
                        </a:spcAft>
                      </a:pPr>
                      <a:r>
                        <a:rPr lang="en-US" sz="1200" dirty="0">
                          <a:effectLst/>
                        </a:rPr>
                        <a:t>+ equals(r : Rational) : Boolean</a:t>
                      </a:r>
                    </a:p>
                    <a:p>
                      <a:pPr marL="0" marR="0">
                        <a:spcBef>
                          <a:spcPts val="0"/>
                        </a:spcBef>
                        <a:spcAft>
                          <a:spcPts val="0"/>
                        </a:spcAft>
                      </a:pPr>
                      <a:r>
                        <a:rPr lang="en-US" sz="1200" dirty="0">
                          <a:effectLst/>
                        </a:rPr>
                        <a:t>+ </a:t>
                      </a:r>
                      <a:r>
                        <a:rPr lang="en-US" sz="1200" dirty="0" err="1">
                          <a:effectLst/>
                        </a:rPr>
                        <a:t>compareTo</a:t>
                      </a:r>
                      <a:r>
                        <a:rPr lang="en-US" sz="1200" dirty="0">
                          <a:effectLst/>
                        </a:rPr>
                        <a:t>(r : Rational) : </a:t>
                      </a:r>
                      <a:r>
                        <a:rPr lang="en-US" sz="1200" dirty="0" err="1">
                          <a:effectLst/>
                        </a:rPr>
                        <a:t>int</a:t>
                      </a:r>
                      <a:endParaRPr lang="en-US" sz="1200" dirty="0">
                        <a:effectLst/>
                      </a:endParaRPr>
                    </a:p>
                    <a:p>
                      <a:pPr marL="0" marR="0">
                        <a:spcBef>
                          <a:spcPts val="0"/>
                        </a:spcBef>
                        <a:spcAft>
                          <a:spcPts val="0"/>
                        </a:spcAft>
                      </a:pPr>
                      <a:r>
                        <a:rPr lang="en-US" sz="1200" dirty="0">
                          <a:effectLst/>
                        </a:rPr>
                        <a:t>+ </a:t>
                      </a:r>
                      <a:r>
                        <a:rPr lang="en-US" sz="1200" dirty="0" err="1">
                          <a:effectLst/>
                        </a:rPr>
                        <a:t>toString</a:t>
                      </a:r>
                      <a:r>
                        <a:rPr lang="en-US" sz="1200" dirty="0">
                          <a:effectLst/>
                        </a:rPr>
                        <a:t>() : String</a:t>
                      </a:r>
                    </a:p>
                    <a:p>
                      <a:pPr marL="0" marR="0">
                        <a:spcBef>
                          <a:spcPts val="0"/>
                        </a:spcBef>
                        <a:spcAft>
                          <a:spcPts val="0"/>
                        </a:spcAft>
                      </a:pPr>
                      <a:r>
                        <a:rPr lang="en-US" sz="1200" dirty="0">
                          <a:effectLst/>
                        </a:rPr>
                        <a:t>- </a:t>
                      </a:r>
                      <a:r>
                        <a:rPr lang="en-US" sz="1200" dirty="0" err="1">
                          <a:effectLst/>
                        </a:rPr>
                        <a:t>gcd</a:t>
                      </a:r>
                      <a:r>
                        <a:rPr lang="en-US" sz="1200" dirty="0">
                          <a:effectLst/>
                        </a:rPr>
                        <a:t>(n : </a:t>
                      </a:r>
                      <a:r>
                        <a:rPr lang="en-US" sz="1200" dirty="0" err="1">
                          <a:effectLst/>
                        </a:rPr>
                        <a:t>int</a:t>
                      </a:r>
                      <a:r>
                        <a:rPr lang="en-US" sz="1200" dirty="0">
                          <a:effectLst/>
                        </a:rPr>
                        <a:t> , d : </a:t>
                      </a:r>
                      <a:r>
                        <a:rPr lang="en-US" sz="1200" dirty="0" err="1">
                          <a:effectLst/>
                        </a:rPr>
                        <a:t>int</a:t>
                      </a:r>
                      <a:r>
                        <a:rPr lang="en-US" sz="1200" dirty="0">
                          <a:effectLst/>
                        </a:rPr>
                        <a:t>) : </a:t>
                      </a:r>
                      <a:r>
                        <a:rPr lang="en-US" sz="1200" dirty="0" err="1">
                          <a:effectLst/>
                        </a:rPr>
                        <a:t>int</a:t>
                      </a:r>
                      <a:endParaRPr lang="en-US" sz="1200" dirty="0">
                        <a:effectLst/>
                        <a:latin typeface="Times New Roman" panose="020206030504050203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2"/>
                  </a:ext>
                </a:extLst>
              </a:tr>
            </a:tbl>
          </a:graphicData>
        </a:graphic>
      </p:graphicFrame>
      <p:graphicFrame>
        <p:nvGraphicFramePr>
          <p:cNvPr id="6" name="Table 5"/>
          <p:cNvGraphicFramePr>
            <a:graphicFrameLocks noGrp="1"/>
          </p:cNvGraphicFramePr>
          <p:nvPr/>
        </p:nvGraphicFramePr>
        <p:xfrm>
          <a:off x="3478530" y="1947671"/>
          <a:ext cx="4867656" cy="1348740"/>
        </p:xfrm>
        <a:graphic>
          <a:graphicData uri="http://schemas.openxmlformats.org/drawingml/2006/table">
            <a:tbl>
              <a:tblPr firstRow="1" bandRow="1">
                <a:tableStyleId>{5C22544A-7EE6-4342-B048-85BDC9FD1C3A}</a:tableStyleId>
              </a:tblPr>
              <a:tblGrid>
                <a:gridCol w="4867656">
                  <a:extLst>
                    <a:ext uri="{9D8B030D-6E8A-4147-A177-3AD203B41FA5}">
                      <a16:colId xmlns:a16="http://schemas.microsoft.com/office/drawing/2014/main" val="20000"/>
                    </a:ext>
                  </a:extLst>
                </a:gridCol>
              </a:tblGrid>
              <a:tr h="1303020">
                <a:tc>
                  <a:txBody>
                    <a:bodyPr/>
                    <a:lstStyle/>
                    <a:p>
                      <a:pPr lvl="0"/>
                      <a:r>
                        <a:rPr lang="en-US" sz="1400" b="1" kern="1200" dirty="0">
                          <a:solidFill>
                            <a:schemeClr val="lt1"/>
                          </a:solidFill>
                          <a:effectLst/>
                          <a:latin typeface="+mn-lt"/>
                          <a:ea typeface="+mn-ea"/>
                          <a:cs typeface="+mn-cs"/>
                        </a:rPr>
                        <a:t>default value for a Rational object is 0/1</a:t>
                      </a:r>
                    </a:p>
                    <a:p>
                      <a:pPr lvl="0"/>
                      <a:r>
                        <a:rPr lang="en-US" sz="1400" b="1" kern="1200" dirty="0">
                          <a:solidFill>
                            <a:schemeClr val="lt1"/>
                          </a:solidFill>
                          <a:effectLst/>
                          <a:latin typeface="+mn-lt"/>
                          <a:ea typeface="+mn-ea"/>
                          <a:cs typeface="+mn-cs"/>
                        </a:rPr>
                        <a:t>Rational objects must be in reduced form</a:t>
                      </a:r>
                    </a:p>
                    <a:p>
                      <a:pPr lvl="0"/>
                      <a:r>
                        <a:rPr lang="en-US" sz="1400" b="1" kern="1200" dirty="0">
                          <a:solidFill>
                            <a:schemeClr val="lt1"/>
                          </a:solidFill>
                          <a:effectLst/>
                          <a:latin typeface="+mn-lt"/>
                          <a:ea typeface="+mn-ea"/>
                          <a:cs typeface="+mn-cs"/>
                        </a:rPr>
                        <a:t>Rational objects should not be modified by any of the methods</a:t>
                      </a:r>
                    </a:p>
                    <a:p>
                      <a:pPr lvl="0"/>
                      <a:r>
                        <a:rPr lang="en-US" sz="1400" b="1" kern="1200" dirty="0" err="1">
                          <a:solidFill>
                            <a:schemeClr val="lt1"/>
                          </a:solidFill>
                          <a:effectLst/>
                          <a:latin typeface="+mn-lt"/>
                          <a:ea typeface="+mn-ea"/>
                          <a:cs typeface="+mn-cs"/>
                        </a:rPr>
                        <a:t>toString</a:t>
                      </a:r>
                      <a:r>
                        <a:rPr lang="en-US" sz="1400" b="1" kern="1200" dirty="0">
                          <a:solidFill>
                            <a:schemeClr val="lt1"/>
                          </a:solidFill>
                          <a:effectLst/>
                          <a:latin typeface="+mn-lt"/>
                          <a:ea typeface="+mn-ea"/>
                          <a:cs typeface="+mn-cs"/>
                        </a:rPr>
                        <a:t>() format is  “numerator/denominator”</a:t>
                      </a:r>
                    </a:p>
                    <a:p>
                      <a:endParaRPr lang="en-US" sz="1400" dirty="0"/>
                    </a:p>
                  </a:txBody>
                  <a:tcPr marL="68580" marR="68580" marT="34290" marB="3429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137161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lang="en-US" dirty="0"/>
                  <a:t>Given n, write a program that will compute the following summation series using the Rational class.  output should be as follows:</a:t>
                </a:r>
              </a:p>
              <a:p>
                <a:pPr marL="0" indent="0">
                  <a:buNone/>
                </a:pPr>
                <a:r>
                  <a:rPr lang="en-US" dirty="0"/>
                  <a:t> </a:t>
                </a:r>
              </a:p>
              <a:p>
                <a:pPr marL="0" indent="0">
                  <a:buNone/>
                </a:pP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i="1" smtClean="0">
                            <a:latin typeface="Cambria Math" panose="02040503050406030204" pitchFamily="18" charset="0"/>
                          </a:rPr>
                          <m:t>1</m:t>
                        </m:r>
                      </m:den>
                    </m:f>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i="1" smtClean="0">
                            <a:latin typeface="Cambria Math" panose="02040503050406030204" pitchFamily="18" charset="0"/>
                          </a:rPr>
                          <m:t>2</m:t>
                        </m:r>
                      </m:den>
                    </m:f>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r>
                      <a:rPr lang="en-US" i="1" smtClean="0">
                        <a:latin typeface="Cambria Math" panose="02040503050406030204" pitchFamily="18" charset="0"/>
                      </a:rPr>
                      <m:t>…</m:t>
                    </m:r>
                  </m:oMath>
                </a14:m>
                <a:r>
                  <a:rPr lang="en-US" dirty="0"/>
                  <a: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oMath>
                </a14:m>
                <a:r>
                  <a:rPr lang="en-US" dirty="0"/>
                  <a:t> = result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5206911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Given n Rational numbers, find the maximum</a:t>
            </a:r>
          </a:p>
        </p:txBody>
      </p:sp>
    </p:spTree>
    <p:extLst>
      <p:ext uri="{BB962C8B-B14F-4D97-AF65-F5344CB8AC3E}">
        <p14:creationId xmlns:p14="http://schemas.microsoft.com/office/powerpoint/2010/main" val="2192944643"/>
      </p:ext>
    </p:extLst>
  </p:cSld>
  <p:clrMapOvr>
    <a:masterClrMapping/>
  </p:clrMapOvr>
</p:sld>
</file>

<file path=ppt/theme/theme1.xml><?xml version="1.0" encoding="utf-8"?>
<a:theme xmlns:a="http://schemas.openxmlformats.org/drawingml/2006/main" name="Default Design">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4647</TotalTime>
  <Words>2611</Words>
  <Application>Microsoft Office PowerPoint</Application>
  <PresentationFormat>On-screen Show (4:3)</PresentationFormat>
  <Paragraphs>300</Paragraphs>
  <Slides>40</Slides>
  <Notes>17</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2</vt:i4>
      </vt:variant>
      <vt:variant>
        <vt:lpstr>Slide Titles</vt:lpstr>
      </vt:variant>
      <vt:variant>
        <vt:i4>40</vt:i4>
      </vt:variant>
    </vt:vector>
  </HeadingPairs>
  <TitlesOfParts>
    <vt:vector size="56" baseType="lpstr">
      <vt:lpstr>Arial</vt:lpstr>
      <vt:lpstr>Arial Unicode MS</vt:lpstr>
      <vt:lpstr>Book Antiqua</vt:lpstr>
      <vt:lpstr>Calibri</vt:lpstr>
      <vt:lpstr>Cambria Math</vt:lpstr>
      <vt:lpstr>Consolas</vt:lpstr>
      <vt:lpstr>Courier</vt:lpstr>
      <vt:lpstr>Courier New</vt:lpstr>
      <vt:lpstr>Monotype Sorts</vt:lpstr>
      <vt:lpstr>Noto Sans Symbols</vt:lpstr>
      <vt:lpstr>Times New Roman</vt:lpstr>
      <vt:lpstr>Verdana</vt:lpstr>
      <vt:lpstr>Wingdings</vt:lpstr>
      <vt:lpstr>Default Design</vt:lpstr>
      <vt:lpstr>Microsoft Word Picture</vt:lpstr>
      <vt:lpstr>Picture</vt:lpstr>
      <vt:lpstr>Introduction to Java Programming and Data Structures</vt:lpstr>
      <vt:lpstr>Motivations</vt:lpstr>
      <vt:lpstr>Objectives (1 of 2)</vt:lpstr>
      <vt:lpstr>Objectives (2 of 2)</vt:lpstr>
      <vt:lpstr>Classes</vt:lpstr>
      <vt:lpstr>Classes and Instances</vt:lpstr>
      <vt:lpstr>Objects and Programs</vt:lpstr>
      <vt:lpstr>Objects</vt:lpstr>
      <vt:lpstr>Classes (2 of 2)</vt:lpstr>
      <vt:lpstr>Diagram of a Class</vt:lpstr>
      <vt:lpstr>An access modifier is a Java key word that indicates how a field or method can be accessed. </vt:lpstr>
      <vt:lpstr>U M L Class Diagram</vt:lpstr>
      <vt:lpstr>Designing a Class</vt:lpstr>
      <vt:lpstr>UML Class Diagram</vt:lpstr>
      <vt:lpstr>Attributes</vt:lpstr>
      <vt:lpstr>Methods</vt:lpstr>
      <vt:lpstr>Methods</vt:lpstr>
      <vt:lpstr>Stale Data</vt:lpstr>
      <vt:lpstr>UML Data Type and Parameter Notation</vt:lpstr>
      <vt:lpstr>The UML Diagram for Rectangle class</vt:lpstr>
      <vt:lpstr>A Driver Program</vt:lpstr>
      <vt:lpstr>Constructors</vt:lpstr>
      <vt:lpstr>Constructors in UML</vt:lpstr>
      <vt:lpstr>The Random Class</vt:lpstr>
      <vt:lpstr>Static Variables, Constants, and Methods</vt:lpstr>
      <vt:lpstr>Example of Data Field Encapsulation</vt:lpstr>
      <vt:lpstr>Example of Data Field Encapsulation</vt:lpstr>
      <vt:lpstr>The this Keyword </vt:lpstr>
      <vt:lpstr>Reference the Hidden Data Fields</vt:lpstr>
      <vt:lpstr>Scope of Variables</vt:lpstr>
      <vt:lpstr>Calling Overloaded Constructor</vt:lpstr>
      <vt:lpstr>Passing Objects to Methods</vt:lpstr>
      <vt:lpstr>Passing Objects to Methods, cont.</vt:lpstr>
      <vt:lpstr>Array of Objects</vt:lpstr>
      <vt:lpstr>Array of Objects, cont.</vt:lpstr>
      <vt:lpstr>Array of Objects, cont.</vt:lpstr>
      <vt:lpstr>PowerPoint Presentation</vt:lpstr>
      <vt:lpstr>Rational Numbers UML</vt:lpstr>
      <vt:lpstr>PowerPoint Presentation</vt:lpstr>
      <vt:lpstr>PowerPoint Presentation</vt:lpstr>
    </vt:vector>
  </TitlesOfParts>
  <Company>Technetrain.com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Objects and Classes</dc:title>
  <dc:subject>Java for Everyone 2e</dc:subject>
  <dc:creator>Donald W. Smith</dc:creator>
  <dc:description>Based on bjlo_ch08_8.pdf</dc:description>
  <cp:lastModifiedBy>Zartoshty, Bahram</cp:lastModifiedBy>
  <cp:revision>305</cp:revision>
  <cp:lastPrinted>2019-06-22T19:04:53Z</cp:lastPrinted>
  <dcterms:created xsi:type="dcterms:W3CDTF">2007-02-01T21:32:19Z</dcterms:created>
  <dcterms:modified xsi:type="dcterms:W3CDTF">2025-04-16T17:18:00Z</dcterms:modified>
  <cp:contentStatus>Final Draft</cp:contentStatus>
</cp:coreProperties>
</file>