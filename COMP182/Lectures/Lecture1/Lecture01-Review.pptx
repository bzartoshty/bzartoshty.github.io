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4"/>
  </p:notesMasterIdLst>
  <p:sldIdLst>
    <p:sldId id="291" r:id="rId2"/>
    <p:sldId id="449" r:id="rId3"/>
    <p:sldId id="450" r:id="rId4"/>
    <p:sldId id="411" r:id="rId5"/>
    <p:sldId id="451" r:id="rId6"/>
    <p:sldId id="440" r:id="rId7"/>
    <p:sldId id="447" r:id="rId8"/>
    <p:sldId id="688" r:id="rId9"/>
    <p:sldId id="452" r:id="rId10"/>
    <p:sldId id="454" r:id="rId11"/>
    <p:sldId id="687" r:id="rId12"/>
    <p:sldId id="456" r:id="rId13"/>
    <p:sldId id="458" r:id="rId14"/>
    <p:sldId id="459" r:id="rId15"/>
    <p:sldId id="460" r:id="rId16"/>
    <p:sldId id="461" r:id="rId17"/>
    <p:sldId id="522" r:id="rId18"/>
    <p:sldId id="523" r:id="rId19"/>
    <p:sldId id="433" r:id="rId20"/>
    <p:sldId id="414" r:id="rId21"/>
    <p:sldId id="415" r:id="rId22"/>
    <p:sldId id="417" r:id="rId23"/>
    <p:sldId id="408" r:id="rId24"/>
    <p:sldId id="418" r:id="rId25"/>
    <p:sldId id="419" r:id="rId26"/>
    <p:sldId id="420" r:id="rId27"/>
    <p:sldId id="421" r:id="rId28"/>
    <p:sldId id="422" r:id="rId29"/>
    <p:sldId id="423" r:id="rId30"/>
    <p:sldId id="424" r:id="rId31"/>
    <p:sldId id="425" r:id="rId32"/>
    <p:sldId id="432" r:id="rId33"/>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912">
          <p15:clr>
            <a:srgbClr val="A4A3A4"/>
          </p15:clr>
        </p15:guide>
        <p15:guide id="2" pos="30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9C7E5"/>
    <a:srgbClr val="EDF6F7"/>
    <a:srgbClr val="36552D"/>
    <a:srgbClr val="548446"/>
    <a:srgbClr val="85C555"/>
    <a:srgbClr val="953A1F"/>
    <a:srgbClr val="27333F"/>
    <a:srgbClr val="E7BA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53" d="100"/>
          <a:sy n="153" d="100"/>
        </p:scale>
        <p:origin x="4572" y="132"/>
      </p:cViewPr>
      <p:guideLst>
        <p:guide orient="horz" pos="912"/>
        <p:guide pos="30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888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901E600-A96C-4863-98A7-8FEBCE02E9F9}"/>
              </a:ext>
            </a:extLst>
          </p:cNvPr>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Times"/>
              </a:defRPr>
            </a:lvl1pPr>
          </a:lstStyle>
          <a:p>
            <a:pPr>
              <a:defRPr/>
            </a:pPr>
            <a:endParaRPr lang="en-US"/>
          </a:p>
        </p:txBody>
      </p:sp>
      <p:sp>
        <p:nvSpPr>
          <p:cNvPr id="4099" name="Rectangle 3">
            <a:extLst>
              <a:ext uri="{FF2B5EF4-FFF2-40B4-BE49-F238E27FC236}">
                <a16:creationId xmlns:a16="http://schemas.microsoft.com/office/drawing/2014/main" id="{6E68E7D4-A118-40CA-AA21-E3C698A38247}"/>
              </a:ext>
            </a:extLst>
          </p:cNvPr>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a:defRPr>
            </a:lvl1pPr>
          </a:lstStyle>
          <a:p>
            <a:pPr>
              <a:defRPr/>
            </a:pPr>
            <a:endParaRPr lang="en-US"/>
          </a:p>
        </p:txBody>
      </p:sp>
      <p:sp>
        <p:nvSpPr>
          <p:cNvPr id="3076" name="Rectangle 4">
            <a:extLst>
              <a:ext uri="{FF2B5EF4-FFF2-40B4-BE49-F238E27FC236}">
                <a16:creationId xmlns:a16="http://schemas.microsoft.com/office/drawing/2014/main" id="{D5A0E358-22F3-48E6-8980-399CE3DC8399}"/>
              </a:ext>
            </a:extLst>
          </p:cNvPr>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9998950A-0736-4A8A-A14D-82E41203C021}"/>
              </a:ext>
            </a:extLst>
          </p:cNvPr>
          <p:cNvSpPr>
            <a:spLocks noGrp="1" noChangeArrowheads="1"/>
          </p:cNvSpPr>
          <p:nvPr>
            <p:ph type="body" sz="quarter" idx="3"/>
          </p:nvPr>
        </p:nvSpPr>
        <p:spPr bwMode="auto">
          <a:xfrm>
            <a:off x="934720" y="4415790"/>
            <a:ext cx="514096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1171BA01-EC05-4CBD-9CE7-B213A418D138}"/>
              </a:ext>
            </a:extLst>
          </p:cNvPr>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Times"/>
              </a:defRPr>
            </a:lvl1pPr>
          </a:lstStyle>
          <a:p>
            <a:pPr>
              <a:defRPr/>
            </a:pPr>
            <a:endParaRPr lang="en-US"/>
          </a:p>
        </p:txBody>
      </p:sp>
      <p:sp>
        <p:nvSpPr>
          <p:cNvPr id="4103" name="Rectangle 7">
            <a:extLst>
              <a:ext uri="{FF2B5EF4-FFF2-40B4-BE49-F238E27FC236}">
                <a16:creationId xmlns:a16="http://schemas.microsoft.com/office/drawing/2014/main" id="{E5A8C80F-4E1B-4BE5-9029-3ACD65A3A038}"/>
              </a:ext>
            </a:extLst>
          </p:cNvPr>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vl1pPr>
          </a:lstStyle>
          <a:p>
            <a:pPr>
              <a:defRPr/>
            </a:pPr>
            <a:fld id="{12B8EE83-7329-4CA9-A564-0A7FA3254A9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iveexample.pearsoncmg.com/html/DeckOfCards.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iveexample.pearsoncmg.com/html/DeckOfCards.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liveexample.pearsoncmg.com/html/PassTwoDimensionalArray.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BB4E3D95-7539-409E-ADBC-72A7D6CB02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57066" indent="-291179">
              <a:defRPr sz="2400">
                <a:solidFill>
                  <a:schemeClr val="tx1"/>
                </a:solidFill>
                <a:latin typeface="Times" panose="02020603050405020304" pitchFamily="18" charset="0"/>
              </a:defRPr>
            </a:lvl2pPr>
            <a:lvl3pPr marL="1164717" indent="-232943">
              <a:defRPr sz="2400">
                <a:solidFill>
                  <a:schemeClr val="tx1"/>
                </a:solidFill>
                <a:latin typeface="Times" panose="02020603050405020304" pitchFamily="18" charset="0"/>
              </a:defRPr>
            </a:lvl3pPr>
            <a:lvl4pPr marL="1630604" indent="-232943">
              <a:defRPr sz="2400">
                <a:solidFill>
                  <a:schemeClr val="tx1"/>
                </a:solidFill>
                <a:latin typeface="Times" panose="02020603050405020304" pitchFamily="18" charset="0"/>
              </a:defRPr>
            </a:lvl4pPr>
            <a:lvl5pPr marL="2096491" indent="-232943">
              <a:defRPr sz="2400">
                <a:solidFill>
                  <a:schemeClr val="tx1"/>
                </a:solidFill>
                <a:latin typeface="Times" panose="02020603050405020304" pitchFamily="18" charset="0"/>
              </a:defRPr>
            </a:lvl5pPr>
            <a:lvl6pPr marL="2562377" indent="-232943" eaLnBrk="0" fontAlgn="base" hangingPunct="0">
              <a:spcBef>
                <a:spcPct val="0"/>
              </a:spcBef>
              <a:spcAft>
                <a:spcPct val="0"/>
              </a:spcAft>
              <a:defRPr sz="2400">
                <a:solidFill>
                  <a:schemeClr val="tx1"/>
                </a:solidFill>
                <a:latin typeface="Times" panose="02020603050405020304" pitchFamily="18" charset="0"/>
              </a:defRPr>
            </a:lvl6pPr>
            <a:lvl7pPr marL="3028264" indent="-232943" eaLnBrk="0" fontAlgn="base" hangingPunct="0">
              <a:spcBef>
                <a:spcPct val="0"/>
              </a:spcBef>
              <a:spcAft>
                <a:spcPct val="0"/>
              </a:spcAft>
              <a:defRPr sz="2400">
                <a:solidFill>
                  <a:schemeClr val="tx1"/>
                </a:solidFill>
                <a:latin typeface="Times" panose="02020603050405020304" pitchFamily="18" charset="0"/>
              </a:defRPr>
            </a:lvl7pPr>
            <a:lvl8pPr marL="3494151" indent="-232943" eaLnBrk="0" fontAlgn="base" hangingPunct="0">
              <a:spcBef>
                <a:spcPct val="0"/>
              </a:spcBef>
              <a:spcAft>
                <a:spcPct val="0"/>
              </a:spcAft>
              <a:defRPr sz="2400">
                <a:solidFill>
                  <a:schemeClr val="tx1"/>
                </a:solidFill>
                <a:latin typeface="Times" panose="02020603050405020304" pitchFamily="18" charset="0"/>
              </a:defRPr>
            </a:lvl8pPr>
            <a:lvl9pPr marL="3960038" indent="-232943" eaLnBrk="0" fontAlgn="base" hangingPunct="0">
              <a:spcBef>
                <a:spcPct val="0"/>
              </a:spcBef>
              <a:spcAft>
                <a:spcPct val="0"/>
              </a:spcAft>
              <a:defRPr sz="2400">
                <a:solidFill>
                  <a:schemeClr val="tx1"/>
                </a:solidFill>
                <a:latin typeface="Times" panose="02020603050405020304" pitchFamily="18" charset="0"/>
              </a:defRPr>
            </a:lvl9pPr>
          </a:lstStyle>
          <a:p>
            <a:fld id="{14A81851-B3F4-493C-B4A6-FC53C5304ED9}" type="slidenum">
              <a:rPr lang="en-US" altLang="en-US" sz="1200"/>
              <a:pPr/>
              <a:t>1</a:t>
            </a:fld>
            <a:endParaRPr lang="en-US" altLang="en-US" sz="1200"/>
          </a:p>
        </p:txBody>
      </p:sp>
      <p:sp>
        <p:nvSpPr>
          <p:cNvPr id="5123" name="Rectangle 2">
            <a:extLst>
              <a:ext uri="{FF2B5EF4-FFF2-40B4-BE49-F238E27FC236}">
                <a16:creationId xmlns:a16="http://schemas.microsoft.com/office/drawing/2014/main" id="{92145C6F-5165-428F-899A-C482612AD64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71EA798F-BB66-4E0D-86B0-AC4A6F5E5A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2</a:t>
            </a:fld>
            <a:endParaRPr lang="en-US" altLang="en-US"/>
          </a:p>
        </p:txBody>
      </p:sp>
    </p:spTree>
    <p:extLst>
      <p:ext uri="{BB962C8B-B14F-4D97-AF65-F5344CB8AC3E}">
        <p14:creationId xmlns:p14="http://schemas.microsoft.com/office/powerpoint/2010/main" val="3672025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3</a:t>
            </a:fld>
            <a:endParaRPr lang="en-US" altLang="en-US"/>
          </a:p>
        </p:txBody>
      </p:sp>
    </p:spTree>
    <p:extLst>
      <p:ext uri="{BB962C8B-B14F-4D97-AF65-F5344CB8AC3E}">
        <p14:creationId xmlns:p14="http://schemas.microsoft.com/office/powerpoint/2010/main" val="1489245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list of arrays is </a:t>
            </a:r>
            <a:r>
              <a:rPr lang="en-IN" dirty="0" err="1"/>
              <a:t>labeled</a:t>
            </a:r>
            <a:r>
              <a:rPr lang="en-IN" dirty="0"/>
              <a:t> as Array element at index 5. My list is </a:t>
            </a:r>
            <a:r>
              <a:rPr lang="en-IN" dirty="0" err="1"/>
              <a:t>labeled</a:t>
            </a:r>
            <a:r>
              <a:rPr lang="en-IN" dirty="0"/>
              <a:t> as Array reference variable, with an Element value against each array variable.</a:t>
            </a:r>
          </a:p>
          <a:p>
            <a:r>
              <a:rPr lang="en-IN" dirty="0"/>
              <a:t>Array list, Element value</a:t>
            </a:r>
          </a:p>
          <a:p>
            <a:r>
              <a:rPr lang="en-IN" dirty="0"/>
              <a:t>my list open bracket 0 close bracket, 5.6</a:t>
            </a:r>
          </a:p>
          <a:p>
            <a:r>
              <a:rPr lang="en-IN" dirty="0"/>
              <a:t>my list open bracket 1 close bracket, 4.5</a:t>
            </a:r>
          </a:p>
          <a:p>
            <a:r>
              <a:rPr lang="en-IN" dirty="0"/>
              <a:t>my list open bracket 2 close bracket, 3.3</a:t>
            </a:r>
          </a:p>
          <a:p>
            <a:r>
              <a:rPr lang="en-IN" dirty="0"/>
              <a:t>my list open bracket 3 close bracket, 13.2</a:t>
            </a:r>
          </a:p>
          <a:p>
            <a:r>
              <a:rPr lang="en-IN" dirty="0"/>
              <a:t>my list open bracket 4 close bracket, 4.0</a:t>
            </a:r>
          </a:p>
          <a:p>
            <a:r>
              <a:rPr lang="en-IN" dirty="0"/>
              <a:t>my list open bracket 5 close bracket, 34.33</a:t>
            </a:r>
          </a:p>
          <a:p>
            <a:r>
              <a:rPr lang="en-IN" dirty="0"/>
              <a:t>my list open bracket 6 close bracket, 34.0</a:t>
            </a:r>
          </a:p>
          <a:p>
            <a:r>
              <a:rPr lang="en-IN" dirty="0"/>
              <a:t>my list open bracket 7 close bracket, 45.45</a:t>
            </a:r>
          </a:p>
          <a:p>
            <a:r>
              <a:rPr lang="en-IN" dirty="0"/>
              <a:t>my list open bracket 8 close bracket, 99.993</a:t>
            </a:r>
          </a:p>
          <a:p>
            <a:r>
              <a:rPr lang="en-IN" dirty="0"/>
              <a:t>my list open bracket 9 close bracket, 11123</a:t>
            </a:r>
          </a:p>
        </p:txBody>
      </p:sp>
      <p:sp>
        <p:nvSpPr>
          <p:cNvPr id="4" name="Slide Number Placeholder 3"/>
          <p:cNvSpPr>
            <a:spLocks noGrp="1"/>
          </p:cNvSpPr>
          <p:nvPr>
            <p:ph type="sldNum" idx="10"/>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4</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32107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5</a:t>
            </a:fld>
            <a:endParaRPr lang="en-US" altLang="en-US"/>
          </a:p>
        </p:txBody>
      </p:sp>
    </p:spTree>
    <p:extLst>
      <p:ext uri="{BB962C8B-B14F-4D97-AF65-F5344CB8AC3E}">
        <p14:creationId xmlns:p14="http://schemas.microsoft.com/office/powerpoint/2010/main" val="1669494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6</a:t>
            </a:fld>
            <a:endParaRPr lang="en-US" altLang="en-US"/>
          </a:p>
        </p:txBody>
      </p:sp>
    </p:spTree>
    <p:extLst>
      <p:ext uri="{BB962C8B-B14F-4D97-AF65-F5344CB8AC3E}">
        <p14:creationId xmlns:p14="http://schemas.microsoft.com/office/powerpoint/2010/main" val="3515002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7</a:t>
            </a:fld>
            <a:endParaRPr lang="en-US" altLang="en-US"/>
          </a:p>
        </p:txBody>
      </p:sp>
    </p:spTree>
    <p:extLst>
      <p:ext uri="{BB962C8B-B14F-4D97-AF65-F5344CB8AC3E}">
        <p14:creationId xmlns:p14="http://schemas.microsoft.com/office/powerpoint/2010/main" val="3039538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8</a:t>
            </a:fld>
            <a:endParaRPr lang="en-US" altLang="en-US"/>
          </a:p>
        </p:txBody>
      </p:sp>
    </p:spTree>
    <p:extLst>
      <p:ext uri="{BB962C8B-B14F-4D97-AF65-F5344CB8AC3E}">
        <p14:creationId xmlns:p14="http://schemas.microsoft.com/office/powerpoint/2010/main" val="516045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9</a:t>
            </a:fld>
            <a:endParaRPr lang="en-US" altLang="en-US"/>
          </a:p>
        </p:txBody>
      </p:sp>
    </p:spTree>
    <p:extLst>
      <p:ext uri="{BB962C8B-B14F-4D97-AF65-F5344CB8AC3E}">
        <p14:creationId xmlns:p14="http://schemas.microsoft.com/office/powerpoint/2010/main" val="3983470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DeckOfCards</a:t>
            </a:r>
            <a:r>
              <a:rPr lang="en-IN" dirty="0"/>
              <a:t>: </a:t>
            </a:r>
            <a:r>
              <a:rPr lang="en-IN" dirty="0">
                <a:hlinkClick r:id="rId3"/>
              </a:rPr>
              <a:t>https://liveexample.pearsoncmg.com/html/DeckOfCards.html</a:t>
            </a:r>
            <a:endParaRPr lang="en-IN" dirty="0"/>
          </a:p>
        </p:txBody>
      </p:sp>
      <p:sp>
        <p:nvSpPr>
          <p:cNvPr id="4" name="Slide Number Placeholder 3"/>
          <p:cNvSpPr>
            <a:spLocks noGrp="1"/>
          </p:cNvSpPr>
          <p:nvPr>
            <p:ph type="sldNum" idx="12"/>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10</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0793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first column shows 0, vertical ellipses, 12 combined together as 13 spades. The column further goes down to 13, vertical ellipses, 25, combined together as 13 hearts. Going down further the column to 26, vertical ellipses, 38, combined together as 13 diamonds. The last part of this column is from 39, vertical ellipses to 51, combined together as 13 clubs.</a:t>
            </a:r>
          </a:p>
          <a:p>
            <a:r>
              <a:rPr lang="en-IN" dirty="0"/>
              <a:t>The second column shows deck as open bracket 0 close bracket, 0, vertical ellipses, open bracket 12, 12, open bracket 13 close bracket, vertical ellipses, open bracket 25 close bracket, 25, open bracket 26 close bracket, vertical ellipses, open bracket 38 close bracket, open bracket 39 close bracket, vertical ellipses open bracket 51 close bracket.</a:t>
            </a:r>
          </a:p>
          <a:p>
            <a:r>
              <a:rPr lang="en-IN" dirty="0"/>
              <a:t>The third column shows a deck</a:t>
            </a:r>
          </a:p>
          <a:p>
            <a:r>
              <a:rPr lang="en-IN" dirty="0"/>
              <a:t>open bracket 0 close bracket, 6, </a:t>
            </a:r>
            <a:r>
              <a:rPr lang="en-IN" dirty="0" err="1"/>
              <a:t>labeled</a:t>
            </a:r>
            <a:r>
              <a:rPr lang="en-IN" dirty="0"/>
              <a:t> with Card number 6 is the 7 open parenthesis 6 % 13 = 6 close parenthesis of spades open parenthesis 7 over 13 is 0.</a:t>
            </a:r>
          </a:p>
          <a:p>
            <a:r>
              <a:rPr lang="en-IN" dirty="0"/>
              <a:t>Open bracket 1 close bracket, 48, </a:t>
            </a:r>
            <a:r>
              <a:rPr lang="en-IN" dirty="0" err="1"/>
              <a:t>labeled</a:t>
            </a:r>
            <a:r>
              <a:rPr lang="en-IN" dirty="0"/>
              <a:t> as Card number 48 is the 10 open parenthesis 48 % 13 = 9 close parenthesis of clubs open parenthesis 48 over 13 is 3 close parenthesis.</a:t>
            </a:r>
          </a:p>
          <a:p>
            <a:r>
              <a:rPr lang="en-IN" dirty="0"/>
              <a:t>Open bracket 2 close bracket, 11 is </a:t>
            </a:r>
            <a:r>
              <a:rPr lang="en-IN" dirty="0" err="1"/>
              <a:t>labeled</a:t>
            </a:r>
            <a:r>
              <a:rPr lang="en-IN" dirty="0"/>
              <a:t> as Card number 11 is the queen open parenthesis 11 % 13 = 11 close parenthesis of spades open parenthesis 11 over 13 is 0 close parenthesis.</a:t>
            </a:r>
          </a:p>
          <a:p>
            <a:r>
              <a:rPr lang="en-IN" dirty="0"/>
              <a:t>open parenthesis 3 close parenthesis, 24 is </a:t>
            </a:r>
            <a:r>
              <a:rPr lang="en-IN" dirty="0" err="1"/>
              <a:t>labeled</a:t>
            </a:r>
            <a:r>
              <a:rPr lang="en-IN" dirty="0"/>
              <a:t> as Card number 24 is the queen open parenthesis 24 % 13 = 11 close parenthesis of hearts open parenthesis 24 over 13 is 1 close parenthesis.</a:t>
            </a:r>
          </a:p>
          <a:p>
            <a:r>
              <a:rPr lang="en-IN" dirty="0"/>
              <a:t>Vertical ellipses.</a:t>
            </a:r>
          </a:p>
          <a:p>
            <a:r>
              <a:rPr lang="en-IN" dirty="0"/>
              <a:t>An arrow points from second column to third column. The arrow is </a:t>
            </a:r>
            <a:r>
              <a:rPr lang="en-IN" dirty="0" err="1"/>
              <a:t>labeled</a:t>
            </a:r>
            <a:r>
              <a:rPr lang="en-IN" dirty="0"/>
              <a:t> as Random shuffle.</a:t>
            </a:r>
          </a:p>
        </p:txBody>
      </p:sp>
      <p:sp>
        <p:nvSpPr>
          <p:cNvPr id="4" name="Slide Number Placeholder 3"/>
          <p:cNvSpPr>
            <a:spLocks noGrp="1"/>
          </p:cNvSpPr>
          <p:nvPr>
            <p:ph type="sldNum" idx="10"/>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11</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69436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DeckOfCards</a:t>
            </a:r>
            <a:r>
              <a:rPr lang="en-IN" dirty="0"/>
              <a:t>: </a:t>
            </a:r>
            <a:r>
              <a:rPr lang="en-IN" dirty="0">
                <a:hlinkClick r:id="rId3"/>
              </a:rPr>
              <a:t>https://liveexample.pearsoncmg.com/html/DeckOfCards.html</a:t>
            </a:r>
            <a:endParaRPr lang="en-IN" dirty="0"/>
          </a:p>
        </p:txBody>
      </p:sp>
      <p:sp>
        <p:nvSpPr>
          <p:cNvPr id="4" name="Slide Number Placeholder 3"/>
          <p:cNvSpPr>
            <a:spLocks noGrp="1"/>
          </p:cNvSpPr>
          <p:nvPr>
            <p:ph type="sldNum" idx="10"/>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12</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7893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13</a:t>
            </a:fld>
            <a:endParaRPr lang="en-US" altLang="en-US"/>
          </a:p>
        </p:txBody>
      </p:sp>
    </p:spTree>
    <p:extLst>
      <p:ext uri="{BB962C8B-B14F-4D97-AF65-F5344CB8AC3E}">
        <p14:creationId xmlns:p14="http://schemas.microsoft.com/office/powerpoint/2010/main" val="2862058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14</a:t>
            </a:fld>
            <a:endParaRPr lang="en-US" altLang="en-US"/>
          </a:p>
        </p:txBody>
      </p:sp>
    </p:spTree>
    <p:extLst>
      <p:ext uri="{BB962C8B-B14F-4D97-AF65-F5344CB8AC3E}">
        <p14:creationId xmlns:p14="http://schemas.microsoft.com/office/powerpoint/2010/main" val="807038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15</a:t>
            </a:fld>
            <a:endParaRPr lang="en-US" altLang="en-US"/>
          </a:p>
        </p:txBody>
      </p:sp>
    </p:spTree>
    <p:extLst>
      <p:ext uri="{BB962C8B-B14F-4D97-AF65-F5344CB8AC3E}">
        <p14:creationId xmlns:p14="http://schemas.microsoft.com/office/powerpoint/2010/main" val="356238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static void print Array open parenthesis </a:t>
            </a:r>
            <a:r>
              <a:rPr lang="en-IN" dirty="0" err="1"/>
              <a:t>int</a:t>
            </a:r>
            <a:r>
              <a:rPr lang="en-IN" dirty="0"/>
              <a:t> open and close brackets array close parenthesis open brace for open parenthesis </a:t>
            </a:r>
            <a:r>
              <a:rPr lang="en-IN" dirty="0" err="1"/>
              <a:t>int</a:t>
            </a:r>
            <a:r>
              <a:rPr lang="en-IN" dirty="0"/>
              <a:t> </a:t>
            </a:r>
            <a:r>
              <a:rPr lang="en-IN" dirty="0" err="1"/>
              <a:t>i</a:t>
            </a:r>
            <a:r>
              <a:rPr lang="en-IN" dirty="0"/>
              <a:t> = 0; </a:t>
            </a:r>
            <a:r>
              <a:rPr lang="en-IN" dirty="0" err="1"/>
              <a:t>i</a:t>
            </a:r>
            <a:r>
              <a:rPr lang="en-IN" dirty="0"/>
              <a:t> less than array. Length; </a:t>
            </a:r>
            <a:r>
              <a:rPr lang="en-IN" dirty="0" err="1"/>
              <a:t>i</a:t>
            </a:r>
            <a:r>
              <a:rPr lang="en-IN" dirty="0"/>
              <a:t> plus </a:t>
            </a:r>
            <a:r>
              <a:rPr lang="en-IN" dirty="0" err="1"/>
              <a:t>plus</a:t>
            </a:r>
            <a:r>
              <a:rPr lang="en-IN" dirty="0"/>
              <a:t> close parenthesis open brace </a:t>
            </a:r>
            <a:r>
              <a:rPr lang="en-IN" dirty="0" err="1"/>
              <a:t>System.out.print</a:t>
            </a:r>
            <a:r>
              <a:rPr lang="en-IN" dirty="0"/>
              <a:t> open parenthesis array open bracket </a:t>
            </a:r>
            <a:r>
              <a:rPr lang="en-IN" dirty="0" err="1"/>
              <a:t>i</a:t>
            </a:r>
            <a:r>
              <a:rPr lang="en-IN" dirty="0"/>
              <a:t> close bracket plus open double quotes close double quotes close parenthesis; </a:t>
            </a:r>
          </a:p>
          <a:p>
            <a:r>
              <a:rPr lang="en-IN" dirty="0"/>
              <a:t>Invoke the method</a:t>
            </a:r>
          </a:p>
          <a:p>
            <a:r>
              <a:rPr lang="en-IN" dirty="0" err="1"/>
              <a:t>int</a:t>
            </a:r>
            <a:r>
              <a:rPr lang="en-IN" dirty="0"/>
              <a:t> open and close brackets list = open brace 3, 1, 2, 6, 4, 2 close brace; print Array open parenthesis list close parenthesis. Invoke the method print Array open parenthesis new </a:t>
            </a:r>
            <a:r>
              <a:rPr lang="en-IN" dirty="0" err="1"/>
              <a:t>int</a:t>
            </a:r>
            <a:r>
              <a:rPr lang="en-IN" dirty="0"/>
              <a:t> open and close brackets open brace 3, 1, 2, 6, 4, 2 close brace close parenthesis. The numbers are </a:t>
            </a:r>
            <a:r>
              <a:rPr lang="en-IN" dirty="0" err="1"/>
              <a:t>labeled</a:t>
            </a:r>
            <a:r>
              <a:rPr lang="en-IN" dirty="0"/>
              <a:t> as Anonymous array. array in the first line is connected to print Array open parenthesis list close parenthesis. Array in the first line is also connected to anonymous array in the last line.</a:t>
            </a:r>
          </a:p>
        </p:txBody>
      </p:sp>
      <p:sp>
        <p:nvSpPr>
          <p:cNvPr id="4" name="Slide Number Placeholder 3"/>
          <p:cNvSpPr>
            <a:spLocks noGrp="1"/>
          </p:cNvSpPr>
          <p:nvPr>
            <p:ph type="sldNum" idx="10"/>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16</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77624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17</a:t>
            </a:fld>
            <a:endParaRPr lang="en-US" altLang="en-US"/>
          </a:p>
        </p:txBody>
      </p:sp>
    </p:spTree>
    <p:extLst>
      <p:ext uri="{BB962C8B-B14F-4D97-AF65-F5344CB8AC3E}">
        <p14:creationId xmlns:p14="http://schemas.microsoft.com/office/powerpoint/2010/main" val="22038905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18</a:t>
            </a:fld>
            <a:endParaRPr lang="en-US" altLang="en-US"/>
          </a:p>
        </p:txBody>
      </p:sp>
    </p:spTree>
    <p:extLst>
      <p:ext uri="{BB962C8B-B14F-4D97-AF65-F5344CB8AC3E}">
        <p14:creationId xmlns:p14="http://schemas.microsoft.com/office/powerpoint/2010/main" val="2647619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19</a:t>
            </a:fld>
            <a:endParaRPr lang="en-US" altLang="en-US"/>
          </a:p>
        </p:txBody>
      </p:sp>
    </p:spTree>
    <p:extLst>
      <p:ext uri="{BB962C8B-B14F-4D97-AF65-F5344CB8AC3E}">
        <p14:creationId xmlns:p14="http://schemas.microsoft.com/office/powerpoint/2010/main" val="36059117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20</a:t>
            </a:fld>
            <a:endParaRPr lang="en-US" altLang="en-US"/>
          </a:p>
        </p:txBody>
      </p:sp>
    </p:spTree>
    <p:extLst>
      <p:ext uri="{BB962C8B-B14F-4D97-AF65-F5344CB8AC3E}">
        <p14:creationId xmlns:p14="http://schemas.microsoft.com/office/powerpoint/2010/main" val="1308426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21</a:t>
            </a:fld>
            <a:endParaRPr lang="en-US" altLang="en-US"/>
          </a:p>
        </p:txBody>
      </p:sp>
    </p:spTree>
    <p:extLst>
      <p:ext uri="{BB962C8B-B14F-4D97-AF65-F5344CB8AC3E}">
        <p14:creationId xmlns:p14="http://schemas.microsoft.com/office/powerpoint/2010/main" val="21448225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22</a:t>
            </a:fld>
            <a:endParaRPr lang="en-US" altLang="en-US"/>
          </a:p>
        </p:txBody>
      </p:sp>
    </p:spTree>
    <p:extLst>
      <p:ext uri="{BB962C8B-B14F-4D97-AF65-F5344CB8AC3E}">
        <p14:creationId xmlns:p14="http://schemas.microsoft.com/office/powerpoint/2010/main" val="928261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1, indicates double open braces close braces open braces close braces distance equal to open braces. Line 2, open braces 0, 983, 787, 714, 1375, 967, 1087 close braces comma. Line 3, open braces 983, 0, 214, 1102, 1763, 1723, 1842 close braces comma. Line 4, open braces 787, 214, 0, 888, 1549, 1548, 1627 close braces comma. Line 5, open braces 714, 1102, 888, 1549, 1548, 1627 close braces comma. Line 6, open braces 1375, 1763, 1549, 661, 781, 810 close braces comma. Line 7, open braces 967, 1723, 1548, 781, 1426,   0, 239 close braces comma. Line 8, open braces 1087, 1842, 1627, 810, 1187, 239, 0 close braces comma. Line 9, close braces semicolon.</a:t>
            </a:r>
            <a:endParaRPr lang="en-IN" dirty="0"/>
          </a:p>
        </p:txBody>
      </p:sp>
      <p:sp>
        <p:nvSpPr>
          <p:cNvPr id="4" name="Slide Number Placeholder 3"/>
          <p:cNvSpPr>
            <a:spLocks noGrp="1"/>
          </p:cNvSpPr>
          <p:nvPr>
            <p:ph type="sldNum" idx="12"/>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23</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35589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24</a:t>
            </a:fld>
            <a:endParaRPr lang="en-US" altLang="en-US"/>
          </a:p>
        </p:txBody>
      </p:sp>
    </p:spTree>
    <p:extLst>
      <p:ext uri="{BB962C8B-B14F-4D97-AF65-F5344CB8AC3E}">
        <p14:creationId xmlns:p14="http://schemas.microsoft.com/office/powerpoint/2010/main" val="3757854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 5 by 5 array with columns and rows numbered 0 to 4. Each element in the array is 0. The text reads, matrix = new int 5 by 5.</a:t>
            </a:r>
          </a:p>
          <a:p>
            <a:r>
              <a:rPr lang="en-US" dirty="0"/>
              <a:t>(b) A 5 by 5 array with columns and rows numbered 0 to 4. Each element in the array is 0. The text reads, matrix 2 by 1 = 7.</a:t>
            </a:r>
          </a:p>
          <a:p>
            <a:r>
              <a:rPr lang="en-US" dirty="0"/>
              <a:t>(c) A 4 by 3 array with columns numbered 0 to 2 and rows numbered 0 to 3. The row entries are as follows.</a:t>
            </a:r>
          </a:p>
          <a:p>
            <a:r>
              <a:rPr lang="en-US" dirty="0"/>
              <a:t>Row 0. 1, 2, 3.</a:t>
            </a:r>
          </a:p>
          <a:p>
            <a:r>
              <a:rPr lang="en-US" dirty="0"/>
              <a:t>Row 1. 4, 5, 6.</a:t>
            </a:r>
          </a:p>
          <a:p>
            <a:r>
              <a:rPr lang="en-US" dirty="0"/>
              <a:t>Row 2. 7, 8, 9.</a:t>
            </a:r>
          </a:p>
          <a:p>
            <a:r>
              <a:rPr lang="en-US" dirty="0"/>
              <a:t>Row 3. 10, 11, 12.</a:t>
            </a:r>
          </a:p>
          <a:p>
            <a:r>
              <a:rPr lang="en-US" dirty="0"/>
              <a:t>The text reads, int left bracket right bracket, left bracket right bracket array = left brace</a:t>
            </a:r>
          </a:p>
          <a:p>
            <a:r>
              <a:rPr lang="en-US" dirty="0"/>
              <a:t>Left brace 1, 2, 3 right brace</a:t>
            </a:r>
          </a:p>
          <a:p>
            <a:r>
              <a:rPr lang="en-US" dirty="0"/>
              <a:t>Left brace 4, 5, 6 right brace</a:t>
            </a:r>
          </a:p>
          <a:p>
            <a:r>
              <a:rPr lang="en-US" dirty="0"/>
              <a:t>Left brace 7, 8, 9 right brace</a:t>
            </a:r>
          </a:p>
          <a:p>
            <a:r>
              <a:rPr lang="en-US" dirty="0"/>
              <a:t>Left brace 10, 11, 12 right brace</a:t>
            </a:r>
          </a:p>
          <a:p>
            <a:r>
              <a:rPr lang="en-US" dirty="0"/>
              <a:t>Right brace.</a:t>
            </a:r>
            <a:endParaRPr lang="en-IN" dirty="0"/>
          </a:p>
        </p:txBody>
      </p:sp>
      <p:sp>
        <p:nvSpPr>
          <p:cNvPr id="4" name="Slide Number Placeholder 3"/>
          <p:cNvSpPr>
            <a:spLocks noGrp="1"/>
          </p:cNvSpPr>
          <p:nvPr>
            <p:ph type="sldNum" idx="12"/>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25</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95021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consists 6 lines. Line 1, indicates </a:t>
            </a:r>
            <a:r>
              <a:rPr lang="en-US" dirty="0" err="1"/>
              <a:t>i</a:t>
            </a:r>
            <a:r>
              <a:rPr lang="en-US" dirty="0"/>
              <a:t> n t open braces close braces open braces close braces array equal to open braces. Line 2, open braces 1, 2, 3 close braces comma. Line 3, open braces 4, 5, 6 close braces comma. Line 4, open braces 7, 8, 9 close braces comma. Line 5, open braces 10, 11, 12 close braces. Line 6, close braces semicolon. A right side text box also shows the Two-dimensional Arrays. The computer code consists 5 lines. Line 1, indicates </a:t>
            </a:r>
            <a:r>
              <a:rPr lang="en-US" dirty="0" err="1"/>
              <a:t>i</a:t>
            </a:r>
            <a:r>
              <a:rPr lang="en-US" dirty="0"/>
              <a:t> n t open braces close braces open braces close braces array equal to new </a:t>
            </a:r>
            <a:r>
              <a:rPr lang="en-US" dirty="0" err="1"/>
              <a:t>i</a:t>
            </a:r>
            <a:r>
              <a:rPr lang="en-US" dirty="0"/>
              <a:t> n t open braces four close braces open braces three close braces semicolon. Line 2, array open braces zero close braces open braces zero close braces equal to one semicolon array open braces zero close braces open braces one close braces equal to two semicolon array open braces zero close braces open braces two close braces equal to three semicolon. Line 3, array open braces one close braces open braces zero close braces equal to four semicolon array open braces one close braces open braces one close braces equal to five semicolon array open braces one close braces open braces two close braces equal to six semicolon. Line 4, array open braces two close braces open braces zero close braces equal to seven semicolon array open braces two close braces open braces one close braces equal to eight semicolon array open braces two close braces open braces two close braces equal to nine semicolon. Line 5, array open braces three close braces open braces zero close braces equal to ten semicolon array open braces three close braces open braces one close braces equal to eleven semicolon array open braces three close braces open braces two close braces equal to twelve semicolon.</a:t>
            </a:r>
            <a:endParaRPr lang="en-IN" dirty="0"/>
          </a:p>
        </p:txBody>
      </p:sp>
      <p:sp>
        <p:nvSpPr>
          <p:cNvPr id="4" name="Slide Number Placeholder 3"/>
          <p:cNvSpPr>
            <a:spLocks noGrp="1"/>
          </p:cNvSpPr>
          <p:nvPr>
            <p:ph type="sldNum" idx="12"/>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26</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40620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boxes are labeled, x 0, x 1, and x 2. The text at the bottom reads, x dot length is 3.</a:t>
            </a:r>
          </a:p>
          <a:p>
            <a:r>
              <a:rPr lang="en-US" dirty="0"/>
              <a:t>The first box contains four arrays as x 0 by 0, x 0 by 1, x 0 by 2, and x 0 by 3. The text reads, x 0 dot length is 4.</a:t>
            </a:r>
          </a:p>
          <a:p>
            <a:r>
              <a:rPr lang="en-US" dirty="0"/>
              <a:t>The second box contains four arrays as x 1 by 0, x 1 by 1, x 1 by 2, and x 1 by 3. The text reads, x 1 dot length is 4.</a:t>
            </a:r>
          </a:p>
          <a:p>
            <a:r>
              <a:rPr lang="en-US" dirty="0"/>
              <a:t>The third box contains four arrays as x 2 by 0, x 2 by 1, x 2 by 2, and x 2 by 3. The text reads, x 2 dot length is 4.</a:t>
            </a:r>
            <a:endParaRPr lang="en-IN" dirty="0"/>
          </a:p>
        </p:txBody>
      </p:sp>
      <p:sp>
        <p:nvSpPr>
          <p:cNvPr id="4" name="Slide Number Placeholder 3"/>
          <p:cNvSpPr>
            <a:spLocks noGrp="1"/>
          </p:cNvSpPr>
          <p:nvPr>
            <p:ph type="sldNum" idx="12"/>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27</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769075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28</a:t>
            </a:fld>
            <a:endParaRPr lang="en-US" altLang="en-US"/>
          </a:p>
        </p:txBody>
      </p:sp>
    </p:spTree>
    <p:extLst>
      <p:ext uri="{BB962C8B-B14F-4D97-AF65-F5344CB8AC3E}">
        <p14:creationId xmlns:p14="http://schemas.microsoft.com/office/powerpoint/2010/main" val="31355224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29</a:t>
            </a:fld>
            <a:endParaRPr lang="en-US" altLang="en-US"/>
          </a:p>
        </p:txBody>
      </p:sp>
    </p:spTree>
    <p:extLst>
      <p:ext uri="{BB962C8B-B14F-4D97-AF65-F5344CB8AC3E}">
        <p14:creationId xmlns:p14="http://schemas.microsoft.com/office/powerpoint/2010/main" val="27695929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brace 1, 2, 3, 4, 5 right brace,</a:t>
            </a:r>
          </a:p>
          <a:p>
            <a:r>
              <a:rPr lang="en-US" dirty="0"/>
              <a:t>Left brace 2, 3, 4, 5 right brace,</a:t>
            </a:r>
          </a:p>
          <a:p>
            <a:r>
              <a:rPr lang="en-US" dirty="0"/>
              <a:t>Left brace 3, 4, 5 right brace,</a:t>
            </a:r>
          </a:p>
          <a:p>
            <a:r>
              <a:rPr lang="en-US" dirty="0"/>
              <a:t>Left brace 4, 5 right brace,</a:t>
            </a:r>
          </a:p>
          <a:p>
            <a:r>
              <a:rPr lang="en-US" dirty="0"/>
              <a:t>Left brace 5 right brace</a:t>
            </a:r>
          </a:p>
          <a:p>
            <a:r>
              <a:rPr lang="en-US" dirty="0"/>
              <a:t>right brace</a:t>
            </a:r>
          </a:p>
          <a:p>
            <a:r>
              <a:rPr lang="en-US" dirty="0"/>
              <a:t>An arrow from </a:t>
            </a:r>
            <a:r>
              <a:rPr lang="en-US" dirty="0" err="1"/>
              <a:t>triangleArray</a:t>
            </a:r>
            <a:r>
              <a:rPr lang="en-US" dirty="0"/>
              <a:t> point to a column with five boxes. The top box contains numbers from 1 to 5, the second box contains numbers from 2 to 5, the third box contains numbers from 3 to 5, the fourth box contains numbers from 4 to 5, and the fifth box contains number 5.</a:t>
            </a:r>
            <a:endParaRPr lang="en-IN" dirty="0"/>
          </a:p>
        </p:txBody>
      </p:sp>
      <p:sp>
        <p:nvSpPr>
          <p:cNvPr id="4" name="Slide Number Placeholder 3"/>
          <p:cNvSpPr>
            <a:spLocks noGrp="1"/>
          </p:cNvSpPr>
          <p:nvPr>
            <p:ph type="sldNum" idx="12"/>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30</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6090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2B8EE83-7329-4CA9-A564-0A7FA3254A9B}" type="slidenum">
              <a:rPr lang="en-US" altLang="en-US" smtClean="0"/>
              <a:pPr>
                <a:defRPr/>
              </a:pPr>
              <a:t>31</a:t>
            </a:fld>
            <a:endParaRPr lang="en-US" altLang="en-US"/>
          </a:p>
        </p:txBody>
      </p:sp>
    </p:spTree>
    <p:extLst>
      <p:ext uri="{BB962C8B-B14F-4D97-AF65-F5344CB8AC3E}">
        <p14:creationId xmlns:p14="http://schemas.microsoft.com/office/powerpoint/2010/main" val="21801768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PassTwoDimensionalArray</a:t>
            </a:r>
            <a:r>
              <a:rPr lang="en-US" dirty="0"/>
              <a:t>: </a:t>
            </a:r>
            <a:r>
              <a:rPr lang="en-US" dirty="0">
                <a:hlinkClick r:id="rId3"/>
              </a:rPr>
              <a:t>https://liveexample.pearsoncmg.com/html/PassTwoDimensionalArray.html</a:t>
            </a:r>
            <a:endParaRPr lang="en-US" dirty="0"/>
          </a:p>
        </p:txBody>
      </p:sp>
      <p:sp>
        <p:nvSpPr>
          <p:cNvPr id="4" name="Slide Number Placeholder 3"/>
          <p:cNvSpPr>
            <a:spLocks noGrp="1"/>
          </p:cNvSpPr>
          <p:nvPr>
            <p:ph type="sldNum" idx="12"/>
          </p:nvPr>
        </p:nvSpPr>
        <p:spPr/>
        <p:txBody>
          <a:bodyPr/>
          <a:lstStyle/>
          <a:p>
            <a:pPr>
              <a:spcBef>
                <a:spcPts val="0"/>
              </a:spcBef>
              <a:buSzPct val="25000"/>
            </a:pPr>
            <a:fld id="{00000000-1234-1234-1234-123412341234}" type="slidenum">
              <a:rPr lang="en-US">
                <a:solidFill>
                  <a:schemeClr val="dk1"/>
                </a:solidFill>
                <a:latin typeface="Arial"/>
                <a:ea typeface="Arial"/>
                <a:cs typeface="Arial"/>
                <a:sym typeface="Arial"/>
              </a:rPr>
              <a:pPr>
                <a:spcBef>
                  <a:spcPts val="0"/>
                </a:spcBef>
                <a:buSzPct val="25000"/>
              </a:pPr>
              <a:t>32</a:t>
            </a:fld>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13768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B9C7E5"/>
        </a:solidFill>
        <a:effectLst/>
      </p:bgPr>
    </p:bg>
    <p:spTree>
      <p:nvGrpSpPr>
        <p:cNvPr id="1" name=""/>
        <p:cNvGrpSpPr/>
        <p:nvPr/>
      </p:nvGrpSpPr>
      <p:grpSpPr>
        <a:xfrm>
          <a:off x="0" y="0"/>
          <a:ext cx="0" cy="0"/>
          <a:chOff x="0" y="0"/>
          <a:chExt cx="0" cy="0"/>
        </a:xfrm>
      </p:grpSpPr>
      <p:sp>
        <p:nvSpPr>
          <p:cNvPr id="196611" name="Rectangle 3"/>
          <p:cNvSpPr>
            <a:spLocks noGrp="1" noChangeArrowheads="1"/>
          </p:cNvSpPr>
          <p:nvPr>
            <p:ph type="ctrTitle"/>
          </p:nvPr>
        </p:nvSpPr>
        <p:spPr>
          <a:xfrm>
            <a:off x="2667000" y="76200"/>
            <a:ext cx="6248400" cy="1470025"/>
          </a:xfrm>
        </p:spPr>
        <p:txBody>
          <a:bodyPr/>
          <a:lstStyle>
            <a:lvl1pPr>
              <a:defRPr/>
            </a:lvl1pPr>
          </a:lstStyle>
          <a:p>
            <a:r>
              <a:rPr lang="en-US"/>
              <a:t>Click to edit Master title style</a:t>
            </a:r>
          </a:p>
        </p:txBody>
      </p:sp>
      <p:sp>
        <p:nvSpPr>
          <p:cNvPr id="196612" name="Rectangle 4"/>
          <p:cNvSpPr>
            <a:spLocks noGrp="1" noChangeArrowheads="1"/>
          </p:cNvSpPr>
          <p:nvPr>
            <p:ph type="subTitle" idx="1"/>
          </p:nvPr>
        </p:nvSpPr>
        <p:spPr>
          <a:xfrm>
            <a:off x="1371600" y="2057400"/>
            <a:ext cx="7315200" cy="3581400"/>
          </a:xfrm>
        </p:spPr>
        <p:txBody>
          <a:bodyPr/>
          <a:lstStyle>
            <a:lvl1pPr marL="0" indent="0" algn="ctr">
              <a:buFontTx/>
              <a:buNone/>
              <a:defRPr sz="4800"/>
            </a:lvl1pPr>
          </a:lstStyle>
          <a:p>
            <a:r>
              <a:rPr lang="en-US"/>
              <a:t>Click to edit Master subtitle style</a:t>
            </a:r>
          </a:p>
        </p:txBody>
      </p:sp>
      <p:sp>
        <p:nvSpPr>
          <p:cNvPr id="4" name="Rectangle 7">
            <a:extLst>
              <a:ext uri="{FF2B5EF4-FFF2-40B4-BE49-F238E27FC236}">
                <a16:creationId xmlns:a16="http://schemas.microsoft.com/office/drawing/2014/main" id="{51478A9C-FEBE-4E0F-A453-07F2EC0B2A12}"/>
              </a:ext>
            </a:extLst>
          </p:cNvPr>
          <p:cNvSpPr>
            <a:spLocks noGrp="1" noChangeArrowheads="1"/>
          </p:cNvSpPr>
          <p:nvPr>
            <p:ph type="ftr" sz="quarter" idx="10"/>
          </p:nvPr>
        </p:nvSpPr>
        <p:spPr/>
        <p:txBody>
          <a:bodyPr/>
          <a:lstStyle>
            <a:lvl1pPr>
              <a:defRPr/>
            </a:lvl1pPr>
          </a:lstStyle>
          <a:p>
            <a:pPr>
              <a:defRPr/>
            </a:pPr>
            <a:r>
              <a:rPr lang="en-US" altLang="en-US"/>
              <a:t>© 2011 Pearson Addison-Wesley. All rights reserved</a:t>
            </a:r>
          </a:p>
        </p:txBody>
      </p:sp>
      <p:sp>
        <p:nvSpPr>
          <p:cNvPr id="5" name="Rectangle 8">
            <a:extLst>
              <a:ext uri="{FF2B5EF4-FFF2-40B4-BE49-F238E27FC236}">
                <a16:creationId xmlns:a16="http://schemas.microsoft.com/office/drawing/2014/main" id="{54607E47-9322-435F-93F9-DD6BFE128CCE}"/>
              </a:ext>
            </a:extLst>
          </p:cNvPr>
          <p:cNvSpPr>
            <a:spLocks noGrp="1" noChangeArrowheads="1"/>
          </p:cNvSpPr>
          <p:nvPr>
            <p:ph type="sldNum" sz="quarter" idx="11"/>
          </p:nvPr>
        </p:nvSpPr>
        <p:spPr/>
        <p:txBody>
          <a:bodyPr/>
          <a:lstStyle>
            <a:lvl1pPr>
              <a:defRPr/>
            </a:lvl1pPr>
          </a:lstStyle>
          <a:p>
            <a:pPr>
              <a:defRPr/>
            </a:pPr>
            <a:r>
              <a:rPr lang="en-US" altLang="en-US"/>
              <a:t>1-</a:t>
            </a:r>
            <a:fld id="{168171D0-0284-4DFA-84C0-981EAE5DA977}" type="slidenum">
              <a:rPr lang="en-US" altLang="en-US" smtClean="0"/>
              <a:pPr>
                <a:defRPr/>
              </a:pPr>
              <a:t>‹#›</a:t>
            </a:fld>
            <a:endParaRPr lang="en-US" altLang="en-US"/>
          </a:p>
        </p:txBody>
      </p:sp>
    </p:spTree>
    <p:extLst>
      <p:ext uri="{BB962C8B-B14F-4D97-AF65-F5344CB8AC3E}">
        <p14:creationId xmlns:p14="http://schemas.microsoft.com/office/powerpoint/2010/main" val="260960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1ED5599-D4AB-41C5-B0BB-09F482331174}"/>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5" name="Rectangle 6">
            <a:extLst>
              <a:ext uri="{FF2B5EF4-FFF2-40B4-BE49-F238E27FC236}">
                <a16:creationId xmlns:a16="http://schemas.microsoft.com/office/drawing/2014/main" id="{470CDE71-DCB7-4CD4-A2C8-1E17B3FC8525}"/>
              </a:ext>
            </a:extLst>
          </p:cNvPr>
          <p:cNvSpPr>
            <a:spLocks noGrp="1" noChangeArrowheads="1"/>
          </p:cNvSpPr>
          <p:nvPr>
            <p:ph type="sldNum" sz="quarter" idx="11"/>
          </p:nvPr>
        </p:nvSpPr>
        <p:spPr>
          <a:ln/>
        </p:spPr>
        <p:txBody>
          <a:bodyPr/>
          <a:lstStyle>
            <a:lvl1pPr>
              <a:defRPr/>
            </a:lvl1pPr>
          </a:lstStyle>
          <a:p>
            <a:pPr>
              <a:defRPr/>
            </a:pPr>
            <a:r>
              <a:rPr lang="en-US" altLang="en-US"/>
              <a:t>1-</a:t>
            </a:r>
            <a:fld id="{4A0B6DD2-1A37-41CA-A57C-099BC0F87C04}" type="slidenum">
              <a:rPr lang="en-US" altLang="en-US" smtClean="0"/>
              <a:pPr>
                <a:defRPr/>
              </a:pPr>
              <a:t>‹#›</a:t>
            </a:fld>
            <a:endParaRPr lang="en-US" altLang="en-US"/>
          </a:p>
        </p:txBody>
      </p:sp>
    </p:spTree>
    <p:extLst>
      <p:ext uri="{BB962C8B-B14F-4D97-AF65-F5344CB8AC3E}">
        <p14:creationId xmlns:p14="http://schemas.microsoft.com/office/powerpoint/2010/main" val="3484229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4FC811E7-997F-4649-A357-2A90A0DDADEE}"/>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5" name="Rectangle 6">
            <a:extLst>
              <a:ext uri="{FF2B5EF4-FFF2-40B4-BE49-F238E27FC236}">
                <a16:creationId xmlns:a16="http://schemas.microsoft.com/office/drawing/2014/main" id="{A5C86FF0-4C5F-46F0-8DE0-F7D5BB79EBAC}"/>
              </a:ext>
            </a:extLst>
          </p:cNvPr>
          <p:cNvSpPr>
            <a:spLocks noGrp="1" noChangeArrowheads="1"/>
          </p:cNvSpPr>
          <p:nvPr>
            <p:ph type="sldNum" sz="quarter" idx="11"/>
          </p:nvPr>
        </p:nvSpPr>
        <p:spPr>
          <a:ln/>
        </p:spPr>
        <p:txBody>
          <a:bodyPr/>
          <a:lstStyle>
            <a:lvl1pPr>
              <a:defRPr/>
            </a:lvl1pPr>
          </a:lstStyle>
          <a:p>
            <a:pPr>
              <a:defRPr/>
            </a:pPr>
            <a:r>
              <a:rPr lang="en-US" altLang="en-US"/>
              <a:t>1-</a:t>
            </a:r>
            <a:fld id="{CFA85CAB-E376-4456-BF88-781CD3B95D57}" type="slidenum">
              <a:rPr lang="en-US" altLang="en-US" smtClean="0"/>
              <a:pPr>
                <a:defRPr/>
              </a:pPr>
              <a:t>‹#›</a:t>
            </a:fld>
            <a:endParaRPr lang="en-US" altLang="en-US"/>
          </a:p>
        </p:txBody>
      </p:sp>
    </p:spTree>
    <p:extLst>
      <p:ext uri="{BB962C8B-B14F-4D97-AF65-F5344CB8AC3E}">
        <p14:creationId xmlns:p14="http://schemas.microsoft.com/office/powerpoint/2010/main" val="1367371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906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C671637A-6865-48B5-A092-3D5DF9F37505}"/>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6" name="Rectangle 6">
            <a:extLst>
              <a:ext uri="{FF2B5EF4-FFF2-40B4-BE49-F238E27FC236}">
                <a16:creationId xmlns:a16="http://schemas.microsoft.com/office/drawing/2014/main" id="{8AEBCD73-3895-448E-A622-F1BCC30C2B4E}"/>
              </a:ext>
            </a:extLst>
          </p:cNvPr>
          <p:cNvSpPr>
            <a:spLocks noGrp="1" noChangeArrowheads="1"/>
          </p:cNvSpPr>
          <p:nvPr>
            <p:ph type="sldNum" sz="quarter" idx="11"/>
          </p:nvPr>
        </p:nvSpPr>
        <p:spPr>
          <a:ln/>
        </p:spPr>
        <p:txBody>
          <a:bodyPr/>
          <a:lstStyle>
            <a:lvl1pPr>
              <a:defRPr/>
            </a:lvl1pPr>
          </a:lstStyle>
          <a:p>
            <a:pPr>
              <a:defRPr/>
            </a:pPr>
            <a:r>
              <a:rPr lang="en-US" altLang="en-US"/>
              <a:t>1-</a:t>
            </a:r>
            <a:fld id="{4D62BBB9-F115-483B-B765-E5519A0A4EFA}" type="slidenum">
              <a:rPr lang="en-US" altLang="en-US" smtClean="0"/>
              <a:pPr>
                <a:defRPr/>
              </a:pPr>
              <a:t>‹#›</a:t>
            </a:fld>
            <a:endParaRPr lang="en-US" altLang="en-US"/>
          </a:p>
        </p:txBody>
      </p:sp>
    </p:spTree>
    <p:extLst>
      <p:ext uri="{BB962C8B-B14F-4D97-AF65-F5344CB8AC3E}">
        <p14:creationId xmlns:p14="http://schemas.microsoft.com/office/powerpoint/2010/main" val="298063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8040A321-3190-4C47-BB14-CA748C701828}"/>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8" name="Rectangle 6">
            <a:extLst>
              <a:ext uri="{FF2B5EF4-FFF2-40B4-BE49-F238E27FC236}">
                <a16:creationId xmlns:a16="http://schemas.microsoft.com/office/drawing/2014/main" id="{DBE82DB9-9567-4DE9-9071-C18AD8C5451D}"/>
              </a:ext>
            </a:extLst>
          </p:cNvPr>
          <p:cNvSpPr>
            <a:spLocks noGrp="1" noChangeArrowheads="1"/>
          </p:cNvSpPr>
          <p:nvPr>
            <p:ph type="sldNum" sz="quarter" idx="11"/>
          </p:nvPr>
        </p:nvSpPr>
        <p:spPr>
          <a:ln/>
        </p:spPr>
        <p:txBody>
          <a:bodyPr/>
          <a:lstStyle>
            <a:lvl1pPr>
              <a:defRPr/>
            </a:lvl1pPr>
          </a:lstStyle>
          <a:p>
            <a:pPr>
              <a:defRPr/>
            </a:pPr>
            <a:r>
              <a:rPr lang="en-US" altLang="en-US"/>
              <a:t>1-</a:t>
            </a:r>
            <a:fld id="{D1E793F2-182B-4FD7-BB48-07FA1F118F8E}" type="slidenum">
              <a:rPr lang="en-US" altLang="en-US" smtClean="0"/>
              <a:pPr>
                <a:defRPr/>
              </a:pPr>
              <a:t>‹#›</a:t>
            </a:fld>
            <a:endParaRPr lang="en-US" altLang="en-US"/>
          </a:p>
        </p:txBody>
      </p:sp>
    </p:spTree>
    <p:extLst>
      <p:ext uri="{BB962C8B-B14F-4D97-AF65-F5344CB8AC3E}">
        <p14:creationId xmlns:p14="http://schemas.microsoft.com/office/powerpoint/2010/main" val="2509867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74D8CEC5-27AE-406A-A949-799E409B5EE8}"/>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4" name="Rectangle 6">
            <a:extLst>
              <a:ext uri="{FF2B5EF4-FFF2-40B4-BE49-F238E27FC236}">
                <a16:creationId xmlns:a16="http://schemas.microsoft.com/office/drawing/2014/main" id="{6F2A9D61-B348-4FE1-AF3E-6A9F30D9EAB7}"/>
              </a:ext>
            </a:extLst>
          </p:cNvPr>
          <p:cNvSpPr>
            <a:spLocks noGrp="1" noChangeArrowheads="1"/>
          </p:cNvSpPr>
          <p:nvPr>
            <p:ph type="sldNum" sz="quarter" idx="11"/>
          </p:nvPr>
        </p:nvSpPr>
        <p:spPr>
          <a:ln/>
        </p:spPr>
        <p:txBody>
          <a:bodyPr/>
          <a:lstStyle>
            <a:lvl1pPr>
              <a:defRPr/>
            </a:lvl1pPr>
          </a:lstStyle>
          <a:p>
            <a:pPr>
              <a:defRPr/>
            </a:pPr>
            <a:r>
              <a:rPr lang="en-US" altLang="en-US"/>
              <a:t>1-</a:t>
            </a:r>
            <a:fld id="{9ED2BEE9-EE39-4BC7-B0E1-F9E02AA42DF5}" type="slidenum">
              <a:rPr lang="en-US" altLang="en-US" smtClean="0"/>
              <a:pPr>
                <a:defRPr/>
              </a:pPr>
              <a:t>‹#›</a:t>
            </a:fld>
            <a:endParaRPr lang="en-US" altLang="en-US"/>
          </a:p>
        </p:txBody>
      </p:sp>
    </p:spTree>
    <p:extLst>
      <p:ext uri="{BB962C8B-B14F-4D97-AF65-F5344CB8AC3E}">
        <p14:creationId xmlns:p14="http://schemas.microsoft.com/office/powerpoint/2010/main" val="3841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02CDE92-B907-4DBC-B55B-14D2AE786D0D}"/>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3" name="Rectangle 6">
            <a:extLst>
              <a:ext uri="{FF2B5EF4-FFF2-40B4-BE49-F238E27FC236}">
                <a16:creationId xmlns:a16="http://schemas.microsoft.com/office/drawing/2014/main" id="{FEEF666D-3A70-41C8-B2B6-3A058B71C5EC}"/>
              </a:ext>
            </a:extLst>
          </p:cNvPr>
          <p:cNvSpPr>
            <a:spLocks noGrp="1" noChangeArrowheads="1"/>
          </p:cNvSpPr>
          <p:nvPr>
            <p:ph type="sldNum" sz="quarter" idx="11"/>
          </p:nvPr>
        </p:nvSpPr>
        <p:spPr>
          <a:ln/>
        </p:spPr>
        <p:txBody>
          <a:bodyPr/>
          <a:lstStyle>
            <a:lvl1pPr>
              <a:defRPr/>
            </a:lvl1pPr>
          </a:lstStyle>
          <a:p>
            <a:pPr>
              <a:defRPr/>
            </a:pPr>
            <a:r>
              <a:rPr lang="en-US" altLang="en-US"/>
              <a:t>1-</a:t>
            </a:r>
            <a:fld id="{52C8DA68-C52A-4245-8A2A-815B602B15C6}" type="slidenum">
              <a:rPr lang="en-US" altLang="en-US" smtClean="0"/>
              <a:pPr>
                <a:defRPr/>
              </a:pPr>
              <a:t>‹#›</a:t>
            </a:fld>
            <a:endParaRPr lang="en-US" altLang="en-US"/>
          </a:p>
        </p:txBody>
      </p:sp>
    </p:spTree>
    <p:extLst>
      <p:ext uri="{BB962C8B-B14F-4D97-AF65-F5344CB8AC3E}">
        <p14:creationId xmlns:p14="http://schemas.microsoft.com/office/powerpoint/2010/main" val="4058897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247439F3-81B0-4B95-973B-1CB479CDE32D}"/>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6" name="Rectangle 6">
            <a:extLst>
              <a:ext uri="{FF2B5EF4-FFF2-40B4-BE49-F238E27FC236}">
                <a16:creationId xmlns:a16="http://schemas.microsoft.com/office/drawing/2014/main" id="{470B16E9-68CD-44F8-B1B4-8F6767394658}"/>
              </a:ext>
            </a:extLst>
          </p:cNvPr>
          <p:cNvSpPr>
            <a:spLocks noGrp="1" noChangeArrowheads="1"/>
          </p:cNvSpPr>
          <p:nvPr>
            <p:ph type="sldNum" sz="quarter" idx="11"/>
          </p:nvPr>
        </p:nvSpPr>
        <p:spPr>
          <a:ln/>
        </p:spPr>
        <p:txBody>
          <a:bodyPr/>
          <a:lstStyle>
            <a:lvl1pPr>
              <a:defRPr/>
            </a:lvl1pPr>
          </a:lstStyle>
          <a:p>
            <a:pPr>
              <a:defRPr/>
            </a:pPr>
            <a:r>
              <a:rPr lang="en-US" altLang="en-US"/>
              <a:t>1-</a:t>
            </a:r>
            <a:fld id="{B6CA8CDE-8EBD-43E4-B6C0-DCF81F8324D9}" type="slidenum">
              <a:rPr lang="en-US" altLang="en-US" smtClean="0"/>
              <a:pPr>
                <a:defRPr/>
              </a:pPr>
              <a:t>‹#›</a:t>
            </a:fld>
            <a:endParaRPr lang="en-US" altLang="en-US"/>
          </a:p>
        </p:txBody>
      </p:sp>
    </p:spTree>
    <p:extLst>
      <p:ext uri="{BB962C8B-B14F-4D97-AF65-F5344CB8AC3E}">
        <p14:creationId xmlns:p14="http://schemas.microsoft.com/office/powerpoint/2010/main" val="2001917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CD5CCB98-CE2D-49C4-9FA9-0E3C75B89BB8}"/>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6" name="Rectangle 6">
            <a:extLst>
              <a:ext uri="{FF2B5EF4-FFF2-40B4-BE49-F238E27FC236}">
                <a16:creationId xmlns:a16="http://schemas.microsoft.com/office/drawing/2014/main" id="{B6E2B2E1-C7B9-4266-B3DC-8A2A0D022CAD}"/>
              </a:ext>
            </a:extLst>
          </p:cNvPr>
          <p:cNvSpPr>
            <a:spLocks noGrp="1" noChangeArrowheads="1"/>
          </p:cNvSpPr>
          <p:nvPr>
            <p:ph type="sldNum" sz="quarter" idx="11"/>
          </p:nvPr>
        </p:nvSpPr>
        <p:spPr>
          <a:ln/>
        </p:spPr>
        <p:txBody>
          <a:bodyPr/>
          <a:lstStyle>
            <a:lvl1pPr>
              <a:defRPr/>
            </a:lvl1pPr>
          </a:lstStyle>
          <a:p>
            <a:pPr>
              <a:defRPr/>
            </a:pPr>
            <a:r>
              <a:rPr lang="en-US" altLang="en-US"/>
              <a:t>1-</a:t>
            </a:r>
            <a:fld id="{48C881A4-3EEB-4460-8427-E325E10DB15D}" type="slidenum">
              <a:rPr lang="en-US" altLang="en-US" smtClean="0"/>
              <a:pPr>
                <a:defRPr/>
              </a:pPr>
              <a:t>‹#›</a:t>
            </a:fld>
            <a:endParaRPr lang="en-US" altLang="en-US"/>
          </a:p>
        </p:txBody>
      </p:sp>
    </p:spTree>
    <p:extLst>
      <p:ext uri="{BB962C8B-B14F-4D97-AF65-F5344CB8AC3E}">
        <p14:creationId xmlns:p14="http://schemas.microsoft.com/office/powerpoint/2010/main" val="1888376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0484C36-BEF1-4E32-865E-8DA6EA3CFD30}"/>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5" name="Rectangle 6">
            <a:extLst>
              <a:ext uri="{FF2B5EF4-FFF2-40B4-BE49-F238E27FC236}">
                <a16:creationId xmlns:a16="http://schemas.microsoft.com/office/drawing/2014/main" id="{E504E8CC-2DF2-407B-87CE-973075689FE8}"/>
              </a:ext>
            </a:extLst>
          </p:cNvPr>
          <p:cNvSpPr>
            <a:spLocks noGrp="1" noChangeArrowheads="1"/>
          </p:cNvSpPr>
          <p:nvPr>
            <p:ph type="sldNum" sz="quarter" idx="11"/>
          </p:nvPr>
        </p:nvSpPr>
        <p:spPr>
          <a:ln/>
        </p:spPr>
        <p:txBody>
          <a:bodyPr/>
          <a:lstStyle>
            <a:lvl1pPr>
              <a:defRPr/>
            </a:lvl1pPr>
          </a:lstStyle>
          <a:p>
            <a:pPr>
              <a:defRPr/>
            </a:pPr>
            <a:r>
              <a:rPr lang="en-US" altLang="en-US"/>
              <a:t>1-</a:t>
            </a:r>
            <a:fld id="{30557EC4-BF72-4D08-AE74-B0FF29FABF2F}" type="slidenum">
              <a:rPr lang="en-US" altLang="en-US" smtClean="0"/>
              <a:pPr>
                <a:defRPr/>
              </a:pPr>
              <a:t>‹#›</a:t>
            </a:fld>
            <a:endParaRPr lang="en-US" altLang="en-US"/>
          </a:p>
        </p:txBody>
      </p:sp>
    </p:spTree>
    <p:extLst>
      <p:ext uri="{BB962C8B-B14F-4D97-AF65-F5344CB8AC3E}">
        <p14:creationId xmlns:p14="http://schemas.microsoft.com/office/powerpoint/2010/main" val="196882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196215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28600"/>
            <a:ext cx="573405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7021E30-0F61-4827-AE1A-FCC57621E28D}"/>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5" name="Rectangle 6">
            <a:extLst>
              <a:ext uri="{FF2B5EF4-FFF2-40B4-BE49-F238E27FC236}">
                <a16:creationId xmlns:a16="http://schemas.microsoft.com/office/drawing/2014/main" id="{713D1442-E724-419A-899A-887FB581498F}"/>
              </a:ext>
            </a:extLst>
          </p:cNvPr>
          <p:cNvSpPr>
            <a:spLocks noGrp="1" noChangeArrowheads="1"/>
          </p:cNvSpPr>
          <p:nvPr>
            <p:ph type="sldNum" sz="quarter" idx="11"/>
          </p:nvPr>
        </p:nvSpPr>
        <p:spPr>
          <a:ln/>
        </p:spPr>
        <p:txBody>
          <a:bodyPr/>
          <a:lstStyle>
            <a:lvl1pPr>
              <a:defRPr/>
            </a:lvl1pPr>
          </a:lstStyle>
          <a:p>
            <a:pPr>
              <a:defRPr/>
            </a:pPr>
            <a:r>
              <a:rPr lang="en-US" altLang="en-US"/>
              <a:t>1-</a:t>
            </a:r>
            <a:fld id="{34A03A33-533F-4341-8B5E-C1495A732D88}" type="slidenum">
              <a:rPr lang="en-US" altLang="en-US" smtClean="0"/>
              <a:pPr>
                <a:defRPr/>
              </a:pPr>
              <a:t>‹#›</a:t>
            </a:fld>
            <a:endParaRPr lang="en-US" altLang="en-US"/>
          </a:p>
        </p:txBody>
      </p:sp>
    </p:spTree>
    <p:extLst>
      <p:ext uri="{BB962C8B-B14F-4D97-AF65-F5344CB8AC3E}">
        <p14:creationId xmlns:p14="http://schemas.microsoft.com/office/powerpoint/2010/main" val="3104221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990600" y="1828800"/>
            <a:ext cx="77724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90600" y="3924300"/>
            <a:ext cx="77724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E5F04B02-E084-4722-B8D5-A9A5D3E06AF2}"/>
              </a:ext>
            </a:extLst>
          </p:cNvPr>
          <p:cNvSpPr>
            <a:spLocks noGrp="1" noChangeArrowheads="1"/>
          </p:cNvSpPr>
          <p:nvPr>
            <p:ph type="ftr" sz="quarter" idx="10"/>
          </p:nvPr>
        </p:nvSpPr>
        <p:spPr>
          <a:ln/>
        </p:spPr>
        <p:txBody>
          <a:bodyPr/>
          <a:lstStyle>
            <a:lvl1pPr>
              <a:defRPr/>
            </a:lvl1pPr>
          </a:lstStyle>
          <a:p>
            <a:pPr>
              <a:defRPr/>
            </a:pPr>
            <a:r>
              <a:rPr lang="en-US" altLang="en-US"/>
              <a:t>© 2011 Pearson Addison-Wesley. All rights reserved</a:t>
            </a:r>
          </a:p>
        </p:txBody>
      </p:sp>
      <p:sp>
        <p:nvSpPr>
          <p:cNvPr id="6" name="Rectangle 6">
            <a:extLst>
              <a:ext uri="{FF2B5EF4-FFF2-40B4-BE49-F238E27FC236}">
                <a16:creationId xmlns:a16="http://schemas.microsoft.com/office/drawing/2014/main" id="{D99F925C-38C6-4FB7-966A-8D590E7E45DD}"/>
              </a:ext>
            </a:extLst>
          </p:cNvPr>
          <p:cNvSpPr>
            <a:spLocks noGrp="1" noChangeArrowheads="1"/>
          </p:cNvSpPr>
          <p:nvPr>
            <p:ph type="sldNum" sz="quarter" idx="11"/>
          </p:nvPr>
        </p:nvSpPr>
        <p:spPr>
          <a:ln/>
        </p:spPr>
        <p:txBody>
          <a:bodyPr/>
          <a:lstStyle>
            <a:lvl1pPr>
              <a:defRPr/>
            </a:lvl1pPr>
          </a:lstStyle>
          <a:p>
            <a:pPr>
              <a:defRPr/>
            </a:pPr>
            <a:r>
              <a:rPr lang="en-US" altLang="en-US"/>
              <a:t>1-</a:t>
            </a:r>
            <a:fld id="{FCCA11C9-6AC0-47D4-BB66-EF28526038A9}" type="slidenum">
              <a:rPr lang="en-US" altLang="en-US" smtClean="0"/>
              <a:pPr>
                <a:defRPr/>
              </a:pPr>
              <a:t>‹#›</a:t>
            </a:fld>
            <a:endParaRPr lang="en-US" altLang="en-US"/>
          </a:p>
        </p:txBody>
      </p:sp>
    </p:spTree>
    <p:extLst>
      <p:ext uri="{BB962C8B-B14F-4D97-AF65-F5344CB8AC3E}">
        <p14:creationId xmlns:p14="http://schemas.microsoft.com/office/powerpoint/2010/main" val="3102076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68569" tIns="34275" rIns="68569" bIns="34275"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2"/>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2700" b="1" i="0" u="none" strike="noStrike" cap="none">
                <a:solidFill>
                  <a:schemeClr val="lt1"/>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20" name="Content Placeholder"/>
          <p:cNvSpPr txBox="1">
            <a:spLocks noGrp="1"/>
          </p:cNvSpPr>
          <p:nvPr>
            <p:ph type="subTitle" idx="1"/>
          </p:nvPr>
        </p:nvSpPr>
        <p:spPr>
          <a:xfrm>
            <a:off x="674688"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342900" marR="0" lvl="1" indent="0" algn="ctr" rtl="0">
              <a:spcBef>
                <a:spcPts val="450"/>
              </a:spcBef>
              <a:buClr>
                <a:srgbClr val="007FA3"/>
              </a:buClr>
              <a:buFont typeface="Arial"/>
              <a:buNone/>
              <a:defRPr sz="1200" b="0" i="0" u="none" strike="noStrike" cap="none">
                <a:solidFill>
                  <a:srgbClr val="888888"/>
                </a:solidFill>
                <a:latin typeface="Arial"/>
                <a:ea typeface="Arial"/>
                <a:cs typeface="Arial"/>
                <a:sym typeface="Arial"/>
              </a:defRPr>
            </a:lvl2pPr>
            <a:lvl3pPr marL="685800" marR="0" lvl="2" indent="0" algn="ctr" rtl="0">
              <a:spcBef>
                <a:spcPts val="450"/>
              </a:spcBef>
              <a:buClr>
                <a:srgbClr val="007FA3"/>
              </a:buClr>
              <a:buFont typeface="Noto Sans Symbols"/>
              <a:buNone/>
              <a:defRPr sz="1200" b="0" i="0" u="none" strike="noStrike" cap="none">
                <a:solidFill>
                  <a:srgbClr val="888888"/>
                </a:solidFill>
                <a:latin typeface="Arial"/>
                <a:ea typeface="Arial"/>
                <a:cs typeface="Arial"/>
                <a:sym typeface="Arial"/>
              </a:defRPr>
            </a:lvl3pPr>
            <a:lvl4pPr marL="1028700" marR="0" lvl="3" indent="0" algn="ctr" rtl="0">
              <a:spcBef>
                <a:spcPts val="450"/>
              </a:spcBef>
              <a:buClr>
                <a:srgbClr val="007FA3"/>
              </a:buClr>
              <a:buFont typeface="Arial"/>
              <a:buNone/>
              <a:defRPr sz="1200" b="0" i="0" u="none" strike="noStrike" cap="none">
                <a:solidFill>
                  <a:srgbClr val="888888"/>
                </a:solidFill>
                <a:latin typeface="Arial"/>
                <a:ea typeface="Arial"/>
                <a:cs typeface="Arial"/>
                <a:sym typeface="Arial"/>
              </a:defRPr>
            </a:lvl4pPr>
            <a:lvl5pPr marL="1371600" marR="0" lvl="4" indent="0" algn="ctr" rtl="0">
              <a:spcBef>
                <a:spcPts val="450"/>
              </a:spcBef>
              <a:buClr>
                <a:srgbClr val="007FA3"/>
              </a:buClr>
              <a:buFont typeface="Arial"/>
              <a:buNone/>
              <a:defRPr sz="1200" b="0" i="0" u="none" strike="noStrike" cap="none">
                <a:solidFill>
                  <a:srgbClr val="888888"/>
                </a:solidFill>
                <a:latin typeface="Arial"/>
                <a:ea typeface="Arial"/>
                <a:cs typeface="Arial"/>
                <a:sym typeface="Arial"/>
              </a:defRPr>
            </a:lvl5pPr>
            <a:lvl6pPr marL="1714500" marR="0" lvl="5" indent="0" algn="ctr" rtl="0">
              <a:spcBef>
                <a:spcPts val="225"/>
              </a:spcBef>
              <a:buClr>
                <a:srgbClr val="007FA3"/>
              </a:buClr>
              <a:buFont typeface="Arial"/>
              <a:buNone/>
              <a:defRPr sz="1200" b="0" i="0" u="none" strike="noStrike" cap="none">
                <a:solidFill>
                  <a:srgbClr val="888888"/>
                </a:solidFill>
                <a:latin typeface="Arial"/>
                <a:ea typeface="Arial"/>
                <a:cs typeface="Arial"/>
                <a:sym typeface="Arial"/>
              </a:defRPr>
            </a:lvl6pPr>
            <a:lvl7pPr marL="2057400" marR="0" lvl="6" indent="0" algn="ctr" rtl="0">
              <a:spcBef>
                <a:spcPts val="225"/>
              </a:spcBef>
              <a:buClr>
                <a:srgbClr val="007FA3"/>
              </a:buClr>
              <a:buFont typeface="Arial"/>
              <a:buNone/>
              <a:defRPr sz="1200" b="0" i="0" u="none" strike="noStrike" cap="none">
                <a:solidFill>
                  <a:srgbClr val="888888"/>
                </a:solidFill>
                <a:latin typeface="Arial"/>
                <a:ea typeface="Arial"/>
                <a:cs typeface="Arial"/>
                <a:sym typeface="Arial"/>
              </a:defRPr>
            </a:lvl7pPr>
            <a:lvl8pPr marL="2400300" marR="0" lvl="7" indent="0" algn="ctr" rtl="0">
              <a:spcBef>
                <a:spcPts val="225"/>
              </a:spcBef>
              <a:buClr>
                <a:srgbClr val="007FA3"/>
              </a:buClr>
              <a:buFont typeface="Arial"/>
              <a:buNone/>
              <a:defRPr sz="1200" b="0" i="0" u="none" strike="noStrike" cap="none">
                <a:solidFill>
                  <a:srgbClr val="888888"/>
                </a:solidFill>
                <a:latin typeface="Arial"/>
                <a:ea typeface="Arial"/>
                <a:cs typeface="Arial"/>
                <a:sym typeface="Arial"/>
              </a:defRPr>
            </a:lvl8pPr>
            <a:lvl9pPr marL="2743200" marR="0" lvl="8" indent="0" algn="ctr" rtl="0">
              <a:spcBef>
                <a:spcPts val="225"/>
              </a:spcBef>
              <a:buClr>
                <a:srgbClr val="007FA3"/>
              </a:buClr>
              <a:buFont typeface="Arial"/>
              <a:buNone/>
              <a:defRPr sz="12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pPr>
              <a:defRPr/>
            </a:pPr>
            <a:endParaRPr lang="en-US" kern="0" dirty="0">
              <a:solidFill>
                <a:srgbClr val="FFFFFF"/>
              </a:solidFill>
            </a:endParaRPr>
          </a:p>
        </p:txBody>
      </p:sp>
      <p:sp>
        <p:nvSpPr>
          <p:cNvPr id="23" name="Shape 23"/>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defRPr/>
            </a:pPr>
            <a:fld id="{00000000-1234-1234-1234-123412341234}" type="slidenum">
              <a:rPr lang="en-US" sz="675" kern="0" smtClean="0">
                <a:solidFill>
                  <a:srgbClr val="FFFFFF"/>
                </a:solidFill>
                <a:latin typeface="Arial"/>
                <a:ea typeface="Arial"/>
                <a:cs typeface="Arial"/>
                <a:sym typeface="Arial"/>
              </a:rPr>
              <a:pPr>
                <a:buSzPct val="25000"/>
                <a:defRPr/>
              </a:pPr>
              <a:t>‹#›</a:t>
            </a:fld>
            <a:endParaRPr lang="en-US" sz="675" kern="0" dirty="0">
              <a:solidFill>
                <a:srgbClr val="FFFFFF"/>
              </a:solidFill>
              <a:latin typeface="Arial"/>
              <a:ea typeface="Arial"/>
              <a:cs typeface="Arial"/>
              <a:sym typeface="Arial"/>
            </a:endParaRPr>
          </a:p>
        </p:txBody>
      </p:sp>
    </p:spTree>
    <p:extLst>
      <p:ext uri="{BB962C8B-B14F-4D97-AF65-F5344CB8AC3E}">
        <p14:creationId xmlns:p14="http://schemas.microsoft.com/office/powerpoint/2010/main" val="2621636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101850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7"/>
            <a:ext cx="8229600" cy="2105025"/>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85161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1569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85171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1" y="1552575"/>
            <a:ext cx="4011769" cy="46940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2216772"/>
            <a:ext cx="4011769" cy="552186"/>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1" y="2953477"/>
            <a:ext cx="4011769" cy="52536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1" y="3640944"/>
            <a:ext cx="4011769" cy="52536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1" y="4352925"/>
            <a:ext cx="4011769" cy="4762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1" y="5010150"/>
            <a:ext cx="4011769" cy="5143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1" y="5692775"/>
            <a:ext cx="4011769" cy="56673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2" y="1557340"/>
            <a:ext cx="4064000" cy="465137"/>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2"/>
            <a:ext cx="4064000" cy="525463"/>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7"/>
            <a:ext cx="4064000" cy="523875"/>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6951415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7"/>
            <a:ext cx="8229600" cy="198039"/>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8"/>
            <a:ext cx="8229600" cy="232963"/>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133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1728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2"/>
            <a:ext cx="8229600" cy="328613"/>
          </a:xfrm>
        </p:spPr>
        <p:txBody>
          <a:bodyPr/>
          <a:lstStyle>
            <a:lvl1pPr indent="-191700">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5"/>
            <a:ext cx="8229600" cy="293687"/>
          </a:xfrm>
        </p:spPr>
        <p:txBody>
          <a:bodyPr/>
          <a:lstStyle>
            <a:lvl1pPr indent="-191700">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191700">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40"/>
            <a:ext cx="8229600" cy="339725"/>
          </a:xfrm>
        </p:spPr>
        <p:txBody>
          <a:bodyPr/>
          <a:lstStyle>
            <a:lvl1pPr indent="-191700">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5"/>
            <a:ext cx="8229600" cy="293687"/>
          </a:xfrm>
        </p:spPr>
        <p:txBody>
          <a:bodyPr/>
          <a:lstStyle>
            <a:lvl1pPr indent="-191700">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2"/>
            <a:ext cx="8229600" cy="339725"/>
          </a:xfrm>
        </p:spPr>
        <p:txBody>
          <a:bodyPr/>
          <a:lstStyle>
            <a:lvl1pPr indent="-191700">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97472808"/>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8898794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497492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274687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532896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1917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1728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0370901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5034527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9796926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2118465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3504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21287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3111638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3"/>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2700" b="1" i="0" u="none" strike="noStrike" cap="none">
                <a:solidFill>
                  <a:srgbClr val="007FA3"/>
                </a:solidFill>
                <a:latin typeface="+mj-lt"/>
                <a:ea typeface="Times New Roman"/>
                <a:cs typeface="Times New Roman"/>
                <a:sym typeface="Times New Roman"/>
              </a:defRPr>
            </a:lvl1pPr>
            <a:lvl2pPr lvl="1" indent="0">
              <a:spcBef>
                <a:spcPts val="0"/>
              </a:spcBef>
              <a:buNone/>
              <a:defRPr sz="1350"/>
            </a:lvl2pPr>
            <a:lvl3pPr lvl="2" indent="0">
              <a:spcBef>
                <a:spcPts val="0"/>
              </a:spcBef>
              <a:buNone/>
              <a:defRPr sz="1350"/>
            </a:lvl3pPr>
            <a:lvl4pPr lvl="3" indent="0">
              <a:spcBef>
                <a:spcPts val="0"/>
              </a:spcBef>
              <a:buNone/>
              <a:defRPr sz="1350"/>
            </a:lvl4pPr>
            <a:lvl5pPr lvl="4" indent="0">
              <a:spcBef>
                <a:spcPts val="0"/>
              </a:spcBef>
              <a:buNone/>
              <a:defRPr sz="1350"/>
            </a:lvl5pPr>
            <a:lvl6pPr lvl="5" indent="0">
              <a:spcBef>
                <a:spcPts val="0"/>
              </a:spcBef>
              <a:buNone/>
              <a:defRPr sz="1350"/>
            </a:lvl6pPr>
            <a:lvl7pPr lvl="6" indent="0">
              <a:spcBef>
                <a:spcPts val="0"/>
              </a:spcBef>
              <a:buNone/>
              <a:defRPr sz="1350"/>
            </a:lvl7pPr>
            <a:lvl8pPr lvl="7" indent="0">
              <a:spcBef>
                <a:spcPts val="0"/>
              </a:spcBef>
              <a:buNone/>
              <a:defRPr sz="1350"/>
            </a:lvl8pPr>
            <a:lvl9pPr lvl="8" indent="0">
              <a:spcBef>
                <a:spcPts val="0"/>
              </a:spcBef>
              <a:buNone/>
              <a:defRPr sz="135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1" y="1554922"/>
            <a:ext cx="8232775" cy="4663335"/>
          </a:xfrm>
        </p:spPr>
        <p:txBody>
          <a:bodyPr/>
          <a:lstStyle>
            <a:lvl1pPr indent="-191700">
              <a:defRPr sz="1800">
                <a:latin typeface="+mn-lt"/>
              </a:defRPr>
            </a:lvl1pPr>
            <a:lvl2pPr indent="-213300">
              <a:defRPr sz="1800">
                <a:latin typeface="+mn-lt"/>
              </a:defRPr>
            </a:lvl2pPr>
            <a:lvl3pPr indent="-172800">
              <a:defRPr sz="1800">
                <a:latin typeface="+mn-lt"/>
              </a:defRPr>
            </a:lvl3pPr>
            <a:lvl4pPr indent="-172800">
              <a:defRPr sz="1800">
                <a:latin typeface="+mn-lt"/>
              </a:defRPr>
            </a:lvl4pPr>
            <a:lvl5pPr indent="-1728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3" y="113073"/>
            <a:ext cx="2133599" cy="182879"/>
          </a:xfrm>
          <a:prstGeom prst="rect">
            <a:avLst/>
          </a:prstGeom>
          <a:noFill/>
          <a:ln>
            <a:noFill/>
          </a:ln>
        </p:spPr>
        <p:txBody>
          <a:bodyPr lIns="91425" tIns="91425" rIns="91425" bIns="91425" anchor="ctr" anchorCtr="0"/>
          <a:lstStyle>
            <a:lvl1pPr marL="0" marR="0" lvl="0" indent="0" algn="r" rtl="0">
              <a:spcBef>
                <a:spcPts val="0"/>
              </a:spcBef>
              <a:buNone/>
              <a:defRPr sz="675" b="0" i="0" u="none" strike="noStrike" cap="none">
                <a:solidFill>
                  <a:schemeClr val="lt1"/>
                </a:solidFill>
                <a:latin typeface="Arial"/>
                <a:ea typeface="Arial"/>
                <a:cs typeface="Arial"/>
                <a:sym typeface="Arial"/>
              </a:defRPr>
            </a:lvl1pPr>
            <a:lvl2pPr marL="342900" marR="0" lvl="1" indent="0" algn="l" rtl="0">
              <a:spcBef>
                <a:spcPts val="0"/>
              </a:spcBef>
              <a:buNone/>
              <a:defRPr sz="1350" b="0" i="0" u="none" strike="noStrike" cap="none">
                <a:solidFill>
                  <a:schemeClr val="dk1"/>
                </a:solidFill>
                <a:latin typeface="Arial"/>
                <a:ea typeface="Arial"/>
                <a:cs typeface="Arial"/>
                <a:sym typeface="Arial"/>
              </a:defRPr>
            </a:lvl2pPr>
            <a:lvl3pPr marL="685800" marR="0" lvl="2" indent="0" algn="l" rtl="0">
              <a:spcBef>
                <a:spcPts val="0"/>
              </a:spcBef>
              <a:buNone/>
              <a:defRPr sz="1350" b="0" i="0" u="none" strike="noStrike" cap="none">
                <a:solidFill>
                  <a:schemeClr val="dk1"/>
                </a:solidFill>
                <a:latin typeface="Arial"/>
                <a:ea typeface="Arial"/>
                <a:cs typeface="Arial"/>
                <a:sym typeface="Arial"/>
              </a:defRPr>
            </a:lvl3pPr>
            <a:lvl4pPr marL="1028700" marR="0" lvl="3" indent="0" algn="l" rtl="0">
              <a:spcBef>
                <a:spcPts val="0"/>
              </a:spcBef>
              <a:buNone/>
              <a:defRPr sz="1350" b="0" i="0" u="none" strike="noStrike" cap="none">
                <a:solidFill>
                  <a:schemeClr val="dk1"/>
                </a:solidFill>
                <a:latin typeface="Arial"/>
                <a:ea typeface="Arial"/>
                <a:cs typeface="Arial"/>
                <a:sym typeface="Arial"/>
              </a:defRPr>
            </a:lvl4pPr>
            <a:lvl5pPr marL="1371600" marR="0" lvl="4" indent="0" algn="l" rtl="0">
              <a:spcBef>
                <a:spcPts val="0"/>
              </a:spcBef>
              <a:buNone/>
              <a:defRPr sz="1350" b="0" i="0" u="none" strike="noStrike" cap="none">
                <a:solidFill>
                  <a:schemeClr val="dk1"/>
                </a:solidFill>
                <a:latin typeface="Arial"/>
                <a:ea typeface="Arial"/>
                <a:cs typeface="Arial"/>
                <a:sym typeface="Arial"/>
              </a:defRPr>
            </a:lvl5pPr>
            <a:lvl6pPr marL="1714500" marR="0" lvl="5" indent="0" algn="l" rtl="0">
              <a:spcBef>
                <a:spcPts val="0"/>
              </a:spcBef>
              <a:buNone/>
              <a:defRPr sz="1350" b="0" i="0" u="none" strike="noStrike" cap="none">
                <a:solidFill>
                  <a:schemeClr val="dk1"/>
                </a:solidFill>
                <a:latin typeface="Arial"/>
                <a:ea typeface="Arial"/>
                <a:cs typeface="Arial"/>
                <a:sym typeface="Arial"/>
              </a:defRPr>
            </a:lvl6pPr>
            <a:lvl7pPr marL="2057400" marR="0" lvl="6" indent="0" algn="l" rtl="0">
              <a:spcBef>
                <a:spcPts val="0"/>
              </a:spcBef>
              <a:buNone/>
              <a:defRPr sz="1350" b="0" i="0" u="none" strike="noStrike" cap="none">
                <a:solidFill>
                  <a:schemeClr val="dk1"/>
                </a:solidFill>
                <a:latin typeface="Arial"/>
                <a:ea typeface="Arial"/>
                <a:cs typeface="Arial"/>
                <a:sym typeface="Arial"/>
              </a:defRPr>
            </a:lvl7pPr>
            <a:lvl8pPr marL="2400300" marR="0" lvl="7" indent="0" algn="l" rtl="0">
              <a:spcBef>
                <a:spcPts val="0"/>
              </a:spcBef>
              <a:buNone/>
              <a:defRPr sz="1350" b="0" i="0" u="none" strike="noStrike" cap="none">
                <a:solidFill>
                  <a:schemeClr val="dk1"/>
                </a:solidFill>
                <a:latin typeface="Arial"/>
                <a:ea typeface="Arial"/>
                <a:cs typeface="Arial"/>
                <a:sym typeface="Arial"/>
              </a:defRPr>
            </a:lvl8pPr>
            <a:lvl9pPr marL="2743200" marR="0" lvl="8" indent="0" algn="l" rtl="0">
              <a:spcBef>
                <a:spcPts val="0"/>
              </a:spcBef>
              <a:buNone/>
              <a:defRPr sz="135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2" y="113073"/>
            <a:ext cx="551783"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675" smtClean="0">
                <a:solidFill>
                  <a:schemeClr val="lt1"/>
                </a:solidFill>
                <a:latin typeface="Arial"/>
                <a:ea typeface="Arial"/>
                <a:cs typeface="Arial"/>
                <a:sym typeface="Arial"/>
              </a:rPr>
              <a:pPr>
                <a:buSzPct val="25000"/>
              </a:pPr>
              <a:t>‹#›</a:t>
            </a:fld>
            <a:endParaRPr lang="en-US" sz="675"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416118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F6F7"/>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98CBAEA-E319-4BE3-8D2A-DF72CD72F4D4}"/>
              </a:ext>
            </a:extLst>
          </p:cNvPr>
          <p:cNvSpPr>
            <a:spLocks noGrp="1" noChangeArrowheads="1"/>
          </p:cNvSpPr>
          <p:nvPr>
            <p:ph type="title"/>
          </p:nvPr>
        </p:nvSpPr>
        <p:spPr bwMode="auto">
          <a:xfrm>
            <a:off x="914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064A15E-59F1-41DF-9A1B-BA434A0BB3E4}"/>
              </a:ext>
            </a:extLst>
          </p:cNvPr>
          <p:cNvSpPr>
            <a:spLocks noGrp="1" noChangeArrowheads="1"/>
          </p:cNvSpPr>
          <p:nvPr>
            <p:ph type="body" idx="1"/>
          </p:nvPr>
        </p:nvSpPr>
        <p:spPr bwMode="auto">
          <a:xfrm>
            <a:off x="990600" y="18288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C522F4BE-DCF0-4D90-81B9-5A68892B8BAA}"/>
              </a:ext>
            </a:extLst>
          </p:cNvPr>
          <p:cNvSpPr>
            <a:spLocks noGrp="1" noChangeArrowheads="1"/>
          </p:cNvSpPr>
          <p:nvPr>
            <p:ph type="ftr" sz="quarter" idx="3"/>
          </p:nvPr>
        </p:nvSpPr>
        <p:spPr bwMode="auto">
          <a:xfrm>
            <a:off x="990600" y="6096000"/>
            <a:ext cx="35052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solidFill>
                  <a:srgbClr val="548446"/>
                </a:solidFill>
                <a:latin typeface="Arial" panose="020B0604020202020204" pitchFamily="34" charset="0"/>
                <a:cs typeface="Arial" panose="020B0604020202020204" pitchFamily="34" charset="0"/>
              </a:defRPr>
            </a:lvl1pPr>
          </a:lstStyle>
          <a:p>
            <a:pPr>
              <a:defRPr/>
            </a:pPr>
            <a:r>
              <a:rPr lang="en-US" altLang="en-US"/>
              <a:t>© 2011 Pearson Addison-Wesley. All rights reserved</a:t>
            </a:r>
          </a:p>
        </p:txBody>
      </p:sp>
      <p:sp>
        <p:nvSpPr>
          <p:cNvPr id="1030" name="Rectangle 6">
            <a:extLst>
              <a:ext uri="{FF2B5EF4-FFF2-40B4-BE49-F238E27FC236}">
                <a16:creationId xmlns:a16="http://schemas.microsoft.com/office/drawing/2014/main" id="{813AE00C-9B8E-4006-8C61-C4440A8C0D79}"/>
              </a:ext>
            </a:extLst>
          </p:cNvPr>
          <p:cNvSpPr>
            <a:spLocks noGrp="1" noChangeArrowheads="1"/>
          </p:cNvSpPr>
          <p:nvPr>
            <p:ph type="sldNum" sz="quarter" idx="4"/>
          </p:nvPr>
        </p:nvSpPr>
        <p:spPr bwMode="auto">
          <a:xfrm>
            <a:off x="6858000" y="60960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solidFill>
                  <a:srgbClr val="548446"/>
                </a:solidFill>
                <a:latin typeface="Arial" panose="020B0604020202020204" pitchFamily="34" charset="0"/>
              </a:defRPr>
            </a:lvl1pPr>
          </a:lstStyle>
          <a:p>
            <a:pPr>
              <a:defRPr/>
            </a:pPr>
            <a:r>
              <a:rPr lang="en-US" altLang="en-US"/>
              <a:t>1-</a:t>
            </a:r>
            <a:fld id="{2C8CF3BE-3776-432A-9CBE-A70FFB3ED93D}"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77"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8" r:id="rId13"/>
    <p:sldLayoutId id="2147483779" r:id="rId14"/>
    <p:sldLayoutId id="2147483780" r:id="rId15"/>
    <p:sldLayoutId id="2147483781"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Lst>
  <p:hf hdr="0" dt="0"/>
  <p:txStyles>
    <p:titleStyle>
      <a:lvl1pPr algn="l" rtl="0" eaLnBrk="0" fontAlgn="base" hangingPunct="0">
        <a:spcBef>
          <a:spcPct val="0"/>
        </a:spcBef>
        <a:spcAft>
          <a:spcPct val="0"/>
        </a:spcAft>
        <a:defRPr sz="4000">
          <a:solidFill>
            <a:srgbClr val="548446"/>
          </a:solidFill>
          <a:latin typeface="+mj-lt"/>
          <a:ea typeface="+mj-ea"/>
          <a:cs typeface="+mj-cs"/>
        </a:defRPr>
      </a:lvl1pPr>
      <a:lvl2pPr algn="l" rtl="0" eaLnBrk="0" fontAlgn="base" hangingPunct="0">
        <a:spcBef>
          <a:spcPct val="0"/>
        </a:spcBef>
        <a:spcAft>
          <a:spcPct val="0"/>
        </a:spcAft>
        <a:defRPr sz="4000">
          <a:solidFill>
            <a:srgbClr val="548446"/>
          </a:solidFill>
          <a:latin typeface="Arial" charset="0"/>
        </a:defRPr>
      </a:lvl2pPr>
      <a:lvl3pPr algn="l" rtl="0" eaLnBrk="0" fontAlgn="base" hangingPunct="0">
        <a:spcBef>
          <a:spcPct val="0"/>
        </a:spcBef>
        <a:spcAft>
          <a:spcPct val="0"/>
        </a:spcAft>
        <a:defRPr sz="4000">
          <a:solidFill>
            <a:srgbClr val="548446"/>
          </a:solidFill>
          <a:latin typeface="Arial" charset="0"/>
        </a:defRPr>
      </a:lvl3pPr>
      <a:lvl4pPr algn="l" rtl="0" eaLnBrk="0" fontAlgn="base" hangingPunct="0">
        <a:spcBef>
          <a:spcPct val="0"/>
        </a:spcBef>
        <a:spcAft>
          <a:spcPct val="0"/>
        </a:spcAft>
        <a:defRPr sz="4000">
          <a:solidFill>
            <a:srgbClr val="548446"/>
          </a:solidFill>
          <a:latin typeface="Arial" charset="0"/>
        </a:defRPr>
      </a:lvl4pPr>
      <a:lvl5pPr algn="l" rtl="0" eaLnBrk="0" fontAlgn="base" hangingPunct="0">
        <a:spcBef>
          <a:spcPct val="0"/>
        </a:spcBef>
        <a:spcAft>
          <a:spcPct val="0"/>
        </a:spcAft>
        <a:defRPr sz="4000">
          <a:solidFill>
            <a:srgbClr val="548446"/>
          </a:solidFill>
          <a:latin typeface="Arial" charset="0"/>
        </a:defRPr>
      </a:lvl5pPr>
      <a:lvl6pPr marL="457200" algn="l" rtl="0" fontAlgn="base">
        <a:spcBef>
          <a:spcPct val="0"/>
        </a:spcBef>
        <a:spcAft>
          <a:spcPct val="0"/>
        </a:spcAft>
        <a:defRPr sz="4000">
          <a:solidFill>
            <a:srgbClr val="548446"/>
          </a:solidFill>
          <a:latin typeface="Arial" charset="0"/>
        </a:defRPr>
      </a:lvl6pPr>
      <a:lvl7pPr marL="914400" algn="l" rtl="0" fontAlgn="base">
        <a:spcBef>
          <a:spcPct val="0"/>
        </a:spcBef>
        <a:spcAft>
          <a:spcPct val="0"/>
        </a:spcAft>
        <a:defRPr sz="4000">
          <a:solidFill>
            <a:srgbClr val="548446"/>
          </a:solidFill>
          <a:latin typeface="Arial" charset="0"/>
        </a:defRPr>
      </a:lvl7pPr>
      <a:lvl8pPr marL="1371600" algn="l" rtl="0" fontAlgn="base">
        <a:spcBef>
          <a:spcPct val="0"/>
        </a:spcBef>
        <a:spcAft>
          <a:spcPct val="0"/>
        </a:spcAft>
        <a:defRPr sz="4000">
          <a:solidFill>
            <a:srgbClr val="548446"/>
          </a:solidFill>
          <a:latin typeface="Arial" charset="0"/>
        </a:defRPr>
      </a:lvl8pPr>
      <a:lvl9pPr marL="1828800" algn="l" rtl="0" fontAlgn="base">
        <a:spcBef>
          <a:spcPct val="0"/>
        </a:spcBef>
        <a:spcAft>
          <a:spcPct val="0"/>
        </a:spcAft>
        <a:defRPr sz="4000">
          <a:solidFill>
            <a:srgbClr val="548446"/>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hyperlink" Target="https://liveexample.pearsoncmg.com/html/DeckOfCards.html" TargetMode="External"/><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hyperlink" Target="https://liveexample.pearsoncmg.com/html/DeckOfCards.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hyperlink" Target="PassTwoDimensionalArray.java" TargetMode="External"/><Relationship Id="rId2" Type="http://schemas.openxmlformats.org/officeDocument/2006/relationships/notesSlide" Target="../notesSlides/notesSlide32.xml"/><Relationship Id="rId1" Type="http://schemas.openxmlformats.org/officeDocument/2006/relationships/slideLayout" Target="../slideLayouts/slideLayout19.xml"/><Relationship Id="rId4" Type="http://schemas.openxmlformats.org/officeDocument/2006/relationships/hyperlink" Target="https://liveexample.pearsoncmg.com/html/PassTwoDimensionalArray.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8">
            <a:extLst>
              <a:ext uri="{FF2B5EF4-FFF2-40B4-BE49-F238E27FC236}">
                <a16:creationId xmlns:a16="http://schemas.microsoft.com/office/drawing/2014/main" id="{548AB82E-5391-4472-832A-9A72D58CB1F8}"/>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panose="02020603050405020304" pitchFamily="18" charset="0"/>
              </a:defRPr>
            </a:lvl1pPr>
            <a:lvl2pPr marL="742950" indent="-285750">
              <a:spcBef>
                <a:spcPct val="20000"/>
              </a:spcBef>
              <a:buChar char="–"/>
              <a:defRPr sz="2400">
                <a:solidFill>
                  <a:schemeClr val="tx1"/>
                </a:solidFill>
                <a:latin typeface="Times" panose="02020603050405020304" pitchFamily="18" charset="0"/>
              </a:defRPr>
            </a:lvl2pPr>
            <a:lvl3pPr marL="1143000" indent="-228600">
              <a:spcBef>
                <a:spcPct val="20000"/>
              </a:spcBef>
              <a:buChar char="•"/>
              <a:defRPr sz="2000">
                <a:solidFill>
                  <a:schemeClr val="tx1"/>
                </a:solidFill>
                <a:latin typeface="Times" panose="02020603050405020304" pitchFamily="18" charset="0"/>
              </a:defRPr>
            </a:lvl3pPr>
            <a:lvl4pPr marL="1600200" indent="-228600">
              <a:spcBef>
                <a:spcPct val="20000"/>
              </a:spcBef>
              <a:buChar char="–"/>
              <a:defRPr>
                <a:solidFill>
                  <a:schemeClr val="tx1"/>
                </a:solidFill>
                <a:latin typeface="Times" panose="02020603050405020304" pitchFamily="18" charset="0"/>
              </a:defRPr>
            </a:lvl4pPr>
            <a:lvl5pPr marL="2057400" indent="-228600">
              <a:spcBef>
                <a:spcPct val="20000"/>
              </a:spcBef>
              <a:buChar char="»"/>
              <a:defRPr>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panose="02020603050405020304" pitchFamily="18" charset="0"/>
              </a:defRPr>
            </a:lvl9pPr>
          </a:lstStyle>
          <a:p>
            <a:pPr>
              <a:spcBef>
                <a:spcPct val="0"/>
              </a:spcBef>
              <a:buFontTx/>
              <a:buNone/>
            </a:pPr>
            <a:r>
              <a:rPr lang="en-US" altLang="en-US" sz="1000">
                <a:solidFill>
                  <a:srgbClr val="548446"/>
                </a:solidFill>
                <a:latin typeface="Arial" panose="020B0604020202020204" pitchFamily="34" charset="0"/>
              </a:rPr>
              <a:t>1-</a:t>
            </a:r>
            <a:fld id="{CC9E777A-DC54-4A4D-879C-C0D0D51B630D}" type="slidenum">
              <a:rPr lang="en-US" altLang="en-US" sz="1000" smtClean="0">
                <a:solidFill>
                  <a:srgbClr val="548446"/>
                </a:solidFill>
                <a:latin typeface="Arial" panose="020B0604020202020204" pitchFamily="34" charset="0"/>
              </a:rPr>
              <a:pPr>
                <a:spcBef>
                  <a:spcPct val="0"/>
                </a:spcBef>
                <a:buFontTx/>
                <a:buNone/>
              </a:pPr>
              <a:t>1</a:t>
            </a:fld>
            <a:endParaRPr lang="en-US" altLang="en-US" sz="1000">
              <a:solidFill>
                <a:srgbClr val="548446"/>
              </a:solidFill>
              <a:latin typeface="Arial" panose="020B0604020202020204" pitchFamily="34" charset="0"/>
            </a:endParaRPr>
          </a:p>
        </p:txBody>
      </p:sp>
      <p:sp>
        <p:nvSpPr>
          <p:cNvPr id="4100" name="Rectangle 2">
            <a:extLst>
              <a:ext uri="{FF2B5EF4-FFF2-40B4-BE49-F238E27FC236}">
                <a16:creationId xmlns:a16="http://schemas.microsoft.com/office/drawing/2014/main" id="{D7F2FABC-6395-47D9-9CE8-17C6C2C0740D}"/>
              </a:ext>
            </a:extLst>
          </p:cNvPr>
          <p:cNvSpPr>
            <a:spLocks noGrp="1" noChangeArrowheads="1"/>
          </p:cNvSpPr>
          <p:nvPr>
            <p:ph type="ctrTitle"/>
          </p:nvPr>
        </p:nvSpPr>
        <p:spPr>
          <a:xfrm>
            <a:off x="3124200" y="333555"/>
            <a:ext cx="2362200" cy="1241425"/>
          </a:xfrm>
        </p:spPr>
        <p:txBody>
          <a:bodyPr/>
          <a:lstStyle/>
          <a:p>
            <a:pPr eaLnBrk="1" hangingPunct="1"/>
            <a:r>
              <a:rPr lang="en-US" altLang="en-US" dirty="0"/>
              <a:t>Lecture 1</a:t>
            </a:r>
          </a:p>
        </p:txBody>
      </p:sp>
      <p:sp>
        <p:nvSpPr>
          <p:cNvPr id="4101" name="Rectangle 3">
            <a:extLst>
              <a:ext uri="{FF2B5EF4-FFF2-40B4-BE49-F238E27FC236}">
                <a16:creationId xmlns:a16="http://schemas.microsoft.com/office/drawing/2014/main" id="{96DEBFD7-B38D-4994-9A0F-EB626DE114BC}"/>
              </a:ext>
            </a:extLst>
          </p:cNvPr>
          <p:cNvSpPr>
            <a:spLocks noGrp="1" noChangeArrowheads="1"/>
          </p:cNvSpPr>
          <p:nvPr>
            <p:ph type="subTitle" idx="1"/>
          </p:nvPr>
        </p:nvSpPr>
        <p:spPr>
          <a:xfrm>
            <a:off x="914400" y="2057400"/>
            <a:ext cx="7772400" cy="3581400"/>
          </a:xfrm>
        </p:spPr>
        <p:txBody>
          <a:bodyPr/>
          <a:lstStyle/>
          <a:p>
            <a:pPr eaLnBrk="1" hangingPunct="1"/>
            <a:r>
              <a:rPr lang="en-US" altLang="en-US" dirty="0"/>
              <a:t>Review of COMP 110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99260-3862-4C6D-883B-5DC05F821C4B}"/>
              </a:ext>
            </a:extLst>
          </p:cNvPr>
          <p:cNvSpPr>
            <a:spLocks noGrp="1"/>
          </p:cNvSpPr>
          <p:nvPr>
            <p:ph type="ctrTitle"/>
          </p:nvPr>
        </p:nvSpPr>
        <p:spPr/>
        <p:txBody>
          <a:bodyPr/>
          <a:lstStyle/>
          <a:p>
            <a:pPr algn="ctr"/>
            <a:r>
              <a:rPr lang="en-US" dirty="0"/>
              <a:t>Single-Dimensional Arrays</a:t>
            </a:r>
            <a:br>
              <a:rPr lang="en-US" dirty="0"/>
            </a:br>
            <a:br>
              <a:rPr lang="en-US" dirty="0"/>
            </a:br>
            <a:endParaRPr lang="en-US" dirty="0"/>
          </a:p>
        </p:txBody>
      </p:sp>
      <p:sp>
        <p:nvSpPr>
          <p:cNvPr id="3" name="Subtitle 2">
            <a:extLst>
              <a:ext uri="{FF2B5EF4-FFF2-40B4-BE49-F238E27FC236}">
                <a16:creationId xmlns:a16="http://schemas.microsoft.com/office/drawing/2014/main" id="{1C3164A5-48BD-47AC-A2D3-091E700BFBE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22340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019A0-FC05-4486-8706-2F8B64C019C2}"/>
              </a:ext>
            </a:extLst>
          </p:cNvPr>
          <p:cNvSpPr>
            <a:spLocks noGrp="1"/>
          </p:cNvSpPr>
          <p:nvPr>
            <p:ph type="title"/>
          </p:nvPr>
        </p:nvSpPr>
        <p:spPr/>
        <p:txBody>
          <a:bodyPr/>
          <a:lstStyle/>
          <a:p>
            <a:r>
              <a:rPr lang="en-US" dirty="0">
                <a:solidFill>
                  <a:schemeClr val="tx2"/>
                </a:solidFill>
              </a:rPr>
              <a:t>Objectives</a:t>
            </a:r>
            <a:endParaRPr lang="en-US" b="0" dirty="0">
              <a:solidFill>
                <a:schemeClr val="tx2"/>
              </a:solidFill>
            </a:endParaRPr>
          </a:p>
        </p:txBody>
      </p:sp>
      <p:sp>
        <p:nvSpPr>
          <p:cNvPr id="3" name="Content Placeholder 2">
            <a:extLst>
              <a:ext uri="{FF2B5EF4-FFF2-40B4-BE49-F238E27FC236}">
                <a16:creationId xmlns:a16="http://schemas.microsoft.com/office/drawing/2014/main" id="{60967939-18BF-4F01-9526-F1E5141FCC37}"/>
              </a:ext>
            </a:extLst>
          </p:cNvPr>
          <p:cNvSpPr>
            <a:spLocks noGrp="1"/>
          </p:cNvSpPr>
          <p:nvPr>
            <p:ph sz="quarter" idx="13"/>
          </p:nvPr>
        </p:nvSpPr>
        <p:spPr>
          <a:xfrm>
            <a:off x="1485900" y="2023441"/>
            <a:ext cx="6286500" cy="3057941"/>
          </a:xfrm>
        </p:spPr>
        <p:txBody>
          <a:bodyPr/>
          <a:lstStyle/>
          <a:p>
            <a:pPr marL="214637" indent="-214313"/>
            <a:r>
              <a:rPr lang="en-US" sz="1350" dirty="0"/>
              <a:t>To describe why arrays are necessary in programming </a:t>
            </a:r>
          </a:p>
          <a:p>
            <a:pPr marL="214637" indent="-214313"/>
            <a:r>
              <a:rPr lang="en-US" sz="1350" dirty="0"/>
              <a:t> To declare array reference variables and create arrays</a:t>
            </a:r>
          </a:p>
          <a:p>
            <a:pPr marL="214637" indent="-214313"/>
            <a:r>
              <a:rPr lang="en-US" sz="1350" dirty="0"/>
              <a:t>To obtain array size using </a:t>
            </a:r>
            <a:r>
              <a:rPr lang="en-US" sz="1350" b="1" dirty="0">
                <a:latin typeface="Courier New" panose="02070309020205020404" pitchFamily="49" charset="0"/>
                <a:cs typeface="Courier New" panose="02070309020205020404" pitchFamily="49" charset="0"/>
              </a:rPr>
              <a:t>arrayRefVar.length</a:t>
            </a:r>
            <a:r>
              <a:rPr lang="en-US" sz="1350" b="1" dirty="0"/>
              <a:t> </a:t>
            </a:r>
            <a:r>
              <a:rPr lang="en-US" sz="1350" dirty="0"/>
              <a:t>and know default values in an array</a:t>
            </a:r>
          </a:p>
          <a:p>
            <a:pPr marL="214637" indent="-214313"/>
            <a:r>
              <a:rPr lang="en-US" sz="1350" dirty="0"/>
              <a:t>To access array elements using indexes </a:t>
            </a:r>
          </a:p>
          <a:p>
            <a:pPr marL="214637" indent="-214313"/>
            <a:r>
              <a:rPr lang="en-US" sz="1350" dirty="0"/>
              <a:t>To declare, create, and initialize an array using an array initializer</a:t>
            </a:r>
          </a:p>
          <a:p>
            <a:pPr marL="214637" indent="-214313"/>
            <a:r>
              <a:rPr lang="en-US" sz="1350" dirty="0"/>
              <a:t>To program common array operations (displaying arrays, summing all elements, finding the minimum and maximum elements, random shuffling, and shifting elements)</a:t>
            </a:r>
          </a:p>
          <a:p>
            <a:pPr marL="214637" indent="-214313"/>
            <a:r>
              <a:rPr lang="en-US" sz="1350" b="1" dirty="0"/>
              <a:t>T</a:t>
            </a:r>
            <a:r>
              <a:rPr lang="en-US" sz="1350" dirty="0"/>
              <a:t>o simplify programming using the foreach loops</a:t>
            </a:r>
          </a:p>
        </p:txBody>
      </p:sp>
    </p:spTree>
    <p:extLst>
      <p:ext uri="{BB962C8B-B14F-4D97-AF65-F5344CB8AC3E}">
        <p14:creationId xmlns:p14="http://schemas.microsoft.com/office/powerpoint/2010/main" val="644943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68E4-1E20-4C9A-B85D-4E5DAF0BD3AB}"/>
              </a:ext>
            </a:extLst>
          </p:cNvPr>
          <p:cNvSpPr>
            <a:spLocks noGrp="1"/>
          </p:cNvSpPr>
          <p:nvPr>
            <p:ph type="title"/>
          </p:nvPr>
        </p:nvSpPr>
        <p:spPr/>
        <p:txBody>
          <a:bodyPr/>
          <a:lstStyle/>
          <a:p>
            <a:r>
              <a:rPr lang="en-US">
                <a:solidFill>
                  <a:schemeClr val="tx2"/>
                </a:solidFill>
              </a:rPr>
              <a:t>Introducing Arrays</a:t>
            </a:r>
          </a:p>
        </p:txBody>
      </p:sp>
      <p:sp>
        <p:nvSpPr>
          <p:cNvPr id="3" name="Content Placeholder 2">
            <a:extLst>
              <a:ext uri="{FF2B5EF4-FFF2-40B4-BE49-F238E27FC236}">
                <a16:creationId xmlns:a16="http://schemas.microsoft.com/office/drawing/2014/main" id="{36CC0A0C-02E3-4A78-A87C-BB62DD2197DD}"/>
              </a:ext>
            </a:extLst>
          </p:cNvPr>
          <p:cNvSpPr>
            <a:spLocks noGrp="1"/>
          </p:cNvSpPr>
          <p:nvPr>
            <p:ph sz="quarter" idx="13"/>
          </p:nvPr>
        </p:nvSpPr>
        <p:spPr>
          <a:xfrm>
            <a:off x="1485900" y="2024495"/>
            <a:ext cx="6172200" cy="694212"/>
          </a:xfrm>
        </p:spPr>
        <p:txBody>
          <a:bodyPr/>
          <a:lstStyle/>
          <a:p>
            <a:pPr marL="324" indent="0">
              <a:buNone/>
            </a:pPr>
            <a:r>
              <a:rPr lang="en-US" dirty="0">
                <a:solidFill>
                  <a:schemeClr val="tx1"/>
                </a:solidFill>
              </a:rPr>
              <a:t>Array is a data structure that represents a collection of the same types of data.</a:t>
            </a:r>
          </a:p>
        </p:txBody>
      </p:sp>
      <p:pic>
        <p:nvPicPr>
          <p:cNvPr id="8" name="Picture 7" descr="An illustration shows Arrays. It says double open and close brackets my List = new double open and close brackets with number 10 in it. For long description in Notes pane, press F6.">
            <a:extLst>
              <a:ext uri="{FF2B5EF4-FFF2-40B4-BE49-F238E27FC236}">
                <a16:creationId xmlns:a16="http://schemas.microsoft.com/office/drawing/2014/main" id="{07C37D8F-89E7-472B-86A3-B706E7032D94}"/>
              </a:ext>
            </a:extLst>
          </p:cNvPr>
          <p:cNvPicPr>
            <a:picLocks noChangeAspect="1"/>
          </p:cNvPicPr>
          <p:nvPr/>
        </p:nvPicPr>
        <p:blipFill>
          <a:blip r:embed="rId3"/>
          <a:stretch>
            <a:fillRect/>
          </a:stretch>
        </p:blipFill>
        <p:spPr>
          <a:xfrm>
            <a:off x="2012846" y="2871648"/>
            <a:ext cx="5118309" cy="2697239"/>
          </a:xfrm>
          <a:prstGeom prst="rect">
            <a:avLst/>
          </a:prstGeom>
        </p:spPr>
      </p:pic>
    </p:spTree>
    <p:extLst>
      <p:ext uri="{BB962C8B-B14F-4D97-AF65-F5344CB8AC3E}">
        <p14:creationId xmlns:p14="http://schemas.microsoft.com/office/powerpoint/2010/main" val="1918372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AE6D-0750-4053-B0CB-ED0906FB3D05}"/>
              </a:ext>
            </a:extLst>
          </p:cNvPr>
          <p:cNvSpPr>
            <a:spLocks noGrp="1"/>
          </p:cNvSpPr>
          <p:nvPr>
            <p:ph type="title"/>
          </p:nvPr>
        </p:nvSpPr>
        <p:spPr/>
        <p:txBody>
          <a:bodyPr/>
          <a:lstStyle/>
          <a:p>
            <a:r>
              <a:rPr lang="en-US">
                <a:solidFill>
                  <a:schemeClr val="tx2"/>
                </a:solidFill>
              </a:rPr>
              <a:t>Array Initializers</a:t>
            </a:r>
          </a:p>
        </p:txBody>
      </p:sp>
      <p:sp>
        <p:nvSpPr>
          <p:cNvPr id="3" name="Content Placeholder 2">
            <a:extLst>
              <a:ext uri="{FF2B5EF4-FFF2-40B4-BE49-F238E27FC236}">
                <a16:creationId xmlns:a16="http://schemas.microsoft.com/office/drawing/2014/main" id="{9C189F57-80A8-4783-92A3-9E9E7612DF91}"/>
              </a:ext>
            </a:extLst>
          </p:cNvPr>
          <p:cNvSpPr>
            <a:spLocks noGrp="1"/>
          </p:cNvSpPr>
          <p:nvPr>
            <p:ph sz="quarter" idx="13"/>
          </p:nvPr>
        </p:nvSpPr>
        <p:spPr>
          <a:xfrm>
            <a:off x="1485900" y="2024497"/>
            <a:ext cx="6172200" cy="416145"/>
          </a:xfrm>
        </p:spPr>
        <p:txBody>
          <a:bodyPr/>
          <a:lstStyle/>
          <a:p>
            <a:r>
              <a:rPr lang="en-US" dirty="0"/>
              <a:t>Declaring, creating, initializing in one step:</a:t>
            </a:r>
          </a:p>
        </p:txBody>
      </p:sp>
      <p:sp>
        <p:nvSpPr>
          <p:cNvPr id="4" name="Content Placeholder 3">
            <a:extLst>
              <a:ext uri="{FF2B5EF4-FFF2-40B4-BE49-F238E27FC236}">
                <a16:creationId xmlns:a16="http://schemas.microsoft.com/office/drawing/2014/main" id="{5C4FA86B-F4DA-4E7B-B26F-4C8A1A27E5CD}"/>
              </a:ext>
            </a:extLst>
          </p:cNvPr>
          <p:cNvSpPr>
            <a:spLocks noGrp="1"/>
          </p:cNvSpPr>
          <p:nvPr>
            <p:ph sz="quarter" idx="14"/>
          </p:nvPr>
        </p:nvSpPr>
        <p:spPr>
          <a:xfrm>
            <a:off x="1485900" y="2550573"/>
            <a:ext cx="6172200" cy="817918"/>
          </a:xfrm>
        </p:spPr>
        <p:txBody>
          <a:bodyPr/>
          <a:lstStyle/>
          <a:p>
            <a:pPr marL="191700" indent="0">
              <a:buNone/>
            </a:pPr>
            <a:r>
              <a:rPr lang="en-US" b="1" dirty="0">
                <a:latin typeface="Courier New" panose="02070309020205020404" pitchFamily="49" charset="0"/>
                <a:cs typeface="Courier New" panose="02070309020205020404" pitchFamily="49" charset="0"/>
              </a:rPr>
              <a:t>double[] myList = {1.9, 2.9, 3.4, 3.5};</a:t>
            </a:r>
            <a:endParaRPr lang="en-US" dirty="0"/>
          </a:p>
          <a:p>
            <a:pPr marL="324" indent="0">
              <a:buNone/>
            </a:pPr>
            <a:r>
              <a:rPr lang="en-US" dirty="0"/>
              <a:t>This shorthand syntax must be in one statement.</a:t>
            </a:r>
          </a:p>
        </p:txBody>
      </p:sp>
    </p:spTree>
    <p:extLst>
      <p:ext uri="{BB962C8B-B14F-4D97-AF65-F5344CB8AC3E}">
        <p14:creationId xmlns:p14="http://schemas.microsoft.com/office/powerpoint/2010/main" val="2612510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48CD5-AD89-41B1-968B-CAA590C8B88C}"/>
              </a:ext>
            </a:extLst>
          </p:cNvPr>
          <p:cNvSpPr>
            <a:spLocks noGrp="1"/>
          </p:cNvSpPr>
          <p:nvPr>
            <p:ph type="title"/>
          </p:nvPr>
        </p:nvSpPr>
        <p:spPr/>
        <p:txBody>
          <a:bodyPr/>
          <a:lstStyle/>
          <a:p>
            <a:r>
              <a:rPr lang="en-IN" dirty="0"/>
              <a:t>Processing Arrays</a:t>
            </a:r>
          </a:p>
        </p:txBody>
      </p:sp>
      <p:sp>
        <p:nvSpPr>
          <p:cNvPr id="3" name="Content Placeholder 2">
            <a:extLst>
              <a:ext uri="{FF2B5EF4-FFF2-40B4-BE49-F238E27FC236}">
                <a16:creationId xmlns:a16="http://schemas.microsoft.com/office/drawing/2014/main" id="{FFD74CF2-6FB8-41FB-B258-A03E8AED5EF8}"/>
              </a:ext>
            </a:extLst>
          </p:cNvPr>
          <p:cNvSpPr>
            <a:spLocks noGrp="1"/>
          </p:cNvSpPr>
          <p:nvPr>
            <p:ph sz="quarter" idx="13"/>
          </p:nvPr>
        </p:nvSpPr>
        <p:spPr>
          <a:xfrm>
            <a:off x="1485901" y="2023440"/>
            <a:ext cx="6174581" cy="3593262"/>
          </a:xfrm>
        </p:spPr>
        <p:txBody>
          <a:bodyPr/>
          <a:lstStyle/>
          <a:p>
            <a:pPr marL="324" indent="0">
              <a:buNone/>
            </a:pPr>
            <a:r>
              <a:rPr lang="en-IN" sz="1650" dirty="0"/>
              <a:t>See the examples in the text.</a:t>
            </a:r>
          </a:p>
          <a:p>
            <a:pPr marL="324000" indent="-324000">
              <a:buFont typeface="+mj-lt"/>
              <a:buAutoNum type="arabicPeriod"/>
            </a:pPr>
            <a:r>
              <a:rPr lang="en-IN" sz="1650" dirty="0"/>
              <a:t>(Initializing arrays with input values)</a:t>
            </a:r>
          </a:p>
          <a:p>
            <a:pPr marL="324000" indent="-324000">
              <a:buFont typeface="+mj-lt"/>
              <a:buAutoNum type="arabicPeriod"/>
            </a:pPr>
            <a:r>
              <a:rPr lang="en-IN" sz="1650" dirty="0"/>
              <a:t>(Initializing arrays with random values)</a:t>
            </a:r>
          </a:p>
          <a:p>
            <a:pPr marL="324000" indent="-324000">
              <a:buFont typeface="+mj-lt"/>
              <a:buAutoNum type="arabicPeriod"/>
            </a:pPr>
            <a:r>
              <a:rPr lang="en-IN" sz="1650" dirty="0"/>
              <a:t>(Printing arrays)</a:t>
            </a:r>
          </a:p>
          <a:p>
            <a:pPr marL="324000" indent="-324000">
              <a:buFont typeface="+mj-lt"/>
              <a:buAutoNum type="arabicPeriod"/>
            </a:pPr>
            <a:r>
              <a:rPr lang="en-IN" sz="1650" dirty="0"/>
              <a:t>(Summing all elements)</a:t>
            </a:r>
          </a:p>
          <a:p>
            <a:pPr marL="324000" indent="-324000">
              <a:buFont typeface="+mj-lt"/>
              <a:buAutoNum type="arabicPeriod"/>
            </a:pPr>
            <a:r>
              <a:rPr lang="en-IN" sz="1650" dirty="0"/>
              <a:t>(Finding the largest element)</a:t>
            </a:r>
          </a:p>
          <a:p>
            <a:pPr marL="324000" indent="-324000">
              <a:buFont typeface="+mj-lt"/>
              <a:buAutoNum type="arabicPeriod"/>
            </a:pPr>
            <a:r>
              <a:rPr lang="en-IN" sz="1650" dirty="0"/>
              <a:t>(Finding the smallest index of the largest element)</a:t>
            </a:r>
          </a:p>
          <a:p>
            <a:pPr marL="324000" indent="-324000">
              <a:buFont typeface="+mj-lt"/>
              <a:buAutoNum type="arabicPeriod"/>
            </a:pPr>
            <a:r>
              <a:rPr lang="en-IN" sz="1650" dirty="0"/>
              <a:t>(</a:t>
            </a:r>
            <a:r>
              <a:rPr lang="en-IN" sz="1650" b="1" dirty="0"/>
              <a:t>Random shuffling</a:t>
            </a:r>
            <a:r>
              <a:rPr lang="en-IN" sz="1650" dirty="0"/>
              <a:t>)</a:t>
            </a:r>
          </a:p>
          <a:p>
            <a:pPr marL="324000" indent="-324000">
              <a:buFont typeface="+mj-lt"/>
              <a:buAutoNum type="arabicPeriod"/>
            </a:pPr>
            <a:r>
              <a:rPr lang="en-IN" sz="1650" dirty="0"/>
              <a:t>(</a:t>
            </a:r>
            <a:r>
              <a:rPr lang="en-IN" sz="1650" b="1" dirty="0"/>
              <a:t>Shifting elements</a:t>
            </a:r>
            <a:r>
              <a:rPr lang="en-IN" sz="1650" dirty="0"/>
              <a:t>) - left</a:t>
            </a:r>
          </a:p>
        </p:txBody>
      </p:sp>
    </p:spTree>
    <p:extLst>
      <p:ext uri="{BB962C8B-B14F-4D97-AF65-F5344CB8AC3E}">
        <p14:creationId xmlns:p14="http://schemas.microsoft.com/office/powerpoint/2010/main" val="4086396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8790-5543-48B3-A14D-7AAE0325681C}"/>
              </a:ext>
            </a:extLst>
          </p:cNvPr>
          <p:cNvSpPr>
            <a:spLocks noGrp="1"/>
          </p:cNvSpPr>
          <p:nvPr>
            <p:ph type="title"/>
          </p:nvPr>
        </p:nvSpPr>
        <p:spPr/>
        <p:txBody>
          <a:bodyPr/>
          <a:lstStyle/>
          <a:p>
            <a:r>
              <a:rPr lang="en-US" dirty="0"/>
              <a:t>Shifting Elements – shift left</a:t>
            </a:r>
          </a:p>
        </p:txBody>
      </p:sp>
      <p:pic>
        <p:nvPicPr>
          <p:cNvPr id="4" name="Picture 3">
            <a:extLst>
              <a:ext uri="{FF2B5EF4-FFF2-40B4-BE49-F238E27FC236}">
                <a16:creationId xmlns:a16="http://schemas.microsoft.com/office/drawing/2014/main" id="{DC7321E6-325E-416A-840B-9533B13B8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447800"/>
            <a:ext cx="3734321" cy="1066949"/>
          </a:xfrm>
          <a:prstGeom prst="rect">
            <a:avLst/>
          </a:prstGeom>
        </p:spPr>
      </p:pic>
    </p:spTree>
    <p:extLst>
      <p:ext uri="{BB962C8B-B14F-4D97-AF65-F5344CB8AC3E}">
        <p14:creationId xmlns:p14="http://schemas.microsoft.com/office/powerpoint/2010/main" val="2310113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8790-5543-48B3-A14D-7AAE0325681C}"/>
              </a:ext>
            </a:extLst>
          </p:cNvPr>
          <p:cNvSpPr>
            <a:spLocks noGrp="1"/>
          </p:cNvSpPr>
          <p:nvPr>
            <p:ph type="title"/>
          </p:nvPr>
        </p:nvSpPr>
        <p:spPr/>
        <p:txBody>
          <a:bodyPr/>
          <a:lstStyle/>
          <a:p>
            <a:r>
              <a:rPr lang="en-US" dirty="0"/>
              <a:t>Shifting Elements – shift right</a:t>
            </a:r>
          </a:p>
        </p:txBody>
      </p:sp>
      <p:graphicFrame>
        <p:nvGraphicFramePr>
          <p:cNvPr id="3" name="Table 3">
            <a:extLst>
              <a:ext uri="{FF2B5EF4-FFF2-40B4-BE49-F238E27FC236}">
                <a16:creationId xmlns:a16="http://schemas.microsoft.com/office/drawing/2014/main" id="{C979D49D-C62E-4305-B024-45812EC3800F}"/>
              </a:ext>
            </a:extLst>
          </p:cNvPr>
          <p:cNvGraphicFramePr>
            <a:graphicFrameLocks noGrp="1"/>
          </p:cNvGraphicFramePr>
          <p:nvPr>
            <p:extLst>
              <p:ext uri="{D42A27DB-BD31-4B8C-83A1-F6EECF244321}">
                <p14:modId xmlns:p14="http://schemas.microsoft.com/office/powerpoint/2010/main" val="69625900"/>
              </p:ext>
            </p:extLst>
          </p:nvPr>
        </p:nvGraphicFramePr>
        <p:xfrm>
          <a:off x="1371600" y="1998756"/>
          <a:ext cx="6096000" cy="3708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432253477"/>
                    </a:ext>
                  </a:extLst>
                </a:gridCol>
                <a:gridCol w="762000">
                  <a:extLst>
                    <a:ext uri="{9D8B030D-6E8A-4147-A177-3AD203B41FA5}">
                      <a16:colId xmlns:a16="http://schemas.microsoft.com/office/drawing/2014/main" val="1308633931"/>
                    </a:ext>
                  </a:extLst>
                </a:gridCol>
                <a:gridCol w="762000">
                  <a:extLst>
                    <a:ext uri="{9D8B030D-6E8A-4147-A177-3AD203B41FA5}">
                      <a16:colId xmlns:a16="http://schemas.microsoft.com/office/drawing/2014/main" val="2586658009"/>
                    </a:ext>
                  </a:extLst>
                </a:gridCol>
                <a:gridCol w="762000">
                  <a:extLst>
                    <a:ext uri="{9D8B030D-6E8A-4147-A177-3AD203B41FA5}">
                      <a16:colId xmlns:a16="http://schemas.microsoft.com/office/drawing/2014/main" val="1957087121"/>
                    </a:ext>
                  </a:extLst>
                </a:gridCol>
                <a:gridCol w="762000">
                  <a:extLst>
                    <a:ext uri="{9D8B030D-6E8A-4147-A177-3AD203B41FA5}">
                      <a16:colId xmlns:a16="http://schemas.microsoft.com/office/drawing/2014/main" val="878547798"/>
                    </a:ext>
                  </a:extLst>
                </a:gridCol>
                <a:gridCol w="762000">
                  <a:extLst>
                    <a:ext uri="{9D8B030D-6E8A-4147-A177-3AD203B41FA5}">
                      <a16:colId xmlns:a16="http://schemas.microsoft.com/office/drawing/2014/main" val="2546636893"/>
                    </a:ext>
                  </a:extLst>
                </a:gridCol>
                <a:gridCol w="762000">
                  <a:extLst>
                    <a:ext uri="{9D8B030D-6E8A-4147-A177-3AD203B41FA5}">
                      <a16:colId xmlns:a16="http://schemas.microsoft.com/office/drawing/2014/main" val="2907812002"/>
                    </a:ext>
                  </a:extLst>
                </a:gridCol>
                <a:gridCol w="762000">
                  <a:extLst>
                    <a:ext uri="{9D8B030D-6E8A-4147-A177-3AD203B41FA5}">
                      <a16:colId xmlns:a16="http://schemas.microsoft.com/office/drawing/2014/main" val="333213319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983745896"/>
                  </a:ext>
                </a:extLst>
              </a:tr>
            </a:tbl>
          </a:graphicData>
        </a:graphic>
      </p:graphicFrame>
      <p:sp>
        <p:nvSpPr>
          <p:cNvPr id="16" name="Arrow: U-Turn 15">
            <a:extLst>
              <a:ext uri="{FF2B5EF4-FFF2-40B4-BE49-F238E27FC236}">
                <a16:creationId xmlns:a16="http://schemas.microsoft.com/office/drawing/2014/main" id="{77B5ECA7-54A9-4B12-876B-A4936D746DF0}"/>
              </a:ext>
            </a:extLst>
          </p:cNvPr>
          <p:cNvSpPr/>
          <p:nvPr/>
        </p:nvSpPr>
        <p:spPr bwMode="auto">
          <a:xfrm>
            <a:off x="6400800" y="1828800"/>
            <a:ext cx="533400" cy="22860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17" name="Arrow: U-Turn 16">
            <a:extLst>
              <a:ext uri="{FF2B5EF4-FFF2-40B4-BE49-F238E27FC236}">
                <a16:creationId xmlns:a16="http://schemas.microsoft.com/office/drawing/2014/main" id="{8DDE3DA1-110C-4137-B4C1-ACD6D24F40C7}"/>
              </a:ext>
            </a:extLst>
          </p:cNvPr>
          <p:cNvSpPr/>
          <p:nvPr/>
        </p:nvSpPr>
        <p:spPr bwMode="auto">
          <a:xfrm>
            <a:off x="5638800" y="1828800"/>
            <a:ext cx="533400" cy="22860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18" name="Arrow: U-Turn 17">
            <a:extLst>
              <a:ext uri="{FF2B5EF4-FFF2-40B4-BE49-F238E27FC236}">
                <a16:creationId xmlns:a16="http://schemas.microsoft.com/office/drawing/2014/main" id="{C8A5A143-1530-407E-80B2-7BA763B7BB7A}"/>
              </a:ext>
            </a:extLst>
          </p:cNvPr>
          <p:cNvSpPr/>
          <p:nvPr/>
        </p:nvSpPr>
        <p:spPr bwMode="auto">
          <a:xfrm>
            <a:off x="4876800" y="1867790"/>
            <a:ext cx="533400" cy="22860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19" name="Arrow: U-Turn 18">
            <a:extLst>
              <a:ext uri="{FF2B5EF4-FFF2-40B4-BE49-F238E27FC236}">
                <a16:creationId xmlns:a16="http://schemas.microsoft.com/office/drawing/2014/main" id="{5CF47E4D-EA44-4676-98EF-1DE58F239DD8}"/>
              </a:ext>
            </a:extLst>
          </p:cNvPr>
          <p:cNvSpPr/>
          <p:nvPr/>
        </p:nvSpPr>
        <p:spPr bwMode="auto">
          <a:xfrm>
            <a:off x="4070798" y="1866900"/>
            <a:ext cx="533400" cy="22860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0" name="Arrow: U-Turn 19">
            <a:extLst>
              <a:ext uri="{FF2B5EF4-FFF2-40B4-BE49-F238E27FC236}">
                <a16:creationId xmlns:a16="http://schemas.microsoft.com/office/drawing/2014/main" id="{30217311-342C-4D05-8145-1A7767F52BC8}"/>
              </a:ext>
            </a:extLst>
          </p:cNvPr>
          <p:cNvSpPr/>
          <p:nvPr/>
        </p:nvSpPr>
        <p:spPr bwMode="auto">
          <a:xfrm>
            <a:off x="3338849" y="1873069"/>
            <a:ext cx="533400" cy="228600"/>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1" name="Arrow: U-Turn 20">
            <a:extLst>
              <a:ext uri="{FF2B5EF4-FFF2-40B4-BE49-F238E27FC236}">
                <a16:creationId xmlns:a16="http://schemas.microsoft.com/office/drawing/2014/main" id="{F4F637B5-8093-43D2-9FF0-13FCB9C1A59E}"/>
              </a:ext>
            </a:extLst>
          </p:cNvPr>
          <p:cNvSpPr/>
          <p:nvPr/>
        </p:nvSpPr>
        <p:spPr bwMode="auto">
          <a:xfrm>
            <a:off x="2606900" y="1836129"/>
            <a:ext cx="533400" cy="273493"/>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2" name="Arrow: U-Turn 21">
            <a:extLst>
              <a:ext uri="{FF2B5EF4-FFF2-40B4-BE49-F238E27FC236}">
                <a16:creationId xmlns:a16="http://schemas.microsoft.com/office/drawing/2014/main" id="{92C9892F-40A3-414C-8C4F-20BF21B35729}"/>
              </a:ext>
            </a:extLst>
          </p:cNvPr>
          <p:cNvSpPr/>
          <p:nvPr/>
        </p:nvSpPr>
        <p:spPr bwMode="auto">
          <a:xfrm>
            <a:off x="1742137" y="1819677"/>
            <a:ext cx="694925" cy="342899"/>
          </a:xfrm>
          <a:prstGeom prst="uturnArrow">
            <a:avLst>
              <a:gd name="adj1" fmla="val 25000"/>
              <a:gd name="adj2" fmla="val 25000"/>
              <a:gd name="adj3" fmla="val 25000"/>
              <a:gd name="adj4" fmla="val 43750"/>
              <a:gd name="adj5" fmla="val 75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4" name="Arrow: U-Turn 23">
            <a:extLst>
              <a:ext uri="{FF2B5EF4-FFF2-40B4-BE49-F238E27FC236}">
                <a16:creationId xmlns:a16="http://schemas.microsoft.com/office/drawing/2014/main" id="{9EA9B044-F7D5-4637-B958-B4FB71AFB19F}"/>
              </a:ext>
            </a:extLst>
          </p:cNvPr>
          <p:cNvSpPr/>
          <p:nvPr/>
        </p:nvSpPr>
        <p:spPr bwMode="auto">
          <a:xfrm rot="10800000">
            <a:off x="1534197" y="2264266"/>
            <a:ext cx="5663184" cy="134873"/>
          </a:xfrm>
          <a:prstGeom prst="utur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Tree>
    <p:extLst>
      <p:ext uri="{BB962C8B-B14F-4D97-AF65-F5344CB8AC3E}">
        <p14:creationId xmlns:p14="http://schemas.microsoft.com/office/powerpoint/2010/main" val="319960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6107B-1627-4F12-8DEF-F4C225368D28}"/>
              </a:ext>
            </a:extLst>
          </p:cNvPr>
          <p:cNvSpPr>
            <a:spLocks noGrp="1"/>
          </p:cNvSpPr>
          <p:nvPr>
            <p:ph type="title"/>
          </p:nvPr>
        </p:nvSpPr>
        <p:spPr/>
        <p:txBody>
          <a:bodyPr/>
          <a:lstStyle/>
          <a:p>
            <a:r>
              <a:rPr lang="en-US" dirty="0">
                <a:solidFill>
                  <a:schemeClr val="tx2"/>
                </a:solidFill>
              </a:rPr>
              <a:t>Enhanced </a:t>
            </a:r>
            <a:r>
              <a:rPr lang="en-US" u="sng" dirty="0">
                <a:solidFill>
                  <a:schemeClr val="tx2"/>
                </a:solidFill>
                <a:latin typeface="Courier New" panose="02070309020205020404" pitchFamily="49" charset="0"/>
                <a:cs typeface="Courier New" panose="02070309020205020404" pitchFamily="49" charset="0"/>
              </a:rPr>
              <a:t>for</a:t>
            </a:r>
            <a:r>
              <a:rPr lang="en-US" dirty="0">
                <a:solidFill>
                  <a:schemeClr val="tx2"/>
                </a:solidFill>
              </a:rPr>
              <a:t> Loop (</a:t>
            </a:r>
            <a:r>
              <a:rPr lang="en-US" dirty="0">
                <a:solidFill>
                  <a:schemeClr val="tx2"/>
                </a:solidFill>
                <a:cs typeface="Courier New" panose="02070309020205020404" pitchFamily="49" charset="0"/>
              </a:rPr>
              <a:t>for</a:t>
            </a:r>
            <a:r>
              <a:rPr lang="en-US" dirty="0">
                <a:solidFill>
                  <a:schemeClr val="tx2"/>
                </a:solidFill>
              </a:rPr>
              <a:t>-each loop)</a:t>
            </a:r>
          </a:p>
        </p:txBody>
      </p:sp>
      <p:sp>
        <p:nvSpPr>
          <p:cNvPr id="3" name="Content Placeholder 2">
            <a:extLst>
              <a:ext uri="{FF2B5EF4-FFF2-40B4-BE49-F238E27FC236}">
                <a16:creationId xmlns:a16="http://schemas.microsoft.com/office/drawing/2014/main" id="{BDE7B73E-958A-4544-9C99-141EEB45AE0F}"/>
              </a:ext>
            </a:extLst>
          </p:cNvPr>
          <p:cNvSpPr>
            <a:spLocks noGrp="1"/>
          </p:cNvSpPr>
          <p:nvPr>
            <p:ph sz="quarter" idx="13"/>
          </p:nvPr>
        </p:nvSpPr>
        <p:spPr>
          <a:xfrm>
            <a:off x="1485900" y="2021681"/>
            <a:ext cx="6172200" cy="822959"/>
          </a:xfrm>
        </p:spPr>
        <p:txBody>
          <a:bodyPr/>
          <a:lstStyle/>
          <a:p>
            <a:pPr marL="324" indent="0">
              <a:spcBef>
                <a:spcPts val="450"/>
              </a:spcBef>
              <a:buNone/>
            </a:pPr>
            <a:r>
              <a:rPr lang="en-US" sz="1500" dirty="0"/>
              <a:t>J</a:t>
            </a:r>
            <a:r>
              <a:rPr lang="en-US" sz="100" dirty="0"/>
              <a:t> </a:t>
            </a:r>
            <a:r>
              <a:rPr lang="en-US" sz="1500" dirty="0"/>
              <a:t>D</a:t>
            </a:r>
            <a:r>
              <a:rPr lang="en-US" sz="100" dirty="0"/>
              <a:t> </a:t>
            </a:r>
            <a:r>
              <a:rPr lang="en-US" sz="1500" dirty="0"/>
              <a:t>K 1.5 introduced a new for loop that enables you to traverse the complete array sequentially without using an index variable. For example, the following code displays all elements in the array </a:t>
            </a:r>
            <a:r>
              <a:rPr lang="en-US" sz="1500" dirty="0">
                <a:latin typeface="Courier New" panose="02070309020205020404" pitchFamily="49" charset="0"/>
                <a:cs typeface="Courier New" panose="02070309020205020404" pitchFamily="49" charset="0"/>
              </a:rPr>
              <a:t>myList</a:t>
            </a:r>
            <a:r>
              <a:rPr lang="en-US" sz="1500" dirty="0"/>
              <a:t>:</a:t>
            </a:r>
          </a:p>
        </p:txBody>
      </p:sp>
      <p:sp>
        <p:nvSpPr>
          <p:cNvPr id="4" name="Content Placeholder 3">
            <a:extLst>
              <a:ext uri="{FF2B5EF4-FFF2-40B4-BE49-F238E27FC236}">
                <a16:creationId xmlns:a16="http://schemas.microsoft.com/office/drawing/2014/main" id="{958B2EA7-9721-486B-AD9B-03BB158697BE}"/>
              </a:ext>
            </a:extLst>
          </p:cNvPr>
          <p:cNvSpPr>
            <a:spLocks noGrp="1"/>
          </p:cNvSpPr>
          <p:nvPr>
            <p:ph sz="quarter" idx="14"/>
          </p:nvPr>
        </p:nvSpPr>
        <p:spPr>
          <a:xfrm>
            <a:off x="1485900" y="2908449"/>
            <a:ext cx="6172200" cy="634852"/>
          </a:xfrm>
        </p:spPr>
        <p:txBody>
          <a:bodyPr/>
          <a:lstStyle/>
          <a:p>
            <a:pPr marL="270000" indent="0">
              <a:spcBef>
                <a:spcPts val="450"/>
              </a:spcBef>
              <a:buNone/>
            </a:pPr>
            <a:r>
              <a:rPr lang="en-US" sz="1500" b="1" dirty="0">
                <a:latin typeface="Courier New" panose="02070309020205020404" pitchFamily="49" charset="0"/>
                <a:cs typeface="Courier New" panose="02070309020205020404" pitchFamily="49" charset="0"/>
              </a:rPr>
              <a:t>for (double value: myList)</a:t>
            </a:r>
          </a:p>
          <a:p>
            <a:pPr marL="540000" indent="0">
              <a:spcBef>
                <a:spcPts val="450"/>
              </a:spcBef>
              <a:buNone/>
            </a:pPr>
            <a:r>
              <a:rPr lang="en-US" sz="1500" b="1" dirty="0" err="1">
                <a:latin typeface="Courier New" panose="02070309020205020404" pitchFamily="49" charset="0"/>
                <a:cs typeface="Courier New" panose="02070309020205020404" pitchFamily="49" charset="0"/>
              </a:rPr>
              <a:t>System.out.println</a:t>
            </a:r>
            <a:r>
              <a:rPr lang="en-US" sz="1500" b="1" dirty="0">
                <a:latin typeface="Courier New" panose="02070309020205020404" pitchFamily="49" charset="0"/>
                <a:cs typeface="Courier New" panose="02070309020205020404" pitchFamily="49" charset="0"/>
              </a:rPr>
              <a:t>(value);</a:t>
            </a:r>
          </a:p>
        </p:txBody>
      </p:sp>
      <p:sp>
        <p:nvSpPr>
          <p:cNvPr id="5" name="Content Placeholder 4">
            <a:extLst>
              <a:ext uri="{FF2B5EF4-FFF2-40B4-BE49-F238E27FC236}">
                <a16:creationId xmlns:a16="http://schemas.microsoft.com/office/drawing/2014/main" id="{99F3B670-97CF-40FA-9414-4FFC5D592CA2}"/>
              </a:ext>
            </a:extLst>
          </p:cNvPr>
          <p:cNvSpPr>
            <a:spLocks noGrp="1"/>
          </p:cNvSpPr>
          <p:nvPr>
            <p:ph sz="quarter" idx="15"/>
          </p:nvPr>
        </p:nvSpPr>
        <p:spPr>
          <a:xfrm>
            <a:off x="1485900" y="3595679"/>
            <a:ext cx="6172200" cy="351000"/>
          </a:xfrm>
        </p:spPr>
        <p:txBody>
          <a:bodyPr/>
          <a:lstStyle/>
          <a:p>
            <a:pPr marL="324" indent="0">
              <a:buNone/>
            </a:pPr>
            <a:r>
              <a:rPr lang="en-US" sz="1500"/>
              <a:t>In general, the syntax is</a:t>
            </a:r>
          </a:p>
        </p:txBody>
      </p:sp>
      <p:sp>
        <p:nvSpPr>
          <p:cNvPr id="6" name="Content Placeholder 5">
            <a:extLst>
              <a:ext uri="{FF2B5EF4-FFF2-40B4-BE49-F238E27FC236}">
                <a16:creationId xmlns:a16="http://schemas.microsoft.com/office/drawing/2014/main" id="{BC38708C-6F79-4987-8E74-BED594557AA9}"/>
              </a:ext>
            </a:extLst>
          </p:cNvPr>
          <p:cNvSpPr>
            <a:spLocks noGrp="1"/>
          </p:cNvSpPr>
          <p:nvPr>
            <p:ph sz="quarter" idx="16"/>
          </p:nvPr>
        </p:nvSpPr>
        <p:spPr>
          <a:xfrm>
            <a:off x="1485900" y="4041607"/>
            <a:ext cx="6172200" cy="919014"/>
          </a:xfrm>
        </p:spPr>
        <p:txBody>
          <a:bodyPr/>
          <a:lstStyle/>
          <a:p>
            <a:pPr marL="270000" indent="0">
              <a:spcBef>
                <a:spcPts val="450"/>
              </a:spcBef>
              <a:buNone/>
            </a:pPr>
            <a:r>
              <a:rPr lang="en-US" sz="1500" b="1" dirty="0">
                <a:latin typeface="Courier New" panose="02070309020205020404" pitchFamily="49" charset="0"/>
                <a:cs typeface="Courier New" panose="02070309020205020404" pitchFamily="49" charset="0"/>
              </a:rPr>
              <a:t>for (</a:t>
            </a:r>
            <a:r>
              <a:rPr lang="en-US" sz="1500" b="1" dirty="0" err="1">
                <a:latin typeface="Courier New" panose="02070309020205020404" pitchFamily="49" charset="0"/>
                <a:cs typeface="Courier New" panose="02070309020205020404" pitchFamily="49" charset="0"/>
              </a:rPr>
              <a:t>elementType</a:t>
            </a:r>
            <a:r>
              <a:rPr lang="en-US" sz="1500" b="1" dirty="0">
                <a:latin typeface="Courier New" panose="02070309020205020404" pitchFamily="49" charset="0"/>
                <a:cs typeface="Courier New" panose="02070309020205020404" pitchFamily="49" charset="0"/>
              </a:rPr>
              <a:t> value: arrayRefVar) {</a:t>
            </a:r>
          </a:p>
          <a:p>
            <a:pPr marL="540000" indent="0">
              <a:spcBef>
                <a:spcPts val="450"/>
              </a:spcBef>
              <a:buNone/>
            </a:pPr>
            <a:r>
              <a:rPr lang="en-US" sz="1500" b="1" dirty="0">
                <a:latin typeface="Courier New" panose="02070309020205020404" pitchFamily="49" charset="0"/>
                <a:cs typeface="Courier New" panose="02070309020205020404" pitchFamily="49" charset="0"/>
              </a:rPr>
              <a:t>// Process the value</a:t>
            </a:r>
          </a:p>
          <a:p>
            <a:pPr marL="270000" indent="0">
              <a:spcBef>
                <a:spcPts val="450"/>
              </a:spcBef>
              <a:buNone/>
            </a:pPr>
            <a:r>
              <a:rPr lang="en-US" sz="1500" b="1" dirty="0">
                <a:latin typeface="Courier New" panose="02070309020205020404" pitchFamily="49" charset="0"/>
                <a:cs typeface="Courier New" panose="02070309020205020404" pitchFamily="49" charset="0"/>
              </a:rPr>
              <a:t>}</a:t>
            </a:r>
          </a:p>
        </p:txBody>
      </p:sp>
      <p:sp>
        <p:nvSpPr>
          <p:cNvPr id="7" name="Content Placeholder 6">
            <a:extLst>
              <a:ext uri="{FF2B5EF4-FFF2-40B4-BE49-F238E27FC236}">
                <a16:creationId xmlns:a16="http://schemas.microsoft.com/office/drawing/2014/main" id="{9BCAB230-8C2C-4095-868A-BF66C673B937}"/>
              </a:ext>
            </a:extLst>
          </p:cNvPr>
          <p:cNvSpPr>
            <a:spLocks noGrp="1"/>
          </p:cNvSpPr>
          <p:nvPr>
            <p:ph sz="quarter" idx="17"/>
          </p:nvPr>
        </p:nvSpPr>
        <p:spPr>
          <a:xfrm>
            <a:off x="1485900" y="5022524"/>
            <a:ext cx="6172200" cy="567000"/>
          </a:xfrm>
        </p:spPr>
        <p:txBody>
          <a:bodyPr/>
          <a:lstStyle/>
          <a:p>
            <a:pPr marL="324" indent="0">
              <a:buNone/>
            </a:pPr>
            <a:r>
              <a:rPr lang="en-US" sz="1500"/>
              <a:t>You still have to use an index variable if you wish to traverse the array in a different order or change the elements in the array.</a:t>
            </a:r>
          </a:p>
        </p:txBody>
      </p:sp>
    </p:spTree>
    <p:extLst>
      <p:ext uri="{BB962C8B-B14F-4D97-AF65-F5344CB8AC3E}">
        <p14:creationId xmlns:p14="http://schemas.microsoft.com/office/powerpoint/2010/main" val="1578568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A45AA-9664-4AAC-AC80-DAB950618225}"/>
              </a:ext>
            </a:extLst>
          </p:cNvPr>
          <p:cNvSpPr>
            <a:spLocks noGrp="1"/>
          </p:cNvSpPr>
          <p:nvPr>
            <p:ph type="title"/>
          </p:nvPr>
        </p:nvSpPr>
        <p:spPr/>
        <p:txBody>
          <a:bodyPr/>
          <a:lstStyle/>
          <a:p>
            <a:r>
              <a:rPr lang="en-US">
                <a:solidFill>
                  <a:schemeClr val="tx2"/>
                </a:solidFill>
              </a:rPr>
              <a:t>Problem: Deck of Cards </a:t>
            </a:r>
            <a:r>
              <a:rPr lang="en-US" sz="1500" b="0">
                <a:solidFill>
                  <a:schemeClr val="tx2"/>
                </a:solidFill>
              </a:rPr>
              <a:t>(1 of 4)</a:t>
            </a:r>
            <a:endParaRPr lang="en-US" b="0">
              <a:solidFill>
                <a:schemeClr val="tx2"/>
              </a:solidFill>
            </a:endParaRPr>
          </a:p>
        </p:txBody>
      </p:sp>
      <p:sp>
        <p:nvSpPr>
          <p:cNvPr id="3" name="Content Placeholder 2">
            <a:extLst>
              <a:ext uri="{FF2B5EF4-FFF2-40B4-BE49-F238E27FC236}">
                <a16:creationId xmlns:a16="http://schemas.microsoft.com/office/drawing/2014/main" id="{F3D7D848-79A1-408D-95E0-D8F889E3BA13}"/>
              </a:ext>
            </a:extLst>
          </p:cNvPr>
          <p:cNvSpPr>
            <a:spLocks noGrp="1"/>
          </p:cNvSpPr>
          <p:nvPr>
            <p:ph sz="quarter" idx="13"/>
          </p:nvPr>
        </p:nvSpPr>
        <p:spPr>
          <a:xfrm>
            <a:off x="1485900" y="2021683"/>
            <a:ext cx="6172200" cy="1212797"/>
          </a:xfrm>
        </p:spPr>
        <p:txBody>
          <a:bodyPr/>
          <a:lstStyle/>
          <a:p>
            <a:pPr marL="324" indent="0">
              <a:buNone/>
            </a:pPr>
            <a:r>
              <a:rPr lang="en-US" dirty="0"/>
              <a:t>The problem is to write a program that picks four cards randomly from a deck of 52 cards. All the cards can be represented using an array named deck, filled with initial values 0 to 51, as follows:</a:t>
            </a:r>
          </a:p>
        </p:txBody>
      </p:sp>
      <p:sp>
        <p:nvSpPr>
          <p:cNvPr id="4" name="Content Placeholder 3">
            <a:extLst>
              <a:ext uri="{FF2B5EF4-FFF2-40B4-BE49-F238E27FC236}">
                <a16:creationId xmlns:a16="http://schemas.microsoft.com/office/drawing/2014/main" id="{33AC8DEA-73B7-4906-966C-446EED1628B8}"/>
              </a:ext>
            </a:extLst>
          </p:cNvPr>
          <p:cNvSpPr>
            <a:spLocks noGrp="1"/>
          </p:cNvSpPr>
          <p:nvPr>
            <p:ph sz="quarter" idx="14"/>
          </p:nvPr>
        </p:nvSpPr>
        <p:spPr>
          <a:xfrm>
            <a:off x="1485900" y="3307348"/>
            <a:ext cx="6172200" cy="1653272"/>
          </a:xfrm>
        </p:spPr>
        <p:txBody>
          <a:bodyPr/>
          <a:lstStyle/>
          <a:p>
            <a:pPr marL="270000" indent="0">
              <a:buNone/>
            </a:pPr>
            <a:r>
              <a:rPr lang="en-US" b="1" dirty="0">
                <a:latin typeface="Courier New" panose="02070309020205020404" pitchFamily="49" charset="0"/>
                <a:cs typeface="Courier New" panose="02070309020205020404" pitchFamily="49" charset="0"/>
              </a:rPr>
              <a:t>int[] deck = new int[52];</a:t>
            </a:r>
          </a:p>
          <a:p>
            <a:pPr marL="270000" indent="0">
              <a:buNone/>
            </a:pPr>
            <a:r>
              <a:rPr lang="en-US" b="1" dirty="0">
                <a:latin typeface="Courier New" panose="02070309020205020404" pitchFamily="49" charset="0"/>
                <a:cs typeface="Courier New" panose="02070309020205020404" pitchFamily="49" charset="0"/>
              </a:rPr>
              <a:t>// Initialize cards</a:t>
            </a:r>
          </a:p>
          <a:p>
            <a:pPr marL="270000" indent="0">
              <a:buNone/>
            </a:pPr>
            <a:r>
              <a:rPr lang="en-US" b="1" dirty="0">
                <a:latin typeface="Courier New" panose="02070309020205020404" pitchFamily="49" charset="0"/>
                <a:cs typeface="Courier New" panose="02070309020205020404" pitchFamily="49" charset="0"/>
              </a:rPr>
              <a:t>for (int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 0;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&lt; </a:t>
            </a:r>
            <a:r>
              <a:rPr lang="en-US" b="1" dirty="0" err="1">
                <a:latin typeface="Courier New" panose="02070309020205020404" pitchFamily="49" charset="0"/>
                <a:cs typeface="Courier New" panose="02070309020205020404" pitchFamily="49" charset="0"/>
              </a:rPr>
              <a:t>deck.length</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a:t>
            </a:r>
          </a:p>
          <a:p>
            <a:pPr marL="540000" indent="0">
              <a:buNone/>
            </a:pPr>
            <a:r>
              <a:rPr lang="en-US" b="1" dirty="0">
                <a:latin typeface="Courier New" panose="02070309020205020404" pitchFamily="49" charset="0"/>
                <a:cs typeface="Courier New" panose="02070309020205020404" pitchFamily="49" charset="0"/>
              </a:rPr>
              <a:t>deck[</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81103E55-3283-4462-8A42-0C38BB7C5566}"/>
              </a:ext>
            </a:extLst>
          </p:cNvPr>
          <p:cNvSpPr>
            <a:spLocks noGrp="1"/>
          </p:cNvSpPr>
          <p:nvPr>
            <p:ph type="body" sz="quarter" idx="20"/>
          </p:nvPr>
        </p:nvSpPr>
        <p:spPr>
          <a:xfrm>
            <a:off x="6126480" y="5041493"/>
            <a:ext cx="1531620" cy="428383"/>
          </a:xfrm>
        </p:spPr>
        <p:txBody>
          <a:bodyPr/>
          <a:lstStyle/>
          <a:p>
            <a:pPr marL="324" indent="0">
              <a:buNone/>
            </a:pPr>
            <a:r>
              <a:rPr lang="en-US" dirty="0">
                <a:hlinkClick r:id="rId3" tooltip="https://liveexample.pearsoncmg.com/html/DeckOfCards.html"/>
              </a:rPr>
              <a:t>DeckOfCards</a:t>
            </a:r>
            <a:endParaRPr lang="en-US" dirty="0">
              <a:hlinkClick r:id="rId3"/>
            </a:endParaRPr>
          </a:p>
        </p:txBody>
      </p:sp>
    </p:spTree>
    <p:extLst>
      <p:ext uri="{BB962C8B-B14F-4D97-AF65-F5344CB8AC3E}">
        <p14:creationId xmlns:p14="http://schemas.microsoft.com/office/powerpoint/2010/main" val="1950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73C6C3A-48E6-4FCD-BA57-DF8A40CF58D3}"/>
              </a:ext>
            </a:extLst>
          </p:cNvPr>
          <p:cNvSpPr>
            <a:spLocks noGrp="1"/>
          </p:cNvSpPr>
          <p:nvPr>
            <p:ph type="title"/>
          </p:nvPr>
        </p:nvSpPr>
        <p:spPr>
          <a:xfrm>
            <a:off x="1485900" y="1018780"/>
            <a:ext cx="6172200" cy="822959"/>
          </a:xfrm>
        </p:spPr>
        <p:txBody>
          <a:bodyPr/>
          <a:lstStyle/>
          <a:p>
            <a:r>
              <a:rPr lang="en-US">
                <a:solidFill>
                  <a:schemeClr val="tx2"/>
                </a:solidFill>
              </a:rPr>
              <a:t>Problem: Deck of Cards </a:t>
            </a:r>
            <a:r>
              <a:rPr lang="en-US" sz="1500" b="0">
                <a:solidFill>
                  <a:schemeClr val="tx2"/>
                </a:solidFill>
              </a:rPr>
              <a:t>(2 of 4)</a:t>
            </a:r>
            <a:endParaRPr lang="en-US" b="0">
              <a:solidFill>
                <a:schemeClr val="tx2"/>
              </a:solidFill>
            </a:endParaRPr>
          </a:p>
        </p:txBody>
      </p:sp>
      <p:pic>
        <p:nvPicPr>
          <p:cNvPr id="7" name="Picture 6" descr="An illustration shows Problem, Deck of cards. For long description in Notes pane, press F6.">
            <a:extLst>
              <a:ext uri="{FF2B5EF4-FFF2-40B4-BE49-F238E27FC236}">
                <a16:creationId xmlns:a16="http://schemas.microsoft.com/office/drawing/2014/main" id="{5AD97FB2-257B-4DAC-91B9-FF388E7E41C1}"/>
              </a:ext>
            </a:extLst>
          </p:cNvPr>
          <p:cNvPicPr>
            <a:picLocks noChangeAspect="1"/>
          </p:cNvPicPr>
          <p:nvPr/>
        </p:nvPicPr>
        <p:blipFill>
          <a:blip r:embed="rId3"/>
          <a:stretch>
            <a:fillRect/>
          </a:stretch>
        </p:blipFill>
        <p:spPr>
          <a:xfrm>
            <a:off x="1516381" y="2123461"/>
            <a:ext cx="6111237" cy="3272087"/>
          </a:xfrm>
          <a:prstGeom prst="rect">
            <a:avLst/>
          </a:prstGeom>
        </p:spPr>
      </p:pic>
    </p:spTree>
    <p:extLst>
      <p:ext uri="{BB962C8B-B14F-4D97-AF65-F5344CB8AC3E}">
        <p14:creationId xmlns:p14="http://schemas.microsoft.com/office/powerpoint/2010/main" val="3620124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F25DF64-1230-4666-A5D7-C97C77C465BF}"/>
              </a:ext>
            </a:extLst>
          </p:cNvPr>
          <p:cNvSpPr>
            <a:spLocks noGrp="1"/>
          </p:cNvSpPr>
          <p:nvPr>
            <p:ph type="title"/>
          </p:nvPr>
        </p:nvSpPr>
        <p:spPr>
          <a:xfrm>
            <a:off x="1485900" y="1018780"/>
            <a:ext cx="6172200" cy="822959"/>
          </a:xfrm>
        </p:spPr>
        <p:txBody>
          <a:bodyPr/>
          <a:lstStyle/>
          <a:p>
            <a:r>
              <a:rPr lang="en-US" dirty="0">
                <a:solidFill>
                  <a:schemeClr val="tx2"/>
                </a:solidFill>
              </a:rPr>
              <a:t>Problem: Deck of Cards </a:t>
            </a:r>
            <a:r>
              <a:rPr lang="en-US" sz="1500" b="0" dirty="0">
                <a:solidFill>
                  <a:schemeClr val="tx2"/>
                </a:solidFill>
              </a:rPr>
              <a:t>(3 of 4)</a:t>
            </a:r>
            <a:endParaRPr lang="en-US" b="0" dirty="0">
              <a:solidFill>
                <a:schemeClr val="tx2"/>
              </a:solidFill>
            </a:endParaRPr>
          </a:p>
        </p:txBody>
      </p:sp>
      <p:pic>
        <p:nvPicPr>
          <p:cNvPr id="5" name="Picture 4" descr="&quot;An illustration shows Problem of deck of cards. It shows card Number over 13 consisting of,&#10;0, spades&#10;1, hearts&#10;2, diamonds&#10;3, clubs&#10;Another set shows card Number % 13 consisting of,&#10;0, ace&#10;1, 2&#10;vertical ellipses&#10;10, jack&#10;11, queen&#10;12, king&quot;">
            <a:extLst>
              <a:ext uri="{FF2B5EF4-FFF2-40B4-BE49-F238E27FC236}">
                <a16:creationId xmlns:a16="http://schemas.microsoft.com/office/drawing/2014/main" id="{9C588B56-A6EF-4203-8C00-AFC382104E22}"/>
              </a:ext>
            </a:extLst>
          </p:cNvPr>
          <p:cNvPicPr>
            <a:picLocks noChangeAspect="1"/>
          </p:cNvPicPr>
          <p:nvPr/>
        </p:nvPicPr>
        <p:blipFill>
          <a:blip r:embed="rId3"/>
          <a:stretch>
            <a:fillRect/>
          </a:stretch>
        </p:blipFill>
        <p:spPr>
          <a:xfrm>
            <a:off x="1506539" y="2257811"/>
            <a:ext cx="6130924" cy="2177123"/>
          </a:xfrm>
          <a:prstGeom prst="rect">
            <a:avLst/>
          </a:prstGeom>
        </p:spPr>
      </p:pic>
      <p:sp>
        <p:nvSpPr>
          <p:cNvPr id="10" name="Text Placeholder 9">
            <a:extLst>
              <a:ext uri="{FF2B5EF4-FFF2-40B4-BE49-F238E27FC236}">
                <a16:creationId xmlns:a16="http://schemas.microsoft.com/office/drawing/2014/main" id="{81103E55-3283-4462-8A42-0C38BB7C5566}"/>
              </a:ext>
            </a:extLst>
          </p:cNvPr>
          <p:cNvSpPr>
            <a:spLocks noGrp="1"/>
          </p:cNvSpPr>
          <p:nvPr>
            <p:ph type="body" sz="quarter" idx="20"/>
          </p:nvPr>
        </p:nvSpPr>
        <p:spPr>
          <a:xfrm>
            <a:off x="6115050" y="5064921"/>
            <a:ext cx="1543050" cy="407764"/>
          </a:xfrm>
        </p:spPr>
        <p:txBody>
          <a:bodyPr/>
          <a:lstStyle/>
          <a:p>
            <a:pPr marL="324" indent="0">
              <a:buNone/>
            </a:pPr>
            <a:r>
              <a:rPr lang="en-US" dirty="0">
                <a:hlinkClick r:id="rId4" tooltip="https://liveexample.pearsoncmg.com/html/DeckOfCards.html"/>
              </a:rPr>
              <a:t>DeckOfCards</a:t>
            </a:r>
            <a:endParaRPr lang="en-US" dirty="0">
              <a:hlinkClick r:id="rId4"/>
            </a:endParaRPr>
          </a:p>
        </p:txBody>
      </p:sp>
    </p:spTree>
    <p:extLst>
      <p:ext uri="{BB962C8B-B14F-4D97-AF65-F5344CB8AC3E}">
        <p14:creationId xmlns:p14="http://schemas.microsoft.com/office/powerpoint/2010/main" val="2013981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77A12-8CDA-4B65-A8ED-51637DAEB40F}"/>
              </a:ext>
            </a:extLst>
          </p:cNvPr>
          <p:cNvSpPr>
            <a:spLocks noGrp="1"/>
          </p:cNvSpPr>
          <p:nvPr>
            <p:ph type="title"/>
          </p:nvPr>
        </p:nvSpPr>
        <p:spPr/>
        <p:txBody>
          <a:bodyPr/>
          <a:lstStyle/>
          <a:p>
            <a:r>
              <a:rPr lang="en-US">
                <a:solidFill>
                  <a:schemeClr val="tx2"/>
                </a:solidFill>
              </a:rPr>
              <a:t>Copying Arrays </a:t>
            </a:r>
            <a:r>
              <a:rPr lang="en-US" sz="1500" b="0">
                <a:solidFill>
                  <a:schemeClr val="tx2"/>
                </a:solidFill>
              </a:rPr>
              <a:t>(1 of 2)</a:t>
            </a:r>
            <a:endParaRPr lang="en-US" b="0">
              <a:solidFill>
                <a:schemeClr val="tx2"/>
              </a:solidFill>
            </a:endParaRPr>
          </a:p>
        </p:txBody>
      </p:sp>
      <p:sp>
        <p:nvSpPr>
          <p:cNvPr id="3" name="Content Placeholder 2">
            <a:extLst>
              <a:ext uri="{FF2B5EF4-FFF2-40B4-BE49-F238E27FC236}">
                <a16:creationId xmlns:a16="http://schemas.microsoft.com/office/drawing/2014/main" id="{CFBD6974-462A-4FE9-969C-77BC8C436037}"/>
              </a:ext>
            </a:extLst>
          </p:cNvPr>
          <p:cNvSpPr>
            <a:spLocks noGrp="1"/>
          </p:cNvSpPr>
          <p:nvPr>
            <p:ph sz="quarter" idx="13"/>
          </p:nvPr>
        </p:nvSpPr>
        <p:spPr>
          <a:xfrm>
            <a:off x="1485899" y="2024495"/>
            <a:ext cx="6264000" cy="1350000"/>
          </a:xfrm>
        </p:spPr>
        <p:txBody>
          <a:bodyPr/>
          <a:lstStyle/>
          <a:p>
            <a:pPr marL="324" indent="0">
              <a:buNone/>
            </a:pPr>
            <a:r>
              <a:rPr lang="en-US"/>
              <a:t>Often, in a program, you need to duplicate an array or a part of an array. In such cases you could attempt to use the assignment statement (</a:t>
            </a:r>
            <a:r>
              <a:rPr lang="en-US">
                <a:latin typeface="Courier New" panose="02070309020205020404" pitchFamily="49" charset="0"/>
                <a:cs typeface="Courier New" panose="02070309020205020404" pitchFamily="49" charset="0"/>
              </a:rPr>
              <a:t>=</a:t>
            </a:r>
            <a:r>
              <a:rPr lang="en-US"/>
              <a:t>), as follows:</a:t>
            </a:r>
          </a:p>
          <a:p>
            <a:pPr marL="324" indent="0">
              <a:buNone/>
            </a:pPr>
            <a:r>
              <a:rPr lang="en-US">
                <a:latin typeface="Courier New" panose="02070309020205020404" pitchFamily="49" charset="0"/>
                <a:cs typeface="Courier New" panose="02070309020205020404" pitchFamily="49" charset="0"/>
              </a:rPr>
              <a:t>list2 = list1;</a:t>
            </a:r>
          </a:p>
        </p:txBody>
      </p:sp>
      <p:pic>
        <p:nvPicPr>
          <p:cNvPr id="8" name="Picture 7" descr="&quot;An illustration shows Copying arrays.&#10;Before the assignment,&#10;list 2 = list 1&#10;list 1 points to Contents of list 1.&#10;list 2 points to Contents of list 2.&#10;After the assignment&#10;list 2 = list 1&#10;list 1 and list 2 point to Contents of list 1.&quot;">
            <a:extLst>
              <a:ext uri="{FF2B5EF4-FFF2-40B4-BE49-F238E27FC236}">
                <a16:creationId xmlns:a16="http://schemas.microsoft.com/office/drawing/2014/main" id="{B4D8FE25-5856-45A4-8E8C-682AD2BC0636}"/>
              </a:ext>
            </a:extLst>
          </p:cNvPr>
          <p:cNvPicPr>
            <a:picLocks noChangeAspect="1"/>
          </p:cNvPicPr>
          <p:nvPr/>
        </p:nvPicPr>
        <p:blipFill>
          <a:blip r:embed="rId3"/>
          <a:stretch>
            <a:fillRect/>
          </a:stretch>
        </p:blipFill>
        <p:spPr>
          <a:xfrm>
            <a:off x="2126473" y="3522447"/>
            <a:ext cx="4891055" cy="1990243"/>
          </a:xfrm>
          <a:prstGeom prst="rect">
            <a:avLst/>
          </a:prstGeom>
        </p:spPr>
      </p:pic>
    </p:spTree>
    <p:extLst>
      <p:ext uri="{BB962C8B-B14F-4D97-AF65-F5344CB8AC3E}">
        <p14:creationId xmlns:p14="http://schemas.microsoft.com/office/powerpoint/2010/main" val="3498970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AC58-F3CC-4673-955E-7A61A6D176F6}"/>
              </a:ext>
            </a:extLst>
          </p:cNvPr>
          <p:cNvSpPr>
            <a:spLocks noGrp="1"/>
          </p:cNvSpPr>
          <p:nvPr>
            <p:ph type="title"/>
          </p:nvPr>
        </p:nvSpPr>
        <p:spPr/>
        <p:txBody>
          <a:bodyPr/>
          <a:lstStyle/>
          <a:p>
            <a:r>
              <a:rPr lang="en-US"/>
              <a:t>Copying Arrays </a:t>
            </a:r>
            <a:r>
              <a:rPr lang="en-US" sz="1500" b="0"/>
              <a:t>(2 of 2)</a:t>
            </a:r>
            <a:endParaRPr lang="en-US" b="0"/>
          </a:p>
        </p:txBody>
      </p:sp>
      <p:sp>
        <p:nvSpPr>
          <p:cNvPr id="3" name="Content Placeholder 2">
            <a:extLst>
              <a:ext uri="{FF2B5EF4-FFF2-40B4-BE49-F238E27FC236}">
                <a16:creationId xmlns:a16="http://schemas.microsoft.com/office/drawing/2014/main" id="{19543C22-7F28-4F7F-B457-47DE086B88E7}"/>
              </a:ext>
            </a:extLst>
          </p:cNvPr>
          <p:cNvSpPr>
            <a:spLocks noGrp="1"/>
          </p:cNvSpPr>
          <p:nvPr>
            <p:ph sz="quarter" idx="13"/>
          </p:nvPr>
        </p:nvSpPr>
        <p:spPr>
          <a:xfrm>
            <a:off x="1485901" y="2023441"/>
            <a:ext cx="6174581" cy="3155438"/>
          </a:xfrm>
        </p:spPr>
        <p:txBody>
          <a:bodyPr/>
          <a:lstStyle/>
          <a:p>
            <a:pPr marL="324" indent="0">
              <a:buNone/>
            </a:pPr>
            <a:r>
              <a:rPr lang="en-US" dirty="0"/>
              <a:t>Using a loop:</a:t>
            </a:r>
          </a:p>
          <a:p>
            <a:pPr marL="324" indent="0">
              <a:buNone/>
            </a:pPr>
            <a:r>
              <a:rPr lang="en-US" b="1" dirty="0">
                <a:latin typeface="Courier New" panose="02070309020205020404" pitchFamily="49" charset="0"/>
                <a:cs typeface="Courier New" panose="02070309020205020404" pitchFamily="49" charset="0"/>
              </a:rPr>
              <a:t>int[] </a:t>
            </a:r>
            <a:r>
              <a:rPr lang="en-US" b="1" dirty="0" err="1">
                <a:latin typeface="Courier New" panose="02070309020205020404" pitchFamily="49" charset="0"/>
                <a:cs typeface="Courier New" panose="02070309020205020404" pitchFamily="49" charset="0"/>
              </a:rPr>
              <a:t>sourceArray</a:t>
            </a:r>
            <a:r>
              <a:rPr lang="en-US" b="1" dirty="0">
                <a:latin typeface="Courier New" panose="02070309020205020404" pitchFamily="49" charset="0"/>
                <a:cs typeface="Courier New" panose="02070309020205020404" pitchFamily="49" charset="0"/>
              </a:rPr>
              <a:t> = {2, 3, 1, 5, 10};</a:t>
            </a:r>
          </a:p>
          <a:p>
            <a:pPr marL="270000" indent="-270000">
              <a:buNone/>
            </a:pPr>
            <a:r>
              <a:rPr lang="en-US" b="1" dirty="0">
                <a:latin typeface="Courier New" panose="02070309020205020404" pitchFamily="49" charset="0"/>
                <a:cs typeface="Courier New" panose="02070309020205020404" pitchFamily="49" charset="0"/>
              </a:rPr>
              <a:t>int[] </a:t>
            </a:r>
            <a:r>
              <a:rPr lang="en-US" b="1" dirty="0" err="1">
                <a:latin typeface="Courier New" panose="02070309020205020404" pitchFamily="49" charset="0"/>
                <a:cs typeface="Courier New" panose="02070309020205020404" pitchFamily="49" charset="0"/>
              </a:rPr>
              <a:t>targetArray</a:t>
            </a:r>
            <a:r>
              <a:rPr lang="en-US" b="1" dirty="0">
                <a:latin typeface="Courier New" panose="02070309020205020404" pitchFamily="49" charset="0"/>
                <a:cs typeface="Courier New" panose="02070309020205020404" pitchFamily="49" charset="0"/>
              </a:rPr>
              <a:t> = new int[</a:t>
            </a:r>
            <a:r>
              <a:rPr lang="en-US" b="1" dirty="0" err="1">
                <a:latin typeface="Courier New" panose="02070309020205020404" pitchFamily="49" charset="0"/>
                <a:cs typeface="Courier New" panose="02070309020205020404" pitchFamily="49" charset="0"/>
              </a:rPr>
              <a:t>sourceArray.length</a:t>
            </a:r>
            <a:r>
              <a:rPr lang="en-US" b="1" dirty="0">
                <a:latin typeface="Courier New" panose="02070309020205020404" pitchFamily="49" charset="0"/>
                <a:cs typeface="Courier New" panose="02070309020205020404" pitchFamily="49" charset="0"/>
              </a:rPr>
              <a:t>];</a:t>
            </a:r>
          </a:p>
          <a:p>
            <a:pPr marL="324" indent="0">
              <a:buNone/>
            </a:pPr>
            <a:endParaRPr lang="en-US" b="1" dirty="0">
              <a:latin typeface="Courier New" panose="02070309020205020404" pitchFamily="49" charset="0"/>
              <a:cs typeface="Courier New" panose="02070309020205020404" pitchFamily="49" charset="0"/>
            </a:endParaRPr>
          </a:p>
          <a:p>
            <a:pPr marL="324" indent="0">
              <a:buNone/>
            </a:pPr>
            <a:r>
              <a:rPr lang="en-US" b="1" dirty="0">
                <a:latin typeface="Courier New" panose="02070309020205020404" pitchFamily="49" charset="0"/>
                <a:cs typeface="Courier New" panose="02070309020205020404" pitchFamily="49" charset="0"/>
              </a:rPr>
              <a:t>for (int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 0;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&lt; </a:t>
            </a:r>
            <a:r>
              <a:rPr lang="en-US" b="1" dirty="0" err="1">
                <a:latin typeface="Courier New" panose="02070309020205020404" pitchFamily="49" charset="0"/>
                <a:cs typeface="Courier New" panose="02070309020205020404" pitchFamily="49" charset="0"/>
              </a:rPr>
              <a:t>sourceArrays.length</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a:t>
            </a:r>
          </a:p>
          <a:p>
            <a:pPr marL="540000" indent="0">
              <a:buNone/>
            </a:pPr>
            <a:r>
              <a:rPr lang="en-US" b="1" dirty="0" err="1">
                <a:latin typeface="Courier New" panose="02070309020205020404" pitchFamily="49" charset="0"/>
                <a:cs typeface="Courier New" panose="02070309020205020404" pitchFamily="49" charset="0"/>
              </a:rPr>
              <a:t>targetArray</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 </a:t>
            </a:r>
            <a:r>
              <a:rPr lang="en-US" b="1" dirty="0" err="1">
                <a:latin typeface="Courier New" panose="02070309020205020404" pitchFamily="49" charset="0"/>
                <a:cs typeface="Courier New" panose="02070309020205020404" pitchFamily="49" charset="0"/>
              </a:rPr>
              <a:t>sourceArray</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12477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3B6E-D1EE-4568-ACF7-6C429195C959}"/>
              </a:ext>
            </a:extLst>
          </p:cNvPr>
          <p:cNvSpPr>
            <a:spLocks noGrp="1"/>
          </p:cNvSpPr>
          <p:nvPr>
            <p:ph type="title"/>
          </p:nvPr>
        </p:nvSpPr>
        <p:spPr/>
        <p:txBody>
          <a:bodyPr/>
          <a:lstStyle/>
          <a:p>
            <a:r>
              <a:rPr lang="en-US" dirty="0">
                <a:solidFill>
                  <a:schemeClr val="tx2"/>
                </a:solidFill>
              </a:rPr>
              <a:t>The </a:t>
            </a:r>
            <a:r>
              <a:rPr lang="en-US" dirty="0" err="1">
                <a:solidFill>
                  <a:schemeClr val="tx2"/>
                </a:solidFill>
                <a:latin typeface="Courier New" panose="02070309020205020404" pitchFamily="49" charset="0"/>
                <a:cs typeface="Courier New" panose="02070309020205020404" pitchFamily="49" charset="0"/>
              </a:rPr>
              <a:t>arraycopy</a:t>
            </a:r>
            <a:r>
              <a:rPr lang="en-US" dirty="0">
                <a:solidFill>
                  <a:schemeClr val="tx2"/>
                </a:solidFill>
              </a:rPr>
              <a:t> Utility</a:t>
            </a:r>
          </a:p>
        </p:txBody>
      </p:sp>
      <p:sp>
        <p:nvSpPr>
          <p:cNvPr id="3" name="Content Placeholder 2">
            <a:extLst>
              <a:ext uri="{FF2B5EF4-FFF2-40B4-BE49-F238E27FC236}">
                <a16:creationId xmlns:a16="http://schemas.microsoft.com/office/drawing/2014/main" id="{A4CCB436-A1F0-4161-A3B5-F9EBD2EE568B}"/>
              </a:ext>
            </a:extLst>
          </p:cNvPr>
          <p:cNvSpPr>
            <a:spLocks noGrp="1"/>
          </p:cNvSpPr>
          <p:nvPr>
            <p:ph sz="quarter" idx="13"/>
          </p:nvPr>
        </p:nvSpPr>
        <p:spPr>
          <a:xfrm>
            <a:off x="1485900" y="2024495"/>
            <a:ext cx="6172200" cy="705098"/>
          </a:xfrm>
        </p:spPr>
        <p:txBody>
          <a:bodyPr/>
          <a:lstStyle/>
          <a:p>
            <a:pPr marL="270000" indent="-270000">
              <a:buNone/>
            </a:pPr>
            <a:r>
              <a:rPr lang="en-US" b="1" dirty="0" err="1">
                <a:latin typeface="Courier New" panose="02070309020205020404" pitchFamily="49" charset="0"/>
                <a:cs typeface="Courier New" panose="02070309020205020404" pitchFamily="49" charset="0"/>
              </a:rPr>
              <a:t>arraycopy</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sourceArray</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src_pos</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targetArray</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tar_pos</a:t>
            </a:r>
            <a:r>
              <a:rPr lang="en-US" b="1" dirty="0">
                <a:latin typeface="Courier New" panose="02070309020205020404" pitchFamily="49" charset="0"/>
                <a:cs typeface="Courier New" panose="02070309020205020404" pitchFamily="49" charset="0"/>
              </a:rPr>
              <a:t>, length);</a:t>
            </a:r>
          </a:p>
        </p:txBody>
      </p:sp>
      <p:sp>
        <p:nvSpPr>
          <p:cNvPr id="4" name="Content Placeholder 3">
            <a:extLst>
              <a:ext uri="{FF2B5EF4-FFF2-40B4-BE49-F238E27FC236}">
                <a16:creationId xmlns:a16="http://schemas.microsoft.com/office/drawing/2014/main" id="{33D9F001-CC7D-44EF-894C-51CB729C2873}"/>
              </a:ext>
            </a:extLst>
          </p:cNvPr>
          <p:cNvSpPr>
            <a:spLocks noGrp="1"/>
          </p:cNvSpPr>
          <p:nvPr>
            <p:ph sz="quarter" idx="14"/>
          </p:nvPr>
        </p:nvSpPr>
        <p:spPr>
          <a:xfrm>
            <a:off x="1485900" y="2912351"/>
            <a:ext cx="6172200" cy="1216058"/>
          </a:xfrm>
        </p:spPr>
        <p:txBody>
          <a:bodyPr/>
          <a:lstStyle/>
          <a:p>
            <a:pPr marL="324" indent="0">
              <a:buNone/>
            </a:pPr>
            <a:r>
              <a:rPr lang="en-US" dirty="0"/>
              <a:t>Example:</a:t>
            </a:r>
          </a:p>
          <a:p>
            <a:pPr marL="270000" indent="-270000">
              <a:buNone/>
            </a:pPr>
            <a:r>
              <a:rPr lang="en-US" b="1" dirty="0" err="1">
                <a:latin typeface="Courier New" panose="02070309020205020404" pitchFamily="49" charset="0"/>
                <a:cs typeface="Courier New" panose="02070309020205020404" pitchFamily="49" charset="0"/>
              </a:rPr>
              <a:t>System.arraycopy</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sourceArray</a:t>
            </a:r>
            <a:r>
              <a:rPr lang="en-US" b="1" dirty="0">
                <a:latin typeface="Courier New" panose="02070309020205020404" pitchFamily="49" charset="0"/>
                <a:cs typeface="Courier New" panose="02070309020205020404" pitchFamily="49" charset="0"/>
              </a:rPr>
              <a:t>, 0, </a:t>
            </a:r>
            <a:r>
              <a:rPr lang="en-US" b="1" dirty="0" err="1">
                <a:latin typeface="Courier New" panose="02070309020205020404" pitchFamily="49" charset="0"/>
                <a:cs typeface="Courier New" panose="02070309020205020404" pitchFamily="49" charset="0"/>
              </a:rPr>
              <a:t>targetArray</a:t>
            </a:r>
            <a:r>
              <a:rPr lang="en-US" b="1" dirty="0">
                <a:latin typeface="Courier New" panose="02070309020205020404" pitchFamily="49" charset="0"/>
                <a:cs typeface="Courier New" panose="02070309020205020404" pitchFamily="49" charset="0"/>
              </a:rPr>
              <a:t>, 0, </a:t>
            </a:r>
            <a:r>
              <a:rPr lang="en-US" b="1" dirty="0" err="1">
                <a:latin typeface="Courier New" panose="02070309020205020404" pitchFamily="49" charset="0"/>
                <a:cs typeface="Courier New" panose="02070309020205020404" pitchFamily="49" charset="0"/>
              </a:rPr>
              <a:t>sourceArray.length</a:t>
            </a:r>
            <a:r>
              <a:rPr lang="en-US"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90371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73814-7103-454B-8958-3E1E024F00A6}"/>
              </a:ext>
            </a:extLst>
          </p:cNvPr>
          <p:cNvSpPr>
            <a:spLocks noGrp="1"/>
          </p:cNvSpPr>
          <p:nvPr>
            <p:ph type="title"/>
          </p:nvPr>
        </p:nvSpPr>
        <p:spPr/>
        <p:txBody>
          <a:bodyPr/>
          <a:lstStyle/>
          <a:p>
            <a:r>
              <a:rPr lang="en-US" dirty="0">
                <a:solidFill>
                  <a:schemeClr val="tx2"/>
                </a:solidFill>
              </a:rPr>
              <a:t>Passing Arrays to Methods</a:t>
            </a:r>
          </a:p>
        </p:txBody>
      </p:sp>
      <p:pic>
        <p:nvPicPr>
          <p:cNvPr id="7" name="Picture 6" descr="An illustration shows Passing arrays to methods. For long description in Notes pane, press F6.">
            <a:extLst>
              <a:ext uri="{FF2B5EF4-FFF2-40B4-BE49-F238E27FC236}">
                <a16:creationId xmlns:a16="http://schemas.microsoft.com/office/drawing/2014/main" id="{B97506B2-9221-4C9A-A151-A5082B2E8536}"/>
              </a:ext>
            </a:extLst>
          </p:cNvPr>
          <p:cNvPicPr>
            <a:picLocks noChangeAspect="1"/>
          </p:cNvPicPr>
          <p:nvPr/>
        </p:nvPicPr>
        <p:blipFill>
          <a:blip r:embed="rId3"/>
          <a:stretch>
            <a:fillRect/>
          </a:stretch>
        </p:blipFill>
        <p:spPr>
          <a:xfrm>
            <a:off x="1516381" y="2066615"/>
            <a:ext cx="6111237" cy="3399689"/>
          </a:xfrm>
          <a:prstGeom prst="rect">
            <a:avLst/>
          </a:prstGeom>
        </p:spPr>
      </p:pic>
    </p:spTree>
    <p:extLst>
      <p:ext uri="{BB962C8B-B14F-4D97-AF65-F5344CB8AC3E}">
        <p14:creationId xmlns:p14="http://schemas.microsoft.com/office/powerpoint/2010/main" val="1163819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CFEBA0-F80B-4849-A335-AC4574ECC3D8}"/>
              </a:ext>
            </a:extLst>
          </p:cNvPr>
          <p:cNvSpPr>
            <a:spLocks noGrp="1"/>
          </p:cNvSpPr>
          <p:nvPr>
            <p:ph type="title"/>
          </p:nvPr>
        </p:nvSpPr>
        <p:spPr/>
        <p:txBody>
          <a:bodyPr/>
          <a:lstStyle/>
          <a:p>
            <a:r>
              <a:rPr lang="en-US" dirty="0">
                <a:solidFill>
                  <a:schemeClr val="tx2"/>
                </a:solidFill>
              </a:rPr>
              <a:t>Pass by Value</a:t>
            </a:r>
          </a:p>
        </p:txBody>
      </p:sp>
      <p:sp>
        <p:nvSpPr>
          <p:cNvPr id="5" name="Content Placeholder 4">
            <a:extLst>
              <a:ext uri="{FF2B5EF4-FFF2-40B4-BE49-F238E27FC236}">
                <a16:creationId xmlns:a16="http://schemas.microsoft.com/office/drawing/2014/main" id="{B83CB91C-7536-4520-BFF0-C5FABE974411}"/>
              </a:ext>
            </a:extLst>
          </p:cNvPr>
          <p:cNvSpPr>
            <a:spLocks noGrp="1"/>
          </p:cNvSpPr>
          <p:nvPr>
            <p:ph sz="quarter" idx="13"/>
          </p:nvPr>
        </p:nvSpPr>
        <p:spPr>
          <a:xfrm>
            <a:off x="1485900" y="2024495"/>
            <a:ext cx="6172200" cy="3429000"/>
          </a:xfrm>
        </p:spPr>
        <p:txBody>
          <a:bodyPr/>
          <a:lstStyle/>
          <a:p>
            <a:pPr marL="324" indent="0">
              <a:buNone/>
            </a:pPr>
            <a:r>
              <a:rPr lang="en-US" sz="1650" dirty="0">
                <a:solidFill>
                  <a:schemeClr val="tx1"/>
                </a:solidFill>
              </a:rPr>
              <a:t>Java uses </a:t>
            </a:r>
            <a:r>
              <a:rPr lang="en-US" sz="1650" b="1" dirty="0">
                <a:solidFill>
                  <a:schemeClr val="tx1"/>
                </a:solidFill>
              </a:rPr>
              <a:t>pass by value </a:t>
            </a:r>
            <a:r>
              <a:rPr lang="en-US" sz="1650" dirty="0">
                <a:solidFill>
                  <a:schemeClr val="tx1"/>
                </a:solidFill>
              </a:rPr>
              <a:t>to pass arguments to a method. There are important differences between passing a value of variables of primitive data types and passing arrays.</a:t>
            </a:r>
          </a:p>
          <a:p>
            <a:pPr>
              <a:buClr>
                <a:schemeClr val="tx2"/>
              </a:buClr>
            </a:pPr>
            <a:r>
              <a:rPr lang="en-US" sz="1650" dirty="0">
                <a:solidFill>
                  <a:schemeClr val="tx1"/>
                </a:solidFill>
              </a:rPr>
              <a:t>For a parameter of a primitive type value, the actual value is passed. Changing the value of the local parameter inside the method does not affect the value of the variable outside the method.</a:t>
            </a:r>
          </a:p>
          <a:p>
            <a:r>
              <a:rPr lang="en-US" sz="1650" dirty="0">
                <a:solidFill>
                  <a:schemeClr val="tx1"/>
                </a:solidFill>
              </a:rPr>
              <a:t>For a parameter of an array type, the value of the parameter contains a reference to an array; this reference is passed to the method. Any changes to the array that occur inside the method body will affect the original array that was passed as the argument.</a:t>
            </a:r>
          </a:p>
        </p:txBody>
      </p:sp>
    </p:spTree>
    <p:extLst>
      <p:ext uri="{BB962C8B-B14F-4D97-AF65-F5344CB8AC3E}">
        <p14:creationId xmlns:p14="http://schemas.microsoft.com/office/powerpoint/2010/main" val="4201743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35FCB-01AB-4F17-B082-FC6C9E904401}"/>
              </a:ext>
            </a:extLst>
          </p:cNvPr>
          <p:cNvSpPr>
            <a:spLocks noGrp="1"/>
          </p:cNvSpPr>
          <p:nvPr>
            <p:ph type="title"/>
          </p:nvPr>
        </p:nvSpPr>
        <p:spPr/>
        <p:txBody>
          <a:bodyPr/>
          <a:lstStyle/>
          <a:p>
            <a:r>
              <a:rPr lang="en-US">
                <a:solidFill>
                  <a:schemeClr val="tx2"/>
                </a:solidFill>
              </a:rPr>
              <a:t>Simple Example</a:t>
            </a:r>
          </a:p>
        </p:txBody>
      </p:sp>
      <p:pic>
        <p:nvPicPr>
          <p:cNvPr id="7" name="Picture 6" descr="m open parenthesis x, y close parenthesis is connected to open parenthesis int number, int open and close brackets numbers close parenthesis.">
            <a:extLst>
              <a:ext uri="{FF2B5EF4-FFF2-40B4-BE49-F238E27FC236}">
                <a16:creationId xmlns:a16="http://schemas.microsoft.com/office/drawing/2014/main" id="{CD6354ED-36B5-4ADF-B0AD-3BFFFD2627D7}"/>
              </a:ext>
            </a:extLst>
          </p:cNvPr>
          <p:cNvPicPr>
            <a:picLocks noChangeAspect="1"/>
          </p:cNvPicPr>
          <p:nvPr/>
        </p:nvPicPr>
        <p:blipFill>
          <a:blip r:embed="rId3"/>
          <a:stretch>
            <a:fillRect/>
          </a:stretch>
        </p:blipFill>
        <p:spPr>
          <a:xfrm>
            <a:off x="1619573" y="2076362"/>
            <a:ext cx="5724777" cy="3391139"/>
          </a:xfrm>
          <a:prstGeom prst="rect">
            <a:avLst/>
          </a:prstGeom>
        </p:spPr>
      </p:pic>
    </p:spTree>
    <p:extLst>
      <p:ext uri="{BB962C8B-B14F-4D97-AF65-F5344CB8AC3E}">
        <p14:creationId xmlns:p14="http://schemas.microsoft.com/office/powerpoint/2010/main" val="769057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99260-3862-4C6D-883B-5DC05F821C4B}"/>
              </a:ext>
            </a:extLst>
          </p:cNvPr>
          <p:cNvSpPr>
            <a:spLocks noGrp="1"/>
          </p:cNvSpPr>
          <p:nvPr>
            <p:ph type="ctrTitle"/>
          </p:nvPr>
        </p:nvSpPr>
        <p:spPr/>
        <p:txBody>
          <a:bodyPr/>
          <a:lstStyle/>
          <a:p>
            <a:pPr algn="ctr"/>
            <a:r>
              <a:rPr lang="en-US" dirty="0"/>
              <a:t>Multidimensional Arrays</a:t>
            </a:r>
            <a:br>
              <a:rPr lang="en-US" dirty="0"/>
            </a:br>
            <a:endParaRPr lang="en-US" dirty="0"/>
          </a:p>
        </p:txBody>
      </p:sp>
      <p:sp>
        <p:nvSpPr>
          <p:cNvPr id="3" name="Subtitle 2">
            <a:extLst>
              <a:ext uri="{FF2B5EF4-FFF2-40B4-BE49-F238E27FC236}">
                <a16:creationId xmlns:a16="http://schemas.microsoft.com/office/drawing/2014/main" id="{1C3164A5-48BD-47AC-A2D3-091E700BFBE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80937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24CE3-DDA3-4AFE-8BEA-02921B1DC422}"/>
              </a:ext>
            </a:extLst>
          </p:cNvPr>
          <p:cNvSpPr>
            <a:spLocks noGrp="1"/>
          </p:cNvSpPr>
          <p:nvPr>
            <p:ph type="title"/>
          </p:nvPr>
        </p:nvSpPr>
        <p:spPr/>
        <p:txBody>
          <a:bodyPr/>
          <a:lstStyle/>
          <a:p>
            <a:r>
              <a:rPr lang="en-IN" dirty="0"/>
              <a:t>Motivations </a:t>
            </a:r>
            <a:r>
              <a:rPr lang="en-IN" sz="1500" b="0" dirty="0"/>
              <a:t>(1 of 2)</a:t>
            </a:r>
            <a:endParaRPr lang="en-IN" b="0" dirty="0"/>
          </a:p>
        </p:txBody>
      </p:sp>
      <p:sp>
        <p:nvSpPr>
          <p:cNvPr id="3" name="Content Placeholder 2">
            <a:extLst>
              <a:ext uri="{FF2B5EF4-FFF2-40B4-BE49-F238E27FC236}">
                <a16:creationId xmlns:a16="http://schemas.microsoft.com/office/drawing/2014/main" id="{4A480508-DDAA-43B5-A55F-2D068C6D7800}"/>
              </a:ext>
            </a:extLst>
          </p:cNvPr>
          <p:cNvSpPr>
            <a:spLocks noGrp="1"/>
          </p:cNvSpPr>
          <p:nvPr>
            <p:ph sz="quarter" idx="13"/>
          </p:nvPr>
        </p:nvSpPr>
        <p:spPr>
          <a:xfrm>
            <a:off x="1485901" y="2021682"/>
            <a:ext cx="6172199" cy="952090"/>
          </a:xfrm>
        </p:spPr>
        <p:txBody>
          <a:bodyPr/>
          <a:lstStyle/>
          <a:p>
            <a:pPr marL="324" indent="0">
              <a:buNone/>
            </a:pPr>
            <a:r>
              <a:rPr lang="en-IN" sz="1350" dirty="0"/>
              <a:t>Thus far, you have used one-dimensional arrays to model linear collections of elements. You can use a two-dimensional array to represent a matrix or a table. For example, the following table that describes the distances between the cities can be represented using a two-dimensional array.</a:t>
            </a:r>
          </a:p>
        </p:txBody>
      </p:sp>
      <p:sp>
        <p:nvSpPr>
          <p:cNvPr id="4" name="Content Placeholder 3">
            <a:extLst>
              <a:ext uri="{FF2B5EF4-FFF2-40B4-BE49-F238E27FC236}">
                <a16:creationId xmlns:a16="http://schemas.microsoft.com/office/drawing/2014/main" id="{58B50F06-2FCE-42DE-BA64-5BA549445851}"/>
              </a:ext>
            </a:extLst>
          </p:cNvPr>
          <p:cNvSpPr>
            <a:spLocks noGrp="1"/>
          </p:cNvSpPr>
          <p:nvPr>
            <p:ph sz="quarter" idx="14"/>
          </p:nvPr>
        </p:nvSpPr>
        <p:spPr>
          <a:xfrm>
            <a:off x="3537768" y="3098380"/>
            <a:ext cx="2129300" cy="265526"/>
          </a:xfrm>
        </p:spPr>
        <p:txBody>
          <a:bodyPr vert="horz" wrap="square" lIns="68580" tIns="0" rIns="68580" bIns="34290" numCol="1" rtlCol="0" anchor="t" anchorCtr="0" compatLnSpc="1">
            <a:prstTxWarp prst="textNoShape">
              <a:avLst/>
            </a:prstTxWarp>
            <a:normAutofit/>
          </a:bodyPr>
          <a:lstStyle/>
          <a:p>
            <a:pPr marL="324" indent="0" algn="ctr">
              <a:buNone/>
            </a:pPr>
            <a:r>
              <a:rPr lang="en-IN" sz="1350" dirty="0"/>
              <a:t>Distance Table (in miles)</a:t>
            </a:r>
          </a:p>
        </p:txBody>
      </p:sp>
      <p:graphicFrame>
        <p:nvGraphicFramePr>
          <p:cNvPr id="7" name="Table 7">
            <a:extLst>
              <a:ext uri="{FF2B5EF4-FFF2-40B4-BE49-F238E27FC236}">
                <a16:creationId xmlns:a16="http://schemas.microsoft.com/office/drawing/2014/main" id="{4F859CEB-92CF-40D5-A05E-E7ECE33AE517}"/>
              </a:ext>
            </a:extLst>
          </p:cNvPr>
          <p:cNvGraphicFramePr>
            <a:graphicFrameLocks noGrp="1"/>
          </p:cNvGraphicFramePr>
          <p:nvPr>
            <p:ph sz="quarter" idx="15"/>
          </p:nvPr>
        </p:nvGraphicFramePr>
        <p:xfrm>
          <a:off x="1485898" y="3431301"/>
          <a:ext cx="6194322" cy="2011680"/>
        </p:xfrm>
        <a:graphic>
          <a:graphicData uri="http://schemas.openxmlformats.org/drawingml/2006/table">
            <a:tbl>
              <a:tblPr firstRow="1" bandRow="1">
                <a:tableStyleId>{2D5ABB26-0587-4C30-8999-92F81FD0307C}</a:tableStyleId>
              </a:tblPr>
              <a:tblGrid>
                <a:gridCol w="851722">
                  <a:extLst>
                    <a:ext uri="{9D8B030D-6E8A-4147-A177-3AD203B41FA5}">
                      <a16:colId xmlns:a16="http://schemas.microsoft.com/office/drawing/2014/main" val="3971462614"/>
                    </a:ext>
                  </a:extLst>
                </a:gridCol>
                <a:gridCol w="696859">
                  <a:extLst>
                    <a:ext uri="{9D8B030D-6E8A-4147-A177-3AD203B41FA5}">
                      <a16:colId xmlns:a16="http://schemas.microsoft.com/office/drawing/2014/main" val="838970427"/>
                    </a:ext>
                  </a:extLst>
                </a:gridCol>
                <a:gridCol w="774290">
                  <a:extLst>
                    <a:ext uri="{9D8B030D-6E8A-4147-A177-3AD203B41FA5}">
                      <a16:colId xmlns:a16="http://schemas.microsoft.com/office/drawing/2014/main" val="1931467420"/>
                    </a:ext>
                  </a:extLst>
                </a:gridCol>
                <a:gridCol w="829599">
                  <a:extLst>
                    <a:ext uri="{9D8B030D-6E8A-4147-A177-3AD203B41FA5}">
                      <a16:colId xmlns:a16="http://schemas.microsoft.com/office/drawing/2014/main" val="3958452757"/>
                    </a:ext>
                  </a:extLst>
                </a:gridCol>
                <a:gridCol w="718982">
                  <a:extLst>
                    <a:ext uri="{9D8B030D-6E8A-4147-A177-3AD203B41FA5}">
                      <a16:colId xmlns:a16="http://schemas.microsoft.com/office/drawing/2014/main" val="4037379355"/>
                    </a:ext>
                  </a:extLst>
                </a:gridCol>
                <a:gridCol w="774290">
                  <a:extLst>
                    <a:ext uri="{9D8B030D-6E8A-4147-A177-3AD203B41FA5}">
                      <a16:colId xmlns:a16="http://schemas.microsoft.com/office/drawing/2014/main" val="1858456823"/>
                    </a:ext>
                  </a:extLst>
                </a:gridCol>
                <a:gridCol w="774290">
                  <a:extLst>
                    <a:ext uri="{9D8B030D-6E8A-4147-A177-3AD203B41FA5}">
                      <a16:colId xmlns:a16="http://schemas.microsoft.com/office/drawing/2014/main" val="3447045008"/>
                    </a:ext>
                  </a:extLst>
                </a:gridCol>
                <a:gridCol w="774290">
                  <a:extLst>
                    <a:ext uri="{9D8B030D-6E8A-4147-A177-3AD203B41FA5}">
                      <a16:colId xmlns:a16="http://schemas.microsoft.com/office/drawing/2014/main" val="3154758288"/>
                    </a:ext>
                  </a:extLst>
                </a:gridCol>
              </a:tblGrid>
              <a:tr h="251460">
                <a:tc>
                  <a:txBody>
                    <a:bodyPr/>
                    <a:lstStyle/>
                    <a:p>
                      <a:r>
                        <a:rPr lang="en-IN" sz="100" dirty="0">
                          <a:effectLst/>
                          <a:latin typeface="+mn-lt"/>
                        </a:rPr>
                        <a:t>Blank</a:t>
                      </a:r>
                    </a:p>
                  </a:txBody>
                  <a:tcPr marL="68580" marR="68580" marT="34290" marB="34290"/>
                </a:tc>
                <a:tc>
                  <a:txBody>
                    <a:bodyPr/>
                    <a:lstStyle/>
                    <a:p>
                      <a:pPr marL="0" marR="0">
                        <a:spcBef>
                          <a:spcPts val="0"/>
                        </a:spcBef>
                        <a:spcAft>
                          <a:spcPts val="0"/>
                        </a:spcAft>
                      </a:pPr>
                      <a:r>
                        <a:rPr lang="en-IN" sz="1200" dirty="0">
                          <a:effectLst/>
                          <a:latin typeface="+mn-lt"/>
                          <a:ea typeface="Calibri" panose="020F0502020204030204" pitchFamily="34" charset="0"/>
                        </a:rPr>
                        <a:t>Chicago</a:t>
                      </a:r>
                    </a:p>
                  </a:txBody>
                  <a:tcPr marL="68580" marR="68580" marT="34290" marB="34290"/>
                </a:tc>
                <a:tc>
                  <a:txBody>
                    <a:bodyPr/>
                    <a:lstStyle/>
                    <a:p>
                      <a:pPr marL="0" marR="0">
                        <a:spcBef>
                          <a:spcPts val="0"/>
                        </a:spcBef>
                        <a:spcAft>
                          <a:spcPts val="0"/>
                        </a:spcAft>
                      </a:pPr>
                      <a:r>
                        <a:rPr lang="en-IN" sz="1200" dirty="0">
                          <a:effectLst/>
                          <a:latin typeface="+mn-lt"/>
                          <a:ea typeface="Calibri" panose="020F0502020204030204" pitchFamily="34" charset="0"/>
                        </a:rPr>
                        <a:t>Boston</a:t>
                      </a:r>
                    </a:p>
                  </a:txBody>
                  <a:tcPr marL="68580" marR="68580" marT="34290" marB="34290"/>
                </a:tc>
                <a:tc>
                  <a:txBody>
                    <a:bodyPr/>
                    <a:lstStyle/>
                    <a:p>
                      <a:pPr marL="0" marR="0">
                        <a:spcBef>
                          <a:spcPts val="0"/>
                        </a:spcBef>
                        <a:spcAft>
                          <a:spcPts val="0"/>
                        </a:spcAft>
                      </a:pPr>
                      <a:r>
                        <a:rPr lang="en-IN" sz="1200" dirty="0">
                          <a:effectLst/>
                          <a:latin typeface="+mn-lt"/>
                          <a:ea typeface="Calibri" panose="020F0502020204030204" pitchFamily="34" charset="0"/>
                        </a:rPr>
                        <a:t>New York</a:t>
                      </a:r>
                    </a:p>
                  </a:txBody>
                  <a:tcPr marL="68580" marR="68580" marT="34290" marB="34290"/>
                </a:tc>
                <a:tc>
                  <a:txBody>
                    <a:bodyPr/>
                    <a:lstStyle/>
                    <a:p>
                      <a:pPr marL="0" marR="0">
                        <a:spcBef>
                          <a:spcPts val="0"/>
                        </a:spcBef>
                        <a:spcAft>
                          <a:spcPts val="0"/>
                        </a:spcAft>
                      </a:pPr>
                      <a:r>
                        <a:rPr lang="en-IN" sz="1200" dirty="0">
                          <a:effectLst/>
                          <a:latin typeface="+mn-lt"/>
                          <a:ea typeface="Calibri" panose="020F0502020204030204" pitchFamily="34" charset="0"/>
                        </a:rPr>
                        <a:t>Atlanta</a:t>
                      </a:r>
                    </a:p>
                  </a:txBody>
                  <a:tcPr marL="68580" marR="68580" marT="34290" marB="34290"/>
                </a:tc>
                <a:tc>
                  <a:txBody>
                    <a:bodyPr/>
                    <a:lstStyle/>
                    <a:p>
                      <a:pPr marL="0" marR="0">
                        <a:spcBef>
                          <a:spcPts val="0"/>
                        </a:spcBef>
                        <a:spcAft>
                          <a:spcPts val="0"/>
                        </a:spcAft>
                      </a:pPr>
                      <a:r>
                        <a:rPr lang="en-IN" sz="1200" dirty="0">
                          <a:effectLst/>
                          <a:latin typeface="+mn-lt"/>
                          <a:ea typeface="Calibri" panose="020F0502020204030204" pitchFamily="34" charset="0"/>
                        </a:rPr>
                        <a:t>Miami</a:t>
                      </a:r>
                    </a:p>
                  </a:txBody>
                  <a:tcPr marL="68580" marR="68580" marT="34290" marB="34290"/>
                </a:tc>
                <a:tc>
                  <a:txBody>
                    <a:bodyPr/>
                    <a:lstStyle/>
                    <a:p>
                      <a:pPr marL="0" marR="0">
                        <a:spcBef>
                          <a:spcPts val="0"/>
                        </a:spcBef>
                        <a:spcAft>
                          <a:spcPts val="0"/>
                        </a:spcAft>
                      </a:pPr>
                      <a:r>
                        <a:rPr lang="en-IN" sz="1200" dirty="0">
                          <a:effectLst/>
                          <a:latin typeface="+mn-lt"/>
                          <a:ea typeface="Calibri" panose="020F0502020204030204" pitchFamily="34" charset="0"/>
                        </a:rPr>
                        <a:t>Dallas</a:t>
                      </a:r>
                    </a:p>
                  </a:txBody>
                  <a:tcPr marL="68580" marR="68580" marT="34290" marB="34290"/>
                </a:tc>
                <a:tc>
                  <a:txBody>
                    <a:bodyPr/>
                    <a:lstStyle/>
                    <a:p>
                      <a:pPr marL="0" marR="0">
                        <a:spcBef>
                          <a:spcPts val="0"/>
                        </a:spcBef>
                        <a:spcAft>
                          <a:spcPts val="0"/>
                        </a:spcAft>
                      </a:pPr>
                      <a:r>
                        <a:rPr lang="en-IN" sz="1200" dirty="0">
                          <a:effectLst/>
                          <a:latin typeface="+mn-lt"/>
                          <a:ea typeface="Calibri" panose="020F0502020204030204" pitchFamily="34" charset="0"/>
                        </a:rPr>
                        <a:t>Houston</a:t>
                      </a:r>
                    </a:p>
                  </a:txBody>
                  <a:tcPr marL="68580" marR="68580" marT="34290" marB="34290"/>
                </a:tc>
                <a:extLst>
                  <a:ext uri="{0D108BD9-81ED-4DB2-BD59-A6C34878D82A}">
                    <a16:rowId xmlns:a16="http://schemas.microsoft.com/office/drawing/2014/main" val="3770518459"/>
                  </a:ext>
                </a:extLst>
              </a:tr>
              <a:tr h="251460">
                <a:tc>
                  <a:txBody>
                    <a:bodyPr/>
                    <a:lstStyle/>
                    <a:p>
                      <a:pPr marL="0" marR="0">
                        <a:spcBef>
                          <a:spcPts val="0"/>
                        </a:spcBef>
                        <a:spcAft>
                          <a:spcPts val="0"/>
                        </a:spcAft>
                      </a:pPr>
                      <a:r>
                        <a:rPr lang="en-IN" sz="1200" dirty="0">
                          <a:effectLst/>
                          <a:latin typeface="+mn-lt"/>
                          <a:ea typeface="Calibri" panose="020F0502020204030204" pitchFamily="34" charset="0"/>
                        </a:rPr>
                        <a:t>Chicago</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0</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983</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787</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714</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1375</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967</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1087</a:t>
                      </a:r>
                    </a:p>
                  </a:txBody>
                  <a:tcPr marL="68580" marR="68580" marT="34290" marB="34290"/>
                </a:tc>
                <a:extLst>
                  <a:ext uri="{0D108BD9-81ED-4DB2-BD59-A6C34878D82A}">
                    <a16:rowId xmlns:a16="http://schemas.microsoft.com/office/drawing/2014/main" val="3254157221"/>
                  </a:ext>
                </a:extLst>
              </a:tr>
              <a:tr h="251460">
                <a:tc>
                  <a:txBody>
                    <a:bodyPr/>
                    <a:lstStyle/>
                    <a:p>
                      <a:pPr marL="0" marR="0">
                        <a:spcBef>
                          <a:spcPts val="0"/>
                        </a:spcBef>
                        <a:spcAft>
                          <a:spcPts val="0"/>
                        </a:spcAft>
                      </a:pPr>
                      <a:r>
                        <a:rPr lang="en-IN" sz="1200" dirty="0">
                          <a:effectLst/>
                          <a:latin typeface="+mn-lt"/>
                          <a:ea typeface="Calibri" panose="020F0502020204030204" pitchFamily="34" charset="0"/>
                        </a:rPr>
                        <a:t>Boston</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983</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0</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214</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1102</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1763</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1723</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1842</a:t>
                      </a:r>
                    </a:p>
                  </a:txBody>
                  <a:tcPr marL="68580" marR="68580" marT="34290" marB="34290"/>
                </a:tc>
                <a:extLst>
                  <a:ext uri="{0D108BD9-81ED-4DB2-BD59-A6C34878D82A}">
                    <a16:rowId xmlns:a16="http://schemas.microsoft.com/office/drawing/2014/main" val="4154275382"/>
                  </a:ext>
                </a:extLst>
              </a:tr>
              <a:tr h="251460">
                <a:tc>
                  <a:txBody>
                    <a:bodyPr/>
                    <a:lstStyle/>
                    <a:p>
                      <a:pPr marL="0" marR="0">
                        <a:spcBef>
                          <a:spcPts val="0"/>
                        </a:spcBef>
                        <a:spcAft>
                          <a:spcPts val="0"/>
                        </a:spcAft>
                      </a:pPr>
                      <a:r>
                        <a:rPr lang="en-IN" sz="1200">
                          <a:effectLst/>
                          <a:latin typeface="+mn-lt"/>
                          <a:ea typeface="Calibri" panose="020F0502020204030204" pitchFamily="34" charset="0"/>
                        </a:rPr>
                        <a:t>New York</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787</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214</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0</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888</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1549</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1548</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1627</a:t>
                      </a:r>
                    </a:p>
                  </a:txBody>
                  <a:tcPr marL="68580" marR="68580" marT="34290" marB="34290"/>
                </a:tc>
                <a:extLst>
                  <a:ext uri="{0D108BD9-81ED-4DB2-BD59-A6C34878D82A}">
                    <a16:rowId xmlns:a16="http://schemas.microsoft.com/office/drawing/2014/main" val="3212977267"/>
                  </a:ext>
                </a:extLst>
              </a:tr>
              <a:tr h="251460">
                <a:tc>
                  <a:txBody>
                    <a:bodyPr/>
                    <a:lstStyle/>
                    <a:p>
                      <a:pPr marL="0" marR="0">
                        <a:spcBef>
                          <a:spcPts val="0"/>
                        </a:spcBef>
                        <a:spcAft>
                          <a:spcPts val="0"/>
                        </a:spcAft>
                      </a:pPr>
                      <a:r>
                        <a:rPr lang="en-IN" sz="1200">
                          <a:effectLst/>
                          <a:latin typeface="+mn-lt"/>
                          <a:ea typeface="Calibri" panose="020F0502020204030204" pitchFamily="34" charset="0"/>
                        </a:rPr>
                        <a:t>Atlanta</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714</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1102</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888</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0</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661</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781</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810</a:t>
                      </a:r>
                    </a:p>
                  </a:txBody>
                  <a:tcPr marL="68580" marR="68580" marT="34290" marB="34290"/>
                </a:tc>
                <a:extLst>
                  <a:ext uri="{0D108BD9-81ED-4DB2-BD59-A6C34878D82A}">
                    <a16:rowId xmlns:a16="http://schemas.microsoft.com/office/drawing/2014/main" val="2713335950"/>
                  </a:ext>
                </a:extLst>
              </a:tr>
              <a:tr h="251460">
                <a:tc>
                  <a:txBody>
                    <a:bodyPr/>
                    <a:lstStyle/>
                    <a:p>
                      <a:pPr marL="0" marR="0">
                        <a:spcBef>
                          <a:spcPts val="0"/>
                        </a:spcBef>
                        <a:spcAft>
                          <a:spcPts val="0"/>
                        </a:spcAft>
                      </a:pPr>
                      <a:r>
                        <a:rPr lang="en-IN" sz="1200">
                          <a:effectLst/>
                          <a:latin typeface="+mn-lt"/>
                          <a:ea typeface="Calibri" panose="020F0502020204030204" pitchFamily="34" charset="0"/>
                        </a:rPr>
                        <a:t>Miami</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1375</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1763</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1549</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661</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0</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1426</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1187</a:t>
                      </a:r>
                    </a:p>
                  </a:txBody>
                  <a:tcPr marL="68580" marR="68580" marT="34290" marB="34290"/>
                </a:tc>
                <a:extLst>
                  <a:ext uri="{0D108BD9-81ED-4DB2-BD59-A6C34878D82A}">
                    <a16:rowId xmlns:a16="http://schemas.microsoft.com/office/drawing/2014/main" val="103312257"/>
                  </a:ext>
                </a:extLst>
              </a:tr>
              <a:tr h="251460">
                <a:tc>
                  <a:txBody>
                    <a:bodyPr/>
                    <a:lstStyle/>
                    <a:p>
                      <a:pPr marL="0" marR="0">
                        <a:spcBef>
                          <a:spcPts val="0"/>
                        </a:spcBef>
                        <a:spcAft>
                          <a:spcPts val="0"/>
                        </a:spcAft>
                      </a:pPr>
                      <a:r>
                        <a:rPr lang="en-IN" sz="1200">
                          <a:effectLst/>
                          <a:latin typeface="+mn-lt"/>
                          <a:ea typeface="Calibri" panose="020F0502020204030204" pitchFamily="34" charset="0"/>
                        </a:rPr>
                        <a:t>Dallas</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967</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1723</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1548</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781</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1426</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0</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239</a:t>
                      </a:r>
                    </a:p>
                  </a:txBody>
                  <a:tcPr marL="68580" marR="68580" marT="34290" marB="34290"/>
                </a:tc>
                <a:extLst>
                  <a:ext uri="{0D108BD9-81ED-4DB2-BD59-A6C34878D82A}">
                    <a16:rowId xmlns:a16="http://schemas.microsoft.com/office/drawing/2014/main" val="350648751"/>
                  </a:ext>
                </a:extLst>
              </a:tr>
              <a:tr h="251460">
                <a:tc>
                  <a:txBody>
                    <a:bodyPr/>
                    <a:lstStyle/>
                    <a:p>
                      <a:pPr marL="0" marR="0">
                        <a:spcBef>
                          <a:spcPts val="0"/>
                        </a:spcBef>
                        <a:spcAft>
                          <a:spcPts val="0"/>
                        </a:spcAft>
                      </a:pPr>
                      <a:r>
                        <a:rPr lang="en-IN" sz="1200">
                          <a:effectLst/>
                          <a:latin typeface="+mn-lt"/>
                          <a:ea typeface="Calibri" panose="020F0502020204030204" pitchFamily="34" charset="0"/>
                        </a:rPr>
                        <a:t>Houston</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1087</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1842</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1627</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810</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1187</a:t>
                      </a:r>
                    </a:p>
                  </a:txBody>
                  <a:tcPr marL="68580" marR="68580" marT="34290" marB="34290"/>
                </a:tc>
                <a:tc>
                  <a:txBody>
                    <a:bodyPr/>
                    <a:lstStyle/>
                    <a:p>
                      <a:pPr marL="0" marR="0" algn="ctr">
                        <a:spcBef>
                          <a:spcPts val="0"/>
                        </a:spcBef>
                        <a:spcAft>
                          <a:spcPts val="0"/>
                        </a:spcAft>
                      </a:pPr>
                      <a:r>
                        <a:rPr lang="en-IN" sz="1200">
                          <a:effectLst/>
                          <a:latin typeface="+mn-lt"/>
                          <a:ea typeface="Calibri" panose="020F0502020204030204" pitchFamily="34" charset="0"/>
                        </a:rPr>
                        <a:t>239</a:t>
                      </a:r>
                    </a:p>
                  </a:txBody>
                  <a:tcPr marL="68580" marR="68580" marT="34290" marB="34290"/>
                </a:tc>
                <a:tc>
                  <a:txBody>
                    <a:bodyPr/>
                    <a:lstStyle/>
                    <a:p>
                      <a:pPr marL="0" marR="0" algn="ctr">
                        <a:spcBef>
                          <a:spcPts val="0"/>
                        </a:spcBef>
                        <a:spcAft>
                          <a:spcPts val="0"/>
                        </a:spcAft>
                      </a:pPr>
                      <a:r>
                        <a:rPr lang="en-IN" sz="1200" dirty="0">
                          <a:effectLst/>
                          <a:latin typeface="+mn-lt"/>
                          <a:ea typeface="Calibri" panose="020F0502020204030204" pitchFamily="34" charset="0"/>
                        </a:rPr>
                        <a:t>0</a:t>
                      </a:r>
                    </a:p>
                  </a:txBody>
                  <a:tcPr marL="68580" marR="68580" marT="34290" marB="34290"/>
                </a:tc>
                <a:extLst>
                  <a:ext uri="{0D108BD9-81ED-4DB2-BD59-A6C34878D82A}">
                    <a16:rowId xmlns:a16="http://schemas.microsoft.com/office/drawing/2014/main" val="1344829762"/>
                  </a:ext>
                </a:extLst>
              </a:tr>
            </a:tbl>
          </a:graphicData>
        </a:graphic>
      </p:graphicFrame>
    </p:spTree>
    <p:extLst>
      <p:ext uri="{BB962C8B-B14F-4D97-AF65-F5344CB8AC3E}">
        <p14:creationId xmlns:p14="http://schemas.microsoft.com/office/powerpoint/2010/main" val="2373998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4E018-A0BC-4589-889A-43BB4424269A}"/>
              </a:ext>
            </a:extLst>
          </p:cNvPr>
          <p:cNvSpPr>
            <a:spLocks noGrp="1"/>
          </p:cNvSpPr>
          <p:nvPr>
            <p:ph type="title"/>
          </p:nvPr>
        </p:nvSpPr>
        <p:spPr/>
        <p:txBody>
          <a:bodyPr/>
          <a:lstStyle/>
          <a:p>
            <a:r>
              <a:rPr lang="en-IN" dirty="0"/>
              <a:t>Objectives</a:t>
            </a:r>
            <a:endParaRPr lang="en-IN" b="0" dirty="0"/>
          </a:p>
        </p:txBody>
      </p:sp>
      <p:sp>
        <p:nvSpPr>
          <p:cNvPr id="3" name="Content Placeholder 2">
            <a:extLst>
              <a:ext uri="{FF2B5EF4-FFF2-40B4-BE49-F238E27FC236}">
                <a16:creationId xmlns:a16="http://schemas.microsoft.com/office/drawing/2014/main" id="{881EB85D-FA66-4B37-A3BE-18B294740701}"/>
              </a:ext>
            </a:extLst>
          </p:cNvPr>
          <p:cNvSpPr>
            <a:spLocks noGrp="1"/>
          </p:cNvSpPr>
          <p:nvPr>
            <p:ph sz="quarter" idx="13"/>
          </p:nvPr>
        </p:nvSpPr>
        <p:spPr>
          <a:xfrm>
            <a:off x="1485900" y="2023441"/>
            <a:ext cx="6238568" cy="3497501"/>
          </a:xfrm>
        </p:spPr>
        <p:txBody>
          <a:bodyPr/>
          <a:lstStyle/>
          <a:p>
            <a:pPr marL="257499" indent="-257175"/>
            <a:r>
              <a:rPr lang="en-IN" dirty="0"/>
              <a:t>To give examples of representing data using two-dimensional arrays.</a:t>
            </a:r>
          </a:p>
          <a:p>
            <a:pPr marL="257499" indent="-257175"/>
            <a:r>
              <a:rPr lang="en-IN" dirty="0"/>
              <a:t>To declare variables for two-dimensional arrays, create arrays, and access array elements in a two-dimensional array using row and column indexes.</a:t>
            </a:r>
          </a:p>
          <a:p>
            <a:pPr marL="257499" indent="-257175"/>
            <a:r>
              <a:rPr lang="en-IN" dirty="0"/>
              <a:t>To program common operations for two-dimensional arrays (displaying arrays, summing all elements, finding the minimum and maximum elements, and random shuffling).</a:t>
            </a:r>
          </a:p>
          <a:p>
            <a:pPr marL="257499" indent="-257175"/>
            <a:r>
              <a:rPr lang="en-IN" dirty="0"/>
              <a:t>To pass two-dimensional arrays to methods.</a:t>
            </a:r>
          </a:p>
        </p:txBody>
      </p:sp>
    </p:spTree>
    <p:extLst>
      <p:ext uri="{BB962C8B-B14F-4D97-AF65-F5344CB8AC3E}">
        <p14:creationId xmlns:p14="http://schemas.microsoft.com/office/powerpoint/2010/main" val="922486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EE1E3-365C-4ECC-8B21-BD5FDC2EF176}"/>
              </a:ext>
            </a:extLst>
          </p:cNvPr>
          <p:cNvSpPr>
            <a:spLocks noGrp="1"/>
          </p:cNvSpPr>
          <p:nvPr>
            <p:ph type="title"/>
          </p:nvPr>
        </p:nvSpPr>
        <p:spPr/>
        <p:txBody>
          <a:bodyPr/>
          <a:lstStyle/>
          <a:p>
            <a:r>
              <a:rPr lang="en-IN" sz="2400" dirty="0"/>
              <a:t>Declare/Create Two-dimensional Arrays</a:t>
            </a:r>
          </a:p>
        </p:txBody>
      </p:sp>
      <p:sp>
        <p:nvSpPr>
          <p:cNvPr id="3" name="Content Placeholder 2">
            <a:extLst>
              <a:ext uri="{FF2B5EF4-FFF2-40B4-BE49-F238E27FC236}">
                <a16:creationId xmlns:a16="http://schemas.microsoft.com/office/drawing/2014/main" id="{4F299C23-F0B4-4D59-A45B-A62D15516645}"/>
              </a:ext>
            </a:extLst>
          </p:cNvPr>
          <p:cNvSpPr>
            <a:spLocks noGrp="1"/>
          </p:cNvSpPr>
          <p:nvPr>
            <p:ph sz="quarter" idx="13"/>
          </p:nvPr>
        </p:nvSpPr>
        <p:spPr>
          <a:xfrm>
            <a:off x="1485900" y="2023441"/>
            <a:ext cx="6172201" cy="3387522"/>
          </a:xfrm>
        </p:spPr>
        <p:txBody>
          <a:bodyPr/>
          <a:lstStyle/>
          <a:p>
            <a:pPr marL="324" indent="0">
              <a:spcBef>
                <a:spcPts val="450"/>
              </a:spcBef>
              <a:buNone/>
            </a:pPr>
            <a:r>
              <a:rPr lang="en-IN" sz="1650" b="1" dirty="0">
                <a:latin typeface="Courier New" panose="02070309020205020404" pitchFamily="49" charset="0"/>
                <a:cs typeface="Courier New" panose="02070309020205020404" pitchFamily="49" charset="0"/>
              </a:rPr>
              <a:t>// Declare array ref var</a:t>
            </a:r>
          </a:p>
          <a:p>
            <a:pPr marL="324" indent="0">
              <a:spcBef>
                <a:spcPts val="450"/>
              </a:spcBef>
              <a:buNone/>
            </a:pPr>
            <a:r>
              <a:rPr lang="en-IN" sz="1650" b="1" dirty="0">
                <a:latin typeface="Courier New" panose="02070309020205020404" pitchFamily="49" charset="0"/>
                <a:cs typeface="Courier New" panose="02070309020205020404" pitchFamily="49" charset="0"/>
              </a:rPr>
              <a:t>dataType[][] refVar;</a:t>
            </a:r>
          </a:p>
          <a:p>
            <a:pPr marL="324" indent="0">
              <a:spcBef>
                <a:spcPts val="450"/>
              </a:spcBef>
              <a:buNone/>
            </a:pPr>
            <a:r>
              <a:rPr lang="en-IN" sz="1650" b="1" dirty="0">
                <a:latin typeface="Courier New" panose="02070309020205020404" pitchFamily="49" charset="0"/>
                <a:cs typeface="Courier New" panose="02070309020205020404" pitchFamily="49" charset="0"/>
              </a:rPr>
              <a:t>// Create array and assign its reference to variable</a:t>
            </a:r>
          </a:p>
          <a:p>
            <a:pPr marL="324" indent="0">
              <a:spcBef>
                <a:spcPts val="450"/>
              </a:spcBef>
              <a:buNone/>
            </a:pPr>
            <a:r>
              <a:rPr lang="en-IN" sz="1650" b="1" dirty="0">
                <a:latin typeface="Courier New" panose="02070309020205020404" pitchFamily="49" charset="0"/>
                <a:cs typeface="Courier New" panose="02070309020205020404" pitchFamily="49" charset="0"/>
              </a:rPr>
              <a:t>refVar = new dataType[10][10];</a:t>
            </a:r>
          </a:p>
          <a:p>
            <a:pPr marL="324" indent="0">
              <a:spcBef>
                <a:spcPts val="450"/>
              </a:spcBef>
              <a:buNone/>
            </a:pPr>
            <a:r>
              <a:rPr lang="en-IN" sz="1650" b="1" dirty="0">
                <a:latin typeface="Courier New" panose="02070309020205020404" pitchFamily="49" charset="0"/>
                <a:cs typeface="Courier New" panose="02070309020205020404" pitchFamily="49" charset="0"/>
              </a:rPr>
              <a:t>// Combine declaration and creation in one statement</a:t>
            </a:r>
          </a:p>
          <a:p>
            <a:pPr marL="324" indent="0">
              <a:spcBef>
                <a:spcPts val="450"/>
              </a:spcBef>
              <a:buNone/>
            </a:pPr>
            <a:r>
              <a:rPr lang="en-IN" sz="1650" b="1" dirty="0">
                <a:latin typeface="Courier New" panose="02070309020205020404" pitchFamily="49" charset="0"/>
                <a:cs typeface="Courier New" panose="02070309020205020404" pitchFamily="49" charset="0"/>
              </a:rPr>
              <a:t>dataType[][] refVar = new dataType[10][10];</a:t>
            </a:r>
          </a:p>
          <a:p>
            <a:pPr marL="324" indent="0">
              <a:spcBef>
                <a:spcPts val="450"/>
              </a:spcBef>
              <a:buNone/>
            </a:pPr>
            <a:r>
              <a:rPr lang="en-IN" sz="1650" b="1" dirty="0">
                <a:latin typeface="Courier New" panose="02070309020205020404" pitchFamily="49" charset="0"/>
                <a:cs typeface="Courier New" panose="02070309020205020404" pitchFamily="49" charset="0"/>
              </a:rPr>
              <a:t>// Alternative syntax</a:t>
            </a:r>
          </a:p>
          <a:p>
            <a:pPr marL="324" indent="0">
              <a:spcBef>
                <a:spcPts val="450"/>
              </a:spcBef>
              <a:buNone/>
            </a:pPr>
            <a:r>
              <a:rPr lang="en-IN" sz="1650" b="1" dirty="0">
                <a:latin typeface="Courier New" panose="02070309020205020404" pitchFamily="49" charset="0"/>
                <a:cs typeface="Courier New" panose="02070309020205020404" pitchFamily="49" charset="0"/>
              </a:rPr>
              <a:t>dataType refVar[][] = new dataType[10][10];</a:t>
            </a:r>
          </a:p>
        </p:txBody>
      </p:sp>
    </p:spTree>
    <p:extLst>
      <p:ext uri="{BB962C8B-B14F-4D97-AF65-F5344CB8AC3E}">
        <p14:creationId xmlns:p14="http://schemas.microsoft.com/office/powerpoint/2010/main" val="3092163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Motivations </a:t>
            </a:r>
            <a:r>
              <a:rPr lang="en-IN" sz="1500" b="0" dirty="0"/>
              <a:t>(2 of 2)</a:t>
            </a:r>
            <a:endParaRPr lang="en-IN" b="0" dirty="0"/>
          </a:p>
        </p:txBody>
      </p:sp>
      <p:pic>
        <p:nvPicPr>
          <p:cNvPr id="4" name="Content Placeholder 3" descr="A text box shows the Motivations. The computer code consists of 9 lines. For long description in Notes pane, press F6.">
            <a:extLst>
              <a:ext uri="{FF2B5EF4-FFF2-40B4-BE49-F238E27FC236}">
                <a16:creationId xmlns:a16="http://schemas.microsoft.com/office/drawing/2014/main" id="{5F323AC6-D500-4835-A781-6800BEDED059}"/>
              </a:ext>
            </a:extLst>
          </p:cNvPr>
          <p:cNvPicPr>
            <a:picLocks noGrp="1" noChangeAspect="1"/>
          </p:cNvPicPr>
          <p:nvPr>
            <p:ph sz="quarter" idx="13"/>
          </p:nvPr>
        </p:nvPicPr>
        <p:blipFill>
          <a:blip r:embed="rId3"/>
          <a:stretch>
            <a:fillRect/>
          </a:stretch>
        </p:blipFill>
        <p:spPr>
          <a:xfrm>
            <a:off x="1566809" y="2109913"/>
            <a:ext cx="6010382" cy="2726663"/>
          </a:xfrm>
          <a:prstGeom prst="rect">
            <a:avLst/>
          </a:prstGeom>
        </p:spPr>
      </p:pic>
    </p:spTree>
    <p:extLst>
      <p:ext uri="{BB962C8B-B14F-4D97-AF65-F5344CB8AC3E}">
        <p14:creationId xmlns:p14="http://schemas.microsoft.com/office/powerpoint/2010/main" val="3452098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EE1E3-365C-4ECC-8B21-BD5FDC2EF176}"/>
              </a:ext>
            </a:extLst>
          </p:cNvPr>
          <p:cNvSpPr>
            <a:spLocks noGrp="1"/>
          </p:cNvSpPr>
          <p:nvPr>
            <p:ph type="title"/>
          </p:nvPr>
        </p:nvSpPr>
        <p:spPr/>
        <p:txBody>
          <a:bodyPr/>
          <a:lstStyle/>
          <a:p>
            <a:r>
              <a:rPr lang="en-IN" sz="2100" dirty="0"/>
              <a:t>Declaring Variables of Two-dimensional Arrays and Creating Two-dimensional Arrays</a:t>
            </a:r>
          </a:p>
        </p:txBody>
      </p:sp>
      <p:sp>
        <p:nvSpPr>
          <p:cNvPr id="3" name="Content Placeholder 2">
            <a:extLst>
              <a:ext uri="{FF2B5EF4-FFF2-40B4-BE49-F238E27FC236}">
                <a16:creationId xmlns:a16="http://schemas.microsoft.com/office/drawing/2014/main" id="{4F299C23-F0B4-4D59-A45B-A62D15516645}"/>
              </a:ext>
            </a:extLst>
          </p:cNvPr>
          <p:cNvSpPr>
            <a:spLocks noGrp="1"/>
          </p:cNvSpPr>
          <p:nvPr>
            <p:ph sz="quarter" idx="13"/>
          </p:nvPr>
        </p:nvSpPr>
        <p:spPr>
          <a:xfrm>
            <a:off x="1485900" y="2023441"/>
            <a:ext cx="6336793" cy="3606977"/>
          </a:xfrm>
        </p:spPr>
        <p:txBody>
          <a:bodyPr/>
          <a:lstStyle/>
          <a:p>
            <a:pPr marL="324" indent="0">
              <a:buNone/>
            </a:pPr>
            <a:r>
              <a:rPr lang="en-IN" b="1" dirty="0">
                <a:latin typeface="Courier New" panose="02070309020205020404" pitchFamily="49" charset="0"/>
                <a:cs typeface="Courier New" panose="02070309020205020404" pitchFamily="49" charset="0"/>
              </a:rPr>
              <a:t>int[][] matrix = new int[10][10];</a:t>
            </a:r>
          </a:p>
          <a:p>
            <a:pPr marL="324" indent="0">
              <a:buNone/>
            </a:pPr>
            <a:r>
              <a:rPr lang="en-IN" b="1" dirty="0">
                <a:latin typeface="+mj-lt"/>
                <a:cs typeface="Courier New" panose="02070309020205020404" pitchFamily="49" charset="0"/>
              </a:rPr>
              <a:t>or</a:t>
            </a:r>
          </a:p>
          <a:p>
            <a:pPr marL="324" indent="0">
              <a:buNone/>
            </a:pPr>
            <a:r>
              <a:rPr lang="en-IN" b="1" dirty="0">
                <a:latin typeface="Courier New" panose="02070309020205020404" pitchFamily="49" charset="0"/>
                <a:cs typeface="Courier New" panose="02070309020205020404" pitchFamily="49" charset="0"/>
              </a:rPr>
              <a:t>int matrix[][] = new int[10][10];</a:t>
            </a:r>
          </a:p>
          <a:p>
            <a:pPr marL="324" indent="0">
              <a:buNone/>
            </a:pPr>
            <a:r>
              <a:rPr lang="en-IN" b="1" dirty="0">
                <a:latin typeface="Courier New" panose="02070309020205020404" pitchFamily="49" charset="0"/>
                <a:cs typeface="Courier New" panose="02070309020205020404" pitchFamily="49" charset="0"/>
              </a:rPr>
              <a:t>matrix[0][0] = 3;</a:t>
            </a:r>
          </a:p>
          <a:p>
            <a:pPr marL="324" indent="0">
              <a:buNone/>
            </a:pPr>
            <a:r>
              <a:rPr lang="en-IN" b="1" dirty="0">
                <a:latin typeface="Courier New" panose="02070309020205020404" pitchFamily="49" charset="0"/>
                <a:cs typeface="Courier New" panose="02070309020205020404" pitchFamily="49" charset="0"/>
              </a:rPr>
              <a:t>for (int i = 0; i &lt; matrix.length; i++)</a:t>
            </a:r>
          </a:p>
          <a:p>
            <a:pPr marL="270000" indent="0">
              <a:buNone/>
            </a:pPr>
            <a:r>
              <a:rPr lang="en-IN" b="1" dirty="0">
                <a:latin typeface="Courier New" panose="02070309020205020404" pitchFamily="49" charset="0"/>
                <a:cs typeface="Courier New" panose="02070309020205020404" pitchFamily="49" charset="0"/>
              </a:rPr>
              <a:t>for (int j = 0; j &lt; matrix[i].length; j++)</a:t>
            </a:r>
          </a:p>
          <a:p>
            <a:pPr marL="405000" indent="0">
              <a:buNone/>
            </a:pPr>
            <a:r>
              <a:rPr lang="en-IN" b="1" dirty="0">
                <a:latin typeface="Courier New" panose="02070309020205020404" pitchFamily="49" charset="0"/>
                <a:cs typeface="Courier New" panose="02070309020205020404" pitchFamily="49" charset="0"/>
              </a:rPr>
              <a:t>matrix[i][j] = (int)(Math.random() * 1000);</a:t>
            </a:r>
          </a:p>
          <a:p>
            <a:pPr marL="324" indent="0">
              <a:buNone/>
            </a:pPr>
            <a:r>
              <a:rPr lang="en-IN" b="1" dirty="0">
                <a:latin typeface="Courier New" panose="02070309020205020404" pitchFamily="49" charset="0"/>
                <a:cs typeface="Courier New" panose="02070309020205020404" pitchFamily="49" charset="0"/>
              </a:rPr>
              <a:t>double[][] x;</a:t>
            </a:r>
          </a:p>
        </p:txBody>
      </p:sp>
    </p:spTree>
    <p:extLst>
      <p:ext uri="{BB962C8B-B14F-4D97-AF65-F5344CB8AC3E}">
        <p14:creationId xmlns:p14="http://schemas.microsoft.com/office/powerpoint/2010/main" val="1619515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6CEA6-4E46-4E73-878B-F0D7BA829500}"/>
              </a:ext>
            </a:extLst>
          </p:cNvPr>
          <p:cNvSpPr>
            <a:spLocks noGrp="1"/>
          </p:cNvSpPr>
          <p:nvPr>
            <p:ph type="title"/>
          </p:nvPr>
        </p:nvSpPr>
        <p:spPr/>
        <p:txBody>
          <a:bodyPr/>
          <a:lstStyle/>
          <a:p>
            <a:r>
              <a:rPr lang="en-IN" dirty="0"/>
              <a:t>Two-dimensional Array Illustration</a:t>
            </a:r>
          </a:p>
        </p:txBody>
      </p:sp>
      <p:pic>
        <p:nvPicPr>
          <p:cNvPr id="7" name="Content Placeholder 6" descr="A two dimensional array illustration shows three arrays as follows. For long description in Notes pane, press F6.&#10;">
            <a:extLst>
              <a:ext uri="{FF2B5EF4-FFF2-40B4-BE49-F238E27FC236}">
                <a16:creationId xmlns:a16="http://schemas.microsoft.com/office/drawing/2014/main" id="{8EA7F628-17C9-43F7-84E4-532DD0730C82}"/>
              </a:ext>
            </a:extLst>
          </p:cNvPr>
          <p:cNvPicPr>
            <a:picLocks noGrp="1" noChangeAspect="1"/>
          </p:cNvPicPr>
          <p:nvPr>
            <p:ph sz="quarter" idx="13"/>
          </p:nvPr>
        </p:nvPicPr>
        <p:blipFill>
          <a:blip r:embed="rId3"/>
          <a:stretch>
            <a:fillRect/>
          </a:stretch>
        </p:blipFill>
        <p:spPr>
          <a:xfrm>
            <a:off x="1485900" y="2030509"/>
            <a:ext cx="6172200" cy="2651119"/>
          </a:xfrm>
          <a:prstGeom prst="rect">
            <a:avLst/>
          </a:prstGeom>
        </p:spPr>
      </p:pic>
      <p:sp>
        <p:nvSpPr>
          <p:cNvPr id="4" name="Content Placeholder 3">
            <a:extLst>
              <a:ext uri="{FF2B5EF4-FFF2-40B4-BE49-F238E27FC236}">
                <a16:creationId xmlns:a16="http://schemas.microsoft.com/office/drawing/2014/main" id="{8B2C6107-E38A-4D57-900B-422B4CA1C737}"/>
              </a:ext>
            </a:extLst>
          </p:cNvPr>
          <p:cNvSpPr>
            <a:spLocks noGrp="1"/>
          </p:cNvSpPr>
          <p:nvPr>
            <p:ph sz="quarter" idx="14"/>
          </p:nvPr>
        </p:nvSpPr>
        <p:spPr>
          <a:xfrm>
            <a:off x="1485901" y="4790106"/>
            <a:ext cx="2052620" cy="827739"/>
          </a:xfrm>
        </p:spPr>
        <p:txBody>
          <a:bodyPr/>
          <a:lstStyle/>
          <a:p>
            <a:pPr marL="324" indent="0">
              <a:buNone/>
            </a:pPr>
            <a:r>
              <a:rPr lang="en-IN" dirty="0"/>
              <a:t>matrix.length? 5</a:t>
            </a:r>
          </a:p>
          <a:p>
            <a:pPr marL="324" indent="0">
              <a:buNone/>
            </a:pPr>
            <a:r>
              <a:rPr lang="en-IN" dirty="0"/>
              <a:t>matrix[0].length? 5</a:t>
            </a:r>
          </a:p>
        </p:txBody>
      </p:sp>
      <p:sp>
        <p:nvSpPr>
          <p:cNvPr id="5" name="Content Placeholder 4">
            <a:extLst>
              <a:ext uri="{FF2B5EF4-FFF2-40B4-BE49-F238E27FC236}">
                <a16:creationId xmlns:a16="http://schemas.microsoft.com/office/drawing/2014/main" id="{DE3D44F6-6EDE-4643-89B9-7BA43F8D4197}"/>
              </a:ext>
            </a:extLst>
          </p:cNvPr>
          <p:cNvSpPr>
            <a:spLocks noGrp="1"/>
          </p:cNvSpPr>
          <p:nvPr>
            <p:ph sz="quarter" idx="15"/>
          </p:nvPr>
        </p:nvSpPr>
        <p:spPr>
          <a:xfrm>
            <a:off x="5607377" y="4790316"/>
            <a:ext cx="2052620" cy="810384"/>
          </a:xfrm>
        </p:spPr>
        <p:txBody>
          <a:bodyPr/>
          <a:lstStyle/>
          <a:p>
            <a:pPr marL="324" indent="0">
              <a:buNone/>
            </a:pPr>
            <a:r>
              <a:rPr lang="en-IN" dirty="0"/>
              <a:t>array.length? 4</a:t>
            </a:r>
          </a:p>
          <a:p>
            <a:pPr marL="324" indent="0">
              <a:buNone/>
            </a:pPr>
            <a:r>
              <a:rPr lang="en-IN" dirty="0"/>
              <a:t>array[0].length? 3</a:t>
            </a:r>
          </a:p>
        </p:txBody>
      </p:sp>
    </p:spTree>
    <p:extLst>
      <p:ext uri="{BB962C8B-B14F-4D97-AF65-F5344CB8AC3E}">
        <p14:creationId xmlns:p14="http://schemas.microsoft.com/office/powerpoint/2010/main" val="1984370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66B09-D8F1-4DA0-9418-EEB60EE0DE5E}"/>
              </a:ext>
            </a:extLst>
          </p:cNvPr>
          <p:cNvSpPr>
            <a:spLocks noGrp="1"/>
          </p:cNvSpPr>
          <p:nvPr>
            <p:ph type="title"/>
          </p:nvPr>
        </p:nvSpPr>
        <p:spPr>
          <a:xfrm>
            <a:off x="1485900" y="1018780"/>
            <a:ext cx="6232072" cy="822959"/>
          </a:xfrm>
        </p:spPr>
        <p:txBody>
          <a:bodyPr>
            <a:normAutofit fontScale="90000"/>
          </a:bodyPr>
          <a:lstStyle/>
          <a:p>
            <a:r>
              <a:rPr lang="en-IN" sz="2400" dirty="0"/>
              <a:t>Declaring, Creating, and Initializing Using Shorthand Notations</a:t>
            </a:r>
          </a:p>
        </p:txBody>
      </p:sp>
      <p:pic>
        <p:nvPicPr>
          <p:cNvPr id="6" name="Content Placeholder 5" descr="A left side text box shows the Two-dimensional Arrays. For long description in Notes pane, press F6.">
            <a:extLst>
              <a:ext uri="{FF2B5EF4-FFF2-40B4-BE49-F238E27FC236}">
                <a16:creationId xmlns:a16="http://schemas.microsoft.com/office/drawing/2014/main" id="{92004F02-41A3-4AE5-8B47-19D02C7F227B}"/>
              </a:ext>
            </a:extLst>
          </p:cNvPr>
          <p:cNvPicPr>
            <a:picLocks noGrp="1" noChangeAspect="1"/>
          </p:cNvPicPr>
          <p:nvPr>
            <p:ph sz="quarter" idx="13"/>
          </p:nvPr>
        </p:nvPicPr>
        <p:blipFill>
          <a:blip r:embed="rId3"/>
          <a:stretch>
            <a:fillRect/>
          </a:stretch>
        </p:blipFill>
        <p:spPr>
          <a:xfrm>
            <a:off x="1485901" y="2258428"/>
            <a:ext cx="6174581" cy="2613290"/>
          </a:xfrm>
          <a:prstGeom prst="rect">
            <a:avLst/>
          </a:prstGeom>
        </p:spPr>
      </p:pic>
    </p:spTree>
    <p:extLst>
      <p:ext uri="{BB962C8B-B14F-4D97-AF65-F5344CB8AC3E}">
        <p14:creationId xmlns:p14="http://schemas.microsoft.com/office/powerpoint/2010/main" val="113894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D2F01-BDBA-403E-B21E-5EC6E6DD2613}"/>
              </a:ext>
            </a:extLst>
          </p:cNvPr>
          <p:cNvSpPr>
            <a:spLocks noGrp="1"/>
          </p:cNvSpPr>
          <p:nvPr>
            <p:ph type="title"/>
          </p:nvPr>
        </p:nvSpPr>
        <p:spPr/>
        <p:txBody>
          <a:bodyPr/>
          <a:lstStyle/>
          <a:p>
            <a:r>
              <a:rPr lang="en-IN" sz="2400" dirty="0"/>
              <a:t>Lengths of Two-dimensional Arrays </a:t>
            </a:r>
            <a:r>
              <a:rPr lang="en-IN" sz="1500" b="0" dirty="0"/>
              <a:t>(1 of 2)</a:t>
            </a:r>
            <a:endParaRPr lang="en-IN" b="0" dirty="0"/>
          </a:p>
        </p:txBody>
      </p:sp>
      <p:sp>
        <p:nvSpPr>
          <p:cNvPr id="3" name="Content Placeholder 2">
            <a:extLst>
              <a:ext uri="{FF2B5EF4-FFF2-40B4-BE49-F238E27FC236}">
                <a16:creationId xmlns:a16="http://schemas.microsoft.com/office/drawing/2014/main" id="{668451B2-6AD8-4216-9D92-4ADF37A8666E}"/>
              </a:ext>
            </a:extLst>
          </p:cNvPr>
          <p:cNvSpPr>
            <a:spLocks noGrp="1"/>
          </p:cNvSpPr>
          <p:nvPr>
            <p:ph sz="quarter" idx="13"/>
          </p:nvPr>
        </p:nvSpPr>
        <p:spPr>
          <a:xfrm>
            <a:off x="1485900" y="2024495"/>
            <a:ext cx="6172200" cy="447704"/>
          </a:xfrm>
        </p:spPr>
        <p:txBody>
          <a:bodyPr/>
          <a:lstStyle/>
          <a:p>
            <a:pPr marL="324" indent="0">
              <a:buNone/>
            </a:pPr>
            <a:r>
              <a:rPr lang="en-IN" dirty="0"/>
              <a:t>int[][] x = new int[3][4];</a:t>
            </a:r>
          </a:p>
        </p:txBody>
      </p:sp>
      <p:pic>
        <p:nvPicPr>
          <p:cNvPr id="5" name="Content Placeholder 4" descr="A column labeled, x with three boxes. For long description in Notes pane, press F6.">
            <a:extLst>
              <a:ext uri="{FF2B5EF4-FFF2-40B4-BE49-F238E27FC236}">
                <a16:creationId xmlns:a16="http://schemas.microsoft.com/office/drawing/2014/main" id="{CC6C67C3-15C4-4F54-B687-A217993F86A5}"/>
              </a:ext>
            </a:extLst>
          </p:cNvPr>
          <p:cNvPicPr>
            <a:picLocks noGrp="1" noChangeAspect="1"/>
          </p:cNvPicPr>
          <p:nvPr>
            <p:ph sz="quarter" idx="14"/>
          </p:nvPr>
        </p:nvPicPr>
        <p:blipFill>
          <a:blip r:embed="rId3"/>
          <a:stretch>
            <a:fillRect/>
          </a:stretch>
        </p:blipFill>
        <p:spPr>
          <a:xfrm>
            <a:off x="1556614" y="2715728"/>
            <a:ext cx="6030773" cy="1761382"/>
          </a:xfrm>
          <a:prstGeom prst="rect">
            <a:avLst/>
          </a:prstGeom>
        </p:spPr>
      </p:pic>
    </p:spTree>
    <p:extLst>
      <p:ext uri="{BB962C8B-B14F-4D97-AF65-F5344CB8AC3E}">
        <p14:creationId xmlns:p14="http://schemas.microsoft.com/office/powerpoint/2010/main" val="2039026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B6DABBB-3213-4747-B1CB-6D2A30542E1A}"/>
              </a:ext>
            </a:extLst>
          </p:cNvPr>
          <p:cNvSpPr>
            <a:spLocks noGrp="1"/>
          </p:cNvSpPr>
          <p:nvPr>
            <p:ph type="title"/>
          </p:nvPr>
        </p:nvSpPr>
        <p:spPr/>
        <p:txBody>
          <a:bodyPr/>
          <a:lstStyle/>
          <a:p>
            <a:r>
              <a:rPr lang="en-IN" sz="2400" dirty="0"/>
              <a:t>Lengths of Two-dimensional Arrays </a:t>
            </a:r>
            <a:r>
              <a:rPr lang="en-IN" sz="1500" b="0" dirty="0"/>
              <a:t>(2 of 2)</a:t>
            </a:r>
            <a:endParaRPr lang="en-IN" b="0" dirty="0"/>
          </a:p>
        </p:txBody>
      </p:sp>
      <p:sp>
        <p:nvSpPr>
          <p:cNvPr id="18" name="Content Placeholder 17">
            <a:extLst>
              <a:ext uri="{FF2B5EF4-FFF2-40B4-BE49-F238E27FC236}">
                <a16:creationId xmlns:a16="http://schemas.microsoft.com/office/drawing/2014/main" id="{E37BFFDB-667F-41AA-B0A8-20CB2F897177}"/>
              </a:ext>
            </a:extLst>
          </p:cNvPr>
          <p:cNvSpPr>
            <a:spLocks noGrp="1"/>
          </p:cNvSpPr>
          <p:nvPr>
            <p:ph sz="quarter" idx="13"/>
          </p:nvPr>
        </p:nvSpPr>
        <p:spPr>
          <a:xfrm>
            <a:off x="1485900" y="2021681"/>
            <a:ext cx="1736623" cy="2518979"/>
          </a:xfrm>
        </p:spPr>
        <p:txBody>
          <a:bodyPr/>
          <a:lstStyle/>
          <a:p>
            <a:pPr marL="324" indent="0">
              <a:buNone/>
            </a:pPr>
            <a:r>
              <a:rPr lang="en-IN" dirty="0"/>
              <a:t>int[][] array = {</a:t>
            </a:r>
          </a:p>
          <a:p>
            <a:pPr marL="135000" indent="0">
              <a:buNone/>
            </a:pPr>
            <a:r>
              <a:rPr lang="en-IN" dirty="0"/>
              <a:t>{1, 2, 3},</a:t>
            </a:r>
          </a:p>
          <a:p>
            <a:pPr marL="135000" indent="0">
              <a:buNone/>
            </a:pPr>
            <a:r>
              <a:rPr lang="en-IN" dirty="0"/>
              <a:t>{4, 5, 6},</a:t>
            </a:r>
          </a:p>
          <a:p>
            <a:pPr marL="135000" indent="0">
              <a:buNone/>
            </a:pPr>
            <a:r>
              <a:rPr lang="en-IN" dirty="0"/>
              <a:t>{7, 8, 9},</a:t>
            </a:r>
          </a:p>
          <a:p>
            <a:pPr marL="135000" indent="0">
              <a:buNone/>
            </a:pPr>
            <a:r>
              <a:rPr lang="en-IN" dirty="0"/>
              <a:t>{10, 11, 12}</a:t>
            </a:r>
          </a:p>
          <a:p>
            <a:pPr marL="324" indent="0">
              <a:buNone/>
            </a:pPr>
            <a:r>
              <a:rPr lang="en-IN" dirty="0"/>
              <a:t>};</a:t>
            </a:r>
          </a:p>
        </p:txBody>
      </p:sp>
      <p:sp>
        <p:nvSpPr>
          <p:cNvPr id="19" name="Content Placeholder 18">
            <a:extLst>
              <a:ext uri="{FF2B5EF4-FFF2-40B4-BE49-F238E27FC236}">
                <a16:creationId xmlns:a16="http://schemas.microsoft.com/office/drawing/2014/main" id="{A947543D-7A0A-4F0C-A802-D1E3B7674093}"/>
              </a:ext>
            </a:extLst>
          </p:cNvPr>
          <p:cNvSpPr>
            <a:spLocks noGrp="1"/>
          </p:cNvSpPr>
          <p:nvPr>
            <p:ph sz="quarter" idx="14"/>
          </p:nvPr>
        </p:nvSpPr>
        <p:spPr>
          <a:xfrm>
            <a:off x="4572000" y="2024677"/>
            <a:ext cx="1673534" cy="2518979"/>
          </a:xfrm>
        </p:spPr>
        <p:txBody>
          <a:bodyPr/>
          <a:lstStyle/>
          <a:p>
            <a:pPr marL="324" indent="0">
              <a:buNone/>
            </a:pPr>
            <a:r>
              <a:rPr lang="en-IN" dirty="0"/>
              <a:t>array.length</a:t>
            </a:r>
          </a:p>
          <a:p>
            <a:pPr marL="324" indent="0">
              <a:buNone/>
            </a:pPr>
            <a:r>
              <a:rPr lang="en-IN" dirty="0"/>
              <a:t>array[0].length</a:t>
            </a:r>
          </a:p>
          <a:p>
            <a:pPr marL="324" indent="0">
              <a:buNone/>
            </a:pPr>
            <a:r>
              <a:rPr lang="en-IN" dirty="0"/>
              <a:t>array[1].length</a:t>
            </a:r>
          </a:p>
          <a:p>
            <a:pPr marL="324" indent="0">
              <a:buNone/>
            </a:pPr>
            <a:r>
              <a:rPr lang="en-IN" dirty="0"/>
              <a:t>array[2].length</a:t>
            </a:r>
          </a:p>
          <a:p>
            <a:pPr marL="324" indent="0">
              <a:buNone/>
            </a:pPr>
            <a:r>
              <a:rPr lang="en-IN" dirty="0"/>
              <a:t>array[3].length</a:t>
            </a:r>
          </a:p>
        </p:txBody>
      </p:sp>
      <p:sp>
        <p:nvSpPr>
          <p:cNvPr id="20" name="Content Placeholder 19">
            <a:extLst>
              <a:ext uri="{FF2B5EF4-FFF2-40B4-BE49-F238E27FC236}">
                <a16:creationId xmlns:a16="http://schemas.microsoft.com/office/drawing/2014/main" id="{644E06A2-F784-4003-B46E-04B3496440AF}"/>
              </a:ext>
            </a:extLst>
          </p:cNvPr>
          <p:cNvSpPr>
            <a:spLocks noGrp="1"/>
          </p:cNvSpPr>
          <p:nvPr>
            <p:ph sz="quarter" idx="15"/>
          </p:nvPr>
        </p:nvSpPr>
        <p:spPr>
          <a:xfrm>
            <a:off x="1485899" y="4720605"/>
            <a:ext cx="6172199" cy="384182"/>
          </a:xfrm>
        </p:spPr>
        <p:txBody>
          <a:bodyPr/>
          <a:lstStyle/>
          <a:p>
            <a:pPr marL="324" indent="0">
              <a:buNone/>
            </a:pPr>
            <a:r>
              <a:rPr lang="en-IN" dirty="0"/>
              <a:t>array[4].length	</a:t>
            </a:r>
            <a:r>
              <a:rPr lang="en-IN" dirty="0" err="1"/>
              <a:t>ArrayIndexOutOfBoundsException</a:t>
            </a:r>
            <a:endParaRPr lang="en-IN" dirty="0"/>
          </a:p>
        </p:txBody>
      </p:sp>
    </p:spTree>
    <p:extLst>
      <p:ext uri="{BB962C8B-B14F-4D97-AF65-F5344CB8AC3E}">
        <p14:creationId xmlns:p14="http://schemas.microsoft.com/office/powerpoint/2010/main" val="3713226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B3F29-CCA3-439C-9B49-E35C23E89EDD}"/>
              </a:ext>
            </a:extLst>
          </p:cNvPr>
          <p:cNvSpPr>
            <a:spLocks noGrp="1"/>
          </p:cNvSpPr>
          <p:nvPr>
            <p:ph type="title"/>
          </p:nvPr>
        </p:nvSpPr>
        <p:spPr/>
        <p:txBody>
          <a:bodyPr/>
          <a:lstStyle/>
          <a:p>
            <a:r>
              <a:rPr lang="en-IN" dirty="0"/>
              <a:t>Ragged Arrays </a:t>
            </a:r>
            <a:r>
              <a:rPr lang="en-IN" sz="1500" b="0" dirty="0"/>
              <a:t>(1 of 2)</a:t>
            </a:r>
            <a:endParaRPr lang="en-IN" b="0" dirty="0"/>
          </a:p>
        </p:txBody>
      </p:sp>
      <p:sp>
        <p:nvSpPr>
          <p:cNvPr id="3" name="Content Placeholder 2">
            <a:extLst>
              <a:ext uri="{FF2B5EF4-FFF2-40B4-BE49-F238E27FC236}">
                <a16:creationId xmlns:a16="http://schemas.microsoft.com/office/drawing/2014/main" id="{B8E77A37-3150-4790-8FCD-13B5C995FE7D}"/>
              </a:ext>
            </a:extLst>
          </p:cNvPr>
          <p:cNvSpPr>
            <a:spLocks noGrp="1"/>
          </p:cNvSpPr>
          <p:nvPr>
            <p:ph sz="quarter" idx="13"/>
          </p:nvPr>
        </p:nvSpPr>
        <p:spPr>
          <a:xfrm>
            <a:off x="1485900" y="2024495"/>
            <a:ext cx="3550674" cy="3480956"/>
          </a:xfrm>
        </p:spPr>
        <p:txBody>
          <a:bodyPr/>
          <a:lstStyle/>
          <a:p>
            <a:pPr marL="324" indent="0">
              <a:spcBef>
                <a:spcPts val="900"/>
              </a:spcBef>
              <a:buNone/>
            </a:pPr>
            <a:r>
              <a:rPr lang="en-IN" sz="1500" dirty="0"/>
              <a:t>Each row in a two-dimensional array is itself an array. So, the rows can have different lengths. Such an array is known as a </a:t>
            </a:r>
            <a:r>
              <a:rPr lang="en-IN" sz="1500" b="1" dirty="0"/>
              <a:t>ragged array</a:t>
            </a:r>
            <a:r>
              <a:rPr lang="en-IN" sz="1500" dirty="0"/>
              <a:t>. For example,</a:t>
            </a:r>
          </a:p>
          <a:p>
            <a:pPr marL="324" indent="0">
              <a:spcBef>
                <a:spcPts val="900"/>
              </a:spcBef>
              <a:buNone/>
            </a:pPr>
            <a:r>
              <a:rPr lang="en-IN" sz="1500" dirty="0"/>
              <a:t>int[][] matrix = {</a:t>
            </a:r>
          </a:p>
          <a:p>
            <a:pPr marL="324" indent="0">
              <a:spcBef>
                <a:spcPts val="900"/>
              </a:spcBef>
              <a:buNone/>
            </a:pPr>
            <a:r>
              <a:rPr lang="en-IN" sz="1500" dirty="0"/>
              <a:t>{1, 2, 3, 4, 5},</a:t>
            </a:r>
          </a:p>
          <a:p>
            <a:pPr marL="135000" indent="0">
              <a:spcBef>
                <a:spcPts val="900"/>
              </a:spcBef>
              <a:buNone/>
            </a:pPr>
            <a:r>
              <a:rPr lang="en-IN" sz="1500" dirty="0"/>
              <a:t>{2, 3, 4, 5},</a:t>
            </a:r>
          </a:p>
          <a:p>
            <a:pPr marL="135000" indent="0">
              <a:spcBef>
                <a:spcPts val="900"/>
              </a:spcBef>
              <a:buNone/>
            </a:pPr>
            <a:r>
              <a:rPr lang="en-IN" sz="1500" dirty="0"/>
              <a:t>{3, 4, 5},</a:t>
            </a:r>
          </a:p>
          <a:p>
            <a:pPr marL="135000" indent="0">
              <a:spcBef>
                <a:spcPts val="900"/>
              </a:spcBef>
              <a:buNone/>
            </a:pPr>
            <a:r>
              <a:rPr lang="en-IN" sz="1500" dirty="0"/>
              <a:t>{4, 5},</a:t>
            </a:r>
          </a:p>
          <a:p>
            <a:pPr marL="135000" indent="0">
              <a:spcBef>
                <a:spcPts val="900"/>
              </a:spcBef>
              <a:buNone/>
            </a:pPr>
            <a:r>
              <a:rPr lang="en-IN" sz="1500" dirty="0"/>
              <a:t>{5}</a:t>
            </a:r>
          </a:p>
          <a:p>
            <a:pPr marL="324" indent="0">
              <a:spcBef>
                <a:spcPts val="900"/>
              </a:spcBef>
              <a:buNone/>
            </a:pPr>
            <a:r>
              <a:rPr lang="en-IN" sz="1500" dirty="0"/>
              <a:t>};</a:t>
            </a:r>
          </a:p>
        </p:txBody>
      </p:sp>
      <p:sp>
        <p:nvSpPr>
          <p:cNvPr id="4" name="Content Placeholder 3">
            <a:extLst>
              <a:ext uri="{FF2B5EF4-FFF2-40B4-BE49-F238E27FC236}">
                <a16:creationId xmlns:a16="http://schemas.microsoft.com/office/drawing/2014/main" id="{5EE1D8BB-72BD-4C3A-AE5D-02C4C3ACE018}"/>
              </a:ext>
            </a:extLst>
          </p:cNvPr>
          <p:cNvSpPr>
            <a:spLocks noGrp="1"/>
          </p:cNvSpPr>
          <p:nvPr>
            <p:ph sz="quarter" idx="14"/>
          </p:nvPr>
        </p:nvSpPr>
        <p:spPr>
          <a:xfrm>
            <a:off x="5180372" y="3296707"/>
            <a:ext cx="2477729" cy="2208744"/>
          </a:xfrm>
        </p:spPr>
        <p:txBody>
          <a:bodyPr/>
          <a:lstStyle/>
          <a:p>
            <a:pPr marL="324" indent="0" algn="ctr">
              <a:buNone/>
            </a:pPr>
            <a:r>
              <a:rPr lang="en-IN" sz="1500" dirty="0"/>
              <a:t>matrix.length is 5</a:t>
            </a:r>
          </a:p>
          <a:p>
            <a:pPr marL="324" indent="0" algn="ctr">
              <a:buNone/>
            </a:pPr>
            <a:r>
              <a:rPr lang="en-IN" sz="1500" dirty="0"/>
              <a:t>matrix[0].length is 5</a:t>
            </a:r>
          </a:p>
          <a:p>
            <a:pPr marL="324" indent="0" algn="ctr">
              <a:buNone/>
            </a:pPr>
            <a:r>
              <a:rPr lang="en-IN" sz="1500" dirty="0"/>
              <a:t>matrix[1].length is 4</a:t>
            </a:r>
          </a:p>
          <a:p>
            <a:pPr marL="324" indent="0" algn="ctr">
              <a:buNone/>
            </a:pPr>
            <a:r>
              <a:rPr lang="en-IN" sz="1500" dirty="0"/>
              <a:t>matrix[2].length is 3</a:t>
            </a:r>
          </a:p>
          <a:p>
            <a:pPr marL="324" indent="0" algn="ctr">
              <a:buNone/>
            </a:pPr>
            <a:r>
              <a:rPr lang="en-IN" sz="1500" dirty="0"/>
              <a:t>matrix[3].length is 2</a:t>
            </a:r>
          </a:p>
          <a:p>
            <a:pPr marL="324" indent="0" algn="ctr">
              <a:buNone/>
            </a:pPr>
            <a:r>
              <a:rPr lang="en-IN" sz="1500" dirty="0"/>
              <a:t>matrix[4].length is 1</a:t>
            </a:r>
          </a:p>
        </p:txBody>
      </p:sp>
    </p:spTree>
    <p:extLst>
      <p:ext uri="{BB962C8B-B14F-4D97-AF65-F5344CB8AC3E}">
        <p14:creationId xmlns:p14="http://schemas.microsoft.com/office/powerpoint/2010/main" val="1769298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66C5-24B1-4E61-A5A3-59A40E75944D}"/>
              </a:ext>
            </a:extLst>
          </p:cNvPr>
          <p:cNvSpPr>
            <a:spLocks noGrp="1"/>
          </p:cNvSpPr>
          <p:nvPr>
            <p:ph type="title"/>
          </p:nvPr>
        </p:nvSpPr>
        <p:spPr/>
        <p:txBody>
          <a:bodyPr/>
          <a:lstStyle/>
          <a:p>
            <a:r>
              <a:rPr lang="en-IN" dirty="0"/>
              <a:t>Ragged Arrays </a:t>
            </a:r>
            <a:r>
              <a:rPr lang="en-IN" sz="1500" b="0" dirty="0"/>
              <a:t>(2 of 2)</a:t>
            </a:r>
            <a:endParaRPr lang="en-IN" b="0" dirty="0"/>
          </a:p>
        </p:txBody>
      </p:sp>
      <p:pic>
        <p:nvPicPr>
          <p:cNvPr id="4" name="Content Placeholder 3" descr="int left bracket right bracket, left bracket right bracket triangleArray = left brace. For long description in Notes pane, press F6.&#10;">
            <a:extLst>
              <a:ext uri="{FF2B5EF4-FFF2-40B4-BE49-F238E27FC236}">
                <a16:creationId xmlns:a16="http://schemas.microsoft.com/office/drawing/2014/main" id="{C8203B7E-62CF-4662-81F5-92B419FB890E}"/>
              </a:ext>
            </a:extLst>
          </p:cNvPr>
          <p:cNvPicPr>
            <a:picLocks noGrp="1" noChangeAspect="1"/>
          </p:cNvPicPr>
          <p:nvPr>
            <p:ph sz="quarter" idx="13"/>
          </p:nvPr>
        </p:nvPicPr>
        <p:blipFill>
          <a:blip r:embed="rId3"/>
          <a:stretch>
            <a:fillRect/>
          </a:stretch>
        </p:blipFill>
        <p:spPr>
          <a:xfrm>
            <a:off x="1483520" y="2208289"/>
            <a:ext cx="6174581" cy="2441423"/>
          </a:xfrm>
          <a:prstGeom prst="rect">
            <a:avLst/>
          </a:prstGeom>
        </p:spPr>
      </p:pic>
    </p:spTree>
    <p:extLst>
      <p:ext uri="{BB962C8B-B14F-4D97-AF65-F5344CB8AC3E}">
        <p14:creationId xmlns:p14="http://schemas.microsoft.com/office/powerpoint/2010/main" val="2301384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F2DE0-8F7B-4DF7-B519-224E8D916EFE}"/>
              </a:ext>
            </a:extLst>
          </p:cNvPr>
          <p:cNvSpPr>
            <a:spLocks noGrp="1"/>
          </p:cNvSpPr>
          <p:nvPr>
            <p:ph type="title"/>
          </p:nvPr>
        </p:nvSpPr>
        <p:spPr/>
        <p:txBody>
          <a:bodyPr/>
          <a:lstStyle/>
          <a:p>
            <a:r>
              <a:rPr lang="en-IN" dirty="0"/>
              <a:t>Processing Two-Dimensional Arrays</a:t>
            </a:r>
          </a:p>
        </p:txBody>
      </p:sp>
      <p:sp>
        <p:nvSpPr>
          <p:cNvPr id="3" name="Content Placeholder 2">
            <a:extLst>
              <a:ext uri="{FF2B5EF4-FFF2-40B4-BE49-F238E27FC236}">
                <a16:creationId xmlns:a16="http://schemas.microsoft.com/office/drawing/2014/main" id="{F003A0A5-1881-4F9A-91F5-D54941151C83}"/>
              </a:ext>
            </a:extLst>
          </p:cNvPr>
          <p:cNvSpPr>
            <a:spLocks noGrp="1"/>
          </p:cNvSpPr>
          <p:nvPr>
            <p:ph sz="quarter" idx="13"/>
          </p:nvPr>
        </p:nvSpPr>
        <p:spPr/>
        <p:txBody>
          <a:bodyPr/>
          <a:lstStyle/>
          <a:p>
            <a:pPr marL="324" indent="0">
              <a:buNone/>
            </a:pPr>
            <a:r>
              <a:rPr lang="en-IN" dirty="0"/>
              <a:t>See the examples in the text.</a:t>
            </a:r>
          </a:p>
          <a:p>
            <a:pPr marL="324000" indent="-324000">
              <a:buFont typeface="+mj-lt"/>
              <a:buAutoNum type="arabicPeriod"/>
            </a:pPr>
            <a:r>
              <a:rPr lang="en-IN" dirty="0"/>
              <a:t>(Initializing arrays with input values)</a:t>
            </a:r>
          </a:p>
          <a:p>
            <a:pPr marL="324000" indent="-324000">
              <a:buFont typeface="+mj-lt"/>
              <a:buAutoNum type="arabicPeriod"/>
            </a:pPr>
            <a:r>
              <a:rPr lang="en-IN" dirty="0"/>
              <a:t>(Printing arrays)</a:t>
            </a:r>
          </a:p>
          <a:p>
            <a:pPr marL="324000" indent="-324000">
              <a:buFont typeface="+mj-lt"/>
              <a:buAutoNum type="arabicPeriod"/>
            </a:pPr>
            <a:r>
              <a:rPr lang="en-IN" dirty="0"/>
              <a:t>(Summing all elements)</a:t>
            </a:r>
          </a:p>
          <a:p>
            <a:pPr marL="324000" indent="-324000">
              <a:buFont typeface="+mj-lt"/>
              <a:buAutoNum type="arabicPeriod"/>
            </a:pPr>
            <a:r>
              <a:rPr lang="en-IN" dirty="0"/>
              <a:t>(Summing all elements by column)</a:t>
            </a:r>
          </a:p>
          <a:p>
            <a:pPr marL="324000" indent="-324000">
              <a:buFont typeface="+mj-lt"/>
              <a:buAutoNum type="arabicPeriod"/>
            </a:pPr>
            <a:r>
              <a:rPr lang="en-IN" dirty="0"/>
              <a:t>(Summing all elements by row)</a:t>
            </a:r>
          </a:p>
          <a:p>
            <a:pPr marL="324000" indent="-324000">
              <a:buFont typeface="+mj-lt"/>
              <a:buAutoNum type="arabicPeriod"/>
            </a:pPr>
            <a:r>
              <a:rPr lang="en-IN" dirty="0"/>
              <a:t>(</a:t>
            </a:r>
            <a:r>
              <a:rPr lang="en-IN" b="1" dirty="0"/>
              <a:t>Random shuffling</a:t>
            </a:r>
            <a:r>
              <a:rPr lang="en-IN" dirty="0"/>
              <a:t>)</a:t>
            </a:r>
          </a:p>
          <a:p>
            <a:pPr marL="324000" indent="-324000">
              <a:buFont typeface="+mj-lt"/>
              <a:buAutoNum type="arabicPeriod"/>
            </a:pPr>
            <a:r>
              <a:rPr lang="en-IN" dirty="0"/>
              <a:t>(Which row has the largest sum)</a:t>
            </a:r>
          </a:p>
          <a:p>
            <a:pPr marL="324000" indent="-324000">
              <a:buFont typeface="+mj-lt"/>
              <a:buAutoNum type="arabicPeriod"/>
            </a:pPr>
            <a:r>
              <a:rPr lang="en-IN" dirty="0"/>
              <a:t>(Finding the smallest index of the largest element)</a:t>
            </a:r>
          </a:p>
          <a:p>
            <a:pPr marL="0" indent="0">
              <a:buNone/>
            </a:pPr>
            <a:endParaRPr lang="en-IN" dirty="0"/>
          </a:p>
        </p:txBody>
      </p:sp>
    </p:spTree>
    <p:extLst>
      <p:ext uri="{BB962C8B-B14F-4D97-AF65-F5344CB8AC3E}">
        <p14:creationId xmlns:p14="http://schemas.microsoft.com/office/powerpoint/2010/main" val="211551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2A1D-6D45-4592-818F-39309219FAF5}"/>
              </a:ext>
            </a:extLst>
          </p:cNvPr>
          <p:cNvSpPr>
            <a:spLocks noGrp="1"/>
          </p:cNvSpPr>
          <p:nvPr>
            <p:ph type="title"/>
          </p:nvPr>
        </p:nvSpPr>
        <p:spPr/>
        <p:txBody>
          <a:bodyPr/>
          <a:lstStyle/>
          <a:p>
            <a:r>
              <a:rPr lang="en-IN" sz="2400" dirty="0"/>
              <a:t>Passing Tow-Dimensional Arrays to Methods</a:t>
            </a:r>
          </a:p>
        </p:txBody>
      </p:sp>
      <p:sp>
        <p:nvSpPr>
          <p:cNvPr id="10" name="Text Placeholder 9">
            <a:extLst>
              <a:ext uri="{FF2B5EF4-FFF2-40B4-BE49-F238E27FC236}">
                <a16:creationId xmlns:a16="http://schemas.microsoft.com/office/drawing/2014/main" id="{D436E72F-6CDD-49E7-915B-1AFE71A9317F}"/>
              </a:ext>
            </a:extLst>
          </p:cNvPr>
          <p:cNvSpPr>
            <a:spLocks noGrp="1"/>
          </p:cNvSpPr>
          <p:nvPr>
            <p:ph type="body" sz="quarter" idx="20"/>
          </p:nvPr>
        </p:nvSpPr>
        <p:spPr>
          <a:xfrm>
            <a:off x="4705614" y="5154890"/>
            <a:ext cx="2968816" cy="394104"/>
          </a:xfrm>
        </p:spPr>
        <p:txBody>
          <a:bodyPr/>
          <a:lstStyle/>
          <a:p>
            <a:pPr marL="324" indent="0" algn="ctr">
              <a:buNone/>
            </a:pPr>
            <a:r>
              <a:rPr lang="en-IN" dirty="0">
                <a:hlinkClick r:id="rId3" action="ppaction://hlinkfile" tooltip="https://liveexample.pearsoncmg.com/html/PassTwoDimensionalArray.html"/>
              </a:rPr>
              <a:t>PassTwoDimensionalArray</a:t>
            </a:r>
            <a:endParaRPr lang="en-IN" dirty="0">
              <a:hlinkClick r:id="rId4"/>
            </a:endParaRPr>
          </a:p>
        </p:txBody>
      </p:sp>
    </p:spTree>
    <p:extLst>
      <p:ext uri="{BB962C8B-B14F-4D97-AF65-F5344CB8AC3E}">
        <p14:creationId xmlns:p14="http://schemas.microsoft.com/office/powerpoint/2010/main" val="2016388231"/>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Arial"/>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3269</TotalTime>
  <Words>3040</Words>
  <Application>Microsoft Office PowerPoint</Application>
  <PresentationFormat>On-screen Show (4:3)</PresentationFormat>
  <Paragraphs>295</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Courier New</vt:lpstr>
      <vt:lpstr>Noto Sans Symbols</vt:lpstr>
      <vt:lpstr>Times</vt:lpstr>
      <vt:lpstr>Times New Roman</vt:lpstr>
      <vt:lpstr>Blank</vt:lpstr>
      <vt:lpstr>Lecture 1</vt:lpstr>
      <vt:lpstr>Single-Dimensional Arrays  </vt:lpstr>
      <vt:lpstr>Objectives</vt:lpstr>
      <vt:lpstr>Introducing Arrays</vt:lpstr>
      <vt:lpstr>Array Initializers</vt:lpstr>
      <vt:lpstr>Processing Arrays</vt:lpstr>
      <vt:lpstr>Shifting Elements – shift left</vt:lpstr>
      <vt:lpstr>Shifting Elements – shift right</vt:lpstr>
      <vt:lpstr>Enhanced for Loop (for-each loop)</vt:lpstr>
      <vt:lpstr>Problem: Deck of Cards (1 of 4)</vt:lpstr>
      <vt:lpstr>Problem: Deck of Cards (2 of 4)</vt:lpstr>
      <vt:lpstr>Problem: Deck of Cards (3 of 4)</vt:lpstr>
      <vt:lpstr>Copying Arrays (1 of 2)</vt:lpstr>
      <vt:lpstr>Copying Arrays (2 of 2)</vt:lpstr>
      <vt:lpstr>The arraycopy Utility</vt:lpstr>
      <vt:lpstr>Passing Arrays to Methods</vt:lpstr>
      <vt:lpstr>Pass by Value</vt:lpstr>
      <vt:lpstr>Simple Example</vt:lpstr>
      <vt:lpstr>Multidimensional Arrays </vt:lpstr>
      <vt:lpstr>Motivations (1 of 2)</vt:lpstr>
      <vt:lpstr>Objectives</vt:lpstr>
      <vt:lpstr>Declare/Create Two-dimensional Arrays</vt:lpstr>
      <vt:lpstr>Motivations (2 of 2)</vt:lpstr>
      <vt:lpstr>Declaring Variables of Two-dimensional Arrays and Creating Two-dimensional Arrays</vt:lpstr>
      <vt:lpstr>Two-dimensional Array Illustration</vt:lpstr>
      <vt:lpstr>Declaring, Creating, and Initializing Using Shorthand Notations</vt:lpstr>
      <vt:lpstr>Lengths of Two-dimensional Arrays (1 of 2)</vt:lpstr>
      <vt:lpstr>Lengths of Two-dimensional Arrays (2 of 2)</vt:lpstr>
      <vt:lpstr>Ragged Arrays (1 of 2)</vt:lpstr>
      <vt:lpstr>Ragged Arrays (2 of 2)</vt:lpstr>
      <vt:lpstr>Processing Two-Dimensional Arrays</vt:lpstr>
      <vt:lpstr>Passing Tow-Dimensional Arrays to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Bahram Zartoshty</dc:creator>
  <cp:lastModifiedBy>Zartoshty, Bahram</cp:lastModifiedBy>
  <cp:revision>195</cp:revision>
  <cp:lastPrinted>2025-01-22T23:33:05Z</cp:lastPrinted>
  <dcterms:created xsi:type="dcterms:W3CDTF">2003-05-23T15:49:24Z</dcterms:created>
  <dcterms:modified xsi:type="dcterms:W3CDTF">2026-01-19T20:26:51Z</dcterms:modified>
</cp:coreProperties>
</file>