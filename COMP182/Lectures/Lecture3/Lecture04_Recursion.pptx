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3fc22b76f74d23" /><Relationship Type="http://schemas.openxmlformats.org/officeDocument/2006/relationships/extended-properties" Target="/docProps/app.xml" Id="R5f13d098649a48f8" /><Relationship Type="http://schemas.openxmlformats.org/officeDocument/2006/relationships/officeDocument" Target="/ppt/presentation.xml" Id="Rd3b4370b9ba9450b" /></Relationships>
</file>

<file path=ppt/presentation.xml><?xml version="1.0" encoding="utf-8"?>
<p:presentation xmlns:ns1="http://schemas.openxmlformats.org/officeDocument/2006/relationships" xmlns:p="http://schemas.openxmlformats.org/presentationml/2006/main">
  <p:sldMasterIdLst>
    <p:sldMasterId id="2147483648" ns1:id="R3a35ebf783da47b7"/>
  </p:sldMasterIdLst>
  <p:notesMasterIdLst>
    <p:notesMasterId ns1:id="Raf63caa498e64fa1"/>
  </p:notesMasterIdLst>
  <p:sldIdLst>
    <p:sldId id="256" ns1:id="Rc14fe0447262458c"/>
    <p:sldId id="257" ns1:id="R4b8ed32224e24ac8"/>
    <p:sldId id="258" ns1:id="R674b99538afe421d"/>
    <p:sldId id="259" ns1:id="R961e7cc244c54aa5"/>
    <p:sldId id="260" ns1:id="R6c19af717ccc416a"/>
    <p:sldId id="261" ns1:id="R8f2d37af54a243fc"/>
    <p:sldId id="262" ns1:id="R5e4fa0539aa64e6a"/>
    <p:sldId id="263" ns1:id="R72cc354f61454653"/>
    <p:sldId id="264" ns1:id="R5e6c52678f134236"/>
    <p:sldId id="265" ns1:id="R49914cd03f08480b"/>
    <p:sldId id="266" ns1:id="R0eec47f48a0b49bb"/>
    <p:sldId id="267" ns1:id="R05d1d104aa634fd8"/>
    <p:sldId id="268" ns1:id="R367ff4fa97ae4c09"/>
    <p:sldId id="269" ns1:id="R0a449aab79024e00"/>
    <p:sldId id="270" ns1:id="R5c7ffe64920147ec"/>
    <p:sldId id="271" ns1:id="R613a15c980824458"/>
    <p:sldId id="272" ns1:id="R39311286b59042c6"/>
    <p:sldId id="273" ns1:id="R867908a6c53d4243"/>
    <p:sldId id="274" ns1:id="Rc7f145f753404f4a"/>
    <p:sldId id="275" ns1:id="R3c689bd11c814af6"/>
    <p:sldId id="276" ns1:id="R01d62b9a7c7b4917"/>
    <p:sldId id="277" ns1:id="Re65a72b3698144d5"/>
    <p:sldId id="278" ns1:id="Rfd04d85d8e314def"/>
    <p:sldId id="279" ns1:id="R7f36e29a6f2e4416"/>
    <p:sldId id="280" ns1:id="R4ecdfb75306f4637"/>
  </p:sldIdLst>
  <p:sldSz cx="12192000" cy="6858000"/>
  <p:notesSz cx="7772400" cy="10058400"/>
  <p:printPr prnWhat="notes" clrMode="clr" frameSlides="0" scaleToFitPaper="1"/>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568f0368284e2b" /><Relationship Type="http://schemas.openxmlformats.org/officeDocument/2006/relationships/slideMaster" Target="/ppt/slideMasters/slideMaster1.xml" Id="R3a35ebf783da47b7" /><Relationship Type="http://schemas.openxmlformats.org/officeDocument/2006/relationships/notesMaster" Target="/ppt/notesMasters/notesMaster1.xml" Id="Raf63caa498e64fa1" /><Relationship Type="http://schemas.openxmlformats.org/officeDocument/2006/relationships/presProps" Target="/ppt/presProps.xml" Id="Re34497b09fb1422b" /><Relationship Type="http://schemas.openxmlformats.org/officeDocument/2006/relationships/tableStyles" Target="/ppt/tableStyles.xml" Id="R51150a4b220c4ff0" /><Relationship Type="http://schemas.openxmlformats.org/officeDocument/2006/relationships/slide" Target="/ppt/slides/slide1.xml" Id="Rc14fe0447262458c" /><Relationship Type="http://schemas.openxmlformats.org/officeDocument/2006/relationships/slide" Target="/ppt/slides/slide2.xml" Id="R4b8ed32224e24ac8" /><Relationship Type="http://schemas.openxmlformats.org/officeDocument/2006/relationships/slide" Target="/ppt/slides/slide3.xml" Id="R674b99538afe421d" /><Relationship Type="http://schemas.openxmlformats.org/officeDocument/2006/relationships/slide" Target="/ppt/slides/slide4.xml" Id="R961e7cc244c54aa5" /><Relationship Type="http://schemas.openxmlformats.org/officeDocument/2006/relationships/slide" Target="/ppt/slides/slide5.xml" Id="R6c19af717ccc416a" /><Relationship Type="http://schemas.openxmlformats.org/officeDocument/2006/relationships/slide" Target="/ppt/slides/slide6.xml" Id="R8f2d37af54a243fc" /><Relationship Type="http://schemas.openxmlformats.org/officeDocument/2006/relationships/slide" Target="/ppt/slides/slide7.xml" Id="R5e4fa0539aa64e6a" /><Relationship Type="http://schemas.openxmlformats.org/officeDocument/2006/relationships/slide" Target="/ppt/slides/slide8.xml" Id="R72cc354f61454653" /><Relationship Type="http://schemas.openxmlformats.org/officeDocument/2006/relationships/slide" Target="/ppt/slides/slide9.xml" Id="R5e6c52678f134236" /><Relationship Type="http://schemas.openxmlformats.org/officeDocument/2006/relationships/slide" Target="/ppt/slides/slide10.xml" Id="R49914cd03f08480b" /><Relationship Type="http://schemas.openxmlformats.org/officeDocument/2006/relationships/slide" Target="/ppt/slides/slide11.xml" Id="R0eec47f48a0b49bb" /><Relationship Type="http://schemas.openxmlformats.org/officeDocument/2006/relationships/slide" Target="/ppt/slides/slide12.xml" Id="R05d1d104aa634fd8" /><Relationship Type="http://schemas.openxmlformats.org/officeDocument/2006/relationships/slide" Target="/ppt/slides/slide13.xml" Id="R367ff4fa97ae4c09" /><Relationship Type="http://schemas.openxmlformats.org/officeDocument/2006/relationships/slide" Target="/ppt/slides/slide14.xml" Id="R0a449aab79024e00" /><Relationship Type="http://schemas.openxmlformats.org/officeDocument/2006/relationships/slide" Target="/ppt/slides/slide15.xml" Id="R5c7ffe64920147ec" /><Relationship Type="http://schemas.openxmlformats.org/officeDocument/2006/relationships/slide" Target="/ppt/slides/slide16.xml" Id="R613a15c980824458" /><Relationship Type="http://schemas.openxmlformats.org/officeDocument/2006/relationships/slide" Target="/ppt/slides/slide17.xml" Id="R39311286b59042c6" /><Relationship Type="http://schemas.openxmlformats.org/officeDocument/2006/relationships/slide" Target="/ppt/slides/slide18.xml" Id="R867908a6c53d4243" /><Relationship Type="http://schemas.openxmlformats.org/officeDocument/2006/relationships/slide" Target="/ppt/slides/slide19.xml" Id="Rc7f145f753404f4a" /><Relationship Type="http://schemas.openxmlformats.org/officeDocument/2006/relationships/slide" Target="/ppt/slides/slide20.xml" Id="R3c689bd11c814af6" /><Relationship Type="http://schemas.openxmlformats.org/officeDocument/2006/relationships/slide" Target="/ppt/slides/slide21.xml" Id="R01d62b9a7c7b4917" /><Relationship Type="http://schemas.openxmlformats.org/officeDocument/2006/relationships/slide" Target="/ppt/slides/slide22.xml" Id="Re65a72b3698144d5" /><Relationship Type="http://schemas.openxmlformats.org/officeDocument/2006/relationships/slide" Target="/ppt/slides/slide23.xml" Id="Rfd04d85d8e314def" /><Relationship Type="http://schemas.openxmlformats.org/officeDocument/2006/relationships/slide" Target="/ppt/slides/slide24.xml" Id="R7f36e29a6f2e4416" /><Relationship Type="http://schemas.openxmlformats.org/officeDocument/2006/relationships/slide" Target="/ppt/slides/slide25.xml" Id="R4ecdfb75306f46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be41166002402c"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xfrm>
            <a:off x="594360" y="9418320"/>
            <a:ext cx="5394960" cy="274320"/>
          </a:xfrm>
          <a:prstGeom prst="rect">
            <a:avLst/>
          </a:prstGeom>
        </p:spPr>
        <p:txBody>
          <a:bodyPr/>
          <a:lstStyle/>
          <a:p/>
        </p:txBody>
      </p:sp>
      <p:sp>
        <p:nvSpPr>
          <p:cNvPr id="3" name="Date Placeholder"/>
          <p:cNvSpPr/>
          <p:nvPr>
            <p:ph type="dt" sz="quarter" idx="1"/>
          </p:nvPr>
        </p:nvSpPr>
        <p:spPr>
          <a:xfrm>
            <a:off x="594360" y="9418320"/>
            <a:ext cx="5394960" cy="274320"/>
          </a:xfrm>
          <a:prstGeom prst="rect">
            <a:avLst/>
          </a:prstGeom>
        </p:spPr>
        <p:txBody>
          <a:bodyPr/>
          <a:lstStyle/>
          <a:p/>
        </p:txBody>
      </p:sp>
      <p:sp>
        <p:nvSpPr>
          <p:cNvPr id="4" name="Slide Image Placeholder"/>
          <p:cNvSpPr/>
          <p:nvPr>
            <p:ph type="sldImg" idx="2"/>
          </p:nvPr>
        </p:nvSpPr>
        <p:spPr>
          <a:xfrm>
            <a:off x="594360" y="594360"/>
            <a:ext cx="6583680" cy="3703320"/>
          </a:xfrm>
          <a:prstGeom prst="rect">
            <a:avLst/>
          </a:prstGeom>
        </p:spPr>
        <p:txBody>
          <a:bodyPr/>
          <a:lstStyle/>
          <a:p/>
        </p:txBody>
      </p:sp>
      <p:sp>
        <p:nvSpPr>
          <p:cNvPr id="5" name="Notes Placeholder"/>
          <p:cNvSpPr/>
          <p:nvPr>
            <p:ph type="body" sz="quarter" idx="3"/>
          </p:nvPr>
        </p:nvSpPr>
        <p:spPr>
          <a:xfrm>
            <a:off x="594360" y="4617720"/>
            <a:ext cx="6583680" cy="4480560"/>
          </a:xfrm>
          <a:prstGeom prst="rect">
            <a:avLst/>
          </a:prstGeom>
        </p:spPr>
        <p:txBody>
          <a:bodyPr lIns="0" tIns="0" rIns="0" bIns="0" wrap="square" anchor="t"/>
          <a:lstStyle/>
          <a:p>
            <a:pPr>
              <a:lnSpc>
                <a:spcPct val="115000"/>
              </a:lnSpc>
            </a:pPr>
          </a:p>
        </p:txBody>
      </p:sp>
      <p:sp>
        <p:nvSpPr>
          <p:cNvPr id="6" name="Footer Placeholder"/>
          <p:cNvSpPr/>
          <p:nvPr>
            <p:ph type="ftr" sz="quarter" idx="4"/>
          </p:nvPr>
        </p:nvSpPr>
        <p:spPr>
          <a:xfrm>
            <a:off x="594360" y="9418320"/>
            <a:ext cx="5394960" cy="274320"/>
          </a:xfrm>
          <a:prstGeom prst="rect">
            <a:avLst/>
          </a:prstGeom>
        </p:spPr>
        <p:txBody>
          <a:bodyPr/>
          <a:lstStyle/>
          <a:p/>
        </p:txBody>
      </p:sp>
      <p:sp>
        <p:nvSpPr>
          <p:cNvPr id="7" name="Slide Number Placeholder"/>
          <p:cNvSpPr/>
          <p:nvPr>
            <p:ph type="sldNum" sz="quarter" idx="5"/>
          </p:nvPr>
        </p:nvSpPr>
        <p:spPr>
          <a:xfrm>
            <a:off x="6675120" y="9418320"/>
            <a:ext cx="502920" cy="274320"/>
          </a:xfrm>
          <a:prstGeom prst="rect">
            <a:avLst/>
          </a:prstGeom>
        </p:spPr>
        <p:txBody>
          <a:bodyPr lIns="0" tIns="0" rIns="0" bIns="0" wrap="square" anchor="t"/>
          <a:lstStyle/>
          <a:p>
            <a:pPr>
              <a:lnSpc>
                <a:spcPct val="115000"/>
              </a:lnSpc>
            </a:p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39865d3c874307" /><Relationship Type="http://schemas.openxmlformats.org/officeDocument/2006/relationships/notesMaster" Target="/ppt/notesMasters/notesMaster1.xml" Id="R1a9519a6e13346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04d87fdf4e43ce" /><Relationship Type="http://schemas.openxmlformats.org/officeDocument/2006/relationships/notesMaster" Target="/ppt/notesMasters/notesMaster1.xml" Id="Rbcd8c6614e9448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3bea9e643e4b42" /><Relationship Type="http://schemas.openxmlformats.org/officeDocument/2006/relationships/notesMaster" Target="/ppt/notesMasters/notesMaster1.xml" Id="Rdb8e8bedd15747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bd7e8396fe43a5" /><Relationship Type="http://schemas.openxmlformats.org/officeDocument/2006/relationships/notesMaster" Target="/ppt/notesMasters/notesMaster1.xml" Id="Rbf5eb380471945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4458eb6ca9410d" /><Relationship Type="http://schemas.openxmlformats.org/officeDocument/2006/relationships/notesMaster" Target="/ppt/notesMasters/notesMaster1.xml" Id="Re9d16ae2f09248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adebab320549fb" /><Relationship Type="http://schemas.openxmlformats.org/officeDocument/2006/relationships/notesMaster" Target="/ppt/notesMasters/notesMaster1.xml" Id="Rc844375735174a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7b4bc5137041c1" /><Relationship Type="http://schemas.openxmlformats.org/officeDocument/2006/relationships/notesMaster" Target="/ppt/notesMasters/notesMaster1.xml" Id="R080be600efde47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14c3e6a2d84a34" /><Relationship Type="http://schemas.openxmlformats.org/officeDocument/2006/relationships/notesMaster" Target="/ppt/notesMasters/notesMaster1.xml" Id="Rbf381a9f25124e18" /></Relationships>
</file>

<file path=ppt/notesSlides/_rels/notesSlide9.xml.rels>&#65279;<?xml version="1.0" encoding="utf-8"?><Relationships xmlns="http://schemas.openxmlformats.org/package/2006/relationships"><Relationship Type="http://schemas.openxmlformats.org/officeDocument/2006/relationships/slide" Target="/ppt/slides/slide9.xml" Id="Rd2d9da48c39d44ac" /><Relationship Type="http://schemas.openxmlformats.org/officeDocument/2006/relationships/notesMaster" Target="/ppt/notesMasters/notesMaster1.xml" Id="R0ddc20cceef740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9ad5ba81f04514" /><Relationship Type="http://schemas.openxmlformats.org/officeDocument/2006/relationships/notesMaster" Target="/ppt/notesMasters/notesMaster1.xml" Id="Rccb05dd391a44aa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25ff92c388446d" /><Relationship Type="http://schemas.openxmlformats.org/officeDocument/2006/relationships/notesMaster" Target="/ppt/notesMasters/notesMaster1.xml" Id="Rd6f8cb92cd42474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4380f326834dbd" /><Relationship Type="http://schemas.openxmlformats.org/officeDocument/2006/relationships/notesMaster" Target="/ppt/notesMasters/notesMaster1.xml" Id="Rfe58684e6215471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37c3856c944f82" /><Relationship Type="http://schemas.openxmlformats.org/officeDocument/2006/relationships/notesMaster" Target="/ppt/notesMasters/notesMaster1.xml" Id="R8fc9b81825c348b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5e243566c243f6" /><Relationship Type="http://schemas.openxmlformats.org/officeDocument/2006/relationships/notesMaster" Target="/ppt/notesMasters/notesMaster1.xml" Id="R98a93c82a5ca4f8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ee45462f212485c" /><Relationship Type="http://schemas.openxmlformats.org/officeDocument/2006/relationships/notesMaster" Target="/ppt/notesMasters/notesMaster1.xml" Id="Rc944391577f846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8386cddfb974cbc" /><Relationship Type="http://schemas.openxmlformats.org/officeDocument/2006/relationships/notesMaster" Target="/ppt/notesMasters/notesMaster1.xml" Id="R7228bd8cf7324bb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463e873f55a4865" /><Relationship Type="http://schemas.openxmlformats.org/officeDocument/2006/relationships/notesMaster" Target="/ppt/notesMasters/notesMaster1.xml" Id="R850fdab888d149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418509750eb4984" /><Relationship Type="http://schemas.openxmlformats.org/officeDocument/2006/relationships/notesMaster" Target="/ppt/notesMasters/notesMaster1.xml" Id="R872484cd992d4e5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1aaa17f6f364e33" /><Relationship Type="http://schemas.openxmlformats.org/officeDocument/2006/relationships/notesMaster" Target="/ppt/notesMasters/notesMaster1.xml" Id="R69fd8fb1be104bf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cba8fddfa7d4a39" /><Relationship Type="http://schemas.openxmlformats.org/officeDocument/2006/relationships/notesMaster" Target="/ppt/notesMasters/notesMaster1.xml" Id="Rc3f88100ba7043a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9bdf21b9bd94c76" /><Relationship Type="http://schemas.openxmlformats.org/officeDocument/2006/relationships/notesMaster" Target="/ppt/notesMasters/notesMaster1.xml" Id="Rb84933c9d6ae4e5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c50a379e6a64849" /><Relationship Type="http://schemas.openxmlformats.org/officeDocument/2006/relationships/notesMaster" Target="/ppt/notesMasters/notesMaster1.xml" Id="R3becfd1627a24b6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0408a1f6f464c6d" /><Relationship Type="http://schemas.openxmlformats.org/officeDocument/2006/relationships/notesMaster" Target="/ppt/notesMasters/notesMaster1.xml" Id="R0558b60965ae484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c7bf5cc000448bd" /><Relationship Type="http://schemas.openxmlformats.org/officeDocument/2006/relationships/notesMaster" Target="/ppt/notesMasters/notesMaster1.xml" Id="R19923d6c51784eb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7548a0c1da04a0b" /><Relationship Type="http://schemas.openxmlformats.org/officeDocument/2006/relationships/notesMaster" Target="/ppt/notesMasters/notesMaster1.xml" Id="R267734e1faaf4712"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This lecture covers recursive methods in Java. Ask students to distinguish a base case, a smaller recursive subproblem, and the work waiting for a returned result. The companion Java folder contains complete runnable classes. Keep that folder beside this PowerPoint so the relative Java links continue to work. To print a slide with its teaching notes, choose File &gt; Print &gt; Notes Pages. The separate PDF contains slides only. The course website lists recursion as Lecture 4.</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 directory search is the same task applied to each subdirectory. An empty directory needs no further recursive calls. Ask students to identify what gets smaller: the remaining subtree, rather than necessarily a numeric variable. In a real file-system traversal, define symbolic-link and permission-error behavior before following directories. This slide gives a conceptual example, rather than Java file-system code.</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Identify four parts before writing code: the input contract, base case, recursive step, and result or action. Ask students which part proves that the calls eventually stop. A base case alone is insufficient unless every valid recursive path reaches it. Compare a countdown with binary search: each shrinks a different quantity.</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Use the delegation cartoon to describe separate method invocations. Each person performs one action and delegates a smaller task. Ask students what must be remembered while waiting for the delegate. The caller resumes at the statement following the recursive call. The cartoon starts at 10; the worked trace later starts at 3. Local Java: Countdown.java.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The delegate handling 1 prints 1 and returns. There is no delegate for 0 under this countdown contract. Contrast this with another valid design whose base case is n &lt;= 0 and which prints before reaching zero. A solution must use one consistent input contract and stopping rule. Local Java: Countdown.java.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Trace countdown(3): print 3, print 2, print 1. The returns then complete in order 1, 2, 3. Ask students whether anything prints during the return phase in this method. It does not. If a print statement were placed after the recursive call, the visible order would change. Local Java: Countdown.java.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Ask students to name the progress measure in each row. Countdown decreases a positive integer; binary search decreases an interval length; Hanoi decreases the number of disks; Euclid eventually makes the second nonnegative argument zero. Euclid may first swap an unordered positive pair, so the second argument need not decrease on the very first call. Local Java: Countdown.java.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The driver defaults to countdown(3), printing 3, 2, 1 on separate lines. The guard rejects n below 1. The n == 1 branch returns immediately. Every other valid call passes n - 1. There are n calls, constant work per call, and O(n) maximum call-stack space. A large valid n may still exceed the available stack. Local Java: Countdown.java.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The driver prints 24 for factorial(4). The base value factorial(0) is 1. Each caller waits to multiply by the smaller result, so multiplication finishes during returns. long holds 20! but not 21!; the method rejects values outside 0 through 20. Ask students to trace factorial(0), factorial(1), and factorial(4). Local Java: Factorial.java.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For CODE, the starting index is 3. Print E, D, O, and C, then stop when the index becomes -1. The table records the last remaining index before each call. Passing indexes avoids allocating a new substring at every step. Each call still consumes stack space. Local Java: ReversePrint.java.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The driver calls writeBackward(s, s.length() - 1) and then prints a newline. Empty text starts at -1 and prints no characters. The helper assumes a non-null String and a valid starting index or the empty interval. It reverses UTF-16 char units; it is not a general reversal of Unicode grapheme clusters. Use ordinary ASCII text for the classroom trace. Local Java: ReversePrint.java.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Define both Fibonacci base values before tracing the recurrence. Ask for F(2), F(3), and F(5): the answers are 1, 2, and 5. The displayed table uses the convention F(0)=0 and F(1)=1. A recurrence describes the result without specifying whether an implementation reuses intermediate results. Local Java: Fibonacci.java.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The default driver prints fib(10), which is 55. Trace only small n; the naive implementation repeats subproblems and becomes impractical long before the long numeric limit of F(92). O(2^n) is an upper bound on time; the maximum simultaneous call depth is O(n). Memoization or iteration can avoid repeated computation, but their implementations are not shown in this deck. Local Java: Fibonacci.java.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The default driver checks madam and prints true. robot prints false. Empty and one-character strings return true. The left &gt;= right base case handles even and odd lengths. A mismatch short-circuits &amp;&amp;, so no smaller call is made on that path. Compare exact case and spacing, as stated by the slide contract. Local Java: Palindrome.java.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The array must already be in ascending order. Search for 24 in indexes 0 through 6: inspect index 3 (17), index 5 (31), then index 4 (24). The returned index is 4. An empty range returns -1 before reading an element. The midpoint formula avoids adding low and high directly. Duplicate keys may return any matching index. Local Java: RecursiveBinarySearch.java.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For three disks the minimum move count is seven. Ask students to describe the rules before discussing code: one top disk per move and no larger disk on a smaller one. The algorithm must first clear the largest disk. The n=0 case is a valid empty transfer with no printed moves. Local Java: TowerOfHanoi.java.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Treat the n-1 smaller disks as one recursive subproblem. Move them from the source peg to the spare peg, using the destination as temporary storage. The largest disk stays at the source during this step. Ask students to name the source, destination, and spare in the first recursive call. Local Java: TowerOfHanoi.java.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After clearing the largest disk, move it once to the destination. Then recursively move the smaller tower from the spare to the destination, using the original source as temporary storage. The two recursive calls exchange peg roles. Emphasize that every recursive transfer must obey the same disk rules. Local Java: TowerOfHanoi.java.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The default driver prints seven legal moves for three disks, from A to B using C. Zero disks print no moves; negative n is rejected. For n&gt;0, two transfers of n-1 disks surround one direct move. M(0)=0 gives M(n)=2^n-1. The output and time grow exponentially, but maximum simultaneous call-stack depth is O(n). Use three distinct peg labels. Local Java: TowerOfHanoi.java.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Compare candidate scanning with Euclid. The examples include gcd(27,18)=9 and gcd(0,18)=18. The accompanying two drivers accept signed int inputs, convert to nonnegative long magnitudes, and define gcd(0,0)=0. This explicit convention makes the zero pair predictable even though it is not a positive greatest divisor in the usual mathematical definition. Local Java: GcdIterative.java, GcdRecursive.java.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The default driver prints 9. Convert int to long before Math.abs so Integer.MIN_VALUE becomes the representable magnitude 2147483648. Check b != 0 before computing a % b. At each loop step, gcd(a,b) equals gcd(b,a%b). Test negative inputs, one zero, both zeros, and the minimum int value. The loop uses constant auxiliary space. Local Java: GcdIterative.java.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The default driver prints 9. The public-facing wrapper handles signed int magnitudes using long; the helper receives nonnegative values. With b positive, the remainder is smaller than b. If the starting magnitudes are in reverse order, one initial swap-like step can occur before strict decrease. When b is zero, return a. Compare results against the iterative implementation. Local Java: GcdRecursive.java.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Discuss when recursion makes an algorithm easier to explain: a directory tree, a smaller factorial, a half-sized search interval, or a smaller disk transfer. A recursive definition does not guarantee an efficient implementation, as naive Fibonacci shows. An iterative version may use less auxiliary stack space.</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All bounds describe worst cases in the unit-cost model for the displayed fixed-width operations. String reversal and palindrome use indexes, avoiding repeated substring copies. Recursive binary search uses logarithmic depth. The Fibonacci time entry is an upper bound. Euclid bounds in the table assume positive inputs; zero cases finish immediately or after one additional step. Java does not guarantee tail-call elimination.</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Use the checklist to review one method in pairs. Quick-check answers: factorial(0)=1; binary search on an empty range returns -1; three Hanoi disks need seven moves; gcd(27,18)=9. Ask for an example with a reachable base case and one with a recursive step that misses it. Distinguish the mathematical input contract from practical stack-depth and output-size limits.</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0af0bef1674b4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881ce63f9404d8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845a1d1e54f47c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50edf44ba1d49e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bb8453961224b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4d21674a11b44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BAAC49-6CA3-4BF5-8ED1-5830524CFBD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7474646-EAB5-475B-B26F-01705B2809D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A0C879A-E779-4D07-A573-D6A8842C239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051D87-86E6-4433-AEA0-D8D9AC1495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5891EEC-1D8C-488D-AAA8-B63A4506D0F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FD4DD09-F943-4DD2-B7A5-11A405E0F5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9D6411E-30BC-471A-B83A-6FE1548A032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1AA6AA1-DC69-4B48-8A98-D075D498E6B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4D0FD0-1988-4FDC-B3CC-A0EEBBB35D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9FA23B-133F-4037-BE91-6EBF3A0C72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42972e8a9749fd" /><Relationship Type="http://schemas.openxmlformats.org/officeDocument/2006/relationships/slideLayout" Target="/ppt/slideLayouts/slideLayout1.xml" Id="R627ebe041e3049e9" /><Relationship Type="http://schemas.openxmlformats.org/officeDocument/2006/relationships/slideLayout" Target="/ppt/slideLayouts/slideLayout2.xml" Id="R8bc4fa3539ae4323" /><Relationship Type="http://schemas.openxmlformats.org/officeDocument/2006/relationships/slideLayout" Target="/ppt/slideLayouts/slideLayout3.xml" Id="R871e8ae045b042bf" /><Relationship Type="http://schemas.openxmlformats.org/officeDocument/2006/relationships/slideLayout" Target="/ppt/slideLayouts/slideLayout4.xml" Id="Rfd42bf6b79b0413f" /><Relationship Type="http://schemas.openxmlformats.org/officeDocument/2006/relationships/slideLayout" Target="/ppt/slideLayouts/slideLayout5.xml" Id="R6fb3e47db71c44fa" /><Relationship Type="http://schemas.openxmlformats.org/officeDocument/2006/relationships/slideLayout" Target="/ppt/slideLayouts/slideLayout6.xml" Id="R65e93c32fa6d42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7ebe041e3049e9"/>
    <p:sldLayoutId xmlns:r="http://schemas.openxmlformats.org/officeDocument/2006/relationships" id="2147483650" r:id="R8bc4fa3539ae4323"/>
    <p:sldLayoutId xmlns:r="http://schemas.openxmlformats.org/officeDocument/2006/relationships" id="2147483651" r:id="R871e8ae045b042bf"/>
    <p:sldLayoutId xmlns:r="http://schemas.openxmlformats.org/officeDocument/2006/relationships" id="2147483652" r:id="Rfd42bf6b79b0413f"/>
    <p:sldLayoutId xmlns:r="http://schemas.openxmlformats.org/officeDocument/2006/relationships" id="2147483653" r:id="R6fb3e47db71c44fa"/>
    <p:sldLayoutId xmlns:r="http://schemas.openxmlformats.org/officeDocument/2006/relationships" id="2147483654" r:id="R65e93c32fa6d42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5bba8c64c18407d" /><Relationship Type="http://schemas.openxmlformats.org/officeDocument/2006/relationships/notesSlide" Target="/ppt/notesSlides/notesSlide1.xml" Id="R1ed12a5bfb8440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a06e11944ff4720" /><Relationship Type="http://schemas.openxmlformats.org/officeDocument/2006/relationships/notesSlide" Target="/ppt/notesSlides/notesSlide2.xml" Id="Rba88462845124e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25279d7574342b7" /><Relationship Type="http://schemas.openxmlformats.org/officeDocument/2006/relationships/notesSlide" Target="/ppt/notesSlides/notesSlide3.xml" Id="Rf89c48187bdb4e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09c370ace274ea8" /><Relationship Type="http://schemas.openxmlformats.org/officeDocument/2006/relationships/image" Target="/ppt/media/image.png" Id="R8e13e09e0c6c4a11" /><Relationship Type="http://schemas.openxmlformats.org/officeDocument/2006/relationships/hyperlink" Target="Lecture04_Recursion_Java_Examples/Countdown.java" TargetMode="External" Id="Rf3876e1c37654ed3" /><Relationship Type="http://schemas.openxmlformats.org/officeDocument/2006/relationships/notesSlide" Target="/ppt/notesSlides/notesSlide4.xml" Id="R4ac24c3db5d741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64469ba075a44fe" /><Relationship Type="http://schemas.openxmlformats.org/officeDocument/2006/relationships/image" Target="/ppt/media/image2.png" Id="Rdbef12582a2445fe" /><Relationship Type="http://schemas.openxmlformats.org/officeDocument/2006/relationships/hyperlink" Target="Lecture04_Recursion_Java_Examples/Countdown.java" TargetMode="External" Id="R8a85c76ddc424f0f" /><Relationship Type="http://schemas.openxmlformats.org/officeDocument/2006/relationships/notesSlide" Target="/ppt/notesSlides/notesSlide5.xml" Id="Rfe1043ccab634d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8dfdf1b411245a3" /><Relationship Type="http://schemas.openxmlformats.org/officeDocument/2006/relationships/hyperlink" Target="Lecture04_Recursion_Java_Examples/Countdown.java" TargetMode="External" Id="Rb0c80f584ed240f1" /><Relationship Type="http://schemas.openxmlformats.org/officeDocument/2006/relationships/notesSlide" Target="/ppt/notesSlides/notesSlide6.xml" Id="R5bace9b498e94d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10f4e983e6943ec" /><Relationship Type="http://schemas.openxmlformats.org/officeDocument/2006/relationships/hyperlink" Target="Lecture04_Recursion_Java_Examples/Countdown.java" TargetMode="External" Id="Re9119c8a7d8a4634" /><Relationship Type="http://schemas.openxmlformats.org/officeDocument/2006/relationships/notesSlide" Target="/ppt/notesSlides/notesSlide7.xml" Id="R8c3e320fb95a47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3507760982b409b" /><Relationship Type="http://schemas.openxmlformats.org/officeDocument/2006/relationships/hyperlink" Target="Lecture04_Recursion_Java_Examples/Countdown.java" TargetMode="External" Id="Re782e3e8ed2a4152" /><Relationship Type="http://schemas.openxmlformats.org/officeDocument/2006/relationships/notesSlide" Target="/ppt/notesSlides/notesSlide8.xml" Id="R7ee17916eed048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db06348172d494d" /><Relationship Type="http://schemas.openxmlformats.org/officeDocument/2006/relationships/hyperlink" Target="Lecture04_Recursion_Java_Examples/Factorial.java" TargetMode="External" Id="R8f27cd00f8fd45df" /><Relationship Type="http://schemas.openxmlformats.org/officeDocument/2006/relationships/notesSlide" Target="/ppt/notesSlides/notesSlide9.xml" Id="R989bbf1430a74dd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03ca1b84fdb4374" /><Relationship Type="http://schemas.openxmlformats.org/officeDocument/2006/relationships/hyperlink" Target="Lecture04_Recursion_Java_Examples/ReversePrint.java" TargetMode="External" Id="R1a13ced3073b4fe1" /><Relationship Type="http://schemas.openxmlformats.org/officeDocument/2006/relationships/notesSlide" Target="/ppt/notesSlides/notesSlide10.xml" Id="R11bf32ca41bf49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09f495ff11b40f3" /><Relationship Type="http://schemas.openxmlformats.org/officeDocument/2006/relationships/image" Target="/ppt/media/image3.png" Id="R475e24f5d2d241bb" /><Relationship Type="http://schemas.openxmlformats.org/officeDocument/2006/relationships/hyperlink" Target="Lecture04_Recursion_Java_Examples/ReversePrint.java" TargetMode="External" Id="R3533bab724e4470f" /><Relationship Type="http://schemas.openxmlformats.org/officeDocument/2006/relationships/notesSlide" Target="/ppt/notesSlides/notesSlide11.xml" Id="Rc4ef3b3d46ed47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5d308aab942400f" /><Relationship Type="http://schemas.openxmlformats.org/officeDocument/2006/relationships/hyperlink" Target="Lecture04_Recursion_Java_Examples/Fibonacci.java" TargetMode="External" Id="R74c48cb7e65c48c0" /><Relationship Type="http://schemas.openxmlformats.org/officeDocument/2006/relationships/notesSlide" Target="/ppt/notesSlides/notesSlide12.xml" Id="Re2ff4409e6a7429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256a8b158994dbd" /><Relationship Type="http://schemas.openxmlformats.org/officeDocument/2006/relationships/hyperlink" Target="Lecture04_Recursion_Java_Examples/Fibonacci.java" TargetMode="External" Id="R07a3cc3429c240c4" /><Relationship Type="http://schemas.openxmlformats.org/officeDocument/2006/relationships/notesSlide" Target="/ppt/notesSlides/notesSlide13.xml" Id="Rcd98382d0ca7492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2711d6f2a6447f7" /><Relationship Type="http://schemas.openxmlformats.org/officeDocument/2006/relationships/hyperlink" Target="Lecture04_Recursion_Java_Examples/Palindrome.java" TargetMode="External" Id="R29c78dada3c74b5c" /><Relationship Type="http://schemas.openxmlformats.org/officeDocument/2006/relationships/notesSlide" Target="/ppt/notesSlides/notesSlide14.xml" Id="Rf1011cff23fa44a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35826b373814c43" /><Relationship Type="http://schemas.openxmlformats.org/officeDocument/2006/relationships/hyperlink" Target="Lecture04_Recursion_Java_Examples/RecursiveBinarySearch.java" TargetMode="External" Id="R0dab546ef66d4c2c" /><Relationship Type="http://schemas.openxmlformats.org/officeDocument/2006/relationships/notesSlide" Target="/ppt/notesSlides/notesSlide15.xml" Id="Rcbadd08fdd234bd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ac7db223da5476a" /><Relationship Type="http://schemas.openxmlformats.org/officeDocument/2006/relationships/hyperlink" Target="Lecture04_Recursion_Java_Examples/TowerOfHanoi.java" TargetMode="External" Id="Raf7e9e677e3a4e54" /><Relationship Type="http://schemas.openxmlformats.org/officeDocument/2006/relationships/notesSlide" Target="/ppt/notesSlides/notesSlide16.xml" Id="R8612eb3b14914ab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27cbc092fad4b15" /><Relationship Type="http://schemas.openxmlformats.org/officeDocument/2006/relationships/image" Target="/ppt/media/image4.png" Id="R07250ab053e540e1" /><Relationship Type="http://schemas.openxmlformats.org/officeDocument/2006/relationships/image" Target="/ppt/media/image5.png" Id="Rdc20d3532c3d46ee" /><Relationship Type="http://schemas.openxmlformats.org/officeDocument/2006/relationships/hyperlink" Target="Lecture04_Recursion_Java_Examples/TowerOfHanoi.java" TargetMode="External" Id="R65615d7414ea45d2" /><Relationship Type="http://schemas.openxmlformats.org/officeDocument/2006/relationships/notesSlide" Target="/ppt/notesSlides/notesSlide17.xml" Id="R7557e87a051646f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39a1324733348b2" /><Relationship Type="http://schemas.openxmlformats.org/officeDocument/2006/relationships/image" Target="/ppt/media/image6.png" Id="Rec2d3073f77c46de" /><Relationship Type="http://schemas.openxmlformats.org/officeDocument/2006/relationships/image" Target="/ppt/media/image7.png" Id="Rc862ed90412c48d3" /><Relationship Type="http://schemas.openxmlformats.org/officeDocument/2006/relationships/hyperlink" Target="Lecture04_Recursion_Java_Examples/TowerOfHanoi.java" TargetMode="External" Id="R67a64274c8524aae" /><Relationship Type="http://schemas.openxmlformats.org/officeDocument/2006/relationships/notesSlide" Target="/ppt/notesSlides/notesSlide18.xml" Id="R13fb4ec87c2e4d8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30f475192774086" /><Relationship Type="http://schemas.openxmlformats.org/officeDocument/2006/relationships/hyperlink" Target="Lecture04_Recursion_Java_Examples/TowerOfHanoi.java" TargetMode="External" Id="R75194b6a7f514aae" /><Relationship Type="http://schemas.openxmlformats.org/officeDocument/2006/relationships/notesSlide" Target="/ppt/notesSlides/notesSlide19.xml" Id="Rc1cf2813e83c475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75b39d7a2884233" /><Relationship Type="http://schemas.openxmlformats.org/officeDocument/2006/relationships/hyperlink" Target="Lecture04_Recursion_Java_Examples/GcdIterative.java" TargetMode="External" Id="R81bd387ce3f245c4" /><Relationship Type="http://schemas.openxmlformats.org/officeDocument/2006/relationships/hyperlink" Target="Lecture04_Recursion_Java_Examples/GcdRecursive.java" TargetMode="External" Id="Rb6b6a7ef1e1b4e8a" /><Relationship Type="http://schemas.openxmlformats.org/officeDocument/2006/relationships/notesSlide" Target="/ppt/notesSlides/notesSlide20.xml" Id="R34be1238e573407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7e1e1c566164736" /><Relationship Type="http://schemas.openxmlformats.org/officeDocument/2006/relationships/hyperlink" Target="Lecture04_Recursion_Java_Examples/GcdIterative.java" TargetMode="External" Id="R3786e77a91634287" /><Relationship Type="http://schemas.openxmlformats.org/officeDocument/2006/relationships/notesSlide" Target="/ppt/notesSlides/notesSlide21.xml" Id="R20fa1f6f29f1470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6d2a1a804254061" /><Relationship Type="http://schemas.openxmlformats.org/officeDocument/2006/relationships/hyperlink" Target="Lecture04_Recursion_Java_Examples/GcdRecursive.java" TargetMode="External" Id="R713f0fb1258e442f" /><Relationship Type="http://schemas.openxmlformats.org/officeDocument/2006/relationships/notesSlide" Target="/ppt/notesSlides/notesSlide22.xml" Id="Reedbdc076e19438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e14bf0572824e98" /><Relationship Type="http://schemas.openxmlformats.org/officeDocument/2006/relationships/notesSlide" Target="/ppt/notesSlides/notesSlide23.xml" Id="R8287b1f37d344ac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c17441fe1424e16" /><Relationship Type="http://schemas.openxmlformats.org/officeDocument/2006/relationships/notesSlide" Target="/ppt/notesSlides/notesSlide24.xml" Id="R0c22e8c57099495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044cd75a2934cac" /><Relationship Type="http://schemas.openxmlformats.org/officeDocument/2006/relationships/notesSlide" Target="/ppt/notesSlides/notesSlide25.xml" Id="R47dc281287b8449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D79AE1-C259-4B6B-BF75-F33040CB0D77}"/>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400" b="1">
                <a:solidFill>
                  <a:srgbClr val="17354E"/>
                </a:solidFill>
                <a:latin typeface="Aptos"/>
                <a:ea typeface="Aptos"/>
                <a:cs typeface="Aptos"/>
              </a:defRPr>
            </a:defPPr>
            <a:lvl1pPr>
              <a:buNone/>
              <a:defRPr sz="5400" b="1">
                <a:solidFill>
                  <a:srgbClr val="17354E"/>
                </a:solidFill>
                <a:latin typeface="Aptos"/>
                <a:ea typeface="Aptos"/>
                <a:cs typeface="Aptos"/>
              </a:defRPr>
            </a:lvl1pPr>
            <a:lvl2pPr>
              <a:buNone/>
              <a:defRPr sz="5400" b="1">
                <a:solidFill>
                  <a:srgbClr val="17354E"/>
                </a:solidFill>
                <a:latin typeface="Aptos"/>
                <a:ea typeface="Aptos"/>
                <a:cs typeface="Aptos"/>
              </a:defRPr>
            </a:lvl2pPr>
            <a:lvl3pPr>
              <a:buNone/>
              <a:defRPr sz="5400" b="1">
                <a:solidFill>
                  <a:srgbClr val="17354E"/>
                </a:solidFill>
                <a:latin typeface="Aptos"/>
                <a:ea typeface="Aptos"/>
                <a:cs typeface="Aptos"/>
              </a:defRPr>
            </a:lvl3pPr>
            <a:lvl4pPr>
              <a:buNone/>
              <a:defRPr sz="5400" b="1">
                <a:solidFill>
                  <a:srgbClr val="17354E"/>
                </a:solidFill>
                <a:latin typeface="Aptos"/>
                <a:ea typeface="Aptos"/>
                <a:cs typeface="Aptos"/>
              </a:defRPr>
            </a:lvl4pPr>
            <a:lvl5pPr>
              <a:buNone/>
              <a:defRPr sz="5400" b="1">
                <a:solidFill>
                  <a:srgbClr val="17354E"/>
                </a:solidFill>
                <a:latin typeface="Aptos"/>
                <a:ea typeface="Aptos"/>
                <a:cs typeface="Aptos"/>
              </a:defRPr>
            </a:lvl5pPr>
            <a:lvl6pPr>
              <a:buNone/>
              <a:defRPr sz="5400" b="1">
                <a:solidFill>
                  <a:srgbClr val="17354E"/>
                </a:solidFill>
                <a:latin typeface="Aptos"/>
                <a:ea typeface="Aptos"/>
                <a:cs typeface="Aptos"/>
              </a:defRPr>
            </a:lvl6pPr>
            <a:lvl7pPr>
              <a:buNone/>
              <a:defRPr sz="5400" b="1">
                <a:solidFill>
                  <a:srgbClr val="17354E"/>
                </a:solidFill>
                <a:latin typeface="Aptos"/>
                <a:ea typeface="Aptos"/>
                <a:cs typeface="Aptos"/>
              </a:defRPr>
            </a:lvl7pPr>
            <a:lvl8pPr>
              <a:buNone/>
              <a:defRPr sz="5400" b="1">
                <a:solidFill>
                  <a:srgbClr val="17354E"/>
                </a:solidFill>
                <a:latin typeface="Aptos"/>
                <a:ea typeface="Aptos"/>
                <a:cs typeface="Aptos"/>
              </a:defRPr>
            </a:lvl8pPr>
            <a:lvl9pPr>
              <a:buNone/>
              <a:defRPr sz="5400" b="1">
                <a:solidFill>
                  <a:srgbClr val="17354E"/>
                </a:solidFill>
                <a:latin typeface="Aptos"/>
                <a:ea typeface="Aptos"/>
                <a:cs typeface="Aptos"/>
              </a:defRPr>
            </a:lvl9pPr>
          </a:lstStyle>
          <a:p xmlns:a="http://schemas.openxmlformats.org/drawingml/2006/main">
            <a:pPr>
              <a:buNone/>
              <a:defRPr sz="5400" b="1">
                <a:solidFill>
                  <a:srgbClr val="17354E"/>
                </a:solidFill>
                <a:latin typeface="Aptos"/>
                <a:ea typeface="Aptos"/>
                <a:cs typeface="Aptos"/>
              </a:defRPr>
            </a:pPr>
            <a:r>
              <a:rPr sz="5400" b="1">
                <a:solidFill>
                  <a:srgbClr val="17354E"/>
                </a:solidFill>
                <a:latin typeface="Aptos"/>
                <a:ea typeface="Aptos"/>
                <a:cs typeface="Aptos"/>
              </a:rPr>
              <a:t>Recursion</a:t>
            </a:r>
          </a:p>
        </p:txBody>
      </p:sp>
      <p:sp>
        <p:nvSpPr>
          <p:cNvPr id="2" name="">
            <a:extLst xmlns:a="http://schemas.openxmlformats.org/drawingml/2006/main">
              <a:ext uri="{FF2B5EF4-FFF2-40B4-BE49-F238E27FC236}">
                <a16:creationId xmlns:a16="http://schemas.microsoft.com/office/drawing/2014/main" id="{CF1AF02A-7067-4212-B124-BD96631DB5B3}"/>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01</a:t>
            </a:r>
          </a:p>
        </p:txBody>
      </p:sp>
      <p:sp>
        <p:nvSpPr>
          <p:cNvPr id="3" name="">
            <a:extLst xmlns:a="http://schemas.openxmlformats.org/drawingml/2006/main">
              <a:ext uri="{FF2B5EF4-FFF2-40B4-BE49-F238E27FC236}">
                <a16:creationId xmlns:a16="http://schemas.microsoft.com/office/drawing/2014/main" id="{BA8BE3D8-4729-4F43-A5F1-D6C2F611C5DB}"/>
              </a:ext>
            </a:extLst>
          </p:cNvPr>
          <p:cNvSpPr>
            <a:spLocks xmlns:a="http://schemas.openxmlformats.org/drawingml/2006/main" noGrp="1"/>
          </p:cNvSpPr>
          <p:nvPr/>
        </p:nvSpPr>
        <p:spPr>
          <a:xfrm xmlns:a="http://schemas.openxmlformats.org/drawingml/2006/main">
            <a:off x="533400" y="2133600"/>
            <a:ext cx="1112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087F8C"/>
                </a:solidFill>
                <a:latin typeface="Aptos"/>
                <a:ea typeface="Aptos"/>
                <a:cs typeface="Aptos"/>
              </a:defRPr>
            </a:defPPr>
            <a:lvl1pPr>
              <a:buNone/>
              <a:defRPr sz="2325" b="1">
                <a:solidFill>
                  <a:srgbClr val="087F8C"/>
                </a:solidFill>
                <a:latin typeface="Aptos"/>
                <a:ea typeface="Aptos"/>
                <a:cs typeface="Aptos"/>
              </a:defRPr>
            </a:lvl1pPr>
            <a:lvl2pPr>
              <a:buNone/>
              <a:defRPr sz="2325" b="1">
                <a:solidFill>
                  <a:srgbClr val="087F8C"/>
                </a:solidFill>
                <a:latin typeface="Aptos"/>
                <a:ea typeface="Aptos"/>
                <a:cs typeface="Aptos"/>
              </a:defRPr>
            </a:lvl2pPr>
            <a:lvl3pPr>
              <a:buNone/>
              <a:defRPr sz="2325" b="1">
                <a:solidFill>
                  <a:srgbClr val="087F8C"/>
                </a:solidFill>
                <a:latin typeface="Aptos"/>
                <a:ea typeface="Aptos"/>
                <a:cs typeface="Aptos"/>
              </a:defRPr>
            </a:lvl3pPr>
            <a:lvl4pPr>
              <a:buNone/>
              <a:defRPr sz="2325" b="1">
                <a:solidFill>
                  <a:srgbClr val="087F8C"/>
                </a:solidFill>
                <a:latin typeface="Aptos"/>
                <a:ea typeface="Aptos"/>
                <a:cs typeface="Aptos"/>
              </a:defRPr>
            </a:lvl4pPr>
            <a:lvl5pPr>
              <a:buNone/>
              <a:defRPr sz="2325" b="1">
                <a:solidFill>
                  <a:srgbClr val="087F8C"/>
                </a:solidFill>
                <a:latin typeface="Aptos"/>
                <a:ea typeface="Aptos"/>
                <a:cs typeface="Aptos"/>
              </a:defRPr>
            </a:lvl5pPr>
            <a:lvl6pPr>
              <a:buNone/>
              <a:defRPr sz="2325" b="1">
                <a:solidFill>
                  <a:srgbClr val="087F8C"/>
                </a:solidFill>
                <a:latin typeface="Aptos"/>
                <a:ea typeface="Aptos"/>
                <a:cs typeface="Aptos"/>
              </a:defRPr>
            </a:lvl6pPr>
            <a:lvl7pPr>
              <a:buNone/>
              <a:defRPr sz="2325" b="1">
                <a:solidFill>
                  <a:srgbClr val="087F8C"/>
                </a:solidFill>
                <a:latin typeface="Aptos"/>
                <a:ea typeface="Aptos"/>
                <a:cs typeface="Aptos"/>
              </a:defRPr>
            </a:lvl7pPr>
            <a:lvl8pPr>
              <a:buNone/>
              <a:defRPr sz="2325" b="1">
                <a:solidFill>
                  <a:srgbClr val="087F8C"/>
                </a:solidFill>
                <a:latin typeface="Aptos"/>
                <a:ea typeface="Aptos"/>
                <a:cs typeface="Aptos"/>
              </a:defRPr>
            </a:lvl8pPr>
            <a:lvl9pPr>
              <a:buNone/>
              <a:defRPr sz="2325" b="1">
                <a:solidFill>
                  <a:srgbClr val="087F8C"/>
                </a:solidFill>
                <a:latin typeface="Aptos"/>
                <a:ea typeface="Aptos"/>
                <a:cs typeface="Aptos"/>
              </a:defRPr>
            </a:lvl9pPr>
          </a:lstStyle>
          <a:p xmlns:a="http://schemas.openxmlformats.org/drawingml/2006/main">
            <a:pPr>
              <a:buNone/>
              <a:defRPr sz="2325" b="1">
                <a:solidFill>
                  <a:srgbClr val="087F8C"/>
                </a:solidFill>
                <a:latin typeface="Aptos"/>
                <a:ea typeface="Aptos"/>
                <a:cs typeface="Aptos"/>
              </a:defRPr>
            </a:pPr>
            <a:r>
              <a:rPr sz="2325" b="1">
                <a:solidFill>
                  <a:srgbClr val="087F8C"/>
                </a:solidFill>
                <a:latin typeface="Aptos"/>
                <a:ea typeface="Aptos"/>
                <a:cs typeface="Aptos"/>
              </a:rPr>
              <a:t>COMP 182   </a:t>
            </a:r>
            <a:r>
              <a:rPr sz="2325" b="1">
                <a:solidFill>
                  <a:srgbClr val="087F8C"/>
                </a:solidFill>
                <a:latin typeface="Aptos"/>
                <a:ea typeface="Aptos"/>
                <a:cs typeface="Aptos"/>
              </a:rPr>
              <a:t>Lecture 04</a:t>
            </a:r>
          </a:p>
        </p:txBody>
      </p:sp>
      <p:sp>
        <p:nvSpPr>
          <p:cNvPr id="4" name="">
            <a:extLst xmlns:a="http://schemas.openxmlformats.org/drawingml/2006/main">
              <a:ext uri="{FF2B5EF4-FFF2-40B4-BE49-F238E27FC236}">
                <a16:creationId xmlns:a16="http://schemas.microsoft.com/office/drawing/2014/main" id="{E5CF9CFE-0095-46BC-A5A3-49DFA562A83D}"/>
              </a:ext>
            </a:extLst>
          </p:cNvPr>
          <p:cNvSpPr>
            <a:spLocks xmlns:a="http://schemas.openxmlformats.org/drawingml/2006/main" noGrp="1"/>
          </p:cNvSpPr>
          <p:nvPr/>
        </p:nvSpPr>
        <p:spPr>
          <a:xfrm xmlns:a="http://schemas.openxmlformats.org/drawingml/2006/main">
            <a:off x="533400" y="30384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75" b="1">
                <a:solidFill>
                  <a:srgbClr val="17354E"/>
                </a:solidFill>
                <a:latin typeface="Aptos"/>
                <a:ea typeface="Aptos"/>
                <a:cs typeface="Aptos"/>
              </a:defRPr>
            </a:defPPr>
            <a:lvl1pPr>
              <a:buNone/>
              <a:defRPr sz="3675" b="1">
                <a:solidFill>
                  <a:srgbClr val="17354E"/>
                </a:solidFill>
                <a:latin typeface="Aptos"/>
                <a:ea typeface="Aptos"/>
                <a:cs typeface="Aptos"/>
              </a:defRPr>
            </a:lvl1pPr>
            <a:lvl2pPr>
              <a:buNone/>
              <a:defRPr sz="3675" b="1">
                <a:solidFill>
                  <a:srgbClr val="17354E"/>
                </a:solidFill>
                <a:latin typeface="Aptos"/>
                <a:ea typeface="Aptos"/>
                <a:cs typeface="Aptos"/>
              </a:defRPr>
            </a:lvl2pPr>
            <a:lvl3pPr>
              <a:buNone/>
              <a:defRPr sz="3675" b="1">
                <a:solidFill>
                  <a:srgbClr val="17354E"/>
                </a:solidFill>
                <a:latin typeface="Aptos"/>
                <a:ea typeface="Aptos"/>
                <a:cs typeface="Aptos"/>
              </a:defRPr>
            </a:lvl3pPr>
            <a:lvl4pPr>
              <a:buNone/>
              <a:defRPr sz="3675" b="1">
                <a:solidFill>
                  <a:srgbClr val="17354E"/>
                </a:solidFill>
                <a:latin typeface="Aptos"/>
                <a:ea typeface="Aptos"/>
                <a:cs typeface="Aptos"/>
              </a:defRPr>
            </a:lvl4pPr>
            <a:lvl5pPr>
              <a:buNone/>
              <a:defRPr sz="3675" b="1">
                <a:solidFill>
                  <a:srgbClr val="17354E"/>
                </a:solidFill>
                <a:latin typeface="Aptos"/>
                <a:ea typeface="Aptos"/>
                <a:cs typeface="Aptos"/>
              </a:defRPr>
            </a:lvl5pPr>
            <a:lvl6pPr>
              <a:buNone/>
              <a:defRPr sz="3675" b="1">
                <a:solidFill>
                  <a:srgbClr val="17354E"/>
                </a:solidFill>
                <a:latin typeface="Aptos"/>
                <a:ea typeface="Aptos"/>
                <a:cs typeface="Aptos"/>
              </a:defRPr>
            </a:lvl6pPr>
            <a:lvl7pPr>
              <a:buNone/>
              <a:defRPr sz="3675" b="1">
                <a:solidFill>
                  <a:srgbClr val="17354E"/>
                </a:solidFill>
                <a:latin typeface="Aptos"/>
                <a:ea typeface="Aptos"/>
                <a:cs typeface="Aptos"/>
              </a:defRPr>
            </a:lvl7pPr>
            <a:lvl8pPr>
              <a:buNone/>
              <a:defRPr sz="3675" b="1">
                <a:solidFill>
                  <a:srgbClr val="17354E"/>
                </a:solidFill>
                <a:latin typeface="Aptos"/>
                <a:ea typeface="Aptos"/>
                <a:cs typeface="Aptos"/>
              </a:defRPr>
            </a:lvl8pPr>
            <a:lvl9pPr>
              <a:buNone/>
              <a:defRPr sz="3675" b="1">
                <a:solidFill>
                  <a:srgbClr val="17354E"/>
                </a:solidFill>
                <a:latin typeface="Aptos"/>
                <a:ea typeface="Aptos"/>
                <a:cs typeface="Aptos"/>
              </a:defRPr>
            </a:lvl9pPr>
          </a:lstStyle>
          <a:p xmlns:a="http://schemas.openxmlformats.org/drawingml/2006/main">
            <a:pPr>
              <a:buNone/>
              <a:defRPr sz="3675" b="1">
                <a:solidFill>
                  <a:srgbClr val="17354E"/>
                </a:solidFill>
                <a:latin typeface="Aptos"/>
                <a:ea typeface="Aptos"/>
                <a:cs typeface="Aptos"/>
              </a:defRPr>
            </a:pPr>
            <a:r>
              <a:rPr sz="3675" b="1">
                <a:solidFill>
                  <a:srgbClr val="17354E"/>
                </a:solidFill>
                <a:latin typeface="Aptos"/>
                <a:ea typeface="Aptos"/>
                <a:cs typeface="Aptos"/>
              </a:rPr>
              <a:t>Recursive methods in Java</a:t>
            </a:r>
          </a:p>
        </p:txBody>
      </p:sp>
      <p:sp>
        <p:nvSpPr>
          <p:cNvPr id="5" name="">
            <a:extLst xmlns:a="http://schemas.openxmlformats.org/drawingml/2006/main">
              <a:ext uri="{FF2B5EF4-FFF2-40B4-BE49-F238E27FC236}">
                <a16:creationId xmlns:a16="http://schemas.microsoft.com/office/drawing/2014/main" id="{8AC32D5C-5FE1-4D77-B4B9-7B39AF875D42}"/>
              </a:ext>
            </a:extLst>
          </p:cNvPr>
          <p:cNvSpPr>
            <a:spLocks xmlns:a="http://schemas.openxmlformats.org/drawingml/2006/main" noGrp="1"/>
          </p:cNvSpPr>
          <p:nvPr/>
        </p:nvSpPr>
        <p:spPr>
          <a:xfrm xmlns:a="http://schemas.openxmlformats.org/drawingml/2006/main">
            <a:off x="533400" y="45243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4D6172"/>
                </a:solidFill>
                <a:latin typeface="Aptos"/>
                <a:ea typeface="Aptos"/>
                <a:cs typeface="Aptos"/>
              </a:defRPr>
            </a:defPPr>
            <a:lvl1pPr>
              <a:buNone/>
              <a:defRPr sz="2250" b="0">
                <a:solidFill>
                  <a:srgbClr val="4D6172"/>
                </a:solidFill>
                <a:latin typeface="Aptos"/>
                <a:ea typeface="Aptos"/>
                <a:cs typeface="Aptos"/>
              </a:defRPr>
            </a:lvl1pPr>
            <a:lvl2pPr>
              <a:buNone/>
              <a:defRPr sz="2250" b="0">
                <a:solidFill>
                  <a:srgbClr val="4D6172"/>
                </a:solidFill>
                <a:latin typeface="Aptos"/>
                <a:ea typeface="Aptos"/>
                <a:cs typeface="Aptos"/>
              </a:defRPr>
            </a:lvl2pPr>
            <a:lvl3pPr>
              <a:buNone/>
              <a:defRPr sz="2250" b="0">
                <a:solidFill>
                  <a:srgbClr val="4D6172"/>
                </a:solidFill>
                <a:latin typeface="Aptos"/>
                <a:ea typeface="Aptos"/>
                <a:cs typeface="Aptos"/>
              </a:defRPr>
            </a:lvl3pPr>
            <a:lvl4pPr>
              <a:buNone/>
              <a:defRPr sz="2250" b="0">
                <a:solidFill>
                  <a:srgbClr val="4D6172"/>
                </a:solidFill>
                <a:latin typeface="Aptos"/>
                <a:ea typeface="Aptos"/>
                <a:cs typeface="Aptos"/>
              </a:defRPr>
            </a:lvl4pPr>
            <a:lvl5pPr>
              <a:buNone/>
              <a:defRPr sz="2250" b="0">
                <a:solidFill>
                  <a:srgbClr val="4D6172"/>
                </a:solidFill>
                <a:latin typeface="Aptos"/>
                <a:ea typeface="Aptos"/>
                <a:cs typeface="Aptos"/>
              </a:defRPr>
            </a:lvl5pPr>
            <a:lvl6pPr>
              <a:buNone/>
              <a:defRPr sz="2250" b="0">
                <a:solidFill>
                  <a:srgbClr val="4D6172"/>
                </a:solidFill>
                <a:latin typeface="Aptos"/>
                <a:ea typeface="Aptos"/>
                <a:cs typeface="Aptos"/>
              </a:defRPr>
            </a:lvl6pPr>
            <a:lvl7pPr>
              <a:buNone/>
              <a:defRPr sz="2250" b="0">
                <a:solidFill>
                  <a:srgbClr val="4D6172"/>
                </a:solidFill>
                <a:latin typeface="Aptos"/>
                <a:ea typeface="Aptos"/>
                <a:cs typeface="Aptos"/>
              </a:defRPr>
            </a:lvl7pPr>
            <a:lvl8pPr>
              <a:buNone/>
              <a:defRPr sz="2250" b="0">
                <a:solidFill>
                  <a:srgbClr val="4D6172"/>
                </a:solidFill>
                <a:latin typeface="Aptos"/>
                <a:ea typeface="Aptos"/>
                <a:cs typeface="Aptos"/>
              </a:defRPr>
            </a:lvl8pPr>
            <a:lvl9pPr>
              <a:buNone/>
              <a:defRPr sz="2250" b="0">
                <a:solidFill>
                  <a:srgbClr val="4D6172"/>
                </a:solidFill>
                <a:latin typeface="Aptos"/>
                <a:ea typeface="Aptos"/>
                <a:cs typeface="Aptos"/>
              </a:defRPr>
            </a:lvl9pPr>
          </a:lstStyle>
          <a:p xmlns:a="http://schemas.openxmlformats.org/drawingml/2006/main">
            <a:pPr>
              <a:buNone/>
              <a:defRPr sz="2250" b="0">
                <a:solidFill>
                  <a:srgbClr val="4D6172"/>
                </a:solidFill>
                <a:latin typeface="Aptos"/>
                <a:ea typeface="Aptos"/>
                <a:cs typeface="Aptos"/>
              </a:defRPr>
            </a:pPr>
            <a:r>
              <a:rPr sz="2250" b="0">
                <a:solidFill>
                  <a:srgbClr val="4D6172"/>
                </a:solidFill>
                <a:latin typeface="Aptos"/>
                <a:ea typeface="Aptos"/>
                <a:cs typeface="Aptos"/>
              </a:rPr>
              <a:t>Tracing calls, proving termination, and comparing costs</a:t>
            </a:r>
          </a:p>
        </p:txBody>
      </p:sp>
    </p:spTree>
    <p:extLst>
      <p:ext uri="{BB962C8B-B14F-4D97-AF65-F5344CB8AC3E}">
        <p14:creationId xmlns:p14="http://schemas.microsoft.com/office/powerpoint/2010/main" val="4746463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4F7285-6112-4ADB-B939-E0694CB580E8}"/>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A directory contains smaller directories</a:t>
            </a:r>
          </a:p>
        </p:txBody>
      </p:sp>
      <p:sp>
        <p:nvSpPr>
          <p:cNvPr id="2" name="">
            <a:extLst xmlns:a="http://schemas.openxmlformats.org/drawingml/2006/main">
              <a:ext uri="{FF2B5EF4-FFF2-40B4-BE49-F238E27FC236}">
                <a16:creationId xmlns:a16="http://schemas.microsoft.com/office/drawing/2014/main" id="{7C50B3F8-46C5-462D-8175-FA608FDC2F25}"/>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To find a word in every file, apply the same search to each subdirectory.</a:t>
            </a:r>
          </a:p>
        </p:txBody>
      </p:sp>
      <p:sp>
        <p:nvSpPr>
          <p:cNvPr id="3" name="">
            <a:extLst xmlns:a="http://schemas.openxmlformats.org/drawingml/2006/main">
              <a:ext uri="{FF2B5EF4-FFF2-40B4-BE49-F238E27FC236}">
                <a16:creationId xmlns:a16="http://schemas.microsoft.com/office/drawing/2014/main" id="{8283C511-F573-449C-8A68-904A4FE73958}"/>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02</a:t>
            </a:r>
          </a:p>
        </p:txBody>
      </p:sp>
      <p:graphicFrame>
        <p:nvGraphicFramePr>
          <p:cNvPr id="4" name="">
            <a:extLst xmlns:a="http://schemas.openxmlformats.org/drawingml/2006/main">
              <a:ext uri="{FF2B5EF4-FFF2-40B4-BE49-F238E27FC236}">
                <a16:creationId xmlns:a16="http://schemas.microsoft.com/office/drawing/2014/main" id="{36879534-6687-4396-ADEF-D6C025E9707D}"/>
              </a:ext>
            </a:extLst>
          </p:cNvPr>
          <p:cNvGraphicFramePr/>
          <p:nvPr/>
        </p:nvGraphicFramePr>
        <p:xfrm>
          <a:off xmlns:a="http://schemas.openxmlformats.org/drawingml/2006/main" x="533400" y="2143125"/>
          <a:ext xmlns:a="http://schemas.openxmlformats.org/drawingml/2006/main" cx="11125200" cy="2857500"/>
        </p:xfrm>
        <a:graphic xmlns:a="http://schemas.openxmlformats.org/drawingml/2006/main">
          <a:graphicData uri="http://schemas.openxmlformats.org/drawingml/2006/table">
            <a:tbl>
              <a:tblPr/>
              <a:tblGrid>
                <a:gridCol w="3905250"/>
                <a:gridCol w="7219950"/>
              </a:tblGrid>
              <a:tr h="571500">
                <a:tc>
                  <a:txBody>
                    <a:bodyPr/>
                    <a:lstStyle/>
                    <a:p>
                      <a:r>
                        <a:rPr sz="2100" b="1">
                          <a:solidFill>
                            <a:srgbClr val="FFFFFF"/>
                          </a:solidFill>
                          <a:latin typeface="Aptos"/>
                          <a:ea typeface="Aptos"/>
                          <a:cs typeface="Aptos"/>
                        </a:rPr>
                        <a:t>Entry</a:t>
                      </a:r>
                    </a:p>
                  </a:txBody>
                  <a:tcPr marL="91440" marR="91440" marT="45720" marB="45720">
                    <a:lnL w="9525">
                      <a:solidFill>
                        <a:srgbClr val="D5E1E7"/>
                      </a:solidFill>
                    </a:lnL>
                    <a:lnR w="9525">
                      <a:solidFill>
                        <a:srgbClr val="D5E1E7"/>
                      </a:solidFill>
                    </a:lnR>
                    <a:lnT w="9525">
                      <a:solidFill>
                        <a:srgbClr val="D5E1E7"/>
                      </a:solidFill>
                    </a:lnT>
                    <a:lnB w="9525">
                      <a:solidFill>
                        <a:srgbClr val="D5E1E7"/>
                      </a:solidFill>
                    </a:lnB>
                    <a:solidFill>
                      <a:srgbClr val="17354E"/>
                    </a:solidFill>
                  </a:tcPr>
                </a:tc>
                <a:tc>
                  <a:txBody>
                    <a:bodyPr/>
                    <a:lstStyle/>
                    <a:p>
                      <a:r>
                        <a:rPr sz="2100" b="1">
                          <a:solidFill>
                            <a:srgbClr val="FFFFFF"/>
                          </a:solidFill>
                          <a:latin typeface="Aptos"/>
                          <a:ea typeface="Aptos"/>
                          <a:cs typeface="Aptos"/>
                        </a:rPr>
                        <a:t>Work to perform</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r>
              <a:tr h="571500">
                <a:tc>
                  <a:txBody>
                    <a:bodyPr/>
                    <a:lstStyle/>
                    <a:p>
                      <a:r>
                        <a:rPr sz="2100" b="0">
                          <a:solidFill>
                            <a:srgbClr val="17354E"/>
                          </a:solidFill>
                          <a:latin typeface="Aptos"/>
                          <a:ea typeface="Aptos"/>
                          <a:cs typeface="Aptos"/>
                        </a:rPr>
                        <a:t>notes.txt</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2100" b="0">
                          <a:solidFill>
                            <a:srgbClr val="17354E"/>
                          </a:solidFill>
                          <a:latin typeface="Aptos"/>
                          <a:ea typeface="Aptos"/>
                          <a:cs typeface="Aptos"/>
                        </a:rPr>
                        <a:t>Search this file</a:t>
                      </a:r>
                    </a:p>
                  </a:txBody>
                  <a:tcPr marL="91440" marR="91440" marT="45720" marB="45720">
                    <a:lnR w="9525">
                      <a:solidFill>
                        <a:srgbClr val="D5E1E7"/>
                      </a:solidFill>
                    </a:lnR>
                    <a:lnB w="9525">
                      <a:solidFill>
                        <a:srgbClr val="D5E1E7"/>
                      </a:solidFill>
                    </a:lnB>
                    <a:solidFill>
                      <a:srgbClr val="EFF5F7"/>
                    </a:solidFill>
                  </a:tcPr>
                </a:tc>
              </a:tr>
              <a:tr h="571500">
                <a:tc>
                  <a:txBody>
                    <a:bodyPr/>
                    <a:lstStyle/>
                    <a:p>
                      <a:r>
                        <a:rPr sz="2100" b="0">
                          <a:solidFill>
                            <a:srgbClr val="17354E"/>
                          </a:solidFill>
                          <a:latin typeface="Aptos"/>
                          <a:ea typeface="Aptos"/>
                          <a:cs typeface="Aptos"/>
                        </a:rPr>
                        <a:t>lectures/</a:t>
                      </a:r>
                    </a:p>
                  </a:txBody>
                  <a:tcPr marL="91440" marR="91440" marT="45720" marB="45720">
                    <a:lnL w="9525">
                      <a:solidFill>
                        <a:srgbClr val="D5E1E7"/>
                      </a:solidFill>
                    </a:lnL>
                    <a:lnR w="9525">
                      <a:solidFill>
                        <a:srgbClr val="D5E1E7"/>
                      </a:solidFill>
                    </a:lnR>
                    <a:lnB w="9525">
                      <a:solidFill>
                        <a:srgbClr val="D5E1E7"/>
                      </a:solidFill>
                    </a:lnB>
                    <a:solidFill>
                      <a:srgbClr val="FFFFFF"/>
                    </a:solidFill>
                  </a:tcPr>
                </a:tc>
                <a:tc>
                  <a:txBody>
                    <a:bodyPr/>
                    <a:lstStyle/>
                    <a:p>
                      <a:r>
                        <a:rPr sz="2100" b="0">
                          <a:solidFill>
                            <a:srgbClr val="17354E"/>
                          </a:solidFill>
                          <a:latin typeface="Aptos"/>
                          <a:ea typeface="Aptos"/>
                          <a:cs typeface="Aptos"/>
                        </a:rPr>
                        <a:t>Search every entry inside this directory</a:t>
                      </a:r>
                    </a:p>
                  </a:txBody>
                  <a:tcPr marL="91440" marR="91440" marT="45720" marB="45720">
                    <a:lnR w="9525">
                      <a:solidFill>
                        <a:srgbClr val="D5E1E7"/>
                      </a:solidFill>
                    </a:lnR>
                    <a:lnB w="9525">
                      <a:solidFill>
                        <a:srgbClr val="D5E1E7"/>
                      </a:solidFill>
                    </a:lnB>
                    <a:solidFill>
                      <a:srgbClr val="FFFFFF"/>
                    </a:solidFill>
                  </a:tcPr>
                </a:tc>
              </a:tr>
              <a:tr h="571500">
                <a:tc>
                  <a:txBody>
                    <a:bodyPr/>
                    <a:lstStyle/>
                    <a:p>
                      <a:r>
                        <a:rPr sz="2100" b="0">
                          <a:solidFill>
                            <a:srgbClr val="17354E"/>
                          </a:solidFill>
                          <a:latin typeface="Aptos"/>
                          <a:ea typeface="Aptos"/>
                          <a:cs typeface="Aptos"/>
                        </a:rPr>
                        <a:t>projects/</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2100" b="0">
                          <a:solidFill>
                            <a:srgbClr val="17354E"/>
                          </a:solidFill>
                          <a:latin typeface="Aptos"/>
                          <a:ea typeface="Aptos"/>
                          <a:cs typeface="Aptos"/>
                        </a:rPr>
                        <a:t>Search every entry inside this directory</a:t>
                      </a:r>
                    </a:p>
                  </a:txBody>
                  <a:tcPr marL="91440" marR="91440" marT="45720" marB="45720">
                    <a:lnR w="9525">
                      <a:solidFill>
                        <a:srgbClr val="D5E1E7"/>
                      </a:solidFill>
                    </a:lnR>
                    <a:lnB w="9525">
                      <a:solidFill>
                        <a:srgbClr val="D5E1E7"/>
                      </a:solidFill>
                    </a:lnB>
                    <a:solidFill>
                      <a:srgbClr val="EFF5F7"/>
                    </a:solidFill>
                  </a:tcPr>
                </a:tc>
              </a:tr>
              <a:tr h="571500">
                <a:tc>
                  <a:txBody>
                    <a:bodyPr/>
                    <a:lstStyle/>
                    <a:p>
                      <a:r>
                        <a:rPr sz="2100" b="0">
                          <a:solidFill>
                            <a:srgbClr val="17354E"/>
                          </a:solidFill>
                          <a:latin typeface="Aptos"/>
                          <a:ea typeface="Aptos"/>
                          <a:cs typeface="Aptos"/>
                        </a:rPr>
                        <a:t>An empty directory</a:t>
                      </a:r>
                    </a:p>
                  </a:txBody>
                  <a:tcPr marL="91440" marR="91440" marT="45720" marB="45720">
                    <a:lnL w="9525">
                      <a:solidFill>
                        <a:srgbClr val="D5E1E7"/>
                      </a:solidFill>
                    </a:lnL>
                    <a:lnR w="9525">
                      <a:solidFill>
                        <a:srgbClr val="D5E1E7"/>
                      </a:solidFill>
                    </a:lnR>
                    <a:lnB w="9525">
                      <a:solidFill>
                        <a:srgbClr val="D5E1E7"/>
                      </a:solidFill>
                    </a:lnB>
                    <a:solidFill>
                      <a:srgbClr val="FFFFFF"/>
                    </a:solidFill>
                  </a:tcPr>
                </a:tc>
                <a:tc>
                  <a:txBody>
                    <a:bodyPr/>
                    <a:lstStyle/>
                    <a:p>
                      <a:r>
                        <a:rPr sz="2100" b="0">
                          <a:solidFill>
                            <a:srgbClr val="17354E"/>
                          </a:solidFill>
                          <a:latin typeface="Aptos"/>
                          <a:ea typeface="Aptos"/>
                          <a:cs typeface="Aptos"/>
                        </a:rPr>
                        <a:t>Return immediately</a:t>
                      </a:r>
                    </a:p>
                  </a:txBody>
                  <a:tcPr marL="91440" marR="91440" marT="45720" marB="45720">
                    <a:lnR w="9525">
                      <a:solidFill>
                        <a:srgbClr val="D5E1E7"/>
                      </a:solidFill>
                    </a:lnR>
                    <a:lnB w="9525">
                      <a:solidFill>
                        <a:srgbClr val="D5E1E7"/>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9ECC006-85C2-466B-AC4E-BDF5388D54F8}"/>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The task stays the same while the directory being searched becomes smaller.</a:t>
            </a:r>
          </a:p>
        </p:txBody>
      </p:sp>
    </p:spTree>
    <p:extLst>
      <p:ext uri="{BB962C8B-B14F-4D97-AF65-F5344CB8AC3E}">
        <p14:creationId xmlns:p14="http://schemas.microsoft.com/office/powerpoint/2010/main" val="12547355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B39134F-316F-4222-93BB-E924F73AD673}"/>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The structure of a recursive algorithm</a:t>
            </a:r>
          </a:p>
        </p:txBody>
      </p:sp>
      <p:sp>
        <p:nvSpPr>
          <p:cNvPr id="2" name="">
            <a:extLst xmlns:a="http://schemas.openxmlformats.org/drawingml/2006/main">
              <a:ext uri="{FF2B5EF4-FFF2-40B4-BE49-F238E27FC236}">
                <a16:creationId xmlns:a16="http://schemas.microsoft.com/office/drawing/2014/main" id="{476D01A6-726F-45A6-8640-4C64D1E943A3}"/>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A method solves a smaller instance of its own problem.</a:t>
            </a:r>
          </a:p>
        </p:txBody>
      </p:sp>
      <p:sp>
        <p:nvSpPr>
          <p:cNvPr id="3" name="">
            <a:extLst xmlns:a="http://schemas.openxmlformats.org/drawingml/2006/main">
              <a:ext uri="{FF2B5EF4-FFF2-40B4-BE49-F238E27FC236}">
                <a16:creationId xmlns:a16="http://schemas.microsoft.com/office/drawing/2014/main" id="{2ECCBA6C-055B-4BE0-8EA3-3C56A3FC9128}"/>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03</a:t>
            </a:r>
          </a:p>
        </p:txBody>
      </p:sp>
      <p:graphicFrame>
        <p:nvGraphicFramePr>
          <p:cNvPr id="4" name="">
            <a:extLst xmlns:a="http://schemas.openxmlformats.org/drawingml/2006/main">
              <a:ext uri="{FF2B5EF4-FFF2-40B4-BE49-F238E27FC236}">
                <a16:creationId xmlns:a16="http://schemas.microsoft.com/office/drawing/2014/main" id="{EFD74878-0760-431A-B9C6-65EFD5AC730C}"/>
              </a:ext>
            </a:extLst>
          </p:cNvPr>
          <p:cNvGraphicFramePr/>
          <p:nvPr/>
        </p:nvGraphicFramePr>
        <p:xfrm>
          <a:off xmlns:a="http://schemas.openxmlformats.org/drawingml/2006/main" x="533400" y="2095500"/>
          <a:ext xmlns:a="http://schemas.openxmlformats.org/drawingml/2006/main" cx="11125200" cy="2952750"/>
        </p:xfrm>
        <a:graphic xmlns:a="http://schemas.openxmlformats.org/drawingml/2006/main">
          <a:graphicData uri="http://schemas.openxmlformats.org/drawingml/2006/table">
            <a:tbl>
              <a:tblPr/>
              <a:tblGrid>
                <a:gridCol w="3476625"/>
                <a:gridCol w="7648575"/>
              </a:tblGrid>
              <a:tr h="590550">
                <a:tc>
                  <a:txBody>
                    <a:bodyPr/>
                    <a:lstStyle/>
                    <a:p>
                      <a:r>
                        <a:rPr sz="2100" b="1">
                          <a:solidFill>
                            <a:srgbClr val="FFFFFF"/>
                          </a:solidFill>
                          <a:latin typeface="Aptos"/>
                          <a:ea typeface="Aptos"/>
                          <a:cs typeface="Aptos"/>
                        </a:rPr>
                        <a:t>Part</a:t>
                      </a:r>
                    </a:p>
                  </a:txBody>
                  <a:tcPr marL="91440" marR="91440" marT="45720" marB="45720">
                    <a:lnL w="9525">
                      <a:solidFill>
                        <a:srgbClr val="D5E1E7"/>
                      </a:solidFill>
                    </a:lnL>
                    <a:lnR w="9525">
                      <a:solidFill>
                        <a:srgbClr val="D5E1E7"/>
                      </a:solidFill>
                    </a:lnR>
                    <a:lnT w="9525">
                      <a:solidFill>
                        <a:srgbClr val="D5E1E7"/>
                      </a:solidFill>
                    </a:lnT>
                    <a:lnB w="9525">
                      <a:solidFill>
                        <a:srgbClr val="D5E1E7"/>
                      </a:solidFill>
                    </a:lnB>
                    <a:solidFill>
                      <a:srgbClr val="17354E"/>
                    </a:solidFill>
                  </a:tcPr>
                </a:tc>
                <a:tc>
                  <a:txBody>
                    <a:bodyPr/>
                    <a:lstStyle/>
                    <a:p>
                      <a:r>
                        <a:rPr sz="2100" b="1">
                          <a:solidFill>
                            <a:srgbClr val="FFFFFF"/>
                          </a:solidFill>
                          <a:latin typeface="Aptos"/>
                          <a:ea typeface="Aptos"/>
                          <a:cs typeface="Aptos"/>
                        </a:rPr>
                        <a:t>Question it answers</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r>
              <a:tr h="590550">
                <a:tc>
                  <a:txBody>
                    <a:bodyPr/>
                    <a:lstStyle/>
                    <a:p>
                      <a:r>
                        <a:rPr sz="2100" b="0">
                          <a:solidFill>
                            <a:srgbClr val="17354E"/>
                          </a:solidFill>
                          <a:latin typeface="Aptos"/>
                          <a:ea typeface="Aptos"/>
                          <a:cs typeface="Aptos"/>
                        </a:rPr>
                        <a:t>Input contract</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2100" b="0">
                          <a:solidFill>
                            <a:srgbClr val="17354E"/>
                          </a:solidFill>
                          <a:latin typeface="Aptos"/>
                          <a:ea typeface="Aptos"/>
                          <a:cs typeface="Aptos"/>
                        </a:rPr>
                        <a:t>Which inputs are valid?</a:t>
                      </a:r>
                    </a:p>
                  </a:txBody>
                  <a:tcPr marL="91440" marR="91440" marT="45720" marB="45720">
                    <a:lnR w="9525">
                      <a:solidFill>
                        <a:srgbClr val="D5E1E7"/>
                      </a:solidFill>
                    </a:lnR>
                    <a:lnB w="9525">
                      <a:solidFill>
                        <a:srgbClr val="D5E1E7"/>
                      </a:solidFill>
                    </a:lnB>
                    <a:solidFill>
                      <a:srgbClr val="EFF5F7"/>
                    </a:solidFill>
                  </a:tcPr>
                </a:tc>
              </a:tr>
              <a:tr h="590550">
                <a:tc>
                  <a:txBody>
                    <a:bodyPr/>
                    <a:lstStyle/>
                    <a:p>
                      <a:r>
                        <a:rPr sz="2100" b="0">
                          <a:solidFill>
                            <a:srgbClr val="17354E"/>
                          </a:solidFill>
                          <a:latin typeface="Aptos"/>
                          <a:ea typeface="Aptos"/>
                          <a:cs typeface="Aptos"/>
                        </a:rPr>
                        <a:t>Base case</a:t>
                      </a:r>
                    </a:p>
                  </a:txBody>
                  <a:tcPr marL="91440" marR="91440" marT="45720" marB="45720">
                    <a:lnL w="9525">
                      <a:solidFill>
                        <a:srgbClr val="D5E1E7"/>
                      </a:solidFill>
                    </a:lnL>
                    <a:lnR w="9525">
                      <a:solidFill>
                        <a:srgbClr val="D5E1E7"/>
                      </a:solidFill>
                    </a:lnR>
                    <a:lnB w="9525">
                      <a:solidFill>
                        <a:srgbClr val="D5E1E7"/>
                      </a:solidFill>
                    </a:lnB>
                    <a:solidFill>
                      <a:srgbClr val="FFFFFF"/>
                    </a:solidFill>
                  </a:tcPr>
                </a:tc>
                <a:tc>
                  <a:txBody>
                    <a:bodyPr/>
                    <a:lstStyle/>
                    <a:p>
                      <a:r>
                        <a:rPr sz="2100" b="0">
                          <a:solidFill>
                            <a:srgbClr val="17354E"/>
                          </a:solidFill>
                          <a:latin typeface="Aptos"/>
                          <a:ea typeface="Aptos"/>
                          <a:cs typeface="Aptos"/>
                        </a:rPr>
                        <a:t>When can the method finish without another call?</a:t>
                      </a:r>
                    </a:p>
                  </a:txBody>
                  <a:tcPr marL="91440" marR="91440" marT="45720" marB="45720">
                    <a:lnR w="9525">
                      <a:solidFill>
                        <a:srgbClr val="D5E1E7"/>
                      </a:solidFill>
                    </a:lnR>
                    <a:lnB w="9525">
                      <a:solidFill>
                        <a:srgbClr val="D5E1E7"/>
                      </a:solidFill>
                    </a:lnB>
                    <a:solidFill>
                      <a:srgbClr val="FFFFFF"/>
                    </a:solidFill>
                  </a:tcPr>
                </a:tc>
              </a:tr>
              <a:tr h="590550">
                <a:tc>
                  <a:txBody>
                    <a:bodyPr/>
                    <a:lstStyle/>
                    <a:p>
                      <a:r>
                        <a:rPr sz="2100" b="0">
                          <a:solidFill>
                            <a:srgbClr val="17354E"/>
                          </a:solidFill>
                          <a:latin typeface="Aptos"/>
                          <a:ea typeface="Aptos"/>
                          <a:cs typeface="Aptos"/>
                        </a:rPr>
                        <a:t>Recursive step</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2100" b="0">
                          <a:solidFill>
                            <a:srgbClr val="17354E"/>
                          </a:solidFill>
                          <a:latin typeface="Aptos"/>
                          <a:ea typeface="Aptos"/>
                          <a:cs typeface="Aptos"/>
                        </a:rPr>
                        <a:t>Which smaller instance should it solve?</a:t>
                      </a:r>
                    </a:p>
                  </a:txBody>
                  <a:tcPr marL="91440" marR="91440" marT="45720" marB="45720">
                    <a:lnR w="9525">
                      <a:solidFill>
                        <a:srgbClr val="D5E1E7"/>
                      </a:solidFill>
                    </a:lnR>
                    <a:lnB w="9525">
                      <a:solidFill>
                        <a:srgbClr val="D5E1E7"/>
                      </a:solidFill>
                    </a:lnB>
                    <a:solidFill>
                      <a:srgbClr val="EFF5F7"/>
                    </a:solidFill>
                  </a:tcPr>
                </a:tc>
              </a:tr>
              <a:tr h="590550">
                <a:tc>
                  <a:txBody>
                    <a:bodyPr/>
                    <a:lstStyle/>
                    <a:p>
                      <a:r>
                        <a:rPr sz="2100" b="0">
                          <a:solidFill>
                            <a:srgbClr val="17354E"/>
                          </a:solidFill>
                          <a:latin typeface="Aptos"/>
                          <a:ea typeface="Aptos"/>
                          <a:cs typeface="Aptos"/>
                        </a:rPr>
                        <a:t>Result or action</a:t>
                      </a:r>
                    </a:p>
                  </a:txBody>
                  <a:tcPr marL="91440" marR="91440" marT="45720" marB="45720">
                    <a:lnL w="9525">
                      <a:solidFill>
                        <a:srgbClr val="D5E1E7"/>
                      </a:solidFill>
                    </a:lnL>
                    <a:lnR w="9525">
                      <a:solidFill>
                        <a:srgbClr val="D5E1E7"/>
                      </a:solidFill>
                    </a:lnR>
                    <a:lnB w="9525">
                      <a:solidFill>
                        <a:srgbClr val="D5E1E7"/>
                      </a:solidFill>
                    </a:lnB>
                    <a:solidFill>
                      <a:srgbClr val="FFFFFF"/>
                    </a:solidFill>
                  </a:tcPr>
                </a:tc>
                <a:tc>
                  <a:txBody>
                    <a:bodyPr/>
                    <a:lstStyle/>
                    <a:p>
                      <a:r>
                        <a:rPr sz="2100" b="0">
                          <a:solidFill>
                            <a:srgbClr val="17354E"/>
                          </a:solidFill>
                          <a:latin typeface="Aptos"/>
                          <a:ea typeface="Aptos"/>
                          <a:cs typeface="Aptos"/>
                        </a:rPr>
                        <a:t>How does this call use the smaller result?</a:t>
                      </a:r>
                    </a:p>
                  </a:txBody>
                  <a:tcPr marL="91440" marR="91440" marT="45720" marB="45720">
                    <a:lnR w="9525">
                      <a:solidFill>
                        <a:srgbClr val="D5E1E7"/>
                      </a:solidFill>
                    </a:lnR>
                    <a:lnB w="9525">
                      <a:solidFill>
                        <a:srgbClr val="D5E1E7"/>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12DF3D7-DDFF-44B6-B580-75AA1E4AD967}"/>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A correct recursive call must move toward a reachable base case.</a:t>
            </a:r>
          </a:p>
        </p:txBody>
      </p:sp>
    </p:spTree>
    <p:extLst>
      <p:ext uri="{BB962C8B-B14F-4D97-AF65-F5344CB8AC3E}">
        <p14:creationId xmlns:p14="http://schemas.microsoft.com/office/powerpoint/2010/main" val="5542845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685E66D-6990-4291-91CD-B559A839DE6C}"/>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Delegating a smaller countdown</a:t>
            </a:r>
          </a:p>
        </p:txBody>
      </p:sp>
      <p:sp>
        <p:nvSpPr>
          <p:cNvPr id="2" name="">
            <a:extLst xmlns:a="http://schemas.openxmlformats.org/drawingml/2006/main">
              <a:ext uri="{FF2B5EF4-FFF2-40B4-BE49-F238E27FC236}">
                <a16:creationId xmlns:a16="http://schemas.microsoft.com/office/drawing/2014/main" id="{F6A88882-D947-4637-83E1-D394ADD7C994}"/>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Each person prints one number and asks someone else to continue.</a:t>
            </a:r>
          </a:p>
        </p:txBody>
      </p:sp>
      <p:sp>
        <p:nvSpPr>
          <p:cNvPr id="3" name="">
            <a:extLst xmlns:a="http://schemas.openxmlformats.org/drawingml/2006/main">
              <a:ext uri="{FF2B5EF4-FFF2-40B4-BE49-F238E27FC236}">
                <a16:creationId xmlns:a16="http://schemas.microsoft.com/office/drawing/2014/main" id="{7F9407E5-5523-4853-8513-7F380FADFCA2}"/>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04</a:t>
            </a:r>
          </a:p>
        </p:txBody>
      </p:sp>
      <p:pic>
        <p:nvPicPr>
          <p:cNvPr id="4" name="">
            <a:extLst xmlns:a="http://schemas.openxmlformats.org/drawingml/2006/main">
              <a:ext uri="{FF2B5EF4-FFF2-40B4-BE49-F238E27FC236}">
                <a16:creationId xmlns:a16="http://schemas.microsoft.com/office/drawing/2014/main" id="{52118FD2-1139-44A6-A1F6-B5A1110BFF0D}"/>
              </a:ext>
            </a:extLst>
          </p:cNvPr>
          <p:cNvPicPr>
            <a:picLocks xmlns:a="http://schemas.openxmlformats.org/drawingml/2006/main" noChangeAspect="1"/>
          </p:cNvPicPr>
          <p:nvPr/>
        </p:nvPicPr>
        <p:blipFill>
          <a:blip xmlns:r="http://schemas.openxmlformats.org/officeDocument/2006/relationships" xmlns:a="http://schemas.openxmlformats.org/drawingml/2006/main" r:embed="R8e13e09e0c6c4a11"/>
          <a:stretch xmlns:a="http://schemas.openxmlformats.org/drawingml/2006/main"/>
        </p:blipFill>
        <p:spPr>
          <a:xfrm xmlns:a="http://schemas.openxmlformats.org/drawingml/2006/main">
            <a:off x="1058655" y="2009775"/>
            <a:ext cx="10074689" cy="34671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D24FFC5-EA41-48F9-A605-8B0D3FF4FB40}"/>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Repeated task: print n. Smaller problem: count down from n − 1.</a:t>
            </a:r>
          </a:p>
        </p:txBody>
      </p:sp>
      <p:sp>
        <p:nvSpPr>
          <p:cNvPr id="7" name="local-java-Countdown">
            <a:extLst xmlns:a="http://schemas.openxmlformats.org/drawingml/2006/main">
              <a:ext uri="{FF2B5EF4-FFF2-40B4-BE49-F238E27FC236}">
                <a16:creationId xmlns:a16="http://schemas.microsoft.com/office/drawing/2014/main" id="{67B4863E-8074-47A7-B8BE-6C4AC9986BB6}"/>
              </a:ext>
            </a:extLst>
          </p:cNvPr>
          <p:cNvSpPr>
            <a:spLocks xmlns:a="http://schemas.openxmlformats.org/drawingml/2006/main" noGrp="1"/>
          </p:cNvSpPr>
          <p:nvPr/>
        </p:nvSpPr>
        <p:spPr>
          <a:xfrm xmlns:a="http://schemas.openxmlformats.org/drawingml/2006/main">
            <a:off x="5143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f3876e1c37654ed3"/>
              </a:rPr>
              <a:t>Java: Countdown.java</a:t>
            </a:r>
          </a:p>
        </p:txBody>
      </p:sp>
    </p:spTree>
    <p:extLst>
      <p:ext uri="{BB962C8B-B14F-4D97-AF65-F5344CB8AC3E}">
        <p14:creationId xmlns:p14="http://schemas.microsoft.com/office/powerpoint/2010/main" val="6164205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A35195-BF9B-48FF-90A9-212CC7AB88D6}"/>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The countdown reaches its base case</a:t>
            </a:r>
          </a:p>
        </p:txBody>
      </p:sp>
      <p:sp>
        <p:nvSpPr>
          <p:cNvPr id="2" name="">
            <a:extLst xmlns:a="http://schemas.openxmlformats.org/drawingml/2006/main">
              <a:ext uri="{FF2B5EF4-FFF2-40B4-BE49-F238E27FC236}">
                <a16:creationId xmlns:a16="http://schemas.microsoft.com/office/drawing/2014/main" id="{2518FD6F-4122-4BAF-B078-37DF844B5821}"/>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The person handling 1 finishes without passing the task to another person.</a:t>
            </a:r>
          </a:p>
        </p:txBody>
      </p:sp>
      <p:sp>
        <p:nvSpPr>
          <p:cNvPr id="3" name="">
            <a:extLst xmlns:a="http://schemas.openxmlformats.org/drawingml/2006/main">
              <a:ext uri="{FF2B5EF4-FFF2-40B4-BE49-F238E27FC236}">
                <a16:creationId xmlns:a16="http://schemas.microsoft.com/office/drawing/2014/main" id="{42356E09-C0E9-428C-A0B0-EB7817EA832A}"/>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05</a:t>
            </a:r>
          </a:p>
        </p:txBody>
      </p:sp>
      <p:pic>
        <p:nvPicPr>
          <p:cNvPr id="4" name="">
            <a:extLst xmlns:a="http://schemas.openxmlformats.org/drawingml/2006/main">
              <a:ext uri="{FF2B5EF4-FFF2-40B4-BE49-F238E27FC236}">
                <a16:creationId xmlns:a16="http://schemas.microsoft.com/office/drawing/2014/main" id="{DBEFB7C1-E631-4E30-8F64-46EFF992DE4E}"/>
              </a:ext>
            </a:extLst>
          </p:cNvPr>
          <p:cNvPicPr>
            <a:picLocks xmlns:a="http://schemas.openxmlformats.org/drawingml/2006/main" noChangeAspect="1"/>
          </p:cNvPicPr>
          <p:nvPr/>
        </p:nvPicPr>
        <p:blipFill>
          <a:blip xmlns:r="http://schemas.openxmlformats.org/officeDocument/2006/relationships" xmlns:a="http://schemas.openxmlformats.org/drawingml/2006/main" r:embed="Rdbef12582a2445fe"/>
          <a:stretch xmlns:a="http://schemas.openxmlformats.org/drawingml/2006/main"/>
        </p:blipFill>
        <p:spPr>
          <a:xfrm xmlns:a="http://schemas.openxmlformats.org/drawingml/2006/main">
            <a:off x="1041400" y="2009775"/>
            <a:ext cx="10109200" cy="34671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F50A278-E9E8-489A-AEE7-EB00086B1D99}"/>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At n = 1, print 1 and return without another recursive call.</a:t>
            </a:r>
          </a:p>
        </p:txBody>
      </p:sp>
      <p:sp>
        <p:nvSpPr>
          <p:cNvPr id="7" name="local-java-Countdown">
            <a:extLst xmlns:a="http://schemas.openxmlformats.org/drawingml/2006/main">
              <a:ext uri="{FF2B5EF4-FFF2-40B4-BE49-F238E27FC236}">
                <a16:creationId xmlns:a16="http://schemas.microsoft.com/office/drawing/2014/main" id="{26D99C05-B7BB-4E4B-BE88-3BDD6CC988FB}"/>
              </a:ext>
            </a:extLst>
          </p:cNvPr>
          <p:cNvSpPr>
            <a:spLocks xmlns:a="http://schemas.openxmlformats.org/drawingml/2006/main" noGrp="1"/>
          </p:cNvSpPr>
          <p:nvPr/>
        </p:nvSpPr>
        <p:spPr>
          <a:xfrm xmlns:a="http://schemas.openxmlformats.org/drawingml/2006/main">
            <a:off x="5143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8a85c76ddc424f0f"/>
              </a:rPr>
              <a:t>Java: Countdown.java</a:t>
            </a:r>
          </a:p>
        </p:txBody>
      </p:sp>
    </p:spTree>
    <p:extLst>
      <p:ext uri="{BB962C8B-B14F-4D97-AF65-F5344CB8AC3E}">
        <p14:creationId xmlns:p14="http://schemas.microsoft.com/office/powerpoint/2010/main" val="21021811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8269C0-5FC5-4917-9B1D-C9E4B70D6984}"/>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Countdown calls and returns</a:t>
            </a:r>
          </a:p>
        </p:txBody>
      </p:sp>
      <p:sp>
        <p:nvSpPr>
          <p:cNvPr id="2" name="">
            <a:extLst xmlns:a="http://schemas.openxmlformats.org/drawingml/2006/main">
              <a:ext uri="{FF2B5EF4-FFF2-40B4-BE49-F238E27FC236}">
                <a16:creationId xmlns:a16="http://schemas.microsoft.com/office/drawing/2014/main" id="{1624FA2C-0E7F-4025-9E31-572D98BA5B33}"/>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For countdown(3), each call handles one number and delegates the rest.</a:t>
            </a:r>
          </a:p>
        </p:txBody>
      </p:sp>
      <p:sp>
        <p:nvSpPr>
          <p:cNvPr id="3" name="">
            <a:extLst xmlns:a="http://schemas.openxmlformats.org/drawingml/2006/main">
              <a:ext uri="{FF2B5EF4-FFF2-40B4-BE49-F238E27FC236}">
                <a16:creationId xmlns:a16="http://schemas.microsoft.com/office/drawing/2014/main" id="{A004E22B-AC61-47DF-B354-95E88BDE178F}"/>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06</a:t>
            </a:r>
          </a:p>
        </p:txBody>
      </p:sp>
      <p:graphicFrame>
        <p:nvGraphicFramePr>
          <p:cNvPr id="4" name="">
            <a:extLst xmlns:a="http://schemas.openxmlformats.org/drawingml/2006/main">
              <a:ext uri="{FF2B5EF4-FFF2-40B4-BE49-F238E27FC236}">
                <a16:creationId xmlns:a16="http://schemas.microsoft.com/office/drawing/2014/main" id="{E7344CDF-BCDF-447B-9163-D318AD8FAED4}"/>
              </a:ext>
            </a:extLst>
          </p:cNvPr>
          <p:cNvGraphicFramePr/>
          <p:nvPr/>
        </p:nvGraphicFramePr>
        <p:xfrm>
          <a:off xmlns:a="http://schemas.openxmlformats.org/drawingml/2006/main" x="533400" y="2238375"/>
          <a:ext xmlns:a="http://schemas.openxmlformats.org/drawingml/2006/main" cx="11125200" cy="2333625"/>
        </p:xfrm>
        <a:graphic xmlns:a="http://schemas.openxmlformats.org/drawingml/2006/main">
          <a:graphicData uri="http://schemas.openxmlformats.org/drawingml/2006/table">
            <a:tbl>
              <a:tblPr/>
              <a:tblGrid>
                <a:gridCol w="3333750"/>
                <a:gridCol w="2762250"/>
                <a:gridCol w="5029200"/>
              </a:tblGrid>
              <a:tr h="583406">
                <a:tc>
                  <a:txBody>
                    <a:bodyPr/>
                    <a:lstStyle/>
                    <a:p>
                      <a:r>
                        <a:rPr sz="2175" b="1">
                          <a:solidFill>
                            <a:srgbClr val="FFFFFF"/>
                          </a:solidFill>
                          <a:latin typeface="Aptos"/>
                          <a:ea typeface="Aptos"/>
                          <a:cs typeface="Aptos"/>
                        </a:rPr>
                        <a:t>Call</a:t>
                      </a:r>
                    </a:p>
                  </a:txBody>
                  <a:tcPr marL="91440" marR="91440" marT="45720" marB="45720">
                    <a:lnL w="9525">
                      <a:solidFill>
                        <a:srgbClr val="D5E1E7"/>
                      </a:solidFill>
                    </a:lnL>
                    <a:lnR w="9525">
                      <a:solidFill>
                        <a:srgbClr val="D5E1E7"/>
                      </a:solidFill>
                    </a:lnR>
                    <a:lnT w="9525">
                      <a:solidFill>
                        <a:srgbClr val="D5E1E7"/>
                      </a:solidFill>
                    </a:lnT>
                    <a:lnB w="9525">
                      <a:solidFill>
                        <a:srgbClr val="D5E1E7"/>
                      </a:solidFill>
                    </a:lnB>
                    <a:solidFill>
                      <a:srgbClr val="17354E"/>
                    </a:solidFill>
                  </a:tcPr>
                </a:tc>
                <a:tc>
                  <a:txBody>
                    <a:bodyPr/>
                    <a:lstStyle/>
                    <a:p>
                      <a:r>
                        <a:rPr sz="2175" b="1">
                          <a:solidFill>
                            <a:srgbClr val="FFFFFF"/>
                          </a:solidFill>
                          <a:latin typeface="Aptos"/>
                          <a:ea typeface="Aptos"/>
                          <a:cs typeface="Aptos"/>
                        </a:rPr>
                        <a:t>Action</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c>
                  <a:txBody>
                    <a:bodyPr/>
                    <a:lstStyle/>
                    <a:p>
                      <a:r>
                        <a:rPr sz="2175" b="1">
                          <a:solidFill>
                            <a:srgbClr val="FFFFFF"/>
                          </a:solidFill>
                          <a:latin typeface="Aptos"/>
                          <a:ea typeface="Aptos"/>
                          <a:cs typeface="Aptos"/>
                        </a:rPr>
                        <a:t>Next step</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r>
              <a:tr h="583406">
                <a:tc>
                  <a:txBody>
                    <a:bodyPr/>
                    <a:lstStyle/>
                    <a:p>
                      <a:r>
                        <a:rPr sz="2175" b="0">
                          <a:solidFill>
                            <a:srgbClr val="17354E"/>
                          </a:solidFill>
                          <a:latin typeface="Aptos"/>
                          <a:ea typeface="Aptos"/>
                          <a:cs typeface="Aptos"/>
                        </a:rPr>
                        <a:t>countdown(3)</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2175" b="0">
                          <a:solidFill>
                            <a:srgbClr val="17354E"/>
                          </a:solidFill>
                          <a:latin typeface="Aptos"/>
                          <a:ea typeface="Aptos"/>
                          <a:cs typeface="Aptos"/>
                        </a:rPr>
                        <a:t>Print 3</a:t>
                      </a:r>
                    </a:p>
                  </a:txBody>
                  <a:tcPr marL="91440" marR="91440" marT="45720" marB="45720">
                    <a:lnR w="9525">
                      <a:solidFill>
                        <a:srgbClr val="D5E1E7"/>
                      </a:solidFill>
                    </a:lnR>
                    <a:lnB w="9525">
                      <a:solidFill>
                        <a:srgbClr val="D5E1E7"/>
                      </a:solidFill>
                    </a:lnB>
                    <a:solidFill>
                      <a:srgbClr val="EFF5F7"/>
                    </a:solidFill>
                  </a:tcPr>
                </a:tc>
                <a:tc>
                  <a:txBody>
                    <a:bodyPr/>
                    <a:lstStyle/>
                    <a:p>
                      <a:r>
                        <a:rPr sz="2175" b="0">
                          <a:solidFill>
                            <a:srgbClr val="17354E"/>
                          </a:solidFill>
                          <a:latin typeface="Aptos"/>
                          <a:ea typeface="Aptos"/>
                          <a:cs typeface="Aptos"/>
                        </a:rPr>
                        <a:t>Call countdown(2)</a:t>
                      </a:r>
                    </a:p>
                  </a:txBody>
                  <a:tcPr marL="91440" marR="91440" marT="45720" marB="45720">
                    <a:lnR w="9525">
                      <a:solidFill>
                        <a:srgbClr val="D5E1E7"/>
                      </a:solidFill>
                    </a:lnR>
                    <a:lnB w="9525">
                      <a:solidFill>
                        <a:srgbClr val="D5E1E7"/>
                      </a:solidFill>
                    </a:lnB>
                    <a:solidFill>
                      <a:srgbClr val="EFF5F7"/>
                    </a:solidFill>
                  </a:tcPr>
                </a:tc>
              </a:tr>
              <a:tr h="583406">
                <a:tc>
                  <a:txBody>
                    <a:bodyPr/>
                    <a:lstStyle/>
                    <a:p>
                      <a:r>
                        <a:rPr sz="2175" b="0">
                          <a:solidFill>
                            <a:srgbClr val="17354E"/>
                          </a:solidFill>
                          <a:latin typeface="Aptos"/>
                          <a:ea typeface="Aptos"/>
                          <a:cs typeface="Aptos"/>
                        </a:rPr>
                        <a:t>countdown(2)</a:t>
                      </a:r>
                    </a:p>
                  </a:txBody>
                  <a:tcPr marL="91440" marR="91440" marT="45720" marB="45720">
                    <a:lnL w="9525">
                      <a:solidFill>
                        <a:srgbClr val="D5E1E7"/>
                      </a:solidFill>
                    </a:lnL>
                    <a:lnR w="9525">
                      <a:solidFill>
                        <a:srgbClr val="D5E1E7"/>
                      </a:solidFill>
                    </a:lnR>
                    <a:lnB w="9525">
                      <a:solidFill>
                        <a:srgbClr val="D5E1E7"/>
                      </a:solidFill>
                    </a:lnB>
                    <a:solidFill>
                      <a:srgbClr val="FFFFFF"/>
                    </a:solidFill>
                  </a:tcPr>
                </a:tc>
                <a:tc>
                  <a:txBody>
                    <a:bodyPr/>
                    <a:lstStyle/>
                    <a:p>
                      <a:r>
                        <a:rPr sz="2175" b="0">
                          <a:solidFill>
                            <a:srgbClr val="17354E"/>
                          </a:solidFill>
                          <a:latin typeface="Aptos"/>
                          <a:ea typeface="Aptos"/>
                          <a:cs typeface="Aptos"/>
                        </a:rPr>
                        <a:t>Print 2</a:t>
                      </a:r>
                    </a:p>
                  </a:txBody>
                  <a:tcPr marL="91440" marR="91440" marT="45720" marB="45720">
                    <a:lnR w="9525">
                      <a:solidFill>
                        <a:srgbClr val="D5E1E7"/>
                      </a:solidFill>
                    </a:lnR>
                    <a:lnB w="9525">
                      <a:solidFill>
                        <a:srgbClr val="D5E1E7"/>
                      </a:solidFill>
                    </a:lnB>
                    <a:solidFill>
                      <a:srgbClr val="FFFFFF"/>
                    </a:solidFill>
                  </a:tcPr>
                </a:tc>
                <a:tc>
                  <a:txBody>
                    <a:bodyPr/>
                    <a:lstStyle/>
                    <a:p>
                      <a:r>
                        <a:rPr sz="2175" b="0">
                          <a:solidFill>
                            <a:srgbClr val="17354E"/>
                          </a:solidFill>
                          <a:latin typeface="Aptos"/>
                          <a:ea typeface="Aptos"/>
                          <a:cs typeface="Aptos"/>
                        </a:rPr>
                        <a:t>Call countdown(1)</a:t>
                      </a:r>
                    </a:p>
                  </a:txBody>
                  <a:tcPr marL="91440" marR="91440" marT="45720" marB="45720">
                    <a:lnR w="9525">
                      <a:solidFill>
                        <a:srgbClr val="D5E1E7"/>
                      </a:solidFill>
                    </a:lnR>
                    <a:lnB w="9525">
                      <a:solidFill>
                        <a:srgbClr val="D5E1E7"/>
                      </a:solidFill>
                    </a:lnB>
                    <a:solidFill>
                      <a:srgbClr val="FFFFFF"/>
                    </a:solidFill>
                  </a:tcPr>
                </a:tc>
              </a:tr>
              <a:tr h="583406">
                <a:tc>
                  <a:txBody>
                    <a:bodyPr/>
                    <a:lstStyle/>
                    <a:p>
                      <a:r>
                        <a:rPr sz="2175" b="0">
                          <a:solidFill>
                            <a:srgbClr val="17354E"/>
                          </a:solidFill>
                          <a:latin typeface="Aptos"/>
                          <a:ea typeface="Aptos"/>
                          <a:cs typeface="Aptos"/>
                        </a:rPr>
                        <a:t>countdown(1)</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2175" b="0">
                          <a:solidFill>
                            <a:srgbClr val="17354E"/>
                          </a:solidFill>
                          <a:latin typeface="Aptos"/>
                          <a:ea typeface="Aptos"/>
                          <a:cs typeface="Aptos"/>
                        </a:rPr>
                        <a:t>Print 1</a:t>
                      </a:r>
                    </a:p>
                  </a:txBody>
                  <a:tcPr marL="91440" marR="91440" marT="45720" marB="45720">
                    <a:lnR w="9525">
                      <a:solidFill>
                        <a:srgbClr val="D5E1E7"/>
                      </a:solidFill>
                    </a:lnR>
                    <a:lnB w="9525">
                      <a:solidFill>
                        <a:srgbClr val="D5E1E7"/>
                      </a:solidFill>
                    </a:lnB>
                    <a:solidFill>
                      <a:srgbClr val="EFF5F7"/>
                    </a:solidFill>
                  </a:tcPr>
                </a:tc>
                <a:tc>
                  <a:txBody>
                    <a:bodyPr/>
                    <a:lstStyle/>
                    <a:p>
                      <a:r>
                        <a:rPr sz="2175" b="0">
                          <a:solidFill>
                            <a:srgbClr val="17354E"/>
                          </a:solidFill>
                          <a:latin typeface="Aptos"/>
                          <a:ea typeface="Aptos"/>
                          <a:cs typeface="Aptos"/>
                        </a:rPr>
                        <a:t>Return without another call</a:t>
                      </a:r>
                    </a:p>
                  </a:txBody>
                  <a:tcPr marL="91440" marR="91440" marT="45720" marB="45720">
                    <a:lnR w="9525">
                      <a:solidFill>
                        <a:srgbClr val="D5E1E7"/>
                      </a:solidFill>
                    </a:lnR>
                    <a:lnB w="9525">
                      <a:solidFill>
                        <a:srgbClr val="D5E1E7"/>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3039BF01-1970-402A-88F3-8F4E98901425}"/>
              </a:ext>
            </a:extLst>
          </p:cNvPr>
          <p:cNvSpPr>
            <a:spLocks xmlns:a="http://schemas.openxmlformats.org/drawingml/2006/main" noGrp="1"/>
          </p:cNvSpPr>
          <p:nvPr/>
        </p:nvSpPr>
        <p:spPr>
          <a:xfrm xmlns:a="http://schemas.openxmlformats.org/drawingml/2006/main">
            <a:off x="533400" y="497205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7354E"/>
                </a:solidFill>
                <a:latin typeface="Aptos"/>
                <a:ea typeface="Aptos"/>
                <a:cs typeface="Aptos"/>
              </a:defRPr>
            </a:defPPr>
            <a:lvl1pPr>
              <a:buNone/>
              <a:defRPr sz="2175" b="0">
                <a:solidFill>
                  <a:srgbClr val="17354E"/>
                </a:solidFill>
                <a:latin typeface="Aptos"/>
                <a:ea typeface="Aptos"/>
                <a:cs typeface="Aptos"/>
              </a:defRPr>
            </a:lvl1pPr>
            <a:lvl2pPr>
              <a:buNone/>
              <a:defRPr sz="2175" b="0">
                <a:solidFill>
                  <a:srgbClr val="17354E"/>
                </a:solidFill>
                <a:latin typeface="Aptos"/>
                <a:ea typeface="Aptos"/>
                <a:cs typeface="Aptos"/>
              </a:defRPr>
            </a:lvl2pPr>
            <a:lvl3pPr>
              <a:buNone/>
              <a:defRPr sz="2175" b="0">
                <a:solidFill>
                  <a:srgbClr val="17354E"/>
                </a:solidFill>
                <a:latin typeface="Aptos"/>
                <a:ea typeface="Aptos"/>
                <a:cs typeface="Aptos"/>
              </a:defRPr>
            </a:lvl3pPr>
            <a:lvl4pPr>
              <a:buNone/>
              <a:defRPr sz="2175" b="0">
                <a:solidFill>
                  <a:srgbClr val="17354E"/>
                </a:solidFill>
                <a:latin typeface="Aptos"/>
                <a:ea typeface="Aptos"/>
                <a:cs typeface="Aptos"/>
              </a:defRPr>
            </a:lvl4pPr>
            <a:lvl5pPr>
              <a:buNone/>
              <a:defRPr sz="2175" b="0">
                <a:solidFill>
                  <a:srgbClr val="17354E"/>
                </a:solidFill>
                <a:latin typeface="Aptos"/>
                <a:ea typeface="Aptos"/>
                <a:cs typeface="Aptos"/>
              </a:defRPr>
            </a:lvl5pPr>
            <a:lvl6pPr>
              <a:buNone/>
              <a:defRPr sz="2175" b="0">
                <a:solidFill>
                  <a:srgbClr val="17354E"/>
                </a:solidFill>
                <a:latin typeface="Aptos"/>
                <a:ea typeface="Aptos"/>
                <a:cs typeface="Aptos"/>
              </a:defRPr>
            </a:lvl6pPr>
            <a:lvl7pPr>
              <a:buNone/>
              <a:defRPr sz="2175" b="0">
                <a:solidFill>
                  <a:srgbClr val="17354E"/>
                </a:solidFill>
                <a:latin typeface="Aptos"/>
                <a:ea typeface="Aptos"/>
                <a:cs typeface="Aptos"/>
              </a:defRPr>
            </a:lvl7pPr>
            <a:lvl8pPr>
              <a:buNone/>
              <a:defRPr sz="2175" b="0">
                <a:solidFill>
                  <a:srgbClr val="17354E"/>
                </a:solidFill>
                <a:latin typeface="Aptos"/>
                <a:ea typeface="Aptos"/>
                <a:cs typeface="Aptos"/>
              </a:defRPr>
            </a:lvl8pPr>
            <a:lvl9pPr>
              <a:buNone/>
              <a:defRPr sz="2175" b="0">
                <a:solidFill>
                  <a:srgbClr val="17354E"/>
                </a:solidFill>
                <a:latin typeface="Aptos"/>
                <a:ea typeface="Aptos"/>
                <a:cs typeface="Aptos"/>
              </a:defRPr>
            </a:lvl9pPr>
          </a:lstStyle>
          <a:p xmlns:a="http://schemas.openxmlformats.org/drawingml/2006/main">
            <a:pPr>
              <a:buNone/>
              <a:defRPr sz="2175" b="0">
                <a:solidFill>
                  <a:srgbClr val="17354E"/>
                </a:solidFill>
                <a:latin typeface="Aptos"/>
                <a:ea typeface="Aptos"/>
                <a:cs typeface="Aptos"/>
              </a:defRPr>
            </a:pPr>
            <a:r>
              <a:rPr sz="2175" b="0">
                <a:solidFill>
                  <a:srgbClr val="17354E"/>
                </a:solidFill>
                <a:latin typeface="Aptos"/>
                <a:ea typeface="Aptos"/>
                <a:cs typeface="Aptos"/>
              </a:rPr>
              <a:t>Return order: countdown(1), countdown(2), countdown(3)</a:t>
            </a:r>
          </a:p>
        </p:txBody>
      </p:sp>
      <p:sp>
        <p:nvSpPr>
          <p:cNvPr id="6" name="">
            <a:extLst xmlns:a="http://schemas.openxmlformats.org/drawingml/2006/main">
              <a:ext uri="{FF2B5EF4-FFF2-40B4-BE49-F238E27FC236}">
                <a16:creationId xmlns:a16="http://schemas.microsoft.com/office/drawing/2014/main" id="{73131037-91E5-481C-8CD2-91B02ACA01CE}"/>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Each call keeps its place until the smaller call finishes.</a:t>
            </a:r>
          </a:p>
        </p:txBody>
      </p:sp>
      <p:sp>
        <p:nvSpPr>
          <p:cNvPr id="8" name="local-java-Countdown">
            <a:extLst xmlns:a="http://schemas.openxmlformats.org/drawingml/2006/main">
              <a:ext uri="{FF2B5EF4-FFF2-40B4-BE49-F238E27FC236}">
                <a16:creationId xmlns:a16="http://schemas.microsoft.com/office/drawing/2014/main" id="{CE6BB158-7D35-400F-8F0F-99A444291E95}"/>
              </a:ext>
            </a:extLst>
          </p:cNvPr>
          <p:cNvSpPr>
            <a:spLocks xmlns:a="http://schemas.openxmlformats.org/drawingml/2006/main" noGrp="1"/>
          </p:cNvSpPr>
          <p:nvPr/>
        </p:nvSpPr>
        <p:spPr>
          <a:xfrm xmlns:a="http://schemas.openxmlformats.org/drawingml/2006/main">
            <a:off x="5143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b0c80f584ed240f1"/>
              </a:rPr>
              <a:t>Java: Countdown.java</a:t>
            </a:r>
          </a:p>
        </p:txBody>
      </p:sp>
    </p:spTree>
    <p:extLst>
      <p:ext uri="{BB962C8B-B14F-4D97-AF65-F5344CB8AC3E}">
        <p14:creationId xmlns:p14="http://schemas.microsoft.com/office/powerpoint/2010/main" val="19954822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B13F12-6B66-4C3B-89E1-92F5736988F9}"/>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Why recursion terminates</a:t>
            </a:r>
          </a:p>
        </p:txBody>
      </p:sp>
      <p:sp>
        <p:nvSpPr>
          <p:cNvPr id="2" name="">
            <a:extLst xmlns:a="http://schemas.openxmlformats.org/drawingml/2006/main">
              <a:ext uri="{FF2B5EF4-FFF2-40B4-BE49-F238E27FC236}">
                <a16:creationId xmlns:a16="http://schemas.microsoft.com/office/drawing/2014/main" id="{BB8F772B-A70F-46E2-BC10-0CDDD8664C48}"/>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The base case and progress rule must work together for every valid input.</a:t>
            </a:r>
          </a:p>
        </p:txBody>
      </p:sp>
      <p:sp>
        <p:nvSpPr>
          <p:cNvPr id="3" name="">
            <a:extLst xmlns:a="http://schemas.openxmlformats.org/drawingml/2006/main">
              <a:ext uri="{FF2B5EF4-FFF2-40B4-BE49-F238E27FC236}">
                <a16:creationId xmlns:a16="http://schemas.microsoft.com/office/drawing/2014/main" id="{636239BD-54C9-454B-8C75-6D58D8E632B1}"/>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07</a:t>
            </a:r>
          </a:p>
        </p:txBody>
      </p:sp>
      <p:graphicFrame>
        <p:nvGraphicFramePr>
          <p:cNvPr id="4" name="">
            <a:extLst xmlns:a="http://schemas.openxmlformats.org/drawingml/2006/main">
              <a:ext uri="{FF2B5EF4-FFF2-40B4-BE49-F238E27FC236}">
                <a16:creationId xmlns:a16="http://schemas.microsoft.com/office/drawing/2014/main" id="{76569DB7-F2F4-4F2C-84DE-92CA9A8DBD38}"/>
              </a:ext>
            </a:extLst>
          </p:cNvPr>
          <p:cNvGraphicFramePr/>
          <p:nvPr/>
        </p:nvGraphicFramePr>
        <p:xfrm>
          <a:off xmlns:a="http://schemas.openxmlformats.org/drawingml/2006/main" x="533400" y="2076450"/>
          <a:ext xmlns:a="http://schemas.openxmlformats.org/drawingml/2006/main" cx="11125200" cy="2952750"/>
        </p:xfrm>
        <a:graphic xmlns:a="http://schemas.openxmlformats.org/drawingml/2006/main">
          <a:graphicData uri="http://schemas.openxmlformats.org/drawingml/2006/table">
            <a:tbl>
              <a:tblPr/>
              <a:tblGrid>
                <a:gridCol w="2667000"/>
                <a:gridCol w="4762500"/>
                <a:gridCol w="3695700"/>
              </a:tblGrid>
              <a:tr h="590550">
                <a:tc>
                  <a:txBody>
                    <a:bodyPr/>
                    <a:lstStyle/>
                    <a:p>
                      <a:r>
                        <a:rPr sz="2025" b="1">
                          <a:solidFill>
                            <a:srgbClr val="FFFFFF"/>
                          </a:solidFill>
                          <a:latin typeface="Aptos"/>
                          <a:ea typeface="Aptos"/>
                          <a:cs typeface="Aptos"/>
                        </a:rPr>
                        <a:t>Example</a:t>
                      </a:r>
                    </a:p>
                  </a:txBody>
                  <a:tcPr marL="91440" marR="91440" marT="45720" marB="45720">
                    <a:lnL w="9525">
                      <a:solidFill>
                        <a:srgbClr val="D5E1E7"/>
                      </a:solidFill>
                    </a:lnL>
                    <a:lnR w="9525">
                      <a:solidFill>
                        <a:srgbClr val="D5E1E7"/>
                      </a:solidFill>
                    </a:lnR>
                    <a:lnT w="9525">
                      <a:solidFill>
                        <a:srgbClr val="D5E1E7"/>
                      </a:solidFill>
                    </a:lnT>
                    <a:lnB w="9525">
                      <a:solidFill>
                        <a:srgbClr val="D5E1E7"/>
                      </a:solidFill>
                    </a:lnB>
                    <a:solidFill>
                      <a:srgbClr val="17354E"/>
                    </a:solidFill>
                  </a:tcPr>
                </a:tc>
                <a:tc>
                  <a:txBody>
                    <a:bodyPr/>
                    <a:lstStyle/>
                    <a:p>
                      <a:r>
                        <a:rPr sz="2025" b="1">
                          <a:solidFill>
                            <a:srgbClr val="FFFFFF"/>
                          </a:solidFill>
                          <a:latin typeface="Aptos"/>
                          <a:ea typeface="Aptos"/>
                          <a:cs typeface="Aptos"/>
                        </a:rPr>
                        <a:t>Quantity that gets smaller</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c>
                  <a:txBody>
                    <a:bodyPr/>
                    <a:lstStyle/>
                    <a:p>
                      <a:r>
                        <a:rPr sz="2025" b="1">
                          <a:solidFill>
                            <a:srgbClr val="FFFFFF"/>
                          </a:solidFill>
                          <a:latin typeface="Aptos"/>
                          <a:ea typeface="Aptos"/>
                          <a:cs typeface="Aptos"/>
                        </a:rPr>
                        <a:t>Stopping condition</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r>
              <a:tr h="590550">
                <a:tc>
                  <a:txBody>
                    <a:bodyPr/>
                    <a:lstStyle/>
                    <a:p>
                      <a:r>
                        <a:rPr sz="2025" b="0">
                          <a:solidFill>
                            <a:srgbClr val="17354E"/>
                          </a:solidFill>
                          <a:latin typeface="Aptos"/>
                          <a:ea typeface="Aptos"/>
                          <a:cs typeface="Aptos"/>
                        </a:rPr>
                        <a:t>Countdown</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2025" b="0">
                          <a:solidFill>
                            <a:srgbClr val="17354E"/>
                          </a:solidFill>
                          <a:latin typeface="Aptos"/>
                          <a:ea typeface="Aptos"/>
                          <a:cs typeface="Aptos"/>
                        </a:rPr>
                        <a:t>Positive value n</a:t>
                      </a:r>
                    </a:p>
                  </a:txBody>
                  <a:tcPr marL="91440" marR="91440" marT="45720" marB="45720">
                    <a:lnR w="9525">
                      <a:solidFill>
                        <a:srgbClr val="D5E1E7"/>
                      </a:solidFill>
                    </a:lnR>
                    <a:lnB w="9525">
                      <a:solidFill>
                        <a:srgbClr val="D5E1E7"/>
                      </a:solidFill>
                    </a:lnB>
                    <a:solidFill>
                      <a:srgbClr val="EFF5F7"/>
                    </a:solidFill>
                  </a:tcPr>
                </a:tc>
                <a:tc>
                  <a:txBody>
                    <a:bodyPr/>
                    <a:lstStyle/>
                    <a:p>
                      <a:r>
                        <a:rPr sz="2025" b="0">
                          <a:solidFill>
                            <a:srgbClr val="17354E"/>
                          </a:solidFill>
                          <a:latin typeface="Aptos"/>
                          <a:ea typeface="Aptos"/>
                          <a:cs typeface="Aptos"/>
                        </a:rPr>
                        <a:t>n = 1</a:t>
                      </a:r>
                    </a:p>
                  </a:txBody>
                  <a:tcPr marL="91440" marR="91440" marT="45720" marB="45720">
                    <a:lnR w="9525">
                      <a:solidFill>
                        <a:srgbClr val="D5E1E7"/>
                      </a:solidFill>
                    </a:lnR>
                    <a:lnB w="9525">
                      <a:solidFill>
                        <a:srgbClr val="D5E1E7"/>
                      </a:solidFill>
                    </a:lnB>
                    <a:solidFill>
                      <a:srgbClr val="EFF5F7"/>
                    </a:solidFill>
                  </a:tcPr>
                </a:tc>
              </a:tr>
              <a:tr h="590550">
                <a:tc>
                  <a:txBody>
                    <a:bodyPr/>
                    <a:lstStyle/>
                    <a:p>
                      <a:r>
                        <a:rPr sz="2025" b="0">
                          <a:solidFill>
                            <a:srgbClr val="17354E"/>
                          </a:solidFill>
                          <a:latin typeface="Aptos"/>
                          <a:ea typeface="Aptos"/>
                          <a:cs typeface="Aptos"/>
                        </a:rPr>
                        <a:t>Binary search</a:t>
                      </a:r>
                    </a:p>
                  </a:txBody>
                  <a:tcPr marL="91440" marR="91440" marT="45720" marB="45720">
                    <a:lnL w="9525">
                      <a:solidFill>
                        <a:srgbClr val="D5E1E7"/>
                      </a:solidFill>
                    </a:lnL>
                    <a:lnR w="9525">
                      <a:solidFill>
                        <a:srgbClr val="D5E1E7"/>
                      </a:solidFill>
                    </a:lnR>
                    <a:lnB w="9525">
                      <a:solidFill>
                        <a:srgbClr val="D5E1E7"/>
                      </a:solidFill>
                    </a:lnB>
                    <a:solidFill>
                      <a:srgbClr val="FFFFFF"/>
                    </a:solidFill>
                  </a:tcPr>
                </a:tc>
                <a:tc>
                  <a:txBody>
                    <a:bodyPr/>
                    <a:lstStyle/>
                    <a:p>
                      <a:r>
                        <a:rPr sz="2025" b="0">
                          <a:solidFill>
                            <a:srgbClr val="17354E"/>
                          </a:solidFill>
                          <a:latin typeface="Aptos"/>
                          <a:ea typeface="Aptos"/>
                          <a:cs typeface="Aptos"/>
                        </a:rPr>
                        <a:t>Search interval length</a:t>
                      </a:r>
                    </a:p>
                  </a:txBody>
                  <a:tcPr marL="91440" marR="91440" marT="45720" marB="45720">
                    <a:lnR w="9525">
                      <a:solidFill>
                        <a:srgbClr val="D5E1E7"/>
                      </a:solidFill>
                    </a:lnR>
                    <a:lnB w="9525">
                      <a:solidFill>
                        <a:srgbClr val="D5E1E7"/>
                      </a:solidFill>
                    </a:lnB>
                    <a:solidFill>
                      <a:srgbClr val="FFFFFF"/>
                    </a:solidFill>
                  </a:tcPr>
                </a:tc>
                <a:tc>
                  <a:txBody>
                    <a:bodyPr/>
                    <a:lstStyle/>
                    <a:p>
                      <a:r>
                        <a:rPr sz="2025" b="0">
                          <a:solidFill>
                            <a:srgbClr val="17354E"/>
                          </a:solidFill>
                          <a:latin typeface="Aptos"/>
                          <a:ea typeface="Aptos"/>
                          <a:cs typeface="Aptos"/>
                        </a:rPr>
                        <a:t>Interval is empty</a:t>
                      </a:r>
                    </a:p>
                  </a:txBody>
                  <a:tcPr marL="91440" marR="91440" marT="45720" marB="45720">
                    <a:lnR w="9525">
                      <a:solidFill>
                        <a:srgbClr val="D5E1E7"/>
                      </a:solidFill>
                    </a:lnR>
                    <a:lnB w="9525">
                      <a:solidFill>
                        <a:srgbClr val="D5E1E7"/>
                      </a:solidFill>
                    </a:lnB>
                    <a:solidFill>
                      <a:srgbClr val="FFFFFF"/>
                    </a:solidFill>
                  </a:tcPr>
                </a:tc>
              </a:tr>
              <a:tr h="590550">
                <a:tc>
                  <a:txBody>
                    <a:bodyPr/>
                    <a:lstStyle/>
                    <a:p>
                      <a:r>
                        <a:rPr sz="2025" b="0">
                          <a:solidFill>
                            <a:srgbClr val="17354E"/>
                          </a:solidFill>
                          <a:latin typeface="Aptos"/>
                          <a:ea typeface="Aptos"/>
                          <a:cs typeface="Aptos"/>
                        </a:rPr>
                        <a:t>Hanoi</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2025" b="0">
                          <a:solidFill>
                            <a:srgbClr val="17354E"/>
                          </a:solidFill>
                          <a:latin typeface="Aptos"/>
                          <a:ea typeface="Aptos"/>
                          <a:cs typeface="Aptos"/>
                        </a:rPr>
                        <a:t>Number of disks</a:t>
                      </a:r>
                    </a:p>
                  </a:txBody>
                  <a:tcPr marL="91440" marR="91440" marT="45720" marB="45720">
                    <a:lnR w="9525">
                      <a:solidFill>
                        <a:srgbClr val="D5E1E7"/>
                      </a:solidFill>
                    </a:lnR>
                    <a:lnB w="9525">
                      <a:solidFill>
                        <a:srgbClr val="D5E1E7"/>
                      </a:solidFill>
                    </a:lnB>
                    <a:solidFill>
                      <a:srgbClr val="EFF5F7"/>
                    </a:solidFill>
                  </a:tcPr>
                </a:tc>
                <a:tc>
                  <a:txBody>
                    <a:bodyPr/>
                    <a:lstStyle/>
                    <a:p>
                      <a:r>
                        <a:rPr sz="2025" b="0">
                          <a:solidFill>
                            <a:srgbClr val="17354E"/>
                          </a:solidFill>
                          <a:latin typeface="Aptos"/>
                          <a:ea typeface="Aptos"/>
                          <a:cs typeface="Aptos"/>
                        </a:rPr>
                        <a:t>n = 0</a:t>
                      </a:r>
                    </a:p>
                  </a:txBody>
                  <a:tcPr marL="91440" marR="91440" marT="45720" marB="45720">
                    <a:lnR w="9525">
                      <a:solidFill>
                        <a:srgbClr val="D5E1E7"/>
                      </a:solidFill>
                    </a:lnR>
                    <a:lnB w="9525">
                      <a:solidFill>
                        <a:srgbClr val="D5E1E7"/>
                      </a:solidFill>
                    </a:lnB>
                    <a:solidFill>
                      <a:srgbClr val="EFF5F7"/>
                    </a:solidFill>
                  </a:tcPr>
                </a:tc>
              </a:tr>
              <a:tr h="590550">
                <a:tc>
                  <a:txBody>
                    <a:bodyPr/>
                    <a:lstStyle/>
                    <a:p>
                      <a:r>
                        <a:rPr sz="2025" b="0">
                          <a:solidFill>
                            <a:srgbClr val="17354E"/>
                          </a:solidFill>
                          <a:latin typeface="Aptos"/>
                          <a:ea typeface="Aptos"/>
                          <a:cs typeface="Aptos"/>
                        </a:rPr>
                        <a:t>Euclid’s GCD</a:t>
                      </a:r>
                    </a:p>
                  </a:txBody>
                  <a:tcPr marL="91440" marR="91440" marT="45720" marB="45720">
                    <a:lnL w="9525">
                      <a:solidFill>
                        <a:srgbClr val="D5E1E7"/>
                      </a:solidFill>
                    </a:lnL>
                    <a:lnR w="9525">
                      <a:solidFill>
                        <a:srgbClr val="D5E1E7"/>
                      </a:solidFill>
                    </a:lnR>
                    <a:lnB w="9525">
                      <a:solidFill>
                        <a:srgbClr val="D5E1E7"/>
                      </a:solidFill>
                    </a:lnB>
                    <a:solidFill>
                      <a:srgbClr val="FFFFFF"/>
                    </a:solidFill>
                  </a:tcPr>
                </a:tc>
                <a:tc>
                  <a:txBody>
                    <a:bodyPr/>
                    <a:lstStyle/>
                    <a:p>
                      <a:r>
                        <a:rPr sz="2025" b="0">
                          <a:solidFill>
                            <a:srgbClr val="17354E"/>
                          </a:solidFill>
                          <a:latin typeface="Aptos"/>
                          <a:ea typeface="Aptos"/>
                          <a:cs typeface="Aptos"/>
                        </a:rPr>
                        <a:t>Second nonnegative argument</a:t>
                      </a:r>
                    </a:p>
                  </a:txBody>
                  <a:tcPr marL="91440" marR="91440" marT="45720" marB="45720">
                    <a:lnR w="9525">
                      <a:solidFill>
                        <a:srgbClr val="D5E1E7"/>
                      </a:solidFill>
                    </a:lnR>
                    <a:lnB w="9525">
                      <a:solidFill>
                        <a:srgbClr val="D5E1E7"/>
                      </a:solidFill>
                    </a:lnB>
                    <a:solidFill>
                      <a:srgbClr val="FFFFFF"/>
                    </a:solidFill>
                  </a:tcPr>
                </a:tc>
                <a:tc>
                  <a:txBody>
                    <a:bodyPr/>
                    <a:lstStyle/>
                    <a:p>
                      <a:r>
                        <a:rPr sz="2025" b="0">
                          <a:solidFill>
                            <a:srgbClr val="17354E"/>
                          </a:solidFill>
                          <a:latin typeface="Aptos"/>
                          <a:ea typeface="Aptos"/>
                          <a:cs typeface="Aptos"/>
                        </a:rPr>
                        <a:t>Second argument is 0</a:t>
                      </a:r>
                    </a:p>
                  </a:txBody>
                  <a:tcPr marL="91440" marR="91440" marT="45720" marB="45720">
                    <a:lnR w="9525">
                      <a:solidFill>
                        <a:srgbClr val="D5E1E7"/>
                      </a:solidFill>
                    </a:lnR>
                    <a:lnB w="9525">
                      <a:solidFill>
                        <a:srgbClr val="D5E1E7"/>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B88EB2F-D873-4C10-B11C-87270FD696A5}"/>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A base case does not help if the recursive step never reaches it.</a:t>
            </a:r>
          </a:p>
        </p:txBody>
      </p:sp>
      <p:sp>
        <p:nvSpPr>
          <p:cNvPr id="7" name="local-java-Countdown">
            <a:extLst xmlns:a="http://schemas.openxmlformats.org/drawingml/2006/main">
              <a:ext uri="{FF2B5EF4-FFF2-40B4-BE49-F238E27FC236}">
                <a16:creationId xmlns:a16="http://schemas.microsoft.com/office/drawing/2014/main" id="{DDDB8C9B-7275-4338-903B-63E0BB39D472}"/>
              </a:ext>
            </a:extLst>
          </p:cNvPr>
          <p:cNvSpPr>
            <a:spLocks xmlns:a="http://schemas.openxmlformats.org/drawingml/2006/main" noGrp="1"/>
          </p:cNvSpPr>
          <p:nvPr/>
        </p:nvSpPr>
        <p:spPr>
          <a:xfrm xmlns:a="http://schemas.openxmlformats.org/drawingml/2006/main">
            <a:off x="5143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e9119c8a7d8a4634"/>
              </a:rPr>
              <a:t>Java: Countdown.java</a:t>
            </a:r>
          </a:p>
        </p:txBody>
      </p:sp>
    </p:spTree>
    <p:extLst>
      <p:ext uri="{BB962C8B-B14F-4D97-AF65-F5344CB8AC3E}">
        <p14:creationId xmlns:p14="http://schemas.microsoft.com/office/powerpoint/2010/main" val="84914520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8FBED7-D03C-4739-854F-D8C8EFB2D2C0}"/>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Countdown in Java</a:t>
            </a:r>
          </a:p>
        </p:txBody>
      </p:sp>
      <p:sp>
        <p:nvSpPr>
          <p:cNvPr id="2" name="">
            <a:extLst xmlns:a="http://schemas.openxmlformats.org/drawingml/2006/main">
              <a:ext uri="{FF2B5EF4-FFF2-40B4-BE49-F238E27FC236}">
                <a16:creationId xmlns:a16="http://schemas.microsoft.com/office/drawing/2014/main" id="{902BA5F5-9AB0-4C69-8EF8-5A3EAD56FA6F}"/>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Input: n ≥ 1. The method prints n down through 1.</a:t>
            </a:r>
          </a:p>
        </p:txBody>
      </p:sp>
      <p:sp>
        <p:nvSpPr>
          <p:cNvPr id="3" name="">
            <a:extLst xmlns:a="http://schemas.openxmlformats.org/drawingml/2006/main">
              <a:ext uri="{FF2B5EF4-FFF2-40B4-BE49-F238E27FC236}">
                <a16:creationId xmlns:a16="http://schemas.microsoft.com/office/drawing/2014/main" id="{C687AE8B-5E5C-4726-9ECD-F98D8D2F2EAA}"/>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08</a:t>
            </a:r>
          </a:p>
        </p:txBody>
      </p:sp>
      <p:sp>
        <p:nvSpPr>
          <p:cNvPr id="4" name="">
            <a:extLst xmlns:a="http://schemas.openxmlformats.org/drawingml/2006/main">
              <a:ext uri="{FF2B5EF4-FFF2-40B4-BE49-F238E27FC236}">
                <a16:creationId xmlns:a16="http://schemas.microsoft.com/office/drawing/2014/main" id="{5CFDBDC0-3E37-4548-8AAB-3409CA99E4F2}"/>
              </a:ext>
            </a:extLst>
          </p:cNvPr>
          <p:cNvSpPr>
            <a:spLocks xmlns:a="http://schemas.openxmlformats.org/drawingml/2006/main" noGrp="1"/>
          </p:cNvSpPr>
          <p:nvPr/>
        </p:nvSpPr>
        <p:spPr>
          <a:xfrm xmlns:a="http://schemas.openxmlformats.org/drawingml/2006/main">
            <a:off x="533400" y="2076450"/>
            <a:ext cx="111252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354E"/>
                </a:solidFill>
                <a:latin typeface="Consolas"/>
                <a:ea typeface="Consolas"/>
                <a:cs typeface="Consolas"/>
              </a:defRPr>
            </a:defPPr>
            <a:lvl1pPr>
              <a:buNone/>
              <a:defRPr sz="2100" b="0">
                <a:solidFill>
                  <a:srgbClr val="17354E"/>
                </a:solidFill>
                <a:latin typeface="Consolas"/>
                <a:ea typeface="Consolas"/>
                <a:cs typeface="Consolas"/>
              </a:defRPr>
            </a:lvl1pPr>
            <a:lvl2pPr>
              <a:buNone/>
              <a:defRPr sz="2100" b="0">
                <a:solidFill>
                  <a:srgbClr val="17354E"/>
                </a:solidFill>
                <a:latin typeface="Consolas"/>
                <a:ea typeface="Consolas"/>
                <a:cs typeface="Consolas"/>
              </a:defRPr>
            </a:lvl2pPr>
            <a:lvl3pPr>
              <a:buNone/>
              <a:defRPr sz="2100" b="0">
                <a:solidFill>
                  <a:srgbClr val="17354E"/>
                </a:solidFill>
                <a:latin typeface="Consolas"/>
                <a:ea typeface="Consolas"/>
                <a:cs typeface="Consolas"/>
              </a:defRPr>
            </a:lvl3pPr>
            <a:lvl4pPr>
              <a:buNone/>
              <a:defRPr sz="2100" b="0">
                <a:solidFill>
                  <a:srgbClr val="17354E"/>
                </a:solidFill>
                <a:latin typeface="Consolas"/>
                <a:ea typeface="Consolas"/>
                <a:cs typeface="Consolas"/>
              </a:defRPr>
            </a:lvl4pPr>
            <a:lvl5pPr>
              <a:buNone/>
              <a:defRPr sz="2100" b="0">
                <a:solidFill>
                  <a:srgbClr val="17354E"/>
                </a:solidFill>
                <a:latin typeface="Consolas"/>
                <a:ea typeface="Consolas"/>
                <a:cs typeface="Consolas"/>
              </a:defRPr>
            </a:lvl5pPr>
            <a:lvl6pPr>
              <a:buNone/>
              <a:defRPr sz="2100" b="0">
                <a:solidFill>
                  <a:srgbClr val="17354E"/>
                </a:solidFill>
                <a:latin typeface="Consolas"/>
                <a:ea typeface="Consolas"/>
                <a:cs typeface="Consolas"/>
              </a:defRPr>
            </a:lvl6pPr>
            <a:lvl7pPr>
              <a:buNone/>
              <a:defRPr sz="2100" b="0">
                <a:solidFill>
                  <a:srgbClr val="17354E"/>
                </a:solidFill>
                <a:latin typeface="Consolas"/>
                <a:ea typeface="Consolas"/>
                <a:cs typeface="Consolas"/>
              </a:defRPr>
            </a:lvl7pPr>
            <a:lvl8pPr>
              <a:buNone/>
              <a:defRPr sz="2100" b="0">
                <a:solidFill>
                  <a:srgbClr val="17354E"/>
                </a:solidFill>
                <a:latin typeface="Consolas"/>
                <a:ea typeface="Consolas"/>
                <a:cs typeface="Consolas"/>
              </a:defRPr>
            </a:lvl8pPr>
            <a:lvl9pPr>
              <a:buNone/>
              <a:defRPr sz="2100" b="0">
                <a:solidFill>
                  <a:srgbClr val="17354E"/>
                </a:solidFill>
                <a:latin typeface="Consolas"/>
                <a:ea typeface="Consolas"/>
                <a:cs typeface="Consolas"/>
              </a:defRPr>
            </a:lvl9pPr>
          </a:lstStyle>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static void countdown(int n) {</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if (n &lt; 1) throw new IllegalArgumentException();</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if (n == 1) {</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System.out.println(1);</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return;</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System.out.println(n);</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countdown(n - 1);</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1C7D0C26-B0C5-477F-9E87-CDC2504E488B}"/>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Time O(n). Maximum call-stack space O(n).</a:t>
            </a:r>
          </a:p>
        </p:txBody>
      </p:sp>
      <p:sp>
        <p:nvSpPr>
          <p:cNvPr id="7" name="local-java-Countdown">
            <a:extLst xmlns:a="http://schemas.openxmlformats.org/drawingml/2006/main">
              <a:ext uri="{FF2B5EF4-FFF2-40B4-BE49-F238E27FC236}">
                <a16:creationId xmlns:a16="http://schemas.microsoft.com/office/drawing/2014/main" id="{B701B0F8-DD3C-4FAE-8E02-2749981576AD}"/>
              </a:ext>
            </a:extLst>
          </p:cNvPr>
          <p:cNvSpPr>
            <a:spLocks xmlns:a="http://schemas.openxmlformats.org/drawingml/2006/main" noGrp="1"/>
          </p:cNvSpPr>
          <p:nvPr/>
        </p:nvSpPr>
        <p:spPr>
          <a:xfrm xmlns:a="http://schemas.openxmlformats.org/drawingml/2006/main">
            <a:off x="5143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e782e3e8ed2a4152"/>
              </a:rPr>
              <a:t>Java: Countdown.java</a:t>
            </a:r>
          </a:p>
        </p:txBody>
      </p:sp>
    </p:spTree>
    <p:extLst>
      <p:ext uri="{BB962C8B-B14F-4D97-AF65-F5344CB8AC3E}">
        <p14:creationId xmlns:p14="http://schemas.microsoft.com/office/powerpoint/2010/main" val="6427043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7F8FEA-DCEF-4325-A4E0-1B142D61D5DB}"/>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Factorial returns a value</a:t>
            </a:r>
          </a:p>
        </p:txBody>
      </p:sp>
      <p:sp>
        <p:nvSpPr>
          <p:cNvPr id="2" name="">
            <a:extLst xmlns:a="http://schemas.openxmlformats.org/drawingml/2006/main">
              <a:ext uri="{FF2B5EF4-FFF2-40B4-BE49-F238E27FC236}">
                <a16:creationId xmlns:a16="http://schemas.microsoft.com/office/drawing/2014/main" id="{B5D05307-F136-4E82-B088-BA26182265C2}"/>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0! = 1. For n &gt; 0, n! = n × (n − 1)!</a:t>
            </a:r>
          </a:p>
        </p:txBody>
      </p:sp>
      <p:sp>
        <p:nvSpPr>
          <p:cNvPr id="3" name="">
            <a:extLst xmlns:a="http://schemas.openxmlformats.org/drawingml/2006/main">
              <a:ext uri="{FF2B5EF4-FFF2-40B4-BE49-F238E27FC236}">
                <a16:creationId xmlns:a16="http://schemas.microsoft.com/office/drawing/2014/main" id="{88CB9A85-A9BC-4208-84A6-D8D8CD471FE2}"/>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09</a:t>
            </a:r>
          </a:p>
        </p:txBody>
      </p:sp>
      <p:sp>
        <p:nvSpPr>
          <p:cNvPr id="4" name="">
            <a:extLst xmlns:a="http://schemas.openxmlformats.org/drawingml/2006/main">
              <a:ext uri="{FF2B5EF4-FFF2-40B4-BE49-F238E27FC236}">
                <a16:creationId xmlns:a16="http://schemas.microsoft.com/office/drawing/2014/main" id="{89028F4C-F6C8-460B-9C6F-2AC3BDF75AEC}"/>
              </a:ext>
            </a:extLst>
          </p:cNvPr>
          <p:cNvSpPr>
            <a:spLocks xmlns:a="http://schemas.openxmlformats.org/drawingml/2006/main" noGrp="1"/>
          </p:cNvSpPr>
          <p:nvPr/>
        </p:nvSpPr>
        <p:spPr>
          <a:xfrm xmlns:a="http://schemas.openxmlformats.org/drawingml/2006/main">
            <a:off x="533400" y="2238375"/>
            <a:ext cx="111252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354E"/>
                </a:solidFill>
                <a:latin typeface="Consolas"/>
                <a:ea typeface="Consolas"/>
                <a:cs typeface="Consolas"/>
              </a:defRPr>
            </a:defPPr>
            <a:lvl1pPr>
              <a:buNone/>
              <a:defRPr sz="2250" b="0">
                <a:solidFill>
                  <a:srgbClr val="17354E"/>
                </a:solidFill>
                <a:latin typeface="Consolas"/>
                <a:ea typeface="Consolas"/>
                <a:cs typeface="Consolas"/>
              </a:defRPr>
            </a:lvl1pPr>
            <a:lvl2pPr>
              <a:buNone/>
              <a:defRPr sz="2250" b="0">
                <a:solidFill>
                  <a:srgbClr val="17354E"/>
                </a:solidFill>
                <a:latin typeface="Consolas"/>
                <a:ea typeface="Consolas"/>
                <a:cs typeface="Consolas"/>
              </a:defRPr>
            </a:lvl2pPr>
            <a:lvl3pPr>
              <a:buNone/>
              <a:defRPr sz="2250" b="0">
                <a:solidFill>
                  <a:srgbClr val="17354E"/>
                </a:solidFill>
                <a:latin typeface="Consolas"/>
                <a:ea typeface="Consolas"/>
                <a:cs typeface="Consolas"/>
              </a:defRPr>
            </a:lvl3pPr>
            <a:lvl4pPr>
              <a:buNone/>
              <a:defRPr sz="2250" b="0">
                <a:solidFill>
                  <a:srgbClr val="17354E"/>
                </a:solidFill>
                <a:latin typeface="Consolas"/>
                <a:ea typeface="Consolas"/>
                <a:cs typeface="Consolas"/>
              </a:defRPr>
            </a:lvl4pPr>
            <a:lvl5pPr>
              <a:buNone/>
              <a:defRPr sz="2250" b="0">
                <a:solidFill>
                  <a:srgbClr val="17354E"/>
                </a:solidFill>
                <a:latin typeface="Consolas"/>
                <a:ea typeface="Consolas"/>
                <a:cs typeface="Consolas"/>
              </a:defRPr>
            </a:lvl5pPr>
            <a:lvl6pPr>
              <a:buNone/>
              <a:defRPr sz="2250" b="0">
                <a:solidFill>
                  <a:srgbClr val="17354E"/>
                </a:solidFill>
                <a:latin typeface="Consolas"/>
                <a:ea typeface="Consolas"/>
                <a:cs typeface="Consolas"/>
              </a:defRPr>
            </a:lvl6pPr>
            <a:lvl7pPr>
              <a:buNone/>
              <a:defRPr sz="2250" b="0">
                <a:solidFill>
                  <a:srgbClr val="17354E"/>
                </a:solidFill>
                <a:latin typeface="Consolas"/>
                <a:ea typeface="Consolas"/>
                <a:cs typeface="Consolas"/>
              </a:defRPr>
            </a:lvl7pPr>
            <a:lvl8pPr>
              <a:buNone/>
              <a:defRPr sz="2250" b="0">
                <a:solidFill>
                  <a:srgbClr val="17354E"/>
                </a:solidFill>
                <a:latin typeface="Consolas"/>
                <a:ea typeface="Consolas"/>
                <a:cs typeface="Consolas"/>
              </a:defRPr>
            </a:lvl8pPr>
            <a:lvl9pPr>
              <a:buNone/>
              <a:defRPr sz="2250" b="0">
                <a:solidFill>
                  <a:srgbClr val="17354E"/>
                </a:solidFill>
                <a:latin typeface="Consolas"/>
                <a:ea typeface="Consolas"/>
                <a:cs typeface="Consolas"/>
              </a:defRPr>
            </a:lvl9pPr>
          </a:lstStyle>
          <a:p xmlns:a="http://schemas.openxmlformats.org/drawingml/2006/main">
            <a:pPr>
              <a:buNone/>
              <a:defRPr sz="2250" b="0">
                <a:solidFill>
                  <a:srgbClr val="17354E"/>
                </a:solidFill>
                <a:latin typeface="Consolas"/>
                <a:ea typeface="Consolas"/>
                <a:cs typeface="Consolas"/>
              </a:defRPr>
            </a:pPr>
            <a:r>
              <a:rPr sz="2250" b="0">
                <a:solidFill>
                  <a:srgbClr val="17354E"/>
                </a:solidFill>
                <a:latin typeface="Consolas"/>
                <a:ea typeface="Consolas"/>
                <a:cs typeface="Consolas"/>
              </a:rPr>
              <a:t>static long factorial(int n) {</a:t>
            </a:r>
          </a:p>
          <a:p xmlns:a="http://schemas.openxmlformats.org/drawingml/2006/main">
            <a:pPr>
              <a:buNone/>
              <a:defRPr sz="2250" b="0">
                <a:solidFill>
                  <a:srgbClr val="17354E"/>
                </a:solidFill>
                <a:latin typeface="Consolas"/>
                <a:ea typeface="Consolas"/>
                <a:cs typeface="Consolas"/>
              </a:defRPr>
            </a:pPr>
            <a:r>
              <a:rPr sz="2250" b="0">
                <a:solidFill>
                  <a:srgbClr val="17354E"/>
                </a:solidFill>
                <a:latin typeface="Consolas"/>
                <a:ea typeface="Consolas"/>
                <a:cs typeface="Consolas"/>
              </a:rPr>
              <a:t>    if (n &lt; 0 || n &gt; 20)</a:t>
            </a:r>
          </a:p>
          <a:p xmlns:a="http://schemas.openxmlformats.org/drawingml/2006/main">
            <a:pPr>
              <a:buNone/>
              <a:defRPr sz="2250" b="0">
                <a:solidFill>
                  <a:srgbClr val="17354E"/>
                </a:solidFill>
                <a:latin typeface="Consolas"/>
                <a:ea typeface="Consolas"/>
                <a:cs typeface="Consolas"/>
              </a:defRPr>
            </a:pPr>
            <a:r>
              <a:rPr sz="2250" b="0">
                <a:solidFill>
                  <a:srgbClr val="17354E"/>
                </a:solidFill>
                <a:latin typeface="Consolas"/>
                <a:ea typeface="Consolas"/>
                <a:cs typeface="Consolas"/>
              </a:rPr>
              <a:t>        throw new IllegalArgumentException();</a:t>
            </a:r>
          </a:p>
          <a:p xmlns:a="http://schemas.openxmlformats.org/drawingml/2006/main">
            <a:pPr>
              <a:buNone/>
              <a:defRPr sz="2250" b="0">
                <a:solidFill>
                  <a:srgbClr val="17354E"/>
                </a:solidFill>
                <a:latin typeface="Consolas"/>
                <a:ea typeface="Consolas"/>
                <a:cs typeface="Consolas"/>
              </a:defRPr>
            </a:pPr>
            <a:r>
              <a:rPr sz="2250" b="0">
                <a:solidFill>
                  <a:srgbClr val="17354E"/>
                </a:solidFill>
                <a:latin typeface="Consolas"/>
                <a:ea typeface="Consolas"/>
                <a:cs typeface="Consolas"/>
              </a:rPr>
              <a:t>    if (n == 0) return 1;</a:t>
            </a:r>
          </a:p>
          <a:p xmlns:a="http://schemas.openxmlformats.org/drawingml/2006/main">
            <a:pPr>
              <a:buNone/>
              <a:defRPr sz="2250" b="0">
                <a:solidFill>
                  <a:srgbClr val="17354E"/>
                </a:solidFill>
                <a:latin typeface="Consolas"/>
                <a:ea typeface="Consolas"/>
                <a:cs typeface="Consolas"/>
              </a:defRPr>
            </a:pPr>
            <a:r>
              <a:rPr sz="2250" b="0">
                <a:solidFill>
                  <a:srgbClr val="17354E"/>
                </a:solidFill>
                <a:latin typeface="Consolas"/>
                <a:ea typeface="Consolas"/>
                <a:cs typeface="Consolas"/>
              </a:rPr>
              <a:t>    return n * factorial(n - 1);</a:t>
            </a:r>
          </a:p>
          <a:p xmlns:a="http://schemas.openxmlformats.org/drawingml/2006/main">
            <a:pPr>
              <a:buNone/>
              <a:defRPr sz="2250" b="0">
                <a:solidFill>
                  <a:srgbClr val="17354E"/>
                </a:solidFill>
                <a:latin typeface="Consolas"/>
                <a:ea typeface="Consolas"/>
                <a:cs typeface="Consolas"/>
              </a:defRPr>
            </a:pPr>
            <a:r>
              <a:rPr sz="2250" b="0">
                <a:solidFill>
                  <a:srgbClr val="17354E"/>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24A8284D-15AE-485E-918E-D091FDB265D4}"/>
              </a:ext>
            </a:extLst>
          </p:cNvPr>
          <p:cNvSpPr>
            <a:spLocks xmlns:a="http://schemas.openxmlformats.org/drawingml/2006/main" noGrp="1"/>
          </p:cNvSpPr>
          <p:nvPr/>
        </p:nvSpPr>
        <p:spPr>
          <a:xfrm xmlns:a="http://schemas.openxmlformats.org/drawingml/2006/main">
            <a:off x="533400" y="490537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7354E"/>
                </a:solidFill>
                <a:latin typeface="Aptos"/>
                <a:ea typeface="Aptos"/>
                <a:cs typeface="Aptos"/>
              </a:defRPr>
            </a:defPPr>
            <a:lvl1pPr>
              <a:buNone/>
              <a:defRPr sz="2400" b="1">
                <a:solidFill>
                  <a:srgbClr val="17354E"/>
                </a:solidFill>
                <a:latin typeface="Aptos"/>
                <a:ea typeface="Aptos"/>
                <a:cs typeface="Aptos"/>
              </a:defRPr>
            </a:lvl1pPr>
            <a:lvl2pPr>
              <a:buNone/>
              <a:defRPr sz="2400" b="1">
                <a:solidFill>
                  <a:srgbClr val="17354E"/>
                </a:solidFill>
                <a:latin typeface="Aptos"/>
                <a:ea typeface="Aptos"/>
                <a:cs typeface="Aptos"/>
              </a:defRPr>
            </a:lvl2pPr>
            <a:lvl3pPr>
              <a:buNone/>
              <a:defRPr sz="2400" b="1">
                <a:solidFill>
                  <a:srgbClr val="17354E"/>
                </a:solidFill>
                <a:latin typeface="Aptos"/>
                <a:ea typeface="Aptos"/>
                <a:cs typeface="Aptos"/>
              </a:defRPr>
            </a:lvl3pPr>
            <a:lvl4pPr>
              <a:buNone/>
              <a:defRPr sz="2400" b="1">
                <a:solidFill>
                  <a:srgbClr val="17354E"/>
                </a:solidFill>
                <a:latin typeface="Aptos"/>
                <a:ea typeface="Aptos"/>
                <a:cs typeface="Aptos"/>
              </a:defRPr>
            </a:lvl4pPr>
            <a:lvl5pPr>
              <a:buNone/>
              <a:defRPr sz="2400" b="1">
                <a:solidFill>
                  <a:srgbClr val="17354E"/>
                </a:solidFill>
                <a:latin typeface="Aptos"/>
                <a:ea typeface="Aptos"/>
                <a:cs typeface="Aptos"/>
              </a:defRPr>
            </a:lvl5pPr>
            <a:lvl6pPr>
              <a:buNone/>
              <a:defRPr sz="2400" b="1">
                <a:solidFill>
                  <a:srgbClr val="17354E"/>
                </a:solidFill>
                <a:latin typeface="Aptos"/>
                <a:ea typeface="Aptos"/>
                <a:cs typeface="Aptos"/>
              </a:defRPr>
            </a:lvl6pPr>
            <a:lvl7pPr>
              <a:buNone/>
              <a:defRPr sz="2400" b="1">
                <a:solidFill>
                  <a:srgbClr val="17354E"/>
                </a:solidFill>
                <a:latin typeface="Aptos"/>
                <a:ea typeface="Aptos"/>
                <a:cs typeface="Aptos"/>
              </a:defRPr>
            </a:lvl7pPr>
            <a:lvl8pPr>
              <a:buNone/>
              <a:defRPr sz="2400" b="1">
                <a:solidFill>
                  <a:srgbClr val="17354E"/>
                </a:solidFill>
                <a:latin typeface="Aptos"/>
                <a:ea typeface="Aptos"/>
                <a:cs typeface="Aptos"/>
              </a:defRPr>
            </a:lvl8pPr>
            <a:lvl9pPr>
              <a:buNone/>
              <a:defRPr sz="2400" b="1">
                <a:solidFill>
                  <a:srgbClr val="17354E"/>
                </a:solidFill>
                <a:latin typeface="Aptos"/>
                <a:ea typeface="Aptos"/>
                <a:cs typeface="Aptos"/>
              </a:defRPr>
            </a:lvl9pPr>
          </a:lstStyle>
          <a:p xmlns:a="http://schemas.openxmlformats.org/drawingml/2006/main">
            <a:pPr>
              <a:buNone/>
              <a:defRPr sz="2400" b="1">
                <a:solidFill>
                  <a:srgbClr val="17354E"/>
                </a:solidFill>
                <a:latin typeface="Aptos"/>
                <a:ea typeface="Aptos"/>
                <a:cs typeface="Aptos"/>
              </a:defRPr>
            </a:pPr>
            <a:r>
              <a:rPr sz="2400" b="1">
                <a:solidFill>
                  <a:srgbClr val="17354E"/>
                </a:solidFill>
                <a:latin typeface="Aptos"/>
                <a:ea typeface="Aptos"/>
                <a:cs typeface="Aptos"/>
              </a:rPr>
              <a:t>factorial(4) = 4 × 3 × 2 × 1 × 1 = 24</a:t>
            </a:r>
          </a:p>
        </p:txBody>
      </p:sp>
      <p:sp>
        <p:nvSpPr>
          <p:cNvPr id="6" name="">
            <a:extLst xmlns:a="http://schemas.openxmlformats.org/drawingml/2006/main">
              <a:ext uri="{FF2B5EF4-FFF2-40B4-BE49-F238E27FC236}">
                <a16:creationId xmlns:a16="http://schemas.microsoft.com/office/drawing/2014/main" id="{1188533A-A08A-4FFD-A0D9-82B0B6912030}"/>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Time O(n). Stack O(n). The pending multiplication happens on return.</a:t>
            </a:r>
          </a:p>
        </p:txBody>
      </p:sp>
      <p:sp>
        <p:nvSpPr>
          <p:cNvPr id="8" name="local-java-Factorial">
            <a:extLst xmlns:a="http://schemas.openxmlformats.org/drawingml/2006/main">
              <a:ext uri="{FF2B5EF4-FFF2-40B4-BE49-F238E27FC236}">
                <a16:creationId xmlns:a16="http://schemas.microsoft.com/office/drawing/2014/main" id="{1C0A011C-63DA-4569-BAA3-BCE82567389C}"/>
              </a:ext>
            </a:extLst>
          </p:cNvPr>
          <p:cNvSpPr>
            <a:spLocks xmlns:a="http://schemas.openxmlformats.org/drawingml/2006/main" noGrp="1"/>
          </p:cNvSpPr>
          <p:nvPr/>
        </p:nvSpPr>
        <p:spPr>
          <a:xfrm xmlns:a="http://schemas.openxmlformats.org/drawingml/2006/main">
            <a:off x="5143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8f27cd00f8fd45df"/>
              </a:rPr>
              <a:t>Java: Factorial.java</a:t>
            </a:r>
          </a:p>
        </p:txBody>
      </p:sp>
    </p:spTree>
    <p:extLst>
      <p:ext uri="{BB962C8B-B14F-4D97-AF65-F5344CB8AC3E}">
        <p14:creationId xmlns:p14="http://schemas.microsoft.com/office/powerpoint/2010/main" val="19998202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563F532-8B6B-4417-AAE1-51151DBAEF69}"/>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Writing a string backward</a:t>
            </a:r>
          </a:p>
        </p:txBody>
      </p:sp>
      <p:sp>
        <p:nvSpPr>
          <p:cNvPr id="2" name="">
            <a:extLst xmlns:a="http://schemas.openxmlformats.org/drawingml/2006/main">
              <a:ext uri="{FF2B5EF4-FFF2-40B4-BE49-F238E27FC236}">
                <a16:creationId xmlns:a16="http://schemas.microsoft.com/office/drawing/2014/main" id="{F7D7DFFE-DD46-4EFE-BF02-5895A9E76419}"/>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Print the last remaining character, then handle the shorter prefix.</a:t>
            </a:r>
          </a:p>
        </p:txBody>
      </p:sp>
      <p:sp>
        <p:nvSpPr>
          <p:cNvPr id="3" name="">
            <a:extLst xmlns:a="http://schemas.openxmlformats.org/drawingml/2006/main">
              <a:ext uri="{FF2B5EF4-FFF2-40B4-BE49-F238E27FC236}">
                <a16:creationId xmlns:a16="http://schemas.microsoft.com/office/drawing/2014/main" id="{1049158B-F6ED-4414-B047-3E835F44102E}"/>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10</a:t>
            </a:r>
          </a:p>
        </p:txBody>
      </p:sp>
      <p:graphicFrame>
        <p:nvGraphicFramePr>
          <p:cNvPr id="4" name="">
            <a:extLst xmlns:a="http://schemas.openxmlformats.org/drawingml/2006/main">
              <a:ext uri="{FF2B5EF4-FFF2-40B4-BE49-F238E27FC236}">
                <a16:creationId xmlns:a16="http://schemas.microsoft.com/office/drawing/2014/main" id="{61AEEC3A-542B-4FFE-867F-8858C0351B89}"/>
              </a:ext>
            </a:extLst>
          </p:cNvPr>
          <p:cNvGraphicFramePr/>
          <p:nvPr/>
        </p:nvGraphicFramePr>
        <p:xfrm>
          <a:off xmlns:a="http://schemas.openxmlformats.org/drawingml/2006/main" x="533400" y="2057400"/>
          <a:ext xmlns:a="http://schemas.openxmlformats.org/drawingml/2006/main" cx="11125200" cy="3143250"/>
        </p:xfrm>
        <a:graphic xmlns:a="http://schemas.openxmlformats.org/drawingml/2006/main">
          <a:graphicData uri="http://schemas.openxmlformats.org/drawingml/2006/table">
            <a:tbl>
              <a:tblPr/>
              <a:tblGrid>
                <a:gridCol w="2762250"/>
                <a:gridCol w="3619500"/>
                <a:gridCol w="4743450"/>
              </a:tblGrid>
              <a:tr h="523875">
                <a:tc>
                  <a:txBody>
                    <a:bodyPr/>
                    <a:lstStyle/>
                    <a:p>
                      <a:r>
                        <a:rPr sz="2100" b="1">
                          <a:solidFill>
                            <a:srgbClr val="FFFFFF"/>
                          </a:solidFill>
                          <a:latin typeface="Aptos"/>
                          <a:ea typeface="Aptos"/>
                          <a:cs typeface="Aptos"/>
                        </a:rPr>
                        <a:t>Call index i</a:t>
                      </a:r>
                    </a:p>
                  </a:txBody>
                  <a:tcPr marL="91440" marR="91440" marT="45720" marB="45720">
                    <a:lnL w="9525">
                      <a:solidFill>
                        <a:srgbClr val="D5E1E7"/>
                      </a:solidFill>
                    </a:lnL>
                    <a:lnR w="9525">
                      <a:solidFill>
                        <a:srgbClr val="D5E1E7"/>
                      </a:solidFill>
                    </a:lnR>
                    <a:lnT w="9525">
                      <a:solidFill>
                        <a:srgbClr val="D5E1E7"/>
                      </a:solidFill>
                    </a:lnT>
                    <a:lnB w="9525">
                      <a:solidFill>
                        <a:srgbClr val="D5E1E7"/>
                      </a:solidFill>
                    </a:lnB>
                    <a:solidFill>
                      <a:srgbClr val="17354E"/>
                    </a:solidFill>
                  </a:tcPr>
                </a:tc>
                <a:tc>
                  <a:txBody>
                    <a:bodyPr/>
                    <a:lstStyle/>
                    <a:p>
                      <a:r>
                        <a:rPr sz="2100" b="1">
                          <a:solidFill>
                            <a:srgbClr val="FFFFFF"/>
                          </a:solidFill>
                          <a:latin typeface="Aptos"/>
                          <a:ea typeface="Aptos"/>
                          <a:cs typeface="Aptos"/>
                        </a:rPr>
                        <a:t>Printed character</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c>
                  <a:txBody>
                    <a:bodyPr/>
                    <a:lstStyle/>
                    <a:p>
                      <a:r>
                        <a:rPr sz="2100" b="1">
                          <a:solidFill>
                            <a:srgbClr val="FFFFFF"/>
                          </a:solidFill>
                          <a:latin typeface="Aptos"/>
                          <a:ea typeface="Aptos"/>
                          <a:cs typeface="Aptos"/>
                        </a:rPr>
                        <a:t>Remaining prefix</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r>
              <a:tr h="523875">
                <a:tc>
                  <a:txBody>
                    <a:bodyPr/>
                    <a:lstStyle/>
                    <a:p>
                      <a:r>
                        <a:rPr sz="2100" b="0">
                          <a:solidFill>
                            <a:srgbClr val="17354E"/>
                          </a:solidFill>
                          <a:latin typeface="Aptos"/>
                          <a:ea typeface="Aptos"/>
                          <a:cs typeface="Aptos"/>
                        </a:rPr>
                        <a:t>3</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2100" b="0">
                          <a:solidFill>
                            <a:srgbClr val="17354E"/>
                          </a:solidFill>
                          <a:latin typeface="Aptos"/>
                          <a:ea typeface="Aptos"/>
                          <a:cs typeface="Aptos"/>
                        </a:rPr>
                        <a:t>E</a:t>
                      </a:r>
                    </a:p>
                  </a:txBody>
                  <a:tcPr marL="91440" marR="91440" marT="45720" marB="45720">
                    <a:lnR w="9525">
                      <a:solidFill>
                        <a:srgbClr val="D5E1E7"/>
                      </a:solidFill>
                    </a:lnR>
                    <a:lnB w="9525">
                      <a:solidFill>
                        <a:srgbClr val="D5E1E7"/>
                      </a:solidFill>
                    </a:lnB>
                    <a:solidFill>
                      <a:srgbClr val="EFF5F7"/>
                    </a:solidFill>
                  </a:tcPr>
                </a:tc>
                <a:tc>
                  <a:txBody>
                    <a:bodyPr/>
                    <a:lstStyle/>
                    <a:p>
                      <a:r>
                        <a:rPr sz="2100" b="0">
                          <a:solidFill>
                            <a:srgbClr val="17354E"/>
                          </a:solidFill>
                          <a:latin typeface="Aptos"/>
                          <a:ea typeface="Aptos"/>
                          <a:cs typeface="Aptos"/>
                        </a:rPr>
                        <a:t>COD</a:t>
                      </a:r>
                    </a:p>
                  </a:txBody>
                  <a:tcPr marL="91440" marR="91440" marT="45720" marB="45720">
                    <a:lnR w="9525">
                      <a:solidFill>
                        <a:srgbClr val="D5E1E7"/>
                      </a:solidFill>
                    </a:lnR>
                    <a:lnB w="9525">
                      <a:solidFill>
                        <a:srgbClr val="D5E1E7"/>
                      </a:solidFill>
                    </a:lnB>
                    <a:solidFill>
                      <a:srgbClr val="EFF5F7"/>
                    </a:solidFill>
                  </a:tcPr>
                </a:tc>
              </a:tr>
              <a:tr h="523875">
                <a:tc>
                  <a:txBody>
                    <a:bodyPr/>
                    <a:lstStyle/>
                    <a:p>
                      <a:r>
                        <a:rPr sz="2100" b="0">
                          <a:solidFill>
                            <a:srgbClr val="17354E"/>
                          </a:solidFill>
                          <a:latin typeface="Aptos"/>
                          <a:ea typeface="Aptos"/>
                          <a:cs typeface="Aptos"/>
                        </a:rPr>
                        <a:t>2</a:t>
                      </a:r>
                    </a:p>
                  </a:txBody>
                  <a:tcPr marL="91440" marR="91440" marT="45720" marB="45720">
                    <a:lnL w="9525">
                      <a:solidFill>
                        <a:srgbClr val="D5E1E7"/>
                      </a:solidFill>
                    </a:lnL>
                    <a:lnR w="9525">
                      <a:solidFill>
                        <a:srgbClr val="D5E1E7"/>
                      </a:solidFill>
                    </a:lnR>
                    <a:lnB w="9525">
                      <a:solidFill>
                        <a:srgbClr val="D5E1E7"/>
                      </a:solidFill>
                    </a:lnB>
                    <a:solidFill>
                      <a:srgbClr val="FFFFFF"/>
                    </a:solidFill>
                  </a:tcPr>
                </a:tc>
                <a:tc>
                  <a:txBody>
                    <a:bodyPr/>
                    <a:lstStyle/>
                    <a:p>
                      <a:r>
                        <a:rPr sz="2100" b="0">
                          <a:solidFill>
                            <a:srgbClr val="17354E"/>
                          </a:solidFill>
                          <a:latin typeface="Aptos"/>
                          <a:ea typeface="Aptos"/>
                          <a:cs typeface="Aptos"/>
                        </a:rPr>
                        <a:t>D</a:t>
                      </a:r>
                    </a:p>
                  </a:txBody>
                  <a:tcPr marL="91440" marR="91440" marT="45720" marB="45720">
                    <a:lnR w="9525">
                      <a:solidFill>
                        <a:srgbClr val="D5E1E7"/>
                      </a:solidFill>
                    </a:lnR>
                    <a:lnB w="9525">
                      <a:solidFill>
                        <a:srgbClr val="D5E1E7"/>
                      </a:solidFill>
                    </a:lnB>
                    <a:solidFill>
                      <a:srgbClr val="FFFFFF"/>
                    </a:solidFill>
                  </a:tcPr>
                </a:tc>
                <a:tc>
                  <a:txBody>
                    <a:bodyPr/>
                    <a:lstStyle/>
                    <a:p>
                      <a:r>
                        <a:rPr sz="2100" b="0">
                          <a:solidFill>
                            <a:srgbClr val="17354E"/>
                          </a:solidFill>
                          <a:latin typeface="Aptos"/>
                          <a:ea typeface="Aptos"/>
                          <a:cs typeface="Aptos"/>
                        </a:rPr>
                        <a:t>CO</a:t>
                      </a:r>
                    </a:p>
                  </a:txBody>
                  <a:tcPr marL="91440" marR="91440" marT="45720" marB="45720">
                    <a:lnR w="9525">
                      <a:solidFill>
                        <a:srgbClr val="D5E1E7"/>
                      </a:solidFill>
                    </a:lnR>
                    <a:lnB w="9525">
                      <a:solidFill>
                        <a:srgbClr val="D5E1E7"/>
                      </a:solidFill>
                    </a:lnB>
                    <a:solidFill>
                      <a:srgbClr val="FFFFFF"/>
                    </a:solidFill>
                  </a:tcPr>
                </a:tc>
              </a:tr>
              <a:tr h="523875">
                <a:tc>
                  <a:txBody>
                    <a:bodyPr/>
                    <a:lstStyle/>
                    <a:p>
                      <a:r>
                        <a:rPr sz="2100" b="0">
                          <a:solidFill>
                            <a:srgbClr val="17354E"/>
                          </a:solidFill>
                          <a:latin typeface="Aptos"/>
                          <a:ea typeface="Aptos"/>
                          <a:cs typeface="Aptos"/>
                        </a:rPr>
                        <a:t>1</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2100" b="0">
                          <a:solidFill>
                            <a:srgbClr val="17354E"/>
                          </a:solidFill>
                          <a:latin typeface="Aptos"/>
                          <a:ea typeface="Aptos"/>
                          <a:cs typeface="Aptos"/>
                        </a:rPr>
                        <a:t>O</a:t>
                      </a:r>
                    </a:p>
                  </a:txBody>
                  <a:tcPr marL="91440" marR="91440" marT="45720" marB="45720">
                    <a:lnR w="9525">
                      <a:solidFill>
                        <a:srgbClr val="D5E1E7"/>
                      </a:solidFill>
                    </a:lnR>
                    <a:lnB w="9525">
                      <a:solidFill>
                        <a:srgbClr val="D5E1E7"/>
                      </a:solidFill>
                    </a:lnB>
                    <a:solidFill>
                      <a:srgbClr val="EFF5F7"/>
                    </a:solidFill>
                  </a:tcPr>
                </a:tc>
                <a:tc>
                  <a:txBody>
                    <a:bodyPr/>
                    <a:lstStyle/>
                    <a:p>
                      <a:r>
                        <a:rPr sz="2100" b="0">
                          <a:solidFill>
                            <a:srgbClr val="17354E"/>
                          </a:solidFill>
                          <a:latin typeface="Aptos"/>
                          <a:ea typeface="Aptos"/>
                          <a:cs typeface="Aptos"/>
                        </a:rPr>
                        <a:t>C</a:t>
                      </a:r>
                    </a:p>
                  </a:txBody>
                  <a:tcPr marL="91440" marR="91440" marT="45720" marB="45720">
                    <a:lnR w="9525">
                      <a:solidFill>
                        <a:srgbClr val="D5E1E7"/>
                      </a:solidFill>
                    </a:lnR>
                    <a:lnB w="9525">
                      <a:solidFill>
                        <a:srgbClr val="D5E1E7"/>
                      </a:solidFill>
                    </a:lnB>
                    <a:solidFill>
                      <a:srgbClr val="EFF5F7"/>
                    </a:solidFill>
                  </a:tcPr>
                </a:tc>
              </a:tr>
              <a:tr h="523875">
                <a:tc>
                  <a:txBody>
                    <a:bodyPr/>
                    <a:lstStyle/>
                    <a:p>
                      <a:r>
                        <a:rPr sz="2100" b="0">
                          <a:solidFill>
                            <a:srgbClr val="17354E"/>
                          </a:solidFill>
                          <a:latin typeface="Aptos"/>
                          <a:ea typeface="Aptos"/>
                          <a:cs typeface="Aptos"/>
                        </a:rPr>
                        <a:t>0</a:t>
                      </a:r>
                    </a:p>
                  </a:txBody>
                  <a:tcPr marL="91440" marR="91440" marT="45720" marB="45720">
                    <a:lnL w="9525">
                      <a:solidFill>
                        <a:srgbClr val="D5E1E7"/>
                      </a:solidFill>
                    </a:lnL>
                    <a:lnR w="9525">
                      <a:solidFill>
                        <a:srgbClr val="D5E1E7"/>
                      </a:solidFill>
                    </a:lnR>
                    <a:lnB w="9525">
                      <a:solidFill>
                        <a:srgbClr val="D5E1E7"/>
                      </a:solidFill>
                    </a:lnB>
                    <a:solidFill>
                      <a:srgbClr val="FFFFFF"/>
                    </a:solidFill>
                  </a:tcPr>
                </a:tc>
                <a:tc>
                  <a:txBody>
                    <a:bodyPr/>
                    <a:lstStyle/>
                    <a:p>
                      <a:r>
                        <a:rPr sz="2100" b="0">
                          <a:solidFill>
                            <a:srgbClr val="17354E"/>
                          </a:solidFill>
                          <a:latin typeface="Aptos"/>
                          <a:ea typeface="Aptos"/>
                          <a:cs typeface="Aptos"/>
                        </a:rPr>
                        <a:t>C</a:t>
                      </a:r>
                    </a:p>
                  </a:txBody>
                  <a:tcPr marL="91440" marR="91440" marT="45720" marB="45720">
                    <a:lnR w="9525">
                      <a:solidFill>
                        <a:srgbClr val="D5E1E7"/>
                      </a:solidFill>
                    </a:lnR>
                    <a:lnB w="9525">
                      <a:solidFill>
                        <a:srgbClr val="D5E1E7"/>
                      </a:solidFill>
                    </a:lnB>
                    <a:solidFill>
                      <a:srgbClr val="FFFFFF"/>
                    </a:solidFill>
                  </a:tcPr>
                </a:tc>
                <a:tc>
                  <a:txBody>
                    <a:bodyPr/>
                    <a:lstStyle/>
                    <a:p>
                      <a:r>
                        <a:rPr sz="2100" b="0">
                          <a:solidFill>
                            <a:srgbClr val="17354E"/>
                          </a:solidFill>
                          <a:latin typeface="Aptos"/>
                          <a:ea typeface="Aptos"/>
                          <a:cs typeface="Aptos"/>
                        </a:rPr>
                        <a:t>Empty</a:t>
                      </a:r>
                    </a:p>
                  </a:txBody>
                  <a:tcPr marL="91440" marR="91440" marT="45720" marB="45720">
                    <a:lnR w="9525">
                      <a:solidFill>
                        <a:srgbClr val="D5E1E7"/>
                      </a:solidFill>
                    </a:lnR>
                    <a:lnB w="9525">
                      <a:solidFill>
                        <a:srgbClr val="D5E1E7"/>
                      </a:solidFill>
                    </a:lnB>
                    <a:solidFill>
                      <a:srgbClr val="FFFFFF"/>
                    </a:solidFill>
                  </a:tcPr>
                </a:tc>
              </a:tr>
              <a:tr h="523875">
                <a:tc>
                  <a:txBody>
                    <a:bodyPr/>
                    <a:lstStyle/>
                    <a:p>
                      <a:r>
                        <a:rPr sz="2100" b="0">
                          <a:solidFill>
                            <a:srgbClr val="17354E"/>
                          </a:solidFill>
                          <a:latin typeface="Aptos"/>
                          <a:ea typeface="Aptos"/>
                          <a:cs typeface="Aptos"/>
                        </a:rPr>
                        <a:t>−1</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2100" b="0">
                          <a:solidFill>
                            <a:srgbClr val="17354E"/>
                          </a:solidFill>
                          <a:latin typeface="Aptos"/>
                          <a:ea typeface="Aptos"/>
                          <a:cs typeface="Aptos"/>
                        </a:rPr>
                        <a:t>Nothing</a:t>
                      </a:r>
                    </a:p>
                  </a:txBody>
                  <a:tcPr marL="91440" marR="91440" marT="45720" marB="45720">
                    <a:lnR w="9525">
                      <a:solidFill>
                        <a:srgbClr val="D5E1E7"/>
                      </a:solidFill>
                    </a:lnR>
                    <a:lnB w="9525">
                      <a:solidFill>
                        <a:srgbClr val="D5E1E7"/>
                      </a:solidFill>
                    </a:lnB>
                    <a:solidFill>
                      <a:srgbClr val="EFF5F7"/>
                    </a:solidFill>
                  </a:tcPr>
                </a:tc>
                <a:tc>
                  <a:txBody>
                    <a:bodyPr/>
                    <a:lstStyle/>
                    <a:p>
                      <a:r>
                        <a:rPr sz="2100" b="0">
                          <a:solidFill>
                            <a:srgbClr val="17354E"/>
                          </a:solidFill>
                          <a:latin typeface="Aptos"/>
                          <a:ea typeface="Aptos"/>
                          <a:cs typeface="Aptos"/>
                        </a:rPr>
                        <a:t>Base case</a:t>
                      </a:r>
                    </a:p>
                  </a:txBody>
                  <a:tcPr marL="91440" marR="91440" marT="45720" marB="45720">
                    <a:lnR w="9525">
                      <a:solidFill>
                        <a:srgbClr val="D5E1E7"/>
                      </a:solidFill>
                    </a:lnR>
                    <a:lnB w="9525">
                      <a:solidFill>
                        <a:srgbClr val="D5E1E7"/>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CF89647E-BCC3-4FDF-9AA7-6F0195991FAD}"/>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writeBackward("CODE", 3) prints EDOC.</a:t>
            </a:r>
          </a:p>
        </p:txBody>
      </p:sp>
      <p:sp>
        <p:nvSpPr>
          <p:cNvPr id="7" name="local-java-ReversePrint">
            <a:extLst xmlns:a="http://schemas.openxmlformats.org/drawingml/2006/main">
              <a:ext uri="{FF2B5EF4-FFF2-40B4-BE49-F238E27FC236}">
                <a16:creationId xmlns:a16="http://schemas.microsoft.com/office/drawing/2014/main" id="{4DC2D569-E12A-4EA2-83A4-B86F4D52BF17}"/>
              </a:ext>
            </a:extLst>
          </p:cNvPr>
          <p:cNvSpPr>
            <a:spLocks xmlns:a="http://schemas.openxmlformats.org/drawingml/2006/main" noGrp="1"/>
          </p:cNvSpPr>
          <p:nvPr/>
        </p:nvSpPr>
        <p:spPr>
          <a:xfrm xmlns:a="http://schemas.openxmlformats.org/drawingml/2006/main">
            <a:off x="5143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1a13ced3073b4fe1"/>
              </a:rPr>
              <a:t>Java: ReversePrint.java</a:t>
            </a:r>
          </a:p>
        </p:txBody>
      </p:sp>
    </p:spTree>
    <p:extLst>
      <p:ext uri="{BB962C8B-B14F-4D97-AF65-F5344CB8AC3E}">
        <p14:creationId xmlns:p14="http://schemas.microsoft.com/office/powerpoint/2010/main" val="87516513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295FB8-E792-4066-9332-73101E0EAA1F}"/>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A smaller prefix without copying substrings</a:t>
            </a:r>
          </a:p>
        </p:txBody>
      </p:sp>
      <p:sp>
        <p:nvSpPr>
          <p:cNvPr id="2" name="">
            <a:extLst xmlns:a="http://schemas.openxmlformats.org/drawingml/2006/main">
              <a:ext uri="{FF2B5EF4-FFF2-40B4-BE49-F238E27FC236}">
                <a16:creationId xmlns:a16="http://schemas.microsoft.com/office/drawing/2014/main" id="{19C0E09B-1B62-4EEA-90EB-1D124B7D8344}"/>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The index marks the last character still to be printed.</a:t>
            </a:r>
          </a:p>
        </p:txBody>
      </p:sp>
      <p:sp>
        <p:nvSpPr>
          <p:cNvPr id="3" name="">
            <a:extLst xmlns:a="http://schemas.openxmlformats.org/drawingml/2006/main">
              <a:ext uri="{FF2B5EF4-FFF2-40B4-BE49-F238E27FC236}">
                <a16:creationId xmlns:a16="http://schemas.microsoft.com/office/drawing/2014/main" id="{50AD8186-6A58-4F72-B4C4-DB5DB272A35A}"/>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11</a:t>
            </a:r>
          </a:p>
        </p:txBody>
      </p:sp>
      <p:pic>
        <p:nvPicPr>
          <p:cNvPr id="4" name="">
            <a:extLst xmlns:a="http://schemas.openxmlformats.org/drawingml/2006/main">
              <a:ext uri="{FF2B5EF4-FFF2-40B4-BE49-F238E27FC236}">
                <a16:creationId xmlns:a16="http://schemas.microsoft.com/office/drawing/2014/main" id="{65921F02-A86D-48A4-BE36-24966698B203}"/>
              </a:ext>
            </a:extLst>
          </p:cNvPr>
          <p:cNvPicPr>
            <a:picLocks xmlns:a="http://schemas.openxmlformats.org/drawingml/2006/main" noChangeAspect="1"/>
          </p:cNvPicPr>
          <p:nvPr/>
        </p:nvPicPr>
        <p:blipFill>
          <a:blip xmlns:r="http://schemas.openxmlformats.org/officeDocument/2006/relationships" xmlns:a="http://schemas.openxmlformats.org/drawingml/2006/main" r:embed="R475e24f5d2d241bb"/>
          <a:stretch xmlns:a="http://schemas.openxmlformats.org/drawingml/2006/main"/>
        </p:blipFill>
        <p:spPr>
          <a:xfrm xmlns:a="http://schemas.openxmlformats.org/drawingml/2006/main">
            <a:off x="536772" y="2438400"/>
            <a:ext cx="5089132" cy="2381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CF49EC9-F7BE-439E-84D9-B25B7FA5CA44}"/>
              </a:ext>
            </a:extLst>
          </p:cNvPr>
          <p:cNvSpPr>
            <a:spLocks xmlns:a="http://schemas.openxmlformats.org/drawingml/2006/main" noGrp="1"/>
          </p:cNvSpPr>
          <p:nvPr/>
        </p:nvSpPr>
        <p:spPr>
          <a:xfrm xmlns:a="http://schemas.openxmlformats.org/drawingml/2006/main">
            <a:off x="6019800" y="2152650"/>
            <a:ext cx="56388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54E"/>
                </a:solidFill>
                <a:latin typeface="Consolas"/>
                <a:ea typeface="Consolas"/>
                <a:cs typeface="Consolas"/>
              </a:defRPr>
            </a:defPPr>
            <a:lvl1pPr>
              <a:buNone/>
              <a:defRPr sz="1725" b="0">
                <a:solidFill>
                  <a:srgbClr val="17354E"/>
                </a:solidFill>
                <a:latin typeface="Consolas"/>
                <a:ea typeface="Consolas"/>
                <a:cs typeface="Consolas"/>
              </a:defRPr>
            </a:lvl1pPr>
            <a:lvl2pPr>
              <a:buNone/>
              <a:defRPr sz="1725" b="0">
                <a:solidFill>
                  <a:srgbClr val="17354E"/>
                </a:solidFill>
                <a:latin typeface="Consolas"/>
                <a:ea typeface="Consolas"/>
                <a:cs typeface="Consolas"/>
              </a:defRPr>
            </a:lvl2pPr>
            <a:lvl3pPr>
              <a:buNone/>
              <a:defRPr sz="1725" b="0">
                <a:solidFill>
                  <a:srgbClr val="17354E"/>
                </a:solidFill>
                <a:latin typeface="Consolas"/>
                <a:ea typeface="Consolas"/>
                <a:cs typeface="Consolas"/>
              </a:defRPr>
            </a:lvl3pPr>
            <a:lvl4pPr>
              <a:buNone/>
              <a:defRPr sz="1725" b="0">
                <a:solidFill>
                  <a:srgbClr val="17354E"/>
                </a:solidFill>
                <a:latin typeface="Consolas"/>
                <a:ea typeface="Consolas"/>
                <a:cs typeface="Consolas"/>
              </a:defRPr>
            </a:lvl4pPr>
            <a:lvl5pPr>
              <a:buNone/>
              <a:defRPr sz="1725" b="0">
                <a:solidFill>
                  <a:srgbClr val="17354E"/>
                </a:solidFill>
                <a:latin typeface="Consolas"/>
                <a:ea typeface="Consolas"/>
                <a:cs typeface="Consolas"/>
              </a:defRPr>
            </a:lvl5pPr>
            <a:lvl6pPr>
              <a:buNone/>
              <a:defRPr sz="1725" b="0">
                <a:solidFill>
                  <a:srgbClr val="17354E"/>
                </a:solidFill>
                <a:latin typeface="Consolas"/>
                <a:ea typeface="Consolas"/>
                <a:cs typeface="Consolas"/>
              </a:defRPr>
            </a:lvl6pPr>
            <a:lvl7pPr>
              <a:buNone/>
              <a:defRPr sz="1725" b="0">
                <a:solidFill>
                  <a:srgbClr val="17354E"/>
                </a:solidFill>
                <a:latin typeface="Consolas"/>
                <a:ea typeface="Consolas"/>
                <a:cs typeface="Consolas"/>
              </a:defRPr>
            </a:lvl7pPr>
            <a:lvl8pPr>
              <a:buNone/>
              <a:defRPr sz="1725" b="0">
                <a:solidFill>
                  <a:srgbClr val="17354E"/>
                </a:solidFill>
                <a:latin typeface="Consolas"/>
                <a:ea typeface="Consolas"/>
                <a:cs typeface="Consolas"/>
              </a:defRPr>
            </a:lvl8pPr>
            <a:lvl9pPr>
              <a:buNone/>
              <a:defRPr sz="1725" b="0">
                <a:solidFill>
                  <a:srgbClr val="17354E"/>
                </a:solidFill>
                <a:latin typeface="Consolas"/>
                <a:ea typeface="Consolas"/>
                <a:cs typeface="Consolas"/>
              </a:defRPr>
            </a:lvl9pPr>
          </a:lstStyle>
          <a:p xmlns:a="http://schemas.openxmlformats.org/drawingml/2006/main">
            <a:pPr>
              <a:buNone/>
              <a:defRPr sz="1725" b="0">
                <a:solidFill>
                  <a:srgbClr val="17354E"/>
                </a:solidFill>
                <a:latin typeface="Consolas"/>
                <a:ea typeface="Consolas"/>
                <a:cs typeface="Consolas"/>
              </a:defRPr>
            </a:pPr>
            <a:r>
              <a:rPr sz="1725" b="0">
                <a:solidFill>
                  <a:srgbClr val="17354E"/>
                </a:solidFill>
                <a:latin typeface="Consolas"/>
                <a:ea typeface="Consolas"/>
                <a:cs typeface="Consolas"/>
              </a:rPr>
              <a:t>static void writeBackward(String s, int i) {</a:t>
            </a:r>
          </a:p>
          <a:p xmlns:a="http://schemas.openxmlformats.org/drawingml/2006/main">
            <a:pPr>
              <a:buNone/>
              <a:defRPr sz="1725" b="0">
                <a:solidFill>
                  <a:srgbClr val="17354E"/>
                </a:solidFill>
                <a:latin typeface="Consolas"/>
                <a:ea typeface="Consolas"/>
                <a:cs typeface="Consolas"/>
              </a:defRPr>
            </a:pPr>
            <a:r>
              <a:rPr sz="1725" b="0">
                <a:solidFill>
                  <a:srgbClr val="17354E"/>
                </a:solidFill>
                <a:latin typeface="Consolas"/>
                <a:ea typeface="Consolas"/>
                <a:cs typeface="Consolas"/>
              </a:rPr>
              <a:t>    if (i &lt; 0) return;</a:t>
            </a:r>
          </a:p>
          <a:p xmlns:a="http://schemas.openxmlformats.org/drawingml/2006/main">
            <a:pPr>
              <a:buNone/>
              <a:defRPr sz="1725" b="0">
                <a:solidFill>
                  <a:srgbClr val="17354E"/>
                </a:solidFill>
                <a:latin typeface="Consolas"/>
                <a:ea typeface="Consolas"/>
                <a:cs typeface="Consolas"/>
              </a:defRPr>
            </a:pPr>
            <a:r>
              <a:rPr sz="1725" b="0">
                <a:solidFill>
                  <a:srgbClr val="17354E"/>
                </a:solidFill>
                <a:latin typeface="Consolas"/>
                <a:ea typeface="Consolas"/>
                <a:cs typeface="Consolas"/>
              </a:rPr>
              <a:t>    System.out.print(s.charAt(i));</a:t>
            </a:r>
          </a:p>
          <a:p xmlns:a="http://schemas.openxmlformats.org/drawingml/2006/main">
            <a:pPr>
              <a:buNone/>
              <a:defRPr sz="1725" b="0">
                <a:solidFill>
                  <a:srgbClr val="17354E"/>
                </a:solidFill>
                <a:latin typeface="Consolas"/>
                <a:ea typeface="Consolas"/>
                <a:cs typeface="Consolas"/>
              </a:defRPr>
            </a:pPr>
            <a:r>
              <a:rPr sz="1725" b="0">
                <a:solidFill>
                  <a:srgbClr val="17354E"/>
                </a:solidFill>
                <a:latin typeface="Consolas"/>
                <a:ea typeface="Consolas"/>
                <a:cs typeface="Consolas"/>
              </a:rPr>
              <a:t>    writeBackward(s, i - 1);</a:t>
            </a:r>
          </a:p>
          <a:p xmlns:a="http://schemas.openxmlformats.org/drawingml/2006/main">
            <a:pPr>
              <a:buNone/>
              <a:defRPr sz="1725" b="0">
                <a:solidFill>
                  <a:srgbClr val="17354E"/>
                </a:solidFill>
                <a:latin typeface="Consolas"/>
                <a:ea typeface="Consolas"/>
                <a:cs typeface="Consolas"/>
              </a:defRPr>
            </a:pPr>
            <a:r>
              <a:rPr sz="1725" b="0">
                <a:solidFill>
                  <a:srgbClr val="17354E"/>
                </a:solidFill>
                <a:latin typeface="Consolas"/>
                <a:ea typeface="Consolas"/>
                <a:cs typeface="Consolas"/>
              </a:rPr>
              <a:t>}</a:t>
            </a:r>
          </a:p>
        </p:txBody>
      </p:sp>
      <p:sp>
        <p:nvSpPr>
          <p:cNvPr id="6" name="">
            <a:extLst xmlns:a="http://schemas.openxmlformats.org/drawingml/2006/main">
              <a:ext uri="{FF2B5EF4-FFF2-40B4-BE49-F238E27FC236}">
                <a16:creationId xmlns:a16="http://schemas.microsoft.com/office/drawing/2014/main" id="{5A732EC6-335B-42DA-9E34-E79005EC9383}"/>
              </a:ext>
            </a:extLst>
          </p:cNvPr>
          <p:cNvSpPr>
            <a:spLocks xmlns:a="http://schemas.openxmlformats.org/drawingml/2006/main" noGrp="1"/>
          </p:cNvSpPr>
          <p:nvPr/>
        </p:nvSpPr>
        <p:spPr>
          <a:xfrm xmlns:a="http://schemas.openxmlformats.org/drawingml/2006/main">
            <a:off x="6019800" y="5010150"/>
            <a:ext cx="5638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4D6172"/>
                </a:solidFill>
                <a:latin typeface="Aptos"/>
                <a:ea typeface="Aptos"/>
                <a:cs typeface="Aptos"/>
              </a:defRPr>
            </a:defPPr>
            <a:lvl1pPr>
              <a:buNone/>
              <a:defRPr sz="1800" b="0">
                <a:solidFill>
                  <a:srgbClr val="4D6172"/>
                </a:solidFill>
                <a:latin typeface="Aptos"/>
                <a:ea typeface="Aptos"/>
                <a:cs typeface="Aptos"/>
              </a:defRPr>
            </a:lvl1pPr>
            <a:lvl2pPr>
              <a:buNone/>
              <a:defRPr sz="1800" b="0">
                <a:solidFill>
                  <a:srgbClr val="4D6172"/>
                </a:solidFill>
                <a:latin typeface="Aptos"/>
                <a:ea typeface="Aptos"/>
                <a:cs typeface="Aptos"/>
              </a:defRPr>
            </a:lvl2pPr>
            <a:lvl3pPr>
              <a:buNone/>
              <a:defRPr sz="1800" b="0">
                <a:solidFill>
                  <a:srgbClr val="4D6172"/>
                </a:solidFill>
                <a:latin typeface="Aptos"/>
                <a:ea typeface="Aptos"/>
                <a:cs typeface="Aptos"/>
              </a:defRPr>
            </a:lvl3pPr>
            <a:lvl4pPr>
              <a:buNone/>
              <a:defRPr sz="1800" b="0">
                <a:solidFill>
                  <a:srgbClr val="4D6172"/>
                </a:solidFill>
                <a:latin typeface="Aptos"/>
                <a:ea typeface="Aptos"/>
                <a:cs typeface="Aptos"/>
              </a:defRPr>
            </a:lvl4pPr>
            <a:lvl5pPr>
              <a:buNone/>
              <a:defRPr sz="1800" b="0">
                <a:solidFill>
                  <a:srgbClr val="4D6172"/>
                </a:solidFill>
                <a:latin typeface="Aptos"/>
                <a:ea typeface="Aptos"/>
                <a:cs typeface="Aptos"/>
              </a:defRPr>
            </a:lvl5pPr>
            <a:lvl6pPr>
              <a:buNone/>
              <a:defRPr sz="1800" b="0">
                <a:solidFill>
                  <a:srgbClr val="4D6172"/>
                </a:solidFill>
                <a:latin typeface="Aptos"/>
                <a:ea typeface="Aptos"/>
                <a:cs typeface="Aptos"/>
              </a:defRPr>
            </a:lvl6pPr>
            <a:lvl7pPr>
              <a:buNone/>
              <a:defRPr sz="1800" b="0">
                <a:solidFill>
                  <a:srgbClr val="4D6172"/>
                </a:solidFill>
                <a:latin typeface="Aptos"/>
                <a:ea typeface="Aptos"/>
                <a:cs typeface="Aptos"/>
              </a:defRPr>
            </a:lvl7pPr>
            <a:lvl8pPr>
              <a:buNone/>
              <a:defRPr sz="1800" b="0">
                <a:solidFill>
                  <a:srgbClr val="4D6172"/>
                </a:solidFill>
                <a:latin typeface="Aptos"/>
                <a:ea typeface="Aptos"/>
                <a:cs typeface="Aptos"/>
              </a:defRPr>
            </a:lvl8pPr>
            <a:lvl9pPr>
              <a:buNone/>
              <a:defRPr sz="1800" b="0">
                <a:solidFill>
                  <a:srgbClr val="4D6172"/>
                </a:solidFill>
                <a:latin typeface="Aptos"/>
                <a:ea typeface="Aptos"/>
                <a:cs typeface="Aptos"/>
              </a:defRPr>
            </a:lvl9pPr>
          </a:lstStyle>
          <a:p xmlns:a="http://schemas.openxmlformats.org/drawingml/2006/main">
            <a:pPr>
              <a:buNone/>
              <a:defRPr sz="1800" b="0">
                <a:solidFill>
                  <a:srgbClr val="4D6172"/>
                </a:solidFill>
                <a:latin typeface="Aptos"/>
                <a:ea typeface="Aptos"/>
                <a:cs typeface="Aptos"/>
              </a:defRPr>
            </a:pPr>
            <a:r>
              <a:rPr sz="1800" b="0">
                <a:solidFill>
                  <a:srgbClr val="4D6172"/>
                </a:solidFill>
                <a:latin typeface="Aptos"/>
                <a:ea typeface="Aptos"/>
                <a:cs typeface="Aptos"/>
              </a:rPr>
              <a:t>Call: writeBackward(s, s.length() - 1);</a:t>
            </a:r>
          </a:p>
        </p:txBody>
      </p:sp>
      <p:sp>
        <p:nvSpPr>
          <p:cNvPr id="7" name="">
            <a:extLst xmlns:a="http://schemas.openxmlformats.org/drawingml/2006/main">
              <a:ext uri="{FF2B5EF4-FFF2-40B4-BE49-F238E27FC236}">
                <a16:creationId xmlns:a16="http://schemas.microsoft.com/office/drawing/2014/main" id="{893CE975-1D6F-4E5C-8D32-7A5EE161C26F}"/>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For n characters: O(n) time and O(n) call-stack space.</a:t>
            </a:r>
          </a:p>
        </p:txBody>
      </p:sp>
      <p:sp>
        <p:nvSpPr>
          <p:cNvPr id="9" name="local-java-ReversePrint">
            <a:extLst xmlns:a="http://schemas.openxmlformats.org/drawingml/2006/main">
              <a:ext uri="{FF2B5EF4-FFF2-40B4-BE49-F238E27FC236}">
                <a16:creationId xmlns:a16="http://schemas.microsoft.com/office/drawing/2014/main" id="{E664EE7C-D679-4548-B52D-D21269EDFE4F}"/>
              </a:ext>
            </a:extLst>
          </p:cNvPr>
          <p:cNvSpPr>
            <a:spLocks xmlns:a="http://schemas.openxmlformats.org/drawingml/2006/main" noGrp="1"/>
          </p:cNvSpPr>
          <p:nvPr/>
        </p:nvSpPr>
        <p:spPr>
          <a:xfrm xmlns:a="http://schemas.openxmlformats.org/drawingml/2006/main">
            <a:off x="5143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3533bab724e4470f"/>
              </a:rPr>
              <a:t>Java: ReversePrint.java</a:t>
            </a:r>
          </a:p>
        </p:txBody>
      </p:sp>
    </p:spTree>
    <p:extLst>
      <p:ext uri="{BB962C8B-B14F-4D97-AF65-F5344CB8AC3E}">
        <p14:creationId xmlns:p14="http://schemas.microsoft.com/office/powerpoint/2010/main" val="148505554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AAC7FC-894D-4EED-B8CD-5795060C2953}"/>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Fibonacci numbers</a:t>
            </a:r>
          </a:p>
        </p:txBody>
      </p:sp>
      <p:sp>
        <p:nvSpPr>
          <p:cNvPr id="2" name="">
            <a:extLst xmlns:a="http://schemas.openxmlformats.org/drawingml/2006/main">
              <a:ext uri="{FF2B5EF4-FFF2-40B4-BE49-F238E27FC236}">
                <a16:creationId xmlns:a16="http://schemas.microsoft.com/office/drawing/2014/main" id="{EAA1F729-EED6-4E5D-A9BD-B21490FCB9C3}"/>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Each value after the first two is the sum of its two predecessors.</a:t>
            </a:r>
          </a:p>
        </p:txBody>
      </p:sp>
      <p:sp>
        <p:nvSpPr>
          <p:cNvPr id="3" name="">
            <a:extLst xmlns:a="http://schemas.openxmlformats.org/drawingml/2006/main">
              <a:ext uri="{FF2B5EF4-FFF2-40B4-BE49-F238E27FC236}">
                <a16:creationId xmlns:a16="http://schemas.microsoft.com/office/drawing/2014/main" id="{FF2989D9-7F01-4D98-80DD-90DB7172E18A}"/>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12</a:t>
            </a:r>
          </a:p>
        </p:txBody>
      </p:sp>
      <p:sp>
        <p:nvSpPr>
          <p:cNvPr id="4" name="">
            <a:extLst xmlns:a="http://schemas.openxmlformats.org/drawingml/2006/main">
              <a:ext uri="{FF2B5EF4-FFF2-40B4-BE49-F238E27FC236}">
                <a16:creationId xmlns:a16="http://schemas.microsoft.com/office/drawing/2014/main" id="{786082F4-2743-4C59-B177-B26232686DD5}"/>
              </a:ext>
            </a:extLst>
          </p:cNvPr>
          <p:cNvSpPr>
            <a:spLocks xmlns:a="http://schemas.openxmlformats.org/drawingml/2006/main" noGrp="1"/>
          </p:cNvSpPr>
          <p:nvPr/>
        </p:nvSpPr>
        <p:spPr>
          <a:xfrm xmlns:a="http://schemas.openxmlformats.org/drawingml/2006/main">
            <a:off x="533400" y="21907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7354E"/>
                </a:solidFill>
                <a:latin typeface="Aptos"/>
                <a:ea typeface="Aptos"/>
                <a:cs typeface="Aptos"/>
              </a:defRPr>
            </a:defPPr>
            <a:lvl1pPr>
              <a:buNone/>
              <a:defRPr sz="2925" b="1">
                <a:solidFill>
                  <a:srgbClr val="17354E"/>
                </a:solidFill>
                <a:latin typeface="Aptos"/>
                <a:ea typeface="Aptos"/>
                <a:cs typeface="Aptos"/>
              </a:defRPr>
            </a:lvl1pPr>
            <a:lvl2pPr>
              <a:buNone/>
              <a:defRPr sz="2925" b="1">
                <a:solidFill>
                  <a:srgbClr val="17354E"/>
                </a:solidFill>
                <a:latin typeface="Aptos"/>
                <a:ea typeface="Aptos"/>
                <a:cs typeface="Aptos"/>
              </a:defRPr>
            </a:lvl2pPr>
            <a:lvl3pPr>
              <a:buNone/>
              <a:defRPr sz="2925" b="1">
                <a:solidFill>
                  <a:srgbClr val="17354E"/>
                </a:solidFill>
                <a:latin typeface="Aptos"/>
                <a:ea typeface="Aptos"/>
                <a:cs typeface="Aptos"/>
              </a:defRPr>
            </a:lvl3pPr>
            <a:lvl4pPr>
              <a:buNone/>
              <a:defRPr sz="2925" b="1">
                <a:solidFill>
                  <a:srgbClr val="17354E"/>
                </a:solidFill>
                <a:latin typeface="Aptos"/>
                <a:ea typeface="Aptos"/>
                <a:cs typeface="Aptos"/>
              </a:defRPr>
            </a:lvl4pPr>
            <a:lvl5pPr>
              <a:buNone/>
              <a:defRPr sz="2925" b="1">
                <a:solidFill>
                  <a:srgbClr val="17354E"/>
                </a:solidFill>
                <a:latin typeface="Aptos"/>
                <a:ea typeface="Aptos"/>
                <a:cs typeface="Aptos"/>
              </a:defRPr>
            </a:lvl5pPr>
            <a:lvl6pPr>
              <a:buNone/>
              <a:defRPr sz="2925" b="1">
                <a:solidFill>
                  <a:srgbClr val="17354E"/>
                </a:solidFill>
                <a:latin typeface="Aptos"/>
                <a:ea typeface="Aptos"/>
                <a:cs typeface="Aptos"/>
              </a:defRPr>
            </a:lvl6pPr>
            <a:lvl7pPr>
              <a:buNone/>
              <a:defRPr sz="2925" b="1">
                <a:solidFill>
                  <a:srgbClr val="17354E"/>
                </a:solidFill>
                <a:latin typeface="Aptos"/>
                <a:ea typeface="Aptos"/>
                <a:cs typeface="Aptos"/>
              </a:defRPr>
            </a:lvl7pPr>
            <a:lvl8pPr>
              <a:buNone/>
              <a:defRPr sz="2925" b="1">
                <a:solidFill>
                  <a:srgbClr val="17354E"/>
                </a:solidFill>
                <a:latin typeface="Aptos"/>
                <a:ea typeface="Aptos"/>
                <a:cs typeface="Aptos"/>
              </a:defRPr>
            </a:lvl8pPr>
            <a:lvl9pPr>
              <a:buNone/>
              <a:defRPr sz="2925" b="1">
                <a:solidFill>
                  <a:srgbClr val="17354E"/>
                </a:solidFill>
                <a:latin typeface="Aptos"/>
                <a:ea typeface="Aptos"/>
                <a:cs typeface="Aptos"/>
              </a:defRPr>
            </a:lvl9pPr>
          </a:lstStyle>
          <a:p xmlns:a="http://schemas.openxmlformats.org/drawingml/2006/main">
            <a:pPr>
              <a:buNone/>
              <a:defRPr sz="2925" b="1">
                <a:solidFill>
                  <a:srgbClr val="17354E"/>
                </a:solidFill>
                <a:latin typeface="Aptos"/>
                <a:ea typeface="Aptos"/>
                <a:cs typeface="Aptos"/>
              </a:defRPr>
            </a:pPr>
            <a:r>
              <a:rPr sz="2925" b="1">
                <a:solidFill>
                  <a:srgbClr val="17354E"/>
                </a:solidFill>
                <a:latin typeface="Aptos"/>
                <a:ea typeface="Aptos"/>
                <a:cs typeface="Aptos"/>
              </a:rPr>
              <a:t>F(0) = 0       F(1) = 1</a:t>
            </a:r>
          </a:p>
        </p:txBody>
      </p:sp>
      <p:sp>
        <p:nvSpPr>
          <p:cNvPr id="5" name="">
            <a:extLst xmlns:a="http://schemas.openxmlformats.org/drawingml/2006/main">
              <a:ext uri="{FF2B5EF4-FFF2-40B4-BE49-F238E27FC236}">
                <a16:creationId xmlns:a16="http://schemas.microsoft.com/office/drawing/2014/main" id="{089CEF38-973A-462D-A180-C1FE4FEAB2DB}"/>
              </a:ext>
            </a:extLst>
          </p:cNvPr>
          <p:cNvSpPr>
            <a:spLocks xmlns:a="http://schemas.openxmlformats.org/drawingml/2006/main" noGrp="1"/>
          </p:cNvSpPr>
          <p:nvPr/>
        </p:nvSpPr>
        <p:spPr>
          <a:xfrm xmlns:a="http://schemas.openxmlformats.org/drawingml/2006/main">
            <a:off x="533400" y="30765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17354E"/>
                </a:solidFill>
                <a:latin typeface="Aptos"/>
                <a:ea typeface="Aptos"/>
                <a:cs typeface="Aptos"/>
              </a:defRPr>
            </a:defPPr>
            <a:lvl1pPr>
              <a:buNone/>
              <a:defRPr sz="2700" b="0">
                <a:solidFill>
                  <a:srgbClr val="17354E"/>
                </a:solidFill>
                <a:latin typeface="Aptos"/>
                <a:ea typeface="Aptos"/>
                <a:cs typeface="Aptos"/>
              </a:defRPr>
            </a:lvl1pPr>
            <a:lvl2pPr>
              <a:buNone/>
              <a:defRPr sz="2700" b="0">
                <a:solidFill>
                  <a:srgbClr val="17354E"/>
                </a:solidFill>
                <a:latin typeface="Aptos"/>
                <a:ea typeface="Aptos"/>
                <a:cs typeface="Aptos"/>
              </a:defRPr>
            </a:lvl2pPr>
            <a:lvl3pPr>
              <a:buNone/>
              <a:defRPr sz="2700" b="0">
                <a:solidFill>
                  <a:srgbClr val="17354E"/>
                </a:solidFill>
                <a:latin typeface="Aptos"/>
                <a:ea typeface="Aptos"/>
                <a:cs typeface="Aptos"/>
              </a:defRPr>
            </a:lvl3pPr>
            <a:lvl4pPr>
              <a:buNone/>
              <a:defRPr sz="2700" b="0">
                <a:solidFill>
                  <a:srgbClr val="17354E"/>
                </a:solidFill>
                <a:latin typeface="Aptos"/>
                <a:ea typeface="Aptos"/>
                <a:cs typeface="Aptos"/>
              </a:defRPr>
            </a:lvl4pPr>
            <a:lvl5pPr>
              <a:buNone/>
              <a:defRPr sz="2700" b="0">
                <a:solidFill>
                  <a:srgbClr val="17354E"/>
                </a:solidFill>
                <a:latin typeface="Aptos"/>
                <a:ea typeface="Aptos"/>
                <a:cs typeface="Aptos"/>
              </a:defRPr>
            </a:lvl5pPr>
            <a:lvl6pPr>
              <a:buNone/>
              <a:defRPr sz="2700" b="0">
                <a:solidFill>
                  <a:srgbClr val="17354E"/>
                </a:solidFill>
                <a:latin typeface="Aptos"/>
                <a:ea typeface="Aptos"/>
                <a:cs typeface="Aptos"/>
              </a:defRPr>
            </a:lvl6pPr>
            <a:lvl7pPr>
              <a:buNone/>
              <a:defRPr sz="2700" b="0">
                <a:solidFill>
                  <a:srgbClr val="17354E"/>
                </a:solidFill>
                <a:latin typeface="Aptos"/>
                <a:ea typeface="Aptos"/>
                <a:cs typeface="Aptos"/>
              </a:defRPr>
            </a:lvl7pPr>
            <a:lvl8pPr>
              <a:buNone/>
              <a:defRPr sz="2700" b="0">
                <a:solidFill>
                  <a:srgbClr val="17354E"/>
                </a:solidFill>
                <a:latin typeface="Aptos"/>
                <a:ea typeface="Aptos"/>
                <a:cs typeface="Aptos"/>
              </a:defRPr>
            </a:lvl8pPr>
            <a:lvl9pPr>
              <a:buNone/>
              <a:defRPr sz="2700" b="0">
                <a:solidFill>
                  <a:srgbClr val="17354E"/>
                </a:solidFill>
                <a:latin typeface="Aptos"/>
                <a:ea typeface="Aptos"/>
                <a:cs typeface="Aptos"/>
              </a:defRPr>
            </a:lvl9pPr>
          </a:lstStyle>
          <a:p xmlns:a="http://schemas.openxmlformats.org/drawingml/2006/main">
            <a:pPr>
              <a:buNone/>
              <a:defRPr sz="2700" b="0">
                <a:solidFill>
                  <a:srgbClr val="17354E"/>
                </a:solidFill>
                <a:latin typeface="Aptos"/>
                <a:ea typeface="Aptos"/>
                <a:cs typeface="Aptos"/>
              </a:defRPr>
            </a:pPr>
            <a:r>
              <a:rPr sz="2700" b="0">
                <a:solidFill>
                  <a:srgbClr val="17354E"/>
                </a:solidFill>
                <a:latin typeface="Aptos"/>
                <a:ea typeface="Aptos"/>
                <a:cs typeface="Aptos"/>
              </a:rPr>
              <a:t>F(n) = F(n − 1) + F(n − 2), for n ≥ 2</a:t>
            </a:r>
          </a:p>
        </p:txBody>
      </p:sp>
      <p:graphicFrame>
        <p:nvGraphicFramePr>
          <p:cNvPr id="6" name="">
            <a:extLst xmlns:a="http://schemas.openxmlformats.org/drawingml/2006/main">
              <a:ext uri="{FF2B5EF4-FFF2-40B4-BE49-F238E27FC236}">
                <a16:creationId xmlns:a16="http://schemas.microsoft.com/office/drawing/2014/main" id="{63079BF6-8CCF-4252-8C64-660F46D1CF4C}"/>
              </a:ext>
            </a:extLst>
          </p:cNvPr>
          <p:cNvGraphicFramePr/>
          <p:nvPr/>
        </p:nvGraphicFramePr>
        <p:xfrm>
          <a:off xmlns:a="http://schemas.openxmlformats.org/drawingml/2006/main" x="533400" y="4171950"/>
          <a:ext xmlns:a="http://schemas.openxmlformats.org/drawingml/2006/main" cx="11125200" cy="1047750"/>
        </p:xfrm>
        <a:graphic xmlns:a="http://schemas.openxmlformats.org/drawingml/2006/main">
          <a:graphicData uri="http://schemas.openxmlformats.org/drawingml/2006/table">
            <a:tbl>
              <a:tblPr/>
              <a:tblGrid>
                <a:gridCol w="1295400"/>
                <a:gridCol w="819150"/>
                <a:gridCol w="819150"/>
                <a:gridCol w="819150"/>
                <a:gridCol w="819150"/>
                <a:gridCol w="819150"/>
                <a:gridCol w="819150"/>
                <a:gridCol w="819150"/>
                <a:gridCol w="819150"/>
                <a:gridCol w="819150"/>
                <a:gridCol w="819150"/>
                <a:gridCol w="819150"/>
                <a:gridCol w="819150"/>
              </a:tblGrid>
              <a:tr h="523875">
                <a:tc>
                  <a:txBody>
                    <a:bodyPr/>
                    <a:lstStyle/>
                    <a:p>
                      <a:r>
                        <a:rPr sz="2175" b="1">
                          <a:solidFill>
                            <a:srgbClr val="FFFFFF"/>
                          </a:solidFill>
                          <a:latin typeface="Aptos"/>
                          <a:ea typeface="Aptos"/>
                          <a:cs typeface="Aptos"/>
                        </a:rPr>
                        <a:t>n</a:t>
                      </a:r>
                    </a:p>
                  </a:txBody>
                  <a:tcPr marL="91440" marR="91440" marT="45720" marB="45720">
                    <a:lnL w="9525">
                      <a:solidFill>
                        <a:srgbClr val="D5E1E7"/>
                      </a:solidFill>
                    </a:lnL>
                    <a:lnR w="9525">
                      <a:solidFill>
                        <a:srgbClr val="D5E1E7"/>
                      </a:solidFill>
                    </a:lnR>
                    <a:lnT w="9525">
                      <a:solidFill>
                        <a:srgbClr val="D5E1E7"/>
                      </a:solidFill>
                    </a:lnT>
                    <a:lnB w="9525">
                      <a:solidFill>
                        <a:srgbClr val="D5E1E7"/>
                      </a:solidFill>
                    </a:lnB>
                    <a:solidFill>
                      <a:srgbClr val="17354E"/>
                    </a:solidFill>
                  </a:tcPr>
                </a:tc>
                <a:tc>
                  <a:txBody>
                    <a:bodyPr/>
                    <a:lstStyle/>
                    <a:p>
                      <a:r>
                        <a:rPr sz="2175" b="1">
                          <a:solidFill>
                            <a:srgbClr val="FFFFFF"/>
                          </a:solidFill>
                          <a:latin typeface="Aptos"/>
                          <a:ea typeface="Aptos"/>
                          <a:cs typeface="Aptos"/>
                        </a:rPr>
                        <a:t>0</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c>
                  <a:txBody>
                    <a:bodyPr/>
                    <a:lstStyle/>
                    <a:p>
                      <a:r>
                        <a:rPr sz="2175" b="1">
                          <a:solidFill>
                            <a:srgbClr val="FFFFFF"/>
                          </a:solidFill>
                          <a:latin typeface="Aptos"/>
                          <a:ea typeface="Aptos"/>
                          <a:cs typeface="Aptos"/>
                        </a:rPr>
                        <a:t>1</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c>
                  <a:txBody>
                    <a:bodyPr/>
                    <a:lstStyle/>
                    <a:p>
                      <a:r>
                        <a:rPr sz="2175" b="1">
                          <a:solidFill>
                            <a:srgbClr val="FFFFFF"/>
                          </a:solidFill>
                          <a:latin typeface="Aptos"/>
                          <a:ea typeface="Aptos"/>
                          <a:cs typeface="Aptos"/>
                        </a:rPr>
                        <a:t>2</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c>
                  <a:txBody>
                    <a:bodyPr/>
                    <a:lstStyle/>
                    <a:p>
                      <a:r>
                        <a:rPr sz="2175" b="1">
                          <a:solidFill>
                            <a:srgbClr val="FFFFFF"/>
                          </a:solidFill>
                          <a:latin typeface="Aptos"/>
                          <a:ea typeface="Aptos"/>
                          <a:cs typeface="Aptos"/>
                        </a:rPr>
                        <a:t>3</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c>
                  <a:txBody>
                    <a:bodyPr/>
                    <a:lstStyle/>
                    <a:p>
                      <a:r>
                        <a:rPr sz="2175" b="1">
                          <a:solidFill>
                            <a:srgbClr val="FFFFFF"/>
                          </a:solidFill>
                          <a:latin typeface="Aptos"/>
                          <a:ea typeface="Aptos"/>
                          <a:cs typeface="Aptos"/>
                        </a:rPr>
                        <a:t>4</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c>
                  <a:txBody>
                    <a:bodyPr/>
                    <a:lstStyle/>
                    <a:p>
                      <a:r>
                        <a:rPr sz="2175" b="1">
                          <a:solidFill>
                            <a:srgbClr val="FFFFFF"/>
                          </a:solidFill>
                          <a:latin typeface="Aptos"/>
                          <a:ea typeface="Aptos"/>
                          <a:cs typeface="Aptos"/>
                        </a:rPr>
                        <a:t>5</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c>
                  <a:txBody>
                    <a:bodyPr/>
                    <a:lstStyle/>
                    <a:p>
                      <a:r>
                        <a:rPr sz="2175" b="1">
                          <a:solidFill>
                            <a:srgbClr val="FFFFFF"/>
                          </a:solidFill>
                          <a:latin typeface="Aptos"/>
                          <a:ea typeface="Aptos"/>
                          <a:cs typeface="Aptos"/>
                        </a:rPr>
                        <a:t>6</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c>
                  <a:txBody>
                    <a:bodyPr/>
                    <a:lstStyle/>
                    <a:p>
                      <a:r>
                        <a:rPr sz="2175" b="1">
                          <a:solidFill>
                            <a:srgbClr val="FFFFFF"/>
                          </a:solidFill>
                          <a:latin typeface="Aptos"/>
                          <a:ea typeface="Aptos"/>
                          <a:cs typeface="Aptos"/>
                        </a:rPr>
                        <a:t>7</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c>
                  <a:txBody>
                    <a:bodyPr/>
                    <a:lstStyle/>
                    <a:p>
                      <a:r>
                        <a:rPr sz="2175" b="1">
                          <a:solidFill>
                            <a:srgbClr val="FFFFFF"/>
                          </a:solidFill>
                          <a:latin typeface="Aptos"/>
                          <a:ea typeface="Aptos"/>
                          <a:cs typeface="Aptos"/>
                        </a:rPr>
                        <a:t>8</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c>
                  <a:txBody>
                    <a:bodyPr/>
                    <a:lstStyle/>
                    <a:p>
                      <a:r>
                        <a:rPr sz="2175" b="1">
                          <a:solidFill>
                            <a:srgbClr val="FFFFFF"/>
                          </a:solidFill>
                          <a:latin typeface="Aptos"/>
                          <a:ea typeface="Aptos"/>
                          <a:cs typeface="Aptos"/>
                        </a:rPr>
                        <a:t>9</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c>
                  <a:txBody>
                    <a:bodyPr/>
                    <a:lstStyle/>
                    <a:p>
                      <a:r>
                        <a:rPr sz="2175" b="1">
                          <a:solidFill>
                            <a:srgbClr val="FFFFFF"/>
                          </a:solidFill>
                          <a:latin typeface="Aptos"/>
                          <a:ea typeface="Aptos"/>
                          <a:cs typeface="Aptos"/>
                        </a:rPr>
                        <a:t>10</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c>
                  <a:txBody>
                    <a:bodyPr/>
                    <a:lstStyle/>
                    <a:p>
                      <a:r>
                        <a:rPr sz="2175" b="1">
                          <a:solidFill>
                            <a:srgbClr val="FFFFFF"/>
                          </a:solidFill>
                          <a:latin typeface="Aptos"/>
                          <a:ea typeface="Aptos"/>
                          <a:cs typeface="Aptos"/>
                        </a:rPr>
                        <a:t>11</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r>
              <a:tr h="523875">
                <a:tc>
                  <a:txBody>
                    <a:bodyPr/>
                    <a:lstStyle/>
                    <a:p>
                      <a:r>
                        <a:rPr sz="2175" b="0">
                          <a:solidFill>
                            <a:srgbClr val="17354E"/>
                          </a:solidFill>
                          <a:latin typeface="Aptos"/>
                          <a:ea typeface="Aptos"/>
                          <a:cs typeface="Aptos"/>
                        </a:rPr>
                        <a:t>F(n)</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2175" b="0">
                          <a:solidFill>
                            <a:srgbClr val="17354E"/>
                          </a:solidFill>
                          <a:latin typeface="Aptos"/>
                          <a:ea typeface="Aptos"/>
                          <a:cs typeface="Aptos"/>
                        </a:rPr>
                        <a:t>0</a:t>
                      </a:r>
                    </a:p>
                  </a:txBody>
                  <a:tcPr marL="91440" marR="91440" marT="45720" marB="45720">
                    <a:lnR w="9525">
                      <a:solidFill>
                        <a:srgbClr val="D5E1E7"/>
                      </a:solidFill>
                    </a:lnR>
                    <a:lnB w="9525">
                      <a:solidFill>
                        <a:srgbClr val="D5E1E7"/>
                      </a:solidFill>
                    </a:lnB>
                    <a:solidFill>
                      <a:srgbClr val="EFF5F7"/>
                    </a:solidFill>
                  </a:tcPr>
                </a:tc>
                <a:tc>
                  <a:txBody>
                    <a:bodyPr/>
                    <a:lstStyle/>
                    <a:p>
                      <a:r>
                        <a:rPr sz="2175" b="0">
                          <a:solidFill>
                            <a:srgbClr val="17354E"/>
                          </a:solidFill>
                          <a:latin typeface="Aptos"/>
                          <a:ea typeface="Aptos"/>
                          <a:cs typeface="Aptos"/>
                        </a:rPr>
                        <a:t>1</a:t>
                      </a:r>
                    </a:p>
                  </a:txBody>
                  <a:tcPr marL="91440" marR="91440" marT="45720" marB="45720">
                    <a:lnR w="9525">
                      <a:solidFill>
                        <a:srgbClr val="D5E1E7"/>
                      </a:solidFill>
                    </a:lnR>
                    <a:lnB w="9525">
                      <a:solidFill>
                        <a:srgbClr val="D5E1E7"/>
                      </a:solidFill>
                    </a:lnB>
                    <a:solidFill>
                      <a:srgbClr val="EFF5F7"/>
                    </a:solidFill>
                  </a:tcPr>
                </a:tc>
                <a:tc>
                  <a:txBody>
                    <a:bodyPr/>
                    <a:lstStyle/>
                    <a:p>
                      <a:r>
                        <a:rPr sz="2175" b="0">
                          <a:solidFill>
                            <a:srgbClr val="17354E"/>
                          </a:solidFill>
                          <a:latin typeface="Aptos"/>
                          <a:ea typeface="Aptos"/>
                          <a:cs typeface="Aptos"/>
                        </a:rPr>
                        <a:t>1</a:t>
                      </a:r>
                    </a:p>
                  </a:txBody>
                  <a:tcPr marL="91440" marR="91440" marT="45720" marB="45720">
                    <a:lnR w="9525">
                      <a:solidFill>
                        <a:srgbClr val="D5E1E7"/>
                      </a:solidFill>
                    </a:lnR>
                    <a:lnB w="9525">
                      <a:solidFill>
                        <a:srgbClr val="D5E1E7"/>
                      </a:solidFill>
                    </a:lnB>
                    <a:solidFill>
                      <a:srgbClr val="EFF5F7"/>
                    </a:solidFill>
                  </a:tcPr>
                </a:tc>
                <a:tc>
                  <a:txBody>
                    <a:bodyPr/>
                    <a:lstStyle/>
                    <a:p>
                      <a:r>
                        <a:rPr sz="2175" b="0">
                          <a:solidFill>
                            <a:srgbClr val="17354E"/>
                          </a:solidFill>
                          <a:latin typeface="Aptos"/>
                          <a:ea typeface="Aptos"/>
                          <a:cs typeface="Aptos"/>
                        </a:rPr>
                        <a:t>2</a:t>
                      </a:r>
                    </a:p>
                  </a:txBody>
                  <a:tcPr marL="91440" marR="91440" marT="45720" marB="45720">
                    <a:lnR w="9525">
                      <a:solidFill>
                        <a:srgbClr val="D5E1E7"/>
                      </a:solidFill>
                    </a:lnR>
                    <a:lnB w="9525">
                      <a:solidFill>
                        <a:srgbClr val="D5E1E7"/>
                      </a:solidFill>
                    </a:lnB>
                    <a:solidFill>
                      <a:srgbClr val="EFF5F7"/>
                    </a:solidFill>
                  </a:tcPr>
                </a:tc>
                <a:tc>
                  <a:txBody>
                    <a:bodyPr/>
                    <a:lstStyle/>
                    <a:p>
                      <a:r>
                        <a:rPr sz="2175" b="0">
                          <a:solidFill>
                            <a:srgbClr val="17354E"/>
                          </a:solidFill>
                          <a:latin typeface="Aptos"/>
                          <a:ea typeface="Aptos"/>
                          <a:cs typeface="Aptos"/>
                        </a:rPr>
                        <a:t>3</a:t>
                      </a:r>
                    </a:p>
                  </a:txBody>
                  <a:tcPr marL="91440" marR="91440" marT="45720" marB="45720">
                    <a:lnR w="9525">
                      <a:solidFill>
                        <a:srgbClr val="D5E1E7"/>
                      </a:solidFill>
                    </a:lnR>
                    <a:lnB w="9525">
                      <a:solidFill>
                        <a:srgbClr val="D5E1E7"/>
                      </a:solidFill>
                    </a:lnB>
                    <a:solidFill>
                      <a:srgbClr val="EFF5F7"/>
                    </a:solidFill>
                  </a:tcPr>
                </a:tc>
                <a:tc>
                  <a:txBody>
                    <a:bodyPr/>
                    <a:lstStyle/>
                    <a:p>
                      <a:r>
                        <a:rPr sz="2175" b="0">
                          <a:solidFill>
                            <a:srgbClr val="17354E"/>
                          </a:solidFill>
                          <a:latin typeface="Aptos"/>
                          <a:ea typeface="Aptos"/>
                          <a:cs typeface="Aptos"/>
                        </a:rPr>
                        <a:t>5</a:t>
                      </a:r>
                    </a:p>
                  </a:txBody>
                  <a:tcPr marL="91440" marR="91440" marT="45720" marB="45720">
                    <a:lnR w="9525">
                      <a:solidFill>
                        <a:srgbClr val="D5E1E7"/>
                      </a:solidFill>
                    </a:lnR>
                    <a:lnB w="9525">
                      <a:solidFill>
                        <a:srgbClr val="D5E1E7"/>
                      </a:solidFill>
                    </a:lnB>
                    <a:solidFill>
                      <a:srgbClr val="EFF5F7"/>
                    </a:solidFill>
                  </a:tcPr>
                </a:tc>
                <a:tc>
                  <a:txBody>
                    <a:bodyPr/>
                    <a:lstStyle/>
                    <a:p>
                      <a:r>
                        <a:rPr sz="2175" b="0">
                          <a:solidFill>
                            <a:srgbClr val="17354E"/>
                          </a:solidFill>
                          <a:latin typeface="Aptos"/>
                          <a:ea typeface="Aptos"/>
                          <a:cs typeface="Aptos"/>
                        </a:rPr>
                        <a:t>8</a:t>
                      </a:r>
                    </a:p>
                  </a:txBody>
                  <a:tcPr marL="91440" marR="91440" marT="45720" marB="45720">
                    <a:lnR w="9525">
                      <a:solidFill>
                        <a:srgbClr val="D5E1E7"/>
                      </a:solidFill>
                    </a:lnR>
                    <a:lnB w="9525">
                      <a:solidFill>
                        <a:srgbClr val="D5E1E7"/>
                      </a:solidFill>
                    </a:lnB>
                    <a:solidFill>
                      <a:srgbClr val="EFF5F7"/>
                    </a:solidFill>
                  </a:tcPr>
                </a:tc>
                <a:tc>
                  <a:txBody>
                    <a:bodyPr/>
                    <a:lstStyle/>
                    <a:p>
                      <a:r>
                        <a:rPr sz="2175" b="0">
                          <a:solidFill>
                            <a:srgbClr val="17354E"/>
                          </a:solidFill>
                          <a:latin typeface="Aptos"/>
                          <a:ea typeface="Aptos"/>
                          <a:cs typeface="Aptos"/>
                        </a:rPr>
                        <a:t>13</a:t>
                      </a:r>
                    </a:p>
                  </a:txBody>
                  <a:tcPr marL="91440" marR="91440" marT="45720" marB="45720">
                    <a:lnR w="9525">
                      <a:solidFill>
                        <a:srgbClr val="D5E1E7"/>
                      </a:solidFill>
                    </a:lnR>
                    <a:lnB w="9525">
                      <a:solidFill>
                        <a:srgbClr val="D5E1E7"/>
                      </a:solidFill>
                    </a:lnB>
                    <a:solidFill>
                      <a:srgbClr val="EFF5F7"/>
                    </a:solidFill>
                  </a:tcPr>
                </a:tc>
                <a:tc>
                  <a:txBody>
                    <a:bodyPr/>
                    <a:lstStyle/>
                    <a:p>
                      <a:r>
                        <a:rPr sz="2175" b="0">
                          <a:solidFill>
                            <a:srgbClr val="17354E"/>
                          </a:solidFill>
                          <a:latin typeface="Aptos"/>
                          <a:ea typeface="Aptos"/>
                          <a:cs typeface="Aptos"/>
                        </a:rPr>
                        <a:t>21</a:t>
                      </a:r>
                    </a:p>
                  </a:txBody>
                  <a:tcPr marL="91440" marR="91440" marT="45720" marB="45720">
                    <a:lnR w="9525">
                      <a:solidFill>
                        <a:srgbClr val="D5E1E7"/>
                      </a:solidFill>
                    </a:lnR>
                    <a:lnB w="9525">
                      <a:solidFill>
                        <a:srgbClr val="D5E1E7"/>
                      </a:solidFill>
                    </a:lnB>
                    <a:solidFill>
                      <a:srgbClr val="EFF5F7"/>
                    </a:solidFill>
                  </a:tcPr>
                </a:tc>
                <a:tc>
                  <a:txBody>
                    <a:bodyPr/>
                    <a:lstStyle/>
                    <a:p>
                      <a:r>
                        <a:rPr sz="2175" b="0">
                          <a:solidFill>
                            <a:srgbClr val="17354E"/>
                          </a:solidFill>
                          <a:latin typeface="Aptos"/>
                          <a:ea typeface="Aptos"/>
                          <a:cs typeface="Aptos"/>
                        </a:rPr>
                        <a:t>34</a:t>
                      </a:r>
                    </a:p>
                  </a:txBody>
                  <a:tcPr marL="91440" marR="91440" marT="45720" marB="45720">
                    <a:lnR w="9525">
                      <a:solidFill>
                        <a:srgbClr val="D5E1E7"/>
                      </a:solidFill>
                    </a:lnR>
                    <a:lnB w="9525">
                      <a:solidFill>
                        <a:srgbClr val="D5E1E7"/>
                      </a:solidFill>
                    </a:lnB>
                    <a:solidFill>
                      <a:srgbClr val="EFF5F7"/>
                    </a:solidFill>
                  </a:tcPr>
                </a:tc>
                <a:tc>
                  <a:txBody>
                    <a:bodyPr/>
                    <a:lstStyle/>
                    <a:p>
                      <a:r>
                        <a:rPr sz="2175" b="0">
                          <a:solidFill>
                            <a:srgbClr val="17354E"/>
                          </a:solidFill>
                          <a:latin typeface="Aptos"/>
                          <a:ea typeface="Aptos"/>
                          <a:cs typeface="Aptos"/>
                        </a:rPr>
                        <a:t>55</a:t>
                      </a:r>
                    </a:p>
                  </a:txBody>
                  <a:tcPr marL="91440" marR="91440" marT="45720" marB="45720">
                    <a:lnR w="9525">
                      <a:solidFill>
                        <a:srgbClr val="D5E1E7"/>
                      </a:solidFill>
                    </a:lnR>
                    <a:lnB w="9525">
                      <a:solidFill>
                        <a:srgbClr val="D5E1E7"/>
                      </a:solidFill>
                    </a:lnB>
                    <a:solidFill>
                      <a:srgbClr val="EFF5F7"/>
                    </a:solidFill>
                  </a:tcPr>
                </a:tc>
                <a:tc>
                  <a:txBody>
                    <a:bodyPr/>
                    <a:lstStyle/>
                    <a:p>
                      <a:r>
                        <a:rPr sz="2175" b="0">
                          <a:solidFill>
                            <a:srgbClr val="17354E"/>
                          </a:solidFill>
                          <a:latin typeface="Aptos"/>
                          <a:ea typeface="Aptos"/>
                          <a:cs typeface="Aptos"/>
                        </a:rPr>
                        <a:t>89</a:t>
                      </a:r>
                    </a:p>
                  </a:txBody>
                  <a:tcPr marL="91440" marR="91440" marT="45720" marB="45720">
                    <a:lnR w="9525">
                      <a:solidFill>
                        <a:srgbClr val="D5E1E7"/>
                      </a:solidFill>
                    </a:lnR>
                    <a:lnB w="9525">
                      <a:solidFill>
                        <a:srgbClr val="D5E1E7"/>
                      </a:solidFill>
                    </a:lnB>
                    <a:solidFill>
                      <a:srgbClr val="EFF5F7"/>
                    </a:solidFill>
                  </a:tcPr>
                </a:tc>
              </a:tr>
            </a:tbl>
          </a:graphicData>
        </a:graphic>
      </p:graphicFrame>
      <p:sp>
        <p:nvSpPr>
          <p:cNvPr id="7" name="">
            <a:extLst xmlns:a="http://schemas.openxmlformats.org/drawingml/2006/main">
              <a:ext uri="{FF2B5EF4-FFF2-40B4-BE49-F238E27FC236}">
                <a16:creationId xmlns:a16="http://schemas.microsoft.com/office/drawing/2014/main" id="{CC22B06D-0B45-4378-BAFF-10B2E62CB00C}"/>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Two base cases are necessary: F(0) and F(1).</a:t>
            </a:r>
          </a:p>
        </p:txBody>
      </p:sp>
      <p:sp>
        <p:nvSpPr>
          <p:cNvPr id="9" name="local-java-Fibonacci">
            <a:extLst xmlns:a="http://schemas.openxmlformats.org/drawingml/2006/main">
              <a:ext uri="{FF2B5EF4-FFF2-40B4-BE49-F238E27FC236}">
                <a16:creationId xmlns:a16="http://schemas.microsoft.com/office/drawing/2014/main" id="{EF8DB8A9-9C9D-4F41-BA9C-4F868D8A0024}"/>
              </a:ext>
            </a:extLst>
          </p:cNvPr>
          <p:cNvSpPr>
            <a:spLocks xmlns:a="http://schemas.openxmlformats.org/drawingml/2006/main" noGrp="1"/>
          </p:cNvSpPr>
          <p:nvPr/>
        </p:nvSpPr>
        <p:spPr>
          <a:xfrm xmlns:a="http://schemas.openxmlformats.org/drawingml/2006/main">
            <a:off x="5143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74c48cb7e65c48c0"/>
              </a:rPr>
              <a:t>Java: Fibonacci.java</a:t>
            </a:r>
          </a:p>
        </p:txBody>
      </p:sp>
    </p:spTree>
    <p:extLst>
      <p:ext uri="{BB962C8B-B14F-4D97-AF65-F5344CB8AC3E}">
        <p14:creationId xmlns:p14="http://schemas.microsoft.com/office/powerpoint/2010/main" val="29660850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F799B7-88DE-444D-B282-76A9CD4CD2EC}"/>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Naive Fibonacci repeats subproblems</a:t>
            </a:r>
          </a:p>
        </p:txBody>
      </p:sp>
      <p:sp>
        <p:nvSpPr>
          <p:cNvPr id="2" name="">
            <a:extLst xmlns:a="http://schemas.openxmlformats.org/drawingml/2006/main">
              <a:ext uri="{FF2B5EF4-FFF2-40B4-BE49-F238E27FC236}">
                <a16:creationId xmlns:a16="http://schemas.microsoft.com/office/drawing/2014/main" id="{C14E68D2-BA6B-4BC9-8746-E76232D9809F}"/>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The method is short, but the same smaller values are computed many times.</a:t>
            </a:r>
          </a:p>
        </p:txBody>
      </p:sp>
      <p:sp>
        <p:nvSpPr>
          <p:cNvPr id="3" name="">
            <a:extLst xmlns:a="http://schemas.openxmlformats.org/drawingml/2006/main">
              <a:ext uri="{FF2B5EF4-FFF2-40B4-BE49-F238E27FC236}">
                <a16:creationId xmlns:a16="http://schemas.microsoft.com/office/drawing/2014/main" id="{A81CF935-4D40-4257-8C80-793E330273EF}"/>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13</a:t>
            </a:r>
          </a:p>
        </p:txBody>
      </p:sp>
      <p:sp>
        <p:nvSpPr>
          <p:cNvPr id="4" name="">
            <a:extLst xmlns:a="http://schemas.openxmlformats.org/drawingml/2006/main">
              <a:ext uri="{FF2B5EF4-FFF2-40B4-BE49-F238E27FC236}">
                <a16:creationId xmlns:a16="http://schemas.microsoft.com/office/drawing/2014/main" id="{B04146E9-16D7-4267-AE1F-4B8BFE4288FD}"/>
              </a:ext>
            </a:extLst>
          </p:cNvPr>
          <p:cNvSpPr>
            <a:spLocks xmlns:a="http://schemas.openxmlformats.org/drawingml/2006/main" noGrp="1"/>
          </p:cNvSpPr>
          <p:nvPr/>
        </p:nvSpPr>
        <p:spPr>
          <a:xfrm xmlns:a="http://schemas.openxmlformats.org/drawingml/2006/main">
            <a:off x="533400" y="2219325"/>
            <a:ext cx="6572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354E"/>
                </a:solidFill>
                <a:latin typeface="Consolas"/>
                <a:ea typeface="Consolas"/>
                <a:cs typeface="Consolas"/>
              </a:defRPr>
            </a:defPPr>
            <a:lvl1pPr>
              <a:buNone/>
              <a:defRPr sz="1950" b="0">
                <a:solidFill>
                  <a:srgbClr val="17354E"/>
                </a:solidFill>
                <a:latin typeface="Consolas"/>
                <a:ea typeface="Consolas"/>
                <a:cs typeface="Consolas"/>
              </a:defRPr>
            </a:lvl1pPr>
            <a:lvl2pPr>
              <a:buNone/>
              <a:defRPr sz="1950" b="0">
                <a:solidFill>
                  <a:srgbClr val="17354E"/>
                </a:solidFill>
                <a:latin typeface="Consolas"/>
                <a:ea typeface="Consolas"/>
                <a:cs typeface="Consolas"/>
              </a:defRPr>
            </a:lvl2pPr>
            <a:lvl3pPr>
              <a:buNone/>
              <a:defRPr sz="1950" b="0">
                <a:solidFill>
                  <a:srgbClr val="17354E"/>
                </a:solidFill>
                <a:latin typeface="Consolas"/>
                <a:ea typeface="Consolas"/>
                <a:cs typeface="Consolas"/>
              </a:defRPr>
            </a:lvl3pPr>
            <a:lvl4pPr>
              <a:buNone/>
              <a:defRPr sz="1950" b="0">
                <a:solidFill>
                  <a:srgbClr val="17354E"/>
                </a:solidFill>
                <a:latin typeface="Consolas"/>
                <a:ea typeface="Consolas"/>
                <a:cs typeface="Consolas"/>
              </a:defRPr>
            </a:lvl4pPr>
            <a:lvl5pPr>
              <a:buNone/>
              <a:defRPr sz="1950" b="0">
                <a:solidFill>
                  <a:srgbClr val="17354E"/>
                </a:solidFill>
                <a:latin typeface="Consolas"/>
                <a:ea typeface="Consolas"/>
                <a:cs typeface="Consolas"/>
              </a:defRPr>
            </a:lvl5pPr>
            <a:lvl6pPr>
              <a:buNone/>
              <a:defRPr sz="1950" b="0">
                <a:solidFill>
                  <a:srgbClr val="17354E"/>
                </a:solidFill>
                <a:latin typeface="Consolas"/>
                <a:ea typeface="Consolas"/>
                <a:cs typeface="Consolas"/>
              </a:defRPr>
            </a:lvl6pPr>
            <a:lvl7pPr>
              <a:buNone/>
              <a:defRPr sz="1950" b="0">
                <a:solidFill>
                  <a:srgbClr val="17354E"/>
                </a:solidFill>
                <a:latin typeface="Consolas"/>
                <a:ea typeface="Consolas"/>
                <a:cs typeface="Consolas"/>
              </a:defRPr>
            </a:lvl7pPr>
            <a:lvl8pPr>
              <a:buNone/>
              <a:defRPr sz="1950" b="0">
                <a:solidFill>
                  <a:srgbClr val="17354E"/>
                </a:solidFill>
                <a:latin typeface="Consolas"/>
                <a:ea typeface="Consolas"/>
                <a:cs typeface="Consolas"/>
              </a:defRPr>
            </a:lvl8pPr>
            <a:lvl9pPr>
              <a:buNone/>
              <a:defRPr sz="1950" b="0">
                <a:solidFill>
                  <a:srgbClr val="17354E"/>
                </a:solidFill>
                <a:latin typeface="Consolas"/>
                <a:ea typeface="Consolas"/>
                <a:cs typeface="Consolas"/>
              </a:defRPr>
            </a:lvl9pPr>
          </a:lstStyle>
          <a:p xmlns:a="http://schemas.openxmlformats.org/drawingml/2006/main">
            <a:pPr>
              <a:buNone/>
              <a:defRPr sz="1950" b="0">
                <a:solidFill>
                  <a:srgbClr val="17354E"/>
                </a:solidFill>
                <a:latin typeface="Consolas"/>
                <a:ea typeface="Consolas"/>
                <a:cs typeface="Consolas"/>
              </a:defRPr>
            </a:pPr>
            <a:r>
              <a:rPr sz="1950" b="0">
                <a:solidFill>
                  <a:srgbClr val="17354E"/>
                </a:solidFill>
                <a:latin typeface="Consolas"/>
                <a:ea typeface="Consolas"/>
                <a:cs typeface="Consolas"/>
              </a:rPr>
              <a:t>static long fib(int n) {</a:t>
            </a:r>
          </a:p>
          <a:p xmlns:a="http://schemas.openxmlformats.org/drawingml/2006/main">
            <a:pPr>
              <a:buNone/>
              <a:defRPr sz="1950" b="0">
                <a:solidFill>
                  <a:srgbClr val="17354E"/>
                </a:solidFill>
                <a:latin typeface="Consolas"/>
                <a:ea typeface="Consolas"/>
                <a:cs typeface="Consolas"/>
              </a:defRPr>
            </a:pPr>
            <a:r>
              <a:rPr sz="1950" b="0">
                <a:solidFill>
                  <a:srgbClr val="17354E"/>
                </a:solidFill>
                <a:latin typeface="Consolas"/>
                <a:ea typeface="Consolas"/>
                <a:cs typeface="Consolas"/>
              </a:rPr>
              <a:t>    if (n &lt; 0 || n &gt; 92)</a:t>
            </a:r>
          </a:p>
          <a:p xmlns:a="http://schemas.openxmlformats.org/drawingml/2006/main">
            <a:pPr>
              <a:buNone/>
              <a:defRPr sz="1950" b="0">
                <a:solidFill>
                  <a:srgbClr val="17354E"/>
                </a:solidFill>
                <a:latin typeface="Consolas"/>
                <a:ea typeface="Consolas"/>
                <a:cs typeface="Consolas"/>
              </a:defRPr>
            </a:pPr>
            <a:r>
              <a:rPr sz="1950" b="0">
                <a:solidFill>
                  <a:srgbClr val="17354E"/>
                </a:solidFill>
                <a:latin typeface="Consolas"/>
                <a:ea typeface="Consolas"/>
                <a:cs typeface="Consolas"/>
              </a:rPr>
              <a:t>        throw new IllegalArgumentException();</a:t>
            </a:r>
          </a:p>
          <a:p xmlns:a="http://schemas.openxmlformats.org/drawingml/2006/main">
            <a:pPr>
              <a:buNone/>
              <a:defRPr sz="1950" b="0">
                <a:solidFill>
                  <a:srgbClr val="17354E"/>
                </a:solidFill>
                <a:latin typeface="Consolas"/>
                <a:ea typeface="Consolas"/>
                <a:cs typeface="Consolas"/>
              </a:defRPr>
            </a:pPr>
            <a:r>
              <a:rPr sz="1950" b="0">
                <a:solidFill>
                  <a:srgbClr val="17354E"/>
                </a:solidFill>
                <a:latin typeface="Consolas"/>
                <a:ea typeface="Consolas"/>
                <a:cs typeface="Consolas"/>
              </a:rPr>
              <a:t>    if (n &lt; 2) return n;</a:t>
            </a:r>
          </a:p>
          <a:p xmlns:a="http://schemas.openxmlformats.org/drawingml/2006/main">
            <a:pPr>
              <a:buNone/>
              <a:defRPr sz="1950" b="0">
                <a:solidFill>
                  <a:srgbClr val="17354E"/>
                </a:solidFill>
                <a:latin typeface="Consolas"/>
                <a:ea typeface="Consolas"/>
                <a:cs typeface="Consolas"/>
              </a:defRPr>
            </a:pPr>
            <a:r>
              <a:rPr sz="1950" b="0">
                <a:solidFill>
                  <a:srgbClr val="17354E"/>
                </a:solidFill>
                <a:latin typeface="Consolas"/>
                <a:ea typeface="Consolas"/>
                <a:cs typeface="Consolas"/>
              </a:rPr>
              <a:t>    return fib(n - 1) + fib(n - 2);</a:t>
            </a:r>
          </a:p>
          <a:p xmlns:a="http://schemas.openxmlformats.org/drawingml/2006/main">
            <a:pPr>
              <a:buNone/>
              <a:defRPr sz="1950" b="0">
                <a:solidFill>
                  <a:srgbClr val="17354E"/>
                </a:solidFill>
                <a:latin typeface="Consolas"/>
                <a:ea typeface="Consolas"/>
                <a:cs typeface="Consolas"/>
              </a:defRPr>
            </a:pPr>
            <a:r>
              <a:rPr sz="1950" b="0">
                <a:solidFill>
                  <a:srgbClr val="17354E"/>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8C9F06BC-8AA1-4558-AEE2-A8FB4E02C93A}"/>
              </a:ext>
            </a:extLst>
          </p:cNvPr>
          <p:cNvSpPr>
            <a:spLocks xmlns:a="http://schemas.openxmlformats.org/drawingml/2006/main" noGrp="1"/>
          </p:cNvSpPr>
          <p:nvPr/>
        </p:nvSpPr>
        <p:spPr>
          <a:xfrm xmlns:a="http://schemas.openxmlformats.org/drawingml/2006/main">
            <a:off x="7562850" y="2238375"/>
            <a:ext cx="4095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7354E"/>
                </a:solidFill>
                <a:latin typeface="Aptos"/>
                <a:ea typeface="Aptos"/>
                <a:cs typeface="Aptos"/>
              </a:defRPr>
            </a:defPPr>
            <a:lvl1pPr>
              <a:buNone/>
              <a:defRPr sz="2025" b="0">
                <a:solidFill>
                  <a:srgbClr val="17354E"/>
                </a:solidFill>
                <a:latin typeface="Aptos"/>
                <a:ea typeface="Aptos"/>
                <a:cs typeface="Aptos"/>
              </a:defRPr>
            </a:lvl1pPr>
            <a:lvl2pPr>
              <a:buNone/>
              <a:defRPr sz="2025" b="0">
                <a:solidFill>
                  <a:srgbClr val="17354E"/>
                </a:solidFill>
                <a:latin typeface="Aptos"/>
                <a:ea typeface="Aptos"/>
                <a:cs typeface="Aptos"/>
              </a:defRPr>
            </a:lvl2pPr>
            <a:lvl3pPr>
              <a:buNone/>
              <a:defRPr sz="2025" b="0">
                <a:solidFill>
                  <a:srgbClr val="17354E"/>
                </a:solidFill>
                <a:latin typeface="Aptos"/>
                <a:ea typeface="Aptos"/>
                <a:cs typeface="Aptos"/>
              </a:defRPr>
            </a:lvl3pPr>
            <a:lvl4pPr>
              <a:buNone/>
              <a:defRPr sz="2025" b="0">
                <a:solidFill>
                  <a:srgbClr val="17354E"/>
                </a:solidFill>
                <a:latin typeface="Aptos"/>
                <a:ea typeface="Aptos"/>
                <a:cs typeface="Aptos"/>
              </a:defRPr>
            </a:lvl4pPr>
            <a:lvl5pPr>
              <a:buNone/>
              <a:defRPr sz="2025" b="0">
                <a:solidFill>
                  <a:srgbClr val="17354E"/>
                </a:solidFill>
                <a:latin typeface="Aptos"/>
                <a:ea typeface="Aptos"/>
                <a:cs typeface="Aptos"/>
              </a:defRPr>
            </a:lvl5pPr>
            <a:lvl6pPr>
              <a:buNone/>
              <a:defRPr sz="2025" b="0">
                <a:solidFill>
                  <a:srgbClr val="17354E"/>
                </a:solidFill>
                <a:latin typeface="Aptos"/>
                <a:ea typeface="Aptos"/>
                <a:cs typeface="Aptos"/>
              </a:defRPr>
            </a:lvl6pPr>
            <a:lvl7pPr>
              <a:buNone/>
              <a:defRPr sz="2025" b="0">
                <a:solidFill>
                  <a:srgbClr val="17354E"/>
                </a:solidFill>
                <a:latin typeface="Aptos"/>
                <a:ea typeface="Aptos"/>
                <a:cs typeface="Aptos"/>
              </a:defRPr>
            </a:lvl7pPr>
            <a:lvl8pPr>
              <a:buNone/>
              <a:defRPr sz="2025" b="0">
                <a:solidFill>
                  <a:srgbClr val="17354E"/>
                </a:solidFill>
                <a:latin typeface="Aptos"/>
                <a:ea typeface="Aptos"/>
                <a:cs typeface="Aptos"/>
              </a:defRPr>
            </a:lvl8pPr>
            <a:lvl9pPr>
              <a:buNone/>
              <a:defRPr sz="2025" b="0">
                <a:solidFill>
                  <a:srgbClr val="17354E"/>
                </a:solidFill>
                <a:latin typeface="Aptos"/>
                <a:ea typeface="Aptos"/>
                <a:cs typeface="Aptos"/>
              </a:defRPr>
            </a:lvl9pPr>
          </a:lstStyle>
          <a:p xmlns:a="http://schemas.openxmlformats.org/drawingml/2006/main">
            <a:pPr>
              <a:buNone/>
              <a:defRPr sz="2025" b="0">
                <a:solidFill>
                  <a:srgbClr val="17354E"/>
                </a:solidFill>
                <a:latin typeface="Aptos"/>
                <a:ea typeface="Aptos"/>
                <a:cs typeface="Aptos"/>
              </a:defRPr>
            </a:pPr>
            <a:r>
              <a:rPr sz="2025" b="0">
                <a:solidFill>
                  <a:srgbClr val="17354E"/>
                </a:solidFill>
                <a:latin typeface="Aptos"/>
                <a:ea typeface="Aptos"/>
                <a:cs typeface="Aptos"/>
              </a:rPr>
              <a:t>fib(5) computes fib(3) twice.</a:t>
            </a:r>
          </a:p>
        </p:txBody>
      </p:sp>
      <p:sp>
        <p:nvSpPr>
          <p:cNvPr id="6" name="">
            <a:extLst xmlns:a="http://schemas.openxmlformats.org/drawingml/2006/main">
              <a:ext uri="{FF2B5EF4-FFF2-40B4-BE49-F238E27FC236}">
                <a16:creationId xmlns:a16="http://schemas.microsoft.com/office/drawing/2014/main" id="{49D28B79-29D4-4067-85B4-A0ADFEE506A5}"/>
              </a:ext>
            </a:extLst>
          </p:cNvPr>
          <p:cNvSpPr>
            <a:spLocks xmlns:a="http://schemas.openxmlformats.org/drawingml/2006/main" noGrp="1"/>
          </p:cNvSpPr>
          <p:nvPr/>
        </p:nvSpPr>
        <p:spPr>
          <a:xfrm xmlns:a="http://schemas.openxmlformats.org/drawingml/2006/main">
            <a:off x="7562850" y="3152775"/>
            <a:ext cx="4095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7354E"/>
                </a:solidFill>
                <a:latin typeface="Aptos"/>
                <a:ea typeface="Aptos"/>
                <a:cs typeface="Aptos"/>
              </a:defRPr>
            </a:defPPr>
            <a:lvl1pPr>
              <a:buNone/>
              <a:defRPr sz="2025" b="0">
                <a:solidFill>
                  <a:srgbClr val="17354E"/>
                </a:solidFill>
                <a:latin typeface="Aptos"/>
                <a:ea typeface="Aptos"/>
                <a:cs typeface="Aptos"/>
              </a:defRPr>
            </a:lvl1pPr>
            <a:lvl2pPr>
              <a:buNone/>
              <a:defRPr sz="2025" b="0">
                <a:solidFill>
                  <a:srgbClr val="17354E"/>
                </a:solidFill>
                <a:latin typeface="Aptos"/>
                <a:ea typeface="Aptos"/>
                <a:cs typeface="Aptos"/>
              </a:defRPr>
            </a:lvl2pPr>
            <a:lvl3pPr>
              <a:buNone/>
              <a:defRPr sz="2025" b="0">
                <a:solidFill>
                  <a:srgbClr val="17354E"/>
                </a:solidFill>
                <a:latin typeface="Aptos"/>
                <a:ea typeface="Aptos"/>
                <a:cs typeface="Aptos"/>
              </a:defRPr>
            </a:lvl3pPr>
            <a:lvl4pPr>
              <a:buNone/>
              <a:defRPr sz="2025" b="0">
                <a:solidFill>
                  <a:srgbClr val="17354E"/>
                </a:solidFill>
                <a:latin typeface="Aptos"/>
                <a:ea typeface="Aptos"/>
                <a:cs typeface="Aptos"/>
              </a:defRPr>
            </a:lvl4pPr>
            <a:lvl5pPr>
              <a:buNone/>
              <a:defRPr sz="2025" b="0">
                <a:solidFill>
                  <a:srgbClr val="17354E"/>
                </a:solidFill>
                <a:latin typeface="Aptos"/>
                <a:ea typeface="Aptos"/>
                <a:cs typeface="Aptos"/>
              </a:defRPr>
            </a:lvl5pPr>
            <a:lvl6pPr>
              <a:buNone/>
              <a:defRPr sz="2025" b="0">
                <a:solidFill>
                  <a:srgbClr val="17354E"/>
                </a:solidFill>
                <a:latin typeface="Aptos"/>
                <a:ea typeface="Aptos"/>
                <a:cs typeface="Aptos"/>
              </a:defRPr>
            </a:lvl6pPr>
            <a:lvl7pPr>
              <a:buNone/>
              <a:defRPr sz="2025" b="0">
                <a:solidFill>
                  <a:srgbClr val="17354E"/>
                </a:solidFill>
                <a:latin typeface="Aptos"/>
                <a:ea typeface="Aptos"/>
                <a:cs typeface="Aptos"/>
              </a:defRPr>
            </a:lvl7pPr>
            <a:lvl8pPr>
              <a:buNone/>
              <a:defRPr sz="2025" b="0">
                <a:solidFill>
                  <a:srgbClr val="17354E"/>
                </a:solidFill>
                <a:latin typeface="Aptos"/>
                <a:ea typeface="Aptos"/>
                <a:cs typeface="Aptos"/>
              </a:defRPr>
            </a:lvl8pPr>
            <a:lvl9pPr>
              <a:buNone/>
              <a:defRPr sz="2025" b="0">
                <a:solidFill>
                  <a:srgbClr val="17354E"/>
                </a:solidFill>
                <a:latin typeface="Aptos"/>
                <a:ea typeface="Aptos"/>
                <a:cs typeface="Aptos"/>
              </a:defRPr>
            </a:lvl9pPr>
          </a:lstStyle>
          <a:p xmlns:a="http://schemas.openxmlformats.org/drawingml/2006/main">
            <a:pPr>
              <a:buNone/>
              <a:defRPr sz="2025" b="0">
                <a:solidFill>
                  <a:srgbClr val="17354E"/>
                </a:solidFill>
                <a:latin typeface="Aptos"/>
                <a:ea typeface="Aptos"/>
                <a:cs typeface="Aptos"/>
              </a:defRPr>
            </a:pPr>
            <a:r>
              <a:rPr sz="2025" b="0">
                <a:solidFill>
                  <a:srgbClr val="17354E"/>
                </a:solidFill>
                <a:latin typeface="Aptos"/>
                <a:ea typeface="Aptos"/>
                <a:cs typeface="Aptos"/>
              </a:rPr>
              <a:t>Memoization stores earlier results.</a:t>
            </a:r>
          </a:p>
        </p:txBody>
      </p:sp>
      <p:sp>
        <p:nvSpPr>
          <p:cNvPr id="7" name="">
            <a:extLst xmlns:a="http://schemas.openxmlformats.org/drawingml/2006/main">
              <a:ext uri="{FF2B5EF4-FFF2-40B4-BE49-F238E27FC236}">
                <a16:creationId xmlns:a16="http://schemas.microsoft.com/office/drawing/2014/main" id="{1CE5F8CD-7960-432C-AE54-FD56B5181803}"/>
              </a:ext>
            </a:extLst>
          </p:cNvPr>
          <p:cNvSpPr>
            <a:spLocks xmlns:a="http://schemas.openxmlformats.org/drawingml/2006/main" noGrp="1"/>
          </p:cNvSpPr>
          <p:nvPr/>
        </p:nvSpPr>
        <p:spPr>
          <a:xfrm xmlns:a="http://schemas.openxmlformats.org/drawingml/2006/main">
            <a:off x="7562850" y="4067175"/>
            <a:ext cx="4095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7354E"/>
                </a:solidFill>
                <a:latin typeface="Aptos"/>
                <a:ea typeface="Aptos"/>
                <a:cs typeface="Aptos"/>
              </a:defRPr>
            </a:defPPr>
            <a:lvl1pPr>
              <a:buNone/>
              <a:defRPr sz="2025" b="0">
                <a:solidFill>
                  <a:srgbClr val="17354E"/>
                </a:solidFill>
                <a:latin typeface="Aptos"/>
                <a:ea typeface="Aptos"/>
                <a:cs typeface="Aptos"/>
              </a:defRPr>
            </a:lvl1pPr>
            <a:lvl2pPr>
              <a:buNone/>
              <a:defRPr sz="2025" b="0">
                <a:solidFill>
                  <a:srgbClr val="17354E"/>
                </a:solidFill>
                <a:latin typeface="Aptos"/>
                <a:ea typeface="Aptos"/>
                <a:cs typeface="Aptos"/>
              </a:defRPr>
            </a:lvl2pPr>
            <a:lvl3pPr>
              <a:buNone/>
              <a:defRPr sz="2025" b="0">
                <a:solidFill>
                  <a:srgbClr val="17354E"/>
                </a:solidFill>
                <a:latin typeface="Aptos"/>
                <a:ea typeface="Aptos"/>
                <a:cs typeface="Aptos"/>
              </a:defRPr>
            </a:lvl3pPr>
            <a:lvl4pPr>
              <a:buNone/>
              <a:defRPr sz="2025" b="0">
                <a:solidFill>
                  <a:srgbClr val="17354E"/>
                </a:solidFill>
                <a:latin typeface="Aptos"/>
                <a:ea typeface="Aptos"/>
                <a:cs typeface="Aptos"/>
              </a:defRPr>
            </a:lvl4pPr>
            <a:lvl5pPr>
              <a:buNone/>
              <a:defRPr sz="2025" b="0">
                <a:solidFill>
                  <a:srgbClr val="17354E"/>
                </a:solidFill>
                <a:latin typeface="Aptos"/>
                <a:ea typeface="Aptos"/>
                <a:cs typeface="Aptos"/>
              </a:defRPr>
            </a:lvl5pPr>
            <a:lvl6pPr>
              <a:buNone/>
              <a:defRPr sz="2025" b="0">
                <a:solidFill>
                  <a:srgbClr val="17354E"/>
                </a:solidFill>
                <a:latin typeface="Aptos"/>
                <a:ea typeface="Aptos"/>
                <a:cs typeface="Aptos"/>
              </a:defRPr>
            </a:lvl6pPr>
            <a:lvl7pPr>
              <a:buNone/>
              <a:defRPr sz="2025" b="0">
                <a:solidFill>
                  <a:srgbClr val="17354E"/>
                </a:solidFill>
                <a:latin typeface="Aptos"/>
                <a:ea typeface="Aptos"/>
                <a:cs typeface="Aptos"/>
              </a:defRPr>
            </a:lvl7pPr>
            <a:lvl8pPr>
              <a:buNone/>
              <a:defRPr sz="2025" b="0">
                <a:solidFill>
                  <a:srgbClr val="17354E"/>
                </a:solidFill>
                <a:latin typeface="Aptos"/>
                <a:ea typeface="Aptos"/>
                <a:cs typeface="Aptos"/>
              </a:defRPr>
            </a:lvl8pPr>
            <a:lvl9pPr>
              <a:buNone/>
              <a:defRPr sz="2025" b="0">
                <a:solidFill>
                  <a:srgbClr val="17354E"/>
                </a:solidFill>
                <a:latin typeface="Aptos"/>
                <a:ea typeface="Aptos"/>
                <a:cs typeface="Aptos"/>
              </a:defRPr>
            </a:lvl9pPr>
          </a:lstStyle>
          <a:p xmlns:a="http://schemas.openxmlformats.org/drawingml/2006/main">
            <a:pPr>
              <a:buNone/>
              <a:defRPr sz="2025" b="0">
                <a:solidFill>
                  <a:srgbClr val="17354E"/>
                </a:solidFill>
                <a:latin typeface="Aptos"/>
                <a:ea typeface="Aptos"/>
                <a:cs typeface="Aptos"/>
              </a:defRPr>
            </a:pPr>
            <a:r>
              <a:rPr sz="2025" b="0">
                <a:solidFill>
                  <a:srgbClr val="17354E"/>
                </a:solidFill>
                <a:latin typeface="Aptos"/>
                <a:ea typeface="Aptos"/>
                <a:cs typeface="Aptos"/>
              </a:rPr>
              <a:t>Memoized or iterative time: O(n).</a:t>
            </a:r>
          </a:p>
        </p:txBody>
      </p:sp>
      <p:sp>
        <p:nvSpPr>
          <p:cNvPr id="8" name="">
            <a:extLst xmlns:a="http://schemas.openxmlformats.org/drawingml/2006/main">
              <a:ext uri="{FF2B5EF4-FFF2-40B4-BE49-F238E27FC236}">
                <a16:creationId xmlns:a16="http://schemas.microsoft.com/office/drawing/2014/main" id="{74E97F77-AA4B-4FB3-8F9C-5119645DFB62}"/>
              </a:ext>
            </a:extLst>
          </p:cNvPr>
          <p:cNvSpPr>
            <a:spLocks xmlns:a="http://schemas.openxmlformats.org/drawingml/2006/main" noGrp="1"/>
          </p:cNvSpPr>
          <p:nvPr/>
        </p:nvSpPr>
        <p:spPr>
          <a:xfrm xmlns:a="http://schemas.openxmlformats.org/drawingml/2006/main">
            <a:off x="533400" y="5219700"/>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4D6172"/>
                </a:solidFill>
                <a:latin typeface="Aptos"/>
                <a:ea typeface="Aptos"/>
                <a:cs typeface="Aptos"/>
              </a:defRPr>
            </a:defPPr>
            <a:lvl1pPr>
              <a:buNone/>
              <a:defRPr sz="1875" b="0">
                <a:solidFill>
                  <a:srgbClr val="4D6172"/>
                </a:solidFill>
                <a:latin typeface="Aptos"/>
                <a:ea typeface="Aptos"/>
                <a:cs typeface="Aptos"/>
              </a:defRPr>
            </a:lvl1pPr>
            <a:lvl2pPr>
              <a:buNone/>
              <a:defRPr sz="1875" b="0">
                <a:solidFill>
                  <a:srgbClr val="4D6172"/>
                </a:solidFill>
                <a:latin typeface="Aptos"/>
                <a:ea typeface="Aptos"/>
                <a:cs typeface="Aptos"/>
              </a:defRPr>
            </a:lvl2pPr>
            <a:lvl3pPr>
              <a:buNone/>
              <a:defRPr sz="1875" b="0">
                <a:solidFill>
                  <a:srgbClr val="4D6172"/>
                </a:solidFill>
                <a:latin typeface="Aptos"/>
                <a:ea typeface="Aptos"/>
                <a:cs typeface="Aptos"/>
              </a:defRPr>
            </a:lvl3pPr>
            <a:lvl4pPr>
              <a:buNone/>
              <a:defRPr sz="1875" b="0">
                <a:solidFill>
                  <a:srgbClr val="4D6172"/>
                </a:solidFill>
                <a:latin typeface="Aptos"/>
                <a:ea typeface="Aptos"/>
                <a:cs typeface="Aptos"/>
              </a:defRPr>
            </a:lvl4pPr>
            <a:lvl5pPr>
              <a:buNone/>
              <a:defRPr sz="1875" b="0">
                <a:solidFill>
                  <a:srgbClr val="4D6172"/>
                </a:solidFill>
                <a:latin typeface="Aptos"/>
                <a:ea typeface="Aptos"/>
                <a:cs typeface="Aptos"/>
              </a:defRPr>
            </a:lvl5pPr>
            <a:lvl6pPr>
              <a:buNone/>
              <a:defRPr sz="1875" b="0">
                <a:solidFill>
                  <a:srgbClr val="4D6172"/>
                </a:solidFill>
                <a:latin typeface="Aptos"/>
                <a:ea typeface="Aptos"/>
                <a:cs typeface="Aptos"/>
              </a:defRPr>
            </a:lvl6pPr>
            <a:lvl7pPr>
              <a:buNone/>
              <a:defRPr sz="1875" b="0">
                <a:solidFill>
                  <a:srgbClr val="4D6172"/>
                </a:solidFill>
                <a:latin typeface="Aptos"/>
                <a:ea typeface="Aptos"/>
                <a:cs typeface="Aptos"/>
              </a:defRPr>
            </a:lvl7pPr>
            <a:lvl8pPr>
              <a:buNone/>
              <a:defRPr sz="1875" b="0">
                <a:solidFill>
                  <a:srgbClr val="4D6172"/>
                </a:solidFill>
                <a:latin typeface="Aptos"/>
                <a:ea typeface="Aptos"/>
                <a:cs typeface="Aptos"/>
              </a:defRPr>
            </a:lvl8pPr>
            <a:lvl9pPr>
              <a:buNone/>
              <a:defRPr sz="1875" b="0">
                <a:solidFill>
                  <a:srgbClr val="4D6172"/>
                </a:solidFill>
                <a:latin typeface="Aptos"/>
                <a:ea typeface="Aptos"/>
                <a:cs typeface="Aptos"/>
              </a:defRPr>
            </a:lvl9pPr>
          </a:lstStyle>
          <a:p xmlns:a="http://schemas.openxmlformats.org/drawingml/2006/main">
            <a:pPr>
              <a:buNone/>
              <a:defRPr sz="1875" b="0">
                <a:solidFill>
                  <a:srgbClr val="4D6172"/>
                </a:solidFill>
                <a:latin typeface="Aptos"/>
                <a:ea typeface="Aptos"/>
                <a:cs typeface="Aptos"/>
              </a:defRPr>
            </a:pPr>
            <a:r>
              <a:rPr sz="1875" b="0">
                <a:solidFill>
                  <a:srgbClr val="4D6172"/>
                </a:solidFill>
                <a:latin typeface="Aptos"/>
                <a:ea typeface="Aptos"/>
                <a:cs typeface="Aptos"/>
              </a:rPr>
              <a:t>Use n ≤ 10 for tracing. long stores values through F(92).</a:t>
            </a:r>
          </a:p>
        </p:txBody>
      </p:sp>
      <p:sp>
        <p:nvSpPr>
          <p:cNvPr id="9" name="">
            <a:extLst xmlns:a="http://schemas.openxmlformats.org/drawingml/2006/main">
              <a:ext uri="{FF2B5EF4-FFF2-40B4-BE49-F238E27FC236}">
                <a16:creationId xmlns:a16="http://schemas.microsoft.com/office/drawing/2014/main" id="{D8ABC9DB-1F98-45B5-8AF9-64BDD34C1AD4}"/>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87F8C"/>
                </a:solidFill>
                <a:latin typeface="Aptos"/>
                <a:ea typeface="Aptos"/>
                <a:cs typeface="Aptos"/>
              </a:defRPr>
            </a:defPPr>
            <a:lvl1pPr>
              <a:buNone/>
              <a:defRPr sz="2025" b="1">
                <a:solidFill>
                  <a:srgbClr val="087F8C"/>
                </a:solidFill>
                <a:latin typeface="Aptos"/>
                <a:ea typeface="Aptos"/>
                <a:cs typeface="Aptos"/>
              </a:defRPr>
            </a:lvl1pPr>
            <a:lvl2pPr>
              <a:buNone/>
              <a:defRPr sz="2025" b="1">
                <a:solidFill>
                  <a:srgbClr val="087F8C"/>
                </a:solidFill>
                <a:latin typeface="Aptos"/>
                <a:ea typeface="Aptos"/>
                <a:cs typeface="Aptos"/>
              </a:defRPr>
            </a:lvl2pPr>
            <a:lvl3pPr>
              <a:buNone/>
              <a:defRPr sz="2025" b="1">
                <a:solidFill>
                  <a:srgbClr val="087F8C"/>
                </a:solidFill>
                <a:latin typeface="Aptos"/>
                <a:ea typeface="Aptos"/>
                <a:cs typeface="Aptos"/>
              </a:defRPr>
            </a:lvl3pPr>
            <a:lvl4pPr>
              <a:buNone/>
              <a:defRPr sz="2025" b="1">
                <a:solidFill>
                  <a:srgbClr val="087F8C"/>
                </a:solidFill>
                <a:latin typeface="Aptos"/>
                <a:ea typeface="Aptos"/>
                <a:cs typeface="Aptos"/>
              </a:defRPr>
            </a:lvl4pPr>
            <a:lvl5pPr>
              <a:buNone/>
              <a:defRPr sz="2025" b="1">
                <a:solidFill>
                  <a:srgbClr val="087F8C"/>
                </a:solidFill>
                <a:latin typeface="Aptos"/>
                <a:ea typeface="Aptos"/>
                <a:cs typeface="Aptos"/>
              </a:defRPr>
            </a:lvl5pPr>
            <a:lvl6pPr>
              <a:buNone/>
              <a:defRPr sz="2025" b="1">
                <a:solidFill>
                  <a:srgbClr val="087F8C"/>
                </a:solidFill>
                <a:latin typeface="Aptos"/>
                <a:ea typeface="Aptos"/>
                <a:cs typeface="Aptos"/>
              </a:defRPr>
            </a:lvl6pPr>
            <a:lvl7pPr>
              <a:buNone/>
              <a:defRPr sz="2025" b="1">
                <a:solidFill>
                  <a:srgbClr val="087F8C"/>
                </a:solidFill>
                <a:latin typeface="Aptos"/>
                <a:ea typeface="Aptos"/>
                <a:cs typeface="Aptos"/>
              </a:defRPr>
            </a:lvl7pPr>
            <a:lvl8pPr>
              <a:buNone/>
              <a:defRPr sz="2025" b="1">
                <a:solidFill>
                  <a:srgbClr val="087F8C"/>
                </a:solidFill>
                <a:latin typeface="Aptos"/>
                <a:ea typeface="Aptos"/>
                <a:cs typeface="Aptos"/>
              </a:defRPr>
            </a:lvl8pPr>
            <a:lvl9pPr>
              <a:buNone/>
              <a:defRPr sz="2025" b="1">
                <a:solidFill>
                  <a:srgbClr val="087F8C"/>
                </a:solidFill>
                <a:latin typeface="Aptos"/>
                <a:ea typeface="Aptos"/>
                <a:cs typeface="Aptos"/>
              </a:defRPr>
            </a:lvl9pPr>
          </a:lstStyle>
          <a:p xmlns:a="http://schemas.openxmlformats.org/drawingml/2006/main">
            <a:pPr>
              <a:buNone/>
              <a:defRPr sz="2025" b="1">
                <a:solidFill>
                  <a:srgbClr val="087F8C"/>
                </a:solidFill>
                <a:latin typeface="Aptos"/>
                <a:ea typeface="Aptos"/>
                <a:cs typeface="Aptos"/>
              </a:defRPr>
            </a:pPr>
            <a:r>
              <a:rPr sz="2025" b="1">
                <a:solidFill>
                  <a:srgbClr val="087F8C"/>
                </a:solidFill>
                <a:latin typeface="Aptos"/>
                <a:ea typeface="Aptos"/>
                <a:cs typeface="Aptos"/>
              </a:rPr>
              <a:t>Naive time O(2ⁿ), an upper bound. Maximum stack depth O(n).</a:t>
            </a:r>
          </a:p>
        </p:txBody>
      </p:sp>
      <p:sp>
        <p:nvSpPr>
          <p:cNvPr id="11" name="local-java-Fibonacci">
            <a:extLst xmlns:a="http://schemas.openxmlformats.org/drawingml/2006/main">
              <a:ext uri="{FF2B5EF4-FFF2-40B4-BE49-F238E27FC236}">
                <a16:creationId xmlns:a16="http://schemas.microsoft.com/office/drawing/2014/main" id="{EE944D42-2DD9-44E4-8805-588B847A685E}"/>
              </a:ext>
            </a:extLst>
          </p:cNvPr>
          <p:cNvSpPr>
            <a:spLocks xmlns:a="http://schemas.openxmlformats.org/drawingml/2006/main" noGrp="1"/>
          </p:cNvSpPr>
          <p:nvPr/>
        </p:nvSpPr>
        <p:spPr>
          <a:xfrm xmlns:a="http://schemas.openxmlformats.org/drawingml/2006/main">
            <a:off x="5143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07a3cc3429c240c4"/>
              </a:rPr>
              <a:t>Java: Fibonacci.java</a:t>
            </a:r>
          </a:p>
        </p:txBody>
      </p:sp>
    </p:spTree>
    <p:extLst>
      <p:ext uri="{BB962C8B-B14F-4D97-AF65-F5344CB8AC3E}">
        <p14:creationId xmlns:p14="http://schemas.microsoft.com/office/powerpoint/2010/main" val="3708815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831D22-B926-4304-9985-FD3E8CE4BB78}"/>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A palindrome compares matching ends</a:t>
            </a:r>
          </a:p>
        </p:txBody>
      </p:sp>
      <p:sp>
        <p:nvSpPr>
          <p:cNvPr id="2" name="">
            <a:extLst xmlns:a="http://schemas.openxmlformats.org/drawingml/2006/main">
              <a:ext uri="{FF2B5EF4-FFF2-40B4-BE49-F238E27FC236}">
                <a16:creationId xmlns:a16="http://schemas.microsoft.com/office/drawing/2014/main" id="{E66C8090-7336-4361-B1D4-31BFC94B7546}"/>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Assume the input already has the case and spacing you want to compare.</a:t>
            </a:r>
          </a:p>
        </p:txBody>
      </p:sp>
      <p:sp>
        <p:nvSpPr>
          <p:cNvPr id="3" name="">
            <a:extLst xmlns:a="http://schemas.openxmlformats.org/drawingml/2006/main">
              <a:ext uri="{FF2B5EF4-FFF2-40B4-BE49-F238E27FC236}">
                <a16:creationId xmlns:a16="http://schemas.microsoft.com/office/drawing/2014/main" id="{A6D5196D-0489-4EB8-B19D-5BADE279BE19}"/>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14</a:t>
            </a:r>
          </a:p>
        </p:txBody>
      </p:sp>
      <p:sp>
        <p:nvSpPr>
          <p:cNvPr id="4" name="">
            <a:extLst xmlns:a="http://schemas.openxmlformats.org/drawingml/2006/main">
              <a:ext uri="{FF2B5EF4-FFF2-40B4-BE49-F238E27FC236}">
                <a16:creationId xmlns:a16="http://schemas.microsoft.com/office/drawing/2014/main" id="{D9D94D4C-99C1-4057-B71B-04B8EF60C6F1}"/>
              </a:ext>
            </a:extLst>
          </p:cNvPr>
          <p:cNvSpPr>
            <a:spLocks xmlns:a="http://schemas.openxmlformats.org/drawingml/2006/main" noGrp="1"/>
          </p:cNvSpPr>
          <p:nvPr/>
        </p:nvSpPr>
        <p:spPr>
          <a:xfrm xmlns:a="http://schemas.openxmlformats.org/drawingml/2006/main">
            <a:off x="533400" y="2190750"/>
            <a:ext cx="111252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7354E"/>
                </a:solidFill>
                <a:latin typeface="Consolas"/>
                <a:ea typeface="Consolas"/>
                <a:cs typeface="Consolas"/>
              </a:defRPr>
            </a:defPPr>
            <a:lvl1pPr>
              <a:buNone/>
              <a:defRPr sz="2175" b="0">
                <a:solidFill>
                  <a:srgbClr val="17354E"/>
                </a:solidFill>
                <a:latin typeface="Consolas"/>
                <a:ea typeface="Consolas"/>
                <a:cs typeface="Consolas"/>
              </a:defRPr>
            </a:lvl1pPr>
            <a:lvl2pPr>
              <a:buNone/>
              <a:defRPr sz="2175" b="0">
                <a:solidFill>
                  <a:srgbClr val="17354E"/>
                </a:solidFill>
                <a:latin typeface="Consolas"/>
                <a:ea typeface="Consolas"/>
                <a:cs typeface="Consolas"/>
              </a:defRPr>
            </a:lvl2pPr>
            <a:lvl3pPr>
              <a:buNone/>
              <a:defRPr sz="2175" b="0">
                <a:solidFill>
                  <a:srgbClr val="17354E"/>
                </a:solidFill>
                <a:latin typeface="Consolas"/>
                <a:ea typeface="Consolas"/>
                <a:cs typeface="Consolas"/>
              </a:defRPr>
            </a:lvl3pPr>
            <a:lvl4pPr>
              <a:buNone/>
              <a:defRPr sz="2175" b="0">
                <a:solidFill>
                  <a:srgbClr val="17354E"/>
                </a:solidFill>
                <a:latin typeface="Consolas"/>
                <a:ea typeface="Consolas"/>
                <a:cs typeface="Consolas"/>
              </a:defRPr>
            </a:lvl4pPr>
            <a:lvl5pPr>
              <a:buNone/>
              <a:defRPr sz="2175" b="0">
                <a:solidFill>
                  <a:srgbClr val="17354E"/>
                </a:solidFill>
                <a:latin typeface="Consolas"/>
                <a:ea typeface="Consolas"/>
                <a:cs typeface="Consolas"/>
              </a:defRPr>
            </a:lvl5pPr>
            <a:lvl6pPr>
              <a:buNone/>
              <a:defRPr sz="2175" b="0">
                <a:solidFill>
                  <a:srgbClr val="17354E"/>
                </a:solidFill>
                <a:latin typeface="Consolas"/>
                <a:ea typeface="Consolas"/>
                <a:cs typeface="Consolas"/>
              </a:defRPr>
            </a:lvl6pPr>
            <a:lvl7pPr>
              <a:buNone/>
              <a:defRPr sz="2175" b="0">
                <a:solidFill>
                  <a:srgbClr val="17354E"/>
                </a:solidFill>
                <a:latin typeface="Consolas"/>
                <a:ea typeface="Consolas"/>
                <a:cs typeface="Consolas"/>
              </a:defRPr>
            </a:lvl7pPr>
            <a:lvl8pPr>
              <a:buNone/>
              <a:defRPr sz="2175" b="0">
                <a:solidFill>
                  <a:srgbClr val="17354E"/>
                </a:solidFill>
                <a:latin typeface="Consolas"/>
                <a:ea typeface="Consolas"/>
                <a:cs typeface="Consolas"/>
              </a:defRPr>
            </a:lvl8pPr>
            <a:lvl9pPr>
              <a:buNone/>
              <a:defRPr sz="2175" b="0">
                <a:solidFill>
                  <a:srgbClr val="17354E"/>
                </a:solidFill>
                <a:latin typeface="Consolas"/>
                <a:ea typeface="Consolas"/>
                <a:cs typeface="Consolas"/>
              </a:defRPr>
            </a:lvl9pPr>
          </a:lstStyle>
          <a:p xmlns:a="http://schemas.openxmlformats.org/drawingml/2006/main">
            <a:pPr>
              <a:buNone/>
              <a:defRPr sz="2175" b="0">
                <a:solidFill>
                  <a:srgbClr val="17354E"/>
                </a:solidFill>
                <a:latin typeface="Consolas"/>
                <a:ea typeface="Consolas"/>
                <a:cs typeface="Consolas"/>
              </a:defRPr>
            </a:pPr>
            <a:r>
              <a:rPr sz="2175" b="0">
                <a:solidFill>
                  <a:srgbClr val="17354E"/>
                </a:solidFill>
                <a:latin typeface="Consolas"/>
                <a:ea typeface="Consolas"/>
                <a:cs typeface="Consolas"/>
              </a:rPr>
              <a:t>static boolean isPalindrome(String s,</a:t>
            </a:r>
          </a:p>
          <a:p xmlns:a="http://schemas.openxmlformats.org/drawingml/2006/main">
            <a:pPr>
              <a:buNone/>
              <a:defRPr sz="2175" b="0">
                <a:solidFill>
                  <a:srgbClr val="17354E"/>
                </a:solidFill>
                <a:latin typeface="Consolas"/>
                <a:ea typeface="Consolas"/>
                <a:cs typeface="Consolas"/>
              </a:defRPr>
            </a:pPr>
            <a:r>
              <a:rPr sz="2175" b="0">
                <a:solidFill>
                  <a:srgbClr val="17354E"/>
                </a:solidFill>
                <a:latin typeface="Consolas"/>
                <a:ea typeface="Consolas"/>
                <a:cs typeface="Consolas"/>
              </a:rPr>
              <a:t>                            int left, int right) {</a:t>
            </a:r>
          </a:p>
          <a:p xmlns:a="http://schemas.openxmlformats.org/drawingml/2006/main">
            <a:pPr>
              <a:buNone/>
              <a:defRPr sz="2175" b="0">
                <a:solidFill>
                  <a:srgbClr val="17354E"/>
                </a:solidFill>
                <a:latin typeface="Consolas"/>
                <a:ea typeface="Consolas"/>
                <a:cs typeface="Consolas"/>
              </a:defRPr>
            </a:pPr>
            <a:r>
              <a:rPr sz="2175" b="0">
                <a:solidFill>
                  <a:srgbClr val="17354E"/>
                </a:solidFill>
                <a:latin typeface="Consolas"/>
                <a:ea typeface="Consolas"/>
                <a:cs typeface="Consolas"/>
              </a:rPr>
              <a:t>    if (left &gt;= right) return true;</a:t>
            </a:r>
          </a:p>
          <a:p xmlns:a="http://schemas.openxmlformats.org/drawingml/2006/main">
            <a:pPr>
              <a:buNone/>
              <a:defRPr sz="2175" b="0">
                <a:solidFill>
                  <a:srgbClr val="17354E"/>
                </a:solidFill>
                <a:latin typeface="Consolas"/>
                <a:ea typeface="Consolas"/>
                <a:cs typeface="Consolas"/>
              </a:defRPr>
            </a:pPr>
            <a:r>
              <a:rPr sz="2175" b="0">
                <a:solidFill>
                  <a:srgbClr val="17354E"/>
                </a:solidFill>
                <a:latin typeface="Consolas"/>
                <a:ea typeface="Consolas"/>
                <a:cs typeface="Consolas"/>
              </a:rPr>
              <a:t>    return s.charAt(left) == s.charAt(right)</a:t>
            </a:r>
          </a:p>
          <a:p xmlns:a="http://schemas.openxmlformats.org/drawingml/2006/main">
            <a:pPr>
              <a:buNone/>
              <a:defRPr sz="2175" b="0">
                <a:solidFill>
                  <a:srgbClr val="17354E"/>
                </a:solidFill>
                <a:latin typeface="Consolas"/>
                <a:ea typeface="Consolas"/>
                <a:cs typeface="Consolas"/>
              </a:defRPr>
            </a:pPr>
            <a:r>
              <a:rPr sz="2175" b="0">
                <a:solidFill>
                  <a:srgbClr val="17354E"/>
                </a:solidFill>
                <a:latin typeface="Consolas"/>
                <a:ea typeface="Consolas"/>
                <a:cs typeface="Consolas"/>
              </a:rPr>
              <a:t>        &amp;&amp; isPalindrome(s, left + 1, right - 1);</a:t>
            </a:r>
          </a:p>
          <a:p xmlns:a="http://schemas.openxmlformats.org/drawingml/2006/main">
            <a:pPr>
              <a:buNone/>
              <a:defRPr sz="2175" b="0">
                <a:solidFill>
                  <a:srgbClr val="17354E"/>
                </a:solidFill>
                <a:latin typeface="Consolas"/>
                <a:ea typeface="Consolas"/>
                <a:cs typeface="Consolas"/>
              </a:defRPr>
            </a:pPr>
            <a:r>
              <a:rPr sz="2175" b="0">
                <a:solidFill>
                  <a:srgbClr val="17354E"/>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5149BC78-02AE-4B5D-A341-0B11B820FDE0}"/>
              </a:ext>
            </a:extLst>
          </p:cNvPr>
          <p:cNvSpPr>
            <a:spLocks xmlns:a="http://schemas.openxmlformats.org/drawingml/2006/main" noGrp="1"/>
          </p:cNvSpPr>
          <p:nvPr/>
        </p:nvSpPr>
        <p:spPr>
          <a:xfrm xmlns:a="http://schemas.openxmlformats.org/drawingml/2006/main">
            <a:off x="533400" y="5095875"/>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7354E"/>
                </a:solidFill>
                <a:latin typeface="Aptos"/>
                <a:ea typeface="Aptos"/>
                <a:cs typeface="Aptos"/>
              </a:defRPr>
            </a:defPPr>
            <a:lvl1pPr>
              <a:buNone/>
              <a:defRPr sz="2250" b="1">
                <a:solidFill>
                  <a:srgbClr val="17354E"/>
                </a:solidFill>
                <a:latin typeface="Aptos"/>
                <a:ea typeface="Aptos"/>
                <a:cs typeface="Aptos"/>
              </a:defRPr>
            </a:lvl1pPr>
            <a:lvl2pPr>
              <a:buNone/>
              <a:defRPr sz="2250" b="1">
                <a:solidFill>
                  <a:srgbClr val="17354E"/>
                </a:solidFill>
                <a:latin typeface="Aptos"/>
                <a:ea typeface="Aptos"/>
                <a:cs typeface="Aptos"/>
              </a:defRPr>
            </a:lvl2pPr>
            <a:lvl3pPr>
              <a:buNone/>
              <a:defRPr sz="2250" b="1">
                <a:solidFill>
                  <a:srgbClr val="17354E"/>
                </a:solidFill>
                <a:latin typeface="Aptos"/>
                <a:ea typeface="Aptos"/>
                <a:cs typeface="Aptos"/>
              </a:defRPr>
            </a:lvl3pPr>
            <a:lvl4pPr>
              <a:buNone/>
              <a:defRPr sz="2250" b="1">
                <a:solidFill>
                  <a:srgbClr val="17354E"/>
                </a:solidFill>
                <a:latin typeface="Aptos"/>
                <a:ea typeface="Aptos"/>
                <a:cs typeface="Aptos"/>
              </a:defRPr>
            </a:lvl4pPr>
            <a:lvl5pPr>
              <a:buNone/>
              <a:defRPr sz="2250" b="1">
                <a:solidFill>
                  <a:srgbClr val="17354E"/>
                </a:solidFill>
                <a:latin typeface="Aptos"/>
                <a:ea typeface="Aptos"/>
                <a:cs typeface="Aptos"/>
              </a:defRPr>
            </a:lvl5pPr>
            <a:lvl6pPr>
              <a:buNone/>
              <a:defRPr sz="2250" b="1">
                <a:solidFill>
                  <a:srgbClr val="17354E"/>
                </a:solidFill>
                <a:latin typeface="Aptos"/>
                <a:ea typeface="Aptos"/>
                <a:cs typeface="Aptos"/>
              </a:defRPr>
            </a:lvl6pPr>
            <a:lvl7pPr>
              <a:buNone/>
              <a:defRPr sz="2250" b="1">
                <a:solidFill>
                  <a:srgbClr val="17354E"/>
                </a:solidFill>
                <a:latin typeface="Aptos"/>
                <a:ea typeface="Aptos"/>
                <a:cs typeface="Aptos"/>
              </a:defRPr>
            </a:lvl7pPr>
            <a:lvl8pPr>
              <a:buNone/>
              <a:defRPr sz="2250" b="1">
                <a:solidFill>
                  <a:srgbClr val="17354E"/>
                </a:solidFill>
                <a:latin typeface="Aptos"/>
                <a:ea typeface="Aptos"/>
                <a:cs typeface="Aptos"/>
              </a:defRPr>
            </a:lvl8pPr>
            <a:lvl9pPr>
              <a:buNone/>
              <a:defRPr sz="2250" b="1">
                <a:solidFill>
                  <a:srgbClr val="17354E"/>
                </a:solidFill>
                <a:latin typeface="Aptos"/>
                <a:ea typeface="Aptos"/>
                <a:cs typeface="Aptos"/>
              </a:defRPr>
            </a:lvl9pPr>
          </a:lstStyle>
          <a:p xmlns:a="http://schemas.openxmlformats.org/drawingml/2006/main">
            <a:pPr>
              <a:buNone/>
              <a:defRPr sz="2250" b="1">
                <a:solidFill>
                  <a:srgbClr val="17354E"/>
                </a:solidFill>
                <a:latin typeface="Aptos"/>
                <a:ea typeface="Aptos"/>
                <a:cs typeface="Aptos"/>
              </a:defRPr>
            </a:pPr>
            <a:r>
              <a:rPr sz="2250" b="1">
                <a:solidFill>
                  <a:srgbClr val="17354E"/>
                </a:solidFill>
                <a:latin typeface="Aptos"/>
                <a:ea typeface="Aptos"/>
                <a:cs typeface="Aptos"/>
              </a:rPr>
              <a:t>"madam" gives true. "robot" gives false.</a:t>
            </a:r>
          </a:p>
        </p:txBody>
      </p:sp>
      <p:sp>
        <p:nvSpPr>
          <p:cNvPr id="6" name="">
            <a:extLst xmlns:a="http://schemas.openxmlformats.org/drawingml/2006/main">
              <a:ext uri="{FF2B5EF4-FFF2-40B4-BE49-F238E27FC236}">
                <a16:creationId xmlns:a16="http://schemas.microsoft.com/office/drawing/2014/main" id="{A87C8663-84DA-48A1-A48D-719C39212877}"/>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Each call removes two characters from consideration. Worst case O(n).</a:t>
            </a:r>
          </a:p>
        </p:txBody>
      </p:sp>
      <p:sp>
        <p:nvSpPr>
          <p:cNvPr id="8" name="local-java-Palindrome">
            <a:extLst xmlns:a="http://schemas.openxmlformats.org/drawingml/2006/main">
              <a:ext uri="{FF2B5EF4-FFF2-40B4-BE49-F238E27FC236}">
                <a16:creationId xmlns:a16="http://schemas.microsoft.com/office/drawing/2014/main" id="{70F83054-33FD-4435-94AB-822F9460BA81}"/>
              </a:ext>
            </a:extLst>
          </p:cNvPr>
          <p:cNvSpPr>
            <a:spLocks xmlns:a="http://schemas.openxmlformats.org/drawingml/2006/main" noGrp="1"/>
          </p:cNvSpPr>
          <p:nvPr/>
        </p:nvSpPr>
        <p:spPr>
          <a:xfrm xmlns:a="http://schemas.openxmlformats.org/drawingml/2006/main">
            <a:off x="5143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29c78dada3c74b5c"/>
              </a:rPr>
              <a:t>Java: Palindrome.java</a:t>
            </a:r>
          </a:p>
        </p:txBody>
      </p:sp>
    </p:spTree>
    <p:extLst>
      <p:ext uri="{BB962C8B-B14F-4D97-AF65-F5344CB8AC3E}">
        <p14:creationId xmlns:p14="http://schemas.microsoft.com/office/powerpoint/2010/main" val="71164555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1C2186-6D3F-4972-9B3D-1284CCB58B08}"/>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Recursive binary search</a:t>
            </a:r>
          </a:p>
        </p:txBody>
      </p:sp>
      <p:sp>
        <p:nvSpPr>
          <p:cNvPr id="2" name="">
            <a:extLst xmlns:a="http://schemas.openxmlformats.org/drawingml/2006/main">
              <a:ext uri="{FF2B5EF4-FFF2-40B4-BE49-F238E27FC236}">
                <a16:creationId xmlns:a16="http://schemas.microsoft.com/office/drawing/2014/main" id="{52BCF9CF-0710-4748-8363-819C6C83B2D1}"/>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Sorted array: [3, 8, 12, 17, 24, 31, 40]. Target: 24.</a:t>
            </a:r>
          </a:p>
        </p:txBody>
      </p:sp>
      <p:sp>
        <p:nvSpPr>
          <p:cNvPr id="3" name="">
            <a:extLst xmlns:a="http://schemas.openxmlformats.org/drawingml/2006/main">
              <a:ext uri="{FF2B5EF4-FFF2-40B4-BE49-F238E27FC236}">
                <a16:creationId xmlns:a16="http://schemas.microsoft.com/office/drawing/2014/main" id="{7C456E27-5536-4356-B3CE-058BF8CA2F51}"/>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15</a:t>
            </a:r>
          </a:p>
        </p:txBody>
      </p:sp>
      <p:sp>
        <p:nvSpPr>
          <p:cNvPr id="4" name="">
            <a:extLst xmlns:a="http://schemas.openxmlformats.org/drawingml/2006/main">
              <a:ext uri="{FF2B5EF4-FFF2-40B4-BE49-F238E27FC236}">
                <a16:creationId xmlns:a16="http://schemas.microsoft.com/office/drawing/2014/main" id="{9844DFA4-2C8B-4047-A2DD-49D776E33139}"/>
              </a:ext>
            </a:extLst>
          </p:cNvPr>
          <p:cNvSpPr>
            <a:spLocks xmlns:a="http://schemas.openxmlformats.org/drawingml/2006/main" noGrp="1"/>
          </p:cNvSpPr>
          <p:nvPr/>
        </p:nvSpPr>
        <p:spPr>
          <a:xfrm xmlns:a="http://schemas.openxmlformats.org/drawingml/2006/main">
            <a:off x="533400" y="2114550"/>
            <a:ext cx="7429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54E"/>
                </a:solidFill>
                <a:latin typeface="Consolas"/>
                <a:ea typeface="Consolas"/>
                <a:cs typeface="Consolas"/>
              </a:defRPr>
            </a:defPPr>
            <a:lvl1pPr>
              <a:buNone/>
              <a:defRPr sz="1725" b="0">
                <a:solidFill>
                  <a:srgbClr val="17354E"/>
                </a:solidFill>
                <a:latin typeface="Consolas"/>
                <a:ea typeface="Consolas"/>
                <a:cs typeface="Consolas"/>
              </a:defRPr>
            </a:lvl1pPr>
            <a:lvl2pPr>
              <a:buNone/>
              <a:defRPr sz="1725" b="0">
                <a:solidFill>
                  <a:srgbClr val="17354E"/>
                </a:solidFill>
                <a:latin typeface="Consolas"/>
                <a:ea typeface="Consolas"/>
                <a:cs typeface="Consolas"/>
              </a:defRPr>
            </a:lvl2pPr>
            <a:lvl3pPr>
              <a:buNone/>
              <a:defRPr sz="1725" b="0">
                <a:solidFill>
                  <a:srgbClr val="17354E"/>
                </a:solidFill>
                <a:latin typeface="Consolas"/>
                <a:ea typeface="Consolas"/>
                <a:cs typeface="Consolas"/>
              </a:defRPr>
            </a:lvl3pPr>
            <a:lvl4pPr>
              <a:buNone/>
              <a:defRPr sz="1725" b="0">
                <a:solidFill>
                  <a:srgbClr val="17354E"/>
                </a:solidFill>
                <a:latin typeface="Consolas"/>
                <a:ea typeface="Consolas"/>
                <a:cs typeface="Consolas"/>
              </a:defRPr>
            </a:lvl4pPr>
            <a:lvl5pPr>
              <a:buNone/>
              <a:defRPr sz="1725" b="0">
                <a:solidFill>
                  <a:srgbClr val="17354E"/>
                </a:solidFill>
                <a:latin typeface="Consolas"/>
                <a:ea typeface="Consolas"/>
                <a:cs typeface="Consolas"/>
              </a:defRPr>
            </a:lvl5pPr>
            <a:lvl6pPr>
              <a:buNone/>
              <a:defRPr sz="1725" b="0">
                <a:solidFill>
                  <a:srgbClr val="17354E"/>
                </a:solidFill>
                <a:latin typeface="Consolas"/>
                <a:ea typeface="Consolas"/>
                <a:cs typeface="Consolas"/>
              </a:defRPr>
            </a:lvl6pPr>
            <a:lvl7pPr>
              <a:buNone/>
              <a:defRPr sz="1725" b="0">
                <a:solidFill>
                  <a:srgbClr val="17354E"/>
                </a:solidFill>
                <a:latin typeface="Consolas"/>
                <a:ea typeface="Consolas"/>
                <a:cs typeface="Consolas"/>
              </a:defRPr>
            </a:lvl7pPr>
            <a:lvl8pPr>
              <a:buNone/>
              <a:defRPr sz="1725" b="0">
                <a:solidFill>
                  <a:srgbClr val="17354E"/>
                </a:solidFill>
                <a:latin typeface="Consolas"/>
                <a:ea typeface="Consolas"/>
                <a:cs typeface="Consolas"/>
              </a:defRPr>
            </a:lvl8pPr>
            <a:lvl9pPr>
              <a:buNone/>
              <a:defRPr sz="1725" b="0">
                <a:solidFill>
                  <a:srgbClr val="17354E"/>
                </a:solidFill>
                <a:latin typeface="Consolas"/>
                <a:ea typeface="Consolas"/>
                <a:cs typeface="Consolas"/>
              </a:defRPr>
            </a:lvl9pPr>
          </a:lstStyle>
          <a:p xmlns:a="http://schemas.openxmlformats.org/drawingml/2006/main">
            <a:pPr>
              <a:buNone/>
              <a:defRPr sz="1725" b="0">
                <a:solidFill>
                  <a:srgbClr val="17354E"/>
                </a:solidFill>
                <a:latin typeface="Consolas"/>
                <a:ea typeface="Consolas"/>
                <a:cs typeface="Consolas"/>
              </a:defRPr>
            </a:pPr>
            <a:r>
              <a:rPr sz="1725" b="0">
                <a:solidFill>
                  <a:srgbClr val="17354E"/>
                </a:solidFill>
                <a:latin typeface="Consolas"/>
                <a:ea typeface="Consolas"/>
                <a:cs typeface="Consolas"/>
              </a:rPr>
              <a:t>static int binarySearch(int[] a, int target,</a:t>
            </a:r>
          </a:p>
          <a:p xmlns:a="http://schemas.openxmlformats.org/drawingml/2006/main">
            <a:pPr>
              <a:buNone/>
              <a:defRPr sz="1725" b="0">
                <a:solidFill>
                  <a:srgbClr val="17354E"/>
                </a:solidFill>
                <a:latin typeface="Consolas"/>
                <a:ea typeface="Consolas"/>
                <a:cs typeface="Consolas"/>
              </a:defRPr>
            </a:pPr>
            <a:r>
              <a:rPr sz="1725" b="0">
                <a:solidFill>
                  <a:srgbClr val="17354E"/>
                </a:solidFill>
                <a:latin typeface="Consolas"/>
                <a:ea typeface="Consolas"/>
                <a:cs typeface="Consolas"/>
              </a:rPr>
              <a:t>                        int low, int high) {</a:t>
            </a:r>
          </a:p>
          <a:p xmlns:a="http://schemas.openxmlformats.org/drawingml/2006/main">
            <a:pPr>
              <a:buNone/>
              <a:defRPr sz="1725" b="0">
                <a:solidFill>
                  <a:srgbClr val="17354E"/>
                </a:solidFill>
                <a:latin typeface="Consolas"/>
                <a:ea typeface="Consolas"/>
                <a:cs typeface="Consolas"/>
              </a:defRPr>
            </a:pPr>
            <a:r>
              <a:rPr sz="1725" b="0">
                <a:solidFill>
                  <a:srgbClr val="17354E"/>
                </a:solidFill>
                <a:latin typeface="Consolas"/>
                <a:ea typeface="Consolas"/>
                <a:cs typeface="Consolas"/>
              </a:rPr>
              <a:t>    if (low &gt; high) return -1;</a:t>
            </a:r>
          </a:p>
          <a:p xmlns:a="http://schemas.openxmlformats.org/drawingml/2006/main">
            <a:pPr>
              <a:buNone/>
              <a:defRPr sz="1725" b="0">
                <a:solidFill>
                  <a:srgbClr val="17354E"/>
                </a:solidFill>
                <a:latin typeface="Consolas"/>
                <a:ea typeface="Consolas"/>
                <a:cs typeface="Consolas"/>
              </a:defRPr>
            </a:pPr>
            <a:r>
              <a:rPr sz="1725" b="0">
                <a:solidFill>
                  <a:srgbClr val="17354E"/>
                </a:solidFill>
                <a:latin typeface="Consolas"/>
                <a:ea typeface="Consolas"/>
                <a:cs typeface="Consolas"/>
              </a:rPr>
              <a:t>    int mid = low + (high - low) / 2;</a:t>
            </a:r>
          </a:p>
          <a:p xmlns:a="http://schemas.openxmlformats.org/drawingml/2006/main">
            <a:pPr>
              <a:buNone/>
              <a:defRPr sz="1725" b="0">
                <a:solidFill>
                  <a:srgbClr val="17354E"/>
                </a:solidFill>
                <a:latin typeface="Consolas"/>
                <a:ea typeface="Consolas"/>
                <a:cs typeface="Consolas"/>
              </a:defRPr>
            </a:pPr>
            <a:r>
              <a:rPr sz="1725" b="0">
                <a:solidFill>
                  <a:srgbClr val="17354E"/>
                </a:solidFill>
                <a:latin typeface="Consolas"/>
                <a:ea typeface="Consolas"/>
                <a:cs typeface="Consolas"/>
              </a:rPr>
              <a:t>    if (a[mid] == target) return mid;</a:t>
            </a:r>
          </a:p>
          <a:p xmlns:a="http://schemas.openxmlformats.org/drawingml/2006/main">
            <a:pPr>
              <a:buNone/>
              <a:defRPr sz="1725" b="0">
                <a:solidFill>
                  <a:srgbClr val="17354E"/>
                </a:solidFill>
                <a:latin typeface="Consolas"/>
                <a:ea typeface="Consolas"/>
                <a:cs typeface="Consolas"/>
              </a:defRPr>
            </a:pPr>
            <a:r>
              <a:rPr sz="1725" b="0">
                <a:solidFill>
                  <a:srgbClr val="17354E"/>
                </a:solidFill>
                <a:latin typeface="Consolas"/>
                <a:ea typeface="Consolas"/>
                <a:cs typeface="Consolas"/>
              </a:rPr>
              <a:t>    if (target &lt; a[mid])</a:t>
            </a:r>
          </a:p>
          <a:p xmlns:a="http://schemas.openxmlformats.org/drawingml/2006/main">
            <a:pPr>
              <a:buNone/>
              <a:defRPr sz="1725" b="0">
                <a:solidFill>
                  <a:srgbClr val="17354E"/>
                </a:solidFill>
                <a:latin typeface="Consolas"/>
                <a:ea typeface="Consolas"/>
                <a:cs typeface="Consolas"/>
              </a:defRPr>
            </a:pPr>
            <a:r>
              <a:rPr sz="1725" b="0">
                <a:solidFill>
                  <a:srgbClr val="17354E"/>
                </a:solidFill>
                <a:latin typeface="Consolas"/>
                <a:ea typeface="Consolas"/>
                <a:cs typeface="Consolas"/>
              </a:rPr>
              <a:t>        return binarySearch(a, target, low, mid - 1);</a:t>
            </a:r>
          </a:p>
          <a:p xmlns:a="http://schemas.openxmlformats.org/drawingml/2006/main">
            <a:pPr>
              <a:buNone/>
              <a:defRPr sz="1725" b="0">
                <a:solidFill>
                  <a:srgbClr val="17354E"/>
                </a:solidFill>
                <a:latin typeface="Consolas"/>
                <a:ea typeface="Consolas"/>
                <a:cs typeface="Consolas"/>
              </a:defRPr>
            </a:pPr>
            <a:r>
              <a:rPr sz="1725" b="0">
                <a:solidFill>
                  <a:srgbClr val="17354E"/>
                </a:solidFill>
                <a:latin typeface="Consolas"/>
                <a:ea typeface="Consolas"/>
                <a:cs typeface="Consolas"/>
              </a:rPr>
              <a:t>    return binarySearch(a, target, mid + 1, high);</a:t>
            </a:r>
          </a:p>
          <a:p xmlns:a="http://schemas.openxmlformats.org/drawingml/2006/main">
            <a:pPr>
              <a:buNone/>
              <a:defRPr sz="1725" b="0">
                <a:solidFill>
                  <a:srgbClr val="17354E"/>
                </a:solidFill>
                <a:latin typeface="Consolas"/>
                <a:ea typeface="Consolas"/>
                <a:cs typeface="Consolas"/>
              </a:defRPr>
            </a:pPr>
            <a:r>
              <a:rPr sz="1725" b="0">
                <a:solidFill>
                  <a:srgbClr val="17354E"/>
                </a:solidFill>
                <a:latin typeface="Consolas"/>
                <a:ea typeface="Consolas"/>
                <a:cs typeface="Consolas"/>
              </a:rPr>
              <a:t>}</a:t>
            </a:r>
          </a:p>
        </p:txBody>
      </p:sp>
      <p:graphicFrame>
        <p:nvGraphicFramePr>
          <p:cNvPr id="5" name="">
            <a:extLst xmlns:a="http://schemas.openxmlformats.org/drawingml/2006/main">
              <a:ext uri="{FF2B5EF4-FFF2-40B4-BE49-F238E27FC236}">
                <a16:creationId xmlns:a16="http://schemas.microsoft.com/office/drawing/2014/main" id="{2DFA779A-AEB2-4362-92CB-58075D616E9D}"/>
              </a:ext>
            </a:extLst>
          </p:cNvPr>
          <p:cNvGraphicFramePr/>
          <p:nvPr/>
        </p:nvGraphicFramePr>
        <p:xfrm>
          <a:off xmlns:a="http://schemas.openxmlformats.org/drawingml/2006/main" x="8239125" y="2324100"/>
          <a:ext xmlns:a="http://schemas.openxmlformats.org/drawingml/2006/main" cx="3419475" cy="2343150"/>
        </p:xfrm>
        <a:graphic xmlns:a="http://schemas.openxmlformats.org/drawingml/2006/main">
          <a:graphicData uri="http://schemas.openxmlformats.org/drawingml/2006/table">
            <a:tbl>
              <a:tblPr/>
              <a:tblGrid>
                <a:gridCol w="781050"/>
                <a:gridCol w="781050"/>
                <a:gridCol w="781050"/>
                <a:gridCol w="1076325"/>
              </a:tblGrid>
              <a:tr h="585788">
                <a:tc>
                  <a:txBody>
                    <a:bodyPr/>
                    <a:lstStyle/>
                    <a:p>
                      <a:r>
                        <a:rPr sz="1725" b="1">
                          <a:solidFill>
                            <a:srgbClr val="FFFFFF"/>
                          </a:solidFill>
                          <a:latin typeface="Aptos"/>
                          <a:ea typeface="Aptos"/>
                          <a:cs typeface="Aptos"/>
                        </a:rPr>
                        <a:t>low</a:t>
                      </a:r>
                    </a:p>
                  </a:txBody>
                  <a:tcPr marL="91440" marR="91440" marT="45720" marB="45720">
                    <a:lnL w="9525">
                      <a:solidFill>
                        <a:srgbClr val="D5E1E7"/>
                      </a:solidFill>
                    </a:lnL>
                    <a:lnR w="9525">
                      <a:solidFill>
                        <a:srgbClr val="D5E1E7"/>
                      </a:solidFill>
                    </a:lnR>
                    <a:lnT w="9525">
                      <a:solidFill>
                        <a:srgbClr val="D5E1E7"/>
                      </a:solidFill>
                    </a:lnT>
                    <a:lnB w="9525">
                      <a:solidFill>
                        <a:srgbClr val="D5E1E7"/>
                      </a:solidFill>
                    </a:lnB>
                    <a:solidFill>
                      <a:srgbClr val="17354E"/>
                    </a:solidFill>
                  </a:tcPr>
                </a:tc>
                <a:tc>
                  <a:txBody>
                    <a:bodyPr/>
                    <a:lstStyle/>
                    <a:p>
                      <a:r>
                        <a:rPr sz="1725" b="1">
                          <a:solidFill>
                            <a:srgbClr val="FFFFFF"/>
                          </a:solidFill>
                          <a:latin typeface="Aptos"/>
                          <a:ea typeface="Aptos"/>
                          <a:cs typeface="Aptos"/>
                        </a:rPr>
                        <a:t>high</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c>
                  <a:txBody>
                    <a:bodyPr/>
                    <a:lstStyle/>
                    <a:p>
                      <a:r>
                        <a:rPr sz="1725" b="1">
                          <a:solidFill>
                            <a:srgbClr val="FFFFFF"/>
                          </a:solidFill>
                          <a:latin typeface="Aptos"/>
                          <a:ea typeface="Aptos"/>
                          <a:cs typeface="Aptos"/>
                        </a:rPr>
                        <a:t>mid</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c>
                  <a:txBody>
                    <a:bodyPr/>
                    <a:lstStyle/>
                    <a:p>
                      <a:r>
                        <a:rPr sz="1725" b="1">
                          <a:solidFill>
                            <a:srgbClr val="FFFFFF"/>
                          </a:solidFill>
                          <a:latin typeface="Aptos"/>
                          <a:ea typeface="Aptos"/>
                          <a:cs typeface="Aptos"/>
                        </a:rPr>
                        <a:t>a[mid]</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r>
              <a:tr h="585788">
                <a:tc>
                  <a:txBody>
                    <a:bodyPr/>
                    <a:lstStyle/>
                    <a:p>
                      <a:r>
                        <a:rPr sz="1725" b="0">
                          <a:solidFill>
                            <a:srgbClr val="17354E"/>
                          </a:solidFill>
                          <a:latin typeface="Aptos"/>
                          <a:ea typeface="Aptos"/>
                          <a:cs typeface="Aptos"/>
                        </a:rPr>
                        <a:t>0</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1725" b="0">
                          <a:solidFill>
                            <a:srgbClr val="17354E"/>
                          </a:solidFill>
                          <a:latin typeface="Aptos"/>
                          <a:ea typeface="Aptos"/>
                          <a:cs typeface="Aptos"/>
                        </a:rPr>
                        <a:t>6</a:t>
                      </a:r>
                    </a:p>
                  </a:txBody>
                  <a:tcPr marL="91440" marR="91440" marT="45720" marB="45720">
                    <a:lnR w="9525">
                      <a:solidFill>
                        <a:srgbClr val="D5E1E7"/>
                      </a:solidFill>
                    </a:lnR>
                    <a:lnB w="9525">
                      <a:solidFill>
                        <a:srgbClr val="D5E1E7"/>
                      </a:solidFill>
                    </a:lnB>
                    <a:solidFill>
                      <a:srgbClr val="EFF5F7"/>
                    </a:solidFill>
                  </a:tcPr>
                </a:tc>
                <a:tc>
                  <a:txBody>
                    <a:bodyPr/>
                    <a:lstStyle/>
                    <a:p>
                      <a:r>
                        <a:rPr sz="1725" b="0">
                          <a:solidFill>
                            <a:srgbClr val="17354E"/>
                          </a:solidFill>
                          <a:latin typeface="Aptos"/>
                          <a:ea typeface="Aptos"/>
                          <a:cs typeface="Aptos"/>
                        </a:rPr>
                        <a:t>3</a:t>
                      </a:r>
                    </a:p>
                  </a:txBody>
                  <a:tcPr marL="91440" marR="91440" marT="45720" marB="45720">
                    <a:lnR w="9525">
                      <a:solidFill>
                        <a:srgbClr val="D5E1E7"/>
                      </a:solidFill>
                    </a:lnR>
                    <a:lnB w="9525">
                      <a:solidFill>
                        <a:srgbClr val="D5E1E7"/>
                      </a:solidFill>
                    </a:lnB>
                    <a:solidFill>
                      <a:srgbClr val="EFF5F7"/>
                    </a:solidFill>
                  </a:tcPr>
                </a:tc>
                <a:tc>
                  <a:txBody>
                    <a:bodyPr/>
                    <a:lstStyle/>
                    <a:p>
                      <a:r>
                        <a:rPr sz="1725" b="0">
                          <a:solidFill>
                            <a:srgbClr val="17354E"/>
                          </a:solidFill>
                          <a:latin typeface="Aptos"/>
                          <a:ea typeface="Aptos"/>
                          <a:cs typeface="Aptos"/>
                        </a:rPr>
                        <a:t>17</a:t>
                      </a:r>
                    </a:p>
                  </a:txBody>
                  <a:tcPr marL="91440" marR="91440" marT="45720" marB="45720">
                    <a:lnR w="9525">
                      <a:solidFill>
                        <a:srgbClr val="D5E1E7"/>
                      </a:solidFill>
                    </a:lnR>
                    <a:lnB w="9525">
                      <a:solidFill>
                        <a:srgbClr val="D5E1E7"/>
                      </a:solidFill>
                    </a:lnB>
                    <a:solidFill>
                      <a:srgbClr val="EFF5F7"/>
                    </a:solidFill>
                  </a:tcPr>
                </a:tc>
              </a:tr>
              <a:tr h="585788">
                <a:tc>
                  <a:txBody>
                    <a:bodyPr/>
                    <a:lstStyle/>
                    <a:p>
                      <a:r>
                        <a:rPr sz="1725" b="0">
                          <a:solidFill>
                            <a:srgbClr val="17354E"/>
                          </a:solidFill>
                          <a:latin typeface="Aptos"/>
                          <a:ea typeface="Aptos"/>
                          <a:cs typeface="Aptos"/>
                        </a:rPr>
                        <a:t>4</a:t>
                      </a:r>
                    </a:p>
                  </a:txBody>
                  <a:tcPr marL="91440" marR="91440" marT="45720" marB="45720">
                    <a:lnL w="9525">
                      <a:solidFill>
                        <a:srgbClr val="D5E1E7"/>
                      </a:solidFill>
                    </a:lnL>
                    <a:lnR w="9525">
                      <a:solidFill>
                        <a:srgbClr val="D5E1E7"/>
                      </a:solidFill>
                    </a:lnR>
                    <a:lnB w="9525">
                      <a:solidFill>
                        <a:srgbClr val="D5E1E7"/>
                      </a:solidFill>
                    </a:lnB>
                    <a:solidFill>
                      <a:srgbClr val="FFFFFF"/>
                    </a:solidFill>
                  </a:tcPr>
                </a:tc>
                <a:tc>
                  <a:txBody>
                    <a:bodyPr/>
                    <a:lstStyle/>
                    <a:p>
                      <a:r>
                        <a:rPr sz="1725" b="0">
                          <a:solidFill>
                            <a:srgbClr val="17354E"/>
                          </a:solidFill>
                          <a:latin typeface="Aptos"/>
                          <a:ea typeface="Aptos"/>
                          <a:cs typeface="Aptos"/>
                        </a:rPr>
                        <a:t>6</a:t>
                      </a:r>
                    </a:p>
                  </a:txBody>
                  <a:tcPr marL="91440" marR="91440" marT="45720" marB="45720">
                    <a:lnR w="9525">
                      <a:solidFill>
                        <a:srgbClr val="D5E1E7"/>
                      </a:solidFill>
                    </a:lnR>
                    <a:lnB w="9525">
                      <a:solidFill>
                        <a:srgbClr val="D5E1E7"/>
                      </a:solidFill>
                    </a:lnB>
                    <a:solidFill>
                      <a:srgbClr val="FFFFFF"/>
                    </a:solidFill>
                  </a:tcPr>
                </a:tc>
                <a:tc>
                  <a:txBody>
                    <a:bodyPr/>
                    <a:lstStyle/>
                    <a:p>
                      <a:r>
                        <a:rPr sz="1725" b="0">
                          <a:solidFill>
                            <a:srgbClr val="17354E"/>
                          </a:solidFill>
                          <a:latin typeface="Aptos"/>
                          <a:ea typeface="Aptos"/>
                          <a:cs typeface="Aptos"/>
                        </a:rPr>
                        <a:t>5</a:t>
                      </a:r>
                    </a:p>
                  </a:txBody>
                  <a:tcPr marL="91440" marR="91440" marT="45720" marB="45720">
                    <a:lnR w="9525">
                      <a:solidFill>
                        <a:srgbClr val="D5E1E7"/>
                      </a:solidFill>
                    </a:lnR>
                    <a:lnB w="9525">
                      <a:solidFill>
                        <a:srgbClr val="D5E1E7"/>
                      </a:solidFill>
                    </a:lnB>
                    <a:solidFill>
                      <a:srgbClr val="FFFFFF"/>
                    </a:solidFill>
                  </a:tcPr>
                </a:tc>
                <a:tc>
                  <a:txBody>
                    <a:bodyPr/>
                    <a:lstStyle/>
                    <a:p>
                      <a:r>
                        <a:rPr sz="1725" b="0">
                          <a:solidFill>
                            <a:srgbClr val="17354E"/>
                          </a:solidFill>
                          <a:latin typeface="Aptos"/>
                          <a:ea typeface="Aptos"/>
                          <a:cs typeface="Aptos"/>
                        </a:rPr>
                        <a:t>31</a:t>
                      </a:r>
                    </a:p>
                  </a:txBody>
                  <a:tcPr marL="91440" marR="91440" marT="45720" marB="45720">
                    <a:lnR w="9525">
                      <a:solidFill>
                        <a:srgbClr val="D5E1E7"/>
                      </a:solidFill>
                    </a:lnR>
                    <a:lnB w="9525">
                      <a:solidFill>
                        <a:srgbClr val="D5E1E7"/>
                      </a:solidFill>
                    </a:lnB>
                    <a:solidFill>
                      <a:srgbClr val="FFFFFF"/>
                    </a:solidFill>
                  </a:tcPr>
                </a:tc>
              </a:tr>
              <a:tr h="585788">
                <a:tc>
                  <a:txBody>
                    <a:bodyPr/>
                    <a:lstStyle/>
                    <a:p>
                      <a:r>
                        <a:rPr sz="1725" b="0">
                          <a:solidFill>
                            <a:srgbClr val="17354E"/>
                          </a:solidFill>
                          <a:latin typeface="Aptos"/>
                          <a:ea typeface="Aptos"/>
                          <a:cs typeface="Aptos"/>
                        </a:rPr>
                        <a:t>4</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1725" b="0">
                          <a:solidFill>
                            <a:srgbClr val="17354E"/>
                          </a:solidFill>
                          <a:latin typeface="Aptos"/>
                          <a:ea typeface="Aptos"/>
                          <a:cs typeface="Aptos"/>
                        </a:rPr>
                        <a:t>4</a:t>
                      </a:r>
                    </a:p>
                  </a:txBody>
                  <a:tcPr marL="91440" marR="91440" marT="45720" marB="45720">
                    <a:lnR w="9525">
                      <a:solidFill>
                        <a:srgbClr val="D5E1E7"/>
                      </a:solidFill>
                    </a:lnR>
                    <a:lnB w="9525">
                      <a:solidFill>
                        <a:srgbClr val="D5E1E7"/>
                      </a:solidFill>
                    </a:lnB>
                    <a:solidFill>
                      <a:srgbClr val="EFF5F7"/>
                    </a:solidFill>
                  </a:tcPr>
                </a:tc>
                <a:tc>
                  <a:txBody>
                    <a:bodyPr/>
                    <a:lstStyle/>
                    <a:p>
                      <a:r>
                        <a:rPr sz="1725" b="0">
                          <a:solidFill>
                            <a:srgbClr val="17354E"/>
                          </a:solidFill>
                          <a:latin typeface="Aptos"/>
                          <a:ea typeface="Aptos"/>
                          <a:cs typeface="Aptos"/>
                        </a:rPr>
                        <a:t>4</a:t>
                      </a:r>
                    </a:p>
                  </a:txBody>
                  <a:tcPr marL="91440" marR="91440" marT="45720" marB="45720">
                    <a:lnR w="9525">
                      <a:solidFill>
                        <a:srgbClr val="D5E1E7"/>
                      </a:solidFill>
                    </a:lnR>
                    <a:lnB w="9525">
                      <a:solidFill>
                        <a:srgbClr val="D5E1E7"/>
                      </a:solidFill>
                    </a:lnB>
                    <a:solidFill>
                      <a:srgbClr val="EFF5F7"/>
                    </a:solidFill>
                  </a:tcPr>
                </a:tc>
                <a:tc>
                  <a:txBody>
                    <a:bodyPr/>
                    <a:lstStyle/>
                    <a:p>
                      <a:r>
                        <a:rPr sz="1725" b="0">
                          <a:solidFill>
                            <a:srgbClr val="17354E"/>
                          </a:solidFill>
                          <a:latin typeface="Aptos"/>
                          <a:ea typeface="Aptos"/>
                          <a:cs typeface="Aptos"/>
                        </a:rPr>
                        <a:t>24</a:t>
                      </a:r>
                    </a:p>
                  </a:txBody>
                  <a:tcPr marL="91440" marR="91440" marT="45720" marB="45720">
                    <a:lnR w="9525">
                      <a:solidFill>
                        <a:srgbClr val="D5E1E7"/>
                      </a:solidFill>
                    </a:lnR>
                    <a:lnB w="9525">
                      <a:solidFill>
                        <a:srgbClr val="D5E1E7"/>
                      </a:solidFill>
                    </a:lnB>
                    <a:solidFill>
                      <a:srgbClr val="EFF5F7"/>
                    </a:solidFill>
                  </a:tcPr>
                </a:tc>
              </a:tr>
            </a:tbl>
          </a:graphicData>
        </a:graphic>
      </p:graphicFrame>
      <p:sp>
        <p:nvSpPr>
          <p:cNvPr id="6" name="">
            <a:extLst xmlns:a="http://schemas.openxmlformats.org/drawingml/2006/main">
              <a:ext uri="{FF2B5EF4-FFF2-40B4-BE49-F238E27FC236}">
                <a16:creationId xmlns:a16="http://schemas.microsoft.com/office/drawing/2014/main" id="{D14C93C5-198E-4FAB-84EF-4EF733326182}"/>
              </a:ext>
            </a:extLst>
          </p:cNvPr>
          <p:cNvSpPr>
            <a:spLocks xmlns:a="http://schemas.openxmlformats.org/drawingml/2006/main" noGrp="1"/>
          </p:cNvSpPr>
          <p:nvPr/>
        </p:nvSpPr>
        <p:spPr>
          <a:xfrm xmlns:a="http://schemas.openxmlformats.org/drawingml/2006/main">
            <a:off x="8239125" y="4924425"/>
            <a:ext cx="34194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4D6172"/>
                </a:solidFill>
                <a:latin typeface="Aptos"/>
                <a:ea typeface="Aptos"/>
                <a:cs typeface="Aptos"/>
              </a:defRPr>
            </a:defPPr>
            <a:lvl1pPr>
              <a:buNone/>
              <a:defRPr sz="1800" b="0">
                <a:solidFill>
                  <a:srgbClr val="4D6172"/>
                </a:solidFill>
                <a:latin typeface="Aptos"/>
                <a:ea typeface="Aptos"/>
                <a:cs typeface="Aptos"/>
              </a:defRPr>
            </a:lvl1pPr>
            <a:lvl2pPr>
              <a:buNone/>
              <a:defRPr sz="1800" b="0">
                <a:solidFill>
                  <a:srgbClr val="4D6172"/>
                </a:solidFill>
                <a:latin typeface="Aptos"/>
                <a:ea typeface="Aptos"/>
                <a:cs typeface="Aptos"/>
              </a:defRPr>
            </a:lvl2pPr>
            <a:lvl3pPr>
              <a:buNone/>
              <a:defRPr sz="1800" b="0">
                <a:solidFill>
                  <a:srgbClr val="4D6172"/>
                </a:solidFill>
                <a:latin typeface="Aptos"/>
                <a:ea typeface="Aptos"/>
                <a:cs typeface="Aptos"/>
              </a:defRPr>
            </a:lvl3pPr>
            <a:lvl4pPr>
              <a:buNone/>
              <a:defRPr sz="1800" b="0">
                <a:solidFill>
                  <a:srgbClr val="4D6172"/>
                </a:solidFill>
                <a:latin typeface="Aptos"/>
                <a:ea typeface="Aptos"/>
                <a:cs typeface="Aptos"/>
              </a:defRPr>
            </a:lvl4pPr>
            <a:lvl5pPr>
              <a:buNone/>
              <a:defRPr sz="1800" b="0">
                <a:solidFill>
                  <a:srgbClr val="4D6172"/>
                </a:solidFill>
                <a:latin typeface="Aptos"/>
                <a:ea typeface="Aptos"/>
                <a:cs typeface="Aptos"/>
              </a:defRPr>
            </a:lvl5pPr>
            <a:lvl6pPr>
              <a:buNone/>
              <a:defRPr sz="1800" b="0">
                <a:solidFill>
                  <a:srgbClr val="4D6172"/>
                </a:solidFill>
                <a:latin typeface="Aptos"/>
                <a:ea typeface="Aptos"/>
                <a:cs typeface="Aptos"/>
              </a:defRPr>
            </a:lvl6pPr>
            <a:lvl7pPr>
              <a:buNone/>
              <a:defRPr sz="1800" b="0">
                <a:solidFill>
                  <a:srgbClr val="4D6172"/>
                </a:solidFill>
                <a:latin typeface="Aptos"/>
                <a:ea typeface="Aptos"/>
                <a:cs typeface="Aptos"/>
              </a:defRPr>
            </a:lvl7pPr>
            <a:lvl8pPr>
              <a:buNone/>
              <a:defRPr sz="1800" b="0">
                <a:solidFill>
                  <a:srgbClr val="4D6172"/>
                </a:solidFill>
                <a:latin typeface="Aptos"/>
                <a:ea typeface="Aptos"/>
                <a:cs typeface="Aptos"/>
              </a:defRPr>
            </a:lvl8pPr>
            <a:lvl9pPr>
              <a:buNone/>
              <a:defRPr sz="1800" b="0">
                <a:solidFill>
                  <a:srgbClr val="4D6172"/>
                </a:solidFill>
                <a:latin typeface="Aptos"/>
                <a:ea typeface="Aptos"/>
                <a:cs typeface="Aptos"/>
              </a:defRPr>
            </a:lvl9pPr>
          </a:lstStyle>
          <a:p xmlns:a="http://schemas.openxmlformats.org/drawingml/2006/main">
            <a:pPr>
              <a:buNone/>
              <a:defRPr sz="1800" b="0">
                <a:solidFill>
                  <a:srgbClr val="4D6172"/>
                </a:solidFill>
                <a:latin typeface="Aptos"/>
                <a:ea typeface="Aptos"/>
                <a:cs typeface="Aptos"/>
              </a:defRPr>
            </a:pPr>
            <a:r>
              <a:rPr sz="1800" b="0">
                <a:solidFill>
                  <a:srgbClr val="4D6172"/>
                </a:solidFill>
                <a:latin typeface="Aptos"/>
                <a:ea typeface="Aptos"/>
                <a:cs typeface="Aptos"/>
              </a:rPr>
              <a:t>Target 24: found at index 4</a:t>
            </a:r>
          </a:p>
        </p:txBody>
      </p:sp>
      <p:sp>
        <p:nvSpPr>
          <p:cNvPr id="7" name="">
            <a:extLst xmlns:a="http://schemas.openxmlformats.org/drawingml/2006/main">
              <a:ext uri="{FF2B5EF4-FFF2-40B4-BE49-F238E27FC236}">
                <a16:creationId xmlns:a16="http://schemas.microsoft.com/office/drawing/2014/main" id="{DFCC3525-856D-44D6-BB9D-1FBAA37EB81B}"/>
              </a:ext>
            </a:extLst>
          </p:cNvPr>
          <p:cNvSpPr>
            <a:spLocks xmlns:a="http://schemas.openxmlformats.org/drawingml/2006/main" noGrp="1"/>
          </p:cNvSpPr>
          <p:nvPr/>
        </p:nvSpPr>
        <p:spPr>
          <a:xfrm xmlns:a="http://schemas.openxmlformats.org/drawingml/2006/main">
            <a:off x="533400" y="5105400"/>
            <a:ext cx="742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4D6172"/>
                </a:solidFill>
                <a:latin typeface="Aptos"/>
                <a:ea typeface="Aptos"/>
                <a:cs typeface="Aptos"/>
              </a:defRPr>
            </a:defPPr>
            <a:lvl1pPr>
              <a:buNone/>
              <a:defRPr sz="1800" b="0">
                <a:solidFill>
                  <a:srgbClr val="4D6172"/>
                </a:solidFill>
                <a:latin typeface="Aptos"/>
                <a:ea typeface="Aptos"/>
                <a:cs typeface="Aptos"/>
              </a:defRPr>
            </a:lvl1pPr>
            <a:lvl2pPr>
              <a:buNone/>
              <a:defRPr sz="1800" b="0">
                <a:solidFill>
                  <a:srgbClr val="4D6172"/>
                </a:solidFill>
                <a:latin typeface="Aptos"/>
                <a:ea typeface="Aptos"/>
                <a:cs typeface="Aptos"/>
              </a:defRPr>
            </a:lvl2pPr>
            <a:lvl3pPr>
              <a:buNone/>
              <a:defRPr sz="1800" b="0">
                <a:solidFill>
                  <a:srgbClr val="4D6172"/>
                </a:solidFill>
                <a:latin typeface="Aptos"/>
                <a:ea typeface="Aptos"/>
                <a:cs typeface="Aptos"/>
              </a:defRPr>
            </a:lvl3pPr>
            <a:lvl4pPr>
              <a:buNone/>
              <a:defRPr sz="1800" b="0">
                <a:solidFill>
                  <a:srgbClr val="4D6172"/>
                </a:solidFill>
                <a:latin typeface="Aptos"/>
                <a:ea typeface="Aptos"/>
                <a:cs typeface="Aptos"/>
              </a:defRPr>
            </a:lvl4pPr>
            <a:lvl5pPr>
              <a:buNone/>
              <a:defRPr sz="1800" b="0">
                <a:solidFill>
                  <a:srgbClr val="4D6172"/>
                </a:solidFill>
                <a:latin typeface="Aptos"/>
                <a:ea typeface="Aptos"/>
                <a:cs typeface="Aptos"/>
              </a:defRPr>
            </a:lvl5pPr>
            <a:lvl6pPr>
              <a:buNone/>
              <a:defRPr sz="1800" b="0">
                <a:solidFill>
                  <a:srgbClr val="4D6172"/>
                </a:solidFill>
                <a:latin typeface="Aptos"/>
                <a:ea typeface="Aptos"/>
                <a:cs typeface="Aptos"/>
              </a:defRPr>
            </a:lvl6pPr>
            <a:lvl7pPr>
              <a:buNone/>
              <a:defRPr sz="1800" b="0">
                <a:solidFill>
                  <a:srgbClr val="4D6172"/>
                </a:solidFill>
                <a:latin typeface="Aptos"/>
                <a:ea typeface="Aptos"/>
                <a:cs typeface="Aptos"/>
              </a:defRPr>
            </a:lvl7pPr>
            <a:lvl8pPr>
              <a:buNone/>
              <a:defRPr sz="1800" b="0">
                <a:solidFill>
                  <a:srgbClr val="4D6172"/>
                </a:solidFill>
                <a:latin typeface="Aptos"/>
                <a:ea typeface="Aptos"/>
                <a:cs typeface="Aptos"/>
              </a:defRPr>
            </a:lvl8pPr>
            <a:lvl9pPr>
              <a:buNone/>
              <a:defRPr sz="1800" b="0">
                <a:solidFill>
                  <a:srgbClr val="4D6172"/>
                </a:solidFill>
                <a:latin typeface="Aptos"/>
                <a:ea typeface="Aptos"/>
                <a:cs typeface="Aptos"/>
              </a:defRPr>
            </a:lvl9pPr>
          </a:lstStyle>
          <a:p xmlns:a="http://schemas.openxmlformats.org/drawingml/2006/main">
            <a:pPr>
              <a:buNone/>
              <a:defRPr sz="1800" b="0">
                <a:solidFill>
                  <a:srgbClr val="4D6172"/>
                </a:solidFill>
                <a:latin typeface="Aptos"/>
                <a:ea typeface="Aptos"/>
                <a:cs typeface="Aptos"/>
              </a:defRPr>
            </a:pPr>
            <a:r>
              <a:rPr sz="1800" b="0">
                <a:solidFill>
                  <a:srgbClr val="4D6172"/>
                </a:solidFill>
                <a:latin typeface="Aptos"/>
                <a:ea typeface="Aptos"/>
                <a:cs typeface="Aptos"/>
              </a:rPr>
              <a:t>Call: binarySearch(a, 24, 0, a.length - 1);</a:t>
            </a:r>
          </a:p>
        </p:txBody>
      </p:sp>
      <p:sp>
        <p:nvSpPr>
          <p:cNvPr id="8" name="">
            <a:extLst xmlns:a="http://schemas.openxmlformats.org/drawingml/2006/main">
              <a:ext uri="{FF2B5EF4-FFF2-40B4-BE49-F238E27FC236}">
                <a16:creationId xmlns:a16="http://schemas.microsoft.com/office/drawing/2014/main" id="{CCB70B4C-0646-4F2F-9500-EFC167B288A0}"/>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Worst-case time O(log n). Recursive stack O(log n).</a:t>
            </a:r>
          </a:p>
        </p:txBody>
      </p:sp>
      <p:sp>
        <p:nvSpPr>
          <p:cNvPr id="10" name="local-java-RecursiveBinarySearch">
            <a:extLst xmlns:a="http://schemas.openxmlformats.org/drawingml/2006/main">
              <a:ext uri="{FF2B5EF4-FFF2-40B4-BE49-F238E27FC236}">
                <a16:creationId xmlns:a16="http://schemas.microsoft.com/office/drawing/2014/main" id="{F964714C-AA89-4A47-AF6A-6B9FBEB1D153}"/>
              </a:ext>
            </a:extLst>
          </p:cNvPr>
          <p:cNvSpPr>
            <a:spLocks xmlns:a="http://schemas.openxmlformats.org/drawingml/2006/main" noGrp="1"/>
          </p:cNvSpPr>
          <p:nvPr/>
        </p:nvSpPr>
        <p:spPr>
          <a:xfrm xmlns:a="http://schemas.openxmlformats.org/drawingml/2006/main">
            <a:off x="5143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0dab546ef66d4c2c"/>
              </a:rPr>
              <a:t>Java: RecursiveBinarySearch.java</a:t>
            </a:r>
          </a:p>
        </p:txBody>
      </p:sp>
    </p:spTree>
    <p:extLst>
      <p:ext uri="{BB962C8B-B14F-4D97-AF65-F5344CB8AC3E}">
        <p14:creationId xmlns:p14="http://schemas.microsoft.com/office/powerpoint/2010/main" val="12396707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C15FE2-CDF1-4895-AD08-89210B965902}"/>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The Tower of Hanoi</a:t>
            </a:r>
          </a:p>
        </p:txBody>
      </p:sp>
      <p:sp>
        <p:nvSpPr>
          <p:cNvPr id="2" name="">
            <a:extLst xmlns:a="http://schemas.openxmlformats.org/drawingml/2006/main">
              <a:ext uri="{FF2B5EF4-FFF2-40B4-BE49-F238E27FC236}">
                <a16:creationId xmlns:a16="http://schemas.microsoft.com/office/drawing/2014/main" id="{61855D1D-3E6F-4402-8410-0263630D7963}"/>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Move n disks from peg A to peg B, using peg C as spare storage.</a:t>
            </a:r>
          </a:p>
        </p:txBody>
      </p:sp>
      <p:sp>
        <p:nvSpPr>
          <p:cNvPr id="3" name="">
            <a:extLst xmlns:a="http://schemas.openxmlformats.org/drawingml/2006/main">
              <a:ext uri="{FF2B5EF4-FFF2-40B4-BE49-F238E27FC236}">
                <a16:creationId xmlns:a16="http://schemas.microsoft.com/office/drawing/2014/main" id="{8D3B4B5F-44FA-4427-9E3E-4FDEE07CF9B8}"/>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16</a:t>
            </a:r>
          </a:p>
        </p:txBody>
      </p:sp>
      <p:sp>
        <p:nvSpPr>
          <p:cNvPr id="4" name="">
            <a:extLst xmlns:a="http://schemas.openxmlformats.org/drawingml/2006/main">
              <a:ext uri="{FF2B5EF4-FFF2-40B4-BE49-F238E27FC236}">
                <a16:creationId xmlns:a16="http://schemas.microsoft.com/office/drawing/2014/main" id="{60547F73-AFFD-4308-AAE2-F0C403A82DF3}"/>
              </a:ext>
            </a:extLst>
          </p:cNvPr>
          <p:cNvSpPr>
            <a:spLocks xmlns:a="http://schemas.openxmlformats.org/drawingml/2006/main" noGrp="1"/>
          </p:cNvSpPr>
          <p:nvPr/>
        </p:nvSpPr>
        <p:spPr>
          <a:xfrm xmlns:a="http://schemas.openxmlformats.org/drawingml/2006/main">
            <a:off x="533400" y="2181225"/>
            <a:ext cx="11125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7354E"/>
                </a:solidFill>
                <a:latin typeface="Aptos"/>
                <a:ea typeface="Aptos"/>
                <a:cs typeface="Aptos"/>
              </a:defRPr>
            </a:defPPr>
            <a:lvl1pPr>
              <a:buNone/>
              <a:defRPr sz="2400" b="0">
                <a:solidFill>
                  <a:srgbClr val="17354E"/>
                </a:solidFill>
                <a:latin typeface="Aptos"/>
                <a:ea typeface="Aptos"/>
                <a:cs typeface="Aptos"/>
              </a:defRPr>
            </a:lvl1pPr>
            <a:lvl2pPr>
              <a:buNone/>
              <a:defRPr sz="2400" b="0">
                <a:solidFill>
                  <a:srgbClr val="17354E"/>
                </a:solidFill>
                <a:latin typeface="Aptos"/>
                <a:ea typeface="Aptos"/>
                <a:cs typeface="Aptos"/>
              </a:defRPr>
            </a:lvl2pPr>
            <a:lvl3pPr>
              <a:buNone/>
              <a:defRPr sz="2400" b="0">
                <a:solidFill>
                  <a:srgbClr val="17354E"/>
                </a:solidFill>
                <a:latin typeface="Aptos"/>
                <a:ea typeface="Aptos"/>
                <a:cs typeface="Aptos"/>
              </a:defRPr>
            </a:lvl3pPr>
            <a:lvl4pPr>
              <a:buNone/>
              <a:defRPr sz="2400" b="0">
                <a:solidFill>
                  <a:srgbClr val="17354E"/>
                </a:solidFill>
                <a:latin typeface="Aptos"/>
                <a:ea typeface="Aptos"/>
                <a:cs typeface="Aptos"/>
              </a:defRPr>
            </a:lvl4pPr>
            <a:lvl5pPr>
              <a:buNone/>
              <a:defRPr sz="2400" b="0">
                <a:solidFill>
                  <a:srgbClr val="17354E"/>
                </a:solidFill>
                <a:latin typeface="Aptos"/>
                <a:ea typeface="Aptos"/>
                <a:cs typeface="Aptos"/>
              </a:defRPr>
            </a:lvl5pPr>
            <a:lvl6pPr>
              <a:buNone/>
              <a:defRPr sz="2400" b="0">
                <a:solidFill>
                  <a:srgbClr val="17354E"/>
                </a:solidFill>
                <a:latin typeface="Aptos"/>
                <a:ea typeface="Aptos"/>
                <a:cs typeface="Aptos"/>
              </a:defRPr>
            </a:lvl6pPr>
            <a:lvl7pPr>
              <a:buNone/>
              <a:defRPr sz="2400" b="0">
                <a:solidFill>
                  <a:srgbClr val="17354E"/>
                </a:solidFill>
                <a:latin typeface="Aptos"/>
                <a:ea typeface="Aptos"/>
                <a:cs typeface="Aptos"/>
              </a:defRPr>
            </a:lvl7pPr>
            <a:lvl8pPr>
              <a:buNone/>
              <a:defRPr sz="2400" b="0">
                <a:solidFill>
                  <a:srgbClr val="17354E"/>
                </a:solidFill>
                <a:latin typeface="Aptos"/>
                <a:ea typeface="Aptos"/>
                <a:cs typeface="Aptos"/>
              </a:defRPr>
            </a:lvl8pPr>
            <a:lvl9pPr>
              <a:buNone/>
              <a:defRPr sz="2400" b="0">
                <a:solidFill>
                  <a:srgbClr val="17354E"/>
                </a:solidFill>
                <a:latin typeface="Aptos"/>
                <a:ea typeface="Aptos"/>
                <a:cs typeface="Aptos"/>
              </a:defRPr>
            </a:lvl9pPr>
          </a:lstStyle>
          <a:p xmlns:a="http://schemas.openxmlformats.org/drawingml/2006/main">
            <a:pPr>
              <a:buNone/>
              <a:defRPr sz="2400" b="0">
                <a:solidFill>
                  <a:srgbClr val="17354E"/>
                </a:solidFill>
                <a:latin typeface="Aptos"/>
                <a:ea typeface="Aptos"/>
                <a:cs typeface="Aptos"/>
              </a:defRPr>
            </a:pPr>
            <a:r>
              <a:rPr sz="2400" b="0">
                <a:solidFill>
                  <a:srgbClr val="17354E"/>
                </a:solidFill>
                <a:latin typeface="Aptos"/>
                <a:ea typeface="Aptos"/>
                <a:cs typeface="Aptos"/>
              </a:rPr>
              <a:t>All disks start on A, with the smallest disk on top.</a:t>
            </a:r>
          </a:p>
        </p:txBody>
      </p:sp>
      <p:sp>
        <p:nvSpPr>
          <p:cNvPr id="5" name="">
            <a:extLst xmlns:a="http://schemas.openxmlformats.org/drawingml/2006/main">
              <a:ext uri="{FF2B5EF4-FFF2-40B4-BE49-F238E27FC236}">
                <a16:creationId xmlns:a16="http://schemas.microsoft.com/office/drawing/2014/main" id="{6D5048AD-CC85-4658-ABB3-EF03B5B49733}"/>
              </a:ext>
            </a:extLst>
          </p:cNvPr>
          <p:cNvSpPr>
            <a:spLocks xmlns:a="http://schemas.openxmlformats.org/drawingml/2006/main" noGrp="1"/>
          </p:cNvSpPr>
          <p:nvPr/>
        </p:nvSpPr>
        <p:spPr>
          <a:xfrm xmlns:a="http://schemas.openxmlformats.org/drawingml/2006/main">
            <a:off x="533400" y="2962275"/>
            <a:ext cx="11125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7354E"/>
                </a:solidFill>
                <a:latin typeface="Aptos"/>
                <a:ea typeface="Aptos"/>
                <a:cs typeface="Aptos"/>
              </a:defRPr>
            </a:defPPr>
            <a:lvl1pPr>
              <a:buNone/>
              <a:defRPr sz="2400" b="0">
                <a:solidFill>
                  <a:srgbClr val="17354E"/>
                </a:solidFill>
                <a:latin typeface="Aptos"/>
                <a:ea typeface="Aptos"/>
                <a:cs typeface="Aptos"/>
              </a:defRPr>
            </a:lvl1pPr>
            <a:lvl2pPr>
              <a:buNone/>
              <a:defRPr sz="2400" b="0">
                <a:solidFill>
                  <a:srgbClr val="17354E"/>
                </a:solidFill>
                <a:latin typeface="Aptos"/>
                <a:ea typeface="Aptos"/>
                <a:cs typeface="Aptos"/>
              </a:defRPr>
            </a:lvl2pPr>
            <a:lvl3pPr>
              <a:buNone/>
              <a:defRPr sz="2400" b="0">
                <a:solidFill>
                  <a:srgbClr val="17354E"/>
                </a:solidFill>
                <a:latin typeface="Aptos"/>
                <a:ea typeface="Aptos"/>
                <a:cs typeface="Aptos"/>
              </a:defRPr>
            </a:lvl3pPr>
            <a:lvl4pPr>
              <a:buNone/>
              <a:defRPr sz="2400" b="0">
                <a:solidFill>
                  <a:srgbClr val="17354E"/>
                </a:solidFill>
                <a:latin typeface="Aptos"/>
                <a:ea typeface="Aptos"/>
                <a:cs typeface="Aptos"/>
              </a:defRPr>
            </a:lvl4pPr>
            <a:lvl5pPr>
              <a:buNone/>
              <a:defRPr sz="2400" b="0">
                <a:solidFill>
                  <a:srgbClr val="17354E"/>
                </a:solidFill>
                <a:latin typeface="Aptos"/>
                <a:ea typeface="Aptos"/>
                <a:cs typeface="Aptos"/>
              </a:defRPr>
            </a:lvl5pPr>
            <a:lvl6pPr>
              <a:buNone/>
              <a:defRPr sz="2400" b="0">
                <a:solidFill>
                  <a:srgbClr val="17354E"/>
                </a:solidFill>
                <a:latin typeface="Aptos"/>
                <a:ea typeface="Aptos"/>
                <a:cs typeface="Aptos"/>
              </a:defRPr>
            </a:lvl6pPr>
            <a:lvl7pPr>
              <a:buNone/>
              <a:defRPr sz="2400" b="0">
                <a:solidFill>
                  <a:srgbClr val="17354E"/>
                </a:solidFill>
                <a:latin typeface="Aptos"/>
                <a:ea typeface="Aptos"/>
                <a:cs typeface="Aptos"/>
              </a:defRPr>
            </a:lvl7pPr>
            <a:lvl8pPr>
              <a:buNone/>
              <a:defRPr sz="2400" b="0">
                <a:solidFill>
                  <a:srgbClr val="17354E"/>
                </a:solidFill>
                <a:latin typeface="Aptos"/>
                <a:ea typeface="Aptos"/>
                <a:cs typeface="Aptos"/>
              </a:defRPr>
            </a:lvl8pPr>
            <a:lvl9pPr>
              <a:buNone/>
              <a:defRPr sz="2400" b="0">
                <a:solidFill>
                  <a:srgbClr val="17354E"/>
                </a:solidFill>
                <a:latin typeface="Aptos"/>
                <a:ea typeface="Aptos"/>
                <a:cs typeface="Aptos"/>
              </a:defRPr>
            </a:lvl9pPr>
          </a:lstStyle>
          <a:p xmlns:a="http://schemas.openxmlformats.org/drawingml/2006/main">
            <a:pPr>
              <a:buNone/>
              <a:defRPr sz="2400" b="0">
                <a:solidFill>
                  <a:srgbClr val="17354E"/>
                </a:solidFill>
                <a:latin typeface="Aptos"/>
                <a:ea typeface="Aptos"/>
                <a:cs typeface="Aptos"/>
              </a:defRPr>
            </a:pPr>
            <a:r>
              <a:rPr sz="2400" b="0">
                <a:solidFill>
                  <a:srgbClr val="17354E"/>
                </a:solidFill>
                <a:latin typeface="Aptos"/>
                <a:ea typeface="Aptos"/>
                <a:cs typeface="Aptos"/>
              </a:rPr>
              <a:t>Move only one disk at a time.</a:t>
            </a:r>
          </a:p>
        </p:txBody>
      </p:sp>
      <p:sp>
        <p:nvSpPr>
          <p:cNvPr id="6" name="">
            <a:extLst xmlns:a="http://schemas.openxmlformats.org/drawingml/2006/main">
              <a:ext uri="{FF2B5EF4-FFF2-40B4-BE49-F238E27FC236}">
                <a16:creationId xmlns:a16="http://schemas.microsoft.com/office/drawing/2014/main" id="{B281E447-9C5A-4C0F-9DC4-6F11993EE2D7}"/>
              </a:ext>
            </a:extLst>
          </p:cNvPr>
          <p:cNvSpPr>
            <a:spLocks xmlns:a="http://schemas.openxmlformats.org/drawingml/2006/main" noGrp="1"/>
          </p:cNvSpPr>
          <p:nvPr/>
        </p:nvSpPr>
        <p:spPr>
          <a:xfrm xmlns:a="http://schemas.openxmlformats.org/drawingml/2006/main">
            <a:off x="533400" y="3743325"/>
            <a:ext cx="11125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7354E"/>
                </a:solidFill>
                <a:latin typeface="Aptos"/>
                <a:ea typeface="Aptos"/>
                <a:cs typeface="Aptos"/>
              </a:defRPr>
            </a:defPPr>
            <a:lvl1pPr>
              <a:buNone/>
              <a:defRPr sz="2400" b="0">
                <a:solidFill>
                  <a:srgbClr val="17354E"/>
                </a:solidFill>
                <a:latin typeface="Aptos"/>
                <a:ea typeface="Aptos"/>
                <a:cs typeface="Aptos"/>
              </a:defRPr>
            </a:lvl1pPr>
            <a:lvl2pPr>
              <a:buNone/>
              <a:defRPr sz="2400" b="0">
                <a:solidFill>
                  <a:srgbClr val="17354E"/>
                </a:solidFill>
                <a:latin typeface="Aptos"/>
                <a:ea typeface="Aptos"/>
                <a:cs typeface="Aptos"/>
              </a:defRPr>
            </a:lvl2pPr>
            <a:lvl3pPr>
              <a:buNone/>
              <a:defRPr sz="2400" b="0">
                <a:solidFill>
                  <a:srgbClr val="17354E"/>
                </a:solidFill>
                <a:latin typeface="Aptos"/>
                <a:ea typeface="Aptos"/>
                <a:cs typeface="Aptos"/>
              </a:defRPr>
            </a:lvl3pPr>
            <a:lvl4pPr>
              <a:buNone/>
              <a:defRPr sz="2400" b="0">
                <a:solidFill>
                  <a:srgbClr val="17354E"/>
                </a:solidFill>
                <a:latin typeface="Aptos"/>
                <a:ea typeface="Aptos"/>
                <a:cs typeface="Aptos"/>
              </a:defRPr>
            </a:lvl4pPr>
            <a:lvl5pPr>
              <a:buNone/>
              <a:defRPr sz="2400" b="0">
                <a:solidFill>
                  <a:srgbClr val="17354E"/>
                </a:solidFill>
                <a:latin typeface="Aptos"/>
                <a:ea typeface="Aptos"/>
                <a:cs typeface="Aptos"/>
              </a:defRPr>
            </a:lvl5pPr>
            <a:lvl6pPr>
              <a:buNone/>
              <a:defRPr sz="2400" b="0">
                <a:solidFill>
                  <a:srgbClr val="17354E"/>
                </a:solidFill>
                <a:latin typeface="Aptos"/>
                <a:ea typeface="Aptos"/>
                <a:cs typeface="Aptos"/>
              </a:defRPr>
            </a:lvl6pPr>
            <a:lvl7pPr>
              <a:buNone/>
              <a:defRPr sz="2400" b="0">
                <a:solidFill>
                  <a:srgbClr val="17354E"/>
                </a:solidFill>
                <a:latin typeface="Aptos"/>
                <a:ea typeface="Aptos"/>
                <a:cs typeface="Aptos"/>
              </a:defRPr>
            </a:lvl7pPr>
            <a:lvl8pPr>
              <a:buNone/>
              <a:defRPr sz="2400" b="0">
                <a:solidFill>
                  <a:srgbClr val="17354E"/>
                </a:solidFill>
                <a:latin typeface="Aptos"/>
                <a:ea typeface="Aptos"/>
                <a:cs typeface="Aptos"/>
              </a:defRPr>
            </a:lvl8pPr>
            <a:lvl9pPr>
              <a:buNone/>
              <a:defRPr sz="2400" b="0">
                <a:solidFill>
                  <a:srgbClr val="17354E"/>
                </a:solidFill>
                <a:latin typeface="Aptos"/>
                <a:ea typeface="Aptos"/>
                <a:cs typeface="Aptos"/>
              </a:defRPr>
            </a:lvl9pPr>
          </a:lstStyle>
          <a:p xmlns:a="http://schemas.openxmlformats.org/drawingml/2006/main">
            <a:pPr>
              <a:buNone/>
              <a:defRPr sz="2400" b="0">
                <a:solidFill>
                  <a:srgbClr val="17354E"/>
                </a:solidFill>
                <a:latin typeface="Aptos"/>
                <a:ea typeface="Aptos"/>
                <a:cs typeface="Aptos"/>
              </a:defRPr>
            </a:pPr>
            <a:r>
              <a:rPr sz="2400" b="0">
                <a:solidFill>
                  <a:srgbClr val="17354E"/>
                </a:solidFill>
                <a:latin typeface="Aptos"/>
                <a:ea typeface="Aptos"/>
                <a:cs typeface="Aptos"/>
              </a:rPr>
              <a:t>Only the top disk on a peg may move.</a:t>
            </a:r>
          </a:p>
        </p:txBody>
      </p:sp>
      <p:sp>
        <p:nvSpPr>
          <p:cNvPr id="7" name="">
            <a:extLst xmlns:a="http://schemas.openxmlformats.org/drawingml/2006/main">
              <a:ext uri="{FF2B5EF4-FFF2-40B4-BE49-F238E27FC236}">
                <a16:creationId xmlns:a16="http://schemas.microsoft.com/office/drawing/2014/main" id="{33AD9322-0169-47E4-9011-8000A0C2A6CD}"/>
              </a:ext>
            </a:extLst>
          </p:cNvPr>
          <p:cNvSpPr>
            <a:spLocks xmlns:a="http://schemas.openxmlformats.org/drawingml/2006/main" noGrp="1"/>
          </p:cNvSpPr>
          <p:nvPr/>
        </p:nvSpPr>
        <p:spPr>
          <a:xfrm xmlns:a="http://schemas.openxmlformats.org/drawingml/2006/main">
            <a:off x="533400" y="4524375"/>
            <a:ext cx="11125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7354E"/>
                </a:solidFill>
                <a:latin typeface="Aptos"/>
                <a:ea typeface="Aptos"/>
                <a:cs typeface="Aptos"/>
              </a:defRPr>
            </a:defPPr>
            <a:lvl1pPr>
              <a:buNone/>
              <a:defRPr sz="2400" b="0">
                <a:solidFill>
                  <a:srgbClr val="17354E"/>
                </a:solidFill>
                <a:latin typeface="Aptos"/>
                <a:ea typeface="Aptos"/>
                <a:cs typeface="Aptos"/>
              </a:defRPr>
            </a:lvl1pPr>
            <a:lvl2pPr>
              <a:buNone/>
              <a:defRPr sz="2400" b="0">
                <a:solidFill>
                  <a:srgbClr val="17354E"/>
                </a:solidFill>
                <a:latin typeface="Aptos"/>
                <a:ea typeface="Aptos"/>
                <a:cs typeface="Aptos"/>
              </a:defRPr>
            </a:lvl2pPr>
            <a:lvl3pPr>
              <a:buNone/>
              <a:defRPr sz="2400" b="0">
                <a:solidFill>
                  <a:srgbClr val="17354E"/>
                </a:solidFill>
                <a:latin typeface="Aptos"/>
                <a:ea typeface="Aptos"/>
                <a:cs typeface="Aptos"/>
              </a:defRPr>
            </a:lvl3pPr>
            <a:lvl4pPr>
              <a:buNone/>
              <a:defRPr sz="2400" b="0">
                <a:solidFill>
                  <a:srgbClr val="17354E"/>
                </a:solidFill>
                <a:latin typeface="Aptos"/>
                <a:ea typeface="Aptos"/>
                <a:cs typeface="Aptos"/>
              </a:defRPr>
            </a:lvl4pPr>
            <a:lvl5pPr>
              <a:buNone/>
              <a:defRPr sz="2400" b="0">
                <a:solidFill>
                  <a:srgbClr val="17354E"/>
                </a:solidFill>
                <a:latin typeface="Aptos"/>
                <a:ea typeface="Aptos"/>
                <a:cs typeface="Aptos"/>
              </a:defRPr>
            </a:lvl5pPr>
            <a:lvl6pPr>
              <a:buNone/>
              <a:defRPr sz="2400" b="0">
                <a:solidFill>
                  <a:srgbClr val="17354E"/>
                </a:solidFill>
                <a:latin typeface="Aptos"/>
                <a:ea typeface="Aptos"/>
                <a:cs typeface="Aptos"/>
              </a:defRPr>
            </a:lvl6pPr>
            <a:lvl7pPr>
              <a:buNone/>
              <a:defRPr sz="2400" b="0">
                <a:solidFill>
                  <a:srgbClr val="17354E"/>
                </a:solidFill>
                <a:latin typeface="Aptos"/>
                <a:ea typeface="Aptos"/>
                <a:cs typeface="Aptos"/>
              </a:defRPr>
            </a:lvl7pPr>
            <a:lvl8pPr>
              <a:buNone/>
              <a:defRPr sz="2400" b="0">
                <a:solidFill>
                  <a:srgbClr val="17354E"/>
                </a:solidFill>
                <a:latin typeface="Aptos"/>
                <a:ea typeface="Aptos"/>
                <a:cs typeface="Aptos"/>
              </a:defRPr>
            </a:lvl8pPr>
            <a:lvl9pPr>
              <a:buNone/>
              <a:defRPr sz="2400" b="0">
                <a:solidFill>
                  <a:srgbClr val="17354E"/>
                </a:solidFill>
                <a:latin typeface="Aptos"/>
                <a:ea typeface="Aptos"/>
                <a:cs typeface="Aptos"/>
              </a:defRPr>
            </a:lvl9pPr>
          </a:lstStyle>
          <a:p xmlns:a="http://schemas.openxmlformats.org/drawingml/2006/main">
            <a:pPr>
              <a:buNone/>
              <a:defRPr sz="2400" b="0">
                <a:solidFill>
                  <a:srgbClr val="17354E"/>
                </a:solidFill>
                <a:latin typeface="Aptos"/>
                <a:ea typeface="Aptos"/>
                <a:cs typeface="Aptos"/>
              </a:defRPr>
            </a:pPr>
            <a:r>
              <a:rPr sz="2400" b="0">
                <a:solidFill>
                  <a:srgbClr val="17354E"/>
                </a:solidFill>
                <a:latin typeface="Aptos"/>
                <a:ea typeface="Aptos"/>
                <a:cs typeface="Aptos"/>
              </a:rPr>
              <a:t>A larger disk may never sit on a smaller disk.</a:t>
            </a:r>
          </a:p>
        </p:txBody>
      </p:sp>
      <p:sp>
        <p:nvSpPr>
          <p:cNvPr id="8" name="">
            <a:extLst xmlns:a="http://schemas.openxmlformats.org/drawingml/2006/main">
              <a:ext uri="{FF2B5EF4-FFF2-40B4-BE49-F238E27FC236}">
                <a16:creationId xmlns:a16="http://schemas.microsoft.com/office/drawing/2014/main" id="{53FF27C7-715A-4396-AD1C-5B7A9A165DB9}"/>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Question: how many moves are necessary for three disks?</a:t>
            </a:r>
          </a:p>
        </p:txBody>
      </p:sp>
      <p:sp>
        <p:nvSpPr>
          <p:cNvPr id="10" name="local-java-TowerOfHanoi">
            <a:extLst xmlns:a="http://schemas.openxmlformats.org/drawingml/2006/main">
              <a:ext uri="{FF2B5EF4-FFF2-40B4-BE49-F238E27FC236}">
                <a16:creationId xmlns:a16="http://schemas.microsoft.com/office/drawing/2014/main" id="{0D0CC5CE-DF8D-496B-9AC5-947CA2175B05}"/>
              </a:ext>
            </a:extLst>
          </p:cNvPr>
          <p:cNvSpPr>
            <a:spLocks xmlns:a="http://schemas.openxmlformats.org/drawingml/2006/main" noGrp="1"/>
          </p:cNvSpPr>
          <p:nvPr/>
        </p:nvSpPr>
        <p:spPr>
          <a:xfrm xmlns:a="http://schemas.openxmlformats.org/drawingml/2006/main">
            <a:off x="5143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af7e9e677e3a4e54"/>
              </a:rPr>
              <a:t>Java: TowerOfHanoi.java</a:t>
            </a:r>
          </a:p>
        </p:txBody>
      </p:sp>
    </p:spTree>
    <p:extLst>
      <p:ext uri="{BB962C8B-B14F-4D97-AF65-F5344CB8AC3E}">
        <p14:creationId xmlns:p14="http://schemas.microsoft.com/office/powerpoint/2010/main" val="124559815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3AEAEF-BEA7-48D7-B3F9-32305FAB39BA}"/>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Hanoi: clear the largest disk</a:t>
            </a:r>
          </a:p>
        </p:txBody>
      </p:sp>
      <p:sp>
        <p:nvSpPr>
          <p:cNvPr id="2" name="">
            <a:extLst xmlns:a="http://schemas.openxmlformats.org/drawingml/2006/main">
              <a:ext uri="{FF2B5EF4-FFF2-40B4-BE49-F238E27FC236}">
                <a16:creationId xmlns:a16="http://schemas.microsoft.com/office/drawing/2014/main" id="{11D2AC79-F4E5-4DCC-A149-7E62C0074F75}"/>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Move the n − 1 smaller disks from A to C, using B as spare storage.</a:t>
            </a:r>
          </a:p>
        </p:txBody>
      </p:sp>
      <p:sp>
        <p:nvSpPr>
          <p:cNvPr id="3" name="">
            <a:extLst xmlns:a="http://schemas.openxmlformats.org/drawingml/2006/main">
              <a:ext uri="{FF2B5EF4-FFF2-40B4-BE49-F238E27FC236}">
                <a16:creationId xmlns:a16="http://schemas.microsoft.com/office/drawing/2014/main" id="{165AA908-F9DB-442F-A653-368981CA6C74}"/>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17</a:t>
            </a:r>
          </a:p>
        </p:txBody>
      </p:sp>
      <p:pic>
        <p:nvPicPr>
          <p:cNvPr id="4" name="">
            <a:extLst xmlns:a="http://schemas.openxmlformats.org/drawingml/2006/main">
              <a:ext uri="{FF2B5EF4-FFF2-40B4-BE49-F238E27FC236}">
                <a16:creationId xmlns:a16="http://schemas.microsoft.com/office/drawing/2014/main" id="{018CCE88-5289-4741-BB97-DB204682248E}"/>
              </a:ext>
            </a:extLst>
          </p:cNvPr>
          <p:cNvPicPr>
            <a:picLocks xmlns:a="http://schemas.openxmlformats.org/drawingml/2006/main" noChangeAspect="1"/>
          </p:cNvPicPr>
          <p:nvPr/>
        </p:nvPicPr>
        <p:blipFill>
          <a:blip xmlns:r="http://schemas.openxmlformats.org/officeDocument/2006/relationships" xmlns:a="http://schemas.openxmlformats.org/drawingml/2006/main" r:embed="R07250ab053e540e1"/>
          <a:srcRect xmlns:a="http://schemas.openxmlformats.org/drawingml/2006/main" l="0" t="0" r="50500" b="52000"/>
          <a:stretch xmlns:a="http://schemas.openxmlformats.org/drawingml/2006/main"/>
        </p:blipFill>
        <p:spPr>
          <a:xfrm xmlns:a="http://schemas.openxmlformats.org/drawingml/2006/main">
            <a:off x="533400" y="2028825"/>
            <a:ext cx="5334000" cy="34480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AFE5A786-5F91-41D4-9ECD-1D3F97FF0B33}"/>
              </a:ext>
            </a:extLst>
          </p:cNvPr>
          <p:cNvPicPr>
            <a:picLocks xmlns:a="http://schemas.openxmlformats.org/drawingml/2006/main" noChangeAspect="1"/>
          </p:cNvPicPr>
          <p:nvPr/>
        </p:nvPicPr>
        <p:blipFill>
          <a:blip xmlns:r="http://schemas.openxmlformats.org/officeDocument/2006/relationships" xmlns:a="http://schemas.openxmlformats.org/drawingml/2006/main" r:embed="Rdc20d3532c3d46ee"/>
          <a:srcRect xmlns:a="http://schemas.openxmlformats.org/drawingml/2006/main" l="0" t="48300" r="50500" b="0"/>
          <a:stretch xmlns:a="http://schemas.openxmlformats.org/drawingml/2006/main"/>
        </p:blipFill>
        <p:spPr>
          <a:xfrm xmlns:a="http://schemas.openxmlformats.org/drawingml/2006/main">
            <a:off x="6324600" y="2028825"/>
            <a:ext cx="5334000"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94FA273-F36B-436E-A9EA-6EF5BD5B9251}"/>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The largest disk stays on A until every smaller disk has moved away.</a:t>
            </a:r>
          </a:p>
        </p:txBody>
      </p:sp>
      <p:sp>
        <p:nvSpPr>
          <p:cNvPr id="8" name="local-java-TowerOfHanoi">
            <a:extLst xmlns:a="http://schemas.openxmlformats.org/drawingml/2006/main">
              <a:ext uri="{FF2B5EF4-FFF2-40B4-BE49-F238E27FC236}">
                <a16:creationId xmlns:a16="http://schemas.microsoft.com/office/drawing/2014/main" id="{1721026E-1ABC-4B2D-8BF8-B404FCA02E5B}"/>
              </a:ext>
            </a:extLst>
          </p:cNvPr>
          <p:cNvSpPr>
            <a:spLocks xmlns:a="http://schemas.openxmlformats.org/drawingml/2006/main" noGrp="1"/>
          </p:cNvSpPr>
          <p:nvPr/>
        </p:nvSpPr>
        <p:spPr>
          <a:xfrm xmlns:a="http://schemas.openxmlformats.org/drawingml/2006/main">
            <a:off x="5143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65615d7414ea45d2"/>
              </a:rPr>
              <a:t>Java: TowerOfHanoi.java</a:t>
            </a:r>
          </a:p>
        </p:txBody>
      </p:sp>
    </p:spTree>
    <p:extLst>
      <p:ext uri="{BB962C8B-B14F-4D97-AF65-F5344CB8AC3E}">
        <p14:creationId xmlns:p14="http://schemas.microsoft.com/office/powerpoint/2010/main" val="1477129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DC922E-DFEF-469A-A3A6-1DC814EFEF76}"/>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Hanoi: move disk n and finish</a:t>
            </a:r>
          </a:p>
        </p:txBody>
      </p:sp>
      <p:sp>
        <p:nvSpPr>
          <p:cNvPr id="2" name="">
            <a:extLst xmlns:a="http://schemas.openxmlformats.org/drawingml/2006/main">
              <a:ext uri="{FF2B5EF4-FFF2-40B4-BE49-F238E27FC236}">
                <a16:creationId xmlns:a16="http://schemas.microsoft.com/office/drawing/2014/main" id="{6647D4D1-81A6-4F10-85C9-ACC3D41F46A0}"/>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Move the largest disk to B, then transfer the n − 1 smaller disks from C to B.</a:t>
            </a:r>
          </a:p>
        </p:txBody>
      </p:sp>
      <p:sp>
        <p:nvSpPr>
          <p:cNvPr id="3" name="">
            <a:extLst xmlns:a="http://schemas.openxmlformats.org/drawingml/2006/main">
              <a:ext uri="{FF2B5EF4-FFF2-40B4-BE49-F238E27FC236}">
                <a16:creationId xmlns:a16="http://schemas.microsoft.com/office/drawing/2014/main" id="{49EADB0E-9091-4C4F-AB67-C9E798E807C3}"/>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18</a:t>
            </a:r>
          </a:p>
        </p:txBody>
      </p:sp>
      <p:pic>
        <p:nvPicPr>
          <p:cNvPr id="4" name="">
            <a:extLst xmlns:a="http://schemas.openxmlformats.org/drawingml/2006/main">
              <a:ext uri="{FF2B5EF4-FFF2-40B4-BE49-F238E27FC236}">
                <a16:creationId xmlns:a16="http://schemas.microsoft.com/office/drawing/2014/main" id="{D539EB0B-7D9B-47D8-8958-97FD684F97DE}"/>
              </a:ext>
            </a:extLst>
          </p:cNvPr>
          <p:cNvPicPr>
            <a:picLocks xmlns:a="http://schemas.openxmlformats.org/drawingml/2006/main" noChangeAspect="1"/>
          </p:cNvPicPr>
          <p:nvPr/>
        </p:nvPicPr>
        <p:blipFill>
          <a:blip xmlns:r="http://schemas.openxmlformats.org/officeDocument/2006/relationships" xmlns:a="http://schemas.openxmlformats.org/drawingml/2006/main" r:embed="Rec2d3073f77c46de"/>
          <a:srcRect xmlns:a="http://schemas.openxmlformats.org/drawingml/2006/main" l="50000" t="0" r="0" b="52000"/>
          <a:stretch xmlns:a="http://schemas.openxmlformats.org/drawingml/2006/main"/>
        </p:blipFill>
        <p:spPr>
          <a:xfrm xmlns:a="http://schemas.openxmlformats.org/drawingml/2006/main">
            <a:off x="533400" y="2028825"/>
            <a:ext cx="5334000" cy="34480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400335C6-7095-465C-8730-41ED940BE8AB}"/>
              </a:ext>
            </a:extLst>
          </p:cNvPr>
          <p:cNvPicPr>
            <a:picLocks xmlns:a="http://schemas.openxmlformats.org/drawingml/2006/main" noChangeAspect="1"/>
          </p:cNvPicPr>
          <p:nvPr/>
        </p:nvPicPr>
        <p:blipFill>
          <a:blip xmlns:r="http://schemas.openxmlformats.org/officeDocument/2006/relationships" xmlns:a="http://schemas.openxmlformats.org/drawingml/2006/main" r:embed="Rc862ed90412c48d3"/>
          <a:srcRect xmlns:a="http://schemas.openxmlformats.org/drawingml/2006/main" l="50000" t="48300" r="0" b="0"/>
          <a:stretch xmlns:a="http://schemas.openxmlformats.org/drawingml/2006/main"/>
        </p:blipFill>
        <p:spPr>
          <a:xfrm xmlns:a="http://schemas.openxmlformats.org/drawingml/2006/main">
            <a:off x="6324600" y="2028825"/>
            <a:ext cx="5334000"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36CE2F4-6C58-4533-A770-DB9FAC0B2DCF}"/>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Two recursive transfers surround one direct move of the largest disk.</a:t>
            </a:r>
          </a:p>
        </p:txBody>
      </p:sp>
      <p:sp>
        <p:nvSpPr>
          <p:cNvPr id="8" name="local-java-TowerOfHanoi">
            <a:extLst xmlns:a="http://schemas.openxmlformats.org/drawingml/2006/main">
              <a:ext uri="{FF2B5EF4-FFF2-40B4-BE49-F238E27FC236}">
                <a16:creationId xmlns:a16="http://schemas.microsoft.com/office/drawing/2014/main" id="{2863CCCA-1E84-452B-88BD-67690489E921}"/>
              </a:ext>
            </a:extLst>
          </p:cNvPr>
          <p:cNvSpPr>
            <a:spLocks xmlns:a="http://schemas.openxmlformats.org/drawingml/2006/main" noGrp="1"/>
          </p:cNvSpPr>
          <p:nvPr/>
        </p:nvSpPr>
        <p:spPr>
          <a:xfrm xmlns:a="http://schemas.openxmlformats.org/drawingml/2006/main">
            <a:off x="5143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67a64274c8524aae"/>
              </a:rPr>
              <a:t>Java: TowerOfHanoi.java</a:t>
            </a:r>
          </a:p>
        </p:txBody>
      </p:sp>
    </p:spTree>
    <p:extLst>
      <p:ext uri="{BB962C8B-B14F-4D97-AF65-F5344CB8AC3E}">
        <p14:creationId xmlns:p14="http://schemas.microsoft.com/office/powerpoint/2010/main" val="188012374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85410A-E09E-450A-8B7B-A3AA151F9EAC}"/>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Hanoi in Java</a:t>
            </a:r>
          </a:p>
        </p:txBody>
      </p:sp>
      <p:sp>
        <p:nvSpPr>
          <p:cNvPr id="2" name="">
            <a:extLst xmlns:a="http://schemas.openxmlformats.org/drawingml/2006/main">
              <a:ext uri="{FF2B5EF4-FFF2-40B4-BE49-F238E27FC236}">
                <a16:creationId xmlns:a16="http://schemas.microsoft.com/office/drawing/2014/main" id="{F7BA4140-A104-460C-A536-34D5D700081A}"/>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Call hanoi(3, 'A', 'B', 'C'). The n = 0 case makes no moves.</a:t>
            </a:r>
          </a:p>
        </p:txBody>
      </p:sp>
      <p:sp>
        <p:nvSpPr>
          <p:cNvPr id="3" name="">
            <a:extLst xmlns:a="http://schemas.openxmlformats.org/drawingml/2006/main">
              <a:ext uri="{FF2B5EF4-FFF2-40B4-BE49-F238E27FC236}">
                <a16:creationId xmlns:a16="http://schemas.microsoft.com/office/drawing/2014/main" id="{4EA0821A-EC60-4107-B41D-229BAAC5914C}"/>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19</a:t>
            </a:r>
          </a:p>
        </p:txBody>
      </p:sp>
      <p:sp>
        <p:nvSpPr>
          <p:cNvPr id="4" name="">
            <a:extLst xmlns:a="http://schemas.openxmlformats.org/drawingml/2006/main">
              <a:ext uri="{FF2B5EF4-FFF2-40B4-BE49-F238E27FC236}">
                <a16:creationId xmlns:a16="http://schemas.microsoft.com/office/drawing/2014/main" id="{EF4CFE43-AF2D-461B-83B8-21F9F144DB5F}"/>
              </a:ext>
            </a:extLst>
          </p:cNvPr>
          <p:cNvSpPr>
            <a:spLocks xmlns:a="http://schemas.openxmlformats.org/drawingml/2006/main" noGrp="1"/>
          </p:cNvSpPr>
          <p:nvPr/>
        </p:nvSpPr>
        <p:spPr>
          <a:xfrm xmlns:a="http://schemas.openxmlformats.org/drawingml/2006/main">
            <a:off x="533400" y="2114550"/>
            <a:ext cx="11125200" cy="3067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354E"/>
                </a:solidFill>
                <a:latin typeface="Consolas"/>
                <a:ea typeface="Consolas"/>
                <a:cs typeface="Consolas"/>
              </a:defRPr>
            </a:defPPr>
            <a:lvl1pPr>
              <a:buNone/>
              <a:defRPr sz="2100" b="0">
                <a:solidFill>
                  <a:srgbClr val="17354E"/>
                </a:solidFill>
                <a:latin typeface="Consolas"/>
                <a:ea typeface="Consolas"/>
                <a:cs typeface="Consolas"/>
              </a:defRPr>
            </a:lvl1pPr>
            <a:lvl2pPr>
              <a:buNone/>
              <a:defRPr sz="2100" b="0">
                <a:solidFill>
                  <a:srgbClr val="17354E"/>
                </a:solidFill>
                <a:latin typeface="Consolas"/>
                <a:ea typeface="Consolas"/>
                <a:cs typeface="Consolas"/>
              </a:defRPr>
            </a:lvl2pPr>
            <a:lvl3pPr>
              <a:buNone/>
              <a:defRPr sz="2100" b="0">
                <a:solidFill>
                  <a:srgbClr val="17354E"/>
                </a:solidFill>
                <a:latin typeface="Consolas"/>
                <a:ea typeface="Consolas"/>
                <a:cs typeface="Consolas"/>
              </a:defRPr>
            </a:lvl3pPr>
            <a:lvl4pPr>
              <a:buNone/>
              <a:defRPr sz="2100" b="0">
                <a:solidFill>
                  <a:srgbClr val="17354E"/>
                </a:solidFill>
                <a:latin typeface="Consolas"/>
                <a:ea typeface="Consolas"/>
                <a:cs typeface="Consolas"/>
              </a:defRPr>
            </a:lvl4pPr>
            <a:lvl5pPr>
              <a:buNone/>
              <a:defRPr sz="2100" b="0">
                <a:solidFill>
                  <a:srgbClr val="17354E"/>
                </a:solidFill>
                <a:latin typeface="Consolas"/>
                <a:ea typeface="Consolas"/>
                <a:cs typeface="Consolas"/>
              </a:defRPr>
            </a:lvl5pPr>
            <a:lvl6pPr>
              <a:buNone/>
              <a:defRPr sz="2100" b="0">
                <a:solidFill>
                  <a:srgbClr val="17354E"/>
                </a:solidFill>
                <a:latin typeface="Consolas"/>
                <a:ea typeface="Consolas"/>
                <a:cs typeface="Consolas"/>
              </a:defRPr>
            </a:lvl6pPr>
            <a:lvl7pPr>
              <a:buNone/>
              <a:defRPr sz="2100" b="0">
                <a:solidFill>
                  <a:srgbClr val="17354E"/>
                </a:solidFill>
                <a:latin typeface="Consolas"/>
                <a:ea typeface="Consolas"/>
                <a:cs typeface="Consolas"/>
              </a:defRPr>
            </a:lvl7pPr>
            <a:lvl8pPr>
              <a:buNone/>
              <a:defRPr sz="2100" b="0">
                <a:solidFill>
                  <a:srgbClr val="17354E"/>
                </a:solidFill>
                <a:latin typeface="Consolas"/>
                <a:ea typeface="Consolas"/>
                <a:cs typeface="Consolas"/>
              </a:defRPr>
            </a:lvl8pPr>
            <a:lvl9pPr>
              <a:buNone/>
              <a:defRPr sz="2100" b="0">
                <a:solidFill>
                  <a:srgbClr val="17354E"/>
                </a:solidFill>
                <a:latin typeface="Consolas"/>
                <a:ea typeface="Consolas"/>
                <a:cs typeface="Consolas"/>
              </a:defRPr>
            </a:lvl9pPr>
          </a:lstStyle>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static void hanoi(int n, char from,</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char to, char spare) {</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if (n &lt; 0) throw new IllegalArgumentException();</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if (n == 0) return;</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hanoi(n - 1, from, spare, to);</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System.out.println(from + " to " + to);</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hanoi(n - 1, spare, to, from);</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47016B75-C0A3-43C2-A238-2B8C8A8ED8C8}"/>
              </a:ext>
            </a:extLst>
          </p:cNvPr>
          <p:cNvSpPr>
            <a:spLocks xmlns:a="http://schemas.openxmlformats.org/drawingml/2006/main" noGrp="1"/>
          </p:cNvSpPr>
          <p:nvPr/>
        </p:nvSpPr>
        <p:spPr>
          <a:xfrm xmlns:a="http://schemas.openxmlformats.org/drawingml/2006/main">
            <a:off x="533400" y="52482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7354E"/>
                </a:solidFill>
                <a:latin typeface="Aptos"/>
                <a:ea typeface="Aptos"/>
                <a:cs typeface="Aptos"/>
              </a:defRPr>
            </a:defPPr>
            <a:lvl1pPr>
              <a:buNone/>
              <a:defRPr sz="2250" b="1">
                <a:solidFill>
                  <a:srgbClr val="17354E"/>
                </a:solidFill>
                <a:latin typeface="Aptos"/>
                <a:ea typeface="Aptos"/>
                <a:cs typeface="Aptos"/>
              </a:defRPr>
            </a:lvl1pPr>
            <a:lvl2pPr>
              <a:buNone/>
              <a:defRPr sz="2250" b="1">
                <a:solidFill>
                  <a:srgbClr val="17354E"/>
                </a:solidFill>
                <a:latin typeface="Aptos"/>
                <a:ea typeface="Aptos"/>
                <a:cs typeface="Aptos"/>
              </a:defRPr>
            </a:lvl2pPr>
            <a:lvl3pPr>
              <a:buNone/>
              <a:defRPr sz="2250" b="1">
                <a:solidFill>
                  <a:srgbClr val="17354E"/>
                </a:solidFill>
                <a:latin typeface="Aptos"/>
                <a:ea typeface="Aptos"/>
                <a:cs typeface="Aptos"/>
              </a:defRPr>
            </a:lvl3pPr>
            <a:lvl4pPr>
              <a:buNone/>
              <a:defRPr sz="2250" b="1">
                <a:solidFill>
                  <a:srgbClr val="17354E"/>
                </a:solidFill>
                <a:latin typeface="Aptos"/>
                <a:ea typeface="Aptos"/>
                <a:cs typeface="Aptos"/>
              </a:defRPr>
            </a:lvl4pPr>
            <a:lvl5pPr>
              <a:buNone/>
              <a:defRPr sz="2250" b="1">
                <a:solidFill>
                  <a:srgbClr val="17354E"/>
                </a:solidFill>
                <a:latin typeface="Aptos"/>
                <a:ea typeface="Aptos"/>
                <a:cs typeface="Aptos"/>
              </a:defRPr>
            </a:lvl5pPr>
            <a:lvl6pPr>
              <a:buNone/>
              <a:defRPr sz="2250" b="1">
                <a:solidFill>
                  <a:srgbClr val="17354E"/>
                </a:solidFill>
                <a:latin typeface="Aptos"/>
                <a:ea typeface="Aptos"/>
                <a:cs typeface="Aptos"/>
              </a:defRPr>
            </a:lvl6pPr>
            <a:lvl7pPr>
              <a:buNone/>
              <a:defRPr sz="2250" b="1">
                <a:solidFill>
                  <a:srgbClr val="17354E"/>
                </a:solidFill>
                <a:latin typeface="Aptos"/>
                <a:ea typeface="Aptos"/>
                <a:cs typeface="Aptos"/>
              </a:defRPr>
            </a:lvl7pPr>
            <a:lvl8pPr>
              <a:buNone/>
              <a:defRPr sz="2250" b="1">
                <a:solidFill>
                  <a:srgbClr val="17354E"/>
                </a:solidFill>
                <a:latin typeface="Aptos"/>
                <a:ea typeface="Aptos"/>
                <a:cs typeface="Aptos"/>
              </a:defRPr>
            </a:lvl8pPr>
            <a:lvl9pPr>
              <a:buNone/>
              <a:defRPr sz="2250" b="1">
                <a:solidFill>
                  <a:srgbClr val="17354E"/>
                </a:solidFill>
                <a:latin typeface="Aptos"/>
                <a:ea typeface="Aptos"/>
                <a:cs typeface="Aptos"/>
              </a:defRPr>
            </a:lvl9pPr>
          </a:lstStyle>
          <a:p xmlns:a="http://schemas.openxmlformats.org/drawingml/2006/main">
            <a:pPr>
              <a:buNone/>
              <a:defRPr sz="2250" b="1">
                <a:solidFill>
                  <a:srgbClr val="17354E"/>
                </a:solidFill>
                <a:latin typeface="Aptos"/>
                <a:ea typeface="Aptos"/>
                <a:cs typeface="Aptos"/>
              </a:defRPr>
            </a:pPr>
            <a:r>
              <a:rPr sz="2250" b="1">
                <a:solidFill>
                  <a:srgbClr val="17354E"/>
                </a:solidFill>
                <a:latin typeface="Aptos"/>
                <a:ea typeface="Aptos"/>
                <a:cs typeface="Aptos"/>
              </a:rPr>
              <a:t>Moves: M(n) = 2M(n − 1) + 1 = 2ⁿ − 1</a:t>
            </a:r>
          </a:p>
        </p:txBody>
      </p:sp>
      <p:sp>
        <p:nvSpPr>
          <p:cNvPr id="6" name="">
            <a:extLst xmlns:a="http://schemas.openxmlformats.org/drawingml/2006/main">
              <a:ext uri="{FF2B5EF4-FFF2-40B4-BE49-F238E27FC236}">
                <a16:creationId xmlns:a16="http://schemas.microsoft.com/office/drawing/2014/main" id="{23A7444F-8320-4FC3-B8D3-509B8AC52D81}"/>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Time O(2ⁿ). Maximum call-stack space O(n).</a:t>
            </a:r>
          </a:p>
        </p:txBody>
      </p:sp>
      <p:sp>
        <p:nvSpPr>
          <p:cNvPr id="8" name="local-java-TowerOfHanoi">
            <a:extLst xmlns:a="http://schemas.openxmlformats.org/drawingml/2006/main">
              <a:ext uri="{FF2B5EF4-FFF2-40B4-BE49-F238E27FC236}">
                <a16:creationId xmlns:a16="http://schemas.microsoft.com/office/drawing/2014/main" id="{16B5C610-7D93-48E0-99EE-170BDA10A44A}"/>
              </a:ext>
            </a:extLst>
          </p:cNvPr>
          <p:cNvSpPr>
            <a:spLocks xmlns:a="http://schemas.openxmlformats.org/drawingml/2006/main" noGrp="1"/>
          </p:cNvSpPr>
          <p:nvPr/>
        </p:nvSpPr>
        <p:spPr>
          <a:xfrm xmlns:a="http://schemas.openxmlformats.org/drawingml/2006/main">
            <a:off x="5143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75194b6a7f514aae"/>
              </a:rPr>
              <a:t>Java: TowerOfHanoi.java</a:t>
            </a:r>
          </a:p>
        </p:txBody>
      </p:sp>
    </p:spTree>
    <p:extLst>
      <p:ext uri="{BB962C8B-B14F-4D97-AF65-F5344CB8AC3E}">
        <p14:creationId xmlns:p14="http://schemas.microsoft.com/office/powerpoint/2010/main" val="150300806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173810-6E76-44DD-BEF3-D3EC4574488F}"/>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Greatest common divisor</a:t>
            </a:r>
          </a:p>
        </p:txBody>
      </p:sp>
      <p:sp>
        <p:nvSpPr>
          <p:cNvPr id="2" name="">
            <a:extLst xmlns:a="http://schemas.openxmlformats.org/drawingml/2006/main">
              <a:ext uri="{FF2B5EF4-FFF2-40B4-BE49-F238E27FC236}">
                <a16:creationId xmlns:a16="http://schemas.microsoft.com/office/drawing/2014/main" id="{9C2A3879-60F5-4668-87C3-C3F1E7C10926}"/>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Euclid’s algorithm can be written with a loop or with recursion.</a:t>
            </a:r>
          </a:p>
        </p:txBody>
      </p:sp>
      <p:sp>
        <p:nvSpPr>
          <p:cNvPr id="3" name="">
            <a:extLst xmlns:a="http://schemas.openxmlformats.org/drawingml/2006/main">
              <a:ext uri="{FF2B5EF4-FFF2-40B4-BE49-F238E27FC236}">
                <a16:creationId xmlns:a16="http://schemas.microsoft.com/office/drawing/2014/main" id="{5ACFDF86-2E42-4B21-B9AF-05D9D9CC204B}"/>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20</a:t>
            </a:r>
          </a:p>
        </p:txBody>
      </p:sp>
      <p:graphicFrame>
        <p:nvGraphicFramePr>
          <p:cNvPr id="4" name="">
            <a:extLst xmlns:a="http://schemas.openxmlformats.org/drawingml/2006/main">
              <a:ext uri="{FF2B5EF4-FFF2-40B4-BE49-F238E27FC236}">
                <a16:creationId xmlns:a16="http://schemas.microsoft.com/office/drawing/2014/main" id="{582017A2-A0A0-4F93-8BA9-1C36D43DB0BB}"/>
              </a:ext>
            </a:extLst>
          </p:cNvPr>
          <p:cNvGraphicFramePr/>
          <p:nvPr/>
        </p:nvGraphicFramePr>
        <p:xfrm>
          <a:off xmlns:a="http://schemas.openxmlformats.org/drawingml/2006/main" x="533400" y="2095500"/>
          <a:ext xmlns:a="http://schemas.openxmlformats.org/drawingml/2006/main" cx="11125200" cy="2857500"/>
        </p:xfrm>
        <a:graphic xmlns:a="http://schemas.openxmlformats.org/drawingml/2006/main">
          <a:graphicData uri="http://schemas.openxmlformats.org/drawingml/2006/table">
            <a:tbl>
              <a:tblPr/>
              <a:tblGrid>
                <a:gridCol w="6953250"/>
                <a:gridCol w="4171950"/>
              </a:tblGrid>
              <a:tr h="476250">
                <a:tc>
                  <a:txBody>
                    <a:bodyPr/>
                    <a:lstStyle/>
                    <a:p>
                      <a:r>
                        <a:rPr sz="2100" b="1">
                          <a:solidFill>
                            <a:srgbClr val="FFFFFF"/>
                          </a:solidFill>
                          <a:latin typeface="Aptos"/>
                          <a:ea typeface="Aptos"/>
                          <a:cs typeface="Aptos"/>
                        </a:rPr>
                        <a:t>Inputs</a:t>
                      </a:r>
                    </a:p>
                  </a:txBody>
                  <a:tcPr marL="91440" marR="91440" marT="45720" marB="45720">
                    <a:lnL w="9525">
                      <a:solidFill>
                        <a:srgbClr val="D5E1E7"/>
                      </a:solidFill>
                    </a:lnL>
                    <a:lnR w="9525">
                      <a:solidFill>
                        <a:srgbClr val="D5E1E7"/>
                      </a:solidFill>
                    </a:lnR>
                    <a:lnT w="9525">
                      <a:solidFill>
                        <a:srgbClr val="D5E1E7"/>
                      </a:solidFill>
                    </a:lnT>
                    <a:lnB w="9525">
                      <a:solidFill>
                        <a:srgbClr val="D5E1E7"/>
                      </a:solidFill>
                    </a:lnB>
                    <a:solidFill>
                      <a:srgbClr val="17354E"/>
                    </a:solidFill>
                  </a:tcPr>
                </a:tc>
                <a:tc>
                  <a:txBody>
                    <a:bodyPr/>
                    <a:lstStyle/>
                    <a:p>
                      <a:r>
                        <a:rPr sz="2100" b="1">
                          <a:solidFill>
                            <a:srgbClr val="FFFFFF"/>
                          </a:solidFill>
                          <a:latin typeface="Aptos"/>
                          <a:ea typeface="Aptos"/>
                          <a:cs typeface="Aptos"/>
                        </a:rPr>
                        <a:t>GCD</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r>
              <a:tr h="476250">
                <a:tc>
                  <a:txBody>
                    <a:bodyPr/>
                    <a:lstStyle/>
                    <a:p>
                      <a:r>
                        <a:rPr sz="2100" b="0">
                          <a:solidFill>
                            <a:srgbClr val="17354E"/>
                          </a:solidFill>
                          <a:latin typeface="Aptos"/>
                          <a:ea typeface="Aptos"/>
                          <a:cs typeface="Aptos"/>
                        </a:rPr>
                        <a:t>2 and 3</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2100" b="0">
                          <a:solidFill>
                            <a:srgbClr val="17354E"/>
                          </a:solidFill>
                          <a:latin typeface="Aptos"/>
                          <a:ea typeface="Aptos"/>
                          <a:cs typeface="Aptos"/>
                        </a:rPr>
                        <a:t>1</a:t>
                      </a:r>
                    </a:p>
                  </a:txBody>
                  <a:tcPr marL="91440" marR="91440" marT="45720" marB="45720">
                    <a:lnR w="9525">
                      <a:solidFill>
                        <a:srgbClr val="D5E1E7"/>
                      </a:solidFill>
                    </a:lnR>
                    <a:lnB w="9525">
                      <a:solidFill>
                        <a:srgbClr val="D5E1E7"/>
                      </a:solidFill>
                    </a:lnB>
                    <a:solidFill>
                      <a:srgbClr val="EFF5F7"/>
                    </a:solidFill>
                  </a:tcPr>
                </a:tc>
              </a:tr>
              <a:tr h="476250">
                <a:tc>
                  <a:txBody>
                    <a:bodyPr/>
                    <a:lstStyle/>
                    <a:p>
                      <a:r>
                        <a:rPr sz="2100" b="0">
                          <a:solidFill>
                            <a:srgbClr val="17354E"/>
                          </a:solidFill>
                          <a:latin typeface="Aptos"/>
                          <a:ea typeface="Aptos"/>
                          <a:cs typeface="Aptos"/>
                        </a:rPr>
                        <a:t>2 and 10</a:t>
                      </a:r>
                    </a:p>
                  </a:txBody>
                  <a:tcPr marL="91440" marR="91440" marT="45720" marB="45720">
                    <a:lnL w="9525">
                      <a:solidFill>
                        <a:srgbClr val="D5E1E7"/>
                      </a:solidFill>
                    </a:lnL>
                    <a:lnR w="9525">
                      <a:solidFill>
                        <a:srgbClr val="D5E1E7"/>
                      </a:solidFill>
                    </a:lnR>
                    <a:lnB w="9525">
                      <a:solidFill>
                        <a:srgbClr val="D5E1E7"/>
                      </a:solidFill>
                    </a:lnB>
                    <a:solidFill>
                      <a:srgbClr val="FFFFFF"/>
                    </a:solidFill>
                  </a:tcPr>
                </a:tc>
                <a:tc>
                  <a:txBody>
                    <a:bodyPr/>
                    <a:lstStyle/>
                    <a:p>
                      <a:r>
                        <a:rPr sz="2100" b="0">
                          <a:solidFill>
                            <a:srgbClr val="17354E"/>
                          </a:solidFill>
                          <a:latin typeface="Aptos"/>
                          <a:ea typeface="Aptos"/>
                          <a:cs typeface="Aptos"/>
                        </a:rPr>
                        <a:t>2</a:t>
                      </a:r>
                    </a:p>
                  </a:txBody>
                  <a:tcPr marL="91440" marR="91440" marT="45720" marB="45720">
                    <a:lnR w="9525">
                      <a:solidFill>
                        <a:srgbClr val="D5E1E7"/>
                      </a:solidFill>
                    </a:lnR>
                    <a:lnB w="9525">
                      <a:solidFill>
                        <a:srgbClr val="D5E1E7"/>
                      </a:solidFill>
                    </a:lnB>
                    <a:solidFill>
                      <a:srgbClr val="FFFFFF"/>
                    </a:solidFill>
                  </a:tcPr>
                </a:tc>
              </a:tr>
              <a:tr h="476250">
                <a:tc>
                  <a:txBody>
                    <a:bodyPr/>
                    <a:lstStyle/>
                    <a:p>
                      <a:r>
                        <a:rPr sz="2100" b="0">
                          <a:solidFill>
                            <a:srgbClr val="17354E"/>
                          </a:solidFill>
                          <a:latin typeface="Aptos"/>
                          <a:ea typeface="Aptos"/>
                          <a:cs typeface="Aptos"/>
                        </a:rPr>
                        <a:t>25 and 35</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2100" b="0">
                          <a:solidFill>
                            <a:srgbClr val="17354E"/>
                          </a:solidFill>
                          <a:latin typeface="Aptos"/>
                          <a:ea typeface="Aptos"/>
                          <a:cs typeface="Aptos"/>
                        </a:rPr>
                        <a:t>5</a:t>
                      </a:r>
                    </a:p>
                  </a:txBody>
                  <a:tcPr marL="91440" marR="91440" marT="45720" marB="45720">
                    <a:lnR w="9525">
                      <a:solidFill>
                        <a:srgbClr val="D5E1E7"/>
                      </a:solidFill>
                    </a:lnR>
                    <a:lnB w="9525">
                      <a:solidFill>
                        <a:srgbClr val="D5E1E7"/>
                      </a:solidFill>
                    </a:lnB>
                    <a:solidFill>
                      <a:srgbClr val="EFF5F7"/>
                    </a:solidFill>
                  </a:tcPr>
                </a:tc>
              </a:tr>
              <a:tr h="476250">
                <a:tc>
                  <a:txBody>
                    <a:bodyPr/>
                    <a:lstStyle/>
                    <a:p>
                      <a:r>
                        <a:rPr sz="2100" b="0">
                          <a:solidFill>
                            <a:srgbClr val="17354E"/>
                          </a:solidFill>
                          <a:latin typeface="Aptos"/>
                          <a:ea typeface="Aptos"/>
                          <a:cs typeface="Aptos"/>
                        </a:rPr>
                        <a:t>27 and 18</a:t>
                      </a:r>
                    </a:p>
                  </a:txBody>
                  <a:tcPr marL="91440" marR="91440" marT="45720" marB="45720">
                    <a:lnL w="9525">
                      <a:solidFill>
                        <a:srgbClr val="D5E1E7"/>
                      </a:solidFill>
                    </a:lnL>
                    <a:lnR w="9525">
                      <a:solidFill>
                        <a:srgbClr val="D5E1E7"/>
                      </a:solidFill>
                    </a:lnR>
                    <a:lnB w="9525">
                      <a:solidFill>
                        <a:srgbClr val="D5E1E7"/>
                      </a:solidFill>
                    </a:lnB>
                    <a:solidFill>
                      <a:srgbClr val="FFFFFF"/>
                    </a:solidFill>
                  </a:tcPr>
                </a:tc>
                <a:tc>
                  <a:txBody>
                    <a:bodyPr/>
                    <a:lstStyle/>
                    <a:p>
                      <a:r>
                        <a:rPr sz="2100" b="0">
                          <a:solidFill>
                            <a:srgbClr val="17354E"/>
                          </a:solidFill>
                          <a:latin typeface="Aptos"/>
                          <a:ea typeface="Aptos"/>
                          <a:cs typeface="Aptos"/>
                        </a:rPr>
                        <a:t>9</a:t>
                      </a:r>
                    </a:p>
                  </a:txBody>
                  <a:tcPr marL="91440" marR="91440" marT="45720" marB="45720">
                    <a:lnR w="9525">
                      <a:solidFill>
                        <a:srgbClr val="D5E1E7"/>
                      </a:solidFill>
                    </a:lnR>
                    <a:lnB w="9525">
                      <a:solidFill>
                        <a:srgbClr val="D5E1E7"/>
                      </a:solidFill>
                    </a:lnB>
                    <a:solidFill>
                      <a:srgbClr val="FFFFFF"/>
                    </a:solidFill>
                  </a:tcPr>
                </a:tc>
              </a:tr>
              <a:tr h="476250">
                <a:tc>
                  <a:txBody>
                    <a:bodyPr/>
                    <a:lstStyle/>
                    <a:p>
                      <a:r>
                        <a:rPr sz="2100" b="0">
                          <a:solidFill>
                            <a:srgbClr val="17354E"/>
                          </a:solidFill>
                          <a:latin typeface="Aptos"/>
                          <a:ea typeface="Aptos"/>
                          <a:cs typeface="Aptos"/>
                        </a:rPr>
                        <a:t>0 and 18</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2100" b="0">
                          <a:solidFill>
                            <a:srgbClr val="17354E"/>
                          </a:solidFill>
                          <a:latin typeface="Aptos"/>
                          <a:ea typeface="Aptos"/>
                          <a:cs typeface="Aptos"/>
                        </a:rPr>
                        <a:t>18</a:t>
                      </a:r>
                    </a:p>
                  </a:txBody>
                  <a:tcPr marL="91440" marR="91440" marT="45720" marB="45720">
                    <a:lnR w="9525">
                      <a:solidFill>
                        <a:srgbClr val="D5E1E7"/>
                      </a:solidFill>
                    </a:lnR>
                    <a:lnB w="9525">
                      <a:solidFill>
                        <a:srgbClr val="D5E1E7"/>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43A60E13-8A67-4EB5-BDC3-B0E9B0415D1B}"/>
              </a:ext>
            </a:extLst>
          </p:cNvPr>
          <p:cNvSpPr>
            <a:spLocks xmlns:a="http://schemas.openxmlformats.org/drawingml/2006/main" noGrp="1"/>
          </p:cNvSpPr>
          <p:nvPr/>
        </p:nvSpPr>
        <p:spPr>
          <a:xfrm xmlns:a="http://schemas.openxmlformats.org/drawingml/2006/main">
            <a:off x="533400" y="5257800"/>
            <a:ext cx="11125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Brute-force candidate scan: O(min(a, b)) for positive inputs.</a:t>
            </a:r>
          </a:p>
        </p:txBody>
      </p:sp>
      <p:sp>
        <p:nvSpPr>
          <p:cNvPr id="6" name="">
            <a:extLst xmlns:a="http://schemas.openxmlformats.org/drawingml/2006/main">
              <a:ext uri="{FF2B5EF4-FFF2-40B4-BE49-F238E27FC236}">
                <a16:creationId xmlns:a16="http://schemas.microsoft.com/office/drawing/2014/main" id="{70D5C714-941E-4101-8EEC-4387CA129D03}"/>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Euclid uses gcd(a, b) = gcd(b, a mod b), while b &gt; 0.</a:t>
            </a:r>
          </a:p>
        </p:txBody>
      </p:sp>
      <p:sp>
        <p:nvSpPr>
          <p:cNvPr id="8" name="local-java-GcdIterative">
            <a:extLst xmlns:a="http://schemas.openxmlformats.org/drawingml/2006/main">
              <a:ext uri="{FF2B5EF4-FFF2-40B4-BE49-F238E27FC236}">
                <a16:creationId xmlns:a16="http://schemas.microsoft.com/office/drawing/2014/main" id="{E3771D49-1EC4-473B-8FF8-687E28A89813}"/>
              </a:ext>
            </a:extLst>
          </p:cNvPr>
          <p:cNvSpPr>
            <a:spLocks xmlns:a="http://schemas.openxmlformats.org/drawingml/2006/main" noGrp="1"/>
          </p:cNvSpPr>
          <p:nvPr/>
        </p:nvSpPr>
        <p:spPr>
          <a:xfrm xmlns:a="http://schemas.openxmlformats.org/drawingml/2006/main">
            <a:off x="5143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81bd387ce3f245c4"/>
              </a:rPr>
              <a:t>Java: GcdIterative.java</a:t>
            </a:r>
          </a:p>
        </p:txBody>
      </p:sp>
      <p:sp>
        <p:nvSpPr>
          <p:cNvPr id="9" name="local-java-GcdRecursive">
            <a:extLst xmlns:a="http://schemas.openxmlformats.org/drawingml/2006/main">
              <a:ext uri="{FF2B5EF4-FFF2-40B4-BE49-F238E27FC236}">
                <a16:creationId xmlns:a16="http://schemas.microsoft.com/office/drawing/2014/main" id="{80978FFF-EE40-4308-9D62-86C4E18E6894}"/>
              </a:ext>
            </a:extLst>
          </p:cNvPr>
          <p:cNvSpPr>
            <a:spLocks xmlns:a="http://schemas.openxmlformats.org/drawingml/2006/main" noGrp="1"/>
          </p:cNvSpPr>
          <p:nvPr/>
        </p:nvSpPr>
        <p:spPr>
          <a:xfrm xmlns:a="http://schemas.openxmlformats.org/drawingml/2006/main">
            <a:off x="56578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b6b6a7ef1e1b4e8a"/>
              </a:rPr>
              <a:t>Java: GcdRecursive.java</a:t>
            </a:r>
          </a:p>
        </p:txBody>
      </p:sp>
    </p:spTree>
    <p:extLst>
      <p:ext uri="{BB962C8B-B14F-4D97-AF65-F5344CB8AC3E}">
        <p14:creationId xmlns:p14="http://schemas.microsoft.com/office/powerpoint/2010/main" val="9453141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C8ACFE-AF37-4A88-8446-66B865CA8847}"/>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Euclid with a loop</a:t>
            </a:r>
          </a:p>
        </p:txBody>
      </p:sp>
      <p:sp>
        <p:nvSpPr>
          <p:cNvPr id="2" name="">
            <a:extLst xmlns:a="http://schemas.openxmlformats.org/drawingml/2006/main">
              <a:ext uri="{FF2B5EF4-FFF2-40B4-BE49-F238E27FC236}">
                <a16:creationId xmlns:a16="http://schemas.microsoft.com/office/drawing/2014/main" id="{5F512312-49FF-4A1D-BAF9-DA7BF37C5F93}"/>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Check b before computing a remainder, so zero inputs are safe.</a:t>
            </a:r>
          </a:p>
        </p:txBody>
      </p:sp>
      <p:sp>
        <p:nvSpPr>
          <p:cNvPr id="3" name="">
            <a:extLst xmlns:a="http://schemas.openxmlformats.org/drawingml/2006/main">
              <a:ext uri="{FF2B5EF4-FFF2-40B4-BE49-F238E27FC236}">
                <a16:creationId xmlns:a16="http://schemas.microsoft.com/office/drawing/2014/main" id="{4AB39422-AD4E-4017-B52A-F7A1CF4CBB57}"/>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21</a:t>
            </a:r>
          </a:p>
        </p:txBody>
      </p:sp>
      <p:sp>
        <p:nvSpPr>
          <p:cNvPr id="4" name="">
            <a:extLst xmlns:a="http://schemas.openxmlformats.org/drawingml/2006/main">
              <a:ext uri="{FF2B5EF4-FFF2-40B4-BE49-F238E27FC236}">
                <a16:creationId xmlns:a16="http://schemas.microsoft.com/office/drawing/2014/main" id="{10ED316C-FF80-49F8-8BFC-86749B4E9834}"/>
              </a:ext>
            </a:extLst>
          </p:cNvPr>
          <p:cNvSpPr>
            <a:spLocks xmlns:a="http://schemas.openxmlformats.org/drawingml/2006/main" noGrp="1"/>
          </p:cNvSpPr>
          <p:nvPr/>
        </p:nvSpPr>
        <p:spPr>
          <a:xfrm xmlns:a="http://schemas.openxmlformats.org/drawingml/2006/main">
            <a:off x="533400" y="2076450"/>
            <a:ext cx="111252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354E"/>
                </a:solidFill>
                <a:latin typeface="Consolas"/>
                <a:ea typeface="Consolas"/>
                <a:cs typeface="Consolas"/>
              </a:defRPr>
            </a:defPPr>
            <a:lvl1pPr>
              <a:buNone/>
              <a:defRPr sz="2100" b="0">
                <a:solidFill>
                  <a:srgbClr val="17354E"/>
                </a:solidFill>
                <a:latin typeface="Consolas"/>
                <a:ea typeface="Consolas"/>
                <a:cs typeface="Consolas"/>
              </a:defRPr>
            </a:lvl1pPr>
            <a:lvl2pPr>
              <a:buNone/>
              <a:defRPr sz="2100" b="0">
                <a:solidFill>
                  <a:srgbClr val="17354E"/>
                </a:solidFill>
                <a:latin typeface="Consolas"/>
                <a:ea typeface="Consolas"/>
                <a:cs typeface="Consolas"/>
              </a:defRPr>
            </a:lvl2pPr>
            <a:lvl3pPr>
              <a:buNone/>
              <a:defRPr sz="2100" b="0">
                <a:solidFill>
                  <a:srgbClr val="17354E"/>
                </a:solidFill>
                <a:latin typeface="Consolas"/>
                <a:ea typeface="Consolas"/>
                <a:cs typeface="Consolas"/>
              </a:defRPr>
            </a:lvl3pPr>
            <a:lvl4pPr>
              <a:buNone/>
              <a:defRPr sz="2100" b="0">
                <a:solidFill>
                  <a:srgbClr val="17354E"/>
                </a:solidFill>
                <a:latin typeface="Consolas"/>
                <a:ea typeface="Consolas"/>
                <a:cs typeface="Consolas"/>
              </a:defRPr>
            </a:lvl4pPr>
            <a:lvl5pPr>
              <a:buNone/>
              <a:defRPr sz="2100" b="0">
                <a:solidFill>
                  <a:srgbClr val="17354E"/>
                </a:solidFill>
                <a:latin typeface="Consolas"/>
                <a:ea typeface="Consolas"/>
                <a:cs typeface="Consolas"/>
              </a:defRPr>
            </a:lvl5pPr>
            <a:lvl6pPr>
              <a:buNone/>
              <a:defRPr sz="2100" b="0">
                <a:solidFill>
                  <a:srgbClr val="17354E"/>
                </a:solidFill>
                <a:latin typeface="Consolas"/>
                <a:ea typeface="Consolas"/>
                <a:cs typeface="Consolas"/>
              </a:defRPr>
            </a:lvl6pPr>
            <a:lvl7pPr>
              <a:buNone/>
              <a:defRPr sz="2100" b="0">
                <a:solidFill>
                  <a:srgbClr val="17354E"/>
                </a:solidFill>
                <a:latin typeface="Consolas"/>
                <a:ea typeface="Consolas"/>
                <a:cs typeface="Consolas"/>
              </a:defRPr>
            </a:lvl7pPr>
            <a:lvl8pPr>
              <a:buNone/>
              <a:defRPr sz="2100" b="0">
                <a:solidFill>
                  <a:srgbClr val="17354E"/>
                </a:solidFill>
                <a:latin typeface="Consolas"/>
                <a:ea typeface="Consolas"/>
                <a:cs typeface="Consolas"/>
              </a:defRPr>
            </a:lvl8pPr>
            <a:lvl9pPr>
              <a:buNone/>
              <a:defRPr sz="2100" b="0">
                <a:solidFill>
                  <a:srgbClr val="17354E"/>
                </a:solidFill>
                <a:latin typeface="Consolas"/>
                <a:ea typeface="Consolas"/>
                <a:cs typeface="Consolas"/>
              </a:defRPr>
            </a:lvl9pPr>
          </a:lstStyle>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static long gcdIter(int m, int n) {</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long a = Math.abs((long) m);</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long b = Math.abs((long) n);</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while (b != 0) {</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long remainder = a % b;</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a = b;</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b = remainder;</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    return a;</a:t>
            </a:r>
          </a:p>
          <a:p xmlns:a="http://schemas.openxmlformats.org/drawingml/2006/main">
            <a:pPr>
              <a:buNone/>
              <a:defRPr sz="2100" b="0">
                <a:solidFill>
                  <a:srgbClr val="17354E"/>
                </a:solidFill>
                <a:latin typeface="Consolas"/>
                <a:ea typeface="Consolas"/>
                <a:cs typeface="Consolas"/>
              </a:defRPr>
            </a:pPr>
            <a:r>
              <a:rPr sz="2100" b="0">
                <a:solidFill>
                  <a:srgbClr val="17354E"/>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8E6A3A2E-CDA5-49CA-8D11-806308914E59}"/>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87F8C"/>
                </a:solidFill>
                <a:latin typeface="Aptos"/>
                <a:ea typeface="Aptos"/>
                <a:cs typeface="Aptos"/>
              </a:defRPr>
            </a:defPPr>
            <a:lvl1pPr>
              <a:buNone/>
              <a:defRPr sz="2025" b="1">
                <a:solidFill>
                  <a:srgbClr val="087F8C"/>
                </a:solidFill>
                <a:latin typeface="Aptos"/>
                <a:ea typeface="Aptos"/>
                <a:cs typeface="Aptos"/>
              </a:defRPr>
            </a:lvl1pPr>
            <a:lvl2pPr>
              <a:buNone/>
              <a:defRPr sz="2025" b="1">
                <a:solidFill>
                  <a:srgbClr val="087F8C"/>
                </a:solidFill>
                <a:latin typeface="Aptos"/>
                <a:ea typeface="Aptos"/>
                <a:cs typeface="Aptos"/>
              </a:defRPr>
            </a:lvl2pPr>
            <a:lvl3pPr>
              <a:buNone/>
              <a:defRPr sz="2025" b="1">
                <a:solidFill>
                  <a:srgbClr val="087F8C"/>
                </a:solidFill>
                <a:latin typeface="Aptos"/>
                <a:ea typeface="Aptos"/>
                <a:cs typeface="Aptos"/>
              </a:defRPr>
            </a:lvl3pPr>
            <a:lvl4pPr>
              <a:buNone/>
              <a:defRPr sz="2025" b="1">
                <a:solidFill>
                  <a:srgbClr val="087F8C"/>
                </a:solidFill>
                <a:latin typeface="Aptos"/>
                <a:ea typeface="Aptos"/>
                <a:cs typeface="Aptos"/>
              </a:defRPr>
            </a:lvl4pPr>
            <a:lvl5pPr>
              <a:buNone/>
              <a:defRPr sz="2025" b="1">
                <a:solidFill>
                  <a:srgbClr val="087F8C"/>
                </a:solidFill>
                <a:latin typeface="Aptos"/>
                <a:ea typeface="Aptos"/>
                <a:cs typeface="Aptos"/>
              </a:defRPr>
            </a:lvl5pPr>
            <a:lvl6pPr>
              <a:buNone/>
              <a:defRPr sz="2025" b="1">
                <a:solidFill>
                  <a:srgbClr val="087F8C"/>
                </a:solidFill>
                <a:latin typeface="Aptos"/>
                <a:ea typeface="Aptos"/>
                <a:cs typeface="Aptos"/>
              </a:defRPr>
            </a:lvl6pPr>
            <a:lvl7pPr>
              <a:buNone/>
              <a:defRPr sz="2025" b="1">
                <a:solidFill>
                  <a:srgbClr val="087F8C"/>
                </a:solidFill>
                <a:latin typeface="Aptos"/>
                <a:ea typeface="Aptos"/>
                <a:cs typeface="Aptos"/>
              </a:defRPr>
            </a:lvl7pPr>
            <a:lvl8pPr>
              <a:buNone/>
              <a:defRPr sz="2025" b="1">
                <a:solidFill>
                  <a:srgbClr val="087F8C"/>
                </a:solidFill>
                <a:latin typeface="Aptos"/>
                <a:ea typeface="Aptos"/>
                <a:cs typeface="Aptos"/>
              </a:defRPr>
            </a:lvl8pPr>
            <a:lvl9pPr>
              <a:buNone/>
              <a:defRPr sz="2025" b="1">
                <a:solidFill>
                  <a:srgbClr val="087F8C"/>
                </a:solidFill>
                <a:latin typeface="Aptos"/>
                <a:ea typeface="Aptos"/>
                <a:cs typeface="Aptos"/>
              </a:defRPr>
            </a:lvl9pPr>
          </a:lstStyle>
          <a:p xmlns:a="http://schemas.openxmlformats.org/drawingml/2006/main">
            <a:pPr>
              <a:buNone/>
              <a:defRPr sz="2025" b="1">
                <a:solidFill>
                  <a:srgbClr val="087F8C"/>
                </a:solidFill>
                <a:latin typeface="Aptos"/>
                <a:ea typeface="Aptos"/>
                <a:cs typeface="Aptos"/>
              </a:defRPr>
            </a:pPr>
            <a:r>
              <a:rPr sz="2025" b="1">
                <a:solidFill>
                  <a:srgbClr val="087F8C"/>
                </a:solidFill>
                <a:latin typeface="Aptos"/>
                <a:ea typeface="Aptos"/>
                <a:cs typeface="Aptos"/>
              </a:rPr>
              <a:t>Positive inputs: O(log min(a, b)) time. Auxiliary space O(1).</a:t>
            </a:r>
          </a:p>
        </p:txBody>
      </p:sp>
      <p:sp>
        <p:nvSpPr>
          <p:cNvPr id="7" name="local-java-GcdIterative">
            <a:extLst xmlns:a="http://schemas.openxmlformats.org/drawingml/2006/main">
              <a:ext uri="{FF2B5EF4-FFF2-40B4-BE49-F238E27FC236}">
                <a16:creationId xmlns:a16="http://schemas.microsoft.com/office/drawing/2014/main" id="{03358DBE-5341-44EB-8B70-D97E5F17D41D}"/>
              </a:ext>
            </a:extLst>
          </p:cNvPr>
          <p:cNvSpPr>
            <a:spLocks xmlns:a="http://schemas.openxmlformats.org/drawingml/2006/main" noGrp="1"/>
          </p:cNvSpPr>
          <p:nvPr/>
        </p:nvSpPr>
        <p:spPr>
          <a:xfrm xmlns:a="http://schemas.openxmlformats.org/drawingml/2006/main">
            <a:off x="5143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3786e77a91634287"/>
              </a:rPr>
              <a:t>Java: GcdIterative.java</a:t>
            </a:r>
          </a:p>
        </p:txBody>
      </p:sp>
    </p:spTree>
    <p:extLst>
      <p:ext uri="{BB962C8B-B14F-4D97-AF65-F5344CB8AC3E}">
        <p14:creationId xmlns:p14="http://schemas.microsoft.com/office/powerpoint/2010/main" val="89421153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F310E1-C2CC-4146-8C3E-D2FBE78FAC75}"/>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Euclid with recursion</a:t>
            </a:r>
          </a:p>
        </p:txBody>
      </p:sp>
      <p:sp>
        <p:nvSpPr>
          <p:cNvPr id="2" name="">
            <a:extLst xmlns:a="http://schemas.openxmlformats.org/drawingml/2006/main">
              <a:ext uri="{FF2B5EF4-FFF2-40B4-BE49-F238E27FC236}">
                <a16:creationId xmlns:a16="http://schemas.microsoft.com/office/drawing/2014/main" id="{1082915F-CB22-4299-ADDF-854DF8CFD37F}"/>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The second argument shrinks to zero. The first argument is then the GCD.</a:t>
            </a:r>
          </a:p>
        </p:txBody>
      </p:sp>
      <p:sp>
        <p:nvSpPr>
          <p:cNvPr id="3" name="">
            <a:extLst xmlns:a="http://schemas.openxmlformats.org/drawingml/2006/main">
              <a:ext uri="{FF2B5EF4-FFF2-40B4-BE49-F238E27FC236}">
                <a16:creationId xmlns:a16="http://schemas.microsoft.com/office/drawing/2014/main" id="{9B4F4529-CFC8-4B60-9BB3-156612BFE97A}"/>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22</a:t>
            </a:r>
          </a:p>
        </p:txBody>
      </p:sp>
      <p:sp>
        <p:nvSpPr>
          <p:cNvPr id="4" name="">
            <a:extLst xmlns:a="http://schemas.openxmlformats.org/drawingml/2006/main">
              <a:ext uri="{FF2B5EF4-FFF2-40B4-BE49-F238E27FC236}">
                <a16:creationId xmlns:a16="http://schemas.microsoft.com/office/drawing/2014/main" id="{A2F8A3AD-B6AD-49E0-BA36-3ECCD273ECB7}"/>
              </a:ext>
            </a:extLst>
          </p:cNvPr>
          <p:cNvSpPr>
            <a:spLocks xmlns:a="http://schemas.openxmlformats.org/drawingml/2006/main" noGrp="1"/>
          </p:cNvSpPr>
          <p:nvPr/>
        </p:nvSpPr>
        <p:spPr>
          <a:xfrm xmlns:a="http://schemas.openxmlformats.org/drawingml/2006/main">
            <a:off x="533400" y="2095500"/>
            <a:ext cx="7524750" cy="3219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54E"/>
                </a:solidFill>
                <a:latin typeface="Consolas"/>
                <a:ea typeface="Consolas"/>
                <a:cs typeface="Consolas"/>
              </a:defRPr>
            </a:defPPr>
            <a:lvl1pPr>
              <a:buNone/>
              <a:defRPr sz="1800" b="0">
                <a:solidFill>
                  <a:srgbClr val="17354E"/>
                </a:solidFill>
                <a:latin typeface="Consolas"/>
                <a:ea typeface="Consolas"/>
                <a:cs typeface="Consolas"/>
              </a:defRPr>
            </a:lvl1pPr>
            <a:lvl2pPr>
              <a:buNone/>
              <a:defRPr sz="1800" b="0">
                <a:solidFill>
                  <a:srgbClr val="17354E"/>
                </a:solidFill>
                <a:latin typeface="Consolas"/>
                <a:ea typeface="Consolas"/>
                <a:cs typeface="Consolas"/>
              </a:defRPr>
            </a:lvl2pPr>
            <a:lvl3pPr>
              <a:buNone/>
              <a:defRPr sz="1800" b="0">
                <a:solidFill>
                  <a:srgbClr val="17354E"/>
                </a:solidFill>
                <a:latin typeface="Consolas"/>
                <a:ea typeface="Consolas"/>
                <a:cs typeface="Consolas"/>
              </a:defRPr>
            </a:lvl3pPr>
            <a:lvl4pPr>
              <a:buNone/>
              <a:defRPr sz="1800" b="0">
                <a:solidFill>
                  <a:srgbClr val="17354E"/>
                </a:solidFill>
                <a:latin typeface="Consolas"/>
                <a:ea typeface="Consolas"/>
                <a:cs typeface="Consolas"/>
              </a:defRPr>
            </a:lvl4pPr>
            <a:lvl5pPr>
              <a:buNone/>
              <a:defRPr sz="1800" b="0">
                <a:solidFill>
                  <a:srgbClr val="17354E"/>
                </a:solidFill>
                <a:latin typeface="Consolas"/>
                <a:ea typeface="Consolas"/>
                <a:cs typeface="Consolas"/>
              </a:defRPr>
            </a:lvl5pPr>
            <a:lvl6pPr>
              <a:buNone/>
              <a:defRPr sz="1800" b="0">
                <a:solidFill>
                  <a:srgbClr val="17354E"/>
                </a:solidFill>
                <a:latin typeface="Consolas"/>
                <a:ea typeface="Consolas"/>
                <a:cs typeface="Consolas"/>
              </a:defRPr>
            </a:lvl6pPr>
            <a:lvl7pPr>
              <a:buNone/>
              <a:defRPr sz="1800" b="0">
                <a:solidFill>
                  <a:srgbClr val="17354E"/>
                </a:solidFill>
                <a:latin typeface="Consolas"/>
                <a:ea typeface="Consolas"/>
                <a:cs typeface="Consolas"/>
              </a:defRPr>
            </a:lvl7pPr>
            <a:lvl8pPr>
              <a:buNone/>
              <a:defRPr sz="1800" b="0">
                <a:solidFill>
                  <a:srgbClr val="17354E"/>
                </a:solidFill>
                <a:latin typeface="Consolas"/>
                <a:ea typeface="Consolas"/>
                <a:cs typeface="Consolas"/>
              </a:defRPr>
            </a:lvl8pPr>
            <a:lvl9pPr>
              <a:buNone/>
              <a:defRPr sz="1800" b="0">
                <a:solidFill>
                  <a:srgbClr val="17354E"/>
                </a:solidFill>
                <a:latin typeface="Consolas"/>
                <a:ea typeface="Consolas"/>
                <a:cs typeface="Consolas"/>
              </a:defRPr>
            </a:lvl9pPr>
          </a:lstStyle>
          <a:p xmlns:a="http://schemas.openxmlformats.org/drawingml/2006/main">
            <a:pPr>
              <a:buNone/>
              <a:defRPr sz="1800" b="0">
                <a:solidFill>
                  <a:srgbClr val="17354E"/>
                </a:solidFill>
                <a:latin typeface="Consolas"/>
                <a:ea typeface="Consolas"/>
                <a:cs typeface="Consolas"/>
              </a:defRPr>
            </a:pPr>
            <a:r>
              <a:rPr sz="1800" b="0">
                <a:solidFill>
                  <a:srgbClr val="17354E"/>
                </a:solidFill>
                <a:latin typeface="Consolas"/>
                <a:ea typeface="Consolas"/>
                <a:cs typeface="Consolas"/>
              </a:rPr>
              <a:t>static long gcd(int m, int n) {</a:t>
            </a:r>
          </a:p>
          <a:p xmlns:a="http://schemas.openxmlformats.org/drawingml/2006/main">
            <a:pPr>
              <a:buNone/>
              <a:defRPr sz="1800" b="0">
                <a:solidFill>
                  <a:srgbClr val="17354E"/>
                </a:solidFill>
                <a:latin typeface="Consolas"/>
                <a:ea typeface="Consolas"/>
                <a:cs typeface="Consolas"/>
              </a:defRPr>
            </a:pPr>
            <a:r>
              <a:rPr sz="1800" b="0">
                <a:solidFill>
                  <a:srgbClr val="17354E"/>
                </a:solidFill>
                <a:latin typeface="Consolas"/>
                <a:ea typeface="Consolas"/>
                <a:cs typeface="Consolas"/>
              </a:rPr>
              <a:t>    return gcdPositive(Math.abs((long) m),</a:t>
            </a:r>
          </a:p>
          <a:p xmlns:a="http://schemas.openxmlformats.org/drawingml/2006/main">
            <a:pPr>
              <a:buNone/>
              <a:defRPr sz="1800" b="0">
                <a:solidFill>
                  <a:srgbClr val="17354E"/>
                </a:solidFill>
                <a:latin typeface="Consolas"/>
                <a:ea typeface="Consolas"/>
                <a:cs typeface="Consolas"/>
              </a:defRPr>
            </a:pPr>
            <a:r>
              <a:rPr sz="1800" b="0">
                <a:solidFill>
                  <a:srgbClr val="17354E"/>
                </a:solidFill>
                <a:latin typeface="Consolas"/>
                <a:ea typeface="Consolas"/>
                <a:cs typeface="Consolas"/>
              </a:rPr>
              <a:t>                       Math.abs((long) n));</a:t>
            </a:r>
          </a:p>
          <a:p xmlns:a="http://schemas.openxmlformats.org/drawingml/2006/main">
            <a:pPr>
              <a:buNone/>
              <a:defRPr sz="1800" b="0">
                <a:solidFill>
                  <a:srgbClr val="17354E"/>
                </a:solidFill>
                <a:latin typeface="Consolas"/>
                <a:ea typeface="Consolas"/>
                <a:cs typeface="Consolas"/>
              </a:defRPr>
            </a:pPr>
            <a:r>
              <a:rPr sz="1800" b="0">
                <a:solidFill>
                  <a:srgbClr val="17354E"/>
                </a:solidFill>
                <a:latin typeface="Consolas"/>
                <a:ea typeface="Consolas"/>
                <a:cs typeface="Consolas"/>
              </a:rPr>
              <a:t>}</a:t>
            </a:r>
          </a:p>
          <a:p xmlns:a="http://schemas.openxmlformats.org/drawingml/2006/main">
            <a:r>
              <a:t/>
            </a:r>
          </a:p>
          <a:p xmlns:a="http://schemas.openxmlformats.org/drawingml/2006/main">
            <a:pPr>
              <a:buNone/>
              <a:defRPr sz="1800" b="0">
                <a:solidFill>
                  <a:srgbClr val="17354E"/>
                </a:solidFill>
                <a:latin typeface="Consolas"/>
                <a:ea typeface="Consolas"/>
                <a:cs typeface="Consolas"/>
              </a:defRPr>
            </a:pPr>
            <a:r>
              <a:rPr sz="1800" b="0">
                <a:solidFill>
                  <a:srgbClr val="17354E"/>
                </a:solidFill>
                <a:latin typeface="Consolas"/>
                <a:ea typeface="Consolas"/>
                <a:cs typeface="Consolas"/>
              </a:rPr>
              <a:t>static long gcdPositive(long a, long b) {</a:t>
            </a:r>
          </a:p>
          <a:p xmlns:a="http://schemas.openxmlformats.org/drawingml/2006/main">
            <a:pPr>
              <a:buNone/>
              <a:defRPr sz="1800" b="0">
                <a:solidFill>
                  <a:srgbClr val="17354E"/>
                </a:solidFill>
                <a:latin typeface="Consolas"/>
                <a:ea typeface="Consolas"/>
                <a:cs typeface="Consolas"/>
              </a:defRPr>
            </a:pPr>
            <a:r>
              <a:rPr sz="1800" b="0">
                <a:solidFill>
                  <a:srgbClr val="17354E"/>
                </a:solidFill>
                <a:latin typeface="Consolas"/>
                <a:ea typeface="Consolas"/>
                <a:cs typeface="Consolas"/>
              </a:rPr>
              <a:t>    if (b == 0) return a;</a:t>
            </a:r>
          </a:p>
          <a:p xmlns:a="http://schemas.openxmlformats.org/drawingml/2006/main">
            <a:pPr>
              <a:buNone/>
              <a:defRPr sz="1800" b="0">
                <a:solidFill>
                  <a:srgbClr val="17354E"/>
                </a:solidFill>
                <a:latin typeface="Consolas"/>
                <a:ea typeface="Consolas"/>
                <a:cs typeface="Consolas"/>
              </a:defRPr>
            </a:pPr>
            <a:r>
              <a:rPr sz="1800" b="0">
                <a:solidFill>
                  <a:srgbClr val="17354E"/>
                </a:solidFill>
                <a:latin typeface="Consolas"/>
                <a:ea typeface="Consolas"/>
                <a:cs typeface="Consolas"/>
              </a:rPr>
              <a:t>    return gcdPositive(b, a % b);</a:t>
            </a:r>
          </a:p>
          <a:p xmlns:a="http://schemas.openxmlformats.org/drawingml/2006/main">
            <a:pPr>
              <a:buNone/>
              <a:defRPr sz="1800" b="0">
                <a:solidFill>
                  <a:srgbClr val="17354E"/>
                </a:solidFill>
                <a:latin typeface="Consolas"/>
                <a:ea typeface="Consolas"/>
                <a:cs typeface="Consolas"/>
              </a:defRPr>
            </a:pPr>
            <a:r>
              <a:rPr sz="1800" b="0">
                <a:solidFill>
                  <a:srgbClr val="17354E"/>
                </a:solidFill>
                <a:latin typeface="Consolas"/>
                <a:ea typeface="Consolas"/>
                <a:cs typeface="Consolas"/>
              </a:rPr>
              <a:t>}</a:t>
            </a:r>
          </a:p>
        </p:txBody>
      </p:sp>
      <p:graphicFrame>
        <p:nvGraphicFramePr>
          <p:cNvPr id="5" name="">
            <a:extLst xmlns:a="http://schemas.openxmlformats.org/drawingml/2006/main">
              <a:ext uri="{FF2B5EF4-FFF2-40B4-BE49-F238E27FC236}">
                <a16:creationId xmlns:a16="http://schemas.microsoft.com/office/drawing/2014/main" id="{C6BCE1C8-775B-4CBB-AFEC-2C8771E1F11D}"/>
              </a:ext>
            </a:extLst>
          </p:cNvPr>
          <p:cNvGraphicFramePr/>
          <p:nvPr/>
        </p:nvGraphicFramePr>
        <p:xfrm>
          <a:off xmlns:a="http://schemas.openxmlformats.org/drawingml/2006/main" x="8353425" y="2381250"/>
          <a:ext xmlns:a="http://schemas.openxmlformats.org/drawingml/2006/main" cx="3305175" cy="2238375"/>
        </p:xfrm>
        <a:graphic xmlns:a="http://schemas.openxmlformats.org/drawingml/2006/main">
          <a:graphicData uri="http://schemas.openxmlformats.org/drawingml/2006/table">
            <a:tbl>
              <a:tblPr/>
              <a:tblGrid>
                <a:gridCol w="952500"/>
                <a:gridCol w="952500"/>
                <a:gridCol w="1400175"/>
              </a:tblGrid>
              <a:tr h="559594">
                <a:tc>
                  <a:txBody>
                    <a:bodyPr/>
                    <a:lstStyle/>
                    <a:p>
                      <a:r>
                        <a:rPr sz="1800" b="1">
                          <a:solidFill>
                            <a:srgbClr val="FFFFFF"/>
                          </a:solidFill>
                          <a:latin typeface="Aptos"/>
                          <a:ea typeface="Aptos"/>
                          <a:cs typeface="Aptos"/>
                        </a:rPr>
                        <a:t>a</a:t>
                      </a:r>
                    </a:p>
                  </a:txBody>
                  <a:tcPr marL="91440" marR="91440" marT="45720" marB="45720">
                    <a:lnL w="9525">
                      <a:solidFill>
                        <a:srgbClr val="D5E1E7"/>
                      </a:solidFill>
                    </a:lnL>
                    <a:lnR w="9525">
                      <a:solidFill>
                        <a:srgbClr val="D5E1E7"/>
                      </a:solidFill>
                    </a:lnR>
                    <a:lnT w="9525">
                      <a:solidFill>
                        <a:srgbClr val="D5E1E7"/>
                      </a:solidFill>
                    </a:lnT>
                    <a:lnB w="9525">
                      <a:solidFill>
                        <a:srgbClr val="D5E1E7"/>
                      </a:solidFill>
                    </a:lnB>
                    <a:solidFill>
                      <a:srgbClr val="17354E"/>
                    </a:solidFill>
                  </a:tcPr>
                </a:tc>
                <a:tc>
                  <a:txBody>
                    <a:bodyPr/>
                    <a:lstStyle/>
                    <a:p>
                      <a:r>
                        <a:rPr sz="1800" b="1">
                          <a:solidFill>
                            <a:srgbClr val="FFFFFF"/>
                          </a:solidFill>
                          <a:latin typeface="Aptos"/>
                          <a:ea typeface="Aptos"/>
                          <a:cs typeface="Aptos"/>
                        </a:rPr>
                        <a:t>b</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c>
                  <a:txBody>
                    <a:bodyPr/>
                    <a:lstStyle/>
                    <a:p>
                      <a:r>
                        <a:rPr sz="1800" b="1">
                          <a:solidFill>
                            <a:srgbClr val="FFFFFF"/>
                          </a:solidFill>
                          <a:latin typeface="Aptos"/>
                          <a:ea typeface="Aptos"/>
                          <a:cs typeface="Aptos"/>
                        </a:rPr>
                        <a:t>a mod b</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r>
              <a:tr h="559594">
                <a:tc>
                  <a:txBody>
                    <a:bodyPr/>
                    <a:lstStyle/>
                    <a:p>
                      <a:r>
                        <a:rPr sz="1800" b="0">
                          <a:solidFill>
                            <a:srgbClr val="17354E"/>
                          </a:solidFill>
                          <a:latin typeface="Aptos"/>
                          <a:ea typeface="Aptos"/>
                          <a:cs typeface="Aptos"/>
                        </a:rPr>
                        <a:t>27</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1800" b="0">
                          <a:solidFill>
                            <a:srgbClr val="17354E"/>
                          </a:solidFill>
                          <a:latin typeface="Aptos"/>
                          <a:ea typeface="Aptos"/>
                          <a:cs typeface="Aptos"/>
                        </a:rPr>
                        <a:t>18</a:t>
                      </a:r>
                    </a:p>
                  </a:txBody>
                  <a:tcPr marL="91440" marR="91440" marT="45720" marB="45720">
                    <a:lnR w="9525">
                      <a:solidFill>
                        <a:srgbClr val="D5E1E7"/>
                      </a:solidFill>
                    </a:lnR>
                    <a:lnB w="9525">
                      <a:solidFill>
                        <a:srgbClr val="D5E1E7"/>
                      </a:solidFill>
                    </a:lnB>
                    <a:solidFill>
                      <a:srgbClr val="EFF5F7"/>
                    </a:solidFill>
                  </a:tcPr>
                </a:tc>
                <a:tc>
                  <a:txBody>
                    <a:bodyPr/>
                    <a:lstStyle/>
                    <a:p>
                      <a:r>
                        <a:rPr sz="1800" b="0">
                          <a:solidFill>
                            <a:srgbClr val="17354E"/>
                          </a:solidFill>
                          <a:latin typeface="Aptos"/>
                          <a:ea typeface="Aptos"/>
                          <a:cs typeface="Aptos"/>
                        </a:rPr>
                        <a:t>9</a:t>
                      </a:r>
                    </a:p>
                  </a:txBody>
                  <a:tcPr marL="91440" marR="91440" marT="45720" marB="45720">
                    <a:lnR w="9525">
                      <a:solidFill>
                        <a:srgbClr val="D5E1E7"/>
                      </a:solidFill>
                    </a:lnR>
                    <a:lnB w="9525">
                      <a:solidFill>
                        <a:srgbClr val="D5E1E7"/>
                      </a:solidFill>
                    </a:lnB>
                    <a:solidFill>
                      <a:srgbClr val="EFF5F7"/>
                    </a:solidFill>
                  </a:tcPr>
                </a:tc>
              </a:tr>
              <a:tr h="559594">
                <a:tc>
                  <a:txBody>
                    <a:bodyPr/>
                    <a:lstStyle/>
                    <a:p>
                      <a:r>
                        <a:rPr sz="1800" b="0">
                          <a:solidFill>
                            <a:srgbClr val="17354E"/>
                          </a:solidFill>
                          <a:latin typeface="Aptos"/>
                          <a:ea typeface="Aptos"/>
                          <a:cs typeface="Aptos"/>
                        </a:rPr>
                        <a:t>18</a:t>
                      </a:r>
                    </a:p>
                  </a:txBody>
                  <a:tcPr marL="91440" marR="91440" marT="45720" marB="45720">
                    <a:lnL w="9525">
                      <a:solidFill>
                        <a:srgbClr val="D5E1E7"/>
                      </a:solidFill>
                    </a:lnL>
                    <a:lnR w="9525">
                      <a:solidFill>
                        <a:srgbClr val="D5E1E7"/>
                      </a:solidFill>
                    </a:lnR>
                    <a:lnB w="9525">
                      <a:solidFill>
                        <a:srgbClr val="D5E1E7"/>
                      </a:solidFill>
                    </a:lnB>
                    <a:solidFill>
                      <a:srgbClr val="FFFFFF"/>
                    </a:solidFill>
                  </a:tcPr>
                </a:tc>
                <a:tc>
                  <a:txBody>
                    <a:bodyPr/>
                    <a:lstStyle/>
                    <a:p>
                      <a:r>
                        <a:rPr sz="1800" b="0">
                          <a:solidFill>
                            <a:srgbClr val="17354E"/>
                          </a:solidFill>
                          <a:latin typeface="Aptos"/>
                          <a:ea typeface="Aptos"/>
                          <a:cs typeface="Aptos"/>
                        </a:rPr>
                        <a:t>9</a:t>
                      </a:r>
                    </a:p>
                  </a:txBody>
                  <a:tcPr marL="91440" marR="91440" marT="45720" marB="45720">
                    <a:lnR w="9525">
                      <a:solidFill>
                        <a:srgbClr val="D5E1E7"/>
                      </a:solidFill>
                    </a:lnR>
                    <a:lnB w="9525">
                      <a:solidFill>
                        <a:srgbClr val="D5E1E7"/>
                      </a:solidFill>
                    </a:lnB>
                    <a:solidFill>
                      <a:srgbClr val="FFFFFF"/>
                    </a:solidFill>
                  </a:tcPr>
                </a:tc>
                <a:tc>
                  <a:txBody>
                    <a:bodyPr/>
                    <a:lstStyle/>
                    <a:p>
                      <a:r>
                        <a:rPr sz="1800" b="0">
                          <a:solidFill>
                            <a:srgbClr val="17354E"/>
                          </a:solidFill>
                          <a:latin typeface="Aptos"/>
                          <a:ea typeface="Aptos"/>
                          <a:cs typeface="Aptos"/>
                        </a:rPr>
                        <a:t>0</a:t>
                      </a:r>
                    </a:p>
                  </a:txBody>
                  <a:tcPr marL="91440" marR="91440" marT="45720" marB="45720">
                    <a:lnR w="9525">
                      <a:solidFill>
                        <a:srgbClr val="D5E1E7"/>
                      </a:solidFill>
                    </a:lnR>
                    <a:lnB w="9525">
                      <a:solidFill>
                        <a:srgbClr val="D5E1E7"/>
                      </a:solidFill>
                    </a:lnB>
                    <a:solidFill>
                      <a:srgbClr val="FFFFFF"/>
                    </a:solidFill>
                  </a:tcPr>
                </a:tc>
              </a:tr>
              <a:tr h="559594">
                <a:tc>
                  <a:txBody>
                    <a:bodyPr/>
                    <a:lstStyle/>
                    <a:p>
                      <a:r>
                        <a:rPr sz="1800" b="0">
                          <a:solidFill>
                            <a:srgbClr val="17354E"/>
                          </a:solidFill>
                          <a:latin typeface="Aptos"/>
                          <a:ea typeface="Aptos"/>
                          <a:cs typeface="Aptos"/>
                        </a:rPr>
                        <a:t>9</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1800" b="0">
                          <a:solidFill>
                            <a:srgbClr val="17354E"/>
                          </a:solidFill>
                          <a:latin typeface="Aptos"/>
                          <a:ea typeface="Aptos"/>
                          <a:cs typeface="Aptos"/>
                        </a:rPr>
                        <a:t>0</a:t>
                      </a:r>
                    </a:p>
                  </a:txBody>
                  <a:tcPr marL="91440" marR="91440" marT="45720" marB="45720">
                    <a:lnR w="9525">
                      <a:solidFill>
                        <a:srgbClr val="D5E1E7"/>
                      </a:solidFill>
                    </a:lnR>
                    <a:lnB w="9525">
                      <a:solidFill>
                        <a:srgbClr val="D5E1E7"/>
                      </a:solidFill>
                    </a:lnB>
                    <a:solidFill>
                      <a:srgbClr val="EFF5F7"/>
                    </a:solidFill>
                  </a:tcPr>
                </a:tc>
                <a:tc>
                  <a:txBody>
                    <a:bodyPr/>
                    <a:lstStyle/>
                    <a:p>
                      <a:r>
                        <a:rPr sz="1800" b="0">
                          <a:solidFill>
                            <a:srgbClr val="17354E"/>
                          </a:solidFill>
                          <a:latin typeface="Aptos"/>
                          <a:ea typeface="Aptos"/>
                          <a:cs typeface="Aptos"/>
                        </a:rPr>
                        <a:t>Stop</a:t>
                      </a:r>
                    </a:p>
                  </a:txBody>
                  <a:tcPr marL="91440" marR="91440" marT="45720" marB="45720">
                    <a:lnR w="9525">
                      <a:solidFill>
                        <a:srgbClr val="D5E1E7"/>
                      </a:solidFill>
                    </a:lnR>
                    <a:lnB w="9525">
                      <a:solidFill>
                        <a:srgbClr val="D5E1E7"/>
                      </a:solidFill>
                    </a:lnB>
                    <a:solidFill>
                      <a:srgbClr val="EFF5F7"/>
                    </a:solidFill>
                  </a:tcPr>
                </a:tc>
              </a:tr>
            </a:tbl>
          </a:graphicData>
        </a:graphic>
      </p:graphicFrame>
      <p:sp>
        <p:nvSpPr>
          <p:cNvPr id="6" name="">
            <a:extLst xmlns:a="http://schemas.openxmlformats.org/drawingml/2006/main">
              <a:ext uri="{FF2B5EF4-FFF2-40B4-BE49-F238E27FC236}">
                <a16:creationId xmlns:a16="http://schemas.microsoft.com/office/drawing/2014/main" id="{03F192AB-E7B9-4472-9C7B-C2BA501663AA}"/>
              </a:ext>
            </a:extLst>
          </p:cNvPr>
          <p:cNvSpPr>
            <a:spLocks xmlns:a="http://schemas.openxmlformats.org/drawingml/2006/main" noGrp="1"/>
          </p:cNvSpPr>
          <p:nvPr/>
        </p:nvSpPr>
        <p:spPr>
          <a:xfrm xmlns:a="http://schemas.openxmlformats.org/drawingml/2006/main">
            <a:off x="8353425" y="4924425"/>
            <a:ext cx="33051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54E"/>
                </a:solidFill>
                <a:latin typeface="Aptos"/>
                <a:ea typeface="Aptos"/>
                <a:cs typeface="Aptos"/>
              </a:defRPr>
            </a:defPPr>
            <a:lvl1pPr>
              <a:buNone/>
              <a:defRPr sz="1875" b="1">
                <a:solidFill>
                  <a:srgbClr val="17354E"/>
                </a:solidFill>
                <a:latin typeface="Aptos"/>
                <a:ea typeface="Aptos"/>
                <a:cs typeface="Aptos"/>
              </a:defRPr>
            </a:lvl1pPr>
            <a:lvl2pPr>
              <a:buNone/>
              <a:defRPr sz="1875" b="1">
                <a:solidFill>
                  <a:srgbClr val="17354E"/>
                </a:solidFill>
                <a:latin typeface="Aptos"/>
                <a:ea typeface="Aptos"/>
                <a:cs typeface="Aptos"/>
              </a:defRPr>
            </a:lvl2pPr>
            <a:lvl3pPr>
              <a:buNone/>
              <a:defRPr sz="1875" b="1">
                <a:solidFill>
                  <a:srgbClr val="17354E"/>
                </a:solidFill>
                <a:latin typeface="Aptos"/>
                <a:ea typeface="Aptos"/>
                <a:cs typeface="Aptos"/>
              </a:defRPr>
            </a:lvl3pPr>
            <a:lvl4pPr>
              <a:buNone/>
              <a:defRPr sz="1875" b="1">
                <a:solidFill>
                  <a:srgbClr val="17354E"/>
                </a:solidFill>
                <a:latin typeface="Aptos"/>
                <a:ea typeface="Aptos"/>
                <a:cs typeface="Aptos"/>
              </a:defRPr>
            </a:lvl4pPr>
            <a:lvl5pPr>
              <a:buNone/>
              <a:defRPr sz="1875" b="1">
                <a:solidFill>
                  <a:srgbClr val="17354E"/>
                </a:solidFill>
                <a:latin typeface="Aptos"/>
                <a:ea typeface="Aptos"/>
                <a:cs typeface="Aptos"/>
              </a:defRPr>
            </a:lvl5pPr>
            <a:lvl6pPr>
              <a:buNone/>
              <a:defRPr sz="1875" b="1">
                <a:solidFill>
                  <a:srgbClr val="17354E"/>
                </a:solidFill>
                <a:latin typeface="Aptos"/>
                <a:ea typeface="Aptos"/>
                <a:cs typeface="Aptos"/>
              </a:defRPr>
            </a:lvl6pPr>
            <a:lvl7pPr>
              <a:buNone/>
              <a:defRPr sz="1875" b="1">
                <a:solidFill>
                  <a:srgbClr val="17354E"/>
                </a:solidFill>
                <a:latin typeface="Aptos"/>
                <a:ea typeface="Aptos"/>
                <a:cs typeface="Aptos"/>
              </a:defRPr>
            </a:lvl7pPr>
            <a:lvl8pPr>
              <a:buNone/>
              <a:defRPr sz="1875" b="1">
                <a:solidFill>
                  <a:srgbClr val="17354E"/>
                </a:solidFill>
                <a:latin typeface="Aptos"/>
                <a:ea typeface="Aptos"/>
                <a:cs typeface="Aptos"/>
              </a:defRPr>
            </a:lvl8pPr>
            <a:lvl9pPr>
              <a:buNone/>
              <a:defRPr sz="1875" b="1">
                <a:solidFill>
                  <a:srgbClr val="17354E"/>
                </a:solidFill>
                <a:latin typeface="Aptos"/>
                <a:ea typeface="Aptos"/>
                <a:cs typeface="Aptos"/>
              </a:defRPr>
            </a:lvl9pPr>
          </a:lstStyle>
          <a:p xmlns:a="http://schemas.openxmlformats.org/drawingml/2006/main">
            <a:pPr>
              <a:buNone/>
              <a:defRPr sz="1875" b="1">
                <a:solidFill>
                  <a:srgbClr val="17354E"/>
                </a:solidFill>
                <a:latin typeface="Aptos"/>
                <a:ea typeface="Aptos"/>
                <a:cs typeface="Aptos"/>
              </a:defRPr>
            </a:pPr>
            <a:r>
              <a:rPr sz="1875" b="1">
                <a:solidFill>
                  <a:srgbClr val="17354E"/>
                </a:solidFill>
                <a:latin typeface="Aptos"/>
                <a:ea typeface="Aptos"/>
                <a:cs typeface="Aptos"/>
              </a:rPr>
              <a:t>gcd(27, 18) returns 9</a:t>
            </a:r>
          </a:p>
        </p:txBody>
      </p:sp>
      <p:sp>
        <p:nvSpPr>
          <p:cNvPr id="7" name="">
            <a:extLst xmlns:a="http://schemas.openxmlformats.org/drawingml/2006/main">
              <a:ext uri="{FF2B5EF4-FFF2-40B4-BE49-F238E27FC236}">
                <a16:creationId xmlns:a16="http://schemas.microsoft.com/office/drawing/2014/main" id="{501E55FC-7C8D-4B70-B43B-BF63D81B7262}"/>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87F8C"/>
                </a:solidFill>
                <a:latin typeface="Aptos"/>
                <a:ea typeface="Aptos"/>
                <a:cs typeface="Aptos"/>
              </a:defRPr>
            </a:defPPr>
            <a:lvl1pPr>
              <a:buNone/>
              <a:defRPr sz="1950" b="1">
                <a:solidFill>
                  <a:srgbClr val="087F8C"/>
                </a:solidFill>
                <a:latin typeface="Aptos"/>
                <a:ea typeface="Aptos"/>
                <a:cs typeface="Aptos"/>
              </a:defRPr>
            </a:lvl1pPr>
            <a:lvl2pPr>
              <a:buNone/>
              <a:defRPr sz="1950" b="1">
                <a:solidFill>
                  <a:srgbClr val="087F8C"/>
                </a:solidFill>
                <a:latin typeface="Aptos"/>
                <a:ea typeface="Aptos"/>
                <a:cs typeface="Aptos"/>
              </a:defRPr>
            </a:lvl2pPr>
            <a:lvl3pPr>
              <a:buNone/>
              <a:defRPr sz="1950" b="1">
                <a:solidFill>
                  <a:srgbClr val="087F8C"/>
                </a:solidFill>
                <a:latin typeface="Aptos"/>
                <a:ea typeface="Aptos"/>
                <a:cs typeface="Aptos"/>
              </a:defRPr>
            </a:lvl3pPr>
            <a:lvl4pPr>
              <a:buNone/>
              <a:defRPr sz="1950" b="1">
                <a:solidFill>
                  <a:srgbClr val="087F8C"/>
                </a:solidFill>
                <a:latin typeface="Aptos"/>
                <a:ea typeface="Aptos"/>
                <a:cs typeface="Aptos"/>
              </a:defRPr>
            </a:lvl4pPr>
            <a:lvl5pPr>
              <a:buNone/>
              <a:defRPr sz="1950" b="1">
                <a:solidFill>
                  <a:srgbClr val="087F8C"/>
                </a:solidFill>
                <a:latin typeface="Aptos"/>
                <a:ea typeface="Aptos"/>
                <a:cs typeface="Aptos"/>
              </a:defRPr>
            </a:lvl5pPr>
            <a:lvl6pPr>
              <a:buNone/>
              <a:defRPr sz="1950" b="1">
                <a:solidFill>
                  <a:srgbClr val="087F8C"/>
                </a:solidFill>
                <a:latin typeface="Aptos"/>
                <a:ea typeface="Aptos"/>
                <a:cs typeface="Aptos"/>
              </a:defRPr>
            </a:lvl6pPr>
            <a:lvl7pPr>
              <a:buNone/>
              <a:defRPr sz="1950" b="1">
                <a:solidFill>
                  <a:srgbClr val="087F8C"/>
                </a:solidFill>
                <a:latin typeface="Aptos"/>
                <a:ea typeface="Aptos"/>
                <a:cs typeface="Aptos"/>
              </a:defRPr>
            </a:lvl7pPr>
            <a:lvl8pPr>
              <a:buNone/>
              <a:defRPr sz="1950" b="1">
                <a:solidFill>
                  <a:srgbClr val="087F8C"/>
                </a:solidFill>
                <a:latin typeface="Aptos"/>
                <a:ea typeface="Aptos"/>
                <a:cs typeface="Aptos"/>
              </a:defRPr>
            </a:lvl8pPr>
            <a:lvl9pPr>
              <a:buNone/>
              <a:defRPr sz="1950" b="1">
                <a:solidFill>
                  <a:srgbClr val="087F8C"/>
                </a:solidFill>
                <a:latin typeface="Aptos"/>
                <a:ea typeface="Aptos"/>
                <a:cs typeface="Aptos"/>
              </a:defRPr>
            </a:lvl9pPr>
          </a:lstStyle>
          <a:p xmlns:a="http://schemas.openxmlformats.org/drawingml/2006/main">
            <a:pPr>
              <a:buNone/>
              <a:defRPr sz="1950" b="1">
                <a:solidFill>
                  <a:srgbClr val="087F8C"/>
                </a:solidFill>
                <a:latin typeface="Aptos"/>
                <a:ea typeface="Aptos"/>
                <a:cs typeface="Aptos"/>
              </a:defRPr>
            </a:pPr>
            <a:r>
              <a:rPr sz="1950" b="1">
                <a:solidFill>
                  <a:srgbClr val="087F8C"/>
                </a:solidFill>
                <a:latin typeface="Aptos"/>
                <a:ea typeface="Aptos"/>
                <a:cs typeface="Aptos"/>
              </a:rPr>
              <a:t>Positive inputs: O(log min(a, b)) time and recursive stack space.</a:t>
            </a:r>
          </a:p>
        </p:txBody>
      </p:sp>
      <p:sp>
        <p:nvSpPr>
          <p:cNvPr id="9" name="local-java-GcdRecursive">
            <a:extLst xmlns:a="http://schemas.openxmlformats.org/drawingml/2006/main">
              <a:ext uri="{FF2B5EF4-FFF2-40B4-BE49-F238E27FC236}">
                <a16:creationId xmlns:a16="http://schemas.microsoft.com/office/drawing/2014/main" id="{CCDEEB94-D608-402F-848C-F6037FA874AA}"/>
              </a:ext>
            </a:extLst>
          </p:cNvPr>
          <p:cNvSpPr>
            <a:spLocks xmlns:a="http://schemas.openxmlformats.org/drawingml/2006/main" noGrp="1"/>
          </p:cNvSpPr>
          <p:nvPr/>
        </p:nvSpPr>
        <p:spPr>
          <a:xfrm xmlns:a="http://schemas.openxmlformats.org/drawingml/2006/main">
            <a:off x="514350" y="63436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713f0fb1258e442f"/>
              </a:rPr>
              <a:t>Java: GcdRecursive.java</a:t>
            </a:r>
          </a:p>
        </p:txBody>
      </p:sp>
    </p:spTree>
    <p:extLst>
      <p:ext uri="{BB962C8B-B14F-4D97-AF65-F5344CB8AC3E}">
        <p14:creationId xmlns:p14="http://schemas.microsoft.com/office/powerpoint/2010/main" val="97967566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4D01DC-0A93-4696-BA3B-64278BCFD656}"/>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When recursion matches the problem</a:t>
            </a:r>
          </a:p>
        </p:txBody>
      </p:sp>
      <p:sp>
        <p:nvSpPr>
          <p:cNvPr id="2" name="">
            <a:extLst xmlns:a="http://schemas.openxmlformats.org/drawingml/2006/main">
              <a:ext uri="{FF2B5EF4-FFF2-40B4-BE49-F238E27FC236}">
                <a16:creationId xmlns:a16="http://schemas.microsoft.com/office/drawing/2014/main" id="{097B160D-B3A6-4138-B5FA-DCA180EAD0F6}"/>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Recursion is useful when the problem already has a recursive structure.</a:t>
            </a:r>
          </a:p>
        </p:txBody>
      </p:sp>
      <p:sp>
        <p:nvSpPr>
          <p:cNvPr id="3" name="">
            <a:extLst xmlns:a="http://schemas.openxmlformats.org/drawingml/2006/main">
              <a:ext uri="{FF2B5EF4-FFF2-40B4-BE49-F238E27FC236}">
                <a16:creationId xmlns:a16="http://schemas.microsoft.com/office/drawing/2014/main" id="{73E3CFBB-D163-4E55-B01F-1523C5792E23}"/>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23</a:t>
            </a:r>
          </a:p>
        </p:txBody>
      </p:sp>
      <p:graphicFrame>
        <p:nvGraphicFramePr>
          <p:cNvPr id="4" name="">
            <a:extLst xmlns:a="http://schemas.openxmlformats.org/drawingml/2006/main">
              <a:ext uri="{FF2B5EF4-FFF2-40B4-BE49-F238E27FC236}">
                <a16:creationId xmlns:a16="http://schemas.microsoft.com/office/drawing/2014/main" id="{D98F9257-8D5E-4630-AB82-63518CC19441}"/>
              </a:ext>
            </a:extLst>
          </p:cNvPr>
          <p:cNvGraphicFramePr/>
          <p:nvPr/>
        </p:nvGraphicFramePr>
        <p:xfrm>
          <a:off xmlns:a="http://schemas.openxmlformats.org/drawingml/2006/main" x="533400" y="2095500"/>
          <a:ext xmlns:a="http://schemas.openxmlformats.org/drawingml/2006/main" cx="11125200" cy="2952750"/>
        </p:xfrm>
        <a:graphic xmlns:a="http://schemas.openxmlformats.org/drawingml/2006/main">
          <a:graphicData uri="http://schemas.openxmlformats.org/drawingml/2006/table">
            <a:tbl>
              <a:tblPr/>
              <a:tblGrid>
                <a:gridCol w="3095625"/>
                <a:gridCol w="3810000"/>
                <a:gridCol w="4219575"/>
              </a:tblGrid>
              <a:tr h="590550">
                <a:tc>
                  <a:txBody>
                    <a:bodyPr/>
                    <a:lstStyle/>
                    <a:p>
                      <a:r>
                        <a:rPr sz="1950" b="1">
                          <a:solidFill>
                            <a:srgbClr val="FFFFFF"/>
                          </a:solidFill>
                          <a:latin typeface="Aptos"/>
                          <a:ea typeface="Aptos"/>
                          <a:cs typeface="Aptos"/>
                        </a:rPr>
                        <a:t>Problem</a:t>
                      </a:r>
                    </a:p>
                  </a:txBody>
                  <a:tcPr marL="91440" marR="91440" marT="45720" marB="45720">
                    <a:lnL w="9525">
                      <a:solidFill>
                        <a:srgbClr val="D5E1E7"/>
                      </a:solidFill>
                    </a:lnL>
                    <a:lnR w="9525">
                      <a:solidFill>
                        <a:srgbClr val="D5E1E7"/>
                      </a:solidFill>
                    </a:lnR>
                    <a:lnT w="9525">
                      <a:solidFill>
                        <a:srgbClr val="D5E1E7"/>
                      </a:solidFill>
                    </a:lnT>
                    <a:lnB w="9525">
                      <a:solidFill>
                        <a:srgbClr val="D5E1E7"/>
                      </a:solidFill>
                    </a:lnB>
                    <a:solidFill>
                      <a:srgbClr val="17354E"/>
                    </a:solidFill>
                  </a:tcPr>
                </a:tc>
                <a:tc>
                  <a:txBody>
                    <a:bodyPr/>
                    <a:lstStyle/>
                    <a:p>
                      <a:r>
                        <a:rPr sz="1950" b="1">
                          <a:solidFill>
                            <a:srgbClr val="FFFFFF"/>
                          </a:solidFill>
                          <a:latin typeface="Aptos"/>
                          <a:ea typeface="Aptos"/>
                          <a:cs typeface="Aptos"/>
                        </a:rPr>
                        <a:t>Smaller problem</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c>
                  <a:txBody>
                    <a:bodyPr/>
                    <a:lstStyle/>
                    <a:p>
                      <a:r>
                        <a:rPr sz="1950" b="1">
                          <a:solidFill>
                            <a:srgbClr val="FFFFFF"/>
                          </a:solidFill>
                          <a:latin typeface="Aptos"/>
                          <a:ea typeface="Aptos"/>
                          <a:cs typeface="Aptos"/>
                        </a:rPr>
                        <a:t>Work in this call</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r>
              <a:tr h="590550">
                <a:tc>
                  <a:txBody>
                    <a:bodyPr/>
                    <a:lstStyle/>
                    <a:p>
                      <a:r>
                        <a:rPr sz="1950" b="0">
                          <a:solidFill>
                            <a:srgbClr val="17354E"/>
                          </a:solidFill>
                          <a:latin typeface="Aptos"/>
                          <a:ea typeface="Aptos"/>
                          <a:cs typeface="Aptos"/>
                        </a:rPr>
                        <a:t>Directory search</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1950" b="0">
                          <a:solidFill>
                            <a:srgbClr val="17354E"/>
                          </a:solidFill>
                          <a:latin typeface="Aptos"/>
                          <a:ea typeface="Aptos"/>
                          <a:cs typeface="Aptos"/>
                        </a:rPr>
                        <a:t>Each subdirectory</a:t>
                      </a:r>
                    </a:p>
                  </a:txBody>
                  <a:tcPr marL="91440" marR="91440" marT="45720" marB="45720">
                    <a:lnR w="9525">
                      <a:solidFill>
                        <a:srgbClr val="D5E1E7"/>
                      </a:solidFill>
                    </a:lnR>
                    <a:lnB w="9525">
                      <a:solidFill>
                        <a:srgbClr val="D5E1E7"/>
                      </a:solidFill>
                    </a:lnB>
                    <a:solidFill>
                      <a:srgbClr val="EFF5F7"/>
                    </a:solidFill>
                  </a:tcPr>
                </a:tc>
                <a:tc>
                  <a:txBody>
                    <a:bodyPr/>
                    <a:lstStyle/>
                    <a:p>
                      <a:r>
                        <a:rPr sz="1950" b="0">
                          <a:solidFill>
                            <a:srgbClr val="17354E"/>
                          </a:solidFill>
                          <a:latin typeface="Aptos"/>
                          <a:ea typeface="Aptos"/>
                          <a:cs typeface="Aptos"/>
                        </a:rPr>
                        <a:t>Process files and subdirectories</a:t>
                      </a:r>
                    </a:p>
                  </a:txBody>
                  <a:tcPr marL="91440" marR="91440" marT="45720" marB="45720">
                    <a:lnR w="9525">
                      <a:solidFill>
                        <a:srgbClr val="D5E1E7"/>
                      </a:solidFill>
                    </a:lnR>
                    <a:lnB w="9525">
                      <a:solidFill>
                        <a:srgbClr val="D5E1E7"/>
                      </a:solidFill>
                    </a:lnB>
                    <a:solidFill>
                      <a:srgbClr val="EFF5F7"/>
                    </a:solidFill>
                  </a:tcPr>
                </a:tc>
              </a:tr>
              <a:tr h="590550">
                <a:tc>
                  <a:txBody>
                    <a:bodyPr/>
                    <a:lstStyle/>
                    <a:p>
                      <a:r>
                        <a:rPr sz="1950" b="0">
                          <a:solidFill>
                            <a:srgbClr val="17354E"/>
                          </a:solidFill>
                          <a:latin typeface="Aptos"/>
                          <a:ea typeface="Aptos"/>
                          <a:cs typeface="Aptos"/>
                        </a:rPr>
                        <a:t>Factorial</a:t>
                      </a:r>
                    </a:p>
                  </a:txBody>
                  <a:tcPr marL="91440" marR="91440" marT="45720" marB="45720">
                    <a:lnL w="9525">
                      <a:solidFill>
                        <a:srgbClr val="D5E1E7"/>
                      </a:solidFill>
                    </a:lnL>
                    <a:lnR w="9525">
                      <a:solidFill>
                        <a:srgbClr val="D5E1E7"/>
                      </a:solidFill>
                    </a:lnR>
                    <a:lnB w="9525">
                      <a:solidFill>
                        <a:srgbClr val="D5E1E7"/>
                      </a:solidFill>
                    </a:lnB>
                    <a:solidFill>
                      <a:srgbClr val="FFFFFF"/>
                    </a:solidFill>
                  </a:tcPr>
                </a:tc>
                <a:tc>
                  <a:txBody>
                    <a:bodyPr/>
                    <a:lstStyle/>
                    <a:p>
                      <a:r>
                        <a:rPr sz="1950" b="0">
                          <a:solidFill>
                            <a:srgbClr val="17354E"/>
                          </a:solidFill>
                          <a:latin typeface="Aptos"/>
                          <a:ea typeface="Aptos"/>
                          <a:cs typeface="Aptos"/>
                        </a:rPr>
                        <a:t>Factorial of n − 1</a:t>
                      </a:r>
                    </a:p>
                  </a:txBody>
                  <a:tcPr marL="91440" marR="91440" marT="45720" marB="45720">
                    <a:lnR w="9525">
                      <a:solidFill>
                        <a:srgbClr val="D5E1E7"/>
                      </a:solidFill>
                    </a:lnR>
                    <a:lnB w="9525">
                      <a:solidFill>
                        <a:srgbClr val="D5E1E7"/>
                      </a:solidFill>
                    </a:lnB>
                    <a:solidFill>
                      <a:srgbClr val="FFFFFF"/>
                    </a:solidFill>
                  </a:tcPr>
                </a:tc>
                <a:tc>
                  <a:txBody>
                    <a:bodyPr/>
                    <a:lstStyle/>
                    <a:p>
                      <a:r>
                        <a:rPr sz="1950" b="0">
                          <a:solidFill>
                            <a:srgbClr val="17354E"/>
                          </a:solidFill>
                          <a:latin typeface="Aptos"/>
                          <a:ea typeface="Aptos"/>
                          <a:cs typeface="Aptos"/>
                        </a:rPr>
                        <a:t>Multiply the returned result by n</a:t>
                      </a:r>
                    </a:p>
                  </a:txBody>
                  <a:tcPr marL="91440" marR="91440" marT="45720" marB="45720">
                    <a:lnR w="9525">
                      <a:solidFill>
                        <a:srgbClr val="D5E1E7"/>
                      </a:solidFill>
                    </a:lnR>
                    <a:lnB w="9525">
                      <a:solidFill>
                        <a:srgbClr val="D5E1E7"/>
                      </a:solidFill>
                    </a:lnB>
                    <a:solidFill>
                      <a:srgbClr val="FFFFFF"/>
                    </a:solidFill>
                  </a:tcPr>
                </a:tc>
              </a:tr>
              <a:tr h="590550">
                <a:tc>
                  <a:txBody>
                    <a:bodyPr/>
                    <a:lstStyle/>
                    <a:p>
                      <a:r>
                        <a:rPr sz="1950" b="0">
                          <a:solidFill>
                            <a:srgbClr val="17354E"/>
                          </a:solidFill>
                          <a:latin typeface="Aptos"/>
                          <a:ea typeface="Aptos"/>
                          <a:cs typeface="Aptos"/>
                        </a:rPr>
                        <a:t>Binary search</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1950" b="0">
                          <a:solidFill>
                            <a:srgbClr val="17354E"/>
                          </a:solidFill>
                          <a:latin typeface="Aptos"/>
                          <a:ea typeface="Aptos"/>
                          <a:cs typeface="Aptos"/>
                        </a:rPr>
                        <a:t>One half of the interval</a:t>
                      </a:r>
                    </a:p>
                  </a:txBody>
                  <a:tcPr marL="91440" marR="91440" marT="45720" marB="45720">
                    <a:lnR w="9525">
                      <a:solidFill>
                        <a:srgbClr val="D5E1E7"/>
                      </a:solidFill>
                    </a:lnR>
                    <a:lnB w="9525">
                      <a:solidFill>
                        <a:srgbClr val="D5E1E7"/>
                      </a:solidFill>
                    </a:lnB>
                    <a:solidFill>
                      <a:srgbClr val="EFF5F7"/>
                    </a:solidFill>
                  </a:tcPr>
                </a:tc>
                <a:tc>
                  <a:txBody>
                    <a:bodyPr/>
                    <a:lstStyle/>
                    <a:p>
                      <a:r>
                        <a:rPr sz="1950" b="0">
                          <a:solidFill>
                            <a:srgbClr val="17354E"/>
                          </a:solidFill>
                          <a:latin typeface="Aptos"/>
                          <a:ea typeface="Aptos"/>
                          <a:cs typeface="Aptos"/>
                        </a:rPr>
                        <a:t>Compare and select that half</a:t>
                      </a:r>
                    </a:p>
                  </a:txBody>
                  <a:tcPr marL="91440" marR="91440" marT="45720" marB="45720">
                    <a:lnR w="9525">
                      <a:solidFill>
                        <a:srgbClr val="D5E1E7"/>
                      </a:solidFill>
                    </a:lnR>
                    <a:lnB w="9525">
                      <a:solidFill>
                        <a:srgbClr val="D5E1E7"/>
                      </a:solidFill>
                    </a:lnB>
                    <a:solidFill>
                      <a:srgbClr val="EFF5F7"/>
                    </a:solidFill>
                  </a:tcPr>
                </a:tc>
              </a:tr>
              <a:tr h="590550">
                <a:tc>
                  <a:txBody>
                    <a:bodyPr/>
                    <a:lstStyle/>
                    <a:p>
                      <a:r>
                        <a:rPr sz="1950" b="0">
                          <a:solidFill>
                            <a:srgbClr val="17354E"/>
                          </a:solidFill>
                          <a:latin typeface="Aptos"/>
                          <a:ea typeface="Aptos"/>
                          <a:cs typeface="Aptos"/>
                        </a:rPr>
                        <a:t>Hanoi</a:t>
                      </a:r>
                    </a:p>
                  </a:txBody>
                  <a:tcPr marL="91440" marR="91440" marT="45720" marB="45720">
                    <a:lnL w="9525">
                      <a:solidFill>
                        <a:srgbClr val="D5E1E7"/>
                      </a:solidFill>
                    </a:lnL>
                    <a:lnR w="9525">
                      <a:solidFill>
                        <a:srgbClr val="D5E1E7"/>
                      </a:solidFill>
                    </a:lnR>
                    <a:lnB w="9525">
                      <a:solidFill>
                        <a:srgbClr val="D5E1E7"/>
                      </a:solidFill>
                    </a:lnB>
                    <a:solidFill>
                      <a:srgbClr val="FFFFFF"/>
                    </a:solidFill>
                  </a:tcPr>
                </a:tc>
                <a:tc>
                  <a:txBody>
                    <a:bodyPr/>
                    <a:lstStyle/>
                    <a:p>
                      <a:r>
                        <a:rPr sz="1950" b="0">
                          <a:solidFill>
                            <a:srgbClr val="17354E"/>
                          </a:solidFill>
                          <a:latin typeface="Aptos"/>
                          <a:ea typeface="Aptos"/>
                          <a:cs typeface="Aptos"/>
                        </a:rPr>
                        <a:t>Transfer n − 1 disks</a:t>
                      </a:r>
                    </a:p>
                  </a:txBody>
                  <a:tcPr marL="91440" marR="91440" marT="45720" marB="45720">
                    <a:lnR w="9525">
                      <a:solidFill>
                        <a:srgbClr val="D5E1E7"/>
                      </a:solidFill>
                    </a:lnR>
                    <a:lnB w="9525">
                      <a:solidFill>
                        <a:srgbClr val="D5E1E7"/>
                      </a:solidFill>
                    </a:lnB>
                    <a:solidFill>
                      <a:srgbClr val="FFFFFF"/>
                    </a:solidFill>
                  </a:tcPr>
                </a:tc>
                <a:tc>
                  <a:txBody>
                    <a:bodyPr/>
                    <a:lstStyle/>
                    <a:p>
                      <a:r>
                        <a:rPr sz="1950" b="0">
                          <a:solidFill>
                            <a:srgbClr val="17354E"/>
                          </a:solidFill>
                          <a:latin typeface="Aptos"/>
                          <a:ea typeface="Aptos"/>
                          <a:cs typeface="Aptos"/>
                        </a:rPr>
                        <a:t>Move the largest disk between calls</a:t>
                      </a:r>
                    </a:p>
                  </a:txBody>
                  <a:tcPr marL="91440" marR="91440" marT="45720" marB="45720">
                    <a:lnR w="9525">
                      <a:solidFill>
                        <a:srgbClr val="D5E1E7"/>
                      </a:solidFill>
                    </a:lnR>
                    <a:lnB w="9525">
                      <a:solidFill>
                        <a:srgbClr val="D5E1E7"/>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6642146-266A-48CD-A337-1183750ACF6D}"/>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Choose recursion when its structure makes the algorithm easier to reason about.</a:t>
            </a:r>
          </a:p>
        </p:txBody>
      </p:sp>
    </p:spTree>
    <p:extLst>
      <p:ext uri="{BB962C8B-B14F-4D97-AF65-F5344CB8AC3E}">
        <p14:creationId xmlns:p14="http://schemas.microsoft.com/office/powerpoint/2010/main" val="93494974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7676F1F-1896-4323-9BF5-3631C1230E77}"/>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Time and call-stack costs</a:t>
            </a:r>
          </a:p>
        </p:txBody>
      </p:sp>
      <p:sp>
        <p:nvSpPr>
          <p:cNvPr id="2" name="">
            <a:extLst xmlns:a="http://schemas.openxmlformats.org/drawingml/2006/main">
              <a:ext uri="{FF2B5EF4-FFF2-40B4-BE49-F238E27FC236}">
                <a16:creationId xmlns:a16="http://schemas.microsoft.com/office/drawing/2014/main" id="{4DF5091B-1C7D-4CD6-AC8A-8A58D6807433}"/>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Worst-case bounds for the examples in this lecture.</a:t>
            </a:r>
          </a:p>
        </p:txBody>
      </p:sp>
      <p:sp>
        <p:nvSpPr>
          <p:cNvPr id="3" name="">
            <a:extLst xmlns:a="http://schemas.openxmlformats.org/drawingml/2006/main">
              <a:ext uri="{FF2B5EF4-FFF2-40B4-BE49-F238E27FC236}">
                <a16:creationId xmlns:a16="http://schemas.microsoft.com/office/drawing/2014/main" id="{4A99346B-51D2-4573-97E9-8D3A967CD1CC}"/>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24</a:t>
            </a:r>
          </a:p>
        </p:txBody>
      </p:sp>
      <p:graphicFrame>
        <p:nvGraphicFramePr>
          <p:cNvPr id="4" name="">
            <a:extLst xmlns:a="http://schemas.openxmlformats.org/drawingml/2006/main">
              <a:ext uri="{FF2B5EF4-FFF2-40B4-BE49-F238E27FC236}">
                <a16:creationId xmlns:a16="http://schemas.microsoft.com/office/drawing/2014/main" id="{63D59AEE-A0CD-41EC-9A7C-9445516E9615}"/>
              </a:ext>
            </a:extLst>
          </p:cNvPr>
          <p:cNvGraphicFramePr/>
          <p:nvPr/>
        </p:nvGraphicFramePr>
        <p:xfrm>
          <a:off xmlns:a="http://schemas.openxmlformats.org/drawingml/2006/main" x="533400" y="2028825"/>
          <a:ext xmlns:a="http://schemas.openxmlformats.org/drawingml/2006/main" cx="11125200" cy="3257550"/>
        </p:xfrm>
        <a:graphic xmlns:a="http://schemas.openxmlformats.org/drawingml/2006/main">
          <a:graphicData uri="http://schemas.openxmlformats.org/drawingml/2006/table">
            <a:tbl>
              <a:tblPr/>
              <a:tblGrid>
                <a:gridCol w="4762500"/>
                <a:gridCol w="3238500"/>
                <a:gridCol w="3124200"/>
              </a:tblGrid>
              <a:tr h="465364">
                <a:tc>
                  <a:txBody>
                    <a:bodyPr/>
                    <a:lstStyle/>
                    <a:p>
                      <a:r>
                        <a:rPr sz="1875" b="1">
                          <a:solidFill>
                            <a:srgbClr val="FFFFFF"/>
                          </a:solidFill>
                          <a:latin typeface="Aptos"/>
                          <a:ea typeface="Aptos"/>
                          <a:cs typeface="Aptos"/>
                        </a:rPr>
                        <a:t>Algorithm</a:t>
                      </a:r>
                    </a:p>
                  </a:txBody>
                  <a:tcPr marL="91440" marR="91440" marT="45720" marB="45720">
                    <a:lnL w="9525">
                      <a:solidFill>
                        <a:srgbClr val="D5E1E7"/>
                      </a:solidFill>
                    </a:lnL>
                    <a:lnR w="9525">
                      <a:solidFill>
                        <a:srgbClr val="D5E1E7"/>
                      </a:solidFill>
                    </a:lnR>
                    <a:lnT w="9525">
                      <a:solidFill>
                        <a:srgbClr val="D5E1E7"/>
                      </a:solidFill>
                    </a:lnT>
                    <a:lnB w="9525">
                      <a:solidFill>
                        <a:srgbClr val="D5E1E7"/>
                      </a:solidFill>
                    </a:lnB>
                    <a:solidFill>
                      <a:srgbClr val="17354E"/>
                    </a:solidFill>
                  </a:tcPr>
                </a:tc>
                <a:tc>
                  <a:txBody>
                    <a:bodyPr/>
                    <a:lstStyle/>
                    <a:p>
                      <a:r>
                        <a:rPr sz="1875" b="1">
                          <a:solidFill>
                            <a:srgbClr val="FFFFFF"/>
                          </a:solidFill>
                          <a:latin typeface="Aptos"/>
                          <a:ea typeface="Aptos"/>
                          <a:cs typeface="Aptos"/>
                        </a:rPr>
                        <a:t>Time</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c>
                  <a:txBody>
                    <a:bodyPr/>
                    <a:lstStyle/>
                    <a:p>
                      <a:r>
                        <a:rPr sz="1875" b="1">
                          <a:solidFill>
                            <a:srgbClr val="FFFFFF"/>
                          </a:solidFill>
                          <a:latin typeface="Aptos"/>
                          <a:ea typeface="Aptos"/>
                          <a:cs typeface="Aptos"/>
                        </a:rPr>
                        <a:t>Call-stack space</a:t>
                      </a:r>
                    </a:p>
                  </a:txBody>
                  <a:tcPr marL="91440" marR="91440" marT="45720" marB="45720">
                    <a:lnR w="9525">
                      <a:solidFill>
                        <a:srgbClr val="D5E1E7"/>
                      </a:solidFill>
                    </a:lnR>
                    <a:lnT w="9525">
                      <a:solidFill>
                        <a:srgbClr val="D5E1E7"/>
                      </a:solidFill>
                    </a:lnT>
                    <a:lnB w="9525">
                      <a:solidFill>
                        <a:srgbClr val="D5E1E7"/>
                      </a:solidFill>
                    </a:lnB>
                    <a:solidFill>
                      <a:srgbClr val="17354E"/>
                    </a:solidFill>
                  </a:tcPr>
                </a:tc>
              </a:tr>
              <a:tr h="465364">
                <a:tc>
                  <a:txBody>
                    <a:bodyPr/>
                    <a:lstStyle/>
                    <a:p>
                      <a:r>
                        <a:rPr sz="1875" b="0">
                          <a:solidFill>
                            <a:srgbClr val="17354E"/>
                          </a:solidFill>
                          <a:latin typeface="Aptos"/>
                          <a:ea typeface="Aptos"/>
                          <a:cs typeface="Aptos"/>
                        </a:rPr>
                        <a:t>Countdown / factorial</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1875" b="0">
                          <a:solidFill>
                            <a:srgbClr val="17354E"/>
                          </a:solidFill>
                          <a:latin typeface="Aptos"/>
                          <a:ea typeface="Aptos"/>
                          <a:cs typeface="Aptos"/>
                        </a:rPr>
                        <a:t>O(n)</a:t>
                      </a:r>
                    </a:p>
                  </a:txBody>
                  <a:tcPr marL="91440" marR="91440" marT="45720" marB="45720">
                    <a:lnR w="9525">
                      <a:solidFill>
                        <a:srgbClr val="D5E1E7"/>
                      </a:solidFill>
                    </a:lnR>
                    <a:lnB w="9525">
                      <a:solidFill>
                        <a:srgbClr val="D5E1E7"/>
                      </a:solidFill>
                    </a:lnB>
                    <a:solidFill>
                      <a:srgbClr val="EFF5F7"/>
                    </a:solidFill>
                  </a:tcPr>
                </a:tc>
                <a:tc>
                  <a:txBody>
                    <a:bodyPr/>
                    <a:lstStyle/>
                    <a:p>
                      <a:r>
                        <a:rPr sz="1875" b="0">
                          <a:solidFill>
                            <a:srgbClr val="17354E"/>
                          </a:solidFill>
                          <a:latin typeface="Aptos"/>
                          <a:ea typeface="Aptos"/>
                          <a:cs typeface="Aptos"/>
                        </a:rPr>
                        <a:t>O(n)</a:t>
                      </a:r>
                    </a:p>
                  </a:txBody>
                  <a:tcPr marL="91440" marR="91440" marT="45720" marB="45720">
                    <a:lnR w="9525">
                      <a:solidFill>
                        <a:srgbClr val="D5E1E7"/>
                      </a:solidFill>
                    </a:lnR>
                    <a:lnB w="9525">
                      <a:solidFill>
                        <a:srgbClr val="D5E1E7"/>
                      </a:solidFill>
                    </a:lnB>
                    <a:solidFill>
                      <a:srgbClr val="EFF5F7"/>
                    </a:solidFill>
                  </a:tcPr>
                </a:tc>
              </a:tr>
              <a:tr h="465364">
                <a:tc>
                  <a:txBody>
                    <a:bodyPr/>
                    <a:lstStyle/>
                    <a:p>
                      <a:r>
                        <a:rPr sz="1875" b="0">
                          <a:solidFill>
                            <a:srgbClr val="17354E"/>
                          </a:solidFill>
                          <a:latin typeface="Aptos"/>
                          <a:ea typeface="Aptos"/>
                          <a:cs typeface="Aptos"/>
                        </a:rPr>
                        <a:t>String reversal / palindrome</a:t>
                      </a:r>
                    </a:p>
                  </a:txBody>
                  <a:tcPr marL="91440" marR="91440" marT="45720" marB="45720">
                    <a:lnL w="9525">
                      <a:solidFill>
                        <a:srgbClr val="D5E1E7"/>
                      </a:solidFill>
                    </a:lnL>
                    <a:lnR w="9525">
                      <a:solidFill>
                        <a:srgbClr val="D5E1E7"/>
                      </a:solidFill>
                    </a:lnR>
                    <a:lnB w="9525">
                      <a:solidFill>
                        <a:srgbClr val="D5E1E7"/>
                      </a:solidFill>
                    </a:lnB>
                    <a:solidFill>
                      <a:srgbClr val="FFFFFF"/>
                    </a:solidFill>
                  </a:tcPr>
                </a:tc>
                <a:tc>
                  <a:txBody>
                    <a:bodyPr/>
                    <a:lstStyle/>
                    <a:p>
                      <a:r>
                        <a:rPr sz="1875" b="0">
                          <a:solidFill>
                            <a:srgbClr val="17354E"/>
                          </a:solidFill>
                          <a:latin typeface="Aptos"/>
                          <a:ea typeface="Aptos"/>
                          <a:cs typeface="Aptos"/>
                        </a:rPr>
                        <a:t>O(n)</a:t>
                      </a:r>
                    </a:p>
                  </a:txBody>
                  <a:tcPr marL="91440" marR="91440" marT="45720" marB="45720">
                    <a:lnR w="9525">
                      <a:solidFill>
                        <a:srgbClr val="D5E1E7"/>
                      </a:solidFill>
                    </a:lnR>
                    <a:lnB w="9525">
                      <a:solidFill>
                        <a:srgbClr val="D5E1E7"/>
                      </a:solidFill>
                    </a:lnB>
                    <a:solidFill>
                      <a:srgbClr val="FFFFFF"/>
                    </a:solidFill>
                  </a:tcPr>
                </a:tc>
                <a:tc>
                  <a:txBody>
                    <a:bodyPr/>
                    <a:lstStyle/>
                    <a:p>
                      <a:r>
                        <a:rPr sz="1875" b="0">
                          <a:solidFill>
                            <a:srgbClr val="17354E"/>
                          </a:solidFill>
                          <a:latin typeface="Aptos"/>
                          <a:ea typeface="Aptos"/>
                          <a:cs typeface="Aptos"/>
                        </a:rPr>
                        <a:t>O(n)</a:t>
                      </a:r>
                    </a:p>
                  </a:txBody>
                  <a:tcPr marL="91440" marR="91440" marT="45720" marB="45720">
                    <a:lnR w="9525">
                      <a:solidFill>
                        <a:srgbClr val="D5E1E7"/>
                      </a:solidFill>
                    </a:lnR>
                    <a:lnB w="9525">
                      <a:solidFill>
                        <a:srgbClr val="D5E1E7"/>
                      </a:solidFill>
                    </a:lnB>
                    <a:solidFill>
                      <a:srgbClr val="FFFFFF"/>
                    </a:solidFill>
                  </a:tcPr>
                </a:tc>
              </a:tr>
              <a:tr h="465364">
                <a:tc>
                  <a:txBody>
                    <a:bodyPr/>
                    <a:lstStyle/>
                    <a:p>
                      <a:r>
                        <a:rPr sz="1875" b="0">
                          <a:solidFill>
                            <a:srgbClr val="17354E"/>
                          </a:solidFill>
                          <a:latin typeface="Aptos"/>
                          <a:ea typeface="Aptos"/>
                          <a:cs typeface="Aptos"/>
                        </a:rPr>
                        <a:t>Binary search</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1875" b="0">
                          <a:solidFill>
                            <a:srgbClr val="17354E"/>
                          </a:solidFill>
                          <a:latin typeface="Aptos"/>
                          <a:ea typeface="Aptos"/>
                          <a:cs typeface="Aptos"/>
                        </a:rPr>
                        <a:t>O(log n)</a:t>
                      </a:r>
                    </a:p>
                  </a:txBody>
                  <a:tcPr marL="91440" marR="91440" marT="45720" marB="45720">
                    <a:lnR w="9525">
                      <a:solidFill>
                        <a:srgbClr val="D5E1E7"/>
                      </a:solidFill>
                    </a:lnR>
                    <a:lnB w="9525">
                      <a:solidFill>
                        <a:srgbClr val="D5E1E7"/>
                      </a:solidFill>
                    </a:lnB>
                    <a:solidFill>
                      <a:srgbClr val="EFF5F7"/>
                    </a:solidFill>
                  </a:tcPr>
                </a:tc>
                <a:tc>
                  <a:txBody>
                    <a:bodyPr/>
                    <a:lstStyle/>
                    <a:p>
                      <a:r>
                        <a:rPr sz="1875" b="0">
                          <a:solidFill>
                            <a:srgbClr val="17354E"/>
                          </a:solidFill>
                          <a:latin typeface="Aptos"/>
                          <a:ea typeface="Aptos"/>
                          <a:cs typeface="Aptos"/>
                        </a:rPr>
                        <a:t>O(log n)</a:t>
                      </a:r>
                    </a:p>
                  </a:txBody>
                  <a:tcPr marL="91440" marR="91440" marT="45720" marB="45720">
                    <a:lnR w="9525">
                      <a:solidFill>
                        <a:srgbClr val="D5E1E7"/>
                      </a:solidFill>
                    </a:lnR>
                    <a:lnB w="9525">
                      <a:solidFill>
                        <a:srgbClr val="D5E1E7"/>
                      </a:solidFill>
                    </a:lnB>
                    <a:solidFill>
                      <a:srgbClr val="EFF5F7"/>
                    </a:solidFill>
                  </a:tcPr>
                </a:tc>
              </a:tr>
              <a:tr h="465364">
                <a:tc>
                  <a:txBody>
                    <a:bodyPr/>
                    <a:lstStyle/>
                    <a:p>
                      <a:r>
                        <a:rPr sz="1875" b="0">
                          <a:solidFill>
                            <a:srgbClr val="17354E"/>
                          </a:solidFill>
                          <a:latin typeface="Aptos"/>
                          <a:ea typeface="Aptos"/>
                          <a:cs typeface="Aptos"/>
                        </a:rPr>
                        <a:t>Naive Fibonacci</a:t>
                      </a:r>
                    </a:p>
                  </a:txBody>
                  <a:tcPr marL="91440" marR="91440" marT="45720" marB="45720">
                    <a:lnL w="9525">
                      <a:solidFill>
                        <a:srgbClr val="D5E1E7"/>
                      </a:solidFill>
                    </a:lnL>
                    <a:lnR w="9525">
                      <a:solidFill>
                        <a:srgbClr val="D5E1E7"/>
                      </a:solidFill>
                    </a:lnR>
                    <a:lnB w="9525">
                      <a:solidFill>
                        <a:srgbClr val="D5E1E7"/>
                      </a:solidFill>
                    </a:lnB>
                    <a:solidFill>
                      <a:srgbClr val="FFFFFF"/>
                    </a:solidFill>
                  </a:tcPr>
                </a:tc>
                <a:tc>
                  <a:txBody>
                    <a:bodyPr/>
                    <a:lstStyle/>
                    <a:p>
                      <a:r>
                        <a:rPr sz="1875" b="0">
                          <a:solidFill>
                            <a:srgbClr val="17354E"/>
                          </a:solidFill>
                          <a:latin typeface="Aptos"/>
                          <a:ea typeface="Aptos"/>
                          <a:cs typeface="Aptos"/>
                        </a:rPr>
                        <a:t>O(2ⁿ), upper bound</a:t>
                      </a:r>
                    </a:p>
                  </a:txBody>
                  <a:tcPr marL="91440" marR="91440" marT="45720" marB="45720">
                    <a:lnR w="9525">
                      <a:solidFill>
                        <a:srgbClr val="D5E1E7"/>
                      </a:solidFill>
                    </a:lnR>
                    <a:lnB w="9525">
                      <a:solidFill>
                        <a:srgbClr val="D5E1E7"/>
                      </a:solidFill>
                    </a:lnB>
                    <a:solidFill>
                      <a:srgbClr val="FFFFFF"/>
                    </a:solidFill>
                  </a:tcPr>
                </a:tc>
                <a:tc>
                  <a:txBody>
                    <a:bodyPr/>
                    <a:lstStyle/>
                    <a:p>
                      <a:r>
                        <a:rPr sz="1875" b="0">
                          <a:solidFill>
                            <a:srgbClr val="17354E"/>
                          </a:solidFill>
                          <a:latin typeface="Aptos"/>
                          <a:ea typeface="Aptos"/>
                          <a:cs typeface="Aptos"/>
                        </a:rPr>
                        <a:t>O(n)</a:t>
                      </a:r>
                    </a:p>
                  </a:txBody>
                  <a:tcPr marL="91440" marR="91440" marT="45720" marB="45720">
                    <a:lnR w="9525">
                      <a:solidFill>
                        <a:srgbClr val="D5E1E7"/>
                      </a:solidFill>
                    </a:lnR>
                    <a:lnB w="9525">
                      <a:solidFill>
                        <a:srgbClr val="D5E1E7"/>
                      </a:solidFill>
                    </a:lnB>
                    <a:solidFill>
                      <a:srgbClr val="FFFFFF"/>
                    </a:solidFill>
                  </a:tcPr>
                </a:tc>
              </a:tr>
              <a:tr h="465364">
                <a:tc>
                  <a:txBody>
                    <a:bodyPr/>
                    <a:lstStyle/>
                    <a:p>
                      <a:r>
                        <a:rPr sz="1875" b="0">
                          <a:solidFill>
                            <a:srgbClr val="17354E"/>
                          </a:solidFill>
                          <a:latin typeface="Aptos"/>
                          <a:ea typeface="Aptos"/>
                          <a:cs typeface="Aptos"/>
                        </a:rPr>
                        <a:t>Hanoi</a:t>
                      </a:r>
                    </a:p>
                  </a:txBody>
                  <a:tcPr marL="91440" marR="91440" marT="45720" marB="45720">
                    <a:lnL w="9525">
                      <a:solidFill>
                        <a:srgbClr val="D5E1E7"/>
                      </a:solidFill>
                    </a:lnL>
                    <a:lnR w="9525">
                      <a:solidFill>
                        <a:srgbClr val="D5E1E7"/>
                      </a:solidFill>
                    </a:lnR>
                    <a:lnB w="9525">
                      <a:solidFill>
                        <a:srgbClr val="D5E1E7"/>
                      </a:solidFill>
                    </a:lnB>
                    <a:solidFill>
                      <a:srgbClr val="EFF5F7"/>
                    </a:solidFill>
                  </a:tcPr>
                </a:tc>
                <a:tc>
                  <a:txBody>
                    <a:bodyPr/>
                    <a:lstStyle/>
                    <a:p>
                      <a:r>
                        <a:rPr sz="1875" b="0">
                          <a:solidFill>
                            <a:srgbClr val="17354E"/>
                          </a:solidFill>
                          <a:latin typeface="Aptos"/>
                          <a:ea typeface="Aptos"/>
                          <a:cs typeface="Aptos"/>
                        </a:rPr>
                        <a:t>O(2ⁿ)</a:t>
                      </a:r>
                    </a:p>
                  </a:txBody>
                  <a:tcPr marL="91440" marR="91440" marT="45720" marB="45720">
                    <a:lnR w="9525">
                      <a:solidFill>
                        <a:srgbClr val="D5E1E7"/>
                      </a:solidFill>
                    </a:lnR>
                    <a:lnB w="9525">
                      <a:solidFill>
                        <a:srgbClr val="D5E1E7"/>
                      </a:solidFill>
                    </a:lnB>
                    <a:solidFill>
                      <a:srgbClr val="EFF5F7"/>
                    </a:solidFill>
                  </a:tcPr>
                </a:tc>
                <a:tc>
                  <a:txBody>
                    <a:bodyPr/>
                    <a:lstStyle/>
                    <a:p>
                      <a:r>
                        <a:rPr sz="1875" b="0">
                          <a:solidFill>
                            <a:srgbClr val="17354E"/>
                          </a:solidFill>
                          <a:latin typeface="Aptos"/>
                          <a:ea typeface="Aptos"/>
                          <a:cs typeface="Aptos"/>
                        </a:rPr>
                        <a:t>O(n)</a:t>
                      </a:r>
                    </a:p>
                  </a:txBody>
                  <a:tcPr marL="91440" marR="91440" marT="45720" marB="45720">
                    <a:lnR w="9525">
                      <a:solidFill>
                        <a:srgbClr val="D5E1E7"/>
                      </a:solidFill>
                    </a:lnR>
                    <a:lnB w="9525">
                      <a:solidFill>
                        <a:srgbClr val="D5E1E7"/>
                      </a:solidFill>
                    </a:lnB>
                    <a:solidFill>
                      <a:srgbClr val="EFF5F7"/>
                    </a:solidFill>
                  </a:tcPr>
                </a:tc>
              </a:tr>
              <a:tr h="465364">
                <a:tc>
                  <a:txBody>
                    <a:bodyPr/>
                    <a:lstStyle/>
                    <a:p>
                      <a:r>
                        <a:rPr sz="1875" b="0">
                          <a:solidFill>
                            <a:srgbClr val="17354E"/>
                          </a:solidFill>
                          <a:latin typeface="Aptos"/>
                          <a:ea typeface="Aptos"/>
                          <a:cs typeface="Aptos"/>
                        </a:rPr>
                        <a:t>Recursive Euclid (a, b &gt; 0)</a:t>
                      </a:r>
                    </a:p>
                  </a:txBody>
                  <a:tcPr marL="91440" marR="91440" marT="45720" marB="45720">
                    <a:lnL w="9525">
                      <a:solidFill>
                        <a:srgbClr val="D5E1E7"/>
                      </a:solidFill>
                    </a:lnL>
                    <a:lnR w="9525">
                      <a:solidFill>
                        <a:srgbClr val="D5E1E7"/>
                      </a:solidFill>
                    </a:lnR>
                    <a:lnB w="9525">
                      <a:solidFill>
                        <a:srgbClr val="D5E1E7"/>
                      </a:solidFill>
                    </a:lnB>
                    <a:solidFill>
                      <a:srgbClr val="FFFFFF"/>
                    </a:solidFill>
                  </a:tcPr>
                </a:tc>
                <a:tc>
                  <a:txBody>
                    <a:bodyPr/>
                    <a:lstStyle/>
                    <a:p>
                      <a:r>
                        <a:rPr sz="1875" b="0">
                          <a:solidFill>
                            <a:srgbClr val="17354E"/>
                          </a:solidFill>
                          <a:latin typeface="Aptos"/>
                          <a:ea typeface="Aptos"/>
                          <a:cs typeface="Aptos"/>
                        </a:rPr>
                        <a:t>O(log min(a, b))</a:t>
                      </a:r>
                    </a:p>
                  </a:txBody>
                  <a:tcPr marL="91440" marR="91440" marT="45720" marB="45720">
                    <a:lnR w="9525">
                      <a:solidFill>
                        <a:srgbClr val="D5E1E7"/>
                      </a:solidFill>
                    </a:lnR>
                    <a:lnB w="9525">
                      <a:solidFill>
                        <a:srgbClr val="D5E1E7"/>
                      </a:solidFill>
                    </a:lnB>
                    <a:solidFill>
                      <a:srgbClr val="FFFFFF"/>
                    </a:solidFill>
                  </a:tcPr>
                </a:tc>
                <a:tc>
                  <a:txBody>
                    <a:bodyPr/>
                    <a:lstStyle/>
                    <a:p>
                      <a:r>
                        <a:rPr sz="1875" b="0">
                          <a:solidFill>
                            <a:srgbClr val="17354E"/>
                          </a:solidFill>
                          <a:latin typeface="Aptos"/>
                          <a:ea typeface="Aptos"/>
                          <a:cs typeface="Aptos"/>
                        </a:rPr>
                        <a:t>O(log min(a, b))</a:t>
                      </a:r>
                    </a:p>
                  </a:txBody>
                  <a:tcPr marL="91440" marR="91440" marT="45720" marB="45720">
                    <a:lnR w="9525">
                      <a:solidFill>
                        <a:srgbClr val="D5E1E7"/>
                      </a:solidFill>
                    </a:lnR>
                    <a:lnB w="9525">
                      <a:solidFill>
                        <a:srgbClr val="D5E1E7"/>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3B8E7E9-E357-434A-879C-8FB7D542B230}"/>
              </a:ext>
            </a:extLst>
          </p:cNvPr>
          <p:cNvSpPr>
            <a:spLocks xmlns:a="http://schemas.openxmlformats.org/drawingml/2006/main" noGrp="1"/>
          </p:cNvSpPr>
          <p:nvPr/>
        </p:nvSpPr>
        <p:spPr>
          <a:xfrm xmlns:a="http://schemas.openxmlformats.org/drawingml/2006/main">
            <a:off x="533400" y="54673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87F8C"/>
                </a:solidFill>
                <a:latin typeface="Aptos"/>
                <a:ea typeface="Aptos"/>
                <a:cs typeface="Aptos"/>
              </a:defRPr>
            </a:defPPr>
            <a:lvl1pPr>
              <a:buNone/>
              <a:defRPr sz="2025" b="1">
                <a:solidFill>
                  <a:srgbClr val="087F8C"/>
                </a:solidFill>
                <a:latin typeface="Aptos"/>
                <a:ea typeface="Aptos"/>
                <a:cs typeface="Aptos"/>
              </a:defRPr>
            </a:lvl1pPr>
            <a:lvl2pPr>
              <a:buNone/>
              <a:defRPr sz="2025" b="1">
                <a:solidFill>
                  <a:srgbClr val="087F8C"/>
                </a:solidFill>
                <a:latin typeface="Aptos"/>
                <a:ea typeface="Aptos"/>
                <a:cs typeface="Aptos"/>
              </a:defRPr>
            </a:lvl2pPr>
            <a:lvl3pPr>
              <a:buNone/>
              <a:defRPr sz="2025" b="1">
                <a:solidFill>
                  <a:srgbClr val="087F8C"/>
                </a:solidFill>
                <a:latin typeface="Aptos"/>
                <a:ea typeface="Aptos"/>
                <a:cs typeface="Aptos"/>
              </a:defRPr>
            </a:lvl3pPr>
            <a:lvl4pPr>
              <a:buNone/>
              <a:defRPr sz="2025" b="1">
                <a:solidFill>
                  <a:srgbClr val="087F8C"/>
                </a:solidFill>
                <a:latin typeface="Aptos"/>
                <a:ea typeface="Aptos"/>
                <a:cs typeface="Aptos"/>
              </a:defRPr>
            </a:lvl4pPr>
            <a:lvl5pPr>
              <a:buNone/>
              <a:defRPr sz="2025" b="1">
                <a:solidFill>
                  <a:srgbClr val="087F8C"/>
                </a:solidFill>
                <a:latin typeface="Aptos"/>
                <a:ea typeface="Aptos"/>
                <a:cs typeface="Aptos"/>
              </a:defRPr>
            </a:lvl5pPr>
            <a:lvl6pPr>
              <a:buNone/>
              <a:defRPr sz="2025" b="1">
                <a:solidFill>
                  <a:srgbClr val="087F8C"/>
                </a:solidFill>
                <a:latin typeface="Aptos"/>
                <a:ea typeface="Aptos"/>
                <a:cs typeface="Aptos"/>
              </a:defRPr>
            </a:lvl6pPr>
            <a:lvl7pPr>
              <a:buNone/>
              <a:defRPr sz="2025" b="1">
                <a:solidFill>
                  <a:srgbClr val="087F8C"/>
                </a:solidFill>
                <a:latin typeface="Aptos"/>
                <a:ea typeface="Aptos"/>
                <a:cs typeface="Aptos"/>
              </a:defRPr>
            </a:lvl7pPr>
            <a:lvl8pPr>
              <a:buNone/>
              <a:defRPr sz="2025" b="1">
                <a:solidFill>
                  <a:srgbClr val="087F8C"/>
                </a:solidFill>
                <a:latin typeface="Aptos"/>
                <a:ea typeface="Aptos"/>
                <a:cs typeface="Aptos"/>
              </a:defRPr>
            </a:lvl8pPr>
            <a:lvl9pPr>
              <a:buNone/>
              <a:defRPr sz="2025" b="1">
                <a:solidFill>
                  <a:srgbClr val="087F8C"/>
                </a:solidFill>
                <a:latin typeface="Aptos"/>
                <a:ea typeface="Aptos"/>
                <a:cs typeface="Aptos"/>
              </a:defRPr>
            </a:lvl9pPr>
          </a:lstStyle>
          <a:p xmlns:a="http://schemas.openxmlformats.org/drawingml/2006/main">
            <a:pPr>
              <a:buNone/>
              <a:defRPr sz="2025" b="1">
                <a:solidFill>
                  <a:srgbClr val="087F8C"/>
                </a:solidFill>
                <a:latin typeface="Aptos"/>
                <a:ea typeface="Aptos"/>
                <a:cs typeface="Aptos"/>
              </a:defRPr>
            </a:pPr>
            <a:r>
              <a:rPr sz="2025" b="1">
                <a:solidFill>
                  <a:srgbClr val="087F8C"/>
                </a:solidFill>
                <a:latin typeface="Aptos"/>
                <a:ea typeface="Aptos"/>
                <a:cs typeface="Aptos"/>
              </a:rPr>
              <a:t>Deep recursion can exhaust the stack. Repeated subproblems can waste time.</a:t>
            </a:r>
          </a:p>
        </p:txBody>
      </p:sp>
    </p:spTree>
    <p:extLst>
      <p:ext uri="{BB962C8B-B14F-4D97-AF65-F5344CB8AC3E}">
        <p14:creationId xmlns:p14="http://schemas.microsoft.com/office/powerpoint/2010/main" val="133120704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A99AF52-65B0-443E-9DC9-EE36E69298B6}"/>
              </a:ext>
            </a:extLst>
          </p:cNvPr>
          <p:cNvSpPr>
            <a:spLocks xmlns:a="http://schemas.openxmlformats.org/drawingml/2006/main" noGrp="1"/>
          </p:cNvSpPr>
          <p:nvPr/>
        </p:nvSpPr>
        <p:spPr>
          <a:xfrm xmlns:a="http://schemas.openxmlformats.org/drawingml/2006/main">
            <a:off x="533400" y="323850"/>
            <a:ext cx="1112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54E"/>
                </a:solidFill>
                <a:latin typeface="Aptos"/>
                <a:ea typeface="Aptos"/>
                <a:cs typeface="Aptos"/>
              </a:defRPr>
            </a:defPPr>
            <a:lvl1pPr>
              <a:buNone/>
              <a:defRPr sz="3300" b="1">
                <a:solidFill>
                  <a:srgbClr val="17354E"/>
                </a:solidFill>
                <a:latin typeface="Aptos"/>
                <a:ea typeface="Aptos"/>
                <a:cs typeface="Aptos"/>
              </a:defRPr>
            </a:lvl1pPr>
            <a:lvl2pPr>
              <a:buNone/>
              <a:defRPr sz="3300" b="1">
                <a:solidFill>
                  <a:srgbClr val="17354E"/>
                </a:solidFill>
                <a:latin typeface="Aptos"/>
                <a:ea typeface="Aptos"/>
                <a:cs typeface="Aptos"/>
              </a:defRPr>
            </a:lvl2pPr>
            <a:lvl3pPr>
              <a:buNone/>
              <a:defRPr sz="3300" b="1">
                <a:solidFill>
                  <a:srgbClr val="17354E"/>
                </a:solidFill>
                <a:latin typeface="Aptos"/>
                <a:ea typeface="Aptos"/>
                <a:cs typeface="Aptos"/>
              </a:defRPr>
            </a:lvl3pPr>
            <a:lvl4pPr>
              <a:buNone/>
              <a:defRPr sz="3300" b="1">
                <a:solidFill>
                  <a:srgbClr val="17354E"/>
                </a:solidFill>
                <a:latin typeface="Aptos"/>
                <a:ea typeface="Aptos"/>
                <a:cs typeface="Aptos"/>
              </a:defRPr>
            </a:lvl4pPr>
            <a:lvl5pPr>
              <a:buNone/>
              <a:defRPr sz="3300" b="1">
                <a:solidFill>
                  <a:srgbClr val="17354E"/>
                </a:solidFill>
                <a:latin typeface="Aptos"/>
                <a:ea typeface="Aptos"/>
                <a:cs typeface="Aptos"/>
              </a:defRPr>
            </a:lvl5pPr>
            <a:lvl6pPr>
              <a:buNone/>
              <a:defRPr sz="3300" b="1">
                <a:solidFill>
                  <a:srgbClr val="17354E"/>
                </a:solidFill>
                <a:latin typeface="Aptos"/>
                <a:ea typeface="Aptos"/>
                <a:cs typeface="Aptos"/>
              </a:defRPr>
            </a:lvl6pPr>
            <a:lvl7pPr>
              <a:buNone/>
              <a:defRPr sz="3300" b="1">
                <a:solidFill>
                  <a:srgbClr val="17354E"/>
                </a:solidFill>
                <a:latin typeface="Aptos"/>
                <a:ea typeface="Aptos"/>
                <a:cs typeface="Aptos"/>
              </a:defRPr>
            </a:lvl7pPr>
            <a:lvl8pPr>
              <a:buNone/>
              <a:defRPr sz="3300" b="1">
                <a:solidFill>
                  <a:srgbClr val="17354E"/>
                </a:solidFill>
                <a:latin typeface="Aptos"/>
                <a:ea typeface="Aptos"/>
                <a:cs typeface="Aptos"/>
              </a:defRPr>
            </a:lvl8pPr>
            <a:lvl9pPr>
              <a:buNone/>
              <a:defRPr sz="3300" b="1">
                <a:solidFill>
                  <a:srgbClr val="17354E"/>
                </a:solidFill>
                <a:latin typeface="Aptos"/>
                <a:ea typeface="Aptos"/>
                <a:cs typeface="Aptos"/>
              </a:defRPr>
            </a:lvl9pPr>
          </a:lstStyle>
          <a:p xmlns:a="http://schemas.openxmlformats.org/drawingml/2006/main">
            <a:pPr>
              <a:buNone/>
              <a:defRPr sz="3300" b="1">
                <a:solidFill>
                  <a:srgbClr val="17354E"/>
                </a:solidFill>
                <a:latin typeface="Aptos"/>
                <a:ea typeface="Aptos"/>
                <a:cs typeface="Aptos"/>
              </a:defRPr>
            </a:pPr>
            <a:r>
              <a:rPr sz="3300" b="1">
                <a:solidFill>
                  <a:srgbClr val="17354E"/>
                </a:solidFill>
                <a:latin typeface="Aptos"/>
                <a:ea typeface="Aptos"/>
                <a:cs typeface="Aptos"/>
              </a:rPr>
              <a:t>A checklist for correct recursion</a:t>
            </a:r>
          </a:p>
        </p:txBody>
      </p:sp>
      <p:sp>
        <p:nvSpPr>
          <p:cNvPr id="2" name="">
            <a:extLst xmlns:a="http://schemas.openxmlformats.org/drawingml/2006/main">
              <a:ext uri="{FF2B5EF4-FFF2-40B4-BE49-F238E27FC236}">
                <a16:creationId xmlns:a16="http://schemas.microsoft.com/office/drawing/2014/main" id="{77C34B74-AED3-41E4-9BC7-B91FD972735F}"/>
              </a:ext>
            </a:extLst>
          </p:cNvPr>
          <p:cNvSpPr>
            <a:spLocks xmlns:a="http://schemas.openxmlformats.org/drawingml/2006/main" noGrp="1"/>
          </p:cNvSpPr>
          <p:nvPr/>
        </p:nvSpPr>
        <p:spPr>
          <a:xfrm xmlns:a="http://schemas.openxmlformats.org/drawingml/2006/main">
            <a:off x="533400" y="13049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D6172"/>
                </a:solidFill>
                <a:latin typeface="Aptos"/>
                <a:ea typeface="Aptos"/>
                <a:cs typeface="Aptos"/>
              </a:defRPr>
            </a:defPPr>
            <a:lvl1pPr>
              <a:buNone/>
              <a:defRPr sz="2025" b="0">
                <a:solidFill>
                  <a:srgbClr val="4D6172"/>
                </a:solidFill>
                <a:latin typeface="Aptos"/>
                <a:ea typeface="Aptos"/>
                <a:cs typeface="Aptos"/>
              </a:defRPr>
            </a:lvl1pPr>
            <a:lvl2pPr>
              <a:buNone/>
              <a:defRPr sz="2025" b="0">
                <a:solidFill>
                  <a:srgbClr val="4D6172"/>
                </a:solidFill>
                <a:latin typeface="Aptos"/>
                <a:ea typeface="Aptos"/>
                <a:cs typeface="Aptos"/>
              </a:defRPr>
            </a:lvl2pPr>
            <a:lvl3pPr>
              <a:buNone/>
              <a:defRPr sz="2025" b="0">
                <a:solidFill>
                  <a:srgbClr val="4D6172"/>
                </a:solidFill>
                <a:latin typeface="Aptos"/>
                <a:ea typeface="Aptos"/>
                <a:cs typeface="Aptos"/>
              </a:defRPr>
            </a:lvl3pPr>
            <a:lvl4pPr>
              <a:buNone/>
              <a:defRPr sz="2025" b="0">
                <a:solidFill>
                  <a:srgbClr val="4D6172"/>
                </a:solidFill>
                <a:latin typeface="Aptos"/>
                <a:ea typeface="Aptos"/>
                <a:cs typeface="Aptos"/>
              </a:defRPr>
            </a:lvl4pPr>
            <a:lvl5pPr>
              <a:buNone/>
              <a:defRPr sz="2025" b="0">
                <a:solidFill>
                  <a:srgbClr val="4D6172"/>
                </a:solidFill>
                <a:latin typeface="Aptos"/>
                <a:ea typeface="Aptos"/>
                <a:cs typeface="Aptos"/>
              </a:defRPr>
            </a:lvl5pPr>
            <a:lvl6pPr>
              <a:buNone/>
              <a:defRPr sz="2025" b="0">
                <a:solidFill>
                  <a:srgbClr val="4D6172"/>
                </a:solidFill>
                <a:latin typeface="Aptos"/>
                <a:ea typeface="Aptos"/>
                <a:cs typeface="Aptos"/>
              </a:defRPr>
            </a:lvl6pPr>
            <a:lvl7pPr>
              <a:buNone/>
              <a:defRPr sz="2025" b="0">
                <a:solidFill>
                  <a:srgbClr val="4D6172"/>
                </a:solidFill>
                <a:latin typeface="Aptos"/>
                <a:ea typeface="Aptos"/>
                <a:cs typeface="Aptos"/>
              </a:defRPr>
            </a:lvl7pPr>
            <a:lvl8pPr>
              <a:buNone/>
              <a:defRPr sz="2025" b="0">
                <a:solidFill>
                  <a:srgbClr val="4D6172"/>
                </a:solidFill>
                <a:latin typeface="Aptos"/>
                <a:ea typeface="Aptos"/>
                <a:cs typeface="Aptos"/>
              </a:defRPr>
            </a:lvl8pPr>
            <a:lvl9pPr>
              <a:buNone/>
              <a:defRPr sz="2025" b="0">
                <a:solidFill>
                  <a:srgbClr val="4D6172"/>
                </a:solidFill>
                <a:latin typeface="Aptos"/>
                <a:ea typeface="Aptos"/>
                <a:cs typeface="Aptos"/>
              </a:defRPr>
            </a:lvl9pPr>
          </a:lstStyle>
          <a:p xmlns:a="http://schemas.openxmlformats.org/drawingml/2006/main">
            <a:pPr>
              <a:buNone/>
              <a:defRPr sz="2025" b="0">
                <a:solidFill>
                  <a:srgbClr val="4D6172"/>
                </a:solidFill>
                <a:latin typeface="Aptos"/>
                <a:ea typeface="Aptos"/>
                <a:cs typeface="Aptos"/>
              </a:defRPr>
            </a:pPr>
            <a:r>
              <a:rPr sz="2025" b="0">
                <a:solidFill>
                  <a:srgbClr val="4D6172"/>
                </a:solidFill>
                <a:latin typeface="Aptos"/>
                <a:ea typeface="Aptos"/>
                <a:cs typeface="Aptos"/>
              </a:rPr>
              <a:t>Use the input contract, stopping rule, and progress measure to check a solution.</a:t>
            </a:r>
          </a:p>
        </p:txBody>
      </p:sp>
      <p:sp>
        <p:nvSpPr>
          <p:cNvPr id="3" name="">
            <a:extLst xmlns:a="http://schemas.openxmlformats.org/drawingml/2006/main">
              <a:ext uri="{FF2B5EF4-FFF2-40B4-BE49-F238E27FC236}">
                <a16:creationId xmlns:a16="http://schemas.microsoft.com/office/drawing/2014/main" id="{7C4B0BC8-23BE-4C24-BC90-E53AFCC55D66}"/>
              </a:ext>
            </a:extLst>
          </p:cNvPr>
          <p:cNvSpPr>
            <a:spLocks xmlns:a="http://schemas.openxmlformats.org/drawingml/2006/main" noGrp="1"/>
          </p:cNvSpPr>
          <p:nvPr/>
        </p:nvSpPr>
        <p:spPr>
          <a:xfrm xmlns:a="http://schemas.openxmlformats.org/drawingml/2006/main">
            <a:off x="11239500" y="6477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D6172"/>
                </a:solidFill>
                <a:latin typeface="Aptos"/>
                <a:ea typeface="Aptos"/>
                <a:cs typeface="Aptos"/>
              </a:defRPr>
            </a:defPPr>
            <a:lvl1pPr>
              <a:buNone/>
              <a:defRPr sz="1200" b="0">
                <a:solidFill>
                  <a:srgbClr val="4D6172"/>
                </a:solidFill>
                <a:latin typeface="Aptos"/>
                <a:ea typeface="Aptos"/>
                <a:cs typeface="Aptos"/>
              </a:defRPr>
            </a:lvl1pPr>
            <a:lvl2pPr>
              <a:buNone/>
              <a:defRPr sz="1200" b="0">
                <a:solidFill>
                  <a:srgbClr val="4D6172"/>
                </a:solidFill>
                <a:latin typeface="Aptos"/>
                <a:ea typeface="Aptos"/>
                <a:cs typeface="Aptos"/>
              </a:defRPr>
            </a:lvl2pPr>
            <a:lvl3pPr>
              <a:buNone/>
              <a:defRPr sz="1200" b="0">
                <a:solidFill>
                  <a:srgbClr val="4D6172"/>
                </a:solidFill>
                <a:latin typeface="Aptos"/>
                <a:ea typeface="Aptos"/>
                <a:cs typeface="Aptos"/>
              </a:defRPr>
            </a:lvl3pPr>
            <a:lvl4pPr>
              <a:buNone/>
              <a:defRPr sz="1200" b="0">
                <a:solidFill>
                  <a:srgbClr val="4D6172"/>
                </a:solidFill>
                <a:latin typeface="Aptos"/>
                <a:ea typeface="Aptos"/>
                <a:cs typeface="Aptos"/>
              </a:defRPr>
            </a:lvl4pPr>
            <a:lvl5pPr>
              <a:buNone/>
              <a:defRPr sz="1200" b="0">
                <a:solidFill>
                  <a:srgbClr val="4D6172"/>
                </a:solidFill>
                <a:latin typeface="Aptos"/>
                <a:ea typeface="Aptos"/>
                <a:cs typeface="Aptos"/>
              </a:defRPr>
            </a:lvl5pPr>
            <a:lvl6pPr>
              <a:buNone/>
              <a:defRPr sz="1200" b="0">
                <a:solidFill>
                  <a:srgbClr val="4D6172"/>
                </a:solidFill>
                <a:latin typeface="Aptos"/>
                <a:ea typeface="Aptos"/>
                <a:cs typeface="Aptos"/>
              </a:defRPr>
            </a:lvl6pPr>
            <a:lvl7pPr>
              <a:buNone/>
              <a:defRPr sz="1200" b="0">
                <a:solidFill>
                  <a:srgbClr val="4D6172"/>
                </a:solidFill>
                <a:latin typeface="Aptos"/>
                <a:ea typeface="Aptos"/>
                <a:cs typeface="Aptos"/>
              </a:defRPr>
            </a:lvl7pPr>
            <a:lvl8pPr>
              <a:buNone/>
              <a:defRPr sz="1200" b="0">
                <a:solidFill>
                  <a:srgbClr val="4D6172"/>
                </a:solidFill>
                <a:latin typeface="Aptos"/>
                <a:ea typeface="Aptos"/>
                <a:cs typeface="Aptos"/>
              </a:defRPr>
            </a:lvl8pPr>
            <a:lvl9pPr>
              <a:buNone/>
              <a:defRPr sz="1200" b="0">
                <a:solidFill>
                  <a:srgbClr val="4D6172"/>
                </a:solidFill>
                <a:latin typeface="Aptos"/>
                <a:ea typeface="Aptos"/>
                <a:cs typeface="Aptos"/>
              </a:defRPr>
            </a:lvl9pPr>
          </a:lstStyle>
          <a:p xmlns:a="http://schemas.openxmlformats.org/drawingml/2006/main">
            <a:pPr>
              <a:buNone/>
              <a:defRPr sz="1200" b="0">
                <a:solidFill>
                  <a:srgbClr val="4D6172"/>
                </a:solidFill>
                <a:latin typeface="Aptos"/>
                <a:ea typeface="Aptos"/>
                <a:cs typeface="Aptos"/>
              </a:defRPr>
            </a:pPr>
            <a:r>
              <a:rPr sz="1200" b="0">
                <a:solidFill>
                  <a:srgbClr val="4D6172"/>
                </a:solidFill>
                <a:latin typeface="Aptos"/>
                <a:ea typeface="Aptos"/>
                <a:cs typeface="Aptos"/>
              </a:rPr>
              <a:t>25</a:t>
            </a:r>
          </a:p>
        </p:txBody>
      </p:sp>
      <p:sp>
        <p:nvSpPr>
          <p:cNvPr id="4" name="">
            <a:extLst xmlns:a="http://schemas.openxmlformats.org/drawingml/2006/main">
              <a:ext uri="{FF2B5EF4-FFF2-40B4-BE49-F238E27FC236}">
                <a16:creationId xmlns:a16="http://schemas.microsoft.com/office/drawing/2014/main" id="{9C9CBD41-5BB2-4127-8C7F-C2CDDC575B8E}"/>
              </a:ext>
            </a:extLst>
          </p:cNvPr>
          <p:cNvSpPr>
            <a:spLocks xmlns:a="http://schemas.openxmlformats.org/drawingml/2006/main" noGrp="1"/>
          </p:cNvSpPr>
          <p:nvPr/>
        </p:nvSpPr>
        <p:spPr>
          <a:xfrm xmlns:a="http://schemas.openxmlformats.org/drawingml/2006/main">
            <a:off x="533400" y="205740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354E"/>
                </a:solidFill>
                <a:latin typeface="Aptos"/>
                <a:ea typeface="Aptos"/>
                <a:cs typeface="Aptos"/>
              </a:defRPr>
            </a:defPPr>
            <a:lvl1pPr>
              <a:buNone/>
              <a:defRPr sz="2250" b="0">
                <a:solidFill>
                  <a:srgbClr val="17354E"/>
                </a:solidFill>
                <a:latin typeface="Aptos"/>
                <a:ea typeface="Aptos"/>
                <a:cs typeface="Aptos"/>
              </a:defRPr>
            </a:lvl1pPr>
            <a:lvl2pPr>
              <a:buNone/>
              <a:defRPr sz="2250" b="0">
                <a:solidFill>
                  <a:srgbClr val="17354E"/>
                </a:solidFill>
                <a:latin typeface="Aptos"/>
                <a:ea typeface="Aptos"/>
                <a:cs typeface="Aptos"/>
              </a:defRPr>
            </a:lvl2pPr>
            <a:lvl3pPr>
              <a:buNone/>
              <a:defRPr sz="2250" b="0">
                <a:solidFill>
                  <a:srgbClr val="17354E"/>
                </a:solidFill>
                <a:latin typeface="Aptos"/>
                <a:ea typeface="Aptos"/>
                <a:cs typeface="Aptos"/>
              </a:defRPr>
            </a:lvl3pPr>
            <a:lvl4pPr>
              <a:buNone/>
              <a:defRPr sz="2250" b="0">
                <a:solidFill>
                  <a:srgbClr val="17354E"/>
                </a:solidFill>
                <a:latin typeface="Aptos"/>
                <a:ea typeface="Aptos"/>
                <a:cs typeface="Aptos"/>
              </a:defRPr>
            </a:lvl4pPr>
            <a:lvl5pPr>
              <a:buNone/>
              <a:defRPr sz="2250" b="0">
                <a:solidFill>
                  <a:srgbClr val="17354E"/>
                </a:solidFill>
                <a:latin typeface="Aptos"/>
                <a:ea typeface="Aptos"/>
                <a:cs typeface="Aptos"/>
              </a:defRPr>
            </a:lvl5pPr>
            <a:lvl6pPr>
              <a:buNone/>
              <a:defRPr sz="2250" b="0">
                <a:solidFill>
                  <a:srgbClr val="17354E"/>
                </a:solidFill>
                <a:latin typeface="Aptos"/>
                <a:ea typeface="Aptos"/>
                <a:cs typeface="Aptos"/>
              </a:defRPr>
            </a:lvl6pPr>
            <a:lvl7pPr>
              <a:buNone/>
              <a:defRPr sz="2250" b="0">
                <a:solidFill>
                  <a:srgbClr val="17354E"/>
                </a:solidFill>
                <a:latin typeface="Aptos"/>
                <a:ea typeface="Aptos"/>
                <a:cs typeface="Aptos"/>
              </a:defRPr>
            </a:lvl7pPr>
            <a:lvl8pPr>
              <a:buNone/>
              <a:defRPr sz="2250" b="0">
                <a:solidFill>
                  <a:srgbClr val="17354E"/>
                </a:solidFill>
                <a:latin typeface="Aptos"/>
                <a:ea typeface="Aptos"/>
                <a:cs typeface="Aptos"/>
              </a:defRPr>
            </a:lvl8pPr>
            <a:lvl9pPr>
              <a:buNone/>
              <a:defRPr sz="2250" b="0">
                <a:solidFill>
                  <a:srgbClr val="17354E"/>
                </a:solidFill>
                <a:latin typeface="Aptos"/>
                <a:ea typeface="Aptos"/>
                <a:cs typeface="Aptos"/>
              </a:defRPr>
            </a:lvl9pPr>
          </a:lstStyle>
          <a:p xmlns:a="http://schemas.openxmlformats.org/drawingml/2006/main">
            <a:pPr>
              <a:buNone/>
              <a:defRPr sz="2250" b="0">
                <a:solidFill>
                  <a:srgbClr val="17354E"/>
                </a:solidFill>
                <a:latin typeface="Aptos"/>
                <a:ea typeface="Aptos"/>
                <a:cs typeface="Aptos"/>
              </a:defRPr>
            </a:pPr>
            <a:r>
              <a:rPr sz="2250" b="0">
                <a:solidFill>
                  <a:srgbClr val="17354E"/>
                </a:solidFill>
                <a:latin typeface="Aptos"/>
                <a:ea typeface="Aptos"/>
                <a:cs typeface="Aptos"/>
              </a:rPr>
              <a:t>State the valid inputs and handle boundary cases.</a:t>
            </a:r>
          </a:p>
        </p:txBody>
      </p:sp>
      <p:sp>
        <p:nvSpPr>
          <p:cNvPr id="5" name="">
            <a:extLst xmlns:a="http://schemas.openxmlformats.org/drawingml/2006/main">
              <a:ext uri="{FF2B5EF4-FFF2-40B4-BE49-F238E27FC236}">
                <a16:creationId xmlns:a16="http://schemas.microsoft.com/office/drawing/2014/main" id="{0339F7DA-BFB2-446F-9F77-173748827436}"/>
              </a:ext>
            </a:extLst>
          </p:cNvPr>
          <p:cNvSpPr>
            <a:spLocks xmlns:a="http://schemas.openxmlformats.org/drawingml/2006/main" noGrp="1"/>
          </p:cNvSpPr>
          <p:nvPr/>
        </p:nvSpPr>
        <p:spPr>
          <a:xfrm xmlns:a="http://schemas.openxmlformats.org/drawingml/2006/main">
            <a:off x="533400" y="2771775"/>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354E"/>
                </a:solidFill>
                <a:latin typeface="Aptos"/>
                <a:ea typeface="Aptos"/>
                <a:cs typeface="Aptos"/>
              </a:defRPr>
            </a:defPPr>
            <a:lvl1pPr>
              <a:buNone/>
              <a:defRPr sz="2250" b="0">
                <a:solidFill>
                  <a:srgbClr val="17354E"/>
                </a:solidFill>
                <a:latin typeface="Aptos"/>
                <a:ea typeface="Aptos"/>
                <a:cs typeface="Aptos"/>
              </a:defRPr>
            </a:lvl1pPr>
            <a:lvl2pPr>
              <a:buNone/>
              <a:defRPr sz="2250" b="0">
                <a:solidFill>
                  <a:srgbClr val="17354E"/>
                </a:solidFill>
                <a:latin typeface="Aptos"/>
                <a:ea typeface="Aptos"/>
                <a:cs typeface="Aptos"/>
              </a:defRPr>
            </a:lvl2pPr>
            <a:lvl3pPr>
              <a:buNone/>
              <a:defRPr sz="2250" b="0">
                <a:solidFill>
                  <a:srgbClr val="17354E"/>
                </a:solidFill>
                <a:latin typeface="Aptos"/>
                <a:ea typeface="Aptos"/>
                <a:cs typeface="Aptos"/>
              </a:defRPr>
            </a:lvl3pPr>
            <a:lvl4pPr>
              <a:buNone/>
              <a:defRPr sz="2250" b="0">
                <a:solidFill>
                  <a:srgbClr val="17354E"/>
                </a:solidFill>
                <a:latin typeface="Aptos"/>
                <a:ea typeface="Aptos"/>
                <a:cs typeface="Aptos"/>
              </a:defRPr>
            </a:lvl4pPr>
            <a:lvl5pPr>
              <a:buNone/>
              <a:defRPr sz="2250" b="0">
                <a:solidFill>
                  <a:srgbClr val="17354E"/>
                </a:solidFill>
                <a:latin typeface="Aptos"/>
                <a:ea typeface="Aptos"/>
                <a:cs typeface="Aptos"/>
              </a:defRPr>
            </a:lvl5pPr>
            <a:lvl6pPr>
              <a:buNone/>
              <a:defRPr sz="2250" b="0">
                <a:solidFill>
                  <a:srgbClr val="17354E"/>
                </a:solidFill>
                <a:latin typeface="Aptos"/>
                <a:ea typeface="Aptos"/>
                <a:cs typeface="Aptos"/>
              </a:defRPr>
            </a:lvl6pPr>
            <a:lvl7pPr>
              <a:buNone/>
              <a:defRPr sz="2250" b="0">
                <a:solidFill>
                  <a:srgbClr val="17354E"/>
                </a:solidFill>
                <a:latin typeface="Aptos"/>
                <a:ea typeface="Aptos"/>
                <a:cs typeface="Aptos"/>
              </a:defRPr>
            </a:lvl7pPr>
            <a:lvl8pPr>
              <a:buNone/>
              <a:defRPr sz="2250" b="0">
                <a:solidFill>
                  <a:srgbClr val="17354E"/>
                </a:solidFill>
                <a:latin typeface="Aptos"/>
                <a:ea typeface="Aptos"/>
                <a:cs typeface="Aptos"/>
              </a:defRPr>
            </a:lvl8pPr>
            <a:lvl9pPr>
              <a:buNone/>
              <a:defRPr sz="2250" b="0">
                <a:solidFill>
                  <a:srgbClr val="17354E"/>
                </a:solidFill>
                <a:latin typeface="Aptos"/>
                <a:ea typeface="Aptos"/>
                <a:cs typeface="Aptos"/>
              </a:defRPr>
            </a:lvl9pPr>
          </a:lstStyle>
          <a:p xmlns:a="http://schemas.openxmlformats.org/drawingml/2006/main">
            <a:pPr>
              <a:buNone/>
              <a:defRPr sz="2250" b="0">
                <a:solidFill>
                  <a:srgbClr val="17354E"/>
                </a:solidFill>
                <a:latin typeface="Aptos"/>
                <a:ea typeface="Aptos"/>
                <a:cs typeface="Aptos"/>
              </a:defRPr>
            </a:pPr>
            <a:r>
              <a:rPr sz="2250" b="0">
                <a:solidFill>
                  <a:srgbClr val="17354E"/>
                </a:solidFill>
                <a:latin typeface="Aptos"/>
                <a:ea typeface="Aptos"/>
                <a:cs typeface="Aptos"/>
              </a:rPr>
              <a:t>Make the base case explicit and reachable.</a:t>
            </a:r>
          </a:p>
        </p:txBody>
      </p:sp>
      <p:sp>
        <p:nvSpPr>
          <p:cNvPr id="6" name="">
            <a:extLst xmlns:a="http://schemas.openxmlformats.org/drawingml/2006/main">
              <a:ext uri="{FF2B5EF4-FFF2-40B4-BE49-F238E27FC236}">
                <a16:creationId xmlns:a16="http://schemas.microsoft.com/office/drawing/2014/main" id="{B2391D18-00EF-4A54-A359-04878F7CD978}"/>
              </a:ext>
            </a:extLst>
          </p:cNvPr>
          <p:cNvSpPr>
            <a:spLocks xmlns:a="http://schemas.openxmlformats.org/drawingml/2006/main" noGrp="1"/>
          </p:cNvSpPr>
          <p:nvPr/>
        </p:nvSpPr>
        <p:spPr>
          <a:xfrm xmlns:a="http://schemas.openxmlformats.org/drawingml/2006/main">
            <a:off x="533400" y="3486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354E"/>
                </a:solidFill>
                <a:latin typeface="Aptos"/>
                <a:ea typeface="Aptos"/>
                <a:cs typeface="Aptos"/>
              </a:defRPr>
            </a:defPPr>
            <a:lvl1pPr>
              <a:buNone/>
              <a:defRPr sz="2250" b="0">
                <a:solidFill>
                  <a:srgbClr val="17354E"/>
                </a:solidFill>
                <a:latin typeface="Aptos"/>
                <a:ea typeface="Aptos"/>
                <a:cs typeface="Aptos"/>
              </a:defRPr>
            </a:lvl1pPr>
            <a:lvl2pPr>
              <a:buNone/>
              <a:defRPr sz="2250" b="0">
                <a:solidFill>
                  <a:srgbClr val="17354E"/>
                </a:solidFill>
                <a:latin typeface="Aptos"/>
                <a:ea typeface="Aptos"/>
                <a:cs typeface="Aptos"/>
              </a:defRPr>
            </a:lvl2pPr>
            <a:lvl3pPr>
              <a:buNone/>
              <a:defRPr sz="2250" b="0">
                <a:solidFill>
                  <a:srgbClr val="17354E"/>
                </a:solidFill>
                <a:latin typeface="Aptos"/>
                <a:ea typeface="Aptos"/>
                <a:cs typeface="Aptos"/>
              </a:defRPr>
            </a:lvl3pPr>
            <a:lvl4pPr>
              <a:buNone/>
              <a:defRPr sz="2250" b="0">
                <a:solidFill>
                  <a:srgbClr val="17354E"/>
                </a:solidFill>
                <a:latin typeface="Aptos"/>
                <a:ea typeface="Aptos"/>
                <a:cs typeface="Aptos"/>
              </a:defRPr>
            </a:lvl4pPr>
            <a:lvl5pPr>
              <a:buNone/>
              <a:defRPr sz="2250" b="0">
                <a:solidFill>
                  <a:srgbClr val="17354E"/>
                </a:solidFill>
                <a:latin typeface="Aptos"/>
                <a:ea typeface="Aptos"/>
                <a:cs typeface="Aptos"/>
              </a:defRPr>
            </a:lvl5pPr>
            <a:lvl6pPr>
              <a:buNone/>
              <a:defRPr sz="2250" b="0">
                <a:solidFill>
                  <a:srgbClr val="17354E"/>
                </a:solidFill>
                <a:latin typeface="Aptos"/>
                <a:ea typeface="Aptos"/>
                <a:cs typeface="Aptos"/>
              </a:defRPr>
            </a:lvl6pPr>
            <a:lvl7pPr>
              <a:buNone/>
              <a:defRPr sz="2250" b="0">
                <a:solidFill>
                  <a:srgbClr val="17354E"/>
                </a:solidFill>
                <a:latin typeface="Aptos"/>
                <a:ea typeface="Aptos"/>
                <a:cs typeface="Aptos"/>
              </a:defRPr>
            </a:lvl7pPr>
            <a:lvl8pPr>
              <a:buNone/>
              <a:defRPr sz="2250" b="0">
                <a:solidFill>
                  <a:srgbClr val="17354E"/>
                </a:solidFill>
                <a:latin typeface="Aptos"/>
                <a:ea typeface="Aptos"/>
                <a:cs typeface="Aptos"/>
              </a:defRPr>
            </a:lvl8pPr>
            <a:lvl9pPr>
              <a:buNone/>
              <a:defRPr sz="2250" b="0">
                <a:solidFill>
                  <a:srgbClr val="17354E"/>
                </a:solidFill>
                <a:latin typeface="Aptos"/>
                <a:ea typeface="Aptos"/>
                <a:cs typeface="Aptos"/>
              </a:defRPr>
            </a:lvl9pPr>
          </a:lstStyle>
          <a:p xmlns:a="http://schemas.openxmlformats.org/drawingml/2006/main">
            <a:pPr>
              <a:buNone/>
              <a:defRPr sz="2250" b="0">
                <a:solidFill>
                  <a:srgbClr val="17354E"/>
                </a:solidFill>
                <a:latin typeface="Aptos"/>
                <a:ea typeface="Aptos"/>
                <a:cs typeface="Aptos"/>
              </a:defRPr>
            </a:pPr>
            <a:r>
              <a:rPr sz="2250" b="0">
                <a:solidFill>
                  <a:srgbClr val="17354E"/>
                </a:solidFill>
                <a:latin typeface="Aptos"/>
                <a:ea typeface="Aptos"/>
                <a:cs typeface="Aptos"/>
              </a:rPr>
              <a:t>Show why every recursive call makes progress.</a:t>
            </a:r>
          </a:p>
        </p:txBody>
      </p:sp>
      <p:sp>
        <p:nvSpPr>
          <p:cNvPr id="7" name="">
            <a:extLst xmlns:a="http://schemas.openxmlformats.org/drawingml/2006/main">
              <a:ext uri="{FF2B5EF4-FFF2-40B4-BE49-F238E27FC236}">
                <a16:creationId xmlns:a16="http://schemas.microsoft.com/office/drawing/2014/main" id="{ECD949F1-9EC3-40B1-9402-71A53E8CA2A5}"/>
              </a:ext>
            </a:extLst>
          </p:cNvPr>
          <p:cNvSpPr>
            <a:spLocks xmlns:a="http://schemas.openxmlformats.org/drawingml/2006/main" noGrp="1"/>
          </p:cNvSpPr>
          <p:nvPr/>
        </p:nvSpPr>
        <p:spPr>
          <a:xfrm xmlns:a="http://schemas.openxmlformats.org/drawingml/2006/main">
            <a:off x="533400" y="4200525"/>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354E"/>
                </a:solidFill>
                <a:latin typeface="Aptos"/>
                <a:ea typeface="Aptos"/>
                <a:cs typeface="Aptos"/>
              </a:defRPr>
            </a:defPPr>
            <a:lvl1pPr>
              <a:buNone/>
              <a:defRPr sz="2250" b="0">
                <a:solidFill>
                  <a:srgbClr val="17354E"/>
                </a:solidFill>
                <a:latin typeface="Aptos"/>
                <a:ea typeface="Aptos"/>
                <a:cs typeface="Aptos"/>
              </a:defRPr>
            </a:lvl1pPr>
            <a:lvl2pPr>
              <a:buNone/>
              <a:defRPr sz="2250" b="0">
                <a:solidFill>
                  <a:srgbClr val="17354E"/>
                </a:solidFill>
                <a:latin typeface="Aptos"/>
                <a:ea typeface="Aptos"/>
                <a:cs typeface="Aptos"/>
              </a:defRPr>
            </a:lvl2pPr>
            <a:lvl3pPr>
              <a:buNone/>
              <a:defRPr sz="2250" b="0">
                <a:solidFill>
                  <a:srgbClr val="17354E"/>
                </a:solidFill>
                <a:latin typeface="Aptos"/>
                <a:ea typeface="Aptos"/>
                <a:cs typeface="Aptos"/>
              </a:defRPr>
            </a:lvl3pPr>
            <a:lvl4pPr>
              <a:buNone/>
              <a:defRPr sz="2250" b="0">
                <a:solidFill>
                  <a:srgbClr val="17354E"/>
                </a:solidFill>
                <a:latin typeface="Aptos"/>
                <a:ea typeface="Aptos"/>
                <a:cs typeface="Aptos"/>
              </a:defRPr>
            </a:lvl4pPr>
            <a:lvl5pPr>
              <a:buNone/>
              <a:defRPr sz="2250" b="0">
                <a:solidFill>
                  <a:srgbClr val="17354E"/>
                </a:solidFill>
                <a:latin typeface="Aptos"/>
                <a:ea typeface="Aptos"/>
                <a:cs typeface="Aptos"/>
              </a:defRPr>
            </a:lvl5pPr>
            <a:lvl6pPr>
              <a:buNone/>
              <a:defRPr sz="2250" b="0">
                <a:solidFill>
                  <a:srgbClr val="17354E"/>
                </a:solidFill>
                <a:latin typeface="Aptos"/>
                <a:ea typeface="Aptos"/>
                <a:cs typeface="Aptos"/>
              </a:defRPr>
            </a:lvl6pPr>
            <a:lvl7pPr>
              <a:buNone/>
              <a:defRPr sz="2250" b="0">
                <a:solidFill>
                  <a:srgbClr val="17354E"/>
                </a:solidFill>
                <a:latin typeface="Aptos"/>
                <a:ea typeface="Aptos"/>
                <a:cs typeface="Aptos"/>
              </a:defRPr>
            </a:lvl7pPr>
            <a:lvl8pPr>
              <a:buNone/>
              <a:defRPr sz="2250" b="0">
                <a:solidFill>
                  <a:srgbClr val="17354E"/>
                </a:solidFill>
                <a:latin typeface="Aptos"/>
                <a:ea typeface="Aptos"/>
                <a:cs typeface="Aptos"/>
              </a:defRPr>
            </a:lvl8pPr>
            <a:lvl9pPr>
              <a:buNone/>
              <a:defRPr sz="2250" b="0">
                <a:solidFill>
                  <a:srgbClr val="17354E"/>
                </a:solidFill>
                <a:latin typeface="Aptos"/>
                <a:ea typeface="Aptos"/>
                <a:cs typeface="Aptos"/>
              </a:defRPr>
            </a:lvl9pPr>
          </a:lstStyle>
          <a:p xmlns:a="http://schemas.openxmlformats.org/drawingml/2006/main">
            <a:pPr>
              <a:buNone/>
              <a:defRPr sz="2250" b="0">
                <a:solidFill>
                  <a:srgbClr val="17354E"/>
                </a:solidFill>
                <a:latin typeface="Aptos"/>
                <a:ea typeface="Aptos"/>
                <a:cs typeface="Aptos"/>
              </a:defRPr>
            </a:pPr>
            <a:r>
              <a:rPr sz="2250" b="0">
                <a:solidFill>
                  <a:srgbClr val="17354E"/>
                </a:solidFill>
                <a:latin typeface="Aptos"/>
                <a:ea typeface="Aptos"/>
                <a:cs typeface="Aptos"/>
              </a:rPr>
              <a:t>Use the recursive result and account for stack depth.</a:t>
            </a:r>
          </a:p>
        </p:txBody>
      </p:sp>
      <p:sp>
        <p:nvSpPr>
          <p:cNvPr id="8" name="">
            <a:extLst xmlns:a="http://schemas.openxmlformats.org/drawingml/2006/main">
              <a:ext uri="{FF2B5EF4-FFF2-40B4-BE49-F238E27FC236}">
                <a16:creationId xmlns:a16="http://schemas.microsoft.com/office/drawing/2014/main" id="{A1DA32DE-1895-4109-A4B4-D71E7B3D6DEA}"/>
              </a:ext>
            </a:extLst>
          </p:cNvPr>
          <p:cNvSpPr>
            <a:spLocks xmlns:a="http://schemas.openxmlformats.org/drawingml/2006/main" noGrp="1"/>
          </p:cNvSpPr>
          <p:nvPr/>
        </p:nvSpPr>
        <p:spPr>
          <a:xfrm xmlns:a="http://schemas.openxmlformats.org/drawingml/2006/main">
            <a:off x="533400" y="51625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4D6172"/>
                </a:solidFill>
                <a:latin typeface="Aptos"/>
                <a:ea typeface="Aptos"/>
                <a:cs typeface="Aptos"/>
              </a:defRPr>
            </a:defPPr>
            <a:lvl1pPr>
              <a:buNone/>
              <a:defRPr sz="1950" b="0">
                <a:solidFill>
                  <a:srgbClr val="4D6172"/>
                </a:solidFill>
                <a:latin typeface="Aptos"/>
                <a:ea typeface="Aptos"/>
                <a:cs typeface="Aptos"/>
              </a:defRPr>
            </a:lvl1pPr>
            <a:lvl2pPr>
              <a:buNone/>
              <a:defRPr sz="1950" b="0">
                <a:solidFill>
                  <a:srgbClr val="4D6172"/>
                </a:solidFill>
                <a:latin typeface="Aptos"/>
                <a:ea typeface="Aptos"/>
                <a:cs typeface="Aptos"/>
              </a:defRPr>
            </a:lvl2pPr>
            <a:lvl3pPr>
              <a:buNone/>
              <a:defRPr sz="1950" b="0">
                <a:solidFill>
                  <a:srgbClr val="4D6172"/>
                </a:solidFill>
                <a:latin typeface="Aptos"/>
                <a:ea typeface="Aptos"/>
                <a:cs typeface="Aptos"/>
              </a:defRPr>
            </a:lvl3pPr>
            <a:lvl4pPr>
              <a:buNone/>
              <a:defRPr sz="1950" b="0">
                <a:solidFill>
                  <a:srgbClr val="4D6172"/>
                </a:solidFill>
                <a:latin typeface="Aptos"/>
                <a:ea typeface="Aptos"/>
                <a:cs typeface="Aptos"/>
              </a:defRPr>
            </a:lvl4pPr>
            <a:lvl5pPr>
              <a:buNone/>
              <a:defRPr sz="1950" b="0">
                <a:solidFill>
                  <a:srgbClr val="4D6172"/>
                </a:solidFill>
                <a:latin typeface="Aptos"/>
                <a:ea typeface="Aptos"/>
                <a:cs typeface="Aptos"/>
              </a:defRPr>
            </a:lvl5pPr>
            <a:lvl6pPr>
              <a:buNone/>
              <a:defRPr sz="1950" b="0">
                <a:solidFill>
                  <a:srgbClr val="4D6172"/>
                </a:solidFill>
                <a:latin typeface="Aptos"/>
                <a:ea typeface="Aptos"/>
                <a:cs typeface="Aptos"/>
              </a:defRPr>
            </a:lvl6pPr>
            <a:lvl7pPr>
              <a:buNone/>
              <a:defRPr sz="1950" b="0">
                <a:solidFill>
                  <a:srgbClr val="4D6172"/>
                </a:solidFill>
                <a:latin typeface="Aptos"/>
                <a:ea typeface="Aptos"/>
                <a:cs typeface="Aptos"/>
              </a:defRPr>
            </a:lvl7pPr>
            <a:lvl8pPr>
              <a:buNone/>
              <a:defRPr sz="1950" b="0">
                <a:solidFill>
                  <a:srgbClr val="4D6172"/>
                </a:solidFill>
                <a:latin typeface="Aptos"/>
                <a:ea typeface="Aptos"/>
                <a:cs typeface="Aptos"/>
              </a:defRPr>
            </a:lvl8pPr>
            <a:lvl9pPr>
              <a:buNone/>
              <a:defRPr sz="1950" b="0">
                <a:solidFill>
                  <a:srgbClr val="4D6172"/>
                </a:solidFill>
                <a:latin typeface="Aptos"/>
                <a:ea typeface="Aptos"/>
                <a:cs typeface="Aptos"/>
              </a:defRPr>
            </a:lvl9pPr>
          </a:lstStyle>
          <a:p xmlns:a="http://schemas.openxmlformats.org/drawingml/2006/main">
            <a:pPr>
              <a:buNone/>
              <a:defRPr sz="1950" b="0">
                <a:solidFill>
                  <a:srgbClr val="4D6172"/>
                </a:solidFill>
                <a:latin typeface="Aptos"/>
                <a:ea typeface="Aptos"/>
                <a:cs typeface="Aptos"/>
              </a:defRPr>
            </a:pPr>
            <a:r>
              <a:rPr sz="1950" b="0">
                <a:solidFill>
                  <a:srgbClr val="4D6172"/>
                </a:solidFill>
                <a:latin typeface="Aptos"/>
                <a:ea typeface="Aptos"/>
                <a:cs typeface="Aptos"/>
              </a:rPr>
              <a:t>Quick checks: factorial(0), an empty binary search, Hanoi with 3 disks, gcd(27, 18)</a:t>
            </a:r>
          </a:p>
        </p:txBody>
      </p:sp>
      <p:sp>
        <p:nvSpPr>
          <p:cNvPr id="9" name="">
            <a:extLst xmlns:a="http://schemas.openxmlformats.org/drawingml/2006/main">
              <a:ext uri="{FF2B5EF4-FFF2-40B4-BE49-F238E27FC236}">
                <a16:creationId xmlns:a16="http://schemas.microsoft.com/office/drawing/2014/main" id="{F51033C3-90E1-42B2-9059-35BDAD3EDFAD}"/>
              </a:ext>
            </a:extLst>
          </p:cNvPr>
          <p:cNvSpPr>
            <a:spLocks xmlns:a="http://schemas.openxmlformats.org/drawingml/2006/main" noGrp="1"/>
          </p:cNvSpPr>
          <p:nvPr/>
        </p:nvSpPr>
        <p:spPr>
          <a:xfrm xmlns:a="http://schemas.openxmlformats.org/drawingml/2006/main">
            <a:off x="533400" y="57912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Aptos"/>
                <a:ea typeface="Aptos"/>
                <a:cs typeface="Aptos"/>
              </a:defRPr>
            </a:defPPr>
            <a:lvl1pPr>
              <a:buNone/>
              <a:defRPr sz="2100" b="1">
                <a:solidFill>
                  <a:srgbClr val="087F8C"/>
                </a:solidFill>
                <a:latin typeface="Aptos"/>
                <a:ea typeface="Aptos"/>
                <a:cs typeface="Aptos"/>
              </a:defRPr>
            </a:lvl1pPr>
            <a:lvl2pPr>
              <a:buNone/>
              <a:defRPr sz="2100" b="1">
                <a:solidFill>
                  <a:srgbClr val="087F8C"/>
                </a:solidFill>
                <a:latin typeface="Aptos"/>
                <a:ea typeface="Aptos"/>
                <a:cs typeface="Aptos"/>
              </a:defRPr>
            </a:lvl2pPr>
            <a:lvl3pPr>
              <a:buNone/>
              <a:defRPr sz="2100" b="1">
                <a:solidFill>
                  <a:srgbClr val="087F8C"/>
                </a:solidFill>
                <a:latin typeface="Aptos"/>
                <a:ea typeface="Aptos"/>
                <a:cs typeface="Aptos"/>
              </a:defRPr>
            </a:lvl3pPr>
            <a:lvl4pPr>
              <a:buNone/>
              <a:defRPr sz="2100" b="1">
                <a:solidFill>
                  <a:srgbClr val="087F8C"/>
                </a:solidFill>
                <a:latin typeface="Aptos"/>
                <a:ea typeface="Aptos"/>
                <a:cs typeface="Aptos"/>
              </a:defRPr>
            </a:lvl4pPr>
            <a:lvl5pPr>
              <a:buNone/>
              <a:defRPr sz="2100" b="1">
                <a:solidFill>
                  <a:srgbClr val="087F8C"/>
                </a:solidFill>
                <a:latin typeface="Aptos"/>
                <a:ea typeface="Aptos"/>
                <a:cs typeface="Aptos"/>
              </a:defRPr>
            </a:lvl5pPr>
            <a:lvl6pPr>
              <a:buNone/>
              <a:defRPr sz="2100" b="1">
                <a:solidFill>
                  <a:srgbClr val="087F8C"/>
                </a:solidFill>
                <a:latin typeface="Aptos"/>
                <a:ea typeface="Aptos"/>
                <a:cs typeface="Aptos"/>
              </a:defRPr>
            </a:lvl6pPr>
            <a:lvl7pPr>
              <a:buNone/>
              <a:defRPr sz="2100" b="1">
                <a:solidFill>
                  <a:srgbClr val="087F8C"/>
                </a:solidFill>
                <a:latin typeface="Aptos"/>
                <a:ea typeface="Aptos"/>
                <a:cs typeface="Aptos"/>
              </a:defRPr>
            </a:lvl7pPr>
            <a:lvl8pPr>
              <a:buNone/>
              <a:defRPr sz="2100" b="1">
                <a:solidFill>
                  <a:srgbClr val="087F8C"/>
                </a:solidFill>
                <a:latin typeface="Aptos"/>
                <a:ea typeface="Aptos"/>
                <a:cs typeface="Aptos"/>
              </a:defRPr>
            </a:lvl8pPr>
            <a:lvl9pPr>
              <a:buNone/>
              <a:defRPr sz="2100" b="1">
                <a:solidFill>
                  <a:srgbClr val="087F8C"/>
                </a:solidFill>
                <a:latin typeface="Aptos"/>
                <a:ea typeface="Aptos"/>
                <a:cs typeface="Aptos"/>
              </a:defRPr>
            </a:lvl9pPr>
          </a:lstStyle>
          <a:p xmlns:a="http://schemas.openxmlformats.org/drawingml/2006/main">
            <a:pPr>
              <a:buNone/>
              <a:defRPr sz="2100" b="1">
                <a:solidFill>
                  <a:srgbClr val="087F8C"/>
                </a:solidFill>
                <a:latin typeface="Aptos"/>
                <a:ea typeface="Aptos"/>
                <a:cs typeface="Aptos"/>
              </a:defRPr>
            </a:pPr>
            <a:r>
              <a:rPr sz="2100" b="1">
                <a:solidFill>
                  <a:srgbClr val="087F8C"/>
                </a:solidFill>
                <a:latin typeface="Aptos"/>
                <a:ea typeface="Aptos"/>
                <a:cs typeface="Aptos"/>
              </a:rPr>
              <a:t>Trace one small input through both the calls and the returns.</a:t>
            </a:r>
          </a:p>
        </p:txBody>
      </p:sp>
    </p:spTree>
    <p:extLst>
      <p:ext uri="{BB962C8B-B14F-4D97-AF65-F5344CB8AC3E}">
        <p14:creationId xmlns:p14="http://schemas.microsoft.com/office/powerpoint/2010/main" val="12506187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2026-10-25T15:50:15.6870000Z</dcterms:created>
  <dcterms:modified xsi:type="dcterms:W3CDTF">2026-10-25T15:50:15.6870000Z</dcterms:modified>
</coreProperties>
</file>