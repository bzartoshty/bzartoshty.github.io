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ff7df826db4859" /><Relationship Type="http://schemas.openxmlformats.org/officeDocument/2006/relationships/extended-properties" Target="/docProps/app.xml" Id="Ra4adcda0f69349d6" /><Relationship Type="http://schemas.openxmlformats.org/officeDocument/2006/relationships/officeDocument" Target="/ppt/presentation.xml" Id="R6aec949488ff422c" /></Relationships>
</file>

<file path=ppt/presentation.xml><?xml version="1.0" encoding="utf-8"?>
<p:presentation xmlns:ns1="http://schemas.openxmlformats.org/officeDocument/2006/relationships" xmlns:p="http://schemas.openxmlformats.org/presentationml/2006/main">
  <p:sldMasterIdLst>
    <p:sldMasterId id="2147483648" ns1:id="R37dc8c1263cb4054"/>
  </p:sldMasterIdLst>
  <p:notesMasterIdLst>
    <p:notesMasterId ns1:id="Re4a7f18a6549479b"/>
  </p:notesMasterIdLst>
  <p:sldIdLst>
    <p:sldId id="256" ns1:id="R138cce99b3114ca1"/>
    <p:sldId id="257" ns1:id="Rf14601c7edcf4bf9"/>
    <p:sldId id="258" ns1:id="R5d0c8c6ea5f046d9"/>
    <p:sldId id="259" ns1:id="R9046ffa9ecb447bc"/>
    <p:sldId id="260" ns1:id="Rbdd4eb30d27d46b6"/>
    <p:sldId id="261" ns1:id="Rd4b4543525124c1a"/>
    <p:sldId id="262" ns1:id="Rdc067f4378f94050"/>
    <p:sldId id="263" ns1:id="R4cab73815e76424e"/>
    <p:sldId id="264" ns1:id="Rf521cda1d0a7474a"/>
    <p:sldId id="265" ns1:id="R8e6f4857bcd74665"/>
    <p:sldId id="266" ns1:id="R885d56e1968f4744"/>
    <p:sldId id="267" ns1:id="Rde25dd2c2f5d445b"/>
    <p:sldId id="268" ns1:id="Rf650f480a85b4833"/>
    <p:sldId id="269" ns1:id="R580099be09e9467a"/>
    <p:sldId id="270" ns1:id="Rc1831fb1c03e4e58"/>
    <p:sldId id="271" ns1:id="Rbcb7d319a70f49ff"/>
    <p:sldId id="272" ns1:id="R117277f1f3ec43cc"/>
    <p:sldId id="273" ns1:id="Rd912387d9a46402b"/>
    <p:sldId id="274" ns1:id="Rfea61c6bfe784623"/>
    <p:sldId id="275" ns1:id="R2b0ca6620b5f4e77"/>
    <p:sldId id="276" ns1:id="R7251019e4ee54d1d"/>
    <p:sldId id="277" ns1:id="R216eff3b80e2494f"/>
    <p:sldId id="278" ns1:id="R83f3f90c302d4eaa"/>
    <p:sldId id="279" ns1:id="Ra97cbb2986a34ef5"/>
    <p:sldId id="280" ns1:id="Re7673c0bfe974862"/>
    <p:sldId id="281" ns1:id="R66db18023c734495"/>
    <p:sldId id="282" ns1:id="R3a15de45a94f434e"/>
    <p:sldId id="283" ns1:id="R385b4f5ca33c40c3"/>
    <p:sldId id="284" ns1:id="R5f26f31a6a1a44e2"/>
    <p:sldId id="285" ns1:id="R72ddd38285904a93"/>
    <p:sldId id="286" ns1:id="R10a24d340fc340c0"/>
    <p:sldId id="287" ns1:id="Rbd33d5afbbcb44c8"/>
  </p:sldIdLst>
  <p:sldSz cx="12192000" cy="6858000"/>
  <p:notesSz cx="7772400" cy="10058400"/>
  <p:printPr prnWhat="notes" clrMode="clr" frameSlides="0" scaleToFitPaper="1"/>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ef8ea96703422f" /><Relationship Type="http://schemas.openxmlformats.org/officeDocument/2006/relationships/slideMaster" Target="/ppt/slideMasters/slideMaster1.xml" Id="R37dc8c1263cb4054" /><Relationship Type="http://schemas.openxmlformats.org/officeDocument/2006/relationships/notesMaster" Target="/ppt/notesMasters/notesMaster1.xml" Id="Re4a7f18a6549479b" /><Relationship Type="http://schemas.openxmlformats.org/officeDocument/2006/relationships/presProps" Target="/ppt/presProps.xml" Id="Rd54859258d284df5" /><Relationship Type="http://schemas.openxmlformats.org/officeDocument/2006/relationships/tableStyles" Target="/ppt/tableStyles.xml" Id="Rbcc0f1c4de1c4491" /><Relationship Type="http://schemas.openxmlformats.org/officeDocument/2006/relationships/slide" Target="/ppt/slides/slide1.xml" Id="R138cce99b3114ca1" /><Relationship Type="http://schemas.openxmlformats.org/officeDocument/2006/relationships/slide" Target="/ppt/slides/slide2.xml" Id="Rf14601c7edcf4bf9" /><Relationship Type="http://schemas.openxmlformats.org/officeDocument/2006/relationships/slide" Target="/ppt/slides/slide3.xml" Id="R5d0c8c6ea5f046d9" /><Relationship Type="http://schemas.openxmlformats.org/officeDocument/2006/relationships/slide" Target="/ppt/slides/slide4.xml" Id="R9046ffa9ecb447bc" /><Relationship Type="http://schemas.openxmlformats.org/officeDocument/2006/relationships/slide" Target="/ppt/slides/slide5.xml" Id="Rbdd4eb30d27d46b6" /><Relationship Type="http://schemas.openxmlformats.org/officeDocument/2006/relationships/slide" Target="/ppt/slides/slide6.xml" Id="Rd4b4543525124c1a" /><Relationship Type="http://schemas.openxmlformats.org/officeDocument/2006/relationships/slide" Target="/ppt/slides/slide7.xml" Id="Rdc067f4378f94050" /><Relationship Type="http://schemas.openxmlformats.org/officeDocument/2006/relationships/slide" Target="/ppt/slides/slide8.xml" Id="R4cab73815e76424e" /><Relationship Type="http://schemas.openxmlformats.org/officeDocument/2006/relationships/slide" Target="/ppt/slides/slide9.xml" Id="Rf521cda1d0a7474a" /><Relationship Type="http://schemas.openxmlformats.org/officeDocument/2006/relationships/slide" Target="/ppt/slides/slide10.xml" Id="R8e6f4857bcd74665" /><Relationship Type="http://schemas.openxmlformats.org/officeDocument/2006/relationships/slide" Target="/ppt/slides/slide11.xml" Id="R885d56e1968f4744" /><Relationship Type="http://schemas.openxmlformats.org/officeDocument/2006/relationships/slide" Target="/ppt/slides/slide12.xml" Id="Rde25dd2c2f5d445b" /><Relationship Type="http://schemas.openxmlformats.org/officeDocument/2006/relationships/slide" Target="/ppt/slides/slide13.xml" Id="Rf650f480a85b4833" /><Relationship Type="http://schemas.openxmlformats.org/officeDocument/2006/relationships/slide" Target="/ppt/slides/slide14.xml" Id="R580099be09e9467a" /><Relationship Type="http://schemas.openxmlformats.org/officeDocument/2006/relationships/slide" Target="/ppt/slides/slide15.xml" Id="Rc1831fb1c03e4e58" /><Relationship Type="http://schemas.openxmlformats.org/officeDocument/2006/relationships/slide" Target="/ppt/slides/slide16.xml" Id="Rbcb7d319a70f49ff" /><Relationship Type="http://schemas.openxmlformats.org/officeDocument/2006/relationships/slide" Target="/ppt/slides/slide17.xml" Id="R117277f1f3ec43cc" /><Relationship Type="http://schemas.openxmlformats.org/officeDocument/2006/relationships/slide" Target="/ppt/slides/slide18.xml" Id="Rd912387d9a46402b" /><Relationship Type="http://schemas.openxmlformats.org/officeDocument/2006/relationships/slide" Target="/ppt/slides/slide19.xml" Id="Rfea61c6bfe784623" /><Relationship Type="http://schemas.openxmlformats.org/officeDocument/2006/relationships/slide" Target="/ppt/slides/slide20.xml" Id="R2b0ca6620b5f4e77" /><Relationship Type="http://schemas.openxmlformats.org/officeDocument/2006/relationships/slide" Target="/ppt/slides/slide21.xml" Id="R7251019e4ee54d1d" /><Relationship Type="http://schemas.openxmlformats.org/officeDocument/2006/relationships/slide" Target="/ppt/slides/slide22.xml" Id="R216eff3b80e2494f" /><Relationship Type="http://schemas.openxmlformats.org/officeDocument/2006/relationships/slide" Target="/ppt/slides/slide23.xml" Id="R83f3f90c302d4eaa" /><Relationship Type="http://schemas.openxmlformats.org/officeDocument/2006/relationships/slide" Target="/ppt/slides/slide24.xml" Id="Ra97cbb2986a34ef5" /><Relationship Type="http://schemas.openxmlformats.org/officeDocument/2006/relationships/slide" Target="/ppt/slides/slide25.xml" Id="Re7673c0bfe974862" /><Relationship Type="http://schemas.openxmlformats.org/officeDocument/2006/relationships/slide" Target="/ppt/slides/slide26.xml" Id="R66db18023c734495" /><Relationship Type="http://schemas.openxmlformats.org/officeDocument/2006/relationships/slide" Target="/ppt/slides/slide27.xml" Id="R3a15de45a94f434e" /><Relationship Type="http://schemas.openxmlformats.org/officeDocument/2006/relationships/slide" Target="/ppt/slides/slide28.xml" Id="R385b4f5ca33c40c3" /><Relationship Type="http://schemas.openxmlformats.org/officeDocument/2006/relationships/slide" Target="/ppt/slides/slide29.xml" Id="R5f26f31a6a1a44e2" /><Relationship Type="http://schemas.openxmlformats.org/officeDocument/2006/relationships/slide" Target="/ppt/slides/slide30.xml" Id="R72ddd38285904a93" /><Relationship Type="http://schemas.openxmlformats.org/officeDocument/2006/relationships/slide" Target="/ppt/slides/slide31.xml" Id="R10a24d340fc340c0" /><Relationship Type="http://schemas.openxmlformats.org/officeDocument/2006/relationships/slide" Target="/ppt/slides/slide32.xml" Id="Rbd33d5afbbcb44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7e00e4c13a4b2f"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xfrm>
            <a:off x="594360" y="9418320"/>
            <a:ext cx="5394960" cy="274320"/>
          </a:xfrm>
          <a:prstGeom prst="rect">
            <a:avLst/>
          </a:prstGeom>
        </p:spPr>
        <p:txBody>
          <a:bodyPr/>
          <a:lstStyle/>
          <a:p/>
        </p:txBody>
      </p:sp>
      <p:sp>
        <p:nvSpPr>
          <p:cNvPr id="3" name="Date Placeholder"/>
          <p:cNvSpPr/>
          <p:nvPr>
            <p:ph type="dt" sz="quarter" idx="1"/>
          </p:nvPr>
        </p:nvSpPr>
        <p:spPr>
          <a:xfrm>
            <a:off x="594360" y="9418320"/>
            <a:ext cx="5394960" cy="274320"/>
          </a:xfrm>
          <a:prstGeom prst="rect">
            <a:avLst/>
          </a:prstGeom>
        </p:spPr>
        <p:txBody>
          <a:bodyPr/>
          <a:lstStyle/>
          <a:p/>
        </p:txBody>
      </p:sp>
      <p:sp>
        <p:nvSpPr>
          <p:cNvPr id="4" name="Slide Image Placeholder"/>
          <p:cNvSpPr/>
          <p:nvPr>
            <p:ph type="sldImg" idx="2"/>
          </p:nvPr>
        </p:nvSpPr>
        <p:spPr>
          <a:xfrm>
            <a:off x="594360" y="594360"/>
            <a:ext cx="6583680" cy="3703320"/>
          </a:xfrm>
          <a:prstGeom prst="rect">
            <a:avLst/>
          </a:prstGeom>
        </p:spPr>
        <p:txBody>
          <a:bodyPr/>
          <a:lstStyle/>
          <a:p/>
        </p:txBody>
      </p:sp>
      <p:sp>
        <p:nvSpPr>
          <p:cNvPr id="5" name="Notes Placeholder"/>
          <p:cNvSpPr/>
          <p:nvPr>
            <p:ph type="body" sz="quarter" idx="3"/>
          </p:nvPr>
        </p:nvSpPr>
        <p:spPr>
          <a:xfrm>
            <a:off x="594360" y="4617720"/>
            <a:ext cx="6583680" cy="4480560"/>
          </a:xfrm>
          <a:prstGeom prst="rect">
            <a:avLst/>
          </a:prstGeom>
        </p:spPr>
        <p:txBody>
          <a:bodyPr lIns="0" tIns="0" rIns="0" bIns="0" wrap="square" anchor="t"/>
          <a:lstStyle/>
          <a:p>
            <a:pPr>
              <a:lnSpc>
                <a:spcPct val="115000"/>
              </a:lnSpc>
            </a:pPr>
          </a:p>
        </p:txBody>
      </p:sp>
      <p:sp>
        <p:nvSpPr>
          <p:cNvPr id="6" name="Footer Placeholder"/>
          <p:cNvSpPr/>
          <p:nvPr>
            <p:ph type="ftr" sz="quarter" idx="4"/>
          </p:nvPr>
        </p:nvSpPr>
        <p:spPr>
          <a:xfrm>
            <a:off x="594360" y="9418320"/>
            <a:ext cx="5394960" cy="274320"/>
          </a:xfrm>
          <a:prstGeom prst="rect">
            <a:avLst/>
          </a:prstGeom>
        </p:spPr>
        <p:txBody>
          <a:bodyPr/>
          <a:lstStyle/>
          <a:p/>
        </p:txBody>
      </p:sp>
      <p:sp>
        <p:nvSpPr>
          <p:cNvPr id="7" name="Slide Number Placeholder"/>
          <p:cNvSpPr/>
          <p:nvPr>
            <p:ph type="sldNum" sz="quarter" idx="5"/>
          </p:nvPr>
        </p:nvSpPr>
        <p:spPr>
          <a:xfrm>
            <a:off x="6675120" y="9418320"/>
            <a:ext cx="502920" cy="274320"/>
          </a:xfrm>
          <a:prstGeom prst="rect">
            <a:avLst/>
          </a:prstGeom>
        </p:spPr>
        <p:txBody>
          <a:bodyPr lIns="0" tIns="0" rIns="0" bIns="0" wrap="square" anchor="t"/>
          <a:lstStyle/>
          <a:p>
            <a:pPr>
              <a:lnSpc>
                <a:spcPct val="115000"/>
              </a:lnSpc>
            </a:p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0de2e50f34679" /><Relationship Type="http://schemas.openxmlformats.org/officeDocument/2006/relationships/notesMaster" Target="/ppt/notesMasters/notesMaster1.xml" Id="Rf9b661363a164b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990029a4b845ae" /><Relationship Type="http://schemas.openxmlformats.org/officeDocument/2006/relationships/notesMaster" Target="/ppt/notesMasters/notesMaster1.xml" Id="Re2ddf8c7e90441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6060f93e044535" /><Relationship Type="http://schemas.openxmlformats.org/officeDocument/2006/relationships/notesMaster" Target="/ppt/notesMasters/notesMaster1.xml" Id="Rd780ca7e131847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0f6d0d2dd94840" /><Relationship Type="http://schemas.openxmlformats.org/officeDocument/2006/relationships/notesMaster" Target="/ppt/notesMasters/notesMaster1.xml" Id="Rcfcd638d9a3f47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8a4197bfe34d54" /><Relationship Type="http://schemas.openxmlformats.org/officeDocument/2006/relationships/notesMaster" Target="/ppt/notesMasters/notesMaster1.xml" Id="Rd026b295acd645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0a5dbaca154042" /><Relationship Type="http://schemas.openxmlformats.org/officeDocument/2006/relationships/notesMaster" Target="/ppt/notesMasters/notesMaster1.xml" Id="R61ad4343d3dc48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3f9b1c05734235" /><Relationship Type="http://schemas.openxmlformats.org/officeDocument/2006/relationships/notesMaster" Target="/ppt/notesMasters/notesMaster1.xml" Id="R09bb199d478c4b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6e1913a2e944ba" /><Relationship Type="http://schemas.openxmlformats.org/officeDocument/2006/relationships/notesMaster" Target="/ppt/notesMasters/notesMaster1.xml" Id="Rba188d10531643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378742adce40c0" /><Relationship Type="http://schemas.openxmlformats.org/officeDocument/2006/relationships/notesMaster" Target="/ppt/notesMasters/notesMaster1.xml" Id="R355d53ff703049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63e76eb01a47f9" /><Relationship Type="http://schemas.openxmlformats.org/officeDocument/2006/relationships/notesMaster" Target="/ppt/notesMasters/notesMaster1.xml" Id="Rafd72a8d34594a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56b0cb7fbf400d" /><Relationship Type="http://schemas.openxmlformats.org/officeDocument/2006/relationships/notesMaster" Target="/ppt/notesMasters/notesMaster1.xml" Id="Rc546d7accbf642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cd3061c9c44dfd" /><Relationship Type="http://schemas.openxmlformats.org/officeDocument/2006/relationships/notesMaster" Target="/ppt/notesMasters/notesMaster1.xml" Id="R9c22edd0bc4041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6c596da2f14693" /><Relationship Type="http://schemas.openxmlformats.org/officeDocument/2006/relationships/notesMaster" Target="/ppt/notesMasters/notesMaster1.xml" Id="Rb0582b12471f46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3215ab17054f6c" /><Relationship Type="http://schemas.openxmlformats.org/officeDocument/2006/relationships/notesMaster" Target="/ppt/notesMasters/notesMaster1.xml" Id="R39a9602f32224b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38c1109fe34bcb" /><Relationship Type="http://schemas.openxmlformats.org/officeDocument/2006/relationships/notesMaster" Target="/ppt/notesMasters/notesMaster1.xml" Id="R3de787b1a0274d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f128b41ed540a6" /><Relationship Type="http://schemas.openxmlformats.org/officeDocument/2006/relationships/notesMaster" Target="/ppt/notesMasters/notesMaster1.xml" Id="R4aa6a4456a5741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c611e8f8e148e3" /><Relationship Type="http://schemas.openxmlformats.org/officeDocument/2006/relationships/notesMaster" Target="/ppt/notesMasters/notesMaster1.xml" Id="R821fd206518442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109aa66630463c" /><Relationship Type="http://schemas.openxmlformats.org/officeDocument/2006/relationships/notesMaster" Target="/ppt/notesMasters/notesMaster1.xml" Id="R9922175179b445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8f72ea14924d3c" /><Relationship Type="http://schemas.openxmlformats.org/officeDocument/2006/relationships/notesMaster" Target="/ppt/notesMasters/notesMaster1.xml" Id="R4ae9a009059643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330d103ebc4b75" /><Relationship Type="http://schemas.openxmlformats.org/officeDocument/2006/relationships/notesMaster" Target="/ppt/notesMasters/notesMaster1.xml" Id="Rb06b3722200c430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fb061cb42b94c69" /><Relationship Type="http://schemas.openxmlformats.org/officeDocument/2006/relationships/notesMaster" Target="/ppt/notesMasters/notesMaster1.xml" Id="R10d709ac584a4e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55c8933dc441a3" /><Relationship Type="http://schemas.openxmlformats.org/officeDocument/2006/relationships/notesMaster" Target="/ppt/notesMasters/notesMaster1.xml" Id="Re77fc6456b5b43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27022724ab440aa" /><Relationship Type="http://schemas.openxmlformats.org/officeDocument/2006/relationships/notesMaster" Target="/ppt/notesMasters/notesMaster1.xml" Id="R8932e691cbef43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5349af652e40a1" /><Relationship Type="http://schemas.openxmlformats.org/officeDocument/2006/relationships/notesMaster" Target="/ppt/notesMasters/notesMaster1.xml" Id="Rf89455fab0b847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352e6c95544be7" /><Relationship Type="http://schemas.openxmlformats.org/officeDocument/2006/relationships/notesMaster" Target="/ppt/notesMasters/notesMaster1.xml" Id="R7b4a7f205f3141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4ad134c4e344c2" /><Relationship Type="http://schemas.openxmlformats.org/officeDocument/2006/relationships/notesMaster" Target="/ppt/notesMasters/notesMaster1.xml" Id="Re30432743c3a441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2aafd1f599448e7" /><Relationship Type="http://schemas.openxmlformats.org/officeDocument/2006/relationships/notesMaster" Target="/ppt/notesMasters/notesMaster1.xml" Id="Rba4ed16ebd7c4a5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8679303e0954511" /><Relationship Type="http://schemas.openxmlformats.org/officeDocument/2006/relationships/notesMaster" Target="/ppt/notesMasters/notesMaster1.xml" Id="Rcace96854bea46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bae219ac65c4231" /><Relationship Type="http://schemas.openxmlformats.org/officeDocument/2006/relationships/notesMaster" Target="/ppt/notesMasters/notesMaster1.xml" Id="R5109ba334519404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12c1ccad2e40bb" /><Relationship Type="http://schemas.openxmlformats.org/officeDocument/2006/relationships/notesMaster" Target="/ppt/notesMasters/notesMaster1.xml" Id="R17c9158ea3954f1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36d3a518d8d4f91" /><Relationship Type="http://schemas.openxmlformats.org/officeDocument/2006/relationships/notesMaster" Target="/ppt/notesMasters/notesMaster1.xml" Id="Rd2db3f2c913c41e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2d93441ba014fdb" /><Relationship Type="http://schemas.openxmlformats.org/officeDocument/2006/relationships/notesMaster" Target="/ppt/notesMasters/notesMaster1.xml" Id="R0cfa233670b8450e"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The companion folder contains complete Java 17 sources for the displayed code and its supporting heap, priority queue, and heapsort classes. Keep that folder beside the PowerPoint for local links. Print Notes Pages for slide thumbnails and teaching notes; the separate PDF contains slides only.</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The stable example adds a monotonically increasing sequence number as a secondary comparison key. Smaller numeric priority is more urgent in that example; this is a stated policy rather than a universal convention. Equal priorities alone do not guarantee FIFO behavior.</a:t>
            </a:r>
          </a:p>
          <a:p>
            <a:pPr>
              <a:lnSpc>
                <a:spcPct val="115000"/>
              </a:lnSpc>
            </a:pPr>
            <a:r>
              <a:rPr sz="1200">
                <a:latin typeface="Arial"/>
              </a:rPr>
              <a:t>Local Java: StablePriorityQueueDemo.java.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The custom course API rejects null items and returns null for an empty peek or remove. The heap add method returns void; the MaxPriorityQueue and MinPriorityQueue adapters implement the interface boolean add by returning true after a successful insertion. Do not confuse this empty-remove behavior with the JDK API.</a:t>
            </a:r>
          </a:p>
          <a:p>
            <a:pPr>
              <a:lnSpc>
                <a:spcPct val="115000"/>
              </a:lnSpc>
            </a:pPr>
            <a:r>
              <a:rPr sz="1200">
                <a:latin typeface="Arial"/>
              </a:rPr>
              <a:t>Local Java: PriorityQueueInterface.java, TestPQ.java.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 heap is not a binary search tree and its array is not globally sorted. Checking a parent against its children is enough to establish the local invariant; complete shape gives logarithmic height.</a:t>
            </a:r>
          </a:p>
          <a:p>
            <a:pPr>
              <a:lnSpc>
                <a:spcPct val="115000"/>
              </a:lnSpc>
            </a:pPr>
            <a:r>
              <a:rPr sz="1200">
                <a:latin typeface="Arial"/>
              </a:rPr>
              <a:t>Local Java: MaxHeap.java.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MaxHeap and MinHeap are separate implementations with opposite comparisons. Their snapshot methods return an independent unmodifiable level-order list, not a sorted sequence. Mutable element references are shared; do not change comparison keys while an element is queued.</a:t>
            </a:r>
          </a:p>
          <a:p>
            <a:pPr>
              <a:lnSpc>
                <a:spcPct val="115000"/>
              </a:lnSpc>
            </a:pPr>
            <a:r>
              <a:rPr sz="1200">
                <a:latin typeface="Arial"/>
              </a:rPr>
              <a:t>Local Java: MaxHeap.java, MinHeap.java.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MaxHeap.java.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HeapDemo prints level-order arrays. For zero-based indexing, only compute the parent when i is positive. The root has no parent. A child index is used only while it lies within logical size.</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The full MaxHeap declares private ArrayList&lt;T&gt; list and imports Collections. The loop guard root &lt; n / 2 means this node has a left child; it also avoids evaluating an overflowing child-index expression for a very large leaf index. With this guard, 2 * root + 1 is safe. The right-child check handles a final parent with only a left child. Sift down chooses the larger child, then stops on equality.</a:t>
            </a:r>
          </a:p>
          <a:p>
            <a:pPr>
              <a:lnSpc>
                <a:spcPct val="115000"/>
              </a:lnSpc>
            </a:pPr>
            <a:r>
              <a:rPr sz="1200">
                <a:latin typeface="Arial"/>
              </a:rPr>
              <a:t>Local Java: MaxHeap.java.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This is MaxHeap.add, whose return type is void. The custom priority queue adapter has boolean add and returns true after this heap insertion. Null is rejected before mutation. Equal items do not swap unnecessarily; that does not make the overall priority queue stable.</a:t>
            </a:r>
          </a:p>
          <a:p>
            <a:pPr>
              <a:lnSpc>
                <a:spcPct val="115000"/>
              </a:lnSpc>
            </a:pPr>
            <a:r>
              <a:rPr sz="1200">
                <a:latin typeface="Arial"/>
              </a:rPr>
              <a:t>Local Java: MaxHeap.java.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HeapDemo reproduces the six insertions and prints [22, 11, 19, 3, 5, 1]. The source diagram shows the same level-order arrangement. The root is the maximum, but siblings have no required relative ordering.</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After inserting 88, the level-order array is [88, 11, 22, 3, 5, 1, 19]. The path to the root contains the two swaps described by the slide.</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HeapDemo builds the displayed 14-item heap from [62,42,59,32,39,44,13,22,29,14,33,30,17,9]. remove returns 62. The saved result must not be overwritten by repair.</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Ask students to connect the displayed representation or trace with the heap invariant and the operation cost. Use HeapDemo to compare the illustrated sequence with level-order array values.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After removing 62 and repairing, HeapDemo prints [59,42,44,32,39,30,13,22,29,14,33,9,17]. The three downward swaps match the diagram. The remaining heap has 13 items.</a:t>
            </a:r>
          </a:p>
          <a:p>
            <a:pPr>
              <a:lnSpc>
                <a:spcPct val="115000"/>
              </a:lnSpc>
            </a:pPr>
            <a:r>
              <a:rPr sz="1200">
                <a:latin typeface="Arial"/>
              </a:rPr>
              <a:t>Local 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The collection constructor copies and checks every entry, then runs the displayed loop. Each child subtree has already been repaired before its parent. This is bottom-up O(n) construction, not n successive calls to add. The linked source uses the overflow-safe sift-down guard from slide 18.</a:t>
            </a:r>
          </a:p>
          <a:p>
            <a:pPr>
              <a:lnSpc>
                <a:spcPct val="115000"/>
              </a:lnSpc>
            </a:pPr>
            <a:r>
              <a:rPr sz="1200">
                <a:latin typeface="Arial"/>
              </a:rPr>
              <a:t>Local Java: MaxHeap.java, HeapDemo.java.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Both adapters implement PriorityQueueInterface&lt;T&gt;. They hide the heap and reject null. Empty remove and peek return null. clear removes all references in O(n); neither removal nor clear shrinks the array capacity here. TestPQ drains maximum and minimum queues to show the chosen ordering.</a:t>
            </a:r>
          </a:p>
          <a:p>
            <a:pPr>
              <a:lnSpc>
                <a:spcPct val="115000"/>
              </a:lnSpc>
            </a:pPr>
            <a:r>
              <a:rPr sz="1200">
                <a:latin typeface="Arial"/>
              </a:rPr>
              <a:t>Local Java: MaxPriorityQueue.java, MinPriorityQueue.java, TestPQ.java.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HeapSort.sort(int[]) implements the slide algorithm directly within the input array. Its iterative siftDown uses an exclusive active-end bound. The sorted suffix stays outside the heap. This implementation uses O(1) auxiliary space and is unstable. HeapSortTest includes negative and duplicate values.</a:t>
            </a:r>
          </a:p>
          <a:p>
            <a:pPr>
              <a:lnSpc>
                <a:spcPct val="115000"/>
              </a:lnSpc>
            </a:pPr>
            <a:r>
              <a:rPr sz="1200">
                <a:latin typeface="Arial"/>
              </a:rPr>
              <a:t>Local Java: HeapSort.java, HeapSortTest.java.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The linked test demonstrates the in-place ascending heapsort. Ordinary recursive quicksort can use O(n) stack space on a worst-case recursion chain; O(log n) describes typical balanced recursion. Implementations that recurse on the smaller partition can bound stack depth separately from worst-case running time.</a:t>
            </a:r>
          </a:p>
          <a:p>
            <a:pPr>
              <a:lnSpc>
                <a:spcPct val="115000"/>
              </a:lnSpc>
            </a:pPr>
            <a:r>
              <a:rPr sz="1200">
                <a:latin typeface="Arial"/>
              </a:rPr>
              <a:t>Local Java: HeapSortTest.java.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a:lnSpc>
                <a:spcPct val="115000"/>
              </a:lnSpc>
            </a:pPr>
            <a:r>
              <a:rPr sz="1200">
                <a:latin typeface="Arial"/>
              </a:rPr>
              <a:t>Adapted from the supplied Lecture11-PQ.pptx. Original Pearson material: © 2011 Pearson Addison-Wesley. All rights reserved.</a:t>
            </a:r>
          </a:p>
          <a:p>
            <a:pPr>
              <a:lnSpc>
                <a:spcPct val="115000"/>
              </a:lnSpc>
            </a:pPr>
            <a:r>
              <a:rPr sz="1200">
                <a:latin typeface="Arial"/>
              </a:rPr>
              <a:t>Analysis assumes n stored items, O(1) comparisons, and O(1) array access. Worst-case bounds unless labeled otherwise.</a:t>
            </a:r>
          </a:p>
          <a:p>
            <a:pPr>
              <a:lnSpc>
                <a:spcPct val="115000"/>
              </a:lnSpc>
            </a:pPr>
            <a:r>
              <a:rPr sz="1200">
                <a:latin typeface="Arial"/>
              </a:rPr>
              <a:t/>
            </a:r>
          </a:p>
          <a:p>
            <a:pPr>
              <a:lnSpc>
                <a:spcPct val="115000"/>
              </a:lnSpc>
            </a:pPr>
            <a:r>
              <a:rPr sz="1200">
                <a:latin typeface="Arial"/>
              </a:rPr>
              <a:t>JavaPriorityQueueDemo uses natural-order and reverse-order queues. Repeated poll produces priority order; iterator order and toString output must not be assumed sorted. Null entries are prohibited. StablePriorityQueueDemo explicitly orders by priority and then arrival sequence. Oracle Java SE 17 PriorityQueue API: https://docs.oracle.com/en/java/javase/17/docs/api/java.base/java/util/PriorityQueue.html . OpenJDK 17 implementation: https://github.com/openjdk/jdk17u/blob/master/src/java.base/share/classes/java/util/PriorityQueue.java . Array growth can make an individual insertion linear even though heap repair is logarithmic.</a:t>
            </a:r>
          </a:p>
          <a:p>
            <a:pPr>
              <a:lnSpc>
                <a:spcPct val="115000"/>
              </a:lnSpc>
            </a:pPr>
            <a:r>
              <a:rPr sz="1200">
                <a:latin typeface="Arial"/>
              </a:rPr>
              <a:t>Local Java: JavaPriorityQueueDemo.java, StablePriorityQueueDemo.java.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0ef4dd39fc41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9e17cd721e42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8b7c76baf042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266e0aae3946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aba499262143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c0353066ad43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558CD3-1A55-4E9A-A26F-DB107C98BE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7859F7-408E-4747-BBAF-9A7EE0C51E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D41A13-1BB5-4089-901B-69AF7BC3D5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0DD43C-B78C-4D2D-82E2-3799B8570F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0F63DF-AB44-44FD-828D-BC64A3B371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B88BEB-8AAD-4F9D-AB31-BD45F4D70E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6039D8-9330-4304-90EC-F653C56798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3B3A2D-3A3E-4034-9962-D1CF203F95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1A0A6F-DD49-4C6B-B213-2A189C0312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3EA7C4-BD51-4AFE-AEF7-381D57910E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a6db9e0ef74151" /><Relationship Type="http://schemas.openxmlformats.org/officeDocument/2006/relationships/slideLayout" Target="/ppt/slideLayouts/slideLayout1.xml" Id="R70f0aa9f334e45c5" /><Relationship Type="http://schemas.openxmlformats.org/officeDocument/2006/relationships/slideLayout" Target="/ppt/slideLayouts/slideLayout2.xml" Id="R83d651e738474340" /><Relationship Type="http://schemas.openxmlformats.org/officeDocument/2006/relationships/slideLayout" Target="/ppt/slideLayouts/slideLayout3.xml" Id="R97defe393e56455c" /><Relationship Type="http://schemas.openxmlformats.org/officeDocument/2006/relationships/slideLayout" Target="/ppt/slideLayouts/slideLayout4.xml" Id="R614b3b7861924222" /><Relationship Type="http://schemas.openxmlformats.org/officeDocument/2006/relationships/slideLayout" Target="/ppt/slideLayouts/slideLayout5.xml" Id="R0a9c07c91e0e412d" /><Relationship Type="http://schemas.openxmlformats.org/officeDocument/2006/relationships/slideLayout" Target="/ppt/slideLayouts/slideLayout6.xml" Id="Rf21db5caf4ba4c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f0aa9f334e45c5"/>
    <p:sldLayoutId xmlns:r="http://schemas.openxmlformats.org/officeDocument/2006/relationships" id="2147483650" r:id="R83d651e738474340"/>
    <p:sldLayoutId xmlns:r="http://schemas.openxmlformats.org/officeDocument/2006/relationships" id="2147483651" r:id="R97defe393e56455c"/>
    <p:sldLayoutId xmlns:r="http://schemas.openxmlformats.org/officeDocument/2006/relationships" id="2147483652" r:id="R614b3b7861924222"/>
    <p:sldLayoutId xmlns:r="http://schemas.openxmlformats.org/officeDocument/2006/relationships" id="2147483653" r:id="R0a9c07c91e0e412d"/>
    <p:sldLayoutId xmlns:r="http://schemas.openxmlformats.org/officeDocument/2006/relationships" id="2147483654" r:id="Rf21db5caf4ba4c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58d07343064dd7" /><Relationship Type="http://schemas.openxmlformats.org/officeDocument/2006/relationships/notesSlide" Target="/ppt/notesSlides/notesSlide1.xml" Id="R7a106c512ebd4d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f4676b14394643" /><Relationship Type="http://schemas.openxmlformats.org/officeDocument/2006/relationships/hyperlink" Target="Lecture11_PQ_Java_Examples/StablePriorityQueueDemo.java" TargetMode="External" Id="R50d7e3646b5e4309" /><Relationship Type="http://schemas.openxmlformats.org/officeDocument/2006/relationships/notesSlide" Target="/ppt/notesSlides/notesSlide2.xml" Id="R4175102cbf134e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f25af3f52242c4" /><Relationship Type="http://schemas.openxmlformats.org/officeDocument/2006/relationships/hyperlink" Target="Lecture11_PQ_Java_Examples/PriorityQueueInterface.java" TargetMode="External" Id="Rda4af5436d4148de" /><Relationship Type="http://schemas.openxmlformats.org/officeDocument/2006/relationships/hyperlink" Target="Lecture11_PQ_Java_Examples/TestPQ.java" TargetMode="External" Id="R4afa8f2ce6c3435e" /><Relationship Type="http://schemas.openxmlformats.org/officeDocument/2006/relationships/notesSlide" Target="/ppt/notesSlides/notesSlide3.xml" Id="R3603af0ba57448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a2bc28c5054863" /><Relationship Type="http://schemas.openxmlformats.org/officeDocument/2006/relationships/notesSlide" Target="/ppt/notesSlides/notesSlide4.xml" Id="Rc612817462d04c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4e17b34cb34345" /><Relationship Type="http://schemas.openxmlformats.org/officeDocument/2006/relationships/image" Target="/ppt/media/image.png" Id="R9b8e27af5bf144c3" /><Relationship Type="http://schemas.openxmlformats.org/officeDocument/2006/relationships/notesSlide" Target="/ppt/notesSlides/notesSlide5.xml" Id="Rf0ec7bb7554647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74dfca235f4974" /><Relationship Type="http://schemas.openxmlformats.org/officeDocument/2006/relationships/notesSlide" Target="/ppt/notesSlides/notesSlide6.xml" Id="Rc1e875355cd84a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4bac73ec6644fa" /><Relationship Type="http://schemas.openxmlformats.org/officeDocument/2006/relationships/image" Target="/ppt/media/image2.png" Id="R8b05987919894e47" /><Relationship Type="http://schemas.openxmlformats.org/officeDocument/2006/relationships/notesSlide" Target="/ppt/notesSlides/notesSlide7.xml" Id="R99337961f2fe46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b45db85c02477c" /><Relationship Type="http://schemas.openxmlformats.org/officeDocument/2006/relationships/hyperlink" Target="Lecture11_PQ_Java_Examples/MaxHeap.java" TargetMode="External" Id="R50a8c1029ddc4d53" /><Relationship Type="http://schemas.openxmlformats.org/officeDocument/2006/relationships/notesSlide" Target="/ppt/notesSlides/notesSlide8.xml" Id="Rc04a9bdf3e364a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980337fd0b45de" /><Relationship Type="http://schemas.openxmlformats.org/officeDocument/2006/relationships/image" Target="/ppt/media/image3.png" Id="R19a8ffc66e7e40a6" /><Relationship Type="http://schemas.openxmlformats.org/officeDocument/2006/relationships/notesSlide" Target="/ppt/notesSlides/notesSlide9.xml" Id="R2ec64af46d0149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b439d748a44f33" /><Relationship Type="http://schemas.openxmlformats.org/officeDocument/2006/relationships/image" Target="/ppt/media/image4.png" Id="R11ae62142666445c" /><Relationship Type="http://schemas.openxmlformats.org/officeDocument/2006/relationships/hyperlink" Target="Lecture11_PQ_Java_Examples/MaxHeap.java" TargetMode="External" Id="Rf67e97b894ce4c02" /><Relationship Type="http://schemas.openxmlformats.org/officeDocument/2006/relationships/hyperlink" Target="Lecture11_PQ_Java_Examples/MinHeap.java" TargetMode="External" Id="R68baba73a099475e" /><Relationship Type="http://schemas.openxmlformats.org/officeDocument/2006/relationships/notesSlide" Target="/ppt/notesSlides/notesSlide10.xml" Id="R10c8596679e041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7d829d74a2428b" /><Relationship Type="http://schemas.openxmlformats.org/officeDocument/2006/relationships/hyperlink" Target="Lecture11_PQ_Java_Examples/MaxHeap.java" TargetMode="External" Id="R2cc588fa87a04802" /><Relationship Type="http://schemas.openxmlformats.org/officeDocument/2006/relationships/notesSlide" Target="/ppt/notesSlides/notesSlide11.xml" Id="R758eca67fa9d47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5a2c216041d40cd" /><Relationship Type="http://schemas.openxmlformats.org/officeDocument/2006/relationships/image" Target="/ppt/media/image5.png" Id="R07a22b58a66d44a0" /><Relationship Type="http://schemas.openxmlformats.org/officeDocument/2006/relationships/hyperlink" Target="Lecture11_PQ_Java_Examples/HeapDemo.java" TargetMode="External" Id="Rdb2f51e0732e44ef" /><Relationship Type="http://schemas.openxmlformats.org/officeDocument/2006/relationships/notesSlide" Target="/ppt/notesSlides/notesSlide12.xml" Id="R580212a209a345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0051fbeb994791" /><Relationship Type="http://schemas.openxmlformats.org/officeDocument/2006/relationships/image" Target="/ppt/media/image6.png" Id="R462e00d01f224ddb" /><Relationship Type="http://schemas.openxmlformats.org/officeDocument/2006/relationships/hyperlink" Target="Lecture11_PQ_Java_Examples/HeapDemo.java" TargetMode="External" Id="R2bccf459bb214479" /><Relationship Type="http://schemas.openxmlformats.org/officeDocument/2006/relationships/notesSlide" Target="/ppt/notesSlides/notesSlide13.xml" Id="Rc96bf0e3002442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501492c21384303" /><Relationship Type="http://schemas.openxmlformats.org/officeDocument/2006/relationships/image" Target="/ppt/media/image7.png" Id="R8be48403aedf4cba" /><Relationship Type="http://schemas.openxmlformats.org/officeDocument/2006/relationships/hyperlink" Target="Lecture11_PQ_Java_Examples/HeapDemo.java" TargetMode="External" Id="R3a0078104187414c" /><Relationship Type="http://schemas.openxmlformats.org/officeDocument/2006/relationships/notesSlide" Target="/ppt/notesSlides/notesSlide14.xml" Id="Ra42a51d93cfe4f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cac40446fec464b" /><Relationship Type="http://schemas.openxmlformats.org/officeDocument/2006/relationships/hyperlink" Target="Lecture11_PQ_Java_Examples/HeapDemo.java" TargetMode="External" Id="R357ba1e8283a40bc" /><Relationship Type="http://schemas.openxmlformats.org/officeDocument/2006/relationships/notesSlide" Target="/ppt/notesSlides/notesSlide15.xml" Id="R05087c48021f4e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d5a0c75cf04425d" /><Relationship Type="http://schemas.openxmlformats.org/officeDocument/2006/relationships/image" Target="/ppt/media/image8.png" Id="Ra12d2f85976649fa" /><Relationship Type="http://schemas.openxmlformats.org/officeDocument/2006/relationships/hyperlink" Target="Lecture11_PQ_Java_Examples/HeapDemo.java" TargetMode="External" Id="R25ea61b0d76d41ed" /><Relationship Type="http://schemas.openxmlformats.org/officeDocument/2006/relationships/notesSlide" Target="/ppt/notesSlides/notesSlide16.xml" Id="Rf657109693814d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8b6d28f39c44342" /><Relationship Type="http://schemas.openxmlformats.org/officeDocument/2006/relationships/image" Target="/ppt/media/image9.png" Id="Rfa0802fb74e74912" /><Relationship Type="http://schemas.openxmlformats.org/officeDocument/2006/relationships/hyperlink" Target="Lecture11_PQ_Java_Examples/HeapDemo.java" TargetMode="External" Id="R0969f0f7b96e49c8" /><Relationship Type="http://schemas.openxmlformats.org/officeDocument/2006/relationships/notesSlide" Target="/ppt/notesSlides/notesSlide17.xml" Id="R9517334490ac43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a3182f05cbc42ed" /><Relationship Type="http://schemas.openxmlformats.org/officeDocument/2006/relationships/hyperlink" Target="Lecture11_PQ_Java_Examples/MaxHeap.java" TargetMode="External" Id="Rf93e1f6263e74af0" /><Relationship Type="http://schemas.openxmlformats.org/officeDocument/2006/relationships/notesSlide" Target="/ppt/notesSlides/notesSlide18.xml" Id="R2a08788e7ee04e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6a804cfac474dfb" /><Relationship Type="http://schemas.openxmlformats.org/officeDocument/2006/relationships/image" Target="/ppt/media/image10.png" Id="Ra94c524fd0864044" /><Relationship Type="http://schemas.openxmlformats.org/officeDocument/2006/relationships/hyperlink" Target="Lecture11_PQ_Java_Examples/HeapDemo.java" TargetMode="External" Id="R6aabe19cffb94d1a" /><Relationship Type="http://schemas.openxmlformats.org/officeDocument/2006/relationships/notesSlide" Target="/ppt/notesSlides/notesSlide19.xml" Id="Rf48fdcb0ef964a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e0a6eb4a0694599" /><Relationship Type="http://schemas.openxmlformats.org/officeDocument/2006/relationships/hyperlink" Target="Lecture11_PQ_Java_Examples/MaxHeap.java" TargetMode="External" Id="R2bc31c082710485d" /><Relationship Type="http://schemas.openxmlformats.org/officeDocument/2006/relationships/notesSlide" Target="/ppt/notesSlides/notesSlide20.xml" Id="R4d15b6b7620243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2f0494c59b945d2" /><Relationship Type="http://schemas.openxmlformats.org/officeDocument/2006/relationships/image" Target="/ppt/media/image11.png" Id="Rc1d61d73d13f4fbd" /><Relationship Type="http://schemas.openxmlformats.org/officeDocument/2006/relationships/hyperlink" Target="Lecture11_PQ_Java_Examples/HeapDemo.java" TargetMode="External" Id="R836a6aaee0574641" /><Relationship Type="http://schemas.openxmlformats.org/officeDocument/2006/relationships/notesSlide" Target="/ppt/notesSlides/notesSlide21.xml" Id="R508c23a753c84d1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a7e6e8128604515" /><Relationship Type="http://schemas.openxmlformats.org/officeDocument/2006/relationships/image" Target="/ppt/media/image12.png" Id="R18c67756ccb34192" /><Relationship Type="http://schemas.openxmlformats.org/officeDocument/2006/relationships/hyperlink" Target="Lecture11_PQ_Java_Examples/HeapDemo.java" TargetMode="External" Id="R3a1794bac5ed401d" /><Relationship Type="http://schemas.openxmlformats.org/officeDocument/2006/relationships/notesSlide" Target="/ppt/notesSlides/notesSlide22.xml" Id="Rb7d96fbe6f2247f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46f6b4e02134625" /><Relationship Type="http://schemas.openxmlformats.org/officeDocument/2006/relationships/image" Target="/ppt/media/image13.png" Id="Re3b286ca3a714213" /><Relationship Type="http://schemas.openxmlformats.org/officeDocument/2006/relationships/hyperlink" Target="Lecture11_PQ_Java_Examples/HeapDemo.java" TargetMode="External" Id="Re83b582afcb244a5" /><Relationship Type="http://schemas.openxmlformats.org/officeDocument/2006/relationships/notesSlide" Target="/ppt/notesSlides/notesSlide23.xml" Id="R067ce939c1d546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0f7b9e012c3406f" /><Relationship Type="http://schemas.openxmlformats.org/officeDocument/2006/relationships/image" Target="/ppt/media/image14.png" Id="R2b50cdaa53c64245" /><Relationship Type="http://schemas.openxmlformats.org/officeDocument/2006/relationships/hyperlink" Target="Lecture11_PQ_Java_Examples/HeapDemo.java" TargetMode="External" Id="Rba6dfc258fcb46cb" /><Relationship Type="http://schemas.openxmlformats.org/officeDocument/2006/relationships/notesSlide" Target="/ppt/notesSlides/notesSlide24.xml" Id="Ra4df04ba0918457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c61a0eb39c94a51" /><Relationship Type="http://schemas.openxmlformats.org/officeDocument/2006/relationships/image" Target="/ppt/media/image15.png" Id="R0109164b5066459e" /><Relationship Type="http://schemas.openxmlformats.org/officeDocument/2006/relationships/hyperlink" Target="Lecture11_PQ_Java_Examples/HeapDemo.java" TargetMode="External" Id="Rdd62e207b1094f68" /><Relationship Type="http://schemas.openxmlformats.org/officeDocument/2006/relationships/notesSlide" Target="/ppt/notesSlides/notesSlide25.xml" Id="Rb100c553e47d4e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d9cc67838ae4381" /><Relationship Type="http://schemas.openxmlformats.org/officeDocument/2006/relationships/image" Target="/ppt/media/image16.png" Id="Ref9a9bc1103a4c96" /><Relationship Type="http://schemas.openxmlformats.org/officeDocument/2006/relationships/hyperlink" Target="Lecture11_PQ_Java_Examples/HeapDemo.java" TargetMode="External" Id="R30a1e30086954cc2" /><Relationship Type="http://schemas.openxmlformats.org/officeDocument/2006/relationships/notesSlide" Target="/ppt/notesSlides/notesSlide26.xml" Id="Rb6f17ddaa64b4f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f84206f709441e9" /><Relationship Type="http://schemas.openxmlformats.org/officeDocument/2006/relationships/image" Target="/ppt/media/image17.png" Id="Rf1c3234c37144b8c" /><Relationship Type="http://schemas.openxmlformats.org/officeDocument/2006/relationships/hyperlink" Target="Lecture11_PQ_Java_Examples/HeapDemo.java" TargetMode="External" Id="Rd75efc41ed1b4ab2" /><Relationship Type="http://schemas.openxmlformats.org/officeDocument/2006/relationships/notesSlide" Target="/ppt/notesSlides/notesSlide27.xml" Id="R6c71d0bce91749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3e2f3908b2c435e" /><Relationship Type="http://schemas.openxmlformats.org/officeDocument/2006/relationships/hyperlink" Target="Lecture11_PQ_Java_Examples/MaxHeap.java" TargetMode="External" Id="Rc0046273a4cc4c16" /><Relationship Type="http://schemas.openxmlformats.org/officeDocument/2006/relationships/hyperlink" Target="Lecture11_PQ_Java_Examples/HeapDemo.java" TargetMode="External" Id="R0e5101167f68405f" /><Relationship Type="http://schemas.openxmlformats.org/officeDocument/2006/relationships/notesSlide" Target="/ppt/notesSlides/notesSlide28.xml" Id="Rc105f7ce094241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9ad4436c2fb40e5" /><Relationship Type="http://schemas.openxmlformats.org/officeDocument/2006/relationships/hyperlink" Target="Lecture11_PQ_Java_Examples/MaxPriorityQueue.java" TargetMode="External" Id="R814eb57e88e34d3e" /><Relationship Type="http://schemas.openxmlformats.org/officeDocument/2006/relationships/hyperlink" Target="Lecture11_PQ_Java_Examples/MinPriorityQueue.java" TargetMode="External" Id="R1ea281fdf1ac489e" /><Relationship Type="http://schemas.openxmlformats.org/officeDocument/2006/relationships/hyperlink" Target="Lecture11_PQ_Java_Examples/TestPQ.java" TargetMode="External" Id="R0e617fd54a7d4263" /><Relationship Type="http://schemas.openxmlformats.org/officeDocument/2006/relationships/notesSlide" Target="/ppt/notesSlides/notesSlide29.xml" Id="Rd4e41b2ead444fd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0477bc627a54679" /><Relationship Type="http://schemas.openxmlformats.org/officeDocument/2006/relationships/hyperlink" Target="Lecture11_PQ_Java_Examples/HeapSort.java" TargetMode="External" Id="Rcade683539fb454e" /><Relationship Type="http://schemas.openxmlformats.org/officeDocument/2006/relationships/hyperlink" Target="Lecture11_PQ_Java_Examples/HeapSortTest.java" TargetMode="External" Id="R2c7da6e84b144fb6" /><Relationship Type="http://schemas.openxmlformats.org/officeDocument/2006/relationships/notesSlide" Target="/ppt/notesSlides/notesSlide30.xml" Id="R08ba5db81047487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143df5377424474" /><Relationship Type="http://schemas.openxmlformats.org/officeDocument/2006/relationships/hyperlink" Target="Lecture11_PQ_Java_Examples/HeapSortTest.java" TargetMode="External" Id="R8613fcf065974070" /><Relationship Type="http://schemas.openxmlformats.org/officeDocument/2006/relationships/notesSlide" Target="/ppt/notesSlides/notesSlide31.xml" Id="R21cb56da83b24f7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85fe2b100b140f5" /><Relationship Type="http://schemas.openxmlformats.org/officeDocument/2006/relationships/hyperlink" Target="Lecture11_PQ_Java_Examples/JavaPriorityQueueDemo.java" TargetMode="External" Id="Rc17663578abf49ce" /><Relationship Type="http://schemas.openxmlformats.org/officeDocument/2006/relationships/hyperlink" Target="Lecture11_PQ_Java_Examples/StablePriorityQueueDemo.java" TargetMode="External" Id="R71eb94ff17824711" /><Relationship Type="http://schemas.openxmlformats.org/officeDocument/2006/relationships/notesSlide" Target="/ppt/notesSlides/notesSlide32.xml" Id="Ra405ab87be1444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C91B69-9543-4195-B808-8CD82838D2C6}"/>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Priority queues and binary heaps</a:t>
            </a:r>
          </a:p>
        </p:txBody>
      </p:sp>
      <p:sp>
        <p:nvSpPr>
          <p:cNvPr id="2" name="">
            <a:extLst xmlns:a="http://schemas.openxmlformats.org/drawingml/2006/main">
              <a:ext uri="{FF2B5EF4-FFF2-40B4-BE49-F238E27FC236}">
                <a16:creationId xmlns:a16="http://schemas.microsoft.com/office/drawing/2014/main" id="{D7DAFE3D-7C39-4D8C-8566-8F09B31C6156}"/>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98207FEA-14D8-40E8-8227-B8173E0260C2}"/>
              </a:ext>
            </a:extLst>
          </p:cNvPr>
          <p:cNvSpPr>
            <a:spLocks xmlns:a="http://schemas.openxmlformats.org/drawingml/2006/main" noGrp="1"/>
          </p:cNvSpPr>
          <p:nvPr/>
        </p:nvSpPr>
        <p:spPr>
          <a:xfrm xmlns:a="http://schemas.openxmlformats.org/drawingml/2006/main">
            <a:off x="533400" y="2333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ptos"/>
                <a:ea typeface="Aptos"/>
                <a:cs typeface="Aptos"/>
              </a:defRPr>
            </a:defPPr>
            <a:lvl1pPr>
              <a:buNone/>
              <a:defRPr sz="2250" b="1">
                <a:solidFill>
                  <a:srgbClr val="087F8C"/>
                </a:solidFill>
                <a:latin typeface="Aptos"/>
                <a:ea typeface="Aptos"/>
                <a:cs typeface="Aptos"/>
              </a:defRPr>
            </a:lvl1pPr>
            <a:lvl2pPr>
              <a:buNone/>
              <a:defRPr sz="2250" b="1">
                <a:solidFill>
                  <a:srgbClr val="087F8C"/>
                </a:solidFill>
                <a:latin typeface="Aptos"/>
                <a:ea typeface="Aptos"/>
                <a:cs typeface="Aptos"/>
              </a:defRPr>
            </a:lvl2pPr>
            <a:lvl3pPr>
              <a:buNone/>
              <a:defRPr sz="2250" b="1">
                <a:solidFill>
                  <a:srgbClr val="087F8C"/>
                </a:solidFill>
                <a:latin typeface="Aptos"/>
                <a:ea typeface="Aptos"/>
                <a:cs typeface="Aptos"/>
              </a:defRPr>
            </a:lvl3pPr>
            <a:lvl4pPr>
              <a:buNone/>
              <a:defRPr sz="2250" b="1">
                <a:solidFill>
                  <a:srgbClr val="087F8C"/>
                </a:solidFill>
                <a:latin typeface="Aptos"/>
                <a:ea typeface="Aptos"/>
                <a:cs typeface="Aptos"/>
              </a:defRPr>
            </a:lvl4pPr>
            <a:lvl5pPr>
              <a:buNone/>
              <a:defRPr sz="2250" b="1">
                <a:solidFill>
                  <a:srgbClr val="087F8C"/>
                </a:solidFill>
                <a:latin typeface="Aptos"/>
                <a:ea typeface="Aptos"/>
                <a:cs typeface="Aptos"/>
              </a:defRPr>
            </a:lvl5pPr>
            <a:lvl6pPr>
              <a:buNone/>
              <a:defRPr sz="2250" b="1">
                <a:solidFill>
                  <a:srgbClr val="087F8C"/>
                </a:solidFill>
                <a:latin typeface="Aptos"/>
                <a:ea typeface="Aptos"/>
                <a:cs typeface="Aptos"/>
              </a:defRPr>
            </a:lvl6pPr>
            <a:lvl7pPr>
              <a:buNone/>
              <a:defRPr sz="2250" b="1">
                <a:solidFill>
                  <a:srgbClr val="087F8C"/>
                </a:solidFill>
                <a:latin typeface="Aptos"/>
                <a:ea typeface="Aptos"/>
                <a:cs typeface="Aptos"/>
              </a:defRPr>
            </a:lvl7pPr>
            <a:lvl8pPr>
              <a:buNone/>
              <a:defRPr sz="2250" b="1">
                <a:solidFill>
                  <a:srgbClr val="087F8C"/>
                </a:solidFill>
                <a:latin typeface="Aptos"/>
                <a:ea typeface="Aptos"/>
                <a:cs typeface="Aptos"/>
              </a:defRPr>
            </a:lvl8pPr>
            <a:lvl9pPr>
              <a:buNone/>
              <a:defRPr sz="2250" b="1">
                <a:solidFill>
                  <a:srgbClr val="087F8C"/>
                </a:solidFill>
                <a:latin typeface="Aptos"/>
                <a:ea typeface="Aptos"/>
                <a:cs typeface="Aptos"/>
              </a:defRPr>
            </a:lvl9pPr>
          </a:lstStyle>
          <a:p xmlns:a="http://schemas.openxmlformats.org/drawingml/2006/main">
            <a:pPr>
              <a:buNone/>
              <a:defRPr sz="2250" b="1">
                <a:solidFill>
                  <a:srgbClr val="087F8C"/>
                </a:solidFill>
                <a:latin typeface="Aptos"/>
                <a:ea typeface="Aptos"/>
                <a:cs typeface="Aptos"/>
              </a:defRPr>
            </a:pPr>
            <a:r>
              <a:rPr sz="2250" b="1">
                <a:solidFill>
                  <a:srgbClr val="087F8C"/>
                </a:solidFill>
                <a:latin typeface="Aptos"/>
                <a:ea typeface="Aptos"/>
                <a:cs typeface="Aptos"/>
              </a:rPr>
              <a:t>COMP 182   Lecture 11</a:t>
            </a:r>
          </a:p>
        </p:txBody>
      </p:sp>
      <p:sp>
        <p:nvSpPr>
          <p:cNvPr id="4" name="">
            <a:extLst xmlns:a="http://schemas.openxmlformats.org/drawingml/2006/main">
              <a:ext uri="{FF2B5EF4-FFF2-40B4-BE49-F238E27FC236}">
                <a16:creationId xmlns:a16="http://schemas.microsoft.com/office/drawing/2014/main" id="{2BBA40F5-CCAE-4CFD-998F-91A39F3A4ED4}"/>
              </a:ext>
            </a:extLst>
          </p:cNvPr>
          <p:cNvSpPr>
            <a:spLocks xmlns:a="http://schemas.openxmlformats.org/drawingml/2006/main" noGrp="1"/>
          </p:cNvSpPr>
          <p:nvPr/>
        </p:nvSpPr>
        <p:spPr>
          <a:xfrm xmlns:a="http://schemas.openxmlformats.org/drawingml/2006/main">
            <a:off x="533400" y="30956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16324F"/>
                </a:solidFill>
                <a:latin typeface="Aptos"/>
                <a:ea typeface="Aptos"/>
                <a:cs typeface="Aptos"/>
              </a:defRPr>
            </a:defPPr>
            <a:lvl1pPr>
              <a:buNone/>
              <a:defRPr sz="3150" b="0">
                <a:solidFill>
                  <a:srgbClr val="16324F"/>
                </a:solidFill>
                <a:latin typeface="Aptos"/>
                <a:ea typeface="Aptos"/>
                <a:cs typeface="Aptos"/>
              </a:defRPr>
            </a:lvl1pPr>
            <a:lvl2pPr>
              <a:buNone/>
              <a:defRPr sz="3150" b="0">
                <a:solidFill>
                  <a:srgbClr val="16324F"/>
                </a:solidFill>
                <a:latin typeface="Aptos"/>
                <a:ea typeface="Aptos"/>
                <a:cs typeface="Aptos"/>
              </a:defRPr>
            </a:lvl2pPr>
            <a:lvl3pPr>
              <a:buNone/>
              <a:defRPr sz="3150" b="0">
                <a:solidFill>
                  <a:srgbClr val="16324F"/>
                </a:solidFill>
                <a:latin typeface="Aptos"/>
                <a:ea typeface="Aptos"/>
                <a:cs typeface="Aptos"/>
              </a:defRPr>
            </a:lvl3pPr>
            <a:lvl4pPr>
              <a:buNone/>
              <a:defRPr sz="3150" b="0">
                <a:solidFill>
                  <a:srgbClr val="16324F"/>
                </a:solidFill>
                <a:latin typeface="Aptos"/>
                <a:ea typeface="Aptos"/>
                <a:cs typeface="Aptos"/>
              </a:defRPr>
            </a:lvl4pPr>
            <a:lvl5pPr>
              <a:buNone/>
              <a:defRPr sz="3150" b="0">
                <a:solidFill>
                  <a:srgbClr val="16324F"/>
                </a:solidFill>
                <a:latin typeface="Aptos"/>
                <a:ea typeface="Aptos"/>
                <a:cs typeface="Aptos"/>
              </a:defRPr>
            </a:lvl5pPr>
            <a:lvl6pPr>
              <a:buNone/>
              <a:defRPr sz="3150" b="0">
                <a:solidFill>
                  <a:srgbClr val="16324F"/>
                </a:solidFill>
                <a:latin typeface="Aptos"/>
                <a:ea typeface="Aptos"/>
                <a:cs typeface="Aptos"/>
              </a:defRPr>
            </a:lvl6pPr>
            <a:lvl7pPr>
              <a:buNone/>
              <a:defRPr sz="3150" b="0">
                <a:solidFill>
                  <a:srgbClr val="16324F"/>
                </a:solidFill>
                <a:latin typeface="Aptos"/>
                <a:ea typeface="Aptos"/>
                <a:cs typeface="Aptos"/>
              </a:defRPr>
            </a:lvl7pPr>
            <a:lvl8pPr>
              <a:buNone/>
              <a:defRPr sz="3150" b="0">
                <a:solidFill>
                  <a:srgbClr val="16324F"/>
                </a:solidFill>
                <a:latin typeface="Aptos"/>
                <a:ea typeface="Aptos"/>
                <a:cs typeface="Aptos"/>
              </a:defRPr>
            </a:lvl8pPr>
            <a:lvl9pPr>
              <a:buNone/>
              <a:defRPr sz="3150" b="0">
                <a:solidFill>
                  <a:srgbClr val="16324F"/>
                </a:solidFill>
                <a:latin typeface="Aptos"/>
                <a:ea typeface="Aptos"/>
                <a:cs typeface="Aptos"/>
              </a:defRPr>
            </a:lvl9pPr>
          </a:lstStyle>
          <a:p xmlns:a="http://schemas.openxmlformats.org/drawingml/2006/main">
            <a:pPr>
              <a:buNone/>
              <a:defRPr sz="3150" b="0">
                <a:solidFill>
                  <a:srgbClr val="16324F"/>
                </a:solidFill>
                <a:latin typeface="Aptos"/>
                <a:ea typeface="Aptos"/>
                <a:cs typeface="Aptos"/>
              </a:defRPr>
            </a:pPr>
            <a:r>
              <a:rPr sz="3150" b="0">
                <a:solidFill>
                  <a:srgbClr val="16324F"/>
                </a:solidFill>
                <a:latin typeface="Aptos"/>
                <a:ea typeface="Aptos"/>
                <a:cs typeface="Aptos"/>
              </a:rPr>
              <a:t>Operations, implementation choices, and time complexity</a:t>
            </a:r>
          </a:p>
        </p:txBody>
      </p:sp>
      <p:sp>
        <p:nvSpPr>
          <p:cNvPr id="5" name="">
            <a:extLst xmlns:a="http://schemas.openxmlformats.org/drawingml/2006/main">
              <a:ext uri="{FF2B5EF4-FFF2-40B4-BE49-F238E27FC236}">
                <a16:creationId xmlns:a16="http://schemas.microsoft.com/office/drawing/2014/main" id="{B4936A53-9B6F-4B0F-8081-731D3C89EE6A}"/>
              </a:ext>
            </a:extLst>
          </p:cNvPr>
          <p:cNvSpPr>
            <a:spLocks xmlns:a="http://schemas.openxmlformats.org/drawingml/2006/main" noGrp="1"/>
          </p:cNvSpPr>
          <p:nvPr/>
        </p:nvSpPr>
        <p:spPr>
          <a:xfrm xmlns:a="http://schemas.openxmlformats.org/drawingml/2006/main">
            <a:off x="533400" y="4953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475569"/>
                </a:solidFill>
                <a:latin typeface="Aptos"/>
                <a:ea typeface="Aptos"/>
                <a:cs typeface="Aptos"/>
              </a:defRPr>
            </a:defPPr>
            <a:lvl1pPr>
              <a:buNone/>
              <a:defRPr sz="1950" b="0">
                <a:solidFill>
                  <a:srgbClr val="475569"/>
                </a:solidFill>
                <a:latin typeface="Aptos"/>
                <a:ea typeface="Aptos"/>
                <a:cs typeface="Aptos"/>
              </a:defRPr>
            </a:lvl1pPr>
            <a:lvl2pPr>
              <a:buNone/>
              <a:defRPr sz="1950" b="0">
                <a:solidFill>
                  <a:srgbClr val="475569"/>
                </a:solidFill>
                <a:latin typeface="Aptos"/>
                <a:ea typeface="Aptos"/>
                <a:cs typeface="Aptos"/>
              </a:defRPr>
            </a:lvl2pPr>
            <a:lvl3pPr>
              <a:buNone/>
              <a:defRPr sz="1950" b="0">
                <a:solidFill>
                  <a:srgbClr val="475569"/>
                </a:solidFill>
                <a:latin typeface="Aptos"/>
                <a:ea typeface="Aptos"/>
                <a:cs typeface="Aptos"/>
              </a:defRPr>
            </a:lvl3pPr>
            <a:lvl4pPr>
              <a:buNone/>
              <a:defRPr sz="1950" b="0">
                <a:solidFill>
                  <a:srgbClr val="475569"/>
                </a:solidFill>
                <a:latin typeface="Aptos"/>
                <a:ea typeface="Aptos"/>
                <a:cs typeface="Aptos"/>
              </a:defRPr>
            </a:lvl4pPr>
            <a:lvl5pPr>
              <a:buNone/>
              <a:defRPr sz="1950" b="0">
                <a:solidFill>
                  <a:srgbClr val="475569"/>
                </a:solidFill>
                <a:latin typeface="Aptos"/>
                <a:ea typeface="Aptos"/>
                <a:cs typeface="Aptos"/>
              </a:defRPr>
            </a:lvl5pPr>
            <a:lvl6pPr>
              <a:buNone/>
              <a:defRPr sz="1950" b="0">
                <a:solidFill>
                  <a:srgbClr val="475569"/>
                </a:solidFill>
                <a:latin typeface="Aptos"/>
                <a:ea typeface="Aptos"/>
                <a:cs typeface="Aptos"/>
              </a:defRPr>
            </a:lvl6pPr>
            <a:lvl7pPr>
              <a:buNone/>
              <a:defRPr sz="1950" b="0">
                <a:solidFill>
                  <a:srgbClr val="475569"/>
                </a:solidFill>
                <a:latin typeface="Aptos"/>
                <a:ea typeface="Aptos"/>
                <a:cs typeface="Aptos"/>
              </a:defRPr>
            </a:lvl7pPr>
            <a:lvl8pPr>
              <a:buNone/>
              <a:defRPr sz="1950" b="0">
                <a:solidFill>
                  <a:srgbClr val="475569"/>
                </a:solidFill>
                <a:latin typeface="Aptos"/>
                <a:ea typeface="Aptos"/>
                <a:cs typeface="Aptos"/>
              </a:defRPr>
            </a:lvl8pPr>
            <a:lvl9pPr>
              <a:buNone/>
              <a:defRPr sz="1950" b="0">
                <a:solidFill>
                  <a:srgbClr val="475569"/>
                </a:solidFill>
                <a:latin typeface="Aptos"/>
                <a:ea typeface="Aptos"/>
                <a:cs typeface="Aptos"/>
              </a:defRPr>
            </a:lvl9pPr>
          </a:lstStyle>
          <a:p xmlns:a="http://schemas.openxmlformats.org/drawingml/2006/main">
            <a:pPr>
              <a:buNone/>
              <a:defRPr sz="1950" b="0">
                <a:solidFill>
                  <a:srgbClr val="475569"/>
                </a:solidFill>
                <a:latin typeface="Aptos"/>
                <a:ea typeface="Aptos"/>
                <a:cs typeface="Aptos"/>
              </a:defRPr>
            </a:pPr>
            <a:r>
              <a:rPr sz="1950" b="0">
                <a:solidFill>
                  <a:srgbClr val="475569"/>
                </a:solidFill>
                <a:latin typeface="Aptos"/>
                <a:ea typeface="Aptos"/>
                <a:cs typeface="Aptos"/>
              </a:rPr>
              <a:t>n = number of stored items</a:t>
            </a:r>
          </a:p>
          <a:p xmlns:a="http://schemas.openxmlformats.org/drawingml/2006/main">
            <a:pPr>
              <a:buNone/>
              <a:defRPr sz="1950" b="0">
                <a:solidFill>
                  <a:srgbClr val="475569"/>
                </a:solidFill>
                <a:latin typeface="Aptos"/>
                <a:ea typeface="Aptos"/>
                <a:cs typeface="Aptos"/>
              </a:defRPr>
            </a:pPr>
            <a:r>
              <a:rPr sz="1950" b="0">
                <a:solidFill>
                  <a:srgbClr val="475569"/>
                </a:solidFill>
                <a:latin typeface="Aptos"/>
                <a:ea typeface="Aptos"/>
                <a:cs typeface="Aptos"/>
              </a:rPr>
              <a:t>Bounds assume constant-time comparisons</a:t>
            </a:r>
          </a:p>
        </p:txBody>
      </p:sp>
    </p:spTree>
    <p:extLst>
      <p:ext uri="{BB962C8B-B14F-4D97-AF65-F5344CB8AC3E}">
        <p14:creationId xmlns:p14="http://schemas.microsoft.com/office/powerpoint/2010/main" val="3668033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4F4C3E-D318-460A-8E84-6DF690D4BC1A}"/>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The priority queue ADT</a:t>
            </a:r>
          </a:p>
        </p:txBody>
      </p:sp>
      <p:sp>
        <p:nvSpPr>
          <p:cNvPr id="2" name="">
            <a:extLst xmlns:a="http://schemas.openxmlformats.org/drawingml/2006/main">
              <a:ext uri="{FF2B5EF4-FFF2-40B4-BE49-F238E27FC236}">
                <a16:creationId xmlns:a16="http://schemas.microsoft.com/office/drawing/2014/main" id="{BEA9E371-FE7A-4304-8B3A-FC6D83462A16}"/>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Each removal returns an item with the highest priority under the chosen ordering.</a:t>
            </a:r>
          </a:p>
        </p:txBody>
      </p:sp>
      <p:sp>
        <p:nvSpPr>
          <p:cNvPr id="3" name="">
            <a:extLst xmlns:a="http://schemas.openxmlformats.org/drawingml/2006/main">
              <a:ext uri="{FF2B5EF4-FFF2-40B4-BE49-F238E27FC236}">
                <a16:creationId xmlns:a16="http://schemas.microsoft.com/office/drawing/2014/main" id="{3EBD456D-F3D3-4E5D-B0D8-BC9CBC535512}"/>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8BFE9A57-85D8-42FC-B846-85B2DE4EEE32}"/>
              </a:ext>
            </a:extLst>
          </p:cNvPr>
          <p:cNvSpPr>
            <a:spLocks xmlns:a="http://schemas.openxmlformats.org/drawingml/2006/main" noGrp="1"/>
          </p:cNvSpPr>
          <p:nvPr/>
        </p:nvSpPr>
        <p:spPr>
          <a:xfrm xmlns:a="http://schemas.openxmlformats.org/drawingml/2006/main">
            <a:off x="533400" y="21431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Example: an emergency department treats more urgent cases first.</a:t>
            </a:r>
          </a:p>
        </p:txBody>
      </p:sp>
      <p:sp>
        <p:nvSpPr>
          <p:cNvPr id="5" name="">
            <a:extLst xmlns:a="http://schemas.openxmlformats.org/drawingml/2006/main">
              <a:ext uri="{FF2B5EF4-FFF2-40B4-BE49-F238E27FC236}">
                <a16:creationId xmlns:a16="http://schemas.microsoft.com/office/drawing/2014/main" id="{373A47EF-253C-4E76-B0EA-49F188F03619}"/>
              </a:ext>
            </a:extLst>
          </p:cNvPr>
          <p:cNvSpPr>
            <a:spLocks xmlns:a="http://schemas.openxmlformats.org/drawingml/2006/main" noGrp="1"/>
          </p:cNvSpPr>
          <p:nvPr/>
        </p:nvSpPr>
        <p:spPr>
          <a:xfrm xmlns:a="http://schemas.openxmlformats.org/drawingml/2006/main">
            <a:off x="533400" y="28860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A max priority queue returns the greatest key.</a:t>
            </a:r>
          </a:p>
        </p:txBody>
      </p:sp>
      <p:sp>
        <p:nvSpPr>
          <p:cNvPr id="6" name="">
            <a:extLst xmlns:a="http://schemas.openxmlformats.org/drawingml/2006/main">
              <a:ext uri="{FF2B5EF4-FFF2-40B4-BE49-F238E27FC236}">
                <a16:creationId xmlns:a16="http://schemas.microsoft.com/office/drawing/2014/main" id="{61C7DFF2-6EF6-431C-8CA7-F063A519BE91}"/>
              </a:ext>
            </a:extLst>
          </p:cNvPr>
          <p:cNvSpPr>
            <a:spLocks xmlns:a="http://schemas.openxmlformats.org/drawingml/2006/main" noGrp="1"/>
          </p:cNvSpPr>
          <p:nvPr/>
        </p:nvSpPr>
        <p:spPr>
          <a:xfrm xmlns:a="http://schemas.openxmlformats.org/drawingml/2006/main">
            <a:off x="533400" y="36290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A min priority queue returns the smallest key.</a:t>
            </a:r>
          </a:p>
        </p:txBody>
      </p:sp>
      <p:sp>
        <p:nvSpPr>
          <p:cNvPr id="7" name="">
            <a:extLst xmlns:a="http://schemas.openxmlformats.org/drawingml/2006/main">
              <a:ext uri="{FF2B5EF4-FFF2-40B4-BE49-F238E27FC236}">
                <a16:creationId xmlns:a16="http://schemas.microsoft.com/office/drawing/2014/main" id="{D8357054-B6C5-4A73-B750-F7BA6FA32606}"/>
              </a:ext>
            </a:extLst>
          </p:cNvPr>
          <p:cNvSpPr>
            <a:spLocks xmlns:a="http://schemas.openxmlformats.org/drawingml/2006/main" noGrp="1"/>
          </p:cNvSpPr>
          <p:nvPr/>
        </p:nvSpPr>
        <p:spPr>
          <a:xfrm xmlns:a="http://schemas.openxmlformats.org/drawingml/2006/main">
            <a:off x="533400" y="43719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Equal-priority items need an explicit rule if FIFO order matters.</a:t>
            </a:r>
          </a:p>
        </p:txBody>
      </p:sp>
      <p:sp>
        <p:nvSpPr>
          <p:cNvPr id="8" name="">
            <a:extLst xmlns:a="http://schemas.openxmlformats.org/drawingml/2006/main">
              <a:ext uri="{FF2B5EF4-FFF2-40B4-BE49-F238E27FC236}">
                <a16:creationId xmlns:a16="http://schemas.microsoft.com/office/drawing/2014/main" id="{566D1263-94F5-47AD-8432-665CB343C2FB}"/>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The ADT defines behavior. The implementation determines cost.</a:t>
            </a:r>
          </a:p>
        </p:txBody>
      </p:sp>
      <p:sp>
        <p:nvSpPr>
          <p:cNvPr id="10" name="local-java-StablePriorityQueueDemo">
            <a:extLst xmlns:a="http://schemas.openxmlformats.org/drawingml/2006/main">
              <a:ext uri="{FF2B5EF4-FFF2-40B4-BE49-F238E27FC236}">
                <a16:creationId xmlns:a16="http://schemas.microsoft.com/office/drawing/2014/main" id="{AFB46957-E405-4AA8-9902-777C513A3E1A}"/>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50d7e3646b5e4309"/>
              </a:rPr>
              <a:t>Java: StablePriorityQueueDemo.java</a:t>
            </a:r>
          </a:p>
        </p:txBody>
      </p:sp>
    </p:spTree>
    <p:extLst>
      <p:ext uri="{BB962C8B-B14F-4D97-AF65-F5344CB8AC3E}">
        <p14:creationId xmlns:p14="http://schemas.microsoft.com/office/powerpoint/2010/main" val="19941687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F5E9DE-126F-4380-8CFE-2810192B7AF8}"/>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A consistent Java interface</a:t>
            </a:r>
          </a:p>
        </p:txBody>
      </p:sp>
      <p:sp>
        <p:nvSpPr>
          <p:cNvPr id="2" name="">
            <a:extLst xmlns:a="http://schemas.openxmlformats.org/drawingml/2006/main">
              <a:ext uri="{FF2B5EF4-FFF2-40B4-BE49-F238E27FC236}">
                <a16:creationId xmlns:a16="http://schemas.microsoft.com/office/drawing/2014/main" id="{A5E0BAE7-E613-452C-89F3-B987A9F144F1}"/>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This course interface returns null when peek() or remove() finds an empty queue.</a:t>
            </a:r>
          </a:p>
        </p:txBody>
      </p:sp>
      <p:sp>
        <p:nvSpPr>
          <p:cNvPr id="3" name="">
            <a:extLst xmlns:a="http://schemas.openxmlformats.org/drawingml/2006/main">
              <a:ext uri="{FF2B5EF4-FFF2-40B4-BE49-F238E27FC236}">
                <a16:creationId xmlns:a16="http://schemas.microsoft.com/office/drawing/2014/main" id="{8ED69ED9-D3A9-4966-87A6-029604FA531B}"/>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9C1B92FF-D4BE-4DE5-BE32-B0CBBA5EA3F1}"/>
              </a:ext>
            </a:extLst>
          </p:cNvPr>
          <p:cNvSpPr>
            <a:spLocks xmlns:a="http://schemas.openxmlformats.org/drawingml/2006/main" noGrp="1"/>
          </p:cNvSpPr>
          <p:nvPr/>
        </p:nvSpPr>
        <p:spPr>
          <a:xfrm xmlns:a="http://schemas.openxmlformats.org/drawingml/2006/main">
            <a:off x="533400" y="2095500"/>
            <a:ext cx="111252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6324F"/>
                </a:solidFill>
                <a:latin typeface="Consolas"/>
                <a:ea typeface="Consolas"/>
                <a:cs typeface="Consolas"/>
              </a:defRPr>
            </a:defPPr>
            <a:lvl1pPr>
              <a:buNone/>
              <a:defRPr sz="2025" b="0">
                <a:solidFill>
                  <a:srgbClr val="16324F"/>
                </a:solidFill>
                <a:latin typeface="Consolas"/>
                <a:ea typeface="Consolas"/>
                <a:cs typeface="Consolas"/>
              </a:defRPr>
            </a:lvl1pPr>
            <a:lvl2pPr>
              <a:buNone/>
              <a:defRPr sz="2025" b="0">
                <a:solidFill>
                  <a:srgbClr val="16324F"/>
                </a:solidFill>
                <a:latin typeface="Consolas"/>
                <a:ea typeface="Consolas"/>
                <a:cs typeface="Consolas"/>
              </a:defRPr>
            </a:lvl2pPr>
            <a:lvl3pPr>
              <a:buNone/>
              <a:defRPr sz="2025" b="0">
                <a:solidFill>
                  <a:srgbClr val="16324F"/>
                </a:solidFill>
                <a:latin typeface="Consolas"/>
                <a:ea typeface="Consolas"/>
                <a:cs typeface="Consolas"/>
              </a:defRPr>
            </a:lvl3pPr>
            <a:lvl4pPr>
              <a:buNone/>
              <a:defRPr sz="2025" b="0">
                <a:solidFill>
                  <a:srgbClr val="16324F"/>
                </a:solidFill>
                <a:latin typeface="Consolas"/>
                <a:ea typeface="Consolas"/>
                <a:cs typeface="Consolas"/>
              </a:defRPr>
            </a:lvl4pPr>
            <a:lvl5pPr>
              <a:buNone/>
              <a:defRPr sz="2025" b="0">
                <a:solidFill>
                  <a:srgbClr val="16324F"/>
                </a:solidFill>
                <a:latin typeface="Consolas"/>
                <a:ea typeface="Consolas"/>
                <a:cs typeface="Consolas"/>
              </a:defRPr>
            </a:lvl5pPr>
            <a:lvl6pPr>
              <a:buNone/>
              <a:defRPr sz="2025" b="0">
                <a:solidFill>
                  <a:srgbClr val="16324F"/>
                </a:solidFill>
                <a:latin typeface="Consolas"/>
                <a:ea typeface="Consolas"/>
                <a:cs typeface="Consolas"/>
              </a:defRPr>
            </a:lvl6pPr>
            <a:lvl7pPr>
              <a:buNone/>
              <a:defRPr sz="2025" b="0">
                <a:solidFill>
                  <a:srgbClr val="16324F"/>
                </a:solidFill>
                <a:latin typeface="Consolas"/>
                <a:ea typeface="Consolas"/>
                <a:cs typeface="Consolas"/>
              </a:defRPr>
            </a:lvl7pPr>
            <a:lvl8pPr>
              <a:buNone/>
              <a:defRPr sz="2025" b="0">
                <a:solidFill>
                  <a:srgbClr val="16324F"/>
                </a:solidFill>
                <a:latin typeface="Consolas"/>
                <a:ea typeface="Consolas"/>
                <a:cs typeface="Consolas"/>
              </a:defRPr>
            </a:lvl8pPr>
            <a:lvl9pPr>
              <a:buNone/>
              <a:defRPr sz="2025" b="0">
                <a:solidFill>
                  <a:srgbClr val="16324F"/>
                </a:solidFill>
                <a:latin typeface="Consolas"/>
                <a:ea typeface="Consolas"/>
                <a:cs typeface="Consolas"/>
              </a:defRPr>
            </a:lvl9pPr>
          </a:lstStyle>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public interface PriorityQueueInterface&lt;T</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extends Comparable&lt;? super T&gt;&gt; {</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boolean add(T newEntry);</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T remove();</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T peek();</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boolean isEmpty();</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int size();</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    void clear();</a:t>
            </a:r>
          </a:p>
          <a:p xmlns:a="http://schemas.openxmlformats.org/drawingml/2006/main">
            <a:pPr>
              <a:buNone/>
              <a:defRPr sz="2025" b="0">
                <a:solidFill>
                  <a:srgbClr val="16324F"/>
                </a:solidFill>
                <a:latin typeface="Consolas"/>
                <a:ea typeface="Consolas"/>
                <a:cs typeface="Consolas"/>
              </a:defRPr>
            </a:pPr>
            <a:r>
              <a:rPr sz="2025" b="0">
                <a:solidFill>
                  <a:srgbClr val="16324F"/>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8C1FCC2F-40DE-43CD-B681-25DA70ECC0EB}"/>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Use T consistently in both the type parameter and method signatures.</a:t>
            </a:r>
          </a:p>
        </p:txBody>
      </p:sp>
      <p:sp>
        <p:nvSpPr>
          <p:cNvPr id="7" name="local-java-PriorityQueueInterface">
            <a:extLst xmlns:a="http://schemas.openxmlformats.org/drawingml/2006/main">
              <a:ext uri="{FF2B5EF4-FFF2-40B4-BE49-F238E27FC236}">
                <a16:creationId xmlns:a16="http://schemas.microsoft.com/office/drawing/2014/main" id="{DB5D09F1-B796-4B06-B9DF-1AB86560E984}"/>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da4af5436d4148de"/>
              </a:rPr>
              <a:t>Java: PriorityQueueInterface.java</a:t>
            </a:r>
          </a:p>
        </p:txBody>
      </p:sp>
      <p:sp>
        <p:nvSpPr>
          <p:cNvPr id="8" name="local-java-TestPQ">
            <a:extLst xmlns:a="http://schemas.openxmlformats.org/drawingml/2006/main">
              <a:ext uri="{FF2B5EF4-FFF2-40B4-BE49-F238E27FC236}">
                <a16:creationId xmlns:a16="http://schemas.microsoft.com/office/drawing/2014/main" id="{99DD04BD-F951-422A-90E1-C76C57787C14}"/>
              </a:ext>
            </a:extLst>
          </p:cNvPr>
          <p:cNvSpPr>
            <a:spLocks xmlns:a="http://schemas.openxmlformats.org/drawingml/2006/main" noGrp="1"/>
          </p:cNvSpPr>
          <p:nvPr/>
        </p:nvSpPr>
        <p:spPr>
          <a:xfrm xmlns:a="http://schemas.openxmlformats.org/drawingml/2006/main">
            <a:off x="422910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4afa8f2ce6c3435e"/>
              </a:rPr>
              <a:t>Java: TestPQ.java</a:t>
            </a:r>
          </a:p>
        </p:txBody>
      </p:sp>
    </p:spTree>
    <p:extLst>
      <p:ext uri="{BB962C8B-B14F-4D97-AF65-F5344CB8AC3E}">
        <p14:creationId xmlns:p14="http://schemas.microsoft.com/office/powerpoint/2010/main" val="9399026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8AC512-72AC-41A0-B71D-0201FD28A378}"/>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Priority queue implementations</a:t>
            </a:r>
          </a:p>
        </p:txBody>
      </p:sp>
      <p:sp>
        <p:nvSpPr>
          <p:cNvPr id="2" name="">
            <a:extLst xmlns:a="http://schemas.openxmlformats.org/drawingml/2006/main">
              <a:ext uri="{FF2B5EF4-FFF2-40B4-BE49-F238E27FC236}">
                <a16:creationId xmlns:a16="http://schemas.microsoft.com/office/drawing/2014/main" id="{2971EAFB-DD84-4732-87A6-138C4A2FE84A}"/>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Worst-case time for n items. The next slides explain each representation.</a:t>
            </a:r>
          </a:p>
        </p:txBody>
      </p:sp>
      <p:sp>
        <p:nvSpPr>
          <p:cNvPr id="3" name="">
            <a:extLst xmlns:a="http://schemas.openxmlformats.org/drawingml/2006/main">
              <a:ext uri="{FF2B5EF4-FFF2-40B4-BE49-F238E27FC236}">
                <a16:creationId xmlns:a16="http://schemas.microsoft.com/office/drawing/2014/main" id="{C12EE64C-75B6-4E15-8597-A11D4BD5C525}"/>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04</a:t>
            </a:r>
          </a:p>
        </p:txBody>
      </p:sp>
      <p:graphicFrame>
        <p:nvGraphicFramePr>
          <p:cNvPr id="4" name="">
            <a:extLst xmlns:a="http://schemas.openxmlformats.org/drawingml/2006/main">
              <a:ext uri="{FF2B5EF4-FFF2-40B4-BE49-F238E27FC236}">
                <a16:creationId xmlns:a16="http://schemas.microsoft.com/office/drawing/2014/main" id="{224A0820-911F-454B-910F-8C6C63A96521}"/>
              </a:ext>
            </a:extLst>
          </p:cNvPr>
          <p:cNvGraphicFramePr/>
          <p:nvPr/>
        </p:nvGraphicFramePr>
        <p:xfrm>
          <a:off xmlns:a="http://schemas.openxmlformats.org/drawingml/2006/main" x="533400" y="1952625"/>
          <a:ext xmlns:a="http://schemas.openxmlformats.org/drawingml/2006/main" cx="11125200" cy="3238500"/>
        </p:xfrm>
        <a:graphic xmlns:a="http://schemas.openxmlformats.org/drawingml/2006/main">
          <a:graphicData uri="http://schemas.openxmlformats.org/drawingml/2006/table">
            <a:tbl>
              <a:tblPr/>
              <a:tblGrid>
                <a:gridCol w="4095750"/>
                <a:gridCol w="2762250"/>
                <a:gridCol w="4267200"/>
              </a:tblGrid>
              <a:tr h="539750">
                <a:tc>
                  <a:txBody>
                    <a:bodyPr/>
                    <a:lstStyle/>
                    <a:p>
                      <a:r>
                        <a:rPr sz="1875" b="1">
                          <a:solidFill>
                            <a:srgbClr val="FFFFFF"/>
                          </a:solidFill>
                          <a:latin typeface="Aptos"/>
                          <a:ea typeface="Aptos"/>
                          <a:cs typeface="Aptos"/>
                        </a:rPr>
                        <a:t>Representation</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1875" b="1">
                          <a:solidFill>
                            <a:srgbClr val="FFFFFF"/>
                          </a:solidFill>
                          <a:latin typeface="Aptos"/>
                          <a:ea typeface="Aptos"/>
                          <a:cs typeface="Aptos"/>
                        </a:rPr>
                        <a:t>Insert</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1875" b="1">
                          <a:solidFill>
                            <a:srgbClr val="FFFFFF"/>
                          </a:solidFill>
                          <a:latin typeface="Aptos"/>
                          <a:ea typeface="Aptos"/>
                          <a:cs typeface="Aptos"/>
                        </a:rPr>
                        <a:t>Peek / remove extreme</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539750">
                <a:tc>
                  <a:txBody>
                    <a:bodyPr/>
                    <a:lstStyle/>
                    <a:p>
                      <a:r>
                        <a:rPr sz="1875" b="0">
                          <a:solidFill>
                            <a:srgbClr val="16324F"/>
                          </a:solidFill>
                          <a:latin typeface="Aptos"/>
                          <a:ea typeface="Aptos"/>
                          <a:cs typeface="Aptos"/>
                        </a:rPr>
                        <a:t>Unsorted array</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O(1) amortized</a:t>
                      </a:r>
                    </a:p>
                  </a:txBody>
                  <a:tcPr marL="91440" marR="91440" marT="45720" marB="45720">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O(n) / O(n)</a:t>
                      </a:r>
                    </a:p>
                  </a:txBody>
                  <a:tcPr marL="91440" marR="91440" marT="45720" marB="45720">
                    <a:lnR w="9525">
                      <a:solidFill>
                        <a:srgbClr val="D9E3E8"/>
                      </a:solidFill>
                    </a:lnR>
                    <a:lnB w="9525">
                      <a:solidFill>
                        <a:srgbClr val="D9E3E8"/>
                      </a:solidFill>
                    </a:lnB>
                    <a:solidFill>
                      <a:srgbClr val="F1F6F8"/>
                    </a:solidFill>
                  </a:tcPr>
                </a:tc>
              </a:tr>
              <a:tr h="539750">
                <a:tc>
                  <a:txBody>
                    <a:bodyPr/>
                    <a:lstStyle/>
                    <a:p>
                      <a:r>
                        <a:rPr sz="1875" b="0">
                          <a:solidFill>
                            <a:srgbClr val="16324F"/>
                          </a:solidFill>
                          <a:latin typeface="Aptos"/>
                          <a:ea typeface="Aptos"/>
                          <a:cs typeface="Aptos"/>
                        </a:rPr>
                        <a:t>Sorted array</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O(n)</a:t>
                      </a:r>
                    </a:p>
                  </a:txBody>
                  <a:tcPr marL="91440" marR="91440" marT="45720" marB="45720">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O(1) / O(1)</a:t>
                      </a:r>
                    </a:p>
                  </a:txBody>
                  <a:tcPr marL="91440" marR="91440" marT="45720" marB="45720">
                    <a:lnR w="9525">
                      <a:solidFill>
                        <a:srgbClr val="D9E3E8"/>
                      </a:solidFill>
                    </a:lnR>
                    <a:lnB w="9525">
                      <a:solidFill>
                        <a:srgbClr val="D9E3E8"/>
                      </a:solidFill>
                    </a:lnB>
                    <a:solidFill>
                      <a:srgbClr val="FFFFFF"/>
                    </a:solidFill>
                  </a:tcPr>
                </a:tc>
              </a:tr>
              <a:tr h="539750">
                <a:tc>
                  <a:txBody>
                    <a:bodyPr/>
                    <a:lstStyle/>
                    <a:p>
                      <a:r>
                        <a:rPr sz="1875" b="0">
                          <a:solidFill>
                            <a:srgbClr val="16324F"/>
                          </a:solidFill>
                          <a:latin typeface="Aptos"/>
                          <a:ea typeface="Aptos"/>
                          <a:cs typeface="Aptos"/>
                        </a:rPr>
                        <a:t>Sorted linked list</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O(n)</a:t>
                      </a:r>
                    </a:p>
                  </a:txBody>
                  <a:tcPr marL="91440" marR="91440" marT="45720" marB="45720">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O(1) / O(1)</a:t>
                      </a:r>
                    </a:p>
                  </a:txBody>
                  <a:tcPr marL="91440" marR="91440" marT="45720" marB="45720">
                    <a:lnR w="9525">
                      <a:solidFill>
                        <a:srgbClr val="D9E3E8"/>
                      </a:solidFill>
                    </a:lnR>
                    <a:lnB w="9525">
                      <a:solidFill>
                        <a:srgbClr val="D9E3E8"/>
                      </a:solidFill>
                    </a:lnB>
                    <a:solidFill>
                      <a:srgbClr val="F1F6F8"/>
                    </a:solidFill>
                  </a:tcPr>
                </a:tc>
              </a:tr>
              <a:tr h="539750">
                <a:tc>
                  <a:txBody>
                    <a:bodyPr/>
                    <a:lstStyle/>
                    <a:p>
                      <a:r>
                        <a:rPr sz="1875" b="0">
                          <a:solidFill>
                            <a:srgbClr val="16324F"/>
                          </a:solidFill>
                          <a:latin typeface="Aptos"/>
                          <a:ea typeface="Aptos"/>
                          <a:cs typeface="Aptos"/>
                        </a:rPr>
                        <a:t>Balanced BST</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O(log n) / O(log n)</a:t>
                      </a:r>
                    </a:p>
                  </a:txBody>
                  <a:tcPr marL="91440" marR="91440" marT="45720" marB="45720">
                    <a:lnR w="9525">
                      <a:solidFill>
                        <a:srgbClr val="D9E3E8"/>
                      </a:solidFill>
                    </a:lnR>
                    <a:lnB w="9525">
                      <a:solidFill>
                        <a:srgbClr val="D9E3E8"/>
                      </a:solidFill>
                    </a:lnB>
                    <a:solidFill>
                      <a:srgbClr val="FFFFFF"/>
                    </a:solidFill>
                  </a:tcPr>
                </a:tc>
              </a:tr>
              <a:tr h="539750">
                <a:tc>
                  <a:txBody>
                    <a:bodyPr/>
                    <a:lstStyle/>
                    <a:p>
                      <a:r>
                        <a:rPr sz="1875" b="0">
                          <a:solidFill>
                            <a:srgbClr val="16324F"/>
                          </a:solidFill>
                          <a:latin typeface="Aptos"/>
                          <a:ea typeface="Aptos"/>
                          <a:cs typeface="Aptos"/>
                        </a:rPr>
                        <a:t>Binary heap</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O(1) / O(log n)</a:t>
                      </a:r>
                    </a:p>
                  </a:txBody>
                  <a:tcPr marL="91440" marR="91440" marT="45720" marB="45720">
                    <a:lnR w="9525">
                      <a:solidFill>
                        <a:srgbClr val="D9E3E8"/>
                      </a:solidFill>
                    </a:lnR>
                    <a:lnB w="9525">
                      <a:solidFill>
                        <a:srgbClr val="D9E3E8"/>
                      </a:solidFill>
                    </a:lnB>
                    <a:solidFill>
                      <a:srgbClr val="F1F6F8"/>
                    </a:solidFill>
                  </a:tcPr>
                </a:tc>
              </a:tr>
            </a:tbl>
          </a:graphicData>
        </a:graphic>
      </p:graphicFrame>
      <p:sp>
        <p:nvSpPr>
          <p:cNvPr id="5" name="">
            <a:extLst xmlns:a="http://schemas.openxmlformats.org/drawingml/2006/main">
              <a:ext uri="{FF2B5EF4-FFF2-40B4-BE49-F238E27FC236}">
                <a16:creationId xmlns:a16="http://schemas.microsoft.com/office/drawing/2014/main" id="{323FD2C7-862B-41D6-94BC-2195F4AFCCE8}"/>
              </a:ext>
            </a:extLst>
          </p:cNvPr>
          <p:cNvSpPr>
            <a:spLocks xmlns:a="http://schemas.openxmlformats.org/drawingml/2006/main" noGrp="1"/>
          </p:cNvSpPr>
          <p:nvPr/>
        </p:nvSpPr>
        <p:spPr>
          <a:xfrm xmlns:a="http://schemas.openxmlformats.org/drawingml/2006/main">
            <a:off x="533400" y="53816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75569"/>
                </a:solidFill>
                <a:latin typeface="Aptos"/>
                <a:ea typeface="Aptos"/>
                <a:cs typeface="Aptos"/>
              </a:defRPr>
            </a:defPPr>
            <a:lvl1pPr>
              <a:buNone/>
              <a:defRPr sz="1800" b="0">
                <a:solidFill>
                  <a:srgbClr val="475569"/>
                </a:solidFill>
                <a:latin typeface="Aptos"/>
                <a:ea typeface="Aptos"/>
                <a:cs typeface="Aptos"/>
              </a:defRPr>
            </a:lvl1pPr>
            <a:lvl2pPr>
              <a:buNone/>
              <a:defRPr sz="1800" b="0">
                <a:solidFill>
                  <a:srgbClr val="475569"/>
                </a:solidFill>
                <a:latin typeface="Aptos"/>
                <a:ea typeface="Aptos"/>
                <a:cs typeface="Aptos"/>
              </a:defRPr>
            </a:lvl2pPr>
            <a:lvl3pPr>
              <a:buNone/>
              <a:defRPr sz="1800" b="0">
                <a:solidFill>
                  <a:srgbClr val="475569"/>
                </a:solidFill>
                <a:latin typeface="Aptos"/>
                <a:ea typeface="Aptos"/>
                <a:cs typeface="Aptos"/>
              </a:defRPr>
            </a:lvl3pPr>
            <a:lvl4pPr>
              <a:buNone/>
              <a:defRPr sz="1800" b="0">
                <a:solidFill>
                  <a:srgbClr val="475569"/>
                </a:solidFill>
                <a:latin typeface="Aptos"/>
                <a:ea typeface="Aptos"/>
                <a:cs typeface="Aptos"/>
              </a:defRPr>
            </a:lvl4pPr>
            <a:lvl5pPr>
              <a:buNone/>
              <a:defRPr sz="1800" b="0">
                <a:solidFill>
                  <a:srgbClr val="475569"/>
                </a:solidFill>
                <a:latin typeface="Aptos"/>
                <a:ea typeface="Aptos"/>
                <a:cs typeface="Aptos"/>
              </a:defRPr>
            </a:lvl5pPr>
            <a:lvl6pPr>
              <a:buNone/>
              <a:defRPr sz="1800" b="0">
                <a:solidFill>
                  <a:srgbClr val="475569"/>
                </a:solidFill>
                <a:latin typeface="Aptos"/>
                <a:ea typeface="Aptos"/>
                <a:cs typeface="Aptos"/>
              </a:defRPr>
            </a:lvl6pPr>
            <a:lvl7pPr>
              <a:buNone/>
              <a:defRPr sz="1800" b="0">
                <a:solidFill>
                  <a:srgbClr val="475569"/>
                </a:solidFill>
                <a:latin typeface="Aptos"/>
                <a:ea typeface="Aptos"/>
                <a:cs typeface="Aptos"/>
              </a:defRPr>
            </a:lvl7pPr>
            <a:lvl8pPr>
              <a:buNone/>
              <a:defRPr sz="1800" b="0">
                <a:solidFill>
                  <a:srgbClr val="475569"/>
                </a:solidFill>
                <a:latin typeface="Aptos"/>
                <a:ea typeface="Aptos"/>
                <a:cs typeface="Aptos"/>
              </a:defRPr>
            </a:lvl8pPr>
            <a:lvl9pPr>
              <a:buNone/>
              <a:defRPr sz="1800" b="0">
                <a:solidFill>
                  <a:srgbClr val="475569"/>
                </a:solidFill>
                <a:latin typeface="Aptos"/>
                <a:ea typeface="Aptos"/>
                <a:cs typeface="Aptos"/>
              </a:defRPr>
            </a:lvl9pPr>
          </a:lstStyle>
          <a:p xmlns:a="http://schemas.openxmlformats.org/drawingml/2006/main">
            <a:pPr>
              <a:buNone/>
              <a:defRPr sz="1800" b="0">
                <a:solidFill>
                  <a:srgbClr val="475569"/>
                </a:solidFill>
                <a:latin typeface="Aptos"/>
                <a:ea typeface="Aptos"/>
                <a:cs typeface="Aptos"/>
              </a:defRPr>
            </a:pPr>
            <a:r>
              <a:rPr sz="1800" b="0">
                <a:solidFill>
                  <a:srgbClr val="475569"/>
                </a:solidFill>
                <a:latin typeface="Aptos"/>
                <a:ea typeface="Aptos"/>
                <a:cs typeface="Aptos"/>
              </a:rPr>
              <a:t>*Heap repair is O(log n). A resizing insertion can take O(n).</a:t>
            </a:r>
          </a:p>
        </p:txBody>
      </p:sp>
      <p:sp>
        <p:nvSpPr>
          <p:cNvPr id="6" name="">
            <a:extLst xmlns:a="http://schemas.openxmlformats.org/drawingml/2006/main">
              <a:ext uri="{FF2B5EF4-FFF2-40B4-BE49-F238E27FC236}">
                <a16:creationId xmlns:a16="http://schemas.microsoft.com/office/drawing/2014/main" id="{A01B78A6-9EDF-46D2-9B5A-5223BFFCF6FC}"/>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Arrays remove at the end. Lists remove at the head. BST has no cached extreme.</a:t>
            </a:r>
          </a:p>
        </p:txBody>
      </p:sp>
    </p:spTree>
    <p:extLst>
      <p:ext uri="{BB962C8B-B14F-4D97-AF65-F5344CB8AC3E}">
        <p14:creationId xmlns:p14="http://schemas.microsoft.com/office/powerpoint/2010/main" val="1024206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0C07B2-7AC0-4A13-89D8-6573943DA2BD}"/>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Max priority queues with sorted storage</a:t>
            </a:r>
          </a:p>
        </p:txBody>
      </p:sp>
      <p:sp>
        <p:nvSpPr>
          <p:cNvPr id="2" name="">
            <a:extLst xmlns:a="http://schemas.openxmlformats.org/drawingml/2006/main">
              <a:ext uri="{FF2B5EF4-FFF2-40B4-BE49-F238E27FC236}">
                <a16:creationId xmlns:a16="http://schemas.microsoft.com/office/drawing/2014/main" id="{485C5FD1-FDAC-47C1-9E52-927B8F5EC4E3}"/>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Both representations place the maximum where removal needs no search.</a:t>
            </a:r>
          </a:p>
        </p:txBody>
      </p:sp>
      <p:sp>
        <p:nvSpPr>
          <p:cNvPr id="3" name="">
            <a:extLst xmlns:a="http://schemas.openxmlformats.org/drawingml/2006/main">
              <a:ext uri="{FF2B5EF4-FFF2-40B4-BE49-F238E27FC236}">
                <a16:creationId xmlns:a16="http://schemas.microsoft.com/office/drawing/2014/main" id="{0AB6FC58-B965-466E-B5A5-579F1A0415A0}"/>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05</a:t>
            </a:r>
          </a:p>
        </p:txBody>
      </p:sp>
      <p:pic>
        <p:nvPicPr>
          <p:cNvPr id="4" name="">
            <a:extLst xmlns:a="http://schemas.openxmlformats.org/drawingml/2006/main">
              <a:ext uri="{FF2B5EF4-FFF2-40B4-BE49-F238E27FC236}">
                <a16:creationId xmlns:a16="http://schemas.microsoft.com/office/drawing/2014/main" id="{9FA1F1E7-3CCC-4A4A-AACD-D3A27305B62B}"/>
              </a:ext>
            </a:extLst>
          </p:cNvPr>
          <p:cNvPicPr>
            <a:picLocks xmlns:a="http://schemas.openxmlformats.org/drawingml/2006/main" noChangeAspect="1"/>
          </p:cNvPicPr>
          <p:nvPr/>
        </p:nvPicPr>
        <p:blipFill>
          <a:blip xmlns:r="http://schemas.openxmlformats.org/officeDocument/2006/relationships" xmlns:a="http://schemas.openxmlformats.org/drawingml/2006/main" r:embed="R9b8e27af5bf144c3"/>
          <a:stretch xmlns:a="http://schemas.openxmlformats.org/drawingml/2006/main"/>
        </p:blipFill>
        <p:spPr>
          <a:xfrm xmlns:a="http://schemas.openxmlformats.org/drawingml/2006/main">
            <a:off x="2508017" y="2095500"/>
            <a:ext cx="7175967" cy="2238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B949770-2739-4488-8D7F-31723BC710D2}"/>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E547BAF3-1422-4356-AB59-675035BED887}"/>
              </a:ext>
            </a:extLst>
          </p:cNvPr>
          <p:cNvSpPr>
            <a:spLocks xmlns:a="http://schemas.openxmlformats.org/drawingml/2006/main" noGrp="1"/>
          </p:cNvSpPr>
          <p:nvPr/>
        </p:nvSpPr>
        <p:spPr>
          <a:xfrm xmlns:a="http://schemas.openxmlformats.org/drawingml/2006/main">
            <a:off x="533400" y="45243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6324F"/>
                </a:solidFill>
                <a:latin typeface="Aptos"/>
                <a:ea typeface="Aptos"/>
                <a:cs typeface="Aptos"/>
              </a:defRPr>
            </a:defPPr>
            <a:lvl1pPr>
              <a:buNone/>
              <a:defRPr sz="2025" b="0">
                <a:solidFill>
                  <a:srgbClr val="16324F"/>
                </a:solidFill>
                <a:latin typeface="Aptos"/>
                <a:ea typeface="Aptos"/>
                <a:cs typeface="Aptos"/>
              </a:defRPr>
            </a:lvl1pPr>
            <a:lvl2pPr>
              <a:buNone/>
              <a:defRPr sz="2025" b="0">
                <a:solidFill>
                  <a:srgbClr val="16324F"/>
                </a:solidFill>
                <a:latin typeface="Aptos"/>
                <a:ea typeface="Aptos"/>
                <a:cs typeface="Aptos"/>
              </a:defRPr>
            </a:lvl2pPr>
            <a:lvl3pPr>
              <a:buNone/>
              <a:defRPr sz="2025" b="0">
                <a:solidFill>
                  <a:srgbClr val="16324F"/>
                </a:solidFill>
                <a:latin typeface="Aptos"/>
                <a:ea typeface="Aptos"/>
                <a:cs typeface="Aptos"/>
              </a:defRPr>
            </a:lvl3pPr>
            <a:lvl4pPr>
              <a:buNone/>
              <a:defRPr sz="2025" b="0">
                <a:solidFill>
                  <a:srgbClr val="16324F"/>
                </a:solidFill>
                <a:latin typeface="Aptos"/>
                <a:ea typeface="Aptos"/>
                <a:cs typeface="Aptos"/>
              </a:defRPr>
            </a:lvl4pPr>
            <a:lvl5pPr>
              <a:buNone/>
              <a:defRPr sz="2025" b="0">
                <a:solidFill>
                  <a:srgbClr val="16324F"/>
                </a:solidFill>
                <a:latin typeface="Aptos"/>
                <a:ea typeface="Aptos"/>
                <a:cs typeface="Aptos"/>
              </a:defRPr>
            </a:lvl5pPr>
            <a:lvl6pPr>
              <a:buNone/>
              <a:defRPr sz="2025" b="0">
                <a:solidFill>
                  <a:srgbClr val="16324F"/>
                </a:solidFill>
                <a:latin typeface="Aptos"/>
                <a:ea typeface="Aptos"/>
                <a:cs typeface="Aptos"/>
              </a:defRPr>
            </a:lvl6pPr>
            <a:lvl7pPr>
              <a:buNone/>
              <a:defRPr sz="2025" b="0">
                <a:solidFill>
                  <a:srgbClr val="16324F"/>
                </a:solidFill>
                <a:latin typeface="Aptos"/>
                <a:ea typeface="Aptos"/>
                <a:cs typeface="Aptos"/>
              </a:defRPr>
            </a:lvl7pPr>
            <a:lvl8pPr>
              <a:buNone/>
              <a:defRPr sz="2025" b="0">
                <a:solidFill>
                  <a:srgbClr val="16324F"/>
                </a:solidFill>
                <a:latin typeface="Aptos"/>
                <a:ea typeface="Aptos"/>
                <a:cs typeface="Aptos"/>
              </a:defRPr>
            </a:lvl8pPr>
            <a:lvl9pPr>
              <a:buNone/>
              <a:defRPr sz="2025" b="0">
                <a:solidFill>
                  <a:srgbClr val="16324F"/>
                </a:solidFill>
                <a:latin typeface="Aptos"/>
                <a:ea typeface="Aptos"/>
                <a:cs typeface="Aptos"/>
              </a:defRPr>
            </a:lvl9pPr>
          </a:lstStyle>
          <a:p xmlns:a="http://schemas.openxmlformats.org/drawingml/2006/main">
            <a:pPr>
              <a:buNone/>
              <a:defRPr sz="2025" b="0">
                <a:solidFill>
                  <a:srgbClr val="16324F"/>
                </a:solidFill>
                <a:latin typeface="Aptos"/>
                <a:ea typeface="Aptos"/>
                <a:cs typeface="Aptos"/>
              </a:defRPr>
            </a:pPr>
            <a:r>
              <a:rPr sz="2025" b="0">
                <a:solidFill>
                  <a:srgbClr val="16324F"/>
                </a:solidFill>
                <a:latin typeface="Aptos"/>
                <a:ea typeface="Aptos"/>
                <a:cs typeface="Aptos"/>
              </a:rPr>
              <a:t>Sorted array: binary search O(log n), then shifting O(n).</a:t>
            </a:r>
          </a:p>
        </p:txBody>
      </p:sp>
      <p:sp>
        <p:nvSpPr>
          <p:cNvPr id="7" name="">
            <a:extLst xmlns:a="http://schemas.openxmlformats.org/drawingml/2006/main">
              <a:ext uri="{FF2B5EF4-FFF2-40B4-BE49-F238E27FC236}">
                <a16:creationId xmlns:a16="http://schemas.microsoft.com/office/drawing/2014/main" id="{4DE3E6B7-9380-4D36-943C-0E7700981427}"/>
              </a:ext>
            </a:extLst>
          </p:cNvPr>
          <p:cNvSpPr>
            <a:spLocks xmlns:a="http://schemas.openxmlformats.org/drawingml/2006/main" noGrp="1"/>
          </p:cNvSpPr>
          <p:nvPr/>
        </p:nvSpPr>
        <p:spPr>
          <a:xfrm xmlns:a="http://schemas.openxmlformats.org/drawingml/2006/main">
            <a:off x="533400" y="50292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6324F"/>
                </a:solidFill>
                <a:latin typeface="Aptos"/>
                <a:ea typeface="Aptos"/>
                <a:cs typeface="Aptos"/>
              </a:defRPr>
            </a:defPPr>
            <a:lvl1pPr>
              <a:buNone/>
              <a:defRPr sz="2025" b="0">
                <a:solidFill>
                  <a:srgbClr val="16324F"/>
                </a:solidFill>
                <a:latin typeface="Aptos"/>
                <a:ea typeface="Aptos"/>
                <a:cs typeface="Aptos"/>
              </a:defRPr>
            </a:lvl1pPr>
            <a:lvl2pPr>
              <a:buNone/>
              <a:defRPr sz="2025" b="0">
                <a:solidFill>
                  <a:srgbClr val="16324F"/>
                </a:solidFill>
                <a:latin typeface="Aptos"/>
                <a:ea typeface="Aptos"/>
                <a:cs typeface="Aptos"/>
              </a:defRPr>
            </a:lvl2pPr>
            <a:lvl3pPr>
              <a:buNone/>
              <a:defRPr sz="2025" b="0">
                <a:solidFill>
                  <a:srgbClr val="16324F"/>
                </a:solidFill>
                <a:latin typeface="Aptos"/>
                <a:ea typeface="Aptos"/>
                <a:cs typeface="Aptos"/>
              </a:defRPr>
            </a:lvl3pPr>
            <a:lvl4pPr>
              <a:buNone/>
              <a:defRPr sz="2025" b="0">
                <a:solidFill>
                  <a:srgbClr val="16324F"/>
                </a:solidFill>
                <a:latin typeface="Aptos"/>
                <a:ea typeface="Aptos"/>
                <a:cs typeface="Aptos"/>
              </a:defRPr>
            </a:lvl4pPr>
            <a:lvl5pPr>
              <a:buNone/>
              <a:defRPr sz="2025" b="0">
                <a:solidFill>
                  <a:srgbClr val="16324F"/>
                </a:solidFill>
                <a:latin typeface="Aptos"/>
                <a:ea typeface="Aptos"/>
                <a:cs typeface="Aptos"/>
              </a:defRPr>
            </a:lvl5pPr>
            <a:lvl6pPr>
              <a:buNone/>
              <a:defRPr sz="2025" b="0">
                <a:solidFill>
                  <a:srgbClr val="16324F"/>
                </a:solidFill>
                <a:latin typeface="Aptos"/>
                <a:ea typeface="Aptos"/>
                <a:cs typeface="Aptos"/>
              </a:defRPr>
            </a:lvl6pPr>
            <a:lvl7pPr>
              <a:buNone/>
              <a:defRPr sz="2025" b="0">
                <a:solidFill>
                  <a:srgbClr val="16324F"/>
                </a:solidFill>
                <a:latin typeface="Aptos"/>
                <a:ea typeface="Aptos"/>
                <a:cs typeface="Aptos"/>
              </a:defRPr>
            </a:lvl7pPr>
            <a:lvl8pPr>
              <a:buNone/>
              <a:defRPr sz="2025" b="0">
                <a:solidFill>
                  <a:srgbClr val="16324F"/>
                </a:solidFill>
                <a:latin typeface="Aptos"/>
                <a:ea typeface="Aptos"/>
                <a:cs typeface="Aptos"/>
              </a:defRPr>
            </a:lvl8pPr>
            <a:lvl9pPr>
              <a:buNone/>
              <a:defRPr sz="2025" b="0">
                <a:solidFill>
                  <a:srgbClr val="16324F"/>
                </a:solidFill>
                <a:latin typeface="Aptos"/>
                <a:ea typeface="Aptos"/>
                <a:cs typeface="Aptos"/>
              </a:defRPr>
            </a:lvl9pPr>
          </a:lstStyle>
          <a:p xmlns:a="http://schemas.openxmlformats.org/drawingml/2006/main">
            <a:pPr>
              <a:buNone/>
              <a:defRPr sz="2025" b="0">
                <a:solidFill>
                  <a:srgbClr val="16324F"/>
                </a:solidFill>
                <a:latin typeface="Aptos"/>
                <a:ea typeface="Aptos"/>
                <a:cs typeface="Aptos"/>
              </a:defRPr>
            </a:pPr>
            <a:r>
              <a:rPr sz="2025" b="0">
                <a:solidFill>
                  <a:srgbClr val="16324F"/>
                </a:solidFill>
                <a:latin typeface="Aptos"/>
                <a:ea typeface="Aptos"/>
                <a:cs typeface="Aptos"/>
              </a:rPr>
              <a:t>Sorted linked list: search O(n), then relink O(1).</a:t>
            </a:r>
          </a:p>
        </p:txBody>
      </p:sp>
      <p:sp>
        <p:nvSpPr>
          <p:cNvPr id="8" name="">
            <a:extLst xmlns:a="http://schemas.openxmlformats.org/drawingml/2006/main">
              <a:ext uri="{FF2B5EF4-FFF2-40B4-BE49-F238E27FC236}">
                <a16:creationId xmlns:a16="http://schemas.microsoft.com/office/drawing/2014/main" id="{8C56007F-31DE-45D9-BA5F-17BA099269D8}"/>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Insert O(n)     Peek O(1)     Remove maximum O(1)</a:t>
            </a:r>
          </a:p>
        </p:txBody>
      </p:sp>
    </p:spTree>
    <p:extLst>
      <p:ext uri="{BB962C8B-B14F-4D97-AF65-F5344CB8AC3E}">
        <p14:creationId xmlns:p14="http://schemas.microsoft.com/office/powerpoint/2010/main" val="6269238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D632D9-6FB8-4F43-9A40-DA9E6E42A48F}"/>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Min priority queues with sorted storage</a:t>
            </a:r>
          </a:p>
        </p:txBody>
      </p:sp>
      <p:sp>
        <p:nvSpPr>
          <p:cNvPr id="2" name="">
            <a:extLst xmlns:a="http://schemas.openxmlformats.org/drawingml/2006/main">
              <a:ext uri="{FF2B5EF4-FFF2-40B4-BE49-F238E27FC236}">
                <a16:creationId xmlns:a16="http://schemas.microsoft.com/office/drawing/2014/main" id="{A75930D1-5C76-40DC-8C92-3EBA5197E9A2}"/>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Reverse the ordering so the minimum occupies the removal position.</a:t>
            </a:r>
          </a:p>
        </p:txBody>
      </p:sp>
      <p:sp>
        <p:nvSpPr>
          <p:cNvPr id="3" name="">
            <a:extLst xmlns:a="http://schemas.openxmlformats.org/drawingml/2006/main">
              <a:ext uri="{FF2B5EF4-FFF2-40B4-BE49-F238E27FC236}">
                <a16:creationId xmlns:a16="http://schemas.microsoft.com/office/drawing/2014/main" id="{0011E2AA-2482-4DCA-BB16-1F3BD994CDC9}"/>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06</a:t>
            </a:r>
          </a:p>
        </p:txBody>
      </p:sp>
      <p:graphicFrame>
        <p:nvGraphicFramePr>
          <p:cNvPr id="4" name="">
            <a:extLst xmlns:a="http://schemas.openxmlformats.org/drawingml/2006/main">
              <a:ext uri="{FF2B5EF4-FFF2-40B4-BE49-F238E27FC236}">
                <a16:creationId xmlns:a16="http://schemas.microsoft.com/office/drawing/2014/main" id="{0D586862-54B7-4672-A3DF-B385CB8CE426}"/>
              </a:ext>
            </a:extLst>
          </p:cNvPr>
          <p:cNvGraphicFramePr/>
          <p:nvPr/>
        </p:nvGraphicFramePr>
        <p:xfrm>
          <a:off xmlns:a="http://schemas.openxmlformats.org/drawingml/2006/main" x="533400" y="2238375"/>
          <a:ext xmlns:a="http://schemas.openxmlformats.org/drawingml/2006/main" cx="11125200" cy="2095500"/>
        </p:xfrm>
        <a:graphic xmlns:a="http://schemas.openxmlformats.org/drawingml/2006/main">
          <a:graphicData uri="http://schemas.openxmlformats.org/drawingml/2006/table">
            <a:tbl>
              <a:tblPr/>
              <a:tblGrid>
                <a:gridCol w="3714750"/>
                <a:gridCol w="3333750"/>
                <a:gridCol w="4076700"/>
              </a:tblGrid>
              <a:tr h="698500">
                <a:tc>
                  <a:txBody>
                    <a:bodyPr/>
                    <a:lstStyle/>
                    <a:p>
                      <a:r>
                        <a:rPr sz="2175" b="1">
                          <a:solidFill>
                            <a:srgbClr val="FFFFFF"/>
                          </a:solidFill>
                          <a:latin typeface="Aptos"/>
                          <a:ea typeface="Aptos"/>
                          <a:cs typeface="Aptos"/>
                        </a:rPr>
                        <a:t>Representation</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2175" b="1">
                          <a:solidFill>
                            <a:srgbClr val="FFFFFF"/>
                          </a:solidFill>
                          <a:latin typeface="Aptos"/>
                          <a:ea typeface="Aptos"/>
                          <a:cs typeface="Aptos"/>
                        </a:rPr>
                        <a:t>Ordering</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2175" b="1">
                          <a:solidFill>
                            <a:srgbClr val="FFFFFF"/>
                          </a:solidFill>
                          <a:latin typeface="Aptos"/>
                          <a:ea typeface="Aptos"/>
                          <a:cs typeface="Aptos"/>
                        </a:rPr>
                        <a:t>Minimum location</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698500">
                <a:tc>
                  <a:txBody>
                    <a:bodyPr/>
                    <a:lstStyle/>
                    <a:p>
                      <a:r>
                        <a:rPr sz="2175" b="0">
                          <a:solidFill>
                            <a:srgbClr val="16324F"/>
                          </a:solidFill>
                          <a:latin typeface="Aptos"/>
                          <a:ea typeface="Aptos"/>
                          <a:cs typeface="Aptos"/>
                        </a:rPr>
                        <a:t>Sorted array</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2175" b="0">
                          <a:solidFill>
                            <a:srgbClr val="16324F"/>
                          </a:solidFill>
                          <a:latin typeface="Aptos"/>
                          <a:ea typeface="Aptos"/>
                          <a:cs typeface="Aptos"/>
                        </a:rPr>
                        <a:t>Descending</a:t>
                      </a:r>
                    </a:p>
                  </a:txBody>
                  <a:tcPr marL="91440" marR="91440" marT="45720" marB="45720">
                    <a:lnR w="9525">
                      <a:solidFill>
                        <a:srgbClr val="D9E3E8"/>
                      </a:solidFill>
                    </a:lnR>
                    <a:lnB w="9525">
                      <a:solidFill>
                        <a:srgbClr val="D9E3E8"/>
                      </a:solidFill>
                    </a:lnB>
                    <a:solidFill>
                      <a:srgbClr val="F1F6F8"/>
                    </a:solidFill>
                  </a:tcPr>
                </a:tc>
                <a:tc>
                  <a:txBody>
                    <a:bodyPr/>
                    <a:lstStyle/>
                    <a:p>
                      <a:r>
                        <a:rPr sz="2175" b="0">
                          <a:solidFill>
                            <a:srgbClr val="16324F"/>
                          </a:solidFill>
                          <a:latin typeface="Aptos"/>
                          <a:ea typeface="Aptos"/>
                          <a:cs typeface="Aptos"/>
                        </a:rPr>
                        <a:t>Last occupied index</a:t>
                      </a:r>
                    </a:p>
                  </a:txBody>
                  <a:tcPr marL="91440" marR="91440" marT="45720" marB="45720">
                    <a:lnR w="9525">
                      <a:solidFill>
                        <a:srgbClr val="D9E3E8"/>
                      </a:solidFill>
                    </a:lnR>
                    <a:lnB w="9525">
                      <a:solidFill>
                        <a:srgbClr val="D9E3E8"/>
                      </a:solidFill>
                    </a:lnB>
                    <a:solidFill>
                      <a:srgbClr val="F1F6F8"/>
                    </a:solidFill>
                  </a:tcPr>
                </a:tc>
              </a:tr>
              <a:tr h="698500">
                <a:tc>
                  <a:txBody>
                    <a:bodyPr/>
                    <a:lstStyle/>
                    <a:p>
                      <a:r>
                        <a:rPr sz="2175" b="0">
                          <a:solidFill>
                            <a:srgbClr val="16324F"/>
                          </a:solidFill>
                          <a:latin typeface="Aptos"/>
                          <a:ea typeface="Aptos"/>
                          <a:cs typeface="Aptos"/>
                        </a:rPr>
                        <a:t>Sorted linked list</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2175" b="0">
                          <a:solidFill>
                            <a:srgbClr val="16324F"/>
                          </a:solidFill>
                          <a:latin typeface="Aptos"/>
                          <a:ea typeface="Aptos"/>
                          <a:cs typeface="Aptos"/>
                        </a:rPr>
                        <a:t>Ascending</a:t>
                      </a:r>
                    </a:p>
                  </a:txBody>
                  <a:tcPr marL="91440" marR="91440" marT="45720" marB="45720">
                    <a:lnR w="9525">
                      <a:solidFill>
                        <a:srgbClr val="D9E3E8"/>
                      </a:solidFill>
                    </a:lnR>
                    <a:lnB w="9525">
                      <a:solidFill>
                        <a:srgbClr val="D9E3E8"/>
                      </a:solidFill>
                    </a:lnB>
                    <a:solidFill>
                      <a:srgbClr val="FFFFFF"/>
                    </a:solidFill>
                  </a:tcPr>
                </a:tc>
                <a:tc>
                  <a:txBody>
                    <a:bodyPr/>
                    <a:lstStyle/>
                    <a:p>
                      <a:r>
                        <a:rPr sz="2175" b="0">
                          <a:solidFill>
                            <a:srgbClr val="16324F"/>
                          </a:solidFill>
                          <a:latin typeface="Aptos"/>
                          <a:ea typeface="Aptos"/>
                          <a:cs typeface="Aptos"/>
                        </a:rPr>
                        <a:t>Head</a:t>
                      </a:r>
                    </a:p>
                  </a:txBody>
                  <a:tcPr marL="91440" marR="91440" marT="45720" marB="45720">
                    <a:lnR w="9525">
                      <a:solidFill>
                        <a:srgbClr val="D9E3E8"/>
                      </a:solidFill>
                    </a:lnR>
                    <a:lnB w="9525">
                      <a:solidFill>
                        <a:srgbClr val="D9E3E8"/>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5E6612-7C3A-432A-8FE6-BE66C01E1509}"/>
              </a:ext>
            </a:extLst>
          </p:cNvPr>
          <p:cNvSpPr>
            <a:spLocks xmlns:a="http://schemas.openxmlformats.org/drawingml/2006/main" noGrp="1"/>
          </p:cNvSpPr>
          <p:nvPr/>
        </p:nvSpPr>
        <p:spPr>
          <a:xfrm xmlns:a="http://schemas.openxmlformats.org/drawingml/2006/main">
            <a:off x="533400" y="47148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6324F"/>
                </a:solidFill>
                <a:latin typeface="Aptos"/>
                <a:ea typeface="Aptos"/>
                <a:cs typeface="Aptos"/>
              </a:defRPr>
            </a:defPPr>
            <a:lvl1pPr>
              <a:buNone/>
              <a:defRPr sz="2100" b="0">
                <a:solidFill>
                  <a:srgbClr val="16324F"/>
                </a:solidFill>
                <a:latin typeface="Aptos"/>
                <a:ea typeface="Aptos"/>
                <a:cs typeface="Aptos"/>
              </a:defRPr>
            </a:lvl1pPr>
            <a:lvl2pPr>
              <a:buNone/>
              <a:defRPr sz="2100" b="0">
                <a:solidFill>
                  <a:srgbClr val="16324F"/>
                </a:solidFill>
                <a:latin typeface="Aptos"/>
                <a:ea typeface="Aptos"/>
                <a:cs typeface="Aptos"/>
              </a:defRPr>
            </a:lvl2pPr>
            <a:lvl3pPr>
              <a:buNone/>
              <a:defRPr sz="2100" b="0">
                <a:solidFill>
                  <a:srgbClr val="16324F"/>
                </a:solidFill>
                <a:latin typeface="Aptos"/>
                <a:ea typeface="Aptos"/>
                <a:cs typeface="Aptos"/>
              </a:defRPr>
            </a:lvl3pPr>
            <a:lvl4pPr>
              <a:buNone/>
              <a:defRPr sz="2100" b="0">
                <a:solidFill>
                  <a:srgbClr val="16324F"/>
                </a:solidFill>
                <a:latin typeface="Aptos"/>
                <a:ea typeface="Aptos"/>
                <a:cs typeface="Aptos"/>
              </a:defRPr>
            </a:lvl4pPr>
            <a:lvl5pPr>
              <a:buNone/>
              <a:defRPr sz="2100" b="0">
                <a:solidFill>
                  <a:srgbClr val="16324F"/>
                </a:solidFill>
                <a:latin typeface="Aptos"/>
                <a:ea typeface="Aptos"/>
                <a:cs typeface="Aptos"/>
              </a:defRPr>
            </a:lvl5pPr>
            <a:lvl6pPr>
              <a:buNone/>
              <a:defRPr sz="2100" b="0">
                <a:solidFill>
                  <a:srgbClr val="16324F"/>
                </a:solidFill>
                <a:latin typeface="Aptos"/>
                <a:ea typeface="Aptos"/>
                <a:cs typeface="Aptos"/>
              </a:defRPr>
            </a:lvl6pPr>
            <a:lvl7pPr>
              <a:buNone/>
              <a:defRPr sz="2100" b="0">
                <a:solidFill>
                  <a:srgbClr val="16324F"/>
                </a:solidFill>
                <a:latin typeface="Aptos"/>
                <a:ea typeface="Aptos"/>
                <a:cs typeface="Aptos"/>
              </a:defRPr>
            </a:lvl7pPr>
            <a:lvl8pPr>
              <a:buNone/>
              <a:defRPr sz="2100" b="0">
                <a:solidFill>
                  <a:srgbClr val="16324F"/>
                </a:solidFill>
                <a:latin typeface="Aptos"/>
                <a:ea typeface="Aptos"/>
                <a:cs typeface="Aptos"/>
              </a:defRPr>
            </a:lvl8pPr>
            <a:lvl9pPr>
              <a:buNone/>
              <a:defRPr sz="2100" b="0">
                <a:solidFill>
                  <a:srgbClr val="16324F"/>
                </a:solidFill>
                <a:latin typeface="Aptos"/>
                <a:ea typeface="Aptos"/>
                <a:cs typeface="Aptos"/>
              </a:defRPr>
            </a:lvl9pPr>
          </a:lstStyle>
          <a:p xmlns:a="http://schemas.openxmlformats.org/drawingml/2006/main">
            <a:pPr>
              <a:buNone/>
              <a:defRPr sz="2100" b="0">
                <a:solidFill>
                  <a:srgbClr val="16324F"/>
                </a:solidFill>
                <a:latin typeface="Aptos"/>
                <a:ea typeface="Aptos"/>
                <a:cs typeface="Aptos"/>
              </a:defRPr>
            </a:pPr>
            <a:r>
              <a:rPr sz="2100" b="0">
                <a:solidFill>
                  <a:srgbClr val="16324F"/>
                </a:solidFill>
                <a:latin typeface="Aptos"/>
                <a:ea typeface="Aptos"/>
                <a:cs typeface="Aptos"/>
              </a:rPr>
              <a:t>An array sorted in ascending order needs O(n) shifting to remove index 0.</a:t>
            </a:r>
          </a:p>
        </p:txBody>
      </p:sp>
      <p:sp>
        <p:nvSpPr>
          <p:cNvPr id="6" name="">
            <a:extLst xmlns:a="http://schemas.openxmlformats.org/drawingml/2006/main">
              <a:ext uri="{FF2B5EF4-FFF2-40B4-BE49-F238E27FC236}">
                <a16:creationId xmlns:a16="http://schemas.microsoft.com/office/drawing/2014/main" id="{8C6DF380-89A6-4493-8A9B-F42BAE1939F6}"/>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With the ordering above: insert O(n), peek O(1), remove minimum O(1)</a:t>
            </a:r>
          </a:p>
        </p:txBody>
      </p:sp>
    </p:spTree>
    <p:extLst>
      <p:ext uri="{BB962C8B-B14F-4D97-AF65-F5344CB8AC3E}">
        <p14:creationId xmlns:p14="http://schemas.microsoft.com/office/powerpoint/2010/main" val="4343127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A0A455-0D68-421C-B554-0104BFCF1077}"/>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A binary search tree implementation</a:t>
            </a:r>
          </a:p>
        </p:txBody>
      </p:sp>
      <p:sp>
        <p:nvSpPr>
          <p:cNvPr id="2" name="">
            <a:extLst xmlns:a="http://schemas.openxmlformats.org/drawingml/2006/main">
              <a:ext uri="{FF2B5EF4-FFF2-40B4-BE49-F238E27FC236}">
                <a16:creationId xmlns:a16="http://schemas.microsoft.com/office/drawing/2014/main" id="{656DBEC8-390A-49C5-847E-FA3AC30628D7}"/>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The maximum is the rightmost node. Its location depends on tree height h.</a:t>
            </a:r>
          </a:p>
        </p:txBody>
      </p:sp>
      <p:sp>
        <p:nvSpPr>
          <p:cNvPr id="3" name="">
            <a:extLst xmlns:a="http://schemas.openxmlformats.org/drawingml/2006/main">
              <a:ext uri="{FF2B5EF4-FFF2-40B4-BE49-F238E27FC236}">
                <a16:creationId xmlns:a16="http://schemas.microsoft.com/office/drawing/2014/main" id="{FDE83CDD-E4ED-4F25-A424-C0B8CD61162A}"/>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07</a:t>
            </a:r>
          </a:p>
        </p:txBody>
      </p:sp>
      <p:pic>
        <p:nvPicPr>
          <p:cNvPr id="4" name="">
            <a:extLst xmlns:a="http://schemas.openxmlformats.org/drawingml/2006/main">
              <a:ext uri="{FF2B5EF4-FFF2-40B4-BE49-F238E27FC236}">
                <a16:creationId xmlns:a16="http://schemas.microsoft.com/office/drawing/2014/main" id="{C38D651C-3C2E-4EBC-8256-0AE306FA01B7}"/>
              </a:ext>
            </a:extLst>
          </p:cNvPr>
          <p:cNvPicPr>
            <a:picLocks xmlns:a="http://schemas.openxmlformats.org/drawingml/2006/main" noChangeAspect="1"/>
          </p:cNvPicPr>
          <p:nvPr/>
        </p:nvPicPr>
        <p:blipFill>
          <a:blip xmlns:r="http://schemas.openxmlformats.org/officeDocument/2006/relationships" xmlns:a="http://schemas.openxmlformats.org/drawingml/2006/main" r:embed="R8b05987919894e47"/>
          <a:stretch xmlns:a="http://schemas.openxmlformats.org/drawingml/2006/main"/>
        </p:blipFill>
        <p:spPr>
          <a:xfrm xmlns:a="http://schemas.openxmlformats.org/drawingml/2006/main">
            <a:off x="6477000" y="2576927"/>
            <a:ext cx="4953000" cy="218039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782E71C-94C8-466C-80ED-960C026261D0}"/>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8BF02553-DB3B-4F4F-9881-5D219A53994E}"/>
              </a:ext>
            </a:extLst>
          </p:cNvPr>
          <p:cNvSpPr>
            <a:spLocks xmlns:a="http://schemas.openxmlformats.org/drawingml/2006/main" noGrp="1"/>
          </p:cNvSpPr>
          <p:nvPr/>
        </p:nvSpPr>
        <p:spPr>
          <a:xfrm xmlns:a="http://schemas.openxmlformats.org/drawingml/2006/main">
            <a:off x="533400" y="2190750"/>
            <a:ext cx="5429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Insert: O(h)</a:t>
            </a:r>
          </a:p>
        </p:txBody>
      </p:sp>
      <p:sp>
        <p:nvSpPr>
          <p:cNvPr id="7" name="">
            <a:extLst xmlns:a="http://schemas.openxmlformats.org/drawingml/2006/main">
              <a:ext uri="{FF2B5EF4-FFF2-40B4-BE49-F238E27FC236}">
                <a16:creationId xmlns:a16="http://schemas.microsoft.com/office/drawing/2014/main" id="{380614BF-3D68-4B4A-BB27-689A930EB1A3}"/>
              </a:ext>
            </a:extLst>
          </p:cNvPr>
          <p:cNvSpPr>
            <a:spLocks xmlns:a="http://schemas.openxmlformats.org/drawingml/2006/main" noGrp="1"/>
          </p:cNvSpPr>
          <p:nvPr/>
        </p:nvSpPr>
        <p:spPr>
          <a:xfrm xmlns:a="http://schemas.openxmlformats.org/drawingml/2006/main">
            <a:off x="533400" y="2924175"/>
            <a:ext cx="5429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Find and remove maximum: O(h)</a:t>
            </a:r>
          </a:p>
        </p:txBody>
      </p:sp>
      <p:sp>
        <p:nvSpPr>
          <p:cNvPr id="8" name="">
            <a:extLst xmlns:a="http://schemas.openxmlformats.org/drawingml/2006/main">
              <a:ext uri="{FF2B5EF4-FFF2-40B4-BE49-F238E27FC236}">
                <a16:creationId xmlns:a16="http://schemas.microsoft.com/office/drawing/2014/main" id="{C67A02C9-2E79-42DC-B29C-F20AE57A75CC}"/>
              </a:ext>
            </a:extLst>
          </p:cNvPr>
          <p:cNvSpPr>
            <a:spLocks xmlns:a="http://schemas.openxmlformats.org/drawingml/2006/main" noGrp="1"/>
          </p:cNvSpPr>
          <p:nvPr/>
        </p:nvSpPr>
        <p:spPr>
          <a:xfrm xmlns:a="http://schemas.openxmlformats.org/drawingml/2006/main">
            <a:off x="533400" y="3657600"/>
            <a:ext cx="5429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Balanced BST: h = O(log n)</a:t>
            </a:r>
          </a:p>
        </p:txBody>
      </p:sp>
      <p:sp>
        <p:nvSpPr>
          <p:cNvPr id="9" name="">
            <a:extLst xmlns:a="http://schemas.openxmlformats.org/drawingml/2006/main">
              <a:ext uri="{FF2B5EF4-FFF2-40B4-BE49-F238E27FC236}">
                <a16:creationId xmlns:a16="http://schemas.microsoft.com/office/drawing/2014/main" id="{DB51B36B-08F7-4177-83DD-590A7732F7E4}"/>
              </a:ext>
            </a:extLst>
          </p:cNvPr>
          <p:cNvSpPr>
            <a:spLocks xmlns:a="http://schemas.openxmlformats.org/drawingml/2006/main" noGrp="1"/>
          </p:cNvSpPr>
          <p:nvPr/>
        </p:nvSpPr>
        <p:spPr>
          <a:xfrm xmlns:a="http://schemas.openxmlformats.org/drawingml/2006/main">
            <a:off x="533400" y="4391025"/>
            <a:ext cx="5429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Unbalanced BST: h can be n − 1</a:t>
            </a:r>
          </a:p>
        </p:txBody>
      </p:sp>
      <p:sp>
        <p:nvSpPr>
          <p:cNvPr id="10" name="">
            <a:extLst xmlns:a="http://schemas.openxmlformats.org/drawingml/2006/main">
              <a:ext uri="{FF2B5EF4-FFF2-40B4-BE49-F238E27FC236}">
                <a16:creationId xmlns:a16="http://schemas.microsoft.com/office/drawing/2014/main" id="{7DEC91E0-B0F4-4D4B-9370-FBE0F5CDDC92}"/>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A plain BST can degrade to O(n) per operation.</a:t>
            </a:r>
          </a:p>
        </p:txBody>
      </p:sp>
    </p:spTree>
    <p:extLst>
      <p:ext uri="{BB962C8B-B14F-4D97-AF65-F5344CB8AC3E}">
        <p14:creationId xmlns:p14="http://schemas.microsoft.com/office/powerpoint/2010/main" val="97110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A7AAD5-A71E-4DD3-A1AD-D379BC1647A6}"/>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The two heap properties</a:t>
            </a:r>
          </a:p>
        </p:txBody>
      </p:sp>
      <p:sp>
        <p:nvSpPr>
          <p:cNvPr id="2" name="">
            <a:extLst xmlns:a="http://schemas.openxmlformats.org/drawingml/2006/main">
              <a:ext uri="{FF2B5EF4-FFF2-40B4-BE49-F238E27FC236}">
                <a16:creationId xmlns:a16="http://schemas.microsoft.com/office/drawing/2014/main" id="{909990ED-4FB7-42A1-BA3F-956CECC3008A}"/>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A binary heap combines a complete tree shape with a local ordering rule.</a:t>
            </a:r>
          </a:p>
        </p:txBody>
      </p:sp>
      <p:sp>
        <p:nvSpPr>
          <p:cNvPr id="3" name="">
            <a:extLst xmlns:a="http://schemas.openxmlformats.org/drawingml/2006/main">
              <a:ext uri="{FF2B5EF4-FFF2-40B4-BE49-F238E27FC236}">
                <a16:creationId xmlns:a16="http://schemas.microsoft.com/office/drawing/2014/main" id="{4E1D8E25-C5BB-4CC3-AB94-862CFC41F519}"/>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609E96FB-2D20-4DF7-9B7B-D892C1E3EEFB}"/>
              </a:ext>
            </a:extLst>
          </p:cNvPr>
          <p:cNvSpPr>
            <a:spLocks xmlns:a="http://schemas.openxmlformats.org/drawingml/2006/main" noGrp="1"/>
          </p:cNvSpPr>
          <p:nvPr/>
        </p:nvSpPr>
        <p:spPr>
          <a:xfrm xmlns:a="http://schemas.openxmlformats.org/drawingml/2006/main">
            <a:off x="533400" y="21431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Shape: every level is full except possibly the last.</a:t>
            </a:r>
          </a:p>
        </p:txBody>
      </p:sp>
      <p:sp>
        <p:nvSpPr>
          <p:cNvPr id="5" name="">
            <a:extLst xmlns:a="http://schemas.openxmlformats.org/drawingml/2006/main">
              <a:ext uri="{FF2B5EF4-FFF2-40B4-BE49-F238E27FC236}">
                <a16:creationId xmlns:a16="http://schemas.microsoft.com/office/drawing/2014/main" id="{8ED2993A-923A-409D-A3CF-1373656BB76C}"/>
              </a:ext>
            </a:extLst>
          </p:cNvPr>
          <p:cNvSpPr>
            <a:spLocks xmlns:a="http://schemas.openxmlformats.org/drawingml/2006/main" noGrp="1"/>
          </p:cNvSpPr>
          <p:nvPr/>
        </p:nvSpPr>
        <p:spPr>
          <a:xfrm xmlns:a="http://schemas.openxmlformats.org/drawingml/2006/main">
            <a:off x="533400" y="288607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The last level fills from left to right.</a:t>
            </a:r>
          </a:p>
        </p:txBody>
      </p:sp>
      <p:sp>
        <p:nvSpPr>
          <p:cNvPr id="6" name="">
            <a:extLst xmlns:a="http://schemas.openxmlformats.org/drawingml/2006/main">
              <a:ext uri="{FF2B5EF4-FFF2-40B4-BE49-F238E27FC236}">
                <a16:creationId xmlns:a16="http://schemas.microsoft.com/office/drawing/2014/main" id="{58423588-4576-40B7-963E-5030F85EAD0F}"/>
              </a:ext>
            </a:extLst>
          </p:cNvPr>
          <p:cNvSpPr>
            <a:spLocks xmlns:a="http://schemas.openxmlformats.org/drawingml/2006/main" noGrp="1"/>
          </p:cNvSpPr>
          <p:nvPr/>
        </p:nvSpPr>
        <p:spPr>
          <a:xfrm xmlns:a="http://schemas.openxmlformats.org/drawingml/2006/main">
            <a:off x="533400" y="36290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Max-heap order: each parent key is at least each child key.</a:t>
            </a:r>
          </a:p>
        </p:txBody>
      </p:sp>
      <p:sp>
        <p:nvSpPr>
          <p:cNvPr id="7" name="">
            <a:extLst xmlns:a="http://schemas.openxmlformats.org/drawingml/2006/main">
              <a:ext uri="{FF2B5EF4-FFF2-40B4-BE49-F238E27FC236}">
                <a16:creationId xmlns:a16="http://schemas.microsoft.com/office/drawing/2014/main" id="{673DFDAA-F5D5-4A13-A316-5F9B0FD81567}"/>
              </a:ext>
            </a:extLst>
          </p:cNvPr>
          <p:cNvSpPr>
            <a:spLocks xmlns:a="http://schemas.openxmlformats.org/drawingml/2006/main" noGrp="1"/>
          </p:cNvSpPr>
          <p:nvPr/>
        </p:nvSpPr>
        <p:spPr>
          <a:xfrm xmlns:a="http://schemas.openxmlformats.org/drawingml/2006/main">
            <a:off x="533400" y="437197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Every subtree satisfies the same ordering rule.</a:t>
            </a:r>
          </a:p>
        </p:txBody>
      </p:sp>
      <p:sp>
        <p:nvSpPr>
          <p:cNvPr id="8" name="">
            <a:extLst xmlns:a="http://schemas.openxmlformats.org/drawingml/2006/main">
              <a:ext uri="{FF2B5EF4-FFF2-40B4-BE49-F238E27FC236}">
                <a16:creationId xmlns:a16="http://schemas.microsoft.com/office/drawing/2014/main" id="{BA100893-CE0A-405C-B855-85DD8CAAE571}"/>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A heap supports fast access to one extreme. Arbitrary search is O(n).</a:t>
            </a:r>
          </a:p>
        </p:txBody>
      </p:sp>
      <p:sp>
        <p:nvSpPr>
          <p:cNvPr id="10" name="local-java-MaxHeap">
            <a:extLst xmlns:a="http://schemas.openxmlformats.org/drawingml/2006/main">
              <a:ext uri="{FF2B5EF4-FFF2-40B4-BE49-F238E27FC236}">
                <a16:creationId xmlns:a16="http://schemas.microsoft.com/office/drawing/2014/main" id="{785AF971-0D1D-4724-B4E0-71A2AF88F3D4}"/>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50a8c1029ddc4d53"/>
              </a:rPr>
              <a:t>Java: MaxHeap.java</a:t>
            </a:r>
          </a:p>
        </p:txBody>
      </p:sp>
    </p:spTree>
    <p:extLst>
      <p:ext uri="{BB962C8B-B14F-4D97-AF65-F5344CB8AC3E}">
        <p14:creationId xmlns:p14="http://schemas.microsoft.com/office/powerpoint/2010/main" val="627620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1874AE-2929-4A50-8013-0C15B4AD7589}"/>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Complete trees and heap order</a:t>
            </a:r>
          </a:p>
        </p:txBody>
      </p:sp>
      <p:sp>
        <p:nvSpPr>
          <p:cNvPr id="2" name="">
            <a:extLst xmlns:a="http://schemas.openxmlformats.org/drawingml/2006/main">
              <a:ext uri="{FF2B5EF4-FFF2-40B4-BE49-F238E27FC236}">
                <a16:creationId xmlns:a16="http://schemas.microsoft.com/office/drawing/2014/main" id="{690DBA68-C01E-4133-BBB9-42AFAA4D75F7}"/>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Completeness constrains the shape. Heap order constrains the keys.</a:t>
            </a:r>
          </a:p>
        </p:txBody>
      </p:sp>
      <p:sp>
        <p:nvSpPr>
          <p:cNvPr id="3" name="">
            <a:extLst xmlns:a="http://schemas.openxmlformats.org/drawingml/2006/main">
              <a:ext uri="{FF2B5EF4-FFF2-40B4-BE49-F238E27FC236}">
                <a16:creationId xmlns:a16="http://schemas.microsoft.com/office/drawing/2014/main" id="{6E8361D1-FC31-4E6C-899B-681CFA0BB891}"/>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09</a:t>
            </a:r>
          </a:p>
        </p:txBody>
      </p:sp>
      <p:pic>
        <p:nvPicPr>
          <p:cNvPr id="4" name="">
            <a:extLst xmlns:a="http://schemas.openxmlformats.org/drawingml/2006/main">
              <a:ext uri="{FF2B5EF4-FFF2-40B4-BE49-F238E27FC236}">
                <a16:creationId xmlns:a16="http://schemas.microsoft.com/office/drawing/2014/main" id="{44A64D93-69CA-4457-990A-7E655EB69B46}"/>
              </a:ext>
            </a:extLst>
          </p:cNvPr>
          <p:cNvPicPr>
            <a:picLocks xmlns:a="http://schemas.openxmlformats.org/drawingml/2006/main" noChangeAspect="1"/>
          </p:cNvPicPr>
          <p:nvPr/>
        </p:nvPicPr>
        <p:blipFill>
          <a:blip xmlns:r="http://schemas.openxmlformats.org/officeDocument/2006/relationships" xmlns:a="http://schemas.openxmlformats.org/drawingml/2006/main" r:embed="R19a8ffc66e7e40a6"/>
          <a:stretch xmlns:a="http://schemas.openxmlformats.org/drawingml/2006/main"/>
        </p:blipFill>
        <p:spPr>
          <a:xfrm xmlns:a="http://schemas.openxmlformats.org/drawingml/2006/main">
            <a:off x="992759" y="2190750"/>
            <a:ext cx="10206482" cy="2095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8BF8EE-1BA5-4C39-B516-FC8063B74F37}"/>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DB380EE3-9DF3-4E4B-A56E-AB30ABBC35AF}"/>
              </a:ext>
            </a:extLst>
          </p:cNvPr>
          <p:cNvSpPr>
            <a:spLocks xmlns:a="http://schemas.openxmlformats.org/drawingml/2006/main" noGrp="1"/>
          </p:cNvSpPr>
          <p:nvPr/>
        </p:nvSpPr>
        <p:spPr>
          <a:xfrm xmlns:a="http://schemas.openxmlformats.org/drawingml/2006/main">
            <a:off x="533400" y="4667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6324F"/>
                </a:solidFill>
                <a:latin typeface="Aptos"/>
                <a:ea typeface="Aptos"/>
                <a:cs typeface="Aptos"/>
              </a:defRPr>
            </a:defPPr>
            <a:lvl1pPr>
              <a:buNone/>
              <a:defRPr sz="2025" b="0">
                <a:solidFill>
                  <a:srgbClr val="16324F"/>
                </a:solidFill>
                <a:latin typeface="Aptos"/>
                <a:ea typeface="Aptos"/>
                <a:cs typeface="Aptos"/>
              </a:defRPr>
            </a:lvl1pPr>
            <a:lvl2pPr>
              <a:buNone/>
              <a:defRPr sz="2025" b="0">
                <a:solidFill>
                  <a:srgbClr val="16324F"/>
                </a:solidFill>
                <a:latin typeface="Aptos"/>
                <a:ea typeface="Aptos"/>
                <a:cs typeface="Aptos"/>
              </a:defRPr>
            </a:lvl2pPr>
            <a:lvl3pPr>
              <a:buNone/>
              <a:defRPr sz="2025" b="0">
                <a:solidFill>
                  <a:srgbClr val="16324F"/>
                </a:solidFill>
                <a:latin typeface="Aptos"/>
                <a:ea typeface="Aptos"/>
                <a:cs typeface="Aptos"/>
              </a:defRPr>
            </a:lvl3pPr>
            <a:lvl4pPr>
              <a:buNone/>
              <a:defRPr sz="2025" b="0">
                <a:solidFill>
                  <a:srgbClr val="16324F"/>
                </a:solidFill>
                <a:latin typeface="Aptos"/>
                <a:ea typeface="Aptos"/>
                <a:cs typeface="Aptos"/>
              </a:defRPr>
            </a:lvl4pPr>
            <a:lvl5pPr>
              <a:buNone/>
              <a:defRPr sz="2025" b="0">
                <a:solidFill>
                  <a:srgbClr val="16324F"/>
                </a:solidFill>
                <a:latin typeface="Aptos"/>
                <a:ea typeface="Aptos"/>
                <a:cs typeface="Aptos"/>
              </a:defRPr>
            </a:lvl5pPr>
            <a:lvl6pPr>
              <a:buNone/>
              <a:defRPr sz="2025" b="0">
                <a:solidFill>
                  <a:srgbClr val="16324F"/>
                </a:solidFill>
                <a:latin typeface="Aptos"/>
                <a:ea typeface="Aptos"/>
                <a:cs typeface="Aptos"/>
              </a:defRPr>
            </a:lvl6pPr>
            <a:lvl7pPr>
              <a:buNone/>
              <a:defRPr sz="2025" b="0">
                <a:solidFill>
                  <a:srgbClr val="16324F"/>
                </a:solidFill>
                <a:latin typeface="Aptos"/>
                <a:ea typeface="Aptos"/>
                <a:cs typeface="Aptos"/>
              </a:defRPr>
            </a:lvl7pPr>
            <a:lvl8pPr>
              <a:buNone/>
              <a:defRPr sz="2025" b="0">
                <a:solidFill>
                  <a:srgbClr val="16324F"/>
                </a:solidFill>
                <a:latin typeface="Aptos"/>
                <a:ea typeface="Aptos"/>
                <a:cs typeface="Aptos"/>
              </a:defRPr>
            </a:lvl8pPr>
            <a:lvl9pPr>
              <a:buNone/>
              <a:defRPr sz="2025" b="0">
                <a:solidFill>
                  <a:srgbClr val="16324F"/>
                </a:solidFill>
                <a:latin typeface="Aptos"/>
                <a:ea typeface="Aptos"/>
                <a:cs typeface="Aptos"/>
              </a:defRPr>
            </a:lvl9pPr>
          </a:lstStyle>
          <a:p xmlns:a="http://schemas.openxmlformats.org/drawingml/2006/main">
            <a:pPr>
              <a:buNone/>
              <a:defRPr sz="2025" b="0">
                <a:solidFill>
                  <a:srgbClr val="16324F"/>
                </a:solidFill>
                <a:latin typeface="Aptos"/>
                <a:ea typeface="Aptos"/>
                <a:cs typeface="Aptos"/>
              </a:defRPr>
            </a:pPr>
            <a:r>
              <a:rPr sz="2025" b="0">
                <a:solidFill>
                  <a:srgbClr val="16324F"/>
                </a:solidFill>
                <a:latin typeface="Aptos"/>
                <a:ea typeface="Aptos"/>
                <a:cs typeface="Aptos"/>
              </a:rPr>
              <a:t>(a) Complete and a max-heap.  (b) Complete, but 39 &lt; 42 violates heap order.</a:t>
            </a:r>
          </a:p>
        </p:txBody>
      </p:sp>
      <p:sp>
        <p:nvSpPr>
          <p:cNvPr id="7" name="">
            <a:extLst xmlns:a="http://schemas.openxmlformats.org/drawingml/2006/main">
              <a:ext uri="{FF2B5EF4-FFF2-40B4-BE49-F238E27FC236}">
                <a16:creationId xmlns:a16="http://schemas.microsoft.com/office/drawing/2014/main" id="{2490C4B3-3220-46F3-8DBD-3340181CAB04}"/>
              </a:ext>
            </a:extLst>
          </p:cNvPr>
          <p:cNvSpPr>
            <a:spLocks xmlns:a="http://schemas.openxmlformats.org/drawingml/2006/main" noGrp="1"/>
          </p:cNvSpPr>
          <p:nvPr/>
        </p:nvSpPr>
        <p:spPr>
          <a:xfrm xmlns:a="http://schemas.openxmlformats.org/drawingml/2006/main">
            <a:off x="533400" y="51911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6324F"/>
                </a:solidFill>
                <a:latin typeface="Aptos"/>
                <a:ea typeface="Aptos"/>
                <a:cs typeface="Aptos"/>
              </a:defRPr>
            </a:defPPr>
            <a:lvl1pPr>
              <a:buNone/>
              <a:defRPr sz="2025" b="0">
                <a:solidFill>
                  <a:srgbClr val="16324F"/>
                </a:solidFill>
                <a:latin typeface="Aptos"/>
                <a:ea typeface="Aptos"/>
                <a:cs typeface="Aptos"/>
              </a:defRPr>
            </a:lvl1pPr>
            <a:lvl2pPr>
              <a:buNone/>
              <a:defRPr sz="2025" b="0">
                <a:solidFill>
                  <a:srgbClr val="16324F"/>
                </a:solidFill>
                <a:latin typeface="Aptos"/>
                <a:ea typeface="Aptos"/>
                <a:cs typeface="Aptos"/>
              </a:defRPr>
            </a:lvl2pPr>
            <a:lvl3pPr>
              <a:buNone/>
              <a:defRPr sz="2025" b="0">
                <a:solidFill>
                  <a:srgbClr val="16324F"/>
                </a:solidFill>
                <a:latin typeface="Aptos"/>
                <a:ea typeface="Aptos"/>
                <a:cs typeface="Aptos"/>
              </a:defRPr>
            </a:lvl3pPr>
            <a:lvl4pPr>
              <a:buNone/>
              <a:defRPr sz="2025" b="0">
                <a:solidFill>
                  <a:srgbClr val="16324F"/>
                </a:solidFill>
                <a:latin typeface="Aptos"/>
                <a:ea typeface="Aptos"/>
                <a:cs typeface="Aptos"/>
              </a:defRPr>
            </a:lvl4pPr>
            <a:lvl5pPr>
              <a:buNone/>
              <a:defRPr sz="2025" b="0">
                <a:solidFill>
                  <a:srgbClr val="16324F"/>
                </a:solidFill>
                <a:latin typeface="Aptos"/>
                <a:ea typeface="Aptos"/>
                <a:cs typeface="Aptos"/>
              </a:defRPr>
            </a:lvl5pPr>
            <a:lvl6pPr>
              <a:buNone/>
              <a:defRPr sz="2025" b="0">
                <a:solidFill>
                  <a:srgbClr val="16324F"/>
                </a:solidFill>
                <a:latin typeface="Aptos"/>
                <a:ea typeface="Aptos"/>
                <a:cs typeface="Aptos"/>
              </a:defRPr>
            </a:lvl6pPr>
            <a:lvl7pPr>
              <a:buNone/>
              <a:defRPr sz="2025" b="0">
                <a:solidFill>
                  <a:srgbClr val="16324F"/>
                </a:solidFill>
                <a:latin typeface="Aptos"/>
                <a:ea typeface="Aptos"/>
                <a:cs typeface="Aptos"/>
              </a:defRPr>
            </a:lvl7pPr>
            <a:lvl8pPr>
              <a:buNone/>
              <a:defRPr sz="2025" b="0">
                <a:solidFill>
                  <a:srgbClr val="16324F"/>
                </a:solidFill>
                <a:latin typeface="Aptos"/>
                <a:ea typeface="Aptos"/>
                <a:cs typeface="Aptos"/>
              </a:defRPr>
            </a:lvl8pPr>
            <a:lvl9pPr>
              <a:buNone/>
              <a:defRPr sz="2025" b="0">
                <a:solidFill>
                  <a:srgbClr val="16324F"/>
                </a:solidFill>
                <a:latin typeface="Aptos"/>
                <a:ea typeface="Aptos"/>
                <a:cs typeface="Aptos"/>
              </a:defRPr>
            </a:lvl9pPr>
          </a:lstStyle>
          <a:p xmlns:a="http://schemas.openxmlformats.org/drawingml/2006/main">
            <a:pPr>
              <a:buNone/>
              <a:defRPr sz="2025" b="0">
                <a:solidFill>
                  <a:srgbClr val="16324F"/>
                </a:solidFill>
                <a:latin typeface="Aptos"/>
                <a:ea typeface="Aptos"/>
                <a:cs typeface="Aptos"/>
              </a:defRPr>
            </a:pPr>
            <a:r>
              <a:rPr sz="2025" b="0">
                <a:solidFill>
                  <a:srgbClr val="16324F"/>
                </a:solidFill>
                <a:latin typeface="Aptos"/>
                <a:ea typeface="Aptos"/>
                <a:cs typeface="Aptos"/>
              </a:rPr>
              <a:t>(c) and (d) are incomplete because the final level has gaps.</a:t>
            </a:r>
          </a:p>
        </p:txBody>
      </p:sp>
      <p:sp>
        <p:nvSpPr>
          <p:cNvPr id="8" name="">
            <a:extLst xmlns:a="http://schemas.openxmlformats.org/drawingml/2006/main">
              <a:ext uri="{FF2B5EF4-FFF2-40B4-BE49-F238E27FC236}">
                <a16:creationId xmlns:a16="http://schemas.microsoft.com/office/drawing/2014/main" id="{A558032C-17DB-4986-A3C8-41D48BA39FF1}"/>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For n ≥ 1, a complete binary tree has height </a:t>
            </a:r>
            <a:r>
              <a:rPr sz="2175" b="1">
                <a:solidFill>
                  <a:srgbClr val="087F8C"/>
                </a:solidFill>
                <a:latin typeface="Aptos"/>
                <a:ea typeface="Aptos"/>
                <a:cs typeface="Aptos"/>
              </a:rPr>
              <a:t>floor(log2(n))</a:t>
            </a:r>
            <a:r>
              <a:rPr sz="2175" b="1">
                <a:solidFill>
                  <a:srgbClr val="087F8C"/>
                </a:solidFill>
                <a:latin typeface="Aptos"/>
                <a:ea typeface="Aptos"/>
                <a:cs typeface="Aptos"/>
              </a:rPr>
              <a:t>.</a:t>
            </a:r>
          </a:p>
        </p:txBody>
      </p:sp>
    </p:spTree>
    <p:extLst>
      <p:ext uri="{BB962C8B-B14F-4D97-AF65-F5344CB8AC3E}">
        <p14:creationId xmlns:p14="http://schemas.microsoft.com/office/powerpoint/2010/main" val="1192295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B1DBD7-AB72-4A0C-8A4F-589181DECD7C}"/>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Max-heaps and min-heaps</a:t>
            </a:r>
          </a:p>
        </p:txBody>
      </p:sp>
      <p:sp>
        <p:nvSpPr>
          <p:cNvPr id="2" name="">
            <a:extLst xmlns:a="http://schemas.openxmlformats.org/drawingml/2006/main">
              <a:ext uri="{FF2B5EF4-FFF2-40B4-BE49-F238E27FC236}">
                <a16:creationId xmlns:a16="http://schemas.microsoft.com/office/drawing/2014/main" id="{96E7061E-8E4E-47DA-9FE8-93A6CDA7543F}"/>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10</a:t>
            </a:r>
          </a:p>
        </p:txBody>
      </p:sp>
      <p:pic>
        <p:nvPicPr>
          <p:cNvPr id="3" name="">
            <a:extLst xmlns:a="http://schemas.openxmlformats.org/drawingml/2006/main">
              <a:ext uri="{FF2B5EF4-FFF2-40B4-BE49-F238E27FC236}">
                <a16:creationId xmlns:a16="http://schemas.microsoft.com/office/drawing/2014/main" id="{870193C6-6C38-4048-95DD-B0C9AC673F00}"/>
              </a:ext>
            </a:extLst>
          </p:cNvPr>
          <p:cNvPicPr>
            <a:picLocks xmlns:a="http://schemas.openxmlformats.org/drawingml/2006/main" noChangeAspect="1"/>
          </p:cNvPicPr>
          <p:nvPr/>
        </p:nvPicPr>
        <p:blipFill>
          <a:blip xmlns:r="http://schemas.openxmlformats.org/officeDocument/2006/relationships" xmlns:a="http://schemas.openxmlformats.org/drawingml/2006/main" r:embed="R11ae62142666445c"/>
          <a:stretch xmlns:a="http://schemas.openxmlformats.org/drawingml/2006/main"/>
        </p:blipFill>
        <p:spPr>
          <a:xfrm xmlns:a="http://schemas.openxmlformats.org/drawingml/2006/main">
            <a:off x="6858000" y="2449220"/>
            <a:ext cx="4667250" cy="23405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81FC4-7EE9-47E8-899A-D7636AC688D9}"/>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5" name="">
            <a:extLst xmlns:a="http://schemas.openxmlformats.org/drawingml/2006/main">
              <a:ext uri="{FF2B5EF4-FFF2-40B4-BE49-F238E27FC236}">
                <a16:creationId xmlns:a16="http://schemas.microsoft.com/office/drawing/2014/main" id="{3D37F491-C3D8-4051-BFD3-96CAA1EF1D16}"/>
              </a:ext>
            </a:extLst>
          </p:cNvPr>
          <p:cNvSpPr>
            <a:spLocks xmlns:a="http://schemas.openxmlformats.org/drawingml/2006/main" noGrp="1"/>
          </p:cNvSpPr>
          <p:nvPr/>
        </p:nvSpPr>
        <p:spPr>
          <a:xfrm xmlns:a="http://schemas.openxmlformats.org/drawingml/2006/main">
            <a:off x="533400" y="20002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6324F"/>
                </a:solidFill>
                <a:latin typeface="Aptos"/>
                <a:ea typeface="Aptos"/>
                <a:cs typeface="Aptos"/>
              </a:defRPr>
            </a:defPPr>
            <a:lvl1pPr>
              <a:buNone/>
              <a:defRPr sz="2250" b="0">
                <a:solidFill>
                  <a:srgbClr val="16324F"/>
                </a:solidFill>
                <a:latin typeface="Aptos"/>
                <a:ea typeface="Aptos"/>
                <a:cs typeface="Aptos"/>
              </a:defRPr>
            </a:lvl1pPr>
            <a:lvl2pPr>
              <a:buNone/>
              <a:defRPr sz="2250" b="0">
                <a:solidFill>
                  <a:srgbClr val="16324F"/>
                </a:solidFill>
                <a:latin typeface="Aptos"/>
                <a:ea typeface="Aptos"/>
                <a:cs typeface="Aptos"/>
              </a:defRPr>
            </a:lvl2pPr>
            <a:lvl3pPr>
              <a:buNone/>
              <a:defRPr sz="2250" b="0">
                <a:solidFill>
                  <a:srgbClr val="16324F"/>
                </a:solidFill>
                <a:latin typeface="Aptos"/>
                <a:ea typeface="Aptos"/>
                <a:cs typeface="Aptos"/>
              </a:defRPr>
            </a:lvl3pPr>
            <a:lvl4pPr>
              <a:buNone/>
              <a:defRPr sz="2250" b="0">
                <a:solidFill>
                  <a:srgbClr val="16324F"/>
                </a:solidFill>
                <a:latin typeface="Aptos"/>
                <a:ea typeface="Aptos"/>
                <a:cs typeface="Aptos"/>
              </a:defRPr>
            </a:lvl4pPr>
            <a:lvl5pPr>
              <a:buNone/>
              <a:defRPr sz="2250" b="0">
                <a:solidFill>
                  <a:srgbClr val="16324F"/>
                </a:solidFill>
                <a:latin typeface="Aptos"/>
                <a:ea typeface="Aptos"/>
                <a:cs typeface="Aptos"/>
              </a:defRPr>
            </a:lvl5pPr>
            <a:lvl6pPr>
              <a:buNone/>
              <a:defRPr sz="2250" b="0">
                <a:solidFill>
                  <a:srgbClr val="16324F"/>
                </a:solidFill>
                <a:latin typeface="Aptos"/>
                <a:ea typeface="Aptos"/>
                <a:cs typeface="Aptos"/>
              </a:defRPr>
            </a:lvl6pPr>
            <a:lvl7pPr>
              <a:buNone/>
              <a:defRPr sz="2250" b="0">
                <a:solidFill>
                  <a:srgbClr val="16324F"/>
                </a:solidFill>
                <a:latin typeface="Aptos"/>
                <a:ea typeface="Aptos"/>
                <a:cs typeface="Aptos"/>
              </a:defRPr>
            </a:lvl7pPr>
            <a:lvl8pPr>
              <a:buNone/>
              <a:defRPr sz="2250" b="0">
                <a:solidFill>
                  <a:srgbClr val="16324F"/>
                </a:solidFill>
                <a:latin typeface="Aptos"/>
                <a:ea typeface="Aptos"/>
                <a:cs typeface="Aptos"/>
              </a:defRPr>
            </a:lvl8pPr>
            <a:lvl9pPr>
              <a:buNone/>
              <a:defRPr sz="2250" b="0">
                <a:solidFill>
                  <a:srgbClr val="16324F"/>
                </a:solidFill>
                <a:latin typeface="Aptos"/>
                <a:ea typeface="Aptos"/>
                <a:cs typeface="Aptos"/>
              </a:defRPr>
            </a:lvl9pPr>
          </a:lstStyle>
          <a:p xmlns:a="http://schemas.openxmlformats.org/drawingml/2006/main">
            <a:pPr>
              <a:buNone/>
              <a:defRPr sz="2250" b="0">
                <a:solidFill>
                  <a:srgbClr val="16324F"/>
                </a:solidFill>
                <a:latin typeface="Aptos"/>
                <a:ea typeface="Aptos"/>
                <a:cs typeface="Aptos"/>
              </a:defRPr>
            </a:pPr>
            <a:r>
              <a:rPr sz="2250" b="0">
                <a:solidFill>
                  <a:srgbClr val="16324F"/>
                </a:solidFill>
                <a:latin typeface="Aptos"/>
                <a:ea typeface="Aptos"/>
                <a:cs typeface="Aptos"/>
              </a:rPr>
              <a:t>Max-heap: parent ≥ children.</a:t>
            </a:r>
          </a:p>
        </p:txBody>
      </p:sp>
      <p:sp>
        <p:nvSpPr>
          <p:cNvPr id="6" name="">
            <a:extLst xmlns:a="http://schemas.openxmlformats.org/drawingml/2006/main">
              <a:ext uri="{FF2B5EF4-FFF2-40B4-BE49-F238E27FC236}">
                <a16:creationId xmlns:a16="http://schemas.microsoft.com/office/drawing/2014/main" id="{DF1451B5-EE47-419F-A9C0-64420821E6E6}"/>
              </a:ext>
            </a:extLst>
          </p:cNvPr>
          <p:cNvSpPr>
            <a:spLocks xmlns:a="http://schemas.openxmlformats.org/drawingml/2006/main" noGrp="1"/>
          </p:cNvSpPr>
          <p:nvPr/>
        </p:nvSpPr>
        <p:spPr>
          <a:xfrm xmlns:a="http://schemas.openxmlformats.org/drawingml/2006/main">
            <a:off x="533400" y="27622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6324F"/>
                </a:solidFill>
                <a:latin typeface="Aptos"/>
                <a:ea typeface="Aptos"/>
                <a:cs typeface="Aptos"/>
              </a:defRPr>
            </a:defPPr>
            <a:lvl1pPr>
              <a:buNone/>
              <a:defRPr sz="2250" b="0">
                <a:solidFill>
                  <a:srgbClr val="16324F"/>
                </a:solidFill>
                <a:latin typeface="Aptos"/>
                <a:ea typeface="Aptos"/>
                <a:cs typeface="Aptos"/>
              </a:defRPr>
            </a:lvl1pPr>
            <a:lvl2pPr>
              <a:buNone/>
              <a:defRPr sz="2250" b="0">
                <a:solidFill>
                  <a:srgbClr val="16324F"/>
                </a:solidFill>
                <a:latin typeface="Aptos"/>
                <a:ea typeface="Aptos"/>
                <a:cs typeface="Aptos"/>
              </a:defRPr>
            </a:lvl2pPr>
            <a:lvl3pPr>
              <a:buNone/>
              <a:defRPr sz="2250" b="0">
                <a:solidFill>
                  <a:srgbClr val="16324F"/>
                </a:solidFill>
                <a:latin typeface="Aptos"/>
                <a:ea typeface="Aptos"/>
                <a:cs typeface="Aptos"/>
              </a:defRPr>
            </a:lvl3pPr>
            <a:lvl4pPr>
              <a:buNone/>
              <a:defRPr sz="2250" b="0">
                <a:solidFill>
                  <a:srgbClr val="16324F"/>
                </a:solidFill>
                <a:latin typeface="Aptos"/>
                <a:ea typeface="Aptos"/>
                <a:cs typeface="Aptos"/>
              </a:defRPr>
            </a:lvl4pPr>
            <a:lvl5pPr>
              <a:buNone/>
              <a:defRPr sz="2250" b="0">
                <a:solidFill>
                  <a:srgbClr val="16324F"/>
                </a:solidFill>
                <a:latin typeface="Aptos"/>
                <a:ea typeface="Aptos"/>
                <a:cs typeface="Aptos"/>
              </a:defRPr>
            </a:lvl5pPr>
            <a:lvl6pPr>
              <a:buNone/>
              <a:defRPr sz="2250" b="0">
                <a:solidFill>
                  <a:srgbClr val="16324F"/>
                </a:solidFill>
                <a:latin typeface="Aptos"/>
                <a:ea typeface="Aptos"/>
                <a:cs typeface="Aptos"/>
              </a:defRPr>
            </a:lvl6pPr>
            <a:lvl7pPr>
              <a:buNone/>
              <a:defRPr sz="2250" b="0">
                <a:solidFill>
                  <a:srgbClr val="16324F"/>
                </a:solidFill>
                <a:latin typeface="Aptos"/>
                <a:ea typeface="Aptos"/>
                <a:cs typeface="Aptos"/>
              </a:defRPr>
            </a:lvl7pPr>
            <a:lvl8pPr>
              <a:buNone/>
              <a:defRPr sz="2250" b="0">
                <a:solidFill>
                  <a:srgbClr val="16324F"/>
                </a:solidFill>
                <a:latin typeface="Aptos"/>
                <a:ea typeface="Aptos"/>
                <a:cs typeface="Aptos"/>
              </a:defRPr>
            </a:lvl8pPr>
            <a:lvl9pPr>
              <a:buNone/>
              <a:defRPr sz="2250" b="0">
                <a:solidFill>
                  <a:srgbClr val="16324F"/>
                </a:solidFill>
                <a:latin typeface="Aptos"/>
                <a:ea typeface="Aptos"/>
                <a:cs typeface="Aptos"/>
              </a:defRPr>
            </a:lvl9pPr>
          </a:lstStyle>
          <a:p xmlns:a="http://schemas.openxmlformats.org/drawingml/2006/main">
            <a:pPr>
              <a:buNone/>
              <a:defRPr sz="2250" b="0">
                <a:solidFill>
                  <a:srgbClr val="16324F"/>
                </a:solidFill>
                <a:latin typeface="Aptos"/>
                <a:ea typeface="Aptos"/>
                <a:cs typeface="Aptos"/>
              </a:defRPr>
            </a:pPr>
            <a:r>
              <a:rPr sz="2250" b="0">
                <a:solidFill>
                  <a:srgbClr val="16324F"/>
                </a:solidFill>
                <a:latin typeface="Aptos"/>
                <a:ea typeface="Aptos"/>
                <a:cs typeface="Aptos"/>
              </a:rPr>
              <a:t>The root contains a maximum.</a:t>
            </a:r>
          </a:p>
        </p:txBody>
      </p:sp>
      <p:sp>
        <p:nvSpPr>
          <p:cNvPr id="7" name="">
            <a:extLst xmlns:a="http://schemas.openxmlformats.org/drawingml/2006/main">
              <a:ext uri="{FF2B5EF4-FFF2-40B4-BE49-F238E27FC236}">
                <a16:creationId xmlns:a16="http://schemas.microsoft.com/office/drawing/2014/main" id="{FF603CD8-05D3-46E4-A9C1-2994A0D81161}"/>
              </a:ext>
            </a:extLst>
          </p:cNvPr>
          <p:cNvSpPr>
            <a:spLocks xmlns:a="http://schemas.openxmlformats.org/drawingml/2006/main" noGrp="1"/>
          </p:cNvSpPr>
          <p:nvPr/>
        </p:nvSpPr>
        <p:spPr>
          <a:xfrm xmlns:a="http://schemas.openxmlformats.org/drawingml/2006/main">
            <a:off x="533400" y="35242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6324F"/>
                </a:solidFill>
                <a:latin typeface="Aptos"/>
                <a:ea typeface="Aptos"/>
                <a:cs typeface="Aptos"/>
              </a:defRPr>
            </a:defPPr>
            <a:lvl1pPr>
              <a:buNone/>
              <a:defRPr sz="2250" b="0">
                <a:solidFill>
                  <a:srgbClr val="16324F"/>
                </a:solidFill>
                <a:latin typeface="Aptos"/>
                <a:ea typeface="Aptos"/>
                <a:cs typeface="Aptos"/>
              </a:defRPr>
            </a:lvl1pPr>
            <a:lvl2pPr>
              <a:buNone/>
              <a:defRPr sz="2250" b="0">
                <a:solidFill>
                  <a:srgbClr val="16324F"/>
                </a:solidFill>
                <a:latin typeface="Aptos"/>
                <a:ea typeface="Aptos"/>
                <a:cs typeface="Aptos"/>
              </a:defRPr>
            </a:lvl2pPr>
            <a:lvl3pPr>
              <a:buNone/>
              <a:defRPr sz="2250" b="0">
                <a:solidFill>
                  <a:srgbClr val="16324F"/>
                </a:solidFill>
                <a:latin typeface="Aptos"/>
                <a:ea typeface="Aptos"/>
                <a:cs typeface="Aptos"/>
              </a:defRPr>
            </a:lvl3pPr>
            <a:lvl4pPr>
              <a:buNone/>
              <a:defRPr sz="2250" b="0">
                <a:solidFill>
                  <a:srgbClr val="16324F"/>
                </a:solidFill>
                <a:latin typeface="Aptos"/>
                <a:ea typeface="Aptos"/>
                <a:cs typeface="Aptos"/>
              </a:defRPr>
            </a:lvl4pPr>
            <a:lvl5pPr>
              <a:buNone/>
              <a:defRPr sz="2250" b="0">
                <a:solidFill>
                  <a:srgbClr val="16324F"/>
                </a:solidFill>
                <a:latin typeface="Aptos"/>
                <a:ea typeface="Aptos"/>
                <a:cs typeface="Aptos"/>
              </a:defRPr>
            </a:lvl5pPr>
            <a:lvl6pPr>
              <a:buNone/>
              <a:defRPr sz="2250" b="0">
                <a:solidFill>
                  <a:srgbClr val="16324F"/>
                </a:solidFill>
                <a:latin typeface="Aptos"/>
                <a:ea typeface="Aptos"/>
                <a:cs typeface="Aptos"/>
              </a:defRPr>
            </a:lvl6pPr>
            <a:lvl7pPr>
              <a:buNone/>
              <a:defRPr sz="2250" b="0">
                <a:solidFill>
                  <a:srgbClr val="16324F"/>
                </a:solidFill>
                <a:latin typeface="Aptos"/>
                <a:ea typeface="Aptos"/>
                <a:cs typeface="Aptos"/>
              </a:defRPr>
            </a:lvl7pPr>
            <a:lvl8pPr>
              <a:buNone/>
              <a:defRPr sz="2250" b="0">
                <a:solidFill>
                  <a:srgbClr val="16324F"/>
                </a:solidFill>
                <a:latin typeface="Aptos"/>
                <a:ea typeface="Aptos"/>
                <a:cs typeface="Aptos"/>
              </a:defRPr>
            </a:lvl8pPr>
            <a:lvl9pPr>
              <a:buNone/>
              <a:defRPr sz="2250" b="0">
                <a:solidFill>
                  <a:srgbClr val="16324F"/>
                </a:solidFill>
                <a:latin typeface="Aptos"/>
                <a:ea typeface="Aptos"/>
                <a:cs typeface="Aptos"/>
              </a:defRPr>
            </a:lvl9pPr>
          </a:lstStyle>
          <a:p xmlns:a="http://schemas.openxmlformats.org/drawingml/2006/main">
            <a:pPr>
              <a:buNone/>
              <a:defRPr sz="2250" b="0">
                <a:solidFill>
                  <a:srgbClr val="16324F"/>
                </a:solidFill>
                <a:latin typeface="Aptos"/>
                <a:ea typeface="Aptos"/>
                <a:cs typeface="Aptos"/>
              </a:defRPr>
            </a:pPr>
            <a:r>
              <a:rPr sz="2250" b="0">
                <a:solidFill>
                  <a:srgbClr val="16324F"/>
                </a:solidFill>
                <a:latin typeface="Aptos"/>
                <a:ea typeface="Aptos"/>
                <a:cs typeface="Aptos"/>
              </a:rPr>
              <a:t>Min-heap: parent ≤ children.</a:t>
            </a:r>
          </a:p>
        </p:txBody>
      </p:sp>
      <p:sp>
        <p:nvSpPr>
          <p:cNvPr id="8" name="">
            <a:extLst xmlns:a="http://schemas.openxmlformats.org/drawingml/2006/main">
              <a:ext uri="{FF2B5EF4-FFF2-40B4-BE49-F238E27FC236}">
                <a16:creationId xmlns:a16="http://schemas.microsoft.com/office/drawing/2014/main" id="{0803757C-0C25-4E54-B3D2-DD18E60364D2}"/>
              </a:ext>
            </a:extLst>
          </p:cNvPr>
          <p:cNvSpPr>
            <a:spLocks xmlns:a="http://schemas.openxmlformats.org/drawingml/2006/main" noGrp="1"/>
          </p:cNvSpPr>
          <p:nvPr/>
        </p:nvSpPr>
        <p:spPr>
          <a:xfrm xmlns:a="http://schemas.openxmlformats.org/drawingml/2006/main">
            <a:off x="533400" y="42862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6324F"/>
                </a:solidFill>
                <a:latin typeface="Aptos"/>
                <a:ea typeface="Aptos"/>
                <a:cs typeface="Aptos"/>
              </a:defRPr>
            </a:defPPr>
            <a:lvl1pPr>
              <a:buNone/>
              <a:defRPr sz="2250" b="0">
                <a:solidFill>
                  <a:srgbClr val="16324F"/>
                </a:solidFill>
                <a:latin typeface="Aptos"/>
                <a:ea typeface="Aptos"/>
                <a:cs typeface="Aptos"/>
              </a:defRPr>
            </a:lvl1pPr>
            <a:lvl2pPr>
              <a:buNone/>
              <a:defRPr sz="2250" b="0">
                <a:solidFill>
                  <a:srgbClr val="16324F"/>
                </a:solidFill>
                <a:latin typeface="Aptos"/>
                <a:ea typeface="Aptos"/>
                <a:cs typeface="Aptos"/>
              </a:defRPr>
            </a:lvl2pPr>
            <a:lvl3pPr>
              <a:buNone/>
              <a:defRPr sz="2250" b="0">
                <a:solidFill>
                  <a:srgbClr val="16324F"/>
                </a:solidFill>
                <a:latin typeface="Aptos"/>
                <a:ea typeface="Aptos"/>
                <a:cs typeface="Aptos"/>
              </a:defRPr>
            </a:lvl3pPr>
            <a:lvl4pPr>
              <a:buNone/>
              <a:defRPr sz="2250" b="0">
                <a:solidFill>
                  <a:srgbClr val="16324F"/>
                </a:solidFill>
                <a:latin typeface="Aptos"/>
                <a:ea typeface="Aptos"/>
                <a:cs typeface="Aptos"/>
              </a:defRPr>
            </a:lvl4pPr>
            <a:lvl5pPr>
              <a:buNone/>
              <a:defRPr sz="2250" b="0">
                <a:solidFill>
                  <a:srgbClr val="16324F"/>
                </a:solidFill>
                <a:latin typeface="Aptos"/>
                <a:ea typeface="Aptos"/>
                <a:cs typeface="Aptos"/>
              </a:defRPr>
            </a:lvl5pPr>
            <a:lvl6pPr>
              <a:buNone/>
              <a:defRPr sz="2250" b="0">
                <a:solidFill>
                  <a:srgbClr val="16324F"/>
                </a:solidFill>
                <a:latin typeface="Aptos"/>
                <a:ea typeface="Aptos"/>
                <a:cs typeface="Aptos"/>
              </a:defRPr>
            </a:lvl6pPr>
            <a:lvl7pPr>
              <a:buNone/>
              <a:defRPr sz="2250" b="0">
                <a:solidFill>
                  <a:srgbClr val="16324F"/>
                </a:solidFill>
                <a:latin typeface="Aptos"/>
                <a:ea typeface="Aptos"/>
                <a:cs typeface="Aptos"/>
              </a:defRPr>
            </a:lvl7pPr>
            <a:lvl8pPr>
              <a:buNone/>
              <a:defRPr sz="2250" b="0">
                <a:solidFill>
                  <a:srgbClr val="16324F"/>
                </a:solidFill>
                <a:latin typeface="Aptos"/>
                <a:ea typeface="Aptos"/>
                <a:cs typeface="Aptos"/>
              </a:defRPr>
            </a:lvl8pPr>
            <a:lvl9pPr>
              <a:buNone/>
              <a:defRPr sz="2250" b="0">
                <a:solidFill>
                  <a:srgbClr val="16324F"/>
                </a:solidFill>
                <a:latin typeface="Aptos"/>
                <a:ea typeface="Aptos"/>
                <a:cs typeface="Aptos"/>
              </a:defRPr>
            </a:lvl9pPr>
          </a:lstStyle>
          <a:p xmlns:a="http://schemas.openxmlformats.org/drawingml/2006/main">
            <a:pPr>
              <a:buNone/>
              <a:defRPr sz="2250" b="0">
                <a:solidFill>
                  <a:srgbClr val="16324F"/>
                </a:solidFill>
                <a:latin typeface="Aptos"/>
                <a:ea typeface="Aptos"/>
                <a:cs typeface="Aptos"/>
              </a:defRPr>
            </a:pPr>
            <a:r>
              <a:rPr sz="2250" b="0">
                <a:solidFill>
                  <a:srgbClr val="16324F"/>
                </a:solidFill>
                <a:latin typeface="Aptos"/>
                <a:ea typeface="Aptos"/>
                <a:cs typeface="Aptos"/>
              </a:rPr>
              <a:t>The root contains a minimum.</a:t>
            </a:r>
          </a:p>
        </p:txBody>
      </p:sp>
      <p:sp>
        <p:nvSpPr>
          <p:cNvPr id="9" name="">
            <a:extLst xmlns:a="http://schemas.openxmlformats.org/drawingml/2006/main">
              <a:ext uri="{FF2B5EF4-FFF2-40B4-BE49-F238E27FC236}">
                <a16:creationId xmlns:a16="http://schemas.microsoft.com/office/drawing/2014/main" id="{C7ED464C-FC0C-4D02-98C7-2EE643201313}"/>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Peek at the root: O(1) in either heap.</a:t>
            </a:r>
          </a:p>
        </p:txBody>
      </p:sp>
      <p:sp>
        <p:nvSpPr>
          <p:cNvPr id="11" name="local-java-MaxHeap">
            <a:extLst xmlns:a="http://schemas.openxmlformats.org/drawingml/2006/main">
              <a:ext uri="{FF2B5EF4-FFF2-40B4-BE49-F238E27FC236}">
                <a16:creationId xmlns:a16="http://schemas.microsoft.com/office/drawing/2014/main" id="{AFB48B6A-8969-4569-ABDC-FCA40498CDF6}"/>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f67e97b894ce4c02"/>
              </a:rPr>
              <a:t>Java: MaxHeap.java</a:t>
            </a:r>
          </a:p>
        </p:txBody>
      </p:sp>
      <p:sp>
        <p:nvSpPr>
          <p:cNvPr id="12" name="local-java-MinHeap">
            <a:extLst xmlns:a="http://schemas.openxmlformats.org/drawingml/2006/main">
              <a:ext uri="{FF2B5EF4-FFF2-40B4-BE49-F238E27FC236}">
                <a16:creationId xmlns:a16="http://schemas.microsoft.com/office/drawing/2014/main" id="{59FCE58D-4115-40E6-B103-55949431BC85}"/>
              </a:ext>
            </a:extLst>
          </p:cNvPr>
          <p:cNvSpPr>
            <a:spLocks xmlns:a="http://schemas.openxmlformats.org/drawingml/2006/main" noGrp="1"/>
          </p:cNvSpPr>
          <p:nvPr/>
        </p:nvSpPr>
        <p:spPr>
          <a:xfrm xmlns:a="http://schemas.openxmlformats.org/drawingml/2006/main">
            <a:off x="422910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68baba73a099475e"/>
              </a:rPr>
              <a:t>Java: MinHeap.java</a:t>
            </a:r>
          </a:p>
        </p:txBody>
      </p:sp>
    </p:spTree>
    <p:extLst>
      <p:ext uri="{BB962C8B-B14F-4D97-AF65-F5344CB8AC3E}">
        <p14:creationId xmlns:p14="http://schemas.microsoft.com/office/powerpoint/2010/main" val="8108460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FC520C-E041-4F44-960F-E32DE014E2A3}"/>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Heap operation costs</a:t>
            </a:r>
          </a:p>
        </p:txBody>
      </p:sp>
      <p:sp>
        <p:nvSpPr>
          <p:cNvPr id="2" name="">
            <a:extLst xmlns:a="http://schemas.openxmlformats.org/drawingml/2006/main">
              <a:ext uri="{FF2B5EF4-FFF2-40B4-BE49-F238E27FC236}">
                <a16:creationId xmlns:a16="http://schemas.microsoft.com/office/drawing/2014/main" id="{531D1904-7EC8-452C-AB56-72D287B6AFCC}"/>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Array-backed binary heap with no shrinking during removal.</a:t>
            </a:r>
          </a:p>
        </p:txBody>
      </p:sp>
      <p:sp>
        <p:nvSpPr>
          <p:cNvPr id="3" name="">
            <a:extLst xmlns:a="http://schemas.openxmlformats.org/drawingml/2006/main">
              <a:ext uri="{FF2B5EF4-FFF2-40B4-BE49-F238E27FC236}">
                <a16:creationId xmlns:a16="http://schemas.microsoft.com/office/drawing/2014/main" id="{885F8566-EE74-4FF0-8143-94DC53062A27}"/>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11</a:t>
            </a:r>
          </a:p>
        </p:txBody>
      </p:sp>
      <p:graphicFrame>
        <p:nvGraphicFramePr>
          <p:cNvPr id="4" name="">
            <a:extLst xmlns:a="http://schemas.openxmlformats.org/drawingml/2006/main">
              <a:ext uri="{FF2B5EF4-FFF2-40B4-BE49-F238E27FC236}">
                <a16:creationId xmlns:a16="http://schemas.microsoft.com/office/drawing/2014/main" id="{714F92A2-083A-4523-A8FF-6DDF72606FE4}"/>
              </a:ext>
            </a:extLst>
          </p:cNvPr>
          <p:cNvGraphicFramePr/>
          <p:nvPr/>
        </p:nvGraphicFramePr>
        <p:xfrm>
          <a:off xmlns:a="http://schemas.openxmlformats.org/drawingml/2006/main" x="533400" y="2000250"/>
          <a:ext xmlns:a="http://schemas.openxmlformats.org/drawingml/2006/main" cx="11125200" cy="3143250"/>
        </p:xfrm>
        <a:graphic xmlns:a="http://schemas.openxmlformats.org/drawingml/2006/main">
          <a:graphicData uri="http://schemas.openxmlformats.org/drawingml/2006/table">
            <a:tbl>
              <a:tblPr/>
              <a:tblGrid>
                <a:gridCol w="3619500"/>
                <a:gridCol w="2381250"/>
                <a:gridCol w="5124450"/>
              </a:tblGrid>
              <a:tr h="523875">
                <a:tc>
                  <a:txBody>
                    <a:bodyPr/>
                    <a:lstStyle/>
                    <a:p>
                      <a:r>
                        <a:rPr sz="1950" b="1">
                          <a:solidFill>
                            <a:srgbClr val="FFFFFF"/>
                          </a:solidFill>
                          <a:latin typeface="Aptos"/>
                          <a:ea typeface="Aptos"/>
                          <a:cs typeface="Aptos"/>
                        </a:rPr>
                        <a:t>Operation</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1950" b="1">
                          <a:solidFill>
                            <a:srgbClr val="FFFFFF"/>
                          </a:solidFill>
                          <a:latin typeface="Aptos"/>
                          <a:ea typeface="Aptos"/>
                          <a:cs typeface="Aptos"/>
                        </a:rPr>
                        <a:t>Time</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1950" b="1">
                          <a:solidFill>
                            <a:srgbClr val="FFFFFF"/>
                          </a:solidFill>
                          <a:latin typeface="Aptos"/>
                          <a:ea typeface="Aptos"/>
                          <a:cs typeface="Aptos"/>
                        </a:rPr>
                        <a:t>Reason</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523875">
                <a:tc>
                  <a:txBody>
                    <a:bodyPr/>
                    <a:lstStyle/>
                    <a:p>
                      <a:r>
                        <a:rPr sz="1950" b="0">
                          <a:solidFill>
                            <a:srgbClr val="16324F"/>
                          </a:solidFill>
                          <a:latin typeface="Aptos"/>
                          <a:ea typeface="Aptos"/>
                          <a:cs typeface="Aptos"/>
                        </a:rPr>
                        <a:t>Empty constructor</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O(1)</a:t>
                      </a:r>
                    </a:p>
                  </a:txBody>
                  <a:tcPr marL="91440" marR="91440" marT="45720" marB="45720">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No items to process</a:t>
                      </a:r>
                    </a:p>
                  </a:txBody>
                  <a:tcPr marL="91440" marR="91440" marT="45720" marB="45720">
                    <a:lnR w="9525">
                      <a:solidFill>
                        <a:srgbClr val="D9E3E8"/>
                      </a:solidFill>
                    </a:lnR>
                    <a:lnB w="9525">
                      <a:solidFill>
                        <a:srgbClr val="D9E3E8"/>
                      </a:solidFill>
                    </a:lnB>
                    <a:solidFill>
                      <a:srgbClr val="F1F6F8"/>
                    </a:solidFill>
                  </a:tcPr>
                </a:tc>
              </a:tr>
              <a:tr h="523875">
                <a:tc>
                  <a:txBody>
                    <a:bodyPr/>
                    <a:lstStyle/>
                    <a:p>
                      <a:r>
                        <a:rPr sz="1950" b="0">
                          <a:solidFill>
                            <a:srgbClr val="16324F"/>
                          </a:solidFill>
                          <a:latin typeface="Aptos"/>
                          <a:ea typeface="Aptos"/>
                          <a:cs typeface="Aptos"/>
                        </a:rPr>
                        <a:t>peek / size / isEmpty</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O(1)</a:t>
                      </a:r>
                    </a:p>
                  </a:txBody>
                  <a:tcPr marL="91440" marR="91440" marT="45720" marB="45720">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Read root or count</a:t>
                      </a:r>
                    </a:p>
                  </a:txBody>
                  <a:tcPr marL="91440" marR="91440" marT="45720" marB="45720">
                    <a:lnR w="9525">
                      <a:solidFill>
                        <a:srgbClr val="D9E3E8"/>
                      </a:solidFill>
                    </a:lnR>
                    <a:lnB w="9525">
                      <a:solidFill>
                        <a:srgbClr val="D9E3E8"/>
                      </a:solidFill>
                    </a:lnB>
                    <a:solidFill>
                      <a:srgbClr val="FFFFFF"/>
                    </a:solidFill>
                  </a:tcPr>
                </a:tc>
              </a:tr>
              <a:tr h="523875">
                <a:tc>
                  <a:txBody>
                    <a:bodyPr/>
                    <a:lstStyle/>
                    <a:p>
                      <a:r>
                        <a:rPr sz="1950" b="0">
                          <a:solidFill>
                            <a:srgbClr val="16324F"/>
                          </a:solidFill>
                          <a:latin typeface="Aptos"/>
                          <a:ea typeface="Aptos"/>
                          <a:cs typeface="Aptos"/>
                        </a:rPr>
                        <a:t>Insert</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Sift up one path</a:t>
                      </a:r>
                    </a:p>
                  </a:txBody>
                  <a:tcPr marL="91440" marR="91440" marT="45720" marB="45720">
                    <a:lnR w="9525">
                      <a:solidFill>
                        <a:srgbClr val="D9E3E8"/>
                      </a:solidFill>
                    </a:lnR>
                    <a:lnB w="9525">
                      <a:solidFill>
                        <a:srgbClr val="D9E3E8"/>
                      </a:solidFill>
                    </a:lnB>
                    <a:solidFill>
                      <a:srgbClr val="F1F6F8"/>
                    </a:solidFill>
                  </a:tcPr>
                </a:tc>
              </a:tr>
              <a:tr h="523875">
                <a:tc>
                  <a:txBody>
                    <a:bodyPr/>
                    <a:lstStyle/>
                    <a:p>
                      <a:r>
                        <a:rPr sz="1950" b="0">
                          <a:solidFill>
                            <a:srgbClr val="16324F"/>
                          </a:solidFill>
                          <a:latin typeface="Aptos"/>
                          <a:ea typeface="Aptos"/>
                          <a:cs typeface="Aptos"/>
                        </a:rPr>
                        <a:t>Remove root</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Sift down one path</a:t>
                      </a:r>
                    </a:p>
                  </a:txBody>
                  <a:tcPr marL="91440" marR="91440" marT="45720" marB="45720">
                    <a:lnR w="9525">
                      <a:solidFill>
                        <a:srgbClr val="D9E3E8"/>
                      </a:solidFill>
                    </a:lnR>
                    <a:lnB w="9525">
                      <a:solidFill>
                        <a:srgbClr val="D9E3E8"/>
                      </a:solidFill>
                    </a:lnB>
                    <a:solidFill>
                      <a:srgbClr val="FFFFFF"/>
                    </a:solidFill>
                  </a:tcPr>
                </a:tc>
              </a:tr>
              <a:tr h="523875">
                <a:tc>
                  <a:txBody>
                    <a:bodyPr/>
                    <a:lstStyle/>
                    <a:p>
                      <a:r>
                        <a:rPr sz="1950" b="0">
                          <a:solidFill>
                            <a:srgbClr val="16324F"/>
                          </a:solidFill>
                          <a:latin typeface="Aptos"/>
                          <a:ea typeface="Aptos"/>
                          <a:cs typeface="Aptos"/>
                        </a:rPr>
                        <a:t>clear</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O(n)</a:t>
                      </a:r>
                    </a:p>
                  </a:txBody>
                  <a:tcPr marL="91440" marR="91440" marT="45720" marB="45720">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Null occupied references</a:t>
                      </a:r>
                    </a:p>
                  </a:txBody>
                  <a:tcPr marL="91440" marR="91440" marT="45720" marB="45720">
                    <a:lnR w="9525">
                      <a:solidFill>
                        <a:srgbClr val="D9E3E8"/>
                      </a:solidFill>
                    </a:lnR>
                    <a:lnB w="9525">
                      <a:solidFill>
                        <a:srgbClr val="D9E3E8"/>
                      </a:solidFill>
                    </a:lnB>
                    <a:solidFill>
                      <a:srgbClr val="F1F6F8"/>
                    </a:solidFill>
                  </a:tcPr>
                </a:tc>
              </a:tr>
            </a:tbl>
          </a:graphicData>
        </a:graphic>
      </p:graphicFrame>
      <p:sp>
        <p:nvSpPr>
          <p:cNvPr id="5" name="">
            <a:extLst xmlns:a="http://schemas.openxmlformats.org/drawingml/2006/main">
              <a:ext uri="{FF2B5EF4-FFF2-40B4-BE49-F238E27FC236}">
                <a16:creationId xmlns:a16="http://schemas.microsoft.com/office/drawing/2014/main" id="{2281F82C-2962-433C-B4AF-A06DE1005279}"/>
              </a:ext>
            </a:extLst>
          </p:cNvPr>
          <p:cNvSpPr>
            <a:spLocks xmlns:a="http://schemas.openxmlformats.org/drawingml/2006/main" noGrp="1"/>
          </p:cNvSpPr>
          <p:nvPr/>
        </p:nvSpPr>
        <p:spPr>
          <a:xfrm xmlns:a="http://schemas.openxmlformats.org/drawingml/2006/main">
            <a:off x="533400" y="53625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75569"/>
                </a:solidFill>
                <a:latin typeface="Aptos"/>
                <a:ea typeface="Aptos"/>
                <a:cs typeface="Aptos"/>
              </a:defRPr>
            </a:defPPr>
            <a:lvl1pPr>
              <a:buNone/>
              <a:defRPr sz="1800" b="0">
                <a:solidFill>
                  <a:srgbClr val="475569"/>
                </a:solidFill>
                <a:latin typeface="Aptos"/>
                <a:ea typeface="Aptos"/>
                <a:cs typeface="Aptos"/>
              </a:defRPr>
            </a:lvl1pPr>
            <a:lvl2pPr>
              <a:buNone/>
              <a:defRPr sz="1800" b="0">
                <a:solidFill>
                  <a:srgbClr val="475569"/>
                </a:solidFill>
                <a:latin typeface="Aptos"/>
                <a:ea typeface="Aptos"/>
                <a:cs typeface="Aptos"/>
              </a:defRPr>
            </a:lvl2pPr>
            <a:lvl3pPr>
              <a:buNone/>
              <a:defRPr sz="1800" b="0">
                <a:solidFill>
                  <a:srgbClr val="475569"/>
                </a:solidFill>
                <a:latin typeface="Aptos"/>
                <a:ea typeface="Aptos"/>
                <a:cs typeface="Aptos"/>
              </a:defRPr>
            </a:lvl3pPr>
            <a:lvl4pPr>
              <a:buNone/>
              <a:defRPr sz="1800" b="0">
                <a:solidFill>
                  <a:srgbClr val="475569"/>
                </a:solidFill>
                <a:latin typeface="Aptos"/>
                <a:ea typeface="Aptos"/>
                <a:cs typeface="Aptos"/>
              </a:defRPr>
            </a:lvl4pPr>
            <a:lvl5pPr>
              <a:buNone/>
              <a:defRPr sz="1800" b="0">
                <a:solidFill>
                  <a:srgbClr val="475569"/>
                </a:solidFill>
                <a:latin typeface="Aptos"/>
                <a:ea typeface="Aptos"/>
                <a:cs typeface="Aptos"/>
              </a:defRPr>
            </a:lvl5pPr>
            <a:lvl6pPr>
              <a:buNone/>
              <a:defRPr sz="1800" b="0">
                <a:solidFill>
                  <a:srgbClr val="475569"/>
                </a:solidFill>
                <a:latin typeface="Aptos"/>
                <a:ea typeface="Aptos"/>
                <a:cs typeface="Aptos"/>
              </a:defRPr>
            </a:lvl6pPr>
            <a:lvl7pPr>
              <a:buNone/>
              <a:defRPr sz="1800" b="0">
                <a:solidFill>
                  <a:srgbClr val="475569"/>
                </a:solidFill>
                <a:latin typeface="Aptos"/>
                <a:ea typeface="Aptos"/>
                <a:cs typeface="Aptos"/>
              </a:defRPr>
            </a:lvl7pPr>
            <a:lvl8pPr>
              <a:buNone/>
              <a:defRPr sz="1800" b="0">
                <a:solidFill>
                  <a:srgbClr val="475569"/>
                </a:solidFill>
                <a:latin typeface="Aptos"/>
                <a:ea typeface="Aptos"/>
                <a:cs typeface="Aptos"/>
              </a:defRPr>
            </a:lvl8pPr>
            <a:lvl9pPr>
              <a:buNone/>
              <a:defRPr sz="1800" b="0">
                <a:solidFill>
                  <a:srgbClr val="475569"/>
                </a:solidFill>
                <a:latin typeface="Aptos"/>
                <a:ea typeface="Aptos"/>
                <a:cs typeface="Aptos"/>
              </a:defRPr>
            </a:lvl9pPr>
          </a:lstStyle>
          <a:p xmlns:a="http://schemas.openxmlformats.org/drawingml/2006/main">
            <a:pPr>
              <a:buNone/>
              <a:defRPr sz="1800" b="0">
                <a:solidFill>
                  <a:srgbClr val="475569"/>
                </a:solidFill>
                <a:latin typeface="Aptos"/>
                <a:ea typeface="Aptos"/>
                <a:cs typeface="Aptos"/>
              </a:defRPr>
            </a:pPr>
            <a:r>
              <a:rPr sz="1800" b="0">
                <a:solidFill>
                  <a:srgbClr val="475569"/>
                </a:solidFill>
                <a:latin typeface="Aptos"/>
                <a:ea typeface="Aptos"/>
                <a:cs typeface="Aptos"/>
              </a:rPr>
              <a:t>*Repair bound. Dynamic array growth can make one insertion O(n).</a:t>
            </a:r>
          </a:p>
          <a:p xmlns:a="http://schemas.openxmlformats.org/drawingml/2006/main">
            <a:pPr>
              <a:buNone/>
              <a:defRPr sz="1800" b="0">
                <a:solidFill>
                  <a:srgbClr val="475569"/>
                </a:solidFill>
                <a:latin typeface="Aptos"/>
                <a:ea typeface="Aptos"/>
                <a:cs typeface="Aptos"/>
              </a:defRPr>
            </a:pPr>
            <a:r>
              <a:rPr sz="1800" b="0">
                <a:solidFill>
                  <a:srgbClr val="475569"/>
                </a:solidFill>
                <a:latin typeface="Aptos"/>
                <a:ea typeface="Aptos"/>
                <a:cs typeface="Aptos"/>
              </a:rPr>
              <a:t>With geometric growth, insertion is O(log n) amortized.</a:t>
            </a:r>
          </a:p>
        </p:txBody>
      </p:sp>
      <p:sp>
        <p:nvSpPr>
          <p:cNvPr id="7" name="local-java-MaxHeap">
            <a:extLst xmlns:a="http://schemas.openxmlformats.org/drawingml/2006/main">
              <a:ext uri="{FF2B5EF4-FFF2-40B4-BE49-F238E27FC236}">
                <a16:creationId xmlns:a16="http://schemas.microsoft.com/office/drawing/2014/main" id="{BFD87CB6-1E35-4B28-9779-E032B4085786}"/>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2cc588fa87a04802"/>
              </a:rPr>
              <a:t>Java: MaxHeap.java</a:t>
            </a:r>
          </a:p>
        </p:txBody>
      </p:sp>
    </p:spTree>
    <p:extLst>
      <p:ext uri="{BB962C8B-B14F-4D97-AF65-F5344CB8AC3E}">
        <p14:creationId xmlns:p14="http://schemas.microsoft.com/office/powerpoint/2010/main" val="166127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EE8724-944A-4A31-9054-4B52E69B602B}"/>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An array representation</a:t>
            </a:r>
          </a:p>
        </p:txBody>
      </p:sp>
      <p:sp>
        <p:nvSpPr>
          <p:cNvPr id="2" name="">
            <a:extLst xmlns:a="http://schemas.openxmlformats.org/drawingml/2006/main">
              <a:ext uri="{FF2B5EF4-FFF2-40B4-BE49-F238E27FC236}">
                <a16:creationId xmlns:a16="http://schemas.microsoft.com/office/drawing/2014/main" id="{4FEB6F37-02EE-439F-92B0-9329F515A070}"/>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Level-order storage keeps the complete tree compact. Indices start at 0.</a:t>
            </a:r>
          </a:p>
        </p:txBody>
      </p:sp>
      <p:sp>
        <p:nvSpPr>
          <p:cNvPr id="3" name="">
            <a:extLst xmlns:a="http://schemas.openxmlformats.org/drawingml/2006/main">
              <a:ext uri="{FF2B5EF4-FFF2-40B4-BE49-F238E27FC236}">
                <a16:creationId xmlns:a16="http://schemas.microsoft.com/office/drawing/2014/main" id="{C9E30AC2-7DA7-4C9D-A3F1-7932DAAAF408}"/>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12</a:t>
            </a:r>
          </a:p>
        </p:txBody>
      </p:sp>
      <p:pic>
        <p:nvPicPr>
          <p:cNvPr id="4" name="">
            <a:extLst xmlns:a="http://schemas.openxmlformats.org/drawingml/2006/main">
              <a:ext uri="{FF2B5EF4-FFF2-40B4-BE49-F238E27FC236}">
                <a16:creationId xmlns:a16="http://schemas.microsoft.com/office/drawing/2014/main" id="{72D35427-0423-4F88-A247-DE7D66D1D8D9}"/>
              </a:ext>
            </a:extLst>
          </p:cNvPr>
          <p:cNvPicPr>
            <a:picLocks xmlns:a="http://schemas.openxmlformats.org/drawingml/2006/main" noChangeAspect="1"/>
          </p:cNvPicPr>
          <p:nvPr/>
        </p:nvPicPr>
        <p:blipFill>
          <a:blip xmlns:r="http://schemas.openxmlformats.org/officeDocument/2006/relationships" xmlns:a="http://schemas.openxmlformats.org/drawingml/2006/main" r:embed="R07a22b58a66d44a0"/>
          <a:stretch xmlns:a="http://schemas.openxmlformats.org/drawingml/2006/main"/>
        </p:blipFill>
        <p:spPr>
          <a:xfrm xmlns:a="http://schemas.openxmlformats.org/drawingml/2006/main">
            <a:off x="6381750" y="2449008"/>
            <a:ext cx="4953000" cy="2483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D541CC-9378-45B8-BEB7-C8AEA63EF3EC}"/>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C7D2F1FC-80E2-4329-9BB6-1A6F86D5E140}"/>
              </a:ext>
            </a:extLst>
          </p:cNvPr>
          <p:cNvSpPr>
            <a:spLocks xmlns:a="http://schemas.openxmlformats.org/drawingml/2006/main" noGrp="1"/>
          </p:cNvSpPr>
          <p:nvPr/>
        </p:nvSpPr>
        <p:spPr>
          <a:xfrm xmlns:a="http://schemas.openxmlformats.org/drawingml/2006/main">
            <a:off x="533400" y="2190750"/>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Root: index 0</a:t>
            </a:r>
          </a:p>
        </p:txBody>
      </p:sp>
      <p:sp>
        <p:nvSpPr>
          <p:cNvPr id="7" name="">
            <a:extLst xmlns:a="http://schemas.openxmlformats.org/drawingml/2006/main">
              <a:ext uri="{FF2B5EF4-FFF2-40B4-BE49-F238E27FC236}">
                <a16:creationId xmlns:a16="http://schemas.microsoft.com/office/drawing/2014/main" id="{EFEE6468-FC8A-4EB6-904B-96E79015B64E}"/>
              </a:ext>
            </a:extLst>
          </p:cNvPr>
          <p:cNvSpPr>
            <a:spLocks xmlns:a="http://schemas.openxmlformats.org/drawingml/2006/main" noGrp="1"/>
          </p:cNvSpPr>
          <p:nvPr/>
        </p:nvSpPr>
        <p:spPr>
          <a:xfrm xmlns:a="http://schemas.openxmlformats.org/drawingml/2006/main">
            <a:off x="533400" y="2914650"/>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Left child of i: 2i + 1</a:t>
            </a:r>
          </a:p>
        </p:txBody>
      </p:sp>
      <p:sp>
        <p:nvSpPr>
          <p:cNvPr id="8" name="">
            <a:extLst xmlns:a="http://schemas.openxmlformats.org/drawingml/2006/main">
              <a:ext uri="{FF2B5EF4-FFF2-40B4-BE49-F238E27FC236}">
                <a16:creationId xmlns:a16="http://schemas.microsoft.com/office/drawing/2014/main" id="{AAF0398E-C896-4F42-AD49-8C5815355821}"/>
              </a:ext>
            </a:extLst>
          </p:cNvPr>
          <p:cNvSpPr>
            <a:spLocks xmlns:a="http://schemas.openxmlformats.org/drawingml/2006/main" noGrp="1"/>
          </p:cNvSpPr>
          <p:nvPr/>
        </p:nvSpPr>
        <p:spPr>
          <a:xfrm xmlns:a="http://schemas.openxmlformats.org/drawingml/2006/main">
            <a:off x="533400" y="3638550"/>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Right child of i: 2i + 2</a:t>
            </a:r>
          </a:p>
        </p:txBody>
      </p:sp>
      <p:sp>
        <p:nvSpPr>
          <p:cNvPr id="9" name="">
            <a:extLst xmlns:a="http://schemas.openxmlformats.org/drawingml/2006/main">
              <a:ext uri="{FF2B5EF4-FFF2-40B4-BE49-F238E27FC236}">
                <a16:creationId xmlns:a16="http://schemas.microsoft.com/office/drawing/2014/main" id="{7C592DE9-D80B-447B-9A60-9C1F43FE0554}"/>
              </a:ext>
            </a:extLst>
          </p:cNvPr>
          <p:cNvSpPr>
            <a:spLocks xmlns:a="http://schemas.openxmlformats.org/drawingml/2006/main" noGrp="1"/>
          </p:cNvSpPr>
          <p:nvPr/>
        </p:nvSpPr>
        <p:spPr>
          <a:xfrm xmlns:a="http://schemas.openxmlformats.org/drawingml/2006/main">
            <a:off x="533400" y="4362450"/>
            <a:ext cx="561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Parent of i &gt; 0: </a:t>
            </a:r>
            <a:r>
              <a:rPr sz="2175" b="0">
                <a:solidFill>
                  <a:srgbClr val="16324F"/>
                </a:solidFill>
                <a:latin typeface="Aptos"/>
                <a:ea typeface="Aptos"/>
                <a:cs typeface="Aptos"/>
              </a:rPr>
              <a:t>floor((i - 1) / 2)</a:t>
            </a:r>
          </a:p>
        </p:txBody>
      </p:sp>
      <p:sp>
        <p:nvSpPr>
          <p:cNvPr id="10" name="">
            <a:extLst xmlns:a="http://schemas.openxmlformats.org/drawingml/2006/main">
              <a:ext uri="{FF2B5EF4-FFF2-40B4-BE49-F238E27FC236}">
                <a16:creationId xmlns:a16="http://schemas.microsoft.com/office/drawing/2014/main" id="{4FEF06A1-82EC-4831-83A9-379A7A699C99}"/>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Index calculations and random access take O(1). Storage is O(n).</a:t>
            </a:r>
          </a:p>
        </p:txBody>
      </p:sp>
      <p:sp>
        <p:nvSpPr>
          <p:cNvPr id="12" name="local-java-HeapDemo">
            <a:extLst xmlns:a="http://schemas.openxmlformats.org/drawingml/2006/main">
              <a:ext uri="{FF2B5EF4-FFF2-40B4-BE49-F238E27FC236}">
                <a16:creationId xmlns:a16="http://schemas.microsoft.com/office/drawing/2014/main" id="{6830702B-648A-48F4-A3B2-F1D902F6D758}"/>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db2f51e0732e44ef"/>
              </a:rPr>
              <a:t>Java: HeapDemo.java</a:t>
            </a:r>
          </a:p>
        </p:txBody>
      </p:sp>
    </p:spTree>
    <p:extLst>
      <p:ext uri="{BB962C8B-B14F-4D97-AF65-F5344CB8AC3E}">
        <p14:creationId xmlns:p14="http://schemas.microsoft.com/office/powerpoint/2010/main" val="18483818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5EC01B-FC9A-48D7-B7C8-5411764D010B}"/>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Remove the root: save the result</a:t>
            </a:r>
          </a:p>
        </p:txBody>
      </p:sp>
      <p:sp>
        <p:nvSpPr>
          <p:cNvPr id="2" name="">
            <a:extLst xmlns:a="http://schemas.openxmlformats.org/drawingml/2006/main">
              <a:ext uri="{FF2B5EF4-FFF2-40B4-BE49-F238E27FC236}">
                <a16:creationId xmlns:a16="http://schemas.microsoft.com/office/drawing/2014/main" id="{175B68AB-D63F-4E6F-A074-C51DEDA7CCAB}"/>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Save the maximum before changing the heap.</a:t>
            </a:r>
          </a:p>
        </p:txBody>
      </p:sp>
      <p:sp>
        <p:nvSpPr>
          <p:cNvPr id="3" name="">
            <a:extLst xmlns:a="http://schemas.openxmlformats.org/drawingml/2006/main">
              <a:ext uri="{FF2B5EF4-FFF2-40B4-BE49-F238E27FC236}">
                <a16:creationId xmlns:a16="http://schemas.microsoft.com/office/drawing/2014/main" id="{A4119155-0125-4A18-A023-63623F6A80F8}"/>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13</a:t>
            </a:r>
          </a:p>
        </p:txBody>
      </p:sp>
      <p:pic>
        <p:nvPicPr>
          <p:cNvPr id="4" name="">
            <a:extLst xmlns:a="http://schemas.openxmlformats.org/drawingml/2006/main">
              <a:ext uri="{FF2B5EF4-FFF2-40B4-BE49-F238E27FC236}">
                <a16:creationId xmlns:a16="http://schemas.microsoft.com/office/drawing/2014/main" id="{8C041A56-2EB2-491B-BB67-D527A2AC6691}"/>
              </a:ext>
            </a:extLst>
          </p:cNvPr>
          <p:cNvPicPr>
            <a:picLocks xmlns:a="http://schemas.openxmlformats.org/drawingml/2006/main" noChangeAspect="1"/>
          </p:cNvPicPr>
          <p:nvPr/>
        </p:nvPicPr>
        <p:blipFill>
          <a:blip xmlns:r="http://schemas.openxmlformats.org/officeDocument/2006/relationships" xmlns:a="http://schemas.openxmlformats.org/drawingml/2006/main" r:embed="R462e00d01f224ddb"/>
          <a:stretch xmlns:a="http://schemas.openxmlformats.org/drawingml/2006/main"/>
        </p:blipFill>
        <p:spPr>
          <a:xfrm xmlns:a="http://schemas.openxmlformats.org/drawingml/2006/main">
            <a:off x="2648790" y="2047875"/>
            <a:ext cx="6894419" cy="3286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BAD3A1-393B-4B1C-ABB3-463C39FEB825}"/>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E28F3CE6-A83F-42AB-879B-D1333DBFDBD8}"/>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Saving the root takes O(1). Repair comes after replacing it.</a:t>
            </a:r>
          </a:p>
        </p:txBody>
      </p:sp>
      <p:sp>
        <p:nvSpPr>
          <p:cNvPr id="8" name="local-java-HeapDemo">
            <a:extLst xmlns:a="http://schemas.openxmlformats.org/drawingml/2006/main">
              <a:ext uri="{FF2B5EF4-FFF2-40B4-BE49-F238E27FC236}">
                <a16:creationId xmlns:a16="http://schemas.microsoft.com/office/drawing/2014/main" id="{889D1490-DE70-46CD-A150-0A0FD5C7B084}"/>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2bccf459bb214479"/>
              </a:rPr>
              <a:t>Java: HeapDemo.java</a:t>
            </a:r>
          </a:p>
        </p:txBody>
      </p:sp>
    </p:spTree>
    <p:extLst>
      <p:ext uri="{BB962C8B-B14F-4D97-AF65-F5344CB8AC3E}">
        <p14:creationId xmlns:p14="http://schemas.microsoft.com/office/powerpoint/2010/main" val="2844057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3C098D-6D4A-44D6-BE1A-8250AB92CB57}"/>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Remove the root: replace it with the last item</a:t>
            </a:r>
          </a:p>
        </p:txBody>
      </p:sp>
      <p:sp>
        <p:nvSpPr>
          <p:cNvPr id="2" name="">
            <a:extLst xmlns:a="http://schemas.openxmlformats.org/drawingml/2006/main">
              <a:ext uri="{FF2B5EF4-FFF2-40B4-BE49-F238E27FC236}">
                <a16:creationId xmlns:a16="http://schemas.microsoft.com/office/drawing/2014/main" id="{993EB1D2-462D-46E6-AD5D-C977120C1C64}"/>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Move the final array entry to index 0, then remove the final entry.</a:t>
            </a:r>
          </a:p>
        </p:txBody>
      </p:sp>
      <p:sp>
        <p:nvSpPr>
          <p:cNvPr id="3" name="">
            <a:extLst xmlns:a="http://schemas.openxmlformats.org/drawingml/2006/main">
              <a:ext uri="{FF2B5EF4-FFF2-40B4-BE49-F238E27FC236}">
                <a16:creationId xmlns:a16="http://schemas.microsoft.com/office/drawing/2014/main" id="{6AFBA2E2-9A09-4511-8546-974C94D2A22B}"/>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14</a:t>
            </a:r>
          </a:p>
        </p:txBody>
      </p:sp>
      <p:pic>
        <p:nvPicPr>
          <p:cNvPr id="4" name="">
            <a:extLst xmlns:a="http://schemas.openxmlformats.org/drawingml/2006/main">
              <a:ext uri="{FF2B5EF4-FFF2-40B4-BE49-F238E27FC236}">
                <a16:creationId xmlns:a16="http://schemas.microsoft.com/office/drawing/2014/main" id="{42AD6B72-2BDA-4F1B-9D63-FA3B3DEE82F2}"/>
              </a:ext>
            </a:extLst>
          </p:cNvPr>
          <p:cNvPicPr>
            <a:picLocks xmlns:a="http://schemas.openxmlformats.org/drawingml/2006/main" noChangeAspect="1"/>
          </p:cNvPicPr>
          <p:nvPr/>
        </p:nvPicPr>
        <p:blipFill>
          <a:blip xmlns:r="http://schemas.openxmlformats.org/officeDocument/2006/relationships" xmlns:a="http://schemas.openxmlformats.org/drawingml/2006/main" r:embed="R8be48403aedf4cba"/>
          <a:stretch xmlns:a="http://schemas.openxmlformats.org/drawingml/2006/main"/>
        </p:blipFill>
        <p:spPr>
          <a:xfrm xmlns:a="http://schemas.openxmlformats.org/drawingml/2006/main">
            <a:off x="2649642" y="2047875"/>
            <a:ext cx="6892715" cy="3286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8BBD7B-8F7D-4B03-89F9-C73F230FBA3E}"/>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5D355DC3-B8D3-432A-A05E-ABE997E94C61}"/>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Replacement and removal at the array end take O(1).</a:t>
            </a:r>
          </a:p>
        </p:txBody>
      </p:sp>
      <p:sp>
        <p:nvSpPr>
          <p:cNvPr id="8" name="local-java-HeapDemo">
            <a:extLst xmlns:a="http://schemas.openxmlformats.org/drawingml/2006/main">
              <a:ext uri="{FF2B5EF4-FFF2-40B4-BE49-F238E27FC236}">
                <a16:creationId xmlns:a16="http://schemas.microsoft.com/office/drawing/2014/main" id="{227D8424-CACE-4654-9E71-1154277AF937}"/>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3a0078104187414c"/>
              </a:rPr>
              <a:t>Java: HeapDemo.java</a:t>
            </a:r>
          </a:p>
        </p:txBody>
      </p:sp>
    </p:spTree>
    <p:extLst>
      <p:ext uri="{BB962C8B-B14F-4D97-AF65-F5344CB8AC3E}">
        <p14:creationId xmlns:p14="http://schemas.microsoft.com/office/powerpoint/2010/main" val="4556128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9C2736-FE4B-4210-BABB-CFEECFBA4C7E}"/>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The intermediate array</a:t>
            </a:r>
          </a:p>
        </p:txBody>
      </p:sp>
      <p:sp>
        <p:nvSpPr>
          <p:cNvPr id="2" name="">
            <a:extLst xmlns:a="http://schemas.openxmlformats.org/drawingml/2006/main">
              <a:ext uri="{FF2B5EF4-FFF2-40B4-BE49-F238E27FC236}">
                <a16:creationId xmlns:a16="http://schemas.microsoft.com/office/drawing/2014/main" id="{DA0CE503-F7A1-4712-BAE7-17C611DFBF23}"/>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Only the root may violate heap order. The two child subtrees remain heaps.</a:t>
            </a:r>
          </a:p>
        </p:txBody>
      </p:sp>
      <p:sp>
        <p:nvSpPr>
          <p:cNvPr id="3" name="">
            <a:extLst xmlns:a="http://schemas.openxmlformats.org/drawingml/2006/main">
              <a:ext uri="{FF2B5EF4-FFF2-40B4-BE49-F238E27FC236}">
                <a16:creationId xmlns:a16="http://schemas.microsoft.com/office/drawing/2014/main" id="{CE642547-32AF-4353-B525-93D3D514384D}"/>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15</a:t>
            </a:r>
          </a:p>
        </p:txBody>
      </p:sp>
      <p:graphicFrame>
        <p:nvGraphicFramePr>
          <p:cNvPr id="4" name="">
            <a:extLst xmlns:a="http://schemas.openxmlformats.org/drawingml/2006/main">
              <a:ext uri="{FF2B5EF4-FFF2-40B4-BE49-F238E27FC236}">
                <a16:creationId xmlns:a16="http://schemas.microsoft.com/office/drawing/2014/main" id="{1A247C00-6E7B-4907-92E2-79B78B7FEE9F}"/>
              </a:ext>
            </a:extLst>
          </p:cNvPr>
          <p:cNvGraphicFramePr/>
          <p:nvPr/>
        </p:nvGraphicFramePr>
        <p:xfrm>
          <a:off xmlns:a="http://schemas.openxmlformats.org/drawingml/2006/main" x="533400" y="2333625"/>
          <a:ext xmlns:a="http://schemas.openxmlformats.org/drawingml/2006/main" cx="11125200" cy="1476375"/>
        </p:xfrm>
        <a:graphic xmlns:a="http://schemas.openxmlformats.org/drawingml/2006/main">
          <a:graphicData uri="http://schemas.openxmlformats.org/drawingml/2006/table">
            <a:tbl>
              <a:tblPr/>
              <a:tblGrid>
                <a:gridCol w="2552700"/>
                <a:gridCol w="1714500"/>
                <a:gridCol w="1714500"/>
                <a:gridCol w="1714500"/>
                <a:gridCol w="1714500"/>
                <a:gridCol w="1714500"/>
              </a:tblGrid>
              <a:tr h="738188">
                <a:tc>
                  <a:txBody>
                    <a:bodyPr/>
                    <a:lstStyle/>
                    <a:p>
                      <a:r>
                        <a:rPr sz="2325" b="1">
                          <a:solidFill>
                            <a:srgbClr val="FFFFFF"/>
                          </a:solidFill>
                          <a:latin typeface="Aptos"/>
                          <a:ea typeface="Aptos"/>
                          <a:cs typeface="Aptos"/>
                        </a:rPr>
                        <a:t>Index</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2325" b="1">
                          <a:solidFill>
                            <a:srgbClr val="FFFFFF"/>
                          </a:solidFill>
                          <a:latin typeface="Aptos"/>
                          <a:ea typeface="Aptos"/>
                          <a:cs typeface="Aptos"/>
                        </a:rPr>
                        <a:t>0</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2325" b="1">
                          <a:solidFill>
                            <a:srgbClr val="FFFFFF"/>
                          </a:solidFill>
                          <a:latin typeface="Aptos"/>
                          <a:ea typeface="Aptos"/>
                          <a:cs typeface="Aptos"/>
                        </a:rPr>
                        <a:t>1</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2325" b="1">
                          <a:solidFill>
                            <a:srgbClr val="FFFFFF"/>
                          </a:solidFill>
                          <a:latin typeface="Aptos"/>
                          <a:ea typeface="Aptos"/>
                          <a:cs typeface="Aptos"/>
                        </a:rPr>
                        <a:t>2</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2325" b="1">
                          <a:solidFill>
                            <a:srgbClr val="FFFFFF"/>
                          </a:solidFill>
                          <a:latin typeface="Aptos"/>
                          <a:ea typeface="Aptos"/>
                          <a:cs typeface="Aptos"/>
                        </a:rPr>
                        <a:t>3</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2325" b="1">
                          <a:solidFill>
                            <a:srgbClr val="FFFFFF"/>
                          </a:solidFill>
                          <a:latin typeface="Aptos"/>
                          <a:ea typeface="Aptos"/>
                          <a:cs typeface="Aptos"/>
                        </a:rPr>
                        <a:t>4</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738188">
                <a:tc>
                  <a:txBody>
                    <a:bodyPr/>
                    <a:lstStyle/>
                    <a:p>
                      <a:r>
                        <a:rPr sz="2325" b="0">
                          <a:solidFill>
                            <a:srgbClr val="16324F"/>
                          </a:solidFill>
                          <a:latin typeface="Aptos"/>
                          <a:ea typeface="Aptos"/>
                          <a:cs typeface="Aptos"/>
                        </a:rPr>
                        <a:t>Value</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2325" b="0">
                          <a:solidFill>
                            <a:srgbClr val="16324F"/>
                          </a:solidFill>
                          <a:latin typeface="Aptos"/>
                          <a:ea typeface="Aptos"/>
                          <a:cs typeface="Aptos"/>
                        </a:rPr>
                        <a:t>5</a:t>
                      </a:r>
                    </a:p>
                  </a:txBody>
                  <a:tcPr marL="91440" marR="91440" marT="45720" marB="45720">
                    <a:lnR w="9525">
                      <a:solidFill>
                        <a:srgbClr val="D9E3E8"/>
                      </a:solidFill>
                    </a:lnR>
                    <a:lnB w="9525">
                      <a:solidFill>
                        <a:srgbClr val="D9E3E8"/>
                      </a:solidFill>
                    </a:lnB>
                    <a:solidFill>
                      <a:srgbClr val="F1F6F8"/>
                    </a:solidFill>
                  </a:tcPr>
                </a:tc>
                <a:tc>
                  <a:txBody>
                    <a:bodyPr/>
                    <a:lstStyle/>
                    <a:p>
                      <a:r>
                        <a:rPr sz="2325" b="0">
                          <a:solidFill>
                            <a:srgbClr val="16324F"/>
                          </a:solidFill>
                          <a:latin typeface="Aptos"/>
                          <a:ea typeface="Aptos"/>
                          <a:cs typeface="Aptos"/>
                        </a:rPr>
                        <a:t>9</a:t>
                      </a:r>
                    </a:p>
                  </a:txBody>
                  <a:tcPr marL="91440" marR="91440" marT="45720" marB="45720">
                    <a:lnR w="9525">
                      <a:solidFill>
                        <a:srgbClr val="D9E3E8"/>
                      </a:solidFill>
                    </a:lnR>
                    <a:lnB w="9525">
                      <a:solidFill>
                        <a:srgbClr val="D9E3E8"/>
                      </a:solidFill>
                    </a:lnB>
                    <a:solidFill>
                      <a:srgbClr val="F1F6F8"/>
                    </a:solidFill>
                  </a:tcPr>
                </a:tc>
                <a:tc>
                  <a:txBody>
                    <a:bodyPr/>
                    <a:lstStyle/>
                    <a:p>
                      <a:r>
                        <a:rPr sz="2325" b="0">
                          <a:solidFill>
                            <a:srgbClr val="16324F"/>
                          </a:solidFill>
                          <a:latin typeface="Aptos"/>
                          <a:ea typeface="Aptos"/>
                          <a:cs typeface="Aptos"/>
                        </a:rPr>
                        <a:t>6</a:t>
                      </a:r>
                    </a:p>
                  </a:txBody>
                  <a:tcPr marL="91440" marR="91440" marT="45720" marB="45720">
                    <a:lnR w="9525">
                      <a:solidFill>
                        <a:srgbClr val="D9E3E8"/>
                      </a:solidFill>
                    </a:lnR>
                    <a:lnB w="9525">
                      <a:solidFill>
                        <a:srgbClr val="D9E3E8"/>
                      </a:solidFill>
                    </a:lnB>
                    <a:solidFill>
                      <a:srgbClr val="F1F6F8"/>
                    </a:solidFill>
                  </a:tcPr>
                </a:tc>
                <a:tc>
                  <a:txBody>
                    <a:bodyPr/>
                    <a:lstStyle/>
                    <a:p>
                      <a:r>
                        <a:rPr sz="2325" b="0">
                          <a:solidFill>
                            <a:srgbClr val="16324F"/>
                          </a:solidFill>
                          <a:latin typeface="Aptos"/>
                          <a:ea typeface="Aptos"/>
                          <a:cs typeface="Aptos"/>
                        </a:rPr>
                        <a:t>3</a:t>
                      </a:r>
                    </a:p>
                  </a:txBody>
                  <a:tcPr marL="91440" marR="91440" marT="45720" marB="45720">
                    <a:lnR w="9525">
                      <a:solidFill>
                        <a:srgbClr val="D9E3E8"/>
                      </a:solidFill>
                    </a:lnR>
                    <a:lnB w="9525">
                      <a:solidFill>
                        <a:srgbClr val="D9E3E8"/>
                      </a:solidFill>
                    </a:lnB>
                    <a:solidFill>
                      <a:srgbClr val="F1F6F8"/>
                    </a:solidFill>
                  </a:tcPr>
                </a:tc>
                <a:tc>
                  <a:txBody>
                    <a:bodyPr/>
                    <a:lstStyle/>
                    <a:p>
                      <a:r>
                        <a:rPr sz="2325" b="0">
                          <a:solidFill>
                            <a:srgbClr val="16324F"/>
                          </a:solidFill>
                          <a:latin typeface="Aptos"/>
                          <a:ea typeface="Aptos"/>
                          <a:cs typeface="Aptos"/>
                        </a:rPr>
                        <a:t>2</a:t>
                      </a:r>
                    </a:p>
                  </a:txBody>
                  <a:tcPr marL="91440" marR="91440" marT="45720" marB="45720">
                    <a:lnR w="9525">
                      <a:solidFill>
                        <a:srgbClr val="D9E3E8"/>
                      </a:solidFill>
                    </a:lnR>
                    <a:lnB w="9525">
                      <a:solidFill>
                        <a:srgbClr val="D9E3E8"/>
                      </a:solidFill>
                    </a:lnB>
                    <a:solidFill>
                      <a:srgbClr val="F1F6F8"/>
                    </a:solidFill>
                  </a:tcPr>
                </a:tc>
              </a:tr>
            </a:tbl>
          </a:graphicData>
        </a:graphic>
      </p:graphicFrame>
      <p:sp>
        <p:nvSpPr>
          <p:cNvPr id="5" name="">
            <a:extLst xmlns:a="http://schemas.openxmlformats.org/drawingml/2006/main">
              <a:ext uri="{FF2B5EF4-FFF2-40B4-BE49-F238E27FC236}">
                <a16:creationId xmlns:a16="http://schemas.microsoft.com/office/drawing/2014/main" id="{7F86D1AD-EF31-4E12-B6C8-F4FEB266736E}"/>
              </a:ext>
            </a:extLst>
          </p:cNvPr>
          <p:cNvSpPr>
            <a:spLocks xmlns:a="http://schemas.openxmlformats.org/drawingml/2006/main" noGrp="1"/>
          </p:cNvSpPr>
          <p:nvPr/>
        </p:nvSpPr>
        <p:spPr>
          <a:xfrm xmlns:a="http://schemas.openxmlformats.org/drawingml/2006/main">
            <a:off x="533400" y="43338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The value 5 is smaller than its child 9.</a:t>
            </a:r>
          </a:p>
        </p:txBody>
      </p:sp>
      <p:sp>
        <p:nvSpPr>
          <p:cNvPr id="6" name="">
            <a:extLst xmlns:a="http://schemas.openxmlformats.org/drawingml/2006/main">
              <a:ext uri="{FF2B5EF4-FFF2-40B4-BE49-F238E27FC236}">
                <a16:creationId xmlns:a16="http://schemas.microsoft.com/office/drawing/2014/main" id="{C63BCF24-4083-4EB9-9104-B9C81D1C2905}"/>
              </a:ext>
            </a:extLst>
          </p:cNvPr>
          <p:cNvSpPr>
            <a:spLocks xmlns:a="http://schemas.openxmlformats.org/drawingml/2006/main" noGrp="1"/>
          </p:cNvSpPr>
          <p:nvPr/>
        </p:nvSpPr>
        <p:spPr>
          <a:xfrm xmlns:a="http://schemas.openxmlformats.org/drawingml/2006/main">
            <a:off x="533400" y="49530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Compare both children and choose the larger child for a max-heap.</a:t>
            </a:r>
          </a:p>
        </p:txBody>
      </p:sp>
      <p:sp>
        <p:nvSpPr>
          <p:cNvPr id="7" name="">
            <a:extLst xmlns:a="http://schemas.openxmlformats.org/drawingml/2006/main">
              <a:ext uri="{FF2B5EF4-FFF2-40B4-BE49-F238E27FC236}">
                <a16:creationId xmlns:a16="http://schemas.microsoft.com/office/drawing/2014/main" id="{BF80FE13-E060-4EE5-B833-0FECD1949800}"/>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Each level requires O(1) comparisons and at most one swap.</a:t>
            </a:r>
          </a:p>
        </p:txBody>
      </p:sp>
      <p:sp>
        <p:nvSpPr>
          <p:cNvPr id="9" name="local-java-HeapDemo">
            <a:extLst xmlns:a="http://schemas.openxmlformats.org/drawingml/2006/main">
              <a:ext uri="{FF2B5EF4-FFF2-40B4-BE49-F238E27FC236}">
                <a16:creationId xmlns:a16="http://schemas.microsoft.com/office/drawing/2014/main" id="{73E3AB0E-0CBB-468E-BD02-41DE4789F579}"/>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357ba1e8283a40bc"/>
              </a:rPr>
              <a:t>Java: HeapDemo.java</a:t>
            </a:r>
          </a:p>
        </p:txBody>
      </p:sp>
    </p:spTree>
    <p:extLst>
      <p:ext uri="{BB962C8B-B14F-4D97-AF65-F5344CB8AC3E}">
        <p14:creationId xmlns:p14="http://schemas.microsoft.com/office/powerpoint/2010/main" val="8089465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CFA267-5DB5-4E48-B2E8-C79E4EE28E15}"/>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Sift down restores heap order</a:t>
            </a:r>
          </a:p>
        </p:txBody>
      </p:sp>
      <p:sp>
        <p:nvSpPr>
          <p:cNvPr id="2" name="">
            <a:extLst xmlns:a="http://schemas.openxmlformats.org/drawingml/2006/main">
              <a:ext uri="{FF2B5EF4-FFF2-40B4-BE49-F238E27FC236}">
                <a16:creationId xmlns:a16="http://schemas.microsoft.com/office/drawing/2014/main" id="{C927BB08-522A-4A65-92FB-BA94A9BC8D24}"/>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Swap with the larger child until the parent is large enough or reaches a leaf.</a:t>
            </a:r>
          </a:p>
        </p:txBody>
      </p:sp>
      <p:sp>
        <p:nvSpPr>
          <p:cNvPr id="3" name="">
            <a:extLst xmlns:a="http://schemas.openxmlformats.org/drawingml/2006/main">
              <a:ext uri="{FF2B5EF4-FFF2-40B4-BE49-F238E27FC236}">
                <a16:creationId xmlns:a16="http://schemas.microsoft.com/office/drawing/2014/main" id="{D991FECE-5547-4EBB-BE4C-30F7C9913F9A}"/>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16</a:t>
            </a:r>
          </a:p>
        </p:txBody>
      </p:sp>
      <p:pic>
        <p:nvPicPr>
          <p:cNvPr id="4" name="">
            <a:extLst xmlns:a="http://schemas.openxmlformats.org/drawingml/2006/main">
              <a:ext uri="{FF2B5EF4-FFF2-40B4-BE49-F238E27FC236}">
                <a16:creationId xmlns:a16="http://schemas.microsoft.com/office/drawing/2014/main" id="{74BC1830-2D81-4211-A0AF-A734FA837296}"/>
              </a:ext>
            </a:extLst>
          </p:cNvPr>
          <p:cNvPicPr>
            <a:picLocks xmlns:a="http://schemas.openxmlformats.org/drawingml/2006/main" noChangeAspect="1"/>
          </p:cNvPicPr>
          <p:nvPr/>
        </p:nvPicPr>
        <p:blipFill>
          <a:blip xmlns:r="http://schemas.openxmlformats.org/officeDocument/2006/relationships" xmlns:a="http://schemas.openxmlformats.org/drawingml/2006/main" r:embed="Ra12d2f85976649fa"/>
          <a:stretch xmlns:a="http://schemas.openxmlformats.org/drawingml/2006/main"/>
        </p:blipFill>
        <p:spPr>
          <a:xfrm xmlns:a="http://schemas.openxmlformats.org/drawingml/2006/main">
            <a:off x="2422430" y="2095500"/>
            <a:ext cx="734714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71BBE73-6C65-4F4A-97F2-8BE4B104C01B}"/>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CF96E250-5FE1-4A09-9249-058AF27AE9A5}"/>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At most </a:t>
            </a:r>
            <a:r>
              <a:rPr sz="2175" b="1">
                <a:solidFill>
                  <a:srgbClr val="087F8C"/>
                </a:solidFill>
                <a:latin typeface="Aptos"/>
                <a:ea typeface="Aptos"/>
                <a:cs typeface="Aptos"/>
              </a:rPr>
              <a:t>floor(log2(n))</a:t>
            </a:r>
            <a:r>
              <a:rPr sz="2175" b="1">
                <a:solidFill>
                  <a:srgbClr val="087F8C"/>
                </a:solidFill>
                <a:latin typeface="Aptos"/>
                <a:ea typeface="Aptos"/>
                <a:cs typeface="Aptos"/>
              </a:rPr>
              <a:t> levels. Sift down takes O(log n) worst-case.</a:t>
            </a:r>
          </a:p>
        </p:txBody>
      </p:sp>
      <p:sp>
        <p:nvSpPr>
          <p:cNvPr id="8" name="local-java-HeapDemo">
            <a:extLst xmlns:a="http://schemas.openxmlformats.org/drawingml/2006/main">
              <a:ext uri="{FF2B5EF4-FFF2-40B4-BE49-F238E27FC236}">
                <a16:creationId xmlns:a16="http://schemas.microsoft.com/office/drawing/2014/main" id="{FF5F287A-9C52-44EC-99FA-B682BD5798C4}"/>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25ea61b0d76d41ed"/>
              </a:rPr>
              <a:t>Java: HeapDemo.java</a:t>
            </a:r>
          </a:p>
        </p:txBody>
      </p:sp>
    </p:spTree>
    <p:extLst>
      <p:ext uri="{BB962C8B-B14F-4D97-AF65-F5344CB8AC3E}">
        <p14:creationId xmlns:p14="http://schemas.microsoft.com/office/powerpoint/2010/main" val="6242542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F10189-600E-4666-B402-0BE6273FCD70}"/>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Deletion: the complete sequence</a:t>
            </a:r>
          </a:p>
        </p:txBody>
      </p:sp>
      <p:sp>
        <p:nvSpPr>
          <p:cNvPr id="2" name="">
            <a:extLst xmlns:a="http://schemas.openxmlformats.org/drawingml/2006/main">
              <a:ext uri="{FF2B5EF4-FFF2-40B4-BE49-F238E27FC236}">
                <a16:creationId xmlns:a16="http://schemas.microsoft.com/office/drawing/2014/main" id="{F59970EC-ED86-4C01-91E9-8CC4D8F993AC}"/>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Save root, replace it with the last item, and sift down.</a:t>
            </a:r>
          </a:p>
        </p:txBody>
      </p:sp>
      <p:sp>
        <p:nvSpPr>
          <p:cNvPr id="3" name="">
            <a:extLst xmlns:a="http://schemas.openxmlformats.org/drawingml/2006/main">
              <a:ext uri="{FF2B5EF4-FFF2-40B4-BE49-F238E27FC236}">
                <a16:creationId xmlns:a16="http://schemas.microsoft.com/office/drawing/2014/main" id="{A71011AA-53B8-4DB1-AE63-59AC41F4A54C}"/>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17</a:t>
            </a:r>
          </a:p>
        </p:txBody>
      </p:sp>
      <p:pic>
        <p:nvPicPr>
          <p:cNvPr id="4" name="">
            <a:extLst xmlns:a="http://schemas.openxmlformats.org/drawingml/2006/main">
              <a:ext uri="{FF2B5EF4-FFF2-40B4-BE49-F238E27FC236}">
                <a16:creationId xmlns:a16="http://schemas.microsoft.com/office/drawing/2014/main" id="{DD0E2A5B-8B77-4B06-ADC3-270AAE9ED7FE}"/>
              </a:ext>
            </a:extLst>
          </p:cNvPr>
          <p:cNvPicPr>
            <a:picLocks xmlns:a="http://schemas.openxmlformats.org/drawingml/2006/main" noChangeAspect="1"/>
          </p:cNvPicPr>
          <p:nvPr/>
        </p:nvPicPr>
        <p:blipFill>
          <a:blip xmlns:r="http://schemas.openxmlformats.org/officeDocument/2006/relationships" xmlns:a="http://schemas.openxmlformats.org/drawingml/2006/main" r:embed="Rfa0802fb74e74912"/>
          <a:stretch xmlns:a="http://schemas.openxmlformats.org/drawingml/2006/main"/>
        </p:blipFill>
        <p:spPr>
          <a:xfrm xmlns:a="http://schemas.openxmlformats.org/drawingml/2006/main">
            <a:off x="533400" y="2247429"/>
            <a:ext cx="11125200" cy="231551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F14A67-1F80-4ADB-B78A-230A1884EFF1}"/>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C0081F11-E1F4-4865-A235-A47243632182}"/>
              </a:ext>
            </a:extLst>
          </p:cNvPr>
          <p:cNvSpPr>
            <a:spLocks xmlns:a="http://schemas.openxmlformats.org/drawingml/2006/main" noGrp="1"/>
          </p:cNvSpPr>
          <p:nvPr/>
        </p:nvSpPr>
        <p:spPr>
          <a:xfrm xmlns:a="http://schemas.openxmlformats.org/drawingml/2006/main">
            <a:off x="533400" y="49053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6324F"/>
                </a:solidFill>
                <a:latin typeface="Aptos"/>
                <a:ea typeface="Aptos"/>
                <a:cs typeface="Aptos"/>
              </a:defRPr>
            </a:defPPr>
            <a:lvl1pPr>
              <a:buNone/>
              <a:defRPr sz="2100" b="0">
                <a:solidFill>
                  <a:srgbClr val="16324F"/>
                </a:solidFill>
                <a:latin typeface="Aptos"/>
                <a:ea typeface="Aptos"/>
                <a:cs typeface="Aptos"/>
              </a:defRPr>
            </a:lvl1pPr>
            <a:lvl2pPr>
              <a:buNone/>
              <a:defRPr sz="2100" b="0">
                <a:solidFill>
                  <a:srgbClr val="16324F"/>
                </a:solidFill>
                <a:latin typeface="Aptos"/>
                <a:ea typeface="Aptos"/>
                <a:cs typeface="Aptos"/>
              </a:defRPr>
            </a:lvl2pPr>
            <a:lvl3pPr>
              <a:buNone/>
              <a:defRPr sz="2100" b="0">
                <a:solidFill>
                  <a:srgbClr val="16324F"/>
                </a:solidFill>
                <a:latin typeface="Aptos"/>
                <a:ea typeface="Aptos"/>
                <a:cs typeface="Aptos"/>
              </a:defRPr>
            </a:lvl3pPr>
            <a:lvl4pPr>
              <a:buNone/>
              <a:defRPr sz="2100" b="0">
                <a:solidFill>
                  <a:srgbClr val="16324F"/>
                </a:solidFill>
                <a:latin typeface="Aptos"/>
                <a:ea typeface="Aptos"/>
                <a:cs typeface="Aptos"/>
              </a:defRPr>
            </a:lvl4pPr>
            <a:lvl5pPr>
              <a:buNone/>
              <a:defRPr sz="2100" b="0">
                <a:solidFill>
                  <a:srgbClr val="16324F"/>
                </a:solidFill>
                <a:latin typeface="Aptos"/>
                <a:ea typeface="Aptos"/>
                <a:cs typeface="Aptos"/>
              </a:defRPr>
            </a:lvl5pPr>
            <a:lvl6pPr>
              <a:buNone/>
              <a:defRPr sz="2100" b="0">
                <a:solidFill>
                  <a:srgbClr val="16324F"/>
                </a:solidFill>
                <a:latin typeface="Aptos"/>
                <a:ea typeface="Aptos"/>
                <a:cs typeface="Aptos"/>
              </a:defRPr>
            </a:lvl6pPr>
            <a:lvl7pPr>
              <a:buNone/>
              <a:defRPr sz="2100" b="0">
                <a:solidFill>
                  <a:srgbClr val="16324F"/>
                </a:solidFill>
                <a:latin typeface="Aptos"/>
                <a:ea typeface="Aptos"/>
                <a:cs typeface="Aptos"/>
              </a:defRPr>
            </a:lvl7pPr>
            <a:lvl8pPr>
              <a:buNone/>
              <a:defRPr sz="2100" b="0">
                <a:solidFill>
                  <a:srgbClr val="16324F"/>
                </a:solidFill>
                <a:latin typeface="Aptos"/>
                <a:ea typeface="Aptos"/>
                <a:cs typeface="Aptos"/>
              </a:defRPr>
            </a:lvl8pPr>
            <a:lvl9pPr>
              <a:buNone/>
              <a:defRPr sz="2100" b="0">
                <a:solidFill>
                  <a:srgbClr val="16324F"/>
                </a:solidFill>
                <a:latin typeface="Aptos"/>
                <a:ea typeface="Aptos"/>
                <a:cs typeface="Aptos"/>
              </a:defRPr>
            </a:lvl9pPr>
          </a:lstStyle>
          <a:p xmlns:a="http://schemas.openxmlformats.org/drawingml/2006/main">
            <a:pPr>
              <a:buNone/>
              <a:defRPr sz="2100" b="0">
                <a:solidFill>
                  <a:srgbClr val="16324F"/>
                </a:solidFill>
                <a:latin typeface="Aptos"/>
                <a:ea typeface="Aptos"/>
                <a:cs typeface="Aptos"/>
              </a:defRPr>
            </a:pPr>
            <a:r>
              <a:rPr sz="2100" b="0">
                <a:solidFill>
                  <a:srgbClr val="16324F"/>
                </a:solidFill>
                <a:latin typeface="Aptos"/>
                <a:ea typeface="Aptos"/>
                <a:cs typeface="Aptos"/>
              </a:rPr>
              <a:t>The complete shape stays intact because only the last node disappears.</a:t>
            </a:r>
          </a:p>
        </p:txBody>
      </p:sp>
      <p:sp>
        <p:nvSpPr>
          <p:cNvPr id="7" name="">
            <a:extLst xmlns:a="http://schemas.openxmlformats.org/drawingml/2006/main">
              <a:ext uri="{FF2B5EF4-FFF2-40B4-BE49-F238E27FC236}">
                <a16:creationId xmlns:a16="http://schemas.microsoft.com/office/drawing/2014/main" id="{CF304761-1397-4D0D-81BD-87AB1CFA74AE}"/>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Remove root: O(log n) worst-case, O(1) best-case.</a:t>
            </a:r>
          </a:p>
        </p:txBody>
      </p:sp>
      <p:sp>
        <p:nvSpPr>
          <p:cNvPr id="9" name="local-java-HeapDemo">
            <a:extLst xmlns:a="http://schemas.openxmlformats.org/drawingml/2006/main">
              <a:ext uri="{FF2B5EF4-FFF2-40B4-BE49-F238E27FC236}">
                <a16:creationId xmlns:a16="http://schemas.microsoft.com/office/drawing/2014/main" id="{9B3709A4-2BD1-4237-B56A-0C4FE192B335}"/>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0969f0f7b96e49c8"/>
              </a:rPr>
              <a:t>Java: HeapDemo.java</a:t>
            </a:r>
          </a:p>
        </p:txBody>
      </p:sp>
    </p:spTree>
    <p:extLst>
      <p:ext uri="{BB962C8B-B14F-4D97-AF65-F5344CB8AC3E}">
        <p14:creationId xmlns:p14="http://schemas.microsoft.com/office/powerpoint/2010/main" val="748174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4914EF-508C-4456-9C9F-642C4A287EDB}"/>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Sift down: iterative Java</a:t>
            </a:r>
          </a:p>
        </p:txBody>
      </p:sp>
      <p:sp>
        <p:nvSpPr>
          <p:cNvPr id="2" name="">
            <a:extLst xmlns:a="http://schemas.openxmlformats.org/drawingml/2006/main">
              <a:ext uri="{FF2B5EF4-FFF2-40B4-BE49-F238E27FC236}">
                <a16:creationId xmlns:a16="http://schemas.microsoft.com/office/drawing/2014/main" id="{8C0FF45F-4E97-4DBF-BBFD-F434BF28FC81}"/>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Both child subtrees must already satisfy max-heap order.</a:t>
            </a:r>
          </a:p>
        </p:txBody>
      </p:sp>
      <p:sp>
        <p:nvSpPr>
          <p:cNvPr id="3" name="">
            <a:extLst xmlns:a="http://schemas.openxmlformats.org/drawingml/2006/main">
              <a:ext uri="{FF2B5EF4-FFF2-40B4-BE49-F238E27FC236}">
                <a16:creationId xmlns:a16="http://schemas.microsoft.com/office/drawing/2014/main" id="{DC3A122D-F62F-47F7-8B66-F50C372EEDF0}"/>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7494A2EC-365B-43D0-91BE-8BD6785E6D2E}"/>
              </a:ext>
            </a:extLst>
          </p:cNvPr>
          <p:cNvSpPr>
            <a:spLocks xmlns:a="http://schemas.openxmlformats.org/drawingml/2006/main" noGrp="1"/>
          </p:cNvSpPr>
          <p:nvPr/>
        </p:nvSpPr>
        <p:spPr>
          <a:xfrm xmlns:a="http://schemas.openxmlformats.org/drawingml/2006/main">
            <a:off x="533400" y="1981200"/>
            <a:ext cx="111252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6324F"/>
                </a:solidFill>
                <a:latin typeface="Consolas"/>
                <a:ea typeface="Consolas"/>
                <a:cs typeface="Consolas"/>
              </a:defRPr>
            </a:defPPr>
            <a:lvl1pPr>
              <a:buNone/>
              <a:defRPr sz="1725" b="0">
                <a:solidFill>
                  <a:srgbClr val="16324F"/>
                </a:solidFill>
                <a:latin typeface="Consolas"/>
                <a:ea typeface="Consolas"/>
                <a:cs typeface="Consolas"/>
              </a:defRPr>
            </a:lvl1pPr>
            <a:lvl2pPr>
              <a:buNone/>
              <a:defRPr sz="1725" b="0">
                <a:solidFill>
                  <a:srgbClr val="16324F"/>
                </a:solidFill>
                <a:latin typeface="Consolas"/>
                <a:ea typeface="Consolas"/>
                <a:cs typeface="Consolas"/>
              </a:defRPr>
            </a:lvl2pPr>
            <a:lvl3pPr>
              <a:buNone/>
              <a:defRPr sz="1725" b="0">
                <a:solidFill>
                  <a:srgbClr val="16324F"/>
                </a:solidFill>
                <a:latin typeface="Consolas"/>
                <a:ea typeface="Consolas"/>
                <a:cs typeface="Consolas"/>
              </a:defRPr>
            </a:lvl3pPr>
            <a:lvl4pPr>
              <a:buNone/>
              <a:defRPr sz="1725" b="0">
                <a:solidFill>
                  <a:srgbClr val="16324F"/>
                </a:solidFill>
                <a:latin typeface="Consolas"/>
                <a:ea typeface="Consolas"/>
                <a:cs typeface="Consolas"/>
              </a:defRPr>
            </a:lvl4pPr>
            <a:lvl5pPr>
              <a:buNone/>
              <a:defRPr sz="1725" b="0">
                <a:solidFill>
                  <a:srgbClr val="16324F"/>
                </a:solidFill>
                <a:latin typeface="Consolas"/>
                <a:ea typeface="Consolas"/>
                <a:cs typeface="Consolas"/>
              </a:defRPr>
            </a:lvl5pPr>
            <a:lvl6pPr>
              <a:buNone/>
              <a:defRPr sz="1725" b="0">
                <a:solidFill>
                  <a:srgbClr val="16324F"/>
                </a:solidFill>
                <a:latin typeface="Consolas"/>
                <a:ea typeface="Consolas"/>
                <a:cs typeface="Consolas"/>
              </a:defRPr>
            </a:lvl6pPr>
            <a:lvl7pPr>
              <a:buNone/>
              <a:defRPr sz="1725" b="0">
                <a:solidFill>
                  <a:srgbClr val="16324F"/>
                </a:solidFill>
                <a:latin typeface="Consolas"/>
                <a:ea typeface="Consolas"/>
                <a:cs typeface="Consolas"/>
              </a:defRPr>
            </a:lvl7pPr>
            <a:lvl8pPr>
              <a:buNone/>
              <a:defRPr sz="1725" b="0">
                <a:solidFill>
                  <a:srgbClr val="16324F"/>
                </a:solidFill>
                <a:latin typeface="Consolas"/>
                <a:ea typeface="Consolas"/>
                <a:cs typeface="Consolas"/>
              </a:defRPr>
            </a:lvl8pPr>
            <a:lvl9pPr>
              <a:buNone/>
              <a:defRPr sz="1725" b="0">
                <a:solidFill>
                  <a:srgbClr val="16324F"/>
                </a:solidFill>
                <a:latin typeface="Consolas"/>
                <a:ea typeface="Consolas"/>
                <a:cs typeface="Consolas"/>
              </a:defRPr>
            </a:lvl9pPr>
          </a:lstStyle>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private void heapRebuild(int root) {</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int n = list.size();</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a:t>
            </a:r>
            <a:r>
              <a:rPr sz="1725" b="0">
                <a:solidFill>
                  <a:srgbClr val="16324F"/>
                </a:solidFill>
                <a:latin typeface="Consolas"/>
                <a:ea typeface="Consolas"/>
                <a:cs typeface="Consolas"/>
              </a:rPr>
              <a:t>while (root &lt; n / 2)</a:t>
            </a:r>
            <a:r>
              <a:rPr sz="1725" b="0">
                <a:solidFill>
                  <a:srgbClr val="16324F"/>
                </a:solidFill>
                <a:latin typeface="Consolas"/>
                <a:ea typeface="Consolas"/>
                <a:cs typeface="Consolas"/>
              </a:rPr>
              <a:t> {</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int child = 2 * root + 1;</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if (child + 1 &lt; n &amp;&amp;</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list.get(child + 1).compareTo(list.get(child)) &gt; 0)</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child++;</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if (list.get(root).compareTo(list.get(child)) &gt;= 0)</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break;</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Collections.swap(list, root, child);</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root = child;</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    }</a:t>
            </a:r>
          </a:p>
          <a:p xmlns:a="http://schemas.openxmlformats.org/drawingml/2006/main">
            <a:pPr>
              <a:buNone/>
              <a:defRPr sz="1725" b="0">
                <a:solidFill>
                  <a:srgbClr val="16324F"/>
                </a:solidFill>
                <a:latin typeface="Consolas"/>
                <a:ea typeface="Consolas"/>
                <a:cs typeface="Consolas"/>
              </a:defRPr>
            </a:pPr>
            <a:r>
              <a:rPr sz="1725" b="0">
                <a:solidFill>
                  <a:srgbClr val="16324F"/>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FB8FC5B2-171E-400C-8AB0-A53756C9A048}"/>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Time O(log n). Extra space O(1), versus O(log n) for recursive calls.</a:t>
            </a:r>
          </a:p>
        </p:txBody>
      </p:sp>
      <p:sp>
        <p:nvSpPr>
          <p:cNvPr id="7" name="local-java-MaxHeap">
            <a:extLst xmlns:a="http://schemas.openxmlformats.org/drawingml/2006/main">
              <a:ext uri="{FF2B5EF4-FFF2-40B4-BE49-F238E27FC236}">
                <a16:creationId xmlns:a16="http://schemas.microsoft.com/office/drawing/2014/main" id="{2B0E4310-5167-497F-9564-DD07DEACA98F}"/>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f93e1f6263e74af0"/>
              </a:rPr>
              <a:t>Java: MaxHeap.java</a:t>
            </a:r>
          </a:p>
        </p:txBody>
      </p:sp>
    </p:spTree>
    <p:extLst>
      <p:ext uri="{BB962C8B-B14F-4D97-AF65-F5344CB8AC3E}">
        <p14:creationId xmlns:p14="http://schemas.microsoft.com/office/powerpoint/2010/main" val="14858941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B688EC-12F4-4A93-B3FB-2FB3E6291F32}"/>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Insertion: append, then sift up</a:t>
            </a:r>
          </a:p>
        </p:txBody>
      </p:sp>
      <p:sp>
        <p:nvSpPr>
          <p:cNvPr id="2" name="">
            <a:extLst xmlns:a="http://schemas.openxmlformats.org/drawingml/2006/main">
              <a:ext uri="{FF2B5EF4-FFF2-40B4-BE49-F238E27FC236}">
                <a16:creationId xmlns:a16="http://schemas.microsoft.com/office/drawing/2014/main" id="{C8E87B6E-B9C2-4E40-BF5F-7B000E61669F}"/>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Append at the next free position to preserve the complete shape.</a:t>
            </a:r>
          </a:p>
        </p:txBody>
      </p:sp>
      <p:sp>
        <p:nvSpPr>
          <p:cNvPr id="3" name="">
            <a:extLst xmlns:a="http://schemas.openxmlformats.org/drawingml/2006/main">
              <a:ext uri="{FF2B5EF4-FFF2-40B4-BE49-F238E27FC236}">
                <a16:creationId xmlns:a16="http://schemas.microsoft.com/office/drawing/2014/main" id="{A6422B33-1867-44F0-A794-6E31A8DAE32B}"/>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19</a:t>
            </a:r>
          </a:p>
        </p:txBody>
      </p:sp>
      <p:pic>
        <p:nvPicPr>
          <p:cNvPr id="4" name="">
            <a:extLst xmlns:a="http://schemas.openxmlformats.org/drawingml/2006/main">
              <a:ext uri="{FF2B5EF4-FFF2-40B4-BE49-F238E27FC236}">
                <a16:creationId xmlns:a16="http://schemas.microsoft.com/office/drawing/2014/main" id="{45672183-0FA1-4730-B1F0-60B0B7EAB73E}"/>
              </a:ext>
            </a:extLst>
          </p:cNvPr>
          <p:cNvPicPr>
            <a:picLocks xmlns:a="http://schemas.openxmlformats.org/drawingml/2006/main" noChangeAspect="1"/>
          </p:cNvPicPr>
          <p:nvPr/>
        </p:nvPicPr>
        <p:blipFill>
          <a:blip xmlns:r="http://schemas.openxmlformats.org/officeDocument/2006/relationships" xmlns:a="http://schemas.openxmlformats.org/drawingml/2006/main" r:embed="Ra94c524fd0864044"/>
          <a:stretch xmlns:a="http://schemas.openxmlformats.org/drawingml/2006/main"/>
        </p:blipFill>
        <p:spPr>
          <a:xfrm xmlns:a="http://schemas.openxmlformats.org/drawingml/2006/main">
            <a:off x="591658" y="2238375"/>
            <a:ext cx="11008683" cy="2238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D0B5C2-A99E-431D-AE32-CBDF2100242F}"/>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C12568DE-73B3-4549-A38E-CA5C3F098C2A}"/>
              </a:ext>
            </a:extLst>
          </p:cNvPr>
          <p:cNvSpPr>
            <a:spLocks xmlns:a="http://schemas.openxmlformats.org/drawingml/2006/main" noGrp="1"/>
          </p:cNvSpPr>
          <p:nvPr/>
        </p:nvSpPr>
        <p:spPr>
          <a:xfrm xmlns:a="http://schemas.openxmlformats.org/drawingml/2006/main">
            <a:off x="533400" y="48577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6324F"/>
                </a:solidFill>
                <a:latin typeface="Aptos"/>
                <a:ea typeface="Aptos"/>
                <a:cs typeface="Aptos"/>
              </a:defRPr>
            </a:defPPr>
            <a:lvl1pPr>
              <a:buNone/>
              <a:defRPr sz="2100" b="0">
                <a:solidFill>
                  <a:srgbClr val="16324F"/>
                </a:solidFill>
                <a:latin typeface="Aptos"/>
                <a:ea typeface="Aptos"/>
                <a:cs typeface="Aptos"/>
              </a:defRPr>
            </a:lvl1pPr>
            <a:lvl2pPr>
              <a:buNone/>
              <a:defRPr sz="2100" b="0">
                <a:solidFill>
                  <a:srgbClr val="16324F"/>
                </a:solidFill>
                <a:latin typeface="Aptos"/>
                <a:ea typeface="Aptos"/>
                <a:cs typeface="Aptos"/>
              </a:defRPr>
            </a:lvl2pPr>
            <a:lvl3pPr>
              <a:buNone/>
              <a:defRPr sz="2100" b="0">
                <a:solidFill>
                  <a:srgbClr val="16324F"/>
                </a:solidFill>
                <a:latin typeface="Aptos"/>
                <a:ea typeface="Aptos"/>
                <a:cs typeface="Aptos"/>
              </a:defRPr>
            </a:lvl3pPr>
            <a:lvl4pPr>
              <a:buNone/>
              <a:defRPr sz="2100" b="0">
                <a:solidFill>
                  <a:srgbClr val="16324F"/>
                </a:solidFill>
                <a:latin typeface="Aptos"/>
                <a:ea typeface="Aptos"/>
                <a:cs typeface="Aptos"/>
              </a:defRPr>
            </a:lvl4pPr>
            <a:lvl5pPr>
              <a:buNone/>
              <a:defRPr sz="2100" b="0">
                <a:solidFill>
                  <a:srgbClr val="16324F"/>
                </a:solidFill>
                <a:latin typeface="Aptos"/>
                <a:ea typeface="Aptos"/>
                <a:cs typeface="Aptos"/>
              </a:defRPr>
            </a:lvl5pPr>
            <a:lvl6pPr>
              <a:buNone/>
              <a:defRPr sz="2100" b="0">
                <a:solidFill>
                  <a:srgbClr val="16324F"/>
                </a:solidFill>
                <a:latin typeface="Aptos"/>
                <a:ea typeface="Aptos"/>
                <a:cs typeface="Aptos"/>
              </a:defRPr>
            </a:lvl6pPr>
            <a:lvl7pPr>
              <a:buNone/>
              <a:defRPr sz="2100" b="0">
                <a:solidFill>
                  <a:srgbClr val="16324F"/>
                </a:solidFill>
                <a:latin typeface="Aptos"/>
                <a:ea typeface="Aptos"/>
                <a:cs typeface="Aptos"/>
              </a:defRPr>
            </a:lvl7pPr>
            <a:lvl8pPr>
              <a:buNone/>
              <a:defRPr sz="2100" b="0">
                <a:solidFill>
                  <a:srgbClr val="16324F"/>
                </a:solidFill>
                <a:latin typeface="Aptos"/>
                <a:ea typeface="Aptos"/>
                <a:cs typeface="Aptos"/>
              </a:defRPr>
            </a:lvl8pPr>
            <a:lvl9pPr>
              <a:buNone/>
              <a:defRPr sz="2100" b="0">
                <a:solidFill>
                  <a:srgbClr val="16324F"/>
                </a:solidFill>
                <a:latin typeface="Aptos"/>
                <a:ea typeface="Aptos"/>
                <a:cs typeface="Aptos"/>
              </a:defRPr>
            </a:lvl9pPr>
          </a:lstStyle>
          <a:p xmlns:a="http://schemas.openxmlformats.org/drawingml/2006/main">
            <a:pPr>
              <a:buNone/>
              <a:defRPr sz="2100" b="0">
                <a:solidFill>
                  <a:srgbClr val="16324F"/>
                </a:solidFill>
                <a:latin typeface="Aptos"/>
                <a:ea typeface="Aptos"/>
                <a:cs typeface="Aptos"/>
              </a:defRPr>
            </a:pPr>
            <a:r>
              <a:rPr sz="2100" b="0">
                <a:solidFill>
                  <a:srgbClr val="16324F"/>
                </a:solidFill>
                <a:latin typeface="Aptos"/>
                <a:ea typeface="Aptos"/>
                <a:cs typeface="Aptos"/>
              </a:rPr>
              <a:t>Compare the new item with its parent and swap while the item is larger.</a:t>
            </a:r>
          </a:p>
        </p:txBody>
      </p:sp>
      <p:sp>
        <p:nvSpPr>
          <p:cNvPr id="7" name="">
            <a:extLst xmlns:a="http://schemas.openxmlformats.org/drawingml/2006/main">
              <a:ext uri="{FF2B5EF4-FFF2-40B4-BE49-F238E27FC236}">
                <a16:creationId xmlns:a16="http://schemas.microsoft.com/office/drawing/2014/main" id="{B0373BE2-09DA-4969-939C-D9DDA96159A4}"/>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Heap repair takes O(log n) worst-case and O(1) best-case.</a:t>
            </a:r>
          </a:p>
        </p:txBody>
      </p:sp>
      <p:sp>
        <p:nvSpPr>
          <p:cNvPr id="9" name="local-java-HeapDemo">
            <a:extLst xmlns:a="http://schemas.openxmlformats.org/drawingml/2006/main">
              <a:ext uri="{FF2B5EF4-FFF2-40B4-BE49-F238E27FC236}">
                <a16:creationId xmlns:a16="http://schemas.microsoft.com/office/drawing/2014/main" id="{83E0DFBE-F0DF-4CD8-9EC2-DE23AFCE85F9}"/>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6aabe19cffb94d1a"/>
              </a:rPr>
              <a:t>Java: HeapDemo.java</a:t>
            </a:r>
          </a:p>
        </p:txBody>
      </p:sp>
    </p:spTree>
    <p:extLst>
      <p:ext uri="{BB962C8B-B14F-4D97-AF65-F5344CB8AC3E}">
        <p14:creationId xmlns:p14="http://schemas.microsoft.com/office/powerpoint/2010/main" val="8402083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F33E49-B0A3-4089-B3BC-6604ACF9A3D5}"/>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Sift up: Java implementation</a:t>
            </a:r>
          </a:p>
        </p:txBody>
      </p:sp>
      <p:sp>
        <p:nvSpPr>
          <p:cNvPr id="2" name="">
            <a:extLst xmlns:a="http://schemas.openxmlformats.org/drawingml/2006/main">
              <a:ext uri="{FF2B5EF4-FFF2-40B4-BE49-F238E27FC236}">
                <a16:creationId xmlns:a16="http://schemas.microsoft.com/office/drawing/2014/main" id="{56034CA5-05B5-4C69-8CEF-A205CCEEF35E}"/>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The loop condition stops before trying to move above the root.</a:t>
            </a:r>
          </a:p>
        </p:txBody>
      </p:sp>
      <p:sp>
        <p:nvSpPr>
          <p:cNvPr id="3" name="">
            <a:extLst xmlns:a="http://schemas.openxmlformats.org/drawingml/2006/main">
              <a:ext uri="{FF2B5EF4-FFF2-40B4-BE49-F238E27FC236}">
                <a16:creationId xmlns:a16="http://schemas.microsoft.com/office/drawing/2014/main" id="{4A9E5370-4601-4AF3-8664-B32FE3C115FD}"/>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B60F5162-F474-4033-92CD-189FF0942061}"/>
              </a:ext>
            </a:extLst>
          </p:cNvPr>
          <p:cNvSpPr>
            <a:spLocks xmlns:a="http://schemas.openxmlformats.org/drawingml/2006/main" noGrp="1"/>
          </p:cNvSpPr>
          <p:nvPr/>
        </p:nvSpPr>
        <p:spPr>
          <a:xfrm xmlns:a="http://schemas.openxmlformats.org/drawingml/2006/main">
            <a:off x="533400" y="2000250"/>
            <a:ext cx="111252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6324F"/>
                </a:solidFill>
                <a:latin typeface="Consolas"/>
                <a:ea typeface="Consolas"/>
                <a:cs typeface="Consolas"/>
              </a:defRPr>
            </a:defPPr>
            <a:lvl1pPr>
              <a:buNone/>
              <a:defRPr sz="1950" b="0">
                <a:solidFill>
                  <a:srgbClr val="16324F"/>
                </a:solidFill>
                <a:latin typeface="Consolas"/>
                <a:ea typeface="Consolas"/>
                <a:cs typeface="Consolas"/>
              </a:defRPr>
            </a:lvl1pPr>
            <a:lvl2pPr>
              <a:buNone/>
              <a:defRPr sz="1950" b="0">
                <a:solidFill>
                  <a:srgbClr val="16324F"/>
                </a:solidFill>
                <a:latin typeface="Consolas"/>
                <a:ea typeface="Consolas"/>
                <a:cs typeface="Consolas"/>
              </a:defRPr>
            </a:lvl2pPr>
            <a:lvl3pPr>
              <a:buNone/>
              <a:defRPr sz="1950" b="0">
                <a:solidFill>
                  <a:srgbClr val="16324F"/>
                </a:solidFill>
                <a:latin typeface="Consolas"/>
                <a:ea typeface="Consolas"/>
                <a:cs typeface="Consolas"/>
              </a:defRPr>
            </a:lvl3pPr>
            <a:lvl4pPr>
              <a:buNone/>
              <a:defRPr sz="1950" b="0">
                <a:solidFill>
                  <a:srgbClr val="16324F"/>
                </a:solidFill>
                <a:latin typeface="Consolas"/>
                <a:ea typeface="Consolas"/>
                <a:cs typeface="Consolas"/>
              </a:defRPr>
            </a:lvl4pPr>
            <a:lvl5pPr>
              <a:buNone/>
              <a:defRPr sz="1950" b="0">
                <a:solidFill>
                  <a:srgbClr val="16324F"/>
                </a:solidFill>
                <a:latin typeface="Consolas"/>
                <a:ea typeface="Consolas"/>
                <a:cs typeface="Consolas"/>
              </a:defRPr>
            </a:lvl5pPr>
            <a:lvl6pPr>
              <a:buNone/>
              <a:defRPr sz="1950" b="0">
                <a:solidFill>
                  <a:srgbClr val="16324F"/>
                </a:solidFill>
                <a:latin typeface="Consolas"/>
                <a:ea typeface="Consolas"/>
                <a:cs typeface="Consolas"/>
              </a:defRPr>
            </a:lvl6pPr>
            <a:lvl7pPr>
              <a:buNone/>
              <a:defRPr sz="1950" b="0">
                <a:solidFill>
                  <a:srgbClr val="16324F"/>
                </a:solidFill>
                <a:latin typeface="Consolas"/>
                <a:ea typeface="Consolas"/>
                <a:cs typeface="Consolas"/>
              </a:defRPr>
            </a:lvl7pPr>
            <a:lvl8pPr>
              <a:buNone/>
              <a:defRPr sz="1950" b="0">
                <a:solidFill>
                  <a:srgbClr val="16324F"/>
                </a:solidFill>
                <a:latin typeface="Consolas"/>
                <a:ea typeface="Consolas"/>
                <a:cs typeface="Consolas"/>
              </a:defRPr>
            </a:lvl8pPr>
            <a:lvl9pPr>
              <a:buNone/>
              <a:defRPr sz="1950" b="0">
                <a:solidFill>
                  <a:srgbClr val="16324F"/>
                </a:solidFill>
                <a:latin typeface="Consolas"/>
                <a:ea typeface="Consolas"/>
                <a:cs typeface="Consolas"/>
              </a:defRPr>
            </a:lvl9pPr>
          </a:lstStyle>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public void add(T newItem) {</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a:t>
            </a:r>
            <a:r>
              <a:rPr sz="1950" b="0">
                <a:solidFill>
                  <a:srgbClr val="16324F"/>
                </a:solidFill>
                <a:latin typeface="Consolas"/>
                <a:ea typeface="Consolas"/>
                <a:cs typeface="Consolas"/>
              </a:rPr>
              <a:t>list.add(Objects.requireNonNull(newItem, "newItem"));</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int i = list.size() - 1;</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while (i &gt; 0) {</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int parent = (i - 1) / 2;</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if (list.get(i).compareTo(list.get(parent)) &lt;= 0)</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break;</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Collections.swap(list, i, parent);</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i = parent;</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    }</a:t>
            </a:r>
          </a:p>
          <a:p xmlns:a="http://schemas.openxmlformats.org/drawingml/2006/main">
            <a:pPr>
              <a:buNone/>
              <a:defRPr sz="1950" b="0">
                <a:solidFill>
                  <a:srgbClr val="16324F"/>
                </a:solidFill>
                <a:latin typeface="Consolas"/>
                <a:ea typeface="Consolas"/>
                <a:cs typeface="Consolas"/>
              </a:defRPr>
            </a:pPr>
            <a:r>
              <a:rPr sz="1950" b="0">
                <a:solidFill>
                  <a:srgbClr val="16324F"/>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BC5BB13B-8E00-4EA1-8B06-552592568F0B}"/>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O(log n) amortized with ArrayList. A resizing insertion can take O(n).</a:t>
            </a:r>
          </a:p>
        </p:txBody>
      </p:sp>
      <p:sp>
        <p:nvSpPr>
          <p:cNvPr id="7" name="local-java-MaxHeap">
            <a:extLst xmlns:a="http://schemas.openxmlformats.org/drawingml/2006/main">
              <a:ext uri="{FF2B5EF4-FFF2-40B4-BE49-F238E27FC236}">
                <a16:creationId xmlns:a16="http://schemas.microsoft.com/office/drawing/2014/main" id="{084FEA80-6FA0-4271-A43D-8144FD15394D}"/>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2bc31c082710485d"/>
              </a:rPr>
              <a:t>Java: MaxHeap.java</a:t>
            </a:r>
          </a:p>
        </p:txBody>
      </p:sp>
    </p:spTree>
    <p:extLst>
      <p:ext uri="{BB962C8B-B14F-4D97-AF65-F5344CB8AC3E}">
        <p14:creationId xmlns:p14="http://schemas.microsoft.com/office/powerpoint/2010/main" val="6665376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DE9146-AAAD-4F1C-A5D5-3846748A437D}"/>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Insertion example: 3, 5, 1, 19, 11, 22</a:t>
            </a:r>
          </a:p>
        </p:txBody>
      </p:sp>
      <p:sp>
        <p:nvSpPr>
          <p:cNvPr id="2" name="">
            <a:extLst xmlns:a="http://schemas.openxmlformats.org/drawingml/2006/main">
              <a:ext uri="{FF2B5EF4-FFF2-40B4-BE49-F238E27FC236}">
                <a16:creationId xmlns:a16="http://schemas.microsoft.com/office/drawing/2014/main" id="{10D1CA2E-B51E-4EE9-8AA8-587371480370}"/>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Begin with an empty max-heap. Each highlighted value has just been inserted.</a:t>
            </a:r>
          </a:p>
        </p:txBody>
      </p:sp>
      <p:sp>
        <p:nvSpPr>
          <p:cNvPr id="3" name="">
            <a:extLst xmlns:a="http://schemas.openxmlformats.org/drawingml/2006/main">
              <a:ext uri="{FF2B5EF4-FFF2-40B4-BE49-F238E27FC236}">
                <a16:creationId xmlns:a16="http://schemas.microsoft.com/office/drawing/2014/main" id="{44DB3B38-90AD-4A48-A57B-4F37D94D5891}"/>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21</a:t>
            </a:r>
          </a:p>
        </p:txBody>
      </p:sp>
      <p:pic>
        <p:nvPicPr>
          <p:cNvPr id="4" name="">
            <a:extLst xmlns:a="http://schemas.openxmlformats.org/drawingml/2006/main">
              <a:ext uri="{FF2B5EF4-FFF2-40B4-BE49-F238E27FC236}">
                <a16:creationId xmlns:a16="http://schemas.microsoft.com/office/drawing/2014/main" id="{90927633-70A8-4EF0-9C14-76EEBF9BBF10}"/>
              </a:ext>
            </a:extLst>
          </p:cNvPr>
          <p:cNvPicPr>
            <a:picLocks xmlns:a="http://schemas.openxmlformats.org/drawingml/2006/main" noChangeAspect="1"/>
          </p:cNvPicPr>
          <p:nvPr/>
        </p:nvPicPr>
        <p:blipFill>
          <a:blip xmlns:r="http://schemas.openxmlformats.org/officeDocument/2006/relationships" xmlns:a="http://schemas.openxmlformats.org/drawingml/2006/main" r:embed="Rc1d61d73d13f4fbd"/>
          <a:stretch xmlns:a="http://schemas.openxmlformats.org/drawingml/2006/main"/>
        </p:blipFill>
        <p:spPr>
          <a:xfrm xmlns:a="http://schemas.openxmlformats.org/drawingml/2006/main">
            <a:off x="2686392" y="2000250"/>
            <a:ext cx="681921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4FDFEB5-256F-4C8C-9240-E2EAAB75E1BD}"/>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7B2F4B4D-E706-4F7D-B382-C0DC8C45A1E4}"/>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Six insertions here. In general, n successive insertions cost O(n log n).</a:t>
            </a:r>
          </a:p>
        </p:txBody>
      </p:sp>
      <p:sp>
        <p:nvSpPr>
          <p:cNvPr id="8" name="local-java-HeapDemo">
            <a:extLst xmlns:a="http://schemas.openxmlformats.org/drawingml/2006/main">
              <a:ext uri="{FF2B5EF4-FFF2-40B4-BE49-F238E27FC236}">
                <a16:creationId xmlns:a16="http://schemas.microsoft.com/office/drawing/2014/main" id="{29F96C9A-A02E-45B5-9BB0-175F59A0D08F}"/>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836a6aaee0574641"/>
              </a:rPr>
              <a:t>Java: HeapDemo.java</a:t>
            </a:r>
          </a:p>
        </p:txBody>
      </p:sp>
    </p:spTree>
    <p:extLst>
      <p:ext uri="{BB962C8B-B14F-4D97-AF65-F5344CB8AC3E}">
        <p14:creationId xmlns:p14="http://schemas.microsoft.com/office/powerpoint/2010/main" val="3859307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F864FF-0437-45DB-877A-06A2BCBA26DB}"/>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Insertion example: add 88</a:t>
            </a:r>
          </a:p>
        </p:txBody>
      </p:sp>
      <p:sp>
        <p:nvSpPr>
          <p:cNvPr id="2" name="">
            <a:extLst xmlns:a="http://schemas.openxmlformats.org/drawingml/2006/main">
              <a:ext uri="{FF2B5EF4-FFF2-40B4-BE49-F238E27FC236}">
                <a16:creationId xmlns:a16="http://schemas.microsoft.com/office/drawing/2014/main" id="{BE071B87-8CF2-452D-8EE4-1B57CDC1A8C4}"/>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Append 88, swap with 19, then swap with 22.</a:t>
            </a:r>
          </a:p>
        </p:txBody>
      </p:sp>
      <p:sp>
        <p:nvSpPr>
          <p:cNvPr id="3" name="">
            <a:extLst xmlns:a="http://schemas.openxmlformats.org/drawingml/2006/main">
              <a:ext uri="{FF2B5EF4-FFF2-40B4-BE49-F238E27FC236}">
                <a16:creationId xmlns:a16="http://schemas.microsoft.com/office/drawing/2014/main" id="{8B51EEA6-B4B1-4803-BB1A-E947B67BCF33}"/>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22</a:t>
            </a:r>
          </a:p>
        </p:txBody>
      </p:sp>
      <p:pic>
        <p:nvPicPr>
          <p:cNvPr id="4" name="">
            <a:extLst xmlns:a="http://schemas.openxmlformats.org/drawingml/2006/main">
              <a:ext uri="{FF2B5EF4-FFF2-40B4-BE49-F238E27FC236}">
                <a16:creationId xmlns:a16="http://schemas.microsoft.com/office/drawing/2014/main" id="{4E4FD122-D947-456E-84C3-D061370227B9}"/>
              </a:ext>
            </a:extLst>
          </p:cNvPr>
          <p:cNvPicPr>
            <a:picLocks xmlns:a="http://schemas.openxmlformats.org/drawingml/2006/main" noChangeAspect="1"/>
          </p:cNvPicPr>
          <p:nvPr/>
        </p:nvPicPr>
        <p:blipFill>
          <a:blip xmlns:r="http://schemas.openxmlformats.org/officeDocument/2006/relationships" xmlns:a="http://schemas.openxmlformats.org/drawingml/2006/main" r:embed="R18c67756ccb34192"/>
          <a:stretch xmlns:a="http://schemas.openxmlformats.org/drawingml/2006/main"/>
        </p:blipFill>
        <p:spPr>
          <a:xfrm xmlns:a="http://schemas.openxmlformats.org/drawingml/2006/main">
            <a:off x="1340302" y="2333625"/>
            <a:ext cx="9511397" cy="2619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99A6A1-0D98-4AA3-8A07-A987C35678D8}"/>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83509CCF-C308-4F40-BB00-2B3D27A9B13F}"/>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Two swaps in this example. At most the tree height in general.</a:t>
            </a:r>
          </a:p>
        </p:txBody>
      </p:sp>
      <p:sp>
        <p:nvSpPr>
          <p:cNvPr id="8" name="local-java-HeapDemo">
            <a:extLst xmlns:a="http://schemas.openxmlformats.org/drawingml/2006/main">
              <a:ext uri="{FF2B5EF4-FFF2-40B4-BE49-F238E27FC236}">
                <a16:creationId xmlns:a16="http://schemas.microsoft.com/office/drawing/2014/main" id="{667F0F14-4220-46EE-AF06-3D27B8D068CA}"/>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3a1794bac5ed401d"/>
              </a:rPr>
              <a:t>Java: HeapDemo.java</a:t>
            </a:r>
          </a:p>
        </p:txBody>
      </p:sp>
    </p:spTree>
    <p:extLst>
      <p:ext uri="{BB962C8B-B14F-4D97-AF65-F5344CB8AC3E}">
        <p14:creationId xmlns:p14="http://schemas.microsoft.com/office/powerpoint/2010/main" val="20190626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9CA9F2-1AFD-4D04-BB49-1F768D7C794F}"/>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Deletion example: remove 62</a:t>
            </a:r>
          </a:p>
        </p:txBody>
      </p:sp>
      <p:sp>
        <p:nvSpPr>
          <p:cNvPr id="2" name="">
            <a:extLst xmlns:a="http://schemas.openxmlformats.org/drawingml/2006/main">
              <a:ext uri="{FF2B5EF4-FFF2-40B4-BE49-F238E27FC236}">
                <a16:creationId xmlns:a16="http://schemas.microsoft.com/office/drawing/2014/main" id="{553A2212-043E-4E2F-B758-3CE1DEDBE776}"/>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Save 62 as the return value. The last node contains 9.</a:t>
            </a:r>
          </a:p>
        </p:txBody>
      </p:sp>
      <p:sp>
        <p:nvSpPr>
          <p:cNvPr id="3" name="">
            <a:extLst xmlns:a="http://schemas.openxmlformats.org/drawingml/2006/main">
              <a:ext uri="{FF2B5EF4-FFF2-40B4-BE49-F238E27FC236}">
                <a16:creationId xmlns:a16="http://schemas.microsoft.com/office/drawing/2014/main" id="{2B36CED4-F3B2-42A4-811B-12DFBC983DCB}"/>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23</a:t>
            </a:r>
          </a:p>
        </p:txBody>
      </p:sp>
      <p:pic>
        <p:nvPicPr>
          <p:cNvPr id="4" name="">
            <a:extLst xmlns:a="http://schemas.openxmlformats.org/drawingml/2006/main">
              <a:ext uri="{FF2B5EF4-FFF2-40B4-BE49-F238E27FC236}">
                <a16:creationId xmlns:a16="http://schemas.microsoft.com/office/drawing/2014/main" id="{8D2B8B05-8EE8-466E-9BC2-25E26D6D2F86}"/>
              </a:ext>
            </a:extLst>
          </p:cNvPr>
          <p:cNvPicPr>
            <a:picLocks xmlns:a="http://schemas.openxmlformats.org/drawingml/2006/main" noChangeAspect="1"/>
          </p:cNvPicPr>
          <p:nvPr/>
        </p:nvPicPr>
        <p:blipFill>
          <a:blip xmlns:r="http://schemas.openxmlformats.org/officeDocument/2006/relationships" xmlns:a="http://schemas.openxmlformats.org/drawingml/2006/main" r:embed="Re3b286ca3a714213"/>
          <a:stretch xmlns:a="http://schemas.openxmlformats.org/drawingml/2006/main"/>
        </p:blipFill>
        <p:spPr>
          <a:xfrm xmlns:a="http://schemas.openxmlformats.org/drawingml/2006/main">
            <a:off x="3371422" y="2000250"/>
            <a:ext cx="544915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70EF59-C569-4E9B-B4FD-3414759BC651}"/>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761C7456-03EC-4495-9123-68B4B1818515}"/>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Finding the maximum and locating the last item each take O(1).</a:t>
            </a:r>
          </a:p>
        </p:txBody>
      </p:sp>
      <p:sp>
        <p:nvSpPr>
          <p:cNvPr id="8" name="local-java-HeapDemo">
            <a:extLst xmlns:a="http://schemas.openxmlformats.org/drawingml/2006/main">
              <a:ext uri="{FF2B5EF4-FFF2-40B4-BE49-F238E27FC236}">
                <a16:creationId xmlns:a16="http://schemas.microsoft.com/office/drawing/2014/main" id="{2ABC17B1-60E0-42C4-9A0C-58F4EFFE41E9}"/>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e83b582afcb244a5"/>
              </a:rPr>
              <a:t>Java: HeapDemo.java</a:t>
            </a:r>
          </a:p>
        </p:txBody>
      </p:sp>
    </p:spTree>
    <p:extLst>
      <p:ext uri="{BB962C8B-B14F-4D97-AF65-F5344CB8AC3E}">
        <p14:creationId xmlns:p14="http://schemas.microsoft.com/office/powerpoint/2010/main" val="20287066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6B6CB6-AC0F-47FD-91BB-04AEAD7CEBDE}"/>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Deletion example: move 9 to the root</a:t>
            </a:r>
          </a:p>
        </p:txBody>
      </p:sp>
      <p:sp>
        <p:nvSpPr>
          <p:cNvPr id="2" name="">
            <a:extLst xmlns:a="http://schemas.openxmlformats.org/drawingml/2006/main">
              <a:ext uri="{FF2B5EF4-FFF2-40B4-BE49-F238E27FC236}">
                <a16:creationId xmlns:a16="http://schemas.microsoft.com/office/drawing/2014/main" id="{99C05212-7653-4872-99F9-1F61D6CDFDDB}"/>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Remove the final node after moving its value.</a:t>
            </a:r>
          </a:p>
        </p:txBody>
      </p:sp>
      <p:sp>
        <p:nvSpPr>
          <p:cNvPr id="3" name="">
            <a:extLst xmlns:a="http://schemas.openxmlformats.org/drawingml/2006/main">
              <a:ext uri="{FF2B5EF4-FFF2-40B4-BE49-F238E27FC236}">
                <a16:creationId xmlns:a16="http://schemas.microsoft.com/office/drawing/2014/main" id="{C10145B6-CFE9-4BA2-B460-A687A44649B9}"/>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24</a:t>
            </a:r>
          </a:p>
        </p:txBody>
      </p:sp>
      <p:pic>
        <p:nvPicPr>
          <p:cNvPr id="4" name="">
            <a:extLst xmlns:a="http://schemas.openxmlformats.org/drawingml/2006/main">
              <a:ext uri="{FF2B5EF4-FFF2-40B4-BE49-F238E27FC236}">
                <a16:creationId xmlns:a16="http://schemas.microsoft.com/office/drawing/2014/main" id="{12C78AB0-3692-472E-83F2-88C3E461C7AB}"/>
              </a:ext>
            </a:extLst>
          </p:cNvPr>
          <p:cNvPicPr>
            <a:picLocks xmlns:a="http://schemas.openxmlformats.org/drawingml/2006/main" noChangeAspect="1"/>
          </p:cNvPicPr>
          <p:nvPr/>
        </p:nvPicPr>
        <p:blipFill>
          <a:blip xmlns:r="http://schemas.openxmlformats.org/officeDocument/2006/relationships" xmlns:a="http://schemas.openxmlformats.org/drawingml/2006/main" r:embed="R2b50cdaa53c64245"/>
          <a:stretch xmlns:a="http://schemas.openxmlformats.org/drawingml/2006/main"/>
        </p:blipFill>
        <p:spPr>
          <a:xfrm xmlns:a="http://schemas.openxmlformats.org/drawingml/2006/main">
            <a:off x="3371422" y="2000250"/>
            <a:ext cx="544915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79D7C4-2CDC-4313-AEF7-3D92FCA675C4}"/>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BF276F3C-4784-48EC-97B7-06B93979F819}"/>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The shape is complete. The root violates max-heap order.</a:t>
            </a:r>
          </a:p>
        </p:txBody>
      </p:sp>
      <p:sp>
        <p:nvSpPr>
          <p:cNvPr id="8" name="local-java-HeapDemo">
            <a:extLst xmlns:a="http://schemas.openxmlformats.org/drawingml/2006/main">
              <a:ext uri="{FF2B5EF4-FFF2-40B4-BE49-F238E27FC236}">
                <a16:creationId xmlns:a16="http://schemas.microsoft.com/office/drawing/2014/main" id="{9C3C462D-40CB-41E3-9F9C-A801B0B91B9B}"/>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ba6dfc258fcb46cb"/>
              </a:rPr>
              <a:t>Java: HeapDemo.java</a:t>
            </a:r>
          </a:p>
        </p:txBody>
      </p:sp>
    </p:spTree>
    <p:extLst>
      <p:ext uri="{BB962C8B-B14F-4D97-AF65-F5344CB8AC3E}">
        <p14:creationId xmlns:p14="http://schemas.microsoft.com/office/powerpoint/2010/main" val="12874136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D4C510-94C9-46CA-AA10-621790EB254A}"/>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Deletion example: swap 9 with 59</a:t>
            </a:r>
          </a:p>
        </p:txBody>
      </p:sp>
      <p:sp>
        <p:nvSpPr>
          <p:cNvPr id="2" name="">
            <a:extLst xmlns:a="http://schemas.openxmlformats.org/drawingml/2006/main">
              <a:ext uri="{FF2B5EF4-FFF2-40B4-BE49-F238E27FC236}">
                <a16:creationId xmlns:a16="http://schemas.microsoft.com/office/drawing/2014/main" id="{9BADA7E4-2923-4E39-9D2B-354EC29E793B}"/>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59 is the larger of the root’s children, 42 and 59.</a:t>
            </a:r>
          </a:p>
        </p:txBody>
      </p:sp>
      <p:sp>
        <p:nvSpPr>
          <p:cNvPr id="3" name="">
            <a:extLst xmlns:a="http://schemas.openxmlformats.org/drawingml/2006/main">
              <a:ext uri="{FF2B5EF4-FFF2-40B4-BE49-F238E27FC236}">
                <a16:creationId xmlns:a16="http://schemas.microsoft.com/office/drawing/2014/main" id="{6A6A2ED7-37BC-4D18-9073-F92F3029C06D}"/>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25</a:t>
            </a:r>
          </a:p>
        </p:txBody>
      </p:sp>
      <p:pic>
        <p:nvPicPr>
          <p:cNvPr id="4" name="">
            <a:extLst xmlns:a="http://schemas.openxmlformats.org/drawingml/2006/main">
              <a:ext uri="{FF2B5EF4-FFF2-40B4-BE49-F238E27FC236}">
                <a16:creationId xmlns:a16="http://schemas.microsoft.com/office/drawing/2014/main" id="{F39D7E7F-8D69-47D3-97EA-C3F3D49E25D5}"/>
              </a:ext>
            </a:extLst>
          </p:cNvPr>
          <p:cNvPicPr>
            <a:picLocks xmlns:a="http://schemas.openxmlformats.org/drawingml/2006/main" noChangeAspect="1"/>
          </p:cNvPicPr>
          <p:nvPr/>
        </p:nvPicPr>
        <p:blipFill>
          <a:blip xmlns:r="http://schemas.openxmlformats.org/officeDocument/2006/relationships" xmlns:a="http://schemas.openxmlformats.org/drawingml/2006/main" r:embed="R0109164b5066459e"/>
          <a:stretch xmlns:a="http://schemas.openxmlformats.org/drawingml/2006/main"/>
        </p:blipFill>
        <p:spPr>
          <a:xfrm xmlns:a="http://schemas.openxmlformats.org/drawingml/2006/main">
            <a:off x="3371422" y="2000250"/>
            <a:ext cx="544915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87AD05-E938-4599-AB54-486A06EA9896}"/>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B1F487B7-EC69-47AF-A907-5D15B19BF779}"/>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One sift-down step costs O(1). Continue from the new position of 9.</a:t>
            </a:r>
          </a:p>
        </p:txBody>
      </p:sp>
      <p:sp>
        <p:nvSpPr>
          <p:cNvPr id="8" name="local-java-HeapDemo">
            <a:extLst xmlns:a="http://schemas.openxmlformats.org/drawingml/2006/main">
              <a:ext uri="{FF2B5EF4-FFF2-40B4-BE49-F238E27FC236}">
                <a16:creationId xmlns:a16="http://schemas.microsoft.com/office/drawing/2014/main" id="{73E4E751-80B6-4D02-9E2F-6CA56A731676}"/>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dd62e207b1094f68"/>
              </a:rPr>
              <a:t>Java: HeapDemo.java</a:t>
            </a:r>
          </a:p>
        </p:txBody>
      </p:sp>
    </p:spTree>
    <p:extLst>
      <p:ext uri="{BB962C8B-B14F-4D97-AF65-F5344CB8AC3E}">
        <p14:creationId xmlns:p14="http://schemas.microsoft.com/office/powerpoint/2010/main" val="12293593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72B298-BFA6-4F65-A842-1A85D2C57360}"/>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Deletion example: swap 9 with 44</a:t>
            </a:r>
          </a:p>
        </p:txBody>
      </p:sp>
      <p:sp>
        <p:nvSpPr>
          <p:cNvPr id="2" name="">
            <a:extLst xmlns:a="http://schemas.openxmlformats.org/drawingml/2006/main">
              <a:ext uri="{FF2B5EF4-FFF2-40B4-BE49-F238E27FC236}">
                <a16:creationId xmlns:a16="http://schemas.microsoft.com/office/drawing/2014/main" id="{D75C5324-6827-4AD5-8CA5-F9460D335BE1}"/>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44 is the larger of 9’s children, 44 and 13.</a:t>
            </a:r>
          </a:p>
        </p:txBody>
      </p:sp>
      <p:sp>
        <p:nvSpPr>
          <p:cNvPr id="3" name="">
            <a:extLst xmlns:a="http://schemas.openxmlformats.org/drawingml/2006/main">
              <a:ext uri="{FF2B5EF4-FFF2-40B4-BE49-F238E27FC236}">
                <a16:creationId xmlns:a16="http://schemas.microsoft.com/office/drawing/2014/main" id="{959E6259-16C1-4560-9893-5D68CE0DC24B}"/>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26</a:t>
            </a:r>
          </a:p>
        </p:txBody>
      </p:sp>
      <p:pic>
        <p:nvPicPr>
          <p:cNvPr id="4" name="">
            <a:extLst xmlns:a="http://schemas.openxmlformats.org/drawingml/2006/main">
              <a:ext uri="{FF2B5EF4-FFF2-40B4-BE49-F238E27FC236}">
                <a16:creationId xmlns:a16="http://schemas.microsoft.com/office/drawing/2014/main" id="{99A966AC-7617-4410-97D3-EEBF9B0AE0D4}"/>
              </a:ext>
            </a:extLst>
          </p:cNvPr>
          <p:cNvPicPr>
            <a:picLocks xmlns:a="http://schemas.openxmlformats.org/drawingml/2006/main" noChangeAspect="1"/>
          </p:cNvPicPr>
          <p:nvPr/>
        </p:nvPicPr>
        <p:blipFill>
          <a:blip xmlns:r="http://schemas.openxmlformats.org/officeDocument/2006/relationships" xmlns:a="http://schemas.openxmlformats.org/drawingml/2006/main" r:embed="Ref9a9bc1103a4c96"/>
          <a:stretch xmlns:a="http://schemas.openxmlformats.org/drawingml/2006/main"/>
        </p:blipFill>
        <p:spPr>
          <a:xfrm xmlns:a="http://schemas.openxmlformats.org/drawingml/2006/main">
            <a:off x="3371422" y="2000250"/>
            <a:ext cx="544915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CD7666-4AAC-4759-B11B-FCFA61698854}"/>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0BB0FCF5-8B43-4E9D-9B44-8A778224F8E0}"/>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The possible violation moves down one level after each swap.</a:t>
            </a:r>
          </a:p>
        </p:txBody>
      </p:sp>
      <p:sp>
        <p:nvSpPr>
          <p:cNvPr id="8" name="local-java-HeapDemo">
            <a:extLst xmlns:a="http://schemas.openxmlformats.org/drawingml/2006/main">
              <a:ext uri="{FF2B5EF4-FFF2-40B4-BE49-F238E27FC236}">
                <a16:creationId xmlns:a16="http://schemas.microsoft.com/office/drawing/2014/main" id="{6142F4BC-BE7E-4D4B-A348-C44E878E53BF}"/>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30a1e30086954cc2"/>
              </a:rPr>
              <a:t>Java: HeapDemo.java</a:t>
            </a:r>
          </a:p>
        </p:txBody>
      </p:sp>
    </p:spTree>
    <p:extLst>
      <p:ext uri="{BB962C8B-B14F-4D97-AF65-F5344CB8AC3E}">
        <p14:creationId xmlns:p14="http://schemas.microsoft.com/office/powerpoint/2010/main" val="171936327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F42056-1CB6-48D7-9A59-42EA60C2F905}"/>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Deletion example: swap 9 with 30</a:t>
            </a:r>
          </a:p>
        </p:txBody>
      </p:sp>
      <p:sp>
        <p:nvSpPr>
          <p:cNvPr id="2" name="">
            <a:extLst xmlns:a="http://schemas.openxmlformats.org/drawingml/2006/main">
              <a:ext uri="{FF2B5EF4-FFF2-40B4-BE49-F238E27FC236}">
                <a16:creationId xmlns:a16="http://schemas.microsoft.com/office/drawing/2014/main" id="{8AEE3E8F-2C61-41EE-816B-48637B3355AA}"/>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30 is the larger child. After the swap, 9 reaches a leaf.</a:t>
            </a:r>
          </a:p>
        </p:txBody>
      </p:sp>
      <p:sp>
        <p:nvSpPr>
          <p:cNvPr id="3" name="">
            <a:extLst xmlns:a="http://schemas.openxmlformats.org/drawingml/2006/main">
              <a:ext uri="{FF2B5EF4-FFF2-40B4-BE49-F238E27FC236}">
                <a16:creationId xmlns:a16="http://schemas.microsoft.com/office/drawing/2014/main" id="{8CAD91E1-1AE9-481B-A8D1-955F74C51216}"/>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27</a:t>
            </a:r>
          </a:p>
        </p:txBody>
      </p:sp>
      <p:pic>
        <p:nvPicPr>
          <p:cNvPr id="4" name="">
            <a:extLst xmlns:a="http://schemas.openxmlformats.org/drawingml/2006/main">
              <a:ext uri="{FF2B5EF4-FFF2-40B4-BE49-F238E27FC236}">
                <a16:creationId xmlns:a16="http://schemas.microsoft.com/office/drawing/2014/main" id="{E71199CA-185F-4860-BA00-8927585AE633}"/>
              </a:ext>
            </a:extLst>
          </p:cNvPr>
          <p:cNvPicPr>
            <a:picLocks xmlns:a="http://schemas.openxmlformats.org/drawingml/2006/main" noChangeAspect="1"/>
          </p:cNvPicPr>
          <p:nvPr/>
        </p:nvPicPr>
        <p:blipFill>
          <a:blip xmlns:r="http://schemas.openxmlformats.org/officeDocument/2006/relationships" xmlns:a="http://schemas.openxmlformats.org/drawingml/2006/main" r:embed="Rf1c3234c37144b8c"/>
          <a:stretch xmlns:a="http://schemas.openxmlformats.org/drawingml/2006/main"/>
        </p:blipFill>
        <p:spPr>
          <a:xfrm xmlns:a="http://schemas.openxmlformats.org/drawingml/2006/main">
            <a:off x="3371422" y="2000250"/>
            <a:ext cx="544915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65D563-49C2-4927-82FD-743224E78EFE}"/>
              </a:ext>
            </a:extLst>
          </p:cNvPr>
          <p:cNvSpPr>
            <a:spLocks xmlns:a="http://schemas.openxmlformats.org/drawingml/2006/main" noGrp="1"/>
          </p:cNvSpPr>
          <p:nvPr/>
        </p:nvSpPr>
        <p:spPr>
          <a:xfrm xmlns:a="http://schemas.openxmlformats.org/drawingml/2006/main">
            <a:off x="5334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75569"/>
                </a:solidFill>
                <a:latin typeface="Aptos"/>
                <a:ea typeface="Aptos"/>
                <a:cs typeface="Aptos"/>
              </a:defRPr>
            </a:defPPr>
            <a:lvl1pPr>
              <a:buNone/>
              <a:defRPr sz="975" b="0">
                <a:solidFill>
                  <a:srgbClr val="475569"/>
                </a:solidFill>
                <a:latin typeface="Aptos"/>
                <a:ea typeface="Aptos"/>
                <a:cs typeface="Aptos"/>
              </a:defRPr>
            </a:lvl1pPr>
            <a:lvl2pPr>
              <a:buNone/>
              <a:defRPr sz="975" b="0">
                <a:solidFill>
                  <a:srgbClr val="475569"/>
                </a:solidFill>
                <a:latin typeface="Aptos"/>
                <a:ea typeface="Aptos"/>
                <a:cs typeface="Aptos"/>
              </a:defRPr>
            </a:lvl2pPr>
            <a:lvl3pPr>
              <a:buNone/>
              <a:defRPr sz="975" b="0">
                <a:solidFill>
                  <a:srgbClr val="475569"/>
                </a:solidFill>
                <a:latin typeface="Aptos"/>
                <a:ea typeface="Aptos"/>
                <a:cs typeface="Aptos"/>
              </a:defRPr>
            </a:lvl3pPr>
            <a:lvl4pPr>
              <a:buNone/>
              <a:defRPr sz="975" b="0">
                <a:solidFill>
                  <a:srgbClr val="475569"/>
                </a:solidFill>
                <a:latin typeface="Aptos"/>
                <a:ea typeface="Aptos"/>
                <a:cs typeface="Aptos"/>
              </a:defRPr>
            </a:lvl4pPr>
            <a:lvl5pPr>
              <a:buNone/>
              <a:defRPr sz="975" b="0">
                <a:solidFill>
                  <a:srgbClr val="475569"/>
                </a:solidFill>
                <a:latin typeface="Aptos"/>
                <a:ea typeface="Aptos"/>
                <a:cs typeface="Aptos"/>
              </a:defRPr>
            </a:lvl5pPr>
            <a:lvl6pPr>
              <a:buNone/>
              <a:defRPr sz="975" b="0">
                <a:solidFill>
                  <a:srgbClr val="475569"/>
                </a:solidFill>
                <a:latin typeface="Aptos"/>
                <a:ea typeface="Aptos"/>
                <a:cs typeface="Aptos"/>
              </a:defRPr>
            </a:lvl6pPr>
            <a:lvl7pPr>
              <a:buNone/>
              <a:defRPr sz="975" b="0">
                <a:solidFill>
                  <a:srgbClr val="475569"/>
                </a:solidFill>
                <a:latin typeface="Aptos"/>
                <a:ea typeface="Aptos"/>
                <a:cs typeface="Aptos"/>
              </a:defRPr>
            </a:lvl7pPr>
            <a:lvl8pPr>
              <a:buNone/>
              <a:defRPr sz="975" b="0">
                <a:solidFill>
                  <a:srgbClr val="475569"/>
                </a:solidFill>
                <a:latin typeface="Aptos"/>
                <a:ea typeface="Aptos"/>
                <a:cs typeface="Aptos"/>
              </a:defRPr>
            </a:lvl8pPr>
            <a:lvl9pPr>
              <a:buNone/>
              <a:defRPr sz="975" b="0">
                <a:solidFill>
                  <a:srgbClr val="475569"/>
                </a:solidFill>
                <a:latin typeface="Aptos"/>
                <a:ea typeface="Aptos"/>
                <a:cs typeface="Aptos"/>
              </a:defRPr>
            </a:lvl9pPr>
          </a:lstStyle>
          <a:p xmlns:a="http://schemas.openxmlformats.org/drawingml/2006/main">
            <a:pPr>
              <a:buNone/>
              <a:defRPr sz="975" b="0">
                <a:solidFill>
                  <a:srgbClr val="475569"/>
                </a:solidFill>
                <a:latin typeface="Aptos"/>
                <a:ea typeface="Aptos"/>
                <a:cs typeface="Aptos"/>
              </a:defRPr>
            </a:pPr>
            <a:r>
              <a:rPr sz="975" b="0">
                <a:solidFill>
                  <a:srgbClr val="475569"/>
                </a:solidFill>
                <a:latin typeface="Aptos"/>
                <a:ea typeface="Aptos"/>
                <a:cs typeface="Aptos"/>
              </a:rPr>
              <a:t>Original diagram: © 2011 Pearson Addison-Wesley</a:t>
            </a:r>
          </a:p>
        </p:txBody>
      </p:sp>
      <p:sp>
        <p:nvSpPr>
          <p:cNvPr id="6" name="">
            <a:extLst xmlns:a="http://schemas.openxmlformats.org/drawingml/2006/main">
              <a:ext uri="{FF2B5EF4-FFF2-40B4-BE49-F238E27FC236}">
                <a16:creationId xmlns:a16="http://schemas.microsoft.com/office/drawing/2014/main" id="{BA79CD6F-FA57-4938-AA33-E0A0BE863B22}"/>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Three swaps restore the heap. General worst-case time: O(log n).</a:t>
            </a:r>
          </a:p>
        </p:txBody>
      </p:sp>
      <p:sp>
        <p:nvSpPr>
          <p:cNvPr id="8" name="local-java-HeapDemo">
            <a:extLst xmlns:a="http://schemas.openxmlformats.org/drawingml/2006/main">
              <a:ext uri="{FF2B5EF4-FFF2-40B4-BE49-F238E27FC236}">
                <a16:creationId xmlns:a16="http://schemas.microsoft.com/office/drawing/2014/main" id="{9C02EA74-7CF1-47AB-AA45-367D19CC2C5C}"/>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d75efc41ed1b4ab2"/>
              </a:rPr>
              <a:t>Java: HeapDemo.java</a:t>
            </a:r>
          </a:p>
        </p:txBody>
      </p:sp>
    </p:spTree>
    <p:extLst>
      <p:ext uri="{BB962C8B-B14F-4D97-AF65-F5344CB8AC3E}">
        <p14:creationId xmlns:p14="http://schemas.microsoft.com/office/powerpoint/2010/main" val="12390806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26E205-013F-40B2-8342-053E36EB337D}"/>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Building a heap from n items</a:t>
            </a:r>
          </a:p>
        </p:txBody>
      </p:sp>
      <p:sp>
        <p:nvSpPr>
          <p:cNvPr id="2" name="">
            <a:extLst xmlns:a="http://schemas.openxmlformats.org/drawingml/2006/main">
              <a:ext uri="{FF2B5EF4-FFF2-40B4-BE49-F238E27FC236}">
                <a16:creationId xmlns:a16="http://schemas.microsoft.com/office/drawing/2014/main" id="{E3648399-615A-4BB6-B97A-85CBE13F7385}"/>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Bottom-up construction is faster than inserting every item separately.</a:t>
            </a:r>
          </a:p>
        </p:txBody>
      </p:sp>
      <p:sp>
        <p:nvSpPr>
          <p:cNvPr id="3" name="">
            <a:extLst xmlns:a="http://schemas.openxmlformats.org/drawingml/2006/main">
              <a:ext uri="{FF2B5EF4-FFF2-40B4-BE49-F238E27FC236}">
                <a16:creationId xmlns:a16="http://schemas.microsoft.com/office/drawing/2014/main" id="{8939AB01-5A40-4E0B-BBED-7FA6EB5CE2CA}"/>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C27B9DCF-FA22-4211-A410-48BB1A8E52CF}"/>
              </a:ext>
            </a:extLst>
          </p:cNvPr>
          <p:cNvSpPr>
            <a:spLocks xmlns:a="http://schemas.openxmlformats.org/drawingml/2006/main" noGrp="1"/>
          </p:cNvSpPr>
          <p:nvPr/>
        </p:nvSpPr>
        <p:spPr>
          <a:xfrm xmlns:a="http://schemas.openxmlformats.org/drawingml/2006/main">
            <a:off x="533400" y="21431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Consolas"/>
                <a:ea typeface="Consolas"/>
                <a:cs typeface="Consolas"/>
              </a:defRPr>
            </a:defPPr>
            <a:lvl1pPr>
              <a:buNone/>
              <a:defRPr sz="2175" b="0">
                <a:solidFill>
                  <a:srgbClr val="16324F"/>
                </a:solidFill>
                <a:latin typeface="Consolas"/>
                <a:ea typeface="Consolas"/>
                <a:cs typeface="Consolas"/>
              </a:defRPr>
            </a:lvl1pPr>
            <a:lvl2pPr>
              <a:buNone/>
              <a:defRPr sz="2175" b="0">
                <a:solidFill>
                  <a:srgbClr val="16324F"/>
                </a:solidFill>
                <a:latin typeface="Consolas"/>
                <a:ea typeface="Consolas"/>
                <a:cs typeface="Consolas"/>
              </a:defRPr>
            </a:lvl2pPr>
            <a:lvl3pPr>
              <a:buNone/>
              <a:defRPr sz="2175" b="0">
                <a:solidFill>
                  <a:srgbClr val="16324F"/>
                </a:solidFill>
                <a:latin typeface="Consolas"/>
                <a:ea typeface="Consolas"/>
                <a:cs typeface="Consolas"/>
              </a:defRPr>
            </a:lvl3pPr>
            <a:lvl4pPr>
              <a:buNone/>
              <a:defRPr sz="2175" b="0">
                <a:solidFill>
                  <a:srgbClr val="16324F"/>
                </a:solidFill>
                <a:latin typeface="Consolas"/>
                <a:ea typeface="Consolas"/>
                <a:cs typeface="Consolas"/>
              </a:defRPr>
            </a:lvl4pPr>
            <a:lvl5pPr>
              <a:buNone/>
              <a:defRPr sz="2175" b="0">
                <a:solidFill>
                  <a:srgbClr val="16324F"/>
                </a:solidFill>
                <a:latin typeface="Consolas"/>
                <a:ea typeface="Consolas"/>
                <a:cs typeface="Consolas"/>
              </a:defRPr>
            </a:lvl5pPr>
            <a:lvl6pPr>
              <a:buNone/>
              <a:defRPr sz="2175" b="0">
                <a:solidFill>
                  <a:srgbClr val="16324F"/>
                </a:solidFill>
                <a:latin typeface="Consolas"/>
                <a:ea typeface="Consolas"/>
                <a:cs typeface="Consolas"/>
              </a:defRPr>
            </a:lvl6pPr>
            <a:lvl7pPr>
              <a:buNone/>
              <a:defRPr sz="2175" b="0">
                <a:solidFill>
                  <a:srgbClr val="16324F"/>
                </a:solidFill>
                <a:latin typeface="Consolas"/>
                <a:ea typeface="Consolas"/>
                <a:cs typeface="Consolas"/>
              </a:defRPr>
            </a:lvl7pPr>
            <a:lvl8pPr>
              <a:buNone/>
              <a:defRPr sz="2175" b="0">
                <a:solidFill>
                  <a:srgbClr val="16324F"/>
                </a:solidFill>
                <a:latin typeface="Consolas"/>
                <a:ea typeface="Consolas"/>
                <a:cs typeface="Consolas"/>
              </a:defRPr>
            </a:lvl8pPr>
            <a:lvl9pPr>
              <a:buNone/>
              <a:defRPr sz="2175" b="0">
                <a:solidFill>
                  <a:srgbClr val="16324F"/>
                </a:solidFill>
                <a:latin typeface="Consolas"/>
                <a:ea typeface="Consolas"/>
                <a:cs typeface="Consolas"/>
              </a:defRPr>
            </a:lvl9pPr>
          </a:lstStyle>
          <a:p xmlns:a="http://schemas.openxmlformats.org/drawingml/2006/main">
            <a:pPr>
              <a:buNone/>
              <a:defRPr sz="2175" b="0">
                <a:solidFill>
                  <a:srgbClr val="16324F"/>
                </a:solidFill>
                <a:latin typeface="Consolas"/>
                <a:ea typeface="Consolas"/>
                <a:cs typeface="Consolas"/>
              </a:defRPr>
            </a:pPr>
            <a:r>
              <a:rPr sz="2175" b="0">
                <a:solidFill>
                  <a:srgbClr val="16324F"/>
                </a:solidFill>
                <a:latin typeface="Consolas"/>
                <a:ea typeface="Consolas"/>
                <a:cs typeface="Consolas"/>
              </a:rPr>
              <a:t>for (int i = list.size() / 2 - 1; i &gt;= 0; i--)</a:t>
            </a:r>
          </a:p>
          <a:p xmlns:a="http://schemas.openxmlformats.org/drawingml/2006/main">
            <a:pPr>
              <a:buNone/>
              <a:defRPr sz="2175" b="0">
                <a:solidFill>
                  <a:srgbClr val="16324F"/>
                </a:solidFill>
                <a:latin typeface="Consolas"/>
                <a:ea typeface="Consolas"/>
                <a:cs typeface="Consolas"/>
              </a:defRPr>
            </a:pPr>
            <a:r>
              <a:rPr sz="2175" b="0">
                <a:solidFill>
                  <a:srgbClr val="16324F"/>
                </a:solidFill>
                <a:latin typeface="Consolas"/>
                <a:ea typeface="Consolas"/>
                <a:cs typeface="Consolas"/>
              </a:rPr>
              <a:t>    heapRebuild(i);</a:t>
            </a:r>
          </a:p>
        </p:txBody>
      </p:sp>
      <p:sp>
        <p:nvSpPr>
          <p:cNvPr id="5" name="">
            <a:extLst xmlns:a="http://schemas.openxmlformats.org/drawingml/2006/main">
              <a:ext uri="{FF2B5EF4-FFF2-40B4-BE49-F238E27FC236}">
                <a16:creationId xmlns:a16="http://schemas.microsoft.com/office/drawing/2014/main" id="{5E689E2D-AD27-4357-BF70-816210544870}"/>
              </a:ext>
            </a:extLst>
          </p:cNvPr>
          <p:cNvSpPr>
            <a:spLocks xmlns:a="http://schemas.openxmlformats.org/drawingml/2006/main" noGrp="1"/>
          </p:cNvSpPr>
          <p:nvPr/>
        </p:nvSpPr>
        <p:spPr>
          <a:xfrm xmlns:a="http://schemas.openxmlformats.org/drawingml/2006/main">
            <a:off x="533400" y="34290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6324F"/>
                </a:solidFill>
                <a:latin typeface="Aptos"/>
                <a:ea typeface="Aptos"/>
                <a:cs typeface="Aptos"/>
              </a:defRPr>
            </a:defPPr>
            <a:lvl1pPr>
              <a:buNone/>
              <a:defRPr sz="2100" b="0">
                <a:solidFill>
                  <a:srgbClr val="16324F"/>
                </a:solidFill>
                <a:latin typeface="Aptos"/>
                <a:ea typeface="Aptos"/>
                <a:cs typeface="Aptos"/>
              </a:defRPr>
            </a:lvl1pPr>
            <a:lvl2pPr>
              <a:buNone/>
              <a:defRPr sz="2100" b="0">
                <a:solidFill>
                  <a:srgbClr val="16324F"/>
                </a:solidFill>
                <a:latin typeface="Aptos"/>
                <a:ea typeface="Aptos"/>
                <a:cs typeface="Aptos"/>
              </a:defRPr>
            </a:lvl2pPr>
            <a:lvl3pPr>
              <a:buNone/>
              <a:defRPr sz="2100" b="0">
                <a:solidFill>
                  <a:srgbClr val="16324F"/>
                </a:solidFill>
                <a:latin typeface="Aptos"/>
                <a:ea typeface="Aptos"/>
                <a:cs typeface="Aptos"/>
              </a:defRPr>
            </a:lvl3pPr>
            <a:lvl4pPr>
              <a:buNone/>
              <a:defRPr sz="2100" b="0">
                <a:solidFill>
                  <a:srgbClr val="16324F"/>
                </a:solidFill>
                <a:latin typeface="Aptos"/>
                <a:ea typeface="Aptos"/>
                <a:cs typeface="Aptos"/>
              </a:defRPr>
            </a:lvl4pPr>
            <a:lvl5pPr>
              <a:buNone/>
              <a:defRPr sz="2100" b="0">
                <a:solidFill>
                  <a:srgbClr val="16324F"/>
                </a:solidFill>
                <a:latin typeface="Aptos"/>
                <a:ea typeface="Aptos"/>
                <a:cs typeface="Aptos"/>
              </a:defRPr>
            </a:lvl5pPr>
            <a:lvl6pPr>
              <a:buNone/>
              <a:defRPr sz="2100" b="0">
                <a:solidFill>
                  <a:srgbClr val="16324F"/>
                </a:solidFill>
                <a:latin typeface="Aptos"/>
                <a:ea typeface="Aptos"/>
                <a:cs typeface="Aptos"/>
              </a:defRPr>
            </a:lvl6pPr>
            <a:lvl7pPr>
              <a:buNone/>
              <a:defRPr sz="2100" b="0">
                <a:solidFill>
                  <a:srgbClr val="16324F"/>
                </a:solidFill>
                <a:latin typeface="Aptos"/>
                <a:ea typeface="Aptos"/>
                <a:cs typeface="Aptos"/>
              </a:defRPr>
            </a:lvl7pPr>
            <a:lvl8pPr>
              <a:buNone/>
              <a:defRPr sz="2100" b="0">
                <a:solidFill>
                  <a:srgbClr val="16324F"/>
                </a:solidFill>
                <a:latin typeface="Aptos"/>
                <a:ea typeface="Aptos"/>
                <a:cs typeface="Aptos"/>
              </a:defRPr>
            </a:lvl8pPr>
            <a:lvl9pPr>
              <a:buNone/>
              <a:defRPr sz="2100" b="0">
                <a:solidFill>
                  <a:srgbClr val="16324F"/>
                </a:solidFill>
                <a:latin typeface="Aptos"/>
                <a:ea typeface="Aptos"/>
                <a:cs typeface="Aptos"/>
              </a:defRPr>
            </a:lvl9pPr>
          </a:lstStyle>
          <a:p xmlns:a="http://schemas.openxmlformats.org/drawingml/2006/main">
            <a:pPr>
              <a:buNone/>
              <a:defRPr sz="2100" b="0">
                <a:solidFill>
                  <a:srgbClr val="16324F"/>
                </a:solidFill>
                <a:latin typeface="Aptos"/>
                <a:ea typeface="Aptos"/>
                <a:cs typeface="Aptos"/>
              </a:defRPr>
            </a:pPr>
            <a:r>
              <a:rPr sz="2100" b="0">
                <a:solidFill>
                  <a:srgbClr val="16324F"/>
                </a:solidFill>
                <a:latin typeface="Aptos"/>
                <a:ea typeface="Aptos"/>
                <a:cs typeface="Aptos"/>
              </a:rPr>
              <a:t>Leaves already satisfy heap order. Start at the last internal node.</a:t>
            </a:r>
          </a:p>
        </p:txBody>
      </p:sp>
      <p:sp>
        <p:nvSpPr>
          <p:cNvPr id="6" name="">
            <a:extLst xmlns:a="http://schemas.openxmlformats.org/drawingml/2006/main">
              <a:ext uri="{FF2B5EF4-FFF2-40B4-BE49-F238E27FC236}">
                <a16:creationId xmlns:a16="http://schemas.microsoft.com/office/drawing/2014/main" id="{A1E869D8-540E-47EF-82A4-49CA07711526}"/>
              </a:ext>
            </a:extLst>
          </p:cNvPr>
          <p:cNvSpPr>
            <a:spLocks xmlns:a="http://schemas.openxmlformats.org/drawingml/2006/main" noGrp="1"/>
          </p:cNvSpPr>
          <p:nvPr/>
        </p:nvSpPr>
        <p:spPr>
          <a:xfrm xmlns:a="http://schemas.openxmlformats.org/drawingml/2006/main">
            <a:off x="533400" y="41433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6324F"/>
                </a:solidFill>
                <a:latin typeface="Aptos"/>
                <a:ea typeface="Aptos"/>
                <a:cs typeface="Aptos"/>
              </a:defRPr>
            </a:defPPr>
            <a:lvl1pPr>
              <a:buNone/>
              <a:defRPr sz="2100" b="0">
                <a:solidFill>
                  <a:srgbClr val="16324F"/>
                </a:solidFill>
                <a:latin typeface="Aptos"/>
                <a:ea typeface="Aptos"/>
                <a:cs typeface="Aptos"/>
              </a:defRPr>
            </a:lvl1pPr>
            <a:lvl2pPr>
              <a:buNone/>
              <a:defRPr sz="2100" b="0">
                <a:solidFill>
                  <a:srgbClr val="16324F"/>
                </a:solidFill>
                <a:latin typeface="Aptos"/>
                <a:ea typeface="Aptos"/>
                <a:cs typeface="Aptos"/>
              </a:defRPr>
            </a:lvl2pPr>
            <a:lvl3pPr>
              <a:buNone/>
              <a:defRPr sz="2100" b="0">
                <a:solidFill>
                  <a:srgbClr val="16324F"/>
                </a:solidFill>
                <a:latin typeface="Aptos"/>
                <a:ea typeface="Aptos"/>
                <a:cs typeface="Aptos"/>
              </a:defRPr>
            </a:lvl3pPr>
            <a:lvl4pPr>
              <a:buNone/>
              <a:defRPr sz="2100" b="0">
                <a:solidFill>
                  <a:srgbClr val="16324F"/>
                </a:solidFill>
                <a:latin typeface="Aptos"/>
                <a:ea typeface="Aptos"/>
                <a:cs typeface="Aptos"/>
              </a:defRPr>
            </a:lvl4pPr>
            <a:lvl5pPr>
              <a:buNone/>
              <a:defRPr sz="2100" b="0">
                <a:solidFill>
                  <a:srgbClr val="16324F"/>
                </a:solidFill>
                <a:latin typeface="Aptos"/>
                <a:ea typeface="Aptos"/>
                <a:cs typeface="Aptos"/>
              </a:defRPr>
            </a:lvl5pPr>
            <a:lvl6pPr>
              <a:buNone/>
              <a:defRPr sz="2100" b="0">
                <a:solidFill>
                  <a:srgbClr val="16324F"/>
                </a:solidFill>
                <a:latin typeface="Aptos"/>
                <a:ea typeface="Aptos"/>
                <a:cs typeface="Aptos"/>
              </a:defRPr>
            </a:lvl6pPr>
            <a:lvl7pPr>
              <a:buNone/>
              <a:defRPr sz="2100" b="0">
                <a:solidFill>
                  <a:srgbClr val="16324F"/>
                </a:solidFill>
                <a:latin typeface="Aptos"/>
                <a:ea typeface="Aptos"/>
                <a:cs typeface="Aptos"/>
              </a:defRPr>
            </a:lvl7pPr>
            <a:lvl8pPr>
              <a:buNone/>
              <a:defRPr sz="2100" b="0">
                <a:solidFill>
                  <a:srgbClr val="16324F"/>
                </a:solidFill>
                <a:latin typeface="Aptos"/>
                <a:ea typeface="Aptos"/>
                <a:cs typeface="Aptos"/>
              </a:defRPr>
            </a:lvl8pPr>
            <a:lvl9pPr>
              <a:buNone/>
              <a:defRPr sz="2100" b="0">
                <a:solidFill>
                  <a:srgbClr val="16324F"/>
                </a:solidFill>
                <a:latin typeface="Aptos"/>
                <a:ea typeface="Aptos"/>
                <a:cs typeface="Aptos"/>
              </a:defRPr>
            </a:lvl9pPr>
          </a:lstStyle>
          <a:p xmlns:a="http://schemas.openxmlformats.org/drawingml/2006/main">
            <a:pPr>
              <a:buNone/>
              <a:defRPr sz="2100" b="0">
                <a:solidFill>
                  <a:srgbClr val="16324F"/>
                </a:solidFill>
                <a:latin typeface="Aptos"/>
                <a:ea typeface="Aptos"/>
                <a:cs typeface="Aptos"/>
              </a:defRPr>
            </a:pPr>
            <a:r>
              <a:rPr sz="2100" b="0">
                <a:solidFill>
                  <a:srgbClr val="16324F"/>
                </a:solidFill>
                <a:latin typeface="Aptos"/>
                <a:ea typeface="Aptos"/>
                <a:cs typeface="Aptos"/>
              </a:rPr>
              <a:t>Most nodes are near the leaves and move only a short distance.</a:t>
            </a:r>
          </a:p>
        </p:txBody>
      </p:sp>
      <p:sp>
        <p:nvSpPr>
          <p:cNvPr id="7" name="">
            <a:extLst xmlns:a="http://schemas.openxmlformats.org/drawingml/2006/main">
              <a:ext uri="{FF2B5EF4-FFF2-40B4-BE49-F238E27FC236}">
                <a16:creationId xmlns:a16="http://schemas.microsoft.com/office/drawing/2014/main" id="{CCC9FDEC-6036-442C-ABB6-73737F893272}"/>
              </a:ext>
            </a:extLst>
          </p:cNvPr>
          <p:cNvSpPr>
            <a:spLocks xmlns:a="http://schemas.openxmlformats.org/drawingml/2006/main" noGrp="1"/>
          </p:cNvSpPr>
          <p:nvPr/>
        </p:nvSpPr>
        <p:spPr>
          <a:xfrm xmlns:a="http://schemas.openxmlformats.org/drawingml/2006/main">
            <a:off x="533400" y="48577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6324F"/>
                </a:solidFill>
                <a:latin typeface="Aptos"/>
                <a:ea typeface="Aptos"/>
                <a:cs typeface="Aptos"/>
              </a:defRPr>
            </a:defPPr>
            <a:lvl1pPr>
              <a:buNone/>
              <a:defRPr sz="2100" b="0">
                <a:solidFill>
                  <a:srgbClr val="16324F"/>
                </a:solidFill>
                <a:latin typeface="Aptos"/>
                <a:ea typeface="Aptos"/>
                <a:cs typeface="Aptos"/>
              </a:defRPr>
            </a:lvl1pPr>
            <a:lvl2pPr>
              <a:buNone/>
              <a:defRPr sz="2100" b="0">
                <a:solidFill>
                  <a:srgbClr val="16324F"/>
                </a:solidFill>
                <a:latin typeface="Aptos"/>
                <a:ea typeface="Aptos"/>
                <a:cs typeface="Aptos"/>
              </a:defRPr>
            </a:lvl2pPr>
            <a:lvl3pPr>
              <a:buNone/>
              <a:defRPr sz="2100" b="0">
                <a:solidFill>
                  <a:srgbClr val="16324F"/>
                </a:solidFill>
                <a:latin typeface="Aptos"/>
                <a:ea typeface="Aptos"/>
                <a:cs typeface="Aptos"/>
              </a:defRPr>
            </a:lvl3pPr>
            <a:lvl4pPr>
              <a:buNone/>
              <a:defRPr sz="2100" b="0">
                <a:solidFill>
                  <a:srgbClr val="16324F"/>
                </a:solidFill>
                <a:latin typeface="Aptos"/>
                <a:ea typeface="Aptos"/>
                <a:cs typeface="Aptos"/>
              </a:defRPr>
            </a:lvl4pPr>
            <a:lvl5pPr>
              <a:buNone/>
              <a:defRPr sz="2100" b="0">
                <a:solidFill>
                  <a:srgbClr val="16324F"/>
                </a:solidFill>
                <a:latin typeface="Aptos"/>
                <a:ea typeface="Aptos"/>
                <a:cs typeface="Aptos"/>
              </a:defRPr>
            </a:lvl5pPr>
            <a:lvl6pPr>
              <a:buNone/>
              <a:defRPr sz="2100" b="0">
                <a:solidFill>
                  <a:srgbClr val="16324F"/>
                </a:solidFill>
                <a:latin typeface="Aptos"/>
                <a:ea typeface="Aptos"/>
                <a:cs typeface="Aptos"/>
              </a:defRPr>
            </a:lvl6pPr>
            <a:lvl7pPr>
              <a:buNone/>
              <a:defRPr sz="2100" b="0">
                <a:solidFill>
                  <a:srgbClr val="16324F"/>
                </a:solidFill>
                <a:latin typeface="Aptos"/>
                <a:ea typeface="Aptos"/>
                <a:cs typeface="Aptos"/>
              </a:defRPr>
            </a:lvl7pPr>
            <a:lvl8pPr>
              <a:buNone/>
              <a:defRPr sz="2100" b="0">
                <a:solidFill>
                  <a:srgbClr val="16324F"/>
                </a:solidFill>
                <a:latin typeface="Aptos"/>
                <a:ea typeface="Aptos"/>
                <a:cs typeface="Aptos"/>
              </a:defRPr>
            </a:lvl8pPr>
            <a:lvl9pPr>
              <a:buNone/>
              <a:defRPr sz="2100" b="0">
                <a:solidFill>
                  <a:srgbClr val="16324F"/>
                </a:solidFill>
                <a:latin typeface="Aptos"/>
                <a:ea typeface="Aptos"/>
                <a:cs typeface="Aptos"/>
              </a:defRPr>
            </a:lvl9pPr>
          </a:lstStyle>
          <a:p xmlns:a="http://schemas.openxmlformats.org/drawingml/2006/main">
            <a:pPr>
              <a:buNone/>
              <a:defRPr sz="2100" b="0">
                <a:solidFill>
                  <a:srgbClr val="16324F"/>
                </a:solidFill>
                <a:latin typeface="Aptos"/>
                <a:ea typeface="Aptos"/>
                <a:cs typeface="Aptos"/>
              </a:defRPr>
            </a:pPr>
            <a:r>
              <a:rPr sz="2100" b="0">
                <a:solidFill>
                  <a:srgbClr val="16324F"/>
                </a:solidFill>
                <a:latin typeface="Aptos"/>
                <a:ea typeface="Aptos"/>
                <a:cs typeface="Aptos"/>
              </a:rPr>
              <a:t>Total work: n/4 + 2n/8 + 3n/16 + … = O(n).</a:t>
            </a:r>
          </a:p>
        </p:txBody>
      </p:sp>
      <p:sp>
        <p:nvSpPr>
          <p:cNvPr id="8" name="">
            <a:extLst xmlns:a="http://schemas.openxmlformats.org/drawingml/2006/main">
              <a:ext uri="{FF2B5EF4-FFF2-40B4-BE49-F238E27FC236}">
                <a16:creationId xmlns:a16="http://schemas.microsoft.com/office/drawing/2014/main" id="{168B0F48-9132-4CE6-AB74-1A22DF5334B9}"/>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Bottom-up build: O(n). Repeated insertion: O(n log n) worst-case.</a:t>
            </a:r>
          </a:p>
        </p:txBody>
      </p:sp>
      <p:sp>
        <p:nvSpPr>
          <p:cNvPr id="10" name="local-java-MaxHeap">
            <a:extLst xmlns:a="http://schemas.openxmlformats.org/drawingml/2006/main">
              <a:ext uri="{FF2B5EF4-FFF2-40B4-BE49-F238E27FC236}">
                <a16:creationId xmlns:a16="http://schemas.microsoft.com/office/drawing/2014/main" id="{CC2A254D-CFE4-4A97-94C4-2B649C2F91B4}"/>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c0046273a4cc4c16"/>
              </a:rPr>
              <a:t>Java: MaxHeap.java</a:t>
            </a:r>
          </a:p>
        </p:txBody>
      </p:sp>
      <p:sp>
        <p:nvSpPr>
          <p:cNvPr id="11" name="local-java-HeapDemo">
            <a:extLst xmlns:a="http://schemas.openxmlformats.org/drawingml/2006/main">
              <a:ext uri="{FF2B5EF4-FFF2-40B4-BE49-F238E27FC236}">
                <a16:creationId xmlns:a16="http://schemas.microsoft.com/office/drawing/2014/main" id="{C232DAFA-8E5B-4350-8898-7C0821C27B4B}"/>
              </a:ext>
            </a:extLst>
          </p:cNvPr>
          <p:cNvSpPr>
            <a:spLocks xmlns:a="http://schemas.openxmlformats.org/drawingml/2006/main" noGrp="1"/>
          </p:cNvSpPr>
          <p:nvPr/>
        </p:nvSpPr>
        <p:spPr>
          <a:xfrm xmlns:a="http://schemas.openxmlformats.org/drawingml/2006/main">
            <a:off x="422910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0e5101167f68405f"/>
              </a:rPr>
              <a:t>Java: HeapDemo.java</a:t>
            </a:r>
          </a:p>
        </p:txBody>
      </p:sp>
    </p:spTree>
    <p:extLst>
      <p:ext uri="{BB962C8B-B14F-4D97-AF65-F5344CB8AC3E}">
        <p14:creationId xmlns:p14="http://schemas.microsoft.com/office/powerpoint/2010/main" val="87242808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2582C3-6470-42B5-91E3-A83527383415}"/>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A heap-backed priority queue</a:t>
            </a:r>
          </a:p>
        </p:txBody>
      </p:sp>
      <p:sp>
        <p:nvSpPr>
          <p:cNvPr id="2" name="">
            <a:extLst xmlns:a="http://schemas.openxmlformats.org/drawingml/2006/main">
              <a:ext uri="{FF2B5EF4-FFF2-40B4-BE49-F238E27FC236}">
                <a16:creationId xmlns:a16="http://schemas.microsoft.com/office/drawing/2014/main" id="{C5CBA93E-5D40-40DD-8389-ED3B63E99F93}"/>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Use the priority as the comparison key. Reverse comparisons for a min-heap.</a:t>
            </a:r>
          </a:p>
        </p:txBody>
      </p:sp>
      <p:sp>
        <p:nvSpPr>
          <p:cNvPr id="3" name="">
            <a:extLst xmlns:a="http://schemas.openxmlformats.org/drawingml/2006/main">
              <a:ext uri="{FF2B5EF4-FFF2-40B4-BE49-F238E27FC236}">
                <a16:creationId xmlns:a16="http://schemas.microsoft.com/office/drawing/2014/main" id="{22D03CB7-C08D-4560-B64A-C9C5E51248EA}"/>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29</a:t>
            </a:r>
          </a:p>
        </p:txBody>
      </p:sp>
      <p:graphicFrame>
        <p:nvGraphicFramePr>
          <p:cNvPr id="4" name="">
            <a:extLst xmlns:a="http://schemas.openxmlformats.org/drawingml/2006/main">
              <a:ext uri="{FF2B5EF4-FFF2-40B4-BE49-F238E27FC236}">
                <a16:creationId xmlns:a16="http://schemas.microsoft.com/office/drawing/2014/main" id="{84CD9600-6306-4FFB-AECC-2A677AE4CD71}"/>
              </a:ext>
            </a:extLst>
          </p:cNvPr>
          <p:cNvGraphicFramePr/>
          <p:nvPr/>
        </p:nvGraphicFramePr>
        <p:xfrm>
          <a:off xmlns:a="http://schemas.openxmlformats.org/drawingml/2006/main" x="533400" y="2000250"/>
          <a:ext xmlns:a="http://schemas.openxmlformats.org/drawingml/2006/main" cx="11125200" cy="3143250"/>
        </p:xfrm>
        <a:graphic xmlns:a="http://schemas.openxmlformats.org/drawingml/2006/main">
          <a:graphicData uri="http://schemas.openxmlformats.org/drawingml/2006/table">
            <a:tbl>
              <a:tblPr/>
              <a:tblGrid>
                <a:gridCol w="4000500"/>
                <a:gridCol w="4286250"/>
                <a:gridCol w="2838450"/>
              </a:tblGrid>
              <a:tr h="523875">
                <a:tc>
                  <a:txBody>
                    <a:bodyPr/>
                    <a:lstStyle/>
                    <a:p>
                      <a:r>
                        <a:rPr sz="1950" b="1">
                          <a:solidFill>
                            <a:srgbClr val="FFFFFF"/>
                          </a:solidFill>
                          <a:latin typeface="Aptos"/>
                          <a:ea typeface="Aptos"/>
                          <a:cs typeface="Aptos"/>
                        </a:rPr>
                        <a:t>Priority queue operation</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1950" b="1">
                          <a:solidFill>
                            <a:srgbClr val="FFFFFF"/>
                          </a:solidFill>
                          <a:latin typeface="Aptos"/>
                          <a:ea typeface="Aptos"/>
                          <a:cs typeface="Aptos"/>
                        </a:rPr>
                        <a:t>Heap action</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1950" b="1">
                          <a:solidFill>
                            <a:srgbClr val="FFFFFF"/>
                          </a:solidFill>
                          <a:latin typeface="Aptos"/>
                          <a:ea typeface="Aptos"/>
                          <a:cs typeface="Aptos"/>
                        </a:rPr>
                        <a:t>Time</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523875">
                <a:tc>
                  <a:txBody>
                    <a:bodyPr/>
                    <a:lstStyle/>
                    <a:p>
                      <a:r>
                        <a:rPr sz="1950" b="0">
                          <a:solidFill>
                            <a:srgbClr val="16324F"/>
                          </a:solidFill>
                          <a:latin typeface="Aptos"/>
                          <a:ea typeface="Aptos"/>
                          <a:cs typeface="Aptos"/>
                        </a:rPr>
                        <a:t>add(item)</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Append and sift up</a:t>
                      </a:r>
                    </a:p>
                  </a:txBody>
                  <a:tcPr marL="91440" marR="91440" marT="45720" marB="45720">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1F6F8"/>
                    </a:solidFill>
                  </a:tcPr>
                </a:tc>
              </a:tr>
              <a:tr h="523875">
                <a:tc>
                  <a:txBody>
                    <a:bodyPr/>
                    <a:lstStyle/>
                    <a:p>
                      <a:r>
                        <a:rPr sz="1950" b="0">
                          <a:solidFill>
                            <a:srgbClr val="16324F"/>
                          </a:solidFill>
                          <a:latin typeface="Aptos"/>
                          <a:ea typeface="Aptos"/>
                          <a:cs typeface="Aptos"/>
                        </a:rPr>
                        <a:t>peek()</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Read index 0</a:t>
                      </a:r>
                    </a:p>
                  </a:txBody>
                  <a:tcPr marL="91440" marR="91440" marT="45720" marB="45720">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O(1)</a:t>
                      </a:r>
                    </a:p>
                  </a:txBody>
                  <a:tcPr marL="91440" marR="91440" marT="45720" marB="45720">
                    <a:lnR w="9525">
                      <a:solidFill>
                        <a:srgbClr val="D9E3E8"/>
                      </a:solidFill>
                    </a:lnR>
                    <a:lnB w="9525">
                      <a:solidFill>
                        <a:srgbClr val="D9E3E8"/>
                      </a:solidFill>
                    </a:lnB>
                    <a:solidFill>
                      <a:srgbClr val="FFFFFF"/>
                    </a:solidFill>
                  </a:tcPr>
                </a:tc>
              </a:tr>
              <a:tr h="523875">
                <a:tc>
                  <a:txBody>
                    <a:bodyPr/>
                    <a:lstStyle/>
                    <a:p>
                      <a:r>
                        <a:rPr sz="1950" b="0">
                          <a:solidFill>
                            <a:srgbClr val="16324F"/>
                          </a:solidFill>
                          <a:latin typeface="Aptos"/>
                          <a:ea typeface="Aptos"/>
                          <a:cs typeface="Aptos"/>
                        </a:rPr>
                        <a:t>remove()</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Replace root, sift down</a:t>
                      </a:r>
                    </a:p>
                  </a:txBody>
                  <a:tcPr marL="91440" marR="91440" marT="45720" marB="45720">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1F6F8"/>
                    </a:solidFill>
                  </a:tcPr>
                </a:tc>
              </a:tr>
              <a:tr h="523875">
                <a:tc>
                  <a:txBody>
                    <a:bodyPr/>
                    <a:lstStyle/>
                    <a:p>
                      <a:r>
                        <a:rPr sz="1950" b="0">
                          <a:solidFill>
                            <a:srgbClr val="16324F"/>
                          </a:solidFill>
                          <a:latin typeface="Aptos"/>
                          <a:ea typeface="Aptos"/>
                          <a:cs typeface="Aptos"/>
                        </a:rPr>
                        <a:t>size() / isEmpty()</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Read stored count</a:t>
                      </a:r>
                    </a:p>
                  </a:txBody>
                  <a:tcPr marL="91440" marR="91440" marT="45720" marB="45720">
                    <a:lnR w="9525">
                      <a:solidFill>
                        <a:srgbClr val="D9E3E8"/>
                      </a:solidFill>
                    </a:lnR>
                    <a:lnB w="9525">
                      <a:solidFill>
                        <a:srgbClr val="D9E3E8"/>
                      </a:solidFill>
                    </a:lnB>
                    <a:solidFill>
                      <a:srgbClr val="FFFFFF"/>
                    </a:solidFill>
                  </a:tcPr>
                </a:tc>
                <a:tc>
                  <a:txBody>
                    <a:bodyPr/>
                    <a:lstStyle/>
                    <a:p>
                      <a:r>
                        <a:rPr sz="1950" b="0">
                          <a:solidFill>
                            <a:srgbClr val="16324F"/>
                          </a:solidFill>
                          <a:latin typeface="Aptos"/>
                          <a:ea typeface="Aptos"/>
                          <a:cs typeface="Aptos"/>
                        </a:rPr>
                        <a:t>O(1)</a:t>
                      </a:r>
                    </a:p>
                  </a:txBody>
                  <a:tcPr marL="91440" marR="91440" marT="45720" marB="45720">
                    <a:lnR w="9525">
                      <a:solidFill>
                        <a:srgbClr val="D9E3E8"/>
                      </a:solidFill>
                    </a:lnR>
                    <a:lnB w="9525">
                      <a:solidFill>
                        <a:srgbClr val="D9E3E8"/>
                      </a:solidFill>
                    </a:lnB>
                    <a:solidFill>
                      <a:srgbClr val="FFFFFF"/>
                    </a:solidFill>
                  </a:tcPr>
                </a:tc>
              </a:tr>
              <a:tr h="523875">
                <a:tc>
                  <a:txBody>
                    <a:bodyPr/>
                    <a:lstStyle/>
                    <a:p>
                      <a:r>
                        <a:rPr sz="1950" b="0">
                          <a:solidFill>
                            <a:srgbClr val="16324F"/>
                          </a:solidFill>
                          <a:latin typeface="Aptos"/>
                          <a:ea typeface="Aptos"/>
                          <a:cs typeface="Aptos"/>
                        </a:rPr>
                        <a:t>clear()</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Release n references</a:t>
                      </a:r>
                    </a:p>
                  </a:txBody>
                  <a:tcPr marL="91440" marR="91440" marT="45720" marB="45720">
                    <a:lnR w="9525">
                      <a:solidFill>
                        <a:srgbClr val="D9E3E8"/>
                      </a:solidFill>
                    </a:lnR>
                    <a:lnB w="9525">
                      <a:solidFill>
                        <a:srgbClr val="D9E3E8"/>
                      </a:solidFill>
                    </a:lnB>
                    <a:solidFill>
                      <a:srgbClr val="F1F6F8"/>
                    </a:solidFill>
                  </a:tcPr>
                </a:tc>
                <a:tc>
                  <a:txBody>
                    <a:bodyPr/>
                    <a:lstStyle/>
                    <a:p>
                      <a:r>
                        <a:rPr sz="1950" b="0">
                          <a:solidFill>
                            <a:srgbClr val="16324F"/>
                          </a:solidFill>
                          <a:latin typeface="Aptos"/>
                          <a:ea typeface="Aptos"/>
                          <a:cs typeface="Aptos"/>
                        </a:rPr>
                        <a:t>O(n)</a:t>
                      </a:r>
                    </a:p>
                  </a:txBody>
                  <a:tcPr marL="91440" marR="91440" marT="45720" marB="45720">
                    <a:lnR w="9525">
                      <a:solidFill>
                        <a:srgbClr val="D9E3E8"/>
                      </a:solidFill>
                    </a:lnR>
                    <a:lnB w="9525">
                      <a:solidFill>
                        <a:srgbClr val="D9E3E8"/>
                      </a:solidFill>
                    </a:lnB>
                    <a:solidFill>
                      <a:srgbClr val="F1F6F8"/>
                    </a:solidFill>
                  </a:tcPr>
                </a:tc>
              </a:tr>
            </a:tbl>
          </a:graphicData>
        </a:graphic>
      </p:graphicFrame>
      <p:sp>
        <p:nvSpPr>
          <p:cNvPr id="5" name="">
            <a:extLst xmlns:a="http://schemas.openxmlformats.org/drawingml/2006/main">
              <a:ext uri="{FF2B5EF4-FFF2-40B4-BE49-F238E27FC236}">
                <a16:creationId xmlns:a16="http://schemas.microsoft.com/office/drawing/2014/main" id="{F28ED14B-F595-4730-AEAA-D104353E1D5F}"/>
              </a:ext>
            </a:extLst>
          </p:cNvPr>
          <p:cNvSpPr>
            <a:spLocks xmlns:a="http://schemas.openxmlformats.org/drawingml/2006/main" noGrp="1"/>
          </p:cNvSpPr>
          <p:nvPr/>
        </p:nvSpPr>
        <p:spPr>
          <a:xfrm xmlns:a="http://schemas.openxmlformats.org/drawingml/2006/main">
            <a:off x="533400" y="53816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75569"/>
                </a:solidFill>
                <a:latin typeface="Aptos"/>
                <a:ea typeface="Aptos"/>
                <a:cs typeface="Aptos"/>
              </a:defRPr>
            </a:defPPr>
            <a:lvl1pPr>
              <a:buNone/>
              <a:defRPr sz="1800" b="0">
                <a:solidFill>
                  <a:srgbClr val="475569"/>
                </a:solidFill>
                <a:latin typeface="Aptos"/>
                <a:ea typeface="Aptos"/>
                <a:cs typeface="Aptos"/>
              </a:defRPr>
            </a:lvl1pPr>
            <a:lvl2pPr>
              <a:buNone/>
              <a:defRPr sz="1800" b="0">
                <a:solidFill>
                  <a:srgbClr val="475569"/>
                </a:solidFill>
                <a:latin typeface="Aptos"/>
                <a:ea typeface="Aptos"/>
                <a:cs typeface="Aptos"/>
              </a:defRPr>
            </a:lvl2pPr>
            <a:lvl3pPr>
              <a:buNone/>
              <a:defRPr sz="1800" b="0">
                <a:solidFill>
                  <a:srgbClr val="475569"/>
                </a:solidFill>
                <a:latin typeface="Aptos"/>
                <a:ea typeface="Aptos"/>
                <a:cs typeface="Aptos"/>
              </a:defRPr>
            </a:lvl3pPr>
            <a:lvl4pPr>
              <a:buNone/>
              <a:defRPr sz="1800" b="0">
                <a:solidFill>
                  <a:srgbClr val="475569"/>
                </a:solidFill>
                <a:latin typeface="Aptos"/>
                <a:ea typeface="Aptos"/>
                <a:cs typeface="Aptos"/>
              </a:defRPr>
            </a:lvl4pPr>
            <a:lvl5pPr>
              <a:buNone/>
              <a:defRPr sz="1800" b="0">
                <a:solidFill>
                  <a:srgbClr val="475569"/>
                </a:solidFill>
                <a:latin typeface="Aptos"/>
                <a:ea typeface="Aptos"/>
                <a:cs typeface="Aptos"/>
              </a:defRPr>
            </a:lvl5pPr>
            <a:lvl6pPr>
              <a:buNone/>
              <a:defRPr sz="1800" b="0">
                <a:solidFill>
                  <a:srgbClr val="475569"/>
                </a:solidFill>
                <a:latin typeface="Aptos"/>
                <a:ea typeface="Aptos"/>
                <a:cs typeface="Aptos"/>
              </a:defRPr>
            </a:lvl6pPr>
            <a:lvl7pPr>
              <a:buNone/>
              <a:defRPr sz="1800" b="0">
                <a:solidFill>
                  <a:srgbClr val="475569"/>
                </a:solidFill>
                <a:latin typeface="Aptos"/>
                <a:ea typeface="Aptos"/>
                <a:cs typeface="Aptos"/>
              </a:defRPr>
            </a:lvl7pPr>
            <a:lvl8pPr>
              <a:buNone/>
              <a:defRPr sz="1800" b="0">
                <a:solidFill>
                  <a:srgbClr val="475569"/>
                </a:solidFill>
                <a:latin typeface="Aptos"/>
                <a:ea typeface="Aptos"/>
                <a:cs typeface="Aptos"/>
              </a:defRPr>
            </a:lvl8pPr>
            <a:lvl9pPr>
              <a:buNone/>
              <a:defRPr sz="1800" b="0">
                <a:solidFill>
                  <a:srgbClr val="475569"/>
                </a:solidFill>
                <a:latin typeface="Aptos"/>
                <a:ea typeface="Aptos"/>
                <a:cs typeface="Aptos"/>
              </a:defRPr>
            </a:lvl9pPr>
          </a:lstStyle>
          <a:p xmlns:a="http://schemas.openxmlformats.org/drawingml/2006/main">
            <a:pPr>
              <a:buNone/>
              <a:defRPr sz="1800" b="0">
                <a:solidFill>
                  <a:srgbClr val="475569"/>
                </a:solidFill>
                <a:latin typeface="Aptos"/>
                <a:ea typeface="Aptos"/>
                <a:cs typeface="Aptos"/>
              </a:defRPr>
            </a:pPr>
            <a:r>
              <a:rPr sz="1800" b="0">
                <a:solidFill>
                  <a:srgbClr val="475569"/>
                </a:solidFill>
                <a:latin typeface="Aptos"/>
                <a:ea typeface="Aptos"/>
                <a:cs typeface="Aptos"/>
              </a:rPr>
              <a:t>*Amortized with geometric array growth. A resizing insertion can take O(n).</a:t>
            </a:r>
          </a:p>
        </p:txBody>
      </p:sp>
      <p:sp>
        <p:nvSpPr>
          <p:cNvPr id="7" name="local-java-MaxPriorityQueue">
            <a:extLst xmlns:a="http://schemas.openxmlformats.org/drawingml/2006/main">
              <a:ext uri="{FF2B5EF4-FFF2-40B4-BE49-F238E27FC236}">
                <a16:creationId xmlns:a16="http://schemas.microsoft.com/office/drawing/2014/main" id="{A069B4E9-9803-4AE0-8288-61478B8FC203}"/>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814eb57e88e34d3e"/>
              </a:rPr>
              <a:t>Java: MaxPriorityQueue.java</a:t>
            </a:r>
          </a:p>
        </p:txBody>
      </p:sp>
      <p:sp>
        <p:nvSpPr>
          <p:cNvPr id="8" name="local-java-MinPriorityQueue">
            <a:extLst xmlns:a="http://schemas.openxmlformats.org/drawingml/2006/main">
              <a:ext uri="{FF2B5EF4-FFF2-40B4-BE49-F238E27FC236}">
                <a16:creationId xmlns:a16="http://schemas.microsoft.com/office/drawing/2014/main" id="{A1B1468C-1742-4F60-86D0-02F7E3CCD6AC}"/>
              </a:ext>
            </a:extLst>
          </p:cNvPr>
          <p:cNvSpPr>
            <a:spLocks xmlns:a="http://schemas.openxmlformats.org/drawingml/2006/main" noGrp="1"/>
          </p:cNvSpPr>
          <p:nvPr/>
        </p:nvSpPr>
        <p:spPr>
          <a:xfrm xmlns:a="http://schemas.openxmlformats.org/drawingml/2006/main">
            <a:off x="422910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1ea281fdf1ac489e"/>
              </a:rPr>
              <a:t>Java: MinPriorityQueue.java</a:t>
            </a:r>
          </a:p>
        </p:txBody>
      </p:sp>
      <p:sp>
        <p:nvSpPr>
          <p:cNvPr id="9" name="local-java-TestPQ">
            <a:extLst xmlns:a="http://schemas.openxmlformats.org/drawingml/2006/main">
              <a:ext uri="{FF2B5EF4-FFF2-40B4-BE49-F238E27FC236}">
                <a16:creationId xmlns:a16="http://schemas.microsoft.com/office/drawing/2014/main" id="{EE4F3169-3DE1-4C0F-B8FE-DC6C1DF0CDCB}"/>
              </a:ext>
            </a:extLst>
          </p:cNvPr>
          <p:cNvSpPr>
            <a:spLocks xmlns:a="http://schemas.openxmlformats.org/drawingml/2006/main" noGrp="1"/>
          </p:cNvSpPr>
          <p:nvPr/>
        </p:nvSpPr>
        <p:spPr>
          <a:xfrm xmlns:a="http://schemas.openxmlformats.org/drawingml/2006/main">
            <a:off x="79438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0e617fd54a7d4263"/>
              </a:rPr>
              <a:t>Java: TestPQ.java</a:t>
            </a:r>
          </a:p>
        </p:txBody>
      </p:sp>
    </p:spTree>
    <p:extLst>
      <p:ext uri="{BB962C8B-B14F-4D97-AF65-F5344CB8AC3E}">
        <p14:creationId xmlns:p14="http://schemas.microsoft.com/office/powerpoint/2010/main" val="12584981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3997A3-6DBB-4E40-86AA-9486D8D6BC17}"/>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Heapsort</a:t>
            </a:r>
          </a:p>
        </p:txBody>
      </p:sp>
      <p:sp>
        <p:nvSpPr>
          <p:cNvPr id="2" name="">
            <a:extLst xmlns:a="http://schemas.openxmlformats.org/drawingml/2006/main">
              <a:ext uri="{FF2B5EF4-FFF2-40B4-BE49-F238E27FC236}">
                <a16:creationId xmlns:a16="http://schemas.microsoft.com/office/drawing/2014/main" id="{B4A03C5C-54F5-4804-9496-14EA6F68D1DE}"/>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For ascending order, use a max-heap within the input array.</a:t>
            </a:r>
          </a:p>
        </p:txBody>
      </p:sp>
      <p:sp>
        <p:nvSpPr>
          <p:cNvPr id="3" name="">
            <a:extLst xmlns:a="http://schemas.openxmlformats.org/drawingml/2006/main">
              <a:ext uri="{FF2B5EF4-FFF2-40B4-BE49-F238E27FC236}">
                <a16:creationId xmlns:a16="http://schemas.microsoft.com/office/drawing/2014/main" id="{BDDEB4EA-5346-4C21-AB76-7FB566666BB6}"/>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0A5B0E4A-A982-474F-8658-7D136B732EF6}"/>
              </a:ext>
            </a:extLst>
          </p:cNvPr>
          <p:cNvSpPr>
            <a:spLocks xmlns:a="http://schemas.openxmlformats.org/drawingml/2006/main" noGrp="1"/>
          </p:cNvSpPr>
          <p:nvPr/>
        </p:nvSpPr>
        <p:spPr>
          <a:xfrm xmlns:a="http://schemas.openxmlformats.org/drawingml/2006/main">
            <a:off x="533400" y="214312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1. Build a max-heap in the array: O(n).</a:t>
            </a:r>
          </a:p>
        </p:txBody>
      </p:sp>
      <p:sp>
        <p:nvSpPr>
          <p:cNvPr id="5" name="">
            <a:extLst xmlns:a="http://schemas.openxmlformats.org/drawingml/2006/main">
              <a:ext uri="{FF2B5EF4-FFF2-40B4-BE49-F238E27FC236}">
                <a16:creationId xmlns:a16="http://schemas.microsoft.com/office/drawing/2014/main" id="{2763C4A9-0A60-49AC-8B45-163AED4A9A8E}"/>
              </a:ext>
            </a:extLst>
          </p:cNvPr>
          <p:cNvSpPr>
            <a:spLocks xmlns:a="http://schemas.openxmlformats.org/drawingml/2006/main" noGrp="1"/>
          </p:cNvSpPr>
          <p:nvPr/>
        </p:nvSpPr>
        <p:spPr>
          <a:xfrm xmlns:a="http://schemas.openxmlformats.org/drawingml/2006/main">
            <a:off x="533400" y="28860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2. Swap the root with the last item in the active heap.</a:t>
            </a:r>
          </a:p>
        </p:txBody>
      </p:sp>
      <p:sp>
        <p:nvSpPr>
          <p:cNvPr id="6" name="">
            <a:extLst xmlns:a="http://schemas.openxmlformats.org/drawingml/2006/main">
              <a:ext uri="{FF2B5EF4-FFF2-40B4-BE49-F238E27FC236}">
                <a16:creationId xmlns:a16="http://schemas.microsoft.com/office/drawing/2014/main" id="{F84B5ABA-13E6-4A21-8487-55BE3696AF38}"/>
              </a:ext>
            </a:extLst>
          </p:cNvPr>
          <p:cNvSpPr>
            <a:spLocks xmlns:a="http://schemas.openxmlformats.org/drawingml/2006/main" noGrp="1"/>
          </p:cNvSpPr>
          <p:nvPr/>
        </p:nvSpPr>
        <p:spPr>
          <a:xfrm xmlns:a="http://schemas.openxmlformats.org/drawingml/2006/main">
            <a:off x="533400" y="362902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3. Shrink the active heap by one and sift down the new root.</a:t>
            </a:r>
          </a:p>
        </p:txBody>
      </p:sp>
      <p:sp>
        <p:nvSpPr>
          <p:cNvPr id="7" name="">
            <a:extLst xmlns:a="http://schemas.openxmlformats.org/drawingml/2006/main">
              <a:ext uri="{FF2B5EF4-FFF2-40B4-BE49-F238E27FC236}">
                <a16:creationId xmlns:a16="http://schemas.microsoft.com/office/drawing/2014/main" id="{8CB86E19-62D3-4B43-9CD8-4AA1D69BC798}"/>
              </a:ext>
            </a:extLst>
          </p:cNvPr>
          <p:cNvSpPr>
            <a:spLocks xmlns:a="http://schemas.openxmlformats.org/drawingml/2006/main" noGrp="1"/>
          </p:cNvSpPr>
          <p:nvPr/>
        </p:nvSpPr>
        <p:spPr>
          <a:xfrm xmlns:a="http://schemas.openxmlformats.org/drawingml/2006/main">
            <a:off x="533400" y="43719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6324F"/>
                </a:solidFill>
                <a:latin typeface="Aptos"/>
                <a:ea typeface="Aptos"/>
                <a:cs typeface="Aptos"/>
              </a:defRPr>
            </a:defPPr>
            <a:lvl1pPr>
              <a:buNone/>
              <a:defRPr sz="2175" b="0">
                <a:solidFill>
                  <a:srgbClr val="16324F"/>
                </a:solidFill>
                <a:latin typeface="Aptos"/>
                <a:ea typeface="Aptos"/>
                <a:cs typeface="Aptos"/>
              </a:defRPr>
            </a:lvl1pPr>
            <a:lvl2pPr>
              <a:buNone/>
              <a:defRPr sz="2175" b="0">
                <a:solidFill>
                  <a:srgbClr val="16324F"/>
                </a:solidFill>
                <a:latin typeface="Aptos"/>
                <a:ea typeface="Aptos"/>
                <a:cs typeface="Aptos"/>
              </a:defRPr>
            </a:lvl2pPr>
            <a:lvl3pPr>
              <a:buNone/>
              <a:defRPr sz="2175" b="0">
                <a:solidFill>
                  <a:srgbClr val="16324F"/>
                </a:solidFill>
                <a:latin typeface="Aptos"/>
                <a:ea typeface="Aptos"/>
                <a:cs typeface="Aptos"/>
              </a:defRPr>
            </a:lvl3pPr>
            <a:lvl4pPr>
              <a:buNone/>
              <a:defRPr sz="2175" b="0">
                <a:solidFill>
                  <a:srgbClr val="16324F"/>
                </a:solidFill>
                <a:latin typeface="Aptos"/>
                <a:ea typeface="Aptos"/>
                <a:cs typeface="Aptos"/>
              </a:defRPr>
            </a:lvl4pPr>
            <a:lvl5pPr>
              <a:buNone/>
              <a:defRPr sz="2175" b="0">
                <a:solidFill>
                  <a:srgbClr val="16324F"/>
                </a:solidFill>
                <a:latin typeface="Aptos"/>
                <a:ea typeface="Aptos"/>
                <a:cs typeface="Aptos"/>
              </a:defRPr>
            </a:lvl5pPr>
            <a:lvl6pPr>
              <a:buNone/>
              <a:defRPr sz="2175" b="0">
                <a:solidFill>
                  <a:srgbClr val="16324F"/>
                </a:solidFill>
                <a:latin typeface="Aptos"/>
                <a:ea typeface="Aptos"/>
                <a:cs typeface="Aptos"/>
              </a:defRPr>
            </a:lvl6pPr>
            <a:lvl7pPr>
              <a:buNone/>
              <a:defRPr sz="2175" b="0">
                <a:solidFill>
                  <a:srgbClr val="16324F"/>
                </a:solidFill>
                <a:latin typeface="Aptos"/>
                <a:ea typeface="Aptos"/>
                <a:cs typeface="Aptos"/>
              </a:defRPr>
            </a:lvl7pPr>
            <a:lvl8pPr>
              <a:buNone/>
              <a:defRPr sz="2175" b="0">
                <a:solidFill>
                  <a:srgbClr val="16324F"/>
                </a:solidFill>
                <a:latin typeface="Aptos"/>
                <a:ea typeface="Aptos"/>
                <a:cs typeface="Aptos"/>
              </a:defRPr>
            </a:lvl8pPr>
            <a:lvl9pPr>
              <a:buNone/>
              <a:defRPr sz="2175" b="0">
                <a:solidFill>
                  <a:srgbClr val="16324F"/>
                </a:solidFill>
                <a:latin typeface="Aptos"/>
                <a:ea typeface="Aptos"/>
                <a:cs typeface="Aptos"/>
              </a:defRPr>
            </a:lvl9pPr>
          </a:lstStyle>
          <a:p xmlns:a="http://schemas.openxmlformats.org/drawingml/2006/main">
            <a:pPr>
              <a:buNone/>
              <a:defRPr sz="2175" b="0">
                <a:solidFill>
                  <a:srgbClr val="16324F"/>
                </a:solidFill>
                <a:latin typeface="Aptos"/>
                <a:ea typeface="Aptos"/>
                <a:cs typeface="Aptos"/>
              </a:defRPr>
            </a:pPr>
            <a:r>
              <a:rPr sz="2175" b="0">
                <a:solidFill>
                  <a:srgbClr val="16324F"/>
                </a:solidFill>
                <a:latin typeface="Aptos"/>
                <a:ea typeface="Aptos"/>
                <a:cs typeface="Aptos"/>
              </a:rPr>
              <a:t>4. Repeat for n − 1 removals: O(n log n) total.</a:t>
            </a:r>
          </a:p>
        </p:txBody>
      </p:sp>
      <p:sp>
        <p:nvSpPr>
          <p:cNvPr id="8" name="">
            <a:extLst xmlns:a="http://schemas.openxmlformats.org/drawingml/2006/main">
              <a:ext uri="{FF2B5EF4-FFF2-40B4-BE49-F238E27FC236}">
                <a16:creationId xmlns:a16="http://schemas.microsoft.com/office/drawing/2014/main" id="{2A8203D4-3202-4CE8-AC34-2556F22216EF}"/>
              </a:ext>
            </a:extLst>
          </p:cNvPr>
          <p:cNvSpPr>
            <a:spLocks xmlns:a="http://schemas.openxmlformats.org/drawingml/2006/main" noGrp="1"/>
          </p:cNvSpPr>
          <p:nvPr/>
        </p:nvSpPr>
        <p:spPr>
          <a:xfrm xmlns:a="http://schemas.openxmlformats.org/drawingml/2006/main">
            <a:off x="533400" y="58102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ptos"/>
                <a:ea typeface="Aptos"/>
                <a:cs typeface="Aptos"/>
              </a:defRPr>
            </a:defPPr>
            <a:lvl1pPr>
              <a:buNone/>
              <a:defRPr sz="2175" b="1">
                <a:solidFill>
                  <a:srgbClr val="087F8C"/>
                </a:solidFill>
                <a:latin typeface="Aptos"/>
                <a:ea typeface="Aptos"/>
                <a:cs typeface="Aptos"/>
              </a:defRPr>
            </a:lvl1pPr>
            <a:lvl2pPr>
              <a:buNone/>
              <a:defRPr sz="2175" b="1">
                <a:solidFill>
                  <a:srgbClr val="087F8C"/>
                </a:solidFill>
                <a:latin typeface="Aptos"/>
                <a:ea typeface="Aptos"/>
                <a:cs typeface="Aptos"/>
              </a:defRPr>
            </a:lvl2pPr>
            <a:lvl3pPr>
              <a:buNone/>
              <a:defRPr sz="2175" b="1">
                <a:solidFill>
                  <a:srgbClr val="087F8C"/>
                </a:solidFill>
                <a:latin typeface="Aptos"/>
                <a:ea typeface="Aptos"/>
                <a:cs typeface="Aptos"/>
              </a:defRPr>
            </a:lvl3pPr>
            <a:lvl4pPr>
              <a:buNone/>
              <a:defRPr sz="2175" b="1">
                <a:solidFill>
                  <a:srgbClr val="087F8C"/>
                </a:solidFill>
                <a:latin typeface="Aptos"/>
                <a:ea typeface="Aptos"/>
                <a:cs typeface="Aptos"/>
              </a:defRPr>
            </a:lvl4pPr>
            <a:lvl5pPr>
              <a:buNone/>
              <a:defRPr sz="2175" b="1">
                <a:solidFill>
                  <a:srgbClr val="087F8C"/>
                </a:solidFill>
                <a:latin typeface="Aptos"/>
                <a:ea typeface="Aptos"/>
                <a:cs typeface="Aptos"/>
              </a:defRPr>
            </a:lvl5pPr>
            <a:lvl6pPr>
              <a:buNone/>
              <a:defRPr sz="2175" b="1">
                <a:solidFill>
                  <a:srgbClr val="087F8C"/>
                </a:solidFill>
                <a:latin typeface="Aptos"/>
                <a:ea typeface="Aptos"/>
                <a:cs typeface="Aptos"/>
              </a:defRPr>
            </a:lvl6pPr>
            <a:lvl7pPr>
              <a:buNone/>
              <a:defRPr sz="2175" b="1">
                <a:solidFill>
                  <a:srgbClr val="087F8C"/>
                </a:solidFill>
                <a:latin typeface="Aptos"/>
                <a:ea typeface="Aptos"/>
                <a:cs typeface="Aptos"/>
              </a:defRPr>
            </a:lvl7pPr>
            <a:lvl8pPr>
              <a:buNone/>
              <a:defRPr sz="2175" b="1">
                <a:solidFill>
                  <a:srgbClr val="087F8C"/>
                </a:solidFill>
                <a:latin typeface="Aptos"/>
                <a:ea typeface="Aptos"/>
                <a:cs typeface="Aptos"/>
              </a:defRPr>
            </a:lvl8pPr>
            <a:lvl9pPr>
              <a:buNone/>
              <a:defRPr sz="2175" b="1">
                <a:solidFill>
                  <a:srgbClr val="087F8C"/>
                </a:solidFill>
                <a:latin typeface="Aptos"/>
                <a:ea typeface="Aptos"/>
                <a:cs typeface="Aptos"/>
              </a:defRPr>
            </a:lvl9pPr>
          </a:lstStyle>
          <a:p xmlns:a="http://schemas.openxmlformats.org/drawingml/2006/main">
            <a:pPr>
              <a:buNone/>
              <a:defRPr sz="2175" b="1">
                <a:solidFill>
                  <a:srgbClr val="087F8C"/>
                </a:solidFill>
                <a:latin typeface="Aptos"/>
                <a:ea typeface="Aptos"/>
                <a:cs typeface="Aptos"/>
              </a:defRPr>
            </a:pPr>
            <a:r>
              <a:rPr sz="2175" b="1">
                <a:solidFill>
                  <a:srgbClr val="087F8C"/>
                </a:solidFill>
                <a:latin typeface="Aptos"/>
                <a:ea typeface="Aptos"/>
                <a:cs typeface="Aptos"/>
              </a:rPr>
              <a:t>Worst-case O(n log n). Iterative in-place heapsort uses O(1) extra space.</a:t>
            </a:r>
          </a:p>
        </p:txBody>
      </p:sp>
      <p:sp>
        <p:nvSpPr>
          <p:cNvPr id="10" name="local-java-HeapSort">
            <a:extLst xmlns:a="http://schemas.openxmlformats.org/drawingml/2006/main">
              <a:ext uri="{FF2B5EF4-FFF2-40B4-BE49-F238E27FC236}">
                <a16:creationId xmlns:a16="http://schemas.microsoft.com/office/drawing/2014/main" id="{713DFA10-ADCB-4F60-B825-31DD99EF1FEF}"/>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cade683539fb454e"/>
              </a:rPr>
              <a:t>Java: HeapSort.java</a:t>
            </a:r>
          </a:p>
        </p:txBody>
      </p:sp>
      <p:sp>
        <p:nvSpPr>
          <p:cNvPr id="11" name="local-java-HeapSortTest">
            <a:extLst xmlns:a="http://schemas.openxmlformats.org/drawingml/2006/main">
              <a:ext uri="{FF2B5EF4-FFF2-40B4-BE49-F238E27FC236}">
                <a16:creationId xmlns:a16="http://schemas.microsoft.com/office/drawing/2014/main" id="{6D720F40-EC14-49FD-ACA0-FDBA08E1E36A}"/>
              </a:ext>
            </a:extLst>
          </p:cNvPr>
          <p:cNvSpPr>
            <a:spLocks xmlns:a="http://schemas.openxmlformats.org/drawingml/2006/main" noGrp="1"/>
          </p:cNvSpPr>
          <p:nvPr/>
        </p:nvSpPr>
        <p:spPr>
          <a:xfrm xmlns:a="http://schemas.openxmlformats.org/drawingml/2006/main">
            <a:off x="422910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2c7da6e84b144fb6"/>
              </a:rPr>
              <a:t>Java: HeapSortTest.java</a:t>
            </a:r>
          </a:p>
        </p:txBody>
      </p:sp>
    </p:spTree>
    <p:extLst>
      <p:ext uri="{BB962C8B-B14F-4D97-AF65-F5344CB8AC3E}">
        <p14:creationId xmlns:p14="http://schemas.microsoft.com/office/powerpoint/2010/main" val="18356114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C849B0-BDF9-40F7-86C6-61B466BE0A6C}"/>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Heapsort and other comparison sorts</a:t>
            </a:r>
          </a:p>
        </p:txBody>
      </p:sp>
      <p:sp>
        <p:nvSpPr>
          <p:cNvPr id="2" name="">
            <a:extLst xmlns:a="http://schemas.openxmlformats.org/drawingml/2006/main">
              <a:ext uri="{FF2B5EF4-FFF2-40B4-BE49-F238E27FC236}">
                <a16:creationId xmlns:a16="http://schemas.microsoft.com/office/drawing/2014/main" id="{5C62AECC-34CC-48B2-97BB-CD7A0943CEC0}"/>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Properties depend on the implementation. These describe common array versions.</a:t>
            </a:r>
          </a:p>
        </p:txBody>
      </p:sp>
      <p:sp>
        <p:nvSpPr>
          <p:cNvPr id="3" name="">
            <a:extLst xmlns:a="http://schemas.openxmlformats.org/drawingml/2006/main">
              <a:ext uri="{FF2B5EF4-FFF2-40B4-BE49-F238E27FC236}">
                <a16:creationId xmlns:a16="http://schemas.microsoft.com/office/drawing/2014/main" id="{018EAC48-A909-4058-A868-315C2AF05551}"/>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31</a:t>
            </a:r>
          </a:p>
        </p:txBody>
      </p:sp>
      <p:graphicFrame>
        <p:nvGraphicFramePr>
          <p:cNvPr id="4" name="">
            <a:extLst xmlns:a="http://schemas.openxmlformats.org/drawingml/2006/main">
              <a:ext uri="{FF2B5EF4-FFF2-40B4-BE49-F238E27FC236}">
                <a16:creationId xmlns:a16="http://schemas.microsoft.com/office/drawing/2014/main" id="{A3964E26-657D-496C-94F2-200D1C3B43C7}"/>
              </a:ext>
            </a:extLst>
          </p:cNvPr>
          <p:cNvGraphicFramePr/>
          <p:nvPr/>
        </p:nvGraphicFramePr>
        <p:xfrm>
          <a:off xmlns:a="http://schemas.openxmlformats.org/drawingml/2006/main" x="533400" y="2190750"/>
          <a:ext xmlns:a="http://schemas.openxmlformats.org/drawingml/2006/main" cx="11125200" cy="2428875"/>
        </p:xfrm>
        <a:graphic xmlns:a="http://schemas.openxmlformats.org/drawingml/2006/main">
          <a:graphicData uri="http://schemas.openxmlformats.org/drawingml/2006/table">
            <a:tbl>
              <a:tblPr/>
              <a:tblGrid>
                <a:gridCol w="3333750"/>
                <a:gridCol w="3143250"/>
                <a:gridCol w="4648200"/>
              </a:tblGrid>
              <a:tr h="607219">
                <a:tc>
                  <a:txBody>
                    <a:bodyPr/>
                    <a:lstStyle/>
                    <a:p>
                      <a:r>
                        <a:rPr sz="2025" b="1">
                          <a:solidFill>
                            <a:srgbClr val="FFFFFF"/>
                          </a:solidFill>
                          <a:latin typeface="Aptos"/>
                          <a:ea typeface="Aptos"/>
                          <a:cs typeface="Aptos"/>
                        </a:rPr>
                        <a:t>Algorithm</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2025" b="1">
                          <a:solidFill>
                            <a:srgbClr val="FFFFFF"/>
                          </a:solidFill>
                          <a:latin typeface="Aptos"/>
                          <a:ea typeface="Aptos"/>
                          <a:cs typeface="Aptos"/>
                        </a:rPr>
                        <a:t>Worst-case time</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2025" b="1">
                          <a:solidFill>
                            <a:srgbClr val="FFFFFF"/>
                          </a:solidFill>
                          <a:latin typeface="Aptos"/>
                          <a:ea typeface="Aptos"/>
                          <a:cs typeface="Aptos"/>
                        </a:rPr>
                        <a:t>Extra space / stability</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607219">
                <a:tc>
                  <a:txBody>
                    <a:bodyPr/>
                    <a:lstStyle/>
                    <a:p>
                      <a:r>
                        <a:rPr sz="2025" b="0">
                          <a:solidFill>
                            <a:srgbClr val="16324F"/>
                          </a:solidFill>
                          <a:latin typeface="Aptos"/>
                          <a:ea typeface="Aptos"/>
                          <a:cs typeface="Aptos"/>
                        </a:rPr>
                        <a:t>Heapsort</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2025" b="0">
                          <a:solidFill>
                            <a:srgbClr val="16324F"/>
                          </a:solidFill>
                          <a:latin typeface="Aptos"/>
                          <a:ea typeface="Aptos"/>
                          <a:cs typeface="Aptos"/>
                        </a:rPr>
                        <a:t>O(n log n)</a:t>
                      </a:r>
                    </a:p>
                  </a:txBody>
                  <a:tcPr marL="91440" marR="91440" marT="45720" marB="45720">
                    <a:lnR w="9525">
                      <a:solidFill>
                        <a:srgbClr val="D9E3E8"/>
                      </a:solidFill>
                    </a:lnR>
                    <a:lnB w="9525">
                      <a:solidFill>
                        <a:srgbClr val="D9E3E8"/>
                      </a:solidFill>
                    </a:lnB>
                    <a:solidFill>
                      <a:srgbClr val="F1F6F8"/>
                    </a:solidFill>
                  </a:tcPr>
                </a:tc>
                <a:tc>
                  <a:txBody>
                    <a:bodyPr/>
                    <a:lstStyle/>
                    <a:p>
                      <a:r>
                        <a:rPr sz="2025" b="0">
                          <a:solidFill>
                            <a:srgbClr val="16324F"/>
                          </a:solidFill>
                          <a:latin typeface="Aptos"/>
                          <a:ea typeface="Aptos"/>
                          <a:cs typeface="Aptos"/>
                        </a:rPr>
                        <a:t>O(1) / unstable</a:t>
                      </a:r>
                    </a:p>
                  </a:txBody>
                  <a:tcPr marL="91440" marR="91440" marT="45720" marB="45720">
                    <a:lnR w="9525">
                      <a:solidFill>
                        <a:srgbClr val="D9E3E8"/>
                      </a:solidFill>
                    </a:lnR>
                    <a:lnB w="9525">
                      <a:solidFill>
                        <a:srgbClr val="D9E3E8"/>
                      </a:solidFill>
                    </a:lnB>
                    <a:solidFill>
                      <a:srgbClr val="F1F6F8"/>
                    </a:solidFill>
                  </a:tcPr>
                </a:tc>
              </a:tr>
              <a:tr h="607219">
                <a:tc>
                  <a:txBody>
                    <a:bodyPr/>
                    <a:lstStyle/>
                    <a:p>
                      <a:r>
                        <a:rPr sz="2025" b="0">
                          <a:solidFill>
                            <a:srgbClr val="16324F"/>
                          </a:solidFill>
                          <a:latin typeface="Aptos"/>
                          <a:ea typeface="Aptos"/>
                          <a:cs typeface="Aptos"/>
                        </a:rPr>
                        <a:t>Mergesort</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2025" b="0">
                          <a:solidFill>
                            <a:srgbClr val="16324F"/>
                          </a:solidFill>
                          <a:latin typeface="Aptos"/>
                          <a:ea typeface="Aptos"/>
                          <a:cs typeface="Aptos"/>
                        </a:rPr>
                        <a:t>O(n log n)</a:t>
                      </a:r>
                    </a:p>
                  </a:txBody>
                  <a:tcPr marL="91440" marR="91440" marT="45720" marB="45720">
                    <a:lnR w="9525">
                      <a:solidFill>
                        <a:srgbClr val="D9E3E8"/>
                      </a:solidFill>
                    </a:lnR>
                    <a:lnB w="9525">
                      <a:solidFill>
                        <a:srgbClr val="D9E3E8"/>
                      </a:solidFill>
                    </a:lnB>
                    <a:solidFill>
                      <a:srgbClr val="FFFFFF"/>
                    </a:solidFill>
                  </a:tcPr>
                </a:tc>
                <a:tc>
                  <a:txBody>
                    <a:bodyPr/>
                    <a:lstStyle/>
                    <a:p>
                      <a:r>
                        <a:rPr sz="2025" b="0">
                          <a:solidFill>
                            <a:srgbClr val="16324F"/>
                          </a:solidFill>
                          <a:latin typeface="Aptos"/>
                          <a:ea typeface="Aptos"/>
                          <a:cs typeface="Aptos"/>
                        </a:rPr>
                        <a:t>O(n) / stable</a:t>
                      </a:r>
                    </a:p>
                  </a:txBody>
                  <a:tcPr marL="91440" marR="91440" marT="45720" marB="45720">
                    <a:lnR w="9525">
                      <a:solidFill>
                        <a:srgbClr val="D9E3E8"/>
                      </a:solidFill>
                    </a:lnR>
                    <a:lnB w="9525">
                      <a:solidFill>
                        <a:srgbClr val="D9E3E8"/>
                      </a:solidFill>
                    </a:lnB>
                    <a:solidFill>
                      <a:srgbClr val="FFFFFF"/>
                    </a:solidFill>
                  </a:tcPr>
                </a:tc>
              </a:tr>
              <a:tr h="607219">
                <a:tc>
                  <a:txBody>
                    <a:bodyPr/>
                    <a:lstStyle/>
                    <a:p>
                      <a:r>
                        <a:rPr sz="2025" b="0">
                          <a:solidFill>
                            <a:srgbClr val="16324F"/>
                          </a:solidFill>
                          <a:latin typeface="Aptos"/>
                          <a:ea typeface="Aptos"/>
                          <a:cs typeface="Aptos"/>
                        </a:rPr>
                        <a:t>Quicksort</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2025" b="0">
                          <a:solidFill>
                            <a:srgbClr val="16324F"/>
                          </a:solidFill>
                          <a:latin typeface="Aptos"/>
                          <a:ea typeface="Aptos"/>
                          <a:cs typeface="Aptos"/>
                        </a:rPr>
                        <a:t>O(n²)</a:t>
                      </a:r>
                    </a:p>
                  </a:txBody>
                  <a:tcPr marL="91440" marR="91440" marT="45720" marB="45720">
                    <a:lnR w="9525">
                      <a:solidFill>
                        <a:srgbClr val="D9E3E8"/>
                      </a:solidFill>
                    </a:lnR>
                    <a:lnB w="9525">
                      <a:solidFill>
                        <a:srgbClr val="D9E3E8"/>
                      </a:solidFill>
                    </a:lnB>
                    <a:solidFill>
                      <a:srgbClr val="F1F6F8"/>
                    </a:solidFill>
                  </a:tcPr>
                </a:tc>
                <a:tc>
                  <a:txBody>
                    <a:bodyPr/>
                    <a:lstStyle/>
                    <a:p>
                      <a:r>
                        <a:rPr sz="2025" b="0">
                          <a:solidFill>
                            <a:srgbClr val="16324F"/>
                          </a:solidFill>
                          <a:latin typeface="Aptos"/>
                          <a:ea typeface="Aptos"/>
                          <a:cs typeface="Aptos"/>
                        </a:rPr>
                        <a:t>Typically O(log n) stack / unstable</a:t>
                      </a:r>
                    </a:p>
                  </a:txBody>
                  <a:tcPr marL="91440" marR="91440" marT="45720" marB="45720">
                    <a:lnR w="9525">
                      <a:solidFill>
                        <a:srgbClr val="D9E3E8"/>
                      </a:solidFill>
                    </a:lnR>
                    <a:lnB w="9525">
                      <a:solidFill>
                        <a:srgbClr val="D9E3E8"/>
                      </a:solidFill>
                    </a:lnB>
                    <a:solidFill>
                      <a:srgbClr val="F1F6F8"/>
                    </a:solidFill>
                  </a:tcPr>
                </a:tc>
              </a:tr>
            </a:tbl>
          </a:graphicData>
        </a:graphic>
      </p:graphicFrame>
      <p:sp>
        <p:nvSpPr>
          <p:cNvPr id="5" name="">
            <a:extLst xmlns:a="http://schemas.openxmlformats.org/drawingml/2006/main">
              <a:ext uri="{FF2B5EF4-FFF2-40B4-BE49-F238E27FC236}">
                <a16:creationId xmlns:a16="http://schemas.microsoft.com/office/drawing/2014/main" id="{88133308-3E3C-4732-A503-80288478A6F3}"/>
              </a:ext>
            </a:extLst>
          </p:cNvPr>
          <p:cNvSpPr>
            <a:spLocks xmlns:a="http://schemas.openxmlformats.org/drawingml/2006/main" noGrp="1"/>
          </p:cNvSpPr>
          <p:nvPr/>
        </p:nvSpPr>
        <p:spPr>
          <a:xfrm xmlns:a="http://schemas.openxmlformats.org/drawingml/2006/main">
            <a:off x="533400" y="48577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6324F"/>
                </a:solidFill>
                <a:latin typeface="Aptos"/>
                <a:ea typeface="Aptos"/>
                <a:cs typeface="Aptos"/>
              </a:defRPr>
            </a:defPPr>
            <a:lvl1pPr>
              <a:buNone/>
              <a:defRPr sz="1950" b="0">
                <a:solidFill>
                  <a:srgbClr val="16324F"/>
                </a:solidFill>
                <a:latin typeface="Aptos"/>
                <a:ea typeface="Aptos"/>
                <a:cs typeface="Aptos"/>
              </a:defRPr>
            </a:lvl1pPr>
            <a:lvl2pPr>
              <a:buNone/>
              <a:defRPr sz="1950" b="0">
                <a:solidFill>
                  <a:srgbClr val="16324F"/>
                </a:solidFill>
                <a:latin typeface="Aptos"/>
                <a:ea typeface="Aptos"/>
                <a:cs typeface="Aptos"/>
              </a:defRPr>
            </a:lvl2pPr>
            <a:lvl3pPr>
              <a:buNone/>
              <a:defRPr sz="1950" b="0">
                <a:solidFill>
                  <a:srgbClr val="16324F"/>
                </a:solidFill>
                <a:latin typeface="Aptos"/>
                <a:ea typeface="Aptos"/>
                <a:cs typeface="Aptos"/>
              </a:defRPr>
            </a:lvl3pPr>
            <a:lvl4pPr>
              <a:buNone/>
              <a:defRPr sz="1950" b="0">
                <a:solidFill>
                  <a:srgbClr val="16324F"/>
                </a:solidFill>
                <a:latin typeface="Aptos"/>
                <a:ea typeface="Aptos"/>
                <a:cs typeface="Aptos"/>
              </a:defRPr>
            </a:lvl4pPr>
            <a:lvl5pPr>
              <a:buNone/>
              <a:defRPr sz="1950" b="0">
                <a:solidFill>
                  <a:srgbClr val="16324F"/>
                </a:solidFill>
                <a:latin typeface="Aptos"/>
                <a:ea typeface="Aptos"/>
                <a:cs typeface="Aptos"/>
              </a:defRPr>
            </a:lvl5pPr>
            <a:lvl6pPr>
              <a:buNone/>
              <a:defRPr sz="1950" b="0">
                <a:solidFill>
                  <a:srgbClr val="16324F"/>
                </a:solidFill>
                <a:latin typeface="Aptos"/>
                <a:ea typeface="Aptos"/>
                <a:cs typeface="Aptos"/>
              </a:defRPr>
            </a:lvl6pPr>
            <a:lvl7pPr>
              <a:buNone/>
              <a:defRPr sz="1950" b="0">
                <a:solidFill>
                  <a:srgbClr val="16324F"/>
                </a:solidFill>
                <a:latin typeface="Aptos"/>
                <a:ea typeface="Aptos"/>
                <a:cs typeface="Aptos"/>
              </a:defRPr>
            </a:lvl7pPr>
            <a:lvl8pPr>
              <a:buNone/>
              <a:defRPr sz="1950" b="0">
                <a:solidFill>
                  <a:srgbClr val="16324F"/>
                </a:solidFill>
                <a:latin typeface="Aptos"/>
                <a:ea typeface="Aptos"/>
                <a:cs typeface="Aptos"/>
              </a:defRPr>
            </a:lvl8pPr>
            <a:lvl9pPr>
              <a:buNone/>
              <a:defRPr sz="1950" b="0">
                <a:solidFill>
                  <a:srgbClr val="16324F"/>
                </a:solidFill>
                <a:latin typeface="Aptos"/>
                <a:ea typeface="Aptos"/>
                <a:cs typeface="Aptos"/>
              </a:defRPr>
            </a:lvl9pPr>
          </a:lstStyle>
          <a:p xmlns:a="http://schemas.openxmlformats.org/drawingml/2006/main">
            <a:pPr>
              <a:buNone/>
              <a:defRPr sz="1950" b="0">
                <a:solidFill>
                  <a:srgbClr val="16324F"/>
                </a:solidFill>
                <a:latin typeface="Aptos"/>
                <a:ea typeface="Aptos"/>
                <a:cs typeface="Aptos"/>
              </a:defRPr>
            </a:pPr>
            <a:r>
              <a:rPr sz="1950" b="0">
                <a:solidFill>
                  <a:srgbClr val="16324F"/>
                </a:solidFill>
                <a:latin typeface="Aptos"/>
                <a:ea typeface="Aptos"/>
                <a:cs typeface="Aptos"/>
              </a:rPr>
              <a:t>Quicksort has expected O(n log n) time with randomized pivots.</a:t>
            </a:r>
          </a:p>
        </p:txBody>
      </p:sp>
      <p:sp>
        <p:nvSpPr>
          <p:cNvPr id="6" name="">
            <a:extLst xmlns:a="http://schemas.openxmlformats.org/drawingml/2006/main">
              <a:ext uri="{FF2B5EF4-FFF2-40B4-BE49-F238E27FC236}">
                <a16:creationId xmlns:a16="http://schemas.microsoft.com/office/drawing/2014/main" id="{6D57EA44-C5D0-40D9-9FAF-D621EC91BCA5}"/>
              </a:ext>
            </a:extLst>
          </p:cNvPr>
          <p:cNvSpPr>
            <a:spLocks xmlns:a="http://schemas.openxmlformats.org/drawingml/2006/main" noGrp="1"/>
          </p:cNvSpPr>
          <p:nvPr/>
        </p:nvSpPr>
        <p:spPr>
          <a:xfrm xmlns:a="http://schemas.openxmlformats.org/drawingml/2006/main">
            <a:off x="533400" y="53625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6324F"/>
                </a:solidFill>
                <a:latin typeface="Aptos"/>
                <a:ea typeface="Aptos"/>
                <a:cs typeface="Aptos"/>
              </a:defRPr>
            </a:defPPr>
            <a:lvl1pPr>
              <a:buNone/>
              <a:defRPr sz="1950" b="0">
                <a:solidFill>
                  <a:srgbClr val="16324F"/>
                </a:solidFill>
                <a:latin typeface="Aptos"/>
                <a:ea typeface="Aptos"/>
                <a:cs typeface="Aptos"/>
              </a:defRPr>
            </a:lvl1pPr>
            <a:lvl2pPr>
              <a:buNone/>
              <a:defRPr sz="1950" b="0">
                <a:solidFill>
                  <a:srgbClr val="16324F"/>
                </a:solidFill>
                <a:latin typeface="Aptos"/>
                <a:ea typeface="Aptos"/>
                <a:cs typeface="Aptos"/>
              </a:defRPr>
            </a:lvl2pPr>
            <a:lvl3pPr>
              <a:buNone/>
              <a:defRPr sz="1950" b="0">
                <a:solidFill>
                  <a:srgbClr val="16324F"/>
                </a:solidFill>
                <a:latin typeface="Aptos"/>
                <a:ea typeface="Aptos"/>
                <a:cs typeface="Aptos"/>
              </a:defRPr>
            </a:lvl3pPr>
            <a:lvl4pPr>
              <a:buNone/>
              <a:defRPr sz="1950" b="0">
                <a:solidFill>
                  <a:srgbClr val="16324F"/>
                </a:solidFill>
                <a:latin typeface="Aptos"/>
                <a:ea typeface="Aptos"/>
                <a:cs typeface="Aptos"/>
              </a:defRPr>
            </a:lvl4pPr>
            <a:lvl5pPr>
              <a:buNone/>
              <a:defRPr sz="1950" b="0">
                <a:solidFill>
                  <a:srgbClr val="16324F"/>
                </a:solidFill>
                <a:latin typeface="Aptos"/>
                <a:ea typeface="Aptos"/>
                <a:cs typeface="Aptos"/>
              </a:defRPr>
            </a:lvl5pPr>
            <a:lvl6pPr>
              <a:buNone/>
              <a:defRPr sz="1950" b="0">
                <a:solidFill>
                  <a:srgbClr val="16324F"/>
                </a:solidFill>
                <a:latin typeface="Aptos"/>
                <a:ea typeface="Aptos"/>
                <a:cs typeface="Aptos"/>
              </a:defRPr>
            </a:lvl6pPr>
            <a:lvl7pPr>
              <a:buNone/>
              <a:defRPr sz="1950" b="0">
                <a:solidFill>
                  <a:srgbClr val="16324F"/>
                </a:solidFill>
                <a:latin typeface="Aptos"/>
                <a:ea typeface="Aptos"/>
                <a:cs typeface="Aptos"/>
              </a:defRPr>
            </a:lvl7pPr>
            <a:lvl8pPr>
              <a:buNone/>
              <a:defRPr sz="1950" b="0">
                <a:solidFill>
                  <a:srgbClr val="16324F"/>
                </a:solidFill>
                <a:latin typeface="Aptos"/>
                <a:ea typeface="Aptos"/>
                <a:cs typeface="Aptos"/>
              </a:defRPr>
            </a:lvl8pPr>
            <a:lvl9pPr>
              <a:buNone/>
              <a:defRPr sz="1950" b="0">
                <a:solidFill>
                  <a:srgbClr val="16324F"/>
                </a:solidFill>
                <a:latin typeface="Aptos"/>
                <a:ea typeface="Aptos"/>
                <a:cs typeface="Aptos"/>
              </a:defRPr>
            </a:lvl9pPr>
          </a:lstStyle>
          <a:p xmlns:a="http://schemas.openxmlformats.org/drawingml/2006/main">
            <a:pPr>
              <a:buNone/>
              <a:defRPr sz="1950" b="0">
                <a:solidFill>
                  <a:srgbClr val="16324F"/>
                </a:solidFill>
                <a:latin typeface="Aptos"/>
                <a:ea typeface="Aptos"/>
                <a:cs typeface="Aptos"/>
              </a:defRPr>
            </a:pPr>
            <a:r>
              <a:rPr sz="1950" b="0">
                <a:solidFill>
                  <a:srgbClr val="16324F"/>
                </a:solidFill>
                <a:latin typeface="Aptos"/>
                <a:ea typeface="Aptos"/>
                <a:cs typeface="Aptos"/>
              </a:rPr>
              <a:t>A heap array has local order. Removing all roots produces sorted order.</a:t>
            </a:r>
          </a:p>
        </p:txBody>
      </p:sp>
      <p:sp>
        <p:nvSpPr>
          <p:cNvPr id="8" name="local-java-HeapSortTest">
            <a:extLst xmlns:a="http://schemas.openxmlformats.org/drawingml/2006/main">
              <a:ext uri="{FF2B5EF4-FFF2-40B4-BE49-F238E27FC236}">
                <a16:creationId xmlns:a16="http://schemas.microsoft.com/office/drawing/2014/main" id="{1822DBB8-FB57-4ED6-AE57-6B16A71D29CE}"/>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8613fcf065974070"/>
              </a:rPr>
              <a:t>Java: HeapSortTest.java</a:t>
            </a:r>
          </a:p>
        </p:txBody>
      </p:sp>
    </p:spTree>
    <p:extLst>
      <p:ext uri="{BB962C8B-B14F-4D97-AF65-F5344CB8AC3E}">
        <p14:creationId xmlns:p14="http://schemas.microsoft.com/office/powerpoint/2010/main" val="184548443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E94692-C3A3-41D2-BE36-369E655805ED}"/>
              </a:ext>
            </a:extLst>
          </p:cNvPr>
          <p:cNvSpPr>
            <a:spLocks xmlns:a="http://schemas.openxmlformats.org/drawingml/2006/main" noGrp="1"/>
          </p:cNvSpPr>
          <p:nvPr/>
        </p:nvSpPr>
        <p:spPr>
          <a:xfrm xmlns:a="http://schemas.openxmlformats.org/drawingml/2006/main">
            <a:off x="533400" y="32385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6324F"/>
                </a:solidFill>
                <a:latin typeface="Aptos"/>
                <a:ea typeface="Aptos"/>
                <a:cs typeface="Aptos"/>
              </a:defRPr>
            </a:defPPr>
            <a:lvl1pPr>
              <a:buNone/>
              <a:defRPr sz="3150" b="1">
                <a:solidFill>
                  <a:srgbClr val="16324F"/>
                </a:solidFill>
                <a:latin typeface="Aptos"/>
                <a:ea typeface="Aptos"/>
                <a:cs typeface="Aptos"/>
              </a:defRPr>
            </a:lvl1pPr>
            <a:lvl2pPr>
              <a:buNone/>
              <a:defRPr sz="3150" b="1">
                <a:solidFill>
                  <a:srgbClr val="16324F"/>
                </a:solidFill>
                <a:latin typeface="Aptos"/>
                <a:ea typeface="Aptos"/>
                <a:cs typeface="Aptos"/>
              </a:defRPr>
            </a:lvl2pPr>
            <a:lvl3pPr>
              <a:buNone/>
              <a:defRPr sz="3150" b="1">
                <a:solidFill>
                  <a:srgbClr val="16324F"/>
                </a:solidFill>
                <a:latin typeface="Aptos"/>
                <a:ea typeface="Aptos"/>
                <a:cs typeface="Aptos"/>
              </a:defRPr>
            </a:lvl3pPr>
            <a:lvl4pPr>
              <a:buNone/>
              <a:defRPr sz="3150" b="1">
                <a:solidFill>
                  <a:srgbClr val="16324F"/>
                </a:solidFill>
                <a:latin typeface="Aptos"/>
                <a:ea typeface="Aptos"/>
                <a:cs typeface="Aptos"/>
              </a:defRPr>
            </a:lvl4pPr>
            <a:lvl5pPr>
              <a:buNone/>
              <a:defRPr sz="3150" b="1">
                <a:solidFill>
                  <a:srgbClr val="16324F"/>
                </a:solidFill>
                <a:latin typeface="Aptos"/>
                <a:ea typeface="Aptos"/>
                <a:cs typeface="Aptos"/>
              </a:defRPr>
            </a:lvl5pPr>
            <a:lvl6pPr>
              <a:buNone/>
              <a:defRPr sz="3150" b="1">
                <a:solidFill>
                  <a:srgbClr val="16324F"/>
                </a:solidFill>
                <a:latin typeface="Aptos"/>
                <a:ea typeface="Aptos"/>
                <a:cs typeface="Aptos"/>
              </a:defRPr>
            </a:lvl6pPr>
            <a:lvl7pPr>
              <a:buNone/>
              <a:defRPr sz="3150" b="1">
                <a:solidFill>
                  <a:srgbClr val="16324F"/>
                </a:solidFill>
                <a:latin typeface="Aptos"/>
                <a:ea typeface="Aptos"/>
                <a:cs typeface="Aptos"/>
              </a:defRPr>
            </a:lvl7pPr>
            <a:lvl8pPr>
              <a:buNone/>
              <a:defRPr sz="3150" b="1">
                <a:solidFill>
                  <a:srgbClr val="16324F"/>
                </a:solidFill>
                <a:latin typeface="Aptos"/>
                <a:ea typeface="Aptos"/>
                <a:cs typeface="Aptos"/>
              </a:defRPr>
            </a:lvl8pPr>
            <a:lvl9pPr>
              <a:buNone/>
              <a:defRPr sz="3150" b="1">
                <a:solidFill>
                  <a:srgbClr val="16324F"/>
                </a:solidFill>
                <a:latin typeface="Aptos"/>
                <a:ea typeface="Aptos"/>
                <a:cs typeface="Aptos"/>
              </a:defRPr>
            </a:lvl9pPr>
          </a:lstStyle>
          <a:p xmlns:a="http://schemas.openxmlformats.org/drawingml/2006/main">
            <a:pPr>
              <a:buNone/>
              <a:defRPr sz="3150" b="1">
                <a:solidFill>
                  <a:srgbClr val="16324F"/>
                </a:solidFill>
                <a:latin typeface="Aptos"/>
                <a:ea typeface="Aptos"/>
                <a:cs typeface="Aptos"/>
              </a:defRPr>
            </a:pPr>
            <a:r>
              <a:rPr sz="3150" b="1">
                <a:solidFill>
                  <a:srgbClr val="16324F"/>
                </a:solidFill>
                <a:latin typeface="Aptos"/>
                <a:ea typeface="Aptos"/>
                <a:cs typeface="Aptos"/>
              </a:rPr>
              <a:t>Java’s PriorityQueue</a:t>
            </a:r>
          </a:p>
        </p:txBody>
      </p:sp>
      <p:sp>
        <p:nvSpPr>
          <p:cNvPr id="2" name="">
            <a:extLst xmlns:a="http://schemas.openxmlformats.org/drawingml/2006/main">
              <a:ext uri="{FF2B5EF4-FFF2-40B4-BE49-F238E27FC236}">
                <a16:creationId xmlns:a16="http://schemas.microsoft.com/office/drawing/2014/main" id="{35CAC3B9-4427-4A66-9656-5445F4CFBB9D}"/>
              </a:ext>
            </a:extLst>
          </p:cNvPr>
          <p:cNvSpPr>
            <a:spLocks xmlns:a="http://schemas.openxmlformats.org/drawingml/2006/main" noGrp="1"/>
          </p:cNvSpPr>
          <p:nvPr/>
        </p:nvSpPr>
        <p:spPr>
          <a:xfrm xmlns:a="http://schemas.openxmlformats.org/drawingml/2006/main">
            <a:off x="533400" y="12763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75569"/>
                </a:solidFill>
                <a:latin typeface="Aptos"/>
                <a:ea typeface="Aptos"/>
                <a:cs typeface="Aptos"/>
              </a:defRPr>
            </a:defPPr>
            <a:lvl1pPr>
              <a:buNone/>
              <a:defRPr sz="2025" b="0">
                <a:solidFill>
                  <a:srgbClr val="475569"/>
                </a:solidFill>
                <a:latin typeface="Aptos"/>
                <a:ea typeface="Aptos"/>
                <a:cs typeface="Aptos"/>
              </a:defRPr>
            </a:lvl1pPr>
            <a:lvl2pPr>
              <a:buNone/>
              <a:defRPr sz="2025" b="0">
                <a:solidFill>
                  <a:srgbClr val="475569"/>
                </a:solidFill>
                <a:latin typeface="Aptos"/>
                <a:ea typeface="Aptos"/>
                <a:cs typeface="Aptos"/>
              </a:defRPr>
            </a:lvl2pPr>
            <a:lvl3pPr>
              <a:buNone/>
              <a:defRPr sz="2025" b="0">
                <a:solidFill>
                  <a:srgbClr val="475569"/>
                </a:solidFill>
                <a:latin typeface="Aptos"/>
                <a:ea typeface="Aptos"/>
                <a:cs typeface="Aptos"/>
              </a:defRPr>
            </a:lvl3pPr>
            <a:lvl4pPr>
              <a:buNone/>
              <a:defRPr sz="2025" b="0">
                <a:solidFill>
                  <a:srgbClr val="475569"/>
                </a:solidFill>
                <a:latin typeface="Aptos"/>
                <a:ea typeface="Aptos"/>
                <a:cs typeface="Aptos"/>
              </a:defRPr>
            </a:lvl4pPr>
            <a:lvl5pPr>
              <a:buNone/>
              <a:defRPr sz="2025" b="0">
                <a:solidFill>
                  <a:srgbClr val="475569"/>
                </a:solidFill>
                <a:latin typeface="Aptos"/>
                <a:ea typeface="Aptos"/>
                <a:cs typeface="Aptos"/>
              </a:defRPr>
            </a:lvl5pPr>
            <a:lvl6pPr>
              <a:buNone/>
              <a:defRPr sz="2025" b="0">
                <a:solidFill>
                  <a:srgbClr val="475569"/>
                </a:solidFill>
                <a:latin typeface="Aptos"/>
                <a:ea typeface="Aptos"/>
                <a:cs typeface="Aptos"/>
              </a:defRPr>
            </a:lvl6pPr>
            <a:lvl7pPr>
              <a:buNone/>
              <a:defRPr sz="2025" b="0">
                <a:solidFill>
                  <a:srgbClr val="475569"/>
                </a:solidFill>
                <a:latin typeface="Aptos"/>
                <a:ea typeface="Aptos"/>
                <a:cs typeface="Aptos"/>
              </a:defRPr>
            </a:lvl7pPr>
            <a:lvl8pPr>
              <a:buNone/>
              <a:defRPr sz="2025" b="0">
                <a:solidFill>
                  <a:srgbClr val="475569"/>
                </a:solidFill>
                <a:latin typeface="Aptos"/>
                <a:ea typeface="Aptos"/>
                <a:cs typeface="Aptos"/>
              </a:defRPr>
            </a:lvl8pPr>
            <a:lvl9pPr>
              <a:buNone/>
              <a:defRPr sz="2025" b="0">
                <a:solidFill>
                  <a:srgbClr val="475569"/>
                </a:solidFill>
                <a:latin typeface="Aptos"/>
                <a:ea typeface="Aptos"/>
                <a:cs typeface="Aptos"/>
              </a:defRPr>
            </a:lvl9pPr>
          </a:lstStyle>
          <a:p xmlns:a="http://schemas.openxmlformats.org/drawingml/2006/main">
            <a:pPr>
              <a:buNone/>
              <a:defRPr sz="2025" b="0">
                <a:solidFill>
                  <a:srgbClr val="475569"/>
                </a:solidFill>
                <a:latin typeface="Aptos"/>
                <a:ea typeface="Aptos"/>
                <a:cs typeface="Aptos"/>
              </a:defRPr>
            </a:pPr>
            <a:r>
              <a:rPr sz="2025" b="0">
                <a:solidFill>
                  <a:srgbClr val="475569"/>
                </a:solidFill>
                <a:latin typeface="Aptos"/>
                <a:ea typeface="Aptos"/>
                <a:cs typeface="Aptos"/>
              </a:rPr>
              <a:t>Natural ordering puts the smallest element at the head. A comparator can reverse it.</a:t>
            </a:r>
          </a:p>
        </p:txBody>
      </p:sp>
      <p:sp>
        <p:nvSpPr>
          <p:cNvPr id="3" name="">
            <a:extLst xmlns:a="http://schemas.openxmlformats.org/drawingml/2006/main">
              <a:ext uri="{FF2B5EF4-FFF2-40B4-BE49-F238E27FC236}">
                <a16:creationId xmlns:a16="http://schemas.microsoft.com/office/drawing/2014/main" id="{7938DDA3-1982-401A-B7D4-0F0412059908}"/>
              </a:ext>
            </a:extLst>
          </p:cNvPr>
          <p:cNvSpPr>
            <a:spLocks xmlns:a="http://schemas.openxmlformats.org/drawingml/2006/main" noGrp="1"/>
          </p:cNvSpPr>
          <p:nvPr/>
        </p:nvSpPr>
        <p:spPr>
          <a:xfrm xmlns:a="http://schemas.openxmlformats.org/drawingml/2006/main">
            <a:off x="11239500" y="64579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75569"/>
                </a:solidFill>
                <a:latin typeface="Aptos"/>
                <a:ea typeface="Aptos"/>
                <a:cs typeface="Aptos"/>
              </a:defRPr>
            </a:defPPr>
            <a:lvl1pPr>
              <a:buNone/>
              <a:defRPr sz="1200" b="0">
                <a:solidFill>
                  <a:srgbClr val="475569"/>
                </a:solidFill>
                <a:latin typeface="Aptos"/>
                <a:ea typeface="Aptos"/>
                <a:cs typeface="Aptos"/>
              </a:defRPr>
            </a:lvl1pPr>
            <a:lvl2pPr>
              <a:buNone/>
              <a:defRPr sz="1200" b="0">
                <a:solidFill>
                  <a:srgbClr val="475569"/>
                </a:solidFill>
                <a:latin typeface="Aptos"/>
                <a:ea typeface="Aptos"/>
                <a:cs typeface="Aptos"/>
              </a:defRPr>
            </a:lvl2pPr>
            <a:lvl3pPr>
              <a:buNone/>
              <a:defRPr sz="1200" b="0">
                <a:solidFill>
                  <a:srgbClr val="475569"/>
                </a:solidFill>
                <a:latin typeface="Aptos"/>
                <a:ea typeface="Aptos"/>
                <a:cs typeface="Aptos"/>
              </a:defRPr>
            </a:lvl3pPr>
            <a:lvl4pPr>
              <a:buNone/>
              <a:defRPr sz="1200" b="0">
                <a:solidFill>
                  <a:srgbClr val="475569"/>
                </a:solidFill>
                <a:latin typeface="Aptos"/>
                <a:ea typeface="Aptos"/>
                <a:cs typeface="Aptos"/>
              </a:defRPr>
            </a:lvl4pPr>
            <a:lvl5pPr>
              <a:buNone/>
              <a:defRPr sz="1200" b="0">
                <a:solidFill>
                  <a:srgbClr val="475569"/>
                </a:solidFill>
                <a:latin typeface="Aptos"/>
                <a:ea typeface="Aptos"/>
                <a:cs typeface="Aptos"/>
              </a:defRPr>
            </a:lvl5pPr>
            <a:lvl6pPr>
              <a:buNone/>
              <a:defRPr sz="1200" b="0">
                <a:solidFill>
                  <a:srgbClr val="475569"/>
                </a:solidFill>
                <a:latin typeface="Aptos"/>
                <a:ea typeface="Aptos"/>
                <a:cs typeface="Aptos"/>
              </a:defRPr>
            </a:lvl6pPr>
            <a:lvl7pPr>
              <a:buNone/>
              <a:defRPr sz="1200" b="0">
                <a:solidFill>
                  <a:srgbClr val="475569"/>
                </a:solidFill>
                <a:latin typeface="Aptos"/>
                <a:ea typeface="Aptos"/>
                <a:cs typeface="Aptos"/>
              </a:defRPr>
            </a:lvl7pPr>
            <a:lvl8pPr>
              <a:buNone/>
              <a:defRPr sz="1200" b="0">
                <a:solidFill>
                  <a:srgbClr val="475569"/>
                </a:solidFill>
                <a:latin typeface="Aptos"/>
                <a:ea typeface="Aptos"/>
                <a:cs typeface="Aptos"/>
              </a:defRPr>
            </a:lvl8pPr>
            <a:lvl9pPr>
              <a:buNone/>
              <a:defRPr sz="1200" b="0">
                <a:solidFill>
                  <a:srgbClr val="475569"/>
                </a:solidFill>
                <a:latin typeface="Aptos"/>
                <a:ea typeface="Aptos"/>
                <a:cs typeface="Aptos"/>
              </a:defRPr>
            </a:lvl9pPr>
          </a:lstStyle>
          <a:p xmlns:a="http://schemas.openxmlformats.org/drawingml/2006/main">
            <a:pPr>
              <a:buNone/>
              <a:defRPr sz="1200" b="0">
                <a:solidFill>
                  <a:srgbClr val="475569"/>
                </a:solidFill>
                <a:latin typeface="Aptos"/>
                <a:ea typeface="Aptos"/>
                <a:cs typeface="Aptos"/>
              </a:defRPr>
            </a:pPr>
            <a:r>
              <a:rPr sz="1200" b="0">
                <a:solidFill>
                  <a:srgbClr val="475569"/>
                </a:solidFill>
                <a:latin typeface="Aptos"/>
                <a:ea typeface="Aptos"/>
                <a:cs typeface="Aptos"/>
              </a:rPr>
              <a:t>32</a:t>
            </a:r>
          </a:p>
        </p:txBody>
      </p:sp>
      <p:graphicFrame>
        <p:nvGraphicFramePr>
          <p:cNvPr id="4" name="">
            <a:extLst xmlns:a="http://schemas.openxmlformats.org/drawingml/2006/main">
              <a:ext uri="{FF2B5EF4-FFF2-40B4-BE49-F238E27FC236}">
                <a16:creationId xmlns:a16="http://schemas.microsoft.com/office/drawing/2014/main" id="{F6883B0E-A426-45CA-B58C-03A28699E97F}"/>
              </a:ext>
            </a:extLst>
          </p:cNvPr>
          <p:cNvGraphicFramePr/>
          <p:nvPr/>
        </p:nvGraphicFramePr>
        <p:xfrm>
          <a:off xmlns:a="http://schemas.openxmlformats.org/drawingml/2006/main" x="533400" y="1952625"/>
          <a:ext xmlns:a="http://schemas.openxmlformats.org/drawingml/2006/main" cx="11125200" cy="3238500"/>
        </p:xfrm>
        <a:graphic xmlns:a="http://schemas.openxmlformats.org/drawingml/2006/main">
          <a:graphicData uri="http://schemas.openxmlformats.org/drawingml/2006/table">
            <a:tbl>
              <a:tblPr/>
              <a:tblGrid>
                <a:gridCol w="4000500"/>
                <a:gridCol w="4286250"/>
                <a:gridCol w="2838450"/>
              </a:tblGrid>
              <a:tr h="462643">
                <a:tc>
                  <a:txBody>
                    <a:bodyPr/>
                    <a:lstStyle/>
                    <a:p>
                      <a:r>
                        <a:rPr sz="1875" b="1">
                          <a:solidFill>
                            <a:srgbClr val="FFFFFF"/>
                          </a:solidFill>
                          <a:latin typeface="Aptos"/>
                          <a:ea typeface="Aptos"/>
                          <a:cs typeface="Aptos"/>
                        </a:rPr>
                        <a:t>Methods</a:t>
                      </a:r>
                    </a:p>
                  </a:txBody>
                  <a:tcPr marL="91440" marR="91440" marT="45720" marB="45720">
                    <a:lnL w="9525">
                      <a:solidFill>
                        <a:srgbClr val="D9E3E8"/>
                      </a:solidFill>
                    </a:lnL>
                    <a:lnR w="9525">
                      <a:solidFill>
                        <a:srgbClr val="D9E3E8"/>
                      </a:solidFill>
                    </a:lnR>
                    <a:lnT w="9525">
                      <a:solidFill>
                        <a:srgbClr val="D9E3E8"/>
                      </a:solidFill>
                    </a:lnT>
                    <a:lnB w="9525">
                      <a:solidFill>
                        <a:srgbClr val="D9E3E8"/>
                      </a:solidFill>
                    </a:lnB>
                    <a:solidFill>
                      <a:srgbClr val="16324F"/>
                    </a:solidFill>
                  </a:tcPr>
                </a:tc>
                <a:tc>
                  <a:txBody>
                    <a:bodyPr/>
                    <a:lstStyle/>
                    <a:p>
                      <a:r>
                        <a:rPr sz="1875" b="1">
                          <a:solidFill>
                            <a:srgbClr val="FFFFFF"/>
                          </a:solidFill>
                          <a:latin typeface="Aptos"/>
                          <a:ea typeface="Aptos"/>
                          <a:cs typeface="Aptos"/>
                        </a:rPr>
                        <a:t>Behavior</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c>
                  <a:txBody>
                    <a:bodyPr/>
                    <a:lstStyle/>
                    <a:p>
                      <a:r>
                        <a:rPr sz="1875" b="1">
                          <a:solidFill>
                            <a:srgbClr val="FFFFFF"/>
                          </a:solidFill>
                          <a:latin typeface="Aptos"/>
                          <a:ea typeface="Aptos"/>
                          <a:cs typeface="Aptos"/>
                        </a:rPr>
                        <a:t>Time</a:t>
                      </a:r>
                    </a:p>
                  </a:txBody>
                  <a:tcPr marL="91440" marR="91440" marT="45720" marB="45720">
                    <a:lnR w="9525">
                      <a:solidFill>
                        <a:srgbClr val="D9E3E8"/>
                      </a:solidFill>
                    </a:lnR>
                    <a:lnT w="9525">
                      <a:solidFill>
                        <a:srgbClr val="D9E3E8"/>
                      </a:solidFill>
                    </a:lnT>
                    <a:lnB w="9525">
                      <a:solidFill>
                        <a:srgbClr val="D9E3E8"/>
                      </a:solidFill>
                    </a:lnB>
                    <a:solidFill>
                      <a:srgbClr val="16324F"/>
                    </a:solidFill>
                  </a:tcPr>
                </a:tc>
              </a:tr>
              <a:tr h="462643">
                <a:tc>
                  <a:txBody>
                    <a:bodyPr/>
                    <a:lstStyle/>
                    <a:p>
                      <a:r>
                        <a:rPr sz="1875" b="0">
                          <a:solidFill>
                            <a:srgbClr val="16324F"/>
                          </a:solidFill>
                          <a:latin typeface="Aptos"/>
                          <a:ea typeface="Aptos"/>
                          <a:cs typeface="Aptos"/>
                        </a:rPr>
                        <a:t>add(e), offer(e)</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Insert an item</a:t>
                      </a:r>
                    </a:p>
                  </a:txBody>
                  <a:tcPr marL="91440" marR="91440" marT="45720" marB="45720">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1F6F8"/>
                    </a:solidFill>
                  </a:tcPr>
                </a:tc>
              </a:tr>
              <a:tr h="462643">
                <a:tc>
                  <a:txBody>
                    <a:bodyPr/>
                    <a:lstStyle/>
                    <a:p>
                      <a:r>
                        <a:rPr sz="1875" b="0">
                          <a:solidFill>
                            <a:srgbClr val="16324F"/>
                          </a:solidFill>
                          <a:latin typeface="Aptos"/>
                          <a:ea typeface="Aptos"/>
                          <a:cs typeface="Aptos"/>
                        </a:rPr>
                        <a:t>poll(), remove()</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Remove head</a:t>
                      </a:r>
                    </a:p>
                  </a:txBody>
                  <a:tcPr marL="91440" marR="91440" marT="45720" marB="45720">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O(log n)</a:t>
                      </a:r>
                    </a:p>
                  </a:txBody>
                  <a:tcPr marL="91440" marR="91440" marT="45720" marB="45720">
                    <a:lnR w="9525">
                      <a:solidFill>
                        <a:srgbClr val="D9E3E8"/>
                      </a:solidFill>
                    </a:lnR>
                    <a:lnB w="9525">
                      <a:solidFill>
                        <a:srgbClr val="D9E3E8"/>
                      </a:solidFill>
                    </a:lnB>
                    <a:solidFill>
                      <a:srgbClr val="FFFFFF"/>
                    </a:solidFill>
                  </a:tcPr>
                </a:tc>
              </a:tr>
              <a:tr h="462643">
                <a:tc>
                  <a:txBody>
                    <a:bodyPr/>
                    <a:lstStyle/>
                    <a:p>
                      <a:r>
                        <a:rPr sz="1875" b="0">
                          <a:solidFill>
                            <a:srgbClr val="16324F"/>
                          </a:solidFill>
                          <a:latin typeface="Aptos"/>
                          <a:ea typeface="Aptos"/>
                          <a:cs typeface="Aptos"/>
                        </a:rPr>
                        <a:t>peek(), element()</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Read head</a:t>
                      </a:r>
                    </a:p>
                  </a:txBody>
                  <a:tcPr marL="91440" marR="91440" marT="45720" marB="45720">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O(1)</a:t>
                      </a:r>
                    </a:p>
                  </a:txBody>
                  <a:tcPr marL="91440" marR="91440" marT="45720" marB="45720">
                    <a:lnR w="9525">
                      <a:solidFill>
                        <a:srgbClr val="D9E3E8"/>
                      </a:solidFill>
                    </a:lnR>
                    <a:lnB w="9525">
                      <a:solidFill>
                        <a:srgbClr val="D9E3E8"/>
                      </a:solidFill>
                    </a:lnB>
                    <a:solidFill>
                      <a:srgbClr val="F1F6F8"/>
                    </a:solidFill>
                  </a:tcPr>
                </a:tc>
              </a:tr>
              <a:tr h="462643">
                <a:tc>
                  <a:txBody>
                    <a:bodyPr/>
                    <a:lstStyle/>
                    <a:p>
                      <a:r>
                        <a:rPr sz="1875" b="0">
                          <a:solidFill>
                            <a:srgbClr val="16324F"/>
                          </a:solidFill>
                          <a:latin typeface="Aptos"/>
                          <a:ea typeface="Aptos"/>
                          <a:cs typeface="Aptos"/>
                        </a:rPr>
                        <a:t>contains(o), remove(o)</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Find an arbitrary item</a:t>
                      </a:r>
                    </a:p>
                  </a:txBody>
                  <a:tcPr marL="91440" marR="91440" marT="45720" marB="45720">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O(n)</a:t>
                      </a:r>
                    </a:p>
                  </a:txBody>
                  <a:tcPr marL="91440" marR="91440" marT="45720" marB="45720">
                    <a:lnR w="9525">
                      <a:solidFill>
                        <a:srgbClr val="D9E3E8"/>
                      </a:solidFill>
                    </a:lnR>
                    <a:lnB w="9525">
                      <a:solidFill>
                        <a:srgbClr val="D9E3E8"/>
                      </a:solidFill>
                    </a:lnB>
                    <a:solidFill>
                      <a:srgbClr val="FFFFFF"/>
                    </a:solidFill>
                  </a:tcPr>
                </a:tc>
              </a:tr>
              <a:tr h="462643">
                <a:tc>
                  <a:txBody>
                    <a:bodyPr/>
                    <a:lstStyle/>
                    <a:p>
                      <a:r>
                        <a:rPr sz="1875" b="0">
                          <a:solidFill>
                            <a:srgbClr val="16324F"/>
                          </a:solidFill>
                          <a:latin typeface="Aptos"/>
                          <a:ea typeface="Aptos"/>
                          <a:cs typeface="Aptos"/>
                        </a:rPr>
                        <a:t>size(), isEmpty()</a:t>
                      </a:r>
                    </a:p>
                  </a:txBody>
                  <a:tcPr marL="91440" marR="91440" marT="45720" marB="45720">
                    <a:lnL w="9525">
                      <a:solidFill>
                        <a:srgbClr val="D9E3E8"/>
                      </a:solidFill>
                    </a:lnL>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Read count</a:t>
                      </a:r>
                    </a:p>
                  </a:txBody>
                  <a:tcPr marL="91440" marR="91440" marT="45720" marB="45720">
                    <a:lnR w="9525">
                      <a:solidFill>
                        <a:srgbClr val="D9E3E8"/>
                      </a:solidFill>
                    </a:lnR>
                    <a:lnB w="9525">
                      <a:solidFill>
                        <a:srgbClr val="D9E3E8"/>
                      </a:solidFill>
                    </a:lnB>
                    <a:solidFill>
                      <a:srgbClr val="F1F6F8"/>
                    </a:solidFill>
                  </a:tcPr>
                </a:tc>
                <a:tc>
                  <a:txBody>
                    <a:bodyPr/>
                    <a:lstStyle/>
                    <a:p>
                      <a:r>
                        <a:rPr sz="1875" b="0">
                          <a:solidFill>
                            <a:srgbClr val="16324F"/>
                          </a:solidFill>
                          <a:latin typeface="Aptos"/>
                          <a:ea typeface="Aptos"/>
                          <a:cs typeface="Aptos"/>
                        </a:rPr>
                        <a:t>O(1)</a:t>
                      </a:r>
                    </a:p>
                  </a:txBody>
                  <a:tcPr marL="91440" marR="91440" marT="45720" marB="45720">
                    <a:lnR w="9525">
                      <a:solidFill>
                        <a:srgbClr val="D9E3E8"/>
                      </a:solidFill>
                    </a:lnR>
                    <a:lnB w="9525">
                      <a:solidFill>
                        <a:srgbClr val="D9E3E8"/>
                      </a:solidFill>
                    </a:lnB>
                    <a:solidFill>
                      <a:srgbClr val="F1F6F8"/>
                    </a:solidFill>
                  </a:tcPr>
                </a:tc>
              </a:tr>
              <a:tr h="462643">
                <a:tc>
                  <a:txBody>
                    <a:bodyPr/>
                    <a:lstStyle/>
                    <a:p>
                      <a:r>
                        <a:rPr sz="1875" b="0">
                          <a:solidFill>
                            <a:srgbClr val="16324F"/>
                          </a:solidFill>
                          <a:latin typeface="Aptos"/>
                          <a:ea typeface="Aptos"/>
                          <a:cs typeface="Aptos"/>
                        </a:rPr>
                        <a:t>clear()</a:t>
                      </a:r>
                    </a:p>
                  </a:txBody>
                  <a:tcPr marL="91440" marR="91440" marT="45720" marB="45720">
                    <a:lnL w="9525">
                      <a:solidFill>
                        <a:srgbClr val="D9E3E8"/>
                      </a:solidFill>
                    </a:lnL>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Release references</a:t>
                      </a:r>
                    </a:p>
                  </a:txBody>
                  <a:tcPr marL="91440" marR="91440" marT="45720" marB="45720">
                    <a:lnR w="9525">
                      <a:solidFill>
                        <a:srgbClr val="D9E3E8"/>
                      </a:solidFill>
                    </a:lnR>
                    <a:lnB w="9525">
                      <a:solidFill>
                        <a:srgbClr val="D9E3E8"/>
                      </a:solidFill>
                    </a:lnB>
                    <a:solidFill>
                      <a:srgbClr val="FFFFFF"/>
                    </a:solidFill>
                  </a:tcPr>
                </a:tc>
                <a:tc>
                  <a:txBody>
                    <a:bodyPr/>
                    <a:lstStyle/>
                    <a:p>
                      <a:r>
                        <a:rPr sz="1875" b="0">
                          <a:solidFill>
                            <a:srgbClr val="16324F"/>
                          </a:solidFill>
                          <a:latin typeface="Aptos"/>
                          <a:ea typeface="Aptos"/>
                          <a:cs typeface="Aptos"/>
                        </a:rPr>
                        <a:t>O(n)</a:t>
                      </a:r>
                    </a:p>
                  </a:txBody>
                  <a:tcPr marL="91440" marR="91440" marT="45720" marB="45720">
                    <a:lnR w="9525">
                      <a:solidFill>
                        <a:srgbClr val="D9E3E8"/>
                      </a:solidFill>
                    </a:lnR>
                    <a:lnB w="9525">
                      <a:solidFill>
                        <a:srgbClr val="D9E3E8"/>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2C41433-60A4-49F0-9011-CE7281B53AF4}"/>
              </a:ext>
            </a:extLst>
          </p:cNvPr>
          <p:cNvSpPr>
            <a:spLocks xmlns:a="http://schemas.openxmlformats.org/drawingml/2006/main" noGrp="1"/>
          </p:cNvSpPr>
          <p:nvPr/>
        </p:nvSpPr>
        <p:spPr>
          <a:xfrm xmlns:a="http://schemas.openxmlformats.org/drawingml/2006/main">
            <a:off x="533400" y="53816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75569"/>
                </a:solidFill>
                <a:latin typeface="Aptos"/>
                <a:ea typeface="Aptos"/>
                <a:cs typeface="Aptos"/>
              </a:defRPr>
            </a:defPPr>
            <a:lvl1pPr>
              <a:buNone/>
              <a:defRPr sz="1800" b="0">
                <a:solidFill>
                  <a:srgbClr val="475569"/>
                </a:solidFill>
                <a:latin typeface="Aptos"/>
                <a:ea typeface="Aptos"/>
                <a:cs typeface="Aptos"/>
              </a:defRPr>
            </a:lvl1pPr>
            <a:lvl2pPr>
              <a:buNone/>
              <a:defRPr sz="1800" b="0">
                <a:solidFill>
                  <a:srgbClr val="475569"/>
                </a:solidFill>
                <a:latin typeface="Aptos"/>
                <a:ea typeface="Aptos"/>
                <a:cs typeface="Aptos"/>
              </a:defRPr>
            </a:lvl2pPr>
            <a:lvl3pPr>
              <a:buNone/>
              <a:defRPr sz="1800" b="0">
                <a:solidFill>
                  <a:srgbClr val="475569"/>
                </a:solidFill>
                <a:latin typeface="Aptos"/>
                <a:ea typeface="Aptos"/>
                <a:cs typeface="Aptos"/>
              </a:defRPr>
            </a:lvl3pPr>
            <a:lvl4pPr>
              <a:buNone/>
              <a:defRPr sz="1800" b="0">
                <a:solidFill>
                  <a:srgbClr val="475569"/>
                </a:solidFill>
                <a:latin typeface="Aptos"/>
                <a:ea typeface="Aptos"/>
                <a:cs typeface="Aptos"/>
              </a:defRPr>
            </a:lvl4pPr>
            <a:lvl5pPr>
              <a:buNone/>
              <a:defRPr sz="1800" b="0">
                <a:solidFill>
                  <a:srgbClr val="475569"/>
                </a:solidFill>
                <a:latin typeface="Aptos"/>
                <a:ea typeface="Aptos"/>
                <a:cs typeface="Aptos"/>
              </a:defRPr>
            </a:lvl5pPr>
            <a:lvl6pPr>
              <a:buNone/>
              <a:defRPr sz="1800" b="0">
                <a:solidFill>
                  <a:srgbClr val="475569"/>
                </a:solidFill>
                <a:latin typeface="Aptos"/>
                <a:ea typeface="Aptos"/>
                <a:cs typeface="Aptos"/>
              </a:defRPr>
            </a:lvl6pPr>
            <a:lvl7pPr>
              <a:buNone/>
              <a:defRPr sz="1800" b="0">
                <a:solidFill>
                  <a:srgbClr val="475569"/>
                </a:solidFill>
                <a:latin typeface="Aptos"/>
                <a:ea typeface="Aptos"/>
                <a:cs typeface="Aptos"/>
              </a:defRPr>
            </a:lvl7pPr>
            <a:lvl8pPr>
              <a:buNone/>
              <a:defRPr sz="1800" b="0">
                <a:solidFill>
                  <a:srgbClr val="475569"/>
                </a:solidFill>
                <a:latin typeface="Aptos"/>
                <a:ea typeface="Aptos"/>
                <a:cs typeface="Aptos"/>
              </a:defRPr>
            </a:lvl8pPr>
            <a:lvl9pPr>
              <a:buNone/>
              <a:defRPr sz="1800" b="0">
                <a:solidFill>
                  <a:srgbClr val="475569"/>
                </a:solidFill>
                <a:latin typeface="Aptos"/>
                <a:ea typeface="Aptos"/>
                <a:cs typeface="Aptos"/>
              </a:defRPr>
            </a:lvl9pPr>
          </a:lstStyle>
          <a:p xmlns:a="http://schemas.openxmlformats.org/drawingml/2006/main">
            <a:pPr>
              <a:buNone/>
              <a:defRPr sz="1800" b="0">
                <a:solidFill>
                  <a:srgbClr val="475569"/>
                </a:solidFill>
                <a:latin typeface="Aptos"/>
                <a:ea typeface="Aptos"/>
                <a:cs typeface="Aptos"/>
              </a:defRPr>
            </a:pPr>
            <a:r>
              <a:rPr sz="1800" b="0">
                <a:solidFill>
                  <a:srgbClr val="475569"/>
                </a:solidFill>
                <a:latin typeface="Aptos"/>
                <a:ea typeface="Aptos"/>
                <a:cs typeface="Aptos"/>
              </a:rPr>
              <a:t>poll / peek return null when empty. remove() / element() throw.</a:t>
            </a:r>
          </a:p>
          <a:p xmlns:a="http://schemas.openxmlformats.org/drawingml/2006/main">
            <a:pPr>
              <a:buNone/>
              <a:defRPr sz="1800" b="0">
                <a:solidFill>
                  <a:srgbClr val="475569"/>
                </a:solidFill>
                <a:latin typeface="Aptos"/>
                <a:ea typeface="Aptos"/>
                <a:cs typeface="Aptos"/>
              </a:defRPr>
            </a:pPr>
            <a:r>
              <a:rPr sz="1800" b="0">
                <a:solidFill>
                  <a:srgbClr val="475569"/>
                </a:solidFill>
                <a:latin typeface="Aptos"/>
                <a:ea typeface="Aptos"/>
                <a:cs typeface="Aptos"/>
              </a:rPr>
              <a:t>*Heap work is O(log n). Array growth can make one insertion O(n).</a:t>
            </a:r>
          </a:p>
        </p:txBody>
      </p:sp>
      <p:sp>
        <p:nvSpPr>
          <p:cNvPr id="7" name="local-java-JavaPriorityQueueDemo">
            <a:extLst xmlns:a="http://schemas.openxmlformats.org/drawingml/2006/main">
              <a:ext uri="{FF2B5EF4-FFF2-40B4-BE49-F238E27FC236}">
                <a16:creationId xmlns:a16="http://schemas.microsoft.com/office/drawing/2014/main" id="{9A0C3C65-8321-4673-90FF-141937AB8A14}"/>
              </a:ext>
            </a:extLst>
          </p:cNvPr>
          <p:cNvSpPr>
            <a:spLocks xmlns:a="http://schemas.openxmlformats.org/drawingml/2006/main" noGrp="1"/>
          </p:cNvSpPr>
          <p:nvPr/>
        </p:nvSpPr>
        <p:spPr>
          <a:xfrm xmlns:a="http://schemas.openxmlformats.org/drawingml/2006/main">
            <a:off x="51435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c17663578abf49ce"/>
              </a:rPr>
              <a:t>Java: JavaPriorityQueueDemo.java</a:t>
            </a:r>
          </a:p>
        </p:txBody>
      </p:sp>
      <p:sp>
        <p:nvSpPr>
          <p:cNvPr id="8" name="local-java-StablePriorityQueueDemo">
            <a:extLst xmlns:a="http://schemas.openxmlformats.org/drawingml/2006/main">
              <a:ext uri="{FF2B5EF4-FFF2-40B4-BE49-F238E27FC236}">
                <a16:creationId xmlns:a16="http://schemas.microsoft.com/office/drawing/2014/main" id="{C864D0BA-9B26-467A-AC1F-C8E24F6A0959}"/>
              </a:ext>
            </a:extLst>
          </p:cNvPr>
          <p:cNvSpPr>
            <a:spLocks xmlns:a="http://schemas.openxmlformats.org/drawingml/2006/main" noGrp="1"/>
          </p:cNvSpPr>
          <p:nvPr/>
        </p:nvSpPr>
        <p:spPr>
          <a:xfrm xmlns:a="http://schemas.openxmlformats.org/drawingml/2006/main">
            <a:off x="4229100" y="6229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007E8A"/>
                </a:solidFill>
                <a:latin typeface="Arial"/>
                <a:ea typeface="Arial"/>
                <a:cs typeface="Arial"/>
                <a:hlinkClick xmlns:r="http://schemas.openxmlformats.org/officeDocument/2006/relationships" r:id="R71eb94ff17824711"/>
              </a:rPr>
              <a:t>Java: StablePriorityQueueDemo.java</a:t>
            </a:r>
          </a:p>
        </p:txBody>
      </p:sp>
    </p:spTree>
    <p:extLst>
      <p:ext uri="{BB962C8B-B14F-4D97-AF65-F5344CB8AC3E}">
        <p14:creationId xmlns:p14="http://schemas.microsoft.com/office/powerpoint/2010/main" val="9446052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2026-10-25T16:07:26.6020000Z</dcterms:created>
  <dcterms:modified xsi:type="dcterms:W3CDTF">2026-10-25T16:07:26.6020000Z</dcterms:modified>
</coreProperties>
</file>