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4"/>
    <p:sldMasterId id="2147483659" r:id="rId5"/>
  </p:sldMasterIdLst>
  <p:notesMasterIdLst>
    <p:notesMasterId r:id="rId30"/>
  </p:notesMasterIdLst>
  <p:handoutMasterIdLst>
    <p:handoutMasterId r:id="rId31"/>
  </p:handoutMasterIdLst>
  <p:sldIdLst>
    <p:sldId id="408" r:id="rId6"/>
    <p:sldId id="410" r:id="rId7"/>
    <p:sldId id="412" r:id="rId8"/>
    <p:sldId id="413" r:id="rId9"/>
    <p:sldId id="414" r:id="rId10"/>
    <p:sldId id="415" r:id="rId11"/>
    <p:sldId id="416" r:id="rId12"/>
    <p:sldId id="417" r:id="rId13"/>
    <p:sldId id="418" r:id="rId14"/>
    <p:sldId id="419" r:id="rId15"/>
    <p:sldId id="420" r:id="rId16"/>
    <p:sldId id="421" r:id="rId17"/>
    <p:sldId id="422" r:id="rId18"/>
    <p:sldId id="423" r:id="rId19"/>
    <p:sldId id="425" r:id="rId20"/>
    <p:sldId id="426" r:id="rId21"/>
    <p:sldId id="427" r:id="rId22"/>
    <p:sldId id="428" r:id="rId23"/>
    <p:sldId id="429" r:id="rId24"/>
    <p:sldId id="430" r:id="rId25"/>
    <p:sldId id="431" r:id="rId26"/>
    <p:sldId id="432" r:id="rId27"/>
    <p:sldId id="433" r:id="rId28"/>
    <p:sldId id="434" r:id="rId29"/>
  </p:sldIdLst>
  <p:sldSz cx="9144000" cy="6858000" type="screen4x3"/>
  <p:notesSz cx="7077075" cy="9363075"/>
  <p:embeddedFontLst>
    <p:embeddedFont>
      <p:font typeface="Noto Sans Symbols" panose="020B060402020202020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29" userDrawn="1">
          <p15:clr>
            <a:srgbClr val="A4A3A4"/>
          </p15:clr>
        </p15:guide>
        <p15:guide id="2" pos="5465" userDrawn="1">
          <p15:clr>
            <a:srgbClr val="A4A3A4"/>
          </p15:clr>
        </p15:guide>
        <p15:guide id="3" pos="295" userDrawn="1">
          <p15:clr>
            <a:srgbClr val="A4A3A4"/>
          </p15:clr>
        </p15:guide>
        <p15:guide id="4" orient="horz" pos="119" userDrawn="1">
          <p15:clr>
            <a:srgbClr val="A4A3A4"/>
          </p15:clr>
        </p15:guide>
        <p15:guide id="5" orient="horz" pos="822" userDrawn="1">
          <p15:clr>
            <a:srgbClr val="A4A3A4"/>
          </p15:clr>
        </p15:guide>
        <p15:guide id="6" orient="horz" pos="95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022" autoAdjust="0"/>
    <p:restoredTop sz="80964" autoAdjust="0"/>
  </p:normalViewPr>
  <p:slideViewPr>
    <p:cSldViewPr snapToGrid="0" snapToObjects="1">
      <p:cViewPr varScale="1">
        <p:scale>
          <a:sx n="72" d="100"/>
          <a:sy n="72" d="100"/>
        </p:scale>
        <p:origin x="66" y="1248"/>
      </p:cViewPr>
      <p:guideLst>
        <p:guide orient="horz" pos="3929"/>
        <p:guide pos="5465"/>
        <p:guide pos="295"/>
        <p:guide orient="horz" pos="119"/>
        <p:guide orient="horz" pos="822"/>
        <p:guide orient="horz" pos="958"/>
      </p:guideLst>
    </p:cSldViewPr>
  </p:slideViewPr>
  <p:outlineViewPr>
    <p:cViewPr>
      <p:scale>
        <a:sx n="33" d="100"/>
        <a:sy n="33" d="100"/>
      </p:scale>
      <p:origin x="0" y="-11928"/>
    </p:cViewPr>
  </p:outlineViewPr>
  <p:notesTextViewPr>
    <p:cViewPr>
      <p:scale>
        <a:sx n="100" d="100"/>
        <a:sy n="100" d="100"/>
      </p:scale>
      <p:origin x="0" y="0"/>
    </p:cViewPr>
  </p:notesTextViewPr>
  <p:sorterViewPr>
    <p:cViewPr>
      <p:scale>
        <a:sx n="100" d="100"/>
        <a:sy n="100" d="100"/>
      </p:scale>
      <p:origin x="0" y="-334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font" Target="fonts/font8.fntdata"/><Relationship Id="rId21" Type="http://schemas.openxmlformats.org/officeDocument/2006/relationships/slide" Target="slides/slide16.xml"/><Relationship Id="rId34" Type="http://schemas.openxmlformats.org/officeDocument/2006/relationships/font" Target="fonts/font3.fntdata"/><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font" Target="fonts/font5.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handoutMaster" Target="handoutMasters/handoutMaster1.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font" Target="fonts/font2.fntdata"/><Relationship Id="rId38" Type="http://schemas.openxmlformats.org/officeDocument/2006/relationships/font" Target="fonts/font7.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8154"/>
          </a:xfrm>
          <a:prstGeom prst="rect">
            <a:avLst/>
          </a:prstGeom>
        </p:spPr>
        <p:txBody>
          <a:bodyPr vert="horz" lIns="93936" tIns="46968" rIns="93936" bIns="46968" rtlCol="0"/>
          <a:lstStyle>
            <a:lvl1pPr algn="l">
              <a:defRPr sz="1200"/>
            </a:lvl1pPr>
          </a:lstStyle>
          <a:p>
            <a:endParaRPr lang="en-US" dirty="0"/>
          </a:p>
        </p:txBody>
      </p:sp>
      <p:sp>
        <p:nvSpPr>
          <p:cNvPr id="3" name="Date Placeholder 2"/>
          <p:cNvSpPr>
            <a:spLocks noGrp="1"/>
          </p:cNvSpPr>
          <p:nvPr>
            <p:ph type="dt" sz="quarter" idx="1"/>
          </p:nvPr>
        </p:nvSpPr>
        <p:spPr>
          <a:xfrm>
            <a:off x="4008705" y="0"/>
            <a:ext cx="3066733" cy="468154"/>
          </a:xfrm>
          <a:prstGeom prst="rect">
            <a:avLst/>
          </a:prstGeom>
        </p:spPr>
        <p:txBody>
          <a:bodyPr vert="horz" lIns="93936" tIns="46968" rIns="93936" bIns="46968" rtlCol="0"/>
          <a:lstStyle>
            <a:lvl1pPr algn="r">
              <a:defRPr sz="1200"/>
            </a:lvl1pPr>
          </a:lstStyle>
          <a:p>
            <a:fld id="{2885CB01-6679-D646-ACB3-8B04B786C15F}" type="datetimeFigureOut">
              <a:rPr lang="en-US" smtClean="0"/>
              <a:t>10/30/2025</a:t>
            </a:fld>
            <a:endParaRPr lang="en-US" dirty="0"/>
          </a:p>
        </p:txBody>
      </p:sp>
      <p:sp>
        <p:nvSpPr>
          <p:cNvPr id="4" name="Footer Placeholder 3"/>
          <p:cNvSpPr>
            <a:spLocks noGrp="1"/>
          </p:cNvSpPr>
          <p:nvPr>
            <p:ph type="ftr" sz="quarter" idx="2"/>
          </p:nvPr>
        </p:nvSpPr>
        <p:spPr>
          <a:xfrm>
            <a:off x="0" y="8893296"/>
            <a:ext cx="3066733" cy="468154"/>
          </a:xfrm>
          <a:prstGeom prst="rect">
            <a:avLst/>
          </a:prstGeom>
        </p:spPr>
        <p:txBody>
          <a:bodyPr vert="horz" lIns="93936" tIns="46968" rIns="93936" bIns="46968" rtlCol="0" anchor="b"/>
          <a:lstStyle>
            <a:lvl1pPr algn="l">
              <a:defRPr sz="1200"/>
            </a:lvl1pPr>
          </a:lstStyle>
          <a:p>
            <a:endParaRPr lang="en-US" dirty="0"/>
          </a:p>
        </p:txBody>
      </p:sp>
      <p:sp>
        <p:nvSpPr>
          <p:cNvPr id="5" name="Slide Number Placeholder 4"/>
          <p:cNvSpPr>
            <a:spLocks noGrp="1"/>
          </p:cNvSpPr>
          <p:nvPr>
            <p:ph type="sldNum" sz="quarter" idx="3"/>
          </p:nvPr>
        </p:nvSpPr>
        <p:spPr>
          <a:xfrm>
            <a:off x="4008705" y="8893296"/>
            <a:ext cx="3066733" cy="468154"/>
          </a:xfrm>
          <a:prstGeom prst="rect">
            <a:avLst/>
          </a:prstGeom>
        </p:spPr>
        <p:txBody>
          <a:bodyPr vert="horz" lIns="93936" tIns="46968" rIns="93936" bIns="46968"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1" y="0"/>
            <a:ext cx="3066731" cy="468154"/>
          </a:xfrm>
          <a:prstGeom prst="rect">
            <a:avLst/>
          </a:prstGeom>
          <a:noFill/>
          <a:ln>
            <a:noFill/>
          </a:ln>
        </p:spPr>
        <p:txBody>
          <a:bodyPr lIns="93921" tIns="93921" rIns="93921" bIns="93921"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69682" marR="0" lvl="1" indent="0" algn="l" rtl="0">
              <a:spcBef>
                <a:spcPts val="0"/>
              </a:spcBef>
              <a:buNone/>
              <a:defRPr sz="1800" b="0" i="0" u="none" strike="noStrike" cap="none">
                <a:solidFill>
                  <a:schemeClr val="dk1"/>
                </a:solidFill>
                <a:latin typeface="Arial"/>
                <a:ea typeface="Arial"/>
                <a:cs typeface="Arial"/>
                <a:sym typeface="Arial"/>
              </a:defRPr>
            </a:lvl2pPr>
            <a:lvl3pPr marL="939363" marR="0" lvl="2" indent="0" algn="l" rtl="0">
              <a:spcBef>
                <a:spcPts val="0"/>
              </a:spcBef>
              <a:buNone/>
              <a:defRPr sz="1800" b="0" i="0" u="none" strike="noStrike" cap="none">
                <a:solidFill>
                  <a:schemeClr val="dk1"/>
                </a:solidFill>
                <a:latin typeface="Arial"/>
                <a:ea typeface="Arial"/>
                <a:cs typeface="Arial"/>
                <a:sym typeface="Arial"/>
              </a:defRPr>
            </a:lvl3pPr>
            <a:lvl4pPr marL="1409045" marR="0" lvl="3" indent="0" algn="l" rtl="0">
              <a:spcBef>
                <a:spcPts val="0"/>
              </a:spcBef>
              <a:buNone/>
              <a:defRPr sz="1800" b="0" i="0" u="none" strike="noStrike" cap="none">
                <a:solidFill>
                  <a:schemeClr val="dk1"/>
                </a:solidFill>
                <a:latin typeface="Arial"/>
                <a:ea typeface="Arial"/>
                <a:cs typeface="Arial"/>
                <a:sym typeface="Arial"/>
              </a:defRPr>
            </a:lvl4pPr>
            <a:lvl5pPr marL="1878726" marR="0" lvl="4" indent="0" algn="l" rtl="0">
              <a:spcBef>
                <a:spcPts val="0"/>
              </a:spcBef>
              <a:buNone/>
              <a:defRPr sz="1800" b="0" i="0" u="none" strike="noStrike" cap="none">
                <a:solidFill>
                  <a:schemeClr val="dk1"/>
                </a:solidFill>
                <a:latin typeface="Arial"/>
                <a:ea typeface="Arial"/>
                <a:cs typeface="Arial"/>
                <a:sym typeface="Arial"/>
              </a:defRPr>
            </a:lvl5pPr>
            <a:lvl6pPr marL="2348408" marR="0" lvl="5" indent="0" algn="l" rtl="0">
              <a:spcBef>
                <a:spcPts val="0"/>
              </a:spcBef>
              <a:buNone/>
              <a:defRPr sz="1800" b="0" i="0" u="none" strike="noStrike" cap="none">
                <a:solidFill>
                  <a:schemeClr val="dk1"/>
                </a:solidFill>
                <a:latin typeface="Arial"/>
                <a:ea typeface="Arial"/>
                <a:cs typeface="Arial"/>
                <a:sym typeface="Arial"/>
              </a:defRPr>
            </a:lvl6pPr>
            <a:lvl7pPr marL="2818089" marR="0" lvl="6" indent="0" algn="l" rtl="0">
              <a:spcBef>
                <a:spcPts val="0"/>
              </a:spcBef>
              <a:buNone/>
              <a:defRPr sz="1800" b="0" i="0" u="none" strike="noStrike" cap="none">
                <a:solidFill>
                  <a:schemeClr val="dk1"/>
                </a:solidFill>
                <a:latin typeface="Arial"/>
                <a:ea typeface="Arial"/>
                <a:cs typeface="Arial"/>
                <a:sym typeface="Arial"/>
              </a:defRPr>
            </a:lvl7pPr>
            <a:lvl8pPr marL="3287771" marR="0" lvl="7" indent="0" algn="l" rtl="0">
              <a:spcBef>
                <a:spcPts val="0"/>
              </a:spcBef>
              <a:buNone/>
              <a:defRPr sz="1800" b="0" i="0" u="none" strike="noStrike" cap="none">
                <a:solidFill>
                  <a:schemeClr val="dk1"/>
                </a:solidFill>
                <a:latin typeface="Arial"/>
                <a:ea typeface="Arial"/>
                <a:cs typeface="Arial"/>
                <a:sym typeface="Arial"/>
              </a:defRPr>
            </a:lvl8pPr>
            <a:lvl9pPr marL="3757452"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4008705" y="0"/>
            <a:ext cx="3066731" cy="468154"/>
          </a:xfrm>
          <a:prstGeom prst="rect">
            <a:avLst/>
          </a:prstGeom>
          <a:noFill/>
          <a:ln>
            <a:noFill/>
          </a:ln>
        </p:spPr>
        <p:txBody>
          <a:bodyPr lIns="93921" tIns="93921" rIns="93921" bIns="93921"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69682" marR="0" lvl="1" indent="0" algn="l" rtl="0">
              <a:spcBef>
                <a:spcPts val="0"/>
              </a:spcBef>
              <a:buNone/>
              <a:defRPr sz="1800" b="0" i="0" u="none" strike="noStrike" cap="none">
                <a:solidFill>
                  <a:schemeClr val="dk1"/>
                </a:solidFill>
                <a:latin typeface="Arial"/>
                <a:ea typeface="Arial"/>
                <a:cs typeface="Arial"/>
                <a:sym typeface="Arial"/>
              </a:defRPr>
            </a:lvl2pPr>
            <a:lvl3pPr marL="939363" marR="0" lvl="2" indent="0" algn="l" rtl="0">
              <a:spcBef>
                <a:spcPts val="0"/>
              </a:spcBef>
              <a:buNone/>
              <a:defRPr sz="1800" b="0" i="0" u="none" strike="noStrike" cap="none">
                <a:solidFill>
                  <a:schemeClr val="dk1"/>
                </a:solidFill>
                <a:latin typeface="Arial"/>
                <a:ea typeface="Arial"/>
                <a:cs typeface="Arial"/>
                <a:sym typeface="Arial"/>
              </a:defRPr>
            </a:lvl3pPr>
            <a:lvl4pPr marL="1409045" marR="0" lvl="3" indent="0" algn="l" rtl="0">
              <a:spcBef>
                <a:spcPts val="0"/>
              </a:spcBef>
              <a:buNone/>
              <a:defRPr sz="1800" b="0" i="0" u="none" strike="noStrike" cap="none">
                <a:solidFill>
                  <a:schemeClr val="dk1"/>
                </a:solidFill>
                <a:latin typeface="Arial"/>
                <a:ea typeface="Arial"/>
                <a:cs typeface="Arial"/>
                <a:sym typeface="Arial"/>
              </a:defRPr>
            </a:lvl4pPr>
            <a:lvl5pPr marL="1878726" marR="0" lvl="4" indent="0" algn="l" rtl="0">
              <a:spcBef>
                <a:spcPts val="0"/>
              </a:spcBef>
              <a:buNone/>
              <a:defRPr sz="1800" b="0" i="0" u="none" strike="noStrike" cap="none">
                <a:solidFill>
                  <a:schemeClr val="dk1"/>
                </a:solidFill>
                <a:latin typeface="Arial"/>
                <a:ea typeface="Arial"/>
                <a:cs typeface="Arial"/>
                <a:sym typeface="Arial"/>
              </a:defRPr>
            </a:lvl5pPr>
            <a:lvl6pPr marL="2348408" marR="0" lvl="5" indent="0" algn="l" rtl="0">
              <a:spcBef>
                <a:spcPts val="0"/>
              </a:spcBef>
              <a:buNone/>
              <a:defRPr sz="1800" b="0" i="0" u="none" strike="noStrike" cap="none">
                <a:solidFill>
                  <a:schemeClr val="dk1"/>
                </a:solidFill>
                <a:latin typeface="Arial"/>
                <a:ea typeface="Arial"/>
                <a:cs typeface="Arial"/>
                <a:sym typeface="Arial"/>
              </a:defRPr>
            </a:lvl6pPr>
            <a:lvl7pPr marL="2818089" marR="0" lvl="6" indent="0" algn="l" rtl="0">
              <a:spcBef>
                <a:spcPts val="0"/>
              </a:spcBef>
              <a:buNone/>
              <a:defRPr sz="1800" b="0" i="0" u="none" strike="noStrike" cap="none">
                <a:solidFill>
                  <a:schemeClr val="dk1"/>
                </a:solidFill>
                <a:latin typeface="Arial"/>
                <a:ea typeface="Arial"/>
                <a:cs typeface="Arial"/>
                <a:sym typeface="Arial"/>
              </a:defRPr>
            </a:lvl7pPr>
            <a:lvl8pPr marL="3287771" marR="0" lvl="7" indent="0" algn="l" rtl="0">
              <a:spcBef>
                <a:spcPts val="0"/>
              </a:spcBef>
              <a:buNone/>
              <a:defRPr sz="1800" b="0" i="0" u="none" strike="noStrike" cap="none">
                <a:solidFill>
                  <a:schemeClr val="dk1"/>
                </a:solidFill>
                <a:latin typeface="Arial"/>
                <a:ea typeface="Arial"/>
                <a:cs typeface="Arial"/>
                <a:sym typeface="Arial"/>
              </a:defRPr>
            </a:lvl8pPr>
            <a:lvl9pPr marL="3757452"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96975" y="701675"/>
            <a:ext cx="4683125" cy="351155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707708" y="4447461"/>
            <a:ext cx="5661659" cy="4213384"/>
          </a:xfrm>
          <a:prstGeom prst="rect">
            <a:avLst/>
          </a:prstGeom>
          <a:noFill/>
          <a:ln>
            <a:noFill/>
          </a:ln>
        </p:spPr>
        <p:txBody>
          <a:bodyPr lIns="93921" tIns="93921" rIns="93921" bIns="93921"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1" y="8893296"/>
            <a:ext cx="3066731" cy="468154"/>
          </a:xfrm>
          <a:prstGeom prst="rect">
            <a:avLst/>
          </a:prstGeom>
          <a:noFill/>
          <a:ln>
            <a:noFill/>
          </a:ln>
        </p:spPr>
        <p:txBody>
          <a:bodyPr lIns="93921" tIns="93921" rIns="93921" bIns="93921"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69682" marR="0" lvl="1" indent="0" algn="l" rtl="0">
              <a:spcBef>
                <a:spcPts val="0"/>
              </a:spcBef>
              <a:buNone/>
              <a:defRPr sz="1800" b="0" i="0" u="none" strike="noStrike" cap="none">
                <a:solidFill>
                  <a:schemeClr val="dk1"/>
                </a:solidFill>
                <a:latin typeface="Arial"/>
                <a:ea typeface="Arial"/>
                <a:cs typeface="Arial"/>
                <a:sym typeface="Arial"/>
              </a:defRPr>
            </a:lvl2pPr>
            <a:lvl3pPr marL="939363" marR="0" lvl="2" indent="0" algn="l" rtl="0">
              <a:spcBef>
                <a:spcPts val="0"/>
              </a:spcBef>
              <a:buNone/>
              <a:defRPr sz="1800" b="0" i="0" u="none" strike="noStrike" cap="none">
                <a:solidFill>
                  <a:schemeClr val="dk1"/>
                </a:solidFill>
                <a:latin typeface="Arial"/>
                <a:ea typeface="Arial"/>
                <a:cs typeface="Arial"/>
                <a:sym typeface="Arial"/>
              </a:defRPr>
            </a:lvl3pPr>
            <a:lvl4pPr marL="1409045" marR="0" lvl="3" indent="0" algn="l" rtl="0">
              <a:spcBef>
                <a:spcPts val="0"/>
              </a:spcBef>
              <a:buNone/>
              <a:defRPr sz="1800" b="0" i="0" u="none" strike="noStrike" cap="none">
                <a:solidFill>
                  <a:schemeClr val="dk1"/>
                </a:solidFill>
                <a:latin typeface="Arial"/>
                <a:ea typeface="Arial"/>
                <a:cs typeface="Arial"/>
                <a:sym typeface="Arial"/>
              </a:defRPr>
            </a:lvl4pPr>
            <a:lvl5pPr marL="1878726" marR="0" lvl="4" indent="0" algn="l" rtl="0">
              <a:spcBef>
                <a:spcPts val="0"/>
              </a:spcBef>
              <a:buNone/>
              <a:defRPr sz="1800" b="0" i="0" u="none" strike="noStrike" cap="none">
                <a:solidFill>
                  <a:schemeClr val="dk1"/>
                </a:solidFill>
                <a:latin typeface="Arial"/>
                <a:ea typeface="Arial"/>
                <a:cs typeface="Arial"/>
                <a:sym typeface="Arial"/>
              </a:defRPr>
            </a:lvl5pPr>
            <a:lvl6pPr marL="2348408" marR="0" lvl="5" indent="0" algn="l" rtl="0">
              <a:spcBef>
                <a:spcPts val="0"/>
              </a:spcBef>
              <a:buNone/>
              <a:defRPr sz="1800" b="0" i="0" u="none" strike="noStrike" cap="none">
                <a:solidFill>
                  <a:schemeClr val="dk1"/>
                </a:solidFill>
                <a:latin typeface="Arial"/>
                <a:ea typeface="Arial"/>
                <a:cs typeface="Arial"/>
                <a:sym typeface="Arial"/>
              </a:defRPr>
            </a:lvl6pPr>
            <a:lvl7pPr marL="2818089" marR="0" lvl="6" indent="0" algn="l" rtl="0">
              <a:spcBef>
                <a:spcPts val="0"/>
              </a:spcBef>
              <a:buNone/>
              <a:defRPr sz="1800" b="0" i="0" u="none" strike="noStrike" cap="none">
                <a:solidFill>
                  <a:schemeClr val="dk1"/>
                </a:solidFill>
                <a:latin typeface="Arial"/>
                <a:ea typeface="Arial"/>
                <a:cs typeface="Arial"/>
                <a:sym typeface="Arial"/>
              </a:defRPr>
            </a:lvl7pPr>
            <a:lvl8pPr marL="3287771" marR="0" lvl="7" indent="0" algn="l" rtl="0">
              <a:spcBef>
                <a:spcPts val="0"/>
              </a:spcBef>
              <a:buNone/>
              <a:defRPr sz="1800" b="0" i="0" u="none" strike="noStrike" cap="none">
                <a:solidFill>
                  <a:schemeClr val="dk1"/>
                </a:solidFill>
                <a:latin typeface="Arial"/>
                <a:ea typeface="Arial"/>
                <a:cs typeface="Arial"/>
                <a:sym typeface="Arial"/>
              </a:defRPr>
            </a:lvl8pPr>
            <a:lvl9pPr marL="3757452"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4008705" y="8893296"/>
            <a:ext cx="3066731" cy="468154"/>
          </a:xfrm>
          <a:prstGeom prst="rect">
            <a:avLst/>
          </a:prstGeom>
          <a:noFill/>
          <a:ln>
            <a:noFill/>
          </a:ln>
        </p:spPr>
        <p:txBody>
          <a:bodyPr lIns="93921" tIns="46948" rIns="93921" bIns="46948" anchor="b" anchorCtr="0">
            <a:noAutofit/>
          </a:bodyPr>
          <a:lstStyle/>
          <a:p>
            <a:pPr algn="r">
              <a:buSzPct val="25000"/>
            </a:pPr>
            <a:fld id="{00000000-1234-1234-1234-123412341234}" type="slidenum">
              <a:rPr lang="en-US" sz="1200" smtClean="0">
                <a:solidFill>
                  <a:schemeClr val="dk1"/>
                </a:solidFill>
              </a:rPr>
              <a:pPr algn="r">
                <a:buSzPct val="25000"/>
              </a:pPr>
              <a:t>‹#›</a:t>
            </a:fld>
            <a:endParaRPr lang="en-US" sz="1200" dirty="0">
              <a:solidFill>
                <a:schemeClr val="dk1"/>
              </a:solidFil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liveexample.pearsoncmg.com/html/TestFileStream.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liveexample.pearsoncmg.com/html/TestFileStream.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liveexample.pearsoncmg.com/html/Copy.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liveexample.pearsoncmg.com/html/TestObjectOutputStream.html"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www.cs.armstrong.edu/liang/intro11e/html/TestObjectInputStream.html"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a:t>
            </a:fld>
            <a:endParaRPr lang="en-US" sz="1200" dirty="0">
              <a:solidFill>
                <a:schemeClr val="dk1"/>
              </a:solidFill>
            </a:endParaRPr>
          </a:p>
        </p:txBody>
      </p:sp>
    </p:spTree>
    <p:extLst>
      <p:ext uri="{BB962C8B-B14F-4D97-AF65-F5344CB8AC3E}">
        <p14:creationId xmlns:p14="http://schemas.microsoft.com/office/powerpoint/2010/main" val="19580676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2</a:t>
            </a:fld>
            <a:endParaRPr lang="en-US" sz="1200" dirty="0">
              <a:solidFill>
                <a:schemeClr val="dk1"/>
              </a:solidFill>
            </a:endParaRPr>
          </a:p>
        </p:txBody>
      </p:sp>
    </p:spTree>
    <p:extLst>
      <p:ext uri="{BB962C8B-B14F-4D97-AF65-F5344CB8AC3E}">
        <p14:creationId xmlns:p14="http://schemas.microsoft.com/office/powerpoint/2010/main" val="5589746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Data stored in a text file are represented in human-readable form. Data stored in a binary file are represented in binary form. You cannot read binary files. Binary files are designed to be read by programs. For example, the Java source programs are stored in text files and can be read by a text editor, but the Java classes are stored in binary files and are read by the J</a:t>
            </a:r>
            <a:r>
              <a:rPr lang="en-US" sz="100" dirty="0"/>
              <a:t> </a:t>
            </a:r>
            <a:r>
              <a:rPr lang="en-US" sz="1200" dirty="0"/>
              <a:t>V</a:t>
            </a:r>
            <a:r>
              <a:rPr lang="en-US" sz="100" dirty="0"/>
              <a:t> </a:t>
            </a:r>
            <a:r>
              <a:rPr lang="en-US" sz="1200" dirty="0"/>
              <a:t>M. The advantage of binary files is that they are more efficient to process than text files.</a:t>
            </a:r>
          </a:p>
          <a:p>
            <a:r>
              <a:rPr lang="en-US" sz="1200" dirty="0"/>
              <a:t>Although it is not technically precise and correct, you can imagine that a text file consists of a sequence of characters and a binary file consists of a sequence of bits. For example, the decimal integer 199 is stored as the sequence of three characters: '1', '9', '9' in a text file and the same integer is stored as a byte-type value C7 in a binary file, because decimal 199 equals to hex C7.</a:t>
            </a:r>
          </a:p>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3</a:t>
            </a:fld>
            <a:endParaRPr lang="en-US" sz="1200" dirty="0">
              <a:solidFill>
                <a:schemeClr val="dk1"/>
              </a:solidFill>
            </a:endParaRPr>
          </a:p>
        </p:txBody>
      </p:sp>
    </p:spTree>
    <p:extLst>
      <p:ext uri="{BB962C8B-B14F-4D97-AF65-F5344CB8AC3E}">
        <p14:creationId xmlns:p14="http://schemas.microsoft.com/office/powerpoint/2010/main" val="10315524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4</a:t>
            </a:fld>
            <a:endParaRPr lang="en-US" sz="1200" dirty="0">
              <a:solidFill>
                <a:schemeClr val="dk1"/>
              </a:solidFill>
            </a:endParaRPr>
          </a:p>
        </p:txBody>
      </p:sp>
    </p:spTree>
    <p:extLst>
      <p:ext uri="{BB962C8B-B14F-4D97-AF65-F5344CB8AC3E}">
        <p14:creationId xmlns:p14="http://schemas.microsoft.com/office/powerpoint/2010/main" val="1081268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5</a:t>
            </a:fld>
            <a:endParaRPr lang="en-US" sz="1200" dirty="0">
              <a:solidFill>
                <a:schemeClr val="dk1"/>
              </a:solidFill>
            </a:endParaRPr>
          </a:p>
        </p:txBody>
      </p:sp>
    </p:spTree>
    <p:extLst>
      <p:ext uri="{BB962C8B-B14F-4D97-AF65-F5344CB8AC3E}">
        <p14:creationId xmlns:p14="http://schemas.microsoft.com/office/powerpoint/2010/main" val="3486715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6</a:t>
            </a:fld>
            <a:endParaRPr lang="en-US" sz="1200" dirty="0">
              <a:solidFill>
                <a:schemeClr val="dk1"/>
              </a:solidFill>
            </a:endParaRPr>
          </a:p>
        </p:txBody>
      </p:sp>
    </p:spTree>
    <p:extLst>
      <p:ext uri="{BB962C8B-B14F-4D97-AF65-F5344CB8AC3E}">
        <p14:creationId xmlns:p14="http://schemas.microsoft.com/office/powerpoint/2010/main" val="35047492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7</a:t>
            </a:fld>
            <a:endParaRPr lang="en-US" sz="1200" dirty="0">
              <a:solidFill>
                <a:schemeClr val="dk1"/>
              </a:solidFill>
            </a:endParaRPr>
          </a:p>
        </p:txBody>
      </p:sp>
    </p:spTree>
    <p:extLst>
      <p:ext uri="{BB962C8B-B14F-4D97-AF65-F5344CB8AC3E}">
        <p14:creationId xmlns:p14="http://schemas.microsoft.com/office/powerpoint/2010/main" val="7552123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8</a:t>
            </a:fld>
            <a:endParaRPr lang="en-US" sz="1200" dirty="0">
              <a:solidFill>
                <a:schemeClr val="dk1"/>
              </a:solidFill>
            </a:endParaRPr>
          </a:p>
        </p:txBody>
      </p:sp>
    </p:spTree>
    <p:extLst>
      <p:ext uri="{BB962C8B-B14F-4D97-AF65-F5344CB8AC3E}">
        <p14:creationId xmlns:p14="http://schemas.microsoft.com/office/powerpoint/2010/main" val="30422385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r>
              <a:rPr lang="en-IN" dirty="0" err="1"/>
              <a:t>TestFileStream</a:t>
            </a:r>
            <a:r>
              <a:rPr lang="en-IN" dirty="0"/>
              <a:t>: </a:t>
            </a:r>
            <a:r>
              <a:rPr lang="en-IN" dirty="0">
                <a:hlinkClick r:id="rId3"/>
              </a:rPr>
              <a:t>https://liveexample.pearsoncmg.com/html/TestFileStream.html</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9</a:t>
            </a:fld>
            <a:endParaRPr lang="en-US" sz="1200" dirty="0">
              <a:solidFill>
                <a:schemeClr val="dk1"/>
              </a:solidFill>
            </a:endParaRPr>
          </a:p>
        </p:txBody>
      </p:sp>
    </p:spTree>
    <p:extLst>
      <p:ext uri="{BB962C8B-B14F-4D97-AF65-F5344CB8AC3E}">
        <p14:creationId xmlns:p14="http://schemas.microsoft.com/office/powerpoint/2010/main" val="20815559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10</a:t>
            </a:fld>
            <a:endParaRPr lang="en-US" sz="1200" dirty="0">
              <a:solidFill>
                <a:schemeClr val="dk1"/>
              </a:solidFill>
            </a:endParaRPr>
          </a:p>
        </p:txBody>
      </p:sp>
    </p:spTree>
    <p:extLst>
      <p:ext uri="{BB962C8B-B14F-4D97-AF65-F5344CB8AC3E}">
        <p14:creationId xmlns:p14="http://schemas.microsoft.com/office/powerpoint/2010/main" val="21788964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11</a:t>
            </a:fld>
            <a:endParaRPr lang="en-US" sz="1200" dirty="0">
              <a:solidFill>
                <a:schemeClr val="dk1"/>
              </a:solidFill>
            </a:endParaRPr>
          </a:p>
        </p:txBody>
      </p:sp>
    </p:spTree>
    <p:extLst>
      <p:ext uri="{BB962C8B-B14F-4D97-AF65-F5344CB8AC3E}">
        <p14:creationId xmlns:p14="http://schemas.microsoft.com/office/powerpoint/2010/main" val="1320180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12</a:t>
            </a:fld>
            <a:endParaRPr lang="en-US" sz="1200" dirty="0">
              <a:solidFill>
                <a:schemeClr val="dk1"/>
              </a:solidFill>
            </a:endParaRPr>
          </a:p>
        </p:txBody>
      </p:sp>
    </p:spTree>
    <p:extLst>
      <p:ext uri="{BB962C8B-B14F-4D97-AF65-F5344CB8AC3E}">
        <p14:creationId xmlns:p14="http://schemas.microsoft.com/office/powerpoint/2010/main" val="151571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13</a:t>
            </a:fld>
            <a:endParaRPr lang="en-US" sz="1200" dirty="0">
              <a:solidFill>
                <a:schemeClr val="dk1"/>
              </a:solidFill>
            </a:endParaRPr>
          </a:p>
        </p:txBody>
      </p:sp>
    </p:spTree>
    <p:extLst>
      <p:ext uri="{BB962C8B-B14F-4D97-AF65-F5344CB8AC3E}">
        <p14:creationId xmlns:p14="http://schemas.microsoft.com/office/powerpoint/2010/main" val="25767138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14</a:t>
            </a:fld>
            <a:endParaRPr lang="en-US" sz="1200" dirty="0">
              <a:solidFill>
                <a:schemeClr val="dk1"/>
              </a:solidFill>
            </a:endParaRPr>
          </a:p>
        </p:txBody>
      </p:sp>
    </p:spTree>
    <p:extLst>
      <p:ext uri="{BB962C8B-B14F-4D97-AF65-F5344CB8AC3E}">
        <p14:creationId xmlns:p14="http://schemas.microsoft.com/office/powerpoint/2010/main" val="41902521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TestDataStream</a:t>
            </a:r>
            <a:r>
              <a:rPr lang="en-IN" dirty="0"/>
              <a:t>: </a:t>
            </a:r>
            <a:r>
              <a:rPr lang="en-IN" dirty="0">
                <a:hlinkClick r:id="rId3"/>
              </a:rPr>
              <a:t>https://liveexample.pearsoncmg.com/html/TestFileStream.html</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15</a:t>
            </a:fld>
            <a:endParaRPr lang="en-US" sz="1200" dirty="0">
              <a:solidFill>
                <a:schemeClr val="dk1"/>
              </a:solidFill>
            </a:endParaRPr>
          </a:p>
        </p:txBody>
      </p:sp>
    </p:spTree>
    <p:extLst>
      <p:ext uri="{BB962C8B-B14F-4D97-AF65-F5344CB8AC3E}">
        <p14:creationId xmlns:p14="http://schemas.microsoft.com/office/powerpoint/2010/main" val="34239104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16</a:t>
            </a:fld>
            <a:endParaRPr lang="en-US" sz="1200" dirty="0">
              <a:solidFill>
                <a:schemeClr val="dk1"/>
              </a:solidFill>
            </a:endParaRPr>
          </a:p>
        </p:txBody>
      </p:sp>
    </p:spTree>
    <p:extLst>
      <p:ext uri="{BB962C8B-B14F-4D97-AF65-F5344CB8AC3E}">
        <p14:creationId xmlns:p14="http://schemas.microsoft.com/office/powerpoint/2010/main" val="6029719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17</a:t>
            </a:fld>
            <a:endParaRPr lang="en-US" sz="1200" dirty="0">
              <a:solidFill>
                <a:schemeClr val="dk1"/>
              </a:solidFill>
            </a:endParaRPr>
          </a:p>
        </p:txBody>
      </p:sp>
    </p:spTree>
    <p:extLst>
      <p:ext uri="{BB962C8B-B14F-4D97-AF65-F5344CB8AC3E}">
        <p14:creationId xmlns:p14="http://schemas.microsoft.com/office/powerpoint/2010/main" val="42442244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18</a:t>
            </a:fld>
            <a:endParaRPr lang="en-US" sz="1200" dirty="0">
              <a:solidFill>
                <a:schemeClr val="dk1"/>
              </a:solidFill>
            </a:endParaRPr>
          </a:p>
        </p:txBody>
      </p:sp>
    </p:spTree>
    <p:extLst>
      <p:ext uri="{BB962C8B-B14F-4D97-AF65-F5344CB8AC3E}">
        <p14:creationId xmlns:p14="http://schemas.microsoft.com/office/powerpoint/2010/main" val="14848757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19</a:t>
            </a:fld>
            <a:endParaRPr lang="en-US" sz="1200" dirty="0">
              <a:solidFill>
                <a:schemeClr val="dk1"/>
              </a:solidFill>
            </a:endParaRPr>
          </a:p>
        </p:txBody>
      </p:sp>
    </p:spTree>
    <p:extLst>
      <p:ext uri="{BB962C8B-B14F-4D97-AF65-F5344CB8AC3E}">
        <p14:creationId xmlns:p14="http://schemas.microsoft.com/office/powerpoint/2010/main" val="7434021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a:p>
            <a:r>
              <a:rPr lang="en-IN" dirty="0"/>
              <a:t>Copy: </a:t>
            </a:r>
            <a:r>
              <a:rPr lang="en-IN" dirty="0">
                <a:hlinkClick r:id="rId3"/>
              </a:rPr>
              <a:t>https://liveexample.pearsoncmg.com/html/Copy.html</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20</a:t>
            </a:fld>
            <a:endParaRPr lang="en-US" sz="1200" dirty="0">
              <a:solidFill>
                <a:schemeClr val="dk1"/>
              </a:solidFill>
            </a:endParaRPr>
          </a:p>
        </p:txBody>
      </p:sp>
    </p:spTree>
    <p:extLst>
      <p:ext uri="{BB962C8B-B14F-4D97-AF65-F5344CB8AC3E}">
        <p14:creationId xmlns:p14="http://schemas.microsoft.com/office/powerpoint/2010/main" val="9684107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21</a:t>
            </a:fld>
            <a:endParaRPr lang="en-US" sz="1200" dirty="0">
              <a:solidFill>
                <a:schemeClr val="dk1"/>
              </a:solidFill>
            </a:endParaRPr>
          </a:p>
        </p:txBody>
      </p:sp>
    </p:spTree>
    <p:extLst>
      <p:ext uri="{BB962C8B-B14F-4D97-AF65-F5344CB8AC3E}">
        <p14:creationId xmlns:p14="http://schemas.microsoft.com/office/powerpoint/2010/main" val="23376794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22</a:t>
            </a:fld>
            <a:endParaRPr lang="en-US" sz="1200" dirty="0">
              <a:solidFill>
                <a:schemeClr val="dk1"/>
              </a:solidFill>
            </a:endParaRPr>
          </a:p>
        </p:txBody>
      </p:sp>
    </p:spTree>
    <p:extLst>
      <p:ext uri="{BB962C8B-B14F-4D97-AF65-F5344CB8AC3E}">
        <p14:creationId xmlns:p14="http://schemas.microsoft.com/office/powerpoint/2010/main" val="40539804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23</a:t>
            </a:fld>
            <a:endParaRPr lang="en-US" sz="1200" dirty="0">
              <a:solidFill>
                <a:schemeClr val="dk1"/>
              </a:solidFill>
            </a:endParaRPr>
          </a:p>
        </p:txBody>
      </p:sp>
    </p:spTree>
    <p:extLst>
      <p:ext uri="{BB962C8B-B14F-4D97-AF65-F5344CB8AC3E}">
        <p14:creationId xmlns:p14="http://schemas.microsoft.com/office/powerpoint/2010/main" val="10950460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err="1"/>
              <a:t>TestObjectOutputStream</a:t>
            </a:r>
            <a:r>
              <a:rPr lang="en-IN" dirty="0"/>
              <a:t>: </a:t>
            </a:r>
            <a:r>
              <a:rPr lang="en-IN" dirty="0">
                <a:hlinkClick r:id="rId3"/>
              </a:rPr>
              <a:t>https://liveexample.pearsoncmg.com/html/TestObjectOutputStream.html</a:t>
            </a:r>
            <a:endParaRPr lang="en-IN" dirty="0"/>
          </a:p>
          <a:p>
            <a:r>
              <a:rPr lang="en-IN" dirty="0" err="1"/>
              <a:t>TestObjectInputStream</a:t>
            </a:r>
            <a:r>
              <a:rPr lang="en-IN" dirty="0"/>
              <a:t>: </a:t>
            </a:r>
            <a:r>
              <a:rPr lang="en-IN" dirty="0">
                <a:hlinkClick r:id="rId4"/>
              </a:rPr>
              <a:t>http://www.cs.armstrong.edu/liang/intro11e/html/TestObjectInputStream.html</a:t>
            </a:r>
            <a:endParaRPr lang="en-IN" dirty="0"/>
          </a:p>
        </p:txBody>
      </p:sp>
      <p:sp>
        <p:nvSpPr>
          <p:cNvPr id="4" name="Slide Number Placeholder 3"/>
          <p:cNvSpPr>
            <a:spLocks noGrp="1"/>
          </p:cNvSpPr>
          <p:nvPr>
            <p:ph type="sldNum" idx="12"/>
          </p:nvPr>
        </p:nvSpPr>
        <p:spPr/>
        <p:txBody>
          <a:bodyPr/>
          <a:lstStyle/>
          <a:p>
            <a:pPr algn="r">
              <a:buSzPct val="25000"/>
            </a:pPr>
            <a:fld id="{00000000-1234-1234-1234-123412341234}" type="slidenum">
              <a:rPr lang="en-US" sz="1200">
                <a:solidFill>
                  <a:schemeClr val="dk1"/>
                </a:solidFill>
              </a:rPr>
              <a:pPr algn="r">
                <a:buSzPct val="25000"/>
              </a:pPr>
              <a:t>24</a:t>
            </a:fld>
            <a:endParaRPr lang="en-US" sz="1200" dirty="0">
              <a:solidFill>
                <a:schemeClr val="dk1"/>
              </a:solidFill>
            </a:endParaRPr>
          </a:p>
        </p:txBody>
      </p:sp>
    </p:spTree>
    <p:extLst>
      <p:ext uri="{BB962C8B-B14F-4D97-AF65-F5344CB8AC3E}">
        <p14:creationId xmlns:p14="http://schemas.microsoft.com/office/powerpoint/2010/main" val="3921645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8229600" cy="198039"/>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1841636"/>
            <a:ext cx="8229600" cy="2329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191482"/>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2515536"/>
            <a:ext cx="8229600" cy="22164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2840656"/>
            <a:ext cx="8229600" cy="20092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3169638"/>
            <a:ext cx="8229600" cy="21700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3488845"/>
            <a:ext cx="8229600" cy="239102"/>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Text Placeholder 3"/>
          <p:cNvSpPr>
            <a:spLocks noGrp="1"/>
          </p:cNvSpPr>
          <p:nvPr>
            <p:ph type="body" sz="quarter" idx="20"/>
          </p:nvPr>
        </p:nvSpPr>
        <p:spPr>
          <a:xfrm>
            <a:off x="457200" y="3727450"/>
            <a:ext cx="8229600" cy="328613"/>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8"/>
          <p:cNvSpPr>
            <a:spLocks noGrp="1"/>
          </p:cNvSpPr>
          <p:nvPr>
            <p:ph type="body" sz="quarter" idx="21"/>
          </p:nvPr>
        </p:nvSpPr>
        <p:spPr>
          <a:xfrm>
            <a:off x="457200" y="40560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3" name="Text Placeholder 12"/>
          <p:cNvSpPr>
            <a:spLocks noGrp="1"/>
          </p:cNvSpPr>
          <p:nvPr>
            <p:ph type="body" sz="quarter" idx="22"/>
          </p:nvPr>
        </p:nvSpPr>
        <p:spPr>
          <a:xfrm>
            <a:off x="457200" y="4349750"/>
            <a:ext cx="8229600" cy="280988"/>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0" name="Text Placeholder 19"/>
          <p:cNvSpPr>
            <a:spLocks noGrp="1"/>
          </p:cNvSpPr>
          <p:nvPr>
            <p:ph type="body" sz="quarter" idx="23"/>
          </p:nvPr>
        </p:nvSpPr>
        <p:spPr>
          <a:xfrm>
            <a:off x="457200" y="4630738"/>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4" name="Text Placeholder 23"/>
          <p:cNvSpPr>
            <a:spLocks noGrp="1"/>
          </p:cNvSpPr>
          <p:nvPr>
            <p:ph type="body" sz="quarter" idx="24"/>
          </p:nvPr>
        </p:nvSpPr>
        <p:spPr>
          <a:xfrm>
            <a:off x="457200" y="4970463"/>
            <a:ext cx="8229600" cy="293687"/>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7" name="Text Placeholder 26"/>
          <p:cNvSpPr>
            <a:spLocks noGrp="1"/>
          </p:cNvSpPr>
          <p:nvPr>
            <p:ph type="body" sz="quarter" idx="25"/>
          </p:nvPr>
        </p:nvSpPr>
        <p:spPr>
          <a:xfrm>
            <a:off x="457200" y="5264150"/>
            <a:ext cx="8229600" cy="339725"/>
          </a:xfrm>
        </p:spPr>
        <p:txBody>
          <a:bodyPr/>
          <a:lstStyle>
            <a:lvl1pPr indent="-255600">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573144346"/>
      </p:ext>
    </p:extLst>
  </p:cSld>
  <p:clrMapOvr>
    <a:masterClrMapping/>
  </p:clrMapOvr>
  <p:extLst>
    <p:ext uri="{DCECCB84-F9BA-43D5-87BE-67443E8EF086}">
      <p15:sldGuideLst xmlns:p15="http://schemas.microsoft.com/office/powerpoint/2012/main">
        <p15:guide id="1" orient="horz" pos="98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a:ea typeface="Verdana" panose="020B0604030504040204" pitchFamily="34" charset="0"/>
                <a:cs typeface="Verdana" panose="020B0604030504040204" pitchFamily="34" charset="0"/>
              </a:rPr>
              <a:t>Copyright © 2024 Pearson Education, Inc. All Rights Reserved</a:t>
            </a: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6"/>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81" r:id="rId9"/>
    <p:sldLayoutId id="2147483671" r:id="rId10"/>
    <p:sldLayoutId id="2147483673" r:id="rId11"/>
    <p:sldLayoutId id="2147483670" r:id="rId12"/>
    <p:sldLayoutId id="2147483669" r:id="rId13"/>
    <p:sldLayoutId id="214748365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hyperlink" Target="https://liveexample.pearsoncmg.com/html/TestFileStream.html" TargetMode="External"/><Relationship Id="rId4" Type="http://schemas.openxmlformats.org/officeDocument/2006/relationships/hyperlink" Target="TestFileStream.java"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hyperlink" Target="TestDataFileStream.java"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0.xml"/><Relationship Id="rId4" Type="http://schemas.openxmlformats.org/officeDocument/2006/relationships/hyperlink" Target="Copy.java"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TestObjectOutputStream.java" TargetMode="External"/><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hyperlink" Target="TestObjectInputStream.jav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1"/>
            <a:ext cx="8229600" cy="1097279"/>
          </a:xfrm>
        </p:spPr>
        <p:txBody>
          <a:bodyPr/>
          <a:lstStyle/>
          <a:p>
            <a:r>
              <a:rPr lang="en-US"/>
              <a:t>Motivations</a:t>
            </a:r>
          </a:p>
        </p:txBody>
      </p:sp>
      <p:sp>
        <p:nvSpPr>
          <p:cNvPr id="3" name="Content Placeholder 2"/>
          <p:cNvSpPr>
            <a:spLocks noGrp="1"/>
          </p:cNvSpPr>
          <p:nvPr>
            <p:ph sz="quarter" idx="13"/>
          </p:nvPr>
        </p:nvSpPr>
        <p:spPr>
          <a:xfrm>
            <a:off x="457200" y="1554920"/>
            <a:ext cx="8218488" cy="3242367"/>
          </a:xfrm>
        </p:spPr>
        <p:txBody>
          <a:bodyPr/>
          <a:lstStyle/>
          <a:p>
            <a:pPr marL="432" indent="0">
              <a:buNone/>
            </a:pPr>
            <a:r>
              <a:rPr lang="en-US"/>
              <a:t>Data stored in a text file is represented in human-readable form. Data stored in a binary file is represented in binary form. You cannot read binary files. They are designed to be read by programs. For example, Java source programs are stored in text files and can be read by a text editor, but Java classes are stored in binary files and are read by the J</a:t>
            </a:r>
            <a:r>
              <a:rPr lang="en-US" sz="100"/>
              <a:t> </a:t>
            </a:r>
            <a:r>
              <a:rPr lang="en-US"/>
              <a:t>V</a:t>
            </a:r>
            <a:r>
              <a:rPr lang="en-US" sz="100"/>
              <a:t> </a:t>
            </a:r>
            <a:r>
              <a:rPr lang="en-US"/>
              <a:t>M. The advantage of binary files is that they are more efficient to process than text files.</a:t>
            </a:r>
          </a:p>
        </p:txBody>
      </p:sp>
    </p:spTree>
    <p:extLst>
      <p:ext uri="{BB962C8B-B14F-4D97-AF65-F5344CB8AC3E}">
        <p14:creationId xmlns:p14="http://schemas.microsoft.com/office/powerpoint/2010/main" val="3452098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C30A6-181F-4405-8616-0282BA4ACBCD}"/>
              </a:ext>
            </a:extLst>
          </p:cNvPr>
          <p:cNvSpPr>
            <a:spLocks noGrp="1"/>
          </p:cNvSpPr>
          <p:nvPr>
            <p:ph type="title"/>
          </p:nvPr>
        </p:nvSpPr>
        <p:spPr>
          <a:xfrm>
            <a:off x="457200" y="215371"/>
            <a:ext cx="8229600" cy="1097279"/>
          </a:xfrm>
        </p:spPr>
        <p:txBody>
          <a:bodyPr/>
          <a:lstStyle/>
          <a:p>
            <a:r>
              <a:rPr lang="en-US"/>
              <a:t>How Is I/O Handled in Java?</a:t>
            </a:r>
          </a:p>
        </p:txBody>
      </p:sp>
      <p:sp>
        <p:nvSpPr>
          <p:cNvPr id="3" name="Content Placeholder 2">
            <a:extLst>
              <a:ext uri="{FF2B5EF4-FFF2-40B4-BE49-F238E27FC236}">
                <a16:creationId xmlns:a16="http://schemas.microsoft.com/office/drawing/2014/main" id="{746BDF2E-5A08-419C-A139-F5E6D2274450}"/>
              </a:ext>
            </a:extLst>
          </p:cNvPr>
          <p:cNvSpPr>
            <a:spLocks noGrp="1"/>
          </p:cNvSpPr>
          <p:nvPr>
            <p:ph sz="quarter" idx="13"/>
          </p:nvPr>
        </p:nvSpPr>
        <p:spPr>
          <a:xfrm>
            <a:off x="457200" y="1556326"/>
            <a:ext cx="8229600" cy="1548000"/>
          </a:xfrm>
        </p:spPr>
        <p:txBody>
          <a:bodyPr/>
          <a:lstStyle/>
          <a:p>
            <a:pPr marL="432" indent="0">
              <a:buNone/>
            </a:pPr>
            <a:r>
              <a:rPr lang="en-US" sz="2200" dirty="0"/>
              <a:t>A File object encapsulates the properties of a file or a path, but does not contain the methods for reading/writing data from/to a file. In order to perform I/O, you need to create objects using appropriate Java I/O classes.</a:t>
            </a:r>
          </a:p>
        </p:txBody>
      </p:sp>
      <p:pic>
        <p:nvPicPr>
          <p:cNvPr id="8" name="Picture 7" descr="The computer code shows the Java I or O classes. For long description in Notes pane, press F6.">
            <a:extLst>
              <a:ext uri="{FF2B5EF4-FFF2-40B4-BE49-F238E27FC236}">
                <a16:creationId xmlns:a16="http://schemas.microsoft.com/office/drawing/2014/main" id="{17EBAF4E-3A26-4800-A5A6-1037DDE31FC0}"/>
              </a:ext>
            </a:extLst>
          </p:cNvPr>
          <p:cNvPicPr>
            <a:picLocks noChangeAspect="1"/>
          </p:cNvPicPr>
          <p:nvPr/>
        </p:nvPicPr>
        <p:blipFill>
          <a:blip r:embed="rId3"/>
          <a:stretch>
            <a:fillRect/>
          </a:stretch>
        </p:blipFill>
        <p:spPr>
          <a:xfrm>
            <a:off x="2286306" y="3199443"/>
            <a:ext cx="4854415" cy="3037845"/>
          </a:xfrm>
          <a:prstGeom prst="rect">
            <a:avLst/>
          </a:prstGeom>
        </p:spPr>
      </p:pic>
    </p:spTree>
    <p:extLst>
      <p:ext uri="{BB962C8B-B14F-4D97-AF65-F5344CB8AC3E}">
        <p14:creationId xmlns:p14="http://schemas.microsoft.com/office/powerpoint/2010/main" val="3027952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5AE76-F2C4-447C-A43C-56A3863C8209}"/>
              </a:ext>
            </a:extLst>
          </p:cNvPr>
          <p:cNvSpPr>
            <a:spLocks noGrp="1"/>
          </p:cNvSpPr>
          <p:nvPr>
            <p:ph type="title"/>
          </p:nvPr>
        </p:nvSpPr>
        <p:spPr>
          <a:xfrm>
            <a:off x="457200" y="215371"/>
            <a:ext cx="8229600" cy="1097279"/>
          </a:xfrm>
        </p:spPr>
        <p:txBody>
          <a:bodyPr/>
          <a:lstStyle/>
          <a:p>
            <a:r>
              <a:rPr lang="en-US"/>
              <a:t>Binary I/O</a:t>
            </a:r>
          </a:p>
        </p:txBody>
      </p:sp>
      <p:sp>
        <p:nvSpPr>
          <p:cNvPr id="3" name="Content Placeholder 2">
            <a:extLst>
              <a:ext uri="{FF2B5EF4-FFF2-40B4-BE49-F238E27FC236}">
                <a16:creationId xmlns:a16="http://schemas.microsoft.com/office/drawing/2014/main" id="{50EA695D-94B8-433B-8F60-A7C9B4B5CE78}"/>
              </a:ext>
            </a:extLst>
          </p:cNvPr>
          <p:cNvSpPr>
            <a:spLocks noGrp="1"/>
          </p:cNvSpPr>
          <p:nvPr>
            <p:ph sz="quarter" idx="13"/>
          </p:nvPr>
        </p:nvSpPr>
        <p:spPr>
          <a:xfrm>
            <a:off x="457200" y="1556327"/>
            <a:ext cx="8218488" cy="2022445"/>
          </a:xfrm>
        </p:spPr>
        <p:txBody>
          <a:bodyPr/>
          <a:lstStyle/>
          <a:p>
            <a:pPr marL="432" indent="0">
              <a:buNone/>
            </a:pPr>
            <a:r>
              <a:rPr lang="en-US" sz="2000" dirty="0"/>
              <a:t>Text I/O requires encoding and decoding. The J</a:t>
            </a:r>
            <a:r>
              <a:rPr lang="en-US" sz="100" dirty="0"/>
              <a:t> </a:t>
            </a:r>
            <a:r>
              <a:rPr lang="en-US" sz="2000" dirty="0"/>
              <a:t>V</a:t>
            </a:r>
            <a:r>
              <a:rPr lang="en-US" sz="100" dirty="0"/>
              <a:t> </a:t>
            </a:r>
            <a:r>
              <a:rPr lang="en-US" sz="2000" dirty="0"/>
              <a:t>M converts a Unicode to a file specific encoding when writing a character and coverts a file specific encoding to a Unicode when reading a character. Binary I/O does not require conversions. When you write a byte to a file, the original byte is copied into the file. When you read a byte from a file, the exact byte in the file is returned.</a:t>
            </a:r>
          </a:p>
        </p:txBody>
      </p:sp>
      <p:pic>
        <p:nvPicPr>
          <p:cNvPr id="8" name="Picture 7" descr="An object shows the Binary I or O. For long description in Notes pane, press F6.">
            <a:extLst>
              <a:ext uri="{FF2B5EF4-FFF2-40B4-BE49-F238E27FC236}">
                <a16:creationId xmlns:a16="http://schemas.microsoft.com/office/drawing/2014/main" id="{05D5F9C7-29F8-44F2-9A40-8AF904E494DE}"/>
              </a:ext>
            </a:extLst>
          </p:cNvPr>
          <p:cNvPicPr>
            <a:picLocks noChangeAspect="1"/>
          </p:cNvPicPr>
          <p:nvPr/>
        </p:nvPicPr>
        <p:blipFill>
          <a:blip r:embed="rId3"/>
          <a:stretch>
            <a:fillRect/>
          </a:stretch>
        </p:blipFill>
        <p:spPr>
          <a:xfrm>
            <a:off x="2368795" y="3716247"/>
            <a:ext cx="4406410" cy="2553017"/>
          </a:xfrm>
          <a:prstGeom prst="rect">
            <a:avLst/>
          </a:prstGeom>
        </p:spPr>
      </p:pic>
    </p:spTree>
    <p:extLst>
      <p:ext uri="{BB962C8B-B14F-4D97-AF65-F5344CB8AC3E}">
        <p14:creationId xmlns:p14="http://schemas.microsoft.com/office/powerpoint/2010/main" val="727364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25AE76-F2C4-447C-A43C-56A3863C8209}"/>
              </a:ext>
            </a:extLst>
          </p:cNvPr>
          <p:cNvSpPr>
            <a:spLocks noGrp="1"/>
          </p:cNvSpPr>
          <p:nvPr>
            <p:ph type="title"/>
          </p:nvPr>
        </p:nvSpPr>
        <p:spPr>
          <a:xfrm>
            <a:off x="457200" y="215371"/>
            <a:ext cx="8229600" cy="1097279"/>
          </a:xfrm>
        </p:spPr>
        <p:txBody>
          <a:bodyPr/>
          <a:lstStyle/>
          <a:p>
            <a:r>
              <a:rPr lang="en-US"/>
              <a:t>Binary I/O Classes</a:t>
            </a:r>
          </a:p>
        </p:txBody>
      </p:sp>
      <p:pic>
        <p:nvPicPr>
          <p:cNvPr id="6" name="Picture 5" descr="An object shows the Binary I or O classes. For long description in Notes pane, press F6.">
            <a:extLst>
              <a:ext uri="{FF2B5EF4-FFF2-40B4-BE49-F238E27FC236}">
                <a16:creationId xmlns:a16="http://schemas.microsoft.com/office/drawing/2014/main" id="{A77E7644-07CF-454B-8CA5-2683DCB2C5C0}"/>
              </a:ext>
            </a:extLst>
          </p:cNvPr>
          <p:cNvPicPr>
            <a:picLocks noChangeAspect="1"/>
          </p:cNvPicPr>
          <p:nvPr/>
        </p:nvPicPr>
        <p:blipFill>
          <a:blip r:embed="rId3"/>
          <a:stretch>
            <a:fillRect/>
          </a:stretch>
        </p:blipFill>
        <p:spPr>
          <a:xfrm>
            <a:off x="497841" y="1882582"/>
            <a:ext cx="8148316" cy="3092836"/>
          </a:xfrm>
          <a:prstGeom prst="rect">
            <a:avLst/>
          </a:prstGeom>
        </p:spPr>
      </p:pic>
    </p:spTree>
    <p:extLst>
      <p:ext uri="{BB962C8B-B14F-4D97-AF65-F5344CB8AC3E}">
        <p14:creationId xmlns:p14="http://schemas.microsoft.com/office/powerpoint/2010/main" val="3650390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15D0B-744D-4DEA-8489-1244DE3C5758}"/>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InputStream</a:t>
            </a:r>
          </a:p>
        </p:txBody>
      </p:sp>
      <p:pic>
        <p:nvPicPr>
          <p:cNvPr id="6" name="Picture 5" descr="The computer code shows the InputStream. For long description in Notes pane, press F6.">
            <a:extLst>
              <a:ext uri="{FF2B5EF4-FFF2-40B4-BE49-F238E27FC236}">
                <a16:creationId xmlns:a16="http://schemas.microsoft.com/office/drawing/2014/main" id="{6F1CC7FF-8C55-46E0-9088-A0C8507CDC1E}"/>
              </a:ext>
            </a:extLst>
          </p:cNvPr>
          <p:cNvPicPr>
            <a:picLocks noChangeAspect="1"/>
          </p:cNvPicPr>
          <p:nvPr/>
        </p:nvPicPr>
        <p:blipFill>
          <a:blip r:embed="rId3"/>
          <a:stretch>
            <a:fillRect/>
          </a:stretch>
        </p:blipFill>
        <p:spPr>
          <a:xfrm>
            <a:off x="667978" y="1578017"/>
            <a:ext cx="7808043" cy="4709131"/>
          </a:xfrm>
          <a:prstGeom prst="rect">
            <a:avLst/>
          </a:prstGeom>
        </p:spPr>
      </p:pic>
    </p:spTree>
    <p:extLst>
      <p:ext uri="{BB962C8B-B14F-4D97-AF65-F5344CB8AC3E}">
        <p14:creationId xmlns:p14="http://schemas.microsoft.com/office/powerpoint/2010/main" val="2859025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373B1-EFD8-4E04-B443-54446B44836B}"/>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OutputStream</a:t>
            </a:r>
          </a:p>
        </p:txBody>
      </p:sp>
      <p:pic>
        <p:nvPicPr>
          <p:cNvPr id="7" name="Picture 6" descr="The computer code shows the OutputStream. For long description in Notes pane, press F6.">
            <a:extLst>
              <a:ext uri="{FF2B5EF4-FFF2-40B4-BE49-F238E27FC236}">
                <a16:creationId xmlns:a16="http://schemas.microsoft.com/office/drawing/2014/main" id="{C81F7885-964F-4261-BC1C-A0497C5A725A}"/>
              </a:ext>
            </a:extLst>
          </p:cNvPr>
          <p:cNvPicPr>
            <a:picLocks noChangeAspect="1"/>
          </p:cNvPicPr>
          <p:nvPr/>
        </p:nvPicPr>
        <p:blipFill>
          <a:blip r:embed="rId3"/>
          <a:stretch>
            <a:fillRect/>
          </a:stretch>
        </p:blipFill>
        <p:spPr>
          <a:xfrm>
            <a:off x="497841" y="1761055"/>
            <a:ext cx="8148316" cy="3335888"/>
          </a:xfrm>
          <a:prstGeom prst="rect">
            <a:avLst/>
          </a:prstGeom>
        </p:spPr>
      </p:pic>
    </p:spTree>
    <p:extLst>
      <p:ext uri="{BB962C8B-B14F-4D97-AF65-F5344CB8AC3E}">
        <p14:creationId xmlns:p14="http://schemas.microsoft.com/office/powerpoint/2010/main" val="3998473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64E99-60CE-459F-93D8-101DA04B9F1A}"/>
              </a:ext>
            </a:extLst>
          </p:cNvPr>
          <p:cNvSpPr>
            <a:spLocks noGrp="1"/>
          </p:cNvSpPr>
          <p:nvPr>
            <p:ph type="title"/>
          </p:nvPr>
        </p:nvSpPr>
        <p:spPr/>
        <p:txBody>
          <a:bodyPr/>
          <a:lstStyle/>
          <a:p>
            <a:r>
              <a:rPr lang="en-US" sz="3200">
                <a:latin typeface="Courier New" panose="02070309020205020404" pitchFamily="49" charset="0"/>
                <a:cs typeface="Courier New" panose="02070309020205020404" pitchFamily="49" charset="0"/>
              </a:rPr>
              <a:t>FileInputStream/FileOutputStream</a:t>
            </a:r>
          </a:p>
        </p:txBody>
      </p:sp>
      <p:pic>
        <p:nvPicPr>
          <p:cNvPr id="6" name="Picture 5" descr="An object shows the File Input Stream or File Output Stream. For long description in Notes pane, press F6.">
            <a:extLst>
              <a:ext uri="{FF2B5EF4-FFF2-40B4-BE49-F238E27FC236}">
                <a16:creationId xmlns:a16="http://schemas.microsoft.com/office/drawing/2014/main" id="{4920F0E9-5344-4DA1-B1C7-22A1E42BA81C}"/>
              </a:ext>
            </a:extLst>
          </p:cNvPr>
          <p:cNvPicPr>
            <a:picLocks noChangeAspect="1"/>
          </p:cNvPicPr>
          <p:nvPr/>
        </p:nvPicPr>
        <p:blipFill>
          <a:blip r:embed="rId3"/>
          <a:stretch>
            <a:fillRect/>
          </a:stretch>
        </p:blipFill>
        <p:spPr>
          <a:xfrm>
            <a:off x="816382" y="1534322"/>
            <a:ext cx="7511237" cy="4663996"/>
          </a:xfrm>
          <a:prstGeom prst="rect">
            <a:avLst/>
          </a:prstGeom>
        </p:spPr>
      </p:pic>
    </p:spTree>
    <p:extLst>
      <p:ext uri="{BB962C8B-B14F-4D97-AF65-F5344CB8AC3E}">
        <p14:creationId xmlns:p14="http://schemas.microsoft.com/office/powerpoint/2010/main" val="1857761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8643B-BAA6-4CFB-BB22-51F44AB41ACB}"/>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FileInputStream</a:t>
            </a:r>
          </a:p>
        </p:txBody>
      </p:sp>
      <p:sp>
        <p:nvSpPr>
          <p:cNvPr id="3" name="Content Placeholder 2">
            <a:extLst>
              <a:ext uri="{FF2B5EF4-FFF2-40B4-BE49-F238E27FC236}">
                <a16:creationId xmlns:a16="http://schemas.microsoft.com/office/drawing/2014/main" id="{09C8262C-B4BB-45DE-8DDE-A0A252F59C2F}"/>
              </a:ext>
            </a:extLst>
          </p:cNvPr>
          <p:cNvSpPr>
            <a:spLocks noGrp="1"/>
          </p:cNvSpPr>
          <p:nvPr>
            <p:ph sz="quarter" idx="13"/>
          </p:nvPr>
        </p:nvSpPr>
        <p:spPr>
          <a:xfrm>
            <a:off x="457200" y="1554922"/>
            <a:ext cx="8232775" cy="2924314"/>
          </a:xfrm>
        </p:spPr>
        <p:txBody>
          <a:bodyPr/>
          <a:lstStyle/>
          <a:p>
            <a:pPr marL="432" indent="0">
              <a:buNone/>
            </a:pPr>
            <a:r>
              <a:rPr lang="en-US" sz="2200" dirty="0"/>
              <a:t>To construct a </a:t>
            </a:r>
            <a:r>
              <a:rPr lang="en-US" sz="2200" dirty="0" err="1">
                <a:latin typeface="Courier New" panose="02070309020205020404" pitchFamily="49" charset="0"/>
                <a:cs typeface="Courier New" panose="02070309020205020404" pitchFamily="49" charset="0"/>
              </a:rPr>
              <a:t>FileInputStream</a:t>
            </a:r>
            <a:r>
              <a:rPr lang="en-US" sz="2200" dirty="0"/>
              <a:t>, use the following constructors:</a:t>
            </a:r>
          </a:p>
          <a:p>
            <a:pPr marL="291600" indent="0">
              <a:buNone/>
            </a:pPr>
            <a:r>
              <a:rPr lang="en-US" sz="2200" dirty="0">
                <a:latin typeface="Courier New" panose="02070309020205020404" pitchFamily="49" charset="0"/>
                <a:cs typeface="Courier New" panose="02070309020205020404" pitchFamily="49" charset="0"/>
              </a:rPr>
              <a:t>public </a:t>
            </a:r>
            <a:r>
              <a:rPr lang="en-US" sz="2200" dirty="0" err="1">
                <a:latin typeface="Courier New" panose="02070309020205020404" pitchFamily="49" charset="0"/>
                <a:cs typeface="Courier New" panose="02070309020205020404" pitchFamily="49" charset="0"/>
              </a:rPr>
              <a:t>FileInputStream</a:t>
            </a:r>
            <a:r>
              <a:rPr lang="en-US" sz="2200" dirty="0">
                <a:latin typeface="Courier New" panose="02070309020205020404" pitchFamily="49" charset="0"/>
                <a:cs typeface="Courier New" panose="02070309020205020404" pitchFamily="49" charset="0"/>
              </a:rPr>
              <a:t>(String filename)</a:t>
            </a:r>
          </a:p>
          <a:p>
            <a:pPr marL="291600" indent="0">
              <a:buNone/>
            </a:pPr>
            <a:r>
              <a:rPr lang="en-US" sz="2200" dirty="0">
                <a:latin typeface="Courier New" panose="02070309020205020404" pitchFamily="49" charset="0"/>
                <a:cs typeface="Courier New" panose="02070309020205020404" pitchFamily="49" charset="0"/>
              </a:rPr>
              <a:t>public </a:t>
            </a:r>
            <a:r>
              <a:rPr lang="en-US" sz="2200" dirty="0" err="1">
                <a:latin typeface="Courier New" panose="02070309020205020404" pitchFamily="49" charset="0"/>
                <a:cs typeface="Courier New" panose="02070309020205020404" pitchFamily="49" charset="0"/>
              </a:rPr>
              <a:t>FileInputStream</a:t>
            </a:r>
            <a:r>
              <a:rPr lang="en-US" sz="2200" dirty="0">
                <a:latin typeface="Courier New" panose="02070309020205020404" pitchFamily="49" charset="0"/>
                <a:cs typeface="Courier New" panose="02070309020205020404" pitchFamily="49" charset="0"/>
              </a:rPr>
              <a:t>(File file)</a:t>
            </a:r>
          </a:p>
          <a:p>
            <a:pPr marL="0" indent="291600">
              <a:buNone/>
            </a:pPr>
            <a:r>
              <a:rPr lang="en-US" sz="2200" dirty="0"/>
              <a:t>A </a:t>
            </a:r>
            <a:r>
              <a:rPr lang="en-US" sz="2200" u="sng" dirty="0" err="1">
                <a:latin typeface="Courier New" panose="02070309020205020404" pitchFamily="49" charset="0"/>
                <a:cs typeface="Courier New" panose="02070309020205020404" pitchFamily="49" charset="0"/>
              </a:rPr>
              <a:t>java.io.FileNotFoundException</a:t>
            </a:r>
            <a:r>
              <a:rPr lang="en-US" sz="2200" dirty="0"/>
              <a:t> would occur if you attempt to create a </a:t>
            </a:r>
            <a:r>
              <a:rPr lang="en-US" sz="2200" u="sng" dirty="0" err="1">
                <a:latin typeface="Courier New" panose="02070309020205020404" pitchFamily="49" charset="0"/>
                <a:cs typeface="Courier New" panose="02070309020205020404" pitchFamily="49" charset="0"/>
              </a:rPr>
              <a:t>FileInputStream</a:t>
            </a:r>
            <a:r>
              <a:rPr lang="en-US" sz="2200" dirty="0"/>
              <a:t> with a nonexistent file.</a:t>
            </a:r>
          </a:p>
        </p:txBody>
      </p:sp>
    </p:spTree>
    <p:extLst>
      <p:ext uri="{BB962C8B-B14F-4D97-AF65-F5344CB8AC3E}">
        <p14:creationId xmlns:p14="http://schemas.microsoft.com/office/powerpoint/2010/main" val="2984051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B1F8-70DE-4C5B-ADE7-240D5A66C643}"/>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FileOutputStream</a:t>
            </a:r>
          </a:p>
        </p:txBody>
      </p:sp>
      <p:sp>
        <p:nvSpPr>
          <p:cNvPr id="5" name="Content Placeholder 4">
            <a:extLst>
              <a:ext uri="{FF2B5EF4-FFF2-40B4-BE49-F238E27FC236}">
                <a16:creationId xmlns:a16="http://schemas.microsoft.com/office/drawing/2014/main" id="{1F3766FF-29BC-445D-A81C-EF98B3C94AC5}"/>
              </a:ext>
            </a:extLst>
          </p:cNvPr>
          <p:cNvSpPr>
            <a:spLocks noGrp="1"/>
          </p:cNvSpPr>
          <p:nvPr>
            <p:ph sz="quarter" idx="13"/>
          </p:nvPr>
        </p:nvSpPr>
        <p:spPr>
          <a:xfrm>
            <a:off x="457200" y="1552574"/>
            <a:ext cx="8229600" cy="885825"/>
          </a:xfrm>
        </p:spPr>
        <p:txBody>
          <a:bodyPr/>
          <a:lstStyle/>
          <a:p>
            <a:pPr marL="432" indent="0">
              <a:buNone/>
            </a:pPr>
            <a:r>
              <a:rPr lang="en-US"/>
              <a:t>To construct a </a:t>
            </a:r>
            <a:r>
              <a:rPr lang="en-US">
                <a:latin typeface="Courier New" panose="02070309020205020404" pitchFamily="49" charset="0"/>
                <a:cs typeface="Courier New" panose="02070309020205020404" pitchFamily="49" charset="0"/>
              </a:rPr>
              <a:t>FileOutputStream</a:t>
            </a:r>
            <a:r>
              <a:rPr lang="en-US"/>
              <a:t>, use the following constructors:</a:t>
            </a:r>
          </a:p>
        </p:txBody>
      </p:sp>
      <p:pic>
        <p:nvPicPr>
          <p:cNvPr id="7" name="Picture 6" descr="Four rows of codes as follows. For long description in Notes pane, press F6.">
            <a:extLst>
              <a:ext uri="{FF2B5EF4-FFF2-40B4-BE49-F238E27FC236}">
                <a16:creationId xmlns:a16="http://schemas.microsoft.com/office/drawing/2014/main" id="{1F0ADEDC-2B36-4B3D-8E59-C33584514088}"/>
              </a:ext>
            </a:extLst>
          </p:cNvPr>
          <p:cNvPicPr>
            <a:picLocks noChangeAspect="1"/>
          </p:cNvPicPr>
          <p:nvPr/>
        </p:nvPicPr>
        <p:blipFill>
          <a:blip r:embed="rId3"/>
          <a:stretch>
            <a:fillRect/>
          </a:stretch>
        </p:blipFill>
        <p:spPr>
          <a:xfrm>
            <a:off x="528948" y="2582838"/>
            <a:ext cx="8112608" cy="2752492"/>
          </a:xfrm>
          <a:prstGeom prst="rect">
            <a:avLst/>
          </a:prstGeom>
        </p:spPr>
      </p:pic>
      <p:sp>
        <p:nvSpPr>
          <p:cNvPr id="10" name="Text Placeholder 9">
            <a:extLst>
              <a:ext uri="{FF2B5EF4-FFF2-40B4-BE49-F238E27FC236}">
                <a16:creationId xmlns:a16="http://schemas.microsoft.com/office/drawing/2014/main" id="{37175554-CA8F-4774-886D-9823FEB70B9C}"/>
              </a:ext>
            </a:extLst>
          </p:cNvPr>
          <p:cNvSpPr>
            <a:spLocks noGrp="1"/>
          </p:cNvSpPr>
          <p:nvPr>
            <p:ph type="body" sz="quarter" idx="20"/>
          </p:nvPr>
        </p:nvSpPr>
        <p:spPr>
          <a:xfrm>
            <a:off x="6359504" y="5576425"/>
            <a:ext cx="2324100" cy="540000"/>
          </a:xfrm>
        </p:spPr>
        <p:txBody>
          <a:bodyPr/>
          <a:lstStyle/>
          <a:p>
            <a:pPr marL="432" indent="0">
              <a:buNone/>
            </a:pPr>
            <a:r>
              <a:rPr lang="en-US" dirty="0">
                <a:hlinkClick r:id="rId4" action="ppaction://hlinkfile" tooltip="https://liveexample.pearsoncmg.com/html/TestFileStream.html"/>
              </a:rPr>
              <a:t>TestFileStream</a:t>
            </a:r>
            <a:endParaRPr lang="en-US" dirty="0">
              <a:hlinkClick r:id="rId5"/>
            </a:endParaRPr>
          </a:p>
        </p:txBody>
      </p:sp>
    </p:spTree>
    <p:extLst>
      <p:ext uri="{BB962C8B-B14F-4D97-AF65-F5344CB8AC3E}">
        <p14:creationId xmlns:p14="http://schemas.microsoft.com/office/powerpoint/2010/main" val="1954298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0B037-3D80-40A9-88C2-61F0EF896C40}"/>
              </a:ext>
            </a:extLst>
          </p:cNvPr>
          <p:cNvSpPr>
            <a:spLocks noGrp="1"/>
          </p:cNvSpPr>
          <p:nvPr>
            <p:ph type="title"/>
          </p:nvPr>
        </p:nvSpPr>
        <p:spPr/>
        <p:txBody>
          <a:bodyPr/>
          <a:lstStyle/>
          <a:p>
            <a:r>
              <a:rPr lang="en-US" sz="2800">
                <a:latin typeface="Courier New" panose="02070309020205020404" pitchFamily="49" charset="0"/>
                <a:cs typeface="Courier New" panose="02070309020205020404" pitchFamily="49" charset="0"/>
              </a:rPr>
              <a:t>FilterInputStream/FilterOutputStream</a:t>
            </a:r>
          </a:p>
        </p:txBody>
      </p:sp>
      <p:pic>
        <p:nvPicPr>
          <p:cNvPr id="7" name="Picture 6" descr="An object shows the Filter Input Stream or Filter Output Stream. For long description in Notes pane, press F6.">
            <a:extLst>
              <a:ext uri="{FF2B5EF4-FFF2-40B4-BE49-F238E27FC236}">
                <a16:creationId xmlns:a16="http://schemas.microsoft.com/office/drawing/2014/main" id="{044A842C-33BD-406B-8B52-7A860A6CAF1F}"/>
              </a:ext>
            </a:extLst>
          </p:cNvPr>
          <p:cNvPicPr>
            <a:picLocks noChangeAspect="1"/>
          </p:cNvPicPr>
          <p:nvPr/>
        </p:nvPicPr>
        <p:blipFill>
          <a:blip r:embed="rId3"/>
          <a:stretch>
            <a:fillRect/>
          </a:stretch>
        </p:blipFill>
        <p:spPr>
          <a:xfrm>
            <a:off x="1703869" y="1572917"/>
            <a:ext cx="5736261" cy="2360450"/>
          </a:xfrm>
          <a:prstGeom prst="rect">
            <a:avLst/>
          </a:prstGeom>
        </p:spPr>
      </p:pic>
      <p:sp>
        <p:nvSpPr>
          <p:cNvPr id="4" name="Content Placeholder 3">
            <a:extLst>
              <a:ext uri="{FF2B5EF4-FFF2-40B4-BE49-F238E27FC236}">
                <a16:creationId xmlns:a16="http://schemas.microsoft.com/office/drawing/2014/main" id="{D1D38A82-BA93-486A-BBA8-D4F70546EBBA}"/>
              </a:ext>
            </a:extLst>
          </p:cNvPr>
          <p:cNvSpPr>
            <a:spLocks noGrp="1"/>
          </p:cNvSpPr>
          <p:nvPr>
            <p:ph sz="quarter" idx="14"/>
          </p:nvPr>
        </p:nvSpPr>
        <p:spPr>
          <a:xfrm>
            <a:off x="470451" y="4083219"/>
            <a:ext cx="8205237" cy="2250942"/>
          </a:xfrm>
        </p:spPr>
        <p:txBody>
          <a:bodyPr tIns="0"/>
          <a:lstStyle/>
          <a:p>
            <a:pPr marL="432" indent="0">
              <a:buNone/>
            </a:pPr>
            <a:r>
              <a:rPr lang="en-US" sz="1800" b="1"/>
              <a:t>Filter streams </a:t>
            </a:r>
            <a:r>
              <a:rPr lang="en-US" sz="1800"/>
              <a:t>are streams that filter bytes for some purpose. The basic byte input stream provides a read method that can only be used for reading bytes. If you want to read integers, doubles, or strings, you need a filter class to wrap the byte input stream. Using a filter class enables you to read integers, doubles, and strings instead of bytes and characters. </a:t>
            </a:r>
            <a:r>
              <a:rPr lang="en-US" sz="1800" u="sng">
                <a:latin typeface="Courier New" panose="02070309020205020404" pitchFamily="49" charset="0"/>
                <a:cs typeface="Courier New" panose="02070309020205020404" pitchFamily="49" charset="0"/>
              </a:rPr>
              <a:t>FilterInputStream</a:t>
            </a:r>
            <a:r>
              <a:rPr lang="en-US" sz="1800"/>
              <a:t> and </a:t>
            </a:r>
            <a:r>
              <a:rPr lang="en-US" sz="1800" u="sng">
                <a:latin typeface="Courier New" panose="02070309020205020404" pitchFamily="49" charset="0"/>
                <a:cs typeface="Courier New" panose="02070309020205020404" pitchFamily="49" charset="0"/>
              </a:rPr>
              <a:t>FilterOutputStream</a:t>
            </a:r>
            <a:r>
              <a:rPr lang="en-US" sz="1800"/>
              <a:t> are the base classes for filtering data. When you need to process primitive numeric types, use </a:t>
            </a:r>
            <a:r>
              <a:rPr lang="en-US" sz="1800" u="sng">
                <a:latin typeface="Courier New" panose="02070309020205020404" pitchFamily="49" charset="0"/>
                <a:cs typeface="Courier New" panose="02070309020205020404" pitchFamily="49" charset="0"/>
              </a:rPr>
              <a:t>DatInputStream</a:t>
            </a:r>
            <a:r>
              <a:rPr lang="en-US" sz="1800"/>
              <a:t> and </a:t>
            </a:r>
            <a:r>
              <a:rPr lang="en-US" sz="1800" u="sng">
                <a:latin typeface="Courier New" panose="02070309020205020404" pitchFamily="49" charset="0"/>
                <a:cs typeface="Courier New" panose="02070309020205020404" pitchFamily="49" charset="0"/>
              </a:rPr>
              <a:t>DataOutputStream</a:t>
            </a:r>
            <a:r>
              <a:rPr lang="en-US" sz="1800"/>
              <a:t> to filter bytes.</a:t>
            </a:r>
          </a:p>
        </p:txBody>
      </p:sp>
    </p:spTree>
    <p:extLst>
      <p:ext uri="{BB962C8B-B14F-4D97-AF65-F5344CB8AC3E}">
        <p14:creationId xmlns:p14="http://schemas.microsoft.com/office/powerpoint/2010/main" val="8434375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31AD9-D5D2-4BD2-876C-CC60FAAED7D6}"/>
              </a:ext>
            </a:extLst>
          </p:cNvPr>
          <p:cNvSpPr>
            <a:spLocks noGrp="1"/>
          </p:cNvSpPr>
          <p:nvPr>
            <p:ph type="title"/>
          </p:nvPr>
        </p:nvSpPr>
        <p:spPr/>
        <p:txBody>
          <a:bodyPr/>
          <a:lstStyle/>
          <a:p>
            <a:r>
              <a:rPr lang="en-US" sz="3200">
                <a:latin typeface="Courier New" panose="02070309020205020404" pitchFamily="49" charset="0"/>
                <a:cs typeface="Courier New" panose="02070309020205020404" pitchFamily="49" charset="0"/>
              </a:rPr>
              <a:t>DataInputStream/DataOutputStream</a:t>
            </a:r>
          </a:p>
        </p:txBody>
      </p:sp>
      <p:pic>
        <p:nvPicPr>
          <p:cNvPr id="6" name="Picture 5" descr="An object shows the Data Input Stream or Data Output Stream. For long description in Notes pane, press F6.">
            <a:extLst>
              <a:ext uri="{FF2B5EF4-FFF2-40B4-BE49-F238E27FC236}">
                <a16:creationId xmlns:a16="http://schemas.microsoft.com/office/drawing/2014/main" id="{4037D082-3EA8-47C9-B477-25383B7505EC}"/>
              </a:ext>
            </a:extLst>
          </p:cNvPr>
          <p:cNvPicPr>
            <a:picLocks noChangeAspect="1"/>
          </p:cNvPicPr>
          <p:nvPr/>
        </p:nvPicPr>
        <p:blipFill rotWithShape="1">
          <a:blip r:embed="rId3"/>
          <a:srcRect r="1467"/>
          <a:stretch/>
        </p:blipFill>
        <p:spPr>
          <a:xfrm>
            <a:off x="1039341" y="1601573"/>
            <a:ext cx="6961660" cy="4635509"/>
          </a:xfrm>
          <a:prstGeom prst="rect">
            <a:avLst/>
          </a:prstGeom>
        </p:spPr>
      </p:pic>
    </p:spTree>
    <p:extLst>
      <p:ext uri="{BB962C8B-B14F-4D97-AF65-F5344CB8AC3E}">
        <p14:creationId xmlns:p14="http://schemas.microsoft.com/office/powerpoint/2010/main" val="4009512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C36620-774C-4A4D-B240-6AD30087255E}"/>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DataInputStream</a:t>
            </a:r>
          </a:p>
        </p:txBody>
      </p:sp>
      <p:sp>
        <p:nvSpPr>
          <p:cNvPr id="5" name="Content Placeholder 4">
            <a:extLst>
              <a:ext uri="{FF2B5EF4-FFF2-40B4-BE49-F238E27FC236}">
                <a16:creationId xmlns:a16="http://schemas.microsoft.com/office/drawing/2014/main" id="{AACE5091-FFCE-4933-83B6-018FFF0E7DAE}"/>
              </a:ext>
            </a:extLst>
          </p:cNvPr>
          <p:cNvSpPr>
            <a:spLocks noGrp="1"/>
          </p:cNvSpPr>
          <p:nvPr>
            <p:ph sz="quarter" idx="13"/>
          </p:nvPr>
        </p:nvSpPr>
        <p:spPr>
          <a:xfrm>
            <a:off x="457200" y="1556327"/>
            <a:ext cx="8229600" cy="903094"/>
          </a:xfrm>
        </p:spPr>
        <p:txBody>
          <a:bodyPr/>
          <a:lstStyle/>
          <a:p>
            <a:pPr marL="432" indent="0">
              <a:buNone/>
            </a:pPr>
            <a:r>
              <a:rPr lang="en-US">
                <a:latin typeface="Courier New" panose="02070309020205020404" pitchFamily="49" charset="0"/>
                <a:cs typeface="Courier New" panose="02070309020205020404" pitchFamily="49" charset="0"/>
              </a:rPr>
              <a:t>DataInputStream</a:t>
            </a:r>
            <a:r>
              <a:rPr lang="en-US"/>
              <a:t> extends </a:t>
            </a:r>
            <a:r>
              <a:rPr lang="en-US">
                <a:latin typeface="Courier New" panose="02070309020205020404" pitchFamily="49" charset="0"/>
                <a:cs typeface="Courier New" panose="02070309020205020404" pitchFamily="49" charset="0"/>
              </a:rPr>
              <a:t>FilterInputStream</a:t>
            </a:r>
            <a:r>
              <a:rPr lang="en-US"/>
              <a:t> and implements the </a:t>
            </a:r>
            <a:r>
              <a:rPr lang="en-US">
                <a:latin typeface="Courier New" panose="02070309020205020404" pitchFamily="49" charset="0"/>
                <a:cs typeface="Courier New" panose="02070309020205020404" pitchFamily="49" charset="0"/>
              </a:rPr>
              <a:t>DataInput</a:t>
            </a:r>
            <a:r>
              <a:rPr lang="en-US"/>
              <a:t> interface.</a:t>
            </a:r>
          </a:p>
        </p:txBody>
      </p:sp>
      <p:pic>
        <p:nvPicPr>
          <p:cNvPr id="8" name="Picture 7" descr="The computer code shows Data input stream. For long description in Notes pane, press F6.">
            <a:extLst>
              <a:ext uri="{FF2B5EF4-FFF2-40B4-BE49-F238E27FC236}">
                <a16:creationId xmlns:a16="http://schemas.microsoft.com/office/drawing/2014/main" id="{0B6B59E3-CD8E-4C9C-8CC4-E19B3DDA71C1}"/>
              </a:ext>
            </a:extLst>
          </p:cNvPr>
          <p:cNvPicPr>
            <a:picLocks noChangeAspect="1"/>
          </p:cNvPicPr>
          <p:nvPr/>
        </p:nvPicPr>
        <p:blipFill>
          <a:blip r:embed="rId3"/>
          <a:stretch>
            <a:fillRect/>
          </a:stretch>
        </p:blipFill>
        <p:spPr>
          <a:xfrm>
            <a:off x="515402" y="2790722"/>
            <a:ext cx="8113195" cy="3105353"/>
          </a:xfrm>
          <a:prstGeom prst="rect">
            <a:avLst/>
          </a:prstGeom>
        </p:spPr>
      </p:pic>
    </p:spTree>
    <p:extLst>
      <p:ext uri="{BB962C8B-B14F-4D97-AF65-F5344CB8AC3E}">
        <p14:creationId xmlns:p14="http://schemas.microsoft.com/office/powerpoint/2010/main" val="3398830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B304C-D2E2-4752-9047-721E5AE4F691}"/>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DataOutputStream</a:t>
            </a:r>
          </a:p>
        </p:txBody>
      </p:sp>
      <p:sp>
        <p:nvSpPr>
          <p:cNvPr id="3" name="Content Placeholder 2">
            <a:extLst>
              <a:ext uri="{FF2B5EF4-FFF2-40B4-BE49-F238E27FC236}">
                <a16:creationId xmlns:a16="http://schemas.microsoft.com/office/drawing/2014/main" id="{74020DFF-040D-46C5-A2B9-9B351C8F6B55}"/>
              </a:ext>
            </a:extLst>
          </p:cNvPr>
          <p:cNvSpPr>
            <a:spLocks noGrp="1"/>
          </p:cNvSpPr>
          <p:nvPr>
            <p:ph sz="quarter" idx="13"/>
          </p:nvPr>
        </p:nvSpPr>
        <p:spPr>
          <a:xfrm>
            <a:off x="457200" y="1556327"/>
            <a:ext cx="8280000" cy="918859"/>
          </a:xfrm>
        </p:spPr>
        <p:txBody>
          <a:bodyPr/>
          <a:lstStyle/>
          <a:p>
            <a:pPr marL="432" indent="0">
              <a:buNone/>
            </a:pPr>
            <a:r>
              <a:rPr lang="en-US" dirty="0" err="1">
                <a:latin typeface="Courier New" panose="02070309020205020404" pitchFamily="49" charset="0"/>
                <a:cs typeface="Courier New" panose="02070309020205020404" pitchFamily="49" charset="0"/>
              </a:rPr>
              <a:t>DataOutputStream</a:t>
            </a:r>
            <a:r>
              <a:rPr lang="en-US" dirty="0"/>
              <a:t> extends </a:t>
            </a:r>
            <a:r>
              <a:rPr lang="en-US" dirty="0" err="1">
                <a:latin typeface="Courier New" panose="02070309020205020404" pitchFamily="49" charset="0"/>
                <a:cs typeface="Courier New" panose="02070309020205020404" pitchFamily="49" charset="0"/>
              </a:rPr>
              <a:t>FilterOutputStream</a:t>
            </a:r>
            <a:r>
              <a:rPr lang="en-US" dirty="0"/>
              <a:t> and implements the </a:t>
            </a:r>
            <a:r>
              <a:rPr lang="en-US" dirty="0" err="1">
                <a:latin typeface="Courier New" panose="02070309020205020404" pitchFamily="49" charset="0"/>
                <a:cs typeface="Courier New" panose="02070309020205020404" pitchFamily="49" charset="0"/>
              </a:rPr>
              <a:t>DataOutput</a:t>
            </a:r>
            <a:r>
              <a:rPr lang="en-US" dirty="0"/>
              <a:t> interface.</a:t>
            </a:r>
          </a:p>
        </p:txBody>
      </p:sp>
      <p:pic>
        <p:nvPicPr>
          <p:cNvPr id="8" name="Picture 7" descr="The computer code shows Data output stream. For long description in Notes pane, press F6.">
            <a:extLst>
              <a:ext uri="{FF2B5EF4-FFF2-40B4-BE49-F238E27FC236}">
                <a16:creationId xmlns:a16="http://schemas.microsoft.com/office/drawing/2014/main" id="{C543887C-08E4-4E6B-8728-75A629866381}"/>
              </a:ext>
            </a:extLst>
          </p:cNvPr>
          <p:cNvPicPr>
            <a:picLocks noChangeAspect="1"/>
          </p:cNvPicPr>
          <p:nvPr/>
        </p:nvPicPr>
        <p:blipFill>
          <a:blip r:embed="rId3"/>
          <a:stretch>
            <a:fillRect/>
          </a:stretch>
        </p:blipFill>
        <p:spPr>
          <a:xfrm>
            <a:off x="515402" y="2803975"/>
            <a:ext cx="8113195" cy="3105353"/>
          </a:xfrm>
          <a:prstGeom prst="rect">
            <a:avLst/>
          </a:prstGeom>
        </p:spPr>
      </p:pic>
    </p:spTree>
    <p:extLst>
      <p:ext uri="{BB962C8B-B14F-4D97-AF65-F5344CB8AC3E}">
        <p14:creationId xmlns:p14="http://schemas.microsoft.com/office/powerpoint/2010/main" val="3837597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78CA6-8F06-4C75-B53D-7DF89E0B840E}"/>
              </a:ext>
            </a:extLst>
          </p:cNvPr>
          <p:cNvSpPr>
            <a:spLocks noGrp="1"/>
          </p:cNvSpPr>
          <p:nvPr>
            <p:ph type="title"/>
          </p:nvPr>
        </p:nvSpPr>
        <p:spPr/>
        <p:txBody>
          <a:bodyPr/>
          <a:lstStyle/>
          <a:p>
            <a:r>
              <a:rPr lang="en-US"/>
              <a:t>Characters and Strings in Binary I/O</a:t>
            </a:r>
          </a:p>
        </p:txBody>
      </p:sp>
      <p:sp>
        <p:nvSpPr>
          <p:cNvPr id="3" name="Content Placeholder 2">
            <a:extLst>
              <a:ext uri="{FF2B5EF4-FFF2-40B4-BE49-F238E27FC236}">
                <a16:creationId xmlns:a16="http://schemas.microsoft.com/office/drawing/2014/main" id="{9F4BC784-7684-4858-94D9-7C1F4EDE23F9}"/>
              </a:ext>
            </a:extLst>
          </p:cNvPr>
          <p:cNvSpPr>
            <a:spLocks noGrp="1"/>
          </p:cNvSpPr>
          <p:nvPr>
            <p:ph sz="quarter" idx="13"/>
          </p:nvPr>
        </p:nvSpPr>
        <p:spPr>
          <a:xfrm>
            <a:off x="457200" y="1554919"/>
            <a:ext cx="8218488" cy="3904977"/>
          </a:xfrm>
        </p:spPr>
        <p:txBody>
          <a:bodyPr/>
          <a:lstStyle/>
          <a:p>
            <a:pPr marL="432" indent="0">
              <a:buNone/>
            </a:pPr>
            <a:r>
              <a:rPr lang="en-US" sz="1800" dirty="0"/>
              <a:t>A Unicode consists of two bytes. The </a:t>
            </a:r>
            <a:r>
              <a:rPr lang="en-US" sz="1800" dirty="0" err="1">
                <a:latin typeface="Courier New" panose="02070309020205020404" pitchFamily="49" charset="0"/>
                <a:cs typeface="Courier New" panose="02070309020205020404" pitchFamily="49" charset="0"/>
              </a:rPr>
              <a:t>writeChar</a:t>
            </a:r>
            <a:r>
              <a:rPr lang="en-US" sz="1800" dirty="0">
                <a:latin typeface="Courier New" panose="02070309020205020404" pitchFamily="49" charset="0"/>
                <a:cs typeface="Courier New" panose="02070309020205020404" pitchFamily="49" charset="0"/>
              </a:rPr>
              <a:t>(char c) </a:t>
            </a:r>
            <a:r>
              <a:rPr lang="en-US" sz="1800" dirty="0"/>
              <a:t>method writes the Unicode of character c to the output. The </a:t>
            </a:r>
            <a:r>
              <a:rPr lang="en-US" sz="1800" dirty="0" err="1">
                <a:latin typeface="Courier New" panose="02070309020205020404" pitchFamily="49" charset="0"/>
                <a:cs typeface="Courier New" panose="02070309020205020404" pitchFamily="49" charset="0"/>
              </a:rPr>
              <a:t>writeChars</a:t>
            </a:r>
            <a:r>
              <a:rPr lang="en-US" sz="1800" dirty="0">
                <a:latin typeface="Courier New" panose="02070309020205020404" pitchFamily="49" charset="0"/>
                <a:cs typeface="Courier New" panose="02070309020205020404" pitchFamily="49" charset="0"/>
              </a:rPr>
              <a:t>(String s)</a:t>
            </a:r>
            <a:r>
              <a:rPr lang="en-US" sz="1800" dirty="0"/>
              <a:t> method writes the Unicode for each character in the string s to the output.</a:t>
            </a:r>
          </a:p>
          <a:p>
            <a:pPr marL="432" indent="0">
              <a:buNone/>
            </a:pPr>
            <a:r>
              <a:rPr lang="en-US" sz="1800" b="1" dirty="0">
                <a:solidFill>
                  <a:schemeClr val="tx1"/>
                </a:solidFill>
              </a:rPr>
              <a:t>Why U</a:t>
            </a:r>
            <a:r>
              <a:rPr lang="en-US" sz="100" b="1" dirty="0">
                <a:solidFill>
                  <a:schemeClr val="tx1"/>
                </a:solidFill>
              </a:rPr>
              <a:t> </a:t>
            </a:r>
            <a:r>
              <a:rPr lang="en-US" sz="1800" b="1" dirty="0">
                <a:solidFill>
                  <a:schemeClr val="tx1"/>
                </a:solidFill>
              </a:rPr>
              <a:t>T</a:t>
            </a:r>
            <a:r>
              <a:rPr lang="en-US" sz="100" b="1" dirty="0">
                <a:solidFill>
                  <a:schemeClr val="tx1"/>
                </a:solidFill>
              </a:rPr>
              <a:t> </a:t>
            </a:r>
            <a:r>
              <a:rPr lang="en-US" sz="1800" b="1" dirty="0">
                <a:solidFill>
                  <a:schemeClr val="tx1"/>
                </a:solidFill>
              </a:rPr>
              <a:t>F-8? What is U</a:t>
            </a:r>
            <a:r>
              <a:rPr lang="en-US" sz="100" b="1" dirty="0">
                <a:solidFill>
                  <a:schemeClr val="tx1"/>
                </a:solidFill>
              </a:rPr>
              <a:t> </a:t>
            </a:r>
            <a:r>
              <a:rPr lang="en-US" sz="1800" b="1" dirty="0">
                <a:solidFill>
                  <a:schemeClr val="tx1"/>
                </a:solidFill>
              </a:rPr>
              <a:t>T</a:t>
            </a:r>
            <a:r>
              <a:rPr lang="en-US" sz="100" b="1" dirty="0">
                <a:solidFill>
                  <a:schemeClr val="tx1"/>
                </a:solidFill>
              </a:rPr>
              <a:t> </a:t>
            </a:r>
            <a:r>
              <a:rPr lang="en-US" sz="1800" b="1" dirty="0">
                <a:solidFill>
                  <a:schemeClr val="tx1"/>
                </a:solidFill>
              </a:rPr>
              <a:t>F-8?</a:t>
            </a:r>
          </a:p>
          <a:p>
            <a:pPr marL="432" indent="0">
              <a:buNone/>
            </a:pPr>
            <a:r>
              <a:rPr lang="en-US" sz="1800" dirty="0"/>
              <a:t>U</a:t>
            </a:r>
            <a:r>
              <a:rPr lang="en-US" sz="100" dirty="0"/>
              <a:t> </a:t>
            </a:r>
            <a:r>
              <a:rPr lang="en-US" sz="1800" dirty="0"/>
              <a:t>T</a:t>
            </a:r>
            <a:r>
              <a:rPr lang="en-US" sz="100" dirty="0"/>
              <a:t> </a:t>
            </a:r>
            <a:r>
              <a:rPr lang="en-US" sz="1800" dirty="0"/>
              <a:t>F-8 is a coding scheme that allows systems to operate with both A</a:t>
            </a:r>
            <a:r>
              <a:rPr lang="en-US" sz="100" dirty="0"/>
              <a:t> </a:t>
            </a:r>
            <a:r>
              <a:rPr lang="en-US" sz="1800" dirty="0"/>
              <a:t>S</a:t>
            </a:r>
            <a:r>
              <a:rPr lang="en-US" sz="100" dirty="0"/>
              <a:t> </a:t>
            </a:r>
            <a:r>
              <a:rPr lang="en-US" sz="1800" dirty="0"/>
              <a:t>C</a:t>
            </a:r>
            <a:r>
              <a:rPr lang="en-US" sz="100" dirty="0"/>
              <a:t> </a:t>
            </a:r>
            <a:r>
              <a:rPr lang="en-US" sz="1800" dirty="0"/>
              <a:t>I</a:t>
            </a:r>
            <a:r>
              <a:rPr lang="en-US" sz="100" dirty="0"/>
              <a:t> </a:t>
            </a:r>
            <a:r>
              <a:rPr lang="en-US" sz="1800" dirty="0" err="1"/>
              <a:t>I</a:t>
            </a:r>
            <a:r>
              <a:rPr lang="en-US" sz="1800" dirty="0"/>
              <a:t> and Unicode efficiently. Most operating systems use A</a:t>
            </a:r>
            <a:r>
              <a:rPr lang="en-US" sz="100" dirty="0"/>
              <a:t> </a:t>
            </a:r>
            <a:r>
              <a:rPr lang="en-US" sz="1800" dirty="0"/>
              <a:t>S</a:t>
            </a:r>
            <a:r>
              <a:rPr lang="en-US" sz="100" dirty="0"/>
              <a:t> </a:t>
            </a:r>
            <a:r>
              <a:rPr lang="en-US" sz="1800" dirty="0"/>
              <a:t>C</a:t>
            </a:r>
            <a:r>
              <a:rPr lang="en-US" sz="100" dirty="0"/>
              <a:t> </a:t>
            </a:r>
            <a:r>
              <a:rPr lang="en-US" sz="1800" dirty="0"/>
              <a:t>I</a:t>
            </a:r>
            <a:r>
              <a:rPr lang="en-US" sz="100" dirty="0"/>
              <a:t> </a:t>
            </a:r>
            <a:r>
              <a:rPr lang="en-US" sz="1800" dirty="0" err="1"/>
              <a:t>I</a:t>
            </a:r>
            <a:r>
              <a:rPr lang="en-US" sz="1800" dirty="0"/>
              <a:t>. Java uses Unicode. The A</a:t>
            </a:r>
            <a:r>
              <a:rPr lang="en-US" sz="100" dirty="0"/>
              <a:t> </a:t>
            </a:r>
            <a:r>
              <a:rPr lang="en-US" sz="1800" dirty="0"/>
              <a:t>S</a:t>
            </a:r>
            <a:r>
              <a:rPr lang="en-US" sz="100" dirty="0"/>
              <a:t> </a:t>
            </a:r>
            <a:r>
              <a:rPr lang="en-US" sz="1800" dirty="0"/>
              <a:t>C</a:t>
            </a:r>
            <a:r>
              <a:rPr lang="en-US" sz="100" dirty="0"/>
              <a:t> </a:t>
            </a:r>
            <a:r>
              <a:rPr lang="en-US" sz="1800" dirty="0"/>
              <a:t>I</a:t>
            </a:r>
            <a:r>
              <a:rPr lang="en-US" sz="100" dirty="0"/>
              <a:t> </a:t>
            </a:r>
            <a:r>
              <a:rPr lang="en-US" sz="1800" dirty="0" err="1"/>
              <a:t>I</a:t>
            </a:r>
            <a:r>
              <a:rPr lang="en-US" sz="1800" dirty="0"/>
              <a:t> character set is a subset of the Unicode character set. Since most applications need only the A</a:t>
            </a:r>
            <a:r>
              <a:rPr lang="en-US" sz="100" dirty="0"/>
              <a:t> </a:t>
            </a:r>
            <a:r>
              <a:rPr lang="en-US" sz="1800" dirty="0"/>
              <a:t>S</a:t>
            </a:r>
            <a:r>
              <a:rPr lang="en-US" sz="100" dirty="0"/>
              <a:t> </a:t>
            </a:r>
            <a:r>
              <a:rPr lang="en-US" sz="1800" dirty="0"/>
              <a:t>C</a:t>
            </a:r>
            <a:r>
              <a:rPr lang="en-US" sz="100" dirty="0"/>
              <a:t> </a:t>
            </a:r>
            <a:r>
              <a:rPr lang="en-US" sz="1800" dirty="0"/>
              <a:t>I</a:t>
            </a:r>
            <a:r>
              <a:rPr lang="en-US" sz="100" dirty="0"/>
              <a:t> </a:t>
            </a:r>
            <a:r>
              <a:rPr lang="en-US" sz="1800" dirty="0" err="1"/>
              <a:t>I</a:t>
            </a:r>
            <a:r>
              <a:rPr lang="en-US" sz="1800" dirty="0"/>
              <a:t> character set, it is a waste to represent an 8-bit A</a:t>
            </a:r>
            <a:r>
              <a:rPr lang="en-US" sz="100" dirty="0"/>
              <a:t> </a:t>
            </a:r>
            <a:r>
              <a:rPr lang="en-US" sz="1800" dirty="0"/>
              <a:t>S</a:t>
            </a:r>
            <a:r>
              <a:rPr lang="en-US" sz="100" dirty="0"/>
              <a:t> </a:t>
            </a:r>
            <a:r>
              <a:rPr lang="en-US" sz="1800" dirty="0"/>
              <a:t>C</a:t>
            </a:r>
            <a:r>
              <a:rPr lang="en-US" sz="100" dirty="0"/>
              <a:t> </a:t>
            </a:r>
            <a:r>
              <a:rPr lang="en-US" sz="1800" dirty="0"/>
              <a:t>I</a:t>
            </a:r>
            <a:r>
              <a:rPr lang="en-US" sz="100" dirty="0"/>
              <a:t> </a:t>
            </a:r>
            <a:r>
              <a:rPr lang="en-US" sz="1800" dirty="0" err="1"/>
              <a:t>I</a:t>
            </a:r>
            <a:r>
              <a:rPr lang="en-US" sz="1800" dirty="0"/>
              <a:t> character as a 16-bit Unicode character. The U</a:t>
            </a:r>
            <a:r>
              <a:rPr lang="en-US" sz="100" dirty="0"/>
              <a:t> </a:t>
            </a:r>
            <a:r>
              <a:rPr lang="en-US" sz="1800" dirty="0"/>
              <a:t>T</a:t>
            </a:r>
            <a:r>
              <a:rPr lang="en-US" sz="100" dirty="0"/>
              <a:t> </a:t>
            </a:r>
            <a:r>
              <a:rPr lang="en-US" sz="1800" dirty="0"/>
              <a:t>F-8 is an alternative scheme that stores a character using 1, 2, or 3 bytes. A</a:t>
            </a:r>
            <a:r>
              <a:rPr lang="en-US" sz="100" dirty="0"/>
              <a:t> </a:t>
            </a:r>
            <a:r>
              <a:rPr lang="en-US" sz="1800" dirty="0"/>
              <a:t>S</a:t>
            </a:r>
            <a:r>
              <a:rPr lang="en-US" sz="100" dirty="0"/>
              <a:t> </a:t>
            </a:r>
            <a:r>
              <a:rPr lang="en-US" sz="1800" dirty="0"/>
              <a:t>C</a:t>
            </a:r>
            <a:r>
              <a:rPr lang="en-US" sz="100" dirty="0"/>
              <a:t> </a:t>
            </a:r>
            <a:r>
              <a:rPr lang="en-US" sz="1800" dirty="0"/>
              <a:t>I</a:t>
            </a:r>
            <a:r>
              <a:rPr lang="en-US" sz="100" dirty="0"/>
              <a:t> </a:t>
            </a:r>
            <a:r>
              <a:rPr lang="en-US" sz="1800" dirty="0" err="1"/>
              <a:t>I</a:t>
            </a:r>
            <a:r>
              <a:rPr lang="en-US" sz="1800" dirty="0"/>
              <a:t> values (less than 0x7F) are coded in one byte. Unicode values less than 0x7F</a:t>
            </a:r>
            <a:r>
              <a:rPr lang="en-US" sz="100" dirty="0"/>
              <a:t> </a:t>
            </a:r>
            <a:r>
              <a:rPr lang="en-US" sz="1800" dirty="0"/>
              <a:t>F are coded in two bytes. Other Unicode values are coded in three bytes.</a:t>
            </a:r>
          </a:p>
        </p:txBody>
      </p:sp>
    </p:spTree>
    <p:extLst>
      <p:ext uri="{BB962C8B-B14F-4D97-AF65-F5344CB8AC3E}">
        <p14:creationId xmlns:p14="http://schemas.microsoft.com/office/powerpoint/2010/main" val="9625546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CB1F8-70DE-4C5B-ADE7-240D5A66C643}"/>
              </a:ext>
            </a:extLst>
          </p:cNvPr>
          <p:cNvSpPr>
            <a:spLocks noGrp="1"/>
          </p:cNvSpPr>
          <p:nvPr>
            <p:ph type="title"/>
          </p:nvPr>
        </p:nvSpPr>
        <p:spPr/>
        <p:txBody>
          <a:bodyPr/>
          <a:lstStyle/>
          <a:p>
            <a:r>
              <a:rPr lang="en-US" sz="2800"/>
              <a:t>Using </a:t>
            </a:r>
            <a:r>
              <a:rPr lang="en-US" sz="2800">
                <a:latin typeface="Courier New" panose="02070309020205020404" pitchFamily="49" charset="0"/>
                <a:cs typeface="Courier New" panose="02070309020205020404" pitchFamily="49" charset="0"/>
              </a:rPr>
              <a:t>DataInputStream/DataOutputStream</a:t>
            </a:r>
          </a:p>
        </p:txBody>
      </p:sp>
      <p:sp>
        <p:nvSpPr>
          <p:cNvPr id="7" name="Content Placeholder 2">
            <a:extLst>
              <a:ext uri="{FF2B5EF4-FFF2-40B4-BE49-F238E27FC236}">
                <a16:creationId xmlns:a16="http://schemas.microsoft.com/office/drawing/2014/main" id="{8722AC16-7083-4096-AE87-6241324567C6}"/>
              </a:ext>
            </a:extLst>
          </p:cNvPr>
          <p:cNvSpPr>
            <a:spLocks noGrp="1"/>
          </p:cNvSpPr>
          <p:nvPr>
            <p:ph sz="quarter" idx="13"/>
          </p:nvPr>
        </p:nvSpPr>
        <p:spPr>
          <a:xfrm>
            <a:off x="457201" y="1554921"/>
            <a:ext cx="8218487" cy="4068000"/>
          </a:xfrm>
        </p:spPr>
        <p:txBody>
          <a:bodyPr/>
          <a:lstStyle/>
          <a:p>
            <a:pPr marL="432" indent="0">
              <a:buNone/>
            </a:pPr>
            <a:r>
              <a:rPr lang="en-US" sz="1800"/>
              <a:t>Data streams are used as wrappers on existing input and output streams to filter data in the original stream. They are created using the following constructors:</a:t>
            </a:r>
          </a:p>
          <a:p>
            <a:pPr marL="255600" indent="0">
              <a:spcBef>
                <a:spcPts val="600"/>
              </a:spcBef>
              <a:buNone/>
            </a:pPr>
            <a:r>
              <a:rPr lang="en-US" sz="1800">
                <a:latin typeface="Courier New" panose="02070309020205020404" pitchFamily="49" charset="0"/>
                <a:cs typeface="Courier New" panose="02070309020205020404" pitchFamily="49" charset="0"/>
              </a:rPr>
              <a:t>public DataInputStream(InputStream instream)</a:t>
            </a:r>
          </a:p>
          <a:p>
            <a:pPr marL="255600" indent="0">
              <a:spcBef>
                <a:spcPts val="600"/>
              </a:spcBef>
              <a:buNone/>
            </a:pPr>
            <a:r>
              <a:rPr lang="en-US" sz="1800">
                <a:latin typeface="Courier New" panose="02070309020205020404" pitchFamily="49" charset="0"/>
                <a:cs typeface="Courier New" panose="02070309020205020404" pitchFamily="49" charset="0"/>
              </a:rPr>
              <a:t>public DataOutputStream(OutputStream outstream)</a:t>
            </a:r>
          </a:p>
          <a:p>
            <a:pPr marL="432" indent="0">
              <a:buNone/>
            </a:pPr>
            <a:r>
              <a:rPr lang="en-US" sz="1800"/>
              <a:t>The statements given below create data streams. The first statement creates an input stream for file </a:t>
            </a:r>
            <a:r>
              <a:rPr lang="en-US" sz="1800" b="1"/>
              <a:t>in.dat</a:t>
            </a:r>
            <a:r>
              <a:rPr lang="en-US" sz="1800"/>
              <a:t>; the second statement creates an output stream for file </a:t>
            </a:r>
            <a:r>
              <a:rPr lang="en-US" sz="1800" b="1"/>
              <a:t>out.dat</a:t>
            </a:r>
            <a:r>
              <a:rPr lang="en-US" sz="1800"/>
              <a:t>.</a:t>
            </a:r>
          </a:p>
          <a:p>
            <a:pPr marL="255600" indent="0">
              <a:spcBef>
                <a:spcPts val="600"/>
              </a:spcBef>
              <a:buNone/>
            </a:pPr>
            <a:r>
              <a:rPr lang="en-US" sz="1800">
                <a:latin typeface="Courier New" panose="02070309020205020404" pitchFamily="49" charset="0"/>
                <a:cs typeface="Courier New" panose="02070309020205020404" pitchFamily="49" charset="0"/>
              </a:rPr>
              <a:t>DataInputStream infile =</a:t>
            </a:r>
          </a:p>
          <a:p>
            <a:pPr marL="360000" indent="0">
              <a:spcBef>
                <a:spcPts val="600"/>
              </a:spcBef>
              <a:buNone/>
            </a:pPr>
            <a:r>
              <a:rPr lang="en-US" sz="1800">
                <a:latin typeface="Courier New" panose="02070309020205020404" pitchFamily="49" charset="0"/>
                <a:cs typeface="Courier New" panose="02070309020205020404" pitchFamily="49" charset="0"/>
              </a:rPr>
              <a:t>new DataInputStream(new FileInputStream("in.dat"));</a:t>
            </a:r>
          </a:p>
          <a:p>
            <a:pPr marL="255600" indent="0">
              <a:spcBef>
                <a:spcPts val="600"/>
              </a:spcBef>
              <a:buNone/>
            </a:pPr>
            <a:r>
              <a:rPr lang="en-US" sz="1800">
                <a:latin typeface="Courier New" panose="02070309020205020404" pitchFamily="49" charset="0"/>
                <a:cs typeface="Courier New" panose="02070309020205020404" pitchFamily="49" charset="0"/>
              </a:rPr>
              <a:t>DataOutputStream outfile =</a:t>
            </a:r>
          </a:p>
          <a:p>
            <a:pPr marL="360000" indent="0">
              <a:spcBef>
                <a:spcPts val="600"/>
              </a:spcBef>
              <a:buNone/>
            </a:pPr>
            <a:r>
              <a:rPr lang="en-US" sz="1800">
                <a:latin typeface="Courier New" panose="02070309020205020404" pitchFamily="49" charset="0"/>
                <a:cs typeface="Courier New" panose="02070309020205020404" pitchFamily="49" charset="0"/>
              </a:rPr>
              <a:t>new DataOutputStream(new FileOutputStream("out.dat"));</a:t>
            </a:r>
          </a:p>
        </p:txBody>
      </p:sp>
      <p:sp>
        <p:nvSpPr>
          <p:cNvPr id="6" name="Text Placeholder 5">
            <a:extLst>
              <a:ext uri="{FF2B5EF4-FFF2-40B4-BE49-F238E27FC236}">
                <a16:creationId xmlns:a16="http://schemas.microsoft.com/office/drawing/2014/main" id="{B8E00D6B-5F3C-475B-8877-EC5113EBDAE6}"/>
              </a:ext>
            </a:extLst>
          </p:cNvPr>
          <p:cNvSpPr>
            <a:spLocks noGrp="1"/>
          </p:cNvSpPr>
          <p:nvPr>
            <p:ph type="body" sz="quarter" idx="20"/>
          </p:nvPr>
        </p:nvSpPr>
        <p:spPr/>
        <p:txBody>
          <a:bodyPr/>
          <a:lstStyle/>
          <a:p>
            <a:endParaRPr lang="en-US"/>
          </a:p>
        </p:txBody>
      </p:sp>
    </p:spTree>
    <p:extLst>
      <p:ext uri="{BB962C8B-B14F-4D97-AF65-F5344CB8AC3E}">
        <p14:creationId xmlns:p14="http://schemas.microsoft.com/office/powerpoint/2010/main" val="29509350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1E302-D4D3-4A61-8441-CC98DDD51C59}"/>
              </a:ext>
            </a:extLst>
          </p:cNvPr>
          <p:cNvSpPr>
            <a:spLocks noGrp="1"/>
          </p:cNvSpPr>
          <p:nvPr>
            <p:ph type="title"/>
          </p:nvPr>
        </p:nvSpPr>
        <p:spPr/>
        <p:txBody>
          <a:bodyPr/>
          <a:lstStyle/>
          <a:p>
            <a:r>
              <a:rPr lang="en-US"/>
              <a:t>Concept of Pipe Line</a:t>
            </a:r>
          </a:p>
        </p:txBody>
      </p:sp>
      <p:pic>
        <p:nvPicPr>
          <p:cNvPr id="6" name="Picture 5" descr="An object shows the Concept of pipe line.   For long description in Notes pane, press F6.">
            <a:extLst>
              <a:ext uri="{FF2B5EF4-FFF2-40B4-BE49-F238E27FC236}">
                <a16:creationId xmlns:a16="http://schemas.microsoft.com/office/drawing/2014/main" id="{804B127A-A5DE-4816-9ABD-B92006400F07}"/>
              </a:ext>
            </a:extLst>
          </p:cNvPr>
          <p:cNvPicPr>
            <a:picLocks noChangeAspect="1"/>
          </p:cNvPicPr>
          <p:nvPr/>
        </p:nvPicPr>
        <p:blipFill rotWithShape="1">
          <a:blip r:embed="rId3"/>
          <a:srcRect r="12893"/>
          <a:stretch/>
        </p:blipFill>
        <p:spPr>
          <a:xfrm>
            <a:off x="507822" y="1874687"/>
            <a:ext cx="7103469" cy="3108626"/>
          </a:xfrm>
          <a:prstGeom prst="rect">
            <a:avLst/>
          </a:prstGeom>
        </p:spPr>
      </p:pic>
    </p:spTree>
    <p:extLst>
      <p:ext uri="{BB962C8B-B14F-4D97-AF65-F5344CB8AC3E}">
        <p14:creationId xmlns:p14="http://schemas.microsoft.com/office/powerpoint/2010/main" val="12956180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A7AB1-9995-4681-B89A-3C4FCA8D87F3}"/>
              </a:ext>
            </a:extLst>
          </p:cNvPr>
          <p:cNvSpPr>
            <a:spLocks noGrp="1"/>
          </p:cNvSpPr>
          <p:nvPr>
            <p:ph type="title"/>
          </p:nvPr>
        </p:nvSpPr>
        <p:spPr/>
        <p:txBody>
          <a:bodyPr/>
          <a:lstStyle/>
          <a:p>
            <a:r>
              <a:rPr lang="en-US"/>
              <a:t>Order and Format</a:t>
            </a:r>
          </a:p>
        </p:txBody>
      </p:sp>
      <p:sp>
        <p:nvSpPr>
          <p:cNvPr id="3" name="Content Placeholder 2">
            <a:extLst>
              <a:ext uri="{FF2B5EF4-FFF2-40B4-BE49-F238E27FC236}">
                <a16:creationId xmlns:a16="http://schemas.microsoft.com/office/drawing/2014/main" id="{0983EFD6-B902-4DCC-813C-E37F49E3F4D9}"/>
              </a:ext>
            </a:extLst>
          </p:cNvPr>
          <p:cNvSpPr>
            <a:spLocks noGrp="1"/>
          </p:cNvSpPr>
          <p:nvPr>
            <p:ph sz="quarter" idx="13"/>
          </p:nvPr>
        </p:nvSpPr>
        <p:spPr>
          <a:xfrm>
            <a:off x="457201" y="1554921"/>
            <a:ext cx="8218488" cy="4289288"/>
          </a:xfrm>
        </p:spPr>
        <p:txBody>
          <a:bodyPr/>
          <a:lstStyle/>
          <a:p>
            <a:pPr marL="432" indent="0">
              <a:buNone/>
            </a:pPr>
            <a:r>
              <a:rPr lang="en-US" b="1" dirty="0"/>
              <a:t>Caution</a:t>
            </a:r>
            <a:r>
              <a:rPr lang="en-US" dirty="0"/>
              <a:t>: You have to read the data in the same order and same format in which they are stored. For example, since names are written in U</a:t>
            </a:r>
            <a:r>
              <a:rPr lang="en-US" sz="100" dirty="0"/>
              <a:t> </a:t>
            </a:r>
            <a:r>
              <a:rPr lang="en-US" dirty="0"/>
              <a:t>T</a:t>
            </a:r>
            <a:r>
              <a:rPr lang="en-US" sz="100" dirty="0"/>
              <a:t> </a:t>
            </a:r>
            <a:r>
              <a:rPr lang="en-US" dirty="0"/>
              <a:t>F-8 using </a:t>
            </a:r>
            <a:r>
              <a:rPr lang="en-US" u="sng" dirty="0" err="1">
                <a:latin typeface="Courier New" panose="02070309020205020404" pitchFamily="49" charset="0"/>
                <a:cs typeface="Courier New" panose="02070309020205020404" pitchFamily="49" charset="0"/>
              </a:rPr>
              <a:t>writeUTF</a:t>
            </a:r>
            <a:r>
              <a:rPr lang="en-US" dirty="0"/>
              <a:t>, you must read names using </a:t>
            </a:r>
            <a:r>
              <a:rPr lang="en-US" u="sng" dirty="0" err="1">
                <a:latin typeface="Courier New" panose="02070309020205020404" pitchFamily="49" charset="0"/>
                <a:cs typeface="Courier New" panose="02070309020205020404" pitchFamily="49" charset="0"/>
              </a:rPr>
              <a:t>readUTF</a:t>
            </a:r>
            <a:r>
              <a:rPr lang="en-US" dirty="0"/>
              <a:t>.</a:t>
            </a:r>
          </a:p>
          <a:p>
            <a:pPr marL="432" indent="0">
              <a:buNone/>
            </a:pPr>
            <a:r>
              <a:rPr lang="en-US" dirty="0"/>
              <a:t>Checking End of File</a:t>
            </a:r>
          </a:p>
          <a:p>
            <a:pPr marL="432" indent="0">
              <a:buNone/>
            </a:pPr>
            <a:r>
              <a:rPr lang="en-US" b="1" dirty="0"/>
              <a:t>Tip</a:t>
            </a:r>
            <a:r>
              <a:rPr lang="en-US" dirty="0"/>
              <a:t>: If you keep reading data at the end of a stream, an </a:t>
            </a:r>
            <a:r>
              <a:rPr lang="en-US" u="sng" dirty="0" err="1">
                <a:latin typeface="Courier New" panose="02070309020205020404" pitchFamily="49" charset="0"/>
                <a:cs typeface="Courier New" panose="02070309020205020404" pitchFamily="49" charset="0"/>
              </a:rPr>
              <a:t>EOFException</a:t>
            </a:r>
            <a:r>
              <a:rPr lang="en-US" dirty="0"/>
              <a:t> would occur. So how do you check the end of a file? You can use </a:t>
            </a:r>
            <a:r>
              <a:rPr lang="en-US" u="sng" dirty="0" err="1">
                <a:latin typeface="Courier New" panose="02070309020205020404" pitchFamily="49" charset="0"/>
                <a:cs typeface="Courier New" panose="02070309020205020404" pitchFamily="49" charset="0"/>
              </a:rPr>
              <a:t>input.available</a:t>
            </a:r>
            <a:r>
              <a:rPr lang="en-US" u="sng" dirty="0">
                <a:latin typeface="Courier New" panose="02070309020205020404" pitchFamily="49" charset="0"/>
                <a:cs typeface="Courier New" panose="02070309020205020404" pitchFamily="49" charset="0"/>
              </a:rPr>
              <a:t>()</a:t>
            </a:r>
            <a:r>
              <a:rPr lang="en-US" dirty="0">
                <a:latin typeface="Courier New" panose="02070309020205020404" pitchFamily="49" charset="0"/>
                <a:cs typeface="Courier New" panose="02070309020205020404" pitchFamily="49" charset="0"/>
              </a:rPr>
              <a:t> </a:t>
            </a:r>
            <a:r>
              <a:rPr lang="en-US" dirty="0"/>
              <a:t>to check it. </a:t>
            </a:r>
            <a:r>
              <a:rPr lang="en-US" u="sng" dirty="0" err="1">
                <a:latin typeface="Courier New" panose="02070309020205020404" pitchFamily="49" charset="0"/>
                <a:cs typeface="Courier New" panose="02070309020205020404" pitchFamily="49" charset="0"/>
              </a:rPr>
              <a:t>input.available</a:t>
            </a:r>
            <a:r>
              <a:rPr lang="en-US" u="sng" dirty="0">
                <a:latin typeface="Courier New" panose="02070309020205020404" pitchFamily="49" charset="0"/>
                <a:cs typeface="Courier New" panose="02070309020205020404" pitchFamily="49" charset="0"/>
              </a:rPr>
              <a:t>() == 0</a:t>
            </a:r>
            <a:r>
              <a:rPr lang="en-US" dirty="0">
                <a:cs typeface="Courier New" panose="02070309020205020404" pitchFamily="49" charset="0"/>
              </a:rPr>
              <a:t> </a:t>
            </a:r>
            <a:r>
              <a:rPr lang="en-US" dirty="0"/>
              <a:t>indicates that it is the end of a file.</a:t>
            </a:r>
          </a:p>
        </p:txBody>
      </p:sp>
      <p:sp>
        <p:nvSpPr>
          <p:cNvPr id="5" name="Text Placeholder 9">
            <a:extLst>
              <a:ext uri="{FF2B5EF4-FFF2-40B4-BE49-F238E27FC236}">
                <a16:creationId xmlns:a16="http://schemas.microsoft.com/office/drawing/2014/main" id="{4E461302-C3B1-419B-B58A-D232DEB29188}"/>
              </a:ext>
            </a:extLst>
          </p:cNvPr>
          <p:cNvSpPr txBox="1">
            <a:spLocks/>
          </p:cNvSpPr>
          <p:nvPr/>
        </p:nvSpPr>
        <p:spPr>
          <a:xfrm>
            <a:off x="6766546" y="5836439"/>
            <a:ext cx="1900376" cy="46711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marL="432"/>
            <a:r>
              <a:rPr lang="en-US" sz="1800">
                <a:hlinkClick r:id="rId3" action="ppaction://hlinkfile" tooltip="https://liveexample.pearsoncmg.com/html/TestFileStream.html"/>
              </a:rPr>
              <a:t>TestDataStream</a:t>
            </a:r>
            <a:endParaRPr lang="en-US" sz="1800" dirty="0">
              <a:hlinkClick r:id="rId3" action="ppaction://hlinkfile" tooltip="https://liveexample.pearsoncmg.com/html/TestFileStream.html"/>
            </a:endParaRPr>
          </a:p>
        </p:txBody>
      </p:sp>
    </p:spTree>
    <p:extLst>
      <p:ext uri="{BB962C8B-B14F-4D97-AF65-F5344CB8AC3E}">
        <p14:creationId xmlns:p14="http://schemas.microsoft.com/office/powerpoint/2010/main" val="1934573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FE6AB-88B4-4145-BD15-02E1BBCE96EC}"/>
              </a:ext>
            </a:extLst>
          </p:cNvPr>
          <p:cNvSpPr>
            <a:spLocks noGrp="1"/>
          </p:cNvSpPr>
          <p:nvPr>
            <p:ph type="title"/>
          </p:nvPr>
        </p:nvSpPr>
        <p:spPr>
          <a:xfrm>
            <a:off x="457200" y="215371"/>
            <a:ext cx="8244000" cy="1097279"/>
          </a:xfrm>
        </p:spPr>
        <p:txBody>
          <a:bodyPr/>
          <a:lstStyle/>
          <a:p>
            <a:r>
              <a:rPr lang="en-US" sz="2600">
                <a:latin typeface="Courier New" panose="02070309020205020404" pitchFamily="49" charset="0"/>
                <a:cs typeface="Courier New" panose="02070309020205020404" pitchFamily="49" charset="0"/>
              </a:rPr>
              <a:t>BufferedInputStream/BufferedOutputStream</a:t>
            </a:r>
          </a:p>
        </p:txBody>
      </p:sp>
      <p:pic>
        <p:nvPicPr>
          <p:cNvPr id="7" name="Picture 6" descr="An object shows the Buffered Input Stream or Buffered Output Stream. For long description in Notes pane, press F6.">
            <a:extLst>
              <a:ext uri="{FF2B5EF4-FFF2-40B4-BE49-F238E27FC236}">
                <a16:creationId xmlns:a16="http://schemas.microsoft.com/office/drawing/2014/main" id="{54220124-F3A9-47BC-9247-3E51992EEE7E}"/>
              </a:ext>
            </a:extLst>
          </p:cNvPr>
          <p:cNvPicPr>
            <a:picLocks noChangeAspect="1"/>
          </p:cNvPicPr>
          <p:nvPr/>
        </p:nvPicPr>
        <p:blipFill>
          <a:blip r:embed="rId3"/>
          <a:stretch>
            <a:fillRect/>
          </a:stretch>
        </p:blipFill>
        <p:spPr>
          <a:xfrm>
            <a:off x="1020009" y="1546635"/>
            <a:ext cx="7103981" cy="3181642"/>
          </a:xfrm>
          <a:prstGeom prst="rect">
            <a:avLst/>
          </a:prstGeom>
        </p:spPr>
      </p:pic>
      <p:sp>
        <p:nvSpPr>
          <p:cNvPr id="4" name="Content Placeholder 3">
            <a:extLst>
              <a:ext uri="{FF2B5EF4-FFF2-40B4-BE49-F238E27FC236}">
                <a16:creationId xmlns:a16="http://schemas.microsoft.com/office/drawing/2014/main" id="{63819FAC-6973-4304-B552-C4FAFABCB489}"/>
              </a:ext>
            </a:extLst>
          </p:cNvPr>
          <p:cNvSpPr>
            <a:spLocks noGrp="1"/>
          </p:cNvSpPr>
          <p:nvPr>
            <p:ph sz="quarter" idx="14"/>
          </p:nvPr>
        </p:nvSpPr>
        <p:spPr>
          <a:xfrm>
            <a:off x="470451" y="4858112"/>
            <a:ext cx="8205237" cy="1317402"/>
          </a:xfrm>
        </p:spPr>
        <p:txBody>
          <a:bodyPr/>
          <a:lstStyle/>
          <a:p>
            <a:pPr marL="432" indent="0">
              <a:buNone/>
            </a:pPr>
            <a:r>
              <a:rPr lang="en-US" sz="1800" u="sng">
                <a:latin typeface="Courier New" panose="02070309020205020404" pitchFamily="49" charset="0"/>
                <a:cs typeface="Courier New" panose="02070309020205020404" pitchFamily="49" charset="0"/>
              </a:rPr>
              <a:t>BufferedInputStream/BufferedOutputStream</a:t>
            </a:r>
            <a:r>
              <a:rPr lang="en-US" sz="1800">
                <a:latin typeface="Courier New" panose="02070309020205020404" pitchFamily="49" charset="0"/>
                <a:cs typeface="Courier New" panose="02070309020205020404" pitchFamily="49" charset="0"/>
              </a:rPr>
              <a:t> </a:t>
            </a:r>
            <a:r>
              <a:rPr lang="en-US" sz="1800"/>
              <a:t>does not contain new methods. All the methods </a:t>
            </a:r>
            <a:r>
              <a:rPr lang="en-US" sz="1800" u="sng">
                <a:latin typeface="Courier New" panose="02070309020205020404" pitchFamily="49" charset="0"/>
                <a:cs typeface="Courier New" panose="02070309020205020404" pitchFamily="49" charset="0"/>
              </a:rPr>
              <a:t>BufferedInputStream/BufferedOutputStream</a:t>
            </a:r>
            <a:r>
              <a:rPr lang="en-US" sz="1800"/>
              <a:t> are inherited from the </a:t>
            </a:r>
            <a:r>
              <a:rPr lang="en-US" sz="1800" u="sng">
                <a:latin typeface="Courier New" panose="02070309020205020404" pitchFamily="49" charset="0"/>
                <a:cs typeface="Courier New" panose="02070309020205020404" pitchFamily="49" charset="0"/>
              </a:rPr>
              <a:t>InputStream/OutputStream</a:t>
            </a:r>
            <a:r>
              <a:rPr lang="en-US" sz="1800"/>
              <a:t> classes.</a:t>
            </a:r>
          </a:p>
        </p:txBody>
      </p:sp>
    </p:spTree>
    <p:extLst>
      <p:ext uri="{BB962C8B-B14F-4D97-AF65-F5344CB8AC3E}">
        <p14:creationId xmlns:p14="http://schemas.microsoft.com/office/powerpoint/2010/main" val="3279430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81727E1-CB75-40B7-8752-5F550D315AA8}"/>
              </a:ext>
            </a:extLst>
          </p:cNvPr>
          <p:cNvSpPr>
            <a:spLocks noGrp="1"/>
          </p:cNvSpPr>
          <p:nvPr>
            <p:ph type="title"/>
          </p:nvPr>
        </p:nvSpPr>
        <p:spPr>
          <a:xfrm>
            <a:off x="457200" y="215371"/>
            <a:ext cx="8244000" cy="1097279"/>
          </a:xfrm>
        </p:spPr>
        <p:txBody>
          <a:bodyPr/>
          <a:lstStyle/>
          <a:p>
            <a:r>
              <a:rPr lang="en-US" sz="2600" dirty="0"/>
              <a:t>Constructing </a:t>
            </a:r>
            <a:r>
              <a:rPr lang="en-US" sz="2600" dirty="0" err="1">
                <a:latin typeface="Courier New" panose="02070309020205020404" pitchFamily="49" charset="0"/>
                <a:cs typeface="Courier New" panose="02070309020205020404" pitchFamily="49" charset="0"/>
              </a:rPr>
              <a:t>BufferedInputStream</a:t>
            </a:r>
            <a:r>
              <a:rPr lang="en-US" sz="2600" dirty="0">
                <a:latin typeface="Courier New" panose="02070309020205020404" pitchFamily="49" charset="0"/>
                <a:cs typeface="Courier New" panose="02070309020205020404" pitchFamily="49" charset="0"/>
              </a:rPr>
              <a:t>/</a:t>
            </a:r>
            <a:r>
              <a:rPr lang="en-US" sz="2600" dirty="0" err="1">
                <a:latin typeface="Courier New" panose="02070309020205020404" pitchFamily="49" charset="0"/>
                <a:cs typeface="Courier New" panose="02070309020205020404" pitchFamily="49" charset="0"/>
              </a:rPr>
              <a:t>BufferedOutputStream</a:t>
            </a:r>
            <a:endParaRPr lang="en-US" sz="2600" dirty="0">
              <a:latin typeface="Courier New" panose="02070309020205020404" pitchFamily="49" charset="0"/>
              <a:cs typeface="Courier New" panose="02070309020205020404" pitchFamily="49" charset="0"/>
            </a:endParaRPr>
          </a:p>
        </p:txBody>
      </p:sp>
      <p:sp>
        <p:nvSpPr>
          <p:cNvPr id="5" name="Content Placeholder 4">
            <a:extLst>
              <a:ext uri="{FF2B5EF4-FFF2-40B4-BE49-F238E27FC236}">
                <a16:creationId xmlns:a16="http://schemas.microsoft.com/office/drawing/2014/main" id="{AFB3BF9C-4D44-4235-9036-4FED9D022992}"/>
              </a:ext>
            </a:extLst>
          </p:cNvPr>
          <p:cNvSpPr>
            <a:spLocks noGrp="1"/>
          </p:cNvSpPr>
          <p:nvPr>
            <p:ph sz="quarter" idx="13"/>
          </p:nvPr>
        </p:nvSpPr>
        <p:spPr>
          <a:xfrm>
            <a:off x="457200" y="1556327"/>
            <a:ext cx="8172000" cy="2419326"/>
          </a:xfrm>
        </p:spPr>
        <p:txBody>
          <a:bodyPr/>
          <a:lstStyle/>
          <a:p>
            <a:pPr marL="432" indent="0">
              <a:spcBef>
                <a:spcPts val="600"/>
              </a:spcBef>
              <a:buNone/>
            </a:pPr>
            <a:r>
              <a:rPr lang="en-US" sz="1600" dirty="0">
                <a:latin typeface="Courier New" panose="02070309020205020404" pitchFamily="49" charset="0"/>
                <a:cs typeface="Courier New" panose="02070309020205020404" pitchFamily="49" charset="0"/>
              </a:rPr>
              <a:t>// Create a </a:t>
            </a:r>
            <a:r>
              <a:rPr lang="en-US" sz="1600" dirty="0" err="1">
                <a:latin typeface="Courier New" panose="02070309020205020404" pitchFamily="49" charset="0"/>
                <a:cs typeface="Courier New" panose="02070309020205020404" pitchFamily="49" charset="0"/>
              </a:rPr>
              <a:t>BufferedInputStream</a:t>
            </a:r>
            <a:endParaRPr lang="en-US" sz="1600" dirty="0">
              <a:latin typeface="Courier New" panose="02070309020205020404" pitchFamily="49" charset="0"/>
              <a:cs typeface="Courier New" panose="02070309020205020404" pitchFamily="49" charset="0"/>
            </a:endParaRPr>
          </a:p>
          <a:p>
            <a:pPr marL="432" indent="0">
              <a:spcBef>
                <a:spcPts val="600"/>
              </a:spcBef>
              <a:buNone/>
            </a:pPr>
            <a:r>
              <a:rPr lang="en-US" sz="1600" dirty="0">
                <a:latin typeface="Courier New" panose="02070309020205020404" pitchFamily="49" charset="0"/>
                <a:cs typeface="Courier New" panose="02070309020205020404" pitchFamily="49" charset="0"/>
              </a:rPr>
              <a:t>public </a:t>
            </a:r>
            <a:r>
              <a:rPr lang="en-US" sz="1600" dirty="0" err="1">
                <a:latin typeface="Courier New" panose="02070309020205020404" pitchFamily="49" charset="0"/>
                <a:cs typeface="Courier New" panose="02070309020205020404" pitchFamily="49" charset="0"/>
              </a:rPr>
              <a:t>BufferedInputStream</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InputStream</a:t>
            </a:r>
            <a:r>
              <a:rPr lang="en-US" sz="1600" dirty="0">
                <a:latin typeface="Courier New" panose="02070309020205020404" pitchFamily="49" charset="0"/>
                <a:cs typeface="Courier New" panose="02070309020205020404" pitchFamily="49" charset="0"/>
              </a:rPr>
              <a:t> in)</a:t>
            </a:r>
          </a:p>
          <a:p>
            <a:pPr marL="432" indent="0">
              <a:spcBef>
                <a:spcPts val="600"/>
              </a:spcBef>
              <a:buNone/>
            </a:pPr>
            <a:r>
              <a:rPr lang="en-US" sz="1600" dirty="0">
                <a:latin typeface="Courier New" panose="02070309020205020404" pitchFamily="49" charset="0"/>
                <a:cs typeface="Courier New" panose="02070309020205020404" pitchFamily="49" charset="0"/>
              </a:rPr>
              <a:t>public </a:t>
            </a:r>
            <a:r>
              <a:rPr lang="en-US" sz="1600" dirty="0" err="1">
                <a:latin typeface="Courier New" panose="02070309020205020404" pitchFamily="49" charset="0"/>
                <a:cs typeface="Courier New" panose="02070309020205020404" pitchFamily="49" charset="0"/>
              </a:rPr>
              <a:t>BufferedInputStream</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InputStream</a:t>
            </a:r>
            <a:r>
              <a:rPr lang="en-US" sz="1600" dirty="0">
                <a:latin typeface="Courier New" panose="02070309020205020404" pitchFamily="49" charset="0"/>
                <a:cs typeface="Courier New" panose="02070309020205020404" pitchFamily="49" charset="0"/>
              </a:rPr>
              <a:t> in, int </a:t>
            </a:r>
            <a:r>
              <a:rPr lang="en-US" sz="1600" dirty="0" err="1">
                <a:latin typeface="Courier New" panose="02070309020205020404" pitchFamily="49" charset="0"/>
                <a:cs typeface="Courier New" panose="02070309020205020404" pitchFamily="49" charset="0"/>
              </a:rPr>
              <a:t>bufferSize</a:t>
            </a:r>
            <a:r>
              <a:rPr lang="en-US" sz="1600" dirty="0">
                <a:latin typeface="Courier New" panose="02070309020205020404" pitchFamily="49" charset="0"/>
                <a:cs typeface="Courier New" panose="02070309020205020404" pitchFamily="49" charset="0"/>
              </a:rPr>
              <a:t>)</a:t>
            </a:r>
          </a:p>
          <a:p>
            <a:pPr marL="432" indent="0">
              <a:spcBef>
                <a:spcPts val="600"/>
              </a:spcBef>
              <a:buNone/>
            </a:pPr>
            <a:endParaRPr lang="en-US" sz="1600" dirty="0">
              <a:latin typeface="Courier New" panose="02070309020205020404" pitchFamily="49" charset="0"/>
              <a:cs typeface="Courier New" panose="02070309020205020404" pitchFamily="49" charset="0"/>
            </a:endParaRPr>
          </a:p>
          <a:p>
            <a:pPr marL="432" indent="0">
              <a:spcBef>
                <a:spcPts val="600"/>
              </a:spcBef>
              <a:buNone/>
            </a:pPr>
            <a:r>
              <a:rPr lang="en-US" sz="1600" dirty="0">
                <a:latin typeface="Courier New" panose="02070309020205020404" pitchFamily="49" charset="0"/>
                <a:cs typeface="Courier New" panose="02070309020205020404" pitchFamily="49" charset="0"/>
              </a:rPr>
              <a:t>// Create a </a:t>
            </a:r>
            <a:r>
              <a:rPr lang="en-US" sz="1600" dirty="0" err="1">
                <a:latin typeface="Courier New" panose="02070309020205020404" pitchFamily="49" charset="0"/>
                <a:cs typeface="Courier New" panose="02070309020205020404" pitchFamily="49" charset="0"/>
              </a:rPr>
              <a:t>BufferedOutputStream</a:t>
            </a:r>
            <a:endParaRPr lang="en-US" sz="1600" dirty="0">
              <a:latin typeface="Courier New" panose="02070309020205020404" pitchFamily="49" charset="0"/>
              <a:cs typeface="Courier New" panose="02070309020205020404" pitchFamily="49" charset="0"/>
            </a:endParaRPr>
          </a:p>
          <a:p>
            <a:pPr marL="432" indent="0">
              <a:spcBef>
                <a:spcPts val="600"/>
              </a:spcBef>
              <a:buNone/>
            </a:pPr>
            <a:r>
              <a:rPr lang="en-US" sz="1600" dirty="0">
                <a:latin typeface="Courier New" panose="02070309020205020404" pitchFamily="49" charset="0"/>
                <a:cs typeface="Courier New" panose="02070309020205020404" pitchFamily="49" charset="0"/>
              </a:rPr>
              <a:t>public </a:t>
            </a:r>
            <a:r>
              <a:rPr lang="en-US" sz="1600" dirty="0" err="1">
                <a:latin typeface="Courier New" panose="02070309020205020404" pitchFamily="49" charset="0"/>
                <a:cs typeface="Courier New" panose="02070309020205020404" pitchFamily="49" charset="0"/>
              </a:rPr>
              <a:t>BufferedOutputStream</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OutputStream</a:t>
            </a:r>
            <a:r>
              <a:rPr lang="en-US" sz="1600" dirty="0">
                <a:latin typeface="Courier New" panose="02070309020205020404" pitchFamily="49" charset="0"/>
                <a:cs typeface="Courier New" panose="02070309020205020404" pitchFamily="49" charset="0"/>
              </a:rPr>
              <a:t> out)</a:t>
            </a:r>
          </a:p>
          <a:p>
            <a:pPr marL="432" indent="0">
              <a:spcBef>
                <a:spcPts val="600"/>
              </a:spcBef>
              <a:buNone/>
            </a:pPr>
            <a:r>
              <a:rPr lang="en-US" sz="1600" dirty="0">
                <a:latin typeface="Courier New" panose="02070309020205020404" pitchFamily="49" charset="0"/>
                <a:cs typeface="Courier New" panose="02070309020205020404" pitchFamily="49" charset="0"/>
              </a:rPr>
              <a:t>public </a:t>
            </a:r>
            <a:r>
              <a:rPr lang="en-US" sz="1600" dirty="0" err="1">
                <a:latin typeface="Courier New" panose="02070309020205020404" pitchFamily="49" charset="0"/>
                <a:cs typeface="Courier New" panose="02070309020205020404" pitchFamily="49" charset="0"/>
              </a:rPr>
              <a:t>BufferedOutputStream</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OutputStreamr</a:t>
            </a:r>
            <a:r>
              <a:rPr lang="en-US" sz="1600" dirty="0">
                <a:latin typeface="Courier New" panose="02070309020205020404" pitchFamily="49" charset="0"/>
                <a:cs typeface="Courier New" panose="02070309020205020404" pitchFamily="49" charset="0"/>
              </a:rPr>
              <a:t> out, int </a:t>
            </a:r>
            <a:r>
              <a:rPr lang="en-US" sz="1600" dirty="0" err="1">
                <a:latin typeface="Courier New" panose="02070309020205020404" pitchFamily="49" charset="0"/>
                <a:cs typeface="Courier New" panose="02070309020205020404" pitchFamily="49" charset="0"/>
              </a:rPr>
              <a:t>bufferSize</a:t>
            </a:r>
            <a:r>
              <a:rPr lang="en-US" sz="1600" dirty="0">
                <a:latin typeface="Courier New" panose="02070309020205020404" pitchFamily="49" charset="0"/>
                <a:cs typeface="Courier New" panose="02070309020205020404" pitchFamily="49" charset="0"/>
              </a:rPr>
              <a:t>)</a:t>
            </a:r>
          </a:p>
        </p:txBody>
      </p:sp>
      <p:pic>
        <p:nvPicPr>
          <p:cNvPr id="8" name="Picture 7" descr="An object shows the Buffered Input Stream or Buffered Output Stream. For long description in Notes pane, press F6.">
            <a:extLst>
              <a:ext uri="{FF2B5EF4-FFF2-40B4-BE49-F238E27FC236}">
                <a16:creationId xmlns:a16="http://schemas.microsoft.com/office/drawing/2014/main" id="{2A492F11-FDBC-4317-8F26-68B4D57CEA9E}"/>
              </a:ext>
            </a:extLst>
          </p:cNvPr>
          <p:cNvPicPr>
            <a:picLocks noChangeAspect="1"/>
          </p:cNvPicPr>
          <p:nvPr/>
        </p:nvPicPr>
        <p:blipFill>
          <a:blip r:embed="rId3"/>
          <a:stretch>
            <a:fillRect/>
          </a:stretch>
        </p:blipFill>
        <p:spPr>
          <a:xfrm>
            <a:off x="497841" y="4264182"/>
            <a:ext cx="8148316" cy="1324633"/>
          </a:xfrm>
          <a:prstGeom prst="rect">
            <a:avLst/>
          </a:prstGeom>
        </p:spPr>
      </p:pic>
    </p:spTree>
    <p:extLst>
      <p:ext uri="{BB962C8B-B14F-4D97-AF65-F5344CB8AC3E}">
        <p14:creationId xmlns:p14="http://schemas.microsoft.com/office/powerpoint/2010/main" val="4178338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C1535-E1E6-4F32-A16A-EF0634B078D3}"/>
              </a:ext>
            </a:extLst>
          </p:cNvPr>
          <p:cNvSpPr>
            <a:spLocks noGrp="1"/>
          </p:cNvSpPr>
          <p:nvPr>
            <p:ph type="title"/>
          </p:nvPr>
        </p:nvSpPr>
        <p:spPr/>
        <p:txBody>
          <a:bodyPr/>
          <a:lstStyle/>
          <a:p>
            <a:r>
              <a:rPr lang="en-US"/>
              <a:t>Case Studies: Copy File</a:t>
            </a:r>
          </a:p>
        </p:txBody>
      </p:sp>
      <p:sp>
        <p:nvSpPr>
          <p:cNvPr id="3" name="Content Placeholder 2">
            <a:extLst>
              <a:ext uri="{FF2B5EF4-FFF2-40B4-BE49-F238E27FC236}">
                <a16:creationId xmlns:a16="http://schemas.microsoft.com/office/drawing/2014/main" id="{B7ABCDA5-3E2C-4417-B10C-6116BD444321}"/>
              </a:ext>
            </a:extLst>
          </p:cNvPr>
          <p:cNvSpPr>
            <a:spLocks noGrp="1"/>
          </p:cNvSpPr>
          <p:nvPr>
            <p:ph sz="quarter" idx="13"/>
          </p:nvPr>
        </p:nvSpPr>
        <p:spPr>
          <a:xfrm>
            <a:off x="457200" y="1552576"/>
            <a:ext cx="8229600" cy="954141"/>
          </a:xfrm>
        </p:spPr>
        <p:txBody>
          <a:bodyPr/>
          <a:lstStyle/>
          <a:p>
            <a:pPr marL="432" indent="0">
              <a:buNone/>
            </a:pPr>
            <a:r>
              <a:rPr lang="en-US" sz="1800"/>
              <a:t>This case study develops a program that copies files. The user needs to provide a source file and a target file as command-line arguments using the following command:</a:t>
            </a:r>
          </a:p>
        </p:txBody>
      </p:sp>
      <p:sp>
        <p:nvSpPr>
          <p:cNvPr id="4" name="Content Placeholder 3">
            <a:extLst>
              <a:ext uri="{FF2B5EF4-FFF2-40B4-BE49-F238E27FC236}">
                <a16:creationId xmlns:a16="http://schemas.microsoft.com/office/drawing/2014/main" id="{4314C5AF-5E81-4413-82F7-B4F896D698D4}"/>
              </a:ext>
            </a:extLst>
          </p:cNvPr>
          <p:cNvSpPr>
            <a:spLocks noGrp="1"/>
          </p:cNvSpPr>
          <p:nvPr>
            <p:ph sz="quarter" idx="14"/>
          </p:nvPr>
        </p:nvSpPr>
        <p:spPr>
          <a:xfrm>
            <a:off x="1513489" y="3096179"/>
            <a:ext cx="2855937" cy="521425"/>
          </a:xfrm>
        </p:spPr>
        <p:txBody>
          <a:bodyPr/>
          <a:lstStyle/>
          <a:p>
            <a:pPr marL="432" indent="0">
              <a:buNone/>
            </a:pPr>
            <a:r>
              <a:rPr lang="en-US" sz="1800" b="1"/>
              <a:t>java Copy source target</a:t>
            </a:r>
          </a:p>
        </p:txBody>
      </p:sp>
      <p:pic>
        <p:nvPicPr>
          <p:cNvPr id="19" name="Picture 18" descr="The computer code shows the Case Studies for Copy a File. For long description in Notes pane, press F6.">
            <a:extLst>
              <a:ext uri="{FF2B5EF4-FFF2-40B4-BE49-F238E27FC236}">
                <a16:creationId xmlns:a16="http://schemas.microsoft.com/office/drawing/2014/main" id="{6FF3CB1B-C501-4828-B9CE-F6B0D1289CEF}"/>
              </a:ext>
            </a:extLst>
          </p:cNvPr>
          <p:cNvPicPr>
            <a:picLocks noChangeAspect="1"/>
          </p:cNvPicPr>
          <p:nvPr/>
        </p:nvPicPr>
        <p:blipFill>
          <a:blip r:embed="rId3"/>
          <a:stretch>
            <a:fillRect/>
          </a:stretch>
        </p:blipFill>
        <p:spPr>
          <a:xfrm>
            <a:off x="4933234" y="2639140"/>
            <a:ext cx="3412206" cy="1712240"/>
          </a:xfrm>
          <a:prstGeom prst="rect">
            <a:avLst/>
          </a:prstGeom>
        </p:spPr>
      </p:pic>
      <p:sp>
        <p:nvSpPr>
          <p:cNvPr id="6" name="Content Placeholder 5">
            <a:extLst>
              <a:ext uri="{FF2B5EF4-FFF2-40B4-BE49-F238E27FC236}">
                <a16:creationId xmlns:a16="http://schemas.microsoft.com/office/drawing/2014/main" id="{2D64C5D9-BAB5-4A02-829D-F09E719DA7D7}"/>
              </a:ext>
            </a:extLst>
          </p:cNvPr>
          <p:cNvSpPr>
            <a:spLocks noGrp="1"/>
          </p:cNvSpPr>
          <p:nvPr>
            <p:ph sz="quarter" idx="16"/>
          </p:nvPr>
        </p:nvSpPr>
        <p:spPr>
          <a:xfrm>
            <a:off x="457200" y="4487097"/>
            <a:ext cx="8229600" cy="967772"/>
          </a:xfrm>
        </p:spPr>
        <p:txBody>
          <a:bodyPr/>
          <a:lstStyle/>
          <a:p>
            <a:pPr marL="432" indent="0">
              <a:buNone/>
            </a:pPr>
            <a:r>
              <a:rPr lang="en-US" sz="1800"/>
              <a:t>The program copies a source file to a target file and displays the number of bytes in the file. If the source does not exist, tell the user the file is not found. If the target file already exists, tell the user the file already exists.</a:t>
            </a:r>
          </a:p>
        </p:txBody>
      </p:sp>
      <p:sp>
        <p:nvSpPr>
          <p:cNvPr id="10" name="Text Placeholder 9">
            <a:extLst>
              <a:ext uri="{FF2B5EF4-FFF2-40B4-BE49-F238E27FC236}">
                <a16:creationId xmlns:a16="http://schemas.microsoft.com/office/drawing/2014/main" id="{06AAB893-7EA0-4281-80F6-34CE61FDF617}"/>
              </a:ext>
            </a:extLst>
          </p:cNvPr>
          <p:cNvSpPr>
            <a:spLocks noGrp="1"/>
          </p:cNvSpPr>
          <p:nvPr>
            <p:ph type="body" sz="quarter" idx="20"/>
          </p:nvPr>
        </p:nvSpPr>
        <p:spPr>
          <a:xfrm>
            <a:off x="7677808" y="5730356"/>
            <a:ext cx="816836" cy="506932"/>
          </a:xfrm>
        </p:spPr>
        <p:txBody>
          <a:bodyPr/>
          <a:lstStyle/>
          <a:p>
            <a:pPr marL="432" indent="0">
              <a:buNone/>
            </a:pPr>
            <a:r>
              <a:rPr lang="en-US" sz="1800" dirty="0">
                <a:hlinkClick r:id="rId4" action="ppaction://hlinkfile" tooltip="https://liveexample.pearsoncmg.com/html/Copy.html"/>
              </a:rPr>
              <a:t>Copy</a:t>
            </a:r>
          </a:p>
        </p:txBody>
      </p:sp>
    </p:spTree>
    <p:extLst>
      <p:ext uri="{BB962C8B-B14F-4D97-AF65-F5344CB8AC3E}">
        <p14:creationId xmlns:p14="http://schemas.microsoft.com/office/powerpoint/2010/main" val="14636011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64B06-53EC-45D8-9ADF-799A06AADFE0}"/>
              </a:ext>
            </a:extLst>
          </p:cNvPr>
          <p:cNvSpPr>
            <a:spLocks noGrp="1"/>
          </p:cNvSpPr>
          <p:nvPr>
            <p:ph type="title"/>
          </p:nvPr>
        </p:nvSpPr>
        <p:spPr/>
        <p:txBody>
          <a:bodyPr/>
          <a:lstStyle/>
          <a:p>
            <a:r>
              <a:rPr lang="en-US"/>
              <a:t>Object I/O</a:t>
            </a:r>
          </a:p>
        </p:txBody>
      </p:sp>
      <p:pic>
        <p:nvPicPr>
          <p:cNvPr id="7" name="Picture 6" descr="An object shows Object I or O. For long description in Notes pane, press F6.">
            <a:extLst>
              <a:ext uri="{FF2B5EF4-FFF2-40B4-BE49-F238E27FC236}">
                <a16:creationId xmlns:a16="http://schemas.microsoft.com/office/drawing/2014/main" id="{0C8745EB-FE5D-49E8-B40B-6DD88B3580DD}"/>
              </a:ext>
            </a:extLst>
          </p:cNvPr>
          <p:cNvPicPr>
            <a:picLocks noChangeAspect="1"/>
          </p:cNvPicPr>
          <p:nvPr/>
        </p:nvPicPr>
        <p:blipFill>
          <a:blip r:embed="rId3"/>
          <a:stretch>
            <a:fillRect/>
          </a:stretch>
        </p:blipFill>
        <p:spPr>
          <a:xfrm>
            <a:off x="535173" y="1588477"/>
            <a:ext cx="8073655" cy="4343650"/>
          </a:xfrm>
          <a:prstGeom prst="rect">
            <a:avLst/>
          </a:prstGeom>
        </p:spPr>
      </p:pic>
    </p:spTree>
    <p:extLst>
      <p:ext uri="{BB962C8B-B14F-4D97-AF65-F5344CB8AC3E}">
        <p14:creationId xmlns:p14="http://schemas.microsoft.com/office/powerpoint/2010/main" val="1742345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88ED1-159C-460E-94D9-748A3960D798}"/>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ObjectInputStream</a:t>
            </a:r>
          </a:p>
        </p:txBody>
      </p:sp>
      <p:pic>
        <p:nvPicPr>
          <p:cNvPr id="7" name="Picture 6" descr="An object shows the Object Input Stream.  For long description in Notes pane, press F6.">
            <a:extLst>
              <a:ext uri="{FF2B5EF4-FFF2-40B4-BE49-F238E27FC236}">
                <a16:creationId xmlns:a16="http://schemas.microsoft.com/office/drawing/2014/main" id="{7270857E-534C-470D-8540-3048E3665C7B}"/>
              </a:ext>
            </a:extLst>
          </p:cNvPr>
          <p:cNvPicPr>
            <a:picLocks noChangeAspect="1"/>
          </p:cNvPicPr>
          <p:nvPr/>
        </p:nvPicPr>
        <p:blipFill>
          <a:blip r:embed="rId3"/>
          <a:stretch>
            <a:fillRect/>
          </a:stretch>
        </p:blipFill>
        <p:spPr>
          <a:xfrm>
            <a:off x="494804" y="1573211"/>
            <a:ext cx="8154392" cy="3870602"/>
          </a:xfrm>
          <a:prstGeom prst="rect">
            <a:avLst/>
          </a:prstGeom>
        </p:spPr>
      </p:pic>
    </p:spTree>
    <p:extLst>
      <p:ext uri="{BB962C8B-B14F-4D97-AF65-F5344CB8AC3E}">
        <p14:creationId xmlns:p14="http://schemas.microsoft.com/office/powerpoint/2010/main" val="2672626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C2443-323F-442C-9EE4-9CA1AD142C2C}"/>
              </a:ext>
            </a:extLst>
          </p:cNvPr>
          <p:cNvSpPr>
            <a:spLocks noGrp="1"/>
          </p:cNvSpPr>
          <p:nvPr>
            <p:ph type="title"/>
          </p:nvPr>
        </p:nvSpPr>
        <p:spPr/>
        <p:txBody>
          <a:bodyPr/>
          <a:lstStyle/>
          <a:p>
            <a:r>
              <a:rPr lang="en-US">
                <a:latin typeface="Courier New" panose="02070309020205020404" pitchFamily="49" charset="0"/>
                <a:cs typeface="Courier New" panose="02070309020205020404" pitchFamily="49" charset="0"/>
              </a:rPr>
              <a:t>ObjectOutputStream</a:t>
            </a:r>
          </a:p>
        </p:txBody>
      </p:sp>
      <p:pic>
        <p:nvPicPr>
          <p:cNvPr id="7" name="Picture 6" descr="An object shows the Object Output Stream. For long description in Notes pane, press F6.">
            <a:extLst>
              <a:ext uri="{FF2B5EF4-FFF2-40B4-BE49-F238E27FC236}">
                <a16:creationId xmlns:a16="http://schemas.microsoft.com/office/drawing/2014/main" id="{955F1BF7-B6B0-4570-B223-538B72F869C6}"/>
              </a:ext>
            </a:extLst>
          </p:cNvPr>
          <p:cNvPicPr>
            <a:picLocks noChangeAspect="1"/>
          </p:cNvPicPr>
          <p:nvPr/>
        </p:nvPicPr>
        <p:blipFill>
          <a:blip r:embed="rId3"/>
          <a:stretch>
            <a:fillRect/>
          </a:stretch>
        </p:blipFill>
        <p:spPr>
          <a:xfrm>
            <a:off x="497841" y="1598934"/>
            <a:ext cx="8148316" cy="3633627"/>
          </a:xfrm>
          <a:prstGeom prst="rect">
            <a:avLst/>
          </a:prstGeom>
        </p:spPr>
      </p:pic>
    </p:spTree>
    <p:extLst>
      <p:ext uri="{BB962C8B-B14F-4D97-AF65-F5344CB8AC3E}">
        <p14:creationId xmlns:p14="http://schemas.microsoft.com/office/powerpoint/2010/main" val="3044578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F5DF0-D275-4C6F-9F71-D34561411389}"/>
              </a:ext>
            </a:extLst>
          </p:cNvPr>
          <p:cNvSpPr>
            <a:spLocks noGrp="1"/>
          </p:cNvSpPr>
          <p:nvPr>
            <p:ph type="title"/>
          </p:nvPr>
        </p:nvSpPr>
        <p:spPr/>
        <p:txBody>
          <a:bodyPr/>
          <a:lstStyle/>
          <a:p>
            <a:r>
              <a:rPr lang="en-US"/>
              <a:t>Using Object Streams</a:t>
            </a:r>
          </a:p>
        </p:txBody>
      </p:sp>
      <p:sp>
        <p:nvSpPr>
          <p:cNvPr id="3" name="Content Placeholder 2">
            <a:extLst>
              <a:ext uri="{FF2B5EF4-FFF2-40B4-BE49-F238E27FC236}">
                <a16:creationId xmlns:a16="http://schemas.microsoft.com/office/drawing/2014/main" id="{31D4074F-D322-44AC-B21B-C717286F30FD}"/>
              </a:ext>
            </a:extLst>
          </p:cNvPr>
          <p:cNvSpPr>
            <a:spLocks noGrp="1"/>
          </p:cNvSpPr>
          <p:nvPr>
            <p:ph sz="quarter" idx="13"/>
          </p:nvPr>
        </p:nvSpPr>
        <p:spPr>
          <a:xfrm>
            <a:off x="457200" y="1552575"/>
            <a:ext cx="8229600" cy="756000"/>
          </a:xfrm>
        </p:spPr>
        <p:txBody>
          <a:bodyPr/>
          <a:lstStyle/>
          <a:p>
            <a:pPr marL="432" indent="0">
              <a:buNone/>
            </a:pPr>
            <a:r>
              <a:rPr lang="en-US" sz="2000"/>
              <a:t>You may wrap an </a:t>
            </a:r>
            <a:r>
              <a:rPr lang="en-US" sz="2000">
                <a:latin typeface="Courier New" panose="02070309020205020404" pitchFamily="49" charset="0"/>
                <a:cs typeface="Courier New" panose="02070309020205020404" pitchFamily="49" charset="0"/>
              </a:rPr>
              <a:t>ObjectInputStream/ObjectOutputStream</a:t>
            </a:r>
            <a:r>
              <a:rPr lang="en-US" sz="2000"/>
              <a:t> on any </a:t>
            </a:r>
            <a:r>
              <a:rPr lang="en-US" sz="2000">
                <a:latin typeface="Courier New" panose="02070309020205020404" pitchFamily="49" charset="0"/>
                <a:cs typeface="Courier New" panose="02070309020205020404" pitchFamily="49" charset="0"/>
              </a:rPr>
              <a:t>InputStream/OutputStream</a:t>
            </a:r>
            <a:r>
              <a:rPr lang="en-US" sz="2000"/>
              <a:t> using the following constructors:</a:t>
            </a:r>
          </a:p>
        </p:txBody>
      </p:sp>
      <p:sp>
        <p:nvSpPr>
          <p:cNvPr id="4" name="Content Placeholder 3">
            <a:extLst>
              <a:ext uri="{FF2B5EF4-FFF2-40B4-BE49-F238E27FC236}">
                <a16:creationId xmlns:a16="http://schemas.microsoft.com/office/drawing/2014/main" id="{1341FE81-4C27-4A2D-BC5D-237C089D428C}"/>
              </a:ext>
            </a:extLst>
          </p:cNvPr>
          <p:cNvSpPr>
            <a:spLocks noGrp="1"/>
          </p:cNvSpPr>
          <p:nvPr>
            <p:ph sz="quarter" idx="14"/>
          </p:nvPr>
        </p:nvSpPr>
        <p:spPr>
          <a:xfrm>
            <a:off x="457200" y="2543561"/>
            <a:ext cx="8229600" cy="1692000"/>
          </a:xfrm>
        </p:spPr>
        <p:txBody>
          <a:bodyPr/>
          <a:lstStyle/>
          <a:p>
            <a:pPr marL="432" indent="0">
              <a:spcBef>
                <a:spcPts val="0"/>
              </a:spcBef>
              <a:buNone/>
            </a:pPr>
            <a:r>
              <a:rPr lang="en-US" sz="2000" dirty="0">
                <a:latin typeface="Courier New" panose="02070309020205020404" pitchFamily="49" charset="0"/>
                <a:cs typeface="Courier New" panose="02070309020205020404" pitchFamily="49" charset="0"/>
              </a:rPr>
              <a:t>// Create an </a:t>
            </a:r>
            <a:r>
              <a:rPr lang="en-US" sz="2000" dirty="0" err="1">
                <a:latin typeface="Courier New" panose="02070309020205020404" pitchFamily="49" charset="0"/>
                <a:cs typeface="Courier New" panose="02070309020205020404" pitchFamily="49" charset="0"/>
              </a:rPr>
              <a:t>ObjectInputStream</a:t>
            </a:r>
            <a:endParaRPr lang="en-US" sz="2000" dirty="0">
              <a:latin typeface="Courier New" panose="02070309020205020404" pitchFamily="49" charset="0"/>
              <a:cs typeface="Courier New" panose="02070309020205020404" pitchFamily="49" charset="0"/>
            </a:endParaRPr>
          </a:p>
          <a:p>
            <a:pPr marL="432" indent="0">
              <a:spcBef>
                <a:spcPts val="0"/>
              </a:spcBef>
              <a:buNone/>
            </a:pPr>
            <a:r>
              <a:rPr lang="en-US" sz="2000" dirty="0">
                <a:latin typeface="Courier New" panose="02070309020205020404" pitchFamily="49" charset="0"/>
                <a:cs typeface="Courier New" panose="02070309020205020404" pitchFamily="49" charset="0"/>
              </a:rPr>
              <a:t>public </a:t>
            </a:r>
            <a:r>
              <a:rPr lang="en-US" sz="2000" dirty="0" err="1">
                <a:latin typeface="Courier New" panose="02070309020205020404" pitchFamily="49" charset="0"/>
                <a:cs typeface="Courier New" panose="02070309020205020404" pitchFamily="49" charset="0"/>
              </a:rPr>
              <a:t>ObjectInputStream</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InputStream</a:t>
            </a:r>
            <a:r>
              <a:rPr lang="en-US" sz="2000" dirty="0">
                <a:latin typeface="Courier New" panose="02070309020205020404" pitchFamily="49" charset="0"/>
                <a:cs typeface="Courier New" panose="02070309020205020404" pitchFamily="49" charset="0"/>
              </a:rPr>
              <a:t> in)</a:t>
            </a:r>
          </a:p>
          <a:p>
            <a:pPr marL="432" indent="0">
              <a:spcBef>
                <a:spcPts val="0"/>
              </a:spcBef>
              <a:buNone/>
            </a:pPr>
            <a:endParaRPr lang="en-US" sz="2000" dirty="0">
              <a:latin typeface="Courier New" panose="02070309020205020404" pitchFamily="49" charset="0"/>
              <a:cs typeface="Courier New" panose="02070309020205020404" pitchFamily="49" charset="0"/>
            </a:endParaRPr>
          </a:p>
          <a:p>
            <a:pPr marL="432" indent="0">
              <a:spcBef>
                <a:spcPts val="0"/>
              </a:spcBef>
              <a:buNone/>
            </a:pPr>
            <a:r>
              <a:rPr lang="en-US" sz="2000" dirty="0">
                <a:latin typeface="Courier New" panose="02070309020205020404" pitchFamily="49" charset="0"/>
                <a:cs typeface="Courier New" panose="02070309020205020404" pitchFamily="49" charset="0"/>
              </a:rPr>
              <a:t>// Create an </a:t>
            </a:r>
            <a:r>
              <a:rPr lang="en-US" sz="2000" dirty="0" err="1">
                <a:latin typeface="Courier New" panose="02070309020205020404" pitchFamily="49" charset="0"/>
                <a:cs typeface="Courier New" panose="02070309020205020404" pitchFamily="49" charset="0"/>
              </a:rPr>
              <a:t>ObjectOutputStream</a:t>
            </a:r>
            <a:endParaRPr lang="en-US" sz="2000" dirty="0">
              <a:latin typeface="Courier New" panose="02070309020205020404" pitchFamily="49" charset="0"/>
              <a:cs typeface="Courier New" panose="02070309020205020404" pitchFamily="49" charset="0"/>
            </a:endParaRPr>
          </a:p>
          <a:p>
            <a:pPr marL="432" indent="0">
              <a:spcBef>
                <a:spcPts val="0"/>
              </a:spcBef>
              <a:buNone/>
            </a:pPr>
            <a:r>
              <a:rPr lang="en-US" sz="2000" dirty="0">
                <a:latin typeface="Courier New" panose="02070309020205020404" pitchFamily="49" charset="0"/>
                <a:cs typeface="Courier New" panose="02070309020205020404" pitchFamily="49" charset="0"/>
              </a:rPr>
              <a:t>public </a:t>
            </a:r>
            <a:r>
              <a:rPr lang="en-US" sz="2000" dirty="0" err="1">
                <a:latin typeface="Courier New" panose="02070309020205020404" pitchFamily="49" charset="0"/>
                <a:cs typeface="Courier New" panose="02070309020205020404" pitchFamily="49" charset="0"/>
              </a:rPr>
              <a:t>ObjectOutputStream</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OutputStream</a:t>
            </a:r>
            <a:r>
              <a:rPr lang="en-US" sz="2000" dirty="0">
                <a:latin typeface="Courier New" panose="02070309020205020404" pitchFamily="49" charset="0"/>
                <a:cs typeface="Courier New" panose="02070309020205020404" pitchFamily="49" charset="0"/>
              </a:rPr>
              <a:t> out)</a:t>
            </a:r>
          </a:p>
        </p:txBody>
      </p:sp>
      <p:sp>
        <p:nvSpPr>
          <p:cNvPr id="10" name="Text Placeholder 9">
            <a:extLst>
              <a:ext uri="{FF2B5EF4-FFF2-40B4-BE49-F238E27FC236}">
                <a16:creationId xmlns:a16="http://schemas.microsoft.com/office/drawing/2014/main" id="{C73521E8-97CE-41DC-8254-E273C189B373}"/>
              </a:ext>
            </a:extLst>
          </p:cNvPr>
          <p:cNvSpPr>
            <a:spLocks noGrp="1"/>
          </p:cNvSpPr>
          <p:nvPr>
            <p:ph type="body" sz="quarter" idx="20"/>
          </p:nvPr>
        </p:nvSpPr>
        <p:spPr>
          <a:xfrm>
            <a:off x="5585794" y="4791432"/>
            <a:ext cx="3096000" cy="527037"/>
          </a:xfrm>
        </p:spPr>
        <p:txBody>
          <a:bodyPr/>
          <a:lstStyle/>
          <a:p>
            <a:pPr marL="432" indent="0">
              <a:buNone/>
            </a:pPr>
            <a:r>
              <a:rPr lang="en-US" sz="2000" dirty="0">
                <a:hlinkClick r:id="rId3" action="ppaction://hlinkfile" tooltip="https://liveexample.pearsoncmg.com/html/TestObjectOutputStream.html"/>
              </a:rPr>
              <a:t>TestObjectOutputStream</a:t>
            </a:r>
          </a:p>
        </p:txBody>
      </p:sp>
      <p:sp>
        <p:nvSpPr>
          <p:cNvPr id="11" name="Text Placeholder 10">
            <a:extLst>
              <a:ext uri="{FF2B5EF4-FFF2-40B4-BE49-F238E27FC236}">
                <a16:creationId xmlns:a16="http://schemas.microsoft.com/office/drawing/2014/main" id="{954391B2-5DAF-4A85-84F9-0AEC8A949D76}"/>
              </a:ext>
            </a:extLst>
          </p:cNvPr>
          <p:cNvSpPr>
            <a:spLocks noGrp="1"/>
          </p:cNvSpPr>
          <p:nvPr>
            <p:ph type="body" sz="quarter" idx="21"/>
          </p:nvPr>
        </p:nvSpPr>
        <p:spPr>
          <a:xfrm>
            <a:off x="5837580" y="5429482"/>
            <a:ext cx="2844000" cy="535370"/>
          </a:xfrm>
        </p:spPr>
        <p:txBody>
          <a:bodyPr/>
          <a:lstStyle/>
          <a:p>
            <a:pPr marL="432" indent="0">
              <a:buNone/>
            </a:pPr>
            <a:r>
              <a:rPr lang="en-US" sz="2000" dirty="0">
                <a:hlinkClick r:id="rId4" action="ppaction://hlinkfile" tooltip="http://www.cs.armstrong.edu/liang/intro11e/html/TestObjectInputStream.html"/>
              </a:rPr>
              <a:t>TestObjectInputStream</a:t>
            </a:r>
          </a:p>
        </p:txBody>
      </p:sp>
    </p:spTree>
    <p:extLst>
      <p:ext uri="{BB962C8B-B14F-4D97-AF65-F5344CB8AC3E}">
        <p14:creationId xmlns:p14="http://schemas.microsoft.com/office/powerpoint/2010/main" val="147825752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27C0A014A242A40A6712776A1B494A0" ma:contentTypeVersion="18" ma:contentTypeDescription="Create a new document." ma:contentTypeScope="" ma:versionID="4c6acf0bdd8d3c68de79bfafae2501c2">
  <xsd:schema xmlns:xsd="http://www.w3.org/2001/XMLSchema" xmlns:xs="http://www.w3.org/2001/XMLSchema" xmlns:p="http://schemas.microsoft.com/office/2006/metadata/properties" xmlns:ns2="bde507ab-19d9-42c9-b69f-59bb821f2f61" xmlns:ns3="2b22d00c-ba54-415e-ac47-142f0dfcf7e9" targetNamespace="http://schemas.microsoft.com/office/2006/metadata/properties" ma:root="true" ma:fieldsID="db735535aa43796101af087dcd28ba92" ns2:_="" ns3:_="">
    <xsd:import namespace="bde507ab-19d9-42c9-b69f-59bb821f2f61"/>
    <xsd:import namespace="2b22d00c-ba54-415e-ac47-142f0dfcf7e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e507ab-19d9-42c9-b69f-59bb821f2f6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2b22d00c-ba54-415e-ac47-142f0dfcf7e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15ee8f1-b0c3-4805-b80a-d212239595e5}" ma:internalName="TaxCatchAll" ma:showField="CatchAllData" ma:web="2b22d00c-ba54-415e-ac47-142f0dfcf7e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de507ab-19d9-42c9-b69f-59bb821f2f61">
      <Terms xmlns="http://schemas.microsoft.com/office/infopath/2007/PartnerControls"/>
    </lcf76f155ced4ddcb4097134ff3c332f>
    <TaxCatchAll xmlns="2b22d00c-ba54-415e-ac47-142f0dfcf7e9" xsi:nil="true"/>
  </documentManagement>
</p:properties>
</file>

<file path=customXml/itemProps1.xml><?xml version="1.0" encoding="utf-8"?>
<ds:datastoreItem xmlns:ds="http://schemas.openxmlformats.org/officeDocument/2006/customXml" ds:itemID="{80E929B0-CC77-448A-A3DE-4D73B773CA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e507ab-19d9-42c9-b69f-59bb821f2f61"/>
    <ds:schemaRef ds:uri="2b22d00c-ba54-415e-ac47-142f0dfcf7e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8FAA93-2E59-4867-B608-D9F1AF9A8D09}">
  <ds:schemaRefs>
    <ds:schemaRef ds:uri="http://schemas.microsoft.com/sharepoint/v3/contenttype/forms"/>
  </ds:schemaRefs>
</ds:datastoreItem>
</file>

<file path=customXml/itemProps3.xml><?xml version="1.0" encoding="utf-8"?>
<ds:datastoreItem xmlns:ds="http://schemas.openxmlformats.org/officeDocument/2006/customXml" ds:itemID="{39C42116-E7CF-455D-9877-3EF4A2D04EA2}">
  <ds:schemaRefs>
    <ds:schemaRef ds:uri="http://purl.org/dc/dcmitype/"/>
    <ds:schemaRef ds:uri="bde507ab-19d9-42c9-b69f-59bb821f2f61"/>
    <ds:schemaRef ds:uri="http://purl.org/dc/terms/"/>
    <ds:schemaRef ds:uri="http://www.w3.org/XML/1998/namespace"/>
    <ds:schemaRef ds:uri="http://schemas.microsoft.com/office/2006/metadata/properties"/>
    <ds:schemaRef ds:uri="http://schemas.openxmlformats.org/package/2006/metadata/core-properties"/>
    <ds:schemaRef ds:uri="http://schemas.microsoft.com/office/2006/documentManagement/types"/>
    <ds:schemaRef ds:uri="http://schemas.microsoft.com/office/infopath/2007/PartnerControls"/>
    <ds:schemaRef ds:uri="2b22d00c-ba54-415e-ac47-142f0dfcf7e9"/>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147005</TotalTime>
  <Words>1352</Words>
  <Application>Microsoft Office PowerPoint</Application>
  <PresentationFormat>On-screen Show (4:3)</PresentationFormat>
  <Paragraphs>104</Paragraphs>
  <Slides>24</Slides>
  <Notes>24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24</vt:i4>
      </vt:variant>
    </vt:vector>
  </HeadingPairs>
  <TitlesOfParts>
    <vt:vector size="31" baseType="lpstr">
      <vt:lpstr>Arial</vt:lpstr>
      <vt:lpstr>Times New Roman</vt:lpstr>
      <vt:lpstr>Courier New</vt:lpstr>
      <vt:lpstr>Verdana</vt:lpstr>
      <vt:lpstr>Noto Sans Symbols</vt:lpstr>
      <vt:lpstr>USHE</vt:lpstr>
      <vt:lpstr>USHE_slide options</vt:lpstr>
      <vt:lpstr>Motivations</vt:lpstr>
      <vt:lpstr>How Is I/O Handled in Java?</vt:lpstr>
      <vt:lpstr>Binary I/O</vt:lpstr>
      <vt:lpstr>Binary I/O Classes</vt:lpstr>
      <vt:lpstr>InputStream</vt:lpstr>
      <vt:lpstr>OutputStream</vt:lpstr>
      <vt:lpstr>FileInputStream/FileOutputStream</vt:lpstr>
      <vt:lpstr>FileInputStream</vt:lpstr>
      <vt:lpstr>FileOutputStream</vt:lpstr>
      <vt:lpstr>FilterInputStream/FilterOutputStream</vt:lpstr>
      <vt:lpstr>DataInputStream/DataOutputStream</vt:lpstr>
      <vt:lpstr>DataInputStream</vt:lpstr>
      <vt:lpstr>DataOutputStream</vt:lpstr>
      <vt:lpstr>Characters and Strings in Binary I/O</vt:lpstr>
      <vt:lpstr>Using DataInputStream/DataOutputStream</vt:lpstr>
      <vt:lpstr>Concept of Pipe Line</vt:lpstr>
      <vt:lpstr>Order and Format</vt:lpstr>
      <vt:lpstr>BufferedInputStream/BufferedOutputStream</vt:lpstr>
      <vt:lpstr>Constructing BufferedInputStream/BufferedOutputStream</vt:lpstr>
      <vt:lpstr>Case Studies: Copy File</vt:lpstr>
      <vt:lpstr>Object I/O</vt:lpstr>
      <vt:lpstr>ObjectInputStream</vt:lpstr>
      <vt:lpstr>ObjectOutputStream</vt:lpstr>
      <vt:lpstr>Using Object Streams</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Java Programming and Data Structures, Thirteenth Edition, Chapter 17, Binary I/O</dc:title>
  <dc:subject>IT</dc:subject>
  <dc:creator>Liang</dc:creator>
  <cp:keywords>Introduction to Java Programming and Data Structures</cp:keywords>
  <dc:description>This deck contains code snippets and symbols, screen reader users may need to increase verbosity levels; Long description alt-text is inserted in the notes pane; This presentation contains the hyperlinks located in Notes Pane.</dc:description>
  <cp:lastModifiedBy>Zartoshty, Bahram</cp:lastModifiedBy>
  <cp:revision>923</cp:revision>
  <cp:lastPrinted>2025-10-30T21:47:59Z</cp:lastPrinted>
  <dcterms:modified xsi:type="dcterms:W3CDTF">2025-10-30T23:20:15Z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0x010100D27C0A014A242A40A6712776A1B494A0</vt:lpwstr>
  </property>
</Properties>
</file>