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0811911db14948" /><Relationship Type="http://schemas.openxmlformats.org/officeDocument/2006/relationships/extended-properties" Target="/docProps/app.xml" Id="R52c5e06202c144b5" /><Relationship Type="http://schemas.openxmlformats.org/officeDocument/2006/relationships/officeDocument" Target="/ppt/presentation.xml" Id="R0bd2e9cbb62b4723" /></Relationships>
</file>

<file path=ppt/presentation.xml><?xml version="1.0" encoding="utf-8"?>
<p:presentation xmlns:ns1="http://schemas.openxmlformats.org/officeDocument/2006/relationships" xmlns:p="http://schemas.openxmlformats.org/presentationml/2006/main">
  <p:sldMasterIdLst>
    <p:sldMasterId id="2147483648" ns1:id="R655134a5424e4967"/>
  </p:sldMasterIdLst>
  <p:notesMasterIdLst>
    <p:notesMasterId ns1:id="Rdab2e646f46847bb"/>
  </p:notesMasterIdLst>
  <p:sldIdLst>
    <p:sldId id="256" ns1:id="R447b1752b79b418e"/>
    <p:sldId id="257" ns1:id="R4da610be6a08465e"/>
    <p:sldId id="258" ns1:id="Rd28498977bb24b74"/>
    <p:sldId id="259" ns1:id="Rda54685bc35845d5"/>
    <p:sldId id="260" ns1:id="R6db84a099027417e"/>
    <p:sldId id="261" ns1:id="R3736dfffbb2a481d"/>
    <p:sldId id="262" ns1:id="R4fcd2fc6d901420d"/>
    <p:sldId id="263" ns1:id="Rb6ff412ba24b400f"/>
    <p:sldId id="264" ns1:id="Rcd69ad1eb2804462"/>
    <p:sldId id="265" ns1:id="R16cd833051264904"/>
    <p:sldId id="266" ns1:id="R311ba2ebdbbd4624"/>
    <p:sldId id="267" ns1:id="R27f2dcad44ed43bf"/>
    <p:sldId id="268" ns1:id="Rcf39b8e1ca044963"/>
    <p:sldId id="269" ns1:id="R7fd8fd25083b4ad0"/>
    <p:sldId id="270" ns1:id="R0439bad12d664966"/>
    <p:sldId id="271" ns1:id="R4c4adbc842724056"/>
    <p:sldId id="272" ns1:id="R4857a99a06f640bc"/>
    <p:sldId id="273" ns1:id="Ra08ba013dd304a5f"/>
    <p:sldId id="274" ns1:id="R5d468504ab84427d"/>
    <p:sldId id="275" ns1:id="R8543141d2b544f42"/>
    <p:sldId id="276" ns1:id="R1acbf7c565794c5e"/>
    <p:sldId id="277" ns1:id="R93b7a72bdef44819"/>
    <p:sldId id="278" ns1:id="Rf25653346356450c"/>
    <p:sldId id="279" ns1:id="R6d78932d3be64173"/>
    <p:sldId id="280" ns1:id="R052f5c8b5bf54480"/>
    <p:sldId id="281" ns1:id="R6a911579198e4cd4"/>
    <p:sldId id="282" ns1:id="Rb34f97d79c634b09"/>
    <p:sldId id="283" ns1:id="R1bdcb38021184a26"/>
    <p:sldId id="284" ns1:id="Rb0e57a25d5424a40"/>
    <p:sldId id="285" ns1:id="R316f74899ee84902"/>
    <p:sldId id="286" ns1:id="Re96adcb480ec4e69"/>
    <p:sldId id="287" ns1:id="Ra52c985df9f944c5"/>
    <p:sldId id="288" ns1:id="Rb7335c330a4a4c6c"/>
    <p:sldId id="289" ns1:id="Rb358ca29817f496d"/>
    <p:sldId id="290" ns1:id="R18be7af2ca124e52"/>
    <p:sldId id="291" ns1:id="R5225a110944b4cf5"/>
    <p:sldId id="292" ns1:id="R311daf0549434a3f"/>
    <p:sldId id="293" ns1:id="Rac795fcd86e64c8d"/>
  </p:sldIdLst>
  <p:sldSz cx="9144000" cy="6858000"/>
  <p:notesSz cx="7772400" cy="10058400"/>
  <p:printPr prnWhat="notes" clrMode="clr" frameSlides="0" scaleToFitPaper="1"/>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bb02dcf2f14cf5" /><Relationship Type="http://schemas.openxmlformats.org/officeDocument/2006/relationships/slideMaster" Target="/ppt/slideMasters/slideMaster1.xml" Id="R655134a5424e4967" /><Relationship Type="http://schemas.openxmlformats.org/officeDocument/2006/relationships/notesMaster" Target="/ppt/notesMasters/notesMaster1.xml" Id="Rdab2e646f46847bb" /><Relationship Type="http://schemas.openxmlformats.org/officeDocument/2006/relationships/presProps" Target="/ppt/presProps.xml" Id="Rd14b8696741d4c35" /><Relationship Type="http://schemas.openxmlformats.org/officeDocument/2006/relationships/tableStyles" Target="/ppt/tableStyles.xml" Id="R53a061cf7cca44f7" /><Relationship Type="http://schemas.openxmlformats.org/officeDocument/2006/relationships/slide" Target="/ppt/slides/slide1.xml" Id="R447b1752b79b418e" /><Relationship Type="http://schemas.openxmlformats.org/officeDocument/2006/relationships/slide" Target="/ppt/slides/slide2.xml" Id="R4da610be6a08465e" /><Relationship Type="http://schemas.openxmlformats.org/officeDocument/2006/relationships/slide" Target="/ppt/slides/slide3.xml" Id="Rd28498977bb24b74" /><Relationship Type="http://schemas.openxmlformats.org/officeDocument/2006/relationships/slide" Target="/ppt/slides/slide4.xml" Id="Rda54685bc35845d5" /><Relationship Type="http://schemas.openxmlformats.org/officeDocument/2006/relationships/slide" Target="/ppt/slides/slide5.xml" Id="R6db84a099027417e" /><Relationship Type="http://schemas.openxmlformats.org/officeDocument/2006/relationships/slide" Target="/ppt/slides/slide6.xml" Id="R3736dfffbb2a481d" /><Relationship Type="http://schemas.openxmlformats.org/officeDocument/2006/relationships/slide" Target="/ppt/slides/slide7.xml" Id="R4fcd2fc6d901420d" /><Relationship Type="http://schemas.openxmlformats.org/officeDocument/2006/relationships/slide" Target="/ppt/slides/slide8.xml" Id="Rb6ff412ba24b400f" /><Relationship Type="http://schemas.openxmlformats.org/officeDocument/2006/relationships/slide" Target="/ppt/slides/slide9.xml" Id="Rcd69ad1eb2804462" /><Relationship Type="http://schemas.openxmlformats.org/officeDocument/2006/relationships/slide" Target="/ppt/slides/slide10.xml" Id="R16cd833051264904" /><Relationship Type="http://schemas.openxmlformats.org/officeDocument/2006/relationships/slide" Target="/ppt/slides/slide11.xml" Id="R311ba2ebdbbd4624" /><Relationship Type="http://schemas.openxmlformats.org/officeDocument/2006/relationships/slide" Target="/ppt/slides/slide12.xml" Id="R27f2dcad44ed43bf" /><Relationship Type="http://schemas.openxmlformats.org/officeDocument/2006/relationships/slide" Target="/ppt/slides/slide13.xml" Id="Rcf39b8e1ca044963" /><Relationship Type="http://schemas.openxmlformats.org/officeDocument/2006/relationships/slide" Target="/ppt/slides/slide14.xml" Id="R7fd8fd25083b4ad0" /><Relationship Type="http://schemas.openxmlformats.org/officeDocument/2006/relationships/slide" Target="/ppt/slides/slide15.xml" Id="R0439bad12d664966" /><Relationship Type="http://schemas.openxmlformats.org/officeDocument/2006/relationships/slide" Target="/ppt/slides/slide16.xml" Id="R4c4adbc842724056" /><Relationship Type="http://schemas.openxmlformats.org/officeDocument/2006/relationships/slide" Target="/ppt/slides/slide17.xml" Id="R4857a99a06f640bc" /><Relationship Type="http://schemas.openxmlformats.org/officeDocument/2006/relationships/slide" Target="/ppt/slides/slide18.xml" Id="Ra08ba013dd304a5f" /><Relationship Type="http://schemas.openxmlformats.org/officeDocument/2006/relationships/slide" Target="/ppt/slides/slide19.xml" Id="R5d468504ab84427d" /><Relationship Type="http://schemas.openxmlformats.org/officeDocument/2006/relationships/slide" Target="/ppt/slides/slide20.xml" Id="R8543141d2b544f42" /><Relationship Type="http://schemas.openxmlformats.org/officeDocument/2006/relationships/slide" Target="/ppt/slides/slide21.xml" Id="R1acbf7c565794c5e" /><Relationship Type="http://schemas.openxmlformats.org/officeDocument/2006/relationships/slide" Target="/ppt/slides/slide22.xml" Id="R93b7a72bdef44819" /><Relationship Type="http://schemas.openxmlformats.org/officeDocument/2006/relationships/slide" Target="/ppt/slides/slide23.xml" Id="Rf25653346356450c" /><Relationship Type="http://schemas.openxmlformats.org/officeDocument/2006/relationships/slide" Target="/ppt/slides/slide24.xml" Id="R6d78932d3be64173" /><Relationship Type="http://schemas.openxmlformats.org/officeDocument/2006/relationships/slide" Target="/ppt/slides/slide25.xml" Id="R052f5c8b5bf54480" /><Relationship Type="http://schemas.openxmlformats.org/officeDocument/2006/relationships/slide" Target="/ppt/slides/slide26.xml" Id="R6a911579198e4cd4" /><Relationship Type="http://schemas.openxmlformats.org/officeDocument/2006/relationships/slide" Target="/ppt/slides/slide27.xml" Id="Rb34f97d79c634b09" /><Relationship Type="http://schemas.openxmlformats.org/officeDocument/2006/relationships/slide" Target="/ppt/slides/slide28.xml" Id="R1bdcb38021184a26" /><Relationship Type="http://schemas.openxmlformats.org/officeDocument/2006/relationships/slide" Target="/ppt/slides/slide29.xml" Id="Rb0e57a25d5424a40" /><Relationship Type="http://schemas.openxmlformats.org/officeDocument/2006/relationships/slide" Target="/ppt/slides/slide30.xml" Id="R316f74899ee84902" /><Relationship Type="http://schemas.openxmlformats.org/officeDocument/2006/relationships/slide" Target="/ppt/slides/slide31.xml" Id="Re96adcb480ec4e69" /><Relationship Type="http://schemas.openxmlformats.org/officeDocument/2006/relationships/slide" Target="/ppt/slides/slide32.xml" Id="Ra52c985df9f944c5" /><Relationship Type="http://schemas.openxmlformats.org/officeDocument/2006/relationships/slide" Target="/ppt/slides/slide33.xml" Id="Rb7335c330a4a4c6c" /><Relationship Type="http://schemas.openxmlformats.org/officeDocument/2006/relationships/slide" Target="/ppt/slides/slide34.xml" Id="Rb358ca29817f496d" /><Relationship Type="http://schemas.openxmlformats.org/officeDocument/2006/relationships/slide" Target="/ppt/slides/slide35.xml" Id="R18be7af2ca124e52" /><Relationship Type="http://schemas.openxmlformats.org/officeDocument/2006/relationships/slide" Target="/ppt/slides/slide36.xml" Id="R5225a110944b4cf5" /><Relationship Type="http://schemas.openxmlformats.org/officeDocument/2006/relationships/slide" Target="/ppt/slides/slide37.xml" Id="R311daf0549434a3f" /><Relationship Type="http://schemas.openxmlformats.org/officeDocument/2006/relationships/slide" Target="/ppt/slides/slide38.xml" Id="Rac795fcd86e64c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b8e8b291c04a67"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xfrm>
            <a:off x="594360" y="9418320"/>
            <a:ext cx="5394960" cy="274320"/>
          </a:xfrm>
          <a:prstGeom prst="rect">
            <a:avLst/>
          </a:prstGeom>
        </p:spPr>
        <p:txBody>
          <a:bodyPr/>
          <a:lstStyle/>
          <a:p/>
        </p:txBody>
      </p:sp>
      <p:sp>
        <p:nvSpPr>
          <p:cNvPr id="3" name="Date Placeholder"/>
          <p:cNvSpPr/>
          <p:nvPr>
            <p:ph type="dt" sz="quarter" idx="1"/>
          </p:nvPr>
        </p:nvSpPr>
        <p:spPr>
          <a:xfrm>
            <a:off x="594360" y="9418320"/>
            <a:ext cx="5394960" cy="274320"/>
          </a:xfrm>
          <a:prstGeom prst="rect">
            <a:avLst/>
          </a:prstGeom>
        </p:spPr>
        <p:txBody>
          <a:bodyPr/>
          <a:lstStyle/>
          <a:p/>
        </p:txBody>
      </p:sp>
      <p:sp>
        <p:nvSpPr>
          <p:cNvPr id="4" name="Slide Image Placeholder"/>
          <p:cNvSpPr/>
          <p:nvPr>
            <p:ph type="sldImg" idx="2"/>
          </p:nvPr>
        </p:nvSpPr>
        <p:spPr>
          <a:xfrm>
            <a:off x="594360" y="594360"/>
            <a:ext cx="6583680" cy="4937760"/>
          </a:xfrm>
          <a:prstGeom prst="rect">
            <a:avLst/>
          </a:prstGeom>
        </p:spPr>
        <p:txBody>
          <a:bodyPr/>
          <a:lstStyle/>
          <a:p/>
        </p:txBody>
      </p:sp>
      <p:sp>
        <p:nvSpPr>
          <p:cNvPr id="5" name="Notes Placeholder"/>
          <p:cNvSpPr/>
          <p:nvPr>
            <p:ph type="body" sz="quarter" idx="3"/>
          </p:nvPr>
        </p:nvSpPr>
        <p:spPr>
          <a:xfrm>
            <a:off x="594360" y="5852160"/>
            <a:ext cx="6583680" cy="3291840"/>
          </a:xfrm>
          <a:prstGeom prst="rect">
            <a:avLst/>
          </a:prstGeom>
        </p:spPr>
        <p:txBody>
          <a:bodyPr lIns="0" tIns="0" rIns="0" bIns="0" wrap="square" anchor="t"/>
          <a:lstStyle/>
          <a:p>
            <a:pPr>
              <a:lnSpc>
                <a:spcPct val="115000"/>
              </a:lnSpc>
            </a:pPr>
          </a:p>
        </p:txBody>
      </p:sp>
      <p:sp>
        <p:nvSpPr>
          <p:cNvPr id="6" name="Footer Placeholder"/>
          <p:cNvSpPr/>
          <p:nvPr>
            <p:ph type="ftr" sz="quarter" idx="4"/>
          </p:nvPr>
        </p:nvSpPr>
        <p:spPr>
          <a:xfrm>
            <a:off x="594360" y="9418320"/>
            <a:ext cx="5394960" cy="274320"/>
          </a:xfrm>
          <a:prstGeom prst="rect">
            <a:avLst/>
          </a:prstGeom>
        </p:spPr>
        <p:txBody>
          <a:bodyPr/>
          <a:lstStyle/>
          <a:p/>
        </p:txBody>
      </p:sp>
      <p:sp>
        <p:nvSpPr>
          <p:cNvPr id="7" name="Slide Number Placeholder"/>
          <p:cNvSpPr/>
          <p:nvPr>
            <p:ph type="sldNum" sz="quarter" idx="5"/>
          </p:nvPr>
        </p:nvSpPr>
        <p:spPr>
          <a:xfrm>
            <a:off x="6675120" y="9418320"/>
            <a:ext cx="502920" cy="274320"/>
          </a:xfrm>
          <a:prstGeom prst="rect">
            <a:avLst/>
          </a:prstGeom>
        </p:spPr>
        <p:txBody>
          <a:bodyPr lIns="0" tIns="0" rIns="0" bIns="0" wrap="square" anchor="t"/>
          <a:lstStyle/>
          <a:p>
            <a:pPr>
              <a:lnSpc>
                <a:spcPct val="115000"/>
              </a:lnSpc>
            </a:p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6cb68b10ba4d4d" /><Relationship Type="http://schemas.openxmlformats.org/officeDocument/2006/relationships/notesMaster" Target="/ppt/notesMasters/notesMaster1.xml" Id="Rb2da14ad987449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500a4c48154434" /><Relationship Type="http://schemas.openxmlformats.org/officeDocument/2006/relationships/notesMaster" Target="/ppt/notesMasters/notesMaster1.xml" Id="R8972421b7e014a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a14f9048d845d8" /><Relationship Type="http://schemas.openxmlformats.org/officeDocument/2006/relationships/notesMaster" Target="/ppt/notesMasters/notesMaster1.xml" Id="R079aee0e3fb04c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ea523cc5e14148" /><Relationship Type="http://schemas.openxmlformats.org/officeDocument/2006/relationships/notesMaster" Target="/ppt/notesMasters/notesMaster1.xml" Id="Rc8d1f986382441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86ed0cc1854c40" /><Relationship Type="http://schemas.openxmlformats.org/officeDocument/2006/relationships/notesMaster" Target="/ppt/notesMasters/notesMaster1.xml" Id="R4aa31ca518f54b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586e39fcf741c8" /><Relationship Type="http://schemas.openxmlformats.org/officeDocument/2006/relationships/notesMaster" Target="/ppt/notesMasters/notesMaster1.xml" Id="Rcccd3a86063545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c102666a06449c" /><Relationship Type="http://schemas.openxmlformats.org/officeDocument/2006/relationships/notesMaster" Target="/ppt/notesMasters/notesMaster1.xml" Id="Rb473aa0ad47b42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be54bb5b214b2b" /><Relationship Type="http://schemas.openxmlformats.org/officeDocument/2006/relationships/notesMaster" Target="/ppt/notesMasters/notesMaster1.xml" Id="Red3d8f33344f42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e5b016fa034981" /><Relationship Type="http://schemas.openxmlformats.org/officeDocument/2006/relationships/notesMaster" Target="/ppt/notesMasters/notesMaster1.xml" Id="Rbfbcd2a9419546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8bfb4fbc914afe" /><Relationship Type="http://schemas.openxmlformats.org/officeDocument/2006/relationships/notesMaster" Target="/ppt/notesMasters/notesMaster1.xml" Id="Rbaa2ec88d8d644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6f22327ccb4150" /><Relationship Type="http://schemas.openxmlformats.org/officeDocument/2006/relationships/notesMaster" Target="/ppt/notesMasters/notesMaster1.xml" Id="R95ff23e165c84a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5e45502bd744dd" /><Relationship Type="http://schemas.openxmlformats.org/officeDocument/2006/relationships/notesMaster" Target="/ppt/notesMasters/notesMaster1.xml" Id="R1b10a1c20d584c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36519548c346ed" /><Relationship Type="http://schemas.openxmlformats.org/officeDocument/2006/relationships/notesMaster" Target="/ppt/notesMasters/notesMaster1.xml" Id="R41cd9062ed1f41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332f345ec84dbf" /><Relationship Type="http://schemas.openxmlformats.org/officeDocument/2006/relationships/notesMaster" Target="/ppt/notesMasters/notesMaster1.xml" Id="R0dd4a6a1ed4746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28ad1a7ba0141e9" /><Relationship Type="http://schemas.openxmlformats.org/officeDocument/2006/relationships/notesMaster" Target="/ppt/notesMasters/notesMaster1.xml" Id="Rb6a00032440147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6366d9e84f4e5a" /><Relationship Type="http://schemas.openxmlformats.org/officeDocument/2006/relationships/notesMaster" Target="/ppt/notesMasters/notesMaster1.xml" Id="R7a7807f124c148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526075798ff4b78" /><Relationship Type="http://schemas.openxmlformats.org/officeDocument/2006/relationships/notesMaster" Target="/ppt/notesMasters/notesMaster1.xml" Id="R6239540673c04c5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2489a2e290455e" /><Relationship Type="http://schemas.openxmlformats.org/officeDocument/2006/relationships/notesMaster" Target="/ppt/notesMasters/notesMaster1.xml" Id="Re53145c9996044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0e01feca84a47b3" /><Relationship Type="http://schemas.openxmlformats.org/officeDocument/2006/relationships/notesMaster" Target="/ppt/notesMasters/notesMaster1.xml" Id="Rc8578f7e07aa45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70bfeeaf32c4bd5" /><Relationship Type="http://schemas.openxmlformats.org/officeDocument/2006/relationships/notesMaster" Target="/ppt/notesMasters/notesMaster1.xml" Id="Re216537715fd4c8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409d2553668424b" /><Relationship Type="http://schemas.openxmlformats.org/officeDocument/2006/relationships/notesMaster" Target="/ppt/notesMasters/notesMaster1.xml" Id="Rb89d01a17e57453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3b7191b6c474f3a" /><Relationship Type="http://schemas.openxmlformats.org/officeDocument/2006/relationships/notesMaster" Target="/ppt/notesMasters/notesMaster1.xml" Id="R907fe2f10cbf4bb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de60c7888e04400" /><Relationship Type="http://schemas.openxmlformats.org/officeDocument/2006/relationships/notesMaster" Target="/ppt/notesMasters/notesMaster1.xml" Id="Ra4c28b2c2f4342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cff7d417874d72" /><Relationship Type="http://schemas.openxmlformats.org/officeDocument/2006/relationships/notesMaster" Target="/ppt/notesMasters/notesMaster1.xml" Id="R856ec4a775dc48c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3db35ba4bd4ff7" /><Relationship Type="http://schemas.openxmlformats.org/officeDocument/2006/relationships/notesMaster" Target="/ppt/notesMasters/notesMaster1.xml" Id="R3bd61a760c044ca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7db9362579c461d" /><Relationship Type="http://schemas.openxmlformats.org/officeDocument/2006/relationships/notesMaster" Target="/ppt/notesMasters/notesMaster1.xml" Id="R38120516fe7f44f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fc77364f8344b83" /><Relationship Type="http://schemas.openxmlformats.org/officeDocument/2006/relationships/notesMaster" Target="/ppt/notesMasters/notesMaster1.xml" Id="Rdd92e271dcf945a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cc57bc6465d4cab" /><Relationship Type="http://schemas.openxmlformats.org/officeDocument/2006/relationships/notesMaster" Target="/ppt/notesMasters/notesMaster1.xml" Id="R7991cdc492c0454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a18be91c76f4df8" /><Relationship Type="http://schemas.openxmlformats.org/officeDocument/2006/relationships/notesMaster" Target="/ppt/notesMasters/notesMaster1.xml" Id="Redee60bed1ae43e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09c0f4782954b01" /><Relationship Type="http://schemas.openxmlformats.org/officeDocument/2006/relationships/notesMaster" Target="/ppt/notesMasters/notesMaster1.xml" Id="Rd5610eecb5be42a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298f5d0958b4554" /><Relationship Type="http://schemas.openxmlformats.org/officeDocument/2006/relationships/notesMaster" Target="/ppt/notesMasters/notesMaster1.xml" Id="R4a10f5bb885a4f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4e53d28357e4f88" /><Relationship Type="http://schemas.openxmlformats.org/officeDocument/2006/relationships/notesMaster" Target="/ppt/notesMasters/notesMaster1.xml" Id="R0aa8e4275275476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1af63c7f1bf41fd" /><Relationship Type="http://schemas.openxmlformats.org/officeDocument/2006/relationships/notesMaster" Target="/ppt/notesMasters/notesMaster1.xml" Id="R533b170adc2d4a8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7763c2dc46a41b9" /><Relationship Type="http://schemas.openxmlformats.org/officeDocument/2006/relationships/notesMaster" Target="/ppt/notesMasters/notesMaster1.xml" Id="Rc44223c0072c408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589e52df3c74e88" /><Relationship Type="http://schemas.openxmlformats.org/officeDocument/2006/relationships/notesMaster" Target="/ppt/notesMasters/notesMaster1.xml" Id="R55ee8d6204dd401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5be2a23cd954260" /><Relationship Type="http://schemas.openxmlformats.org/officeDocument/2006/relationships/notesMaster" Target="/ppt/notesMasters/notesMaster1.xml" Id="Rd07214168069438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045cfd933f4421b" /><Relationship Type="http://schemas.openxmlformats.org/officeDocument/2006/relationships/notesMaster" Target="/ppt/notesMasters/notesMaster1.xml" Id="R92bf3c2cdc2b44d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ccba7bddbf34ee2" /><Relationship Type="http://schemas.openxmlformats.org/officeDocument/2006/relationships/notesMaster" Target="/ppt/notesMasters/notesMaster1.xml" Id="Ra9ada015fada498d"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Adapted from the supplied Sets and Maps lecture. The lesson retains the set/map ADTs, implementation exercises, and two counting case studies, and adds prediction questions and runnable examples. Keep Lecture13_SetMap_Java_Examples beside the PowerPoint. Compile all files together using javac --release 17 *.java. Print Notes Pages for the teaching notes; the separate PDF contains slides only.</a:t>
            </a:r>
          </a:p>
          <a:p>
            <a:pPr>
              <a:lnSpc>
                <a:spcPct val="115000"/>
              </a:lnSpc>
            </a:pPr>
            <a:r>
              <a:rPr sz="1200">
                <a:latin typeface="Arial"/>
              </a:rPr>
              <a:t>Local Java: TestHashSet.java, TestMap.java.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Opening prompt: a course roster contains names and student IDs. Which field should identify a student? Names can repeat. Use a stable ID for identity and store the display name separately.</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Use the enrollment example throughout the lecture instead of identifying people by name. A set answers membership; a map retrieves associated information. Lists preserve positions and may contain duplicates. Multimap behavior depends on the collection chosen for each key.</a:t>
            </a:r>
          </a:p>
          <a:p>
            <a:pPr>
              <a:lnSpc>
                <a:spcPct val="115000"/>
              </a:lnSpc>
            </a:pPr>
            <a:r>
              <a:rPr sz="1200">
                <a:latin typeface="Arial"/>
              </a:rPr>
              <a:t>Reference: https://docs.oracle.com/en/java/javase/17/docs/api/java.base/java/util/Map.html</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The source says a set is unordered. Refine that: mathematical membership ignores order, while Java implementations may promise an iteration order. Hash-based sets use equality and hashing. TreeSet uses comparison to determine duplicates, so its ordering should be consistent with equals.</a:t>
            </a:r>
          </a:p>
          <a:p>
            <a:pPr>
              <a:lnSpc>
                <a:spcPct val="115000"/>
              </a:lnSpc>
            </a:pPr>
            <a:r>
              <a:rPr sz="1200">
                <a:latin typeface="Arial"/>
              </a:rPr>
              <a:t>Reference: https://docs.oracle.com/en/java/javase/17/docs/api/java.base/java/util/Set.html</a:t>
            </a:r>
          </a:p>
          <a:p>
            <a:pPr>
              <a:lnSpc>
                <a:spcPct val="115000"/>
              </a:lnSpc>
            </a:pPr>
            <a:r>
              <a:rPr sz="1200">
                <a:latin typeface="Arial"/>
              </a:rPr>
              <a:t>Local Java: TestHashSet.java, TestLinkedHashSet.java, TestTreeSet.java.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Ask students to distinguish query methods from methods that mutate the set. An enhanced for loop uses iteration. Generic types cannot be primitives; Set&lt;Integer&gt; is valid and Set&lt;int&gt; is not.</a:t>
            </a:r>
          </a:p>
          <a:p>
            <a:pPr>
              <a:lnSpc>
                <a:spcPct val="115000"/>
              </a:lnSpc>
            </a:pPr>
            <a:r>
              <a:rPr sz="1200">
                <a:latin typeface="Arial"/>
              </a:rPr>
              <a:t>Reference: https://docs.oracle.com/en/java/javase/17/docs/api/java.base/java/util/Set.html</a:t>
            </a:r>
          </a:p>
          <a:p>
            <a:pPr>
              <a:lnSpc>
                <a:spcPct val="115000"/>
              </a:lnSpc>
            </a:pPr>
            <a:r>
              <a:rPr sz="1200">
                <a:latin typeface="Arial"/>
              </a:rPr>
              <a:t>Local Java: TestHashSet.java.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Answers: true, true, false, 2. HashSet does not specify iteration order. The source list 78,28,91,28,15 has a repeated 28; inserting those values into a set produces four distinct members, rather than making the Java set invalid. Let students answer before running the related string example.</a:t>
            </a:r>
          </a:p>
          <a:p>
            <a:pPr>
              <a:lnSpc>
                <a:spcPct val="115000"/>
              </a:lnSpc>
            </a:pPr>
            <a:r>
              <a:rPr sz="1200">
                <a:latin typeface="Arial"/>
              </a:rPr>
              <a:t>Reference: https://docs.oracle.com/en/java/javase/17/docs/api/java.base/java/util/HashSet.html</a:t>
            </a:r>
          </a:p>
          <a:p>
            <a:pPr>
              <a:lnSpc>
                <a:spcPct val="115000"/>
              </a:lnSpc>
            </a:pPr>
            <a:r>
              <a:rPr sz="1200">
                <a:latin typeface="Arial"/>
              </a:rPr>
              <a:t>Local Java: SetMembershipQuiz.java.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HashSet offers expected constant-time basic operations under suitable hash distribution. Iteration depends on size and backing capacity. Avoid structural modification through the set during iteration; use Iterator.remove or removeIf. Do not rely on fail-fast exceptions for program correctness.</a:t>
            </a:r>
          </a:p>
          <a:p>
            <a:pPr>
              <a:lnSpc>
                <a:spcPct val="115000"/>
              </a:lnSpc>
            </a:pPr>
            <a:r>
              <a:rPr sz="1200">
                <a:latin typeface="Arial"/>
              </a:rPr>
              <a:t>Reference: https://docs.oracle.com/en/java/javase/17/docs/api/java.base/java/util/HashSet.html</a:t>
            </a:r>
          </a:p>
          <a:p>
            <a:pPr>
              <a:lnSpc>
                <a:spcPct val="115000"/>
              </a:lnSpc>
            </a:pPr>
            <a:r>
              <a:rPr sz="1200">
                <a:latin typeface="Arial"/>
              </a:rPr>
              <a:t>Local Java: TestHashSet.java.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The source mentions identifying objects by key values. Implement that explicitly through equals and hashCode. Record-generated methods use the ID component. Keeping the record immutable prevents the ID from changing after insertion. Ask why two separate references can represent the same student.</a:t>
            </a:r>
          </a:p>
          <a:p>
            <a:pPr>
              <a:lnSpc>
                <a:spcPct val="115000"/>
              </a:lnSpc>
            </a:pPr>
            <a:r>
              <a:rPr sz="1200">
                <a:latin typeface="Arial"/>
              </a:rPr>
              <a:t>Reference: https://docs.oracle.com/en/java/javase/17/docs/api/java.base/java/util/Set.html</a:t>
            </a:r>
          </a:p>
          <a:p>
            <a:pPr>
              <a:lnSpc>
                <a:spcPct val="115000"/>
              </a:lnSpc>
            </a:pPr>
            <a:r>
              <a:rPr sz="1200">
                <a:latin typeface="Arial"/>
              </a:rPr>
              <a:t>Local Java: StudentKey.java, EqualityDemo.java.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 collision is legal and is resolved by equality comparisons. Changing a key can leave it in a bucket determined by its old hash and make lookup fail. The same concern applies to comparison order in a tree-based collection.</a:t>
            </a:r>
          </a:p>
          <a:p>
            <a:pPr>
              <a:lnSpc>
                <a:spcPct val="115000"/>
              </a:lnSpc>
            </a:pPr>
            <a:r>
              <a:rPr sz="1200">
                <a:latin typeface="Arial"/>
              </a:rPr>
              <a:t>Reference: https://docs.oracle.com/en/java/javase/17/docs/api/java.base/java/util/Map.html</a:t>
            </a:r>
          </a:p>
          <a:p>
            <a:pPr>
              <a:lnSpc>
                <a:spcPct val="115000"/>
              </a:lnSpc>
            </a:pPr>
            <a:r>
              <a:rPr sz="1200">
                <a:latin typeface="Arial"/>
              </a:rPr>
              <a:t>Local Java: StudentKey.java, EqualityDemo.java.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Discuss collecting distinct search terms while retaining their first-seen order. The ordinary Java 17 LinkedHashSet constructor maintains insertion order. Contrast this with HashSet’s unspecified order and TreeSet’s sorted order.</a:t>
            </a:r>
          </a:p>
          <a:p>
            <a:pPr>
              <a:lnSpc>
                <a:spcPct val="115000"/>
              </a:lnSpc>
            </a:pPr>
            <a:r>
              <a:rPr sz="1200">
                <a:latin typeface="Arial"/>
              </a:rPr>
              <a:t>Reference: https://docs.oracle.com/en/java/javase/17/docs/api/java.base/java/util/LinkedHashSet.html</a:t>
            </a:r>
          </a:p>
          <a:p>
            <a:pPr>
              <a:lnSpc>
                <a:spcPct val="115000"/>
              </a:lnSpc>
            </a:pPr>
            <a:r>
              <a:rPr sz="1200">
                <a:latin typeface="Arial"/>
              </a:rPr>
              <a:t>Local Java: TestLinkedHashSet.java.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SortedSet extends Set; NavigableSet adds nearest-neighbor operations. TreeSet implements NavigableSet. Its basic add, remove and contains operations have logarithmic cost. Natural ordering is one choice; a supplied Comparator is another.</a:t>
            </a:r>
          </a:p>
          <a:p>
            <a:pPr>
              <a:lnSpc>
                <a:spcPct val="115000"/>
              </a:lnSpc>
            </a:pPr>
            <a:r>
              <a:rPr sz="1200">
                <a:latin typeface="Arial"/>
              </a:rPr>
              <a:t>Reference: https://docs.oracle.com/en/java/javase/17/docs/api/java.base/java/util/TreeSet.html</a:t>
            </a:r>
          </a:p>
          <a:p>
            <a:pPr>
              <a:lnSpc>
                <a:spcPct val="115000"/>
              </a:lnSpc>
            </a:pPr>
            <a:r>
              <a:rPr sz="1200">
                <a:latin typeface="Arial"/>
              </a:rPr>
              <a:t>Local Java: TestTreeSet.java.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Ask students to explain the result before showing the comments. TreeSet treats comparison-zero elements as equivalent. A comparator inconsistent with equals, as here, does not obey the general Set equality contract. This deliberate example exposes the issue; choose comparison rules carefully.</a:t>
            </a:r>
          </a:p>
          <a:p>
            <a:pPr>
              <a:lnSpc>
                <a:spcPct val="115000"/>
              </a:lnSpc>
            </a:pPr>
            <a:r>
              <a:rPr sz="1200">
                <a:latin typeface="Arial"/>
              </a:rPr>
              <a:t>Reference: https://docs.oracle.com/en/java/javase/17/docs/api/java.base/java/util/TreeSet.html</a:t>
            </a:r>
          </a:p>
          <a:p>
            <a:pPr>
              <a:lnSpc>
                <a:spcPct val="115000"/>
              </a:lnSpc>
            </a:pPr>
            <a:r>
              <a:rPr sz="1200">
                <a:latin typeface="Arial"/>
              </a:rPr>
              <a:t>Local Java: TestTreeSet.java.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The table preserves the source’s numeric example. Output order here is sorted for comparison; mathematical sets have no positional order. Ask students to explain why 75 is removed from X minus Y and why 12 is not added.</a:t>
            </a:r>
          </a:p>
          <a:p>
            <a:pPr>
              <a:lnSpc>
                <a:spcPct val="115000"/>
              </a:lnSpc>
            </a:pPr>
            <a:r>
              <a:rPr sz="1200">
                <a:latin typeface="Arial"/>
              </a:rPr>
              <a:t>Reference: https://docs.oracle.com/en/java/javase/17/docs/api/java.base/java/util/Set.html</a:t>
            </a:r>
          </a:p>
          <a:p>
            <a:pPr>
              <a:lnSpc>
                <a:spcPct val="115000"/>
              </a:lnSpc>
            </a:pPr>
            <a:r>
              <a:rPr sz="1200">
                <a:latin typeface="Arial"/>
              </a:rPr>
              <a:t>Local Java: SetOperations.java.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SetOperations implements generic helper methods that return new sets and leave both inputs unchanged. Copying is essential here because Set.of returns an unmodifiable set. Show that assigning another reference to x would not make an independent copy.</a:t>
            </a:r>
          </a:p>
          <a:p>
            <a:pPr>
              <a:lnSpc>
                <a:spcPct val="115000"/>
              </a:lnSpc>
            </a:pPr>
            <a:r>
              <a:rPr sz="1200">
                <a:latin typeface="Arial"/>
              </a:rPr>
              <a:t>Reference: https://docs.oracle.com/en/java/javase/17/docs/api/java.base/java/util/Set.html</a:t>
            </a:r>
          </a:p>
          <a:p>
            <a:pPr>
              <a:lnSpc>
                <a:spcPct val="115000"/>
              </a:lnSpc>
            </a:pPr>
            <a:r>
              <a:rPr sz="1200">
                <a:latin typeface="Arial"/>
              </a:rPr>
              <a:t>Local Java: SetOperations.java.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Answers: 1. {1,2}. 2. It modifies x to its intersection with y. 3. No, both variables refer to the same object. Use a constructor for a mutable copy. 4. Set.of rejects duplicate arguments with IllegalArgumentException. HashSet.add instead returns false for an existing member.</a:t>
            </a:r>
          </a:p>
          <a:p>
            <a:pPr>
              <a:lnSpc>
                <a:spcPct val="115000"/>
              </a:lnSpc>
            </a:pPr>
            <a:r>
              <a:rPr sz="1200">
                <a:latin typeface="Arial"/>
              </a:rPr>
              <a:t>Reference: https://docs.oracle.com/en/java/javase/17/docs/api/java.base/java/util/Set.html</a:t>
            </a:r>
          </a:p>
          <a:p>
            <a:pPr>
              <a:lnSpc>
                <a:spcPct val="115000"/>
              </a:lnSpc>
            </a:pPr>
            <a:r>
              <a:rPr sz="1200">
                <a:latin typeface="Arial"/>
              </a:rPr>
              <a:t>Local Java: SetOperations.java, NullAndFactoriesDemo.java.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The custom API retains the original MySet/MyHashSet exercise. It intentionally accepts only non-null elements. Its iterator traverses a snapshot and does not support remove. These choices differ from some JDK implementations and are documented in the source README.</a:t>
            </a:r>
          </a:p>
          <a:p>
            <a:pPr>
              <a:lnSpc>
                <a:spcPct val="115000"/>
              </a:lnSpc>
            </a:pPr>
            <a:r>
              <a:rPr sz="1200">
                <a:latin typeface="Arial"/>
              </a:rPr>
              <a:t>Local Java: MySet.java, MyHashSet.java.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This code is inside MyHashSet. The constructor initializes the map. A shared marker value records membership; it is not user data. Because the teaching map forbids null values, null is an unambiguous absent result. Duplicate add returns false without increasing size. This is a genuine separate-chaining implementation, not a wrapper around JDK HashSet.</a:t>
            </a:r>
          </a:p>
          <a:p>
            <a:pPr>
              <a:lnSpc>
                <a:spcPct val="115000"/>
              </a:lnSpc>
            </a:pPr>
            <a:r>
              <a:rPr sz="1200">
                <a:latin typeface="Arial"/>
              </a:rPr>
              <a:t>Local Java: MyHashSet.java, TestMyHashSet.java, MyHashMap.java.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The scanner also skips text blocks. It demonstrates Java 17 reserved-keyword membership and frequency counting. It is a teaching scanner, not a compiler: raw Unicode escapes are rejected rather than translated, and input is assumed lexically valid. Contextual words such as record/var and literals true/false/null are excluded.</a:t>
            </a:r>
          </a:p>
          <a:p>
            <a:pPr>
              <a:lnSpc>
                <a:spcPct val="115000"/>
              </a:lnSpc>
            </a:pPr>
            <a:r>
              <a:rPr sz="1200">
                <a:latin typeface="Arial"/>
              </a:rPr>
              <a:t>Reference: https://docs.oracle.com/javase/specs/jls/se17/html/jls-3.html#jls-3.9</a:t>
            </a:r>
          </a:p>
          <a:p>
            <a:pPr>
              <a:lnSpc>
                <a:spcPct val="115000"/>
              </a:lnSpc>
            </a:pPr>
            <a:r>
              <a:rPr sz="1200">
                <a:latin typeface="Arial"/>
              </a:rPr>
              <a:t>Local Java: CountKeywords.java.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Run CountKeywords without arguments for a sample that uses a line comment and a string literal. It produces the same three counts as the block-comment sample here. With a file argument, it reads the actual file. Quiz: does println count? No; it is an identifier, not a reserved keyword. The code excerpt is the exact membership/count step from the scanner.</a:t>
            </a:r>
          </a:p>
          <a:p>
            <a:pPr>
              <a:lnSpc>
                <a:spcPct val="115000"/>
              </a:lnSpc>
            </a:pPr>
            <a:r>
              <a:rPr sz="1200">
                <a:latin typeface="Arial"/>
              </a:rPr>
              <a:t>Reference: https://docs.oracle.com/javase/specs/jls/se17/html/jls-3.html#jls-3.9</a:t>
            </a:r>
          </a:p>
          <a:p>
            <a:pPr>
              <a:lnSpc>
                <a:spcPct val="115000"/>
              </a:lnSpc>
            </a:pPr>
            <a:r>
              <a:rPr sz="1200">
                <a:latin typeface="Arial"/>
              </a:rPr>
              <a:t>Local Java: CountKeywords.java.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 key generalizes an array or list index: it need not be an integer position. Map is separate from Collection. The original borrower-to-mortgage example has been replaced with student scores so examples are easy to trace without introducing another domain class.</a:t>
            </a:r>
          </a:p>
          <a:p>
            <a:pPr>
              <a:lnSpc>
                <a:spcPct val="115000"/>
              </a:lnSpc>
            </a:pPr>
            <a:r>
              <a:rPr sz="1200">
                <a:latin typeface="Arial"/>
              </a:rPr>
              <a:t>Reference: https://docs.oracle.com/en/java/javase/17/docs/api/java.base/java/util/Map.html</a:t>
            </a:r>
          </a:p>
          <a:p>
            <a:pPr>
              <a:lnSpc>
                <a:spcPct val="115000"/>
              </a:lnSpc>
            </a:pPr>
            <a:r>
              <a:rPr sz="1200">
                <a:latin typeface="Arial"/>
              </a:rPr>
              <a:t>Local Java: TestMap.java.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This table assumes the ordinary JDK Map get/put/remove methods. Null may mean absence or an actual stored null value. containsKey resolves that ambiguity. containsValue typically searches the values and should not be assumed to be a constant-time hash lookup.</a:t>
            </a:r>
          </a:p>
          <a:p>
            <a:pPr>
              <a:lnSpc>
                <a:spcPct val="115000"/>
              </a:lnSpc>
            </a:pPr>
            <a:r>
              <a:rPr sz="1200">
                <a:latin typeface="Arial"/>
              </a:rPr>
              <a:t>Reference: https://docs.oracle.com/en/java/javase/17/docs/api/java.base/java/util/Map.html</a:t>
            </a:r>
          </a:p>
          <a:p>
            <a:pPr>
              <a:lnSpc>
                <a:spcPct val="115000"/>
              </a:lnSpc>
            </a:pPr>
            <a:r>
              <a:rPr sz="1200">
                <a:latin typeface="Arial"/>
              </a:rPr>
              <a:t>Local Java: TestMap.java, NullAndFactoriesDemo.java.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Have students draw the pairs after each statement. Replacing a value does not create an extra key. In the ordinary insertion-order LinkedHashMap used here, replacement does not move Mia to the end. The access-order constructor is a different mode.</a:t>
            </a:r>
          </a:p>
          <a:p>
            <a:pPr>
              <a:lnSpc>
                <a:spcPct val="115000"/>
              </a:lnSpc>
            </a:pPr>
            <a:r>
              <a:rPr sz="1200">
                <a:latin typeface="Arial"/>
              </a:rPr>
              <a:t>Reference: https://docs.oracle.com/en/java/javase/17/docs/api/java.base/java/util/LinkedHashMap.html</a:t>
            </a:r>
          </a:p>
          <a:p>
            <a:pPr>
              <a:lnSpc>
                <a:spcPct val="115000"/>
              </a:lnSpc>
            </a:pPr>
            <a:r>
              <a:rPr sz="1200">
                <a:latin typeface="Arial"/>
              </a:rPr>
              <a:t>Local Java: TestMap.java.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The table summarizes JDK implementations, not the unbalanced BST from the earlier lecture. TreeMap is balanced. LinkedHashMap can also be configured for access order. TreeMap implements NavigableMap, which extends SortedMap and then Map. HashMap and LinkedHashMap implement Map. Sources include the Java 17 HashMap and TreeMap API pages.</a:t>
            </a:r>
          </a:p>
          <a:p>
            <a:pPr>
              <a:lnSpc>
                <a:spcPct val="115000"/>
              </a:lnSpc>
            </a:pPr>
            <a:r>
              <a:rPr sz="1200">
                <a:latin typeface="Arial"/>
              </a:rPr>
              <a:t>Reference: https://docs.oracle.com/en/java/javase/17/docs/api/java.base/java/util/TreeMap.html</a:t>
            </a:r>
          </a:p>
          <a:p>
            <a:pPr>
              <a:lnSpc>
                <a:spcPct val="115000"/>
              </a:lnSpc>
            </a:pPr>
            <a:r>
              <a:rPr sz="1200">
                <a:latin typeface="Arial"/>
              </a:rPr>
              <a:t>Local Java: TestMap.java.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 HashMap could also be used as the source of the TreeMap copy. We use LinkedHashMap here so both displayed outputs have a specified order. Ask whether the copy is deep: it copies key/value references, not the objects themselves.</a:t>
            </a:r>
          </a:p>
          <a:p>
            <a:pPr>
              <a:lnSpc>
                <a:spcPct val="115000"/>
              </a:lnSpc>
            </a:pPr>
            <a:r>
              <a:rPr sz="1200">
                <a:latin typeface="Arial"/>
              </a:rPr>
              <a:t>Reference: https://docs.oracle.com/en/java/javase/17/docs/api/java.base/java/util/Map.html</a:t>
            </a:r>
          </a:p>
          <a:p>
            <a:pPr>
              <a:lnSpc>
                <a:spcPct val="115000"/>
              </a:lnSpc>
            </a:pPr>
            <a:r>
              <a:rPr sz="1200">
                <a:latin typeface="Arial"/>
              </a:rPr>
              <a:t>Local Java: TestMap.java.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Map.Entry.getKey and getValue read a mapping. For mutable HashMap/LinkedHashMap entries, setValue updates the associated value and returns the old value. The original diagram incorrectly labels setValue as void; its return type is V. Optional update support depends on the map/entry implementation.</a:t>
            </a:r>
          </a:p>
          <a:p>
            <a:pPr>
              <a:lnSpc>
                <a:spcPct val="115000"/>
              </a:lnSpc>
            </a:pPr>
            <a:r>
              <a:rPr sz="1200">
                <a:latin typeface="Arial"/>
              </a:rPr>
              <a:t>Reference: https://docs.oracle.com/en/java/javase/17/docs/api/java.base/java/util/Map.Entry.html</a:t>
            </a:r>
          </a:p>
          <a:p>
            <a:pPr>
              <a:lnSpc>
                <a:spcPct val="115000"/>
              </a:lnSpc>
            </a:pPr>
            <a:r>
              <a:rPr sz="1200">
                <a:latin typeface="Arial"/>
              </a:rPr>
              <a:t>Local Java: TestMap.java, MapViewsDemo.java.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MapViewsDemo removes Ada through keySet and shows that the map loses her mapping. Adding Zoe to the map is visible through the previously obtained key view. values is a Collection, not a Set, because equal values can occur under different keys. Views generally do not support add. Custom snapshot behavior is taught separately.</a:t>
            </a:r>
          </a:p>
          <a:p>
            <a:pPr>
              <a:lnSpc>
                <a:spcPct val="115000"/>
              </a:lnSpc>
            </a:pPr>
            <a:r>
              <a:rPr sz="1200">
                <a:latin typeface="Arial"/>
              </a:rPr>
              <a:t>Reference: https://docs.oracle.com/en/java/javase/17/docs/api/java.base/java/util/Map.html</a:t>
            </a:r>
          </a:p>
          <a:p>
            <a:pPr>
              <a:lnSpc>
                <a:spcPct val="115000"/>
              </a:lnSpc>
            </a:pPr>
            <a:r>
              <a:rPr sz="1200">
                <a:latin typeface="Arial"/>
              </a:rPr>
              <a:t>Local Java: MapViewsDemo.java.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HashSet permits one null member; HashMap permits a null key and null values. Natural-order TreeSet/TreeMap reject null elements/keys. Do not generalize one implementation’s null policy to every Set or Map. Set.of rejects duplicates; Map.of rejects duplicate keys.</a:t>
            </a:r>
          </a:p>
          <a:p>
            <a:pPr>
              <a:lnSpc>
                <a:spcPct val="115000"/>
              </a:lnSpc>
            </a:pPr>
            <a:r>
              <a:rPr sz="1200">
                <a:latin typeface="Arial"/>
              </a:rPr>
              <a:t>Reference: https://docs.oracle.com/en/java/javase/17/docs/api/java.base/java/util/Map.html</a:t>
            </a:r>
          </a:p>
          <a:p>
            <a:pPr>
              <a:lnSpc>
                <a:spcPct val="115000"/>
              </a:lnSpc>
            </a:pPr>
            <a:r>
              <a:rPr sz="1200">
                <a:latin typeface="Arial"/>
              </a:rPr>
              <a:t>Local Java: NullAndFactoriesDemo.java.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Answers: 1. Size 2; A maps to 7 and B to 4. 2. Yes, in general; different keys may map to equal values. 3. Yes for a supported removal on a mutable JDK Map backed key view. 4. No. HashMap makes no order guarantee. Ask students to identify which assumptions would change for an unmodifiable map.</a:t>
            </a:r>
          </a:p>
          <a:p>
            <a:pPr>
              <a:lnSpc>
                <a:spcPct val="115000"/>
              </a:lnSpc>
            </a:pPr>
            <a:r>
              <a:rPr sz="1200">
                <a:latin typeface="Arial"/>
              </a:rPr>
              <a:t>Reference: https://docs.oracle.com/en/java/javase/17/docs/api/java.base/java/util/Map.html</a:t>
            </a:r>
          </a:p>
          <a:p>
            <a:pPr>
              <a:lnSpc>
                <a:spcPct val="115000"/>
              </a:lnSpc>
            </a:pPr>
            <a:r>
              <a:rPr sz="1200">
                <a:latin typeface="Arial"/>
              </a:rPr>
              <a:t>Local Java: TestMap.java, MapViewsDemo.java.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The complete interface also includes keySet, values and entrySet. This corrected teaching API returns Collection&lt;V&gt; from values, preserving repeated values, and returns the removed value from remove. Its signatures intentionally differ from some source textbook versions. It does not claim to implement java.util.Map.</a:t>
            </a:r>
          </a:p>
          <a:p>
            <a:pPr>
              <a:lnSpc>
                <a:spcPct val="115000"/>
              </a:lnSpc>
            </a:pPr>
            <a:r>
              <a:rPr sz="1200">
                <a:latin typeface="Arial"/>
              </a:rPr>
              <a:t>Local Java: MyMap.java, MyHashMap.java.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MyHashMap contains the complete implementation, with a linked list per bucket and floorMod indexing to handle negative hash codes. It starts at capacity 8 by default with load threshold 0.75. Replacement does not increase size or require a new entry. Null keys/values are rejected, so null means no previous or removed value.</a:t>
            </a:r>
          </a:p>
          <a:p>
            <a:pPr>
              <a:lnSpc>
                <a:spcPct val="115000"/>
              </a:lnSpc>
            </a:pPr>
            <a:r>
              <a:rPr sz="1200">
                <a:latin typeface="Arial"/>
              </a:rPr>
              <a:t>Local Java: MyHashMap.java, TestMyHashMap.java.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This deliberate API simplification avoids implementing all JDK backed-view machinery in the hashing exercise. Its values snapshot preserves both 95 values before removal. Contrast the true result here with a JDK backed keySet view. Iteration order of the custom hash map is unspecified; do not depend on bucket order.</a:t>
            </a:r>
          </a:p>
          <a:p>
            <a:pPr>
              <a:lnSpc>
                <a:spcPct val="115000"/>
              </a:lnSpc>
            </a:pPr>
            <a:r>
              <a:rPr sz="1200">
                <a:latin typeface="Arial"/>
              </a:rPr>
              <a:t>Local Java: TestMyHashMap.java, MyHashMap.java.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The supplied word-count case study is retained with an explicit tokenization policy. Apostrophes and hyphens are boundaries. Accented letters are supported by Unicode character categories, but the example does not perform Unicode normalization or full language-specific segmentation. Ask whether “can’t” should be one word or two for the application.</a:t>
            </a:r>
          </a:p>
          <a:p>
            <a:pPr>
              <a:lnSpc>
                <a:spcPct val="115000"/>
              </a:lnSpc>
            </a:pPr>
            <a:r>
              <a:rPr sz="1200">
                <a:latin typeface="Arial"/>
              </a:rPr>
              <a:t>Local Java: CountOccurrenceOfWords.java.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The complete example imports java.util and reads a UTF-8 file when given an argument. Default sorted result: {count=1, help=1, java=2, maps=2}. merge inserts 1 if absent and adds 1 to the existing non-null count otherwise. This is ordinary sequential counting; it is not a concurrent update design.</a:t>
            </a:r>
          </a:p>
          <a:p>
            <a:pPr>
              <a:lnSpc>
                <a:spcPct val="115000"/>
              </a:lnSpc>
            </a:pPr>
            <a:r>
              <a:rPr sz="1200">
                <a:latin typeface="Arial"/>
              </a:rPr>
              <a:t>Reference: https://docs.oracle.com/en/java/javase/17/docs/api/java.base/java/util/Map.html</a:t>
            </a:r>
          </a:p>
          <a:p>
            <a:pPr>
              <a:lnSpc>
                <a:spcPct val="115000"/>
              </a:lnSpc>
            </a:pPr>
            <a:r>
              <a:rPr sz="1200">
                <a:latin typeface="Arial"/>
              </a:rPr>
              <a:t>Local Java: CountOccurrenceOfWords.java.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The original title mentions multimaps without developing them. A count map models multiplicities; a collection-valued map models one-to-many associations. With Set values, repeated enrollment is discarded. With List values, duplicates and order can be preserved. They are different models; select based on the problem.</a:t>
            </a:r>
          </a:p>
          <a:p>
            <a:pPr>
              <a:lnSpc>
                <a:spcPct val="115000"/>
              </a:lnSpc>
            </a:pPr>
            <a:r>
              <a:rPr sz="1200">
                <a:latin typeface="Arial"/>
              </a:rPr>
              <a:t>Local Java: CountOccurrenceOfWords.java, MultimapDemo.java.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MultimapDemo also includes COMP110=[Ada]. The outer TreeMap sorts course keys and each inner TreeSet sorts unique student names. In a real roster, use student IDs because names can repeat. computeIfAbsent returns the existing non-null set or creates one if absent.</a:t>
            </a:r>
          </a:p>
          <a:p>
            <a:pPr>
              <a:lnSpc>
                <a:spcPct val="115000"/>
              </a:lnSpc>
            </a:pPr>
            <a:r>
              <a:rPr sz="1200">
                <a:latin typeface="Arial"/>
              </a:rPr>
              <a:t>Reference: https://docs.oracle.com/en/java/javase/17/docs/api/java.base/java/util/Map.html</a:t>
            </a:r>
          </a:p>
          <a:p>
            <a:pPr>
              <a:lnSpc>
                <a:spcPct val="115000"/>
              </a:lnSpc>
            </a:pPr>
            <a:r>
              <a:rPr sz="1200">
                <a:latin typeface="Arial"/>
              </a:rPr>
              <a:t>Local Java: MultimapDemo.java.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Answers: 1. LinkedHashSet. 2. Map&lt;ID,Student&gt;; HashMap for ordinary lookup or TreeMap for sorted keys/ranges. 3. TreeSet, while remembering names need not identify people uniquely. 4. Map&lt;Course,Set&lt;StudentID&gt;&gt;. 5. Map&lt;String,Integer&gt;. Encourage students to state duplicate and order requirements before naming an implementation.</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Answers: 1. Equal keys must be discoverable through the same hash bucket. 2. A map has one mapping per key, so put replaces the old value. 3. Backed views reflect map changes and supported view updates affect the map; snapshots are independent collection structures. 4. Sorted traversal or range queries. 5. Repeated values can be retained and each list preserves positional order.</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4937760"/>
          </a:xfrm>
        </p:spPr>
      </p:sp>
      <p:sp>
        <p:nvSpPr>
          <p:cNvPr id="3" name="Notes Placeholder 2"/>
          <p:cNvSpPr>
            <a:spLocks noGrp="1"/>
          </p:cNvSpPr>
          <p:nvPr>
            <p:ph type="body" idx="1"/>
          </p:nvPr>
        </p:nvSpPr>
        <p:spPr>
          <a:xfrm>
            <a:off x="594360" y="5852160"/>
            <a:ext cx="6583680" cy="3291840"/>
          </a:xfrm>
        </p:spPr>
        <p:txBody>
          <a:bodyPr lIns="0" tIns="0" rIns="0" bIns="0" wrap="square" anchor="t"/>
          <a:lstStyle/>
          <a:p>
            <a:pPr>
              <a:lnSpc>
                <a:spcPct val="115000"/>
              </a:lnSpc>
            </a:pPr>
            <a:r>
              <a:rPr sz="1200">
                <a:latin typeface="Arial"/>
              </a:rPr>
              <a:t>Suggested top-three ordering: count descending, then word ascending for ties. Do not discard tied counts by using a count as a unique map key. The Java 17 Set, Map, HashSet, LinkedHashSet, TreeSet, LinkedHashMap and TreeMap API pages support the collection behavior in this lecture. Source notes on individual slides identify the relevant page.</a:t>
            </a:r>
          </a:p>
          <a:p>
            <a:pPr>
              <a:lnSpc>
                <a:spcPct val="115000"/>
              </a:lnSpc>
            </a:pPr>
            <a:r>
              <a:rPr sz="1200">
                <a:latin typeface="Arial"/>
              </a:rPr>
              <a:t>Reference: https://docs.oracle.com/en/java/javase/17/docs/api/java.base/java/util/Map.html</a:t>
            </a:r>
          </a:p>
          <a:p>
            <a:pPr>
              <a:lnSpc>
                <a:spcPct val="115000"/>
              </a:lnSpc>
            </a:pPr>
            <a:r>
              <a:rPr sz="1200">
                <a:latin typeface="Arial"/>
              </a:rPr>
              <a:t>Local Java: CountOccurrenceOfWords.java, MultimapDemo.java, MyHashMap.java.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3e3b41b15f4f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73b4ad59fa42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bfcab842d94e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05fcfd91c44a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69789b3f1c49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f4bcc6b00549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DF73B1-0170-4E87-9283-A5F89A8967E1}"/>
              </a:ext>
            </a:extLst>
          </p:cNvPr>
          <p:cNvSpPr>
            <a:spLocks xmlns:a="http://schemas.openxmlformats.org/drawingml/2006/main" noGrp="1"/>
          </p:cNvSpPr>
          <p:nvPr>
            <p:ph type="title" idx="0"/>
          </p:nvPr>
        </p:nvSpPr>
        <p:spPr>
          <a:xfrm xmlns:a="http://schemas.openxmlformats.org/drawingml/2006/main">
            <a:off x="914400" y="2590800"/>
            <a:ext cx="73152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1FFA43A-825E-413C-B808-4F1B32CC0F51}"/>
              </a:ext>
            </a:extLst>
          </p:cNvPr>
          <p:cNvSpPr>
            <a:spLocks xmlns:a="http://schemas.openxmlformats.org/drawingml/2006/main" noGrp="1"/>
          </p:cNvSpPr>
          <p:nvPr>
            <p:ph type="subTitle" idx="1"/>
          </p:nvPr>
        </p:nvSpPr>
        <p:spPr>
          <a:xfrm xmlns:a="http://schemas.openxmlformats.org/drawingml/2006/main">
            <a:off x="1371600" y="3771900"/>
            <a:ext cx="64008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841A3D-729D-4B47-A620-6C977461AE5C}"/>
              </a:ext>
            </a:extLst>
          </p:cNvPr>
          <p:cNvSpPr>
            <a:spLocks xmlns:a="http://schemas.openxmlformats.org/drawingml/2006/main" noGrp="1"/>
          </p:cNvSpPr>
          <p:nvPr>
            <p:ph type="title" idx="0"/>
          </p:nvPr>
        </p:nvSpPr>
        <p:spPr>
          <a:xfrm xmlns:a="http://schemas.openxmlformats.org/drawingml/2006/main">
            <a:off x="914400" y="2857500"/>
            <a:ext cx="73152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173ACA-9FA4-405D-8A6C-1693516C2D17}"/>
              </a:ext>
            </a:extLst>
          </p:cNvPr>
          <p:cNvSpPr>
            <a:spLocks xmlns:a="http://schemas.openxmlformats.org/drawingml/2006/main" noGrp="1"/>
          </p:cNvSpPr>
          <p:nvPr>
            <p:ph type="title" idx="0"/>
          </p:nvPr>
        </p:nvSpPr>
        <p:spPr>
          <a:xfrm xmlns:a="http://schemas.openxmlformats.org/drawingml/2006/main">
            <a:off x="514350" y="533400"/>
            <a:ext cx="81153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B8C1F3-F384-484B-ABEC-29141C391C3B}"/>
              </a:ext>
            </a:extLst>
          </p:cNvPr>
          <p:cNvSpPr>
            <a:spLocks xmlns:a="http://schemas.openxmlformats.org/drawingml/2006/main" noGrp="1"/>
          </p:cNvSpPr>
          <p:nvPr>
            <p:ph type="body" idx="1"/>
          </p:nvPr>
        </p:nvSpPr>
        <p:spPr>
          <a:xfrm xmlns:a="http://schemas.openxmlformats.org/drawingml/2006/main">
            <a:off x="514350" y="1905000"/>
            <a:ext cx="81153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439E7A7-01B1-4D61-927C-74C0222DC764}"/>
              </a:ext>
            </a:extLst>
          </p:cNvPr>
          <p:cNvSpPr>
            <a:spLocks xmlns:a="http://schemas.openxmlformats.org/drawingml/2006/main" noGrp="1"/>
          </p:cNvSpPr>
          <p:nvPr>
            <p:ph type="title" idx="0"/>
          </p:nvPr>
        </p:nvSpPr>
        <p:spPr>
          <a:xfrm xmlns:a="http://schemas.openxmlformats.org/drawingml/2006/main">
            <a:off x="514350" y="533400"/>
            <a:ext cx="81153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F6FFE6-BDE3-4AD6-8B41-A3CF2114E3CA}"/>
              </a:ext>
            </a:extLst>
          </p:cNvPr>
          <p:cNvSpPr>
            <a:spLocks xmlns:a="http://schemas.openxmlformats.org/drawingml/2006/main" noGrp="1"/>
          </p:cNvSpPr>
          <p:nvPr>
            <p:ph type="body" idx="1"/>
          </p:nvPr>
        </p:nvSpPr>
        <p:spPr>
          <a:xfrm xmlns:a="http://schemas.openxmlformats.org/drawingml/2006/main">
            <a:off x="514350" y="1905000"/>
            <a:ext cx="37719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D5EE2C-24D4-403D-AD78-69D949A50C04}"/>
              </a:ext>
            </a:extLst>
          </p:cNvPr>
          <p:cNvSpPr>
            <a:spLocks xmlns:a="http://schemas.openxmlformats.org/drawingml/2006/main" noGrp="1"/>
          </p:cNvSpPr>
          <p:nvPr>
            <p:ph type="body" idx="2"/>
          </p:nvPr>
        </p:nvSpPr>
        <p:spPr>
          <a:xfrm xmlns:a="http://schemas.openxmlformats.org/drawingml/2006/main">
            <a:off x="4857750" y="1905000"/>
            <a:ext cx="37719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ECB169-B0DB-4CA5-9F4A-2E36A50E61FE}"/>
              </a:ext>
            </a:extLst>
          </p:cNvPr>
          <p:cNvSpPr>
            <a:spLocks xmlns:a="http://schemas.openxmlformats.org/drawingml/2006/main" noGrp="1"/>
          </p:cNvSpPr>
          <p:nvPr>
            <p:ph type="title" idx="0"/>
          </p:nvPr>
        </p:nvSpPr>
        <p:spPr>
          <a:xfrm xmlns:a="http://schemas.openxmlformats.org/drawingml/2006/main">
            <a:off x="514350" y="533400"/>
            <a:ext cx="81153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B0E5A5-B2AB-4B46-86E6-C9E202BC539B}"/>
              </a:ext>
            </a:extLst>
          </p:cNvPr>
          <p:cNvSpPr>
            <a:spLocks xmlns:a="http://schemas.openxmlformats.org/drawingml/2006/main" noGrp="1"/>
          </p:cNvSpPr>
          <p:nvPr>
            <p:ph type="body" idx="1"/>
          </p:nvPr>
        </p:nvSpPr>
        <p:spPr>
          <a:xfrm xmlns:a="http://schemas.openxmlformats.org/drawingml/2006/main">
            <a:off x="514350" y="1905000"/>
            <a:ext cx="37719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33c601e803423b" /><Relationship Type="http://schemas.openxmlformats.org/officeDocument/2006/relationships/slideLayout" Target="/ppt/slideLayouts/slideLayout1.xml" Id="R95e2a89b22be43ab" /><Relationship Type="http://schemas.openxmlformats.org/officeDocument/2006/relationships/slideLayout" Target="/ppt/slideLayouts/slideLayout2.xml" Id="Rc4e234c065bd4892" /><Relationship Type="http://schemas.openxmlformats.org/officeDocument/2006/relationships/slideLayout" Target="/ppt/slideLayouts/slideLayout3.xml" Id="Rfa079e76f7074e4e" /><Relationship Type="http://schemas.openxmlformats.org/officeDocument/2006/relationships/slideLayout" Target="/ppt/slideLayouts/slideLayout4.xml" Id="R3bf1e01b76d74bbb" /><Relationship Type="http://schemas.openxmlformats.org/officeDocument/2006/relationships/slideLayout" Target="/ppt/slideLayouts/slideLayout5.xml" Id="R1b3178b772f44a51" /><Relationship Type="http://schemas.openxmlformats.org/officeDocument/2006/relationships/slideLayout" Target="/ppt/slideLayouts/slideLayout6.xml" Id="R02f15d94e59f4b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e2a89b22be43ab"/>
    <p:sldLayoutId xmlns:r="http://schemas.openxmlformats.org/officeDocument/2006/relationships" id="2147483650" r:id="Rc4e234c065bd4892"/>
    <p:sldLayoutId xmlns:r="http://schemas.openxmlformats.org/officeDocument/2006/relationships" id="2147483651" r:id="Rfa079e76f7074e4e"/>
    <p:sldLayoutId xmlns:r="http://schemas.openxmlformats.org/officeDocument/2006/relationships" id="2147483652" r:id="R3bf1e01b76d74bbb"/>
    <p:sldLayoutId xmlns:r="http://schemas.openxmlformats.org/officeDocument/2006/relationships" id="2147483653" r:id="R1b3178b772f44a51"/>
    <p:sldLayoutId xmlns:r="http://schemas.openxmlformats.org/officeDocument/2006/relationships" id="2147483654" r:id="R02f15d94e59f4b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edce6952cb347d0" /><Relationship Type="http://schemas.openxmlformats.org/officeDocument/2006/relationships/hyperlink" Target="Lecture13_SetMap_Java_Examples/TestHashSet.java" TargetMode="External" Id="Rb0c8982cb1af4f75" /><Relationship Type="http://schemas.openxmlformats.org/officeDocument/2006/relationships/hyperlink" Target="Lecture13_SetMap_Java_Examples/TestMap.java" TargetMode="External" Id="R02f1e0c0f5fc4a22" /><Relationship Type="http://schemas.openxmlformats.org/officeDocument/2006/relationships/notesSlide" Target="/ppt/notesSlides/notesSlide1.xml" Id="R0363df9593f542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dcc4ceccb74f18" /><Relationship Type="http://schemas.openxmlformats.org/officeDocument/2006/relationships/notesSlide" Target="/ppt/notesSlides/notesSlide2.xml" Id="R4d816ebe1dfd40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9ce6060e14a4afb" /><Relationship Type="http://schemas.openxmlformats.org/officeDocument/2006/relationships/notesSlide" Target="/ppt/notesSlides/notesSlide3.xml" Id="Re7ace380562048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2921a179b0498b" /><Relationship Type="http://schemas.openxmlformats.org/officeDocument/2006/relationships/hyperlink" Target="Lecture13_SetMap_Java_Examples/TestHashSet.java" TargetMode="External" Id="Rbc5a10cb25354a14" /><Relationship Type="http://schemas.openxmlformats.org/officeDocument/2006/relationships/hyperlink" Target="Lecture13_SetMap_Java_Examples/TestLinkedHashSet.java" TargetMode="External" Id="Rf637a7460893486e" /><Relationship Type="http://schemas.openxmlformats.org/officeDocument/2006/relationships/hyperlink" Target="Lecture13_SetMap_Java_Examples/TestTreeSet.java" TargetMode="External" Id="R86569e095e8c4c21" /><Relationship Type="http://schemas.openxmlformats.org/officeDocument/2006/relationships/notesSlide" Target="/ppt/notesSlides/notesSlide4.xml" Id="Ra0a68e89f65142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83466505a1463e" /><Relationship Type="http://schemas.openxmlformats.org/officeDocument/2006/relationships/hyperlink" Target="Lecture13_SetMap_Java_Examples/TestHashSet.java" TargetMode="External" Id="R95150821681748e0" /><Relationship Type="http://schemas.openxmlformats.org/officeDocument/2006/relationships/notesSlide" Target="/ppt/notesSlides/notesSlide5.xml" Id="R20f6657e50d843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a678e8acec40b3" /><Relationship Type="http://schemas.openxmlformats.org/officeDocument/2006/relationships/hyperlink" Target="Lecture13_SetMap_Java_Examples/SetMembershipQuiz.java" TargetMode="External" Id="Re6bc9019c9ce4092" /><Relationship Type="http://schemas.openxmlformats.org/officeDocument/2006/relationships/notesSlide" Target="/ppt/notesSlides/notesSlide6.xml" Id="Rd29c9f62924343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ad513402ca4247" /><Relationship Type="http://schemas.openxmlformats.org/officeDocument/2006/relationships/hyperlink" Target="Lecture13_SetMap_Java_Examples/TestHashSet.java" TargetMode="External" Id="Ree2055f7ed4c448c" /><Relationship Type="http://schemas.openxmlformats.org/officeDocument/2006/relationships/notesSlide" Target="/ppt/notesSlides/notesSlide7.xml" Id="R3045e4be40b644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74102bf90304d96" /><Relationship Type="http://schemas.openxmlformats.org/officeDocument/2006/relationships/hyperlink" Target="Lecture13_SetMap_Java_Examples/StudentKey.java" TargetMode="External" Id="R87a2146cfd6a46fa" /><Relationship Type="http://schemas.openxmlformats.org/officeDocument/2006/relationships/hyperlink" Target="Lecture13_SetMap_Java_Examples/EqualityDemo.java" TargetMode="External" Id="R258707282faf4e27" /><Relationship Type="http://schemas.openxmlformats.org/officeDocument/2006/relationships/notesSlide" Target="/ppt/notesSlides/notesSlide8.xml" Id="R1690022a3da844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e470744d98244a4" /><Relationship Type="http://schemas.openxmlformats.org/officeDocument/2006/relationships/hyperlink" Target="Lecture13_SetMap_Java_Examples/StudentKey.java" TargetMode="External" Id="R8810a39eb5c8418a" /><Relationship Type="http://schemas.openxmlformats.org/officeDocument/2006/relationships/hyperlink" Target="Lecture13_SetMap_Java_Examples/EqualityDemo.java" TargetMode="External" Id="R4279d1cef1564988" /><Relationship Type="http://schemas.openxmlformats.org/officeDocument/2006/relationships/notesSlide" Target="/ppt/notesSlides/notesSlide9.xml" Id="R6898b83e322946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09281e78a8d40a0" /><Relationship Type="http://schemas.openxmlformats.org/officeDocument/2006/relationships/hyperlink" Target="Lecture13_SetMap_Java_Examples/TestLinkedHashSet.java" TargetMode="External" Id="Rc2cd867663de4a89" /><Relationship Type="http://schemas.openxmlformats.org/officeDocument/2006/relationships/notesSlide" Target="/ppt/notesSlides/notesSlide10.xml" Id="Rc5e04d6d002142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9004130492491b" /><Relationship Type="http://schemas.openxmlformats.org/officeDocument/2006/relationships/hyperlink" Target="Lecture13_SetMap_Java_Examples/TestTreeSet.java" TargetMode="External" Id="R98c84bc9cdb84d96" /><Relationship Type="http://schemas.openxmlformats.org/officeDocument/2006/relationships/notesSlide" Target="/ppt/notesSlides/notesSlide11.xml" Id="R2e59f21479dd46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7bf7deaa8a24ba0" /><Relationship Type="http://schemas.openxmlformats.org/officeDocument/2006/relationships/hyperlink" Target="Lecture13_SetMap_Java_Examples/TestTreeSet.java" TargetMode="External" Id="R7250b6142bde4300" /><Relationship Type="http://schemas.openxmlformats.org/officeDocument/2006/relationships/notesSlide" Target="/ppt/notesSlides/notesSlide12.xml" Id="Re35d38d46ecc4b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dcf78bb90bb47f8" /><Relationship Type="http://schemas.openxmlformats.org/officeDocument/2006/relationships/hyperlink" Target="Lecture13_SetMap_Java_Examples/SetOperations.java" TargetMode="External" Id="Rafc36d40f608404d" /><Relationship Type="http://schemas.openxmlformats.org/officeDocument/2006/relationships/notesSlide" Target="/ppt/notesSlides/notesSlide13.xml" Id="Rf1c09ecf773b49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aeb1851c5ff4aa8" /><Relationship Type="http://schemas.openxmlformats.org/officeDocument/2006/relationships/hyperlink" Target="Lecture13_SetMap_Java_Examples/SetOperations.java" TargetMode="External" Id="R00bee7aac3a64d5a" /><Relationship Type="http://schemas.openxmlformats.org/officeDocument/2006/relationships/notesSlide" Target="/ppt/notesSlides/notesSlide14.xml" Id="R302c766d1c1b45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886cd2a23224619" /><Relationship Type="http://schemas.openxmlformats.org/officeDocument/2006/relationships/hyperlink" Target="Lecture13_SetMap_Java_Examples/SetOperations.java" TargetMode="External" Id="Ra94250e2dc464ace" /><Relationship Type="http://schemas.openxmlformats.org/officeDocument/2006/relationships/hyperlink" Target="Lecture13_SetMap_Java_Examples/NullAndFactoriesDemo.java" TargetMode="External" Id="R1ac48d9d846c409a" /><Relationship Type="http://schemas.openxmlformats.org/officeDocument/2006/relationships/notesSlide" Target="/ppt/notesSlides/notesSlide15.xml" Id="Rbb333d9cdb9c44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b2c9c8803694728" /><Relationship Type="http://schemas.openxmlformats.org/officeDocument/2006/relationships/hyperlink" Target="Lecture13_SetMap_Java_Examples/MySet.java" TargetMode="External" Id="Racbeafa70e854679" /><Relationship Type="http://schemas.openxmlformats.org/officeDocument/2006/relationships/hyperlink" Target="Lecture13_SetMap_Java_Examples/MyHashSet.java" TargetMode="External" Id="R88cf9c695ac047fa" /><Relationship Type="http://schemas.openxmlformats.org/officeDocument/2006/relationships/notesSlide" Target="/ppt/notesSlides/notesSlide16.xml" Id="R7d294b2699bf42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d7c57403de048b1" /><Relationship Type="http://schemas.openxmlformats.org/officeDocument/2006/relationships/hyperlink" Target="Lecture13_SetMap_Java_Examples/MyHashSet.java" TargetMode="External" Id="R0a81ad40637e4b0f" /><Relationship Type="http://schemas.openxmlformats.org/officeDocument/2006/relationships/hyperlink" Target="Lecture13_SetMap_Java_Examples/TestMyHashSet.java" TargetMode="External" Id="Rf15f63e50e1c4681" /><Relationship Type="http://schemas.openxmlformats.org/officeDocument/2006/relationships/hyperlink" Target="Lecture13_SetMap_Java_Examples/MyHashMap.java" TargetMode="External" Id="Rfdb3686a31414a3b" /><Relationship Type="http://schemas.openxmlformats.org/officeDocument/2006/relationships/notesSlide" Target="/ppt/notesSlides/notesSlide17.xml" Id="Rb0e10fe7590f49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c69c73495c34061" /><Relationship Type="http://schemas.openxmlformats.org/officeDocument/2006/relationships/hyperlink" Target="Lecture13_SetMap_Java_Examples/CountKeywords.java" TargetMode="External" Id="R03fce55ee3bb4faf" /><Relationship Type="http://schemas.openxmlformats.org/officeDocument/2006/relationships/notesSlide" Target="/ppt/notesSlides/notesSlide18.xml" Id="R8ff3b8967197419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586418e00d24c32" /><Relationship Type="http://schemas.openxmlformats.org/officeDocument/2006/relationships/hyperlink" Target="Lecture13_SetMap_Java_Examples/CountKeywords.java" TargetMode="External" Id="Rf9e8e52552b64b7a" /><Relationship Type="http://schemas.openxmlformats.org/officeDocument/2006/relationships/notesSlide" Target="/ppt/notesSlides/notesSlide19.xml" Id="R420e11a7eead44c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713c342c0674d18" /><Relationship Type="http://schemas.openxmlformats.org/officeDocument/2006/relationships/hyperlink" Target="Lecture13_SetMap_Java_Examples/TestMap.java" TargetMode="External" Id="R6ecf0e9c9ef34529" /><Relationship Type="http://schemas.openxmlformats.org/officeDocument/2006/relationships/notesSlide" Target="/ppt/notesSlides/notesSlide20.xml" Id="Rfd460e99773a4d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43ac52b28384010" /><Relationship Type="http://schemas.openxmlformats.org/officeDocument/2006/relationships/hyperlink" Target="Lecture13_SetMap_Java_Examples/TestMap.java" TargetMode="External" Id="R8a7ecac5aaf54de7" /><Relationship Type="http://schemas.openxmlformats.org/officeDocument/2006/relationships/hyperlink" Target="Lecture13_SetMap_Java_Examples/NullAndFactoriesDemo.java" TargetMode="External" Id="Rae11c81014894071" /><Relationship Type="http://schemas.openxmlformats.org/officeDocument/2006/relationships/notesSlide" Target="/ppt/notesSlides/notesSlide21.xml" Id="R8f649678abf8436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8bd1642c63c4e82" /><Relationship Type="http://schemas.openxmlformats.org/officeDocument/2006/relationships/hyperlink" Target="Lecture13_SetMap_Java_Examples/TestMap.java" TargetMode="External" Id="R0a9fc741330a484e" /><Relationship Type="http://schemas.openxmlformats.org/officeDocument/2006/relationships/notesSlide" Target="/ppt/notesSlides/notesSlide22.xml" Id="R38b50c7ce222426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e12e4f9ad864253" /><Relationship Type="http://schemas.openxmlformats.org/officeDocument/2006/relationships/hyperlink" Target="Lecture13_SetMap_Java_Examples/TestMap.java" TargetMode="External" Id="R4248fae0f9204da6" /><Relationship Type="http://schemas.openxmlformats.org/officeDocument/2006/relationships/notesSlide" Target="/ppt/notesSlides/notesSlide23.xml" Id="R4652f8f4990d44b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866fd32e13c45d0" /><Relationship Type="http://schemas.openxmlformats.org/officeDocument/2006/relationships/hyperlink" Target="Lecture13_SetMap_Java_Examples/TestMap.java" TargetMode="External" Id="R2c19616e16fd4832" /><Relationship Type="http://schemas.openxmlformats.org/officeDocument/2006/relationships/notesSlide" Target="/ppt/notesSlides/notesSlide24.xml" Id="R7ba82c140f68409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011d0a4abdc4f73" /><Relationship Type="http://schemas.openxmlformats.org/officeDocument/2006/relationships/hyperlink" Target="Lecture13_SetMap_Java_Examples/TestMap.java" TargetMode="External" Id="R71649e390f0f41bc" /><Relationship Type="http://schemas.openxmlformats.org/officeDocument/2006/relationships/hyperlink" Target="Lecture13_SetMap_Java_Examples/MapViewsDemo.java" TargetMode="External" Id="R72c3b325668249b3" /><Relationship Type="http://schemas.openxmlformats.org/officeDocument/2006/relationships/notesSlide" Target="/ppt/notesSlides/notesSlide25.xml" Id="R31738c66ea6d4af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f82b17e5b0041f2" /><Relationship Type="http://schemas.openxmlformats.org/officeDocument/2006/relationships/hyperlink" Target="Lecture13_SetMap_Java_Examples/MapViewsDemo.java" TargetMode="External" Id="R88d061be07484bf8" /><Relationship Type="http://schemas.openxmlformats.org/officeDocument/2006/relationships/notesSlide" Target="/ppt/notesSlides/notesSlide26.xml" Id="R9badea92b51644f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0efb914242d455a" /><Relationship Type="http://schemas.openxmlformats.org/officeDocument/2006/relationships/hyperlink" Target="Lecture13_SetMap_Java_Examples/NullAndFactoriesDemo.java" TargetMode="External" Id="R9285adb259234cd6" /><Relationship Type="http://schemas.openxmlformats.org/officeDocument/2006/relationships/notesSlide" Target="/ppt/notesSlides/notesSlide27.xml" Id="Rb76b706a3789437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581eef8a1364ebe" /><Relationship Type="http://schemas.openxmlformats.org/officeDocument/2006/relationships/hyperlink" Target="Lecture13_SetMap_Java_Examples/TestMap.java" TargetMode="External" Id="R45c67eeb14a04f7f" /><Relationship Type="http://schemas.openxmlformats.org/officeDocument/2006/relationships/hyperlink" Target="Lecture13_SetMap_Java_Examples/MapViewsDemo.java" TargetMode="External" Id="R09c7fded4428457d" /><Relationship Type="http://schemas.openxmlformats.org/officeDocument/2006/relationships/notesSlide" Target="/ppt/notesSlides/notesSlide28.xml" Id="R20b00eb8e38b480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11fbf3581ec4772" /><Relationship Type="http://schemas.openxmlformats.org/officeDocument/2006/relationships/hyperlink" Target="Lecture13_SetMap_Java_Examples/MyMap.java" TargetMode="External" Id="R730bc3cda71a405b" /><Relationship Type="http://schemas.openxmlformats.org/officeDocument/2006/relationships/hyperlink" Target="Lecture13_SetMap_Java_Examples/MyHashMap.java" TargetMode="External" Id="R986ac5b4bc734be9" /><Relationship Type="http://schemas.openxmlformats.org/officeDocument/2006/relationships/notesSlide" Target="/ppt/notesSlides/notesSlide29.xml" Id="R21a6cf154f0f407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07c0ddc60054d5c" /><Relationship Type="http://schemas.openxmlformats.org/officeDocument/2006/relationships/hyperlink" Target="Lecture13_SetMap_Java_Examples/MyHashMap.java" TargetMode="External" Id="R72eb02463f884f63" /><Relationship Type="http://schemas.openxmlformats.org/officeDocument/2006/relationships/hyperlink" Target="Lecture13_SetMap_Java_Examples/TestMyHashMap.java" TargetMode="External" Id="R41ca806e6a5640b0" /><Relationship Type="http://schemas.openxmlformats.org/officeDocument/2006/relationships/notesSlide" Target="/ppt/notesSlides/notesSlide30.xml" Id="Ra31b0030444948d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1c79d7e4e24b16" /><Relationship Type="http://schemas.openxmlformats.org/officeDocument/2006/relationships/hyperlink" Target="Lecture13_SetMap_Java_Examples/TestMyHashMap.java" TargetMode="External" Id="R5406636c6119488a" /><Relationship Type="http://schemas.openxmlformats.org/officeDocument/2006/relationships/hyperlink" Target="Lecture13_SetMap_Java_Examples/MyHashMap.java" TargetMode="External" Id="Rff7b34e7ecd54b00" /><Relationship Type="http://schemas.openxmlformats.org/officeDocument/2006/relationships/notesSlide" Target="/ppt/notesSlides/notesSlide31.xml" Id="Redb1f9e4fa6e473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d871e8560de4715" /><Relationship Type="http://schemas.openxmlformats.org/officeDocument/2006/relationships/hyperlink" Target="Lecture13_SetMap_Java_Examples/CountOccurrenceOfWords.java" TargetMode="External" Id="R1f8ba07b46214d3e" /><Relationship Type="http://schemas.openxmlformats.org/officeDocument/2006/relationships/notesSlide" Target="/ppt/notesSlides/notesSlide32.xml" Id="R75d494ae8a4945c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1599542694148e6" /><Relationship Type="http://schemas.openxmlformats.org/officeDocument/2006/relationships/hyperlink" Target="Lecture13_SetMap_Java_Examples/CountOccurrenceOfWords.java" TargetMode="External" Id="R4355325252174181" /><Relationship Type="http://schemas.openxmlformats.org/officeDocument/2006/relationships/notesSlide" Target="/ppt/notesSlides/notesSlide33.xml" Id="R3ad85b576b7a414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e2cabdda0b84393" /><Relationship Type="http://schemas.openxmlformats.org/officeDocument/2006/relationships/hyperlink" Target="Lecture13_SetMap_Java_Examples/CountOccurrenceOfWords.java" TargetMode="External" Id="R84c05b2d8040466d" /><Relationship Type="http://schemas.openxmlformats.org/officeDocument/2006/relationships/hyperlink" Target="Lecture13_SetMap_Java_Examples/MultimapDemo.java" TargetMode="External" Id="Ra468035121404178" /><Relationship Type="http://schemas.openxmlformats.org/officeDocument/2006/relationships/notesSlide" Target="/ppt/notesSlides/notesSlide34.xml" Id="R4537f9b1ad37445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0e48aada11348ad" /><Relationship Type="http://schemas.openxmlformats.org/officeDocument/2006/relationships/hyperlink" Target="Lecture13_SetMap_Java_Examples/MultimapDemo.java" TargetMode="External" Id="R4366f09c76a64813" /><Relationship Type="http://schemas.openxmlformats.org/officeDocument/2006/relationships/notesSlide" Target="/ppt/notesSlides/notesSlide35.xml" Id="R599ac7fe58aa43e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30fa9b770ec4b09" /><Relationship Type="http://schemas.openxmlformats.org/officeDocument/2006/relationships/notesSlide" Target="/ppt/notesSlides/notesSlide36.xml" Id="R82e1ff0d9b14460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67eeb310b744b72" /><Relationship Type="http://schemas.openxmlformats.org/officeDocument/2006/relationships/notesSlide" Target="/ppt/notesSlides/notesSlide37.xml" Id="Ra5b46ed2266a428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0b9ad36aad7421a" /><Relationship Type="http://schemas.openxmlformats.org/officeDocument/2006/relationships/hyperlink" Target="Lecture13_SetMap_Java_Examples/CountOccurrenceOfWords.java" TargetMode="External" Id="R11910a08e0934b6c" /><Relationship Type="http://schemas.openxmlformats.org/officeDocument/2006/relationships/hyperlink" Target="Lecture13_SetMap_Java_Examples/MultimapDemo.java" TargetMode="External" Id="R678df3da65e249af" /><Relationship Type="http://schemas.openxmlformats.org/officeDocument/2006/relationships/hyperlink" Target="Lecture13_SetMap_Java_Examples/MyHashMap.java" TargetMode="External" Id="R56d5799a1cf146e4" /><Relationship Type="http://schemas.openxmlformats.org/officeDocument/2006/relationships/notesSlide" Target="/ppt/notesSlides/notesSlide38.xml" Id="Rb2faa56028204e1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FF081F1-0622-4C7D-9835-5613EB884C79}"/>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Sets and Maps</a:t>
            </a:r>
          </a:p>
        </p:txBody>
      </p:sp>
      <p:sp>
        <p:nvSpPr>
          <p:cNvPr id="2" name="body">
            <a:extLst xmlns:a="http://schemas.openxmlformats.org/drawingml/2006/main">
              <a:ext uri="{FF2B5EF4-FFF2-40B4-BE49-F238E27FC236}">
                <a16:creationId xmlns:a16="http://schemas.microsoft.com/office/drawing/2014/main" id="{F56B9B21-5680-41E9-95F6-1A47E1C76EC2}"/>
              </a:ext>
            </a:extLst>
          </p:cNvPr>
          <p:cNvSpPr>
            <a:spLocks xmlns:a="http://schemas.openxmlformats.org/drawingml/2006/main" noGrp="1"/>
          </p:cNvSpPr>
          <p:nvPr/>
        </p:nvSpPr>
        <p:spPr>
          <a:xfrm xmlns:a="http://schemas.openxmlformats.org/drawingml/2006/main">
            <a:off x="523875" y="195262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72D3D"/>
                </a:solidFill>
                <a:latin typeface="Arial"/>
                <a:ea typeface="Arial"/>
                <a:cs typeface="Arial"/>
              </a:defRPr>
            </a:defPPr>
            <a:lvl1pPr>
              <a:defRPr sz="2400" b="0">
                <a:solidFill>
                  <a:srgbClr val="172D3D"/>
                </a:solidFill>
                <a:latin typeface="Arial"/>
                <a:ea typeface="Arial"/>
                <a:cs typeface="Arial"/>
              </a:defRPr>
            </a:lvl1pPr>
            <a:lvl2pPr>
              <a:defRPr sz="2400" b="0">
                <a:solidFill>
                  <a:srgbClr val="172D3D"/>
                </a:solidFill>
                <a:latin typeface="Arial"/>
                <a:ea typeface="Arial"/>
                <a:cs typeface="Arial"/>
              </a:defRPr>
            </a:lvl2pPr>
            <a:lvl3pPr>
              <a:defRPr sz="2400" b="0">
                <a:solidFill>
                  <a:srgbClr val="172D3D"/>
                </a:solidFill>
                <a:latin typeface="Arial"/>
                <a:ea typeface="Arial"/>
                <a:cs typeface="Arial"/>
              </a:defRPr>
            </a:lvl3pPr>
            <a:lvl4pPr>
              <a:defRPr sz="2400" b="0">
                <a:solidFill>
                  <a:srgbClr val="172D3D"/>
                </a:solidFill>
                <a:latin typeface="Arial"/>
                <a:ea typeface="Arial"/>
                <a:cs typeface="Arial"/>
              </a:defRPr>
            </a:lvl4pPr>
            <a:lvl5pPr>
              <a:defRPr sz="2400" b="0">
                <a:solidFill>
                  <a:srgbClr val="172D3D"/>
                </a:solidFill>
                <a:latin typeface="Arial"/>
                <a:ea typeface="Arial"/>
                <a:cs typeface="Arial"/>
              </a:defRPr>
            </a:lvl5pPr>
            <a:lvl6pPr>
              <a:defRPr sz="2400" b="0">
                <a:solidFill>
                  <a:srgbClr val="172D3D"/>
                </a:solidFill>
                <a:latin typeface="Arial"/>
                <a:ea typeface="Arial"/>
                <a:cs typeface="Arial"/>
              </a:defRPr>
            </a:lvl6pPr>
            <a:lvl7pPr>
              <a:defRPr sz="2400" b="0">
                <a:solidFill>
                  <a:srgbClr val="172D3D"/>
                </a:solidFill>
                <a:latin typeface="Arial"/>
                <a:ea typeface="Arial"/>
                <a:cs typeface="Arial"/>
              </a:defRPr>
            </a:lvl7pPr>
            <a:lvl8pPr>
              <a:defRPr sz="2400" b="0">
                <a:solidFill>
                  <a:srgbClr val="172D3D"/>
                </a:solidFill>
                <a:latin typeface="Arial"/>
                <a:ea typeface="Arial"/>
                <a:cs typeface="Arial"/>
              </a:defRPr>
            </a:lvl8pPr>
            <a:lvl9pPr>
              <a:defRPr sz="2400" b="0">
                <a:solidFill>
                  <a:srgbClr val="172D3D"/>
                </a:solidFill>
                <a:latin typeface="Arial"/>
                <a:ea typeface="Arial"/>
                <a:cs typeface="Arial"/>
              </a:defRPr>
            </a:lvl9pPr>
          </a:lstStyle>
          <a:p xmlns:a="http://schemas.openxmlformats.org/drawingml/2006/main">
            <a:pPr>
              <a:defRPr sz="2400" b="0">
                <a:solidFill>
                  <a:srgbClr val="172D3D"/>
                </a:solidFill>
                <a:latin typeface="Arial"/>
                <a:ea typeface="Arial"/>
                <a:cs typeface="Arial"/>
              </a:defRPr>
            </a:pPr>
            <a:r>
              <a:rPr sz="2400" b="0">
                <a:solidFill>
                  <a:srgbClr val="172D3D"/>
                </a:solidFill>
                <a:latin typeface="Arial"/>
                <a:ea typeface="Arial"/>
                <a:cs typeface="Arial"/>
              </a:rPr>
              <a:t>COMP 182  |  Lecture 13</a:t>
            </a:r>
          </a:p>
          <a:p xmlns:a="http://schemas.openxmlformats.org/drawingml/2006/main">
            <a:r>
              <a:t/>
            </a:r>
          </a:p>
          <a:p xmlns:a="http://schemas.openxmlformats.org/drawingml/2006/main">
            <a:pPr>
              <a:defRPr sz="2400" b="0">
                <a:solidFill>
                  <a:srgbClr val="172D3D"/>
                </a:solidFill>
                <a:latin typeface="Arial"/>
                <a:ea typeface="Arial"/>
                <a:cs typeface="Arial"/>
              </a:defRPr>
            </a:pPr>
            <a:r>
              <a:rPr sz="2400" b="0">
                <a:solidFill>
                  <a:srgbClr val="172D3D"/>
                </a:solidFill>
                <a:latin typeface="Arial"/>
                <a:ea typeface="Arial"/>
                <a:cs typeface="Arial"/>
              </a:rPr>
              <a:t>Unique elements, key-value pairs,</a:t>
            </a:r>
          </a:p>
          <a:p xmlns:a="http://schemas.openxmlformats.org/drawingml/2006/main">
            <a:pPr>
              <a:defRPr sz="2400" b="0">
                <a:solidFill>
                  <a:srgbClr val="172D3D"/>
                </a:solidFill>
                <a:latin typeface="Arial"/>
                <a:ea typeface="Arial"/>
                <a:cs typeface="Arial"/>
              </a:defRPr>
            </a:pPr>
            <a:r>
              <a:rPr sz="2400" b="0">
                <a:solidFill>
                  <a:srgbClr val="172D3D"/>
                </a:solidFill>
                <a:latin typeface="Arial"/>
                <a:ea typeface="Arial"/>
                <a:cs typeface="Arial"/>
              </a:rPr>
              <a:t>and choosing a collection</a:t>
            </a:r>
          </a:p>
        </p:txBody>
      </p:sp>
      <p:sp>
        <p:nvSpPr>
          <p:cNvPr id="3" name="caption">
            <a:extLst xmlns:a="http://schemas.openxmlformats.org/drawingml/2006/main">
              <a:ext uri="{FF2B5EF4-FFF2-40B4-BE49-F238E27FC236}">
                <a16:creationId xmlns:a16="http://schemas.microsoft.com/office/drawing/2014/main" id="{8A4BDB37-3231-43FB-9D64-F41DF92E1275}"/>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Predict results. Explain the contract. Write the Java.</a:t>
            </a:r>
          </a:p>
        </p:txBody>
      </p:sp>
      <p:sp>
        <p:nvSpPr>
          <p:cNvPr id="4" name="java-TestHashSet">
            <a:extLst xmlns:a="http://schemas.openxmlformats.org/drawingml/2006/main">
              <a:ext uri="{FF2B5EF4-FFF2-40B4-BE49-F238E27FC236}">
                <a16:creationId xmlns:a16="http://schemas.microsoft.com/office/drawing/2014/main" id="{B6D6DE33-5649-42B7-9C89-B5A398ED6CDA}"/>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b0c8982cb1af4f75"/>
              </a:rPr>
              <a:t>TestHashSet.java</a:t>
            </a:r>
          </a:p>
        </p:txBody>
      </p:sp>
      <p:sp>
        <p:nvSpPr>
          <p:cNvPr id="5" name="java-TestMap">
            <a:extLst xmlns:a="http://schemas.openxmlformats.org/drawingml/2006/main">
              <a:ext uri="{FF2B5EF4-FFF2-40B4-BE49-F238E27FC236}">
                <a16:creationId xmlns:a16="http://schemas.microsoft.com/office/drawing/2014/main" id="{58468640-5DDD-4AED-8F41-D5739A1647D6}"/>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02f1e0c0f5fc4a22"/>
              </a:rPr>
              <a:t>TestMap.java</a:t>
            </a:r>
          </a:p>
        </p:txBody>
      </p:sp>
      <p:sp>
        <p:nvSpPr>
          <p:cNvPr id="6" name="footer">
            <a:extLst xmlns:a="http://schemas.openxmlformats.org/drawingml/2006/main">
              <a:ext uri="{FF2B5EF4-FFF2-40B4-BE49-F238E27FC236}">
                <a16:creationId xmlns:a16="http://schemas.microsoft.com/office/drawing/2014/main" id="{A4522360-F8FD-4D03-B26E-858F3E5DD027}"/>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BE526AF3-058B-4744-9888-3C9E9B019746}"/>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a:t>
            </a:r>
          </a:p>
        </p:txBody>
      </p:sp>
    </p:spTree>
    <p:extLst>
      <p:ext uri="{BB962C8B-B14F-4D97-AF65-F5344CB8AC3E}">
        <p14:creationId xmlns:p14="http://schemas.microsoft.com/office/powerpoint/2010/main" val="7329900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2135D56-4393-4900-8240-98EFD232F7EE}"/>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Learning goals</a:t>
            </a:r>
          </a:p>
        </p:txBody>
      </p:sp>
      <p:sp>
        <p:nvSpPr>
          <p:cNvPr id="2" name="body">
            <a:extLst xmlns:a="http://schemas.openxmlformats.org/drawingml/2006/main">
              <a:ext uri="{FF2B5EF4-FFF2-40B4-BE49-F238E27FC236}">
                <a16:creationId xmlns:a16="http://schemas.microsoft.com/office/drawing/2014/main" id="{24489F6C-183A-4E14-9C3F-ADFC42262686}"/>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Choose a Set or Map for a concrete task.</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Predict duplicate handling and iteration order.</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Use set operations and map collection views.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Build a hash-backed teaching set and map.</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Count words and group values by a key.</a:t>
            </a:r>
          </a:p>
        </p:txBody>
      </p:sp>
      <p:sp>
        <p:nvSpPr>
          <p:cNvPr id="3" name="footer">
            <a:extLst xmlns:a="http://schemas.openxmlformats.org/drawingml/2006/main">
              <a:ext uri="{FF2B5EF4-FFF2-40B4-BE49-F238E27FC236}">
                <a16:creationId xmlns:a16="http://schemas.microsoft.com/office/drawing/2014/main" id="{4E5DC8F9-3250-489C-BF37-95A96F71364F}"/>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4" name="number">
            <a:extLst xmlns:a="http://schemas.openxmlformats.org/drawingml/2006/main">
              <a:ext uri="{FF2B5EF4-FFF2-40B4-BE49-F238E27FC236}">
                <a16:creationId xmlns:a16="http://schemas.microsoft.com/office/drawing/2014/main" id="{3BB77036-1BB7-4CB5-86A6-A4097CC78125}"/>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a:t>
            </a:r>
          </a:p>
        </p:txBody>
      </p:sp>
    </p:spTree>
    <p:extLst>
      <p:ext uri="{BB962C8B-B14F-4D97-AF65-F5344CB8AC3E}">
        <p14:creationId xmlns:p14="http://schemas.microsoft.com/office/powerpoint/2010/main" val="12088148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1AEA951-4B85-473D-B673-2899201C1889}"/>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Choose the abstraction</a:t>
            </a:r>
          </a:p>
        </p:txBody>
      </p:sp>
      <p:graphicFrame>
        <p:nvGraphicFramePr>
          <p:cNvPr id="2" name="">
            <a:extLst xmlns:a="http://schemas.openxmlformats.org/drawingml/2006/main">
              <a:ext uri="{FF2B5EF4-FFF2-40B4-BE49-F238E27FC236}">
                <a16:creationId xmlns:a16="http://schemas.microsoft.com/office/drawing/2014/main" id="{7AA59C1D-8B72-480D-A6A2-D3123BF7D4A8}"/>
              </a:ext>
            </a:extLst>
          </p:cNvPr>
          <p:cNvGraphicFramePr/>
          <p:nvPr/>
        </p:nvGraphicFramePr>
        <p:xfrm>
          <a:off xmlns:a="http://schemas.openxmlformats.org/drawingml/2006/main" x="523875" y="1495425"/>
          <a:ext xmlns:a="http://schemas.openxmlformats.org/drawingml/2006/main" cx="8096250" cy="3333750"/>
        </p:xfrm>
        <a:graphic xmlns:a="http://schemas.openxmlformats.org/drawingml/2006/main">
          <a:graphicData uri="http://schemas.openxmlformats.org/drawingml/2006/table">
            <a:tbl>
              <a:tblPr/>
              <a:tblGrid>
                <a:gridCol w="3143250"/>
                <a:gridCol w="2238375"/>
                <a:gridCol w="2714625"/>
              </a:tblGrid>
              <a:tr h="666750">
                <a:tc>
                  <a:txBody>
                    <a:bodyPr/>
                    <a:lstStyle/>
                    <a:p>
                      <a:r>
                        <a:rPr sz="1650" b="1">
                          <a:solidFill>
                            <a:srgbClr val="FFFFFF"/>
                          </a:solidFill>
                          <a:latin typeface="Arial"/>
                          <a:ea typeface="Arial"/>
                          <a:cs typeface="Arial"/>
                        </a:rPr>
                        <a:t>Need</a:t>
                      </a:r>
                    </a:p>
                  </a:txBody>
                  <a:tcPr marL="95250" marR="95250" marT="95250" marB="76200">
                    <a:lnL w="5715">
                      <a:solidFill>
                        <a:srgbClr val="C4D6DF"/>
                      </a:solidFill>
                      <a:prstDash val="solid"/>
                    </a:lnL>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Abstraction</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Example</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r>
              <a:tr h="666750">
                <a:tc>
                  <a:txBody>
                    <a:bodyPr/>
                    <a:lstStyle/>
                    <a:p>
                      <a:r>
                        <a:rPr sz="1650">
                          <a:solidFill>
                            <a:srgbClr val="172D3D"/>
                          </a:solidFill>
                          <a:latin typeface="Arial"/>
                          <a:ea typeface="Arial"/>
                          <a:cs typeface="Arial"/>
                        </a:rPr>
                        <a:t>Positions and repeated items</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List&lt;E&gt;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Playlist</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Unique membership</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Set&lt;E&gt;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Enrolled student IDs</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Lookup by a key</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Map&lt;K,V&gt;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ID to student record</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Many values per key</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Map&lt;K,Set&lt;V&gt;&gt;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Course to student IDs</a:t>
                      </a:r>
                    </a:p>
                  </a:txBody>
                  <a:tcPr marL="95250" marR="95250" marT="95250" marB="76200">
                    <a:lnR w="5715">
                      <a:solidFill>
                        <a:srgbClr val="C4D6DF"/>
                      </a:solidFill>
                      <a:prstDash val="solid"/>
                    </a:lnR>
                    <a:lnB w="5715">
                      <a:solidFill>
                        <a:srgbClr val="C4D6DF"/>
                      </a:solidFill>
                      <a:prstDash val="solid"/>
                    </a:lnB>
                    <a:solidFill>
                      <a:srgbClr val="F1F6F8"/>
                    </a:solidFill>
                  </a:tcPr>
                </a:tc>
              </a:tr>
            </a:tbl>
          </a:graphicData>
        </a:graphic>
      </p:graphicFrame>
      <p:sp>
        <p:nvSpPr>
          <p:cNvPr id="3" name="caption">
            <a:extLst xmlns:a="http://schemas.openxmlformats.org/drawingml/2006/main">
              <a:ext uri="{FF2B5EF4-FFF2-40B4-BE49-F238E27FC236}">
                <a16:creationId xmlns:a16="http://schemas.microsoft.com/office/drawing/2014/main" id="{DC2251CA-B009-4866-8B9E-D8F13CD3F4F6}"/>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Set extends Collection. Map is a separate interface.</a:t>
            </a:r>
          </a:p>
        </p:txBody>
      </p:sp>
      <p:sp>
        <p:nvSpPr>
          <p:cNvPr id="4" name="footer">
            <a:extLst xmlns:a="http://schemas.openxmlformats.org/drawingml/2006/main">
              <a:ext uri="{FF2B5EF4-FFF2-40B4-BE49-F238E27FC236}">
                <a16:creationId xmlns:a16="http://schemas.microsoft.com/office/drawing/2014/main" id="{05376434-988D-4F5F-B140-D0C3F8EA107E}"/>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5" name="number">
            <a:extLst xmlns:a="http://schemas.openxmlformats.org/drawingml/2006/main">
              <a:ext uri="{FF2B5EF4-FFF2-40B4-BE49-F238E27FC236}">
                <a16:creationId xmlns:a16="http://schemas.microsoft.com/office/drawing/2014/main" id="{BAD27A0D-990E-4D01-9BC8-B629847ACAEC}"/>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3</a:t>
            </a:r>
          </a:p>
        </p:txBody>
      </p:sp>
    </p:spTree>
    <p:extLst>
      <p:ext uri="{BB962C8B-B14F-4D97-AF65-F5344CB8AC3E}">
        <p14:creationId xmlns:p14="http://schemas.microsoft.com/office/powerpoint/2010/main" val="7409878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F6D817C-C7B8-4A1D-8C8B-4D33A4DBA32D}"/>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The Set contract</a:t>
            </a:r>
          </a:p>
        </p:txBody>
      </p:sp>
      <p:sp>
        <p:nvSpPr>
          <p:cNvPr id="2" name="body">
            <a:extLst xmlns:a="http://schemas.openxmlformats.org/drawingml/2006/main">
              <a:ext uri="{FF2B5EF4-FFF2-40B4-BE49-F238E27FC236}">
                <a16:creationId xmlns:a16="http://schemas.microsoft.com/office/drawing/2014/main" id="{FC19CF76-E8A0-4E8A-A2C7-275F42E8B953}"/>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A set stores distinct elements.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add(e) changes the set only when e is absent.</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Set equality depends on members, not order.</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Iteration order depends on the implementation.</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HashSet, LinkedHashSet, and TreeSet differ.</a:t>
            </a:r>
          </a:p>
        </p:txBody>
      </p:sp>
      <p:sp>
        <p:nvSpPr>
          <p:cNvPr id="3" name="caption">
            <a:extLst xmlns:a="http://schemas.openxmlformats.org/drawingml/2006/main">
              <a:ext uri="{FF2B5EF4-FFF2-40B4-BE49-F238E27FC236}">
                <a16:creationId xmlns:a16="http://schemas.microsoft.com/office/drawing/2014/main" id="{C541DF78-2410-43AF-8DF7-C00765BC60C0}"/>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“No duplicates” does not mean “always unordered.”</a:t>
            </a:r>
          </a:p>
        </p:txBody>
      </p:sp>
      <p:sp>
        <p:nvSpPr>
          <p:cNvPr id="4" name="java-TestHashSet">
            <a:extLst xmlns:a="http://schemas.openxmlformats.org/drawingml/2006/main">
              <a:ext uri="{FF2B5EF4-FFF2-40B4-BE49-F238E27FC236}">
                <a16:creationId xmlns:a16="http://schemas.microsoft.com/office/drawing/2014/main" id="{D7FD7AD1-9C1C-4CAC-AAE5-E5B8779FB240}"/>
              </a:ext>
            </a:extLst>
          </p:cNvPr>
          <p:cNvSpPr>
            <a:spLocks xmlns:a="http://schemas.openxmlformats.org/drawingml/2006/main" noGrp="1"/>
          </p:cNvSpPr>
          <p:nvPr/>
        </p:nvSpPr>
        <p:spPr>
          <a:xfrm xmlns:a="http://schemas.openxmlformats.org/drawingml/2006/main">
            <a:off x="523875" y="615315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bc5a10cb25354a14"/>
              </a:rPr>
              <a:t>TestHashSet.java</a:t>
            </a:r>
          </a:p>
        </p:txBody>
      </p:sp>
      <p:sp>
        <p:nvSpPr>
          <p:cNvPr id="5" name="java-TestLinkedHashSet">
            <a:extLst xmlns:a="http://schemas.openxmlformats.org/drawingml/2006/main">
              <a:ext uri="{FF2B5EF4-FFF2-40B4-BE49-F238E27FC236}">
                <a16:creationId xmlns:a16="http://schemas.microsoft.com/office/drawing/2014/main" id="{4329A62E-0DF7-4B05-A166-3529FBC6B93B}"/>
              </a:ext>
            </a:extLst>
          </p:cNvPr>
          <p:cNvSpPr>
            <a:spLocks xmlns:a="http://schemas.openxmlformats.org/drawingml/2006/main" noGrp="1"/>
          </p:cNvSpPr>
          <p:nvPr/>
        </p:nvSpPr>
        <p:spPr>
          <a:xfrm xmlns:a="http://schemas.openxmlformats.org/drawingml/2006/main">
            <a:off x="3219450" y="615315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f637a7460893486e"/>
              </a:rPr>
              <a:t>TestLinkedHashSet.java</a:t>
            </a:r>
          </a:p>
        </p:txBody>
      </p:sp>
      <p:sp>
        <p:nvSpPr>
          <p:cNvPr id="6" name="java-TestTreeSet">
            <a:extLst xmlns:a="http://schemas.openxmlformats.org/drawingml/2006/main">
              <a:ext uri="{FF2B5EF4-FFF2-40B4-BE49-F238E27FC236}">
                <a16:creationId xmlns:a16="http://schemas.microsoft.com/office/drawing/2014/main" id="{1DE94509-8AB0-40A4-8177-39B58145B53B}"/>
              </a:ext>
            </a:extLst>
          </p:cNvPr>
          <p:cNvSpPr>
            <a:spLocks xmlns:a="http://schemas.openxmlformats.org/drawingml/2006/main" noGrp="1"/>
          </p:cNvSpPr>
          <p:nvPr/>
        </p:nvSpPr>
        <p:spPr>
          <a:xfrm xmlns:a="http://schemas.openxmlformats.org/drawingml/2006/main">
            <a:off x="5915025" y="615315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86569e095e8c4c21"/>
              </a:rPr>
              <a:t>TestTreeSet.java</a:t>
            </a:r>
          </a:p>
        </p:txBody>
      </p:sp>
      <p:sp>
        <p:nvSpPr>
          <p:cNvPr id="7" name="footer">
            <a:extLst xmlns:a="http://schemas.openxmlformats.org/drawingml/2006/main">
              <a:ext uri="{FF2B5EF4-FFF2-40B4-BE49-F238E27FC236}">
                <a16:creationId xmlns:a16="http://schemas.microsoft.com/office/drawing/2014/main" id="{A8F66DF6-CB7D-4F13-B6E2-A341167D8005}"/>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8" name="number">
            <a:extLst xmlns:a="http://schemas.openxmlformats.org/drawingml/2006/main">
              <a:ext uri="{FF2B5EF4-FFF2-40B4-BE49-F238E27FC236}">
                <a16:creationId xmlns:a16="http://schemas.microsoft.com/office/drawing/2014/main" id="{CE279257-55EA-4A69-B17B-A20B75C5D85F}"/>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4</a:t>
            </a:r>
          </a:p>
        </p:txBody>
      </p:sp>
    </p:spTree>
    <p:extLst>
      <p:ext uri="{BB962C8B-B14F-4D97-AF65-F5344CB8AC3E}">
        <p14:creationId xmlns:p14="http://schemas.microsoft.com/office/powerpoint/2010/main" val="20009385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3687E02-5041-4F77-B171-B388A6CF461E}"/>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Everyday Set operations</a:t>
            </a:r>
          </a:p>
        </p:txBody>
      </p:sp>
      <p:graphicFrame>
        <p:nvGraphicFramePr>
          <p:cNvPr id="2" name="">
            <a:extLst xmlns:a="http://schemas.openxmlformats.org/drawingml/2006/main">
              <a:ext uri="{FF2B5EF4-FFF2-40B4-BE49-F238E27FC236}">
                <a16:creationId xmlns:a16="http://schemas.microsoft.com/office/drawing/2014/main" id="{6CC34C6E-F61A-49BD-A6A3-2E6D919C45C9}"/>
              </a:ext>
            </a:extLst>
          </p:cNvPr>
          <p:cNvGraphicFramePr/>
          <p:nvPr/>
        </p:nvGraphicFramePr>
        <p:xfrm>
          <a:off xmlns:a="http://schemas.openxmlformats.org/drawingml/2006/main" x="523875" y="1495425"/>
          <a:ext xmlns:a="http://schemas.openxmlformats.org/drawingml/2006/main" cx="8096250" cy="3333750"/>
        </p:xfrm>
        <a:graphic xmlns:a="http://schemas.openxmlformats.org/drawingml/2006/main">
          <a:graphicData uri="http://schemas.openxmlformats.org/drawingml/2006/table">
            <a:tbl>
              <a:tblPr/>
              <a:tblGrid>
                <a:gridCol w="2857500"/>
                <a:gridCol w="5238750"/>
              </a:tblGrid>
              <a:tr h="555625">
                <a:tc>
                  <a:txBody>
                    <a:bodyPr/>
                    <a:lstStyle/>
                    <a:p>
                      <a:r>
                        <a:rPr sz="1800" b="1">
                          <a:solidFill>
                            <a:srgbClr val="FFFFFF"/>
                          </a:solidFill>
                          <a:latin typeface="Arial"/>
                          <a:ea typeface="Arial"/>
                          <a:cs typeface="Arial"/>
                        </a:rPr>
                        <a:t>Operation</a:t>
                      </a:r>
                    </a:p>
                  </a:txBody>
                  <a:tcPr marL="95250" marR="95250" marT="95250" marB="76200">
                    <a:lnL w="5715">
                      <a:solidFill>
                        <a:srgbClr val="C4D6DF"/>
                      </a:solidFill>
                      <a:prstDash val="solid"/>
                    </a:lnL>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800" b="1">
                          <a:solidFill>
                            <a:srgbClr val="FFFFFF"/>
                          </a:solidFill>
                          <a:latin typeface="Arial"/>
                          <a:ea typeface="Arial"/>
                          <a:cs typeface="Arial"/>
                        </a:rPr>
                        <a:t>Result or effect</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r>
              <a:tr h="555625">
                <a:tc>
                  <a:txBody>
                    <a:bodyPr/>
                    <a:lstStyle/>
                    <a:p>
                      <a:r>
                        <a:rPr sz="1800">
                          <a:solidFill>
                            <a:srgbClr val="172D3D"/>
                          </a:solidFill>
                          <a:latin typeface="Arial"/>
                          <a:ea typeface="Arial"/>
                          <a:cs typeface="Arial"/>
                        </a:rPr>
                        <a:t>add(e)</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true if membership changes</a:t>
                      </a:r>
                    </a:p>
                  </a:txBody>
                  <a:tcPr marL="95250" marR="95250" marT="95250" marB="76200">
                    <a:lnR w="5715">
                      <a:solidFill>
                        <a:srgbClr val="C4D6DF"/>
                      </a:solidFill>
                      <a:prstDash val="solid"/>
                    </a:lnR>
                    <a:lnB w="5715">
                      <a:solidFill>
                        <a:srgbClr val="C4D6DF"/>
                      </a:solidFill>
                      <a:prstDash val="solid"/>
                    </a:lnB>
                    <a:solidFill>
                      <a:srgbClr val="F1F6F8"/>
                    </a:solidFill>
                  </a:tcPr>
                </a:tc>
              </a:tr>
              <a:tr h="555625">
                <a:tc>
                  <a:txBody>
                    <a:bodyPr/>
                    <a:lstStyle/>
                    <a:p>
                      <a:r>
                        <a:rPr sz="1800">
                          <a:solidFill>
                            <a:srgbClr val="172D3D"/>
                          </a:solidFill>
                          <a:latin typeface="Arial"/>
                          <a:ea typeface="Arial"/>
                          <a:cs typeface="Arial"/>
                        </a:rPr>
                        <a:t>contains(e)</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true if an equal member is present</a:t>
                      </a:r>
                    </a:p>
                  </a:txBody>
                  <a:tcPr marL="95250" marR="95250" marT="95250" marB="76200">
                    <a:lnR w="5715">
                      <a:solidFill>
                        <a:srgbClr val="C4D6DF"/>
                      </a:solidFill>
                      <a:prstDash val="solid"/>
                    </a:lnR>
                    <a:lnB w="5715">
                      <a:solidFill>
                        <a:srgbClr val="C4D6DF"/>
                      </a:solidFill>
                      <a:prstDash val="solid"/>
                    </a:lnB>
                    <a:solidFill>
                      <a:srgbClr val="F1F6F8"/>
                    </a:solidFill>
                  </a:tcPr>
                </a:tc>
              </a:tr>
              <a:tr h="555625">
                <a:tc>
                  <a:txBody>
                    <a:bodyPr/>
                    <a:lstStyle/>
                    <a:p>
                      <a:r>
                        <a:rPr sz="1800">
                          <a:solidFill>
                            <a:srgbClr val="172D3D"/>
                          </a:solidFill>
                          <a:latin typeface="Arial"/>
                          <a:ea typeface="Arial"/>
                          <a:cs typeface="Arial"/>
                        </a:rPr>
                        <a:t>remove(e)</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true if a member is removed</a:t>
                      </a:r>
                    </a:p>
                  </a:txBody>
                  <a:tcPr marL="95250" marR="95250" marT="95250" marB="76200">
                    <a:lnR w="5715">
                      <a:solidFill>
                        <a:srgbClr val="C4D6DF"/>
                      </a:solidFill>
                      <a:prstDash val="solid"/>
                    </a:lnR>
                    <a:lnB w="5715">
                      <a:solidFill>
                        <a:srgbClr val="C4D6DF"/>
                      </a:solidFill>
                      <a:prstDash val="solid"/>
                    </a:lnB>
                    <a:solidFill>
                      <a:srgbClr val="F1F6F8"/>
                    </a:solidFill>
                  </a:tcPr>
                </a:tc>
              </a:tr>
              <a:tr h="555625">
                <a:tc>
                  <a:txBody>
                    <a:bodyPr/>
                    <a:lstStyle/>
                    <a:p>
                      <a:r>
                        <a:rPr sz="1800">
                          <a:solidFill>
                            <a:srgbClr val="172D3D"/>
                          </a:solidFill>
                          <a:latin typeface="Arial"/>
                          <a:ea typeface="Arial"/>
                          <a:cs typeface="Arial"/>
                        </a:rPr>
                        <a:t>size() / isEmpty()</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Member count / emptiness</a:t>
                      </a:r>
                    </a:p>
                  </a:txBody>
                  <a:tcPr marL="95250" marR="95250" marT="95250" marB="76200">
                    <a:lnR w="5715">
                      <a:solidFill>
                        <a:srgbClr val="C4D6DF"/>
                      </a:solidFill>
                      <a:prstDash val="solid"/>
                    </a:lnR>
                    <a:lnB w="5715">
                      <a:solidFill>
                        <a:srgbClr val="C4D6DF"/>
                      </a:solidFill>
                      <a:prstDash val="solid"/>
                    </a:lnB>
                    <a:solidFill>
                      <a:srgbClr val="F1F6F8"/>
                    </a:solidFill>
                  </a:tcPr>
                </a:tc>
              </a:tr>
              <a:tr h="555625">
                <a:tc>
                  <a:txBody>
                    <a:bodyPr/>
                    <a:lstStyle/>
                    <a:p>
                      <a:r>
                        <a:rPr sz="1800">
                          <a:solidFill>
                            <a:srgbClr val="172D3D"/>
                          </a:solidFill>
                          <a:latin typeface="Arial"/>
                          <a:ea typeface="Arial"/>
                          <a:cs typeface="Arial"/>
                        </a:rPr>
                        <a:t>iterator() / for-each</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Visit the members</a:t>
                      </a:r>
                    </a:p>
                  </a:txBody>
                  <a:tcPr marL="95250" marR="95250" marT="95250" marB="76200">
                    <a:lnR w="5715">
                      <a:solidFill>
                        <a:srgbClr val="C4D6DF"/>
                      </a:solidFill>
                      <a:prstDash val="solid"/>
                    </a:lnR>
                    <a:lnB w="5715">
                      <a:solidFill>
                        <a:srgbClr val="C4D6DF"/>
                      </a:solidFill>
                      <a:prstDash val="solid"/>
                    </a:lnB>
                    <a:solidFill>
                      <a:srgbClr val="F1F6F8"/>
                    </a:solidFill>
                  </a:tcPr>
                </a:tc>
              </a:tr>
            </a:tbl>
          </a:graphicData>
        </a:graphic>
      </p:graphicFrame>
      <p:sp>
        <p:nvSpPr>
          <p:cNvPr id="3" name="caption">
            <a:extLst xmlns:a="http://schemas.openxmlformats.org/drawingml/2006/main">
              <a:ext uri="{FF2B5EF4-FFF2-40B4-BE49-F238E27FC236}">
                <a16:creationId xmlns:a16="http://schemas.microsoft.com/office/drawing/2014/main" id="{58076D6E-91FB-435F-8F13-98FF21867B6E}"/>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Set&lt;Integer&gt; stores wrapper objects; int values are autoboxed.</a:t>
            </a:r>
          </a:p>
        </p:txBody>
      </p:sp>
      <p:sp>
        <p:nvSpPr>
          <p:cNvPr id="4" name="java-TestHashSet">
            <a:extLst xmlns:a="http://schemas.openxmlformats.org/drawingml/2006/main">
              <a:ext uri="{FF2B5EF4-FFF2-40B4-BE49-F238E27FC236}">
                <a16:creationId xmlns:a16="http://schemas.microsoft.com/office/drawing/2014/main" id="{4D17CD53-B4E5-40BF-A494-EAAFF628AB68}"/>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95150821681748e0"/>
              </a:rPr>
              <a:t>TestHashSet.java</a:t>
            </a:r>
          </a:p>
        </p:txBody>
      </p:sp>
      <p:sp>
        <p:nvSpPr>
          <p:cNvPr id="5" name="footer">
            <a:extLst xmlns:a="http://schemas.openxmlformats.org/drawingml/2006/main">
              <a:ext uri="{FF2B5EF4-FFF2-40B4-BE49-F238E27FC236}">
                <a16:creationId xmlns:a16="http://schemas.microsoft.com/office/drawing/2014/main" id="{B6759419-E45C-4FF0-8614-2B043E14424D}"/>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49543118-B768-4AE4-AD57-AD17B6FDAC6F}"/>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5</a:t>
            </a:r>
          </a:p>
        </p:txBody>
      </p:sp>
    </p:spTree>
    <p:extLst>
      <p:ext uri="{BB962C8B-B14F-4D97-AF65-F5344CB8AC3E}">
        <p14:creationId xmlns:p14="http://schemas.microsoft.com/office/powerpoint/2010/main" val="17179810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22B341F-6A65-489C-955A-BB9A372EFE07}"/>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Quiz: predict the membership</a:t>
            </a:r>
          </a:p>
        </p:txBody>
      </p:sp>
      <p:sp>
        <p:nvSpPr>
          <p:cNvPr id="2" name="code">
            <a:extLst xmlns:a="http://schemas.openxmlformats.org/drawingml/2006/main">
              <a:ext uri="{FF2B5EF4-FFF2-40B4-BE49-F238E27FC236}">
                <a16:creationId xmlns:a16="http://schemas.microsoft.com/office/drawing/2014/main" id="{146CA858-1C40-486B-870D-D869302D1912}"/>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Set&lt;Integer&gt; s = new HashSet&lt;&gt;();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System.out.println(s.add(28));</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System.out.println(s.add(78));</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System.out.println(s.add(28));</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System.out.println(s.size());</a:t>
            </a:r>
          </a:p>
        </p:txBody>
      </p:sp>
      <p:sp>
        <p:nvSpPr>
          <p:cNvPr id="3" name="caption">
            <a:extLst xmlns:a="http://schemas.openxmlformats.org/drawingml/2006/main">
              <a:ext uri="{FF2B5EF4-FFF2-40B4-BE49-F238E27FC236}">
                <a16:creationId xmlns:a16="http://schemas.microsoft.com/office/drawing/2014/main" id="{1D7AB7BF-E97D-4CAC-9915-E4BE77D3635C}"/>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What prints? Can you predict the iteration order?</a:t>
            </a:r>
          </a:p>
        </p:txBody>
      </p:sp>
      <p:sp>
        <p:nvSpPr>
          <p:cNvPr id="4" name="java-SetMembershipQuiz">
            <a:extLst xmlns:a="http://schemas.openxmlformats.org/drawingml/2006/main">
              <a:ext uri="{FF2B5EF4-FFF2-40B4-BE49-F238E27FC236}">
                <a16:creationId xmlns:a16="http://schemas.microsoft.com/office/drawing/2014/main" id="{74FB7E99-48A2-4626-A9DF-48168A9510FB}"/>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e6bc9019c9ce4092"/>
              </a:rPr>
              <a:t>SetMembershipQuiz.java</a:t>
            </a:r>
          </a:p>
        </p:txBody>
      </p:sp>
      <p:sp>
        <p:nvSpPr>
          <p:cNvPr id="5" name="footer">
            <a:extLst xmlns:a="http://schemas.openxmlformats.org/drawingml/2006/main">
              <a:ext uri="{FF2B5EF4-FFF2-40B4-BE49-F238E27FC236}">
                <a16:creationId xmlns:a16="http://schemas.microsoft.com/office/drawing/2014/main" id="{EDFF2B51-3CE8-412A-BDD9-34531A443E3A}"/>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2F8D75FD-77DF-4B0D-B9F8-3E72F34FDC55}"/>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6</a:t>
            </a:r>
          </a:p>
        </p:txBody>
      </p:sp>
    </p:spTree>
    <p:extLst>
      <p:ext uri="{BB962C8B-B14F-4D97-AF65-F5344CB8AC3E}">
        <p14:creationId xmlns:p14="http://schemas.microsoft.com/office/powerpoint/2010/main" val="19678990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2D171AC-3284-446B-9AA9-A5A3B52F9F51}"/>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HashSet and an Iterator</a:t>
            </a:r>
          </a:p>
        </p:txBody>
      </p:sp>
      <p:sp>
        <p:nvSpPr>
          <p:cNvPr id="2" name="code">
            <a:extLst xmlns:a="http://schemas.openxmlformats.org/drawingml/2006/main">
              <a:ext uri="{FF2B5EF4-FFF2-40B4-BE49-F238E27FC236}">
                <a16:creationId xmlns:a16="http://schemas.microsoft.com/office/drawing/2014/main" id="{7124C877-92D2-49EE-8F32-9B53E4C5CDDE}"/>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Set&lt;String&gt; names = new HashSet&lt;&gt;();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names.add("Mia");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names.add("Ada");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names.add("Mia");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Iterator&lt;String&gt; it = names.iterator();</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while (it.hasNext())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if (it.next().startsWith("M"))</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it.remove();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System.out.println(names); // [Ada]</a:t>
            </a:r>
          </a:p>
        </p:txBody>
      </p:sp>
      <p:sp>
        <p:nvSpPr>
          <p:cNvPr id="3" name="caption">
            <a:extLst xmlns:a="http://schemas.openxmlformats.org/drawingml/2006/main">
              <a:ext uri="{FF2B5EF4-FFF2-40B4-BE49-F238E27FC236}">
                <a16:creationId xmlns:a16="http://schemas.microsoft.com/office/drawing/2014/main" id="{A1177736-B62C-4F91-9FF8-81BBCA7346E0}"/>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Use the iterator’s remove while traversing a mutable set.</a:t>
            </a:r>
          </a:p>
        </p:txBody>
      </p:sp>
      <p:sp>
        <p:nvSpPr>
          <p:cNvPr id="4" name="java-TestHashSet">
            <a:extLst xmlns:a="http://schemas.openxmlformats.org/drawingml/2006/main">
              <a:ext uri="{FF2B5EF4-FFF2-40B4-BE49-F238E27FC236}">
                <a16:creationId xmlns:a16="http://schemas.microsoft.com/office/drawing/2014/main" id="{AC69FB68-258F-4CD5-83A7-5AE52B39D8D0}"/>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ee2055f7ed4c448c"/>
              </a:rPr>
              <a:t>TestHashSet.java</a:t>
            </a:r>
          </a:p>
        </p:txBody>
      </p:sp>
      <p:sp>
        <p:nvSpPr>
          <p:cNvPr id="5" name="footer">
            <a:extLst xmlns:a="http://schemas.openxmlformats.org/drawingml/2006/main">
              <a:ext uri="{FF2B5EF4-FFF2-40B4-BE49-F238E27FC236}">
                <a16:creationId xmlns:a16="http://schemas.microsoft.com/office/drawing/2014/main" id="{014C829F-0F9E-44C8-87D4-21DDDE598668}"/>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6F45E3DD-1F6F-419E-93CF-475145666D61}"/>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7</a:t>
            </a:r>
          </a:p>
        </p:txBody>
      </p:sp>
    </p:spTree>
    <p:extLst>
      <p:ext uri="{BB962C8B-B14F-4D97-AF65-F5344CB8AC3E}">
        <p14:creationId xmlns:p14="http://schemas.microsoft.com/office/powerpoint/2010/main" val="604421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B40ED68-409D-45FD-8EC7-65F8549C8FE6}"/>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Object identity and equality</a:t>
            </a:r>
          </a:p>
        </p:txBody>
      </p:sp>
      <p:sp>
        <p:nvSpPr>
          <p:cNvPr id="2" name="code">
            <a:extLst xmlns:a="http://schemas.openxmlformats.org/drawingml/2006/main">
              <a:ext uri="{FF2B5EF4-FFF2-40B4-BE49-F238E27FC236}">
                <a16:creationId xmlns:a16="http://schemas.microsoft.com/office/drawing/2014/main" id="{53856855-84C7-4997-8C7D-853145D60D03}"/>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StudentKey a = new StudentKey("S101");</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StudentKey b = new StudentKey("S101");</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System.out.println(a == b);       // false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System.out.println(a.equals(b));  // true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Set&lt;StudentKey&gt; students = new HashSet&lt;&gt;();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students.add(a);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students.add(b);</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System.out.println(students.size()); // 1</a:t>
            </a:r>
          </a:p>
        </p:txBody>
      </p:sp>
      <p:sp>
        <p:nvSpPr>
          <p:cNvPr id="3" name="caption">
            <a:extLst xmlns:a="http://schemas.openxmlformats.org/drawingml/2006/main">
              <a:ext uri="{FF2B5EF4-FFF2-40B4-BE49-F238E27FC236}">
                <a16:creationId xmlns:a16="http://schemas.microsoft.com/office/drawing/2014/main" id="{E5AF0E4D-F26B-4571-AF49-C8F180EB6EE0}"/>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StudentKey is an immutable record whose ID defines equality.</a:t>
            </a:r>
          </a:p>
        </p:txBody>
      </p:sp>
      <p:sp>
        <p:nvSpPr>
          <p:cNvPr id="4" name="java-StudentKey">
            <a:extLst xmlns:a="http://schemas.openxmlformats.org/drawingml/2006/main">
              <a:ext uri="{FF2B5EF4-FFF2-40B4-BE49-F238E27FC236}">
                <a16:creationId xmlns:a16="http://schemas.microsoft.com/office/drawing/2014/main" id="{07F98C56-6085-49C2-BFB0-50993D051B0A}"/>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87a2146cfd6a46fa"/>
              </a:rPr>
              <a:t>StudentKey.java</a:t>
            </a:r>
          </a:p>
        </p:txBody>
      </p:sp>
      <p:sp>
        <p:nvSpPr>
          <p:cNvPr id="5" name="java-EqualityDemo">
            <a:extLst xmlns:a="http://schemas.openxmlformats.org/drawingml/2006/main">
              <a:ext uri="{FF2B5EF4-FFF2-40B4-BE49-F238E27FC236}">
                <a16:creationId xmlns:a16="http://schemas.microsoft.com/office/drawing/2014/main" id="{31F8646E-D405-4568-9101-49075125CE67}"/>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258707282faf4e27"/>
              </a:rPr>
              <a:t>EqualityDemo.java</a:t>
            </a:r>
          </a:p>
        </p:txBody>
      </p:sp>
      <p:sp>
        <p:nvSpPr>
          <p:cNvPr id="6" name="footer">
            <a:extLst xmlns:a="http://schemas.openxmlformats.org/drawingml/2006/main">
              <a:ext uri="{FF2B5EF4-FFF2-40B4-BE49-F238E27FC236}">
                <a16:creationId xmlns:a16="http://schemas.microsoft.com/office/drawing/2014/main" id="{97CE6083-E8CF-4937-9306-32DF5120629B}"/>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75D8DD46-583F-4A22-9BC1-D20E1B5615E0}"/>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8</a:t>
            </a:r>
          </a:p>
        </p:txBody>
      </p:sp>
    </p:spTree>
    <p:extLst>
      <p:ext uri="{BB962C8B-B14F-4D97-AF65-F5344CB8AC3E}">
        <p14:creationId xmlns:p14="http://schemas.microsoft.com/office/powerpoint/2010/main" val="17248719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F65A81E-5F7A-4C8C-8172-91F1E2899F21}"/>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Hashing rules for elements and keys</a:t>
            </a:r>
          </a:p>
        </p:txBody>
      </p:sp>
      <p:sp>
        <p:nvSpPr>
          <p:cNvPr id="2" name="body">
            <a:extLst xmlns:a="http://schemas.openxmlformats.org/drawingml/2006/main">
              <a:ext uri="{FF2B5EF4-FFF2-40B4-BE49-F238E27FC236}">
                <a16:creationId xmlns:a16="http://schemas.microsoft.com/office/drawing/2014/main" id="{A93795A5-CA5E-4266-B96D-E3CC12D43532}"/>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Equal objects must have equal hash codes.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Unequal objects may share a hash code.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Do not change equality-relevant fields</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while an object is stored as a set member or map key.</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Use stable IDs; keep editable details in map values.</a:t>
            </a:r>
          </a:p>
        </p:txBody>
      </p:sp>
      <p:sp>
        <p:nvSpPr>
          <p:cNvPr id="3" name="java-StudentKey">
            <a:extLst xmlns:a="http://schemas.openxmlformats.org/drawingml/2006/main">
              <a:ext uri="{FF2B5EF4-FFF2-40B4-BE49-F238E27FC236}">
                <a16:creationId xmlns:a16="http://schemas.microsoft.com/office/drawing/2014/main" id="{6E0041ED-73E9-4BB3-AE35-A9802C59D402}"/>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8810a39eb5c8418a"/>
              </a:rPr>
              <a:t>StudentKey.java</a:t>
            </a:r>
          </a:p>
        </p:txBody>
      </p:sp>
      <p:sp>
        <p:nvSpPr>
          <p:cNvPr id="4" name="java-EqualityDemo">
            <a:extLst xmlns:a="http://schemas.openxmlformats.org/drawingml/2006/main">
              <a:ext uri="{FF2B5EF4-FFF2-40B4-BE49-F238E27FC236}">
                <a16:creationId xmlns:a16="http://schemas.microsoft.com/office/drawing/2014/main" id="{0AE22BF4-A3D2-4A95-871A-25C6E6808A3B}"/>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4279d1cef1564988"/>
              </a:rPr>
              <a:t>EqualityDemo.java</a:t>
            </a:r>
          </a:p>
        </p:txBody>
      </p:sp>
      <p:sp>
        <p:nvSpPr>
          <p:cNvPr id="5" name="footer">
            <a:extLst xmlns:a="http://schemas.openxmlformats.org/drawingml/2006/main">
              <a:ext uri="{FF2B5EF4-FFF2-40B4-BE49-F238E27FC236}">
                <a16:creationId xmlns:a16="http://schemas.microsoft.com/office/drawing/2014/main" id="{7570E3C6-5532-42DD-9B0D-350D03A72394}"/>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252E8156-F2C3-48AA-9C41-274E296F1FF7}"/>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9</a:t>
            </a:r>
          </a:p>
        </p:txBody>
      </p:sp>
    </p:spTree>
    <p:extLst>
      <p:ext uri="{BB962C8B-B14F-4D97-AF65-F5344CB8AC3E}">
        <p14:creationId xmlns:p14="http://schemas.microsoft.com/office/powerpoint/2010/main" val="21224435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B0D7A05-39F9-4447-89CE-703385A0994C}"/>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LinkedHashSet preserves insertion order</a:t>
            </a:r>
          </a:p>
        </p:txBody>
      </p:sp>
      <p:sp>
        <p:nvSpPr>
          <p:cNvPr id="2" name="code">
            <a:extLst xmlns:a="http://schemas.openxmlformats.org/drawingml/2006/main">
              <a:ext uri="{FF2B5EF4-FFF2-40B4-BE49-F238E27FC236}">
                <a16:creationId xmlns:a16="http://schemas.microsoft.com/office/drawing/2014/main" id="{25F4FFD0-67AA-428D-A160-8926996A908E}"/>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Set&lt;String&gt; names = new LinkedHashSet&lt;&gt;();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names.add("Mia");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names.add("Ada");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names.add("Mia");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System.out.println(names); // [Mia, Ada]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names.remove("Mia");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names.add("Mia");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System.out.println(names); // [Ada, Mia]</a:t>
            </a:r>
          </a:p>
        </p:txBody>
      </p:sp>
      <p:sp>
        <p:nvSpPr>
          <p:cNvPr id="3" name="caption">
            <a:extLst xmlns:a="http://schemas.openxmlformats.org/drawingml/2006/main">
              <a:ext uri="{FF2B5EF4-FFF2-40B4-BE49-F238E27FC236}">
                <a16:creationId xmlns:a16="http://schemas.microsoft.com/office/drawing/2014/main" id="{59EB1098-CF99-4649-B00E-BD6B11745ACE}"/>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A duplicate add keeps its position. Remove then add moves it.</a:t>
            </a:r>
          </a:p>
        </p:txBody>
      </p:sp>
      <p:sp>
        <p:nvSpPr>
          <p:cNvPr id="4" name="java-TestLinkedHashSet">
            <a:extLst xmlns:a="http://schemas.openxmlformats.org/drawingml/2006/main">
              <a:ext uri="{FF2B5EF4-FFF2-40B4-BE49-F238E27FC236}">
                <a16:creationId xmlns:a16="http://schemas.microsoft.com/office/drawing/2014/main" id="{D696978B-735A-4046-984D-A1378FE3C643}"/>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c2cd867663de4a89"/>
              </a:rPr>
              <a:t>TestLinkedHashSet.java</a:t>
            </a:r>
          </a:p>
        </p:txBody>
      </p:sp>
      <p:sp>
        <p:nvSpPr>
          <p:cNvPr id="5" name="footer">
            <a:extLst xmlns:a="http://schemas.openxmlformats.org/drawingml/2006/main">
              <a:ext uri="{FF2B5EF4-FFF2-40B4-BE49-F238E27FC236}">
                <a16:creationId xmlns:a16="http://schemas.microsoft.com/office/drawing/2014/main" id="{C0A3B5A4-0ECF-452B-9DE8-0CF9CBF098F5}"/>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364CB694-CBCE-4841-B165-6BFC27F45EC1}"/>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10</a:t>
            </a:r>
          </a:p>
        </p:txBody>
      </p:sp>
    </p:spTree>
    <p:extLst>
      <p:ext uri="{BB962C8B-B14F-4D97-AF65-F5344CB8AC3E}">
        <p14:creationId xmlns:p14="http://schemas.microsoft.com/office/powerpoint/2010/main" val="10916023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C56469C-D903-4786-9DE4-68306A6D5071}"/>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TreeSet keeps elements sorted</a:t>
            </a:r>
          </a:p>
        </p:txBody>
      </p:sp>
      <p:sp>
        <p:nvSpPr>
          <p:cNvPr id="2" name="code">
            <a:extLst xmlns:a="http://schemas.openxmlformats.org/drawingml/2006/main">
              <a:ext uri="{FF2B5EF4-FFF2-40B4-BE49-F238E27FC236}">
                <a16:creationId xmlns:a16="http://schemas.microsoft.com/office/drawing/2014/main" id="{63752E01-AF9F-40C0-9A91-FD97916BE4E9}"/>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NavigableSet&lt;String&gt; names = new TreeSet&lt;&gt;();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names.addAll(List.of("Mia","Ada","Zoe","Ada"));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System.out.println(names); // [Ada, Mia, Zoe]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System.out.println(names.ceiling("Bea")); // Mia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System.out.println(names.headSet("Mia",false));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[Ada]</a:t>
            </a:r>
          </a:p>
        </p:txBody>
      </p:sp>
      <p:sp>
        <p:nvSpPr>
          <p:cNvPr id="3" name="caption">
            <a:extLst xmlns:a="http://schemas.openxmlformats.org/drawingml/2006/main">
              <a:ext uri="{FF2B5EF4-FFF2-40B4-BE49-F238E27FC236}">
                <a16:creationId xmlns:a16="http://schemas.microsoft.com/office/drawing/2014/main" id="{0F471226-707E-4F8D-86BD-D80579889381}"/>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TreeSet supports sorted traversal and range queries.</a:t>
            </a:r>
          </a:p>
        </p:txBody>
      </p:sp>
      <p:sp>
        <p:nvSpPr>
          <p:cNvPr id="4" name="java-TestTreeSet">
            <a:extLst xmlns:a="http://schemas.openxmlformats.org/drawingml/2006/main">
              <a:ext uri="{FF2B5EF4-FFF2-40B4-BE49-F238E27FC236}">
                <a16:creationId xmlns:a16="http://schemas.microsoft.com/office/drawing/2014/main" id="{50DCE3BB-6058-403F-AF83-C6390EEF36A1}"/>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98c84bc9cdb84d96"/>
              </a:rPr>
              <a:t>TestTreeSet.java</a:t>
            </a:r>
          </a:p>
        </p:txBody>
      </p:sp>
      <p:sp>
        <p:nvSpPr>
          <p:cNvPr id="5" name="footer">
            <a:extLst xmlns:a="http://schemas.openxmlformats.org/drawingml/2006/main">
              <a:ext uri="{FF2B5EF4-FFF2-40B4-BE49-F238E27FC236}">
                <a16:creationId xmlns:a16="http://schemas.microsoft.com/office/drawing/2014/main" id="{B6F20A30-2493-43D6-9E30-FC27E527DA4F}"/>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2347F3D6-134F-491D-B1E7-4DC142351BEF}"/>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11</a:t>
            </a:r>
          </a:p>
        </p:txBody>
      </p:sp>
    </p:spTree>
    <p:extLst>
      <p:ext uri="{BB962C8B-B14F-4D97-AF65-F5344CB8AC3E}">
        <p14:creationId xmlns:p14="http://schemas.microsoft.com/office/powerpoint/2010/main" val="15312025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904CD02-6A3F-4278-AB78-356545BFB5F3}"/>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Discussion: what counts as a duplicate?</a:t>
            </a:r>
          </a:p>
        </p:txBody>
      </p:sp>
      <p:sp>
        <p:nvSpPr>
          <p:cNvPr id="2" name="code">
            <a:extLst xmlns:a="http://schemas.openxmlformats.org/drawingml/2006/main">
              <a:ext uri="{FF2B5EF4-FFF2-40B4-BE49-F238E27FC236}">
                <a16:creationId xmlns:a16="http://schemas.microsoft.com/office/drawing/2014/main" id="{789DECFD-295B-4F49-82A9-B0C6D596C13B}"/>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Set&lt;String&gt; names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new TreeSet&lt;&gt;(String.CASE_INSENSITIVE_ORDER);</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System.out.println(names.add("Ada")); // true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System.out.println(names.add("ADA")); // false</a:t>
            </a:r>
          </a:p>
        </p:txBody>
      </p:sp>
      <p:sp>
        <p:nvSpPr>
          <p:cNvPr id="3" name="caption">
            <a:extLst xmlns:a="http://schemas.openxmlformats.org/drawingml/2006/main">
              <a:ext uri="{FF2B5EF4-FFF2-40B4-BE49-F238E27FC236}">
                <a16:creationId xmlns:a16="http://schemas.microsoft.com/office/drawing/2014/main" id="{22EFC5C1-B426-4870-A784-A5E946D9CE3A}"/>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The comparator returns zero. String.equals returns false.</a:t>
            </a:r>
          </a:p>
        </p:txBody>
      </p:sp>
      <p:sp>
        <p:nvSpPr>
          <p:cNvPr id="4" name="java-TestTreeSet">
            <a:extLst xmlns:a="http://schemas.openxmlformats.org/drawingml/2006/main">
              <a:ext uri="{FF2B5EF4-FFF2-40B4-BE49-F238E27FC236}">
                <a16:creationId xmlns:a16="http://schemas.microsoft.com/office/drawing/2014/main" id="{C62D32B2-21CE-48E3-99D5-F2631D7BB9A8}"/>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7250b6142bde4300"/>
              </a:rPr>
              <a:t>TestTreeSet.java</a:t>
            </a:r>
          </a:p>
        </p:txBody>
      </p:sp>
      <p:sp>
        <p:nvSpPr>
          <p:cNvPr id="5" name="footer">
            <a:extLst xmlns:a="http://schemas.openxmlformats.org/drawingml/2006/main">
              <a:ext uri="{FF2B5EF4-FFF2-40B4-BE49-F238E27FC236}">
                <a16:creationId xmlns:a16="http://schemas.microsoft.com/office/drawing/2014/main" id="{32671BBD-0AF1-4052-9F09-9F5D22A4D0D4}"/>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4438AEFC-740F-4149-A7B6-1D5D683D19E5}"/>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12</a:t>
            </a:r>
          </a:p>
        </p:txBody>
      </p:sp>
    </p:spTree>
    <p:extLst>
      <p:ext uri="{BB962C8B-B14F-4D97-AF65-F5344CB8AC3E}">
        <p14:creationId xmlns:p14="http://schemas.microsoft.com/office/powerpoint/2010/main" val="19651268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90CAC2D-2DD4-4780-B027-F0738BE3632D}"/>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Union, intersection, and difference</a:t>
            </a:r>
          </a:p>
        </p:txBody>
      </p:sp>
      <p:graphicFrame>
        <p:nvGraphicFramePr>
          <p:cNvPr id="2" name="">
            <a:extLst xmlns:a="http://schemas.openxmlformats.org/drawingml/2006/main">
              <a:ext uri="{FF2B5EF4-FFF2-40B4-BE49-F238E27FC236}">
                <a16:creationId xmlns:a16="http://schemas.microsoft.com/office/drawing/2014/main" id="{E1C62B98-0775-4A82-A664-F88A704C15F8}"/>
              </a:ext>
            </a:extLst>
          </p:cNvPr>
          <p:cNvGraphicFramePr/>
          <p:nvPr/>
        </p:nvGraphicFramePr>
        <p:xfrm>
          <a:off xmlns:a="http://schemas.openxmlformats.org/drawingml/2006/main" x="523875" y="1495425"/>
          <a:ext xmlns:a="http://schemas.openxmlformats.org/drawingml/2006/main" cx="8096250" cy="3333750"/>
        </p:xfrm>
        <a:graphic xmlns:a="http://schemas.openxmlformats.org/drawingml/2006/main">
          <a:graphicData uri="http://schemas.openxmlformats.org/drawingml/2006/table">
            <a:tbl>
              <a:tblPr/>
              <a:tblGrid>
                <a:gridCol w="2524125"/>
                <a:gridCol w="2286000"/>
                <a:gridCol w="3286125"/>
              </a:tblGrid>
              <a:tr h="666750">
                <a:tc>
                  <a:txBody>
                    <a:bodyPr/>
                    <a:lstStyle/>
                    <a:p>
                      <a:r>
                        <a:rPr sz="1650" b="1">
                          <a:solidFill>
                            <a:srgbClr val="FFFFFF"/>
                          </a:solidFill>
                          <a:latin typeface="Arial"/>
                          <a:ea typeface="Arial"/>
                          <a:cs typeface="Arial"/>
                        </a:rPr>
                        <a:t>Operation</a:t>
                      </a:r>
                    </a:p>
                  </a:txBody>
                  <a:tcPr marL="95250" marR="95250" marT="95250" marB="76200">
                    <a:lnL w="5715">
                      <a:solidFill>
                        <a:srgbClr val="C4D6DF"/>
                      </a:solidFill>
                      <a:prstDash val="solid"/>
                    </a:lnL>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Members</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X={54,19,75}; Y={75,12}</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r>
              <a:tr h="666750">
                <a:tc>
                  <a:txBody>
                    <a:bodyPr/>
                    <a:lstStyle/>
                    <a:p>
                      <a:r>
                        <a:rPr sz="1650">
                          <a:solidFill>
                            <a:srgbClr val="172D3D"/>
                          </a:solidFill>
                          <a:latin typeface="Arial"/>
                          <a:ea typeface="Arial"/>
                          <a:cs typeface="Arial"/>
                        </a:rPr>
                        <a:t>Union: X or Y</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In either set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{12,19,54,75}</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Intersection: X and Y</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In both sets</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{75}</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Difference: X minus Y</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In X but not Y</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{19,54}</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Difference: Y minus X</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In Y but not X</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{12}</a:t>
                      </a:r>
                    </a:p>
                  </a:txBody>
                  <a:tcPr marL="95250" marR="95250" marT="95250" marB="76200">
                    <a:lnR w="5715">
                      <a:solidFill>
                        <a:srgbClr val="C4D6DF"/>
                      </a:solidFill>
                      <a:prstDash val="solid"/>
                    </a:lnR>
                    <a:lnB w="5715">
                      <a:solidFill>
                        <a:srgbClr val="C4D6DF"/>
                      </a:solidFill>
                      <a:prstDash val="solid"/>
                    </a:lnB>
                    <a:solidFill>
                      <a:srgbClr val="F1F6F8"/>
                    </a:solidFill>
                  </a:tcPr>
                </a:tc>
              </a:tr>
            </a:tbl>
          </a:graphicData>
        </a:graphic>
      </p:graphicFrame>
      <p:sp>
        <p:nvSpPr>
          <p:cNvPr id="3" name="caption">
            <a:extLst xmlns:a="http://schemas.openxmlformats.org/drawingml/2006/main">
              <a:ext uri="{FF2B5EF4-FFF2-40B4-BE49-F238E27FC236}">
                <a16:creationId xmlns:a16="http://schemas.microsoft.com/office/drawing/2014/main" id="{C39B2CB7-64F4-492A-A35A-2F1DA286AAD0}"/>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Union and intersection commute. Difference does not.</a:t>
            </a:r>
          </a:p>
        </p:txBody>
      </p:sp>
      <p:sp>
        <p:nvSpPr>
          <p:cNvPr id="4" name="java-SetOperations">
            <a:extLst xmlns:a="http://schemas.openxmlformats.org/drawingml/2006/main">
              <a:ext uri="{FF2B5EF4-FFF2-40B4-BE49-F238E27FC236}">
                <a16:creationId xmlns:a16="http://schemas.microsoft.com/office/drawing/2014/main" id="{23AEA759-5680-449B-BB9B-D51610E7A108}"/>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afc36d40f608404d"/>
              </a:rPr>
              <a:t>SetOperations.java</a:t>
            </a:r>
          </a:p>
        </p:txBody>
      </p:sp>
      <p:sp>
        <p:nvSpPr>
          <p:cNvPr id="5" name="footer">
            <a:extLst xmlns:a="http://schemas.openxmlformats.org/drawingml/2006/main">
              <a:ext uri="{FF2B5EF4-FFF2-40B4-BE49-F238E27FC236}">
                <a16:creationId xmlns:a16="http://schemas.microsoft.com/office/drawing/2014/main" id="{39C2B7F4-7C67-4190-A67B-BED1A7B89395}"/>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828C26C4-5C9B-40A8-B539-32F3E9C0AD84}"/>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13</a:t>
            </a:r>
          </a:p>
        </p:txBody>
      </p:sp>
    </p:spTree>
    <p:extLst>
      <p:ext uri="{BB962C8B-B14F-4D97-AF65-F5344CB8AC3E}">
        <p14:creationId xmlns:p14="http://schemas.microsoft.com/office/powerpoint/2010/main" val="17936562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F246105-3815-4270-9AAD-0E85E69C7FF9}"/>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Copy before applying bulk operations</a:t>
            </a:r>
          </a:p>
        </p:txBody>
      </p:sp>
      <p:sp>
        <p:nvSpPr>
          <p:cNvPr id="2" name="code">
            <a:extLst xmlns:a="http://schemas.openxmlformats.org/drawingml/2006/main">
              <a:ext uri="{FF2B5EF4-FFF2-40B4-BE49-F238E27FC236}">
                <a16:creationId xmlns:a16="http://schemas.microsoft.com/office/drawing/2014/main" id="{A8AFF2B8-8043-4D1D-9F48-03D2A2B9BB50}"/>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Set&lt;Integer&gt; x = Set.of(54,19,75);</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Set&lt;Integer&gt; y = Set.of(75,12);</a:t>
            </a:r>
          </a:p>
          <a:p xmlns:a="http://schemas.openxmlformats.org/drawingml/2006/main">
            <a:r>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Set&lt;Integer&gt; union = new HashSet&lt;&gt;(x);</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union.addAll(y);</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Set&lt;Integer&gt; both = new HashSet&lt;&gt;(x);</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both.retainAll(y);</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Set&lt;Integer&gt; onlyX = new HashSet&lt;&gt;(x);</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onlyX.removeAll(y);</a:t>
            </a:r>
          </a:p>
        </p:txBody>
      </p:sp>
      <p:sp>
        <p:nvSpPr>
          <p:cNvPr id="3" name="caption">
            <a:extLst xmlns:a="http://schemas.openxmlformats.org/drawingml/2006/main">
              <a:ext uri="{FF2B5EF4-FFF2-40B4-BE49-F238E27FC236}">
                <a16:creationId xmlns:a16="http://schemas.microsoft.com/office/drawing/2014/main" id="{BDFC944C-68CD-4B2A-880B-BE8FB92261E8}"/>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addAll, retainAll, and removeAll mutate their receiver.</a:t>
            </a:r>
          </a:p>
        </p:txBody>
      </p:sp>
      <p:sp>
        <p:nvSpPr>
          <p:cNvPr id="4" name="java-SetOperations">
            <a:extLst xmlns:a="http://schemas.openxmlformats.org/drawingml/2006/main">
              <a:ext uri="{FF2B5EF4-FFF2-40B4-BE49-F238E27FC236}">
                <a16:creationId xmlns:a16="http://schemas.microsoft.com/office/drawing/2014/main" id="{45D6BE63-6032-404D-95CC-F1B6352915D9}"/>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00bee7aac3a64d5a"/>
              </a:rPr>
              <a:t>SetOperations.java</a:t>
            </a:r>
          </a:p>
        </p:txBody>
      </p:sp>
      <p:sp>
        <p:nvSpPr>
          <p:cNvPr id="5" name="footer">
            <a:extLst xmlns:a="http://schemas.openxmlformats.org/drawingml/2006/main">
              <a:ext uri="{FF2B5EF4-FFF2-40B4-BE49-F238E27FC236}">
                <a16:creationId xmlns:a16="http://schemas.microsoft.com/office/drawing/2014/main" id="{53F6A4A8-EC37-4E94-8191-3A65873792DB}"/>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09FDD614-7846-457A-93A5-1C38E6D87B63}"/>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14</a:t>
            </a:r>
          </a:p>
        </p:txBody>
      </p:sp>
    </p:spTree>
    <p:extLst>
      <p:ext uri="{BB962C8B-B14F-4D97-AF65-F5344CB8AC3E}">
        <p14:creationId xmlns:p14="http://schemas.microsoft.com/office/powerpoint/2010/main" val="6922271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F13AB70-197E-4B0A-8BDB-F3FCEDB51F48}"/>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Quiz: set algebra and aliasing</a:t>
            </a:r>
          </a:p>
        </p:txBody>
      </p:sp>
      <p:sp>
        <p:nvSpPr>
          <p:cNvPr id="2" name="body">
            <a:extLst xmlns:a="http://schemas.openxmlformats.org/drawingml/2006/main">
              <a:ext uri="{FF2B5EF4-FFF2-40B4-BE49-F238E27FC236}">
                <a16:creationId xmlns:a16="http://schemas.microsoft.com/office/drawing/2014/main" id="{B749A9F8-7AEC-413F-925F-ABDADE2449FD}"/>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1. X={1,2,3}; Y={3,4}. Find X minus Y.</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2. What does x.retainAll(y) change?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3. Does Set&lt;Integer&gt; copy = x copy the members?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4. Why can Set.of(1,1) fail?</a:t>
            </a:r>
          </a:p>
        </p:txBody>
      </p:sp>
      <p:sp>
        <p:nvSpPr>
          <p:cNvPr id="3" name="java-SetOperations">
            <a:extLst xmlns:a="http://schemas.openxmlformats.org/drawingml/2006/main">
              <a:ext uri="{FF2B5EF4-FFF2-40B4-BE49-F238E27FC236}">
                <a16:creationId xmlns:a16="http://schemas.microsoft.com/office/drawing/2014/main" id="{0326DCCE-ACFA-4561-AB7D-63886D91FC71}"/>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a94250e2dc464ace"/>
              </a:rPr>
              <a:t>SetOperations.java</a:t>
            </a:r>
          </a:p>
        </p:txBody>
      </p:sp>
      <p:sp>
        <p:nvSpPr>
          <p:cNvPr id="4" name="java-NullAndFactoriesDemo">
            <a:extLst xmlns:a="http://schemas.openxmlformats.org/drawingml/2006/main">
              <a:ext uri="{FF2B5EF4-FFF2-40B4-BE49-F238E27FC236}">
                <a16:creationId xmlns:a16="http://schemas.microsoft.com/office/drawing/2014/main" id="{7A5D875A-28E8-4D94-BFBD-CB4B546C2BD5}"/>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1ac48d9d846c409a"/>
              </a:rPr>
              <a:t>NullAndFactoriesDemo.java</a:t>
            </a:r>
          </a:p>
        </p:txBody>
      </p:sp>
      <p:sp>
        <p:nvSpPr>
          <p:cNvPr id="5" name="footer">
            <a:extLst xmlns:a="http://schemas.openxmlformats.org/drawingml/2006/main">
              <a:ext uri="{FF2B5EF4-FFF2-40B4-BE49-F238E27FC236}">
                <a16:creationId xmlns:a16="http://schemas.microsoft.com/office/drawing/2014/main" id="{F5C34470-B3E7-4C0C-A4A1-88A0BB512CB9}"/>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763314D6-9741-484F-B726-911407BE5AF3}"/>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15</a:t>
            </a:r>
          </a:p>
        </p:txBody>
      </p:sp>
    </p:spTree>
    <p:extLst>
      <p:ext uri="{BB962C8B-B14F-4D97-AF65-F5344CB8AC3E}">
        <p14:creationId xmlns:p14="http://schemas.microsoft.com/office/powerpoint/2010/main" val="13996544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95C095A-015F-462D-B62B-8FB972B31CDB}"/>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A small teaching Set interface</a:t>
            </a:r>
          </a:p>
        </p:txBody>
      </p:sp>
      <p:sp>
        <p:nvSpPr>
          <p:cNvPr id="2" name="code">
            <a:extLst xmlns:a="http://schemas.openxmlformats.org/drawingml/2006/main">
              <a:ext uri="{FF2B5EF4-FFF2-40B4-BE49-F238E27FC236}">
                <a16:creationId xmlns:a16="http://schemas.microsoft.com/office/drawing/2014/main" id="{733AFEAD-55D5-41AE-ABB7-EDBAD8E1B014}"/>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public interface MySet&lt;E&gt; extends Iterable&lt;E&gt;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boolean add(E element);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boolean remove(E element);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boolean contains(E element);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int size();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boolean isEmpty();</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void clear();</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a:t>
            </a:r>
          </a:p>
        </p:txBody>
      </p:sp>
      <p:sp>
        <p:nvSpPr>
          <p:cNvPr id="3" name="caption">
            <a:extLst xmlns:a="http://schemas.openxmlformats.org/drawingml/2006/main">
              <a:ext uri="{FF2B5EF4-FFF2-40B4-BE49-F238E27FC236}">
                <a16:creationId xmlns:a16="http://schemas.microsoft.com/office/drawing/2014/main" id="{68386633-19F0-425C-B51F-0E9CF7917C8F}"/>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This exercise defines MySet; it is separate from java.util.Set.</a:t>
            </a:r>
          </a:p>
        </p:txBody>
      </p:sp>
      <p:sp>
        <p:nvSpPr>
          <p:cNvPr id="4" name="java-MySet">
            <a:extLst xmlns:a="http://schemas.openxmlformats.org/drawingml/2006/main">
              <a:ext uri="{FF2B5EF4-FFF2-40B4-BE49-F238E27FC236}">
                <a16:creationId xmlns:a16="http://schemas.microsoft.com/office/drawing/2014/main" id="{290F309C-D795-42BC-81DC-2E5E71D9C66B}"/>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acbeafa70e854679"/>
              </a:rPr>
              <a:t>MySet.java</a:t>
            </a:r>
          </a:p>
        </p:txBody>
      </p:sp>
      <p:sp>
        <p:nvSpPr>
          <p:cNvPr id="5" name="java-MyHashSet">
            <a:extLst xmlns:a="http://schemas.openxmlformats.org/drawingml/2006/main">
              <a:ext uri="{FF2B5EF4-FFF2-40B4-BE49-F238E27FC236}">
                <a16:creationId xmlns:a16="http://schemas.microsoft.com/office/drawing/2014/main" id="{06B7A1C7-D601-4FA5-912B-A96CE50FA652}"/>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88cf9c695ac047fa"/>
              </a:rPr>
              <a:t>MyHashSet.java</a:t>
            </a:r>
          </a:p>
        </p:txBody>
      </p:sp>
      <p:sp>
        <p:nvSpPr>
          <p:cNvPr id="6" name="footer">
            <a:extLst xmlns:a="http://schemas.openxmlformats.org/drawingml/2006/main">
              <a:ext uri="{FF2B5EF4-FFF2-40B4-BE49-F238E27FC236}">
                <a16:creationId xmlns:a16="http://schemas.microsoft.com/office/drawing/2014/main" id="{02355DEB-88C8-41B6-A88E-419AA7D8E1B9}"/>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BEE28ECF-3CA1-4BE9-AE77-1DCD3F31BF15}"/>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16</a:t>
            </a:r>
          </a:p>
        </p:txBody>
      </p:sp>
    </p:spTree>
    <p:extLst>
      <p:ext uri="{BB962C8B-B14F-4D97-AF65-F5344CB8AC3E}">
        <p14:creationId xmlns:p14="http://schemas.microsoft.com/office/powerpoint/2010/main" val="7860201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49E09C1-75D1-4D7A-B8C8-2960F4624E62}"/>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A hash-backed set can reuse a map</a:t>
            </a:r>
          </a:p>
        </p:txBody>
      </p:sp>
      <p:sp>
        <p:nvSpPr>
          <p:cNvPr id="2" name="code">
            <a:extLst xmlns:a="http://schemas.openxmlformats.org/drawingml/2006/main">
              <a:ext uri="{FF2B5EF4-FFF2-40B4-BE49-F238E27FC236}">
                <a16:creationId xmlns:a16="http://schemas.microsoft.com/office/drawing/2014/main" id="{4A6A825A-7D94-42EF-BA6C-CEF41331605C}"/>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private static final Object PRESENT = new Object();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private final MyHashMap&lt;E,Object&gt; map;</a:t>
            </a:r>
          </a:p>
          <a:p xmlns:a="http://schemas.openxmlformats.org/drawingml/2006/main">
            <a:r>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public boolean add(E e)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return map.put(e,PRESENT) == null;</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public boolean contains(E e)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return map.containsKey(e);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public boolean remove(E e)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return map.remove(e) != null;</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a:t>
            </a:r>
          </a:p>
        </p:txBody>
      </p:sp>
      <p:sp>
        <p:nvSpPr>
          <p:cNvPr id="3" name="caption">
            <a:extLst xmlns:a="http://schemas.openxmlformats.org/drawingml/2006/main">
              <a:ext uri="{FF2B5EF4-FFF2-40B4-BE49-F238E27FC236}">
                <a16:creationId xmlns:a16="http://schemas.microsoft.com/office/drawing/2014/main" id="{75DC4705-AD37-425E-9291-A837DB6E5742}"/>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Each distinct element becomes one map key.</a:t>
            </a:r>
          </a:p>
        </p:txBody>
      </p:sp>
      <p:sp>
        <p:nvSpPr>
          <p:cNvPr id="4" name="java-MyHashSet">
            <a:extLst xmlns:a="http://schemas.openxmlformats.org/drawingml/2006/main">
              <a:ext uri="{FF2B5EF4-FFF2-40B4-BE49-F238E27FC236}">
                <a16:creationId xmlns:a16="http://schemas.microsoft.com/office/drawing/2014/main" id="{27E622F0-4E5A-4808-BB90-76EFDD33584F}"/>
              </a:ext>
            </a:extLst>
          </p:cNvPr>
          <p:cNvSpPr>
            <a:spLocks xmlns:a="http://schemas.openxmlformats.org/drawingml/2006/main" noGrp="1"/>
          </p:cNvSpPr>
          <p:nvPr/>
        </p:nvSpPr>
        <p:spPr>
          <a:xfrm xmlns:a="http://schemas.openxmlformats.org/drawingml/2006/main">
            <a:off x="523875" y="615315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0a81ad40637e4b0f"/>
              </a:rPr>
              <a:t>MyHashSet.java</a:t>
            </a:r>
          </a:p>
        </p:txBody>
      </p:sp>
      <p:sp>
        <p:nvSpPr>
          <p:cNvPr id="5" name="java-TestMyHashSet">
            <a:extLst xmlns:a="http://schemas.openxmlformats.org/drawingml/2006/main">
              <a:ext uri="{FF2B5EF4-FFF2-40B4-BE49-F238E27FC236}">
                <a16:creationId xmlns:a16="http://schemas.microsoft.com/office/drawing/2014/main" id="{83392585-9941-4CFB-9AF9-63CD026E219E}"/>
              </a:ext>
            </a:extLst>
          </p:cNvPr>
          <p:cNvSpPr>
            <a:spLocks xmlns:a="http://schemas.openxmlformats.org/drawingml/2006/main" noGrp="1"/>
          </p:cNvSpPr>
          <p:nvPr/>
        </p:nvSpPr>
        <p:spPr>
          <a:xfrm xmlns:a="http://schemas.openxmlformats.org/drawingml/2006/main">
            <a:off x="3219450" y="615315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f15f63e50e1c4681"/>
              </a:rPr>
              <a:t>TestMyHashSet.java</a:t>
            </a:r>
          </a:p>
        </p:txBody>
      </p:sp>
      <p:sp>
        <p:nvSpPr>
          <p:cNvPr id="6" name="java-MyHashMap">
            <a:extLst xmlns:a="http://schemas.openxmlformats.org/drawingml/2006/main">
              <a:ext uri="{FF2B5EF4-FFF2-40B4-BE49-F238E27FC236}">
                <a16:creationId xmlns:a16="http://schemas.microsoft.com/office/drawing/2014/main" id="{009B6D89-F2DA-43B6-90C3-E9B71F462E2A}"/>
              </a:ext>
            </a:extLst>
          </p:cNvPr>
          <p:cNvSpPr>
            <a:spLocks xmlns:a="http://schemas.openxmlformats.org/drawingml/2006/main" noGrp="1"/>
          </p:cNvSpPr>
          <p:nvPr/>
        </p:nvSpPr>
        <p:spPr>
          <a:xfrm xmlns:a="http://schemas.openxmlformats.org/drawingml/2006/main">
            <a:off x="5915025" y="615315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fdb3686a31414a3b"/>
              </a:rPr>
              <a:t>MyHashMap.java</a:t>
            </a:r>
          </a:p>
        </p:txBody>
      </p:sp>
      <p:sp>
        <p:nvSpPr>
          <p:cNvPr id="7" name="footer">
            <a:extLst xmlns:a="http://schemas.openxmlformats.org/drawingml/2006/main">
              <a:ext uri="{FF2B5EF4-FFF2-40B4-BE49-F238E27FC236}">
                <a16:creationId xmlns:a16="http://schemas.microsoft.com/office/drawing/2014/main" id="{009F8E7E-6537-4645-8FEF-3EE40AE98F47}"/>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8" name="number">
            <a:extLst xmlns:a="http://schemas.openxmlformats.org/drawingml/2006/main">
              <a:ext uri="{FF2B5EF4-FFF2-40B4-BE49-F238E27FC236}">
                <a16:creationId xmlns:a16="http://schemas.microsoft.com/office/drawing/2014/main" id="{DCE9767E-6278-431E-A14B-6AF767B8E9F4}"/>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17</a:t>
            </a:r>
          </a:p>
        </p:txBody>
      </p:sp>
    </p:spTree>
    <p:extLst>
      <p:ext uri="{BB962C8B-B14F-4D97-AF65-F5344CB8AC3E}">
        <p14:creationId xmlns:p14="http://schemas.microsoft.com/office/powerpoint/2010/main" val="10624392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D26A9A6-AC56-421E-864F-7256AC56153B}"/>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Case study: count Java keywords</a:t>
            </a:r>
          </a:p>
        </p:txBody>
      </p:sp>
      <p:sp>
        <p:nvSpPr>
          <p:cNvPr id="2" name="body">
            <a:extLst xmlns:a="http://schemas.openxmlformats.org/drawingml/2006/main">
              <a:ext uri="{FF2B5EF4-FFF2-40B4-BE49-F238E27FC236}">
                <a16:creationId xmlns:a16="http://schemas.microsoft.com/office/drawing/2014/main" id="{AAEE5133-8131-49F0-88B2-E70D62470E04}"/>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Read source text from a UTF-8 file.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Recognize identifier tokens and test Set membership.</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Ignore comments and string/character literals.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Count reserved keywords, not words inside text.</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Example: "if" in a string is not an if keyword.</a:t>
            </a:r>
          </a:p>
        </p:txBody>
      </p:sp>
      <p:sp>
        <p:nvSpPr>
          <p:cNvPr id="3" name="java-CountKeywords">
            <a:extLst xmlns:a="http://schemas.openxmlformats.org/drawingml/2006/main">
              <a:ext uri="{FF2B5EF4-FFF2-40B4-BE49-F238E27FC236}">
                <a16:creationId xmlns:a16="http://schemas.microsoft.com/office/drawing/2014/main" id="{84122F9D-E52C-4D91-9663-7A8D1B1EC063}"/>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03fce55ee3bb4faf"/>
              </a:rPr>
              <a:t>CountKeywords.java</a:t>
            </a:r>
          </a:p>
        </p:txBody>
      </p:sp>
      <p:sp>
        <p:nvSpPr>
          <p:cNvPr id="4" name="footer">
            <a:extLst xmlns:a="http://schemas.openxmlformats.org/drawingml/2006/main">
              <a:ext uri="{FF2B5EF4-FFF2-40B4-BE49-F238E27FC236}">
                <a16:creationId xmlns:a16="http://schemas.microsoft.com/office/drawing/2014/main" id="{FA5B4C53-B11F-480C-A6D5-AED6DC0A46B1}"/>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5" name="number">
            <a:extLst xmlns:a="http://schemas.openxmlformats.org/drawingml/2006/main">
              <a:ext uri="{FF2B5EF4-FFF2-40B4-BE49-F238E27FC236}">
                <a16:creationId xmlns:a16="http://schemas.microsoft.com/office/drawing/2014/main" id="{56D8ED14-36EF-475E-B708-F8D35E904A83}"/>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18</a:t>
            </a:r>
          </a:p>
        </p:txBody>
      </p:sp>
    </p:spTree>
    <p:extLst>
      <p:ext uri="{BB962C8B-B14F-4D97-AF65-F5344CB8AC3E}">
        <p14:creationId xmlns:p14="http://schemas.microsoft.com/office/powerpoint/2010/main" val="13262330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1DC2649-009A-4CE0-9C5E-9101A0E112E9}"/>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Keyword counting: the membership step</a:t>
            </a:r>
          </a:p>
        </p:txBody>
      </p:sp>
      <p:sp>
        <p:nvSpPr>
          <p:cNvPr id="2" name="code">
            <a:extLst xmlns:a="http://schemas.openxmlformats.org/drawingml/2006/main">
              <a:ext uri="{FF2B5EF4-FFF2-40B4-BE49-F238E27FC236}">
                <a16:creationId xmlns:a16="http://schemas.microsoft.com/office/drawing/2014/main" id="{37DF1755-AA70-4FA4-9A82-AE8ECC2B2FB2}"/>
              </a:ext>
            </a:extLst>
          </p:cNvPr>
          <p:cNvSpPr>
            <a:spLocks xmlns:a="http://schemas.openxmlformats.org/drawingml/2006/main" noGrp="1"/>
          </p:cNvSpPr>
          <p:nvPr/>
        </p:nvSpPr>
        <p:spPr>
          <a:xfrm xmlns:a="http://schemas.openxmlformats.org/drawingml/2006/main">
            <a:off x="523875" y="1476375"/>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72D3D"/>
                </a:solidFill>
                <a:latin typeface="Consolas"/>
                <a:ea typeface="Consolas"/>
                <a:cs typeface="Consolas"/>
              </a:defRPr>
            </a:defPPr>
            <a:lvl1pPr>
              <a:defRPr sz="1650" b="0">
                <a:solidFill>
                  <a:srgbClr val="172D3D"/>
                </a:solidFill>
                <a:latin typeface="Consolas"/>
                <a:ea typeface="Consolas"/>
                <a:cs typeface="Consolas"/>
              </a:defRPr>
            </a:lvl1pPr>
            <a:lvl2pPr>
              <a:defRPr sz="1650" b="0">
                <a:solidFill>
                  <a:srgbClr val="172D3D"/>
                </a:solidFill>
                <a:latin typeface="Consolas"/>
                <a:ea typeface="Consolas"/>
                <a:cs typeface="Consolas"/>
              </a:defRPr>
            </a:lvl2pPr>
            <a:lvl3pPr>
              <a:defRPr sz="1650" b="0">
                <a:solidFill>
                  <a:srgbClr val="172D3D"/>
                </a:solidFill>
                <a:latin typeface="Consolas"/>
                <a:ea typeface="Consolas"/>
                <a:cs typeface="Consolas"/>
              </a:defRPr>
            </a:lvl3pPr>
            <a:lvl4pPr>
              <a:defRPr sz="1650" b="0">
                <a:solidFill>
                  <a:srgbClr val="172D3D"/>
                </a:solidFill>
                <a:latin typeface="Consolas"/>
                <a:ea typeface="Consolas"/>
                <a:cs typeface="Consolas"/>
              </a:defRPr>
            </a:lvl4pPr>
            <a:lvl5pPr>
              <a:defRPr sz="1650" b="0">
                <a:solidFill>
                  <a:srgbClr val="172D3D"/>
                </a:solidFill>
                <a:latin typeface="Consolas"/>
                <a:ea typeface="Consolas"/>
                <a:cs typeface="Consolas"/>
              </a:defRPr>
            </a:lvl5pPr>
            <a:lvl6pPr>
              <a:defRPr sz="1650" b="0">
                <a:solidFill>
                  <a:srgbClr val="172D3D"/>
                </a:solidFill>
                <a:latin typeface="Consolas"/>
                <a:ea typeface="Consolas"/>
                <a:cs typeface="Consolas"/>
              </a:defRPr>
            </a:lvl6pPr>
            <a:lvl7pPr>
              <a:defRPr sz="1650" b="0">
                <a:solidFill>
                  <a:srgbClr val="172D3D"/>
                </a:solidFill>
                <a:latin typeface="Consolas"/>
                <a:ea typeface="Consolas"/>
                <a:cs typeface="Consolas"/>
              </a:defRPr>
            </a:lvl7pPr>
            <a:lvl8pPr>
              <a:defRPr sz="1650" b="0">
                <a:solidFill>
                  <a:srgbClr val="172D3D"/>
                </a:solidFill>
                <a:latin typeface="Consolas"/>
                <a:ea typeface="Consolas"/>
                <a:cs typeface="Consolas"/>
              </a:defRPr>
            </a:lvl8pPr>
            <a:lvl9pPr>
              <a:defRPr sz="1650" b="0">
                <a:solidFill>
                  <a:srgbClr val="172D3D"/>
                </a:solidFill>
                <a:latin typeface="Consolas"/>
                <a:ea typeface="Consolas"/>
                <a:cs typeface="Consolas"/>
              </a:defRPr>
            </a:lvl9pPr>
          </a:lstStyle>
          <a:p xmlns:a="http://schemas.openxmlformats.org/drawingml/2006/main">
            <a:pPr>
              <a:defRPr sz="1650" b="0">
                <a:solidFill>
                  <a:srgbClr val="172D3D"/>
                </a:solidFill>
                <a:latin typeface="Consolas"/>
                <a:ea typeface="Consolas"/>
                <a:cs typeface="Consolas"/>
              </a:defRPr>
            </a:pPr>
            <a:r>
              <a:rPr sz="1650" b="0">
                <a:solidFill>
                  <a:srgbClr val="172D3D"/>
                </a:solidFill>
                <a:latin typeface="Consolas"/>
                <a:ea typeface="Consolas"/>
                <a:cs typeface="Consolas"/>
              </a:rPr>
              <a:t>String token = source.substring(start,i);</a:t>
            </a:r>
          </a:p>
          <a:p xmlns:a="http://schemas.openxmlformats.org/drawingml/2006/main">
            <a:pPr>
              <a:defRPr sz="1650" b="0">
                <a:solidFill>
                  <a:srgbClr val="172D3D"/>
                </a:solidFill>
                <a:latin typeface="Consolas"/>
                <a:ea typeface="Consolas"/>
                <a:cs typeface="Consolas"/>
              </a:defRPr>
            </a:pPr>
            <a:r>
              <a:rPr sz="1650" b="0">
                <a:solidFill>
                  <a:srgbClr val="172D3D"/>
                </a:solidFill>
                <a:latin typeface="Consolas"/>
                <a:ea typeface="Consolas"/>
                <a:cs typeface="Consolas"/>
              </a:rPr>
              <a:t>if (KEYWORDS.contains(token))</a:t>
            </a:r>
          </a:p>
          <a:p xmlns:a="http://schemas.openxmlformats.org/drawingml/2006/main">
            <a:pPr>
              <a:defRPr sz="1650" b="0">
                <a:solidFill>
                  <a:srgbClr val="172D3D"/>
                </a:solidFill>
                <a:latin typeface="Consolas"/>
                <a:ea typeface="Consolas"/>
                <a:cs typeface="Consolas"/>
              </a:defRPr>
            </a:pPr>
            <a:r>
              <a:rPr sz="1650" b="0">
                <a:solidFill>
                  <a:srgbClr val="172D3D"/>
                </a:solidFill>
                <a:latin typeface="Consolas"/>
                <a:ea typeface="Consolas"/>
                <a:cs typeface="Consolas"/>
              </a:rPr>
              <a:t>    result.merge(token,1,Integer::sum);</a:t>
            </a:r>
          </a:p>
        </p:txBody>
      </p:sp>
      <p:sp>
        <p:nvSpPr>
          <p:cNvPr id="3" name="body">
            <a:extLst xmlns:a="http://schemas.openxmlformats.org/drawingml/2006/main">
              <a:ext uri="{FF2B5EF4-FFF2-40B4-BE49-F238E27FC236}">
                <a16:creationId xmlns:a16="http://schemas.microsoft.com/office/drawing/2014/main" id="{A86CF2F1-3D0E-422A-A905-3E75B0C9A804}"/>
              </a:ext>
            </a:extLst>
          </p:cNvPr>
          <p:cNvSpPr>
            <a:spLocks xmlns:a="http://schemas.openxmlformats.org/drawingml/2006/main" noGrp="1"/>
          </p:cNvSpPr>
          <p:nvPr/>
        </p:nvSpPr>
        <p:spPr>
          <a:xfrm xmlns:a="http://schemas.openxmlformats.org/drawingml/2006/main">
            <a:off x="523875" y="3143250"/>
            <a:ext cx="8096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2D3D"/>
                </a:solidFill>
                <a:latin typeface="Arial"/>
                <a:ea typeface="Arial"/>
                <a:cs typeface="Arial"/>
              </a:defRPr>
            </a:defPPr>
            <a:lvl1pPr>
              <a:defRPr sz="1875" b="0">
                <a:solidFill>
                  <a:srgbClr val="172D3D"/>
                </a:solidFill>
                <a:latin typeface="Arial"/>
                <a:ea typeface="Arial"/>
                <a:cs typeface="Arial"/>
              </a:defRPr>
            </a:lvl1pPr>
            <a:lvl2pPr>
              <a:defRPr sz="1875" b="0">
                <a:solidFill>
                  <a:srgbClr val="172D3D"/>
                </a:solidFill>
                <a:latin typeface="Arial"/>
                <a:ea typeface="Arial"/>
                <a:cs typeface="Arial"/>
              </a:defRPr>
            </a:lvl2pPr>
            <a:lvl3pPr>
              <a:defRPr sz="1875" b="0">
                <a:solidFill>
                  <a:srgbClr val="172D3D"/>
                </a:solidFill>
                <a:latin typeface="Arial"/>
                <a:ea typeface="Arial"/>
                <a:cs typeface="Arial"/>
              </a:defRPr>
            </a:lvl3pPr>
            <a:lvl4pPr>
              <a:defRPr sz="1875" b="0">
                <a:solidFill>
                  <a:srgbClr val="172D3D"/>
                </a:solidFill>
                <a:latin typeface="Arial"/>
                <a:ea typeface="Arial"/>
                <a:cs typeface="Arial"/>
              </a:defRPr>
            </a:lvl4pPr>
            <a:lvl5pPr>
              <a:defRPr sz="1875" b="0">
                <a:solidFill>
                  <a:srgbClr val="172D3D"/>
                </a:solidFill>
                <a:latin typeface="Arial"/>
                <a:ea typeface="Arial"/>
                <a:cs typeface="Arial"/>
              </a:defRPr>
            </a:lvl5pPr>
            <a:lvl6pPr>
              <a:defRPr sz="1875" b="0">
                <a:solidFill>
                  <a:srgbClr val="172D3D"/>
                </a:solidFill>
                <a:latin typeface="Arial"/>
                <a:ea typeface="Arial"/>
                <a:cs typeface="Arial"/>
              </a:defRPr>
            </a:lvl6pPr>
            <a:lvl7pPr>
              <a:defRPr sz="1875" b="0">
                <a:solidFill>
                  <a:srgbClr val="172D3D"/>
                </a:solidFill>
                <a:latin typeface="Arial"/>
                <a:ea typeface="Arial"/>
                <a:cs typeface="Arial"/>
              </a:defRPr>
            </a:lvl7pPr>
            <a:lvl8pPr>
              <a:defRPr sz="1875" b="0">
                <a:solidFill>
                  <a:srgbClr val="172D3D"/>
                </a:solidFill>
                <a:latin typeface="Arial"/>
                <a:ea typeface="Arial"/>
                <a:cs typeface="Arial"/>
              </a:defRPr>
            </a:lvl8pPr>
            <a:lvl9pPr>
              <a:defRPr sz="1875" b="0">
                <a:solidFill>
                  <a:srgbClr val="172D3D"/>
                </a:solidFill>
                <a:latin typeface="Arial"/>
                <a:ea typeface="Arial"/>
                <a:cs typeface="Arial"/>
              </a:defRPr>
            </a:lvl9pPr>
          </a:lstStyle>
          <a:p xmlns:a="http://schemas.openxmlformats.org/drawingml/2006/main">
            <a:pPr>
              <a:defRPr sz="1875" b="0">
                <a:solidFill>
                  <a:srgbClr val="172D3D"/>
                </a:solidFill>
                <a:latin typeface="Arial"/>
                <a:ea typeface="Arial"/>
                <a:cs typeface="Arial"/>
              </a:defRPr>
            </a:pPr>
            <a:r>
              <a:rPr sz="1875" b="0">
                <a:solidFill>
                  <a:srgbClr val="172D3D"/>
                </a:solidFill>
                <a:latin typeface="Arial"/>
                <a:ea typeface="Arial"/>
                <a:cs typeface="Arial"/>
              </a:rPr>
              <a:t>Default sample:</a:t>
            </a:r>
          </a:p>
          <a:p xmlns:a="http://schemas.openxmlformats.org/drawingml/2006/main">
            <a:pPr>
              <a:defRPr sz="1875" b="0">
                <a:solidFill>
                  <a:srgbClr val="172D3D"/>
                </a:solidFill>
                <a:latin typeface="Arial"/>
                <a:ea typeface="Arial"/>
                <a:cs typeface="Arial"/>
              </a:defRPr>
            </a:pPr>
            <a:r>
              <a:rPr sz="1875" b="0">
                <a:solidFill>
                  <a:srgbClr val="172D3D"/>
                </a:solidFill>
                <a:latin typeface="Arial"/>
                <a:ea typeface="Arial"/>
                <a:cs typeface="Arial"/>
              </a:rPr>
              <a:t>public class Demo { int n; /* while */ }</a:t>
            </a:r>
          </a:p>
          <a:p xmlns:a="http://schemas.openxmlformats.org/drawingml/2006/main">
            <a:r>
              <a:t/>
            </a:r>
          </a:p>
          <a:p xmlns:a="http://schemas.openxmlformats.org/drawingml/2006/main">
            <a:pPr>
              <a:defRPr sz="1875" b="0">
                <a:solidFill>
                  <a:srgbClr val="172D3D"/>
                </a:solidFill>
                <a:latin typeface="Arial"/>
                <a:ea typeface="Arial"/>
                <a:cs typeface="Arial"/>
              </a:defRPr>
            </a:pPr>
            <a:r>
              <a:rPr sz="1875" b="0">
                <a:solidFill>
                  <a:srgbClr val="172D3D"/>
                </a:solidFill>
                <a:latin typeface="Arial"/>
                <a:ea typeface="Arial"/>
                <a:cs typeface="Arial"/>
              </a:rPr>
              <a:t>Expected counts: class=1, int=1, public=1</a:t>
            </a:r>
          </a:p>
          <a:p xmlns:a="http://schemas.openxmlformats.org/drawingml/2006/main">
            <a:pPr>
              <a:defRPr sz="1875" b="0">
                <a:solidFill>
                  <a:srgbClr val="172D3D"/>
                </a:solidFill>
                <a:latin typeface="Arial"/>
                <a:ea typeface="Arial"/>
                <a:cs typeface="Arial"/>
              </a:defRPr>
            </a:pPr>
            <a:r>
              <a:rPr sz="1875" b="0">
                <a:solidFill>
                  <a:srgbClr val="172D3D"/>
                </a:solidFill>
                <a:latin typeface="Arial"/>
                <a:ea typeface="Arial"/>
                <a:cs typeface="Arial"/>
              </a:rPr>
              <a:t>Total keyword occurrences: 3</a:t>
            </a:r>
          </a:p>
        </p:txBody>
      </p:sp>
      <p:sp>
        <p:nvSpPr>
          <p:cNvPr id="4" name="caption">
            <a:extLst xmlns:a="http://schemas.openxmlformats.org/drawingml/2006/main">
              <a:ext uri="{FF2B5EF4-FFF2-40B4-BE49-F238E27FC236}">
                <a16:creationId xmlns:a16="http://schemas.microsoft.com/office/drawing/2014/main" id="{CECC4079-DAA5-42F6-B571-2B030E19A087}"/>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The full file handles token boundaries and quoted text.</a:t>
            </a:r>
          </a:p>
        </p:txBody>
      </p:sp>
      <p:sp>
        <p:nvSpPr>
          <p:cNvPr id="5" name="java-CountKeywords">
            <a:extLst xmlns:a="http://schemas.openxmlformats.org/drawingml/2006/main">
              <a:ext uri="{FF2B5EF4-FFF2-40B4-BE49-F238E27FC236}">
                <a16:creationId xmlns:a16="http://schemas.microsoft.com/office/drawing/2014/main" id="{5F0C6766-EA10-48C7-AA4D-FA6BA170355A}"/>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f9e8e52552b64b7a"/>
              </a:rPr>
              <a:t>CountKeywords.java</a:t>
            </a:r>
          </a:p>
        </p:txBody>
      </p:sp>
      <p:sp>
        <p:nvSpPr>
          <p:cNvPr id="6" name="footer">
            <a:extLst xmlns:a="http://schemas.openxmlformats.org/drawingml/2006/main">
              <a:ext uri="{FF2B5EF4-FFF2-40B4-BE49-F238E27FC236}">
                <a16:creationId xmlns:a16="http://schemas.microsoft.com/office/drawing/2014/main" id="{A0EEC8B7-88A0-4584-9C2B-CECC55563F45}"/>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2041B27B-70D7-4A2E-87C0-98BE58FACC03}"/>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19</a:t>
            </a:r>
          </a:p>
        </p:txBody>
      </p:sp>
    </p:spTree>
    <p:extLst>
      <p:ext uri="{BB962C8B-B14F-4D97-AF65-F5344CB8AC3E}">
        <p14:creationId xmlns:p14="http://schemas.microsoft.com/office/powerpoint/2010/main" val="74529887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553B4FA-5FB1-4EA8-A8AB-87C0C505EA3C}"/>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The Map contract</a:t>
            </a:r>
          </a:p>
        </p:txBody>
      </p:sp>
      <p:sp>
        <p:nvSpPr>
          <p:cNvPr id="2" name="body">
            <a:extLst xmlns:a="http://schemas.openxmlformats.org/drawingml/2006/main">
              <a:ext uri="{FF2B5EF4-FFF2-40B4-BE49-F238E27FC236}">
                <a16:creationId xmlns:a16="http://schemas.microsoft.com/office/drawing/2014/main" id="{09F7B0FC-39A9-401D-9EAD-540040DB87B2}"/>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A map stores key-value pairs.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Each key has at most one associated value.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put with an existing key replaces its value.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Different keys may have equal values.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Map is also called a dictionary or associative array.</a:t>
            </a:r>
          </a:p>
        </p:txBody>
      </p:sp>
      <p:sp>
        <p:nvSpPr>
          <p:cNvPr id="3" name="caption">
            <a:extLst xmlns:a="http://schemas.openxmlformats.org/drawingml/2006/main">
              <a:ext uri="{FF2B5EF4-FFF2-40B4-BE49-F238E27FC236}">
                <a16:creationId xmlns:a16="http://schemas.microsoft.com/office/drawing/2014/main" id="{6CD51AFF-B754-4AA9-9FEB-4ACA25871191}"/>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Use a stable student ID as a key, not a possibly repeated name.</a:t>
            </a:r>
          </a:p>
        </p:txBody>
      </p:sp>
      <p:sp>
        <p:nvSpPr>
          <p:cNvPr id="4" name="java-TestMap">
            <a:extLst xmlns:a="http://schemas.openxmlformats.org/drawingml/2006/main">
              <a:ext uri="{FF2B5EF4-FFF2-40B4-BE49-F238E27FC236}">
                <a16:creationId xmlns:a16="http://schemas.microsoft.com/office/drawing/2014/main" id="{EDF8A683-75A8-48EB-8F8F-063E605F39F0}"/>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6ecf0e9c9ef34529"/>
              </a:rPr>
              <a:t>TestMap.java</a:t>
            </a:r>
          </a:p>
        </p:txBody>
      </p:sp>
      <p:sp>
        <p:nvSpPr>
          <p:cNvPr id="5" name="footer">
            <a:extLst xmlns:a="http://schemas.openxmlformats.org/drawingml/2006/main">
              <a:ext uri="{FF2B5EF4-FFF2-40B4-BE49-F238E27FC236}">
                <a16:creationId xmlns:a16="http://schemas.microsoft.com/office/drawing/2014/main" id="{FB51905B-7B6A-4D93-BA42-A387A9683159}"/>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DF3CCE73-9D30-492F-808C-614169725A44}"/>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20</a:t>
            </a:r>
          </a:p>
        </p:txBody>
      </p:sp>
    </p:spTree>
    <p:extLst>
      <p:ext uri="{BB962C8B-B14F-4D97-AF65-F5344CB8AC3E}">
        <p14:creationId xmlns:p14="http://schemas.microsoft.com/office/powerpoint/2010/main" val="116129159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7C804B0-06CD-4EA3-9570-8B9C97ADE3B9}"/>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Everyday Map operations</a:t>
            </a:r>
          </a:p>
        </p:txBody>
      </p:sp>
      <p:graphicFrame>
        <p:nvGraphicFramePr>
          <p:cNvPr id="2" name="">
            <a:extLst xmlns:a="http://schemas.openxmlformats.org/drawingml/2006/main">
              <a:ext uri="{FF2B5EF4-FFF2-40B4-BE49-F238E27FC236}">
                <a16:creationId xmlns:a16="http://schemas.microsoft.com/office/drawing/2014/main" id="{B5FD043D-13D1-4C36-B679-0AC4F26E0B86}"/>
              </a:ext>
            </a:extLst>
          </p:cNvPr>
          <p:cNvGraphicFramePr/>
          <p:nvPr/>
        </p:nvGraphicFramePr>
        <p:xfrm>
          <a:off xmlns:a="http://schemas.openxmlformats.org/drawingml/2006/main" x="523875" y="1495425"/>
          <a:ext xmlns:a="http://schemas.openxmlformats.org/drawingml/2006/main" cx="8096250" cy="3695700"/>
        </p:xfrm>
        <a:graphic xmlns:a="http://schemas.openxmlformats.org/drawingml/2006/main">
          <a:graphicData uri="http://schemas.openxmlformats.org/drawingml/2006/table">
            <a:tbl>
              <a:tblPr/>
              <a:tblGrid>
                <a:gridCol w="2952750"/>
                <a:gridCol w="5143500"/>
              </a:tblGrid>
              <a:tr h="527957">
                <a:tc>
                  <a:txBody>
                    <a:bodyPr/>
                    <a:lstStyle/>
                    <a:p>
                      <a:r>
                        <a:rPr sz="1800" b="1">
                          <a:solidFill>
                            <a:srgbClr val="FFFFFF"/>
                          </a:solidFill>
                          <a:latin typeface="Arial"/>
                          <a:ea typeface="Arial"/>
                          <a:cs typeface="Arial"/>
                        </a:rPr>
                        <a:t>Method</a:t>
                      </a:r>
                    </a:p>
                  </a:txBody>
                  <a:tcPr marL="95250" marR="95250" marT="95250" marB="76200">
                    <a:lnL w="5715">
                      <a:solidFill>
                        <a:srgbClr val="C4D6DF"/>
                      </a:solidFill>
                      <a:prstDash val="solid"/>
                    </a:lnL>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800" b="1">
                          <a:solidFill>
                            <a:srgbClr val="FFFFFF"/>
                          </a:solidFill>
                          <a:latin typeface="Arial"/>
                          <a:ea typeface="Arial"/>
                          <a:cs typeface="Arial"/>
                        </a:rPr>
                        <a:t>Meaning</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r>
              <a:tr h="527957">
                <a:tc>
                  <a:txBody>
                    <a:bodyPr/>
                    <a:lstStyle/>
                    <a:p>
                      <a:r>
                        <a:rPr sz="1800">
                          <a:solidFill>
                            <a:srgbClr val="172D3D"/>
                          </a:solidFill>
                          <a:latin typeface="Arial"/>
                          <a:ea typeface="Arial"/>
                          <a:cs typeface="Arial"/>
                        </a:rPr>
                        <a:t>get(key)</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Value, or null for an absent key</a:t>
                      </a:r>
                    </a:p>
                  </a:txBody>
                  <a:tcPr marL="95250" marR="95250" marT="95250" marB="76200">
                    <a:lnR w="5715">
                      <a:solidFill>
                        <a:srgbClr val="C4D6DF"/>
                      </a:solidFill>
                      <a:prstDash val="solid"/>
                    </a:lnR>
                    <a:lnB w="5715">
                      <a:solidFill>
                        <a:srgbClr val="C4D6DF"/>
                      </a:solidFill>
                      <a:prstDash val="solid"/>
                    </a:lnB>
                    <a:solidFill>
                      <a:srgbClr val="F1F6F8"/>
                    </a:solidFill>
                  </a:tcPr>
                </a:tc>
              </a:tr>
              <a:tr h="527957">
                <a:tc>
                  <a:txBody>
                    <a:bodyPr/>
                    <a:lstStyle/>
                    <a:p>
                      <a:r>
                        <a:rPr sz="1800">
                          <a:solidFill>
                            <a:srgbClr val="172D3D"/>
                          </a:solidFill>
                          <a:latin typeface="Arial"/>
                          <a:ea typeface="Arial"/>
                          <a:cs typeface="Arial"/>
                        </a:rPr>
                        <a:t>put(key,value)</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Store mapping; return previous value</a:t>
                      </a:r>
                    </a:p>
                  </a:txBody>
                  <a:tcPr marL="95250" marR="95250" marT="95250" marB="76200">
                    <a:lnR w="5715">
                      <a:solidFill>
                        <a:srgbClr val="C4D6DF"/>
                      </a:solidFill>
                      <a:prstDash val="solid"/>
                    </a:lnR>
                    <a:lnB w="5715">
                      <a:solidFill>
                        <a:srgbClr val="C4D6DF"/>
                      </a:solidFill>
                      <a:prstDash val="solid"/>
                    </a:lnB>
                    <a:solidFill>
                      <a:srgbClr val="F1F6F8"/>
                    </a:solidFill>
                  </a:tcPr>
                </a:tc>
              </a:tr>
              <a:tr h="527957">
                <a:tc>
                  <a:txBody>
                    <a:bodyPr/>
                    <a:lstStyle/>
                    <a:p>
                      <a:r>
                        <a:rPr sz="1800">
                          <a:solidFill>
                            <a:srgbClr val="172D3D"/>
                          </a:solidFill>
                          <a:latin typeface="Arial"/>
                          <a:ea typeface="Arial"/>
                          <a:cs typeface="Arial"/>
                        </a:rPr>
                        <a:t>remove(key)</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Remove mapping; return previous value</a:t>
                      </a:r>
                    </a:p>
                  </a:txBody>
                  <a:tcPr marL="95250" marR="95250" marT="95250" marB="76200">
                    <a:lnR w="5715">
                      <a:solidFill>
                        <a:srgbClr val="C4D6DF"/>
                      </a:solidFill>
                      <a:prstDash val="solid"/>
                    </a:lnR>
                    <a:lnB w="5715">
                      <a:solidFill>
                        <a:srgbClr val="C4D6DF"/>
                      </a:solidFill>
                      <a:prstDash val="solid"/>
                    </a:lnB>
                    <a:solidFill>
                      <a:srgbClr val="F1F6F8"/>
                    </a:solidFill>
                  </a:tcPr>
                </a:tc>
              </a:tr>
              <a:tr h="527957">
                <a:tc>
                  <a:txBody>
                    <a:bodyPr/>
                    <a:lstStyle/>
                    <a:p>
                      <a:r>
                        <a:rPr sz="1800">
                          <a:solidFill>
                            <a:srgbClr val="172D3D"/>
                          </a:solidFill>
                          <a:latin typeface="Arial"/>
                          <a:ea typeface="Arial"/>
                          <a:cs typeface="Arial"/>
                        </a:rPr>
                        <a:t>containsKey(key)</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Distinguish absence from a null value</a:t>
                      </a:r>
                    </a:p>
                  </a:txBody>
                  <a:tcPr marL="95250" marR="95250" marT="95250" marB="76200">
                    <a:lnR w="5715">
                      <a:solidFill>
                        <a:srgbClr val="C4D6DF"/>
                      </a:solidFill>
                      <a:prstDash val="solid"/>
                    </a:lnR>
                    <a:lnB w="5715">
                      <a:solidFill>
                        <a:srgbClr val="C4D6DF"/>
                      </a:solidFill>
                      <a:prstDash val="solid"/>
                    </a:lnB>
                    <a:solidFill>
                      <a:srgbClr val="F1F6F8"/>
                    </a:solidFill>
                  </a:tcPr>
                </a:tc>
              </a:tr>
              <a:tr h="527957">
                <a:tc>
                  <a:txBody>
                    <a:bodyPr/>
                    <a:lstStyle/>
                    <a:p>
                      <a:r>
                        <a:rPr sz="1800">
                          <a:solidFill>
                            <a:srgbClr val="172D3D"/>
                          </a:solidFill>
                          <a:latin typeface="Arial"/>
                          <a:ea typeface="Arial"/>
                          <a:cs typeface="Arial"/>
                        </a:rPr>
                        <a:t>containsValue(value)</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Search for an associated value</a:t>
                      </a:r>
                    </a:p>
                  </a:txBody>
                  <a:tcPr marL="95250" marR="95250" marT="95250" marB="76200">
                    <a:lnR w="5715">
                      <a:solidFill>
                        <a:srgbClr val="C4D6DF"/>
                      </a:solidFill>
                      <a:prstDash val="solid"/>
                    </a:lnR>
                    <a:lnB w="5715">
                      <a:solidFill>
                        <a:srgbClr val="C4D6DF"/>
                      </a:solidFill>
                      <a:prstDash val="solid"/>
                    </a:lnB>
                    <a:solidFill>
                      <a:srgbClr val="F1F6F8"/>
                    </a:solidFill>
                  </a:tcPr>
                </a:tc>
              </a:tr>
              <a:tr h="527957">
                <a:tc>
                  <a:txBody>
                    <a:bodyPr/>
                    <a:lstStyle/>
                    <a:p>
                      <a:r>
                        <a:rPr sz="1800">
                          <a:solidFill>
                            <a:srgbClr val="172D3D"/>
                          </a:solidFill>
                          <a:latin typeface="Arial"/>
                          <a:ea typeface="Arial"/>
                          <a:cs typeface="Arial"/>
                        </a:rPr>
                        <a:t>size() / clear()</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800">
                          <a:solidFill>
                            <a:srgbClr val="172D3D"/>
                          </a:solidFill>
                          <a:latin typeface="Arial"/>
                          <a:ea typeface="Arial"/>
                          <a:cs typeface="Arial"/>
                        </a:rPr>
                        <a:t>Count mappings / remove all mappings</a:t>
                      </a:r>
                    </a:p>
                  </a:txBody>
                  <a:tcPr marL="95250" marR="95250" marT="95250" marB="76200">
                    <a:lnR w="5715">
                      <a:solidFill>
                        <a:srgbClr val="C4D6DF"/>
                      </a:solidFill>
                      <a:prstDash val="solid"/>
                    </a:lnR>
                    <a:lnB w="5715">
                      <a:solidFill>
                        <a:srgbClr val="C4D6DF"/>
                      </a:solidFill>
                      <a:prstDash val="solid"/>
                    </a:lnB>
                    <a:solidFill>
                      <a:srgbClr val="F1F6F8"/>
                    </a:solidFill>
                  </a:tcPr>
                </a:tc>
              </a:tr>
            </a:tbl>
          </a:graphicData>
        </a:graphic>
      </p:graphicFrame>
      <p:sp>
        <p:nvSpPr>
          <p:cNvPr id="3" name="caption">
            <a:extLst xmlns:a="http://schemas.openxmlformats.org/drawingml/2006/main">
              <a:ext uri="{FF2B5EF4-FFF2-40B4-BE49-F238E27FC236}">
                <a16:creationId xmlns:a16="http://schemas.microsoft.com/office/drawing/2014/main" id="{2D11C99E-943E-45A3-9758-D2B91D98B8D7}"/>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Null results need care when the map permits null values.</a:t>
            </a:r>
          </a:p>
        </p:txBody>
      </p:sp>
      <p:sp>
        <p:nvSpPr>
          <p:cNvPr id="4" name="java-TestMap">
            <a:extLst xmlns:a="http://schemas.openxmlformats.org/drawingml/2006/main">
              <a:ext uri="{FF2B5EF4-FFF2-40B4-BE49-F238E27FC236}">
                <a16:creationId xmlns:a16="http://schemas.microsoft.com/office/drawing/2014/main" id="{793C69E4-3BC6-4176-BBA3-29794B9E5AB2}"/>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8a7ecac5aaf54de7"/>
              </a:rPr>
              <a:t>TestMap.java</a:t>
            </a:r>
          </a:p>
        </p:txBody>
      </p:sp>
      <p:sp>
        <p:nvSpPr>
          <p:cNvPr id="5" name="java-NullAndFactoriesDemo">
            <a:extLst xmlns:a="http://schemas.openxmlformats.org/drawingml/2006/main">
              <a:ext uri="{FF2B5EF4-FFF2-40B4-BE49-F238E27FC236}">
                <a16:creationId xmlns:a16="http://schemas.microsoft.com/office/drawing/2014/main" id="{8CCC0FED-5699-4EBE-89B5-816FD48BF147}"/>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ae11c81014894071"/>
              </a:rPr>
              <a:t>NullAndFactoriesDemo.java</a:t>
            </a:r>
          </a:p>
        </p:txBody>
      </p:sp>
      <p:sp>
        <p:nvSpPr>
          <p:cNvPr id="6" name="footer">
            <a:extLst xmlns:a="http://schemas.openxmlformats.org/drawingml/2006/main">
              <a:ext uri="{FF2B5EF4-FFF2-40B4-BE49-F238E27FC236}">
                <a16:creationId xmlns:a16="http://schemas.microsoft.com/office/drawing/2014/main" id="{C331C359-9D93-42FF-9865-29D4A6134EE9}"/>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192B6B41-ACE8-420C-A63B-49BD0AB26093}"/>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21</a:t>
            </a:r>
          </a:p>
        </p:txBody>
      </p:sp>
    </p:spTree>
    <p:extLst>
      <p:ext uri="{BB962C8B-B14F-4D97-AF65-F5344CB8AC3E}">
        <p14:creationId xmlns:p14="http://schemas.microsoft.com/office/powerpoint/2010/main" val="191109560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30F61E6-4E29-429B-8359-5E38CABB1CD7}"/>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Trace put and replacement</a:t>
            </a:r>
          </a:p>
        </p:txBody>
      </p:sp>
      <p:graphicFrame>
        <p:nvGraphicFramePr>
          <p:cNvPr id="2" name="">
            <a:extLst xmlns:a="http://schemas.openxmlformats.org/drawingml/2006/main">
              <a:ext uri="{FF2B5EF4-FFF2-40B4-BE49-F238E27FC236}">
                <a16:creationId xmlns:a16="http://schemas.microsoft.com/office/drawing/2014/main" id="{B669F83F-B9A1-4457-AF3E-4DD2D00972B8}"/>
              </a:ext>
            </a:extLst>
          </p:cNvPr>
          <p:cNvGraphicFramePr/>
          <p:nvPr/>
        </p:nvGraphicFramePr>
        <p:xfrm>
          <a:off xmlns:a="http://schemas.openxmlformats.org/drawingml/2006/main" x="523875" y="1495425"/>
          <a:ext xmlns:a="http://schemas.openxmlformats.org/drawingml/2006/main" cx="8096250" cy="3333750"/>
        </p:xfrm>
        <a:graphic xmlns:a="http://schemas.openxmlformats.org/drawingml/2006/main">
          <a:graphicData uri="http://schemas.openxmlformats.org/drawingml/2006/table">
            <a:tbl>
              <a:tblPr/>
              <a:tblGrid>
                <a:gridCol w="2762250"/>
                <a:gridCol w="1238250"/>
                <a:gridCol w="4095750"/>
              </a:tblGrid>
              <a:tr h="666750">
                <a:tc>
                  <a:txBody>
                    <a:bodyPr/>
                    <a:lstStyle/>
                    <a:p>
                      <a:r>
                        <a:rPr sz="1650" b="1">
                          <a:solidFill>
                            <a:srgbClr val="FFFFFF"/>
                          </a:solidFill>
                          <a:latin typeface="Arial"/>
                          <a:ea typeface="Arial"/>
                          <a:cs typeface="Arial"/>
                        </a:rPr>
                        <a:t>Statement</a:t>
                      </a:r>
                    </a:p>
                  </a:txBody>
                  <a:tcPr marL="95250" marR="95250" marT="95250" marB="76200">
                    <a:lnL w="5715">
                      <a:solidFill>
                        <a:srgbClr val="C4D6DF"/>
                      </a:solidFill>
                      <a:prstDash val="solid"/>
                    </a:lnL>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Return</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Map after statement</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r>
              <a:tr h="666750">
                <a:tc>
                  <a:txBody>
                    <a:bodyPr/>
                    <a:lstStyle/>
                    <a:p>
                      <a:r>
                        <a:rPr sz="1650">
                          <a:solidFill>
                            <a:srgbClr val="172D3D"/>
                          </a:solidFill>
                          <a:latin typeface="Arial"/>
                          <a:ea typeface="Arial"/>
                          <a:cs typeface="Arial"/>
                        </a:rPr>
                        <a:t>put("Mia",88)</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null</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{Mia=88}</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put("Ada",91)</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null</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{Mia=88, Ada=91}</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put("Mia",93)</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88</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{Mia=93, Ada=91}</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size()</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2</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Two keys, not three insertions</a:t>
                      </a:r>
                    </a:p>
                  </a:txBody>
                  <a:tcPr marL="95250" marR="95250" marT="95250" marB="76200">
                    <a:lnR w="5715">
                      <a:solidFill>
                        <a:srgbClr val="C4D6DF"/>
                      </a:solidFill>
                      <a:prstDash val="solid"/>
                    </a:lnR>
                    <a:lnB w="5715">
                      <a:solidFill>
                        <a:srgbClr val="C4D6DF"/>
                      </a:solidFill>
                      <a:prstDash val="solid"/>
                    </a:lnB>
                    <a:solidFill>
                      <a:srgbClr val="F1F6F8"/>
                    </a:solidFill>
                  </a:tcPr>
                </a:tc>
              </a:tr>
            </a:tbl>
          </a:graphicData>
        </a:graphic>
      </p:graphicFrame>
      <p:sp>
        <p:nvSpPr>
          <p:cNvPr id="3" name="caption">
            <a:extLst xmlns:a="http://schemas.openxmlformats.org/drawingml/2006/main">
              <a:ext uri="{FF2B5EF4-FFF2-40B4-BE49-F238E27FC236}">
                <a16:creationId xmlns:a16="http://schemas.microsoft.com/office/drawing/2014/main" id="{7F65A248-5CB1-43DE-9D9D-1503AE9B4A41}"/>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This trace uses an insertion-order LinkedHashMap.</a:t>
            </a:r>
          </a:p>
        </p:txBody>
      </p:sp>
      <p:sp>
        <p:nvSpPr>
          <p:cNvPr id="4" name="java-TestMap">
            <a:extLst xmlns:a="http://schemas.openxmlformats.org/drawingml/2006/main">
              <a:ext uri="{FF2B5EF4-FFF2-40B4-BE49-F238E27FC236}">
                <a16:creationId xmlns:a16="http://schemas.microsoft.com/office/drawing/2014/main" id="{915477CF-18CB-4676-81A5-23E35152F1A4}"/>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0a9fc741330a484e"/>
              </a:rPr>
              <a:t>TestMap.java</a:t>
            </a:r>
          </a:p>
        </p:txBody>
      </p:sp>
      <p:sp>
        <p:nvSpPr>
          <p:cNvPr id="5" name="footer">
            <a:extLst xmlns:a="http://schemas.openxmlformats.org/drawingml/2006/main">
              <a:ext uri="{FF2B5EF4-FFF2-40B4-BE49-F238E27FC236}">
                <a16:creationId xmlns:a16="http://schemas.microsoft.com/office/drawing/2014/main" id="{4657EB7C-D72A-407C-95C7-36A41363FA55}"/>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3820A7F7-8B4F-4C4F-BA2B-60482F87ED42}"/>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22</a:t>
            </a:r>
          </a:p>
        </p:txBody>
      </p:sp>
    </p:spTree>
    <p:extLst>
      <p:ext uri="{BB962C8B-B14F-4D97-AF65-F5344CB8AC3E}">
        <p14:creationId xmlns:p14="http://schemas.microsoft.com/office/powerpoint/2010/main" val="101509889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38591EF-62FD-4617-9B64-CFE466881B5D}"/>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Choose a map implementation</a:t>
            </a:r>
          </a:p>
        </p:txBody>
      </p:sp>
      <p:graphicFrame>
        <p:nvGraphicFramePr>
          <p:cNvPr id="2" name="">
            <a:extLst xmlns:a="http://schemas.openxmlformats.org/drawingml/2006/main">
              <a:ext uri="{FF2B5EF4-FFF2-40B4-BE49-F238E27FC236}">
                <a16:creationId xmlns:a16="http://schemas.microsoft.com/office/drawing/2014/main" id="{7D712742-A1FB-452E-B1BB-E29FF87CE937}"/>
              </a:ext>
            </a:extLst>
          </p:cNvPr>
          <p:cNvGraphicFramePr/>
          <p:nvPr/>
        </p:nvGraphicFramePr>
        <p:xfrm>
          <a:off xmlns:a="http://schemas.openxmlformats.org/drawingml/2006/main" x="523875" y="1495425"/>
          <a:ext xmlns:a="http://schemas.openxmlformats.org/drawingml/2006/main" cx="8096250" cy="3333750"/>
        </p:xfrm>
        <a:graphic xmlns:a="http://schemas.openxmlformats.org/drawingml/2006/main">
          <a:graphicData uri="http://schemas.openxmlformats.org/drawingml/2006/table">
            <a:tbl>
              <a:tblPr/>
              <a:tblGrid>
                <a:gridCol w="2333625"/>
                <a:gridCol w="3143250"/>
                <a:gridCol w="2619375"/>
              </a:tblGrid>
              <a:tr h="833438">
                <a:tc>
                  <a:txBody>
                    <a:bodyPr/>
                    <a:lstStyle/>
                    <a:p>
                      <a:r>
                        <a:rPr sz="1650" b="1">
                          <a:solidFill>
                            <a:srgbClr val="FFFFFF"/>
                          </a:solidFill>
                          <a:latin typeface="Arial"/>
                          <a:ea typeface="Arial"/>
                          <a:cs typeface="Arial"/>
                        </a:rPr>
                        <a:t>Implementation</a:t>
                      </a:r>
                    </a:p>
                  </a:txBody>
                  <a:tcPr marL="95250" marR="95250" marT="95250" marB="76200">
                    <a:lnL w="5715">
                      <a:solidFill>
                        <a:srgbClr val="C4D6DF"/>
                      </a:solidFill>
                      <a:prstDash val="solid"/>
                    </a:lnL>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Iteration order</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Basic key operations</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r>
              <a:tr h="833438">
                <a:tc>
                  <a:txBody>
                    <a:bodyPr/>
                    <a:lstStyle/>
                    <a:p>
                      <a:r>
                        <a:rPr sz="1650">
                          <a:solidFill>
                            <a:srgbClr val="172D3D"/>
                          </a:solidFill>
                          <a:latin typeface="Arial"/>
                          <a:ea typeface="Arial"/>
                          <a:cs typeface="Arial"/>
                        </a:rPr>
                        <a:t>HashMap</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Unspecified</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Expected O(1)*</a:t>
                      </a:r>
                    </a:p>
                  </a:txBody>
                  <a:tcPr marL="95250" marR="95250" marT="95250" marB="76200">
                    <a:lnR w="5715">
                      <a:solidFill>
                        <a:srgbClr val="C4D6DF"/>
                      </a:solidFill>
                      <a:prstDash val="solid"/>
                    </a:lnR>
                    <a:lnB w="5715">
                      <a:solidFill>
                        <a:srgbClr val="C4D6DF"/>
                      </a:solidFill>
                      <a:prstDash val="solid"/>
                    </a:lnB>
                    <a:solidFill>
                      <a:srgbClr val="F1F6F8"/>
                    </a:solidFill>
                  </a:tcPr>
                </a:tc>
              </a:tr>
              <a:tr h="833438">
                <a:tc>
                  <a:txBody>
                    <a:bodyPr/>
                    <a:lstStyle/>
                    <a:p>
                      <a:r>
                        <a:rPr sz="1650">
                          <a:solidFill>
                            <a:srgbClr val="172D3D"/>
                          </a:solidFill>
                          <a:latin typeface="Arial"/>
                          <a:ea typeface="Arial"/>
                          <a:cs typeface="Arial"/>
                        </a:rPr>
                        <a:t>LinkedHashMap</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Insertion order by default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Expected O(1)*</a:t>
                      </a:r>
                    </a:p>
                  </a:txBody>
                  <a:tcPr marL="95250" marR="95250" marT="95250" marB="76200">
                    <a:lnR w="5715">
                      <a:solidFill>
                        <a:srgbClr val="C4D6DF"/>
                      </a:solidFill>
                      <a:prstDash val="solid"/>
                    </a:lnR>
                    <a:lnB w="5715">
                      <a:solidFill>
                        <a:srgbClr val="C4D6DF"/>
                      </a:solidFill>
                      <a:prstDash val="solid"/>
                    </a:lnB>
                    <a:solidFill>
                      <a:srgbClr val="F1F6F8"/>
                    </a:solidFill>
                  </a:tcPr>
                </a:tc>
              </a:tr>
              <a:tr h="833438">
                <a:tc>
                  <a:txBody>
                    <a:bodyPr/>
                    <a:lstStyle/>
                    <a:p>
                      <a:r>
                        <a:rPr sz="1650">
                          <a:solidFill>
                            <a:srgbClr val="172D3D"/>
                          </a:solidFill>
                          <a:latin typeface="Arial"/>
                          <a:ea typeface="Arial"/>
                          <a:cs typeface="Arial"/>
                        </a:rPr>
                        <a:t>TreeMap</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Sorted by key</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O(log n)</a:t>
                      </a:r>
                    </a:p>
                  </a:txBody>
                  <a:tcPr marL="95250" marR="95250" marT="95250" marB="76200">
                    <a:lnR w="5715">
                      <a:solidFill>
                        <a:srgbClr val="C4D6DF"/>
                      </a:solidFill>
                      <a:prstDash val="solid"/>
                    </a:lnR>
                    <a:lnB w="5715">
                      <a:solidFill>
                        <a:srgbClr val="C4D6DF"/>
                      </a:solidFill>
                      <a:prstDash val="solid"/>
                    </a:lnB>
                    <a:solidFill>
                      <a:srgbClr val="F1F6F8"/>
                    </a:solidFill>
                  </a:tcPr>
                </a:tc>
              </a:tr>
            </a:tbl>
          </a:graphicData>
        </a:graphic>
      </p:graphicFrame>
      <p:sp>
        <p:nvSpPr>
          <p:cNvPr id="3" name="caption">
            <a:extLst xmlns:a="http://schemas.openxmlformats.org/drawingml/2006/main">
              <a:ext uri="{FF2B5EF4-FFF2-40B4-BE49-F238E27FC236}">
                <a16:creationId xmlns:a16="http://schemas.microsoft.com/office/drawing/2014/main" id="{9D220E25-EF15-4450-8135-480BAB4F30F3}"/>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*Suitable hash distribution; resizing affects individual inserts.</a:t>
            </a:r>
          </a:p>
        </p:txBody>
      </p:sp>
      <p:sp>
        <p:nvSpPr>
          <p:cNvPr id="4" name="java-TestMap">
            <a:extLst xmlns:a="http://schemas.openxmlformats.org/drawingml/2006/main">
              <a:ext uri="{FF2B5EF4-FFF2-40B4-BE49-F238E27FC236}">
                <a16:creationId xmlns:a16="http://schemas.microsoft.com/office/drawing/2014/main" id="{5C7D7BE4-6B6B-4D34-8EEC-2297E34675B3}"/>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4248fae0f9204da6"/>
              </a:rPr>
              <a:t>TestMap.java</a:t>
            </a:r>
          </a:p>
        </p:txBody>
      </p:sp>
      <p:sp>
        <p:nvSpPr>
          <p:cNvPr id="5" name="footer">
            <a:extLst xmlns:a="http://schemas.openxmlformats.org/drawingml/2006/main">
              <a:ext uri="{FF2B5EF4-FFF2-40B4-BE49-F238E27FC236}">
                <a16:creationId xmlns:a16="http://schemas.microsoft.com/office/drawing/2014/main" id="{769F167C-0870-4EFF-B7D1-17D1227C2390}"/>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8258A20D-2395-49BF-9B79-CF05011CE621}"/>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23</a:t>
            </a:r>
          </a:p>
        </p:txBody>
      </p:sp>
    </p:spTree>
    <p:extLst>
      <p:ext uri="{BB962C8B-B14F-4D97-AF65-F5344CB8AC3E}">
        <p14:creationId xmlns:p14="http://schemas.microsoft.com/office/powerpoint/2010/main" val="2254892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AD095FA-4AED-4118-B9B5-B458083EE0E5}"/>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Convert to a sorted map</a:t>
            </a:r>
          </a:p>
        </p:txBody>
      </p:sp>
      <p:sp>
        <p:nvSpPr>
          <p:cNvPr id="2" name="code">
            <a:extLst xmlns:a="http://schemas.openxmlformats.org/drawingml/2006/main">
              <a:ext uri="{FF2B5EF4-FFF2-40B4-BE49-F238E27FC236}">
                <a16:creationId xmlns:a16="http://schemas.microsoft.com/office/drawing/2014/main" id="{680EF95B-14C5-435A-A16F-D47806299E22}"/>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Map&lt;String,Integer&gt; scores = new LinkedHashMap&lt;&gt;();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scores.put("Mia",88);</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scores.put("Ada",91);</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scores.put("Mia",93);</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System.out.println(scores);</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{Mia=93, Ada=91}</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System.out.println(new TreeMap&lt;&gt;(scores));</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{Ada=91, Mia=93}</a:t>
            </a:r>
          </a:p>
        </p:txBody>
      </p:sp>
      <p:sp>
        <p:nvSpPr>
          <p:cNvPr id="3" name="caption">
            <a:extLst xmlns:a="http://schemas.openxmlformats.org/drawingml/2006/main">
              <a:ext uri="{FF2B5EF4-FFF2-40B4-BE49-F238E27FC236}">
                <a16:creationId xmlns:a16="http://schemas.microsoft.com/office/drawing/2014/main" id="{FBCD8BF1-EDBB-49BB-A8B1-128FE19D538C}"/>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The new map copies mappings. It does not reorder scores.</a:t>
            </a:r>
          </a:p>
        </p:txBody>
      </p:sp>
      <p:sp>
        <p:nvSpPr>
          <p:cNvPr id="4" name="java-TestMap">
            <a:extLst xmlns:a="http://schemas.openxmlformats.org/drawingml/2006/main">
              <a:ext uri="{FF2B5EF4-FFF2-40B4-BE49-F238E27FC236}">
                <a16:creationId xmlns:a16="http://schemas.microsoft.com/office/drawing/2014/main" id="{910CB9DC-5AE3-4516-9D03-1BADB2735B98}"/>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2c19616e16fd4832"/>
              </a:rPr>
              <a:t>TestMap.java</a:t>
            </a:r>
          </a:p>
        </p:txBody>
      </p:sp>
      <p:sp>
        <p:nvSpPr>
          <p:cNvPr id="5" name="footer">
            <a:extLst xmlns:a="http://schemas.openxmlformats.org/drawingml/2006/main">
              <a:ext uri="{FF2B5EF4-FFF2-40B4-BE49-F238E27FC236}">
                <a16:creationId xmlns:a16="http://schemas.microsoft.com/office/drawing/2014/main" id="{6D56C2E3-8C8E-4C9F-89B9-AE25F5F54EF7}"/>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F175ECF2-BF66-4D1E-BF77-970B21CEDA18}"/>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24</a:t>
            </a:r>
          </a:p>
        </p:txBody>
      </p:sp>
    </p:spTree>
    <p:extLst>
      <p:ext uri="{BB962C8B-B14F-4D97-AF65-F5344CB8AC3E}">
        <p14:creationId xmlns:p14="http://schemas.microsoft.com/office/powerpoint/2010/main" val="208118620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1A7A7F2-2E15-4D3D-9492-044CE1A81E25}"/>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Iterate through Map.Entry pairs</a:t>
            </a:r>
          </a:p>
        </p:txBody>
      </p:sp>
      <p:sp>
        <p:nvSpPr>
          <p:cNvPr id="2" name="code">
            <a:extLst xmlns:a="http://schemas.openxmlformats.org/drawingml/2006/main">
              <a:ext uri="{FF2B5EF4-FFF2-40B4-BE49-F238E27FC236}">
                <a16:creationId xmlns:a16="http://schemas.microsoft.com/office/drawing/2014/main" id="{FA357730-C032-4E3A-9B8F-7B665AEE291A}"/>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for (Map.Entry&lt;String,Integer&gt; entry</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 scores.entrySet())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System.out.println(</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entry.getKey() + " -&gt; " + entry.getValue());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a:t>
            </a:r>
          </a:p>
        </p:txBody>
      </p:sp>
      <p:sp>
        <p:nvSpPr>
          <p:cNvPr id="3" name="caption">
            <a:extLst xmlns:a="http://schemas.openxmlformats.org/drawingml/2006/main">
              <a:ext uri="{FF2B5EF4-FFF2-40B4-BE49-F238E27FC236}">
                <a16:creationId xmlns:a16="http://schemas.microsoft.com/office/drawing/2014/main" id="{287B2F42-4096-46C7-8C8E-257E5341CD46}"/>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An entry supplies the associated key and value together.</a:t>
            </a:r>
          </a:p>
        </p:txBody>
      </p:sp>
      <p:sp>
        <p:nvSpPr>
          <p:cNvPr id="4" name="java-TestMap">
            <a:extLst xmlns:a="http://schemas.openxmlformats.org/drawingml/2006/main">
              <a:ext uri="{FF2B5EF4-FFF2-40B4-BE49-F238E27FC236}">
                <a16:creationId xmlns:a16="http://schemas.microsoft.com/office/drawing/2014/main" id="{66D75E7E-BF92-4CAC-9E34-3ECF597FDFEA}"/>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71649e390f0f41bc"/>
              </a:rPr>
              <a:t>TestMap.java</a:t>
            </a:r>
          </a:p>
        </p:txBody>
      </p:sp>
      <p:sp>
        <p:nvSpPr>
          <p:cNvPr id="5" name="java-MapViewsDemo">
            <a:extLst xmlns:a="http://schemas.openxmlformats.org/drawingml/2006/main">
              <a:ext uri="{FF2B5EF4-FFF2-40B4-BE49-F238E27FC236}">
                <a16:creationId xmlns:a16="http://schemas.microsoft.com/office/drawing/2014/main" id="{C69A4767-035C-4885-8DA7-1AB5CFE5F89C}"/>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72c3b325668249b3"/>
              </a:rPr>
              <a:t>MapViewsDemo.java</a:t>
            </a:r>
          </a:p>
        </p:txBody>
      </p:sp>
      <p:sp>
        <p:nvSpPr>
          <p:cNvPr id="6" name="footer">
            <a:extLst xmlns:a="http://schemas.openxmlformats.org/drawingml/2006/main">
              <a:ext uri="{FF2B5EF4-FFF2-40B4-BE49-F238E27FC236}">
                <a16:creationId xmlns:a16="http://schemas.microsoft.com/office/drawing/2014/main" id="{3B34AECB-EE80-47E0-9CEB-BD4923980ABA}"/>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9041A19A-7C27-4B14-B965-3A0BD6CAE0DF}"/>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25</a:t>
            </a:r>
          </a:p>
        </p:txBody>
      </p:sp>
    </p:spTree>
    <p:extLst>
      <p:ext uri="{BB962C8B-B14F-4D97-AF65-F5344CB8AC3E}">
        <p14:creationId xmlns:p14="http://schemas.microsoft.com/office/powerpoint/2010/main" val="38904340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F75CB0E-FA93-444A-9313-8E95C202F87B}"/>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Map collection methods return backed views</a:t>
            </a:r>
          </a:p>
        </p:txBody>
      </p:sp>
      <p:graphicFrame>
        <p:nvGraphicFramePr>
          <p:cNvPr id="2" name="">
            <a:extLst xmlns:a="http://schemas.openxmlformats.org/drawingml/2006/main">
              <a:ext uri="{FF2B5EF4-FFF2-40B4-BE49-F238E27FC236}">
                <a16:creationId xmlns:a16="http://schemas.microsoft.com/office/drawing/2014/main" id="{74900860-B617-40A0-8514-5AA24D8DA469}"/>
              </a:ext>
            </a:extLst>
          </p:cNvPr>
          <p:cNvGraphicFramePr/>
          <p:nvPr/>
        </p:nvGraphicFramePr>
        <p:xfrm>
          <a:off xmlns:a="http://schemas.openxmlformats.org/drawingml/2006/main" x="523875" y="1495425"/>
          <a:ext xmlns:a="http://schemas.openxmlformats.org/drawingml/2006/main" cx="8096250" cy="3333750"/>
        </p:xfrm>
        <a:graphic xmlns:a="http://schemas.openxmlformats.org/drawingml/2006/main">
          <a:graphicData uri="http://schemas.openxmlformats.org/drawingml/2006/table">
            <a:tbl>
              <a:tblPr/>
              <a:tblGrid>
                <a:gridCol w="2238375"/>
                <a:gridCol w="3429000"/>
                <a:gridCol w="2428875"/>
              </a:tblGrid>
              <a:tr h="833438">
                <a:tc>
                  <a:txBody>
                    <a:bodyPr/>
                    <a:lstStyle/>
                    <a:p>
                      <a:r>
                        <a:rPr sz="1650" b="1">
                          <a:solidFill>
                            <a:srgbClr val="FFFFFF"/>
                          </a:solidFill>
                          <a:latin typeface="Arial"/>
                          <a:ea typeface="Arial"/>
                          <a:cs typeface="Arial"/>
                        </a:rPr>
                        <a:t>Method</a:t>
                      </a:r>
                    </a:p>
                  </a:txBody>
                  <a:tcPr marL="95250" marR="95250" marT="95250" marB="76200">
                    <a:lnL w="5715">
                      <a:solidFill>
                        <a:srgbClr val="C4D6DF"/>
                      </a:solidFill>
                      <a:prstDash val="solid"/>
                    </a:lnL>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Return type</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Can values repeat?</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r>
              <a:tr h="833438">
                <a:tc>
                  <a:txBody>
                    <a:bodyPr/>
                    <a:lstStyle/>
                    <a:p>
                      <a:r>
                        <a:rPr sz="1650">
                          <a:solidFill>
                            <a:srgbClr val="172D3D"/>
                          </a:solidFill>
                          <a:latin typeface="Arial"/>
                          <a:ea typeface="Arial"/>
                          <a:cs typeface="Arial"/>
                        </a:rPr>
                        <a:t>keySet()</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Set&lt;K&gt;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Keys are unique</a:t>
                      </a:r>
                    </a:p>
                  </a:txBody>
                  <a:tcPr marL="95250" marR="95250" marT="95250" marB="76200">
                    <a:lnR w="5715">
                      <a:solidFill>
                        <a:srgbClr val="C4D6DF"/>
                      </a:solidFill>
                      <a:prstDash val="solid"/>
                    </a:lnR>
                    <a:lnB w="5715">
                      <a:solidFill>
                        <a:srgbClr val="C4D6DF"/>
                      </a:solidFill>
                      <a:prstDash val="solid"/>
                    </a:lnB>
                    <a:solidFill>
                      <a:srgbClr val="F1F6F8"/>
                    </a:solidFill>
                  </a:tcPr>
                </a:tc>
              </a:tr>
              <a:tr h="833438">
                <a:tc>
                  <a:txBody>
                    <a:bodyPr/>
                    <a:lstStyle/>
                    <a:p>
                      <a:r>
                        <a:rPr sz="1650">
                          <a:solidFill>
                            <a:srgbClr val="172D3D"/>
                          </a:solidFill>
                          <a:latin typeface="Arial"/>
                          <a:ea typeface="Arial"/>
                          <a:cs typeface="Arial"/>
                        </a:rPr>
                        <a:t>values()</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Collection&lt;V&gt;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Yes</a:t>
                      </a:r>
                    </a:p>
                  </a:txBody>
                  <a:tcPr marL="95250" marR="95250" marT="95250" marB="76200">
                    <a:lnR w="5715">
                      <a:solidFill>
                        <a:srgbClr val="C4D6DF"/>
                      </a:solidFill>
                      <a:prstDash val="solid"/>
                    </a:lnR>
                    <a:lnB w="5715">
                      <a:solidFill>
                        <a:srgbClr val="C4D6DF"/>
                      </a:solidFill>
                      <a:prstDash val="solid"/>
                    </a:lnB>
                    <a:solidFill>
                      <a:srgbClr val="F1F6F8"/>
                    </a:solidFill>
                  </a:tcPr>
                </a:tc>
              </a:tr>
              <a:tr h="833438">
                <a:tc>
                  <a:txBody>
                    <a:bodyPr/>
                    <a:lstStyle/>
                    <a:p>
                      <a:r>
                        <a:rPr sz="1650">
                          <a:solidFill>
                            <a:srgbClr val="172D3D"/>
                          </a:solidFill>
                          <a:latin typeface="Arial"/>
                          <a:ea typeface="Arial"/>
                          <a:cs typeface="Arial"/>
                        </a:rPr>
                        <a:t>entrySet()</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Set&lt;Map.Entry&lt;K,V&gt;&gt;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One pair per key</a:t>
                      </a:r>
                    </a:p>
                  </a:txBody>
                  <a:tcPr marL="95250" marR="95250" marT="95250" marB="76200">
                    <a:lnR w="5715">
                      <a:solidFill>
                        <a:srgbClr val="C4D6DF"/>
                      </a:solidFill>
                      <a:prstDash val="solid"/>
                    </a:lnR>
                    <a:lnB w="5715">
                      <a:solidFill>
                        <a:srgbClr val="C4D6DF"/>
                      </a:solidFill>
                      <a:prstDash val="solid"/>
                    </a:lnB>
                    <a:solidFill>
                      <a:srgbClr val="F1F6F8"/>
                    </a:solidFill>
                  </a:tcPr>
                </a:tc>
              </a:tr>
            </a:tbl>
          </a:graphicData>
        </a:graphic>
      </p:graphicFrame>
      <p:sp>
        <p:nvSpPr>
          <p:cNvPr id="3" name="caption">
            <a:extLst xmlns:a="http://schemas.openxmlformats.org/drawingml/2006/main">
              <a:ext uri="{FF2B5EF4-FFF2-40B4-BE49-F238E27FC236}">
                <a16:creationId xmlns:a16="http://schemas.microsoft.com/office/drawing/2014/main" id="{2B3C1005-5B99-4B6D-9667-3D2FE995E14D}"/>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On mutable JDK maps, supported removals through a view affect the map.</a:t>
            </a:r>
          </a:p>
        </p:txBody>
      </p:sp>
      <p:sp>
        <p:nvSpPr>
          <p:cNvPr id="4" name="java-MapViewsDemo">
            <a:extLst xmlns:a="http://schemas.openxmlformats.org/drawingml/2006/main">
              <a:ext uri="{FF2B5EF4-FFF2-40B4-BE49-F238E27FC236}">
                <a16:creationId xmlns:a16="http://schemas.microsoft.com/office/drawing/2014/main" id="{60C95A15-2DAC-4750-BDEB-344D78471A68}"/>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88d061be07484bf8"/>
              </a:rPr>
              <a:t>MapViewsDemo.java</a:t>
            </a:r>
          </a:p>
        </p:txBody>
      </p:sp>
      <p:sp>
        <p:nvSpPr>
          <p:cNvPr id="5" name="footer">
            <a:extLst xmlns:a="http://schemas.openxmlformats.org/drawingml/2006/main">
              <a:ext uri="{FF2B5EF4-FFF2-40B4-BE49-F238E27FC236}">
                <a16:creationId xmlns:a16="http://schemas.microsoft.com/office/drawing/2014/main" id="{F70B75A5-8B86-436E-9A9F-421CF74DE341}"/>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39180D39-29CB-48FC-A5B5-6896AA492B00}"/>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26</a:t>
            </a:r>
          </a:p>
        </p:txBody>
      </p:sp>
    </p:spTree>
    <p:extLst>
      <p:ext uri="{BB962C8B-B14F-4D97-AF65-F5344CB8AC3E}">
        <p14:creationId xmlns:p14="http://schemas.microsoft.com/office/powerpoint/2010/main" val="38778572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6BEFDF8-116F-4ABC-8377-1E061B16125C}"/>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Null values and unmodifiable factories</a:t>
            </a:r>
          </a:p>
        </p:txBody>
      </p:sp>
      <p:sp>
        <p:nvSpPr>
          <p:cNvPr id="2" name="code">
            <a:extLst xmlns:a="http://schemas.openxmlformats.org/drawingml/2006/main">
              <a:ext uri="{FF2B5EF4-FFF2-40B4-BE49-F238E27FC236}">
                <a16:creationId xmlns:a16="http://schemas.microsoft.com/office/drawing/2014/main" id="{4F214A56-2208-4A8F-A6FD-0B57A90B1FB4}"/>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Map&lt;String,Integer&gt; map = new HashMap&lt;&gt;();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map.put("Ada",null);</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System.out.println(map.get("Ada")); // null</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System.out.println(map.get("Zoe")); // null</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System.out.println(map.containsKey("Ada")); // true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System.out.println(map.containsKey("Zoe")); // false</a:t>
            </a:r>
          </a:p>
        </p:txBody>
      </p:sp>
      <p:sp>
        <p:nvSpPr>
          <p:cNvPr id="3" name="caption">
            <a:extLst xmlns:a="http://schemas.openxmlformats.org/drawingml/2006/main">
              <a:ext uri="{FF2B5EF4-FFF2-40B4-BE49-F238E27FC236}">
                <a16:creationId xmlns:a16="http://schemas.microsoft.com/office/drawing/2014/main" id="{C7520383-1E7B-4216-BCBB-0F106BE98D49}"/>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Set.of and Map.of create unmodifiable collections and reject nulls.</a:t>
            </a:r>
          </a:p>
        </p:txBody>
      </p:sp>
      <p:sp>
        <p:nvSpPr>
          <p:cNvPr id="4" name="java-NullAndFactoriesDemo">
            <a:extLst xmlns:a="http://schemas.openxmlformats.org/drawingml/2006/main">
              <a:ext uri="{FF2B5EF4-FFF2-40B4-BE49-F238E27FC236}">
                <a16:creationId xmlns:a16="http://schemas.microsoft.com/office/drawing/2014/main" id="{1C16ED90-42A3-4A37-8210-16A5A5FDA1BB}"/>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9285adb259234cd6"/>
              </a:rPr>
              <a:t>NullAndFactoriesDemo.java</a:t>
            </a:r>
          </a:p>
        </p:txBody>
      </p:sp>
      <p:sp>
        <p:nvSpPr>
          <p:cNvPr id="5" name="footer">
            <a:extLst xmlns:a="http://schemas.openxmlformats.org/drawingml/2006/main">
              <a:ext uri="{FF2B5EF4-FFF2-40B4-BE49-F238E27FC236}">
                <a16:creationId xmlns:a16="http://schemas.microsoft.com/office/drawing/2014/main" id="{74B94CE3-6712-4853-B261-8C3E46FC5789}"/>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1251C423-59BC-40FF-A4AB-412E8057F8AA}"/>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27</a:t>
            </a:r>
          </a:p>
        </p:txBody>
      </p:sp>
    </p:spTree>
    <p:extLst>
      <p:ext uri="{BB962C8B-B14F-4D97-AF65-F5344CB8AC3E}">
        <p14:creationId xmlns:p14="http://schemas.microsoft.com/office/powerpoint/2010/main" val="204485579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CEDB14F-2FE5-4ABF-B651-E0BAFD8AE974}"/>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Quiz: keys, values, and views</a:t>
            </a:r>
          </a:p>
        </p:txBody>
      </p:sp>
      <p:sp>
        <p:nvSpPr>
          <p:cNvPr id="2" name="body">
            <a:extLst xmlns:a="http://schemas.openxmlformats.org/drawingml/2006/main">
              <a:ext uri="{FF2B5EF4-FFF2-40B4-BE49-F238E27FC236}">
                <a16:creationId xmlns:a16="http://schemas.microsoft.com/office/drawing/2014/main" id="{70F444F1-B306-48DD-ACF5-397606D87552}"/>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1. put("A",4), put("B",4), put("A",7): size?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2. Can values() contain two equal values?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3. Does keySet().remove("A") remove a mapping?</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4. Is a HashMap sorted by its keys?</a:t>
            </a:r>
          </a:p>
        </p:txBody>
      </p:sp>
      <p:sp>
        <p:nvSpPr>
          <p:cNvPr id="3" name="java-TestMap">
            <a:extLst xmlns:a="http://schemas.openxmlformats.org/drawingml/2006/main">
              <a:ext uri="{FF2B5EF4-FFF2-40B4-BE49-F238E27FC236}">
                <a16:creationId xmlns:a16="http://schemas.microsoft.com/office/drawing/2014/main" id="{B7AF1013-18DA-4F72-AAFD-D3631156B556}"/>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45c67eeb14a04f7f"/>
              </a:rPr>
              <a:t>TestMap.java</a:t>
            </a:r>
          </a:p>
        </p:txBody>
      </p:sp>
      <p:sp>
        <p:nvSpPr>
          <p:cNvPr id="4" name="java-MapViewsDemo">
            <a:extLst xmlns:a="http://schemas.openxmlformats.org/drawingml/2006/main">
              <a:ext uri="{FF2B5EF4-FFF2-40B4-BE49-F238E27FC236}">
                <a16:creationId xmlns:a16="http://schemas.microsoft.com/office/drawing/2014/main" id="{D9CC4309-6F99-4910-8534-4F81393B91E3}"/>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09c7fded4428457d"/>
              </a:rPr>
              <a:t>MapViewsDemo.java</a:t>
            </a:r>
          </a:p>
        </p:txBody>
      </p:sp>
      <p:sp>
        <p:nvSpPr>
          <p:cNvPr id="5" name="footer">
            <a:extLst xmlns:a="http://schemas.openxmlformats.org/drawingml/2006/main">
              <a:ext uri="{FF2B5EF4-FFF2-40B4-BE49-F238E27FC236}">
                <a16:creationId xmlns:a16="http://schemas.microsoft.com/office/drawing/2014/main" id="{A2BFBF8D-7057-403F-BA3F-81F3C232352B}"/>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BC6EBF9E-A884-4543-B928-F6E69DF93558}"/>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28</a:t>
            </a:r>
          </a:p>
        </p:txBody>
      </p:sp>
    </p:spTree>
    <p:extLst>
      <p:ext uri="{BB962C8B-B14F-4D97-AF65-F5344CB8AC3E}">
        <p14:creationId xmlns:p14="http://schemas.microsoft.com/office/powerpoint/2010/main" val="82474463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EAE8A2B7-9B56-4652-AD0B-6D954532889D}"/>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A small teaching Map interface</a:t>
            </a:r>
          </a:p>
        </p:txBody>
      </p:sp>
      <p:sp>
        <p:nvSpPr>
          <p:cNvPr id="2" name="code">
            <a:extLst xmlns:a="http://schemas.openxmlformats.org/drawingml/2006/main">
              <a:ext uri="{FF2B5EF4-FFF2-40B4-BE49-F238E27FC236}">
                <a16:creationId xmlns:a16="http://schemas.microsoft.com/office/drawing/2014/main" id="{0538B3C2-0836-46EB-AF06-1B513BCBAFD0}"/>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public interface MyMap&lt;K,V&gt;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V get(K key);</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V put(K key,V value);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V remove(K key);</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boolean containsKey(K key);</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boolean containsValue(V value);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int size();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boolean isEmpty();</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void clear();</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 Snapshot collection methods are in the full file.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a:t>
            </a:r>
          </a:p>
        </p:txBody>
      </p:sp>
      <p:sp>
        <p:nvSpPr>
          <p:cNvPr id="3" name="caption">
            <a:extLst xmlns:a="http://schemas.openxmlformats.org/drawingml/2006/main">
              <a:ext uri="{FF2B5EF4-FFF2-40B4-BE49-F238E27FC236}">
                <a16:creationId xmlns:a16="http://schemas.microsoft.com/office/drawing/2014/main" id="{F6C12762-21A5-4C4C-9999-98CC4A85242B}"/>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MyMap is a separate exercise API with non-null keys and values.</a:t>
            </a:r>
          </a:p>
        </p:txBody>
      </p:sp>
      <p:sp>
        <p:nvSpPr>
          <p:cNvPr id="4" name="java-MyMap">
            <a:extLst xmlns:a="http://schemas.openxmlformats.org/drawingml/2006/main">
              <a:ext uri="{FF2B5EF4-FFF2-40B4-BE49-F238E27FC236}">
                <a16:creationId xmlns:a16="http://schemas.microsoft.com/office/drawing/2014/main" id="{F0C05AAE-065C-43F3-8553-686369A54BB3}"/>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730bc3cda71a405b"/>
              </a:rPr>
              <a:t>MyMap.java</a:t>
            </a:r>
          </a:p>
        </p:txBody>
      </p:sp>
      <p:sp>
        <p:nvSpPr>
          <p:cNvPr id="5" name="java-MyHashMap">
            <a:extLst xmlns:a="http://schemas.openxmlformats.org/drawingml/2006/main">
              <a:ext uri="{FF2B5EF4-FFF2-40B4-BE49-F238E27FC236}">
                <a16:creationId xmlns:a16="http://schemas.microsoft.com/office/drawing/2014/main" id="{2413BFFD-4AFE-4F8A-AB9C-8E09301BDAFE}"/>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986ac5b4bc734be9"/>
              </a:rPr>
              <a:t>MyHashMap.java</a:t>
            </a:r>
          </a:p>
        </p:txBody>
      </p:sp>
      <p:sp>
        <p:nvSpPr>
          <p:cNvPr id="6" name="footer">
            <a:extLst xmlns:a="http://schemas.openxmlformats.org/drawingml/2006/main">
              <a:ext uri="{FF2B5EF4-FFF2-40B4-BE49-F238E27FC236}">
                <a16:creationId xmlns:a16="http://schemas.microsoft.com/office/drawing/2014/main" id="{34B99D14-B484-46DB-B93A-41AEF7BC4185}"/>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87E9D9A7-D2ED-4E41-B5BC-AE1759DA6036}"/>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29</a:t>
            </a:r>
          </a:p>
        </p:txBody>
      </p:sp>
    </p:spTree>
    <p:extLst>
      <p:ext uri="{BB962C8B-B14F-4D97-AF65-F5344CB8AC3E}">
        <p14:creationId xmlns:p14="http://schemas.microsoft.com/office/powerpoint/2010/main" val="143805445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729BE87-2383-453B-AAEC-7B62A0D2C7EA}"/>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Separate chaining: put an entry</a:t>
            </a:r>
          </a:p>
        </p:txBody>
      </p:sp>
      <p:sp>
        <p:nvSpPr>
          <p:cNvPr id="2" name="body">
            <a:extLst xmlns:a="http://schemas.openxmlformats.org/drawingml/2006/main">
              <a:ext uri="{FF2B5EF4-FFF2-40B4-BE49-F238E27FC236}">
                <a16:creationId xmlns:a16="http://schemas.microsoft.com/office/drawing/2014/main" id="{42559D45-BEC7-4CD7-AD09-8621F85CEDA8}"/>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Hash the key to a bucket.</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Search that bucket using key equality.</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If present: replace the value and return the old value.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If absent: add one entry and increase size.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Grow and rehash when the load threshold is exceeded.</a:t>
            </a:r>
          </a:p>
        </p:txBody>
      </p:sp>
      <p:sp>
        <p:nvSpPr>
          <p:cNvPr id="3" name="caption">
            <a:extLst xmlns:a="http://schemas.openxmlformats.org/drawingml/2006/main">
              <a:ext uri="{FF2B5EF4-FFF2-40B4-BE49-F238E27FC236}">
                <a16:creationId xmlns:a16="http://schemas.microsoft.com/office/drawing/2014/main" id="{941ECFAB-5CA8-48CA-B4B0-36BF3F92EAF1}"/>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Equal keys share a bucket; unequal keys can collide there.</a:t>
            </a:r>
          </a:p>
        </p:txBody>
      </p:sp>
      <p:sp>
        <p:nvSpPr>
          <p:cNvPr id="4" name="java-MyHashMap">
            <a:extLst xmlns:a="http://schemas.openxmlformats.org/drawingml/2006/main">
              <a:ext uri="{FF2B5EF4-FFF2-40B4-BE49-F238E27FC236}">
                <a16:creationId xmlns:a16="http://schemas.microsoft.com/office/drawing/2014/main" id="{08D408B6-A072-4C63-BD57-50915E17FBCA}"/>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72eb02463f884f63"/>
              </a:rPr>
              <a:t>MyHashMap.java</a:t>
            </a:r>
          </a:p>
        </p:txBody>
      </p:sp>
      <p:sp>
        <p:nvSpPr>
          <p:cNvPr id="5" name="java-TestMyHashMap">
            <a:extLst xmlns:a="http://schemas.openxmlformats.org/drawingml/2006/main">
              <a:ext uri="{FF2B5EF4-FFF2-40B4-BE49-F238E27FC236}">
                <a16:creationId xmlns:a16="http://schemas.microsoft.com/office/drawing/2014/main" id="{FC26543B-447C-47BF-9683-70489A197C1B}"/>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41ca806e6a5640b0"/>
              </a:rPr>
              <a:t>TestMyHashMap.java</a:t>
            </a:r>
          </a:p>
        </p:txBody>
      </p:sp>
      <p:sp>
        <p:nvSpPr>
          <p:cNvPr id="6" name="footer">
            <a:extLst xmlns:a="http://schemas.openxmlformats.org/drawingml/2006/main">
              <a:ext uri="{FF2B5EF4-FFF2-40B4-BE49-F238E27FC236}">
                <a16:creationId xmlns:a16="http://schemas.microsoft.com/office/drawing/2014/main" id="{EADC3F76-6CD1-4866-823A-38EAA3836EEE}"/>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634B764C-A22D-47D9-A9B7-CB9D6EBC40D8}"/>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30</a:t>
            </a:r>
          </a:p>
        </p:txBody>
      </p:sp>
    </p:spTree>
    <p:extLst>
      <p:ext uri="{BB962C8B-B14F-4D97-AF65-F5344CB8AC3E}">
        <p14:creationId xmlns:p14="http://schemas.microsoft.com/office/powerpoint/2010/main" val="26622792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1543C4F-65AD-4116-8243-8712C7DDBC70}"/>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Teaching snapshots and JDK views differ</a:t>
            </a:r>
          </a:p>
        </p:txBody>
      </p:sp>
      <p:sp>
        <p:nvSpPr>
          <p:cNvPr id="2" name="code">
            <a:extLst xmlns:a="http://schemas.openxmlformats.org/drawingml/2006/main">
              <a:ext uri="{FF2B5EF4-FFF2-40B4-BE49-F238E27FC236}">
                <a16:creationId xmlns:a16="http://schemas.microsoft.com/office/drawing/2014/main" id="{6AFA8E6C-F226-487B-97D5-FD235D9880DF}"/>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MyMap&lt;String,Integer&gt; scores = new MyHashMap&lt;&gt;();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scores.put("Ada",95);</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scores.put("Mia",95);</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Set&lt;String&gt; keys = scores.keySet();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scores.remove("Ada");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System.out.println(keys.contains("Ada")); // true</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System.out.println(scores.size()); // 1</a:t>
            </a:r>
          </a:p>
        </p:txBody>
      </p:sp>
      <p:sp>
        <p:nvSpPr>
          <p:cNvPr id="3" name="caption">
            <a:extLst xmlns:a="http://schemas.openxmlformats.org/drawingml/2006/main">
              <a:ext uri="{FF2B5EF4-FFF2-40B4-BE49-F238E27FC236}">
                <a16:creationId xmlns:a16="http://schemas.microsoft.com/office/drawing/2014/main" id="{7AC3B835-9FF1-498A-AC46-03F4A81FFA85}"/>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Our teaching methods return unmodifiable independent snapshots.</a:t>
            </a:r>
          </a:p>
        </p:txBody>
      </p:sp>
      <p:sp>
        <p:nvSpPr>
          <p:cNvPr id="4" name="java-TestMyHashMap">
            <a:extLst xmlns:a="http://schemas.openxmlformats.org/drawingml/2006/main">
              <a:ext uri="{FF2B5EF4-FFF2-40B4-BE49-F238E27FC236}">
                <a16:creationId xmlns:a16="http://schemas.microsoft.com/office/drawing/2014/main" id="{0D036FFC-7049-4A77-B2BC-563A084F538C}"/>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5406636c6119488a"/>
              </a:rPr>
              <a:t>TestMyHashMap.java</a:t>
            </a:r>
          </a:p>
        </p:txBody>
      </p:sp>
      <p:sp>
        <p:nvSpPr>
          <p:cNvPr id="5" name="java-MyHashMap">
            <a:extLst xmlns:a="http://schemas.openxmlformats.org/drawingml/2006/main">
              <a:ext uri="{FF2B5EF4-FFF2-40B4-BE49-F238E27FC236}">
                <a16:creationId xmlns:a16="http://schemas.microsoft.com/office/drawing/2014/main" id="{4436521D-9D10-4E12-B093-F5A603836ACE}"/>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ff7b34e7ecd54b00"/>
              </a:rPr>
              <a:t>MyHashMap.java</a:t>
            </a:r>
          </a:p>
        </p:txBody>
      </p:sp>
      <p:sp>
        <p:nvSpPr>
          <p:cNvPr id="6" name="footer">
            <a:extLst xmlns:a="http://schemas.openxmlformats.org/drawingml/2006/main">
              <a:ext uri="{FF2B5EF4-FFF2-40B4-BE49-F238E27FC236}">
                <a16:creationId xmlns:a16="http://schemas.microsoft.com/office/drawing/2014/main" id="{4D7E7BEE-C8AC-410A-8824-19A16DA5CE00}"/>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AAEC9372-B56C-4203-9532-C06DB87FDE81}"/>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31</a:t>
            </a:r>
          </a:p>
        </p:txBody>
      </p:sp>
    </p:spTree>
    <p:extLst>
      <p:ext uri="{BB962C8B-B14F-4D97-AF65-F5344CB8AC3E}">
        <p14:creationId xmlns:p14="http://schemas.microsoft.com/office/powerpoint/2010/main" val="12163384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68BCF82-48CE-4922-9D6E-522B581ABB61}"/>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Case study: count word occurrences</a:t>
            </a:r>
          </a:p>
        </p:txBody>
      </p:sp>
      <p:sp>
        <p:nvSpPr>
          <p:cNvPr id="2" name="body">
            <a:extLst xmlns:a="http://schemas.openxmlformats.org/drawingml/2006/main">
              <a:ext uri="{FF2B5EF4-FFF2-40B4-BE49-F238E27FC236}">
                <a16:creationId xmlns:a16="http://schemas.microsoft.com/office/drawing/2014/main" id="{F308FFA0-F1EF-41DC-8F5D-773015717D48}"/>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Normalize case using Locale.ROOT.</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Split text into letter/digit runs; ignore empty tokens.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Use each word as the key and its count as the value.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Increment the count with merge.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Copy to a TreeMap for sorted output.</a:t>
            </a:r>
          </a:p>
        </p:txBody>
      </p:sp>
      <p:sp>
        <p:nvSpPr>
          <p:cNvPr id="3" name="caption">
            <a:extLst xmlns:a="http://schemas.openxmlformats.org/drawingml/2006/main">
              <a:ext uri="{FF2B5EF4-FFF2-40B4-BE49-F238E27FC236}">
                <a16:creationId xmlns:a16="http://schemas.microsoft.com/office/drawing/2014/main" id="{4986C82C-5E0D-478C-88F1-D598C0C17E4B}"/>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Define tokenization before comparing counts.</a:t>
            </a:r>
          </a:p>
        </p:txBody>
      </p:sp>
      <p:sp>
        <p:nvSpPr>
          <p:cNvPr id="4" name="java-CountOccurrenceOfWords">
            <a:extLst xmlns:a="http://schemas.openxmlformats.org/drawingml/2006/main">
              <a:ext uri="{FF2B5EF4-FFF2-40B4-BE49-F238E27FC236}">
                <a16:creationId xmlns:a16="http://schemas.microsoft.com/office/drawing/2014/main" id="{A44C8CA9-2C00-4872-A887-E14BBAF14F45}"/>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1f8ba07b46214d3e"/>
              </a:rPr>
              <a:t>CountOccurrenceOfWords.java</a:t>
            </a:r>
          </a:p>
        </p:txBody>
      </p:sp>
      <p:sp>
        <p:nvSpPr>
          <p:cNvPr id="5" name="footer">
            <a:extLst xmlns:a="http://schemas.openxmlformats.org/drawingml/2006/main">
              <a:ext uri="{FF2B5EF4-FFF2-40B4-BE49-F238E27FC236}">
                <a16:creationId xmlns:a16="http://schemas.microsoft.com/office/drawing/2014/main" id="{3C9E03C3-DFF8-4B5F-B732-D3EA95392CF3}"/>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FE6ADF2C-FA0F-460E-8030-386F37BD55D3}"/>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32</a:t>
            </a:r>
          </a:p>
        </p:txBody>
      </p:sp>
    </p:spTree>
    <p:extLst>
      <p:ext uri="{BB962C8B-B14F-4D97-AF65-F5344CB8AC3E}">
        <p14:creationId xmlns:p14="http://schemas.microsoft.com/office/powerpoint/2010/main" val="17321205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1A9F864-C093-4E10-94A6-FBE8C1829F6C}"/>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Word counting with merge</a:t>
            </a:r>
          </a:p>
        </p:txBody>
      </p:sp>
      <p:sp>
        <p:nvSpPr>
          <p:cNvPr id="2" name="code">
            <a:extLst xmlns:a="http://schemas.openxmlformats.org/drawingml/2006/main">
              <a:ext uri="{FF2B5EF4-FFF2-40B4-BE49-F238E27FC236}">
                <a16:creationId xmlns:a16="http://schemas.microsoft.com/office/drawing/2014/main" id="{4E68A2B5-AC7A-4B16-8263-EBF049F9EA97}"/>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Map&lt;String,Integer&gt; counts = new HashMap&lt;&gt;();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for (String word : text.toLowerCase(Locale.ROOT)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.split("[^\\p{L}\\p{N}]+")) {</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if (!word.isEmpty())</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counts.merge(word,1,Integer::sum);</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return new TreeMap&lt;&gt;(counts);</a:t>
            </a:r>
          </a:p>
        </p:txBody>
      </p:sp>
      <p:sp>
        <p:nvSpPr>
          <p:cNvPr id="3" name="caption">
            <a:extLst xmlns:a="http://schemas.openxmlformats.org/drawingml/2006/main">
              <a:ext uri="{FF2B5EF4-FFF2-40B4-BE49-F238E27FC236}">
                <a16:creationId xmlns:a16="http://schemas.microsoft.com/office/drawing/2014/main" id="{384A895F-E5DC-477B-BCC0-ACE0C12D2EDF}"/>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Java, java! Maps help; maps count. → java=2, maps=2</a:t>
            </a:r>
          </a:p>
        </p:txBody>
      </p:sp>
      <p:sp>
        <p:nvSpPr>
          <p:cNvPr id="4" name="java-CountOccurrenceOfWords">
            <a:extLst xmlns:a="http://schemas.openxmlformats.org/drawingml/2006/main">
              <a:ext uri="{FF2B5EF4-FFF2-40B4-BE49-F238E27FC236}">
                <a16:creationId xmlns:a16="http://schemas.microsoft.com/office/drawing/2014/main" id="{D1EE2126-D195-403D-8DAA-611958E6C4DE}"/>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4355325252174181"/>
              </a:rPr>
              <a:t>CountOccurrenceOfWords.java</a:t>
            </a:r>
          </a:p>
        </p:txBody>
      </p:sp>
      <p:sp>
        <p:nvSpPr>
          <p:cNvPr id="5" name="footer">
            <a:extLst xmlns:a="http://schemas.openxmlformats.org/drawingml/2006/main">
              <a:ext uri="{FF2B5EF4-FFF2-40B4-BE49-F238E27FC236}">
                <a16:creationId xmlns:a16="http://schemas.microsoft.com/office/drawing/2014/main" id="{C9F9CE88-A857-40D5-ABA7-35F347943D25}"/>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E69E5EC6-835E-4F1C-A7CD-64A5E990E79A}"/>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33</a:t>
            </a:r>
          </a:p>
        </p:txBody>
      </p:sp>
    </p:spTree>
    <p:extLst>
      <p:ext uri="{BB962C8B-B14F-4D97-AF65-F5344CB8AC3E}">
        <p14:creationId xmlns:p14="http://schemas.microsoft.com/office/powerpoint/2010/main" val="108193562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9D7D61D-9C03-4D37-A7FB-22FC51FF02BE}"/>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Multisets and multimaps</a:t>
            </a:r>
          </a:p>
        </p:txBody>
      </p:sp>
      <p:graphicFrame>
        <p:nvGraphicFramePr>
          <p:cNvPr id="2" name="">
            <a:extLst xmlns:a="http://schemas.openxmlformats.org/drawingml/2006/main">
              <a:ext uri="{FF2B5EF4-FFF2-40B4-BE49-F238E27FC236}">
                <a16:creationId xmlns:a16="http://schemas.microsoft.com/office/drawing/2014/main" id="{C507D23A-0344-4B20-88D4-5B62AFC1CDC2}"/>
              </a:ext>
            </a:extLst>
          </p:cNvPr>
          <p:cNvGraphicFramePr/>
          <p:nvPr/>
        </p:nvGraphicFramePr>
        <p:xfrm>
          <a:off xmlns:a="http://schemas.openxmlformats.org/drawingml/2006/main" x="523875" y="1495425"/>
          <a:ext xmlns:a="http://schemas.openxmlformats.org/drawingml/2006/main" cx="8096250" cy="3333750"/>
        </p:xfrm>
        <a:graphic xmlns:a="http://schemas.openxmlformats.org/drawingml/2006/main">
          <a:graphicData uri="http://schemas.openxmlformats.org/drawingml/2006/table">
            <a:tbl>
              <a:tblPr/>
              <a:tblGrid>
                <a:gridCol w="2238375"/>
                <a:gridCol w="3238500"/>
                <a:gridCol w="2619375"/>
              </a:tblGrid>
              <a:tr h="666750">
                <a:tc>
                  <a:txBody>
                    <a:bodyPr/>
                    <a:lstStyle/>
                    <a:p>
                      <a:r>
                        <a:rPr sz="1650" b="1">
                          <a:solidFill>
                            <a:srgbClr val="FFFFFF"/>
                          </a:solidFill>
                          <a:latin typeface="Arial"/>
                          <a:ea typeface="Arial"/>
                          <a:cs typeface="Arial"/>
                        </a:rPr>
                        <a:t>Structure</a:t>
                      </a:r>
                    </a:p>
                  </a:txBody>
                  <a:tcPr marL="95250" marR="95250" marT="95250" marB="76200">
                    <a:lnL w="5715">
                      <a:solidFill>
                        <a:srgbClr val="C4D6DF"/>
                      </a:solidFill>
                      <a:prstDash val="solid"/>
                    </a:lnL>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Representation</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c>
                  <a:txBody>
                    <a:bodyPr/>
                    <a:lstStyle/>
                    <a:p>
                      <a:r>
                        <a:rPr sz="1650" b="1">
                          <a:solidFill>
                            <a:srgbClr val="FFFFFF"/>
                          </a:solidFill>
                          <a:latin typeface="Arial"/>
                          <a:ea typeface="Arial"/>
                          <a:cs typeface="Arial"/>
                        </a:rPr>
                        <a:t>Example</a:t>
                      </a:r>
                    </a:p>
                  </a:txBody>
                  <a:tcPr marL="95250" marR="95250" marT="95250" marB="76200">
                    <a:lnR w="5715">
                      <a:solidFill>
                        <a:srgbClr val="C4D6DF"/>
                      </a:solidFill>
                      <a:prstDash val="solid"/>
                    </a:lnR>
                    <a:lnT w="5715">
                      <a:solidFill>
                        <a:srgbClr val="C4D6DF"/>
                      </a:solidFill>
                      <a:prstDash val="solid"/>
                    </a:lnT>
                    <a:lnB w="5715">
                      <a:solidFill>
                        <a:srgbClr val="C4D6DF"/>
                      </a:solidFill>
                      <a:prstDash val="solid"/>
                    </a:lnB>
                    <a:solidFill>
                      <a:srgbClr val="153B50"/>
                    </a:solidFill>
                  </a:tcPr>
                </a:tc>
              </a:tr>
              <a:tr h="666750">
                <a:tc>
                  <a:txBody>
                    <a:bodyPr/>
                    <a:lstStyle/>
                    <a:p>
                      <a:r>
                        <a:rPr sz="1650">
                          <a:solidFill>
                            <a:srgbClr val="172D3D"/>
                          </a:solidFill>
                          <a:latin typeface="Arial"/>
                          <a:ea typeface="Arial"/>
                          <a:cs typeface="Arial"/>
                        </a:rPr>
                        <a:t>Set</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Set&lt;String&gt;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{Ada, Mia}</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Multiset / bag</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Map&lt;String,Integer&gt;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Ada occurs 3 times</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Map</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Map&lt;String,Integer&gt;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Ada has score 95</a:t>
                      </a:r>
                    </a:p>
                  </a:txBody>
                  <a:tcPr marL="95250" marR="95250" marT="95250" marB="76200">
                    <a:lnR w="5715">
                      <a:solidFill>
                        <a:srgbClr val="C4D6DF"/>
                      </a:solidFill>
                      <a:prstDash val="solid"/>
                    </a:lnR>
                    <a:lnB w="5715">
                      <a:solidFill>
                        <a:srgbClr val="C4D6DF"/>
                      </a:solidFill>
                      <a:prstDash val="solid"/>
                    </a:lnB>
                    <a:solidFill>
                      <a:srgbClr val="F1F6F8"/>
                    </a:solidFill>
                  </a:tcPr>
                </a:tc>
              </a:tr>
              <a:tr h="666750">
                <a:tc>
                  <a:txBody>
                    <a:bodyPr/>
                    <a:lstStyle/>
                    <a:p>
                      <a:r>
                        <a:rPr sz="1650">
                          <a:solidFill>
                            <a:srgbClr val="172D3D"/>
                          </a:solidFill>
                          <a:latin typeface="Arial"/>
                          <a:ea typeface="Arial"/>
                          <a:cs typeface="Arial"/>
                        </a:rPr>
                        <a:t>Multimap</a:t>
                      </a:r>
                    </a:p>
                  </a:txBody>
                  <a:tcPr marL="95250" marR="95250" marT="95250" marB="76200">
                    <a:lnL w="5715">
                      <a:solidFill>
                        <a:srgbClr val="C4D6DF"/>
                      </a:solidFill>
                      <a:prstDash val="solid"/>
                    </a:lnL>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Map&lt;String,Set&lt;String&gt;&gt;</a:t>
                      </a:r>
                    </a:p>
                  </a:txBody>
                  <a:tcPr marL="95250" marR="95250" marT="95250" marB="76200">
                    <a:lnR w="5715">
                      <a:solidFill>
                        <a:srgbClr val="C4D6DF"/>
                      </a:solidFill>
                      <a:prstDash val="solid"/>
                    </a:lnR>
                    <a:lnB w="5715">
                      <a:solidFill>
                        <a:srgbClr val="C4D6DF"/>
                      </a:solidFill>
                      <a:prstDash val="solid"/>
                    </a:lnB>
                    <a:solidFill>
                      <a:srgbClr val="F1F6F8"/>
                    </a:solidFill>
                  </a:tcPr>
                </a:tc>
                <a:tc>
                  <a:txBody>
                    <a:bodyPr/>
                    <a:lstStyle/>
                    <a:p>
                      <a:r>
                        <a:rPr sz="1650">
                          <a:solidFill>
                            <a:srgbClr val="172D3D"/>
                          </a:solidFill>
                          <a:latin typeface="Arial"/>
                          <a:ea typeface="Arial"/>
                          <a:cs typeface="Arial"/>
                        </a:rPr>
                        <a:t>COMP182 has Ada and Mia</a:t>
                      </a:r>
                    </a:p>
                  </a:txBody>
                  <a:tcPr marL="95250" marR="95250" marT="95250" marB="76200">
                    <a:lnR w="5715">
                      <a:solidFill>
                        <a:srgbClr val="C4D6DF"/>
                      </a:solidFill>
                      <a:prstDash val="solid"/>
                    </a:lnR>
                    <a:lnB w="5715">
                      <a:solidFill>
                        <a:srgbClr val="C4D6DF"/>
                      </a:solidFill>
                      <a:prstDash val="solid"/>
                    </a:lnB>
                    <a:solidFill>
                      <a:srgbClr val="F1F6F8"/>
                    </a:solidFill>
                  </a:tcPr>
                </a:tc>
              </a:tr>
            </a:tbl>
          </a:graphicData>
        </a:graphic>
      </p:graphicFrame>
      <p:sp>
        <p:nvSpPr>
          <p:cNvPr id="3" name="caption">
            <a:extLst xmlns:a="http://schemas.openxmlformats.org/drawingml/2006/main">
              <a:ext uri="{FF2B5EF4-FFF2-40B4-BE49-F238E27FC236}">
                <a16:creationId xmlns:a16="http://schemas.microsoft.com/office/drawing/2014/main" id="{DB27608E-F3F0-4905-972D-B2CDB992ADD7}"/>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A map still has unique keys when its values are collections.</a:t>
            </a:r>
          </a:p>
        </p:txBody>
      </p:sp>
      <p:sp>
        <p:nvSpPr>
          <p:cNvPr id="4" name="java-CountOccurrenceOfWords">
            <a:extLst xmlns:a="http://schemas.openxmlformats.org/drawingml/2006/main">
              <a:ext uri="{FF2B5EF4-FFF2-40B4-BE49-F238E27FC236}">
                <a16:creationId xmlns:a16="http://schemas.microsoft.com/office/drawing/2014/main" id="{F54B5340-D373-4109-AD24-3A48E0B49BF0}"/>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84c05b2d8040466d"/>
              </a:rPr>
              <a:t>CountOccurrenceOfWords.java</a:t>
            </a:r>
          </a:p>
        </p:txBody>
      </p:sp>
      <p:sp>
        <p:nvSpPr>
          <p:cNvPr id="5" name="java-MultimapDemo">
            <a:extLst xmlns:a="http://schemas.openxmlformats.org/drawingml/2006/main">
              <a:ext uri="{FF2B5EF4-FFF2-40B4-BE49-F238E27FC236}">
                <a16:creationId xmlns:a16="http://schemas.microsoft.com/office/drawing/2014/main" id="{88A74EA5-4470-4FB1-A1DB-0691FE277762}"/>
              </a:ext>
            </a:extLst>
          </p:cNvPr>
          <p:cNvSpPr>
            <a:spLocks xmlns:a="http://schemas.openxmlformats.org/drawingml/2006/main" noGrp="1"/>
          </p:cNvSpPr>
          <p:nvPr/>
        </p:nvSpPr>
        <p:spPr>
          <a:xfrm xmlns:a="http://schemas.openxmlformats.org/drawingml/2006/main">
            <a:off x="4572000"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a468035121404178"/>
              </a:rPr>
              <a:t>MultimapDemo.java</a:t>
            </a:r>
          </a:p>
        </p:txBody>
      </p:sp>
      <p:sp>
        <p:nvSpPr>
          <p:cNvPr id="6" name="footer">
            <a:extLst xmlns:a="http://schemas.openxmlformats.org/drawingml/2006/main">
              <a:ext uri="{FF2B5EF4-FFF2-40B4-BE49-F238E27FC236}">
                <a16:creationId xmlns:a16="http://schemas.microsoft.com/office/drawing/2014/main" id="{95C38FAF-BF07-4D3A-B27E-335334072F21}"/>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F6AA38C6-AE90-46DB-98BE-0177225EE000}"/>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34</a:t>
            </a:r>
          </a:p>
        </p:txBody>
      </p:sp>
    </p:spTree>
    <p:extLst>
      <p:ext uri="{BB962C8B-B14F-4D97-AF65-F5344CB8AC3E}">
        <p14:creationId xmlns:p14="http://schemas.microsoft.com/office/powerpoint/2010/main" val="210163722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0069676-43B3-491A-8A2C-491FCB190CEE}"/>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Group values with computeIfAbsent</a:t>
            </a:r>
          </a:p>
        </p:txBody>
      </p:sp>
      <p:sp>
        <p:nvSpPr>
          <p:cNvPr id="2" name="code">
            <a:extLst xmlns:a="http://schemas.openxmlformats.org/drawingml/2006/main">
              <a:ext uri="{FF2B5EF4-FFF2-40B4-BE49-F238E27FC236}">
                <a16:creationId xmlns:a16="http://schemas.microsoft.com/office/drawing/2014/main" id="{FEB176DE-8D3B-4C1D-9779-49FB563E0634}"/>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2D3D"/>
                </a:solidFill>
                <a:latin typeface="Consolas"/>
                <a:ea typeface="Consolas"/>
                <a:cs typeface="Consolas"/>
              </a:defRPr>
            </a:defPPr>
            <a:lvl1pPr>
              <a:defRPr sz="1725" b="0">
                <a:solidFill>
                  <a:srgbClr val="172D3D"/>
                </a:solidFill>
                <a:latin typeface="Consolas"/>
                <a:ea typeface="Consolas"/>
                <a:cs typeface="Consolas"/>
              </a:defRPr>
            </a:lvl1pPr>
            <a:lvl2pPr>
              <a:defRPr sz="1725" b="0">
                <a:solidFill>
                  <a:srgbClr val="172D3D"/>
                </a:solidFill>
                <a:latin typeface="Consolas"/>
                <a:ea typeface="Consolas"/>
                <a:cs typeface="Consolas"/>
              </a:defRPr>
            </a:lvl2pPr>
            <a:lvl3pPr>
              <a:defRPr sz="1725" b="0">
                <a:solidFill>
                  <a:srgbClr val="172D3D"/>
                </a:solidFill>
                <a:latin typeface="Consolas"/>
                <a:ea typeface="Consolas"/>
                <a:cs typeface="Consolas"/>
              </a:defRPr>
            </a:lvl3pPr>
            <a:lvl4pPr>
              <a:defRPr sz="1725" b="0">
                <a:solidFill>
                  <a:srgbClr val="172D3D"/>
                </a:solidFill>
                <a:latin typeface="Consolas"/>
                <a:ea typeface="Consolas"/>
                <a:cs typeface="Consolas"/>
              </a:defRPr>
            </a:lvl4pPr>
            <a:lvl5pPr>
              <a:defRPr sz="1725" b="0">
                <a:solidFill>
                  <a:srgbClr val="172D3D"/>
                </a:solidFill>
                <a:latin typeface="Consolas"/>
                <a:ea typeface="Consolas"/>
                <a:cs typeface="Consolas"/>
              </a:defRPr>
            </a:lvl5pPr>
            <a:lvl6pPr>
              <a:defRPr sz="1725" b="0">
                <a:solidFill>
                  <a:srgbClr val="172D3D"/>
                </a:solidFill>
                <a:latin typeface="Consolas"/>
                <a:ea typeface="Consolas"/>
                <a:cs typeface="Consolas"/>
              </a:defRPr>
            </a:lvl6pPr>
            <a:lvl7pPr>
              <a:defRPr sz="1725" b="0">
                <a:solidFill>
                  <a:srgbClr val="172D3D"/>
                </a:solidFill>
                <a:latin typeface="Consolas"/>
                <a:ea typeface="Consolas"/>
                <a:cs typeface="Consolas"/>
              </a:defRPr>
            </a:lvl7pPr>
            <a:lvl8pPr>
              <a:defRPr sz="1725" b="0">
                <a:solidFill>
                  <a:srgbClr val="172D3D"/>
                </a:solidFill>
                <a:latin typeface="Consolas"/>
                <a:ea typeface="Consolas"/>
                <a:cs typeface="Consolas"/>
              </a:defRPr>
            </a:lvl8pPr>
            <a:lvl9pPr>
              <a:defRPr sz="1725" b="0">
                <a:solidFill>
                  <a:srgbClr val="172D3D"/>
                </a:solidFill>
                <a:latin typeface="Consolas"/>
                <a:ea typeface="Consolas"/>
                <a:cs typeface="Consolas"/>
              </a:defRPr>
            </a:lvl9pPr>
          </a:lstStyle>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Map&lt;String,Set&lt;String&gt;&gt; courses = new TreeMap&lt;&gt;();</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courses.computeIfAbsent("COMP182",</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k -&gt; new TreeSet&lt;&gt;()).add("Ada");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courses.computeIfAbsent("COMP182",</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k -&gt; new TreeSet&lt;&gt;()).add("Mia");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courses.computeIfAbsent("COMP182",</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k -&gt; new TreeSet&lt;&gt;()).add("Ada");</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System.out.println(courses);</a:t>
            </a:r>
          </a:p>
          <a:p xmlns:a="http://schemas.openxmlformats.org/drawingml/2006/main">
            <a:pPr>
              <a:defRPr sz="1725" b="0">
                <a:solidFill>
                  <a:srgbClr val="172D3D"/>
                </a:solidFill>
                <a:latin typeface="Consolas"/>
                <a:ea typeface="Consolas"/>
                <a:cs typeface="Consolas"/>
              </a:defRPr>
            </a:pPr>
            <a:r>
              <a:rPr sz="1725" b="0">
                <a:solidFill>
                  <a:srgbClr val="172D3D"/>
                </a:solidFill>
                <a:latin typeface="Consolas"/>
                <a:ea typeface="Consolas"/>
                <a:cs typeface="Consolas"/>
              </a:rPr>
              <a:t>// {COMP182=[Ada, Mia]}</a:t>
            </a:r>
          </a:p>
        </p:txBody>
      </p:sp>
      <p:sp>
        <p:nvSpPr>
          <p:cNvPr id="3" name="caption">
            <a:extLst xmlns:a="http://schemas.openxmlformats.org/drawingml/2006/main">
              <a:ext uri="{FF2B5EF4-FFF2-40B4-BE49-F238E27FC236}">
                <a16:creationId xmlns:a16="http://schemas.microsoft.com/office/drawing/2014/main" id="{A8A95688-F15A-4213-93C2-4F92BDC183CB}"/>
              </a:ext>
            </a:extLst>
          </p:cNvPr>
          <p:cNvSpPr>
            <a:spLocks xmlns:a="http://schemas.openxmlformats.org/drawingml/2006/main" noGrp="1"/>
          </p:cNvSpPr>
          <p:nvPr/>
        </p:nvSpPr>
        <p:spPr>
          <a:xfrm xmlns:a="http://schemas.openxmlformats.org/drawingml/2006/main">
            <a:off x="523875" y="55054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6F89"/>
                </a:solidFill>
                <a:latin typeface="Arial"/>
                <a:ea typeface="Arial"/>
                <a:cs typeface="Arial"/>
              </a:defRPr>
            </a:defPPr>
            <a:lvl1pPr>
              <a:defRPr sz="1725" b="1">
                <a:solidFill>
                  <a:srgbClr val="006F89"/>
                </a:solidFill>
                <a:latin typeface="Arial"/>
                <a:ea typeface="Arial"/>
                <a:cs typeface="Arial"/>
              </a:defRPr>
            </a:lvl1pPr>
            <a:lvl2pPr>
              <a:defRPr sz="1725" b="1">
                <a:solidFill>
                  <a:srgbClr val="006F89"/>
                </a:solidFill>
                <a:latin typeface="Arial"/>
                <a:ea typeface="Arial"/>
                <a:cs typeface="Arial"/>
              </a:defRPr>
            </a:lvl2pPr>
            <a:lvl3pPr>
              <a:defRPr sz="1725" b="1">
                <a:solidFill>
                  <a:srgbClr val="006F89"/>
                </a:solidFill>
                <a:latin typeface="Arial"/>
                <a:ea typeface="Arial"/>
                <a:cs typeface="Arial"/>
              </a:defRPr>
            </a:lvl3pPr>
            <a:lvl4pPr>
              <a:defRPr sz="1725" b="1">
                <a:solidFill>
                  <a:srgbClr val="006F89"/>
                </a:solidFill>
                <a:latin typeface="Arial"/>
                <a:ea typeface="Arial"/>
                <a:cs typeface="Arial"/>
              </a:defRPr>
            </a:lvl4pPr>
            <a:lvl5pPr>
              <a:defRPr sz="1725" b="1">
                <a:solidFill>
                  <a:srgbClr val="006F89"/>
                </a:solidFill>
                <a:latin typeface="Arial"/>
                <a:ea typeface="Arial"/>
                <a:cs typeface="Arial"/>
              </a:defRPr>
            </a:lvl5pPr>
            <a:lvl6pPr>
              <a:defRPr sz="1725" b="1">
                <a:solidFill>
                  <a:srgbClr val="006F89"/>
                </a:solidFill>
                <a:latin typeface="Arial"/>
                <a:ea typeface="Arial"/>
                <a:cs typeface="Arial"/>
              </a:defRPr>
            </a:lvl6pPr>
            <a:lvl7pPr>
              <a:defRPr sz="1725" b="1">
                <a:solidFill>
                  <a:srgbClr val="006F89"/>
                </a:solidFill>
                <a:latin typeface="Arial"/>
                <a:ea typeface="Arial"/>
                <a:cs typeface="Arial"/>
              </a:defRPr>
            </a:lvl7pPr>
            <a:lvl8pPr>
              <a:defRPr sz="1725" b="1">
                <a:solidFill>
                  <a:srgbClr val="006F89"/>
                </a:solidFill>
                <a:latin typeface="Arial"/>
                <a:ea typeface="Arial"/>
                <a:cs typeface="Arial"/>
              </a:defRPr>
            </a:lvl8pPr>
            <a:lvl9pPr>
              <a:defRPr sz="1725" b="1">
                <a:solidFill>
                  <a:srgbClr val="006F89"/>
                </a:solidFill>
                <a:latin typeface="Arial"/>
                <a:ea typeface="Arial"/>
                <a:cs typeface="Arial"/>
              </a:defRPr>
            </a:lvl9pPr>
          </a:lstStyle>
          <a:p xmlns:a="http://schemas.openxmlformats.org/drawingml/2006/main">
            <a:pPr>
              <a:defRPr sz="1725" b="1">
                <a:solidFill>
                  <a:srgbClr val="006F89"/>
                </a:solidFill>
                <a:latin typeface="Arial"/>
                <a:ea typeface="Arial"/>
                <a:cs typeface="Arial"/>
              </a:defRPr>
            </a:pPr>
            <a:r>
              <a:rPr sz="1725" b="1">
                <a:solidFill>
                  <a:srgbClr val="006F89"/>
                </a:solidFill>
                <a:latin typeface="Arial"/>
                <a:ea typeface="Arial"/>
                <a:cs typeface="Arial"/>
              </a:rPr>
              <a:t>Create the group once, then add members to that group.</a:t>
            </a:r>
          </a:p>
        </p:txBody>
      </p:sp>
      <p:sp>
        <p:nvSpPr>
          <p:cNvPr id="4" name="java-MultimapDemo">
            <a:extLst xmlns:a="http://schemas.openxmlformats.org/drawingml/2006/main">
              <a:ext uri="{FF2B5EF4-FFF2-40B4-BE49-F238E27FC236}">
                <a16:creationId xmlns:a16="http://schemas.microsoft.com/office/drawing/2014/main" id="{48B77468-4FEE-424A-B4EF-D45553689853}"/>
              </a:ext>
            </a:extLst>
          </p:cNvPr>
          <p:cNvSpPr>
            <a:spLocks xmlns:a="http://schemas.openxmlformats.org/drawingml/2006/main" noGrp="1"/>
          </p:cNvSpPr>
          <p:nvPr/>
        </p:nvSpPr>
        <p:spPr>
          <a:xfrm xmlns:a="http://schemas.openxmlformats.org/drawingml/2006/main">
            <a:off x="523875" y="61531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4366f09c76a64813"/>
              </a:rPr>
              <a:t>MultimapDemo.java</a:t>
            </a:r>
          </a:p>
        </p:txBody>
      </p:sp>
      <p:sp>
        <p:nvSpPr>
          <p:cNvPr id="5" name="footer">
            <a:extLst xmlns:a="http://schemas.openxmlformats.org/drawingml/2006/main">
              <a:ext uri="{FF2B5EF4-FFF2-40B4-BE49-F238E27FC236}">
                <a16:creationId xmlns:a16="http://schemas.microsoft.com/office/drawing/2014/main" id="{94F0FCF2-608F-478F-82CA-EAD793445F50}"/>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6" name="number">
            <a:extLst xmlns:a="http://schemas.openxmlformats.org/drawingml/2006/main">
              <a:ext uri="{FF2B5EF4-FFF2-40B4-BE49-F238E27FC236}">
                <a16:creationId xmlns:a16="http://schemas.microsoft.com/office/drawing/2014/main" id="{4DFE1F7C-593E-4856-BF3E-8795DB8D97CB}"/>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35</a:t>
            </a:r>
          </a:p>
        </p:txBody>
      </p:sp>
    </p:spTree>
    <p:extLst>
      <p:ext uri="{BB962C8B-B14F-4D97-AF65-F5344CB8AC3E}">
        <p14:creationId xmlns:p14="http://schemas.microsoft.com/office/powerpoint/2010/main" val="137189474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F8A37B6-1FEA-4ABB-98B4-ADAE688CF6E4}"/>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Discussion: select the collection</a:t>
            </a:r>
          </a:p>
        </p:txBody>
      </p:sp>
      <p:sp>
        <p:nvSpPr>
          <p:cNvPr id="2" name="body">
            <a:extLst xmlns:a="http://schemas.openxmlformats.org/drawingml/2006/main">
              <a:ext uri="{FF2B5EF4-FFF2-40B4-BE49-F238E27FC236}">
                <a16:creationId xmlns:a16="http://schemas.microsoft.com/office/drawing/2014/main" id="{9C7A7C39-96B2-4E17-A269-D882C4272B58}"/>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1. Remove duplicate IDs, keeping first-seen order.</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2. Find a student record by ID.</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3. Print unique names in sorted order.</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4. Record all students for each course.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5. Count how often each word occurs.</a:t>
            </a:r>
          </a:p>
        </p:txBody>
      </p:sp>
      <p:sp>
        <p:nvSpPr>
          <p:cNvPr id="3" name="footer">
            <a:extLst xmlns:a="http://schemas.openxmlformats.org/drawingml/2006/main">
              <a:ext uri="{FF2B5EF4-FFF2-40B4-BE49-F238E27FC236}">
                <a16:creationId xmlns:a16="http://schemas.microsoft.com/office/drawing/2014/main" id="{822D723F-7678-4CBD-B556-451B3DCB66D1}"/>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4" name="number">
            <a:extLst xmlns:a="http://schemas.openxmlformats.org/drawingml/2006/main">
              <a:ext uri="{FF2B5EF4-FFF2-40B4-BE49-F238E27FC236}">
                <a16:creationId xmlns:a16="http://schemas.microsoft.com/office/drawing/2014/main" id="{67E1B88E-FAD2-4D49-A561-51B6C9F7B086}"/>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36</a:t>
            </a:r>
          </a:p>
        </p:txBody>
      </p:sp>
    </p:spTree>
    <p:extLst>
      <p:ext uri="{BB962C8B-B14F-4D97-AF65-F5344CB8AC3E}">
        <p14:creationId xmlns:p14="http://schemas.microsoft.com/office/powerpoint/2010/main" val="203697629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E2B8068-0DB8-4940-95A6-34C099C190B5}"/>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Exit quiz</a:t>
            </a:r>
          </a:p>
        </p:txBody>
      </p:sp>
      <p:sp>
        <p:nvSpPr>
          <p:cNvPr id="2" name="body">
            <a:extLst xmlns:a="http://schemas.openxmlformats.org/drawingml/2006/main">
              <a:ext uri="{FF2B5EF4-FFF2-40B4-BE49-F238E27FC236}">
                <a16:creationId xmlns:a16="http://schemas.microsoft.com/office/drawing/2014/main" id="{4E38A940-F4DC-4C6B-AF5C-FDAC5BCF3269}"/>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1. Why must equals and hashCode agree?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2. Why does a repeated map key not increase size?</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3. How do backed views differ from snapshots?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4. When would a TreeMap be worth O(log n)?</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5. What changes if a multimap uses List values?</a:t>
            </a:r>
          </a:p>
        </p:txBody>
      </p:sp>
      <p:sp>
        <p:nvSpPr>
          <p:cNvPr id="3" name="footer">
            <a:extLst xmlns:a="http://schemas.openxmlformats.org/drawingml/2006/main">
              <a:ext uri="{FF2B5EF4-FFF2-40B4-BE49-F238E27FC236}">
                <a16:creationId xmlns:a16="http://schemas.microsoft.com/office/drawing/2014/main" id="{BD21FE5D-7404-4B3C-8D45-1CA5046257A1}"/>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4" name="number">
            <a:extLst xmlns:a="http://schemas.openxmlformats.org/drawingml/2006/main">
              <a:ext uri="{FF2B5EF4-FFF2-40B4-BE49-F238E27FC236}">
                <a16:creationId xmlns:a16="http://schemas.microsoft.com/office/drawing/2014/main" id="{14EE714F-ABC0-40D0-8D2B-C63ED5EEACC3}"/>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37</a:t>
            </a:r>
          </a:p>
        </p:txBody>
      </p:sp>
    </p:spTree>
    <p:extLst>
      <p:ext uri="{BB962C8B-B14F-4D97-AF65-F5344CB8AC3E}">
        <p14:creationId xmlns:p14="http://schemas.microsoft.com/office/powerpoint/2010/main" val="173812930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9B55574-E9BF-407B-8608-FAB47D407912}"/>
              </a:ext>
            </a:extLst>
          </p:cNvPr>
          <p:cNvSpPr>
            <a:spLocks xmlns:a="http://schemas.openxmlformats.org/drawingml/2006/main" noGrp="1"/>
          </p:cNvSpPr>
          <p:nvPr/>
        </p:nvSpPr>
        <p:spPr>
          <a:xfrm xmlns:a="http://schemas.openxmlformats.org/drawingml/2006/main">
            <a:off x="514350" y="3429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9F"/>
                </a:solidFill>
                <a:latin typeface="Arial"/>
                <a:ea typeface="Arial"/>
                <a:cs typeface="Arial"/>
              </a:defRPr>
            </a:defPPr>
            <a:lvl1pPr>
              <a:defRPr sz="2700" b="1">
                <a:solidFill>
                  <a:srgbClr val="007F9F"/>
                </a:solidFill>
                <a:latin typeface="Arial"/>
                <a:ea typeface="Arial"/>
                <a:cs typeface="Arial"/>
              </a:defRPr>
            </a:lvl1pPr>
            <a:lvl2pPr>
              <a:defRPr sz="2700" b="1">
                <a:solidFill>
                  <a:srgbClr val="007F9F"/>
                </a:solidFill>
                <a:latin typeface="Arial"/>
                <a:ea typeface="Arial"/>
                <a:cs typeface="Arial"/>
              </a:defRPr>
            </a:lvl2pPr>
            <a:lvl3pPr>
              <a:defRPr sz="2700" b="1">
                <a:solidFill>
                  <a:srgbClr val="007F9F"/>
                </a:solidFill>
                <a:latin typeface="Arial"/>
                <a:ea typeface="Arial"/>
                <a:cs typeface="Arial"/>
              </a:defRPr>
            </a:lvl3pPr>
            <a:lvl4pPr>
              <a:defRPr sz="2700" b="1">
                <a:solidFill>
                  <a:srgbClr val="007F9F"/>
                </a:solidFill>
                <a:latin typeface="Arial"/>
                <a:ea typeface="Arial"/>
                <a:cs typeface="Arial"/>
              </a:defRPr>
            </a:lvl4pPr>
            <a:lvl5pPr>
              <a:defRPr sz="2700" b="1">
                <a:solidFill>
                  <a:srgbClr val="007F9F"/>
                </a:solidFill>
                <a:latin typeface="Arial"/>
                <a:ea typeface="Arial"/>
                <a:cs typeface="Arial"/>
              </a:defRPr>
            </a:lvl5pPr>
            <a:lvl6pPr>
              <a:defRPr sz="2700" b="1">
                <a:solidFill>
                  <a:srgbClr val="007F9F"/>
                </a:solidFill>
                <a:latin typeface="Arial"/>
                <a:ea typeface="Arial"/>
                <a:cs typeface="Arial"/>
              </a:defRPr>
            </a:lvl6pPr>
            <a:lvl7pPr>
              <a:defRPr sz="2700" b="1">
                <a:solidFill>
                  <a:srgbClr val="007F9F"/>
                </a:solidFill>
                <a:latin typeface="Arial"/>
                <a:ea typeface="Arial"/>
                <a:cs typeface="Arial"/>
              </a:defRPr>
            </a:lvl7pPr>
            <a:lvl8pPr>
              <a:defRPr sz="2700" b="1">
                <a:solidFill>
                  <a:srgbClr val="007F9F"/>
                </a:solidFill>
                <a:latin typeface="Arial"/>
                <a:ea typeface="Arial"/>
                <a:cs typeface="Arial"/>
              </a:defRPr>
            </a:lvl8pPr>
            <a:lvl9pPr>
              <a:defRPr sz="2700" b="1">
                <a:solidFill>
                  <a:srgbClr val="007F9F"/>
                </a:solidFill>
                <a:latin typeface="Arial"/>
                <a:ea typeface="Arial"/>
                <a:cs typeface="Arial"/>
              </a:defRPr>
            </a:lvl9pPr>
          </a:lstStyle>
          <a:p xmlns:a="http://schemas.openxmlformats.org/drawingml/2006/main">
            <a:pPr>
              <a:defRPr sz="2700" b="1">
                <a:solidFill>
                  <a:srgbClr val="007F9F"/>
                </a:solidFill>
                <a:latin typeface="Arial"/>
                <a:ea typeface="Arial"/>
                <a:cs typeface="Arial"/>
              </a:defRPr>
            </a:pPr>
            <a:r>
              <a:rPr sz="2700" b="1">
                <a:solidFill>
                  <a:srgbClr val="007F9F"/>
                </a:solidFill>
                <a:latin typeface="Arial"/>
                <a:ea typeface="Arial"/>
                <a:cs typeface="Arial"/>
              </a:rPr>
              <a:t>Practice after class</a:t>
            </a:r>
          </a:p>
        </p:txBody>
      </p:sp>
      <p:sp>
        <p:nvSpPr>
          <p:cNvPr id="2" name="body">
            <a:extLst xmlns:a="http://schemas.openxmlformats.org/drawingml/2006/main">
              <a:ext uri="{FF2B5EF4-FFF2-40B4-BE49-F238E27FC236}">
                <a16:creationId xmlns:a16="http://schemas.microsoft.com/office/drawing/2014/main" id="{05BD6451-80BB-4A3F-9187-F13FF81E8003}"/>
              </a:ext>
            </a:extLst>
          </p:cNvPr>
          <p:cNvSpPr>
            <a:spLocks xmlns:a="http://schemas.openxmlformats.org/drawingml/2006/main" noGrp="1"/>
          </p:cNvSpPr>
          <p:nvPr/>
        </p:nvSpPr>
        <p:spPr>
          <a:xfrm xmlns:a="http://schemas.openxmlformats.org/drawingml/2006/main">
            <a:off x="523875" y="1476375"/>
            <a:ext cx="8096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2D3D"/>
                </a:solidFill>
                <a:latin typeface="Arial"/>
                <a:ea typeface="Arial"/>
                <a:cs typeface="Arial"/>
              </a:defRPr>
            </a:defPPr>
            <a:lvl1pPr>
              <a:defRPr sz="2100" b="0">
                <a:solidFill>
                  <a:srgbClr val="172D3D"/>
                </a:solidFill>
                <a:latin typeface="Arial"/>
                <a:ea typeface="Arial"/>
                <a:cs typeface="Arial"/>
              </a:defRPr>
            </a:lvl1pPr>
            <a:lvl2pPr>
              <a:defRPr sz="2100" b="0">
                <a:solidFill>
                  <a:srgbClr val="172D3D"/>
                </a:solidFill>
                <a:latin typeface="Arial"/>
                <a:ea typeface="Arial"/>
                <a:cs typeface="Arial"/>
              </a:defRPr>
            </a:lvl2pPr>
            <a:lvl3pPr>
              <a:defRPr sz="2100" b="0">
                <a:solidFill>
                  <a:srgbClr val="172D3D"/>
                </a:solidFill>
                <a:latin typeface="Arial"/>
                <a:ea typeface="Arial"/>
                <a:cs typeface="Arial"/>
              </a:defRPr>
            </a:lvl3pPr>
            <a:lvl4pPr>
              <a:defRPr sz="2100" b="0">
                <a:solidFill>
                  <a:srgbClr val="172D3D"/>
                </a:solidFill>
                <a:latin typeface="Arial"/>
                <a:ea typeface="Arial"/>
                <a:cs typeface="Arial"/>
              </a:defRPr>
            </a:lvl4pPr>
            <a:lvl5pPr>
              <a:defRPr sz="2100" b="0">
                <a:solidFill>
                  <a:srgbClr val="172D3D"/>
                </a:solidFill>
                <a:latin typeface="Arial"/>
                <a:ea typeface="Arial"/>
                <a:cs typeface="Arial"/>
              </a:defRPr>
            </a:lvl5pPr>
            <a:lvl6pPr>
              <a:defRPr sz="2100" b="0">
                <a:solidFill>
                  <a:srgbClr val="172D3D"/>
                </a:solidFill>
                <a:latin typeface="Arial"/>
                <a:ea typeface="Arial"/>
                <a:cs typeface="Arial"/>
              </a:defRPr>
            </a:lvl6pPr>
            <a:lvl7pPr>
              <a:defRPr sz="2100" b="0">
                <a:solidFill>
                  <a:srgbClr val="172D3D"/>
                </a:solidFill>
                <a:latin typeface="Arial"/>
                <a:ea typeface="Arial"/>
                <a:cs typeface="Arial"/>
              </a:defRPr>
            </a:lvl7pPr>
            <a:lvl8pPr>
              <a:defRPr sz="2100" b="0">
                <a:solidFill>
                  <a:srgbClr val="172D3D"/>
                </a:solidFill>
                <a:latin typeface="Arial"/>
                <a:ea typeface="Arial"/>
                <a:cs typeface="Arial"/>
              </a:defRPr>
            </a:lvl8pPr>
            <a:lvl9pPr>
              <a:defRPr sz="2100" b="0">
                <a:solidFill>
                  <a:srgbClr val="172D3D"/>
                </a:solidFill>
                <a:latin typeface="Arial"/>
                <a:ea typeface="Arial"/>
                <a:cs typeface="Arial"/>
              </a:defRPr>
            </a:lvl9pPr>
          </a:lstStyle>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Extend word counting to print the top three words.</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Use a documented rule for tied counts.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Build a course enrollment multimap using student IDs.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Compare JDK map views with the teaching snapshots.</a:t>
            </a:r>
          </a:p>
          <a:p xmlns:a="http://schemas.openxmlformats.org/drawingml/2006/main">
            <a:r>
              <a:t/>
            </a:r>
          </a:p>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Trace a collision and a resize in MyHashMap.</a:t>
            </a:r>
          </a:p>
        </p:txBody>
      </p:sp>
      <p:sp>
        <p:nvSpPr>
          <p:cNvPr id="3" name="java-CountOccurrenceOfWords">
            <a:extLst xmlns:a="http://schemas.openxmlformats.org/drawingml/2006/main">
              <a:ext uri="{FF2B5EF4-FFF2-40B4-BE49-F238E27FC236}">
                <a16:creationId xmlns:a16="http://schemas.microsoft.com/office/drawing/2014/main" id="{119D1B56-DA27-42AC-9744-41AB9A607FED}"/>
              </a:ext>
            </a:extLst>
          </p:cNvPr>
          <p:cNvSpPr>
            <a:spLocks xmlns:a="http://schemas.openxmlformats.org/drawingml/2006/main" noGrp="1"/>
          </p:cNvSpPr>
          <p:nvPr/>
        </p:nvSpPr>
        <p:spPr>
          <a:xfrm xmlns:a="http://schemas.openxmlformats.org/drawingml/2006/main">
            <a:off x="523875" y="615315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11910a08e0934b6c"/>
              </a:rPr>
              <a:t>CountOccurrenceOfWords.java</a:t>
            </a:r>
          </a:p>
        </p:txBody>
      </p:sp>
      <p:sp>
        <p:nvSpPr>
          <p:cNvPr id="4" name="java-MultimapDemo">
            <a:extLst xmlns:a="http://schemas.openxmlformats.org/drawingml/2006/main">
              <a:ext uri="{FF2B5EF4-FFF2-40B4-BE49-F238E27FC236}">
                <a16:creationId xmlns:a16="http://schemas.microsoft.com/office/drawing/2014/main" id="{9C2E8333-31B3-4B0B-AD8B-0120A05A473B}"/>
              </a:ext>
            </a:extLst>
          </p:cNvPr>
          <p:cNvSpPr>
            <a:spLocks xmlns:a="http://schemas.openxmlformats.org/drawingml/2006/main" noGrp="1"/>
          </p:cNvSpPr>
          <p:nvPr/>
        </p:nvSpPr>
        <p:spPr>
          <a:xfrm xmlns:a="http://schemas.openxmlformats.org/drawingml/2006/main">
            <a:off x="3219450" y="615315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678df3da65e249af"/>
              </a:rPr>
              <a:t>MultimapDemo.java</a:t>
            </a:r>
          </a:p>
        </p:txBody>
      </p:sp>
      <p:sp>
        <p:nvSpPr>
          <p:cNvPr id="5" name="java-MyHashMap">
            <a:extLst xmlns:a="http://schemas.openxmlformats.org/drawingml/2006/main">
              <a:ext uri="{FF2B5EF4-FFF2-40B4-BE49-F238E27FC236}">
                <a16:creationId xmlns:a16="http://schemas.microsoft.com/office/drawing/2014/main" id="{2FD6E2BA-A7A8-411E-9BE1-A577C7E34DE1}"/>
              </a:ext>
            </a:extLst>
          </p:cNvPr>
          <p:cNvSpPr>
            <a:spLocks xmlns:a="http://schemas.openxmlformats.org/drawingml/2006/main" noGrp="1"/>
          </p:cNvSpPr>
          <p:nvPr/>
        </p:nvSpPr>
        <p:spPr>
          <a:xfrm xmlns:a="http://schemas.openxmlformats.org/drawingml/2006/main">
            <a:off x="5915025" y="6153150"/>
            <a:ext cx="264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6F89"/>
                </a:solidFill>
                <a:latin typeface="Arial"/>
                <a:ea typeface="Arial"/>
                <a:cs typeface="Arial"/>
              </a:defRPr>
            </a:defPPr>
            <a:lvl1pPr>
              <a:defRPr sz="1200" b="0">
                <a:solidFill>
                  <a:srgbClr val="006F89"/>
                </a:solidFill>
                <a:latin typeface="Arial"/>
                <a:ea typeface="Arial"/>
                <a:cs typeface="Arial"/>
              </a:defRPr>
            </a:lvl1pPr>
            <a:lvl2pPr>
              <a:defRPr sz="1200" b="0">
                <a:solidFill>
                  <a:srgbClr val="006F89"/>
                </a:solidFill>
                <a:latin typeface="Arial"/>
                <a:ea typeface="Arial"/>
                <a:cs typeface="Arial"/>
              </a:defRPr>
            </a:lvl2pPr>
            <a:lvl3pPr>
              <a:defRPr sz="1200" b="0">
                <a:solidFill>
                  <a:srgbClr val="006F89"/>
                </a:solidFill>
                <a:latin typeface="Arial"/>
                <a:ea typeface="Arial"/>
                <a:cs typeface="Arial"/>
              </a:defRPr>
            </a:lvl3pPr>
            <a:lvl4pPr>
              <a:defRPr sz="1200" b="0">
                <a:solidFill>
                  <a:srgbClr val="006F89"/>
                </a:solidFill>
                <a:latin typeface="Arial"/>
                <a:ea typeface="Arial"/>
                <a:cs typeface="Arial"/>
              </a:defRPr>
            </a:lvl4pPr>
            <a:lvl5pPr>
              <a:defRPr sz="1200" b="0">
                <a:solidFill>
                  <a:srgbClr val="006F89"/>
                </a:solidFill>
                <a:latin typeface="Arial"/>
                <a:ea typeface="Arial"/>
                <a:cs typeface="Arial"/>
              </a:defRPr>
            </a:lvl5pPr>
            <a:lvl6pPr>
              <a:defRPr sz="1200" b="0">
                <a:solidFill>
                  <a:srgbClr val="006F89"/>
                </a:solidFill>
                <a:latin typeface="Arial"/>
                <a:ea typeface="Arial"/>
                <a:cs typeface="Arial"/>
              </a:defRPr>
            </a:lvl6pPr>
            <a:lvl7pPr>
              <a:defRPr sz="1200" b="0">
                <a:solidFill>
                  <a:srgbClr val="006F89"/>
                </a:solidFill>
                <a:latin typeface="Arial"/>
                <a:ea typeface="Arial"/>
                <a:cs typeface="Arial"/>
              </a:defRPr>
            </a:lvl7pPr>
            <a:lvl8pPr>
              <a:defRPr sz="1200" b="0">
                <a:solidFill>
                  <a:srgbClr val="006F89"/>
                </a:solidFill>
                <a:latin typeface="Arial"/>
                <a:ea typeface="Arial"/>
                <a:cs typeface="Arial"/>
              </a:defRPr>
            </a:lvl8pPr>
            <a:lvl9pPr>
              <a:defRPr sz="1200" b="0">
                <a:solidFill>
                  <a:srgbClr val="006F89"/>
                </a:solidFill>
                <a:latin typeface="Arial"/>
                <a:ea typeface="Arial"/>
                <a:cs typeface="Arial"/>
              </a:defRPr>
            </a:lvl9pPr>
          </a:lstStyle>
          <a:p xmlns:a="http://schemas.openxmlformats.org/drawingml/2006/main">
            <a:pPr>
              <a:defRPr sz="1200" b="0">
                <a:solidFill>
                  <a:srgbClr val="006F89"/>
                </a:solidFill>
                <a:latin typeface="Arial"/>
                <a:ea typeface="Arial"/>
                <a:cs typeface="Arial"/>
              </a:defRPr>
            </a:pPr>
            <a:r>
              <a:rPr sz="1200" u="sng">
                <a:solidFill>
                  <a:srgbClr val="006F89"/>
                </a:solidFill>
                <a:latin typeface="Arial"/>
                <a:ea typeface="Arial"/>
                <a:cs typeface="Arial"/>
                <a:hlinkClick xmlns:r="http://schemas.openxmlformats.org/officeDocument/2006/relationships" r:id="R56d5799a1cf146e4"/>
              </a:rPr>
              <a:t>MyHashMap.java</a:t>
            </a:r>
          </a:p>
        </p:txBody>
      </p:sp>
      <p:sp>
        <p:nvSpPr>
          <p:cNvPr id="6" name="footer">
            <a:extLst xmlns:a="http://schemas.openxmlformats.org/drawingml/2006/main">
              <a:ext uri="{FF2B5EF4-FFF2-40B4-BE49-F238E27FC236}">
                <a16:creationId xmlns:a16="http://schemas.microsoft.com/office/drawing/2014/main" id="{8AFFF95D-0711-4E45-B46E-BA8EBE67E238}"/>
              </a:ext>
            </a:extLst>
          </p:cNvPr>
          <p:cNvSpPr>
            <a:spLocks xmlns:a="http://schemas.openxmlformats.org/drawingml/2006/main" noGrp="1"/>
          </p:cNvSpPr>
          <p:nvPr/>
        </p:nvSpPr>
        <p:spPr>
          <a:xfrm xmlns:a="http://schemas.openxmlformats.org/drawingml/2006/main">
            <a:off x="523875" y="6524625"/>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A6C77"/>
                </a:solidFill>
                <a:latin typeface="Arial"/>
                <a:ea typeface="Arial"/>
                <a:cs typeface="Arial"/>
              </a:defRPr>
            </a:defPPr>
            <a:lvl1pPr>
              <a:defRPr sz="1050" b="0">
                <a:solidFill>
                  <a:srgbClr val="5A6C77"/>
                </a:solidFill>
                <a:latin typeface="Arial"/>
                <a:ea typeface="Arial"/>
                <a:cs typeface="Arial"/>
              </a:defRPr>
            </a:lvl1pPr>
            <a:lvl2pPr>
              <a:defRPr sz="1050" b="0">
                <a:solidFill>
                  <a:srgbClr val="5A6C77"/>
                </a:solidFill>
                <a:latin typeface="Arial"/>
                <a:ea typeface="Arial"/>
                <a:cs typeface="Arial"/>
              </a:defRPr>
            </a:lvl2pPr>
            <a:lvl3pPr>
              <a:defRPr sz="1050" b="0">
                <a:solidFill>
                  <a:srgbClr val="5A6C77"/>
                </a:solidFill>
                <a:latin typeface="Arial"/>
                <a:ea typeface="Arial"/>
                <a:cs typeface="Arial"/>
              </a:defRPr>
            </a:lvl3pPr>
            <a:lvl4pPr>
              <a:defRPr sz="1050" b="0">
                <a:solidFill>
                  <a:srgbClr val="5A6C77"/>
                </a:solidFill>
                <a:latin typeface="Arial"/>
                <a:ea typeface="Arial"/>
                <a:cs typeface="Arial"/>
              </a:defRPr>
            </a:lvl4pPr>
            <a:lvl5pPr>
              <a:defRPr sz="1050" b="0">
                <a:solidFill>
                  <a:srgbClr val="5A6C77"/>
                </a:solidFill>
                <a:latin typeface="Arial"/>
                <a:ea typeface="Arial"/>
                <a:cs typeface="Arial"/>
              </a:defRPr>
            </a:lvl5pPr>
            <a:lvl6pPr>
              <a:defRPr sz="1050" b="0">
                <a:solidFill>
                  <a:srgbClr val="5A6C77"/>
                </a:solidFill>
                <a:latin typeface="Arial"/>
                <a:ea typeface="Arial"/>
                <a:cs typeface="Arial"/>
              </a:defRPr>
            </a:lvl6pPr>
            <a:lvl7pPr>
              <a:defRPr sz="1050" b="0">
                <a:solidFill>
                  <a:srgbClr val="5A6C77"/>
                </a:solidFill>
                <a:latin typeface="Arial"/>
                <a:ea typeface="Arial"/>
                <a:cs typeface="Arial"/>
              </a:defRPr>
            </a:lvl7pPr>
            <a:lvl8pPr>
              <a:defRPr sz="1050" b="0">
                <a:solidFill>
                  <a:srgbClr val="5A6C77"/>
                </a:solidFill>
                <a:latin typeface="Arial"/>
                <a:ea typeface="Arial"/>
                <a:cs typeface="Arial"/>
              </a:defRPr>
            </a:lvl8pPr>
            <a:lvl9pPr>
              <a:defRPr sz="1050" b="0">
                <a:solidFill>
                  <a:srgbClr val="5A6C77"/>
                </a:solidFill>
                <a:latin typeface="Arial"/>
                <a:ea typeface="Arial"/>
                <a:cs typeface="Arial"/>
              </a:defRPr>
            </a:lvl9pPr>
          </a:lstStyle>
          <a:p xmlns:a="http://schemas.openxmlformats.org/drawingml/2006/main">
            <a:pPr>
              <a:defRPr sz="1050" b="0">
                <a:solidFill>
                  <a:srgbClr val="5A6C77"/>
                </a:solidFill>
                <a:latin typeface="Arial"/>
                <a:ea typeface="Arial"/>
                <a:cs typeface="Arial"/>
              </a:defRPr>
            </a:pPr>
            <a:r>
              <a:rPr sz="1050" b="0">
                <a:solidFill>
                  <a:srgbClr val="5A6C77"/>
                </a:solidFill>
                <a:latin typeface="Arial"/>
                <a:ea typeface="Arial"/>
                <a:cs typeface="Arial"/>
              </a:rPr>
              <a:t>COMP 182  |  Sets and Maps</a:t>
            </a:r>
          </a:p>
        </p:txBody>
      </p:sp>
      <p:sp>
        <p:nvSpPr>
          <p:cNvPr id="7" name="number">
            <a:extLst xmlns:a="http://schemas.openxmlformats.org/drawingml/2006/main">
              <a:ext uri="{FF2B5EF4-FFF2-40B4-BE49-F238E27FC236}">
                <a16:creationId xmlns:a16="http://schemas.microsoft.com/office/drawing/2014/main" id="{6F66F037-EB8B-46AB-BCB2-8D6F5A149B18}"/>
              </a:ext>
            </a:extLst>
          </p:cNvPr>
          <p:cNvSpPr>
            <a:spLocks xmlns:a="http://schemas.openxmlformats.org/drawingml/2006/main" noGrp="1"/>
          </p:cNvSpPr>
          <p:nvPr/>
        </p:nvSpPr>
        <p:spPr>
          <a:xfrm xmlns:a="http://schemas.openxmlformats.org/drawingml/2006/main">
            <a:off x="8220075" y="64865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A6C77"/>
                </a:solidFill>
                <a:latin typeface="Arial"/>
                <a:ea typeface="Arial"/>
                <a:cs typeface="Arial"/>
              </a:defRPr>
            </a:defPPr>
            <a:lvl1pPr>
              <a:defRPr sz="1200" b="0">
                <a:solidFill>
                  <a:srgbClr val="5A6C77"/>
                </a:solidFill>
                <a:latin typeface="Arial"/>
                <a:ea typeface="Arial"/>
                <a:cs typeface="Arial"/>
              </a:defRPr>
            </a:lvl1pPr>
            <a:lvl2pPr>
              <a:defRPr sz="1200" b="0">
                <a:solidFill>
                  <a:srgbClr val="5A6C77"/>
                </a:solidFill>
                <a:latin typeface="Arial"/>
                <a:ea typeface="Arial"/>
                <a:cs typeface="Arial"/>
              </a:defRPr>
            </a:lvl2pPr>
            <a:lvl3pPr>
              <a:defRPr sz="1200" b="0">
                <a:solidFill>
                  <a:srgbClr val="5A6C77"/>
                </a:solidFill>
                <a:latin typeface="Arial"/>
                <a:ea typeface="Arial"/>
                <a:cs typeface="Arial"/>
              </a:defRPr>
            </a:lvl3pPr>
            <a:lvl4pPr>
              <a:defRPr sz="1200" b="0">
                <a:solidFill>
                  <a:srgbClr val="5A6C77"/>
                </a:solidFill>
                <a:latin typeface="Arial"/>
                <a:ea typeface="Arial"/>
                <a:cs typeface="Arial"/>
              </a:defRPr>
            </a:lvl4pPr>
            <a:lvl5pPr>
              <a:defRPr sz="1200" b="0">
                <a:solidFill>
                  <a:srgbClr val="5A6C77"/>
                </a:solidFill>
                <a:latin typeface="Arial"/>
                <a:ea typeface="Arial"/>
                <a:cs typeface="Arial"/>
              </a:defRPr>
            </a:lvl5pPr>
            <a:lvl6pPr>
              <a:defRPr sz="1200" b="0">
                <a:solidFill>
                  <a:srgbClr val="5A6C77"/>
                </a:solidFill>
                <a:latin typeface="Arial"/>
                <a:ea typeface="Arial"/>
                <a:cs typeface="Arial"/>
              </a:defRPr>
            </a:lvl6pPr>
            <a:lvl7pPr>
              <a:defRPr sz="1200" b="0">
                <a:solidFill>
                  <a:srgbClr val="5A6C77"/>
                </a:solidFill>
                <a:latin typeface="Arial"/>
                <a:ea typeface="Arial"/>
                <a:cs typeface="Arial"/>
              </a:defRPr>
            </a:lvl7pPr>
            <a:lvl8pPr>
              <a:defRPr sz="1200" b="0">
                <a:solidFill>
                  <a:srgbClr val="5A6C77"/>
                </a:solidFill>
                <a:latin typeface="Arial"/>
                <a:ea typeface="Arial"/>
                <a:cs typeface="Arial"/>
              </a:defRPr>
            </a:lvl8pPr>
            <a:lvl9pPr>
              <a:defRPr sz="1200" b="0">
                <a:solidFill>
                  <a:srgbClr val="5A6C77"/>
                </a:solidFill>
                <a:latin typeface="Arial"/>
                <a:ea typeface="Arial"/>
                <a:cs typeface="Arial"/>
              </a:defRPr>
            </a:lvl9pPr>
          </a:lstStyle>
          <a:p xmlns:a="http://schemas.openxmlformats.org/drawingml/2006/main">
            <a:pPr>
              <a:defRPr sz="1200" b="0">
                <a:solidFill>
                  <a:srgbClr val="5A6C77"/>
                </a:solidFill>
                <a:latin typeface="Arial"/>
                <a:ea typeface="Arial"/>
                <a:cs typeface="Arial"/>
              </a:defRPr>
            </a:pPr>
            <a:r>
              <a:rPr sz="1200" b="0">
                <a:solidFill>
                  <a:srgbClr val="5A6C77"/>
                </a:solidFill>
                <a:latin typeface="Arial"/>
                <a:ea typeface="Arial"/>
                <a:cs typeface="Arial"/>
              </a:rPr>
              <a:t>38</a:t>
            </a:r>
          </a:p>
        </p:txBody>
      </p:sp>
    </p:spTree>
    <p:extLst>
      <p:ext uri="{BB962C8B-B14F-4D97-AF65-F5344CB8AC3E}">
        <p14:creationId xmlns:p14="http://schemas.microsoft.com/office/powerpoint/2010/main" val="924423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2026-10-25T16:55:01.4890000Z</dcterms:created>
  <dcterms:modified xsi:type="dcterms:W3CDTF">2026-10-25T16:55:01.4890000Z</dcterms:modified>
</coreProperties>
</file>