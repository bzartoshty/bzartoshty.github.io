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5"/>
  </p:notesMasterIdLst>
  <p:handoutMasterIdLst>
    <p:handoutMasterId r:id="rId36"/>
  </p:handoutMasterIdLst>
  <p:sldIdLst>
    <p:sldId id="413" r:id="rId2"/>
    <p:sldId id="482" r:id="rId3"/>
    <p:sldId id="483" r:id="rId4"/>
    <p:sldId id="563" r:id="rId5"/>
    <p:sldId id="499" r:id="rId6"/>
    <p:sldId id="544" r:id="rId7"/>
    <p:sldId id="486" r:id="rId8"/>
    <p:sldId id="488" r:id="rId9"/>
    <p:sldId id="557" r:id="rId10"/>
    <p:sldId id="558" r:id="rId11"/>
    <p:sldId id="534" r:id="rId12"/>
    <p:sldId id="545" r:id="rId13"/>
    <p:sldId id="490" r:id="rId14"/>
    <p:sldId id="524" r:id="rId15"/>
    <p:sldId id="525" r:id="rId16"/>
    <p:sldId id="527" r:id="rId17"/>
    <p:sldId id="564" r:id="rId18"/>
    <p:sldId id="528" r:id="rId19"/>
    <p:sldId id="529" r:id="rId20"/>
    <p:sldId id="522" r:id="rId21"/>
    <p:sldId id="546" r:id="rId22"/>
    <p:sldId id="547" r:id="rId23"/>
    <p:sldId id="548" r:id="rId24"/>
    <p:sldId id="559" r:id="rId25"/>
    <p:sldId id="560" r:id="rId26"/>
    <p:sldId id="561" r:id="rId27"/>
    <p:sldId id="562" r:id="rId28"/>
    <p:sldId id="498" r:id="rId29"/>
    <p:sldId id="531" r:id="rId30"/>
    <p:sldId id="533" r:id="rId31"/>
    <p:sldId id="556" r:id="rId32"/>
    <p:sldId id="536" r:id="rId33"/>
    <p:sldId id="540" r:id="rId34"/>
  </p:sldIdLst>
  <p:sldSz cx="9144000" cy="6858000" type="screen4x3"/>
  <p:notesSz cx="7315200" cy="96012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1728">
          <p15:clr>
            <a:srgbClr val="A4A3A4"/>
          </p15:clr>
        </p15:guide>
        <p15:guide id="2" pos="576">
          <p15:clr>
            <a:srgbClr val="A4A3A4"/>
          </p15:clr>
        </p15:guide>
      </p15:sldGuideLst>
    </p:ext>
    <p:ext uri="{2D200454-40CA-4A62-9FC3-DE9A4176ACB9}">
      <p15:notesGuideLst xmlns:p15="http://schemas.microsoft.com/office/powerpoint/2012/main">
        <p15:guide id="1" orient="horz" pos="2268" userDrawn="1">
          <p15:clr>
            <a:srgbClr val="A4A3A4"/>
          </p15:clr>
        </p15:guide>
        <p15:guide id="2" pos="307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078" autoAdjust="0"/>
    <p:restoredTop sz="69006" autoAdjust="0"/>
  </p:normalViewPr>
  <p:slideViewPr>
    <p:cSldViewPr>
      <p:cViewPr varScale="1">
        <p:scale>
          <a:sx n="119" d="100"/>
          <a:sy n="119" d="100"/>
        </p:scale>
        <p:origin x="5532" y="96"/>
      </p:cViewPr>
      <p:guideLst>
        <p:guide orient="horz" pos="1728"/>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4256"/>
    </p:cViewPr>
  </p:sorterViewPr>
  <p:notesViewPr>
    <p:cSldViewPr>
      <p:cViewPr varScale="1">
        <p:scale>
          <a:sx n="43" d="100"/>
          <a:sy n="43" d="100"/>
        </p:scale>
        <p:origin x="-1422" y="-84"/>
      </p:cViewPr>
      <p:guideLst>
        <p:guide orient="horz" pos="2268"/>
        <p:guide pos="3072"/>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31657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EA7BAF47-ED0F-4399-9915-CFFFAD35E471}"/>
              </a:ext>
            </a:extLst>
          </p:cNvPr>
          <p:cNvSpPr>
            <a:spLocks noGrp="1" noChangeArrowheads="1"/>
          </p:cNvSpPr>
          <p:nvPr>
            <p:ph type="hdr" sz="quarter"/>
          </p:nvPr>
        </p:nvSpPr>
        <p:spPr bwMode="auto">
          <a:xfrm>
            <a:off x="2" y="0"/>
            <a:ext cx="3169920" cy="480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0136" tIns="0" rIns="20136" bIns="0" numCol="1" anchor="t" anchorCtr="0" compatLnSpc="1">
            <a:prstTxWarp prst="textNoShape">
              <a:avLst/>
            </a:prstTxWarp>
          </a:bodyPr>
          <a:lstStyle>
            <a:lvl1pPr>
              <a:defRPr sz="1000" i="1"/>
            </a:lvl1pPr>
          </a:lstStyle>
          <a:p>
            <a:pPr>
              <a:defRPr/>
            </a:pPr>
            <a:endParaRPr lang="en-US"/>
          </a:p>
        </p:txBody>
      </p:sp>
      <p:sp>
        <p:nvSpPr>
          <p:cNvPr id="2051" name="Rectangle 3">
            <a:extLst>
              <a:ext uri="{FF2B5EF4-FFF2-40B4-BE49-F238E27FC236}">
                <a16:creationId xmlns:a16="http://schemas.microsoft.com/office/drawing/2014/main" id="{EAF3A4DE-9723-470C-93CD-81EA7C60DC17}"/>
              </a:ext>
            </a:extLst>
          </p:cNvPr>
          <p:cNvSpPr>
            <a:spLocks noGrp="1" noChangeArrowheads="1"/>
          </p:cNvSpPr>
          <p:nvPr>
            <p:ph type="dt" idx="1"/>
          </p:nvPr>
        </p:nvSpPr>
        <p:spPr bwMode="auto">
          <a:xfrm>
            <a:off x="4145281" y="0"/>
            <a:ext cx="3169920" cy="480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0136" tIns="0" rIns="20136" bIns="0" numCol="1" anchor="t" anchorCtr="0" compatLnSpc="1">
            <a:prstTxWarp prst="textNoShape">
              <a:avLst/>
            </a:prstTxWarp>
          </a:bodyPr>
          <a:lstStyle>
            <a:lvl1pPr algn="r">
              <a:defRPr sz="1000" i="1"/>
            </a:lvl1pPr>
          </a:lstStyle>
          <a:p>
            <a:pPr>
              <a:defRPr/>
            </a:pPr>
            <a:endParaRPr lang="en-US"/>
          </a:p>
        </p:txBody>
      </p:sp>
      <p:sp>
        <p:nvSpPr>
          <p:cNvPr id="3076" name="Rectangle 4">
            <a:extLst>
              <a:ext uri="{FF2B5EF4-FFF2-40B4-BE49-F238E27FC236}">
                <a16:creationId xmlns:a16="http://schemas.microsoft.com/office/drawing/2014/main" id="{24F38586-CA84-4270-B1AC-32CC197628B1}"/>
              </a:ext>
            </a:extLst>
          </p:cNvPr>
          <p:cNvSpPr>
            <a:spLocks noGrp="1" noRot="1" noChangeAspect="1" noChangeArrowheads="1" noTextEdit="1"/>
          </p:cNvSpPr>
          <p:nvPr>
            <p:ph type="sldImg" idx="2"/>
          </p:nvPr>
        </p:nvSpPr>
        <p:spPr bwMode="auto">
          <a:xfrm>
            <a:off x="1266825" y="727075"/>
            <a:ext cx="4781550" cy="358616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3" name="Rectangle 5">
            <a:extLst>
              <a:ext uri="{FF2B5EF4-FFF2-40B4-BE49-F238E27FC236}">
                <a16:creationId xmlns:a16="http://schemas.microsoft.com/office/drawing/2014/main" id="{E47A42A2-7376-4D8D-BD9F-E167C2AF3B67}"/>
              </a:ext>
            </a:extLst>
          </p:cNvPr>
          <p:cNvSpPr>
            <a:spLocks noGrp="1" noChangeArrowheads="1"/>
          </p:cNvSpPr>
          <p:nvPr>
            <p:ph type="body" sz="quarter" idx="3"/>
          </p:nvPr>
        </p:nvSpPr>
        <p:spPr bwMode="auto">
          <a:xfrm>
            <a:off x="975362" y="4560570"/>
            <a:ext cx="5364480" cy="4320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7320" tIns="48661" rIns="97320" bIns="4866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4" name="Rectangle 6">
            <a:extLst>
              <a:ext uri="{FF2B5EF4-FFF2-40B4-BE49-F238E27FC236}">
                <a16:creationId xmlns:a16="http://schemas.microsoft.com/office/drawing/2014/main" id="{9EFBB372-4A28-4FC1-A3FF-4002BB80D1BA}"/>
              </a:ext>
            </a:extLst>
          </p:cNvPr>
          <p:cNvSpPr>
            <a:spLocks noGrp="1" noChangeArrowheads="1"/>
          </p:cNvSpPr>
          <p:nvPr>
            <p:ph type="ftr" sz="quarter" idx="4"/>
          </p:nvPr>
        </p:nvSpPr>
        <p:spPr bwMode="auto">
          <a:xfrm>
            <a:off x="2" y="9121140"/>
            <a:ext cx="3169920" cy="480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0136" tIns="0" rIns="20136" bIns="0" numCol="1" anchor="b" anchorCtr="0" compatLnSpc="1">
            <a:prstTxWarp prst="textNoShape">
              <a:avLst/>
            </a:prstTxWarp>
          </a:bodyPr>
          <a:lstStyle>
            <a:lvl1pPr>
              <a:defRPr sz="1000" i="1"/>
            </a:lvl1pPr>
          </a:lstStyle>
          <a:p>
            <a:pPr>
              <a:defRPr/>
            </a:pPr>
            <a:endParaRPr lang="en-US"/>
          </a:p>
        </p:txBody>
      </p:sp>
      <p:sp>
        <p:nvSpPr>
          <p:cNvPr id="2055" name="Rectangle 7">
            <a:extLst>
              <a:ext uri="{FF2B5EF4-FFF2-40B4-BE49-F238E27FC236}">
                <a16:creationId xmlns:a16="http://schemas.microsoft.com/office/drawing/2014/main" id="{864DEAAF-92DB-4D00-BC61-CC7F9BF399E2}"/>
              </a:ext>
            </a:extLst>
          </p:cNvPr>
          <p:cNvSpPr>
            <a:spLocks noGrp="1" noChangeArrowheads="1"/>
          </p:cNvSpPr>
          <p:nvPr>
            <p:ph type="sldNum" sz="quarter" idx="5"/>
          </p:nvPr>
        </p:nvSpPr>
        <p:spPr bwMode="auto">
          <a:xfrm>
            <a:off x="4145281" y="9121140"/>
            <a:ext cx="3169920" cy="480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0136" tIns="0" rIns="20136" bIns="0" numCol="1" anchor="b" anchorCtr="0" compatLnSpc="1">
            <a:prstTxWarp prst="textNoShape">
              <a:avLst/>
            </a:prstTxWarp>
          </a:bodyPr>
          <a:lstStyle>
            <a:lvl1pPr algn="r">
              <a:defRPr sz="1000" i="1"/>
            </a:lvl1pPr>
          </a:lstStyle>
          <a:p>
            <a:pPr>
              <a:defRPr/>
            </a:pPr>
            <a:fld id="{19F40DE6-DB6C-4592-BA44-D579595A0D63}" type="slidenum">
              <a:rPr lang="en-US" altLang="en-US"/>
              <a:pPr>
                <a:defRPr/>
              </a:pPr>
              <a:t>‹#›</a:t>
            </a:fld>
            <a:endParaRPr lang="en-US" altLang="en-US"/>
          </a:p>
        </p:txBody>
      </p:sp>
    </p:spTree>
    <p:extLst>
      <p:ext uri="{BB962C8B-B14F-4D97-AF65-F5344CB8AC3E}">
        <p14:creationId xmlns:p14="http://schemas.microsoft.com/office/powerpoint/2010/main" val="9149016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66825" y="727075"/>
            <a:ext cx="4781550" cy="35861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9F40DE6-DB6C-4592-BA44-D579595A0D63}" type="slidenum">
              <a:rPr lang="en-US" altLang="en-US" smtClean="0"/>
              <a:pPr>
                <a:defRPr/>
              </a:pPr>
              <a:t>1</a:t>
            </a:fld>
            <a:endParaRPr lang="en-US" altLang="en-US"/>
          </a:p>
        </p:txBody>
      </p:sp>
    </p:spTree>
    <p:extLst>
      <p:ext uri="{BB962C8B-B14F-4D97-AF65-F5344CB8AC3E}">
        <p14:creationId xmlns:p14="http://schemas.microsoft.com/office/powerpoint/2010/main" val="24352143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66825" y="727075"/>
            <a:ext cx="4781550" cy="35861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9F40DE6-DB6C-4592-BA44-D579595A0D63}" type="slidenum">
              <a:rPr lang="en-US" altLang="en-US" smtClean="0"/>
              <a:pPr>
                <a:defRPr/>
              </a:pPr>
              <a:t>2</a:t>
            </a:fld>
            <a:endParaRPr lang="en-US" altLang="en-US"/>
          </a:p>
        </p:txBody>
      </p:sp>
    </p:spTree>
    <p:extLst>
      <p:ext uri="{BB962C8B-B14F-4D97-AF65-F5344CB8AC3E}">
        <p14:creationId xmlns:p14="http://schemas.microsoft.com/office/powerpoint/2010/main" val="13673857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66825" y="727075"/>
            <a:ext cx="4781550" cy="35861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9F40DE6-DB6C-4592-BA44-D579595A0D63}" type="slidenum">
              <a:rPr lang="en-US" altLang="en-US" smtClean="0"/>
              <a:pPr>
                <a:defRPr/>
              </a:pPr>
              <a:t>3</a:t>
            </a:fld>
            <a:endParaRPr lang="en-US" altLang="en-US"/>
          </a:p>
        </p:txBody>
      </p:sp>
    </p:spTree>
    <p:extLst>
      <p:ext uri="{BB962C8B-B14F-4D97-AF65-F5344CB8AC3E}">
        <p14:creationId xmlns:p14="http://schemas.microsoft.com/office/powerpoint/2010/main" val="20782963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Identifying constant time operations:</a:t>
            </a:r>
          </a:p>
          <a:p>
            <a:r>
              <a:rPr lang="en-US" dirty="0"/>
              <a:t>Arithmetic operations (+,-,*,/,%) </a:t>
            </a:r>
          </a:p>
          <a:p>
            <a:r>
              <a:rPr lang="en-US" b="0" i="0" dirty="0">
                <a:solidFill>
                  <a:srgbClr val="000000"/>
                </a:solidFill>
                <a:effectLst/>
                <a:latin typeface="Roboto" panose="02000000000000000000" pitchFamily="2" charset="0"/>
              </a:rPr>
              <a:t>Assignment of a reference, pointer, or other fixed size data value.</a:t>
            </a:r>
          </a:p>
          <a:p>
            <a:r>
              <a:rPr lang="en-US" b="0" i="0" dirty="0">
                <a:solidFill>
                  <a:srgbClr val="000000"/>
                </a:solidFill>
                <a:effectLst/>
                <a:latin typeface="Roboto" panose="02000000000000000000" pitchFamily="2" charset="0"/>
              </a:rPr>
              <a:t>Comparison of two fixed size data values.</a:t>
            </a:r>
          </a:p>
          <a:p>
            <a:r>
              <a:rPr lang="en-US" b="0" i="0" dirty="0">
                <a:solidFill>
                  <a:srgbClr val="000000"/>
                </a:solidFill>
                <a:effectLst/>
                <a:latin typeface="Roboto" panose="02000000000000000000" pitchFamily="2" charset="0"/>
              </a:rPr>
              <a:t>Read or write an array element at a particular index.</a:t>
            </a:r>
            <a:endParaRPr lang="en-US" dirty="0"/>
          </a:p>
          <a:p>
            <a:endParaRPr lang="en-US" dirty="0"/>
          </a:p>
        </p:txBody>
      </p:sp>
      <p:sp>
        <p:nvSpPr>
          <p:cNvPr id="4" name="Slide Number Placeholder 3"/>
          <p:cNvSpPr>
            <a:spLocks noGrp="1"/>
          </p:cNvSpPr>
          <p:nvPr>
            <p:ph type="sldNum" sz="quarter" idx="5"/>
          </p:nvPr>
        </p:nvSpPr>
        <p:spPr/>
        <p:txBody>
          <a:bodyPr/>
          <a:lstStyle/>
          <a:p>
            <a:pPr>
              <a:defRPr/>
            </a:pPr>
            <a:fld id="{19F40DE6-DB6C-4592-BA44-D579595A0D63}" type="slidenum">
              <a:rPr lang="en-US" altLang="en-US" smtClean="0"/>
              <a:pPr>
                <a:defRPr/>
              </a:pPr>
              <a:t>4</a:t>
            </a:fld>
            <a:endParaRPr lang="en-US" altLang="en-US"/>
          </a:p>
        </p:txBody>
      </p:sp>
    </p:spTree>
    <p:extLst>
      <p:ext uri="{BB962C8B-B14F-4D97-AF65-F5344CB8AC3E}">
        <p14:creationId xmlns:p14="http://schemas.microsoft.com/office/powerpoint/2010/main" val="26644004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66825" y="727075"/>
            <a:ext cx="4781550" cy="3586163"/>
          </a:xfrm>
        </p:spPr>
      </p:sp>
      <p:sp>
        <p:nvSpPr>
          <p:cNvPr id="3" name="Notes Placeholder 2"/>
          <p:cNvSpPr>
            <a:spLocks noGrp="1"/>
          </p:cNvSpPr>
          <p:nvPr>
            <p:ph type="body" idx="1"/>
          </p:nvPr>
        </p:nvSpPr>
        <p:spPr/>
        <p:txBody>
          <a:bodyPr/>
          <a:lstStyle/>
          <a:p>
            <a:r>
              <a:rPr lang="en-US" dirty="0"/>
              <a:t>O(1) ( if .. Else ..)</a:t>
            </a:r>
          </a:p>
          <a:p>
            <a:r>
              <a:rPr lang="en-US" dirty="0"/>
              <a:t>O(log n) binary search</a:t>
            </a:r>
          </a:p>
          <a:p>
            <a:r>
              <a:rPr lang="en-US" dirty="0"/>
              <a:t>O(n) linear search</a:t>
            </a:r>
          </a:p>
          <a:p>
            <a:r>
              <a:rPr lang="en-US" dirty="0"/>
              <a:t>O(</a:t>
            </a:r>
            <a:r>
              <a:rPr lang="en-US" dirty="0" err="1"/>
              <a:t>nlog</a:t>
            </a:r>
            <a:r>
              <a:rPr lang="en-US" dirty="0"/>
              <a:t> n): </a:t>
            </a:r>
            <a:r>
              <a:rPr lang="en-US" dirty="0" err="1"/>
              <a:t>mergeSort</a:t>
            </a:r>
            <a:endParaRPr lang="en-US" dirty="0"/>
          </a:p>
          <a:p>
            <a:r>
              <a:rPr lang="en-US" dirty="0"/>
              <a:t>O(n^2): Selection Sort</a:t>
            </a:r>
          </a:p>
          <a:p>
            <a:r>
              <a:rPr lang="en-US" dirty="0"/>
              <a:t>O(</a:t>
            </a:r>
            <a:r>
              <a:rPr lang="en-US" dirty="0" err="1"/>
              <a:t>c^N</a:t>
            </a:r>
            <a:r>
              <a:rPr lang="en-US" dirty="0"/>
              <a:t>): recursive Fibonacci , tower of Hanoi</a:t>
            </a:r>
          </a:p>
          <a:p>
            <a:endParaRPr lang="en-US" dirty="0"/>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19F40DE6-DB6C-4592-BA44-D579595A0D63}" type="slidenum">
              <a:rPr lang="en-US" altLang="en-US" smtClean="0"/>
              <a:pPr>
                <a:defRPr/>
              </a:pPr>
              <a:t>5</a:t>
            </a:fld>
            <a:endParaRPr lang="en-US" altLang="en-US"/>
          </a:p>
        </p:txBody>
      </p:sp>
    </p:spTree>
    <p:extLst>
      <p:ext uri="{BB962C8B-B14F-4D97-AF65-F5344CB8AC3E}">
        <p14:creationId xmlns:p14="http://schemas.microsoft.com/office/powerpoint/2010/main" val="18825932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66825" y="727075"/>
            <a:ext cx="4781550" cy="35861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9F40DE6-DB6C-4592-BA44-D579595A0D63}" type="slidenum">
              <a:rPr lang="en-US" altLang="en-US" smtClean="0"/>
              <a:pPr>
                <a:defRPr/>
              </a:pPr>
              <a:t>6</a:t>
            </a:fld>
            <a:endParaRPr lang="en-US" altLang="en-US"/>
          </a:p>
        </p:txBody>
      </p:sp>
    </p:spTree>
    <p:extLst>
      <p:ext uri="{BB962C8B-B14F-4D97-AF65-F5344CB8AC3E}">
        <p14:creationId xmlns:p14="http://schemas.microsoft.com/office/powerpoint/2010/main" val="5569922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66825" y="727075"/>
            <a:ext cx="4781550" cy="35861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9F40DE6-DB6C-4592-BA44-D579595A0D63}" type="slidenum">
              <a:rPr lang="en-US" altLang="en-US" smtClean="0"/>
              <a:pPr>
                <a:defRPr/>
              </a:pPr>
              <a:t>7</a:t>
            </a:fld>
            <a:endParaRPr lang="en-US" altLang="en-US"/>
          </a:p>
        </p:txBody>
      </p:sp>
    </p:spTree>
    <p:extLst>
      <p:ext uri="{BB962C8B-B14F-4D97-AF65-F5344CB8AC3E}">
        <p14:creationId xmlns:p14="http://schemas.microsoft.com/office/powerpoint/2010/main" val="40910598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66825" y="727075"/>
            <a:ext cx="4781550" cy="35861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9F40DE6-DB6C-4592-BA44-D579595A0D63}" type="slidenum">
              <a:rPr lang="en-US" altLang="en-US" smtClean="0"/>
              <a:pPr>
                <a:defRPr/>
              </a:pPr>
              <a:t>8</a:t>
            </a:fld>
            <a:endParaRPr lang="en-US" altLang="en-US"/>
          </a:p>
        </p:txBody>
      </p:sp>
    </p:spTree>
    <p:extLst>
      <p:ext uri="{BB962C8B-B14F-4D97-AF65-F5344CB8AC3E}">
        <p14:creationId xmlns:p14="http://schemas.microsoft.com/office/powerpoint/2010/main" val="2888584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Roboto" panose="02000000000000000000" pitchFamily="2" charset="0"/>
              </a:rPr>
              <a:t>As simple as it is, the constant function is useful in algorithm analysis because it characterizes the number of steps needed to do a basic operation on a computer, like adding two numbers, assigning a value to a variable, or comparing two numbers.</a:t>
            </a:r>
          </a:p>
          <a:p>
            <a:endParaRPr lang="en-US" b="0" i="0" dirty="0">
              <a:solidFill>
                <a:srgbClr val="000000"/>
              </a:solidFill>
              <a:effectLst/>
              <a:latin typeface="Roboto" panose="02000000000000000000" pitchFamily="2" charset="0"/>
            </a:endParaRPr>
          </a:p>
          <a:p>
            <a:r>
              <a:rPr lang="en-US" b="0" i="0" dirty="0">
                <a:solidFill>
                  <a:srgbClr val="000000"/>
                </a:solidFill>
                <a:effectLst/>
                <a:latin typeface="Roboto" panose="02000000000000000000" pitchFamily="2" charset="0"/>
              </a:rPr>
              <a:t>The value  is known as the </a:t>
            </a:r>
            <a:r>
              <a:rPr lang="en-US" b="1" i="1" dirty="0">
                <a:solidFill>
                  <a:srgbClr val="000000"/>
                </a:solidFill>
                <a:effectLst/>
                <a:latin typeface="Roboto" panose="02000000000000000000" pitchFamily="2" charset="0"/>
              </a:rPr>
              <a:t>base</a:t>
            </a:r>
            <a:r>
              <a:rPr lang="en-US" b="0" i="0" dirty="0">
                <a:solidFill>
                  <a:srgbClr val="000000"/>
                </a:solidFill>
                <a:effectLst/>
                <a:latin typeface="Roboto" panose="02000000000000000000" pitchFamily="2" charset="0"/>
              </a:rPr>
              <a:t> of the logarithm. Note that by the above definition, for any base b &gt; 1</a:t>
            </a:r>
          </a:p>
          <a:p>
            <a:r>
              <a:rPr lang="en-US" dirty="0" err="1"/>
              <a:t>log</a:t>
            </a:r>
            <a:r>
              <a:rPr lang="en-US" baseline="-25000" dirty="0" err="1"/>
              <a:t>b</a:t>
            </a:r>
            <a:r>
              <a:rPr lang="en-US" baseline="-25000" dirty="0"/>
              <a:t> b </a:t>
            </a:r>
            <a:r>
              <a:rPr lang="en-US" b="0" i="0" dirty="0">
                <a:solidFill>
                  <a:srgbClr val="000000"/>
                </a:solidFill>
                <a:effectLst/>
                <a:latin typeface="Roboto" panose="02000000000000000000" pitchFamily="2" charset="0"/>
              </a:rPr>
              <a:t>= 1</a:t>
            </a:r>
          </a:p>
          <a:p>
            <a:r>
              <a:rPr lang="en-US" dirty="0" err="1"/>
              <a:t>log</a:t>
            </a:r>
            <a:r>
              <a:rPr lang="en-US" baseline="-25000" dirty="0" err="1"/>
              <a:t>b</a:t>
            </a:r>
            <a:r>
              <a:rPr lang="en-US" baseline="-25000" dirty="0"/>
              <a:t> </a:t>
            </a:r>
            <a:r>
              <a:rPr lang="en-US" b="0" i="0" dirty="0">
                <a:solidFill>
                  <a:srgbClr val="000000"/>
                </a:solidFill>
                <a:effectLst/>
                <a:latin typeface="Roboto" panose="02000000000000000000" pitchFamily="2" charset="0"/>
              </a:rPr>
              <a:t>1  = 0</a:t>
            </a:r>
          </a:p>
          <a:p>
            <a:endParaRPr lang="en-US" b="0" i="0" dirty="0">
              <a:solidFill>
                <a:srgbClr val="000000"/>
              </a:solidFill>
              <a:effectLst/>
              <a:latin typeface="Roboto" panose="02000000000000000000" pitchFamily="2" charset="0"/>
            </a:endParaRPr>
          </a:p>
          <a:p>
            <a:br>
              <a:rPr lang="en-US" dirty="0"/>
            </a:br>
            <a:endParaRPr lang="en-US" dirty="0"/>
          </a:p>
        </p:txBody>
      </p:sp>
      <p:sp>
        <p:nvSpPr>
          <p:cNvPr id="4" name="Slide Number Placeholder 3"/>
          <p:cNvSpPr>
            <a:spLocks noGrp="1"/>
          </p:cNvSpPr>
          <p:nvPr>
            <p:ph type="sldNum" sz="quarter" idx="5"/>
          </p:nvPr>
        </p:nvSpPr>
        <p:spPr/>
        <p:txBody>
          <a:bodyPr/>
          <a:lstStyle/>
          <a:p>
            <a:pPr>
              <a:defRPr/>
            </a:pPr>
            <a:fld id="{19F40DE6-DB6C-4592-BA44-D579595A0D63}" type="slidenum">
              <a:rPr lang="en-US" altLang="en-US" smtClean="0"/>
              <a:pPr>
                <a:defRPr/>
              </a:pPr>
              <a:t>9</a:t>
            </a:fld>
            <a:endParaRPr lang="en-US" altLang="en-US"/>
          </a:p>
        </p:txBody>
      </p:sp>
    </p:spTree>
    <p:extLst>
      <p:ext uri="{BB962C8B-B14F-4D97-AF65-F5344CB8AC3E}">
        <p14:creationId xmlns:p14="http://schemas.microsoft.com/office/powerpoint/2010/main" val="1260463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9F40DE6-DB6C-4592-BA44-D579595A0D63}" type="slidenum">
              <a:rPr lang="en-US" altLang="en-US" smtClean="0"/>
              <a:pPr>
                <a:defRPr/>
              </a:pPr>
              <a:t>10</a:t>
            </a:fld>
            <a:endParaRPr lang="en-US" altLang="en-US"/>
          </a:p>
        </p:txBody>
      </p:sp>
    </p:spTree>
    <p:extLst>
      <p:ext uri="{BB962C8B-B14F-4D97-AF65-F5344CB8AC3E}">
        <p14:creationId xmlns:p14="http://schemas.microsoft.com/office/powerpoint/2010/main" val="24352697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66825" y="727075"/>
            <a:ext cx="4781550" cy="35861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9F40DE6-DB6C-4592-BA44-D579595A0D63}" type="slidenum">
              <a:rPr lang="en-US" altLang="en-US" smtClean="0"/>
              <a:pPr>
                <a:defRPr/>
              </a:pPr>
              <a:t>11</a:t>
            </a:fld>
            <a:endParaRPr lang="en-US" altLang="en-US"/>
          </a:p>
        </p:txBody>
      </p:sp>
    </p:spTree>
    <p:extLst>
      <p:ext uri="{BB962C8B-B14F-4D97-AF65-F5344CB8AC3E}">
        <p14:creationId xmlns:p14="http://schemas.microsoft.com/office/powerpoint/2010/main" val="32485804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9F40DE6-DB6C-4592-BA44-D579595A0D63}" type="slidenum">
              <a:rPr lang="en-US" altLang="en-US" smtClean="0"/>
              <a:pPr>
                <a:defRPr/>
              </a:pPr>
              <a:t>12</a:t>
            </a:fld>
            <a:endParaRPr lang="en-US" altLang="en-US"/>
          </a:p>
        </p:txBody>
      </p:sp>
    </p:spTree>
    <p:extLst>
      <p:ext uri="{BB962C8B-B14F-4D97-AF65-F5344CB8AC3E}">
        <p14:creationId xmlns:p14="http://schemas.microsoft.com/office/powerpoint/2010/main" val="288094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66825" y="727075"/>
            <a:ext cx="4781550" cy="35861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9F40DE6-DB6C-4592-BA44-D579595A0D63}" type="slidenum">
              <a:rPr lang="en-US" altLang="en-US" smtClean="0"/>
              <a:pPr>
                <a:defRPr/>
              </a:pPr>
              <a:t>13</a:t>
            </a:fld>
            <a:endParaRPr lang="en-US" altLang="en-US"/>
          </a:p>
        </p:txBody>
      </p:sp>
    </p:spTree>
    <p:extLst>
      <p:ext uri="{BB962C8B-B14F-4D97-AF65-F5344CB8AC3E}">
        <p14:creationId xmlns:p14="http://schemas.microsoft.com/office/powerpoint/2010/main" val="28823899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66825" y="727075"/>
            <a:ext cx="4781550" cy="35861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9F40DE6-DB6C-4592-BA44-D579595A0D63}" type="slidenum">
              <a:rPr lang="en-US" altLang="en-US" smtClean="0"/>
              <a:pPr>
                <a:defRPr/>
              </a:pPr>
              <a:t>14</a:t>
            </a:fld>
            <a:endParaRPr lang="en-US" altLang="en-US"/>
          </a:p>
        </p:txBody>
      </p:sp>
    </p:spTree>
    <p:extLst>
      <p:ext uri="{BB962C8B-B14F-4D97-AF65-F5344CB8AC3E}">
        <p14:creationId xmlns:p14="http://schemas.microsoft.com/office/powerpoint/2010/main" val="15301717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66825" y="727075"/>
            <a:ext cx="4781550" cy="35861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9F40DE6-DB6C-4592-BA44-D579595A0D63}" type="slidenum">
              <a:rPr lang="en-US" altLang="en-US" smtClean="0"/>
              <a:pPr>
                <a:defRPr/>
              </a:pPr>
              <a:t>15</a:t>
            </a:fld>
            <a:endParaRPr lang="en-US" altLang="en-US"/>
          </a:p>
        </p:txBody>
      </p:sp>
    </p:spTree>
    <p:extLst>
      <p:ext uri="{BB962C8B-B14F-4D97-AF65-F5344CB8AC3E}">
        <p14:creationId xmlns:p14="http://schemas.microsoft.com/office/powerpoint/2010/main" val="16126223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66825" y="727075"/>
            <a:ext cx="4781550" cy="35861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9F40DE6-DB6C-4592-BA44-D579595A0D63}" type="slidenum">
              <a:rPr lang="en-US" altLang="en-US" smtClean="0"/>
              <a:pPr>
                <a:defRPr/>
              </a:pPr>
              <a:t>16</a:t>
            </a:fld>
            <a:endParaRPr lang="en-US" altLang="en-US"/>
          </a:p>
        </p:txBody>
      </p:sp>
    </p:spTree>
    <p:extLst>
      <p:ext uri="{BB962C8B-B14F-4D97-AF65-F5344CB8AC3E}">
        <p14:creationId xmlns:p14="http://schemas.microsoft.com/office/powerpoint/2010/main" val="39850323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9F40DE6-DB6C-4592-BA44-D579595A0D63}" type="slidenum">
              <a:rPr lang="en-US" altLang="en-US" smtClean="0"/>
              <a:pPr>
                <a:defRPr/>
              </a:pPr>
              <a:t>17</a:t>
            </a:fld>
            <a:endParaRPr lang="en-US" altLang="en-US"/>
          </a:p>
        </p:txBody>
      </p:sp>
    </p:spTree>
    <p:extLst>
      <p:ext uri="{BB962C8B-B14F-4D97-AF65-F5344CB8AC3E}">
        <p14:creationId xmlns:p14="http://schemas.microsoft.com/office/powerpoint/2010/main" val="41559361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66825" y="727075"/>
            <a:ext cx="4781550" cy="35861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9F40DE6-DB6C-4592-BA44-D579595A0D63}" type="slidenum">
              <a:rPr lang="en-US" altLang="en-US" smtClean="0"/>
              <a:pPr>
                <a:defRPr/>
              </a:pPr>
              <a:t>18</a:t>
            </a:fld>
            <a:endParaRPr lang="en-US" altLang="en-US"/>
          </a:p>
        </p:txBody>
      </p:sp>
    </p:spTree>
    <p:extLst>
      <p:ext uri="{BB962C8B-B14F-4D97-AF65-F5344CB8AC3E}">
        <p14:creationId xmlns:p14="http://schemas.microsoft.com/office/powerpoint/2010/main" val="37698750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66825" y="727075"/>
            <a:ext cx="4781550" cy="35861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9F40DE6-DB6C-4592-BA44-D579595A0D63}" type="slidenum">
              <a:rPr lang="en-US" altLang="en-US" smtClean="0"/>
              <a:pPr>
                <a:defRPr/>
              </a:pPr>
              <a:t>19</a:t>
            </a:fld>
            <a:endParaRPr lang="en-US" altLang="en-US"/>
          </a:p>
        </p:txBody>
      </p:sp>
    </p:spTree>
    <p:extLst>
      <p:ext uri="{BB962C8B-B14F-4D97-AF65-F5344CB8AC3E}">
        <p14:creationId xmlns:p14="http://schemas.microsoft.com/office/powerpoint/2010/main" val="36433229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66825" y="727075"/>
            <a:ext cx="4781550" cy="3586163"/>
          </a:xfrm>
        </p:spPr>
      </p:sp>
      <p:sp>
        <p:nvSpPr>
          <p:cNvPr id="3" name="Notes Placeholder 2"/>
          <p:cNvSpPr>
            <a:spLocks noGrp="1"/>
          </p:cNvSpPr>
          <p:nvPr>
            <p:ph type="body" idx="1"/>
          </p:nvPr>
        </p:nvSpPr>
        <p:spPr/>
        <p:txBody>
          <a:bodyPr/>
          <a:lstStyle/>
          <a:p>
            <a:r>
              <a:rPr lang="en-US" altLang="en-US" dirty="0"/>
              <a:t>Logarithmic Time</a:t>
            </a:r>
          </a:p>
          <a:p>
            <a:pPr defTabSz="966487">
              <a:defRPr/>
            </a:pPr>
            <a:r>
              <a:rPr lang="en-US" altLang="en-US" dirty="0"/>
              <a:t>Ignoring constants and smaller terms, the complexity of the binary search algorithm is </a:t>
            </a:r>
            <a:r>
              <a:rPr lang="en-US" altLang="en-US" i="1" dirty="0"/>
              <a:t>O(</a:t>
            </a:r>
            <a:r>
              <a:rPr lang="en-US" altLang="en-US" i="1" dirty="0" err="1"/>
              <a:t>logn</a:t>
            </a:r>
            <a:r>
              <a:rPr lang="en-US" altLang="en-US" i="1" dirty="0"/>
              <a:t>)</a:t>
            </a:r>
            <a:r>
              <a:rPr lang="en-US" altLang="en-US" dirty="0"/>
              <a:t>. An algorithm with the </a:t>
            </a:r>
            <a:r>
              <a:rPr lang="en-US" altLang="en-US" i="1" dirty="0"/>
              <a:t> O(</a:t>
            </a:r>
            <a:r>
              <a:rPr lang="en-US" altLang="en-US" i="1" dirty="0" err="1"/>
              <a:t>logn</a:t>
            </a:r>
            <a:r>
              <a:rPr lang="en-US" altLang="en-US" i="1" dirty="0"/>
              <a:t>)</a:t>
            </a:r>
            <a:r>
              <a:rPr lang="en-US" altLang="en-US" dirty="0"/>
              <a:t> time complexity is called a </a:t>
            </a:r>
            <a:r>
              <a:rPr lang="en-US" altLang="en-US" i="1" dirty="0"/>
              <a:t>logarithmic algorithm</a:t>
            </a:r>
            <a:r>
              <a:rPr lang="en-US" altLang="en-US" dirty="0"/>
              <a:t>. The base of the log is 2, but the base does not affect a logarithmic growth rate, so it can be omitted. The logarithmic algorithm grows slowly as the problem size increases. If you square the input size, you only double the time for the algorithm.</a:t>
            </a:r>
          </a:p>
          <a:p>
            <a:endParaRPr lang="en-US" dirty="0"/>
          </a:p>
        </p:txBody>
      </p:sp>
      <p:sp>
        <p:nvSpPr>
          <p:cNvPr id="4" name="Slide Number Placeholder 3"/>
          <p:cNvSpPr>
            <a:spLocks noGrp="1"/>
          </p:cNvSpPr>
          <p:nvPr>
            <p:ph type="sldNum" sz="quarter" idx="5"/>
          </p:nvPr>
        </p:nvSpPr>
        <p:spPr/>
        <p:txBody>
          <a:bodyPr/>
          <a:lstStyle/>
          <a:p>
            <a:pPr>
              <a:defRPr/>
            </a:pPr>
            <a:fld id="{19F40DE6-DB6C-4592-BA44-D579595A0D63}" type="slidenum">
              <a:rPr lang="en-US" altLang="en-US" smtClean="0"/>
              <a:pPr>
                <a:defRPr/>
              </a:pPr>
              <a:t>20</a:t>
            </a:fld>
            <a:endParaRPr lang="en-US" altLang="en-US"/>
          </a:p>
        </p:txBody>
      </p:sp>
    </p:spTree>
    <p:extLst>
      <p:ext uri="{BB962C8B-B14F-4D97-AF65-F5344CB8AC3E}">
        <p14:creationId xmlns:p14="http://schemas.microsoft.com/office/powerpoint/2010/main" val="19085894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9F40DE6-DB6C-4592-BA44-D579595A0D63}" type="slidenum">
              <a:rPr lang="en-US" altLang="en-US" smtClean="0"/>
              <a:pPr>
                <a:defRPr/>
              </a:pPr>
              <a:t>21</a:t>
            </a:fld>
            <a:endParaRPr lang="en-US" altLang="en-US"/>
          </a:p>
        </p:txBody>
      </p:sp>
    </p:spTree>
    <p:extLst>
      <p:ext uri="{BB962C8B-B14F-4D97-AF65-F5344CB8AC3E}">
        <p14:creationId xmlns:p14="http://schemas.microsoft.com/office/powerpoint/2010/main" val="34161880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9F40DE6-DB6C-4592-BA44-D579595A0D63}" type="slidenum">
              <a:rPr lang="en-US" altLang="en-US" smtClean="0"/>
              <a:pPr>
                <a:defRPr/>
              </a:pPr>
              <a:t>22</a:t>
            </a:fld>
            <a:endParaRPr lang="en-US" altLang="en-US"/>
          </a:p>
        </p:txBody>
      </p:sp>
    </p:spTree>
    <p:extLst>
      <p:ext uri="{BB962C8B-B14F-4D97-AF65-F5344CB8AC3E}">
        <p14:creationId xmlns:p14="http://schemas.microsoft.com/office/powerpoint/2010/main" val="7346135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9F40DE6-DB6C-4592-BA44-D579595A0D63}" type="slidenum">
              <a:rPr lang="en-US" altLang="en-US" smtClean="0"/>
              <a:pPr>
                <a:defRPr/>
              </a:pPr>
              <a:t>23</a:t>
            </a:fld>
            <a:endParaRPr lang="en-US" altLang="en-US"/>
          </a:p>
        </p:txBody>
      </p:sp>
    </p:spTree>
    <p:extLst>
      <p:ext uri="{BB962C8B-B14F-4D97-AF65-F5344CB8AC3E}">
        <p14:creationId xmlns:p14="http://schemas.microsoft.com/office/powerpoint/2010/main" val="29693794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8nlogn = 2n^2</a:t>
            </a:r>
          </a:p>
          <a:p>
            <a:r>
              <a:rPr lang="en-US" dirty="0"/>
              <a:t>n=4logn</a:t>
            </a:r>
          </a:p>
          <a:p>
            <a:r>
              <a:rPr lang="en-US" dirty="0"/>
              <a:t>N=2^4=16</a:t>
            </a:r>
          </a:p>
          <a:p>
            <a:endParaRPr lang="en-US" dirty="0"/>
          </a:p>
        </p:txBody>
      </p:sp>
      <p:sp>
        <p:nvSpPr>
          <p:cNvPr id="4" name="Slide Number Placeholder 3"/>
          <p:cNvSpPr>
            <a:spLocks noGrp="1"/>
          </p:cNvSpPr>
          <p:nvPr>
            <p:ph type="sldNum" sz="quarter" idx="5"/>
          </p:nvPr>
        </p:nvSpPr>
        <p:spPr/>
        <p:txBody>
          <a:bodyPr/>
          <a:lstStyle/>
          <a:p>
            <a:pPr>
              <a:defRPr/>
            </a:pPr>
            <a:fld id="{19F40DE6-DB6C-4592-BA44-D579595A0D63}" type="slidenum">
              <a:rPr lang="en-US" altLang="en-US" smtClean="0"/>
              <a:pPr>
                <a:defRPr/>
              </a:pPr>
              <a:t>24</a:t>
            </a:fld>
            <a:endParaRPr lang="en-US" altLang="en-US"/>
          </a:p>
        </p:txBody>
      </p:sp>
    </p:spTree>
    <p:extLst>
      <p:ext uri="{BB962C8B-B14F-4D97-AF65-F5344CB8AC3E}">
        <p14:creationId xmlns:p14="http://schemas.microsoft.com/office/powerpoint/2010/main" val="16177728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9F40DE6-DB6C-4592-BA44-D579595A0D63}" type="slidenum">
              <a:rPr lang="en-US" altLang="en-US" smtClean="0"/>
              <a:pPr>
                <a:defRPr/>
              </a:pPr>
              <a:t>25</a:t>
            </a:fld>
            <a:endParaRPr lang="en-US" altLang="en-US"/>
          </a:p>
        </p:txBody>
      </p:sp>
    </p:spTree>
    <p:extLst>
      <p:ext uri="{BB962C8B-B14F-4D97-AF65-F5344CB8AC3E}">
        <p14:creationId xmlns:p14="http://schemas.microsoft.com/office/powerpoint/2010/main" val="17005226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9F40DE6-DB6C-4592-BA44-D579595A0D63}" type="slidenum">
              <a:rPr lang="en-US" altLang="en-US" smtClean="0"/>
              <a:pPr>
                <a:defRPr/>
              </a:pPr>
              <a:t>26</a:t>
            </a:fld>
            <a:endParaRPr lang="en-US" altLang="en-US"/>
          </a:p>
        </p:txBody>
      </p:sp>
    </p:spTree>
    <p:extLst>
      <p:ext uri="{BB962C8B-B14F-4D97-AF65-F5344CB8AC3E}">
        <p14:creationId xmlns:p14="http://schemas.microsoft.com/office/powerpoint/2010/main" val="34574221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9F40DE6-DB6C-4592-BA44-D579595A0D63}" type="slidenum">
              <a:rPr lang="en-US" altLang="en-US" smtClean="0"/>
              <a:pPr>
                <a:defRPr/>
              </a:pPr>
              <a:t>27</a:t>
            </a:fld>
            <a:endParaRPr lang="en-US" altLang="en-US"/>
          </a:p>
        </p:txBody>
      </p:sp>
    </p:spTree>
    <p:extLst>
      <p:ext uri="{BB962C8B-B14F-4D97-AF65-F5344CB8AC3E}">
        <p14:creationId xmlns:p14="http://schemas.microsoft.com/office/powerpoint/2010/main" val="25286854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9F40DE6-DB6C-4592-BA44-D579595A0D63}" type="slidenum">
              <a:rPr lang="en-US" altLang="en-US" smtClean="0"/>
              <a:pPr>
                <a:defRPr/>
              </a:pPr>
              <a:t>28</a:t>
            </a:fld>
            <a:endParaRPr lang="en-US" altLang="en-US"/>
          </a:p>
        </p:txBody>
      </p:sp>
    </p:spTree>
    <p:extLst>
      <p:ext uri="{BB962C8B-B14F-4D97-AF65-F5344CB8AC3E}">
        <p14:creationId xmlns:p14="http://schemas.microsoft.com/office/powerpoint/2010/main" val="21290586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9F40DE6-DB6C-4592-BA44-D579595A0D63}" type="slidenum">
              <a:rPr lang="en-US" altLang="en-US" smtClean="0"/>
              <a:pPr>
                <a:defRPr/>
              </a:pPr>
              <a:t>29</a:t>
            </a:fld>
            <a:endParaRPr lang="en-US" altLang="en-US"/>
          </a:p>
        </p:txBody>
      </p:sp>
    </p:spTree>
    <p:extLst>
      <p:ext uri="{BB962C8B-B14F-4D97-AF65-F5344CB8AC3E}">
        <p14:creationId xmlns:p14="http://schemas.microsoft.com/office/powerpoint/2010/main" val="41899608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56097">
              <a:defRPr/>
            </a:pPr>
            <a:r>
              <a:rPr lang="en-US" altLang="en-US" dirty="0">
                <a:solidFill>
                  <a:schemeClr val="tx2"/>
                </a:solidFill>
              </a:rPr>
              <a:t>Obviously, the complexity of this new algorithm is  O(n)    . This is a tremendous improvement over the recursive algorithm.</a:t>
            </a:r>
          </a:p>
          <a:p>
            <a:endParaRPr lang="en-US" dirty="0"/>
          </a:p>
        </p:txBody>
      </p:sp>
      <p:sp>
        <p:nvSpPr>
          <p:cNvPr id="4" name="Slide Number Placeholder 3"/>
          <p:cNvSpPr>
            <a:spLocks noGrp="1"/>
          </p:cNvSpPr>
          <p:nvPr>
            <p:ph type="sldNum" sz="quarter" idx="5"/>
          </p:nvPr>
        </p:nvSpPr>
        <p:spPr/>
        <p:txBody>
          <a:bodyPr/>
          <a:lstStyle/>
          <a:p>
            <a:pPr>
              <a:defRPr/>
            </a:pPr>
            <a:fld id="{19F40DE6-DB6C-4592-BA44-D579595A0D63}" type="slidenum">
              <a:rPr lang="en-US" altLang="en-US" smtClean="0"/>
              <a:pPr>
                <a:defRPr/>
              </a:pPr>
              <a:t>30</a:t>
            </a:fld>
            <a:endParaRPr lang="en-US" altLang="en-US"/>
          </a:p>
        </p:txBody>
      </p:sp>
    </p:spTree>
    <p:extLst>
      <p:ext uri="{BB962C8B-B14F-4D97-AF65-F5344CB8AC3E}">
        <p14:creationId xmlns:p14="http://schemas.microsoft.com/office/powerpoint/2010/main" val="18517584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9F40DE6-DB6C-4592-BA44-D579595A0D63}" type="slidenum">
              <a:rPr lang="en-US" altLang="en-US" smtClean="0"/>
              <a:pPr>
                <a:defRPr/>
              </a:pPr>
              <a:t>31</a:t>
            </a:fld>
            <a:endParaRPr lang="en-US" altLang="en-US"/>
          </a:p>
        </p:txBody>
      </p:sp>
    </p:spTree>
    <p:extLst>
      <p:ext uri="{BB962C8B-B14F-4D97-AF65-F5344CB8AC3E}">
        <p14:creationId xmlns:p14="http://schemas.microsoft.com/office/powerpoint/2010/main" val="326918504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9F40DE6-DB6C-4592-BA44-D579595A0D63}" type="slidenum">
              <a:rPr lang="en-US" altLang="en-US" smtClean="0"/>
              <a:pPr>
                <a:defRPr/>
              </a:pPr>
              <a:t>32</a:t>
            </a:fld>
            <a:endParaRPr lang="en-US" altLang="en-US"/>
          </a:p>
        </p:txBody>
      </p:sp>
    </p:spTree>
    <p:extLst>
      <p:ext uri="{BB962C8B-B14F-4D97-AF65-F5344CB8AC3E}">
        <p14:creationId xmlns:p14="http://schemas.microsoft.com/office/powerpoint/2010/main" val="23407327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24B16C3E-53A6-47AE-A9E7-099812CB9AE8}"/>
              </a:ext>
            </a:extLst>
          </p:cNvPr>
          <p:cNvSpPr>
            <a:spLocks noGrp="1" noChangeArrowheads="1"/>
          </p:cNvSpPr>
          <p:nvPr>
            <p:ph type="sldNum" sz="quarter" idx="5"/>
          </p:nvPr>
        </p:nvSpPr>
        <p:spPr>
          <a:noFill/>
        </p:spPr>
        <p:txBody>
          <a:bodyPr/>
          <a:lstStyle>
            <a:lvl1pPr>
              <a:defRPr sz="2500">
                <a:solidFill>
                  <a:schemeClr val="tx1"/>
                </a:solidFill>
                <a:latin typeface="Times New Roman" panose="02020603050405020304" pitchFamily="18" charset="0"/>
              </a:defRPr>
            </a:lvl1pPr>
            <a:lvl2pPr marL="776829" indent="-298780">
              <a:defRPr sz="2500">
                <a:solidFill>
                  <a:schemeClr val="tx1"/>
                </a:solidFill>
                <a:latin typeface="Times New Roman" panose="02020603050405020304" pitchFamily="18" charset="0"/>
              </a:defRPr>
            </a:lvl2pPr>
            <a:lvl3pPr marL="1195121" indent="-239024">
              <a:defRPr sz="2500">
                <a:solidFill>
                  <a:schemeClr val="tx1"/>
                </a:solidFill>
                <a:latin typeface="Times New Roman" panose="02020603050405020304" pitchFamily="18" charset="0"/>
              </a:defRPr>
            </a:lvl3pPr>
            <a:lvl4pPr marL="1673169" indent="-239024">
              <a:defRPr sz="2500">
                <a:solidFill>
                  <a:schemeClr val="tx1"/>
                </a:solidFill>
                <a:latin typeface="Times New Roman" panose="02020603050405020304" pitchFamily="18" charset="0"/>
              </a:defRPr>
            </a:lvl4pPr>
            <a:lvl5pPr marL="2151217" indent="-239024">
              <a:defRPr sz="2500">
                <a:solidFill>
                  <a:schemeClr val="tx1"/>
                </a:solidFill>
                <a:latin typeface="Times New Roman" panose="02020603050405020304" pitchFamily="18" charset="0"/>
              </a:defRPr>
            </a:lvl5pPr>
            <a:lvl6pPr marL="2629266" indent="-239024" eaLnBrk="0" fontAlgn="base" hangingPunct="0">
              <a:spcBef>
                <a:spcPct val="0"/>
              </a:spcBef>
              <a:spcAft>
                <a:spcPct val="0"/>
              </a:spcAft>
              <a:defRPr sz="2500">
                <a:solidFill>
                  <a:schemeClr val="tx1"/>
                </a:solidFill>
                <a:latin typeface="Times New Roman" panose="02020603050405020304" pitchFamily="18" charset="0"/>
              </a:defRPr>
            </a:lvl6pPr>
            <a:lvl7pPr marL="3107314" indent="-239024" eaLnBrk="0" fontAlgn="base" hangingPunct="0">
              <a:spcBef>
                <a:spcPct val="0"/>
              </a:spcBef>
              <a:spcAft>
                <a:spcPct val="0"/>
              </a:spcAft>
              <a:defRPr sz="2500">
                <a:solidFill>
                  <a:schemeClr val="tx1"/>
                </a:solidFill>
                <a:latin typeface="Times New Roman" panose="02020603050405020304" pitchFamily="18" charset="0"/>
              </a:defRPr>
            </a:lvl7pPr>
            <a:lvl8pPr marL="3585362" indent="-239024" eaLnBrk="0" fontAlgn="base" hangingPunct="0">
              <a:spcBef>
                <a:spcPct val="0"/>
              </a:spcBef>
              <a:spcAft>
                <a:spcPct val="0"/>
              </a:spcAft>
              <a:defRPr sz="2500">
                <a:solidFill>
                  <a:schemeClr val="tx1"/>
                </a:solidFill>
                <a:latin typeface="Times New Roman" panose="02020603050405020304" pitchFamily="18" charset="0"/>
              </a:defRPr>
            </a:lvl8pPr>
            <a:lvl9pPr marL="4063411" indent="-239024" eaLnBrk="0" fontAlgn="base" hangingPunct="0">
              <a:spcBef>
                <a:spcPct val="0"/>
              </a:spcBef>
              <a:spcAft>
                <a:spcPct val="0"/>
              </a:spcAft>
              <a:defRPr sz="2500">
                <a:solidFill>
                  <a:schemeClr val="tx1"/>
                </a:solidFill>
                <a:latin typeface="Times New Roman" panose="02020603050405020304" pitchFamily="18" charset="0"/>
              </a:defRPr>
            </a:lvl9pPr>
          </a:lstStyle>
          <a:p>
            <a:fld id="{49AE260B-FAB2-47BF-9B82-4082137F7178}" type="slidenum">
              <a:rPr lang="en-US" altLang="en-US" sz="1000"/>
              <a:pPr/>
              <a:t>33</a:t>
            </a:fld>
            <a:endParaRPr lang="en-US" altLang="en-US" sz="1000"/>
          </a:p>
        </p:txBody>
      </p:sp>
      <p:sp>
        <p:nvSpPr>
          <p:cNvPr id="43011" name="Rectangle 2">
            <a:extLst>
              <a:ext uri="{FF2B5EF4-FFF2-40B4-BE49-F238E27FC236}">
                <a16:creationId xmlns:a16="http://schemas.microsoft.com/office/drawing/2014/main" id="{DBBAF0AE-95DF-4D52-ACF2-3C9917885893}"/>
              </a:ext>
            </a:extLst>
          </p:cNvPr>
          <p:cNvSpPr>
            <a:spLocks noGrp="1" noRot="1" noChangeAspect="1" noChangeArrowheads="1" noTextEdit="1"/>
          </p:cNvSpPr>
          <p:nvPr>
            <p:ph type="sldImg"/>
          </p:nvPr>
        </p:nvSpPr>
        <p:spPr>
          <a:xfrm>
            <a:off x="1282700" y="708025"/>
            <a:ext cx="4722813" cy="3541713"/>
          </a:xfrm>
          <a:ln/>
        </p:spPr>
      </p:sp>
      <p:sp>
        <p:nvSpPr>
          <p:cNvPr id="43012" name="Rectangle 3">
            <a:extLst>
              <a:ext uri="{FF2B5EF4-FFF2-40B4-BE49-F238E27FC236}">
                <a16:creationId xmlns:a16="http://schemas.microsoft.com/office/drawing/2014/main" id="{307FC2F1-DDCC-4AF5-9E34-5915C93358AB}"/>
              </a:ext>
            </a:extLst>
          </p:cNvPr>
          <p:cNvSpPr>
            <a:spLocks noGrp="1" noChangeArrowheads="1"/>
          </p:cNvSpPr>
          <p:nvPr>
            <p:ph type="body" idx="1"/>
          </p:nvPr>
        </p:nvSpPr>
        <p:spPr>
          <a:noFill/>
          <a:extLst>
            <a:ext uri="{91240B29-F687-4F45-9708-019B960494DF}">
              <a14:hiddenLine xmlns:a14="http://schemas.microsoft.com/office/drawing/2010/main" w="12700">
                <a:solidFill>
                  <a:schemeClr val="tx1"/>
                </a:solidFill>
                <a:miter lim="800000"/>
                <a:headEnd type="none" w="sm" len="sm"/>
                <a:tailEnd type="none" w="sm" len="sm"/>
              </a14:hiddenLine>
            </a:ext>
          </a:extLst>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31">
            <a:extLst>
              <a:ext uri="{FF2B5EF4-FFF2-40B4-BE49-F238E27FC236}">
                <a16:creationId xmlns:a16="http://schemas.microsoft.com/office/drawing/2014/main" id="{83C1397C-4702-497E-98D5-FC0E86CE23A3}"/>
              </a:ext>
            </a:extLst>
          </p:cNvPr>
          <p:cNvGrpSpPr>
            <a:grpSpLocks/>
          </p:cNvGrpSpPr>
          <p:nvPr/>
        </p:nvGrpSpPr>
        <p:grpSpPr bwMode="auto">
          <a:xfrm>
            <a:off x="0" y="114300"/>
            <a:ext cx="9142413" cy="6742113"/>
            <a:chOff x="0" y="72"/>
            <a:chExt cx="5759" cy="4247"/>
          </a:xfrm>
        </p:grpSpPr>
        <p:sp>
          <p:nvSpPr>
            <p:cNvPr id="5" name="Rectangle 2">
              <a:extLst>
                <a:ext uri="{FF2B5EF4-FFF2-40B4-BE49-F238E27FC236}">
                  <a16:creationId xmlns:a16="http://schemas.microsoft.com/office/drawing/2014/main" id="{7F910324-B5F8-459E-8204-37E1FA54CA72}"/>
                </a:ext>
              </a:extLst>
            </p:cNvPr>
            <p:cNvSpPr>
              <a:spLocks noChangeArrowheads="1"/>
            </p:cNvSpPr>
            <p:nvPr/>
          </p:nvSpPr>
          <p:spPr bwMode="hidden">
            <a:xfrm>
              <a:off x="0" y="2112"/>
              <a:ext cx="5759" cy="220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6" name="Group 30">
              <a:extLst>
                <a:ext uri="{FF2B5EF4-FFF2-40B4-BE49-F238E27FC236}">
                  <a16:creationId xmlns:a16="http://schemas.microsoft.com/office/drawing/2014/main" id="{CB1F4C54-4A16-483E-B6D1-915DEB3B8F6B}"/>
                </a:ext>
              </a:extLst>
            </p:cNvPr>
            <p:cNvGrpSpPr>
              <a:grpSpLocks/>
            </p:cNvGrpSpPr>
            <p:nvPr/>
          </p:nvGrpSpPr>
          <p:grpSpPr bwMode="auto">
            <a:xfrm>
              <a:off x="0" y="72"/>
              <a:ext cx="5759" cy="2040"/>
              <a:chOff x="0" y="72"/>
              <a:chExt cx="5759" cy="2040"/>
            </a:xfrm>
          </p:grpSpPr>
          <p:sp>
            <p:nvSpPr>
              <p:cNvPr id="7" name="Rectangle 3">
                <a:extLst>
                  <a:ext uri="{FF2B5EF4-FFF2-40B4-BE49-F238E27FC236}">
                    <a16:creationId xmlns:a16="http://schemas.microsoft.com/office/drawing/2014/main" id="{55163EE4-2838-41FB-B0B2-C3B5D0921351}"/>
                  </a:ext>
                </a:extLst>
              </p:cNvPr>
              <p:cNvSpPr>
                <a:spLocks noChangeArrowheads="1"/>
              </p:cNvSpPr>
              <p:nvPr/>
            </p:nvSpPr>
            <p:spPr bwMode="hidden">
              <a:xfrm>
                <a:off x="0" y="1872"/>
                <a:ext cx="5759" cy="240"/>
              </a:xfrm>
              <a:prstGeom prst="rect">
                <a:avLst/>
              </a:prstGeom>
              <a:gradFill rotWithShape="0">
                <a:gsLst>
                  <a:gs pos="0">
                    <a:schemeClr val="bg1"/>
                  </a:gs>
                  <a:gs pos="100000">
                    <a:schemeClr val="hlink"/>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8" name="Group 9">
                <a:extLst>
                  <a:ext uri="{FF2B5EF4-FFF2-40B4-BE49-F238E27FC236}">
                    <a16:creationId xmlns:a16="http://schemas.microsoft.com/office/drawing/2014/main" id="{AD4834A4-6C08-48E8-B4AB-C0C6C550B2BD}"/>
                  </a:ext>
                </a:extLst>
              </p:cNvPr>
              <p:cNvGrpSpPr>
                <a:grpSpLocks/>
              </p:cNvGrpSpPr>
              <p:nvPr/>
            </p:nvGrpSpPr>
            <p:grpSpPr bwMode="auto">
              <a:xfrm>
                <a:off x="2289" y="72"/>
                <a:ext cx="1440" cy="1984"/>
                <a:chOff x="2289" y="72"/>
                <a:chExt cx="1440" cy="1984"/>
              </a:xfrm>
            </p:grpSpPr>
            <p:sp>
              <p:nvSpPr>
                <p:cNvPr id="29" name="Freeform 4">
                  <a:extLst>
                    <a:ext uri="{FF2B5EF4-FFF2-40B4-BE49-F238E27FC236}">
                      <a16:creationId xmlns:a16="http://schemas.microsoft.com/office/drawing/2014/main" id="{2FB46F2E-CBF0-45B4-A263-4576B608C599}"/>
                    </a:ext>
                  </a:extLst>
                </p:cNvPr>
                <p:cNvSpPr>
                  <a:spLocks/>
                </p:cNvSpPr>
                <p:nvPr/>
              </p:nvSpPr>
              <p:spPr bwMode="ltGray">
                <a:xfrm>
                  <a:off x="2289" y="127"/>
                  <a:ext cx="1440" cy="1770"/>
                </a:xfrm>
                <a:custGeom>
                  <a:avLst/>
                  <a:gdLst>
                    <a:gd name="T0" fmla="*/ 901 w 1440"/>
                    <a:gd name="T1" fmla="*/ 33 h 1770"/>
                    <a:gd name="T2" fmla="*/ 1066 w 1440"/>
                    <a:gd name="T3" fmla="*/ 129 h 1770"/>
                    <a:gd name="T4" fmla="*/ 1207 w 1440"/>
                    <a:gd name="T5" fmla="*/ 256 h 1770"/>
                    <a:gd name="T6" fmla="*/ 1316 w 1440"/>
                    <a:gd name="T7" fmla="*/ 410 h 1770"/>
                    <a:gd name="T8" fmla="*/ 1394 w 1440"/>
                    <a:gd name="T9" fmla="*/ 581 h 1770"/>
                    <a:gd name="T10" fmla="*/ 1435 w 1440"/>
                    <a:gd name="T11" fmla="*/ 766 h 1770"/>
                    <a:gd name="T12" fmla="*/ 1435 w 1440"/>
                    <a:gd name="T13" fmla="*/ 958 h 1770"/>
                    <a:gd name="T14" fmla="*/ 1394 w 1440"/>
                    <a:gd name="T15" fmla="*/ 1143 h 1770"/>
                    <a:gd name="T16" fmla="*/ 1316 w 1440"/>
                    <a:gd name="T17" fmla="*/ 1314 h 1770"/>
                    <a:gd name="T18" fmla="*/ 1207 w 1440"/>
                    <a:gd name="T19" fmla="*/ 1468 h 1770"/>
                    <a:gd name="T20" fmla="*/ 1066 w 1440"/>
                    <a:gd name="T21" fmla="*/ 1597 h 1770"/>
                    <a:gd name="T22" fmla="*/ 901 w 1440"/>
                    <a:gd name="T23" fmla="*/ 1691 h 1770"/>
                    <a:gd name="T24" fmla="*/ 721 w 1440"/>
                    <a:gd name="T25" fmla="*/ 1749 h 1770"/>
                    <a:gd name="T26" fmla="*/ 533 w 1440"/>
                    <a:gd name="T27" fmla="*/ 1769 h 1770"/>
                    <a:gd name="T28" fmla="*/ 344 w 1440"/>
                    <a:gd name="T29" fmla="*/ 1749 h 1770"/>
                    <a:gd name="T30" fmla="*/ 165 w 1440"/>
                    <a:gd name="T31" fmla="*/ 1691 h 1770"/>
                    <a:gd name="T32" fmla="*/ 0 w 1440"/>
                    <a:gd name="T33" fmla="*/ 1597 h 1770"/>
                    <a:gd name="T34" fmla="*/ 125 w 1440"/>
                    <a:gd name="T35" fmla="*/ 1571 h 1770"/>
                    <a:gd name="T36" fmla="*/ 281 w 1440"/>
                    <a:gd name="T37" fmla="*/ 1640 h 1770"/>
                    <a:gd name="T38" fmla="*/ 446 w 1440"/>
                    <a:gd name="T39" fmla="*/ 1675 h 1770"/>
                    <a:gd name="T40" fmla="*/ 618 w 1440"/>
                    <a:gd name="T41" fmla="*/ 1675 h 1770"/>
                    <a:gd name="T42" fmla="*/ 785 w 1440"/>
                    <a:gd name="T43" fmla="*/ 1640 h 1770"/>
                    <a:gd name="T44" fmla="*/ 941 w 1440"/>
                    <a:gd name="T45" fmla="*/ 1571 h 1770"/>
                    <a:gd name="T46" fmla="*/ 1080 w 1440"/>
                    <a:gd name="T47" fmla="*/ 1470 h 1770"/>
                    <a:gd name="T48" fmla="*/ 1194 w 1440"/>
                    <a:gd name="T49" fmla="*/ 1343 h 1770"/>
                    <a:gd name="T50" fmla="*/ 1281 w 1440"/>
                    <a:gd name="T51" fmla="*/ 1194 h 1770"/>
                    <a:gd name="T52" fmla="*/ 1332 w 1440"/>
                    <a:gd name="T53" fmla="*/ 1032 h 1770"/>
                    <a:gd name="T54" fmla="*/ 1350 w 1440"/>
                    <a:gd name="T55" fmla="*/ 862 h 1770"/>
                    <a:gd name="T56" fmla="*/ 1332 w 1440"/>
                    <a:gd name="T57" fmla="*/ 691 h 1770"/>
                    <a:gd name="T58" fmla="*/ 1281 w 1440"/>
                    <a:gd name="T59" fmla="*/ 530 h 1770"/>
                    <a:gd name="T60" fmla="*/ 1194 w 1440"/>
                    <a:gd name="T61" fmla="*/ 381 h 1770"/>
                    <a:gd name="T62" fmla="*/ 1080 w 1440"/>
                    <a:gd name="T63" fmla="*/ 254 h 1770"/>
                    <a:gd name="T64" fmla="*/ 941 w 1440"/>
                    <a:gd name="T65" fmla="*/ 154 h 1770"/>
                    <a:gd name="T66" fmla="*/ 785 w 1440"/>
                    <a:gd name="T67" fmla="*/ 85 h 1770"/>
                    <a:gd name="T68" fmla="*/ 812 w 1440"/>
                    <a:gd name="T69" fmla="*/ 0 h 177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440" h="1770">
                      <a:moveTo>
                        <a:pt x="812" y="0"/>
                      </a:moveTo>
                      <a:lnTo>
                        <a:pt x="901" y="33"/>
                      </a:lnTo>
                      <a:lnTo>
                        <a:pt x="986" y="78"/>
                      </a:lnTo>
                      <a:lnTo>
                        <a:pt x="1066" y="129"/>
                      </a:lnTo>
                      <a:lnTo>
                        <a:pt x="1140" y="187"/>
                      </a:lnTo>
                      <a:lnTo>
                        <a:pt x="1207" y="256"/>
                      </a:lnTo>
                      <a:lnTo>
                        <a:pt x="1265" y="330"/>
                      </a:lnTo>
                      <a:lnTo>
                        <a:pt x="1316" y="410"/>
                      </a:lnTo>
                      <a:lnTo>
                        <a:pt x="1361" y="492"/>
                      </a:lnTo>
                      <a:lnTo>
                        <a:pt x="1394" y="581"/>
                      </a:lnTo>
                      <a:lnTo>
                        <a:pt x="1419" y="673"/>
                      </a:lnTo>
                      <a:lnTo>
                        <a:pt x="1435" y="766"/>
                      </a:lnTo>
                      <a:lnTo>
                        <a:pt x="1439" y="862"/>
                      </a:lnTo>
                      <a:lnTo>
                        <a:pt x="1435" y="958"/>
                      </a:lnTo>
                      <a:lnTo>
                        <a:pt x="1419" y="1052"/>
                      </a:lnTo>
                      <a:lnTo>
                        <a:pt x="1394" y="1143"/>
                      </a:lnTo>
                      <a:lnTo>
                        <a:pt x="1361" y="1230"/>
                      </a:lnTo>
                      <a:lnTo>
                        <a:pt x="1316" y="1314"/>
                      </a:lnTo>
                      <a:lnTo>
                        <a:pt x="1265" y="1395"/>
                      </a:lnTo>
                      <a:lnTo>
                        <a:pt x="1207" y="1468"/>
                      </a:lnTo>
                      <a:lnTo>
                        <a:pt x="1140" y="1537"/>
                      </a:lnTo>
                      <a:lnTo>
                        <a:pt x="1066" y="1597"/>
                      </a:lnTo>
                      <a:lnTo>
                        <a:pt x="986" y="1646"/>
                      </a:lnTo>
                      <a:lnTo>
                        <a:pt x="901" y="1691"/>
                      </a:lnTo>
                      <a:lnTo>
                        <a:pt x="812" y="1724"/>
                      </a:lnTo>
                      <a:lnTo>
                        <a:pt x="721" y="1749"/>
                      </a:lnTo>
                      <a:lnTo>
                        <a:pt x="627" y="1765"/>
                      </a:lnTo>
                      <a:lnTo>
                        <a:pt x="533" y="1769"/>
                      </a:lnTo>
                      <a:lnTo>
                        <a:pt x="437" y="1765"/>
                      </a:lnTo>
                      <a:lnTo>
                        <a:pt x="344" y="1749"/>
                      </a:lnTo>
                      <a:lnTo>
                        <a:pt x="252" y="1724"/>
                      </a:lnTo>
                      <a:lnTo>
                        <a:pt x="165" y="1691"/>
                      </a:lnTo>
                      <a:lnTo>
                        <a:pt x="80" y="1646"/>
                      </a:lnTo>
                      <a:lnTo>
                        <a:pt x="0" y="1597"/>
                      </a:lnTo>
                      <a:lnTo>
                        <a:pt x="51" y="1524"/>
                      </a:lnTo>
                      <a:lnTo>
                        <a:pt x="125" y="1571"/>
                      </a:lnTo>
                      <a:lnTo>
                        <a:pt x="201" y="1609"/>
                      </a:lnTo>
                      <a:lnTo>
                        <a:pt x="281" y="1640"/>
                      </a:lnTo>
                      <a:lnTo>
                        <a:pt x="364" y="1662"/>
                      </a:lnTo>
                      <a:lnTo>
                        <a:pt x="446" y="1675"/>
                      </a:lnTo>
                      <a:lnTo>
                        <a:pt x="533" y="1680"/>
                      </a:lnTo>
                      <a:lnTo>
                        <a:pt x="618" y="1675"/>
                      </a:lnTo>
                      <a:lnTo>
                        <a:pt x="703" y="1662"/>
                      </a:lnTo>
                      <a:lnTo>
                        <a:pt x="785" y="1640"/>
                      </a:lnTo>
                      <a:lnTo>
                        <a:pt x="866" y="1609"/>
                      </a:lnTo>
                      <a:lnTo>
                        <a:pt x="941" y="1571"/>
                      </a:lnTo>
                      <a:lnTo>
                        <a:pt x="1013" y="1524"/>
                      </a:lnTo>
                      <a:lnTo>
                        <a:pt x="1080" y="1470"/>
                      </a:lnTo>
                      <a:lnTo>
                        <a:pt x="1140" y="1410"/>
                      </a:lnTo>
                      <a:lnTo>
                        <a:pt x="1194" y="1343"/>
                      </a:lnTo>
                      <a:lnTo>
                        <a:pt x="1240" y="1270"/>
                      </a:lnTo>
                      <a:lnTo>
                        <a:pt x="1281" y="1194"/>
                      </a:lnTo>
                      <a:lnTo>
                        <a:pt x="1312" y="1116"/>
                      </a:lnTo>
                      <a:lnTo>
                        <a:pt x="1332" y="1032"/>
                      </a:lnTo>
                      <a:lnTo>
                        <a:pt x="1345" y="947"/>
                      </a:lnTo>
                      <a:lnTo>
                        <a:pt x="1350" y="862"/>
                      </a:lnTo>
                      <a:lnTo>
                        <a:pt x="1345" y="775"/>
                      </a:lnTo>
                      <a:lnTo>
                        <a:pt x="1332" y="691"/>
                      </a:lnTo>
                      <a:lnTo>
                        <a:pt x="1312" y="608"/>
                      </a:lnTo>
                      <a:lnTo>
                        <a:pt x="1281" y="530"/>
                      </a:lnTo>
                      <a:lnTo>
                        <a:pt x="1240" y="452"/>
                      </a:lnTo>
                      <a:lnTo>
                        <a:pt x="1194" y="381"/>
                      </a:lnTo>
                      <a:lnTo>
                        <a:pt x="1140" y="314"/>
                      </a:lnTo>
                      <a:lnTo>
                        <a:pt x="1080" y="254"/>
                      </a:lnTo>
                      <a:lnTo>
                        <a:pt x="1013" y="201"/>
                      </a:lnTo>
                      <a:lnTo>
                        <a:pt x="941" y="154"/>
                      </a:lnTo>
                      <a:lnTo>
                        <a:pt x="866" y="114"/>
                      </a:lnTo>
                      <a:lnTo>
                        <a:pt x="785" y="85"/>
                      </a:lnTo>
                      <a:lnTo>
                        <a:pt x="788" y="78"/>
                      </a:lnTo>
                      <a:lnTo>
                        <a:pt x="81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Line 5">
                  <a:extLst>
                    <a:ext uri="{FF2B5EF4-FFF2-40B4-BE49-F238E27FC236}">
                      <a16:creationId xmlns:a16="http://schemas.microsoft.com/office/drawing/2014/main" id="{7A1FB80E-29D2-4164-B12D-C5D6499D0EAC}"/>
                    </a:ext>
                  </a:extLst>
                </p:cNvPr>
                <p:cNvSpPr>
                  <a:spLocks noChangeShapeType="1"/>
                </p:cNvSpPr>
                <p:nvPr/>
              </p:nvSpPr>
              <p:spPr bwMode="ltGray">
                <a:xfrm flipV="1">
                  <a:off x="2324" y="1620"/>
                  <a:ext cx="143" cy="258"/>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Line 6">
                  <a:extLst>
                    <a:ext uri="{FF2B5EF4-FFF2-40B4-BE49-F238E27FC236}">
                      <a16:creationId xmlns:a16="http://schemas.microsoft.com/office/drawing/2014/main" id="{C2B09758-4055-4220-8D33-D40FF8BC6E04}"/>
                    </a:ext>
                  </a:extLst>
                </p:cNvPr>
                <p:cNvSpPr>
                  <a:spLocks noChangeShapeType="1"/>
                </p:cNvSpPr>
                <p:nvPr/>
              </p:nvSpPr>
              <p:spPr bwMode="ltGray">
                <a:xfrm flipV="1">
                  <a:off x="3119" y="243"/>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 name="Line 7">
                  <a:extLst>
                    <a:ext uri="{FF2B5EF4-FFF2-40B4-BE49-F238E27FC236}">
                      <a16:creationId xmlns:a16="http://schemas.microsoft.com/office/drawing/2014/main" id="{F3D58910-9519-4020-98BA-9883D43000D4}"/>
                    </a:ext>
                  </a:extLst>
                </p:cNvPr>
                <p:cNvSpPr>
                  <a:spLocks noChangeShapeType="1"/>
                </p:cNvSpPr>
                <p:nvPr/>
              </p:nvSpPr>
              <p:spPr bwMode="ltGray">
                <a:xfrm flipV="1">
                  <a:off x="3203" y="72"/>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 name="Freeform 8">
                  <a:extLst>
                    <a:ext uri="{FF2B5EF4-FFF2-40B4-BE49-F238E27FC236}">
                      <a16:creationId xmlns:a16="http://schemas.microsoft.com/office/drawing/2014/main" id="{FDB634CC-98E7-4A97-8F81-4AFBCABBF53E}"/>
                    </a:ext>
                  </a:extLst>
                </p:cNvPr>
                <p:cNvSpPr>
                  <a:spLocks/>
                </p:cNvSpPr>
                <p:nvPr/>
              </p:nvSpPr>
              <p:spPr bwMode="ltGray">
                <a:xfrm>
                  <a:off x="2483" y="1903"/>
                  <a:ext cx="841" cy="153"/>
                </a:xfrm>
                <a:custGeom>
                  <a:avLst/>
                  <a:gdLst>
                    <a:gd name="T0" fmla="*/ 3 w 841"/>
                    <a:gd name="T1" fmla="*/ 98 h 153"/>
                    <a:gd name="T2" fmla="*/ 20 w 841"/>
                    <a:gd name="T3" fmla="*/ 80 h 153"/>
                    <a:gd name="T4" fmla="*/ 44 w 841"/>
                    <a:gd name="T5" fmla="*/ 65 h 153"/>
                    <a:gd name="T6" fmla="*/ 89 w 841"/>
                    <a:gd name="T7" fmla="*/ 43 h 153"/>
                    <a:gd name="T8" fmla="*/ 140 w 841"/>
                    <a:gd name="T9" fmla="*/ 30 h 153"/>
                    <a:gd name="T10" fmla="*/ 188 w 841"/>
                    <a:gd name="T11" fmla="*/ 19 h 153"/>
                    <a:gd name="T12" fmla="*/ 253 w 841"/>
                    <a:gd name="T13" fmla="*/ 9 h 153"/>
                    <a:gd name="T14" fmla="*/ 314 w 841"/>
                    <a:gd name="T15" fmla="*/ 3 h 153"/>
                    <a:gd name="T16" fmla="*/ 386 w 841"/>
                    <a:gd name="T17" fmla="*/ 0 h 153"/>
                    <a:gd name="T18" fmla="*/ 475 w 841"/>
                    <a:gd name="T19" fmla="*/ 1 h 153"/>
                    <a:gd name="T20" fmla="*/ 567 w 841"/>
                    <a:gd name="T21" fmla="*/ 6 h 153"/>
                    <a:gd name="T22" fmla="*/ 632 w 841"/>
                    <a:gd name="T23" fmla="*/ 14 h 153"/>
                    <a:gd name="T24" fmla="*/ 700 w 841"/>
                    <a:gd name="T25" fmla="*/ 27 h 153"/>
                    <a:gd name="T26" fmla="*/ 765 w 841"/>
                    <a:gd name="T27" fmla="*/ 47 h 153"/>
                    <a:gd name="T28" fmla="*/ 799 w 841"/>
                    <a:gd name="T29" fmla="*/ 66 h 153"/>
                    <a:gd name="T30" fmla="*/ 820 w 841"/>
                    <a:gd name="T31" fmla="*/ 82 h 153"/>
                    <a:gd name="T32" fmla="*/ 840 w 841"/>
                    <a:gd name="T33" fmla="*/ 108 h 153"/>
                    <a:gd name="T34" fmla="*/ 806 w 841"/>
                    <a:gd name="T35" fmla="*/ 122 h 153"/>
                    <a:gd name="T36" fmla="*/ 748 w 841"/>
                    <a:gd name="T37" fmla="*/ 133 h 153"/>
                    <a:gd name="T38" fmla="*/ 676 w 841"/>
                    <a:gd name="T39" fmla="*/ 141 h 153"/>
                    <a:gd name="T40" fmla="*/ 608 w 841"/>
                    <a:gd name="T41" fmla="*/ 148 h 153"/>
                    <a:gd name="T42" fmla="*/ 526 w 841"/>
                    <a:gd name="T43" fmla="*/ 151 h 153"/>
                    <a:gd name="T44" fmla="*/ 437 w 841"/>
                    <a:gd name="T45" fmla="*/ 152 h 153"/>
                    <a:gd name="T46" fmla="*/ 352 w 841"/>
                    <a:gd name="T47" fmla="*/ 152 h 153"/>
                    <a:gd name="T48" fmla="*/ 263 w 841"/>
                    <a:gd name="T49" fmla="*/ 151 h 153"/>
                    <a:gd name="T50" fmla="*/ 164 w 841"/>
                    <a:gd name="T51" fmla="*/ 143 h 153"/>
                    <a:gd name="T52" fmla="*/ 85 w 841"/>
                    <a:gd name="T53" fmla="*/ 135 h 153"/>
                    <a:gd name="T54" fmla="*/ 20 w 841"/>
                    <a:gd name="T55" fmla="*/ 120 h 153"/>
                    <a:gd name="T56" fmla="*/ 0 w 841"/>
                    <a:gd name="T57" fmla="*/ 109 h 153"/>
                    <a:gd name="T58" fmla="*/ 3 w 841"/>
                    <a:gd name="T59" fmla="*/ 98 h 15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41" h="153">
                      <a:moveTo>
                        <a:pt x="3" y="98"/>
                      </a:moveTo>
                      <a:lnTo>
                        <a:pt x="20" y="80"/>
                      </a:lnTo>
                      <a:lnTo>
                        <a:pt x="44" y="65"/>
                      </a:lnTo>
                      <a:lnTo>
                        <a:pt x="89" y="43"/>
                      </a:lnTo>
                      <a:lnTo>
                        <a:pt x="140" y="30"/>
                      </a:lnTo>
                      <a:lnTo>
                        <a:pt x="188" y="19"/>
                      </a:lnTo>
                      <a:lnTo>
                        <a:pt x="253" y="9"/>
                      </a:lnTo>
                      <a:lnTo>
                        <a:pt x="314" y="3"/>
                      </a:lnTo>
                      <a:lnTo>
                        <a:pt x="386" y="0"/>
                      </a:lnTo>
                      <a:lnTo>
                        <a:pt x="475" y="1"/>
                      </a:lnTo>
                      <a:lnTo>
                        <a:pt x="567" y="6"/>
                      </a:lnTo>
                      <a:lnTo>
                        <a:pt x="632" y="14"/>
                      </a:lnTo>
                      <a:lnTo>
                        <a:pt x="700" y="27"/>
                      </a:lnTo>
                      <a:lnTo>
                        <a:pt x="765" y="47"/>
                      </a:lnTo>
                      <a:lnTo>
                        <a:pt x="799" y="66"/>
                      </a:lnTo>
                      <a:lnTo>
                        <a:pt x="820" y="82"/>
                      </a:lnTo>
                      <a:lnTo>
                        <a:pt x="840" y="108"/>
                      </a:lnTo>
                      <a:lnTo>
                        <a:pt x="806" y="122"/>
                      </a:lnTo>
                      <a:lnTo>
                        <a:pt x="748" y="133"/>
                      </a:lnTo>
                      <a:lnTo>
                        <a:pt x="676" y="141"/>
                      </a:lnTo>
                      <a:lnTo>
                        <a:pt x="608" y="148"/>
                      </a:lnTo>
                      <a:lnTo>
                        <a:pt x="526" y="151"/>
                      </a:lnTo>
                      <a:lnTo>
                        <a:pt x="437" y="152"/>
                      </a:lnTo>
                      <a:lnTo>
                        <a:pt x="352" y="152"/>
                      </a:lnTo>
                      <a:lnTo>
                        <a:pt x="263" y="151"/>
                      </a:lnTo>
                      <a:lnTo>
                        <a:pt x="164" y="143"/>
                      </a:lnTo>
                      <a:lnTo>
                        <a:pt x="85" y="135"/>
                      </a:lnTo>
                      <a:lnTo>
                        <a:pt x="20" y="120"/>
                      </a:lnTo>
                      <a:lnTo>
                        <a:pt x="0" y="109"/>
                      </a:lnTo>
                      <a:lnTo>
                        <a:pt x="3" y="98"/>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9" name="Oval 10">
                <a:extLst>
                  <a:ext uri="{FF2B5EF4-FFF2-40B4-BE49-F238E27FC236}">
                    <a16:creationId xmlns:a16="http://schemas.microsoft.com/office/drawing/2014/main" id="{B819B1A1-CA8D-49A2-8521-0CD043A19A14}"/>
                  </a:ext>
                </a:extLst>
              </p:cNvPr>
              <p:cNvSpPr>
                <a:spLocks noChangeArrowheads="1"/>
              </p:cNvSpPr>
              <p:nvPr/>
            </p:nvSpPr>
            <p:spPr bwMode="blackWhite">
              <a:xfrm>
                <a:off x="2071" y="250"/>
                <a:ext cx="1497" cy="1494"/>
              </a:xfrm>
              <a:prstGeom prst="ellipse">
                <a:avLst/>
              </a:pr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 name="Group 29">
                <a:extLst>
                  <a:ext uri="{FF2B5EF4-FFF2-40B4-BE49-F238E27FC236}">
                    <a16:creationId xmlns:a16="http://schemas.microsoft.com/office/drawing/2014/main" id="{1550876D-B4CE-44CB-B273-866459FDF5A7}"/>
                  </a:ext>
                </a:extLst>
              </p:cNvPr>
              <p:cNvGrpSpPr>
                <a:grpSpLocks/>
              </p:cNvGrpSpPr>
              <p:nvPr/>
            </p:nvGrpSpPr>
            <p:grpSpPr bwMode="auto">
              <a:xfrm>
                <a:off x="2071" y="406"/>
                <a:ext cx="1392" cy="1109"/>
                <a:chOff x="2071" y="406"/>
                <a:chExt cx="1392" cy="1109"/>
              </a:xfrm>
            </p:grpSpPr>
            <p:sp>
              <p:nvSpPr>
                <p:cNvPr id="11" name="Freeform 11">
                  <a:extLst>
                    <a:ext uri="{FF2B5EF4-FFF2-40B4-BE49-F238E27FC236}">
                      <a16:creationId xmlns:a16="http://schemas.microsoft.com/office/drawing/2014/main" id="{6F6E4737-4F9A-48A5-9F77-26CC97F5ECBC}"/>
                    </a:ext>
                  </a:extLst>
                </p:cNvPr>
                <p:cNvSpPr>
                  <a:spLocks/>
                </p:cNvSpPr>
                <p:nvPr/>
              </p:nvSpPr>
              <p:spPr bwMode="grayWhite">
                <a:xfrm>
                  <a:off x="2268" y="812"/>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Freeform 12">
                  <a:extLst>
                    <a:ext uri="{FF2B5EF4-FFF2-40B4-BE49-F238E27FC236}">
                      <a16:creationId xmlns:a16="http://schemas.microsoft.com/office/drawing/2014/main" id="{996FD6D2-E508-420F-8AD2-A263E3A1DC55}"/>
                    </a:ext>
                  </a:extLst>
                </p:cNvPr>
                <p:cNvSpPr>
                  <a:spLocks/>
                </p:cNvSpPr>
                <p:nvPr/>
              </p:nvSpPr>
              <p:spPr bwMode="grayWhite">
                <a:xfrm>
                  <a:off x="2292" y="843"/>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Freeform 13">
                  <a:extLst>
                    <a:ext uri="{FF2B5EF4-FFF2-40B4-BE49-F238E27FC236}">
                      <a16:creationId xmlns:a16="http://schemas.microsoft.com/office/drawing/2014/main" id="{1A1FD920-2FFE-4EAC-A0BF-CE3E9783BDA6}"/>
                    </a:ext>
                  </a:extLst>
                </p:cNvPr>
                <p:cNvSpPr>
                  <a:spLocks/>
                </p:cNvSpPr>
                <p:nvPr/>
              </p:nvSpPr>
              <p:spPr bwMode="grayWhite">
                <a:xfrm>
                  <a:off x="2372" y="802"/>
                  <a:ext cx="51" cy="48"/>
                </a:xfrm>
                <a:custGeom>
                  <a:avLst/>
                  <a:gdLst>
                    <a:gd name="T0" fmla="*/ 50 w 51"/>
                    <a:gd name="T1" fmla="*/ 0 h 48"/>
                    <a:gd name="T2" fmla="*/ 31 w 51"/>
                    <a:gd name="T3" fmla="*/ 0 h 48"/>
                    <a:gd name="T4" fmla="*/ 20 w 51"/>
                    <a:gd name="T5" fmla="*/ 13 h 48"/>
                    <a:gd name="T6" fmla="*/ 13 w 51"/>
                    <a:gd name="T7" fmla="*/ 13 h 48"/>
                    <a:gd name="T8" fmla="*/ 7 w 51"/>
                    <a:gd name="T9" fmla="*/ 19 h 48"/>
                    <a:gd name="T10" fmla="*/ 0 w 51"/>
                    <a:gd name="T11" fmla="*/ 19 h 48"/>
                    <a:gd name="T12" fmla="*/ 0 w 51"/>
                    <a:gd name="T13" fmla="*/ 35 h 48"/>
                    <a:gd name="T14" fmla="*/ 12 w 51"/>
                    <a:gd name="T15" fmla="*/ 47 h 48"/>
                    <a:gd name="T16" fmla="*/ 41 w 51"/>
                    <a:gd name="T17" fmla="*/ 47 h 48"/>
                    <a:gd name="T18" fmla="*/ 50 w 51"/>
                    <a:gd name="T19" fmla="*/ 35 h 48"/>
                    <a:gd name="T20" fmla="*/ 50 w 5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1" h="48">
                      <a:moveTo>
                        <a:pt x="50" y="0"/>
                      </a:moveTo>
                      <a:lnTo>
                        <a:pt x="31" y="0"/>
                      </a:lnTo>
                      <a:lnTo>
                        <a:pt x="20" y="13"/>
                      </a:lnTo>
                      <a:lnTo>
                        <a:pt x="13" y="13"/>
                      </a:lnTo>
                      <a:lnTo>
                        <a:pt x="7" y="19"/>
                      </a:lnTo>
                      <a:lnTo>
                        <a:pt x="0" y="19"/>
                      </a:lnTo>
                      <a:lnTo>
                        <a:pt x="0" y="35"/>
                      </a:lnTo>
                      <a:lnTo>
                        <a:pt x="12" y="47"/>
                      </a:lnTo>
                      <a:lnTo>
                        <a:pt x="41" y="47"/>
                      </a:lnTo>
                      <a:lnTo>
                        <a:pt x="50" y="35"/>
                      </a:lnTo>
                      <a:lnTo>
                        <a:pt x="5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Freeform 14">
                  <a:extLst>
                    <a:ext uri="{FF2B5EF4-FFF2-40B4-BE49-F238E27FC236}">
                      <a16:creationId xmlns:a16="http://schemas.microsoft.com/office/drawing/2014/main" id="{54B2F925-A267-4472-BB95-ABABE62BDDD4}"/>
                    </a:ext>
                  </a:extLst>
                </p:cNvPr>
                <p:cNvSpPr>
                  <a:spLocks/>
                </p:cNvSpPr>
                <p:nvPr/>
              </p:nvSpPr>
              <p:spPr bwMode="grayWhite">
                <a:xfrm>
                  <a:off x="2071" y="840"/>
                  <a:ext cx="451" cy="587"/>
                </a:xfrm>
                <a:custGeom>
                  <a:avLst/>
                  <a:gdLst>
                    <a:gd name="T0" fmla="*/ 107 w 451"/>
                    <a:gd name="T1" fmla="*/ 0 h 587"/>
                    <a:gd name="T2" fmla="*/ 99 w 451"/>
                    <a:gd name="T3" fmla="*/ 16 h 587"/>
                    <a:gd name="T4" fmla="*/ 64 w 451"/>
                    <a:gd name="T5" fmla="*/ 47 h 587"/>
                    <a:gd name="T6" fmla="*/ 56 w 451"/>
                    <a:gd name="T7" fmla="*/ 75 h 587"/>
                    <a:gd name="T8" fmla="*/ 30 w 451"/>
                    <a:gd name="T9" fmla="*/ 95 h 587"/>
                    <a:gd name="T10" fmla="*/ 12 w 451"/>
                    <a:gd name="T11" fmla="*/ 135 h 587"/>
                    <a:gd name="T12" fmla="*/ 12 w 451"/>
                    <a:gd name="T13" fmla="*/ 159 h 587"/>
                    <a:gd name="T14" fmla="*/ 0 w 451"/>
                    <a:gd name="T15" fmla="*/ 201 h 587"/>
                    <a:gd name="T16" fmla="*/ 16 w 451"/>
                    <a:gd name="T17" fmla="*/ 219 h 587"/>
                    <a:gd name="T18" fmla="*/ 56 w 451"/>
                    <a:gd name="T19" fmla="*/ 272 h 587"/>
                    <a:gd name="T20" fmla="*/ 68 w 451"/>
                    <a:gd name="T21" fmla="*/ 265 h 587"/>
                    <a:gd name="T22" fmla="*/ 139 w 451"/>
                    <a:gd name="T23" fmla="*/ 265 h 587"/>
                    <a:gd name="T24" fmla="*/ 172 w 451"/>
                    <a:gd name="T25" fmla="*/ 278 h 587"/>
                    <a:gd name="T26" fmla="*/ 169 w 451"/>
                    <a:gd name="T27" fmla="*/ 319 h 587"/>
                    <a:gd name="T28" fmla="*/ 193 w 451"/>
                    <a:gd name="T29" fmla="*/ 374 h 587"/>
                    <a:gd name="T30" fmla="*/ 191 w 451"/>
                    <a:gd name="T31" fmla="*/ 389 h 587"/>
                    <a:gd name="T32" fmla="*/ 201 w 451"/>
                    <a:gd name="T33" fmla="*/ 406 h 587"/>
                    <a:gd name="T34" fmla="*/ 186 w 451"/>
                    <a:gd name="T35" fmla="*/ 445 h 587"/>
                    <a:gd name="T36" fmla="*/ 204 w 451"/>
                    <a:gd name="T37" fmla="*/ 494 h 587"/>
                    <a:gd name="T38" fmla="*/ 214 w 451"/>
                    <a:gd name="T39" fmla="*/ 532 h 587"/>
                    <a:gd name="T40" fmla="*/ 226 w 451"/>
                    <a:gd name="T41" fmla="*/ 556 h 587"/>
                    <a:gd name="T42" fmla="*/ 239 w 451"/>
                    <a:gd name="T43" fmla="*/ 586 h 587"/>
                    <a:gd name="T44" fmla="*/ 263 w 451"/>
                    <a:gd name="T45" fmla="*/ 582 h 587"/>
                    <a:gd name="T46" fmla="*/ 302 w 451"/>
                    <a:gd name="T47" fmla="*/ 560 h 587"/>
                    <a:gd name="T48" fmla="*/ 320 w 451"/>
                    <a:gd name="T49" fmla="*/ 533 h 587"/>
                    <a:gd name="T50" fmla="*/ 319 w 451"/>
                    <a:gd name="T51" fmla="*/ 515 h 587"/>
                    <a:gd name="T52" fmla="*/ 342 w 451"/>
                    <a:gd name="T53" fmla="*/ 500 h 587"/>
                    <a:gd name="T54" fmla="*/ 338 w 451"/>
                    <a:gd name="T55" fmla="*/ 474 h 587"/>
                    <a:gd name="T56" fmla="*/ 373 w 451"/>
                    <a:gd name="T57" fmla="*/ 432 h 587"/>
                    <a:gd name="T58" fmla="*/ 378 w 451"/>
                    <a:gd name="T59" fmla="*/ 398 h 587"/>
                    <a:gd name="T60" fmla="*/ 369 w 451"/>
                    <a:gd name="T61" fmla="*/ 386 h 587"/>
                    <a:gd name="T62" fmla="*/ 373 w 451"/>
                    <a:gd name="T63" fmla="*/ 372 h 587"/>
                    <a:gd name="T64" fmla="*/ 365 w 451"/>
                    <a:gd name="T65" fmla="*/ 360 h 587"/>
                    <a:gd name="T66" fmla="*/ 391 w 451"/>
                    <a:gd name="T67" fmla="*/ 327 h 587"/>
                    <a:gd name="T68" fmla="*/ 391 w 451"/>
                    <a:gd name="T69" fmla="*/ 310 h 587"/>
                    <a:gd name="T70" fmla="*/ 427 w 451"/>
                    <a:gd name="T71" fmla="*/ 282 h 587"/>
                    <a:gd name="T72" fmla="*/ 450 w 451"/>
                    <a:gd name="T73" fmla="*/ 207 h 587"/>
                    <a:gd name="T74" fmla="*/ 417 w 451"/>
                    <a:gd name="T75" fmla="*/ 226 h 587"/>
                    <a:gd name="T76" fmla="*/ 388 w 451"/>
                    <a:gd name="T77" fmla="*/ 218 h 587"/>
                    <a:gd name="T78" fmla="*/ 392 w 451"/>
                    <a:gd name="T79" fmla="*/ 200 h 587"/>
                    <a:gd name="T80" fmla="*/ 363 w 451"/>
                    <a:gd name="T81" fmla="*/ 180 h 587"/>
                    <a:gd name="T82" fmla="*/ 349 w 451"/>
                    <a:gd name="T83" fmla="*/ 132 h 587"/>
                    <a:gd name="T84" fmla="*/ 321 w 451"/>
                    <a:gd name="T85" fmla="*/ 93 h 587"/>
                    <a:gd name="T86" fmla="*/ 321 w 451"/>
                    <a:gd name="T87" fmla="*/ 66 h 587"/>
                    <a:gd name="T88" fmla="*/ 306 w 451"/>
                    <a:gd name="T89" fmla="*/ 65 h 587"/>
                    <a:gd name="T90" fmla="*/ 296 w 451"/>
                    <a:gd name="T91" fmla="*/ 69 h 587"/>
                    <a:gd name="T92" fmla="*/ 254 w 451"/>
                    <a:gd name="T93" fmla="*/ 54 h 587"/>
                    <a:gd name="T94" fmla="*/ 243 w 451"/>
                    <a:gd name="T95" fmla="*/ 65 h 587"/>
                    <a:gd name="T96" fmla="*/ 234 w 451"/>
                    <a:gd name="T97" fmla="*/ 78 h 587"/>
                    <a:gd name="T98" fmla="*/ 211 w 451"/>
                    <a:gd name="T99" fmla="*/ 53 h 587"/>
                    <a:gd name="T100" fmla="*/ 189 w 451"/>
                    <a:gd name="T101" fmla="*/ 47 h 587"/>
                    <a:gd name="T102" fmla="*/ 187 w 451"/>
                    <a:gd name="T103" fmla="*/ 15 h 587"/>
                    <a:gd name="T104" fmla="*/ 155 w 451"/>
                    <a:gd name="T105" fmla="*/ 20 h 587"/>
                    <a:gd name="T106" fmla="*/ 135 w 451"/>
                    <a:gd name="T107" fmla="*/ 13 h 587"/>
                    <a:gd name="T108" fmla="*/ 107 w 451"/>
                    <a:gd name="T109" fmla="*/ 0 h 58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51" h="587">
                      <a:moveTo>
                        <a:pt x="107" y="0"/>
                      </a:moveTo>
                      <a:lnTo>
                        <a:pt x="99" y="16"/>
                      </a:lnTo>
                      <a:lnTo>
                        <a:pt x="64" y="47"/>
                      </a:lnTo>
                      <a:lnTo>
                        <a:pt x="56" y="75"/>
                      </a:lnTo>
                      <a:lnTo>
                        <a:pt x="30" y="95"/>
                      </a:lnTo>
                      <a:lnTo>
                        <a:pt x="12" y="135"/>
                      </a:lnTo>
                      <a:lnTo>
                        <a:pt x="12" y="159"/>
                      </a:lnTo>
                      <a:lnTo>
                        <a:pt x="0" y="201"/>
                      </a:lnTo>
                      <a:lnTo>
                        <a:pt x="16" y="219"/>
                      </a:lnTo>
                      <a:lnTo>
                        <a:pt x="56" y="272"/>
                      </a:lnTo>
                      <a:lnTo>
                        <a:pt x="68" y="265"/>
                      </a:lnTo>
                      <a:lnTo>
                        <a:pt x="139" y="265"/>
                      </a:lnTo>
                      <a:lnTo>
                        <a:pt x="172" y="278"/>
                      </a:lnTo>
                      <a:lnTo>
                        <a:pt x="169" y="319"/>
                      </a:lnTo>
                      <a:lnTo>
                        <a:pt x="193" y="374"/>
                      </a:lnTo>
                      <a:lnTo>
                        <a:pt x="191" y="389"/>
                      </a:lnTo>
                      <a:lnTo>
                        <a:pt x="201" y="406"/>
                      </a:lnTo>
                      <a:lnTo>
                        <a:pt x="186" y="445"/>
                      </a:lnTo>
                      <a:lnTo>
                        <a:pt x="204" y="494"/>
                      </a:lnTo>
                      <a:lnTo>
                        <a:pt x="214" y="532"/>
                      </a:lnTo>
                      <a:lnTo>
                        <a:pt x="226" y="556"/>
                      </a:lnTo>
                      <a:lnTo>
                        <a:pt x="239" y="586"/>
                      </a:lnTo>
                      <a:lnTo>
                        <a:pt x="263" y="582"/>
                      </a:lnTo>
                      <a:lnTo>
                        <a:pt x="302" y="560"/>
                      </a:lnTo>
                      <a:lnTo>
                        <a:pt x="320" y="533"/>
                      </a:lnTo>
                      <a:lnTo>
                        <a:pt x="319" y="515"/>
                      </a:lnTo>
                      <a:lnTo>
                        <a:pt x="342" y="500"/>
                      </a:lnTo>
                      <a:lnTo>
                        <a:pt x="338" y="474"/>
                      </a:lnTo>
                      <a:lnTo>
                        <a:pt x="373" y="432"/>
                      </a:lnTo>
                      <a:lnTo>
                        <a:pt x="378" y="398"/>
                      </a:lnTo>
                      <a:lnTo>
                        <a:pt x="369" y="386"/>
                      </a:lnTo>
                      <a:lnTo>
                        <a:pt x="373" y="372"/>
                      </a:lnTo>
                      <a:lnTo>
                        <a:pt x="365" y="360"/>
                      </a:lnTo>
                      <a:lnTo>
                        <a:pt x="391" y="327"/>
                      </a:lnTo>
                      <a:lnTo>
                        <a:pt x="391" y="310"/>
                      </a:lnTo>
                      <a:lnTo>
                        <a:pt x="427" y="282"/>
                      </a:lnTo>
                      <a:lnTo>
                        <a:pt x="450" y="207"/>
                      </a:lnTo>
                      <a:lnTo>
                        <a:pt x="417" y="226"/>
                      </a:lnTo>
                      <a:lnTo>
                        <a:pt x="388" y="218"/>
                      </a:lnTo>
                      <a:lnTo>
                        <a:pt x="392" y="200"/>
                      </a:lnTo>
                      <a:lnTo>
                        <a:pt x="363" y="180"/>
                      </a:lnTo>
                      <a:lnTo>
                        <a:pt x="349" y="132"/>
                      </a:lnTo>
                      <a:lnTo>
                        <a:pt x="321" y="93"/>
                      </a:lnTo>
                      <a:lnTo>
                        <a:pt x="321" y="66"/>
                      </a:lnTo>
                      <a:lnTo>
                        <a:pt x="306" y="65"/>
                      </a:lnTo>
                      <a:lnTo>
                        <a:pt x="296" y="69"/>
                      </a:lnTo>
                      <a:lnTo>
                        <a:pt x="254" y="54"/>
                      </a:lnTo>
                      <a:lnTo>
                        <a:pt x="243" y="65"/>
                      </a:lnTo>
                      <a:lnTo>
                        <a:pt x="234" y="78"/>
                      </a:lnTo>
                      <a:lnTo>
                        <a:pt x="211" y="53"/>
                      </a:lnTo>
                      <a:lnTo>
                        <a:pt x="189" y="47"/>
                      </a:lnTo>
                      <a:lnTo>
                        <a:pt x="187" y="15"/>
                      </a:lnTo>
                      <a:lnTo>
                        <a:pt x="155" y="20"/>
                      </a:lnTo>
                      <a:lnTo>
                        <a:pt x="135" y="13"/>
                      </a:lnTo>
                      <a:lnTo>
                        <a:pt x="10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Freeform 15">
                  <a:extLst>
                    <a:ext uri="{FF2B5EF4-FFF2-40B4-BE49-F238E27FC236}">
                      <a16:creationId xmlns:a16="http://schemas.microsoft.com/office/drawing/2014/main" id="{7E85D417-CCAC-44C2-8305-B05504E17901}"/>
                    </a:ext>
                  </a:extLst>
                </p:cNvPr>
                <p:cNvSpPr>
                  <a:spLocks/>
                </p:cNvSpPr>
                <p:nvPr/>
              </p:nvSpPr>
              <p:spPr bwMode="grayWhite">
                <a:xfrm>
                  <a:off x="3112" y="987"/>
                  <a:ext cx="17" cy="28"/>
                </a:xfrm>
                <a:custGeom>
                  <a:avLst/>
                  <a:gdLst>
                    <a:gd name="T0" fmla="*/ 7 w 17"/>
                    <a:gd name="T1" fmla="*/ 0 h 28"/>
                    <a:gd name="T2" fmla="*/ 9 w 17"/>
                    <a:gd name="T3" fmla="*/ 8 h 28"/>
                    <a:gd name="T4" fmla="*/ 7 w 17"/>
                    <a:gd name="T5" fmla="*/ 14 h 28"/>
                    <a:gd name="T6" fmla="*/ 7 w 17"/>
                    <a:gd name="T7" fmla="*/ 19 h 28"/>
                    <a:gd name="T8" fmla="*/ 16 w 17"/>
                    <a:gd name="T9" fmla="*/ 23 h 28"/>
                    <a:gd name="T10" fmla="*/ 16 w 17"/>
                    <a:gd name="T11" fmla="*/ 27 h 28"/>
                    <a:gd name="T12" fmla="*/ 9 w 17"/>
                    <a:gd name="T13" fmla="*/ 23 h 28"/>
                    <a:gd name="T14" fmla="*/ 3 w 17"/>
                    <a:gd name="T15" fmla="*/ 27 h 28"/>
                    <a:gd name="T16" fmla="*/ 0 w 17"/>
                    <a:gd name="T17" fmla="*/ 23 h 28"/>
                    <a:gd name="T18" fmla="*/ 3 w 17"/>
                    <a:gd name="T19" fmla="*/ 19 h 28"/>
                    <a:gd name="T20" fmla="*/ 0 w 17"/>
                    <a:gd name="T21" fmla="*/ 14 h 28"/>
                    <a:gd name="T22" fmla="*/ 3 w 17"/>
                    <a:gd name="T23" fmla="*/ 4 h 28"/>
                    <a:gd name="T24" fmla="*/ 7 w 17"/>
                    <a:gd name="T25" fmla="*/ 0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8">
                      <a:moveTo>
                        <a:pt x="7" y="0"/>
                      </a:moveTo>
                      <a:lnTo>
                        <a:pt x="9" y="8"/>
                      </a:lnTo>
                      <a:lnTo>
                        <a:pt x="7" y="14"/>
                      </a:lnTo>
                      <a:lnTo>
                        <a:pt x="7" y="19"/>
                      </a:lnTo>
                      <a:lnTo>
                        <a:pt x="16" y="23"/>
                      </a:lnTo>
                      <a:lnTo>
                        <a:pt x="16" y="27"/>
                      </a:lnTo>
                      <a:lnTo>
                        <a:pt x="9" y="23"/>
                      </a:lnTo>
                      <a:lnTo>
                        <a:pt x="3" y="27"/>
                      </a:lnTo>
                      <a:lnTo>
                        <a:pt x="0" y="23"/>
                      </a:lnTo>
                      <a:lnTo>
                        <a:pt x="3" y="19"/>
                      </a:lnTo>
                      <a:lnTo>
                        <a:pt x="0" y="14"/>
                      </a:lnTo>
                      <a:lnTo>
                        <a:pt x="3" y="4"/>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Freeform 16">
                  <a:extLst>
                    <a:ext uri="{FF2B5EF4-FFF2-40B4-BE49-F238E27FC236}">
                      <a16:creationId xmlns:a16="http://schemas.microsoft.com/office/drawing/2014/main" id="{871F1348-8995-405B-9455-82CF5AD3A90D}"/>
                    </a:ext>
                  </a:extLst>
                </p:cNvPr>
                <p:cNvSpPr>
                  <a:spLocks/>
                </p:cNvSpPr>
                <p:nvPr/>
              </p:nvSpPr>
              <p:spPr bwMode="grayWhite">
                <a:xfrm>
                  <a:off x="3027" y="1109"/>
                  <a:ext cx="68" cy="97"/>
                </a:xfrm>
                <a:custGeom>
                  <a:avLst/>
                  <a:gdLst>
                    <a:gd name="T0" fmla="*/ 0 w 68"/>
                    <a:gd name="T1" fmla="*/ 48 h 97"/>
                    <a:gd name="T2" fmla="*/ 24 w 68"/>
                    <a:gd name="T3" fmla="*/ 48 h 97"/>
                    <a:gd name="T4" fmla="*/ 52 w 68"/>
                    <a:gd name="T5" fmla="*/ 0 h 97"/>
                    <a:gd name="T6" fmla="*/ 67 w 68"/>
                    <a:gd name="T7" fmla="*/ 28 h 97"/>
                    <a:gd name="T8" fmla="*/ 55 w 68"/>
                    <a:gd name="T9" fmla="*/ 96 h 97"/>
                    <a:gd name="T10" fmla="*/ 5 w 68"/>
                    <a:gd name="T11" fmla="*/ 80 h 97"/>
                    <a:gd name="T12" fmla="*/ 0 w 68"/>
                    <a:gd name="T13" fmla="*/ 48 h 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97">
                      <a:moveTo>
                        <a:pt x="0" y="48"/>
                      </a:moveTo>
                      <a:lnTo>
                        <a:pt x="24" y="48"/>
                      </a:lnTo>
                      <a:lnTo>
                        <a:pt x="52" y="0"/>
                      </a:lnTo>
                      <a:lnTo>
                        <a:pt x="67" y="28"/>
                      </a:lnTo>
                      <a:lnTo>
                        <a:pt x="55" y="96"/>
                      </a:lnTo>
                      <a:lnTo>
                        <a:pt x="5" y="80"/>
                      </a:lnTo>
                      <a:lnTo>
                        <a:pt x="0" y="4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Freeform 17">
                  <a:extLst>
                    <a:ext uri="{FF2B5EF4-FFF2-40B4-BE49-F238E27FC236}">
                      <a16:creationId xmlns:a16="http://schemas.microsoft.com/office/drawing/2014/main" id="{5357BAD0-6E30-4CB8-94EE-3A8B0E6EB703}"/>
                    </a:ext>
                  </a:extLst>
                </p:cNvPr>
                <p:cNvSpPr>
                  <a:spLocks/>
                </p:cNvSpPr>
                <p:nvPr/>
              </p:nvSpPr>
              <p:spPr bwMode="grayWhite">
                <a:xfrm>
                  <a:off x="3162" y="1146"/>
                  <a:ext cx="117" cy="94"/>
                </a:xfrm>
                <a:custGeom>
                  <a:avLst/>
                  <a:gdLst>
                    <a:gd name="T0" fmla="*/ 7 w 117"/>
                    <a:gd name="T1" fmla="*/ 22 h 94"/>
                    <a:gd name="T2" fmla="*/ 0 w 117"/>
                    <a:gd name="T3" fmla="*/ 0 h 94"/>
                    <a:gd name="T4" fmla="*/ 39 w 117"/>
                    <a:gd name="T5" fmla="*/ 9 h 94"/>
                    <a:gd name="T6" fmla="*/ 95 w 117"/>
                    <a:gd name="T7" fmla="*/ 32 h 94"/>
                    <a:gd name="T8" fmla="*/ 95 w 117"/>
                    <a:gd name="T9" fmla="*/ 49 h 94"/>
                    <a:gd name="T10" fmla="*/ 116 w 117"/>
                    <a:gd name="T11" fmla="*/ 93 h 94"/>
                    <a:gd name="T12" fmla="*/ 73 w 117"/>
                    <a:gd name="T13" fmla="*/ 51 h 94"/>
                    <a:gd name="T14" fmla="*/ 44 w 117"/>
                    <a:gd name="T15" fmla="*/ 54 h 94"/>
                    <a:gd name="T16" fmla="*/ 7 w 117"/>
                    <a:gd name="T17" fmla="*/ 22 h 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7" h="94">
                      <a:moveTo>
                        <a:pt x="7" y="22"/>
                      </a:moveTo>
                      <a:lnTo>
                        <a:pt x="0" y="0"/>
                      </a:lnTo>
                      <a:lnTo>
                        <a:pt x="39" y="9"/>
                      </a:lnTo>
                      <a:lnTo>
                        <a:pt x="95" y="32"/>
                      </a:lnTo>
                      <a:lnTo>
                        <a:pt x="95" y="49"/>
                      </a:lnTo>
                      <a:lnTo>
                        <a:pt x="116" y="93"/>
                      </a:lnTo>
                      <a:lnTo>
                        <a:pt x="73" y="51"/>
                      </a:lnTo>
                      <a:lnTo>
                        <a:pt x="44" y="54"/>
                      </a:lnTo>
                      <a:lnTo>
                        <a:pt x="7" y="2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Freeform 18">
                  <a:extLst>
                    <a:ext uri="{FF2B5EF4-FFF2-40B4-BE49-F238E27FC236}">
                      <a16:creationId xmlns:a16="http://schemas.microsoft.com/office/drawing/2014/main" id="{B2135396-8841-4512-9F4A-B66CFB2DDD4D}"/>
                    </a:ext>
                  </a:extLst>
                </p:cNvPr>
                <p:cNvSpPr>
                  <a:spLocks/>
                </p:cNvSpPr>
                <p:nvPr/>
              </p:nvSpPr>
              <p:spPr bwMode="grayWhite">
                <a:xfrm>
                  <a:off x="3384" y="1337"/>
                  <a:ext cx="79" cy="101"/>
                </a:xfrm>
                <a:custGeom>
                  <a:avLst/>
                  <a:gdLst>
                    <a:gd name="T0" fmla="*/ 48 w 79"/>
                    <a:gd name="T1" fmla="*/ 0 h 101"/>
                    <a:gd name="T2" fmla="*/ 78 w 79"/>
                    <a:gd name="T3" fmla="*/ 30 h 101"/>
                    <a:gd name="T4" fmla="*/ 16 w 79"/>
                    <a:gd name="T5" fmla="*/ 100 h 101"/>
                    <a:gd name="T6" fmla="*/ 0 w 79"/>
                    <a:gd name="T7" fmla="*/ 84 h 101"/>
                    <a:gd name="T8" fmla="*/ 45 w 79"/>
                    <a:gd name="T9" fmla="*/ 39 h 101"/>
                    <a:gd name="T10" fmla="*/ 48 w 79"/>
                    <a:gd name="T11" fmla="*/ 0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9" h="101">
                      <a:moveTo>
                        <a:pt x="48" y="0"/>
                      </a:moveTo>
                      <a:lnTo>
                        <a:pt x="78" y="30"/>
                      </a:lnTo>
                      <a:lnTo>
                        <a:pt x="16" y="100"/>
                      </a:lnTo>
                      <a:lnTo>
                        <a:pt x="0" y="84"/>
                      </a:lnTo>
                      <a:lnTo>
                        <a:pt x="45" y="39"/>
                      </a:lnTo>
                      <a:lnTo>
                        <a:pt x="4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Freeform 19">
                  <a:extLst>
                    <a:ext uri="{FF2B5EF4-FFF2-40B4-BE49-F238E27FC236}">
                      <a16:creationId xmlns:a16="http://schemas.microsoft.com/office/drawing/2014/main" id="{E61271A6-F2F0-451E-A072-CD79CC9B76BE}"/>
                    </a:ext>
                  </a:extLst>
                </p:cNvPr>
                <p:cNvSpPr>
                  <a:spLocks/>
                </p:cNvSpPr>
                <p:nvPr/>
              </p:nvSpPr>
              <p:spPr bwMode="grayWhite">
                <a:xfrm>
                  <a:off x="2211" y="651"/>
                  <a:ext cx="39" cy="66"/>
                </a:xfrm>
                <a:custGeom>
                  <a:avLst/>
                  <a:gdLst>
                    <a:gd name="T0" fmla="*/ 38 w 39"/>
                    <a:gd name="T1" fmla="*/ 51 h 66"/>
                    <a:gd name="T2" fmla="*/ 28 w 39"/>
                    <a:gd name="T3" fmla="*/ 43 h 66"/>
                    <a:gd name="T4" fmla="*/ 28 w 39"/>
                    <a:gd name="T5" fmla="*/ 14 h 66"/>
                    <a:gd name="T6" fmla="*/ 33 w 39"/>
                    <a:gd name="T7" fmla="*/ 8 h 66"/>
                    <a:gd name="T8" fmla="*/ 24 w 39"/>
                    <a:gd name="T9" fmla="*/ 8 h 66"/>
                    <a:gd name="T10" fmla="*/ 29 w 39"/>
                    <a:gd name="T11" fmla="*/ 0 h 66"/>
                    <a:gd name="T12" fmla="*/ 22 w 39"/>
                    <a:gd name="T13" fmla="*/ 0 h 66"/>
                    <a:gd name="T14" fmla="*/ 14 w 39"/>
                    <a:gd name="T15" fmla="*/ 9 h 66"/>
                    <a:gd name="T16" fmla="*/ 14 w 39"/>
                    <a:gd name="T17" fmla="*/ 27 h 66"/>
                    <a:gd name="T18" fmla="*/ 18 w 39"/>
                    <a:gd name="T19" fmla="*/ 31 h 66"/>
                    <a:gd name="T20" fmla="*/ 18 w 39"/>
                    <a:gd name="T21" fmla="*/ 39 h 66"/>
                    <a:gd name="T22" fmla="*/ 16 w 39"/>
                    <a:gd name="T23" fmla="*/ 39 h 66"/>
                    <a:gd name="T24" fmla="*/ 9 w 39"/>
                    <a:gd name="T25" fmla="*/ 46 h 66"/>
                    <a:gd name="T26" fmla="*/ 9 w 39"/>
                    <a:gd name="T27" fmla="*/ 53 h 66"/>
                    <a:gd name="T28" fmla="*/ 0 w 39"/>
                    <a:gd name="T29" fmla="*/ 65 h 66"/>
                    <a:gd name="T30" fmla="*/ 29 w 39"/>
                    <a:gd name="T31" fmla="*/ 65 h 66"/>
                    <a:gd name="T32" fmla="*/ 38 w 39"/>
                    <a:gd name="T33" fmla="*/ 51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9" h="66">
                      <a:moveTo>
                        <a:pt x="38" y="51"/>
                      </a:moveTo>
                      <a:lnTo>
                        <a:pt x="28" y="43"/>
                      </a:lnTo>
                      <a:lnTo>
                        <a:pt x="28" y="14"/>
                      </a:lnTo>
                      <a:lnTo>
                        <a:pt x="33" y="8"/>
                      </a:lnTo>
                      <a:lnTo>
                        <a:pt x="24" y="8"/>
                      </a:lnTo>
                      <a:lnTo>
                        <a:pt x="29" y="0"/>
                      </a:lnTo>
                      <a:lnTo>
                        <a:pt x="22" y="0"/>
                      </a:lnTo>
                      <a:lnTo>
                        <a:pt x="14" y="9"/>
                      </a:lnTo>
                      <a:lnTo>
                        <a:pt x="14" y="27"/>
                      </a:lnTo>
                      <a:lnTo>
                        <a:pt x="18" y="31"/>
                      </a:lnTo>
                      <a:lnTo>
                        <a:pt x="18" y="39"/>
                      </a:lnTo>
                      <a:lnTo>
                        <a:pt x="16" y="39"/>
                      </a:lnTo>
                      <a:lnTo>
                        <a:pt x="9" y="46"/>
                      </a:lnTo>
                      <a:lnTo>
                        <a:pt x="9" y="53"/>
                      </a:lnTo>
                      <a:lnTo>
                        <a:pt x="0" y="65"/>
                      </a:lnTo>
                      <a:lnTo>
                        <a:pt x="29" y="65"/>
                      </a:lnTo>
                      <a:lnTo>
                        <a:pt x="38" y="51"/>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Freeform 20">
                  <a:extLst>
                    <a:ext uri="{FF2B5EF4-FFF2-40B4-BE49-F238E27FC236}">
                      <a16:creationId xmlns:a16="http://schemas.microsoft.com/office/drawing/2014/main" id="{D96E801E-E0D7-4FF5-9D13-D5AC2F1171A7}"/>
                    </a:ext>
                  </a:extLst>
                </p:cNvPr>
                <p:cNvSpPr>
                  <a:spLocks/>
                </p:cNvSpPr>
                <p:nvPr/>
              </p:nvSpPr>
              <p:spPr bwMode="grayWhite">
                <a:xfrm>
                  <a:off x="2198" y="673"/>
                  <a:ext cx="21" cy="24"/>
                </a:xfrm>
                <a:custGeom>
                  <a:avLst/>
                  <a:gdLst>
                    <a:gd name="T0" fmla="*/ 17 w 21"/>
                    <a:gd name="T1" fmla="*/ 8 h 24"/>
                    <a:gd name="T2" fmla="*/ 20 w 21"/>
                    <a:gd name="T3" fmla="*/ 8 h 24"/>
                    <a:gd name="T4" fmla="*/ 20 w 21"/>
                    <a:gd name="T5" fmla="*/ 0 h 24"/>
                    <a:gd name="T6" fmla="*/ 13 w 21"/>
                    <a:gd name="T7" fmla="*/ 0 h 24"/>
                    <a:gd name="T8" fmla="*/ 0 w 21"/>
                    <a:gd name="T9" fmla="*/ 15 h 24"/>
                    <a:gd name="T10" fmla="*/ 0 w 21"/>
                    <a:gd name="T11" fmla="*/ 23 h 24"/>
                    <a:gd name="T12" fmla="*/ 12 w 21"/>
                    <a:gd name="T13" fmla="*/ 23 h 24"/>
                    <a:gd name="T14" fmla="*/ 17 w 21"/>
                    <a:gd name="T15" fmla="*/ 17 h 24"/>
                    <a:gd name="T16" fmla="*/ 17 w 21"/>
                    <a:gd name="T17" fmla="*/ 8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 h="24">
                      <a:moveTo>
                        <a:pt x="17" y="8"/>
                      </a:moveTo>
                      <a:lnTo>
                        <a:pt x="20" y="8"/>
                      </a:lnTo>
                      <a:lnTo>
                        <a:pt x="20" y="0"/>
                      </a:lnTo>
                      <a:lnTo>
                        <a:pt x="13" y="0"/>
                      </a:lnTo>
                      <a:lnTo>
                        <a:pt x="0" y="15"/>
                      </a:lnTo>
                      <a:lnTo>
                        <a:pt x="0" y="23"/>
                      </a:lnTo>
                      <a:lnTo>
                        <a:pt x="12" y="23"/>
                      </a:lnTo>
                      <a:lnTo>
                        <a:pt x="17" y="17"/>
                      </a:lnTo>
                      <a:lnTo>
                        <a:pt x="17" y="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Freeform 21">
                  <a:extLst>
                    <a:ext uri="{FF2B5EF4-FFF2-40B4-BE49-F238E27FC236}">
                      <a16:creationId xmlns:a16="http://schemas.microsoft.com/office/drawing/2014/main" id="{FB0452B9-E652-4126-AFE0-29ECE4C6F20D}"/>
                    </a:ext>
                  </a:extLst>
                </p:cNvPr>
                <p:cNvSpPr>
                  <a:spLocks/>
                </p:cNvSpPr>
                <p:nvPr/>
              </p:nvSpPr>
              <p:spPr bwMode="grayWhite">
                <a:xfrm>
                  <a:off x="2167" y="634"/>
                  <a:ext cx="256" cy="216"/>
                </a:xfrm>
                <a:custGeom>
                  <a:avLst/>
                  <a:gdLst>
                    <a:gd name="T0" fmla="*/ 168 w 256"/>
                    <a:gd name="T1" fmla="*/ 15 h 216"/>
                    <a:gd name="T2" fmla="*/ 201 w 256"/>
                    <a:gd name="T3" fmla="*/ 20 h 216"/>
                    <a:gd name="T4" fmla="*/ 181 w 256"/>
                    <a:gd name="T5" fmla="*/ 28 h 216"/>
                    <a:gd name="T6" fmla="*/ 172 w 256"/>
                    <a:gd name="T7" fmla="*/ 41 h 216"/>
                    <a:gd name="T8" fmla="*/ 160 w 256"/>
                    <a:gd name="T9" fmla="*/ 70 h 216"/>
                    <a:gd name="T10" fmla="*/ 140 w 256"/>
                    <a:gd name="T11" fmla="*/ 72 h 216"/>
                    <a:gd name="T12" fmla="*/ 123 w 256"/>
                    <a:gd name="T13" fmla="*/ 69 h 216"/>
                    <a:gd name="T14" fmla="*/ 131 w 256"/>
                    <a:gd name="T15" fmla="*/ 55 h 216"/>
                    <a:gd name="T16" fmla="*/ 124 w 256"/>
                    <a:gd name="T17" fmla="*/ 37 h 216"/>
                    <a:gd name="T18" fmla="*/ 114 w 256"/>
                    <a:gd name="T19" fmla="*/ 69 h 216"/>
                    <a:gd name="T20" fmla="*/ 87 w 256"/>
                    <a:gd name="T21" fmla="*/ 84 h 216"/>
                    <a:gd name="T22" fmla="*/ 73 w 256"/>
                    <a:gd name="T23" fmla="*/ 94 h 216"/>
                    <a:gd name="T24" fmla="*/ 53 w 256"/>
                    <a:gd name="T25" fmla="*/ 108 h 216"/>
                    <a:gd name="T26" fmla="*/ 43 w 256"/>
                    <a:gd name="T27" fmla="*/ 143 h 216"/>
                    <a:gd name="T28" fmla="*/ 8 w 256"/>
                    <a:gd name="T29" fmla="*/ 130 h 216"/>
                    <a:gd name="T30" fmla="*/ 0 w 256"/>
                    <a:gd name="T31" fmla="*/ 156 h 216"/>
                    <a:gd name="T32" fmla="*/ 15 w 256"/>
                    <a:gd name="T33" fmla="*/ 194 h 216"/>
                    <a:gd name="T34" fmla="*/ 71 w 256"/>
                    <a:gd name="T35" fmla="*/ 153 h 216"/>
                    <a:gd name="T36" fmla="*/ 105 w 256"/>
                    <a:gd name="T37" fmla="*/ 145 h 216"/>
                    <a:gd name="T38" fmla="*/ 111 w 256"/>
                    <a:gd name="T39" fmla="*/ 161 h 216"/>
                    <a:gd name="T40" fmla="*/ 139 w 256"/>
                    <a:gd name="T41" fmla="*/ 201 h 216"/>
                    <a:gd name="T42" fmla="*/ 142 w 256"/>
                    <a:gd name="T43" fmla="*/ 189 h 216"/>
                    <a:gd name="T44" fmla="*/ 150 w 256"/>
                    <a:gd name="T45" fmla="*/ 189 h 216"/>
                    <a:gd name="T46" fmla="*/ 123 w 256"/>
                    <a:gd name="T47" fmla="*/ 152 h 216"/>
                    <a:gd name="T48" fmla="*/ 131 w 256"/>
                    <a:gd name="T49" fmla="*/ 139 h 216"/>
                    <a:gd name="T50" fmla="*/ 160 w 256"/>
                    <a:gd name="T51" fmla="*/ 178 h 216"/>
                    <a:gd name="T52" fmla="*/ 172 w 256"/>
                    <a:gd name="T53" fmla="*/ 202 h 216"/>
                    <a:gd name="T54" fmla="*/ 178 w 256"/>
                    <a:gd name="T55" fmla="*/ 215 h 216"/>
                    <a:gd name="T56" fmla="*/ 183 w 256"/>
                    <a:gd name="T57" fmla="*/ 191 h 216"/>
                    <a:gd name="T58" fmla="*/ 202 w 256"/>
                    <a:gd name="T59" fmla="*/ 182 h 216"/>
                    <a:gd name="T60" fmla="*/ 214 w 256"/>
                    <a:gd name="T61" fmla="*/ 177 h 216"/>
                    <a:gd name="T62" fmla="*/ 210 w 256"/>
                    <a:gd name="T63" fmla="*/ 158 h 216"/>
                    <a:gd name="T64" fmla="*/ 219 w 256"/>
                    <a:gd name="T65" fmla="*/ 126 h 216"/>
                    <a:gd name="T66" fmla="*/ 232 w 256"/>
                    <a:gd name="T67" fmla="*/ 130 h 216"/>
                    <a:gd name="T68" fmla="*/ 236 w 256"/>
                    <a:gd name="T69" fmla="*/ 145 h 216"/>
                    <a:gd name="T70" fmla="*/ 247 w 256"/>
                    <a:gd name="T71" fmla="*/ 137 h 216"/>
                    <a:gd name="T72" fmla="*/ 244 w 256"/>
                    <a:gd name="T73" fmla="*/ 134 h 216"/>
                    <a:gd name="T74" fmla="*/ 252 w 256"/>
                    <a:gd name="T75" fmla="*/ 114 h 216"/>
                    <a:gd name="T76" fmla="*/ 255 w 256"/>
                    <a:gd name="T77" fmla="*/ 137 h 216"/>
                    <a:gd name="T78" fmla="*/ 168 w 256"/>
                    <a:gd name="T79" fmla="*/ 0 h 21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56" h="216">
                      <a:moveTo>
                        <a:pt x="168" y="0"/>
                      </a:moveTo>
                      <a:lnTo>
                        <a:pt x="168" y="15"/>
                      </a:lnTo>
                      <a:lnTo>
                        <a:pt x="173" y="20"/>
                      </a:lnTo>
                      <a:lnTo>
                        <a:pt x="201" y="20"/>
                      </a:lnTo>
                      <a:lnTo>
                        <a:pt x="201" y="28"/>
                      </a:lnTo>
                      <a:lnTo>
                        <a:pt x="181" y="28"/>
                      </a:lnTo>
                      <a:lnTo>
                        <a:pt x="181" y="52"/>
                      </a:lnTo>
                      <a:lnTo>
                        <a:pt x="172" y="41"/>
                      </a:lnTo>
                      <a:lnTo>
                        <a:pt x="172" y="56"/>
                      </a:lnTo>
                      <a:lnTo>
                        <a:pt x="160" y="70"/>
                      </a:lnTo>
                      <a:lnTo>
                        <a:pt x="152" y="62"/>
                      </a:lnTo>
                      <a:lnTo>
                        <a:pt x="140" y="72"/>
                      </a:lnTo>
                      <a:lnTo>
                        <a:pt x="138" y="69"/>
                      </a:lnTo>
                      <a:lnTo>
                        <a:pt x="123" y="69"/>
                      </a:lnTo>
                      <a:lnTo>
                        <a:pt x="131" y="59"/>
                      </a:lnTo>
                      <a:lnTo>
                        <a:pt x="131" y="55"/>
                      </a:lnTo>
                      <a:lnTo>
                        <a:pt x="124" y="48"/>
                      </a:lnTo>
                      <a:lnTo>
                        <a:pt x="124" y="37"/>
                      </a:lnTo>
                      <a:lnTo>
                        <a:pt x="114" y="48"/>
                      </a:lnTo>
                      <a:lnTo>
                        <a:pt x="114" y="69"/>
                      </a:lnTo>
                      <a:lnTo>
                        <a:pt x="102" y="69"/>
                      </a:lnTo>
                      <a:lnTo>
                        <a:pt x="87" y="84"/>
                      </a:lnTo>
                      <a:lnTo>
                        <a:pt x="81" y="84"/>
                      </a:lnTo>
                      <a:lnTo>
                        <a:pt x="73" y="94"/>
                      </a:lnTo>
                      <a:lnTo>
                        <a:pt x="43" y="94"/>
                      </a:lnTo>
                      <a:lnTo>
                        <a:pt x="53" y="108"/>
                      </a:lnTo>
                      <a:lnTo>
                        <a:pt x="53" y="130"/>
                      </a:lnTo>
                      <a:lnTo>
                        <a:pt x="43" y="143"/>
                      </a:lnTo>
                      <a:lnTo>
                        <a:pt x="31" y="130"/>
                      </a:lnTo>
                      <a:lnTo>
                        <a:pt x="8" y="130"/>
                      </a:lnTo>
                      <a:lnTo>
                        <a:pt x="8" y="146"/>
                      </a:lnTo>
                      <a:lnTo>
                        <a:pt x="0" y="156"/>
                      </a:lnTo>
                      <a:lnTo>
                        <a:pt x="0" y="177"/>
                      </a:lnTo>
                      <a:lnTo>
                        <a:pt x="15" y="194"/>
                      </a:lnTo>
                      <a:lnTo>
                        <a:pt x="37" y="194"/>
                      </a:lnTo>
                      <a:lnTo>
                        <a:pt x="71" y="153"/>
                      </a:lnTo>
                      <a:lnTo>
                        <a:pt x="101" y="153"/>
                      </a:lnTo>
                      <a:lnTo>
                        <a:pt x="105" y="145"/>
                      </a:lnTo>
                      <a:lnTo>
                        <a:pt x="112" y="153"/>
                      </a:lnTo>
                      <a:lnTo>
                        <a:pt x="111" y="161"/>
                      </a:lnTo>
                      <a:lnTo>
                        <a:pt x="139" y="189"/>
                      </a:lnTo>
                      <a:lnTo>
                        <a:pt x="139" y="201"/>
                      </a:lnTo>
                      <a:lnTo>
                        <a:pt x="145" y="196"/>
                      </a:lnTo>
                      <a:lnTo>
                        <a:pt x="142" y="189"/>
                      </a:lnTo>
                      <a:lnTo>
                        <a:pt x="145" y="185"/>
                      </a:lnTo>
                      <a:lnTo>
                        <a:pt x="150" y="189"/>
                      </a:lnTo>
                      <a:lnTo>
                        <a:pt x="152" y="188"/>
                      </a:lnTo>
                      <a:lnTo>
                        <a:pt x="123" y="152"/>
                      </a:lnTo>
                      <a:lnTo>
                        <a:pt x="123" y="139"/>
                      </a:lnTo>
                      <a:lnTo>
                        <a:pt x="131" y="139"/>
                      </a:lnTo>
                      <a:lnTo>
                        <a:pt x="131" y="146"/>
                      </a:lnTo>
                      <a:lnTo>
                        <a:pt x="160" y="178"/>
                      </a:lnTo>
                      <a:lnTo>
                        <a:pt x="160" y="188"/>
                      </a:lnTo>
                      <a:lnTo>
                        <a:pt x="172" y="202"/>
                      </a:lnTo>
                      <a:lnTo>
                        <a:pt x="169" y="205"/>
                      </a:lnTo>
                      <a:lnTo>
                        <a:pt x="178" y="215"/>
                      </a:lnTo>
                      <a:lnTo>
                        <a:pt x="191" y="200"/>
                      </a:lnTo>
                      <a:lnTo>
                        <a:pt x="183" y="191"/>
                      </a:lnTo>
                      <a:lnTo>
                        <a:pt x="191" y="182"/>
                      </a:lnTo>
                      <a:lnTo>
                        <a:pt x="202" y="182"/>
                      </a:lnTo>
                      <a:lnTo>
                        <a:pt x="207" y="177"/>
                      </a:lnTo>
                      <a:lnTo>
                        <a:pt x="214" y="177"/>
                      </a:lnTo>
                      <a:lnTo>
                        <a:pt x="205" y="164"/>
                      </a:lnTo>
                      <a:lnTo>
                        <a:pt x="210" y="158"/>
                      </a:lnTo>
                      <a:lnTo>
                        <a:pt x="210" y="137"/>
                      </a:lnTo>
                      <a:lnTo>
                        <a:pt x="219" y="126"/>
                      </a:lnTo>
                      <a:lnTo>
                        <a:pt x="223" y="130"/>
                      </a:lnTo>
                      <a:lnTo>
                        <a:pt x="232" y="130"/>
                      </a:lnTo>
                      <a:lnTo>
                        <a:pt x="228" y="136"/>
                      </a:lnTo>
                      <a:lnTo>
                        <a:pt x="236" y="145"/>
                      </a:lnTo>
                      <a:lnTo>
                        <a:pt x="241" y="137"/>
                      </a:lnTo>
                      <a:lnTo>
                        <a:pt x="247" y="137"/>
                      </a:lnTo>
                      <a:lnTo>
                        <a:pt x="247" y="134"/>
                      </a:lnTo>
                      <a:lnTo>
                        <a:pt x="244" y="134"/>
                      </a:lnTo>
                      <a:lnTo>
                        <a:pt x="239" y="130"/>
                      </a:lnTo>
                      <a:lnTo>
                        <a:pt x="252" y="114"/>
                      </a:lnTo>
                      <a:lnTo>
                        <a:pt x="252" y="137"/>
                      </a:lnTo>
                      <a:lnTo>
                        <a:pt x="255" y="137"/>
                      </a:lnTo>
                      <a:lnTo>
                        <a:pt x="255" y="0"/>
                      </a:lnTo>
                      <a:lnTo>
                        <a:pt x="16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Freeform 22">
                  <a:extLst>
                    <a:ext uri="{FF2B5EF4-FFF2-40B4-BE49-F238E27FC236}">
                      <a16:creationId xmlns:a16="http://schemas.microsoft.com/office/drawing/2014/main" id="{A3B817D2-FDD7-4845-8DF0-80F6FC43BB2B}"/>
                    </a:ext>
                  </a:extLst>
                </p:cNvPr>
                <p:cNvSpPr>
                  <a:spLocks/>
                </p:cNvSpPr>
                <p:nvPr/>
              </p:nvSpPr>
              <p:spPr bwMode="grayWhite">
                <a:xfrm>
                  <a:off x="2276" y="406"/>
                  <a:ext cx="1089" cy="769"/>
                </a:xfrm>
                <a:custGeom>
                  <a:avLst/>
                  <a:gdLst>
                    <a:gd name="T0" fmla="*/ 32 w 1089"/>
                    <a:gd name="T1" fmla="*/ 202 h 769"/>
                    <a:gd name="T2" fmla="*/ 99 w 1089"/>
                    <a:gd name="T3" fmla="*/ 134 h 769"/>
                    <a:gd name="T4" fmla="*/ 142 w 1089"/>
                    <a:gd name="T5" fmla="*/ 181 h 769"/>
                    <a:gd name="T6" fmla="*/ 118 w 1089"/>
                    <a:gd name="T7" fmla="*/ 179 h 769"/>
                    <a:gd name="T8" fmla="*/ 216 w 1089"/>
                    <a:gd name="T9" fmla="*/ 172 h 769"/>
                    <a:gd name="T10" fmla="*/ 240 w 1089"/>
                    <a:gd name="T11" fmla="*/ 110 h 769"/>
                    <a:gd name="T12" fmla="*/ 241 w 1089"/>
                    <a:gd name="T13" fmla="*/ 124 h 769"/>
                    <a:gd name="T14" fmla="*/ 223 w 1089"/>
                    <a:gd name="T15" fmla="*/ 172 h 769"/>
                    <a:gd name="T16" fmla="*/ 301 w 1089"/>
                    <a:gd name="T17" fmla="*/ 133 h 769"/>
                    <a:gd name="T18" fmla="*/ 460 w 1089"/>
                    <a:gd name="T19" fmla="*/ 23 h 769"/>
                    <a:gd name="T20" fmla="*/ 574 w 1089"/>
                    <a:gd name="T21" fmla="*/ 29 h 769"/>
                    <a:gd name="T22" fmla="*/ 701 w 1089"/>
                    <a:gd name="T23" fmla="*/ 15 h 769"/>
                    <a:gd name="T24" fmla="*/ 840 w 1089"/>
                    <a:gd name="T25" fmla="*/ 71 h 769"/>
                    <a:gd name="T26" fmla="*/ 1001 w 1089"/>
                    <a:gd name="T27" fmla="*/ 91 h 769"/>
                    <a:gd name="T28" fmla="*/ 1080 w 1089"/>
                    <a:gd name="T29" fmla="*/ 156 h 769"/>
                    <a:gd name="T30" fmla="*/ 1019 w 1089"/>
                    <a:gd name="T31" fmla="*/ 206 h 769"/>
                    <a:gd name="T32" fmla="*/ 985 w 1089"/>
                    <a:gd name="T33" fmla="*/ 270 h 769"/>
                    <a:gd name="T34" fmla="*/ 945 w 1089"/>
                    <a:gd name="T35" fmla="*/ 273 h 769"/>
                    <a:gd name="T36" fmla="*/ 958 w 1089"/>
                    <a:gd name="T37" fmla="*/ 184 h 769"/>
                    <a:gd name="T38" fmla="*/ 906 w 1089"/>
                    <a:gd name="T39" fmla="*/ 232 h 769"/>
                    <a:gd name="T40" fmla="*/ 868 w 1089"/>
                    <a:gd name="T41" fmla="*/ 273 h 769"/>
                    <a:gd name="T42" fmla="*/ 881 w 1089"/>
                    <a:gd name="T43" fmla="*/ 318 h 769"/>
                    <a:gd name="T44" fmla="*/ 837 w 1089"/>
                    <a:gd name="T45" fmla="*/ 385 h 769"/>
                    <a:gd name="T46" fmla="*/ 844 w 1089"/>
                    <a:gd name="T47" fmla="*/ 439 h 769"/>
                    <a:gd name="T48" fmla="*/ 839 w 1089"/>
                    <a:gd name="T49" fmla="*/ 413 h 769"/>
                    <a:gd name="T50" fmla="*/ 797 w 1089"/>
                    <a:gd name="T51" fmla="*/ 416 h 769"/>
                    <a:gd name="T52" fmla="*/ 828 w 1089"/>
                    <a:gd name="T53" fmla="*/ 496 h 769"/>
                    <a:gd name="T54" fmla="*/ 751 w 1089"/>
                    <a:gd name="T55" fmla="*/ 589 h 769"/>
                    <a:gd name="T56" fmla="*/ 730 w 1089"/>
                    <a:gd name="T57" fmla="*/ 615 h 769"/>
                    <a:gd name="T58" fmla="*/ 703 w 1089"/>
                    <a:gd name="T59" fmla="*/ 706 h 769"/>
                    <a:gd name="T60" fmla="*/ 665 w 1089"/>
                    <a:gd name="T61" fmla="*/ 708 h 769"/>
                    <a:gd name="T62" fmla="*/ 711 w 1089"/>
                    <a:gd name="T63" fmla="*/ 768 h 769"/>
                    <a:gd name="T64" fmla="*/ 634 w 1089"/>
                    <a:gd name="T65" fmla="*/ 626 h 769"/>
                    <a:gd name="T66" fmla="*/ 545 w 1089"/>
                    <a:gd name="T67" fmla="*/ 596 h 769"/>
                    <a:gd name="T68" fmla="*/ 503 w 1089"/>
                    <a:gd name="T69" fmla="*/ 689 h 769"/>
                    <a:gd name="T70" fmla="*/ 471 w 1089"/>
                    <a:gd name="T71" fmla="*/ 738 h 769"/>
                    <a:gd name="T72" fmla="*/ 416 w 1089"/>
                    <a:gd name="T73" fmla="*/ 592 h 769"/>
                    <a:gd name="T74" fmla="*/ 373 w 1089"/>
                    <a:gd name="T75" fmla="*/ 607 h 769"/>
                    <a:gd name="T76" fmla="*/ 336 w 1089"/>
                    <a:gd name="T77" fmla="*/ 545 h 769"/>
                    <a:gd name="T78" fmla="*/ 223 w 1089"/>
                    <a:gd name="T79" fmla="*/ 510 h 769"/>
                    <a:gd name="T80" fmla="*/ 263 w 1089"/>
                    <a:gd name="T81" fmla="*/ 577 h 769"/>
                    <a:gd name="T82" fmla="*/ 234 w 1089"/>
                    <a:gd name="T83" fmla="*/ 620 h 769"/>
                    <a:gd name="T84" fmla="*/ 190 w 1089"/>
                    <a:gd name="T85" fmla="*/ 605 h 769"/>
                    <a:gd name="T86" fmla="*/ 119 w 1089"/>
                    <a:gd name="T87" fmla="*/ 495 h 769"/>
                    <a:gd name="T88" fmla="*/ 149 w 1089"/>
                    <a:gd name="T89" fmla="*/ 432 h 769"/>
                    <a:gd name="T90" fmla="*/ 166 w 1089"/>
                    <a:gd name="T91" fmla="*/ 385 h 769"/>
                    <a:gd name="T92" fmla="*/ 149 w 1089"/>
                    <a:gd name="T93" fmla="*/ 226 h 769"/>
                    <a:gd name="T94" fmla="*/ 86 w 1089"/>
                    <a:gd name="T95" fmla="*/ 193 h 769"/>
                    <a:gd name="T96" fmla="*/ 55 w 1089"/>
                    <a:gd name="T97" fmla="*/ 210 h 769"/>
                    <a:gd name="T98" fmla="*/ 0 w 1089"/>
                    <a:gd name="T99" fmla="*/ 226 h 76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089" h="769">
                      <a:moveTo>
                        <a:pt x="0" y="226"/>
                      </a:moveTo>
                      <a:lnTo>
                        <a:pt x="32" y="202"/>
                      </a:lnTo>
                      <a:lnTo>
                        <a:pt x="62" y="156"/>
                      </a:lnTo>
                      <a:lnTo>
                        <a:pt x="99" y="134"/>
                      </a:lnTo>
                      <a:lnTo>
                        <a:pt x="137" y="160"/>
                      </a:lnTo>
                      <a:lnTo>
                        <a:pt x="142" y="181"/>
                      </a:lnTo>
                      <a:lnTo>
                        <a:pt x="133" y="181"/>
                      </a:lnTo>
                      <a:lnTo>
                        <a:pt x="118" y="179"/>
                      </a:lnTo>
                      <a:lnTo>
                        <a:pt x="137" y="202"/>
                      </a:lnTo>
                      <a:lnTo>
                        <a:pt x="216" y="172"/>
                      </a:lnTo>
                      <a:lnTo>
                        <a:pt x="206" y="149"/>
                      </a:lnTo>
                      <a:lnTo>
                        <a:pt x="240" y="110"/>
                      </a:lnTo>
                      <a:lnTo>
                        <a:pt x="262" y="111"/>
                      </a:lnTo>
                      <a:lnTo>
                        <a:pt x="241" y="124"/>
                      </a:lnTo>
                      <a:lnTo>
                        <a:pt x="223" y="153"/>
                      </a:lnTo>
                      <a:lnTo>
                        <a:pt x="223" y="172"/>
                      </a:lnTo>
                      <a:lnTo>
                        <a:pt x="255" y="193"/>
                      </a:lnTo>
                      <a:lnTo>
                        <a:pt x="301" y="133"/>
                      </a:lnTo>
                      <a:lnTo>
                        <a:pt x="461" y="63"/>
                      </a:lnTo>
                      <a:lnTo>
                        <a:pt x="460" y="23"/>
                      </a:lnTo>
                      <a:lnTo>
                        <a:pt x="533" y="8"/>
                      </a:lnTo>
                      <a:lnTo>
                        <a:pt x="574" y="29"/>
                      </a:lnTo>
                      <a:lnTo>
                        <a:pt x="671" y="0"/>
                      </a:lnTo>
                      <a:lnTo>
                        <a:pt x="701" y="15"/>
                      </a:lnTo>
                      <a:lnTo>
                        <a:pt x="766" y="85"/>
                      </a:lnTo>
                      <a:lnTo>
                        <a:pt x="840" y="71"/>
                      </a:lnTo>
                      <a:lnTo>
                        <a:pt x="886" y="96"/>
                      </a:lnTo>
                      <a:lnTo>
                        <a:pt x="1001" y="91"/>
                      </a:lnTo>
                      <a:lnTo>
                        <a:pt x="1088" y="118"/>
                      </a:lnTo>
                      <a:lnTo>
                        <a:pt x="1080" y="156"/>
                      </a:lnTo>
                      <a:lnTo>
                        <a:pt x="1006" y="181"/>
                      </a:lnTo>
                      <a:lnTo>
                        <a:pt x="1019" y="206"/>
                      </a:lnTo>
                      <a:lnTo>
                        <a:pt x="987" y="220"/>
                      </a:lnTo>
                      <a:lnTo>
                        <a:pt x="985" y="270"/>
                      </a:lnTo>
                      <a:lnTo>
                        <a:pt x="957" y="304"/>
                      </a:lnTo>
                      <a:lnTo>
                        <a:pt x="945" y="273"/>
                      </a:lnTo>
                      <a:lnTo>
                        <a:pt x="961" y="244"/>
                      </a:lnTo>
                      <a:lnTo>
                        <a:pt x="958" y="184"/>
                      </a:lnTo>
                      <a:lnTo>
                        <a:pt x="929" y="215"/>
                      </a:lnTo>
                      <a:lnTo>
                        <a:pt x="906" y="232"/>
                      </a:lnTo>
                      <a:lnTo>
                        <a:pt x="884" y="205"/>
                      </a:lnTo>
                      <a:lnTo>
                        <a:pt x="868" y="273"/>
                      </a:lnTo>
                      <a:lnTo>
                        <a:pt x="885" y="273"/>
                      </a:lnTo>
                      <a:lnTo>
                        <a:pt x="881" y="318"/>
                      </a:lnTo>
                      <a:lnTo>
                        <a:pt x="861" y="366"/>
                      </a:lnTo>
                      <a:lnTo>
                        <a:pt x="837" y="385"/>
                      </a:lnTo>
                      <a:lnTo>
                        <a:pt x="857" y="417"/>
                      </a:lnTo>
                      <a:lnTo>
                        <a:pt x="844" y="439"/>
                      </a:lnTo>
                      <a:lnTo>
                        <a:pt x="839" y="420"/>
                      </a:lnTo>
                      <a:lnTo>
                        <a:pt x="839" y="413"/>
                      </a:lnTo>
                      <a:lnTo>
                        <a:pt x="823" y="402"/>
                      </a:lnTo>
                      <a:lnTo>
                        <a:pt x="797" y="416"/>
                      </a:lnTo>
                      <a:lnTo>
                        <a:pt x="820" y="469"/>
                      </a:lnTo>
                      <a:lnTo>
                        <a:pt x="828" y="496"/>
                      </a:lnTo>
                      <a:lnTo>
                        <a:pt x="801" y="569"/>
                      </a:lnTo>
                      <a:lnTo>
                        <a:pt x="751" y="589"/>
                      </a:lnTo>
                      <a:lnTo>
                        <a:pt x="710" y="585"/>
                      </a:lnTo>
                      <a:lnTo>
                        <a:pt x="730" y="615"/>
                      </a:lnTo>
                      <a:lnTo>
                        <a:pt x="732" y="657"/>
                      </a:lnTo>
                      <a:lnTo>
                        <a:pt x="703" y="706"/>
                      </a:lnTo>
                      <a:lnTo>
                        <a:pt x="670" y="679"/>
                      </a:lnTo>
                      <a:lnTo>
                        <a:pt x="665" y="708"/>
                      </a:lnTo>
                      <a:lnTo>
                        <a:pt x="690" y="732"/>
                      </a:lnTo>
                      <a:lnTo>
                        <a:pt x="711" y="768"/>
                      </a:lnTo>
                      <a:lnTo>
                        <a:pt x="676" y="747"/>
                      </a:lnTo>
                      <a:lnTo>
                        <a:pt x="634" y="626"/>
                      </a:lnTo>
                      <a:lnTo>
                        <a:pt x="583" y="593"/>
                      </a:lnTo>
                      <a:lnTo>
                        <a:pt x="545" y="596"/>
                      </a:lnTo>
                      <a:lnTo>
                        <a:pt x="497" y="665"/>
                      </a:lnTo>
                      <a:lnTo>
                        <a:pt x="503" y="689"/>
                      </a:lnTo>
                      <a:lnTo>
                        <a:pt x="487" y="738"/>
                      </a:lnTo>
                      <a:lnTo>
                        <a:pt x="471" y="738"/>
                      </a:lnTo>
                      <a:lnTo>
                        <a:pt x="416" y="636"/>
                      </a:lnTo>
                      <a:lnTo>
                        <a:pt x="416" y="592"/>
                      </a:lnTo>
                      <a:lnTo>
                        <a:pt x="404" y="608"/>
                      </a:lnTo>
                      <a:lnTo>
                        <a:pt x="373" y="607"/>
                      </a:lnTo>
                      <a:lnTo>
                        <a:pt x="385" y="580"/>
                      </a:lnTo>
                      <a:lnTo>
                        <a:pt x="336" y="545"/>
                      </a:lnTo>
                      <a:lnTo>
                        <a:pt x="275" y="545"/>
                      </a:lnTo>
                      <a:lnTo>
                        <a:pt x="223" y="510"/>
                      </a:lnTo>
                      <a:lnTo>
                        <a:pt x="220" y="545"/>
                      </a:lnTo>
                      <a:lnTo>
                        <a:pt x="263" y="577"/>
                      </a:lnTo>
                      <a:lnTo>
                        <a:pt x="278" y="576"/>
                      </a:lnTo>
                      <a:lnTo>
                        <a:pt x="234" y="620"/>
                      </a:lnTo>
                      <a:lnTo>
                        <a:pt x="190" y="630"/>
                      </a:lnTo>
                      <a:lnTo>
                        <a:pt x="190" y="605"/>
                      </a:lnTo>
                      <a:lnTo>
                        <a:pt x="127" y="518"/>
                      </a:lnTo>
                      <a:lnTo>
                        <a:pt x="119" y="495"/>
                      </a:lnTo>
                      <a:lnTo>
                        <a:pt x="153" y="467"/>
                      </a:lnTo>
                      <a:lnTo>
                        <a:pt x="149" y="432"/>
                      </a:lnTo>
                      <a:lnTo>
                        <a:pt x="149" y="393"/>
                      </a:lnTo>
                      <a:lnTo>
                        <a:pt x="166" y="385"/>
                      </a:lnTo>
                      <a:lnTo>
                        <a:pt x="149" y="366"/>
                      </a:lnTo>
                      <a:lnTo>
                        <a:pt x="149" y="226"/>
                      </a:lnTo>
                      <a:lnTo>
                        <a:pt x="61" y="226"/>
                      </a:lnTo>
                      <a:lnTo>
                        <a:pt x="86" y="193"/>
                      </a:lnTo>
                      <a:lnTo>
                        <a:pt x="84" y="181"/>
                      </a:lnTo>
                      <a:lnTo>
                        <a:pt x="55" y="210"/>
                      </a:lnTo>
                      <a:lnTo>
                        <a:pt x="45" y="226"/>
                      </a:lnTo>
                      <a:lnTo>
                        <a:pt x="0" y="2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Freeform 23">
                  <a:extLst>
                    <a:ext uri="{FF2B5EF4-FFF2-40B4-BE49-F238E27FC236}">
                      <a16:creationId xmlns:a16="http://schemas.microsoft.com/office/drawing/2014/main" id="{DC477E9F-599F-4C6C-AF12-494766E5F13F}"/>
                    </a:ext>
                  </a:extLst>
                </p:cNvPr>
                <p:cNvSpPr>
                  <a:spLocks/>
                </p:cNvSpPr>
                <p:nvPr/>
              </p:nvSpPr>
              <p:spPr bwMode="grayWhite">
                <a:xfrm>
                  <a:off x="3135" y="720"/>
                  <a:ext cx="94" cy="157"/>
                </a:xfrm>
                <a:custGeom>
                  <a:avLst/>
                  <a:gdLst>
                    <a:gd name="T0" fmla="*/ 63 w 94"/>
                    <a:gd name="T1" fmla="*/ 0 h 157"/>
                    <a:gd name="T2" fmla="*/ 63 w 94"/>
                    <a:gd name="T3" fmla="*/ 20 h 157"/>
                    <a:gd name="T4" fmla="*/ 55 w 94"/>
                    <a:gd name="T5" fmla="*/ 33 h 157"/>
                    <a:gd name="T6" fmla="*/ 57 w 94"/>
                    <a:gd name="T7" fmla="*/ 54 h 157"/>
                    <a:gd name="T8" fmla="*/ 47 w 94"/>
                    <a:gd name="T9" fmla="*/ 82 h 157"/>
                    <a:gd name="T10" fmla="*/ 31 w 94"/>
                    <a:gd name="T11" fmla="*/ 108 h 157"/>
                    <a:gd name="T12" fmla="*/ 7 w 94"/>
                    <a:gd name="T13" fmla="*/ 125 h 157"/>
                    <a:gd name="T14" fmla="*/ 0 w 94"/>
                    <a:gd name="T15" fmla="*/ 154 h 157"/>
                    <a:gd name="T16" fmla="*/ 10 w 94"/>
                    <a:gd name="T17" fmla="*/ 156 h 157"/>
                    <a:gd name="T18" fmla="*/ 10 w 94"/>
                    <a:gd name="T19" fmla="*/ 129 h 157"/>
                    <a:gd name="T20" fmla="*/ 44 w 94"/>
                    <a:gd name="T21" fmla="*/ 127 h 157"/>
                    <a:gd name="T22" fmla="*/ 69 w 94"/>
                    <a:gd name="T23" fmla="*/ 109 h 157"/>
                    <a:gd name="T24" fmla="*/ 69 w 94"/>
                    <a:gd name="T25" fmla="*/ 72 h 157"/>
                    <a:gd name="T26" fmla="*/ 77 w 94"/>
                    <a:gd name="T27" fmla="*/ 58 h 157"/>
                    <a:gd name="T28" fmla="*/ 64 w 94"/>
                    <a:gd name="T29" fmla="*/ 34 h 157"/>
                    <a:gd name="T30" fmla="*/ 82 w 94"/>
                    <a:gd name="T31" fmla="*/ 27 h 157"/>
                    <a:gd name="T32" fmla="*/ 93 w 94"/>
                    <a:gd name="T33" fmla="*/ 8 h 157"/>
                    <a:gd name="T34" fmla="*/ 69 w 94"/>
                    <a:gd name="T35" fmla="*/ 11 h 157"/>
                    <a:gd name="T36" fmla="*/ 63 w 94"/>
                    <a:gd name="T37" fmla="*/ 0 h 1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4" h="157">
                      <a:moveTo>
                        <a:pt x="63" y="0"/>
                      </a:moveTo>
                      <a:lnTo>
                        <a:pt x="63" y="20"/>
                      </a:lnTo>
                      <a:lnTo>
                        <a:pt x="55" y="33"/>
                      </a:lnTo>
                      <a:lnTo>
                        <a:pt x="57" y="54"/>
                      </a:lnTo>
                      <a:lnTo>
                        <a:pt x="47" y="82"/>
                      </a:lnTo>
                      <a:lnTo>
                        <a:pt x="31" y="108"/>
                      </a:lnTo>
                      <a:lnTo>
                        <a:pt x="7" y="125"/>
                      </a:lnTo>
                      <a:lnTo>
                        <a:pt x="0" y="154"/>
                      </a:lnTo>
                      <a:lnTo>
                        <a:pt x="10" y="156"/>
                      </a:lnTo>
                      <a:lnTo>
                        <a:pt x="10" y="129"/>
                      </a:lnTo>
                      <a:lnTo>
                        <a:pt x="44" y="127"/>
                      </a:lnTo>
                      <a:lnTo>
                        <a:pt x="69" y="109"/>
                      </a:lnTo>
                      <a:lnTo>
                        <a:pt x="69" y="72"/>
                      </a:lnTo>
                      <a:lnTo>
                        <a:pt x="77" y="58"/>
                      </a:lnTo>
                      <a:lnTo>
                        <a:pt x="64" y="34"/>
                      </a:lnTo>
                      <a:lnTo>
                        <a:pt x="82" y="27"/>
                      </a:lnTo>
                      <a:lnTo>
                        <a:pt x="93" y="8"/>
                      </a:lnTo>
                      <a:lnTo>
                        <a:pt x="69" y="11"/>
                      </a:lnTo>
                      <a:lnTo>
                        <a:pt x="63"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Freeform 24">
                  <a:extLst>
                    <a:ext uri="{FF2B5EF4-FFF2-40B4-BE49-F238E27FC236}">
                      <a16:creationId xmlns:a16="http://schemas.microsoft.com/office/drawing/2014/main" id="{B6F68BC5-9689-45A0-87E1-6E8AEE429298}"/>
                    </a:ext>
                  </a:extLst>
                </p:cNvPr>
                <p:cNvSpPr>
                  <a:spLocks/>
                </p:cNvSpPr>
                <p:nvPr/>
              </p:nvSpPr>
              <p:spPr bwMode="grayWhite">
                <a:xfrm>
                  <a:off x="2780" y="1139"/>
                  <a:ext cx="19" cy="36"/>
                </a:xfrm>
                <a:custGeom>
                  <a:avLst/>
                  <a:gdLst>
                    <a:gd name="T0" fmla="*/ 9 w 19"/>
                    <a:gd name="T1" fmla="*/ 0 h 36"/>
                    <a:gd name="T2" fmla="*/ 0 w 19"/>
                    <a:gd name="T3" fmla="*/ 16 h 36"/>
                    <a:gd name="T4" fmla="*/ 6 w 19"/>
                    <a:gd name="T5" fmla="*/ 35 h 36"/>
                    <a:gd name="T6" fmla="*/ 18 w 19"/>
                    <a:gd name="T7" fmla="*/ 21 h 36"/>
                    <a:gd name="T8" fmla="*/ 9 w 1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6">
                      <a:moveTo>
                        <a:pt x="9" y="0"/>
                      </a:moveTo>
                      <a:lnTo>
                        <a:pt x="0" y="16"/>
                      </a:lnTo>
                      <a:lnTo>
                        <a:pt x="6" y="35"/>
                      </a:lnTo>
                      <a:lnTo>
                        <a:pt x="18" y="21"/>
                      </a:lnTo>
                      <a:lnTo>
                        <a:pt x="9"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Freeform 25">
                  <a:extLst>
                    <a:ext uri="{FF2B5EF4-FFF2-40B4-BE49-F238E27FC236}">
                      <a16:creationId xmlns:a16="http://schemas.microsoft.com/office/drawing/2014/main" id="{271705BB-1E5E-413A-8016-CBA958030120}"/>
                    </a:ext>
                  </a:extLst>
                </p:cNvPr>
                <p:cNvSpPr>
                  <a:spLocks/>
                </p:cNvSpPr>
                <p:nvPr/>
              </p:nvSpPr>
              <p:spPr bwMode="grayWhite">
                <a:xfrm>
                  <a:off x="2923" y="1177"/>
                  <a:ext cx="220" cy="94"/>
                </a:xfrm>
                <a:custGeom>
                  <a:avLst/>
                  <a:gdLst>
                    <a:gd name="T0" fmla="*/ 0 w 220"/>
                    <a:gd name="T1" fmla="*/ 0 h 94"/>
                    <a:gd name="T2" fmla="*/ 33 w 220"/>
                    <a:gd name="T3" fmla="*/ 7 h 94"/>
                    <a:gd name="T4" fmla="*/ 82 w 220"/>
                    <a:gd name="T5" fmla="*/ 41 h 94"/>
                    <a:gd name="T6" fmla="*/ 75 w 220"/>
                    <a:gd name="T7" fmla="*/ 60 h 94"/>
                    <a:gd name="T8" fmla="*/ 115 w 220"/>
                    <a:gd name="T9" fmla="*/ 77 h 94"/>
                    <a:gd name="T10" fmla="*/ 219 w 220"/>
                    <a:gd name="T11" fmla="*/ 77 h 94"/>
                    <a:gd name="T12" fmla="*/ 106 w 220"/>
                    <a:gd name="T13" fmla="*/ 93 h 94"/>
                    <a:gd name="T14" fmla="*/ 75 w 220"/>
                    <a:gd name="T15" fmla="*/ 60 h 94"/>
                    <a:gd name="T16" fmla="*/ 46 w 220"/>
                    <a:gd name="T17" fmla="*/ 54 h 94"/>
                    <a:gd name="T18" fmla="*/ 0 w 220"/>
                    <a:gd name="T19" fmla="*/ 0 h 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0" h="94">
                      <a:moveTo>
                        <a:pt x="0" y="0"/>
                      </a:moveTo>
                      <a:lnTo>
                        <a:pt x="33" y="7"/>
                      </a:lnTo>
                      <a:lnTo>
                        <a:pt x="82" y="41"/>
                      </a:lnTo>
                      <a:lnTo>
                        <a:pt x="75" y="60"/>
                      </a:lnTo>
                      <a:lnTo>
                        <a:pt x="115" y="77"/>
                      </a:lnTo>
                      <a:lnTo>
                        <a:pt x="219" y="77"/>
                      </a:lnTo>
                      <a:lnTo>
                        <a:pt x="106" y="93"/>
                      </a:lnTo>
                      <a:lnTo>
                        <a:pt x="75" y="60"/>
                      </a:lnTo>
                      <a:lnTo>
                        <a:pt x="46" y="54"/>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Freeform 26">
                  <a:extLst>
                    <a:ext uri="{FF2B5EF4-FFF2-40B4-BE49-F238E27FC236}">
                      <a16:creationId xmlns:a16="http://schemas.microsoft.com/office/drawing/2014/main" id="{E968AA58-7679-4671-8AB3-DA86F40D49A4}"/>
                    </a:ext>
                  </a:extLst>
                </p:cNvPr>
                <p:cNvSpPr>
                  <a:spLocks/>
                </p:cNvSpPr>
                <p:nvPr/>
              </p:nvSpPr>
              <p:spPr bwMode="grayWhite">
                <a:xfrm>
                  <a:off x="3098" y="1255"/>
                  <a:ext cx="236" cy="221"/>
                </a:xfrm>
                <a:custGeom>
                  <a:avLst/>
                  <a:gdLst>
                    <a:gd name="T0" fmla="*/ 190 w 236"/>
                    <a:gd name="T1" fmla="*/ 216 h 221"/>
                    <a:gd name="T2" fmla="*/ 179 w 236"/>
                    <a:gd name="T3" fmla="*/ 212 h 221"/>
                    <a:gd name="T4" fmla="*/ 154 w 236"/>
                    <a:gd name="T5" fmla="*/ 187 h 221"/>
                    <a:gd name="T6" fmla="*/ 130 w 236"/>
                    <a:gd name="T7" fmla="*/ 182 h 221"/>
                    <a:gd name="T8" fmla="*/ 124 w 236"/>
                    <a:gd name="T9" fmla="*/ 167 h 221"/>
                    <a:gd name="T10" fmla="*/ 110 w 236"/>
                    <a:gd name="T11" fmla="*/ 155 h 221"/>
                    <a:gd name="T12" fmla="*/ 87 w 236"/>
                    <a:gd name="T13" fmla="*/ 155 h 221"/>
                    <a:gd name="T14" fmla="*/ 62 w 236"/>
                    <a:gd name="T15" fmla="*/ 165 h 221"/>
                    <a:gd name="T16" fmla="*/ 40 w 236"/>
                    <a:gd name="T17" fmla="*/ 169 h 221"/>
                    <a:gd name="T18" fmla="*/ 15 w 236"/>
                    <a:gd name="T19" fmla="*/ 169 h 221"/>
                    <a:gd name="T20" fmla="*/ 14 w 236"/>
                    <a:gd name="T21" fmla="*/ 152 h 221"/>
                    <a:gd name="T22" fmla="*/ 5 w 236"/>
                    <a:gd name="T23" fmla="*/ 127 h 221"/>
                    <a:gd name="T24" fmla="*/ 3 w 236"/>
                    <a:gd name="T25" fmla="*/ 114 h 221"/>
                    <a:gd name="T26" fmla="*/ 3 w 236"/>
                    <a:gd name="T27" fmla="*/ 79 h 221"/>
                    <a:gd name="T28" fmla="*/ 44 w 236"/>
                    <a:gd name="T29" fmla="*/ 60 h 221"/>
                    <a:gd name="T30" fmla="*/ 48 w 236"/>
                    <a:gd name="T31" fmla="*/ 41 h 221"/>
                    <a:gd name="T32" fmla="*/ 57 w 236"/>
                    <a:gd name="T33" fmla="*/ 43 h 221"/>
                    <a:gd name="T34" fmla="*/ 77 w 236"/>
                    <a:gd name="T35" fmla="*/ 22 h 221"/>
                    <a:gd name="T36" fmla="*/ 98 w 236"/>
                    <a:gd name="T37" fmla="*/ 25 h 221"/>
                    <a:gd name="T38" fmla="*/ 113 w 236"/>
                    <a:gd name="T39" fmla="*/ 10 h 221"/>
                    <a:gd name="T40" fmla="*/ 125 w 236"/>
                    <a:gd name="T41" fmla="*/ 8 h 221"/>
                    <a:gd name="T42" fmla="*/ 145 w 236"/>
                    <a:gd name="T43" fmla="*/ 34 h 221"/>
                    <a:gd name="T44" fmla="*/ 163 w 236"/>
                    <a:gd name="T45" fmla="*/ 43 h 221"/>
                    <a:gd name="T46" fmla="*/ 165 w 236"/>
                    <a:gd name="T47" fmla="*/ 16 h 221"/>
                    <a:gd name="T48" fmla="*/ 172 w 236"/>
                    <a:gd name="T49" fmla="*/ 0 h 221"/>
                    <a:gd name="T50" fmla="*/ 185 w 236"/>
                    <a:gd name="T51" fmla="*/ 22 h 221"/>
                    <a:gd name="T52" fmla="*/ 196 w 236"/>
                    <a:gd name="T53" fmla="*/ 60 h 221"/>
                    <a:gd name="T54" fmla="*/ 219 w 236"/>
                    <a:gd name="T55" fmla="*/ 83 h 221"/>
                    <a:gd name="T56" fmla="*/ 232 w 236"/>
                    <a:gd name="T57" fmla="*/ 101 h 221"/>
                    <a:gd name="T58" fmla="*/ 235 w 236"/>
                    <a:gd name="T59" fmla="*/ 133 h 221"/>
                    <a:gd name="T60" fmla="*/ 221 w 236"/>
                    <a:gd name="T61" fmla="*/ 169 h 221"/>
                    <a:gd name="T62" fmla="*/ 217 w 236"/>
                    <a:gd name="T63" fmla="*/ 202 h 221"/>
                    <a:gd name="T64" fmla="*/ 196 w 236"/>
                    <a:gd name="T65" fmla="*/ 215 h 2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36" h="221">
                      <a:moveTo>
                        <a:pt x="196" y="215"/>
                      </a:moveTo>
                      <a:lnTo>
                        <a:pt x="190" y="216"/>
                      </a:lnTo>
                      <a:lnTo>
                        <a:pt x="185" y="220"/>
                      </a:lnTo>
                      <a:lnTo>
                        <a:pt x="179" y="212"/>
                      </a:lnTo>
                      <a:lnTo>
                        <a:pt x="158" y="202"/>
                      </a:lnTo>
                      <a:lnTo>
                        <a:pt x="154" y="187"/>
                      </a:lnTo>
                      <a:lnTo>
                        <a:pt x="147" y="182"/>
                      </a:lnTo>
                      <a:lnTo>
                        <a:pt x="130" y="182"/>
                      </a:lnTo>
                      <a:lnTo>
                        <a:pt x="130" y="170"/>
                      </a:lnTo>
                      <a:lnTo>
                        <a:pt x="124" y="167"/>
                      </a:lnTo>
                      <a:lnTo>
                        <a:pt x="123" y="157"/>
                      </a:lnTo>
                      <a:lnTo>
                        <a:pt x="110" y="155"/>
                      </a:lnTo>
                      <a:lnTo>
                        <a:pt x="98" y="152"/>
                      </a:lnTo>
                      <a:lnTo>
                        <a:pt x="87" y="155"/>
                      </a:lnTo>
                      <a:lnTo>
                        <a:pt x="87" y="157"/>
                      </a:lnTo>
                      <a:lnTo>
                        <a:pt x="62" y="165"/>
                      </a:lnTo>
                      <a:lnTo>
                        <a:pt x="62" y="169"/>
                      </a:lnTo>
                      <a:lnTo>
                        <a:pt x="40" y="169"/>
                      </a:lnTo>
                      <a:lnTo>
                        <a:pt x="28" y="176"/>
                      </a:lnTo>
                      <a:lnTo>
                        <a:pt x="15" y="169"/>
                      </a:lnTo>
                      <a:lnTo>
                        <a:pt x="14" y="167"/>
                      </a:lnTo>
                      <a:lnTo>
                        <a:pt x="14" y="152"/>
                      </a:lnTo>
                      <a:lnTo>
                        <a:pt x="10" y="139"/>
                      </a:lnTo>
                      <a:lnTo>
                        <a:pt x="5" y="127"/>
                      </a:lnTo>
                      <a:lnTo>
                        <a:pt x="8" y="118"/>
                      </a:lnTo>
                      <a:lnTo>
                        <a:pt x="3" y="114"/>
                      </a:lnTo>
                      <a:lnTo>
                        <a:pt x="0" y="93"/>
                      </a:lnTo>
                      <a:lnTo>
                        <a:pt x="3" y="79"/>
                      </a:lnTo>
                      <a:lnTo>
                        <a:pt x="16" y="68"/>
                      </a:lnTo>
                      <a:lnTo>
                        <a:pt x="44" y="60"/>
                      </a:lnTo>
                      <a:lnTo>
                        <a:pt x="51" y="51"/>
                      </a:lnTo>
                      <a:lnTo>
                        <a:pt x="48" y="41"/>
                      </a:lnTo>
                      <a:lnTo>
                        <a:pt x="55" y="38"/>
                      </a:lnTo>
                      <a:lnTo>
                        <a:pt x="57" y="43"/>
                      </a:lnTo>
                      <a:lnTo>
                        <a:pt x="60" y="35"/>
                      </a:lnTo>
                      <a:lnTo>
                        <a:pt x="77" y="22"/>
                      </a:lnTo>
                      <a:lnTo>
                        <a:pt x="87" y="28"/>
                      </a:lnTo>
                      <a:lnTo>
                        <a:pt x="98" y="25"/>
                      </a:lnTo>
                      <a:lnTo>
                        <a:pt x="102" y="13"/>
                      </a:lnTo>
                      <a:lnTo>
                        <a:pt x="113" y="10"/>
                      </a:lnTo>
                      <a:lnTo>
                        <a:pt x="110" y="2"/>
                      </a:lnTo>
                      <a:lnTo>
                        <a:pt x="125" y="8"/>
                      </a:lnTo>
                      <a:lnTo>
                        <a:pt x="138" y="5"/>
                      </a:lnTo>
                      <a:lnTo>
                        <a:pt x="145" y="34"/>
                      </a:lnTo>
                      <a:lnTo>
                        <a:pt x="154" y="43"/>
                      </a:lnTo>
                      <a:lnTo>
                        <a:pt x="163" y="43"/>
                      </a:lnTo>
                      <a:lnTo>
                        <a:pt x="167" y="25"/>
                      </a:lnTo>
                      <a:lnTo>
                        <a:pt x="165" y="16"/>
                      </a:lnTo>
                      <a:lnTo>
                        <a:pt x="167" y="2"/>
                      </a:lnTo>
                      <a:lnTo>
                        <a:pt x="172" y="0"/>
                      </a:lnTo>
                      <a:lnTo>
                        <a:pt x="179" y="18"/>
                      </a:lnTo>
                      <a:lnTo>
                        <a:pt x="185" y="22"/>
                      </a:lnTo>
                      <a:lnTo>
                        <a:pt x="189" y="38"/>
                      </a:lnTo>
                      <a:lnTo>
                        <a:pt x="196" y="60"/>
                      </a:lnTo>
                      <a:lnTo>
                        <a:pt x="206" y="66"/>
                      </a:lnTo>
                      <a:lnTo>
                        <a:pt x="219" y="83"/>
                      </a:lnTo>
                      <a:lnTo>
                        <a:pt x="221" y="91"/>
                      </a:lnTo>
                      <a:lnTo>
                        <a:pt x="232" y="101"/>
                      </a:lnTo>
                      <a:lnTo>
                        <a:pt x="235" y="119"/>
                      </a:lnTo>
                      <a:lnTo>
                        <a:pt x="235" y="133"/>
                      </a:lnTo>
                      <a:lnTo>
                        <a:pt x="232" y="155"/>
                      </a:lnTo>
                      <a:lnTo>
                        <a:pt x="221" y="169"/>
                      </a:lnTo>
                      <a:lnTo>
                        <a:pt x="217" y="187"/>
                      </a:lnTo>
                      <a:lnTo>
                        <a:pt x="217" y="202"/>
                      </a:lnTo>
                      <a:lnTo>
                        <a:pt x="206" y="205"/>
                      </a:lnTo>
                      <a:lnTo>
                        <a:pt x="196" y="2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Freeform 27">
                  <a:extLst>
                    <a:ext uri="{FF2B5EF4-FFF2-40B4-BE49-F238E27FC236}">
                      <a16:creationId xmlns:a16="http://schemas.microsoft.com/office/drawing/2014/main" id="{9FA8B214-18E3-499C-ACB0-6CFB557FF453}"/>
                    </a:ext>
                  </a:extLst>
                </p:cNvPr>
                <p:cNvSpPr>
                  <a:spLocks/>
                </p:cNvSpPr>
                <p:nvPr/>
              </p:nvSpPr>
              <p:spPr bwMode="grayWhite">
                <a:xfrm>
                  <a:off x="3286" y="1488"/>
                  <a:ext cx="18" cy="27"/>
                </a:xfrm>
                <a:custGeom>
                  <a:avLst/>
                  <a:gdLst>
                    <a:gd name="T0" fmla="*/ 9 w 18"/>
                    <a:gd name="T1" fmla="*/ 23 h 27"/>
                    <a:gd name="T2" fmla="*/ 3 w 18"/>
                    <a:gd name="T3" fmla="*/ 19 h 27"/>
                    <a:gd name="T4" fmla="*/ 3 w 18"/>
                    <a:gd name="T5" fmla="*/ 15 h 27"/>
                    <a:gd name="T6" fmla="*/ 3 w 18"/>
                    <a:gd name="T7" fmla="*/ 11 h 27"/>
                    <a:gd name="T8" fmla="*/ 2 w 18"/>
                    <a:gd name="T9" fmla="*/ 7 h 27"/>
                    <a:gd name="T10" fmla="*/ 0 w 18"/>
                    <a:gd name="T11" fmla="*/ 0 h 27"/>
                    <a:gd name="T12" fmla="*/ 3 w 18"/>
                    <a:gd name="T13" fmla="*/ 0 h 27"/>
                    <a:gd name="T14" fmla="*/ 9 w 18"/>
                    <a:gd name="T15" fmla="*/ 4 h 27"/>
                    <a:gd name="T16" fmla="*/ 12 w 18"/>
                    <a:gd name="T17" fmla="*/ 3 h 27"/>
                    <a:gd name="T18" fmla="*/ 13 w 18"/>
                    <a:gd name="T19" fmla="*/ 3 h 27"/>
                    <a:gd name="T20" fmla="*/ 17 w 18"/>
                    <a:gd name="T21" fmla="*/ 0 h 27"/>
                    <a:gd name="T22" fmla="*/ 17 w 18"/>
                    <a:gd name="T23" fmla="*/ 11 h 27"/>
                    <a:gd name="T24" fmla="*/ 15 w 18"/>
                    <a:gd name="T25" fmla="*/ 15 h 27"/>
                    <a:gd name="T26" fmla="*/ 13 w 18"/>
                    <a:gd name="T27" fmla="*/ 19 h 27"/>
                    <a:gd name="T28" fmla="*/ 13 w 18"/>
                    <a:gd name="T29" fmla="*/ 22 h 27"/>
                    <a:gd name="T30" fmla="*/ 12 w 18"/>
                    <a:gd name="T31" fmla="*/ 23 h 27"/>
                    <a:gd name="T32" fmla="*/ 12 w 18"/>
                    <a:gd name="T33" fmla="*/ 26 h 27"/>
                    <a:gd name="T34" fmla="*/ 9 w 18"/>
                    <a:gd name="T35" fmla="*/ 23 h 2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8" h="27">
                      <a:moveTo>
                        <a:pt x="9" y="23"/>
                      </a:moveTo>
                      <a:lnTo>
                        <a:pt x="3" y="19"/>
                      </a:lnTo>
                      <a:lnTo>
                        <a:pt x="3" y="15"/>
                      </a:lnTo>
                      <a:lnTo>
                        <a:pt x="3" y="11"/>
                      </a:lnTo>
                      <a:lnTo>
                        <a:pt x="2" y="7"/>
                      </a:lnTo>
                      <a:lnTo>
                        <a:pt x="0" y="0"/>
                      </a:lnTo>
                      <a:lnTo>
                        <a:pt x="3" y="0"/>
                      </a:lnTo>
                      <a:lnTo>
                        <a:pt x="9" y="4"/>
                      </a:lnTo>
                      <a:lnTo>
                        <a:pt x="12" y="3"/>
                      </a:lnTo>
                      <a:lnTo>
                        <a:pt x="13" y="3"/>
                      </a:lnTo>
                      <a:lnTo>
                        <a:pt x="17" y="0"/>
                      </a:lnTo>
                      <a:lnTo>
                        <a:pt x="17" y="11"/>
                      </a:lnTo>
                      <a:lnTo>
                        <a:pt x="15" y="15"/>
                      </a:lnTo>
                      <a:lnTo>
                        <a:pt x="13" y="19"/>
                      </a:lnTo>
                      <a:lnTo>
                        <a:pt x="13" y="22"/>
                      </a:lnTo>
                      <a:lnTo>
                        <a:pt x="12" y="23"/>
                      </a:lnTo>
                      <a:lnTo>
                        <a:pt x="12" y="26"/>
                      </a:lnTo>
                      <a:lnTo>
                        <a:pt x="9" y="23"/>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Freeform 28">
                  <a:extLst>
                    <a:ext uri="{FF2B5EF4-FFF2-40B4-BE49-F238E27FC236}">
                      <a16:creationId xmlns:a16="http://schemas.microsoft.com/office/drawing/2014/main" id="{4526206C-C170-43D9-BA9F-557397AF086A}"/>
                    </a:ext>
                  </a:extLst>
                </p:cNvPr>
                <p:cNvSpPr>
                  <a:spLocks/>
                </p:cNvSpPr>
                <p:nvPr/>
              </p:nvSpPr>
              <p:spPr bwMode="grayWhite">
                <a:xfrm>
                  <a:off x="2463" y="1235"/>
                  <a:ext cx="26" cy="106"/>
                </a:xfrm>
                <a:custGeom>
                  <a:avLst/>
                  <a:gdLst>
                    <a:gd name="T0" fmla="*/ 3 w 26"/>
                    <a:gd name="T1" fmla="*/ 37 h 106"/>
                    <a:gd name="T2" fmla="*/ 13 w 26"/>
                    <a:gd name="T3" fmla="*/ 28 h 106"/>
                    <a:gd name="T4" fmla="*/ 20 w 26"/>
                    <a:gd name="T5" fmla="*/ 0 h 106"/>
                    <a:gd name="T6" fmla="*/ 25 w 26"/>
                    <a:gd name="T7" fmla="*/ 42 h 106"/>
                    <a:gd name="T8" fmla="*/ 17 w 26"/>
                    <a:gd name="T9" fmla="*/ 94 h 106"/>
                    <a:gd name="T10" fmla="*/ 0 w 26"/>
                    <a:gd name="T11" fmla="*/ 105 h 106"/>
                    <a:gd name="T12" fmla="*/ 0 w 26"/>
                    <a:gd name="T13" fmla="*/ 80 h 106"/>
                    <a:gd name="T14" fmla="*/ 5 w 26"/>
                    <a:gd name="T15" fmla="*/ 64 h 106"/>
                    <a:gd name="T16" fmla="*/ 3 w 26"/>
                    <a:gd name="T17" fmla="*/ 37 h 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 h="106">
                      <a:moveTo>
                        <a:pt x="3" y="37"/>
                      </a:moveTo>
                      <a:lnTo>
                        <a:pt x="13" y="28"/>
                      </a:lnTo>
                      <a:lnTo>
                        <a:pt x="20" y="0"/>
                      </a:lnTo>
                      <a:lnTo>
                        <a:pt x="25" y="42"/>
                      </a:lnTo>
                      <a:lnTo>
                        <a:pt x="17" y="94"/>
                      </a:lnTo>
                      <a:lnTo>
                        <a:pt x="0" y="105"/>
                      </a:lnTo>
                      <a:lnTo>
                        <a:pt x="0" y="80"/>
                      </a:lnTo>
                      <a:lnTo>
                        <a:pt x="5" y="64"/>
                      </a:lnTo>
                      <a:lnTo>
                        <a:pt x="3" y="37"/>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3104" name="Rectangle 32"/>
          <p:cNvSpPr>
            <a:spLocks noGrp="1" noChangeArrowheads="1"/>
          </p:cNvSpPr>
          <p:nvPr>
            <p:ph type="ctrTitle" sz="quarter"/>
          </p:nvPr>
        </p:nvSpPr>
        <p:spPr>
          <a:xfrm>
            <a:off x="685800" y="3429000"/>
            <a:ext cx="7772400" cy="1143000"/>
          </a:xfrm>
        </p:spPr>
        <p:txBody>
          <a:bodyPr/>
          <a:lstStyle>
            <a:lvl1pPr>
              <a:defRPr/>
            </a:lvl1pPr>
          </a:lstStyle>
          <a:p>
            <a:pPr lvl="0"/>
            <a:r>
              <a:rPr lang="en-US" noProof="0"/>
              <a:t>Click to edit Master title style</a:t>
            </a:r>
          </a:p>
        </p:txBody>
      </p:sp>
      <p:sp>
        <p:nvSpPr>
          <p:cNvPr id="3105" name="Rectangle 33"/>
          <p:cNvSpPr>
            <a:spLocks noGrp="1" noChangeArrowheads="1"/>
          </p:cNvSpPr>
          <p:nvPr>
            <p:ph type="subTitle" sz="quarter" idx="1"/>
          </p:nvPr>
        </p:nvSpPr>
        <p:spPr>
          <a:xfrm>
            <a:off x="1371600" y="4648200"/>
            <a:ext cx="6400800" cy="1752600"/>
          </a:xfrm>
        </p:spPr>
        <p:txBody>
          <a:bodyPr anchor="ctr"/>
          <a:lstStyle>
            <a:lvl1pPr marL="0" indent="0" algn="ctr">
              <a:buFont typeface="Monotype Sorts" pitchFamily="2" charset="2"/>
              <a:buNone/>
              <a:defRPr/>
            </a:lvl1pPr>
          </a:lstStyle>
          <a:p>
            <a:pPr lvl="0"/>
            <a:r>
              <a:rPr lang="en-US" noProof="0"/>
              <a:t>Click to edit Master subtitle style</a:t>
            </a:r>
          </a:p>
        </p:txBody>
      </p:sp>
      <p:sp>
        <p:nvSpPr>
          <p:cNvPr id="34" name="Rectangle 34">
            <a:extLst>
              <a:ext uri="{FF2B5EF4-FFF2-40B4-BE49-F238E27FC236}">
                <a16:creationId xmlns:a16="http://schemas.microsoft.com/office/drawing/2014/main" id="{758D59B3-3B66-4930-B156-B0122D2E25BA}"/>
              </a:ext>
            </a:extLst>
          </p:cNvPr>
          <p:cNvSpPr>
            <a:spLocks noGrp="1" noChangeArrowheads="1"/>
          </p:cNvSpPr>
          <p:nvPr>
            <p:ph type="dt" sz="quarter" idx="10"/>
          </p:nvPr>
        </p:nvSpPr>
        <p:spPr/>
        <p:txBody>
          <a:bodyPr/>
          <a:lstStyle>
            <a:lvl1pPr>
              <a:defRPr/>
            </a:lvl1pPr>
          </a:lstStyle>
          <a:p>
            <a:pPr>
              <a:defRPr/>
            </a:pPr>
            <a:endParaRPr lang="en-US"/>
          </a:p>
        </p:txBody>
      </p:sp>
      <p:sp>
        <p:nvSpPr>
          <p:cNvPr id="35" name="Rectangle 35">
            <a:extLst>
              <a:ext uri="{FF2B5EF4-FFF2-40B4-BE49-F238E27FC236}">
                <a16:creationId xmlns:a16="http://schemas.microsoft.com/office/drawing/2014/main" id="{0A55009E-C72C-42E0-AFC6-342B0E870B58}"/>
              </a:ext>
            </a:extLst>
          </p:cNvPr>
          <p:cNvSpPr>
            <a:spLocks noGrp="1" noChangeArrowheads="1"/>
          </p:cNvSpPr>
          <p:nvPr>
            <p:ph type="ftr" sz="quarter" idx="11"/>
          </p:nvPr>
        </p:nvSpPr>
        <p:spPr bwMode="auto">
          <a:xfrm>
            <a:off x="3124200" y="64008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a:defRPr sz="1400"/>
            </a:lvl1pPr>
          </a:lstStyle>
          <a:p>
            <a:pPr>
              <a:defRPr/>
            </a:pPr>
            <a:r>
              <a:rPr lang="en-US"/>
              <a:t>Liang, Introduction to Java Programming, Eleventh Edition, (c) 2017 Pearson Education, Inc. All rights reserved. </a:t>
            </a:r>
          </a:p>
        </p:txBody>
      </p:sp>
      <p:sp>
        <p:nvSpPr>
          <p:cNvPr id="36" name="Rectangle 36">
            <a:extLst>
              <a:ext uri="{FF2B5EF4-FFF2-40B4-BE49-F238E27FC236}">
                <a16:creationId xmlns:a16="http://schemas.microsoft.com/office/drawing/2014/main" id="{5FAC4DFA-E3B4-4E11-90D2-479E62D1A019}"/>
              </a:ext>
            </a:extLst>
          </p:cNvPr>
          <p:cNvSpPr>
            <a:spLocks noGrp="1" noChangeArrowheads="1"/>
          </p:cNvSpPr>
          <p:nvPr>
            <p:ph type="sldNum" sz="quarter" idx="12"/>
          </p:nvPr>
        </p:nvSpPr>
        <p:spPr>
          <a:xfrm>
            <a:off x="6553200" y="6400800"/>
            <a:ext cx="1905000" cy="457200"/>
          </a:xfrm>
        </p:spPr>
        <p:txBody>
          <a:bodyPr/>
          <a:lstStyle>
            <a:lvl1pPr>
              <a:defRPr/>
            </a:lvl1pPr>
          </a:lstStyle>
          <a:p>
            <a:pPr>
              <a:defRPr/>
            </a:pPr>
            <a:fld id="{0FFA49A8-9E53-4443-AA91-F7F41E3E2F58}" type="slidenum">
              <a:rPr lang="en-US" altLang="en-US"/>
              <a:pPr>
                <a:defRPr/>
              </a:pPr>
              <a:t>‹#›</a:t>
            </a:fld>
            <a:endParaRPr lang="en-US" altLang="en-US"/>
          </a:p>
        </p:txBody>
      </p:sp>
    </p:spTree>
    <p:extLst>
      <p:ext uri="{BB962C8B-B14F-4D97-AF65-F5344CB8AC3E}">
        <p14:creationId xmlns:p14="http://schemas.microsoft.com/office/powerpoint/2010/main" val="217572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E8A8169E-94AE-4DCA-BD7F-168E227473B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2DA7C642-04F6-4D66-9DC9-8620BFDD94DF}"/>
              </a:ext>
            </a:extLst>
          </p:cNvPr>
          <p:cNvSpPr>
            <a:spLocks noGrp="1" noChangeArrowheads="1"/>
          </p:cNvSpPr>
          <p:nvPr>
            <p:ph type="sldNum" sz="quarter" idx="11"/>
          </p:nvPr>
        </p:nvSpPr>
        <p:spPr>
          <a:ln/>
        </p:spPr>
        <p:txBody>
          <a:bodyPr/>
          <a:lstStyle>
            <a:lvl1pPr>
              <a:defRPr/>
            </a:lvl1pPr>
          </a:lstStyle>
          <a:p>
            <a:pPr>
              <a:defRPr/>
            </a:pPr>
            <a:fld id="{0906D619-5E3B-4A71-B141-FF8AEF8EAC81}" type="slidenum">
              <a:rPr lang="en-US" altLang="en-US"/>
              <a:pPr>
                <a:defRPr/>
              </a:pPr>
              <a:t>‹#›</a:t>
            </a:fld>
            <a:endParaRPr lang="en-US" altLang="en-US"/>
          </a:p>
        </p:txBody>
      </p:sp>
    </p:spTree>
    <p:extLst>
      <p:ext uri="{BB962C8B-B14F-4D97-AF65-F5344CB8AC3E}">
        <p14:creationId xmlns:p14="http://schemas.microsoft.com/office/powerpoint/2010/main" val="3325919614"/>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32">
            <a:extLst>
              <a:ext uri="{FF2B5EF4-FFF2-40B4-BE49-F238E27FC236}">
                <a16:creationId xmlns:a16="http://schemas.microsoft.com/office/drawing/2014/main" id="{65A155E9-342F-47F8-8FF1-D4186EFCC0A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2391F4EE-F339-4F52-B2DE-A5F92C8389B0}"/>
              </a:ext>
            </a:extLst>
          </p:cNvPr>
          <p:cNvSpPr>
            <a:spLocks noGrp="1" noChangeArrowheads="1"/>
          </p:cNvSpPr>
          <p:nvPr>
            <p:ph type="sldNum" sz="quarter" idx="11"/>
          </p:nvPr>
        </p:nvSpPr>
        <p:spPr>
          <a:ln/>
        </p:spPr>
        <p:txBody>
          <a:bodyPr/>
          <a:lstStyle>
            <a:lvl1pPr>
              <a:defRPr/>
            </a:lvl1pPr>
          </a:lstStyle>
          <a:p>
            <a:pPr>
              <a:defRPr/>
            </a:pPr>
            <a:fld id="{D98C7CFA-49FB-4DA6-BF83-439BB6BB6E77}" type="slidenum">
              <a:rPr lang="en-US" altLang="en-US"/>
              <a:pPr>
                <a:defRPr/>
              </a:pPr>
              <a:t>‹#›</a:t>
            </a:fld>
            <a:endParaRPr lang="en-US" altLang="en-US"/>
          </a:p>
        </p:txBody>
      </p:sp>
    </p:spTree>
    <p:extLst>
      <p:ext uri="{BB962C8B-B14F-4D97-AF65-F5344CB8AC3E}">
        <p14:creationId xmlns:p14="http://schemas.microsoft.com/office/powerpoint/2010/main" val="4026582887"/>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2">
            <a:extLst>
              <a:ext uri="{FF2B5EF4-FFF2-40B4-BE49-F238E27FC236}">
                <a16:creationId xmlns:a16="http://schemas.microsoft.com/office/drawing/2014/main" id="{AC772F7B-C342-44DA-BF78-6F1DF10D19E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CC688218-1058-45F9-A344-5BC1095857FD}"/>
              </a:ext>
            </a:extLst>
          </p:cNvPr>
          <p:cNvSpPr>
            <a:spLocks noGrp="1" noChangeArrowheads="1"/>
          </p:cNvSpPr>
          <p:nvPr>
            <p:ph type="sldNum" sz="quarter" idx="11"/>
          </p:nvPr>
        </p:nvSpPr>
        <p:spPr>
          <a:ln/>
        </p:spPr>
        <p:txBody>
          <a:bodyPr/>
          <a:lstStyle>
            <a:lvl1pPr>
              <a:defRPr/>
            </a:lvl1pPr>
          </a:lstStyle>
          <a:p>
            <a:pPr>
              <a:defRPr/>
            </a:pPr>
            <a:fld id="{DC4522C7-064D-4597-92DA-BE2EA24D2705}" type="slidenum">
              <a:rPr lang="en-US" altLang="en-US"/>
              <a:pPr>
                <a:defRPr/>
              </a:pPr>
              <a:t>‹#›</a:t>
            </a:fld>
            <a:endParaRPr lang="en-US" altLang="en-US"/>
          </a:p>
        </p:txBody>
      </p:sp>
    </p:spTree>
    <p:extLst>
      <p:ext uri="{BB962C8B-B14F-4D97-AF65-F5344CB8AC3E}">
        <p14:creationId xmlns:p14="http://schemas.microsoft.com/office/powerpoint/2010/main" val="68777789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2">
            <a:extLst>
              <a:ext uri="{FF2B5EF4-FFF2-40B4-BE49-F238E27FC236}">
                <a16:creationId xmlns:a16="http://schemas.microsoft.com/office/drawing/2014/main" id="{0D18BDDD-E946-4DEA-94BD-190EB33EEC19}"/>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34">
            <a:extLst>
              <a:ext uri="{FF2B5EF4-FFF2-40B4-BE49-F238E27FC236}">
                <a16:creationId xmlns:a16="http://schemas.microsoft.com/office/drawing/2014/main" id="{0D1D6174-60C0-429D-935D-FF592601B8B8}"/>
              </a:ext>
            </a:extLst>
          </p:cNvPr>
          <p:cNvSpPr>
            <a:spLocks noGrp="1" noChangeArrowheads="1"/>
          </p:cNvSpPr>
          <p:nvPr>
            <p:ph type="sldNum" sz="quarter" idx="11"/>
          </p:nvPr>
        </p:nvSpPr>
        <p:spPr>
          <a:ln/>
        </p:spPr>
        <p:txBody>
          <a:bodyPr/>
          <a:lstStyle>
            <a:lvl1pPr>
              <a:defRPr/>
            </a:lvl1pPr>
          </a:lstStyle>
          <a:p>
            <a:pPr>
              <a:defRPr/>
            </a:pPr>
            <a:fld id="{EAB2BD9F-27F9-4ECF-ADB1-CF744B02F1B7}" type="slidenum">
              <a:rPr lang="en-US" altLang="en-US"/>
              <a:pPr>
                <a:defRPr/>
              </a:pPr>
              <a:t>‹#›</a:t>
            </a:fld>
            <a:endParaRPr lang="en-US" altLang="en-US"/>
          </a:p>
        </p:txBody>
      </p:sp>
    </p:spTree>
    <p:extLst>
      <p:ext uri="{BB962C8B-B14F-4D97-AF65-F5344CB8AC3E}">
        <p14:creationId xmlns:p14="http://schemas.microsoft.com/office/powerpoint/2010/main" val="1980438781"/>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2">
            <a:extLst>
              <a:ext uri="{FF2B5EF4-FFF2-40B4-BE49-F238E27FC236}">
                <a16:creationId xmlns:a16="http://schemas.microsoft.com/office/drawing/2014/main" id="{4FAEDDB5-DC06-4A5F-B2CC-EC52A1843DFD}"/>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34">
            <a:extLst>
              <a:ext uri="{FF2B5EF4-FFF2-40B4-BE49-F238E27FC236}">
                <a16:creationId xmlns:a16="http://schemas.microsoft.com/office/drawing/2014/main" id="{3993D7BF-36EB-4706-BC75-53998459C72F}"/>
              </a:ext>
            </a:extLst>
          </p:cNvPr>
          <p:cNvSpPr>
            <a:spLocks noGrp="1" noChangeArrowheads="1"/>
          </p:cNvSpPr>
          <p:nvPr>
            <p:ph type="sldNum" sz="quarter" idx="11"/>
          </p:nvPr>
        </p:nvSpPr>
        <p:spPr>
          <a:ln/>
        </p:spPr>
        <p:txBody>
          <a:bodyPr/>
          <a:lstStyle>
            <a:lvl1pPr>
              <a:defRPr/>
            </a:lvl1pPr>
          </a:lstStyle>
          <a:p>
            <a:pPr>
              <a:defRPr/>
            </a:pPr>
            <a:fld id="{95A45041-5117-4AE5-B521-B5965DCFCC6F}" type="slidenum">
              <a:rPr lang="en-US" altLang="en-US"/>
              <a:pPr>
                <a:defRPr/>
              </a:pPr>
              <a:t>‹#›</a:t>
            </a:fld>
            <a:endParaRPr lang="en-US" altLang="en-US"/>
          </a:p>
        </p:txBody>
      </p:sp>
    </p:spTree>
    <p:extLst>
      <p:ext uri="{BB962C8B-B14F-4D97-AF65-F5344CB8AC3E}">
        <p14:creationId xmlns:p14="http://schemas.microsoft.com/office/powerpoint/2010/main" val="2138886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32">
            <a:extLst>
              <a:ext uri="{FF2B5EF4-FFF2-40B4-BE49-F238E27FC236}">
                <a16:creationId xmlns:a16="http://schemas.microsoft.com/office/drawing/2014/main" id="{98A881D9-4A0A-4A1F-B18C-271CB1142F7E}"/>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34">
            <a:extLst>
              <a:ext uri="{FF2B5EF4-FFF2-40B4-BE49-F238E27FC236}">
                <a16:creationId xmlns:a16="http://schemas.microsoft.com/office/drawing/2014/main" id="{C9ED9D51-0529-42A3-B803-23AFB9F492D0}"/>
              </a:ext>
            </a:extLst>
          </p:cNvPr>
          <p:cNvSpPr>
            <a:spLocks noGrp="1" noChangeArrowheads="1"/>
          </p:cNvSpPr>
          <p:nvPr>
            <p:ph type="sldNum" sz="quarter" idx="11"/>
          </p:nvPr>
        </p:nvSpPr>
        <p:spPr>
          <a:ln/>
        </p:spPr>
        <p:txBody>
          <a:bodyPr/>
          <a:lstStyle>
            <a:lvl1pPr>
              <a:defRPr/>
            </a:lvl1pPr>
          </a:lstStyle>
          <a:p>
            <a:pPr>
              <a:defRPr/>
            </a:pPr>
            <a:fld id="{8439656F-EB8A-4E12-BE88-3E9DA95DEFB4}" type="slidenum">
              <a:rPr lang="en-US" altLang="en-US"/>
              <a:pPr>
                <a:defRPr/>
              </a:pPr>
              <a:t>‹#›</a:t>
            </a:fld>
            <a:endParaRPr lang="en-US" altLang="en-US"/>
          </a:p>
        </p:txBody>
      </p:sp>
    </p:spTree>
    <p:extLst>
      <p:ext uri="{BB962C8B-B14F-4D97-AF65-F5344CB8AC3E}">
        <p14:creationId xmlns:p14="http://schemas.microsoft.com/office/powerpoint/2010/main" val="591447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25B8C0AC-4A6E-4710-8CE5-F3B8D519CB9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AC76C17A-9ACD-4DDE-BF4F-EE2BB3294C15}"/>
              </a:ext>
            </a:extLst>
          </p:cNvPr>
          <p:cNvSpPr>
            <a:spLocks noGrp="1" noChangeArrowheads="1"/>
          </p:cNvSpPr>
          <p:nvPr>
            <p:ph type="sldNum" sz="quarter" idx="11"/>
          </p:nvPr>
        </p:nvSpPr>
        <p:spPr>
          <a:ln/>
        </p:spPr>
        <p:txBody>
          <a:bodyPr/>
          <a:lstStyle>
            <a:lvl1pPr>
              <a:defRPr/>
            </a:lvl1pPr>
          </a:lstStyle>
          <a:p>
            <a:pPr>
              <a:defRPr/>
            </a:pPr>
            <a:fld id="{70143609-18A7-429D-8F65-EB3855A27E1F}" type="slidenum">
              <a:rPr lang="en-US" altLang="en-US"/>
              <a:pPr>
                <a:defRPr/>
              </a:pPr>
              <a:t>‹#›</a:t>
            </a:fld>
            <a:endParaRPr lang="en-US" altLang="en-US"/>
          </a:p>
        </p:txBody>
      </p:sp>
    </p:spTree>
    <p:extLst>
      <p:ext uri="{BB962C8B-B14F-4D97-AF65-F5344CB8AC3E}">
        <p14:creationId xmlns:p14="http://schemas.microsoft.com/office/powerpoint/2010/main" val="1313931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F13A3754-681E-4236-8E4E-8C42D16EC65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5DE6419C-3A43-49FA-9360-7C21A4FA349C}"/>
              </a:ext>
            </a:extLst>
          </p:cNvPr>
          <p:cNvSpPr>
            <a:spLocks noGrp="1" noChangeArrowheads="1"/>
          </p:cNvSpPr>
          <p:nvPr>
            <p:ph type="sldNum" sz="quarter" idx="11"/>
          </p:nvPr>
        </p:nvSpPr>
        <p:spPr>
          <a:ln/>
        </p:spPr>
        <p:txBody>
          <a:bodyPr/>
          <a:lstStyle>
            <a:lvl1pPr>
              <a:defRPr/>
            </a:lvl1pPr>
          </a:lstStyle>
          <a:p>
            <a:pPr>
              <a:defRPr/>
            </a:pPr>
            <a:fld id="{B137C831-5145-4827-AE72-52C0F481500F}" type="slidenum">
              <a:rPr lang="en-US" altLang="en-US"/>
              <a:pPr>
                <a:defRPr/>
              </a:pPr>
              <a:t>‹#›</a:t>
            </a:fld>
            <a:endParaRPr lang="en-US" altLang="en-US"/>
          </a:p>
        </p:txBody>
      </p:sp>
    </p:spTree>
    <p:extLst>
      <p:ext uri="{BB962C8B-B14F-4D97-AF65-F5344CB8AC3E}">
        <p14:creationId xmlns:p14="http://schemas.microsoft.com/office/powerpoint/2010/main" val="14947245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912C04E0-674D-4951-9344-086A491161D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023A9B7A-FC03-4D63-974D-5DCE8F721E4D}"/>
              </a:ext>
            </a:extLst>
          </p:cNvPr>
          <p:cNvSpPr>
            <a:spLocks noGrp="1" noChangeArrowheads="1"/>
          </p:cNvSpPr>
          <p:nvPr>
            <p:ph type="sldNum" sz="quarter" idx="11"/>
          </p:nvPr>
        </p:nvSpPr>
        <p:spPr>
          <a:ln/>
        </p:spPr>
        <p:txBody>
          <a:bodyPr/>
          <a:lstStyle>
            <a:lvl1pPr>
              <a:defRPr/>
            </a:lvl1pPr>
          </a:lstStyle>
          <a:p>
            <a:pPr>
              <a:defRPr/>
            </a:pPr>
            <a:fld id="{EB2673A0-41D9-4F71-B41C-365766C28AF9}" type="slidenum">
              <a:rPr lang="en-US" altLang="en-US"/>
              <a:pPr>
                <a:defRPr/>
              </a:pPr>
              <a:t>‹#›</a:t>
            </a:fld>
            <a:endParaRPr lang="en-US" altLang="en-US"/>
          </a:p>
        </p:txBody>
      </p:sp>
    </p:spTree>
    <p:extLst>
      <p:ext uri="{BB962C8B-B14F-4D97-AF65-F5344CB8AC3E}">
        <p14:creationId xmlns:p14="http://schemas.microsoft.com/office/powerpoint/2010/main" val="1669871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8575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28575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0D19763B-65C7-4AB4-8A4E-FA748D6FEC3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0599CCCC-2A43-47C9-8C73-A8C9DB5F3D55}"/>
              </a:ext>
            </a:extLst>
          </p:cNvPr>
          <p:cNvSpPr>
            <a:spLocks noGrp="1" noChangeArrowheads="1"/>
          </p:cNvSpPr>
          <p:nvPr>
            <p:ph type="sldNum" sz="quarter" idx="11"/>
          </p:nvPr>
        </p:nvSpPr>
        <p:spPr>
          <a:ln/>
        </p:spPr>
        <p:txBody>
          <a:bodyPr/>
          <a:lstStyle>
            <a:lvl1pPr>
              <a:defRPr/>
            </a:lvl1pPr>
          </a:lstStyle>
          <a:p>
            <a:pPr>
              <a:defRPr/>
            </a:pPr>
            <a:fld id="{B4F9237C-CDB2-44C7-9C25-7C67A23DC10B}" type="slidenum">
              <a:rPr lang="en-US" altLang="en-US"/>
              <a:pPr>
                <a:defRPr/>
              </a:pPr>
              <a:t>‹#›</a:t>
            </a:fld>
            <a:endParaRPr lang="en-US" altLang="en-US"/>
          </a:p>
        </p:txBody>
      </p:sp>
    </p:spTree>
    <p:extLst>
      <p:ext uri="{BB962C8B-B14F-4D97-AF65-F5344CB8AC3E}">
        <p14:creationId xmlns:p14="http://schemas.microsoft.com/office/powerpoint/2010/main" val="10743351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8575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2">
            <a:extLst>
              <a:ext uri="{FF2B5EF4-FFF2-40B4-BE49-F238E27FC236}">
                <a16:creationId xmlns:a16="http://schemas.microsoft.com/office/drawing/2014/main" id="{BDAEF5B7-0C3D-4928-8DBB-6ECA3087C7E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BF9A023D-9309-417F-B79A-67931F45DF7D}"/>
              </a:ext>
            </a:extLst>
          </p:cNvPr>
          <p:cNvSpPr>
            <a:spLocks noGrp="1" noChangeArrowheads="1"/>
          </p:cNvSpPr>
          <p:nvPr>
            <p:ph type="sldNum" sz="quarter" idx="11"/>
          </p:nvPr>
        </p:nvSpPr>
        <p:spPr>
          <a:ln/>
        </p:spPr>
        <p:txBody>
          <a:bodyPr/>
          <a:lstStyle>
            <a:lvl1pPr>
              <a:defRPr/>
            </a:lvl1pPr>
          </a:lstStyle>
          <a:p>
            <a:pPr>
              <a:defRPr/>
            </a:pPr>
            <a:fld id="{A2C3E332-5531-4DD4-BBF4-2B2A5DB5E44C}" type="slidenum">
              <a:rPr lang="en-US" altLang="en-US"/>
              <a:pPr>
                <a:defRPr/>
              </a:pPr>
              <a:t>‹#›</a:t>
            </a:fld>
            <a:endParaRPr lang="en-US" altLang="en-US"/>
          </a:p>
        </p:txBody>
      </p:sp>
    </p:spTree>
    <p:extLst>
      <p:ext uri="{BB962C8B-B14F-4D97-AF65-F5344CB8AC3E}">
        <p14:creationId xmlns:p14="http://schemas.microsoft.com/office/powerpoint/2010/main" val="523242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9">
            <a:extLst>
              <a:ext uri="{FF2B5EF4-FFF2-40B4-BE49-F238E27FC236}">
                <a16:creationId xmlns:a16="http://schemas.microsoft.com/office/drawing/2014/main" id="{C6EF7614-187E-48B1-B81E-CECD2E3CFCB6}"/>
              </a:ext>
            </a:extLst>
          </p:cNvPr>
          <p:cNvGrpSpPr>
            <a:grpSpLocks/>
          </p:cNvGrpSpPr>
          <p:nvPr/>
        </p:nvGrpSpPr>
        <p:grpSpPr bwMode="auto">
          <a:xfrm>
            <a:off x="0" y="4367213"/>
            <a:ext cx="9131300" cy="2478087"/>
            <a:chOff x="0" y="2751"/>
            <a:chExt cx="5752" cy="1561"/>
          </a:xfrm>
        </p:grpSpPr>
        <p:sp>
          <p:nvSpPr>
            <p:cNvPr id="1032" name="Rectangle 2">
              <a:extLst>
                <a:ext uri="{FF2B5EF4-FFF2-40B4-BE49-F238E27FC236}">
                  <a16:creationId xmlns:a16="http://schemas.microsoft.com/office/drawing/2014/main" id="{C1130668-53B4-4146-86E8-1A2D8B76B241}"/>
                </a:ext>
              </a:extLst>
            </p:cNvPr>
            <p:cNvSpPr>
              <a:spLocks noChangeArrowheads="1"/>
            </p:cNvSpPr>
            <p:nvPr/>
          </p:nvSpPr>
          <p:spPr bwMode="hidden">
            <a:xfrm>
              <a:off x="0" y="4080"/>
              <a:ext cx="5752" cy="232"/>
            </a:xfrm>
            <a:prstGeom prst="rect">
              <a:avLst/>
            </a:prstGeom>
            <a:gradFill rotWithShape="0">
              <a:gsLst>
                <a:gs pos="0">
                  <a:schemeClr val="bg1"/>
                </a:gs>
                <a:gs pos="100000">
                  <a:schemeClr val="hlink"/>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33" name="Group 28">
              <a:extLst>
                <a:ext uri="{FF2B5EF4-FFF2-40B4-BE49-F238E27FC236}">
                  <a16:creationId xmlns:a16="http://schemas.microsoft.com/office/drawing/2014/main" id="{6A65350D-4D7C-4E77-B104-CD9A4E3D7F66}"/>
                </a:ext>
              </a:extLst>
            </p:cNvPr>
            <p:cNvGrpSpPr>
              <a:grpSpLocks/>
            </p:cNvGrpSpPr>
            <p:nvPr/>
          </p:nvGrpSpPr>
          <p:grpSpPr bwMode="auto">
            <a:xfrm>
              <a:off x="4458" y="2751"/>
              <a:ext cx="1190" cy="1426"/>
              <a:chOff x="4458" y="2751"/>
              <a:chExt cx="1190" cy="1426"/>
            </a:xfrm>
          </p:grpSpPr>
          <p:sp>
            <p:nvSpPr>
              <p:cNvPr id="1034" name="Freeform 3">
                <a:extLst>
                  <a:ext uri="{FF2B5EF4-FFF2-40B4-BE49-F238E27FC236}">
                    <a16:creationId xmlns:a16="http://schemas.microsoft.com/office/drawing/2014/main" id="{A4EC7983-7BA7-4342-B890-547FB29E5923}"/>
                  </a:ext>
                </a:extLst>
              </p:cNvPr>
              <p:cNvSpPr>
                <a:spLocks/>
              </p:cNvSpPr>
              <p:nvPr/>
            </p:nvSpPr>
            <p:spPr bwMode="ltGray">
              <a:xfrm>
                <a:off x="4614" y="2790"/>
                <a:ext cx="1034" cy="1273"/>
              </a:xfrm>
              <a:custGeom>
                <a:avLst/>
                <a:gdLst>
                  <a:gd name="T0" fmla="*/ 646 w 1034"/>
                  <a:gd name="T1" fmla="*/ 23 h 1273"/>
                  <a:gd name="T2" fmla="*/ 765 w 1034"/>
                  <a:gd name="T3" fmla="*/ 92 h 1273"/>
                  <a:gd name="T4" fmla="*/ 866 w 1034"/>
                  <a:gd name="T5" fmla="*/ 184 h 1273"/>
                  <a:gd name="T6" fmla="*/ 944 w 1034"/>
                  <a:gd name="T7" fmla="*/ 294 h 1273"/>
                  <a:gd name="T8" fmla="*/ 1000 w 1034"/>
                  <a:gd name="T9" fmla="*/ 417 h 1273"/>
                  <a:gd name="T10" fmla="*/ 1030 w 1034"/>
                  <a:gd name="T11" fmla="*/ 550 h 1273"/>
                  <a:gd name="T12" fmla="*/ 1030 w 1034"/>
                  <a:gd name="T13" fmla="*/ 688 h 1273"/>
                  <a:gd name="T14" fmla="*/ 1000 w 1034"/>
                  <a:gd name="T15" fmla="*/ 821 h 1273"/>
                  <a:gd name="T16" fmla="*/ 944 w 1034"/>
                  <a:gd name="T17" fmla="*/ 944 h 1273"/>
                  <a:gd name="T18" fmla="*/ 866 w 1034"/>
                  <a:gd name="T19" fmla="*/ 1055 h 1273"/>
                  <a:gd name="T20" fmla="*/ 765 w 1034"/>
                  <a:gd name="T21" fmla="*/ 1148 h 1273"/>
                  <a:gd name="T22" fmla="*/ 646 w 1034"/>
                  <a:gd name="T23" fmla="*/ 1215 h 1273"/>
                  <a:gd name="T24" fmla="*/ 517 w 1034"/>
                  <a:gd name="T25" fmla="*/ 1257 h 1273"/>
                  <a:gd name="T26" fmla="*/ 382 w 1034"/>
                  <a:gd name="T27" fmla="*/ 1272 h 1273"/>
                  <a:gd name="T28" fmla="*/ 246 w 1034"/>
                  <a:gd name="T29" fmla="*/ 1257 h 1273"/>
                  <a:gd name="T30" fmla="*/ 118 w 1034"/>
                  <a:gd name="T31" fmla="*/ 1215 h 1273"/>
                  <a:gd name="T32" fmla="*/ 0 w 1034"/>
                  <a:gd name="T33" fmla="*/ 1148 h 1273"/>
                  <a:gd name="T34" fmla="*/ 89 w 1034"/>
                  <a:gd name="T35" fmla="*/ 1129 h 1273"/>
                  <a:gd name="T36" fmla="*/ 201 w 1034"/>
                  <a:gd name="T37" fmla="*/ 1179 h 1273"/>
                  <a:gd name="T38" fmla="*/ 320 w 1034"/>
                  <a:gd name="T39" fmla="*/ 1204 h 1273"/>
                  <a:gd name="T40" fmla="*/ 443 w 1034"/>
                  <a:gd name="T41" fmla="*/ 1204 h 1273"/>
                  <a:gd name="T42" fmla="*/ 563 w 1034"/>
                  <a:gd name="T43" fmla="*/ 1179 h 1273"/>
                  <a:gd name="T44" fmla="*/ 675 w 1034"/>
                  <a:gd name="T45" fmla="*/ 1129 h 1273"/>
                  <a:gd name="T46" fmla="*/ 775 w 1034"/>
                  <a:gd name="T47" fmla="*/ 1057 h 1273"/>
                  <a:gd name="T48" fmla="*/ 857 w 1034"/>
                  <a:gd name="T49" fmla="*/ 965 h 1273"/>
                  <a:gd name="T50" fmla="*/ 919 w 1034"/>
                  <a:gd name="T51" fmla="*/ 858 h 1273"/>
                  <a:gd name="T52" fmla="*/ 956 w 1034"/>
                  <a:gd name="T53" fmla="*/ 742 h 1273"/>
                  <a:gd name="T54" fmla="*/ 969 w 1034"/>
                  <a:gd name="T55" fmla="*/ 619 h 1273"/>
                  <a:gd name="T56" fmla="*/ 956 w 1034"/>
                  <a:gd name="T57" fmla="*/ 496 h 1273"/>
                  <a:gd name="T58" fmla="*/ 919 w 1034"/>
                  <a:gd name="T59" fmla="*/ 381 h 1273"/>
                  <a:gd name="T60" fmla="*/ 857 w 1034"/>
                  <a:gd name="T61" fmla="*/ 273 h 1273"/>
                  <a:gd name="T62" fmla="*/ 775 w 1034"/>
                  <a:gd name="T63" fmla="*/ 182 h 1273"/>
                  <a:gd name="T64" fmla="*/ 675 w 1034"/>
                  <a:gd name="T65" fmla="*/ 110 h 1273"/>
                  <a:gd name="T66" fmla="*/ 563 w 1034"/>
                  <a:gd name="T67" fmla="*/ 61 h 1273"/>
                  <a:gd name="T68" fmla="*/ 582 w 1034"/>
                  <a:gd name="T69" fmla="*/ 0 h 127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034" h="1273">
                    <a:moveTo>
                      <a:pt x="582" y="0"/>
                    </a:moveTo>
                    <a:lnTo>
                      <a:pt x="646" y="23"/>
                    </a:lnTo>
                    <a:lnTo>
                      <a:pt x="707" y="56"/>
                    </a:lnTo>
                    <a:lnTo>
                      <a:pt x="765" y="92"/>
                    </a:lnTo>
                    <a:lnTo>
                      <a:pt x="818" y="134"/>
                    </a:lnTo>
                    <a:lnTo>
                      <a:pt x="866" y="184"/>
                    </a:lnTo>
                    <a:lnTo>
                      <a:pt x="908" y="237"/>
                    </a:lnTo>
                    <a:lnTo>
                      <a:pt x="944" y="294"/>
                    </a:lnTo>
                    <a:lnTo>
                      <a:pt x="977" y="353"/>
                    </a:lnTo>
                    <a:lnTo>
                      <a:pt x="1000" y="417"/>
                    </a:lnTo>
                    <a:lnTo>
                      <a:pt x="1018" y="483"/>
                    </a:lnTo>
                    <a:lnTo>
                      <a:pt x="1030" y="550"/>
                    </a:lnTo>
                    <a:lnTo>
                      <a:pt x="1033" y="619"/>
                    </a:lnTo>
                    <a:lnTo>
                      <a:pt x="1030" y="688"/>
                    </a:lnTo>
                    <a:lnTo>
                      <a:pt x="1018" y="756"/>
                    </a:lnTo>
                    <a:lnTo>
                      <a:pt x="1000" y="821"/>
                    </a:lnTo>
                    <a:lnTo>
                      <a:pt x="977" y="884"/>
                    </a:lnTo>
                    <a:lnTo>
                      <a:pt x="944" y="944"/>
                    </a:lnTo>
                    <a:lnTo>
                      <a:pt x="908" y="1003"/>
                    </a:lnTo>
                    <a:lnTo>
                      <a:pt x="866" y="1055"/>
                    </a:lnTo>
                    <a:lnTo>
                      <a:pt x="818" y="1105"/>
                    </a:lnTo>
                    <a:lnTo>
                      <a:pt x="765" y="1148"/>
                    </a:lnTo>
                    <a:lnTo>
                      <a:pt x="707" y="1183"/>
                    </a:lnTo>
                    <a:lnTo>
                      <a:pt x="646" y="1215"/>
                    </a:lnTo>
                    <a:lnTo>
                      <a:pt x="582" y="1239"/>
                    </a:lnTo>
                    <a:lnTo>
                      <a:pt x="517" y="1257"/>
                    </a:lnTo>
                    <a:lnTo>
                      <a:pt x="450" y="1269"/>
                    </a:lnTo>
                    <a:lnTo>
                      <a:pt x="382" y="1272"/>
                    </a:lnTo>
                    <a:lnTo>
                      <a:pt x="313" y="1269"/>
                    </a:lnTo>
                    <a:lnTo>
                      <a:pt x="246" y="1257"/>
                    </a:lnTo>
                    <a:lnTo>
                      <a:pt x="180" y="1239"/>
                    </a:lnTo>
                    <a:lnTo>
                      <a:pt x="118" y="1215"/>
                    </a:lnTo>
                    <a:lnTo>
                      <a:pt x="57" y="1183"/>
                    </a:lnTo>
                    <a:lnTo>
                      <a:pt x="0" y="1148"/>
                    </a:lnTo>
                    <a:lnTo>
                      <a:pt x="36" y="1095"/>
                    </a:lnTo>
                    <a:lnTo>
                      <a:pt x="89" y="1129"/>
                    </a:lnTo>
                    <a:lnTo>
                      <a:pt x="144" y="1156"/>
                    </a:lnTo>
                    <a:lnTo>
                      <a:pt x="201" y="1179"/>
                    </a:lnTo>
                    <a:lnTo>
                      <a:pt x="261" y="1195"/>
                    </a:lnTo>
                    <a:lnTo>
                      <a:pt x="320" y="1204"/>
                    </a:lnTo>
                    <a:lnTo>
                      <a:pt x="382" y="1208"/>
                    </a:lnTo>
                    <a:lnTo>
                      <a:pt x="443" y="1204"/>
                    </a:lnTo>
                    <a:lnTo>
                      <a:pt x="504" y="1195"/>
                    </a:lnTo>
                    <a:lnTo>
                      <a:pt x="563" y="1179"/>
                    </a:lnTo>
                    <a:lnTo>
                      <a:pt x="621" y="1156"/>
                    </a:lnTo>
                    <a:lnTo>
                      <a:pt x="675" y="1129"/>
                    </a:lnTo>
                    <a:lnTo>
                      <a:pt x="727" y="1095"/>
                    </a:lnTo>
                    <a:lnTo>
                      <a:pt x="775" y="1057"/>
                    </a:lnTo>
                    <a:lnTo>
                      <a:pt x="818" y="1013"/>
                    </a:lnTo>
                    <a:lnTo>
                      <a:pt x="857" y="965"/>
                    </a:lnTo>
                    <a:lnTo>
                      <a:pt x="890" y="913"/>
                    </a:lnTo>
                    <a:lnTo>
                      <a:pt x="919" y="858"/>
                    </a:lnTo>
                    <a:lnTo>
                      <a:pt x="941" y="802"/>
                    </a:lnTo>
                    <a:lnTo>
                      <a:pt x="956" y="742"/>
                    </a:lnTo>
                    <a:lnTo>
                      <a:pt x="965" y="680"/>
                    </a:lnTo>
                    <a:lnTo>
                      <a:pt x="969" y="619"/>
                    </a:lnTo>
                    <a:lnTo>
                      <a:pt x="965" y="557"/>
                    </a:lnTo>
                    <a:lnTo>
                      <a:pt x="956" y="496"/>
                    </a:lnTo>
                    <a:lnTo>
                      <a:pt x="941" y="437"/>
                    </a:lnTo>
                    <a:lnTo>
                      <a:pt x="919" y="381"/>
                    </a:lnTo>
                    <a:lnTo>
                      <a:pt x="890" y="325"/>
                    </a:lnTo>
                    <a:lnTo>
                      <a:pt x="857" y="273"/>
                    </a:lnTo>
                    <a:lnTo>
                      <a:pt x="818" y="225"/>
                    </a:lnTo>
                    <a:lnTo>
                      <a:pt x="775" y="182"/>
                    </a:lnTo>
                    <a:lnTo>
                      <a:pt x="727" y="144"/>
                    </a:lnTo>
                    <a:lnTo>
                      <a:pt x="675" y="110"/>
                    </a:lnTo>
                    <a:lnTo>
                      <a:pt x="621" y="81"/>
                    </a:lnTo>
                    <a:lnTo>
                      <a:pt x="563" y="61"/>
                    </a:lnTo>
                    <a:lnTo>
                      <a:pt x="565" y="56"/>
                    </a:lnTo>
                    <a:lnTo>
                      <a:pt x="58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5" name="Line 4">
                <a:extLst>
                  <a:ext uri="{FF2B5EF4-FFF2-40B4-BE49-F238E27FC236}">
                    <a16:creationId xmlns:a16="http://schemas.microsoft.com/office/drawing/2014/main" id="{F2BE1CC4-A4D7-4F7E-9E43-F5D529B17093}"/>
                  </a:ext>
                </a:extLst>
              </p:cNvPr>
              <p:cNvSpPr>
                <a:spLocks noChangeShapeType="1"/>
              </p:cNvSpPr>
              <p:nvPr/>
            </p:nvSpPr>
            <p:spPr bwMode="ltGray">
              <a:xfrm flipV="1">
                <a:off x="4639" y="3863"/>
                <a:ext cx="103" cy="186"/>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6" name="Line 5">
                <a:extLst>
                  <a:ext uri="{FF2B5EF4-FFF2-40B4-BE49-F238E27FC236}">
                    <a16:creationId xmlns:a16="http://schemas.microsoft.com/office/drawing/2014/main" id="{3105F500-51F1-4983-A223-54B7DFAB3734}"/>
                  </a:ext>
                </a:extLst>
              </p:cNvPr>
              <p:cNvSpPr>
                <a:spLocks noChangeShapeType="1"/>
              </p:cNvSpPr>
              <p:nvPr/>
            </p:nvSpPr>
            <p:spPr bwMode="ltGray">
              <a:xfrm flipV="1">
                <a:off x="5210" y="2874"/>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7" name="Line 6">
                <a:extLst>
                  <a:ext uri="{FF2B5EF4-FFF2-40B4-BE49-F238E27FC236}">
                    <a16:creationId xmlns:a16="http://schemas.microsoft.com/office/drawing/2014/main" id="{8F678FAE-FF9B-4667-B070-BB1D54A54D34}"/>
                  </a:ext>
                </a:extLst>
              </p:cNvPr>
              <p:cNvSpPr>
                <a:spLocks noChangeShapeType="1"/>
              </p:cNvSpPr>
              <p:nvPr/>
            </p:nvSpPr>
            <p:spPr bwMode="ltGray">
              <a:xfrm flipV="1">
                <a:off x="5270" y="2751"/>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8" name="Freeform 7">
                <a:extLst>
                  <a:ext uri="{FF2B5EF4-FFF2-40B4-BE49-F238E27FC236}">
                    <a16:creationId xmlns:a16="http://schemas.microsoft.com/office/drawing/2014/main" id="{BECA4E27-CC34-4AF8-BEAB-0D02F9881B1F}"/>
                  </a:ext>
                </a:extLst>
              </p:cNvPr>
              <p:cNvSpPr>
                <a:spLocks/>
              </p:cNvSpPr>
              <p:nvPr/>
            </p:nvSpPr>
            <p:spPr bwMode="ltGray">
              <a:xfrm>
                <a:off x="4753" y="4067"/>
                <a:ext cx="604" cy="110"/>
              </a:xfrm>
              <a:custGeom>
                <a:avLst/>
                <a:gdLst>
                  <a:gd name="T0" fmla="*/ 2 w 604"/>
                  <a:gd name="T1" fmla="*/ 70 h 110"/>
                  <a:gd name="T2" fmla="*/ 14 w 604"/>
                  <a:gd name="T3" fmla="*/ 57 h 110"/>
                  <a:gd name="T4" fmla="*/ 31 w 604"/>
                  <a:gd name="T5" fmla="*/ 46 h 110"/>
                  <a:gd name="T6" fmla="*/ 63 w 604"/>
                  <a:gd name="T7" fmla="*/ 30 h 110"/>
                  <a:gd name="T8" fmla="*/ 100 w 604"/>
                  <a:gd name="T9" fmla="*/ 21 h 110"/>
                  <a:gd name="T10" fmla="*/ 134 w 604"/>
                  <a:gd name="T11" fmla="*/ 13 h 110"/>
                  <a:gd name="T12" fmla="*/ 181 w 604"/>
                  <a:gd name="T13" fmla="*/ 6 h 110"/>
                  <a:gd name="T14" fmla="*/ 225 w 604"/>
                  <a:gd name="T15" fmla="*/ 2 h 110"/>
                  <a:gd name="T16" fmla="*/ 277 w 604"/>
                  <a:gd name="T17" fmla="*/ 0 h 110"/>
                  <a:gd name="T18" fmla="*/ 340 w 604"/>
                  <a:gd name="T19" fmla="*/ 0 h 110"/>
                  <a:gd name="T20" fmla="*/ 407 w 604"/>
                  <a:gd name="T21" fmla="*/ 4 h 110"/>
                  <a:gd name="T22" fmla="*/ 453 w 604"/>
                  <a:gd name="T23" fmla="*/ 10 h 110"/>
                  <a:gd name="T24" fmla="*/ 502 w 604"/>
                  <a:gd name="T25" fmla="*/ 19 h 110"/>
                  <a:gd name="T26" fmla="*/ 549 w 604"/>
                  <a:gd name="T27" fmla="*/ 33 h 110"/>
                  <a:gd name="T28" fmla="*/ 573 w 604"/>
                  <a:gd name="T29" fmla="*/ 47 h 110"/>
                  <a:gd name="T30" fmla="*/ 588 w 604"/>
                  <a:gd name="T31" fmla="*/ 58 h 110"/>
                  <a:gd name="T32" fmla="*/ 603 w 604"/>
                  <a:gd name="T33" fmla="*/ 77 h 110"/>
                  <a:gd name="T34" fmla="*/ 578 w 604"/>
                  <a:gd name="T35" fmla="*/ 87 h 110"/>
                  <a:gd name="T36" fmla="*/ 536 w 604"/>
                  <a:gd name="T37" fmla="*/ 95 h 110"/>
                  <a:gd name="T38" fmla="*/ 485 w 604"/>
                  <a:gd name="T39" fmla="*/ 101 h 110"/>
                  <a:gd name="T40" fmla="*/ 436 w 604"/>
                  <a:gd name="T41" fmla="*/ 106 h 110"/>
                  <a:gd name="T42" fmla="*/ 377 w 604"/>
                  <a:gd name="T43" fmla="*/ 108 h 110"/>
                  <a:gd name="T44" fmla="*/ 313 w 604"/>
                  <a:gd name="T45" fmla="*/ 109 h 110"/>
                  <a:gd name="T46" fmla="*/ 252 w 604"/>
                  <a:gd name="T47" fmla="*/ 109 h 110"/>
                  <a:gd name="T48" fmla="*/ 188 w 604"/>
                  <a:gd name="T49" fmla="*/ 108 h 110"/>
                  <a:gd name="T50" fmla="*/ 117 w 604"/>
                  <a:gd name="T51" fmla="*/ 102 h 110"/>
                  <a:gd name="T52" fmla="*/ 61 w 604"/>
                  <a:gd name="T53" fmla="*/ 96 h 110"/>
                  <a:gd name="T54" fmla="*/ 14 w 604"/>
                  <a:gd name="T55" fmla="*/ 86 h 110"/>
                  <a:gd name="T56" fmla="*/ 0 w 604"/>
                  <a:gd name="T57" fmla="*/ 78 h 110"/>
                  <a:gd name="T58" fmla="*/ 2 w 604"/>
                  <a:gd name="T59" fmla="*/ 7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604" h="110">
                    <a:moveTo>
                      <a:pt x="2" y="70"/>
                    </a:moveTo>
                    <a:lnTo>
                      <a:pt x="14" y="57"/>
                    </a:lnTo>
                    <a:lnTo>
                      <a:pt x="31" y="46"/>
                    </a:lnTo>
                    <a:lnTo>
                      <a:pt x="63" y="30"/>
                    </a:lnTo>
                    <a:lnTo>
                      <a:pt x="100" y="21"/>
                    </a:lnTo>
                    <a:lnTo>
                      <a:pt x="134" y="13"/>
                    </a:lnTo>
                    <a:lnTo>
                      <a:pt x="181" y="6"/>
                    </a:lnTo>
                    <a:lnTo>
                      <a:pt x="225" y="2"/>
                    </a:lnTo>
                    <a:lnTo>
                      <a:pt x="277" y="0"/>
                    </a:lnTo>
                    <a:lnTo>
                      <a:pt x="340" y="0"/>
                    </a:lnTo>
                    <a:lnTo>
                      <a:pt x="407" y="4"/>
                    </a:lnTo>
                    <a:lnTo>
                      <a:pt x="453" y="10"/>
                    </a:lnTo>
                    <a:lnTo>
                      <a:pt x="502" y="19"/>
                    </a:lnTo>
                    <a:lnTo>
                      <a:pt x="549" y="33"/>
                    </a:lnTo>
                    <a:lnTo>
                      <a:pt x="573" y="47"/>
                    </a:lnTo>
                    <a:lnTo>
                      <a:pt x="588" y="58"/>
                    </a:lnTo>
                    <a:lnTo>
                      <a:pt x="603" y="77"/>
                    </a:lnTo>
                    <a:lnTo>
                      <a:pt x="578" y="87"/>
                    </a:lnTo>
                    <a:lnTo>
                      <a:pt x="536" y="95"/>
                    </a:lnTo>
                    <a:lnTo>
                      <a:pt x="485" y="101"/>
                    </a:lnTo>
                    <a:lnTo>
                      <a:pt x="436" y="106"/>
                    </a:lnTo>
                    <a:lnTo>
                      <a:pt x="377" y="108"/>
                    </a:lnTo>
                    <a:lnTo>
                      <a:pt x="313" y="109"/>
                    </a:lnTo>
                    <a:lnTo>
                      <a:pt x="252" y="109"/>
                    </a:lnTo>
                    <a:lnTo>
                      <a:pt x="188" y="108"/>
                    </a:lnTo>
                    <a:lnTo>
                      <a:pt x="117" y="102"/>
                    </a:lnTo>
                    <a:lnTo>
                      <a:pt x="61" y="96"/>
                    </a:lnTo>
                    <a:lnTo>
                      <a:pt x="14" y="86"/>
                    </a:lnTo>
                    <a:lnTo>
                      <a:pt x="0" y="78"/>
                    </a:lnTo>
                    <a:lnTo>
                      <a:pt x="2" y="70"/>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9" name="Oval 8">
                <a:extLst>
                  <a:ext uri="{FF2B5EF4-FFF2-40B4-BE49-F238E27FC236}">
                    <a16:creationId xmlns:a16="http://schemas.microsoft.com/office/drawing/2014/main" id="{73C19F92-E25D-4450-9A5B-E89192388F04}"/>
                  </a:ext>
                </a:extLst>
              </p:cNvPr>
              <p:cNvSpPr>
                <a:spLocks noChangeArrowheads="1"/>
              </p:cNvSpPr>
              <p:nvPr/>
            </p:nvSpPr>
            <p:spPr bwMode="grayWhite">
              <a:xfrm>
                <a:off x="4458" y="2879"/>
                <a:ext cx="1074" cy="1073"/>
              </a:xfrm>
              <a:prstGeom prst="ellipse">
                <a:avLst/>
              </a:pr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40" name="Group 27">
                <a:extLst>
                  <a:ext uri="{FF2B5EF4-FFF2-40B4-BE49-F238E27FC236}">
                    <a16:creationId xmlns:a16="http://schemas.microsoft.com/office/drawing/2014/main" id="{DFA4DFC9-38DB-4B09-8946-D71CB0DBD754}"/>
                  </a:ext>
                </a:extLst>
              </p:cNvPr>
              <p:cNvGrpSpPr>
                <a:grpSpLocks/>
              </p:cNvGrpSpPr>
              <p:nvPr/>
            </p:nvGrpSpPr>
            <p:grpSpPr bwMode="auto">
              <a:xfrm>
                <a:off x="4458" y="2991"/>
                <a:ext cx="999" cy="797"/>
                <a:chOff x="4458" y="2991"/>
                <a:chExt cx="999" cy="797"/>
              </a:xfrm>
            </p:grpSpPr>
            <p:sp>
              <p:nvSpPr>
                <p:cNvPr id="1041" name="Freeform 9">
                  <a:extLst>
                    <a:ext uri="{FF2B5EF4-FFF2-40B4-BE49-F238E27FC236}">
                      <a16:creationId xmlns:a16="http://schemas.microsoft.com/office/drawing/2014/main" id="{01219F58-92BC-4711-B294-5B678BC0E39C}"/>
                    </a:ext>
                  </a:extLst>
                </p:cNvPr>
                <p:cNvSpPr>
                  <a:spLocks/>
                </p:cNvSpPr>
                <p:nvPr/>
              </p:nvSpPr>
              <p:spPr bwMode="grayWhite">
                <a:xfrm>
                  <a:off x="4599" y="3283"/>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2" name="Freeform 10">
                  <a:extLst>
                    <a:ext uri="{FF2B5EF4-FFF2-40B4-BE49-F238E27FC236}">
                      <a16:creationId xmlns:a16="http://schemas.microsoft.com/office/drawing/2014/main" id="{809FE66C-DE5A-4BFF-8FE7-5772DA8FEDC8}"/>
                    </a:ext>
                  </a:extLst>
                </p:cNvPr>
                <p:cNvSpPr>
                  <a:spLocks/>
                </p:cNvSpPr>
                <p:nvPr/>
              </p:nvSpPr>
              <p:spPr bwMode="grayWhite">
                <a:xfrm>
                  <a:off x="4616" y="3305"/>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3" name="Freeform 11">
                  <a:extLst>
                    <a:ext uri="{FF2B5EF4-FFF2-40B4-BE49-F238E27FC236}">
                      <a16:creationId xmlns:a16="http://schemas.microsoft.com/office/drawing/2014/main" id="{3FFA03DD-2715-472E-BBCB-2F83DF81354D}"/>
                    </a:ext>
                  </a:extLst>
                </p:cNvPr>
                <p:cNvSpPr>
                  <a:spLocks/>
                </p:cNvSpPr>
                <p:nvPr/>
              </p:nvSpPr>
              <p:spPr bwMode="grayWhite">
                <a:xfrm>
                  <a:off x="4674" y="3275"/>
                  <a:ext cx="37" cy="35"/>
                </a:xfrm>
                <a:custGeom>
                  <a:avLst/>
                  <a:gdLst>
                    <a:gd name="T0" fmla="*/ 36 w 37"/>
                    <a:gd name="T1" fmla="*/ 0 h 35"/>
                    <a:gd name="T2" fmla="*/ 22 w 37"/>
                    <a:gd name="T3" fmla="*/ 0 h 35"/>
                    <a:gd name="T4" fmla="*/ 14 w 37"/>
                    <a:gd name="T5" fmla="*/ 9 h 35"/>
                    <a:gd name="T6" fmla="*/ 9 w 37"/>
                    <a:gd name="T7" fmla="*/ 9 h 35"/>
                    <a:gd name="T8" fmla="*/ 5 w 37"/>
                    <a:gd name="T9" fmla="*/ 13 h 35"/>
                    <a:gd name="T10" fmla="*/ 0 w 37"/>
                    <a:gd name="T11" fmla="*/ 13 h 35"/>
                    <a:gd name="T12" fmla="*/ 0 w 37"/>
                    <a:gd name="T13" fmla="*/ 25 h 35"/>
                    <a:gd name="T14" fmla="*/ 8 w 37"/>
                    <a:gd name="T15" fmla="*/ 34 h 35"/>
                    <a:gd name="T16" fmla="*/ 29 w 37"/>
                    <a:gd name="T17" fmla="*/ 34 h 35"/>
                    <a:gd name="T18" fmla="*/ 36 w 37"/>
                    <a:gd name="T19" fmla="*/ 25 h 35"/>
                    <a:gd name="T20" fmla="*/ 36 w 37"/>
                    <a:gd name="T21" fmla="*/ 0 h 3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 h="35">
                      <a:moveTo>
                        <a:pt x="36" y="0"/>
                      </a:moveTo>
                      <a:lnTo>
                        <a:pt x="22" y="0"/>
                      </a:lnTo>
                      <a:lnTo>
                        <a:pt x="14" y="9"/>
                      </a:lnTo>
                      <a:lnTo>
                        <a:pt x="9" y="9"/>
                      </a:lnTo>
                      <a:lnTo>
                        <a:pt x="5" y="13"/>
                      </a:lnTo>
                      <a:lnTo>
                        <a:pt x="0" y="13"/>
                      </a:lnTo>
                      <a:lnTo>
                        <a:pt x="0" y="25"/>
                      </a:lnTo>
                      <a:lnTo>
                        <a:pt x="8" y="34"/>
                      </a:lnTo>
                      <a:lnTo>
                        <a:pt x="29" y="34"/>
                      </a:lnTo>
                      <a:lnTo>
                        <a:pt x="36" y="25"/>
                      </a:lnTo>
                      <a:lnTo>
                        <a:pt x="3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4" name="Freeform 12">
                  <a:extLst>
                    <a:ext uri="{FF2B5EF4-FFF2-40B4-BE49-F238E27FC236}">
                      <a16:creationId xmlns:a16="http://schemas.microsoft.com/office/drawing/2014/main" id="{E8C1FA03-2837-4979-BEEB-DDA967EAB8D0}"/>
                    </a:ext>
                  </a:extLst>
                </p:cNvPr>
                <p:cNvSpPr>
                  <a:spLocks/>
                </p:cNvSpPr>
                <p:nvPr/>
              </p:nvSpPr>
              <p:spPr bwMode="grayWhite">
                <a:xfrm>
                  <a:off x="4458" y="3303"/>
                  <a:ext cx="324" cy="422"/>
                </a:xfrm>
                <a:custGeom>
                  <a:avLst/>
                  <a:gdLst>
                    <a:gd name="T0" fmla="*/ 76 w 324"/>
                    <a:gd name="T1" fmla="*/ 0 h 422"/>
                    <a:gd name="T2" fmla="*/ 71 w 324"/>
                    <a:gd name="T3" fmla="*/ 11 h 422"/>
                    <a:gd name="T4" fmla="*/ 45 w 324"/>
                    <a:gd name="T5" fmla="*/ 33 h 422"/>
                    <a:gd name="T6" fmla="*/ 40 w 324"/>
                    <a:gd name="T7" fmla="*/ 53 h 422"/>
                    <a:gd name="T8" fmla="*/ 21 w 324"/>
                    <a:gd name="T9" fmla="*/ 68 h 422"/>
                    <a:gd name="T10" fmla="*/ 8 w 324"/>
                    <a:gd name="T11" fmla="*/ 96 h 422"/>
                    <a:gd name="T12" fmla="*/ 8 w 324"/>
                    <a:gd name="T13" fmla="*/ 114 h 422"/>
                    <a:gd name="T14" fmla="*/ 0 w 324"/>
                    <a:gd name="T15" fmla="*/ 144 h 422"/>
                    <a:gd name="T16" fmla="*/ 11 w 324"/>
                    <a:gd name="T17" fmla="*/ 157 h 422"/>
                    <a:gd name="T18" fmla="*/ 40 w 324"/>
                    <a:gd name="T19" fmla="*/ 195 h 422"/>
                    <a:gd name="T20" fmla="*/ 48 w 324"/>
                    <a:gd name="T21" fmla="*/ 190 h 422"/>
                    <a:gd name="T22" fmla="*/ 99 w 324"/>
                    <a:gd name="T23" fmla="*/ 190 h 422"/>
                    <a:gd name="T24" fmla="*/ 123 w 324"/>
                    <a:gd name="T25" fmla="*/ 199 h 422"/>
                    <a:gd name="T26" fmla="*/ 121 w 324"/>
                    <a:gd name="T27" fmla="*/ 229 h 422"/>
                    <a:gd name="T28" fmla="*/ 138 w 324"/>
                    <a:gd name="T29" fmla="*/ 268 h 422"/>
                    <a:gd name="T30" fmla="*/ 137 w 324"/>
                    <a:gd name="T31" fmla="*/ 279 h 422"/>
                    <a:gd name="T32" fmla="*/ 144 w 324"/>
                    <a:gd name="T33" fmla="*/ 291 h 422"/>
                    <a:gd name="T34" fmla="*/ 133 w 324"/>
                    <a:gd name="T35" fmla="*/ 319 h 422"/>
                    <a:gd name="T36" fmla="*/ 146 w 324"/>
                    <a:gd name="T37" fmla="*/ 354 h 422"/>
                    <a:gd name="T38" fmla="*/ 153 w 324"/>
                    <a:gd name="T39" fmla="*/ 382 h 422"/>
                    <a:gd name="T40" fmla="*/ 162 w 324"/>
                    <a:gd name="T41" fmla="*/ 399 h 422"/>
                    <a:gd name="T42" fmla="*/ 171 w 324"/>
                    <a:gd name="T43" fmla="*/ 421 h 422"/>
                    <a:gd name="T44" fmla="*/ 188 w 324"/>
                    <a:gd name="T45" fmla="*/ 418 h 422"/>
                    <a:gd name="T46" fmla="*/ 216 w 324"/>
                    <a:gd name="T47" fmla="*/ 402 h 422"/>
                    <a:gd name="T48" fmla="*/ 229 w 324"/>
                    <a:gd name="T49" fmla="*/ 382 h 422"/>
                    <a:gd name="T50" fmla="*/ 228 w 324"/>
                    <a:gd name="T51" fmla="*/ 369 h 422"/>
                    <a:gd name="T52" fmla="*/ 245 w 324"/>
                    <a:gd name="T53" fmla="*/ 359 h 422"/>
                    <a:gd name="T54" fmla="*/ 242 w 324"/>
                    <a:gd name="T55" fmla="*/ 340 h 422"/>
                    <a:gd name="T56" fmla="*/ 267 w 324"/>
                    <a:gd name="T57" fmla="*/ 310 h 422"/>
                    <a:gd name="T58" fmla="*/ 271 w 324"/>
                    <a:gd name="T59" fmla="*/ 285 h 422"/>
                    <a:gd name="T60" fmla="*/ 264 w 324"/>
                    <a:gd name="T61" fmla="*/ 277 h 422"/>
                    <a:gd name="T62" fmla="*/ 267 w 324"/>
                    <a:gd name="T63" fmla="*/ 267 h 422"/>
                    <a:gd name="T64" fmla="*/ 261 w 324"/>
                    <a:gd name="T65" fmla="*/ 258 h 422"/>
                    <a:gd name="T66" fmla="*/ 280 w 324"/>
                    <a:gd name="T67" fmla="*/ 234 h 422"/>
                    <a:gd name="T68" fmla="*/ 280 w 324"/>
                    <a:gd name="T69" fmla="*/ 222 h 422"/>
                    <a:gd name="T70" fmla="*/ 306 w 324"/>
                    <a:gd name="T71" fmla="*/ 202 h 422"/>
                    <a:gd name="T72" fmla="*/ 323 w 324"/>
                    <a:gd name="T73" fmla="*/ 148 h 422"/>
                    <a:gd name="T74" fmla="*/ 299 w 324"/>
                    <a:gd name="T75" fmla="*/ 162 h 422"/>
                    <a:gd name="T76" fmla="*/ 278 w 324"/>
                    <a:gd name="T77" fmla="*/ 156 h 422"/>
                    <a:gd name="T78" fmla="*/ 281 w 324"/>
                    <a:gd name="T79" fmla="*/ 143 h 422"/>
                    <a:gd name="T80" fmla="*/ 260 w 324"/>
                    <a:gd name="T81" fmla="*/ 129 h 422"/>
                    <a:gd name="T82" fmla="*/ 250 w 324"/>
                    <a:gd name="T83" fmla="*/ 94 h 422"/>
                    <a:gd name="T84" fmla="*/ 230 w 324"/>
                    <a:gd name="T85" fmla="*/ 66 h 422"/>
                    <a:gd name="T86" fmla="*/ 230 w 324"/>
                    <a:gd name="T87" fmla="*/ 47 h 422"/>
                    <a:gd name="T88" fmla="*/ 219 w 324"/>
                    <a:gd name="T89" fmla="*/ 46 h 422"/>
                    <a:gd name="T90" fmla="*/ 212 w 324"/>
                    <a:gd name="T91" fmla="*/ 49 h 422"/>
                    <a:gd name="T92" fmla="*/ 182 w 324"/>
                    <a:gd name="T93" fmla="*/ 38 h 422"/>
                    <a:gd name="T94" fmla="*/ 174 w 324"/>
                    <a:gd name="T95" fmla="*/ 46 h 422"/>
                    <a:gd name="T96" fmla="*/ 167 w 324"/>
                    <a:gd name="T97" fmla="*/ 56 h 422"/>
                    <a:gd name="T98" fmla="*/ 151 w 324"/>
                    <a:gd name="T99" fmla="*/ 38 h 422"/>
                    <a:gd name="T100" fmla="*/ 135 w 324"/>
                    <a:gd name="T101" fmla="*/ 33 h 422"/>
                    <a:gd name="T102" fmla="*/ 134 w 324"/>
                    <a:gd name="T103" fmla="*/ 10 h 422"/>
                    <a:gd name="T104" fmla="*/ 111 w 324"/>
                    <a:gd name="T105" fmla="*/ 14 h 422"/>
                    <a:gd name="T106" fmla="*/ 96 w 324"/>
                    <a:gd name="T107" fmla="*/ 9 h 422"/>
                    <a:gd name="T108" fmla="*/ 76 w 324"/>
                    <a:gd name="T109" fmla="*/ 0 h 42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24" h="422">
                      <a:moveTo>
                        <a:pt x="76" y="0"/>
                      </a:moveTo>
                      <a:lnTo>
                        <a:pt x="71" y="11"/>
                      </a:lnTo>
                      <a:lnTo>
                        <a:pt x="45" y="33"/>
                      </a:lnTo>
                      <a:lnTo>
                        <a:pt x="40" y="53"/>
                      </a:lnTo>
                      <a:lnTo>
                        <a:pt x="21" y="68"/>
                      </a:lnTo>
                      <a:lnTo>
                        <a:pt x="8" y="96"/>
                      </a:lnTo>
                      <a:lnTo>
                        <a:pt x="8" y="114"/>
                      </a:lnTo>
                      <a:lnTo>
                        <a:pt x="0" y="144"/>
                      </a:lnTo>
                      <a:lnTo>
                        <a:pt x="11" y="157"/>
                      </a:lnTo>
                      <a:lnTo>
                        <a:pt x="40" y="195"/>
                      </a:lnTo>
                      <a:lnTo>
                        <a:pt x="48" y="190"/>
                      </a:lnTo>
                      <a:lnTo>
                        <a:pt x="99" y="190"/>
                      </a:lnTo>
                      <a:lnTo>
                        <a:pt x="123" y="199"/>
                      </a:lnTo>
                      <a:lnTo>
                        <a:pt x="121" y="229"/>
                      </a:lnTo>
                      <a:lnTo>
                        <a:pt x="138" y="268"/>
                      </a:lnTo>
                      <a:lnTo>
                        <a:pt x="137" y="279"/>
                      </a:lnTo>
                      <a:lnTo>
                        <a:pt x="144" y="291"/>
                      </a:lnTo>
                      <a:lnTo>
                        <a:pt x="133" y="319"/>
                      </a:lnTo>
                      <a:lnTo>
                        <a:pt x="146" y="354"/>
                      </a:lnTo>
                      <a:lnTo>
                        <a:pt x="153" y="382"/>
                      </a:lnTo>
                      <a:lnTo>
                        <a:pt x="162" y="399"/>
                      </a:lnTo>
                      <a:lnTo>
                        <a:pt x="171" y="421"/>
                      </a:lnTo>
                      <a:lnTo>
                        <a:pt x="188" y="418"/>
                      </a:lnTo>
                      <a:lnTo>
                        <a:pt x="216" y="402"/>
                      </a:lnTo>
                      <a:lnTo>
                        <a:pt x="229" y="382"/>
                      </a:lnTo>
                      <a:lnTo>
                        <a:pt x="228" y="369"/>
                      </a:lnTo>
                      <a:lnTo>
                        <a:pt x="245" y="359"/>
                      </a:lnTo>
                      <a:lnTo>
                        <a:pt x="242" y="340"/>
                      </a:lnTo>
                      <a:lnTo>
                        <a:pt x="267" y="310"/>
                      </a:lnTo>
                      <a:lnTo>
                        <a:pt x="271" y="285"/>
                      </a:lnTo>
                      <a:lnTo>
                        <a:pt x="264" y="277"/>
                      </a:lnTo>
                      <a:lnTo>
                        <a:pt x="267" y="267"/>
                      </a:lnTo>
                      <a:lnTo>
                        <a:pt x="261" y="258"/>
                      </a:lnTo>
                      <a:lnTo>
                        <a:pt x="280" y="234"/>
                      </a:lnTo>
                      <a:lnTo>
                        <a:pt x="280" y="222"/>
                      </a:lnTo>
                      <a:lnTo>
                        <a:pt x="306" y="202"/>
                      </a:lnTo>
                      <a:lnTo>
                        <a:pt x="323" y="148"/>
                      </a:lnTo>
                      <a:lnTo>
                        <a:pt x="299" y="162"/>
                      </a:lnTo>
                      <a:lnTo>
                        <a:pt x="278" y="156"/>
                      </a:lnTo>
                      <a:lnTo>
                        <a:pt x="281" y="143"/>
                      </a:lnTo>
                      <a:lnTo>
                        <a:pt x="260" y="129"/>
                      </a:lnTo>
                      <a:lnTo>
                        <a:pt x="250" y="94"/>
                      </a:lnTo>
                      <a:lnTo>
                        <a:pt x="230" y="66"/>
                      </a:lnTo>
                      <a:lnTo>
                        <a:pt x="230" y="47"/>
                      </a:lnTo>
                      <a:lnTo>
                        <a:pt x="219" y="46"/>
                      </a:lnTo>
                      <a:lnTo>
                        <a:pt x="212" y="49"/>
                      </a:lnTo>
                      <a:lnTo>
                        <a:pt x="182" y="38"/>
                      </a:lnTo>
                      <a:lnTo>
                        <a:pt x="174" y="46"/>
                      </a:lnTo>
                      <a:lnTo>
                        <a:pt x="167" y="56"/>
                      </a:lnTo>
                      <a:lnTo>
                        <a:pt x="151" y="38"/>
                      </a:lnTo>
                      <a:lnTo>
                        <a:pt x="135" y="33"/>
                      </a:lnTo>
                      <a:lnTo>
                        <a:pt x="134" y="10"/>
                      </a:lnTo>
                      <a:lnTo>
                        <a:pt x="111" y="14"/>
                      </a:lnTo>
                      <a:lnTo>
                        <a:pt x="96" y="9"/>
                      </a:lnTo>
                      <a:lnTo>
                        <a:pt x="7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5" name="Freeform 13">
                  <a:extLst>
                    <a:ext uri="{FF2B5EF4-FFF2-40B4-BE49-F238E27FC236}">
                      <a16:creationId xmlns:a16="http://schemas.microsoft.com/office/drawing/2014/main" id="{F2216319-09D3-4582-AB25-BDBC131B97FD}"/>
                    </a:ext>
                  </a:extLst>
                </p:cNvPr>
                <p:cNvSpPr>
                  <a:spLocks/>
                </p:cNvSpPr>
                <p:nvPr/>
              </p:nvSpPr>
              <p:spPr bwMode="grayWhite">
                <a:xfrm>
                  <a:off x="5205" y="3408"/>
                  <a:ext cx="17" cy="21"/>
                </a:xfrm>
                <a:custGeom>
                  <a:avLst/>
                  <a:gdLst>
                    <a:gd name="T0" fmla="*/ 7 w 17"/>
                    <a:gd name="T1" fmla="*/ 0 h 21"/>
                    <a:gd name="T2" fmla="*/ 9 w 17"/>
                    <a:gd name="T3" fmla="*/ 5 h 21"/>
                    <a:gd name="T4" fmla="*/ 7 w 17"/>
                    <a:gd name="T5" fmla="*/ 10 h 21"/>
                    <a:gd name="T6" fmla="*/ 7 w 17"/>
                    <a:gd name="T7" fmla="*/ 14 h 21"/>
                    <a:gd name="T8" fmla="*/ 16 w 17"/>
                    <a:gd name="T9" fmla="*/ 17 h 21"/>
                    <a:gd name="T10" fmla="*/ 16 w 17"/>
                    <a:gd name="T11" fmla="*/ 20 h 21"/>
                    <a:gd name="T12" fmla="*/ 9 w 17"/>
                    <a:gd name="T13" fmla="*/ 17 h 21"/>
                    <a:gd name="T14" fmla="*/ 3 w 17"/>
                    <a:gd name="T15" fmla="*/ 20 h 21"/>
                    <a:gd name="T16" fmla="*/ 0 w 17"/>
                    <a:gd name="T17" fmla="*/ 17 h 21"/>
                    <a:gd name="T18" fmla="*/ 3 w 17"/>
                    <a:gd name="T19" fmla="*/ 14 h 21"/>
                    <a:gd name="T20" fmla="*/ 0 w 17"/>
                    <a:gd name="T21" fmla="*/ 10 h 21"/>
                    <a:gd name="T22" fmla="*/ 3 w 17"/>
                    <a:gd name="T23" fmla="*/ 2 h 21"/>
                    <a:gd name="T24" fmla="*/ 7 w 17"/>
                    <a:gd name="T25" fmla="*/ 0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1">
                      <a:moveTo>
                        <a:pt x="7" y="0"/>
                      </a:moveTo>
                      <a:lnTo>
                        <a:pt x="9" y="5"/>
                      </a:lnTo>
                      <a:lnTo>
                        <a:pt x="7" y="10"/>
                      </a:lnTo>
                      <a:lnTo>
                        <a:pt x="7" y="14"/>
                      </a:lnTo>
                      <a:lnTo>
                        <a:pt x="16" y="17"/>
                      </a:lnTo>
                      <a:lnTo>
                        <a:pt x="16" y="20"/>
                      </a:lnTo>
                      <a:lnTo>
                        <a:pt x="9" y="17"/>
                      </a:lnTo>
                      <a:lnTo>
                        <a:pt x="3" y="20"/>
                      </a:lnTo>
                      <a:lnTo>
                        <a:pt x="0" y="17"/>
                      </a:lnTo>
                      <a:lnTo>
                        <a:pt x="3" y="14"/>
                      </a:lnTo>
                      <a:lnTo>
                        <a:pt x="0" y="10"/>
                      </a:lnTo>
                      <a:lnTo>
                        <a:pt x="3" y="2"/>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6" name="Freeform 14">
                  <a:extLst>
                    <a:ext uri="{FF2B5EF4-FFF2-40B4-BE49-F238E27FC236}">
                      <a16:creationId xmlns:a16="http://schemas.microsoft.com/office/drawing/2014/main" id="{E217D94A-274B-4AE8-9FE8-9BA985AA9404}"/>
                    </a:ext>
                  </a:extLst>
                </p:cNvPr>
                <p:cNvSpPr>
                  <a:spLocks/>
                </p:cNvSpPr>
                <p:nvPr/>
              </p:nvSpPr>
              <p:spPr bwMode="grayWhite">
                <a:xfrm>
                  <a:off x="5144" y="3496"/>
                  <a:ext cx="49" cy="70"/>
                </a:xfrm>
                <a:custGeom>
                  <a:avLst/>
                  <a:gdLst>
                    <a:gd name="T0" fmla="*/ 0 w 49"/>
                    <a:gd name="T1" fmla="*/ 34 h 70"/>
                    <a:gd name="T2" fmla="*/ 17 w 49"/>
                    <a:gd name="T3" fmla="*/ 34 h 70"/>
                    <a:gd name="T4" fmla="*/ 37 w 49"/>
                    <a:gd name="T5" fmla="*/ 0 h 70"/>
                    <a:gd name="T6" fmla="*/ 48 w 49"/>
                    <a:gd name="T7" fmla="*/ 20 h 70"/>
                    <a:gd name="T8" fmla="*/ 39 w 49"/>
                    <a:gd name="T9" fmla="*/ 69 h 70"/>
                    <a:gd name="T10" fmla="*/ 3 w 49"/>
                    <a:gd name="T11" fmla="*/ 57 h 70"/>
                    <a:gd name="T12" fmla="*/ 0 w 49"/>
                    <a:gd name="T13" fmla="*/ 34 h 7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70">
                      <a:moveTo>
                        <a:pt x="0" y="34"/>
                      </a:moveTo>
                      <a:lnTo>
                        <a:pt x="17" y="34"/>
                      </a:lnTo>
                      <a:lnTo>
                        <a:pt x="37" y="0"/>
                      </a:lnTo>
                      <a:lnTo>
                        <a:pt x="48" y="20"/>
                      </a:lnTo>
                      <a:lnTo>
                        <a:pt x="39" y="69"/>
                      </a:lnTo>
                      <a:lnTo>
                        <a:pt x="3" y="57"/>
                      </a:lnTo>
                      <a:lnTo>
                        <a:pt x="0" y="3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7" name="Freeform 15">
                  <a:extLst>
                    <a:ext uri="{FF2B5EF4-FFF2-40B4-BE49-F238E27FC236}">
                      <a16:creationId xmlns:a16="http://schemas.microsoft.com/office/drawing/2014/main" id="{CFEC5AA4-BE18-4BAC-8F27-20C3A51E6E32}"/>
                    </a:ext>
                  </a:extLst>
                </p:cNvPr>
                <p:cNvSpPr>
                  <a:spLocks/>
                </p:cNvSpPr>
                <p:nvPr/>
              </p:nvSpPr>
              <p:spPr bwMode="grayWhite">
                <a:xfrm>
                  <a:off x="5241" y="3523"/>
                  <a:ext cx="84" cy="67"/>
                </a:xfrm>
                <a:custGeom>
                  <a:avLst/>
                  <a:gdLst>
                    <a:gd name="T0" fmla="*/ 5 w 84"/>
                    <a:gd name="T1" fmla="*/ 15 h 67"/>
                    <a:gd name="T2" fmla="*/ 0 w 84"/>
                    <a:gd name="T3" fmla="*/ 0 h 67"/>
                    <a:gd name="T4" fmla="*/ 27 w 84"/>
                    <a:gd name="T5" fmla="*/ 6 h 67"/>
                    <a:gd name="T6" fmla="*/ 67 w 84"/>
                    <a:gd name="T7" fmla="*/ 22 h 67"/>
                    <a:gd name="T8" fmla="*/ 67 w 84"/>
                    <a:gd name="T9" fmla="*/ 34 h 67"/>
                    <a:gd name="T10" fmla="*/ 83 w 84"/>
                    <a:gd name="T11" fmla="*/ 66 h 67"/>
                    <a:gd name="T12" fmla="*/ 52 w 84"/>
                    <a:gd name="T13" fmla="*/ 36 h 67"/>
                    <a:gd name="T14" fmla="*/ 31 w 84"/>
                    <a:gd name="T15" fmla="*/ 38 h 67"/>
                    <a:gd name="T16" fmla="*/ 5 w 84"/>
                    <a:gd name="T17" fmla="*/ 15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4" h="67">
                      <a:moveTo>
                        <a:pt x="5" y="15"/>
                      </a:moveTo>
                      <a:lnTo>
                        <a:pt x="0" y="0"/>
                      </a:lnTo>
                      <a:lnTo>
                        <a:pt x="27" y="6"/>
                      </a:lnTo>
                      <a:lnTo>
                        <a:pt x="67" y="22"/>
                      </a:lnTo>
                      <a:lnTo>
                        <a:pt x="67" y="34"/>
                      </a:lnTo>
                      <a:lnTo>
                        <a:pt x="83" y="66"/>
                      </a:lnTo>
                      <a:lnTo>
                        <a:pt x="52" y="36"/>
                      </a:lnTo>
                      <a:lnTo>
                        <a:pt x="31" y="38"/>
                      </a:lnTo>
                      <a:lnTo>
                        <a:pt x="5" y="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8" name="Freeform 16">
                  <a:extLst>
                    <a:ext uri="{FF2B5EF4-FFF2-40B4-BE49-F238E27FC236}">
                      <a16:creationId xmlns:a16="http://schemas.microsoft.com/office/drawing/2014/main" id="{37728AFC-67D0-4717-B766-B30D38C430AE}"/>
                    </a:ext>
                  </a:extLst>
                </p:cNvPr>
                <p:cNvSpPr>
                  <a:spLocks/>
                </p:cNvSpPr>
                <p:nvPr/>
              </p:nvSpPr>
              <p:spPr bwMode="grayWhite">
                <a:xfrm>
                  <a:off x="5400" y="3660"/>
                  <a:ext cx="57" cy="73"/>
                </a:xfrm>
                <a:custGeom>
                  <a:avLst/>
                  <a:gdLst>
                    <a:gd name="T0" fmla="*/ 34 w 57"/>
                    <a:gd name="T1" fmla="*/ 0 h 73"/>
                    <a:gd name="T2" fmla="*/ 56 w 57"/>
                    <a:gd name="T3" fmla="*/ 21 h 73"/>
                    <a:gd name="T4" fmla="*/ 11 w 57"/>
                    <a:gd name="T5" fmla="*/ 72 h 73"/>
                    <a:gd name="T6" fmla="*/ 0 w 57"/>
                    <a:gd name="T7" fmla="*/ 60 h 73"/>
                    <a:gd name="T8" fmla="*/ 32 w 57"/>
                    <a:gd name="T9" fmla="*/ 28 h 73"/>
                    <a:gd name="T10" fmla="*/ 34 w 57"/>
                    <a:gd name="T11" fmla="*/ 0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73">
                      <a:moveTo>
                        <a:pt x="34" y="0"/>
                      </a:moveTo>
                      <a:lnTo>
                        <a:pt x="56" y="21"/>
                      </a:lnTo>
                      <a:lnTo>
                        <a:pt x="11" y="72"/>
                      </a:lnTo>
                      <a:lnTo>
                        <a:pt x="0" y="60"/>
                      </a:lnTo>
                      <a:lnTo>
                        <a:pt x="32" y="28"/>
                      </a:lnTo>
                      <a:lnTo>
                        <a:pt x="34"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9" name="Freeform 17">
                  <a:extLst>
                    <a:ext uri="{FF2B5EF4-FFF2-40B4-BE49-F238E27FC236}">
                      <a16:creationId xmlns:a16="http://schemas.microsoft.com/office/drawing/2014/main" id="{AC55C313-1B35-4EC3-B49E-62806952AAFA}"/>
                    </a:ext>
                  </a:extLst>
                </p:cNvPr>
                <p:cNvSpPr>
                  <a:spLocks/>
                </p:cNvSpPr>
                <p:nvPr/>
              </p:nvSpPr>
              <p:spPr bwMode="grayWhite">
                <a:xfrm>
                  <a:off x="4558" y="3167"/>
                  <a:ext cx="29" cy="48"/>
                </a:xfrm>
                <a:custGeom>
                  <a:avLst/>
                  <a:gdLst>
                    <a:gd name="T0" fmla="*/ 28 w 29"/>
                    <a:gd name="T1" fmla="*/ 36 h 48"/>
                    <a:gd name="T2" fmla="*/ 20 w 29"/>
                    <a:gd name="T3" fmla="*/ 31 h 48"/>
                    <a:gd name="T4" fmla="*/ 20 w 29"/>
                    <a:gd name="T5" fmla="*/ 10 h 48"/>
                    <a:gd name="T6" fmla="*/ 24 w 29"/>
                    <a:gd name="T7" fmla="*/ 5 h 48"/>
                    <a:gd name="T8" fmla="*/ 17 w 29"/>
                    <a:gd name="T9" fmla="*/ 5 h 48"/>
                    <a:gd name="T10" fmla="*/ 21 w 29"/>
                    <a:gd name="T11" fmla="*/ 0 h 48"/>
                    <a:gd name="T12" fmla="*/ 16 w 29"/>
                    <a:gd name="T13" fmla="*/ 0 h 48"/>
                    <a:gd name="T14" fmla="*/ 10 w 29"/>
                    <a:gd name="T15" fmla="*/ 6 h 48"/>
                    <a:gd name="T16" fmla="*/ 10 w 29"/>
                    <a:gd name="T17" fmla="*/ 19 h 48"/>
                    <a:gd name="T18" fmla="*/ 13 w 29"/>
                    <a:gd name="T19" fmla="*/ 22 h 48"/>
                    <a:gd name="T20" fmla="*/ 13 w 29"/>
                    <a:gd name="T21" fmla="*/ 28 h 48"/>
                    <a:gd name="T22" fmla="*/ 11 w 29"/>
                    <a:gd name="T23" fmla="*/ 28 h 48"/>
                    <a:gd name="T24" fmla="*/ 6 w 29"/>
                    <a:gd name="T25" fmla="*/ 33 h 48"/>
                    <a:gd name="T26" fmla="*/ 6 w 29"/>
                    <a:gd name="T27" fmla="*/ 38 h 48"/>
                    <a:gd name="T28" fmla="*/ 0 w 29"/>
                    <a:gd name="T29" fmla="*/ 47 h 48"/>
                    <a:gd name="T30" fmla="*/ 21 w 29"/>
                    <a:gd name="T31" fmla="*/ 47 h 48"/>
                    <a:gd name="T32" fmla="*/ 28 w 29"/>
                    <a:gd name="T33" fmla="*/ 36 h 4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9" h="48">
                      <a:moveTo>
                        <a:pt x="28" y="36"/>
                      </a:moveTo>
                      <a:lnTo>
                        <a:pt x="20" y="31"/>
                      </a:lnTo>
                      <a:lnTo>
                        <a:pt x="20" y="10"/>
                      </a:lnTo>
                      <a:lnTo>
                        <a:pt x="24" y="5"/>
                      </a:lnTo>
                      <a:lnTo>
                        <a:pt x="17" y="5"/>
                      </a:lnTo>
                      <a:lnTo>
                        <a:pt x="21" y="0"/>
                      </a:lnTo>
                      <a:lnTo>
                        <a:pt x="16" y="0"/>
                      </a:lnTo>
                      <a:lnTo>
                        <a:pt x="10" y="6"/>
                      </a:lnTo>
                      <a:lnTo>
                        <a:pt x="10" y="19"/>
                      </a:lnTo>
                      <a:lnTo>
                        <a:pt x="13" y="22"/>
                      </a:lnTo>
                      <a:lnTo>
                        <a:pt x="13" y="28"/>
                      </a:lnTo>
                      <a:lnTo>
                        <a:pt x="11" y="28"/>
                      </a:lnTo>
                      <a:lnTo>
                        <a:pt x="6" y="33"/>
                      </a:lnTo>
                      <a:lnTo>
                        <a:pt x="6" y="38"/>
                      </a:lnTo>
                      <a:lnTo>
                        <a:pt x="0" y="47"/>
                      </a:lnTo>
                      <a:lnTo>
                        <a:pt x="21" y="47"/>
                      </a:lnTo>
                      <a:lnTo>
                        <a:pt x="28" y="3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0" name="Freeform 18">
                  <a:extLst>
                    <a:ext uri="{FF2B5EF4-FFF2-40B4-BE49-F238E27FC236}">
                      <a16:creationId xmlns:a16="http://schemas.microsoft.com/office/drawing/2014/main" id="{648EA4E9-9AEB-4FAB-B967-DBD2B5651A7F}"/>
                    </a:ext>
                  </a:extLst>
                </p:cNvPr>
                <p:cNvSpPr>
                  <a:spLocks/>
                </p:cNvSpPr>
                <p:nvPr/>
              </p:nvSpPr>
              <p:spPr bwMode="grayWhite">
                <a:xfrm>
                  <a:off x="4549" y="3183"/>
                  <a:ext cx="17" cy="17"/>
                </a:xfrm>
                <a:custGeom>
                  <a:avLst/>
                  <a:gdLst>
                    <a:gd name="T0" fmla="*/ 13 w 17"/>
                    <a:gd name="T1" fmla="*/ 5 h 17"/>
                    <a:gd name="T2" fmla="*/ 16 w 17"/>
                    <a:gd name="T3" fmla="*/ 5 h 17"/>
                    <a:gd name="T4" fmla="*/ 16 w 17"/>
                    <a:gd name="T5" fmla="*/ 0 h 17"/>
                    <a:gd name="T6" fmla="*/ 10 w 17"/>
                    <a:gd name="T7" fmla="*/ 0 h 17"/>
                    <a:gd name="T8" fmla="*/ 0 w 17"/>
                    <a:gd name="T9" fmla="*/ 10 h 17"/>
                    <a:gd name="T10" fmla="*/ 0 w 17"/>
                    <a:gd name="T11" fmla="*/ 16 h 17"/>
                    <a:gd name="T12" fmla="*/ 9 w 17"/>
                    <a:gd name="T13" fmla="*/ 16 h 17"/>
                    <a:gd name="T14" fmla="*/ 13 w 17"/>
                    <a:gd name="T15" fmla="*/ 11 h 17"/>
                    <a:gd name="T16" fmla="*/ 13 w 17"/>
                    <a:gd name="T17" fmla="*/ 5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 h="17">
                      <a:moveTo>
                        <a:pt x="13" y="5"/>
                      </a:moveTo>
                      <a:lnTo>
                        <a:pt x="16" y="5"/>
                      </a:lnTo>
                      <a:lnTo>
                        <a:pt x="16" y="0"/>
                      </a:lnTo>
                      <a:lnTo>
                        <a:pt x="10" y="0"/>
                      </a:lnTo>
                      <a:lnTo>
                        <a:pt x="0" y="10"/>
                      </a:lnTo>
                      <a:lnTo>
                        <a:pt x="0" y="16"/>
                      </a:lnTo>
                      <a:lnTo>
                        <a:pt x="9" y="16"/>
                      </a:lnTo>
                      <a:lnTo>
                        <a:pt x="13" y="11"/>
                      </a:lnTo>
                      <a:lnTo>
                        <a:pt x="13" y="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1" name="Freeform 19">
                  <a:extLst>
                    <a:ext uri="{FF2B5EF4-FFF2-40B4-BE49-F238E27FC236}">
                      <a16:creationId xmlns:a16="http://schemas.microsoft.com/office/drawing/2014/main" id="{D07548C7-1746-4A7B-B4FA-93996163062E}"/>
                    </a:ext>
                  </a:extLst>
                </p:cNvPr>
                <p:cNvSpPr>
                  <a:spLocks/>
                </p:cNvSpPr>
                <p:nvPr/>
              </p:nvSpPr>
              <p:spPr bwMode="grayWhite">
                <a:xfrm>
                  <a:off x="4527" y="3155"/>
                  <a:ext cx="184" cy="155"/>
                </a:xfrm>
                <a:custGeom>
                  <a:avLst/>
                  <a:gdLst>
                    <a:gd name="T0" fmla="*/ 120 w 184"/>
                    <a:gd name="T1" fmla="*/ 10 h 155"/>
                    <a:gd name="T2" fmla="*/ 144 w 184"/>
                    <a:gd name="T3" fmla="*/ 14 h 155"/>
                    <a:gd name="T4" fmla="*/ 129 w 184"/>
                    <a:gd name="T5" fmla="*/ 20 h 155"/>
                    <a:gd name="T6" fmla="*/ 123 w 184"/>
                    <a:gd name="T7" fmla="*/ 29 h 155"/>
                    <a:gd name="T8" fmla="*/ 114 w 184"/>
                    <a:gd name="T9" fmla="*/ 50 h 155"/>
                    <a:gd name="T10" fmla="*/ 100 w 184"/>
                    <a:gd name="T11" fmla="*/ 51 h 155"/>
                    <a:gd name="T12" fmla="*/ 88 w 184"/>
                    <a:gd name="T13" fmla="*/ 49 h 155"/>
                    <a:gd name="T14" fmla="*/ 94 w 184"/>
                    <a:gd name="T15" fmla="*/ 39 h 155"/>
                    <a:gd name="T16" fmla="*/ 88 w 184"/>
                    <a:gd name="T17" fmla="*/ 26 h 155"/>
                    <a:gd name="T18" fmla="*/ 81 w 184"/>
                    <a:gd name="T19" fmla="*/ 49 h 155"/>
                    <a:gd name="T20" fmla="*/ 62 w 184"/>
                    <a:gd name="T21" fmla="*/ 60 h 155"/>
                    <a:gd name="T22" fmla="*/ 52 w 184"/>
                    <a:gd name="T23" fmla="*/ 67 h 155"/>
                    <a:gd name="T24" fmla="*/ 38 w 184"/>
                    <a:gd name="T25" fmla="*/ 77 h 155"/>
                    <a:gd name="T26" fmla="*/ 30 w 184"/>
                    <a:gd name="T27" fmla="*/ 102 h 155"/>
                    <a:gd name="T28" fmla="*/ 5 w 184"/>
                    <a:gd name="T29" fmla="*/ 93 h 155"/>
                    <a:gd name="T30" fmla="*/ 0 w 184"/>
                    <a:gd name="T31" fmla="*/ 111 h 155"/>
                    <a:gd name="T32" fmla="*/ 10 w 184"/>
                    <a:gd name="T33" fmla="*/ 138 h 155"/>
                    <a:gd name="T34" fmla="*/ 50 w 184"/>
                    <a:gd name="T35" fmla="*/ 109 h 155"/>
                    <a:gd name="T36" fmla="*/ 75 w 184"/>
                    <a:gd name="T37" fmla="*/ 103 h 155"/>
                    <a:gd name="T38" fmla="*/ 79 w 184"/>
                    <a:gd name="T39" fmla="*/ 115 h 155"/>
                    <a:gd name="T40" fmla="*/ 99 w 184"/>
                    <a:gd name="T41" fmla="*/ 143 h 155"/>
                    <a:gd name="T42" fmla="*/ 101 w 184"/>
                    <a:gd name="T43" fmla="*/ 135 h 155"/>
                    <a:gd name="T44" fmla="*/ 107 w 184"/>
                    <a:gd name="T45" fmla="*/ 135 h 155"/>
                    <a:gd name="T46" fmla="*/ 88 w 184"/>
                    <a:gd name="T47" fmla="*/ 108 h 155"/>
                    <a:gd name="T48" fmla="*/ 94 w 184"/>
                    <a:gd name="T49" fmla="*/ 99 h 155"/>
                    <a:gd name="T50" fmla="*/ 114 w 184"/>
                    <a:gd name="T51" fmla="*/ 127 h 155"/>
                    <a:gd name="T52" fmla="*/ 123 w 184"/>
                    <a:gd name="T53" fmla="*/ 144 h 155"/>
                    <a:gd name="T54" fmla="*/ 127 w 184"/>
                    <a:gd name="T55" fmla="*/ 154 h 155"/>
                    <a:gd name="T56" fmla="*/ 131 w 184"/>
                    <a:gd name="T57" fmla="*/ 136 h 155"/>
                    <a:gd name="T58" fmla="*/ 144 w 184"/>
                    <a:gd name="T59" fmla="*/ 130 h 155"/>
                    <a:gd name="T60" fmla="*/ 153 w 184"/>
                    <a:gd name="T61" fmla="*/ 126 h 155"/>
                    <a:gd name="T62" fmla="*/ 150 w 184"/>
                    <a:gd name="T63" fmla="*/ 113 h 155"/>
                    <a:gd name="T64" fmla="*/ 157 w 184"/>
                    <a:gd name="T65" fmla="*/ 90 h 155"/>
                    <a:gd name="T66" fmla="*/ 166 w 184"/>
                    <a:gd name="T67" fmla="*/ 93 h 155"/>
                    <a:gd name="T68" fmla="*/ 169 w 184"/>
                    <a:gd name="T69" fmla="*/ 103 h 155"/>
                    <a:gd name="T70" fmla="*/ 177 w 184"/>
                    <a:gd name="T71" fmla="*/ 98 h 155"/>
                    <a:gd name="T72" fmla="*/ 175 w 184"/>
                    <a:gd name="T73" fmla="*/ 95 h 155"/>
                    <a:gd name="T74" fmla="*/ 180 w 184"/>
                    <a:gd name="T75" fmla="*/ 81 h 155"/>
                    <a:gd name="T76" fmla="*/ 183 w 184"/>
                    <a:gd name="T77" fmla="*/ 98 h 155"/>
                    <a:gd name="T78" fmla="*/ 120 w 184"/>
                    <a:gd name="T79" fmla="*/ 0 h 15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84" h="155">
                      <a:moveTo>
                        <a:pt x="120" y="0"/>
                      </a:moveTo>
                      <a:lnTo>
                        <a:pt x="120" y="10"/>
                      </a:lnTo>
                      <a:lnTo>
                        <a:pt x="124" y="14"/>
                      </a:lnTo>
                      <a:lnTo>
                        <a:pt x="144" y="14"/>
                      </a:lnTo>
                      <a:lnTo>
                        <a:pt x="144" y="20"/>
                      </a:lnTo>
                      <a:lnTo>
                        <a:pt x="129" y="20"/>
                      </a:lnTo>
                      <a:lnTo>
                        <a:pt x="129" y="37"/>
                      </a:lnTo>
                      <a:lnTo>
                        <a:pt x="123" y="29"/>
                      </a:lnTo>
                      <a:lnTo>
                        <a:pt x="123" y="40"/>
                      </a:lnTo>
                      <a:lnTo>
                        <a:pt x="114" y="50"/>
                      </a:lnTo>
                      <a:lnTo>
                        <a:pt x="109" y="44"/>
                      </a:lnTo>
                      <a:lnTo>
                        <a:pt x="100" y="51"/>
                      </a:lnTo>
                      <a:lnTo>
                        <a:pt x="99" y="49"/>
                      </a:lnTo>
                      <a:lnTo>
                        <a:pt x="88" y="49"/>
                      </a:lnTo>
                      <a:lnTo>
                        <a:pt x="94" y="42"/>
                      </a:lnTo>
                      <a:lnTo>
                        <a:pt x="94" y="39"/>
                      </a:lnTo>
                      <a:lnTo>
                        <a:pt x="88" y="34"/>
                      </a:lnTo>
                      <a:lnTo>
                        <a:pt x="88" y="26"/>
                      </a:lnTo>
                      <a:lnTo>
                        <a:pt x="81" y="34"/>
                      </a:lnTo>
                      <a:lnTo>
                        <a:pt x="81" y="49"/>
                      </a:lnTo>
                      <a:lnTo>
                        <a:pt x="73" y="49"/>
                      </a:lnTo>
                      <a:lnTo>
                        <a:pt x="62" y="60"/>
                      </a:lnTo>
                      <a:lnTo>
                        <a:pt x="58" y="60"/>
                      </a:lnTo>
                      <a:lnTo>
                        <a:pt x="52" y="67"/>
                      </a:lnTo>
                      <a:lnTo>
                        <a:pt x="30" y="67"/>
                      </a:lnTo>
                      <a:lnTo>
                        <a:pt x="38" y="77"/>
                      </a:lnTo>
                      <a:lnTo>
                        <a:pt x="38" y="93"/>
                      </a:lnTo>
                      <a:lnTo>
                        <a:pt x="30" y="102"/>
                      </a:lnTo>
                      <a:lnTo>
                        <a:pt x="22" y="93"/>
                      </a:lnTo>
                      <a:lnTo>
                        <a:pt x="5" y="93"/>
                      </a:lnTo>
                      <a:lnTo>
                        <a:pt x="5" y="104"/>
                      </a:lnTo>
                      <a:lnTo>
                        <a:pt x="0" y="111"/>
                      </a:lnTo>
                      <a:lnTo>
                        <a:pt x="0" y="126"/>
                      </a:lnTo>
                      <a:lnTo>
                        <a:pt x="10" y="138"/>
                      </a:lnTo>
                      <a:lnTo>
                        <a:pt x="26" y="138"/>
                      </a:lnTo>
                      <a:lnTo>
                        <a:pt x="50" y="109"/>
                      </a:lnTo>
                      <a:lnTo>
                        <a:pt x="72" y="109"/>
                      </a:lnTo>
                      <a:lnTo>
                        <a:pt x="75" y="103"/>
                      </a:lnTo>
                      <a:lnTo>
                        <a:pt x="80" y="109"/>
                      </a:lnTo>
                      <a:lnTo>
                        <a:pt x="79" y="115"/>
                      </a:lnTo>
                      <a:lnTo>
                        <a:pt x="99" y="135"/>
                      </a:lnTo>
                      <a:lnTo>
                        <a:pt x="99" y="143"/>
                      </a:lnTo>
                      <a:lnTo>
                        <a:pt x="104" y="140"/>
                      </a:lnTo>
                      <a:lnTo>
                        <a:pt x="101" y="135"/>
                      </a:lnTo>
                      <a:lnTo>
                        <a:pt x="104" y="132"/>
                      </a:lnTo>
                      <a:lnTo>
                        <a:pt x="107" y="135"/>
                      </a:lnTo>
                      <a:lnTo>
                        <a:pt x="109" y="134"/>
                      </a:lnTo>
                      <a:lnTo>
                        <a:pt x="88" y="108"/>
                      </a:lnTo>
                      <a:lnTo>
                        <a:pt x="88" y="99"/>
                      </a:lnTo>
                      <a:lnTo>
                        <a:pt x="94" y="99"/>
                      </a:lnTo>
                      <a:lnTo>
                        <a:pt x="94" y="104"/>
                      </a:lnTo>
                      <a:lnTo>
                        <a:pt x="114" y="127"/>
                      </a:lnTo>
                      <a:lnTo>
                        <a:pt x="114" y="134"/>
                      </a:lnTo>
                      <a:lnTo>
                        <a:pt x="123" y="144"/>
                      </a:lnTo>
                      <a:lnTo>
                        <a:pt x="121" y="146"/>
                      </a:lnTo>
                      <a:lnTo>
                        <a:pt x="127" y="154"/>
                      </a:lnTo>
                      <a:lnTo>
                        <a:pt x="137" y="143"/>
                      </a:lnTo>
                      <a:lnTo>
                        <a:pt x="131" y="136"/>
                      </a:lnTo>
                      <a:lnTo>
                        <a:pt x="137" y="130"/>
                      </a:lnTo>
                      <a:lnTo>
                        <a:pt x="144" y="130"/>
                      </a:lnTo>
                      <a:lnTo>
                        <a:pt x="148" y="126"/>
                      </a:lnTo>
                      <a:lnTo>
                        <a:pt x="153" y="126"/>
                      </a:lnTo>
                      <a:lnTo>
                        <a:pt x="147" y="117"/>
                      </a:lnTo>
                      <a:lnTo>
                        <a:pt x="150" y="113"/>
                      </a:lnTo>
                      <a:lnTo>
                        <a:pt x="150" y="98"/>
                      </a:lnTo>
                      <a:lnTo>
                        <a:pt x="157" y="90"/>
                      </a:lnTo>
                      <a:lnTo>
                        <a:pt x="160" y="93"/>
                      </a:lnTo>
                      <a:lnTo>
                        <a:pt x="166" y="93"/>
                      </a:lnTo>
                      <a:lnTo>
                        <a:pt x="163" y="97"/>
                      </a:lnTo>
                      <a:lnTo>
                        <a:pt x="169" y="103"/>
                      </a:lnTo>
                      <a:lnTo>
                        <a:pt x="172" y="98"/>
                      </a:lnTo>
                      <a:lnTo>
                        <a:pt x="177" y="98"/>
                      </a:lnTo>
                      <a:lnTo>
                        <a:pt x="177" y="95"/>
                      </a:lnTo>
                      <a:lnTo>
                        <a:pt x="175" y="95"/>
                      </a:lnTo>
                      <a:lnTo>
                        <a:pt x="171" y="93"/>
                      </a:lnTo>
                      <a:lnTo>
                        <a:pt x="180" y="81"/>
                      </a:lnTo>
                      <a:lnTo>
                        <a:pt x="180" y="98"/>
                      </a:lnTo>
                      <a:lnTo>
                        <a:pt x="183" y="98"/>
                      </a:lnTo>
                      <a:lnTo>
                        <a:pt x="183" y="0"/>
                      </a:lnTo>
                      <a:lnTo>
                        <a:pt x="12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2" name="Freeform 20">
                  <a:extLst>
                    <a:ext uri="{FF2B5EF4-FFF2-40B4-BE49-F238E27FC236}">
                      <a16:creationId xmlns:a16="http://schemas.microsoft.com/office/drawing/2014/main" id="{76288147-DC06-4B0A-9289-0453C443A358}"/>
                    </a:ext>
                  </a:extLst>
                </p:cNvPr>
                <p:cNvSpPr>
                  <a:spLocks/>
                </p:cNvSpPr>
                <p:nvPr/>
              </p:nvSpPr>
              <p:spPr bwMode="grayWhite">
                <a:xfrm>
                  <a:off x="4605" y="2991"/>
                  <a:ext cx="782" cy="553"/>
                </a:xfrm>
                <a:custGeom>
                  <a:avLst/>
                  <a:gdLst>
                    <a:gd name="T0" fmla="*/ 22 w 782"/>
                    <a:gd name="T1" fmla="*/ 145 h 553"/>
                    <a:gd name="T2" fmla="*/ 71 w 782"/>
                    <a:gd name="T3" fmla="*/ 96 h 553"/>
                    <a:gd name="T4" fmla="*/ 101 w 782"/>
                    <a:gd name="T5" fmla="*/ 130 h 553"/>
                    <a:gd name="T6" fmla="*/ 84 w 782"/>
                    <a:gd name="T7" fmla="*/ 128 h 553"/>
                    <a:gd name="T8" fmla="*/ 155 w 782"/>
                    <a:gd name="T9" fmla="*/ 123 h 553"/>
                    <a:gd name="T10" fmla="*/ 172 w 782"/>
                    <a:gd name="T11" fmla="*/ 79 h 553"/>
                    <a:gd name="T12" fmla="*/ 172 w 782"/>
                    <a:gd name="T13" fmla="*/ 89 h 553"/>
                    <a:gd name="T14" fmla="*/ 160 w 782"/>
                    <a:gd name="T15" fmla="*/ 123 h 553"/>
                    <a:gd name="T16" fmla="*/ 216 w 782"/>
                    <a:gd name="T17" fmla="*/ 95 h 553"/>
                    <a:gd name="T18" fmla="*/ 330 w 782"/>
                    <a:gd name="T19" fmla="*/ 16 h 553"/>
                    <a:gd name="T20" fmla="*/ 412 w 782"/>
                    <a:gd name="T21" fmla="*/ 20 h 553"/>
                    <a:gd name="T22" fmla="*/ 503 w 782"/>
                    <a:gd name="T23" fmla="*/ 10 h 553"/>
                    <a:gd name="T24" fmla="*/ 602 w 782"/>
                    <a:gd name="T25" fmla="*/ 51 h 553"/>
                    <a:gd name="T26" fmla="*/ 718 w 782"/>
                    <a:gd name="T27" fmla="*/ 65 h 553"/>
                    <a:gd name="T28" fmla="*/ 775 w 782"/>
                    <a:gd name="T29" fmla="*/ 112 h 553"/>
                    <a:gd name="T30" fmla="*/ 731 w 782"/>
                    <a:gd name="T31" fmla="*/ 148 h 553"/>
                    <a:gd name="T32" fmla="*/ 707 w 782"/>
                    <a:gd name="T33" fmla="*/ 194 h 553"/>
                    <a:gd name="T34" fmla="*/ 678 w 782"/>
                    <a:gd name="T35" fmla="*/ 196 h 553"/>
                    <a:gd name="T36" fmla="*/ 687 w 782"/>
                    <a:gd name="T37" fmla="*/ 132 h 553"/>
                    <a:gd name="T38" fmla="*/ 650 w 782"/>
                    <a:gd name="T39" fmla="*/ 166 h 553"/>
                    <a:gd name="T40" fmla="*/ 623 w 782"/>
                    <a:gd name="T41" fmla="*/ 196 h 553"/>
                    <a:gd name="T42" fmla="*/ 632 w 782"/>
                    <a:gd name="T43" fmla="*/ 228 h 553"/>
                    <a:gd name="T44" fmla="*/ 600 w 782"/>
                    <a:gd name="T45" fmla="*/ 276 h 553"/>
                    <a:gd name="T46" fmla="*/ 605 w 782"/>
                    <a:gd name="T47" fmla="*/ 315 h 553"/>
                    <a:gd name="T48" fmla="*/ 602 w 782"/>
                    <a:gd name="T49" fmla="*/ 296 h 553"/>
                    <a:gd name="T50" fmla="*/ 572 w 782"/>
                    <a:gd name="T51" fmla="*/ 299 h 553"/>
                    <a:gd name="T52" fmla="*/ 594 w 782"/>
                    <a:gd name="T53" fmla="*/ 356 h 553"/>
                    <a:gd name="T54" fmla="*/ 539 w 782"/>
                    <a:gd name="T55" fmla="*/ 423 h 553"/>
                    <a:gd name="T56" fmla="*/ 524 w 782"/>
                    <a:gd name="T57" fmla="*/ 442 h 553"/>
                    <a:gd name="T58" fmla="*/ 504 w 782"/>
                    <a:gd name="T59" fmla="*/ 507 h 553"/>
                    <a:gd name="T60" fmla="*/ 477 w 782"/>
                    <a:gd name="T61" fmla="*/ 508 h 553"/>
                    <a:gd name="T62" fmla="*/ 510 w 782"/>
                    <a:gd name="T63" fmla="*/ 552 h 553"/>
                    <a:gd name="T64" fmla="*/ 455 w 782"/>
                    <a:gd name="T65" fmla="*/ 449 h 553"/>
                    <a:gd name="T66" fmla="*/ 391 w 782"/>
                    <a:gd name="T67" fmla="*/ 428 h 553"/>
                    <a:gd name="T68" fmla="*/ 361 w 782"/>
                    <a:gd name="T69" fmla="*/ 495 h 553"/>
                    <a:gd name="T70" fmla="*/ 338 w 782"/>
                    <a:gd name="T71" fmla="*/ 530 h 553"/>
                    <a:gd name="T72" fmla="*/ 298 w 782"/>
                    <a:gd name="T73" fmla="*/ 425 h 553"/>
                    <a:gd name="T74" fmla="*/ 267 w 782"/>
                    <a:gd name="T75" fmla="*/ 436 h 553"/>
                    <a:gd name="T76" fmla="*/ 241 w 782"/>
                    <a:gd name="T77" fmla="*/ 391 h 553"/>
                    <a:gd name="T78" fmla="*/ 160 w 782"/>
                    <a:gd name="T79" fmla="*/ 366 h 553"/>
                    <a:gd name="T80" fmla="*/ 188 w 782"/>
                    <a:gd name="T81" fmla="*/ 414 h 553"/>
                    <a:gd name="T82" fmla="*/ 167 w 782"/>
                    <a:gd name="T83" fmla="*/ 445 h 553"/>
                    <a:gd name="T84" fmla="*/ 136 w 782"/>
                    <a:gd name="T85" fmla="*/ 434 h 553"/>
                    <a:gd name="T86" fmla="*/ 85 w 782"/>
                    <a:gd name="T87" fmla="*/ 355 h 553"/>
                    <a:gd name="T88" fmla="*/ 106 w 782"/>
                    <a:gd name="T89" fmla="*/ 310 h 553"/>
                    <a:gd name="T90" fmla="*/ 119 w 782"/>
                    <a:gd name="T91" fmla="*/ 276 h 553"/>
                    <a:gd name="T92" fmla="*/ 106 w 782"/>
                    <a:gd name="T93" fmla="*/ 162 h 553"/>
                    <a:gd name="T94" fmla="*/ 61 w 782"/>
                    <a:gd name="T95" fmla="*/ 138 h 553"/>
                    <a:gd name="T96" fmla="*/ 39 w 782"/>
                    <a:gd name="T97" fmla="*/ 150 h 553"/>
                    <a:gd name="T98" fmla="*/ 0 w 782"/>
                    <a:gd name="T99" fmla="*/ 162 h 55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782" h="553">
                      <a:moveTo>
                        <a:pt x="0" y="162"/>
                      </a:moveTo>
                      <a:lnTo>
                        <a:pt x="22" y="145"/>
                      </a:lnTo>
                      <a:lnTo>
                        <a:pt x="44" y="112"/>
                      </a:lnTo>
                      <a:lnTo>
                        <a:pt x="71" y="96"/>
                      </a:lnTo>
                      <a:lnTo>
                        <a:pt x="98" y="115"/>
                      </a:lnTo>
                      <a:lnTo>
                        <a:pt x="101" y="130"/>
                      </a:lnTo>
                      <a:lnTo>
                        <a:pt x="95" y="130"/>
                      </a:lnTo>
                      <a:lnTo>
                        <a:pt x="84" y="128"/>
                      </a:lnTo>
                      <a:lnTo>
                        <a:pt x="98" y="145"/>
                      </a:lnTo>
                      <a:lnTo>
                        <a:pt x="155" y="123"/>
                      </a:lnTo>
                      <a:lnTo>
                        <a:pt x="147" y="107"/>
                      </a:lnTo>
                      <a:lnTo>
                        <a:pt x="172" y="79"/>
                      </a:lnTo>
                      <a:lnTo>
                        <a:pt x="188" y="79"/>
                      </a:lnTo>
                      <a:lnTo>
                        <a:pt x="172" y="89"/>
                      </a:lnTo>
                      <a:lnTo>
                        <a:pt x="160" y="109"/>
                      </a:lnTo>
                      <a:lnTo>
                        <a:pt x="160" y="123"/>
                      </a:lnTo>
                      <a:lnTo>
                        <a:pt x="183" y="138"/>
                      </a:lnTo>
                      <a:lnTo>
                        <a:pt x="216" y="95"/>
                      </a:lnTo>
                      <a:lnTo>
                        <a:pt x="330" y="45"/>
                      </a:lnTo>
                      <a:lnTo>
                        <a:pt x="330" y="16"/>
                      </a:lnTo>
                      <a:lnTo>
                        <a:pt x="382" y="5"/>
                      </a:lnTo>
                      <a:lnTo>
                        <a:pt x="412" y="20"/>
                      </a:lnTo>
                      <a:lnTo>
                        <a:pt x="481" y="0"/>
                      </a:lnTo>
                      <a:lnTo>
                        <a:pt x="503" y="10"/>
                      </a:lnTo>
                      <a:lnTo>
                        <a:pt x="549" y="61"/>
                      </a:lnTo>
                      <a:lnTo>
                        <a:pt x="602" y="51"/>
                      </a:lnTo>
                      <a:lnTo>
                        <a:pt x="635" y="69"/>
                      </a:lnTo>
                      <a:lnTo>
                        <a:pt x="718" y="65"/>
                      </a:lnTo>
                      <a:lnTo>
                        <a:pt x="781" y="84"/>
                      </a:lnTo>
                      <a:lnTo>
                        <a:pt x="775" y="112"/>
                      </a:lnTo>
                      <a:lnTo>
                        <a:pt x="722" y="130"/>
                      </a:lnTo>
                      <a:lnTo>
                        <a:pt x="731" y="148"/>
                      </a:lnTo>
                      <a:lnTo>
                        <a:pt x="708" y="158"/>
                      </a:lnTo>
                      <a:lnTo>
                        <a:pt x="707" y="194"/>
                      </a:lnTo>
                      <a:lnTo>
                        <a:pt x="686" y="218"/>
                      </a:lnTo>
                      <a:lnTo>
                        <a:pt x="678" y="196"/>
                      </a:lnTo>
                      <a:lnTo>
                        <a:pt x="689" y="175"/>
                      </a:lnTo>
                      <a:lnTo>
                        <a:pt x="687" y="132"/>
                      </a:lnTo>
                      <a:lnTo>
                        <a:pt x="666" y="154"/>
                      </a:lnTo>
                      <a:lnTo>
                        <a:pt x="650" y="166"/>
                      </a:lnTo>
                      <a:lnTo>
                        <a:pt x="634" y="147"/>
                      </a:lnTo>
                      <a:lnTo>
                        <a:pt x="623" y="196"/>
                      </a:lnTo>
                      <a:lnTo>
                        <a:pt x="635" y="196"/>
                      </a:lnTo>
                      <a:lnTo>
                        <a:pt x="632" y="228"/>
                      </a:lnTo>
                      <a:lnTo>
                        <a:pt x="618" y="263"/>
                      </a:lnTo>
                      <a:lnTo>
                        <a:pt x="600" y="276"/>
                      </a:lnTo>
                      <a:lnTo>
                        <a:pt x="615" y="299"/>
                      </a:lnTo>
                      <a:lnTo>
                        <a:pt x="605" y="315"/>
                      </a:lnTo>
                      <a:lnTo>
                        <a:pt x="602" y="301"/>
                      </a:lnTo>
                      <a:lnTo>
                        <a:pt x="602" y="296"/>
                      </a:lnTo>
                      <a:lnTo>
                        <a:pt x="590" y="288"/>
                      </a:lnTo>
                      <a:lnTo>
                        <a:pt x="572" y="299"/>
                      </a:lnTo>
                      <a:lnTo>
                        <a:pt x="588" y="337"/>
                      </a:lnTo>
                      <a:lnTo>
                        <a:pt x="594" y="356"/>
                      </a:lnTo>
                      <a:lnTo>
                        <a:pt x="574" y="408"/>
                      </a:lnTo>
                      <a:lnTo>
                        <a:pt x="539" y="423"/>
                      </a:lnTo>
                      <a:lnTo>
                        <a:pt x="509" y="420"/>
                      </a:lnTo>
                      <a:lnTo>
                        <a:pt x="524" y="442"/>
                      </a:lnTo>
                      <a:lnTo>
                        <a:pt x="525" y="472"/>
                      </a:lnTo>
                      <a:lnTo>
                        <a:pt x="504" y="507"/>
                      </a:lnTo>
                      <a:lnTo>
                        <a:pt x="480" y="488"/>
                      </a:lnTo>
                      <a:lnTo>
                        <a:pt x="477" y="508"/>
                      </a:lnTo>
                      <a:lnTo>
                        <a:pt x="495" y="526"/>
                      </a:lnTo>
                      <a:lnTo>
                        <a:pt x="510" y="552"/>
                      </a:lnTo>
                      <a:lnTo>
                        <a:pt x="485" y="536"/>
                      </a:lnTo>
                      <a:lnTo>
                        <a:pt x="455" y="449"/>
                      </a:lnTo>
                      <a:lnTo>
                        <a:pt x="418" y="426"/>
                      </a:lnTo>
                      <a:lnTo>
                        <a:pt x="391" y="428"/>
                      </a:lnTo>
                      <a:lnTo>
                        <a:pt x="356" y="477"/>
                      </a:lnTo>
                      <a:lnTo>
                        <a:pt x="361" y="495"/>
                      </a:lnTo>
                      <a:lnTo>
                        <a:pt x="349" y="530"/>
                      </a:lnTo>
                      <a:lnTo>
                        <a:pt x="338" y="530"/>
                      </a:lnTo>
                      <a:lnTo>
                        <a:pt x="298" y="457"/>
                      </a:lnTo>
                      <a:lnTo>
                        <a:pt x="298" y="425"/>
                      </a:lnTo>
                      <a:lnTo>
                        <a:pt x="290" y="437"/>
                      </a:lnTo>
                      <a:lnTo>
                        <a:pt x="267" y="436"/>
                      </a:lnTo>
                      <a:lnTo>
                        <a:pt x="276" y="416"/>
                      </a:lnTo>
                      <a:lnTo>
                        <a:pt x="241" y="391"/>
                      </a:lnTo>
                      <a:lnTo>
                        <a:pt x="197" y="391"/>
                      </a:lnTo>
                      <a:lnTo>
                        <a:pt x="160" y="366"/>
                      </a:lnTo>
                      <a:lnTo>
                        <a:pt x="157" y="391"/>
                      </a:lnTo>
                      <a:lnTo>
                        <a:pt x="188" y="414"/>
                      </a:lnTo>
                      <a:lnTo>
                        <a:pt x="199" y="414"/>
                      </a:lnTo>
                      <a:lnTo>
                        <a:pt x="167" y="445"/>
                      </a:lnTo>
                      <a:lnTo>
                        <a:pt x="136" y="452"/>
                      </a:lnTo>
                      <a:lnTo>
                        <a:pt x="136" y="434"/>
                      </a:lnTo>
                      <a:lnTo>
                        <a:pt x="91" y="372"/>
                      </a:lnTo>
                      <a:lnTo>
                        <a:pt x="85" y="355"/>
                      </a:lnTo>
                      <a:lnTo>
                        <a:pt x="109" y="335"/>
                      </a:lnTo>
                      <a:lnTo>
                        <a:pt x="106" y="310"/>
                      </a:lnTo>
                      <a:lnTo>
                        <a:pt x="106" y="282"/>
                      </a:lnTo>
                      <a:lnTo>
                        <a:pt x="119" y="276"/>
                      </a:lnTo>
                      <a:lnTo>
                        <a:pt x="106" y="263"/>
                      </a:lnTo>
                      <a:lnTo>
                        <a:pt x="106" y="162"/>
                      </a:lnTo>
                      <a:lnTo>
                        <a:pt x="43" y="162"/>
                      </a:lnTo>
                      <a:lnTo>
                        <a:pt x="61" y="138"/>
                      </a:lnTo>
                      <a:lnTo>
                        <a:pt x="60" y="130"/>
                      </a:lnTo>
                      <a:lnTo>
                        <a:pt x="39" y="150"/>
                      </a:lnTo>
                      <a:lnTo>
                        <a:pt x="32" y="162"/>
                      </a:lnTo>
                      <a:lnTo>
                        <a:pt x="0" y="16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3" name="Freeform 21">
                  <a:extLst>
                    <a:ext uri="{FF2B5EF4-FFF2-40B4-BE49-F238E27FC236}">
                      <a16:creationId xmlns:a16="http://schemas.microsoft.com/office/drawing/2014/main" id="{3F5B790D-5D36-40BF-AF5D-3F2EB78E1993}"/>
                    </a:ext>
                  </a:extLst>
                </p:cNvPr>
                <p:cNvSpPr>
                  <a:spLocks/>
                </p:cNvSpPr>
                <p:nvPr/>
              </p:nvSpPr>
              <p:spPr bwMode="grayWhite">
                <a:xfrm>
                  <a:off x="5221" y="3217"/>
                  <a:ext cx="68" cy="113"/>
                </a:xfrm>
                <a:custGeom>
                  <a:avLst/>
                  <a:gdLst>
                    <a:gd name="T0" fmla="*/ 45 w 68"/>
                    <a:gd name="T1" fmla="*/ 0 h 113"/>
                    <a:gd name="T2" fmla="*/ 45 w 68"/>
                    <a:gd name="T3" fmla="*/ 14 h 113"/>
                    <a:gd name="T4" fmla="*/ 39 w 68"/>
                    <a:gd name="T5" fmla="*/ 23 h 113"/>
                    <a:gd name="T6" fmla="*/ 41 w 68"/>
                    <a:gd name="T7" fmla="*/ 38 h 113"/>
                    <a:gd name="T8" fmla="*/ 33 w 68"/>
                    <a:gd name="T9" fmla="*/ 58 h 113"/>
                    <a:gd name="T10" fmla="*/ 22 w 68"/>
                    <a:gd name="T11" fmla="*/ 77 h 113"/>
                    <a:gd name="T12" fmla="*/ 5 w 68"/>
                    <a:gd name="T13" fmla="*/ 89 h 113"/>
                    <a:gd name="T14" fmla="*/ 0 w 68"/>
                    <a:gd name="T15" fmla="*/ 110 h 113"/>
                    <a:gd name="T16" fmla="*/ 7 w 68"/>
                    <a:gd name="T17" fmla="*/ 112 h 113"/>
                    <a:gd name="T18" fmla="*/ 7 w 68"/>
                    <a:gd name="T19" fmla="*/ 92 h 113"/>
                    <a:gd name="T20" fmla="*/ 31 w 68"/>
                    <a:gd name="T21" fmla="*/ 91 h 113"/>
                    <a:gd name="T22" fmla="*/ 49 w 68"/>
                    <a:gd name="T23" fmla="*/ 78 h 113"/>
                    <a:gd name="T24" fmla="*/ 49 w 68"/>
                    <a:gd name="T25" fmla="*/ 51 h 113"/>
                    <a:gd name="T26" fmla="*/ 55 w 68"/>
                    <a:gd name="T27" fmla="*/ 41 h 113"/>
                    <a:gd name="T28" fmla="*/ 46 w 68"/>
                    <a:gd name="T29" fmla="*/ 24 h 113"/>
                    <a:gd name="T30" fmla="*/ 59 w 68"/>
                    <a:gd name="T31" fmla="*/ 19 h 113"/>
                    <a:gd name="T32" fmla="*/ 67 w 68"/>
                    <a:gd name="T33" fmla="*/ 5 h 113"/>
                    <a:gd name="T34" fmla="*/ 49 w 68"/>
                    <a:gd name="T35" fmla="*/ 7 h 113"/>
                    <a:gd name="T36" fmla="*/ 45 w 68"/>
                    <a:gd name="T37" fmla="*/ 0 h 11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8" h="113">
                      <a:moveTo>
                        <a:pt x="45" y="0"/>
                      </a:moveTo>
                      <a:lnTo>
                        <a:pt x="45" y="14"/>
                      </a:lnTo>
                      <a:lnTo>
                        <a:pt x="39" y="23"/>
                      </a:lnTo>
                      <a:lnTo>
                        <a:pt x="41" y="38"/>
                      </a:lnTo>
                      <a:lnTo>
                        <a:pt x="33" y="58"/>
                      </a:lnTo>
                      <a:lnTo>
                        <a:pt x="22" y="77"/>
                      </a:lnTo>
                      <a:lnTo>
                        <a:pt x="5" y="89"/>
                      </a:lnTo>
                      <a:lnTo>
                        <a:pt x="0" y="110"/>
                      </a:lnTo>
                      <a:lnTo>
                        <a:pt x="7" y="112"/>
                      </a:lnTo>
                      <a:lnTo>
                        <a:pt x="7" y="92"/>
                      </a:lnTo>
                      <a:lnTo>
                        <a:pt x="31" y="91"/>
                      </a:lnTo>
                      <a:lnTo>
                        <a:pt x="49" y="78"/>
                      </a:lnTo>
                      <a:lnTo>
                        <a:pt x="49" y="51"/>
                      </a:lnTo>
                      <a:lnTo>
                        <a:pt x="55" y="41"/>
                      </a:lnTo>
                      <a:lnTo>
                        <a:pt x="46" y="24"/>
                      </a:lnTo>
                      <a:lnTo>
                        <a:pt x="59" y="19"/>
                      </a:lnTo>
                      <a:lnTo>
                        <a:pt x="67" y="5"/>
                      </a:lnTo>
                      <a:lnTo>
                        <a:pt x="49" y="7"/>
                      </a:lnTo>
                      <a:lnTo>
                        <a:pt x="45"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4" name="Freeform 22">
                  <a:extLst>
                    <a:ext uri="{FF2B5EF4-FFF2-40B4-BE49-F238E27FC236}">
                      <a16:creationId xmlns:a16="http://schemas.microsoft.com/office/drawing/2014/main" id="{C1D96C1B-05D3-4050-B471-B6C232BF3D91}"/>
                    </a:ext>
                  </a:extLst>
                </p:cNvPr>
                <p:cNvSpPr>
                  <a:spLocks/>
                </p:cNvSpPr>
                <p:nvPr/>
              </p:nvSpPr>
              <p:spPr bwMode="grayWhite">
                <a:xfrm>
                  <a:off x="4967" y="3518"/>
                  <a:ext cx="17" cy="26"/>
                </a:xfrm>
                <a:custGeom>
                  <a:avLst/>
                  <a:gdLst>
                    <a:gd name="T0" fmla="*/ 8 w 17"/>
                    <a:gd name="T1" fmla="*/ 0 h 26"/>
                    <a:gd name="T2" fmla="*/ 0 w 17"/>
                    <a:gd name="T3" fmla="*/ 11 h 26"/>
                    <a:gd name="T4" fmla="*/ 5 w 17"/>
                    <a:gd name="T5" fmla="*/ 25 h 26"/>
                    <a:gd name="T6" fmla="*/ 16 w 17"/>
                    <a:gd name="T7" fmla="*/ 15 h 26"/>
                    <a:gd name="T8" fmla="*/ 8 w 17"/>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6">
                      <a:moveTo>
                        <a:pt x="8" y="0"/>
                      </a:moveTo>
                      <a:lnTo>
                        <a:pt x="0" y="11"/>
                      </a:lnTo>
                      <a:lnTo>
                        <a:pt x="5" y="25"/>
                      </a:lnTo>
                      <a:lnTo>
                        <a:pt x="16" y="15"/>
                      </a:lnTo>
                      <a:lnTo>
                        <a:pt x="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 name="Freeform 23">
                  <a:extLst>
                    <a:ext uri="{FF2B5EF4-FFF2-40B4-BE49-F238E27FC236}">
                      <a16:creationId xmlns:a16="http://schemas.microsoft.com/office/drawing/2014/main" id="{4E8D1EE6-26B8-43E4-955F-4F99F6C2E95B}"/>
                    </a:ext>
                  </a:extLst>
                </p:cNvPr>
                <p:cNvSpPr>
                  <a:spLocks/>
                </p:cNvSpPr>
                <p:nvPr/>
              </p:nvSpPr>
              <p:spPr bwMode="grayWhite">
                <a:xfrm>
                  <a:off x="5069" y="3545"/>
                  <a:ext cx="158" cy="68"/>
                </a:xfrm>
                <a:custGeom>
                  <a:avLst/>
                  <a:gdLst>
                    <a:gd name="T0" fmla="*/ 0 w 158"/>
                    <a:gd name="T1" fmla="*/ 0 h 68"/>
                    <a:gd name="T2" fmla="*/ 23 w 158"/>
                    <a:gd name="T3" fmla="*/ 5 h 68"/>
                    <a:gd name="T4" fmla="*/ 58 w 158"/>
                    <a:gd name="T5" fmla="*/ 29 h 68"/>
                    <a:gd name="T6" fmla="*/ 53 w 158"/>
                    <a:gd name="T7" fmla="*/ 43 h 68"/>
                    <a:gd name="T8" fmla="*/ 82 w 158"/>
                    <a:gd name="T9" fmla="*/ 55 h 68"/>
                    <a:gd name="T10" fmla="*/ 157 w 158"/>
                    <a:gd name="T11" fmla="*/ 55 h 68"/>
                    <a:gd name="T12" fmla="*/ 75 w 158"/>
                    <a:gd name="T13" fmla="*/ 67 h 68"/>
                    <a:gd name="T14" fmla="*/ 53 w 158"/>
                    <a:gd name="T15" fmla="*/ 43 h 68"/>
                    <a:gd name="T16" fmla="*/ 32 w 158"/>
                    <a:gd name="T17" fmla="*/ 38 h 68"/>
                    <a:gd name="T18" fmla="*/ 0 w 158"/>
                    <a:gd name="T19" fmla="*/ 0 h 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8" h="68">
                      <a:moveTo>
                        <a:pt x="0" y="0"/>
                      </a:moveTo>
                      <a:lnTo>
                        <a:pt x="23" y="5"/>
                      </a:lnTo>
                      <a:lnTo>
                        <a:pt x="58" y="29"/>
                      </a:lnTo>
                      <a:lnTo>
                        <a:pt x="53" y="43"/>
                      </a:lnTo>
                      <a:lnTo>
                        <a:pt x="82" y="55"/>
                      </a:lnTo>
                      <a:lnTo>
                        <a:pt x="157" y="55"/>
                      </a:lnTo>
                      <a:lnTo>
                        <a:pt x="75" y="67"/>
                      </a:lnTo>
                      <a:lnTo>
                        <a:pt x="53" y="43"/>
                      </a:lnTo>
                      <a:lnTo>
                        <a:pt x="32" y="38"/>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Freeform 24">
                  <a:extLst>
                    <a:ext uri="{FF2B5EF4-FFF2-40B4-BE49-F238E27FC236}">
                      <a16:creationId xmlns:a16="http://schemas.microsoft.com/office/drawing/2014/main" id="{8DE78CC3-54E5-4AC1-A6B7-8DC525139D8E}"/>
                    </a:ext>
                  </a:extLst>
                </p:cNvPr>
                <p:cNvSpPr>
                  <a:spLocks/>
                </p:cNvSpPr>
                <p:nvPr/>
              </p:nvSpPr>
              <p:spPr bwMode="grayWhite">
                <a:xfrm>
                  <a:off x="5195" y="3601"/>
                  <a:ext cx="169" cy="159"/>
                </a:xfrm>
                <a:custGeom>
                  <a:avLst/>
                  <a:gdLst>
                    <a:gd name="T0" fmla="*/ 135 w 169"/>
                    <a:gd name="T1" fmla="*/ 155 h 159"/>
                    <a:gd name="T2" fmla="*/ 127 w 169"/>
                    <a:gd name="T3" fmla="*/ 152 h 159"/>
                    <a:gd name="T4" fmla="*/ 110 w 169"/>
                    <a:gd name="T5" fmla="*/ 134 h 159"/>
                    <a:gd name="T6" fmla="*/ 92 w 169"/>
                    <a:gd name="T7" fmla="*/ 130 h 159"/>
                    <a:gd name="T8" fmla="*/ 88 w 169"/>
                    <a:gd name="T9" fmla="*/ 119 h 159"/>
                    <a:gd name="T10" fmla="*/ 78 w 169"/>
                    <a:gd name="T11" fmla="*/ 111 h 159"/>
                    <a:gd name="T12" fmla="*/ 62 w 169"/>
                    <a:gd name="T13" fmla="*/ 111 h 159"/>
                    <a:gd name="T14" fmla="*/ 44 w 169"/>
                    <a:gd name="T15" fmla="*/ 118 h 159"/>
                    <a:gd name="T16" fmla="*/ 28 w 169"/>
                    <a:gd name="T17" fmla="*/ 121 h 159"/>
                    <a:gd name="T18" fmla="*/ 10 w 169"/>
                    <a:gd name="T19" fmla="*/ 121 h 159"/>
                    <a:gd name="T20" fmla="*/ 10 w 169"/>
                    <a:gd name="T21" fmla="*/ 109 h 159"/>
                    <a:gd name="T22" fmla="*/ 3 w 169"/>
                    <a:gd name="T23" fmla="*/ 91 h 159"/>
                    <a:gd name="T24" fmla="*/ 2 w 169"/>
                    <a:gd name="T25" fmla="*/ 81 h 159"/>
                    <a:gd name="T26" fmla="*/ 2 w 169"/>
                    <a:gd name="T27" fmla="*/ 56 h 159"/>
                    <a:gd name="T28" fmla="*/ 31 w 169"/>
                    <a:gd name="T29" fmla="*/ 43 h 159"/>
                    <a:gd name="T30" fmla="*/ 34 w 169"/>
                    <a:gd name="T31" fmla="*/ 29 h 159"/>
                    <a:gd name="T32" fmla="*/ 40 w 169"/>
                    <a:gd name="T33" fmla="*/ 30 h 159"/>
                    <a:gd name="T34" fmla="*/ 55 w 169"/>
                    <a:gd name="T35" fmla="*/ 15 h 159"/>
                    <a:gd name="T36" fmla="*/ 70 w 169"/>
                    <a:gd name="T37" fmla="*/ 17 h 159"/>
                    <a:gd name="T38" fmla="*/ 80 w 169"/>
                    <a:gd name="T39" fmla="*/ 7 h 159"/>
                    <a:gd name="T40" fmla="*/ 89 w 169"/>
                    <a:gd name="T41" fmla="*/ 5 h 159"/>
                    <a:gd name="T42" fmla="*/ 103 w 169"/>
                    <a:gd name="T43" fmla="*/ 24 h 159"/>
                    <a:gd name="T44" fmla="*/ 116 w 169"/>
                    <a:gd name="T45" fmla="*/ 30 h 159"/>
                    <a:gd name="T46" fmla="*/ 117 w 169"/>
                    <a:gd name="T47" fmla="*/ 11 h 159"/>
                    <a:gd name="T48" fmla="*/ 122 w 169"/>
                    <a:gd name="T49" fmla="*/ 0 h 159"/>
                    <a:gd name="T50" fmla="*/ 132 w 169"/>
                    <a:gd name="T51" fmla="*/ 15 h 159"/>
                    <a:gd name="T52" fmla="*/ 140 w 169"/>
                    <a:gd name="T53" fmla="*/ 43 h 159"/>
                    <a:gd name="T54" fmla="*/ 156 w 169"/>
                    <a:gd name="T55" fmla="*/ 59 h 159"/>
                    <a:gd name="T56" fmla="*/ 165 w 169"/>
                    <a:gd name="T57" fmla="*/ 72 h 159"/>
                    <a:gd name="T58" fmla="*/ 168 w 169"/>
                    <a:gd name="T59" fmla="*/ 95 h 159"/>
                    <a:gd name="T60" fmla="*/ 157 w 169"/>
                    <a:gd name="T61" fmla="*/ 121 h 159"/>
                    <a:gd name="T62" fmla="*/ 155 w 169"/>
                    <a:gd name="T63" fmla="*/ 145 h 159"/>
                    <a:gd name="T64" fmla="*/ 140 w 169"/>
                    <a:gd name="T65" fmla="*/ 154 h 15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69" h="159">
                      <a:moveTo>
                        <a:pt x="140" y="154"/>
                      </a:moveTo>
                      <a:lnTo>
                        <a:pt x="135" y="155"/>
                      </a:lnTo>
                      <a:lnTo>
                        <a:pt x="132" y="158"/>
                      </a:lnTo>
                      <a:lnTo>
                        <a:pt x="127" y="152"/>
                      </a:lnTo>
                      <a:lnTo>
                        <a:pt x="112" y="145"/>
                      </a:lnTo>
                      <a:lnTo>
                        <a:pt x="110" y="134"/>
                      </a:lnTo>
                      <a:lnTo>
                        <a:pt x="105" y="130"/>
                      </a:lnTo>
                      <a:lnTo>
                        <a:pt x="92" y="130"/>
                      </a:lnTo>
                      <a:lnTo>
                        <a:pt x="92" y="122"/>
                      </a:lnTo>
                      <a:lnTo>
                        <a:pt x="88" y="119"/>
                      </a:lnTo>
                      <a:lnTo>
                        <a:pt x="87" y="112"/>
                      </a:lnTo>
                      <a:lnTo>
                        <a:pt x="78" y="111"/>
                      </a:lnTo>
                      <a:lnTo>
                        <a:pt x="70" y="109"/>
                      </a:lnTo>
                      <a:lnTo>
                        <a:pt x="62" y="111"/>
                      </a:lnTo>
                      <a:lnTo>
                        <a:pt x="62" y="112"/>
                      </a:lnTo>
                      <a:lnTo>
                        <a:pt x="44" y="118"/>
                      </a:lnTo>
                      <a:lnTo>
                        <a:pt x="44" y="121"/>
                      </a:lnTo>
                      <a:lnTo>
                        <a:pt x="28" y="121"/>
                      </a:lnTo>
                      <a:lnTo>
                        <a:pt x="20" y="126"/>
                      </a:lnTo>
                      <a:lnTo>
                        <a:pt x="10" y="121"/>
                      </a:lnTo>
                      <a:lnTo>
                        <a:pt x="10" y="119"/>
                      </a:lnTo>
                      <a:lnTo>
                        <a:pt x="10" y="109"/>
                      </a:lnTo>
                      <a:lnTo>
                        <a:pt x="7" y="99"/>
                      </a:lnTo>
                      <a:lnTo>
                        <a:pt x="3" y="91"/>
                      </a:lnTo>
                      <a:lnTo>
                        <a:pt x="5" y="84"/>
                      </a:lnTo>
                      <a:lnTo>
                        <a:pt x="2" y="81"/>
                      </a:lnTo>
                      <a:lnTo>
                        <a:pt x="0" y="66"/>
                      </a:lnTo>
                      <a:lnTo>
                        <a:pt x="2" y="56"/>
                      </a:lnTo>
                      <a:lnTo>
                        <a:pt x="11" y="48"/>
                      </a:lnTo>
                      <a:lnTo>
                        <a:pt x="31" y="43"/>
                      </a:lnTo>
                      <a:lnTo>
                        <a:pt x="36" y="36"/>
                      </a:lnTo>
                      <a:lnTo>
                        <a:pt x="34" y="29"/>
                      </a:lnTo>
                      <a:lnTo>
                        <a:pt x="39" y="27"/>
                      </a:lnTo>
                      <a:lnTo>
                        <a:pt x="40" y="30"/>
                      </a:lnTo>
                      <a:lnTo>
                        <a:pt x="42" y="25"/>
                      </a:lnTo>
                      <a:lnTo>
                        <a:pt x="55" y="15"/>
                      </a:lnTo>
                      <a:lnTo>
                        <a:pt x="62" y="20"/>
                      </a:lnTo>
                      <a:lnTo>
                        <a:pt x="70" y="17"/>
                      </a:lnTo>
                      <a:lnTo>
                        <a:pt x="72" y="9"/>
                      </a:lnTo>
                      <a:lnTo>
                        <a:pt x="80" y="7"/>
                      </a:lnTo>
                      <a:lnTo>
                        <a:pt x="78" y="1"/>
                      </a:lnTo>
                      <a:lnTo>
                        <a:pt x="89" y="5"/>
                      </a:lnTo>
                      <a:lnTo>
                        <a:pt x="98" y="3"/>
                      </a:lnTo>
                      <a:lnTo>
                        <a:pt x="103" y="24"/>
                      </a:lnTo>
                      <a:lnTo>
                        <a:pt x="110" y="30"/>
                      </a:lnTo>
                      <a:lnTo>
                        <a:pt x="116" y="30"/>
                      </a:lnTo>
                      <a:lnTo>
                        <a:pt x="119" y="17"/>
                      </a:lnTo>
                      <a:lnTo>
                        <a:pt x="117" y="11"/>
                      </a:lnTo>
                      <a:lnTo>
                        <a:pt x="119" y="1"/>
                      </a:lnTo>
                      <a:lnTo>
                        <a:pt x="122" y="0"/>
                      </a:lnTo>
                      <a:lnTo>
                        <a:pt x="127" y="12"/>
                      </a:lnTo>
                      <a:lnTo>
                        <a:pt x="132" y="15"/>
                      </a:lnTo>
                      <a:lnTo>
                        <a:pt x="135" y="27"/>
                      </a:lnTo>
                      <a:lnTo>
                        <a:pt x="140" y="43"/>
                      </a:lnTo>
                      <a:lnTo>
                        <a:pt x="147" y="47"/>
                      </a:lnTo>
                      <a:lnTo>
                        <a:pt x="156" y="59"/>
                      </a:lnTo>
                      <a:lnTo>
                        <a:pt x="157" y="65"/>
                      </a:lnTo>
                      <a:lnTo>
                        <a:pt x="165" y="72"/>
                      </a:lnTo>
                      <a:lnTo>
                        <a:pt x="168" y="85"/>
                      </a:lnTo>
                      <a:lnTo>
                        <a:pt x="168" y="95"/>
                      </a:lnTo>
                      <a:lnTo>
                        <a:pt x="165" y="111"/>
                      </a:lnTo>
                      <a:lnTo>
                        <a:pt x="157" y="121"/>
                      </a:lnTo>
                      <a:lnTo>
                        <a:pt x="155" y="134"/>
                      </a:lnTo>
                      <a:lnTo>
                        <a:pt x="155" y="145"/>
                      </a:lnTo>
                      <a:lnTo>
                        <a:pt x="147" y="147"/>
                      </a:lnTo>
                      <a:lnTo>
                        <a:pt x="140" y="15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7" name="Freeform 25">
                  <a:extLst>
                    <a:ext uri="{FF2B5EF4-FFF2-40B4-BE49-F238E27FC236}">
                      <a16:creationId xmlns:a16="http://schemas.microsoft.com/office/drawing/2014/main" id="{F1DA12F8-5DD3-4489-93C4-D37AFEF4728C}"/>
                    </a:ext>
                  </a:extLst>
                </p:cNvPr>
                <p:cNvSpPr>
                  <a:spLocks/>
                </p:cNvSpPr>
                <p:nvPr/>
              </p:nvSpPr>
              <p:spPr bwMode="grayWhite">
                <a:xfrm>
                  <a:off x="5330" y="3768"/>
                  <a:ext cx="17" cy="20"/>
                </a:xfrm>
                <a:custGeom>
                  <a:avLst/>
                  <a:gdLst>
                    <a:gd name="T0" fmla="*/ 8 w 17"/>
                    <a:gd name="T1" fmla="*/ 16 h 20"/>
                    <a:gd name="T2" fmla="*/ 2 w 17"/>
                    <a:gd name="T3" fmla="*/ 13 h 20"/>
                    <a:gd name="T4" fmla="*/ 2 w 17"/>
                    <a:gd name="T5" fmla="*/ 10 h 20"/>
                    <a:gd name="T6" fmla="*/ 2 w 17"/>
                    <a:gd name="T7" fmla="*/ 8 h 20"/>
                    <a:gd name="T8" fmla="*/ 1 w 17"/>
                    <a:gd name="T9" fmla="*/ 5 h 20"/>
                    <a:gd name="T10" fmla="*/ 0 w 17"/>
                    <a:gd name="T11" fmla="*/ 0 h 20"/>
                    <a:gd name="T12" fmla="*/ 2 w 17"/>
                    <a:gd name="T13" fmla="*/ 0 h 20"/>
                    <a:gd name="T14" fmla="*/ 8 w 17"/>
                    <a:gd name="T15" fmla="*/ 2 h 20"/>
                    <a:gd name="T16" fmla="*/ 11 w 17"/>
                    <a:gd name="T17" fmla="*/ 2 h 20"/>
                    <a:gd name="T18" fmla="*/ 12 w 17"/>
                    <a:gd name="T19" fmla="*/ 2 h 20"/>
                    <a:gd name="T20" fmla="*/ 16 w 17"/>
                    <a:gd name="T21" fmla="*/ 0 h 20"/>
                    <a:gd name="T22" fmla="*/ 16 w 17"/>
                    <a:gd name="T23" fmla="*/ 8 h 20"/>
                    <a:gd name="T24" fmla="*/ 14 w 17"/>
                    <a:gd name="T25" fmla="*/ 10 h 20"/>
                    <a:gd name="T26" fmla="*/ 12 w 17"/>
                    <a:gd name="T27" fmla="*/ 13 h 20"/>
                    <a:gd name="T28" fmla="*/ 12 w 17"/>
                    <a:gd name="T29" fmla="*/ 16 h 20"/>
                    <a:gd name="T30" fmla="*/ 11 w 17"/>
                    <a:gd name="T31" fmla="*/ 16 h 20"/>
                    <a:gd name="T32" fmla="*/ 11 w 17"/>
                    <a:gd name="T33" fmla="*/ 19 h 20"/>
                    <a:gd name="T34" fmla="*/ 8 w 17"/>
                    <a:gd name="T35" fmla="*/ 16 h 2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 h="20">
                      <a:moveTo>
                        <a:pt x="8" y="16"/>
                      </a:moveTo>
                      <a:lnTo>
                        <a:pt x="2" y="13"/>
                      </a:lnTo>
                      <a:lnTo>
                        <a:pt x="2" y="10"/>
                      </a:lnTo>
                      <a:lnTo>
                        <a:pt x="2" y="8"/>
                      </a:lnTo>
                      <a:lnTo>
                        <a:pt x="1" y="5"/>
                      </a:lnTo>
                      <a:lnTo>
                        <a:pt x="0" y="0"/>
                      </a:lnTo>
                      <a:lnTo>
                        <a:pt x="2" y="0"/>
                      </a:lnTo>
                      <a:lnTo>
                        <a:pt x="8" y="2"/>
                      </a:lnTo>
                      <a:lnTo>
                        <a:pt x="11" y="2"/>
                      </a:lnTo>
                      <a:lnTo>
                        <a:pt x="12" y="2"/>
                      </a:lnTo>
                      <a:lnTo>
                        <a:pt x="16" y="0"/>
                      </a:lnTo>
                      <a:lnTo>
                        <a:pt x="16" y="8"/>
                      </a:lnTo>
                      <a:lnTo>
                        <a:pt x="14" y="10"/>
                      </a:lnTo>
                      <a:lnTo>
                        <a:pt x="12" y="13"/>
                      </a:lnTo>
                      <a:lnTo>
                        <a:pt x="12" y="16"/>
                      </a:lnTo>
                      <a:lnTo>
                        <a:pt x="11" y="16"/>
                      </a:lnTo>
                      <a:lnTo>
                        <a:pt x="11" y="19"/>
                      </a:lnTo>
                      <a:lnTo>
                        <a:pt x="8" y="1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Freeform 26">
                  <a:extLst>
                    <a:ext uri="{FF2B5EF4-FFF2-40B4-BE49-F238E27FC236}">
                      <a16:creationId xmlns:a16="http://schemas.microsoft.com/office/drawing/2014/main" id="{D8250945-877A-4322-81F5-98B3524C114D}"/>
                    </a:ext>
                  </a:extLst>
                </p:cNvPr>
                <p:cNvSpPr>
                  <a:spLocks/>
                </p:cNvSpPr>
                <p:nvPr/>
              </p:nvSpPr>
              <p:spPr bwMode="grayWhite">
                <a:xfrm>
                  <a:off x="4739" y="3587"/>
                  <a:ext cx="19" cy="76"/>
                </a:xfrm>
                <a:custGeom>
                  <a:avLst/>
                  <a:gdLst>
                    <a:gd name="T0" fmla="*/ 2 w 19"/>
                    <a:gd name="T1" fmla="*/ 26 h 76"/>
                    <a:gd name="T2" fmla="*/ 9 w 19"/>
                    <a:gd name="T3" fmla="*/ 20 h 76"/>
                    <a:gd name="T4" fmla="*/ 14 w 19"/>
                    <a:gd name="T5" fmla="*/ 0 h 76"/>
                    <a:gd name="T6" fmla="*/ 18 w 19"/>
                    <a:gd name="T7" fmla="*/ 30 h 76"/>
                    <a:gd name="T8" fmla="*/ 12 w 19"/>
                    <a:gd name="T9" fmla="*/ 67 h 76"/>
                    <a:gd name="T10" fmla="*/ 0 w 19"/>
                    <a:gd name="T11" fmla="*/ 75 h 76"/>
                    <a:gd name="T12" fmla="*/ 0 w 19"/>
                    <a:gd name="T13" fmla="*/ 57 h 76"/>
                    <a:gd name="T14" fmla="*/ 3 w 19"/>
                    <a:gd name="T15" fmla="*/ 45 h 76"/>
                    <a:gd name="T16" fmla="*/ 2 w 19"/>
                    <a:gd name="T17" fmla="*/ 26 h 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 h="76">
                      <a:moveTo>
                        <a:pt x="2" y="26"/>
                      </a:moveTo>
                      <a:lnTo>
                        <a:pt x="9" y="20"/>
                      </a:lnTo>
                      <a:lnTo>
                        <a:pt x="14" y="0"/>
                      </a:lnTo>
                      <a:lnTo>
                        <a:pt x="18" y="30"/>
                      </a:lnTo>
                      <a:lnTo>
                        <a:pt x="12" y="67"/>
                      </a:lnTo>
                      <a:lnTo>
                        <a:pt x="0" y="75"/>
                      </a:lnTo>
                      <a:lnTo>
                        <a:pt x="0" y="57"/>
                      </a:lnTo>
                      <a:lnTo>
                        <a:pt x="3" y="45"/>
                      </a:lnTo>
                      <a:lnTo>
                        <a:pt x="2" y="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1027" name="Rectangle 30">
            <a:extLst>
              <a:ext uri="{FF2B5EF4-FFF2-40B4-BE49-F238E27FC236}">
                <a16:creationId xmlns:a16="http://schemas.microsoft.com/office/drawing/2014/main" id="{8C99C7C4-7DA0-4214-902A-E81FBAFB6299}"/>
              </a:ext>
            </a:extLst>
          </p:cNvPr>
          <p:cNvSpPr>
            <a:spLocks noGrp="1" noChangeArrowheads="1"/>
          </p:cNvSpPr>
          <p:nvPr>
            <p:ph type="title"/>
          </p:nvPr>
        </p:nvSpPr>
        <p:spPr bwMode="auto">
          <a:xfrm>
            <a:off x="685800" y="28575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8" name="Rectangle 31">
            <a:extLst>
              <a:ext uri="{FF2B5EF4-FFF2-40B4-BE49-F238E27FC236}">
                <a16:creationId xmlns:a16="http://schemas.microsoft.com/office/drawing/2014/main" id="{C41177FD-783B-4D62-B05B-FF4654CB0C43}"/>
              </a:ext>
            </a:extLst>
          </p:cNvPr>
          <p:cNvSpPr>
            <a:spLocks noGrp="1" noChangeArrowheads="1"/>
          </p:cNvSpPr>
          <p:nvPr>
            <p:ph type="body" idx="1"/>
          </p:nvPr>
        </p:nvSpPr>
        <p:spPr bwMode="auto">
          <a:xfrm>
            <a:off x="685800" y="165735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56" name="Rectangle 32">
            <a:extLst>
              <a:ext uri="{FF2B5EF4-FFF2-40B4-BE49-F238E27FC236}">
                <a16:creationId xmlns:a16="http://schemas.microsoft.com/office/drawing/2014/main" id="{42B9EDE6-C1E5-4C7C-81EC-FDBC44815544}"/>
              </a:ext>
            </a:extLst>
          </p:cNvPr>
          <p:cNvSpPr>
            <a:spLocks noGrp="1" noChangeArrowheads="1"/>
          </p:cNvSpPr>
          <p:nvPr>
            <p:ph type="dt" sz="half" idx="2"/>
          </p:nvPr>
        </p:nvSpPr>
        <p:spPr bwMode="auto">
          <a:xfrm>
            <a:off x="68580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defRPr sz="1400"/>
            </a:lvl1pPr>
          </a:lstStyle>
          <a:p>
            <a:pPr>
              <a:defRPr/>
            </a:pPr>
            <a:endParaRPr lang="en-US"/>
          </a:p>
        </p:txBody>
      </p:sp>
      <p:sp>
        <p:nvSpPr>
          <p:cNvPr id="1058" name="Rectangle 34">
            <a:extLst>
              <a:ext uri="{FF2B5EF4-FFF2-40B4-BE49-F238E27FC236}">
                <a16:creationId xmlns:a16="http://schemas.microsoft.com/office/drawing/2014/main" id="{EBC35A75-0D91-4DF2-8B5A-E9BA49DD33DC}"/>
              </a:ext>
            </a:extLst>
          </p:cNvPr>
          <p:cNvSpPr>
            <a:spLocks noGrp="1" noChangeArrowheads="1"/>
          </p:cNvSpPr>
          <p:nvPr>
            <p:ph type="sldNum" sz="quarter" idx="4"/>
          </p:nvPr>
        </p:nvSpPr>
        <p:spPr bwMode="auto">
          <a:xfrm>
            <a:off x="6553200" y="63992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r">
              <a:defRPr sz="1400"/>
            </a:lvl1pPr>
          </a:lstStyle>
          <a:p>
            <a:pPr>
              <a:defRPr/>
            </a:pPr>
            <a:fld id="{C5667FEB-F826-45A7-A157-D54901A428E9}" type="slidenum">
              <a:rPr lang="en-US" altLang="en-US"/>
              <a:pPr>
                <a:defRPr/>
              </a:pPr>
              <a:t>‹#›</a:t>
            </a:fld>
            <a:endParaRPr lang="en-US" altLang="en-US"/>
          </a:p>
        </p:txBody>
      </p:sp>
      <p:sp>
        <p:nvSpPr>
          <p:cNvPr id="1031" name="Rectangle 35">
            <a:extLst>
              <a:ext uri="{FF2B5EF4-FFF2-40B4-BE49-F238E27FC236}">
                <a16:creationId xmlns:a16="http://schemas.microsoft.com/office/drawing/2014/main" id="{9CF96448-1F1C-43C3-B486-ECBB207ABB6E}"/>
              </a:ext>
            </a:extLst>
          </p:cNvPr>
          <p:cNvSpPr>
            <a:spLocks noChangeArrowheads="1"/>
          </p:cNvSpPr>
          <p:nvPr userDrawn="1"/>
        </p:nvSpPr>
        <p:spPr bwMode="auto">
          <a:xfrm>
            <a:off x="1676400" y="6438900"/>
            <a:ext cx="558165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r>
              <a:rPr lang="en-US" sz="1000" dirty="0">
                <a:latin typeface="Arial" panose="020B0604020202020204" pitchFamily="34" charset="0"/>
              </a:rPr>
              <a:t>Liang, Introduction to Java Programming, Eleventh Edition, (c) 2017 Pearson Education, Inc. All rights reserved. </a:t>
            </a:r>
          </a:p>
        </p:txBody>
      </p:sp>
    </p:spTree>
  </p:cSld>
  <p:clrMap bg1="lt1" tx1="dk1" bg2="lt2" tx2="dk2" accent1="accent1" accent2="accent2" accent3="accent3" accent4="accent4" accent5="accent5" accent6="accent6" hlink="hlink" folHlink="folHlink"/>
  <p:sldLayoutIdLst>
    <p:sldLayoutId id="2147483933" r:id="rId1"/>
    <p:sldLayoutId id="2147483922" r:id="rId2"/>
    <p:sldLayoutId id="2147483923" r:id="rId3"/>
    <p:sldLayoutId id="2147483924" r:id="rId4"/>
    <p:sldLayoutId id="2147483925" r:id="rId5"/>
    <p:sldLayoutId id="2147483926" r:id="rId6"/>
    <p:sldLayoutId id="2147483927" r:id="rId7"/>
    <p:sldLayoutId id="2147483928" r:id="rId8"/>
    <p:sldLayoutId id="2147483929" r:id="rId9"/>
    <p:sldLayoutId id="2147483930" r:id="rId10"/>
    <p:sldLayoutId id="2147483931" r:id="rId11"/>
    <p:sldLayoutId id="2147483932" r:id="rId12"/>
  </p:sldLayoutIdLst>
  <p:hf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4.wmf"/><Relationship Id="rId13" Type="http://schemas.openxmlformats.org/officeDocument/2006/relationships/oleObject" Target="../embeddings/oleObject6.bin"/><Relationship Id="rId18" Type="http://schemas.openxmlformats.org/officeDocument/2006/relationships/image" Target="../media/image9.w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6.wmf"/><Relationship Id="rId17" Type="http://schemas.openxmlformats.org/officeDocument/2006/relationships/oleObject" Target="../embeddings/oleObject8.bin"/><Relationship Id="rId2" Type="http://schemas.openxmlformats.org/officeDocument/2006/relationships/notesSlide" Target="../notesSlides/notesSlide5.xml"/><Relationship Id="rId16" Type="http://schemas.openxmlformats.org/officeDocument/2006/relationships/image" Target="../media/image8.wmf"/><Relationship Id="rId1" Type="http://schemas.openxmlformats.org/officeDocument/2006/relationships/slideLayout" Target="../slideLayouts/slideLayout2.xml"/><Relationship Id="rId6" Type="http://schemas.openxmlformats.org/officeDocument/2006/relationships/image" Target="../media/image3.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5.wmf"/><Relationship Id="rId4" Type="http://schemas.openxmlformats.org/officeDocument/2006/relationships/image" Target="../media/image2.wmf"/><Relationship Id="rId9" Type="http://schemas.openxmlformats.org/officeDocument/2006/relationships/oleObject" Target="../embeddings/oleObject4.bin"/><Relationship Id="rId14" Type="http://schemas.openxmlformats.org/officeDocument/2006/relationships/image" Target="../media/image7.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wmf"/><Relationship Id="rId5" Type="http://schemas.openxmlformats.org/officeDocument/2006/relationships/oleObject" Target="../embeddings/oleObject10.bin"/><Relationship Id="rId4" Type="http://schemas.openxmlformats.org/officeDocument/2006/relationships/image" Target="../media/image2.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wmf"/></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5.wmf"/><Relationship Id="rId5" Type="http://schemas.openxmlformats.org/officeDocument/2006/relationships/oleObject" Target="../embeddings/oleObject14.bin"/><Relationship Id="rId4" Type="http://schemas.openxmlformats.org/officeDocument/2006/relationships/image" Target="../media/image14.w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7.w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8.w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4">
            <a:extLst>
              <a:ext uri="{FF2B5EF4-FFF2-40B4-BE49-F238E27FC236}">
                <a16:creationId xmlns:a16="http://schemas.microsoft.com/office/drawing/2014/main" id="{79D60D43-79B1-481A-9598-381018F9E232}"/>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3360A64-C56A-4C2A-AEA5-FA7628C26457}" type="slidenum">
              <a:rPr lang="en-US" altLang="en-US" sz="1400" smtClean="0"/>
              <a:pPr>
                <a:spcBef>
                  <a:spcPct val="0"/>
                </a:spcBef>
                <a:buClrTx/>
                <a:buSzTx/>
                <a:buFontTx/>
                <a:buNone/>
              </a:pPr>
              <a:t>1</a:t>
            </a:fld>
            <a:endParaRPr lang="en-US" altLang="en-US" sz="1400"/>
          </a:p>
        </p:txBody>
      </p:sp>
      <p:sp>
        <p:nvSpPr>
          <p:cNvPr id="4099" name="Rectangle 2">
            <a:extLst>
              <a:ext uri="{FF2B5EF4-FFF2-40B4-BE49-F238E27FC236}">
                <a16:creationId xmlns:a16="http://schemas.microsoft.com/office/drawing/2014/main" id="{58E4B0F6-9D84-4981-84F8-45D9C3B682D9}"/>
              </a:ext>
            </a:extLst>
          </p:cNvPr>
          <p:cNvSpPr>
            <a:spLocks noGrp="1" noChangeArrowheads="1"/>
          </p:cNvSpPr>
          <p:nvPr>
            <p:ph type="title"/>
          </p:nvPr>
        </p:nvSpPr>
        <p:spPr>
          <a:xfrm>
            <a:off x="685800" y="1143000"/>
            <a:ext cx="7772400" cy="1428750"/>
          </a:xfrm>
          <a:noFill/>
        </p:spPr>
        <p:txBody>
          <a:bodyPr/>
          <a:lstStyle/>
          <a:p>
            <a:r>
              <a:rPr lang="en-US" altLang="en-US" sz="4000" dirty="0"/>
              <a:t>Searching and Algorithms Analysis</a:t>
            </a:r>
          </a:p>
        </p:txBody>
      </p:sp>
      <p:sp>
        <p:nvSpPr>
          <p:cNvPr id="4100" name="Rectangle 6">
            <a:extLst>
              <a:ext uri="{FF2B5EF4-FFF2-40B4-BE49-F238E27FC236}">
                <a16:creationId xmlns:a16="http://schemas.microsoft.com/office/drawing/2014/main" id="{8201ECA7-D9AA-4CF8-ABF4-C75FDE7E8BCD}"/>
              </a:ext>
            </a:extLst>
          </p:cNvPr>
          <p:cNvSpPr>
            <a:spLocks noChangeArrowheads="1"/>
          </p:cNvSpPr>
          <p:nvPr/>
        </p:nvSpPr>
        <p:spPr bwMode="auto">
          <a:xfrm>
            <a:off x="2281238" y="26336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101" name="Rectangle 8">
            <a:extLst>
              <a:ext uri="{FF2B5EF4-FFF2-40B4-BE49-F238E27FC236}">
                <a16:creationId xmlns:a16="http://schemas.microsoft.com/office/drawing/2014/main" id="{F94C5123-605F-4CD0-AC10-6C83F039918D}"/>
              </a:ext>
            </a:extLst>
          </p:cNvPr>
          <p:cNvSpPr>
            <a:spLocks noChangeArrowheads="1"/>
          </p:cNvSpPr>
          <p:nvPr/>
        </p:nvSpPr>
        <p:spPr bwMode="auto">
          <a:xfrm>
            <a:off x="2281238" y="2824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102" name="Rectangle 10">
            <a:extLst>
              <a:ext uri="{FF2B5EF4-FFF2-40B4-BE49-F238E27FC236}">
                <a16:creationId xmlns:a16="http://schemas.microsoft.com/office/drawing/2014/main" id="{95C4D66C-68B9-4859-B72D-87F9C8BFC1C1}"/>
              </a:ext>
            </a:extLst>
          </p:cNvPr>
          <p:cNvSpPr>
            <a:spLocks noChangeArrowheads="1"/>
          </p:cNvSpPr>
          <p:nvPr/>
        </p:nvSpPr>
        <p:spPr bwMode="auto">
          <a:xfrm>
            <a:off x="0" y="29035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103" name="Rectangle 12">
            <a:extLst>
              <a:ext uri="{FF2B5EF4-FFF2-40B4-BE49-F238E27FC236}">
                <a16:creationId xmlns:a16="http://schemas.microsoft.com/office/drawing/2014/main" id="{3C859D7A-A693-4587-BE88-2A00744A3258}"/>
              </a:ext>
            </a:extLst>
          </p:cNvPr>
          <p:cNvSpPr>
            <a:spLocks noChangeArrowheads="1"/>
          </p:cNvSpPr>
          <p:nvPr/>
        </p:nvSpPr>
        <p:spPr bwMode="auto">
          <a:xfrm>
            <a:off x="0" y="25336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4">
            <a:extLst>
              <a:ext uri="{FF2B5EF4-FFF2-40B4-BE49-F238E27FC236}">
                <a16:creationId xmlns:a16="http://schemas.microsoft.com/office/drawing/2014/main" id="{39DA25C0-E6FA-4585-AB98-17EF1B4C8997}"/>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41A32C2-4E0D-4D58-9A64-4642EA506C31}" type="slidenum">
              <a:rPr lang="en-US" altLang="en-US" sz="1400" smtClean="0"/>
              <a:pPr>
                <a:spcBef>
                  <a:spcPct val="0"/>
                </a:spcBef>
                <a:buClrTx/>
                <a:buSzTx/>
                <a:buFontTx/>
                <a:buNone/>
              </a:pPr>
              <a:t>2</a:t>
            </a:fld>
            <a:endParaRPr lang="en-US" altLang="en-US" sz="1400"/>
          </a:p>
        </p:txBody>
      </p:sp>
      <p:sp>
        <p:nvSpPr>
          <p:cNvPr id="6147" name="Rectangle 2">
            <a:extLst>
              <a:ext uri="{FF2B5EF4-FFF2-40B4-BE49-F238E27FC236}">
                <a16:creationId xmlns:a16="http://schemas.microsoft.com/office/drawing/2014/main" id="{B5EB7DB5-533F-4FA7-8470-A7C92890053F}"/>
              </a:ext>
            </a:extLst>
          </p:cNvPr>
          <p:cNvSpPr>
            <a:spLocks noGrp="1" noChangeArrowheads="1"/>
          </p:cNvSpPr>
          <p:nvPr>
            <p:ph type="title"/>
          </p:nvPr>
        </p:nvSpPr>
        <p:spPr>
          <a:xfrm>
            <a:off x="685800" y="381000"/>
            <a:ext cx="7772400" cy="533400"/>
          </a:xfrm>
          <a:noFill/>
        </p:spPr>
        <p:txBody>
          <a:bodyPr/>
          <a:lstStyle/>
          <a:p>
            <a:r>
              <a:rPr lang="en-US" altLang="en-US"/>
              <a:t>Executing Time </a:t>
            </a:r>
          </a:p>
        </p:txBody>
      </p:sp>
      <p:sp>
        <p:nvSpPr>
          <p:cNvPr id="6148" name="Rectangle 3">
            <a:extLst>
              <a:ext uri="{FF2B5EF4-FFF2-40B4-BE49-F238E27FC236}">
                <a16:creationId xmlns:a16="http://schemas.microsoft.com/office/drawing/2014/main" id="{A9426CED-FEE4-40AF-BFA1-99151D6F85EA}"/>
              </a:ext>
            </a:extLst>
          </p:cNvPr>
          <p:cNvSpPr>
            <a:spLocks noGrp="1" noChangeArrowheads="1"/>
          </p:cNvSpPr>
          <p:nvPr>
            <p:ph type="body" idx="1"/>
          </p:nvPr>
        </p:nvSpPr>
        <p:spPr>
          <a:xfrm>
            <a:off x="228600" y="1066800"/>
            <a:ext cx="8686800" cy="5334000"/>
          </a:xfrm>
          <a:noFill/>
        </p:spPr>
        <p:txBody>
          <a:bodyPr/>
          <a:lstStyle/>
          <a:p>
            <a:pPr marL="442913" indent="-358775">
              <a:spcBef>
                <a:spcPct val="0"/>
              </a:spcBef>
              <a:buFont typeface="Monotype Sorts" pitchFamily="2" charset="2"/>
              <a:buNone/>
            </a:pPr>
            <a:r>
              <a:rPr lang="en-US" altLang="en-US" sz="2400"/>
              <a:t>	Suppose two algorithms perform the same task such as search (linear search vs. binary search). Which one is better? One possible approach to answer this question is to implement these algorithms in Java and run the programs to get execution time. But there are two problems for this approach:</a:t>
            </a:r>
          </a:p>
          <a:p>
            <a:pPr marL="442913" indent="-358775">
              <a:spcBef>
                <a:spcPct val="0"/>
              </a:spcBef>
              <a:buFont typeface="Monotype Sorts" pitchFamily="2" charset="2"/>
              <a:buNone/>
            </a:pPr>
            <a:endParaRPr lang="en-US" altLang="en-US" sz="2400"/>
          </a:p>
          <a:p>
            <a:pPr marL="442913" indent="-358775">
              <a:lnSpc>
                <a:spcPct val="90000"/>
              </a:lnSpc>
              <a:buFont typeface="Wingdings" panose="05000000000000000000" pitchFamily="2" charset="2"/>
              <a:buChar char="§"/>
            </a:pPr>
            <a:r>
              <a:rPr lang="en-US" altLang="en-US" sz="2400"/>
              <a:t>First, there are many tasks running concurrently on a computer. The execution time of a particular program is dependent on the system load.  </a:t>
            </a:r>
          </a:p>
          <a:p>
            <a:pPr marL="442913" indent="-358775">
              <a:lnSpc>
                <a:spcPct val="90000"/>
              </a:lnSpc>
              <a:buFont typeface="Wingdings" panose="05000000000000000000" pitchFamily="2" charset="2"/>
              <a:buChar char="§"/>
            </a:pPr>
            <a:r>
              <a:rPr lang="en-US" altLang="en-US" sz="2400"/>
              <a:t>Second, the execution time is dependent on specific input. Consider linear search and binary search for example. If an element to be searched happens to be the first in the list, linear search will find the element quicker than binary search.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4">
            <a:extLst>
              <a:ext uri="{FF2B5EF4-FFF2-40B4-BE49-F238E27FC236}">
                <a16:creationId xmlns:a16="http://schemas.microsoft.com/office/drawing/2014/main" id="{D4646418-100B-4E21-B1B3-C21AA4D5A207}"/>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87DCF8C-F6A2-419A-A6C4-8CBAE9B002B3}" type="slidenum">
              <a:rPr lang="en-US" altLang="en-US" sz="1400" smtClean="0"/>
              <a:pPr>
                <a:spcBef>
                  <a:spcPct val="0"/>
                </a:spcBef>
                <a:buClrTx/>
                <a:buSzTx/>
                <a:buFontTx/>
                <a:buNone/>
              </a:pPr>
              <a:t>3</a:t>
            </a:fld>
            <a:endParaRPr lang="en-US" altLang="en-US" sz="1400"/>
          </a:p>
        </p:txBody>
      </p:sp>
      <p:sp>
        <p:nvSpPr>
          <p:cNvPr id="7171" name="Rectangle 2">
            <a:extLst>
              <a:ext uri="{FF2B5EF4-FFF2-40B4-BE49-F238E27FC236}">
                <a16:creationId xmlns:a16="http://schemas.microsoft.com/office/drawing/2014/main" id="{53F850B9-35D4-492C-814E-1CE7033306CA}"/>
              </a:ext>
            </a:extLst>
          </p:cNvPr>
          <p:cNvSpPr>
            <a:spLocks noGrp="1" noChangeArrowheads="1"/>
          </p:cNvSpPr>
          <p:nvPr>
            <p:ph type="title"/>
          </p:nvPr>
        </p:nvSpPr>
        <p:spPr>
          <a:xfrm>
            <a:off x="685800" y="228600"/>
            <a:ext cx="7772400" cy="533400"/>
          </a:xfrm>
          <a:noFill/>
        </p:spPr>
        <p:txBody>
          <a:bodyPr/>
          <a:lstStyle/>
          <a:p>
            <a:r>
              <a:rPr lang="en-US" altLang="en-US"/>
              <a:t>Growth Rate </a:t>
            </a:r>
          </a:p>
        </p:txBody>
      </p:sp>
      <p:sp>
        <p:nvSpPr>
          <p:cNvPr id="7172" name="Rectangle 3">
            <a:extLst>
              <a:ext uri="{FF2B5EF4-FFF2-40B4-BE49-F238E27FC236}">
                <a16:creationId xmlns:a16="http://schemas.microsoft.com/office/drawing/2014/main" id="{8E7786F0-5964-4B46-9ED0-61DCCF139854}"/>
              </a:ext>
            </a:extLst>
          </p:cNvPr>
          <p:cNvSpPr>
            <a:spLocks noGrp="1" noChangeArrowheads="1"/>
          </p:cNvSpPr>
          <p:nvPr>
            <p:ph type="body" idx="1"/>
          </p:nvPr>
        </p:nvSpPr>
        <p:spPr>
          <a:xfrm>
            <a:off x="228600" y="1143000"/>
            <a:ext cx="8610600" cy="5029200"/>
          </a:xfrm>
          <a:noFill/>
        </p:spPr>
        <p:txBody>
          <a:bodyPr/>
          <a:lstStyle/>
          <a:p>
            <a:pPr marL="541337" indent="-457200">
              <a:spcBef>
                <a:spcPct val="0"/>
              </a:spcBef>
            </a:pPr>
            <a:r>
              <a:rPr lang="en-US" altLang="en-US" sz="2800" dirty="0"/>
              <a:t>Analyze algorithms independent of computers and specific input. </a:t>
            </a:r>
          </a:p>
          <a:p>
            <a:pPr marL="541337" indent="-457200">
              <a:spcBef>
                <a:spcPct val="0"/>
              </a:spcBef>
            </a:pPr>
            <a:r>
              <a:rPr lang="en-US" altLang="en-US" sz="2800" dirty="0"/>
              <a:t>This approach approximates the effect of a change on the size of the input.</a:t>
            </a:r>
          </a:p>
          <a:p>
            <a:pPr marL="541337" indent="-457200">
              <a:spcBef>
                <a:spcPct val="0"/>
              </a:spcBef>
            </a:pPr>
            <a:r>
              <a:rPr lang="en-US" altLang="en-US" sz="2800" dirty="0"/>
              <a:t>How fast an algorithm’s execution time increases as the input size increases.</a:t>
            </a:r>
          </a:p>
          <a:p>
            <a:pPr marL="541337" indent="-457200">
              <a:spcBef>
                <a:spcPct val="0"/>
              </a:spcBef>
            </a:pPr>
            <a:r>
              <a:rPr lang="en-US" altLang="en-US" sz="2800" dirty="0"/>
              <a:t>Compare two algorithms by examining their </a:t>
            </a:r>
            <a:r>
              <a:rPr lang="en-US" altLang="en-US" sz="2800" i="1" dirty="0"/>
              <a:t>growth rates</a:t>
            </a:r>
            <a:r>
              <a:rPr lang="en-US" altLang="en-US" sz="2800"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97EA5-B28F-343A-380A-FD373BCE4B04}"/>
              </a:ext>
            </a:extLst>
          </p:cNvPr>
          <p:cNvSpPr>
            <a:spLocks noGrp="1"/>
          </p:cNvSpPr>
          <p:nvPr>
            <p:ph type="title"/>
          </p:nvPr>
        </p:nvSpPr>
        <p:spPr/>
        <p:txBody>
          <a:bodyPr/>
          <a:lstStyle/>
          <a:p>
            <a:r>
              <a:rPr lang="en-US" dirty="0"/>
              <a:t>Constant Time Operations</a:t>
            </a:r>
          </a:p>
        </p:txBody>
      </p:sp>
      <p:sp>
        <p:nvSpPr>
          <p:cNvPr id="4" name="Slide Number Placeholder 3">
            <a:extLst>
              <a:ext uri="{FF2B5EF4-FFF2-40B4-BE49-F238E27FC236}">
                <a16:creationId xmlns:a16="http://schemas.microsoft.com/office/drawing/2014/main" id="{56E996C6-BB3B-352F-D35E-BB9754ABCBBF}"/>
              </a:ext>
            </a:extLst>
          </p:cNvPr>
          <p:cNvSpPr>
            <a:spLocks noGrp="1"/>
          </p:cNvSpPr>
          <p:nvPr>
            <p:ph type="sldNum" sz="quarter" idx="11"/>
          </p:nvPr>
        </p:nvSpPr>
        <p:spPr/>
        <p:txBody>
          <a:bodyPr/>
          <a:lstStyle/>
          <a:p>
            <a:pPr>
              <a:defRPr/>
            </a:pPr>
            <a:fld id="{0906D619-5E3B-4A71-B141-FF8AEF8EAC81}" type="slidenum">
              <a:rPr lang="en-US" altLang="en-US" smtClean="0"/>
              <a:pPr>
                <a:defRPr/>
              </a:pPr>
              <a:t>4</a:t>
            </a:fld>
            <a:endParaRPr lang="en-US" altLang="en-US"/>
          </a:p>
        </p:txBody>
      </p:sp>
      <p:pic>
        <p:nvPicPr>
          <p:cNvPr id="8" name="Content Placeholder 7" descr="A screenshot of a computer program&#10;&#10;AI-generated content may be incorrect.">
            <a:extLst>
              <a:ext uri="{FF2B5EF4-FFF2-40B4-BE49-F238E27FC236}">
                <a16:creationId xmlns:a16="http://schemas.microsoft.com/office/drawing/2014/main" id="{502CB8ED-BB70-8DAA-D3E5-8A13AE00339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71127" y="2519195"/>
            <a:ext cx="6601746" cy="2391109"/>
          </a:xfrm>
        </p:spPr>
      </p:pic>
    </p:spTree>
    <p:extLst>
      <p:ext uri="{BB962C8B-B14F-4D97-AF65-F5344CB8AC3E}">
        <p14:creationId xmlns:p14="http://schemas.microsoft.com/office/powerpoint/2010/main" val="1613172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4">
            <a:extLst>
              <a:ext uri="{FF2B5EF4-FFF2-40B4-BE49-F238E27FC236}">
                <a16:creationId xmlns:a16="http://schemas.microsoft.com/office/drawing/2014/main" id="{B8EA6A13-2F4C-4460-ACF9-E485078E64CF}"/>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91D3959-8C1B-447F-BDC9-11F69A7B11C3}" type="slidenum">
              <a:rPr lang="en-US" altLang="en-US" sz="1400" smtClean="0"/>
              <a:pPr>
                <a:spcBef>
                  <a:spcPct val="0"/>
                </a:spcBef>
                <a:buClrTx/>
                <a:buSzTx/>
                <a:buFontTx/>
                <a:buNone/>
              </a:pPr>
              <a:t>5</a:t>
            </a:fld>
            <a:endParaRPr lang="en-US" altLang="en-US" sz="1400"/>
          </a:p>
        </p:txBody>
      </p:sp>
      <p:sp>
        <p:nvSpPr>
          <p:cNvPr id="30723" name="Rectangle 2">
            <a:extLst>
              <a:ext uri="{FF2B5EF4-FFF2-40B4-BE49-F238E27FC236}">
                <a16:creationId xmlns:a16="http://schemas.microsoft.com/office/drawing/2014/main" id="{C4B8A22A-A076-404D-B67E-BD0C07B4DA86}"/>
              </a:ext>
            </a:extLst>
          </p:cNvPr>
          <p:cNvSpPr>
            <a:spLocks noGrp="1" noChangeArrowheads="1"/>
          </p:cNvSpPr>
          <p:nvPr>
            <p:ph type="title"/>
          </p:nvPr>
        </p:nvSpPr>
        <p:spPr>
          <a:xfrm>
            <a:off x="457200" y="228600"/>
            <a:ext cx="8229600" cy="609600"/>
          </a:xfrm>
          <a:noFill/>
        </p:spPr>
        <p:txBody>
          <a:bodyPr/>
          <a:lstStyle/>
          <a:p>
            <a:r>
              <a:rPr lang="en-US" altLang="en-US" sz="3600"/>
              <a:t>Comparing Common Growth Functions</a:t>
            </a:r>
          </a:p>
        </p:txBody>
      </p:sp>
      <p:sp>
        <p:nvSpPr>
          <p:cNvPr id="30724" name="Rectangle 4">
            <a:extLst>
              <a:ext uri="{FF2B5EF4-FFF2-40B4-BE49-F238E27FC236}">
                <a16:creationId xmlns:a16="http://schemas.microsoft.com/office/drawing/2014/main" id="{6983330B-5274-46A0-A7FD-8D00BF04697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25" name="Rectangle 5">
            <a:extLst>
              <a:ext uri="{FF2B5EF4-FFF2-40B4-BE49-F238E27FC236}">
                <a16:creationId xmlns:a16="http://schemas.microsoft.com/office/drawing/2014/main" id="{DD35ED4C-B549-4A37-8780-7F92EF9ECC8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26" name="Rectangle 6">
            <a:extLst>
              <a:ext uri="{FF2B5EF4-FFF2-40B4-BE49-F238E27FC236}">
                <a16:creationId xmlns:a16="http://schemas.microsoft.com/office/drawing/2014/main" id="{8D588C40-C8F4-42B6-9AE3-1E74784B256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27" name="Rectangle 7">
            <a:extLst>
              <a:ext uri="{FF2B5EF4-FFF2-40B4-BE49-F238E27FC236}">
                <a16:creationId xmlns:a16="http://schemas.microsoft.com/office/drawing/2014/main" id="{7D694C30-4E8F-40D8-9723-9C7EED0C2A0E}"/>
              </a:ext>
            </a:extLst>
          </p:cNvPr>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28" name="Rectangle 11">
            <a:extLst>
              <a:ext uri="{FF2B5EF4-FFF2-40B4-BE49-F238E27FC236}">
                <a16:creationId xmlns:a16="http://schemas.microsoft.com/office/drawing/2014/main" id="{7D86B7DA-54AD-4BF8-A6C7-AD6E21F6EE38}"/>
              </a:ext>
            </a:extLst>
          </p:cNvPr>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30729" name="Object 10">
            <a:extLst>
              <a:ext uri="{FF2B5EF4-FFF2-40B4-BE49-F238E27FC236}">
                <a16:creationId xmlns:a16="http://schemas.microsoft.com/office/drawing/2014/main" id="{4E3F78E0-C8B3-4F45-A301-5F6F24DBE35B}"/>
              </a:ext>
            </a:extLst>
          </p:cNvPr>
          <p:cNvGraphicFramePr>
            <a:graphicFrameLocks noChangeAspect="1"/>
          </p:cNvGraphicFramePr>
          <p:nvPr/>
        </p:nvGraphicFramePr>
        <p:xfrm>
          <a:off x="990600" y="1219200"/>
          <a:ext cx="6934200" cy="428625"/>
        </p:xfrm>
        <a:graphic>
          <a:graphicData uri="http://schemas.openxmlformats.org/presentationml/2006/ole">
            <mc:AlternateContent xmlns:mc="http://schemas.openxmlformats.org/markup-compatibility/2006">
              <mc:Choice xmlns:v="urn:schemas-microsoft-com:vml" Requires="v">
                <p:oleObj name="Equation" r:id="rId3" imgW="3695700" imgH="228600" progId="Equation.3">
                  <p:embed/>
                </p:oleObj>
              </mc:Choice>
              <mc:Fallback>
                <p:oleObj name="Equation" r:id="rId3" imgW="3695700" imgH="228600" progId="Equation.3">
                  <p:embed/>
                  <p:pic>
                    <p:nvPicPr>
                      <p:cNvPr id="30729" name="Object 10">
                        <a:extLst>
                          <a:ext uri="{FF2B5EF4-FFF2-40B4-BE49-F238E27FC236}">
                            <a16:creationId xmlns:a16="http://schemas.microsoft.com/office/drawing/2014/main" id="{4E3F78E0-C8B3-4F45-A301-5F6F24DBE3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1219200"/>
                        <a:ext cx="69342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30" name="Object 21">
            <a:extLst>
              <a:ext uri="{FF2B5EF4-FFF2-40B4-BE49-F238E27FC236}">
                <a16:creationId xmlns:a16="http://schemas.microsoft.com/office/drawing/2014/main" id="{43FD072B-901D-4335-BFA0-9552BA5B4381}"/>
              </a:ext>
            </a:extLst>
          </p:cNvPr>
          <p:cNvGraphicFramePr>
            <a:graphicFrameLocks noChangeAspect="1"/>
          </p:cNvGraphicFramePr>
          <p:nvPr/>
        </p:nvGraphicFramePr>
        <p:xfrm>
          <a:off x="1524000" y="2057400"/>
          <a:ext cx="595313" cy="381000"/>
        </p:xfrm>
        <a:graphic>
          <a:graphicData uri="http://schemas.openxmlformats.org/presentationml/2006/ole">
            <mc:AlternateContent xmlns:mc="http://schemas.openxmlformats.org/markup-compatibility/2006">
              <mc:Choice xmlns:v="urn:schemas-microsoft-com:vml" Requires="v">
                <p:oleObj name="Equation" r:id="rId5" imgW="317225" imgH="203024" progId="Equation.3">
                  <p:embed/>
                </p:oleObj>
              </mc:Choice>
              <mc:Fallback>
                <p:oleObj name="Equation" r:id="rId5" imgW="317225" imgH="203024" progId="Equation.3">
                  <p:embed/>
                  <p:pic>
                    <p:nvPicPr>
                      <p:cNvPr id="30730" name="Object 21">
                        <a:extLst>
                          <a:ext uri="{FF2B5EF4-FFF2-40B4-BE49-F238E27FC236}">
                            <a16:creationId xmlns:a16="http://schemas.microsoft.com/office/drawing/2014/main" id="{43FD072B-901D-4335-BFA0-9552BA5B438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2057400"/>
                        <a:ext cx="5953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31" name="Rectangle 22">
            <a:extLst>
              <a:ext uri="{FF2B5EF4-FFF2-40B4-BE49-F238E27FC236}">
                <a16:creationId xmlns:a16="http://schemas.microsoft.com/office/drawing/2014/main" id="{05D54C0D-D926-4BD8-A673-476C9175ED22}"/>
              </a:ext>
            </a:extLst>
          </p:cNvPr>
          <p:cNvSpPr>
            <a:spLocks noGrp="1" noChangeArrowheads="1"/>
          </p:cNvSpPr>
          <p:nvPr>
            <p:ph type="body" idx="1"/>
          </p:nvPr>
        </p:nvSpPr>
        <p:spPr>
          <a:xfrm>
            <a:off x="2971800" y="1981200"/>
            <a:ext cx="3581400" cy="381000"/>
          </a:xfrm>
          <a:noFill/>
        </p:spPr>
        <p:txBody>
          <a:bodyPr/>
          <a:lstStyle/>
          <a:p>
            <a:pPr marL="263525" indent="0">
              <a:buFont typeface="Monotype Sorts" pitchFamily="2" charset="2"/>
              <a:buNone/>
            </a:pPr>
            <a:r>
              <a:rPr lang="en-US" altLang="en-US" sz="3000"/>
              <a:t>Constant time</a:t>
            </a:r>
          </a:p>
        </p:txBody>
      </p:sp>
      <p:graphicFrame>
        <p:nvGraphicFramePr>
          <p:cNvPr id="30732" name="Object 23">
            <a:extLst>
              <a:ext uri="{FF2B5EF4-FFF2-40B4-BE49-F238E27FC236}">
                <a16:creationId xmlns:a16="http://schemas.microsoft.com/office/drawing/2014/main" id="{EB15DC9D-AF0C-41DA-A06C-5FCCE37AF0D4}"/>
              </a:ext>
            </a:extLst>
          </p:cNvPr>
          <p:cNvGraphicFramePr>
            <a:graphicFrameLocks noChangeAspect="1"/>
          </p:cNvGraphicFramePr>
          <p:nvPr/>
        </p:nvGraphicFramePr>
        <p:xfrm>
          <a:off x="1524000" y="2667000"/>
          <a:ext cx="1049338" cy="381000"/>
        </p:xfrm>
        <a:graphic>
          <a:graphicData uri="http://schemas.openxmlformats.org/presentationml/2006/ole">
            <mc:AlternateContent xmlns:mc="http://schemas.openxmlformats.org/markup-compatibility/2006">
              <mc:Choice xmlns:v="urn:schemas-microsoft-com:vml" Requires="v">
                <p:oleObj name="Equation" r:id="rId7" imgW="558558" imgH="203112" progId="Equation.3">
                  <p:embed/>
                </p:oleObj>
              </mc:Choice>
              <mc:Fallback>
                <p:oleObj name="Equation" r:id="rId7" imgW="558558" imgH="203112" progId="Equation.3">
                  <p:embed/>
                  <p:pic>
                    <p:nvPicPr>
                      <p:cNvPr id="30732" name="Object 23">
                        <a:extLst>
                          <a:ext uri="{FF2B5EF4-FFF2-40B4-BE49-F238E27FC236}">
                            <a16:creationId xmlns:a16="http://schemas.microsoft.com/office/drawing/2014/main" id="{EB15DC9D-AF0C-41DA-A06C-5FCCE37AF0D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0" y="2667000"/>
                        <a:ext cx="104933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33" name="Rectangle 24">
            <a:extLst>
              <a:ext uri="{FF2B5EF4-FFF2-40B4-BE49-F238E27FC236}">
                <a16:creationId xmlns:a16="http://schemas.microsoft.com/office/drawing/2014/main" id="{234FF0FF-9CE2-409B-B1E9-FC3FB398A69F}"/>
              </a:ext>
            </a:extLst>
          </p:cNvPr>
          <p:cNvSpPr>
            <a:spLocks noChangeArrowheads="1"/>
          </p:cNvSpPr>
          <p:nvPr/>
        </p:nvSpPr>
        <p:spPr bwMode="auto">
          <a:xfrm>
            <a:off x="3048000" y="2590800"/>
            <a:ext cx="3581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263525">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pitchFamily="2" charset="2"/>
              <a:buNone/>
            </a:pPr>
            <a:r>
              <a:rPr lang="en-US" altLang="en-US" sz="3000"/>
              <a:t>Logarithmic time</a:t>
            </a:r>
            <a:r>
              <a:rPr lang="en-US" altLang="en-US"/>
              <a:t> </a:t>
            </a:r>
          </a:p>
        </p:txBody>
      </p:sp>
      <p:graphicFrame>
        <p:nvGraphicFramePr>
          <p:cNvPr id="30734" name="Object 25">
            <a:extLst>
              <a:ext uri="{FF2B5EF4-FFF2-40B4-BE49-F238E27FC236}">
                <a16:creationId xmlns:a16="http://schemas.microsoft.com/office/drawing/2014/main" id="{F6F57510-C2A8-4319-84C2-B211504D006A}"/>
              </a:ext>
            </a:extLst>
          </p:cNvPr>
          <p:cNvGraphicFramePr>
            <a:graphicFrameLocks noChangeAspect="1"/>
          </p:cNvGraphicFramePr>
          <p:nvPr/>
        </p:nvGraphicFramePr>
        <p:xfrm>
          <a:off x="1524000" y="3276600"/>
          <a:ext cx="644525" cy="381000"/>
        </p:xfrm>
        <a:graphic>
          <a:graphicData uri="http://schemas.openxmlformats.org/presentationml/2006/ole">
            <mc:AlternateContent xmlns:mc="http://schemas.openxmlformats.org/markup-compatibility/2006">
              <mc:Choice xmlns:v="urn:schemas-microsoft-com:vml" Requires="v">
                <p:oleObj name="Equation" r:id="rId9" imgW="342751" imgH="203112" progId="Equation.3">
                  <p:embed/>
                </p:oleObj>
              </mc:Choice>
              <mc:Fallback>
                <p:oleObj name="Equation" r:id="rId9" imgW="342751" imgH="203112" progId="Equation.3">
                  <p:embed/>
                  <p:pic>
                    <p:nvPicPr>
                      <p:cNvPr id="30734" name="Object 25">
                        <a:extLst>
                          <a:ext uri="{FF2B5EF4-FFF2-40B4-BE49-F238E27FC236}">
                            <a16:creationId xmlns:a16="http://schemas.microsoft.com/office/drawing/2014/main" id="{F6F57510-C2A8-4319-84C2-B211504D006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24000" y="3276600"/>
                        <a:ext cx="6445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35" name="Rectangle 26">
            <a:extLst>
              <a:ext uri="{FF2B5EF4-FFF2-40B4-BE49-F238E27FC236}">
                <a16:creationId xmlns:a16="http://schemas.microsoft.com/office/drawing/2014/main" id="{AEFA6473-3B85-4563-A03C-3E029AD42FC8}"/>
              </a:ext>
            </a:extLst>
          </p:cNvPr>
          <p:cNvSpPr>
            <a:spLocks noChangeArrowheads="1"/>
          </p:cNvSpPr>
          <p:nvPr/>
        </p:nvSpPr>
        <p:spPr bwMode="auto">
          <a:xfrm>
            <a:off x="3048000" y="3200400"/>
            <a:ext cx="3581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263525">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pitchFamily="2" charset="2"/>
              <a:buNone/>
            </a:pPr>
            <a:r>
              <a:rPr lang="en-US" altLang="en-US" sz="3000"/>
              <a:t>Linear time</a:t>
            </a:r>
            <a:r>
              <a:rPr lang="en-US" altLang="en-US"/>
              <a:t> </a:t>
            </a:r>
          </a:p>
        </p:txBody>
      </p:sp>
      <p:graphicFrame>
        <p:nvGraphicFramePr>
          <p:cNvPr id="30736" name="Object 27">
            <a:extLst>
              <a:ext uri="{FF2B5EF4-FFF2-40B4-BE49-F238E27FC236}">
                <a16:creationId xmlns:a16="http://schemas.microsoft.com/office/drawing/2014/main" id="{53EF05E8-3F3A-436A-A82D-1DF076EC1878}"/>
              </a:ext>
            </a:extLst>
          </p:cNvPr>
          <p:cNvGraphicFramePr>
            <a:graphicFrameLocks noChangeAspect="1"/>
          </p:cNvGraphicFramePr>
          <p:nvPr/>
        </p:nvGraphicFramePr>
        <p:xfrm>
          <a:off x="1524000" y="3886200"/>
          <a:ext cx="1241425" cy="381000"/>
        </p:xfrm>
        <a:graphic>
          <a:graphicData uri="http://schemas.openxmlformats.org/presentationml/2006/ole">
            <mc:AlternateContent xmlns:mc="http://schemas.openxmlformats.org/markup-compatibility/2006">
              <mc:Choice xmlns:v="urn:schemas-microsoft-com:vml" Requires="v">
                <p:oleObj name="Equation" r:id="rId11" imgW="660113" imgH="203112" progId="Equation.3">
                  <p:embed/>
                </p:oleObj>
              </mc:Choice>
              <mc:Fallback>
                <p:oleObj name="Equation" r:id="rId11" imgW="660113" imgH="203112" progId="Equation.3">
                  <p:embed/>
                  <p:pic>
                    <p:nvPicPr>
                      <p:cNvPr id="30736" name="Object 27">
                        <a:extLst>
                          <a:ext uri="{FF2B5EF4-FFF2-40B4-BE49-F238E27FC236}">
                            <a16:creationId xmlns:a16="http://schemas.microsoft.com/office/drawing/2014/main" id="{53EF05E8-3F3A-436A-A82D-1DF076EC187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24000" y="3886200"/>
                        <a:ext cx="12414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37" name="Rectangle 28">
            <a:extLst>
              <a:ext uri="{FF2B5EF4-FFF2-40B4-BE49-F238E27FC236}">
                <a16:creationId xmlns:a16="http://schemas.microsoft.com/office/drawing/2014/main" id="{54BD5494-691D-483A-BB1C-872056B88803}"/>
              </a:ext>
            </a:extLst>
          </p:cNvPr>
          <p:cNvSpPr>
            <a:spLocks noChangeArrowheads="1"/>
          </p:cNvSpPr>
          <p:nvPr/>
        </p:nvSpPr>
        <p:spPr bwMode="auto">
          <a:xfrm>
            <a:off x="3124200" y="3810000"/>
            <a:ext cx="3581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263525">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pitchFamily="2" charset="2"/>
              <a:buNone/>
            </a:pPr>
            <a:r>
              <a:rPr lang="en-US" altLang="en-US" sz="3000"/>
              <a:t>Log-linear time</a:t>
            </a:r>
            <a:r>
              <a:rPr lang="en-US" altLang="en-US"/>
              <a:t> </a:t>
            </a:r>
          </a:p>
        </p:txBody>
      </p:sp>
      <p:graphicFrame>
        <p:nvGraphicFramePr>
          <p:cNvPr id="30738" name="Object 29">
            <a:extLst>
              <a:ext uri="{FF2B5EF4-FFF2-40B4-BE49-F238E27FC236}">
                <a16:creationId xmlns:a16="http://schemas.microsoft.com/office/drawing/2014/main" id="{DB0C5AE4-CE05-46C4-BAD4-E73E5771C73F}"/>
              </a:ext>
            </a:extLst>
          </p:cNvPr>
          <p:cNvGraphicFramePr>
            <a:graphicFrameLocks noChangeAspect="1"/>
          </p:cNvGraphicFramePr>
          <p:nvPr/>
        </p:nvGraphicFramePr>
        <p:xfrm>
          <a:off x="1524000" y="4495800"/>
          <a:ext cx="762000" cy="428625"/>
        </p:xfrm>
        <a:graphic>
          <a:graphicData uri="http://schemas.openxmlformats.org/presentationml/2006/ole">
            <mc:AlternateContent xmlns:mc="http://schemas.openxmlformats.org/markup-compatibility/2006">
              <mc:Choice xmlns:v="urn:schemas-microsoft-com:vml" Requires="v">
                <p:oleObj name="Equation" r:id="rId13" imgW="406224" imgH="228501" progId="Equation.3">
                  <p:embed/>
                </p:oleObj>
              </mc:Choice>
              <mc:Fallback>
                <p:oleObj name="Equation" r:id="rId13" imgW="406224" imgH="228501" progId="Equation.3">
                  <p:embed/>
                  <p:pic>
                    <p:nvPicPr>
                      <p:cNvPr id="30738" name="Object 29">
                        <a:extLst>
                          <a:ext uri="{FF2B5EF4-FFF2-40B4-BE49-F238E27FC236}">
                            <a16:creationId xmlns:a16="http://schemas.microsoft.com/office/drawing/2014/main" id="{DB0C5AE4-CE05-46C4-BAD4-E73E5771C73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24000" y="4495800"/>
                        <a:ext cx="7620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39" name="Rectangle 30">
            <a:extLst>
              <a:ext uri="{FF2B5EF4-FFF2-40B4-BE49-F238E27FC236}">
                <a16:creationId xmlns:a16="http://schemas.microsoft.com/office/drawing/2014/main" id="{BBD9E2EB-9147-4B3D-92D6-815362C33E58}"/>
              </a:ext>
            </a:extLst>
          </p:cNvPr>
          <p:cNvSpPr>
            <a:spLocks noChangeArrowheads="1"/>
          </p:cNvSpPr>
          <p:nvPr/>
        </p:nvSpPr>
        <p:spPr bwMode="auto">
          <a:xfrm>
            <a:off x="3124200" y="4419600"/>
            <a:ext cx="3581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263525">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pitchFamily="2" charset="2"/>
              <a:buNone/>
            </a:pPr>
            <a:r>
              <a:rPr lang="en-US" altLang="en-US" sz="3000"/>
              <a:t>Quadratic time</a:t>
            </a:r>
            <a:r>
              <a:rPr lang="en-US" altLang="en-US"/>
              <a:t> </a:t>
            </a:r>
          </a:p>
        </p:txBody>
      </p:sp>
      <p:graphicFrame>
        <p:nvGraphicFramePr>
          <p:cNvPr id="30740" name="Object 31">
            <a:extLst>
              <a:ext uri="{FF2B5EF4-FFF2-40B4-BE49-F238E27FC236}">
                <a16:creationId xmlns:a16="http://schemas.microsoft.com/office/drawing/2014/main" id="{8251772E-0BCE-428B-9D4C-9F2355B0AE46}"/>
              </a:ext>
            </a:extLst>
          </p:cNvPr>
          <p:cNvGraphicFramePr>
            <a:graphicFrameLocks noChangeAspect="1"/>
          </p:cNvGraphicFramePr>
          <p:nvPr/>
        </p:nvGraphicFramePr>
        <p:xfrm>
          <a:off x="1524000" y="5181600"/>
          <a:ext cx="762000" cy="428625"/>
        </p:xfrm>
        <a:graphic>
          <a:graphicData uri="http://schemas.openxmlformats.org/presentationml/2006/ole">
            <mc:AlternateContent xmlns:mc="http://schemas.openxmlformats.org/markup-compatibility/2006">
              <mc:Choice xmlns:v="urn:schemas-microsoft-com:vml" Requires="v">
                <p:oleObj name="Equation" r:id="rId15" imgW="406224" imgH="228501" progId="Equation.3">
                  <p:embed/>
                </p:oleObj>
              </mc:Choice>
              <mc:Fallback>
                <p:oleObj name="Equation" r:id="rId15" imgW="406224" imgH="228501" progId="Equation.3">
                  <p:embed/>
                  <p:pic>
                    <p:nvPicPr>
                      <p:cNvPr id="30740" name="Object 31">
                        <a:extLst>
                          <a:ext uri="{FF2B5EF4-FFF2-40B4-BE49-F238E27FC236}">
                            <a16:creationId xmlns:a16="http://schemas.microsoft.com/office/drawing/2014/main" id="{8251772E-0BCE-428B-9D4C-9F2355B0AE4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24000" y="5181600"/>
                        <a:ext cx="7620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41" name="Rectangle 32">
            <a:extLst>
              <a:ext uri="{FF2B5EF4-FFF2-40B4-BE49-F238E27FC236}">
                <a16:creationId xmlns:a16="http://schemas.microsoft.com/office/drawing/2014/main" id="{1BD45BE4-A74D-4096-9B70-4AE63E7E2BE9}"/>
              </a:ext>
            </a:extLst>
          </p:cNvPr>
          <p:cNvSpPr>
            <a:spLocks noChangeArrowheads="1"/>
          </p:cNvSpPr>
          <p:nvPr/>
        </p:nvSpPr>
        <p:spPr bwMode="auto">
          <a:xfrm>
            <a:off x="3124200" y="5105400"/>
            <a:ext cx="3581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263525">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pitchFamily="2" charset="2"/>
              <a:buNone/>
            </a:pPr>
            <a:r>
              <a:rPr lang="en-US" altLang="en-US" sz="3000"/>
              <a:t>Cubic time</a:t>
            </a:r>
            <a:r>
              <a:rPr lang="en-US" altLang="en-US"/>
              <a:t> </a:t>
            </a:r>
          </a:p>
        </p:txBody>
      </p:sp>
      <p:graphicFrame>
        <p:nvGraphicFramePr>
          <p:cNvPr id="30742" name="Object 33">
            <a:extLst>
              <a:ext uri="{FF2B5EF4-FFF2-40B4-BE49-F238E27FC236}">
                <a16:creationId xmlns:a16="http://schemas.microsoft.com/office/drawing/2014/main" id="{EDE5A368-76AD-4F86-8712-208AEC96793C}"/>
              </a:ext>
            </a:extLst>
          </p:cNvPr>
          <p:cNvGraphicFramePr>
            <a:graphicFrameLocks noChangeAspect="1"/>
          </p:cNvGraphicFramePr>
          <p:nvPr/>
        </p:nvGraphicFramePr>
        <p:xfrm>
          <a:off x="1524000" y="5791200"/>
          <a:ext cx="762000" cy="428625"/>
        </p:xfrm>
        <a:graphic>
          <a:graphicData uri="http://schemas.openxmlformats.org/presentationml/2006/ole">
            <mc:AlternateContent xmlns:mc="http://schemas.openxmlformats.org/markup-compatibility/2006">
              <mc:Choice xmlns:v="urn:schemas-microsoft-com:vml" Requires="v">
                <p:oleObj name="Equation" r:id="rId17" imgW="406224" imgH="228501" progId="Equation.3">
                  <p:embed/>
                </p:oleObj>
              </mc:Choice>
              <mc:Fallback>
                <p:oleObj name="Equation" r:id="rId17" imgW="406224" imgH="228501" progId="Equation.3">
                  <p:embed/>
                  <p:pic>
                    <p:nvPicPr>
                      <p:cNvPr id="30742" name="Object 33">
                        <a:extLst>
                          <a:ext uri="{FF2B5EF4-FFF2-40B4-BE49-F238E27FC236}">
                            <a16:creationId xmlns:a16="http://schemas.microsoft.com/office/drawing/2014/main" id="{EDE5A368-76AD-4F86-8712-208AEC96793C}"/>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524000" y="5791200"/>
                        <a:ext cx="7620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43" name="Rectangle 34">
            <a:extLst>
              <a:ext uri="{FF2B5EF4-FFF2-40B4-BE49-F238E27FC236}">
                <a16:creationId xmlns:a16="http://schemas.microsoft.com/office/drawing/2014/main" id="{88ECA081-5048-4117-A6E0-4A54E3DB396B}"/>
              </a:ext>
            </a:extLst>
          </p:cNvPr>
          <p:cNvSpPr>
            <a:spLocks noChangeArrowheads="1"/>
          </p:cNvSpPr>
          <p:nvPr/>
        </p:nvSpPr>
        <p:spPr bwMode="auto">
          <a:xfrm>
            <a:off x="3124200" y="5715000"/>
            <a:ext cx="3581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263525">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pitchFamily="2" charset="2"/>
              <a:buNone/>
            </a:pPr>
            <a:r>
              <a:rPr lang="en-US" altLang="en-US" sz="3000"/>
              <a:t>Exponential time</a:t>
            </a:r>
            <a:r>
              <a:rPr lang="en-US" altLang="en-US"/>
              <a:t> </a:t>
            </a:r>
          </a:p>
        </p:txBody>
      </p:sp>
    </p:spTree>
    <p:extLst>
      <p:ext uri="{BB962C8B-B14F-4D97-AF65-F5344CB8AC3E}">
        <p14:creationId xmlns:p14="http://schemas.microsoft.com/office/powerpoint/2010/main" val="2566528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4">
            <a:extLst>
              <a:ext uri="{FF2B5EF4-FFF2-40B4-BE49-F238E27FC236}">
                <a16:creationId xmlns:a16="http://schemas.microsoft.com/office/drawing/2014/main" id="{CEE9442E-54B8-40B5-B0C5-80BBDA672B77}"/>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31F36AC-E385-45E8-A676-D362E544E6AD}" type="slidenum">
              <a:rPr lang="en-US" altLang="en-US" sz="1400" smtClean="0"/>
              <a:pPr>
                <a:spcBef>
                  <a:spcPct val="0"/>
                </a:spcBef>
                <a:buClrTx/>
                <a:buSzTx/>
                <a:buFontTx/>
                <a:buNone/>
              </a:pPr>
              <a:t>6</a:t>
            </a:fld>
            <a:endParaRPr lang="en-US" altLang="en-US" sz="1400"/>
          </a:p>
        </p:txBody>
      </p:sp>
      <p:sp>
        <p:nvSpPr>
          <p:cNvPr id="31747" name="Rectangle 2">
            <a:extLst>
              <a:ext uri="{FF2B5EF4-FFF2-40B4-BE49-F238E27FC236}">
                <a16:creationId xmlns:a16="http://schemas.microsoft.com/office/drawing/2014/main" id="{52A70897-E268-4FD9-8986-BB961D8429B3}"/>
              </a:ext>
            </a:extLst>
          </p:cNvPr>
          <p:cNvSpPr>
            <a:spLocks noGrp="1" noChangeArrowheads="1"/>
          </p:cNvSpPr>
          <p:nvPr>
            <p:ph type="title"/>
          </p:nvPr>
        </p:nvSpPr>
        <p:spPr>
          <a:xfrm>
            <a:off x="457200" y="228600"/>
            <a:ext cx="8229600" cy="609600"/>
          </a:xfrm>
          <a:noFill/>
        </p:spPr>
        <p:txBody>
          <a:bodyPr/>
          <a:lstStyle/>
          <a:p>
            <a:r>
              <a:rPr lang="en-US" altLang="en-US" sz="3600"/>
              <a:t>Comparing Common Growth Functions</a:t>
            </a:r>
          </a:p>
        </p:txBody>
      </p:sp>
      <p:sp>
        <p:nvSpPr>
          <p:cNvPr id="31748" name="Rectangle 3">
            <a:extLst>
              <a:ext uri="{FF2B5EF4-FFF2-40B4-BE49-F238E27FC236}">
                <a16:creationId xmlns:a16="http://schemas.microsoft.com/office/drawing/2014/main" id="{80B4E0DC-3961-4E45-B703-769ACC10128C}"/>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49" name="Rectangle 4">
            <a:extLst>
              <a:ext uri="{FF2B5EF4-FFF2-40B4-BE49-F238E27FC236}">
                <a16:creationId xmlns:a16="http://schemas.microsoft.com/office/drawing/2014/main" id="{07FD1AFD-769E-4EC9-B31E-B2612B350F2D}"/>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50" name="Rectangle 5">
            <a:extLst>
              <a:ext uri="{FF2B5EF4-FFF2-40B4-BE49-F238E27FC236}">
                <a16:creationId xmlns:a16="http://schemas.microsoft.com/office/drawing/2014/main" id="{19564865-B264-4295-AC8F-CB8008B7012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51" name="Rectangle 6">
            <a:extLst>
              <a:ext uri="{FF2B5EF4-FFF2-40B4-BE49-F238E27FC236}">
                <a16:creationId xmlns:a16="http://schemas.microsoft.com/office/drawing/2014/main" id="{AC88634D-0AA8-420A-A897-110C7E97E2AF}"/>
              </a:ext>
            </a:extLst>
          </p:cNvPr>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52" name="Rectangle 7">
            <a:extLst>
              <a:ext uri="{FF2B5EF4-FFF2-40B4-BE49-F238E27FC236}">
                <a16:creationId xmlns:a16="http://schemas.microsoft.com/office/drawing/2014/main" id="{7712EABB-B70D-4EA5-891A-DA6CE1D8DEF1}"/>
              </a:ext>
            </a:extLst>
          </p:cNvPr>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31753" name="Object 8">
            <a:extLst>
              <a:ext uri="{FF2B5EF4-FFF2-40B4-BE49-F238E27FC236}">
                <a16:creationId xmlns:a16="http://schemas.microsoft.com/office/drawing/2014/main" id="{E538999A-9A2C-4884-8DA8-FE9AAD1DE871}"/>
              </a:ext>
            </a:extLst>
          </p:cNvPr>
          <p:cNvGraphicFramePr>
            <a:graphicFrameLocks noChangeAspect="1"/>
          </p:cNvGraphicFramePr>
          <p:nvPr/>
        </p:nvGraphicFramePr>
        <p:xfrm>
          <a:off x="990600" y="1219200"/>
          <a:ext cx="6934200" cy="428625"/>
        </p:xfrm>
        <a:graphic>
          <a:graphicData uri="http://schemas.openxmlformats.org/presentationml/2006/ole">
            <mc:AlternateContent xmlns:mc="http://schemas.openxmlformats.org/markup-compatibility/2006">
              <mc:Choice xmlns:v="urn:schemas-microsoft-com:vml" Requires="v">
                <p:oleObj name="Equation" r:id="rId3" imgW="3695700" imgH="228600" progId="Equation.3">
                  <p:embed/>
                </p:oleObj>
              </mc:Choice>
              <mc:Fallback>
                <p:oleObj name="Equation" r:id="rId3" imgW="3695700" imgH="228600" progId="Equation.3">
                  <p:embed/>
                  <p:pic>
                    <p:nvPicPr>
                      <p:cNvPr id="31753" name="Object 8">
                        <a:extLst>
                          <a:ext uri="{FF2B5EF4-FFF2-40B4-BE49-F238E27FC236}">
                            <a16:creationId xmlns:a16="http://schemas.microsoft.com/office/drawing/2014/main" id="{E538999A-9A2C-4884-8DA8-FE9AAD1DE8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1219200"/>
                        <a:ext cx="69342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54" name="Rectangle 25">
            <a:extLst>
              <a:ext uri="{FF2B5EF4-FFF2-40B4-BE49-F238E27FC236}">
                <a16:creationId xmlns:a16="http://schemas.microsoft.com/office/drawing/2014/main" id="{ED265140-99F3-48EB-891E-EFF87E37301B}"/>
              </a:ext>
            </a:extLst>
          </p:cNvPr>
          <p:cNvSpPr>
            <a:spLocks noChangeArrowheads="1"/>
          </p:cNvSpPr>
          <p:nvPr/>
        </p:nvSpPr>
        <p:spPr bwMode="auto">
          <a:xfrm>
            <a:off x="0" y="2333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31755" name="Object 24">
            <a:extLst>
              <a:ext uri="{FF2B5EF4-FFF2-40B4-BE49-F238E27FC236}">
                <a16:creationId xmlns:a16="http://schemas.microsoft.com/office/drawing/2014/main" id="{C6B8F0DE-8F59-44DD-82F2-4843CB691EF3}"/>
              </a:ext>
            </a:extLst>
          </p:cNvPr>
          <p:cNvGraphicFramePr>
            <a:graphicFrameLocks noChangeAspect="1"/>
          </p:cNvGraphicFramePr>
          <p:nvPr/>
        </p:nvGraphicFramePr>
        <p:xfrm>
          <a:off x="304800" y="1905000"/>
          <a:ext cx="8458200" cy="4275138"/>
        </p:xfrm>
        <a:graphic>
          <a:graphicData uri="http://schemas.openxmlformats.org/presentationml/2006/ole">
            <mc:AlternateContent xmlns:mc="http://schemas.openxmlformats.org/markup-compatibility/2006">
              <mc:Choice xmlns:v="urn:schemas-microsoft-com:vml" Requires="v">
                <p:oleObj name="Picture" r:id="rId5" imgW="3351276" imgH="2183892" progId="Word.Picture.8">
                  <p:embed/>
                </p:oleObj>
              </mc:Choice>
              <mc:Fallback>
                <p:oleObj name="Picture" r:id="rId5" imgW="3351276" imgH="2183892" progId="Word.Picture.8">
                  <p:embed/>
                  <p:pic>
                    <p:nvPicPr>
                      <p:cNvPr id="31755" name="Object 24">
                        <a:extLst>
                          <a:ext uri="{FF2B5EF4-FFF2-40B4-BE49-F238E27FC236}">
                            <a16:creationId xmlns:a16="http://schemas.microsoft.com/office/drawing/2014/main" id="{C6B8F0DE-8F59-44DD-82F2-4843CB691EF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1905000"/>
                        <a:ext cx="8458200" cy="427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82443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4">
            <a:extLst>
              <a:ext uri="{FF2B5EF4-FFF2-40B4-BE49-F238E27FC236}">
                <a16:creationId xmlns:a16="http://schemas.microsoft.com/office/drawing/2014/main" id="{552D0F93-779E-4DD6-8418-43CA770729C5}"/>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E561769-68E3-4959-95AB-BC97E12D96D6}" type="slidenum">
              <a:rPr lang="en-US" altLang="en-US" sz="1400" smtClean="0"/>
              <a:pPr>
                <a:spcBef>
                  <a:spcPct val="0"/>
                </a:spcBef>
                <a:buClrTx/>
                <a:buSzTx/>
                <a:buFontTx/>
                <a:buNone/>
              </a:pPr>
              <a:t>7</a:t>
            </a:fld>
            <a:endParaRPr lang="en-US" altLang="en-US" sz="1400"/>
          </a:p>
        </p:txBody>
      </p:sp>
      <p:sp>
        <p:nvSpPr>
          <p:cNvPr id="10243" name="Rectangle 2">
            <a:extLst>
              <a:ext uri="{FF2B5EF4-FFF2-40B4-BE49-F238E27FC236}">
                <a16:creationId xmlns:a16="http://schemas.microsoft.com/office/drawing/2014/main" id="{767A5F6F-042A-44F2-91C4-0CBCDE7D2FCD}"/>
              </a:ext>
            </a:extLst>
          </p:cNvPr>
          <p:cNvSpPr>
            <a:spLocks noGrp="1" noChangeArrowheads="1"/>
          </p:cNvSpPr>
          <p:nvPr>
            <p:ph type="title"/>
          </p:nvPr>
        </p:nvSpPr>
        <p:spPr>
          <a:xfrm>
            <a:off x="685800" y="228600"/>
            <a:ext cx="7772400" cy="685800"/>
          </a:xfrm>
          <a:noFill/>
        </p:spPr>
        <p:txBody>
          <a:bodyPr/>
          <a:lstStyle/>
          <a:p>
            <a:r>
              <a:rPr lang="en-US" altLang="en-US"/>
              <a:t>Ignoring Multiplicative Constants </a:t>
            </a:r>
          </a:p>
        </p:txBody>
      </p:sp>
      <p:sp>
        <p:nvSpPr>
          <p:cNvPr id="10244" name="Rectangle 3">
            <a:extLst>
              <a:ext uri="{FF2B5EF4-FFF2-40B4-BE49-F238E27FC236}">
                <a16:creationId xmlns:a16="http://schemas.microsoft.com/office/drawing/2014/main" id="{36C27616-E68B-4295-8316-3E77F02C2AC8}"/>
              </a:ext>
            </a:extLst>
          </p:cNvPr>
          <p:cNvSpPr>
            <a:spLocks noGrp="1" noChangeArrowheads="1"/>
          </p:cNvSpPr>
          <p:nvPr>
            <p:ph type="body" idx="1"/>
          </p:nvPr>
        </p:nvSpPr>
        <p:spPr>
          <a:xfrm>
            <a:off x="228600" y="1066800"/>
            <a:ext cx="8763000" cy="2286000"/>
          </a:xfrm>
          <a:noFill/>
        </p:spPr>
        <p:txBody>
          <a:bodyPr/>
          <a:lstStyle/>
          <a:p>
            <a:pPr marL="0" indent="0">
              <a:spcBef>
                <a:spcPct val="0"/>
              </a:spcBef>
              <a:buFont typeface="Monotype Sorts" pitchFamily="2" charset="2"/>
              <a:buNone/>
            </a:pPr>
            <a:r>
              <a:rPr lang="en-US" altLang="en-US" sz="2400"/>
              <a:t>The linear search algorithm requires </a:t>
            </a:r>
            <a:r>
              <a:rPr lang="en-US" altLang="en-US" sz="2400" i="1"/>
              <a:t>n</a:t>
            </a:r>
            <a:r>
              <a:rPr lang="en-US" altLang="en-US" sz="2400"/>
              <a:t> comparisons in the worst-case and  </a:t>
            </a:r>
            <a:r>
              <a:rPr lang="en-US" altLang="en-US" sz="2400" i="1"/>
              <a:t>n/2</a:t>
            </a:r>
            <a:r>
              <a:rPr lang="en-US" altLang="en-US" sz="2400"/>
              <a:t> comparisons in the average-case. Using the Big  </a:t>
            </a:r>
            <a:r>
              <a:rPr lang="en-US" altLang="en-US" sz="2400" i="1"/>
              <a:t>O</a:t>
            </a:r>
            <a:r>
              <a:rPr lang="en-US" altLang="en-US" sz="2400"/>
              <a:t> notation, both cases require  </a:t>
            </a:r>
            <a:r>
              <a:rPr lang="en-US" altLang="en-US" sz="2400" i="1"/>
              <a:t>O(n)</a:t>
            </a:r>
            <a:r>
              <a:rPr lang="en-US" altLang="en-US" sz="2400"/>
              <a:t> time. The multiplicative constant (1/2) can be omitted. Algorithm analysis is focused on growth rate. The multiplicative constants have no impact on growth rates. The growth rate for  n/2 or 100n is the same as n, i.e., O(n) = O(n/2) = O(100n).</a:t>
            </a:r>
          </a:p>
        </p:txBody>
      </p:sp>
      <p:sp>
        <p:nvSpPr>
          <p:cNvPr id="10245" name="Rectangle 5">
            <a:extLst>
              <a:ext uri="{FF2B5EF4-FFF2-40B4-BE49-F238E27FC236}">
                <a16:creationId xmlns:a16="http://schemas.microsoft.com/office/drawing/2014/main" id="{5A69E32F-AA33-4DBB-B892-0A8013058FF3}"/>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0246" name="Rectangle 7">
            <a:extLst>
              <a:ext uri="{FF2B5EF4-FFF2-40B4-BE49-F238E27FC236}">
                <a16:creationId xmlns:a16="http://schemas.microsoft.com/office/drawing/2014/main" id="{9D4C8731-B349-4248-99AE-8E88C4110B5F}"/>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0247" name="Rectangle 9">
            <a:extLst>
              <a:ext uri="{FF2B5EF4-FFF2-40B4-BE49-F238E27FC236}">
                <a16:creationId xmlns:a16="http://schemas.microsoft.com/office/drawing/2014/main" id="{2644CD7A-CFA0-4635-95DA-51B88B12E433}"/>
              </a:ext>
            </a:extLst>
          </p:cNvPr>
          <p:cNvSpPr>
            <a:spLocks noChangeArrowheads="1"/>
          </p:cNvSpPr>
          <p:nvPr/>
        </p:nvSpPr>
        <p:spPr bwMode="auto">
          <a:xfrm>
            <a:off x="0" y="27400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10248" name="Object 8">
            <a:extLst>
              <a:ext uri="{FF2B5EF4-FFF2-40B4-BE49-F238E27FC236}">
                <a16:creationId xmlns:a16="http://schemas.microsoft.com/office/drawing/2014/main" id="{A40E873C-D925-464A-ABB1-509C3673A756}"/>
              </a:ext>
            </a:extLst>
          </p:cNvPr>
          <p:cNvGraphicFramePr>
            <a:graphicFrameLocks noChangeAspect="1"/>
          </p:cNvGraphicFramePr>
          <p:nvPr/>
        </p:nvGraphicFramePr>
        <p:xfrm>
          <a:off x="304800" y="3429000"/>
          <a:ext cx="7620000" cy="2867025"/>
        </p:xfrm>
        <a:graphic>
          <a:graphicData uri="http://schemas.openxmlformats.org/presentationml/2006/ole">
            <mc:AlternateContent xmlns:mc="http://schemas.openxmlformats.org/markup-compatibility/2006">
              <mc:Choice xmlns:v="urn:schemas-microsoft-com:vml" Requires="v">
                <p:oleObj name="Picture" r:id="rId3" imgW="5262620" imgH="1980233" progId="Word.Picture.8">
                  <p:embed/>
                </p:oleObj>
              </mc:Choice>
              <mc:Fallback>
                <p:oleObj name="Picture" r:id="rId3" imgW="5262620" imgH="1980233" progId="Word.Picture.8">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3429000"/>
                        <a:ext cx="7620000"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4">
            <a:extLst>
              <a:ext uri="{FF2B5EF4-FFF2-40B4-BE49-F238E27FC236}">
                <a16:creationId xmlns:a16="http://schemas.microsoft.com/office/drawing/2014/main" id="{A00E1955-D65D-4CA3-B9BA-112F4195BDC1}"/>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469AF33-3443-40A0-83B2-C5F01A4F11A3}" type="slidenum">
              <a:rPr lang="en-US" altLang="en-US" sz="1400" smtClean="0"/>
              <a:pPr>
                <a:spcBef>
                  <a:spcPct val="0"/>
                </a:spcBef>
                <a:buClrTx/>
                <a:buSzTx/>
                <a:buFontTx/>
                <a:buNone/>
              </a:pPr>
              <a:t>8</a:t>
            </a:fld>
            <a:endParaRPr lang="en-US" altLang="en-US" sz="1400"/>
          </a:p>
        </p:txBody>
      </p:sp>
      <p:sp>
        <p:nvSpPr>
          <p:cNvPr id="11267" name="Rectangle 2">
            <a:extLst>
              <a:ext uri="{FF2B5EF4-FFF2-40B4-BE49-F238E27FC236}">
                <a16:creationId xmlns:a16="http://schemas.microsoft.com/office/drawing/2014/main" id="{1D05034B-7FAD-41C6-8626-CFEA2CBA191B}"/>
              </a:ext>
            </a:extLst>
          </p:cNvPr>
          <p:cNvSpPr>
            <a:spLocks noGrp="1" noChangeArrowheads="1"/>
          </p:cNvSpPr>
          <p:nvPr>
            <p:ph type="title"/>
          </p:nvPr>
        </p:nvSpPr>
        <p:spPr>
          <a:xfrm>
            <a:off x="685800" y="228600"/>
            <a:ext cx="7772400" cy="685800"/>
          </a:xfrm>
          <a:noFill/>
        </p:spPr>
        <p:txBody>
          <a:bodyPr/>
          <a:lstStyle/>
          <a:p>
            <a:r>
              <a:rPr lang="en-US" altLang="en-US"/>
              <a:t>Ignoring Non-Dominating Terms</a:t>
            </a:r>
          </a:p>
        </p:txBody>
      </p:sp>
      <p:sp>
        <p:nvSpPr>
          <p:cNvPr id="11268" name="Rectangle 3">
            <a:extLst>
              <a:ext uri="{FF2B5EF4-FFF2-40B4-BE49-F238E27FC236}">
                <a16:creationId xmlns:a16="http://schemas.microsoft.com/office/drawing/2014/main" id="{662400EE-97E1-40E6-BF81-2A002847DF5B}"/>
              </a:ext>
            </a:extLst>
          </p:cNvPr>
          <p:cNvSpPr>
            <a:spLocks noGrp="1" noChangeArrowheads="1"/>
          </p:cNvSpPr>
          <p:nvPr>
            <p:ph type="body" idx="1"/>
          </p:nvPr>
        </p:nvSpPr>
        <p:spPr>
          <a:xfrm>
            <a:off x="228600" y="1066800"/>
            <a:ext cx="8763000" cy="5105400"/>
          </a:xfrm>
          <a:noFill/>
        </p:spPr>
        <p:txBody>
          <a:bodyPr/>
          <a:lstStyle/>
          <a:p>
            <a:pPr marL="0" indent="0">
              <a:lnSpc>
                <a:spcPct val="90000"/>
              </a:lnSpc>
              <a:spcBef>
                <a:spcPct val="0"/>
              </a:spcBef>
              <a:buFont typeface="Monotype Sorts" pitchFamily="2" charset="2"/>
              <a:buNone/>
            </a:pPr>
            <a:r>
              <a:rPr lang="en-US" altLang="en-US" sz="2800"/>
              <a:t>Consider the algorithm for finding the maximum number in an array of </a:t>
            </a:r>
            <a:r>
              <a:rPr lang="en-US" altLang="en-US" sz="2800" i="1"/>
              <a:t>n</a:t>
            </a:r>
            <a:r>
              <a:rPr lang="en-US" altLang="en-US" sz="2800"/>
              <a:t> elements. If  </a:t>
            </a:r>
            <a:r>
              <a:rPr lang="en-US" altLang="en-US" sz="2800" i="1"/>
              <a:t>n</a:t>
            </a:r>
            <a:r>
              <a:rPr lang="en-US" altLang="en-US" sz="2800"/>
              <a:t> is 2, it takes one comparison to find the maximum number. If </a:t>
            </a:r>
            <a:r>
              <a:rPr lang="en-US" altLang="en-US" sz="2800" i="1"/>
              <a:t>n</a:t>
            </a:r>
            <a:r>
              <a:rPr lang="en-US" altLang="en-US" sz="2800"/>
              <a:t> is 3, it takes two comparisons to find the maximum number. In general, it takes </a:t>
            </a:r>
            <a:r>
              <a:rPr lang="en-US" altLang="en-US" sz="2800" i="1"/>
              <a:t>n-1</a:t>
            </a:r>
            <a:r>
              <a:rPr lang="en-US" altLang="en-US" sz="2800"/>
              <a:t> times of comparisons to find maximum number in a list of  </a:t>
            </a:r>
            <a:r>
              <a:rPr lang="en-US" altLang="en-US" sz="2800" i="1"/>
              <a:t>n</a:t>
            </a:r>
            <a:r>
              <a:rPr lang="en-US" altLang="en-US" sz="2800"/>
              <a:t> elements. Algorithm analysis is for large input size. If the input size is small, there is no significance to estimate an algorithm’s efficiency. As </a:t>
            </a:r>
            <a:r>
              <a:rPr lang="en-US" altLang="en-US" sz="2800" i="1"/>
              <a:t>n</a:t>
            </a:r>
            <a:r>
              <a:rPr lang="en-US" altLang="en-US" sz="2800"/>
              <a:t> grows larger, the </a:t>
            </a:r>
            <a:r>
              <a:rPr lang="en-US" altLang="en-US" sz="2800" i="1"/>
              <a:t>n</a:t>
            </a:r>
            <a:r>
              <a:rPr lang="en-US" altLang="en-US" sz="2800"/>
              <a:t> part in the expression </a:t>
            </a:r>
            <a:r>
              <a:rPr lang="en-US" altLang="en-US" sz="2800" i="1"/>
              <a:t>n-1 </a:t>
            </a:r>
            <a:r>
              <a:rPr lang="en-US" altLang="en-US" sz="2800"/>
              <a:t>dominates the complexity. The Big  </a:t>
            </a:r>
            <a:r>
              <a:rPr lang="en-US" altLang="en-US" sz="2800" i="1"/>
              <a:t>O</a:t>
            </a:r>
            <a:r>
              <a:rPr lang="en-US" altLang="en-US" sz="2800"/>
              <a:t> notation allows you to ignore the non-dominating part (e.g., -1 in the expression </a:t>
            </a:r>
            <a:r>
              <a:rPr lang="en-US" altLang="en-US" sz="2800" i="1"/>
              <a:t>n-1</a:t>
            </a:r>
            <a:r>
              <a:rPr lang="en-US" altLang="en-US" sz="2800"/>
              <a:t>) and highlight the important part (e.g., </a:t>
            </a:r>
            <a:r>
              <a:rPr lang="en-US" altLang="en-US" sz="2800" i="1"/>
              <a:t>n</a:t>
            </a:r>
            <a:r>
              <a:rPr lang="en-US" altLang="en-US" sz="2800"/>
              <a:t> in the expression </a:t>
            </a:r>
            <a:r>
              <a:rPr lang="en-US" altLang="en-US" sz="2800" i="1"/>
              <a:t>n-1</a:t>
            </a:r>
            <a:r>
              <a:rPr lang="en-US" altLang="en-US" sz="2800"/>
              <a:t>). So, the complexity of this algorithm is </a:t>
            </a:r>
            <a:r>
              <a:rPr lang="en-US" altLang="en-US" sz="2800" i="1"/>
              <a:t>O(n)</a:t>
            </a:r>
            <a:r>
              <a:rPr lang="en-US" altLang="en-US" sz="2800"/>
              <a:t>.</a:t>
            </a:r>
          </a:p>
        </p:txBody>
      </p:sp>
      <p:sp>
        <p:nvSpPr>
          <p:cNvPr id="11269" name="Rectangle 4">
            <a:extLst>
              <a:ext uri="{FF2B5EF4-FFF2-40B4-BE49-F238E27FC236}">
                <a16:creationId xmlns:a16="http://schemas.microsoft.com/office/drawing/2014/main" id="{4EA257FF-38C7-4728-9E94-9B5ECE519FC7}"/>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0" name="Rectangle 6">
            <a:extLst>
              <a:ext uri="{FF2B5EF4-FFF2-40B4-BE49-F238E27FC236}">
                <a16:creationId xmlns:a16="http://schemas.microsoft.com/office/drawing/2014/main" id="{D17DD171-BFA9-4950-9A46-B772BFC2E86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695A5-D124-406C-196E-224AEB8F0AB3}"/>
              </a:ext>
            </a:extLst>
          </p:cNvPr>
          <p:cNvSpPr>
            <a:spLocks noGrp="1"/>
          </p:cNvSpPr>
          <p:nvPr>
            <p:ph type="title"/>
          </p:nvPr>
        </p:nvSpPr>
        <p:spPr/>
        <p:txBody>
          <a:bodyPr/>
          <a:lstStyle/>
          <a:p>
            <a:r>
              <a:rPr lang="en-US" dirty="0"/>
              <a:t>The seven useful functions</a:t>
            </a:r>
          </a:p>
        </p:txBody>
      </p:sp>
      <p:sp>
        <p:nvSpPr>
          <p:cNvPr id="3" name="Content Placeholder 2">
            <a:extLst>
              <a:ext uri="{FF2B5EF4-FFF2-40B4-BE49-F238E27FC236}">
                <a16:creationId xmlns:a16="http://schemas.microsoft.com/office/drawing/2014/main" id="{A7382A19-3A0D-99F3-8C21-301B1EB1B495}"/>
              </a:ext>
            </a:extLst>
          </p:cNvPr>
          <p:cNvSpPr>
            <a:spLocks noGrp="1"/>
          </p:cNvSpPr>
          <p:nvPr>
            <p:ph idx="1"/>
          </p:nvPr>
        </p:nvSpPr>
        <p:spPr/>
        <p:txBody>
          <a:bodyPr>
            <a:normAutofit fontScale="92500"/>
          </a:bodyPr>
          <a:lstStyle/>
          <a:p>
            <a:r>
              <a:rPr lang="en-US" sz="2600" dirty="0"/>
              <a:t>The constant function</a:t>
            </a:r>
          </a:p>
          <a:p>
            <a:pPr lvl="1"/>
            <a:r>
              <a:rPr lang="en-US" sz="2600" dirty="0"/>
              <a:t>f(n) = c</a:t>
            </a:r>
          </a:p>
          <a:p>
            <a:r>
              <a:rPr lang="en-US" sz="2600" dirty="0"/>
              <a:t>The logarithm function</a:t>
            </a:r>
          </a:p>
          <a:p>
            <a:pPr lvl="1"/>
            <a:r>
              <a:rPr lang="en-US" sz="2600" dirty="0"/>
              <a:t>f(n) = </a:t>
            </a:r>
            <a:r>
              <a:rPr lang="en-US" sz="2600" dirty="0" err="1"/>
              <a:t>log</a:t>
            </a:r>
            <a:r>
              <a:rPr lang="en-US" sz="2600" baseline="-25000" dirty="0" err="1"/>
              <a:t>b</a:t>
            </a:r>
            <a:r>
              <a:rPr lang="en-US" sz="2600" baseline="-25000" dirty="0"/>
              <a:t> </a:t>
            </a:r>
            <a:r>
              <a:rPr lang="en-US" sz="2600" dirty="0"/>
              <a:t>n, for some constant b &gt; 1</a:t>
            </a:r>
          </a:p>
          <a:p>
            <a:pPr marL="457200" lvl="1" indent="0">
              <a:buNone/>
            </a:pPr>
            <a:r>
              <a:rPr lang="en-US" sz="2600" dirty="0"/>
              <a:t>x = </a:t>
            </a:r>
            <a:r>
              <a:rPr lang="en-US" sz="2600" dirty="0" err="1"/>
              <a:t>log</a:t>
            </a:r>
            <a:r>
              <a:rPr lang="en-US" sz="2600" baseline="-25000" dirty="0" err="1"/>
              <a:t>b</a:t>
            </a:r>
            <a:r>
              <a:rPr lang="en-US" sz="2600" baseline="-25000" dirty="0"/>
              <a:t> </a:t>
            </a:r>
            <a:r>
              <a:rPr lang="en-US" sz="2600" dirty="0"/>
              <a:t>n if and only if b</a:t>
            </a:r>
            <a:r>
              <a:rPr lang="en-US" sz="2600" baseline="30000" dirty="0"/>
              <a:t>x </a:t>
            </a:r>
            <a:r>
              <a:rPr lang="en-US" sz="2600" dirty="0"/>
              <a:t>= n</a:t>
            </a:r>
          </a:p>
          <a:p>
            <a:r>
              <a:rPr lang="en-US" sz="2600" dirty="0"/>
              <a:t>Logarithm rules (given real numbers </a:t>
            </a:r>
            <a:r>
              <a:rPr lang="en-US" sz="2600" dirty="0" err="1"/>
              <a:t>a,c</a:t>
            </a:r>
            <a:r>
              <a:rPr lang="en-US" sz="2600" dirty="0"/>
              <a:t> &gt; 0 and b, d &gt; 1)</a:t>
            </a:r>
          </a:p>
          <a:p>
            <a:pPr marL="800100" lvl="1" indent="-342900">
              <a:buFont typeface="+mj-lt"/>
              <a:buAutoNum type="arabicPeriod"/>
            </a:pPr>
            <a:r>
              <a:rPr lang="en-US" sz="1800" dirty="0" err="1"/>
              <a:t>log</a:t>
            </a:r>
            <a:r>
              <a:rPr lang="en-US" sz="1800" baseline="-25000" dirty="0" err="1"/>
              <a:t>b</a:t>
            </a:r>
            <a:r>
              <a:rPr lang="en-US" sz="1800" baseline="-25000" dirty="0"/>
              <a:t> </a:t>
            </a:r>
            <a:r>
              <a:rPr lang="en-US" sz="1800" dirty="0"/>
              <a:t>(ac) = </a:t>
            </a:r>
            <a:r>
              <a:rPr lang="en-US" sz="1600" dirty="0" err="1"/>
              <a:t>log</a:t>
            </a:r>
            <a:r>
              <a:rPr lang="en-US" sz="1600" baseline="-25000" dirty="0" err="1"/>
              <a:t>b</a:t>
            </a:r>
            <a:r>
              <a:rPr lang="en-US" sz="1600" baseline="-25000" dirty="0"/>
              <a:t> </a:t>
            </a:r>
            <a:r>
              <a:rPr lang="en-US" sz="1600" dirty="0"/>
              <a:t>a + </a:t>
            </a:r>
            <a:r>
              <a:rPr lang="en-US" sz="1600" dirty="0" err="1"/>
              <a:t>log</a:t>
            </a:r>
            <a:r>
              <a:rPr lang="en-US" sz="1600" baseline="-25000" dirty="0" err="1"/>
              <a:t>b</a:t>
            </a:r>
            <a:r>
              <a:rPr lang="en-US" sz="1600" baseline="-25000" dirty="0"/>
              <a:t> </a:t>
            </a:r>
            <a:r>
              <a:rPr lang="en-US" sz="1600" dirty="0"/>
              <a:t>c</a:t>
            </a:r>
          </a:p>
          <a:p>
            <a:pPr marL="800100" lvl="1" indent="-342900">
              <a:buFont typeface="+mj-lt"/>
              <a:buAutoNum type="arabicPeriod"/>
            </a:pPr>
            <a:r>
              <a:rPr lang="en-US" sz="1600" dirty="0" err="1"/>
              <a:t>log</a:t>
            </a:r>
            <a:r>
              <a:rPr lang="en-US" sz="1600" baseline="-25000" dirty="0" err="1"/>
              <a:t>b</a:t>
            </a:r>
            <a:r>
              <a:rPr lang="en-US" sz="1600" baseline="-25000" dirty="0"/>
              <a:t> </a:t>
            </a:r>
            <a:r>
              <a:rPr lang="en-US" sz="1600" dirty="0"/>
              <a:t>(a/c) = </a:t>
            </a:r>
            <a:r>
              <a:rPr lang="en-US" sz="1600" dirty="0" err="1"/>
              <a:t>log</a:t>
            </a:r>
            <a:r>
              <a:rPr lang="en-US" sz="1600" baseline="-25000" dirty="0" err="1"/>
              <a:t>b</a:t>
            </a:r>
            <a:r>
              <a:rPr lang="en-US" sz="1600" baseline="-25000" dirty="0"/>
              <a:t> a - </a:t>
            </a:r>
            <a:r>
              <a:rPr lang="en-US" sz="1600" dirty="0" err="1"/>
              <a:t>log</a:t>
            </a:r>
            <a:r>
              <a:rPr lang="en-US" sz="1600" baseline="-25000" dirty="0" err="1"/>
              <a:t>b</a:t>
            </a:r>
            <a:r>
              <a:rPr lang="en-US" sz="1600" baseline="-25000" dirty="0"/>
              <a:t> c</a:t>
            </a:r>
          </a:p>
          <a:p>
            <a:pPr marL="800100" lvl="1" indent="-342900">
              <a:buFont typeface="+mj-lt"/>
              <a:buAutoNum type="arabicPeriod"/>
            </a:pPr>
            <a:r>
              <a:rPr lang="en-US" sz="1600" dirty="0" err="1"/>
              <a:t>log</a:t>
            </a:r>
            <a:r>
              <a:rPr lang="en-US" sz="1600" baseline="-25000" dirty="0" err="1"/>
              <a:t>b</a:t>
            </a:r>
            <a:r>
              <a:rPr lang="en-US" sz="1600" baseline="-25000" dirty="0"/>
              <a:t> </a:t>
            </a:r>
            <a:r>
              <a:rPr lang="en-US" sz="1600" dirty="0"/>
              <a:t>(a</a:t>
            </a:r>
            <a:r>
              <a:rPr lang="en-US" sz="1600" baseline="40000" dirty="0"/>
              <a:t>c</a:t>
            </a:r>
            <a:r>
              <a:rPr lang="en-US" sz="1600" dirty="0"/>
              <a:t>) = c </a:t>
            </a:r>
            <a:r>
              <a:rPr lang="en-US" sz="1600" dirty="0" err="1"/>
              <a:t>log</a:t>
            </a:r>
            <a:r>
              <a:rPr lang="en-US" sz="1600" baseline="-25000" dirty="0" err="1"/>
              <a:t>b</a:t>
            </a:r>
            <a:r>
              <a:rPr lang="en-US" sz="1600" baseline="-25000" dirty="0"/>
              <a:t> </a:t>
            </a:r>
            <a:r>
              <a:rPr lang="en-US" sz="1600" dirty="0"/>
              <a:t>a</a:t>
            </a:r>
          </a:p>
          <a:p>
            <a:pPr marL="800100" lvl="1" indent="-342900">
              <a:buFont typeface="+mj-lt"/>
              <a:buAutoNum type="arabicPeriod"/>
            </a:pPr>
            <a:r>
              <a:rPr lang="en-US" sz="1600" dirty="0" err="1"/>
              <a:t>log</a:t>
            </a:r>
            <a:r>
              <a:rPr lang="en-US" sz="1600" baseline="-25000" dirty="0" err="1"/>
              <a:t>b</a:t>
            </a:r>
            <a:r>
              <a:rPr lang="en-US" sz="1600" baseline="-25000" dirty="0"/>
              <a:t> </a:t>
            </a:r>
            <a:r>
              <a:rPr lang="en-US" sz="1600" dirty="0"/>
              <a:t>a = </a:t>
            </a:r>
            <a:r>
              <a:rPr lang="en-US" sz="1600" dirty="0" err="1"/>
              <a:t>log</a:t>
            </a:r>
            <a:r>
              <a:rPr lang="en-US" sz="1600" baseline="-25000" dirty="0" err="1"/>
              <a:t>d</a:t>
            </a:r>
            <a:r>
              <a:rPr lang="en-US" sz="1600" baseline="-25000" dirty="0"/>
              <a:t> </a:t>
            </a:r>
            <a:r>
              <a:rPr lang="en-US" sz="1600" dirty="0"/>
              <a:t>a / </a:t>
            </a:r>
            <a:r>
              <a:rPr lang="en-US" sz="1600" dirty="0" err="1"/>
              <a:t>log</a:t>
            </a:r>
            <a:r>
              <a:rPr lang="en-US" sz="1600" baseline="-25000" dirty="0" err="1"/>
              <a:t>d</a:t>
            </a:r>
            <a:r>
              <a:rPr lang="en-US" sz="1600" baseline="-25000" dirty="0"/>
              <a:t> </a:t>
            </a:r>
            <a:r>
              <a:rPr lang="en-US" sz="1600" dirty="0"/>
              <a:t>b</a:t>
            </a:r>
          </a:p>
          <a:p>
            <a:pPr marL="800100" lvl="1" indent="-342900">
              <a:buFont typeface="+mj-lt"/>
              <a:buAutoNum type="arabicPeriod"/>
            </a:pPr>
            <a:r>
              <a:rPr lang="en-US" sz="1600" dirty="0" err="1"/>
              <a:t>b</a:t>
            </a:r>
            <a:r>
              <a:rPr lang="en-US" sz="1600" baseline="40000" dirty="0" err="1"/>
              <a:t>log</a:t>
            </a:r>
            <a:r>
              <a:rPr lang="en-US" sz="1600" baseline="-2000" dirty="0" err="1"/>
              <a:t>d</a:t>
            </a:r>
            <a:r>
              <a:rPr lang="en-US" sz="1600" baseline="-2000" dirty="0"/>
              <a:t> </a:t>
            </a:r>
            <a:r>
              <a:rPr lang="en-US" sz="1600" baseline="40000" dirty="0"/>
              <a:t>a </a:t>
            </a:r>
            <a:r>
              <a:rPr lang="en-US" sz="1600" dirty="0"/>
              <a:t>= </a:t>
            </a:r>
            <a:r>
              <a:rPr lang="en-US" sz="1600" dirty="0" err="1"/>
              <a:t>a</a:t>
            </a:r>
            <a:r>
              <a:rPr lang="en-US" sz="1600" baseline="40000" dirty="0" err="1"/>
              <a:t>log</a:t>
            </a:r>
            <a:r>
              <a:rPr lang="en-US" sz="1600" baseline="-2000" dirty="0" err="1"/>
              <a:t>d</a:t>
            </a:r>
            <a:r>
              <a:rPr lang="en-US" sz="1600" baseline="-2000" dirty="0"/>
              <a:t> </a:t>
            </a:r>
            <a:r>
              <a:rPr lang="en-US" sz="1600" baseline="40000" dirty="0"/>
              <a:t>b</a:t>
            </a:r>
          </a:p>
          <a:p>
            <a:pPr marL="457200" lvl="1" indent="0">
              <a:buNone/>
            </a:pPr>
            <a:endParaRPr lang="en-US" dirty="0"/>
          </a:p>
        </p:txBody>
      </p:sp>
      <p:sp>
        <p:nvSpPr>
          <p:cNvPr id="4" name="Slide Number Placeholder 3">
            <a:extLst>
              <a:ext uri="{FF2B5EF4-FFF2-40B4-BE49-F238E27FC236}">
                <a16:creationId xmlns:a16="http://schemas.microsoft.com/office/drawing/2014/main" id="{D4D1D7E4-CBA3-91AC-DD89-4631B9326144}"/>
              </a:ext>
            </a:extLst>
          </p:cNvPr>
          <p:cNvSpPr>
            <a:spLocks noGrp="1"/>
          </p:cNvSpPr>
          <p:nvPr>
            <p:ph type="sldNum" sz="quarter" idx="11"/>
          </p:nvPr>
        </p:nvSpPr>
        <p:spPr/>
        <p:txBody>
          <a:bodyPr/>
          <a:lstStyle/>
          <a:p>
            <a:pPr>
              <a:defRPr/>
            </a:pPr>
            <a:fld id="{0906D619-5E3B-4A71-B141-FF8AEF8EAC81}" type="slidenum">
              <a:rPr lang="en-US" altLang="en-US" smtClean="0"/>
              <a:pPr>
                <a:defRPr/>
              </a:pPr>
              <a:t>9</a:t>
            </a:fld>
            <a:endParaRPr lang="en-US" altLang="en-US"/>
          </a:p>
        </p:txBody>
      </p:sp>
    </p:spTree>
    <p:extLst>
      <p:ext uri="{BB962C8B-B14F-4D97-AF65-F5344CB8AC3E}">
        <p14:creationId xmlns:p14="http://schemas.microsoft.com/office/powerpoint/2010/main" val="9723097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79CB1-085C-45E7-6FD9-32E57A0EA309}"/>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ED002BFD-886B-CE47-F921-4866935E667A}"/>
              </a:ext>
            </a:extLst>
          </p:cNvPr>
          <p:cNvSpPr>
            <a:spLocks noGrp="1"/>
          </p:cNvSpPr>
          <p:nvPr>
            <p:ph type="sldNum" sz="quarter" idx="11"/>
          </p:nvPr>
        </p:nvSpPr>
        <p:spPr/>
        <p:txBody>
          <a:bodyPr/>
          <a:lstStyle/>
          <a:p>
            <a:pPr>
              <a:defRPr/>
            </a:pPr>
            <a:fld id="{0906D619-5E3B-4A71-B141-FF8AEF8EAC81}" type="slidenum">
              <a:rPr lang="en-US" altLang="en-US" smtClean="0"/>
              <a:pPr>
                <a:defRPr/>
              </a:pPr>
              <a:t>10</a:t>
            </a:fld>
            <a:endParaRPr lang="en-US" altLang="en-US"/>
          </a:p>
        </p:txBody>
      </p:sp>
      <p:pic>
        <p:nvPicPr>
          <p:cNvPr id="6" name="Content Placeholder 5" descr="A screenshot of a computer&#10;&#10;AI-generated content may be incorrect.">
            <a:extLst>
              <a:ext uri="{FF2B5EF4-FFF2-40B4-BE49-F238E27FC236}">
                <a16:creationId xmlns:a16="http://schemas.microsoft.com/office/drawing/2014/main" id="{D271B0D8-4041-B8EF-03AF-791DD6CAD0D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85800" y="2265454"/>
            <a:ext cx="7772400" cy="2898591"/>
          </a:xfrm>
          <a:prstGeom prst="rect">
            <a:avLst/>
          </a:prstGeom>
        </p:spPr>
      </p:pic>
    </p:spTree>
    <p:extLst>
      <p:ext uri="{BB962C8B-B14F-4D97-AF65-F5344CB8AC3E}">
        <p14:creationId xmlns:p14="http://schemas.microsoft.com/office/powerpoint/2010/main" val="21501170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4">
            <a:extLst>
              <a:ext uri="{FF2B5EF4-FFF2-40B4-BE49-F238E27FC236}">
                <a16:creationId xmlns:a16="http://schemas.microsoft.com/office/drawing/2014/main" id="{1B8859C5-E28F-486E-B460-2C79243308B6}"/>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A675EEC-8627-4799-9768-18139E7264E5}" type="slidenum">
              <a:rPr lang="en-US" altLang="en-US" sz="1400" smtClean="0"/>
              <a:pPr>
                <a:spcBef>
                  <a:spcPct val="0"/>
                </a:spcBef>
                <a:buClrTx/>
                <a:buSzTx/>
                <a:buFontTx/>
                <a:buNone/>
              </a:pPr>
              <a:t>11</a:t>
            </a:fld>
            <a:endParaRPr lang="en-US" altLang="en-US" sz="1400"/>
          </a:p>
        </p:txBody>
      </p:sp>
      <p:sp>
        <p:nvSpPr>
          <p:cNvPr id="12291" name="Rectangle 2">
            <a:extLst>
              <a:ext uri="{FF2B5EF4-FFF2-40B4-BE49-F238E27FC236}">
                <a16:creationId xmlns:a16="http://schemas.microsoft.com/office/drawing/2014/main" id="{4CEB5A4B-D9D1-4AAE-BE0A-73058ABFA613}"/>
              </a:ext>
            </a:extLst>
          </p:cNvPr>
          <p:cNvSpPr>
            <a:spLocks noGrp="1" noChangeArrowheads="1"/>
          </p:cNvSpPr>
          <p:nvPr>
            <p:ph type="title"/>
          </p:nvPr>
        </p:nvSpPr>
        <p:spPr>
          <a:xfrm>
            <a:off x="685800" y="228600"/>
            <a:ext cx="7772400" cy="685800"/>
          </a:xfrm>
          <a:noFill/>
        </p:spPr>
        <p:txBody>
          <a:bodyPr/>
          <a:lstStyle/>
          <a:p>
            <a:r>
              <a:rPr lang="en-US" altLang="en-US"/>
              <a:t>Useful Mathematic Summations</a:t>
            </a:r>
          </a:p>
        </p:txBody>
      </p:sp>
      <p:sp>
        <p:nvSpPr>
          <p:cNvPr id="12292" name="Rectangle 4">
            <a:extLst>
              <a:ext uri="{FF2B5EF4-FFF2-40B4-BE49-F238E27FC236}">
                <a16:creationId xmlns:a16="http://schemas.microsoft.com/office/drawing/2014/main" id="{AC02D2E2-5A92-4A29-BF38-6E39EC840ED1}"/>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293" name="Rectangle 5">
            <a:extLst>
              <a:ext uri="{FF2B5EF4-FFF2-40B4-BE49-F238E27FC236}">
                <a16:creationId xmlns:a16="http://schemas.microsoft.com/office/drawing/2014/main" id="{8DA2E1B3-23DD-454E-9AB7-DBF216D3E47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294" name="Rectangle 7">
            <a:extLst>
              <a:ext uri="{FF2B5EF4-FFF2-40B4-BE49-F238E27FC236}">
                <a16:creationId xmlns:a16="http://schemas.microsoft.com/office/drawing/2014/main" id="{451EDC17-F3E5-42CD-9E03-F228C8056207}"/>
              </a:ext>
            </a:extLst>
          </p:cNvPr>
          <p:cNvSpPr>
            <a:spLocks noChangeArrowheads="1"/>
          </p:cNvSpPr>
          <p:nvPr/>
        </p:nvSpPr>
        <p:spPr bwMode="auto">
          <a:xfrm>
            <a:off x="0" y="30210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12295" name="Object 6">
            <a:extLst>
              <a:ext uri="{FF2B5EF4-FFF2-40B4-BE49-F238E27FC236}">
                <a16:creationId xmlns:a16="http://schemas.microsoft.com/office/drawing/2014/main" id="{975F42C3-7EBE-424A-AC52-11BC4D4BC58A}"/>
              </a:ext>
            </a:extLst>
          </p:cNvPr>
          <p:cNvGraphicFramePr>
            <a:graphicFrameLocks noChangeAspect="1"/>
          </p:cNvGraphicFramePr>
          <p:nvPr/>
        </p:nvGraphicFramePr>
        <p:xfrm>
          <a:off x="777875" y="1871663"/>
          <a:ext cx="7739063" cy="3713162"/>
        </p:xfrm>
        <a:graphic>
          <a:graphicData uri="http://schemas.openxmlformats.org/presentationml/2006/ole">
            <mc:AlternateContent xmlns:mc="http://schemas.openxmlformats.org/markup-compatibility/2006">
              <mc:Choice xmlns:v="urn:schemas-microsoft-com:vml" Requires="v">
                <p:oleObj name="Equation" r:id="rId3" imgW="2654300" imgH="1244600" progId="Equation.3">
                  <p:embed/>
                </p:oleObj>
              </mc:Choice>
              <mc:Fallback>
                <p:oleObj name="Equation" r:id="rId3" imgW="2654300" imgH="12446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7875" y="1871663"/>
                        <a:ext cx="7739063" cy="3713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52DCD-7FB9-4385-AEE2-AE89EFFFC754}"/>
              </a:ext>
            </a:extLst>
          </p:cNvPr>
          <p:cNvSpPr>
            <a:spLocks noGrp="1"/>
          </p:cNvSpPr>
          <p:nvPr>
            <p:ph type="title"/>
          </p:nvPr>
        </p:nvSpPr>
        <p:spPr/>
        <p:txBody>
          <a:bodyPr/>
          <a:lstStyle/>
          <a:p>
            <a:pPr algn="l"/>
            <a:r>
              <a:rPr lang="en-US" dirty="0"/>
              <a:t>Check Point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72D3320-D535-4040-8695-2348CDB01553}"/>
                  </a:ext>
                </a:extLst>
              </p:cNvPr>
              <p:cNvSpPr>
                <a:spLocks noGrp="1"/>
              </p:cNvSpPr>
              <p:nvPr>
                <p:ph idx="1"/>
              </p:nvPr>
            </p:nvSpPr>
            <p:spPr/>
            <p:txBody>
              <a:bodyPr/>
              <a:lstStyle/>
              <a:p>
                <a:r>
                  <a:rPr lang="en-US" dirty="0"/>
                  <a:t>What is the order of each of the following:</a:t>
                </a:r>
              </a:p>
              <a:p>
                <a:pPr lvl="1"/>
                <a14:m>
                  <m:oMath xmlns:m="http://schemas.openxmlformats.org/officeDocument/2006/math">
                    <m:f>
                      <m:fPr>
                        <m:ctrlPr>
                          <a:rPr lang="en-US" i="1" smtClean="0">
                            <a:latin typeface="Cambria Math" panose="02040503050406030204" pitchFamily="18" charset="0"/>
                          </a:rPr>
                        </m:ctrlPr>
                      </m:fPr>
                      <m:num>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𝑛</m:t>
                                    </m:r>
                                  </m:e>
                                  <m:sup>
                                    <m:r>
                                      <a:rPr lang="en-US" i="0">
                                        <a:latin typeface="Cambria Math" panose="02040503050406030204" pitchFamily="18" charset="0"/>
                                      </a:rPr>
                                      <m:t>2</m:t>
                                    </m:r>
                                  </m:sup>
                                </m:sSup>
                                <m:r>
                                  <a:rPr lang="en-US" i="0">
                                    <a:latin typeface="Cambria Math" panose="02040503050406030204" pitchFamily="18" charset="0"/>
                                  </a:rPr>
                                  <m:t>+1</m:t>
                                </m:r>
                              </m:e>
                            </m:d>
                          </m:e>
                          <m:sup>
                            <m:r>
                              <a:rPr lang="en-US" i="0">
                                <a:latin typeface="Cambria Math" panose="02040503050406030204" pitchFamily="18" charset="0"/>
                              </a:rPr>
                              <m:t>2</m:t>
                            </m:r>
                          </m:sup>
                        </m:sSup>
                      </m:num>
                      <m:den>
                        <m:r>
                          <a:rPr lang="en-US" i="1">
                            <a:latin typeface="Cambria Math" panose="02040503050406030204" pitchFamily="18" charset="0"/>
                          </a:rPr>
                          <m:t>𝑛</m:t>
                        </m:r>
                      </m:den>
                    </m:f>
                  </m:oMath>
                </a14:m>
                <a:endParaRPr lang="en-US" dirty="0"/>
              </a:p>
              <a:p>
                <a:pPr lvl="1"/>
                <a14:m>
                  <m:oMath xmlns:m="http://schemas.openxmlformats.org/officeDocument/2006/math">
                    <m:f>
                      <m:fPr>
                        <m:ctrlPr>
                          <a:rPr lang="en-US" i="1" dirty="0" smtClean="0">
                            <a:latin typeface="Cambria Math" panose="02040503050406030204" pitchFamily="18" charset="0"/>
                          </a:rPr>
                        </m:ctrlPr>
                      </m:fPr>
                      <m:num>
                        <m:func>
                          <m:funcPr>
                            <m:ctrlPr>
                              <a:rPr lang="en-US" i="1" dirty="0">
                                <a:latin typeface="Cambria Math" panose="02040503050406030204" pitchFamily="18" charset="0"/>
                              </a:rPr>
                            </m:ctrlPr>
                          </m:funcPr>
                          <m:fName>
                            <m:sSup>
                              <m:sSupPr>
                                <m:ctrlPr>
                                  <a:rPr lang="en-US" i="1" dirty="0">
                                    <a:latin typeface="Cambria Math" panose="02040503050406030204" pitchFamily="18" charset="0"/>
                                  </a:rPr>
                                </m:ctrlPr>
                              </m:sSupPr>
                              <m:e>
                                <m:r>
                                  <m:rPr>
                                    <m:sty m:val="p"/>
                                  </m:rPr>
                                  <a:rPr lang="en-US" dirty="0">
                                    <a:latin typeface="Cambria Math" panose="02040503050406030204" pitchFamily="18" charset="0"/>
                                  </a:rPr>
                                  <m:t>n</m:t>
                                </m:r>
                              </m:e>
                              <m:sup>
                                <m:r>
                                  <a:rPr lang="en-US" i="0" dirty="0">
                                    <a:latin typeface="Cambria Math" panose="02040503050406030204" pitchFamily="18" charset="0"/>
                                  </a:rPr>
                                  <m:t>2</m:t>
                                </m:r>
                              </m:sup>
                            </m:sSup>
                          </m:fName>
                          <m:e>
                            <m:r>
                              <a:rPr lang="en-US" i="0" dirty="0">
                                <a:latin typeface="Cambria Math" panose="02040503050406030204" pitchFamily="18" charset="0"/>
                              </a:rPr>
                              <m:t>+</m:t>
                            </m:r>
                            <m:d>
                              <m:dPr>
                                <m:ctrlPr>
                                  <a:rPr lang="en-US" i="1" dirty="0">
                                    <a:latin typeface="Cambria Math" panose="02040503050406030204" pitchFamily="18" charset="0"/>
                                  </a:rPr>
                                </m:ctrlPr>
                              </m:dPr>
                              <m:e>
                                <m:func>
                                  <m:funcPr>
                                    <m:ctrlPr>
                                      <a:rPr lang="en-US" i="1" dirty="0">
                                        <a:latin typeface="Cambria Math" panose="02040503050406030204" pitchFamily="18" charset="0"/>
                                      </a:rPr>
                                    </m:ctrlPr>
                                  </m:funcPr>
                                  <m:fName>
                                    <m:r>
                                      <m:rPr>
                                        <m:sty m:val="p"/>
                                      </m:rPr>
                                      <a:rPr lang="en-US" i="0" dirty="0">
                                        <a:latin typeface="Cambria Math" panose="02040503050406030204" pitchFamily="18" charset="0"/>
                                      </a:rPr>
                                      <m:t>log</m:t>
                                    </m:r>
                                  </m:fName>
                                  <m:e>
                                    <m:r>
                                      <a:rPr lang="en-US" i="0" dirty="0">
                                        <a:latin typeface="Cambria Math" panose="02040503050406030204" pitchFamily="18" charset="0"/>
                                      </a:rPr>
                                      <m:t>2</m:t>
                                    </m:r>
                                  </m:e>
                                </m:func>
                              </m:e>
                            </m:d>
                            <m:sSup>
                              <m:sSupPr>
                                <m:ctrlPr>
                                  <a:rPr lang="en-US" i="1" dirty="0">
                                    <a:latin typeface="Cambria Math" panose="02040503050406030204" pitchFamily="18" charset="0"/>
                                  </a:rPr>
                                </m:ctrlPr>
                              </m:sSupPr>
                              <m:e>
                                <m:r>
                                  <a:rPr lang="en-US" i="1" dirty="0">
                                    <a:latin typeface="Cambria Math" panose="02040503050406030204" pitchFamily="18" charset="0"/>
                                  </a:rPr>
                                  <m:t>𝑛</m:t>
                                </m:r>
                              </m:e>
                              <m:sup>
                                <m:r>
                                  <a:rPr lang="en-US" i="0" dirty="0">
                                    <a:latin typeface="Cambria Math" panose="02040503050406030204" pitchFamily="18" charset="0"/>
                                  </a:rPr>
                                  <m:t>4</m:t>
                                </m:r>
                              </m:sup>
                            </m:sSup>
                          </m:e>
                        </m:func>
                      </m:num>
                      <m:den>
                        <m:r>
                          <a:rPr lang="en-US" i="1" dirty="0">
                            <a:latin typeface="Cambria Math" panose="02040503050406030204" pitchFamily="18" charset="0"/>
                          </a:rPr>
                          <m:t>𝑛</m:t>
                        </m:r>
                      </m:den>
                    </m:f>
                  </m:oMath>
                </a14:m>
                <a:endParaRPr lang="en-US" dirty="0"/>
              </a:p>
              <a:p>
                <a:pPr lvl="1"/>
                <a14:m>
                  <m:oMath xmlns:m="http://schemas.openxmlformats.org/officeDocument/2006/math">
                    <m:sSup>
                      <m:sSupPr>
                        <m:ctrlPr>
                          <a:rPr lang="en-US" i="1" dirty="0" smtClean="0">
                            <a:latin typeface="Cambria Math" panose="02040503050406030204" pitchFamily="18" charset="0"/>
                          </a:rPr>
                        </m:ctrlPr>
                      </m:sSupPr>
                      <m:e>
                        <m:r>
                          <a:rPr lang="en-US" i="1" dirty="0">
                            <a:latin typeface="Cambria Math" panose="02040503050406030204" pitchFamily="18" charset="0"/>
                          </a:rPr>
                          <m:t>𝑛</m:t>
                        </m:r>
                      </m:e>
                      <m:sup>
                        <m:r>
                          <a:rPr lang="en-US" i="0" dirty="0">
                            <a:latin typeface="Cambria Math" panose="02040503050406030204" pitchFamily="18" charset="0"/>
                          </a:rPr>
                          <m:t>3</m:t>
                        </m:r>
                      </m:sup>
                    </m:sSup>
                    <m:r>
                      <a:rPr lang="en-US" i="0" dirty="0">
                        <a:latin typeface="Cambria Math" panose="02040503050406030204" pitchFamily="18" charset="0"/>
                      </a:rPr>
                      <m:t>+100</m:t>
                    </m:r>
                    <m:sSup>
                      <m:sSupPr>
                        <m:ctrlPr>
                          <a:rPr lang="en-US" i="1" dirty="0">
                            <a:latin typeface="Cambria Math" panose="02040503050406030204" pitchFamily="18" charset="0"/>
                          </a:rPr>
                        </m:ctrlPr>
                      </m:sSupPr>
                      <m:e>
                        <m:r>
                          <a:rPr lang="en-US" i="1" dirty="0">
                            <a:latin typeface="Cambria Math" panose="02040503050406030204" pitchFamily="18" charset="0"/>
                          </a:rPr>
                          <m:t>𝑛</m:t>
                        </m:r>
                      </m:e>
                      <m:sup>
                        <m:r>
                          <a:rPr lang="en-US" i="0" dirty="0">
                            <a:latin typeface="Cambria Math" panose="02040503050406030204" pitchFamily="18" charset="0"/>
                          </a:rPr>
                          <m:t>2</m:t>
                        </m:r>
                      </m:sup>
                    </m:sSup>
                    <m:r>
                      <a:rPr lang="en-US" i="0" dirty="0">
                        <a:latin typeface="Cambria Math" panose="02040503050406030204" pitchFamily="18" charset="0"/>
                      </a:rPr>
                      <m:t>+</m:t>
                    </m:r>
                    <m:r>
                      <a:rPr lang="en-US" i="1" dirty="0">
                        <a:latin typeface="Cambria Math" panose="02040503050406030204" pitchFamily="18" charset="0"/>
                      </a:rPr>
                      <m:t>𝑛</m:t>
                    </m:r>
                  </m:oMath>
                </a14:m>
                <a:endParaRPr lang="en-US" dirty="0"/>
              </a:p>
              <a:p>
                <a:pPr lvl="1"/>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oMath>
                </a14:m>
                <a:r>
                  <a:rPr lang="en-US" dirty="0"/>
                  <a:t> + 100</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r>
                  <a:rPr lang="en-US" dirty="0"/>
                  <a:t>+45n</a:t>
                </a:r>
              </a:p>
              <a:p>
                <a:pPr lvl="1"/>
                <a:r>
                  <a:rPr lang="en-US" dirty="0"/>
                  <a:t>n +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𝑛</m:t>
                        </m:r>
                      </m:sup>
                    </m:sSup>
                  </m:oMath>
                </a14:m>
                <a:r>
                  <a:rPr lang="en-US" dirty="0"/>
                  <a:t> +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𝑛</m:t>
                        </m:r>
                      </m:sup>
                    </m:sSup>
                  </m:oMath>
                </a14:m>
                <a:r>
                  <a:rPr lang="en-US" dirty="0"/>
                  <a: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𝑛</m:t>
                        </m:r>
                      </m:sup>
                    </m:sSup>
                  </m:oMath>
                </a14:m>
                <a:r>
                  <a:rPr lang="en-US" dirty="0"/>
                  <a:t> </a:t>
                </a:r>
              </a:p>
              <a:p>
                <a:pPr lvl="1"/>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E72D3320-D535-4040-8695-2348CDB01553}"/>
                  </a:ext>
                </a:extLst>
              </p:cNvPr>
              <p:cNvSpPr>
                <a:spLocks noGrp="1" noRot="1" noChangeAspect="1" noMove="1" noResize="1" noEditPoints="1" noAdjustHandles="1" noChangeArrowheads="1" noChangeShapeType="1" noTextEdit="1"/>
              </p:cNvSpPr>
              <p:nvPr>
                <p:ph idx="1"/>
              </p:nvPr>
            </p:nvSpPr>
            <p:spPr>
              <a:blipFill>
                <a:blip r:embed="rId3"/>
                <a:stretch>
                  <a:fillRect l="-1490" t="-2074"/>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F48E4E05-E590-4C02-AE0B-0F18A4D430D7}"/>
              </a:ext>
            </a:extLst>
          </p:cNvPr>
          <p:cNvSpPr>
            <a:spLocks noGrp="1"/>
          </p:cNvSpPr>
          <p:nvPr>
            <p:ph type="sldNum" sz="quarter" idx="11"/>
          </p:nvPr>
        </p:nvSpPr>
        <p:spPr/>
        <p:txBody>
          <a:bodyPr/>
          <a:lstStyle/>
          <a:p>
            <a:pPr>
              <a:defRPr/>
            </a:pPr>
            <a:fld id="{0906D619-5E3B-4A71-B141-FF8AEF8EAC81}" type="slidenum">
              <a:rPr lang="en-US" altLang="en-US" smtClean="0"/>
              <a:pPr>
                <a:defRPr/>
              </a:pPr>
              <a:t>12</a:t>
            </a:fld>
            <a:endParaRPr lang="en-US" altLang="en-US"/>
          </a:p>
        </p:txBody>
      </p:sp>
    </p:spTree>
    <p:extLst>
      <p:ext uri="{BB962C8B-B14F-4D97-AF65-F5344CB8AC3E}">
        <p14:creationId xmlns:p14="http://schemas.microsoft.com/office/powerpoint/2010/main" val="650291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4">
            <a:extLst>
              <a:ext uri="{FF2B5EF4-FFF2-40B4-BE49-F238E27FC236}">
                <a16:creationId xmlns:a16="http://schemas.microsoft.com/office/drawing/2014/main" id="{FA1FB844-9FD0-417E-9BF7-17006A5F970B}"/>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74A34FA-2CF6-4361-AE72-DB79B65C6030}" type="slidenum">
              <a:rPr lang="en-US" altLang="en-US" sz="1400" smtClean="0"/>
              <a:pPr>
                <a:spcBef>
                  <a:spcPct val="0"/>
                </a:spcBef>
                <a:buClrTx/>
                <a:buSzTx/>
                <a:buFontTx/>
                <a:buNone/>
              </a:pPr>
              <a:t>13</a:t>
            </a:fld>
            <a:endParaRPr lang="en-US" altLang="en-US" sz="1400"/>
          </a:p>
        </p:txBody>
      </p:sp>
      <p:sp>
        <p:nvSpPr>
          <p:cNvPr id="13315" name="Rectangle 2">
            <a:extLst>
              <a:ext uri="{FF2B5EF4-FFF2-40B4-BE49-F238E27FC236}">
                <a16:creationId xmlns:a16="http://schemas.microsoft.com/office/drawing/2014/main" id="{261F91F3-22D9-4A8C-9425-16FF78993C87}"/>
              </a:ext>
            </a:extLst>
          </p:cNvPr>
          <p:cNvSpPr>
            <a:spLocks noGrp="1" noChangeArrowheads="1"/>
          </p:cNvSpPr>
          <p:nvPr>
            <p:ph type="title"/>
          </p:nvPr>
        </p:nvSpPr>
        <p:spPr>
          <a:xfrm>
            <a:off x="685800" y="228599"/>
            <a:ext cx="7772400" cy="1447799"/>
          </a:xfrm>
          <a:noFill/>
        </p:spPr>
        <p:txBody>
          <a:bodyPr/>
          <a:lstStyle/>
          <a:p>
            <a:r>
              <a:rPr lang="en-US" altLang="en-US" dirty="0"/>
              <a:t>Determining Big-O </a:t>
            </a:r>
            <a:br>
              <a:rPr lang="en-US" altLang="en-US" dirty="0"/>
            </a:br>
            <a:r>
              <a:rPr lang="en-US" altLang="en-US" dirty="0"/>
              <a:t>worst-case algorithm analysis</a:t>
            </a:r>
          </a:p>
        </p:txBody>
      </p:sp>
      <p:sp>
        <p:nvSpPr>
          <p:cNvPr id="12292" name="Rectangle 3">
            <a:extLst>
              <a:ext uri="{FF2B5EF4-FFF2-40B4-BE49-F238E27FC236}">
                <a16:creationId xmlns:a16="http://schemas.microsoft.com/office/drawing/2014/main" id="{3553D191-50DE-47F5-95C4-82015E8DAE0F}"/>
              </a:ext>
            </a:extLst>
          </p:cNvPr>
          <p:cNvSpPr>
            <a:spLocks noGrp="1" noChangeArrowheads="1"/>
          </p:cNvSpPr>
          <p:nvPr>
            <p:ph type="body" idx="1"/>
          </p:nvPr>
        </p:nvSpPr>
        <p:spPr>
          <a:xfrm>
            <a:off x="1028700" y="2286000"/>
            <a:ext cx="7086600" cy="3124200"/>
          </a:xfrm>
        </p:spPr>
        <p:txBody>
          <a:bodyPr/>
          <a:lstStyle/>
          <a:p>
            <a:pPr>
              <a:lnSpc>
                <a:spcPct val="150000"/>
              </a:lnSpc>
              <a:spcBef>
                <a:spcPct val="0"/>
              </a:spcBef>
              <a:buFont typeface="Wingdings" pitchFamily="2" charset="2"/>
              <a:buChar char="§"/>
              <a:defRPr/>
            </a:pPr>
            <a:r>
              <a:rPr lang="en-US" sz="3000" dirty="0"/>
              <a:t>Repetition</a:t>
            </a:r>
          </a:p>
          <a:p>
            <a:pPr>
              <a:lnSpc>
                <a:spcPct val="150000"/>
              </a:lnSpc>
              <a:spcBef>
                <a:spcPct val="0"/>
              </a:spcBef>
              <a:buFont typeface="Wingdings" pitchFamily="2" charset="2"/>
              <a:buChar char="§"/>
              <a:defRPr/>
            </a:pPr>
            <a:r>
              <a:rPr lang="en-US" sz="3000" dirty="0"/>
              <a:t>Sequence </a:t>
            </a:r>
          </a:p>
          <a:p>
            <a:pPr>
              <a:lnSpc>
                <a:spcPct val="150000"/>
              </a:lnSpc>
              <a:spcBef>
                <a:spcPct val="0"/>
              </a:spcBef>
              <a:buFont typeface="Wingdings" pitchFamily="2" charset="2"/>
              <a:buChar char="§"/>
              <a:defRPr/>
            </a:pPr>
            <a:r>
              <a:rPr lang="en-US" sz="3000" dirty="0"/>
              <a:t>Selection</a:t>
            </a:r>
          </a:p>
          <a:p>
            <a:pPr>
              <a:lnSpc>
                <a:spcPct val="150000"/>
              </a:lnSpc>
              <a:spcBef>
                <a:spcPct val="0"/>
              </a:spcBef>
              <a:buFont typeface="Wingdings" pitchFamily="2" charset="2"/>
              <a:buChar char="§"/>
              <a:defRPr/>
            </a:pPr>
            <a:r>
              <a:rPr lang="en-US" sz="3000" dirty="0"/>
              <a:t>Logarithm</a:t>
            </a:r>
          </a:p>
          <a:p>
            <a:pPr marL="0" indent="0">
              <a:spcBef>
                <a:spcPct val="0"/>
              </a:spcBef>
              <a:buFont typeface="Monotype Sorts"/>
              <a:buNone/>
              <a:defRPr/>
            </a:pPr>
            <a:endParaRPr lang="en-US" sz="3000" dirty="0"/>
          </a:p>
        </p:txBody>
      </p:sp>
      <p:sp>
        <p:nvSpPr>
          <p:cNvPr id="13317" name="Rectangle 4">
            <a:extLst>
              <a:ext uri="{FF2B5EF4-FFF2-40B4-BE49-F238E27FC236}">
                <a16:creationId xmlns:a16="http://schemas.microsoft.com/office/drawing/2014/main" id="{FAF0F6F6-689F-428C-9B1A-E8D80151D75F}"/>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18" name="Rectangle 6">
            <a:extLst>
              <a:ext uri="{FF2B5EF4-FFF2-40B4-BE49-F238E27FC236}">
                <a16:creationId xmlns:a16="http://schemas.microsoft.com/office/drawing/2014/main" id="{BA29AA07-25EA-41E0-8E9A-9EDD90951417}"/>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19" name="Rectangle 11">
            <a:extLst>
              <a:ext uri="{FF2B5EF4-FFF2-40B4-BE49-F238E27FC236}">
                <a16:creationId xmlns:a16="http://schemas.microsoft.com/office/drawing/2014/main" id="{FF08203F-970D-4518-898A-DAB1EF8D30A1}"/>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id="{553BE477-D99D-4CCD-A5A8-C6F27F351863}"/>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FAA7D88-9B93-4DAE-98BF-50A029A14189}" type="slidenum">
              <a:rPr lang="en-US" altLang="en-US" sz="1400" smtClean="0"/>
              <a:pPr>
                <a:spcBef>
                  <a:spcPct val="0"/>
                </a:spcBef>
                <a:buClrTx/>
                <a:buSzTx/>
                <a:buFontTx/>
                <a:buNone/>
              </a:pPr>
              <a:t>14</a:t>
            </a:fld>
            <a:endParaRPr lang="en-US" altLang="en-US" sz="1400"/>
          </a:p>
        </p:txBody>
      </p:sp>
      <p:sp>
        <p:nvSpPr>
          <p:cNvPr id="14339" name="Rectangle 2">
            <a:extLst>
              <a:ext uri="{FF2B5EF4-FFF2-40B4-BE49-F238E27FC236}">
                <a16:creationId xmlns:a16="http://schemas.microsoft.com/office/drawing/2014/main" id="{0F39DC14-6F9A-4CDB-B8B6-0551732AA814}"/>
              </a:ext>
            </a:extLst>
          </p:cNvPr>
          <p:cNvSpPr>
            <a:spLocks noGrp="1" noChangeArrowheads="1"/>
          </p:cNvSpPr>
          <p:nvPr>
            <p:ph type="title"/>
          </p:nvPr>
        </p:nvSpPr>
        <p:spPr>
          <a:xfrm>
            <a:off x="685800" y="285750"/>
            <a:ext cx="7772400" cy="933450"/>
          </a:xfrm>
          <a:noFill/>
        </p:spPr>
        <p:txBody>
          <a:bodyPr/>
          <a:lstStyle/>
          <a:p>
            <a:r>
              <a:rPr lang="en-US" altLang="en-US"/>
              <a:t>Repetition: Simple Loops</a:t>
            </a:r>
          </a:p>
        </p:txBody>
      </p:sp>
      <p:sp>
        <p:nvSpPr>
          <p:cNvPr id="14340" name="Rectangle 4">
            <a:extLst>
              <a:ext uri="{FF2B5EF4-FFF2-40B4-BE49-F238E27FC236}">
                <a16:creationId xmlns:a16="http://schemas.microsoft.com/office/drawing/2014/main" id="{CE65C7D5-CC5A-4120-937D-4D0FD5A8B356}"/>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41" name="Rectangle 5">
            <a:extLst>
              <a:ext uri="{FF2B5EF4-FFF2-40B4-BE49-F238E27FC236}">
                <a16:creationId xmlns:a16="http://schemas.microsoft.com/office/drawing/2014/main" id="{3EEDD25E-640E-4064-AF83-B3E5A8187DEC}"/>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42" name="Rectangle 6">
            <a:extLst>
              <a:ext uri="{FF2B5EF4-FFF2-40B4-BE49-F238E27FC236}">
                <a16:creationId xmlns:a16="http://schemas.microsoft.com/office/drawing/2014/main" id="{C6F645DA-CDC2-4AC8-92D4-5359A7AB2FD6}"/>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2989" name="Text Box 13">
            <a:extLst>
              <a:ext uri="{FF2B5EF4-FFF2-40B4-BE49-F238E27FC236}">
                <a16:creationId xmlns:a16="http://schemas.microsoft.com/office/drawing/2014/main" id="{A27E2B52-D93E-4A79-AF1D-D1F6A8B8A001}"/>
              </a:ext>
            </a:extLst>
          </p:cNvPr>
          <p:cNvSpPr txBox="1">
            <a:spLocks noChangeArrowheads="1"/>
          </p:cNvSpPr>
          <p:nvPr/>
        </p:nvSpPr>
        <p:spPr bwMode="auto">
          <a:xfrm>
            <a:off x="2459038" y="4038600"/>
            <a:ext cx="53133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latin typeface="Arial" panose="020B0604020202020204" pitchFamily="34" charset="0"/>
              </a:rPr>
              <a:t>T(n) = (a constant c) * n = cn = </a:t>
            </a:r>
            <a:r>
              <a:rPr lang="en-US" altLang="en-US" sz="2400" b="1">
                <a:latin typeface="Arial" panose="020B0604020202020204" pitchFamily="34" charset="0"/>
              </a:rPr>
              <a:t>O(n)</a:t>
            </a:r>
            <a:endParaRPr lang="en-US" altLang="en-US" sz="2400">
              <a:latin typeface="Arial" panose="020B0604020202020204" pitchFamily="34" charset="0"/>
            </a:endParaRPr>
          </a:p>
        </p:txBody>
      </p:sp>
      <p:sp>
        <p:nvSpPr>
          <p:cNvPr id="14344" name="Rectangle 17">
            <a:extLst>
              <a:ext uri="{FF2B5EF4-FFF2-40B4-BE49-F238E27FC236}">
                <a16:creationId xmlns:a16="http://schemas.microsoft.com/office/drawing/2014/main" id="{510508C6-822B-4F15-ADF0-94387B843269}"/>
              </a:ext>
            </a:extLst>
          </p:cNvPr>
          <p:cNvSpPr>
            <a:spLocks noGrp="1" noChangeArrowheads="1"/>
          </p:cNvSpPr>
          <p:nvPr>
            <p:ph type="body" idx="1"/>
          </p:nvPr>
        </p:nvSpPr>
        <p:spPr>
          <a:xfrm>
            <a:off x="2362200" y="1676400"/>
            <a:ext cx="4953000" cy="1600200"/>
          </a:xfrm>
          <a:solidFill>
            <a:schemeClr val="bg1"/>
          </a:solidFill>
        </p:spPr>
        <p:txBody>
          <a:bodyPr/>
          <a:lstStyle/>
          <a:p>
            <a:pPr marL="0" indent="0">
              <a:lnSpc>
                <a:spcPct val="90000"/>
              </a:lnSpc>
              <a:buFont typeface="Monotype Sorts" pitchFamily="2" charset="2"/>
              <a:buNone/>
            </a:pPr>
            <a:r>
              <a:rPr lang="en-US" altLang="en-US" sz="2400">
                <a:latin typeface="Courier New" panose="02070309020205020404" pitchFamily="49" charset="0"/>
              </a:rPr>
              <a:t>for (i = 1; i &lt;= n; i++) {</a:t>
            </a:r>
          </a:p>
          <a:p>
            <a:pPr marL="0" indent="0">
              <a:lnSpc>
                <a:spcPct val="90000"/>
              </a:lnSpc>
              <a:buFont typeface="Monotype Sorts" pitchFamily="2" charset="2"/>
              <a:buNone/>
            </a:pPr>
            <a:r>
              <a:rPr lang="en-US" altLang="en-US" sz="2400">
                <a:latin typeface="Courier New" panose="02070309020205020404" pitchFamily="49" charset="0"/>
              </a:rPr>
              <a:t>  k = k + 5;</a:t>
            </a:r>
          </a:p>
          <a:p>
            <a:pPr marL="0" indent="0">
              <a:lnSpc>
                <a:spcPct val="90000"/>
              </a:lnSpc>
              <a:buFont typeface="Monotype Sorts" pitchFamily="2" charset="2"/>
              <a:buNone/>
            </a:pPr>
            <a:r>
              <a:rPr lang="en-US" altLang="en-US" sz="2400">
                <a:latin typeface="Courier New" panose="02070309020205020404" pitchFamily="49" charset="0"/>
              </a:rPr>
              <a:t>}</a:t>
            </a:r>
          </a:p>
        </p:txBody>
      </p:sp>
      <p:grpSp>
        <p:nvGrpSpPr>
          <p:cNvPr id="383005" name="Group 29">
            <a:extLst>
              <a:ext uri="{FF2B5EF4-FFF2-40B4-BE49-F238E27FC236}">
                <a16:creationId xmlns:a16="http://schemas.microsoft.com/office/drawing/2014/main" id="{A319D370-8EC9-4EA4-88CF-8586963E52D1}"/>
              </a:ext>
            </a:extLst>
          </p:cNvPr>
          <p:cNvGrpSpPr>
            <a:grpSpLocks/>
          </p:cNvGrpSpPr>
          <p:nvPr/>
        </p:nvGrpSpPr>
        <p:grpSpPr bwMode="auto">
          <a:xfrm>
            <a:off x="4648200" y="2438400"/>
            <a:ext cx="2713038" cy="533400"/>
            <a:chOff x="2928" y="1536"/>
            <a:chExt cx="1709" cy="336"/>
          </a:xfrm>
        </p:grpSpPr>
        <p:sp>
          <p:nvSpPr>
            <p:cNvPr id="14353" name="Text Box 19">
              <a:extLst>
                <a:ext uri="{FF2B5EF4-FFF2-40B4-BE49-F238E27FC236}">
                  <a16:creationId xmlns:a16="http://schemas.microsoft.com/office/drawing/2014/main" id="{598E8EEC-183B-4B33-A1A0-B836BCBD42D6}"/>
                </a:ext>
              </a:extLst>
            </p:cNvPr>
            <p:cNvSpPr txBox="1">
              <a:spLocks noChangeArrowheads="1"/>
            </p:cNvSpPr>
            <p:nvPr/>
          </p:nvSpPr>
          <p:spPr bwMode="auto">
            <a:xfrm>
              <a:off x="3494" y="1584"/>
              <a:ext cx="114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chemeClr val="bg2"/>
                  </a:solidFill>
                </a:rPr>
                <a:t>constant time</a:t>
              </a:r>
            </a:p>
          </p:txBody>
        </p:sp>
        <p:sp>
          <p:nvSpPr>
            <p:cNvPr id="14354" name="Line 20">
              <a:extLst>
                <a:ext uri="{FF2B5EF4-FFF2-40B4-BE49-F238E27FC236}">
                  <a16:creationId xmlns:a16="http://schemas.microsoft.com/office/drawing/2014/main" id="{2F920527-A3CB-4043-9CCF-1450490CC8C5}"/>
                </a:ext>
              </a:extLst>
            </p:cNvPr>
            <p:cNvSpPr>
              <a:spLocks noChangeShapeType="1"/>
            </p:cNvSpPr>
            <p:nvPr/>
          </p:nvSpPr>
          <p:spPr bwMode="auto">
            <a:xfrm flipH="1" flipV="1">
              <a:off x="2928" y="1536"/>
              <a:ext cx="576" cy="214"/>
            </a:xfrm>
            <a:prstGeom prst="line">
              <a:avLst/>
            </a:prstGeom>
            <a:noFill/>
            <a:ln w="12700">
              <a:solidFill>
                <a:schemeClr val="bg2"/>
              </a:solidFill>
              <a:round/>
              <a:headEnd type="none" w="sm" len="sm"/>
              <a:tailEnd type="stealth"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82997" name="Group 21">
            <a:extLst>
              <a:ext uri="{FF2B5EF4-FFF2-40B4-BE49-F238E27FC236}">
                <a16:creationId xmlns:a16="http://schemas.microsoft.com/office/drawing/2014/main" id="{F26D6503-F002-4C8B-A067-1A9E9EFCC578}"/>
              </a:ext>
            </a:extLst>
          </p:cNvPr>
          <p:cNvGrpSpPr>
            <a:grpSpLocks/>
          </p:cNvGrpSpPr>
          <p:nvPr/>
        </p:nvGrpSpPr>
        <p:grpSpPr bwMode="auto">
          <a:xfrm>
            <a:off x="685800" y="1752600"/>
            <a:ext cx="1676400" cy="1143000"/>
            <a:chOff x="480" y="2438"/>
            <a:chExt cx="1056" cy="768"/>
          </a:xfrm>
        </p:grpSpPr>
        <p:sp>
          <p:nvSpPr>
            <p:cNvPr id="14351" name="Text Box 22">
              <a:extLst>
                <a:ext uri="{FF2B5EF4-FFF2-40B4-BE49-F238E27FC236}">
                  <a16:creationId xmlns:a16="http://schemas.microsoft.com/office/drawing/2014/main" id="{A351D55B-4A29-42F9-BCD9-12DBDC68EB7D}"/>
                </a:ext>
              </a:extLst>
            </p:cNvPr>
            <p:cNvSpPr txBox="1">
              <a:spLocks noChangeArrowheads="1"/>
            </p:cNvSpPr>
            <p:nvPr/>
          </p:nvSpPr>
          <p:spPr bwMode="auto">
            <a:xfrm>
              <a:off x="480" y="2544"/>
              <a:ext cx="797" cy="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executed</a:t>
              </a:r>
            </a:p>
            <a:p>
              <a:pPr>
                <a:spcBef>
                  <a:spcPct val="0"/>
                </a:spcBef>
                <a:buClrTx/>
                <a:buSzTx/>
                <a:buFontTx/>
                <a:buNone/>
              </a:pPr>
              <a:r>
                <a:rPr lang="en-US" altLang="en-US" sz="2400" i="1"/>
                <a:t>n</a:t>
              </a:r>
              <a:r>
                <a:rPr lang="en-US" altLang="en-US" sz="2400"/>
                <a:t> times</a:t>
              </a:r>
            </a:p>
          </p:txBody>
        </p:sp>
        <p:sp>
          <p:nvSpPr>
            <p:cNvPr id="14352" name="AutoShape 23">
              <a:extLst>
                <a:ext uri="{FF2B5EF4-FFF2-40B4-BE49-F238E27FC236}">
                  <a16:creationId xmlns:a16="http://schemas.microsoft.com/office/drawing/2014/main" id="{45337F61-F4BB-42D9-848F-610233006A38}"/>
                </a:ext>
              </a:extLst>
            </p:cNvPr>
            <p:cNvSpPr>
              <a:spLocks/>
            </p:cNvSpPr>
            <p:nvPr/>
          </p:nvSpPr>
          <p:spPr bwMode="auto">
            <a:xfrm>
              <a:off x="1344" y="2438"/>
              <a:ext cx="192" cy="768"/>
            </a:xfrm>
            <a:prstGeom prst="leftBrace">
              <a:avLst>
                <a:gd name="adj1" fmla="val 33333"/>
                <a:gd name="adj2" fmla="val 50000"/>
              </a:avLst>
            </a:prstGeom>
            <a:noFill/>
            <a:ln w="12700">
              <a:solidFill>
                <a:schemeClr val="bg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pSp>
      <p:sp>
        <p:nvSpPr>
          <p:cNvPr id="383001" name="AutoShape 25">
            <a:extLst>
              <a:ext uri="{FF2B5EF4-FFF2-40B4-BE49-F238E27FC236}">
                <a16:creationId xmlns:a16="http://schemas.microsoft.com/office/drawing/2014/main" id="{FF17D673-D82C-4959-B136-F20A618D4FDF}"/>
              </a:ext>
            </a:extLst>
          </p:cNvPr>
          <p:cNvSpPr>
            <a:spLocks/>
          </p:cNvSpPr>
          <p:nvPr/>
        </p:nvSpPr>
        <p:spPr bwMode="auto">
          <a:xfrm>
            <a:off x="1066800" y="4800600"/>
            <a:ext cx="4953000" cy="381000"/>
          </a:xfrm>
          <a:prstGeom prst="accentCallout2">
            <a:avLst>
              <a:gd name="adj1" fmla="val 30000"/>
              <a:gd name="adj2" fmla="val 101537"/>
              <a:gd name="adj3" fmla="val 30000"/>
              <a:gd name="adj4" fmla="val 102694"/>
              <a:gd name="adj5" fmla="val -88750"/>
              <a:gd name="adj6" fmla="val 103880"/>
            </a:avLst>
          </a:prstGeom>
          <a:solidFill>
            <a:schemeClr val="accent1"/>
          </a:solidFill>
          <a:ln w="12700">
            <a:solidFill>
              <a:schemeClr val="tx1"/>
            </a:solidFill>
            <a:miter lim="800000"/>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1800" i="1">
                <a:latin typeface="Arial" panose="020B0604020202020204" pitchFamily="34" charset="0"/>
              </a:rPr>
              <a:t>Ignore multiplicative constants (e.g., “c”).</a:t>
            </a:r>
          </a:p>
        </p:txBody>
      </p:sp>
      <p:sp>
        <p:nvSpPr>
          <p:cNvPr id="383002" name="Text Box 26">
            <a:extLst>
              <a:ext uri="{FF2B5EF4-FFF2-40B4-BE49-F238E27FC236}">
                <a16:creationId xmlns:a16="http://schemas.microsoft.com/office/drawing/2014/main" id="{9D7271C4-8A4D-4C27-8A75-3ACA4C83F6C0}"/>
              </a:ext>
            </a:extLst>
          </p:cNvPr>
          <p:cNvSpPr txBox="1">
            <a:spLocks noChangeArrowheads="1"/>
          </p:cNvSpPr>
          <p:nvPr/>
        </p:nvSpPr>
        <p:spPr bwMode="auto">
          <a:xfrm>
            <a:off x="762000" y="3581400"/>
            <a:ext cx="266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latin typeface="Arial" panose="020B0604020202020204" pitchFamily="34" charset="0"/>
              </a:rPr>
              <a:t>Time Complexity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300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8299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300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2989"/>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830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2989" grpId="0"/>
      <p:bldP spid="383001" grpId="0" animBg="1"/>
      <p:bldP spid="38300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a:extLst>
              <a:ext uri="{FF2B5EF4-FFF2-40B4-BE49-F238E27FC236}">
                <a16:creationId xmlns:a16="http://schemas.microsoft.com/office/drawing/2014/main" id="{919DD311-D585-41A3-BBB2-D9F5087631E4}"/>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9214746-6D7E-4860-AC0A-D5002CA00F5F}" type="slidenum">
              <a:rPr lang="en-US" altLang="en-US" sz="1400" smtClean="0"/>
              <a:pPr>
                <a:spcBef>
                  <a:spcPct val="0"/>
                </a:spcBef>
                <a:buClrTx/>
                <a:buSzTx/>
                <a:buFontTx/>
                <a:buNone/>
              </a:pPr>
              <a:t>15</a:t>
            </a:fld>
            <a:endParaRPr lang="en-US" altLang="en-US" sz="1400"/>
          </a:p>
        </p:txBody>
      </p:sp>
      <p:sp>
        <p:nvSpPr>
          <p:cNvPr id="15363" name="Rectangle 2">
            <a:extLst>
              <a:ext uri="{FF2B5EF4-FFF2-40B4-BE49-F238E27FC236}">
                <a16:creationId xmlns:a16="http://schemas.microsoft.com/office/drawing/2014/main" id="{35D1AED4-0FC5-40AB-93E2-B3A0F648CC69}"/>
              </a:ext>
            </a:extLst>
          </p:cNvPr>
          <p:cNvSpPr>
            <a:spLocks noGrp="1" noChangeArrowheads="1"/>
          </p:cNvSpPr>
          <p:nvPr>
            <p:ph type="title"/>
          </p:nvPr>
        </p:nvSpPr>
        <p:spPr>
          <a:xfrm>
            <a:off x="685800" y="285750"/>
            <a:ext cx="7772400" cy="933450"/>
          </a:xfrm>
          <a:noFill/>
        </p:spPr>
        <p:txBody>
          <a:bodyPr/>
          <a:lstStyle/>
          <a:p>
            <a:r>
              <a:rPr lang="en-US" altLang="en-US"/>
              <a:t>Repetition: Nested Loops</a:t>
            </a:r>
          </a:p>
        </p:txBody>
      </p:sp>
      <p:sp>
        <p:nvSpPr>
          <p:cNvPr id="15364" name="Rectangle 3">
            <a:extLst>
              <a:ext uri="{FF2B5EF4-FFF2-40B4-BE49-F238E27FC236}">
                <a16:creationId xmlns:a16="http://schemas.microsoft.com/office/drawing/2014/main" id="{55CA834A-05B3-4689-8A15-92FA4387A072}"/>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65" name="Rectangle 4">
            <a:extLst>
              <a:ext uri="{FF2B5EF4-FFF2-40B4-BE49-F238E27FC236}">
                <a16:creationId xmlns:a16="http://schemas.microsoft.com/office/drawing/2014/main" id="{3AC24758-AD84-4293-9918-D5968CAE3D4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66" name="Rectangle 5">
            <a:extLst>
              <a:ext uri="{FF2B5EF4-FFF2-40B4-BE49-F238E27FC236}">
                <a16:creationId xmlns:a16="http://schemas.microsoft.com/office/drawing/2014/main" id="{25045017-90C7-433F-9528-8EE32A185EAE}"/>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5030" name="Text Box 6">
            <a:extLst>
              <a:ext uri="{FF2B5EF4-FFF2-40B4-BE49-F238E27FC236}">
                <a16:creationId xmlns:a16="http://schemas.microsoft.com/office/drawing/2014/main" id="{B26D2A06-1939-4C39-9B59-7773DA948365}"/>
              </a:ext>
            </a:extLst>
          </p:cNvPr>
          <p:cNvSpPr txBox="1">
            <a:spLocks noChangeArrowheads="1"/>
          </p:cNvSpPr>
          <p:nvPr/>
        </p:nvSpPr>
        <p:spPr bwMode="auto">
          <a:xfrm>
            <a:off x="2209800" y="5029200"/>
            <a:ext cx="586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latin typeface="Arial" panose="020B0604020202020204" pitchFamily="34" charset="0"/>
              </a:rPr>
              <a:t>T(n) = (a constant c) * n * n = c</a:t>
            </a:r>
            <a:r>
              <a:rPr lang="en-US" altLang="en-US" sz="2400"/>
              <a:t>n</a:t>
            </a:r>
            <a:r>
              <a:rPr lang="en-US" altLang="en-US" sz="2400" baseline="30000"/>
              <a:t>2</a:t>
            </a:r>
            <a:r>
              <a:rPr lang="en-US" altLang="en-US" sz="2400">
                <a:latin typeface="Arial" panose="020B0604020202020204" pitchFamily="34" charset="0"/>
              </a:rPr>
              <a:t> = </a:t>
            </a:r>
            <a:r>
              <a:rPr lang="en-US" altLang="en-US" sz="2400"/>
              <a:t>O(n</a:t>
            </a:r>
            <a:r>
              <a:rPr lang="en-US" altLang="en-US" sz="2400" baseline="30000"/>
              <a:t>2</a:t>
            </a:r>
            <a:r>
              <a:rPr lang="en-US" altLang="en-US" sz="2400"/>
              <a:t>)</a:t>
            </a:r>
            <a:endParaRPr lang="en-US" altLang="en-US" sz="2400" b="1">
              <a:latin typeface="Arial" panose="020B0604020202020204" pitchFamily="34" charset="0"/>
            </a:endParaRPr>
          </a:p>
        </p:txBody>
      </p:sp>
      <p:sp>
        <p:nvSpPr>
          <p:cNvPr id="15368" name="Rectangle 7">
            <a:extLst>
              <a:ext uri="{FF2B5EF4-FFF2-40B4-BE49-F238E27FC236}">
                <a16:creationId xmlns:a16="http://schemas.microsoft.com/office/drawing/2014/main" id="{CC3F52F3-99F2-4CDB-9E00-D9D982BCC0EA}"/>
              </a:ext>
            </a:extLst>
          </p:cNvPr>
          <p:cNvSpPr>
            <a:spLocks noGrp="1" noChangeArrowheads="1"/>
          </p:cNvSpPr>
          <p:nvPr>
            <p:ph type="body" idx="1"/>
          </p:nvPr>
        </p:nvSpPr>
        <p:spPr>
          <a:xfrm>
            <a:off x="1828800" y="1600200"/>
            <a:ext cx="5486400" cy="2057400"/>
          </a:xfrm>
          <a:solidFill>
            <a:schemeClr val="bg1"/>
          </a:solidFill>
        </p:spPr>
        <p:txBody>
          <a:bodyPr/>
          <a:lstStyle/>
          <a:p>
            <a:pPr marL="0" indent="0">
              <a:lnSpc>
                <a:spcPct val="90000"/>
              </a:lnSpc>
              <a:buFont typeface="Monotype Sorts" pitchFamily="2" charset="2"/>
              <a:buNone/>
            </a:pPr>
            <a:r>
              <a:rPr lang="en-US" altLang="en-US" sz="2400">
                <a:latin typeface="Courier New" panose="02070309020205020404" pitchFamily="49" charset="0"/>
              </a:rPr>
              <a:t>for (i = 1; i &lt;= n; i++) {</a:t>
            </a:r>
          </a:p>
          <a:p>
            <a:pPr marL="0" indent="0">
              <a:lnSpc>
                <a:spcPct val="90000"/>
              </a:lnSpc>
              <a:buFont typeface="Monotype Sorts" pitchFamily="2" charset="2"/>
              <a:buNone/>
            </a:pPr>
            <a:r>
              <a:rPr lang="en-US" altLang="en-US" sz="2400">
                <a:latin typeface="Courier New" panose="02070309020205020404" pitchFamily="49" charset="0"/>
              </a:rPr>
              <a:t>  for (j = 1; j &lt;= n; j++) {</a:t>
            </a:r>
          </a:p>
          <a:p>
            <a:pPr marL="0" indent="0">
              <a:lnSpc>
                <a:spcPct val="90000"/>
              </a:lnSpc>
              <a:buFont typeface="Monotype Sorts" pitchFamily="2" charset="2"/>
              <a:buNone/>
            </a:pPr>
            <a:r>
              <a:rPr lang="en-US" altLang="en-US" sz="2400">
                <a:latin typeface="Courier New" panose="02070309020205020404" pitchFamily="49" charset="0"/>
              </a:rPr>
              <a:t>    k = k + i + j;</a:t>
            </a:r>
          </a:p>
          <a:p>
            <a:pPr marL="0" indent="0">
              <a:lnSpc>
                <a:spcPct val="90000"/>
              </a:lnSpc>
              <a:buFont typeface="Monotype Sorts" pitchFamily="2" charset="2"/>
              <a:buNone/>
            </a:pPr>
            <a:r>
              <a:rPr lang="en-US" altLang="en-US" sz="2400">
                <a:latin typeface="Courier New" panose="02070309020205020404" pitchFamily="49" charset="0"/>
              </a:rPr>
              <a:t>  }</a:t>
            </a:r>
          </a:p>
          <a:p>
            <a:pPr marL="0" indent="0">
              <a:lnSpc>
                <a:spcPct val="90000"/>
              </a:lnSpc>
              <a:buFont typeface="Monotype Sorts" pitchFamily="2" charset="2"/>
              <a:buNone/>
            </a:pPr>
            <a:r>
              <a:rPr lang="en-US" altLang="en-US" sz="2400">
                <a:latin typeface="Courier New" panose="02070309020205020404" pitchFamily="49" charset="0"/>
              </a:rPr>
              <a:t>}</a:t>
            </a:r>
          </a:p>
        </p:txBody>
      </p:sp>
      <p:grpSp>
        <p:nvGrpSpPr>
          <p:cNvPr id="385043" name="Group 19">
            <a:extLst>
              <a:ext uri="{FF2B5EF4-FFF2-40B4-BE49-F238E27FC236}">
                <a16:creationId xmlns:a16="http://schemas.microsoft.com/office/drawing/2014/main" id="{C5C09078-577A-4119-BB47-34B89F441F6B}"/>
              </a:ext>
            </a:extLst>
          </p:cNvPr>
          <p:cNvGrpSpPr>
            <a:grpSpLocks/>
          </p:cNvGrpSpPr>
          <p:nvPr/>
        </p:nvGrpSpPr>
        <p:grpSpPr bwMode="auto">
          <a:xfrm>
            <a:off x="5029200" y="2819400"/>
            <a:ext cx="1890713" cy="1143000"/>
            <a:chOff x="2688" y="1728"/>
            <a:chExt cx="1191" cy="720"/>
          </a:xfrm>
        </p:grpSpPr>
        <p:sp>
          <p:nvSpPr>
            <p:cNvPr id="15378" name="Text Box 9">
              <a:extLst>
                <a:ext uri="{FF2B5EF4-FFF2-40B4-BE49-F238E27FC236}">
                  <a16:creationId xmlns:a16="http://schemas.microsoft.com/office/drawing/2014/main" id="{032606E6-6643-4CC6-A484-A4C168047A58}"/>
                </a:ext>
              </a:extLst>
            </p:cNvPr>
            <p:cNvSpPr txBox="1">
              <a:spLocks noChangeArrowheads="1"/>
            </p:cNvSpPr>
            <p:nvPr/>
          </p:nvSpPr>
          <p:spPr bwMode="auto">
            <a:xfrm>
              <a:off x="2736" y="2160"/>
              <a:ext cx="114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chemeClr val="bg2"/>
                  </a:solidFill>
                </a:rPr>
                <a:t>constant time</a:t>
              </a:r>
            </a:p>
          </p:txBody>
        </p:sp>
        <p:sp>
          <p:nvSpPr>
            <p:cNvPr id="15379" name="Line 10">
              <a:extLst>
                <a:ext uri="{FF2B5EF4-FFF2-40B4-BE49-F238E27FC236}">
                  <a16:creationId xmlns:a16="http://schemas.microsoft.com/office/drawing/2014/main" id="{8DEA4AF0-FC1A-438E-B865-71E40EB2D05D}"/>
                </a:ext>
              </a:extLst>
            </p:cNvPr>
            <p:cNvSpPr>
              <a:spLocks noChangeShapeType="1"/>
            </p:cNvSpPr>
            <p:nvPr/>
          </p:nvSpPr>
          <p:spPr bwMode="auto">
            <a:xfrm flipH="1" flipV="1">
              <a:off x="2688" y="1728"/>
              <a:ext cx="288" cy="384"/>
            </a:xfrm>
            <a:prstGeom prst="line">
              <a:avLst/>
            </a:prstGeom>
            <a:noFill/>
            <a:ln w="12700">
              <a:solidFill>
                <a:schemeClr val="bg2"/>
              </a:solidFill>
              <a:round/>
              <a:headEnd type="none" w="sm" len="sm"/>
              <a:tailEnd type="stealth"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85035" name="Group 11">
            <a:extLst>
              <a:ext uri="{FF2B5EF4-FFF2-40B4-BE49-F238E27FC236}">
                <a16:creationId xmlns:a16="http://schemas.microsoft.com/office/drawing/2014/main" id="{311D6FDC-5293-4DE5-A501-4C6FBB1861EA}"/>
              </a:ext>
            </a:extLst>
          </p:cNvPr>
          <p:cNvGrpSpPr>
            <a:grpSpLocks/>
          </p:cNvGrpSpPr>
          <p:nvPr/>
        </p:nvGrpSpPr>
        <p:grpSpPr bwMode="auto">
          <a:xfrm>
            <a:off x="152400" y="1676400"/>
            <a:ext cx="1676400" cy="1828800"/>
            <a:chOff x="480" y="2438"/>
            <a:chExt cx="1056" cy="768"/>
          </a:xfrm>
        </p:grpSpPr>
        <p:sp>
          <p:nvSpPr>
            <p:cNvPr id="15376" name="Text Box 12">
              <a:extLst>
                <a:ext uri="{FF2B5EF4-FFF2-40B4-BE49-F238E27FC236}">
                  <a16:creationId xmlns:a16="http://schemas.microsoft.com/office/drawing/2014/main" id="{DC3B7634-A038-49F5-935F-0312BFB9A7A0}"/>
                </a:ext>
              </a:extLst>
            </p:cNvPr>
            <p:cNvSpPr txBox="1">
              <a:spLocks noChangeArrowheads="1"/>
            </p:cNvSpPr>
            <p:nvPr/>
          </p:nvSpPr>
          <p:spPr bwMode="auto">
            <a:xfrm>
              <a:off x="480" y="2544"/>
              <a:ext cx="797" cy="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executed</a:t>
              </a:r>
            </a:p>
            <a:p>
              <a:pPr>
                <a:spcBef>
                  <a:spcPct val="0"/>
                </a:spcBef>
                <a:buClrTx/>
                <a:buSzTx/>
                <a:buFontTx/>
                <a:buNone/>
              </a:pPr>
              <a:r>
                <a:rPr lang="en-US" altLang="en-US" sz="2400" i="1"/>
                <a:t>n</a:t>
              </a:r>
              <a:r>
                <a:rPr lang="en-US" altLang="en-US" sz="2400"/>
                <a:t> times</a:t>
              </a:r>
            </a:p>
          </p:txBody>
        </p:sp>
        <p:sp>
          <p:nvSpPr>
            <p:cNvPr id="15377" name="AutoShape 13">
              <a:extLst>
                <a:ext uri="{FF2B5EF4-FFF2-40B4-BE49-F238E27FC236}">
                  <a16:creationId xmlns:a16="http://schemas.microsoft.com/office/drawing/2014/main" id="{40148679-9F54-42C9-81F6-C895C86F5E25}"/>
                </a:ext>
              </a:extLst>
            </p:cNvPr>
            <p:cNvSpPr>
              <a:spLocks/>
            </p:cNvSpPr>
            <p:nvPr/>
          </p:nvSpPr>
          <p:spPr bwMode="auto">
            <a:xfrm>
              <a:off x="1344" y="2438"/>
              <a:ext cx="192" cy="768"/>
            </a:xfrm>
            <a:prstGeom prst="leftBrace">
              <a:avLst>
                <a:gd name="adj1" fmla="val 33333"/>
                <a:gd name="adj2" fmla="val 50000"/>
              </a:avLst>
            </a:prstGeom>
            <a:noFill/>
            <a:ln w="12700">
              <a:solidFill>
                <a:schemeClr val="bg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pSp>
      <p:sp>
        <p:nvSpPr>
          <p:cNvPr id="385038" name="AutoShape 14">
            <a:extLst>
              <a:ext uri="{FF2B5EF4-FFF2-40B4-BE49-F238E27FC236}">
                <a16:creationId xmlns:a16="http://schemas.microsoft.com/office/drawing/2014/main" id="{EC30D77D-B0DD-4CBD-8A34-E19A72740672}"/>
              </a:ext>
            </a:extLst>
          </p:cNvPr>
          <p:cNvSpPr>
            <a:spLocks/>
          </p:cNvSpPr>
          <p:nvPr/>
        </p:nvSpPr>
        <p:spPr bwMode="auto">
          <a:xfrm>
            <a:off x="1066800" y="5791200"/>
            <a:ext cx="4953000" cy="381000"/>
          </a:xfrm>
          <a:prstGeom prst="accentCallout2">
            <a:avLst>
              <a:gd name="adj1" fmla="val 30000"/>
              <a:gd name="adj2" fmla="val 101537"/>
              <a:gd name="adj3" fmla="val 30000"/>
              <a:gd name="adj4" fmla="val 104454"/>
              <a:gd name="adj5" fmla="val -104167"/>
              <a:gd name="adj6" fmla="val 107468"/>
            </a:avLst>
          </a:prstGeom>
          <a:solidFill>
            <a:schemeClr val="accent1"/>
          </a:solidFill>
          <a:ln w="12700">
            <a:solidFill>
              <a:schemeClr val="tx1"/>
            </a:solidFill>
            <a:miter lim="800000"/>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1800" i="1">
                <a:latin typeface="Arial" panose="020B0604020202020204" pitchFamily="34" charset="0"/>
              </a:rPr>
              <a:t>Ignore multiplicative constants (e.g., “c”).</a:t>
            </a:r>
          </a:p>
        </p:txBody>
      </p:sp>
      <p:sp>
        <p:nvSpPr>
          <p:cNvPr id="385039" name="Text Box 15">
            <a:extLst>
              <a:ext uri="{FF2B5EF4-FFF2-40B4-BE49-F238E27FC236}">
                <a16:creationId xmlns:a16="http://schemas.microsoft.com/office/drawing/2014/main" id="{CCE15EAD-B0F2-4890-9C16-8E064A472B1D}"/>
              </a:ext>
            </a:extLst>
          </p:cNvPr>
          <p:cNvSpPr txBox="1">
            <a:spLocks noChangeArrowheads="1"/>
          </p:cNvSpPr>
          <p:nvPr/>
        </p:nvSpPr>
        <p:spPr bwMode="auto">
          <a:xfrm>
            <a:off x="762000" y="4572000"/>
            <a:ext cx="266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latin typeface="Arial" panose="020B0604020202020204" pitchFamily="34" charset="0"/>
              </a:rPr>
              <a:t>Time Complexity</a:t>
            </a:r>
          </a:p>
        </p:txBody>
      </p:sp>
      <p:grpSp>
        <p:nvGrpSpPr>
          <p:cNvPr id="385040" name="Group 16">
            <a:extLst>
              <a:ext uri="{FF2B5EF4-FFF2-40B4-BE49-F238E27FC236}">
                <a16:creationId xmlns:a16="http://schemas.microsoft.com/office/drawing/2014/main" id="{1B58ED07-8605-4F55-8941-6AF12F8402E4}"/>
              </a:ext>
            </a:extLst>
          </p:cNvPr>
          <p:cNvGrpSpPr>
            <a:grpSpLocks/>
          </p:cNvGrpSpPr>
          <p:nvPr/>
        </p:nvGrpSpPr>
        <p:grpSpPr bwMode="auto">
          <a:xfrm>
            <a:off x="7086600" y="2057400"/>
            <a:ext cx="1855788" cy="1187450"/>
            <a:chOff x="3504" y="2256"/>
            <a:chExt cx="1122" cy="972"/>
          </a:xfrm>
        </p:grpSpPr>
        <p:sp>
          <p:nvSpPr>
            <p:cNvPr id="15374" name="AutoShape 17">
              <a:extLst>
                <a:ext uri="{FF2B5EF4-FFF2-40B4-BE49-F238E27FC236}">
                  <a16:creationId xmlns:a16="http://schemas.microsoft.com/office/drawing/2014/main" id="{FD515209-3D06-4D1D-8852-D8F32C01BE21}"/>
                </a:ext>
              </a:extLst>
            </p:cNvPr>
            <p:cNvSpPr>
              <a:spLocks/>
            </p:cNvSpPr>
            <p:nvPr/>
          </p:nvSpPr>
          <p:spPr bwMode="auto">
            <a:xfrm>
              <a:off x="3504" y="2352"/>
              <a:ext cx="192" cy="624"/>
            </a:xfrm>
            <a:prstGeom prst="rightBrace">
              <a:avLst>
                <a:gd name="adj1" fmla="val 27083"/>
                <a:gd name="adj2" fmla="val 50000"/>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75" name="Text Box 18">
              <a:extLst>
                <a:ext uri="{FF2B5EF4-FFF2-40B4-BE49-F238E27FC236}">
                  <a16:creationId xmlns:a16="http://schemas.microsoft.com/office/drawing/2014/main" id="{A0015A91-254B-49FC-AB12-1D0DA9A9AB55}"/>
                </a:ext>
              </a:extLst>
            </p:cNvPr>
            <p:cNvSpPr txBox="1">
              <a:spLocks noChangeArrowheads="1"/>
            </p:cNvSpPr>
            <p:nvPr/>
          </p:nvSpPr>
          <p:spPr bwMode="auto">
            <a:xfrm>
              <a:off x="3763" y="2256"/>
              <a:ext cx="863" cy="9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inner loop</a:t>
              </a:r>
            </a:p>
            <a:p>
              <a:pPr>
                <a:spcBef>
                  <a:spcPct val="0"/>
                </a:spcBef>
                <a:buClrTx/>
                <a:buSzTx/>
                <a:buFontTx/>
                <a:buNone/>
              </a:pPr>
              <a:r>
                <a:rPr lang="en-US" altLang="en-US" sz="2400"/>
                <a:t>executed</a:t>
              </a:r>
            </a:p>
            <a:p>
              <a:pPr>
                <a:spcBef>
                  <a:spcPct val="0"/>
                </a:spcBef>
                <a:buClrTx/>
                <a:buSzTx/>
                <a:buFontTx/>
                <a:buNone/>
              </a:pPr>
              <a:r>
                <a:rPr lang="en-US" altLang="en-US" sz="2400" i="1"/>
                <a:t>n</a:t>
              </a:r>
              <a:r>
                <a:rPr lang="en-US" altLang="en-US" sz="2400"/>
                <a:t> times</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504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8504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8503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503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5030"/>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850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030" grpId="0"/>
      <p:bldP spid="385038" grpId="0" animBg="1"/>
      <p:bldP spid="38503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5FE42264-BF33-4746-A029-910216125324}"/>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FF99BFB-EC38-4314-9866-549ABC3FFB3E}" type="slidenum">
              <a:rPr lang="en-US" altLang="en-US" sz="1400" smtClean="0"/>
              <a:pPr>
                <a:spcBef>
                  <a:spcPct val="0"/>
                </a:spcBef>
                <a:buClrTx/>
                <a:buSzTx/>
                <a:buFontTx/>
                <a:buNone/>
              </a:pPr>
              <a:t>16</a:t>
            </a:fld>
            <a:endParaRPr lang="en-US" altLang="en-US" sz="1400"/>
          </a:p>
        </p:txBody>
      </p:sp>
      <p:sp>
        <p:nvSpPr>
          <p:cNvPr id="17411" name="Rectangle 2">
            <a:extLst>
              <a:ext uri="{FF2B5EF4-FFF2-40B4-BE49-F238E27FC236}">
                <a16:creationId xmlns:a16="http://schemas.microsoft.com/office/drawing/2014/main" id="{94B9064E-609E-415F-862E-AD3E69569678}"/>
              </a:ext>
            </a:extLst>
          </p:cNvPr>
          <p:cNvSpPr>
            <a:spLocks noGrp="1" noChangeArrowheads="1"/>
          </p:cNvSpPr>
          <p:nvPr>
            <p:ph type="title"/>
          </p:nvPr>
        </p:nvSpPr>
        <p:spPr>
          <a:xfrm>
            <a:off x="685800" y="285750"/>
            <a:ext cx="7772400" cy="933450"/>
          </a:xfrm>
          <a:noFill/>
        </p:spPr>
        <p:txBody>
          <a:bodyPr/>
          <a:lstStyle/>
          <a:p>
            <a:r>
              <a:rPr lang="en-US" altLang="en-US"/>
              <a:t>Repetition: Nested Loops</a:t>
            </a:r>
          </a:p>
        </p:txBody>
      </p:sp>
      <p:sp>
        <p:nvSpPr>
          <p:cNvPr id="17412" name="Rectangle 3">
            <a:extLst>
              <a:ext uri="{FF2B5EF4-FFF2-40B4-BE49-F238E27FC236}">
                <a16:creationId xmlns:a16="http://schemas.microsoft.com/office/drawing/2014/main" id="{F97A524D-644E-4FF9-94FC-63B79A66197C}"/>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7413" name="Rectangle 4">
            <a:extLst>
              <a:ext uri="{FF2B5EF4-FFF2-40B4-BE49-F238E27FC236}">
                <a16:creationId xmlns:a16="http://schemas.microsoft.com/office/drawing/2014/main" id="{24CE8D74-61DE-49F3-A0F8-CB4449F86E16}"/>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7414" name="Rectangle 5">
            <a:extLst>
              <a:ext uri="{FF2B5EF4-FFF2-40B4-BE49-F238E27FC236}">
                <a16:creationId xmlns:a16="http://schemas.microsoft.com/office/drawing/2014/main" id="{198CCCA1-AEF9-4B3F-9E90-21680089FDE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8102" name="Text Box 6">
            <a:extLst>
              <a:ext uri="{FF2B5EF4-FFF2-40B4-BE49-F238E27FC236}">
                <a16:creationId xmlns:a16="http://schemas.microsoft.com/office/drawing/2014/main" id="{21ED378F-0975-4441-94A1-A4E92D9E09F8}"/>
              </a:ext>
            </a:extLst>
          </p:cNvPr>
          <p:cNvSpPr txBox="1">
            <a:spLocks noChangeArrowheads="1"/>
          </p:cNvSpPr>
          <p:nvPr/>
        </p:nvSpPr>
        <p:spPr bwMode="auto">
          <a:xfrm>
            <a:off x="1295400" y="4572000"/>
            <a:ext cx="678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latin typeface="Arial" panose="020B0604020202020204" pitchFamily="34" charset="0"/>
              </a:rPr>
              <a:t>T(n) = 20 * c * n = </a:t>
            </a:r>
            <a:r>
              <a:rPr lang="en-US" altLang="en-US" sz="2400"/>
              <a:t>O(n)</a:t>
            </a:r>
            <a:endParaRPr lang="en-US" altLang="en-US" sz="2400" b="1">
              <a:latin typeface="Arial" panose="020B0604020202020204" pitchFamily="34" charset="0"/>
            </a:endParaRPr>
          </a:p>
        </p:txBody>
      </p:sp>
      <p:sp>
        <p:nvSpPr>
          <p:cNvPr id="17416" name="Rectangle 7">
            <a:extLst>
              <a:ext uri="{FF2B5EF4-FFF2-40B4-BE49-F238E27FC236}">
                <a16:creationId xmlns:a16="http://schemas.microsoft.com/office/drawing/2014/main" id="{F14E8B7A-A447-4E85-9307-449A41926A4D}"/>
              </a:ext>
            </a:extLst>
          </p:cNvPr>
          <p:cNvSpPr>
            <a:spLocks noGrp="1" noChangeArrowheads="1"/>
          </p:cNvSpPr>
          <p:nvPr>
            <p:ph type="body" idx="1"/>
          </p:nvPr>
        </p:nvSpPr>
        <p:spPr>
          <a:xfrm>
            <a:off x="1828800" y="1600200"/>
            <a:ext cx="5486400" cy="2057400"/>
          </a:xfrm>
          <a:solidFill>
            <a:schemeClr val="bg1"/>
          </a:solidFill>
        </p:spPr>
        <p:txBody>
          <a:bodyPr/>
          <a:lstStyle/>
          <a:p>
            <a:pPr marL="0" indent="0">
              <a:lnSpc>
                <a:spcPct val="90000"/>
              </a:lnSpc>
              <a:buFont typeface="Monotype Sorts" pitchFamily="2" charset="2"/>
              <a:buNone/>
            </a:pPr>
            <a:r>
              <a:rPr lang="en-US" altLang="en-US" sz="2400">
                <a:latin typeface="Courier New" panose="02070309020205020404" pitchFamily="49" charset="0"/>
              </a:rPr>
              <a:t>for (i = 1; i &lt;= n; i++) {</a:t>
            </a:r>
          </a:p>
          <a:p>
            <a:pPr marL="0" indent="0">
              <a:lnSpc>
                <a:spcPct val="90000"/>
              </a:lnSpc>
              <a:buFont typeface="Monotype Sorts" pitchFamily="2" charset="2"/>
              <a:buNone/>
            </a:pPr>
            <a:r>
              <a:rPr lang="en-US" altLang="en-US" sz="2400">
                <a:latin typeface="Courier New" panose="02070309020205020404" pitchFamily="49" charset="0"/>
              </a:rPr>
              <a:t>  for (j = 1; j &lt;= </a:t>
            </a:r>
            <a:r>
              <a:rPr lang="en-US" altLang="en-US" sz="2400">
                <a:solidFill>
                  <a:srgbClr val="FF3300"/>
                </a:solidFill>
                <a:latin typeface="Courier New" panose="02070309020205020404" pitchFamily="49" charset="0"/>
              </a:rPr>
              <a:t>20</a:t>
            </a:r>
            <a:r>
              <a:rPr lang="en-US" altLang="en-US" sz="2400">
                <a:latin typeface="Courier New" panose="02070309020205020404" pitchFamily="49" charset="0"/>
              </a:rPr>
              <a:t>; j++) {</a:t>
            </a:r>
          </a:p>
          <a:p>
            <a:pPr marL="0" indent="0">
              <a:lnSpc>
                <a:spcPct val="90000"/>
              </a:lnSpc>
              <a:buFont typeface="Monotype Sorts" pitchFamily="2" charset="2"/>
              <a:buNone/>
            </a:pPr>
            <a:r>
              <a:rPr lang="en-US" altLang="en-US" sz="2400">
                <a:latin typeface="Courier New" panose="02070309020205020404" pitchFamily="49" charset="0"/>
              </a:rPr>
              <a:t>    k = k + i + j;</a:t>
            </a:r>
          </a:p>
          <a:p>
            <a:pPr marL="0" indent="0">
              <a:lnSpc>
                <a:spcPct val="90000"/>
              </a:lnSpc>
              <a:buFont typeface="Monotype Sorts" pitchFamily="2" charset="2"/>
              <a:buNone/>
            </a:pPr>
            <a:r>
              <a:rPr lang="en-US" altLang="en-US" sz="2400">
                <a:latin typeface="Courier New" panose="02070309020205020404" pitchFamily="49" charset="0"/>
              </a:rPr>
              <a:t>  }</a:t>
            </a:r>
          </a:p>
          <a:p>
            <a:pPr marL="0" indent="0">
              <a:lnSpc>
                <a:spcPct val="90000"/>
              </a:lnSpc>
              <a:buFont typeface="Monotype Sorts" pitchFamily="2" charset="2"/>
              <a:buNone/>
            </a:pPr>
            <a:r>
              <a:rPr lang="en-US" altLang="en-US" sz="2400">
                <a:latin typeface="Courier New" panose="02070309020205020404" pitchFamily="49" charset="0"/>
              </a:rPr>
              <a:t>}</a:t>
            </a:r>
          </a:p>
        </p:txBody>
      </p:sp>
      <p:grpSp>
        <p:nvGrpSpPr>
          <p:cNvPr id="388104" name="Group 8">
            <a:extLst>
              <a:ext uri="{FF2B5EF4-FFF2-40B4-BE49-F238E27FC236}">
                <a16:creationId xmlns:a16="http://schemas.microsoft.com/office/drawing/2014/main" id="{44D25508-77BF-45BF-97D4-9E93CDFD0F28}"/>
              </a:ext>
            </a:extLst>
          </p:cNvPr>
          <p:cNvGrpSpPr>
            <a:grpSpLocks/>
          </p:cNvGrpSpPr>
          <p:nvPr/>
        </p:nvGrpSpPr>
        <p:grpSpPr bwMode="auto">
          <a:xfrm>
            <a:off x="5029200" y="2819400"/>
            <a:ext cx="1890713" cy="1143000"/>
            <a:chOff x="2688" y="1728"/>
            <a:chExt cx="1191" cy="720"/>
          </a:xfrm>
        </p:grpSpPr>
        <p:sp>
          <p:nvSpPr>
            <p:cNvPr id="17426" name="Text Box 9">
              <a:extLst>
                <a:ext uri="{FF2B5EF4-FFF2-40B4-BE49-F238E27FC236}">
                  <a16:creationId xmlns:a16="http://schemas.microsoft.com/office/drawing/2014/main" id="{5D5C88F7-BAFD-4960-9F34-EAA630AC0C93}"/>
                </a:ext>
              </a:extLst>
            </p:cNvPr>
            <p:cNvSpPr txBox="1">
              <a:spLocks noChangeArrowheads="1"/>
            </p:cNvSpPr>
            <p:nvPr/>
          </p:nvSpPr>
          <p:spPr bwMode="auto">
            <a:xfrm>
              <a:off x="2736" y="2160"/>
              <a:ext cx="114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chemeClr val="bg2"/>
                  </a:solidFill>
                </a:rPr>
                <a:t>constant time</a:t>
              </a:r>
            </a:p>
          </p:txBody>
        </p:sp>
        <p:sp>
          <p:nvSpPr>
            <p:cNvPr id="17427" name="Line 10">
              <a:extLst>
                <a:ext uri="{FF2B5EF4-FFF2-40B4-BE49-F238E27FC236}">
                  <a16:creationId xmlns:a16="http://schemas.microsoft.com/office/drawing/2014/main" id="{B277DB75-0FCD-4EB9-9271-C31F2514349A}"/>
                </a:ext>
              </a:extLst>
            </p:cNvPr>
            <p:cNvSpPr>
              <a:spLocks noChangeShapeType="1"/>
            </p:cNvSpPr>
            <p:nvPr/>
          </p:nvSpPr>
          <p:spPr bwMode="auto">
            <a:xfrm flipH="1" flipV="1">
              <a:off x="2688" y="1728"/>
              <a:ext cx="288" cy="384"/>
            </a:xfrm>
            <a:prstGeom prst="line">
              <a:avLst/>
            </a:prstGeom>
            <a:noFill/>
            <a:ln w="12700">
              <a:solidFill>
                <a:schemeClr val="bg2"/>
              </a:solidFill>
              <a:round/>
              <a:headEnd type="none" w="sm" len="sm"/>
              <a:tailEnd type="stealth"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88107" name="Group 11">
            <a:extLst>
              <a:ext uri="{FF2B5EF4-FFF2-40B4-BE49-F238E27FC236}">
                <a16:creationId xmlns:a16="http://schemas.microsoft.com/office/drawing/2014/main" id="{1BE841A5-E62A-4261-A25A-51164AD79062}"/>
              </a:ext>
            </a:extLst>
          </p:cNvPr>
          <p:cNvGrpSpPr>
            <a:grpSpLocks/>
          </p:cNvGrpSpPr>
          <p:nvPr/>
        </p:nvGrpSpPr>
        <p:grpSpPr bwMode="auto">
          <a:xfrm>
            <a:off x="152400" y="1676400"/>
            <a:ext cx="1676400" cy="1828800"/>
            <a:chOff x="480" y="2438"/>
            <a:chExt cx="1056" cy="768"/>
          </a:xfrm>
        </p:grpSpPr>
        <p:sp>
          <p:nvSpPr>
            <p:cNvPr id="17424" name="Text Box 12">
              <a:extLst>
                <a:ext uri="{FF2B5EF4-FFF2-40B4-BE49-F238E27FC236}">
                  <a16:creationId xmlns:a16="http://schemas.microsoft.com/office/drawing/2014/main" id="{9340D454-3985-4624-8A8B-4266F0A91BFB}"/>
                </a:ext>
              </a:extLst>
            </p:cNvPr>
            <p:cNvSpPr txBox="1">
              <a:spLocks noChangeArrowheads="1"/>
            </p:cNvSpPr>
            <p:nvPr/>
          </p:nvSpPr>
          <p:spPr bwMode="auto">
            <a:xfrm>
              <a:off x="480" y="2544"/>
              <a:ext cx="797" cy="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executed</a:t>
              </a:r>
            </a:p>
            <a:p>
              <a:pPr>
                <a:spcBef>
                  <a:spcPct val="0"/>
                </a:spcBef>
                <a:buClrTx/>
                <a:buSzTx/>
                <a:buFontTx/>
                <a:buNone/>
              </a:pPr>
              <a:r>
                <a:rPr lang="en-US" altLang="en-US" sz="2400" i="1"/>
                <a:t>n</a:t>
              </a:r>
              <a:r>
                <a:rPr lang="en-US" altLang="en-US" sz="2400"/>
                <a:t> times</a:t>
              </a:r>
            </a:p>
          </p:txBody>
        </p:sp>
        <p:sp>
          <p:nvSpPr>
            <p:cNvPr id="17425" name="AutoShape 13">
              <a:extLst>
                <a:ext uri="{FF2B5EF4-FFF2-40B4-BE49-F238E27FC236}">
                  <a16:creationId xmlns:a16="http://schemas.microsoft.com/office/drawing/2014/main" id="{BDFC8F40-61B6-4133-945D-9BDBCD2C01FE}"/>
                </a:ext>
              </a:extLst>
            </p:cNvPr>
            <p:cNvSpPr>
              <a:spLocks/>
            </p:cNvSpPr>
            <p:nvPr/>
          </p:nvSpPr>
          <p:spPr bwMode="auto">
            <a:xfrm>
              <a:off x="1344" y="2438"/>
              <a:ext cx="192" cy="768"/>
            </a:xfrm>
            <a:prstGeom prst="leftBrace">
              <a:avLst>
                <a:gd name="adj1" fmla="val 33333"/>
                <a:gd name="adj2" fmla="val 50000"/>
              </a:avLst>
            </a:prstGeom>
            <a:noFill/>
            <a:ln w="12700">
              <a:solidFill>
                <a:schemeClr val="bg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pSp>
      <p:sp>
        <p:nvSpPr>
          <p:cNvPr id="388111" name="Text Box 15">
            <a:extLst>
              <a:ext uri="{FF2B5EF4-FFF2-40B4-BE49-F238E27FC236}">
                <a16:creationId xmlns:a16="http://schemas.microsoft.com/office/drawing/2014/main" id="{722A5A6B-93EA-4CA5-B420-F62EBACEE9C8}"/>
              </a:ext>
            </a:extLst>
          </p:cNvPr>
          <p:cNvSpPr txBox="1">
            <a:spLocks noChangeArrowheads="1"/>
          </p:cNvSpPr>
          <p:nvPr/>
        </p:nvSpPr>
        <p:spPr bwMode="auto">
          <a:xfrm>
            <a:off x="304800" y="4114800"/>
            <a:ext cx="266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latin typeface="Arial" panose="020B0604020202020204" pitchFamily="34" charset="0"/>
              </a:rPr>
              <a:t>Time Complexity</a:t>
            </a:r>
          </a:p>
        </p:txBody>
      </p:sp>
      <p:grpSp>
        <p:nvGrpSpPr>
          <p:cNvPr id="388112" name="Group 16">
            <a:extLst>
              <a:ext uri="{FF2B5EF4-FFF2-40B4-BE49-F238E27FC236}">
                <a16:creationId xmlns:a16="http://schemas.microsoft.com/office/drawing/2014/main" id="{8B2609D9-5C0B-4F9D-BC68-EC46FA3A0ABE}"/>
              </a:ext>
            </a:extLst>
          </p:cNvPr>
          <p:cNvGrpSpPr>
            <a:grpSpLocks/>
          </p:cNvGrpSpPr>
          <p:nvPr/>
        </p:nvGrpSpPr>
        <p:grpSpPr bwMode="auto">
          <a:xfrm>
            <a:off x="7288213" y="2057400"/>
            <a:ext cx="1855787" cy="1187450"/>
            <a:chOff x="3504" y="2256"/>
            <a:chExt cx="1122" cy="972"/>
          </a:xfrm>
        </p:grpSpPr>
        <p:sp>
          <p:nvSpPr>
            <p:cNvPr id="17422" name="AutoShape 17">
              <a:extLst>
                <a:ext uri="{FF2B5EF4-FFF2-40B4-BE49-F238E27FC236}">
                  <a16:creationId xmlns:a16="http://schemas.microsoft.com/office/drawing/2014/main" id="{78FA9F28-1018-439A-B408-990A118B34A7}"/>
                </a:ext>
              </a:extLst>
            </p:cNvPr>
            <p:cNvSpPr>
              <a:spLocks/>
            </p:cNvSpPr>
            <p:nvPr/>
          </p:nvSpPr>
          <p:spPr bwMode="auto">
            <a:xfrm>
              <a:off x="3504" y="2352"/>
              <a:ext cx="192" cy="624"/>
            </a:xfrm>
            <a:prstGeom prst="rightBrace">
              <a:avLst>
                <a:gd name="adj1" fmla="val 27083"/>
                <a:gd name="adj2" fmla="val 50000"/>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7423" name="Text Box 18">
              <a:extLst>
                <a:ext uri="{FF2B5EF4-FFF2-40B4-BE49-F238E27FC236}">
                  <a16:creationId xmlns:a16="http://schemas.microsoft.com/office/drawing/2014/main" id="{24B04F5C-D534-4623-AA09-05683C14F14D}"/>
                </a:ext>
              </a:extLst>
            </p:cNvPr>
            <p:cNvSpPr txBox="1">
              <a:spLocks noChangeArrowheads="1"/>
            </p:cNvSpPr>
            <p:nvPr/>
          </p:nvSpPr>
          <p:spPr bwMode="auto">
            <a:xfrm>
              <a:off x="3763" y="2256"/>
              <a:ext cx="863" cy="9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inner loop</a:t>
              </a:r>
            </a:p>
            <a:p>
              <a:pPr>
                <a:spcBef>
                  <a:spcPct val="0"/>
                </a:spcBef>
                <a:buClrTx/>
                <a:buSzTx/>
                <a:buFontTx/>
                <a:buNone/>
              </a:pPr>
              <a:r>
                <a:rPr lang="en-US" altLang="en-US" sz="2400"/>
                <a:t>executed</a:t>
              </a:r>
            </a:p>
            <a:p>
              <a:pPr>
                <a:spcBef>
                  <a:spcPct val="0"/>
                </a:spcBef>
                <a:buClrTx/>
                <a:buSzTx/>
                <a:buFontTx/>
                <a:buNone/>
              </a:pPr>
              <a:r>
                <a:rPr lang="en-US" altLang="en-US" sz="2400" i="1">
                  <a:solidFill>
                    <a:srgbClr val="FF3300"/>
                  </a:solidFill>
                </a:rPr>
                <a:t>20</a:t>
              </a:r>
              <a:r>
                <a:rPr lang="en-US" altLang="en-US" sz="2400"/>
                <a:t> times</a:t>
              </a:r>
            </a:p>
          </p:txBody>
        </p:sp>
      </p:grpSp>
      <p:sp>
        <p:nvSpPr>
          <p:cNvPr id="388115" name="AutoShape 19">
            <a:extLst>
              <a:ext uri="{FF2B5EF4-FFF2-40B4-BE49-F238E27FC236}">
                <a16:creationId xmlns:a16="http://schemas.microsoft.com/office/drawing/2014/main" id="{5569C7A1-9376-4D9A-AD7B-3EC32EF858DB}"/>
              </a:ext>
            </a:extLst>
          </p:cNvPr>
          <p:cNvSpPr>
            <a:spLocks/>
          </p:cNvSpPr>
          <p:nvPr/>
        </p:nvSpPr>
        <p:spPr bwMode="auto">
          <a:xfrm>
            <a:off x="3048000" y="5257800"/>
            <a:ext cx="5486400" cy="457200"/>
          </a:xfrm>
          <a:prstGeom prst="accentCallout2">
            <a:avLst>
              <a:gd name="adj1" fmla="val 25000"/>
              <a:gd name="adj2" fmla="val -1389"/>
              <a:gd name="adj3" fmla="val 25000"/>
              <a:gd name="adj4" fmla="val -1389"/>
              <a:gd name="adj5" fmla="val -62847"/>
              <a:gd name="adj6" fmla="val -1417"/>
            </a:avLst>
          </a:prstGeom>
          <a:solidFill>
            <a:schemeClr val="accent1"/>
          </a:solidFill>
          <a:ln w="12700">
            <a:solidFill>
              <a:schemeClr val="tx1"/>
            </a:solidFill>
            <a:miter lim="800000"/>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2400" i="1"/>
              <a:t>Ignore multiplicative constants (e.g., 20*c)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810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8811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8810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81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8102"/>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881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102" grpId="0"/>
      <p:bldP spid="388111" grpId="0"/>
      <p:bldP spid="38811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D2981-EA74-442E-6097-2BC92CC5637D}"/>
              </a:ext>
            </a:extLst>
          </p:cNvPr>
          <p:cNvSpPr>
            <a:spLocks noGrp="1"/>
          </p:cNvSpPr>
          <p:nvPr>
            <p:ph type="title"/>
          </p:nvPr>
        </p:nvSpPr>
        <p:spPr/>
        <p:txBody>
          <a:bodyPr/>
          <a:lstStyle/>
          <a:p>
            <a:r>
              <a:rPr lang="en-US" dirty="0"/>
              <a:t>Check Point </a:t>
            </a:r>
          </a:p>
        </p:txBody>
      </p:sp>
      <p:sp>
        <p:nvSpPr>
          <p:cNvPr id="3" name="Content Placeholder 2">
            <a:extLst>
              <a:ext uri="{FF2B5EF4-FFF2-40B4-BE49-F238E27FC236}">
                <a16:creationId xmlns:a16="http://schemas.microsoft.com/office/drawing/2014/main" id="{0540FD0D-36A7-6ACE-2D9C-E5409E905347}"/>
              </a:ext>
            </a:extLst>
          </p:cNvPr>
          <p:cNvSpPr>
            <a:spLocks noGrp="1"/>
          </p:cNvSpPr>
          <p:nvPr>
            <p:ph idx="1"/>
          </p:nvPr>
        </p:nvSpPr>
        <p:spPr/>
        <p:txBody>
          <a:bodyPr>
            <a:normAutofit fontScale="85000" lnSpcReduction="20000"/>
          </a:bodyPr>
          <a:lstStyle/>
          <a:p>
            <a:pPr marL="0" indent="0">
              <a:buNone/>
            </a:pPr>
            <a:r>
              <a:rPr lang="en-US" sz="1800" dirty="0">
                <a:solidFill>
                  <a:srgbClr val="941EDF"/>
                </a:solidFill>
                <a:latin typeface="Courier New" panose="02070309020205020404" pitchFamily="49" charset="0"/>
              </a:rPr>
              <a:t>for</a:t>
            </a:r>
            <a:r>
              <a:rPr lang="en-US" sz="1800" dirty="0">
                <a:solidFill>
                  <a:srgbClr val="000000"/>
                </a:solidFill>
                <a:latin typeface="Courier New" panose="02070309020205020404" pitchFamily="49" charset="0"/>
              </a:rPr>
              <a:t> (</a:t>
            </a:r>
            <a:r>
              <a:rPr lang="en-US" sz="1800" dirty="0">
                <a:solidFill>
                  <a:srgbClr val="941EDF"/>
                </a:solidFill>
                <a:latin typeface="Courier New" panose="02070309020205020404" pitchFamily="49" charset="0"/>
              </a:rPr>
              <a:t>int</a:t>
            </a: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i</a:t>
            </a:r>
            <a:r>
              <a:rPr lang="en-US" sz="1800" dirty="0">
                <a:solidFill>
                  <a:srgbClr val="000000"/>
                </a:solidFill>
                <a:latin typeface="Courier New" panose="02070309020205020404" pitchFamily="49" charset="0"/>
              </a:rPr>
              <a:t> = 0; </a:t>
            </a:r>
            <a:r>
              <a:rPr lang="en-US" sz="1800" dirty="0" err="1">
                <a:solidFill>
                  <a:srgbClr val="000000"/>
                </a:solidFill>
                <a:latin typeface="Courier New" panose="02070309020205020404" pitchFamily="49" charset="0"/>
              </a:rPr>
              <a:t>i</a:t>
            </a:r>
            <a:r>
              <a:rPr lang="en-US" sz="1800" dirty="0">
                <a:solidFill>
                  <a:srgbClr val="000000"/>
                </a:solidFill>
                <a:latin typeface="Courier New" panose="02070309020205020404" pitchFamily="49" charset="0"/>
              </a:rPr>
              <a:t> &lt; </a:t>
            </a:r>
            <a:r>
              <a:rPr lang="en-US" sz="1800" dirty="0" err="1">
                <a:solidFill>
                  <a:srgbClr val="000000"/>
                </a:solidFill>
                <a:latin typeface="Courier New" panose="02070309020205020404" pitchFamily="49" charset="0"/>
              </a:rPr>
              <a:t>list.length</a:t>
            </a:r>
            <a:r>
              <a:rPr lang="en-US" sz="1800" dirty="0">
                <a:solidFill>
                  <a:srgbClr val="000000"/>
                </a:solidFill>
                <a:latin typeface="Courier New" panose="02070309020205020404" pitchFamily="49" charset="0"/>
              </a:rPr>
              <a:t> - 1; </a:t>
            </a:r>
            <a:r>
              <a:rPr lang="en-US" sz="1800" dirty="0" err="1">
                <a:solidFill>
                  <a:srgbClr val="000000"/>
                </a:solidFill>
                <a:latin typeface="Courier New" panose="02070309020205020404" pitchFamily="49" charset="0"/>
              </a:rPr>
              <a:t>i</a:t>
            </a:r>
            <a:r>
              <a:rPr lang="en-US" sz="1800" dirty="0">
                <a:solidFill>
                  <a:srgbClr val="000000"/>
                </a:solidFill>
                <a:latin typeface="Courier New" panose="02070309020205020404" pitchFamily="49" charset="0"/>
              </a:rPr>
              <a:t>++)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Find the minimum in the list[i..list.length-1]</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941EDF"/>
                </a:solidFill>
                <a:latin typeface="Courier New" panose="02070309020205020404" pitchFamily="49" charset="0"/>
              </a:rPr>
              <a:t>double</a:t>
            </a: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currentMin</a:t>
            </a:r>
            <a:r>
              <a:rPr lang="en-US" sz="1800" dirty="0">
                <a:solidFill>
                  <a:srgbClr val="000000"/>
                </a:solidFill>
                <a:latin typeface="Courier New" panose="02070309020205020404" pitchFamily="49" charset="0"/>
              </a:rPr>
              <a:t> = list[</a:t>
            </a:r>
            <a:r>
              <a:rPr lang="en-US" sz="1800" dirty="0" err="1">
                <a:solidFill>
                  <a:srgbClr val="000000"/>
                </a:solidFill>
                <a:latin typeface="Courier New" panose="02070309020205020404" pitchFamily="49" charset="0"/>
              </a:rPr>
              <a:t>i</a:t>
            </a:r>
            <a:r>
              <a:rPr lang="en-US" sz="1800" dirty="0">
                <a:solidFill>
                  <a:srgbClr val="000000"/>
                </a:solidFill>
                <a:latin typeface="Courier New" panose="02070309020205020404" pitchFamily="49" charset="0"/>
              </a:rPr>
              <a:t>];</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941EDF"/>
                </a:solidFill>
                <a:latin typeface="Courier New" panose="02070309020205020404" pitchFamily="49" charset="0"/>
              </a:rPr>
              <a:t>int</a:t>
            </a: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currentMinIndex</a:t>
            </a:r>
            <a:r>
              <a:rPr lang="en-US" sz="1800" dirty="0">
                <a:solidFill>
                  <a:srgbClr val="000000"/>
                </a:solidFill>
                <a:latin typeface="Courier New" panose="02070309020205020404" pitchFamily="49" charset="0"/>
              </a:rPr>
              <a:t> = </a:t>
            </a:r>
            <a:r>
              <a:rPr lang="en-US" sz="1800" dirty="0" err="1">
                <a:solidFill>
                  <a:srgbClr val="000000"/>
                </a:solidFill>
                <a:latin typeface="Courier New" panose="02070309020205020404" pitchFamily="49" charset="0"/>
              </a:rPr>
              <a:t>i</a:t>
            </a:r>
            <a:r>
              <a:rPr lang="en-US" sz="1800" dirty="0">
                <a:solidFill>
                  <a:srgbClr val="000000"/>
                </a:solidFill>
                <a:latin typeface="Courier New" panose="02070309020205020404" pitchFamily="49" charset="0"/>
              </a:rPr>
              <a:t>;</a:t>
            </a:r>
            <a:br>
              <a:rPr lang="en-US" sz="1800" dirty="0">
                <a:solidFill>
                  <a:srgbClr val="000000"/>
                </a:solidFill>
                <a:latin typeface="Courier New" panose="02070309020205020404" pitchFamily="49" charset="0"/>
              </a:rPr>
            </a:b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941EDF"/>
                </a:solidFill>
                <a:latin typeface="Courier New" panose="02070309020205020404" pitchFamily="49" charset="0"/>
              </a:rPr>
              <a:t>for</a:t>
            </a:r>
            <a:r>
              <a:rPr lang="en-US" sz="1800" dirty="0">
                <a:solidFill>
                  <a:srgbClr val="000000"/>
                </a:solidFill>
                <a:latin typeface="Courier New" panose="02070309020205020404" pitchFamily="49" charset="0"/>
              </a:rPr>
              <a:t> (</a:t>
            </a:r>
            <a:r>
              <a:rPr lang="en-US" sz="1800" dirty="0">
                <a:solidFill>
                  <a:srgbClr val="941EDF"/>
                </a:solidFill>
                <a:latin typeface="Courier New" panose="02070309020205020404" pitchFamily="49" charset="0"/>
              </a:rPr>
              <a:t>int</a:t>
            </a:r>
            <a:r>
              <a:rPr lang="en-US" sz="1800" dirty="0">
                <a:solidFill>
                  <a:srgbClr val="000000"/>
                </a:solidFill>
                <a:latin typeface="Courier New" panose="02070309020205020404" pitchFamily="49" charset="0"/>
              </a:rPr>
              <a:t> j = </a:t>
            </a:r>
            <a:r>
              <a:rPr lang="en-US" sz="1800" dirty="0" err="1">
                <a:solidFill>
                  <a:srgbClr val="000000"/>
                </a:solidFill>
                <a:latin typeface="Courier New" panose="02070309020205020404" pitchFamily="49" charset="0"/>
              </a:rPr>
              <a:t>i</a:t>
            </a:r>
            <a:r>
              <a:rPr lang="en-US" sz="1800" dirty="0">
                <a:solidFill>
                  <a:srgbClr val="000000"/>
                </a:solidFill>
                <a:latin typeface="Courier New" panose="02070309020205020404" pitchFamily="49" charset="0"/>
              </a:rPr>
              <a:t> + 1; j &lt; </a:t>
            </a:r>
            <a:r>
              <a:rPr lang="en-US" sz="1800" dirty="0" err="1">
                <a:solidFill>
                  <a:srgbClr val="000000"/>
                </a:solidFill>
                <a:latin typeface="Courier New" panose="02070309020205020404" pitchFamily="49" charset="0"/>
              </a:rPr>
              <a:t>list.length</a:t>
            </a: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j++</a:t>
            </a:r>
            <a:r>
              <a:rPr lang="en-US" sz="1800" dirty="0">
                <a:solidFill>
                  <a:srgbClr val="000000"/>
                </a:solidFill>
                <a:latin typeface="Courier New" panose="02070309020205020404" pitchFamily="49" charset="0"/>
              </a:rPr>
              <a:t>)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941EDF"/>
                </a:solidFill>
                <a:latin typeface="Courier New" panose="02070309020205020404" pitchFamily="49" charset="0"/>
              </a:rPr>
              <a:t>if</a:t>
            </a: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currentMin</a:t>
            </a:r>
            <a:r>
              <a:rPr lang="en-US" sz="1800" dirty="0">
                <a:solidFill>
                  <a:srgbClr val="000000"/>
                </a:solidFill>
                <a:latin typeface="Courier New" panose="02070309020205020404" pitchFamily="49" charset="0"/>
              </a:rPr>
              <a:t> &gt; list[j])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currentMin</a:t>
            </a:r>
            <a:r>
              <a:rPr lang="en-US" sz="1800" dirty="0">
                <a:solidFill>
                  <a:srgbClr val="000000"/>
                </a:solidFill>
                <a:latin typeface="Courier New" panose="02070309020205020404" pitchFamily="49" charset="0"/>
              </a:rPr>
              <a:t> = list[j];</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currentMinIndex</a:t>
            </a:r>
            <a:r>
              <a:rPr lang="en-US" sz="1800" dirty="0">
                <a:solidFill>
                  <a:srgbClr val="000000"/>
                </a:solidFill>
                <a:latin typeface="Courier New" panose="02070309020205020404" pitchFamily="49" charset="0"/>
              </a:rPr>
              <a:t> = j;</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br>
              <a:rPr lang="en-US" sz="1800" dirty="0">
                <a:solidFill>
                  <a:srgbClr val="000000"/>
                </a:solidFill>
                <a:latin typeface="Courier New" panose="02070309020205020404" pitchFamily="49" charset="0"/>
              </a:rPr>
            </a:b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Swap list[</a:t>
            </a:r>
            <a:r>
              <a:rPr lang="en-US" sz="1800" dirty="0" err="1">
                <a:solidFill>
                  <a:srgbClr val="E65D00"/>
                </a:solidFill>
                <a:latin typeface="Courier New" panose="02070309020205020404" pitchFamily="49" charset="0"/>
              </a:rPr>
              <a:t>i</a:t>
            </a:r>
            <a:r>
              <a:rPr lang="en-US" sz="1800" dirty="0">
                <a:solidFill>
                  <a:srgbClr val="E65D00"/>
                </a:solidFill>
                <a:latin typeface="Courier New" panose="02070309020205020404" pitchFamily="49" charset="0"/>
              </a:rPr>
              <a:t>] with list[</a:t>
            </a:r>
            <a:r>
              <a:rPr lang="en-US" sz="1800" dirty="0" err="1">
                <a:solidFill>
                  <a:srgbClr val="E65D00"/>
                </a:solidFill>
                <a:latin typeface="Courier New" panose="02070309020205020404" pitchFamily="49" charset="0"/>
              </a:rPr>
              <a:t>currentMinIndex</a:t>
            </a:r>
            <a:r>
              <a:rPr lang="en-US" sz="1800" dirty="0">
                <a:solidFill>
                  <a:srgbClr val="E65D00"/>
                </a:solidFill>
                <a:latin typeface="Courier New" panose="02070309020205020404" pitchFamily="49" charset="0"/>
              </a:rPr>
              <a:t>] if necessary;</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941EDF"/>
                </a:solidFill>
                <a:latin typeface="Courier New" panose="02070309020205020404" pitchFamily="49" charset="0"/>
              </a:rPr>
              <a:t>if</a:t>
            </a: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currentMinIndex</a:t>
            </a:r>
            <a:r>
              <a:rPr lang="en-US" sz="1800" dirty="0">
                <a:solidFill>
                  <a:srgbClr val="000000"/>
                </a:solidFill>
                <a:latin typeface="Courier New" panose="02070309020205020404" pitchFamily="49" charset="0"/>
              </a:rPr>
              <a:t> != </a:t>
            </a:r>
            <a:r>
              <a:rPr lang="en-US" sz="1800" dirty="0" err="1">
                <a:solidFill>
                  <a:srgbClr val="000000"/>
                </a:solidFill>
                <a:latin typeface="Courier New" panose="02070309020205020404" pitchFamily="49" charset="0"/>
              </a:rPr>
              <a:t>i</a:t>
            </a:r>
            <a:r>
              <a:rPr lang="en-US" sz="1800" dirty="0">
                <a:solidFill>
                  <a:srgbClr val="000000"/>
                </a:solidFill>
                <a:latin typeface="Courier New" panose="02070309020205020404" pitchFamily="49" charset="0"/>
              </a:rPr>
              <a:t>)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list[</a:t>
            </a:r>
            <a:r>
              <a:rPr lang="en-US" sz="1800" dirty="0" err="1">
                <a:solidFill>
                  <a:srgbClr val="000000"/>
                </a:solidFill>
                <a:latin typeface="Courier New" panose="02070309020205020404" pitchFamily="49" charset="0"/>
              </a:rPr>
              <a:t>currentMinIndex</a:t>
            </a:r>
            <a:r>
              <a:rPr lang="en-US" sz="1800" dirty="0">
                <a:solidFill>
                  <a:srgbClr val="000000"/>
                </a:solidFill>
                <a:latin typeface="Courier New" panose="02070309020205020404" pitchFamily="49" charset="0"/>
              </a:rPr>
              <a:t>] = list[</a:t>
            </a:r>
            <a:r>
              <a:rPr lang="en-US" sz="1800" dirty="0" err="1">
                <a:solidFill>
                  <a:srgbClr val="000000"/>
                </a:solidFill>
                <a:latin typeface="Courier New" panose="02070309020205020404" pitchFamily="49" charset="0"/>
              </a:rPr>
              <a:t>i</a:t>
            </a:r>
            <a:r>
              <a:rPr lang="en-US" sz="1800" dirty="0">
                <a:solidFill>
                  <a:srgbClr val="000000"/>
                </a:solidFill>
                <a:latin typeface="Courier New" panose="02070309020205020404" pitchFamily="49" charset="0"/>
              </a:rPr>
              <a:t>];</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list[</a:t>
            </a:r>
            <a:r>
              <a:rPr lang="en-US" sz="1800" dirty="0" err="1">
                <a:solidFill>
                  <a:srgbClr val="000000"/>
                </a:solidFill>
                <a:latin typeface="Courier New" panose="02070309020205020404" pitchFamily="49" charset="0"/>
              </a:rPr>
              <a:t>i</a:t>
            </a:r>
            <a:r>
              <a:rPr lang="en-US" sz="1800" dirty="0">
                <a:solidFill>
                  <a:srgbClr val="000000"/>
                </a:solidFill>
                <a:latin typeface="Courier New" panose="02070309020205020404" pitchFamily="49" charset="0"/>
              </a:rPr>
              <a:t>] = </a:t>
            </a:r>
            <a:r>
              <a:rPr lang="en-US" sz="1800" dirty="0" err="1">
                <a:solidFill>
                  <a:srgbClr val="000000"/>
                </a:solidFill>
                <a:latin typeface="Courier New" panose="02070309020205020404" pitchFamily="49" charset="0"/>
              </a:rPr>
              <a:t>currentMin</a:t>
            </a:r>
            <a:r>
              <a:rPr lang="en-US" sz="1800" dirty="0">
                <a:solidFill>
                  <a:srgbClr val="000000"/>
                </a:solidFill>
                <a:latin typeface="Courier New" panose="02070309020205020404" pitchFamily="49" charset="0"/>
              </a:rPr>
              <a:t>;</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br>
              <a:rPr lang="en-US" sz="1800" dirty="0">
                <a:solidFill>
                  <a:srgbClr val="000000"/>
                </a:solidFill>
                <a:latin typeface="Courier New" panose="02070309020205020404" pitchFamily="49" charset="0"/>
              </a:rPr>
            </a:br>
            <a:endParaRPr lang="en-US" dirty="0"/>
          </a:p>
        </p:txBody>
      </p:sp>
      <p:sp>
        <p:nvSpPr>
          <p:cNvPr id="4" name="Slide Number Placeholder 3">
            <a:extLst>
              <a:ext uri="{FF2B5EF4-FFF2-40B4-BE49-F238E27FC236}">
                <a16:creationId xmlns:a16="http://schemas.microsoft.com/office/drawing/2014/main" id="{59930BE9-AD20-EB8C-8FF4-BBE7E5BFB4C7}"/>
              </a:ext>
            </a:extLst>
          </p:cNvPr>
          <p:cNvSpPr>
            <a:spLocks noGrp="1"/>
          </p:cNvSpPr>
          <p:nvPr>
            <p:ph type="sldNum" sz="quarter" idx="11"/>
          </p:nvPr>
        </p:nvSpPr>
        <p:spPr/>
        <p:txBody>
          <a:bodyPr/>
          <a:lstStyle/>
          <a:p>
            <a:pPr>
              <a:defRPr/>
            </a:pPr>
            <a:fld id="{0906D619-5E3B-4A71-B141-FF8AEF8EAC81}" type="slidenum">
              <a:rPr lang="en-US" altLang="en-US" smtClean="0"/>
              <a:pPr>
                <a:defRPr/>
              </a:pPr>
              <a:t>17</a:t>
            </a:fld>
            <a:endParaRPr lang="en-US" altLang="en-US"/>
          </a:p>
        </p:txBody>
      </p:sp>
    </p:spTree>
    <p:extLst>
      <p:ext uri="{BB962C8B-B14F-4D97-AF65-F5344CB8AC3E}">
        <p14:creationId xmlns:p14="http://schemas.microsoft.com/office/powerpoint/2010/main" val="31337049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a:extLst>
              <a:ext uri="{FF2B5EF4-FFF2-40B4-BE49-F238E27FC236}">
                <a16:creationId xmlns:a16="http://schemas.microsoft.com/office/drawing/2014/main" id="{E0D2E05D-A071-4F51-9E2E-14AED1BBC764}"/>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D95A48F-0032-4CBB-BBE2-26CF84F1389F}" type="slidenum">
              <a:rPr lang="en-US" altLang="en-US" sz="1400" smtClean="0"/>
              <a:pPr>
                <a:spcBef>
                  <a:spcPct val="0"/>
                </a:spcBef>
                <a:buClrTx/>
                <a:buSzTx/>
                <a:buFontTx/>
                <a:buNone/>
              </a:pPr>
              <a:t>18</a:t>
            </a:fld>
            <a:endParaRPr lang="en-US" altLang="en-US" sz="1400"/>
          </a:p>
        </p:txBody>
      </p:sp>
      <p:sp>
        <p:nvSpPr>
          <p:cNvPr id="18435" name="Rectangle 2">
            <a:extLst>
              <a:ext uri="{FF2B5EF4-FFF2-40B4-BE49-F238E27FC236}">
                <a16:creationId xmlns:a16="http://schemas.microsoft.com/office/drawing/2014/main" id="{566BE96E-94C6-4704-B4AF-5419EAA1B7E8}"/>
              </a:ext>
            </a:extLst>
          </p:cNvPr>
          <p:cNvSpPr>
            <a:spLocks noGrp="1" noChangeArrowheads="1"/>
          </p:cNvSpPr>
          <p:nvPr>
            <p:ph type="title"/>
          </p:nvPr>
        </p:nvSpPr>
        <p:spPr>
          <a:xfrm>
            <a:off x="685800" y="285750"/>
            <a:ext cx="7772400" cy="628650"/>
          </a:xfrm>
          <a:noFill/>
        </p:spPr>
        <p:txBody>
          <a:bodyPr/>
          <a:lstStyle/>
          <a:p>
            <a:r>
              <a:rPr lang="en-US" altLang="en-US"/>
              <a:t>Sequence</a:t>
            </a:r>
          </a:p>
        </p:txBody>
      </p:sp>
      <p:sp>
        <p:nvSpPr>
          <p:cNvPr id="18436" name="Rectangle 3">
            <a:extLst>
              <a:ext uri="{FF2B5EF4-FFF2-40B4-BE49-F238E27FC236}">
                <a16:creationId xmlns:a16="http://schemas.microsoft.com/office/drawing/2014/main" id="{67D1D61A-E494-4425-8C7E-56907FA58938}"/>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37" name="Rectangle 4">
            <a:extLst>
              <a:ext uri="{FF2B5EF4-FFF2-40B4-BE49-F238E27FC236}">
                <a16:creationId xmlns:a16="http://schemas.microsoft.com/office/drawing/2014/main" id="{6BF3FDDD-640E-4443-A1CC-261F2E5799B7}"/>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38" name="Rectangle 5">
            <a:extLst>
              <a:ext uri="{FF2B5EF4-FFF2-40B4-BE49-F238E27FC236}">
                <a16:creationId xmlns:a16="http://schemas.microsoft.com/office/drawing/2014/main" id="{F84512A3-E27C-4DE1-945C-315E0C7A31AD}"/>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126" name="Text Box 6">
            <a:extLst>
              <a:ext uri="{FF2B5EF4-FFF2-40B4-BE49-F238E27FC236}">
                <a16:creationId xmlns:a16="http://schemas.microsoft.com/office/drawing/2014/main" id="{A932288E-0AD5-4AA5-B139-45BF0E2B8FC0}"/>
              </a:ext>
            </a:extLst>
          </p:cNvPr>
          <p:cNvSpPr txBox="1">
            <a:spLocks noChangeArrowheads="1"/>
          </p:cNvSpPr>
          <p:nvPr/>
        </p:nvSpPr>
        <p:spPr bwMode="auto">
          <a:xfrm>
            <a:off x="1447800" y="5410200"/>
            <a:ext cx="678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latin typeface="Arial" panose="020B0604020202020204" pitchFamily="34" charset="0"/>
              </a:rPr>
              <a:t>T(n) = c *10 + 20 * c * n = </a:t>
            </a:r>
            <a:r>
              <a:rPr lang="en-US" altLang="en-US" sz="2400"/>
              <a:t>O(n)</a:t>
            </a:r>
            <a:endParaRPr lang="en-US" altLang="en-US" sz="2400" b="1">
              <a:latin typeface="Arial" panose="020B0604020202020204" pitchFamily="34" charset="0"/>
            </a:endParaRPr>
          </a:p>
        </p:txBody>
      </p:sp>
      <p:sp>
        <p:nvSpPr>
          <p:cNvPr id="18440" name="Rectangle 7">
            <a:extLst>
              <a:ext uri="{FF2B5EF4-FFF2-40B4-BE49-F238E27FC236}">
                <a16:creationId xmlns:a16="http://schemas.microsoft.com/office/drawing/2014/main" id="{09248EAA-332A-4D34-A357-604B0D905D93}"/>
              </a:ext>
            </a:extLst>
          </p:cNvPr>
          <p:cNvSpPr>
            <a:spLocks noGrp="1" noChangeArrowheads="1"/>
          </p:cNvSpPr>
          <p:nvPr>
            <p:ph type="body" idx="1"/>
          </p:nvPr>
        </p:nvSpPr>
        <p:spPr>
          <a:xfrm>
            <a:off x="2133600" y="2743200"/>
            <a:ext cx="5486400" cy="1752600"/>
          </a:xfrm>
          <a:solidFill>
            <a:schemeClr val="bg1"/>
          </a:solidFill>
        </p:spPr>
        <p:txBody>
          <a:bodyPr/>
          <a:lstStyle/>
          <a:p>
            <a:pPr marL="0" indent="0">
              <a:lnSpc>
                <a:spcPct val="90000"/>
              </a:lnSpc>
              <a:buFont typeface="Monotype Sorts" pitchFamily="2" charset="2"/>
              <a:buNone/>
            </a:pPr>
            <a:r>
              <a:rPr lang="en-US" altLang="en-US" sz="2000">
                <a:latin typeface="Courier New" panose="02070309020205020404" pitchFamily="49" charset="0"/>
              </a:rPr>
              <a:t>for (i = 1; i &lt;= n; i++) {</a:t>
            </a:r>
          </a:p>
          <a:p>
            <a:pPr marL="0" indent="0">
              <a:lnSpc>
                <a:spcPct val="90000"/>
              </a:lnSpc>
              <a:buFont typeface="Monotype Sorts" pitchFamily="2" charset="2"/>
              <a:buNone/>
            </a:pPr>
            <a:r>
              <a:rPr lang="en-US" altLang="en-US" sz="2000">
                <a:latin typeface="Courier New" panose="02070309020205020404" pitchFamily="49" charset="0"/>
              </a:rPr>
              <a:t>  for (j = 1; j &lt;= </a:t>
            </a:r>
            <a:r>
              <a:rPr lang="en-US" altLang="en-US" sz="2000">
                <a:solidFill>
                  <a:srgbClr val="FF3300"/>
                </a:solidFill>
                <a:latin typeface="Courier New" panose="02070309020205020404" pitchFamily="49" charset="0"/>
              </a:rPr>
              <a:t>20</a:t>
            </a:r>
            <a:r>
              <a:rPr lang="en-US" altLang="en-US" sz="2000">
                <a:latin typeface="Courier New" panose="02070309020205020404" pitchFamily="49" charset="0"/>
              </a:rPr>
              <a:t>; j++) {</a:t>
            </a:r>
          </a:p>
          <a:p>
            <a:pPr marL="0" indent="0">
              <a:lnSpc>
                <a:spcPct val="90000"/>
              </a:lnSpc>
              <a:buFont typeface="Monotype Sorts" pitchFamily="2" charset="2"/>
              <a:buNone/>
            </a:pPr>
            <a:r>
              <a:rPr lang="en-US" altLang="en-US" sz="2000">
                <a:latin typeface="Courier New" panose="02070309020205020404" pitchFamily="49" charset="0"/>
              </a:rPr>
              <a:t>    k = k + i + j;</a:t>
            </a:r>
          </a:p>
          <a:p>
            <a:pPr marL="0" indent="0">
              <a:lnSpc>
                <a:spcPct val="90000"/>
              </a:lnSpc>
              <a:buFont typeface="Monotype Sorts" pitchFamily="2" charset="2"/>
              <a:buNone/>
            </a:pPr>
            <a:r>
              <a:rPr lang="en-US" altLang="en-US" sz="2000">
                <a:latin typeface="Courier New" panose="02070309020205020404" pitchFamily="49" charset="0"/>
              </a:rPr>
              <a:t>  }</a:t>
            </a:r>
          </a:p>
          <a:p>
            <a:pPr marL="0" indent="0">
              <a:lnSpc>
                <a:spcPct val="90000"/>
              </a:lnSpc>
              <a:buFont typeface="Monotype Sorts" pitchFamily="2" charset="2"/>
              <a:buNone/>
            </a:pPr>
            <a:r>
              <a:rPr lang="en-US" altLang="en-US" sz="2000">
                <a:latin typeface="Courier New" panose="02070309020205020404" pitchFamily="49" charset="0"/>
              </a:rPr>
              <a:t>}</a:t>
            </a:r>
          </a:p>
        </p:txBody>
      </p:sp>
      <p:grpSp>
        <p:nvGrpSpPr>
          <p:cNvPr id="389131" name="Group 11">
            <a:extLst>
              <a:ext uri="{FF2B5EF4-FFF2-40B4-BE49-F238E27FC236}">
                <a16:creationId xmlns:a16="http://schemas.microsoft.com/office/drawing/2014/main" id="{ABAF6A24-B9CA-4794-8721-B200A2AEB00F}"/>
              </a:ext>
            </a:extLst>
          </p:cNvPr>
          <p:cNvGrpSpPr>
            <a:grpSpLocks/>
          </p:cNvGrpSpPr>
          <p:nvPr/>
        </p:nvGrpSpPr>
        <p:grpSpPr bwMode="auto">
          <a:xfrm>
            <a:off x="457200" y="2819400"/>
            <a:ext cx="1676400" cy="1524000"/>
            <a:chOff x="480" y="2438"/>
            <a:chExt cx="1056" cy="768"/>
          </a:xfrm>
        </p:grpSpPr>
        <p:sp>
          <p:nvSpPr>
            <p:cNvPr id="18450" name="Text Box 12">
              <a:extLst>
                <a:ext uri="{FF2B5EF4-FFF2-40B4-BE49-F238E27FC236}">
                  <a16:creationId xmlns:a16="http://schemas.microsoft.com/office/drawing/2014/main" id="{2D4886F6-ADE7-4167-BC6C-8A7D19861F94}"/>
                </a:ext>
              </a:extLst>
            </p:cNvPr>
            <p:cNvSpPr txBox="1">
              <a:spLocks noChangeArrowheads="1"/>
            </p:cNvSpPr>
            <p:nvPr/>
          </p:nvSpPr>
          <p:spPr bwMode="auto">
            <a:xfrm>
              <a:off x="480" y="2544"/>
              <a:ext cx="797" cy="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executed</a:t>
              </a:r>
            </a:p>
            <a:p>
              <a:pPr>
                <a:spcBef>
                  <a:spcPct val="0"/>
                </a:spcBef>
                <a:buClrTx/>
                <a:buSzTx/>
                <a:buFontTx/>
                <a:buNone/>
              </a:pPr>
              <a:r>
                <a:rPr lang="en-US" altLang="en-US" sz="2400" i="1"/>
                <a:t>n</a:t>
              </a:r>
              <a:r>
                <a:rPr lang="en-US" altLang="en-US" sz="2400"/>
                <a:t> times</a:t>
              </a:r>
            </a:p>
          </p:txBody>
        </p:sp>
        <p:sp>
          <p:nvSpPr>
            <p:cNvPr id="18451" name="AutoShape 13">
              <a:extLst>
                <a:ext uri="{FF2B5EF4-FFF2-40B4-BE49-F238E27FC236}">
                  <a16:creationId xmlns:a16="http://schemas.microsoft.com/office/drawing/2014/main" id="{7AAC735F-E670-4D1F-A134-AE2C4CDBA16E}"/>
                </a:ext>
              </a:extLst>
            </p:cNvPr>
            <p:cNvSpPr>
              <a:spLocks/>
            </p:cNvSpPr>
            <p:nvPr/>
          </p:nvSpPr>
          <p:spPr bwMode="auto">
            <a:xfrm>
              <a:off x="1344" y="2438"/>
              <a:ext cx="192" cy="768"/>
            </a:xfrm>
            <a:prstGeom prst="leftBrace">
              <a:avLst>
                <a:gd name="adj1" fmla="val 33333"/>
                <a:gd name="adj2" fmla="val 50000"/>
              </a:avLst>
            </a:prstGeom>
            <a:noFill/>
            <a:ln w="12700">
              <a:solidFill>
                <a:schemeClr val="bg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pSp>
      <p:sp>
        <p:nvSpPr>
          <p:cNvPr id="389134" name="Text Box 14">
            <a:extLst>
              <a:ext uri="{FF2B5EF4-FFF2-40B4-BE49-F238E27FC236}">
                <a16:creationId xmlns:a16="http://schemas.microsoft.com/office/drawing/2014/main" id="{49FF2280-C19F-434C-AB48-8912B69580F3}"/>
              </a:ext>
            </a:extLst>
          </p:cNvPr>
          <p:cNvSpPr txBox="1">
            <a:spLocks noChangeArrowheads="1"/>
          </p:cNvSpPr>
          <p:nvPr/>
        </p:nvSpPr>
        <p:spPr bwMode="auto">
          <a:xfrm>
            <a:off x="457200" y="4953000"/>
            <a:ext cx="266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latin typeface="Arial" panose="020B0604020202020204" pitchFamily="34" charset="0"/>
              </a:rPr>
              <a:t>Time Complexity</a:t>
            </a:r>
          </a:p>
        </p:txBody>
      </p:sp>
      <p:grpSp>
        <p:nvGrpSpPr>
          <p:cNvPr id="389135" name="Group 15">
            <a:extLst>
              <a:ext uri="{FF2B5EF4-FFF2-40B4-BE49-F238E27FC236}">
                <a16:creationId xmlns:a16="http://schemas.microsoft.com/office/drawing/2014/main" id="{306BE519-848A-454A-9DE7-82133042C25E}"/>
              </a:ext>
            </a:extLst>
          </p:cNvPr>
          <p:cNvGrpSpPr>
            <a:grpSpLocks/>
          </p:cNvGrpSpPr>
          <p:nvPr/>
        </p:nvGrpSpPr>
        <p:grpSpPr bwMode="auto">
          <a:xfrm>
            <a:off x="6781800" y="3048000"/>
            <a:ext cx="1855788" cy="1187450"/>
            <a:chOff x="3504" y="2256"/>
            <a:chExt cx="1122" cy="972"/>
          </a:xfrm>
        </p:grpSpPr>
        <p:sp>
          <p:nvSpPr>
            <p:cNvPr id="18448" name="AutoShape 16">
              <a:extLst>
                <a:ext uri="{FF2B5EF4-FFF2-40B4-BE49-F238E27FC236}">
                  <a16:creationId xmlns:a16="http://schemas.microsoft.com/office/drawing/2014/main" id="{AD799582-3C29-4553-85C7-9AE99D80F2F2}"/>
                </a:ext>
              </a:extLst>
            </p:cNvPr>
            <p:cNvSpPr>
              <a:spLocks/>
            </p:cNvSpPr>
            <p:nvPr/>
          </p:nvSpPr>
          <p:spPr bwMode="auto">
            <a:xfrm>
              <a:off x="3504" y="2352"/>
              <a:ext cx="192" cy="624"/>
            </a:xfrm>
            <a:prstGeom prst="rightBrace">
              <a:avLst>
                <a:gd name="adj1" fmla="val 27083"/>
                <a:gd name="adj2" fmla="val 50000"/>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49" name="Text Box 17">
              <a:extLst>
                <a:ext uri="{FF2B5EF4-FFF2-40B4-BE49-F238E27FC236}">
                  <a16:creationId xmlns:a16="http://schemas.microsoft.com/office/drawing/2014/main" id="{B60680FC-5BED-4736-AA37-45F2D2EF6160}"/>
                </a:ext>
              </a:extLst>
            </p:cNvPr>
            <p:cNvSpPr txBox="1">
              <a:spLocks noChangeArrowheads="1"/>
            </p:cNvSpPr>
            <p:nvPr/>
          </p:nvSpPr>
          <p:spPr bwMode="auto">
            <a:xfrm>
              <a:off x="3763" y="2256"/>
              <a:ext cx="863" cy="9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inner loop</a:t>
              </a:r>
            </a:p>
            <a:p>
              <a:pPr>
                <a:spcBef>
                  <a:spcPct val="0"/>
                </a:spcBef>
                <a:buClrTx/>
                <a:buSzTx/>
                <a:buFontTx/>
                <a:buNone/>
              </a:pPr>
              <a:r>
                <a:rPr lang="en-US" altLang="en-US" sz="2400"/>
                <a:t>executed</a:t>
              </a:r>
            </a:p>
            <a:p>
              <a:pPr>
                <a:spcBef>
                  <a:spcPct val="0"/>
                </a:spcBef>
                <a:buClrTx/>
                <a:buSzTx/>
                <a:buFontTx/>
                <a:buNone/>
              </a:pPr>
              <a:r>
                <a:rPr lang="en-US" altLang="en-US" sz="2400" i="1">
                  <a:solidFill>
                    <a:srgbClr val="FF3300"/>
                  </a:solidFill>
                </a:rPr>
                <a:t>20</a:t>
              </a:r>
              <a:r>
                <a:rPr lang="en-US" altLang="en-US" sz="2400"/>
                <a:t> times</a:t>
              </a:r>
            </a:p>
          </p:txBody>
        </p:sp>
      </p:grpSp>
      <p:sp>
        <p:nvSpPr>
          <p:cNvPr id="18444" name="Rectangle 19">
            <a:extLst>
              <a:ext uri="{FF2B5EF4-FFF2-40B4-BE49-F238E27FC236}">
                <a16:creationId xmlns:a16="http://schemas.microsoft.com/office/drawing/2014/main" id="{F174E9CD-07F6-4C76-9717-D06D474DB760}"/>
              </a:ext>
            </a:extLst>
          </p:cNvPr>
          <p:cNvSpPr>
            <a:spLocks noChangeArrowheads="1"/>
          </p:cNvSpPr>
          <p:nvPr/>
        </p:nvSpPr>
        <p:spPr bwMode="auto">
          <a:xfrm>
            <a:off x="2133600" y="1600200"/>
            <a:ext cx="5486400" cy="1066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pitchFamily="2" charset="2"/>
              <a:buNone/>
            </a:pPr>
            <a:r>
              <a:rPr lang="en-US" altLang="en-US" sz="2000">
                <a:latin typeface="Courier New" panose="02070309020205020404" pitchFamily="49" charset="0"/>
              </a:rPr>
              <a:t>for (j = 1; j &lt;= </a:t>
            </a:r>
            <a:r>
              <a:rPr lang="en-US" altLang="en-US" sz="2000">
                <a:solidFill>
                  <a:srgbClr val="FF3300"/>
                </a:solidFill>
                <a:latin typeface="Courier New" panose="02070309020205020404" pitchFamily="49" charset="0"/>
              </a:rPr>
              <a:t>10</a:t>
            </a:r>
            <a:r>
              <a:rPr lang="en-US" altLang="en-US" sz="2000">
                <a:latin typeface="Courier New" panose="02070309020205020404" pitchFamily="49" charset="0"/>
              </a:rPr>
              <a:t>; j++) {</a:t>
            </a:r>
          </a:p>
          <a:p>
            <a:pPr>
              <a:lnSpc>
                <a:spcPct val="90000"/>
              </a:lnSpc>
              <a:buFont typeface="Monotype Sorts" pitchFamily="2" charset="2"/>
              <a:buNone/>
            </a:pPr>
            <a:r>
              <a:rPr lang="en-US" altLang="en-US" sz="2000">
                <a:latin typeface="Courier New" panose="02070309020205020404" pitchFamily="49" charset="0"/>
              </a:rPr>
              <a:t>  k = k + 4;</a:t>
            </a:r>
          </a:p>
          <a:p>
            <a:pPr>
              <a:lnSpc>
                <a:spcPct val="90000"/>
              </a:lnSpc>
              <a:buFont typeface="Monotype Sorts" pitchFamily="2" charset="2"/>
              <a:buNone/>
            </a:pPr>
            <a:r>
              <a:rPr lang="en-US" altLang="en-US" sz="2000">
                <a:latin typeface="Courier New" panose="02070309020205020404" pitchFamily="49" charset="0"/>
              </a:rPr>
              <a:t>}</a:t>
            </a:r>
          </a:p>
        </p:txBody>
      </p:sp>
      <p:grpSp>
        <p:nvGrpSpPr>
          <p:cNvPr id="389140" name="Group 20">
            <a:extLst>
              <a:ext uri="{FF2B5EF4-FFF2-40B4-BE49-F238E27FC236}">
                <a16:creationId xmlns:a16="http://schemas.microsoft.com/office/drawing/2014/main" id="{AD7269B2-432C-4630-AEEE-996FE38413F4}"/>
              </a:ext>
            </a:extLst>
          </p:cNvPr>
          <p:cNvGrpSpPr>
            <a:grpSpLocks/>
          </p:cNvGrpSpPr>
          <p:nvPr/>
        </p:nvGrpSpPr>
        <p:grpSpPr bwMode="auto">
          <a:xfrm>
            <a:off x="533400" y="1676400"/>
            <a:ext cx="1676400" cy="949325"/>
            <a:chOff x="480" y="2438"/>
            <a:chExt cx="1056" cy="797"/>
          </a:xfrm>
        </p:grpSpPr>
        <p:sp>
          <p:nvSpPr>
            <p:cNvPr id="18446" name="Text Box 21">
              <a:extLst>
                <a:ext uri="{FF2B5EF4-FFF2-40B4-BE49-F238E27FC236}">
                  <a16:creationId xmlns:a16="http://schemas.microsoft.com/office/drawing/2014/main" id="{B918FAE4-7DBE-4F26-A8BD-F72A6F13A3F4}"/>
                </a:ext>
              </a:extLst>
            </p:cNvPr>
            <p:cNvSpPr txBox="1">
              <a:spLocks noChangeArrowheads="1"/>
            </p:cNvSpPr>
            <p:nvPr/>
          </p:nvSpPr>
          <p:spPr bwMode="auto">
            <a:xfrm>
              <a:off x="480" y="2545"/>
              <a:ext cx="797" cy="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executed</a:t>
              </a:r>
            </a:p>
            <a:p>
              <a:pPr>
                <a:spcBef>
                  <a:spcPct val="0"/>
                </a:spcBef>
                <a:buClrTx/>
                <a:buSzTx/>
                <a:buFontTx/>
                <a:buNone/>
              </a:pPr>
              <a:r>
                <a:rPr lang="en-US" altLang="en-US" sz="2400" i="1"/>
                <a:t>10</a:t>
              </a:r>
              <a:r>
                <a:rPr lang="en-US" altLang="en-US" sz="2400"/>
                <a:t> times</a:t>
              </a:r>
            </a:p>
          </p:txBody>
        </p:sp>
        <p:sp>
          <p:nvSpPr>
            <p:cNvPr id="18447" name="AutoShape 22">
              <a:extLst>
                <a:ext uri="{FF2B5EF4-FFF2-40B4-BE49-F238E27FC236}">
                  <a16:creationId xmlns:a16="http://schemas.microsoft.com/office/drawing/2014/main" id="{51456964-6204-4940-9EE5-C9B45823F533}"/>
                </a:ext>
              </a:extLst>
            </p:cNvPr>
            <p:cNvSpPr>
              <a:spLocks/>
            </p:cNvSpPr>
            <p:nvPr/>
          </p:nvSpPr>
          <p:spPr bwMode="auto">
            <a:xfrm>
              <a:off x="1344" y="2438"/>
              <a:ext cx="192" cy="768"/>
            </a:xfrm>
            <a:prstGeom prst="leftBrace">
              <a:avLst>
                <a:gd name="adj1" fmla="val 33333"/>
                <a:gd name="adj2" fmla="val 50000"/>
              </a:avLst>
            </a:prstGeom>
            <a:noFill/>
            <a:ln w="12700">
              <a:solidFill>
                <a:schemeClr val="bg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914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8913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8913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913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91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26" grpId="0"/>
      <p:bldP spid="38913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82D59E26-7219-40DA-8F98-25B3C038BAFC}"/>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E0BC254-0CA4-476D-B3C7-BDA91CBC7A0F}" type="slidenum">
              <a:rPr lang="en-US" altLang="en-US" sz="1400" smtClean="0"/>
              <a:pPr>
                <a:spcBef>
                  <a:spcPct val="0"/>
                </a:spcBef>
                <a:buClrTx/>
                <a:buSzTx/>
                <a:buFontTx/>
                <a:buNone/>
              </a:pPr>
              <a:t>19</a:t>
            </a:fld>
            <a:endParaRPr lang="en-US" altLang="en-US" sz="1400"/>
          </a:p>
        </p:txBody>
      </p:sp>
      <p:sp>
        <p:nvSpPr>
          <p:cNvPr id="19459" name="Rectangle 2">
            <a:extLst>
              <a:ext uri="{FF2B5EF4-FFF2-40B4-BE49-F238E27FC236}">
                <a16:creationId xmlns:a16="http://schemas.microsoft.com/office/drawing/2014/main" id="{0E2BBF57-8E25-4FB1-AB98-2B442DB517CA}"/>
              </a:ext>
            </a:extLst>
          </p:cNvPr>
          <p:cNvSpPr>
            <a:spLocks noGrp="1" noChangeArrowheads="1"/>
          </p:cNvSpPr>
          <p:nvPr>
            <p:ph type="title"/>
          </p:nvPr>
        </p:nvSpPr>
        <p:spPr>
          <a:xfrm>
            <a:off x="685800" y="285750"/>
            <a:ext cx="7772400" cy="476250"/>
          </a:xfrm>
          <a:noFill/>
        </p:spPr>
        <p:txBody>
          <a:bodyPr/>
          <a:lstStyle/>
          <a:p>
            <a:r>
              <a:rPr lang="en-US" altLang="en-US"/>
              <a:t>Selection</a:t>
            </a:r>
          </a:p>
        </p:txBody>
      </p:sp>
      <p:sp>
        <p:nvSpPr>
          <p:cNvPr id="19460" name="Rectangle 3">
            <a:extLst>
              <a:ext uri="{FF2B5EF4-FFF2-40B4-BE49-F238E27FC236}">
                <a16:creationId xmlns:a16="http://schemas.microsoft.com/office/drawing/2014/main" id="{F70CEE99-0A52-4A74-BE8A-340BFACFD9CE}"/>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61" name="Rectangle 4">
            <a:extLst>
              <a:ext uri="{FF2B5EF4-FFF2-40B4-BE49-F238E27FC236}">
                <a16:creationId xmlns:a16="http://schemas.microsoft.com/office/drawing/2014/main" id="{2C6D0427-4104-4286-A425-C414A2A61B53}"/>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62" name="Rectangle 5">
            <a:extLst>
              <a:ext uri="{FF2B5EF4-FFF2-40B4-BE49-F238E27FC236}">
                <a16:creationId xmlns:a16="http://schemas.microsoft.com/office/drawing/2014/main" id="{68A397C5-DB25-41BA-9098-82F3DF7CA24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0150" name="Text Box 6">
            <a:extLst>
              <a:ext uri="{FF2B5EF4-FFF2-40B4-BE49-F238E27FC236}">
                <a16:creationId xmlns:a16="http://schemas.microsoft.com/office/drawing/2014/main" id="{A332B43B-7AE4-4DA7-A07A-46964128E9F1}"/>
              </a:ext>
            </a:extLst>
          </p:cNvPr>
          <p:cNvSpPr txBox="1">
            <a:spLocks noChangeArrowheads="1"/>
          </p:cNvSpPr>
          <p:nvPr/>
        </p:nvSpPr>
        <p:spPr bwMode="auto">
          <a:xfrm>
            <a:off x="1219200" y="4876800"/>
            <a:ext cx="67818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dirty="0">
                <a:latin typeface="Arial" panose="020B0604020202020204" pitchFamily="34" charset="0"/>
              </a:rPr>
              <a:t>T(n) = test time + worst-case (if, else)</a:t>
            </a:r>
          </a:p>
          <a:p>
            <a:pPr>
              <a:spcBef>
                <a:spcPct val="0"/>
              </a:spcBef>
              <a:buClrTx/>
              <a:buSzTx/>
              <a:buFontTx/>
              <a:buNone/>
            </a:pPr>
            <a:r>
              <a:rPr lang="en-US" altLang="en-US" sz="2400" dirty="0">
                <a:latin typeface="Arial" panose="020B0604020202020204" pitchFamily="34" charset="0"/>
              </a:rPr>
              <a:t>        = O(n) + O(n)</a:t>
            </a:r>
          </a:p>
          <a:p>
            <a:pPr>
              <a:spcBef>
                <a:spcPct val="0"/>
              </a:spcBef>
              <a:buClrTx/>
              <a:buSzTx/>
              <a:buFontTx/>
              <a:buNone/>
            </a:pPr>
            <a:r>
              <a:rPr lang="en-US" altLang="en-US" sz="2400" dirty="0">
                <a:latin typeface="Arial" panose="020B0604020202020204" pitchFamily="34" charset="0"/>
              </a:rPr>
              <a:t>        = O(n)</a:t>
            </a:r>
          </a:p>
        </p:txBody>
      </p:sp>
      <p:sp>
        <p:nvSpPr>
          <p:cNvPr id="19464" name="Rectangle 7">
            <a:extLst>
              <a:ext uri="{FF2B5EF4-FFF2-40B4-BE49-F238E27FC236}">
                <a16:creationId xmlns:a16="http://schemas.microsoft.com/office/drawing/2014/main" id="{4E6F2843-6B0A-4F90-A7A8-3BB9972F7A7B}"/>
              </a:ext>
            </a:extLst>
          </p:cNvPr>
          <p:cNvSpPr>
            <a:spLocks noGrp="1" noChangeArrowheads="1"/>
          </p:cNvSpPr>
          <p:nvPr>
            <p:ph type="body" idx="1"/>
          </p:nvPr>
        </p:nvSpPr>
        <p:spPr>
          <a:xfrm>
            <a:off x="1981200" y="1295400"/>
            <a:ext cx="5638800" cy="2819400"/>
          </a:xfrm>
          <a:solidFill>
            <a:schemeClr val="bg1"/>
          </a:solidFill>
        </p:spPr>
        <p:txBody>
          <a:bodyPr/>
          <a:lstStyle/>
          <a:p>
            <a:pPr marL="0" indent="0">
              <a:lnSpc>
                <a:spcPct val="90000"/>
              </a:lnSpc>
              <a:buFont typeface="Monotype Sorts" pitchFamily="2" charset="2"/>
              <a:buNone/>
            </a:pPr>
            <a:r>
              <a:rPr lang="en-US" altLang="en-US" sz="2200" dirty="0">
                <a:latin typeface="Courier New" panose="02070309020205020404" pitchFamily="49" charset="0"/>
              </a:rPr>
              <a:t>if (</a:t>
            </a:r>
            <a:r>
              <a:rPr lang="en-US" altLang="en-US" sz="2200" dirty="0" err="1">
                <a:latin typeface="Courier New" panose="02070309020205020404" pitchFamily="49" charset="0"/>
              </a:rPr>
              <a:t>list.contains</a:t>
            </a:r>
            <a:r>
              <a:rPr lang="en-US" altLang="en-US" sz="2200" dirty="0">
                <a:latin typeface="Courier New" panose="02070309020205020404" pitchFamily="49" charset="0"/>
              </a:rPr>
              <a:t>(e)) {</a:t>
            </a:r>
          </a:p>
          <a:p>
            <a:pPr marL="0" indent="0">
              <a:lnSpc>
                <a:spcPct val="90000"/>
              </a:lnSpc>
              <a:buFont typeface="Monotype Sorts" pitchFamily="2" charset="2"/>
              <a:buNone/>
            </a:pPr>
            <a:r>
              <a:rPr lang="en-US" altLang="en-US" sz="2200" dirty="0">
                <a:latin typeface="Courier New" panose="02070309020205020404" pitchFamily="49" charset="0"/>
              </a:rPr>
              <a:t>  </a:t>
            </a:r>
            <a:r>
              <a:rPr lang="en-US" altLang="en-US" sz="2200" dirty="0" err="1">
                <a:latin typeface="Courier New" panose="02070309020205020404" pitchFamily="49" charset="0"/>
              </a:rPr>
              <a:t>System.out.println</a:t>
            </a:r>
            <a:r>
              <a:rPr lang="en-US" altLang="en-US" sz="2200" dirty="0">
                <a:latin typeface="Courier New" panose="02070309020205020404" pitchFamily="49" charset="0"/>
              </a:rPr>
              <a:t>(e);</a:t>
            </a:r>
          </a:p>
          <a:p>
            <a:pPr marL="0" indent="0">
              <a:lnSpc>
                <a:spcPct val="90000"/>
              </a:lnSpc>
              <a:buFont typeface="Monotype Sorts" pitchFamily="2" charset="2"/>
              <a:buNone/>
            </a:pPr>
            <a:r>
              <a:rPr lang="en-US" altLang="en-US" sz="2200" dirty="0">
                <a:latin typeface="Courier New" panose="02070309020205020404" pitchFamily="49" charset="0"/>
              </a:rPr>
              <a:t>}</a:t>
            </a:r>
          </a:p>
          <a:p>
            <a:pPr marL="0" indent="0">
              <a:lnSpc>
                <a:spcPct val="90000"/>
              </a:lnSpc>
              <a:buFont typeface="Monotype Sorts" pitchFamily="2" charset="2"/>
              <a:buNone/>
            </a:pPr>
            <a:r>
              <a:rPr lang="en-US" altLang="en-US" sz="2200" dirty="0">
                <a:latin typeface="Courier New" panose="02070309020205020404" pitchFamily="49" charset="0"/>
              </a:rPr>
              <a:t>else</a:t>
            </a:r>
          </a:p>
          <a:p>
            <a:pPr marL="0" indent="0">
              <a:lnSpc>
                <a:spcPct val="90000"/>
              </a:lnSpc>
              <a:buFont typeface="Monotype Sorts" pitchFamily="2" charset="2"/>
              <a:buNone/>
            </a:pPr>
            <a:r>
              <a:rPr lang="en-US" altLang="en-US" sz="2200" dirty="0">
                <a:latin typeface="Courier New" panose="02070309020205020404" pitchFamily="49" charset="0"/>
              </a:rPr>
              <a:t>  for (Object t: list) {</a:t>
            </a:r>
          </a:p>
          <a:p>
            <a:pPr marL="0" indent="0">
              <a:lnSpc>
                <a:spcPct val="90000"/>
              </a:lnSpc>
              <a:buFont typeface="Monotype Sorts" pitchFamily="2" charset="2"/>
              <a:buNone/>
            </a:pPr>
            <a:r>
              <a:rPr lang="en-US" altLang="en-US" sz="2200" dirty="0">
                <a:latin typeface="Courier New" panose="02070309020205020404" pitchFamily="49" charset="0"/>
              </a:rPr>
              <a:t>    </a:t>
            </a:r>
            <a:r>
              <a:rPr lang="en-US" altLang="en-US" sz="2200" dirty="0" err="1">
                <a:latin typeface="Courier New" panose="02070309020205020404" pitchFamily="49" charset="0"/>
              </a:rPr>
              <a:t>System.out.println</a:t>
            </a:r>
            <a:r>
              <a:rPr lang="en-US" altLang="en-US" sz="2200" dirty="0">
                <a:latin typeface="Courier New" panose="02070309020205020404" pitchFamily="49" charset="0"/>
              </a:rPr>
              <a:t>(t);</a:t>
            </a:r>
          </a:p>
          <a:p>
            <a:pPr marL="0" indent="0">
              <a:lnSpc>
                <a:spcPct val="90000"/>
              </a:lnSpc>
              <a:buFont typeface="Monotype Sorts" pitchFamily="2" charset="2"/>
              <a:buNone/>
            </a:pPr>
            <a:r>
              <a:rPr lang="en-US" altLang="en-US" sz="2200" dirty="0">
                <a:latin typeface="Courier New" panose="02070309020205020404" pitchFamily="49" charset="0"/>
              </a:rPr>
              <a:t>  }</a:t>
            </a:r>
          </a:p>
        </p:txBody>
      </p:sp>
      <p:sp>
        <p:nvSpPr>
          <p:cNvPr id="390155" name="Text Box 11">
            <a:extLst>
              <a:ext uri="{FF2B5EF4-FFF2-40B4-BE49-F238E27FC236}">
                <a16:creationId xmlns:a16="http://schemas.microsoft.com/office/drawing/2014/main" id="{E5D94105-6227-4B4F-91C5-FF422738CB59}"/>
              </a:ext>
            </a:extLst>
          </p:cNvPr>
          <p:cNvSpPr txBox="1">
            <a:spLocks noChangeArrowheads="1"/>
          </p:cNvSpPr>
          <p:nvPr/>
        </p:nvSpPr>
        <p:spPr bwMode="auto">
          <a:xfrm>
            <a:off x="228600" y="4419600"/>
            <a:ext cx="266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latin typeface="Arial" panose="020B0604020202020204" pitchFamily="34" charset="0"/>
              </a:rPr>
              <a:t>Time Complexity</a:t>
            </a:r>
          </a:p>
        </p:txBody>
      </p:sp>
      <p:grpSp>
        <p:nvGrpSpPr>
          <p:cNvPr id="390156" name="Group 12">
            <a:extLst>
              <a:ext uri="{FF2B5EF4-FFF2-40B4-BE49-F238E27FC236}">
                <a16:creationId xmlns:a16="http://schemas.microsoft.com/office/drawing/2014/main" id="{DB9998FA-FEF8-4908-94EA-0B8659836421}"/>
              </a:ext>
            </a:extLst>
          </p:cNvPr>
          <p:cNvGrpSpPr>
            <a:grpSpLocks/>
          </p:cNvGrpSpPr>
          <p:nvPr/>
        </p:nvGrpSpPr>
        <p:grpSpPr bwMode="auto">
          <a:xfrm>
            <a:off x="6705600" y="2590800"/>
            <a:ext cx="1812925" cy="1552575"/>
            <a:chOff x="3504" y="2256"/>
            <a:chExt cx="1097" cy="978"/>
          </a:xfrm>
        </p:grpSpPr>
        <p:sp>
          <p:nvSpPr>
            <p:cNvPr id="19470" name="AutoShape 13">
              <a:extLst>
                <a:ext uri="{FF2B5EF4-FFF2-40B4-BE49-F238E27FC236}">
                  <a16:creationId xmlns:a16="http://schemas.microsoft.com/office/drawing/2014/main" id="{A8EF920C-598C-4DBF-8C52-2DE28B5E492D}"/>
                </a:ext>
              </a:extLst>
            </p:cNvPr>
            <p:cNvSpPr>
              <a:spLocks/>
            </p:cNvSpPr>
            <p:nvPr/>
          </p:nvSpPr>
          <p:spPr bwMode="auto">
            <a:xfrm>
              <a:off x="3504" y="2352"/>
              <a:ext cx="192" cy="624"/>
            </a:xfrm>
            <a:prstGeom prst="rightBrace">
              <a:avLst>
                <a:gd name="adj1" fmla="val 27083"/>
                <a:gd name="adj2" fmla="val 50000"/>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71" name="Text Box 14">
              <a:extLst>
                <a:ext uri="{FF2B5EF4-FFF2-40B4-BE49-F238E27FC236}">
                  <a16:creationId xmlns:a16="http://schemas.microsoft.com/office/drawing/2014/main" id="{5829A9D1-6BDF-4801-BBA0-9F324F6686F1}"/>
                </a:ext>
              </a:extLst>
            </p:cNvPr>
            <p:cNvSpPr txBox="1">
              <a:spLocks noChangeArrowheads="1"/>
            </p:cNvSpPr>
            <p:nvPr/>
          </p:nvSpPr>
          <p:spPr bwMode="auto">
            <a:xfrm>
              <a:off x="3763" y="2256"/>
              <a:ext cx="838" cy="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dirty="0"/>
                <a:t>Let n be </a:t>
              </a:r>
            </a:p>
            <a:p>
              <a:pPr>
                <a:spcBef>
                  <a:spcPct val="0"/>
                </a:spcBef>
                <a:buClrTx/>
                <a:buSzTx/>
                <a:buFontTx/>
                <a:buNone/>
              </a:pPr>
              <a:r>
                <a:rPr lang="en-US" altLang="en-US" sz="2400" dirty="0" err="1"/>
                <a:t>list.size</a:t>
              </a:r>
              <a:r>
                <a:rPr lang="en-US" altLang="en-US" sz="2400" dirty="0"/>
                <a:t>().</a:t>
              </a:r>
            </a:p>
            <a:p>
              <a:pPr>
                <a:spcBef>
                  <a:spcPct val="0"/>
                </a:spcBef>
                <a:buClrTx/>
                <a:buSzTx/>
                <a:buFontTx/>
                <a:buNone/>
              </a:pPr>
              <a:r>
                <a:rPr lang="en-US" altLang="en-US" sz="2400" dirty="0"/>
                <a:t>Executed</a:t>
              </a:r>
            </a:p>
            <a:p>
              <a:pPr>
                <a:spcBef>
                  <a:spcPct val="0"/>
                </a:spcBef>
                <a:buClrTx/>
                <a:buSzTx/>
                <a:buFontTx/>
                <a:buNone/>
              </a:pPr>
              <a:r>
                <a:rPr lang="en-US" altLang="en-US" sz="2400" dirty="0"/>
                <a:t>n times.</a:t>
              </a:r>
            </a:p>
          </p:txBody>
        </p:sp>
      </p:grpSp>
      <p:grpSp>
        <p:nvGrpSpPr>
          <p:cNvPr id="19467" name="Group 22">
            <a:extLst>
              <a:ext uri="{FF2B5EF4-FFF2-40B4-BE49-F238E27FC236}">
                <a16:creationId xmlns:a16="http://schemas.microsoft.com/office/drawing/2014/main" id="{F7015A7E-5995-4A88-9CBE-3125513742EE}"/>
              </a:ext>
            </a:extLst>
          </p:cNvPr>
          <p:cNvGrpSpPr>
            <a:grpSpLocks/>
          </p:cNvGrpSpPr>
          <p:nvPr/>
        </p:nvGrpSpPr>
        <p:grpSpPr bwMode="auto">
          <a:xfrm>
            <a:off x="1373188" y="647700"/>
            <a:ext cx="2208213" cy="723900"/>
            <a:chOff x="865" y="408"/>
            <a:chExt cx="1391" cy="456"/>
          </a:xfrm>
        </p:grpSpPr>
        <p:sp>
          <p:nvSpPr>
            <p:cNvPr id="19468" name="Text Box 20">
              <a:extLst>
                <a:ext uri="{FF2B5EF4-FFF2-40B4-BE49-F238E27FC236}">
                  <a16:creationId xmlns:a16="http://schemas.microsoft.com/office/drawing/2014/main" id="{CCAC5763-1BB6-4F9D-A158-AD2200F4C5BE}"/>
                </a:ext>
              </a:extLst>
            </p:cNvPr>
            <p:cNvSpPr txBox="1">
              <a:spLocks noChangeArrowheads="1"/>
            </p:cNvSpPr>
            <p:nvPr/>
          </p:nvSpPr>
          <p:spPr bwMode="auto">
            <a:xfrm>
              <a:off x="865" y="408"/>
              <a:ext cx="47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dirty="0">
                  <a:solidFill>
                    <a:schemeClr val="bg2"/>
                  </a:solidFill>
                </a:rPr>
                <a:t>O(n)</a:t>
              </a:r>
            </a:p>
          </p:txBody>
        </p:sp>
        <p:sp>
          <p:nvSpPr>
            <p:cNvPr id="19469" name="Line 21">
              <a:extLst>
                <a:ext uri="{FF2B5EF4-FFF2-40B4-BE49-F238E27FC236}">
                  <a16:creationId xmlns:a16="http://schemas.microsoft.com/office/drawing/2014/main" id="{239F2334-BB1E-45C5-8B42-86F979B3B9D6}"/>
                </a:ext>
              </a:extLst>
            </p:cNvPr>
            <p:cNvSpPr>
              <a:spLocks noChangeShapeType="1"/>
            </p:cNvSpPr>
            <p:nvPr/>
          </p:nvSpPr>
          <p:spPr bwMode="auto">
            <a:xfrm>
              <a:off x="1344" y="576"/>
              <a:ext cx="912" cy="288"/>
            </a:xfrm>
            <a:prstGeom prst="line">
              <a:avLst/>
            </a:prstGeom>
            <a:noFill/>
            <a:ln w="12700">
              <a:solidFill>
                <a:schemeClr val="bg2"/>
              </a:solidFill>
              <a:round/>
              <a:headEnd type="none" w="sm" len="sm"/>
              <a:tailEnd type="stealth"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01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015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901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150" grpId="0"/>
      <p:bldP spid="39015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4">
            <a:extLst>
              <a:ext uri="{FF2B5EF4-FFF2-40B4-BE49-F238E27FC236}">
                <a16:creationId xmlns:a16="http://schemas.microsoft.com/office/drawing/2014/main" id="{23AED9A5-E76B-4613-912A-5B319F2929B8}"/>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85442CA-D9E3-4663-B07D-83ADEF1FE11B}" type="slidenum">
              <a:rPr lang="en-US" altLang="en-US" sz="1400" smtClean="0"/>
              <a:pPr>
                <a:spcBef>
                  <a:spcPct val="0"/>
                </a:spcBef>
                <a:buClrTx/>
                <a:buSzTx/>
                <a:buFontTx/>
                <a:buNone/>
              </a:pPr>
              <a:t>20</a:t>
            </a:fld>
            <a:endParaRPr lang="en-US" altLang="en-US" sz="1400"/>
          </a:p>
        </p:txBody>
      </p:sp>
      <p:sp>
        <p:nvSpPr>
          <p:cNvPr id="23555" name="Rectangle 2">
            <a:extLst>
              <a:ext uri="{FF2B5EF4-FFF2-40B4-BE49-F238E27FC236}">
                <a16:creationId xmlns:a16="http://schemas.microsoft.com/office/drawing/2014/main" id="{D8BD2106-5373-4833-86BB-14D881FD1F54}"/>
              </a:ext>
            </a:extLst>
          </p:cNvPr>
          <p:cNvSpPr>
            <a:spLocks noGrp="1" noChangeArrowheads="1"/>
          </p:cNvSpPr>
          <p:nvPr>
            <p:ph type="title"/>
          </p:nvPr>
        </p:nvSpPr>
        <p:spPr>
          <a:xfrm>
            <a:off x="228600" y="228600"/>
            <a:ext cx="8763000" cy="685800"/>
          </a:xfrm>
          <a:noFill/>
        </p:spPr>
        <p:txBody>
          <a:bodyPr/>
          <a:lstStyle/>
          <a:p>
            <a:r>
              <a:rPr lang="en-US" altLang="en-US" sz="4000"/>
              <a:t>Logarithm: Analyzing Binary Search</a:t>
            </a:r>
          </a:p>
        </p:txBody>
      </p:sp>
      <p:sp>
        <p:nvSpPr>
          <p:cNvPr id="23556" name="Rectangle 3">
            <a:extLst>
              <a:ext uri="{FF2B5EF4-FFF2-40B4-BE49-F238E27FC236}">
                <a16:creationId xmlns:a16="http://schemas.microsoft.com/office/drawing/2014/main" id="{8E5C2B2E-FDF7-4CA5-85B2-A8C16B4F41E0}"/>
              </a:ext>
            </a:extLst>
          </p:cNvPr>
          <p:cNvSpPr>
            <a:spLocks noGrp="1" noChangeArrowheads="1"/>
          </p:cNvSpPr>
          <p:nvPr>
            <p:ph type="body" idx="1"/>
          </p:nvPr>
        </p:nvSpPr>
        <p:spPr>
          <a:xfrm>
            <a:off x="228600" y="1363662"/>
            <a:ext cx="8763000" cy="4808538"/>
          </a:xfrm>
          <a:noFill/>
        </p:spPr>
        <p:txBody>
          <a:bodyPr/>
          <a:lstStyle/>
          <a:p>
            <a:pPr marL="0" indent="0">
              <a:lnSpc>
                <a:spcPct val="135000"/>
              </a:lnSpc>
              <a:spcBef>
                <a:spcPct val="0"/>
              </a:spcBef>
              <a:buFont typeface="Monotype Sorts" pitchFamily="2" charset="2"/>
              <a:buNone/>
            </a:pPr>
            <a:r>
              <a:rPr lang="en-US" altLang="en-US" sz="2400" dirty="0"/>
              <a:t>The binary search algorithm presented in Lecture, BinarySearch.java, searches a key in a sorted array. Each iteration in the algorithm contains a fixed number of operations, denoted by </a:t>
            </a:r>
            <a:r>
              <a:rPr lang="en-US" altLang="en-US" sz="2400" i="1" dirty="0"/>
              <a:t>c</a:t>
            </a:r>
            <a:r>
              <a:rPr lang="en-US" altLang="en-US" sz="2400" dirty="0"/>
              <a:t>. Let </a:t>
            </a:r>
            <a:r>
              <a:rPr lang="en-US" altLang="en-US" sz="2400" i="1" dirty="0"/>
              <a:t>T(n)</a:t>
            </a:r>
            <a:r>
              <a:rPr lang="en-US" altLang="en-US" sz="2400" dirty="0"/>
              <a:t> denote the time complexity for a binary search on a list of  </a:t>
            </a:r>
            <a:r>
              <a:rPr lang="en-US" altLang="en-US" sz="2400" i="1" dirty="0"/>
              <a:t>n</a:t>
            </a:r>
            <a:r>
              <a:rPr lang="en-US" altLang="en-US" sz="2400" dirty="0"/>
              <a:t> elements. Without loss of generality, assume </a:t>
            </a:r>
            <a:r>
              <a:rPr lang="en-US" altLang="en-US" sz="2400" i="1" dirty="0"/>
              <a:t>n</a:t>
            </a:r>
            <a:r>
              <a:rPr lang="en-US" altLang="en-US" sz="2400" dirty="0"/>
              <a:t> is a power of 2 and </a:t>
            </a:r>
            <a:r>
              <a:rPr lang="en-US" altLang="en-US" sz="2400" i="1" dirty="0"/>
              <a:t>k=log n</a:t>
            </a:r>
            <a:r>
              <a:rPr lang="en-US" altLang="en-US" sz="2400" dirty="0"/>
              <a:t>. Since binary search eliminates half of the input after two comparisons,</a:t>
            </a:r>
          </a:p>
        </p:txBody>
      </p:sp>
      <p:sp>
        <p:nvSpPr>
          <p:cNvPr id="23557" name="Rectangle 4">
            <a:extLst>
              <a:ext uri="{FF2B5EF4-FFF2-40B4-BE49-F238E27FC236}">
                <a16:creationId xmlns:a16="http://schemas.microsoft.com/office/drawing/2014/main" id="{DB387E23-0ED5-4121-AA03-7DE2FD48AB0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3558" name="Rectangle 5">
            <a:extLst>
              <a:ext uri="{FF2B5EF4-FFF2-40B4-BE49-F238E27FC236}">
                <a16:creationId xmlns:a16="http://schemas.microsoft.com/office/drawing/2014/main" id="{27D99A17-7356-4268-9088-5D0A1B22F607}"/>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3559" name="Rectangle 6">
            <a:extLst>
              <a:ext uri="{FF2B5EF4-FFF2-40B4-BE49-F238E27FC236}">
                <a16:creationId xmlns:a16="http://schemas.microsoft.com/office/drawing/2014/main" id="{77BAA923-4FB5-4E02-B8FB-CC37C94D32D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23560" name="Object 7">
            <a:extLst>
              <a:ext uri="{FF2B5EF4-FFF2-40B4-BE49-F238E27FC236}">
                <a16:creationId xmlns:a16="http://schemas.microsoft.com/office/drawing/2014/main" id="{8C1D739B-ABDD-44E3-99CC-546955130E6F}"/>
              </a:ext>
            </a:extLst>
          </p:cNvPr>
          <p:cNvGraphicFramePr>
            <a:graphicFrameLocks noChangeAspect="1"/>
          </p:cNvGraphicFramePr>
          <p:nvPr/>
        </p:nvGraphicFramePr>
        <p:xfrm>
          <a:off x="1371600" y="4953000"/>
          <a:ext cx="6172200" cy="541338"/>
        </p:xfrm>
        <a:graphic>
          <a:graphicData uri="http://schemas.openxmlformats.org/presentationml/2006/ole">
            <mc:AlternateContent xmlns:mc="http://schemas.openxmlformats.org/markup-compatibility/2006">
              <mc:Choice xmlns:v="urn:schemas-microsoft-com:vml" Requires="v">
                <p:oleObj name="Equation" r:id="rId3" imgW="4533900" imgH="393700" progId="Equation.3">
                  <p:embed/>
                </p:oleObj>
              </mc:Choice>
              <mc:Fallback>
                <p:oleObj name="Equation" r:id="rId3" imgW="4533900" imgH="3937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4953000"/>
                        <a:ext cx="6172200"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561" name="Object 8">
            <a:extLst>
              <a:ext uri="{FF2B5EF4-FFF2-40B4-BE49-F238E27FC236}">
                <a16:creationId xmlns:a16="http://schemas.microsoft.com/office/drawing/2014/main" id="{12EF48FC-DD2B-4055-84AD-F1AF108D5F12}"/>
              </a:ext>
            </a:extLst>
          </p:cNvPr>
          <p:cNvGraphicFramePr>
            <a:graphicFrameLocks noChangeAspect="1"/>
          </p:cNvGraphicFramePr>
          <p:nvPr/>
        </p:nvGraphicFramePr>
        <p:xfrm>
          <a:off x="1752600" y="5715000"/>
          <a:ext cx="915988" cy="279400"/>
        </p:xfrm>
        <a:graphic>
          <a:graphicData uri="http://schemas.openxmlformats.org/presentationml/2006/ole">
            <mc:AlternateContent xmlns:mc="http://schemas.openxmlformats.org/markup-compatibility/2006">
              <mc:Choice xmlns:v="urn:schemas-microsoft-com:vml" Requires="v">
                <p:oleObj name="Equation" r:id="rId5" imgW="672808" imgH="203112" progId="Equation.3">
                  <p:embed/>
                </p:oleObj>
              </mc:Choice>
              <mc:Fallback>
                <p:oleObj name="Equation" r:id="rId5" imgW="672808" imgH="203112"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2600" y="5715000"/>
                        <a:ext cx="9159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62" name="Rectangle 13">
            <a:extLst>
              <a:ext uri="{FF2B5EF4-FFF2-40B4-BE49-F238E27FC236}">
                <a16:creationId xmlns:a16="http://schemas.microsoft.com/office/drawing/2014/main" id="{8E024FDC-B8F1-4057-B4B2-129475C0CA7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23563" name="Object 12">
            <a:extLst>
              <a:ext uri="{FF2B5EF4-FFF2-40B4-BE49-F238E27FC236}">
                <a16:creationId xmlns:a16="http://schemas.microsoft.com/office/drawing/2014/main" id="{92C2C51C-E1DF-4CB0-8815-BC8A92321939}"/>
              </a:ext>
            </a:extLst>
          </p:cNvPr>
          <p:cNvGraphicFramePr>
            <a:graphicFrameLocks noChangeAspect="1"/>
          </p:cNvGraphicFramePr>
          <p:nvPr/>
        </p:nvGraphicFramePr>
        <p:xfrm>
          <a:off x="533400" y="914400"/>
          <a:ext cx="914400" cy="288925"/>
        </p:xfrm>
        <a:graphic>
          <a:graphicData uri="http://schemas.openxmlformats.org/presentationml/2006/ole">
            <mc:AlternateContent xmlns:mc="http://schemas.openxmlformats.org/markup-compatibility/2006">
              <mc:Choice xmlns:v="urn:schemas-microsoft-com:vml" Requires="v">
                <p:oleObj name="Equation" r:id="rId7" imgW="809393" imgH="392433" progId="Equation.3">
                  <p:embed/>
                </p:oleObj>
              </mc:Choice>
              <mc:Fallback>
                <p:oleObj name="Equation" r:id="rId7" imgW="809393" imgH="392433"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400" y="914400"/>
                        <a:ext cx="9144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2FD4C-733B-4DE6-8BB4-850ABBE7CD7B}"/>
              </a:ext>
            </a:extLst>
          </p:cNvPr>
          <p:cNvSpPr>
            <a:spLocks noGrp="1"/>
          </p:cNvSpPr>
          <p:nvPr>
            <p:ph type="title"/>
          </p:nvPr>
        </p:nvSpPr>
        <p:spPr/>
        <p:txBody>
          <a:bodyPr/>
          <a:lstStyle/>
          <a:p>
            <a:pPr algn="l"/>
            <a:r>
              <a:rPr lang="en-US" dirty="0"/>
              <a:t>Check Point</a:t>
            </a:r>
          </a:p>
        </p:txBody>
      </p:sp>
      <p:sp>
        <p:nvSpPr>
          <p:cNvPr id="3" name="Content Placeholder 2">
            <a:extLst>
              <a:ext uri="{FF2B5EF4-FFF2-40B4-BE49-F238E27FC236}">
                <a16:creationId xmlns:a16="http://schemas.microsoft.com/office/drawing/2014/main" id="{406A0478-CACD-4B46-BF1B-B43B1232059B}"/>
              </a:ext>
            </a:extLst>
          </p:cNvPr>
          <p:cNvSpPr>
            <a:spLocks noGrp="1"/>
          </p:cNvSpPr>
          <p:nvPr>
            <p:ph idx="1"/>
          </p:nvPr>
        </p:nvSpPr>
        <p:spPr/>
        <p:txBody>
          <a:bodyPr/>
          <a:lstStyle/>
          <a:p>
            <a:r>
              <a:rPr lang="en-US" dirty="0"/>
              <a:t>Count the number of iterations in the following loops:</a:t>
            </a:r>
          </a:p>
          <a:p>
            <a:pPr marL="971550" lvl="1" indent="-514350">
              <a:buAutoNum type="alphaLcParenR"/>
            </a:pPr>
            <a:r>
              <a:rPr lang="en-US" dirty="0"/>
              <a:t>int </a:t>
            </a:r>
            <a:r>
              <a:rPr lang="en-US" dirty="0" err="1"/>
              <a:t>cnt</a:t>
            </a:r>
            <a:r>
              <a:rPr lang="en-US" dirty="0"/>
              <a:t> = 1;		  b) int </a:t>
            </a:r>
            <a:r>
              <a:rPr lang="en-US" dirty="0" err="1"/>
              <a:t>cnt</a:t>
            </a:r>
            <a:r>
              <a:rPr lang="en-US" dirty="0"/>
              <a:t> = 15;</a:t>
            </a:r>
          </a:p>
          <a:p>
            <a:pPr marL="457200" lvl="1" indent="0">
              <a:buNone/>
            </a:pPr>
            <a:r>
              <a:rPr lang="en-US" dirty="0"/>
              <a:t>	while ( </a:t>
            </a:r>
            <a:r>
              <a:rPr lang="en-US" dirty="0" err="1"/>
              <a:t>cnt</a:t>
            </a:r>
            <a:r>
              <a:rPr lang="en-US" dirty="0"/>
              <a:t> &lt; 30 )	        while ( </a:t>
            </a:r>
            <a:r>
              <a:rPr lang="en-US" dirty="0" err="1"/>
              <a:t>cnt</a:t>
            </a:r>
            <a:r>
              <a:rPr lang="en-US" dirty="0"/>
              <a:t> &lt; 30 )</a:t>
            </a:r>
          </a:p>
          <a:p>
            <a:pPr marL="457200" lvl="1" indent="0">
              <a:buNone/>
            </a:pPr>
            <a:r>
              <a:rPr lang="en-US" dirty="0"/>
              <a:t>        </a:t>
            </a:r>
            <a:r>
              <a:rPr lang="en-US" dirty="0" err="1"/>
              <a:t>cnt</a:t>
            </a:r>
            <a:r>
              <a:rPr lang="en-US" dirty="0"/>
              <a:t> = </a:t>
            </a:r>
            <a:r>
              <a:rPr lang="en-US" dirty="0" err="1"/>
              <a:t>cnt</a:t>
            </a:r>
            <a:r>
              <a:rPr lang="en-US" dirty="0"/>
              <a:t> * 2;		</a:t>
            </a:r>
            <a:r>
              <a:rPr lang="en-US" dirty="0" err="1"/>
              <a:t>cnt</a:t>
            </a:r>
            <a:r>
              <a:rPr lang="en-US" dirty="0"/>
              <a:t> = </a:t>
            </a:r>
            <a:r>
              <a:rPr lang="en-US" dirty="0" err="1"/>
              <a:t>cnt</a:t>
            </a:r>
            <a:r>
              <a:rPr lang="en-US" dirty="0"/>
              <a:t> * 3;</a:t>
            </a:r>
          </a:p>
          <a:p>
            <a:pPr marL="457200" lvl="1" indent="0">
              <a:buNone/>
            </a:pPr>
            <a:r>
              <a:rPr lang="en-US" dirty="0"/>
              <a:t>c) int </a:t>
            </a:r>
            <a:r>
              <a:rPr lang="en-US" dirty="0" err="1"/>
              <a:t>cnt</a:t>
            </a:r>
            <a:r>
              <a:rPr lang="en-US" dirty="0"/>
              <a:t> = 1;		  b) int </a:t>
            </a:r>
            <a:r>
              <a:rPr lang="en-US" dirty="0" err="1"/>
              <a:t>cnt</a:t>
            </a:r>
            <a:r>
              <a:rPr lang="en-US" dirty="0"/>
              <a:t> = 15;</a:t>
            </a:r>
          </a:p>
          <a:p>
            <a:pPr marL="457200" lvl="1" indent="0">
              <a:buNone/>
            </a:pPr>
            <a:r>
              <a:rPr lang="en-US" dirty="0"/>
              <a:t>	while ( </a:t>
            </a:r>
            <a:r>
              <a:rPr lang="en-US" dirty="0" err="1"/>
              <a:t>cnt</a:t>
            </a:r>
            <a:r>
              <a:rPr lang="en-US" dirty="0"/>
              <a:t> &lt; n )	        while ( </a:t>
            </a:r>
            <a:r>
              <a:rPr lang="en-US" dirty="0" err="1"/>
              <a:t>cnt</a:t>
            </a:r>
            <a:r>
              <a:rPr lang="en-US" dirty="0"/>
              <a:t> &lt; n )</a:t>
            </a:r>
          </a:p>
          <a:p>
            <a:pPr marL="457200" lvl="1" indent="0">
              <a:buNone/>
            </a:pPr>
            <a:r>
              <a:rPr lang="en-US" dirty="0"/>
              <a:t>        </a:t>
            </a:r>
            <a:r>
              <a:rPr lang="en-US" dirty="0" err="1"/>
              <a:t>cnt</a:t>
            </a:r>
            <a:r>
              <a:rPr lang="en-US" dirty="0"/>
              <a:t> = </a:t>
            </a:r>
            <a:r>
              <a:rPr lang="en-US" dirty="0" err="1"/>
              <a:t>cnt</a:t>
            </a:r>
            <a:r>
              <a:rPr lang="en-US" dirty="0"/>
              <a:t> * 2;		</a:t>
            </a:r>
            <a:r>
              <a:rPr lang="en-US" dirty="0" err="1"/>
              <a:t>cnt</a:t>
            </a:r>
            <a:r>
              <a:rPr lang="en-US" dirty="0"/>
              <a:t> = </a:t>
            </a:r>
            <a:r>
              <a:rPr lang="en-US" dirty="0" err="1"/>
              <a:t>cnt</a:t>
            </a:r>
            <a:r>
              <a:rPr lang="en-US" dirty="0"/>
              <a:t> * 3;</a:t>
            </a:r>
          </a:p>
          <a:p>
            <a:pPr marL="457200" lvl="1" indent="0">
              <a:buNone/>
            </a:pPr>
            <a:endParaRPr lang="en-US" dirty="0"/>
          </a:p>
          <a:p>
            <a:pPr marL="457200" lvl="1" indent="0">
              <a:buNone/>
            </a:pPr>
            <a:endParaRPr lang="en-US" dirty="0"/>
          </a:p>
          <a:p>
            <a:pPr marL="457200" lvl="1" indent="0">
              <a:buNone/>
            </a:pPr>
            <a:r>
              <a:rPr lang="en-US" dirty="0"/>
              <a:t>	</a:t>
            </a:r>
          </a:p>
        </p:txBody>
      </p:sp>
      <p:sp>
        <p:nvSpPr>
          <p:cNvPr id="4" name="Slide Number Placeholder 3">
            <a:extLst>
              <a:ext uri="{FF2B5EF4-FFF2-40B4-BE49-F238E27FC236}">
                <a16:creationId xmlns:a16="http://schemas.microsoft.com/office/drawing/2014/main" id="{427197CD-363C-44B9-B046-1984A6125C4C}"/>
              </a:ext>
            </a:extLst>
          </p:cNvPr>
          <p:cNvSpPr>
            <a:spLocks noGrp="1"/>
          </p:cNvSpPr>
          <p:nvPr>
            <p:ph type="sldNum" sz="quarter" idx="11"/>
          </p:nvPr>
        </p:nvSpPr>
        <p:spPr/>
        <p:txBody>
          <a:bodyPr/>
          <a:lstStyle/>
          <a:p>
            <a:pPr>
              <a:defRPr/>
            </a:pPr>
            <a:fld id="{0906D619-5E3B-4A71-B141-FF8AEF8EAC81}" type="slidenum">
              <a:rPr lang="en-US" altLang="en-US" smtClean="0"/>
              <a:pPr>
                <a:defRPr/>
              </a:pPr>
              <a:t>21</a:t>
            </a:fld>
            <a:endParaRPr lang="en-US" altLang="en-US"/>
          </a:p>
        </p:txBody>
      </p:sp>
    </p:spTree>
    <p:extLst>
      <p:ext uri="{BB962C8B-B14F-4D97-AF65-F5344CB8AC3E}">
        <p14:creationId xmlns:p14="http://schemas.microsoft.com/office/powerpoint/2010/main" val="22414007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2FD4C-733B-4DE6-8BB4-850ABBE7CD7B}"/>
              </a:ext>
            </a:extLst>
          </p:cNvPr>
          <p:cNvSpPr>
            <a:spLocks noGrp="1"/>
          </p:cNvSpPr>
          <p:nvPr>
            <p:ph type="title"/>
          </p:nvPr>
        </p:nvSpPr>
        <p:spPr/>
        <p:txBody>
          <a:bodyPr/>
          <a:lstStyle/>
          <a:p>
            <a:pPr algn="l"/>
            <a:r>
              <a:rPr lang="en-US" dirty="0"/>
              <a:t>Check Point</a:t>
            </a:r>
          </a:p>
        </p:txBody>
      </p:sp>
      <p:sp>
        <p:nvSpPr>
          <p:cNvPr id="3" name="Content Placeholder 2">
            <a:extLst>
              <a:ext uri="{FF2B5EF4-FFF2-40B4-BE49-F238E27FC236}">
                <a16:creationId xmlns:a16="http://schemas.microsoft.com/office/drawing/2014/main" id="{406A0478-CACD-4B46-BF1B-B43B1232059B}"/>
              </a:ext>
            </a:extLst>
          </p:cNvPr>
          <p:cNvSpPr>
            <a:spLocks noGrp="1"/>
          </p:cNvSpPr>
          <p:nvPr>
            <p:ph idx="1"/>
          </p:nvPr>
        </p:nvSpPr>
        <p:spPr>
          <a:xfrm>
            <a:off x="685800" y="1657350"/>
            <a:ext cx="7772400" cy="4667250"/>
          </a:xfrm>
        </p:spPr>
        <p:txBody>
          <a:bodyPr>
            <a:normAutofit fontScale="70000" lnSpcReduction="20000"/>
          </a:bodyPr>
          <a:lstStyle/>
          <a:p>
            <a:pPr lvl="1"/>
            <a:r>
              <a:rPr lang="en-US" dirty="0"/>
              <a:t>Use the Big O notation to estimate the time complexity of the following methods:</a:t>
            </a:r>
          </a:p>
          <a:p>
            <a:pPr lvl="2"/>
            <a:r>
              <a:rPr lang="en-US" dirty="0"/>
              <a:t>public static void m(int n)</a:t>
            </a:r>
          </a:p>
          <a:p>
            <a:pPr marL="914400" lvl="2" indent="0">
              <a:buNone/>
            </a:pPr>
            <a:r>
              <a:rPr lang="en-US" dirty="0"/>
              <a:t>   {</a:t>
            </a:r>
          </a:p>
          <a:p>
            <a:pPr marL="914400" lvl="2" indent="0">
              <a:buNone/>
            </a:pPr>
            <a:r>
              <a:rPr lang="en-US" dirty="0"/>
              <a:t>	for( int </a:t>
            </a:r>
            <a:r>
              <a:rPr lang="en-US" dirty="0" err="1"/>
              <a:t>i</a:t>
            </a:r>
            <a:r>
              <a:rPr lang="en-US" dirty="0"/>
              <a:t>=0; </a:t>
            </a:r>
            <a:r>
              <a:rPr lang="en-US" dirty="0" err="1"/>
              <a:t>i</a:t>
            </a:r>
            <a:r>
              <a:rPr lang="en-US" dirty="0"/>
              <a:t>&lt;n; ++</a:t>
            </a:r>
            <a:r>
              <a:rPr lang="en-US" dirty="0" err="1"/>
              <a:t>i</a:t>
            </a:r>
            <a:r>
              <a:rPr lang="en-US" dirty="0"/>
              <a:t>){</a:t>
            </a:r>
          </a:p>
          <a:p>
            <a:pPr marL="914400" lvl="2" indent="0">
              <a:buNone/>
            </a:pPr>
            <a:r>
              <a:rPr lang="en-US" dirty="0"/>
              <a:t>	   </a:t>
            </a:r>
            <a:r>
              <a:rPr lang="en-US" dirty="0" err="1"/>
              <a:t>System.out.println</a:t>
            </a:r>
            <a:r>
              <a:rPr lang="en-US" dirty="0"/>
              <a:t>(</a:t>
            </a:r>
            <a:r>
              <a:rPr lang="en-US" dirty="0" err="1"/>
              <a:t>Math.random</a:t>
            </a:r>
            <a:r>
              <a:rPr lang="en-US" dirty="0"/>
              <a:t>());</a:t>
            </a:r>
          </a:p>
          <a:p>
            <a:pPr marL="914400" lvl="2" indent="0">
              <a:buNone/>
            </a:pPr>
            <a:r>
              <a:rPr lang="en-US" dirty="0"/>
              <a:t>	}</a:t>
            </a:r>
          </a:p>
          <a:p>
            <a:pPr marL="914400" lvl="2" indent="0">
              <a:buNone/>
            </a:pPr>
            <a:r>
              <a:rPr lang="en-US" dirty="0"/>
              <a:t>    }</a:t>
            </a:r>
          </a:p>
          <a:p>
            <a:pPr lvl="2"/>
            <a:r>
              <a:rPr lang="en-US" dirty="0"/>
              <a:t>public static void m(int n)</a:t>
            </a:r>
          </a:p>
          <a:p>
            <a:pPr marL="914400" lvl="2" indent="0">
              <a:buNone/>
            </a:pPr>
            <a:r>
              <a:rPr lang="en-US" dirty="0"/>
              <a:t>   {</a:t>
            </a:r>
          </a:p>
          <a:p>
            <a:pPr marL="914400" lvl="2" indent="0">
              <a:buNone/>
            </a:pPr>
            <a:r>
              <a:rPr lang="en-US" dirty="0"/>
              <a:t>	for( int </a:t>
            </a:r>
            <a:r>
              <a:rPr lang="en-US" dirty="0" err="1"/>
              <a:t>i</a:t>
            </a:r>
            <a:r>
              <a:rPr lang="en-US" dirty="0"/>
              <a:t>=0; </a:t>
            </a:r>
            <a:r>
              <a:rPr lang="en-US" dirty="0" err="1"/>
              <a:t>i</a:t>
            </a:r>
            <a:r>
              <a:rPr lang="en-US" dirty="0"/>
              <a:t>&lt;n; ++</a:t>
            </a:r>
            <a:r>
              <a:rPr lang="en-US" dirty="0" err="1"/>
              <a:t>i</a:t>
            </a:r>
            <a:r>
              <a:rPr lang="en-US" dirty="0"/>
              <a:t>){</a:t>
            </a:r>
          </a:p>
          <a:p>
            <a:pPr marL="914400" lvl="2" indent="0">
              <a:buNone/>
            </a:pPr>
            <a:r>
              <a:rPr lang="en-US" dirty="0"/>
              <a:t>                       for(int j=0; j&lt;</a:t>
            </a:r>
            <a:r>
              <a:rPr lang="en-US" dirty="0" err="1"/>
              <a:t>i</a:t>
            </a:r>
            <a:r>
              <a:rPr lang="en-US" dirty="0"/>
              <a:t>; ++j)</a:t>
            </a:r>
          </a:p>
          <a:p>
            <a:pPr marL="914400" lvl="2" indent="0">
              <a:buNone/>
            </a:pPr>
            <a:r>
              <a:rPr lang="en-US" dirty="0"/>
              <a:t>	     </a:t>
            </a:r>
            <a:r>
              <a:rPr lang="en-US" dirty="0" err="1"/>
              <a:t>System.out.println</a:t>
            </a:r>
            <a:r>
              <a:rPr lang="en-US" dirty="0"/>
              <a:t>(</a:t>
            </a:r>
            <a:r>
              <a:rPr lang="en-US" dirty="0" err="1"/>
              <a:t>Math.random</a:t>
            </a:r>
            <a:r>
              <a:rPr lang="en-US" dirty="0"/>
              <a:t>());</a:t>
            </a:r>
          </a:p>
          <a:p>
            <a:pPr marL="914400" lvl="2" indent="0">
              <a:buNone/>
            </a:pPr>
            <a:r>
              <a:rPr lang="en-US" dirty="0"/>
              <a:t>                    }</a:t>
            </a:r>
          </a:p>
          <a:p>
            <a:pPr marL="914400" lvl="2" indent="0">
              <a:buNone/>
            </a:pPr>
            <a:r>
              <a:rPr lang="en-US" dirty="0"/>
              <a:t>    }</a:t>
            </a:r>
          </a:p>
          <a:p>
            <a:pPr lvl="2"/>
            <a:endParaRPr lang="en-US" dirty="0"/>
          </a:p>
          <a:p>
            <a:pPr marL="457200" lvl="1" indent="0">
              <a:buNone/>
            </a:pPr>
            <a:r>
              <a:rPr lang="en-US" dirty="0"/>
              <a:t>	</a:t>
            </a:r>
          </a:p>
        </p:txBody>
      </p:sp>
      <p:sp>
        <p:nvSpPr>
          <p:cNvPr id="4" name="Slide Number Placeholder 3">
            <a:extLst>
              <a:ext uri="{FF2B5EF4-FFF2-40B4-BE49-F238E27FC236}">
                <a16:creationId xmlns:a16="http://schemas.microsoft.com/office/drawing/2014/main" id="{427197CD-363C-44B9-B046-1984A6125C4C}"/>
              </a:ext>
            </a:extLst>
          </p:cNvPr>
          <p:cNvSpPr>
            <a:spLocks noGrp="1"/>
          </p:cNvSpPr>
          <p:nvPr>
            <p:ph type="sldNum" sz="quarter" idx="11"/>
          </p:nvPr>
        </p:nvSpPr>
        <p:spPr/>
        <p:txBody>
          <a:bodyPr/>
          <a:lstStyle/>
          <a:p>
            <a:pPr>
              <a:defRPr/>
            </a:pPr>
            <a:fld id="{0906D619-5E3B-4A71-B141-FF8AEF8EAC81}" type="slidenum">
              <a:rPr lang="en-US" altLang="en-US" smtClean="0"/>
              <a:pPr>
                <a:defRPr/>
              </a:pPr>
              <a:t>22</a:t>
            </a:fld>
            <a:endParaRPr lang="en-US" altLang="en-US"/>
          </a:p>
        </p:txBody>
      </p:sp>
    </p:spTree>
    <p:extLst>
      <p:ext uri="{BB962C8B-B14F-4D97-AF65-F5344CB8AC3E}">
        <p14:creationId xmlns:p14="http://schemas.microsoft.com/office/powerpoint/2010/main" val="20235072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D929D-8BFD-4FD4-955E-B6DC50B38C34}"/>
              </a:ext>
            </a:extLst>
          </p:cNvPr>
          <p:cNvSpPr>
            <a:spLocks noGrp="1"/>
          </p:cNvSpPr>
          <p:nvPr>
            <p:ph type="title"/>
          </p:nvPr>
        </p:nvSpPr>
        <p:spPr/>
        <p:txBody>
          <a:bodyPr/>
          <a:lstStyle/>
          <a:p>
            <a:r>
              <a:rPr lang="en-US" dirty="0"/>
              <a:t>Check Point</a:t>
            </a:r>
          </a:p>
        </p:txBody>
      </p:sp>
      <p:sp>
        <p:nvSpPr>
          <p:cNvPr id="4" name="Slide Number Placeholder 3">
            <a:extLst>
              <a:ext uri="{FF2B5EF4-FFF2-40B4-BE49-F238E27FC236}">
                <a16:creationId xmlns:a16="http://schemas.microsoft.com/office/drawing/2014/main" id="{CA821653-2F9A-400F-83CE-0E0A7CBCFDD9}"/>
              </a:ext>
            </a:extLst>
          </p:cNvPr>
          <p:cNvSpPr>
            <a:spLocks noGrp="1"/>
          </p:cNvSpPr>
          <p:nvPr>
            <p:ph type="sldNum" sz="quarter" idx="11"/>
          </p:nvPr>
        </p:nvSpPr>
        <p:spPr/>
        <p:txBody>
          <a:bodyPr/>
          <a:lstStyle/>
          <a:p>
            <a:pPr>
              <a:defRPr/>
            </a:pPr>
            <a:fld id="{0906D619-5E3B-4A71-B141-FF8AEF8EAC81}" type="slidenum">
              <a:rPr lang="en-US" altLang="en-US" smtClean="0"/>
              <a:pPr>
                <a:defRPr/>
              </a:pPr>
              <a:t>23</a:t>
            </a:fld>
            <a:endParaRPr lang="en-US" altLang="en-US"/>
          </a:p>
        </p:txBody>
      </p:sp>
      <p:sp>
        <p:nvSpPr>
          <p:cNvPr id="5" name="Rectangle 1">
            <a:extLst>
              <a:ext uri="{FF2B5EF4-FFF2-40B4-BE49-F238E27FC236}">
                <a16:creationId xmlns:a16="http://schemas.microsoft.com/office/drawing/2014/main" id="{FCF15F77-678A-4C1D-81BD-7B2F5DEF2BFB}"/>
              </a:ext>
            </a:extLst>
          </p:cNvPr>
          <p:cNvSpPr>
            <a:spLocks noGrp="1" noChangeArrowheads="1"/>
          </p:cNvSpPr>
          <p:nvPr>
            <p:ph idx="1"/>
          </p:nvPr>
        </p:nvSpPr>
        <p:spPr bwMode="auto">
          <a:xfrm>
            <a:off x="685800" y="1529136"/>
            <a:ext cx="7010400" cy="440120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urier New" panose="02070309020205020404" pitchFamily="49" charset="0"/>
              </a:rPr>
              <a:t>(c) </a:t>
            </a:r>
            <a:r>
              <a:rPr kumimoji="0" lang="en-US" altLang="en-US" sz="2000" b="1" i="0" u="none" strike="noStrike" cap="none" normalizeH="0" baseline="0" dirty="0">
                <a:ln>
                  <a:noFill/>
                </a:ln>
                <a:solidFill>
                  <a:srgbClr val="000FD6"/>
                </a:solidFill>
                <a:effectLst/>
                <a:latin typeface="Courier New" panose="02070309020205020404" pitchFamily="49" charset="0"/>
              </a:rPr>
              <a:t>public</a:t>
            </a:r>
            <a:r>
              <a:rPr kumimoji="0" lang="en-US" altLang="en-US" sz="2000" b="0" i="0" u="none" strike="noStrike" cap="none" normalizeH="0" baseline="0" dirty="0">
                <a:ln>
                  <a:noFill/>
                </a:ln>
                <a:solidFill>
                  <a:srgbClr val="000000"/>
                </a:solidFill>
                <a:effectLst/>
                <a:latin typeface="Courier New" panose="02070309020205020404" pitchFamily="49" charset="0"/>
              </a:rPr>
              <a:t> </a:t>
            </a:r>
            <a:r>
              <a:rPr kumimoji="0" lang="en-US" altLang="en-US" sz="2000" b="1" i="0" u="none" strike="noStrike" cap="none" normalizeH="0" baseline="0" dirty="0">
                <a:ln>
                  <a:noFill/>
                </a:ln>
                <a:solidFill>
                  <a:srgbClr val="000FD6"/>
                </a:solidFill>
                <a:effectLst/>
                <a:latin typeface="Courier New" panose="02070309020205020404" pitchFamily="49" charset="0"/>
              </a:rPr>
              <a:t>static</a:t>
            </a:r>
            <a:r>
              <a:rPr kumimoji="0" lang="en-US" altLang="en-US" sz="2000" b="0" i="0" u="none" strike="noStrike" cap="none" normalizeH="0" baseline="0" dirty="0">
                <a:ln>
                  <a:noFill/>
                </a:ln>
                <a:solidFill>
                  <a:srgbClr val="000000"/>
                </a:solidFill>
                <a:effectLst/>
                <a:latin typeface="Courier New" panose="02070309020205020404" pitchFamily="49" charset="0"/>
              </a:rPr>
              <a:t> </a:t>
            </a:r>
            <a:r>
              <a:rPr kumimoji="0" lang="en-US" altLang="en-US" sz="2000" b="1" i="0" u="none" strike="noStrike" cap="none" normalizeH="0" baseline="0" dirty="0">
                <a:ln>
                  <a:noFill/>
                </a:ln>
                <a:solidFill>
                  <a:srgbClr val="000FD6"/>
                </a:solidFill>
                <a:effectLst/>
                <a:latin typeface="Courier New" panose="02070309020205020404" pitchFamily="49" charset="0"/>
              </a:rPr>
              <a:t>void</a:t>
            </a:r>
            <a:r>
              <a:rPr kumimoji="0" lang="en-US" altLang="en-US" sz="2000" b="0" i="0" u="none" strike="noStrike" cap="none" normalizeH="0" baseline="0" dirty="0">
                <a:ln>
                  <a:noFill/>
                </a:ln>
                <a:solidFill>
                  <a:srgbClr val="000000"/>
                </a:solidFill>
                <a:effectLst/>
                <a:latin typeface="Courier New" panose="02070309020205020404" pitchFamily="49" charset="0"/>
              </a:rPr>
              <a:t> </a:t>
            </a:r>
            <a:r>
              <a:rPr kumimoji="0" lang="en-US" altLang="en-US" sz="2000" b="0" i="0" u="none" strike="noStrike" cap="none" normalizeH="0" baseline="0" dirty="0" err="1">
                <a:ln>
                  <a:noFill/>
                </a:ln>
                <a:solidFill>
                  <a:srgbClr val="000000"/>
                </a:solidFill>
                <a:effectLst/>
                <a:latin typeface="Courier New" panose="02070309020205020404" pitchFamily="49" charset="0"/>
              </a:rPr>
              <a:t>mC</a:t>
            </a:r>
            <a:r>
              <a:rPr kumimoji="0" lang="en-US" altLang="en-US" sz="2000" b="0" i="0" u="none" strike="noStrike" cap="none" normalizeH="0" baseline="0" dirty="0">
                <a:ln>
                  <a:noFill/>
                </a:ln>
                <a:solidFill>
                  <a:srgbClr val="000000"/>
                </a:solidFill>
                <a:effectLst/>
                <a:latin typeface="Courier New" panose="02070309020205020404" pitchFamily="49" charset="0"/>
              </a:rPr>
              <a:t>(</a:t>
            </a:r>
            <a:r>
              <a:rPr kumimoji="0" lang="en-US" altLang="en-US" sz="2000" b="1" i="0" u="none" strike="noStrike" cap="none" normalizeH="0" baseline="0" dirty="0">
                <a:ln>
                  <a:noFill/>
                </a:ln>
                <a:solidFill>
                  <a:srgbClr val="000FD6"/>
                </a:solidFill>
                <a:effectLst/>
                <a:latin typeface="Courier New" panose="02070309020205020404" pitchFamily="49" charset="0"/>
              </a:rPr>
              <a:t>int</a:t>
            </a:r>
            <a:r>
              <a:rPr kumimoji="0" lang="en-US" altLang="en-US" sz="2000" b="0" i="0" u="none" strike="noStrike" cap="none" normalizeH="0" baseline="0" dirty="0">
                <a:ln>
                  <a:noFill/>
                </a:ln>
                <a:solidFill>
                  <a:srgbClr val="000000"/>
                </a:solidFill>
                <a:effectLst/>
                <a:latin typeface="Courier New" panose="02070309020205020404" pitchFamily="49" charset="0"/>
              </a:rPr>
              <a:t>[] m)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urier New" panose="02070309020205020404" pitchFamily="49" charset="0"/>
              </a:rPr>
              <a:t>     </a:t>
            </a:r>
            <a:r>
              <a:rPr kumimoji="0" lang="en-US" altLang="en-US" sz="2000" b="1" i="0" u="none" strike="noStrike" cap="none" normalizeH="0" baseline="0" dirty="0">
                <a:ln>
                  <a:noFill/>
                </a:ln>
                <a:solidFill>
                  <a:srgbClr val="000FD6"/>
                </a:solidFill>
                <a:effectLst/>
                <a:latin typeface="Courier New" panose="02070309020205020404" pitchFamily="49" charset="0"/>
              </a:rPr>
              <a:t>for</a:t>
            </a:r>
            <a:r>
              <a:rPr kumimoji="0" lang="en-US" altLang="en-US" sz="2000" b="0" i="0" u="none" strike="noStrike" cap="none" normalizeH="0" baseline="0" dirty="0">
                <a:ln>
                  <a:noFill/>
                </a:ln>
                <a:solidFill>
                  <a:srgbClr val="000000"/>
                </a:solidFill>
                <a:effectLst/>
                <a:latin typeface="Courier New" panose="02070309020205020404" pitchFamily="49" charset="0"/>
              </a:rPr>
              <a:t> (</a:t>
            </a:r>
            <a:r>
              <a:rPr kumimoji="0" lang="en-US" altLang="en-US" sz="2000" b="1" i="0" u="none" strike="noStrike" cap="none" normalizeH="0" baseline="0" dirty="0">
                <a:ln>
                  <a:noFill/>
                </a:ln>
                <a:solidFill>
                  <a:srgbClr val="000FD6"/>
                </a:solidFill>
                <a:effectLst/>
                <a:latin typeface="Courier New" panose="02070309020205020404" pitchFamily="49" charset="0"/>
              </a:rPr>
              <a:t>int</a:t>
            </a:r>
            <a:r>
              <a:rPr kumimoji="0" lang="en-US" altLang="en-US" sz="2000" b="0" i="0" u="none" strike="noStrike" cap="none" normalizeH="0" baseline="0" dirty="0">
                <a:ln>
                  <a:noFill/>
                </a:ln>
                <a:solidFill>
                  <a:srgbClr val="000000"/>
                </a:solidFill>
                <a:effectLst/>
                <a:latin typeface="Courier New" panose="02070309020205020404" pitchFamily="49" charset="0"/>
              </a:rPr>
              <a:t> </a:t>
            </a:r>
            <a:r>
              <a:rPr kumimoji="0" lang="en-US" altLang="en-US" sz="2000" b="0" i="0" u="none" strike="noStrike" cap="none" normalizeH="0" baseline="0" dirty="0" err="1">
                <a:ln>
                  <a:noFill/>
                </a:ln>
                <a:solidFill>
                  <a:srgbClr val="000000"/>
                </a:solidFill>
                <a:effectLst/>
                <a:latin typeface="Courier New" panose="02070309020205020404" pitchFamily="49" charset="0"/>
              </a:rPr>
              <a:t>i</a:t>
            </a:r>
            <a:r>
              <a:rPr kumimoji="0" lang="en-US" altLang="en-US" sz="2000" b="0" i="0" u="none" strike="noStrike" cap="none" normalizeH="0" baseline="0" dirty="0">
                <a:ln>
                  <a:noFill/>
                </a:ln>
                <a:solidFill>
                  <a:srgbClr val="000000"/>
                </a:solidFill>
                <a:effectLst/>
                <a:latin typeface="Courier New" panose="02070309020205020404" pitchFamily="49" charset="0"/>
              </a:rPr>
              <a:t> = </a:t>
            </a:r>
            <a:r>
              <a:rPr kumimoji="0" lang="en-US" altLang="en-US" sz="2000" b="0" i="0" u="none" strike="noStrike" cap="none" normalizeH="0" baseline="0" dirty="0">
                <a:ln>
                  <a:noFill/>
                </a:ln>
                <a:solidFill>
                  <a:srgbClr val="007D9F"/>
                </a:solidFill>
                <a:effectLst/>
                <a:latin typeface="Courier New" panose="02070309020205020404" pitchFamily="49" charset="0"/>
              </a:rPr>
              <a:t>0</a:t>
            </a:r>
            <a:r>
              <a:rPr kumimoji="0" lang="en-US" altLang="en-US" sz="2000" b="0" i="0" u="none" strike="noStrike" cap="none" normalizeH="0" baseline="0" dirty="0">
                <a:ln>
                  <a:noFill/>
                </a:ln>
                <a:solidFill>
                  <a:srgbClr val="000000"/>
                </a:solidFill>
                <a:effectLst/>
                <a:latin typeface="Courier New" panose="02070309020205020404" pitchFamily="49" charset="0"/>
              </a:rPr>
              <a:t>; </a:t>
            </a:r>
            <a:r>
              <a:rPr kumimoji="0" lang="en-US" altLang="en-US" sz="2000" b="0" i="0" u="none" strike="noStrike" cap="none" normalizeH="0" baseline="0" dirty="0" err="1">
                <a:ln>
                  <a:noFill/>
                </a:ln>
                <a:solidFill>
                  <a:srgbClr val="000000"/>
                </a:solidFill>
                <a:effectLst/>
                <a:latin typeface="Courier New" panose="02070309020205020404" pitchFamily="49" charset="0"/>
              </a:rPr>
              <a:t>i</a:t>
            </a:r>
            <a:r>
              <a:rPr kumimoji="0" lang="en-US" altLang="en-US" sz="2000" b="0" i="0" u="none" strike="noStrike" cap="none" normalizeH="0" baseline="0" dirty="0">
                <a:ln>
                  <a:noFill/>
                </a:ln>
                <a:solidFill>
                  <a:srgbClr val="000000"/>
                </a:solidFill>
                <a:effectLst/>
                <a:latin typeface="Courier New" panose="02070309020205020404" pitchFamily="49" charset="0"/>
              </a:rPr>
              <a:t> &lt; </a:t>
            </a:r>
            <a:r>
              <a:rPr kumimoji="0" lang="en-US" altLang="en-US" sz="2000" b="0" i="0" u="none" strike="noStrike" cap="none" normalizeH="0" baseline="0" dirty="0" err="1">
                <a:ln>
                  <a:noFill/>
                </a:ln>
                <a:solidFill>
                  <a:srgbClr val="000000"/>
                </a:solidFill>
                <a:effectLst/>
                <a:latin typeface="Courier New" panose="02070309020205020404" pitchFamily="49" charset="0"/>
              </a:rPr>
              <a:t>m.length</a:t>
            </a:r>
            <a:r>
              <a:rPr kumimoji="0" lang="en-US" altLang="en-US" sz="2000" b="0" i="0" u="none" strike="noStrike" cap="none" normalizeH="0" baseline="0" dirty="0">
                <a:ln>
                  <a:noFill/>
                </a:ln>
                <a:solidFill>
                  <a:srgbClr val="000000"/>
                </a:solidFill>
                <a:effectLst/>
                <a:latin typeface="Courier New" panose="02070309020205020404" pitchFamily="49" charset="0"/>
              </a:rPr>
              <a:t>; </a:t>
            </a:r>
            <a:r>
              <a:rPr kumimoji="0" lang="en-US" altLang="en-US" sz="2000" b="0" i="0" u="none" strike="noStrike" cap="none" normalizeH="0" baseline="0" dirty="0" err="1">
                <a:ln>
                  <a:noFill/>
                </a:ln>
                <a:solidFill>
                  <a:srgbClr val="000000"/>
                </a:solidFill>
                <a:effectLst/>
                <a:latin typeface="Courier New" panose="02070309020205020404" pitchFamily="49" charset="0"/>
              </a:rPr>
              <a:t>i</a:t>
            </a:r>
            <a:r>
              <a:rPr kumimoji="0" lang="en-US" altLang="en-US" sz="2000" b="0" i="0" u="none" strike="noStrike" cap="none" normalizeH="0" baseline="0" dirty="0">
                <a:ln>
                  <a:noFill/>
                </a:ln>
                <a:solidFill>
                  <a:srgbClr val="000000"/>
                </a:solidFill>
                <a:effectLst/>
                <a:latin typeface="Courier New" panose="020703090202050204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urier New" panose="02070309020205020404" pitchFamily="49" charset="0"/>
              </a:rPr>
              <a:t>      </a:t>
            </a:r>
            <a:r>
              <a:rPr kumimoji="0" lang="en-US" altLang="en-US" sz="2000" b="0" i="0" u="none" strike="noStrike" cap="none" normalizeH="0" baseline="0" dirty="0" err="1">
                <a:ln>
                  <a:noFill/>
                </a:ln>
                <a:solidFill>
                  <a:srgbClr val="000000"/>
                </a:solidFill>
                <a:effectLst/>
                <a:latin typeface="Courier New" panose="02070309020205020404" pitchFamily="49" charset="0"/>
              </a:rPr>
              <a:t>System.out.print</a:t>
            </a:r>
            <a:r>
              <a:rPr kumimoji="0" lang="en-US" altLang="en-US" sz="2000" b="0" i="0" u="none" strike="noStrike" cap="none" normalizeH="0" baseline="0" dirty="0">
                <a:ln>
                  <a:noFill/>
                </a:ln>
                <a:solidFill>
                  <a:srgbClr val="000000"/>
                </a:solidFill>
                <a:effectLst/>
                <a:latin typeface="Courier New" panose="02070309020205020404" pitchFamily="49" charset="0"/>
              </a:rPr>
              <a:t>(m[</a:t>
            </a:r>
            <a:r>
              <a:rPr kumimoji="0" lang="en-US" altLang="en-US" sz="2000" b="0" i="0" u="none" strike="noStrike" cap="none" normalizeH="0" baseline="0" dirty="0" err="1">
                <a:ln>
                  <a:noFill/>
                </a:ln>
                <a:solidFill>
                  <a:srgbClr val="000000"/>
                </a:solidFill>
                <a:effectLst/>
                <a:latin typeface="Courier New" panose="02070309020205020404" pitchFamily="49" charset="0"/>
              </a:rPr>
              <a:t>i</a:t>
            </a:r>
            <a:r>
              <a:rPr kumimoji="0" lang="en-US" altLang="en-US" sz="2000" b="0" i="0" u="none" strike="noStrike" cap="none" normalizeH="0" baseline="0" dirty="0">
                <a:ln>
                  <a:noFill/>
                </a:ln>
                <a:solidFill>
                  <a:srgbClr val="000000"/>
                </a:solidFill>
                <a:effectLst/>
                <a:latin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00"/>
                </a:solidFill>
                <a:latin typeface="Courier New" panose="02070309020205020404" pitchFamily="49" charset="0"/>
              </a:rPr>
              <a:t>     </a:t>
            </a:r>
            <a:r>
              <a:rPr kumimoji="0" lang="en-US" altLang="en-US" sz="2000" b="0" i="0" u="none" strike="noStrike" cap="none" normalizeH="0" baseline="0" dirty="0">
                <a:ln>
                  <a:noFill/>
                </a:ln>
                <a:solidFill>
                  <a:srgbClr val="000000"/>
                </a:solidFill>
                <a:effectLst/>
                <a:latin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urier New" panose="02070309020205020404" pitchFamily="49" charset="0"/>
              </a:rPr>
              <a:t>     </a:t>
            </a:r>
            <a:r>
              <a:rPr kumimoji="0" lang="en-US" altLang="en-US" sz="2000" b="1" i="0" u="none" strike="noStrike" cap="none" normalizeH="0" baseline="0" dirty="0">
                <a:ln>
                  <a:noFill/>
                </a:ln>
                <a:solidFill>
                  <a:srgbClr val="000FD6"/>
                </a:solidFill>
                <a:effectLst/>
                <a:latin typeface="Courier New" panose="02070309020205020404" pitchFamily="49" charset="0"/>
              </a:rPr>
              <a:t>for</a:t>
            </a:r>
            <a:r>
              <a:rPr kumimoji="0" lang="en-US" altLang="en-US" sz="2000" b="0" i="0" u="none" strike="noStrike" cap="none" normalizeH="0" baseline="0" dirty="0">
                <a:ln>
                  <a:noFill/>
                </a:ln>
                <a:solidFill>
                  <a:srgbClr val="000000"/>
                </a:solidFill>
                <a:effectLst/>
                <a:latin typeface="Courier New" panose="02070309020205020404" pitchFamily="49" charset="0"/>
              </a:rPr>
              <a:t> (</a:t>
            </a:r>
            <a:r>
              <a:rPr kumimoji="0" lang="en-US" altLang="en-US" sz="2000" b="1" i="0" u="none" strike="noStrike" cap="none" normalizeH="0" baseline="0" dirty="0">
                <a:ln>
                  <a:noFill/>
                </a:ln>
                <a:solidFill>
                  <a:srgbClr val="000FD6"/>
                </a:solidFill>
                <a:effectLst/>
                <a:latin typeface="Courier New" panose="02070309020205020404" pitchFamily="49" charset="0"/>
              </a:rPr>
              <a:t>int</a:t>
            </a:r>
            <a:r>
              <a:rPr kumimoji="0" lang="en-US" altLang="en-US" sz="2000" b="0" i="0" u="none" strike="noStrike" cap="none" normalizeH="0" baseline="0" dirty="0">
                <a:ln>
                  <a:noFill/>
                </a:ln>
                <a:solidFill>
                  <a:srgbClr val="000000"/>
                </a:solidFill>
                <a:effectLst/>
                <a:latin typeface="Courier New" panose="02070309020205020404" pitchFamily="49" charset="0"/>
              </a:rPr>
              <a:t> </a:t>
            </a:r>
            <a:r>
              <a:rPr kumimoji="0" lang="en-US" altLang="en-US" sz="2000" b="0" i="0" u="none" strike="noStrike" cap="none" normalizeH="0" baseline="0" dirty="0" err="1">
                <a:ln>
                  <a:noFill/>
                </a:ln>
                <a:solidFill>
                  <a:srgbClr val="000000"/>
                </a:solidFill>
                <a:effectLst/>
                <a:latin typeface="Courier New" panose="02070309020205020404" pitchFamily="49" charset="0"/>
              </a:rPr>
              <a:t>i</a:t>
            </a:r>
            <a:r>
              <a:rPr kumimoji="0" lang="en-US" altLang="en-US" sz="2000" b="0" i="0" u="none" strike="noStrike" cap="none" normalizeH="0" baseline="0" dirty="0">
                <a:ln>
                  <a:noFill/>
                </a:ln>
                <a:solidFill>
                  <a:srgbClr val="000000"/>
                </a:solidFill>
                <a:effectLst/>
                <a:latin typeface="Courier New" panose="02070309020205020404" pitchFamily="49" charset="0"/>
              </a:rPr>
              <a:t> = </a:t>
            </a:r>
            <a:r>
              <a:rPr kumimoji="0" lang="en-US" altLang="en-US" sz="2000" b="0" i="0" u="none" strike="noStrike" cap="none" normalizeH="0" baseline="0" dirty="0" err="1">
                <a:ln>
                  <a:noFill/>
                </a:ln>
                <a:solidFill>
                  <a:srgbClr val="000000"/>
                </a:solidFill>
                <a:effectLst/>
                <a:latin typeface="Courier New" panose="02070309020205020404" pitchFamily="49" charset="0"/>
              </a:rPr>
              <a:t>m.length</a:t>
            </a:r>
            <a:r>
              <a:rPr kumimoji="0" lang="en-US" altLang="en-US" sz="2000" b="0" i="0" u="none" strike="noStrike" cap="none" normalizeH="0" baseline="0" dirty="0">
                <a:ln>
                  <a:noFill/>
                </a:ln>
                <a:solidFill>
                  <a:srgbClr val="000000"/>
                </a:solidFill>
                <a:effectLst/>
                <a:latin typeface="Courier New" panose="02070309020205020404" pitchFamily="49" charset="0"/>
              </a:rPr>
              <a:t> - </a:t>
            </a:r>
            <a:r>
              <a:rPr kumimoji="0" lang="en-US" altLang="en-US" sz="2000" b="0" i="0" u="none" strike="noStrike" cap="none" normalizeH="0" baseline="0" dirty="0">
                <a:ln>
                  <a:noFill/>
                </a:ln>
                <a:solidFill>
                  <a:srgbClr val="007D9F"/>
                </a:solidFill>
                <a:effectLst/>
                <a:latin typeface="Courier New" panose="02070309020205020404" pitchFamily="49" charset="0"/>
              </a:rPr>
              <a:t>1</a:t>
            </a:r>
            <a:r>
              <a:rPr kumimoji="0" lang="en-US" altLang="en-US" sz="2000" b="0" i="0" u="none" strike="noStrike" cap="none" normalizeH="0" baseline="0" dirty="0">
                <a:ln>
                  <a:noFill/>
                </a:ln>
                <a:solidFill>
                  <a:srgbClr val="000000"/>
                </a:solidFill>
                <a:effectLst/>
                <a:latin typeface="Courier New" panose="02070309020205020404" pitchFamily="49" charset="0"/>
              </a:rPr>
              <a:t>; </a:t>
            </a:r>
            <a:r>
              <a:rPr kumimoji="0" lang="en-US" altLang="en-US" sz="2000" b="0" i="0" u="none" strike="noStrike" cap="none" normalizeH="0" baseline="0" dirty="0" err="1">
                <a:ln>
                  <a:noFill/>
                </a:ln>
                <a:solidFill>
                  <a:srgbClr val="000000"/>
                </a:solidFill>
                <a:effectLst/>
                <a:latin typeface="Courier New" panose="02070309020205020404" pitchFamily="49" charset="0"/>
              </a:rPr>
              <a:t>i</a:t>
            </a:r>
            <a:r>
              <a:rPr kumimoji="0" lang="en-US" altLang="en-US" sz="2000" b="0" i="0" u="none" strike="noStrike" cap="none" normalizeH="0" baseline="0" dirty="0">
                <a:ln>
                  <a:noFill/>
                </a:ln>
                <a:solidFill>
                  <a:srgbClr val="000000"/>
                </a:solidFill>
                <a:effectLst/>
                <a:latin typeface="Courier New" panose="02070309020205020404" pitchFamily="49" charset="0"/>
              </a:rPr>
              <a:t> &gt;= </a:t>
            </a:r>
            <a:r>
              <a:rPr kumimoji="0" lang="en-US" altLang="en-US" sz="2000" b="0" i="0" u="none" strike="noStrike" cap="none" normalizeH="0" baseline="0" dirty="0">
                <a:ln>
                  <a:noFill/>
                </a:ln>
                <a:solidFill>
                  <a:srgbClr val="007D9F"/>
                </a:solidFill>
                <a:effectLst/>
                <a:latin typeface="Courier New" panose="02070309020205020404" pitchFamily="49" charset="0"/>
              </a:rPr>
              <a:t>0</a:t>
            </a:r>
            <a:r>
              <a:rPr kumimoji="0" lang="en-US" altLang="en-US" sz="2000" b="0" i="0" u="none" strike="noStrike" cap="none" normalizeH="0" baseline="0" dirty="0">
                <a:ln>
                  <a:noFill/>
                </a:ln>
                <a:solidFill>
                  <a:srgbClr val="000000"/>
                </a:solidFill>
                <a:effectLst/>
                <a:latin typeface="Courier New" panose="020703090202050204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urier New" panose="02070309020205020404" pitchFamily="49" charset="0"/>
              </a:rPr>
              <a:t>       </a:t>
            </a:r>
            <a:r>
              <a:rPr kumimoji="0" lang="en-US" altLang="en-US" sz="2000" b="0" i="0" u="none" strike="noStrike" cap="none" normalizeH="0" baseline="0" dirty="0" err="1">
                <a:ln>
                  <a:noFill/>
                </a:ln>
                <a:solidFill>
                  <a:srgbClr val="000000"/>
                </a:solidFill>
                <a:effectLst/>
                <a:latin typeface="Courier New" panose="02070309020205020404" pitchFamily="49" charset="0"/>
              </a:rPr>
              <a:t>System.out.print</a:t>
            </a:r>
            <a:r>
              <a:rPr kumimoji="0" lang="en-US" altLang="en-US" sz="2000" b="0" i="0" u="none" strike="noStrike" cap="none" normalizeH="0" baseline="0" dirty="0">
                <a:ln>
                  <a:noFill/>
                </a:ln>
                <a:solidFill>
                  <a:srgbClr val="000000"/>
                </a:solidFill>
                <a:effectLst/>
                <a:latin typeface="Courier New" panose="02070309020205020404" pitchFamily="49" charset="0"/>
              </a:rPr>
              <a:t>(m[</a:t>
            </a:r>
            <a:r>
              <a:rPr kumimoji="0" lang="en-US" altLang="en-US" sz="2000" b="0" i="0" u="none" strike="noStrike" cap="none" normalizeH="0" baseline="0" dirty="0" err="1">
                <a:ln>
                  <a:noFill/>
                </a:ln>
                <a:solidFill>
                  <a:srgbClr val="000000"/>
                </a:solidFill>
                <a:effectLst/>
                <a:latin typeface="Courier New" panose="02070309020205020404" pitchFamily="49" charset="0"/>
              </a:rPr>
              <a:t>i</a:t>
            </a:r>
            <a:r>
              <a:rPr kumimoji="0" lang="en-US" altLang="en-US" sz="2000" b="0" i="0" u="none" strike="noStrike" cap="none" normalizeH="0" baseline="0" dirty="0">
                <a:ln>
                  <a:noFill/>
                </a:ln>
                <a:solidFill>
                  <a:srgbClr val="000000"/>
                </a:solidFill>
                <a:effectLst/>
                <a:latin typeface="Courier New" panose="02070309020205020404" pitchFamily="49" charset="0"/>
              </a:rPr>
              <a:t>]); </a:t>
            </a:r>
            <a:r>
              <a:rPr kumimoji="0" lang="en-US" altLang="en-US" sz="2000" b="0" i="0" u="none" strike="noStrike" cap="none" normalizeH="0" baseline="0" dirty="0" err="1">
                <a:ln>
                  <a:noFill/>
                </a:ln>
                <a:solidFill>
                  <a:srgbClr val="000000"/>
                </a:solidFill>
                <a:effectLst/>
                <a:latin typeface="Courier New" panose="02070309020205020404" pitchFamily="49" charset="0"/>
              </a:rPr>
              <a:t>i</a:t>
            </a:r>
            <a:r>
              <a:rPr kumimoji="0" lang="en-US" altLang="en-US" sz="2000" b="0" i="0" u="none" strike="noStrike" cap="none" normalizeH="0" baseline="0" dirty="0">
                <a:ln>
                  <a:noFill/>
                </a:ln>
                <a:solidFill>
                  <a:srgbClr val="000000"/>
                </a:solidFill>
                <a:effectLst/>
                <a:latin typeface="Courier New" panose="020703090202050204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000000"/>
              </a:solidFill>
              <a:effectLst/>
              <a:latin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urier New" panose="02070309020205020404" pitchFamily="49" charset="0"/>
              </a:rPr>
              <a:t>(d) </a:t>
            </a:r>
            <a:r>
              <a:rPr kumimoji="0" lang="en-US" altLang="en-US" sz="2000" b="1" i="0" u="none" strike="noStrike" cap="none" normalizeH="0" baseline="0" dirty="0">
                <a:ln>
                  <a:noFill/>
                </a:ln>
                <a:solidFill>
                  <a:srgbClr val="000FD6"/>
                </a:solidFill>
                <a:effectLst/>
                <a:latin typeface="Courier New" panose="02070309020205020404" pitchFamily="49" charset="0"/>
              </a:rPr>
              <a:t>public</a:t>
            </a:r>
            <a:r>
              <a:rPr kumimoji="0" lang="en-US" altLang="en-US" sz="2000" b="0" i="0" u="none" strike="noStrike" cap="none" normalizeH="0" baseline="0" dirty="0">
                <a:ln>
                  <a:noFill/>
                </a:ln>
                <a:solidFill>
                  <a:srgbClr val="000000"/>
                </a:solidFill>
                <a:effectLst/>
                <a:latin typeface="Courier New" panose="02070309020205020404" pitchFamily="49" charset="0"/>
              </a:rPr>
              <a:t> </a:t>
            </a:r>
            <a:r>
              <a:rPr kumimoji="0" lang="en-US" altLang="en-US" sz="2000" b="1" i="0" u="none" strike="noStrike" cap="none" normalizeH="0" baseline="0" dirty="0">
                <a:ln>
                  <a:noFill/>
                </a:ln>
                <a:solidFill>
                  <a:srgbClr val="000FD6"/>
                </a:solidFill>
                <a:effectLst/>
                <a:latin typeface="Courier New" panose="02070309020205020404" pitchFamily="49" charset="0"/>
              </a:rPr>
              <a:t>static</a:t>
            </a:r>
            <a:r>
              <a:rPr kumimoji="0" lang="en-US" altLang="en-US" sz="2000" b="0" i="0" u="none" strike="noStrike" cap="none" normalizeH="0" baseline="0" dirty="0">
                <a:ln>
                  <a:noFill/>
                </a:ln>
                <a:solidFill>
                  <a:srgbClr val="000000"/>
                </a:solidFill>
                <a:effectLst/>
                <a:latin typeface="Courier New" panose="02070309020205020404" pitchFamily="49" charset="0"/>
              </a:rPr>
              <a:t> </a:t>
            </a:r>
            <a:r>
              <a:rPr kumimoji="0" lang="en-US" altLang="en-US" sz="2000" b="1" i="0" u="none" strike="noStrike" cap="none" normalizeH="0" baseline="0" dirty="0">
                <a:ln>
                  <a:noFill/>
                </a:ln>
                <a:solidFill>
                  <a:srgbClr val="000FD6"/>
                </a:solidFill>
                <a:effectLst/>
                <a:latin typeface="Courier New" panose="02070309020205020404" pitchFamily="49" charset="0"/>
              </a:rPr>
              <a:t>void</a:t>
            </a:r>
            <a:r>
              <a:rPr kumimoji="0" lang="en-US" altLang="en-US" sz="2000" b="0" i="0" u="none" strike="noStrike" cap="none" normalizeH="0" baseline="0" dirty="0">
                <a:ln>
                  <a:noFill/>
                </a:ln>
                <a:solidFill>
                  <a:srgbClr val="000000"/>
                </a:solidFill>
                <a:effectLst/>
                <a:latin typeface="Courier New" panose="02070309020205020404" pitchFamily="49" charset="0"/>
              </a:rPr>
              <a:t> </a:t>
            </a:r>
            <a:r>
              <a:rPr kumimoji="0" lang="en-US" altLang="en-US" sz="2000" b="0" i="0" u="none" strike="noStrike" cap="none" normalizeH="0" baseline="0" dirty="0" err="1">
                <a:ln>
                  <a:noFill/>
                </a:ln>
                <a:solidFill>
                  <a:srgbClr val="000000"/>
                </a:solidFill>
                <a:effectLst/>
                <a:latin typeface="Courier New" panose="02070309020205020404" pitchFamily="49" charset="0"/>
              </a:rPr>
              <a:t>mD</a:t>
            </a:r>
            <a:r>
              <a:rPr kumimoji="0" lang="en-US" altLang="en-US" sz="2000" b="0" i="0" u="none" strike="noStrike" cap="none" normalizeH="0" baseline="0" dirty="0">
                <a:ln>
                  <a:noFill/>
                </a:ln>
                <a:solidFill>
                  <a:srgbClr val="000000"/>
                </a:solidFill>
                <a:effectLst/>
                <a:latin typeface="Courier New" panose="02070309020205020404" pitchFamily="49" charset="0"/>
              </a:rPr>
              <a:t>(</a:t>
            </a:r>
            <a:r>
              <a:rPr kumimoji="0" lang="en-US" altLang="en-US" sz="2000" b="1" i="0" u="none" strike="noStrike" cap="none" normalizeH="0" baseline="0" dirty="0">
                <a:ln>
                  <a:noFill/>
                </a:ln>
                <a:solidFill>
                  <a:srgbClr val="000FD6"/>
                </a:solidFill>
                <a:effectLst/>
                <a:latin typeface="Courier New" panose="02070309020205020404" pitchFamily="49" charset="0"/>
              </a:rPr>
              <a:t>int</a:t>
            </a:r>
            <a:r>
              <a:rPr kumimoji="0" lang="en-US" altLang="en-US" sz="2000" b="0" i="0" u="none" strike="noStrike" cap="none" normalizeH="0" baseline="0" dirty="0">
                <a:ln>
                  <a:noFill/>
                </a:ln>
                <a:solidFill>
                  <a:srgbClr val="000000"/>
                </a:solidFill>
                <a:effectLst/>
                <a:latin typeface="Courier New" panose="02070309020205020404" pitchFamily="49" charset="0"/>
              </a:rPr>
              <a:t>[] m)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00"/>
                </a:solidFill>
                <a:latin typeface="Courier New" panose="02070309020205020404" pitchFamily="49" charset="0"/>
              </a:rPr>
              <a:t>      </a:t>
            </a:r>
            <a:r>
              <a:rPr kumimoji="0" lang="en-US" altLang="en-US" sz="2000" b="1" i="0" u="none" strike="noStrike" cap="none" normalizeH="0" baseline="0" dirty="0">
                <a:ln>
                  <a:noFill/>
                </a:ln>
                <a:solidFill>
                  <a:srgbClr val="000FD6"/>
                </a:solidFill>
                <a:effectLst/>
                <a:latin typeface="Courier New" panose="02070309020205020404" pitchFamily="49" charset="0"/>
              </a:rPr>
              <a:t>for</a:t>
            </a:r>
            <a:r>
              <a:rPr kumimoji="0" lang="en-US" altLang="en-US" sz="2000" b="0" i="0" u="none" strike="noStrike" cap="none" normalizeH="0" baseline="0" dirty="0">
                <a:ln>
                  <a:noFill/>
                </a:ln>
                <a:solidFill>
                  <a:srgbClr val="000000"/>
                </a:solidFill>
                <a:effectLst/>
                <a:latin typeface="Courier New" panose="02070309020205020404" pitchFamily="49" charset="0"/>
              </a:rPr>
              <a:t> (</a:t>
            </a:r>
            <a:r>
              <a:rPr kumimoji="0" lang="en-US" altLang="en-US" sz="2000" b="1" i="0" u="none" strike="noStrike" cap="none" normalizeH="0" baseline="0" dirty="0">
                <a:ln>
                  <a:noFill/>
                </a:ln>
                <a:solidFill>
                  <a:srgbClr val="000FD6"/>
                </a:solidFill>
                <a:effectLst/>
                <a:latin typeface="Courier New" panose="02070309020205020404" pitchFamily="49" charset="0"/>
              </a:rPr>
              <a:t>int</a:t>
            </a:r>
            <a:r>
              <a:rPr kumimoji="0" lang="en-US" altLang="en-US" sz="2000" b="0" i="0" u="none" strike="noStrike" cap="none" normalizeH="0" baseline="0" dirty="0">
                <a:ln>
                  <a:noFill/>
                </a:ln>
                <a:solidFill>
                  <a:srgbClr val="000000"/>
                </a:solidFill>
                <a:effectLst/>
                <a:latin typeface="Courier New" panose="02070309020205020404" pitchFamily="49" charset="0"/>
              </a:rPr>
              <a:t> </a:t>
            </a:r>
            <a:r>
              <a:rPr kumimoji="0" lang="en-US" altLang="en-US" sz="2000" b="0" i="0" u="none" strike="noStrike" cap="none" normalizeH="0" baseline="0" dirty="0" err="1">
                <a:ln>
                  <a:noFill/>
                </a:ln>
                <a:solidFill>
                  <a:srgbClr val="000000"/>
                </a:solidFill>
                <a:effectLst/>
                <a:latin typeface="Courier New" panose="02070309020205020404" pitchFamily="49" charset="0"/>
              </a:rPr>
              <a:t>i</a:t>
            </a:r>
            <a:r>
              <a:rPr kumimoji="0" lang="en-US" altLang="en-US" sz="2000" b="0" i="0" u="none" strike="noStrike" cap="none" normalizeH="0" baseline="0" dirty="0">
                <a:ln>
                  <a:noFill/>
                </a:ln>
                <a:solidFill>
                  <a:srgbClr val="000000"/>
                </a:solidFill>
                <a:effectLst/>
                <a:latin typeface="Courier New" panose="02070309020205020404" pitchFamily="49" charset="0"/>
              </a:rPr>
              <a:t> = </a:t>
            </a:r>
            <a:r>
              <a:rPr kumimoji="0" lang="en-US" altLang="en-US" sz="2000" b="0" i="0" u="none" strike="noStrike" cap="none" normalizeH="0" baseline="0" dirty="0">
                <a:ln>
                  <a:noFill/>
                </a:ln>
                <a:solidFill>
                  <a:srgbClr val="007D9F"/>
                </a:solidFill>
                <a:effectLst/>
                <a:latin typeface="Courier New" panose="02070309020205020404" pitchFamily="49" charset="0"/>
              </a:rPr>
              <a:t>0</a:t>
            </a:r>
            <a:r>
              <a:rPr kumimoji="0" lang="en-US" altLang="en-US" sz="2000" b="0" i="0" u="none" strike="noStrike" cap="none" normalizeH="0" baseline="0" dirty="0">
                <a:ln>
                  <a:noFill/>
                </a:ln>
                <a:solidFill>
                  <a:srgbClr val="000000"/>
                </a:solidFill>
                <a:effectLst/>
                <a:latin typeface="Courier New" panose="02070309020205020404" pitchFamily="49" charset="0"/>
              </a:rPr>
              <a:t>; </a:t>
            </a:r>
            <a:r>
              <a:rPr kumimoji="0" lang="en-US" altLang="en-US" sz="2000" b="0" i="0" u="none" strike="noStrike" cap="none" normalizeH="0" baseline="0" dirty="0" err="1">
                <a:ln>
                  <a:noFill/>
                </a:ln>
                <a:solidFill>
                  <a:srgbClr val="000000"/>
                </a:solidFill>
                <a:effectLst/>
                <a:latin typeface="Courier New" panose="02070309020205020404" pitchFamily="49" charset="0"/>
              </a:rPr>
              <a:t>i</a:t>
            </a:r>
            <a:r>
              <a:rPr kumimoji="0" lang="en-US" altLang="en-US" sz="2000" b="0" i="0" u="none" strike="noStrike" cap="none" normalizeH="0" baseline="0" dirty="0">
                <a:ln>
                  <a:noFill/>
                </a:ln>
                <a:solidFill>
                  <a:srgbClr val="000000"/>
                </a:solidFill>
                <a:effectLst/>
                <a:latin typeface="Courier New" panose="02070309020205020404" pitchFamily="49" charset="0"/>
              </a:rPr>
              <a:t> &lt; </a:t>
            </a:r>
            <a:r>
              <a:rPr kumimoji="0" lang="en-US" altLang="en-US" sz="2000" b="0" i="0" u="none" strike="noStrike" cap="none" normalizeH="0" baseline="0" dirty="0" err="1">
                <a:ln>
                  <a:noFill/>
                </a:ln>
                <a:solidFill>
                  <a:srgbClr val="000000"/>
                </a:solidFill>
                <a:effectLst/>
                <a:latin typeface="Courier New" panose="02070309020205020404" pitchFamily="49" charset="0"/>
              </a:rPr>
              <a:t>m.length</a:t>
            </a:r>
            <a:r>
              <a:rPr kumimoji="0" lang="en-US" altLang="en-US" sz="2000" b="0" i="0" u="none" strike="noStrike" cap="none" normalizeH="0" baseline="0" dirty="0">
                <a:ln>
                  <a:noFill/>
                </a:ln>
                <a:solidFill>
                  <a:srgbClr val="000000"/>
                </a:solidFill>
                <a:effectLst/>
                <a:latin typeface="Courier New" panose="02070309020205020404" pitchFamily="49" charset="0"/>
              </a:rPr>
              <a:t>; </a:t>
            </a:r>
            <a:r>
              <a:rPr kumimoji="0" lang="en-US" altLang="en-US" sz="2000" b="0" i="0" u="none" strike="noStrike" cap="none" normalizeH="0" baseline="0" dirty="0" err="1">
                <a:ln>
                  <a:noFill/>
                </a:ln>
                <a:solidFill>
                  <a:srgbClr val="000000"/>
                </a:solidFill>
                <a:effectLst/>
                <a:latin typeface="Courier New" panose="02070309020205020404" pitchFamily="49" charset="0"/>
              </a:rPr>
              <a:t>i</a:t>
            </a:r>
            <a:r>
              <a:rPr kumimoji="0" lang="en-US" altLang="en-US" sz="2000" b="0" i="0" u="none" strike="noStrike" cap="none" normalizeH="0" baseline="0" dirty="0">
                <a:ln>
                  <a:noFill/>
                </a:ln>
                <a:solidFill>
                  <a:srgbClr val="000000"/>
                </a:solidFill>
                <a:effectLst/>
                <a:latin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00"/>
                </a:solidFill>
                <a:latin typeface="Courier New" panose="02070309020205020404" pitchFamily="49" charset="0"/>
              </a:rPr>
              <a:t>   </a:t>
            </a:r>
            <a:r>
              <a:rPr kumimoji="0" lang="en-US" altLang="en-US" sz="2000" b="0" i="0" u="none" strike="noStrike" cap="none" normalizeH="0" baseline="0" dirty="0">
                <a:ln>
                  <a:noFill/>
                </a:ln>
                <a:solidFill>
                  <a:srgbClr val="000000"/>
                </a:solidFill>
                <a:effectLst/>
                <a:latin typeface="Courier New" panose="02070309020205020404" pitchFamily="49" charset="0"/>
              </a:rPr>
              <a:t>     </a:t>
            </a:r>
            <a:r>
              <a:rPr kumimoji="0" lang="en-US" altLang="en-US" sz="2000" b="1" i="0" u="none" strike="noStrike" cap="none" normalizeH="0" baseline="0" dirty="0">
                <a:ln>
                  <a:noFill/>
                </a:ln>
                <a:solidFill>
                  <a:srgbClr val="000FD6"/>
                </a:solidFill>
                <a:effectLst/>
                <a:latin typeface="Courier New" panose="02070309020205020404" pitchFamily="49" charset="0"/>
              </a:rPr>
              <a:t>for</a:t>
            </a:r>
            <a:r>
              <a:rPr kumimoji="0" lang="en-US" altLang="en-US" sz="2000" b="0" i="0" u="none" strike="noStrike" cap="none" normalizeH="0" baseline="0" dirty="0">
                <a:ln>
                  <a:noFill/>
                </a:ln>
                <a:solidFill>
                  <a:srgbClr val="000000"/>
                </a:solidFill>
                <a:effectLst/>
                <a:latin typeface="Courier New" panose="02070309020205020404" pitchFamily="49" charset="0"/>
              </a:rPr>
              <a:t> (</a:t>
            </a:r>
            <a:r>
              <a:rPr kumimoji="0" lang="en-US" altLang="en-US" sz="2000" b="1" i="0" u="none" strike="noStrike" cap="none" normalizeH="0" baseline="0" dirty="0">
                <a:ln>
                  <a:noFill/>
                </a:ln>
                <a:solidFill>
                  <a:srgbClr val="000FD6"/>
                </a:solidFill>
                <a:effectLst/>
                <a:latin typeface="Courier New" panose="02070309020205020404" pitchFamily="49" charset="0"/>
              </a:rPr>
              <a:t>int</a:t>
            </a:r>
            <a:r>
              <a:rPr kumimoji="0" lang="en-US" altLang="en-US" sz="2000" b="0" i="0" u="none" strike="noStrike" cap="none" normalizeH="0" baseline="0" dirty="0">
                <a:ln>
                  <a:noFill/>
                </a:ln>
                <a:solidFill>
                  <a:srgbClr val="000000"/>
                </a:solidFill>
                <a:effectLst/>
                <a:latin typeface="Courier New" panose="02070309020205020404" pitchFamily="49" charset="0"/>
              </a:rPr>
              <a:t> j = </a:t>
            </a:r>
            <a:r>
              <a:rPr kumimoji="0" lang="en-US" altLang="en-US" sz="2000" b="0" i="0" u="none" strike="noStrike" cap="none" normalizeH="0" baseline="0" dirty="0">
                <a:ln>
                  <a:noFill/>
                </a:ln>
                <a:solidFill>
                  <a:srgbClr val="007D9F"/>
                </a:solidFill>
                <a:effectLst/>
                <a:latin typeface="Courier New" panose="02070309020205020404" pitchFamily="49" charset="0"/>
              </a:rPr>
              <a:t>0</a:t>
            </a:r>
            <a:r>
              <a:rPr kumimoji="0" lang="en-US" altLang="en-US" sz="2000" b="0" i="0" u="none" strike="noStrike" cap="none" normalizeH="0" baseline="0" dirty="0">
                <a:ln>
                  <a:noFill/>
                </a:ln>
                <a:solidFill>
                  <a:srgbClr val="000000"/>
                </a:solidFill>
                <a:effectLst/>
                <a:latin typeface="Courier New" panose="02070309020205020404" pitchFamily="49" charset="0"/>
              </a:rPr>
              <a:t>; j &lt; </a:t>
            </a:r>
            <a:r>
              <a:rPr kumimoji="0" lang="en-US" altLang="en-US" sz="2000" b="0" i="0" u="none" strike="noStrike" cap="none" normalizeH="0" baseline="0" dirty="0" err="1">
                <a:ln>
                  <a:noFill/>
                </a:ln>
                <a:solidFill>
                  <a:srgbClr val="000000"/>
                </a:solidFill>
                <a:effectLst/>
                <a:latin typeface="Courier New" panose="02070309020205020404" pitchFamily="49" charset="0"/>
              </a:rPr>
              <a:t>i</a:t>
            </a:r>
            <a:r>
              <a:rPr kumimoji="0" lang="en-US" altLang="en-US" sz="2000" b="0" i="0" u="none" strike="noStrike" cap="none" normalizeH="0" baseline="0" dirty="0">
                <a:ln>
                  <a:noFill/>
                </a:ln>
                <a:solidFill>
                  <a:srgbClr val="000000"/>
                </a:solidFill>
                <a:effectLst/>
                <a:latin typeface="Courier New" panose="02070309020205020404" pitchFamily="49" charset="0"/>
              </a:rPr>
              <a:t>; </a:t>
            </a:r>
            <a:r>
              <a:rPr kumimoji="0" lang="en-US" altLang="en-US" sz="2000" b="0" i="0" u="none" strike="noStrike" cap="none" normalizeH="0" baseline="0" dirty="0" err="1">
                <a:ln>
                  <a:noFill/>
                </a:ln>
                <a:solidFill>
                  <a:srgbClr val="000000"/>
                </a:solidFill>
                <a:effectLst/>
                <a:latin typeface="Courier New" panose="02070309020205020404" pitchFamily="49" charset="0"/>
              </a:rPr>
              <a:t>j++</a:t>
            </a:r>
            <a:r>
              <a:rPr kumimoji="0" lang="en-US" altLang="en-US" sz="2000" b="0" i="0" u="none" strike="noStrike" cap="none" normalizeH="0" baseline="0" dirty="0">
                <a:ln>
                  <a:noFill/>
                </a:ln>
                <a:solidFill>
                  <a:srgbClr val="000000"/>
                </a:solidFill>
                <a:effectLst/>
                <a:latin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00"/>
                </a:solidFill>
                <a:latin typeface="Courier New" panose="02070309020205020404" pitchFamily="49" charset="0"/>
              </a:rPr>
              <a:t>          </a:t>
            </a:r>
            <a:r>
              <a:rPr kumimoji="0" lang="en-US" altLang="en-US" sz="2000" b="0" i="0" u="none" strike="noStrike" cap="none" normalizeH="0" baseline="0" dirty="0" err="1">
                <a:ln>
                  <a:noFill/>
                </a:ln>
                <a:solidFill>
                  <a:srgbClr val="000000"/>
                </a:solidFill>
                <a:effectLst/>
                <a:latin typeface="Courier New" panose="02070309020205020404" pitchFamily="49" charset="0"/>
              </a:rPr>
              <a:t>System.out.print</a:t>
            </a:r>
            <a:r>
              <a:rPr kumimoji="0" lang="en-US" altLang="en-US" sz="2000" b="0" i="0" u="none" strike="noStrike" cap="none" normalizeH="0" baseline="0" dirty="0">
                <a:ln>
                  <a:noFill/>
                </a:ln>
                <a:solidFill>
                  <a:srgbClr val="000000"/>
                </a:solidFill>
                <a:effectLst/>
                <a:latin typeface="Courier New" panose="02070309020205020404" pitchFamily="49" charset="0"/>
              </a:rPr>
              <a:t>(m[</a:t>
            </a:r>
            <a:r>
              <a:rPr kumimoji="0" lang="en-US" altLang="en-US" sz="2000" b="0" i="0" u="none" strike="noStrike" cap="none" normalizeH="0" baseline="0" dirty="0" err="1">
                <a:ln>
                  <a:noFill/>
                </a:ln>
                <a:solidFill>
                  <a:srgbClr val="000000"/>
                </a:solidFill>
                <a:effectLst/>
                <a:latin typeface="Courier New" panose="02070309020205020404" pitchFamily="49" charset="0"/>
              </a:rPr>
              <a:t>i</a:t>
            </a:r>
            <a:r>
              <a:rPr kumimoji="0" lang="en-US" altLang="en-US" sz="2000" b="0" i="0" u="none" strike="noStrike" cap="none" normalizeH="0" baseline="0" dirty="0">
                <a:ln>
                  <a:noFill/>
                </a:ln>
                <a:solidFill>
                  <a:srgbClr val="000000"/>
                </a:solidFill>
                <a:effectLst/>
                <a:latin typeface="Courier New" panose="02070309020205020404" pitchFamily="49" charset="0"/>
              </a:rPr>
              <a:t>] * m[j]);</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urier New" panose="02070309020205020404" pitchFamily="49" charset="0"/>
              </a:rPr>
              <a:t>      }</a:t>
            </a:r>
            <a:r>
              <a:rPr kumimoji="0" lang="en-US" altLang="en-US" sz="20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a:latin typeface="Arial" panose="020B0604020202020204" pitchFamily="34" charset="0"/>
              </a:rPr>
              <a:t>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911953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CFCE5-D884-E1A9-9AB2-D431ECF15DD8}"/>
              </a:ext>
            </a:extLst>
          </p:cNvPr>
          <p:cNvSpPr>
            <a:spLocks noGrp="1"/>
          </p:cNvSpPr>
          <p:nvPr>
            <p:ph type="title"/>
          </p:nvPr>
        </p:nvSpPr>
        <p:spPr/>
        <p:txBody>
          <a:bodyPr/>
          <a:lstStyle/>
          <a:p>
            <a:r>
              <a:rPr lang="en-US" dirty="0"/>
              <a:t>Check Point</a:t>
            </a:r>
          </a:p>
        </p:txBody>
      </p:sp>
      <p:sp>
        <p:nvSpPr>
          <p:cNvPr id="3" name="Content Placeholder 2">
            <a:extLst>
              <a:ext uri="{FF2B5EF4-FFF2-40B4-BE49-F238E27FC236}">
                <a16:creationId xmlns:a16="http://schemas.microsoft.com/office/drawing/2014/main" id="{EB0C921C-B22D-D010-124C-E06DA4A862C7}"/>
              </a:ext>
            </a:extLst>
          </p:cNvPr>
          <p:cNvSpPr>
            <a:spLocks noGrp="1"/>
          </p:cNvSpPr>
          <p:nvPr>
            <p:ph idx="1"/>
          </p:nvPr>
        </p:nvSpPr>
        <p:spPr/>
        <p:txBody>
          <a:bodyPr/>
          <a:lstStyle/>
          <a:p>
            <a:r>
              <a:rPr lang="en-US" b="0" i="0" dirty="0">
                <a:solidFill>
                  <a:srgbClr val="000000"/>
                </a:solidFill>
                <a:effectLst/>
                <a:latin typeface="Roboto" panose="02000000000000000000" pitchFamily="2" charset="0"/>
              </a:rPr>
              <a:t>The number of operations executed by algorithms A and B is  8n </a:t>
            </a:r>
            <a:r>
              <a:rPr lang="en-US" b="0" i="1" dirty="0">
                <a:solidFill>
                  <a:srgbClr val="000000"/>
                </a:solidFill>
                <a:effectLst/>
                <a:latin typeface="Roboto" panose="02000000000000000000" pitchFamily="2" charset="0"/>
              </a:rPr>
              <a:t>log</a:t>
            </a:r>
            <a:r>
              <a:rPr lang="en-US" b="0" i="0" dirty="0">
                <a:solidFill>
                  <a:srgbClr val="000000"/>
                </a:solidFill>
                <a:effectLst/>
                <a:latin typeface="Roboto" panose="02000000000000000000" pitchFamily="2" charset="0"/>
              </a:rPr>
              <a:t> n and 2n</a:t>
            </a:r>
            <a:r>
              <a:rPr lang="en-US" b="0" i="0" baseline="40000" dirty="0">
                <a:solidFill>
                  <a:srgbClr val="000000"/>
                </a:solidFill>
                <a:effectLst/>
                <a:latin typeface="Roboto" panose="02000000000000000000" pitchFamily="2" charset="0"/>
              </a:rPr>
              <a:t>2</a:t>
            </a:r>
            <a:r>
              <a:rPr lang="en-US" b="0" i="0" dirty="0">
                <a:solidFill>
                  <a:srgbClr val="000000"/>
                </a:solidFill>
                <a:effectLst/>
                <a:latin typeface="Roboto" panose="02000000000000000000" pitchFamily="2" charset="0"/>
              </a:rPr>
              <a:t>, respectively. Determine n</a:t>
            </a:r>
            <a:r>
              <a:rPr lang="en-US" b="0" i="0" baseline="-25000" dirty="0">
                <a:solidFill>
                  <a:srgbClr val="000000"/>
                </a:solidFill>
                <a:effectLst/>
                <a:latin typeface="Roboto" panose="02000000000000000000" pitchFamily="2" charset="0"/>
              </a:rPr>
              <a:t>0</a:t>
            </a:r>
            <a:r>
              <a:rPr lang="en-US" b="0" i="0" dirty="0">
                <a:solidFill>
                  <a:srgbClr val="000000"/>
                </a:solidFill>
                <a:effectLst/>
                <a:latin typeface="Roboto" panose="02000000000000000000" pitchFamily="2" charset="0"/>
              </a:rPr>
              <a:t> such that A is better than B for  n&gt;= n</a:t>
            </a:r>
            <a:r>
              <a:rPr lang="en-US" b="0" i="0" baseline="-25000" dirty="0">
                <a:solidFill>
                  <a:srgbClr val="000000"/>
                </a:solidFill>
                <a:effectLst/>
                <a:latin typeface="Roboto" panose="02000000000000000000" pitchFamily="2" charset="0"/>
              </a:rPr>
              <a:t>0</a:t>
            </a:r>
            <a:endParaRPr lang="en-US" dirty="0"/>
          </a:p>
        </p:txBody>
      </p:sp>
      <p:sp>
        <p:nvSpPr>
          <p:cNvPr id="4" name="Slide Number Placeholder 3">
            <a:extLst>
              <a:ext uri="{FF2B5EF4-FFF2-40B4-BE49-F238E27FC236}">
                <a16:creationId xmlns:a16="http://schemas.microsoft.com/office/drawing/2014/main" id="{86342A3A-B9AB-2307-A80B-2E7B640DB1C6}"/>
              </a:ext>
            </a:extLst>
          </p:cNvPr>
          <p:cNvSpPr>
            <a:spLocks noGrp="1"/>
          </p:cNvSpPr>
          <p:nvPr>
            <p:ph type="sldNum" sz="quarter" idx="11"/>
          </p:nvPr>
        </p:nvSpPr>
        <p:spPr/>
        <p:txBody>
          <a:bodyPr/>
          <a:lstStyle/>
          <a:p>
            <a:pPr>
              <a:defRPr/>
            </a:pPr>
            <a:fld id="{0906D619-5E3B-4A71-B141-FF8AEF8EAC81}" type="slidenum">
              <a:rPr lang="en-US" altLang="en-US" smtClean="0"/>
              <a:pPr>
                <a:defRPr/>
              </a:pPr>
              <a:t>24</a:t>
            </a:fld>
            <a:endParaRPr lang="en-US" altLang="en-US"/>
          </a:p>
        </p:txBody>
      </p:sp>
    </p:spTree>
    <p:extLst>
      <p:ext uri="{BB962C8B-B14F-4D97-AF65-F5344CB8AC3E}">
        <p14:creationId xmlns:p14="http://schemas.microsoft.com/office/powerpoint/2010/main" val="16266556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96B88-1954-781E-4B76-71C6C85ED233}"/>
              </a:ext>
            </a:extLst>
          </p:cNvPr>
          <p:cNvSpPr>
            <a:spLocks noGrp="1"/>
          </p:cNvSpPr>
          <p:nvPr>
            <p:ph type="title"/>
          </p:nvPr>
        </p:nvSpPr>
        <p:spPr/>
        <p:txBody>
          <a:bodyPr/>
          <a:lstStyle/>
          <a:p>
            <a:r>
              <a:rPr lang="en-US" dirty="0"/>
              <a:t>Check Point</a:t>
            </a:r>
          </a:p>
        </p:txBody>
      </p:sp>
      <p:sp>
        <p:nvSpPr>
          <p:cNvPr id="4" name="Slide Number Placeholder 3">
            <a:extLst>
              <a:ext uri="{FF2B5EF4-FFF2-40B4-BE49-F238E27FC236}">
                <a16:creationId xmlns:a16="http://schemas.microsoft.com/office/drawing/2014/main" id="{3B12FAB1-37AD-2968-8553-DFD39DA7653E}"/>
              </a:ext>
            </a:extLst>
          </p:cNvPr>
          <p:cNvSpPr>
            <a:spLocks noGrp="1"/>
          </p:cNvSpPr>
          <p:nvPr>
            <p:ph type="sldNum" sz="quarter" idx="11"/>
          </p:nvPr>
        </p:nvSpPr>
        <p:spPr/>
        <p:txBody>
          <a:bodyPr/>
          <a:lstStyle/>
          <a:p>
            <a:pPr>
              <a:defRPr/>
            </a:pPr>
            <a:fld id="{0906D619-5E3B-4A71-B141-FF8AEF8EAC81}" type="slidenum">
              <a:rPr lang="en-US" altLang="en-US" smtClean="0"/>
              <a:pPr>
                <a:defRPr/>
              </a:pPr>
              <a:t>25</a:t>
            </a:fld>
            <a:endParaRPr lang="en-US" altLang="en-US"/>
          </a:p>
        </p:txBody>
      </p:sp>
      <p:sp>
        <p:nvSpPr>
          <p:cNvPr id="5" name="Rectangle 1">
            <a:extLst>
              <a:ext uri="{FF2B5EF4-FFF2-40B4-BE49-F238E27FC236}">
                <a16:creationId xmlns:a16="http://schemas.microsoft.com/office/drawing/2014/main" id="{C71D6492-B381-066E-77B6-9F766B4CB532}"/>
              </a:ext>
            </a:extLst>
          </p:cNvPr>
          <p:cNvSpPr>
            <a:spLocks noGrp="1" noChangeArrowheads="1"/>
          </p:cNvSpPr>
          <p:nvPr>
            <p:ph idx="1"/>
          </p:nvPr>
        </p:nvSpPr>
        <p:spPr bwMode="auto">
          <a:xfrm>
            <a:off x="990600" y="1600200"/>
            <a:ext cx="6478055" cy="424731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Roboto" panose="02000000000000000000" pitchFamily="2" charset="0"/>
              </a:rPr>
              <a:t>For each of the following code fragments, identify the running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Roboto" panose="02000000000000000000" pitchFamily="2" charset="0"/>
              </a:rPr>
              <a:t> time in terms of variable </a:t>
            </a:r>
            <a:r>
              <a:rPr kumimoji="0" lang="en-US" altLang="en-US" sz="1000" b="0" i="0" u="none" strike="noStrike" cap="none" normalizeH="0" baseline="0" dirty="0">
                <a:ln>
                  <a:noFill/>
                </a:ln>
                <a:solidFill>
                  <a:srgbClr val="000000"/>
                </a:solidFill>
                <a:effectLst/>
                <a:latin typeface="Courier"/>
              </a:rPr>
              <a:t>n</a:t>
            </a:r>
            <a:r>
              <a:rPr kumimoji="0" lang="en-US" altLang="en-US" sz="300" b="0" i="0" u="none" strike="noStrike" cap="none" normalizeH="0" baseline="0" dirty="0">
                <a:ln>
                  <a:noFill/>
                </a:ln>
                <a:solidFill>
                  <a:srgbClr val="000000"/>
                </a:solidFill>
                <a:effectLst/>
                <a:latin typeface="Roboto" panose="02000000000000000000" pitchFamily="2" charset="0"/>
              </a:rPr>
              <a:t>.</a:t>
            </a:r>
            <a:r>
              <a:rPr kumimoji="0" lang="en-US" altLang="en-US" sz="18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p>
          <a:p>
            <a:pPr marL="0" indent="0">
              <a:spcBef>
                <a:spcPct val="0"/>
              </a:spcBef>
              <a:buClrTx/>
              <a:buSzTx/>
              <a:buNone/>
            </a:pPr>
            <a:r>
              <a:rPr kumimoji="0" lang="en-US" altLang="en-US" sz="1800" b="1" i="0" u="none" strike="noStrike" cap="none" normalizeH="0" baseline="0" dirty="0">
                <a:ln>
                  <a:noFill/>
                </a:ln>
                <a:solidFill>
                  <a:srgbClr val="000000"/>
                </a:solidFill>
                <a:effectLst/>
                <a:latin typeface="Courier"/>
              </a:rPr>
              <a:t>int total=0; </a:t>
            </a:r>
          </a:p>
          <a:p>
            <a:pPr marL="0" indent="0">
              <a:spcBef>
                <a:spcPct val="0"/>
              </a:spcBef>
              <a:buClrTx/>
              <a:buSzTx/>
              <a:buNone/>
            </a:pPr>
            <a:r>
              <a:rPr kumimoji="0" lang="en-US" altLang="en-US" sz="1800" b="1" i="0" u="none" strike="noStrike" cap="none" normalizeH="0" baseline="0" dirty="0">
                <a:ln>
                  <a:noFill/>
                </a:ln>
                <a:solidFill>
                  <a:srgbClr val="000000"/>
                </a:solidFill>
                <a:effectLst/>
                <a:latin typeface="Courier"/>
              </a:rPr>
              <a:t>for (int j=0; j &lt; n; </a:t>
            </a:r>
            <a:r>
              <a:rPr kumimoji="0" lang="en-US" altLang="en-US" sz="1800" b="1" i="0" u="none" strike="noStrike" cap="none" normalizeH="0" baseline="0" dirty="0" err="1">
                <a:ln>
                  <a:noFill/>
                </a:ln>
                <a:solidFill>
                  <a:srgbClr val="000000"/>
                </a:solidFill>
                <a:effectLst/>
                <a:latin typeface="Courier"/>
              </a:rPr>
              <a:t>j++</a:t>
            </a:r>
            <a:r>
              <a:rPr kumimoji="0" lang="en-US" altLang="en-US" sz="1800" b="1" i="0" u="none" strike="noStrike" cap="none" normalizeH="0" baseline="0" dirty="0">
                <a:ln>
                  <a:noFill/>
                </a:ln>
                <a:solidFill>
                  <a:srgbClr val="000000"/>
                </a:solidFill>
                <a:effectLst/>
                <a:latin typeface="Courier"/>
              </a:rPr>
              <a:t>) { </a:t>
            </a:r>
          </a:p>
          <a:p>
            <a:pPr marL="0" indent="0">
              <a:spcBef>
                <a:spcPct val="0"/>
              </a:spcBef>
              <a:buClrTx/>
              <a:buSzTx/>
              <a:buNone/>
            </a:pPr>
            <a:r>
              <a:rPr lang="en-US" altLang="en-US" sz="1800" b="1" dirty="0">
                <a:solidFill>
                  <a:srgbClr val="000000"/>
                </a:solidFill>
                <a:latin typeface="Courier"/>
              </a:rPr>
              <a:t>  </a:t>
            </a:r>
            <a:r>
              <a:rPr kumimoji="0" lang="en-US" altLang="en-US" sz="1800" b="1" i="0" u="none" strike="noStrike" cap="none" normalizeH="0" baseline="0" dirty="0">
                <a:ln>
                  <a:noFill/>
                </a:ln>
                <a:solidFill>
                  <a:srgbClr val="000000"/>
                </a:solidFill>
                <a:effectLst/>
                <a:latin typeface="Courier"/>
              </a:rPr>
              <a:t>total += data[j]; </a:t>
            </a:r>
          </a:p>
          <a:p>
            <a:pPr marL="0" indent="0">
              <a:spcBef>
                <a:spcPct val="0"/>
              </a:spcBef>
              <a:buClrTx/>
              <a:buSzTx/>
              <a:buNone/>
            </a:pPr>
            <a:r>
              <a:rPr kumimoji="0" lang="en-US" altLang="en-US" sz="1800" b="1" i="0" u="none" strike="noStrike" cap="none" normalizeH="0" baseline="0" dirty="0">
                <a:ln>
                  <a:noFill/>
                </a:ln>
                <a:solidFill>
                  <a:srgbClr val="000000"/>
                </a:solidFill>
                <a:effectLst/>
                <a:latin typeface="Courier"/>
              </a:rPr>
              <a:t>} </a:t>
            </a:r>
          </a:p>
          <a:p>
            <a:pPr marL="0" indent="0">
              <a:spcBef>
                <a:spcPct val="0"/>
              </a:spcBef>
              <a:buClrTx/>
              <a:buSzTx/>
              <a:buNone/>
            </a:pPr>
            <a:r>
              <a:rPr kumimoji="0" lang="en-US" altLang="en-US" sz="1800" b="1" i="0" u="none" strike="noStrike" cap="none" normalizeH="0" baseline="0" dirty="0">
                <a:ln>
                  <a:noFill/>
                </a:ln>
                <a:solidFill>
                  <a:srgbClr val="000000"/>
                </a:solidFill>
                <a:effectLst/>
                <a:latin typeface="Courier"/>
              </a:rPr>
              <a:t>int big=data[0]; </a:t>
            </a:r>
          </a:p>
          <a:p>
            <a:pPr marL="0" indent="0">
              <a:spcBef>
                <a:spcPct val="0"/>
              </a:spcBef>
              <a:buClrTx/>
              <a:buSzTx/>
              <a:buNone/>
            </a:pPr>
            <a:r>
              <a:rPr kumimoji="0" lang="en-US" altLang="en-US" sz="1800" b="1" i="0" u="none" strike="noStrike" cap="none" normalizeH="0" baseline="0" dirty="0">
                <a:ln>
                  <a:noFill/>
                </a:ln>
                <a:solidFill>
                  <a:srgbClr val="000000"/>
                </a:solidFill>
                <a:effectLst/>
                <a:latin typeface="Courier"/>
              </a:rPr>
              <a:t>for (int k=1; k &lt; n; k++) </a:t>
            </a:r>
          </a:p>
          <a:p>
            <a:pPr marL="0" indent="0">
              <a:spcBef>
                <a:spcPct val="0"/>
              </a:spcBef>
              <a:buClrTx/>
              <a:buSzTx/>
              <a:buNone/>
            </a:pPr>
            <a:r>
              <a:rPr kumimoji="0" lang="en-US" altLang="en-US" sz="1800" b="1" i="0" u="none" strike="noStrike" cap="none" normalizeH="0" baseline="0" dirty="0">
                <a:ln>
                  <a:noFill/>
                </a:ln>
                <a:solidFill>
                  <a:srgbClr val="000000"/>
                </a:solidFill>
                <a:effectLst/>
                <a:latin typeface="Courier"/>
              </a:rPr>
              <a:t>{ </a:t>
            </a:r>
          </a:p>
          <a:p>
            <a:pPr marL="0" indent="0">
              <a:spcBef>
                <a:spcPct val="0"/>
              </a:spcBef>
              <a:buClrTx/>
              <a:buSzTx/>
              <a:buNone/>
            </a:pPr>
            <a:r>
              <a:rPr lang="en-US" altLang="en-US" sz="1800" b="1" dirty="0">
                <a:solidFill>
                  <a:srgbClr val="000000"/>
                </a:solidFill>
                <a:latin typeface="Courier"/>
              </a:rPr>
              <a:t>  </a:t>
            </a:r>
            <a:r>
              <a:rPr kumimoji="0" lang="en-US" altLang="en-US" sz="1800" b="1" i="0" u="none" strike="noStrike" cap="none" normalizeH="0" baseline="0" dirty="0">
                <a:ln>
                  <a:noFill/>
                </a:ln>
                <a:solidFill>
                  <a:srgbClr val="000000"/>
                </a:solidFill>
                <a:effectLst/>
                <a:latin typeface="Courier"/>
              </a:rPr>
              <a:t>big = </a:t>
            </a:r>
            <a:r>
              <a:rPr kumimoji="0" lang="en-US" altLang="en-US" sz="1800" b="1" i="0" u="none" strike="noStrike" cap="none" normalizeH="0" baseline="0" dirty="0" err="1">
                <a:ln>
                  <a:noFill/>
                </a:ln>
                <a:solidFill>
                  <a:srgbClr val="000000"/>
                </a:solidFill>
                <a:effectLst/>
                <a:latin typeface="Courier"/>
              </a:rPr>
              <a:t>Math.max</a:t>
            </a:r>
            <a:r>
              <a:rPr kumimoji="0" lang="en-US" altLang="en-US" sz="1800" b="1" i="0" u="none" strike="noStrike" cap="none" normalizeH="0" baseline="0" dirty="0">
                <a:ln>
                  <a:noFill/>
                </a:ln>
                <a:solidFill>
                  <a:srgbClr val="000000"/>
                </a:solidFill>
                <a:effectLst/>
                <a:latin typeface="Courier"/>
              </a:rPr>
              <a:t>(big, data[k]); </a:t>
            </a:r>
          </a:p>
          <a:p>
            <a:pPr marL="0" indent="0">
              <a:spcBef>
                <a:spcPct val="0"/>
              </a:spcBef>
              <a:buClrTx/>
              <a:buSzTx/>
              <a:buNone/>
            </a:pPr>
            <a:r>
              <a:rPr kumimoji="0" lang="en-US" altLang="en-US" sz="1800" b="1" i="0" u="none" strike="noStrike" cap="none" normalizeH="0" baseline="0" dirty="0">
                <a:ln>
                  <a:noFill/>
                </a:ln>
                <a:solidFill>
                  <a:srgbClr val="000000"/>
                </a:solidFill>
                <a:effectLst/>
                <a:latin typeface="Courier"/>
              </a:rPr>
              <a:t>}</a:t>
            </a:r>
            <a:r>
              <a:rPr kumimoji="0" lang="en-US" altLang="en-US" sz="1800" b="1" i="0" u="none" strike="noStrike" cap="none" normalizeH="0" baseline="0" dirty="0">
                <a:ln>
                  <a:noFill/>
                </a:ln>
                <a:solidFill>
                  <a:schemeClr val="tx1"/>
                </a:solidFill>
                <a:effectLst/>
              </a:rPr>
              <a:t> </a:t>
            </a: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8F37CDFD-2834-BBA1-BA60-4BA12C209DFF}"/>
              </a:ext>
            </a:extLst>
          </p:cNvPr>
          <p:cNvSpPr>
            <a:spLocks noChangeArrowheads="1"/>
          </p:cNvSpPr>
          <p:nvPr/>
        </p:nvSpPr>
        <p:spPr bwMode="auto">
          <a:xfrm>
            <a:off x="228600" y="14725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627990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96B88-1954-781E-4B76-71C6C85ED233}"/>
              </a:ext>
            </a:extLst>
          </p:cNvPr>
          <p:cNvSpPr>
            <a:spLocks noGrp="1"/>
          </p:cNvSpPr>
          <p:nvPr>
            <p:ph type="title"/>
          </p:nvPr>
        </p:nvSpPr>
        <p:spPr/>
        <p:txBody>
          <a:bodyPr/>
          <a:lstStyle/>
          <a:p>
            <a:r>
              <a:rPr lang="en-US" dirty="0"/>
              <a:t>Check Point</a:t>
            </a:r>
          </a:p>
        </p:txBody>
      </p:sp>
      <p:sp>
        <p:nvSpPr>
          <p:cNvPr id="4" name="Slide Number Placeholder 3">
            <a:extLst>
              <a:ext uri="{FF2B5EF4-FFF2-40B4-BE49-F238E27FC236}">
                <a16:creationId xmlns:a16="http://schemas.microsoft.com/office/drawing/2014/main" id="{3B12FAB1-37AD-2968-8553-DFD39DA7653E}"/>
              </a:ext>
            </a:extLst>
          </p:cNvPr>
          <p:cNvSpPr>
            <a:spLocks noGrp="1"/>
          </p:cNvSpPr>
          <p:nvPr>
            <p:ph type="sldNum" sz="quarter" idx="11"/>
          </p:nvPr>
        </p:nvSpPr>
        <p:spPr/>
        <p:txBody>
          <a:bodyPr/>
          <a:lstStyle/>
          <a:p>
            <a:pPr>
              <a:defRPr/>
            </a:pPr>
            <a:fld id="{0906D619-5E3B-4A71-B141-FF8AEF8EAC81}" type="slidenum">
              <a:rPr lang="en-US" altLang="en-US" smtClean="0"/>
              <a:pPr>
                <a:defRPr/>
              </a:pPr>
              <a:t>26</a:t>
            </a:fld>
            <a:endParaRPr lang="en-US" altLang="en-US"/>
          </a:p>
        </p:txBody>
      </p:sp>
      <p:sp>
        <p:nvSpPr>
          <p:cNvPr id="5" name="Rectangle 1">
            <a:extLst>
              <a:ext uri="{FF2B5EF4-FFF2-40B4-BE49-F238E27FC236}">
                <a16:creationId xmlns:a16="http://schemas.microsoft.com/office/drawing/2014/main" id="{C71D6492-B381-066E-77B6-9F766B4CB532}"/>
              </a:ext>
            </a:extLst>
          </p:cNvPr>
          <p:cNvSpPr>
            <a:spLocks noGrp="1" noChangeArrowheads="1"/>
          </p:cNvSpPr>
          <p:nvPr>
            <p:ph idx="1"/>
          </p:nvPr>
        </p:nvSpPr>
        <p:spPr bwMode="auto">
          <a:xfrm>
            <a:off x="1027645" y="1752600"/>
            <a:ext cx="6478055" cy="520142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Roboto" panose="02000000000000000000" pitchFamily="2" charset="0"/>
              </a:rPr>
              <a:t>For each of the following code fragments, identify the running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Roboto" panose="02000000000000000000" pitchFamily="2" charset="0"/>
              </a:rPr>
              <a:t> time in terms of variable </a:t>
            </a:r>
            <a:r>
              <a:rPr kumimoji="0" lang="en-US" altLang="en-US" sz="1000" b="0" i="0" u="none" strike="noStrike" cap="none" normalizeH="0" baseline="0" dirty="0">
                <a:ln>
                  <a:noFill/>
                </a:ln>
                <a:solidFill>
                  <a:srgbClr val="000000"/>
                </a:solidFill>
                <a:effectLst/>
                <a:latin typeface="Courier"/>
              </a:rPr>
              <a:t>n</a:t>
            </a:r>
            <a:r>
              <a:rPr kumimoji="0" lang="en-US" altLang="en-US" sz="300" b="0" i="0" u="none" strike="noStrike" cap="none" normalizeH="0" baseline="0" dirty="0">
                <a:ln>
                  <a:noFill/>
                </a:ln>
                <a:solidFill>
                  <a:srgbClr val="000000"/>
                </a:solidFill>
                <a:effectLst/>
                <a:latin typeface="Roboto" panose="02000000000000000000" pitchFamily="2" charset="0"/>
              </a:rPr>
              <a:t>.</a:t>
            </a:r>
            <a:r>
              <a:rPr kumimoji="0" lang="en-US" altLang="en-US" sz="18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p>
          <a:p>
            <a:pPr marL="0" marR="0" lvl="0" indent="0" algn="l" defTabSz="914400" rtl="0" eaLnBrk="0" fontAlgn="ctr"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Courier"/>
              </a:rPr>
              <a:t>int gaps=0; </a:t>
            </a:r>
          </a:p>
          <a:p>
            <a:pPr marL="0" marR="0" lvl="0" indent="0" algn="l" defTabSz="914400" rtl="0" eaLnBrk="0" fontAlgn="ctr"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Courier"/>
              </a:rPr>
              <a:t>for (int j=0; j &lt; n; </a:t>
            </a:r>
            <a:r>
              <a:rPr kumimoji="0" lang="en-US" altLang="en-US" sz="1800" b="1" i="0" u="none" strike="noStrike" cap="none" normalizeH="0" baseline="0" dirty="0" err="1">
                <a:ln>
                  <a:noFill/>
                </a:ln>
                <a:solidFill>
                  <a:srgbClr val="000000"/>
                </a:solidFill>
                <a:effectLst/>
                <a:latin typeface="Courier"/>
              </a:rPr>
              <a:t>j++</a:t>
            </a:r>
            <a:r>
              <a:rPr kumimoji="0" lang="en-US" altLang="en-US" sz="1800" b="1" i="0" u="none" strike="noStrike" cap="none" normalizeH="0" baseline="0" dirty="0">
                <a:ln>
                  <a:noFill/>
                </a:ln>
                <a:solidFill>
                  <a:srgbClr val="000000"/>
                </a:solidFill>
                <a:effectLst/>
                <a:latin typeface="Courier"/>
              </a:rPr>
              <a:t>) </a:t>
            </a:r>
          </a:p>
          <a:p>
            <a:pPr marL="0" marR="0" lvl="0" indent="0" algn="l" defTabSz="914400" rtl="0" eaLnBrk="0" fontAlgn="ctr"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Courier"/>
              </a:rPr>
              <a:t>{ </a:t>
            </a:r>
          </a:p>
          <a:p>
            <a:pPr marL="0" marR="0" lvl="0" indent="0" algn="l" defTabSz="914400" rtl="0" eaLnBrk="0" fontAlgn="ctr"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Courier"/>
              </a:rPr>
              <a:t>   for (int k=j; k &lt; n; k++) { </a:t>
            </a:r>
          </a:p>
          <a:p>
            <a:pPr marL="0" marR="0" lvl="0" indent="0" algn="l" defTabSz="914400" rtl="0" eaLnBrk="0" fontAlgn="ctr"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Courier"/>
              </a:rPr>
              <a:t>   // note k=j </a:t>
            </a:r>
            <a:r>
              <a:rPr kumimoji="0" lang="en-US" altLang="en-US" sz="1800" b="1" i="0" u="none" strike="noStrike" cap="none" normalizeH="0" baseline="0" dirty="0" err="1">
                <a:ln>
                  <a:noFill/>
                </a:ln>
                <a:solidFill>
                  <a:srgbClr val="000000"/>
                </a:solidFill>
                <a:effectLst/>
                <a:latin typeface="Courier"/>
              </a:rPr>
              <a:t>init</a:t>
            </a:r>
            <a:r>
              <a:rPr kumimoji="0" lang="en-US" altLang="en-US" sz="1800" b="1" i="0" u="none" strike="noStrike" cap="none" normalizeH="0" baseline="0" dirty="0">
                <a:ln>
                  <a:noFill/>
                </a:ln>
                <a:solidFill>
                  <a:srgbClr val="000000"/>
                </a:solidFill>
                <a:effectLst/>
                <a:latin typeface="Courier"/>
              </a:rPr>
              <a:t> </a:t>
            </a:r>
          </a:p>
          <a:p>
            <a:pPr marL="0" marR="0" lvl="0" indent="0" algn="l" defTabSz="914400" rtl="0" eaLnBrk="0" fontAlgn="ctr" latinLnBrk="0" hangingPunct="0">
              <a:lnSpc>
                <a:spcPct val="100000"/>
              </a:lnSpc>
              <a:spcBef>
                <a:spcPct val="0"/>
              </a:spcBef>
              <a:spcAft>
                <a:spcPct val="0"/>
              </a:spcAft>
              <a:buClrTx/>
              <a:buSzTx/>
              <a:buFontTx/>
              <a:buNone/>
              <a:tabLst/>
            </a:pPr>
            <a:r>
              <a:rPr lang="en-US" altLang="en-US" sz="1800" b="1" dirty="0">
                <a:solidFill>
                  <a:srgbClr val="000000"/>
                </a:solidFill>
                <a:latin typeface="Courier"/>
              </a:rPr>
              <a:t>   </a:t>
            </a:r>
            <a:r>
              <a:rPr kumimoji="0" lang="en-US" altLang="en-US" sz="1800" b="1" i="0" u="none" strike="noStrike" cap="none" normalizeH="0" baseline="0" dirty="0">
                <a:ln>
                  <a:noFill/>
                </a:ln>
                <a:solidFill>
                  <a:srgbClr val="000000"/>
                </a:solidFill>
                <a:effectLst/>
                <a:latin typeface="Courier"/>
              </a:rPr>
              <a:t>gaps += k-j; </a:t>
            </a:r>
          </a:p>
          <a:p>
            <a:pPr marL="0" marR="0" lvl="0" indent="0" algn="l" defTabSz="914400" rtl="0" eaLnBrk="0" fontAlgn="ctr" latinLnBrk="0" hangingPunct="0">
              <a:lnSpc>
                <a:spcPct val="100000"/>
              </a:lnSpc>
              <a:spcBef>
                <a:spcPct val="0"/>
              </a:spcBef>
              <a:spcAft>
                <a:spcPct val="0"/>
              </a:spcAft>
              <a:buClrTx/>
              <a:buSzTx/>
              <a:buFontTx/>
              <a:buNone/>
              <a:tabLst/>
            </a:pPr>
            <a:r>
              <a:rPr lang="en-US" altLang="en-US" sz="1800" b="1" dirty="0">
                <a:solidFill>
                  <a:srgbClr val="000000"/>
                </a:solidFill>
                <a:latin typeface="Courier"/>
              </a:rPr>
              <a:t>   </a:t>
            </a:r>
            <a:r>
              <a:rPr kumimoji="0" lang="en-US" altLang="en-US" sz="1800" b="1" i="0" u="none" strike="noStrike" cap="none" normalizeH="0" baseline="0" dirty="0">
                <a:ln>
                  <a:noFill/>
                </a:ln>
                <a:solidFill>
                  <a:srgbClr val="000000"/>
                </a:solidFill>
                <a:effectLst/>
                <a:latin typeface="Courier"/>
              </a:rPr>
              <a:t>} </a:t>
            </a:r>
          </a:p>
          <a:p>
            <a:pPr marL="0" marR="0" lvl="0" indent="0" algn="l" defTabSz="914400" rtl="0" eaLnBrk="0" fontAlgn="ctr"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Courier"/>
              </a:rPr>
              <a:t>} </a:t>
            </a:r>
            <a:endParaRPr kumimoji="0" lang="en-US" altLang="en-US" sz="1800" b="1" i="0" u="none" strike="noStrike" cap="none" normalizeH="0" baseline="0" dirty="0">
              <a:ln>
                <a:noFill/>
              </a:ln>
              <a:solidFill>
                <a:srgbClr val="000000"/>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4000" b="0" i="0" u="none" strike="noStrike" cap="none" normalizeH="0" baseline="0" dirty="0">
                <a:ln>
                  <a:noFill/>
                </a:ln>
                <a:solidFill>
                  <a:srgbClr val="000000"/>
                </a:solidFill>
                <a:effectLst/>
                <a:latin typeface="Roboto" panose="02000000000000000000" pitchFamily="2" charset="0"/>
              </a:rPr>
            </a:br>
            <a:endParaRPr kumimoji="0" lang="en-US" altLang="en-US" sz="4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8F37CDFD-2834-BBA1-BA60-4BA12C209DFF}"/>
              </a:ext>
            </a:extLst>
          </p:cNvPr>
          <p:cNvSpPr>
            <a:spLocks noChangeArrowheads="1"/>
          </p:cNvSpPr>
          <p:nvPr/>
        </p:nvSpPr>
        <p:spPr bwMode="auto">
          <a:xfrm>
            <a:off x="228600" y="14725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36609044-480F-7CF9-DFBE-AB67EE958AB3}"/>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ctr"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74823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96B88-1954-781E-4B76-71C6C85ED233}"/>
              </a:ext>
            </a:extLst>
          </p:cNvPr>
          <p:cNvSpPr>
            <a:spLocks noGrp="1"/>
          </p:cNvSpPr>
          <p:nvPr>
            <p:ph type="title"/>
          </p:nvPr>
        </p:nvSpPr>
        <p:spPr/>
        <p:txBody>
          <a:bodyPr/>
          <a:lstStyle/>
          <a:p>
            <a:r>
              <a:rPr lang="en-US" dirty="0"/>
              <a:t>Check Point</a:t>
            </a:r>
          </a:p>
        </p:txBody>
      </p:sp>
      <p:sp>
        <p:nvSpPr>
          <p:cNvPr id="4" name="Slide Number Placeholder 3">
            <a:extLst>
              <a:ext uri="{FF2B5EF4-FFF2-40B4-BE49-F238E27FC236}">
                <a16:creationId xmlns:a16="http://schemas.microsoft.com/office/drawing/2014/main" id="{3B12FAB1-37AD-2968-8553-DFD39DA7653E}"/>
              </a:ext>
            </a:extLst>
          </p:cNvPr>
          <p:cNvSpPr>
            <a:spLocks noGrp="1"/>
          </p:cNvSpPr>
          <p:nvPr>
            <p:ph type="sldNum" sz="quarter" idx="11"/>
          </p:nvPr>
        </p:nvSpPr>
        <p:spPr/>
        <p:txBody>
          <a:bodyPr/>
          <a:lstStyle/>
          <a:p>
            <a:pPr>
              <a:defRPr/>
            </a:pPr>
            <a:fld id="{0906D619-5E3B-4A71-B141-FF8AEF8EAC81}" type="slidenum">
              <a:rPr lang="en-US" altLang="en-US" smtClean="0"/>
              <a:pPr>
                <a:defRPr/>
              </a:pPr>
              <a:t>27</a:t>
            </a:fld>
            <a:endParaRPr lang="en-US" altLang="en-US"/>
          </a:p>
        </p:txBody>
      </p:sp>
      <p:sp>
        <p:nvSpPr>
          <p:cNvPr id="5" name="Rectangle 1">
            <a:extLst>
              <a:ext uri="{FF2B5EF4-FFF2-40B4-BE49-F238E27FC236}">
                <a16:creationId xmlns:a16="http://schemas.microsoft.com/office/drawing/2014/main" id="{C71D6492-B381-066E-77B6-9F766B4CB532}"/>
              </a:ext>
            </a:extLst>
          </p:cNvPr>
          <p:cNvSpPr>
            <a:spLocks noGrp="1" noChangeArrowheads="1"/>
          </p:cNvSpPr>
          <p:nvPr>
            <p:ph idx="1"/>
          </p:nvPr>
        </p:nvSpPr>
        <p:spPr bwMode="auto">
          <a:xfrm>
            <a:off x="1143000" y="1519795"/>
            <a:ext cx="6478055" cy="544764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Roboto" panose="02000000000000000000" pitchFamily="2" charset="0"/>
              </a:rPr>
              <a:t>For each of the following code fragments, identify the running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Roboto" panose="02000000000000000000" pitchFamily="2" charset="0"/>
              </a:rPr>
              <a:t> time in terms of variable </a:t>
            </a:r>
            <a:r>
              <a:rPr kumimoji="0" lang="en-US" altLang="en-US" sz="1000" b="0" i="0" u="none" strike="noStrike" cap="none" normalizeH="0" baseline="0" dirty="0">
                <a:ln>
                  <a:noFill/>
                </a:ln>
                <a:solidFill>
                  <a:srgbClr val="000000"/>
                </a:solidFill>
                <a:effectLst/>
                <a:latin typeface="Courier"/>
              </a:rPr>
              <a:t>n</a:t>
            </a:r>
            <a:r>
              <a:rPr kumimoji="0" lang="en-US" altLang="en-US" sz="300" b="0" i="0" u="none" strike="noStrike" cap="none" normalizeH="0" baseline="0" dirty="0">
                <a:ln>
                  <a:noFill/>
                </a:ln>
                <a:solidFill>
                  <a:srgbClr val="000000"/>
                </a:solidFill>
                <a:effectLst/>
                <a:latin typeface="Roboto" panose="02000000000000000000" pitchFamily="2" charset="0"/>
              </a:rPr>
              <a:t>.</a:t>
            </a:r>
            <a:r>
              <a:rPr kumimoji="0" lang="en-US" altLang="en-US" sz="18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Courier"/>
              </a:rPr>
              <a:t>int steps=0;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Courier"/>
              </a:rPr>
              <a:t>for (int k=1; k &lt; n; k *= 2)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Courier"/>
              </a:rPr>
              <a:t>{ // note k*=2 update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solidFill>
                  <a:srgbClr val="000000"/>
                </a:solidFill>
                <a:latin typeface="Courier"/>
              </a:rPr>
              <a:t>  </a:t>
            </a:r>
            <a:r>
              <a:rPr kumimoji="0" lang="en-US" altLang="en-US" sz="2000" b="1" i="0" u="none" strike="noStrike" cap="none" normalizeH="0" baseline="0" dirty="0">
                <a:ln>
                  <a:noFill/>
                </a:ln>
                <a:solidFill>
                  <a:srgbClr val="000000"/>
                </a:solidFill>
                <a:effectLst/>
                <a:latin typeface="Courier"/>
              </a:rPr>
              <a:t>for (int j=0; j &lt; k; </a:t>
            </a:r>
            <a:r>
              <a:rPr kumimoji="0" lang="en-US" altLang="en-US" sz="2000" b="1" i="0" u="none" strike="noStrike" cap="none" normalizeH="0" baseline="0" dirty="0" err="1">
                <a:ln>
                  <a:noFill/>
                </a:ln>
                <a:solidFill>
                  <a:srgbClr val="000000"/>
                </a:solidFill>
                <a:effectLst/>
                <a:latin typeface="Courier"/>
              </a:rPr>
              <a:t>j++</a:t>
            </a:r>
            <a:r>
              <a:rPr kumimoji="0" lang="en-US" altLang="en-US" sz="2000" b="1" i="0" u="none" strike="noStrike" cap="none" normalizeH="0" baseline="0" dirty="0">
                <a:ln>
                  <a:noFill/>
                </a:ln>
                <a:solidFill>
                  <a:srgbClr val="000000"/>
                </a:solidFill>
                <a:effectLst/>
                <a:latin typeface="Courier"/>
              </a:rPr>
              <a:t>)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solidFill>
                  <a:srgbClr val="000000"/>
                </a:solidFill>
                <a:latin typeface="Courier"/>
              </a:rPr>
              <a:t>  </a:t>
            </a:r>
            <a:r>
              <a:rPr kumimoji="0" lang="en-US" altLang="en-US" sz="2000" b="1" i="0" u="none" strike="noStrike" cap="none" normalizeH="0" baseline="0" dirty="0">
                <a:ln>
                  <a:noFill/>
                </a:ln>
                <a:solidFill>
                  <a:srgbClr val="000000"/>
                </a:solidFill>
                <a:effectLst/>
                <a:latin typeface="Courier"/>
              </a:rPr>
              <a:t>// note j&lt;k condition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solidFill>
                  <a:srgbClr val="000000"/>
                </a:solidFill>
                <a:latin typeface="Courier"/>
              </a:rPr>
              <a:t>  </a:t>
            </a:r>
            <a:r>
              <a:rPr kumimoji="0" lang="en-US" altLang="en-US" sz="2000" b="1" i="0" u="none" strike="noStrike" cap="none" normalizeH="0" baseline="0" dirty="0">
                <a:ln>
                  <a:noFill/>
                </a:ln>
                <a:solidFill>
                  <a:srgbClr val="000000"/>
                </a:solidFill>
                <a:effectLst/>
                <a:latin typeface="Courier"/>
              </a:rPr>
              <a:t>steps++;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solidFill>
                  <a:srgbClr val="000000"/>
                </a:solidFill>
                <a:latin typeface="Courier"/>
              </a:rPr>
              <a:t>  </a:t>
            </a:r>
            <a:r>
              <a:rPr kumimoji="0" lang="en-US" altLang="en-US" sz="2000" b="1" i="0" u="none" strike="noStrike" cap="none" normalizeH="0" baseline="0" dirty="0">
                <a:ln>
                  <a:noFill/>
                </a:ln>
                <a:solidFill>
                  <a:srgbClr val="000000"/>
                </a:solidFill>
                <a:effectLst/>
                <a:latin typeface="Courier"/>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Courier"/>
              </a:rPr>
              <a:t>}</a:t>
            </a:r>
            <a:r>
              <a:rPr kumimoji="0" lang="en-US" altLang="en-US" sz="2000" b="1" i="0" u="none" strike="noStrike" cap="none" normalizeH="0" baseline="0" dirty="0">
                <a:ln>
                  <a:noFill/>
                </a:ln>
                <a:solidFill>
                  <a:schemeClr val="tx1"/>
                </a:solidFill>
                <a:effectLst/>
              </a:rPr>
              <a:t> </a:t>
            </a: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4000" b="0" i="0" u="none" strike="noStrike" cap="none" normalizeH="0" baseline="0" dirty="0">
                <a:ln>
                  <a:noFill/>
                </a:ln>
                <a:solidFill>
                  <a:srgbClr val="000000"/>
                </a:solidFill>
                <a:effectLst/>
                <a:latin typeface="Roboto" panose="02000000000000000000" pitchFamily="2" charset="0"/>
              </a:rPr>
            </a:br>
            <a:endParaRPr kumimoji="0" lang="en-US" altLang="en-US" sz="4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8F37CDFD-2834-BBA1-BA60-4BA12C209DFF}"/>
              </a:ext>
            </a:extLst>
          </p:cNvPr>
          <p:cNvSpPr>
            <a:spLocks noChangeArrowheads="1"/>
          </p:cNvSpPr>
          <p:nvPr/>
        </p:nvSpPr>
        <p:spPr bwMode="auto">
          <a:xfrm>
            <a:off x="228600" y="14725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36609044-480F-7CF9-DFBE-AB67EE958AB3}"/>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ctr"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1">
            <a:extLst>
              <a:ext uri="{FF2B5EF4-FFF2-40B4-BE49-F238E27FC236}">
                <a16:creationId xmlns:a16="http://schemas.microsoft.com/office/drawing/2014/main" id="{CD935971-04FC-BC64-CE93-3526DD7FD9D9}"/>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622562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4">
            <a:extLst>
              <a:ext uri="{FF2B5EF4-FFF2-40B4-BE49-F238E27FC236}">
                <a16:creationId xmlns:a16="http://schemas.microsoft.com/office/drawing/2014/main" id="{173CE087-F288-4CF6-937D-3E6CA5FF0361}"/>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B56D4D7-06AE-4834-992C-82561A86978B}" type="slidenum">
              <a:rPr lang="en-US" altLang="en-US" sz="1400"/>
              <a:pPr>
                <a:spcBef>
                  <a:spcPct val="0"/>
                </a:spcBef>
                <a:buClrTx/>
                <a:buSzTx/>
                <a:buFontTx/>
                <a:buNone/>
              </a:pPr>
              <a:t>28</a:t>
            </a:fld>
            <a:endParaRPr lang="en-US" altLang="en-US" sz="1400"/>
          </a:p>
        </p:txBody>
      </p:sp>
      <p:sp>
        <p:nvSpPr>
          <p:cNvPr id="28675" name="Rectangle 2">
            <a:extLst>
              <a:ext uri="{FF2B5EF4-FFF2-40B4-BE49-F238E27FC236}">
                <a16:creationId xmlns:a16="http://schemas.microsoft.com/office/drawing/2014/main" id="{AA6384C7-AEAC-4F33-B367-E714A6B3160C}"/>
              </a:ext>
            </a:extLst>
          </p:cNvPr>
          <p:cNvSpPr>
            <a:spLocks noGrp="1" noChangeArrowheads="1"/>
          </p:cNvSpPr>
          <p:nvPr>
            <p:ph type="title"/>
          </p:nvPr>
        </p:nvSpPr>
        <p:spPr>
          <a:xfrm>
            <a:off x="685800" y="228600"/>
            <a:ext cx="7772400" cy="685800"/>
          </a:xfrm>
          <a:noFill/>
        </p:spPr>
        <p:txBody>
          <a:bodyPr/>
          <a:lstStyle/>
          <a:p>
            <a:r>
              <a:rPr lang="en-US" altLang="en-US"/>
              <a:t>Analyzing Tower of Hanoi</a:t>
            </a:r>
          </a:p>
        </p:txBody>
      </p:sp>
      <p:sp>
        <p:nvSpPr>
          <p:cNvPr id="28676" name="Rectangle 3">
            <a:extLst>
              <a:ext uri="{FF2B5EF4-FFF2-40B4-BE49-F238E27FC236}">
                <a16:creationId xmlns:a16="http://schemas.microsoft.com/office/drawing/2014/main" id="{E5E8D3EB-D5C3-428E-8AF2-7CF9B2A0D710}"/>
              </a:ext>
            </a:extLst>
          </p:cNvPr>
          <p:cNvSpPr>
            <a:spLocks noGrp="1" noChangeArrowheads="1"/>
          </p:cNvSpPr>
          <p:nvPr>
            <p:ph type="body" idx="1"/>
          </p:nvPr>
        </p:nvSpPr>
        <p:spPr>
          <a:xfrm>
            <a:off x="228600" y="1066800"/>
            <a:ext cx="8763000" cy="3962400"/>
          </a:xfrm>
          <a:noFill/>
        </p:spPr>
        <p:txBody>
          <a:bodyPr/>
          <a:lstStyle/>
          <a:p>
            <a:pPr marL="263525" indent="0">
              <a:lnSpc>
                <a:spcPct val="110000"/>
              </a:lnSpc>
              <a:buFont typeface="Monotype Sorts" pitchFamily="2" charset="2"/>
              <a:buNone/>
            </a:pPr>
            <a:r>
              <a:rPr lang="en-US" altLang="en-US" sz="2400"/>
              <a:t>The Tower of Hanoi problem presented in Listing 18.7, TowerOfHanoi.java, moves </a:t>
            </a:r>
            <a:r>
              <a:rPr lang="en-US" altLang="en-US" sz="2400" i="1"/>
              <a:t>n</a:t>
            </a:r>
            <a:r>
              <a:rPr lang="en-US" altLang="en-US" sz="2400"/>
              <a:t> disks from tower A to tower B with the assistance of tower C recursively as follows:</a:t>
            </a:r>
          </a:p>
          <a:p>
            <a:pPr marL="895350" lvl="1" indent="-358775">
              <a:lnSpc>
                <a:spcPct val="110000"/>
              </a:lnSpc>
            </a:pPr>
            <a:r>
              <a:rPr lang="en-US" altLang="en-US" sz="2400"/>
              <a:t>Move the first </a:t>
            </a:r>
            <a:r>
              <a:rPr lang="en-US" altLang="en-US" sz="2400" i="1" u="sng"/>
              <a:t>n – 1</a:t>
            </a:r>
            <a:r>
              <a:rPr lang="en-US" altLang="en-US" sz="2400" i="1"/>
              <a:t> </a:t>
            </a:r>
            <a:r>
              <a:rPr lang="en-US" altLang="en-US" sz="2400"/>
              <a:t>disks from A to C with the assistance of tower B.</a:t>
            </a:r>
          </a:p>
          <a:p>
            <a:pPr marL="895350" lvl="1" indent="-358775">
              <a:lnSpc>
                <a:spcPct val="110000"/>
              </a:lnSpc>
            </a:pPr>
            <a:r>
              <a:rPr lang="en-US" altLang="en-US" sz="2400"/>
              <a:t>Move disk </a:t>
            </a:r>
            <a:r>
              <a:rPr lang="en-US" altLang="en-US" sz="2400" i="1" u="sng"/>
              <a:t>n</a:t>
            </a:r>
            <a:r>
              <a:rPr lang="en-US" altLang="en-US" sz="2400"/>
              <a:t> from A to B.</a:t>
            </a:r>
          </a:p>
          <a:p>
            <a:pPr marL="895350" lvl="1" indent="-358775">
              <a:lnSpc>
                <a:spcPct val="110000"/>
              </a:lnSpc>
            </a:pPr>
            <a:r>
              <a:rPr lang="en-US" altLang="en-US" sz="2400"/>
              <a:t>Move </a:t>
            </a:r>
            <a:r>
              <a:rPr lang="en-US" altLang="en-US" sz="2400" i="1" u="sng"/>
              <a:t>n - 1</a:t>
            </a:r>
            <a:r>
              <a:rPr lang="en-US" altLang="en-US" sz="2400"/>
              <a:t> disks from C to B with the assistance of tower A.</a:t>
            </a:r>
          </a:p>
          <a:p>
            <a:pPr marL="263525" indent="0">
              <a:lnSpc>
                <a:spcPct val="110000"/>
              </a:lnSpc>
              <a:buFont typeface="Monotype Sorts" pitchFamily="2" charset="2"/>
              <a:buNone/>
            </a:pPr>
            <a:r>
              <a:rPr lang="en-US" altLang="en-US" sz="2400"/>
              <a:t>Let </a:t>
            </a:r>
            <a:r>
              <a:rPr lang="en-US" altLang="en-US" sz="2400" i="1"/>
              <a:t>T(n)</a:t>
            </a:r>
            <a:r>
              <a:rPr lang="en-US" altLang="en-US" sz="2400"/>
              <a:t> denote the complexity for the algorithm that moves disks and c denote the constant time to move one disk, i.e., T(1) is c. So,</a:t>
            </a:r>
          </a:p>
        </p:txBody>
      </p:sp>
      <p:sp>
        <p:nvSpPr>
          <p:cNvPr id="28677" name="Rectangle 4">
            <a:extLst>
              <a:ext uri="{FF2B5EF4-FFF2-40B4-BE49-F238E27FC236}">
                <a16:creationId xmlns:a16="http://schemas.microsoft.com/office/drawing/2014/main" id="{2040B849-D3E3-4816-9C99-BA02557891A3}"/>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8678" name="Rectangle 5">
            <a:extLst>
              <a:ext uri="{FF2B5EF4-FFF2-40B4-BE49-F238E27FC236}">
                <a16:creationId xmlns:a16="http://schemas.microsoft.com/office/drawing/2014/main" id="{32987872-D4F1-41A7-8653-A1EE07E65736}"/>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8679" name="Rectangle 6">
            <a:extLst>
              <a:ext uri="{FF2B5EF4-FFF2-40B4-BE49-F238E27FC236}">
                <a16:creationId xmlns:a16="http://schemas.microsoft.com/office/drawing/2014/main" id="{E2877405-4907-4823-B223-F46ACFB50D71}"/>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8680" name="Rectangle 11">
            <a:extLst>
              <a:ext uri="{FF2B5EF4-FFF2-40B4-BE49-F238E27FC236}">
                <a16:creationId xmlns:a16="http://schemas.microsoft.com/office/drawing/2014/main" id="{E1797140-0517-40FB-8A94-5FC36938A7F2}"/>
              </a:ext>
            </a:extLst>
          </p:cNvPr>
          <p:cNvSpPr>
            <a:spLocks noChangeArrowheads="1"/>
          </p:cNvSpPr>
          <p:nvPr/>
        </p:nvSpPr>
        <p:spPr bwMode="auto">
          <a:xfrm>
            <a:off x="0" y="3078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28681" name="Object 10">
            <a:extLst>
              <a:ext uri="{FF2B5EF4-FFF2-40B4-BE49-F238E27FC236}">
                <a16:creationId xmlns:a16="http://schemas.microsoft.com/office/drawing/2014/main" id="{7CD6136E-CD54-47DD-B68C-18A5BAE43751}"/>
              </a:ext>
            </a:extLst>
          </p:cNvPr>
          <p:cNvGraphicFramePr>
            <a:graphicFrameLocks noChangeAspect="1"/>
          </p:cNvGraphicFramePr>
          <p:nvPr/>
        </p:nvGraphicFramePr>
        <p:xfrm>
          <a:off x="95250" y="5181600"/>
          <a:ext cx="9029700" cy="977900"/>
        </p:xfrm>
        <a:graphic>
          <a:graphicData uri="http://schemas.openxmlformats.org/presentationml/2006/ole">
            <mc:AlternateContent xmlns:mc="http://schemas.openxmlformats.org/markup-compatibility/2006">
              <mc:Choice xmlns:v="urn:schemas-microsoft-com:vml" Requires="v">
                <p:oleObj name="Equation" r:id="rId3" imgW="3441700" imgH="698500" progId="Equation.3">
                  <p:embed/>
                </p:oleObj>
              </mc:Choice>
              <mc:Fallback>
                <p:oleObj name="Equation" r:id="rId3" imgW="3441700" imgH="698500" progId="Equation.3">
                  <p:embed/>
                  <p:pic>
                    <p:nvPicPr>
                      <p:cNvPr id="28681" name="Object 10">
                        <a:extLst>
                          <a:ext uri="{FF2B5EF4-FFF2-40B4-BE49-F238E27FC236}">
                            <a16:creationId xmlns:a16="http://schemas.microsoft.com/office/drawing/2014/main" id="{7CD6136E-CD54-47DD-B68C-18A5BAE437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50" y="5181600"/>
                        <a:ext cx="902970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4">
            <a:extLst>
              <a:ext uri="{FF2B5EF4-FFF2-40B4-BE49-F238E27FC236}">
                <a16:creationId xmlns:a16="http://schemas.microsoft.com/office/drawing/2014/main" id="{0252A03E-A290-40C3-9A94-B36181B29716}"/>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825D08D-6CAE-4CE3-9B33-D76DC7C82B7A}" type="slidenum">
              <a:rPr lang="en-US" altLang="en-US" sz="1400"/>
              <a:pPr>
                <a:spcBef>
                  <a:spcPct val="0"/>
                </a:spcBef>
                <a:buClrTx/>
                <a:buSzTx/>
                <a:buFontTx/>
                <a:buNone/>
              </a:pPr>
              <a:t>29</a:t>
            </a:fld>
            <a:endParaRPr lang="en-US" altLang="en-US" sz="1400"/>
          </a:p>
        </p:txBody>
      </p:sp>
      <p:sp>
        <p:nvSpPr>
          <p:cNvPr id="32771" name="Rectangle 2">
            <a:extLst>
              <a:ext uri="{FF2B5EF4-FFF2-40B4-BE49-F238E27FC236}">
                <a16:creationId xmlns:a16="http://schemas.microsoft.com/office/drawing/2014/main" id="{B468FAD7-1F69-43B9-BE05-D20AC099DBE3}"/>
              </a:ext>
            </a:extLst>
          </p:cNvPr>
          <p:cNvSpPr>
            <a:spLocks noGrp="1" noChangeArrowheads="1"/>
          </p:cNvSpPr>
          <p:nvPr>
            <p:ph type="title"/>
          </p:nvPr>
        </p:nvSpPr>
        <p:spPr>
          <a:xfrm>
            <a:off x="685800" y="152400"/>
            <a:ext cx="7772400" cy="533400"/>
          </a:xfrm>
          <a:noFill/>
        </p:spPr>
        <p:txBody>
          <a:bodyPr/>
          <a:lstStyle/>
          <a:p>
            <a:r>
              <a:rPr lang="en-US" altLang="en-US"/>
              <a:t>Case Study: Fibonacci Numbers</a:t>
            </a:r>
          </a:p>
        </p:txBody>
      </p:sp>
      <p:sp>
        <p:nvSpPr>
          <p:cNvPr id="32772" name="Rectangle 3">
            <a:extLst>
              <a:ext uri="{FF2B5EF4-FFF2-40B4-BE49-F238E27FC236}">
                <a16:creationId xmlns:a16="http://schemas.microsoft.com/office/drawing/2014/main" id="{4602D60A-F4EA-4DB2-AD1D-8FC6344F7E0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3" name="Rectangle 4">
            <a:extLst>
              <a:ext uri="{FF2B5EF4-FFF2-40B4-BE49-F238E27FC236}">
                <a16:creationId xmlns:a16="http://schemas.microsoft.com/office/drawing/2014/main" id="{2CCB6AEA-3942-4442-812A-FC28D8ECE29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4" name="Rectangle 5">
            <a:extLst>
              <a:ext uri="{FF2B5EF4-FFF2-40B4-BE49-F238E27FC236}">
                <a16:creationId xmlns:a16="http://schemas.microsoft.com/office/drawing/2014/main" id="{BCCDDD3D-6EB3-4282-B862-162A4D92242F}"/>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5" name="Rectangle 6">
            <a:extLst>
              <a:ext uri="{FF2B5EF4-FFF2-40B4-BE49-F238E27FC236}">
                <a16:creationId xmlns:a16="http://schemas.microsoft.com/office/drawing/2014/main" id="{190CC534-0571-4716-9270-26B31DAC6041}"/>
              </a:ext>
            </a:extLst>
          </p:cNvPr>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6" name="Rectangle 7">
            <a:extLst>
              <a:ext uri="{FF2B5EF4-FFF2-40B4-BE49-F238E27FC236}">
                <a16:creationId xmlns:a16="http://schemas.microsoft.com/office/drawing/2014/main" id="{9012EB4B-6730-47EE-82A8-17E1E7F9F8EE}"/>
              </a:ext>
            </a:extLst>
          </p:cNvPr>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7" name="Rectangle 8">
            <a:extLst>
              <a:ext uri="{FF2B5EF4-FFF2-40B4-BE49-F238E27FC236}">
                <a16:creationId xmlns:a16="http://schemas.microsoft.com/office/drawing/2014/main" id="{6AE6D9FA-9189-4C2C-811E-4E86D86DEF0D}"/>
              </a:ext>
            </a:extLst>
          </p:cNvPr>
          <p:cNvSpPr>
            <a:spLocks noChangeArrowheads="1"/>
          </p:cNvSpPr>
          <p:nvPr/>
        </p:nvSpPr>
        <p:spPr bwMode="auto">
          <a:xfrm>
            <a:off x="0" y="27241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8" name="Rectangle 9">
            <a:extLst>
              <a:ext uri="{FF2B5EF4-FFF2-40B4-BE49-F238E27FC236}">
                <a16:creationId xmlns:a16="http://schemas.microsoft.com/office/drawing/2014/main" id="{22F4EAD0-29AA-4B2D-BE77-E1214D2BC0DF}"/>
              </a:ext>
            </a:extLst>
          </p:cNvPr>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9" name="Rectangle 10">
            <a:extLst>
              <a:ext uri="{FF2B5EF4-FFF2-40B4-BE49-F238E27FC236}">
                <a16:creationId xmlns:a16="http://schemas.microsoft.com/office/drawing/2014/main" id="{E7434FC1-0A97-4F51-8879-C23F484A9C4E}"/>
              </a:ext>
            </a:extLst>
          </p:cNvPr>
          <p:cNvSpPr>
            <a:spLocks noChangeArrowheads="1"/>
          </p:cNvSpPr>
          <p:nvPr/>
        </p:nvSpPr>
        <p:spPr bwMode="auto">
          <a:xfrm>
            <a:off x="0" y="20113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80" name="Rectangle 11">
            <a:extLst>
              <a:ext uri="{FF2B5EF4-FFF2-40B4-BE49-F238E27FC236}">
                <a16:creationId xmlns:a16="http://schemas.microsoft.com/office/drawing/2014/main" id="{2FBF1DD7-A651-46AE-9E5D-9659BB643F3C}"/>
              </a:ext>
            </a:extLst>
          </p:cNvPr>
          <p:cNvSpPr>
            <a:spLocks noGrp="1" noChangeArrowheads="1"/>
          </p:cNvSpPr>
          <p:nvPr>
            <p:ph type="body" idx="1"/>
          </p:nvPr>
        </p:nvSpPr>
        <p:spPr>
          <a:xfrm>
            <a:off x="228600" y="838200"/>
            <a:ext cx="8763000" cy="3429000"/>
          </a:xfrm>
        </p:spPr>
        <p:txBody>
          <a:bodyPr/>
          <a:lstStyle/>
          <a:p>
            <a:pPr marL="263525" indent="0">
              <a:lnSpc>
                <a:spcPct val="80000"/>
              </a:lnSpc>
              <a:buFont typeface="Monotype Sorts" pitchFamily="2" charset="2"/>
              <a:buNone/>
            </a:pPr>
            <a:r>
              <a:rPr lang="en-US" altLang="en-US" sz="2400">
                <a:solidFill>
                  <a:schemeClr val="tx2"/>
                </a:solidFill>
              </a:rPr>
              <a:t>/** The method for finding the Fibonacci number */</a:t>
            </a:r>
          </a:p>
          <a:p>
            <a:pPr marL="263525" indent="0">
              <a:lnSpc>
                <a:spcPct val="80000"/>
              </a:lnSpc>
              <a:buFont typeface="Monotype Sorts" pitchFamily="2" charset="2"/>
              <a:buNone/>
            </a:pPr>
            <a:r>
              <a:rPr lang="en-US" altLang="en-US" sz="2400">
                <a:solidFill>
                  <a:schemeClr val="tx2"/>
                </a:solidFill>
              </a:rPr>
              <a:t>public static long fib(long index) {</a:t>
            </a:r>
          </a:p>
          <a:p>
            <a:pPr marL="263525" indent="0">
              <a:lnSpc>
                <a:spcPct val="80000"/>
              </a:lnSpc>
              <a:buFont typeface="Monotype Sorts" pitchFamily="2" charset="2"/>
              <a:buNone/>
            </a:pPr>
            <a:r>
              <a:rPr lang="en-US" altLang="en-US" sz="2400">
                <a:solidFill>
                  <a:schemeClr val="tx2"/>
                </a:solidFill>
              </a:rPr>
              <a:t>  if (index == 0) // Base case</a:t>
            </a:r>
          </a:p>
          <a:p>
            <a:pPr marL="263525" indent="0">
              <a:lnSpc>
                <a:spcPct val="80000"/>
              </a:lnSpc>
              <a:buFont typeface="Monotype Sorts" pitchFamily="2" charset="2"/>
              <a:buNone/>
            </a:pPr>
            <a:r>
              <a:rPr lang="en-US" altLang="en-US" sz="2400">
                <a:solidFill>
                  <a:schemeClr val="tx2"/>
                </a:solidFill>
              </a:rPr>
              <a:t>    return 0;</a:t>
            </a:r>
          </a:p>
          <a:p>
            <a:pPr marL="263525" indent="0">
              <a:lnSpc>
                <a:spcPct val="80000"/>
              </a:lnSpc>
              <a:buFont typeface="Monotype Sorts" pitchFamily="2" charset="2"/>
              <a:buNone/>
            </a:pPr>
            <a:r>
              <a:rPr lang="en-US" altLang="en-US" sz="2400">
                <a:solidFill>
                  <a:schemeClr val="tx2"/>
                </a:solidFill>
              </a:rPr>
              <a:t>  else if (index == 1) // Base case</a:t>
            </a:r>
          </a:p>
          <a:p>
            <a:pPr marL="263525" indent="0">
              <a:lnSpc>
                <a:spcPct val="80000"/>
              </a:lnSpc>
              <a:buFont typeface="Monotype Sorts" pitchFamily="2" charset="2"/>
              <a:buNone/>
            </a:pPr>
            <a:r>
              <a:rPr lang="en-US" altLang="en-US" sz="2400">
                <a:solidFill>
                  <a:schemeClr val="tx2"/>
                </a:solidFill>
              </a:rPr>
              <a:t>    return 1;</a:t>
            </a:r>
          </a:p>
          <a:p>
            <a:pPr marL="263525" indent="0">
              <a:lnSpc>
                <a:spcPct val="80000"/>
              </a:lnSpc>
              <a:buFont typeface="Monotype Sorts" pitchFamily="2" charset="2"/>
              <a:buNone/>
            </a:pPr>
            <a:r>
              <a:rPr lang="en-US" altLang="en-US" sz="2400">
                <a:solidFill>
                  <a:schemeClr val="tx2"/>
                </a:solidFill>
              </a:rPr>
              <a:t>  else  // Reduction and recursive calls</a:t>
            </a:r>
          </a:p>
          <a:p>
            <a:pPr marL="263525" indent="0">
              <a:lnSpc>
                <a:spcPct val="80000"/>
              </a:lnSpc>
              <a:buFont typeface="Monotype Sorts" pitchFamily="2" charset="2"/>
              <a:buNone/>
            </a:pPr>
            <a:r>
              <a:rPr lang="en-US" altLang="en-US" sz="2400">
                <a:solidFill>
                  <a:schemeClr val="tx2"/>
                </a:solidFill>
              </a:rPr>
              <a:t>    return fib(index - 1) + fib(index - 2);</a:t>
            </a:r>
          </a:p>
          <a:p>
            <a:pPr marL="263525" indent="0">
              <a:lnSpc>
                <a:spcPct val="80000"/>
              </a:lnSpc>
              <a:buFont typeface="Monotype Sorts" pitchFamily="2" charset="2"/>
              <a:buNone/>
            </a:pPr>
            <a:r>
              <a:rPr lang="en-US" altLang="en-US" sz="2400">
                <a:solidFill>
                  <a:schemeClr val="tx2"/>
                </a:solidFill>
              </a:rPr>
              <a:t>}</a:t>
            </a:r>
          </a:p>
        </p:txBody>
      </p:sp>
      <p:sp>
        <p:nvSpPr>
          <p:cNvPr id="32781" name="Rectangle 12">
            <a:extLst>
              <a:ext uri="{FF2B5EF4-FFF2-40B4-BE49-F238E27FC236}">
                <a16:creationId xmlns:a16="http://schemas.microsoft.com/office/drawing/2014/main" id="{32B70349-5B9A-4840-9336-0FFB75756185}"/>
              </a:ext>
            </a:extLst>
          </p:cNvPr>
          <p:cNvSpPr>
            <a:spLocks noChangeArrowheads="1"/>
          </p:cNvSpPr>
          <p:nvPr/>
        </p:nvSpPr>
        <p:spPr bwMode="auto">
          <a:xfrm>
            <a:off x="0" y="32305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4">
            <a:extLst>
              <a:ext uri="{FF2B5EF4-FFF2-40B4-BE49-F238E27FC236}">
                <a16:creationId xmlns:a16="http://schemas.microsoft.com/office/drawing/2014/main" id="{B92A5BAE-7B46-433E-AF88-92EC887C2346}"/>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255EE6E-88F3-4E6D-9060-E484667099F6}" type="slidenum">
              <a:rPr lang="en-US" altLang="en-US" sz="1400"/>
              <a:pPr>
                <a:spcBef>
                  <a:spcPct val="0"/>
                </a:spcBef>
                <a:buClrTx/>
                <a:buSzTx/>
                <a:buFontTx/>
                <a:buNone/>
              </a:pPr>
              <a:t>30</a:t>
            </a:fld>
            <a:endParaRPr lang="en-US" altLang="en-US" sz="1400"/>
          </a:p>
        </p:txBody>
      </p:sp>
      <p:sp>
        <p:nvSpPr>
          <p:cNvPr id="34819" name="Rectangle 2">
            <a:extLst>
              <a:ext uri="{FF2B5EF4-FFF2-40B4-BE49-F238E27FC236}">
                <a16:creationId xmlns:a16="http://schemas.microsoft.com/office/drawing/2014/main" id="{421989B0-E6EF-46AA-B631-B3331F6B13B5}"/>
              </a:ext>
            </a:extLst>
          </p:cNvPr>
          <p:cNvSpPr>
            <a:spLocks noGrp="1" noChangeArrowheads="1"/>
          </p:cNvSpPr>
          <p:nvPr>
            <p:ph type="title"/>
          </p:nvPr>
        </p:nvSpPr>
        <p:spPr>
          <a:xfrm>
            <a:off x="1676400" y="152400"/>
            <a:ext cx="7315200" cy="1143000"/>
          </a:xfrm>
          <a:noFill/>
        </p:spPr>
        <p:txBody>
          <a:bodyPr/>
          <a:lstStyle/>
          <a:p>
            <a:r>
              <a:rPr lang="en-US" altLang="en-US" sz="4000"/>
              <a:t>Case Study: Non-recursive version of Fibonacci Numbers</a:t>
            </a:r>
          </a:p>
        </p:txBody>
      </p:sp>
      <p:sp>
        <p:nvSpPr>
          <p:cNvPr id="34820" name="Rectangle 3">
            <a:extLst>
              <a:ext uri="{FF2B5EF4-FFF2-40B4-BE49-F238E27FC236}">
                <a16:creationId xmlns:a16="http://schemas.microsoft.com/office/drawing/2014/main" id="{C5DA1A33-2C88-4DDC-997B-9F5D3A47E527}"/>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1" name="Rectangle 4">
            <a:extLst>
              <a:ext uri="{FF2B5EF4-FFF2-40B4-BE49-F238E27FC236}">
                <a16:creationId xmlns:a16="http://schemas.microsoft.com/office/drawing/2014/main" id="{5E39C65C-D97A-450E-98B4-0239E7B736F5}"/>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2" name="Rectangle 5">
            <a:extLst>
              <a:ext uri="{FF2B5EF4-FFF2-40B4-BE49-F238E27FC236}">
                <a16:creationId xmlns:a16="http://schemas.microsoft.com/office/drawing/2014/main" id="{03F0B3F8-E146-4E03-8840-B64D9325D2A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3" name="Rectangle 6">
            <a:extLst>
              <a:ext uri="{FF2B5EF4-FFF2-40B4-BE49-F238E27FC236}">
                <a16:creationId xmlns:a16="http://schemas.microsoft.com/office/drawing/2014/main" id="{5B816230-1FB7-45C3-A75E-A23D9586B7BE}"/>
              </a:ext>
            </a:extLst>
          </p:cNvPr>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4" name="Rectangle 7">
            <a:extLst>
              <a:ext uri="{FF2B5EF4-FFF2-40B4-BE49-F238E27FC236}">
                <a16:creationId xmlns:a16="http://schemas.microsoft.com/office/drawing/2014/main" id="{4F961449-BE6F-4322-9E0D-B61BD7169952}"/>
              </a:ext>
            </a:extLst>
          </p:cNvPr>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5" name="Rectangle 8">
            <a:extLst>
              <a:ext uri="{FF2B5EF4-FFF2-40B4-BE49-F238E27FC236}">
                <a16:creationId xmlns:a16="http://schemas.microsoft.com/office/drawing/2014/main" id="{9B58B472-3C20-4DDC-AB4B-A967693053DB}"/>
              </a:ext>
            </a:extLst>
          </p:cNvPr>
          <p:cNvSpPr>
            <a:spLocks noChangeArrowheads="1"/>
          </p:cNvSpPr>
          <p:nvPr/>
        </p:nvSpPr>
        <p:spPr bwMode="auto">
          <a:xfrm>
            <a:off x="0" y="27241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6" name="Rectangle 9">
            <a:extLst>
              <a:ext uri="{FF2B5EF4-FFF2-40B4-BE49-F238E27FC236}">
                <a16:creationId xmlns:a16="http://schemas.microsoft.com/office/drawing/2014/main" id="{D45D38F0-D35C-420D-8F16-8A4326594186}"/>
              </a:ext>
            </a:extLst>
          </p:cNvPr>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7" name="Rectangle 10">
            <a:extLst>
              <a:ext uri="{FF2B5EF4-FFF2-40B4-BE49-F238E27FC236}">
                <a16:creationId xmlns:a16="http://schemas.microsoft.com/office/drawing/2014/main" id="{51BB2DE7-C76C-4E17-B235-164F99C0CA01}"/>
              </a:ext>
            </a:extLst>
          </p:cNvPr>
          <p:cNvSpPr>
            <a:spLocks noChangeArrowheads="1"/>
          </p:cNvSpPr>
          <p:nvPr/>
        </p:nvSpPr>
        <p:spPr bwMode="auto">
          <a:xfrm>
            <a:off x="0" y="20113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8" name="Rectangle 11">
            <a:extLst>
              <a:ext uri="{FF2B5EF4-FFF2-40B4-BE49-F238E27FC236}">
                <a16:creationId xmlns:a16="http://schemas.microsoft.com/office/drawing/2014/main" id="{9007EBC8-1279-4A58-861F-4D05795D36A0}"/>
              </a:ext>
            </a:extLst>
          </p:cNvPr>
          <p:cNvSpPr>
            <a:spLocks noGrp="1" noChangeArrowheads="1"/>
          </p:cNvSpPr>
          <p:nvPr>
            <p:ph type="body" idx="1"/>
          </p:nvPr>
        </p:nvSpPr>
        <p:spPr>
          <a:xfrm>
            <a:off x="-381000" y="1371600"/>
            <a:ext cx="5334000" cy="5486400"/>
          </a:xfrm>
        </p:spPr>
        <p:txBody>
          <a:bodyPr/>
          <a:lstStyle/>
          <a:p>
            <a:pPr marL="263525" indent="0">
              <a:lnSpc>
                <a:spcPct val="80000"/>
              </a:lnSpc>
              <a:buFont typeface="Monotype Sorts" pitchFamily="2" charset="2"/>
              <a:buNone/>
            </a:pPr>
            <a:r>
              <a:rPr lang="en-US" altLang="en-US" sz="1800" b="1">
                <a:solidFill>
                  <a:schemeClr val="tx2"/>
                </a:solidFill>
                <a:latin typeface="Courier New" panose="02070309020205020404" pitchFamily="49" charset="0"/>
              </a:rPr>
              <a:t>  public static long fib(long n) {</a:t>
            </a:r>
          </a:p>
          <a:p>
            <a:pPr marL="263525" indent="0">
              <a:lnSpc>
                <a:spcPct val="80000"/>
              </a:lnSpc>
              <a:buFont typeface="Monotype Sorts" pitchFamily="2" charset="2"/>
              <a:buNone/>
            </a:pPr>
            <a:r>
              <a:rPr lang="en-US" altLang="en-US" sz="1800" b="1">
                <a:solidFill>
                  <a:schemeClr val="tx2"/>
                </a:solidFill>
                <a:latin typeface="Courier New" panose="02070309020205020404" pitchFamily="49" charset="0"/>
              </a:rPr>
              <a:t>    long f0 = 0; // For </a:t>
            </a:r>
            <a:r>
              <a:rPr lang="en-US" altLang="en-US" sz="1800" b="1" u="sng">
                <a:solidFill>
                  <a:schemeClr val="tx2"/>
                </a:solidFill>
                <a:latin typeface="Courier New" panose="02070309020205020404" pitchFamily="49" charset="0"/>
              </a:rPr>
              <a:t>fib</a:t>
            </a:r>
            <a:r>
              <a:rPr lang="en-US" altLang="en-US" sz="1800" b="1">
                <a:solidFill>
                  <a:schemeClr val="tx2"/>
                </a:solidFill>
                <a:latin typeface="Courier New" panose="02070309020205020404" pitchFamily="49" charset="0"/>
              </a:rPr>
              <a:t>(0)</a:t>
            </a:r>
          </a:p>
          <a:p>
            <a:pPr marL="263525" indent="0">
              <a:lnSpc>
                <a:spcPct val="80000"/>
              </a:lnSpc>
              <a:buFont typeface="Monotype Sorts" pitchFamily="2" charset="2"/>
              <a:buNone/>
            </a:pPr>
            <a:r>
              <a:rPr lang="en-US" altLang="en-US" sz="1800" b="1">
                <a:solidFill>
                  <a:schemeClr val="tx2"/>
                </a:solidFill>
                <a:latin typeface="Courier New" panose="02070309020205020404" pitchFamily="49" charset="0"/>
              </a:rPr>
              <a:t>    long f1 = 1; // For </a:t>
            </a:r>
            <a:r>
              <a:rPr lang="en-US" altLang="en-US" sz="1800" b="1" u="sng">
                <a:solidFill>
                  <a:schemeClr val="tx2"/>
                </a:solidFill>
                <a:latin typeface="Courier New" panose="02070309020205020404" pitchFamily="49" charset="0"/>
              </a:rPr>
              <a:t>fib</a:t>
            </a:r>
            <a:r>
              <a:rPr lang="en-US" altLang="en-US" sz="1800" b="1">
                <a:solidFill>
                  <a:schemeClr val="tx2"/>
                </a:solidFill>
                <a:latin typeface="Courier New" panose="02070309020205020404" pitchFamily="49" charset="0"/>
              </a:rPr>
              <a:t>(1)</a:t>
            </a:r>
          </a:p>
          <a:p>
            <a:pPr marL="263525" indent="0">
              <a:lnSpc>
                <a:spcPct val="80000"/>
              </a:lnSpc>
              <a:buFont typeface="Monotype Sorts" pitchFamily="2" charset="2"/>
              <a:buNone/>
            </a:pPr>
            <a:r>
              <a:rPr lang="en-US" altLang="en-US" sz="1800" b="1">
                <a:solidFill>
                  <a:schemeClr val="tx2"/>
                </a:solidFill>
                <a:latin typeface="Courier New" panose="02070309020205020404" pitchFamily="49" charset="0"/>
              </a:rPr>
              <a:t>    long f2 = 1; // For </a:t>
            </a:r>
            <a:r>
              <a:rPr lang="en-US" altLang="en-US" sz="1800" b="1" u="sng">
                <a:solidFill>
                  <a:schemeClr val="tx2"/>
                </a:solidFill>
                <a:latin typeface="Courier New" panose="02070309020205020404" pitchFamily="49" charset="0"/>
              </a:rPr>
              <a:t>fib</a:t>
            </a:r>
            <a:r>
              <a:rPr lang="en-US" altLang="en-US" sz="1800" b="1">
                <a:solidFill>
                  <a:schemeClr val="tx2"/>
                </a:solidFill>
                <a:latin typeface="Courier New" panose="02070309020205020404" pitchFamily="49" charset="0"/>
              </a:rPr>
              <a:t>(2)</a:t>
            </a:r>
          </a:p>
          <a:p>
            <a:pPr marL="263525" indent="0">
              <a:lnSpc>
                <a:spcPct val="80000"/>
              </a:lnSpc>
              <a:buFont typeface="Monotype Sorts" pitchFamily="2" charset="2"/>
              <a:buNone/>
            </a:pPr>
            <a:endParaRPr lang="en-US" altLang="en-US" sz="1800" b="1">
              <a:solidFill>
                <a:schemeClr val="tx2"/>
              </a:solidFill>
              <a:latin typeface="Courier New" panose="02070309020205020404" pitchFamily="49" charset="0"/>
            </a:endParaRPr>
          </a:p>
          <a:p>
            <a:pPr marL="263525" indent="0">
              <a:lnSpc>
                <a:spcPct val="80000"/>
              </a:lnSpc>
              <a:buFont typeface="Monotype Sorts" pitchFamily="2" charset="2"/>
              <a:buNone/>
            </a:pPr>
            <a:r>
              <a:rPr lang="en-US" altLang="en-US" sz="1800" b="1">
                <a:solidFill>
                  <a:schemeClr val="tx2"/>
                </a:solidFill>
                <a:latin typeface="Courier New" panose="02070309020205020404" pitchFamily="49" charset="0"/>
              </a:rPr>
              <a:t>    if (n == 0)</a:t>
            </a:r>
          </a:p>
          <a:p>
            <a:pPr marL="263525" indent="0">
              <a:lnSpc>
                <a:spcPct val="80000"/>
              </a:lnSpc>
              <a:buFont typeface="Monotype Sorts" pitchFamily="2" charset="2"/>
              <a:buNone/>
            </a:pPr>
            <a:r>
              <a:rPr lang="en-US" altLang="en-US" sz="1800" b="1">
                <a:solidFill>
                  <a:schemeClr val="tx2"/>
                </a:solidFill>
                <a:latin typeface="Courier New" panose="02070309020205020404" pitchFamily="49" charset="0"/>
              </a:rPr>
              <a:t>      return f0;</a:t>
            </a:r>
          </a:p>
          <a:p>
            <a:pPr marL="263525" indent="0">
              <a:lnSpc>
                <a:spcPct val="80000"/>
              </a:lnSpc>
              <a:buFont typeface="Monotype Sorts" pitchFamily="2" charset="2"/>
              <a:buNone/>
            </a:pPr>
            <a:r>
              <a:rPr lang="en-US" altLang="en-US" sz="1800" b="1">
                <a:solidFill>
                  <a:schemeClr val="tx2"/>
                </a:solidFill>
                <a:latin typeface="Courier New" panose="02070309020205020404" pitchFamily="49" charset="0"/>
              </a:rPr>
              <a:t>    else if (n == 1)</a:t>
            </a:r>
          </a:p>
          <a:p>
            <a:pPr marL="263525" indent="0">
              <a:lnSpc>
                <a:spcPct val="80000"/>
              </a:lnSpc>
              <a:buFont typeface="Monotype Sorts" pitchFamily="2" charset="2"/>
              <a:buNone/>
            </a:pPr>
            <a:r>
              <a:rPr lang="en-US" altLang="en-US" sz="1800" b="1">
                <a:solidFill>
                  <a:schemeClr val="tx2"/>
                </a:solidFill>
                <a:latin typeface="Courier New" panose="02070309020205020404" pitchFamily="49" charset="0"/>
              </a:rPr>
              <a:t>      return f1;</a:t>
            </a:r>
          </a:p>
          <a:p>
            <a:pPr marL="263525" indent="0">
              <a:lnSpc>
                <a:spcPct val="80000"/>
              </a:lnSpc>
              <a:buFont typeface="Monotype Sorts" pitchFamily="2" charset="2"/>
              <a:buNone/>
            </a:pPr>
            <a:r>
              <a:rPr lang="en-US" altLang="en-US" sz="1800" b="1">
                <a:solidFill>
                  <a:schemeClr val="tx2"/>
                </a:solidFill>
                <a:latin typeface="Courier New" panose="02070309020205020404" pitchFamily="49" charset="0"/>
              </a:rPr>
              <a:t>    else if (n == 2)</a:t>
            </a:r>
          </a:p>
          <a:p>
            <a:pPr marL="263525" indent="0">
              <a:lnSpc>
                <a:spcPct val="80000"/>
              </a:lnSpc>
              <a:buFont typeface="Monotype Sorts" pitchFamily="2" charset="2"/>
              <a:buNone/>
            </a:pPr>
            <a:r>
              <a:rPr lang="en-US" altLang="en-US" sz="1800" b="1">
                <a:solidFill>
                  <a:schemeClr val="tx2"/>
                </a:solidFill>
                <a:latin typeface="Courier New" panose="02070309020205020404" pitchFamily="49" charset="0"/>
              </a:rPr>
              <a:t>      return f2;    </a:t>
            </a:r>
          </a:p>
          <a:p>
            <a:pPr marL="263525" indent="0">
              <a:lnSpc>
                <a:spcPct val="80000"/>
              </a:lnSpc>
              <a:buFont typeface="Monotype Sorts" pitchFamily="2" charset="2"/>
              <a:buNone/>
            </a:pPr>
            <a:r>
              <a:rPr lang="en-US" altLang="en-US" sz="1800" b="1">
                <a:solidFill>
                  <a:schemeClr val="tx2"/>
                </a:solidFill>
                <a:latin typeface="Courier New" panose="02070309020205020404" pitchFamily="49" charset="0"/>
              </a:rPr>
              <a:t>    </a:t>
            </a:r>
          </a:p>
          <a:p>
            <a:pPr marL="263525" indent="0">
              <a:lnSpc>
                <a:spcPct val="80000"/>
              </a:lnSpc>
              <a:buFont typeface="Monotype Sorts" pitchFamily="2" charset="2"/>
              <a:buNone/>
            </a:pPr>
            <a:r>
              <a:rPr lang="en-US" altLang="en-US" sz="1800" b="1">
                <a:solidFill>
                  <a:schemeClr val="tx2"/>
                </a:solidFill>
                <a:latin typeface="Courier New" panose="02070309020205020404" pitchFamily="49" charset="0"/>
              </a:rPr>
              <a:t>    for (int i = 3; i &lt;= n; i++) {</a:t>
            </a:r>
          </a:p>
          <a:p>
            <a:pPr marL="263525" indent="0">
              <a:lnSpc>
                <a:spcPct val="80000"/>
              </a:lnSpc>
              <a:buFont typeface="Monotype Sorts" pitchFamily="2" charset="2"/>
              <a:buNone/>
            </a:pPr>
            <a:r>
              <a:rPr lang="en-US" altLang="en-US" sz="1800" b="1">
                <a:solidFill>
                  <a:schemeClr val="tx2"/>
                </a:solidFill>
                <a:latin typeface="Courier New" panose="02070309020205020404" pitchFamily="49" charset="0"/>
              </a:rPr>
              <a:t>      f0 = f1;</a:t>
            </a:r>
          </a:p>
          <a:p>
            <a:pPr marL="263525" indent="0">
              <a:lnSpc>
                <a:spcPct val="80000"/>
              </a:lnSpc>
              <a:buFont typeface="Monotype Sorts" pitchFamily="2" charset="2"/>
              <a:buNone/>
            </a:pPr>
            <a:r>
              <a:rPr lang="en-US" altLang="en-US" sz="1800" b="1">
                <a:solidFill>
                  <a:schemeClr val="tx2"/>
                </a:solidFill>
                <a:latin typeface="Courier New" panose="02070309020205020404" pitchFamily="49" charset="0"/>
              </a:rPr>
              <a:t>      f1 = f2;</a:t>
            </a:r>
          </a:p>
          <a:p>
            <a:pPr marL="263525" indent="0">
              <a:lnSpc>
                <a:spcPct val="80000"/>
              </a:lnSpc>
              <a:buFont typeface="Monotype Sorts" pitchFamily="2" charset="2"/>
              <a:buNone/>
            </a:pPr>
            <a:r>
              <a:rPr lang="en-US" altLang="en-US" sz="1800" b="1">
                <a:solidFill>
                  <a:schemeClr val="tx2"/>
                </a:solidFill>
                <a:latin typeface="Courier New" panose="02070309020205020404" pitchFamily="49" charset="0"/>
              </a:rPr>
              <a:t>      f2 = f0 + f1;</a:t>
            </a:r>
          </a:p>
          <a:p>
            <a:pPr marL="263525" indent="0">
              <a:lnSpc>
                <a:spcPct val="80000"/>
              </a:lnSpc>
              <a:buFont typeface="Monotype Sorts" pitchFamily="2" charset="2"/>
              <a:buNone/>
            </a:pPr>
            <a:r>
              <a:rPr lang="en-US" altLang="en-US" sz="1800" b="1">
                <a:solidFill>
                  <a:schemeClr val="tx2"/>
                </a:solidFill>
                <a:latin typeface="Courier New" panose="02070309020205020404" pitchFamily="49" charset="0"/>
              </a:rPr>
              <a:t>    }</a:t>
            </a:r>
          </a:p>
          <a:p>
            <a:pPr marL="263525" indent="0">
              <a:lnSpc>
                <a:spcPct val="80000"/>
              </a:lnSpc>
              <a:buFont typeface="Monotype Sorts" pitchFamily="2" charset="2"/>
              <a:buNone/>
            </a:pPr>
            <a:r>
              <a:rPr lang="en-US" altLang="en-US" sz="1800" b="1">
                <a:solidFill>
                  <a:schemeClr val="tx2"/>
                </a:solidFill>
                <a:latin typeface="Courier New" panose="02070309020205020404" pitchFamily="49" charset="0"/>
              </a:rPr>
              <a:t>    </a:t>
            </a:r>
          </a:p>
          <a:p>
            <a:pPr marL="263525" indent="0">
              <a:lnSpc>
                <a:spcPct val="80000"/>
              </a:lnSpc>
              <a:buFont typeface="Monotype Sorts" pitchFamily="2" charset="2"/>
              <a:buNone/>
            </a:pPr>
            <a:r>
              <a:rPr lang="en-US" altLang="en-US" sz="1800" b="1">
                <a:solidFill>
                  <a:schemeClr val="tx2"/>
                </a:solidFill>
                <a:latin typeface="Courier New" panose="02070309020205020404" pitchFamily="49" charset="0"/>
              </a:rPr>
              <a:t>    return f2;</a:t>
            </a:r>
          </a:p>
          <a:p>
            <a:pPr marL="263525" indent="0">
              <a:lnSpc>
                <a:spcPct val="80000"/>
              </a:lnSpc>
              <a:buFont typeface="Monotype Sorts" pitchFamily="2" charset="2"/>
              <a:buNone/>
            </a:pPr>
            <a:r>
              <a:rPr lang="en-US" altLang="en-US" sz="1800" b="1">
                <a:solidFill>
                  <a:schemeClr val="tx2"/>
                </a:solidFill>
                <a:latin typeface="Courier New" panose="02070309020205020404" pitchFamily="49" charset="0"/>
              </a:rPr>
              <a:t>  }</a:t>
            </a:r>
          </a:p>
        </p:txBody>
      </p:sp>
      <p:sp>
        <p:nvSpPr>
          <p:cNvPr id="34829" name="Rectangle 12">
            <a:extLst>
              <a:ext uri="{FF2B5EF4-FFF2-40B4-BE49-F238E27FC236}">
                <a16:creationId xmlns:a16="http://schemas.microsoft.com/office/drawing/2014/main" id="{8FDF0E25-D009-4234-AF55-ADE5F8CC7525}"/>
              </a:ext>
            </a:extLst>
          </p:cNvPr>
          <p:cNvSpPr>
            <a:spLocks noChangeArrowheads="1"/>
          </p:cNvSpPr>
          <p:nvPr/>
        </p:nvSpPr>
        <p:spPr bwMode="auto">
          <a:xfrm>
            <a:off x="0" y="32305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30" name="Rectangle 13">
            <a:extLst>
              <a:ext uri="{FF2B5EF4-FFF2-40B4-BE49-F238E27FC236}">
                <a16:creationId xmlns:a16="http://schemas.microsoft.com/office/drawing/2014/main" id="{523E365E-DD63-4563-93CA-16BD827E988D}"/>
              </a:ext>
            </a:extLst>
          </p:cNvPr>
          <p:cNvSpPr>
            <a:spLocks noChangeArrowheads="1"/>
          </p:cNvSpPr>
          <p:nvPr/>
        </p:nvSpPr>
        <p:spPr bwMode="auto">
          <a:xfrm>
            <a:off x="4168775" y="2514600"/>
            <a:ext cx="49530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80000"/>
              </a:lnSpc>
              <a:buFont typeface="Monotype Sorts" pitchFamily="2" charset="2"/>
              <a:buNone/>
            </a:pPr>
            <a:endParaRPr lang="en-US" altLang="en-US" dirty="0">
              <a:solidFill>
                <a:schemeClr val="tx2"/>
              </a:solidFill>
            </a:endParaRPr>
          </a:p>
        </p:txBody>
      </p:sp>
      <p:sp>
        <p:nvSpPr>
          <p:cNvPr id="34831" name="Rectangle 15">
            <a:extLst>
              <a:ext uri="{FF2B5EF4-FFF2-40B4-BE49-F238E27FC236}">
                <a16:creationId xmlns:a16="http://schemas.microsoft.com/office/drawing/2014/main" id="{D9911FA9-E205-42BC-A20A-B21CC5520172}"/>
              </a:ext>
            </a:extLst>
          </p:cNvPr>
          <p:cNvSpPr>
            <a:spLocks noChangeArrowheads="1"/>
          </p:cNvSpPr>
          <p:nvPr/>
        </p:nvSpPr>
        <p:spPr bwMode="auto">
          <a:xfrm>
            <a:off x="0" y="33258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4">
            <a:extLst>
              <a:ext uri="{FF2B5EF4-FFF2-40B4-BE49-F238E27FC236}">
                <a16:creationId xmlns:a16="http://schemas.microsoft.com/office/drawing/2014/main" id="{C2C11082-774A-461B-A8EC-92C20C6AB283}"/>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D2DAACE-6E1D-4F82-8F87-9D3BE721A66F}" type="slidenum">
              <a:rPr lang="en-US" altLang="en-US" sz="1400"/>
              <a:pPr>
                <a:spcBef>
                  <a:spcPct val="0"/>
                </a:spcBef>
                <a:buClrTx/>
                <a:buSzTx/>
                <a:buFontTx/>
                <a:buNone/>
              </a:pPr>
              <a:t>31</a:t>
            </a:fld>
            <a:endParaRPr lang="en-US" altLang="en-US" sz="1400"/>
          </a:p>
        </p:txBody>
      </p:sp>
      <p:sp>
        <p:nvSpPr>
          <p:cNvPr id="37891" name="Rectangle 2">
            <a:extLst>
              <a:ext uri="{FF2B5EF4-FFF2-40B4-BE49-F238E27FC236}">
                <a16:creationId xmlns:a16="http://schemas.microsoft.com/office/drawing/2014/main" id="{93A4CCF4-F3B5-4521-AD52-6107A0427549}"/>
              </a:ext>
            </a:extLst>
          </p:cNvPr>
          <p:cNvSpPr>
            <a:spLocks noGrp="1" noChangeArrowheads="1"/>
          </p:cNvSpPr>
          <p:nvPr>
            <p:ph type="title"/>
          </p:nvPr>
        </p:nvSpPr>
        <p:spPr>
          <a:xfrm>
            <a:off x="685800" y="228600"/>
            <a:ext cx="7772400" cy="1143000"/>
          </a:xfrm>
          <a:noFill/>
        </p:spPr>
        <p:txBody>
          <a:bodyPr/>
          <a:lstStyle/>
          <a:p>
            <a:r>
              <a:rPr lang="en-US" altLang="en-US"/>
              <a:t>Case Study: GCD Algorithms Version 1</a:t>
            </a:r>
          </a:p>
        </p:txBody>
      </p:sp>
      <p:sp>
        <p:nvSpPr>
          <p:cNvPr id="37892" name="Rectangle 3">
            <a:extLst>
              <a:ext uri="{FF2B5EF4-FFF2-40B4-BE49-F238E27FC236}">
                <a16:creationId xmlns:a16="http://schemas.microsoft.com/office/drawing/2014/main" id="{C8841410-7B13-413B-9903-1F19337659AD}"/>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893" name="Rectangle 4">
            <a:extLst>
              <a:ext uri="{FF2B5EF4-FFF2-40B4-BE49-F238E27FC236}">
                <a16:creationId xmlns:a16="http://schemas.microsoft.com/office/drawing/2014/main" id="{F8A92D05-2858-42EC-A5CF-355FF9E9D50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894" name="Rectangle 5">
            <a:extLst>
              <a:ext uri="{FF2B5EF4-FFF2-40B4-BE49-F238E27FC236}">
                <a16:creationId xmlns:a16="http://schemas.microsoft.com/office/drawing/2014/main" id="{28077C25-4839-49B5-9A1F-71CE6A7A882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895" name="Rectangle 6">
            <a:extLst>
              <a:ext uri="{FF2B5EF4-FFF2-40B4-BE49-F238E27FC236}">
                <a16:creationId xmlns:a16="http://schemas.microsoft.com/office/drawing/2014/main" id="{A4D87964-7AA6-4C4B-BD2F-4C53C0C3ADFF}"/>
              </a:ext>
            </a:extLst>
          </p:cNvPr>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896" name="Rectangle 7">
            <a:extLst>
              <a:ext uri="{FF2B5EF4-FFF2-40B4-BE49-F238E27FC236}">
                <a16:creationId xmlns:a16="http://schemas.microsoft.com/office/drawing/2014/main" id="{B181E7CB-74F1-408C-9388-F7D02526DAA6}"/>
              </a:ext>
            </a:extLst>
          </p:cNvPr>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897" name="Rectangle 8">
            <a:extLst>
              <a:ext uri="{FF2B5EF4-FFF2-40B4-BE49-F238E27FC236}">
                <a16:creationId xmlns:a16="http://schemas.microsoft.com/office/drawing/2014/main" id="{897BA7C3-2BB2-4857-A770-680A8AABEE67}"/>
              </a:ext>
            </a:extLst>
          </p:cNvPr>
          <p:cNvSpPr>
            <a:spLocks noChangeArrowheads="1"/>
          </p:cNvSpPr>
          <p:nvPr/>
        </p:nvSpPr>
        <p:spPr bwMode="auto">
          <a:xfrm>
            <a:off x="0" y="27241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898" name="Rectangle 9">
            <a:extLst>
              <a:ext uri="{FF2B5EF4-FFF2-40B4-BE49-F238E27FC236}">
                <a16:creationId xmlns:a16="http://schemas.microsoft.com/office/drawing/2014/main" id="{39F97CEC-81D4-4B26-A23E-4BC4895E03B3}"/>
              </a:ext>
            </a:extLst>
          </p:cNvPr>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899" name="Rectangle 10">
            <a:extLst>
              <a:ext uri="{FF2B5EF4-FFF2-40B4-BE49-F238E27FC236}">
                <a16:creationId xmlns:a16="http://schemas.microsoft.com/office/drawing/2014/main" id="{7ABC4527-E172-43DE-80CE-CC9748C9F556}"/>
              </a:ext>
            </a:extLst>
          </p:cNvPr>
          <p:cNvSpPr>
            <a:spLocks noChangeArrowheads="1"/>
          </p:cNvSpPr>
          <p:nvPr/>
        </p:nvSpPr>
        <p:spPr bwMode="auto">
          <a:xfrm>
            <a:off x="0" y="20113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900" name="Rectangle 11">
            <a:extLst>
              <a:ext uri="{FF2B5EF4-FFF2-40B4-BE49-F238E27FC236}">
                <a16:creationId xmlns:a16="http://schemas.microsoft.com/office/drawing/2014/main" id="{9273D206-4391-4681-B584-2F426637A40C}"/>
              </a:ext>
            </a:extLst>
          </p:cNvPr>
          <p:cNvSpPr>
            <a:spLocks noGrp="1" noChangeArrowheads="1"/>
          </p:cNvSpPr>
          <p:nvPr>
            <p:ph type="body" idx="1"/>
          </p:nvPr>
        </p:nvSpPr>
        <p:spPr>
          <a:xfrm>
            <a:off x="152400" y="1524000"/>
            <a:ext cx="5715000" cy="3124200"/>
          </a:xfrm>
        </p:spPr>
        <p:txBody>
          <a:bodyPr/>
          <a:lstStyle/>
          <a:p>
            <a:pPr marL="263525" indent="0">
              <a:lnSpc>
                <a:spcPct val="80000"/>
              </a:lnSpc>
              <a:buFont typeface="Monotype Sorts" pitchFamily="2" charset="2"/>
              <a:buNone/>
            </a:pPr>
            <a:r>
              <a:rPr lang="en-US" altLang="en-US" sz="2400">
                <a:solidFill>
                  <a:schemeClr val="tx2"/>
                </a:solidFill>
              </a:rPr>
              <a:t>public static int gcd(int m, int n) {</a:t>
            </a:r>
          </a:p>
          <a:p>
            <a:pPr marL="263525" indent="0">
              <a:lnSpc>
                <a:spcPct val="80000"/>
              </a:lnSpc>
              <a:buFont typeface="Monotype Sorts" pitchFamily="2" charset="2"/>
              <a:buNone/>
            </a:pPr>
            <a:r>
              <a:rPr lang="en-US" altLang="en-US" sz="2400">
                <a:solidFill>
                  <a:schemeClr val="tx2"/>
                </a:solidFill>
              </a:rPr>
              <a:t>  int gcd = 1;</a:t>
            </a:r>
          </a:p>
          <a:p>
            <a:pPr marL="263525" indent="0">
              <a:lnSpc>
                <a:spcPct val="80000"/>
              </a:lnSpc>
              <a:buFont typeface="Monotype Sorts" pitchFamily="2" charset="2"/>
              <a:buNone/>
            </a:pPr>
            <a:r>
              <a:rPr lang="en-US" altLang="en-US" sz="2400">
                <a:solidFill>
                  <a:schemeClr val="tx2"/>
                </a:solidFill>
              </a:rPr>
              <a:t>  for (int k = 2; k &lt;= m &amp;&amp; k &lt;= n; k++) {</a:t>
            </a:r>
          </a:p>
          <a:p>
            <a:pPr marL="263525" indent="0">
              <a:lnSpc>
                <a:spcPct val="80000"/>
              </a:lnSpc>
              <a:buFont typeface="Monotype Sorts" pitchFamily="2" charset="2"/>
              <a:buNone/>
            </a:pPr>
            <a:r>
              <a:rPr lang="en-US" altLang="en-US" sz="2400">
                <a:solidFill>
                  <a:schemeClr val="tx2"/>
                </a:solidFill>
              </a:rPr>
              <a:t>    if (m % k == 0 &amp;&amp; n % k == 0)</a:t>
            </a:r>
          </a:p>
          <a:p>
            <a:pPr marL="263525" indent="0">
              <a:lnSpc>
                <a:spcPct val="80000"/>
              </a:lnSpc>
              <a:buFont typeface="Monotype Sorts" pitchFamily="2" charset="2"/>
              <a:buNone/>
            </a:pPr>
            <a:r>
              <a:rPr lang="en-US" altLang="en-US" sz="2400">
                <a:solidFill>
                  <a:schemeClr val="tx2"/>
                </a:solidFill>
              </a:rPr>
              <a:t>      gcd = k;</a:t>
            </a:r>
          </a:p>
          <a:p>
            <a:pPr marL="263525" indent="0">
              <a:lnSpc>
                <a:spcPct val="80000"/>
              </a:lnSpc>
              <a:buFont typeface="Monotype Sorts" pitchFamily="2" charset="2"/>
              <a:buNone/>
            </a:pPr>
            <a:r>
              <a:rPr lang="en-US" altLang="en-US" sz="2400">
                <a:solidFill>
                  <a:schemeClr val="tx2"/>
                </a:solidFill>
              </a:rPr>
              <a:t>  }</a:t>
            </a:r>
          </a:p>
          <a:p>
            <a:pPr marL="263525" indent="0">
              <a:lnSpc>
                <a:spcPct val="80000"/>
              </a:lnSpc>
              <a:buFont typeface="Monotype Sorts" pitchFamily="2" charset="2"/>
              <a:buNone/>
            </a:pPr>
            <a:r>
              <a:rPr lang="en-US" altLang="en-US" sz="2400">
                <a:solidFill>
                  <a:schemeClr val="tx2"/>
                </a:solidFill>
              </a:rPr>
              <a:t>  return gcd;</a:t>
            </a:r>
          </a:p>
          <a:p>
            <a:pPr marL="263525" indent="0">
              <a:lnSpc>
                <a:spcPct val="80000"/>
              </a:lnSpc>
              <a:buFont typeface="Monotype Sorts" pitchFamily="2" charset="2"/>
              <a:buNone/>
            </a:pPr>
            <a:r>
              <a:rPr lang="en-US" altLang="en-US" sz="2400">
                <a:solidFill>
                  <a:schemeClr val="tx2"/>
                </a:solidFill>
              </a:rPr>
              <a:t>}</a:t>
            </a:r>
          </a:p>
        </p:txBody>
      </p:sp>
      <p:sp>
        <p:nvSpPr>
          <p:cNvPr id="37901" name="Rectangle 12">
            <a:extLst>
              <a:ext uri="{FF2B5EF4-FFF2-40B4-BE49-F238E27FC236}">
                <a16:creationId xmlns:a16="http://schemas.microsoft.com/office/drawing/2014/main" id="{A2DD585E-04D0-424D-AE9B-FB194CC7D39F}"/>
              </a:ext>
            </a:extLst>
          </p:cNvPr>
          <p:cNvSpPr>
            <a:spLocks noChangeArrowheads="1"/>
          </p:cNvSpPr>
          <p:nvPr/>
        </p:nvSpPr>
        <p:spPr bwMode="auto">
          <a:xfrm>
            <a:off x="0" y="32305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903" name="Rectangle 14">
            <a:extLst>
              <a:ext uri="{FF2B5EF4-FFF2-40B4-BE49-F238E27FC236}">
                <a16:creationId xmlns:a16="http://schemas.microsoft.com/office/drawing/2014/main" id="{ECA19592-9093-45D3-9F5E-A0B761796DCD}"/>
              </a:ext>
            </a:extLst>
          </p:cNvPr>
          <p:cNvSpPr>
            <a:spLocks noChangeArrowheads="1"/>
          </p:cNvSpPr>
          <p:nvPr/>
        </p:nvSpPr>
        <p:spPr bwMode="auto">
          <a:xfrm>
            <a:off x="0" y="33258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37904" name="Object 15">
            <a:extLst>
              <a:ext uri="{FF2B5EF4-FFF2-40B4-BE49-F238E27FC236}">
                <a16:creationId xmlns:a16="http://schemas.microsoft.com/office/drawing/2014/main" id="{7C03DDF9-9B5C-4AE8-AC30-0DEC24999AD1}"/>
              </a:ext>
            </a:extLst>
          </p:cNvPr>
          <p:cNvGraphicFramePr>
            <a:graphicFrameLocks noChangeAspect="1"/>
          </p:cNvGraphicFramePr>
          <p:nvPr/>
        </p:nvGraphicFramePr>
        <p:xfrm>
          <a:off x="6934200" y="5410200"/>
          <a:ext cx="533400" cy="301625"/>
        </p:xfrm>
        <a:graphic>
          <a:graphicData uri="http://schemas.openxmlformats.org/presentationml/2006/ole">
            <mc:AlternateContent xmlns:mc="http://schemas.openxmlformats.org/markup-compatibility/2006">
              <mc:Choice xmlns:v="urn:schemas-microsoft-com:vml" Requires="v">
                <p:oleObj name="Equation" r:id="rId3" imgW="355292" imgH="203024" progId="Equation.3">
                  <p:embed/>
                </p:oleObj>
              </mc:Choice>
              <mc:Fallback>
                <p:oleObj name="Equation" r:id="rId3" imgW="355292" imgH="203024" progId="Equation.3">
                  <p:embed/>
                  <p:pic>
                    <p:nvPicPr>
                      <p:cNvPr id="37904" name="Object 15">
                        <a:extLst>
                          <a:ext uri="{FF2B5EF4-FFF2-40B4-BE49-F238E27FC236}">
                            <a16:creationId xmlns:a16="http://schemas.microsoft.com/office/drawing/2014/main" id="{7C03DDF9-9B5C-4AE8-AC30-0DEC24999A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4200" y="5410200"/>
                        <a:ext cx="533400" cy="301625"/>
                      </a:xfrm>
                      <a:prstGeom prst="rect">
                        <a:avLst/>
                      </a:prstGeom>
                      <a:noFill/>
                      <a:ln>
                        <a:noFill/>
                      </a:ln>
                      <a:extLst>
                        <a:ext uri="{909E8E84-426E-40DD-AFC4-6F175D3DCCD1}">
                          <a14:hiddenFill xmlns:a14="http://schemas.microsoft.com/office/drawing/2010/main">
                            <a:solidFill>
                              <a:srgbClr val="0000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4">
            <a:extLst>
              <a:ext uri="{FF2B5EF4-FFF2-40B4-BE49-F238E27FC236}">
                <a16:creationId xmlns:a16="http://schemas.microsoft.com/office/drawing/2014/main" id="{A932CD8E-0E28-4755-B45E-556F7DF68D64}"/>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606FBF6-96C7-4C55-BC05-91E99FE02289}" type="slidenum">
              <a:rPr lang="en-US" altLang="en-US" sz="1400"/>
              <a:pPr>
                <a:spcBef>
                  <a:spcPct val="0"/>
                </a:spcBef>
                <a:buClrTx/>
                <a:buSzTx/>
                <a:buFontTx/>
                <a:buNone/>
              </a:pPr>
              <a:t>32</a:t>
            </a:fld>
            <a:endParaRPr lang="en-US" altLang="en-US" sz="1400"/>
          </a:p>
        </p:txBody>
      </p:sp>
      <p:sp>
        <p:nvSpPr>
          <p:cNvPr id="38915" name="Rectangle 2">
            <a:extLst>
              <a:ext uri="{FF2B5EF4-FFF2-40B4-BE49-F238E27FC236}">
                <a16:creationId xmlns:a16="http://schemas.microsoft.com/office/drawing/2014/main" id="{635314E9-218F-4A31-A60B-41E897D89039}"/>
              </a:ext>
            </a:extLst>
          </p:cNvPr>
          <p:cNvSpPr>
            <a:spLocks noGrp="1" noChangeArrowheads="1"/>
          </p:cNvSpPr>
          <p:nvPr>
            <p:ph type="title"/>
          </p:nvPr>
        </p:nvSpPr>
        <p:spPr>
          <a:xfrm>
            <a:off x="685800" y="228600"/>
            <a:ext cx="7772400" cy="1143000"/>
          </a:xfrm>
          <a:noFill/>
        </p:spPr>
        <p:txBody>
          <a:bodyPr/>
          <a:lstStyle/>
          <a:p>
            <a:r>
              <a:rPr lang="en-US" altLang="en-US"/>
              <a:t>Case Study: GCD Algorithms Version 2</a:t>
            </a:r>
          </a:p>
        </p:txBody>
      </p:sp>
      <p:sp>
        <p:nvSpPr>
          <p:cNvPr id="38916" name="Rectangle 3">
            <a:extLst>
              <a:ext uri="{FF2B5EF4-FFF2-40B4-BE49-F238E27FC236}">
                <a16:creationId xmlns:a16="http://schemas.microsoft.com/office/drawing/2014/main" id="{2F22BE47-F937-4C54-964F-CEEB13520001}"/>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17" name="Rectangle 4">
            <a:extLst>
              <a:ext uri="{FF2B5EF4-FFF2-40B4-BE49-F238E27FC236}">
                <a16:creationId xmlns:a16="http://schemas.microsoft.com/office/drawing/2014/main" id="{ADD97709-FAA9-4A5C-8E51-A2E8C791D44C}"/>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18" name="Rectangle 5">
            <a:extLst>
              <a:ext uri="{FF2B5EF4-FFF2-40B4-BE49-F238E27FC236}">
                <a16:creationId xmlns:a16="http://schemas.microsoft.com/office/drawing/2014/main" id="{66FFA544-BEBE-4050-80AF-C235F7473678}"/>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19" name="Rectangle 6">
            <a:extLst>
              <a:ext uri="{FF2B5EF4-FFF2-40B4-BE49-F238E27FC236}">
                <a16:creationId xmlns:a16="http://schemas.microsoft.com/office/drawing/2014/main" id="{1F1324F5-DCAC-4874-A46C-BB47D4FAC2E2}"/>
              </a:ext>
            </a:extLst>
          </p:cNvPr>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0" name="Rectangle 7">
            <a:extLst>
              <a:ext uri="{FF2B5EF4-FFF2-40B4-BE49-F238E27FC236}">
                <a16:creationId xmlns:a16="http://schemas.microsoft.com/office/drawing/2014/main" id="{6C6D83CA-ECA0-484B-9497-7DDFD3A31A69}"/>
              </a:ext>
            </a:extLst>
          </p:cNvPr>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1" name="Rectangle 8">
            <a:extLst>
              <a:ext uri="{FF2B5EF4-FFF2-40B4-BE49-F238E27FC236}">
                <a16:creationId xmlns:a16="http://schemas.microsoft.com/office/drawing/2014/main" id="{783DCE33-E20A-430A-9F36-A1D6F5A79B30}"/>
              </a:ext>
            </a:extLst>
          </p:cNvPr>
          <p:cNvSpPr>
            <a:spLocks noChangeArrowheads="1"/>
          </p:cNvSpPr>
          <p:nvPr/>
        </p:nvSpPr>
        <p:spPr bwMode="auto">
          <a:xfrm>
            <a:off x="0" y="27241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2" name="Rectangle 9">
            <a:extLst>
              <a:ext uri="{FF2B5EF4-FFF2-40B4-BE49-F238E27FC236}">
                <a16:creationId xmlns:a16="http://schemas.microsoft.com/office/drawing/2014/main" id="{EB389FA2-6024-4848-AB34-4248677E0F7C}"/>
              </a:ext>
            </a:extLst>
          </p:cNvPr>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3" name="Rectangle 10">
            <a:extLst>
              <a:ext uri="{FF2B5EF4-FFF2-40B4-BE49-F238E27FC236}">
                <a16:creationId xmlns:a16="http://schemas.microsoft.com/office/drawing/2014/main" id="{10D91B0A-7EB4-4236-9EE2-56908AAA367A}"/>
              </a:ext>
            </a:extLst>
          </p:cNvPr>
          <p:cNvSpPr>
            <a:spLocks noChangeArrowheads="1"/>
          </p:cNvSpPr>
          <p:nvPr/>
        </p:nvSpPr>
        <p:spPr bwMode="auto">
          <a:xfrm>
            <a:off x="0" y="20113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4" name="Rectangle 11">
            <a:extLst>
              <a:ext uri="{FF2B5EF4-FFF2-40B4-BE49-F238E27FC236}">
                <a16:creationId xmlns:a16="http://schemas.microsoft.com/office/drawing/2014/main" id="{3F44D50D-F7B5-4ECE-BE70-17190F5652D8}"/>
              </a:ext>
            </a:extLst>
          </p:cNvPr>
          <p:cNvSpPr>
            <a:spLocks noGrp="1" noChangeArrowheads="1"/>
          </p:cNvSpPr>
          <p:nvPr>
            <p:ph type="body" idx="1"/>
          </p:nvPr>
        </p:nvSpPr>
        <p:spPr>
          <a:xfrm>
            <a:off x="152400" y="1828800"/>
            <a:ext cx="5715000" cy="2819400"/>
          </a:xfrm>
        </p:spPr>
        <p:txBody>
          <a:bodyPr/>
          <a:lstStyle/>
          <a:p>
            <a:pPr marL="263525" indent="0">
              <a:lnSpc>
                <a:spcPct val="80000"/>
              </a:lnSpc>
              <a:buFont typeface="Monotype Sorts" pitchFamily="2" charset="2"/>
              <a:buNone/>
            </a:pPr>
            <a:r>
              <a:rPr lang="en-US" altLang="en-US" sz="2800" b="1">
                <a:solidFill>
                  <a:schemeClr val="tx2"/>
                </a:solidFill>
              </a:rPr>
              <a:t>for</a:t>
            </a:r>
            <a:r>
              <a:rPr lang="en-US" altLang="en-US" sz="2800">
                <a:solidFill>
                  <a:schemeClr val="tx2"/>
                </a:solidFill>
              </a:rPr>
              <a:t> (</a:t>
            </a:r>
            <a:r>
              <a:rPr lang="en-US" altLang="en-US" sz="2800" b="1">
                <a:solidFill>
                  <a:schemeClr val="tx2"/>
                </a:solidFill>
              </a:rPr>
              <a:t>int</a:t>
            </a:r>
            <a:r>
              <a:rPr lang="en-US" altLang="en-US" sz="2800">
                <a:solidFill>
                  <a:schemeClr val="tx2"/>
                </a:solidFill>
              </a:rPr>
              <a:t> k = n; k &gt;= 1; k--) {</a:t>
            </a:r>
          </a:p>
          <a:p>
            <a:pPr marL="263525" indent="0">
              <a:lnSpc>
                <a:spcPct val="80000"/>
              </a:lnSpc>
              <a:buFont typeface="Monotype Sorts" pitchFamily="2" charset="2"/>
              <a:buNone/>
            </a:pPr>
            <a:r>
              <a:rPr lang="en-US" altLang="en-US" sz="2800">
                <a:solidFill>
                  <a:schemeClr val="tx2"/>
                </a:solidFill>
              </a:rPr>
              <a:t>  </a:t>
            </a:r>
            <a:r>
              <a:rPr lang="en-US" altLang="en-US" sz="2800" b="1">
                <a:solidFill>
                  <a:schemeClr val="tx2"/>
                </a:solidFill>
              </a:rPr>
              <a:t>if</a:t>
            </a:r>
            <a:r>
              <a:rPr lang="en-US" altLang="en-US" sz="2800">
                <a:solidFill>
                  <a:schemeClr val="tx2"/>
                </a:solidFill>
              </a:rPr>
              <a:t> (m % k == 0 &amp;&amp; n % k == 0) {</a:t>
            </a:r>
          </a:p>
          <a:p>
            <a:pPr marL="263525" indent="0">
              <a:lnSpc>
                <a:spcPct val="80000"/>
              </a:lnSpc>
              <a:buFont typeface="Monotype Sorts" pitchFamily="2" charset="2"/>
              <a:buNone/>
            </a:pPr>
            <a:r>
              <a:rPr lang="en-US" altLang="en-US" sz="2800">
                <a:solidFill>
                  <a:schemeClr val="tx2"/>
                </a:solidFill>
              </a:rPr>
              <a:t>    gcd = k;</a:t>
            </a:r>
          </a:p>
          <a:p>
            <a:pPr marL="263525" indent="0">
              <a:lnSpc>
                <a:spcPct val="80000"/>
              </a:lnSpc>
              <a:buFont typeface="Monotype Sorts" pitchFamily="2" charset="2"/>
              <a:buNone/>
            </a:pPr>
            <a:r>
              <a:rPr lang="en-US" altLang="en-US" sz="2800">
                <a:solidFill>
                  <a:schemeClr val="tx2"/>
                </a:solidFill>
              </a:rPr>
              <a:t>    break;</a:t>
            </a:r>
          </a:p>
          <a:p>
            <a:pPr marL="263525" indent="0">
              <a:lnSpc>
                <a:spcPct val="80000"/>
              </a:lnSpc>
              <a:buFont typeface="Monotype Sorts" pitchFamily="2" charset="2"/>
              <a:buNone/>
            </a:pPr>
            <a:r>
              <a:rPr lang="en-US" altLang="en-US" sz="2800">
                <a:solidFill>
                  <a:schemeClr val="tx2"/>
                </a:solidFill>
              </a:rPr>
              <a:t>  }</a:t>
            </a:r>
          </a:p>
          <a:p>
            <a:pPr marL="263525" indent="0">
              <a:lnSpc>
                <a:spcPct val="80000"/>
              </a:lnSpc>
              <a:buFont typeface="Monotype Sorts" pitchFamily="2" charset="2"/>
              <a:buNone/>
            </a:pPr>
            <a:r>
              <a:rPr lang="en-US" altLang="en-US" sz="2800">
                <a:solidFill>
                  <a:schemeClr val="tx2"/>
                </a:solidFill>
              </a:rPr>
              <a:t>}</a:t>
            </a:r>
          </a:p>
        </p:txBody>
      </p:sp>
      <p:sp>
        <p:nvSpPr>
          <p:cNvPr id="38925" name="Rectangle 12">
            <a:extLst>
              <a:ext uri="{FF2B5EF4-FFF2-40B4-BE49-F238E27FC236}">
                <a16:creationId xmlns:a16="http://schemas.microsoft.com/office/drawing/2014/main" id="{8093B5E9-23FB-4507-ACFF-0631B51E52A5}"/>
              </a:ext>
            </a:extLst>
          </p:cNvPr>
          <p:cNvSpPr>
            <a:spLocks noChangeArrowheads="1"/>
          </p:cNvSpPr>
          <p:nvPr/>
        </p:nvSpPr>
        <p:spPr bwMode="auto">
          <a:xfrm>
            <a:off x="0" y="32305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7" name="Rectangle 14">
            <a:extLst>
              <a:ext uri="{FF2B5EF4-FFF2-40B4-BE49-F238E27FC236}">
                <a16:creationId xmlns:a16="http://schemas.microsoft.com/office/drawing/2014/main" id="{9C10EE36-F9F7-4006-BA46-C479731AB160}"/>
              </a:ext>
            </a:extLst>
          </p:cNvPr>
          <p:cNvSpPr>
            <a:spLocks noChangeArrowheads="1"/>
          </p:cNvSpPr>
          <p:nvPr/>
        </p:nvSpPr>
        <p:spPr bwMode="auto">
          <a:xfrm>
            <a:off x="0" y="33258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4">
            <a:extLst>
              <a:ext uri="{FF2B5EF4-FFF2-40B4-BE49-F238E27FC236}">
                <a16:creationId xmlns:a16="http://schemas.microsoft.com/office/drawing/2014/main" id="{A0892937-90F9-4F00-AB19-92DFB2423DFF}"/>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CED2574-16ED-4296-AD10-4836A4207CF7}" type="slidenum">
              <a:rPr lang="en-US" altLang="en-US" sz="1400"/>
              <a:pPr>
                <a:spcBef>
                  <a:spcPct val="0"/>
                </a:spcBef>
                <a:buClrTx/>
                <a:buSzTx/>
                <a:buFontTx/>
                <a:buNone/>
              </a:pPr>
              <a:t>33</a:t>
            </a:fld>
            <a:endParaRPr lang="en-US" altLang="en-US" sz="1400"/>
          </a:p>
        </p:txBody>
      </p:sp>
      <p:sp>
        <p:nvSpPr>
          <p:cNvPr id="41987" name="Rectangle 2">
            <a:extLst>
              <a:ext uri="{FF2B5EF4-FFF2-40B4-BE49-F238E27FC236}">
                <a16:creationId xmlns:a16="http://schemas.microsoft.com/office/drawing/2014/main" id="{55E97A8F-6E97-4247-849E-1D9A6EBACFFB}"/>
              </a:ext>
            </a:extLst>
          </p:cNvPr>
          <p:cNvSpPr>
            <a:spLocks noGrp="1" noChangeArrowheads="1"/>
          </p:cNvSpPr>
          <p:nvPr>
            <p:ph type="title"/>
          </p:nvPr>
        </p:nvSpPr>
        <p:spPr>
          <a:xfrm>
            <a:off x="228600" y="0"/>
            <a:ext cx="8763000" cy="990600"/>
          </a:xfrm>
        </p:spPr>
        <p:txBody>
          <a:bodyPr/>
          <a:lstStyle/>
          <a:p>
            <a:r>
              <a:rPr lang="en-US" altLang="en-US" sz="4000">
                <a:latin typeface="Courier New" panose="02070309020205020404" pitchFamily="49" charset="0"/>
                <a:cs typeface="Courier New" panose="02070309020205020404" pitchFamily="49" charset="0"/>
              </a:rPr>
              <a:t>Euclid’s</a:t>
            </a:r>
            <a:r>
              <a:rPr lang="en-US" altLang="en-US" sz="4000"/>
              <a:t> Algorithm Implementation</a:t>
            </a:r>
          </a:p>
        </p:txBody>
      </p:sp>
      <p:sp>
        <p:nvSpPr>
          <p:cNvPr id="41988" name="Rectangle 3">
            <a:extLst>
              <a:ext uri="{FF2B5EF4-FFF2-40B4-BE49-F238E27FC236}">
                <a16:creationId xmlns:a16="http://schemas.microsoft.com/office/drawing/2014/main" id="{2CAB473C-427F-4BC7-8AF3-8F6BD4532F39}"/>
              </a:ext>
            </a:extLst>
          </p:cNvPr>
          <p:cNvSpPr>
            <a:spLocks noGrp="1" noChangeArrowheads="1"/>
          </p:cNvSpPr>
          <p:nvPr>
            <p:ph type="body" idx="1"/>
          </p:nvPr>
        </p:nvSpPr>
        <p:spPr>
          <a:xfrm>
            <a:off x="228600" y="1143000"/>
            <a:ext cx="8610600" cy="3352800"/>
          </a:xfrm>
        </p:spPr>
        <p:txBody>
          <a:bodyPr/>
          <a:lstStyle/>
          <a:p>
            <a:pPr>
              <a:lnSpc>
                <a:spcPct val="80000"/>
              </a:lnSpc>
              <a:buFont typeface="Monotype Sorts" pitchFamily="2" charset="2"/>
              <a:buNone/>
            </a:pPr>
            <a:r>
              <a:rPr lang="en-US" altLang="en-US" sz="3600">
                <a:solidFill>
                  <a:schemeClr val="tx2"/>
                </a:solidFill>
              </a:rPr>
              <a:t> public static int gcd(int m, int n) {</a:t>
            </a:r>
          </a:p>
          <a:p>
            <a:pPr>
              <a:lnSpc>
                <a:spcPct val="80000"/>
              </a:lnSpc>
              <a:buFont typeface="Monotype Sorts" pitchFamily="2" charset="2"/>
              <a:buNone/>
            </a:pPr>
            <a:r>
              <a:rPr lang="en-US" altLang="en-US" sz="3600">
                <a:solidFill>
                  <a:schemeClr val="tx2"/>
                </a:solidFill>
              </a:rPr>
              <a:t>    if (m % n == 0) </a:t>
            </a:r>
          </a:p>
          <a:p>
            <a:pPr>
              <a:lnSpc>
                <a:spcPct val="80000"/>
              </a:lnSpc>
              <a:buFont typeface="Monotype Sorts" pitchFamily="2" charset="2"/>
              <a:buNone/>
            </a:pPr>
            <a:r>
              <a:rPr lang="en-US" altLang="en-US" sz="3600">
                <a:solidFill>
                  <a:schemeClr val="tx2"/>
                </a:solidFill>
              </a:rPr>
              <a:t>      return n;</a:t>
            </a:r>
          </a:p>
          <a:p>
            <a:pPr>
              <a:lnSpc>
                <a:spcPct val="80000"/>
              </a:lnSpc>
              <a:buFont typeface="Monotype Sorts" pitchFamily="2" charset="2"/>
              <a:buNone/>
            </a:pPr>
            <a:r>
              <a:rPr lang="en-US" altLang="en-US" sz="3600">
                <a:solidFill>
                  <a:schemeClr val="tx2"/>
                </a:solidFill>
              </a:rPr>
              <a:t>    else</a:t>
            </a:r>
          </a:p>
          <a:p>
            <a:pPr>
              <a:lnSpc>
                <a:spcPct val="80000"/>
              </a:lnSpc>
              <a:buFont typeface="Monotype Sorts" pitchFamily="2" charset="2"/>
              <a:buNone/>
            </a:pPr>
            <a:r>
              <a:rPr lang="en-US" altLang="en-US" sz="3600">
                <a:solidFill>
                  <a:schemeClr val="tx2"/>
                </a:solidFill>
              </a:rPr>
              <a:t>      return gcd(n, m % n);</a:t>
            </a:r>
          </a:p>
          <a:p>
            <a:pPr>
              <a:lnSpc>
                <a:spcPct val="80000"/>
              </a:lnSpc>
              <a:buFont typeface="Monotype Sorts" pitchFamily="2" charset="2"/>
              <a:buNone/>
            </a:pPr>
            <a:r>
              <a:rPr lang="en-US" altLang="en-US" sz="3600">
                <a:solidFill>
                  <a:schemeClr val="tx2"/>
                </a:solidFill>
              </a:rPr>
              <a:t>  }</a:t>
            </a:r>
          </a:p>
        </p:txBody>
      </p:sp>
    </p:spTree>
  </p:cSld>
  <p:clrMapOvr>
    <a:masterClrMapping/>
  </p:clrMapOvr>
</p:sld>
</file>

<file path=ppt/theme/theme1.xml><?xml version="1.0" encoding="utf-8"?>
<a:theme xmlns:a="http://schemas.openxmlformats.org/drawingml/2006/main" name="International">
  <a:themeElements>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fontScheme name="International">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International 1">
        <a:dk1>
          <a:srgbClr val="000000"/>
        </a:dk1>
        <a:lt1>
          <a:srgbClr val="FFFFFF"/>
        </a:lt1>
        <a:dk2>
          <a:srgbClr val="0000FF"/>
        </a:dk2>
        <a:lt2>
          <a:srgbClr val="FFFF99"/>
        </a:lt2>
        <a:accent1>
          <a:srgbClr val="009966"/>
        </a:accent1>
        <a:accent2>
          <a:srgbClr val="00CCCC"/>
        </a:accent2>
        <a:accent3>
          <a:srgbClr val="AAAAFF"/>
        </a:accent3>
        <a:accent4>
          <a:srgbClr val="DADADA"/>
        </a:accent4>
        <a:accent5>
          <a:srgbClr val="AACAB8"/>
        </a:accent5>
        <a:accent6>
          <a:srgbClr val="00B9B9"/>
        </a:accent6>
        <a:hlink>
          <a:srgbClr val="000080"/>
        </a:hlink>
        <a:folHlink>
          <a:srgbClr val="9999FF"/>
        </a:folHlink>
      </a:clrScheme>
      <a:clrMap bg1="dk2" tx1="lt1" bg2="dk1" tx2="lt2" accent1="accent1" accent2="accent2" accent3="accent3" accent4="accent4" accent5="accent5" accent6="accent6" hlink="hlink" folHlink="folHlink"/>
    </a:extraClrScheme>
    <a:extraClrScheme>
      <a:clrScheme name="International 2">
        <a:dk1>
          <a:srgbClr val="000000"/>
        </a:dk1>
        <a:lt1>
          <a:srgbClr val="FFFFFF"/>
        </a:lt1>
        <a:dk2>
          <a:srgbClr val="000080"/>
        </a:dk2>
        <a:lt2>
          <a:srgbClr val="003399"/>
        </a:lt2>
        <a:accent1>
          <a:srgbClr val="9999FF"/>
        </a:accent1>
        <a:accent2>
          <a:srgbClr val="FF99FF"/>
        </a:accent2>
        <a:accent3>
          <a:srgbClr val="FFFFFF"/>
        </a:accent3>
        <a:accent4>
          <a:srgbClr val="000000"/>
        </a:accent4>
        <a:accent5>
          <a:srgbClr val="CACAFF"/>
        </a:accent5>
        <a:accent6>
          <a:srgbClr val="E78AE7"/>
        </a:accent6>
        <a:hlink>
          <a:srgbClr val="85ADFF"/>
        </a:hlink>
        <a:folHlink>
          <a:srgbClr val="00CCCC"/>
        </a:folHlink>
      </a:clrScheme>
      <a:clrMap bg1="lt1" tx1="dk1" bg2="lt2" tx2="dk2" accent1="accent1" accent2="accent2" accent3="accent3" accent4="accent4" accent5="accent5" accent6="accent6" hlink="hlink" folHlink="folHlink"/>
    </a:extraClrScheme>
    <a:extraClrScheme>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C:\MSOffice\Templates\Presentation Designs\International.pot</Template>
  <TotalTime>29905</TotalTime>
  <Words>2747</Words>
  <Application>Microsoft Office PowerPoint</Application>
  <PresentationFormat>On-screen Show (4:3)</PresentationFormat>
  <Paragraphs>368</Paragraphs>
  <Slides>33</Slides>
  <Notes>33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33</vt:i4>
      </vt:variant>
    </vt:vector>
  </HeadingPairs>
  <TitlesOfParts>
    <vt:vector size="44" baseType="lpstr">
      <vt:lpstr>Arial</vt:lpstr>
      <vt:lpstr>Cambria Math</vt:lpstr>
      <vt:lpstr>Courier</vt:lpstr>
      <vt:lpstr>Courier New</vt:lpstr>
      <vt:lpstr>Monotype Sorts</vt:lpstr>
      <vt:lpstr>Roboto</vt:lpstr>
      <vt:lpstr>Times New Roman</vt:lpstr>
      <vt:lpstr>Wingdings</vt:lpstr>
      <vt:lpstr>International</vt:lpstr>
      <vt:lpstr>Picture</vt:lpstr>
      <vt:lpstr>Equation</vt:lpstr>
      <vt:lpstr>Searching and Algorithms Analysis</vt:lpstr>
      <vt:lpstr>Executing Time </vt:lpstr>
      <vt:lpstr>Growth Rate </vt:lpstr>
      <vt:lpstr>Constant Time Operations</vt:lpstr>
      <vt:lpstr>Comparing Common Growth Functions</vt:lpstr>
      <vt:lpstr>Comparing Common Growth Functions</vt:lpstr>
      <vt:lpstr>Ignoring Multiplicative Constants </vt:lpstr>
      <vt:lpstr>Ignoring Non-Dominating Terms</vt:lpstr>
      <vt:lpstr>The seven useful functions</vt:lpstr>
      <vt:lpstr>PowerPoint Presentation</vt:lpstr>
      <vt:lpstr>Useful Mathematic Summations</vt:lpstr>
      <vt:lpstr>Check Point</vt:lpstr>
      <vt:lpstr>Determining Big-O  worst-case algorithm analysis</vt:lpstr>
      <vt:lpstr>Repetition: Simple Loops</vt:lpstr>
      <vt:lpstr>Repetition: Nested Loops</vt:lpstr>
      <vt:lpstr>Repetition: Nested Loops</vt:lpstr>
      <vt:lpstr>Check Point </vt:lpstr>
      <vt:lpstr>Sequence</vt:lpstr>
      <vt:lpstr>Selection</vt:lpstr>
      <vt:lpstr>Logarithm: Analyzing Binary Search</vt:lpstr>
      <vt:lpstr>Check Point</vt:lpstr>
      <vt:lpstr>Check Point</vt:lpstr>
      <vt:lpstr>Check Point</vt:lpstr>
      <vt:lpstr>Check Point</vt:lpstr>
      <vt:lpstr>Check Point</vt:lpstr>
      <vt:lpstr>Check Point</vt:lpstr>
      <vt:lpstr>Check Point</vt:lpstr>
      <vt:lpstr>Analyzing Tower of Hanoi</vt:lpstr>
      <vt:lpstr>Case Study: Fibonacci Numbers</vt:lpstr>
      <vt:lpstr>Case Study: Non-recursive version of Fibonacci Numbers</vt:lpstr>
      <vt:lpstr>Case Study: GCD Algorithms Version 1</vt:lpstr>
      <vt:lpstr>Case Study: GCD Algorithms Version 2</vt:lpstr>
      <vt:lpstr>Euclid’s Algorithm Implementation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15 Multithreading</dc:title>
  <dc:creator>Y. Daniel Liang</dc:creator>
  <cp:lastModifiedBy>Zartoshty, Bahram</cp:lastModifiedBy>
  <cp:revision>248</cp:revision>
  <cp:lastPrinted>2026-03-02T22:33:34Z</cp:lastPrinted>
  <dcterms:created xsi:type="dcterms:W3CDTF">1995-06-10T17:31:50Z</dcterms:created>
  <dcterms:modified xsi:type="dcterms:W3CDTF">2026-03-02T22:36:52Z</dcterms:modified>
</cp:coreProperties>
</file>