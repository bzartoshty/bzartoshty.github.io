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7772400" cy="100584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88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594360" y="9418320"/>
            <a:ext cx="5394960" cy="274320"/>
          </a:xfrm>
          <a:prstGeom prst="rect">
            <a:avLst/>
          </a:prstGeom>
        </p:spPr>
        <p:txBody>
          <a:bodyPr/>
          <a:lstStyle/>
          <a:p>
            <a:endParaRPr/>
          </a:p>
        </p:txBody>
      </p:sp>
      <p:sp>
        <p:nvSpPr>
          <p:cNvPr id="3" name="Date Placeholder"/>
          <p:cNvSpPr>
            <a:spLocks noGrp="1"/>
          </p:cNvSpPr>
          <p:nvPr>
            <p:ph type="dt" sz="quarter" idx="1"/>
          </p:nvPr>
        </p:nvSpPr>
        <p:spPr>
          <a:xfrm>
            <a:off x="594360" y="9418320"/>
            <a:ext cx="5394960" cy="274320"/>
          </a:xfrm>
          <a:prstGeom prst="rect">
            <a:avLst/>
          </a:prstGeom>
        </p:spPr>
        <p:txBody>
          <a:bodyPr/>
          <a:lstStyle/>
          <a:p>
            <a:endParaRPr/>
          </a:p>
        </p:txBody>
      </p:sp>
      <p:sp>
        <p:nvSpPr>
          <p:cNvPr id="4" name="Slide Image Placeholder"/>
          <p:cNvSpPr>
            <a:spLocks noGrp="1" noRot="1" noChangeAspect="1"/>
          </p:cNvSpPr>
          <p:nvPr>
            <p:ph type="sldImg" idx="2"/>
          </p:nvPr>
        </p:nvSpPr>
        <p:spPr>
          <a:xfrm>
            <a:off x="594360" y="594360"/>
            <a:ext cx="6583680" cy="3703320"/>
          </a:xfrm>
          <a:prstGeom prst="rect">
            <a:avLst/>
          </a:prstGeom>
        </p:spPr>
        <p:txBody>
          <a:bodyPr/>
          <a:lstStyle/>
          <a:p>
            <a:endParaRPr/>
          </a:p>
        </p:txBody>
      </p:sp>
      <p:sp>
        <p:nvSpPr>
          <p:cNvPr id="5" name="Notes Placeholder"/>
          <p:cNvSpPr>
            <a:spLocks noGrp="1"/>
          </p:cNvSpPr>
          <p:nvPr>
            <p:ph type="body" sz="quarter" idx="3"/>
          </p:nvPr>
        </p:nvSpPr>
        <p:spPr>
          <a:xfrm>
            <a:off x="594360" y="4617720"/>
            <a:ext cx="6583680" cy="4480560"/>
          </a:xfrm>
          <a:prstGeom prst="rect">
            <a:avLst/>
          </a:prstGeom>
        </p:spPr>
        <p:txBody>
          <a:bodyPr wrap="square" lIns="0" tIns="0" rIns="0" bIns="0" anchor="t"/>
          <a:lstStyle/>
          <a:p>
            <a:pPr>
              <a:lnSpc>
                <a:spcPct val="115000"/>
              </a:lnSpc>
            </a:pPr>
            <a:endParaRPr/>
          </a:p>
        </p:txBody>
      </p:sp>
      <p:sp>
        <p:nvSpPr>
          <p:cNvPr id="6" name="Footer Placeholder"/>
          <p:cNvSpPr>
            <a:spLocks noGrp="1"/>
          </p:cNvSpPr>
          <p:nvPr>
            <p:ph type="ftr" sz="quarter" idx="4"/>
          </p:nvPr>
        </p:nvSpPr>
        <p:spPr>
          <a:xfrm>
            <a:off x="594360" y="9418320"/>
            <a:ext cx="5394960" cy="274320"/>
          </a:xfrm>
          <a:prstGeom prst="rect">
            <a:avLst/>
          </a:prstGeom>
        </p:spPr>
        <p:txBody>
          <a:bodyPr/>
          <a:lstStyle/>
          <a:p>
            <a:endParaRPr/>
          </a:p>
        </p:txBody>
      </p:sp>
      <p:sp>
        <p:nvSpPr>
          <p:cNvPr id="7" name="Slide Number Placeholder"/>
          <p:cNvSpPr>
            <a:spLocks noGrp="1"/>
          </p:cNvSpPr>
          <p:nvPr>
            <p:ph type="sldNum" sz="quarter" idx="5"/>
          </p:nvPr>
        </p:nvSpPr>
        <p:spPr>
          <a:xfrm>
            <a:off x="6675120" y="9418320"/>
            <a:ext cx="502920" cy="274320"/>
          </a:xfrm>
          <a:prstGeom prst="rect">
            <a:avLst/>
          </a:prstGeom>
        </p:spPr>
        <p:txBody>
          <a:bodyPr wrap="square" lIns="0" tIns="0" rIns="0" bIns="0" anchor="t"/>
          <a:lstStyle/>
          <a:p>
            <a:pPr>
              <a:lnSpc>
                <a:spcPct val="115000"/>
              </a:lnSpc>
            </a:pPr>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Keep the Java examples folder beside the PowerPoint. Compile all files together with javac --release 17 *.java. Print Notes Pages for the teaching notes. The separate PDF contains only slides.</a:t>
            </a:r>
            <a:endParaRPr/>
          </a:p>
          <a:p>
            <a:pPr>
              <a:buNone/>
              <a:defRPr sz="1200">
                <a:latin typeface="Arial"/>
                <a:ea typeface="Arial"/>
                <a:cs typeface="Arial"/>
              </a:defRPr>
            </a:pPr>
            <a:r>
              <a:rPr sz="1200">
                <a:latin typeface="Arial"/>
                <a:ea typeface="Arial"/>
                <a:cs typeface="Arial"/>
              </a:rPr>
              <a:t>Local Java: TestBST.java.</a:t>
            </a:r>
            <a:endParaRPr/>
          </a:p>
          <a:p>
            <a:pPr>
              <a:buNone/>
              <a:defRPr sz="1200">
                <a:latin typeface="Arial"/>
                <a:ea typeface="Arial"/>
                <a:cs typeface="Arial"/>
              </a:defRPr>
            </a:pPr>
            <a:endParaRPr/>
          </a:p>
          <a:p>
            <a:pPr>
              <a:buNone/>
              <a:defRPr sz="1200">
                <a:latin typeface="Arial"/>
                <a:ea typeface="Arial"/>
                <a:cs typeface="Arial"/>
              </a:defRPr>
            </a:pPr>
            <a:r>
              <a:rPr sz="1200">
                <a:latin typeface="Arial"/>
                <a:ea typeface="Arial"/>
                <a:cs typeface="Arial"/>
              </a:rPr>
              <a:t>The deck now includes discussion prompts and quizzes. Their worked solutions are on Notes Pages. The published PDF contains slide faces only. Keep the Java folder beside this PowerPoint.</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Discussion: why does the same key set allow several different tree shapes? Ordering determines legal positions, but insertion order determines shape.</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Array costs assume sorted arrays and arbitrary insertion positions. Linked-list updates are O(1) only when the required location and predecessor are already available. BST operations take O(h+1). Source: https://algs4.cs.princeton.edu/32bst/</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Suggested response: A sorted array is reasonable for a mostly static catalog. Binary search takes O(log n), and the array stores values compactly. Arbitrary insertions or deletions can shift O(n) entries. A balanced BST is reasonable for frequent ordered updates. Search, insert, and delete take O(h+1); logarithmic time requires logarithmic height. An ordinary BST can become a chain, so the word BST alone gives no logarithmic guarantee. Accept alternatives when students state the workload and assumptions. Ask whether sorted iteration or range queries matter.</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Ask: why would adding an edge to a connected tree create a cycle? There is already a unique path between its endpoints.</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11. A subtree includes its root and all descendants.</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Quiz: is every binary tree a BST? No. The ordering condition is additional, recursive, and applies to all descendants.</a:t>
            </a:r>
            <a:endParaRPr/>
          </a:p>
          <a:p>
            <a:pPr>
              <a:buNone/>
              <a:defRPr sz="1200">
                <a:latin typeface="Arial"/>
                <a:ea typeface="Arial"/>
                <a:cs typeface="Arial"/>
              </a:defRPr>
            </a:pPr>
            <a:endParaRPr/>
          </a:p>
          <a:p>
            <a:pPr>
              <a:buNone/>
              <a:defRPr sz="1200">
                <a:latin typeface="Arial"/>
                <a:ea typeface="Arial"/>
                <a:cs typeface="Arial"/>
              </a:defRPr>
            </a:pPr>
            <a:r>
              <a:rPr sz="1200">
                <a:latin typeface="Arial"/>
                <a:ea typeface="Arial"/>
                <a:cs typeface="Arial"/>
              </a:rPr>
              <a:t>Checkpoint solution: A binary tree need not be a BST. For example, root 10 with a left child 12 is binary but violates ordering. Unique keys here means compareTo equality, not necessarily Object.equals.</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Convention: count edges. Empty-tree height is −1, leaf height is 0, root depth is 0. Level equals depth in this lesson. The original mixes edge and node counts.</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traversal example has height 3 and four levels. HeightDemo also shows empty height -1. Depth and height count edges throughout.</a:t>
            </a:r>
          </a:p>
          <a:p>
            <a:pPr>
              <a:buNone/>
              <a:defRPr sz="1200">
                <a:latin typeface="Arial"/>
                <a:ea typeface="Arial"/>
                <a:cs typeface="Arial"/>
              </a:defRPr>
            </a:pPr>
            <a:r>
              <a:rPr sz="1200">
                <a:latin typeface="Arial"/>
                <a:ea typeface="Arial"/>
                <a:cs typeface="Arial"/>
              </a:rPr>
              <a:t>Local Java: TraversalDemo.java, HeightDemo.java.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Terminology varies between textbooks. This lesson uses full/proper for zero or two children and perfect for all leaves at one depth. Height-balanced means the AVL local height condition, without teaching rotations here.</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A is full, perfect, complete, and height-balanced. B is complete and height-balanced, but neither full nor perfect: its root has only one child. C has none of the four properties: a right-only chain leaves a left gap and the root subtree heights differ by 2. Heights count edges, with an empty subtree at -1. These are structural properties independent of BST ordering. All three drawings also happen to satisfy the unique-key BST rule.</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41. This consistent example has root 12.</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Local Java: TestBST.java, BSTPractice.java.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Answer: the left tree is a BST. The right drawing is invalid: node 5 has three children, and node 10 has descendant 15, which exceeds ancestor 11, and 21 is left of 20. More simply identify any one violation. Diagram adapted from supplied slide 29.</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invalid drawing also has a node with three children, so the binary-tree condition must be checked before BST bounds. BSTPractice illustrates a separate binary-tree ancestor-bound violation.</a:t>
            </a:r>
          </a:p>
          <a:p>
            <a:pPr>
              <a:buNone/>
              <a:defRPr sz="1200">
                <a:latin typeface="Arial"/>
                <a:ea typeface="Arial"/>
                <a:cs typeface="Arial"/>
              </a:defRPr>
            </a:pPr>
            <a:r>
              <a:rPr sz="1200">
                <a:latin typeface="Arial"/>
                <a:ea typeface="Arial"/>
                <a:cs typeface="Arial"/>
              </a:rPr>
              <a:t>Local Java: BSTPractice.java.</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Teaching prompt: Give one minute of individual reasoning before discussion. Solution: the left drawing satisfies the BST bounds. The right drawing is not binary because node 5 has three children. It also violates ordering: 15 lies in the left subtree of 11, and 21 lies to the left of 20. Ask for one structural violation and one ordering violation.</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 The drawing is a binary tree, but it is not a BST. Node 25 is the right child of 10, so it must exceed 10. It also lies in the left subtree of ancestor 20, so it must be less than 20. Its permitted interval is (10,20). Checking only parent-child pairs misses the ancestor constraint. A bounds validator passes the inherited lower and upper limits into both recursive calls. The linked BSTPractice program demonstrates the same mistake with root 12, left child 5, and descendant 15.</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All Java examples use ordering equality (compareTo == 0). Non-null keys are required. Source: https://docs.oracle.com/en/java/javase/18/docs/api/java.base/java/lang/Comparable.html</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slide shows a skeleton. The complete BST implements Tree and uses the separate Node class. Null keys are rejected. Never mutate a key in a way that changes its comparison order while stored.</a:t>
            </a:r>
          </a:p>
          <a:p>
            <a:pPr>
              <a:buNone/>
              <a:defRPr sz="1200">
                <a:latin typeface="Arial"/>
                <a:ea typeface="Arial"/>
                <a:cs typeface="Arial"/>
              </a:defRPr>
            </a:pPr>
            <a:r>
              <a:rPr sz="1200">
                <a:latin typeface="Arial"/>
                <a:ea typeface="Arial"/>
                <a:cs typeface="Arial"/>
              </a:rPr>
              <a:t>Local Java: Node.java, BinarySearchTree.java.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OrderingEqualityDemo uses BigDecimal 1.0 and 1.00: equals is false but compareTo is zero, so the second insertion is rejected. This tree uses comparison equality throughout.</a:t>
            </a:r>
            <a:endParaRPr/>
          </a:p>
          <a:p>
            <a:pPr>
              <a:buNone/>
              <a:defRPr sz="1200">
                <a:latin typeface="Arial"/>
                <a:ea typeface="Arial"/>
                <a:cs typeface="Arial"/>
              </a:defRPr>
            </a:pPr>
            <a:r>
              <a:rPr sz="1200">
                <a:latin typeface="Arial"/>
                <a:ea typeface="Arial"/>
                <a:cs typeface="Arial"/>
              </a:rPr>
              <a:t>Local Java: Tree.java, OrderingEqualityDemo.java.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a is true, b is false, and n is 1. This BST treats compareTo returning zero as equality, so the second insertion is a duplicate. BigDecimal("1.0").equals(BigDecimal("1.00")) is false because the scales differ. Their compareTo result is zero. Search and deletion must use the same ordering rule as insertion. Import java.math.BigDecimal in a standalone program. The linked driver already contains the complete example. Source: https://docs.oracle.com/en/java/javase/17/docs/api/java.base/java/math/BigDecimal.html</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41. Search 10 visits 12, 5, 9, 10. Search 8 visits 12, 5, 9, 7, then null.</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SearchDemo prints the actual paths: 10 visits 12,5,9,10; 8 visits 12,5,9,7 and then reaches null.</a:t>
            </a:r>
          </a:p>
          <a:p>
            <a:pPr>
              <a:buNone/>
              <a:defRPr sz="1200">
                <a:latin typeface="Arial"/>
                <a:ea typeface="Arial"/>
                <a:cs typeface="Arial"/>
              </a:defRPr>
            </a:pPr>
            <a:r>
              <a:rPr sz="1200">
                <a:latin typeface="Arial"/>
                <a:ea typeface="Arial"/>
                <a:cs typeface="Arial"/>
              </a:rPr>
              <a:t>Local Java: SearchDemo.java.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Compare the loop with containsRecursive. Both follow one path. Iteration uses constant auxiliary space; recursion consumes one stack frame per visited level.</a:t>
            </a:r>
            <a:endParaRPr/>
          </a:p>
          <a:p>
            <a:pPr>
              <a:buNone/>
              <a:defRPr sz="1200">
                <a:latin typeface="Arial"/>
                <a:ea typeface="Arial"/>
                <a:cs typeface="Arial"/>
              </a:defRPr>
            </a:pPr>
            <a:r>
              <a:rPr sz="1200">
                <a:latin typeface="Arial"/>
                <a:ea typeface="Arial"/>
                <a:cs typeface="Arial"/>
              </a:rPr>
              <a:t>Local Java: BinarySearchTree.java, SearchDemo.java.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The recursive method is an alternative, exposed through containsRecursive in the complete file. It can overflow the Java call stack on a very deep unbalanced tree.</a:t>
            </a:r>
            <a:endParaRPr/>
          </a:p>
          <a:p>
            <a:pPr>
              <a:buNone/>
              <a:defRPr sz="1200">
                <a:latin typeface="Arial"/>
                <a:ea typeface="Arial"/>
                <a:cs typeface="Arial"/>
              </a:defRPr>
            </a:pPr>
            <a:r>
              <a:rPr sz="1200">
                <a:latin typeface="Arial"/>
                <a:ea typeface="Arial"/>
                <a:cs typeface="Arial"/>
              </a:rPr>
              <a:t>Local Java: BinarySearchTree.java, SearchDemo.java.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The visited keys are 12, 5, 9, and 7. Since 8 &gt; 7, the search follows the missing right child of 7 and returns false. There are 4 compareTo calls, one per visited node; reaching null adds no key comparison. The iterative version uses O(1) auxiliary space. The recursive version uses O(h+1) stack space in the worst case. Both take O(h+1) worst-case time. Distinguish a visited key from the terminating null reference.</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Source diagrams adapted from supplied slide 43. Existing nodes retain their positions in the ordering. New nodes 13, 8, 31 appear in that source example.</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Run InsertionDemo. The three new keys are 13, 8, and 31; a repeated 13 returns false and does not change size.</a:t>
            </a:r>
          </a:p>
          <a:p>
            <a:pPr>
              <a:buNone/>
              <a:defRPr sz="1200">
                <a:latin typeface="Arial"/>
                <a:ea typeface="Arial"/>
                <a:cs typeface="Arial"/>
              </a:defRPr>
            </a:pPr>
            <a:r>
              <a:rPr sz="1200">
                <a:latin typeface="Arial"/>
                <a:ea typeface="Arial"/>
                <a:cs typeface="Arial"/>
              </a:rPr>
              <a:t>Local Java: InsertionDemo.java.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This compact trace replaces the source deck’s 20-slide trace of insertion 101. Diagram adapted from supplied slide 43; later insertions 8 and 31 are omitted.</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Local Java: InsertionDemo.java.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The full class also increments a structural modification counter after successful insertion and deletion so its lazy iterator can detect changes.</a:t>
            </a:r>
            <a:endParaRPr/>
          </a:p>
          <a:p>
            <a:pPr>
              <a:buNone/>
              <a:defRPr sz="1200">
                <a:latin typeface="Arial"/>
                <a:ea typeface="Arial"/>
                <a:cs typeface="Arial"/>
              </a:defRPr>
            </a:pPr>
            <a:r>
              <a:rPr sz="1200">
                <a:latin typeface="Arial"/>
                <a:ea typeface="Arial"/>
                <a:cs typeface="Arial"/>
              </a:rPr>
              <a:t>Local Java: BinarySearchTree.java, InsertionDemo.java.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A is a right-only chain of height 6. Searching for 7 visits all 7 nodes. B is a perfect tree of height 2, rooted at 4 with children 2 and 6. Searching for 7 visits 4,6,7: 3 nodes. Both inorder sequences are 1,2,3,4,5,6,7, and both full traversals take O(n). A sorted inorder result establishes the key order but does not establish balance. Inserting a median first works for this fixed construction; it does not make the implementation self-balancing under later updates.</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19. Operator nodes are internal, operands are leaves. This is a binary tree but not a BST over the displayed symbols.</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ExpressionTreeDemo evaluates the exact expression for a=4 and b=5: 21. Discuss why traversal order matters for evaluating operators.</a:t>
            </a:r>
          </a:p>
          <a:p>
            <a:pPr>
              <a:buNone/>
              <a:defRPr sz="1200">
                <a:latin typeface="Arial"/>
                <a:ea typeface="Arial"/>
                <a:cs typeface="Arial"/>
              </a:defRPr>
            </a:pPr>
            <a:r>
              <a:rPr sz="1200">
                <a:latin typeface="Arial"/>
                <a:ea typeface="Arial"/>
                <a:cs typeface="Arial"/>
              </a:rPr>
              <a:t>Local Java: ExpressionTreeDemo.java.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Local Java: TraversalDemo.java.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36. Inorder yields sorted keys because the input is a BST.</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executable driver reproduces all four traversal sequences. Before running it, have students predict the sequence on paper.</a:t>
            </a:r>
          </a:p>
          <a:p>
            <a:pPr>
              <a:buNone/>
              <a:defRPr sz="1200">
                <a:latin typeface="Arial"/>
                <a:ea typeface="Arial"/>
                <a:cs typeface="Arial"/>
              </a:defRPr>
            </a:pPr>
            <a:r>
              <a:rPr sz="1200">
                <a:latin typeface="Arial"/>
                <a:ea typeface="Arial"/>
                <a:cs typeface="Arial"/>
              </a:rPr>
              <a:t>Local Java: TraversalDemo.java.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The displayed printing method appears unchanged in BinarySearchTree.java. List-returning helpers make it easier to compare results. Visit performs the requested per-key action.</a:t>
            </a:r>
            <a:endParaRPr/>
          </a:p>
          <a:p>
            <a:pPr>
              <a:buNone/>
              <a:defRPr sz="1200">
                <a:latin typeface="Arial"/>
                <a:ea typeface="Arial"/>
                <a:cs typeface="Arial"/>
              </a:defRPr>
            </a:pPr>
            <a:r>
              <a:rPr sz="1200">
                <a:latin typeface="Arial"/>
                <a:ea typeface="Arial"/>
                <a:cs typeface="Arial"/>
              </a:rPr>
              <a:t>Local Java: BinarySearchTree.java, TraversalDemo.java.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Queue code assumes import java.util.Queue and java.util.ArrayDeque. Output for the traversal example tree is 30, 20, 70, 10, 50, 90, 40, 60.</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displayed queue traversal appears in BinarySearchTree.java. The driver also prints the list form. Empty trees add no null entries to ArrayDeque.</a:t>
            </a:r>
          </a:p>
          <a:p>
            <a:pPr>
              <a:buNone/>
              <a:defRPr sz="1200">
                <a:latin typeface="Arial"/>
                <a:ea typeface="Arial"/>
                <a:cs typeface="Arial"/>
              </a:defRPr>
            </a:pPr>
            <a:r>
              <a:rPr sz="1200">
                <a:latin typeface="Arial"/>
                <a:ea typeface="Arial"/>
                <a:cs typeface="Arial"/>
              </a:rPr>
              <a:t>Local Java: BinarySearchTree.java, TraversalDemo.java.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Inorder is 1,3,4,6,7,8,10,13,14. Breadth-first is 8,3,10,1,6,14,4,7,13. The queue starts [8]. Processing 8 produces [3,10]. Processing 3 then produces [10,1,6], front first. The queue keeps nodes discovered earlier ahead of newly discovered children, which explains level-by-level output. Inorder gives sorted keys because this drawing satisfies the BST rule. It does not sort an arbitrary binary tree.</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Answers: inorder 10,20,30,40,50,60,70,90. Preorder 30,20,10,70,50,40,60,90. Postorder 10,20,40,60,50,90,70,30. Inorder successor of 30 is 40.</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Give pairs two minutes to compute all three sequences and successor 40 before running TraversalDemo.</a:t>
            </a:r>
          </a:p>
          <a:p>
            <a:pPr>
              <a:buNone/>
              <a:defRPr sz="1200">
                <a:latin typeface="Arial"/>
                <a:ea typeface="Arial"/>
                <a:cs typeface="Arial"/>
              </a:defRPr>
            </a:pPr>
            <a:r>
              <a:rPr sz="1200">
                <a:latin typeface="Arial"/>
                <a:ea typeface="Arial"/>
                <a:cs typeface="Arial"/>
              </a:rPr>
              <a:t>Local Java: TraversalDemo.java.</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Solution reasoning: The successor of 30 is 40, the minimum key in the right subtree rooted at 70. Follow left links through 50 to 40. A successor need not be a direct child.</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For a node with a left subtree, predecessor is the maximum key there. With no left subtree, walk toward the nearest smaller ancestor. The successor is symmetric. Diagram adapted from supplied slide 41.</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runnable predecessor/successor operations return strict neighbors even for absent query keys and Optional.empty when no such key exists. Root 12 has predecessor 10 and successor 15.</a:t>
            </a:r>
          </a:p>
          <a:p>
            <a:pPr>
              <a:buNone/>
              <a:defRPr sz="1200">
                <a:latin typeface="Arial"/>
                <a:ea typeface="Arial"/>
                <a:cs typeface="Arial"/>
              </a:defRPr>
            </a:pPr>
            <a:r>
              <a:rPr sz="1200">
                <a:latin typeface="Arial"/>
                <a:ea typeface="Arial"/>
                <a:cs typeface="Arial"/>
              </a:rPr>
              <a:t>Local Java: BinarySearchTree.java, TestBST.java.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Local Java: DeletionDemo.java.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69. Node 15 has one child, node 20. The title in the original calls this Case 1 despite an earlier no-left-child description. This slide labels the structure explicitly.</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This one-child drawing omits 17. DeletionDemo constructs that exact version separately, then constructs the full tree for two-child deletion.</a:t>
            </a:r>
          </a:p>
          <a:p>
            <a:pPr>
              <a:buNone/>
              <a:defRPr sz="1200">
                <a:latin typeface="Arial"/>
                <a:ea typeface="Arial"/>
                <a:cs typeface="Arial"/>
              </a:defRPr>
            </a:pPr>
            <a:r>
              <a:rPr sz="1200">
                <a:latin typeface="Arial"/>
                <a:ea typeface="Arial"/>
                <a:cs typeface="Arial"/>
              </a:rPr>
              <a:t>Local Java: DeletionDemo.java.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Diagram adapted from supplied slide 41. This lesson implements successor deletion. The source also teaches predecessor deletion. Both preserve ordering. For root 12, successor is 15, which has right child 20.</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After deleting 12, root is 15; the original 15 is removed and its right child 20 remains connected, including descendants 17 and 30.</a:t>
            </a:r>
          </a:p>
          <a:p>
            <a:pPr>
              <a:buNone/>
              <a:defRPr sz="1200">
                <a:latin typeface="Arial"/>
                <a:ea typeface="Arial"/>
                <a:cs typeface="Arial"/>
              </a:defRPr>
            </a:pPr>
            <a:r>
              <a:rPr sz="1200">
                <a:latin typeface="Arial"/>
                <a:ea typeface="Arial"/>
                <a:cs typeface="Arial"/>
              </a:rPr>
              <a:t>Local Java: DeletionDemo.java.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The successor is 15, the minimum of the original root right subtree. Copy 15 into the root, then remove the original node 15. Its right subtree, rooted at 20, becomes the root right subtree, retaining 17 and 30. The left subtree stays rooted at 5. Remaining inorder: 2,5,7,9,10,15,17,20,30. Size changes from 10 to 9 exactly once. Copying 20 into the root without a different repair would leave 15 on its right and violate ordering.</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The helper returns the new root of the subtree. It relies on min and deleteMin shown next. Source for the successor strategy: https://algs4.cs.princeton.edu/32bst/</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The actual helper is copied into BinarySearchTree.java. The public method decrements size exactly once. deleteMin only reconnects nodes and must not decrement size a second time.</a:t>
            </a:r>
          </a:p>
          <a:p>
            <a:pPr>
              <a:buNone/>
              <a:defRPr sz="1200">
                <a:latin typeface="Arial"/>
                <a:ea typeface="Arial"/>
                <a:cs typeface="Arial"/>
              </a:defRPr>
            </a:pPr>
            <a:r>
              <a:rPr sz="1200">
                <a:latin typeface="Arial"/>
                <a:ea typeface="Arial"/>
                <a:cs typeface="Arial"/>
              </a:rPr>
              <a:t>Local Java: BinarySearchTree.java, DeletionDemo.java.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Precondition for both helpers: the subtree is nonempty. The deletion code only calls them on the known nonempty right subtree.</a:t>
            </a:r>
            <a:endParaRPr/>
          </a:p>
          <a:p>
            <a:pPr>
              <a:buNone/>
              <a:defRPr sz="1200">
                <a:latin typeface="Arial"/>
                <a:ea typeface="Arial"/>
                <a:cs typeface="Arial"/>
              </a:defRPr>
            </a:pPr>
            <a:r>
              <a:rPr sz="1200">
                <a:latin typeface="Arial"/>
                <a:ea typeface="Arial"/>
                <a:cs typeface="Arial"/>
              </a:rPr>
              <a:t>Local Java: BinarySearchTree.java.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An absent key returns false without structural change. The complete class updates its modification counter only after a successful deletion.</a:t>
            </a:r>
            <a:endParaRPr/>
          </a:p>
          <a:p>
            <a:pPr>
              <a:buNone/>
              <a:defRPr sz="1200">
                <a:latin typeface="Arial"/>
                <a:ea typeface="Arial"/>
                <a:cs typeface="Arial"/>
              </a:defRPr>
            </a:pPr>
            <a:r>
              <a:rPr sz="1200">
                <a:latin typeface="Arial"/>
                <a:ea typeface="Arial"/>
                <a:cs typeface="Arial"/>
              </a:rPr>
              <a:t>Local Java: BinarySearchTree.java, DeletionDemo.java.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 The caller discards the returned subtree root, so x.left still refers to node 5. Repair the branch with x.left = delete(x.left,key). The right branch similarly assigns x.right. The public method must use root = delete(root,key), because deleting the root can return a child or null. In the supplied public method, size is decremented once after a successful search. If the displayed broken helper were used, size could decrease even though the leaf remained connected. The fragment is intentionally incorrect for discussion.</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IteratorDemo demonstrates sorted iteration, exhaustion, and a structural-change exception. hasNext and next detect changes; remove is unsupported. The explicit stack avoids recursive traversal overflow.</a:t>
            </a:r>
            <a:endParaRPr/>
          </a:p>
          <a:p>
            <a:pPr>
              <a:buNone/>
              <a:defRPr sz="1200">
                <a:latin typeface="Arial"/>
                <a:ea typeface="Arial"/>
                <a:cs typeface="Arial"/>
              </a:defRPr>
            </a:pPr>
            <a:r>
              <a:rPr sz="1200">
                <a:latin typeface="Arial"/>
                <a:ea typeface="Arial"/>
                <a:cs typeface="Arial"/>
              </a:rPr>
              <a:t>Local Java: BinarySearchTree.java, IteratorDemo.java.</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The stack stores a root-to-node path, so its maximum size is O(h+1). One next() may push a long leftmost path in a right subtree and take O(h+1) time. Over a complete iteration, each node is pushed and popped once, giving O(n) total work including initialization, or amortized O(1) per returned key. next() throws NoSuchElementException after exhaustion. This BST implementation also checks a structural modification counter; that policy belongs to this implementation, not every Iterator. Source: https://docs.oracle.com/en/java/javase/17/docs/api/java.base/java/util/Iterator.html</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Source: https://algs4.cs.princeton.edu/32bst/ . Expected logarithmic height assumes a BST built from distinct keys inserted in random order. Arbitrary unbalanced update histories carry no logarithmic guarantee.</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A general unbalanced BST promises O(h+1), not O(log n). Sorted insertion makes a chain. A single shuffled example illustrates shape; it does not prove a worst-case bound.</a:t>
            </a:r>
          </a:p>
          <a:p>
            <a:pPr>
              <a:buNone/>
              <a:defRPr sz="1200">
                <a:latin typeface="Arial"/>
                <a:ea typeface="Arial"/>
                <a:cs typeface="Arial"/>
              </a:defRPr>
            </a:pPr>
            <a:r>
              <a:rPr sz="1200">
                <a:latin typeface="Arial"/>
                <a:ea typeface="Arial"/>
                <a:cs typeface="Arial"/>
              </a:rPr>
              <a:t>Local Java: HeightDemo.java.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pPr>
            <a:r>
              <a:rPr sz="1200">
                <a:latin typeface="Arial"/>
                <a:ea typeface="Arial"/>
                <a:cs typeface="Arial"/>
              </a:rPr>
              <a:t>Every node is visited once by a full traversal, giving O(n) time. Recursive depth-first traversal uses O(h+1) stack space. The lazy inorder iterator uses an explicit stack.</a:t>
            </a:r>
            <a:endParaRPr/>
          </a:p>
          <a:p>
            <a:pPr>
              <a:buNone/>
            </a:pPr>
            <a:r>
              <a:rPr sz="1200">
                <a:latin typeface="Arial"/>
                <a:ea typeface="Arial"/>
                <a:cs typeface="Arial"/>
              </a:rPr>
              <a:t>Local Java: TraversalDemo.java.</a:t>
            </a:r>
            <a:endParaRPr/>
          </a:p>
          <a:p>
            <a:pPr>
              <a:buNone/>
            </a:pPr>
            <a:endParaRPr/>
          </a:p>
          <a:p>
            <a:pPr>
              <a:buNone/>
            </a:pPr>
            <a:r>
              <a:rPr sz="1200">
                <a:latin typeface="Arial"/>
                <a:ea typeface="Arial"/>
                <a:cs typeface="Arial"/>
              </a:rPr>
              <a:t>Discussion solution: Printing every key, computing a sum without stored aggregates, or serializing all nodes requires a full traversal. In this linked representation a traversal visits n nodes regardless of height. Searching for one key can discard a whole subtree at each comparison. Distinguish total work O(n) from recursion depth O(h+1).</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pPr>
            <a:r>
              <a:rPr sz="1200">
                <a:latin typeface="Arial"/>
                <a:ea typeface="Arial"/>
                <a:cs typeface="Arial"/>
              </a:rPr>
              <a:t>This lesson counts height in edges. The seven-node chain has height 6 and seven levels; a full root-to-leaf search visits 7 nodes. Count one compareTo call per visited node. A two-pass public delete may perform two searches, but remains O(h+1). The historical diagram is retained from the supplied Pearson slide.</a:t>
            </a:r>
            <a:endParaRPr>
              <a:latin typeface="Times"/>
              <a:ea typeface="Times"/>
              <a:cs typeface="Times"/>
            </a:endParaRPr>
          </a:p>
          <a:p>
            <a:pPr>
              <a:buNone/>
            </a:pPr>
            <a:r>
              <a:rPr sz="1200">
                <a:latin typeface="Arial"/>
                <a:ea typeface="Arial"/>
                <a:cs typeface="Arial"/>
              </a:rPr>
              <a:t>Local Java: HeightDemo.java.</a:t>
            </a:r>
            <a:endParaRPr>
              <a:latin typeface="Times"/>
              <a:ea typeface="Times"/>
              <a:cs typeface="Times"/>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3725" y="593725"/>
            <a:ext cx="6584950" cy="3703638"/>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For n &gt;= 1, minimum height is ceil(log2(n+1)) - 1 and maximum height is n - 1. Maximum nodes for height h&gt;=0 is 2^(h+1)-1. These differ by one from formulas that count levels.</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For n&gt;=1, minimum height is ceil(log2(n+1))-1 and maximum n-1. For a height h tree the maximum nodes are 2^(h+1)-1. Ask students to verify n=1 and n=7.</a:t>
            </a:r>
          </a:p>
          <a:p>
            <a:pPr>
              <a:buNone/>
              <a:defRPr sz="1200">
                <a:latin typeface="Arial"/>
                <a:ea typeface="Arial"/>
                <a:cs typeface="Arial"/>
              </a:defRPr>
            </a:pPr>
            <a:r>
              <a:rPr sz="1200">
                <a:latin typeface="Arial"/>
                <a:ea typeface="Arial"/>
                <a:cs typeface="Arial"/>
              </a:rPr>
              <a:t>Local Java: HeightDemo.java.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1. Minimum height is ceil(log2(32))-1 = 4. Maximum is 31-1 = 30. 2. Height 4 gives 5 levels and at most 2^5-1 = 31 nodes. 3. No in general. A two-node BST with root 1 and only a right child 2 has the minimum possible height 1, but is not complete because its last level has a left gap. For the special case of 31 nodes and height 4, the tree must be perfect because it reaches the capacity bound. Separate the general claim from that special case.</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 set-style BST rejects duplicate keys. To preserve duplicates for sorting, store counts at nodes or buckets of equal-key records. Expected O(n log n) assumes distinct keys inserted in random order. Source: https://algs4.cs.princeton.edu/32bst/</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TreeSort stores a count at each node to retain repeated values, unlike the set-style BST. It copies input into a new sorted array. Repeated equal keys do not increase the number of nodes. Random-order expected bounds require appropriate assumptions; sorted distinct input still gives quadratic work.</a:t>
            </a:r>
          </a:p>
          <a:p>
            <a:pPr>
              <a:buNone/>
              <a:defRPr sz="1200">
                <a:latin typeface="Arial"/>
                <a:ea typeface="Arial"/>
                <a:cs typeface="Arial"/>
              </a:defRPr>
            </a:pPr>
            <a:r>
              <a:rPr sz="1200">
                <a:latin typeface="Arial"/>
                <a:ea typeface="Arial"/>
                <a:cs typeface="Arial"/>
              </a:rPr>
              <a:t>Local Java: TreeSort.java.</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lnSpc>
                <a:spcPct val="115000"/>
              </a:lnSpc>
            </a:pPr>
            <a:r>
              <a:rPr sz="1200">
                <a:latin typeface="Arial"/>
              </a:rPr>
              <a:t>Solutions: The set-style BST emits 1,2,4 and loses two items. A correct sort emits 1,2,2,4,4. Store a multiplicity at each node: key 1 has count 1, key 2 count 2, key 4 count 2. Inorder emits each key its count times. The linked TreeSort implements this approach. Counts work for repeated primitive keys. If equal-key records carry different payloads, keep all records in a bucket rather than just counting them. An unbalanced tree can still require O(n^2) work on sorted distinct input.</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Allow students time before reviewing the solutions in these notes. A level count is h+1 for nonempty trees.</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Allow students to answer before reviewing the solutions. All questions use levels, equal to height+1 for a nonempty tree.</a:t>
            </a:r>
          </a:p>
          <a:p>
            <a:pPr>
              <a:buNone/>
              <a:defRPr sz="1200">
                <a:latin typeface="Arial"/>
                <a:ea typeface="Arial"/>
                <a:cs typeface="Arial"/>
              </a:defRPr>
            </a:pPr>
            <a:endParaRPr sz="1200">
              <a:latin typeface="Arial"/>
              <a:ea typeface="Arial"/>
              <a:cs typeface="Arial"/>
            </a:endParaRPr>
          </a:p>
          <a:p>
            <a:pPr>
              <a:buNone/>
              <a:defRPr sz="1200">
                <a:latin typeface="Arial"/>
                <a:ea typeface="Arial"/>
                <a:cs typeface="Arial"/>
              </a:defRPr>
            </a:pPr>
            <a:r>
              <a:rPr sz="1200">
                <a:latin typeface="Arial"/>
                <a:ea typeface="Arial"/>
                <a:cs typeface="Arial"/>
              </a:rPr>
              <a:t>SOLUTIONS TO REVIEW PROBLEMS: 1. With 8 levels the capacity is 2^8-1 = 255 nodes. 2. For 2011 nodes, the fewest levels are ceil(log2(2012)) = 11; a chain has 2011 levels. 3. Exactly 10 levels allows a chain with 1 leaf or a perfect tree with 2^9 = 512 leaves. 4. Sorted insertion repeatedly extends one branch, so height becomes n-1 and a deepest search visits n nodes. These answers replace the former visible Review answers slide. Allow 4 minutes of individual work, then ask students to explain each bound.</a:t>
            </a: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Solutions: 1. A descendant must satisfy bounds from every ancestor, not only its parent. 2. The successor used in two-child deletion is the minimum of the right subtree. It has no left child, but may have a right child. 3. No. The height must be O(log n); an ordinary BST may form a chain of height n-1. 4. Yes. Mutating a key can move it outside its permitted ancestor interval. Remove it and reinsert the changed key using the tree API. A correct explanation should cite the invariant or height, not only name an algorithm.</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wrap="square" lIns="0" tIns="0" rIns="0" bIns="0" anchor="t"/>
          <a:lstStyle/>
          <a:p>
            <a:pPr>
              <a:buNone/>
              <a:defRPr sz="1200">
                <a:latin typeface="Arial"/>
                <a:ea typeface="Arial"/>
                <a:cs typeface="Arial"/>
              </a:defRPr>
            </a:pPr>
            <a:r>
              <a:rPr sz="1200">
                <a:latin typeface="Arial"/>
                <a:ea typeface="Arial"/>
                <a:cs typeface="Arial"/>
              </a:rPr>
              <a:t>The complete files include the explicit-stack iterator, queue-based height, bounds validator, and fixed-seed shape comparison. Quiz: why can a key mutation invalidate ordering without changing any links?</a:t>
            </a:r>
            <a:endParaRPr/>
          </a:p>
          <a:p>
            <a:pPr>
              <a:buNone/>
              <a:defRPr sz="1200">
                <a:latin typeface="Arial"/>
                <a:ea typeface="Arial"/>
                <a:cs typeface="Arial"/>
              </a:defRPr>
            </a:pPr>
            <a:r>
              <a:rPr sz="1200">
                <a:latin typeface="Arial"/>
                <a:ea typeface="Arial"/>
                <a:cs typeface="Arial"/>
              </a:rPr>
              <a:t>Local Java: BSTPractice.java, HeightDemo.java, IteratorDemo.java.</a:t>
            </a:r>
            <a:endParaRPr/>
          </a:p>
          <a:p>
            <a:pPr>
              <a:buNone/>
              <a:defRPr sz="1200">
                <a:latin typeface="Arial"/>
                <a:ea typeface="Arial"/>
                <a:cs typeface="Arial"/>
              </a:defRPr>
            </a:pPr>
            <a:endParaRPr/>
          </a:p>
          <a:p>
            <a:pPr>
              <a:buNone/>
              <a:defRPr sz="1200">
                <a:latin typeface="Arial"/>
                <a:ea typeface="Arial"/>
                <a:cs typeface="Arial"/>
              </a:defRPr>
            </a:pPr>
            <a:r>
              <a:rPr sz="1200">
                <a:latin typeface="Arial"/>
                <a:ea typeface="Arial"/>
                <a:cs typeface="Arial"/>
              </a:rPr>
              <a:t>Solutions for further practice: An explicit-stack inorder traversal repeatedly pushes left descendants, pops and visits, then moves right. Queue-based height processes one level per round, starting height at -1. A validator passes exclusive ancestor bounds and checks low &lt; key &lt; high. Sorted distinct insertion creates height n-1; randomized insertion does not give a worst-case guarantee. Mutating a stored key can violate its ancestor bounds without changing links; remove and reinsert the changed key. The linked complete implementations demonstrate the first four tasks.</a:t>
            </a:r>
            <a:endParaRPr/>
          </a:p>
        </p:txBody>
      </p:sp>
      <p:sp>
        <p:nvSpPr>
          <p:cNvPr id="4" name="Slide Number Placeholder 3"/>
          <p:cNvSpPr>
            <a:spLocks noGrp="1"/>
          </p:cNvSpPr>
          <p:nvPr>
            <p:ph type="sldNum" idx="5"/>
          </p:nvPr>
        </p:nvSpPr>
        <p:spPr>
          <a:xfrm>
            <a:off x="6675120" y="9418320"/>
            <a:ext cx="502920" cy="274320"/>
          </a:xfrm>
        </p:spPr>
        <p:txBody>
          <a:bodyPr wrap="square" lIns="0" tIns="0" rIns="0" bIns="0" anchor="t"/>
          <a:lstStyle/>
          <a:p>
            <a:pPr>
              <a:lnSpc>
                <a:spcPct val="115000"/>
              </a:lnSpc>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BC23B9B-5C78-4CC5-A085-D7820C9B500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A8766C3-C76A-43A1-A823-7F5D96D92CA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63B7AA0-15C0-4340-BE6E-A6EACDE76C2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328D08F-85A1-4DE8-A038-D892AD9AE2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ABFFA44-0EBA-4F0F-BCB8-AF16FAF9474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685D53E-ED6A-4285-A507-600D21ED4FA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07E0C0B-7D76-478C-9643-0E24AAE4D28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C1445C2-6470-4DC5-8AC2-34C8D67F840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CAAC12-104D-4166-938D-E3CE9D445A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E39BC41-7410-49C1-9413-F6095B22E2F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C0B2E-C761-4B41-BE0C-1DF44431EBC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047B8C9-C36A-406A-B1A4-B8C2F2FAB73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Rectangle 32">
            <a:extLst>
              <a:ext uri="{FF2B5EF4-FFF2-40B4-BE49-F238E27FC236}">
                <a16:creationId xmlns:a16="http://schemas.microsoft.com/office/drawing/2014/main" id="{8237A815-C2E4-4C17-96C7-5952328D86FC}"/>
              </a:ext>
            </a:extLst>
          </p:cNvPr>
          <p:cNvSpPr>
            <a:spLocks noGrp="1"/>
          </p:cNvSpPr>
          <p:nvPr>
            <p:ph type="dt" idx="10"/>
          </p:nvPr>
        </p:nvSpPr>
        <p:spPr/>
        <p:txBody>
          <a:bodyPr/>
          <a:lstStyle>
            <a:lvl1pPr>
              <a:buNone/>
              <a:defRPr/>
            </a:lvl1pPr>
          </a:lstStyle>
          <a:p>
            <a:pPr>
              <a:buNone/>
            </a:pPr>
            <a:endParaRPr/>
          </a:p>
        </p:txBody>
      </p:sp>
      <p:sp>
        <p:nvSpPr>
          <p:cNvPr id="5" name="Rectangle 34">
            <a:extLst>
              <a:ext uri="{FF2B5EF4-FFF2-40B4-BE49-F238E27FC236}">
                <a16:creationId xmlns:a16="http://schemas.microsoft.com/office/drawing/2014/main" id="{EDF37F86-8313-486F-B563-896E73A7CEC1}"/>
              </a:ext>
            </a:extLst>
          </p:cNvPr>
          <p:cNvSpPr>
            <a:spLocks noGrp="1"/>
          </p:cNvSpPr>
          <p:nvPr>
            <p:ph type="sldNum" idx="11"/>
          </p:nvPr>
        </p:nvSpPr>
        <p:spPr/>
        <p:txBody>
          <a:bodyPr/>
          <a:lstStyle>
            <a:lvl1pPr>
              <a:buNone/>
              <a:defRPr/>
            </a:lvl1pPr>
          </a:lstStyle>
          <a:p>
            <a:pPr>
              <a:buNone/>
            </a:pPr>
            <a:fld id="{0C640366-CA00-4FBF-815B-BF0D01081DC3}"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C999-4F03-433E-9307-7DD1B5DDFCB4}"/>
              </a:ext>
            </a:extLst>
          </p:cNvPr>
          <p:cNvSpPr>
            <a:spLocks noGrp="1"/>
          </p:cNvSpPr>
          <p:nvPr>
            <p:ph type="title"/>
          </p:nvPr>
        </p:nvSpPr>
        <p:spPr>
          <a:xfrm>
            <a:off x="1219200" y="228600"/>
            <a:ext cx="10363200" cy="1143000"/>
          </a:xfrm>
        </p:spPr>
        <p:txBody>
          <a:bodyPr/>
          <a:lstStyle/>
          <a:p>
            <a:r>
              <a:t>Click to edit Master title style</a:t>
            </a:r>
          </a:p>
        </p:txBody>
      </p:sp>
      <p:sp>
        <p:nvSpPr>
          <p:cNvPr id="3" name="Text Placeholder 2">
            <a:extLst>
              <a:ext uri="{FF2B5EF4-FFF2-40B4-BE49-F238E27FC236}">
                <a16:creationId xmlns:a16="http://schemas.microsoft.com/office/drawing/2014/main" id="{C31C3E0C-EE1C-4E54-9795-1A0D5F5161FD}"/>
              </a:ext>
            </a:extLst>
          </p:cNvPr>
          <p:cNvSpPr>
            <a:spLocks noGrp="1"/>
          </p:cNvSpPr>
          <p:nvPr>
            <p:ph type="body" idx="1"/>
          </p:nvPr>
        </p:nvSpPr>
        <p:spPr>
          <a:xfrm>
            <a:off x="1320800" y="1828800"/>
            <a:ext cx="5080000" cy="403860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C472DA2E-708A-468F-8CAE-2D0376C264B8}"/>
              </a:ext>
            </a:extLst>
          </p:cNvPr>
          <p:cNvSpPr>
            <a:spLocks noGrp="1"/>
          </p:cNvSpPr>
          <p:nvPr>
            <p:ph idx="2"/>
          </p:nvPr>
        </p:nvSpPr>
        <p:spPr>
          <a:xfrm>
            <a:off x="6604000" y="1828800"/>
            <a:ext cx="5080000" cy="403860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Rectangle 5">
            <a:extLst>
              <a:ext uri="{FF2B5EF4-FFF2-40B4-BE49-F238E27FC236}">
                <a16:creationId xmlns:a16="http://schemas.microsoft.com/office/drawing/2014/main" id="{065D4597-596F-404E-B693-014AAB43218B}"/>
              </a:ext>
            </a:extLst>
          </p:cNvPr>
          <p:cNvSpPr>
            <a:spLocks noGrp="1"/>
          </p:cNvSpPr>
          <p:nvPr>
            <p:ph type="ftr" idx="10"/>
          </p:nvPr>
        </p:nvSpPr>
        <p:spPr/>
        <p:txBody>
          <a:bodyPr/>
          <a:lstStyle>
            <a:lvl1pPr>
              <a:buNone/>
              <a:defRPr/>
            </a:lvl1pPr>
          </a:lstStyle>
          <a:p>
            <a:r>
              <a:t>© 2011 Pearson Addison-Wesley. All rights reserved</a:t>
            </a:r>
          </a:p>
        </p:txBody>
      </p:sp>
      <p:sp>
        <p:nvSpPr>
          <p:cNvPr id="6" name="Rectangle 6">
            <a:extLst>
              <a:ext uri="{FF2B5EF4-FFF2-40B4-BE49-F238E27FC236}">
                <a16:creationId xmlns:a16="http://schemas.microsoft.com/office/drawing/2014/main" id="{945EF25F-D73B-48E4-99F4-DC1AB73BF1F8}"/>
              </a:ext>
            </a:extLst>
          </p:cNvPr>
          <p:cNvSpPr>
            <a:spLocks noGrp="1"/>
          </p:cNvSpPr>
          <p:nvPr>
            <p:ph type="sldNum" idx="11"/>
          </p:nvPr>
        </p:nvSpPr>
        <p:spPr/>
        <p:txBody>
          <a:bodyPr/>
          <a:lstStyle>
            <a:lvl1pPr>
              <a:buNone/>
              <a:defRPr/>
            </a:lvl1pPr>
          </a:lstStyle>
          <a:p>
            <a:r>
              <a:t>11 B-</a:t>
            </a:r>
            <a:fld id="{0B1D9234-076D-4735-84E6-32A0694D31E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Lecture10_BST_Java_Examples/TestBST.java"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Lecture10_BST_Java_Examples/TraversalDemo.java"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Lecture10_BST_Java_Examples/HeightDemo.java"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Lecture10_BST_Java_Examples/TestBST.java"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Lecture10_BST_Java_Examples/BSTPractice.java"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Lecture10_BST_Java_Examples/BSTPractice.java"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Lecture10_BST_Java_Examples/BSTPractice.java"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Lecture10_BST_Java_Examples/Node.java"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hyperlink" Target="Lecture10_BST_Java_Examples/BinarySearchTree.java"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Lecture10_BST_Java_Examples/Tree.java"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Lecture10_BST_Java_Examples/OrderingEqualityDemo.java"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Lecture10_BST_Java_Examples/OrderingEqualityDemo.java"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Lecture10_BST_Java_Examples/SearchDemo.java"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hyperlink" Target="Lecture10_BST_Java_Examples/SearchDemo.java"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hyperlink" Target="Lecture10_BST_Java_Examples/SearchDemo.java"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Lecture10_BST_Java_Examples/SearchDemo.java"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Lecture10_BST_Java_Examples/InsertionDemo.java"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Lecture10_BST_Java_Examples/InsertionDemo.java"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Lecture10_BST_Java_Examples/InsertionDemo.java"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Lecture10_BST_Java_Examples/ExpressionTreeDemo.java"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Lecture10_BST_Java_Examples/TraversalDemo.java"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Lecture10_BST_Java_Examples/TraversalDemo.java" TargetMode="External"/><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hyperlink" Target="Lecture10_BST_Java_Examples/TraversalDemo.jav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hyperlink" Target="Lecture10_BST_Java_Examples/TraversalDemo.java"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Lecture10_BST_Java_Examples/TraversalDemo.java" TargetMode="Externa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hyperlink" Target="Lecture10_BST_Java_Examples/TestBST.java"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Lecture10_BST_Java_Examples/DeletionDemo.java"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Lecture10_BST_Java_Examples/DeletionDemo.java" TargetMode="External"/><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Lecture10_BST_Java_Examples/DeletionDemo.java"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Lecture10_BST_Java_Examples/DeletionDemo.java"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hyperlink" Target="Lecture10_BST_Java_Examples/DeletionDemo.java"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hyperlink" Target="Lecture10_BST_Java_Examples/DeletionDemo.java"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hyperlink" Target="Lecture10_BST_Java_Examples/BinarySearchTree.java" TargetMode="External"/><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hyperlink" Target="Lecture10_BST_Java_Examples/IteratorDemo.java"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Lecture10_BST_Java_Examples/IteratorDemo.java" TargetMode="External"/><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hyperlink" Target="Lecture10_BST_Java_Examples/HeightDemo.java" TargetMode="External"/><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hyperlink" Target="Lecture10_BST_Java_Examples/TraversalDemo.java" TargetMode="External"/><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8.xml"/><Relationship Id="rId4" Type="http://schemas.openxmlformats.org/officeDocument/2006/relationships/hyperlink" Target="Lecture10_BST_Java_Examples/HeightDemo.java"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hyperlink" Target="Lecture10_BST_Java_Examples/HeightDemo.java"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Lecture10_BST_Java_Examples/HeightDemo.java" TargetMode="External"/><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hyperlink" Target="Lecture10_BST_Java_Examples/TreeSort.java" TargetMode="External"/><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hyperlink" Target="Lecture10_BST_Java_Examples/TreeSort.java" TargetMode="External"/><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hyperlink" Target="Lecture10_BST_Java_Examples/BSTPractice.java" TargetMode="External"/><Relationship Id="rId2" Type="http://schemas.openxmlformats.org/officeDocument/2006/relationships/notesSlide" Target="../notesSlides/notesSlide52.xml"/><Relationship Id="rId1" Type="http://schemas.openxmlformats.org/officeDocument/2006/relationships/slideLayout" Target="../slideLayouts/slideLayout6.xml"/><Relationship Id="rId5" Type="http://schemas.openxmlformats.org/officeDocument/2006/relationships/hyperlink" Target="Lecture10_BST_Java_Examples/IteratorDemo.java" TargetMode="External"/><Relationship Id="rId4" Type="http://schemas.openxmlformats.org/officeDocument/2006/relationships/hyperlink" Target="Lecture10_BST_Java_Examples/HeightDemo.jav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4" name="text-0">
            <a:extLst>
              <a:ext uri="{FF2B5EF4-FFF2-40B4-BE49-F238E27FC236}">
                <a16:creationId xmlns:a16="http://schemas.microsoft.com/office/drawing/2014/main" id="{25FA7C4A-3F68-464B-9A08-F666177E0829}"/>
              </a:ext>
            </a:extLst>
          </p:cNvPr>
          <p:cNvSpPr>
            <a:spLocks noGrp="1"/>
          </p:cNvSpPr>
          <p:nvPr/>
        </p:nvSpPr>
        <p:spPr>
          <a:xfrm>
            <a:off x="609600" y="619125"/>
            <a:ext cx="6762750" cy="1333500"/>
          </a:xfrm>
          <a:prstGeom prst="rect">
            <a:avLst/>
          </a:prstGeom>
          <a:noFill/>
          <a:ln w="0">
            <a:noFill/>
          </a:ln>
        </p:spPr>
        <p:txBody>
          <a:bodyPr lIns="0" tIns="0" rIns="0" bIns="0" anchor="t"/>
          <a:lstStyle>
            <a:defPPr algn="l">
              <a:defRPr sz="4350" b="1">
                <a:solidFill>
                  <a:srgbClr val="142E42"/>
                </a:solidFill>
                <a:latin typeface="Arial"/>
                <a:ea typeface="Arial"/>
                <a:cs typeface="Arial"/>
              </a:defRPr>
            </a:defPPr>
            <a:lvl1pPr algn="l">
              <a:buNone/>
              <a:defRPr sz="4350" b="1">
                <a:solidFill>
                  <a:srgbClr val="142E42"/>
                </a:solidFill>
                <a:latin typeface="Arial"/>
                <a:ea typeface="Arial"/>
                <a:cs typeface="Arial"/>
              </a:defRPr>
            </a:lvl1pPr>
            <a:lvl2pPr algn="l">
              <a:buNone/>
              <a:defRPr sz="4350" b="1">
                <a:solidFill>
                  <a:srgbClr val="142E42"/>
                </a:solidFill>
                <a:latin typeface="Arial"/>
                <a:ea typeface="Arial"/>
                <a:cs typeface="Arial"/>
              </a:defRPr>
            </a:lvl2pPr>
            <a:lvl3pPr algn="l">
              <a:buNone/>
              <a:defRPr sz="4350" b="1">
                <a:solidFill>
                  <a:srgbClr val="142E42"/>
                </a:solidFill>
                <a:latin typeface="Arial"/>
                <a:ea typeface="Arial"/>
                <a:cs typeface="Arial"/>
              </a:defRPr>
            </a:lvl3pPr>
            <a:lvl4pPr algn="l">
              <a:buNone/>
              <a:defRPr sz="4350" b="1">
                <a:solidFill>
                  <a:srgbClr val="142E42"/>
                </a:solidFill>
                <a:latin typeface="Arial"/>
                <a:ea typeface="Arial"/>
                <a:cs typeface="Arial"/>
              </a:defRPr>
            </a:lvl4pPr>
            <a:lvl5pPr algn="l">
              <a:buNone/>
              <a:defRPr sz="4350" b="1">
                <a:solidFill>
                  <a:srgbClr val="142E42"/>
                </a:solidFill>
                <a:latin typeface="Arial"/>
                <a:ea typeface="Arial"/>
                <a:cs typeface="Arial"/>
              </a:defRPr>
            </a:lvl5pPr>
            <a:lvl6pPr algn="l">
              <a:buNone/>
              <a:defRPr sz="4350" b="1">
                <a:solidFill>
                  <a:srgbClr val="142E42"/>
                </a:solidFill>
                <a:latin typeface="Arial"/>
                <a:ea typeface="Arial"/>
                <a:cs typeface="Arial"/>
              </a:defRPr>
            </a:lvl6pPr>
            <a:lvl7pPr algn="l">
              <a:buNone/>
              <a:defRPr sz="4350" b="1">
                <a:solidFill>
                  <a:srgbClr val="142E42"/>
                </a:solidFill>
                <a:latin typeface="Arial"/>
                <a:ea typeface="Arial"/>
                <a:cs typeface="Arial"/>
              </a:defRPr>
            </a:lvl7pPr>
            <a:lvl8pPr algn="l">
              <a:buNone/>
              <a:defRPr sz="4350" b="1">
                <a:solidFill>
                  <a:srgbClr val="142E42"/>
                </a:solidFill>
                <a:latin typeface="Arial"/>
                <a:ea typeface="Arial"/>
                <a:cs typeface="Arial"/>
              </a:defRPr>
            </a:lvl8pPr>
            <a:lvl9pPr algn="l">
              <a:buNone/>
              <a:defRPr sz="4350" b="1">
                <a:solidFill>
                  <a:srgbClr val="142E42"/>
                </a:solidFill>
                <a:latin typeface="Arial"/>
                <a:ea typeface="Arial"/>
                <a:cs typeface="Arial"/>
              </a:defRPr>
            </a:lvl9pPr>
          </a:lstStyle>
          <a:p>
            <a:pPr algn="l">
              <a:buNone/>
              <a:defRPr sz="4350" b="1">
                <a:solidFill>
                  <a:srgbClr val="142E42"/>
                </a:solidFill>
                <a:latin typeface="Arial"/>
                <a:ea typeface="Arial"/>
                <a:cs typeface="Arial"/>
              </a:defRPr>
            </a:pPr>
            <a:r>
              <a:rPr sz="4350" b="1">
                <a:solidFill>
                  <a:srgbClr val="142E42"/>
                </a:solidFill>
                <a:latin typeface="Arial"/>
                <a:ea typeface="Arial"/>
                <a:cs typeface="Arial"/>
              </a:rPr>
              <a:t>Binary Search Trees</a:t>
            </a:r>
          </a:p>
        </p:txBody>
      </p:sp>
      <p:sp>
        <p:nvSpPr>
          <p:cNvPr id="3" name="text-2">
            <a:extLst>
              <a:ext uri="{FF2B5EF4-FFF2-40B4-BE49-F238E27FC236}">
                <a16:creationId xmlns:a16="http://schemas.microsoft.com/office/drawing/2014/main" id="{63E0C8C8-2543-4F03-B2D8-5466378DED7F}"/>
              </a:ext>
            </a:extLst>
          </p:cNvPr>
          <p:cNvSpPr>
            <a:spLocks noGrp="1"/>
          </p:cNvSpPr>
          <p:nvPr/>
        </p:nvSpPr>
        <p:spPr>
          <a:xfrm>
            <a:off x="609600" y="2286000"/>
            <a:ext cx="6191250" cy="1066800"/>
          </a:xfrm>
          <a:prstGeom prst="rect">
            <a:avLst/>
          </a:prstGeom>
          <a:noFill/>
          <a:ln w="0">
            <a:noFill/>
          </a:ln>
        </p:spPr>
        <p:txBody>
          <a:bodyPr lIns="0" tIns="0" rIns="0" bIns="0" anchor="t"/>
          <a:lstStyle>
            <a:defPPr algn="l">
              <a:defRPr sz="2700" b="0">
                <a:solidFill>
                  <a:srgbClr val="007C83"/>
                </a:solidFill>
                <a:latin typeface="Arial"/>
                <a:ea typeface="Arial"/>
                <a:cs typeface="Arial"/>
              </a:defRPr>
            </a:defPPr>
            <a:lvl1pPr algn="l">
              <a:buNone/>
              <a:defRPr sz="2700" b="0">
                <a:solidFill>
                  <a:srgbClr val="007C83"/>
                </a:solidFill>
                <a:latin typeface="Arial"/>
                <a:ea typeface="Arial"/>
                <a:cs typeface="Arial"/>
              </a:defRPr>
            </a:lvl1pPr>
            <a:lvl2pPr algn="l">
              <a:buNone/>
              <a:defRPr sz="2700" b="0">
                <a:solidFill>
                  <a:srgbClr val="007C83"/>
                </a:solidFill>
                <a:latin typeface="Arial"/>
                <a:ea typeface="Arial"/>
                <a:cs typeface="Arial"/>
              </a:defRPr>
            </a:lvl2pPr>
            <a:lvl3pPr algn="l">
              <a:buNone/>
              <a:defRPr sz="2700" b="0">
                <a:solidFill>
                  <a:srgbClr val="007C83"/>
                </a:solidFill>
                <a:latin typeface="Arial"/>
                <a:ea typeface="Arial"/>
                <a:cs typeface="Arial"/>
              </a:defRPr>
            </a:lvl3pPr>
            <a:lvl4pPr algn="l">
              <a:buNone/>
              <a:defRPr sz="2700" b="0">
                <a:solidFill>
                  <a:srgbClr val="007C83"/>
                </a:solidFill>
                <a:latin typeface="Arial"/>
                <a:ea typeface="Arial"/>
                <a:cs typeface="Arial"/>
              </a:defRPr>
            </a:lvl4pPr>
            <a:lvl5pPr algn="l">
              <a:buNone/>
              <a:defRPr sz="2700" b="0">
                <a:solidFill>
                  <a:srgbClr val="007C83"/>
                </a:solidFill>
                <a:latin typeface="Arial"/>
                <a:ea typeface="Arial"/>
                <a:cs typeface="Arial"/>
              </a:defRPr>
            </a:lvl5pPr>
            <a:lvl6pPr algn="l">
              <a:buNone/>
              <a:defRPr sz="2700" b="0">
                <a:solidFill>
                  <a:srgbClr val="007C83"/>
                </a:solidFill>
                <a:latin typeface="Arial"/>
                <a:ea typeface="Arial"/>
                <a:cs typeface="Arial"/>
              </a:defRPr>
            </a:lvl6pPr>
            <a:lvl7pPr algn="l">
              <a:buNone/>
              <a:defRPr sz="2700" b="0">
                <a:solidFill>
                  <a:srgbClr val="007C83"/>
                </a:solidFill>
                <a:latin typeface="Arial"/>
                <a:ea typeface="Arial"/>
                <a:cs typeface="Arial"/>
              </a:defRPr>
            </a:lvl7pPr>
            <a:lvl8pPr algn="l">
              <a:buNone/>
              <a:defRPr sz="2700" b="0">
                <a:solidFill>
                  <a:srgbClr val="007C83"/>
                </a:solidFill>
                <a:latin typeface="Arial"/>
                <a:ea typeface="Arial"/>
                <a:cs typeface="Arial"/>
              </a:defRPr>
            </a:lvl8pPr>
            <a:lvl9pPr algn="l">
              <a:buNone/>
              <a:defRPr sz="2700" b="0">
                <a:solidFill>
                  <a:srgbClr val="007C83"/>
                </a:solidFill>
                <a:latin typeface="Arial"/>
                <a:ea typeface="Arial"/>
                <a:cs typeface="Arial"/>
              </a:defRPr>
            </a:lvl9pPr>
          </a:lstStyle>
          <a:p>
            <a:pPr algn="l">
              <a:buNone/>
              <a:defRPr sz="2700" b="0">
                <a:solidFill>
                  <a:srgbClr val="007C83"/>
                </a:solidFill>
                <a:latin typeface="Arial"/>
                <a:ea typeface="Arial"/>
                <a:cs typeface="Arial"/>
              </a:defRPr>
            </a:pPr>
            <a:r>
              <a:rPr sz="2700" b="0">
                <a:solidFill>
                  <a:srgbClr val="007C83"/>
                </a:solidFill>
                <a:latin typeface="Arial"/>
                <a:ea typeface="Arial"/>
                <a:cs typeface="Arial"/>
              </a:rPr>
              <a:t>Structure, algorithms, and the cost of height</a:t>
            </a:r>
          </a:p>
        </p:txBody>
      </p:sp>
      <p:sp>
        <p:nvSpPr>
          <p:cNvPr id="4" name="text-3">
            <a:extLst>
              <a:ext uri="{FF2B5EF4-FFF2-40B4-BE49-F238E27FC236}">
                <a16:creationId xmlns:a16="http://schemas.microsoft.com/office/drawing/2014/main" id="{8D88292E-67AB-43D8-9CDC-8BACDD2B756F}"/>
              </a:ext>
            </a:extLst>
          </p:cNvPr>
          <p:cNvSpPr>
            <a:spLocks noGrp="1"/>
          </p:cNvSpPr>
          <p:nvPr/>
        </p:nvSpPr>
        <p:spPr>
          <a:xfrm>
            <a:off x="609600" y="3619500"/>
            <a:ext cx="5524500" cy="666750"/>
          </a:xfrm>
          <a:prstGeom prst="rect">
            <a:avLst/>
          </a:prstGeom>
          <a:noFill/>
          <a:ln w="0">
            <a:noFill/>
          </a:ln>
        </p:spPr>
        <p:txBody>
          <a:bodyPr lIns="0" tIns="0" rIns="0" bIns="0" anchor="t"/>
          <a:lstStyle>
            <a:defPPr algn="l">
              <a:defRPr sz="2025" b="0">
                <a:solidFill>
                  <a:srgbClr val="4B6070"/>
                </a:solidFill>
                <a:latin typeface="Arial"/>
                <a:ea typeface="Arial"/>
                <a:cs typeface="Arial"/>
              </a:defRPr>
            </a:defPPr>
            <a:lvl1pPr algn="l">
              <a:buNone/>
              <a:defRPr sz="2025" b="0">
                <a:solidFill>
                  <a:srgbClr val="4B6070"/>
                </a:solidFill>
                <a:latin typeface="Arial"/>
                <a:ea typeface="Arial"/>
                <a:cs typeface="Arial"/>
              </a:defRPr>
            </a:lvl1pPr>
            <a:lvl2pPr algn="l">
              <a:buNone/>
              <a:defRPr sz="2025" b="0">
                <a:solidFill>
                  <a:srgbClr val="4B6070"/>
                </a:solidFill>
                <a:latin typeface="Arial"/>
                <a:ea typeface="Arial"/>
                <a:cs typeface="Arial"/>
              </a:defRPr>
            </a:lvl2pPr>
            <a:lvl3pPr algn="l">
              <a:buNone/>
              <a:defRPr sz="2025" b="0">
                <a:solidFill>
                  <a:srgbClr val="4B6070"/>
                </a:solidFill>
                <a:latin typeface="Arial"/>
                <a:ea typeface="Arial"/>
                <a:cs typeface="Arial"/>
              </a:defRPr>
            </a:lvl3pPr>
            <a:lvl4pPr algn="l">
              <a:buNone/>
              <a:defRPr sz="2025" b="0">
                <a:solidFill>
                  <a:srgbClr val="4B6070"/>
                </a:solidFill>
                <a:latin typeface="Arial"/>
                <a:ea typeface="Arial"/>
                <a:cs typeface="Arial"/>
              </a:defRPr>
            </a:lvl4pPr>
            <a:lvl5pPr algn="l">
              <a:buNone/>
              <a:defRPr sz="2025" b="0">
                <a:solidFill>
                  <a:srgbClr val="4B6070"/>
                </a:solidFill>
                <a:latin typeface="Arial"/>
                <a:ea typeface="Arial"/>
                <a:cs typeface="Arial"/>
              </a:defRPr>
            </a:lvl5pPr>
            <a:lvl6pPr algn="l">
              <a:buNone/>
              <a:defRPr sz="2025" b="0">
                <a:solidFill>
                  <a:srgbClr val="4B6070"/>
                </a:solidFill>
                <a:latin typeface="Arial"/>
                <a:ea typeface="Arial"/>
                <a:cs typeface="Arial"/>
              </a:defRPr>
            </a:lvl6pPr>
            <a:lvl7pPr algn="l">
              <a:buNone/>
              <a:defRPr sz="2025" b="0">
                <a:solidFill>
                  <a:srgbClr val="4B6070"/>
                </a:solidFill>
                <a:latin typeface="Arial"/>
                <a:ea typeface="Arial"/>
                <a:cs typeface="Arial"/>
              </a:defRPr>
            </a:lvl7pPr>
            <a:lvl8pPr algn="l">
              <a:buNone/>
              <a:defRPr sz="2025" b="0">
                <a:solidFill>
                  <a:srgbClr val="4B6070"/>
                </a:solidFill>
                <a:latin typeface="Arial"/>
                <a:ea typeface="Arial"/>
                <a:cs typeface="Arial"/>
              </a:defRPr>
            </a:lvl8pPr>
            <a:lvl9pPr algn="l">
              <a:buNone/>
              <a:defRPr sz="2025" b="0">
                <a:solidFill>
                  <a:srgbClr val="4B6070"/>
                </a:solidFill>
                <a:latin typeface="Arial"/>
                <a:ea typeface="Arial"/>
                <a:cs typeface="Arial"/>
              </a:defRPr>
            </a:lvl9pPr>
          </a:lstStyle>
          <a:p>
            <a:pPr algn="l">
              <a:buNone/>
              <a:defRPr sz="2025" b="0">
                <a:solidFill>
                  <a:srgbClr val="4B6070"/>
                </a:solidFill>
                <a:latin typeface="Arial"/>
                <a:ea typeface="Arial"/>
                <a:cs typeface="Arial"/>
              </a:defRPr>
            </a:pPr>
            <a:r>
              <a:rPr sz="2025" b="0">
                <a:solidFill>
                  <a:srgbClr val="4B6070"/>
                </a:solidFill>
                <a:latin typeface="Arial"/>
                <a:ea typeface="Arial"/>
                <a:cs typeface="Arial"/>
              </a:rPr>
              <a:t>A lesson in ordered data structures</a:t>
            </a:r>
          </a:p>
        </p:txBody>
      </p:sp>
      <p:sp>
        <p:nvSpPr>
          <p:cNvPr id="5" name="source-diagram-dg0-9">
            <a:extLst>
              <a:ext uri="{FF2B5EF4-FFF2-40B4-BE49-F238E27FC236}">
                <a16:creationId xmlns:a16="http://schemas.microsoft.com/office/drawing/2014/main" id="{F62719C6-42B9-4309-881C-F8A52C06A62F}"/>
              </a:ext>
            </a:extLst>
          </p:cNvPr>
          <p:cNvSpPr>
            <a:spLocks noGrp="1"/>
          </p:cNvSpPr>
          <p:nvPr/>
        </p:nvSpPr>
        <p:spPr>
          <a:xfrm>
            <a:off x="9649802"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20</a:t>
            </a:r>
          </a:p>
        </p:txBody>
      </p:sp>
      <p:sp>
        <p:nvSpPr>
          <p:cNvPr id="6" name="source-diagram-dg0-10">
            <a:extLst>
              <a:ext uri="{FF2B5EF4-FFF2-40B4-BE49-F238E27FC236}">
                <a16:creationId xmlns:a16="http://schemas.microsoft.com/office/drawing/2014/main" id="{2567BE03-53D1-4EFC-BF61-319BBF18C597}"/>
              </a:ext>
            </a:extLst>
          </p:cNvPr>
          <p:cNvSpPr>
            <a:spLocks noGrp="1"/>
          </p:cNvSpPr>
          <p:nvPr/>
        </p:nvSpPr>
        <p:spPr>
          <a:xfrm>
            <a:off x="8519891"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9</a:t>
            </a:r>
          </a:p>
        </p:txBody>
      </p:sp>
      <p:sp>
        <p:nvSpPr>
          <p:cNvPr id="7" name="source-diagram-dg0-11">
            <a:extLst>
              <a:ext uri="{FF2B5EF4-FFF2-40B4-BE49-F238E27FC236}">
                <a16:creationId xmlns:a16="http://schemas.microsoft.com/office/drawing/2014/main" id="{DC55B831-7718-40A3-BA4F-1E8250BCAD60}"/>
              </a:ext>
            </a:extLst>
          </p:cNvPr>
          <p:cNvSpPr>
            <a:spLocks noGrp="1"/>
          </p:cNvSpPr>
          <p:nvPr/>
        </p:nvSpPr>
        <p:spPr>
          <a:xfrm>
            <a:off x="7572375" y="3854515"/>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2</a:t>
            </a:r>
          </a:p>
        </p:txBody>
      </p:sp>
      <p:sp>
        <p:nvSpPr>
          <p:cNvPr id="8" name="source-diagram-dg0-12">
            <a:extLst>
              <a:ext uri="{FF2B5EF4-FFF2-40B4-BE49-F238E27FC236}">
                <a16:creationId xmlns:a16="http://schemas.microsoft.com/office/drawing/2014/main" id="{9EC5A00A-53EB-4E99-B11F-FDF990A628BB}"/>
              </a:ext>
            </a:extLst>
          </p:cNvPr>
          <p:cNvSpPr>
            <a:spLocks noGrp="1"/>
          </p:cNvSpPr>
          <p:nvPr/>
        </p:nvSpPr>
        <p:spPr>
          <a:xfrm>
            <a:off x="9130445" y="277498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15</a:t>
            </a:r>
          </a:p>
        </p:txBody>
      </p:sp>
      <p:sp>
        <p:nvSpPr>
          <p:cNvPr id="9" name="source-diagram-dg0-13">
            <a:extLst>
              <a:ext uri="{FF2B5EF4-FFF2-40B4-BE49-F238E27FC236}">
                <a16:creationId xmlns:a16="http://schemas.microsoft.com/office/drawing/2014/main" id="{C2D074B4-8767-47E4-B269-88365596B3CF}"/>
              </a:ext>
            </a:extLst>
          </p:cNvPr>
          <p:cNvSpPr>
            <a:spLocks noGrp="1"/>
          </p:cNvSpPr>
          <p:nvPr/>
        </p:nvSpPr>
        <p:spPr>
          <a:xfrm>
            <a:off x="8000535" y="277498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5</a:t>
            </a:r>
          </a:p>
        </p:txBody>
      </p:sp>
      <p:sp>
        <p:nvSpPr>
          <p:cNvPr id="10" name="source-diagram-dg0-14">
            <a:extLst>
              <a:ext uri="{FF2B5EF4-FFF2-40B4-BE49-F238E27FC236}">
                <a16:creationId xmlns:a16="http://schemas.microsoft.com/office/drawing/2014/main" id="{D1FE3577-6037-4F40-9DBE-DE9DEBE7D726}"/>
              </a:ext>
            </a:extLst>
          </p:cNvPr>
          <p:cNvSpPr>
            <a:spLocks noGrp="1"/>
          </p:cNvSpPr>
          <p:nvPr/>
        </p:nvSpPr>
        <p:spPr>
          <a:xfrm>
            <a:off x="8536895" y="1695450"/>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12</a:t>
            </a:r>
          </a:p>
        </p:txBody>
      </p:sp>
      <p:cxnSp>
        <p:nvCxnSpPr>
          <p:cNvPr id="11" name="source-diagram-dg0-15">
            <a:extLst>
              <a:ext uri="{FF2B5EF4-FFF2-40B4-BE49-F238E27FC236}">
                <a16:creationId xmlns:a16="http://schemas.microsoft.com/office/drawing/2014/main" id="{CBC9A5C4-3469-4742-B38A-9556FC63A56A}"/>
              </a:ext>
            </a:extLst>
          </p:cNvPr>
          <p:cNvCxnSpPr/>
          <p:nvPr/>
        </p:nvCxnSpPr>
        <p:spPr>
          <a:xfrm rot="5400000">
            <a:off x="8114145" y="2179992"/>
            <a:ext cx="548952" cy="505350"/>
          </a:xfrm>
          <a:prstGeom prst="straightConnector1">
            <a:avLst/>
          </a:prstGeom>
          <a:ln w="9525">
            <a:solidFill>
              <a:srgbClr val="142E42"/>
            </a:solidFill>
            <a:round/>
            <a:headEnd type="none" w="med" len="med"/>
            <a:tailEnd type="none" w="med" len="med"/>
          </a:ln>
        </p:spPr>
      </p:cxnSp>
      <p:cxnSp>
        <p:nvCxnSpPr>
          <p:cNvPr id="12" name="source-diagram-dg0-16">
            <a:extLst>
              <a:ext uri="{FF2B5EF4-FFF2-40B4-BE49-F238E27FC236}">
                <a16:creationId xmlns:a16="http://schemas.microsoft.com/office/drawing/2014/main" id="{67F830A7-DABC-4426-A311-590835D68640}"/>
              </a:ext>
            </a:extLst>
          </p:cNvPr>
          <p:cNvCxnSpPr/>
          <p:nvPr/>
        </p:nvCxnSpPr>
        <p:spPr>
          <a:xfrm rot="16200000" flipH="1">
            <a:off x="8810257" y="2144329"/>
            <a:ext cx="548952" cy="576677"/>
          </a:xfrm>
          <a:prstGeom prst="straightConnector1">
            <a:avLst/>
          </a:prstGeom>
          <a:ln w="9525">
            <a:solidFill>
              <a:srgbClr val="142E42"/>
            </a:solidFill>
            <a:round/>
            <a:headEnd type="none" w="med" len="med"/>
            <a:tailEnd type="none" w="med" len="med"/>
          </a:ln>
        </p:spPr>
      </p:cxnSp>
      <p:cxnSp>
        <p:nvCxnSpPr>
          <p:cNvPr id="13" name="source-diagram-dg0-17">
            <a:extLst>
              <a:ext uri="{FF2B5EF4-FFF2-40B4-BE49-F238E27FC236}">
                <a16:creationId xmlns:a16="http://schemas.microsoft.com/office/drawing/2014/main" id="{2458BC94-4124-40ED-9B2B-E3AF818CEC7D}"/>
              </a:ext>
            </a:extLst>
          </p:cNvPr>
          <p:cNvCxnSpPr/>
          <p:nvPr/>
        </p:nvCxnSpPr>
        <p:spPr>
          <a:xfrm>
            <a:off x="9447315" y="3193302"/>
            <a:ext cx="387971" cy="638080"/>
          </a:xfrm>
          <a:prstGeom prst="straightConnector1">
            <a:avLst/>
          </a:prstGeom>
          <a:ln w="9525">
            <a:solidFill>
              <a:srgbClr val="142E42"/>
            </a:solidFill>
            <a:round/>
            <a:headEnd type="none" w="med" len="med"/>
            <a:tailEnd type="none" w="med" len="med"/>
          </a:ln>
        </p:spPr>
      </p:cxnSp>
      <p:cxnSp>
        <p:nvCxnSpPr>
          <p:cNvPr id="14" name="source-diagram-dg0-18">
            <a:extLst>
              <a:ext uri="{FF2B5EF4-FFF2-40B4-BE49-F238E27FC236}">
                <a16:creationId xmlns:a16="http://schemas.microsoft.com/office/drawing/2014/main" id="{F9EFFD34-CF49-499B-A7AB-3D511D0FA830}"/>
              </a:ext>
            </a:extLst>
          </p:cNvPr>
          <p:cNvCxnSpPr/>
          <p:nvPr/>
        </p:nvCxnSpPr>
        <p:spPr>
          <a:xfrm rot="5400000">
            <a:off x="7631885" y="3326997"/>
            <a:ext cx="548952" cy="370408"/>
          </a:xfrm>
          <a:prstGeom prst="straightConnector1">
            <a:avLst/>
          </a:prstGeom>
          <a:ln w="9525">
            <a:solidFill>
              <a:srgbClr val="142E42"/>
            </a:solidFill>
            <a:round/>
            <a:headEnd type="none" w="med" len="med"/>
            <a:tailEnd type="none" w="med" len="med"/>
          </a:ln>
        </p:spPr>
      </p:cxnSp>
      <p:cxnSp>
        <p:nvCxnSpPr>
          <p:cNvPr id="15" name="source-diagram-dg0-19">
            <a:extLst>
              <a:ext uri="{FF2B5EF4-FFF2-40B4-BE49-F238E27FC236}">
                <a16:creationId xmlns:a16="http://schemas.microsoft.com/office/drawing/2014/main" id="{8766C770-07DC-47A6-B34B-23721238DBFA}"/>
              </a:ext>
            </a:extLst>
          </p:cNvPr>
          <p:cNvCxnSpPr/>
          <p:nvPr/>
        </p:nvCxnSpPr>
        <p:spPr>
          <a:xfrm>
            <a:off x="8317405" y="3193302"/>
            <a:ext cx="387971" cy="638080"/>
          </a:xfrm>
          <a:prstGeom prst="straightConnector1">
            <a:avLst/>
          </a:prstGeom>
          <a:ln w="9525">
            <a:solidFill>
              <a:srgbClr val="142E42"/>
            </a:solidFill>
            <a:round/>
            <a:headEnd type="none" w="med" len="med"/>
            <a:tailEnd type="none" w="med" len="med"/>
          </a:ln>
        </p:spPr>
      </p:cxnSp>
      <p:sp>
        <p:nvSpPr>
          <p:cNvPr id="16" name="source-diagram-dg0-20">
            <a:extLst>
              <a:ext uri="{FF2B5EF4-FFF2-40B4-BE49-F238E27FC236}">
                <a16:creationId xmlns:a16="http://schemas.microsoft.com/office/drawing/2014/main" id="{253C63BB-6E59-4FCF-93C5-A2DC9E5CC886}"/>
              </a:ext>
            </a:extLst>
          </p:cNvPr>
          <p:cNvSpPr>
            <a:spLocks noGrp="1"/>
          </p:cNvSpPr>
          <p:nvPr/>
        </p:nvSpPr>
        <p:spPr>
          <a:xfrm>
            <a:off x="9909480" y="4934049"/>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30</a:t>
            </a:r>
          </a:p>
        </p:txBody>
      </p:sp>
      <p:cxnSp>
        <p:nvCxnSpPr>
          <p:cNvPr id="17" name="source-diagram-dg0-21">
            <a:extLst>
              <a:ext uri="{FF2B5EF4-FFF2-40B4-BE49-F238E27FC236}">
                <a16:creationId xmlns:a16="http://schemas.microsoft.com/office/drawing/2014/main" id="{BB999D9A-029E-4C93-8EDB-51EDE4801254}"/>
              </a:ext>
            </a:extLst>
          </p:cNvPr>
          <p:cNvCxnSpPr/>
          <p:nvPr/>
        </p:nvCxnSpPr>
        <p:spPr>
          <a:xfrm>
            <a:off x="9966672" y="4272835"/>
            <a:ext cx="128293" cy="638080"/>
          </a:xfrm>
          <a:prstGeom prst="straightConnector1">
            <a:avLst/>
          </a:prstGeom>
          <a:ln w="9525">
            <a:solidFill>
              <a:srgbClr val="142E42"/>
            </a:solidFill>
            <a:round/>
            <a:headEnd type="none" w="med" len="med"/>
            <a:tailEnd type="none" w="med" len="med"/>
          </a:ln>
        </p:spPr>
      </p:cxnSp>
      <p:sp>
        <p:nvSpPr>
          <p:cNvPr id="18" name="source-diagram-dg0-22">
            <a:extLst>
              <a:ext uri="{FF2B5EF4-FFF2-40B4-BE49-F238E27FC236}">
                <a16:creationId xmlns:a16="http://schemas.microsoft.com/office/drawing/2014/main" id="{D8B88EEB-FAE2-4582-BDF1-B4D9F7C88079}"/>
              </a:ext>
            </a:extLst>
          </p:cNvPr>
          <p:cNvSpPr>
            <a:spLocks noGrp="1"/>
          </p:cNvSpPr>
          <p:nvPr/>
        </p:nvSpPr>
        <p:spPr>
          <a:xfrm>
            <a:off x="8260213" y="4934049"/>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7</a:t>
            </a:r>
          </a:p>
        </p:txBody>
      </p:sp>
      <p:cxnSp>
        <p:nvCxnSpPr>
          <p:cNvPr id="19" name="source-diagram-dg0-23">
            <a:extLst>
              <a:ext uri="{FF2B5EF4-FFF2-40B4-BE49-F238E27FC236}">
                <a16:creationId xmlns:a16="http://schemas.microsoft.com/office/drawing/2014/main" id="{3E9C518D-5A2A-401B-9E7C-B743B95BFECA}"/>
              </a:ext>
            </a:extLst>
          </p:cNvPr>
          <p:cNvCxnSpPr/>
          <p:nvPr/>
        </p:nvCxnSpPr>
        <p:spPr>
          <a:xfrm flipH="1">
            <a:off x="8445698" y="4272835"/>
            <a:ext cx="128294" cy="638080"/>
          </a:xfrm>
          <a:prstGeom prst="straightConnector1">
            <a:avLst/>
          </a:prstGeom>
          <a:ln w="9525">
            <a:solidFill>
              <a:srgbClr val="142E42"/>
            </a:solidFill>
            <a:round/>
            <a:headEnd type="none" w="med" len="med"/>
            <a:tailEnd type="none" w="med" len="med"/>
          </a:ln>
        </p:spPr>
      </p:cxnSp>
      <p:sp>
        <p:nvSpPr>
          <p:cNvPr id="20" name="source-diagram-dg0-24">
            <a:extLst>
              <a:ext uri="{FF2B5EF4-FFF2-40B4-BE49-F238E27FC236}">
                <a16:creationId xmlns:a16="http://schemas.microsoft.com/office/drawing/2014/main" id="{9CDD99C4-8213-4398-9DE9-1E7CE9A9C277}"/>
              </a:ext>
            </a:extLst>
          </p:cNvPr>
          <p:cNvSpPr>
            <a:spLocks noGrp="1"/>
          </p:cNvSpPr>
          <p:nvPr/>
        </p:nvSpPr>
        <p:spPr>
          <a:xfrm>
            <a:off x="9390123" y="4924411"/>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17</a:t>
            </a:r>
          </a:p>
        </p:txBody>
      </p:sp>
      <p:cxnSp>
        <p:nvCxnSpPr>
          <p:cNvPr id="21" name="source-diagram-dg0-25">
            <a:extLst>
              <a:ext uri="{FF2B5EF4-FFF2-40B4-BE49-F238E27FC236}">
                <a16:creationId xmlns:a16="http://schemas.microsoft.com/office/drawing/2014/main" id="{FA84BD5B-60BD-4290-BE61-D4943CA48452}"/>
              </a:ext>
            </a:extLst>
          </p:cNvPr>
          <p:cNvCxnSpPr/>
          <p:nvPr/>
        </p:nvCxnSpPr>
        <p:spPr>
          <a:xfrm flipH="1">
            <a:off x="9575608" y="4272835"/>
            <a:ext cx="128294" cy="628442"/>
          </a:xfrm>
          <a:prstGeom prst="straightConnector1">
            <a:avLst/>
          </a:prstGeom>
          <a:ln w="9525">
            <a:solidFill>
              <a:srgbClr val="142E42"/>
            </a:solidFill>
            <a:round/>
            <a:headEnd type="none" w="med" len="med"/>
            <a:tailEnd type="none" w="med" len="med"/>
          </a:ln>
        </p:spPr>
      </p:cxnSp>
      <p:sp>
        <p:nvSpPr>
          <p:cNvPr id="22" name="source-diagram-dg0-26">
            <a:extLst>
              <a:ext uri="{FF2B5EF4-FFF2-40B4-BE49-F238E27FC236}">
                <a16:creationId xmlns:a16="http://schemas.microsoft.com/office/drawing/2014/main" id="{99EF9087-4EEF-44CD-80C3-9E7ADE0CAF8A}"/>
              </a:ext>
            </a:extLst>
          </p:cNvPr>
          <p:cNvSpPr>
            <a:spLocks noGrp="1"/>
          </p:cNvSpPr>
          <p:nvPr/>
        </p:nvSpPr>
        <p:spPr>
          <a:xfrm>
            <a:off x="8759476" y="4947543"/>
            <a:ext cx="370969" cy="46265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10" b="0">
                <a:solidFill>
                  <a:srgbClr val="142E42"/>
                </a:solidFill>
                <a:latin typeface="Arial"/>
                <a:ea typeface="Arial"/>
                <a:cs typeface="Arial"/>
              </a:rPr>
              <a:t>10</a:t>
            </a:r>
          </a:p>
        </p:txBody>
      </p:sp>
      <p:cxnSp>
        <p:nvCxnSpPr>
          <p:cNvPr id="23" name="source-diagram-dg0-27">
            <a:extLst>
              <a:ext uri="{FF2B5EF4-FFF2-40B4-BE49-F238E27FC236}">
                <a16:creationId xmlns:a16="http://schemas.microsoft.com/office/drawing/2014/main" id="{03154506-E8C2-453C-BE3B-3BFEE0F7A2E3}"/>
              </a:ext>
            </a:extLst>
          </p:cNvPr>
          <p:cNvCxnSpPr/>
          <p:nvPr/>
        </p:nvCxnSpPr>
        <p:spPr>
          <a:xfrm>
            <a:off x="8816667" y="4286329"/>
            <a:ext cx="128294" cy="638081"/>
          </a:xfrm>
          <a:prstGeom prst="straightConnector1">
            <a:avLst/>
          </a:prstGeom>
          <a:ln w="9525">
            <a:solidFill>
              <a:srgbClr val="142E42"/>
            </a:solidFill>
            <a:round/>
            <a:headEnd type="none" w="med" len="med"/>
            <a:tailEnd type="none" w="med" len="med"/>
          </a:ln>
        </p:spPr>
      </p:cxnSp>
      <p:sp>
        <p:nvSpPr>
          <p:cNvPr id="25" name="local-java-TestBST">
            <a:extLst>
              <a:ext uri="{FF2B5EF4-FFF2-40B4-BE49-F238E27FC236}">
                <a16:creationId xmlns:a16="http://schemas.microsoft.com/office/drawing/2014/main" id="{80FF3A79-17C0-4E78-9CF3-596B0E492F3D}"/>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TestBST.java</a:t>
            </a:r>
          </a:p>
        </p:txBody>
      </p:sp>
      <p:sp>
        <p:nvSpPr>
          <p:cNvPr id="26" name="page">
            <a:extLst>
              <a:ext uri="{FF2B5EF4-FFF2-40B4-BE49-F238E27FC236}">
                <a16:creationId xmlns:a16="http://schemas.microsoft.com/office/drawing/2014/main" id="{548B6431-A361-4382-B7DF-2AD7781F6EAA}"/>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01</a:t>
            </a:r>
          </a:p>
        </p:txBody>
      </p:sp>
    </p:spTree>
    <p:extLst>
      <p:ext uri="{BB962C8B-B14F-4D97-AF65-F5344CB8AC3E}">
        <p14:creationId xmlns:p14="http://schemas.microsoft.com/office/powerpoint/2010/main" val="1594121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1F75C9FB-E38A-4ADC-B04F-4FC51447949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Learning objectives</a:t>
            </a:r>
          </a:p>
        </p:txBody>
      </p:sp>
      <p:sp>
        <p:nvSpPr>
          <p:cNvPr id="3" name="text-2">
            <a:extLst>
              <a:ext uri="{FF2B5EF4-FFF2-40B4-BE49-F238E27FC236}">
                <a16:creationId xmlns:a16="http://schemas.microsoft.com/office/drawing/2014/main" id="{450DDB75-2828-4DCE-A16A-7BB1D4FFCBA2}"/>
              </a:ext>
            </a:extLst>
          </p:cNvPr>
          <p:cNvSpPr>
            <a:spLocks noGrp="1"/>
          </p:cNvSpPr>
          <p:nvPr/>
        </p:nvSpPr>
        <p:spPr>
          <a:xfrm>
            <a:off x="609600" y="1581150"/>
            <a:ext cx="10477500" cy="4095750"/>
          </a:xfrm>
          <a:prstGeom prst="rect">
            <a:avLst/>
          </a:prstGeom>
          <a:noFill/>
          <a:ln w="0">
            <a:noFill/>
          </a:ln>
        </p:spPr>
        <p:txBody>
          <a:bodyPr lIns="0" tIns="0" rIns="0" bIns="0" anchor="t"/>
          <a:lstStyle>
            <a:defPPr algn="l">
              <a:defRPr sz="2325" b="0">
                <a:solidFill>
                  <a:srgbClr val="142E42"/>
                </a:solidFill>
                <a:latin typeface="Arial"/>
                <a:ea typeface="Arial"/>
                <a:cs typeface="Arial"/>
              </a:defRPr>
            </a:defPPr>
            <a:lvl1pPr algn="l">
              <a:buNone/>
              <a:defRPr sz="2325" b="0">
                <a:solidFill>
                  <a:srgbClr val="142E42"/>
                </a:solidFill>
                <a:latin typeface="Arial"/>
                <a:ea typeface="Arial"/>
                <a:cs typeface="Arial"/>
              </a:defRPr>
            </a:lvl1pPr>
            <a:lvl2pPr algn="l">
              <a:buNone/>
              <a:defRPr sz="2325" b="0">
                <a:solidFill>
                  <a:srgbClr val="142E42"/>
                </a:solidFill>
                <a:latin typeface="Arial"/>
                <a:ea typeface="Arial"/>
                <a:cs typeface="Arial"/>
              </a:defRPr>
            </a:lvl2pPr>
            <a:lvl3pPr algn="l">
              <a:buNone/>
              <a:defRPr sz="2325" b="0">
                <a:solidFill>
                  <a:srgbClr val="142E42"/>
                </a:solidFill>
                <a:latin typeface="Arial"/>
                <a:ea typeface="Arial"/>
                <a:cs typeface="Arial"/>
              </a:defRPr>
            </a:lvl3pPr>
            <a:lvl4pPr algn="l">
              <a:buNone/>
              <a:defRPr sz="2325" b="0">
                <a:solidFill>
                  <a:srgbClr val="142E42"/>
                </a:solidFill>
                <a:latin typeface="Arial"/>
                <a:ea typeface="Arial"/>
                <a:cs typeface="Arial"/>
              </a:defRPr>
            </a:lvl4pPr>
            <a:lvl5pPr algn="l">
              <a:buNone/>
              <a:defRPr sz="2325" b="0">
                <a:solidFill>
                  <a:srgbClr val="142E42"/>
                </a:solidFill>
                <a:latin typeface="Arial"/>
                <a:ea typeface="Arial"/>
                <a:cs typeface="Arial"/>
              </a:defRPr>
            </a:lvl5pPr>
            <a:lvl6pPr algn="l">
              <a:buNone/>
              <a:defRPr sz="2325" b="0">
                <a:solidFill>
                  <a:srgbClr val="142E42"/>
                </a:solidFill>
                <a:latin typeface="Arial"/>
                <a:ea typeface="Arial"/>
                <a:cs typeface="Arial"/>
              </a:defRPr>
            </a:lvl6pPr>
            <a:lvl7pPr algn="l">
              <a:buNone/>
              <a:defRPr sz="2325" b="0">
                <a:solidFill>
                  <a:srgbClr val="142E42"/>
                </a:solidFill>
                <a:latin typeface="Arial"/>
                <a:ea typeface="Arial"/>
                <a:cs typeface="Arial"/>
              </a:defRPr>
            </a:lvl7pPr>
            <a:lvl8pPr algn="l">
              <a:buNone/>
              <a:defRPr sz="2325" b="0">
                <a:solidFill>
                  <a:srgbClr val="142E42"/>
                </a:solidFill>
                <a:latin typeface="Arial"/>
                <a:ea typeface="Arial"/>
                <a:cs typeface="Arial"/>
              </a:defRPr>
            </a:lvl8pPr>
            <a:lvl9pPr algn="l">
              <a:buNone/>
              <a:defRPr sz="2325" b="0">
                <a:solidFill>
                  <a:srgbClr val="142E42"/>
                </a:solidFill>
                <a:latin typeface="Arial"/>
                <a:ea typeface="Arial"/>
                <a:cs typeface="Arial"/>
              </a:defRPr>
            </a:lvl9pPr>
          </a:lstStyle>
          <a:p>
            <a:pPr algn="l">
              <a:buNone/>
              <a:defRPr sz="2325" b="0">
                <a:solidFill>
                  <a:srgbClr val="142E42"/>
                </a:solidFill>
                <a:latin typeface="Arial"/>
                <a:ea typeface="Arial"/>
                <a:cs typeface="Arial"/>
              </a:defRPr>
            </a:pPr>
            <a:r>
              <a:rPr sz="2325" b="0">
                <a:solidFill>
                  <a:srgbClr val="142E42"/>
                </a:solidFill>
                <a:latin typeface="Arial"/>
                <a:ea typeface="Arial"/>
                <a:cs typeface="Arial"/>
              </a:rPr>
              <a:t>Explain the BST ordering rule and tree terminology.</a:t>
            </a:r>
          </a:p>
          <a:p>
            <a:endParaRPr sz="2325" b="0">
              <a:solidFill>
                <a:srgbClr val="142E42"/>
              </a:solidFill>
              <a:latin typeface="Arial"/>
              <a:ea typeface="Arial"/>
              <a:cs typeface="Arial"/>
            </a:endParaRPr>
          </a:p>
          <a:p>
            <a:pPr algn="l">
              <a:buNone/>
              <a:defRPr sz="2325" b="0">
                <a:solidFill>
                  <a:srgbClr val="142E42"/>
                </a:solidFill>
                <a:latin typeface="Arial"/>
                <a:ea typeface="Arial"/>
                <a:cs typeface="Arial"/>
              </a:defRPr>
            </a:pPr>
            <a:r>
              <a:rPr sz="2325" b="0">
                <a:solidFill>
                  <a:srgbClr val="142E42"/>
                </a:solidFill>
                <a:latin typeface="Arial"/>
                <a:ea typeface="Arial"/>
                <a:cs typeface="Arial"/>
              </a:rPr>
              <a:t>Trace search, insertion, deletion, and traversal.</a:t>
            </a:r>
          </a:p>
          <a:p>
            <a:endParaRPr sz="2325" b="0">
              <a:solidFill>
                <a:srgbClr val="142E42"/>
              </a:solidFill>
              <a:latin typeface="Arial"/>
              <a:ea typeface="Arial"/>
              <a:cs typeface="Arial"/>
            </a:endParaRPr>
          </a:p>
          <a:p>
            <a:pPr algn="l">
              <a:buNone/>
              <a:defRPr sz="2325" b="0">
                <a:solidFill>
                  <a:srgbClr val="142E42"/>
                </a:solidFill>
                <a:latin typeface="Arial"/>
                <a:ea typeface="Arial"/>
                <a:cs typeface="Arial"/>
              </a:defRPr>
            </a:pPr>
            <a:r>
              <a:rPr sz="2325" b="0">
                <a:solidFill>
                  <a:srgbClr val="142E42"/>
                </a:solidFill>
                <a:latin typeface="Arial"/>
                <a:ea typeface="Arial"/>
                <a:cs typeface="Arial"/>
              </a:rPr>
              <a:t>Read and implement a generic Java BST.</a:t>
            </a:r>
          </a:p>
          <a:p>
            <a:endParaRPr sz="2325" b="0">
              <a:solidFill>
                <a:srgbClr val="142E42"/>
              </a:solidFill>
              <a:latin typeface="Arial"/>
              <a:ea typeface="Arial"/>
              <a:cs typeface="Arial"/>
            </a:endParaRPr>
          </a:p>
          <a:p>
            <a:pPr algn="l">
              <a:buNone/>
              <a:defRPr sz="2325" b="0">
                <a:solidFill>
                  <a:srgbClr val="142E42"/>
                </a:solidFill>
                <a:latin typeface="Arial"/>
                <a:ea typeface="Arial"/>
                <a:cs typeface="Arial"/>
              </a:defRPr>
            </a:pPr>
            <a:r>
              <a:rPr sz="2325" b="0">
                <a:solidFill>
                  <a:srgbClr val="142E42"/>
                </a:solidFill>
                <a:latin typeface="Arial"/>
                <a:ea typeface="Arial"/>
                <a:cs typeface="Arial"/>
              </a:rPr>
              <a:t>Relate operation cost to the height of the tree.</a:t>
            </a:r>
          </a:p>
        </p:txBody>
      </p:sp>
      <p:sp>
        <p:nvSpPr>
          <p:cNvPr id="5" name="page">
            <a:extLst>
              <a:ext uri="{FF2B5EF4-FFF2-40B4-BE49-F238E27FC236}">
                <a16:creationId xmlns:a16="http://schemas.microsoft.com/office/drawing/2014/main" id="{34A77ED9-D5B5-434A-9879-64CD676CDEB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02</a:t>
            </a:r>
          </a:p>
        </p:txBody>
      </p:sp>
    </p:spTree>
    <p:extLst>
      <p:ext uri="{BB962C8B-B14F-4D97-AF65-F5344CB8AC3E}">
        <p14:creationId xmlns:p14="http://schemas.microsoft.com/office/powerpoint/2010/main" val="10248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5ABDD73B-460C-40FE-BCD1-D76D564CDAF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Why an ordered tree?</a:t>
            </a:r>
          </a:p>
        </p:txBody>
      </p:sp>
      <p:graphicFrame>
        <p:nvGraphicFramePr>
          <p:cNvPr id="3" name="Table 2">
            <a:extLst>
              <a:ext uri="{FF2B5EF4-FFF2-40B4-BE49-F238E27FC236}">
                <a16:creationId xmlns:a16="http://schemas.microsoft.com/office/drawing/2014/main" id="{D23B4A48-D1E8-42A7-9065-EC1A5A3397F4}"/>
              </a:ext>
            </a:extLst>
          </p:cNvPr>
          <p:cNvGraphicFramePr/>
          <p:nvPr/>
        </p:nvGraphicFramePr>
        <p:xfrm>
          <a:off x="609600" y="1619250"/>
          <a:ext cx="10972800" cy="3238500"/>
        </p:xfrm>
        <a:graphic>
          <a:graphicData uri="http://schemas.openxmlformats.org/drawingml/2006/table">
            <a:tbl>
              <a:tblPr/>
              <a:tblGrid>
                <a:gridCol w="3810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924300">
                  <a:extLst>
                    <a:ext uri="{9D8B030D-6E8A-4147-A177-3AD203B41FA5}">
                      <a16:colId xmlns:a16="http://schemas.microsoft.com/office/drawing/2014/main" val="20002"/>
                    </a:ext>
                  </a:extLst>
                </a:gridCol>
              </a:tblGrid>
              <a:tr h="809625">
                <a:tc>
                  <a:txBody>
                    <a:bodyPr/>
                    <a:lstStyle/>
                    <a:p>
                      <a:r>
                        <a:rPr sz="2025" b="1">
                          <a:solidFill>
                            <a:srgbClr val="FFFFFF"/>
                          </a:solidFill>
                          <a:latin typeface="Arial"/>
                          <a:ea typeface="Arial"/>
                          <a:cs typeface="Arial"/>
                        </a:rPr>
                        <a:t>Structure</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025" b="1">
                          <a:solidFill>
                            <a:srgbClr val="FFFFFF"/>
                          </a:solidFill>
                          <a:latin typeface="Arial"/>
                          <a:ea typeface="Arial"/>
                          <a:cs typeface="Arial"/>
                        </a:rPr>
                        <a:t>Search by key</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025" b="1">
                          <a:solidFill>
                            <a:srgbClr val="FFFFFF"/>
                          </a:solidFill>
                          <a:latin typeface="Arial"/>
                          <a:ea typeface="Arial"/>
                          <a:cs typeface="Arial"/>
                        </a:rPr>
                        <a:t>Insert / delete</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09625">
                <a:tc>
                  <a:txBody>
                    <a:bodyPr/>
                    <a:lstStyle/>
                    <a:p>
                      <a:r>
                        <a:rPr sz="2025" b="0">
                          <a:solidFill>
                            <a:srgbClr val="142E42"/>
                          </a:solidFill>
                          <a:latin typeface="Arial"/>
                          <a:ea typeface="Arial"/>
                          <a:cs typeface="Arial"/>
                        </a:rPr>
                        <a:t>Sorted array</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O(log 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O(n) shifting</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1"/>
                  </a:ext>
                </a:extLst>
              </a:tr>
              <a:tr h="809625">
                <a:tc>
                  <a:txBody>
                    <a:bodyPr/>
                    <a:lstStyle/>
                    <a:p>
                      <a:r>
                        <a:rPr sz="2025" b="0">
                          <a:solidFill>
                            <a:srgbClr val="142E42"/>
                          </a:solidFill>
                          <a:latin typeface="Arial"/>
                          <a:ea typeface="Arial"/>
                          <a:cs typeface="Arial"/>
                        </a:rPr>
                        <a:t>Linked list</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2025" b="0">
                          <a:solidFill>
                            <a:srgbClr val="142E42"/>
                          </a:solidFill>
                          <a:latin typeface="Arial"/>
                          <a:ea typeface="Arial"/>
                          <a:cs typeface="Arial"/>
                        </a:rPr>
                        <a:t>O(n)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2025" b="0">
                          <a:solidFill>
                            <a:srgbClr val="142E42"/>
                          </a:solidFill>
                          <a:latin typeface="Arial"/>
                          <a:ea typeface="Arial"/>
                          <a:cs typeface="Arial"/>
                        </a:rPr>
                        <a:t>O(n) to locate</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extLst>
                  <a:ext uri="{0D108BD9-81ED-4DB2-BD59-A6C34878D82A}">
                    <a16:rowId xmlns:a16="http://schemas.microsoft.com/office/drawing/2014/main" val="10002"/>
                  </a:ext>
                </a:extLst>
              </a:tr>
              <a:tr h="809625">
                <a:tc>
                  <a:txBody>
                    <a:bodyPr/>
                    <a:lstStyle/>
                    <a:p>
                      <a:r>
                        <a:rPr sz="2025" b="0">
                          <a:solidFill>
                            <a:srgbClr val="142E42"/>
                          </a:solidFill>
                          <a:latin typeface="Arial"/>
                          <a:ea typeface="Arial"/>
                          <a:cs typeface="Arial"/>
                        </a:rPr>
                        <a:t>BST</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O(h + 1)</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025" b="0">
                          <a:solidFill>
                            <a:srgbClr val="142E42"/>
                          </a:solidFill>
                          <a:latin typeface="Arial"/>
                          <a:ea typeface="Arial"/>
                          <a:cs typeface="Arial"/>
                        </a:rPr>
                        <a:t>O(h + 1)</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F287819D-F269-465E-872D-7B42FF9750FE}"/>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 short tree can support fast search and updates.</a:t>
            </a:r>
          </a:p>
        </p:txBody>
      </p:sp>
      <p:sp>
        <p:nvSpPr>
          <p:cNvPr id="6" name="page">
            <a:extLst>
              <a:ext uri="{FF2B5EF4-FFF2-40B4-BE49-F238E27FC236}">
                <a16:creationId xmlns:a16="http://schemas.microsoft.com/office/drawing/2014/main" id="{CEB20722-C705-4575-890E-A060A3FDA40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03</a:t>
            </a:r>
          </a:p>
        </p:txBody>
      </p:sp>
    </p:spTree>
    <p:extLst>
      <p:ext uri="{BB962C8B-B14F-4D97-AF65-F5344CB8AC3E}">
        <p14:creationId xmlns:p14="http://schemas.microsoft.com/office/powerpoint/2010/main" val="728927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2C41A18B-BE6E-4402-A42A-A7514542087B}"/>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choosing a search structure</a:t>
            </a:r>
          </a:p>
        </p:txBody>
      </p:sp>
      <p:sp>
        <p:nvSpPr>
          <p:cNvPr id="2" name="questions">
            <a:extLst>
              <a:ext uri="{FF2B5EF4-FFF2-40B4-BE49-F238E27FC236}">
                <a16:creationId xmlns:a16="http://schemas.microsoft.com/office/drawing/2014/main" id="{287F4B94-83DF-4EE5-881F-4FBF06809EB6}"/>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A course catalog supports lookup by course code.</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A. The catalog rarely changes and fits in an array.</a:t>
            </a:r>
          </a:p>
          <a:p>
            <a:pPr>
              <a:defRPr sz="2175" b="0">
                <a:solidFill>
                  <a:srgbClr val="153143"/>
                </a:solidFill>
                <a:latin typeface="Arial"/>
                <a:ea typeface="Arial"/>
                <a:cs typeface="Arial"/>
              </a:defRPr>
            </a:pPr>
            <a:r>
              <a:rPr sz="2175" b="0">
                <a:solidFill>
                  <a:srgbClr val="153143"/>
                </a:solidFill>
                <a:latin typeface="Arial"/>
                <a:ea typeface="Arial"/>
                <a:cs typeface="Arial"/>
              </a:rPr>
              <a:t>B. Courses arrive and disappear throughout the day.</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Which structure would you consider for each workload?</a:t>
            </a:r>
          </a:p>
          <a:p>
            <a:pPr>
              <a:defRPr sz="2175" b="0">
                <a:solidFill>
                  <a:srgbClr val="153143"/>
                </a:solidFill>
                <a:latin typeface="Arial"/>
                <a:ea typeface="Arial"/>
                <a:cs typeface="Arial"/>
              </a:defRPr>
            </a:pPr>
            <a:r>
              <a:rPr sz="2175" b="0">
                <a:solidFill>
                  <a:srgbClr val="153143"/>
                </a:solidFill>
                <a:latin typeface="Arial"/>
                <a:ea typeface="Arial"/>
                <a:cs typeface="Arial"/>
              </a:rPr>
              <a:t>What assumption makes BST updates fast?</a:t>
            </a:r>
          </a:p>
        </p:txBody>
      </p:sp>
      <p:sp>
        <p:nvSpPr>
          <p:cNvPr id="3" name="activity-cue">
            <a:extLst>
              <a:ext uri="{FF2B5EF4-FFF2-40B4-BE49-F238E27FC236}">
                <a16:creationId xmlns:a16="http://schemas.microsoft.com/office/drawing/2014/main" id="{61CCCF89-924B-4AD2-B313-E7DB7C703418}"/>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Pairs: choose a structure and defend one tradeoff. 2 minutes</a:t>
            </a:r>
          </a:p>
        </p:txBody>
      </p:sp>
      <p:sp>
        <p:nvSpPr>
          <p:cNvPr id="4" name="page">
            <a:extLst>
              <a:ext uri="{FF2B5EF4-FFF2-40B4-BE49-F238E27FC236}">
                <a16:creationId xmlns:a16="http://schemas.microsoft.com/office/drawing/2014/main" id="{CFA55F80-9F7E-4D03-844C-C84967AB2F9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04</a:t>
            </a:r>
          </a:p>
        </p:txBody>
      </p:sp>
    </p:spTree>
    <p:extLst>
      <p:ext uri="{BB962C8B-B14F-4D97-AF65-F5344CB8AC3E}">
        <p14:creationId xmlns:p14="http://schemas.microsoft.com/office/powerpoint/2010/main" val="174947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9A8AAFE7-4874-48BF-8193-68471AC9D93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Trees and rooted trees</a:t>
            </a:r>
          </a:p>
        </p:txBody>
      </p:sp>
      <p:sp>
        <p:nvSpPr>
          <p:cNvPr id="3" name="text-2">
            <a:extLst>
              <a:ext uri="{FF2B5EF4-FFF2-40B4-BE49-F238E27FC236}">
                <a16:creationId xmlns:a16="http://schemas.microsoft.com/office/drawing/2014/main" id="{B5ADBC09-AB74-4CC0-9C94-A38F3B94E6AE}"/>
              </a:ext>
            </a:extLst>
          </p:cNvPr>
          <p:cNvSpPr>
            <a:spLocks noGrp="1"/>
          </p:cNvSpPr>
          <p:nvPr/>
        </p:nvSpPr>
        <p:spPr>
          <a:xfrm>
            <a:off x="609600" y="1571625"/>
            <a:ext cx="10858500" cy="40957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An undirected tree is a connected graph with no cycles.</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 forest is an acyclic graph that may be disconnected.</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 tree with n nodes has n − 1 edges and exactly one</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simple path between any two nodes.</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Choosing a root defines parent–child relationships.</a:t>
            </a:r>
          </a:p>
        </p:txBody>
      </p:sp>
      <p:sp>
        <p:nvSpPr>
          <p:cNvPr id="5" name="page">
            <a:extLst>
              <a:ext uri="{FF2B5EF4-FFF2-40B4-BE49-F238E27FC236}">
                <a16:creationId xmlns:a16="http://schemas.microsoft.com/office/drawing/2014/main" id="{6CAD6CC4-3EA2-43F8-834E-514389646A87}"/>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05</a:t>
            </a:r>
          </a:p>
        </p:txBody>
      </p:sp>
    </p:spTree>
    <p:extLst>
      <p:ext uri="{BB962C8B-B14F-4D97-AF65-F5344CB8AC3E}">
        <p14:creationId xmlns:p14="http://schemas.microsoft.com/office/powerpoint/2010/main" val="86218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5" name="text-0">
            <a:extLst>
              <a:ext uri="{FF2B5EF4-FFF2-40B4-BE49-F238E27FC236}">
                <a16:creationId xmlns:a16="http://schemas.microsoft.com/office/drawing/2014/main" id="{0FAE62F5-829D-48DD-8CA7-20B55FAD0A0C}"/>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Tree terminology</a:t>
            </a:r>
          </a:p>
        </p:txBody>
      </p:sp>
      <p:sp>
        <p:nvSpPr>
          <p:cNvPr id="3" name="text-2">
            <a:extLst>
              <a:ext uri="{FF2B5EF4-FFF2-40B4-BE49-F238E27FC236}">
                <a16:creationId xmlns:a16="http://schemas.microsoft.com/office/drawing/2014/main" id="{2EB64991-5057-4976-89A8-CF1BFDA43D75}"/>
              </a:ext>
            </a:extLst>
          </p:cNvPr>
          <p:cNvSpPr>
            <a:spLocks noGrp="1"/>
          </p:cNvSpPr>
          <p:nvPr/>
        </p:nvSpPr>
        <p:spPr>
          <a:xfrm>
            <a:off x="609600" y="1619250"/>
            <a:ext cx="5429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Root: A has no parent.</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Leaf: E has no children.</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Internal node: B has children.</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Ancestors of J: F, B, A.</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Subtree at F: F, I, J, K.</a:t>
            </a:r>
          </a:p>
        </p:txBody>
      </p:sp>
      <p:sp>
        <p:nvSpPr>
          <p:cNvPr id="4" name="source-diagram-dg4-5130">
            <a:extLst>
              <a:ext uri="{FF2B5EF4-FFF2-40B4-BE49-F238E27FC236}">
                <a16:creationId xmlns:a16="http://schemas.microsoft.com/office/drawing/2014/main" id="{FA262713-AAA4-4568-81FF-DB4A9F35770F}"/>
              </a:ext>
            </a:extLst>
          </p:cNvPr>
          <p:cNvSpPr>
            <a:spLocks noGrp="1"/>
          </p:cNvSpPr>
          <p:nvPr/>
        </p:nvSpPr>
        <p:spPr>
          <a:xfrm>
            <a:off x="8801148" y="1714500"/>
            <a:ext cx="405416"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13" b="0">
                <a:solidFill>
                  <a:srgbClr val="142E42"/>
                </a:solidFill>
                <a:latin typeface="Arial"/>
                <a:ea typeface="Arial"/>
                <a:cs typeface="Arial"/>
              </a:rPr>
              <a:t>A</a:t>
            </a:r>
          </a:p>
        </p:txBody>
      </p:sp>
      <p:sp>
        <p:nvSpPr>
          <p:cNvPr id="5" name="source-diagram-dg4-5131">
            <a:extLst>
              <a:ext uri="{FF2B5EF4-FFF2-40B4-BE49-F238E27FC236}">
                <a16:creationId xmlns:a16="http://schemas.microsoft.com/office/drawing/2014/main" id="{584CD74A-4824-4F84-AA16-2969FE1EAE7C}"/>
              </a:ext>
            </a:extLst>
          </p:cNvPr>
          <p:cNvSpPr>
            <a:spLocks noGrp="1"/>
          </p:cNvSpPr>
          <p:nvPr/>
        </p:nvSpPr>
        <p:spPr>
          <a:xfrm>
            <a:off x="7232279" y="2800640"/>
            <a:ext cx="401645"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02" b="0">
                <a:solidFill>
                  <a:srgbClr val="142E42"/>
                </a:solidFill>
                <a:latin typeface="Arial"/>
                <a:ea typeface="Arial"/>
                <a:cs typeface="Arial"/>
              </a:rPr>
              <a:t>B</a:t>
            </a:r>
          </a:p>
        </p:txBody>
      </p:sp>
      <p:sp>
        <p:nvSpPr>
          <p:cNvPr id="6" name="source-diagram-dg4-5132">
            <a:extLst>
              <a:ext uri="{FF2B5EF4-FFF2-40B4-BE49-F238E27FC236}">
                <a16:creationId xmlns:a16="http://schemas.microsoft.com/office/drawing/2014/main" id="{B2EFC777-A47D-41C6-A89F-B9E7CDA07052}"/>
              </a:ext>
            </a:extLst>
          </p:cNvPr>
          <p:cNvSpPr>
            <a:spLocks noGrp="1"/>
          </p:cNvSpPr>
          <p:nvPr/>
        </p:nvSpPr>
        <p:spPr>
          <a:xfrm>
            <a:off x="10745264" y="2798754"/>
            <a:ext cx="424273"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69" b="0">
                <a:solidFill>
                  <a:srgbClr val="142E42"/>
                </a:solidFill>
                <a:latin typeface="Arial"/>
                <a:ea typeface="Arial"/>
                <a:cs typeface="Arial"/>
              </a:rPr>
              <a:t>D</a:t>
            </a:r>
          </a:p>
        </p:txBody>
      </p:sp>
      <p:sp>
        <p:nvSpPr>
          <p:cNvPr id="7" name="source-diagram-dg4-5133">
            <a:extLst>
              <a:ext uri="{FF2B5EF4-FFF2-40B4-BE49-F238E27FC236}">
                <a16:creationId xmlns:a16="http://schemas.microsoft.com/office/drawing/2014/main" id="{0FDE7FA7-A61A-4550-81F6-91ED9908D770}"/>
              </a:ext>
            </a:extLst>
          </p:cNvPr>
          <p:cNvSpPr>
            <a:spLocks noGrp="1"/>
          </p:cNvSpPr>
          <p:nvPr/>
        </p:nvSpPr>
        <p:spPr>
          <a:xfrm>
            <a:off x="9815634" y="2798754"/>
            <a:ext cx="405416"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13" b="0">
                <a:solidFill>
                  <a:srgbClr val="142E42"/>
                </a:solidFill>
                <a:latin typeface="Arial"/>
                <a:ea typeface="Arial"/>
                <a:cs typeface="Arial"/>
              </a:rPr>
              <a:t>C</a:t>
            </a:r>
          </a:p>
        </p:txBody>
      </p:sp>
      <p:sp>
        <p:nvSpPr>
          <p:cNvPr id="8" name="source-diagram-dg4-5134">
            <a:extLst>
              <a:ext uri="{FF2B5EF4-FFF2-40B4-BE49-F238E27FC236}">
                <a16:creationId xmlns:a16="http://schemas.microsoft.com/office/drawing/2014/main" id="{65974103-66AD-4AE3-8079-C53DF3FCBAC4}"/>
              </a:ext>
            </a:extLst>
          </p:cNvPr>
          <p:cNvSpPr>
            <a:spLocks noGrp="1"/>
          </p:cNvSpPr>
          <p:nvPr/>
        </p:nvSpPr>
        <p:spPr>
          <a:xfrm>
            <a:off x="9325361" y="3884894"/>
            <a:ext cx="420502"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58" b="0">
                <a:solidFill>
                  <a:srgbClr val="142E42"/>
                </a:solidFill>
                <a:latin typeface="Arial"/>
                <a:ea typeface="Arial"/>
                <a:cs typeface="Arial"/>
              </a:rPr>
              <a:t>G</a:t>
            </a:r>
          </a:p>
        </p:txBody>
      </p:sp>
      <p:sp>
        <p:nvSpPr>
          <p:cNvPr id="9" name="source-diagram-dg4-5135">
            <a:extLst>
              <a:ext uri="{FF2B5EF4-FFF2-40B4-BE49-F238E27FC236}">
                <a16:creationId xmlns:a16="http://schemas.microsoft.com/office/drawing/2014/main" id="{20A5C0E3-DB4D-453D-B821-7A4A3607FE0A}"/>
              </a:ext>
            </a:extLst>
          </p:cNvPr>
          <p:cNvSpPr>
            <a:spLocks noGrp="1"/>
          </p:cNvSpPr>
          <p:nvPr/>
        </p:nvSpPr>
        <p:spPr>
          <a:xfrm>
            <a:off x="10292705" y="3884894"/>
            <a:ext cx="422388"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64" b="0">
                <a:solidFill>
                  <a:srgbClr val="142E42"/>
                </a:solidFill>
                <a:latin typeface="Arial"/>
                <a:ea typeface="Arial"/>
                <a:cs typeface="Arial"/>
              </a:rPr>
              <a:t>H</a:t>
            </a:r>
          </a:p>
        </p:txBody>
      </p:sp>
      <p:sp>
        <p:nvSpPr>
          <p:cNvPr id="10" name="source-diagram-dg4-5136">
            <a:extLst>
              <a:ext uri="{FF2B5EF4-FFF2-40B4-BE49-F238E27FC236}">
                <a16:creationId xmlns:a16="http://schemas.microsoft.com/office/drawing/2014/main" id="{4614369E-1F77-4C17-84E2-4E87ABD19644}"/>
              </a:ext>
            </a:extLst>
          </p:cNvPr>
          <p:cNvSpPr>
            <a:spLocks noGrp="1"/>
          </p:cNvSpPr>
          <p:nvPr/>
        </p:nvSpPr>
        <p:spPr>
          <a:xfrm>
            <a:off x="6762750" y="3881123"/>
            <a:ext cx="392217" cy="456330"/>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174" b="0">
                <a:solidFill>
                  <a:srgbClr val="142E42"/>
                </a:solidFill>
                <a:latin typeface="Arial"/>
                <a:ea typeface="Arial"/>
                <a:cs typeface="Arial"/>
              </a:rPr>
              <a:t>E</a:t>
            </a:r>
          </a:p>
        </p:txBody>
      </p:sp>
      <p:sp>
        <p:nvSpPr>
          <p:cNvPr id="11" name="source-diagram-dg4-5137">
            <a:extLst>
              <a:ext uri="{FF2B5EF4-FFF2-40B4-BE49-F238E27FC236}">
                <a16:creationId xmlns:a16="http://schemas.microsoft.com/office/drawing/2014/main" id="{7C36BD2B-63B8-4FAD-B7E7-4062610B068B}"/>
              </a:ext>
            </a:extLst>
          </p:cNvPr>
          <p:cNvSpPr>
            <a:spLocks noGrp="1"/>
          </p:cNvSpPr>
          <p:nvPr/>
        </p:nvSpPr>
        <p:spPr>
          <a:xfrm>
            <a:off x="7713123" y="3886780"/>
            <a:ext cx="382788"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F</a:t>
            </a:r>
          </a:p>
        </p:txBody>
      </p:sp>
      <p:cxnSp>
        <p:nvCxnSpPr>
          <p:cNvPr id="12" name="source-diagram-dg4-5138">
            <a:extLst>
              <a:ext uri="{FF2B5EF4-FFF2-40B4-BE49-F238E27FC236}">
                <a16:creationId xmlns:a16="http://schemas.microsoft.com/office/drawing/2014/main" id="{DBCC8C44-6199-4617-8877-31AAE613C1B0}"/>
              </a:ext>
            </a:extLst>
          </p:cNvPr>
          <p:cNvCxnSpPr/>
          <p:nvPr/>
        </p:nvCxnSpPr>
        <p:spPr>
          <a:xfrm flipH="1">
            <a:off x="7434045" y="2174601"/>
            <a:ext cx="1570754" cy="614725"/>
          </a:xfrm>
          <a:prstGeom prst="straightConnector1">
            <a:avLst/>
          </a:prstGeom>
          <a:ln w="19050">
            <a:solidFill>
              <a:srgbClr val="142E42"/>
            </a:solidFill>
            <a:round/>
          </a:ln>
        </p:spPr>
      </p:cxnSp>
      <p:cxnSp>
        <p:nvCxnSpPr>
          <p:cNvPr id="13" name="source-diagram-dg4-5139">
            <a:extLst>
              <a:ext uri="{FF2B5EF4-FFF2-40B4-BE49-F238E27FC236}">
                <a16:creationId xmlns:a16="http://schemas.microsoft.com/office/drawing/2014/main" id="{565DF8C7-CB63-458D-9306-D51FE4320BA1}"/>
              </a:ext>
            </a:extLst>
          </p:cNvPr>
          <p:cNvCxnSpPr/>
          <p:nvPr/>
        </p:nvCxnSpPr>
        <p:spPr>
          <a:xfrm>
            <a:off x="9004799" y="2174601"/>
            <a:ext cx="1014485" cy="612839"/>
          </a:xfrm>
          <a:prstGeom prst="straightConnector1">
            <a:avLst/>
          </a:prstGeom>
          <a:ln w="19050">
            <a:solidFill>
              <a:srgbClr val="142E42"/>
            </a:solidFill>
            <a:round/>
          </a:ln>
        </p:spPr>
      </p:cxnSp>
      <p:cxnSp>
        <p:nvCxnSpPr>
          <p:cNvPr id="14" name="source-diagram-dg4-5140">
            <a:extLst>
              <a:ext uri="{FF2B5EF4-FFF2-40B4-BE49-F238E27FC236}">
                <a16:creationId xmlns:a16="http://schemas.microsoft.com/office/drawing/2014/main" id="{12970245-4AD9-4AA5-80AD-020080669146}"/>
              </a:ext>
            </a:extLst>
          </p:cNvPr>
          <p:cNvCxnSpPr/>
          <p:nvPr/>
        </p:nvCxnSpPr>
        <p:spPr>
          <a:xfrm>
            <a:off x="9004799" y="2174601"/>
            <a:ext cx="1953544" cy="612839"/>
          </a:xfrm>
          <a:prstGeom prst="straightConnector1">
            <a:avLst/>
          </a:prstGeom>
          <a:ln w="19050">
            <a:solidFill>
              <a:srgbClr val="142E42"/>
            </a:solidFill>
            <a:round/>
          </a:ln>
        </p:spPr>
      </p:cxnSp>
      <p:cxnSp>
        <p:nvCxnSpPr>
          <p:cNvPr id="15" name="source-diagram-dg4-5141">
            <a:extLst>
              <a:ext uri="{FF2B5EF4-FFF2-40B4-BE49-F238E27FC236}">
                <a16:creationId xmlns:a16="http://schemas.microsoft.com/office/drawing/2014/main" id="{B55ACBEC-E300-4DDA-A7DC-BE96B99C76BE}"/>
              </a:ext>
            </a:extLst>
          </p:cNvPr>
          <p:cNvCxnSpPr/>
          <p:nvPr/>
        </p:nvCxnSpPr>
        <p:spPr>
          <a:xfrm>
            <a:off x="10019285" y="3262626"/>
            <a:ext cx="484614" cy="610954"/>
          </a:xfrm>
          <a:prstGeom prst="straightConnector1">
            <a:avLst/>
          </a:prstGeom>
          <a:ln w="19050">
            <a:solidFill>
              <a:srgbClr val="142E42"/>
            </a:solidFill>
            <a:round/>
          </a:ln>
        </p:spPr>
      </p:cxnSp>
      <p:cxnSp>
        <p:nvCxnSpPr>
          <p:cNvPr id="16" name="source-diagram-dg4-5142">
            <a:extLst>
              <a:ext uri="{FF2B5EF4-FFF2-40B4-BE49-F238E27FC236}">
                <a16:creationId xmlns:a16="http://schemas.microsoft.com/office/drawing/2014/main" id="{FBFAC570-2184-44BF-99B6-8924259CCAE8}"/>
              </a:ext>
            </a:extLst>
          </p:cNvPr>
          <p:cNvCxnSpPr/>
          <p:nvPr/>
        </p:nvCxnSpPr>
        <p:spPr>
          <a:xfrm flipH="1">
            <a:off x="9536555" y="3262626"/>
            <a:ext cx="482729" cy="610954"/>
          </a:xfrm>
          <a:prstGeom prst="straightConnector1">
            <a:avLst/>
          </a:prstGeom>
          <a:ln w="19050">
            <a:solidFill>
              <a:srgbClr val="142E42"/>
            </a:solidFill>
            <a:round/>
          </a:ln>
        </p:spPr>
      </p:cxnSp>
      <p:cxnSp>
        <p:nvCxnSpPr>
          <p:cNvPr id="17" name="source-diagram-dg4-5143">
            <a:extLst>
              <a:ext uri="{FF2B5EF4-FFF2-40B4-BE49-F238E27FC236}">
                <a16:creationId xmlns:a16="http://schemas.microsoft.com/office/drawing/2014/main" id="{A9042C14-E09A-4DCF-9511-36865A49DB80}"/>
              </a:ext>
            </a:extLst>
          </p:cNvPr>
          <p:cNvCxnSpPr/>
          <p:nvPr/>
        </p:nvCxnSpPr>
        <p:spPr>
          <a:xfrm>
            <a:off x="7434045" y="3260741"/>
            <a:ext cx="471415" cy="614725"/>
          </a:xfrm>
          <a:prstGeom prst="straightConnector1">
            <a:avLst/>
          </a:prstGeom>
          <a:ln w="19050">
            <a:solidFill>
              <a:srgbClr val="142E42"/>
            </a:solidFill>
            <a:round/>
          </a:ln>
        </p:spPr>
      </p:cxnSp>
      <p:cxnSp>
        <p:nvCxnSpPr>
          <p:cNvPr id="18" name="source-diagram-dg4-5144">
            <a:extLst>
              <a:ext uri="{FF2B5EF4-FFF2-40B4-BE49-F238E27FC236}">
                <a16:creationId xmlns:a16="http://schemas.microsoft.com/office/drawing/2014/main" id="{660E1C9F-2990-4B30-8AAC-F116374F4AC8}"/>
              </a:ext>
            </a:extLst>
          </p:cNvPr>
          <p:cNvCxnSpPr/>
          <p:nvPr/>
        </p:nvCxnSpPr>
        <p:spPr>
          <a:xfrm flipH="1">
            <a:off x="6958859" y="3260741"/>
            <a:ext cx="475186" cy="609068"/>
          </a:xfrm>
          <a:prstGeom prst="straightConnector1">
            <a:avLst/>
          </a:prstGeom>
          <a:ln w="19050">
            <a:solidFill>
              <a:srgbClr val="142E42"/>
            </a:solidFill>
            <a:round/>
          </a:ln>
        </p:spPr>
      </p:cxnSp>
      <p:sp>
        <p:nvSpPr>
          <p:cNvPr id="19" name="source-diagram-dg4-5145">
            <a:extLst>
              <a:ext uri="{FF2B5EF4-FFF2-40B4-BE49-F238E27FC236}">
                <a16:creationId xmlns:a16="http://schemas.microsoft.com/office/drawing/2014/main" id="{90573B51-A299-46F3-94E9-EE3E2F149FFD}"/>
              </a:ext>
            </a:extLst>
          </p:cNvPr>
          <p:cNvSpPr>
            <a:spLocks noGrp="1"/>
          </p:cNvSpPr>
          <p:nvPr/>
        </p:nvSpPr>
        <p:spPr>
          <a:xfrm>
            <a:off x="7053142" y="4978577"/>
            <a:ext cx="343190"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027" b="0">
                <a:solidFill>
                  <a:srgbClr val="142E42"/>
                </a:solidFill>
                <a:latin typeface="Arial"/>
                <a:ea typeface="Arial"/>
                <a:cs typeface="Arial"/>
              </a:rPr>
              <a:t>I</a:t>
            </a:r>
          </a:p>
        </p:txBody>
      </p:sp>
      <p:sp>
        <p:nvSpPr>
          <p:cNvPr id="20" name="source-diagram-dg4-5146">
            <a:extLst>
              <a:ext uri="{FF2B5EF4-FFF2-40B4-BE49-F238E27FC236}">
                <a16:creationId xmlns:a16="http://schemas.microsoft.com/office/drawing/2014/main" id="{335E9F11-121C-40DB-ADE7-6B660F3F7A64}"/>
              </a:ext>
            </a:extLst>
          </p:cNvPr>
          <p:cNvSpPr>
            <a:spLocks noGrp="1"/>
          </p:cNvSpPr>
          <p:nvPr/>
        </p:nvSpPr>
        <p:spPr>
          <a:xfrm>
            <a:off x="7743293" y="4978577"/>
            <a:ext cx="352618" cy="448787"/>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055" b="0">
                <a:solidFill>
                  <a:srgbClr val="142E42"/>
                </a:solidFill>
                <a:latin typeface="Arial"/>
                <a:ea typeface="Arial"/>
                <a:cs typeface="Arial"/>
              </a:rPr>
              <a:t>J</a:t>
            </a:r>
          </a:p>
        </p:txBody>
      </p:sp>
      <p:cxnSp>
        <p:nvCxnSpPr>
          <p:cNvPr id="21" name="source-diagram-dg4-5147">
            <a:extLst>
              <a:ext uri="{FF2B5EF4-FFF2-40B4-BE49-F238E27FC236}">
                <a16:creationId xmlns:a16="http://schemas.microsoft.com/office/drawing/2014/main" id="{2B370609-B5D7-4183-AA03-371C412788F8}"/>
              </a:ext>
            </a:extLst>
          </p:cNvPr>
          <p:cNvCxnSpPr/>
          <p:nvPr/>
        </p:nvCxnSpPr>
        <p:spPr>
          <a:xfrm>
            <a:off x="7905460" y="4346881"/>
            <a:ext cx="15085" cy="620382"/>
          </a:xfrm>
          <a:prstGeom prst="straightConnector1">
            <a:avLst/>
          </a:prstGeom>
          <a:ln w="19050">
            <a:solidFill>
              <a:srgbClr val="142E42"/>
            </a:solidFill>
            <a:round/>
          </a:ln>
        </p:spPr>
      </p:cxnSp>
      <p:cxnSp>
        <p:nvCxnSpPr>
          <p:cNvPr id="22" name="source-diagram-dg4-5148">
            <a:extLst>
              <a:ext uri="{FF2B5EF4-FFF2-40B4-BE49-F238E27FC236}">
                <a16:creationId xmlns:a16="http://schemas.microsoft.com/office/drawing/2014/main" id="{8580FF5A-5B18-4B38-9BDC-FEBE2364BD6B}"/>
              </a:ext>
            </a:extLst>
          </p:cNvPr>
          <p:cNvCxnSpPr/>
          <p:nvPr/>
        </p:nvCxnSpPr>
        <p:spPr>
          <a:xfrm flipH="1">
            <a:off x="7224736" y="4346881"/>
            <a:ext cx="680723" cy="620382"/>
          </a:xfrm>
          <a:prstGeom prst="straightConnector1">
            <a:avLst/>
          </a:prstGeom>
          <a:ln w="19050">
            <a:solidFill>
              <a:srgbClr val="142E42"/>
            </a:solidFill>
            <a:round/>
          </a:ln>
        </p:spPr>
      </p:cxnSp>
      <p:sp>
        <p:nvSpPr>
          <p:cNvPr id="23" name="source-diagram-dg4-5149">
            <a:extLst>
              <a:ext uri="{FF2B5EF4-FFF2-40B4-BE49-F238E27FC236}">
                <a16:creationId xmlns:a16="http://schemas.microsoft.com/office/drawing/2014/main" id="{7ED9EA6E-91EB-4E72-A704-09C4A9479C90}"/>
              </a:ext>
            </a:extLst>
          </p:cNvPr>
          <p:cNvSpPr>
            <a:spLocks noGrp="1"/>
          </p:cNvSpPr>
          <p:nvPr/>
        </p:nvSpPr>
        <p:spPr>
          <a:xfrm>
            <a:off x="8442872" y="4976692"/>
            <a:ext cx="401645" cy="452558"/>
          </a:xfrm>
          <a:prstGeom prst="roundRect">
            <a:avLst>
              <a:gd name="adj" fmla="val 16667"/>
            </a:avLst>
          </a:prstGeom>
          <a:solidFill>
            <a:srgbClr val="E5EEF2"/>
          </a:solidFill>
          <a:ln w="19050">
            <a:solidFill>
              <a:srgbClr val="142E42"/>
            </a:solidFill>
            <a:round/>
          </a:ln>
        </p:spPr>
        <p:txBody>
          <a:bodyPr wrap="square" lIns="0" tIns="0" rIns="0" bIns="0" anchor="ctr"/>
          <a:lstStyle/>
          <a:p>
            <a:pPr marL="0" indent="0" algn="ctr">
              <a:buNone/>
            </a:pPr>
            <a:r>
              <a:rPr sz="1202" b="0">
                <a:solidFill>
                  <a:srgbClr val="142E42"/>
                </a:solidFill>
                <a:latin typeface="Arial"/>
                <a:ea typeface="Arial"/>
                <a:cs typeface="Arial"/>
              </a:rPr>
              <a:t>K</a:t>
            </a:r>
          </a:p>
        </p:txBody>
      </p:sp>
      <p:cxnSp>
        <p:nvCxnSpPr>
          <p:cNvPr id="24" name="source-diagram-dg4-5150">
            <a:extLst>
              <a:ext uri="{FF2B5EF4-FFF2-40B4-BE49-F238E27FC236}">
                <a16:creationId xmlns:a16="http://schemas.microsoft.com/office/drawing/2014/main" id="{3E5019BA-83FF-4DFA-9CED-00F25A539EC6}"/>
              </a:ext>
            </a:extLst>
          </p:cNvPr>
          <p:cNvCxnSpPr/>
          <p:nvPr/>
        </p:nvCxnSpPr>
        <p:spPr>
          <a:xfrm>
            <a:off x="7905460" y="4346881"/>
            <a:ext cx="739179" cy="618496"/>
          </a:xfrm>
          <a:prstGeom prst="straightConnector1">
            <a:avLst/>
          </a:prstGeom>
          <a:ln w="19050">
            <a:solidFill>
              <a:srgbClr val="142E42"/>
            </a:solidFill>
            <a:round/>
          </a:ln>
        </p:spPr>
      </p:cxnSp>
      <p:sp>
        <p:nvSpPr>
          <p:cNvPr id="26" name="page">
            <a:extLst>
              <a:ext uri="{FF2B5EF4-FFF2-40B4-BE49-F238E27FC236}">
                <a16:creationId xmlns:a16="http://schemas.microsoft.com/office/drawing/2014/main" id="{5F637915-9885-40E1-9DA9-DC5A637D9AC3}"/>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06</a:t>
            </a:r>
          </a:p>
        </p:txBody>
      </p:sp>
    </p:spTree>
    <p:extLst>
      <p:ext uri="{BB962C8B-B14F-4D97-AF65-F5344CB8AC3E}">
        <p14:creationId xmlns:p14="http://schemas.microsoft.com/office/powerpoint/2010/main" val="6154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2DEF797-9AF1-4B6A-A652-CCB4A3A9812D}"/>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Binary trees and binary search trees</a:t>
            </a:r>
          </a:p>
        </p:txBody>
      </p:sp>
      <p:sp>
        <p:nvSpPr>
          <p:cNvPr id="3" name="text-2">
            <a:extLst>
              <a:ext uri="{FF2B5EF4-FFF2-40B4-BE49-F238E27FC236}">
                <a16:creationId xmlns:a16="http://schemas.microsoft.com/office/drawing/2014/main" id="{44AE4827-9CA0-4ED4-B5B5-E8987A6B0CF9}"/>
              </a:ext>
            </a:extLst>
          </p:cNvPr>
          <p:cNvSpPr>
            <a:spLocks noGrp="1"/>
          </p:cNvSpPr>
          <p:nvPr/>
        </p:nvSpPr>
        <p:spPr>
          <a:xfrm>
            <a:off x="609600" y="1552575"/>
            <a:ext cx="10858500" cy="42862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buNone/>
              <a:defRPr sz="2250" b="0">
                <a:solidFill>
                  <a:srgbClr val="142E42"/>
                </a:solidFill>
                <a:latin typeface="Arial"/>
                <a:ea typeface="Arial"/>
                <a:cs typeface="Arial"/>
              </a:defRPr>
            </a:lvl1pPr>
            <a:lvl2pPr algn="l">
              <a:buNone/>
              <a:defRPr sz="2250" b="0">
                <a:solidFill>
                  <a:srgbClr val="142E42"/>
                </a:solidFill>
                <a:latin typeface="Arial"/>
                <a:ea typeface="Arial"/>
                <a:cs typeface="Arial"/>
              </a:defRPr>
            </a:lvl2pPr>
            <a:lvl3pPr algn="l">
              <a:buNone/>
              <a:defRPr sz="2250" b="0">
                <a:solidFill>
                  <a:srgbClr val="142E42"/>
                </a:solidFill>
                <a:latin typeface="Arial"/>
                <a:ea typeface="Arial"/>
                <a:cs typeface="Arial"/>
              </a:defRPr>
            </a:lvl3pPr>
            <a:lvl4pPr algn="l">
              <a:buNone/>
              <a:defRPr sz="2250" b="0">
                <a:solidFill>
                  <a:srgbClr val="142E42"/>
                </a:solidFill>
                <a:latin typeface="Arial"/>
                <a:ea typeface="Arial"/>
                <a:cs typeface="Arial"/>
              </a:defRPr>
            </a:lvl4pPr>
            <a:lvl5pPr algn="l">
              <a:buNone/>
              <a:defRPr sz="2250" b="0">
                <a:solidFill>
                  <a:srgbClr val="142E42"/>
                </a:solidFill>
                <a:latin typeface="Arial"/>
                <a:ea typeface="Arial"/>
                <a:cs typeface="Arial"/>
              </a:defRPr>
            </a:lvl5pPr>
            <a:lvl6pPr algn="l">
              <a:buNone/>
              <a:defRPr sz="2250" b="0">
                <a:solidFill>
                  <a:srgbClr val="142E42"/>
                </a:solidFill>
                <a:latin typeface="Arial"/>
                <a:ea typeface="Arial"/>
                <a:cs typeface="Arial"/>
              </a:defRPr>
            </a:lvl6pPr>
            <a:lvl7pPr algn="l">
              <a:buNone/>
              <a:defRPr sz="2250" b="0">
                <a:solidFill>
                  <a:srgbClr val="142E42"/>
                </a:solidFill>
                <a:latin typeface="Arial"/>
                <a:ea typeface="Arial"/>
                <a:cs typeface="Arial"/>
              </a:defRPr>
            </a:lvl7pPr>
            <a:lvl8pPr algn="l">
              <a:buNone/>
              <a:defRPr sz="2250" b="0">
                <a:solidFill>
                  <a:srgbClr val="142E42"/>
                </a:solidFill>
                <a:latin typeface="Arial"/>
                <a:ea typeface="Arial"/>
                <a:cs typeface="Arial"/>
              </a:defRPr>
            </a:lvl8pPr>
            <a:lvl9pPr algn="l">
              <a:buNone/>
              <a:defRPr sz="2250" b="0">
                <a:solidFill>
                  <a:srgbClr val="142E42"/>
                </a:solidFill>
                <a:latin typeface="Arial"/>
                <a:ea typeface="Arial"/>
                <a:cs typeface="Arial"/>
              </a:defRPr>
            </a:lvl9pPr>
          </a:lstStyle>
          <a:p>
            <a:pPr algn="l">
              <a:buNone/>
              <a:defRPr sz="2250" b="0">
                <a:solidFill>
                  <a:srgbClr val="142E42"/>
                </a:solidFill>
                <a:latin typeface="Arial"/>
                <a:ea typeface="Arial"/>
                <a:cs typeface="Arial"/>
              </a:defRPr>
            </a:pPr>
            <a:r>
              <a:rPr sz="2250" b="0">
                <a:solidFill>
                  <a:srgbClr val="142E42"/>
                </a:solidFill>
                <a:latin typeface="Arial"/>
                <a:ea typeface="Arial"/>
                <a:cs typeface="Arial"/>
              </a:rPr>
              <a:t>A binary tree gives each node at most two children,</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identified as left and right. Either child may be absent.</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A binary search tree adds an ordering rule:</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every key in the left subtree is smaller, and every key</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in the right subtree is larger.</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Both subtrees obey the same rule.</a:t>
            </a:r>
          </a:p>
        </p:txBody>
      </p:sp>
      <p:sp>
        <p:nvSpPr>
          <p:cNvPr id="4" name="text-3">
            <a:extLst>
              <a:ext uri="{FF2B5EF4-FFF2-40B4-BE49-F238E27FC236}">
                <a16:creationId xmlns:a16="http://schemas.microsoft.com/office/drawing/2014/main" id="{876C3210-996F-401C-9275-C84E7E45ECF3}"/>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This lesson uses unique keys and rejects duplicates.</a:t>
            </a:r>
          </a:p>
        </p:txBody>
      </p:sp>
      <p:sp>
        <p:nvSpPr>
          <p:cNvPr id="6" name="page">
            <a:extLst>
              <a:ext uri="{FF2B5EF4-FFF2-40B4-BE49-F238E27FC236}">
                <a16:creationId xmlns:a16="http://schemas.microsoft.com/office/drawing/2014/main" id="{DFA53231-790F-4688-A5F8-A30A8EA72D76}"/>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07</a:t>
            </a:r>
          </a:p>
        </p:txBody>
      </p:sp>
    </p:spTree>
    <p:extLst>
      <p:ext uri="{BB962C8B-B14F-4D97-AF65-F5344CB8AC3E}">
        <p14:creationId xmlns:p14="http://schemas.microsoft.com/office/powerpoint/2010/main" val="2133418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F5D6AD35-6321-457E-84D5-5DD91E2E9C2B}"/>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Depth, level, and height</a:t>
            </a:r>
          </a:p>
        </p:txBody>
      </p:sp>
      <p:sp>
        <p:nvSpPr>
          <p:cNvPr id="3" name="text-2">
            <a:extLst>
              <a:ext uri="{FF2B5EF4-FFF2-40B4-BE49-F238E27FC236}">
                <a16:creationId xmlns:a16="http://schemas.microsoft.com/office/drawing/2014/main" id="{1C74EBF3-F4BD-402E-93EA-73962ADA36B0}"/>
              </a:ext>
            </a:extLst>
          </p:cNvPr>
          <p:cNvSpPr>
            <a:spLocks noGrp="1"/>
          </p:cNvSpPr>
          <p:nvPr/>
        </p:nvSpPr>
        <p:spPr>
          <a:xfrm>
            <a:off x="609600" y="1571625"/>
            <a:ext cx="6191250" cy="41910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Depth counts edges from the root.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Root 30 has depth 0.</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Node 40 has depth 3.</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Height is the maximum depth.</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This tree has height 3 and 4 levels.</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Empty tree: height −1.</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Single node: height 0.</a:t>
            </a:r>
          </a:p>
        </p:txBody>
      </p:sp>
      <p:sp>
        <p:nvSpPr>
          <p:cNvPr id="4" name="source-diagram-dg6-9">
            <a:extLst>
              <a:ext uri="{FF2B5EF4-FFF2-40B4-BE49-F238E27FC236}">
                <a16:creationId xmlns:a16="http://schemas.microsoft.com/office/drawing/2014/main" id="{FF11148E-2A86-4B01-9BAE-A6B96EF3CB5D}"/>
              </a:ext>
            </a:extLst>
          </p:cNvPr>
          <p:cNvSpPr>
            <a:spLocks noGrp="1"/>
          </p:cNvSpPr>
          <p:nvPr/>
        </p:nvSpPr>
        <p:spPr>
          <a:xfrm>
            <a:off x="8803972" y="166687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6-10">
            <a:extLst>
              <a:ext uri="{FF2B5EF4-FFF2-40B4-BE49-F238E27FC236}">
                <a16:creationId xmlns:a16="http://schemas.microsoft.com/office/drawing/2014/main" id="{43CF427E-AE8C-4D22-AEE5-A7089D9B1E4F}"/>
              </a:ext>
            </a:extLst>
          </p:cNvPr>
          <p:cNvSpPr>
            <a:spLocks noGrp="1"/>
          </p:cNvSpPr>
          <p:nvPr/>
        </p:nvSpPr>
        <p:spPr>
          <a:xfrm>
            <a:off x="8141544" y="257661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6-11">
            <a:extLst>
              <a:ext uri="{FF2B5EF4-FFF2-40B4-BE49-F238E27FC236}">
                <a16:creationId xmlns:a16="http://schemas.microsoft.com/office/drawing/2014/main" id="{E6911813-4A65-40DF-854E-C0316D3C5702}"/>
              </a:ext>
            </a:extLst>
          </p:cNvPr>
          <p:cNvSpPr>
            <a:spLocks noGrp="1"/>
          </p:cNvSpPr>
          <p:nvPr/>
        </p:nvSpPr>
        <p:spPr>
          <a:xfrm>
            <a:off x="9679849" y="257661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6-12">
            <a:extLst>
              <a:ext uri="{FF2B5EF4-FFF2-40B4-BE49-F238E27FC236}">
                <a16:creationId xmlns:a16="http://schemas.microsoft.com/office/drawing/2014/main" id="{99F89124-3696-43AE-9BA4-9B6B3DF5156E}"/>
              </a:ext>
            </a:extLst>
          </p:cNvPr>
          <p:cNvSpPr>
            <a:spLocks noGrp="1"/>
          </p:cNvSpPr>
          <p:nvPr/>
        </p:nvSpPr>
        <p:spPr>
          <a:xfrm>
            <a:off x="7524750" y="356215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6-13">
            <a:extLst>
              <a:ext uri="{FF2B5EF4-FFF2-40B4-BE49-F238E27FC236}">
                <a16:creationId xmlns:a16="http://schemas.microsoft.com/office/drawing/2014/main" id="{EEC602B6-0593-4160-A5F9-217F794B49CA}"/>
              </a:ext>
            </a:extLst>
          </p:cNvPr>
          <p:cNvSpPr>
            <a:spLocks noGrp="1"/>
          </p:cNvSpPr>
          <p:nvPr/>
        </p:nvSpPr>
        <p:spPr>
          <a:xfrm>
            <a:off x="9031406" y="356215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6-14">
            <a:extLst>
              <a:ext uri="{FF2B5EF4-FFF2-40B4-BE49-F238E27FC236}">
                <a16:creationId xmlns:a16="http://schemas.microsoft.com/office/drawing/2014/main" id="{4BEFCF26-F58E-4FF3-9A73-066EB3D12F26}"/>
              </a:ext>
            </a:extLst>
          </p:cNvPr>
          <p:cNvSpPr>
            <a:spLocks noGrp="1"/>
          </p:cNvSpPr>
          <p:nvPr/>
        </p:nvSpPr>
        <p:spPr>
          <a:xfrm>
            <a:off x="10437961" y="3532148"/>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6-15">
            <a:extLst>
              <a:ext uri="{FF2B5EF4-FFF2-40B4-BE49-F238E27FC236}">
                <a16:creationId xmlns:a16="http://schemas.microsoft.com/office/drawing/2014/main" id="{968A41B9-F715-42B4-B977-DE1DB392135B}"/>
              </a:ext>
            </a:extLst>
          </p:cNvPr>
          <p:cNvSpPr>
            <a:spLocks noGrp="1"/>
          </p:cNvSpPr>
          <p:nvPr/>
        </p:nvSpPr>
        <p:spPr>
          <a:xfrm>
            <a:off x="8465765" y="4699324"/>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6-16">
            <a:extLst>
              <a:ext uri="{FF2B5EF4-FFF2-40B4-BE49-F238E27FC236}">
                <a16:creationId xmlns:a16="http://schemas.microsoft.com/office/drawing/2014/main" id="{39DC8F62-68EE-41F3-9D31-54F8D26E03B4}"/>
              </a:ext>
            </a:extLst>
          </p:cNvPr>
          <p:cNvSpPr>
            <a:spLocks noGrp="1"/>
          </p:cNvSpPr>
          <p:nvPr/>
        </p:nvSpPr>
        <p:spPr>
          <a:xfrm>
            <a:off x="9679849" y="4688567"/>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6-18">
            <a:extLst>
              <a:ext uri="{FF2B5EF4-FFF2-40B4-BE49-F238E27FC236}">
                <a16:creationId xmlns:a16="http://schemas.microsoft.com/office/drawing/2014/main" id="{6B63FADE-7D3E-43FD-8DF5-2DCD577DF2E5}"/>
              </a:ext>
            </a:extLst>
          </p:cNvPr>
          <p:cNvSpPr>
            <a:spLocks noGrp="1"/>
          </p:cNvSpPr>
          <p:nvPr/>
        </p:nvSpPr>
        <p:spPr>
          <a:xfrm flipH="1">
            <a:off x="8542681" y="2249255"/>
            <a:ext cx="356253" cy="36526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6-20">
            <a:extLst>
              <a:ext uri="{FF2B5EF4-FFF2-40B4-BE49-F238E27FC236}">
                <a16:creationId xmlns:a16="http://schemas.microsoft.com/office/drawing/2014/main" id="{21EEF36D-A451-463B-89F5-3F5509C335FD}"/>
              </a:ext>
            </a:extLst>
          </p:cNvPr>
          <p:cNvSpPr>
            <a:spLocks noGrp="1"/>
          </p:cNvSpPr>
          <p:nvPr/>
        </p:nvSpPr>
        <p:spPr>
          <a:xfrm>
            <a:off x="9357454" y="2249255"/>
            <a:ext cx="417358" cy="42727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6-22">
            <a:extLst>
              <a:ext uri="{FF2B5EF4-FFF2-40B4-BE49-F238E27FC236}">
                <a16:creationId xmlns:a16="http://schemas.microsoft.com/office/drawing/2014/main" id="{67262CE6-1316-4445-969E-2735D0ACBE3F}"/>
              </a:ext>
            </a:extLst>
          </p:cNvPr>
          <p:cNvSpPr>
            <a:spLocks noGrp="1"/>
          </p:cNvSpPr>
          <p:nvPr/>
        </p:nvSpPr>
        <p:spPr>
          <a:xfrm flipH="1">
            <a:off x="7848972" y="3158990"/>
            <a:ext cx="387534"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6-24">
            <a:extLst>
              <a:ext uri="{FF2B5EF4-FFF2-40B4-BE49-F238E27FC236}">
                <a16:creationId xmlns:a16="http://schemas.microsoft.com/office/drawing/2014/main" id="{DBF1D2AE-7CD6-4B9C-BFFF-68BBE942C0ED}"/>
              </a:ext>
            </a:extLst>
          </p:cNvPr>
          <p:cNvSpPr>
            <a:spLocks noGrp="1"/>
          </p:cNvSpPr>
          <p:nvPr/>
        </p:nvSpPr>
        <p:spPr>
          <a:xfrm flipH="1">
            <a:off x="9355628" y="3158990"/>
            <a:ext cx="419183"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6-26">
            <a:extLst>
              <a:ext uri="{FF2B5EF4-FFF2-40B4-BE49-F238E27FC236}">
                <a16:creationId xmlns:a16="http://schemas.microsoft.com/office/drawing/2014/main" id="{4958D6BA-EC86-4526-ADB5-E183E2084064}"/>
              </a:ext>
            </a:extLst>
          </p:cNvPr>
          <p:cNvSpPr>
            <a:spLocks noGrp="1"/>
          </p:cNvSpPr>
          <p:nvPr/>
        </p:nvSpPr>
        <p:spPr>
          <a:xfrm>
            <a:off x="10233331" y="3158990"/>
            <a:ext cx="528852" cy="37315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6-28">
            <a:extLst>
              <a:ext uri="{FF2B5EF4-FFF2-40B4-BE49-F238E27FC236}">
                <a16:creationId xmlns:a16="http://schemas.microsoft.com/office/drawing/2014/main" id="{8EF4E62E-955B-4736-B857-9A3DB5F455A6}"/>
              </a:ext>
            </a:extLst>
          </p:cNvPr>
          <p:cNvSpPr>
            <a:spLocks noGrp="1"/>
          </p:cNvSpPr>
          <p:nvPr/>
        </p:nvSpPr>
        <p:spPr>
          <a:xfrm flipH="1">
            <a:off x="8789988" y="4144537"/>
            <a:ext cx="336380" cy="55478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6-30">
            <a:extLst>
              <a:ext uri="{FF2B5EF4-FFF2-40B4-BE49-F238E27FC236}">
                <a16:creationId xmlns:a16="http://schemas.microsoft.com/office/drawing/2014/main" id="{FCBC95FD-762B-4169-81C9-2628893758EA}"/>
              </a:ext>
            </a:extLst>
          </p:cNvPr>
          <p:cNvSpPr>
            <a:spLocks noGrp="1"/>
          </p:cNvSpPr>
          <p:nvPr/>
        </p:nvSpPr>
        <p:spPr>
          <a:xfrm>
            <a:off x="9584887" y="4144537"/>
            <a:ext cx="419184" cy="5440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20" name="local-java-TraversalDemo">
            <a:extLst>
              <a:ext uri="{FF2B5EF4-FFF2-40B4-BE49-F238E27FC236}">
                <a16:creationId xmlns:a16="http://schemas.microsoft.com/office/drawing/2014/main" id="{9A717EBC-4F19-4040-ABF4-34CAC2936947}"/>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TraversalDemo.java</a:t>
            </a:r>
          </a:p>
        </p:txBody>
      </p:sp>
      <p:sp>
        <p:nvSpPr>
          <p:cNvPr id="21" name="local-java-HeightDemo">
            <a:extLst>
              <a:ext uri="{FF2B5EF4-FFF2-40B4-BE49-F238E27FC236}">
                <a16:creationId xmlns:a16="http://schemas.microsoft.com/office/drawing/2014/main" id="{C0F98FA2-1C5E-4471-AFC8-10287DE677F3}"/>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HeightDemo.java</a:t>
            </a:r>
          </a:p>
        </p:txBody>
      </p:sp>
      <p:sp>
        <p:nvSpPr>
          <p:cNvPr id="22" name="page">
            <a:extLst>
              <a:ext uri="{FF2B5EF4-FFF2-40B4-BE49-F238E27FC236}">
                <a16:creationId xmlns:a16="http://schemas.microsoft.com/office/drawing/2014/main" id="{A6929192-62FB-447F-BAC7-CCCE11BCD98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08</a:t>
            </a:r>
          </a:p>
        </p:txBody>
      </p:sp>
    </p:spTree>
    <p:extLst>
      <p:ext uri="{BB962C8B-B14F-4D97-AF65-F5344CB8AC3E}">
        <p14:creationId xmlns:p14="http://schemas.microsoft.com/office/powerpoint/2010/main" val="928817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CE6BFF48-7B30-4F81-A95F-7F3DF209803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Full, perfect, complete, and balanced</a:t>
            </a:r>
          </a:p>
        </p:txBody>
      </p:sp>
      <p:graphicFrame>
        <p:nvGraphicFramePr>
          <p:cNvPr id="3" name="Table 2">
            <a:extLst>
              <a:ext uri="{FF2B5EF4-FFF2-40B4-BE49-F238E27FC236}">
                <a16:creationId xmlns:a16="http://schemas.microsoft.com/office/drawing/2014/main" id="{27569DF2-E537-44A1-82B6-C460ACB0B5FD}"/>
              </a:ext>
            </a:extLst>
          </p:cNvPr>
          <p:cNvGraphicFramePr/>
          <p:nvPr/>
        </p:nvGraphicFramePr>
        <p:xfrm>
          <a:off x="609600" y="1524000"/>
          <a:ext cx="10972800" cy="3924300"/>
        </p:xfrm>
        <a:graphic>
          <a:graphicData uri="http://schemas.openxmlformats.org/drawingml/2006/table">
            <a:tbl>
              <a:tblPr/>
              <a:tblGrid>
                <a:gridCol w="28575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784860">
                <a:tc>
                  <a:txBody>
                    <a:bodyPr/>
                    <a:lstStyle/>
                    <a:p>
                      <a:r>
                        <a:rPr sz="1800" b="1">
                          <a:solidFill>
                            <a:srgbClr val="FFFFFF"/>
                          </a:solidFill>
                          <a:latin typeface="Arial"/>
                          <a:ea typeface="Arial"/>
                          <a:cs typeface="Arial"/>
                        </a:rPr>
                        <a:t>Term</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00" b="1">
                          <a:solidFill>
                            <a:srgbClr val="FFFFFF"/>
                          </a:solidFill>
                          <a:latin typeface="Arial"/>
                          <a:ea typeface="Arial"/>
                          <a:cs typeface="Arial"/>
                        </a:rPr>
                        <a:t>Definition used in this lesson</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784860">
                <a:tc>
                  <a:txBody>
                    <a:bodyPr/>
                    <a:lstStyle/>
                    <a:p>
                      <a:r>
                        <a:rPr sz="1800" b="0">
                          <a:solidFill>
                            <a:srgbClr val="142E42"/>
                          </a:solidFill>
                          <a:latin typeface="Arial"/>
                          <a:ea typeface="Arial"/>
                          <a:cs typeface="Arial"/>
                        </a:rPr>
                        <a:t>Full (proper)</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00" b="0">
                          <a:solidFill>
                            <a:srgbClr val="142E42"/>
                          </a:solidFill>
                          <a:latin typeface="Arial"/>
                          <a:ea typeface="Arial"/>
                          <a:cs typeface="Arial"/>
                        </a:rPr>
                        <a:t>Every node has 0 or 2 children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1"/>
                  </a:ext>
                </a:extLst>
              </a:tr>
              <a:tr h="784860">
                <a:tc>
                  <a:txBody>
                    <a:bodyPr/>
                    <a:lstStyle/>
                    <a:p>
                      <a:r>
                        <a:rPr sz="1800" b="0">
                          <a:solidFill>
                            <a:srgbClr val="142E42"/>
                          </a:solidFill>
                          <a:latin typeface="Arial"/>
                          <a:ea typeface="Arial"/>
                          <a:cs typeface="Arial"/>
                        </a:rPr>
                        <a:t>Perfect</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1800" b="0">
                          <a:solidFill>
                            <a:srgbClr val="142E42"/>
                          </a:solidFill>
                          <a:latin typeface="Arial"/>
                          <a:ea typeface="Arial"/>
                          <a:cs typeface="Arial"/>
                        </a:rPr>
                        <a:t>Full, with all leaves at the same depth</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extLst>
                  <a:ext uri="{0D108BD9-81ED-4DB2-BD59-A6C34878D82A}">
                    <a16:rowId xmlns:a16="http://schemas.microsoft.com/office/drawing/2014/main" val="10002"/>
                  </a:ext>
                </a:extLst>
              </a:tr>
              <a:tr h="784860">
                <a:tc>
                  <a:txBody>
                    <a:bodyPr/>
                    <a:lstStyle/>
                    <a:p>
                      <a:r>
                        <a:rPr sz="1800" b="0">
                          <a:solidFill>
                            <a:srgbClr val="142E42"/>
                          </a:solidFill>
                          <a:latin typeface="Arial"/>
                          <a:ea typeface="Arial"/>
                          <a:cs typeface="Arial"/>
                        </a:rPr>
                        <a:t>Complete</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00" b="0">
                          <a:solidFill>
                            <a:srgbClr val="142E42"/>
                          </a:solidFill>
                          <a:latin typeface="Arial"/>
                          <a:ea typeface="Arial"/>
                          <a:cs typeface="Arial"/>
                        </a:rPr>
                        <a:t>Every level fills, except possibly the last,</a:t>
                      </a:r>
                    </a:p>
                    <a:p>
                      <a:r>
                        <a:rPr sz="1800" b="0">
                          <a:solidFill>
                            <a:srgbClr val="142E42"/>
                          </a:solidFill>
                          <a:latin typeface="Arial"/>
                          <a:ea typeface="Arial"/>
                          <a:cs typeface="Arial"/>
                        </a:rPr>
                        <a:t>which fills from left to right</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3"/>
                  </a:ext>
                </a:extLst>
              </a:tr>
              <a:tr h="784860">
                <a:tc>
                  <a:txBody>
                    <a:bodyPr/>
                    <a:lstStyle/>
                    <a:p>
                      <a:r>
                        <a:rPr sz="1800" b="0">
                          <a:solidFill>
                            <a:srgbClr val="142E42"/>
                          </a:solidFill>
                          <a:latin typeface="Arial"/>
                          <a:ea typeface="Arial"/>
                          <a:cs typeface="Arial"/>
                        </a:rPr>
                        <a:t>Height-balanced</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1800" b="0">
                          <a:solidFill>
                            <a:srgbClr val="142E42"/>
                          </a:solidFill>
                          <a:latin typeface="Arial"/>
                          <a:ea typeface="Arial"/>
                          <a:cs typeface="Arial"/>
                        </a:rPr>
                        <a:t>At every node, subtree heights differ by at most 1</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21A8C81A-FE49-4A70-ABA7-B49832817FD3}"/>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Every perfect tree is complete. Every complete tree is height-balanced.</a:t>
            </a:r>
          </a:p>
        </p:txBody>
      </p:sp>
      <p:sp>
        <p:nvSpPr>
          <p:cNvPr id="6" name="page">
            <a:extLst>
              <a:ext uri="{FF2B5EF4-FFF2-40B4-BE49-F238E27FC236}">
                <a16:creationId xmlns:a16="http://schemas.microsoft.com/office/drawing/2014/main" id="{E13430EE-873F-4584-B15E-624CA278A5BC}"/>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09</a:t>
            </a:r>
          </a:p>
        </p:txBody>
      </p:sp>
    </p:spTree>
    <p:extLst>
      <p:ext uri="{BB962C8B-B14F-4D97-AF65-F5344CB8AC3E}">
        <p14:creationId xmlns:p14="http://schemas.microsoft.com/office/powerpoint/2010/main" val="316345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A2644A84-5059-4213-A87F-9ABF2CBCB4CC}"/>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classifying tree shapes</a:t>
            </a:r>
          </a:p>
        </p:txBody>
      </p:sp>
      <p:sp>
        <p:nvSpPr>
          <p:cNvPr id="2" name="questions">
            <a:extLst>
              <a:ext uri="{FF2B5EF4-FFF2-40B4-BE49-F238E27FC236}">
                <a16:creationId xmlns:a16="http://schemas.microsoft.com/office/drawing/2014/main" id="{680C12A1-2F14-4DF3-B2B2-4792653686CD}"/>
              </a:ext>
            </a:extLst>
          </p:cNvPr>
          <p:cNvSpPr>
            <a:spLocks noGrp="1"/>
          </p:cNvSpPr>
          <p:nvPr/>
        </p:nvSpPr>
        <p:spPr>
          <a:xfrm>
            <a:off x="609600" y="1485900"/>
            <a:ext cx="10972800" cy="1190625"/>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For A, B, and C, mark each property that holds:</a:t>
            </a:r>
          </a:p>
          <a:p>
            <a:pPr>
              <a:defRPr sz="2100" b="0">
                <a:solidFill>
                  <a:srgbClr val="153143"/>
                </a:solidFill>
                <a:latin typeface="Arial"/>
                <a:ea typeface="Arial"/>
                <a:cs typeface="Arial"/>
              </a:defRPr>
            </a:pPr>
            <a:r>
              <a:rPr sz="2100" b="0">
                <a:solidFill>
                  <a:srgbClr val="153143"/>
                </a:solidFill>
                <a:latin typeface="Arial"/>
                <a:ea typeface="Arial"/>
                <a:cs typeface="Arial"/>
              </a:rPr>
              <a:t>full, perfect, complete, height-balanced.</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Use the definitions from the preceding table.</a:t>
            </a:r>
          </a:p>
        </p:txBody>
      </p:sp>
      <p:sp>
        <p:nvSpPr>
          <p:cNvPr id="3" name="edge-0-1">
            <a:extLst>
              <a:ext uri="{FF2B5EF4-FFF2-40B4-BE49-F238E27FC236}">
                <a16:creationId xmlns:a16="http://schemas.microsoft.com/office/drawing/2014/main" id="{B3324DE8-4C26-4CB0-8DF6-3E0BC84C0414}"/>
              </a:ext>
            </a:extLst>
          </p:cNvPr>
          <p:cNvSpPr>
            <a:spLocks noGrp="1"/>
          </p:cNvSpPr>
          <p:nvPr/>
        </p:nvSpPr>
        <p:spPr>
          <a:xfrm flipH="1">
            <a:off x="1466850" y="3381375"/>
            <a:ext cx="866775" cy="1047750"/>
          </a:xfrm>
          <a:prstGeom prst="line">
            <a:avLst/>
          </a:prstGeom>
          <a:noFill/>
          <a:ln w="16193">
            <a:solidFill>
              <a:srgbClr val="153143"/>
            </a:solidFill>
          </a:ln>
        </p:spPr>
      </p:sp>
      <p:sp>
        <p:nvSpPr>
          <p:cNvPr id="4" name="edge-0-2">
            <a:extLst>
              <a:ext uri="{FF2B5EF4-FFF2-40B4-BE49-F238E27FC236}">
                <a16:creationId xmlns:a16="http://schemas.microsoft.com/office/drawing/2014/main" id="{5416A515-AA47-4F1B-B7A3-DBCC85AE50A0}"/>
              </a:ext>
            </a:extLst>
          </p:cNvPr>
          <p:cNvSpPr>
            <a:spLocks noGrp="1"/>
          </p:cNvSpPr>
          <p:nvPr/>
        </p:nvSpPr>
        <p:spPr>
          <a:xfrm>
            <a:off x="2333625" y="3381375"/>
            <a:ext cx="866775" cy="1047750"/>
          </a:xfrm>
          <a:prstGeom prst="line">
            <a:avLst/>
          </a:prstGeom>
          <a:noFill/>
          <a:ln w="16193">
            <a:solidFill>
              <a:srgbClr val="153143"/>
            </a:solidFill>
          </a:ln>
        </p:spPr>
      </p:sp>
      <p:sp>
        <p:nvSpPr>
          <p:cNvPr id="5" name="node-2">
            <a:extLst>
              <a:ext uri="{FF2B5EF4-FFF2-40B4-BE49-F238E27FC236}">
                <a16:creationId xmlns:a16="http://schemas.microsoft.com/office/drawing/2014/main" id="{26965E84-24CF-458C-B28E-2B6167BFA56C}"/>
              </a:ext>
            </a:extLst>
          </p:cNvPr>
          <p:cNvSpPr>
            <a:spLocks noGrp="1"/>
          </p:cNvSpPr>
          <p:nvPr/>
        </p:nvSpPr>
        <p:spPr>
          <a:xfrm>
            <a:off x="2114550" y="316230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a:t>
            </a:r>
          </a:p>
        </p:txBody>
      </p:sp>
      <p:sp>
        <p:nvSpPr>
          <p:cNvPr id="6" name="node-1">
            <a:extLst>
              <a:ext uri="{FF2B5EF4-FFF2-40B4-BE49-F238E27FC236}">
                <a16:creationId xmlns:a16="http://schemas.microsoft.com/office/drawing/2014/main" id="{49D3F0D6-6C60-44B8-A1BE-572989DCE003}"/>
              </a:ext>
            </a:extLst>
          </p:cNvPr>
          <p:cNvSpPr>
            <a:spLocks noGrp="1"/>
          </p:cNvSpPr>
          <p:nvPr/>
        </p:nvSpPr>
        <p:spPr>
          <a:xfrm>
            <a:off x="1247775" y="4210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a:t>
            </a:r>
          </a:p>
        </p:txBody>
      </p:sp>
      <p:sp>
        <p:nvSpPr>
          <p:cNvPr id="7" name="node-3">
            <a:extLst>
              <a:ext uri="{FF2B5EF4-FFF2-40B4-BE49-F238E27FC236}">
                <a16:creationId xmlns:a16="http://schemas.microsoft.com/office/drawing/2014/main" id="{499B6F61-8CEF-4AA0-BCE9-F61F49E1C6E3}"/>
              </a:ext>
            </a:extLst>
          </p:cNvPr>
          <p:cNvSpPr>
            <a:spLocks noGrp="1"/>
          </p:cNvSpPr>
          <p:nvPr/>
        </p:nvSpPr>
        <p:spPr>
          <a:xfrm>
            <a:off x="2981325" y="4210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a:t>
            </a:r>
          </a:p>
        </p:txBody>
      </p:sp>
      <p:sp>
        <p:nvSpPr>
          <p:cNvPr id="8" name="edge-0-1">
            <a:extLst>
              <a:ext uri="{FF2B5EF4-FFF2-40B4-BE49-F238E27FC236}">
                <a16:creationId xmlns:a16="http://schemas.microsoft.com/office/drawing/2014/main" id="{A31DAB29-D277-49F3-BD4F-87201169A6F5}"/>
              </a:ext>
            </a:extLst>
          </p:cNvPr>
          <p:cNvSpPr>
            <a:spLocks noGrp="1"/>
          </p:cNvSpPr>
          <p:nvPr/>
        </p:nvSpPr>
        <p:spPr>
          <a:xfrm flipH="1">
            <a:off x="5133975" y="3381375"/>
            <a:ext cx="866775" cy="1047750"/>
          </a:xfrm>
          <a:prstGeom prst="line">
            <a:avLst/>
          </a:prstGeom>
          <a:noFill/>
          <a:ln w="16193">
            <a:solidFill>
              <a:srgbClr val="153143"/>
            </a:solidFill>
          </a:ln>
        </p:spPr>
      </p:sp>
      <p:sp>
        <p:nvSpPr>
          <p:cNvPr id="9" name="node-2">
            <a:extLst>
              <a:ext uri="{FF2B5EF4-FFF2-40B4-BE49-F238E27FC236}">
                <a16:creationId xmlns:a16="http://schemas.microsoft.com/office/drawing/2014/main" id="{C3519021-4C72-4BB3-BA1C-C604541DD55D}"/>
              </a:ext>
            </a:extLst>
          </p:cNvPr>
          <p:cNvSpPr>
            <a:spLocks noGrp="1"/>
          </p:cNvSpPr>
          <p:nvPr/>
        </p:nvSpPr>
        <p:spPr>
          <a:xfrm>
            <a:off x="5781675" y="316230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a:t>
            </a:r>
          </a:p>
        </p:txBody>
      </p:sp>
      <p:sp>
        <p:nvSpPr>
          <p:cNvPr id="10" name="node-1">
            <a:extLst>
              <a:ext uri="{FF2B5EF4-FFF2-40B4-BE49-F238E27FC236}">
                <a16:creationId xmlns:a16="http://schemas.microsoft.com/office/drawing/2014/main" id="{04373CA6-5E94-4188-84D5-E9FAD916A677}"/>
              </a:ext>
            </a:extLst>
          </p:cNvPr>
          <p:cNvSpPr>
            <a:spLocks noGrp="1"/>
          </p:cNvSpPr>
          <p:nvPr/>
        </p:nvSpPr>
        <p:spPr>
          <a:xfrm>
            <a:off x="4914900" y="4210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a:t>
            </a:r>
          </a:p>
        </p:txBody>
      </p:sp>
      <p:sp>
        <p:nvSpPr>
          <p:cNvPr id="11" name="edge-0-1">
            <a:extLst>
              <a:ext uri="{FF2B5EF4-FFF2-40B4-BE49-F238E27FC236}">
                <a16:creationId xmlns:a16="http://schemas.microsoft.com/office/drawing/2014/main" id="{94E09206-6250-495C-9C4F-7DA00A26FA12}"/>
              </a:ext>
            </a:extLst>
          </p:cNvPr>
          <p:cNvSpPr>
            <a:spLocks noGrp="1"/>
          </p:cNvSpPr>
          <p:nvPr/>
        </p:nvSpPr>
        <p:spPr>
          <a:xfrm>
            <a:off x="8705850" y="3238500"/>
            <a:ext cx="866775" cy="738188"/>
          </a:xfrm>
          <a:prstGeom prst="line">
            <a:avLst/>
          </a:prstGeom>
          <a:noFill/>
          <a:ln w="16193">
            <a:solidFill>
              <a:srgbClr val="153143"/>
            </a:solidFill>
          </a:ln>
        </p:spPr>
      </p:sp>
      <p:sp>
        <p:nvSpPr>
          <p:cNvPr id="12" name="edge-1-2">
            <a:extLst>
              <a:ext uri="{FF2B5EF4-FFF2-40B4-BE49-F238E27FC236}">
                <a16:creationId xmlns:a16="http://schemas.microsoft.com/office/drawing/2014/main" id="{A3BD8A31-EBA9-4A01-8CBC-33BDEE110B5B}"/>
              </a:ext>
            </a:extLst>
          </p:cNvPr>
          <p:cNvSpPr>
            <a:spLocks noGrp="1"/>
          </p:cNvSpPr>
          <p:nvPr/>
        </p:nvSpPr>
        <p:spPr>
          <a:xfrm>
            <a:off x="9572625" y="3976688"/>
            <a:ext cx="866775" cy="738188"/>
          </a:xfrm>
          <a:prstGeom prst="line">
            <a:avLst/>
          </a:prstGeom>
          <a:noFill/>
          <a:ln w="16193">
            <a:solidFill>
              <a:srgbClr val="153143"/>
            </a:solidFill>
          </a:ln>
        </p:spPr>
      </p:sp>
      <p:sp>
        <p:nvSpPr>
          <p:cNvPr id="13" name="node-1">
            <a:extLst>
              <a:ext uri="{FF2B5EF4-FFF2-40B4-BE49-F238E27FC236}">
                <a16:creationId xmlns:a16="http://schemas.microsoft.com/office/drawing/2014/main" id="{E4463AAC-2720-4CB9-9AEA-EF884EF45A52}"/>
              </a:ext>
            </a:extLst>
          </p:cNvPr>
          <p:cNvSpPr>
            <a:spLocks noGrp="1"/>
          </p:cNvSpPr>
          <p:nvPr/>
        </p:nvSpPr>
        <p:spPr>
          <a:xfrm>
            <a:off x="8486775" y="301942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a:t>
            </a:r>
          </a:p>
        </p:txBody>
      </p:sp>
      <p:sp>
        <p:nvSpPr>
          <p:cNvPr id="14" name="node-2">
            <a:extLst>
              <a:ext uri="{FF2B5EF4-FFF2-40B4-BE49-F238E27FC236}">
                <a16:creationId xmlns:a16="http://schemas.microsoft.com/office/drawing/2014/main" id="{308C2D57-2D85-47EF-810C-D34E6F77D96E}"/>
              </a:ext>
            </a:extLst>
          </p:cNvPr>
          <p:cNvSpPr>
            <a:spLocks noGrp="1"/>
          </p:cNvSpPr>
          <p:nvPr/>
        </p:nvSpPr>
        <p:spPr>
          <a:xfrm>
            <a:off x="9353550" y="3757613"/>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a:t>
            </a:r>
          </a:p>
        </p:txBody>
      </p:sp>
      <p:sp>
        <p:nvSpPr>
          <p:cNvPr id="15" name="node-3">
            <a:extLst>
              <a:ext uri="{FF2B5EF4-FFF2-40B4-BE49-F238E27FC236}">
                <a16:creationId xmlns:a16="http://schemas.microsoft.com/office/drawing/2014/main" id="{D3C92E52-1712-4649-9169-14837E4B808E}"/>
              </a:ext>
            </a:extLst>
          </p:cNvPr>
          <p:cNvSpPr>
            <a:spLocks noGrp="1"/>
          </p:cNvSpPr>
          <p:nvPr/>
        </p:nvSpPr>
        <p:spPr>
          <a:xfrm>
            <a:off x="10220325" y="449580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a:t>
            </a:r>
          </a:p>
        </p:txBody>
      </p:sp>
      <p:sp>
        <p:nvSpPr>
          <p:cNvPr id="16" name="tree-label-0">
            <a:extLst>
              <a:ext uri="{FF2B5EF4-FFF2-40B4-BE49-F238E27FC236}">
                <a16:creationId xmlns:a16="http://schemas.microsoft.com/office/drawing/2014/main" id="{27B5C654-3C76-44A5-9FD4-21C98C2E0197}"/>
              </a:ext>
            </a:extLst>
          </p:cNvPr>
          <p:cNvSpPr>
            <a:spLocks noGrp="1"/>
          </p:cNvSpPr>
          <p:nvPr/>
        </p:nvSpPr>
        <p:spPr>
          <a:xfrm>
            <a:off x="2143125" y="5095875"/>
            <a:ext cx="571500" cy="428625"/>
          </a:xfrm>
          <a:prstGeom prst="rect">
            <a:avLst/>
          </a:prstGeom>
          <a:noFill/>
          <a:ln w="0">
            <a:noFill/>
          </a:ln>
        </p:spPr>
        <p:txBody>
          <a:bodyPr lIns="0" tIns="0" rIns="0" bIns="0"/>
          <a:lstStyle>
            <a:defPPr>
              <a:defRPr sz="2250" b="1">
                <a:solidFill>
                  <a:srgbClr val="007D89"/>
                </a:solidFill>
                <a:latin typeface="Arial"/>
                <a:ea typeface="Arial"/>
                <a:cs typeface="Arial"/>
              </a:defRPr>
            </a:defPPr>
            <a:lvl1pPr>
              <a:defRPr sz="2250" b="1">
                <a:solidFill>
                  <a:srgbClr val="007D89"/>
                </a:solidFill>
                <a:latin typeface="Arial"/>
                <a:ea typeface="Arial"/>
                <a:cs typeface="Arial"/>
              </a:defRPr>
            </a:lvl1pPr>
            <a:lvl2pPr>
              <a:defRPr sz="2250" b="1">
                <a:solidFill>
                  <a:srgbClr val="007D89"/>
                </a:solidFill>
                <a:latin typeface="Arial"/>
                <a:ea typeface="Arial"/>
                <a:cs typeface="Arial"/>
              </a:defRPr>
            </a:lvl2pPr>
            <a:lvl3pPr>
              <a:defRPr sz="2250" b="1">
                <a:solidFill>
                  <a:srgbClr val="007D89"/>
                </a:solidFill>
                <a:latin typeface="Arial"/>
                <a:ea typeface="Arial"/>
                <a:cs typeface="Arial"/>
              </a:defRPr>
            </a:lvl3pPr>
            <a:lvl4pPr>
              <a:defRPr sz="2250" b="1">
                <a:solidFill>
                  <a:srgbClr val="007D89"/>
                </a:solidFill>
                <a:latin typeface="Arial"/>
                <a:ea typeface="Arial"/>
                <a:cs typeface="Arial"/>
              </a:defRPr>
            </a:lvl4pPr>
            <a:lvl5pPr>
              <a:defRPr sz="2250" b="1">
                <a:solidFill>
                  <a:srgbClr val="007D89"/>
                </a:solidFill>
                <a:latin typeface="Arial"/>
                <a:ea typeface="Arial"/>
                <a:cs typeface="Arial"/>
              </a:defRPr>
            </a:lvl5pPr>
            <a:lvl6pPr>
              <a:defRPr sz="2250" b="1">
                <a:solidFill>
                  <a:srgbClr val="007D89"/>
                </a:solidFill>
                <a:latin typeface="Arial"/>
                <a:ea typeface="Arial"/>
                <a:cs typeface="Arial"/>
              </a:defRPr>
            </a:lvl6pPr>
            <a:lvl7pPr>
              <a:defRPr sz="2250" b="1">
                <a:solidFill>
                  <a:srgbClr val="007D89"/>
                </a:solidFill>
                <a:latin typeface="Arial"/>
                <a:ea typeface="Arial"/>
                <a:cs typeface="Arial"/>
              </a:defRPr>
            </a:lvl7pPr>
            <a:lvl8pPr>
              <a:defRPr sz="2250" b="1">
                <a:solidFill>
                  <a:srgbClr val="007D89"/>
                </a:solidFill>
                <a:latin typeface="Arial"/>
                <a:ea typeface="Arial"/>
                <a:cs typeface="Arial"/>
              </a:defRPr>
            </a:lvl8pPr>
            <a:lvl9pPr>
              <a:defRPr sz="2250" b="1">
                <a:solidFill>
                  <a:srgbClr val="007D89"/>
                </a:solidFill>
                <a:latin typeface="Arial"/>
                <a:ea typeface="Arial"/>
                <a:cs typeface="Arial"/>
              </a:defRPr>
            </a:lvl9pPr>
          </a:lstStyle>
          <a:p>
            <a:pPr>
              <a:defRPr sz="2250" b="1">
                <a:solidFill>
                  <a:srgbClr val="007D89"/>
                </a:solidFill>
                <a:latin typeface="Arial"/>
                <a:ea typeface="Arial"/>
                <a:cs typeface="Arial"/>
              </a:defRPr>
            </a:pPr>
            <a:r>
              <a:rPr sz="2250" b="1">
                <a:solidFill>
                  <a:srgbClr val="007D89"/>
                </a:solidFill>
                <a:latin typeface="Arial"/>
                <a:ea typeface="Arial"/>
                <a:cs typeface="Arial"/>
              </a:rPr>
              <a:t>A</a:t>
            </a:r>
          </a:p>
        </p:txBody>
      </p:sp>
      <p:sp>
        <p:nvSpPr>
          <p:cNvPr id="17" name="tree-label-1">
            <a:extLst>
              <a:ext uri="{FF2B5EF4-FFF2-40B4-BE49-F238E27FC236}">
                <a16:creationId xmlns:a16="http://schemas.microsoft.com/office/drawing/2014/main" id="{C0F7B086-3898-43BB-9536-6947D8FA669E}"/>
              </a:ext>
            </a:extLst>
          </p:cNvPr>
          <p:cNvSpPr>
            <a:spLocks noGrp="1"/>
          </p:cNvSpPr>
          <p:nvPr/>
        </p:nvSpPr>
        <p:spPr>
          <a:xfrm>
            <a:off x="5810250" y="5095875"/>
            <a:ext cx="571500" cy="428625"/>
          </a:xfrm>
          <a:prstGeom prst="rect">
            <a:avLst/>
          </a:prstGeom>
          <a:noFill/>
          <a:ln w="0">
            <a:noFill/>
          </a:ln>
        </p:spPr>
        <p:txBody>
          <a:bodyPr lIns="0" tIns="0" rIns="0" bIns="0"/>
          <a:lstStyle>
            <a:defPPr>
              <a:defRPr sz="2250" b="1">
                <a:solidFill>
                  <a:srgbClr val="007D89"/>
                </a:solidFill>
                <a:latin typeface="Arial"/>
                <a:ea typeface="Arial"/>
                <a:cs typeface="Arial"/>
              </a:defRPr>
            </a:defPPr>
            <a:lvl1pPr>
              <a:defRPr sz="2250" b="1">
                <a:solidFill>
                  <a:srgbClr val="007D89"/>
                </a:solidFill>
                <a:latin typeface="Arial"/>
                <a:ea typeface="Arial"/>
                <a:cs typeface="Arial"/>
              </a:defRPr>
            </a:lvl1pPr>
            <a:lvl2pPr>
              <a:defRPr sz="2250" b="1">
                <a:solidFill>
                  <a:srgbClr val="007D89"/>
                </a:solidFill>
                <a:latin typeface="Arial"/>
                <a:ea typeface="Arial"/>
                <a:cs typeface="Arial"/>
              </a:defRPr>
            </a:lvl2pPr>
            <a:lvl3pPr>
              <a:defRPr sz="2250" b="1">
                <a:solidFill>
                  <a:srgbClr val="007D89"/>
                </a:solidFill>
                <a:latin typeface="Arial"/>
                <a:ea typeface="Arial"/>
                <a:cs typeface="Arial"/>
              </a:defRPr>
            </a:lvl3pPr>
            <a:lvl4pPr>
              <a:defRPr sz="2250" b="1">
                <a:solidFill>
                  <a:srgbClr val="007D89"/>
                </a:solidFill>
                <a:latin typeface="Arial"/>
                <a:ea typeface="Arial"/>
                <a:cs typeface="Arial"/>
              </a:defRPr>
            </a:lvl4pPr>
            <a:lvl5pPr>
              <a:defRPr sz="2250" b="1">
                <a:solidFill>
                  <a:srgbClr val="007D89"/>
                </a:solidFill>
                <a:latin typeface="Arial"/>
                <a:ea typeface="Arial"/>
                <a:cs typeface="Arial"/>
              </a:defRPr>
            </a:lvl5pPr>
            <a:lvl6pPr>
              <a:defRPr sz="2250" b="1">
                <a:solidFill>
                  <a:srgbClr val="007D89"/>
                </a:solidFill>
                <a:latin typeface="Arial"/>
                <a:ea typeface="Arial"/>
                <a:cs typeface="Arial"/>
              </a:defRPr>
            </a:lvl6pPr>
            <a:lvl7pPr>
              <a:defRPr sz="2250" b="1">
                <a:solidFill>
                  <a:srgbClr val="007D89"/>
                </a:solidFill>
                <a:latin typeface="Arial"/>
                <a:ea typeface="Arial"/>
                <a:cs typeface="Arial"/>
              </a:defRPr>
            </a:lvl7pPr>
            <a:lvl8pPr>
              <a:defRPr sz="2250" b="1">
                <a:solidFill>
                  <a:srgbClr val="007D89"/>
                </a:solidFill>
                <a:latin typeface="Arial"/>
                <a:ea typeface="Arial"/>
                <a:cs typeface="Arial"/>
              </a:defRPr>
            </a:lvl8pPr>
            <a:lvl9pPr>
              <a:defRPr sz="2250" b="1">
                <a:solidFill>
                  <a:srgbClr val="007D89"/>
                </a:solidFill>
                <a:latin typeface="Arial"/>
                <a:ea typeface="Arial"/>
                <a:cs typeface="Arial"/>
              </a:defRPr>
            </a:lvl9pPr>
          </a:lstStyle>
          <a:p>
            <a:pPr>
              <a:defRPr sz="2250" b="1">
                <a:solidFill>
                  <a:srgbClr val="007D89"/>
                </a:solidFill>
                <a:latin typeface="Arial"/>
                <a:ea typeface="Arial"/>
                <a:cs typeface="Arial"/>
              </a:defRPr>
            </a:pPr>
            <a:r>
              <a:rPr sz="2250" b="1">
                <a:solidFill>
                  <a:srgbClr val="007D89"/>
                </a:solidFill>
                <a:latin typeface="Arial"/>
                <a:ea typeface="Arial"/>
                <a:cs typeface="Arial"/>
              </a:rPr>
              <a:t>B</a:t>
            </a:r>
          </a:p>
        </p:txBody>
      </p:sp>
      <p:sp>
        <p:nvSpPr>
          <p:cNvPr id="18" name="tree-label-2">
            <a:extLst>
              <a:ext uri="{FF2B5EF4-FFF2-40B4-BE49-F238E27FC236}">
                <a16:creationId xmlns:a16="http://schemas.microsoft.com/office/drawing/2014/main" id="{F95D51D8-BBE5-4321-BDF7-351CF5486F9B}"/>
              </a:ext>
            </a:extLst>
          </p:cNvPr>
          <p:cNvSpPr>
            <a:spLocks noGrp="1"/>
          </p:cNvSpPr>
          <p:nvPr/>
        </p:nvSpPr>
        <p:spPr>
          <a:xfrm>
            <a:off x="9382125" y="5095875"/>
            <a:ext cx="571500" cy="428625"/>
          </a:xfrm>
          <a:prstGeom prst="rect">
            <a:avLst/>
          </a:prstGeom>
          <a:noFill/>
          <a:ln w="0">
            <a:noFill/>
          </a:ln>
        </p:spPr>
        <p:txBody>
          <a:bodyPr lIns="0" tIns="0" rIns="0" bIns="0"/>
          <a:lstStyle>
            <a:defPPr>
              <a:defRPr sz="2250" b="1">
                <a:solidFill>
                  <a:srgbClr val="007D89"/>
                </a:solidFill>
                <a:latin typeface="Arial"/>
                <a:ea typeface="Arial"/>
                <a:cs typeface="Arial"/>
              </a:defRPr>
            </a:defPPr>
            <a:lvl1pPr>
              <a:defRPr sz="2250" b="1">
                <a:solidFill>
                  <a:srgbClr val="007D89"/>
                </a:solidFill>
                <a:latin typeface="Arial"/>
                <a:ea typeface="Arial"/>
                <a:cs typeface="Arial"/>
              </a:defRPr>
            </a:lvl1pPr>
            <a:lvl2pPr>
              <a:defRPr sz="2250" b="1">
                <a:solidFill>
                  <a:srgbClr val="007D89"/>
                </a:solidFill>
                <a:latin typeface="Arial"/>
                <a:ea typeface="Arial"/>
                <a:cs typeface="Arial"/>
              </a:defRPr>
            </a:lvl2pPr>
            <a:lvl3pPr>
              <a:defRPr sz="2250" b="1">
                <a:solidFill>
                  <a:srgbClr val="007D89"/>
                </a:solidFill>
                <a:latin typeface="Arial"/>
                <a:ea typeface="Arial"/>
                <a:cs typeface="Arial"/>
              </a:defRPr>
            </a:lvl3pPr>
            <a:lvl4pPr>
              <a:defRPr sz="2250" b="1">
                <a:solidFill>
                  <a:srgbClr val="007D89"/>
                </a:solidFill>
                <a:latin typeface="Arial"/>
                <a:ea typeface="Arial"/>
                <a:cs typeface="Arial"/>
              </a:defRPr>
            </a:lvl4pPr>
            <a:lvl5pPr>
              <a:defRPr sz="2250" b="1">
                <a:solidFill>
                  <a:srgbClr val="007D89"/>
                </a:solidFill>
                <a:latin typeface="Arial"/>
                <a:ea typeface="Arial"/>
                <a:cs typeface="Arial"/>
              </a:defRPr>
            </a:lvl5pPr>
            <a:lvl6pPr>
              <a:defRPr sz="2250" b="1">
                <a:solidFill>
                  <a:srgbClr val="007D89"/>
                </a:solidFill>
                <a:latin typeface="Arial"/>
                <a:ea typeface="Arial"/>
                <a:cs typeface="Arial"/>
              </a:defRPr>
            </a:lvl6pPr>
            <a:lvl7pPr>
              <a:defRPr sz="2250" b="1">
                <a:solidFill>
                  <a:srgbClr val="007D89"/>
                </a:solidFill>
                <a:latin typeface="Arial"/>
                <a:ea typeface="Arial"/>
                <a:cs typeface="Arial"/>
              </a:defRPr>
            </a:lvl7pPr>
            <a:lvl8pPr>
              <a:defRPr sz="2250" b="1">
                <a:solidFill>
                  <a:srgbClr val="007D89"/>
                </a:solidFill>
                <a:latin typeface="Arial"/>
                <a:ea typeface="Arial"/>
                <a:cs typeface="Arial"/>
              </a:defRPr>
            </a:lvl8pPr>
            <a:lvl9pPr>
              <a:defRPr sz="2250" b="1">
                <a:solidFill>
                  <a:srgbClr val="007D89"/>
                </a:solidFill>
                <a:latin typeface="Arial"/>
                <a:ea typeface="Arial"/>
                <a:cs typeface="Arial"/>
              </a:defRPr>
            </a:lvl9pPr>
          </a:lstStyle>
          <a:p>
            <a:pPr>
              <a:defRPr sz="2250" b="1">
                <a:solidFill>
                  <a:srgbClr val="007D89"/>
                </a:solidFill>
                <a:latin typeface="Arial"/>
                <a:ea typeface="Arial"/>
                <a:cs typeface="Arial"/>
              </a:defRPr>
            </a:pPr>
            <a:r>
              <a:rPr sz="2250" b="1">
                <a:solidFill>
                  <a:srgbClr val="007D89"/>
                </a:solidFill>
                <a:latin typeface="Arial"/>
                <a:ea typeface="Arial"/>
                <a:cs typeface="Arial"/>
              </a:rPr>
              <a:t>C</a:t>
            </a:r>
          </a:p>
        </p:txBody>
      </p:sp>
      <p:sp>
        <p:nvSpPr>
          <p:cNvPr id="19" name="activity-cue">
            <a:extLst>
              <a:ext uri="{FF2B5EF4-FFF2-40B4-BE49-F238E27FC236}">
                <a16:creationId xmlns:a16="http://schemas.microsoft.com/office/drawing/2014/main" id="{CBFC28B1-84F7-46F7-B31A-2853D98E5590}"/>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Individual response, then compare classifications. 2 minutes</a:t>
            </a:r>
          </a:p>
        </p:txBody>
      </p:sp>
      <p:sp>
        <p:nvSpPr>
          <p:cNvPr id="20" name="page">
            <a:extLst>
              <a:ext uri="{FF2B5EF4-FFF2-40B4-BE49-F238E27FC236}">
                <a16:creationId xmlns:a16="http://schemas.microsoft.com/office/drawing/2014/main" id="{9ECC7771-E42F-4C6A-9079-0D90936E6B64}"/>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10</a:t>
            </a:r>
          </a:p>
        </p:txBody>
      </p:sp>
    </p:spTree>
    <p:extLst>
      <p:ext uri="{BB962C8B-B14F-4D97-AF65-F5344CB8AC3E}">
        <p14:creationId xmlns:p14="http://schemas.microsoft.com/office/powerpoint/2010/main" val="1983717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3DECC6DF-1918-4110-97D5-6148708FA7A1}"/>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The BST ordering rule applies to every descendant</a:t>
            </a:r>
          </a:p>
        </p:txBody>
      </p:sp>
      <p:sp>
        <p:nvSpPr>
          <p:cNvPr id="3" name="text-2">
            <a:extLst>
              <a:ext uri="{FF2B5EF4-FFF2-40B4-BE49-F238E27FC236}">
                <a16:creationId xmlns:a16="http://schemas.microsoft.com/office/drawing/2014/main" id="{B052586A-C82F-4EA6-94E9-A70DAD571CA4}"/>
              </a:ext>
            </a:extLst>
          </p:cNvPr>
          <p:cNvSpPr>
            <a:spLocks noGrp="1"/>
          </p:cNvSpPr>
          <p:nvPr/>
        </p:nvSpPr>
        <p:spPr>
          <a:xfrm>
            <a:off x="609600" y="1600200"/>
            <a:ext cx="56197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At root 12:</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all left keys are less than 12,</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all right keys are greater than 12.</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At node 15:</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all right keys are greater than 15.</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A parent–child check alone</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cannot validate a whole BST.</a:t>
            </a:r>
          </a:p>
        </p:txBody>
      </p:sp>
      <p:sp>
        <p:nvSpPr>
          <p:cNvPr id="4" name="source-diagram-dg8-9">
            <a:extLst>
              <a:ext uri="{FF2B5EF4-FFF2-40B4-BE49-F238E27FC236}">
                <a16:creationId xmlns:a16="http://schemas.microsoft.com/office/drawing/2014/main" id="{F62719C6-42B9-4309-881C-F8A52C06A62F}"/>
              </a:ext>
            </a:extLst>
          </p:cNvPr>
          <p:cNvSpPr>
            <a:spLocks noGrp="1"/>
          </p:cNvSpPr>
          <p:nvPr/>
        </p:nvSpPr>
        <p:spPr>
          <a:xfrm>
            <a:off x="9481871"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20</a:t>
            </a:r>
          </a:p>
        </p:txBody>
      </p:sp>
      <p:sp>
        <p:nvSpPr>
          <p:cNvPr id="5" name="source-diagram-dg8-10">
            <a:extLst>
              <a:ext uri="{FF2B5EF4-FFF2-40B4-BE49-F238E27FC236}">
                <a16:creationId xmlns:a16="http://schemas.microsoft.com/office/drawing/2014/main" id="{2567BE03-53D1-4EFC-BF61-319BBF18C597}"/>
              </a:ext>
            </a:extLst>
          </p:cNvPr>
          <p:cNvSpPr>
            <a:spLocks noGrp="1"/>
          </p:cNvSpPr>
          <p:nvPr/>
        </p:nvSpPr>
        <p:spPr>
          <a:xfrm>
            <a:off x="8236073"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9</a:t>
            </a:r>
          </a:p>
        </p:txBody>
      </p:sp>
      <p:sp>
        <p:nvSpPr>
          <p:cNvPr id="6" name="source-diagram-dg8-11">
            <a:extLst>
              <a:ext uri="{FF2B5EF4-FFF2-40B4-BE49-F238E27FC236}">
                <a16:creationId xmlns:a16="http://schemas.microsoft.com/office/drawing/2014/main" id="{DC55B831-7718-40A3-BA4F-1E8250BCAD60}"/>
              </a:ext>
            </a:extLst>
          </p:cNvPr>
          <p:cNvSpPr>
            <a:spLocks noGrp="1"/>
          </p:cNvSpPr>
          <p:nvPr/>
        </p:nvSpPr>
        <p:spPr>
          <a:xfrm>
            <a:off x="7191375" y="3952133"/>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2</a:t>
            </a:r>
          </a:p>
        </p:txBody>
      </p:sp>
      <p:sp>
        <p:nvSpPr>
          <p:cNvPr id="7" name="source-diagram-dg8-12">
            <a:extLst>
              <a:ext uri="{FF2B5EF4-FFF2-40B4-BE49-F238E27FC236}">
                <a16:creationId xmlns:a16="http://schemas.microsoft.com/office/drawing/2014/main" id="{9EC5A00A-53EB-4E99-B11F-FDF990A628BB}"/>
              </a:ext>
            </a:extLst>
          </p:cNvPr>
          <p:cNvSpPr>
            <a:spLocks noGrp="1"/>
          </p:cNvSpPr>
          <p:nvPr/>
        </p:nvSpPr>
        <p:spPr>
          <a:xfrm>
            <a:off x="8909247" y="2761879"/>
            <a:ext cx="409017" cy="510109"/>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24" b="0">
                <a:solidFill>
                  <a:srgbClr val="FFFFFF"/>
                </a:solidFill>
                <a:latin typeface="Arial"/>
                <a:ea typeface="Arial"/>
                <a:cs typeface="Arial"/>
              </a:rPr>
              <a:t>15</a:t>
            </a:r>
          </a:p>
        </p:txBody>
      </p:sp>
      <p:sp>
        <p:nvSpPr>
          <p:cNvPr id="8" name="source-diagram-dg8-13">
            <a:extLst>
              <a:ext uri="{FF2B5EF4-FFF2-40B4-BE49-F238E27FC236}">
                <a16:creationId xmlns:a16="http://schemas.microsoft.com/office/drawing/2014/main" id="{C2D074B4-8767-47E4-B269-88365596B3CF}"/>
              </a:ext>
            </a:extLst>
          </p:cNvPr>
          <p:cNvSpPr>
            <a:spLocks noGrp="1"/>
          </p:cNvSpPr>
          <p:nvPr/>
        </p:nvSpPr>
        <p:spPr>
          <a:xfrm>
            <a:off x="7663448" y="2761879"/>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5</a:t>
            </a:r>
          </a:p>
        </p:txBody>
      </p:sp>
      <p:sp>
        <p:nvSpPr>
          <p:cNvPr id="9" name="source-diagram-dg8-14">
            <a:extLst>
              <a:ext uri="{FF2B5EF4-FFF2-40B4-BE49-F238E27FC236}">
                <a16:creationId xmlns:a16="http://schemas.microsoft.com/office/drawing/2014/main" id="{D1FE3577-6037-4F40-9DBE-DE9DEBE7D726}"/>
              </a:ext>
            </a:extLst>
          </p:cNvPr>
          <p:cNvSpPr>
            <a:spLocks noGrp="1"/>
          </p:cNvSpPr>
          <p:nvPr/>
        </p:nvSpPr>
        <p:spPr>
          <a:xfrm>
            <a:off x="8254820" y="1571625"/>
            <a:ext cx="409017" cy="510109"/>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24" b="0">
                <a:solidFill>
                  <a:srgbClr val="FFFFFF"/>
                </a:solidFill>
                <a:latin typeface="Arial"/>
                <a:ea typeface="Arial"/>
                <a:cs typeface="Arial"/>
              </a:rPr>
              <a:t>12</a:t>
            </a:r>
          </a:p>
        </p:txBody>
      </p:sp>
      <p:cxnSp>
        <p:nvCxnSpPr>
          <p:cNvPr id="10" name="source-diagram-dg8-15">
            <a:extLst>
              <a:ext uri="{FF2B5EF4-FFF2-40B4-BE49-F238E27FC236}">
                <a16:creationId xmlns:a16="http://schemas.microsoft.com/office/drawing/2014/main" id="{8B4C9546-3173-4210-8304-5BE6EFBB88BD}"/>
              </a:ext>
            </a:extLst>
          </p:cNvPr>
          <p:cNvCxnSpPr/>
          <p:nvPr/>
        </p:nvCxnSpPr>
        <p:spPr>
          <a:xfrm rot="5400000">
            <a:off x="7788711" y="2105864"/>
            <a:ext cx="605255" cy="557181"/>
          </a:xfrm>
          <a:prstGeom prst="straightConnector1">
            <a:avLst/>
          </a:prstGeom>
          <a:ln w="9525">
            <a:solidFill>
              <a:srgbClr val="142E42"/>
            </a:solidFill>
            <a:round/>
            <a:headEnd type="none" w="med" len="med"/>
            <a:tailEnd type="none" w="med" len="med"/>
          </a:ln>
        </p:spPr>
      </p:cxnSp>
      <p:cxnSp>
        <p:nvCxnSpPr>
          <p:cNvPr id="11" name="source-diagram-dg8-16">
            <a:extLst>
              <a:ext uri="{FF2B5EF4-FFF2-40B4-BE49-F238E27FC236}">
                <a16:creationId xmlns:a16="http://schemas.microsoft.com/office/drawing/2014/main" id="{2F58413F-CA4A-493E-9C23-FE45C2112F55}"/>
              </a:ext>
            </a:extLst>
          </p:cNvPr>
          <p:cNvCxnSpPr/>
          <p:nvPr/>
        </p:nvCxnSpPr>
        <p:spPr>
          <a:xfrm rot="16200000" flipH="1">
            <a:off x="8556219" y="2066543"/>
            <a:ext cx="605255" cy="635823"/>
          </a:xfrm>
          <a:prstGeom prst="straightConnector1">
            <a:avLst/>
          </a:prstGeom>
          <a:ln w="9525">
            <a:solidFill>
              <a:srgbClr val="142E42"/>
            </a:solidFill>
            <a:round/>
            <a:headEnd type="none" w="med" len="med"/>
            <a:tailEnd type="none" w="med" len="med"/>
          </a:ln>
        </p:spPr>
      </p:cxnSp>
      <p:cxnSp>
        <p:nvCxnSpPr>
          <p:cNvPr id="12" name="source-diagram-dg8-17">
            <a:extLst>
              <a:ext uri="{FF2B5EF4-FFF2-40B4-BE49-F238E27FC236}">
                <a16:creationId xmlns:a16="http://schemas.microsoft.com/office/drawing/2014/main" id="{DC827C65-28CC-4F60-89AB-FA60E2A73A0B}"/>
              </a:ext>
            </a:extLst>
          </p:cNvPr>
          <p:cNvCxnSpPr/>
          <p:nvPr/>
        </p:nvCxnSpPr>
        <p:spPr>
          <a:xfrm>
            <a:off x="9258617" y="3223103"/>
            <a:ext cx="427763" cy="703525"/>
          </a:xfrm>
          <a:prstGeom prst="straightConnector1">
            <a:avLst/>
          </a:prstGeom>
          <a:ln w="9525">
            <a:solidFill>
              <a:srgbClr val="142E42"/>
            </a:solidFill>
            <a:round/>
            <a:headEnd type="none" w="med" len="med"/>
            <a:tailEnd type="none" w="med" len="med"/>
          </a:ln>
        </p:spPr>
      </p:cxnSp>
      <p:cxnSp>
        <p:nvCxnSpPr>
          <p:cNvPr id="13" name="source-diagram-dg8-18">
            <a:extLst>
              <a:ext uri="{FF2B5EF4-FFF2-40B4-BE49-F238E27FC236}">
                <a16:creationId xmlns:a16="http://schemas.microsoft.com/office/drawing/2014/main" id="{C12363A7-B1A0-4E2E-A175-130D0D76E715}"/>
              </a:ext>
            </a:extLst>
          </p:cNvPr>
          <p:cNvCxnSpPr/>
          <p:nvPr/>
        </p:nvCxnSpPr>
        <p:spPr>
          <a:xfrm rot="5400000">
            <a:off x="7256988" y="3370511"/>
            <a:ext cx="605255" cy="408399"/>
          </a:xfrm>
          <a:prstGeom prst="straightConnector1">
            <a:avLst/>
          </a:prstGeom>
          <a:ln w="9525">
            <a:solidFill>
              <a:srgbClr val="142E42"/>
            </a:solidFill>
            <a:round/>
            <a:headEnd type="none" w="med" len="med"/>
            <a:tailEnd type="none" w="med" len="med"/>
          </a:ln>
        </p:spPr>
      </p:cxnSp>
      <p:cxnSp>
        <p:nvCxnSpPr>
          <p:cNvPr id="14" name="source-diagram-dg8-19">
            <a:extLst>
              <a:ext uri="{FF2B5EF4-FFF2-40B4-BE49-F238E27FC236}">
                <a16:creationId xmlns:a16="http://schemas.microsoft.com/office/drawing/2014/main" id="{10BB39B6-258C-4838-9ACE-1647BEA0B2C4}"/>
              </a:ext>
            </a:extLst>
          </p:cNvPr>
          <p:cNvCxnSpPr/>
          <p:nvPr/>
        </p:nvCxnSpPr>
        <p:spPr>
          <a:xfrm>
            <a:off x="8012818" y="3223103"/>
            <a:ext cx="427763" cy="703525"/>
          </a:xfrm>
          <a:prstGeom prst="straightConnector1">
            <a:avLst/>
          </a:prstGeom>
          <a:ln w="9525">
            <a:solidFill>
              <a:srgbClr val="142E42"/>
            </a:solidFill>
            <a:round/>
            <a:headEnd type="none" w="med" len="med"/>
            <a:tailEnd type="none" w="med" len="med"/>
          </a:ln>
        </p:spPr>
      </p:cxnSp>
      <p:sp>
        <p:nvSpPr>
          <p:cNvPr id="15" name="source-diagram-dg8-20">
            <a:extLst>
              <a:ext uri="{FF2B5EF4-FFF2-40B4-BE49-F238E27FC236}">
                <a16:creationId xmlns:a16="http://schemas.microsoft.com/office/drawing/2014/main" id="{253C63BB-6E59-4FCF-93C5-A2DC9E5CC886}"/>
              </a:ext>
            </a:extLst>
          </p:cNvPr>
          <p:cNvSpPr>
            <a:spLocks noGrp="1"/>
          </p:cNvSpPr>
          <p:nvPr/>
        </p:nvSpPr>
        <p:spPr>
          <a:xfrm>
            <a:off x="9768183" y="5142388"/>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30</a:t>
            </a:r>
          </a:p>
        </p:txBody>
      </p:sp>
      <p:cxnSp>
        <p:nvCxnSpPr>
          <p:cNvPr id="16" name="source-diagram-dg8-21">
            <a:extLst>
              <a:ext uri="{FF2B5EF4-FFF2-40B4-BE49-F238E27FC236}">
                <a16:creationId xmlns:a16="http://schemas.microsoft.com/office/drawing/2014/main" id="{8E638EE9-77E8-4F18-AB0D-857FF7F6E7A8}"/>
              </a:ext>
            </a:extLst>
          </p:cNvPr>
          <p:cNvCxnSpPr/>
          <p:nvPr/>
        </p:nvCxnSpPr>
        <p:spPr>
          <a:xfrm>
            <a:off x="9831241" y="4413357"/>
            <a:ext cx="141451" cy="703525"/>
          </a:xfrm>
          <a:prstGeom prst="straightConnector1">
            <a:avLst/>
          </a:prstGeom>
          <a:ln w="9525">
            <a:solidFill>
              <a:srgbClr val="142E42"/>
            </a:solidFill>
            <a:round/>
            <a:headEnd type="none" w="med" len="med"/>
            <a:tailEnd type="none" w="med" len="med"/>
          </a:ln>
        </p:spPr>
      </p:cxnSp>
      <p:sp>
        <p:nvSpPr>
          <p:cNvPr id="17" name="source-diagram-dg8-22">
            <a:extLst>
              <a:ext uri="{FF2B5EF4-FFF2-40B4-BE49-F238E27FC236}">
                <a16:creationId xmlns:a16="http://schemas.microsoft.com/office/drawing/2014/main" id="{D8B88EEB-FAE2-4582-BDF1-B4D9F7C88079}"/>
              </a:ext>
            </a:extLst>
          </p:cNvPr>
          <p:cNvSpPr>
            <a:spLocks noGrp="1"/>
          </p:cNvSpPr>
          <p:nvPr/>
        </p:nvSpPr>
        <p:spPr>
          <a:xfrm>
            <a:off x="7949761" y="5142388"/>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7</a:t>
            </a:r>
          </a:p>
        </p:txBody>
      </p:sp>
      <p:cxnSp>
        <p:nvCxnSpPr>
          <p:cNvPr id="18" name="source-diagram-dg8-23">
            <a:extLst>
              <a:ext uri="{FF2B5EF4-FFF2-40B4-BE49-F238E27FC236}">
                <a16:creationId xmlns:a16="http://schemas.microsoft.com/office/drawing/2014/main" id="{881B34EA-0E22-41FF-B6AB-F5D3C3E77088}"/>
              </a:ext>
            </a:extLst>
          </p:cNvPr>
          <p:cNvCxnSpPr/>
          <p:nvPr/>
        </p:nvCxnSpPr>
        <p:spPr>
          <a:xfrm flipH="1">
            <a:off x="8154269" y="4413357"/>
            <a:ext cx="141452" cy="703525"/>
          </a:xfrm>
          <a:prstGeom prst="straightConnector1">
            <a:avLst/>
          </a:prstGeom>
          <a:ln w="9525">
            <a:solidFill>
              <a:srgbClr val="142E42"/>
            </a:solidFill>
            <a:round/>
            <a:headEnd type="none" w="med" len="med"/>
            <a:tailEnd type="none" w="med" len="med"/>
          </a:ln>
        </p:spPr>
      </p:cxnSp>
      <p:sp>
        <p:nvSpPr>
          <p:cNvPr id="19" name="source-diagram-dg8-24">
            <a:extLst>
              <a:ext uri="{FF2B5EF4-FFF2-40B4-BE49-F238E27FC236}">
                <a16:creationId xmlns:a16="http://schemas.microsoft.com/office/drawing/2014/main" id="{9CDD99C4-8213-4398-9DE9-1E7CE9A9C277}"/>
              </a:ext>
            </a:extLst>
          </p:cNvPr>
          <p:cNvSpPr>
            <a:spLocks noGrp="1"/>
          </p:cNvSpPr>
          <p:nvPr/>
        </p:nvSpPr>
        <p:spPr>
          <a:xfrm>
            <a:off x="9195559" y="5131761"/>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17</a:t>
            </a:r>
          </a:p>
        </p:txBody>
      </p:sp>
      <p:cxnSp>
        <p:nvCxnSpPr>
          <p:cNvPr id="20" name="source-diagram-dg8-25">
            <a:extLst>
              <a:ext uri="{FF2B5EF4-FFF2-40B4-BE49-F238E27FC236}">
                <a16:creationId xmlns:a16="http://schemas.microsoft.com/office/drawing/2014/main" id="{79A29C68-F503-4C07-BAC2-79BFDCA1ACFE}"/>
              </a:ext>
            </a:extLst>
          </p:cNvPr>
          <p:cNvCxnSpPr/>
          <p:nvPr/>
        </p:nvCxnSpPr>
        <p:spPr>
          <a:xfrm flipH="1">
            <a:off x="9400068" y="4413357"/>
            <a:ext cx="141452" cy="692898"/>
          </a:xfrm>
          <a:prstGeom prst="straightConnector1">
            <a:avLst/>
          </a:prstGeom>
          <a:ln w="9525">
            <a:solidFill>
              <a:srgbClr val="142E42"/>
            </a:solidFill>
            <a:round/>
            <a:headEnd type="none" w="med" len="med"/>
            <a:tailEnd type="none" w="med" len="med"/>
          </a:ln>
        </p:spPr>
      </p:cxnSp>
      <p:sp>
        <p:nvSpPr>
          <p:cNvPr id="21" name="source-diagram-dg8-26">
            <a:extLst>
              <a:ext uri="{FF2B5EF4-FFF2-40B4-BE49-F238E27FC236}">
                <a16:creationId xmlns:a16="http://schemas.microsoft.com/office/drawing/2014/main" id="{99EF9087-4EEF-44CD-80C3-9E7ADE0CAF8A}"/>
              </a:ext>
            </a:extLst>
          </p:cNvPr>
          <p:cNvSpPr>
            <a:spLocks noGrp="1"/>
          </p:cNvSpPr>
          <p:nvPr/>
        </p:nvSpPr>
        <p:spPr>
          <a:xfrm>
            <a:off x="8500230" y="5157266"/>
            <a:ext cx="409017" cy="510109"/>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24" b="0">
                <a:solidFill>
                  <a:srgbClr val="142E42"/>
                </a:solidFill>
                <a:latin typeface="Arial"/>
                <a:ea typeface="Arial"/>
                <a:cs typeface="Arial"/>
              </a:rPr>
              <a:t>10</a:t>
            </a:r>
          </a:p>
        </p:txBody>
      </p:sp>
      <p:cxnSp>
        <p:nvCxnSpPr>
          <p:cNvPr id="22" name="source-diagram-dg8-27">
            <a:extLst>
              <a:ext uri="{FF2B5EF4-FFF2-40B4-BE49-F238E27FC236}">
                <a16:creationId xmlns:a16="http://schemas.microsoft.com/office/drawing/2014/main" id="{312884D6-2D12-40EE-AD40-5B3DF2E75414}"/>
              </a:ext>
            </a:extLst>
          </p:cNvPr>
          <p:cNvCxnSpPr/>
          <p:nvPr/>
        </p:nvCxnSpPr>
        <p:spPr>
          <a:xfrm>
            <a:off x="8563286" y="4428235"/>
            <a:ext cx="141452" cy="703526"/>
          </a:xfrm>
          <a:prstGeom prst="straightConnector1">
            <a:avLst/>
          </a:prstGeom>
          <a:ln w="9525">
            <a:solidFill>
              <a:srgbClr val="142E42"/>
            </a:solidFill>
            <a:round/>
            <a:headEnd type="none" w="med" len="med"/>
            <a:tailEnd type="none" w="med" len="med"/>
          </a:ln>
        </p:spPr>
      </p:cxnSp>
      <p:sp>
        <p:nvSpPr>
          <p:cNvPr id="24" name="local-java-TestBST">
            <a:extLst>
              <a:ext uri="{FF2B5EF4-FFF2-40B4-BE49-F238E27FC236}">
                <a16:creationId xmlns:a16="http://schemas.microsoft.com/office/drawing/2014/main" id="{8BF03FC8-64AB-4D63-A902-3B291E22E1D0}"/>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TestBST.java</a:t>
            </a:r>
          </a:p>
        </p:txBody>
      </p:sp>
      <p:sp>
        <p:nvSpPr>
          <p:cNvPr id="25" name="local-java-BSTPractice">
            <a:extLst>
              <a:ext uri="{FF2B5EF4-FFF2-40B4-BE49-F238E27FC236}">
                <a16:creationId xmlns:a16="http://schemas.microsoft.com/office/drawing/2014/main" id="{48064B45-FF62-4203-A03A-D581B3D80B22}"/>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BSTPractice.java</a:t>
            </a:r>
          </a:p>
        </p:txBody>
      </p:sp>
      <p:sp>
        <p:nvSpPr>
          <p:cNvPr id="26" name="page">
            <a:extLst>
              <a:ext uri="{FF2B5EF4-FFF2-40B4-BE49-F238E27FC236}">
                <a16:creationId xmlns:a16="http://schemas.microsoft.com/office/drawing/2014/main" id="{804D0593-C310-428E-8A9B-24077B1701E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11</a:t>
            </a:r>
          </a:p>
        </p:txBody>
      </p:sp>
    </p:spTree>
    <p:extLst>
      <p:ext uri="{BB962C8B-B14F-4D97-AF65-F5344CB8AC3E}">
        <p14:creationId xmlns:p14="http://schemas.microsoft.com/office/powerpoint/2010/main" val="152916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0" name="text-0">
            <a:extLst>
              <a:ext uri="{FF2B5EF4-FFF2-40B4-BE49-F238E27FC236}">
                <a16:creationId xmlns:a16="http://schemas.microsoft.com/office/drawing/2014/main" id="{88CFBA58-822F-4707-AECC-390AF5B946B2}"/>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Checkpoint: which drawing is a valid BST?</a:t>
            </a:r>
          </a:p>
        </p:txBody>
      </p:sp>
      <p:sp>
        <p:nvSpPr>
          <p:cNvPr id="3" name="text-2">
            <a:extLst>
              <a:ext uri="{FF2B5EF4-FFF2-40B4-BE49-F238E27FC236}">
                <a16:creationId xmlns:a16="http://schemas.microsoft.com/office/drawing/2014/main" id="{BE40D33E-BDA0-466F-81A0-C68BDDCA9887}"/>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For each node, carry the lower and upper bounds from its ancestors.</a:t>
            </a:r>
          </a:p>
        </p:txBody>
      </p:sp>
      <p:sp>
        <p:nvSpPr>
          <p:cNvPr id="4" name="source-diagram-dg9-16387">
            <a:extLst>
              <a:ext uri="{FF2B5EF4-FFF2-40B4-BE49-F238E27FC236}">
                <a16:creationId xmlns:a16="http://schemas.microsoft.com/office/drawing/2014/main" id="{05DCF3E4-9F19-49B6-A90E-F34069FB405C}"/>
              </a:ext>
            </a:extLst>
          </p:cNvPr>
          <p:cNvSpPr>
            <a:spLocks noGrp="1"/>
          </p:cNvSpPr>
          <p:nvPr/>
        </p:nvSpPr>
        <p:spPr>
          <a:xfrm>
            <a:off x="1157101"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3</a:t>
            </a:r>
          </a:p>
        </p:txBody>
      </p:sp>
      <p:sp>
        <p:nvSpPr>
          <p:cNvPr id="5" name="source-diagram-dg9-16388">
            <a:extLst>
              <a:ext uri="{FF2B5EF4-FFF2-40B4-BE49-F238E27FC236}">
                <a16:creationId xmlns:a16="http://schemas.microsoft.com/office/drawing/2014/main" id="{A2A7FEAE-BE9E-4BDC-AF2C-82FF042346AB}"/>
              </a:ext>
            </a:extLst>
          </p:cNvPr>
          <p:cNvSpPr>
            <a:spLocks noGrp="1"/>
          </p:cNvSpPr>
          <p:nvPr/>
        </p:nvSpPr>
        <p:spPr>
          <a:xfrm>
            <a:off x="4141134"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11</a:t>
            </a:r>
          </a:p>
        </p:txBody>
      </p:sp>
      <p:sp>
        <p:nvSpPr>
          <p:cNvPr id="6" name="source-diagram-dg9-16389">
            <a:extLst>
              <a:ext uri="{FF2B5EF4-FFF2-40B4-BE49-F238E27FC236}">
                <a16:creationId xmlns:a16="http://schemas.microsoft.com/office/drawing/2014/main" id="{C4285117-C1D7-4B1E-BC5B-7E3584DF3DB1}"/>
              </a:ext>
            </a:extLst>
          </p:cNvPr>
          <p:cNvSpPr>
            <a:spLocks noGrp="1"/>
          </p:cNvSpPr>
          <p:nvPr/>
        </p:nvSpPr>
        <p:spPr>
          <a:xfrm>
            <a:off x="3056031"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7</a:t>
            </a:r>
          </a:p>
        </p:txBody>
      </p:sp>
      <p:sp>
        <p:nvSpPr>
          <p:cNvPr id="7" name="source-diagram-dg9-16390">
            <a:extLst>
              <a:ext uri="{FF2B5EF4-FFF2-40B4-BE49-F238E27FC236}">
                <a16:creationId xmlns:a16="http://schemas.microsoft.com/office/drawing/2014/main" id="{E4569835-02C5-450F-9C49-AB1A82FA5CC7}"/>
              </a:ext>
            </a:extLst>
          </p:cNvPr>
          <p:cNvSpPr>
            <a:spLocks noGrp="1"/>
          </p:cNvSpPr>
          <p:nvPr/>
        </p:nvSpPr>
        <p:spPr>
          <a:xfrm>
            <a:off x="885825"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a:t>
            </a:r>
          </a:p>
        </p:txBody>
      </p:sp>
      <p:sp>
        <p:nvSpPr>
          <p:cNvPr id="8" name="source-diagram-dg9-16391">
            <a:extLst>
              <a:ext uri="{FF2B5EF4-FFF2-40B4-BE49-F238E27FC236}">
                <a16:creationId xmlns:a16="http://schemas.microsoft.com/office/drawing/2014/main" id="{C690F0FE-7D79-4BE1-B5B2-8751986C7B2E}"/>
              </a:ext>
            </a:extLst>
          </p:cNvPr>
          <p:cNvSpPr>
            <a:spLocks noGrp="1"/>
          </p:cNvSpPr>
          <p:nvPr/>
        </p:nvSpPr>
        <p:spPr>
          <a:xfrm>
            <a:off x="3598582"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8</a:t>
            </a:r>
          </a:p>
        </p:txBody>
      </p:sp>
      <p:sp>
        <p:nvSpPr>
          <p:cNvPr id="9" name="source-diagram-dg9-16392">
            <a:extLst>
              <a:ext uri="{FF2B5EF4-FFF2-40B4-BE49-F238E27FC236}">
                <a16:creationId xmlns:a16="http://schemas.microsoft.com/office/drawing/2014/main" id="{7E828504-6C4A-44C9-AD3A-3450DAC0FCD2}"/>
              </a:ext>
            </a:extLst>
          </p:cNvPr>
          <p:cNvSpPr>
            <a:spLocks noGrp="1"/>
          </p:cNvSpPr>
          <p:nvPr/>
        </p:nvSpPr>
        <p:spPr>
          <a:xfrm>
            <a:off x="1428376"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4</a:t>
            </a:r>
          </a:p>
        </p:txBody>
      </p:sp>
      <p:sp>
        <p:nvSpPr>
          <p:cNvPr id="10" name="source-diagram-dg9-16393">
            <a:extLst>
              <a:ext uri="{FF2B5EF4-FFF2-40B4-BE49-F238E27FC236}">
                <a16:creationId xmlns:a16="http://schemas.microsoft.com/office/drawing/2014/main" id="{B02EE21C-5E11-4B9C-B836-B7B7EA7A10BA}"/>
              </a:ext>
            </a:extLst>
          </p:cNvPr>
          <p:cNvSpPr>
            <a:spLocks noGrp="1"/>
          </p:cNvSpPr>
          <p:nvPr/>
        </p:nvSpPr>
        <p:spPr>
          <a:xfrm>
            <a:off x="2513479" y="147637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5</a:t>
            </a:r>
          </a:p>
        </p:txBody>
      </p:sp>
      <p:cxnSp>
        <p:nvCxnSpPr>
          <p:cNvPr id="11" name="source-diagram-dg9-16394">
            <a:extLst>
              <a:ext uri="{FF2B5EF4-FFF2-40B4-BE49-F238E27FC236}">
                <a16:creationId xmlns:a16="http://schemas.microsoft.com/office/drawing/2014/main" id="{BA924E0C-AA4C-4768-9858-0D784B8A21ED}"/>
              </a:ext>
            </a:extLst>
          </p:cNvPr>
          <p:cNvCxnSpPr/>
          <p:nvPr/>
        </p:nvCxnSpPr>
        <p:spPr>
          <a:xfrm flipH="1">
            <a:off x="1622145" y="1826773"/>
            <a:ext cx="947851" cy="534477"/>
          </a:xfrm>
          <a:prstGeom prst="straightConnector1">
            <a:avLst/>
          </a:prstGeom>
          <a:ln w="9525">
            <a:solidFill>
              <a:srgbClr val="142E42"/>
            </a:solidFill>
            <a:round/>
            <a:headEnd type="none" w="med" len="med"/>
            <a:tailEnd type="none" w="med" len="med"/>
          </a:ln>
        </p:spPr>
      </p:cxnSp>
      <p:cxnSp>
        <p:nvCxnSpPr>
          <p:cNvPr id="12" name="source-diagram-dg9-16395">
            <a:extLst>
              <a:ext uri="{FF2B5EF4-FFF2-40B4-BE49-F238E27FC236}">
                <a16:creationId xmlns:a16="http://schemas.microsoft.com/office/drawing/2014/main" id="{606271D7-B337-40BA-962B-A43603808C4B}"/>
              </a:ext>
            </a:extLst>
          </p:cNvPr>
          <p:cNvCxnSpPr/>
          <p:nvPr/>
        </p:nvCxnSpPr>
        <p:spPr>
          <a:xfrm>
            <a:off x="2844501" y="1826773"/>
            <a:ext cx="947850" cy="534477"/>
          </a:xfrm>
          <a:prstGeom prst="straightConnector1">
            <a:avLst/>
          </a:prstGeom>
          <a:ln w="9525">
            <a:solidFill>
              <a:srgbClr val="142E42"/>
            </a:solidFill>
            <a:round/>
            <a:headEnd type="none" w="med" len="med"/>
            <a:tailEnd type="none" w="med" len="med"/>
          </a:ln>
        </p:spPr>
      </p:cxnSp>
      <p:cxnSp>
        <p:nvCxnSpPr>
          <p:cNvPr id="13" name="source-diagram-dg9-16396">
            <a:extLst>
              <a:ext uri="{FF2B5EF4-FFF2-40B4-BE49-F238E27FC236}">
                <a16:creationId xmlns:a16="http://schemas.microsoft.com/office/drawing/2014/main" id="{3E51EC6A-C513-4A85-8117-69C6F370600F}"/>
              </a:ext>
            </a:extLst>
          </p:cNvPr>
          <p:cNvCxnSpPr/>
          <p:nvPr/>
        </p:nvCxnSpPr>
        <p:spPr>
          <a:xfrm flipH="1">
            <a:off x="3249799" y="2731026"/>
            <a:ext cx="405299" cy="534477"/>
          </a:xfrm>
          <a:prstGeom prst="straightConnector1">
            <a:avLst/>
          </a:prstGeom>
          <a:ln w="9525">
            <a:solidFill>
              <a:srgbClr val="142E42"/>
            </a:solidFill>
            <a:round/>
            <a:headEnd type="none" w="med" len="med"/>
            <a:tailEnd type="none" w="med" len="med"/>
          </a:ln>
        </p:spPr>
      </p:cxnSp>
      <p:cxnSp>
        <p:nvCxnSpPr>
          <p:cNvPr id="14" name="source-diagram-dg9-16397">
            <a:extLst>
              <a:ext uri="{FF2B5EF4-FFF2-40B4-BE49-F238E27FC236}">
                <a16:creationId xmlns:a16="http://schemas.microsoft.com/office/drawing/2014/main" id="{EDD1FB1C-7B4C-464C-9691-02E918577572}"/>
              </a:ext>
            </a:extLst>
          </p:cNvPr>
          <p:cNvCxnSpPr/>
          <p:nvPr/>
        </p:nvCxnSpPr>
        <p:spPr>
          <a:xfrm>
            <a:off x="3929604" y="2731026"/>
            <a:ext cx="405298" cy="534477"/>
          </a:xfrm>
          <a:prstGeom prst="straightConnector1">
            <a:avLst/>
          </a:prstGeom>
          <a:ln w="9525">
            <a:solidFill>
              <a:srgbClr val="142E42"/>
            </a:solidFill>
            <a:round/>
            <a:headEnd type="none" w="med" len="med"/>
            <a:tailEnd type="none" w="med" len="med"/>
          </a:ln>
        </p:spPr>
      </p:cxnSp>
      <p:cxnSp>
        <p:nvCxnSpPr>
          <p:cNvPr id="15" name="source-diagram-dg9-16398">
            <a:extLst>
              <a:ext uri="{FF2B5EF4-FFF2-40B4-BE49-F238E27FC236}">
                <a16:creationId xmlns:a16="http://schemas.microsoft.com/office/drawing/2014/main" id="{E8C3875D-B3A1-4E07-BE99-FDA0BE12700F}"/>
              </a:ext>
            </a:extLst>
          </p:cNvPr>
          <p:cNvCxnSpPr/>
          <p:nvPr/>
        </p:nvCxnSpPr>
        <p:spPr>
          <a:xfrm flipH="1">
            <a:off x="1079593" y="2731026"/>
            <a:ext cx="405299" cy="534477"/>
          </a:xfrm>
          <a:prstGeom prst="straightConnector1">
            <a:avLst/>
          </a:prstGeom>
          <a:ln w="9525">
            <a:solidFill>
              <a:srgbClr val="142E42"/>
            </a:solidFill>
            <a:round/>
            <a:headEnd type="none" w="med" len="med"/>
            <a:tailEnd type="none" w="med" len="med"/>
          </a:ln>
        </p:spPr>
      </p:cxnSp>
      <p:cxnSp>
        <p:nvCxnSpPr>
          <p:cNvPr id="16" name="source-diagram-dg9-16399">
            <a:extLst>
              <a:ext uri="{FF2B5EF4-FFF2-40B4-BE49-F238E27FC236}">
                <a16:creationId xmlns:a16="http://schemas.microsoft.com/office/drawing/2014/main" id="{A6F313BD-4E75-409E-8E23-60580FCCDC87}"/>
              </a:ext>
            </a:extLst>
          </p:cNvPr>
          <p:cNvCxnSpPr/>
          <p:nvPr/>
        </p:nvCxnSpPr>
        <p:spPr>
          <a:xfrm>
            <a:off x="1216846" y="3635278"/>
            <a:ext cx="134023" cy="534477"/>
          </a:xfrm>
          <a:prstGeom prst="straightConnector1">
            <a:avLst/>
          </a:prstGeom>
          <a:ln w="9525">
            <a:solidFill>
              <a:srgbClr val="142E42"/>
            </a:solidFill>
            <a:round/>
            <a:headEnd type="none" w="med" len="med"/>
            <a:tailEnd type="none" w="med" len="med"/>
          </a:ln>
        </p:spPr>
      </p:cxnSp>
      <p:sp>
        <p:nvSpPr>
          <p:cNvPr id="17" name="source-diagram-dg9-15376">
            <a:extLst>
              <a:ext uri="{FF2B5EF4-FFF2-40B4-BE49-F238E27FC236}">
                <a16:creationId xmlns:a16="http://schemas.microsoft.com/office/drawing/2014/main" id="{C2CE23FC-F308-4B39-8290-E61A1A2FC1AB}"/>
              </a:ext>
            </a:extLst>
          </p:cNvPr>
          <p:cNvSpPr>
            <a:spLocks noGrp="1"/>
          </p:cNvSpPr>
          <p:nvPr/>
        </p:nvSpPr>
        <p:spPr>
          <a:xfrm>
            <a:off x="5458759"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4</a:t>
            </a:r>
          </a:p>
        </p:txBody>
      </p:sp>
      <p:sp>
        <p:nvSpPr>
          <p:cNvPr id="18" name="source-diagram-dg9-15377">
            <a:extLst>
              <a:ext uri="{FF2B5EF4-FFF2-40B4-BE49-F238E27FC236}">
                <a16:creationId xmlns:a16="http://schemas.microsoft.com/office/drawing/2014/main" id="{D8522FE1-8466-4108-AB74-1AEABDC71505}"/>
              </a:ext>
            </a:extLst>
          </p:cNvPr>
          <p:cNvSpPr>
            <a:spLocks noGrp="1"/>
          </p:cNvSpPr>
          <p:nvPr/>
        </p:nvSpPr>
        <p:spPr>
          <a:xfrm>
            <a:off x="8442792"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18</a:t>
            </a:r>
          </a:p>
        </p:txBody>
      </p:sp>
      <p:sp>
        <p:nvSpPr>
          <p:cNvPr id="19" name="source-diagram-dg9-15378">
            <a:extLst>
              <a:ext uri="{FF2B5EF4-FFF2-40B4-BE49-F238E27FC236}">
                <a16:creationId xmlns:a16="http://schemas.microsoft.com/office/drawing/2014/main" id="{B9B4C003-495C-4563-9881-7A3C8716C283}"/>
              </a:ext>
            </a:extLst>
          </p:cNvPr>
          <p:cNvSpPr>
            <a:spLocks noGrp="1"/>
          </p:cNvSpPr>
          <p:nvPr/>
        </p:nvSpPr>
        <p:spPr>
          <a:xfrm>
            <a:off x="7357689"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10</a:t>
            </a:r>
          </a:p>
        </p:txBody>
      </p:sp>
      <p:sp>
        <p:nvSpPr>
          <p:cNvPr id="20" name="source-diagram-dg9-15379">
            <a:extLst>
              <a:ext uri="{FF2B5EF4-FFF2-40B4-BE49-F238E27FC236}">
                <a16:creationId xmlns:a16="http://schemas.microsoft.com/office/drawing/2014/main" id="{A8ED7D51-27AC-4B9B-A981-E3DC475D5238}"/>
              </a:ext>
            </a:extLst>
          </p:cNvPr>
          <p:cNvSpPr>
            <a:spLocks noGrp="1"/>
          </p:cNvSpPr>
          <p:nvPr/>
        </p:nvSpPr>
        <p:spPr>
          <a:xfrm>
            <a:off x="6272586"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6</a:t>
            </a:r>
          </a:p>
        </p:txBody>
      </p:sp>
      <p:sp>
        <p:nvSpPr>
          <p:cNvPr id="21" name="source-diagram-dg9-15380">
            <a:extLst>
              <a:ext uri="{FF2B5EF4-FFF2-40B4-BE49-F238E27FC236}">
                <a16:creationId xmlns:a16="http://schemas.microsoft.com/office/drawing/2014/main" id="{F05BB9A7-6E49-4849-982D-6A9CDE8AC034}"/>
              </a:ext>
            </a:extLst>
          </p:cNvPr>
          <p:cNvSpPr>
            <a:spLocks noGrp="1"/>
          </p:cNvSpPr>
          <p:nvPr/>
        </p:nvSpPr>
        <p:spPr>
          <a:xfrm>
            <a:off x="5187483" y="3284880"/>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a:t>
            </a:r>
          </a:p>
        </p:txBody>
      </p:sp>
      <p:sp>
        <p:nvSpPr>
          <p:cNvPr id="22" name="source-diagram-dg9-15381">
            <a:extLst>
              <a:ext uri="{FF2B5EF4-FFF2-40B4-BE49-F238E27FC236}">
                <a16:creationId xmlns:a16="http://schemas.microsoft.com/office/drawing/2014/main" id="{8A3B3F99-A152-49E8-B38F-AC5531660BF4}"/>
              </a:ext>
            </a:extLst>
          </p:cNvPr>
          <p:cNvSpPr>
            <a:spLocks noGrp="1"/>
          </p:cNvSpPr>
          <p:nvPr/>
        </p:nvSpPr>
        <p:spPr>
          <a:xfrm>
            <a:off x="7900240"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11</a:t>
            </a:r>
          </a:p>
        </p:txBody>
      </p:sp>
      <p:sp>
        <p:nvSpPr>
          <p:cNvPr id="23" name="source-diagram-dg9-15382">
            <a:extLst>
              <a:ext uri="{FF2B5EF4-FFF2-40B4-BE49-F238E27FC236}">
                <a16:creationId xmlns:a16="http://schemas.microsoft.com/office/drawing/2014/main" id="{E6AEDF8E-177F-492C-A5D5-1C85C8226FFE}"/>
              </a:ext>
            </a:extLst>
          </p:cNvPr>
          <p:cNvSpPr>
            <a:spLocks noGrp="1"/>
          </p:cNvSpPr>
          <p:nvPr/>
        </p:nvSpPr>
        <p:spPr>
          <a:xfrm>
            <a:off x="5730035" y="2380627"/>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5</a:t>
            </a:r>
          </a:p>
        </p:txBody>
      </p:sp>
      <p:sp>
        <p:nvSpPr>
          <p:cNvPr id="24" name="source-diagram-dg9-15383">
            <a:extLst>
              <a:ext uri="{FF2B5EF4-FFF2-40B4-BE49-F238E27FC236}">
                <a16:creationId xmlns:a16="http://schemas.microsoft.com/office/drawing/2014/main" id="{797E79B2-5568-42ED-A330-9FD54138172A}"/>
              </a:ext>
            </a:extLst>
          </p:cNvPr>
          <p:cNvSpPr>
            <a:spLocks noGrp="1"/>
          </p:cNvSpPr>
          <p:nvPr/>
        </p:nvSpPr>
        <p:spPr>
          <a:xfrm>
            <a:off x="6815138" y="147637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8</a:t>
            </a:r>
          </a:p>
        </p:txBody>
      </p:sp>
      <p:cxnSp>
        <p:nvCxnSpPr>
          <p:cNvPr id="25" name="source-diagram-dg9-15384">
            <a:extLst>
              <a:ext uri="{FF2B5EF4-FFF2-40B4-BE49-F238E27FC236}">
                <a16:creationId xmlns:a16="http://schemas.microsoft.com/office/drawing/2014/main" id="{FEDE83B8-1FD0-46A7-B3B7-DB65E9A7CB84}"/>
              </a:ext>
            </a:extLst>
          </p:cNvPr>
          <p:cNvCxnSpPr/>
          <p:nvPr/>
        </p:nvCxnSpPr>
        <p:spPr>
          <a:xfrm flipH="1">
            <a:off x="5923803" y="1826773"/>
            <a:ext cx="947851" cy="534477"/>
          </a:xfrm>
          <a:prstGeom prst="straightConnector1">
            <a:avLst/>
          </a:prstGeom>
          <a:ln w="9525">
            <a:solidFill>
              <a:srgbClr val="142E42"/>
            </a:solidFill>
            <a:round/>
            <a:headEnd type="none" w="med" len="med"/>
            <a:tailEnd type="none" w="med" len="med"/>
          </a:ln>
        </p:spPr>
      </p:cxnSp>
      <p:cxnSp>
        <p:nvCxnSpPr>
          <p:cNvPr id="26" name="source-diagram-dg9-15385">
            <a:extLst>
              <a:ext uri="{FF2B5EF4-FFF2-40B4-BE49-F238E27FC236}">
                <a16:creationId xmlns:a16="http://schemas.microsoft.com/office/drawing/2014/main" id="{11BF059F-D01B-49A5-91D5-14C4A9641D88}"/>
              </a:ext>
            </a:extLst>
          </p:cNvPr>
          <p:cNvCxnSpPr/>
          <p:nvPr/>
        </p:nvCxnSpPr>
        <p:spPr>
          <a:xfrm>
            <a:off x="7146159" y="1826773"/>
            <a:ext cx="947850" cy="534477"/>
          </a:xfrm>
          <a:prstGeom prst="straightConnector1">
            <a:avLst/>
          </a:prstGeom>
          <a:ln w="9525">
            <a:solidFill>
              <a:srgbClr val="142E42"/>
            </a:solidFill>
            <a:round/>
            <a:headEnd type="none" w="med" len="med"/>
            <a:tailEnd type="none" w="med" len="med"/>
          </a:ln>
        </p:spPr>
      </p:cxnSp>
      <p:cxnSp>
        <p:nvCxnSpPr>
          <p:cNvPr id="27" name="source-diagram-dg9-15386">
            <a:extLst>
              <a:ext uri="{FF2B5EF4-FFF2-40B4-BE49-F238E27FC236}">
                <a16:creationId xmlns:a16="http://schemas.microsoft.com/office/drawing/2014/main" id="{7404353E-A3DF-42B7-B58F-79EA6305688F}"/>
              </a:ext>
            </a:extLst>
          </p:cNvPr>
          <p:cNvCxnSpPr/>
          <p:nvPr/>
        </p:nvCxnSpPr>
        <p:spPr>
          <a:xfrm flipH="1">
            <a:off x="7551457" y="2731026"/>
            <a:ext cx="405299" cy="534477"/>
          </a:xfrm>
          <a:prstGeom prst="straightConnector1">
            <a:avLst/>
          </a:prstGeom>
          <a:ln w="9525">
            <a:solidFill>
              <a:srgbClr val="142E42"/>
            </a:solidFill>
            <a:round/>
            <a:headEnd type="none" w="med" len="med"/>
            <a:tailEnd type="none" w="med" len="med"/>
          </a:ln>
        </p:spPr>
      </p:cxnSp>
      <p:cxnSp>
        <p:nvCxnSpPr>
          <p:cNvPr id="28" name="source-diagram-dg9-15387">
            <a:extLst>
              <a:ext uri="{FF2B5EF4-FFF2-40B4-BE49-F238E27FC236}">
                <a16:creationId xmlns:a16="http://schemas.microsoft.com/office/drawing/2014/main" id="{AD3D65DE-9349-4222-A055-70EFECFDA208}"/>
              </a:ext>
            </a:extLst>
          </p:cNvPr>
          <p:cNvCxnSpPr/>
          <p:nvPr/>
        </p:nvCxnSpPr>
        <p:spPr>
          <a:xfrm>
            <a:off x="8231262" y="2731026"/>
            <a:ext cx="405298" cy="534477"/>
          </a:xfrm>
          <a:prstGeom prst="straightConnector1">
            <a:avLst/>
          </a:prstGeom>
          <a:ln w="9525">
            <a:solidFill>
              <a:srgbClr val="142E42"/>
            </a:solidFill>
            <a:round/>
            <a:headEnd type="none" w="med" len="med"/>
            <a:tailEnd type="none" w="med" len="med"/>
          </a:ln>
        </p:spPr>
      </p:cxnSp>
      <p:cxnSp>
        <p:nvCxnSpPr>
          <p:cNvPr id="29" name="source-diagram-dg9-15388">
            <a:extLst>
              <a:ext uri="{FF2B5EF4-FFF2-40B4-BE49-F238E27FC236}">
                <a16:creationId xmlns:a16="http://schemas.microsoft.com/office/drawing/2014/main" id="{59CA3216-3F09-4E1A-A961-B3243F0FC55B}"/>
              </a:ext>
            </a:extLst>
          </p:cNvPr>
          <p:cNvCxnSpPr/>
          <p:nvPr/>
        </p:nvCxnSpPr>
        <p:spPr>
          <a:xfrm flipH="1">
            <a:off x="5381251" y="2731026"/>
            <a:ext cx="405299" cy="534477"/>
          </a:xfrm>
          <a:prstGeom prst="straightConnector1">
            <a:avLst/>
          </a:prstGeom>
          <a:ln w="9525">
            <a:solidFill>
              <a:srgbClr val="142E42"/>
            </a:solidFill>
            <a:round/>
            <a:headEnd type="none" w="med" len="med"/>
            <a:tailEnd type="none" w="med" len="med"/>
          </a:ln>
        </p:spPr>
      </p:cxnSp>
      <p:cxnSp>
        <p:nvCxnSpPr>
          <p:cNvPr id="30" name="source-diagram-dg9-15389">
            <a:extLst>
              <a:ext uri="{FF2B5EF4-FFF2-40B4-BE49-F238E27FC236}">
                <a16:creationId xmlns:a16="http://schemas.microsoft.com/office/drawing/2014/main" id="{BC04D5B2-4F0B-4818-8AAB-3F52E935C245}"/>
              </a:ext>
            </a:extLst>
          </p:cNvPr>
          <p:cNvCxnSpPr/>
          <p:nvPr/>
        </p:nvCxnSpPr>
        <p:spPr>
          <a:xfrm>
            <a:off x="6061056" y="2731026"/>
            <a:ext cx="405298" cy="534477"/>
          </a:xfrm>
          <a:prstGeom prst="straightConnector1">
            <a:avLst/>
          </a:prstGeom>
          <a:ln w="9525">
            <a:solidFill>
              <a:srgbClr val="142E42"/>
            </a:solidFill>
            <a:round/>
            <a:headEnd type="none" w="med" len="med"/>
            <a:tailEnd type="none" w="med" len="med"/>
          </a:ln>
        </p:spPr>
      </p:cxnSp>
      <p:cxnSp>
        <p:nvCxnSpPr>
          <p:cNvPr id="31" name="source-diagram-dg9-15390">
            <a:extLst>
              <a:ext uri="{FF2B5EF4-FFF2-40B4-BE49-F238E27FC236}">
                <a16:creationId xmlns:a16="http://schemas.microsoft.com/office/drawing/2014/main" id="{76249423-013B-4C1B-9E3E-EA1D1FF52689}"/>
              </a:ext>
            </a:extLst>
          </p:cNvPr>
          <p:cNvCxnSpPr/>
          <p:nvPr/>
        </p:nvCxnSpPr>
        <p:spPr>
          <a:xfrm>
            <a:off x="5518505" y="3635278"/>
            <a:ext cx="134023" cy="534477"/>
          </a:xfrm>
          <a:prstGeom prst="straightConnector1">
            <a:avLst/>
          </a:prstGeom>
          <a:ln w="9525">
            <a:solidFill>
              <a:srgbClr val="142E42"/>
            </a:solidFill>
            <a:round/>
            <a:headEnd type="none" w="med" len="med"/>
            <a:tailEnd type="none" w="med" len="med"/>
          </a:ln>
        </p:spPr>
      </p:cxnSp>
      <p:sp>
        <p:nvSpPr>
          <p:cNvPr id="32" name="source-diagram-dg9-15391">
            <a:extLst>
              <a:ext uri="{FF2B5EF4-FFF2-40B4-BE49-F238E27FC236}">
                <a16:creationId xmlns:a16="http://schemas.microsoft.com/office/drawing/2014/main" id="{0DDE5B33-F834-49F0-AB6E-7AADC4C6ECE1}"/>
              </a:ext>
            </a:extLst>
          </p:cNvPr>
          <p:cNvSpPr>
            <a:spLocks noGrp="1"/>
          </p:cNvSpPr>
          <p:nvPr/>
        </p:nvSpPr>
        <p:spPr>
          <a:xfrm>
            <a:off x="8714068"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20</a:t>
            </a:r>
          </a:p>
        </p:txBody>
      </p:sp>
      <p:sp>
        <p:nvSpPr>
          <p:cNvPr id="33" name="source-diagram-dg9-15392">
            <a:extLst>
              <a:ext uri="{FF2B5EF4-FFF2-40B4-BE49-F238E27FC236}">
                <a16:creationId xmlns:a16="http://schemas.microsoft.com/office/drawing/2014/main" id="{B76520A3-0066-4E0F-9B51-FEA8D81B6E5F}"/>
              </a:ext>
            </a:extLst>
          </p:cNvPr>
          <p:cNvSpPr>
            <a:spLocks noGrp="1"/>
          </p:cNvSpPr>
          <p:nvPr/>
        </p:nvSpPr>
        <p:spPr>
          <a:xfrm>
            <a:off x="8481546" y="5041713"/>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21</a:t>
            </a:r>
          </a:p>
        </p:txBody>
      </p:sp>
      <p:cxnSp>
        <p:nvCxnSpPr>
          <p:cNvPr id="34" name="source-diagram-dg9-15393">
            <a:extLst>
              <a:ext uri="{FF2B5EF4-FFF2-40B4-BE49-F238E27FC236}">
                <a16:creationId xmlns:a16="http://schemas.microsoft.com/office/drawing/2014/main" id="{8E4B4105-AC2E-435F-8241-264D9C345E63}"/>
              </a:ext>
            </a:extLst>
          </p:cNvPr>
          <p:cNvCxnSpPr/>
          <p:nvPr/>
        </p:nvCxnSpPr>
        <p:spPr>
          <a:xfrm rot="5400000">
            <a:off x="8559053" y="4692930"/>
            <a:ext cx="465044" cy="232522"/>
          </a:xfrm>
          <a:prstGeom prst="straightConnector1">
            <a:avLst/>
          </a:prstGeom>
          <a:ln w="9525">
            <a:solidFill>
              <a:srgbClr val="142E42"/>
            </a:solidFill>
            <a:round/>
            <a:headEnd type="none" w="med" len="med"/>
            <a:tailEnd type="none" w="med" len="med"/>
          </a:ln>
        </p:spPr>
      </p:cxnSp>
      <p:cxnSp>
        <p:nvCxnSpPr>
          <p:cNvPr id="35" name="source-diagram-dg9-15394">
            <a:extLst>
              <a:ext uri="{FF2B5EF4-FFF2-40B4-BE49-F238E27FC236}">
                <a16:creationId xmlns:a16="http://schemas.microsoft.com/office/drawing/2014/main" id="{4CF8840E-328F-4D88-9F40-29B9513D5C49}"/>
              </a:ext>
            </a:extLst>
          </p:cNvPr>
          <p:cNvCxnSpPr/>
          <p:nvPr/>
        </p:nvCxnSpPr>
        <p:spPr>
          <a:xfrm>
            <a:off x="8773813" y="3635278"/>
            <a:ext cx="134023" cy="534477"/>
          </a:xfrm>
          <a:prstGeom prst="straightConnector1">
            <a:avLst/>
          </a:prstGeom>
          <a:ln w="9525">
            <a:solidFill>
              <a:srgbClr val="142E42"/>
            </a:solidFill>
            <a:round/>
            <a:headEnd type="none" w="med" len="med"/>
            <a:tailEnd type="none" w="med" len="med"/>
          </a:ln>
        </p:spPr>
      </p:cxnSp>
      <p:sp>
        <p:nvSpPr>
          <p:cNvPr id="36" name="source-diagram-dg9-15396">
            <a:extLst>
              <a:ext uri="{FF2B5EF4-FFF2-40B4-BE49-F238E27FC236}">
                <a16:creationId xmlns:a16="http://schemas.microsoft.com/office/drawing/2014/main" id="{AA9E3A47-FFFB-43AA-A7EF-32472561E756}"/>
              </a:ext>
            </a:extLst>
          </p:cNvPr>
          <p:cNvSpPr>
            <a:spLocks noGrp="1"/>
          </p:cNvSpPr>
          <p:nvPr/>
        </p:nvSpPr>
        <p:spPr>
          <a:xfrm>
            <a:off x="5728420" y="3286495"/>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7</a:t>
            </a:r>
          </a:p>
        </p:txBody>
      </p:sp>
      <p:cxnSp>
        <p:nvCxnSpPr>
          <p:cNvPr id="37" name="source-diagram-dg9-15397">
            <a:extLst>
              <a:ext uri="{FF2B5EF4-FFF2-40B4-BE49-F238E27FC236}">
                <a16:creationId xmlns:a16="http://schemas.microsoft.com/office/drawing/2014/main" id="{9E9BAA0E-ADD7-4A00-892D-752413DFE902}"/>
              </a:ext>
            </a:extLst>
          </p:cNvPr>
          <p:cNvCxnSpPr/>
          <p:nvPr/>
        </p:nvCxnSpPr>
        <p:spPr>
          <a:xfrm flipH="1">
            <a:off x="5922189" y="2787541"/>
            <a:ext cx="1614" cy="479577"/>
          </a:xfrm>
          <a:prstGeom prst="straightConnector1">
            <a:avLst/>
          </a:prstGeom>
          <a:ln w="9525">
            <a:solidFill>
              <a:srgbClr val="142E42"/>
            </a:solidFill>
            <a:round/>
            <a:headEnd type="none" w="med" len="med"/>
            <a:tailEnd type="none" w="med" len="med"/>
          </a:ln>
        </p:spPr>
      </p:cxnSp>
      <p:sp>
        <p:nvSpPr>
          <p:cNvPr id="38" name="source-diagram-dg9-15398">
            <a:extLst>
              <a:ext uri="{FF2B5EF4-FFF2-40B4-BE49-F238E27FC236}">
                <a16:creationId xmlns:a16="http://schemas.microsoft.com/office/drawing/2014/main" id="{942C3C4F-0F28-4CFB-9A12-72F49CC93E4B}"/>
              </a:ext>
            </a:extLst>
          </p:cNvPr>
          <p:cNvSpPr>
            <a:spLocks noGrp="1"/>
          </p:cNvSpPr>
          <p:nvPr/>
        </p:nvSpPr>
        <p:spPr>
          <a:xfrm>
            <a:off x="7628965" y="4189132"/>
            <a:ext cx="387537" cy="387537"/>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0" b="0">
                <a:solidFill>
                  <a:srgbClr val="142E42"/>
                </a:solidFill>
                <a:latin typeface="Arial"/>
                <a:ea typeface="Arial"/>
                <a:cs typeface="Arial"/>
              </a:rPr>
              <a:t>15</a:t>
            </a:r>
          </a:p>
        </p:txBody>
      </p:sp>
      <p:cxnSp>
        <p:nvCxnSpPr>
          <p:cNvPr id="39" name="source-diagram-dg9-15399">
            <a:extLst>
              <a:ext uri="{FF2B5EF4-FFF2-40B4-BE49-F238E27FC236}">
                <a16:creationId xmlns:a16="http://schemas.microsoft.com/office/drawing/2014/main" id="{76D5E5C0-B463-4586-AB6A-606BF192BF50}"/>
              </a:ext>
            </a:extLst>
          </p:cNvPr>
          <p:cNvCxnSpPr/>
          <p:nvPr/>
        </p:nvCxnSpPr>
        <p:spPr>
          <a:xfrm>
            <a:off x="7688710" y="3635278"/>
            <a:ext cx="134023" cy="534477"/>
          </a:xfrm>
          <a:prstGeom prst="straightConnector1">
            <a:avLst/>
          </a:prstGeom>
          <a:ln w="9525">
            <a:solidFill>
              <a:srgbClr val="142E42"/>
            </a:solidFill>
            <a:round/>
            <a:headEnd type="none" w="med" len="med"/>
            <a:tailEnd type="none" w="med" len="med"/>
          </a:ln>
        </p:spPr>
      </p:cxnSp>
      <p:sp>
        <p:nvSpPr>
          <p:cNvPr id="41" name="local-java-BSTPractice">
            <a:extLst>
              <a:ext uri="{FF2B5EF4-FFF2-40B4-BE49-F238E27FC236}">
                <a16:creationId xmlns:a16="http://schemas.microsoft.com/office/drawing/2014/main" id="{5E17E2A2-F8B6-443A-A40F-4E5D9AD42EFD}"/>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BSTPractice.java</a:t>
            </a:r>
          </a:p>
        </p:txBody>
      </p:sp>
      <p:sp>
        <p:nvSpPr>
          <p:cNvPr id="42" name="page">
            <a:extLst>
              <a:ext uri="{FF2B5EF4-FFF2-40B4-BE49-F238E27FC236}">
                <a16:creationId xmlns:a16="http://schemas.microsoft.com/office/drawing/2014/main" id="{055DFDB3-79F1-4789-8598-CFF91F687CA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12</a:t>
            </a:r>
          </a:p>
        </p:txBody>
      </p:sp>
    </p:spTree>
    <p:extLst>
      <p:ext uri="{BB962C8B-B14F-4D97-AF65-F5344CB8AC3E}">
        <p14:creationId xmlns:p14="http://schemas.microsoft.com/office/powerpoint/2010/main" val="879591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EEC2E8DE-A451-4025-95E8-027EEC2E8410}"/>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a local check can miss an error</a:t>
            </a:r>
          </a:p>
        </p:txBody>
      </p:sp>
      <p:sp>
        <p:nvSpPr>
          <p:cNvPr id="2" name="questions">
            <a:extLst>
              <a:ext uri="{FF2B5EF4-FFF2-40B4-BE49-F238E27FC236}">
                <a16:creationId xmlns:a16="http://schemas.microsoft.com/office/drawing/2014/main" id="{17FB2AD2-466C-4C7D-9170-CBE51AA6868B}"/>
              </a:ext>
            </a:extLst>
          </p:cNvPr>
          <p:cNvSpPr>
            <a:spLocks noGrp="1"/>
          </p:cNvSpPr>
          <p:nvPr/>
        </p:nvSpPr>
        <p:spPr>
          <a:xfrm>
            <a:off x="609600" y="1657350"/>
            <a:ext cx="6191250" cy="361950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Every left child is smaller than its parent.</a:t>
            </a:r>
          </a:p>
          <a:p>
            <a:pPr>
              <a:defRPr sz="2100" b="0">
                <a:solidFill>
                  <a:srgbClr val="153143"/>
                </a:solidFill>
                <a:latin typeface="Arial"/>
                <a:ea typeface="Arial"/>
                <a:cs typeface="Arial"/>
              </a:defRPr>
            </a:pPr>
            <a:r>
              <a:rPr sz="2100" b="0">
                <a:solidFill>
                  <a:srgbClr val="153143"/>
                </a:solidFill>
                <a:latin typeface="Arial"/>
                <a:ea typeface="Arial"/>
                <a:cs typeface="Arial"/>
              </a:rPr>
              <a:t>Every right child is larger than its parent.</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Does this drawing satisfy the BST rule?</a:t>
            </a:r>
          </a:p>
          <a:p>
            <a:pPr>
              <a:defRPr sz="2100" b="0">
                <a:solidFill>
                  <a:srgbClr val="153143"/>
                </a:solidFill>
                <a:latin typeface="Arial"/>
                <a:ea typeface="Arial"/>
                <a:cs typeface="Arial"/>
              </a:defRPr>
            </a:pPr>
            <a:r>
              <a:rPr sz="2100" b="0">
                <a:solidFill>
                  <a:srgbClr val="153143"/>
                </a:solidFill>
                <a:latin typeface="Arial"/>
                <a:ea typeface="Arial"/>
                <a:cs typeface="Arial"/>
              </a:rPr>
              <a:t>Which ancestor constrains key 25?</a:t>
            </a:r>
          </a:p>
          <a:p>
            <a:pPr>
              <a:defRPr sz="2100" b="0">
                <a:solidFill>
                  <a:srgbClr val="153143"/>
                </a:solidFill>
                <a:latin typeface="Arial"/>
                <a:ea typeface="Arial"/>
                <a:cs typeface="Arial"/>
              </a:defRPr>
            </a:pPr>
            <a:r>
              <a:rPr sz="2100" b="0">
                <a:solidFill>
                  <a:srgbClr val="153143"/>
                </a:solidFill>
                <a:latin typeface="Arial"/>
                <a:ea typeface="Arial"/>
                <a:cs typeface="Arial"/>
              </a:rPr>
              <a:t>What interval should contain that key?</a:t>
            </a:r>
          </a:p>
        </p:txBody>
      </p:sp>
      <p:sp>
        <p:nvSpPr>
          <p:cNvPr id="3" name="edge-0-1">
            <a:extLst>
              <a:ext uri="{FF2B5EF4-FFF2-40B4-BE49-F238E27FC236}">
                <a16:creationId xmlns:a16="http://schemas.microsoft.com/office/drawing/2014/main" id="{338C31F7-78DE-44B5-B430-5DA46B0C63D2}"/>
              </a:ext>
            </a:extLst>
          </p:cNvPr>
          <p:cNvSpPr>
            <a:spLocks noGrp="1"/>
          </p:cNvSpPr>
          <p:nvPr/>
        </p:nvSpPr>
        <p:spPr>
          <a:xfrm flipH="1">
            <a:off x="8367713" y="2190750"/>
            <a:ext cx="966788" cy="1309688"/>
          </a:xfrm>
          <a:prstGeom prst="line">
            <a:avLst/>
          </a:prstGeom>
          <a:noFill/>
          <a:ln w="16193">
            <a:solidFill>
              <a:srgbClr val="153143"/>
            </a:solidFill>
          </a:ln>
        </p:spPr>
      </p:sp>
      <p:sp>
        <p:nvSpPr>
          <p:cNvPr id="4" name="edge-0-2">
            <a:extLst>
              <a:ext uri="{FF2B5EF4-FFF2-40B4-BE49-F238E27FC236}">
                <a16:creationId xmlns:a16="http://schemas.microsoft.com/office/drawing/2014/main" id="{4C6795EE-3FF3-4D6B-961D-E81E2939DA91}"/>
              </a:ext>
            </a:extLst>
          </p:cNvPr>
          <p:cNvSpPr>
            <a:spLocks noGrp="1"/>
          </p:cNvSpPr>
          <p:nvPr/>
        </p:nvSpPr>
        <p:spPr>
          <a:xfrm>
            <a:off x="9334500" y="2190750"/>
            <a:ext cx="966788" cy="1309688"/>
          </a:xfrm>
          <a:prstGeom prst="line">
            <a:avLst/>
          </a:prstGeom>
          <a:noFill/>
          <a:ln w="16193">
            <a:solidFill>
              <a:srgbClr val="153143"/>
            </a:solidFill>
          </a:ln>
        </p:spPr>
      </p:sp>
      <p:sp>
        <p:nvSpPr>
          <p:cNvPr id="5" name="edge-1-3">
            <a:extLst>
              <a:ext uri="{FF2B5EF4-FFF2-40B4-BE49-F238E27FC236}">
                <a16:creationId xmlns:a16="http://schemas.microsoft.com/office/drawing/2014/main" id="{101F9425-49F2-4B6C-A4C1-AF5B097EF52A}"/>
              </a:ext>
            </a:extLst>
          </p:cNvPr>
          <p:cNvSpPr>
            <a:spLocks noGrp="1"/>
          </p:cNvSpPr>
          <p:nvPr/>
        </p:nvSpPr>
        <p:spPr>
          <a:xfrm>
            <a:off x="8367713" y="3500438"/>
            <a:ext cx="690563" cy="1309688"/>
          </a:xfrm>
          <a:prstGeom prst="line">
            <a:avLst/>
          </a:prstGeom>
          <a:noFill/>
          <a:ln w="16193">
            <a:solidFill>
              <a:srgbClr val="153143"/>
            </a:solidFill>
          </a:ln>
        </p:spPr>
      </p:sp>
      <p:sp>
        <p:nvSpPr>
          <p:cNvPr id="6" name="node-20">
            <a:extLst>
              <a:ext uri="{FF2B5EF4-FFF2-40B4-BE49-F238E27FC236}">
                <a16:creationId xmlns:a16="http://schemas.microsoft.com/office/drawing/2014/main" id="{6FCA7DBD-58A1-4EB1-B394-09A040B3036F}"/>
              </a:ext>
            </a:extLst>
          </p:cNvPr>
          <p:cNvSpPr>
            <a:spLocks noGrp="1"/>
          </p:cNvSpPr>
          <p:nvPr/>
        </p:nvSpPr>
        <p:spPr>
          <a:xfrm>
            <a:off x="9115425" y="1971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20</a:t>
            </a:r>
          </a:p>
        </p:txBody>
      </p:sp>
      <p:sp>
        <p:nvSpPr>
          <p:cNvPr id="7" name="node-10">
            <a:extLst>
              <a:ext uri="{FF2B5EF4-FFF2-40B4-BE49-F238E27FC236}">
                <a16:creationId xmlns:a16="http://schemas.microsoft.com/office/drawing/2014/main" id="{50ED98BC-0A5F-4F15-85A7-95B8BA94579C}"/>
              </a:ext>
            </a:extLst>
          </p:cNvPr>
          <p:cNvSpPr>
            <a:spLocks noGrp="1"/>
          </p:cNvSpPr>
          <p:nvPr/>
        </p:nvSpPr>
        <p:spPr>
          <a:xfrm>
            <a:off x="8148638" y="3281363"/>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10</a:t>
            </a:r>
          </a:p>
        </p:txBody>
      </p:sp>
      <p:sp>
        <p:nvSpPr>
          <p:cNvPr id="8" name="node-30">
            <a:extLst>
              <a:ext uri="{FF2B5EF4-FFF2-40B4-BE49-F238E27FC236}">
                <a16:creationId xmlns:a16="http://schemas.microsoft.com/office/drawing/2014/main" id="{D52854F9-CDB6-432F-8664-4AAA931B681E}"/>
              </a:ext>
            </a:extLst>
          </p:cNvPr>
          <p:cNvSpPr>
            <a:spLocks noGrp="1"/>
          </p:cNvSpPr>
          <p:nvPr/>
        </p:nvSpPr>
        <p:spPr>
          <a:xfrm>
            <a:off x="10082213" y="3281363"/>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30</a:t>
            </a:r>
          </a:p>
        </p:txBody>
      </p:sp>
      <p:sp>
        <p:nvSpPr>
          <p:cNvPr id="9" name="node-25">
            <a:extLst>
              <a:ext uri="{FF2B5EF4-FFF2-40B4-BE49-F238E27FC236}">
                <a16:creationId xmlns:a16="http://schemas.microsoft.com/office/drawing/2014/main" id="{11A1F867-70D2-4D89-AA12-E29C1CB841C3}"/>
              </a:ext>
            </a:extLst>
          </p:cNvPr>
          <p:cNvSpPr>
            <a:spLocks noGrp="1"/>
          </p:cNvSpPr>
          <p:nvPr/>
        </p:nvSpPr>
        <p:spPr>
          <a:xfrm>
            <a:off x="8839200" y="4591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25</a:t>
            </a:r>
          </a:p>
        </p:txBody>
      </p:sp>
      <p:sp>
        <p:nvSpPr>
          <p:cNvPr id="10" name="activity-cue">
            <a:extLst>
              <a:ext uri="{FF2B5EF4-FFF2-40B4-BE49-F238E27FC236}">
                <a16:creationId xmlns:a16="http://schemas.microsoft.com/office/drawing/2014/main" id="{3E75D962-2EF7-4CE6-906E-1CE52820FDB8}"/>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Explain the violation using a lower and an upper bound. 2 minutes</a:t>
            </a:r>
          </a:p>
        </p:txBody>
      </p:sp>
      <p:sp>
        <p:nvSpPr>
          <p:cNvPr id="11" name="local-java-BSTPractice">
            <a:extLst>
              <a:ext uri="{FF2B5EF4-FFF2-40B4-BE49-F238E27FC236}">
                <a16:creationId xmlns:a16="http://schemas.microsoft.com/office/drawing/2014/main" id="{FA63CEF9-4EC5-426A-BC5E-5943E7329584}"/>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BSTPractice.java</a:t>
            </a:r>
          </a:p>
        </p:txBody>
      </p:sp>
      <p:sp>
        <p:nvSpPr>
          <p:cNvPr id="12" name="page">
            <a:extLst>
              <a:ext uri="{FF2B5EF4-FFF2-40B4-BE49-F238E27FC236}">
                <a16:creationId xmlns:a16="http://schemas.microsoft.com/office/drawing/2014/main" id="{6DDB1A54-5EBB-4526-9CE9-9490C6468A31}"/>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13</a:t>
            </a:r>
          </a:p>
        </p:txBody>
      </p:sp>
    </p:spTree>
    <p:extLst>
      <p:ext uri="{BB962C8B-B14F-4D97-AF65-F5344CB8AC3E}">
        <p14:creationId xmlns:p14="http://schemas.microsoft.com/office/powerpoint/2010/main" val="1327186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04166CE0-4F2C-4757-93AB-F1DE7D92796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A linked representation in Java</a:t>
            </a:r>
          </a:p>
        </p:txBody>
      </p:sp>
      <p:sp>
        <p:nvSpPr>
          <p:cNvPr id="3" name="text-2">
            <a:extLst>
              <a:ext uri="{FF2B5EF4-FFF2-40B4-BE49-F238E27FC236}">
                <a16:creationId xmlns:a16="http://schemas.microsoft.com/office/drawing/2014/main" id="{2E86A904-A9F5-4897-9BB0-7BE80DF4546E}"/>
              </a:ext>
            </a:extLst>
          </p:cNvPr>
          <p:cNvSpPr>
            <a:spLocks noGrp="1"/>
          </p:cNvSpPr>
          <p:nvPr/>
        </p:nvSpPr>
        <p:spPr>
          <a:xfrm>
            <a:off x="609600" y="1571625"/>
            <a:ext cx="10858500" cy="4000500"/>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buNone/>
              <a:defRPr sz="2025" b="0">
                <a:solidFill>
                  <a:srgbClr val="142E42"/>
                </a:solidFill>
                <a:latin typeface="Consolas"/>
                <a:ea typeface="Consolas"/>
                <a:cs typeface="Consolas"/>
              </a:defRPr>
            </a:lvl1pPr>
            <a:lvl2pPr algn="l">
              <a:buNone/>
              <a:defRPr sz="2025" b="0">
                <a:solidFill>
                  <a:srgbClr val="142E42"/>
                </a:solidFill>
                <a:latin typeface="Consolas"/>
                <a:ea typeface="Consolas"/>
                <a:cs typeface="Consolas"/>
              </a:defRPr>
            </a:lvl2pPr>
            <a:lvl3pPr algn="l">
              <a:buNone/>
              <a:defRPr sz="2025" b="0">
                <a:solidFill>
                  <a:srgbClr val="142E42"/>
                </a:solidFill>
                <a:latin typeface="Consolas"/>
                <a:ea typeface="Consolas"/>
                <a:cs typeface="Consolas"/>
              </a:defRPr>
            </a:lvl3pPr>
            <a:lvl4pPr algn="l">
              <a:buNone/>
              <a:defRPr sz="2025" b="0">
                <a:solidFill>
                  <a:srgbClr val="142E42"/>
                </a:solidFill>
                <a:latin typeface="Consolas"/>
                <a:ea typeface="Consolas"/>
                <a:cs typeface="Consolas"/>
              </a:defRPr>
            </a:lvl4pPr>
            <a:lvl5pPr algn="l">
              <a:buNone/>
              <a:defRPr sz="2025" b="0">
                <a:solidFill>
                  <a:srgbClr val="142E42"/>
                </a:solidFill>
                <a:latin typeface="Consolas"/>
                <a:ea typeface="Consolas"/>
                <a:cs typeface="Consolas"/>
              </a:defRPr>
            </a:lvl5pPr>
            <a:lvl6pPr algn="l">
              <a:buNone/>
              <a:defRPr sz="2025" b="0">
                <a:solidFill>
                  <a:srgbClr val="142E42"/>
                </a:solidFill>
                <a:latin typeface="Consolas"/>
                <a:ea typeface="Consolas"/>
                <a:cs typeface="Consolas"/>
              </a:defRPr>
            </a:lvl6pPr>
            <a:lvl7pPr algn="l">
              <a:buNone/>
              <a:defRPr sz="2025" b="0">
                <a:solidFill>
                  <a:srgbClr val="142E42"/>
                </a:solidFill>
                <a:latin typeface="Consolas"/>
                <a:ea typeface="Consolas"/>
                <a:cs typeface="Consolas"/>
              </a:defRPr>
            </a:lvl7pPr>
            <a:lvl8pPr algn="l">
              <a:buNone/>
              <a:defRPr sz="2025" b="0">
                <a:solidFill>
                  <a:srgbClr val="142E42"/>
                </a:solidFill>
                <a:latin typeface="Consolas"/>
                <a:ea typeface="Consolas"/>
                <a:cs typeface="Consolas"/>
              </a:defRPr>
            </a:lvl8pPr>
            <a:lvl9pPr algn="l">
              <a:buNone/>
              <a:defRPr sz="2025" b="0">
                <a:solidFill>
                  <a:srgbClr val="142E42"/>
                </a:solidFill>
                <a:latin typeface="Consolas"/>
                <a:ea typeface="Consolas"/>
                <a:cs typeface="Consolas"/>
              </a:defRPr>
            </a:lvl9pPr>
          </a:lstStyle>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class Node&lt;E&gt;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E key;</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Node&lt;E&gt; left, right;</a:t>
            </a:r>
          </a:p>
          <a:p>
            <a:endParaRPr sz="2025" b="0">
              <a:solidFill>
                <a:srgbClr val="142E42"/>
              </a:solidFill>
              <a:latin typeface="Consolas"/>
              <a:ea typeface="Consolas"/>
              <a:cs typeface="Consolas"/>
            </a:endParaRP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Node(E key) { this.key = key;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a:p>
            <a:endParaRPr sz="2025" b="0">
              <a:solidFill>
                <a:srgbClr val="142E42"/>
              </a:solidFill>
              <a:latin typeface="Consolas"/>
              <a:ea typeface="Consolas"/>
              <a:cs typeface="Consolas"/>
            </a:endParaRP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class BST&lt;E extends Comparable&lt;? super E&gt;&gt;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private Node&lt;E&gt; root;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private int size;</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 Methods follow.</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77258C3-D891-4D84-A950-0148CC785E88}"/>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 missing child uses null. The tree stores a root reference and a size.</a:t>
            </a:r>
          </a:p>
        </p:txBody>
      </p:sp>
      <p:sp>
        <p:nvSpPr>
          <p:cNvPr id="6" name="local-java-Node">
            <a:extLst>
              <a:ext uri="{FF2B5EF4-FFF2-40B4-BE49-F238E27FC236}">
                <a16:creationId xmlns:a16="http://schemas.microsoft.com/office/drawing/2014/main" id="{4FB3D608-A5C7-4688-9812-8F6D10CA7826}"/>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Node.java</a:t>
            </a:r>
          </a:p>
        </p:txBody>
      </p:sp>
      <p:sp>
        <p:nvSpPr>
          <p:cNvPr id="7" name="local-java-BST">
            <a:extLst>
              <a:ext uri="{FF2B5EF4-FFF2-40B4-BE49-F238E27FC236}">
                <a16:creationId xmlns:a16="http://schemas.microsoft.com/office/drawing/2014/main" id="{0C80A357-6AD6-4067-9A74-E650BF9AF8A1}"/>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BinarySearchTree.java</a:t>
            </a:r>
          </a:p>
        </p:txBody>
      </p:sp>
      <p:sp>
        <p:nvSpPr>
          <p:cNvPr id="8" name="page">
            <a:extLst>
              <a:ext uri="{FF2B5EF4-FFF2-40B4-BE49-F238E27FC236}">
                <a16:creationId xmlns:a16="http://schemas.microsoft.com/office/drawing/2014/main" id="{0AE1685E-BFA8-4460-9E38-63FF57C0EFCB}"/>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14</a:t>
            </a:r>
          </a:p>
        </p:txBody>
      </p:sp>
    </p:spTree>
    <p:extLst>
      <p:ext uri="{BB962C8B-B14F-4D97-AF65-F5344CB8AC3E}">
        <p14:creationId xmlns:p14="http://schemas.microsoft.com/office/powerpoint/2010/main" val="783138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34662D4B-6E32-49D3-A345-143F811B9C8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The Tree interface and BST implementation</a:t>
            </a:r>
          </a:p>
        </p:txBody>
      </p:sp>
      <p:sp>
        <p:nvSpPr>
          <p:cNvPr id="3" name="text-2">
            <a:extLst>
              <a:ext uri="{FF2B5EF4-FFF2-40B4-BE49-F238E27FC236}">
                <a16:creationId xmlns:a16="http://schemas.microsoft.com/office/drawing/2014/main" id="{51FD83D8-0A49-4494-9F6B-7092B15BBF9D}"/>
              </a:ext>
            </a:extLst>
          </p:cNvPr>
          <p:cNvSpPr>
            <a:spLocks noGrp="1"/>
          </p:cNvSpPr>
          <p:nvPr/>
        </p:nvSpPr>
        <p:spPr>
          <a:xfrm>
            <a:off x="609600" y="1571625"/>
            <a:ext cx="10858500" cy="2381250"/>
          </a:xfrm>
          <a:prstGeom prst="rect">
            <a:avLst/>
          </a:prstGeom>
          <a:noFill/>
          <a:ln w="0">
            <a:noFill/>
          </a:ln>
        </p:spPr>
        <p:txBody>
          <a:bodyPr lIns="0" tIns="0" rIns="0" bIns="0" anchor="t"/>
          <a:lstStyle>
            <a:defPPr algn="l">
              <a:defRPr sz="2175" b="0">
                <a:solidFill>
                  <a:srgbClr val="142E42"/>
                </a:solidFill>
                <a:latin typeface="Consolas"/>
                <a:ea typeface="Consolas"/>
                <a:cs typeface="Consolas"/>
              </a:defRPr>
            </a:defPPr>
            <a:lvl1pPr algn="l">
              <a:buNone/>
              <a:defRPr sz="2175" b="0">
                <a:solidFill>
                  <a:srgbClr val="142E42"/>
                </a:solidFill>
                <a:latin typeface="Consolas"/>
                <a:ea typeface="Consolas"/>
                <a:cs typeface="Consolas"/>
              </a:defRPr>
            </a:lvl1pPr>
            <a:lvl2pPr algn="l">
              <a:buNone/>
              <a:defRPr sz="2175" b="0">
                <a:solidFill>
                  <a:srgbClr val="142E42"/>
                </a:solidFill>
                <a:latin typeface="Consolas"/>
                <a:ea typeface="Consolas"/>
                <a:cs typeface="Consolas"/>
              </a:defRPr>
            </a:lvl2pPr>
            <a:lvl3pPr algn="l">
              <a:buNone/>
              <a:defRPr sz="2175" b="0">
                <a:solidFill>
                  <a:srgbClr val="142E42"/>
                </a:solidFill>
                <a:latin typeface="Consolas"/>
                <a:ea typeface="Consolas"/>
                <a:cs typeface="Consolas"/>
              </a:defRPr>
            </a:lvl3pPr>
            <a:lvl4pPr algn="l">
              <a:buNone/>
              <a:defRPr sz="2175" b="0">
                <a:solidFill>
                  <a:srgbClr val="142E42"/>
                </a:solidFill>
                <a:latin typeface="Consolas"/>
                <a:ea typeface="Consolas"/>
                <a:cs typeface="Consolas"/>
              </a:defRPr>
            </a:lvl4pPr>
            <a:lvl5pPr algn="l">
              <a:buNone/>
              <a:defRPr sz="2175" b="0">
                <a:solidFill>
                  <a:srgbClr val="142E42"/>
                </a:solidFill>
                <a:latin typeface="Consolas"/>
                <a:ea typeface="Consolas"/>
                <a:cs typeface="Consolas"/>
              </a:defRPr>
            </a:lvl5pPr>
            <a:lvl6pPr algn="l">
              <a:buNone/>
              <a:defRPr sz="2175" b="0">
                <a:solidFill>
                  <a:srgbClr val="142E42"/>
                </a:solidFill>
                <a:latin typeface="Consolas"/>
                <a:ea typeface="Consolas"/>
                <a:cs typeface="Consolas"/>
              </a:defRPr>
            </a:lvl6pPr>
            <a:lvl7pPr algn="l">
              <a:buNone/>
              <a:defRPr sz="2175" b="0">
                <a:solidFill>
                  <a:srgbClr val="142E42"/>
                </a:solidFill>
                <a:latin typeface="Consolas"/>
                <a:ea typeface="Consolas"/>
                <a:cs typeface="Consolas"/>
              </a:defRPr>
            </a:lvl7pPr>
            <a:lvl8pPr algn="l">
              <a:buNone/>
              <a:defRPr sz="2175" b="0">
                <a:solidFill>
                  <a:srgbClr val="142E42"/>
                </a:solidFill>
                <a:latin typeface="Consolas"/>
                <a:ea typeface="Consolas"/>
                <a:cs typeface="Consolas"/>
              </a:defRPr>
            </a:lvl8pPr>
            <a:lvl9pPr algn="l">
              <a:buNone/>
              <a:defRPr sz="2175" b="0">
                <a:solidFill>
                  <a:srgbClr val="142E42"/>
                </a:solidFill>
                <a:latin typeface="Consolas"/>
                <a:ea typeface="Consolas"/>
                <a:cs typeface="Consolas"/>
              </a:defRPr>
            </a:lvl9pPr>
          </a:lstStyle>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interface Tree&lt;E&gt; extends Iterable&lt;E&gt; {</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contains(E key);</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insert(E key);</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boolean delete(E key);</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int size();</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B468EB03-EFEF-4B81-AEF1-677352E50AD4}"/>
              </a:ext>
            </a:extLst>
          </p:cNvPr>
          <p:cNvSpPr>
            <a:spLocks noGrp="1"/>
          </p:cNvSpPr>
          <p:nvPr/>
        </p:nvSpPr>
        <p:spPr>
          <a:xfrm>
            <a:off x="609600" y="4333875"/>
            <a:ext cx="10668000" cy="13335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BST&lt;E&gt; implements Tree&lt;E&gt;.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insert returns false for a duplicate key.</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delete returns false when the key is absent.</a:t>
            </a:r>
          </a:p>
        </p:txBody>
      </p:sp>
      <p:sp>
        <p:nvSpPr>
          <p:cNvPr id="5" name="text-4">
            <a:extLst>
              <a:ext uri="{FF2B5EF4-FFF2-40B4-BE49-F238E27FC236}">
                <a16:creationId xmlns:a16="http://schemas.microsoft.com/office/drawing/2014/main" id="{2BF933E3-3AA1-4139-A5E4-75CDE6DADF5D}"/>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Use compareTo consistently for less than, greater than, and equality.</a:t>
            </a:r>
          </a:p>
        </p:txBody>
      </p:sp>
      <p:sp>
        <p:nvSpPr>
          <p:cNvPr id="7" name="local-java-Tree">
            <a:extLst>
              <a:ext uri="{FF2B5EF4-FFF2-40B4-BE49-F238E27FC236}">
                <a16:creationId xmlns:a16="http://schemas.microsoft.com/office/drawing/2014/main" id="{9C24CCDE-5E90-4394-AA30-DDD437B269D7}"/>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Tree.java</a:t>
            </a:r>
          </a:p>
        </p:txBody>
      </p:sp>
      <p:sp>
        <p:nvSpPr>
          <p:cNvPr id="8" name="local-java-OrderingEqualityDemo">
            <a:extLst>
              <a:ext uri="{FF2B5EF4-FFF2-40B4-BE49-F238E27FC236}">
                <a16:creationId xmlns:a16="http://schemas.microsoft.com/office/drawing/2014/main" id="{DAAB4C6A-C080-4C54-BCAC-F9960E280666}"/>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OrderingEqualityDemo.java</a:t>
            </a:r>
          </a:p>
        </p:txBody>
      </p:sp>
      <p:sp>
        <p:nvSpPr>
          <p:cNvPr id="9" name="page">
            <a:extLst>
              <a:ext uri="{FF2B5EF4-FFF2-40B4-BE49-F238E27FC236}">
                <a16:creationId xmlns:a16="http://schemas.microsoft.com/office/drawing/2014/main" id="{88A61A83-23E8-4009-8B6C-2052F52DD92B}"/>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15</a:t>
            </a:r>
          </a:p>
        </p:txBody>
      </p:sp>
    </p:spTree>
    <p:extLst>
      <p:ext uri="{BB962C8B-B14F-4D97-AF65-F5344CB8AC3E}">
        <p14:creationId xmlns:p14="http://schemas.microsoft.com/office/powerpoint/2010/main" val="342007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48402E2F-A1C5-4F38-A393-4AA77AACF6D5}"/>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what counts as a duplicate?</a:t>
            </a:r>
          </a:p>
        </p:txBody>
      </p:sp>
      <p:sp>
        <p:nvSpPr>
          <p:cNvPr id="2" name="code">
            <a:extLst>
              <a:ext uri="{FF2B5EF4-FFF2-40B4-BE49-F238E27FC236}">
                <a16:creationId xmlns:a16="http://schemas.microsoft.com/office/drawing/2014/main" id="{CA500A43-0368-487C-8F6E-C1DC3AB17EC6}"/>
              </a:ext>
            </a:extLst>
          </p:cNvPr>
          <p:cNvSpPr>
            <a:spLocks noGrp="1"/>
          </p:cNvSpPr>
          <p:nvPr/>
        </p:nvSpPr>
        <p:spPr>
          <a:xfrm>
            <a:off x="609600" y="1571625"/>
            <a:ext cx="10972800" cy="1428750"/>
          </a:xfrm>
          <a:prstGeom prst="rect">
            <a:avLst/>
          </a:prstGeom>
          <a:noFill/>
          <a:ln w="0">
            <a:noFill/>
          </a:ln>
        </p:spPr>
        <p:txBody>
          <a:bodyPr lIns="0" tIns="0" rIns="0" bIns="0"/>
          <a:lstStyle>
            <a:defPPr>
              <a:defRPr sz="1950" b="0">
                <a:solidFill>
                  <a:srgbClr val="153143"/>
                </a:solidFill>
                <a:latin typeface="Consolas"/>
                <a:ea typeface="Consolas"/>
                <a:cs typeface="Consolas"/>
              </a:defRPr>
            </a:defPPr>
            <a:lvl1pPr>
              <a:defRPr sz="1950" b="0">
                <a:solidFill>
                  <a:srgbClr val="153143"/>
                </a:solidFill>
                <a:latin typeface="Consolas"/>
                <a:ea typeface="Consolas"/>
                <a:cs typeface="Consolas"/>
              </a:defRPr>
            </a:lvl1pPr>
            <a:lvl2pPr>
              <a:defRPr sz="1950" b="0">
                <a:solidFill>
                  <a:srgbClr val="153143"/>
                </a:solidFill>
                <a:latin typeface="Consolas"/>
                <a:ea typeface="Consolas"/>
                <a:cs typeface="Consolas"/>
              </a:defRPr>
            </a:lvl2pPr>
            <a:lvl3pPr>
              <a:defRPr sz="1950" b="0">
                <a:solidFill>
                  <a:srgbClr val="153143"/>
                </a:solidFill>
                <a:latin typeface="Consolas"/>
                <a:ea typeface="Consolas"/>
                <a:cs typeface="Consolas"/>
              </a:defRPr>
            </a:lvl3pPr>
            <a:lvl4pPr>
              <a:defRPr sz="1950" b="0">
                <a:solidFill>
                  <a:srgbClr val="153143"/>
                </a:solidFill>
                <a:latin typeface="Consolas"/>
                <a:ea typeface="Consolas"/>
                <a:cs typeface="Consolas"/>
              </a:defRPr>
            </a:lvl4pPr>
            <a:lvl5pPr>
              <a:defRPr sz="1950" b="0">
                <a:solidFill>
                  <a:srgbClr val="153143"/>
                </a:solidFill>
                <a:latin typeface="Consolas"/>
                <a:ea typeface="Consolas"/>
                <a:cs typeface="Consolas"/>
              </a:defRPr>
            </a:lvl5pPr>
            <a:lvl6pPr>
              <a:defRPr sz="1950" b="0">
                <a:solidFill>
                  <a:srgbClr val="153143"/>
                </a:solidFill>
                <a:latin typeface="Consolas"/>
                <a:ea typeface="Consolas"/>
                <a:cs typeface="Consolas"/>
              </a:defRPr>
            </a:lvl6pPr>
            <a:lvl7pPr>
              <a:defRPr sz="1950" b="0">
                <a:solidFill>
                  <a:srgbClr val="153143"/>
                </a:solidFill>
                <a:latin typeface="Consolas"/>
                <a:ea typeface="Consolas"/>
                <a:cs typeface="Consolas"/>
              </a:defRPr>
            </a:lvl7pPr>
            <a:lvl8pPr>
              <a:defRPr sz="1950" b="0">
                <a:solidFill>
                  <a:srgbClr val="153143"/>
                </a:solidFill>
                <a:latin typeface="Consolas"/>
                <a:ea typeface="Consolas"/>
                <a:cs typeface="Consolas"/>
              </a:defRPr>
            </a:lvl8pPr>
            <a:lvl9pPr>
              <a:defRPr sz="1950" b="0">
                <a:solidFill>
                  <a:srgbClr val="153143"/>
                </a:solidFill>
                <a:latin typeface="Consolas"/>
                <a:ea typeface="Consolas"/>
                <a:cs typeface="Consolas"/>
              </a:defRPr>
            </a:lvl9pPr>
          </a:lstStyle>
          <a:p>
            <a:pPr>
              <a:defRPr sz="1950" b="0">
                <a:solidFill>
                  <a:srgbClr val="153143"/>
                </a:solidFill>
                <a:latin typeface="Consolas"/>
                <a:ea typeface="Consolas"/>
                <a:cs typeface="Consolas"/>
              </a:defRPr>
            </a:pPr>
            <a:r>
              <a:rPr sz="1950" b="0">
                <a:solidFill>
                  <a:srgbClr val="153143"/>
                </a:solidFill>
                <a:latin typeface="Consolas"/>
                <a:ea typeface="Consolas"/>
                <a:cs typeface="Consolas"/>
              </a:rPr>
              <a:t>BST&lt;BigDecimal&gt; t = new BST&lt;&gt;();</a:t>
            </a:r>
          </a:p>
          <a:p>
            <a:pPr>
              <a:defRPr sz="1950" b="0">
                <a:solidFill>
                  <a:srgbClr val="153143"/>
                </a:solidFill>
                <a:latin typeface="Consolas"/>
                <a:ea typeface="Consolas"/>
                <a:cs typeface="Consolas"/>
              </a:defRPr>
            </a:pPr>
            <a:r>
              <a:rPr sz="1950" b="0">
                <a:solidFill>
                  <a:srgbClr val="153143"/>
                </a:solidFill>
                <a:latin typeface="Consolas"/>
                <a:ea typeface="Consolas"/>
                <a:cs typeface="Consolas"/>
              </a:rPr>
              <a:t>boolean a = t.insert(new BigDecimal("1.0"));</a:t>
            </a:r>
          </a:p>
          <a:p>
            <a:pPr>
              <a:defRPr sz="1950" b="0">
                <a:solidFill>
                  <a:srgbClr val="153143"/>
                </a:solidFill>
                <a:latin typeface="Consolas"/>
                <a:ea typeface="Consolas"/>
                <a:cs typeface="Consolas"/>
              </a:defRPr>
            </a:pPr>
            <a:r>
              <a:rPr sz="1950" b="0">
                <a:solidFill>
                  <a:srgbClr val="153143"/>
                </a:solidFill>
                <a:latin typeface="Consolas"/>
                <a:ea typeface="Consolas"/>
                <a:cs typeface="Consolas"/>
              </a:rPr>
              <a:t>boolean b = t.insert(new BigDecimal("1.00"));</a:t>
            </a:r>
          </a:p>
          <a:p>
            <a:pPr>
              <a:defRPr sz="1950" b="0">
                <a:solidFill>
                  <a:srgbClr val="153143"/>
                </a:solidFill>
                <a:latin typeface="Consolas"/>
                <a:ea typeface="Consolas"/>
                <a:cs typeface="Consolas"/>
              </a:defRPr>
            </a:pPr>
            <a:r>
              <a:rPr sz="1950" b="0">
                <a:solidFill>
                  <a:srgbClr val="153143"/>
                </a:solidFill>
                <a:latin typeface="Consolas"/>
                <a:ea typeface="Consolas"/>
                <a:cs typeface="Consolas"/>
              </a:rPr>
              <a:t>int n = t.size();</a:t>
            </a:r>
          </a:p>
        </p:txBody>
      </p:sp>
      <p:sp>
        <p:nvSpPr>
          <p:cNvPr id="3" name="questions">
            <a:extLst>
              <a:ext uri="{FF2B5EF4-FFF2-40B4-BE49-F238E27FC236}">
                <a16:creationId xmlns:a16="http://schemas.microsoft.com/office/drawing/2014/main" id="{CE22F878-FE71-46F5-9B25-F668FFC70E30}"/>
              </a:ext>
            </a:extLst>
          </p:cNvPr>
          <p:cNvSpPr>
            <a:spLocks noGrp="1"/>
          </p:cNvSpPr>
          <p:nvPr/>
        </p:nvSpPr>
        <p:spPr>
          <a:xfrm>
            <a:off x="609600" y="3286125"/>
            <a:ext cx="10972800" cy="219075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Predict a, b, and n.</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BigDecimal compares these values as numerically equal,</a:t>
            </a:r>
          </a:p>
          <a:p>
            <a:pPr>
              <a:defRPr sz="2100" b="0">
                <a:solidFill>
                  <a:srgbClr val="153143"/>
                </a:solidFill>
                <a:latin typeface="Arial"/>
                <a:ea typeface="Arial"/>
                <a:cs typeface="Arial"/>
              </a:defRPr>
            </a:pPr>
            <a:r>
              <a:rPr sz="2100" b="0">
                <a:solidFill>
                  <a:srgbClr val="153143"/>
                </a:solidFill>
                <a:latin typeface="Arial"/>
                <a:ea typeface="Arial"/>
                <a:cs typeface="Arial"/>
              </a:rPr>
              <a:t>but equals also considers their scales.</a:t>
            </a:r>
          </a:p>
          <a:p>
            <a:pPr>
              <a:defRPr sz="2100" b="0">
                <a:solidFill>
                  <a:srgbClr val="153143"/>
                </a:solidFill>
                <a:latin typeface="Arial"/>
                <a:ea typeface="Arial"/>
                <a:cs typeface="Arial"/>
              </a:defRPr>
            </a:pPr>
            <a:r>
              <a:rPr sz="2100" b="0">
                <a:solidFill>
                  <a:srgbClr val="153143"/>
                </a:solidFill>
                <a:latin typeface="Arial"/>
                <a:ea typeface="Arial"/>
                <a:cs typeface="Arial"/>
              </a:rPr>
              <a:t>Which equality rule does this BST use?</a:t>
            </a:r>
          </a:p>
        </p:txBody>
      </p:sp>
      <p:sp>
        <p:nvSpPr>
          <p:cNvPr id="4" name="activity-cue">
            <a:extLst>
              <a:ext uri="{FF2B5EF4-FFF2-40B4-BE49-F238E27FC236}">
                <a16:creationId xmlns:a16="http://schemas.microsoft.com/office/drawing/2014/main" id="{4302A8BE-85AA-4C9E-8D13-6FB1445956EE}"/>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Predict before opening the Java example. 90 seconds</a:t>
            </a:r>
          </a:p>
        </p:txBody>
      </p:sp>
      <p:sp>
        <p:nvSpPr>
          <p:cNvPr id="5" name="local-java-OrderingEqualityDemo">
            <a:extLst>
              <a:ext uri="{FF2B5EF4-FFF2-40B4-BE49-F238E27FC236}">
                <a16:creationId xmlns:a16="http://schemas.microsoft.com/office/drawing/2014/main" id="{2788B180-BDB8-4C3C-BA7E-325D369FDC8D}"/>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OrderingEqualityDemo.java</a:t>
            </a:r>
          </a:p>
        </p:txBody>
      </p:sp>
      <p:sp>
        <p:nvSpPr>
          <p:cNvPr id="6" name="page">
            <a:extLst>
              <a:ext uri="{FF2B5EF4-FFF2-40B4-BE49-F238E27FC236}">
                <a16:creationId xmlns:a16="http://schemas.microsoft.com/office/drawing/2014/main" id="{1B7613E5-D571-4140-8491-4F590B39740B}"/>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16</a:t>
            </a:r>
          </a:p>
        </p:txBody>
      </p:sp>
    </p:spTree>
    <p:extLst>
      <p:ext uri="{BB962C8B-B14F-4D97-AF65-F5344CB8AC3E}">
        <p14:creationId xmlns:p14="http://schemas.microsoft.com/office/powerpoint/2010/main" val="1104211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833EEB59-153F-45AD-8D7A-77D3695BD7B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Search follows one path</a:t>
            </a:r>
          </a:p>
        </p:txBody>
      </p:sp>
      <p:sp>
        <p:nvSpPr>
          <p:cNvPr id="3" name="text-2">
            <a:extLst>
              <a:ext uri="{FF2B5EF4-FFF2-40B4-BE49-F238E27FC236}">
                <a16:creationId xmlns:a16="http://schemas.microsoft.com/office/drawing/2014/main" id="{65A20190-B2E4-4D68-8E61-9A446D2DAFCB}"/>
              </a:ext>
            </a:extLst>
          </p:cNvPr>
          <p:cNvSpPr>
            <a:spLocks noGrp="1"/>
          </p:cNvSpPr>
          <p:nvPr/>
        </p:nvSpPr>
        <p:spPr>
          <a:xfrm>
            <a:off x="609600" y="1571625"/>
            <a:ext cx="5334000" cy="40957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Search for 10</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10 &lt; 12: go left.</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10 &gt; 5: go right.</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10 &gt; 9: go right.</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10 = 10: found.</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 null child ends an</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unsuccessful search.</a:t>
            </a:r>
          </a:p>
        </p:txBody>
      </p:sp>
      <p:sp>
        <p:nvSpPr>
          <p:cNvPr id="4" name="source-diagram-dg12-9">
            <a:extLst>
              <a:ext uri="{FF2B5EF4-FFF2-40B4-BE49-F238E27FC236}">
                <a16:creationId xmlns:a16="http://schemas.microsoft.com/office/drawing/2014/main" id="{F62719C6-42B9-4309-881C-F8A52C06A62F}"/>
              </a:ext>
            </a:extLst>
          </p:cNvPr>
          <p:cNvSpPr>
            <a:spLocks noGrp="1"/>
          </p:cNvSpPr>
          <p:nvPr/>
        </p:nvSpPr>
        <p:spPr>
          <a:xfrm>
            <a:off x="9460880" y="3960763"/>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20</a:t>
            </a:r>
          </a:p>
        </p:txBody>
      </p:sp>
      <p:sp>
        <p:nvSpPr>
          <p:cNvPr id="5" name="source-diagram-dg12-10">
            <a:extLst>
              <a:ext uri="{FF2B5EF4-FFF2-40B4-BE49-F238E27FC236}">
                <a16:creationId xmlns:a16="http://schemas.microsoft.com/office/drawing/2014/main" id="{2567BE03-53D1-4EFC-BF61-319BBF18C597}"/>
              </a:ext>
            </a:extLst>
          </p:cNvPr>
          <p:cNvSpPr>
            <a:spLocks noGrp="1"/>
          </p:cNvSpPr>
          <p:nvPr/>
        </p:nvSpPr>
        <p:spPr>
          <a:xfrm>
            <a:off x="8200595" y="3960763"/>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9</a:t>
            </a:r>
          </a:p>
        </p:txBody>
      </p:sp>
      <p:sp>
        <p:nvSpPr>
          <p:cNvPr id="6" name="source-diagram-dg12-11">
            <a:extLst>
              <a:ext uri="{FF2B5EF4-FFF2-40B4-BE49-F238E27FC236}">
                <a16:creationId xmlns:a16="http://schemas.microsoft.com/office/drawing/2014/main" id="{DC55B831-7718-40A3-BA4F-1E8250BCAD60}"/>
              </a:ext>
            </a:extLst>
          </p:cNvPr>
          <p:cNvSpPr>
            <a:spLocks noGrp="1"/>
          </p:cNvSpPr>
          <p:nvPr/>
        </p:nvSpPr>
        <p:spPr>
          <a:xfrm>
            <a:off x="7143750" y="3960763"/>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2</a:t>
            </a:r>
          </a:p>
        </p:txBody>
      </p:sp>
      <p:sp>
        <p:nvSpPr>
          <p:cNvPr id="7" name="source-diagram-dg12-12">
            <a:extLst>
              <a:ext uri="{FF2B5EF4-FFF2-40B4-BE49-F238E27FC236}">
                <a16:creationId xmlns:a16="http://schemas.microsoft.com/office/drawing/2014/main" id="{9EC5A00A-53EB-4E99-B11F-FDF990A628BB}"/>
              </a:ext>
            </a:extLst>
          </p:cNvPr>
          <p:cNvSpPr>
            <a:spLocks noGrp="1"/>
          </p:cNvSpPr>
          <p:nvPr/>
        </p:nvSpPr>
        <p:spPr>
          <a:xfrm>
            <a:off x="8881597" y="275666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15</a:t>
            </a:r>
          </a:p>
        </p:txBody>
      </p:sp>
      <p:sp>
        <p:nvSpPr>
          <p:cNvPr id="8" name="source-diagram-dg12-13">
            <a:extLst>
              <a:ext uri="{FF2B5EF4-FFF2-40B4-BE49-F238E27FC236}">
                <a16:creationId xmlns:a16="http://schemas.microsoft.com/office/drawing/2014/main" id="{C2D074B4-8767-47E4-B269-88365596B3CF}"/>
              </a:ext>
            </a:extLst>
          </p:cNvPr>
          <p:cNvSpPr>
            <a:spLocks noGrp="1"/>
          </p:cNvSpPr>
          <p:nvPr/>
        </p:nvSpPr>
        <p:spPr>
          <a:xfrm>
            <a:off x="7621313" y="2756669"/>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5</a:t>
            </a:r>
          </a:p>
        </p:txBody>
      </p:sp>
      <p:sp>
        <p:nvSpPr>
          <p:cNvPr id="9" name="source-diagram-dg12-14">
            <a:extLst>
              <a:ext uri="{FF2B5EF4-FFF2-40B4-BE49-F238E27FC236}">
                <a16:creationId xmlns:a16="http://schemas.microsoft.com/office/drawing/2014/main" id="{D1FE3577-6037-4F40-9DBE-DE9DEBE7D726}"/>
              </a:ext>
            </a:extLst>
          </p:cNvPr>
          <p:cNvSpPr>
            <a:spLocks noGrp="1"/>
          </p:cNvSpPr>
          <p:nvPr/>
        </p:nvSpPr>
        <p:spPr>
          <a:xfrm>
            <a:off x="8219560" y="1552575"/>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12</a:t>
            </a:r>
          </a:p>
        </p:txBody>
      </p:sp>
      <p:cxnSp>
        <p:nvCxnSpPr>
          <p:cNvPr id="10" name="source-diagram-dg12-15">
            <a:extLst>
              <a:ext uri="{FF2B5EF4-FFF2-40B4-BE49-F238E27FC236}">
                <a16:creationId xmlns:a16="http://schemas.microsoft.com/office/drawing/2014/main" id="{402A41CD-674F-459D-81C6-9B10F817B288}"/>
              </a:ext>
            </a:extLst>
          </p:cNvPr>
          <p:cNvCxnSpPr/>
          <p:nvPr/>
        </p:nvCxnSpPr>
        <p:spPr>
          <a:xfrm rot="5400000">
            <a:off x="7748032" y="2093026"/>
            <a:ext cx="612293" cy="563660"/>
          </a:xfrm>
          <a:prstGeom prst="straightConnector1">
            <a:avLst/>
          </a:prstGeom>
          <a:ln w="9525">
            <a:solidFill>
              <a:srgbClr val="142E42"/>
            </a:solidFill>
            <a:round/>
            <a:headEnd type="none" w="med" len="med"/>
            <a:tailEnd type="none" w="med" len="med"/>
          </a:ln>
        </p:spPr>
      </p:cxnSp>
      <p:cxnSp>
        <p:nvCxnSpPr>
          <p:cNvPr id="11" name="source-diagram-dg12-16">
            <a:extLst>
              <a:ext uri="{FF2B5EF4-FFF2-40B4-BE49-F238E27FC236}">
                <a16:creationId xmlns:a16="http://schemas.microsoft.com/office/drawing/2014/main" id="{E5EF6483-8DE8-4F5B-8218-634B52E082DE}"/>
              </a:ext>
            </a:extLst>
          </p:cNvPr>
          <p:cNvCxnSpPr/>
          <p:nvPr/>
        </p:nvCxnSpPr>
        <p:spPr>
          <a:xfrm rot="16200000" flipH="1">
            <a:off x="8524464" y="2053248"/>
            <a:ext cx="612293" cy="643216"/>
          </a:xfrm>
          <a:prstGeom prst="straightConnector1">
            <a:avLst/>
          </a:prstGeom>
          <a:ln w="9525">
            <a:solidFill>
              <a:srgbClr val="142E42"/>
            </a:solidFill>
            <a:round/>
            <a:headEnd type="none" w="med" len="med"/>
            <a:tailEnd type="none" w="med" len="med"/>
          </a:ln>
        </p:spPr>
      </p:cxnSp>
      <p:cxnSp>
        <p:nvCxnSpPr>
          <p:cNvPr id="12" name="source-diagram-dg12-17">
            <a:extLst>
              <a:ext uri="{FF2B5EF4-FFF2-40B4-BE49-F238E27FC236}">
                <a16:creationId xmlns:a16="http://schemas.microsoft.com/office/drawing/2014/main" id="{1DFEA446-7C53-4050-A4DE-D3EBE92FBD7D}"/>
              </a:ext>
            </a:extLst>
          </p:cNvPr>
          <p:cNvCxnSpPr/>
          <p:nvPr/>
        </p:nvCxnSpPr>
        <p:spPr>
          <a:xfrm>
            <a:off x="9235029" y="3223257"/>
            <a:ext cx="432737" cy="711705"/>
          </a:xfrm>
          <a:prstGeom prst="straightConnector1">
            <a:avLst/>
          </a:prstGeom>
          <a:ln w="9525">
            <a:solidFill>
              <a:srgbClr val="142E42"/>
            </a:solidFill>
            <a:round/>
            <a:headEnd type="none" w="med" len="med"/>
            <a:tailEnd type="none" w="med" len="med"/>
          </a:ln>
        </p:spPr>
      </p:cxnSp>
      <p:cxnSp>
        <p:nvCxnSpPr>
          <p:cNvPr id="13" name="source-diagram-dg12-18">
            <a:extLst>
              <a:ext uri="{FF2B5EF4-FFF2-40B4-BE49-F238E27FC236}">
                <a16:creationId xmlns:a16="http://schemas.microsoft.com/office/drawing/2014/main" id="{6661B2B0-2BB1-413F-AD79-82ED24E9BDB0}"/>
              </a:ext>
            </a:extLst>
          </p:cNvPr>
          <p:cNvCxnSpPr/>
          <p:nvPr/>
        </p:nvCxnSpPr>
        <p:spPr>
          <a:xfrm rot="5400000">
            <a:off x="7210126" y="3372378"/>
            <a:ext cx="612293" cy="413148"/>
          </a:xfrm>
          <a:prstGeom prst="straightConnector1">
            <a:avLst/>
          </a:prstGeom>
          <a:ln w="9525">
            <a:solidFill>
              <a:srgbClr val="142E42"/>
            </a:solidFill>
            <a:round/>
            <a:headEnd type="none" w="med" len="med"/>
            <a:tailEnd type="none" w="med" len="med"/>
          </a:ln>
        </p:spPr>
      </p:cxnSp>
      <p:cxnSp>
        <p:nvCxnSpPr>
          <p:cNvPr id="14" name="source-diagram-dg12-19">
            <a:extLst>
              <a:ext uri="{FF2B5EF4-FFF2-40B4-BE49-F238E27FC236}">
                <a16:creationId xmlns:a16="http://schemas.microsoft.com/office/drawing/2014/main" id="{EDEB91D0-3039-480F-BDB2-35F554A65371}"/>
              </a:ext>
            </a:extLst>
          </p:cNvPr>
          <p:cNvCxnSpPr/>
          <p:nvPr/>
        </p:nvCxnSpPr>
        <p:spPr>
          <a:xfrm>
            <a:off x="7974745" y="3223257"/>
            <a:ext cx="432737" cy="711705"/>
          </a:xfrm>
          <a:prstGeom prst="straightConnector1">
            <a:avLst/>
          </a:prstGeom>
          <a:ln w="9525">
            <a:solidFill>
              <a:srgbClr val="142E42"/>
            </a:solidFill>
            <a:round/>
            <a:headEnd type="none" w="med" len="med"/>
            <a:tailEnd type="none" w="med" len="med"/>
          </a:ln>
        </p:spPr>
      </p:cxnSp>
      <p:sp>
        <p:nvSpPr>
          <p:cNvPr id="15" name="source-diagram-dg12-20">
            <a:extLst>
              <a:ext uri="{FF2B5EF4-FFF2-40B4-BE49-F238E27FC236}">
                <a16:creationId xmlns:a16="http://schemas.microsoft.com/office/drawing/2014/main" id="{253C63BB-6E59-4FCF-93C5-A2DC9E5CC886}"/>
              </a:ext>
            </a:extLst>
          </p:cNvPr>
          <p:cNvSpPr>
            <a:spLocks noGrp="1"/>
          </p:cNvSpPr>
          <p:nvPr/>
        </p:nvSpPr>
        <p:spPr>
          <a:xfrm>
            <a:off x="9750521" y="516485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30</a:t>
            </a:r>
          </a:p>
        </p:txBody>
      </p:sp>
      <p:cxnSp>
        <p:nvCxnSpPr>
          <p:cNvPr id="16" name="source-diagram-dg12-21">
            <a:extLst>
              <a:ext uri="{FF2B5EF4-FFF2-40B4-BE49-F238E27FC236}">
                <a16:creationId xmlns:a16="http://schemas.microsoft.com/office/drawing/2014/main" id="{390020F9-6799-4013-ACCE-05D1687E21E2}"/>
              </a:ext>
            </a:extLst>
          </p:cNvPr>
          <p:cNvCxnSpPr/>
          <p:nvPr/>
        </p:nvCxnSpPr>
        <p:spPr>
          <a:xfrm>
            <a:off x="9814312" y="4427351"/>
            <a:ext cx="143096" cy="711705"/>
          </a:xfrm>
          <a:prstGeom prst="straightConnector1">
            <a:avLst/>
          </a:prstGeom>
          <a:ln w="9525">
            <a:solidFill>
              <a:srgbClr val="142E42"/>
            </a:solidFill>
            <a:round/>
            <a:headEnd type="none" w="med" len="med"/>
            <a:tailEnd type="none" w="med" len="med"/>
          </a:ln>
        </p:spPr>
      </p:cxnSp>
      <p:sp>
        <p:nvSpPr>
          <p:cNvPr id="17" name="source-diagram-dg12-22">
            <a:extLst>
              <a:ext uri="{FF2B5EF4-FFF2-40B4-BE49-F238E27FC236}">
                <a16:creationId xmlns:a16="http://schemas.microsoft.com/office/drawing/2014/main" id="{D8B88EEB-FAE2-4582-BDF1-B4D9F7C88079}"/>
              </a:ext>
            </a:extLst>
          </p:cNvPr>
          <p:cNvSpPr>
            <a:spLocks noGrp="1"/>
          </p:cNvSpPr>
          <p:nvPr/>
        </p:nvSpPr>
        <p:spPr>
          <a:xfrm>
            <a:off x="7910954" y="5164859"/>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7</a:t>
            </a:r>
          </a:p>
        </p:txBody>
      </p:sp>
      <p:cxnSp>
        <p:nvCxnSpPr>
          <p:cNvPr id="18" name="source-diagram-dg12-23">
            <a:extLst>
              <a:ext uri="{FF2B5EF4-FFF2-40B4-BE49-F238E27FC236}">
                <a16:creationId xmlns:a16="http://schemas.microsoft.com/office/drawing/2014/main" id="{497E4D5C-9E73-4E93-9C81-CBAB46A790DA}"/>
              </a:ext>
            </a:extLst>
          </p:cNvPr>
          <p:cNvCxnSpPr/>
          <p:nvPr/>
        </p:nvCxnSpPr>
        <p:spPr>
          <a:xfrm flipH="1">
            <a:off x="8117841" y="4427351"/>
            <a:ext cx="143097" cy="711705"/>
          </a:xfrm>
          <a:prstGeom prst="straightConnector1">
            <a:avLst/>
          </a:prstGeom>
          <a:ln w="9525">
            <a:solidFill>
              <a:srgbClr val="142E42"/>
            </a:solidFill>
            <a:round/>
            <a:headEnd type="none" w="med" len="med"/>
            <a:tailEnd type="none" w="med" len="med"/>
          </a:ln>
        </p:spPr>
      </p:cxnSp>
      <p:sp>
        <p:nvSpPr>
          <p:cNvPr id="19" name="source-diagram-dg12-24">
            <a:extLst>
              <a:ext uri="{FF2B5EF4-FFF2-40B4-BE49-F238E27FC236}">
                <a16:creationId xmlns:a16="http://schemas.microsoft.com/office/drawing/2014/main" id="{9CDD99C4-8213-4398-9DE9-1E7CE9A9C277}"/>
              </a:ext>
            </a:extLst>
          </p:cNvPr>
          <p:cNvSpPr>
            <a:spLocks noGrp="1"/>
          </p:cNvSpPr>
          <p:nvPr/>
        </p:nvSpPr>
        <p:spPr>
          <a:xfrm>
            <a:off x="9171239" y="5154108"/>
            <a:ext cx="413773" cy="516040"/>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38" b="0">
                <a:solidFill>
                  <a:srgbClr val="142E42"/>
                </a:solidFill>
                <a:latin typeface="Arial"/>
                <a:ea typeface="Arial"/>
                <a:cs typeface="Arial"/>
              </a:rPr>
              <a:t>17</a:t>
            </a:r>
          </a:p>
        </p:txBody>
      </p:sp>
      <p:cxnSp>
        <p:nvCxnSpPr>
          <p:cNvPr id="20" name="source-diagram-dg12-25">
            <a:extLst>
              <a:ext uri="{FF2B5EF4-FFF2-40B4-BE49-F238E27FC236}">
                <a16:creationId xmlns:a16="http://schemas.microsoft.com/office/drawing/2014/main" id="{4800995B-3DCD-4B40-8087-AB885D5405CA}"/>
              </a:ext>
            </a:extLst>
          </p:cNvPr>
          <p:cNvCxnSpPr/>
          <p:nvPr/>
        </p:nvCxnSpPr>
        <p:spPr>
          <a:xfrm flipH="1">
            <a:off x="9378125" y="4427351"/>
            <a:ext cx="143097" cy="700955"/>
          </a:xfrm>
          <a:prstGeom prst="straightConnector1">
            <a:avLst/>
          </a:prstGeom>
          <a:ln w="9525">
            <a:solidFill>
              <a:srgbClr val="142E42"/>
            </a:solidFill>
            <a:round/>
            <a:headEnd type="none" w="med" len="med"/>
            <a:tailEnd type="none" w="med" len="med"/>
          </a:ln>
        </p:spPr>
      </p:cxnSp>
      <p:sp>
        <p:nvSpPr>
          <p:cNvPr id="21" name="source-diagram-dg12-26">
            <a:extLst>
              <a:ext uri="{FF2B5EF4-FFF2-40B4-BE49-F238E27FC236}">
                <a16:creationId xmlns:a16="http://schemas.microsoft.com/office/drawing/2014/main" id="{99EF9087-4EEF-44CD-80C3-9E7ADE0CAF8A}"/>
              </a:ext>
            </a:extLst>
          </p:cNvPr>
          <p:cNvSpPr>
            <a:spLocks noGrp="1"/>
          </p:cNvSpPr>
          <p:nvPr/>
        </p:nvSpPr>
        <p:spPr>
          <a:xfrm>
            <a:off x="8467824" y="5179910"/>
            <a:ext cx="413773" cy="516040"/>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38" b="0">
                <a:solidFill>
                  <a:srgbClr val="FFFFFF"/>
                </a:solidFill>
                <a:latin typeface="Arial"/>
                <a:ea typeface="Arial"/>
                <a:cs typeface="Arial"/>
              </a:rPr>
              <a:t>10</a:t>
            </a:r>
          </a:p>
        </p:txBody>
      </p:sp>
      <p:cxnSp>
        <p:nvCxnSpPr>
          <p:cNvPr id="22" name="source-diagram-dg12-27">
            <a:extLst>
              <a:ext uri="{FF2B5EF4-FFF2-40B4-BE49-F238E27FC236}">
                <a16:creationId xmlns:a16="http://schemas.microsoft.com/office/drawing/2014/main" id="{D3BDA50B-8AAC-4C74-A72F-0B311D2A04DA}"/>
              </a:ext>
            </a:extLst>
          </p:cNvPr>
          <p:cNvCxnSpPr/>
          <p:nvPr/>
        </p:nvCxnSpPr>
        <p:spPr>
          <a:xfrm>
            <a:off x="8531614" y="4442402"/>
            <a:ext cx="143097" cy="711706"/>
          </a:xfrm>
          <a:prstGeom prst="straightConnector1">
            <a:avLst/>
          </a:prstGeom>
          <a:ln w="9525">
            <a:solidFill>
              <a:srgbClr val="142E42"/>
            </a:solidFill>
            <a:round/>
            <a:headEnd type="none" w="med" len="med"/>
            <a:tailEnd type="none" w="med" len="med"/>
          </a:ln>
        </p:spPr>
      </p:cxnSp>
      <p:sp>
        <p:nvSpPr>
          <p:cNvPr id="24" name="local-java-SearchDemo">
            <a:extLst>
              <a:ext uri="{FF2B5EF4-FFF2-40B4-BE49-F238E27FC236}">
                <a16:creationId xmlns:a16="http://schemas.microsoft.com/office/drawing/2014/main" id="{59416CBD-D667-474B-843D-B58F47A00F56}"/>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SearchDemo.java</a:t>
            </a:r>
          </a:p>
        </p:txBody>
      </p:sp>
      <p:sp>
        <p:nvSpPr>
          <p:cNvPr id="25" name="page">
            <a:extLst>
              <a:ext uri="{FF2B5EF4-FFF2-40B4-BE49-F238E27FC236}">
                <a16:creationId xmlns:a16="http://schemas.microsoft.com/office/drawing/2014/main" id="{BBFB4E6F-5DBD-4A9C-A551-F668041179C2}"/>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17</a:t>
            </a:r>
          </a:p>
        </p:txBody>
      </p:sp>
    </p:spTree>
    <p:extLst>
      <p:ext uri="{BB962C8B-B14F-4D97-AF65-F5344CB8AC3E}">
        <p14:creationId xmlns:p14="http://schemas.microsoft.com/office/powerpoint/2010/main" val="896807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A54D0E33-B099-49AF-8EF1-98E59DA4DA9E}"/>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Iterative search</a:t>
            </a:r>
          </a:p>
        </p:txBody>
      </p:sp>
      <p:sp>
        <p:nvSpPr>
          <p:cNvPr id="3" name="text-2">
            <a:extLst>
              <a:ext uri="{FF2B5EF4-FFF2-40B4-BE49-F238E27FC236}">
                <a16:creationId xmlns:a16="http://schemas.microsoft.com/office/drawing/2014/main" id="{8771539B-9A64-4F9B-89DF-302F0C22EDBE}"/>
              </a:ext>
            </a:extLst>
          </p:cNvPr>
          <p:cNvSpPr>
            <a:spLocks noGrp="1"/>
          </p:cNvSpPr>
          <p:nvPr/>
        </p:nvSpPr>
        <p:spPr>
          <a:xfrm>
            <a:off x="609600" y="1571625"/>
            <a:ext cx="10953750" cy="3857625"/>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buNone/>
              <a:defRPr sz="2025" b="0">
                <a:solidFill>
                  <a:srgbClr val="142E42"/>
                </a:solidFill>
                <a:latin typeface="Consolas"/>
                <a:ea typeface="Consolas"/>
                <a:cs typeface="Consolas"/>
              </a:defRPr>
            </a:lvl1pPr>
            <a:lvl2pPr algn="l">
              <a:buNone/>
              <a:defRPr sz="2025" b="0">
                <a:solidFill>
                  <a:srgbClr val="142E42"/>
                </a:solidFill>
                <a:latin typeface="Consolas"/>
                <a:ea typeface="Consolas"/>
                <a:cs typeface="Consolas"/>
              </a:defRPr>
            </a:lvl2pPr>
            <a:lvl3pPr algn="l">
              <a:buNone/>
              <a:defRPr sz="2025" b="0">
                <a:solidFill>
                  <a:srgbClr val="142E42"/>
                </a:solidFill>
                <a:latin typeface="Consolas"/>
                <a:ea typeface="Consolas"/>
                <a:cs typeface="Consolas"/>
              </a:defRPr>
            </a:lvl3pPr>
            <a:lvl4pPr algn="l">
              <a:buNone/>
              <a:defRPr sz="2025" b="0">
                <a:solidFill>
                  <a:srgbClr val="142E42"/>
                </a:solidFill>
                <a:latin typeface="Consolas"/>
                <a:ea typeface="Consolas"/>
                <a:cs typeface="Consolas"/>
              </a:defRPr>
            </a:lvl4pPr>
            <a:lvl5pPr algn="l">
              <a:buNone/>
              <a:defRPr sz="2025" b="0">
                <a:solidFill>
                  <a:srgbClr val="142E42"/>
                </a:solidFill>
                <a:latin typeface="Consolas"/>
                <a:ea typeface="Consolas"/>
                <a:cs typeface="Consolas"/>
              </a:defRPr>
            </a:lvl5pPr>
            <a:lvl6pPr algn="l">
              <a:buNone/>
              <a:defRPr sz="2025" b="0">
                <a:solidFill>
                  <a:srgbClr val="142E42"/>
                </a:solidFill>
                <a:latin typeface="Consolas"/>
                <a:ea typeface="Consolas"/>
                <a:cs typeface="Consolas"/>
              </a:defRPr>
            </a:lvl6pPr>
            <a:lvl7pPr algn="l">
              <a:buNone/>
              <a:defRPr sz="2025" b="0">
                <a:solidFill>
                  <a:srgbClr val="142E42"/>
                </a:solidFill>
                <a:latin typeface="Consolas"/>
                <a:ea typeface="Consolas"/>
                <a:cs typeface="Consolas"/>
              </a:defRPr>
            </a:lvl7pPr>
            <a:lvl8pPr algn="l">
              <a:buNone/>
              <a:defRPr sz="2025" b="0">
                <a:solidFill>
                  <a:srgbClr val="142E42"/>
                </a:solidFill>
                <a:latin typeface="Consolas"/>
                <a:ea typeface="Consolas"/>
                <a:cs typeface="Consolas"/>
              </a:defRPr>
            </a:lvl8pPr>
            <a:lvl9pPr algn="l">
              <a:buNone/>
              <a:defRPr sz="2025" b="0">
                <a:solidFill>
                  <a:srgbClr val="142E42"/>
                </a:solidFill>
                <a:latin typeface="Consolas"/>
                <a:ea typeface="Consolas"/>
                <a:cs typeface="Consolas"/>
              </a:defRPr>
            </a:lvl9pPr>
          </a:lstStyle>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public boolean contains(E key)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Objects.requireNonNull(key);</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Node&lt;E&gt; x = root;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while (x != null)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int cmp = key.compareTo(x.key);</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if (cmp &lt; 0) x = x.left;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else if (cmp &gt; 0) x = x.right;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else return true;</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return false;</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06846BFD-A07B-48C5-9D3C-2FB977566BCB}"/>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Time O(h + 1). Extra space O(1). Import java.util.Objects.</a:t>
            </a:r>
          </a:p>
        </p:txBody>
      </p:sp>
      <p:sp>
        <p:nvSpPr>
          <p:cNvPr id="6" name="local-java-BST">
            <a:extLst>
              <a:ext uri="{FF2B5EF4-FFF2-40B4-BE49-F238E27FC236}">
                <a16:creationId xmlns:a16="http://schemas.microsoft.com/office/drawing/2014/main" id="{7635513A-5E64-4C71-B8D1-95EB9F34E938}"/>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local-java-SearchDemo">
            <a:extLst>
              <a:ext uri="{FF2B5EF4-FFF2-40B4-BE49-F238E27FC236}">
                <a16:creationId xmlns:a16="http://schemas.microsoft.com/office/drawing/2014/main" id="{BE23A0A0-72B9-4868-8E0B-2D26FE2E8B76}"/>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SearchDemo.java</a:t>
            </a:r>
          </a:p>
        </p:txBody>
      </p:sp>
      <p:sp>
        <p:nvSpPr>
          <p:cNvPr id="8" name="page">
            <a:extLst>
              <a:ext uri="{FF2B5EF4-FFF2-40B4-BE49-F238E27FC236}">
                <a16:creationId xmlns:a16="http://schemas.microsoft.com/office/drawing/2014/main" id="{36A83449-75A4-4880-8A18-7E0B8F188FE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18</a:t>
            </a:r>
          </a:p>
        </p:txBody>
      </p:sp>
    </p:spTree>
    <p:extLst>
      <p:ext uri="{BB962C8B-B14F-4D97-AF65-F5344CB8AC3E}">
        <p14:creationId xmlns:p14="http://schemas.microsoft.com/office/powerpoint/2010/main" val="41551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C7B6110-54C9-4766-917A-A41C064CA6D9}"/>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Recursive search</a:t>
            </a:r>
          </a:p>
        </p:txBody>
      </p:sp>
      <p:sp>
        <p:nvSpPr>
          <p:cNvPr id="3" name="text-2">
            <a:extLst>
              <a:ext uri="{FF2B5EF4-FFF2-40B4-BE49-F238E27FC236}">
                <a16:creationId xmlns:a16="http://schemas.microsoft.com/office/drawing/2014/main" id="{BACEF785-2BDF-4583-8D12-F70822AB96D1}"/>
              </a:ext>
            </a:extLst>
          </p:cNvPr>
          <p:cNvSpPr>
            <a:spLocks noGrp="1"/>
          </p:cNvSpPr>
          <p:nvPr/>
        </p:nvSpPr>
        <p:spPr>
          <a:xfrm>
            <a:off x="609600" y="1714500"/>
            <a:ext cx="10953750" cy="2857500"/>
          </a:xfrm>
          <a:prstGeom prst="rect">
            <a:avLst/>
          </a:prstGeom>
          <a:noFill/>
          <a:ln w="0">
            <a:noFill/>
          </a:ln>
        </p:spPr>
        <p:txBody>
          <a:bodyPr lIns="0" tIns="0" rIns="0" bIns="0" anchor="t"/>
          <a:lstStyle>
            <a:defPPr algn="l">
              <a:defRPr sz="2100" b="0">
                <a:solidFill>
                  <a:srgbClr val="142E42"/>
                </a:solidFill>
                <a:latin typeface="Consolas"/>
                <a:ea typeface="Consolas"/>
                <a:cs typeface="Consolas"/>
              </a:defRPr>
            </a:defPPr>
            <a:lvl1pPr algn="l">
              <a:buNone/>
              <a:defRPr sz="2100" b="0">
                <a:solidFill>
                  <a:srgbClr val="142E42"/>
                </a:solidFill>
                <a:latin typeface="Consolas"/>
                <a:ea typeface="Consolas"/>
                <a:cs typeface="Consolas"/>
              </a:defRPr>
            </a:lvl1pPr>
            <a:lvl2pPr algn="l">
              <a:buNone/>
              <a:defRPr sz="2100" b="0">
                <a:solidFill>
                  <a:srgbClr val="142E42"/>
                </a:solidFill>
                <a:latin typeface="Consolas"/>
                <a:ea typeface="Consolas"/>
                <a:cs typeface="Consolas"/>
              </a:defRPr>
            </a:lvl2pPr>
            <a:lvl3pPr algn="l">
              <a:buNone/>
              <a:defRPr sz="2100" b="0">
                <a:solidFill>
                  <a:srgbClr val="142E42"/>
                </a:solidFill>
                <a:latin typeface="Consolas"/>
                <a:ea typeface="Consolas"/>
                <a:cs typeface="Consolas"/>
              </a:defRPr>
            </a:lvl3pPr>
            <a:lvl4pPr algn="l">
              <a:buNone/>
              <a:defRPr sz="2100" b="0">
                <a:solidFill>
                  <a:srgbClr val="142E42"/>
                </a:solidFill>
                <a:latin typeface="Consolas"/>
                <a:ea typeface="Consolas"/>
                <a:cs typeface="Consolas"/>
              </a:defRPr>
            </a:lvl4pPr>
            <a:lvl5pPr algn="l">
              <a:buNone/>
              <a:defRPr sz="2100" b="0">
                <a:solidFill>
                  <a:srgbClr val="142E42"/>
                </a:solidFill>
                <a:latin typeface="Consolas"/>
                <a:ea typeface="Consolas"/>
                <a:cs typeface="Consolas"/>
              </a:defRPr>
            </a:lvl5pPr>
            <a:lvl6pPr algn="l">
              <a:buNone/>
              <a:defRPr sz="2100" b="0">
                <a:solidFill>
                  <a:srgbClr val="142E42"/>
                </a:solidFill>
                <a:latin typeface="Consolas"/>
                <a:ea typeface="Consolas"/>
                <a:cs typeface="Consolas"/>
              </a:defRPr>
            </a:lvl6pPr>
            <a:lvl7pPr algn="l">
              <a:buNone/>
              <a:defRPr sz="2100" b="0">
                <a:solidFill>
                  <a:srgbClr val="142E42"/>
                </a:solidFill>
                <a:latin typeface="Consolas"/>
                <a:ea typeface="Consolas"/>
                <a:cs typeface="Consolas"/>
              </a:defRPr>
            </a:lvl7pPr>
            <a:lvl8pPr algn="l">
              <a:buNone/>
              <a:defRPr sz="2100" b="0">
                <a:solidFill>
                  <a:srgbClr val="142E42"/>
                </a:solidFill>
                <a:latin typeface="Consolas"/>
                <a:ea typeface="Consolas"/>
                <a:cs typeface="Consolas"/>
              </a:defRPr>
            </a:lvl8pPr>
            <a:lvl9pPr algn="l">
              <a:buNone/>
              <a:defRPr sz="2100" b="0">
                <a:solidFill>
                  <a:srgbClr val="142E42"/>
                </a:solidFill>
                <a:latin typeface="Consolas"/>
                <a:ea typeface="Consolas"/>
                <a:cs typeface="Consolas"/>
              </a:defRPr>
            </a:lvl9pPr>
          </a:lstStyle>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private boolean contains(Node&lt;E&gt; x, E key) {</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if (x == null) return false;</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int cmp = key.compareTo(x.key);</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if (cmp &lt; 0) return contains(x.left, key);</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if (cmp &gt; 0) return contains(x.right, key);</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return true;</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92F42CD5-149D-47FB-8C04-38360083C537}"/>
              </a:ext>
            </a:extLst>
          </p:cNvPr>
          <p:cNvSpPr>
            <a:spLocks noGrp="1"/>
          </p:cNvSpPr>
          <p:nvPr/>
        </p:nvSpPr>
        <p:spPr>
          <a:xfrm>
            <a:off x="609600" y="4857750"/>
            <a:ext cx="10953750" cy="714375"/>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buNone/>
              <a:defRPr sz="2025" b="0">
                <a:solidFill>
                  <a:srgbClr val="142E42"/>
                </a:solidFill>
                <a:latin typeface="Arial"/>
                <a:ea typeface="Arial"/>
                <a:cs typeface="Arial"/>
              </a:defRPr>
            </a:lvl1pPr>
            <a:lvl2pPr algn="l">
              <a:buNone/>
              <a:defRPr sz="2025" b="0">
                <a:solidFill>
                  <a:srgbClr val="142E42"/>
                </a:solidFill>
                <a:latin typeface="Arial"/>
                <a:ea typeface="Arial"/>
                <a:cs typeface="Arial"/>
              </a:defRPr>
            </a:lvl2pPr>
            <a:lvl3pPr algn="l">
              <a:buNone/>
              <a:defRPr sz="2025" b="0">
                <a:solidFill>
                  <a:srgbClr val="142E42"/>
                </a:solidFill>
                <a:latin typeface="Arial"/>
                <a:ea typeface="Arial"/>
                <a:cs typeface="Arial"/>
              </a:defRPr>
            </a:lvl3pPr>
            <a:lvl4pPr algn="l">
              <a:buNone/>
              <a:defRPr sz="2025" b="0">
                <a:solidFill>
                  <a:srgbClr val="142E42"/>
                </a:solidFill>
                <a:latin typeface="Arial"/>
                <a:ea typeface="Arial"/>
                <a:cs typeface="Arial"/>
              </a:defRPr>
            </a:lvl4pPr>
            <a:lvl5pPr algn="l">
              <a:buNone/>
              <a:defRPr sz="2025" b="0">
                <a:solidFill>
                  <a:srgbClr val="142E42"/>
                </a:solidFill>
                <a:latin typeface="Arial"/>
                <a:ea typeface="Arial"/>
                <a:cs typeface="Arial"/>
              </a:defRPr>
            </a:lvl5pPr>
            <a:lvl6pPr algn="l">
              <a:buNone/>
              <a:defRPr sz="2025" b="0">
                <a:solidFill>
                  <a:srgbClr val="142E42"/>
                </a:solidFill>
                <a:latin typeface="Arial"/>
                <a:ea typeface="Arial"/>
                <a:cs typeface="Arial"/>
              </a:defRPr>
            </a:lvl6pPr>
            <a:lvl7pPr algn="l">
              <a:buNone/>
              <a:defRPr sz="2025" b="0">
                <a:solidFill>
                  <a:srgbClr val="142E42"/>
                </a:solidFill>
                <a:latin typeface="Arial"/>
                <a:ea typeface="Arial"/>
                <a:cs typeface="Arial"/>
              </a:defRPr>
            </a:lvl7pPr>
            <a:lvl8pPr algn="l">
              <a:buNone/>
              <a:defRPr sz="2025" b="0">
                <a:solidFill>
                  <a:srgbClr val="142E42"/>
                </a:solidFill>
                <a:latin typeface="Arial"/>
                <a:ea typeface="Arial"/>
                <a:cs typeface="Arial"/>
              </a:defRPr>
            </a:lvl8pPr>
            <a:lvl9pPr algn="l">
              <a:buNone/>
              <a:defRPr sz="2025" b="0">
                <a:solidFill>
                  <a:srgbClr val="142E42"/>
                </a:solidFill>
                <a:latin typeface="Arial"/>
                <a:ea typeface="Arial"/>
                <a:cs typeface="Arial"/>
              </a:defRPr>
            </a:lvl9pPr>
          </a:lstStyle>
          <a:p>
            <a:pPr algn="l">
              <a:buNone/>
              <a:defRPr sz="2025" b="0">
                <a:solidFill>
                  <a:srgbClr val="142E42"/>
                </a:solidFill>
                <a:latin typeface="Arial"/>
                <a:ea typeface="Arial"/>
                <a:cs typeface="Arial"/>
              </a:defRPr>
            </a:pPr>
            <a:r>
              <a:rPr sz="2025" b="0">
                <a:solidFill>
                  <a:srgbClr val="142E42"/>
                </a:solidFill>
                <a:latin typeface="Arial"/>
                <a:ea typeface="Arial"/>
                <a:cs typeface="Arial"/>
              </a:rPr>
              <a:t>The public method checks the key, then calls contains(root, key).</a:t>
            </a:r>
          </a:p>
        </p:txBody>
      </p:sp>
      <p:sp>
        <p:nvSpPr>
          <p:cNvPr id="5" name="text-4">
            <a:extLst>
              <a:ext uri="{FF2B5EF4-FFF2-40B4-BE49-F238E27FC236}">
                <a16:creationId xmlns:a16="http://schemas.microsoft.com/office/drawing/2014/main" id="{B9A02DBF-3B16-4DFC-96ED-866DC95153CA}"/>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Time O(h + 1). Call stack O(h + 1).</a:t>
            </a:r>
          </a:p>
        </p:txBody>
      </p:sp>
      <p:sp>
        <p:nvSpPr>
          <p:cNvPr id="7" name="local-java-BST">
            <a:extLst>
              <a:ext uri="{FF2B5EF4-FFF2-40B4-BE49-F238E27FC236}">
                <a16:creationId xmlns:a16="http://schemas.microsoft.com/office/drawing/2014/main" id="{3FF870D0-9433-455A-BF11-A04EEE70B4F9}"/>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8" name="local-java-SearchDemo">
            <a:extLst>
              <a:ext uri="{FF2B5EF4-FFF2-40B4-BE49-F238E27FC236}">
                <a16:creationId xmlns:a16="http://schemas.microsoft.com/office/drawing/2014/main" id="{0CECCD24-15AF-4122-A169-5EAB391AC5F6}"/>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SearchDemo.java</a:t>
            </a:r>
          </a:p>
        </p:txBody>
      </p:sp>
      <p:sp>
        <p:nvSpPr>
          <p:cNvPr id="9" name="page">
            <a:extLst>
              <a:ext uri="{FF2B5EF4-FFF2-40B4-BE49-F238E27FC236}">
                <a16:creationId xmlns:a16="http://schemas.microsoft.com/office/drawing/2014/main" id="{7FBD6239-A6AB-49C6-9128-586FBB06096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19</a:t>
            </a:r>
          </a:p>
        </p:txBody>
      </p:sp>
    </p:spTree>
    <p:extLst>
      <p:ext uri="{BB962C8B-B14F-4D97-AF65-F5344CB8AC3E}">
        <p14:creationId xmlns:p14="http://schemas.microsoft.com/office/powerpoint/2010/main" val="1749790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5" name="title">
            <a:extLst>
              <a:ext uri="{FF2B5EF4-FFF2-40B4-BE49-F238E27FC236}">
                <a16:creationId xmlns:a16="http://schemas.microsoft.com/office/drawing/2014/main" id="{1D39591E-F777-4B84-9089-30B7DEEBC6D9}"/>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an unsuccessful search</a:t>
            </a:r>
          </a:p>
        </p:txBody>
      </p:sp>
      <p:sp>
        <p:nvSpPr>
          <p:cNvPr id="2" name="questions">
            <a:extLst>
              <a:ext uri="{FF2B5EF4-FFF2-40B4-BE49-F238E27FC236}">
                <a16:creationId xmlns:a16="http://schemas.microsoft.com/office/drawing/2014/main" id="{E2C6A53C-4C07-46BA-A454-3BB90A3EBDE5}"/>
              </a:ext>
            </a:extLst>
          </p:cNvPr>
          <p:cNvSpPr>
            <a:spLocks noGrp="1"/>
          </p:cNvSpPr>
          <p:nvPr/>
        </p:nvSpPr>
        <p:spPr>
          <a:xfrm>
            <a:off x="609600" y="1657350"/>
            <a:ext cx="6191250" cy="361950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Search for key 8 in this tree.</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1. List each visited key in order.</a:t>
            </a:r>
          </a:p>
          <a:p>
            <a:pPr>
              <a:defRPr sz="2100" b="0">
                <a:solidFill>
                  <a:srgbClr val="153143"/>
                </a:solidFill>
                <a:latin typeface="Arial"/>
                <a:ea typeface="Arial"/>
                <a:cs typeface="Arial"/>
              </a:defRPr>
            </a:pPr>
            <a:r>
              <a:rPr sz="2100" b="0">
                <a:solidFill>
                  <a:srgbClr val="153143"/>
                </a:solidFill>
                <a:latin typeface="Arial"/>
                <a:ea typeface="Arial"/>
                <a:cs typeface="Arial"/>
              </a:rPr>
              <a:t>2. Which missing child ends the search?</a:t>
            </a:r>
          </a:p>
          <a:p>
            <a:pPr>
              <a:defRPr sz="2100" b="0">
                <a:solidFill>
                  <a:srgbClr val="153143"/>
                </a:solidFill>
                <a:latin typeface="Arial"/>
                <a:ea typeface="Arial"/>
                <a:cs typeface="Arial"/>
              </a:defRPr>
            </a:pPr>
            <a:r>
              <a:rPr sz="2100" b="0">
                <a:solidFill>
                  <a:srgbClr val="153143"/>
                </a:solidFill>
                <a:latin typeface="Arial"/>
                <a:ea typeface="Arial"/>
                <a:cs typeface="Arial"/>
              </a:rPr>
              <a:t>3. How many compareTo calls occur?</a:t>
            </a:r>
          </a:p>
          <a:p>
            <a:pPr>
              <a:defRPr sz="2100" b="0">
                <a:solidFill>
                  <a:srgbClr val="153143"/>
                </a:solidFill>
                <a:latin typeface="Arial"/>
                <a:ea typeface="Arial"/>
                <a:cs typeface="Arial"/>
              </a:defRPr>
            </a:pPr>
            <a:r>
              <a:rPr sz="2100" b="0">
                <a:solidFill>
                  <a:srgbClr val="153143"/>
                </a:solidFill>
                <a:latin typeface="Arial"/>
                <a:ea typeface="Arial"/>
                <a:cs typeface="Arial"/>
              </a:rPr>
              <a:t>4. Compare iterative and recursive</a:t>
            </a:r>
          </a:p>
          <a:p>
            <a:pPr>
              <a:defRPr sz="2100" b="0">
                <a:solidFill>
                  <a:srgbClr val="153143"/>
                </a:solidFill>
                <a:latin typeface="Arial"/>
                <a:ea typeface="Arial"/>
                <a:cs typeface="Arial"/>
              </a:defRPr>
            </a:pPr>
            <a:r>
              <a:rPr sz="2100" b="0">
                <a:solidFill>
                  <a:srgbClr val="153143"/>
                </a:solidFill>
                <a:latin typeface="Arial"/>
                <a:ea typeface="Arial"/>
                <a:cs typeface="Arial"/>
              </a:rPr>
              <a:t>   auxiliary space.</a:t>
            </a:r>
          </a:p>
        </p:txBody>
      </p:sp>
      <p:sp>
        <p:nvSpPr>
          <p:cNvPr id="3" name="edge-0-1">
            <a:extLst>
              <a:ext uri="{FF2B5EF4-FFF2-40B4-BE49-F238E27FC236}">
                <a16:creationId xmlns:a16="http://schemas.microsoft.com/office/drawing/2014/main" id="{6630BD96-0500-4B16-8763-A2090D2419D8}"/>
              </a:ext>
            </a:extLst>
          </p:cNvPr>
          <p:cNvSpPr>
            <a:spLocks noGrp="1"/>
          </p:cNvSpPr>
          <p:nvPr/>
        </p:nvSpPr>
        <p:spPr>
          <a:xfrm flipH="1">
            <a:off x="8305800" y="1905000"/>
            <a:ext cx="1000125" cy="1000125"/>
          </a:xfrm>
          <a:prstGeom prst="line">
            <a:avLst/>
          </a:prstGeom>
          <a:noFill/>
          <a:ln w="16193">
            <a:solidFill>
              <a:srgbClr val="153143"/>
            </a:solidFill>
          </a:ln>
        </p:spPr>
      </p:sp>
      <p:sp>
        <p:nvSpPr>
          <p:cNvPr id="4" name="edge-0-2">
            <a:extLst>
              <a:ext uri="{FF2B5EF4-FFF2-40B4-BE49-F238E27FC236}">
                <a16:creationId xmlns:a16="http://schemas.microsoft.com/office/drawing/2014/main" id="{E7AA2B3D-84D2-41DC-BF36-1101865941AF}"/>
              </a:ext>
            </a:extLst>
          </p:cNvPr>
          <p:cNvSpPr>
            <a:spLocks noGrp="1"/>
          </p:cNvSpPr>
          <p:nvPr/>
        </p:nvSpPr>
        <p:spPr>
          <a:xfrm>
            <a:off x="9305925" y="1905000"/>
            <a:ext cx="833438" cy="1000125"/>
          </a:xfrm>
          <a:prstGeom prst="line">
            <a:avLst/>
          </a:prstGeom>
          <a:noFill/>
          <a:ln w="16193">
            <a:solidFill>
              <a:srgbClr val="153143"/>
            </a:solidFill>
          </a:ln>
        </p:spPr>
      </p:sp>
      <p:sp>
        <p:nvSpPr>
          <p:cNvPr id="5" name="edge-1-3">
            <a:extLst>
              <a:ext uri="{FF2B5EF4-FFF2-40B4-BE49-F238E27FC236}">
                <a16:creationId xmlns:a16="http://schemas.microsoft.com/office/drawing/2014/main" id="{176DCA85-95C0-4D1C-8E59-D3FAC90A28A3}"/>
              </a:ext>
            </a:extLst>
          </p:cNvPr>
          <p:cNvSpPr>
            <a:spLocks noGrp="1"/>
          </p:cNvSpPr>
          <p:nvPr/>
        </p:nvSpPr>
        <p:spPr>
          <a:xfrm flipH="1">
            <a:off x="7805738" y="2905125"/>
            <a:ext cx="500063" cy="1066800"/>
          </a:xfrm>
          <a:prstGeom prst="line">
            <a:avLst/>
          </a:prstGeom>
          <a:noFill/>
          <a:ln w="16193">
            <a:solidFill>
              <a:srgbClr val="153143"/>
            </a:solidFill>
          </a:ln>
        </p:spPr>
      </p:sp>
      <p:sp>
        <p:nvSpPr>
          <p:cNvPr id="6" name="edge-1-4">
            <a:extLst>
              <a:ext uri="{FF2B5EF4-FFF2-40B4-BE49-F238E27FC236}">
                <a16:creationId xmlns:a16="http://schemas.microsoft.com/office/drawing/2014/main" id="{4998EB7D-DF7D-4D17-8CB2-D5778FD9FF9A}"/>
              </a:ext>
            </a:extLst>
          </p:cNvPr>
          <p:cNvSpPr>
            <a:spLocks noGrp="1"/>
          </p:cNvSpPr>
          <p:nvPr/>
        </p:nvSpPr>
        <p:spPr>
          <a:xfrm>
            <a:off x="8305800" y="2905125"/>
            <a:ext cx="566737" cy="1066800"/>
          </a:xfrm>
          <a:prstGeom prst="line">
            <a:avLst/>
          </a:prstGeom>
          <a:noFill/>
          <a:ln w="16193">
            <a:solidFill>
              <a:srgbClr val="153143"/>
            </a:solidFill>
          </a:ln>
        </p:spPr>
      </p:sp>
      <p:sp>
        <p:nvSpPr>
          <p:cNvPr id="7" name="edge-2-5">
            <a:extLst>
              <a:ext uri="{FF2B5EF4-FFF2-40B4-BE49-F238E27FC236}">
                <a16:creationId xmlns:a16="http://schemas.microsoft.com/office/drawing/2014/main" id="{1772C598-1D76-4D0C-82CD-0F123C71339E}"/>
              </a:ext>
            </a:extLst>
          </p:cNvPr>
          <p:cNvSpPr>
            <a:spLocks noGrp="1"/>
          </p:cNvSpPr>
          <p:nvPr/>
        </p:nvSpPr>
        <p:spPr>
          <a:xfrm>
            <a:off x="10139363" y="2905125"/>
            <a:ext cx="500063" cy="1066800"/>
          </a:xfrm>
          <a:prstGeom prst="line">
            <a:avLst/>
          </a:prstGeom>
          <a:noFill/>
          <a:ln w="16193">
            <a:solidFill>
              <a:srgbClr val="153143"/>
            </a:solidFill>
          </a:ln>
        </p:spPr>
      </p:sp>
      <p:sp>
        <p:nvSpPr>
          <p:cNvPr id="8" name="edge-4-6">
            <a:extLst>
              <a:ext uri="{FF2B5EF4-FFF2-40B4-BE49-F238E27FC236}">
                <a16:creationId xmlns:a16="http://schemas.microsoft.com/office/drawing/2014/main" id="{090413FB-9A74-459A-9336-98AE846D565D}"/>
              </a:ext>
            </a:extLst>
          </p:cNvPr>
          <p:cNvSpPr>
            <a:spLocks noGrp="1"/>
          </p:cNvSpPr>
          <p:nvPr/>
        </p:nvSpPr>
        <p:spPr>
          <a:xfrm flipH="1">
            <a:off x="8539163" y="3971925"/>
            <a:ext cx="333375" cy="1266825"/>
          </a:xfrm>
          <a:prstGeom prst="line">
            <a:avLst/>
          </a:prstGeom>
          <a:noFill/>
          <a:ln w="16193">
            <a:solidFill>
              <a:srgbClr val="153143"/>
            </a:solidFill>
          </a:ln>
        </p:spPr>
      </p:sp>
      <p:sp>
        <p:nvSpPr>
          <p:cNvPr id="9" name="edge-4-7">
            <a:extLst>
              <a:ext uri="{FF2B5EF4-FFF2-40B4-BE49-F238E27FC236}">
                <a16:creationId xmlns:a16="http://schemas.microsoft.com/office/drawing/2014/main" id="{2F27B48C-01F8-43CA-92B6-0964A3E5D60D}"/>
              </a:ext>
            </a:extLst>
          </p:cNvPr>
          <p:cNvSpPr>
            <a:spLocks noGrp="1"/>
          </p:cNvSpPr>
          <p:nvPr/>
        </p:nvSpPr>
        <p:spPr>
          <a:xfrm>
            <a:off x="8872538" y="3971925"/>
            <a:ext cx="333375" cy="1266825"/>
          </a:xfrm>
          <a:prstGeom prst="line">
            <a:avLst/>
          </a:prstGeom>
          <a:noFill/>
          <a:ln w="16193">
            <a:solidFill>
              <a:srgbClr val="153143"/>
            </a:solidFill>
          </a:ln>
        </p:spPr>
      </p:sp>
      <p:sp>
        <p:nvSpPr>
          <p:cNvPr id="10" name="edge-5-8">
            <a:extLst>
              <a:ext uri="{FF2B5EF4-FFF2-40B4-BE49-F238E27FC236}">
                <a16:creationId xmlns:a16="http://schemas.microsoft.com/office/drawing/2014/main" id="{0AAD0CE5-180C-4E0C-B34D-986F92194C15}"/>
              </a:ext>
            </a:extLst>
          </p:cNvPr>
          <p:cNvSpPr>
            <a:spLocks noGrp="1"/>
          </p:cNvSpPr>
          <p:nvPr/>
        </p:nvSpPr>
        <p:spPr>
          <a:xfrm flipH="1">
            <a:off x="10306050" y="3971925"/>
            <a:ext cx="333375" cy="1266825"/>
          </a:xfrm>
          <a:prstGeom prst="line">
            <a:avLst/>
          </a:prstGeom>
          <a:noFill/>
          <a:ln w="16193">
            <a:solidFill>
              <a:srgbClr val="153143"/>
            </a:solidFill>
          </a:ln>
        </p:spPr>
      </p:sp>
      <p:sp>
        <p:nvSpPr>
          <p:cNvPr id="11" name="edge-5-9">
            <a:extLst>
              <a:ext uri="{FF2B5EF4-FFF2-40B4-BE49-F238E27FC236}">
                <a16:creationId xmlns:a16="http://schemas.microsoft.com/office/drawing/2014/main" id="{39EDA229-2FBA-44F6-ACAE-CA3DF612AACA}"/>
              </a:ext>
            </a:extLst>
          </p:cNvPr>
          <p:cNvSpPr>
            <a:spLocks noGrp="1"/>
          </p:cNvSpPr>
          <p:nvPr/>
        </p:nvSpPr>
        <p:spPr>
          <a:xfrm>
            <a:off x="10639425" y="3971925"/>
            <a:ext cx="333375" cy="1266825"/>
          </a:xfrm>
          <a:prstGeom prst="line">
            <a:avLst/>
          </a:prstGeom>
          <a:noFill/>
          <a:ln w="16193">
            <a:solidFill>
              <a:srgbClr val="153143"/>
            </a:solidFill>
          </a:ln>
        </p:spPr>
      </p:sp>
      <p:sp>
        <p:nvSpPr>
          <p:cNvPr id="12" name="node-12">
            <a:extLst>
              <a:ext uri="{FF2B5EF4-FFF2-40B4-BE49-F238E27FC236}">
                <a16:creationId xmlns:a16="http://schemas.microsoft.com/office/drawing/2014/main" id="{FBFFA594-B00B-4579-B5A7-B4B5CB7A817B}"/>
              </a:ext>
            </a:extLst>
          </p:cNvPr>
          <p:cNvSpPr>
            <a:spLocks noGrp="1"/>
          </p:cNvSpPr>
          <p:nvPr/>
        </p:nvSpPr>
        <p:spPr>
          <a:xfrm>
            <a:off x="9086850" y="168592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12</a:t>
            </a:r>
          </a:p>
        </p:txBody>
      </p:sp>
      <p:sp>
        <p:nvSpPr>
          <p:cNvPr id="13" name="node-5">
            <a:extLst>
              <a:ext uri="{FF2B5EF4-FFF2-40B4-BE49-F238E27FC236}">
                <a16:creationId xmlns:a16="http://schemas.microsoft.com/office/drawing/2014/main" id="{1005D609-6E0A-4DFE-9157-A66CEA039244}"/>
              </a:ext>
            </a:extLst>
          </p:cNvPr>
          <p:cNvSpPr>
            <a:spLocks noGrp="1"/>
          </p:cNvSpPr>
          <p:nvPr/>
        </p:nvSpPr>
        <p:spPr>
          <a:xfrm>
            <a:off x="8086725" y="2686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5</a:t>
            </a:r>
          </a:p>
        </p:txBody>
      </p:sp>
      <p:sp>
        <p:nvSpPr>
          <p:cNvPr id="14" name="node-15">
            <a:extLst>
              <a:ext uri="{FF2B5EF4-FFF2-40B4-BE49-F238E27FC236}">
                <a16:creationId xmlns:a16="http://schemas.microsoft.com/office/drawing/2014/main" id="{A6903AE6-1277-461B-8390-EBEF45ED04EC}"/>
              </a:ext>
            </a:extLst>
          </p:cNvPr>
          <p:cNvSpPr>
            <a:spLocks noGrp="1"/>
          </p:cNvSpPr>
          <p:nvPr/>
        </p:nvSpPr>
        <p:spPr>
          <a:xfrm>
            <a:off x="9920288" y="2686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15</a:t>
            </a:r>
          </a:p>
        </p:txBody>
      </p:sp>
      <p:sp>
        <p:nvSpPr>
          <p:cNvPr id="15" name="node-2">
            <a:extLst>
              <a:ext uri="{FF2B5EF4-FFF2-40B4-BE49-F238E27FC236}">
                <a16:creationId xmlns:a16="http://schemas.microsoft.com/office/drawing/2014/main" id="{7078DBAA-72A6-4841-8EFE-5FC91A604CFE}"/>
              </a:ext>
            </a:extLst>
          </p:cNvPr>
          <p:cNvSpPr>
            <a:spLocks noGrp="1"/>
          </p:cNvSpPr>
          <p:nvPr/>
        </p:nvSpPr>
        <p:spPr>
          <a:xfrm>
            <a:off x="7586663"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a:t>
            </a:r>
          </a:p>
        </p:txBody>
      </p:sp>
      <p:sp>
        <p:nvSpPr>
          <p:cNvPr id="16" name="node-9">
            <a:extLst>
              <a:ext uri="{FF2B5EF4-FFF2-40B4-BE49-F238E27FC236}">
                <a16:creationId xmlns:a16="http://schemas.microsoft.com/office/drawing/2014/main" id="{E6B17A30-2288-4830-9C93-54E3E8FA8EA5}"/>
              </a:ext>
            </a:extLst>
          </p:cNvPr>
          <p:cNvSpPr>
            <a:spLocks noGrp="1"/>
          </p:cNvSpPr>
          <p:nvPr/>
        </p:nvSpPr>
        <p:spPr>
          <a:xfrm>
            <a:off x="8653463"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9</a:t>
            </a:r>
          </a:p>
        </p:txBody>
      </p:sp>
      <p:sp>
        <p:nvSpPr>
          <p:cNvPr id="17" name="node-20">
            <a:extLst>
              <a:ext uri="{FF2B5EF4-FFF2-40B4-BE49-F238E27FC236}">
                <a16:creationId xmlns:a16="http://schemas.microsoft.com/office/drawing/2014/main" id="{17FC028F-7045-426F-AB93-F1AD7F61708D}"/>
              </a:ext>
            </a:extLst>
          </p:cNvPr>
          <p:cNvSpPr>
            <a:spLocks noGrp="1"/>
          </p:cNvSpPr>
          <p:nvPr/>
        </p:nvSpPr>
        <p:spPr>
          <a:xfrm>
            <a:off x="10420350"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20</a:t>
            </a:r>
          </a:p>
        </p:txBody>
      </p:sp>
      <p:sp>
        <p:nvSpPr>
          <p:cNvPr id="18" name="node-7">
            <a:extLst>
              <a:ext uri="{FF2B5EF4-FFF2-40B4-BE49-F238E27FC236}">
                <a16:creationId xmlns:a16="http://schemas.microsoft.com/office/drawing/2014/main" id="{91791BF9-BC5E-4618-9E16-E92607E5784E}"/>
              </a:ext>
            </a:extLst>
          </p:cNvPr>
          <p:cNvSpPr>
            <a:spLocks noGrp="1"/>
          </p:cNvSpPr>
          <p:nvPr/>
        </p:nvSpPr>
        <p:spPr>
          <a:xfrm>
            <a:off x="8320088"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7</a:t>
            </a:r>
          </a:p>
        </p:txBody>
      </p:sp>
      <p:sp>
        <p:nvSpPr>
          <p:cNvPr id="19" name="node-10">
            <a:extLst>
              <a:ext uri="{FF2B5EF4-FFF2-40B4-BE49-F238E27FC236}">
                <a16:creationId xmlns:a16="http://schemas.microsoft.com/office/drawing/2014/main" id="{19FA29FC-6319-4043-AE18-ED2C910ECE0F}"/>
              </a:ext>
            </a:extLst>
          </p:cNvPr>
          <p:cNvSpPr>
            <a:spLocks noGrp="1"/>
          </p:cNvSpPr>
          <p:nvPr/>
        </p:nvSpPr>
        <p:spPr>
          <a:xfrm>
            <a:off x="8986838"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10</a:t>
            </a:r>
          </a:p>
        </p:txBody>
      </p:sp>
      <p:sp>
        <p:nvSpPr>
          <p:cNvPr id="20" name="node-17">
            <a:extLst>
              <a:ext uri="{FF2B5EF4-FFF2-40B4-BE49-F238E27FC236}">
                <a16:creationId xmlns:a16="http://schemas.microsoft.com/office/drawing/2014/main" id="{6899C4D1-7383-43B0-BA5E-F9BAA05E3B08}"/>
              </a:ext>
            </a:extLst>
          </p:cNvPr>
          <p:cNvSpPr>
            <a:spLocks noGrp="1"/>
          </p:cNvSpPr>
          <p:nvPr/>
        </p:nvSpPr>
        <p:spPr>
          <a:xfrm>
            <a:off x="10086975"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17</a:t>
            </a:r>
          </a:p>
        </p:txBody>
      </p:sp>
      <p:sp>
        <p:nvSpPr>
          <p:cNvPr id="21" name="node-30">
            <a:extLst>
              <a:ext uri="{FF2B5EF4-FFF2-40B4-BE49-F238E27FC236}">
                <a16:creationId xmlns:a16="http://schemas.microsoft.com/office/drawing/2014/main" id="{58A9DE97-4947-430D-8433-3308D6925F6A}"/>
              </a:ext>
            </a:extLst>
          </p:cNvPr>
          <p:cNvSpPr>
            <a:spLocks noGrp="1"/>
          </p:cNvSpPr>
          <p:nvPr/>
        </p:nvSpPr>
        <p:spPr>
          <a:xfrm>
            <a:off x="10753725"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30</a:t>
            </a:r>
          </a:p>
        </p:txBody>
      </p:sp>
      <p:sp>
        <p:nvSpPr>
          <p:cNvPr id="22" name="activity-cue">
            <a:extLst>
              <a:ext uri="{FF2B5EF4-FFF2-40B4-BE49-F238E27FC236}">
                <a16:creationId xmlns:a16="http://schemas.microsoft.com/office/drawing/2014/main" id="{EDCDA58B-3076-4CF2-B588-10D49A3E4B57}"/>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Trace independently before checking with a partner. 2 minutes</a:t>
            </a:r>
          </a:p>
        </p:txBody>
      </p:sp>
      <p:sp>
        <p:nvSpPr>
          <p:cNvPr id="23" name="local-java-SearchDemo">
            <a:extLst>
              <a:ext uri="{FF2B5EF4-FFF2-40B4-BE49-F238E27FC236}">
                <a16:creationId xmlns:a16="http://schemas.microsoft.com/office/drawing/2014/main" id="{57A4BE93-D959-475F-8B57-D7BEB1053D3C}"/>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SearchDemo.java</a:t>
            </a:r>
          </a:p>
        </p:txBody>
      </p:sp>
      <p:sp>
        <p:nvSpPr>
          <p:cNvPr id="24" name="page">
            <a:extLst>
              <a:ext uri="{FF2B5EF4-FFF2-40B4-BE49-F238E27FC236}">
                <a16:creationId xmlns:a16="http://schemas.microsoft.com/office/drawing/2014/main" id="{1948AE47-B39E-4F53-B660-8CE5270ED3A2}"/>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20</a:t>
            </a:r>
          </a:p>
        </p:txBody>
      </p:sp>
    </p:spTree>
    <p:extLst>
      <p:ext uri="{BB962C8B-B14F-4D97-AF65-F5344CB8AC3E}">
        <p14:creationId xmlns:p14="http://schemas.microsoft.com/office/powerpoint/2010/main" val="614680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9" name="text-0">
            <a:extLst>
              <a:ext uri="{FF2B5EF4-FFF2-40B4-BE49-F238E27FC236}">
                <a16:creationId xmlns:a16="http://schemas.microsoft.com/office/drawing/2014/main" id="{5DB64835-4DF4-4E4F-AA9D-CD0922BEC5B4}"/>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Insertion attaches a new leaf</a:t>
            </a:r>
          </a:p>
        </p:txBody>
      </p:sp>
      <p:sp>
        <p:nvSpPr>
          <p:cNvPr id="3" name="text-2">
            <a:extLst>
              <a:ext uri="{FF2B5EF4-FFF2-40B4-BE49-F238E27FC236}">
                <a16:creationId xmlns:a16="http://schemas.microsoft.com/office/drawing/2014/main" id="{50C77CA1-BF89-4C68-95D7-D78A237E2207}"/>
              </a:ext>
            </a:extLst>
          </p:cNvPr>
          <p:cNvSpPr>
            <a:spLocks noGrp="1"/>
          </p:cNvSpPr>
          <p:nvPr/>
        </p:nvSpPr>
        <p:spPr>
          <a:xfrm>
            <a:off x="609600" y="1619250"/>
            <a:ext cx="5619750" cy="381000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Search for the new key.</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If an equal key exists, return false.</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Otherwise, attach a new node</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at the first missing child link.</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An empty tree gets a new root.</a:t>
            </a:r>
          </a:p>
        </p:txBody>
      </p:sp>
      <p:sp>
        <p:nvSpPr>
          <p:cNvPr id="4" name="source-diagram-dg15-30">
            <a:extLst>
              <a:ext uri="{FF2B5EF4-FFF2-40B4-BE49-F238E27FC236}">
                <a16:creationId xmlns:a16="http://schemas.microsoft.com/office/drawing/2014/main" id="{A47C2BF4-03FF-4DA6-8005-0B3D6996CB47}"/>
              </a:ext>
            </a:extLst>
          </p:cNvPr>
          <p:cNvSpPr>
            <a:spLocks noGrp="1"/>
          </p:cNvSpPr>
          <p:nvPr/>
        </p:nvSpPr>
        <p:spPr>
          <a:xfrm>
            <a:off x="8379554"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9</a:t>
            </a:r>
          </a:p>
        </p:txBody>
      </p:sp>
      <p:sp>
        <p:nvSpPr>
          <p:cNvPr id="5" name="source-diagram-dg15-31">
            <a:extLst>
              <a:ext uri="{FF2B5EF4-FFF2-40B4-BE49-F238E27FC236}">
                <a16:creationId xmlns:a16="http://schemas.microsoft.com/office/drawing/2014/main" id="{F6FD3E75-076A-4AB0-8590-8D3A6B140ECD}"/>
              </a:ext>
            </a:extLst>
          </p:cNvPr>
          <p:cNvSpPr>
            <a:spLocks noGrp="1"/>
          </p:cNvSpPr>
          <p:nvPr/>
        </p:nvSpPr>
        <p:spPr>
          <a:xfrm>
            <a:off x="7143750"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2</a:t>
            </a:r>
          </a:p>
        </p:txBody>
      </p:sp>
      <p:sp>
        <p:nvSpPr>
          <p:cNvPr id="6" name="source-diagram-dg15-32">
            <a:extLst>
              <a:ext uri="{FF2B5EF4-FFF2-40B4-BE49-F238E27FC236}">
                <a16:creationId xmlns:a16="http://schemas.microsoft.com/office/drawing/2014/main" id="{E642F5E1-D6A6-4A97-9D4F-C6CB3B852DC7}"/>
              </a:ext>
            </a:extLst>
          </p:cNvPr>
          <p:cNvSpPr>
            <a:spLocks noGrp="1"/>
          </p:cNvSpPr>
          <p:nvPr/>
        </p:nvSpPr>
        <p:spPr>
          <a:xfrm>
            <a:off x="9669576" y="24645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15</a:t>
            </a:r>
          </a:p>
        </p:txBody>
      </p:sp>
      <p:sp>
        <p:nvSpPr>
          <p:cNvPr id="7" name="source-diagram-dg15-33">
            <a:extLst>
              <a:ext uri="{FF2B5EF4-FFF2-40B4-BE49-F238E27FC236}">
                <a16:creationId xmlns:a16="http://schemas.microsoft.com/office/drawing/2014/main" id="{129E2516-5F89-47BF-97DC-63D927793BF1}"/>
              </a:ext>
            </a:extLst>
          </p:cNvPr>
          <p:cNvSpPr>
            <a:spLocks noGrp="1"/>
          </p:cNvSpPr>
          <p:nvPr/>
        </p:nvSpPr>
        <p:spPr>
          <a:xfrm>
            <a:off x="7740125" y="24645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5</a:t>
            </a:r>
          </a:p>
        </p:txBody>
      </p:sp>
      <p:sp>
        <p:nvSpPr>
          <p:cNvPr id="8" name="source-diagram-dg15-57">
            <a:extLst>
              <a:ext uri="{FF2B5EF4-FFF2-40B4-BE49-F238E27FC236}">
                <a16:creationId xmlns:a16="http://schemas.microsoft.com/office/drawing/2014/main" id="{214408AF-0653-4DE3-BEEA-37711CB55178}"/>
              </a:ext>
            </a:extLst>
          </p:cNvPr>
          <p:cNvSpPr>
            <a:spLocks noGrp="1"/>
          </p:cNvSpPr>
          <p:nvPr/>
        </p:nvSpPr>
        <p:spPr>
          <a:xfrm>
            <a:off x="8751094" y="1571625"/>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12</a:t>
            </a:r>
          </a:p>
        </p:txBody>
      </p:sp>
      <p:cxnSp>
        <p:nvCxnSpPr>
          <p:cNvPr id="9" name="source-diagram-dg15-58">
            <a:extLst>
              <a:ext uri="{FF2B5EF4-FFF2-40B4-BE49-F238E27FC236}">
                <a16:creationId xmlns:a16="http://schemas.microsoft.com/office/drawing/2014/main" id="{0275720D-F571-4E6E-A106-D6A22E60ABEF}"/>
              </a:ext>
            </a:extLst>
          </p:cNvPr>
          <p:cNvCxnSpPr/>
          <p:nvPr/>
        </p:nvCxnSpPr>
        <p:spPr>
          <a:xfrm flipH="1">
            <a:off x="7931475" y="1898281"/>
            <a:ext cx="875664" cy="566313"/>
          </a:xfrm>
          <a:prstGeom prst="straightConnector1">
            <a:avLst/>
          </a:prstGeom>
          <a:ln w="9525">
            <a:solidFill>
              <a:srgbClr val="142E42"/>
            </a:solidFill>
            <a:round/>
            <a:headEnd type="none" w="med" len="med"/>
            <a:tailEnd type="none" w="med" len="med"/>
          </a:ln>
        </p:spPr>
      </p:cxnSp>
      <p:cxnSp>
        <p:nvCxnSpPr>
          <p:cNvPr id="10" name="source-diagram-dg15-59">
            <a:extLst>
              <a:ext uri="{FF2B5EF4-FFF2-40B4-BE49-F238E27FC236}">
                <a16:creationId xmlns:a16="http://schemas.microsoft.com/office/drawing/2014/main" id="{28EC1BB2-C4C5-4F91-833D-15F3D2BC6FD7}"/>
              </a:ext>
            </a:extLst>
          </p:cNvPr>
          <p:cNvCxnSpPr/>
          <p:nvPr/>
        </p:nvCxnSpPr>
        <p:spPr>
          <a:xfrm>
            <a:off x="9077750" y="1898281"/>
            <a:ext cx="783177" cy="566313"/>
          </a:xfrm>
          <a:prstGeom prst="straightConnector1">
            <a:avLst/>
          </a:prstGeom>
          <a:ln w="9525">
            <a:solidFill>
              <a:srgbClr val="142E42"/>
            </a:solidFill>
            <a:round/>
            <a:headEnd type="none" w="med" len="med"/>
            <a:tailEnd type="none" w="med" len="med"/>
          </a:ln>
        </p:spPr>
      </p:cxnSp>
      <p:cxnSp>
        <p:nvCxnSpPr>
          <p:cNvPr id="11" name="source-diagram-dg15-60">
            <a:extLst>
              <a:ext uri="{FF2B5EF4-FFF2-40B4-BE49-F238E27FC236}">
                <a16:creationId xmlns:a16="http://schemas.microsoft.com/office/drawing/2014/main" id="{E888DB9B-8D5D-452E-9D34-73E81262B60E}"/>
              </a:ext>
            </a:extLst>
          </p:cNvPr>
          <p:cNvCxnSpPr/>
          <p:nvPr/>
        </p:nvCxnSpPr>
        <p:spPr>
          <a:xfrm>
            <a:off x="9996232" y="2791250"/>
            <a:ext cx="477016" cy="510268"/>
          </a:xfrm>
          <a:prstGeom prst="straightConnector1">
            <a:avLst/>
          </a:prstGeom>
          <a:ln w="9525">
            <a:solidFill>
              <a:srgbClr val="142E42"/>
            </a:solidFill>
            <a:round/>
            <a:headEnd type="none" w="med" len="med"/>
            <a:tailEnd type="none" w="med" len="med"/>
          </a:ln>
        </p:spPr>
      </p:cxnSp>
      <p:cxnSp>
        <p:nvCxnSpPr>
          <p:cNvPr id="12" name="source-diagram-dg15-61">
            <a:extLst>
              <a:ext uri="{FF2B5EF4-FFF2-40B4-BE49-F238E27FC236}">
                <a16:creationId xmlns:a16="http://schemas.microsoft.com/office/drawing/2014/main" id="{998868A2-D5A9-4BA6-B1B0-AD5C69CB0631}"/>
              </a:ext>
            </a:extLst>
          </p:cNvPr>
          <p:cNvCxnSpPr/>
          <p:nvPr/>
        </p:nvCxnSpPr>
        <p:spPr>
          <a:xfrm flipH="1">
            <a:off x="7335100" y="2791250"/>
            <a:ext cx="461069" cy="510268"/>
          </a:xfrm>
          <a:prstGeom prst="straightConnector1">
            <a:avLst/>
          </a:prstGeom>
          <a:ln w="9525">
            <a:solidFill>
              <a:srgbClr val="142E42"/>
            </a:solidFill>
            <a:round/>
            <a:headEnd type="none" w="med" len="med"/>
            <a:tailEnd type="none" w="med" len="med"/>
          </a:ln>
        </p:spPr>
      </p:cxnSp>
      <p:cxnSp>
        <p:nvCxnSpPr>
          <p:cNvPr id="13" name="source-diagram-dg15-62">
            <a:extLst>
              <a:ext uri="{FF2B5EF4-FFF2-40B4-BE49-F238E27FC236}">
                <a16:creationId xmlns:a16="http://schemas.microsoft.com/office/drawing/2014/main" id="{B47F63D1-2089-4C7E-8AFE-A785849EF2C0}"/>
              </a:ext>
            </a:extLst>
          </p:cNvPr>
          <p:cNvCxnSpPr/>
          <p:nvPr/>
        </p:nvCxnSpPr>
        <p:spPr>
          <a:xfrm>
            <a:off x="8066780" y="2791250"/>
            <a:ext cx="504125" cy="510268"/>
          </a:xfrm>
          <a:prstGeom prst="straightConnector1">
            <a:avLst/>
          </a:prstGeom>
          <a:ln w="9525">
            <a:solidFill>
              <a:srgbClr val="142E42"/>
            </a:solidFill>
            <a:round/>
            <a:headEnd type="none" w="med" len="med"/>
            <a:tailEnd type="none" w="med" len="med"/>
          </a:ln>
        </p:spPr>
      </p:cxnSp>
      <p:sp>
        <p:nvSpPr>
          <p:cNvPr id="14" name="source-diagram-dg15-63">
            <a:extLst>
              <a:ext uri="{FF2B5EF4-FFF2-40B4-BE49-F238E27FC236}">
                <a16:creationId xmlns:a16="http://schemas.microsoft.com/office/drawing/2014/main" id="{91F696A2-46EA-4C90-9CD2-0D1A451688FC}"/>
              </a:ext>
            </a:extLst>
          </p:cNvPr>
          <p:cNvSpPr>
            <a:spLocks noGrp="1"/>
          </p:cNvSpPr>
          <p:nvPr/>
        </p:nvSpPr>
        <p:spPr>
          <a:xfrm>
            <a:off x="8008015" y="4250531"/>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7</a:t>
            </a:r>
          </a:p>
        </p:txBody>
      </p:sp>
      <p:cxnSp>
        <p:nvCxnSpPr>
          <p:cNvPr id="15" name="source-diagram-dg15-64">
            <a:extLst>
              <a:ext uri="{FF2B5EF4-FFF2-40B4-BE49-F238E27FC236}">
                <a16:creationId xmlns:a16="http://schemas.microsoft.com/office/drawing/2014/main" id="{68AEA958-FD8E-4B72-A6E1-5AA3A16623E3}"/>
              </a:ext>
            </a:extLst>
          </p:cNvPr>
          <p:cNvCxnSpPr/>
          <p:nvPr/>
        </p:nvCxnSpPr>
        <p:spPr>
          <a:xfrm flipH="1">
            <a:off x="8199366" y="3628173"/>
            <a:ext cx="236234" cy="622358"/>
          </a:xfrm>
          <a:prstGeom prst="straightConnector1">
            <a:avLst/>
          </a:prstGeom>
          <a:ln w="9525">
            <a:solidFill>
              <a:srgbClr val="142E42"/>
            </a:solidFill>
            <a:round/>
            <a:headEnd type="none" w="med" len="med"/>
            <a:tailEnd type="none" w="med" len="med"/>
          </a:ln>
        </p:spPr>
      </p:cxnSp>
      <p:sp>
        <p:nvSpPr>
          <p:cNvPr id="16" name="source-diagram-dg15-66">
            <a:extLst>
              <a:ext uri="{FF2B5EF4-FFF2-40B4-BE49-F238E27FC236}">
                <a16:creationId xmlns:a16="http://schemas.microsoft.com/office/drawing/2014/main" id="{A0393782-CC34-4AD7-87BC-2DF5E121E407}"/>
              </a:ext>
            </a:extLst>
          </p:cNvPr>
          <p:cNvSpPr>
            <a:spLocks noGrp="1"/>
          </p:cNvSpPr>
          <p:nvPr/>
        </p:nvSpPr>
        <p:spPr>
          <a:xfrm>
            <a:off x="10281897" y="3301517"/>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20</a:t>
            </a:r>
          </a:p>
        </p:txBody>
      </p:sp>
      <p:sp>
        <p:nvSpPr>
          <p:cNvPr id="17" name="source-diagram-dg15-67">
            <a:extLst>
              <a:ext uri="{FF2B5EF4-FFF2-40B4-BE49-F238E27FC236}">
                <a16:creationId xmlns:a16="http://schemas.microsoft.com/office/drawing/2014/main" id="{ED8DEC3F-2203-4C1F-8949-544AAA2FCD2E}"/>
              </a:ext>
            </a:extLst>
          </p:cNvPr>
          <p:cNvSpPr>
            <a:spLocks noGrp="1"/>
          </p:cNvSpPr>
          <p:nvPr/>
        </p:nvSpPr>
        <p:spPr>
          <a:xfrm>
            <a:off x="10664598" y="4250531"/>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30</a:t>
            </a:r>
          </a:p>
        </p:txBody>
      </p:sp>
      <p:cxnSp>
        <p:nvCxnSpPr>
          <p:cNvPr id="18" name="source-diagram-dg15-68">
            <a:extLst>
              <a:ext uri="{FF2B5EF4-FFF2-40B4-BE49-F238E27FC236}">
                <a16:creationId xmlns:a16="http://schemas.microsoft.com/office/drawing/2014/main" id="{DF714F72-D9B7-4103-87A8-6BFF23104360}"/>
              </a:ext>
            </a:extLst>
          </p:cNvPr>
          <p:cNvCxnSpPr/>
          <p:nvPr/>
        </p:nvCxnSpPr>
        <p:spPr>
          <a:xfrm>
            <a:off x="10608553" y="3628173"/>
            <a:ext cx="247396" cy="622358"/>
          </a:xfrm>
          <a:prstGeom prst="straightConnector1">
            <a:avLst/>
          </a:prstGeom>
          <a:ln w="9525">
            <a:solidFill>
              <a:srgbClr val="142E42"/>
            </a:solidFill>
            <a:round/>
            <a:headEnd type="none" w="med" len="med"/>
            <a:tailEnd type="none" w="med" len="med"/>
          </a:ln>
        </p:spPr>
      </p:cxnSp>
      <p:sp>
        <p:nvSpPr>
          <p:cNvPr id="19" name="source-diagram-dg15-69">
            <a:extLst>
              <a:ext uri="{FF2B5EF4-FFF2-40B4-BE49-F238E27FC236}">
                <a16:creationId xmlns:a16="http://schemas.microsoft.com/office/drawing/2014/main" id="{C6C21D5A-08B7-41EC-AE4A-FC62CEA88E2A}"/>
              </a:ext>
            </a:extLst>
          </p:cNvPr>
          <p:cNvSpPr>
            <a:spLocks noGrp="1"/>
          </p:cNvSpPr>
          <p:nvPr/>
        </p:nvSpPr>
        <p:spPr>
          <a:xfrm>
            <a:off x="9899196" y="4242559"/>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17</a:t>
            </a:r>
          </a:p>
        </p:txBody>
      </p:sp>
      <p:cxnSp>
        <p:nvCxnSpPr>
          <p:cNvPr id="20" name="source-diagram-dg15-70">
            <a:extLst>
              <a:ext uri="{FF2B5EF4-FFF2-40B4-BE49-F238E27FC236}">
                <a16:creationId xmlns:a16="http://schemas.microsoft.com/office/drawing/2014/main" id="{ACE6EF33-7E20-4357-8483-A862EB49E99A}"/>
              </a:ext>
            </a:extLst>
          </p:cNvPr>
          <p:cNvCxnSpPr/>
          <p:nvPr/>
        </p:nvCxnSpPr>
        <p:spPr>
          <a:xfrm flipH="1">
            <a:off x="10090547" y="3628173"/>
            <a:ext cx="247396" cy="614386"/>
          </a:xfrm>
          <a:prstGeom prst="straightConnector1">
            <a:avLst/>
          </a:prstGeom>
          <a:ln w="9525">
            <a:solidFill>
              <a:srgbClr val="142E42"/>
            </a:solidFill>
            <a:round/>
            <a:headEnd type="none" w="med" len="med"/>
            <a:tailEnd type="none" w="med" len="med"/>
          </a:ln>
        </p:spPr>
      </p:cxnSp>
      <p:sp>
        <p:nvSpPr>
          <p:cNvPr id="21" name="source-diagram-dg15-71">
            <a:extLst>
              <a:ext uri="{FF2B5EF4-FFF2-40B4-BE49-F238E27FC236}">
                <a16:creationId xmlns:a16="http://schemas.microsoft.com/office/drawing/2014/main" id="{C26C50D7-3A93-450E-B004-4915F02BFA34}"/>
              </a:ext>
            </a:extLst>
          </p:cNvPr>
          <p:cNvSpPr>
            <a:spLocks noGrp="1"/>
          </p:cNvSpPr>
          <p:nvPr/>
        </p:nvSpPr>
        <p:spPr>
          <a:xfrm>
            <a:off x="8751094" y="4261694"/>
            <a:ext cx="382701" cy="382701"/>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45" b="0">
                <a:solidFill>
                  <a:srgbClr val="142E42"/>
                </a:solidFill>
                <a:latin typeface="Arial"/>
                <a:ea typeface="Arial"/>
                <a:cs typeface="Arial"/>
              </a:rPr>
              <a:t>10</a:t>
            </a:r>
          </a:p>
        </p:txBody>
      </p:sp>
      <p:cxnSp>
        <p:nvCxnSpPr>
          <p:cNvPr id="22" name="source-diagram-dg15-72">
            <a:extLst>
              <a:ext uri="{FF2B5EF4-FFF2-40B4-BE49-F238E27FC236}">
                <a16:creationId xmlns:a16="http://schemas.microsoft.com/office/drawing/2014/main" id="{8E6AC616-DDA1-4809-B8F2-27D46D74AD3B}"/>
              </a:ext>
            </a:extLst>
          </p:cNvPr>
          <p:cNvCxnSpPr/>
          <p:nvPr/>
        </p:nvCxnSpPr>
        <p:spPr>
          <a:xfrm>
            <a:off x="8706210" y="3628173"/>
            <a:ext cx="236234" cy="633521"/>
          </a:xfrm>
          <a:prstGeom prst="straightConnector1">
            <a:avLst/>
          </a:prstGeom>
          <a:ln w="9525">
            <a:solidFill>
              <a:srgbClr val="142E42"/>
            </a:solidFill>
            <a:round/>
            <a:headEnd type="none" w="med" len="med"/>
            <a:tailEnd type="none" w="med" len="med"/>
          </a:ln>
        </p:spPr>
      </p:cxnSp>
      <p:sp>
        <p:nvSpPr>
          <p:cNvPr id="23" name="source-diagram-dg15-73">
            <a:extLst>
              <a:ext uri="{FF2B5EF4-FFF2-40B4-BE49-F238E27FC236}">
                <a16:creationId xmlns:a16="http://schemas.microsoft.com/office/drawing/2014/main" id="{940B71E9-C81B-47C6-A6E6-582E99D2B5E7}"/>
              </a:ext>
            </a:extLst>
          </p:cNvPr>
          <p:cNvSpPr>
            <a:spLocks noGrp="1"/>
          </p:cNvSpPr>
          <p:nvPr/>
        </p:nvSpPr>
        <p:spPr>
          <a:xfrm>
            <a:off x="9133795" y="3301517"/>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13</a:t>
            </a:r>
          </a:p>
        </p:txBody>
      </p:sp>
      <p:cxnSp>
        <p:nvCxnSpPr>
          <p:cNvPr id="24" name="source-diagram-dg15-74">
            <a:extLst>
              <a:ext uri="{FF2B5EF4-FFF2-40B4-BE49-F238E27FC236}">
                <a16:creationId xmlns:a16="http://schemas.microsoft.com/office/drawing/2014/main" id="{B3C43296-2A30-4ABD-B63E-3E0580ACF3F1}"/>
              </a:ext>
            </a:extLst>
          </p:cNvPr>
          <p:cNvCxnSpPr/>
          <p:nvPr/>
        </p:nvCxnSpPr>
        <p:spPr>
          <a:xfrm flipH="1">
            <a:off x="9325145" y="2791250"/>
            <a:ext cx="400476" cy="510268"/>
          </a:xfrm>
          <a:prstGeom prst="straightConnector1">
            <a:avLst/>
          </a:prstGeom>
          <a:ln w="9525">
            <a:solidFill>
              <a:srgbClr val="142E42"/>
            </a:solidFill>
            <a:round/>
            <a:headEnd type="none" w="med" len="med"/>
            <a:tailEnd type="none" w="med" len="med"/>
          </a:ln>
        </p:spPr>
      </p:cxnSp>
      <p:sp>
        <p:nvSpPr>
          <p:cNvPr id="25" name="source-diagram-dg15-75">
            <a:extLst>
              <a:ext uri="{FF2B5EF4-FFF2-40B4-BE49-F238E27FC236}">
                <a16:creationId xmlns:a16="http://schemas.microsoft.com/office/drawing/2014/main" id="{82F61915-F4DD-4581-8FF2-68251AA017F6}"/>
              </a:ext>
            </a:extLst>
          </p:cNvPr>
          <p:cNvSpPr>
            <a:spLocks noGrp="1"/>
          </p:cNvSpPr>
          <p:nvPr/>
        </p:nvSpPr>
        <p:spPr>
          <a:xfrm>
            <a:off x="8368393" y="5046231"/>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8</a:t>
            </a:r>
          </a:p>
        </p:txBody>
      </p:sp>
      <p:cxnSp>
        <p:nvCxnSpPr>
          <p:cNvPr id="26" name="source-diagram-dg15-76">
            <a:extLst>
              <a:ext uri="{FF2B5EF4-FFF2-40B4-BE49-F238E27FC236}">
                <a16:creationId xmlns:a16="http://schemas.microsoft.com/office/drawing/2014/main" id="{923322BE-331C-49DE-9E45-993033968242}"/>
              </a:ext>
            </a:extLst>
          </p:cNvPr>
          <p:cNvCxnSpPr/>
          <p:nvPr/>
        </p:nvCxnSpPr>
        <p:spPr>
          <a:xfrm>
            <a:off x="8334671" y="4577187"/>
            <a:ext cx="225072" cy="469044"/>
          </a:xfrm>
          <a:prstGeom prst="straightConnector1">
            <a:avLst/>
          </a:prstGeom>
          <a:ln w="9525">
            <a:solidFill>
              <a:srgbClr val="142E42"/>
            </a:solidFill>
            <a:round/>
            <a:headEnd type="none" w="med" len="med"/>
            <a:tailEnd type="none" w="med" len="med"/>
          </a:ln>
        </p:spPr>
      </p:cxnSp>
      <p:sp>
        <p:nvSpPr>
          <p:cNvPr id="27" name="source-diagram-dg15-77">
            <a:extLst>
              <a:ext uri="{FF2B5EF4-FFF2-40B4-BE49-F238E27FC236}">
                <a16:creationId xmlns:a16="http://schemas.microsoft.com/office/drawing/2014/main" id="{7D56FB65-86C3-46ED-AD3C-7944A0463639}"/>
              </a:ext>
            </a:extLst>
          </p:cNvPr>
          <p:cNvSpPr>
            <a:spLocks noGrp="1"/>
          </p:cNvSpPr>
          <p:nvPr/>
        </p:nvSpPr>
        <p:spPr>
          <a:xfrm>
            <a:off x="11047299" y="5046231"/>
            <a:ext cx="382701" cy="382701"/>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45" b="0">
                <a:solidFill>
                  <a:srgbClr val="FFFFFF"/>
                </a:solidFill>
                <a:latin typeface="Arial"/>
                <a:ea typeface="Arial"/>
                <a:cs typeface="Arial"/>
              </a:rPr>
              <a:t>31</a:t>
            </a:r>
          </a:p>
        </p:txBody>
      </p:sp>
      <p:cxnSp>
        <p:nvCxnSpPr>
          <p:cNvPr id="28" name="source-diagram-dg15-78">
            <a:extLst>
              <a:ext uri="{FF2B5EF4-FFF2-40B4-BE49-F238E27FC236}">
                <a16:creationId xmlns:a16="http://schemas.microsoft.com/office/drawing/2014/main" id="{506B2064-F86F-43C1-AD01-870BCD894F1E}"/>
              </a:ext>
            </a:extLst>
          </p:cNvPr>
          <p:cNvCxnSpPr/>
          <p:nvPr/>
        </p:nvCxnSpPr>
        <p:spPr>
          <a:xfrm>
            <a:off x="10991254" y="4577187"/>
            <a:ext cx="247396" cy="469044"/>
          </a:xfrm>
          <a:prstGeom prst="straightConnector1">
            <a:avLst/>
          </a:prstGeom>
          <a:ln w="9525">
            <a:solidFill>
              <a:srgbClr val="142E42"/>
            </a:solidFill>
            <a:round/>
            <a:headEnd type="none" w="med" len="med"/>
            <a:tailEnd type="none" w="med" len="med"/>
          </a:ln>
        </p:spPr>
      </p:cxnSp>
      <p:sp>
        <p:nvSpPr>
          <p:cNvPr id="30" name="local-java-InsertionDemo">
            <a:extLst>
              <a:ext uri="{FF2B5EF4-FFF2-40B4-BE49-F238E27FC236}">
                <a16:creationId xmlns:a16="http://schemas.microsoft.com/office/drawing/2014/main" id="{EC76CAEF-A598-4419-8278-DC89DB39FBF0}"/>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InsertionDemo.java</a:t>
            </a:r>
          </a:p>
        </p:txBody>
      </p:sp>
      <p:sp>
        <p:nvSpPr>
          <p:cNvPr id="31" name="page">
            <a:extLst>
              <a:ext uri="{FF2B5EF4-FFF2-40B4-BE49-F238E27FC236}">
                <a16:creationId xmlns:a16="http://schemas.microsoft.com/office/drawing/2014/main" id="{9A379F79-020D-4411-91A0-6040585D07AD}"/>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21</a:t>
            </a:r>
          </a:p>
        </p:txBody>
      </p:sp>
    </p:spTree>
    <p:extLst>
      <p:ext uri="{BB962C8B-B14F-4D97-AF65-F5344CB8AC3E}">
        <p14:creationId xmlns:p14="http://schemas.microsoft.com/office/powerpoint/2010/main" val="692640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5" name="text-0">
            <a:extLst>
              <a:ext uri="{FF2B5EF4-FFF2-40B4-BE49-F238E27FC236}">
                <a16:creationId xmlns:a16="http://schemas.microsoft.com/office/drawing/2014/main" id="{B1279EC4-10EB-4B91-BF1B-40446729EE5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Worked insertion: key 13</a:t>
            </a:r>
          </a:p>
        </p:txBody>
      </p:sp>
      <p:sp>
        <p:nvSpPr>
          <p:cNvPr id="3" name="text-2">
            <a:extLst>
              <a:ext uri="{FF2B5EF4-FFF2-40B4-BE49-F238E27FC236}">
                <a16:creationId xmlns:a16="http://schemas.microsoft.com/office/drawing/2014/main" id="{E479E728-0592-4F9F-81B8-144D9C22D834}"/>
              </a:ext>
            </a:extLst>
          </p:cNvPr>
          <p:cNvSpPr>
            <a:spLocks noGrp="1"/>
          </p:cNvSpPr>
          <p:nvPr/>
        </p:nvSpPr>
        <p:spPr>
          <a:xfrm>
            <a:off x="609600" y="1619250"/>
            <a:ext cx="5619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Compare with 12: 13 is larger.</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Compare with 15: 13 is smaller.</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The left link of 15 is empty.</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Attach node 13 there.</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The BST ordering rule still holds.</a:t>
            </a:r>
          </a:p>
        </p:txBody>
      </p:sp>
      <p:sp>
        <p:nvSpPr>
          <p:cNvPr id="4" name="source-diagram-dg16-30">
            <a:extLst>
              <a:ext uri="{FF2B5EF4-FFF2-40B4-BE49-F238E27FC236}">
                <a16:creationId xmlns:a16="http://schemas.microsoft.com/office/drawing/2014/main" id="{A47C2BF4-03FF-4DA6-8005-0B3D6996CB47}"/>
              </a:ext>
            </a:extLst>
          </p:cNvPr>
          <p:cNvSpPr>
            <a:spLocks noGrp="1"/>
          </p:cNvSpPr>
          <p:nvPr/>
        </p:nvSpPr>
        <p:spPr>
          <a:xfrm>
            <a:off x="8488027"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9</a:t>
            </a:r>
          </a:p>
        </p:txBody>
      </p:sp>
      <p:sp>
        <p:nvSpPr>
          <p:cNvPr id="5" name="source-diagram-dg16-31">
            <a:extLst>
              <a:ext uri="{FF2B5EF4-FFF2-40B4-BE49-F238E27FC236}">
                <a16:creationId xmlns:a16="http://schemas.microsoft.com/office/drawing/2014/main" id="{F6FD3E75-076A-4AB0-8590-8D3A6B140ECD}"/>
              </a:ext>
            </a:extLst>
          </p:cNvPr>
          <p:cNvSpPr>
            <a:spLocks noGrp="1"/>
          </p:cNvSpPr>
          <p:nvPr/>
        </p:nvSpPr>
        <p:spPr>
          <a:xfrm>
            <a:off x="7191375"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2</a:t>
            </a:r>
          </a:p>
        </p:txBody>
      </p:sp>
      <p:sp>
        <p:nvSpPr>
          <p:cNvPr id="6" name="source-diagram-dg16-32">
            <a:extLst>
              <a:ext uri="{FF2B5EF4-FFF2-40B4-BE49-F238E27FC236}">
                <a16:creationId xmlns:a16="http://schemas.microsoft.com/office/drawing/2014/main" id="{E642F5E1-D6A6-4A97-9D4F-C6CB3B852DC7}"/>
              </a:ext>
            </a:extLst>
          </p:cNvPr>
          <p:cNvSpPr>
            <a:spLocks noGrp="1"/>
          </p:cNvSpPr>
          <p:nvPr/>
        </p:nvSpPr>
        <p:spPr>
          <a:xfrm>
            <a:off x="9841566" y="2508561"/>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15</a:t>
            </a:r>
          </a:p>
        </p:txBody>
      </p:sp>
      <p:sp>
        <p:nvSpPr>
          <p:cNvPr id="7" name="source-diagram-dg16-33">
            <a:extLst>
              <a:ext uri="{FF2B5EF4-FFF2-40B4-BE49-F238E27FC236}">
                <a16:creationId xmlns:a16="http://schemas.microsoft.com/office/drawing/2014/main" id="{129E2516-5F89-47BF-97DC-63D927793BF1}"/>
              </a:ext>
            </a:extLst>
          </p:cNvPr>
          <p:cNvSpPr>
            <a:spLocks noGrp="1"/>
          </p:cNvSpPr>
          <p:nvPr/>
        </p:nvSpPr>
        <p:spPr>
          <a:xfrm>
            <a:off x="7817114" y="2508561"/>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5</a:t>
            </a:r>
          </a:p>
        </p:txBody>
      </p:sp>
      <p:sp>
        <p:nvSpPr>
          <p:cNvPr id="8" name="source-diagram-dg16-57">
            <a:extLst>
              <a:ext uri="{FF2B5EF4-FFF2-40B4-BE49-F238E27FC236}">
                <a16:creationId xmlns:a16="http://schemas.microsoft.com/office/drawing/2014/main" id="{214408AF-0653-4DE3-BEEA-37711CB55178}"/>
              </a:ext>
            </a:extLst>
          </p:cNvPr>
          <p:cNvSpPr>
            <a:spLocks noGrp="1"/>
          </p:cNvSpPr>
          <p:nvPr/>
        </p:nvSpPr>
        <p:spPr>
          <a:xfrm>
            <a:off x="8877860" y="1571625"/>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12</a:t>
            </a:r>
          </a:p>
        </p:txBody>
      </p:sp>
      <p:cxnSp>
        <p:nvCxnSpPr>
          <p:cNvPr id="9" name="source-diagram-dg16-58">
            <a:extLst>
              <a:ext uri="{FF2B5EF4-FFF2-40B4-BE49-F238E27FC236}">
                <a16:creationId xmlns:a16="http://schemas.microsoft.com/office/drawing/2014/main" id="{6B6BA0F7-71AD-43AB-9E7B-529E79F3ABB0}"/>
              </a:ext>
            </a:extLst>
          </p:cNvPr>
          <p:cNvCxnSpPr/>
          <p:nvPr/>
        </p:nvCxnSpPr>
        <p:spPr>
          <a:xfrm flipH="1">
            <a:off x="8017886" y="1914365"/>
            <a:ext cx="918779" cy="594197"/>
          </a:xfrm>
          <a:prstGeom prst="straightConnector1">
            <a:avLst/>
          </a:prstGeom>
          <a:ln w="9525">
            <a:solidFill>
              <a:srgbClr val="142E42"/>
            </a:solidFill>
            <a:round/>
            <a:headEnd type="none" w="med" len="med"/>
            <a:tailEnd type="none" w="med" len="med"/>
          </a:ln>
        </p:spPr>
      </p:cxnSp>
      <p:cxnSp>
        <p:nvCxnSpPr>
          <p:cNvPr id="10" name="source-diagram-dg16-59">
            <a:extLst>
              <a:ext uri="{FF2B5EF4-FFF2-40B4-BE49-F238E27FC236}">
                <a16:creationId xmlns:a16="http://schemas.microsoft.com/office/drawing/2014/main" id="{8361D062-CB7E-4EF9-A865-4C82B3FD90A9}"/>
              </a:ext>
            </a:extLst>
          </p:cNvPr>
          <p:cNvCxnSpPr/>
          <p:nvPr/>
        </p:nvCxnSpPr>
        <p:spPr>
          <a:xfrm>
            <a:off x="9220600" y="1914365"/>
            <a:ext cx="821738" cy="594197"/>
          </a:xfrm>
          <a:prstGeom prst="straightConnector1">
            <a:avLst/>
          </a:prstGeom>
          <a:ln w="9525">
            <a:solidFill>
              <a:srgbClr val="142E42"/>
            </a:solidFill>
            <a:round/>
            <a:headEnd type="none" w="med" len="med"/>
            <a:tailEnd type="none" w="med" len="med"/>
          </a:ln>
        </p:spPr>
      </p:cxnSp>
      <p:cxnSp>
        <p:nvCxnSpPr>
          <p:cNvPr id="11" name="source-diagram-dg16-60">
            <a:extLst>
              <a:ext uri="{FF2B5EF4-FFF2-40B4-BE49-F238E27FC236}">
                <a16:creationId xmlns:a16="http://schemas.microsoft.com/office/drawing/2014/main" id="{963AC648-557B-4BC4-9BAF-EB05773DB2E5}"/>
              </a:ext>
            </a:extLst>
          </p:cNvPr>
          <p:cNvCxnSpPr/>
          <p:nvPr/>
        </p:nvCxnSpPr>
        <p:spPr>
          <a:xfrm>
            <a:off x="10184306" y="2851301"/>
            <a:ext cx="500503" cy="535392"/>
          </a:xfrm>
          <a:prstGeom prst="straightConnector1">
            <a:avLst/>
          </a:prstGeom>
          <a:ln w="9525">
            <a:solidFill>
              <a:srgbClr val="142E42"/>
            </a:solidFill>
            <a:round/>
            <a:headEnd type="none" w="med" len="med"/>
            <a:tailEnd type="none" w="med" len="med"/>
          </a:ln>
        </p:spPr>
      </p:cxnSp>
      <p:cxnSp>
        <p:nvCxnSpPr>
          <p:cNvPr id="12" name="source-diagram-dg16-61">
            <a:extLst>
              <a:ext uri="{FF2B5EF4-FFF2-40B4-BE49-F238E27FC236}">
                <a16:creationId xmlns:a16="http://schemas.microsoft.com/office/drawing/2014/main" id="{C7B7C5AC-4EFB-4C5F-864C-EC52EB00FB31}"/>
              </a:ext>
            </a:extLst>
          </p:cNvPr>
          <p:cNvCxnSpPr/>
          <p:nvPr/>
        </p:nvCxnSpPr>
        <p:spPr>
          <a:xfrm flipH="1">
            <a:off x="7392147" y="2851301"/>
            <a:ext cx="483771" cy="535392"/>
          </a:xfrm>
          <a:prstGeom prst="straightConnector1">
            <a:avLst/>
          </a:prstGeom>
          <a:ln w="9525">
            <a:solidFill>
              <a:srgbClr val="142E42"/>
            </a:solidFill>
            <a:round/>
            <a:headEnd type="none" w="med" len="med"/>
            <a:tailEnd type="none" w="med" len="med"/>
          </a:ln>
        </p:spPr>
      </p:cxnSp>
      <p:cxnSp>
        <p:nvCxnSpPr>
          <p:cNvPr id="13" name="source-diagram-dg16-62">
            <a:extLst>
              <a:ext uri="{FF2B5EF4-FFF2-40B4-BE49-F238E27FC236}">
                <a16:creationId xmlns:a16="http://schemas.microsoft.com/office/drawing/2014/main" id="{9597B499-C087-428B-BEAA-8D1FADB47EFB}"/>
              </a:ext>
            </a:extLst>
          </p:cNvPr>
          <p:cNvCxnSpPr/>
          <p:nvPr/>
        </p:nvCxnSpPr>
        <p:spPr>
          <a:xfrm>
            <a:off x="8159853" y="2851301"/>
            <a:ext cx="528946" cy="535392"/>
          </a:xfrm>
          <a:prstGeom prst="straightConnector1">
            <a:avLst/>
          </a:prstGeom>
          <a:ln w="9525">
            <a:solidFill>
              <a:srgbClr val="142E42"/>
            </a:solidFill>
            <a:round/>
            <a:headEnd type="none" w="med" len="med"/>
            <a:tailEnd type="none" w="med" len="med"/>
          </a:ln>
        </p:spPr>
      </p:cxnSp>
      <p:sp>
        <p:nvSpPr>
          <p:cNvPr id="14" name="source-diagram-dg16-63">
            <a:extLst>
              <a:ext uri="{FF2B5EF4-FFF2-40B4-BE49-F238E27FC236}">
                <a16:creationId xmlns:a16="http://schemas.microsoft.com/office/drawing/2014/main" id="{91F696A2-46EA-4C90-9CD2-0D1A451688FC}"/>
              </a:ext>
            </a:extLst>
          </p:cNvPr>
          <p:cNvSpPr>
            <a:spLocks noGrp="1"/>
          </p:cNvSpPr>
          <p:nvPr/>
        </p:nvSpPr>
        <p:spPr>
          <a:xfrm>
            <a:off x="8098194" y="4382434"/>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7</a:t>
            </a:r>
          </a:p>
        </p:txBody>
      </p:sp>
      <p:cxnSp>
        <p:nvCxnSpPr>
          <p:cNvPr id="15" name="source-diagram-dg16-64">
            <a:extLst>
              <a:ext uri="{FF2B5EF4-FFF2-40B4-BE49-F238E27FC236}">
                <a16:creationId xmlns:a16="http://schemas.microsoft.com/office/drawing/2014/main" id="{4859654B-E582-42DA-AF02-3D072BE13818}"/>
              </a:ext>
            </a:extLst>
          </p:cNvPr>
          <p:cNvCxnSpPr/>
          <p:nvPr/>
        </p:nvCxnSpPr>
        <p:spPr>
          <a:xfrm flipH="1">
            <a:off x="8298966" y="3729432"/>
            <a:ext cx="247865" cy="653001"/>
          </a:xfrm>
          <a:prstGeom prst="straightConnector1">
            <a:avLst/>
          </a:prstGeom>
          <a:ln w="9525">
            <a:solidFill>
              <a:srgbClr val="142E42"/>
            </a:solidFill>
            <a:round/>
            <a:headEnd type="none" w="med" len="med"/>
            <a:tailEnd type="none" w="med" len="med"/>
          </a:ln>
        </p:spPr>
      </p:cxnSp>
      <p:sp>
        <p:nvSpPr>
          <p:cNvPr id="16" name="source-diagram-dg16-66">
            <a:extLst>
              <a:ext uri="{FF2B5EF4-FFF2-40B4-BE49-F238E27FC236}">
                <a16:creationId xmlns:a16="http://schemas.microsoft.com/office/drawing/2014/main" id="{A0393782-CC34-4AD7-87BC-2DF5E121E407}"/>
              </a:ext>
            </a:extLst>
          </p:cNvPr>
          <p:cNvSpPr>
            <a:spLocks noGrp="1"/>
          </p:cNvSpPr>
          <p:nvPr/>
        </p:nvSpPr>
        <p:spPr>
          <a:xfrm>
            <a:off x="10484037" y="3386693"/>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20</a:t>
            </a:r>
          </a:p>
        </p:txBody>
      </p:sp>
      <p:sp>
        <p:nvSpPr>
          <p:cNvPr id="17" name="source-diagram-dg16-67">
            <a:extLst>
              <a:ext uri="{FF2B5EF4-FFF2-40B4-BE49-F238E27FC236}">
                <a16:creationId xmlns:a16="http://schemas.microsoft.com/office/drawing/2014/main" id="{ED8DEC3F-2203-4C1F-8949-544AAA2FCD2E}"/>
              </a:ext>
            </a:extLst>
          </p:cNvPr>
          <p:cNvSpPr>
            <a:spLocks noGrp="1"/>
          </p:cNvSpPr>
          <p:nvPr/>
        </p:nvSpPr>
        <p:spPr>
          <a:xfrm>
            <a:off x="10885581" y="4382434"/>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30</a:t>
            </a:r>
          </a:p>
        </p:txBody>
      </p:sp>
      <p:cxnSp>
        <p:nvCxnSpPr>
          <p:cNvPr id="18" name="source-diagram-dg16-68">
            <a:extLst>
              <a:ext uri="{FF2B5EF4-FFF2-40B4-BE49-F238E27FC236}">
                <a16:creationId xmlns:a16="http://schemas.microsoft.com/office/drawing/2014/main" id="{F138E999-D1C2-49EA-AED3-B7818D0E2429}"/>
              </a:ext>
            </a:extLst>
          </p:cNvPr>
          <p:cNvCxnSpPr/>
          <p:nvPr/>
        </p:nvCxnSpPr>
        <p:spPr>
          <a:xfrm>
            <a:off x="10826776" y="3729432"/>
            <a:ext cx="259577" cy="653001"/>
          </a:xfrm>
          <a:prstGeom prst="straightConnector1">
            <a:avLst/>
          </a:prstGeom>
          <a:ln w="9525">
            <a:solidFill>
              <a:srgbClr val="142E42"/>
            </a:solidFill>
            <a:round/>
            <a:headEnd type="none" w="med" len="med"/>
            <a:tailEnd type="none" w="med" len="med"/>
          </a:ln>
        </p:spPr>
      </p:cxnSp>
      <p:sp>
        <p:nvSpPr>
          <p:cNvPr id="19" name="source-diagram-dg16-69">
            <a:extLst>
              <a:ext uri="{FF2B5EF4-FFF2-40B4-BE49-F238E27FC236}">
                <a16:creationId xmlns:a16="http://schemas.microsoft.com/office/drawing/2014/main" id="{C6C21D5A-08B7-41EC-AE4A-FC62CEA88E2A}"/>
              </a:ext>
            </a:extLst>
          </p:cNvPr>
          <p:cNvSpPr>
            <a:spLocks noGrp="1"/>
          </p:cNvSpPr>
          <p:nvPr/>
        </p:nvSpPr>
        <p:spPr>
          <a:xfrm>
            <a:off x="10082493" y="4374069"/>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17</a:t>
            </a:r>
          </a:p>
        </p:txBody>
      </p:sp>
      <p:cxnSp>
        <p:nvCxnSpPr>
          <p:cNvPr id="20" name="source-diagram-dg16-70">
            <a:extLst>
              <a:ext uri="{FF2B5EF4-FFF2-40B4-BE49-F238E27FC236}">
                <a16:creationId xmlns:a16="http://schemas.microsoft.com/office/drawing/2014/main" id="{A7C7C73C-C8FF-405F-9CC0-6D9218A08B30}"/>
              </a:ext>
            </a:extLst>
          </p:cNvPr>
          <p:cNvCxnSpPr/>
          <p:nvPr/>
        </p:nvCxnSpPr>
        <p:spPr>
          <a:xfrm flipH="1">
            <a:off x="10283265" y="3729432"/>
            <a:ext cx="259577" cy="644636"/>
          </a:xfrm>
          <a:prstGeom prst="straightConnector1">
            <a:avLst/>
          </a:prstGeom>
          <a:ln w="9525">
            <a:solidFill>
              <a:srgbClr val="142E42"/>
            </a:solidFill>
            <a:round/>
            <a:headEnd type="none" w="med" len="med"/>
            <a:tailEnd type="none" w="med" len="med"/>
          </a:ln>
        </p:spPr>
      </p:cxnSp>
      <p:sp>
        <p:nvSpPr>
          <p:cNvPr id="21" name="source-diagram-dg16-71">
            <a:extLst>
              <a:ext uri="{FF2B5EF4-FFF2-40B4-BE49-F238E27FC236}">
                <a16:creationId xmlns:a16="http://schemas.microsoft.com/office/drawing/2014/main" id="{C26C50D7-3A93-450E-B004-4915F02BFA34}"/>
              </a:ext>
            </a:extLst>
          </p:cNvPr>
          <p:cNvSpPr>
            <a:spLocks noGrp="1"/>
          </p:cNvSpPr>
          <p:nvPr/>
        </p:nvSpPr>
        <p:spPr>
          <a:xfrm>
            <a:off x="8877860" y="4394146"/>
            <a:ext cx="401544" cy="401544"/>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01" b="0">
                <a:solidFill>
                  <a:srgbClr val="142E42"/>
                </a:solidFill>
                <a:latin typeface="Arial"/>
                <a:ea typeface="Arial"/>
                <a:cs typeface="Arial"/>
              </a:rPr>
              <a:t>10</a:t>
            </a:r>
          </a:p>
        </p:txBody>
      </p:sp>
      <p:cxnSp>
        <p:nvCxnSpPr>
          <p:cNvPr id="22" name="source-diagram-dg16-72">
            <a:extLst>
              <a:ext uri="{FF2B5EF4-FFF2-40B4-BE49-F238E27FC236}">
                <a16:creationId xmlns:a16="http://schemas.microsoft.com/office/drawing/2014/main" id="{F029CF84-6885-493F-A3D2-C26B6AD6941B}"/>
              </a:ext>
            </a:extLst>
          </p:cNvPr>
          <p:cNvCxnSpPr/>
          <p:nvPr/>
        </p:nvCxnSpPr>
        <p:spPr>
          <a:xfrm>
            <a:off x="8830767" y="3729432"/>
            <a:ext cx="247865" cy="664714"/>
          </a:xfrm>
          <a:prstGeom prst="straightConnector1">
            <a:avLst/>
          </a:prstGeom>
          <a:ln w="9525">
            <a:solidFill>
              <a:srgbClr val="142E42"/>
            </a:solidFill>
            <a:round/>
            <a:headEnd type="none" w="med" len="med"/>
            <a:tailEnd type="none" w="med" len="med"/>
          </a:ln>
        </p:spPr>
      </p:cxnSp>
      <p:sp>
        <p:nvSpPr>
          <p:cNvPr id="23" name="source-diagram-dg16-73">
            <a:extLst>
              <a:ext uri="{FF2B5EF4-FFF2-40B4-BE49-F238E27FC236}">
                <a16:creationId xmlns:a16="http://schemas.microsoft.com/office/drawing/2014/main" id="{940B71E9-C81B-47C6-A6E6-582E99D2B5E7}"/>
              </a:ext>
            </a:extLst>
          </p:cNvPr>
          <p:cNvSpPr>
            <a:spLocks noGrp="1"/>
          </p:cNvSpPr>
          <p:nvPr/>
        </p:nvSpPr>
        <p:spPr>
          <a:xfrm>
            <a:off x="9279404" y="3386693"/>
            <a:ext cx="401544" cy="401544"/>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01" b="0">
                <a:solidFill>
                  <a:srgbClr val="FFFFFF"/>
                </a:solidFill>
                <a:latin typeface="Arial"/>
                <a:ea typeface="Arial"/>
                <a:cs typeface="Arial"/>
              </a:rPr>
              <a:t>13</a:t>
            </a:r>
          </a:p>
        </p:txBody>
      </p:sp>
      <p:cxnSp>
        <p:nvCxnSpPr>
          <p:cNvPr id="24" name="source-diagram-dg16-74">
            <a:extLst>
              <a:ext uri="{FF2B5EF4-FFF2-40B4-BE49-F238E27FC236}">
                <a16:creationId xmlns:a16="http://schemas.microsoft.com/office/drawing/2014/main" id="{74FA50E9-A2D4-4F95-BE4F-D3686C3ED800}"/>
              </a:ext>
            </a:extLst>
          </p:cNvPr>
          <p:cNvCxnSpPr/>
          <p:nvPr/>
        </p:nvCxnSpPr>
        <p:spPr>
          <a:xfrm flipH="1">
            <a:off x="9480176" y="2851301"/>
            <a:ext cx="420194" cy="535392"/>
          </a:xfrm>
          <a:prstGeom prst="straightConnector1">
            <a:avLst/>
          </a:prstGeom>
          <a:ln w="9525">
            <a:solidFill>
              <a:srgbClr val="142E42"/>
            </a:solidFill>
            <a:round/>
            <a:headEnd type="none" w="med" len="med"/>
            <a:tailEnd type="none" w="med" len="med"/>
          </a:ln>
        </p:spPr>
      </p:cxnSp>
      <p:sp>
        <p:nvSpPr>
          <p:cNvPr id="26" name="local-java-InsertionDemo">
            <a:extLst>
              <a:ext uri="{FF2B5EF4-FFF2-40B4-BE49-F238E27FC236}">
                <a16:creationId xmlns:a16="http://schemas.microsoft.com/office/drawing/2014/main" id="{A92C1909-8FE9-4099-9EC3-1BF4787FB6D7}"/>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InsertionDemo.java</a:t>
            </a:r>
          </a:p>
        </p:txBody>
      </p:sp>
      <p:sp>
        <p:nvSpPr>
          <p:cNvPr id="27" name="page">
            <a:extLst>
              <a:ext uri="{FF2B5EF4-FFF2-40B4-BE49-F238E27FC236}">
                <a16:creationId xmlns:a16="http://schemas.microsoft.com/office/drawing/2014/main" id="{8233926D-AE36-4932-8FD3-840E2FC18AB6}"/>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22</a:t>
            </a:r>
          </a:p>
        </p:txBody>
      </p:sp>
    </p:spTree>
    <p:extLst>
      <p:ext uri="{BB962C8B-B14F-4D97-AF65-F5344CB8AC3E}">
        <p14:creationId xmlns:p14="http://schemas.microsoft.com/office/powerpoint/2010/main" val="1486062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D8DD2FC4-9807-416A-BC59-95979E967194}"/>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Iterative insertion</a:t>
            </a:r>
          </a:p>
        </p:txBody>
      </p:sp>
      <p:sp>
        <p:nvSpPr>
          <p:cNvPr id="3" name="text-2">
            <a:extLst>
              <a:ext uri="{FF2B5EF4-FFF2-40B4-BE49-F238E27FC236}">
                <a16:creationId xmlns:a16="http://schemas.microsoft.com/office/drawing/2014/main" id="{EA36B068-DA30-4B3B-8931-1FF926EDE062}"/>
              </a:ext>
            </a:extLst>
          </p:cNvPr>
          <p:cNvSpPr>
            <a:spLocks noGrp="1"/>
          </p:cNvSpPr>
          <p:nvPr/>
        </p:nvSpPr>
        <p:spPr>
          <a:xfrm>
            <a:off x="609600" y="1381125"/>
            <a:ext cx="10953750" cy="4953000"/>
          </a:xfrm>
          <a:prstGeom prst="rect">
            <a:avLst/>
          </a:prstGeom>
          <a:noFill/>
          <a:ln w="0">
            <a:noFill/>
          </a:ln>
        </p:spPr>
        <p:txBody>
          <a:bodyPr lIns="0" tIns="0" rIns="0" bIns="0" anchor="t"/>
          <a:lstStyle>
            <a:defPPr algn="l">
              <a:defRPr sz="1725" b="0">
                <a:solidFill>
                  <a:srgbClr val="142E42"/>
                </a:solidFill>
                <a:latin typeface="Consolas"/>
                <a:ea typeface="Consolas"/>
                <a:cs typeface="Consolas"/>
              </a:defRPr>
            </a:defPPr>
            <a:lvl1pPr algn="l">
              <a:buNone/>
              <a:defRPr sz="1725" b="0">
                <a:solidFill>
                  <a:srgbClr val="142E42"/>
                </a:solidFill>
                <a:latin typeface="Consolas"/>
                <a:ea typeface="Consolas"/>
                <a:cs typeface="Consolas"/>
              </a:defRPr>
            </a:lvl1pPr>
            <a:lvl2pPr algn="l">
              <a:buNone/>
              <a:defRPr sz="1725" b="0">
                <a:solidFill>
                  <a:srgbClr val="142E42"/>
                </a:solidFill>
                <a:latin typeface="Consolas"/>
                <a:ea typeface="Consolas"/>
                <a:cs typeface="Consolas"/>
              </a:defRPr>
            </a:lvl2pPr>
            <a:lvl3pPr algn="l">
              <a:buNone/>
              <a:defRPr sz="1725" b="0">
                <a:solidFill>
                  <a:srgbClr val="142E42"/>
                </a:solidFill>
                <a:latin typeface="Consolas"/>
                <a:ea typeface="Consolas"/>
                <a:cs typeface="Consolas"/>
              </a:defRPr>
            </a:lvl3pPr>
            <a:lvl4pPr algn="l">
              <a:buNone/>
              <a:defRPr sz="1725" b="0">
                <a:solidFill>
                  <a:srgbClr val="142E42"/>
                </a:solidFill>
                <a:latin typeface="Consolas"/>
                <a:ea typeface="Consolas"/>
                <a:cs typeface="Consolas"/>
              </a:defRPr>
            </a:lvl4pPr>
            <a:lvl5pPr algn="l">
              <a:buNone/>
              <a:defRPr sz="1725" b="0">
                <a:solidFill>
                  <a:srgbClr val="142E42"/>
                </a:solidFill>
                <a:latin typeface="Consolas"/>
                <a:ea typeface="Consolas"/>
                <a:cs typeface="Consolas"/>
              </a:defRPr>
            </a:lvl5pPr>
            <a:lvl6pPr algn="l">
              <a:buNone/>
              <a:defRPr sz="1725" b="0">
                <a:solidFill>
                  <a:srgbClr val="142E42"/>
                </a:solidFill>
                <a:latin typeface="Consolas"/>
                <a:ea typeface="Consolas"/>
                <a:cs typeface="Consolas"/>
              </a:defRPr>
            </a:lvl6pPr>
            <a:lvl7pPr algn="l">
              <a:buNone/>
              <a:defRPr sz="1725" b="0">
                <a:solidFill>
                  <a:srgbClr val="142E42"/>
                </a:solidFill>
                <a:latin typeface="Consolas"/>
                <a:ea typeface="Consolas"/>
                <a:cs typeface="Consolas"/>
              </a:defRPr>
            </a:lvl7pPr>
            <a:lvl8pPr algn="l">
              <a:buNone/>
              <a:defRPr sz="1725" b="0">
                <a:solidFill>
                  <a:srgbClr val="142E42"/>
                </a:solidFill>
                <a:latin typeface="Consolas"/>
                <a:ea typeface="Consolas"/>
                <a:cs typeface="Consolas"/>
              </a:defRPr>
            </a:lvl8pPr>
            <a:lvl9pPr algn="l">
              <a:buNone/>
              <a:defRPr sz="1725" b="0">
                <a:solidFill>
                  <a:srgbClr val="142E42"/>
                </a:solidFill>
                <a:latin typeface="Consolas"/>
                <a:ea typeface="Consolas"/>
                <a:cs typeface="Consolas"/>
              </a:defRPr>
            </a:lvl9pPr>
          </a:lstStyle>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public boolean insert(E key) {</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Objects.requireNonNull(key);</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Node&lt;E&gt; parent = null, x = root;</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int cmp = 0;</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while (x != null) {</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parent = x;</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cmp = key.compareTo(x.key);</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if (cmp == 0) return false;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x = cmp &lt; 0 ? x.left : x.right;</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Node&lt;E&gt; node = new Node&lt;&gt;(key);</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if (parent == null) root = node;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else if (cmp &lt; 0) parent.left = node;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else parent.right = node;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size++;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    return true;</a:t>
            </a:r>
          </a:p>
          <a:p>
            <a:pPr algn="l">
              <a:buNone/>
              <a:defRPr sz="1725" b="0">
                <a:solidFill>
                  <a:srgbClr val="142E42"/>
                </a:solidFill>
                <a:latin typeface="Consolas"/>
                <a:ea typeface="Consolas"/>
                <a:cs typeface="Consolas"/>
              </a:defRPr>
            </a:pPr>
            <a:r>
              <a:rPr sz="1725" b="0">
                <a:solidFill>
                  <a:srgbClr val="142E42"/>
                </a:solidFill>
                <a:latin typeface="Consolas"/>
                <a:ea typeface="Consolas"/>
                <a:cs typeface="Consolas"/>
              </a:rPr>
              <a:t>}</a:t>
            </a:r>
          </a:p>
        </p:txBody>
      </p:sp>
      <p:sp>
        <p:nvSpPr>
          <p:cNvPr id="5" name="local-java-BST">
            <a:extLst>
              <a:ext uri="{FF2B5EF4-FFF2-40B4-BE49-F238E27FC236}">
                <a16:creationId xmlns:a16="http://schemas.microsoft.com/office/drawing/2014/main" id="{11DD5590-DD29-42BA-8FF8-0A4A25622EBF}"/>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6" name="local-java-InsertionDemo">
            <a:extLst>
              <a:ext uri="{FF2B5EF4-FFF2-40B4-BE49-F238E27FC236}">
                <a16:creationId xmlns:a16="http://schemas.microsoft.com/office/drawing/2014/main" id="{A0C2E51D-15AB-4BD6-A8D1-5113B02036F2}"/>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InsertionDemo.java</a:t>
            </a:r>
          </a:p>
        </p:txBody>
      </p:sp>
      <p:sp>
        <p:nvSpPr>
          <p:cNvPr id="7" name="page">
            <a:extLst>
              <a:ext uri="{FF2B5EF4-FFF2-40B4-BE49-F238E27FC236}">
                <a16:creationId xmlns:a16="http://schemas.microsoft.com/office/drawing/2014/main" id="{F468C684-6840-4E3C-B2DE-F617F5A5801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23</a:t>
            </a:r>
          </a:p>
        </p:txBody>
      </p:sp>
    </p:spTree>
    <p:extLst>
      <p:ext uri="{BB962C8B-B14F-4D97-AF65-F5344CB8AC3E}">
        <p14:creationId xmlns:p14="http://schemas.microsoft.com/office/powerpoint/2010/main" val="356228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D5EC128-810C-491E-8B51-313F4C708701}"/>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insertion order changes the shape</a:t>
            </a:r>
          </a:p>
        </p:txBody>
      </p:sp>
      <p:sp>
        <p:nvSpPr>
          <p:cNvPr id="2" name="questions">
            <a:extLst>
              <a:ext uri="{FF2B5EF4-FFF2-40B4-BE49-F238E27FC236}">
                <a16:creationId xmlns:a16="http://schemas.microsoft.com/office/drawing/2014/main" id="{3FD777CA-F037-4EDB-A8C4-A63CB406ED0D}"/>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Build two ordinary BSTs from the same seven keys.</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A: 1, 2, 3, 4, 5, 6, 7</a:t>
            </a:r>
          </a:p>
          <a:p>
            <a:pPr>
              <a:defRPr sz="2175" b="0">
                <a:solidFill>
                  <a:srgbClr val="153143"/>
                </a:solidFill>
                <a:latin typeface="Arial"/>
                <a:ea typeface="Arial"/>
                <a:cs typeface="Arial"/>
              </a:defRPr>
            </a:pPr>
            <a:r>
              <a:rPr sz="2175" b="0">
                <a:solidFill>
                  <a:srgbClr val="153143"/>
                </a:solidFill>
                <a:latin typeface="Arial"/>
                <a:ea typeface="Arial"/>
                <a:cs typeface="Arial"/>
              </a:rPr>
              <a:t>B: 4, 2, 6, 1, 3, 5, 7</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Sketch each tree and count its height in edges.</a:t>
            </a:r>
          </a:p>
          <a:p>
            <a:pPr>
              <a:defRPr sz="2175" b="0">
                <a:solidFill>
                  <a:srgbClr val="153143"/>
                </a:solidFill>
                <a:latin typeface="Arial"/>
                <a:ea typeface="Arial"/>
                <a:cs typeface="Arial"/>
              </a:defRPr>
            </a:pPr>
            <a:r>
              <a:rPr sz="2175" b="0">
                <a:solidFill>
                  <a:srgbClr val="153143"/>
                </a:solidFill>
                <a:latin typeface="Arial"/>
                <a:ea typeface="Arial"/>
                <a:cs typeface="Arial"/>
              </a:rPr>
              <a:t>Compare searching for 7 and performing a full traversal.</a:t>
            </a:r>
          </a:p>
          <a:p>
            <a:pPr>
              <a:defRPr sz="2175" b="0">
                <a:solidFill>
                  <a:srgbClr val="153143"/>
                </a:solidFill>
                <a:latin typeface="Arial"/>
                <a:ea typeface="Arial"/>
                <a:cs typeface="Arial"/>
              </a:defRPr>
            </a:pPr>
            <a:r>
              <a:rPr sz="2175" b="0">
                <a:solidFill>
                  <a:srgbClr val="153143"/>
                </a:solidFill>
                <a:latin typeface="Arial"/>
                <a:ea typeface="Arial"/>
                <a:cs typeface="Arial"/>
              </a:rPr>
              <a:t>What does the common inorder sequence tell you?</a:t>
            </a:r>
          </a:p>
        </p:txBody>
      </p:sp>
      <p:sp>
        <p:nvSpPr>
          <p:cNvPr id="3" name="activity-cue">
            <a:extLst>
              <a:ext uri="{FF2B5EF4-FFF2-40B4-BE49-F238E27FC236}">
                <a16:creationId xmlns:a16="http://schemas.microsoft.com/office/drawing/2014/main" id="{A8FFECEA-5BD6-4741-BCD8-7D37237E1207}"/>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Groups of two: one sketch each, then explain the costs. 3 minutes</a:t>
            </a:r>
          </a:p>
        </p:txBody>
      </p:sp>
      <p:sp>
        <p:nvSpPr>
          <p:cNvPr id="4" name="page">
            <a:extLst>
              <a:ext uri="{FF2B5EF4-FFF2-40B4-BE49-F238E27FC236}">
                <a16:creationId xmlns:a16="http://schemas.microsoft.com/office/drawing/2014/main" id="{E370D11D-FFAA-4F28-9B23-865046CFCE2D}"/>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24</a:t>
            </a:r>
          </a:p>
        </p:txBody>
      </p:sp>
    </p:spTree>
    <p:extLst>
      <p:ext uri="{BB962C8B-B14F-4D97-AF65-F5344CB8AC3E}">
        <p14:creationId xmlns:p14="http://schemas.microsoft.com/office/powerpoint/2010/main" val="539924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1" name="text-0">
            <a:extLst>
              <a:ext uri="{FF2B5EF4-FFF2-40B4-BE49-F238E27FC236}">
                <a16:creationId xmlns:a16="http://schemas.microsoft.com/office/drawing/2014/main" id="{91E79BFF-4008-42BA-8A2E-B0F81DB2C5C8}"/>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An expression tree is a binary tree</a:t>
            </a:r>
          </a:p>
        </p:txBody>
      </p:sp>
      <p:sp>
        <p:nvSpPr>
          <p:cNvPr id="3" name="text-2">
            <a:extLst>
              <a:ext uri="{FF2B5EF4-FFF2-40B4-BE49-F238E27FC236}">
                <a16:creationId xmlns:a16="http://schemas.microsoft.com/office/drawing/2014/main" id="{960DA9B5-EDB5-4825-BB63-B532A0D2D0AE}"/>
              </a:ext>
            </a:extLst>
          </p:cNvPr>
          <p:cNvSpPr>
            <a:spLocks noGrp="1"/>
          </p:cNvSpPr>
          <p:nvPr/>
        </p:nvSpPr>
        <p:spPr>
          <a:xfrm>
            <a:off x="609600" y="1571625"/>
            <a:ext cx="6000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Expression:</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2 × (a − 1) + 3 × b</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Internal nodes hold operators.</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Leaves hold operands.</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The shape captures evaluation</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order rather than key ordering.</a:t>
            </a:r>
          </a:p>
        </p:txBody>
      </p:sp>
      <p:sp>
        <p:nvSpPr>
          <p:cNvPr id="4" name="source-diagram-dg18-10248">
            <a:extLst>
              <a:ext uri="{FF2B5EF4-FFF2-40B4-BE49-F238E27FC236}">
                <a16:creationId xmlns:a16="http://schemas.microsoft.com/office/drawing/2014/main" id="{F1F59E46-350E-48AB-BAD5-4256539E8951}"/>
              </a:ext>
            </a:extLst>
          </p:cNvPr>
          <p:cNvSpPr>
            <a:spLocks noGrp="1"/>
          </p:cNvSpPr>
          <p:nvPr/>
        </p:nvSpPr>
        <p:spPr>
          <a:xfrm>
            <a:off x="9503833" y="2047875"/>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5" name="source-diagram-dg18-10249">
            <a:extLst>
              <a:ext uri="{FF2B5EF4-FFF2-40B4-BE49-F238E27FC236}">
                <a16:creationId xmlns:a16="http://schemas.microsoft.com/office/drawing/2014/main" id="{ABA0E6A7-E94E-4612-B501-D60BA044EE7A}"/>
              </a:ext>
            </a:extLst>
          </p:cNvPr>
          <p:cNvSpPr>
            <a:spLocks noGrp="1"/>
          </p:cNvSpPr>
          <p:nvPr/>
        </p:nvSpPr>
        <p:spPr>
          <a:xfrm>
            <a:off x="10371667" y="2742142"/>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6" name="source-diagram-dg18-10250">
            <a:extLst>
              <a:ext uri="{FF2B5EF4-FFF2-40B4-BE49-F238E27FC236}">
                <a16:creationId xmlns:a16="http://schemas.microsoft.com/office/drawing/2014/main" id="{D01043B5-1E79-4A1E-9748-EE3D716B8494}"/>
              </a:ext>
            </a:extLst>
          </p:cNvPr>
          <p:cNvSpPr>
            <a:spLocks noGrp="1"/>
          </p:cNvSpPr>
          <p:nvPr/>
        </p:nvSpPr>
        <p:spPr>
          <a:xfrm>
            <a:off x="7768167" y="2742142"/>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endParaRPr>
              <a:latin typeface="Symbol"/>
              <a:ea typeface="Symbol"/>
              <a:cs typeface="Symbol"/>
            </a:endParaRPr>
          </a:p>
        </p:txBody>
      </p:sp>
      <p:sp>
        <p:nvSpPr>
          <p:cNvPr id="7" name="source-diagram-dg18-10251">
            <a:extLst>
              <a:ext uri="{FF2B5EF4-FFF2-40B4-BE49-F238E27FC236}">
                <a16:creationId xmlns:a16="http://schemas.microsoft.com/office/drawing/2014/main" id="{B4ED74E2-BD96-48DD-B467-9BDDEA96F8E9}"/>
              </a:ext>
            </a:extLst>
          </p:cNvPr>
          <p:cNvSpPr>
            <a:spLocks noGrp="1"/>
          </p:cNvSpPr>
          <p:nvPr/>
        </p:nvSpPr>
        <p:spPr>
          <a:xfrm>
            <a:off x="8636000" y="3436408"/>
            <a:ext cx="433917" cy="433917"/>
          </a:xfrm>
          <a:prstGeom prst="ellipse">
            <a:avLst/>
          </a:prstGeom>
          <a:solidFill>
            <a:srgbClr val="E5EEF2"/>
          </a:solidFill>
          <a:ln w="19050">
            <a:solidFill>
              <a:srgbClr val="142E42"/>
            </a:solidFill>
            <a:round/>
          </a:ln>
        </p:spPr>
        <p:txBody>
          <a:bodyPr wrap="square" lIns="0" tIns="0" rIns="0" bIns="0" anchor="ctr"/>
          <a:lstStyle/>
          <a:p>
            <a:pPr marL="0" indent="0" algn="ctr">
              <a:buNone/>
            </a:pPr>
            <a:r>
              <a:rPr sz="1298" b="0">
                <a:solidFill>
                  <a:srgbClr val="142E42"/>
                </a:solidFill>
                <a:latin typeface="Arial"/>
                <a:ea typeface="Arial"/>
                <a:cs typeface="Arial"/>
              </a:rPr>
              <a:t>-</a:t>
            </a:r>
          </a:p>
        </p:txBody>
      </p:sp>
      <p:sp>
        <p:nvSpPr>
          <p:cNvPr id="8" name="source-diagram-dg18-10252">
            <a:extLst>
              <a:ext uri="{FF2B5EF4-FFF2-40B4-BE49-F238E27FC236}">
                <a16:creationId xmlns:a16="http://schemas.microsoft.com/office/drawing/2014/main" id="{4B2E74E6-7533-412C-8FDA-8A2912835797}"/>
              </a:ext>
            </a:extLst>
          </p:cNvPr>
          <p:cNvSpPr>
            <a:spLocks noGrp="1"/>
          </p:cNvSpPr>
          <p:nvPr/>
        </p:nvSpPr>
        <p:spPr>
          <a:xfrm>
            <a:off x="7334250"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2</a:t>
            </a:r>
          </a:p>
        </p:txBody>
      </p:sp>
      <p:sp>
        <p:nvSpPr>
          <p:cNvPr id="9" name="source-diagram-dg18-10253">
            <a:extLst>
              <a:ext uri="{FF2B5EF4-FFF2-40B4-BE49-F238E27FC236}">
                <a16:creationId xmlns:a16="http://schemas.microsoft.com/office/drawing/2014/main" id="{9A17563E-AF69-48D3-BD54-16B22CF5E5C1}"/>
              </a:ext>
            </a:extLst>
          </p:cNvPr>
          <p:cNvSpPr>
            <a:spLocks noGrp="1"/>
          </p:cNvSpPr>
          <p:nvPr/>
        </p:nvSpPr>
        <p:spPr>
          <a:xfrm>
            <a:off x="8202083" y="421745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a</a:t>
            </a:r>
          </a:p>
        </p:txBody>
      </p:sp>
      <p:sp>
        <p:nvSpPr>
          <p:cNvPr id="10" name="source-diagram-dg18-10254">
            <a:extLst>
              <a:ext uri="{FF2B5EF4-FFF2-40B4-BE49-F238E27FC236}">
                <a16:creationId xmlns:a16="http://schemas.microsoft.com/office/drawing/2014/main" id="{3F6527B4-4C39-4466-BC06-0AF3A1C84A0B}"/>
              </a:ext>
            </a:extLst>
          </p:cNvPr>
          <p:cNvSpPr>
            <a:spLocks noGrp="1"/>
          </p:cNvSpPr>
          <p:nvPr/>
        </p:nvSpPr>
        <p:spPr>
          <a:xfrm>
            <a:off x="9069917" y="421745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1</a:t>
            </a:r>
          </a:p>
        </p:txBody>
      </p:sp>
      <p:sp>
        <p:nvSpPr>
          <p:cNvPr id="11" name="source-diagram-dg18-10255">
            <a:extLst>
              <a:ext uri="{FF2B5EF4-FFF2-40B4-BE49-F238E27FC236}">
                <a16:creationId xmlns:a16="http://schemas.microsoft.com/office/drawing/2014/main" id="{DB4AB9CC-E323-4BDE-94E1-35849D8A65FB}"/>
              </a:ext>
            </a:extLst>
          </p:cNvPr>
          <p:cNvSpPr>
            <a:spLocks noGrp="1"/>
          </p:cNvSpPr>
          <p:nvPr/>
        </p:nvSpPr>
        <p:spPr>
          <a:xfrm>
            <a:off x="9937750"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3</a:t>
            </a:r>
          </a:p>
        </p:txBody>
      </p:sp>
      <p:sp>
        <p:nvSpPr>
          <p:cNvPr id="12" name="source-diagram-dg18-10256">
            <a:extLst>
              <a:ext uri="{FF2B5EF4-FFF2-40B4-BE49-F238E27FC236}">
                <a16:creationId xmlns:a16="http://schemas.microsoft.com/office/drawing/2014/main" id="{C9A073D4-8196-4EEF-A838-0A0D88B8915C}"/>
              </a:ext>
            </a:extLst>
          </p:cNvPr>
          <p:cNvSpPr>
            <a:spLocks noGrp="1"/>
          </p:cNvSpPr>
          <p:nvPr/>
        </p:nvSpPr>
        <p:spPr>
          <a:xfrm>
            <a:off x="10805583" y="3436408"/>
            <a:ext cx="433917" cy="433917"/>
          </a:xfrm>
          <a:prstGeom prst="rect">
            <a:avLst/>
          </a:prstGeom>
          <a:solidFill>
            <a:srgbClr val="E5EEF2"/>
          </a:solidFill>
          <a:ln w="19050">
            <a:solidFill>
              <a:srgbClr val="142E42"/>
            </a:solidFill>
            <a:miter/>
          </a:ln>
        </p:spPr>
        <p:txBody>
          <a:bodyPr wrap="square" lIns="0" tIns="0" rIns="0" bIns="0" anchor="ctr"/>
          <a:lstStyle/>
          <a:p>
            <a:pPr marL="0" indent="0" algn="ctr">
              <a:buNone/>
            </a:pPr>
            <a:r>
              <a:rPr sz="1298" b="0">
                <a:solidFill>
                  <a:srgbClr val="142E42"/>
                </a:solidFill>
                <a:latin typeface="Arial"/>
                <a:ea typeface="Arial"/>
                <a:cs typeface="Arial"/>
              </a:rPr>
              <a:t>b</a:t>
            </a:r>
          </a:p>
        </p:txBody>
      </p:sp>
      <p:cxnSp>
        <p:nvCxnSpPr>
          <p:cNvPr id="13" name="source-diagram-dg18-10257">
            <a:extLst>
              <a:ext uri="{FF2B5EF4-FFF2-40B4-BE49-F238E27FC236}">
                <a16:creationId xmlns:a16="http://schemas.microsoft.com/office/drawing/2014/main" id="{2D62090D-5666-4EC1-A0ED-21EA06E9A392}"/>
              </a:ext>
            </a:extLst>
          </p:cNvPr>
          <p:cNvCxnSpPr/>
          <p:nvPr/>
        </p:nvCxnSpPr>
        <p:spPr>
          <a:xfrm flipH="1">
            <a:off x="8138803" y="2429360"/>
            <a:ext cx="1428309" cy="365213"/>
          </a:xfrm>
          <a:prstGeom prst="straightConnector1">
            <a:avLst/>
          </a:prstGeom>
          <a:ln w="19050">
            <a:solidFill>
              <a:srgbClr val="142E42"/>
            </a:solidFill>
            <a:round/>
          </a:ln>
        </p:spPr>
      </p:cxnSp>
      <p:cxnSp>
        <p:nvCxnSpPr>
          <p:cNvPr id="14" name="source-diagram-dg18-10258">
            <a:extLst>
              <a:ext uri="{FF2B5EF4-FFF2-40B4-BE49-F238E27FC236}">
                <a16:creationId xmlns:a16="http://schemas.microsoft.com/office/drawing/2014/main" id="{00B9A306-27B0-47B5-A15D-1E8A23C5A2FB}"/>
              </a:ext>
            </a:extLst>
          </p:cNvPr>
          <p:cNvCxnSpPr/>
          <p:nvPr/>
        </p:nvCxnSpPr>
        <p:spPr>
          <a:xfrm flipH="1" flipV="1">
            <a:off x="9874470" y="2429360"/>
            <a:ext cx="560476" cy="365213"/>
          </a:xfrm>
          <a:prstGeom prst="straightConnector1">
            <a:avLst/>
          </a:prstGeom>
          <a:ln w="19050">
            <a:solidFill>
              <a:srgbClr val="142E42"/>
            </a:solidFill>
            <a:round/>
          </a:ln>
        </p:spPr>
      </p:cxnSp>
      <p:cxnSp>
        <p:nvCxnSpPr>
          <p:cNvPr id="15" name="source-diagram-dg18-10259">
            <a:extLst>
              <a:ext uri="{FF2B5EF4-FFF2-40B4-BE49-F238E27FC236}">
                <a16:creationId xmlns:a16="http://schemas.microsoft.com/office/drawing/2014/main" id="{B4DAC7EE-054C-48A7-B679-06E9AFEA2EF5}"/>
              </a:ext>
            </a:extLst>
          </p:cNvPr>
          <p:cNvCxnSpPr/>
          <p:nvPr/>
        </p:nvCxnSpPr>
        <p:spPr>
          <a:xfrm flipH="1" flipV="1">
            <a:off x="10742303" y="3123626"/>
            <a:ext cx="280237" cy="301933"/>
          </a:xfrm>
          <a:prstGeom prst="straightConnector1">
            <a:avLst/>
          </a:prstGeom>
          <a:ln w="19050">
            <a:solidFill>
              <a:srgbClr val="142E42"/>
            </a:solidFill>
            <a:round/>
          </a:ln>
        </p:spPr>
      </p:cxnSp>
      <p:cxnSp>
        <p:nvCxnSpPr>
          <p:cNvPr id="16" name="source-diagram-dg18-10260">
            <a:extLst>
              <a:ext uri="{FF2B5EF4-FFF2-40B4-BE49-F238E27FC236}">
                <a16:creationId xmlns:a16="http://schemas.microsoft.com/office/drawing/2014/main" id="{9B3718DB-971E-4691-A3A8-F39A8F934833}"/>
              </a:ext>
            </a:extLst>
          </p:cNvPr>
          <p:cNvCxnSpPr/>
          <p:nvPr/>
        </p:nvCxnSpPr>
        <p:spPr>
          <a:xfrm flipV="1">
            <a:off x="10154708" y="3123626"/>
            <a:ext cx="280237" cy="301933"/>
          </a:xfrm>
          <a:prstGeom prst="straightConnector1">
            <a:avLst/>
          </a:prstGeom>
          <a:ln w="19050">
            <a:solidFill>
              <a:srgbClr val="142E42"/>
            </a:solidFill>
            <a:round/>
          </a:ln>
        </p:spPr>
      </p:cxnSp>
      <p:cxnSp>
        <p:nvCxnSpPr>
          <p:cNvPr id="17" name="source-diagram-dg18-10261">
            <a:extLst>
              <a:ext uri="{FF2B5EF4-FFF2-40B4-BE49-F238E27FC236}">
                <a16:creationId xmlns:a16="http://schemas.microsoft.com/office/drawing/2014/main" id="{E87ECA4E-2CCC-4ECD-AA63-7245D6F677D2}"/>
              </a:ext>
            </a:extLst>
          </p:cNvPr>
          <p:cNvCxnSpPr/>
          <p:nvPr/>
        </p:nvCxnSpPr>
        <p:spPr>
          <a:xfrm flipH="1" flipV="1">
            <a:off x="9006637" y="3817893"/>
            <a:ext cx="280237" cy="388716"/>
          </a:xfrm>
          <a:prstGeom prst="straightConnector1">
            <a:avLst/>
          </a:prstGeom>
          <a:ln w="19050">
            <a:solidFill>
              <a:srgbClr val="142E42"/>
            </a:solidFill>
            <a:round/>
          </a:ln>
        </p:spPr>
      </p:cxnSp>
      <p:cxnSp>
        <p:nvCxnSpPr>
          <p:cNvPr id="18" name="source-diagram-dg18-10262">
            <a:extLst>
              <a:ext uri="{FF2B5EF4-FFF2-40B4-BE49-F238E27FC236}">
                <a16:creationId xmlns:a16="http://schemas.microsoft.com/office/drawing/2014/main" id="{7C58E135-9FCE-478F-84B5-253D739D6B65}"/>
              </a:ext>
            </a:extLst>
          </p:cNvPr>
          <p:cNvCxnSpPr/>
          <p:nvPr/>
        </p:nvCxnSpPr>
        <p:spPr>
          <a:xfrm flipV="1">
            <a:off x="8419042" y="3817893"/>
            <a:ext cx="280237" cy="388716"/>
          </a:xfrm>
          <a:prstGeom prst="straightConnector1">
            <a:avLst/>
          </a:prstGeom>
          <a:ln w="19050">
            <a:solidFill>
              <a:srgbClr val="142E42"/>
            </a:solidFill>
            <a:round/>
          </a:ln>
        </p:spPr>
      </p:cxnSp>
      <p:cxnSp>
        <p:nvCxnSpPr>
          <p:cNvPr id="19" name="source-diagram-dg18-10263">
            <a:extLst>
              <a:ext uri="{FF2B5EF4-FFF2-40B4-BE49-F238E27FC236}">
                <a16:creationId xmlns:a16="http://schemas.microsoft.com/office/drawing/2014/main" id="{5DD131E4-724E-48C3-9C83-2A1F4D766510}"/>
              </a:ext>
            </a:extLst>
          </p:cNvPr>
          <p:cNvCxnSpPr/>
          <p:nvPr/>
        </p:nvCxnSpPr>
        <p:spPr>
          <a:xfrm flipV="1">
            <a:off x="7551208" y="3123626"/>
            <a:ext cx="280237" cy="301933"/>
          </a:xfrm>
          <a:prstGeom prst="straightConnector1">
            <a:avLst/>
          </a:prstGeom>
          <a:ln w="19050">
            <a:solidFill>
              <a:srgbClr val="142E42"/>
            </a:solidFill>
            <a:round/>
          </a:ln>
        </p:spPr>
      </p:cxnSp>
      <p:cxnSp>
        <p:nvCxnSpPr>
          <p:cNvPr id="20" name="source-diagram-dg18-10264">
            <a:extLst>
              <a:ext uri="{FF2B5EF4-FFF2-40B4-BE49-F238E27FC236}">
                <a16:creationId xmlns:a16="http://schemas.microsoft.com/office/drawing/2014/main" id="{DD09E20B-C03F-45E9-BE7D-F76FEA7D7C83}"/>
              </a:ext>
            </a:extLst>
          </p:cNvPr>
          <p:cNvCxnSpPr/>
          <p:nvPr/>
        </p:nvCxnSpPr>
        <p:spPr>
          <a:xfrm flipH="1" flipV="1">
            <a:off x="8138803" y="3123626"/>
            <a:ext cx="560476" cy="365213"/>
          </a:xfrm>
          <a:prstGeom prst="straightConnector1">
            <a:avLst/>
          </a:prstGeom>
          <a:ln w="19050">
            <a:solidFill>
              <a:srgbClr val="142E42"/>
            </a:solidFill>
            <a:round/>
          </a:ln>
        </p:spPr>
      </p:cxnSp>
      <p:sp>
        <p:nvSpPr>
          <p:cNvPr id="22" name="local-java-ExpressionTreeDemo">
            <a:extLst>
              <a:ext uri="{FF2B5EF4-FFF2-40B4-BE49-F238E27FC236}">
                <a16:creationId xmlns:a16="http://schemas.microsoft.com/office/drawing/2014/main" id="{3CFBE3A0-8FC3-40BC-85D5-973AD11AD06F}"/>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ExpressionTreeDemo.java</a:t>
            </a:r>
          </a:p>
        </p:txBody>
      </p:sp>
      <p:sp>
        <p:nvSpPr>
          <p:cNvPr id="23" name="page">
            <a:extLst>
              <a:ext uri="{FF2B5EF4-FFF2-40B4-BE49-F238E27FC236}">
                <a16:creationId xmlns:a16="http://schemas.microsoft.com/office/drawing/2014/main" id="{9C17FE9F-2612-4E98-931D-93E8AC4EE52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25</a:t>
            </a:r>
          </a:p>
        </p:txBody>
      </p:sp>
    </p:spTree>
    <p:extLst>
      <p:ext uri="{BB962C8B-B14F-4D97-AF65-F5344CB8AC3E}">
        <p14:creationId xmlns:p14="http://schemas.microsoft.com/office/powerpoint/2010/main" val="372732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DA1EB2C7-9A61-4A47-86EC-0629B23B792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Traversal visits every node once</a:t>
            </a:r>
          </a:p>
        </p:txBody>
      </p:sp>
      <p:sp>
        <p:nvSpPr>
          <p:cNvPr id="3" name="text-2">
            <a:extLst>
              <a:ext uri="{FF2B5EF4-FFF2-40B4-BE49-F238E27FC236}">
                <a16:creationId xmlns:a16="http://schemas.microsoft.com/office/drawing/2014/main" id="{99347E0B-DB48-4BA1-A622-CB1D81F7F6ED}"/>
              </a:ext>
            </a:extLst>
          </p:cNvPr>
          <p:cNvSpPr>
            <a:spLocks noGrp="1"/>
          </p:cNvSpPr>
          <p:nvPr/>
        </p:nvSpPr>
        <p:spPr>
          <a:xfrm>
            <a:off x="609600" y="1571625"/>
            <a:ext cx="6477000" cy="400050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Depth-first search follows a branch</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before returning to other branches.</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Preorder: node, left, right.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Inorder: left, node, right.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Postorder: left, right, node.</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Breadth-first search visits nodes</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one level at a time.</a:t>
            </a:r>
          </a:p>
        </p:txBody>
      </p:sp>
      <p:sp>
        <p:nvSpPr>
          <p:cNvPr id="4" name="source-diagram-dg19-9">
            <a:extLst>
              <a:ext uri="{FF2B5EF4-FFF2-40B4-BE49-F238E27FC236}">
                <a16:creationId xmlns:a16="http://schemas.microsoft.com/office/drawing/2014/main" id="{FF11148E-2A86-4B01-9BAE-A6B96EF3CB5D}"/>
              </a:ext>
            </a:extLst>
          </p:cNvPr>
          <p:cNvSpPr>
            <a:spLocks noGrp="1"/>
          </p:cNvSpPr>
          <p:nvPr/>
        </p:nvSpPr>
        <p:spPr>
          <a:xfrm>
            <a:off x="8879670" y="1714500"/>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19-10">
            <a:extLst>
              <a:ext uri="{FF2B5EF4-FFF2-40B4-BE49-F238E27FC236}">
                <a16:creationId xmlns:a16="http://schemas.microsoft.com/office/drawing/2014/main" id="{43CF427E-AE8C-4D22-AEE5-A7089D9B1E4F}"/>
              </a:ext>
            </a:extLst>
          </p:cNvPr>
          <p:cNvSpPr>
            <a:spLocks noGrp="1"/>
          </p:cNvSpPr>
          <p:nvPr/>
        </p:nvSpPr>
        <p:spPr>
          <a:xfrm>
            <a:off x="8276691" y="25425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19-11">
            <a:extLst>
              <a:ext uri="{FF2B5EF4-FFF2-40B4-BE49-F238E27FC236}">
                <a16:creationId xmlns:a16="http://schemas.microsoft.com/office/drawing/2014/main" id="{E6911813-4A65-40DF-854E-C0316D3C5702}"/>
              </a:ext>
            </a:extLst>
          </p:cNvPr>
          <p:cNvSpPr>
            <a:spLocks noGrp="1"/>
          </p:cNvSpPr>
          <p:nvPr/>
        </p:nvSpPr>
        <p:spPr>
          <a:xfrm>
            <a:off x="9676943" y="25425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19-12">
            <a:extLst>
              <a:ext uri="{FF2B5EF4-FFF2-40B4-BE49-F238E27FC236}">
                <a16:creationId xmlns:a16="http://schemas.microsoft.com/office/drawing/2014/main" id="{99F89124-3696-43AE-9BA4-9B6B3DF5156E}"/>
              </a:ext>
            </a:extLst>
          </p:cNvPr>
          <p:cNvSpPr>
            <a:spLocks noGrp="1"/>
          </p:cNvSpPr>
          <p:nvPr/>
        </p:nvSpPr>
        <p:spPr>
          <a:xfrm>
            <a:off x="7715250" y="34396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19-13">
            <a:extLst>
              <a:ext uri="{FF2B5EF4-FFF2-40B4-BE49-F238E27FC236}">
                <a16:creationId xmlns:a16="http://schemas.microsoft.com/office/drawing/2014/main" id="{EEC602B6-0593-4160-A5F9-217F794B49CA}"/>
              </a:ext>
            </a:extLst>
          </p:cNvPr>
          <p:cNvSpPr>
            <a:spLocks noGrp="1"/>
          </p:cNvSpPr>
          <p:nvPr/>
        </p:nvSpPr>
        <p:spPr>
          <a:xfrm>
            <a:off x="9086693" y="3439692"/>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19-14">
            <a:extLst>
              <a:ext uri="{FF2B5EF4-FFF2-40B4-BE49-F238E27FC236}">
                <a16:creationId xmlns:a16="http://schemas.microsoft.com/office/drawing/2014/main" id="{4BEFCF26-F58E-4FF3-9A73-066EB3D12F26}"/>
              </a:ext>
            </a:extLst>
          </p:cNvPr>
          <p:cNvSpPr>
            <a:spLocks noGrp="1"/>
          </p:cNvSpPr>
          <p:nvPr/>
        </p:nvSpPr>
        <p:spPr>
          <a:xfrm>
            <a:off x="10367019" y="3412376"/>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19-15">
            <a:extLst>
              <a:ext uri="{FF2B5EF4-FFF2-40B4-BE49-F238E27FC236}">
                <a16:creationId xmlns:a16="http://schemas.microsoft.com/office/drawing/2014/main" id="{968A41B9-F715-42B4-B977-DE1DB392135B}"/>
              </a:ext>
            </a:extLst>
          </p:cNvPr>
          <p:cNvSpPr>
            <a:spLocks noGrp="1"/>
          </p:cNvSpPr>
          <p:nvPr/>
        </p:nvSpPr>
        <p:spPr>
          <a:xfrm>
            <a:off x="8571815" y="4474806"/>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19-16">
            <a:extLst>
              <a:ext uri="{FF2B5EF4-FFF2-40B4-BE49-F238E27FC236}">
                <a16:creationId xmlns:a16="http://schemas.microsoft.com/office/drawing/2014/main" id="{39DC8F62-68EE-41F3-9D31-54F8D26E03B4}"/>
              </a:ext>
            </a:extLst>
          </p:cNvPr>
          <p:cNvSpPr>
            <a:spLocks noGrp="1"/>
          </p:cNvSpPr>
          <p:nvPr/>
        </p:nvSpPr>
        <p:spPr>
          <a:xfrm>
            <a:off x="9676943" y="4465015"/>
            <a:ext cx="590250" cy="621069"/>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19-18">
            <a:extLst>
              <a:ext uri="{FF2B5EF4-FFF2-40B4-BE49-F238E27FC236}">
                <a16:creationId xmlns:a16="http://schemas.microsoft.com/office/drawing/2014/main" id="{6B63FADE-7D3E-43FD-8DF5-2DCD577DF2E5}"/>
              </a:ext>
            </a:extLst>
          </p:cNvPr>
          <p:cNvSpPr>
            <a:spLocks noGrp="1"/>
          </p:cNvSpPr>
          <p:nvPr/>
        </p:nvSpPr>
        <p:spPr>
          <a:xfrm flipH="1">
            <a:off x="8641828" y="2244616"/>
            <a:ext cx="324282" cy="33248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19-20">
            <a:extLst>
              <a:ext uri="{FF2B5EF4-FFF2-40B4-BE49-F238E27FC236}">
                <a16:creationId xmlns:a16="http://schemas.microsoft.com/office/drawing/2014/main" id="{21EEF36D-A451-463B-89F5-3F5509C335FD}"/>
              </a:ext>
            </a:extLst>
          </p:cNvPr>
          <p:cNvSpPr>
            <a:spLocks noGrp="1"/>
          </p:cNvSpPr>
          <p:nvPr/>
        </p:nvSpPr>
        <p:spPr>
          <a:xfrm>
            <a:off x="9383480" y="2244616"/>
            <a:ext cx="379903" cy="3889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19-22">
            <a:extLst>
              <a:ext uri="{FF2B5EF4-FFF2-40B4-BE49-F238E27FC236}">
                <a16:creationId xmlns:a16="http://schemas.microsoft.com/office/drawing/2014/main" id="{67262CE6-1316-4445-969E-2735D0ACBE3F}"/>
              </a:ext>
            </a:extLst>
          </p:cNvPr>
          <p:cNvSpPr>
            <a:spLocks noGrp="1"/>
          </p:cNvSpPr>
          <p:nvPr/>
        </p:nvSpPr>
        <p:spPr>
          <a:xfrm flipH="1">
            <a:off x="8010375" y="3072707"/>
            <a:ext cx="352755" cy="36698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19-24">
            <a:extLst>
              <a:ext uri="{FF2B5EF4-FFF2-40B4-BE49-F238E27FC236}">
                <a16:creationId xmlns:a16="http://schemas.microsoft.com/office/drawing/2014/main" id="{DBF1D2AE-7CD6-4B9C-BFFF-68BBE942C0ED}"/>
              </a:ext>
            </a:extLst>
          </p:cNvPr>
          <p:cNvSpPr>
            <a:spLocks noGrp="1"/>
          </p:cNvSpPr>
          <p:nvPr/>
        </p:nvSpPr>
        <p:spPr>
          <a:xfrm flipH="1">
            <a:off x="9381818" y="3072707"/>
            <a:ext cx="381564" cy="36698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19-26">
            <a:extLst>
              <a:ext uri="{FF2B5EF4-FFF2-40B4-BE49-F238E27FC236}">
                <a16:creationId xmlns:a16="http://schemas.microsoft.com/office/drawing/2014/main" id="{4958D6BA-EC86-4526-ADB5-E183E2084064}"/>
              </a:ext>
            </a:extLst>
          </p:cNvPr>
          <p:cNvSpPr>
            <a:spLocks noGrp="1"/>
          </p:cNvSpPr>
          <p:nvPr/>
        </p:nvSpPr>
        <p:spPr>
          <a:xfrm>
            <a:off x="10180753" y="3072707"/>
            <a:ext cx="481391" cy="339669"/>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19-28">
            <a:extLst>
              <a:ext uri="{FF2B5EF4-FFF2-40B4-BE49-F238E27FC236}">
                <a16:creationId xmlns:a16="http://schemas.microsoft.com/office/drawing/2014/main" id="{8EF4E62E-955B-4736-B857-9A3DB5F455A6}"/>
              </a:ext>
            </a:extLst>
          </p:cNvPr>
          <p:cNvSpPr>
            <a:spLocks noGrp="1"/>
          </p:cNvSpPr>
          <p:nvPr/>
        </p:nvSpPr>
        <p:spPr>
          <a:xfrm flipH="1">
            <a:off x="8866941" y="3969808"/>
            <a:ext cx="306192" cy="504998"/>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19-30">
            <a:extLst>
              <a:ext uri="{FF2B5EF4-FFF2-40B4-BE49-F238E27FC236}">
                <a16:creationId xmlns:a16="http://schemas.microsoft.com/office/drawing/2014/main" id="{FCBC95FD-762B-4169-81C9-2628893758EA}"/>
              </a:ext>
            </a:extLst>
          </p:cNvPr>
          <p:cNvSpPr>
            <a:spLocks noGrp="1"/>
          </p:cNvSpPr>
          <p:nvPr/>
        </p:nvSpPr>
        <p:spPr>
          <a:xfrm>
            <a:off x="9590503" y="3969808"/>
            <a:ext cx="381565" cy="49520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20" name="local-java-TraversalDemo">
            <a:extLst>
              <a:ext uri="{FF2B5EF4-FFF2-40B4-BE49-F238E27FC236}">
                <a16:creationId xmlns:a16="http://schemas.microsoft.com/office/drawing/2014/main" id="{BDE49222-1719-410D-AC7B-78D7830B413A}"/>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TraversalDemo.java</a:t>
            </a:r>
          </a:p>
        </p:txBody>
      </p:sp>
      <p:sp>
        <p:nvSpPr>
          <p:cNvPr id="21" name="page">
            <a:extLst>
              <a:ext uri="{FF2B5EF4-FFF2-40B4-BE49-F238E27FC236}">
                <a16:creationId xmlns:a16="http://schemas.microsoft.com/office/drawing/2014/main" id="{FB40BB14-BA2D-4AF8-AEE3-A2C7DF44885E}"/>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26</a:t>
            </a:r>
          </a:p>
        </p:txBody>
      </p:sp>
    </p:spTree>
    <p:extLst>
      <p:ext uri="{BB962C8B-B14F-4D97-AF65-F5344CB8AC3E}">
        <p14:creationId xmlns:p14="http://schemas.microsoft.com/office/powerpoint/2010/main" val="1598139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0" name="text-0">
            <a:extLst>
              <a:ext uri="{FF2B5EF4-FFF2-40B4-BE49-F238E27FC236}">
                <a16:creationId xmlns:a16="http://schemas.microsoft.com/office/drawing/2014/main" id="{902F0CC6-57C4-471A-A9EB-70388F52F5D5}"/>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Traversal orders on the same tree</a:t>
            </a:r>
          </a:p>
        </p:txBody>
      </p:sp>
      <p:sp>
        <p:nvSpPr>
          <p:cNvPr id="3" name="text-2">
            <a:extLst>
              <a:ext uri="{FF2B5EF4-FFF2-40B4-BE49-F238E27FC236}">
                <a16:creationId xmlns:a16="http://schemas.microsoft.com/office/drawing/2014/main" id="{4C1C2216-2D80-4028-AF49-E7EF8D19D408}"/>
              </a:ext>
            </a:extLst>
          </p:cNvPr>
          <p:cNvSpPr>
            <a:spLocks noGrp="1"/>
          </p:cNvSpPr>
          <p:nvPr/>
        </p:nvSpPr>
        <p:spPr>
          <a:xfrm>
            <a:off x="5334000" y="1714500"/>
            <a:ext cx="6191250" cy="3762375"/>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buNone/>
              <a:defRPr sz="2025" b="0">
                <a:solidFill>
                  <a:srgbClr val="142E42"/>
                </a:solidFill>
                <a:latin typeface="Arial"/>
                <a:ea typeface="Arial"/>
                <a:cs typeface="Arial"/>
              </a:defRPr>
            </a:lvl1pPr>
            <a:lvl2pPr algn="l">
              <a:buNone/>
              <a:defRPr sz="2025" b="0">
                <a:solidFill>
                  <a:srgbClr val="142E42"/>
                </a:solidFill>
                <a:latin typeface="Arial"/>
                <a:ea typeface="Arial"/>
                <a:cs typeface="Arial"/>
              </a:defRPr>
            </a:lvl2pPr>
            <a:lvl3pPr algn="l">
              <a:buNone/>
              <a:defRPr sz="2025" b="0">
                <a:solidFill>
                  <a:srgbClr val="142E42"/>
                </a:solidFill>
                <a:latin typeface="Arial"/>
                <a:ea typeface="Arial"/>
                <a:cs typeface="Arial"/>
              </a:defRPr>
            </a:lvl3pPr>
            <a:lvl4pPr algn="l">
              <a:buNone/>
              <a:defRPr sz="2025" b="0">
                <a:solidFill>
                  <a:srgbClr val="142E42"/>
                </a:solidFill>
                <a:latin typeface="Arial"/>
                <a:ea typeface="Arial"/>
                <a:cs typeface="Arial"/>
              </a:defRPr>
            </a:lvl4pPr>
            <a:lvl5pPr algn="l">
              <a:buNone/>
              <a:defRPr sz="2025" b="0">
                <a:solidFill>
                  <a:srgbClr val="142E42"/>
                </a:solidFill>
                <a:latin typeface="Arial"/>
                <a:ea typeface="Arial"/>
                <a:cs typeface="Arial"/>
              </a:defRPr>
            </a:lvl5pPr>
            <a:lvl6pPr algn="l">
              <a:buNone/>
              <a:defRPr sz="2025" b="0">
                <a:solidFill>
                  <a:srgbClr val="142E42"/>
                </a:solidFill>
                <a:latin typeface="Arial"/>
                <a:ea typeface="Arial"/>
                <a:cs typeface="Arial"/>
              </a:defRPr>
            </a:lvl6pPr>
            <a:lvl7pPr algn="l">
              <a:buNone/>
              <a:defRPr sz="2025" b="0">
                <a:solidFill>
                  <a:srgbClr val="142E42"/>
                </a:solidFill>
                <a:latin typeface="Arial"/>
                <a:ea typeface="Arial"/>
                <a:cs typeface="Arial"/>
              </a:defRPr>
            </a:lvl7pPr>
            <a:lvl8pPr algn="l">
              <a:buNone/>
              <a:defRPr sz="2025" b="0">
                <a:solidFill>
                  <a:srgbClr val="142E42"/>
                </a:solidFill>
                <a:latin typeface="Arial"/>
                <a:ea typeface="Arial"/>
                <a:cs typeface="Arial"/>
              </a:defRPr>
            </a:lvl8pPr>
            <a:lvl9pPr algn="l">
              <a:buNone/>
              <a:defRPr sz="2025" b="0">
                <a:solidFill>
                  <a:srgbClr val="142E42"/>
                </a:solidFill>
                <a:latin typeface="Arial"/>
                <a:ea typeface="Arial"/>
                <a:cs typeface="Arial"/>
              </a:defRPr>
            </a:lvl9pPr>
          </a:lstStyle>
          <a:p>
            <a:pPr algn="l">
              <a:buNone/>
              <a:defRPr sz="2025" b="0">
                <a:solidFill>
                  <a:srgbClr val="142E42"/>
                </a:solidFill>
                <a:latin typeface="Arial"/>
                <a:ea typeface="Arial"/>
                <a:cs typeface="Arial"/>
              </a:defRPr>
            </a:pPr>
            <a:r>
              <a:rPr sz="2025" b="0">
                <a:solidFill>
                  <a:srgbClr val="142E42"/>
                </a:solidFill>
                <a:latin typeface="Arial"/>
                <a:ea typeface="Arial"/>
                <a:cs typeface="Arial"/>
              </a:rPr>
              <a:t>Preorder</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30, 20, 10, 70, 50, 40, 60, 90</a:t>
            </a:r>
          </a:p>
          <a:p>
            <a:endParaRPr sz="2025" b="0">
              <a:solidFill>
                <a:srgbClr val="142E42"/>
              </a:solidFill>
              <a:latin typeface="Arial"/>
              <a:ea typeface="Arial"/>
              <a:cs typeface="Arial"/>
            </a:endParaRPr>
          </a:p>
          <a:p>
            <a:pPr algn="l">
              <a:buNone/>
              <a:defRPr sz="2025" b="0">
                <a:solidFill>
                  <a:srgbClr val="142E42"/>
                </a:solidFill>
                <a:latin typeface="Arial"/>
                <a:ea typeface="Arial"/>
                <a:cs typeface="Arial"/>
              </a:defRPr>
            </a:pPr>
            <a:r>
              <a:rPr sz="2025" b="0">
                <a:solidFill>
                  <a:srgbClr val="142E42"/>
                </a:solidFill>
                <a:latin typeface="Arial"/>
                <a:ea typeface="Arial"/>
                <a:cs typeface="Arial"/>
              </a:rPr>
              <a:t>Inorder</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10, 20, 30, 40, 50, 60, 70, 90</a:t>
            </a:r>
          </a:p>
          <a:p>
            <a:endParaRPr sz="2025" b="0">
              <a:solidFill>
                <a:srgbClr val="142E42"/>
              </a:solidFill>
              <a:latin typeface="Arial"/>
              <a:ea typeface="Arial"/>
              <a:cs typeface="Arial"/>
            </a:endParaRPr>
          </a:p>
          <a:p>
            <a:pPr algn="l">
              <a:buNone/>
              <a:defRPr sz="2025" b="0">
                <a:solidFill>
                  <a:srgbClr val="142E42"/>
                </a:solidFill>
                <a:latin typeface="Arial"/>
                <a:ea typeface="Arial"/>
                <a:cs typeface="Arial"/>
              </a:defRPr>
            </a:pPr>
            <a:r>
              <a:rPr sz="2025" b="0">
                <a:solidFill>
                  <a:srgbClr val="142E42"/>
                </a:solidFill>
                <a:latin typeface="Arial"/>
                <a:ea typeface="Arial"/>
                <a:cs typeface="Arial"/>
              </a:rPr>
              <a:t>Postorder</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10, 20, 40, 60, 50, 90, 70, 30</a:t>
            </a:r>
          </a:p>
        </p:txBody>
      </p:sp>
      <p:sp>
        <p:nvSpPr>
          <p:cNvPr id="4" name="text-3">
            <a:extLst>
              <a:ext uri="{FF2B5EF4-FFF2-40B4-BE49-F238E27FC236}">
                <a16:creationId xmlns:a16="http://schemas.microsoft.com/office/drawing/2014/main" id="{1491D5A6-5AA2-42DC-92C5-A1CB20F40B46}"/>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Inorder traversal of a BST lists its keys in sorted order.</a:t>
            </a:r>
          </a:p>
        </p:txBody>
      </p:sp>
      <p:sp>
        <p:nvSpPr>
          <p:cNvPr id="5" name="source-diagram-dg20-9">
            <a:extLst>
              <a:ext uri="{FF2B5EF4-FFF2-40B4-BE49-F238E27FC236}">
                <a16:creationId xmlns:a16="http://schemas.microsoft.com/office/drawing/2014/main" id="{FF11148E-2A86-4B01-9BAE-A6B96EF3CB5D}"/>
              </a:ext>
            </a:extLst>
          </p:cNvPr>
          <p:cNvSpPr>
            <a:spLocks noGrp="1"/>
          </p:cNvSpPr>
          <p:nvPr/>
        </p:nvSpPr>
        <p:spPr>
          <a:xfrm>
            <a:off x="2090423" y="1619250"/>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6" name="source-diagram-dg20-10">
            <a:extLst>
              <a:ext uri="{FF2B5EF4-FFF2-40B4-BE49-F238E27FC236}">
                <a16:creationId xmlns:a16="http://schemas.microsoft.com/office/drawing/2014/main" id="{43CF427E-AE8C-4D22-AEE5-A7089D9B1E4F}"/>
              </a:ext>
            </a:extLst>
          </p:cNvPr>
          <p:cNvSpPr>
            <a:spLocks noGrp="1"/>
          </p:cNvSpPr>
          <p:nvPr/>
        </p:nvSpPr>
        <p:spPr>
          <a:xfrm>
            <a:off x="1402517" y="256397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7" name="source-diagram-dg20-11">
            <a:extLst>
              <a:ext uri="{FF2B5EF4-FFF2-40B4-BE49-F238E27FC236}">
                <a16:creationId xmlns:a16="http://schemas.microsoft.com/office/drawing/2014/main" id="{E6911813-4A65-40DF-854E-C0316D3C5702}"/>
              </a:ext>
            </a:extLst>
          </p:cNvPr>
          <p:cNvSpPr>
            <a:spLocks noGrp="1"/>
          </p:cNvSpPr>
          <p:nvPr/>
        </p:nvSpPr>
        <p:spPr>
          <a:xfrm>
            <a:off x="2999988" y="256397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8" name="source-diagram-dg20-12">
            <a:extLst>
              <a:ext uri="{FF2B5EF4-FFF2-40B4-BE49-F238E27FC236}">
                <a16:creationId xmlns:a16="http://schemas.microsoft.com/office/drawing/2014/main" id="{99F89124-3696-43AE-9BA4-9B6B3DF5156E}"/>
              </a:ext>
            </a:extLst>
          </p:cNvPr>
          <p:cNvSpPr>
            <a:spLocks noGrp="1"/>
          </p:cNvSpPr>
          <p:nvPr/>
        </p:nvSpPr>
        <p:spPr>
          <a:xfrm>
            <a:off x="762000" y="3587427"/>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9" name="source-diagram-dg20-13">
            <a:extLst>
              <a:ext uri="{FF2B5EF4-FFF2-40B4-BE49-F238E27FC236}">
                <a16:creationId xmlns:a16="http://schemas.microsoft.com/office/drawing/2014/main" id="{EEC602B6-0593-4160-A5F9-217F794B49CA}"/>
              </a:ext>
            </a:extLst>
          </p:cNvPr>
          <p:cNvSpPr>
            <a:spLocks noGrp="1"/>
          </p:cNvSpPr>
          <p:nvPr/>
        </p:nvSpPr>
        <p:spPr>
          <a:xfrm>
            <a:off x="2326604" y="3587427"/>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10" name="source-diagram-dg20-14">
            <a:extLst>
              <a:ext uri="{FF2B5EF4-FFF2-40B4-BE49-F238E27FC236}">
                <a16:creationId xmlns:a16="http://schemas.microsoft.com/office/drawing/2014/main" id="{4BEFCF26-F58E-4FF3-9A73-066EB3D12F26}"/>
              </a:ext>
            </a:extLst>
          </p:cNvPr>
          <p:cNvSpPr>
            <a:spLocks noGrp="1"/>
          </p:cNvSpPr>
          <p:nvPr/>
        </p:nvSpPr>
        <p:spPr>
          <a:xfrm>
            <a:off x="3787258" y="3556264"/>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1" name="source-diagram-dg20-15">
            <a:extLst>
              <a:ext uri="{FF2B5EF4-FFF2-40B4-BE49-F238E27FC236}">
                <a16:creationId xmlns:a16="http://schemas.microsoft.com/office/drawing/2014/main" id="{968A41B9-F715-42B4-B977-DE1DB392135B}"/>
              </a:ext>
            </a:extLst>
          </p:cNvPr>
          <p:cNvSpPr>
            <a:spLocks noGrp="1"/>
          </p:cNvSpPr>
          <p:nvPr/>
        </p:nvSpPr>
        <p:spPr>
          <a:xfrm>
            <a:off x="1739208" y="4768332"/>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2" name="source-diagram-dg20-16">
            <a:extLst>
              <a:ext uri="{FF2B5EF4-FFF2-40B4-BE49-F238E27FC236}">
                <a16:creationId xmlns:a16="http://schemas.microsoft.com/office/drawing/2014/main" id="{39DC8F62-68EE-41F3-9D31-54F8D26E03B4}"/>
              </a:ext>
            </a:extLst>
          </p:cNvPr>
          <p:cNvSpPr>
            <a:spLocks noGrp="1"/>
          </p:cNvSpPr>
          <p:nvPr/>
        </p:nvSpPr>
        <p:spPr>
          <a:xfrm>
            <a:off x="2999988" y="4757161"/>
            <a:ext cx="673384" cy="708543"/>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3" name="source-diagram-dg20-18">
            <a:extLst>
              <a:ext uri="{FF2B5EF4-FFF2-40B4-BE49-F238E27FC236}">
                <a16:creationId xmlns:a16="http://schemas.microsoft.com/office/drawing/2014/main" id="{6B63FADE-7D3E-43FD-8DF5-2DCD577DF2E5}"/>
              </a:ext>
            </a:extLst>
          </p:cNvPr>
          <p:cNvSpPr>
            <a:spLocks noGrp="1"/>
          </p:cNvSpPr>
          <p:nvPr/>
        </p:nvSpPr>
        <p:spPr>
          <a:xfrm flipH="1">
            <a:off x="1819082" y="2224030"/>
            <a:ext cx="369955" cy="379309"/>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4" name="source-diagram-dg20-20">
            <a:extLst>
              <a:ext uri="{FF2B5EF4-FFF2-40B4-BE49-F238E27FC236}">
                <a16:creationId xmlns:a16="http://schemas.microsoft.com/office/drawing/2014/main" id="{21EEF36D-A451-463B-89F5-3F5509C335FD}"/>
              </a:ext>
            </a:extLst>
          </p:cNvPr>
          <p:cNvSpPr>
            <a:spLocks noGrp="1"/>
          </p:cNvSpPr>
          <p:nvPr/>
        </p:nvSpPr>
        <p:spPr>
          <a:xfrm>
            <a:off x="2665192" y="2224030"/>
            <a:ext cx="433410" cy="443708"/>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20-22">
            <a:extLst>
              <a:ext uri="{FF2B5EF4-FFF2-40B4-BE49-F238E27FC236}">
                <a16:creationId xmlns:a16="http://schemas.microsoft.com/office/drawing/2014/main" id="{67262CE6-1316-4445-969E-2735D0ACBE3F}"/>
              </a:ext>
            </a:extLst>
          </p:cNvPr>
          <p:cNvSpPr>
            <a:spLocks noGrp="1"/>
          </p:cNvSpPr>
          <p:nvPr/>
        </p:nvSpPr>
        <p:spPr>
          <a:xfrm flipH="1">
            <a:off x="1098692" y="3168754"/>
            <a:ext cx="402439" cy="418673"/>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20-24">
            <a:extLst>
              <a:ext uri="{FF2B5EF4-FFF2-40B4-BE49-F238E27FC236}">
                <a16:creationId xmlns:a16="http://schemas.microsoft.com/office/drawing/2014/main" id="{DBF1D2AE-7CD6-4B9C-BFFF-68BBE942C0ED}"/>
              </a:ext>
            </a:extLst>
          </p:cNvPr>
          <p:cNvSpPr>
            <a:spLocks noGrp="1"/>
          </p:cNvSpPr>
          <p:nvPr/>
        </p:nvSpPr>
        <p:spPr>
          <a:xfrm flipH="1">
            <a:off x="2663296" y="3168754"/>
            <a:ext cx="435306" cy="418673"/>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20-26">
            <a:extLst>
              <a:ext uri="{FF2B5EF4-FFF2-40B4-BE49-F238E27FC236}">
                <a16:creationId xmlns:a16="http://schemas.microsoft.com/office/drawing/2014/main" id="{4958D6BA-EC86-4526-ADB5-E183E2084064}"/>
              </a:ext>
            </a:extLst>
          </p:cNvPr>
          <p:cNvSpPr>
            <a:spLocks noGrp="1"/>
          </p:cNvSpPr>
          <p:nvPr/>
        </p:nvSpPr>
        <p:spPr>
          <a:xfrm>
            <a:off x="3574757" y="3168754"/>
            <a:ext cx="549192" cy="38751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20-28">
            <a:extLst>
              <a:ext uri="{FF2B5EF4-FFF2-40B4-BE49-F238E27FC236}">
                <a16:creationId xmlns:a16="http://schemas.microsoft.com/office/drawing/2014/main" id="{8EF4E62E-955B-4736-B857-9A3DB5F455A6}"/>
              </a:ext>
            </a:extLst>
          </p:cNvPr>
          <p:cNvSpPr>
            <a:spLocks noGrp="1"/>
          </p:cNvSpPr>
          <p:nvPr/>
        </p:nvSpPr>
        <p:spPr>
          <a:xfrm flipH="1">
            <a:off x="2075901" y="4192207"/>
            <a:ext cx="349318" cy="57612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9" name="source-diagram-dg20-30">
            <a:extLst>
              <a:ext uri="{FF2B5EF4-FFF2-40B4-BE49-F238E27FC236}">
                <a16:creationId xmlns:a16="http://schemas.microsoft.com/office/drawing/2014/main" id="{FCBC95FD-762B-4169-81C9-2628893758EA}"/>
              </a:ext>
            </a:extLst>
          </p:cNvPr>
          <p:cNvSpPr>
            <a:spLocks noGrp="1"/>
          </p:cNvSpPr>
          <p:nvPr/>
        </p:nvSpPr>
        <p:spPr>
          <a:xfrm>
            <a:off x="2901373" y="4192207"/>
            <a:ext cx="435307" cy="564954"/>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21" name="local-java-TraversalDemo">
            <a:extLst>
              <a:ext uri="{FF2B5EF4-FFF2-40B4-BE49-F238E27FC236}">
                <a16:creationId xmlns:a16="http://schemas.microsoft.com/office/drawing/2014/main" id="{70B57530-882B-43C0-9166-91F3F2BF7638}"/>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TraversalDemo.java</a:t>
            </a:r>
          </a:p>
        </p:txBody>
      </p:sp>
      <p:sp>
        <p:nvSpPr>
          <p:cNvPr id="22" name="page">
            <a:extLst>
              <a:ext uri="{FF2B5EF4-FFF2-40B4-BE49-F238E27FC236}">
                <a16:creationId xmlns:a16="http://schemas.microsoft.com/office/drawing/2014/main" id="{775EF693-64AF-4913-AD8F-8895DDC0B44D}"/>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27</a:t>
            </a:r>
          </a:p>
        </p:txBody>
      </p:sp>
    </p:spTree>
    <p:extLst>
      <p:ext uri="{BB962C8B-B14F-4D97-AF65-F5344CB8AC3E}">
        <p14:creationId xmlns:p14="http://schemas.microsoft.com/office/powerpoint/2010/main" val="1411853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8ED264FD-2A5A-4535-9936-D7B08499C5E8}"/>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Recursive depth-first traversal</a:t>
            </a:r>
          </a:p>
        </p:txBody>
      </p:sp>
      <p:sp>
        <p:nvSpPr>
          <p:cNvPr id="3" name="text-2">
            <a:extLst>
              <a:ext uri="{FF2B5EF4-FFF2-40B4-BE49-F238E27FC236}">
                <a16:creationId xmlns:a16="http://schemas.microsoft.com/office/drawing/2014/main" id="{7122103A-B6BC-4D38-976C-892C671D9647}"/>
              </a:ext>
            </a:extLst>
          </p:cNvPr>
          <p:cNvSpPr>
            <a:spLocks noGrp="1"/>
          </p:cNvSpPr>
          <p:nvPr/>
        </p:nvSpPr>
        <p:spPr>
          <a:xfrm>
            <a:off x="609600" y="1619250"/>
            <a:ext cx="10858500" cy="2238375"/>
          </a:xfrm>
          <a:prstGeom prst="rect">
            <a:avLst/>
          </a:prstGeom>
          <a:noFill/>
          <a:ln w="0">
            <a:noFill/>
          </a:ln>
        </p:spPr>
        <p:txBody>
          <a:bodyPr lIns="0" tIns="0" rIns="0" bIns="0" anchor="t"/>
          <a:lstStyle>
            <a:defPPr algn="l">
              <a:defRPr sz="2250" b="0">
                <a:solidFill>
                  <a:srgbClr val="142E42"/>
                </a:solidFill>
                <a:latin typeface="Consolas"/>
                <a:ea typeface="Consolas"/>
                <a:cs typeface="Consolas"/>
              </a:defRPr>
            </a:defPPr>
            <a:lvl1pPr algn="l">
              <a:buNone/>
              <a:defRPr sz="2250" b="0">
                <a:solidFill>
                  <a:srgbClr val="142E42"/>
                </a:solidFill>
                <a:latin typeface="Consolas"/>
                <a:ea typeface="Consolas"/>
                <a:cs typeface="Consolas"/>
              </a:defRPr>
            </a:lvl1pPr>
            <a:lvl2pPr algn="l">
              <a:buNone/>
              <a:defRPr sz="2250" b="0">
                <a:solidFill>
                  <a:srgbClr val="142E42"/>
                </a:solidFill>
                <a:latin typeface="Consolas"/>
                <a:ea typeface="Consolas"/>
                <a:cs typeface="Consolas"/>
              </a:defRPr>
            </a:lvl2pPr>
            <a:lvl3pPr algn="l">
              <a:buNone/>
              <a:defRPr sz="2250" b="0">
                <a:solidFill>
                  <a:srgbClr val="142E42"/>
                </a:solidFill>
                <a:latin typeface="Consolas"/>
                <a:ea typeface="Consolas"/>
                <a:cs typeface="Consolas"/>
              </a:defRPr>
            </a:lvl3pPr>
            <a:lvl4pPr algn="l">
              <a:buNone/>
              <a:defRPr sz="2250" b="0">
                <a:solidFill>
                  <a:srgbClr val="142E42"/>
                </a:solidFill>
                <a:latin typeface="Consolas"/>
                <a:ea typeface="Consolas"/>
                <a:cs typeface="Consolas"/>
              </a:defRPr>
            </a:lvl4pPr>
            <a:lvl5pPr algn="l">
              <a:buNone/>
              <a:defRPr sz="2250" b="0">
                <a:solidFill>
                  <a:srgbClr val="142E42"/>
                </a:solidFill>
                <a:latin typeface="Consolas"/>
                <a:ea typeface="Consolas"/>
                <a:cs typeface="Consolas"/>
              </a:defRPr>
            </a:lvl5pPr>
            <a:lvl6pPr algn="l">
              <a:buNone/>
              <a:defRPr sz="2250" b="0">
                <a:solidFill>
                  <a:srgbClr val="142E42"/>
                </a:solidFill>
                <a:latin typeface="Consolas"/>
                <a:ea typeface="Consolas"/>
                <a:cs typeface="Consolas"/>
              </a:defRPr>
            </a:lvl6pPr>
            <a:lvl7pPr algn="l">
              <a:buNone/>
              <a:defRPr sz="2250" b="0">
                <a:solidFill>
                  <a:srgbClr val="142E42"/>
                </a:solidFill>
                <a:latin typeface="Consolas"/>
                <a:ea typeface="Consolas"/>
                <a:cs typeface="Consolas"/>
              </a:defRPr>
            </a:lvl7pPr>
            <a:lvl8pPr algn="l">
              <a:buNone/>
              <a:defRPr sz="2250" b="0">
                <a:solidFill>
                  <a:srgbClr val="142E42"/>
                </a:solidFill>
                <a:latin typeface="Consolas"/>
                <a:ea typeface="Consolas"/>
                <a:cs typeface="Consolas"/>
              </a:defRPr>
            </a:lvl8pPr>
            <a:lvl9pPr algn="l">
              <a:buNone/>
              <a:defRPr sz="2250" b="0">
                <a:solidFill>
                  <a:srgbClr val="142E42"/>
                </a:solidFill>
                <a:latin typeface="Consolas"/>
                <a:ea typeface="Consolas"/>
                <a:cs typeface="Consolas"/>
              </a:defRPr>
            </a:lvl9pPr>
          </a:lstStyle>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void inorder(Node&lt;E&gt; x) {</a:t>
            </a:r>
          </a:p>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    if (x == null) return;</a:t>
            </a:r>
          </a:p>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    inorder(x.left);</a:t>
            </a:r>
          </a:p>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    visit(x.key);</a:t>
            </a:r>
          </a:p>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    inorder(x.right);</a:t>
            </a:r>
          </a:p>
          <a:p>
            <a:pPr algn="l">
              <a:buNone/>
              <a:defRPr sz="2250" b="0">
                <a:solidFill>
                  <a:srgbClr val="142E42"/>
                </a:solidFill>
                <a:latin typeface="Consolas"/>
                <a:ea typeface="Consolas"/>
                <a:cs typeface="Consolas"/>
              </a:defRPr>
            </a:pPr>
            <a:r>
              <a:rPr sz="2250"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9F6CEEB5-6053-40AC-9639-B169D849CAF2}"/>
              </a:ext>
            </a:extLst>
          </p:cNvPr>
          <p:cNvSpPr>
            <a:spLocks noGrp="1"/>
          </p:cNvSpPr>
          <p:nvPr/>
        </p:nvSpPr>
        <p:spPr>
          <a:xfrm>
            <a:off x="609600" y="4191000"/>
            <a:ext cx="10858500" cy="1428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Preorder moves visit before both recursive calls.</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Postorder moves visit after both recursive calls.</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visit is the action to perform on a key, such as printing it.</a:t>
            </a:r>
          </a:p>
        </p:txBody>
      </p:sp>
      <p:sp>
        <p:nvSpPr>
          <p:cNvPr id="5" name="text-4">
            <a:extLst>
              <a:ext uri="{FF2B5EF4-FFF2-40B4-BE49-F238E27FC236}">
                <a16:creationId xmlns:a16="http://schemas.microsoft.com/office/drawing/2014/main" id="{9F6D3F7C-5FBF-4729-8173-074CA661E2EF}"/>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All three take O(n) time and O(h + 1) stack space.</a:t>
            </a:r>
          </a:p>
        </p:txBody>
      </p:sp>
      <p:sp>
        <p:nvSpPr>
          <p:cNvPr id="7" name="local-java-BST">
            <a:extLst>
              <a:ext uri="{FF2B5EF4-FFF2-40B4-BE49-F238E27FC236}">
                <a16:creationId xmlns:a16="http://schemas.microsoft.com/office/drawing/2014/main" id="{CEE56B13-0FDF-46B7-BA2F-E43D03F182E9}"/>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8" name="local-java-TraversalDemo">
            <a:extLst>
              <a:ext uri="{FF2B5EF4-FFF2-40B4-BE49-F238E27FC236}">
                <a16:creationId xmlns:a16="http://schemas.microsoft.com/office/drawing/2014/main" id="{03D0714C-B859-4C04-B857-8D36D2A118F6}"/>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TraversalDemo.java</a:t>
            </a:r>
          </a:p>
        </p:txBody>
      </p:sp>
      <p:sp>
        <p:nvSpPr>
          <p:cNvPr id="9" name="page">
            <a:extLst>
              <a:ext uri="{FF2B5EF4-FFF2-40B4-BE49-F238E27FC236}">
                <a16:creationId xmlns:a16="http://schemas.microsoft.com/office/drawing/2014/main" id="{55AB735A-7B25-48FE-9F01-4F2C2C4B9657}"/>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28</a:t>
            </a:r>
          </a:p>
        </p:txBody>
      </p:sp>
    </p:spTree>
    <p:extLst>
      <p:ext uri="{BB962C8B-B14F-4D97-AF65-F5344CB8AC3E}">
        <p14:creationId xmlns:p14="http://schemas.microsoft.com/office/powerpoint/2010/main" val="718371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355AEC9E-E8E6-41A3-999E-EBE18DEB369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Breadth-first traversal uses a queue</a:t>
            </a:r>
          </a:p>
        </p:txBody>
      </p:sp>
      <p:sp>
        <p:nvSpPr>
          <p:cNvPr id="3" name="text-2">
            <a:extLst>
              <a:ext uri="{FF2B5EF4-FFF2-40B4-BE49-F238E27FC236}">
                <a16:creationId xmlns:a16="http://schemas.microsoft.com/office/drawing/2014/main" id="{62325E66-4BB4-4178-9A68-A7A1090D5044}"/>
              </a:ext>
            </a:extLst>
          </p:cNvPr>
          <p:cNvSpPr>
            <a:spLocks noGrp="1"/>
          </p:cNvSpPr>
          <p:nvPr/>
        </p:nvSpPr>
        <p:spPr>
          <a:xfrm>
            <a:off x="609600" y="1571625"/>
            <a:ext cx="10953750" cy="3857625"/>
          </a:xfrm>
          <a:prstGeom prst="rect">
            <a:avLst/>
          </a:prstGeom>
          <a:noFill/>
          <a:ln w="0">
            <a:noFill/>
          </a:ln>
        </p:spPr>
        <p:txBody>
          <a:bodyPr lIns="0" tIns="0" rIns="0" bIns="0" anchor="t"/>
          <a:lstStyle>
            <a:defPPr algn="l">
              <a:defRPr sz="2025" b="0">
                <a:solidFill>
                  <a:srgbClr val="142E42"/>
                </a:solidFill>
                <a:latin typeface="Consolas"/>
                <a:ea typeface="Consolas"/>
                <a:cs typeface="Consolas"/>
              </a:defRPr>
            </a:defPPr>
            <a:lvl1pPr algn="l">
              <a:buNone/>
              <a:defRPr sz="2025" b="0">
                <a:solidFill>
                  <a:srgbClr val="142E42"/>
                </a:solidFill>
                <a:latin typeface="Consolas"/>
                <a:ea typeface="Consolas"/>
                <a:cs typeface="Consolas"/>
              </a:defRPr>
            </a:lvl1pPr>
            <a:lvl2pPr algn="l">
              <a:buNone/>
              <a:defRPr sz="2025" b="0">
                <a:solidFill>
                  <a:srgbClr val="142E42"/>
                </a:solidFill>
                <a:latin typeface="Consolas"/>
                <a:ea typeface="Consolas"/>
                <a:cs typeface="Consolas"/>
              </a:defRPr>
            </a:lvl2pPr>
            <a:lvl3pPr algn="l">
              <a:buNone/>
              <a:defRPr sz="2025" b="0">
                <a:solidFill>
                  <a:srgbClr val="142E42"/>
                </a:solidFill>
                <a:latin typeface="Consolas"/>
                <a:ea typeface="Consolas"/>
                <a:cs typeface="Consolas"/>
              </a:defRPr>
            </a:lvl3pPr>
            <a:lvl4pPr algn="l">
              <a:buNone/>
              <a:defRPr sz="2025" b="0">
                <a:solidFill>
                  <a:srgbClr val="142E42"/>
                </a:solidFill>
                <a:latin typeface="Consolas"/>
                <a:ea typeface="Consolas"/>
                <a:cs typeface="Consolas"/>
              </a:defRPr>
            </a:lvl4pPr>
            <a:lvl5pPr algn="l">
              <a:buNone/>
              <a:defRPr sz="2025" b="0">
                <a:solidFill>
                  <a:srgbClr val="142E42"/>
                </a:solidFill>
                <a:latin typeface="Consolas"/>
                <a:ea typeface="Consolas"/>
                <a:cs typeface="Consolas"/>
              </a:defRPr>
            </a:lvl5pPr>
            <a:lvl6pPr algn="l">
              <a:buNone/>
              <a:defRPr sz="2025" b="0">
                <a:solidFill>
                  <a:srgbClr val="142E42"/>
                </a:solidFill>
                <a:latin typeface="Consolas"/>
                <a:ea typeface="Consolas"/>
                <a:cs typeface="Consolas"/>
              </a:defRPr>
            </a:lvl6pPr>
            <a:lvl7pPr algn="l">
              <a:buNone/>
              <a:defRPr sz="2025" b="0">
                <a:solidFill>
                  <a:srgbClr val="142E42"/>
                </a:solidFill>
                <a:latin typeface="Consolas"/>
                <a:ea typeface="Consolas"/>
                <a:cs typeface="Consolas"/>
              </a:defRPr>
            </a:lvl7pPr>
            <a:lvl8pPr algn="l">
              <a:buNone/>
              <a:defRPr sz="2025" b="0">
                <a:solidFill>
                  <a:srgbClr val="142E42"/>
                </a:solidFill>
                <a:latin typeface="Consolas"/>
                <a:ea typeface="Consolas"/>
                <a:cs typeface="Consolas"/>
              </a:defRPr>
            </a:lvl8pPr>
            <a:lvl9pPr algn="l">
              <a:buNone/>
              <a:defRPr sz="2025" b="0">
                <a:solidFill>
                  <a:srgbClr val="142E42"/>
                </a:solidFill>
                <a:latin typeface="Consolas"/>
                <a:ea typeface="Consolas"/>
                <a:cs typeface="Consolas"/>
              </a:defRPr>
            </a:lvl9pPr>
          </a:lstStyle>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void levelOrder()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if (root == null) return;</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Queue&lt;Node&lt;E&gt;&gt; q = new ArrayDeque&lt;&gt;();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q.add(root);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while (!q.isEmpty())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Node&lt;E&gt; x = q.remove();</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visit(x.key);</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if (x.left != null) q.add(x.left);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if (x.right != null) q.add(x.right);</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    }</a:t>
            </a:r>
          </a:p>
          <a:p>
            <a:pPr algn="l">
              <a:buNone/>
              <a:defRPr sz="2025" b="0">
                <a:solidFill>
                  <a:srgbClr val="142E42"/>
                </a:solidFill>
                <a:latin typeface="Consolas"/>
                <a:ea typeface="Consolas"/>
                <a:cs typeface="Consolas"/>
              </a:defRPr>
            </a:pPr>
            <a:r>
              <a:rPr sz="202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BE27A82-E7D0-46F6-A04B-06343B136E24}"/>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Time O(n). Queue space O(w), where w is the maximum level width.</a:t>
            </a:r>
          </a:p>
        </p:txBody>
      </p:sp>
      <p:sp>
        <p:nvSpPr>
          <p:cNvPr id="6" name="local-java-BST">
            <a:extLst>
              <a:ext uri="{FF2B5EF4-FFF2-40B4-BE49-F238E27FC236}">
                <a16:creationId xmlns:a16="http://schemas.microsoft.com/office/drawing/2014/main" id="{03349794-CD61-4008-A4ED-0D84BA54F5DD}"/>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local-java-TraversalDemo">
            <a:extLst>
              <a:ext uri="{FF2B5EF4-FFF2-40B4-BE49-F238E27FC236}">
                <a16:creationId xmlns:a16="http://schemas.microsoft.com/office/drawing/2014/main" id="{F95AC9EE-FFDF-415A-B626-90B8BB65ADB2}"/>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TraversalDemo.java</a:t>
            </a:r>
          </a:p>
        </p:txBody>
      </p:sp>
      <p:sp>
        <p:nvSpPr>
          <p:cNvPr id="8" name="page">
            <a:extLst>
              <a:ext uri="{FF2B5EF4-FFF2-40B4-BE49-F238E27FC236}">
                <a16:creationId xmlns:a16="http://schemas.microsoft.com/office/drawing/2014/main" id="{FE414E53-8306-46B9-A24E-18E0B8233FD2}"/>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29</a:t>
            </a:r>
          </a:p>
        </p:txBody>
      </p:sp>
    </p:spTree>
    <p:extLst>
      <p:ext uri="{BB962C8B-B14F-4D97-AF65-F5344CB8AC3E}">
        <p14:creationId xmlns:p14="http://schemas.microsoft.com/office/powerpoint/2010/main" val="942435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3380E873-8A13-4294-8976-10DFCE6BB87D}"/>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inorder and breadth-first order</a:t>
            </a:r>
          </a:p>
        </p:txBody>
      </p:sp>
      <p:sp>
        <p:nvSpPr>
          <p:cNvPr id="2" name="questions">
            <a:extLst>
              <a:ext uri="{FF2B5EF4-FFF2-40B4-BE49-F238E27FC236}">
                <a16:creationId xmlns:a16="http://schemas.microsoft.com/office/drawing/2014/main" id="{8743637D-EA04-4BD4-A581-3007ED298C02}"/>
              </a:ext>
            </a:extLst>
          </p:cNvPr>
          <p:cNvSpPr>
            <a:spLocks noGrp="1"/>
          </p:cNvSpPr>
          <p:nvPr/>
        </p:nvSpPr>
        <p:spPr>
          <a:xfrm>
            <a:off x="609600" y="1657350"/>
            <a:ext cx="6191250" cy="361950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For this new tree:</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1. Write the inorder sequence.</a:t>
            </a:r>
          </a:p>
          <a:p>
            <a:pPr>
              <a:defRPr sz="2100" b="0">
                <a:solidFill>
                  <a:srgbClr val="153143"/>
                </a:solidFill>
                <a:latin typeface="Arial"/>
                <a:ea typeface="Arial"/>
                <a:cs typeface="Arial"/>
              </a:defRPr>
            </a:pPr>
            <a:r>
              <a:rPr sz="2100" b="0">
                <a:solidFill>
                  <a:srgbClr val="153143"/>
                </a:solidFill>
                <a:latin typeface="Arial"/>
                <a:ea typeface="Arial"/>
                <a:cs typeface="Arial"/>
              </a:rPr>
              <a:t>2. Write the breadth-first sequence.</a:t>
            </a:r>
          </a:p>
          <a:p>
            <a:pPr>
              <a:defRPr sz="2100" b="0">
                <a:solidFill>
                  <a:srgbClr val="153143"/>
                </a:solidFill>
                <a:latin typeface="Arial"/>
                <a:ea typeface="Arial"/>
                <a:cs typeface="Arial"/>
              </a:defRPr>
            </a:pPr>
            <a:r>
              <a:rPr sz="2100" b="0">
                <a:solidFill>
                  <a:srgbClr val="153143"/>
                </a:solidFill>
                <a:latin typeface="Arial"/>
                <a:ea typeface="Arial"/>
                <a:cs typeface="Arial"/>
              </a:rPr>
              <a:t>3. Starting with [8], what is in</a:t>
            </a:r>
          </a:p>
          <a:p>
            <a:pPr>
              <a:defRPr sz="2100" b="0">
                <a:solidFill>
                  <a:srgbClr val="153143"/>
                </a:solidFill>
                <a:latin typeface="Arial"/>
                <a:ea typeface="Arial"/>
                <a:cs typeface="Arial"/>
              </a:defRPr>
            </a:pPr>
            <a:r>
              <a:rPr sz="2100" b="0">
                <a:solidFill>
                  <a:srgbClr val="153143"/>
                </a:solidFill>
                <a:latin typeface="Arial"/>
                <a:ea typeface="Arial"/>
                <a:cs typeface="Arial"/>
              </a:rPr>
              <a:t>   the queue after removing</a:t>
            </a:r>
          </a:p>
          <a:p>
            <a:pPr>
              <a:defRPr sz="2100" b="0">
                <a:solidFill>
                  <a:srgbClr val="153143"/>
                </a:solidFill>
                <a:latin typeface="Arial"/>
                <a:ea typeface="Arial"/>
                <a:cs typeface="Arial"/>
              </a:defRPr>
            </a:pPr>
            <a:r>
              <a:rPr sz="2100" b="0">
                <a:solidFill>
                  <a:srgbClr val="153143"/>
                </a:solidFill>
                <a:latin typeface="Arial"/>
                <a:ea typeface="Arial"/>
                <a:cs typeface="Arial"/>
              </a:rPr>
              <a:t>   and processing 8, then 3?</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Show the queue front first.</a:t>
            </a:r>
          </a:p>
        </p:txBody>
      </p:sp>
      <p:sp>
        <p:nvSpPr>
          <p:cNvPr id="3" name="edge-0-1">
            <a:extLst>
              <a:ext uri="{FF2B5EF4-FFF2-40B4-BE49-F238E27FC236}">
                <a16:creationId xmlns:a16="http://schemas.microsoft.com/office/drawing/2014/main" id="{DFB12E5F-CBBA-407C-937C-52C9160489D3}"/>
              </a:ext>
            </a:extLst>
          </p:cNvPr>
          <p:cNvSpPr>
            <a:spLocks noGrp="1"/>
          </p:cNvSpPr>
          <p:nvPr/>
        </p:nvSpPr>
        <p:spPr>
          <a:xfrm flipH="1">
            <a:off x="8514874" y="1952625"/>
            <a:ext cx="938689" cy="1068705"/>
          </a:xfrm>
          <a:prstGeom prst="line">
            <a:avLst/>
          </a:prstGeom>
          <a:noFill/>
          <a:ln w="16193">
            <a:solidFill>
              <a:srgbClr val="153143"/>
            </a:solidFill>
          </a:ln>
        </p:spPr>
      </p:sp>
      <p:sp>
        <p:nvSpPr>
          <p:cNvPr id="4" name="edge-0-2">
            <a:extLst>
              <a:ext uri="{FF2B5EF4-FFF2-40B4-BE49-F238E27FC236}">
                <a16:creationId xmlns:a16="http://schemas.microsoft.com/office/drawing/2014/main" id="{710118F3-9EC2-4154-A363-63552B799207}"/>
              </a:ext>
            </a:extLst>
          </p:cNvPr>
          <p:cNvSpPr>
            <a:spLocks noGrp="1"/>
          </p:cNvSpPr>
          <p:nvPr/>
        </p:nvSpPr>
        <p:spPr>
          <a:xfrm>
            <a:off x="9453563" y="1952625"/>
            <a:ext cx="938689" cy="1068705"/>
          </a:xfrm>
          <a:prstGeom prst="line">
            <a:avLst/>
          </a:prstGeom>
          <a:noFill/>
          <a:ln w="16193">
            <a:solidFill>
              <a:srgbClr val="153143"/>
            </a:solidFill>
          </a:ln>
        </p:spPr>
      </p:sp>
      <p:sp>
        <p:nvSpPr>
          <p:cNvPr id="5" name="edge-1-3">
            <a:extLst>
              <a:ext uri="{FF2B5EF4-FFF2-40B4-BE49-F238E27FC236}">
                <a16:creationId xmlns:a16="http://schemas.microsoft.com/office/drawing/2014/main" id="{1D358048-B341-43C9-A5C0-6541C85E789F}"/>
              </a:ext>
            </a:extLst>
          </p:cNvPr>
          <p:cNvSpPr>
            <a:spLocks noGrp="1"/>
          </p:cNvSpPr>
          <p:nvPr/>
        </p:nvSpPr>
        <p:spPr>
          <a:xfrm flipH="1">
            <a:off x="7958614" y="3021330"/>
            <a:ext cx="556260" cy="1068705"/>
          </a:xfrm>
          <a:prstGeom prst="line">
            <a:avLst/>
          </a:prstGeom>
          <a:noFill/>
          <a:ln w="16193">
            <a:solidFill>
              <a:srgbClr val="153143"/>
            </a:solidFill>
          </a:ln>
        </p:spPr>
      </p:sp>
      <p:sp>
        <p:nvSpPr>
          <p:cNvPr id="6" name="edge-1-4">
            <a:extLst>
              <a:ext uri="{FF2B5EF4-FFF2-40B4-BE49-F238E27FC236}">
                <a16:creationId xmlns:a16="http://schemas.microsoft.com/office/drawing/2014/main" id="{114D2B46-8CC0-43EC-983F-8F3A1056347B}"/>
              </a:ext>
            </a:extLst>
          </p:cNvPr>
          <p:cNvSpPr>
            <a:spLocks noGrp="1"/>
          </p:cNvSpPr>
          <p:nvPr/>
        </p:nvSpPr>
        <p:spPr>
          <a:xfrm>
            <a:off x="8514874" y="3021330"/>
            <a:ext cx="591026" cy="1068705"/>
          </a:xfrm>
          <a:prstGeom prst="line">
            <a:avLst/>
          </a:prstGeom>
          <a:noFill/>
          <a:ln w="16193">
            <a:solidFill>
              <a:srgbClr val="153143"/>
            </a:solidFill>
          </a:ln>
        </p:spPr>
      </p:sp>
      <p:sp>
        <p:nvSpPr>
          <p:cNvPr id="7" name="edge-2-5">
            <a:extLst>
              <a:ext uri="{FF2B5EF4-FFF2-40B4-BE49-F238E27FC236}">
                <a16:creationId xmlns:a16="http://schemas.microsoft.com/office/drawing/2014/main" id="{BEE3B039-3871-4C69-9DCA-F2ABBBFACE94}"/>
              </a:ext>
            </a:extLst>
          </p:cNvPr>
          <p:cNvSpPr>
            <a:spLocks noGrp="1"/>
          </p:cNvSpPr>
          <p:nvPr/>
        </p:nvSpPr>
        <p:spPr>
          <a:xfrm>
            <a:off x="10392251" y="3021330"/>
            <a:ext cx="591026" cy="1068705"/>
          </a:xfrm>
          <a:prstGeom prst="line">
            <a:avLst/>
          </a:prstGeom>
          <a:noFill/>
          <a:ln w="16193">
            <a:solidFill>
              <a:srgbClr val="153143"/>
            </a:solidFill>
          </a:ln>
        </p:spPr>
      </p:sp>
      <p:sp>
        <p:nvSpPr>
          <p:cNvPr id="8" name="edge-4-6">
            <a:extLst>
              <a:ext uri="{FF2B5EF4-FFF2-40B4-BE49-F238E27FC236}">
                <a16:creationId xmlns:a16="http://schemas.microsoft.com/office/drawing/2014/main" id="{764AA1EE-153C-4EA8-A9B4-FDC883DA2A82}"/>
              </a:ext>
            </a:extLst>
          </p:cNvPr>
          <p:cNvSpPr>
            <a:spLocks noGrp="1"/>
          </p:cNvSpPr>
          <p:nvPr/>
        </p:nvSpPr>
        <p:spPr>
          <a:xfrm flipH="1">
            <a:off x="8793004" y="4090035"/>
            <a:ext cx="312896" cy="1101090"/>
          </a:xfrm>
          <a:prstGeom prst="line">
            <a:avLst/>
          </a:prstGeom>
          <a:noFill/>
          <a:ln w="16193">
            <a:solidFill>
              <a:srgbClr val="153143"/>
            </a:solidFill>
          </a:ln>
        </p:spPr>
      </p:sp>
      <p:sp>
        <p:nvSpPr>
          <p:cNvPr id="9" name="edge-4-7">
            <a:extLst>
              <a:ext uri="{FF2B5EF4-FFF2-40B4-BE49-F238E27FC236}">
                <a16:creationId xmlns:a16="http://schemas.microsoft.com/office/drawing/2014/main" id="{29A88CDA-6E37-4E4D-905D-EF642F4AECAC}"/>
              </a:ext>
            </a:extLst>
          </p:cNvPr>
          <p:cNvSpPr>
            <a:spLocks noGrp="1"/>
          </p:cNvSpPr>
          <p:nvPr/>
        </p:nvSpPr>
        <p:spPr>
          <a:xfrm>
            <a:off x="9105900" y="4090035"/>
            <a:ext cx="347662" cy="1101090"/>
          </a:xfrm>
          <a:prstGeom prst="line">
            <a:avLst/>
          </a:prstGeom>
          <a:noFill/>
          <a:ln w="16193">
            <a:solidFill>
              <a:srgbClr val="153143"/>
            </a:solidFill>
          </a:ln>
        </p:spPr>
      </p:sp>
      <p:sp>
        <p:nvSpPr>
          <p:cNvPr id="10" name="edge-5-8">
            <a:extLst>
              <a:ext uri="{FF2B5EF4-FFF2-40B4-BE49-F238E27FC236}">
                <a16:creationId xmlns:a16="http://schemas.microsoft.com/office/drawing/2014/main" id="{6C425342-864A-4064-8940-65813A495E9A}"/>
              </a:ext>
            </a:extLst>
          </p:cNvPr>
          <p:cNvSpPr>
            <a:spLocks noGrp="1"/>
          </p:cNvSpPr>
          <p:nvPr/>
        </p:nvSpPr>
        <p:spPr>
          <a:xfrm flipH="1">
            <a:off x="10600849" y="4090035"/>
            <a:ext cx="382429" cy="1101090"/>
          </a:xfrm>
          <a:prstGeom prst="line">
            <a:avLst/>
          </a:prstGeom>
          <a:noFill/>
          <a:ln w="16193">
            <a:solidFill>
              <a:srgbClr val="153143"/>
            </a:solidFill>
          </a:ln>
        </p:spPr>
      </p:sp>
      <p:sp>
        <p:nvSpPr>
          <p:cNvPr id="11" name="node-8">
            <a:extLst>
              <a:ext uri="{FF2B5EF4-FFF2-40B4-BE49-F238E27FC236}">
                <a16:creationId xmlns:a16="http://schemas.microsoft.com/office/drawing/2014/main" id="{08EEDF0B-4EF8-4E7E-809C-0502493006B6}"/>
              </a:ext>
            </a:extLst>
          </p:cNvPr>
          <p:cNvSpPr>
            <a:spLocks noGrp="1"/>
          </p:cNvSpPr>
          <p:nvPr/>
        </p:nvSpPr>
        <p:spPr>
          <a:xfrm>
            <a:off x="9234488" y="17335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8</a:t>
            </a:r>
          </a:p>
        </p:txBody>
      </p:sp>
      <p:sp>
        <p:nvSpPr>
          <p:cNvPr id="12" name="node-3">
            <a:extLst>
              <a:ext uri="{FF2B5EF4-FFF2-40B4-BE49-F238E27FC236}">
                <a16:creationId xmlns:a16="http://schemas.microsoft.com/office/drawing/2014/main" id="{F53EDAB8-AB1E-4564-9069-07D94E8DC394}"/>
              </a:ext>
            </a:extLst>
          </p:cNvPr>
          <p:cNvSpPr>
            <a:spLocks noGrp="1"/>
          </p:cNvSpPr>
          <p:nvPr/>
        </p:nvSpPr>
        <p:spPr>
          <a:xfrm>
            <a:off x="8295799" y="280225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a:t>
            </a:r>
          </a:p>
        </p:txBody>
      </p:sp>
      <p:sp>
        <p:nvSpPr>
          <p:cNvPr id="13" name="node-10">
            <a:extLst>
              <a:ext uri="{FF2B5EF4-FFF2-40B4-BE49-F238E27FC236}">
                <a16:creationId xmlns:a16="http://schemas.microsoft.com/office/drawing/2014/main" id="{A6C9C8E5-0E49-4AF0-B4D8-F619915FDEF3}"/>
              </a:ext>
            </a:extLst>
          </p:cNvPr>
          <p:cNvSpPr>
            <a:spLocks noGrp="1"/>
          </p:cNvSpPr>
          <p:nvPr/>
        </p:nvSpPr>
        <p:spPr>
          <a:xfrm>
            <a:off x="10173176" y="280225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10</a:t>
            </a:r>
          </a:p>
        </p:txBody>
      </p:sp>
      <p:sp>
        <p:nvSpPr>
          <p:cNvPr id="14" name="node-1">
            <a:extLst>
              <a:ext uri="{FF2B5EF4-FFF2-40B4-BE49-F238E27FC236}">
                <a16:creationId xmlns:a16="http://schemas.microsoft.com/office/drawing/2014/main" id="{9BA1CAE9-1387-48E9-925B-6DB5C25E199C}"/>
              </a:ext>
            </a:extLst>
          </p:cNvPr>
          <p:cNvSpPr>
            <a:spLocks noGrp="1"/>
          </p:cNvSpPr>
          <p:nvPr/>
        </p:nvSpPr>
        <p:spPr>
          <a:xfrm>
            <a:off x="7739539" y="387096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a:t>
            </a:r>
          </a:p>
        </p:txBody>
      </p:sp>
      <p:sp>
        <p:nvSpPr>
          <p:cNvPr id="15" name="node-6">
            <a:extLst>
              <a:ext uri="{FF2B5EF4-FFF2-40B4-BE49-F238E27FC236}">
                <a16:creationId xmlns:a16="http://schemas.microsoft.com/office/drawing/2014/main" id="{1519D534-8311-4AEF-8520-1B99DC59CB93}"/>
              </a:ext>
            </a:extLst>
          </p:cNvPr>
          <p:cNvSpPr>
            <a:spLocks noGrp="1"/>
          </p:cNvSpPr>
          <p:nvPr/>
        </p:nvSpPr>
        <p:spPr>
          <a:xfrm>
            <a:off x="8886825" y="387096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6</a:t>
            </a:r>
          </a:p>
        </p:txBody>
      </p:sp>
      <p:sp>
        <p:nvSpPr>
          <p:cNvPr id="16" name="node-14">
            <a:extLst>
              <a:ext uri="{FF2B5EF4-FFF2-40B4-BE49-F238E27FC236}">
                <a16:creationId xmlns:a16="http://schemas.microsoft.com/office/drawing/2014/main" id="{348FA1E8-2138-47A1-8640-5DE7D4CAA744}"/>
              </a:ext>
            </a:extLst>
          </p:cNvPr>
          <p:cNvSpPr>
            <a:spLocks noGrp="1"/>
          </p:cNvSpPr>
          <p:nvPr/>
        </p:nvSpPr>
        <p:spPr>
          <a:xfrm>
            <a:off x="10764203" y="387096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14</a:t>
            </a:r>
          </a:p>
        </p:txBody>
      </p:sp>
      <p:sp>
        <p:nvSpPr>
          <p:cNvPr id="17" name="node-4">
            <a:extLst>
              <a:ext uri="{FF2B5EF4-FFF2-40B4-BE49-F238E27FC236}">
                <a16:creationId xmlns:a16="http://schemas.microsoft.com/office/drawing/2014/main" id="{1BF9EE07-C664-4BC8-A1B3-5DC582057731}"/>
              </a:ext>
            </a:extLst>
          </p:cNvPr>
          <p:cNvSpPr>
            <a:spLocks noGrp="1"/>
          </p:cNvSpPr>
          <p:nvPr/>
        </p:nvSpPr>
        <p:spPr>
          <a:xfrm>
            <a:off x="8573929" y="4972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4</a:t>
            </a:r>
          </a:p>
        </p:txBody>
      </p:sp>
      <p:sp>
        <p:nvSpPr>
          <p:cNvPr id="18" name="node-7">
            <a:extLst>
              <a:ext uri="{FF2B5EF4-FFF2-40B4-BE49-F238E27FC236}">
                <a16:creationId xmlns:a16="http://schemas.microsoft.com/office/drawing/2014/main" id="{5E1103A3-5C80-49FD-99D7-07B9207BEF78}"/>
              </a:ext>
            </a:extLst>
          </p:cNvPr>
          <p:cNvSpPr>
            <a:spLocks noGrp="1"/>
          </p:cNvSpPr>
          <p:nvPr/>
        </p:nvSpPr>
        <p:spPr>
          <a:xfrm>
            <a:off x="9234488" y="4972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7</a:t>
            </a:r>
          </a:p>
        </p:txBody>
      </p:sp>
      <p:sp>
        <p:nvSpPr>
          <p:cNvPr id="19" name="node-13">
            <a:extLst>
              <a:ext uri="{FF2B5EF4-FFF2-40B4-BE49-F238E27FC236}">
                <a16:creationId xmlns:a16="http://schemas.microsoft.com/office/drawing/2014/main" id="{7ABBCD08-3CA1-4BC0-B6DD-88F7F4981C3C}"/>
              </a:ext>
            </a:extLst>
          </p:cNvPr>
          <p:cNvSpPr>
            <a:spLocks noGrp="1"/>
          </p:cNvSpPr>
          <p:nvPr/>
        </p:nvSpPr>
        <p:spPr>
          <a:xfrm>
            <a:off x="10381774" y="4972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13</a:t>
            </a:r>
          </a:p>
        </p:txBody>
      </p:sp>
      <p:sp>
        <p:nvSpPr>
          <p:cNvPr id="20" name="activity-cue">
            <a:extLst>
              <a:ext uri="{FF2B5EF4-FFF2-40B4-BE49-F238E27FC236}">
                <a16:creationId xmlns:a16="http://schemas.microsoft.com/office/drawing/2014/main" id="{1196B95E-4DBA-454D-A293-A84DC5488D9F}"/>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Keep a written queue trace. 3 minutes</a:t>
            </a:r>
          </a:p>
        </p:txBody>
      </p:sp>
      <p:sp>
        <p:nvSpPr>
          <p:cNvPr id="21" name="page">
            <a:extLst>
              <a:ext uri="{FF2B5EF4-FFF2-40B4-BE49-F238E27FC236}">
                <a16:creationId xmlns:a16="http://schemas.microsoft.com/office/drawing/2014/main" id="{44A7E133-CEB4-4338-80E9-E3BBFF68C70C}"/>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30</a:t>
            </a:r>
          </a:p>
        </p:txBody>
      </p:sp>
    </p:spTree>
    <p:extLst>
      <p:ext uri="{BB962C8B-B14F-4D97-AF65-F5344CB8AC3E}">
        <p14:creationId xmlns:p14="http://schemas.microsoft.com/office/powerpoint/2010/main" val="1138271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19" name="text-0">
            <a:extLst>
              <a:ext uri="{FF2B5EF4-FFF2-40B4-BE49-F238E27FC236}">
                <a16:creationId xmlns:a16="http://schemas.microsoft.com/office/drawing/2014/main" id="{2D4909A3-FF8D-4EB0-83A9-C8521500D9E1}"/>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Checkpoint: traversal and successor</a:t>
            </a:r>
          </a:p>
        </p:txBody>
      </p:sp>
      <p:sp>
        <p:nvSpPr>
          <p:cNvPr id="3" name="text-2">
            <a:extLst>
              <a:ext uri="{FF2B5EF4-FFF2-40B4-BE49-F238E27FC236}">
                <a16:creationId xmlns:a16="http://schemas.microsoft.com/office/drawing/2014/main" id="{BE9A81D2-0209-428B-BA19-583508CE5FF0}"/>
              </a:ext>
            </a:extLst>
          </p:cNvPr>
          <p:cNvSpPr>
            <a:spLocks noGrp="1"/>
          </p:cNvSpPr>
          <p:nvPr/>
        </p:nvSpPr>
        <p:spPr>
          <a:xfrm>
            <a:off x="609600" y="1714500"/>
            <a:ext cx="5905500" cy="37147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buNone/>
              <a:defRPr sz="2250" b="0">
                <a:solidFill>
                  <a:srgbClr val="142E42"/>
                </a:solidFill>
                <a:latin typeface="Arial"/>
                <a:ea typeface="Arial"/>
                <a:cs typeface="Arial"/>
              </a:defRPr>
            </a:lvl1pPr>
            <a:lvl2pPr algn="l">
              <a:buNone/>
              <a:defRPr sz="2250" b="0">
                <a:solidFill>
                  <a:srgbClr val="142E42"/>
                </a:solidFill>
                <a:latin typeface="Arial"/>
                <a:ea typeface="Arial"/>
                <a:cs typeface="Arial"/>
              </a:defRPr>
            </a:lvl2pPr>
            <a:lvl3pPr algn="l">
              <a:buNone/>
              <a:defRPr sz="2250" b="0">
                <a:solidFill>
                  <a:srgbClr val="142E42"/>
                </a:solidFill>
                <a:latin typeface="Arial"/>
                <a:ea typeface="Arial"/>
                <a:cs typeface="Arial"/>
              </a:defRPr>
            </a:lvl3pPr>
            <a:lvl4pPr algn="l">
              <a:buNone/>
              <a:defRPr sz="2250" b="0">
                <a:solidFill>
                  <a:srgbClr val="142E42"/>
                </a:solidFill>
                <a:latin typeface="Arial"/>
                <a:ea typeface="Arial"/>
                <a:cs typeface="Arial"/>
              </a:defRPr>
            </a:lvl4pPr>
            <a:lvl5pPr algn="l">
              <a:buNone/>
              <a:defRPr sz="2250" b="0">
                <a:solidFill>
                  <a:srgbClr val="142E42"/>
                </a:solidFill>
                <a:latin typeface="Arial"/>
                <a:ea typeface="Arial"/>
                <a:cs typeface="Arial"/>
              </a:defRPr>
            </a:lvl5pPr>
            <a:lvl6pPr algn="l">
              <a:buNone/>
              <a:defRPr sz="2250" b="0">
                <a:solidFill>
                  <a:srgbClr val="142E42"/>
                </a:solidFill>
                <a:latin typeface="Arial"/>
                <a:ea typeface="Arial"/>
                <a:cs typeface="Arial"/>
              </a:defRPr>
            </a:lvl6pPr>
            <a:lvl7pPr algn="l">
              <a:buNone/>
              <a:defRPr sz="2250" b="0">
                <a:solidFill>
                  <a:srgbClr val="142E42"/>
                </a:solidFill>
                <a:latin typeface="Arial"/>
                <a:ea typeface="Arial"/>
                <a:cs typeface="Arial"/>
              </a:defRPr>
            </a:lvl7pPr>
            <a:lvl8pPr algn="l">
              <a:buNone/>
              <a:defRPr sz="2250" b="0">
                <a:solidFill>
                  <a:srgbClr val="142E42"/>
                </a:solidFill>
                <a:latin typeface="Arial"/>
                <a:ea typeface="Arial"/>
                <a:cs typeface="Arial"/>
              </a:defRPr>
            </a:lvl8pPr>
            <a:lvl9pPr algn="l">
              <a:buNone/>
              <a:defRPr sz="2250" b="0">
                <a:solidFill>
                  <a:srgbClr val="142E42"/>
                </a:solidFill>
                <a:latin typeface="Arial"/>
                <a:ea typeface="Arial"/>
                <a:cs typeface="Arial"/>
              </a:defRPr>
            </a:lvl9pPr>
          </a:lstStyle>
          <a:p>
            <a:pPr algn="l">
              <a:buNone/>
              <a:defRPr sz="2250" b="0">
                <a:solidFill>
                  <a:srgbClr val="142E42"/>
                </a:solidFill>
                <a:latin typeface="Arial"/>
                <a:ea typeface="Arial"/>
                <a:cs typeface="Arial"/>
              </a:defRPr>
            </a:pPr>
            <a:r>
              <a:rPr sz="2250" b="0">
                <a:solidFill>
                  <a:srgbClr val="142E42"/>
                </a:solidFill>
                <a:latin typeface="Arial"/>
                <a:ea typeface="Arial"/>
                <a:cs typeface="Arial"/>
              </a:rPr>
              <a:t>Write the inorder, preorder,</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and postorder sequences.</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Which key follows 30</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in inorder traversal?</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Explain why that key</a:t>
            </a:r>
          </a:p>
          <a:p>
            <a:pPr algn="l">
              <a:buNone/>
              <a:defRPr sz="2250" b="0">
                <a:solidFill>
                  <a:srgbClr val="142E42"/>
                </a:solidFill>
                <a:latin typeface="Arial"/>
                <a:ea typeface="Arial"/>
                <a:cs typeface="Arial"/>
              </a:defRPr>
            </a:pPr>
            <a:r>
              <a:rPr sz="2250" b="0">
                <a:solidFill>
                  <a:srgbClr val="142E42"/>
                </a:solidFill>
                <a:latin typeface="Arial"/>
                <a:ea typeface="Arial"/>
                <a:cs typeface="Arial"/>
              </a:rPr>
              <a:t>is the inorder successor.</a:t>
            </a:r>
          </a:p>
        </p:txBody>
      </p:sp>
      <p:sp>
        <p:nvSpPr>
          <p:cNvPr id="4" name="source-diagram-dg23-9">
            <a:extLst>
              <a:ext uri="{FF2B5EF4-FFF2-40B4-BE49-F238E27FC236}">
                <a16:creationId xmlns:a16="http://schemas.microsoft.com/office/drawing/2014/main" id="{FF11148E-2A86-4B01-9BAE-A6B96EF3CB5D}"/>
              </a:ext>
            </a:extLst>
          </p:cNvPr>
          <p:cNvSpPr>
            <a:spLocks noGrp="1"/>
          </p:cNvSpPr>
          <p:nvPr/>
        </p:nvSpPr>
        <p:spPr>
          <a:xfrm>
            <a:off x="8899222" y="1619250"/>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30</a:t>
            </a:r>
          </a:p>
        </p:txBody>
      </p:sp>
      <p:sp>
        <p:nvSpPr>
          <p:cNvPr id="5" name="source-diagram-dg23-10">
            <a:extLst>
              <a:ext uri="{FF2B5EF4-FFF2-40B4-BE49-F238E27FC236}">
                <a16:creationId xmlns:a16="http://schemas.microsoft.com/office/drawing/2014/main" id="{43CF427E-AE8C-4D22-AEE5-A7089D9B1E4F}"/>
              </a:ext>
            </a:extLst>
          </p:cNvPr>
          <p:cNvSpPr>
            <a:spLocks noGrp="1"/>
          </p:cNvSpPr>
          <p:nvPr/>
        </p:nvSpPr>
        <p:spPr>
          <a:xfrm>
            <a:off x="8236794" y="252898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20</a:t>
            </a:r>
          </a:p>
        </p:txBody>
      </p:sp>
      <p:sp>
        <p:nvSpPr>
          <p:cNvPr id="6" name="source-diagram-dg23-11">
            <a:extLst>
              <a:ext uri="{FF2B5EF4-FFF2-40B4-BE49-F238E27FC236}">
                <a16:creationId xmlns:a16="http://schemas.microsoft.com/office/drawing/2014/main" id="{E6911813-4A65-40DF-854E-C0316D3C5702}"/>
              </a:ext>
            </a:extLst>
          </p:cNvPr>
          <p:cNvSpPr>
            <a:spLocks noGrp="1"/>
          </p:cNvSpPr>
          <p:nvPr/>
        </p:nvSpPr>
        <p:spPr>
          <a:xfrm>
            <a:off x="9775099" y="2528985"/>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70</a:t>
            </a:r>
          </a:p>
        </p:txBody>
      </p:sp>
      <p:sp>
        <p:nvSpPr>
          <p:cNvPr id="7" name="source-diagram-dg23-12">
            <a:extLst>
              <a:ext uri="{FF2B5EF4-FFF2-40B4-BE49-F238E27FC236}">
                <a16:creationId xmlns:a16="http://schemas.microsoft.com/office/drawing/2014/main" id="{99F89124-3696-43AE-9BA4-9B6B3DF5156E}"/>
              </a:ext>
            </a:extLst>
          </p:cNvPr>
          <p:cNvSpPr>
            <a:spLocks noGrp="1"/>
          </p:cNvSpPr>
          <p:nvPr/>
        </p:nvSpPr>
        <p:spPr>
          <a:xfrm>
            <a:off x="7620000" y="351453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10</a:t>
            </a:r>
          </a:p>
        </p:txBody>
      </p:sp>
      <p:sp>
        <p:nvSpPr>
          <p:cNvPr id="8" name="source-diagram-dg23-13">
            <a:extLst>
              <a:ext uri="{FF2B5EF4-FFF2-40B4-BE49-F238E27FC236}">
                <a16:creationId xmlns:a16="http://schemas.microsoft.com/office/drawing/2014/main" id="{EEC602B6-0593-4160-A5F9-217F794B49CA}"/>
              </a:ext>
            </a:extLst>
          </p:cNvPr>
          <p:cNvSpPr>
            <a:spLocks noGrp="1"/>
          </p:cNvSpPr>
          <p:nvPr/>
        </p:nvSpPr>
        <p:spPr>
          <a:xfrm>
            <a:off x="9126656" y="351453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50</a:t>
            </a:r>
          </a:p>
        </p:txBody>
      </p:sp>
      <p:sp>
        <p:nvSpPr>
          <p:cNvPr id="9" name="source-diagram-dg23-14">
            <a:extLst>
              <a:ext uri="{FF2B5EF4-FFF2-40B4-BE49-F238E27FC236}">
                <a16:creationId xmlns:a16="http://schemas.microsoft.com/office/drawing/2014/main" id="{4BEFCF26-F58E-4FF3-9A73-066EB3D12F26}"/>
              </a:ext>
            </a:extLst>
          </p:cNvPr>
          <p:cNvSpPr>
            <a:spLocks noGrp="1"/>
          </p:cNvSpPr>
          <p:nvPr/>
        </p:nvSpPr>
        <p:spPr>
          <a:xfrm>
            <a:off x="10533211" y="3484523"/>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90</a:t>
            </a:r>
          </a:p>
        </p:txBody>
      </p:sp>
      <p:sp>
        <p:nvSpPr>
          <p:cNvPr id="10" name="source-diagram-dg23-15">
            <a:extLst>
              <a:ext uri="{FF2B5EF4-FFF2-40B4-BE49-F238E27FC236}">
                <a16:creationId xmlns:a16="http://schemas.microsoft.com/office/drawing/2014/main" id="{968A41B9-F715-42B4-B977-DE1DB392135B}"/>
              </a:ext>
            </a:extLst>
          </p:cNvPr>
          <p:cNvSpPr>
            <a:spLocks noGrp="1"/>
          </p:cNvSpPr>
          <p:nvPr/>
        </p:nvSpPr>
        <p:spPr>
          <a:xfrm>
            <a:off x="8561015" y="4651699"/>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40</a:t>
            </a:r>
          </a:p>
        </p:txBody>
      </p:sp>
      <p:sp>
        <p:nvSpPr>
          <p:cNvPr id="11" name="source-diagram-dg23-16">
            <a:extLst>
              <a:ext uri="{FF2B5EF4-FFF2-40B4-BE49-F238E27FC236}">
                <a16:creationId xmlns:a16="http://schemas.microsoft.com/office/drawing/2014/main" id="{39DC8F62-68EE-41F3-9D31-54F8D26E03B4}"/>
              </a:ext>
            </a:extLst>
          </p:cNvPr>
          <p:cNvSpPr>
            <a:spLocks noGrp="1"/>
          </p:cNvSpPr>
          <p:nvPr/>
        </p:nvSpPr>
        <p:spPr>
          <a:xfrm>
            <a:off x="9775099" y="4640942"/>
            <a:ext cx="648444" cy="682301"/>
          </a:xfrm>
          <a:prstGeom prst="ellipse">
            <a:avLst/>
          </a:prstGeom>
          <a:solidFill>
            <a:srgbClr val="E5EEF2"/>
          </a:solidFill>
          <a:ln w="9525" cap="flat" cmpd="sng">
            <a:solidFill>
              <a:srgbClr val="142E42"/>
            </a:solidFill>
            <a:prstDash val="solid"/>
            <a:round/>
            <a:headEnd type="none" w="med" len="med"/>
            <a:tailEnd type="none" w="med" len="med"/>
          </a:ln>
        </p:spPr>
        <p:txBody>
          <a:bodyPr wrap="square" lIns="0" tIns="0" rIns="0" bIns="0" anchor="ctr"/>
          <a:lstStyle/>
          <a:p>
            <a:pPr marL="0" indent="0" algn="ctr">
              <a:buNone/>
            </a:pPr>
            <a:r>
              <a:rPr sz="1500" b="0">
                <a:solidFill>
                  <a:srgbClr val="142E42"/>
                </a:solidFill>
                <a:latin typeface="Arial"/>
                <a:ea typeface="Arial"/>
                <a:cs typeface="Arial"/>
              </a:rPr>
              <a:t>60</a:t>
            </a:r>
          </a:p>
        </p:txBody>
      </p:sp>
      <p:sp>
        <p:nvSpPr>
          <p:cNvPr id="12" name="source-diagram-dg23-18">
            <a:extLst>
              <a:ext uri="{FF2B5EF4-FFF2-40B4-BE49-F238E27FC236}">
                <a16:creationId xmlns:a16="http://schemas.microsoft.com/office/drawing/2014/main" id="{6B63FADE-7D3E-43FD-8DF5-2DCD577DF2E5}"/>
              </a:ext>
            </a:extLst>
          </p:cNvPr>
          <p:cNvSpPr>
            <a:spLocks noGrp="1"/>
          </p:cNvSpPr>
          <p:nvPr/>
        </p:nvSpPr>
        <p:spPr>
          <a:xfrm flipH="1">
            <a:off x="8637931" y="2201630"/>
            <a:ext cx="356253" cy="365261"/>
          </a:xfrm>
          <a:prstGeom prst="line">
            <a:avLst/>
          </a:prstGeom>
          <a:solidFill>
            <a:srgbClr val="E5EEF2"/>
          </a:solidFill>
          <a:ln>
            <a:headEnd type="none" w="med" len="med"/>
            <a:tailEnd type="none" w="med" len="med"/>
          </a:ln>
        </p:spPr>
        <p:style>
          <a:lnRef idx="1">
            <a:schemeClr val="dk1"/>
          </a:lnRef>
          <a:fillRef idx="0">
            <a:schemeClr val="dk1"/>
          </a:fillRef>
          <a:effectRef idx="0">
            <a:schemeClr val="dk1"/>
          </a:effectRef>
          <a:fontRef idx="minor">
            <a:schemeClr val="tx1"/>
          </a:fontRef>
        </p:style>
        <p:txBody>
          <a:bodyPr wrap="square" lIns="0" tIns="0" rIns="0" bIns="0" anchor="ctr"/>
          <a:lstStyle/>
          <a:p>
            <a:endParaRPr/>
          </a:p>
        </p:txBody>
      </p:sp>
      <p:sp>
        <p:nvSpPr>
          <p:cNvPr id="13" name="source-diagram-dg23-20">
            <a:extLst>
              <a:ext uri="{FF2B5EF4-FFF2-40B4-BE49-F238E27FC236}">
                <a16:creationId xmlns:a16="http://schemas.microsoft.com/office/drawing/2014/main" id="{21EEF36D-A451-463B-89F5-3F5509C335FD}"/>
              </a:ext>
            </a:extLst>
          </p:cNvPr>
          <p:cNvSpPr>
            <a:spLocks noGrp="1"/>
          </p:cNvSpPr>
          <p:nvPr/>
        </p:nvSpPr>
        <p:spPr>
          <a:xfrm>
            <a:off x="9452704" y="2201630"/>
            <a:ext cx="417358" cy="427275"/>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4" name="source-diagram-dg23-22">
            <a:extLst>
              <a:ext uri="{FF2B5EF4-FFF2-40B4-BE49-F238E27FC236}">
                <a16:creationId xmlns:a16="http://schemas.microsoft.com/office/drawing/2014/main" id="{67262CE6-1316-4445-969E-2735D0ACBE3F}"/>
              </a:ext>
            </a:extLst>
          </p:cNvPr>
          <p:cNvSpPr>
            <a:spLocks noGrp="1"/>
          </p:cNvSpPr>
          <p:nvPr/>
        </p:nvSpPr>
        <p:spPr>
          <a:xfrm flipH="1">
            <a:off x="7944222" y="3111365"/>
            <a:ext cx="387534"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5" name="source-diagram-dg23-24">
            <a:extLst>
              <a:ext uri="{FF2B5EF4-FFF2-40B4-BE49-F238E27FC236}">
                <a16:creationId xmlns:a16="http://schemas.microsoft.com/office/drawing/2014/main" id="{DBF1D2AE-7CD6-4B9C-BFFF-68BBE942C0ED}"/>
              </a:ext>
            </a:extLst>
          </p:cNvPr>
          <p:cNvSpPr>
            <a:spLocks noGrp="1"/>
          </p:cNvSpPr>
          <p:nvPr/>
        </p:nvSpPr>
        <p:spPr>
          <a:xfrm flipH="1">
            <a:off x="9450878" y="3111365"/>
            <a:ext cx="419183" cy="403166"/>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6" name="source-diagram-dg23-26">
            <a:extLst>
              <a:ext uri="{FF2B5EF4-FFF2-40B4-BE49-F238E27FC236}">
                <a16:creationId xmlns:a16="http://schemas.microsoft.com/office/drawing/2014/main" id="{4958D6BA-EC86-4526-ADB5-E183E2084064}"/>
              </a:ext>
            </a:extLst>
          </p:cNvPr>
          <p:cNvSpPr>
            <a:spLocks noGrp="1"/>
          </p:cNvSpPr>
          <p:nvPr/>
        </p:nvSpPr>
        <p:spPr>
          <a:xfrm>
            <a:off x="10328581" y="3111365"/>
            <a:ext cx="528852" cy="37315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7" name="source-diagram-dg23-28">
            <a:extLst>
              <a:ext uri="{FF2B5EF4-FFF2-40B4-BE49-F238E27FC236}">
                <a16:creationId xmlns:a16="http://schemas.microsoft.com/office/drawing/2014/main" id="{8EF4E62E-955B-4736-B857-9A3DB5F455A6}"/>
              </a:ext>
            </a:extLst>
          </p:cNvPr>
          <p:cNvSpPr>
            <a:spLocks noGrp="1"/>
          </p:cNvSpPr>
          <p:nvPr/>
        </p:nvSpPr>
        <p:spPr>
          <a:xfrm flipH="1">
            <a:off x="8885238" y="4096912"/>
            <a:ext cx="336380" cy="554787"/>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18" name="source-diagram-dg23-30">
            <a:extLst>
              <a:ext uri="{FF2B5EF4-FFF2-40B4-BE49-F238E27FC236}">
                <a16:creationId xmlns:a16="http://schemas.microsoft.com/office/drawing/2014/main" id="{FCBC95FD-762B-4169-81C9-2628893758EA}"/>
              </a:ext>
            </a:extLst>
          </p:cNvPr>
          <p:cNvSpPr>
            <a:spLocks noGrp="1"/>
          </p:cNvSpPr>
          <p:nvPr/>
        </p:nvSpPr>
        <p:spPr>
          <a:xfrm>
            <a:off x="9680137" y="4096912"/>
            <a:ext cx="419184" cy="544030"/>
          </a:xfrm>
          <a:prstGeom prst="line">
            <a:avLst/>
          </a:prstGeom>
          <a:solidFill>
            <a:srgbClr val="E5EEF2"/>
          </a:solidFill>
          <a:ln w="9525">
            <a:solidFill>
              <a:srgbClr val="142E42"/>
            </a:solidFill>
            <a:prstDash val="solid"/>
            <a:headEnd type="none" w="med" len="med"/>
            <a:tailEnd type="none" w="med" len="med"/>
          </a:ln>
        </p:spPr>
        <p:txBody>
          <a:bodyPr wrap="square" lIns="0" tIns="0" rIns="0" bIns="0" anchor="ctr"/>
          <a:lstStyle/>
          <a:p>
            <a:endParaRPr/>
          </a:p>
        </p:txBody>
      </p:sp>
      <p:sp>
        <p:nvSpPr>
          <p:cNvPr id="20" name="local-java-TraversalDemo">
            <a:extLst>
              <a:ext uri="{FF2B5EF4-FFF2-40B4-BE49-F238E27FC236}">
                <a16:creationId xmlns:a16="http://schemas.microsoft.com/office/drawing/2014/main" id="{67377248-B7B0-4EC5-9F97-7EFAD3AFB03A}"/>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TraversalDemo.java</a:t>
            </a:r>
          </a:p>
        </p:txBody>
      </p:sp>
      <p:sp>
        <p:nvSpPr>
          <p:cNvPr id="21" name="page">
            <a:extLst>
              <a:ext uri="{FF2B5EF4-FFF2-40B4-BE49-F238E27FC236}">
                <a16:creationId xmlns:a16="http://schemas.microsoft.com/office/drawing/2014/main" id="{3E6FE1B2-5C6B-4596-8005-83FDA007AD1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31</a:t>
            </a:r>
          </a:p>
        </p:txBody>
      </p:sp>
    </p:spTree>
    <p:extLst>
      <p:ext uri="{BB962C8B-B14F-4D97-AF65-F5344CB8AC3E}">
        <p14:creationId xmlns:p14="http://schemas.microsoft.com/office/powerpoint/2010/main" val="531456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0B97F258-6D41-4507-A0AC-B639E136E77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Predecessor and successor</a:t>
            </a:r>
          </a:p>
        </p:txBody>
      </p:sp>
      <p:sp>
        <p:nvSpPr>
          <p:cNvPr id="3" name="text-2">
            <a:extLst>
              <a:ext uri="{FF2B5EF4-FFF2-40B4-BE49-F238E27FC236}">
                <a16:creationId xmlns:a16="http://schemas.microsoft.com/office/drawing/2014/main" id="{5D9CADC5-A51E-4337-ABC8-0AC0E5095B0E}"/>
              </a:ext>
            </a:extLst>
          </p:cNvPr>
          <p:cNvSpPr>
            <a:spLocks noGrp="1"/>
          </p:cNvSpPr>
          <p:nvPr/>
        </p:nvSpPr>
        <p:spPr>
          <a:xfrm>
            <a:off x="609600" y="1571625"/>
            <a:ext cx="6191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For root 12:</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Predecessor = 10</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Largest key in the left subtree.</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Successor = 15</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Smallest key in the right subtree.</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The maximum follows right links.</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The minimum follows left links.</a:t>
            </a:r>
          </a:p>
        </p:txBody>
      </p:sp>
      <p:sp>
        <p:nvSpPr>
          <p:cNvPr id="4" name="source-diagram-dg24-9">
            <a:extLst>
              <a:ext uri="{FF2B5EF4-FFF2-40B4-BE49-F238E27FC236}">
                <a16:creationId xmlns:a16="http://schemas.microsoft.com/office/drawing/2014/main" id="{F62719C6-42B9-4309-881C-F8A52C06A62F}"/>
              </a:ext>
            </a:extLst>
          </p:cNvPr>
          <p:cNvSpPr>
            <a:spLocks noGrp="1"/>
          </p:cNvSpPr>
          <p:nvPr/>
        </p:nvSpPr>
        <p:spPr>
          <a:xfrm>
            <a:off x="9661087"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20</a:t>
            </a:r>
          </a:p>
        </p:txBody>
      </p:sp>
      <p:sp>
        <p:nvSpPr>
          <p:cNvPr id="5" name="source-diagram-dg24-10">
            <a:extLst>
              <a:ext uri="{FF2B5EF4-FFF2-40B4-BE49-F238E27FC236}">
                <a16:creationId xmlns:a16="http://schemas.microsoft.com/office/drawing/2014/main" id="{2567BE03-53D1-4EFC-BF61-319BBF18C597}"/>
              </a:ext>
            </a:extLst>
          </p:cNvPr>
          <p:cNvSpPr>
            <a:spLocks noGrp="1"/>
          </p:cNvSpPr>
          <p:nvPr/>
        </p:nvSpPr>
        <p:spPr>
          <a:xfrm>
            <a:off x="8473232"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9</a:t>
            </a:r>
          </a:p>
        </p:txBody>
      </p:sp>
      <p:sp>
        <p:nvSpPr>
          <p:cNvPr id="6" name="source-diagram-dg24-11">
            <a:extLst>
              <a:ext uri="{FF2B5EF4-FFF2-40B4-BE49-F238E27FC236}">
                <a16:creationId xmlns:a16="http://schemas.microsoft.com/office/drawing/2014/main" id="{DC55B831-7718-40A3-BA4F-1E8250BCAD60}"/>
              </a:ext>
            </a:extLst>
          </p:cNvPr>
          <p:cNvSpPr>
            <a:spLocks noGrp="1"/>
          </p:cNvSpPr>
          <p:nvPr/>
        </p:nvSpPr>
        <p:spPr>
          <a:xfrm>
            <a:off x="7477125" y="3889037"/>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2</a:t>
            </a:r>
          </a:p>
        </p:txBody>
      </p:sp>
      <p:sp>
        <p:nvSpPr>
          <p:cNvPr id="7" name="source-diagram-dg24-12">
            <a:extLst>
              <a:ext uri="{FF2B5EF4-FFF2-40B4-BE49-F238E27FC236}">
                <a16:creationId xmlns:a16="http://schemas.microsoft.com/office/drawing/2014/main" id="{9EC5A00A-53EB-4E99-B11F-FDF990A628BB}"/>
              </a:ext>
            </a:extLst>
          </p:cNvPr>
          <p:cNvSpPr>
            <a:spLocks noGrp="1"/>
          </p:cNvSpPr>
          <p:nvPr/>
        </p:nvSpPr>
        <p:spPr>
          <a:xfrm>
            <a:off x="9115096" y="2754143"/>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15</a:t>
            </a:r>
          </a:p>
        </p:txBody>
      </p:sp>
      <p:sp>
        <p:nvSpPr>
          <p:cNvPr id="8" name="source-diagram-dg24-13">
            <a:extLst>
              <a:ext uri="{FF2B5EF4-FFF2-40B4-BE49-F238E27FC236}">
                <a16:creationId xmlns:a16="http://schemas.microsoft.com/office/drawing/2014/main" id="{C2D074B4-8767-47E4-B269-88365596B3CF}"/>
              </a:ext>
            </a:extLst>
          </p:cNvPr>
          <p:cNvSpPr>
            <a:spLocks noGrp="1"/>
          </p:cNvSpPr>
          <p:nvPr/>
        </p:nvSpPr>
        <p:spPr>
          <a:xfrm>
            <a:off x="7927242" y="2754143"/>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5</a:t>
            </a:r>
          </a:p>
        </p:txBody>
      </p:sp>
      <p:sp>
        <p:nvSpPr>
          <p:cNvPr id="9" name="source-diagram-dg24-14">
            <a:extLst>
              <a:ext uri="{FF2B5EF4-FFF2-40B4-BE49-F238E27FC236}">
                <a16:creationId xmlns:a16="http://schemas.microsoft.com/office/drawing/2014/main" id="{D1FE3577-6037-4F40-9DBE-DE9DEBE7D726}"/>
              </a:ext>
            </a:extLst>
          </p:cNvPr>
          <p:cNvSpPr>
            <a:spLocks noGrp="1"/>
          </p:cNvSpPr>
          <p:nvPr/>
        </p:nvSpPr>
        <p:spPr>
          <a:xfrm>
            <a:off x="8491107" y="1619250"/>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12</a:t>
            </a:r>
          </a:p>
        </p:txBody>
      </p:sp>
      <p:cxnSp>
        <p:nvCxnSpPr>
          <p:cNvPr id="10" name="source-diagram-dg24-15">
            <a:extLst>
              <a:ext uri="{FF2B5EF4-FFF2-40B4-BE49-F238E27FC236}">
                <a16:creationId xmlns:a16="http://schemas.microsoft.com/office/drawing/2014/main" id="{6F245BEF-014C-47CE-90C3-D5971424C8F5}"/>
              </a:ext>
            </a:extLst>
          </p:cNvPr>
          <p:cNvCxnSpPr/>
          <p:nvPr/>
        </p:nvCxnSpPr>
        <p:spPr>
          <a:xfrm rot="5400000">
            <a:off x="8046678" y="2128640"/>
            <a:ext cx="577104" cy="531266"/>
          </a:xfrm>
          <a:prstGeom prst="straightConnector1">
            <a:avLst/>
          </a:prstGeom>
          <a:ln w="9525">
            <a:solidFill>
              <a:srgbClr val="142E42"/>
            </a:solidFill>
            <a:round/>
            <a:headEnd type="none" w="med" len="med"/>
            <a:tailEnd type="none" w="med" len="med"/>
          </a:ln>
        </p:spPr>
      </p:cxnSp>
      <p:cxnSp>
        <p:nvCxnSpPr>
          <p:cNvPr id="11" name="source-diagram-dg24-16">
            <a:extLst>
              <a:ext uri="{FF2B5EF4-FFF2-40B4-BE49-F238E27FC236}">
                <a16:creationId xmlns:a16="http://schemas.microsoft.com/office/drawing/2014/main" id="{AF2A2F35-D4ED-40E0-8F40-2B5EDEE73077}"/>
              </a:ext>
            </a:extLst>
          </p:cNvPr>
          <p:cNvCxnSpPr/>
          <p:nvPr/>
        </p:nvCxnSpPr>
        <p:spPr>
          <a:xfrm rot="16200000" flipH="1">
            <a:off x="8778488" y="2091149"/>
            <a:ext cx="577104" cy="606250"/>
          </a:xfrm>
          <a:prstGeom prst="straightConnector1">
            <a:avLst/>
          </a:prstGeom>
          <a:ln w="9525">
            <a:solidFill>
              <a:srgbClr val="142E42"/>
            </a:solidFill>
            <a:round/>
            <a:headEnd type="none" w="med" len="med"/>
            <a:tailEnd type="none" w="med" len="med"/>
          </a:ln>
        </p:spPr>
      </p:cxnSp>
      <p:cxnSp>
        <p:nvCxnSpPr>
          <p:cNvPr id="12" name="source-diagram-dg24-17">
            <a:extLst>
              <a:ext uri="{FF2B5EF4-FFF2-40B4-BE49-F238E27FC236}">
                <a16:creationId xmlns:a16="http://schemas.microsoft.com/office/drawing/2014/main" id="{D94F62F7-A0D2-4EC1-98BF-CB0F30363A4E}"/>
              </a:ext>
            </a:extLst>
          </p:cNvPr>
          <p:cNvCxnSpPr/>
          <p:nvPr/>
        </p:nvCxnSpPr>
        <p:spPr>
          <a:xfrm>
            <a:off x="9448216" y="3193915"/>
            <a:ext cx="407867" cy="670803"/>
          </a:xfrm>
          <a:prstGeom prst="straightConnector1">
            <a:avLst/>
          </a:prstGeom>
          <a:ln w="9525">
            <a:solidFill>
              <a:srgbClr val="142E42"/>
            </a:solidFill>
            <a:round/>
            <a:headEnd type="none" w="med" len="med"/>
            <a:tailEnd type="none" w="med" len="med"/>
          </a:ln>
        </p:spPr>
      </p:cxnSp>
      <p:cxnSp>
        <p:nvCxnSpPr>
          <p:cNvPr id="13" name="source-diagram-dg24-18">
            <a:extLst>
              <a:ext uri="{FF2B5EF4-FFF2-40B4-BE49-F238E27FC236}">
                <a16:creationId xmlns:a16="http://schemas.microsoft.com/office/drawing/2014/main" id="{46FE29CC-D925-4F05-B0DD-A7B6AF4D2433}"/>
              </a:ext>
            </a:extLst>
          </p:cNvPr>
          <p:cNvCxnSpPr/>
          <p:nvPr/>
        </p:nvCxnSpPr>
        <p:spPr>
          <a:xfrm rot="5400000">
            <a:off x="7539687" y="3334466"/>
            <a:ext cx="577104" cy="389404"/>
          </a:xfrm>
          <a:prstGeom prst="straightConnector1">
            <a:avLst/>
          </a:prstGeom>
          <a:ln w="9525">
            <a:solidFill>
              <a:srgbClr val="142E42"/>
            </a:solidFill>
            <a:round/>
            <a:headEnd type="none" w="med" len="med"/>
            <a:tailEnd type="none" w="med" len="med"/>
          </a:ln>
        </p:spPr>
      </p:cxnSp>
      <p:cxnSp>
        <p:nvCxnSpPr>
          <p:cNvPr id="14" name="source-diagram-dg24-19">
            <a:extLst>
              <a:ext uri="{FF2B5EF4-FFF2-40B4-BE49-F238E27FC236}">
                <a16:creationId xmlns:a16="http://schemas.microsoft.com/office/drawing/2014/main" id="{B727CACF-113F-4D7C-8DE4-D4D9AF6ED5B8}"/>
              </a:ext>
            </a:extLst>
          </p:cNvPr>
          <p:cNvCxnSpPr/>
          <p:nvPr/>
        </p:nvCxnSpPr>
        <p:spPr>
          <a:xfrm>
            <a:off x="8260361" y="3193915"/>
            <a:ext cx="407867" cy="670803"/>
          </a:xfrm>
          <a:prstGeom prst="straightConnector1">
            <a:avLst/>
          </a:prstGeom>
          <a:ln w="9525">
            <a:solidFill>
              <a:srgbClr val="142E42"/>
            </a:solidFill>
            <a:round/>
            <a:headEnd type="none" w="med" len="med"/>
            <a:tailEnd type="none" w="med" len="med"/>
          </a:ln>
        </p:spPr>
      </p:cxnSp>
      <p:sp>
        <p:nvSpPr>
          <p:cNvPr id="15" name="source-diagram-dg24-20">
            <a:extLst>
              <a:ext uri="{FF2B5EF4-FFF2-40B4-BE49-F238E27FC236}">
                <a16:creationId xmlns:a16="http://schemas.microsoft.com/office/drawing/2014/main" id="{253C63BB-6E59-4FCF-93C5-A2DC9E5CC886}"/>
              </a:ext>
            </a:extLst>
          </p:cNvPr>
          <p:cNvSpPr>
            <a:spLocks noGrp="1"/>
          </p:cNvSpPr>
          <p:nvPr/>
        </p:nvSpPr>
        <p:spPr>
          <a:xfrm>
            <a:off x="9934082" y="5023931"/>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30</a:t>
            </a:r>
          </a:p>
        </p:txBody>
      </p:sp>
      <p:cxnSp>
        <p:nvCxnSpPr>
          <p:cNvPr id="16" name="source-diagram-dg24-21">
            <a:extLst>
              <a:ext uri="{FF2B5EF4-FFF2-40B4-BE49-F238E27FC236}">
                <a16:creationId xmlns:a16="http://schemas.microsoft.com/office/drawing/2014/main" id="{77E502E3-103D-442A-A3AF-E1ABB96545EE}"/>
              </a:ext>
            </a:extLst>
          </p:cNvPr>
          <p:cNvCxnSpPr/>
          <p:nvPr/>
        </p:nvCxnSpPr>
        <p:spPr>
          <a:xfrm>
            <a:off x="9994206" y="4328809"/>
            <a:ext cx="134872" cy="670803"/>
          </a:xfrm>
          <a:prstGeom prst="straightConnector1">
            <a:avLst/>
          </a:prstGeom>
          <a:ln w="9525">
            <a:solidFill>
              <a:srgbClr val="142E42"/>
            </a:solidFill>
            <a:round/>
            <a:headEnd type="none" w="med" len="med"/>
            <a:tailEnd type="none" w="med" len="med"/>
          </a:ln>
        </p:spPr>
      </p:cxnSp>
      <p:sp>
        <p:nvSpPr>
          <p:cNvPr id="17" name="source-diagram-dg24-22">
            <a:extLst>
              <a:ext uri="{FF2B5EF4-FFF2-40B4-BE49-F238E27FC236}">
                <a16:creationId xmlns:a16="http://schemas.microsoft.com/office/drawing/2014/main" id="{D8B88EEB-FAE2-4582-BDF1-B4D9F7C88079}"/>
              </a:ext>
            </a:extLst>
          </p:cNvPr>
          <p:cNvSpPr>
            <a:spLocks noGrp="1"/>
          </p:cNvSpPr>
          <p:nvPr/>
        </p:nvSpPr>
        <p:spPr>
          <a:xfrm>
            <a:off x="8200237" y="5023931"/>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7</a:t>
            </a:r>
          </a:p>
        </p:txBody>
      </p:sp>
      <p:cxnSp>
        <p:nvCxnSpPr>
          <p:cNvPr id="18" name="source-diagram-dg24-23">
            <a:extLst>
              <a:ext uri="{FF2B5EF4-FFF2-40B4-BE49-F238E27FC236}">
                <a16:creationId xmlns:a16="http://schemas.microsoft.com/office/drawing/2014/main" id="{0A7AC36F-3763-41FB-9499-C39CEE63BCBA}"/>
              </a:ext>
            </a:extLst>
          </p:cNvPr>
          <p:cNvCxnSpPr/>
          <p:nvPr/>
        </p:nvCxnSpPr>
        <p:spPr>
          <a:xfrm flipH="1">
            <a:off x="8395233" y="4328809"/>
            <a:ext cx="134873" cy="670803"/>
          </a:xfrm>
          <a:prstGeom prst="straightConnector1">
            <a:avLst/>
          </a:prstGeom>
          <a:ln w="9525">
            <a:solidFill>
              <a:srgbClr val="142E42"/>
            </a:solidFill>
            <a:round/>
            <a:headEnd type="none" w="med" len="med"/>
            <a:tailEnd type="none" w="med" len="med"/>
          </a:ln>
        </p:spPr>
      </p:cxnSp>
      <p:sp>
        <p:nvSpPr>
          <p:cNvPr id="19" name="source-diagram-dg24-24">
            <a:extLst>
              <a:ext uri="{FF2B5EF4-FFF2-40B4-BE49-F238E27FC236}">
                <a16:creationId xmlns:a16="http://schemas.microsoft.com/office/drawing/2014/main" id="{9CDD99C4-8213-4398-9DE9-1E7CE9A9C277}"/>
              </a:ext>
            </a:extLst>
          </p:cNvPr>
          <p:cNvSpPr>
            <a:spLocks noGrp="1"/>
          </p:cNvSpPr>
          <p:nvPr/>
        </p:nvSpPr>
        <p:spPr>
          <a:xfrm>
            <a:off x="9388091" y="5013798"/>
            <a:ext cx="389993" cy="486383"/>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67" b="0">
                <a:solidFill>
                  <a:srgbClr val="142E42"/>
                </a:solidFill>
                <a:latin typeface="Arial"/>
                <a:ea typeface="Arial"/>
                <a:cs typeface="Arial"/>
              </a:rPr>
              <a:t>17</a:t>
            </a:r>
          </a:p>
        </p:txBody>
      </p:sp>
      <p:cxnSp>
        <p:nvCxnSpPr>
          <p:cNvPr id="20" name="source-diagram-dg24-25">
            <a:extLst>
              <a:ext uri="{FF2B5EF4-FFF2-40B4-BE49-F238E27FC236}">
                <a16:creationId xmlns:a16="http://schemas.microsoft.com/office/drawing/2014/main" id="{D2D88755-7EAD-4FC2-839E-36DD99960469}"/>
              </a:ext>
            </a:extLst>
          </p:cNvPr>
          <p:cNvCxnSpPr/>
          <p:nvPr/>
        </p:nvCxnSpPr>
        <p:spPr>
          <a:xfrm flipH="1">
            <a:off x="9583088" y="4328809"/>
            <a:ext cx="134873" cy="660670"/>
          </a:xfrm>
          <a:prstGeom prst="straightConnector1">
            <a:avLst/>
          </a:prstGeom>
          <a:ln w="9525">
            <a:solidFill>
              <a:srgbClr val="142E42"/>
            </a:solidFill>
            <a:round/>
            <a:headEnd type="none" w="med" len="med"/>
            <a:tailEnd type="none" w="med" len="med"/>
          </a:ln>
        </p:spPr>
      </p:cxnSp>
      <p:sp>
        <p:nvSpPr>
          <p:cNvPr id="21" name="source-diagram-dg24-26">
            <a:extLst>
              <a:ext uri="{FF2B5EF4-FFF2-40B4-BE49-F238E27FC236}">
                <a16:creationId xmlns:a16="http://schemas.microsoft.com/office/drawing/2014/main" id="{99EF9087-4EEF-44CD-80C3-9E7ADE0CAF8A}"/>
              </a:ext>
            </a:extLst>
          </p:cNvPr>
          <p:cNvSpPr>
            <a:spLocks noGrp="1"/>
          </p:cNvSpPr>
          <p:nvPr/>
        </p:nvSpPr>
        <p:spPr>
          <a:xfrm>
            <a:off x="8725103" y="5038117"/>
            <a:ext cx="389993" cy="486383"/>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67" b="0">
                <a:solidFill>
                  <a:srgbClr val="FFFFFF"/>
                </a:solidFill>
                <a:latin typeface="Arial"/>
                <a:ea typeface="Arial"/>
                <a:cs typeface="Arial"/>
              </a:rPr>
              <a:t>10</a:t>
            </a:r>
          </a:p>
        </p:txBody>
      </p:sp>
      <p:cxnSp>
        <p:nvCxnSpPr>
          <p:cNvPr id="22" name="source-diagram-dg24-27">
            <a:extLst>
              <a:ext uri="{FF2B5EF4-FFF2-40B4-BE49-F238E27FC236}">
                <a16:creationId xmlns:a16="http://schemas.microsoft.com/office/drawing/2014/main" id="{5570EEE6-75E5-43EF-8DC5-3387D51B4AAC}"/>
              </a:ext>
            </a:extLst>
          </p:cNvPr>
          <p:cNvCxnSpPr/>
          <p:nvPr/>
        </p:nvCxnSpPr>
        <p:spPr>
          <a:xfrm>
            <a:off x="8785226" y="4342995"/>
            <a:ext cx="134873" cy="670804"/>
          </a:xfrm>
          <a:prstGeom prst="straightConnector1">
            <a:avLst/>
          </a:prstGeom>
          <a:ln w="9525">
            <a:solidFill>
              <a:srgbClr val="142E42"/>
            </a:solidFill>
            <a:round/>
            <a:headEnd type="none" w="med" len="med"/>
            <a:tailEnd type="none" w="med" len="med"/>
          </a:ln>
        </p:spPr>
      </p:cxnSp>
      <p:sp>
        <p:nvSpPr>
          <p:cNvPr id="24" name="local-java-BST">
            <a:extLst>
              <a:ext uri="{FF2B5EF4-FFF2-40B4-BE49-F238E27FC236}">
                <a16:creationId xmlns:a16="http://schemas.microsoft.com/office/drawing/2014/main" id="{FE657E30-4D2D-43AE-A6E1-2D4A390661FB}"/>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25" name="local-java-TestBST">
            <a:extLst>
              <a:ext uri="{FF2B5EF4-FFF2-40B4-BE49-F238E27FC236}">
                <a16:creationId xmlns:a16="http://schemas.microsoft.com/office/drawing/2014/main" id="{E15BA8EF-CFAB-4496-8395-F3E11D8EB499}"/>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TestBST.java</a:t>
            </a:r>
          </a:p>
        </p:txBody>
      </p:sp>
      <p:sp>
        <p:nvSpPr>
          <p:cNvPr id="26" name="page">
            <a:extLst>
              <a:ext uri="{FF2B5EF4-FFF2-40B4-BE49-F238E27FC236}">
                <a16:creationId xmlns:a16="http://schemas.microsoft.com/office/drawing/2014/main" id="{F5A9949D-FD05-4A75-A991-65DE95FAAFD3}"/>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32</a:t>
            </a:r>
          </a:p>
        </p:txBody>
      </p:sp>
    </p:spTree>
    <p:extLst>
      <p:ext uri="{BB962C8B-B14F-4D97-AF65-F5344CB8AC3E}">
        <p14:creationId xmlns:p14="http://schemas.microsoft.com/office/powerpoint/2010/main" val="2799857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83287A7C-40E4-4B91-A756-B1AFB0ED53A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Deletion has three structural cases</a:t>
            </a:r>
          </a:p>
        </p:txBody>
      </p:sp>
      <p:graphicFrame>
        <p:nvGraphicFramePr>
          <p:cNvPr id="3" name="Table 2">
            <a:extLst>
              <a:ext uri="{FF2B5EF4-FFF2-40B4-BE49-F238E27FC236}">
                <a16:creationId xmlns:a16="http://schemas.microsoft.com/office/drawing/2014/main" id="{6092D895-16D2-4860-9B30-766F135D1CC7}"/>
              </a:ext>
            </a:extLst>
          </p:cNvPr>
          <p:cNvGraphicFramePr/>
          <p:nvPr/>
        </p:nvGraphicFramePr>
        <p:xfrm>
          <a:off x="609600" y="1657350"/>
          <a:ext cx="10972800" cy="3286124"/>
        </p:xfrm>
        <a:graphic>
          <a:graphicData uri="http://schemas.openxmlformats.org/drawingml/2006/table">
            <a:tbl>
              <a:tblPr/>
              <a:tblGrid>
                <a:gridCol w="238125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821531">
                <a:tc>
                  <a:txBody>
                    <a:bodyPr/>
                    <a:lstStyle/>
                    <a:p>
                      <a:r>
                        <a:rPr sz="2100" b="1">
                          <a:solidFill>
                            <a:srgbClr val="FFFFFF"/>
                          </a:solidFill>
                          <a:latin typeface="Arial"/>
                          <a:ea typeface="Arial"/>
                          <a:cs typeface="Arial"/>
                        </a:rPr>
                        <a:t>Children</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2100" b="1">
                          <a:solidFill>
                            <a:srgbClr val="FFFFFF"/>
                          </a:solidFill>
                          <a:latin typeface="Arial"/>
                          <a:ea typeface="Arial"/>
                          <a:cs typeface="Arial"/>
                        </a:rPr>
                        <a:t>Repair after finding the node</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21531">
                <a:tc>
                  <a:txBody>
                    <a:bodyPr/>
                    <a:lstStyle/>
                    <a:p>
                      <a:r>
                        <a:rPr sz="2100" b="0">
                          <a:solidFill>
                            <a:srgbClr val="142E42"/>
                          </a:solidFill>
                          <a:latin typeface="Arial"/>
                          <a:ea typeface="Arial"/>
                          <a:cs typeface="Arial"/>
                        </a:rPr>
                        <a:t>0</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100" b="0">
                          <a:solidFill>
                            <a:srgbClr val="142E42"/>
                          </a:solidFill>
                          <a:latin typeface="Arial"/>
                          <a:ea typeface="Arial"/>
                          <a:cs typeface="Arial"/>
                        </a:rPr>
                        <a:t>Remove the parent’s child link</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1"/>
                  </a:ext>
                </a:extLst>
              </a:tr>
              <a:tr h="821531">
                <a:tc>
                  <a:txBody>
                    <a:bodyPr/>
                    <a:lstStyle/>
                    <a:p>
                      <a:r>
                        <a:rPr sz="2100" b="0">
                          <a:solidFill>
                            <a:srgbClr val="142E42"/>
                          </a:solidFill>
                          <a:latin typeface="Arial"/>
                          <a:ea typeface="Arial"/>
                          <a:cs typeface="Arial"/>
                        </a:rPr>
                        <a:t>1</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2100" b="0">
                          <a:solidFill>
                            <a:srgbClr val="142E42"/>
                          </a:solidFill>
                          <a:latin typeface="Arial"/>
                          <a:ea typeface="Arial"/>
                          <a:cs typeface="Arial"/>
                        </a:rPr>
                        <a:t>Connect the parent directly to the child</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extLst>
                  <a:ext uri="{0D108BD9-81ED-4DB2-BD59-A6C34878D82A}">
                    <a16:rowId xmlns:a16="http://schemas.microsoft.com/office/drawing/2014/main" val="10002"/>
                  </a:ext>
                </a:extLst>
              </a:tr>
              <a:tr h="821531">
                <a:tc>
                  <a:txBody>
                    <a:bodyPr/>
                    <a:lstStyle/>
                    <a:p>
                      <a:r>
                        <a:rPr sz="2100" b="0">
                          <a:solidFill>
                            <a:srgbClr val="142E42"/>
                          </a:solidFill>
                          <a:latin typeface="Arial"/>
                          <a:ea typeface="Arial"/>
                          <a:cs typeface="Arial"/>
                        </a:rPr>
                        <a:t>2</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2100" b="0">
                          <a:solidFill>
                            <a:srgbClr val="142E42"/>
                          </a:solidFill>
                          <a:latin typeface="Arial"/>
                          <a:ea typeface="Arial"/>
                          <a:cs typeface="Arial"/>
                        </a:rPr>
                        <a:t>Copy the successor key, then remove</a:t>
                      </a:r>
                    </a:p>
                    <a:p>
                      <a:r>
                        <a:rPr sz="2100" b="0">
                          <a:solidFill>
                            <a:srgbClr val="142E42"/>
                          </a:solidFill>
                          <a:latin typeface="Arial"/>
                          <a:ea typeface="Arial"/>
                          <a:cs typeface="Arial"/>
                        </a:rPr>
                        <a:t>the successor from the right subtree</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29BE541E-F244-473A-BE58-0CC8D058D149}"/>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Deleting the root can change root. An absent key leaves size unchanged.</a:t>
            </a:r>
          </a:p>
        </p:txBody>
      </p:sp>
      <p:sp>
        <p:nvSpPr>
          <p:cNvPr id="6" name="local-java-DeletionDemo">
            <a:extLst>
              <a:ext uri="{FF2B5EF4-FFF2-40B4-BE49-F238E27FC236}">
                <a16:creationId xmlns:a16="http://schemas.microsoft.com/office/drawing/2014/main" id="{715B7DEE-3B01-4F08-9454-2D636F25CF5A}"/>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DeletionDemo.java</a:t>
            </a:r>
          </a:p>
        </p:txBody>
      </p:sp>
      <p:sp>
        <p:nvSpPr>
          <p:cNvPr id="7" name="page">
            <a:extLst>
              <a:ext uri="{FF2B5EF4-FFF2-40B4-BE49-F238E27FC236}">
                <a16:creationId xmlns:a16="http://schemas.microsoft.com/office/drawing/2014/main" id="{41B375C1-CA16-44A1-A955-FCFD23FE6C06}"/>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33</a:t>
            </a:r>
          </a:p>
        </p:txBody>
      </p:sp>
    </p:spTree>
    <p:extLst>
      <p:ext uri="{BB962C8B-B14F-4D97-AF65-F5344CB8AC3E}">
        <p14:creationId xmlns:p14="http://schemas.microsoft.com/office/powerpoint/2010/main" val="333790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38" name="text-0">
            <a:extLst>
              <a:ext uri="{FF2B5EF4-FFF2-40B4-BE49-F238E27FC236}">
                <a16:creationId xmlns:a16="http://schemas.microsoft.com/office/drawing/2014/main" id="{C512CC57-B79F-4E20-84B3-D1FF1064BA0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One child: deletion reconnects the subtree</a:t>
            </a:r>
          </a:p>
        </p:txBody>
      </p:sp>
      <p:sp>
        <p:nvSpPr>
          <p:cNvPr id="3" name="text-2">
            <a:extLst>
              <a:ext uri="{FF2B5EF4-FFF2-40B4-BE49-F238E27FC236}">
                <a16:creationId xmlns:a16="http://schemas.microsoft.com/office/drawing/2014/main" id="{69A89AC3-BC2D-47D2-8C5A-EE51D2D69CC3}"/>
              </a:ext>
            </a:extLst>
          </p:cNvPr>
          <p:cNvSpPr>
            <a:spLocks noGrp="1"/>
          </p:cNvSpPr>
          <p:nvPr/>
        </p:nvSpPr>
        <p:spPr>
          <a:xfrm>
            <a:off x="876300" y="1381125"/>
            <a:ext cx="4762500" cy="457200"/>
          </a:xfrm>
          <a:prstGeom prst="rect">
            <a:avLst/>
          </a:prstGeom>
          <a:noFill/>
          <a:ln w="0">
            <a:noFill/>
          </a:ln>
        </p:spPr>
        <p:txBody>
          <a:bodyPr lIns="0" tIns="0" rIns="0" bIns="0" anchor="t"/>
          <a:lstStyle>
            <a:defPPr algn="l">
              <a:defRPr sz="2100" b="1">
                <a:solidFill>
                  <a:srgbClr val="007C83"/>
                </a:solidFill>
                <a:latin typeface="Arial"/>
                <a:ea typeface="Arial"/>
                <a:cs typeface="Arial"/>
              </a:defRPr>
            </a:defPPr>
            <a:lvl1pPr algn="l">
              <a:buNone/>
              <a:defRPr sz="2100" b="1">
                <a:solidFill>
                  <a:srgbClr val="007C83"/>
                </a:solidFill>
                <a:latin typeface="Arial"/>
                <a:ea typeface="Arial"/>
                <a:cs typeface="Arial"/>
              </a:defRPr>
            </a:lvl1pPr>
            <a:lvl2pPr algn="l">
              <a:buNone/>
              <a:defRPr sz="2100" b="1">
                <a:solidFill>
                  <a:srgbClr val="007C83"/>
                </a:solidFill>
                <a:latin typeface="Arial"/>
                <a:ea typeface="Arial"/>
                <a:cs typeface="Arial"/>
              </a:defRPr>
            </a:lvl2pPr>
            <a:lvl3pPr algn="l">
              <a:buNone/>
              <a:defRPr sz="2100" b="1">
                <a:solidFill>
                  <a:srgbClr val="007C83"/>
                </a:solidFill>
                <a:latin typeface="Arial"/>
                <a:ea typeface="Arial"/>
                <a:cs typeface="Arial"/>
              </a:defRPr>
            </a:lvl3pPr>
            <a:lvl4pPr algn="l">
              <a:buNone/>
              <a:defRPr sz="2100" b="1">
                <a:solidFill>
                  <a:srgbClr val="007C83"/>
                </a:solidFill>
                <a:latin typeface="Arial"/>
                <a:ea typeface="Arial"/>
                <a:cs typeface="Arial"/>
              </a:defRPr>
            </a:lvl4pPr>
            <a:lvl5pPr algn="l">
              <a:buNone/>
              <a:defRPr sz="2100" b="1">
                <a:solidFill>
                  <a:srgbClr val="007C83"/>
                </a:solidFill>
                <a:latin typeface="Arial"/>
                <a:ea typeface="Arial"/>
                <a:cs typeface="Arial"/>
              </a:defRPr>
            </a:lvl5pPr>
            <a:lvl6pPr algn="l">
              <a:buNone/>
              <a:defRPr sz="2100" b="1">
                <a:solidFill>
                  <a:srgbClr val="007C83"/>
                </a:solidFill>
                <a:latin typeface="Arial"/>
                <a:ea typeface="Arial"/>
                <a:cs typeface="Arial"/>
              </a:defRPr>
            </a:lvl6pPr>
            <a:lvl7pPr algn="l">
              <a:buNone/>
              <a:defRPr sz="2100" b="1">
                <a:solidFill>
                  <a:srgbClr val="007C83"/>
                </a:solidFill>
                <a:latin typeface="Arial"/>
                <a:ea typeface="Arial"/>
                <a:cs typeface="Arial"/>
              </a:defRPr>
            </a:lvl7pPr>
            <a:lvl8pPr algn="l">
              <a:buNone/>
              <a:defRPr sz="2100" b="1">
                <a:solidFill>
                  <a:srgbClr val="007C83"/>
                </a:solidFill>
                <a:latin typeface="Arial"/>
                <a:ea typeface="Arial"/>
                <a:cs typeface="Arial"/>
              </a:defRPr>
            </a:lvl8pPr>
            <a:lvl9pPr algn="l">
              <a:buNone/>
              <a:defRPr sz="2100" b="1">
                <a:solidFill>
                  <a:srgbClr val="007C83"/>
                </a:solidFill>
                <a:latin typeface="Arial"/>
                <a:ea typeface="Arial"/>
                <a:cs typeface="Arial"/>
              </a:defRPr>
            </a:lvl9pPr>
          </a:lstStyle>
          <a:p>
            <a:pPr algn="l">
              <a:buNone/>
              <a:defRPr sz="2100" b="1">
                <a:solidFill>
                  <a:srgbClr val="007C83"/>
                </a:solidFill>
                <a:latin typeface="Arial"/>
                <a:ea typeface="Arial"/>
                <a:cs typeface="Arial"/>
              </a:defRPr>
            </a:pPr>
            <a:r>
              <a:rPr sz="2100" b="1">
                <a:solidFill>
                  <a:srgbClr val="007C83"/>
                </a:solidFill>
                <a:latin typeface="Arial"/>
                <a:ea typeface="Arial"/>
                <a:cs typeface="Arial"/>
              </a:rPr>
              <a:t>Before: delete 15</a:t>
            </a:r>
          </a:p>
        </p:txBody>
      </p:sp>
      <p:sp>
        <p:nvSpPr>
          <p:cNvPr id="4" name="text-3">
            <a:extLst>
              <a:ext uri="{FF2B5EF4-FFF2-40B4-BE49-F238E27FC236}">
                <a16:creationId xmlns:a16="http://schemas.microsoft.com/office/drawing/2014/main" id="{CD29D287-3A15-4B43-BE80-062FE96E590B}"/>
              </a:ext>
            </a:extLst>
          </p:cNvPr>
          <p:cNvSpPr>
            <a:spLocks noGrp="1"/>
          </p:cNvSpPr>
          <p:nvPr/>
        </p:nvSpPr>
        <p:spPr>
          <a:xfrm>
            <a:off x="6572250" y="1381125"/>
            <a:ext cx="4762500" cy="457200"/>
          </a:xfrm>
          <a:prstGeom prst="rect">
            <a:avLst/>
          </a:prstGeom>
          <a:noFill/>
          <a:ln w="0">
            <a:noFill/>
          </a:ln>
        </p:spPr>
        <p:txBody>
          <a:bodyPr lIns="0" tIns="0" rIns="0" bIns="0" anchor="t"/>
          <a:lstStyle>
            <a:defPPr algn="l">
              <a:defRPr sz="2100" b="1">
                <a:solidFill>
                  <a:srgbClr val="007C83"/>
                </a:solidFill>
                <a:latin typeface="Arial"/>
                <a:ea typeface="Arial"/>
                <a:cs typeface="Arial"/>
              </a:defRPr>
            </a:defPPr>
            <a:lvl1pPr algn="l">
              <a:buNone/>
              <a:defRPr sz="2100" b="1">
                <a:solidFill>
                  <a:srgbClr val="007C83"/>
                </a:solidFill>
                <a:latin typeface="Arial"/>
                <a:ea typeface="Arial"/>
                <a:cs typeface="Arial"/>
              </a:defRPr>
            </a:lvl1pPr>
            <a:lvl2pPr algn="l">
              <a:buNone/>
              <a:defRPr sz="2100" b="1">
                <a:solidFill>
                  <a:srgbClr val="007C83"/>
                </a:solidFill>
                <a:latin typeface="Arial"/>
                <a:ea typeface="Arial"/>
                <a:cs typeface="Arial"/>
              </a:defRPr>
            </a:lvl2pPr>
            <a:lvl3pPr algn="l">
              <a:buNone/>
              <a:defRPr sz="2100" b="1">
                <a:solidFill>
                  <a:srgbClr val="007C83"/>
                </a:solidFill>
                <a:latin typeface="Arial"/>
                <a:ea typeface="Arial"/>
                <a:cs typeface="Arial"/>
              </a:defRPr>
            </a:lvl3pPr>
            <a:lvl4pPr algn="l">
              <a:buNone/>
              <a:defRPr sz="2100" b="1">
                <a:solidFill>
                  <a:srgbClr val="007C83"/>
                </a:solidFill>
                <a:latin typeface="Arial"/>
                <a:ea typeface="Arial"/>
                <a:cs typeface="Arial"/>
              </a:defRPr>
            </a:lvl4pPr>
            <a:lvl5pPr algn="l">
              <a:buNone/>
              <a:defRPr sz="2100" b="1">
                <a:solidFill>
                  <a:srgbClr val="007C83"/>
                </a:solidFill>
                <a:latin typeface="Arial"/>
                <a:ea typeface="Arial"/>
                <a:cs typeface="Arial"/>
              </a:defRPr>
            </a:lvl5pPr>
            <a:lvl6pPr algn="l">
              <a:buNone/>
              <a:defRPr sz="2100" b="1">
                <a:solidFill>
                  <a:srgbClr val="007C83"/>
                </a:solidFill>
                <a:latin typeface="Arial"/>
                <a:ea typeface="Arial"/>
                <a:cs typeface="Arial"/>
              </a:defRPr>
            </a:lvl6pPr>
            <a:lvl7pPr algn="l">
              <a:buNone/>
              <a:defRPr sz="2100" b="1">
                <a:solidFill>
                  <a:srgbClr val="007C83"/>
                </a:solidFill>
                <a:latin typeface="Arial"/>
                <a:ea typeface="Arial"/>
                <a:cs typeface="Arial"/>
              </a:defRPr>
            </a:lvl7pPr>
            <a:lvl8pPr algn="l">
              <a:buNone/>
              <a:defRPr sz="2100" b="1">
                <a:solidFill>
                  <a:srgbClr val="007C83"/>
                </a:solidFill>
                <a:latin typeface="Arial"/>
                <a:ea typeface="Arial"/>
                <a:cs typeface="Arial"/>
              </a:defRPr>
            </a:lvl8pPr>
            <a:lvl9pPr algn="l">
              <a:buNone/>
              <a:defRPr sz="2100" b="1">
                <a:solidFill>
                  <a:srgbClr val="007C83"/>
                </a:solidFill>
                <a:latin typeface="Arial"/>
                <a:ea typeface="Arial"/>
                <a:cs typeface="Arial"/>
              </a:defRPr>
            </a:lvl9pPr>
          </a:lstStyle>
          <a:p>
            <a:pPr algn="l">
              <a:buNone/>
              <a:defRPr sz="2100" b="1">
                <a:solidFill>
                  <a:srgbClr val="007C83"/>
                </a:solidFill>
                <a:latin typeface="Arial"/>
                <a:ea typeface="Arial"/>
                <a:cs typeface="Arial"/>
              </a:defRPr>
            </a:pPr>
            <a:r>
              <a:rPr sz="2100" b="1">
                <a:solidFill>
                  <a:srgbClr val="007C83"/>
                </a:solidFill>
                <a:latin typeface="Arial"/>
                <a:ea typeface="Arial"/>
                <a:cs typeface="Arial"/>
              </a:rPr>
              <a:t>After: 12 links to 20</a:t>
            </a:r>
          </a:p>
        </p:txBody>
      </p:sp>
      <p:sp>
        <p:nvSpPr>
          <p:cNvPr id="5" name="text-4">
            <a:extLst>
              <a:ext uri="{FF2B5EF4-FFF2-40B4-BE49-F238E27FC236}">
                <a16:creationId xmlns:a16="http://schemas.microsoft.com/office/drawing/2014/main" id="{01EE898D-6ABB-421D-A6F4-A910BB3CDA9F}"/>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 leaf uses the same reconnection idea with a null replacement.</a:t>
            </a:r>
          </a:p>
        </p:txBody>
      </p:sp>
      <p:sp>
        <p:nvSpPr>
          <p:cNvPr id="6" name="source-diagram-dg26-32">
            <a:extLst>
              <a:ext uri="{FF2B5EF4-FFF2-40B4-BE49-F238E27FC236}">
                <a16:creationId xmlns:a16="http://schemas.microsoft.com/office/drawing/2014/main" id="{273D55EA-7E5E-4470-9CA6-BE513C628DF1}"/>
              </a:ext>
            </a:extLst>
          </p:cNvPr>
          <p:cNvSpPr>
            <a:spLocks noGrp="1"/>
          </p:cNvSpPr>
          <p:nvPr/>
        </p:nvSpPr>
        <p:spPr>
          <a:xfrm>
            <a:off x="4344971" y="3947398"/>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20</a:t>
            </a:r>
          </a:p>
        </p:txBody>
      </p:sp>
      <p:sp>
        <p:nvSpPr>
          <p:cNvPr id="7" name="source-diagram-dg26-33">
            <a:extLst>
              <a:ext uri="{FF2B5EF4-FFF2-40B4-BE49-F238E27FC236}">
                <a16:creationId xmlns:a16="http://schemas.microsoft.com/office/drawing/2014/main" id="{7818CAA0-28FA-4D19-AE6B-AA5B872DAA3A}"/>
              </a:ext>
            </a:extLst>
          </p:cNvPr>
          <p:cNvSpPr>
            <a:spLocks noGrp="1"/>
          </p:cNvSpPr>
          <p:nvPr/>
        </p:nvSpPr>
        <p:spPr>
          <a:xfrm>
            <a:off x="2019824"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9</a:t>
            </a:r>
          </a:p>
        </p:txBody>
      </p:sp>
      <p:sp>
        <p:nvSpPr>
          <p:cNvPr id="8" name="source-diagram-dg26-34">
            <a:extLst>
              <a:ext uri="{FF2B5EF4-FFF2-40B4-BE49-F238E27FC236}">
                <a16:creationId xmlns:a16="http://schemas.microsoft.com/office/drawing/2014/main" id="{82924922-C5A8-4591-931D-182165D6EFFB}"/>
              </a:ext>
            </a:extLst>
          </p:cNvPr>
          <p:cNvSpPr>
            <a:spLocks noGrp="1"/>
          </p:cNvSpPr>
          <p:nvPr/>
        </p:nvSpPr>
        <p:spPr>
          <a:xfrm>
            <a:off x="857250"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2</a:t>
            </a:r>
          </a:p>
        </p:txBody>
      </p:sp>
      <p:sp>
        <p:nvSpPr>
          <p:cNvPr id="9" name="source-diagram-dg26-35">
            <a:extLst>
              <a:ext uri="{FF2B5EF4-FFF2-40B4-BE49-F238E27FC236}">
                <a16:creationId xmlns:a16="http://schemas.microsoft.com/office/drawing/2014/main" id="{D902C234-C5AE-4A61-B310-6CF7D353C2F3}"/>
              </a:ext>
            </a:extLst>
          </p:cNvPr>
          <p:cNvSpPr>
            <a:spLocks noGrp="1"/>
          </p:cNvSpPr>
          <p:nvPr/>
        </p:nvSpPr>
        <p:spPr>
          <a:xfrm>
            <a:off x="3763684" y="2978586"/>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15</a:t>
            </a:r>
          </a:p>
        </p:txBody>
      </p:sp>
      <p:sp>
        <p:nvSpPr>
          <p:cNvPr id="10" name="source-diagram-dg26-36">
            <a:extLst>
              <a:ext uri="{FF2B5EF4-FFF2-40B4-BE49-F238E27FC236}">
                <a16:creationId xmlns:a16="http://schemas.microsoft.com/office/drawing/2014/main" id="{878026F0-6712-41B3-9E10-B970BCCF3755}"/>
              </a:ext>
            </a:extLst>
          </p:cNvPr>
          <p:cNvSpPr>
            <a:spLocks noGrp="1"/>
          </p:cNvSpPr>
          <p:nvPr/>
        </p:nvSpPr>
        <p:spPr>
          <a:xfrm>
            <a:off x="1438537" y="2978586"/>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5</a:t>
            </a:r>
          </a:p>
        </p:txBody>
      </p:sp>
      <p:sp>
        <p:nvSpPr>
          <p:cNvPr id="11" name="source-diagram-dg26-37">
            <a:extLst>
              <a:ext uri="{FF2B5EF4-FFF2-40B4-BE49-F238E27FC236}">
                <a16:creationId xmlns:a16="http://schemas.microsoft.com/office/drawing/2014/main" id="{45B8B12B-0925-4C93-AD08-5236D9D00B9A}"/>
              </a:ext>
            </a:extLst>
          </p:cNvPr>
          <p:cNvSpPr>
            <a:spLocks noGrp="1"/>
          </p:cNvSpPr>
          <p:nvPr/>
        </p:nvSpPr>
        <p:spPr>
          <a:xfrm>
            <a:off x="2601111" y="2009775"/>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12</a:t>
            </a:r>
          </a:p>
        </p:txBody>
      </p:sp>
      <p:cxnSp>
        <p:nvCxnSpPr>
          <p:cNvPr id="12" name="source-diagram-dg26-38">
            <a:extLst>
              <a:ext uri="{FF2B5EF4-FFF2-40B4-BE49-F238E27FC236}">
                <a16:creationId xmlns:a16="http://schemas.microsoft.com/office/drawing/2014/main" id="{6EFFDB2F-9399-4117-BC1F-679BBABC856D}"/>
              </a:ext>
            </a:extLst>
          </p:cNvPr>
          <p:cNvCxnSpPr/>
          <p:nvPr/>
        </p:nvCxnSpPr>
        <p:spPr>
          <a:xfrm flipH="1">
            <a:off x="1646139" y="2385190"/>
            <a:ext cx="1015523" cy="572636"/>
          </a:xfrm>
          <a:prstGeom prst="straightConnector1">
            <a:avLst/>
          </a:prstGeom>
          <a:ln w="9525">
            <a:solidFill>
              <a:srgbClr val="142E42"/>
            </a:solidFill>
            <a:round/>
            <a:headEnd type="none" w="med" len="med"/>
            <a:tailEnd type="none" w="med" len="med"/>
          </a:ln>
        </p:spPr>
      </p:cxnSp>
      <p:cxnSp>
        <p:nvCxnSpPr>
          <p:cNvPr id="13" name="source-diagram-dg26-39">
            <a:extLst>
              <a:ext uri="{FF2B5EF4-FFF2-40B4-BE49-F238E27FC236}">
                <a16:creationId xmlns:a16="http://schemas.microsoft.com/office/drawing/2014/main" id="{D1F47263-09FD-4CDB-B75A-B3F8922A2606}"/>
              </a:ext>
            </a:extLst>
          </p:cNvPr>
          <p:cNvCxnSpPr/>
          <p:nvPr/>
        </p:nvCxnSpPr>
        <p:spPr>
          <a:xfrm>
            <a:off x="2955765" y="2385190"/>
            <a:ext cx="1015521" cy="572636"/>
          </a:xfrm>
          <a:prstGeom prst="straightConnector1">
            <a:avLst/>
          </a:prstGeom>
          <a:ln w="9525">
            <a:solidFill>
              <a:srgbClr val="142E42"/>
            </a:solidFill>
            <a:round/>
            <a:headEnd type="none" w="med" len="med"/>
            <a:tailEnd type="none" w="med" len="med"/>
          </a:ln>
        </p:spPr>
      </p:cxnSp>
      <p:cxnSp>
        <p:nvCxnSpPr>
          <p:cNvPr id="14" name="source-diagram-dg26-40">
            <a:extLst>
              <a:ext uri="{FF2B5EF4-FFF2-40B4-BE49-F238E27FC236}">
                <a16:creationId xmlns:a16="http://schemas.microsoft.com/office/drawing/2014/main" id="{E14DB9AF-6AB3-497C-834A-901AE0B0E7C8}"/>
              </a:ext>
            </a:extLst>
          </p:cNvPr>
          <p:cNvCxnSpPr/>
          <p:nvPr/>
        </p:nvCxnSpPr>
        <p:spPr>
          <a:xfrm>
            <a:off x="4118339" y="3354001"/>
            <a:ext cx="434235" cy="572636"/>
          </a:xfrm>
          <a:prstGeom prst="straightConnector1">
            <a:avLst/>
          </a:prstGeom>
          <a:ln w="9525">
            <a:solidFill>
              <a:srgbClr val="142E42"/>
            </a:solidFill>
            <a:round/>
            <a:headEnd type="none" w="med" len="med"/>
            <a:tailEnd type="none" w="med" len="med"/>
          </a:ln>
        </p:spPr>
      </p:cxnSp>
      <p:cxnSp>
        <p:nvCxnSpPr>
          <p:cNvPr id="15" name="source-diagram-dg26-41">
            <a:extLst>
              <a:ext uri="{FF2B5EF4-FFF2-40B4-BE49-F238E27FC236}">
                <a16:creationId xmlns:a16="http://schemas.microsoft.com/office/drawing/2014/main" id="{87A91C96-E019-4F1F-9A73-106A30A2AAEF}"/>
              </a:ext>
            </a:extLst>
          </p:cNvPr>
          <p:cNvCxnSpPr/>
          <p:nvPr/>
        </p:nvCxnSpPr>
        <p:spPr>
          <a:xfrm flipH="1">
            <a:off x="1064852" y="3354001"/>
            <a:ext cx="434236" cy="572636"/>
          </a:xfrm>
          <a:prstGeom prst="straightConnector1">
            <a:avLst/>
          </a:prstGeom>
          <a:ln w="9525">
            <a:solidFill>
              <a:srgbClr val="142E42"/>
            </a:solidFill>
            <a:round/>
            <a:headEnd type="none" w="med" len="med"/>
            <a:tailEnd type="none" w="med" len="med"/>
          </a:ln>
        </p:spPr>
      </p:cxnSp>
      <p:cxnSp>
        <p:nvCxnSpPr>
          <p:cNvPr id="16" name="source-diagram-dg26-42">
            <a:extLst>
              <a:ext uri="{FF2B5EF4-FFF2-40B4-BE49-F238E27FC236}">
                <a16:creationId xmlns:a16="http://schemas.microsoft.com/office/drawing/2014/main" id="{A034028A-7E04-4AF0-A156-D71723C6C572}"/>
              </a:ext>
            </a:extLst>
          </p:cNvPr>
          <p:cNvCxnSpPr/>
          <p:nvPr/>
        </p:nvCxnSpPr>
        <p:spPr>
          <a:xfrm>
            <a:off x="1793192" y="3354001"/>
            <a:ext cx="434235" cy="572636"/>
          </a:xfrm>
          <a:prstGeom prst="straightConnector1">
            <a:avLst/>
          </a:prstGeom>
          <a:ln w="9525">
            <a:solidFill>
              <a:srgbClr val="142E42"/>
            </a:solidFill>
            <a:round/>
            <a:headEnd type="none" w="med" len="med"/>
            <a:tailEnd type="none" w="med" len="med"/>
          </a:ln>
        </p:spPr>
      </p:cxnSp>
      <p:sp>
        <p:nvSpPr>
          <p:cNvPr id="17" name="source-diagram-dg26-43">
            <a:extLst>
              <a:ext uri="{FF2B5EF4-FFF2-40B4-BE49-F238E27FC236}">
                <a16:creationId xmlns:a16="http://schemas.microsoft.com/office/drawing/2014/main" id="{C63D7FAD-B991-4017-B6F2-33CE1BB1B621}"/>
              </a:ext>
            </a:extLst>
          </p:cNvPr>
          <p:cNvSpPr>
            <a:spLocks noGrp="1"/>
          </p:cNvSpPr>
          <p:nvPr/>
        </p:nvSpPr>
        <p:spPr>
          <a:xfrm>
            <a:off x="4635615"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30</a:t>
            </a:r>
          </a:p>
        </p:txBody>
      </p:sp>
      <p:cxnSp>
        <p:nvCxnSpPr>
          <p:cNvPr id="18" name="source-diagram-dg26-44">
            <a:extLst>
              <a:ext uri="{FF2B5EF4-FFF2-40B4-BE49-F238E27FC236}">
                <a16:creationId xmlns:a16="http://schemas.microsoft.com/office/drawing/2014/main" id="{CDE13068-3BBA-4956-9FDB-7FFA2FE46E88}"/>
              </a:ext>
            </a:extLst>
          </p:cNvPr>
          <p:cNvCxnSpPr/>
          <p:nvPr/>
        </p:nvCxnSpPr>
        <p:spPr>
          <a:xfrm>
            <a:off x="4699626" y="4322813"/>
            <a:ext cx="143591" cy="572636"/>
          </a:xfrm>
          <a:prstGeom prst="straightConnector1">
            <a:avLst/>
          </a:prstGeom>
          <a:ln w="9525">
            <a:solidFill>
              <a:srgbClr val="142E42"/>
            </a:solidFill>
            <a:round/>
            <a:headEnd type="none" w="med" len="med"/>
            <a:tailEnd type="none" w="med" len="med"/>
          </a:ln>
        </p:spPr>
      </p:cxnSp>
      <p:sp>
        <p:nvSpPr>
          <p:cNvPr id="19" name="source-diagram-dg26-45">
            <a:extLst>
              <a:ext uri="{FF2B5EF4-FFF2-40B4-BE49-F238E27FC236}">
                <a16:creationId xmlns:a16="http://schemas.microsoft.com/office/drawing/2014/main" id="{31C1FC58-EFE5-4A28-84D8-EEF696BE52D8}"/>
              </a:ext>
            </a:extLst>
          </p:cNvPr>
          <p:cNvSpPr>
            <a:spLocks noGrp="1"/>
          </p:cNvSpPr>
          <p:nvPr/>
        </p:nvSpPr>
        <p:spPr>
          <a:xfrm>
            <a:off x="1729180"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7</a:t>
            </a:r>
          </a:p>
        </p:txBody>
      </p:sp>
      <p:cxnSp>
        <p:nvCxnSpPr>
          <p:cNvPr id="20" name="source-diagram-dg26-46">
            <a:extLst>
              <a:ext uri="{FF2B5EF4-FFF2-40B4-BE49-F238E27FC236}">
                <a16:creationId xmlns:a16="http://schemas.microsoft.com/office/drawing/2014/main" id="{C00C81ED-9FFC-4615-9D2F-A5E59A45736A}"/>
              </a:ext>
            </a:extLst>
          </p:cNvPr>
          <p:cNvCxnSpPr/>
          <p:nvPr/>
        </p:nvCxnSpPr>
        <p:spPr>
          <a:xfrm flipH="1">
            <a:off x="1936783" y="4322813"/>
            <a:ext cx="143592" cy="572636"/>
          </a:xfrm>
          <a:prstGeom prst="straightConnector1">
            <a:avLst/>
          </a:prstGeom>
          <a:ln w="9525">
            <a:solidFill>
              <a:srgbClr val="142E42"/>
            </a:solidFill>
            <a:round/>
            <a:headEnd type="none" w="med" len="med"/>
            <a:tailEnd type="none" w="med" len="med"/>
          </a:ln>
        </p:spPr>
      </p:cxnSp>
      <p:sp>
        <p:nvSpPr>
          <p:cNvPr id="21" name="source-diagram-dg26-49">
            <a:extLst>
              <a:ext uri="{FF2B5EF4-FFF2-40B4-BE49-F238E27FC236}">
                <a16:creationId xmlns:a16="http://schemas.microsoft.com/office/drawing/2014/main" id="{FA548F13-5BAB-4294-B6D0-04C460742B7F}"/>
              </a:ext>
            </a:extLst>
          </p:cNvPr>
          <p:cNvSpPr>
            <a:spLocks noGrp="1"/>
          </p:cNvSpPr>
          <p:nvPr/>
        </p:nvSpPr>
        <p:spPr>
          <a:xfrm>
            <a:off x="2287977" y="4928320"/>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10</a:t>
            </a:r>
          </a:p>
        </p:txBody>
      </p:sp>
      <p:cxnSp>
        <p:nvCxnSpPr>
          <p:cNvPr id="22" name="source-diagram-dg26-50">
            <a:extLst>
              <a:ext uri="{FF2B5EF4-FFF2-40B4-BE49-F238E27FC236}">
                <a16:creationId xmlns:a16="http://schemas.microsoft.com/office/drawing/2014/main" id="{ECF68A7F-4EAA-4E68-B469-8958E20A877B}"/>
              </a:ext>
            </a:extLst>
          </p:cNvPr>
          <p:cNvCxnSpPr/>
          <p:nvPr/>
        </p:nvCxnSpPr>
        <p:spPr>
          <a:xfrm>
            <a:off x="2351988" y="4334923"/>
            <a:ext cx="143592" cy="572637"/>
          </a:xfrm>
          <a:prstGeom prst="straightConnector1">
            <a:avLst/>
          </a:prstGeom>
          <a:ln w="9525">
            <a:solidFill>
              <a:srgbClr val="142E42"/>
            </a:solidFill>
            <a:round/>
            <a:headEnd type="none" w="med" len="med"/>
            <a:tailEnd type="none" w="med" len="med"/>
          </a:ln>
        </p:spPr>
      </p:cxnSp>
      <p:sp>
        <p:nvSpPr>
          <p:cNvPr id="23" name="source-diagram-dg26-53">
            <a:extLst>
              <a:ext uri="{FF2B5EF4-FFF2-40B4-BE49-F238E27FC236}">
                <a16:creationId xmlns:a16="http://schemas.microsoft.com/office/drawing/2014/main" id="{4251924A-AFEA-4C02-9577-F8C6667F0724}"/>
              </a:ext>
            </a:extLst>
          </p:cNvPr>
          <p:cNvSpPr>
            <a:spLocks noGrp="1"/>
          </p:cNvSpPr>
          <p:nvPr/>
        </p:nvSpPr>
        <p:spPr>
          <a:xfrm>
            <a:off x="8649262" y="2929569"/>
            <a:ext cx="415205" cy="415205"/>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242" b="0">
                <a:solidFill>
                  <a:srgbClr val="FFFFFF"/>
                </a:solidFill>
                <a:latin typeface="Arial"/>
                <a:ea typeface="Arial"/>
                <a:cs typeface="Arial"/>
              </a:rPr>
              <a:t>20</a:t>
            </a:r>
          </a:p>
        </p:txBody>
      </p:sp>
      <p:sp>
        <p:nvSpPr>
          <p:cNvPr id="24" name="source-diagram-dg26-54">
            <a:extLst>
              <a:ext uri="{FF2B5EF4-FFF2-40B4-BE49-F238E27FC236}">
                <a16:creationId xmlns:a16="http://schemas.microsoft.com/office/drawing/2014/main" id="{A1BC0C9B-84C2-4E7D-BE1D-493B4C61BE94}"/>
              </a:ext>
            </a:extLst>
          </p:cNvPr>
          <p:cNvSpPr>
            <a:spLocks noGrp="1"/>
          </p:cNvSpPr>
          <p:nvPr/>
        </p:nvSpPr>
        <p:spPr>
          <a:xfrm>
            <a:off x="6794680"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9</a:t>
            </a:r>
          </a:p>
        </p:txBody>
      </p:sp>
      <p:sp>
        <p:nvSpPr>
          <p:cNvPr id="25" name="source-diagram-dg26-55">
            <a:extLst>
              <a:ext uri="{FF2B5EF4-FFF2-40B4-BE49-F238E27FC236}">
                <a16:creationId xmlns:a16="http://schemas.microsoft.com/office/drawing/2014/main" id="{C9FF2828-6A0C-48A1-B42F-95CE2000DF2D}"/>
              </a:ext>
            </a:extLst>
          </p:cNvPr>
          <p:cNvSpPr>
            <a:spLocks noGrp="1"/>
          </p:cNvSpPr>
          <p:nvPr/>
        </p:nvSpPr>
        <p:spPr>
          <a:xfrm>
            <a:off x="5632107" y="3947398"/>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2</a:t>
            </a:r>
          </a:p>
        </p:txBody>
      </p:sp>
      <p:sp>
        <p:nvSpPr>
          <p:cNvPr id="26" name="source-diagram-dg26-57">
            <a:extLst>
              <a:ext uri="{FF2B5EF4-FFF2-40B4-BE49-F238E27FC236}">
                <a16:creationId xmlns:a16="http://schemas.microsoft.com/office/drawing/2014/main" id="{89F55106-A851-47BE-8F1D-F9616291453C}"/>
              </a:ext>
            </a:extLst>
          </p:cNvPr>
          <p:cNvSpPr>
            <a:spLocks noGrp="1"/>
          </p:cNvSpPr>
          <p:nvPr/>
        </p:nvSpPr>
        <p:spPr>
          <a:xfrm>
            <a:off x="6213393" y="2978586"/>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5</a:t>
            </a:r>
          </a:p>
        </p:txBody>
      </p:sp>
      <p:sp>
        <p:nvSpPr>
          <p:cNvPr id="27" name="source-diagram-dg26-58">
            <a:extLst>
              <a:ext uri="{FF2B5EF4-FFF2-40B4-BE49-F238E27FC236}">
                <a16:creationId xmlns:a16="http://schemas.microsoft.com/office/drawing/2014/main" id="{D13212B7-33EF-4972-91C6-00FA7A85ED58}"/>
              </a:ext>
            </a:extLst>
          </p:cNvPr>
          <p:cNvSpPr>
            <a:spLocks noGrp="1"/>
          </p:cNvSpPr>
          <p:nvPr/>
        </p:nvSpPr>
        <p:spPr>
          <a:xfrm>
            <a:off x="7375967" y="2009775"/>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12</a:t>
            </a:r>
          </a:p>
        </p:txBody>
      </p:sp>
      <p:cxnSp>
        <p:nvCxnSpPr>
          <p:cNvPr id="28" name="source-diagram-dg26-59">
            <a:extLst>
              <a:ext uri="{FF2B5EF4-FFF2-40B4-BE49-F238E27FC236}">
                <a16:creationId xmlns:a16="http://schemas.microsoft.com/office/drawing/2014/main" id="{F3933D1A-394A-4067-B0B9-D05DD27CBF18}"/>
              </a:ext>
            </a:extLst>
          </p:cNvPr>
          <p:cNvCxnSpPr/>
          <p:nvPr/>
        </p:nvCxnSpPr>
        <p:spPr>
          <a:xfrm flipH="1">
            <a:off x="6420996" y="2385190"/>
            <a:ext cx="1015523" cy="572636"/>
          </a:xfrm>
          <a:prstGeom prst="straightConnector1">
            <a:avLst/>
          </a:prstGeom>
          <a:ln w="9525">
            <a:solidFill>
              <a:srgbClr val="142E42"/>
            </a:solidFill>
            <a:round/>
            <a:headEnd type="none" w="med" len="med"/>
            <a:tailEnd type="none" w="med" len="med"/>
          </a:ln>
        </p:spPr>
      </p:cxnSp>
      <p:cxnSp>
        <p:nvCxnSpPr>
          <p:cNvPr id="29" name="source-diagram-dg26-60">
            <a:extLst>
              <a:ext uri="{FF2B5EF4-FFF2-40B4-BE49-F238E27FC236}">
                <a16:creationId xmlns:a16="http://schemas.microsoft.com/office/drawing/2014/main" id="{2CBE5C99-A0D0-4EB6-BA7A-AB5BFD1B22B0}"/>
              </a:ext>
            </a:extLst>
          </p:cNvPr>
          <p:cNvCxnSpPr/>
          <p:nvPr/>
        </p:nvCxnSpPr>
        <p:spPr>
          <a:xfrm>
            <a:off x="7730367" y="2364175"/>
            <a:ext cx="979701" cy="626200"/>
          </a:xfrm>
          <a:prstGeom prst="straightConnector1">
            <a:avLst/>
          </a:prstGeom>
          <a:ln w="9525">
            <a:solidFill>
              <a:srgbClr val="142E42"/>
            </a:solidFill>
            <a:round/>
            <a:headEnd type="none" w="med" len="med"/>
            <a:tailEnd type="none" w="med" len="med"/>
          </a:ln>
        </p:spPr>
      </p:cxnSp>
      <p:cxnSp>
        <p:nvCxnSpPr>
          <p:cNvPr id="30" name="source-diagram-dg26-62">
            <a:extLst>
              <a:ext uri="{FF2B5EF4-FFF2-40B4-BE49-F238E27FC236}">
                <a16:creationId xmlns:a16="http://schemas.microsoft.com/office/drawing/2014/main" id="{AEF37E1B-ED97-4B01-9933-F0D683244947}"/>
              </a:ext>
            </a:extLst>
          </p:cNvPr>
          <p:cNvCxnSpPr/>
          <p:nvPr/>
        </p:nvCxnSpPr>
        <p:spPr>
          <a:xfrm flipH="1">
            <a:off x="5839709" y="3354001"/>
            <a:ext cx="434236" cy="572636"/>
          </a:xfrm>
          <a:prstGeom prst="straightConnector1">
            <a:avLst/>
          </a:prstGeom>
          <a:ln w="9525">
            <a:solidFill>
              <a:srgbClr val="142E42"/>
            </a:solidFill>
            <a:round/>
            <a:headEnd type="none" w="med" len="med"/>
            <a:tailEnd type="none" w="med" len="med"/>
          </a:ln>
        </p:spPr>
      </p:cxnSp>
      <p:cxnSp>
        <p:nvCxnSpPr>
          <p:cNvPr id="31" name="source-diagram-dg26-63">
            <a:extLst>
              <a:ext uri="{FF2B5EF4-FFF2-40B4-BE49-F238E27FC236}">
                <a16:creationId xmlns:a16="http://schemas.microsoft.com/office/drawing/2014/main" id="{1E109AC9-3E87-438A-B624-922104CFFB6C}"/>
              </a:ext>
            </a:extLst>
          </p:cNvPr>
          <p:cNvCxnSpPr/>
          <p:nvPr/>
        </p:nvCxnSpPr>
        <p:spPr>
          <a:xfrm>
            <a:off x="6568048" y="3354001"/>
            <a:ext cx="434235" cy="572636"/>
          </a:xfrm>
          <a:prstGeom prst="straightConnector1">
            <a:avLst/>
          </a:prstGeom>
          <a:ln w="9525">
            <a:solidFill>
              <a:srgbClr val="142E42"/>
            </a:solidFill>
            <a:round/>
            <a:headEnd type="none" w="med" len="med"/>
            <a:tailEnd type="none" w="med" len="med"/>
          </a:ln>
        </p:spPr>
      </p:cxnSp>
      <p:sp>
        <p:nvSpPr>
          <p:cNvPr id="32" name="source-diagram-dg26-64">
            <a:extLst>
              <a:ext uri="{FF2B5EF4-FFF2-40B4-BE49-F238E27FC236}">
                <a16:creationId xmlns:a16="http://schemas.microsoft.com/office/drawing/2014/main" id="{B5B3FE06-D08C-4ADB-818B-BD472977B74B}"/>
              </a:ext>
            </a:extLst>
          </p:cNvPr>
          <p:cNvSpPr>
            <a:spLocks noGrp="1"/>
          </p:cNvSpPr>
          <p:nvPr/>
        </p:nvSpPr>
        <p:spPr>
          <a:xfrm>
            <a:off x="9161348" y="3898381"/>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30</a:t>
            </a:r>
          </a:p>
        </p:txBody>
      </p:sp>
      <p:cxnSp>
        <p:nvCxnSpPr>
          <p:cNvPr id="33" name="source-diagram-dg26-65">
            <a:extLst>
              <a:ext uri="{FF2B5EF4-FFF2-40B4-BE49-F238E27FC236}">
                <a16:creationId xmlns:a16="http://schemas.microsoft.com/office/drawing/2014/main" id="{EB1A6808-231A-48E4-9571-F80B194A7E15}"/>
              </a:ext>
            </a:extLst>
          </p:cNvPr>
          <p:cNvCxnSpPr/>
          <p:nvPr/>
        </p:nvCxnSpPr>
        <p:spPr>
          <a:xfrm>
            <a:off x="9003662" y="3283969"/>
            <a:ext cx="365289" cy="614412"/>
          </a:xfrm>
          <a:prstGeom prst="straightConnector1">
            <a:avLst/>
          </a:prstGeom>
          <a:ln w="9525">
            <a:solidFill>
              <a:srgbClr val="142E42"/>
            </a:solidFill>
            <a:round/>
            <a:headEnd type="none" w="med" len="med"/>
            <a:tailEnd type="none" w="med" len="med"/>
          </a:ln>
        </p:spPr>
      </p:cxnSp>
      <p:sp>
        <p:nvSpPr>
          <p:cNvPr id="34" name="source-diagram-dg26-66">
            <a:extLst>
              <a:ext uri="{FF2B5EF4-FFF2-40B4-BE49-F238E27FC236}">
                <a16:creationId xmlns:a16="http://schemas.microsoft.com/office/drawing/2014/main" id="{DBF41DA2-49ED-491C-8813-44DECEB49CA7}"/>
              </a:ext>
            </a:extLst>
          </p:cNvPr>
          <p:cNvSpPr>
            <a:spLocks noGrp="1"/>
          </p:cNvSpPr>
          <p:nvPr/>
        </p:nvSpPr>
        <p:spPr>
          <a:xfrm>
            <a:off x="6504037" y="4916209"/>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7</a:t>
            </a:r>
          </a:p>
        </p:txBody>
      </p:sp>
      <p:cxnSp>
        <p:nvCxnSpPr>
          <p:cNvPr id="35" name="source-diagram-dg26-67">
            <a:extLst>
              <a:ext uri="{FF2B5EF4-FFF2-40B4-BE49-F238E27FC236}">
                <a16:creationId xmlns:a16="http://schemas.microsoft.com/office/drawing/2014/main" id="{64F304DF-B1D1-4C3F-BC12-E07BF659E63C}"/>
              </a:ext>
            </a:extLst>
          </p:cNvPr>
          <p:cNvCxnSpPr/>
          <p:nvPr/>
        </p:nvCxnSpPr>
        <p:spPr>
          <a:xfrm flipH="1">
            <a:off x="6711639" y="4322813"/>
            <a:ext cx="143592" cy="572636"/>
          </a:xfrm>
          <a:prstGeom prst="straightConnector1">
            <a:avLst/>
          </a:prstGeom>
          <a:ln w="9525">
            <a:solidFill>
              <a:srgbClr val="142E42"/>
            </a:solidFill>
            <a:round/>
            <a:headEnd type="none" w="med" len="med"/>
            <a:tailEnd type="none" w="med" len="med"/>
          </a:ln>
        </p:spPr>
      </p:cxnSp>
      <p:sp>
        <p:nvSpPr>
          <p:cNvPr id="36" name="source-diagram-dg26-68">
            <a:extLst>
              <a:ext uri="{FF2B5EF4-FFF2-40B4-BE49-F238E27FC236}">
                <a16:creationId xmlns:a16="http://schemas.microsoft.com/office/drawing/2014/main" id="{6BAD83BF-4FE0-4601-9BE1-DE2AA357A8C2}"/>
              </a:ext>
            </a:extLst>
          </p:cNvPr>
          <p:cNvSpPr>
            <a:spLocks noGrp="1"/>
          </p:cNvSpPr>
          <p:nvPr/>
        </p:nvSpPr>
        <p:spPr>
          <a:xfrm>
            <a:off x="7062834" y="4928320"/>
            <a:ext cx="415205" cy="415205"/>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242" b="0">
                <a:solidFill>
                  <a:srgbClr val="142E42"/>
                </a:solidFill>
                <a:latin typeface="Arial"/>
                <a:ea typeface="Arial"/>
                <a:cs typeface="Arial"/>
              </a:rPr>
              <a:t>10</a:t>
            </a:r>
          </a:p>
        </p:txBody>
      </p:sp>
      <p:cxnSp>
        <p:nvCxnSpPr>
          <p:cNvPr id="37" name="source-diagram-dg26-69">
            <a:extLst>
              <a:ext uri="{FF2B5EF4-FFF2-40B4-BE49-F238E27FC236}">
                <a16:creationId xmlns:a16="http://schemas.microsoft.com/office/drawing/2014/main" id="{F63B853E-A395-41C2-940E-F913671D8E82}"/>
              </a:ext>
            </a:extLst>
          </p:cNvPr>
          <p:cNvCxnSpPr/>
          <p:nvPr/>
        </p:nvCxnSpPr>
        <p:spPr>
          <a:xfrm>
            <a:off x="7126844" y="4334923"/>
            <a:ext cx="143592" cy="572637"/>
          </a:xfrm>
          <a:prstGeom prst="straightConnector1">
            <a:avLst/>
          </a:prstGeom>
          <a:ln w="9525">
            <a:solidFill>
              <a:srgbClr val="142E42"/>
            </a:solidFill>
            <a:round/>
            <a:headEnd type="none" w="med" len="med"/>
            <a:tailEnd type="none" w="med" len="med"/>
          </a:ln>
        </p:spPr>
      </p:cxnSp>
      <p:sp>
        <p:nvSpPr>
          <p:cNvPr id="39" name="local-java-DeletionDemo">
            <a:extLst>
              <a:ext uri="{FF2B5EF4-FFF2-40B4-BE49-F238E27FC236}">
                <a16:creationId xmlns:a16="http://schemas.microsoft.com/office/drawing/2014/main" id="{0D3AF8E6-81C6-46CF-988F-091D2A859680}"/>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DeletionDemo.java</a:t>
            </a:r>
          </a:p>
        </p:txBody>
      </p:sp>
      <p:sp>
        <p:nvSpPr>
          <p:cNvPr id="40" name="page">
            <a:extLst>
              <a:ext uri="{FF2B5EF4-FFF2-40B4-BE49-F238E27FC236}">
                <a16:creationId xmlns:a16="http://schemas.microsoft.com/office/drawing/2014/main" id="{5CCA372E-B56D-463A-BE25-BE38BCAEF43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34</a:t>
            </a:r>
          </a:p>
        </p:txBody>
      </p:sp>
    </p:spTree>
    <p:extLst>
      <p:ext uri="{BB962C8B-B14F-4D97-AF65-F5344CB8AC3E}">
        <p14:creationId xmlns:p14="http://schemas.microsoft.com/office/powerpoint/2010/main" val="1569209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3" name="text-0">
            <a:extLst>
              <a:ext uri="{FF2B5EF4-FFF2-40B4-BE49-F238E27FC236}">
                <a16:creationId xmlns:a16="http://schemas.microsoft.com/office/drawing/2014/main" id="{849893A6-494B-49D0-810F-878DEAF4BD29}"/>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Two children: deletion uses a neighboring key</a:t>
            </a:r>
          </a:p>
        </p:txBody>
      </p:sp>
      <p:sp>
        <p:nvSpPr>
          <p:cNvPr id="3" name="text-2">
            <a:extLst>
              <a:ext uri="{FF2B5EF4-FFF2-40B4-BE49-F238E27FC236}">
                <a16:creationId xmlns:a16="http://schemas.microsoft.com/office/drawing/2014/main" id="{63224B36-F729-4B72-8F9C-7FCC1D43C435}"/>
              </a:ext>
            </a:extLst>
          </p:cNvPr>
          <p:cNvSpPr>
            <a:spLocks noGrp="1"/>
          </p:cNvSpPr>
          <p:nvPr/>
        </p:nvSpPr>
        <p:spPr>
          <a:xfrm>
            <a:off x="609600" y="1571625"/>
            <a:ext cx="6191250" cy="4095750"/>
          </a:xfrm>
          <a:prstGeom prst="rect">
            <a:avLst/>
          </a:prstGeom>
          <a:noFill/>
          <a:ln w="0">
            <a:noFill/>
          </a:ln>
        </p:spPr>
        <p:txBody>
          <a:bodyPr lIns="0" tIns="0" rIns="0" bIns="0" anchor="t"/>
          <a:lstStyle>
            <a:defPPr algn="l">
              <a:defRPr sz="2100" b="0">
                <a:solidFill>
                  <a:srgbClr val="142E42"/>
                </a:solidFill>
                <a:latin typeface="Arial"/>
                <a:ea typeface="Arial"/>
                <a:cs typeface="Arial"/>
              </a:defRPr>
            </a:defPPr>
            <a:lvl1pPr algn="l">
              <a:buNone/>
              <a:defRPr sz="2100" b="0">
                <a:solidFill>
                  <a:srgbClr val="142E42"/>
                </a:solidFill>
                <a:latin typeface="Arial"/>
                <a:ea typeface="Arial"/>
                <a:cs typeface="Arial"/>
              </a:defRPr>
            </a:lvl1pPr>
            <a:lvl2pPr algn="l">
              <a:buNone/>
              <a:defRPr sz="2100" b="0">
                <a:solidFill>
                  <a:srgbClr val="142E42"/>
                </a:solidFill>
                <a:latin typeface="Arial"/>
                <a:ea typeface="Arial"/>
                <a:cs typeface="Arial"/>
              </a:defRPr>
            </a:lvl2pPr>
            <a:lvl3pPr algn="l">
              <a:buNone/>
              <a:defRPr sz="2100" b="0">
                <a:solidFill>
                  <a:srgbClr val="142E42"/>
                </a:solidFill>
                <a:latin typeface="Arial"/>
                <a:ea typeface="Arial"/>
                <a:cs typeface="Arial"/>
              </a:defRPr>
            </a:lvl3pPr>
            <a:lvl4pPr algn="l">
              <a:buNone/>
              <a:defRPr sz="2100" b="0">
                <a:solidFill>
                  <a:srgbClr val="142E42"/>
                </a:solidFill>
                <a:latin typeface="Arial"/>
                <a:ea typeface="Arial"/>
                <a:cs typeface="Arial"/>
              </a:defRPr>
            </a:lvl4pPr>
            <a:lvl5pPr algn="l">
              <a:buNone/>
              <a:defRPr sz="2100" b="0">
                <a:solidFill>
                  <a:srgbClr val="142E42"/>
                </a:solidFill>
                <a:latin typeface="Arial"/>
                <a:ea typeface="Arial"/>
                <a:cs typeface="Arial"/>
              </a:defRPr>
            </a:lvl5pPr>
            <a:lvl6pPr algn="l">
              <a:buNone/>
              <a:defRPr sz="2100" b="0">
                <a:solidFill>
                  <a:srgbClr val="142E42"/>
                </a:solidFill>
                <a:latin typeface="Arial"/>
                <a:ea typeface="Arial"/>
                <a:cs typeface="Arial"/>
              </a:defRPr>
            </a:lvl6pPr>
            <a:lvl7pPr algn="l">
              <a:buNone/>
              <a:defRPr sz="2100" b="0">
                <a:solidFill>
                  <a:srgbClr val="142E42"/>
                </a:solidFill>
                <a:latin typeface="Arial"/>
                <a:ea typeface="Arial"/>
                <a:cs typeface="Arial"/>
              </a:defRPr>
            </a:lvl7pPr>
            <a:lvl8pPr algn="l">
              <a:buNone/>
              <a:defRPr sz="2100" b="0">
                <a:solidFill>
                  <a:srgbClr val="142E42"/>
                </a:solidFill>
                <a:latin typeface="Arial"/>
                <a:ea typeface="Arial"/>
                <a:cs typeface="Arial"/>
              </a:defRPr>
            </a:lvl8pPr>
            <a:lvl9pPr algn="l">
              <a:buNone/>
              <a:defRPr sz="2100" b="0">
                <a:solidFill>
                  <a:srgbClr val="142E42"/>
                </a:solidFill>
                <a:latin typeface="Arial"/>
                <a:ea typeface="Arial"/>
                <a:cs typeface="Arial"/>
              </a:defRPr>
            </a:lvl9pPr>
          </a:lstStyle>
          <a:p>
            <a:pPr algn="l">
              <a:buNone/>
              <a:defRPr sz="2100" b="0">
                <a:solidFill>
                  <a:srgbClr val="142E42"/>
                </a:solidFill>
                <a:latin typeface="Arial"/>
                <a:ea typeface="Arial"/>
                <a:cs typeface="Arial"/>
              </a:defRPr>
            </a:pPr>
            <a:r>
              <a:rPr sz="2100" b="0">
                <a:solidFill>
                  <a:srgbClr val="142E42"/>
                </a:solidFill>
                <a:latin typeface="Arial"/>
                <a:ea typeface="Arial"/>
                <a:cs typeface="Arial"/>
              </a:rPr>
              <a:t>Delete 12 using its successor.</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1. Find the minimum in the right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   subtree: key 15.</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2. Copy 15 into the root.</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3. Remove the original node 15,</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   reconnecting its child 20.</a:t>
            </a:r>
          </a:p>
          <a:p>
            <a:endParaRPr sz="2100" b="0">
              <a:solidFill>
                <a:srgbClr val="142E42"/>
              </a:solidFill>
              <a:latin typeface="Arial"/>
              <a:ea typeface="Arial"/>
              <a:cs typeface="Arial"/>
            </a:endParaRPr>
          </a:p>
          <a:p>
            <a:pPr algn="l">
              <a:buNone/>
              <a:defRPr sz="2100" b="0">
                <a:solidFill>
                  <a:srgbClr val="142E42"/>
                </a:solidFill>
                <a:latin typeface="Arial"/>
                <a:ea typeface="Arial"/>
                <a:cs typeface="Arial"/>
              </a:defRPr>
            </a:pPr>
            <a:r>
              <a:rPr sz="2100" b="0">
                <a:solidFill>
                  <a:srgbClr val="142E42"/>
                </a:solidFill>
                <a:latin typeface="Arial"/>
                <a:ea typeface="Arial"/>
                <a:cs typeface="Arial"/>
              </a:rPr>
              <a:t>The predecessor is an equally</a:t>
            </a:r>
          </a:p>
          <a:p>
            <a:pPr algn="l">
              <a:buNone/>
              <a:defRPr sz="2100" b="0">
                <a:solidFill>
                  <a:srgbClr val="142E42"/>
                </a:solidFill>
                <a:latin typeface="Arial"/>
                <a:ea typeface="Arial"/>
                <a:cs typeface="Arial"/>
              </a:defRPr>
            </a:pPr>
            <a:r>
              <a:rPr sz="2100" b="0">
                <a:solidFill>
                  <a:srgbClr val="142E42"/>
                </a:solidFill>
                <a:latin typeface="Arial"/>
                <a:ea typeface="Arial"/>
                <a:cs typeface="Arial"/>
              </a:rPr>
              <a:t>valid alternative.</a:t>
            </a:r>
          </a:p>
        </p:txBody>
      </p:sp>
      <p:sp>
        <p:nvSpPr>
          <p:cNvPr id="4" name="source-diagram-dg27-9">
            <a:extLst>
              <a:ext uri="{FF2B5EF4-FFF2-40B4-BE49-F238E27FC236}">
                <a16:creationId xmlns:a16="http://schemas.microsoft.com/office/drawing/2014/main" id="{F62719C6-42B9-4309-881C-F8A52C06A62F}"/>
              </a:ext>
            </a:extLst>
          </p:cNvPr>
          <p:cNvSpPr>
            <a:spLocks noGrp="1"/>
          </p:cNvSpPr>
          <p:nvPr/>
        </p:nvSpPr>
        <p:spPr>
          <a:xfrm>
            <a:off x="9809604" y="3896772"/>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20</a:t>
            </a:r>
          </a:p>
        </p:txBody>
      </p:sp>
      <p:sp>
        <p:nvSpPr>
          <p:cNvPr id="5" name="source-diagram-dg27-10">
            <a:extLst>
              <a:ext uri="{FF2B5EF4-FFF2-40B4-BE49-F238E27FC236}">
                <a16:creationId xmlns:a16="http://schemas.microsoft.com/office/drawing/2014/main" id="{2567BE03-53D1-4EFC-BF61-319BBF18C597}"/>
              </a:ext>
            </a:extLst>
          </p:cNvPr>
          <p:cNvSpPr>
            <a:spLocks noGrp="1"/>
          </p:cNvSpPr>
          <p:nvPr/>
        </p:nvSpPr>
        <p:spPr>
          <a:xfrm>
            <a:off x="8592777" y="3896772"/>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9</a:t>
            </a:r>
          </a:p>
        </p:txBody>
      </p:sp>
      <p:sp>
        <p:nvSpPr>
          <p:cNvPr id="6" name="source-diagram-dg27-11">
            <a:extLst>
              <a:ext uri="{FF2B5EF4-FFF2-40B4-BE49-F238E27FC236}">
                <a16:creationId xmlns:a16="http://schemas.microsoft.com/office/drawing/2014/main" id="{DC55B831-7718-40A3-BA4F-1E8250BCAD60}"/>
              </a:ext>
            </a:extLst>
          </p:cNvPr>
          <p:cNvSpPr>
            <a:spLocks noGrp="1"/>
          </p:cNvSpPr>
          <p:nvPr/>
        </p:nvSpPr>
        <p:spPr>
          <a:xfrm>
            <a:off x="7572375" y="3896772"/>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2</a:t>
            </a:r>
          </a:p>
        </p:txBody>
      </p:sp>
      <p:sp>
        <p:nvSpPr>
          <p:cNvPr id="7" name="source-diagram-dg27-12">
            <a:extLst>
              <a:ext uri="{FF2B5EF4-FFF2-40B4-BE49-F238E27FC236}">
                <a16:creationId xmlns:a16="http://schemas.microsoft.com/office/drawing/2014/main" id="{9EC5A00A-53EB-4E99-B11F-FDF990A628BB}"/>
              </a:ext>
            </a:extLst>
          </p:cNvPr>
          <p:cNvSpPr>
            <a:spLocks noGrp="1"/>
          </p:cNvSpPr>
          <p:nvPr/>
        </p:nvSpPr>
        <p:spPr>
          <a:xfrm>
            <a:off x="9250297" y="2734199"/>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15</a:t>
            </a:r>
          </a:p>
        </p:txBody>
      </p:sp>
      <p:sp>
        <p:nvSpPr>
          <p:cNvPr id="8" name="source-diagram-dg27-13">
            <a:extLst>
              <a:ext uri="{FF2B5EF4-FFF2-40B4-BE49-F238E27FC236}">
                <a16:creationId xmlns:a16="http://schemas.microsoft.com/office/drawing/2014/main" id="{C2D074B4-8767-47E4-B269-88365596B3CF}"/>
              </a:ext>
            </a:extLst>
          </p:cNvPr>
          <p:cNvSpPr>
            <a:spLocks noGrp="1"/>
          </p:cNvSpPr>
          <p:nvPr/>
        </p:nvSpPr>
        <p:spPr>
          <a:xfrm>
            <a:off x="8033470" y="2734199"/>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5</a:t>
            </a:r>
          </a:p>
        </p:txBody>
      </p:sp>
      <p:sp>
        <p:nvSpPr>
          <p:cNvPr id="9" name="source-diagram-dg27-14">
            <a:extLst>
              <a:ext uri="{FF2B5EF4-FFF2-40B4-BE49-F238E27FC236}">
                <a16:creationId xmlns:a16="http://schemas.microsoft.com/office/drawing/2014/main" id="{D1FE3577-6037-4F40-9DBE-DE9DEBE7D726}"/>
              </a:ext>
            </a:extLst>
          </p:cNvPr>
          <p:cNvSpPr>
            <a:spLocks noGrp="1"/>
          </p:cNvSpPr>
          <p:nvPr/>
        </p:nvSpPr>
        <p:spPr>
          <a:xfrm>
            <a:off x="8611088" y="1571625"/>
            <a:ext cx="399505" cy="498246"/>
          </a:xfrm>
          <a:prstGeom prst="ellipse">
            <a:avLst/>
          </a:prstGeom>
          <a:solidFill>
            <a:srgbClr val="007C83"/>
          </a:solidFill>
          <a:ln w="38100">
            <a:solidFill>
              <a:srgbClr val="142E42"/>
            </a:solidFill>
            <a:round/>
          </a:ln>
        </p:spPr>
        <p:txBody>
          <a:bodyPr wrap="square" lIns="0" tIns="0" rIns="0" bIns="0" anchor="ctr"/>
          <a:lstStyle/>
          <a:p>
            <a:pPr marL="0" indent="0" algn="ctr">
              <a:buNone/>
            </a:pPr>
            <a:r>
              <a:rPr sz="1195" b="0">
                <a:solidFill>
                  <a:srgbClr val="FFFFFF"/>
                </a:solidFill>
                <a:latin typeface="Arial"/>
                <a:ea typeface="Arial"/>
                <a:cs typeface="Arial"/>
              </a:rPr>
              <a:t>12</a:t>
            </a:r>
          </a:p>
        </p:txBody>
      </p:sp>
      <p:cxnSp>
        <p:nvCxnSpPr>
          <p:cNvPr id="10" name="source-diagram-dg27-15">
            <a:extLst>
              <a:ext uri="{FF2B5EF4-FFF2-40B4-BE49-F238E27FC236}">
                <a16:creationId xmlns:a16="http://schemas.microsoft.com/office/drawing/2014/main" id="{998F5ADE-CCB3-43E2-8A1A-0E0E793D38F0}"/>
              </a:ext>
            </a:extLst>
          </p:cNvPr>
          <p:cNvCxnSpPr/>
          <p:nvPr/>
        </p:nvCxnSpPr>
        <p:spPr>
          <a:xfrm rot="5400000">
            <a:off x="8155819" y="2093440"/>
            <a:ext cx="591180" cy="544224"/>
          </a:xfrm>
          <a:prstGeom prst="straightConnector1">
            <a:avLst/>
          </a:prstGeom>
          <a:ln w="9525">
            <a:solidFill>
              <a:srgbClr val="142E42"/>
            </a:solidFill>
            <a:round/>
            <a:headEnd type="none" w="med" len="med"/>
            <a:tailEnd type="none" w="med" len="med"/>
          </a:ln>
        </p:spPr>
      </p:cxnSp>
      <p:cxnSp>
        <p:nvCxnSpPr>
          <p:cNvPr id="11" name="source-diagram-dg27-16">
            <a:extLst>
              <a:ext uri="{FF2B5EF4-FFF2-40B4-BE49-F238E27FC236}">
                <a16:creationId xmlns:a16="http://schemas.microsoft.com/office/drawing/2014/main" id="{01F91A2E-1FEC-4647-A26F-009989F4F460}"/>
              </a:ext>
            </a:extLst>
          </p:cNvPr>
          <p:cNvCxnSpPr/>
          <p:nvPr/>
        </p:nvCxnSpPr>
        <p:spPr>
          <a:xfrm rot="16200000" flipH="1">
            <a:off x="8905479" y="2055034"/>
            <a:ext cx="591180" cy="621037"/>
          </a:xfrm>
          <a:prstGeom prst="straightConnector1">
            <a:avLst/>
          </a:prstGeom>
          <a:ln w="9525">
            <a:solidFill>
              <a:srgbClr val="142E42"/>
            </a:solidFill>
            <a:round/>
            <a:headEnd type="none" w="med" len="med"/>
            <a:tailEnd type="none" w="med" len="med"/>
          </a:ln>
        </p:spPr>
      </p:cxnSp>
      <p:cxnSp>
        <p:nvCxnSpPr>
          <p:cNvPr id="12" name="source-diagram-dg27-17">
            <a:extLst>
              <a:ext uri="{FF2B5EF4-FFF2-40B4-BE49-F238E27FC236}">
                <a16:creationId xmlns:a16="http://schemas.microsoft.com/office/drawing/2014/main" id="{2F4F4803-D2BB-4FDE-BB95-094BC38909D1}"/>
              </a:ext>
            </a:extLst>
          </p:cNvPr>
          <p:cNvCxnSpPr/>
          <p:nvPr/>
        </p:nvCxnSpPr>
        <p:spPr>
          <a:xfrm>
            <a:off x="9591541" y="3184697"/>
            <a:ext cx="417815" cy="687164"/>
          </a:xfrm>
          <a:prstGeom prst="straightConnector1">
            <a:avLst/>
          </a:prstGeom>
          <a:ln w="9525">
            <a:solidFill>
              <a:srgbClr val="142E42"/>
            </a:solidFill>
            <a:round/>
            <a:headEnd type="none" w="med" len="med"/>
            <a:tailEnd type="none" w="med" len="med"/>
          </a:ln>
        </p:spPr>
      </p:cxnSp>
      <p:cxnSp>
        <p:nvCxnSpPr>
          <p:cNvPr id="13" name="source-diagram-dg27-18">
            <a:extLst>
              <a:ext uri="{FF2B5EF4-FFF2-40B4-BE49-F238E27FC236}">
                <a16:creationId xmlns:a16="http://schemas.microsoft.com/office/drawing/2014/main" id="{DEC49945-7B3D-4575-888A-095A846B237A}"/>
              </a:ext>
            </a:extLst>
          </p:cNvPr>
          <p:cNvCxnSpPr/>
          <p:nvPr/>
        </p:nvCxnSpPr>
        <p:spPr>
          <a:xfrm rot="5400000">
            <a:off x="7636463" y="3328676"/>
            <a:ext cx="591180" cy="398901"/>
          </a:xfrm>
          <a:prstGeom prst="straightConnector1">
            <a:avLst/>
          </a:prstGeom>
          <a:ln w="9525">
            <a:solidFill>
              <a:srgbClr val="142E42"/>
            </a:solidFill>
            <a:round/>
            <a:headEnd type="none" w="med" len="med"/>
            <a:tailEnd type="none" w="med" len="med"/>
          </a:ln>
        </p:spPr>
      </p:cxnSp>
      <p:cxnSp>
        <p:nvCxnSpPr>
          <p:cNvPr id="14" name="source-diagram-dg27-19">
            <a:extLst>
              <a:ext uri="{FF2B5EF4-FFF2-40B4-BE49-F238E27FC236}">
                <a16:creationId xmlns:a16="http://schemas.microsoft.com/office/drawing/2014/main" id="{B74E947E-80CA-4024-8A68-295FAF7A541F}"/>
              </a:ext>
            </a:extLst>
          </p:cNvPr>
          <p:cNvCxnSpPr/>
          <p:nvPr/>
        </p:nvCxnSpPr>
        <p:spPr>
          <a:xfrm>
            <a:off x="8374715" y="3184697"/>
            <a:ext cx="417815" cy="687164"/>
          </a:xfrm>
          <a:prstGeom prst="straightConnector1">
            <a:avLst/>
          </a:prstGeom>
          <a:ln w="9525">
            <a:solidFill>
              <a:srgbClr val="142E42"/>
            </a:solidFill>
            <a:round/>
            <a:headEnd type="none" w="med" len="med"/>
            <a:tailEnd type="none" w="med" len="med"/>
          </a:ln>
        </p:spPr>
      </p:cxnSp>
      <p:sp>
        <p:nvSpPr>
          <p:cNvPr id="15" name="source-diagram-dg27-20">
            <a:extLst>
              <a:ext uri="{FF2B5EF4-FFF2-40B4-BE49-F238E27FC236}">
                <a16:creationId xmlns:a16="http://schemas.microsoft.com/office/drawing/2014/main" id="{253C63BB-6E59-4FCF-93C5-A2DC9E5CC886}"/>
              </a:ext>
            </a:extLst>
          </p:cNvPr>
          <p:cNvSpPr>
            <a:spLocks noGrp="1"/>
          </p:cNvSpPr>
          <p:nvPr/>
        </p:nvSpPr>
        <p:spPr>
          <a:xfrm>
            <a:off x="10089258" y="505934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30</a:t>
            </a:r>
          </a:p>
        </p:txBody>
      </p:sp>
      <p:cxnSp>
        <p:nvCxnSpPr>
          <p:cNvPr id="16" name="source-diagram-dg27-21">
            <a:extLst>
              <a:ext uri="{FF2B5EF4-FFF2-40B4-BE49-F238E27FC236}">
                <a16:creationId xmlns:a16="http://schemas.microsoft.com/office/drawing/2014/main" id="{35511BBF-5483-465E-82D9-B1F7998A1FA5}"/>
              </a:ext>
            </a:extLst>
          </p:cNvPr>
          <p:cNvCxnSpPr/>
          <p:nvPr/>
        </p:nvCxnSpPr>
        <p:spPr>
          <a:xfrm>
            <a:off x="10150848" y="4347270"/>
            <a:ext cx="138162" cy="687164"/>
          </a:xfrm>
          <a:prstGeom prst="straightConnector1">
            <a:avLst/>
          </a:prstGeom>
          <a:ln w="9525">
            <a:solidFill>
              <a:srgbClr val="142E42"/>
            </a:solidFill>
            <a:round/>
            <a:headEnd type="none" w="med" len="med"/>
            <a:tailEnd type="none" w="med" len="med"/>
          </a:ln>
        </p:spPr>
      </p:cxnSp>
      <p:sp>
        <p:nvSpPr>
          <p:cNvPr id="17" name="source-diagram-dg27-22">
            <a:extLst>
              <a:ext uri="{FF2B5EF4-FFF2-40B4-BE49-F238E27FC236}">
                <a16:creationId xmlns:a16="http://schemas.microsoft.com/office/drawing/2014/main" id="{D8B88EEB-FAE2-4582-BDF1-B4D9F7C88079}"/>
              </a:ext>
            </a:extLst>
          </p:cNvPr>
          <p:cNvSpPr>
            <a:spLocks noGrp="1"/>
          </p:cNvSpPr>
          <p:nvPr/>
        </p:nvSpPr>
        <p:spPr>
          <a:xfrm>
            <a:off x="8313124" y="505934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7</a:t>
            </a:r>
          </a:p>
        </p:txBody>
      </p:sp>
      <p:cxnSp>
        <p:nvCxnSpPr>
          <p:cNvPr id="18" name="source-diagram-dg27-23">
            <a:extLst>
              <a:ext uri="{FF2B5EF4-FFF2-40B4-BE49-F238E27FC236}">
                <a16:creationId xmlns:a16="http://schemas.microsoft.com/office/drawing/2014/main" id="{1ABD4E3F-3E0C-4FB9-A552-8D0630D24DEB}"/>
              </a:ext>
            </a:extLst>
          </p:cNvPr>
          <p:cNvCxnSpPr/>
          <p:nvPr/>
        </p:nvCxnSpPr>
        <p:spPr>
          <a:xfrm flipH="1">
            <a:off x="8512876" y="4347270"/>
            <a:ext cx="138163" cy="687164"/>
          </a:xfrm>
          <a:prstGeom prst="straightConnector1">
            <a:avLst/>
          </a:prstGeom>
          <a:ln w="9525">
            <a:solidFill>
              <a:srgbClr val="142E42"/>
            </a:solidFill>
            <a:round/>
            <a:headEnd type="none" w="med" len="med"/>
            <a:tailEnd type="none" w="med" len="med"/>
          </a:ln>
        </p:spPr>
      </p:cxnSp>
      <p:sp>
        <p:nvSpPr>
          <p:cNvPr id="19" name="source-diagram-dg27-24">
            <a:extLst>
              <a:ext uri="{FF2B5EF4-FFF2-40B4-BE49-F238E27FC236}">
                <a16:creationId xmlns:a16="http://schemas.microsoft.com/office/drawing/2014/main" id="{9CDD99C4-8213-4398-9DE9-1E7CE9A9C277}"/>
              </a:ext>
            </a:extLst>
          </p:cNvPr>
          <p:cNvSpPr>
            <a:spLocks noGrp="1"/>
          </p:cNvSpPr>
          <p:nvPr/>
        </p:nvSpPr>
        <p:spPr>
          <a:xfrm>
            <a:off x="9529950" y="5048967"/>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17</a:t>
            </a:r>
          </a:p>
        </p:txBody>
      </p:sp>
      <p:cxnSp>
        <p:nvCxnSpPr>
          <p:cNvPr id="20" name="source-diagram-dg27-25">
            <a:extLst>
              <a:ext uri="{FF2B5EF4-FFF2-40B4-BE49-F238E27FC236}">
                <a16:creationId xmlns:a16="http://schemas.microsoft.com/office/drawing/2014/main" id="{E6AC11E2-E30D-4414-9708-84018D755171}"/>
              </a:ext>
            </a:extLst>
          </p:cNvPr>
          <p:cNvCxnSpPr/>
          <p:nvPr/>
        </p:nvCxnSpPr>
        <p:spPr>
          <a:xfrm flipH="1">
            <a:off x="9729703" y="4347270"/>
            <a:ext cx="138163" cy="676784"/>
          </a:xfrm>
          <a:prstGeom prst="straightConnector1">
            <a:avLst/>
          </a:prstGeom>
          <a:ln w="9525">
            <a:solidFill>
              <a:srgbClr val="142E42"/>
            </a:solidFill>
            <a:round/>
            <a:headEnd type="none" w="med" len="med"/>
            <a:tailEnd type="none" w="med" len="med"/>
          </a:ln>
        </p:spPr>
      </p:cxnSp>
      <p:sp>
        <p:nvSpPr>
          <p:cNvPr id="21" name="source-diagram-dg27-26">
            <a:extLst>
              <a:ext uri="{FF2B5EF4-FFF2-40B4-BE49-F238E27FC236}">
                <a16:creationId xmlns:a16="http://schemas.microsoft.com/office/drawing/2014/main" id="{99EF9087-4EEF-44CD-80C3-9E7ADE0CAF8A}"/>
              </a:ext>
            </a:extLst>
          </p:cNvPr>
          <p:cNvSpPr>
            <a:spLocks noGrp="1"/>
          </p:cNvSpPr>
          <p:nvPr/>
        </p:nvSpPr>
        <p:spPr>
          <a:xfrm>
            <a:off x="8850792" y="5073879"/>
            <a:ext cx="399505" cy="498246"/>
          </a:xfrm>
          <a:prstGeom prst="ellipse">
            <a:avLst/>
          </a:prstGeom>
          <a:solidFill>
            <a:srgbClr val="E5EEF2"/>
          </a:solidFill>
          <a:ln w="38100">
            <a:solidFill>
              <a:srgbClr val="142E42"/>
            </a:solidFill>
            <a:round/>
          </a:ln>
        </p:spPr>
        <p:txBody>
          <a:bodyPr wrap="square" lIns="0" tIns="0" rIns="0" bIns="0" anchor="ctr"/>
          <a:lstStyle/>
          <a:p>
            <a:pPr marL="0" indent="0" algn="ctr">
              <a:buNone/>
            </a:pPr>
            <a:r>
              <a:rPr sz="1195" b="0">
                <a:solidFill>
                  <a:srgbClr val="142E42"/>
                </a:solidFill>
                <a:latin typeface="Arial"/>
                <a:ea typeface="Arial"/>
                <a:cs typeface="Arial"/>
              </a:rPr>
              <a:t>10</a:t>
            </a:r>
          </a:p>
        </p:txBody>
      </p:sp>
      <p:cxnSp>
        <p:nvCxnSpPr>
          <p:cNvPr id="22" name="source-diagram-dg27-27">
            <a:extLst>
              <a:ext uri="{FF2B5EF4-FFF2-40B4-BE49-F238E27FC236}">
                <a16:creationId xmlns:a16="http://schemas.microsoft.com/office/drawing/2014/main" id="{EC9D0745-DCB9-4A08-B455-59C0499BA07B}"/>
              </a:ext>
            </a:extLst>
          </p:cNvPr>
          <p:cNvCxnSpPr/>
          <p:nvPr/>
        </p:nvCxnSpPr>
        <p:spPr>
          <a:xfrm>
            <a:off x="8912381" y="4361803"/>
            <a:ext cx="138163" cy="687165"/>
          </a:xfrm>
          <a:prstGeom prst="straightConnector1">
            <a:avLst/>
          </a:prstGeom>
          <a:ln w="9525">
            <a:solidFill>
              <a:srgbClr val="142E42"/>
            </a:solidFill>
            <a:round/>
            <a:headEnd type="none" w="med" len="med"/>
            <a:tailEnd type="none" w="med" len="med"/>
          </a:ln>
        </p:spPr>
      </p:cxnSp>
      <p:sp>
        <p:nvSpPr>
          <p:cNvPr id="24" name="local-java-DeletionDemo">
            <a:extLst>
              <a:ext uri="{FF2B5EF4-FFF2-40B4-BE49-F238E27FC236}">
                <a16:creationId xmlns:a16="http://schemas.microsoft.com/office/drawing/2014/main" id="{88D6C1B7-9A09-4E81-9072-7548FA58102D}"/>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DeletionDemo.java</a:t>
            </a:r>
          </a:p>
        </p:txBody>
      </p:sp>
      <p:sp>
        <p:nvSpPr>
          <p:cNvPr id="25" name="page">
            <a:extLst>
              <a:ext uri="{FF2B5EF4-FFF2-40B4-BE49-F238E27FC236}">
                <a16:creationId xmlns:a16="http://schemas.microsoft.com/office/drawing/2014/main" id="{2D37E9E2-8DEE-48B7-92DF-270B405904BA}"/>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35</a:t>
            </a:r>
          </a:p>
        </p:txBody>
      </p:sp>
    </p:spTree>
    <p:extLst>
      <p:ext uri="{BB962C8B-B14F-4D97-AF65-F5344CB8AC3E}">
        <p14:creationId xmlns:p14="http://schemas.microsoft.com/office/powerpoint/2010/main" val="567759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5" name="title">
            <a:extLst>
              <a:ext uri="{FF2B5EF4-FFF2-40B4-BE49-F238E27FC236}">
                <a16:creationId xmlns:a16="http://schemas.microsoft.com/office/drawing/2014/main" id="{15384473-9B91-4A25-AB01-1FBE33C773DC}"/>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deleting a root with two children</a:t>
            </a:r>
          </a:p>
        </p:txBody>
      </p:sp>
      <p:sp>
        <p:nvSpPr>
          <p:cNvPr id="2" name="questions">
            <a:extLst>
              <a:ext uri="{FF2B5EF4-FFF2-40B4-BE49-F238E27FC236}">
                <a16:creationId xmlns:a16="http://schemas.microsoft.com/office/drawing/2014/main" id="{B3D11C34-4FB3-4AE9-855A-44FDADED7256}"/>
              </a:ext>
            </a:extLst>
          </p:cNvPr>
          <p:cNvSpPr>
            <a:spLocks noGrp="1"/>
          </p:cNvSpPr>
          <p:nvPr/>
        </p:nvSpPr>
        <p:spPr>
          <a:xfrm>
            <a:off x="609600" y="1657350"/>
            <a:ext cx="6191250" cy="361950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Use the tree shown, independently</a:t>
            </a:r>
          </a:p>
          <a:p>
            <a:pPr>
              <a:defRPr sz="2100" b="0">
                <a:solidFill>
                  <a:srgbClr val="153143"/>
                </a:solidFill>
                <a:latin typeface="Arial"/>
                <a:ea typeface="Arial"/>
                <a:cs typeface="Arial"/>
              </a:defRPr>
            </a:pPr>
            <a:r>
              <a:rPr sz="2100" b="0">
                <a:solidFill>
                  <a:srgbClr val="153143"/>
                </a:solidFill>
                <a:latin typeface="Arial"/>
                <a:ea typeface="Arial"/>
                <a:cs typeface="Arial"/>
              </a:rPr>
              <a:t>of earlier deletion examples.</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Delete 12 using its successor.</a:t>
            </a:r>
          </a:p>
          <a:p>
            <a:pPr>
              <a:defRPr sz="2100" b="0">
                <a:solidFill>
                  <a:srgbClr val="153143"/>
                </a:solidFill>
                <a:latin typeface="Arial"/>
                <a:ea typeface="Arial"/>
                <a:cs typeface="Arial"/>
              </a:defRPr>
            </a:pPr>
            <a:r>
              <a:rPr sz="2100" b="0">
                <a:solidFill>
                  <a:srgbClr val="153143"/>
                </a:solidFill>
                <a:latin typeface="Arial"/>
                <a:ea typeface="Arial"/>
                <a:cs typeface="Arial"/>
              </a:rPr>
              <a:t>1. Which key becomes the root?</a:t>
            </a:r>
          </a:p>
          <a:p>
            <a:pPr>
              <a:defRPr sz="2100" b="0">
                <a:solidFill>
                  <a:srgbClr val="153143"/>
                </a:solidFill>
                <a:latin typeface="Arial"/>
                <a:ea typeface="Arial"/>
                <a:cs typeface="Arial"/>
              </a:defRPr>
            </a:pPr>
            <a:r>
              <a:rPr sz="2100" b="0">
                <a:solidFill>
                  <a:srgbClr val="153143"/>
                </a:solidFill>
                <a:latin typeface="Arial"/>
                <a:ea typeface="Arial"/>
                <a:cs typeface="Arial"/>
              </a:rPr>
              <a:t>2. Which original node disappears?</a:t>
            </a:r>
          </a:p>
          <a:p>
            <a:pPr>
              <a:defRPr sz="2100" b="0">
                <a:solidFill>
                  <a:srgbClr val="153143"/>
                </a:solidFill>
                <a:latin typeface="Arial"/>
                <a:ea typeface="Arial"/>
                <a:cs typeface="Arial"/>
              </a:defRPr>
            </a:pPr>
            <a:r>
              <a:rPr sz="2100" b="0">
                <a:solidFill>
                  <a:srgbClr val="153143"/>
                </a:solidFill>
                <a:latin typeface="Arial"/>
                <a:ea typeface="Arial"/>
                <a:cs typeface="Arial"/>
              </a:rPr>
              <a:t>3. Where does subtree 20 reconnect?</a:t>
            </a:r>
          </a:p>
          <a:p>
            <a:pPr>
              <a:defRPr sz="2100" b="0">
                <a:solidFill>
                  <a:srgbClr val="153143"/>
                </a:solidFill>
                <a:latin typeface="Arial"/>
                <a:ea typeface="Arial"/>
                <a:cs typeface="Arial"/>
              </a:defRPr>
            </a:pPr>
            <a:r>
              <a:rPr sz="2100" b="0">
                <a:solidFill>
                  <a:srgbClr val="153143"/>
                </a:solidFill>
                <a:latin typeface="Arial"/>
                <a:ea typeface="Arial"/>
                <a:cs typeface="Arial"/>
              </a:rPr>
              <a:t>4. Which keys remain in inorder?</a:t>
            </a:r>
          </a:p>
        </p:txBody>
      </p:sp>
      <p:sp>
        <p:nvSpPr>
          <p:cNvPr id="3" name="edge-0-1">
            <a:extLst>
              <a:ext uri="{FF2B5EF4-FFF2-40B4-BE49-F238E27FC236}">
                <a16:creationId xmlns:a16="http://schemas.microsoft.com/office/drawing/2014/main" id="{F64E2F9B-1AAF-4141-AC32-A23DC5E63C2A}"/>
              </a:ext>
            </a:extLst>
          </p:cNvPr>
          <p:cNvSpPr>
            <a:spLocks noGrp="1"/>
          </p:cNvSpPr>
          <p:nvPr/>
        </p:nvSpPr>
        <p:spPr>
          <a:xfrm flipH="1">
            <a:off x="8305800" y="1905000"/>
            <a:ext cx="1000125" cy="1000125"/>
          </a:xfrm>
          <a:prstGeom prst="line">
            <a:avLst/>
          </a:prstGeom>
          <a:noFill/>
          <a:ln w="16193">
            <a:solidFill>
              <a:srgbClr val="153143"/>
            </a:solidFill>
          </a:ln>
        </p:spPr>
      </p:sp>
      <p:sp>
        <p:nvSpPr>
          <p:cNvPr id="4" name="edge-0-2">
            <a:extLst>
              <a:ext uri="{FF2B5EF4-FFF2-40B4-BE49-F238E27FC236}">
                <a16:creationId xmlns:a16="http://schemas.microsoft.com/office/drawing/2014/main" id="{BFBE2D4B-153B-429A-9179-F1E9D9A50F09}"/>
              </a:ext>
            </a:extLst>
          </p:cNvPr>
          <p:cNvSpPr>
            <a:spLocks noGrp="1"/>
          </p:cNvSpPr>
          <p:nvPr/>
        </p:nvSpPr>
        <p:spPr>
          <a:xfrm>
            <a:off x="9305925" y="1905000"/>
            <a:ext cx="833438" cy="1000125"/>
          </a:xfrm>
          <a:prstGeom prst="line">
            <a:avLst/>
          </a:prstGeom>
          <a:noFill/>
          <a:ln w="16193">
            <a:solidFill>
              <a:srgbClr val="153143"/>
            </a:solidFill>
          </a:ln>
        </p:spPr>
      </p:sp>
      <p:sp>
        <p:nvSpPr>
          <p:cNvPr id="5" name="edge-1-3">
            <a:extLst>
              <a:ext uri="{FF2B5EF4-FFF2-40B4-BE49-F238E27FC236}">
                <a16:creationId xmlns:a16="http://schemas.microsoft.com/office/drawing/2014/main" id="{99C6D69C-03B8-40DD-934C-D8FD00E8A691}"/>
              </a:ext>
            </a:extLst>
          </p:cNvPr>
          <p:cNvSpPr>
            <a:spLocks noGrp="1"/>
          </p:cNvSpPr>
          <p:nvPr/>
        </p:nvSpPr>
        <p:spPr>
          <a:xfrm flipH="1">
            <a:off x="7805738" y="2905125"/>
            <a:ext cx="500063" cy="1066800"/>
          </a:xfrm>
          <a:prstGeom prst="line">
            <a:avLst/>
          </a:prstGeom>
          <a:noFill/>
          <a:ln w="16193">
            <a:solidFill>
              <a:srgbClr val="153143"/>
            </a:solidFill>
          </a:ln>
        </p:spPr>
      </p:sp>
      <p:sp>
        <p:nvSpPr>
          <p:cNvPr id="6" name="edge-1-4">
            <a:extLst>
              <a:ext uri="{FF2B5EF4-FFF2-40B4-BE49-F238E27FC236}">
                <a16:creationId xmlns:a16="http://schemas.microsoft.com/office/drawing/2014/main" id="{443CF57D-03BA-48DA-AADD-62A594052A31}"/>
              </a:ext>
            </a:extLst>
          </p:cNvPr>
          <p:cNvSpPr>
            <a:spLocks noGrp="1"/>
          </p:cNvSpPr>
          <p:nvPr/>
        </p:nvSpPr>
        <p:spPr>
          <a:xfrm>
            <a:off x="8305800" y="2905125"/>
            <a:ext cx="566737" cy="1066800"/>
          </a:xfrm>
          <a:prstGeom prst="line">
            <a:avLst/>
          </a:prstGeom>
          <a:noFill/>
          <a:ln w="16193">
            <a:solidFill>
              <a:srgbClr val="153143"/>
            </a:solidFill>
          </a:ln>
        </p:spPr>
      </p:sp>
      <p:sp>
        <p:nvSpPr>
          <p:cNvPr id="7" name="edge-2-5">
            <a:extLst>
              <a:ext uri="{FF2B5EF4-FFF2-40B4-BE49-F238E27FC236}">
                <a16:creationId xmlns:a16="http://schemas.microsoft.com/office/drawing/2014/main" id="{55EB7507-3B50-45C5-95CB-C6DE681F58BE}"/>
              </a:ext>
            </a:extLst>
          </p:cNvPr>
          <p:cNvSpPr>
            <a:spLocks noGrp="1"/>
          </p:cNvSpPr>
          <p:nvPr/>
        </p:nvSpPr>
        <p:spPr>
          <a:xfrm>
            <a:off x="10139363" y="2905125"/>
            <a:ext cx="500063" cy="1066800"/>
          </a:xfrm>
          <a:prstGeom prst="line">
            <a:avLst/>
          </a:prstGeom>
          <a:noFill/>
          <a:ln w="16193">
            <a:solidFill>
              <a:srgbClr val="153143"/>
            </a:solidFill>
          </a:ln>
        </p:spPr>
      </p:sp>
      <p:sp>
        <p:nvSpPr>
          <p:cNvPr id="8" name="edge-4-6">
            <a:extLst>
              <a:ext uri="{FF2B5EF4-FFF2-40B4-BE49-F238E27FC236}">
                <a16:creationId xmlns:a16="http://schemas.microsoft.com/office/drawing/2014/main" id="{898C7548-EBCE-4799-9041-921A86C61D5D}"/>
              </a:ext>
            </a:extLst>
          </p:cNvPr>
          <p:cNvSpPr>
            <a:spLocks noGrp="1"/>
          </p:cNvSpPr>
          <p:nvPr/>
        </p:nvSpPr>
        <p:spPr>
          <a:xfrm flipH="1">
            <a:off x="8539163" y="3971925"/>
            <a:ext cx="333375" cy="1266825"/>
          </a:xfrm>
          <a:prstGeom prst="line">
            <a:avLst/>
          </a:prstGeom>
          <a:noFill/>
          <a:ln w="16193">
            <a:solidFill>
              <a:srgbClr val="153143"/>
            </a:solidFill>
          </a:ln>
        </p:spPr>
      </p:sp>
      <p:sp>
        <p:nvSpPr>
          <p:cNvPr id="9" name="edge-4-7">
            <a:extLst>
              <a:ext uri="{FF2B5EF4-FFF2-40B4-BE49-F238E27FC236}">
                <a16:creationId xmlns:a16="http://schemas.microsoft.com/office/drawing/2014/main" id="{1A331E59-C8B8-4B7E-A839-95DA0A1A27A7}"/>
              </a:ext>
            </a:extLst>
          </p:cNvPr>
          <p:cNvSpPr>
            <a:spLocks noGrp="1"/>
          </p:cNvSpPr>
          <p:nvPr/>
        </p:nvSpPr>
        <p:spPr>
          <a:xfrm>
            <a:off x="8872538" y="3971925"/>
            <a:ext cx="333375" cy="1266825"/>
          </a:xfrm>
          <a:prstGeom prst="line">
            <a:avLst/>
          </a:prstGeom>
          <a:noFill/>
          <a:ln w="16193">
            <a:solidFill>
              <a:srgbClr val="153143"/>
            </a:solidFill>
          </a:ln>
        </p:spPr>
      </p:sp>
      <p:sp>
        <p:nvSpPr>
          <p:cNvPr id="10" name="edge-5-8">
            <a:extLst>
              <a:ext uri="{FF2B5EF4-FFF2-40B4-BE49-F238E27FC236}">
                <a16:creationId xmlns:a16="http://schemas.microsoft.com/office/drawing/2014/main" id="{F12F39ED-6DDC-432A-B1EE-643472CECC30}"/>
              </a:ext>
            </a:extLst>
          </p:cNvPr>
          <p:cNvSpPr>
            <a:spLocks noGrp="1"/>
          </p:cNvSpPr>
          <p:nvPr/>
        </p:nvSpPr>
        <p:spPr>
          <a:xfrm flipH="1">
            <a:off x="10306050" y="3971925"/>
            <a:ext cx="333375" cy="1266825"/>
          </a:xfrm>
          <a:prstGeom prst="line">
            <a:avLst/>
          </a:prstGeom>
          <a:noFill/>
          <a:ln w="16193">
            <a:solidFill>
              <a:srgbClr val="153143"/>
            </a:solidFill>
          </a:ln>
        </p:spPr>
      </p:sp>
      <p:sp>
        <p:nvSpPr>
          <p:cNvPr id="11" name="edge-5-9">
            <a:extLst>
              <a:ext uri="{FF2B5EF4-FFF2-40B4-BE49-F238E27FC236}">
                <a16:creationId xmlns:a16="http://schemas.microsoft.com/office/drawing/2014/main" id="{18B56128-BFC4-4114-8E1F-F16820CF669F}"/>
              </a:ext>
            </a:extLst>
          </p:cNvPr>
          <p:cNvSpPr>
            <a:spLocks noGrp="1"/>
          </p:cNvSpPr>
          <p:nvPr/>
        </p:nvSpPr>
        <p:spPr>
          <a:xfrm>
            <a:off x="10639425" y="3971925"/>
            <a:ext cx="333375" cy="1266825"/>
          </a:xfrm>
          <a:prstGeom prst="line">
            <a:avLst/>
          </a:prstGeom>
          <a:noFill/>
          <a:ln w="16193">
            <a:solidFill>
              <a:srgbClr val="153143"/>
            </a:solidFill>
          </a:ln>
        </p:spPr>
      </p:sp>
      <p:sp>
        <p:nvSpPr>
          <p:cNvPr id="12" name="node-12">
            <a:extLst>
              <a:ext uri="{FF2B5EF4-FFF2-40B4-BE49-F238E27FC236}">
                <a16:creationId xmlns:a16="http://schemas.microsoft.com/office/drawing/2014/main" id="{78844B78-9AED-4A18-BD09-1028A00FDB53}"/>
              </a:ext>
            </a:extLst>
          </p:cNvPr>
          <p:cNvSpPr>
            <a:spLocks noGrp="1"/>
          </p:cNvSpPr>
          <p:nvPr/>
        </p:nvSpPr>
        <p:spPr>
          <a:xfrm>
            <a:off x="9086850" y="168592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12</a:t>
            </a:r>
          </a:p>
        </p:txBody>
      </p:sp>
      <p:sp>
        <p:nvSpPr>
          <p:cNvPr id="13" name="node-5">
            <a:extLst>
              <a:ext uri="{FF2B5EF4-FFF2-40B4-BE49-F238E27FC236}">
                <a16:creationId xmlns:a16="http://schemas.microsoft.com/office/drawing/2014/main" id="{57D07A77-4980-46F1-8331-124EF9B48A8E}"/>
              </a:ext>
            </a:extLst>
          </p:cNvPr>
          <p:cNvSpPr>
            <a:spLocks noGrp="1"/>
          </p:cNvSpPr>
          <p:nvPr/>
        </p:nvSpPr>
        <p:spPr>
          <a:xfrm>
            <a:off x="8086725" y="2686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5</a:t>
            </a:r>
          </a:p>
        </p:txBody>
      </p:sp>
      <p:sp>
        <p:nvSpPr>
          <p:cNvPr id="14" name="node-15">
            <a:extLst>
              <a:ext uri="{FF2B5EF4-FFF2-40B4-BE49-F238E27FC236}">
                <a16:creationId xmlns:a16="http://schemas.microsoft.com/office/drawing/2014/main" id="{60665A29-B573-4BDC-95FD-47C3C5F8B372}"/>
              </a:ext>
            </a:extLst>
          </p:cNvPr>
          <p:cNvSpPr>
            <a:spLocks noGrp="1"/>
          </p:cNvSpPr>
          <p:nvPr/>
        </p:nvSpPr>
        <p:spPr>
          <a:xfrm>
            <a:off x="9920288" y="26860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15</a:t>
            </a:r>
          </a:p>
        </p:txBody>
      </p:sp>
      <p:sp>
        <p:nvSpPr>
          <p:cNvPr id="15" name="node-2">
            <a:extLst>
              <a:ext uri="{FF2B5EF4-FFF2-40B4-BE49-F238E27FC236}">
                <a16:creationId xmlns:a16="http://schemas.microsoft.com/office/drawing/2014/main" id="{BCF27977-E67A-4187-8ED4-4F887F15C4DA}"/>
              </a:ext>
            </a:extLst>
          </p:cNvPr>
          <p:cNvSpPr>
            <a:spLocks noGrp="1"/>
          </p:cNvSpPr>
          <p:nvPr/>
        </p:nvSpPr>
        <p:spPr>
          <a:xfrm>
            <a:off x="7586663"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a:t>
            </a:r>
          </a:p>
        </p:txBody>
      </p:sp>
      <p:sp>
        <p:nvSpPr>
          <p:cNvPr id="16" name="node-9">
            <a:extLst>
              <a:ext uri="{FF2B5EF4-FFF2-40B4-BE49-F238E27FC236}">
                <a16:creationId xmlns:a16="http://schemas.microsoft.com/office/drawing/2014/main" id="{BDA60541-8B1C-4064-8A41-B76F5B2F9180}"/>
              </a:ext>
            </a:extLst>
          </p:cNvPr>
          <p:cNvSpPr>
            <a:spLocks noGrp="1"/>
          </p:cNvSpPr>
          <p:nvPr/>
        </p:nvSpPr>
        <p:spPr>
          <a:xfrm>
            <a:off x="8653463"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9</a:t>
            </a:r>
          </a:p>
        </p:txBody>
      </p:sp>
      <p:sp>
        <p:nvSpPr>
          <p:cNvPr id="17" name="node-20">
            <a:extLst>
              <a:ext uri="{FF2B5EF4-FFF2-40B4-BE49-F238E27FC236}">
                <a16:creationId xmlns:a16="http://schemas.microsoft.com/office/drawing/2014/main" id="{3DAE2506-2FD4-4303-A60A-F92DA1C5EBCE}"/>
              </a:ext>
            </a:extLst>
          </p:cNvPr>
          <p:cNvSpPr>
            <a:spLocks noGrp="1"/>
          </p:cNvSpPr>
          <p:nvPr/>
        </p:nvSpPr>
        <p:spPr>
          <a:xfrm>
            <a:off x="10420350" y="3752850"/>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20</a:t>
            </a:r>
          </a:p>
        </p:txBody>
      </p:sp>
      <p:sp>
        <p:nvSpPr>
          <p:cNvPr id="18" name="node-7">
            <a:extLst>
              <a:ext uri="{FF2B5EF4-FFF2-40B4-BE49-F238E27FC236}">
                <a16:creationId xmlns:a16="http://schemas.microsoft.com/office/drawing/2014/main" id="{31958E74-9216-44E4-AE9D-92A5006E35FE}"/>
              </a:ext>
            </a:extLst>
          </p:cNvPr>
          <p:cNvSpPr>
            <a:spLocks noGrp="1"/>
          </p:cNvSpPr>
          <p:nvPr/>
        </p:nvSpPr>
        <p:spPr>
          <a:xfrm>
            <a:off x="8320088"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7</a:t>
            </a:r>
          </a:p>
        </p:txBody>
      </p:sp>
      <p:sp>
        <p:nvSpPr>
          <p:cNvPr id="19" name="node-10">
            <a:extLst>
              <a:ext uri="{FF2B5EF4-FFF2-40B4-BE49-F238E27FC236}">
                <a16:creationId xmlns:a16="http://schemas.microsoft.com/office/drawing/2014/main" id="{48E4DD4D-BA25-4783-9D2C-A55B6010B09A}"/>
              </a:ext>
            </a:extLst>
          </p:cNvPr>
          <p:cNvSpPr>
            <a:spLocks noGrp="1"/>
          </p:cNvSpPr>
          <p:nvPr/>
        </p:nvSpPr>
        <p:spPr>
          <a:xfrm>
            <a:off x="8986838"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10</a:t>
            </a:r>
          </a:p>
        </p:txBody>
      </p:sp>
      <p:sp>
        <p:nvSpPr>
          <p:cNvPr id="20" name="node-17">
            <a:extLst>
              <a:ext uri="{FF2B5EF4-FFF2-40B4-BE49-F238E27FC236}">
                <a16:creationId xmlns:a16="http://schemas.microsoft.com/office/drawing/2014/main" id="{4287C0A9-6C39-474C-B741-38945A760E8C}"/>
              </a:ext>
            </a:extLst>
          </p:cNvPr>
          <p:cNvSpPr>
            <a:spLocks noGrp="1"/>
          </p:cNvSpPr>
          <p:nvPr/>
        </p:nvSpPr>
        <p:spPr>
          <a:xfrm>
            <a:off x="10086975"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17</a:t>
            </a:r>
          </a:p>
        </p:txBody>
      </p:sp>
      <p:sp>
        <p:nvSpPr>
          <p:cNvPr id="21" name="node-30">
            <a:extLst>
              <a:ext uri="{FF2B5EF4-FFF2-40B4-BE49-F238E27FC236}">
                <a16:creationId xmlns:a16="http://schemas.microsoft.com/office/drawing/2014/main" id="{BE2849E1-AC69-4B48-9176-28467566739E}"/>
              </a:ext>
            </a:extLst>
          </p:cNvPr>
          <p:cNvSpPr>
            <a:spLocks noGrp="1"/>
          </p:cNvSpPr>
          <p:nvPr/>
        </p:nvSpPr>
        <p:spPr>
          <a:xfrm>
            <a:off x="10753725" y="5019675"/>
            <a:ext cx="438150" cy="438150"/>
          </a:xfrm>
          <a:prstGeom prst="ellipse">
            <a:avLst/>
          </a:prstGeom>
          <a:solidFill>
            <a:srgbClr val="E6F0F4"/>
          </a:solidFill>
          <a:ln w="15240">
            <a:solidFill>
              <a:srgbClr val="153143"/>
            </a:solidFill>
          </a:ln>
        </p:spPr>
        <p:txBody>
          <a:bodyPr lIns="0" tIns="0" rIns="0" bIns="0" anchor="ctr"/>
          <a:lstStyle>
            <a:defPPr algn="ctr">
              <a:defRPr sz="1650">
                <a:solidFill>
                  <a:srgbClr val="153143"/>
                </a:solidFill>
                <a:latin typeface="Arial"/>
                <a:ea typeface="Arial"/>
                <a:cs typeface="Arial"/>
              </a:defRPr>
            </a:defPPr>
            <a:lvl1pPr algn="ctr">
              <a:defRPr sz="1650">
                <a:solidFill>
                  <a:srgbClr val="153143"/>
                </a:solidFill>
                <a:latin typeface="Arial"/>
                <a:ea typeface="Arial"/>
                <a:cs typeface="Arial"/>
              </a:defRPr>
            </a:lvl1pPr>
            <a:lvl2pPr algn="ctr">
              <a:defRPr sz="1650">
                <a:solidFill>
                  <a:srgbClr val="153143"/>
                </a:solidFill>
                <a:latin typeface="Arial"/>
                <a:ea typeface="Arial"/>
                <a:cs typeface="Arial"/>
              </a:defRPr>
            </a:lvl2pPr>
            <a:lvl3pPr algn="ctr">
              <a:defRPr sz="1650">
                <a:solidFill>
                  <a:srgbClr val="153143"/>
                </a:solidFill>
                <a:latin typeface="Arial"/>
                <a:ea typeface="Arial"/>
                <a:cs typeface="Arial"/>
              </a:defRPr>
            </a:lvl3pPr>
            <a:lvl4pPr algn="ctr">
              <a:defRPr sz="1650">
                <a:solidFill>
                  <a:srgbClr val="153143"/>
                </a:solidFill>
                <a:latin typeface="Arial"/>
                <a:ea typeface="Arial"/>
                <a:cs typeface="Arial"/>
              </a:defRPr>
            </a:lvl4pPr>
            <a:lvl5pPr algn="ctr">
              <a:defRPr sz="1650">
                <a:solidFill>
                  <a:srgbClr val="153143"/>
                </a:solidFill>
                <a:latin typeface="Arial"/>
                <a:ea typeface="Arial"/>
                <a:cs typeface="Arial"/>
              </a:defRPr>
            </a:lvl5pPr>
            <a:lvl6pPr algn="ctr">
              <a:defRPr sz="1650">
                <a:solidFill>
                  <a:srgbClr val="153143"/>
                </a:solidFill>
                <a:latin typeface="Arial"/>
                <a:ea typeface="Arial"/>
                <a:cs typeface="Arial"/>
              </a:defRPr>
            </a:lvl6pPr>
            <a:lvl7pPr algn="ctr">
              <a:defRPr sz="1650">
                <a:solidFill>
                  <a:srgbClr val="153143"/>
                </a:solidFill>
                <a:latin typeface="Arial"/>
                <a:ea typeface="Arial"/>
                <a:cs typeface="Arial"/>
              </a:defRPr>
            </a:lvl7pPr>
            <a:lvl8pPr algn="ctr">
              <a:defRPr sz="1650">
                <a:solidFill>
                  <a:srgbClr val="153143"/>
                </a:solidFill>
                <a:latin typeface="Arial"/>
                <a:ea typeface="Arial"/>
                <a:cs typeface="Arial"/>
              </a:defRPr>
            </a:lvl8pPr>
            <a:lvl9pPr algn="ctr">
              <a:defRPr sz="1650">
                <a:solidFill>
                  <a:srgbClr val="153143"/>
                </a:solidFill>
                <a:latin typeface="Arial"/>
                <a:ea typeface="Arial"/>
                <a:cs typeface="Arial"/>
              </a:defRPr>
            </a:lvl9pPr>
          </a:lstStyle>
          <a:p>
            <a:pPr algn="ctr">
              <a:defRPr sz="1650">
                <a:solidFill>
                  <a:srgbClr val="153143"/>
                </a:solidFill>
                <a:latin typeface="Arial"/>
                <a:ea typeface="Arial"/>
                <a:cs typeface="Arial"/>
              </a:defRPr>
            </a:pPr>
            <a:r>
              <a:rPr sz="1650">
                <a:solidFill>
                  <a:srgbClr val="153143"/>
                </a:solidFill>
                <a:latin typeface="Arial"/>
                <a:ea typeface="Arial"/>
                <a:cs typeface="Arial"/>
              </a:rPr>
              <a:t>30</a:t>
            </a:r>
          </a:p>
        </p:txBody>
      </p:sp>
      <p:sp>
        <p:nvSpPr>
          <p:cNvPr id="22" name="activity-cue">
            <a:extLst>
              <a:ext uri="{FF2B5EF4-FFF2-40B4-BE49-F238E27FC236}">
                <a16:creationId xmlns:a16="http://schemas.microsoft.com/office/drawing/2014/main" id="{26A6E3DC-BB37-4F99-B147-7975CA624C0C}"/>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Draw the changed links before writing the output. 3 minutes</a:t>
            </a:r>
          </a:p>
        </p:txBody>
      </p:sp>
      <p:sp>
        <p:nvSpPr>
          <p:cNvPr id="23" name="local-java-DeletionDemo">
            <a:extLst>
              <a:ext uri="{FF2B5EF4-FFF2-40B4-BE49-F238E27FC236}">
                <a16:creationId xmlns:a16="http://schemas.microsoft.com/office/drawing/2014/main" id="{C78F93B3-1455-4984-A90B-FD474F259E31}"/>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DeletionDemo.java</a:t>
            </a:r>
          </a:p>
        </p:txBody>
      </p:sp>
      <p:sp>
        <p:nvSpPr>
          <p:cNvPr id="24" name="page">
            <a:extLst>
              <a:ext uri="{FF2B5EF4-FFF2-40B4-BE49-F238E27FC236}">
                <a16:creationId xmlns:a16="http://schemas.microsoft.com/office/drawing/2014/main" id="{99C20518-1EF9-4FF8-B008-74D30AFE0C88}"/>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36</a:t>
            </a:r>
          </a:p>
        </p:txBody>
      </p:sp>
    </p:spTree>
    <p:extLst>
      <p:ext uri="{BB962C8B-B14F-4D97-AF65-F5344CB8AC3E}">
        <p14:creationId xmlns:p14="http://schemas.microsoft.com/office/powerpoint/2010/main" val="1621759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4E50E3BB-E6E5-4D8D-99F0-3AFE820338C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Recursive deletion preserves the BST rule</a:t>
            </a:r>
          </a:p>
        </p:txBody>
      </p:sp>
      <p:sp>
        <p:nvSpPr>
          <p:cNvPr id="3" name="text-2">
            <a:extLst>
              <a:ext uri="{FF2B5EF4-FFF2-40B4-BE49-F238E27FC236}">
                <a16:creationId xmlns:a16="http://schemas.microsoft.com/office/drawing/2014/main" id="{4BCC5CA5-09EC-4DB8-9F96-E90C41EBDEF4}"/>
              </a:ext>
            </a:extLst>
          </p:cNvPr>
          <p:cNvSpPr>
            <a:spLocks noGrp="1"/>
          </p:cNvSpPr>
          <p:nvPr/>
        </p:nvSpPr>
        <p:spPr>
          <a:xfrm>
            <a:off x="609600" y="1562100"/>
            <a:ext cx="10953750" cy="4191000"/>
          </a:xfrm>
          <a:prstGeom prst="rect">
            <a:avLst/>
          </a:prstGeom>
          <a:noFill/>
          <a:ln w="0">
            <a:noFill/>
          </a:ln>
        </p:spPr>
        <p:txBody>
          <a:bodyPr lIns="0" tIns="0" rIns="0" bIns="0" anchor="t"/>
          <a:lstStyle>
            <a:defPPr algn="l">
              <a:defRPr sz="1950" b="0">
                <a:solidFill>
                  <a:srgbClr val="142E42"/>
                </a:solidFill>
                <a:latin typeface="Consolas"/>
                <a:ea typeface="Consolas"/>
                <a:cs typeface="Consolas"/>
              </a:defRPr>
            </a:defPPr>
            <a:lvl1pPr algn="l">
              <a:buNone/>
              <a:defRPr sz="1950" b="0">
                <a:solidFill>
                  <a:srgbClr val="142E42"/>
                </a:solidFill>
                <a:latin typeface="Consolas"/>
                <a:ea typeface="Consolas"/>
                <a:cs typeface="Consolas"/>
              </a:defRPr>
            </a:lvl1pPr>
            <a:lvl2pPr algn="l">
              <a:buNone/>
              <a:defRPr sz="1950" b="0">
                <a:solidFill>
                  <a:srgbClr val="142E42"/>
                </a:solidFill>
                <a:latin typeface="Consolas"/>
                <a:ea typeface="Consolas"/>
                <a:cs typeface="Consolas"/>
              </a:defRPr>
            </a:lvl2pPr>
            <a:lvl3pPr algn="l">
              <a:buNone/>
              <a:defRPr sz="1950" b="0">
                <a:solidFill>
                  <a:srgbClr val="142E42"/>
                </a:solidFill>
                <a:latin typeface="Consolas"/>
                <a:ea typeface="Consolas"/>
                <a:cs typeface="Consolas"/>
              </a:defRPr>
            </a:lvl3pPr>
            <a:lvl4pPr algn="l">
              <a:buNone/>
              <a:defRPr sz="1950" b="0">
                <a:solidFill>
                  <a:srgbClr val="142E42"/>
                </a:solidFill>
                <a:latin typeface="Consolas"/>
                <a:ea typeface="Consolas"/>
                <a:cs typeface="Consolas"/>
              </a:defRPr>
            </a:lvl4pPr>
            <a:lvl5pPr algn="l">
              <a:buNone/>
              <a:defRPr sz="1950" b="0">
                <a:solidFill>
                  <a:srgbClr val="142E42"/>
                </a:solidFill>
                <a:latin typeface="Consolas"/>
                <a:ea typeface="Consolas"/>
                <a:cs typeface="Consolas"/>
              </a:defRPr>
            </a:lvl5pPr>
            <a:lvl6pPr algn="l">
              <a:buNone/>
              <a:defRPr sz="1950" b="0">
                <a:solidFill>
                  <a:srgbClr val="142E42"/>
                </a:solidFill>
                <a:latin typeface="Consolas"/>
                <a:ea typeface="Consolas"/>
                <a:cs typeface="Consolas"/>
              </a:defRPr>
            </a:lvl6pPr>
            <a:lvl7pPr algn="l">
              <a:buNone/>
              <a:defRPr sz="1950" b="0">
                <a:solidFill>
                  <a:srgbClr val="142E42"/>
                </a:solidFill>
                <a:latin typeface="Consolas"/>
                <a:ea typeface="Consolas"/>
                <a:cs typeface="Consolas"/>
              </a:defRPr>
            </a:lvl7pPr>
            <a:lvl8pPr algn="l">
              <a:buNone/>
              <a:defRPr sz="1950" b="0">
                <a:solidFill>
                  <a:srgbClr val="142E42"/>
                </a:solidFill>
                <a:latin typeface="Consolas"/>
                <a:ea typeface="Consolas"/>
                <a:cs typeface="Consolas"/>
              </a:defRPr>
            </a:lvl8pPr>
            <a:lvl9pPr algn="l">
              <a:buNone/>
              <a:defRPr sz="1950" b="0">
                <a:solidFill>
                  <a:srgbClr val="142E42"/>
                </a:solidFill>
                <a:latin typeface="Consolas"/>
                <a:ea typeface="Consolas"/>
                <a:cs typeface="Consolas"/>
              </a:defRPr>
            </a:lvl9pPr>
          </a:lstStyle>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private Node&lt;E&gt; delete(Node&lt;E&gt; x, E key) {</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if (x == null) return null;</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int cmp = key.compareTo(x.key);</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if (cmp &lt; 0) x.left = delete(x.left, key);</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else if (cmp &gt; 0) x.right = delete(x.right, key);</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else {</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if (x.left == null) return x.right;</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if (x.right == null) return x.left;</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x.key = min(x.right).key;</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x.right = deleteMin(x.right);</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    return x;</a:t>
            </a:r>
          </a:p>
          <a:p>
            <a:pPr algn="l">
              <a:buNone/>
              <a:defRPr sz="1950" b="0">
                <a:solidFill>
                  <a:srgbClr val="142E42"/>
                </a:solidFill>
                <a:latin typeface="Consolas"/>
                <a:ea typeface="Consolas"/>
                <a:cs typeface="Consolas"/>
              </a:defRPr>
            </a:pPr>
            <a:r>
              <a:rPr sz="1950"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67E955C7-F447-4282-8DEF-89966715CCC2}"/>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Each call reconnects the returned subtree root to its parent.</a:t>
            </a:r>
          </a:p>
        </p:txBody>
      </p:sp>
      <p:sp>
        <p:nvSpPr>
          <p:cNvPr id="6" name="local-java-BST">
            <a:extLst>
              <a:ext uri="{FF2B5EF4-FFF2-40B4-BE49-F238E27FC236}">
                <a16:creationId xmlns:a16="http://schemas.microsoft.com/office/drawing/2014/main" id="{53D5295C-8BB0-45DF-9958-81AFCE87E695}"/>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local-java-DeletionDemo">
            <a:extLst>
              <a:ext uri="{FF2B5EF4-FFF2-40B4-BE49-F238E27FC236}">
                <a16:creationId xmlns:a16="http://schemas.microsoft.com/office/drawing/2014/main" id="{9BAF18A9-19C9-46F2-A0D7-3FB15A21F222}"/>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DeletionDemo.java</a:t>
            </a:r>
          </a:p>
        </p:txBody>
      </p:sp>
      <p:sp>
        <p:nvSpPr>
          <p:cNvPr id="8" name="page">
            <a:extLst>
              <a:ext uri="{FF2B5EF4-FFF2-40B4-BE49-F238E27FC236}">
                <a16:creationId xmlns:a16="http://schemas.microsoft.com/office/drawing/2014/main" id="{399DDA12-D650-430C-9145-E32A358D06C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37</a:t>
            </a:r>
          </a:p>
        </p:txBody>
      </p:sp>
    </p:spTree>
    <p:extLst>
      <p:ext uri="{BB962C8B-B14F-4D97-AF65-F5344CB8AC3E}">
        <p14:creationId xmlns:p14="http://schemas.microsoft.com/office/powerpoint/2010/main" val="2117206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E182518-B4AD-4EA2-A208-DF7F24F5B84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Successor helpers</a:t>
            </a:r>
          </a:p>
        </p:txBody>
      </p:sp>
      <p:sp>
        <p:nvSpPr>
          <p:cNvPr id="3" name="text-2">
            <a:extLst>
              <a:ext uri="{FF2B5EF4-FFF2-40B4-BE49-F238E27FC236}">
                <a16:creationId xmlns:a16="http://schemas.microsoft.com/office/drawing/2014/main" id="{3C4EB71C-C56A-4109-8034-247FADA5F473}"/>
              </a:ext>
            </a:extLst>
          </p:cNvPr>
          <p:cNvSpPr>
            <a:spLocks noGrp="1"/>
          </p:cNvSpPr>
          <p:nvPr/>
        </p:nvSpPr>
        <p:spPr>
          <a:xfrm>
            <a:off x="609600" y="1619250"/>
            <a:ext cx="10953750" cy="3429000"/>
          </a:xfrm>
          <a:prstGeom prst="rect">
            <a:avLst/>
          </a:prstGeom>
          <a:noFill/>
          <a:ln w="0">
            <a:noFill/>
          </a:ln>
        </p:spPr>
        <p:txBody>
          <a:bodyPr lIns="0" tIns="0" rIns="0" bIns="0" anchor="t"/>
          <a:lstStyle>
            <a:defPPr algn="l">
              <a:defRPr sz="2100" b="0">
                <a:solidFill>
                  <a:srgbClr val="142E42"/>
                </a:solidFill>
                <a:latin typeface="Consolas"/>
                <a:ea typeface="Consolas"/>
                <a:cs typeface="Consolas"/>
              </a:defRPr>
            </a:defPPr>
            <a:lvl1pPr algn="l">
              <a:buNone/>
              <a:defRPr sz="2100" b="0">
                <a:solidFill>
                  <a:srgbClr val="142E42"/>
                </a:solidFill>
                <a:latin typeface="Consolas"/>
                <a:ea typeface="Consolas"/>
                <a:cs typeface="Consolas"/>
              </a:defRPr>
            </a:lvl1pPr>
            <a:lvl2pPr algn="l">
              <a:buNone/>
              <a:defRPr sz="2100" b="0">
                <a:solidFill>
                  <a:srgbClr val="142E42"/>
                </a:solidFill>
                <a:latin typeface="Consolas"/>
                <a:ea typeface="Consolas"/>
                <a:cs typeface="Consolas"/>
              </a:defRPr>
            </a:lvl2pPr>
            <a:lvl3pPr algn="l">
              <a:buNone/>
              <a:defRPr sz="2100" b="0">
                <a:solidFill>
                  <a:srgbClr val="142E42"/>
                </a:solidFill>
                <a:latin typeface="Consolas"/>
                <a:ea typeface="Consolas"/>
                <a:cs typeface="Consolas"/>
              </a:defRPr>
            </a:lvl3pPr>
            <a:lvl4pPr algn="l">
              <a:buNone/>
              <a:defRPr sz="2100" b="0">
                <a:solidFill>
                  <a:srgbClr val="142E42"/>
                </a:solidFill>
                <a:latin typeface="Consolas"/>
                <a:ea typeface="Consolas"/>
                <a:cs typeface="Consolas"/>
              </a:defRPr>
            </a:lvl4pPr>
            <a:lvl5pPr algn="l">
              <a:buNone/>
              <a:defRPr sz="2100" b="0">
                <a:solidFill>
                  <a:srgbClr val="142E42"/>
                </a:solidFill>
                <a:latin typeface="Consolas"/>
                <a:ea typeface="Consolas"/>
                <a:cs typeface="Consolas"/>
              </a:defRPr>
            </a:lvl5pPr>
            <a:lvl6pPr algn="l">
              <a:buNone/>
              <a:defRPr sz="2100" b="0">
                <a:solidFill>
                  <a:srgbClr val="142E42"/>
                </a:solidFill>
                <a:latin typeface="Consolas"/>
                <a:ea typeface="Consolas"/>
                <a:cs typeface="Consolas"/>
              </a:defRPr>
            </a:lvl6pPr>
            <a:lvl7pPr algn="l">
              <a:buNone/>
              <a:defRPr sz="2100" b="0">
                <a:solidFill>
                  <a:srgbClr val="142E42"/>
                </a:solidFill>
                <a:latin typeface="Consolas"/>
                <a:ea typeface="Consolas"/>
                <a:cs typeface="Consolas"/>
              </a:defRPr>
            </a:lvl7pPr>
            <a:lvl8pPr algn="l">
              <a:buNone/>
              <a:defRPr sz="2100" b="0">
                <a:solidFill>
                  <a:srgbClr val="142E42"/>
                </a:solidFill>
                <a:latin typeface="Consolas"/>
                <a:ea typeface="Consolas"/>
                <a:cs typeface="Consolas"/>
              </a:defRPr>
            </a:lvl8pPr>
            <a:lvl9pPr algn="l">
              <a:buNone/>
              <a:defRPr sz="2100" b="0">
                <a:solidFill>
                  <a:srgbClr val="142E42"/>
                </a:solidFill>
                <a:latin typeface="Consolas"/>
                <a:ea typeface="Consolas"/>
                <a:cs typeface="Consolas"/>
              </a:defRPr>
            </a:lvl9pPr>
          </a:lstStyle>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private Node&lt;E&gt; min(Node&lt;E&gt; x) {</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while (x.left != null) x = x.left;</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return x;</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a:t>
            </a:r>
          </a:p>
          <a:p>
            <a:endParaRPr sz="2100" b="0">
              <a:solidFill>
                <a:srgbClr val="142E42"/>
              </a:solidFill>
              <a:latin typeface="Consolas"/>
              <a:ea typeface="Consolas"/>
              <a:cs typeface="Consolas"/>
            </a:endParaRP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private Node&lt;E&gt; deleteMin(Node&lt;E&gt; x) {</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if (x.left == null) return x.right;</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x.left = deleteMin(x.left);</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    return x;</a:t>
            </a:r>
          </a:p>
          <a:p>
            <a:pPr algn="l">
              <a:buNone/>
              <a:defRPr sz="2100" b="0">
                <a:solidFill>
                  <a:srgbClr val="142E42"/>
                </a:solidFill>
                <a:latin typeface="Consolas"/>
                <a:ea typeface="Consolas"/>
                <a:cs typeface="Consolas"/>
              </a:defRPr>
            </a:pPr>
            <a:r>
              <a:rPr sz="2100"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F2924342-AB1E-4B50-B02E-17BEED68FE9B}"/>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The successor has no left child. It may have a right child to reconnect.</a:t>
            </a:r>
          </a:p>
        </p:txBody>
      </p:sp>
      <p:sp>
        <p:nvSpPr>
          <p:cNvPr id="6" name="local-java-BST">
            <a:extLst>
              <a:ext uri="{FF2B5EF4-FFF2-40B4-BE49-F238E27FC236}">
                <a16:creationId xmlns:a16="http://schemas.microsoft.com/office/drawing/2014/main" id="{9CB3C6A5-9353-462E-9E66-8F9C0A40ED0A}"/>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page">
            <a:extLst>
              <a:ext uri="{FF2B5EF4-FFF2-40B4-BE49-F238E27FC236}">
                <a16:creationId xmlns:a16="http://schemas.microsoft.com/office/drawing/2014/main" id="{A8DF9B6E-D5B9-45DA-A416-0212556574F8}"/>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38</a:t>
            </a:r>
          </a:p>
        </p:txBody>
      </p:sp>
    </p:spTree>
    <p:extLst>
      <p:ext uri="{BB962C8B-B14F-4D97-AF65-F5344CB8AC3E}">
        <p14:creationId xmlns:p14="http://schemas.microsoft.com/office/powerpoint/2010/main" val="4498361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42831D7D-A579-4CA1-93D4-F9276447343C}"/>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The public deletion method</a:t>
            </a:r>
          </a:p>
        </p:txBody>
      </p:sp>
      <p:sp>
        <p:nvSpPr>
          <p:cNvPr id="3" name="text-2">
            <a:extLst>
              <a:ext uri="{FF2B5EF4-FFF2-40B4-BE49-F238E27FC236}">
                <a16:creationId xmlns:a16="http://schemas.microsoft.com/office/drawing/2014/main" id="{693BB9C2-4C06-445A-8C2F-EBEE7FACD98D}"/>
              </a:ext>
            </a:extLst>
          </p:cNvPr>
          <p:cNvSpPr>
            <a:spLocks noGrp="1"/>
          </p:cNvSpPr>
          <p:nvPr/>
        </p:nvSpPr>
        <p:spPr>
          <a:xfrm>
            <a:off x="609600" y="1619250"/>
            <a:ext cx="10953750" cy="2667000"/>
          </a:xfrm>
          <a:prstGeom prst="rect">
            <a:avLst/>
          </a:prstGeom>
          <a:noFill/>
          <a:ln w="0">
            <a:noFill/>
          </a:ln>
        </p:spPr>
        <p:txBody>
          <a:bodyPr lIns="0" tIns="0" rIns="0" bIns="0" anchor="t"/>
          <a:lstStyle>
            <a:defPPr algn="l">
              <a:defRPr sz="2175" b="0">
                <a:solidFill>
                  <a:srgbClr val="142E42"/>
                </a:solidFill>
                <a:latin typeface="Consolas"/>
                <a:ea typeface="Consolas"/>
                <a:cs typeface="Consolas"/>
              </a:defRPr>
            </a:defPPr>
            <a:lvl1pPr algn="l">
              <a:buNone/>
              <a:defRPr sz="2175" b="0">
                <a:solidFill>
                  <a:srgbClr val="142E42"/>
                </a:solidFill>
                <a:latin typeface="Consolas"/>
                <a:ea typeface="Consolas"/>
                <a:cs typeface="Consolas"/>
              </a:defRPr>
            </a:lvl1pPr>
            <a:lvl2pPr algn="l">
              <a:buNone/>
              <a:defRPr sz="2175" b="0">
                <a:solidFill>
                  <a:srgbClr val="142E42"/>
                </a:solidFill>
                <a:latin typeface="Consolas"/>
                <a:ea typeface="Consolas"/>
                <a:cs typeface="Consolas"/>
              </a:defRPr>
            </a:lvl2pPr>
            <a:lvl3pPr algn="l">
              <a:buNone/>
              <a:defRPr sz="2175" b="0">
                <a:solidFill>
                  <a:srgbClr val="142E42"/>
                </a:solidFill>
                <a:latin typeface="Consolas"/>
                <a:ea typeface="Consolas"/>
                <a:cs typeface="Consolas"/>
              </a:defRPr>
            </a:lvl3pPr>
            <a:lvl4pPr algn="l">
              <a:buNone/>
              <a:defRPr sz="2175" b="0">
                <a:solidFill>
                  <a:srgbClr val="142E42"/>
                </a:solidFill>
                <a:latin typeface="Consolas"/>
                <a:ea typeface="Consolas"/>
                <a:cs typeface="Consolas"/>
              </a:defRPr>
            </a:lvl4pPr>
            <a:lvl5pPr algn="l">
              <a:buNone/>
              <a:defRPr sz="2175" b="0">
                <a:solidFill>
                  <a:srgbClr val="142E42"/>
                </a:solidFill>
                <a:latin typeface="Consolas"/>
                <a:ea typeface="Consolas"/>
                <a:cs typeface="Consolas"/>
              </a:defRPr>
            </a:lvl5pPr>
            <a:lvl6pPr algn="l">
              <a:buNone/>
              <a:defRPr sz="2175" b="0">
                <a:solidFill>
                  <a:srgbClr val="142E42"/>
                </a:solidFill>
                <a:latin typeface="Consolas"/>
                <a:ea typeface="Consolas"/>
                <a:cs typeface="Consolas"/>
              </a:defRPr>
            </a:lvl6pPr>
            <a:lvl7pPr algn="l">
              <a:buNone/>
              <a:defRPr sz="2175" b="0">
                <a:solidFill>
                  <a:srgbClr val="142E42"/>
                </a:solidFill>
                <a:latin typeface="Consolas"/>
                <a:ea typeface="Consolas"/>
                <a:cs typeface="Consolas"/>
              </a:defRPr>
            </a:lvl7pPr>
            <a:lvl8pPr algn="l">
              <a:buNone/>
              <a:defRPr sz="2175" b="0">
                <a:solidFill>
                  <a:srgbClr val="142E42"/>
                </a:solidFill>
                <a:latin typeface="Consolas"/>
                <a:ea typeface="Consolas"/>
                <a:cs typeface="Consolas"/>
              </a:defRPr>
            </a:lvl8pPr>
            <a:lvl9pPr algn="l">
              <a:buNone/>
              <a:defRPr sz="2175" b="0">
                <a:solidFill>
                  <a:srgbClr val="142E42"/>
                </a:solidFill>
                <a:latin typeface="Consolas"/>
                <a:ea typeface="Consolas"/>
                <a:cs typeface="Consolas"/>
              </a:defRPr>
            </a:lvl9pPr>
          </a:lstStyle>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public boolean delete(E key) {</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Objects.requireNonNull(key);</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if (!contains(key)) return false;</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root = delete(root, key);</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size--;</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    return true;</a:t>
            </a:r>
          </a:p>
          <a:p>
            <a:pPr algn="l">
              <a:buNone/>
              <a:defRPr sz="2175" b="0">
                <a:solidFill>
                  <a:srgbClr val="142E42"/>
                </a:solidFill>
                <a:latin typeface="Consolas"/>
                <a:ea typeface="Consolas"/>
                <a:cs typeface="Consolas"/>
              </a:defRPr>
            </a:pPr>
            <a:r>
              <a:rPr sz="2175" b="0">
                <a:solidFill>
                  <a:srgbClr val="142E42"/>
                </a:solidFill>
                <a:latin typeface="Consolas"/>
                <a:ea typeface="Consolas"/>
                <a:cs typeface="Consolas"/>
              </a:rPr>
              <a:t>}</a:t>
            </a:r>
          </a:p>
        </p:txBody>
      </p:sp>
      <p:sp>
        <p:nvSpPr>
          <p:cNvPr id="4" name="text-3">
            <a:extLst>
              <a:ext uri="{FF2B5EF4-FFF2-40B4-BE49-F238E27FC236}">
                <a16:creationId xmlns:a16="http://schemas.microsoft.com/office/drawing/2014/main" id="{B94F9713-10E7-4C1A-8DAA-5FB54CBF11AA}"/>
              </a:ext>
            </a:extLst>
          </p:cNvPr>
          <p:cNvSpPr>
            <a:spLocks noGrp="1"/>
          </p:cNvSpPr>
          <p:nvPr/>
        </p:nvSpPr>
        <p:spPr>
          <a:xfrm>
            <a:off x="609600" y="4619625"/>
            <a:ext cx="10858500" cy="1143000"/>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buNone/>
              <a:defRPr sz="2025" b="0">
                <a:solidFill>
                  <a:srgbClr val="142E42"/>
                </a:solidFill>
                <a:latin typeface="Arial"/>
                <a:ea typeface="Arial"/>
                <a:cs typeface="Arial"/>
              </a:defRPr>
            </a:lvl1pPr>
            <a:lvl2pPr algn="l">
              <a:buNone/>
              <a:defRPr sz="2025" b="0">
                <a:solidFill>
                  <a:srgbClr val="142E42"/>
                </a:solidFill>
                <a:latin typeface="Arial"/>
                <a:ea typeface="Arial"/>
                <a:cs typeface="Arial"/>
              </a:defRPr>
            </a:lvl2pPr>
            <a:lvl3pPr algn="l">
              <a:buNone/>
              <a:defRPr sz="2025" b="0">
                <a:solidFill>
                  <a:srgbClr val="142E42"/>
                </a:solidFill>
                <a:latin typeface="Arial"/>
                <a:ea typeface="Arial"/>
                <a:cs typeface="Arial"/>
              </a:defRPr>
            </a:lvl3pPr>
            <a:lvl4pPr algn="l">
              <a:buNone/>
              <a:defRPr sz="2025" b="0">
                <a:solidFill>
                  <a:srgbClr val="142E42"/>
                </a:solidFill>
                <a:latin typeface="Arial"/>
                <a:ea typeface="Arial"/>
                <a:cs typeface="Arial"/>
              </a:defRPr>
            </a:lvl4pPr>
            <a:lvl5pPr algn="l">
              <a:buNone/>
              <a:defRPr sz="2025" b="0">
                <a:solidFill>
                  <a:srgbClr val="142E42"/>
                </a:solidFill>
                <a:latin typeface="Arial"/>
                <a:ea typeface="Arial"/>
                <a:cs typeface="Arial"/>
              </a:defRPr>
            </a:lvl5pPr>
            <a:lvl6pPr algn="l">
              <a:buNone/>
              <a:defRPr sz="2025" b="0">
                <a:solidFill>
                  <a:srgbClr val="142E42"/>
                </a:solidFill>
                <a:latin typeface="Arial"/>
                <a:ea typeface="Arial"/>
                <a:cs typeface="Arial"/>
              </a:defRPr>
            </a:lvl6pPr>
            <a:lvl7pPr algn="l">
              <a:buNone/>
              <a:defRPr sz="2025" b="0">
                <a:solidFill>
                  <a:srgbClr val="142E42"/>
                </a:solidFill>
                <a:latin typeface="Arial"/>
                <a:ea typeface="Arial"/>
                <a:cs typeface="Arial"/>
              </a:defRPr>
            </a:lvl7pPr>
            <a:lvl8pPr algn="l">
              <a:buNone/>
              <a:defRPr sz="2025" b="0">
                <a:solidFill>
                  <a:srgbClr val="142E42"/>
                </a:solidFill>
                <a:latin typeface="Arial"/>
                <a:ea typeface="Arial"/>
                <a:cs typeface="Arial"/>
              </a:defRPr>
            </a:lvl8pPr>
            <a:lvl9pPr algn="l">
              <a:buNone/>
              <a:defRPr sz="2025" b="0">
                <a:solidFill>
                  <a:srgbClr val="142E42"/>
                </a:solidFill>
                <a:latin typeface="Arial"/>
                <a:ea typeface="Arial"/>
                <a:cs typeface="Arial"/>
              </a:defRPr>
            </a:lvl9pPr>
          </a:lstStyle>
          <a:p>
            <a:pPr algn="l">
              <a:buNone/>
              <a:defRPr sz="2025" b="0">
                <a:solidFill>
                  <a:srgbClr val="142E42"/>
                </a:solidFill>
                <a:latin typeface="Arial"/>
                <a:ea typeface="Arial"/>
                <a:cs typeface="Arial"/>
              </a:defRPr>
            </a:pPr>
            <a:r>
              <a:rPr sz="2025" b="0">
                <a:solidFill>
                  <a:srgbClr val="142E42"/>
                </a:solidFill>
                <a:latin typeface="Arial"/>
                <a:ea typeface="Arial"/>
                <a:cs typeface="Arial"/>
              </a:rPr>
              <a:t>The preliminary search keeps size bookkeeping simple.</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A later optimization can combine search and deletion.</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Both versions take O(h + 1) time.</a:t>
            </a:r>
          </a:p>
        </p:txBody>
      </p:sp>
      <p:sp>
        <p:nvSpPr>
          <p:cNvPr id="6" name="local-java-BST">
            <a:extLst>
              <a:ext uri="{FF2B5EF4-FFF2-40B4-BE49-F238E27FC236}">
                <a16:creationId xmlns:a16="http://schemas.microsoft.com/office/drawing/2014/main" id="{828F7571-5277-43B9-A781-8D622D79C4AB}"/>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local-java-DeletionDemo">
            <a:extLst>
              <a:ext uri="{FF2B5EF4-FFF2-40B4-BE49-F238E27FC236}">
                <a16:creationId xmlns:a16="http://schemas.microsoft.com/office/drawing/2014/main" id="{2198B539-5878-4E53-9E2C-E2534E91958C}"/>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DeletionDemo.java</a:t>
            </a:r>
          </a:p>
        </p:txBody>
      </p:sp>
      <p:sp>
        <p:nvSpPr>
          <p:cNvPr id="8" name="page">
            <a:extLst>
              <a:ext uri="{FF2B5EF4-FFF2-40B4-BE49-F238E27FC236}">
                <a16:creationId xmlns:a16="http://schemas.microsoft.com/office/drawing/2014/main" id="{17EFE6DB-B86F-469D-92BF-7F67A9E25418}"/>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39</a:t>
            </a:r>
          </a:p>
        </p:txBody>
      </p:sp>
    </p:spTree>
    <p:extLst>
      <p:ext uri="{BB962C8B-B14F-4D97-AF65-F5344CB8AC3E}">
        <p14:creationId xmlns:p14="http://schemas.microsoft.com/office/powerpoint/2010/main" val="1916927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ABB259-7748-4D87-A166-6703A48A1CBC}"/>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a returned subtree matters</a:t>
            </a:r>
          </a:p>
        </p:txBody>
      </p:sp>
      <p:sp>
        <p:nvSpPr>
          <p:cNvPr id="2" name="code">
            <a:extLst>
              <a:ext uri="{FF2B5EF4-FFF2-40B4-BE49-F238E27FC236}">
                <a16:creationId xmlns:a16="http://schemas.microsoft.com/office/drawing/2014/main" id="{5F49962C-51AE-4F0C-9BBF-70EB80646349}"/>
              </a:ext>
            </a:extLst>
          </p:cNvPr>
          <p:cNvSpPr>
            <a:spLocks noGrp="1"/>
          </p:cNvSpPr>
          <p:nvPr/>
        </p:nvSpPr>
        <p:spPr>
          <a:xfrm>
            <a:off x="609600" y="1571625"/>
            <a:ext cx="10972800" cy="1428750"/>
          </a:xfrm>
          <a:prstGeom prst="rect">
            <a:avLst/>
          </a:prstGeom>
          <a:noFill/>
          <a:ln w="0">
            <a:noFill/>
          </a:ln>
        </p:spPr>
        <p:txBody>
          <a:bodyPr lIns="0" tIns="0" rIns="0" bIns="0"/>
          <a:lstStyle>
            <a:defPPr>
              <a:defRPr sz="1950" b="0">
                <a:solidFill>
                  <a:srgbClr val="153143"/>
                </a:solidFill>
                <a:latin typeface="Consolas"/>
                <a:ea typeface="Consolas"/>
                <a:cs typeface="Consolas"/>
              </a:defRPr>
            </a:defPPr>
            <a:lvl1pPr>
              <a:defRPr sz="1950" b="0">
                <a:solidFill>
                  <a:srgbClr val="153143"/>
                </a:solidFill>
                <a:latin typeface="Consolas"/>
                <a:ea typeface="Consolas"/>
                <a:cs typeface="Consolas"/>
              </a:defRPr>
            </a:lvl1pPr>
            <a:lvl2pPr>
              <a:defRPr sz="1950" b="0">
                <a:solidFill>
                  <a:srgbClr val="153143"/>
                </a:solidFill>
                <a:latin typeface="Consolas"/>
                <a:ea typeface="Consolas"/>
                <a:cs typeface="Consolas"/>
              </a:defRPr>
            </a:lvl2pPr>
            <a:lvl3pPr>
              <a:defRPr sz="1950" b="0">
                <a:solidFill>
                  <a:srgbClr val="153143"/>
                </a:solidFill>
                <a:latin typeface="Consolas"/>
                <a:ea typeface="Consolas"/>
                <a:cs typeface="Consolas"/>
              </a:defRPr>
            </a:lvl3pPr>
            <a:lvl4pPr>
              <a:defRPr sz="1950" b="0">
                <a:solidFill>
                  <a:srgbClr val="153143"/>
                </a:solidFill>
                <a:latin typeface="Consolas"/>
                <a:ea typeface="Consolas"/>
                <a:cs typeface="Consolas"/>
              </a:defRPr>
            </a:lvl4pPr>
            <a:lvl5pPr>
              <a:defRPr sz="1950" b="0">
                <a:solidFill>
                  <a:srgbClr val="153143"/>
                </a:solidFill>
                <a:latin typeface="Consolas"/>
                <a:ea typeface="Consolas"/>
                <a:cs typeface="Consolas"/>
              </a:defRPr>
            </a:lvl5pPr>
            <a:lvl6pPr>
              <a:defRPr sz="1950" b="0">
                <a:solidFill>
                  <a:srgbClr val="153143"/>
                </a:solidFill>
                <a:latin typeface="Consolas"/>
                <a:ea typeface="Consolas"/>
                <a:cs typeface="Consolas"/>
              </a:defRPr>
            </a:lvl6pPr>
            <a:lvl7pPr>
              <a:defRPr sz="1950" b="0">
                <a:solidFill>
                  <a:srgbClr val="153143"/>
                </a:solidFill>
                <a:latin typeface="Consolas"/>
                <a:ea typeface="Consolas"/>
                <a:cs typeface="Consolas"/>
              </a:defRPr>
            </a:lvl7pPr>
            <a:lvl8pPr>
              <a:defRPr sz="1950" b="0">
                <a:solidFill>
                  <a:srgbClr val="153143"/>
                </a:solidFill>
                <a:latin typeface="Consolas"/>
                <a:ea typeface="Consolas"/>
                <a:cs typeface="Consolas"/>
              </a:defRPr>
            </a:lvl8pPr>
            <a:lvl9pPr>
              <a:defRPr sz="1950" b="0">
                <a:solidFill>
                  <a:srgbClr val="153143"/>
                </a:solidFill>
                <a:latin typeface="Consolas"/>
                <a:ea typeface="Consolas"/>
                <a:cs typeface="Consolas"/>
              </a:defRPr>
            </a:lvl9pPr>
          </a:lstStyle>
          <a:p>
            <a:pPr>
              <a:defRPr sz="1950" b="0">
                <a:solidFill>
                  <a:srgbClr val="153143"/>
                </a:solidFill>
                <a:latin typeface="Consolas"/>
                <a:ea typeface="Consolas"/>
                <a:cs typeface="Consolas"/>
              </a:defRPr>
            </a:pPr>
            <a:r>
              <a:rPr sz="1950" b="0">
                <a:solidFill>
                  <a:srgbClr val="153143"/>
                </a:solidFill>
                <a:latin typeface="Consolas"/>
                <a:ea typeface="Consolas"/>
                <a:cs typeface="Consolas"/>
              </a:rPr>
              <a:t>// Inside delete, when key &lt; x.key:</a:t>
            </a:r>
          </a:p>
          <a:p>
            <a:pPr>
              <a:defRPr sz="1950" b="0">
                <a:solidFill>
                  <a:srgbClr val="153143"/>
                </a:solidFill>
                <a:latin typeface="Consolas"/>
                <a:ea typeface="Consolas"/>
                <a:cs typeface="Consolas"/>
              </a:defRPr>
            </a:pPr>
            <a:r>
              <a:rPr sz="1950" b="0">
                <a:solidFill>
                  <a:srgbClr val="153143"/>
                </a:solidFill>
                <a:latin typeface="Consolas"/>
                <a:ea typeface="Consolas"/>
                <a:cs typeface="Consolas"/>
              </a:rPr>
              <a:t>delete(x.left, key);</a:t>
            </a:r>
          </a:p>
          <a:p>
            <a:pPr>
              <a:defRPr sz="1950" b="0">
                <a:solidFill>
                  <a:srgbClr val="153143"/>
                </a:solidFill>
                <a:latin typeface="Consolas"/>
                <a:ea typeface="Consolas"/>
                <a:cs typeface="Consolas"/>
              </a:defRPr>
            </a:pPr>
            <a:r>
              <a:rPr sz="1950" b="0">
                <a:solidFill>
                  <a:srgbClr val="153143"/>
                </a:solidFill>
                <a:latin typeface="Consolas"/>
                <a:ea typeface="Consolas"/>
                <a:cs typeface="Consolas"/>
              </a:rPr>
              <a:t>return x;</a:t>
            </a:r>
          </a:p>
        </p:txBody>
      </p:sp>
      <p:sp>
        <p:nvSpPr>
          <p:cNvPr id="3" name="questions">
            <a:extLst>
              <a:ext uri="{FF2B5EF4-FFF2-40B4-BE49-F238E27FC236}">
                <a16:creationId xmlns:a16="http://schemas.microsoft.com/office/drawing/2014/main" id="{92D24C20-62D8-4017-B08E-10158D4EC787}"/>
              </a:ext>
            </a:extLst>
          </p:cNvPr>
          <p:cNvSpPr>
            <a:spLocks noGrp="1"/>
          </p:cNvSpPr>
          <p:nvPr/>
        </p:nvSpPr>
        <p:spPr>
          <a:xfrm>
            <a:off x="609600" y="3286125"/>
            <a:ext cx="10972800" cy="2190750"/>
          </a:xfrm>
          <a:prstGeom prst="rect">
            <a:avLst/>
          </a:prstGeom>
          <a:noFill/>
          <a:ln w="0">
            <a:noFill/>
          </a:ln>
        </p:spPr>
        <p:txBody>
          <a:bodyPr lIns="0" tIns="0" rIns="0" bIns="0"/>
          <a:lstStyle>
            <a:defPPr>
              <a:defRPr sz="2100" b="0">
                <a:solidFill>
                  <a:srgbClr val="153143"/>
                </a:solidFill>
                <a:latin typeface="Arial"/>
                <a:ea typeface="Arial"/>
                <a:cs typeface="Arial"/>
              </a:defRPr>
            </a:defPPr>
            <a:lvl1pPr>
              <a:defRPr sz="2100" b="0">
                <a:solidFill>
                  <a:srgbClr val="153143"/>
                </a:solidFill>
                <a:latin typeface="Arial"/>
                <a:ea typeface="Arial"/>
                <a:cs typeface="Arial"/>
              </a:defRPr>
            </a:lvl1pPr>
            <a:lvl2pPr>
              <a:defRPr sz="2100" b="0">
                <a:solidFill>
                  <a:srgbClr val="153143"/>
                </a:solidFill>
                <a:latin typeface="Arial"/>
                <a:ea typeface="Arial"/>
                <a:cs typeface="Arial"/>
              </a:defRPr>
            </a:lvl2pPr>
            <a:lvl3pPr>
              <a:defRPr sz="2100" b="0">
                <a:solidFill>
                  <a:srgbClr val="153143"/>
                </a:solidFill>
                <a:latin typeface="Arial"/>
                <a:ea typeface="Arial"/>
                <a:cs typeface="Arial"/>
              </a:defRPr>
            </a:lvl3pPr>
            <a:lvl4pPr>
              <a:defRPr sz="2100" b="0">
                <a:solidFill>
                  <a:srgbClr val="153143"/>
                </a:solidFill>
                <a:latin typeface="Arial"/>
                <a:ea typeface="Arial"/>
                <a:cs typeface="Arial"/>
              </a:defRPr>
            </a:lvl4pPr>
            <a:lvl5pPr>
              <a:defRPr sz="2100" b="0">
                <a:solidFill>
                  <a:srgbClr val="153143"/>
                </a:solidFill>
                <a:latin typeface="Arial"/>
                <a:ea typeface="Arial"/>
                <a:cs typeface="Arial"/>
              </a:defRPr>
            </a:lvl5pPr>
            <a:lvl6pPr>
              <a:defRPr sz="2100" b="0">
                <a:solidFill>
                  <a:srgbClr val="153143"/>
                </a:solidFill>
                <a:latin typeface="Arial"/>
                <a:ea typeface="Arial"/>
                <a:cs typeface="Arial"/>
              </a:defRPr>
            </a:lvl6pPr>
            <a:lvl7pPr>
              <a:defRPr sz="2100" b="0">
                <a:solidFill>
                  <a:srgbClr val="153143"/>
                </a:solidFill>
                <a:latin typeface="Arial"/>
                <a:ea typeface="Arial"/>
                <a:cs typeface="Arial"/>
              </a:defRPr>
            </a:lvl7pPr>
            <a:lvl8pPr>
              <a:defRPr sz="2100" b="0">
                <a:solidFill>
                  <a:srgbClr val="153143"/>
                </a:solidFill>
                <a:latin typeface="Arial"/>
                <a:ea typeface="Arial"/>
                <a:cs typeface="Arial"/>
              </a:defRPr>
            </a:lvl8pPr>
            <a:lvl9pPr>
              <a:defRPr sz="2100" b="0">
                <a:solidFill>
                  <a:srgbClr val="153143"/>
                </a:solidFill>
                <a:latin typeface="Arial"/>
                <a:ea typeface="Arial"/>
                <a:cs typeface="Arial"/>
              </a:defRPr>
            </a:lvl9pPr>
          </a:lstStyle>
          <a:p>
            <a:pPr>
              <a:defRPr sz="2100" b="0">
                <a:solidFill>
                  <a:srgbClr val="153143"/>
                </a:solidFill>
                <a:latin typeface="Arial"/>
                <a:ea typeface="Arial"/>
                <a:cs typeface="Arial"/>
              </a:defRPr>
            </a:pPr>
            <a:r>
              <a:rPr sz="2100" b="0">
                <a:solidFill>
                  <a:srgbClr val="153143"/>
                </a:solidFill>
                <a:latin typeface="Arial"/>
                <a:ea typeface="Arial"/>
                <a:cs typeface="Arial"/>
              </a:rPr>
              <a:t>Suppose root 12 has a single left leaf, key 5.</a:t>
            </a:r>
          </a:p>
          <a:p>
            <a:pPr>
              <a:defRPr sz="2100" b="0">
                <a:solidFill>
                  <a:srgbClr val="153143"/>
                </a:solidFill>
                <a:latin typeface="Arial"/>
                <a:ea typeface="Arial"/>
                <a:cs typeface="Arial"/>
              </a:defRPr>
            </a:pPr>
            <a:r>
              <a:rPr sz="2100" b="0">
                <a:solidFill>
                  <a:srgbClr val="153143"/>
                </a:solidFill>
                <a:latin typeface="Arial"/>
                <a:ea typeface="Arial"/>
                <a:cs typeface="Arial"/>
              </a:rPr>
              <a:t>The recursive call returns null when deleting that leaf.</a:t>
            </a:r>
          </a:p>
          <a:p>
            <a:endParaRPr sz="2100" b="0">
              <a:solidFill>
                <a:srgbClr val="153143"/>
              </a:solidFill>
              <a:latin typeface="Arial"/>
              <a:ea typeface="Arial"/>
              <a:cs typeface="Arial"/>
            </a:endParaRPr>
          </a:p>
          <a:p>
            <a:pPr>
              <a:defRPr sz="2100" b="0">
                <a:solidFill>
                  <a:srgbClr val="153143"/>
                </a:solidFill>
                <a:latin typeface="Arial"/>
                <a:ea typeface="Arial"/>
                <a:cs typeface="Arial"/>
              </a:defRPr>
            </a:pPr>
            <a:r>
              <a:rPr sz="2100" b="0">
                <a:solidFill>
                  <a:srgbClr val="153143"/>
                </a:solidFill>
                <a:latin typeface="Arial"/>
                <a:ea typeface="Arial"/>
                <a:cs typeface="Arial"/>
              </a:rPr>
              <a:t>Why does this fragment leave 5 connected?</a:t>
            </a:r>
          </a:p>
          <a:p>
            <a:pPr>
              <a:defRPr sz="2100" b="0">
                <a:solidFill>
                  <a:srgbClr val="153143"/>
                </a:solidFill>
                <a:latin typeface="Arial"/>
                <a:ea typeface="Arial"/>
                <a:cs typeface="Arial"/>
              </a:defRPr>
            </a:pPr>
            <a:r>
              <a:rPr sz="2100" b="0">
                <a:solidFill>
                  <a:srgbClr val="153143"/>
                </a:solidFill>
                <a:latin typeface="Arial"/>
                <a:ea typeface="Arial"/>
                <a:cs typeface="Arial"/>
              </a:rPr>
              <a:t>Which assignment repairs the link?</a:t>
            </a:r>
          </a:p>
          <a:p>
            <a:pPr>
              <a:defRPr sz="2100" b="0">
                <a:solidFill>
                  <a:srgbClr val="153143"/>
                </a:solidFill>
                <a:latin typeface="Arial"/>
                <a:ea typeface="Arial"/>
                <a:cs typeface="Arial"/>
              </a:defRPr>
            </a:pPr>
            <a:r>
              <a:rPr sz="2100" b="0">
                <a:solidFill>
                  <a:srgbClr val="153143"/>
                </a:solidFill>
                <a:latin typeface="Arial"/>
                <a:ea typeface="Arial"/>
                <a:cs typeface="Arial"/>
              </a:rPr>
              <a:t>Why does the public method assign root as well?</a:t>
            </a:r>
          </a:p>
        </p:txBody>
      </p:sp>
      <p:sp>
        <p:nvSpPr>
          <p:cNvPr id="4" name="activity-cue">
            <a:extLst>
              <a:ext uri="{FF2B5EF4-FFF2-40B4-BE49-F238E27FC236}">
                <a16:creationId xmlns:a16="http://schemas.microsoft.com/office/drawing/2014/main" id="{B3DA03B9-C030-4D0E-8509-C85C1848958C}"/>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Explain the returned reference, then write the repaired line. 2 minutes</a:t>
            </a:r>
          </a:p>
        </p:txBody>
      </p:sp>
      <p:sp>
        <p:nvSpPr>
          <p:cNvPr id="5" name="local-java-BST">
            <a:extLst>
              <a:ext uri="{FF2B5EF4-FFF2-40B4-BE49-F238E27FC236}">
                <a16:creationId xmlns:a16="http://schemas.microsoft.com/office/drawing/2014/main" id="{BE5D9EE9-17A7-4B82-815D-69BAC75EA780}"/>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6" name="page">
            <a:extLst>
              <a:ext uri="{FF2B5EF4-FFF2-40B4-BE49-F238E27FC236}">
                <a16:creationId xmlns:a16="http://schemas.microsoft.com/office/drawing/2014/main" id="{5D1B03BC-A6ED-411C-9ED3-B1A955CD2919}"/>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40</a:t>
            </a:r>
          </a:p>
        </p:txBody>
      </p:sp>
    </p:spTree>
    <p:extLst>
      <p:ext uri="{BB962C8B-B14F-4D97-AF65-F5344CB8AC3E}">
        <p14:creationId xmlns:p14="http://schemas.microsoft.com/office/powerpoint/2010/main" val="823748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FE2ABB4B-FAE9-438E-BFF5-280C4863384F}"/>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An inorder iterator</a:t>
            </a:r>
          </a:p>
        </p:txBody>
      </p:sp>
      <p:sp>
        <p:nvSpPr>
          <p:cNvPr id="3" name="text-2">
            <a:extLst>
              <a:ext uri="{FF2B5EF4-FFF2-40B4-BE49-F238E27FC236}">
                <a16:creationId xmlns:a16="http://schemas.microsoft.com/office/drawing/2014/main" id="{0FD476F6-6CB5-4998-BC1D-D2D21DF6000F}"/>
              </a:ext>
            </a:extLst>
          </p:cNvPr>
          <p:cNvSpPr>
            <a:spLocks noGrp="1"/>
          </p:cNvSpPr>
          <p:nvPr/>
        </p:nvSpPr>
        <p:spPr>
          <a:xfrm>
            <a:off x="609600" y="1571625"/>
            <a:ext cx="10810875" cy="4143375"/>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An iterator exposes hasNext() and next().</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 lazy inorder iterator keeps a stack of ancestors.</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Initially, push the path from root to the leftmost node.</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On next(), pop a node and return its key.</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Push the leftmost path in that node’s right subtree.</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Across n calls, total time is O(n) with O(h + 1) stack space.</a:t>
            </a:r>
          </a:p>
        </p:txBody>
      </p:sp>
      <p:sp>
        <p:nvSpPr>
          <p:cNvPr id="4" name="text-3">
            <a:extLst>
              <a:ext uri="{FF2B5EF4-FFF2-40B4-BE49-F238E27FC236}">
                <a16:creationId xmlns:a16="http://schemas.microsoft.com/office/drawing/2014/main" id="{F615A56C-D373-4622-A7EA-33F82624D13A}"/>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Exercise: handle an exhausted iterator with NoSuchElementException.</a:t>
            </a:r>
          </a:p>
        </p:txBody>
      </p:sp>
      <p:sp>
        <p:nvSpPr>
          <p:cNvPr id="6" name="local-java-BST">
            <a:extLst>
              <a:ext uri="{FF2B5EF4-FFF2-40B4-BE49-F238E27FC236}">
                <a16:creationId xmlns:a16="http://schemas.microsoft.com/office/drawing/2014/main" id="{8582AC3F-32AA-4F2D-B30A-5CBCA6BE4F35}"/>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BinarySearchTree.java</a:t>
            </a:r>
          </a:p>
        </p:txBody>
      </p:sp>
      <p:sp>
        <p:nvSpPr>
          <p:cNvPr id="7" name="local-java-IteratorDemo">
            <a:extLst>
              <a:ext uri="{FF2B5EF4-FFF2-40B4-BE49-F238E27FC236}">
                <a16:creationId xmlns:a16="http://schemas.microsoft.com/office/drawing/2014/main" id="{6FBB18E0-E076-499A-B29B-A5783D796DC7}"/>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IteratorDemo.java</a:t>
            </a:r>
          </a:p>
        </p:txBody>
      </p:sp>
      <p:sp>
        <p:nvSpPr>
          <p:cNvPr id="8" name="page">
            <a:extLst>
              <a:ext uri="{FF2B5EF4-FFF2-40B4-BE49-F238E27FC236}">
                <a16:creationId xmlns:a16="http://schemas.microsoft.com/office/drawing/2014/main" id="{E7BCC7AA-417C-4B19-BEBC-C43B527BFEB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41</a:t>
            </a:r>
          </a:p>
        </p:txBody>
      </p:sp>
    </p:spTree>
    <p:extLst>
      <p:ext uri="{BB962C8B-B14F-4D97-AF65-F5344CB8AC3E}">
        <p14:creationId xmlns:p14="http://schemas.microsoft.com/office/powerpoint/2010/main" val="1673784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04314A3-8677-4134-9F84-FE488D631244}"/>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the iterator uses a stack</a:t>
            </a:r>
          </a:p>
        </p:txBody>
      </p:sp>
      <p:sp>
        <p:nvSpPr>
          <p:cNvPr id="2" name="questions">
            <a:extLst>
              <a:ext uri="{FF2B5EF4-FFF2-40B4-BE49-F238E27FC236}">
                <a16:creationId xmlns:a16="http://schemas.microsoft.com/office/drawing/2014/main" id="{08716B9C-E97D-4FC8-AAEA-ABFD196D95E6}"/>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A lazy inorder iterator stores the path to the next key.</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1. Why can its stack use O(h + 1) space?</a:t>
            </a:r>
          </a:p>
          <a:p>
            <a:pPr>
              <a:defRPr sz="2175" b="0">
                <a:solidFill>
                  <a:srgbClr val="153143"/>
                </a:solidFill>
                <a:latin typeface="Arial"/>
                <a:ea typeface="Arial"/>
                <a:cs typeface="Arial"/>
              </a:defRPr>
            </a:pPr>
            <a:r>
              <a:rPr sz="2175" b="0">
                <a:solidFill>
                  <a:srgbClr val="153143"/>
                </a:solidFill>
                <a:latin typeface="Arial"/>
                <a:ea typeface="Arial"/>
                <a:cs typeface="Arial"/>
              </a:rPr>
              <a:t>2. Can one next() call take O(h + 1) time?</a:t>
            </a:r>
          </a:p>
          <a:p>
            <a:pPr>
              <a:defRPr sz="2175" b="0">
                <a:solidFill>
                  <a:srgbClr val="153143"/>
                </a:solidFill>
                <a:latin typeface="Arial"/>
                <a:ea typeface="Arial"/>
                <a:cs typeface="Arial"/>
              </a:defRPr>
            </a:pPr>
            <a:r>
              <a:rPr sz="2175" b="0">
                <a:solidFill>
                  <a:srgbClr val="153143"/>
                </a:solidFill>
                <a:latin typeface="Arial"/>
                <a:ea typeface="Arial"/>
                <a:cs typeface="Arial"/>
              </a:rPr>
              <a:t>3. Why do n successful calls take O(n) total time?</a:t>
            </a:r>
          </a:p>
          <a:p>
            <a:pPr>
              <a:defRPr sz="2175" b="0">
                <a:solidFill>
                  <a:srgbClr val="153143"/>
                </a:solidFill>
                <a:latin typeface="Arial"/>
                <a:ea typeface="Arial"/>
                <a:cs typeface="Arial"/>
              </a:defRPr>
            </a:pPr>
            <a:r>
              <a:rPr sz="2175" b="0">
                <a:solidFill>
                  <a:srgbClr val="153143"/>
                </a:solidFill>
                <a:latin typeface="Arial"/>
                <a:ea typeface="Arial"/>
                <a:cs typeface="Arial"/>
              </a:rPr>
              <a:t>4. What should next() do after exhaustion?</a:t>
            </a:r>
          </a:p>
        </p:txBody>
      </p:sp>
      <p:sp>
        <p:nvSpPr>
          <p:cNvPr id="3" name="activity-cue">
            <a:extLst>
              <a:ext uri="{FF2B5EF4-FFF2-40B4-BE49-F238E27FC236}">
                <a16:creationId xmlns:a16="http://schemas.microsoft.com/office/drawing/2014/main" id="{77948A4C-D83E-4790-B87E-64C7A6FBDC41}"/>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Explain the accounting with one push and one pop per node. 2 minutes</a:t>
            </a:r>
          </a:p>
        </p:txBody>
      </p:sp>
      <p:sp>
        <p:nvSpPr>
          <p:cNvPr id="4" name="local-java-IteratorDemo">
            <a:extLst>
              <a:ext uri="{FF2B5EF4-FFF2-40B4-BE49-F238E27FC236}">
                <a16:creationId xmlns:a16="http://schemas.microsoft.com/office/drawing/2014/main" id="{4E9B1A6B-E318-4D8E-AD66-98B6859B6CEE}"/>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IteratorDemo.java</a:t>
            </a:r>
          </a:p>
        </p:txBody>
      </p:sp>
      <p:sp>
        <p:nvSpPr>
          <p:cNvPr id="5" name="page">
            <a:extLst>
              <a:ext uri="{FF2B5EF4-FFF2-40B4-BE49-F238E27FC236}">
                <a16:creationId xmlns:a16="http://schemas.microsoft.com/office/drawing/2014/main" id="{D4D18CD4-0649-4372-B162-40426E5920B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42</a:t>
            </a:r>
          </a:p>
        </p:txBody>
      </p:sp>
    </p:spTree>
    <p:extLst>
      <p:ext uri="{BB962C8B-B14F-4D97-AF65-F5344CB8AC3E}">
        <p14:creationId xmlns:p14="http://schemas.microsoft.com/office/powerpoint/2010/main" val="707550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91AF823B-7EE4-4874-BDD5-B9EE2B57CFF7}"/>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Height determines operation cost</a:t>
            </a:r>
          </a:p>
        </p:txBody>
      </p:sp>
      <p:graphicFrame>
        <p:nvGraphicFramePr>
          <p:cNvPr id="3" name="Table 2">
            <a:extLst>
              <a:ext uri="{FF2B5EF4-FFF2-40B4-BE49-F238E27FC236}">
                <a16:creationId xmlns:a16="http://schemas.microsoft.com/office/drawing/2014/main" id="{7578C0A0-4B87-4E4D-B6BD-B6DBB1C5C104}"/>
              </a:ext>
            </a:extLst>
          </p:cNvPr>
          <p:cNvGraphicFramePr/>
          <p:nvPr/>
        </p:nvGraphicFramePr>
        <p:xfrm>
          <a:off x="609600" y="1638300"/>
          <a:ext cx="10972800" cy="3238500"/>
        </p:xfrm>
        <a:graphic>
          <a:graphicData uri="http://schemas.openxmlformats.org/drawingml/2006/table">
            <a:tbl>
              <a:tblPr/>
              <a:tblGrid>
                <a:gridCol w="46196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3448050">
                  <a:extLst>
                    <a:ext uri="{9D8B030D-6E8A-4147-A177-3AD203B41FA5}">
                      <a16:colId xmlns:a16="http://schemas.microsoft.com/office/drawing/2014/main" val="20002"/>
                    </a:ext>
                  </a:extLst>
                </a:gridCol>
              </a:tblGrid>
              <a:tr h="809625">
                <a:tc>
                  <a:txBody>
                    <a:bodyPr/>
                    <a:lstStyle/>
                    <a:p>
                      <a:r>
                        <a:rPr sz="1875" b="1">
                          <a:solidFill>
                            <a:srgbClr val="FFFFFF"/>
                          </a:solidFill>
                          <a:latin typeface="Arial"/>
                          <a:ea typeface="Arial"/>
                          <a:cs typeface="Arial"/>
                        </a:rPr>
                        <a:t>Operation</a:t>
                      </a:r>
                    </a:p>
                  </a:txBody>
                  <a:tcPr>
                    <a:lnL w="9525">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75" b="1">
                          <a:solidFill>
                            <a:srgbClr val="FFFFFF"/>
                          </a:solidFill>
                          <a:latin typeface="Arial"/>
                          <a:ea typeface="Arial"/>
                          <a:cs typeface="Arial"/>
                        </a:rPr>
                        <a:t>General BST</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tc>
                  <a:txBody>
                    <a:bodyPr/>
                    <a:lstStyle/>
                    <a:p>
                      <a:r>
                        <a:rPr sz="1875" b="1">
                          <a:solidFill>
                            <a:srgbClr val="FFFFFF"/>
                          </a:solidFill>
                          <a:latin typeface="Arial"/>
                          <a:ea typeface="Arial"/>
                          <a:cs typeface="Arial"/>
                        </a:rPr>
                        <a:t>If height is O(log n)</a:t>
                      </a:r>
                    </a:p>
                  </a:txBody>
                  <a:tcPr>
                    <a:lnL w="9525" cmpd="sng">
                      <a:solidFill>
                        <a:srgbClr val="D6E1E6"/>
                      </a:solidFill>
                      <a:prstDash val="solid"/>
                    </a:lnL>
                    <a:lnR w="9525">
                      <a:solidFill>
                        <a:srgbClr val="D6E1E6"/>
                      </a:solidFill>
                      <a:prstDash val="solid"/>
                    </a:lnR>
                    <a:lnT w="9525">
                      <a:solidFill>
                        <a:srgbClr val="D6E1E6"/>
                      </a:solidFill>
                      <a:prstDash val="solid"/>
                    </a:lnT>
                    <a:lnB w="9525">
                      <a:solidFill>
                        <a:srgbClr val="D6E1E6"/>
                      </a:solidFill>
                      <a:prstDash val="solid"/>
                    </a:lnB>
                    <a:solidFill>
                      <a:srgbClr val="142E42"/>
                    </a:solidFill>
                  </a:tcPr>
                </a:tc>
                <a:extLst>
                  <a:ext uri="{0D108BD9-81ED-4DB2-BD59-A6C34878D82A}">
                    <a16:rowId xmlns:a16="http://schemas.microsoft.com/office/drawing/2014/main" val="10000"/>
                  </a:ext>
                </a:extLst>
              </a:tr>
              <a:tr h="809625">
                <a:tc>
                  <a:txBody>
                    <a:bodyPr/>
                    <a:lstStyle/>
                    <a:p>
                      <a:r>
                        <a:rPr sz="1875" b="0">
                          <a:solidFill>
                            <a:srgbClr val="142E42"/>
                          </a:solidFill>
                          <a:latin typeface="Arial"/>
                          <a:ea typeface="Arial"/>
                          <a:cs typeface="Arial"/>
                        </a:rPr>
                        <a:t>Search, insert, delete</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O(h + 1)</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O(log 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1"/>
                  </a:ext>
                </a:extLst>
              </a:tr>
              <a:tr h="809625">
                <a:tc>
                  <a:txBody>
                    <a:bodyPr/>
                    <a:lstStyle/>
                    <a:p>
                      <a:r>
                        <a:rPr sz="1875" b="0">
                          <a:solidFill>
                            <a:srgbClr val="142E42"/>
                          </a:solidFill>
                          <a:latin typeface="Arial"/>
                          <a:ea typeface="Arial"/>
                          <a:cs typeface="Arial"/>
                        </a:rPr>
                        <a:t>Minimum, maximum</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1875" b="0">
                          <a:solidFill>
                            <a:srgbClr val="142E42"/>
                          </a:solidFill>
                          <a:latin typeface="Arial"/>
                          <a:ea typeface="Arial"/>
                          <a:cs typeface="Arial"/>
                        </a:rPr>
                        <a:t>O(h + 1)</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tc>
                  <a:txBody>
                    <a:bodyPr/>
                    <a:lstStyle/>
                    <a:p>
                      <a:r>
                        <a:rPr sz="1875" b="0">
                          <a:solidFill>
                            <a:srgbClr val="142E42"/>
                          </a:solidFill>
                          <a:latin typeface="Arial"/>
                          <a:ea typeface="Arial"/>
                          <a:cs typeface="Arial"/>
                        </a:rPr>
                        <a:t>O(log 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FFFFFF"/>
                    </a:solidFill>
                  </a:tcPr>
                </a:tc>
                <a:extLst>
                  <a:ext uri="{0D108BD9-81ED-4DB2-BD59-A6C34878D82A}">
                    <a16:rowId xmlns:a16="http://schemas.microsoft.com/office/drawing/2014/main" val="10002"/>
                  </a:ext>
                </a:extLst>
              </a:tr>
              <a:tr h="809625">
                <a:tc>
                  <a:txBody>
                    <a:bodyPr/>
                    <a:lstStyle/>
                    <a:p>
                      <a:r>
                        <a:rPr sz="1875" b="0">
                          <a:solidFill>
                            <a:srgbClr val="142E42"/>
                          </a:solidFill>
                          <a:latin typeface="Arial"/>
                          <a:ea typeface="Arial"/>
                          <a:cs typeface="Arial"/>
                        </a:rPr>
                        <a:t>Full traversal</a:t>
                      </a:r>
                    </a:p>
                  </a:txBody>
                  <a:tcPr>
                    <a:lnL w="9525">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tc>
                  <a:txBody>
                    <a:bodyPr/>
                    <a:lstStyle/>
                    <a:p>
                      <a:r>
                        <a:rPr sz="1875" b="0">
                          <a:solidFill>
                            <a:srgbClr val="142E42"/>
                          </a:solidFill>
                          <a:latin typeface="Arial"/>
                          <a:ea typeface="Arial"/>
                          <a:cs typeface="Arial"/>
                        </a:rPr>
                        <a:t>O(n)</a:t>
                      </a:r>
                    </a:p>
                  </a:txBody>
                  <a:tcPr>
                    <a:lnL w="9525" cmpd="sng">
                      <a:solidFill>
                        <a:srgbClr val="D6E1E6"/>
                      </a:solidFill>
                      <a:prstDash val="solid"/>
                    </a:lnL>
                    <a:lnR w="9525">
                      <a:solidFill>
                        <a:srgbClr val="D6E1E6"/>
                      </a:solidFill>
                      <a:prstDash val="solid"/>
                    </a:lnR>
                    <a:lnT w="9525" cmpd="sng">
                      <a:solidFill>
                        <a:srgbClr val="D6E1E6"/>
                      </a:solidFill>
                      <a:prstDash val="solid"/>
                    </a:lnT>
                    <a:lnB w="9525">
                      <a:solidFill>
                        <a:srgbClr val="D6E1E6"/>
                      </a:solidFill>
                      <a:prstDash val="solid"/>
                    </a:lnB>
                    <a:solidFill>
                      <a:srgbClr val="EDF4F6"/>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37D543FF-1370-4700-80A7-CC138EF535B0}"/>
              </a:ext>
            </a:extLst>
          </p:cNvPr>
          <p:cNvSpPr>
            <a:spLocks noGrp="1"/>
          </p:cNvSpPr>
          <p:nvPr/>
        </p:nvSpPr>
        <p:spPr>
          <a:xfrm>
            <a:off x="609600" y="5286375"/>
            <a:ext cx="10763250" cy="857250"/>
          </a:xfrm>
          <a:prstGeom prst="rect">
            <a:avLst/>
          </a:prstGeom>
          <a:noFill/>
          <a:ln w="0">
            <a:noFill/>
          </a:ln>
        </p:spPr>
        <p:txBody>
          <a:bodyPr lIns="0" tIns="0" rIns="0" bIns="0" anchor="t"/>
          <a:lstStyle>
            <a:defPPr algn="l">
              <a:defRPr sz="2025" b="0">
                <a:solidFill>
                  <a:srgbClr val="142E42"/>
                </a:solidFill>
                <a:latin typeface="Arial"/>
                <a:ea typeface="Arial"/>
                <a:cs typeface="Arial"/>
              </a:defRPr>
            </a:defPPr>
            <a:lvl1pPr algn="l">
              <a:buNone/>
              <a:defRPr sz="2025" b="0">
                <a:solidFill>
                  <a:srgbClr val="142E42"/>
                </a:solidFill>
                <a:latin typeface="Arial"/>
                <a:ea typeface="Arial"/>
                <a:cs typeface="Arial"/>
              </a:defRPr>
            </a:lvl1pPr>
            <a:lvl2pPr algn="l">
              <a:buNone/>
              <a:defRPr sz="2025" b="0">
                <a:solidFill>
                  <a:srgbClr val="142E42"/>
                </a:solidFill>
                <a:latin typeface="Arial"/>
                <a:ea typeface="Arial"/>
                <a:cs typeface="Arial"/>
              </a:defRPr>
            </a:lvl2pPr>
            <a:lvl3pPr algn="l">
              <a:buNone/>
              <a:defRPr sz="2025" b="0">
                <a:solidFill>
                  <a:srgbClr val="142E42"/>
                </a:solidFill>
                <a:latin typeface="Arial"/>
                <a:ea typeface="Arial"/>
                <a:cs typeface="Arial"/>
              </a:defRPr>
            </a:lvl3pPr>
            <a:lvl4pPr algn="l">
              <a:buNone/>
              <a:defRPr sz="2025" b="0">
                <a:solidFill>
                  <a:srgbClr val="142E42"/>
                </a:solidFill>
                <a:latin typeface="Arial"/>
                <a:ea typeface="Arial"/>
                <a:cs typeface="Arial"/>
              </a:defRPr>
            </a:lvl4pPr>
            <a:lvl5pPr algn="l">
              <a:buNone/>
              <a:defRPr sz="2025" b="0">
                <a:solidFill>
                  <a:srgbClr val="142E42"/>
                </a:solidFill>
                <a:latin typeface="Arial"/>
                <a:ea typeface="Arial"/>
                <a:cs typeface="Arial"/>
              </a:defRPr>
            </a:lvl5pPr>
            <a:lvl6pPr algn="l">
              <a:buNone/>
              <a:defRPr sz="2025" b="0">
                <a:solidFill>
                  <a:srgbClr val="142E42"/>
                </a:solidFill>
                <a:latin typeface="Arial"/>
                <a:ea typeface="Arial"/>
                <a:cs typeface="Arial"/>
              </a:defRPr>
            </a:lvl6pPr>
            <a:lvl7pPr algn="l">
              <a:buNone/>
              <a:defRPr sz="2025" b="0">
                <a:solidFill>
                  <a:srgbClr val="142E42"/>
                </a:solidFill>
                <a:latin typeface="Arial"/>
                <a:ea typeface="Arial"/>
                <a:cs typeface="Arial"/>
              </a:defRPr>
            </a:lvl7pPr>
            <a:lvl8pPr algn="l">
              <a:buNone/>
              <a:defRPr sz="2025" b="0">
                <a:solidFill>
                  <a:srgbClr val="142E42"/>
                </a:solidFill>
                <a:latin typeface="Arial"/>
                <a:ea typeface="Arial"/>
                <a:cs typeface="Arial"/>
              </a:defRPr>
            </a:lvl8pPr>
            <a:lvl9pPr algn="l">
              <a:buNone/>
              <a:defRPr sz="2025" b="0">
                <a:solidFill>
                  <a:srgbClr val="142E42"/>
                </a:solidFill>
                <a:latin typeface="Arial"/>
                <a:ea typeface="Arial"/>
                <a:cs typeface="Arial"/>
              </a:defRPr>
            </a:lvl9pPr>
          </a:lstStyle>
          <a:p>
            <a:pPr algn="l">
              <a:buNone/>
              <a:defRPr sz="2025" b="0">
                <a:solidFill>
                  <a:srgbClr val="142E42"/>
                </a:solidFill>
                <a:latin typeface="Arial"/>
                <a:ea typeface="Arial"/>
                <a:cs typeface="Arial"/>
              </a:defRPr>
            </a:pPr>
            <a:r>
              <a:rPr sz="2025" b="0">
                <a:solidFill>
                  <a:srgbClr val="142E42"/>
                </a:solidFill>
                <a:latin typeface="Arial"/>
                <a:ea typeface="Arial"/>
                <a:cs typeface="Arial"/>
              </a:rPr>
              <a:t>Sorted insertion can create a chain with height n − 1.</a:t>
            </a:r>
          </a:p>
          <a:p>
            <a:pPr algn="l">
              <a:buNone/>
              <a:defRPr sz="2025" b="0">
                <a:solidFill>
                  <a:srgbClr val="142E42"/>
                </a:solidFill>
                <a:latin typeface="Arial"/>
                <a:ea typeface="Arial"/>
                <a:cs typeface="Arial"/>
              </a:defRPr>
            </a:pPr>
            <a:r>
              <a:rPr sz="2025" b="0">
                <a:solidFill>
                  <a:srgbClr val="142E42"/>
                </a:solidFill>
                <a:latin typeface="Arial"/>
                <a:ea typeface="Arial"/>
                <a:cs typeface="Arial"/>
              </a:rPr>
              <a:t>A balanced search tree controls height as the data changes.</a:t>
            </a:r>
          </a:p>
        </p:txBody>
      </p:sp>
      <p:sp>
        <p:nvSpPr>
          <p:cNvPr id="6" name="local-java-HeightDemo">
            <a:extLst>
              <a:ext uri="{FF2B5EF4-FFF2-40B4-BE49-F238E27FC236}">
                <a16:creationId xmlns:a16="http://schemas.microsoft.com/office/drawing/2014/main" id="{6EA86A0F-F646-4B09-A0FE-FBF460B493A4}"/>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HeightDemo.java</a:t>
            </a:r>
          </a:p>
        </p:txBody>
      </p:sp>
      <p:sp>
        <p:nvSpPr>
          <p:cNvPr id="7" name="page">
            <a:extLst>
              <a:ext uri="{FF2B5EF4-FFF2-40B4-BE49-F238E27FC236}">
                <a16:creationId xmlns:a16="http://schemas.microsoft.com/office/drawing/2014/main" id="{7D2F1AEA-53BC-47DE-A813-399AEAF0B678}"/>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43</a:t>
            </a:r>
          </a:p>
        </p:txBody>
      </p:sp>
    </p:spTree>
    <p:extLst>
      <p:ext uri="{BB962C8B-B14F-4D97-AF65-F5344CB8AC3E}">
        <p14:creationId xmlns:p14="http://schemas.microsoft.com/office/powerpoint/2010/main" val="2060457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D588A7B-C02C-4ED9-918C-6F181D016F76}"/>
              </a:ext>
            </a:extLst>
          </p:cNvPr>
          <p:cNvSpPr>
            <a:spLocks noGrp="1"/>
          </p:cNvSpPr>
          <p:nvPr/>
        </p:nvSpPr>
        <p:spPr>
          <a:xfrm>
            <a:off x="609600" y="476250"/>
            <a:ext cx="10972800" cy="762000"/>
          </a:xfrm>
          <a:prstGeom prst="rect">
            <a:avLst/>
          </a:prstGeom>
          <a:noFill/>
          <a:ln w="0">
            <a:noFill/>
          </a:ln>
        </p:spPr>
        <p:txBody>
          <a:bodyPr lIns="0" tIns="0" rIns="0" bIns="0"/>
          <a:lstStyle>
            <a:defPPr>
              <a:defRPr sz="3000" b="1">
                <a:solidFill>
                  <a:srgbClr val="153143"/>
                </a:solidFill>
                <a:latin typeface="Arial"/>
                <a:ea typeface="Arial"/>
                <a:cs typeface="Arial"/>
              </a:defRPr>
            </a:defPPr>
            <a:lvl1pPr>
              <a:buNone/>
              <a:defRPr sz="3000" b="1">
                <a:solidFill>
                  <a:srgbClr val="153143"/>
                </a:solidFill>
                <a:latin typeface="Arial"/>
                <a:ea typeface="Arial"/>
                <a:cs typeface="Arial"/>
              </a:defRPr>
            </a:lvl1pPr>
            <a:lvl2pPr>
              <a:buNone/>
              <a:defRPr sz="3000" b="1">
                <a:solidFill>
                  <a:srgbClr val="153143"/>
                </a:solidFill>
                <a:latin typeface="Arial"/>
                <a:ea typeface="Arial"/>
                <a:cs typeface="Arial"/>
              </a:defRPr>
            </a:lvl2pPr>
            <a:lvl3pPr>
              <a:buNone/>
              <a:defRPr sz="3000" b="1">
                <a:solidFill>
                  <a:srgbClr val="153143"/>
                </a:solidFill>
                <a:latin typeface="Arial"/>
                <a:ea typeface="Arial"/>
                <a:cs typeface="Arial"/>
              </a:defRPr>
            </a:lvl3pPr>
            <a:lvl4pPr>
              <a:buNone/>
              <a:defRPr sz="3000" b="1">
                <a:solidFill>
                  <a:srgbClr val="153143"/>
                </a:solidFill>
                <a:latin typeface="Arial"/>
                <a:ea typeface="Arial"/>
                <a:cs typeface="Arial"/>
              </a:defRPr>
            </a:lvl4pPr>
            <a:lvl5pPr>
              <a:buNone/>
              <a:defRPr sz="3000" b="1">
                <a:solidFill>
                  <a:srgbClr val="153143"/>
                </a:solidFill>
                <a:latin typeface="Arial"/>
                <a:ea typeface="Arial"/>
                <a:cs typeface="Arial"/>
              </a:defRPr>
            </a:lvl5pPr>
            <a:lvl6pPr>
              <a:buNone/>
              <a:defRPr sz="3000" b="1">
                <a:solidFill>
                  <a:srgbClr val="153143"/>
                </a:solidFill>
                <a:latin typeface="Arial"/>
                <a:ea typeface="Arial"/>
                <a:cs typeface="Arial"/>
              </a:defRPr>
            </a:lvl6pPr>
            <a:lvl7pPr>
              <a:buNone/>
              <a:defRPr sz="3000" b="1">
                <a:solidFill>
                  <a:srgbClr val="153143"/>
                </a:solidFill>
                <a:latin typeface="Arial"/>
                <a:ea typeface="Arial"/>
                <a:cs typeface="Arial"/>
              </a:defRPr>
            </a:lvl7pPr>
            <a:lvl8pPr>
              <a:buNone/>
              <a:defRPr sz="3000" b="1">
                <a:solidFill>
                  <a:srgbClr val="153143"/>
                </a:solidFill>
                <a:latin typeface="Arial"/>
                <a:ea typeface="Arial"/>
                <a:cs typeface="Arial"/>
              </a:defRPr>
            </a:lvl8pPr>
            <a:lvl9pPr>
              <a:buNone/>
              <a:defRPr sz="3000" b="1">
                <a:solidFill>
                  <a:srgbClr val="153143"/>
                </a:solidFill>
                <a:latin typeface="Arial"/>
                <a:ea typeface="Arial"/>
                <a:cs typeface="Arial"/>
              </a:defRPr>
            </a:lvl9pPr>
          </a:lstStyle>
          <a:p>
            <a:pPr>
              <a:buNone/>
              <a:defRPr sz="3000" b="1">
                <a:solidFill>
                  <a:srgbClr val="153143"/>
                </a:solidFill>
                <a:latin typeface="Arial"/>
                <a:ea typeface="Arial"/>
                <a:cs typeface="Arial"/>
              </a:defRPr>
            </a:pPr>
            <a:r>
              <a:rPr sz="3000" b="1">
                <a:solidFill>
                  <a:srgbClr val="153143"/>
                </a:solidFill>
                <a:latin typeface="Arial"/>
                <a:ea typeface="Arial"/>
                <a:cs typeface="Arial"/>
              </a:rPr>
              <a:t>Traversal cost and search cost</a:t>
            </a:r>
          </a:p>
        </p:txBody>
      </p:sp>
      <p:sp>
        <p:nvSpPr>
          <p:cNvPr id="2" name="body">
            <a:extLst>
              <a:ext uri="{FF2B5EF4-FFF2-40B4-BE49-F238E27FC236}">
                <a16:creationId xmlns:a16="http://schemas.microsoft.com/office/drawing/2014/main" id="{CC33B92D-C767-4EFF-97D1-79180DD3B92F}"/>
              </a:ext>
            </a:extLst>
          </p:cNvPr>
          <p:cNvSpPr>
            <a:spLocks noGrp="1"/>
          </p:cNvSpPr>
          <p:nvPr/>
        </p:nvSpPr>
        <p:spPr>
          <a:xfrm>
            <a:off x="609600" y="1809750"/>
            <a:ext cx="10972800" cy="3429000"/>
          </a:xfrm>
          <a:prstGeom prst="rect">
            <a:avLst/>
          </a:prstGeom>
          <a:noFill/>
          <a:ln w="0">
            <a:noFill/>
          </a:ln>
        </p:spPr>
        <p:txBody>
          <a:bodyPr lIns="0" tIns="0" rIns="0" bIns="0"/>
          <a:lstStyle>
            <a:defPPr>
              <a:defRPr sz="2175" b="0">
                <a:solidFill>
                  <a:srgbClr val="153143"/>
                </a:solidFill>
                <a:latin typeface="Arial"/>
                <a:ea typeface="Arial"/>
                <a:cs typeface="Arial"/>
              </a:defRPr>
            </a:defPPr>
            <a:lvl1pPr>
              <a:buNone/>
              <a:defRPr sz="2175" b="0">
                <a:solidFill>
                  <a:srgbClr val="153143"/>
                </a:solidFill>
                <a:latin typeface="Arial"/>
                <a:ea typeface="Arial"/>
                <a:cs typeface="Arial"/>
              </a:defRPr>
            </a:lvl1pPr>
            <a:lvl2pPr>
              <a:buNone/>
              <a:defRPr sz="2175" b="0">
                <a:solidFill>
                  <a:srgbClr val="153143"/>
                </a:solidFill>
                <a:latin typeface="Arial"/>
                <a:ea typeface="Arial"/>
                <a:cs typeface="Arial"/>
              </a:defRPr>
            </a:lvl2pPr>
            <a:lvl3pPr>
              <a:buNone/>
              <a:defRPr sz="2175" b="0">
                <a:solidFill>
                  <a:srgbClr val="153143"/>
                </a:solidFill>
                <a:latin typeface="Arial"/>
                <a:ea typeface="Arial"/>
                <a:cs typeface="Arial"/>
              </a:defRPr>
            </a:lvl3pPr>
            <a:lvl4pPr>
              <a:buNone/>
              <a:defRPr sz="2175" b="0">
                <a:solidFill>
                  <a:srgbClr val="153143"/>
                </a:solidFill>
                <a:latin typeface="Arial"/>
                <a:ea typeface="Arial"/>
                <a:cs typeface="Arial"/>
              </a:defRPr>
            </a:lvl4pPr>
            <a:lvl5pPr>
              <a:buNone/>
              <a:defRPr sz="2175" b="0">
                <a:solidFill>
                  <a:srgbClr val="153143"/>
                </a:solidFill>
                <a:latin typeface="Arial"/>
                <a:ea typeface="Arial"/>
                <a:cs typeface="Arial"/>
              </a:defRPr>
            </a:lvl5pPr>
            <a:lvl6pPr>
              <a:buNone/>
              <a:defRPr sz="2175" b="0">
                <a:solidFill>
                  <a:srgbClr val="153143"/>
                </a:solidFill>
                <a:latin typeface="Arial"/>
                <a:ea typeface="Arial"/>
                <a:cs typeface="Arial"/>
              </a:defRPr>
            </a:lvl6pPr>
            <a:lvl7pPr>
              <a:buNone/>
              <a:defRPr sz="2175" b="0">
                <a:solidFill>
                  <a:srgbClr val="153143"/>
                </a:solidFill>
                <a:latin typeface="Arial"/>
                <a:ea typeface="Arial"/>
                <a:cs typeface="Arial"/>
              </a:defRPr>
            </a:lvl7pPr>
            <a:lvl8pPr>
              <a:buNone/>
              <a:defRPr sz="2175" b="0">
                <a:solidFill>
                  <a:srgbClr val="153143"/>
                </a:solidFill>
                <a:latin typeface="Arial"/>
                <a:ea typeface="Arial"/>
                <a:cs typeface="Arial"/>
              </a:defRPr>
            </a:lvl8pPr>
            <a:lvl9pPr>
              <a:buNone/>
              <a:defRPr sz="2175" b="0">
                <a:solidFill>
                  <a:srgbClr val="153143"/>
                </a:solidFill>
                <a:latin typeface="Arial"/>
                <a:ea typeface="Arial"/>
                <a:cs typeface="Arial"/>
              </a:defRPr>
            </a:lvl9pPr>
          </a:lstStyle>
          <a:p>
            <a:pPr>
              <a:buNone/>
              <a:defRPr sz="2175" b="0">
                <a:solidFill>
                  <a:srgbClr val="153143"/>
                </a:solidFill>
                <a:latin typeface="Arial"/>
                <a:ea typeface="Arial"/>
                <a:cs typeface="Arial"/>
              </a:defRPr>
            </a:pPr>
            <a:r>
              <a:rPr sz="2175" b="0">
                <a:solidFill>
                  <a:srgbClr val="153143"/>
                </a:solidFill>
                <a:latin typeface="Arial"/>
                <a:ea typeface="Arial"/>
                <a:cs typeface="Arial"/>
              </a:rPr>
              <a:t>A full traversal visits all n nodes: O(n) time.</a:t>
            </a:r>
          </a:p>
          <a:p>
            <a:endParaRPr sz="2175" b="0">
              <a:solidFill>
                <a:srgbClr val="153143"/>
              </a:solidFill>
              <a:latin typeface="Arial"/>
              <a:ea typeface="Arial"/>
              <a:cs typeface="Arial"/>
            </a:endParaRPr>
          </a:p>
          <a:p>
            <a:pPr>
              <a:buNone/>
              <a:defRPr sz="2175" b="0">
                <a:solidFill>
                  <a:srgbClr val="153143"/>
                </a:solidFill>
                <a:latin typeface="Arial"/>
                <a:ea typeface="Arial"/>
                <a:cs typeface="Arial"/>
              </a:defRPr>
            </a:pPr>
            <a:r>
              <a:rPr sz="2175" b="0">
                <a:solidFill>
                  <a:srgbClr val="153143"/>
                </a:solidFill>
                <a:latin typeface="Arial"/>
                <a:ea typeface="Arial"/>
                <a:cs typeface="Arial"/>
              </a:rPr>
              <a:t>Search follows one root-to-node path: O(h + 1) time.</a:t>
            </a:r>
          </a:p>
          <a:p>
            <a:endParaRPr sz="2175" b="0">
              <a:solidFill>
                <a:srgbClr val="153143"/>
              </a:solidFill>
              <a:latin typeface="Arial"/>
              <a:ea typeface="Arial"/>
              <a:cs typeface="Arial"/>
            </a:endParaRPr>
          </a:p>
          <a:p>
            <a:pPr>
              <a:buNone/>
              <a:defRPr sz="2175" b="0">
                <a:solidFill>
                  <a:srgbClr val="153143"/>
                </a:solidFill>
                <a:latin typeface="Arial"/>
                <a:ea typeface="Arial"/>
                <a:cs typeface="Arial"/>
              </a:defRPr>
            </a:pPr>
            <a:r>
              <a:rPr sz="2175" b="0">
                <a:solidFill>
                  <a:srgbClr val="153143"/>
                </a:solidFill>
                <a:latin typeface="Arial"/>
                <a:ea typeface="Arial"/>
                <a:cs typeface="Arial"/>
              </a:rPr>
              <a:t>A short tree and a chain have the same traversal cost,</a:t>
            </a:r>
          </a:p>
          <a:p>
            <a:pPr>
              <a:buNone/>
              <a:defRPr sz="2175" b="0">
                <a:solidFill>
                  <a:srgbClr val="153143"/>
                </a:solidFill>
                <a:latin typeface="Arial"/>
                <a:ea typeface="Arial"/>
                <a:cs typeface="Arial"/>
              </a:defRPr>
            </a:pPr>
            <a:r>
              <a:rPr sz="2175" b="0">
                <a:solidFill>
                  <a:srgbClr val="153143"/>
                </a:solidFill>
                <a:latin typeface="Arial"/>
                <a:ea typeface="Arial"/>
                <a:cs typeface="Arial"/>
              </a:rPr>
              <a:t>but very different search paths.</a:t>
            </a:r>
          </a:p>
        </p:txBody>
      </p:sp>
      <p:sp>
        <p:nvSpPr>
          <p:cNvPr id="3" name="discussion">
            <a:extLst>
              <a:ext uri="{FF2B5EF4-FFF2-40B4-BE49-F238E27FC236}">
                <a16:creationId xmlns:a16="http://schemas.microsoft.com/office/drawing/2014/main" id="{9F2D083A-956C-40EA-A4C0-89BFA4DCB19F}"/>
              </a:ext>
            </a:extLst>
          </p:cNvPr>
          <p:cNvSpPr>
            <a:spLocks noGrp="1"/>
          </p:cNvSpPr>
          <p:nvPr/>
        </p:nvSpPr>
        <p:spPr>
          <a:xfrm>
            <a:off x="609600" y="5667375"/>
            <a:ext cx="10972800" cy="381000"/>
          </a:xfrm>
          <a:prstGeom prst="rect">
            <a:avLst/>
          </a:prstGeom>
          <a:noFill/>
          <a:ln w="0">
            <a:noFill/>
          </a:ln>
        </p:spPr>
        <p:txBody>
          <a:bodyPr lIns="0" tIns="0" rIns="0" bIns="0"/>
          <a:lstStyle>
            <a:defPPr>
              <a:defRPr sz="1800" b="1">
                <a:solidFill>
                  <a:srgbClr val="007D89"/>
                </a:solidFill>
                <a:latin typeface="Arial"/>
                <a:ea typeface="Arial"/>
                <a:cs typeface="Arial"/>
              </a:defRPr>
            </a:defPPr>
            <a:lvl1pPr>
              <a:buNone/>
              <a:defRPr sz="1800" b="1">
                <a:solidFill>
                  <a:srgbClr val="007D89"/>
                </a:solidFill>
                <a:latin typeface="Arial"/>
                <a:ea typeface="Arial"/>
                <a:cs typeface="Arial"/>
              </a:defRPr>
            </a:lvl1pPr>
            <a:lvl2pPr>
              <a:buNone/>
              <a:defRPr sz="1800" b="1">
                <a:solidFill>
                  <a:srgbClr val="007D89"/>
                </a:solidFill>
                <a:latin typeface="Arial"/>
                <a:ea typeface="Arial"/>
                <a:cs typeface="Arial"/>
              </a:defRPr>
            </a:lvl2pPr>
            <a:lvl3pPr>
              <a:buNone/>
              <a:defRPr sz="1800" b="1">
                <a:solidFill>
                  <a:srgbClr val="007D89"/>
                </a:solidFill>
                <a:latin typeface="Arial"/>
                <a:ea typeface="Arial"/>
                <a:cs typeface="Arial"/>
              </a:defRPr>
            </a:lvl3pPr>
            <a:lvl4pPr>
              <a:buNone/>
              <a:defRPr sz="1800" b="1">
                <a:solidFill>
                  <a:srgbClr val="007D89"/>
                </a:solidFill>
                <a:latin typeface="Arial"/>
                <a:ea typeface="Arial"/>
                <a:cs typeface="Arial"/>
              </a:defRPr>
            </a:lvl4pPr>
            <a:lvl5pPr>
              <a:buNone/>
              <a:defRPr sz="1800" b="1">
                <a:solidFill>
                  <a:srgbClr val="007D89"/>
                </a:solidFill>
                <a:latin typeface="Arial"/>
                <a:ea typeface="Arial"/>
                <a:cs typeface="Arial"/>
              </a:defRPr>
            </a:lvl5pPr>
            <a:lvl6pPr>
              <a:buNone/>
              <a:defRPr sz="1800" b="1">
                <a:solidFill>
                  <a:srgbClr val="007D89"/>
                </a:solidFill>
                <a:latin typeface="Arial"/>
                <a:ea typeface="Arial"/>
                <a:cs typeface="Arial"/>
              </a:defRPr>
            </a:lvl6pPr>
            <a:lvl7pPr>
              <a:buNone/>
              <a:defRPr sz="1800" b="1">
                <a:solidFill>
                  <a:srgbClr val="007D89"/>
                </a:solidFill>
                <a:latin typeface="Arial"/>
                <a:ea typeface="Arial"/>
                <a:cs typeface="Arial"/>
              </a:defRPr>
            </a:lvl7pPr>
            <a:lvl8pPr>
              <a:buNone/>
              <a:defRPr sz="1800" b="1">
                <a:solidFill>
                  <a:srgbClr val="007D89"/>
                </a:solidFill>
                <a:latin typeface="Arial"/>
                <a:ea typeface="Arial"/>
                <a:cs typeface="Arial"/>
              </a:defRPr>
            </a:lvl8pPr>
            <a:lvl9pPr>
              <a:buNone/>
              <a:defRPr sz="1800" b="1">
                <a:solidFill>
                  <a:srgbClr val="007D89"/>
                </a:solidFill>
                <a:latin typeface="Arial"/>
                <a:ea typeface="Arial"/>
                <a:cs typeface="Arial"/>
              </a:defRPr>
            </a:lvl9pPr>
          </a:lstStyle>
          <a:p>
            <a:pPr>
              <a:buNone/>
              <a:defRPr sz="1800" b="1">
                <a:solidFill>
                  <a:srgbClr val="007D89"/>
                </a:solidFill>
                <a:latin typeface="Arial"/>
                <a:ea typeface="Arial"/>
                <a:cs typeface="Arial"/>
              </a:defRPr>
            </a:pPr>
            <a:r>
              <a:rPr sz="1800" b="1">
                <a:solidFill>
                  <a:srgbClr val="007D89"/>
                </a:solidFill>
                <a:latin typeface="Arial"/>
                <a:ea typeface="Arial"/>
                <a:cs typeface="Arial"/>
              </a:rPr>
              <a:t>Discuss: when must an algorithm visit every node?</a:t>
            </a:r>
          </a:p>
        </p:txBody>
      </p:sp>
      <p:sp>
        <p:nvSpPr>
          <p:cNvPr id="5" name="local-java-TraversalDemo">
            <a:extLst>
              <a:ext uri="{FF2B5EF4-FFF2-40B4-BE49-F238E27FC236}">
                <a16:creationId xmlns:a16="http://schemas.microsoft.com/office/drawing/2014/main" id="{F88D07F5-C52E-4A5E-B523-66D9B39AC755}"/>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TraversalDemo.java</a:t>
            </a:r>
          </a:p>
        </p:txBody>
      </p:sp>
      <p:sp>
        <p:nvSpPr>
          <p:cNvPr id="7" name="page">
            <a:extLst>
              <a:ext uri="{FF2B5EF4-FFF2-40B4-BE49-F238E27FC236}">
                <a16:creationId xmlns:a16="http://schemas.microsoft.com/office/drawing/2014/main" id="{46A60065-394E-4D60-833C-AF3B3801F82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44</a:t>
            </a:r>
          </a:p>
        </p:txBody>
      </p:sp>
    </p:spTree>
    <p:extLst>
      <p:ext uri="{BB962C8B-B14F-4D97-AF65-F5344CB8AC3E}">
        <p14:creationId xmlns:p14="http://schemas.microsoft.com/office/powerpoint/2010/main" val="3073965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pic>
        <p:nvPicPr>
          <p:cNvPr id="17414" name="Picture 5">
            <a:extLst>
              <a:ext uri="{FF2B5EF4-FFF2-40B4-BE49-F238E27FC236}">
                <a16:creationId xmlns:a16="http://schemas.microsoft.com/office/drawing/2014/main" id="{1F0BFED2-6055-4A70-B024-DBD0F6CC0EE1}"/>
              </a:ext>
            </a:extLst>
          </p:cNvPr>
          <p:cNvPicPr>
            <a:picLocks noGrp="1" noChangeAspect="1"/>
          </p:cNvPicPr>
          <p:nvPr>
            <p:ph idx="2"/>
          </p:nvPr>
        </p:nvPicPr>
        <p:blipFill>
          <a:blip r:embed="rId3"/>
          <a:srcRect/>
          <a:stretch>
            <a:fillRect/>
          </a:stretch>
        </p:blipFill>
        <p:spPr>
          <a:xfrm>
            <a:off x="8096250" y="1524000"/>
            <a:ext cx="1905000" cy="3200400"/>
          </a:xfrm>
        </p:spPr>
      </p:pic>
      <p:sp>
        <p:nvSpPr>
          <p:cNvPr id="17415" name="title">
            <a:extLst>
              <a:ext uri="{FF2B5EF4-FFF2-40B4-BE49-F238E27FC236}">
                <a16:creationId xmlns:a16="http://schemas.microsoft.com/office/drawing/2014/main" id="{C7894224-0C56-421D-A492-F21BA9D64051}"/>
              </a:ext>
            </a:extLst>
          </p:cNvPr>
          <p:cNvSpPr>
            <a:spLocks noGrp="1"/>
          </p:cNvSpPr>
          <p:nvPr/>
        </p:nvSpPr>
        <p:spPr>
          <a:xfrm>
            <a:off x="609600" y="476250"/>
            <a:ext cx="10972800" cy="762000"/>
          </a:xfrm>
          <a:prstGeom prst="rect">
            <a:avLst/>
          </a:prstGeom>
          <a:noFill/>
          <a:ln w="0">
            <a:noFill/>
          </a:ln>
        </p:spPr>
        <p:txBody>
          <a:bodyPr lIns="0" tIns="0" rIns="0" bIns="0"/>
          <a:lstStyle>
            <a:defPPr>
              <a:defRPr sz="3000" b="1">
                <a:solidFill>
                  <a:srgbClr val="153143"/>
                </a:solidFill>
                <a:latin typeface="Arial"/>
                <a:ea typeface="Arial"/>
                <a:cs typeface="Arial"/>
              </a:defRPr>
            </a:defPPr>
            <a:lvl1pPr>
              <a:buNone/>
              <a:defRPr sz="3000" b="1">
                <a:solidFill>
                  <a:srgbClr val="153143"/>
                </a:solidFill>
                <a:latin typeface="Arial"/>
                <a:ea typeface="Arial"/>
                <a:cs typeface="Arial"/>
              </a:defRPr>
            </a:lvl1pPr>
            <a:lvl2pPr>
              <a:buNone/>
              <a:defRPr sz="3000" b="1">
                <a:solidFill>
                  <a:srgbClr val="153143"/>
                </a:solidFill>
                <a:latin typeface="Arial"/>
                <a:ea typeface="Arial"/>
                <a:cs typeface="Arial"/>
              </a:defRPr>
            </a:lvl2pPr>
            <a:lvl3pPr>
              <a:buNone/>
              <a:defRPr sz="3000" b="1">
                <a:solidFill>
                  <a:srgbClr val="153143"/>
                </a:solidFill>
                <a:latin typeface="Arial"/>
                <a:ea typeface="Arial"/>
                <a:cs typeface="Arial"/>
              </a:defRPr>
            </a:lvl3pPr>
            <a:lvl4pPr>
              <a:buNone/>
              <a:defRPr sz="3000" b="1">
                <a:solidFill>
                  <a:srgbClr val="153143"/>
                </a:solidFill>
                <a:latin typeface="Arial"/>
                <a:ea typeface="Arial"/>
                <a:cs typeface="Arial"/>
              </a:defRPr>
            </a:lvl4pPr>
            <a:lvl5pPr>
              <a:buNone/>
              <a:defRPr sz="3000" b="1">
                <a:solidFill>
                  <a:srgbClr val="153143"/>
                </a:solidFill>
                <a:latin typeface="Arial"/>
                <a:ea typeface="Arial"/>
                <a:cs typeface="Arial"/>
              </a:defRPr>
            </a:lvl5pPr>
            <a:lvl6pPr>
              <a:buNone/>
              <a:defRPr sz="3000" b="1">
                <a:solidFill>
                  <a:srgbClr val="153143"/>
                </a:solidFill>
                <a:latin typeface="Arial"/>
                <a:ea typeface="Arial"/>
                <a:cs typeface="Arial"/>
              </a:defRPr>
            </a:lvl6pPr>
            <a:lvl7pPr>
              <a:buNone/>
              <a:defRPr sz="3000" b="1">
                <a:solidFill>
                  <a:srgbClr val="153143"/>
                </a:solidFill>
                <a:latin typeface="Arial"/>
                <a:ea typeface="Arial"/>
                <a:cs typeface="Arial"/>
              </a:defRPr>
            </a:lvl7pPr>
            <a:lvl8pPr>
              <a:buNone/>
              <a:defRPr sz="3000" b="1">
                <a:solidFill>
                  <a:srgbClr val="153143"/>
                </a:solidFill>
                <a:latin typeface="Arial"/>
                <a:ea typeface="Arial"/>
                <a:cs typeface="Arial"/>
              </a:defRPr>
            </a:lvl8pPr>
            <a:lvl9pPr>
              <a:buNone/>
              <a:defRPr sz="3000" b="1">
                <a:solidFill>
                  <a:srgbClr val="153143"/>
                </a:solidFill>
                <a:latin typeface="Arial"/>
                <a:ea typeface="Arial"/>
                <a:cs typeface="Arial"/>
              </a:defRPr>
            </a:lvl9pPr>
          </a:lstStyle>
          <a:p>
            <a:pPr>
              <a:buNone/>
              <a:defRPr sz="3000" b="1">
                <a:solidFill>
                  <a:srgbClr val="153143"/>
                </a:solidFill>
                <a:latin typeface="Arial"/>
                <a:ea typeface="Arial"/>
                <a:cs typeface="Arial"/>
              </a:defRPr>
            </a:pPr>
            <a:r>
              <a:rPr sz="3000" b="1">
                <a:solidFill>
                  <a:srgbClr val="153143"/>
                </a:solidFill>
                <a:latin typeface="Arial"/>
                <a:ea typeface="Arial"/>
                <a:cs typeface="Arial"/>
              </a:rPr>
              <a:t>A seven-node chain</a:t>
            </a:r>
          </a:p>
        </p:txBody>
      </p:sp>
      <p:sp>
        <p:nvSpPr>
          <p:cNvPr id="17416" name="body">
            <a:extLst>
              <a:ext uri="{FF2B5EF4-FFF2-40B4-BE49-F238E27FC236}">
                <a16:creationId xmlns:a16="http://schemas.microsoft.com/office/drawing/2014/main" id="{4D337865-9044-4D4D-A090-53835DFBE754}"/>
              </a:ext>
            </a:extLst>
          </p:cNvPr>
          <p:cNvSpPr>
            <a:spLocks noGrp="1"/>
          </p:cNvSpPr>
          <p:nvPr/>
        </p:nvSpPr>
        <p:spPr>
          <a:xfrm>
            <a:off x="609600" y="1809750"/>
            <a:ext cx="6572250" cy="3333750"/>
          </a:xfrm>
          <a:prstGeom prst="rect">
            <a:avLst/>
          </a:prstGeom>
          <a:noFill/>
          <a:ln w="0">
            <a:noFill/>
          </a:ln>
        </p:spPr>
        <p:txBody>
          <a:bodyPr lIns="0" tIns="0" rIns="0" bIns="0"/>
          <a:lstStyle>
            <a:defPPr>
              <a:defRPr sz="2175" b="0">
                <a:solidFill>
                  <a:srgbClr val="153143"/>
                </a:solidFill>
                <a:latin typeface="Arial"/>
                <a:ea typeface="Arial"/>
                <a:cs typeface="Arial"/>
              </a:defRPr>
            </a:defPPr>
            <a:lvl1pPr>
              <a:buNone/>
              <a:defRPr sz="2175" b="0">
                <a:solidFill>
                  <a:srgbClr val="153143"/>
                </a:solidFill>
                <a:latin typeface="Arial"/>
                <a:ea typeface="Arial"/>
                <a:cs typeface="Arial"/>
              </a:defRPr>
            </a:lvl1pPr>
            <a:lvl2pPr>
              <a:buNone/>
              <a:defRPr sz="2175" b="0">
                <a:solidFill>
                  <a:srgbClr val="153143"/>
                </a:solidFill>
                <a:latin typeface="Arial"/>
                <a:ea typeface="Arial"/>
                <a:cs typeface="Arial"/>
              </a:defRPr>
            </a:lvl2pPr>
            <a:lvl3pPr>
              <a:buNone/>
              <a:defRPr sz="2175" b="0">
                <a:solidFill>
                  <a:srgbClr val="153143"/>
                </a:solidFill>
                <a:latin typeface="Arial"/>
                <a:ea typeface="Arial"/>
                <a:cs typeface="Arial"/>
              </a:defRPr>
            </a:lvl3pPr>
            <a:lvl4pPr>
              <a:buNone/>
              <a:defRPr sz="2175" b="0">
                <a:solidFill>
                  <a:srgbClr val="153143"/>
                </a:solidFill>
                <a:latin typeface="Arial"/>
                <a:ea typeface="Arial"/>
                <a:cs typeface="Arial"/>
              </a:defRPr>
            </a:lvl4pPr>
            <a:lvl5pPr>
              <a:buNone/>
              <a:defRPr sz="2175" b="0">
                <a:solidFill>
                  <a:srgbClr val="153143"/>
                </a:solidFill>
                <a:latin typeface="Arial"/>
                <a:ea typeface="Arial"/>
                <a:cs typeface="Arial"/>
              </a:defRPr>
            </a:lvl5pPr>
            <a:lvl6pPr>
              <a:buNone/>
              <a:defRPr sz="2175" b="0">
                <a:solidFill>
                  <a:srgbClr val="153143"/>
                </a:solidFill>
                <a:latin typeface="Arial"/>
                <a:ea typeface="Arial"/>
                <a:cs typeface="Arial"/>
              </a:defRPr>
            </a:lvl6pPr>
            <a:lvl7pPr>
              <a:buNone/>
              <a:defRPr sz="2175" b="0">
                <a:solidFill>
                  <a:srgbClr val="153143"/>
                </a:solidFill>
                <a:latin typeface="Arial"/>
                <a:ea typeface="Arial"/>
                <a:cs typeface="Arial"/>
              </a:defRPr>
            </a:lvl7pPr>
            <a:lvl8pPr>
              <a:buNone/>
              <a:defRPr sz="2175" b="0">
                <a:solidFill>
                  <a:srgbClr val="153143"/>
                </a:solidFill>
                <a:latin typeface="Arial"/>
                <a:ea typeface="Arial"/>
                <a:cs typeface="Arial"/>
              </a:defRPr>
            </a:lvl8pPr>
            <a:lvl9pPr>
              <a:buNone/>
              <a:defRPr sz="2175" b="0">
                <a:solidFill>
                  <a:srgbClr val="153143"/>
                </a:solidFill>
                <a:latin typeface="Arial"/>
                <a:ea typeface="Arial"/>
                <a:cs typeface="Arial"/>
              </a:defRPr>
            </a:lvl9pPr>
          </a:lstStyle>
          <a:p>
            <a:pPr>
              <a:buNone/>
              <a:defRPr sz="2175" b="0">
                <a:solidFill>
                  <a:srgbClr val="153143"/>
                </a:solidFill>
                <a:latin typeface="Arial"/>
                <a:ea typeface="Arial"/>
                <a:cs typeface="Arial"/>
              </a:defRPr>
            </a:pPr>
            <a:r>
              <a:rPr sz="2175" b="0">
                <a:solidFill>
                  <a:srgbClr val="153143"/>
                </a:solidFill>
                <a:latin typeface="Arial"/>
                <a:ea typeface="Arial"/>
                <a:cs typeface="Arial"/>
              </a:rPr>
              <a:t>With height counted in edges:</a:t>
            </a:r>
          </a:p>
          <a:p>
            <a:endParaRPr sz="2175" b="0">
              <a:solidFill>
                <a:srgbClr val="153143"/>
              </a:solidFill>
              <a:latin typeface="Arial"/>
              <a:ea typeface="Arial"/>
              <a:cs typeface="Arial"/>
            </a:endParaRPr>
          </a:p>
          <a:p>
            <a:pPr>
              <a:buNone/>
              <a:defRPr sz="2175" b="0">
                <a:solidFill>
                  <a:srgbClr val="153143"/>
                </a:solidFill>
                <a:latin typeface="Arial"/>
                <a:ea typeface="Arial"/>
                <a:cs typeface="Arial"/>
              </a:defRPr>
            </a:pPr>
            <a:r>
              <a:rPr sz="2175" b="0">
                <a:solidFill>
                  <a:srgbClr val="153143"/>
                </a:solidFill>
                <a:latin typeface="Arial"/>
                <a:ea typeface="Arial"/>
                <a:cs typeface="Arial"/>
              </a:rPr>
              <a:t>7 nodes form a chain of height 6.</a:t>
            </a:r>
          </a:p>
          <a:p>
            <a:pPr>
              <a:buNone/>
              <a:defRPr sz="2175" b="0">
                <a:solidFill>
                  <a:srgbClr val="153143"/>
                </a:solidFill>
                <a:latin typeface="Arial"/>
                <a:ea typeface="Arial"/>
                <a:cs typeface="Arial"/>
              </a:defRPr>
            </a:pPr>
            <a:r>
              <a:rPr sz="2175" b="0">
                <a:solidFill>
                  <a:srgbClr val="153143"/>
                </a:solidFill>
                <a:latin typeface="Arial"/>
                <a:ea typeface="Arial"/>
                <a:cs typeface="Arial"/>
              </a:rPr>
              <a:t>There are 7 levels.</a:t>
            </a:r>
          </a:p>
          <a:p>
            <a:endParaRPr sz="2175" b="0">
              <a:solidFill>
                <a:srgbClr val="153143"/>
              </a:solidFill>
              <a:latin typeface="Arial"/>
              <a:ea typeface="Arial"/>
              <a:cs typeface="Arial"/>
            </a:endParaRPr>
          </a:p>
          <a:p>
            <a:pPr>
              <a:buNone/>
              <a:defRPr sz="2175" b="0">
                <a:solidFill>
                  <a:srgbClr val="153143"/>
                </a:solidFill>
                <a:latin typeface="Arial"/>
                <a:ea typeface="Arial"/>
                <a:cs typeface="Arial"/>
              </a:defRPr>
            </a:pPr>
            <a:r>
              <a:rPr sz="2175" b="0">
                <a:solidFill>
                  <a:srgbClr val="153143"/>
                </a:solidFill>
                <a:latin typeface="Arial"/>
                <a:ea typeface="Arial"/>
                <a:cs typeface="Arial"/>
              </a:rPr>
              <a:t>Searching to the deepest node visits</a:t>
            </a:r>
          </a:p>
          <a:p>
            <a:pPr>
              <a:buNone/>
              <a:defRPr sz="2175" b="0">
                <a:solidFill>
                  <a:srgbClr val="153143"/>
                </a:solidFill>
                <a:latin typeface="Arial"/>
                <a:ea typeface="Arial"/>
                <a:cs typeface="Arial"/>
              </a:defRPr>
            </a:pPr>
            <a:r>
              <a:rPr sz="2175" b="0">
                <a:solidFill>
                  <a:srgbClr val="153143"/>
                </a:solidFill>
                <a:latin typeface="Arial"/>
                <a:ea typeface="Arial"/>
                <a:cs typeface="Arial"/>
              </a:rPr>
              <a:t>7 nodes: h + 1 comparisons.</a:t>
            </a:r>
          </a:p>
        </p:txBody>
      </p:sp>
      <p:sp>
        <p:nvSpPr>
          <p:cNvPr id="17417" name="caption">
            <a:extLst>
              <a:ext uri="{FF2B5EF4-FFF2-40B4-BE49-F238E27FC236}">
                <a16:creationId xmlns:a16="http://schemas.microsoft.com/office/drawing/2014/main" id="{ADDD2D43-834D-46E7-944E-1D1962A3011E}"/>
              </a:ext>
            </a:extLst>
          </p:cNvPr>
          <p:cNvSpPr>
            <a:spLocks noGrp="1"/>
          </p:cNvSpPr>
          <p:nvPr/>
        </p:nvSpPr>
        <p:spPr>
          <a:xfrm>
            <a:off x="7239000" y="5000625"/>
            <a:ext cx="4333875" cy="476250"/>
          </a:xfrm>
          <a:prstGeom prst="rect">
            <a:avLst/>
          </a:prstGeom>
          <a:noFill/>
          <a:ln w="0">
            <a:noFill/>
          </a:ln>
        </p:spPr>
        <p:txBody>
          <a:bodyPr lIns="0" tIns="0" rIns="0" bIns="0"/>
          <a:lstStyle>
            <a:defPPr>
              <a:defRPr sz="1650" b="0">
                <a:solidFill>
                  <a:srgbClr val="153143"/>
                </a:solidFill>
                <a:latin typeface="Arial"/>
                <a:ea typeface="Arial"/>
                <a:cs typeface="Arial"/>
              </a:defRPr>
            </a:defPPr>
            <a:lvl1pPr>
              <a:buNone/>
              <a:defRPr sz="1650" b="0">
                <a:solidFill>
                  <a:srgbClr val="153143"/>
                </a:solidFill>
                <a:latin typeface="Arial"/>
                <a:ea typeface="Arial"/>
                <a:cs typeface="Arial"/>
              </a:defRPr>
            </a:lvl1pPr>
            <a:lvl2pPr>
              <a:buNone/>
              <a:defRPr sz="1650" b="0">
                <a:solidFill>
                  <a:srgbClr val="153143"/>
                </a:solidFill>
                <a:latin typeface="Arial"/>
                <a:ea typeface="Arial"/>
                <a:cs typeface="Arial"/>
              </a:defRPr>
            </a:lvl2pPr>
            <a:lvl3pPr>
              <a:buNone/>
              <a:defRPr sz="1650" b="0">
                <a:solidFill>
                  <a:srgbClr val="153143"/>
                </a:solidFill>
                <a:latin typeface="Arial"/>
                <a:ea typeface="Arial"/>
                <a:cs typeface="Arial"/>
              </a:defRPr>
            </a:lvl3pPr>
            <a:lvl4pPr>
              <a:buNone/>
              <a:defRPr sz="1650" b="0">
                <a:solidFill>
                  <a:srgbClr val="153143"/>
                </a:solidFill>
                <a:latin typeface="Arial"/>
                <a:ea typeface="Arial"/>
                <a:cs typeface="Arial"/>
              </a:defRPr>
            </a:lvl4pPr>
            <a:lvl5pPr>
              <a:buNone/>
              <a:defRPr sz="1650" b="0">
                <a:solidFill>
                  <a:srgbClr val="153143"/>
                </a:solidFill>
                <a:latin typeface="Arial"/>
                <a:ea typeface="Arial"/>
                <a:cs typeface="Arial"/>
              </a:defRPr>
            </a:lvl5pPr>
            <a:lvl6pPr>
              <a:buNone/>
              <a:defRPr sz="1650" b="0">
                <a:solidFill>
                  <a:srgbClr val="153143"/>
                </a:solidFill>
                <a:latin typeface="Arial"/>
                <a:ea typeface="Arial"/>
                <a:cs typeface="Arial"/>
              </a:defRPr>
            </a:lvl6pPr>
            <a:lvl7pPr>
              <a:buNone/>
              <a:defRPr sz="1650" b="0">
                <a:solidFill>
                  <a:srgbClr val="153143"/>
                </a:solidFill>
                <a:latin typeface="Arial"/>
                <a:ea typeface="Arial"/>
                <a:cs typeface="Arial"/>
              </a:defRPr>
            </a:lvl7pPr>
            <a:lvl8pPr>
              <a:buNone/>
              <a:defRPr sz="1650" b="0">
                <a:solidFill>
                  <a:srgbClr val="153143"/>
                </a:solidFill>
                <a:latin typeface="Arial"/>
                <a:ea typeface="Arial"/>
                <a:cs typeface="Arial"/>
              </a:defRPr>
            </a:lvl8pPr>
            <a:lvl9pPr>
              <a:buNone/>
              <a:defRPr sz="1650" b="0">
                <a:solidFill>
                  <a:srgbClr val="153143"/>
                </a:solidFill>
                <a:latin typeface="Arial"/>
                <a:ea typeface="Arial"/>
                <a:cs typeface="Arial"/>
              </a:defRPr>
            </a:lvl9pPr>
          </a:lstStyle>
          <a:p>
            <a:pPr>
              <a:buNone/>
              <a:defRPr sz="1650" b="0">
                <a:solidFill>
                  <a:srgbClr val="153143"/>
                </a:solidFill>
                <a:latin typeface="Arial"/>
                <a:ea typeface="Arial"/>
                <a:cs typeface="Arial"/>
              </a:defRPr>
            </a:pPr>
            <a:r>
              <a:rPr sz="1650" b="0">
                <a:solidFill>
                  <a:srgbClr val="153143"/>
                </a:solidFill>
                <a:latin typeface="Arial"/>
                <a:ea typeface="Arial"/>
                <a:cs typeface="Arial"/>
              </a:rPr>
              <a:t>Maximum-height tree with 7 nodes</a:t>
            </a:r>
          </a:p>
        </p:txBody>
      </p:sp>
      <p:sp>
        <p:nvSpPr>
          <p:cNvPr id="17418" name="credit">
            <a:extLst>
              <a:ext uri="{FF2B5EF4-FFF2-40B4-BE49-F238E27FC236}">
                <a16:creationId xmlns:a16="http://schemas.microsoft.com/office/drawing/2014/main" id="{E67D36D9-4606-41E8-A2D7-3A3537A2DC75}"/>
              </a:ext>
            </a:extLst>
          </p:cNvPr>
          <p:cNvSpPr>
            <a:spLocks noGrp="1"/>
          </p:cNvSpPr>
          <p:nvPr/>
        </p:nvSpPr>
        <p:spPr>
          <a:xfrm>
            <a:off x="609600" y="5734050"/>
            <a:ext cx="10763250" cy="285750"/>
          </a:xfrm>
          <a:prstGeom prst="rect">
            <a:avLst/>
          </a:prstGeom>
          <a:noFill/>
          <a:ln w="0">
            <a:noFill/>
          </a:ln>
        </p:spPr>
        <p:txBody>
          <a:bodyPr lIns="0" tIns="0" rIns="0" bIns="0"/>
          <a:lstStyle>
            <a:defPPr>
              <a:defRPr sz="1200" b="0">
                <a:solidFill>
                  <a:srgbClr val="536A78"/>
                </a:solidFill>
                <a:latin typeface="Arial"/>
                <a:ea typeface="Arial"/>
                <a:cs typeface="Arial"/>
              </a:defRPr>
            </a:defPPr>
            <a:lvl1pPr>
              <a:buNone/>
              <a:defRPr sz="1200" b="0">
                <a:solidFill>
                  <a:srgbClr val="536A78"/>
                </a:solidFill>
                <a:latin typeface="Arial"/>
                <a:ea typeface="Arial"/>
                <a:cs typeface="Arial"/>
              </a:defRPr>
            </a:lvl1pPr>
            <a:lvl2pPr>
              <a:buNone/>
              <a:defRPr sz="1200" b="0">
                <a:solidFill>
                  <a:srgbClr val="536A78"/>
                </a:solidFill>
                <a:latin typeface="Arial"/>
                <a:ea typeface="Arial"/>
                <a:cs typeface="Arial"/>
              </a:defRPr>
            </a:lvl2pPr>
            <a:lvl3pPr>
              <a:buNone/>
              <a:defRPr sz="1200" b="0">
                <a:solidFill>
                  <a:srgbClr val="536A78"/>
                </a:solidFill>
                <a:latin typeface="Arial"/>
                <a:ea typeface="Arial"/>
                <a:cs typeface="Arial"/>
              </a:defRPr>
            </a:lvl3pPr>
            <a:lvl4pPr>
              <a:buNone/>
              <a:defRPr sz="1200" b="0">
                <a:solidFill>
                  <a:srgbClr val="536A78"/>
                </a:solidFill>
                <a:latin typeface="Arial"/>
                <a:ea typeface="Arial"/>
                <a:cs typeface="Arial"/>
              </a:defRPr>
            </a:lvl4pPr>
            <a:lvl5pPr>
              <a:buNone/>
              <a:defRPr sz="1200" b="0">
                <a:solidFill>
                  <a:srgbClr val="536A78"/>
                </a:solidFill>
                <a:latin typeface="Arial"/>
                <a:ea typeface="Arial"/>
                <a:cs typeface="Arial"/>
              </a:defRPr>
            </a:lvl5pPr>
            <a:lvl6pPr>
              <a:buNone/>
              <a:defRPr sz="1200" b="0">
                <a:solidFill>
                  <a:srgbClr val="536A78"/>
                </a:solidFill>
                <a:latin typeface="Arial"/>
                <a:ea typeface="Arial"/>
                <a:cs typeface="Arial"/>
              </a:defRPr>
            </a:lvl6pPr>
            <a:lvl7pPr>
              <a:buNone/>
              <a:defRPr sz="1200" b="0">
                <a:solidFill>
                  <a:srgbClr val="536A78"/>
                </a:solidFill>
                <a:latin typeface="Arial"/>
                <a:ea typeface="Arial"/>
                <a:cs typeface="Arial"/>
              </a:defRPr>
            </a:lvl7pPr>
            <a:lvl8pPr>
              <a:buNone/>
              <a:defRPr sz="1200" b="0">
                <a:solidFill>
                  <a:srgbClr val="536A78"/>
                </a:solidFill>
                <a:latin typeface="Arial"/>
                <a:ea typeface="Arial"/>
                <a:cs typeface="Arial"/>
              </a:defRPr>
            </a:lvl8pPr>
            <a:lvl9pPr>
              <a:buNone/>
              <a:defRPr sz="1200" b="0">
                <a:solidFill>
                  <a:srgbClr val="536A78"/>
                </a:solidFill>
                <a:latin typeface="Arial"/>
                <a:ea typeface="Arial"/>
                <a:cs typeface="Arial"/>
              </a:defRPr>
            </a:lvl9pPr>
          </a:lstStyle>
          <a:p>
            <a:pPr>
              <a:buNone/>
              <a:defRPr sz="1200" b="0">
                <a:solidFill>
                  <a:srgbClr val="536A78"/>
                </a:solidFill>
                <a:latin typeface="Arial"/>
                <a:ea typeface="Arial"/>
                <a:cs typeface="Arial"/>
              </a:defRPr>
            </a:pPr>
            <a:r>
              <a:rPr sz="1200" b="0">
                <a:solidFill>
                  <a:srgbClr val="536A78"/>
                </a:solidFill>
                <a:latin typeface="Arial"/>
                <a:ea typeface="Arial"/>
                <a:cs typeface="Arial"/>
              </a:rPr>
              <a:t>Diagram: Pearson Addison-Wesley, 2011 (supplied source)</a:t>
            </a:r>
          </a:p>
        </p:txBody>
      </p:sp>
      <p:sp>
        <p:nvSpPr>
          <p:cNvPr id="17420" name="local-java-HeightDemo">
            <a:extLst>
              <a:ext uri="{FF2B5EF4-FFF2-40B4-BE49-F238E27FC236}">
                <a16:creationId xmlns:a16="http://schemas.microsoft.com/office/drawing/2014/main" id="{51B23731-C28B-45C9-B6A1-0342A6B59642}"/>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HeightDemo.java</a:t>
            </a:r>
          </a:p>
        </p:txBody>
      </p:sp>
      <p:sp>
        <p:nvSpPr>
          <p:cNvPr id="17421" name="page">
            <a:extLst>
              <a:ext uri="{FF2B5EF4-FFF2-40B4-BE49-F238E27FC236}">
                <a16:creationId xmlns:a16="http://schemas.microsoft.com/office/drawing/2014/main" id="{32AE17E9-8A4F-4359-8428-C5BF475CBD5A}"/>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45</a:t>
            </a:r>
          </a:p>
        </p:txBody>
      </p:sp>
    </p:spTree>
    <p:extLst>
      <p:ext uri="{BB962C8B-B14F-4D97-AF65-F5344CB8AC3E}">
        <p14:creationId xmlns:p14="http://schemas.microsoft.com/office/powerpoint/2010/main" val="1915096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6AED60D7-94EE-4985-8FC7-D6453F944677}"/>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dirty="0">
                <a:solidFill>
                  <a:srgbClr val="142E42"/>
                </a:solidFill>
                <a:latin typeface="Arial"/>
                <a:ea typeface="Arial"/>
                <a:cs typeface="Arial"/>
              </a:rPr>
              <a:t>Height bounds with a </a:t>
            </a:r>
            <a:r>
              <a:rPr lang="en-US" sz="3150" b="1" dirty="0">
                <a:solidFill>
                  <a:srgbClr val="142E42"/>
                </a:solidFill>
                <a:latin typeface="Arial"/>
                <a:ea typeface="Arial"/>
                <a:cs typeface="Arial"/>
              </a:rPr>
              <a:t>node</a:t>
            </a:r>
            <a:r>
              <a:rPr sz="3150" b="1" dirty="0">
                <a:solidFill>
                  <a:srgbClr val="142E42"/>
                </a:solidFill>
                <a:latin typeface="Arial"/>
                <a:ea typeface="Arial"/>
                <a:cs typeface="Arial"/>
              </a:rPr>
              <a:t> count</a:t>
            </a:r>
          </a:p>
        </p:txBody>
      </p:sp>
      <p:sp>
        <p:nvSpPr>
          <p:cNvPr id="3" name="text-2">
            <a:extLst>
              <a:ext uri="{FF2B5EF4-FFF2-40B4-BE49-F238E27FC236}">
                <a16:creationId xmlns:a16="http://schemas.microsoft.com/office/drawing/2014/main" id="{8F53FBC6-7C8F-484A-8C47-0B1F25DD551E}"/>
              </a:ext>
            </a:extLst>
          </p:cNvPr>
          <p:cNvSpPr>
            <a:spLocks noGrp="1"/>
          </p:cNvSpPr>
          <p:nvPr/>
        </p:nvSpPr>
        <p:spPr>
          <a:xfrm>
            <a:off x="609600" y="1619250"/>
            <a:ext cx="10858500" cy="3714750"/>
          </a:xfrm>
          <a:prstGeom prst="rect">
            <a:avLst/>
          </a:prstGeom>
          <a:noFill/>
          <a:ln w="0">
            <a:noFill/>
          </a:ln>
        </p:spPr>
        <p:txBody>
          <a:bodyPr lIns="0" tIns="0" rIns="0" bIns="0" anchor="t"/>
          <a:lstStyle>
            <a:defPPr algn="l">
              <a:defRPr sz="2475" b="0">
                <a:solidFill>
                  <a:srgbClr val="142E42"/>
                </a:solidFill>
                <a:latin typeface="Arial"/>
                <a:ea typeface="Arial"/>
                <a:cs typeface="Arial"/>
              </a:defRPr>
            </a:defPPr>
            <a:lvl1pPr algn="l">
              <a:buNone/>
              <a:defRPr sz="2475" b="0">
                <a:solidFill>
                  <a:srgbClr val="142E42"/>
                </a:solidFill>
                <a:latin typeface="Arial"/>
                <a:ea typeface="Arial"/>
                <a:cs typeface="Arial"/>
              </a:defRPr>
            </a:lvl1pPr>
            <a:lvl2pPr algn="l">
              <a:buNone/>
              <a:defRPr sz="2475" b="0">
                <a:solidFill>
                  <a:srgbClr val="142E42"/>
                </a:solidFill>
                <a:latin typeface="Arial"/>
                <a:ea typeface="Arial"/>
                <a:cs typeface="Arial"/>
              </a:defRPr>
            </a:lvl2pPr>
            <a:lvl3pPr algn="l">
              <a:buNone/>
              <a:defRPr sz="2475" b="0">
                <a:solidFill>
                  <a:srgbClr val="142E42"/>
                </a:solidFill>
                <a:latin typeface="Arial"/>
                <a:ea typeface="Arial"/>
                <a:cs typeface="Arial"/>
              </a:defRPr>
            </a:lvl3pPr>
            <a:lvl4pPr algn="l">
              <a:buNone/>
              <a:defRPr sz="2475" b="0">
                <a:solidFill>
                  <a:srgbClr val="142E42"/>
                </a:solidFill>
                <a:latin typeface="Arial"/>
                <a:ea typeface="Arial"/>
                <a:cs typeface="Arial"/>
              </a:defRPr>
            </a:lvl4pPr>
            <a:lvl5pPr algn="l">
              <a:buNone/>
              <a:defRPr sz="2475" b="0">
                <a:solidFill>
                  <a:srgbClr val="142E42"/>
                </a:solidFill>
                <a:latin typeface="Arial"/>
                <a:ea typeface="Arial"/>
                <a:cs typeface="Arial"/>
              </a:defRPr>
            </a:lvl5pPr>
            <a:lvl6pPr algn="l">
              <a:buNone/>
              <a:defRPr sz="2475" b="0">
                <a:solidFill>
                  <a:srgbClr val="142E42"/>
                </a:solidFill>
                <a:latin typeface="Arial"/>
                <a:ea typeface="Arial"/>
                <a:cs typeface="Arial"/>
              </a:defRPr>
            </a:lvl6pPr>
            <a:lvl7pPr algn="l">
              <a:buNone/>
              <a:defRPr sz="2475" b="0">
                <a:solidFill>
                  <a:srgbClr val="142E42"/>
                </a:solidFill>
                <a:latin typeface="Arial"/>
                <a:ea typeface="Arial"/>
                <a:cs typeface="Arial"/>
              </a:defRPr>
            </a:lvl7pPr>
            <a:lvl8pPr algn="l">
              <a:buNone/>
              <a:defRPr sz="2475" b="0">
                <a:solidFill>
                  <a:srgbClr val="142E42"/>
                </a:solidFill>
                <a:latin typeface="Arial"/>
                <a:ea typeface="Arial"/>
                <a:cs typeface="Arial"/>
              </a:defRPr>
            </a:lvl8pPr>
            <a:lvl9pPr algn="l">
              <a:buNone/>
              <a:defRPr sz="2475" b="0">
                <a:solidFill>
                  <a:srgbClr val="142E42"/>
                </a:solidFill>
                <a:latin typeface="Arial"/>
                <a:ea typeface="Arial"/>
                <a:cs typeface="Arial"/>
              </a:defRPr>
            </a:lvl9pPr>
          </a:lstStyle>
          <a:p>
            <a:pPr algn="l">
              <a:buNone/>
              <a:defRPr sz="2475" b="0">
                <a:solidFill>
                  <a:srgbClr val="142E42"/>
                </a:solidFill>
                <a:latin typeface="Arial"/>
                <a:ea typeface="Arial"/>
                <a:cs typeface="Arial"/>
              </a:defRPr>
            </a:pPr>
            <a:r>
              <a:rPr sz="2000" b="0" dirty="0">
                <a:solidFill>
                  <a:srgbClr val="142E42"/>
                </a:solidFill>
                <a:latin typeface="Arial"/>
                <a:ea typeface="Arial"/>
                <a:cs typeface="Arial"/>
              </a:rPr>
              <a:t>For height h ≥ </a:t>
            </a:r>
            <a:r>
              <a:rPr lang="en-US" sz="2000" b="0" dirty="0">
                <a:solidFill>
                  <a:srgbClr val="142E42"/>
                </a:solidFill>
                <a:latin typeface="Arial"/>
                <a:ea typeface="Arial"/>
                <a:cs typeface="Arial"/>
              </a:rPr>
              <a:t>1</a:t>
            </a:r>
            <a:r>
              <a:rPr sz="2000" b="0" dirty="0">
                <a:solidFill>
                  <a:srgbClr val="142E42"/>
                </a:solidFill>
                <a:latin typeface="Arial"/>
                <a:ea typeface="Arial"/>
                <a:cs typeface="Arial"/>
              </a:rPr>
              <a:t>, the maximum node count is</a:t>
            </a:r>
          </a:p>
          <a:p>
            <a:endParaRPr sz="2000" b="0" dirty="0">
              <a:solidFill>
                <a:srgbClr val="142E42"/>
              </a:solidFill>
              <a:latin typeface="Arial"/>
              <a:ea typeface="Arial"/>
              <a:cs typeface="Arial"/>
            </a:endParaRPr>
          </a:p>
          <a:p>
            <a:pPr algn="l">
              <a:buNone/>
              <a:defRPr sz="2475" b="0">
                <a:solidFill>
                  <a:srgbClr val="142E42"/>
                </a:solidFill>
                <a:latin typeface="Arial"/>
                <a:ea typeface="Arial"/>
                <a:cs typeface="Arial"/>
              </a:defRPr>
            </a:pPr>
            <a:r>
              <a:rPr sz="2000" b="0" dirty="0">
                <a:solidFill>
                  <a:srgbClr val="142E42"/>
                </a:solidFill>
                <a:latin typeface="Arial"/>
                <a:ea typeface="Arial"/>
                <a:cs typeface="Arial"/>
              </a:rPr>
              <a:t>2^h  − 1</a:t>
            </a:r>
            <a:endParaRPr lang="en-US" sz="2000" b="0" dirty="0">
              <a:solidFill>
                <a:srgbClr val="142E42"/>
              </a:solidFill>
              <a:latin typeface="Arial"/>
              <a:ea typeface="Arial"/>
              <a:cs typeface="Arial"/>
            </a:endParaRPr>
          </a:p>
          <a:p>
            <a:pPr algn="l">
              <a:buNone/>
              <a:defRPr sz="2475" b="0">
                <a:solidFill>
                  <a:srgbClr val="142E42"/>
                </a:solidFill>
                <a:latin typeface="Arial"/>
                <a:ea typeface="Arial"/>
                <a:cs typeface="Arial"/>
              </a:defRPr>
            </a:pPr>
            <a:endParaRPr lang="en-US" sz="2000" dirty="0"/>
          </a:p>
          <a:p>
            <a:pPr algn="l">
              <a:buNone/>
              <a:defRPr sz="2475" b="0">
                <a:solidFill>
                  <a:srgbClr val="142E42"/>
                </a:solidFill>
                <a:latin typeface="Arial"/>
                <a:ea typeface="Arial"/>
                <a:cs typeface="Arial"/>
              </a:defRPr>
            </a:pPr>
            <a:r>
              <a:rPr lang="en-US" sz="2000" b="0" dirty="0">
                <a:solidFill>
                  <a:srgbClr val="142E42"/>
                </a:solidFill>
                <a:latin typeface="Arial"/>
                <a:ea typeface="Arial"/>
                <a:cs typeface="Arial"/>
              </a:rPr>
              <a:t>For height h ≥ 1, the maximum node count</a:t>
            </a:r>
          </a:p>
          <a:p>
            <a:pPr algn="l">
              <a:buNone/>
              <a:defRPr sz="2475" b="0">
                <a:solidFill>
                  <a:srgbClr val="142E42"/>
                </a:solidFill>
                <a:latin typeface="Arial"/>
                <a:ea typeface="Arial"/>
                <a:cs typeface="Arial"/>
              </a:defRPr>
            </a:pPr>
            <a:r>
              <a:rPr lang="en-US" sz="2000" dirty="0"/>
              <a:t>At each level is</a:t>
            </a:r>
          </a:p>
          <a:p>
            <a:pPr algn="l">
              <a:buNone/>
              <a:defRPr sz="2475" b="0">
                <a:solidFill>
                  <a:srgbClr val="142E42"/>
                </a:solidFill>
                <a:latin typeface="Arial"/>
                <a:ea typeface="Arial"/>
                <a:cs typeface="Arial"/>
              </a:defRPr>
            </a:pPr>
            <a:endParaRPr lang="en-US" sz="2000" b="0" dirty="0">
              <a:solidFill>
                <a:srgbClr val="142E42"/>
              </a:solidFill>
              <a:latin typeface="Arial"/>
              <a:ea typeface="Arial"/>
              <a:cs typeface="Arial"/>
            </a:endParaRPr>
          </a:p>
          <a:p>
            <a:pPr algn="l">
              <a:buNone/>
              <a:defRPr sz="2475" b="0">
                <a:solidFill>
                  <a:srgbClr val="142E42"/>
                </a:solidFill>
                <a:latin typeface="Arial"/>
                <a:ea typeface="Arial"/>
                <a:cs typeface="Arial"/>
              </a:defRPr>
            </a:pPr>
            <a:r>
              <a:rPr lang="en-US" sz="2000" dirty="0"/>
              <a:t>2^(h-1)</a:t>
            </a:r>
            <a:endParaRPr sz="2000" b="0" dirty="0">
              <a:solidFill>
                <a:srgbClr val="142E42"/>
              </a:solidFill>
              <a:latin typeface="Arial"/>
              <a:ea typeface="Arial"/>
              <a:cs typeface="Arial"/>
            </a:endParaRPr>
          </a:p>
          <a:p>
            <a:endParaRPr sz="2000" b="0" dirty="0">
              <a:solidFill>
                <a:srgbClr val="142E42"/>
              </a:solidFill>
              <a:latin typeface="Arial"/>
              <a:ea typeface="Arial"/>
              <a:cs typeface="Arial"/>
            </a:endParaRPr>
          </a:p>
          <a:p>
            <a:pPr algn="l">
              <a:buNone/>
              <a:defRPr sz="2475" b="0">
                <a:solidFill>
                  <a:srgbClr val="142E42"/>
                </a:solidFill>
                <a:latin typeface="Arial"/>
                <a:ea typeface="Arial"/>
                <a:cs typeface="Arial"/>
              </a:defRPr>
            </a:pPr>
            <a:r>
              <a:rPr sz="2000" b="0" dirty="0">
                <a:solidFill>
                  <a:srgbClr val="142E42"/>
                </a:solidFill>
                <a:latin typeface="Arial"/>
                <a:ea typeface="Arial"/>
                <a:cs typeface="Arial"/>
              </a:rPr>
              <a:t>For n ≥ 1 nodes, height satisfies</a:t>
            </a:r>
          </a:p>
          <a:p>
            <a:endParaRPr sz="2000" b="0" dirty="0">
              <a:solidFill>
                <a:srgbClr val="142E42"/>
              </a:solidFill>
              <a:latin typeface="Arial"/>
              <a:ea typeface="Arial"/>
              <a:cs typeface="Arial"/>
            </a:endParaRPr>
          </a:p>
          <a:p>
            <a:pPr algn="l">
              <a:buNone/>
              <a:defRPr sz="2475" b="0">
                <a:solidFill>
                  <a:srgbClr val="142E42"/>
                </a:solidFill>
                <a:latin typeface="Arial"/>
                <a:ea typeface="Arial"/>
                <a:cs typeface="Arial"/>
              </a:defRPr>
            </a:pPr>
            <a:r>
              <a:rPr sz="2000" b="0" dirty="0">
                <a:solidFill>
                  <a:srgbClr val="142E42"/>
                </a:solidFill>
                <a:latin typeface="Arial"/>
                <a:ea typeface="Arial"/>
                <a:cs typeface="Arial"/>
              </a:rPr>
              <a:t>ceil(log2(n + 1))  ≤ h ≤ n </a:t>
            </a:r>
          </a:p>
        </p:txBody>
      </p:sp>
      <p:sp>
        <p:nvSpPr>
          <p:cNvPr id="4" name="text-3">
            <a:extLst>
              <a:ext uri="{FF2B5EF4-FFF2-40B4-BE49-F238E27FC236}">
                <a16:creationId xmlns:a16="http://schemas.microsoft.com/office/drawing/2014/main" id="{53A87C20-C054-43F4-A852-EA5F79636759}"/>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 perfect tree attains the maximum node count for its height.</a:t>
            </a:r>
          </a:p>
        </p:txBody>
      </p:sp>
      <p:pic>
        <p:nvPicPr>
          <p:cNvPr id="6" name="Picture 9">
            <a:extLst>
              <a:ext uri="{FF2B5EF4-FFF2-40B4-BE49-F238E27FC236}">
                <a16:creationId xmlns:a16="http://schemas.microsoft.com/office/drawing/2014/main" id="{EF1ED98A-46CF-4CD3-A0BF-DA349436603A}"/>
              </a:ext>
            </a:extLst>
          </p:cNvPr>
          <p:cNvPicPr>
            <a:picLocks noChangeAspect="1"/>
          </p:cNvPicPr>
          <p:nvPr/>
        </p:nvPicPr>
        <p:blipFill>
          <a:blip r:embed="rId3"/>
          <a:srcRect/>
          <a:stretch>
            <a:fillRect/>
          </a:stretch>
        </p:blipFill>
        <p:spPr>
          <a:xfrm>
            <a:off x="7226300" y="1353312"/>
            <a:ext cx="4337050" cy="3048000"/>
          </a:xfrm>
          <a:prstGeom prst="rect">
            <a:avLst/>
          </a:prstGeom>
        </p:spPr>
      </p:pic>
      <p:sp>
        <p:nvSpPr>
          <p:cNvPr id="7" name="local-java-HeightDemo">
            <a:extLst>
              <a:ext uri="{FF2B5EF4-FFF2-40B4-BE49-F238E27FC236}">
                <a16:creationId xmlns:a16="http://schemas.microsoft.com/office/drawing/2014/main" id="{8947A16F-8EBE-4F37-AF97-6602BF0B7E94}"/>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HeightDemo.java</a:t>
            </a:r>
          </a:p>
        </p:txBody>
      </p:sp>
      <p:sp>
        <p:nvSpPr>
          <p:cNvPr id="8" name="page">
            <a:extLst>
              <a:ext uri="{FF2B5EF4-FFF2-40B4-BE49-F238E27FC236}">
                <a16:creationId xmlns:a16="http://schemas.microsoft.com/office/drawing/2014/main" id="{399597BF-C6B2-45E8-BB7B-4AF1ABD386C6}"/>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46</a:t>
            </a:r>
          </a:p>
        </p:txBody>
      </p:sp>
    </p:spTree>
    <p:extLst>
      <p:ext uri="{BB962C8B-B14F-4D97-AF65-F5344CB8AC3E}">
        <p14:creationId xmlns:p14="http://schemas.microsoft.com/office/powerpoint/2010/main" val="1317167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257E179A-DEE3-4ED1-A447-7151A9DCCC12}"/>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Quiz: height and levels</a:t>
            </a:r>
          </a:p>
        </p:txBody>
      </p:sp>
      <p:sp>
        <p:nvSpPr>
          <p:cNvPr id="2" name="questions">
            <a:extLst>
              <a:ext uri="{FF2B5EF4-FFF2-40B4-BE49-F238E27FC236}">
                <a16:creationId xmlns:a16="http://schemas.microsoft.com/office/drawing/2014/main" id="{A1CA75C0-8816-4545-8C1C-282ED75E1338}"/>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Use edge-count height throughout.</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1. For 31 nodes, what are the minimum and</a:t>
            </a:r>
          </a:p>
          <a:p>
            <a:pPr>
              <a:defRPr sz="2175" b="0">
                <a:solidFill>
                  <a:srgbClr val="153143"/>
                </a:solidFill>
                <a:latin typeface="Arial"/>
                <a:ea typeface="Arial"/>
                <a:cs typeface="Arial"/>
              </a:defRPr>
            </a:pPr>
            <a:r>
              <a:rPr sz="2175" b="0">
                <a:solidFill>
                  <a:srgbClr val="153143"/>
                </a:solidFill>
                <a:latin typeface="Arial"/>
                <a:ea typeface="Arial"/>
                <a:cs typeface="Arial"/>
              </a:rPr>
              <a:t>   maximum possible BST heights?</a:t>
            </a:r>
          </a:p>
          <a:p>
            <a:pPr>
              <a:defRPr sz="2175" b="0">
                <a:solidFill>
                  <a:srgbClr val="153143"/>
                </a:solidFill>
                <a:latin typeface="Arial"/>
                <a:ea typeface="Arial"/>
                <a:cs typeface="Arial"/>
              </a:defRPr>
            </a:pPr>
            <a:r>
              <a:rPr sz="2175" b="0">
                <a:solidFill>
                  <a:srgbClr val="153143"/>
                </a:solidFill>
                <a:latin typeface="Arial"/>
                <a:ea typeface="Arial"/>
                <a:cs typeface="Arial"/>
              </a:rPr>
              <a:t>2. A tree has height 4. How many levels does it have,</a:t>
            </a:r>
          </a:p>
          <a:p>
            <a:pPr>
              <a:defRPr sz="2175" b="0">
                <a:solidFill>
                  <a:srgbClr val="153143"/>
                </a:solidFill>
                <a:latin typeface="Arial"/>
                <a:ea typeface="Arial"/>
                <a:cs typeface="Arial"/>
              </a:defRPr>
            </a:pPr>
            <a:r>
              <a:rPr sz="2175" b="0">
                <a:solidFill>
                  <a:srgbClr val="153143"/>
                </a:solidFill>
                <a:latin typeface="Arial"/>
                <a:ea typeface="Arial"/>
                <a:cs typeface="Arial"/>
              </a:rPr>
              <a:t>   and what is its maximum node count?</a:t>
            </a:r>
          </a:p>
          <a:p>
            <a:pPr>
              <a:defRPr sz="2175" b="0">
                <a:solidFill>
                  <a:srgbClr val="153143"/>
                </a:solidFill>
                <a:latin typeface="Arial"/>
                <a:ea typeface="Arial"/>
                <a:cs typeface="Arial"/>
              </a:defRPr>
            </a:pPr>
            <a:r>
              <a:rPr sz="2175" b="0">
                <a:solidFill>
                  <a:srgbClr val="153143"/>
                </a:solidFill>
                <a:latin typeface="Arial"/>
                <a:ea typeface="Arial"/>
                <a:cs typeface="Arial"/>
              </a:rPr>
              <a:t>3. Does a minimum-height BST have to be complete?</a:t>
            </a:r>
          </a:p>
          <a:p>
            <a:pPr>
              <a:defRPr sz="2175" b="0">
                <a:solidFill>
                  <a:srgbClr val="153143"/>
                </a:solidFill>
                <a:latin typeface="Arial"/>
                <a:ea typeface="Arial"/>
                <a:cs typeface="Arial"/>
              </a:defRPr>
            </a:pPr>
            <a:r>
              <a:rPr sz="2175" b="0">
                <a:solidFill>
                  <a:srgbClr val="153143"/>
                </a:solidFill>
                <a:latin typeface="Arial"/>
                <a:ea typeface="Arial"/>
                <a:cs typeface="Arial"/>
              </a:rPr>
              <a:t>   Give a reason or a counterexample.</a:t>
            </a:r>
          </a:p>
        </p:txBody>
      </p:sp>
      <p:sp>
        <p:nvSpPr>
          <p:cNvPr id="3" name="activity-cue">
            <a:extLst>
              <a:ext uri="{FF2B5EF4-FFF2-40B4-BE49-F238E27FC236}">
                <a16:creationId xmlns:a16="http://schemas.microsoft.com/office/drawing/2014/main" id="{8899AFFC-502A-4074-979B-00FFEC1BC607}"/>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Show the formulas and explain the final claim. 3 minutes</a:t>
            </a:r>
          </a:p>
        </p:txBody>
      </p:sp>
      <p:sp>
        <p:nvSpPr>
          <p:cNvPr id="4" name="local-java-HeightDemo">
            <a:extLst>
              <a:ext uri="{FF2B5EF4-FFF2-40B4-BE49-F238E27FC236}">
                <a16:creationId xmlns:a16="http://schemas.microsoft.com/office/drawing/2014/main" id="{4C16F590-C118-4937-A954-F4A6B5BF8DD3}"/>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HeightDemo.java</a:t>
            </a:r>
          </a:p>
        </p:txBody>
      </p:sp>
      <p:sp>
        <p:nvSpPr>
          <p:cNvPr id="5" name="page">
            <a:extLst>
              <a:ext uri="{FF2B5EF4-FFF2-40B4-BE49-F238E27FC236}">
                <a16:creationId xmlns:a16="http://schemas.microsoft.com/office/drawing/2014/main" id="{071EAE73-4BC6-410B-9640-5E7ADA3A18EB}"/>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47</a:t>
            </a:r>
          </a:p>
        </p:txBody>
      </p:sp>
    </p:spTree>
    <p:extLst>
      <p:ext uri="{BB962C8B-B14F-4D97-AF65-F5344CB8AC3E}">
        <p14:creationId xmlns:p14="http://schemas.microsoft.com/office/powerpoint/2010/main" val="2089681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217F9782-4E6A-4755-A156-655BB52C3D66}"/>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Treesort</a:t>
            </a:r>
          </a:p>
        </p:txBody>
      </p:sp>
      <p:sp>
        <p:nvSpPr>
          <p:cNvPr id="3" name="text-2">
            <a:extLst>
              <a:ext uri="{FF2B5EF4-FFF2-40B4-BE49-F238E27FC236}">
                <a16:creationId xmlns:a16="http://schemas.microsoft.com/office/drawing/2014/main" id="{8273357A-FE8E-4C80-A717-28F6D159FA5B}"/>
              </a:ext>
            </a:extLst>
          </p:cNvPr>
          <p:cNvSpPr>
            <a:spLocks noGrp="1"/>
          </p:cNvSpPr>
          <p:nvPr/>
        </p:nvSpPr>
        <p:spPr>
          <a:xfrm>
            <a:off x="609600" y="1619250"/>
            <a:ext cx="10953750" cy="3905250"/>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Insert the input keys into a BST.</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Then emit keys in inorder.</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Expected time with random insertion order: O(n log n).</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Worst case for an unbalanced tree: O(n²).</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A set-style BST discards duplicates. A sorting implementation</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must retain equal keys, for example with a count per node.</a:t>
            </a:r>
          </a:p>
        </p:txBody>
      </p:sp>
      <p:sp>
        <p:nvSpPr>
          <p:cNvPr id="5" name="local-java-TreeSort">
            <a:extLst>
              <a:ext uri="{FF2B5EF4-FFF2-40B4-BE49-F238E27FC236}">
                <a16:creationId xmlns:a16="http://schemas.microsoft.com/office/drawing/2014/main" id="{BF0498BF-1017-4D3A-A23E-115F42F75F74}"/>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TreeSort.java</a:t>
            </a:r>
          </a:p>
        </p:txBody>
      </p:sp>
      <p:sp>
        <p:nvSpPr>
          <p:cNvPr id="6" name="page">
            <a:extLst>
              <a:ext uri="{FF2B5EF4-FFF2-40B4-BE49-F238E27FC236}">
                <a16:creationId xmlns:a16="http://schemas.microsoft.com/office/drawing/2014/main" id="{2C352D41-BA4F-436C-B3C2-A699AFAA7B0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48</a:t>
            </a:r>
          </a:p>
        </p:txBody>
      </p:sp>
    </p:spTree>
    <p:extLst>
      <p:ext uri="{BB962C8B-B14F-4D97-AF65-F5344CB8AC3E}">
        <p14:creationId xmlns:p14="http://schemas.microsoft.com/office/powerpoint/2010/main" val="1754017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112300A1-F85E-44A3-84EB-72EE36C4D08B}"/>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Discussion: treesort must keep duplicates</a:t>
            </a:r>
          </a:p>
        </p:txBody>
      </p:sp>
      <p:sp>
        <p:nvSpPr>
          <p:cNvPr id="2" name="questions">
            <a:extLst>
              <a:ext uri="{FF2B5EF4-FFF2-40B4-BE49-F238E27FC236}">
                <a16:creationId xmlns:a16="http://schemas.microsoft.com/office/drawing/2014/main" id="{E807F5CA-C6A6-4A74-A393-F3A4E3C3F680}"/>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Input: 4, 2, 4, 1, 2</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A student inserts every value into our set-style BST</a:t>
            </a:r>
          </a:p>
          <a:p>
            <a:pPr>
              <a:defRPr sz="2175" b="0">
                <a:solidFill>
                  <a:srgbClr val="153143"/>
                </a:solidFill>
                <a:latin typeface="Arial"/>
                <a:ea typeface="Arial"/>
                <a:cs typeface="Arial"/>
              </a:defRPr>
            </a:pPr>
            <a:r>
              <a:rPr sz="2175" b="0">
                <a:solidFill>
                  <a:srgbClr val="153143"/>
                </a:solidFill>
                <a:latin typeface="Arial"/>
                <a:ea typeface="Arial"/>
                <a:cs typeface="Arial"/>
              </a:rPr>
              <a:t>and then emits an inorder traversal.</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Which output does the student get?</a:t>
            </a:r>
          </a:p>
          <a:p>
            <a:pPr>
              <a:defRPr sz="2175" b="0">
                <a:solidFill>
                  <a:srgbClr val="153143"/>
                </a:solidFill>
                <a:latin typeface="Arial"/>
                <a:ea typeface="Arial"/>
                <a:cs typeface="Arial"/>
              </a:defRPr>
            </a:pPr>
            <a:r>
              <a:rPr sz="2175" b="0">
                <a:solidFill>
                  <a:srgbClr val="153143"/>
                </a:solidFill>
                <a:latin typeface="Arial"/>
                <a:ea typeface="Arial"/>
                <a:cs typeface="Arial"/>
              </a:rPr>
              <a:t>What output must a sorting algorithm return?</a:t>
            </a:r>
          </a:p>
          <a:p>
            <a:pPr>
              <a:defRPr sz="2175" b="0">
                <a:solidFill>
                  <a:srgbClr val="153143"/>
                </a:solidFill>
                <a:latin typeface="Arial"/>
                <a:ea typeface="Arial"/>
                <a:cs typeface="Arial"/>
              </a:defRPr>
            </a:pPr>
            <a:r>
              <a:rPr sz="2175" b="0">
                <a:solidFill>
                  <a:srgbClr val="153143"/>
                </a:solidFill>
                <a:latin typeface="Arial"/>
                <a:ea typeface="Arial"/>
                <a:cs typeface="Arial"/>
              </a:rPr>
              <a:t>How could a count at each node preserve every item?</a:t>
            </a:r>
          </a:p>
        </p:txBody>
      </p:sp>
      <p:sp>
        <p:nvSpPr>
          <p:cNvPr id="3" name="activity-cue">
            <a:extLst>
              <a:ext uri="{FF2B5EF4-FFF2-40B4-BE49-F238E27FC236}">
                <a16:creationId xmlns:a16="http://schemas.microsoft.com/office/drawing/2014/main" id="{F0955611-C652-49C6-9918-25B3779C7D49}"/>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Compare the number of input and output items. 2 minutes</a:t>
            </a:r>
          </a:p>
        </p:txBody>
      </p:sp>
      <p:sp>
        <p:nvSpPr>
          <p:cNvPr id="4" name="local-java-TreeSort">
            <a:extLst>
              <a:ext uri="{FF2B5EF4-FFF2-40B4-BE49-F238E27FC236}">
                <a16:creationId xmlns:a16="http://schemas.microsoft.com/office/drawing/2014/main" id="{56B261BA-268D-476C-B9E1-0D37AFAD6261}"/>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defRPr sz="1350" b="0">
                <a:solidFill>
                  <a:srgbClr val="007D89"/>
                </a:solidFill>
                <a:latin typeface="Arial"/>
                <a:ea typeface="Arial"/>
                <a:cs typeface="Arial"/>
              </a:defRPr>
            </a:lvl1pPr>
            <a:lvl2pPr>
              <a:defRPr sz="1350" b="0">
                <a:solidFill>
                  <a:srgbClr val="007D89"/>
                </a:solidFill>
                <a:latin typeface="Arial"/>
                <a:ea typeface="Arial"/>
                <a:cs typeface="Arial"/>
              </a:defRPr>
            </a:lvl2pPr>
            <a:lvl3pPr>
              <a:defRPr sz="1350" b="0">
                <a:solidFill>
                  <a:srgbClr val="007D89"/>
                </a:solidFill>
                <a:latin typeface="Arial"/>
                <a:ea typeface="Arial"/>
                <a:cs typeface="Arial"/>
              </a:defRPr>
            </a:lvl3pPr>
            <a:lvl4pPr>
              <a:defRPr sz="1350" b="0">
                <a:solidFill>
                  <a:srgbClr val="007D89"/>
                </a:solidFill>
                <a:latin typeface="Arial"/>
                <a:ea typeface="Arial"/>
                <a:cs typeface="Arial"/>
              </a:defRPr>
            </a:lvl4pPr>
            <a:lvl5pPr>
              <a:defRPr sz="1350" b="0">
                <a:solidFill>
                  <a:srgbClr val="007D89"/>
                </a:solidFill>
                <a:latin typeface="Arial"/>
                <a:ea typeface="Arial"/>
                <a:cs typeface="Arial"/>
              </a:defRPr>
            </a:lvl5pPr>
            <a:lvl6pPr>
              <a:defRPr sz="1350" b="0">
                <a:solidFill>
                  <a:srgbClr val="007D89"/>
                </a:solidFill>
                <a:latin typeface="Arial"/>
                <a:ea typeface="Arial"/>
                <a:cs typeface="Arial"/>
              </a:defRPr>
            </a:lvl6pPr>
            <a:lvl7pPr>
              <a:defRPr sz="1350" b="0">
                <a:solidFill>
                  <a:srgbClr val="007D89"/>
                </a:solidFill>
                <a:latin typeface="Arial"/>
                <a:ea typeface="Arial"/>
                <a:cs typeface="Arial"/>
              </a:defRPr>
            </a:lvl7pPr>
            <a:lvl8pPr>
              <a:defRPr sz="1350" b="0">
                <a:solidFill>
                  <a:srgbClr val="007D89"/>
                </a:solidFill>
                <a:latin typeface="Arial"/>
                <a:ea typeface="Arial"/>
                <a:cs typeface="Arial"/>
              </a:defRPr>
            </a:lvl8pPr>
            <a:lvl9pPr>
              <a:defRPr sz="1350" b="0">
                <a:solidFill>
                  <a:srgbClr val="007D89"/>
                </a:solidFill>
                <a:latin typeface="Arial"/>
                <a:ea typeface="Arial"/>
                <a:cs typeface="Arial"/>
              </a:defRPr>
            </a:lvl9pPr>
          </a:lstStyle>
          <a:p>
            <a:pPr>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TreeSort.java</a:t>
            </a:r>
          </a:p>
        </p:txBody>
      </p:sp>
      <p:sp>
        <p:nvSpPr>
          <p:cNvPr id="5" name="page">
            <a:extLst>
              <a:ext uri="{FF2B5EF4-FFF2-40B4-BE49-F238E27FC236}">
                <a16:creationId xmlns:a16="http://schemas.microsoft.com/office/drawing/2014/main" id="{84ABCFC4-4575-4F86-94FF-2954BAAE462F}"/>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49</a:t>
            </a:r>
          </a:p>
        </p:txBody>
      </p:sp>
    </p:spTree>
    <p:extLst>
      <p:ext uri="{BB962C8B-B14F-4D97-AF65-F5344CB8AC3E}">
        <p14:creationId xmlns:p14="http://schemas.microsoft.com/office/powerpoint/2010/main" val="1563221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4A7E35BA-4C2A-4558-80AE-A3564C67E043}"/>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Review problems</a:t>
            </a:r>
          </a:p>
        </p:txBody>
      </p:sp>
      <p:sp>
        <p:nvSpPr>
          <p:cNvPr id="3" name="text-2">
            <a:extLst>
              <a:ext uri="{FF2B5EF4-FFF2-40B4-BE49-F238E27FC236}">
                <a16:creationId xmlns:a16="http://schemas.microsoft.com/office/drawing/2014/main" id="{DB2CA441-EA50-49F8-BBF4-289F104977E2}"/>
              </a:ext>
            </a:extLst>
          </p:cNvPr>
          <p:cNvSpPr>
            <a:spLocks noGrp="1"/>
          </p:cNvSpPr>
          <p:nvPr/>
        </p:nvSpPr>
        <p:spPr>
          <a:xfrm>
            <a:off x="609600" y="1571625"/>
            <a:ext cx="10906125" cy="4238625"/>
          </a:xfrm>
          <a:prstGeom prst="rect">
            <a:avLst/>
          </a:prstGeom>
          <a:noFill/>
          <a:ln w="0">
            <a:noFill/>
          </a:ln>
        </p:spPr>
        <p:txBody>
          <a:bodyPr lIns="0" tIns="0" rIns="0" bIns="0" anchor="t"/>
          <a:lstStyle>
            <a:defPPr algn="l">
              <a:defRPr sz="2175" b="0">
                <a:solidFill>
                  <a:srgbClr val="142E42"/>
                </a:solidFill>
                <a:latin typeface="Arial"/>
                <a:ea typeface="Arial"/>
                <a:cs typeface="Arial"/>
              </a:defRPr>
            </a:defPPr>
            <a:lvl1pPr algn="l">
              <a:buNone/>
              <a:defRPr sz="2175" b="0">
                <a:solidFill>
                  <a:srgbClr val="142E42"/>
                </a:solidFill>
                <a:latin typeface="Arial"/>
                <a:ea typeface="Arial"/>
                <a:cs typeface="Arial"/>
              </a:defRPr>
            </a:lvl1pPr>
            <a:lvl2pPr algn="l">
              <a:buNone/>
              <a:defRPr sz="2175" b="0">
                <a:solidFill>
                  <a:srgbClr val="142E42"/>
                </a:solidFill>
                <a:latin typeface="Arial"/>
                <a:ea typeface="Arial"/>
                <a:cs typeface="Arial"/>
              </a:defRPr>
            </a:lvl2pPr>
            <a:lvl3pPr algn="l">
              <a:buNone/>
              <a:defRPr sz="2175" b="0">
                <a:solidFill>
                  <a:srgbClr val="142E42"/>
                </a:solidFill>
                <a:latin typeface="Arial"/>
                <a:ea typeface="Arial"/>
                <a:cs typeface="Arial"/>
              </a:defRPr>
            </a:lvl3pPr>
            <a:lvl4pPr algn="l">
              <a:buNone/>
              <a:defRPr sz="2175" b="0">
                <a:solidFill>
                  <a:srgbClr val="142E42"/>
                </a:solidFill>
                <a:latin typeface="Arial"/>
                <a:ea typeface="Arial"/>
                <a:cs typeface="Arial"/>
              </a:defRPr>
            </a:lvl4pPr>
            <a:lvl5pPr algn="l">
              <a:buNone/>
              <a:defRPr sz="2175" b="0">
                <a:solidFill>
                  <a:srgbClr val="142E42"/>
                </a:solidFill>
                <a:latin typeface="Arial"/>
                <a:ea typeface="Arial"/>
                <a:cs typeface="Arial"/>
              </a:defRPr>
            </a:lvl5pPr>
            <a:lvl6pPr algn="l">
              <a:buNone/>
              <a:defRPr sz="2175" b="0">
                <a:solidFill>
                  <a:srgbClr val="142E42"/>
                </a:solidFill>
                <a:latin typeface="Arial"/>
                <a:ea typeface="Arial"/>
                <a:cs typeface="Arial"/>
              </a:defRPr>
            </a:lvl6pPr>
            <a:lvl7pPr algn="l">
              <a:buNone/>
              <a:defRPr sz="2175" b="0">
                <a:solidFill>
                  <a:srgbClr val="142E42"/>
                </a:solidFill>
                <a:latin typeface="Arial"/>
                <a:ea typeface="Arial"/>
                <a:cs typeface="Arial"/>
              </a:defRPr>
            </a:lvl7pPr>
            <a:lvl8pPr algn="l">
              <a:buNone/>
              <a:defRPr sz="2175" b="0">
                <a:solidFill>
                  <a:srgbClr val="142E42"/>
                </a:solidFill>
                <a:latin typeface="Arial"/>
                <a:ea typeface="Arial"/>
                <a:cs typeface="Arial"/>
              </a:defRPr>
            </a:lvl8pPr>
            <a:lvl9pPr algn="l">
              <a:buNone/>
              <a:defRPr sz="2175" b="0">
                <a:solidFill>
                  <a:srgbClr val="142E42"/>
                </a:solidFill>
                <a:latin typeface="Arial"/>
                <a:ea typeface="Arial"/>
                <a:cs typeface="Arial"/>
              </a:defRPr>
            </a:lvl9pPr>
          </a:lstStyle>
          <a:p>
            <a:pPr algn="l">
              <a:buNone/>
              <a:defRPr sz="2175" b="0">
                <a:solidFill>
                  <a:srgbClr val="142E42"/>
                </a:solidFill>
                <a:latin typeface="Arial"/>
                <a:ea typeface="Arial"/>
                <a:cs typeface="Arial"/>
              </a:defRPr>
            </a:pPr>
            <a:r>
              <a:rPr sz="2175" b="0">
                <a:solidFill>
                  <a:srgbClr val="142E42"/>
                </a:solidFill>
                <a:latin typeface="Arial"/>
                <a:ea typeface="Arial"/>
                <a:cs typeface="Arial"/>
              </a:rPr>
              <a:t>1. What is the maximum node count with 8 levels?</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2. For 2011 nodes, what are the minimum and</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   maximum numbers of levels?</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3. With exactly 10 levels, what are the minimum</a:t>
            </a:r>
          </a:p>
          <a:p>
            <a:pPr algn="l">
              <a:buNone/>
              <a:defRPr sz="2175" b="0">
                <a:solidFill>
                  <a:srgbClr val="142E42"/>
                </a:solidFill>
                <a:latin typeface="Arial"/>
                <a:ea typeface="Arial"/>
                <a:cs typeface="Arial"/>
              </a:defRPr>
            </a:pPr>
            <a:r>
              <a:rPr sz="2175" b="0">
                <a:solidFill>
                  <a:srgbClr val="142E42"/>
                </a:solidFill>
                <a:latin typeface="Arial"/>
                <a:ea typeface="Arial"/>
                <a:cs typeface="Arial"/>
              </a:rPr>
              <a:t>   and maximum numbers of leaves?</a:t>
            </a:r>
          </a:p>
          <a:p>
            <a:endParaRPr sz="2175" b="0">
              <a:solidFill>
                <a:srgbClr val="142E42"/>
              </a:solidFill>
              <a:latin typeface="Arial"/>
              <a:ea typeface="Arial"/>
              <a:cs typeface="Arial"/>
            </a:endParaRPr>
          </a:p>
          <a:p>
            <a:pPr algn="l">
              <a:buNone/>
              <a:defRPr sz="2175" b="0">
                <a:solidFill>
                  <a:srgbClr val="142E42"/>
                </a:solidFill>
                <a:latin typeface="Arial"/>
                <a:ea typeface="Arial"/>
                <a:cs typeface="Arial"/>
              </a:defRPr>
            </a:pPr>
            <a:r>
              <a:rPr sz="2175" b="0">
                <a:solidFill>
                  <a:srgbClr val="142E42"/>
                </a:solidFill>
                <a:latin typeface="Arial"/>
                <a:ea typeface="Arial"/>
                <a:cs typeface="Arial"/>
              </a:rPr>
              <a:t>4. Why can sorted insertion make a BST slow?</a:t>
            </a:r>
          </a:p>
        </p:txBody>
      </p:sp>
      <p:sp>
        <p:nvSpPr>
          <p:cNvPr id="5" name="page">
            <a:extLst>
              <a:ext uri="{FF2B5EF4-FFF2-40B4-BE49-F238E27FC236}">
                <a16:creationId xmlns:a16="http://schemas.microsoft.com/office/drawing/2014/main" id="{A4ED860B-C338-4288-ADFC-095D0854FA70}"/>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50</a:t>
            </a:r>
          </a:p>
        </p:txBody>
      </p:sp>
    </p:spTree>
    <p:extLst>
      <p:ext uri="{BB962C8B-B14F-4D97-AF65-F5344CB8AC3E}">
        <p14:creationId xmlns:p14="http://schemas.microsoft.com/office/powerpoint/2010/main" val="6799403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485F4BFB-D556-4616-8342-F4FA075414BB}"/>
              </a:ext>
            </a:extLst>
          </p:cNvPr>
          <p:cNvSpPr>
            <a:spLocks noGrp="1"/>
          </p:cNvSpPr>
          <p:nvPr/>
        </p:nvSpPr>
        <p:spPr>
          <a:xfrm>
            <a:off x="609600" y="476250"/>
            <a:ext cx="10972800" cy="809625"/>
          </a:xfrm>
          <a:prstGeom prst="rect">
            <a:avLst/>
          </a:prstGeom>
          <a:noFill/>
          <a:ln w="0">
            <a:noFill/>
          </a:ln>
        </p:spPr>
        <p:txBody>
          <a:bodyPr lIns="0" tIns="0" rIns="0" bIns="0"/>
          <a:lstStyle>
            <a:defPPr>
              <a:defRPr sz="3000" b="1">
                <a:solidFill>
                  <a:srgbClr val="153143"/>
                </a:solidFill>
                <a:latin typeface="Arial"/>
                <a:ea typeface="Arial"/>
                <a:cs typeface="Arial"/>
              </a:defRPr>
            </a:defPPr>
            <a:lvl1pPr>
              <a:defRPr sz="3000" b="1">
                <a:solidFill>
                  <a:srgbClr val="153143"/>
                </a:solidFill>
                <a:latin typeface="Arial"/>
                <a:ea typeface="Arial"/>
                <a:cs typeface="Arial"/>
              </a:defRPr>
            </a:lvl1pPr>
            <a:lvl2pPr>
              <a:defRPr sz="3000" b="1">
                <a:solidFill>
                  <a:srgbClr val="153143"/>
                </a:solidFill>
                <a:latin typeface="Arial"/>
                <a:ea typeface="Arial"/>
                <a:cs typeface="Arial"/>
              </a:defRPr>
            </a:lvl2pPr>
            <a:lvl3pPr>
              <a:defRPr sz="3000" b="1">
                <a:solidFill>
                  <a:srgbClr val="153143"/>
                </a:solidFill>
                <a:latin typeface="Arial"/>
                <a:ea typeface="Arial"/>
                <a:cs typeface="Arial"/>
              </a:defRPr>
            </a:lvl3pPr>
            <a:lvl4pPr>
              <a:defRPr sz="3000" b="1">
                <a:solidFill>
                  <a:srgbClr val="153143"/>
                </a:solidFill>
                <a:latin typeface="Arial"/>
                <a:ea typeface="Arial"/>
                <a:cs typeface="Arial"/>
              </a:defRPr>
            </a:lvl4pPr>
            <a:lvl5pPr>
              <a:defRPr sz="3000" b="1">
                <a:solidFill>
                  <a:srgbClr val="153143"/>
                </a:solidFill>
                <a:latin typeface="Arial"/>
                <a:ea typeface="Arial"/>
                <a:cs typeface="Arial"/>
              </a:defRPr>
            </a:lvl5pPr>
            <a:lvl6pPr>
              <a:defRPr sz="3000" b="1">
                <a:solidFill>
                  <a:srgbClr val="153143"/>
                </a:solidFill>
                <a:latin typeface="Arial"/>
                <a:ea typeface="Arial"/>
                <a:cs typeface="Arial"/>
              </a:defRPr>
            </a:lvl6pPr>
            <a:lvl7pPr>
              <a:defRPr sz="3000" b="1">
                <a:solidFill>
                  <a:srgbClr val="153143"/>
                </a:solidFill>
                <a:latin typeface="Arial"/>
                <a:ea typeface="Arial"/>
                <a:cs typeface="Arial"/>
              </a:defRPr>
            </a:lvl7pPr>
            <a:lvl8pPr>
              <a:defRPr sz="3000" b="1">
                <a:solidFill>
                  <a:srgbClr val="153143"/>
                </a:solidFill>
                <a:latin typeface="Arial"/>
                <a:ea typeface="Arial"/>
                <a:cs typeface="Arial"/>
              </a:defRPr>
            </a:lvl8pPr>
            <a:lvl9pPr>
              <a:defRPr sz="3000" b="1">
                <a:solidFill>
                  <a:srgbClr val="153143"/>
                </a:solidFill>
                <a:latin typeface="Arial"/>
                <a:ea typeface="Arial"/>
                <a:cs typeface="Arial"/>
              </a:defRPr>
            </a:lvl9pPr>
          </a:lstStyle>
          <a:p>
            <a:pPr>
              <a:defRPr sz="3000" b="1">
                <a:solidFill>
                  <a:srgbClr val="153143"/>
                </a:solidFill>
                <a:latin typeface="Arial"/>
                <a:ea typeface="Arial"/>
                <a:cs typeface="Arial"/>
              </a:defRPr>
            </a:pPr>
            <a:r>
              <a:rPr sz="3000" b="1">
                <a:solidFill>
                  <a:srgbClr val="153143"/>
                </a:solidFill>
                <a:latin typeface="Arial"/>
                <a:ea typeface="Arial"/>
                <a:cs typeface="Arial"/>
              </a:rPr>
              <a:t>Exit quiz: explain the invariant</a:t>
            </a:r>
          </a:p>
        </p:txBody>
      </p:sp>
      <p:sp>
        <p:nvSpPr>
          <p:cNvPr id="2" name="questions">
            <a:extLst>
              <a:ext uri="{FF2B5EF4-FFF2-40B4-BE49-F238E27FC236}">
                <a16:creationId xmlns:a16="http://schemas.microsoft.com/office/drawing/2014/main" id="{7EC705C9-47B4-4E24-B4FC-D1E0878B0103}"/>
              </a:ext>
            </a:extLst>
          </p:cNvPr>
          <p:cNvSpPr>
            <a:spLocks noGrp="1"/>
          </p:cNvSpPr>
          <p:nvPr/>
        </p:nvSpPr>
        <p:spPr>
          <a:xfrm>
            <a:off x="609600" y="1638300"/>
            <a:ext cx="10972800" cy="3857625"/>
          </a:xfrm>
          <a:prstGeom prst="rect">
            <a:avLst/>
          </a:prstGeom>
          <a:noFill/>
          <a:ln w="0">
            <a:noFill/>
          </a:ln>
        </p:spPr>
        <p:txBody>
          <a:bodyPr lIns="0" tIns="0" rIns="0" bIns="0"/>
          <a:lstStyle>
            <a:defPPr>
              <a:defRPr sz="2175" b="0">
                <a:solidFill>
                  <a:srgbClr val="153143"/>
                </a:solidFill>
                <a:latin typeface="Arial"/>
                <a:ea typeface="Arial"/>
                <a:cs typeface="Arial"/>
              </a:defRPr>
            </a:defPPr>
            <a:lvl1pPr>
              <a:defRPr sz="2175" b="0">
                <a:solidFill>
                  <a:srgbClr val="153143"/>
                </a:solidFill>
                <a:latin typeface="Arial"/>
                <a:ea typeface="Arial"/>
                <a:cs typeface="Arial"/>
              </a:defRPr>
            </a:lvl1pPr>
            <a:lvl2pPr>
              <a:defRPr sz="2175" b="0">
                <a:solidFill>
                  <a:srgbClr val="153143"/>
                </a:solidFill>
                <a:latin typeface="Arial"/>
                <a:ea typeface="Arial"/>
                <a:cs typeface="Arial"/>
              </a:defRPr>
            </a:lvl2pPr>
            <a:lvl3pPr>
              <a:defRPr sz="2175" b="0">
                <a:solidFill>
                  <a:srgbClr val="153143"/>
                </a:solidFill>
                <a:latin typeface="Arial"/>
                <a:ea typeface="Arial"/>
                <a:cs typeface="Arial"/>
              </a:defRPr>
            </a:lvl3pPr>
            <a:lvl4pPr>
              <a:defRPr sz="2175" b="0">
                <a:solidFill>
                  <a:srgbClr val="153143"/>
                </a:solidFill>
                <a:latin typeface="Arial"/>
                <a:ea typeface="Arial"/>
                <a:cs typeface="Arial"/>
              </a:defRPr>
            </a:lvl4pPr>
            <a:lvl5pPr>
              <a:defRPr sz="2175" b="0">
                <a:solidFill>
                  <a:srgbClr val="153143"/>
                </a:solidFill>
                <a:latin typeface="Arial"/>
                <a:ea typeface="Arial"/>
                <a:cs typeface="Arial"/>
              </a:defRPr>
            </a:lvl5pPr>
            <a:lvl6pPr>
              <a:defRPr sz="2175" b="0">
                <a:solidFill>
                  <a:srgbClr val="153143"/>
                </a:solidFill>
                <a:latin typeface="Arial"/>
                <a:ea typeface="Arial"/>
                <a:cs typeface="Arial"/>
              </a:defRPr>
            </a:lvl6pPr>
            <a:lvl7pPr>
              <a:defRPr sz="2175" b="0">
                <a:solidFill>
                  <a:srgbClr val="153143"/>
                </a:solidFill>
                <a:latin typeface="Arial"/>
                <a:ea typeface="Arial"/>
                <a:cs typeface="Arial"/>
              </a:defRPr>
            </a:lvl7pPr>
            <a:lvl8pPr>
              <a:defRPr sz="2175" b="0">
                <a:solidFill>
                  <a:srgbClr val="153143"/>
                </a:solidFill>
                <a:latin typeface="Arial"/>
                <a:ea typeface="Arial"/>
                <a:cs typeface="Arial"/>
              </a:defRPr>
            </a:lvl8pPr>
            <a:lvl9pPr>
              <a:defRPr sz="2175" b="0">
                <a:solidFill>
                  <a:srgbClr val="153143"/>
                </a:solidFill>
                <a:latin typeface="Arial"/>
                <a:ea typeface="Arial"/>
                <a:cs typeface="Arial"/>
              </a:defRPr>
            </a:lvl9pPr>
          </a:lstStyle>
          <a:p>
            <a:pPr>
              <a:defRPr sz="2175" b="0">
                <a:solidFill>
                  <a:srgbClr val="153143"/>
                </a:solidFill>
                <a:latin typeface="Arial"/>
                <a:ea typeface="Arial"/>
                <a:cs typeface="Arial"/>
              </a:defRPr>
            </a:pPr>
            <a:r>
              <a:rPr sz="2175" b="0">
                <a:solidFill>
                  <a:srgbClr val="153143"/>
                </a:solidFill>
                <a:latin typeface="Arial"/>
                <a:ea typeface="Arial"/>
                <a:cs typeface="Arial"/>
              </a:rPr>
              <a:t>1. Why can a parent-child comparison miss a BST error?</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2. A node has two children. Why does its successor</a:t>
            </a:r>
          </a:p>
          <a:p>
            <a:pPr>
              <a:defRPr sz="2175" b="0">
                <a:solidFill>
                  <a:srgbClr val="153143"/>
                </a:solidFill>
                <a:latin typeface="Arial"/>
                <a:ea typeface="Arial"/>
                <a:cs typeface="Arial"/>
              </a:defRPr>
            </a:pPr>
            <a:r>
              <a:rPr sz="2175" b="0">
                <a:solidFill>
                  <a:srgbClr val="153143"/>
                </a:solidFill>
                <a:latin typeface="Arial"/>
                <a:ea typeface="Arial"/>
                <a:cs typeface="Arial"/>
              </a:rPr>
              <a:t>   have at most one child?</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3. A BST contains n keys. Does that alone guarantee</a:t>
            </a:r>
          </a:p>
          <a:p>
            <a:pPr>
              <a:defRPr sz="2175" b="0">
                <a:solidFill>
                  <a:srgbClr val="153143"/>
                </a:solidFill>
                <a:latin typeface="Arial"/>
                <a:ea typeface="Arial"/>
                <a:cs typeface="Arial"/>
              </a:defRPr>
            </a:pPr>
            <a:r>
              <a:rPr sz="2175" b="0">
                <a:solidFill>
                  <a:srgbClr val="153143"/>
                </a:solidFill>
                <a:latin typeface="Arial"/>
                <a:ea typeface="Arial"/>
                <a:cs typeface="Arial"/>
              </a:rPr>
              <a:t>   O(log n) search? State the missing condition.</a:t>
            </a:r>
          </a:p>
          <a:p>
            <a:endParaRPr sz="2175" b="0">
              <a:solidFill>
                <a:srgbClr val="153143"/>
              </a:solidFill>
              <a:latin typeface="Arial"/>
              <a:ea typeface="Arial"/>
              <a:cs typeface="Arial"/>
            </a:endParaRPr>
          </a:p>
          <a:p>
            <a:pPr>
              <a:defRPr sz="2175" b="0">
                <a:solidFill>
                  <a:srgbClr val="153143"/>
                </a:solidFill>
                <a:latin typeface="Arial"/>
                <a:ea typeface="Arial"/>
                <a:cs typeface="Arial"/>
              </a:defRPr>
            </a:pPr>
            <a:r>
              <a:rPr sz="2175" b="0">
                <a:solidFill>
                  <a:srgbClr val="153143"/>
                </a:solidFill>
                <a:latin typeface="Arial"/>
                <a:ea typeface="Arial"/>
                <a:cs typeface="Arial"/>
              </a:rPr>
              <a:t>4. Can changing a stored key break the BST rule</a:t>
            </a:r>
          </a:p>
          <a:p>
            <a:pPr>
              <a:defRPr sz="2175" b="0">
                <a:solidFill>
                  <a:srgbClr val="153143"/>
                </a:solidFill>
                <a:latin typeface="Arial"/>
                <a:ea typeface="Arial"/>
                <a:cs typeface="Arial"/>
              </a:defRPr>
            </a:pPr>
            <a:r>
              <a:rPr sz="2175" b="0">
                <a:solidFill>
                  <a:srgbClr val="153143"/>
                </a:solidFill>
                <a:latin typeface="Arial"/>
                <a:ea typeface="Arial"/>
                <a:cs typeface="Arial"/>
              </a:rPr>
              <a:t>   even when no links change?</a:t>
            </a:r>
          </a:p>
        </p:txBody>
      </p:sp>
      <p:sp>
        <p:nvSpPr>
          <p:cNvPr id="3" name="activity-cue">
            <a:extLst>
              <a:ext uri="{FF2B5EF4-FFF2-40B4-BE49-F238E27FC236}">
                <a16:creationId xmlns:a16="http://schemas.microsoft.com/office/drawing/2014/main" id="{21913CD4-7C8D-4915-AEE9-885650FD202D}"/>
              </a:ext>
            </a:extLst>
          </p:cNvPr>
          <p:cNvSpPr>
            <a:spLocks noGrp="1"/>
          </p:cNvSpPr>
          <p:nvPr/>
        </p:nvSpPr>
        <p:spPr>
          <a:xfrm>
            <a:off x="609600" y="5715000"/>
            <a:ext cx="10972800" cy="304800"/>
          </a:xfrm>
          <a:prstGeom prst="rect">
            <a:avLst/>
          </a:prstGeom>
          <a:noFill/>
          <a:ln w="0">
            <a:noFill/>
          </a:ln>
        </p:spPr>
        <p:txBody>
          <a:bodyPr lIns="0" tIns="0" rIns="0" bIns="0"/>
          <a:lstStyle>
            <a:defPPr>
              <a:defRPr sz="1650" b="1">
                <a:solidFill>
                  <a:srgbClr val="007D89"/>
                </a:solidFill>
                <a:latin typeface="Arial"/>
                <a:ea typeface="Arial"/>
                <a:cs typeface="Arial"/>
              </a:defRPr>
            </a:defPPr>
            <a:lvl1pPr>
              <a:defRPr sz="1650" b="1">
                <a:solidFill>
                  <a:srgbClr val="007D89"/>
                </a:solidFill>
                <a:latin typeface="Arial"/>
                <a:ea typeface="Arial"/>
                <a:cs typeface="Arial"/>
              </a:defRPr>
            </a:lvl1pPr>
            <a:lvl2pPr>
              <a:defRPr sz="1650" b="1">
                <a:solidFill>
                  <a:srgbClr val="007D89"/>
                </a:solidFill>
                <a:latin typeface="Arial"/>
                <a:ea typeface="Arial"/>
                <a:cs typeface="Arial"/>
              </a:defRPr>
            </a:lvl2pPr>
            <a:lvl3pPr>
              <a:defRPr sz="1650" b="1">
                <a:solidFill>
                  <a:srgbClr val="007D89"/>
                </a:solidFill>
                <a:latin typeface="Arial"/>
                <a:ea typeface="Arial"/>
                <a:cs typeface="Arial"/>
              </a:defRPr>
            </a:lvl3pPr>
            <a:lvl4pPr>
              <a:defRPr sz="1650" b="1">
                <a:solidFill>
                  <a:srgbClr val="007D89"/>
                </a:solidFill>
                <a:latin typeface="Arial"/>
                <a:ea typeface="Arial"/>
                <a:cs typeface="Arial"/>
              </a:defRPr>
            </a:lvl4pPr>
            <a:lvl5pPr>
              <a:defRPr sz="1650" b="1">
                <a:solidFill>
                  <a:srgbClr val="007D89"/>
                </a:solidFill>
                <a:latin typeface="Arial"/>
                <a:ea typeface="Arial"/>
                <a:cs typeface="Arial"/>
              </a:defRPr>
            </a:lvl5pPr>
            <a:lvl6pPr>
              <a:defRPr sz="1650" b="1">
                <a:solidFill>
                  <a:srgbClr val="007D89"/>
                </a:solidFill>
                <a:latin typeface="Arial"/>
                <a:ea typeface="Arial"/>
                <a:cs typeface="Arial"/>
              </a:defRPr>
            </a:lvl6pPr>
            <a:lvl7pPr>
              <a:defRPr sz="1650" b="1">
                <a:solidFill>
                  <a:srgbClr val="007D89"/>
                </a:solidFill>
                <a:latin typeface="Arial"/>
                <a:ea typeface="Arial"/>
                <a:cs typeface="Arial"/>
              </a:defRPr>
            </a:lvl7pPr>
            <a:lvl8pPr>
              <a:defRPr sz="1650" b="1">
                <a:solidFill>
                  <a:srgbClr val="007D89"/>
                </a:solidFill>
                <a:latin typeface="Arial"/>
                <a:ea typeface="Arial"/>
                <a:cs typeface="Arial"/>
              </a:defRPr>
            </a:lvl8pPr>
            <a:lvl9pPr>
              <a:defRPr sz="1650" b="1">
                <a:solidFill>
                  <a:srgbClr val="007D89"/>
                </a:solidFill>
                <a:latin typeface="Arial"/>
                <a:ea typeface="Arial"/>
                <a:cs typeface="Arial"/>
              </a:defRPr>
            </a:lvl9pPr>
          </a:lstStyle>
          <a:p>
            <a:pPr>
              <a:defRPr sz="1650" b="1">
                <a:solidFill>
                  <a:srgbClr val="007D89"/>
                </a:solidFill>
                <a:latin typeface="Arial"/>
                <a:ea typeface="Arial"/>
                <a:cs typeface="Arial"/>
              </a:defRPr>
            </a:pPr>
            <a:r>
              <a:rPr sz="1650" b="1">
                <a:solidFill>
                  <a:srgbClr val="007D89"/>
                </a:solidFill>
                <a:latin typeface="Arial"/>
                <a:ea typeface="Arial"/>
                <a:cs typeface="Arial"/>
              </a:rPr>
              <a:t>Write a short explanation for each answer. 3 minutes</a:t>
            </a:r>
          </a:p>
        </p:txBody>
      </p:sp>
      <p:sp>
        <p:nvSpPr>
          <p:cNvPr id="4" name="page">
            <a:extLst>
              <a:ext uri="{FF2B5EF4-FFF2-40B4-BE49-F238E27FC236}">
                <a16:creationId xmlns:a16="http://schemas.microsoft.com/office/drawing/2014/main" id="{6FA6DF5A-2F07-4BC3-B0AF-5C60BB7B5902}"/>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51</a:t>
            </a:r>
          </a:p>
        </p:txBody>
      </p:sp>
    </p:spTree>
    <p:extLst>
      <p:ext uri="{BB962C8B-B14F-4D97-AF65-F5344CB8AC3E}">
        <p14:creationId xmlns:p14="http://schemas.microsoft.com/office/powerpoint/2010/main" val="308107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FAAF1ADF-F1A1-428A-BC79-8FF29DA5B4F0}"/>
              </a:ext>
            </a:extLst>
          </p:cNvPr>
          <p:cNvSpPr>
            <a:spLocks noGrp="1"/>
          </p:cNvSpPr>
          <p:nvPr/>
        </p:nvSpPr>
        <p:spPr>
          <a:xfrm>
            <a:off x="609600" y="419100"/>
            <a:ext cx="10953750" cy="809625"/>
          </a:xfrm>
          <a:prstGeom prst="rect">
            <a:avLst/>
          </a:prstGeom>
          <a:noFill/>
          <a:ln w="0">
            <a:noFill/>
          </a:ln>
        </p:spPr>
        <p:txBody>
          <a:bodyPr lIns="0" tIns="0" rIns="0" bIns="0" anchor="t"/>
          <a:lstStyle>
            <a:defPPr algn="l">
              <a:defRPr sz="3150" b="1">
                <a:solidFill>
                  <a:srgbClr val="142E42"/>
                </a:solidFill>
                <a:latin typeface="Arial"/>
                <a:ea typeface="Arial"/>
                <a:cs typeface="Arial"/>
              </a:defRPr>
            </a:defPPr>
            <a:lvl1pPr algn="l">
              <a:buNone/>
              <a:defRPr sz="3150" b="1">
                <a:solidFill>
                  <a:srgbClr val="142E42"/>
                </a:solidFill>
                <a:latin typeface="Arial"/>
                <a:ea typeface="Arial"/>
                <a:cs typeface="Arial"/>
              </a:defRPr>
            </a:lvl1pPr>
            <a:lvl2pPr algn="l">
              <a:buNone/>
              <a:defRPr sz="3150" b="1">
                <a:solidFill>
                  <a:srgbClr val="142E42"/>
                </a:solidFill>
                <a:latin typeface="Arial"/>
                <a:ea typeface="Arial"/>
                <a:cs typeface="Arial"/>
              </a:defRPr>
            </a:lvl2pPr>
            <a:lvl3pPr algn="l">
              <a:buNone/>
              <a:defRPr sz="3150" b="1">
                <a:solidFill>
                  <a:srgbClr val="142E42"/>
                </a:solidFill>
                <a:latin typeface="Arial"/>
                <a:ea typeface="Arial"/>
                <a:cs typeface="Arial"/>
              </a:defRPr>
            </a:lvl3pPr>
            <a:lvl4pPr algn="l">
              <a:buNone/>
              <a:defRPr sz="3150" b="1">
                <a:solidFill>
                  <a:srgbClr val="142E42"/>
                </a:solidFill>
                <a:latin typeface="Arial"/>
                <a:ea typeface="Arial"/>
                <a:cs typeface="Arial"/>
              </a:defRPr>
            </a:lvl4pPr>
            <a:lvl5pPr algn="l">
              <a:buNone/>
              <a:defRPr sz="3150" b="1">
                <a:solidFill>
                  <a:srgbClr val="142E42"/>
                </a:solidFill>
                <a:latin typeface="Arial"/>
                <a:ea typeface="Arial"/>
                <a:cs typeface="Arial"/>
              </a:defRPr>
            </a:lvl5pPr>
            <a:lvl6pPr algn="l">
              <a:buNone/>
              <a:defRPr sz="3150" b="1">
                <a:solidFill>
                  <a:srgbClr val="142E42"/>
                </a:solidFill>
                <a:latin typeface="Arial"/>
                <a:ea typeface="Arial"/>
                <a:cs typeface="Arial"/>
              </a:defRPr>
            </a:lvl6pPr>
            <a:lvl7pPr algn="l">
              <a:buNone/>
              <a:defRPr sz="3150" b="1">
                <a:solidFill>
                  <a:srgbClr val="142E42"/>
                </a:solidFill>
                <a:latin typeface="Arial"/>
                <a:ea typeface="Arial"/>
                <a:cs typeface="Arial"/>
              </a:defRPr>
            </a:lvl7pPr>
            <a:lvl8pPr algn="l">
              <a:buNone/>
              <a:defRPr sz="3150" b="1">
                <a:solidFill>
                  <a:srgbClr val="142E42"/>
                </a:solidFill>
                <a:latin typeface="Arial"/>
                <a:ea typeface="Arial"/>
                <a:cs typeface="Arial"/>
              </a:defRPr>
            </a:lvl8pPr>
            <a:lvl9pPr algn="l">
              <a:buNone/>
              <a:defRPr sz="3150" b="1">
                <a:solidFill>
                  <a:srgbClr val="142E42"/>
                </a:solidFill>
                <a:latin typeface="Arial"/>
                <a:ea typeface="Arial"/>
                <a:cs typeface="Arial"/>
              </a:defRPr>
            </a:lvl9pPr>
          </a:lstStyle>
          <a:p>
            <a:pPr algn="l">
              <a:buNone/>
              <a:defRPr sz="3150" b="1">
                <a:solidFill>
                  <a:srgbClr val="142E42"/>
                </a:solidFill>
                <a:latin typeface="Arial"/>
                <a:ea typeface="Arial"/>
                <a:cs typeface="Arial"/>
              </a:defRPr>
            </a:pPr>
            <a:r>
              <a:rPr sz="3150" b="1">
                <a:solidFill>
                  <a:srgbClr val="142E42"/>
                </a:solidFill>
                <a:latin typeface="Arial"/>
                <a:ea typeface="Arial"/>
                <a:cs typeface="Arial"/>
              </a:rPr>
              <a:t>Further practice</a:t>
            </a:r>
          </a:p>
        </p:txBody>
      </p:sp>
      <p:sp>
        <p:nvSpPr>
          <p:cNvPr id="3" name="text-2">
            <a:extLst>
              <a:ext uri="{FF2B5EF4-FFF2-40B4-BE49-F238E27FC236}">
                <a16:creationId xmlns:a16="http://schemas.microsoft.com/office/drawing/2014/main" id="{C82E8F85-6827-4757-94F2-C474E8406534}"/>
              </a:ext>
            </a:extLst>
          </p:cNvPr>
          <p:cNvSpPr>
            <a:spLocks noGrp="1"/>
          </p:cNvSpPr>
          <p:nvPr/>
        </p:nvSpPr>
        <p:spPr>
          <a:xfrm>
            <a:off x="609600" y="1619250"/>
            <a:ext cx="10953750" cy="3905250"/>
          </a:xfrm>
          <a:prstGeom prst="rect">
            <a:avLst/>
          </a:prstGeom>
          <a:noFill/>
          <a:ln w="0">
            <a:noFill/>
          </a:ln>
        </p:spPr>
        <p:txBody>
          <a:bodyPr lIns="0" tIns="0" rIns="0" bIns="0" anchor="t"/>
          <a:lstStyle>
            <a:defPPr algn="l">
              <a:defRPr sz="2250" b="0">
                <a:solidFill>
                  <a:srgbClr val="142E42"/>
                </a:solidFill>
                <a:latin typeface="Arial"/>
                <a:ea typeface="Arial"/>
                <a:cs typeface="Arial"/>
              </a:defRPr>
            </a:defPPr>
            <a:lvl1pPr algn="l">
              <a:buNone/>
              <a:defRPr sz="2250" b="0">
                <a:solidFill>
                  <a:srgbClr val="142E42"/>
                </a:solidFill>
                <a:latin typeface="Arial"/>
                <a:ea typeface="Arial"/>
                <a:cs typeface="Arial"/>
              </a:defRPr>
            </a:lvl1pPr>
            <a:lvl2pPr algn="l">
              <a:buNone/>
              <a:defRPr sz="2250" b="0">
                <a:solidFill>
                  <a:srgbClr val="142E42"/>
                </a:solidFill>
                <a:latin typeface="Arial"/>
                <a:ea typeface="Arial"/>
                <a:cs typeface="Arial"/>
              </a:defRPr>
            </a:lvl2pPr>
            <a:lvl3pPr algn="l">
              <a:buNone/>
              <a:defRPr sz="2250" b="0">
                <a:solidFill>
                  <a:srgbClr val="142E42"/>
                </a:solidFill>
                <a:latin typeface="Arial"/>
                <a:ea typeface="Arial"/>
                <a:cs typeface="Arial"/>
              </a:defRPr>
            </a:lvl3pPr>
            <a:lvl4pPr algn="l">
              <a:buNone/>
              <a:defRPr sz="2250" b="0">
                <a:solidFill>
                  <a:srgbClr val="142E42"/>
                </a:solidFill>
                <a:latin typeface="Arial"/>
                <a:ea typeface="Arial"/>
                <a:cs typeface="Arial"/>
              </a:defRPr>
            </a:lvl4pPr>
            <a:lvl5pPr algn="l">
              <a:buNone/>
              <a:defRPr sz="2250" b="0">
                <a:solidFill>
                  <a:srgbClr val="142E42"/>
                </a:solidFill>
                <a:latin typeface="Arial"/>
                <a:ea typeface="Arial"/>
                <a:cs typeface="Arial"/>
              </a:defRPr>
            </a:lvl5pPr>
            <a:lvl6pPr algn="l">
              <a:buNone/>
              <a:defRPr sz="2250" b="0">
                <a:solidFill>
                  <a:srgbClr val="142E42"/>
                </a:solidFill>
                <a:latin typeface="Arial"/>
                <a:ea typeface="Arial"/>
                <a:cs typeface="Arial"/>
              </a:defRPr>
            </a:lvl6pPr>
            <a:lvl7pPr algn="l">
              <a:buNone/>
              <a:defRPr sz="2250" b="0">
                <a:solidFill>
                  <a:srgbClr val="142E42"/>
                </a:solidFill>
                <a:latin typeface="Arial"/>
                <a:ea typeface="Arial"/>
                <a:cs typeface="Arial"/>
              </a:defRPr>
            </a:lvl7pPr>
            <a:lvl8pPr algn="l">
              <a:buNone/>
              <a:defRPr sz="2250" b="0">
                <a:solidFill>
                  <a:srgbClr val="142E42"/>
                </a:solidFill>
                <a:latin typeface="Arial"/>
                <a:ea typeface="Arial"/>
                <a:cs typeface="Arial"/>
              </a:defRPr>
            </a:lvl8pPr>
            <a:lvl9pPr algn="l">
              <a:buNone/>
              <a:defRPr sz="2250" b="0">
                <a:solidFill>
                  <a:srgbClr val="142E42"/>
                </a:solidFill>
                <a:latin typeface="Arial"/>
                <a:ea typeface="Arial"/>
                <a:cs typeface="Arial"/>
              </a:defRPr>
            </a:lvl9pPr>
          </a:lstStyle>
          <a:p>
            <a:pPr algn="l">
              <a:buNone/>
              <a:defRPr sz="2250" b="0">
                <a:solidFill>
                  <a:srgbClr val="142E42"/>
                </a:solidFill>
                <a:latin typeface="Arial"/>
                <a:ea typeface="Arial"/>
                <a:cs typeface="Arial"/>
              </a:defRPr>
            </a:pPr>
            <a:r>
              <a:rPr sz="2250" b="0">
                <a:solidFill>
                  <a:srgbClr val="142E42"/>
                </a:solidFill>
                <a:latin typeface="Arial"/>
                <a:ea typeface="Arial"/>
                <a:cs typeface="Arial"/>
              </a:rPr>
              <a:t>Implement iterative inorder traversal with an explicit stack.</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Compute height using a queue and one level at a time.</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Validate a BST using lower and upper bounds.</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Compare sorted insertion with random insertion.</a:t>
            </a:r>
          </a:p>
          <a:p>
            <a:endParaRPr sz="2250" b="0">
              <a:solidFill>
                <a:srgbClr val="142E42"/>
              </a:solidFill>
              <a:latin typeface="Arial"/>
              <a:ea typeface="Arial"/>
              <a:cs typeface="Arial"/>
            </a:endParaRPr>
          </a:p>
          <a:p>
            <a:pPr algn="l">
              <a:buNone/>
              <a:defRPr sz="2250" b="0">
                <a:solidFill>
                  <a:srgbClr val="142E42"/>
                </a:solidFill>
                <a:latin typeface="Arial"/>
                <a:ea typeface="Arial"/>
                <a:cs typeface="Arial"/>
              </a:defRPr>
            </a:pPr>
            <a:r>
              <a:rPr sz="2250" b="0">
                <a:solidFill>
                  <a:srgbClr val="142E42"/>
                </a:solidFill>
                <a:latin typeface="Arial"/>
                <a:ea typeface="Arial"/>
                <a:cs typeface="Arial"/>
              </a:rPr>
              <a:t>Explain how changing a stored key could break ordering.</a:t>
            </a:r>
          </a:p>
        </p:txBody>
      </p:sp>
      <p:sp>
        <p:nvSpPr>
          <p:cNvPr id="4" name="text-3">
            <a:extLst>
              <a:ext uri="{FF2B5EF4-FFF2-40B4-BE49-F238E27FC236}">
                <a16:creationId xmlns:a16="http://schemas.microsoft.com/office/drawing/2014/main" id="{48C7AE37-26FB-4FB5-A158-8476ECC02610}"/>
              </a:ext>
            </a:extLst>
          </p:cNvPr>
          <p:cNvSpPr>
            <a:spLocks noGrp="1"/>
          </p:cNvSpPr>
          <p:nvPr/>
        </p:nvSpPr>
        <p:spPr>
          <a:xfrm>
            <a:off x="609600" y="5800725"/>
            <a:ext cx="10477500" cy="457200"/>
          </a:xfrm>
          <a:prstGeom prst="rect">
            <a:avLst/>
          </a:prstGeom>
          <a:noFill/>
          <a:ln w="0">
            <a:noFill/>
          </a:ln>
        </p:spPr>
        <p:txBody>
          <a:bodyPr lIns="0" tIns="0" rIns="0" bIns="0" anchor="t"/>
          <a:lstStyle>
            <a:defPPr algn="l">
              <a:defRPr sz="1800" b="1">
                <a:solidFill>
                  <a:srgbClr val="007C83"/>
                </a:solidFill>
                <a:latin typeface="Arial"/>
                <a:ea typeface="Arial"/>
                <a:cs typeface="Arial"/>
              </a:defRPr>
            </a:defPPr>
            <a:lvl1pPr algn="l">
              <a:buNone/>
              <a:defRPr sz="1800" b="1">
                <a:solidFill>
                  <a:srgbClr val="007C83"/>
                </a:solidFill>
                <a:latin typeface="Arial"/>
                <a:ea typeface="Arial"/>
                <a:cs typeface="Arial"/>
              </a:defRPr>
            </a:lvl1pPr>
            <a:lvl2pPr algn="l">
              <a:buNone/>
              <a:defRPr sz="1800" b="1">
                <a:solidFill>
                  <a:srgbClr val="007C83"/>
                </a:solidFill>
                <a:latin typeface="Arial"/>
                <a:ea typeface="Arial"/>
                <a:cs typeface="Arial"/>
              </a:defRPr>
            </a:lvl2pPr>
            <a:lvl3pPr algn="l">
              <a:buNone/>
              <a:defRPr sz="1800" b="1">
                <a:solidFill>
                  <a:srgbClr val="007C83"/>
                </a:solidFill>
                <a:latin typeface="Arial"/>
                <a:ea typeface="Arial"/>
                <a:cs typeface="Arial"/>
              </a:defRPr>
            </a:lvl3pPr>
            <a:lvl4pPr algn="l">
              <a:buNone/>
              <a:defRPr sz="1800" b="1">
                <a:solidFill>
                  <a:srgbClr val="007C83"/>
                </a:solidFill>
                <a:latin typeface="Arial"/>
                <a:ea typeface="Arial"/>
                <a:cs typeface="Arial"/>
              </a:defRPr>
            </a:lvl4pPr>
            <a:lvl5pPr algn="l">
              <a:buNone/>
              <a:defRPr sz="1800" b="1">
                <a:solidFill>
                  <a:srgbClr val="007C83"/>
                </a:solidFill>
                <a:latin typeface="Arial"/>
                <a:ea typeface="Arial"/>
                <a:cs typeface="Arial"/>
              </a:defRPr>
            </a:lvl5pPr>
            <a:lvl6pPr algn="l">
              <a:buNone/>
              <a:defRPr sz="1800" b="1">
                <a:solidFill>
                  <a:srgbClr val="007C83"/>
                </a:solidFill>
                <a:latin typeface="Arial"/>
                <a:ea typeface="Arial"/>
                <a:cs typeface="Arial"/>
              </a:defRPr>
            </a:lvl6pPr>
            <a:lvl7pPr algn="l">
              <a:buNone/>
              <a:defRPr sz="1800" b="1">
                <a:solidFill>
                  <a:srgbClr val="007C83"/>
                </a:solidFill>
                <a:latin typeface="Arial"/>
                <a:ea typeface="Arial"/>
                <a:cs typeface="Arial"/>
              </a:defRPr>
            </a:lvl7pPr>
            <a:lvl8pPr algn="l">
              <a:buNone/>
              <a:defRPr sz="1800" b="1">
                <a:solidFill>
                  <a:srgbClr val="007C83"/>
                </a:solidFill>
                <a:latin typeface="Arial"/>
                <a:ea typeface="Arial"/>
                <a:cs typeface="Arial"/>
              </a:defRPr>
            </a:lvl8pPr>
            <a:lvl9pPr algn="l">
              <a:buNone/>
              <a:defRPr sz="1800" b="1">
                <a:solidFill>
                  <a:srgbClr val="007C83"/>
                </a:solidFill>
                <a:latin typeface="Arial"/>
                <a:ea typeface="Arial"/>
                <a:cs typeface="Arial"/>
              </a:defRPr>
            </a:lvl9pPr>
          </a:lstStyle>
          <a:p>
            <a:pPr algn="l">
              <a:buNone/>
              <a:defRPr sz="1800" b="1">
                <a:solidFill>
                  <a:srgbClr val="007C83"/>
                </a:solidFill>
                <a:latin typeface="Arial"/>
                <a:ea typeface="Arial"/>
                <a:cs typeface="Arial"/>
              </a:defRPr>
            </a:pPr>
            <a:r>
              <a:rPr sz="1800" b="1">
                <a:solidFill>
                  <a:srgbClr val="007C83"/>
                </a:solidFill>
                <a:latin typeface="Arial"/>
                <a:ea typeface="Arial"/>
                <a:cs typeface="Arial"/>
              </a:rPr>
              <a:t>A BST’s ordering rule gives the algorithm. Its shape determines the cost.</a:t>
            </a:r>
          </a:p>
        </p:txBody>
      </p:sp>
      <p:sp>
        <p:nvSpPr>
          <p:cNvPr id="6" name="local-java-BSTPractice">
            <a:extLst>
              <a:ext uri="{FF2B5EF4-FFF2-40B4-BE49-F238E27FC236}">
                <a16:creationId xmlns:a16="http://schemas.microsoft.com/office/drawing/2014/main" id="{38F216CF-8070-45FE-A249-F10C6983F489}"/>
              </a:ext>
            </a:extLst>
          </p:cNvPr>
          <p:cNvSpPr>
            <a:spLocks noGrp="1"/>
          </p:cNvSpPr>
          <p:nvPr/>
        </p:nvSpPr>
        <p:spPr>
          <a:xfrm>
            <a:off x="609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3"/>
              </a:rPr>
              <a:t>Java: BSTPractice.java</a:t>
            </a:r>
          </a:p>
        </p:txBody>
      </p:sp>
      <p:sp>
        <p:nvSpPr>
          <p:cNvPr id="7" name="local-java-HeightDemo">
            <a:extLst>
              <a:ext uri="{FF2B5EF4-FFF2-40B4-BE49-F238E27FC236}">
                <a16:creationId xmlns:a16="http://schemas.microsoft.com/office/drawing/2014/main" id="{C4151BEC-D3A0-4610-92AC-B743B415501A}"/>
              </a:ext>
            </a:extLst>
          </p:cNvPr>
          <p:cNvSpPr>
            <a:spLocks noGrp="1"/>
          </p:cNvSpPr>
          <p:nvPr/>
        </p:nvSpPr>
        <p:spPr>
          <a:xfrm>
            <a:off x="42291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4"/>
              </a:rPr>
              <a:t>Java: HeightDemo.java</a:t>
            </a:r>
          </a:p>
        </p:txBody>
      </p:sp>
      <p:sp>
        <p:nvSpPr>
          <p:cNvPr id="8" name="local-java-IteratorDemo">
            <a:extLst>
              <a:ext uri="{FF2B5EF4-FFF2-40B4-BE49-F238E27FC236}">
                <a16:creationId xmlns:a16="http://schemas.microsoft.com/office/drawing/2014/main" id="{CFBA4FDD-8760-46D9-8C10-40F24E9A744E}"/>
              </a:ext>
            </a:extLst>
          </p:cNvPr>
          <p:cNvSpPr>
            <a:spLocks noGrp="1"/>
          </p:cNvSpPr>
          <p:nvPr/>
        </p:nvSpPr>
        <p:spPr>
          <a:xfrm>
            <a:off x="7848600" y="6134100"/>
            <a:ext cx="3571875" cy="247650"/>
          </a:xfrm>
          <a:prstGeom prst="rect">
            <a:avLst/>
          </a:prstGeom>
          <a:noFill/>
          <a:ln w="0">
            <a:noFill/>
          </a:ln>
        </p:spPr>
        <p:txBody>
          <a:bodyPr lIns="0" tIns="0" rIns="0" bIns="0"/>
          <a:lstStyle>
            <a:defPPr>
              <a:defRPr sz="1350" b="0">
                <a:solidFill>
                  <a:srgbClr val="007D89"/>
                </a:solidFill>
                <a:latin typeface="Arial"/>
                <a:ea typeface="Arial"/>
                <a:cs typeface="Arial"/>
              </a:defRPr>
            </a:defPPr>
            <a:lvl1pPr>
              <a:buNone/>
              <a:defRPr sz="1350" b="0">
                <a:solidFill>
                  <a:srgbClr val="007D89"/>
                </a:solidFill>
                <a:latin typeface="Arial"/>
                <a:ea typeface="Arial"/>
                <a:cs typeface="Arial"/>
              </a:defRPr>
            </a:lvl1pPr>
            <a:lvl2pPr>
              <a:buNone/>
              <a:defRPr sz="1350" b="0">
                <a:solidFill>
                  <a:srgbClr val="007D89"/>
                </a:solidFill>
                <a:latin typeface="Arial"/>
                <a:ea typeface="Arial"/>
                <a:cs typeface="Arial"/>
              </a:defRPr>
            </a:lvl2pPr>
            <a:lvl3pPr>
              <a:buNone/>
              <a:defRPr sz="1350" b="0">
                <a:solidFill>
                  <a:srgbClr val="007D89"/>
                </a:solidFill>
                <a:latin typeface="Arial"/>
                <a:ea typeface="Arial"/>
                <a:cs typeface="Arial"/>
              </a:defRPr>
            </a:lvl3pPr>
            <a:lvl4pPr>
              <a:buNone/>
              <a:defRPr sz="1350" b="0">
                <a:solidFill>
                  <a:srgbClr val="007D89"/>
                </a:solidFill>
                <a:latin typeface="Arial"/>
                <a:ea typeface="Arial"/>
                <a:cs typeface="Arial"/>
              </a:defRPr>
            </a:lvl4pPr>
            <a:lvl5pPr>
              <a:buNone/>
              <a:defRPr sz="1350" b="0">
                <a:solidFill>
                  <a:srgbClr val="007D89"/>
                </a:solidFill>
                <a:latin typeface="Arial"/>
                <a:ea typeface="Arial"/>
                <a:cs typeface="Arial"/>
              </a:defRPr>
            </a:lvl5pPr>
            <a:lvl6pPr>
              <a:buNone/>
              <a:defRPr sz="1350" b="0">
                <a:solidFill>
                  <a:srgbClr val="007D89"/>
                </a:solidFill>
                <a:latin typeface="Arial"/>
                <a:ea typeface="Arial"/>
                <a:cs typeface="Arial"/>
              </a:defRPr>
            </a:lvl6pPr>
            <a:lvl7pPr>
              <a:buNone/>
              <a:defRPr sz="1350" b="0">
                <a:solidFill>
                  <a:srgbClr val="007D89"/>
                </a:solidFill>
                <a:latin typeface="Arial"/>
                <a:ea typeface="Arial"/>
                <a:cs typeface="Arial"/>
              </a:defRPr>
            </a:lvl7pPr>
            <a:lvl8pPr>
              <a:buNone/>
              <a:defRPr sz="1350" b="0">
                <a:solidFill>
                  <a:srgbClr val="007D89"/>
                </a:solidFill>
                <a:latin typeface="Arial"/>
                <a:ea typeface="Arial"/>
                <a:cs typeface="Arial"/>
              </a:defRPr>
            </a:lvl8pPr>
            <a:lvl9pPr>
              <a:buNone/>
              <a:defRPr sz="1350" b="0">
                <a:solidFill>
                  <a:srgbClr val="007D89"/>
                </a:solidFill>
                <a:latin typeface="Arial"/>
                <a:ea typeface="Arial"/>
                <a:cs typeface="Arial"/>
              </a:defRPr>
            </a:lvl9pPr>
          </a:lstStyle>
          <a:p>
            <a:pPr>
              <a:buNone/>
              <a:defRPr sz="1350" b="0">
                <a:solidFill>
                  <a:srgbClr val="007D89"/>
                </a:solidFill>
                <a:latin typeface="Arial"/>
                <a:ea typeface="Arial"/>
                <a:cs typeface="Arial"/>
              </a:defRPr>
            </a:pPr>
            <a:r>
              <a:rPr sz="1350" u="sng">
                <a:solidFill>
                  <a:srgbClr val="007D89"/>
                </a:solidFill>
                <a:latin typeface="Arial"/>
                <a:ea typeface="Arial"/>
                <a:cs typeface="Arial"/>
                <a:hlinkClick r:id="rId5"/>
              </a:rPr>
              <a:t>Java: IteratorDemo.java</a:t>
            </a:r>
          </a:p>
        </p:txBody>
      </p:sp>
      <p:sp>
        <p:nvSpPr>
          <p:cNvPr id="9" name="page">
            <a:extLst>
              <a:ext uri="{FF2B5EF4-FFF2-40B4-BE49-F238E27FC236}">
                <a16:creationId xmlns:a16="http://schemas.microsoft.com/office/drawing/2014/main" id="{86949C9B-321A-4F45-803B-FA64D7780C95}"/>
              </a:ext>
            </a:extLst>
          </p:cNvPr>
          <p:cNvSpPr>
            <a:spLocks noGrp="1"/>
          </p:cNvSpPr>
          <p:nvPr/>
        </p:nvSpPr>
        <p:spPr>
          <a:xfrm>
            <a:off x="11144250" y="6381750"/>
            <a:ext cx="476250" cy="238125"/>
          </a:xfrm>
          <a:prstGeom prst="rect">
            <a:avLst/>
          </a:prstGeom>
          <a:noFill/>
          <a:ln w="0">
            <a:noFill/>
          </a:ln>
        </p:spPr>
        <p:txBody>
          <a:bodyPr lIns="0" tIns="0" rIns="0" bIns="0"/>
          <a:lstStyle>
            <a:defPPr>
              <a:defRPr sz="1200" b="0">
                <a:solidFill>
                  <a:srgbClr val="536A78"/>
                </a:solidFill>
                <a:latin typeface="Arial"/>
                <a:ea typeface="Arial"/>
                <a:cs typeface="Arial"/>
              </a:defRPr>
            </a:defPPr>
            <a:lvl1pPr>
              <a:defRPr sz="1200" b="0">
                <a:solidFill>
                  <a:srgbClr val="536A78"/>
                </a:solidFill>
                <a:latin typeface="Arial"/>
                <a:ea typeface="Arial"/>
                <a:cs typeface="Arial"/>
              </a:defRPr>
            </a:lvl1pPr>
            <a:lvl2pPr>
              <a:defRPr sz="1200" b="0">
                <a:solidFill>
                  <a:srgbClr val="536A78"/>
                </a:solidFill>
                <a:latin typeface="Arial"/>
                <a:ea typeface="Arial"/>
                <a:cs typeface="Arial"/>
              </a:defRPr>
            </a:lvl2pPr>
            <a:lvl3pPr>
              <a:defRPr sz="1200" b="0">
                <a:solidFill>
                  <a:srgbClr val="536A78"/>
                </a:solidFill>
                <a:latin typeface="Arial"/>
                <a:ea typeface="Arial"/>
                <a:cs typeface="Arial"/>
              </a:defRPr>
            </a:lvl3pPr>
            <a:lvl4pPr>
              <a:defRPr sz="1200" b="0">
                <a:solidFill>
                  <a:srgbClr val="536A78"/>
                </a:solidFill>
                <a:latin typeface="Arial"/>
                <a:ea typeface="Arial"/>
                <a:cs typeface="Arial"/>
              </a:defRPr>
            </a:lvl4pPr>
            <a:lvl5pPr>
              <a:defRPr sz="1200" b="0">
                <a:solidFill>
                  <a:srgbClr val="536A78"/>
                </a:solidFill>
                <a:latin typeface="Arial"/>
                <a:ea typeface="Arial"/>
                <a:cs typeface="Arial"/>
              </a:defRPr>
            </a:lvl5pPr>
            <a:lvl6pPr>
              <a:defRPr sz="1200" b="0">
                <a:solidFill>
                  <a:srgbClr val="536A78"/>
                </a:solidFill>
                <a:latin typeface="Arial"/>
                <a:ea typeface="Arial"/>
                <a:cs typeface="Arial"/>
              </a:defRPr>
            </a:lvl6pPr>
            <a:lvl7pPr>
              <a:defRPr sz="1200" b="0">
                <a:solidFill>
                  <a:srgbClr val="536A78"/>
                </a:solidFill>
                <a:latin typeface="Arial"/>
                <a:ea typeface="Arial"/>
                <a:cs typeface="Arial"/>
              </a:defRPr>
            </a:lvl7pPr>
            <a:lvl8pPr>
              <a:defRPr sz="1200" b="0">
                <a:solidFill>
                  <a:srgbClr val="536A78"/>
                </a:solidFill>
                <a:latin typeface="Arial"/>
                <a:ea typeface="Arial"/>
                <a:cs typeface="Arial"/>
              </a:defRPr>
            </a:lvl8pPr>
            <a:lvl9pPr>
              <a:defRPr sz="1200" b="0">
                <a:solidFill>
                  <a:srgbClr val="536A78"/>
                </a:solidFill>
                <a:latin typeface="Arial"/>
                <a:ea typeface="Arial"/>
                <a:cs typeface="Arial"/>
              </a:defRPr>
            </a:lvl9pPr>
          </a:lstStyle>
          <a:p>
            <a:pPr>
              <a:defRPr sz="1200" b="0">
                <a:solidFill>
                  <a:srgbClr val="536A78"/>
                </a:solidFill>
                <a:latin typeface="Arial"/>
                <a:ea typeface="Arial"/>
                <a:cs typeface="Arial"/>
              </a:defRPr>
            </a:pPr>
            <a:r>
              <a:rPr sz="1200" b="0">
                <a:solidFill>
                  <a:srgbClr val="536A78"/>
                </a:solidFill>
                <a:latin typeface="Arial"/>
                <a:ea typeface="Arial"/>
                <a:cs typeface="Arial"/>
              </a:rPr>
              <a:t>52</a:t>
            </a:r>
          </a:p>
        </p:txBody>
      </p:sp>
    </p:spTree>
    <p:extLst>
      <p:ext uri="{BB962C8B-B14F-4D97-AF65-F5344CB8AC3E}">
        <p14:creationId xmlns:p14="http://schemas.microsoft.com/office/powerpoint/2010/main" val="11483299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7854</Words>
  <Application>Microsoft Office PowerPoint</Application>
  <DocSecurity>0</DocSecurity>
  <PresentationFormat>Widescreen</PresentationFormat>
  <Paragraphs>978</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Consolas</vt:lpstr>
      <vt:lpstr>Symbol</vt:lpstr>
      <vt:lpstr>Times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Zartoshty, Bahram</cp:lastModifiedBy>
  <cp:revision>2</cp:revision>
  <dcterms:created xsi:type="dcterms:W3CDTF">2026-10-25T18:35:14Z</dcterms:created>
  <dcterms:modified xsi:type="dcterms:W3CDTF">2026-10-26T00:19:42Z</dcterms:modified>
</cp:coreProperties>
</file>