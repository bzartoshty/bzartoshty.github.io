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630" r:id="rId35"/>
    <p:sldId id="631" r:id="rId36"/>
    <p:sldId id="289" r:id="rId37"/>
    <p:sldId id="290" r:id="rId38"/>
    <p:sldId id="291" r:id="rId39"/>
    <p:sldId id="292" r:id="rId40"/>
    <p:sldId id="293" r:id="rId41"/>
  </p:sldIdLst>
  <p:sldSz cx="12192000" cy="6858000"/>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519944" y="180542"/>
            <a:ext cx="2399740" cy="270813"/>
          </a:xfrm>
          <a:prstGeom prst="rect">
            <a:avLst/>
          </a:prstGeom>
          <a:noFill/>
          <a:ln>
            <a:noFill/>
          </a:ln>
        </p:spPr>
        <p:txBody>
          <a:bodyPr wrap="square" lIns="0" tIns="0" rIns="0" bIns="0" anchor="t">
            <a:normAutofit/>
          </a:bodyPr>
          <a:lstStyle/>
          <a:p>
            <a:pPr>
              <a:defRPr sz="1200">
                <a:latin typeface="Arial"/>
              </a:defRPr>
            </a:pPr>
            <a:endParaRPr lang="en-US" sz="1200">
              <a:latin typeface="Arial"/>
            </a:endParaRPr>
          </a:p>
        </p:txBody>
      </p:sp>
      <p:sp>
        <p:nvSpPr>
          <p:cNvPr id="3" name="Date Placeholder"/>
          <p:cNvSpPr>
            <a:spLocks noGrp="1"/>
          </p:cNvSpPr>
          <p:nvPr>
            <p:ph type="dt" sz="quarter" idx="1"/>
          </p:nvPr>
        </p:nvSpPr>
        <p:spPr>
          <a:xfrm>
            <a:off x="3879579" y="180542"/>
            <a:ext cx="2399740" cy="270813"/>
          </a:xfrm>
          <a:prstGeom prst="rect">
            <a:avLst/>
          </a:prstGeom>
          <a:noFill/>
          <a:ln>
            <a:noFill/>
          </a:ln>
        </p:spPr>
        <p:txBody>
          <a:bodyPr wrap="square" lIns="0" tIns="0" rIns="0" bIns="0" anchor="t">
            <a:normAutofit/>
          </a:bodyPr>
          <a:lstStyle/>
          <a:p>
            <a:pPr>
              <a:defRPr sz="1200">
                <a:latin typeface="Arial"/>
              </a:defRPr>
            </a:pPr>
            <a:endParaRPr lang="en-US" sz="1200">
              <a:latin typeface="Arial"/>
            </a:endParaRPr>
          </a:p>
        </p:txBody>
      </p:sp>
      <p:sp>
        <p:nvSpPr>
          <p:cNvPr id="4" name="Slide Image Placeholder"/>
          <p:cNvSpPr>
            <a:spLocks noGrp="1" noRot="1" noChangeAspect="1"/>
          </p:cNvSpPr>
          <p:nvPr>
            <p:ph type="sldImg" idx="2"/>
          </p:nvPr>
        </p:nvSpPr>
        <p:spPr>
          <a:xfrm>
            <a:off x="15875" y="587375"/>
            <a:ext cx="6767513" cy="3808413"/>
          </a:xfrm>
          <a:prstGeom prst="rect">
            <a:avLst/>
          </a:prstGeom>
          <a:noFill/>
          <a:ln>
            <a:noFill/>
          </a:ln>
        </p:spPr>
        <p:txBody>
          <a:bodyPr wrap="square" lIns="0" tIns="0" rIns="0" bIns="0" anchor="t">
            <a:normAutofit/>
          </a:bodyPr>
          <a:lstStyle/>
          <a:p>
            <a:pPr marL="0" indent="0" algn="l">
              <a:defRPr sz="1200">
                <a:latin typeface="Arial"/>
              </a:defRPr>
            </a:pPr>
            <a:endParaRPr/>
          </a:p>
        </p:txBody>
      </p:sp>
      <p:sp>
        <p:nvSpPr>
          <p:cNvPr id="5" name="Notes Placeholder"/>
          <p:cNvSpPr>
            <a:spLocks noGrp="1"/>
          </p:cNvSpPr>
          <p:nvPr>
            <p:ph type="body" sz="quarter" idx="3"/>
          </p:nvPr>
        </p:nvSpPr>
        <p:spPr>
          <a:xfrm>
            <a:off x="519944" y="4648958"/>
            <a:ext cx="5759376" cy="4558687"/>
          </a:xfrm>
          <a:prstGeom prst="rect">
            <a:avLst/>
          </a:prstGeom>
          <a:noFill/>
          <a:ln>
            <a:noFill/>
          </a:ln>
        </p:spPr>
        <p:txBody>
          <a:bodyPr wrap="square" lIns="0" tIns="0" rIns="0" bIns="0" anchor="t">
            <a:normAutofit/>
          </a:bodyPr>
          <a:lstStyle/>
          <a:p>
            <a:pPr marL="0" indent="0" algn="l">
              <a:defRPr sz="1200">
                <a:latin typeface="Arial"/>
              </a:defRPr>
            </a:pPr>
            <a:endParaRPr/>
          </a:p>
        </p:txBody>
      </p:sp>
      <p:sp>
        <p:nvSpPr>
          <p:cNvPr id="6" name="Footer Placeholder"/>
          <p:cNvSpPr>
            <a:spLocks noGrp="1"/>
          </p:cNvSpPr>
          <p:nvPr>
            <p:ph type="ftr" sz="quarter" idx="4"/>
          </p:nvPr>
        </p:nvSpPr>
        <p:spPr>
          <a:xfrm>
            <a:off x="519944" y="9343051"/>
            <a:ext cx="4799480" cy="270813"/>
          </a:xfrm>
          <a:prstGeom prst="rect">
            <a:avLst/>
          </a:prstGeom>
          <a:noFill/>
          <a:ln>
            <a:noFill/>
          </a:ln>
        </p:spPr>
        <p:txBody>
          <a:bodyPr wrap="square" lIns="0" tIns="0" rIns="0" bIns="0" anchor="t">
            <a:normAutofit/>
          </a:bodyPr>
          <a:lstStyle/>
          <a:p>
            <a:pPr>
              <a:defRPr sz="1200">
                <a:latin typeface="Arial"/>
              </a:defRPr>
            </a:pPr>
            <a:endParaRPr lang="en-US" sz="1200">
              <a:latin typeface="Arial"/>
            </a:endParaRPr>
          </a:p>
        </p:txBody>
      </p:sp>
      <p:sp>
        <p:nvSpPr>
          <p:cNvPr id="7" name="Slide Number Placeholder"/>
          <p:cNvSpPr>
            <a:spLocks noGrp="1"/>
          </p:cNvSpPr>
          <p:nvPr>
            <p:ph type="sldNum" sz="quarter"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lang="en-US" sz="1200">
              <a:latin typeface="Arial"/>
            </a:endParaRPr>
          </a:p>
        </p:txBody>
      </p:sp>
    </p:spTree>
  </p:cSld>
  <p:clrMap bg1="lt1" tx1="dk1" bg2="lt2" tx2="dk2" accent1="accent1" accent2="accent2" accent3="accent3" accent4="accent4" accent5="accent5" accent6="accent6" hlink="hlink" folHlink="folHlink"/>
  <p:notesStyle>
    <a:lvl1pPr marL="0" indent="0" algn="l" defTabSz="914400" rtl="0" eaLnBrk="1" latinLnBrk="0" hangingPunct="1">
      <a:defRPr sz="1200" kern="1200">
        <a:latin typeface="Arial"/>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dirty="0"/>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Array costs assume sorted arrays and arbitrary insertion positions. Linked-list updates are O(1) only when the required location and predecessor are already available. BST operations take O(h+1). Source: https://algs4.cs.princeton.edu/32bst/</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Diagram adapted from supplied slide 11. A subtree includes its root and all descendants.</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Convention: count edges. Empty-tree height is −1, leaf height is 0, root depth is 0. Level equals depth in this lesson. The original mixes edge and node counts.</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Terminology varies between textbooks. This lesson uses full/proper for zero or two children and perfect for all leaves at one depth. Height-balanced means the AVL local height condition, without teaching rotations here.</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Diagram adapted from supplied slide 41. This consistent example has root 12.</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Answer: the left tree is a BST. The right drawing is invalid: node 5 has three children, and node 10 has descendant 15, which exceeds ancestor 11, and 21 is left of 20. More simply identify any one violation. Diagram adapted from supplied slide 29.</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All Java examples use ordering equality (compareTo == 0). Non-null keys are required. Source: https://docs.oracle.com/en/java/javase/18/docs/api/java.base/java/lang/Comparable.html</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Diagram adapted from supplied slide 41. Search 10 visits 12, 5, 9, 10. Search 8 visits 12, 5, 9, 7, then null.</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Source diagrams adapted from supplied slide 43. Existing nodes retain their positions in the ordering. New nodes 13, 8, 31 appear in that source example.</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This compact trace replaces the source deck’s 20-slide trace of insertion 101. Diagram adapted from supplied slide 43; later insertions 8 and 31 are omitted.</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Diagram adapted from supplied slide 19. Operator nodes are internal, operands are leaves. This is a binary tree but not a BST over the displayed symbols.</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Diagram adapted from supplied slide 36. Inorder yields sorted keys because the input is a BST.</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Queue code assumes import java.util.Queue and java.util.ArrayDeque. Output for the tree on slide 21 is 30, 20, 70, 10, 50, 90, 40, 60.</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Answers: inorder 10,20,30,40,50,60,70,90. Preorder 30,20,10,70,50,40,60,90. Postorder 10,20,40,60,50,90,70,30. Inorder successor of 30 is 40.</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For a node with a left subtree, predecessor is the maximum key there. With no left subtree, walk toward the nearest smaller ancestor. The successor is symmetric. Diagram adapted from supplied slide 41.</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Diagram adapted from supplied slide 69. Node 15 has one child, node 20. The title in the original calls this Case 1 despite an earlier no-left-child description. This slide labels the structure explicitly.</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Diagram adapted from supplied slide 41. This lesson implements successor deletion. The source also teaches predecessor deletion. Both preserve ordering. For root 12, successor is 15, which has right child 20.</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The helper returns the new root of the subtree. It relies on min and deleteMin shown next. Source for the successor strategy: https://algs4.cs.princeton.edu/32bst/</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Source: https://algs4.cs.princeton.edu/32bst/ . Expected logarithmic height assumes a BST built from distinct keys inserted in random order. Arbitrary unbalanced update histories carry no logarithmic guarantee.</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9100" y="703263"/>
            <a:ext cx="6172200" cy="34734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normAutofit lnSpcReduction="10000"/>
          </a:bodyPr>
          <a:lstStyle/>
          <a:p>
            <a:fld id="{27FE51C0-52C7-471A-8322-CDA162B72058}" type="slidenum">
              <a:rPr lang="en-US" altLang="en-US" smtClean="0"/>
              <a:pPr/>
              <a:t>34</a:t>
            </a:fld>
            <a:endParaRPr lang="en-US" altLang="en-US"/>
          </a:p>
        </p:txBody>
      </p:sp>
    </p:spTree>
    <p:extLst>
      <p:ext uri="{BB962C8B-B14F-4D97-AF65-F5344CB8AC3E}">
        <p14:creationId xmlns:p14="http://schemas.microsoft.com/office/powerpoint/2010/main" val="9393365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E2B15FE9-2CC5-4A77-9AB4-7FF3BE17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51122" indent="-288893">
              <a:defRPr sz="2400">
                <a:solidFill>
                  <a:schemeClr val="tx1"/>
                </a:solidFill>
                <a:latin typeface="Times" panose="02020603050405020304" pitchFamily="18" charset="0"/>
              </a:defRPr>
            </a:lvl2pPr>
            <a:lvl3pPr marL="1155573" indent="-231115">
              <a:defRPr sz="2400">
                <a:solidFill>
                  <a:schemeClr val="tx1"/>
                </a:solidFill>
                <a:latin typeface="Times" panose="02020603050405020304" pitchFamily="18" charset="0"/>
              </a:defRPr>
            </a:lvl3pPr>
            <a:lvl4pPr marL="1617802" indent="-231115">
              <a:defRPr sz="2400">
                <a:solidFill>
                  <a:schemeClr val="tx1"/>
                </a:solidFill>
                <a:latin typeface="Times" panose="02020603050405020304" pitchFamily="18" charset="0"/>
              </a:defRPr>
            </a:lvl4pPr>
            <a:lvl5pPr marL="2080031" indent="-231115">
              <a:defRPr sz="2400">
                <a:solidFill>
                  <a:schemeClr val="tx1"/>
                </a:solidFill>
                <a:latin typeface="Times" panose="02020603050405020304" pitchFamily="18" charset="0"/>
              </a:defRPr>
            </a:lvl5pPr>
            <a:lvl6pPr marL="2542261" indent="-231115" eaLnBrk="0" fontAlgn="base" hangingPunct="0">
              <a:spcBef>
                <a:spcPct val="0"/>
              </a:spcBef>
              <a:spcAft>
                <a:spcPct val="0"/>
              </a:spcAft>
              <a:defRPr sz="2400">
                <a:solidFill>
                  <a:schemeClr val="tx1"/>
                </a:solidFill>
                <a:latin typeface="Times" panose="02020603050405020304" pitchFamily="18" charset="0"/>
              </a:defRPr>
            </a:lvl6pPr>
            <a:lvl7pPr marL="3004490" indent="-231115" eaLnBrk="0" fontAlgn="base" hangingPunct="0">
              <a:spcBef>
                <a:spcPct val="0"/>
              </a:spcBef>
              <a:spcAft>
                <a:spcPct val="0"/>
              </a:spcAft>
              <a:defRPr sz="2400">
                <a:solidFill>
                  <a:schemeClr val="tx1"/>
                </a:solidFill>
                <a:latin typeface="Times" panose="02020603050405020304" pitchFamily="18" charset="0"/>
              </a:defRPr>
            </a:lvl7pPr>
            <a:lvl8pPr marL="3466719" indent="-231115" eaLnBrk="0" fontAlgn="base" hangingPunct="0">
              <a:spcBef>
                <a:spcPct val="0"/>
              </a:spcBef>
              <a:spcAft>
                <a:spcPct val="0"/>
              </a:spcAft>
              <a:defRPr sz="2400">
                <a:solidFill>
                  <a:schemeClr val="tx1"/>
                </a:solidFill>
                <a:latin typeface="Times" panose="02020603050405020304" pitchFamily="18" charset="0"/>
              </a:defRPr>
            </a:lvl8pPr>
            <a:lvl9pPr marL="3928948" indent="-231115" eaLnBrk="0" fontAlgn="base" hangingPunct="0">
              <a:spcBef>
                <a:spcPct val="0"/>
              </a:spcBef>
              <a:spcAft>
                <a:spcPct val="0"/>
              </a:spcAft>
              <a:defRPr sz="2400">
                <a:solidFill>
                  <a:schemeClr val="tx1"/>
                </a:solidFill>
                <a:latin typeface="Times" panose="02020603050405020304" pitchFamily="18" charset="0"/>
              </a:defRPr>
            </a:lvl9pPr>
          </a:lstStyle>
          <a:p>
            <a:fld id="{AFE2A47D-FC4E-461B-AFC3-94D0921877C4}" type="slidenum">
              <a:rPr lang="en-US" altLang="en-US" sz="1200"/>
              <a:pPr/>
              <a:t>35</a:t>
            </a:fld>
            <a:endParaRPr lang="en-US" altLang="en-US" sz="1200"/>
          </a:p>
        </p:txBody>
      </p:sp>
      <p:sp>
        <p:nvSpPr>
          <p:cNvPr id="41987" name="Rectangle 2">
            <a:extLst>
              <a:ext uri="{FF2B5EF4-FFF2-40B4-BE49-F238E27FC236}">
                <a16:creationId xmlns:a16="http://schemas.microsoft.com/office/drawing/2014/main" id="{F185CCE6-20B0-4F7B-B209-F5D568512FFD}"/>
              </a:ext>
            </a:extLst>
          </p:cNvPr>
          <p:cNvSpPr>
            <a:spLocks noGrp="1" noRot="1" noChangeAspect="1" noChangeArrowheads="1" noTextEdit="1"/>
          </p:cNvSpPr>
          <p:nvPr>
            <p:ph type="sldImg"/>
          </p:nvPr>
        </p:nvSpPr>
        <p:spPr>
          <a:xfrm>
            <a:off x="419100" y="703263"/>
            <a:ext cx="6172200" cy="3473450"/>
          </a:xfrm>
          <a:ln/>
        </p:spPr>
      </p:sp>
      <p:sp>
        <p:nvSpPr>
          <p:cNvPr id="41988" name="Rectangle 3">
            <a:extLst>
              <a:ext uri="{FF2B5EF4-FFF2-40B4-BE49-F238E27FC236}">
                <a16:creationId xmlns:a16="http://schemas.microsoft.com/office/drawing/2014/main" id="{E3FECFCA-0381-4F70-B64F-5F24E4F67E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8681196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For n &gt;= 1, minimum height is ceil(log2(n+1)) - 1 and maximum height is n - 1. Maximum nodes for height h&gt;=0 is 2^(h+1)-1. These differ by one from formulas that count levels.</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A set-style BST rejects duplicate keys. To preserve duplicates for sorting, store counts at nodes or buckets of equal-key records. Expected O(n log n) assumes distinct keys inserted in random order. Source: https://algs4.cs.princeton.edu/32bst/</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r>
              <a:rPr sz="1100"/>
              <a:t>Allow students time before revealing the next slide. A level count is h+1 for nonempty trees.</a:t>
            </a: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5875" y="587375"/>
            <a:ext cx="6767513" cy="3808413"/>
          </a:xfrm>
          <a:prstGeom prst="rect">
            <a:avLst/>
          </a:prstGeom>
          <a:noFill/>
          <a:ln>
            <a:noFill/>
          </a:ln>
        </p:spPr>
      </p:sp>
      <p:sp>
        <p:nvSpPr>
          <p:cNvPr id="3" name="Notes Placeholder 2"/>
          <p:cNvSpPr>
            <a:spLocks noGrp="1"/>
          </p:cNvSpPr>
          <p:nvPr>
            <p:ph type="body" idx="3"/>
          </p:nvPr>
        </p:nvSpPr>
        <p:spPr>
          <a:xfrm>
            <a:off x="519944" y="4648958"/>
            <a:ext cx="5759376" cy="4558687"/>
          </a:xfrm>
          <a:prstGeom prst="rect">
            <a:avLst/>
          </a:prstGeom>
          <a:noFill/>
          <a:ln>
            <a:noFill/>
          </a:ln>
        </p:spPr>
        <p:txBody>
          <a:bodyPr wrap="square" lIns="0" tIns="0" rIns="0" bIns="0" anchor="t">
            <a:normAutofit/>
          </a:bodyPr>
          <a:lstStyle/>
          <a:p>
            <a:pPr>
              <a:defRPr sz="1200">
                <a:latin typeface="Arial"/>
              </a:defRPr>
            </a:pPr>
            <a:endParaRPr/>
          </a:p>
        </p:txBody>
      </p:sp>
      <p:sp>
        <p:nvSpPr>
          <p:cNvPr id="4" name="Slide Number Placeholder 3"/>
          <p:cNvSpPr>
            <a:spLocks noGrp="1"/>
          </p:cNvSpPr>
          <p:nvPr>
            <p:ph type="sldNum" idx="5"/>
          </p:nvPr>
        </p:nvSpPr>
        <p:spPr>
          <a:xfrm>
            <a:off x="5759376" y="9343051"/>
            <a:ext cx="519944" cy="270813"/>
          </a:xfrm>
          <a:prstGeom prst="rect">
            <a:avLst/>
          </a:prstGeom>
          <a:noFill/>
          <a:ln>
            <a:noFill/>
          </a:ln>
        </p:spPr>
        <p:txBody>
          <a:bodyPr wrap="square" lIns="0" tIns="0" rIns="0" bIns="0" anchor="t">
            <a:normAutofit/>
          </a:bodyPr>
          <a:lstStyle/>
          <a:p>
            <a:pPr>
              <a:defRPr sz="1200">
                <a:latin typeface="Arial"/>
              </a:defRPr>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BC23B9B-5C78-4CC5-A085-D7820C9B500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7A8766C3-C76A-43A1-A823-7F5D96D92CA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63B7AA0-15C0-4340-BE6E-A6EACDE76C2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328D08F-85A1-4DE8-A038-D892AD9AE25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EABFFA44-0EBA-4F0F-BCB8-AF16FAF9474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685D53E-ED6A-4285-A507-600D21ED4FA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307E0C0B-7D76-478C-9643-0E24AAE4D28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C1445C2-6470-4DC5-8AC2-34C8D67F840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4CAAC12-104D-4166-938D-E3CE9D445A4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E39BC41-7410-49C1-9413-F6095B22E2F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8237A815-C2E4-4C17-96C7-5952328D86F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EDF37F86-8313-486F-B563-896E73A7CEC1}"/>
              </a:ext>
            </a:extLst>
          </p:cNvPr>
          <p:cNvSpPr>
            <a:spLocks noGrp="1" noChangeArrowheads="1"/>
          </p:cNvSpPr>
          <p:nvPr>
            <p:ph type="sldNum" sz="quarter" idx="11"/>
          </p:nvPr>
        </p:nvSpPr>
        <p:spPr>
          <a:ln/>
        </p:spPr>
        <p:txBody>
          <a:bodyPr/>
          <a:lstStyle>
            <a:lvl1pPr>
              <a:defRPr/>
            </a:lvl1pPr>
          </a:lstStyle>
          <a:p>
            <a:pPr>
              <a:defRPr/>
            </a:pPr>
            <a:fld id="{0C640366-CA00-4FBF-815B-BF0D01081DC3}" type="slidenum">
              <a:rPr lang="en-US" altLang="en-US"/>
              <a:pPr>
                <a:defRPr/>
              </a:pPr>
              <a:t>‹#›</a:t>
            </a:fld>
            <a:endParaRPr lang="en-US" altLang="en-US"/>
          </a:p>
        </p:txBody>
      </p:sp>
    </p:spTree>
    <p:extLst>
      <p:ext uri="{BB962C8B-B14F-4D97-AF65-F5344CB8AC3E}">
        <p14:creationId xmlns:p14="http://schemas.microsoft.com/office/powerpoint/2010/main" val="4088808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1320800" y="1828800"/>
            <a:ext cx="50800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04000" y="1828800"/>
            <a:ext cx="50800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065D4597-596F-404E-B693-014AAB43218B}"/>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6" name="Rectangle 6">
            <a:extLst>
              <a:ext uri="{FF2B5EF4-FFF2-40B4-BE49-F238E27FC236}">
                <a16:creationId xmlns:a16="http://schemas.microsoft.com/office/drawing/2014/main" id="{945EF25F-D73B-48E4-99F4-DC1AB73BF1F8}"/>
              </a:ext>
            </a:extLst>
          </p:cNvPr>
          <p:cNvSpPr>
            <a:spLocks noGrp="1" noChangeArrowheads="1"/>
          </p:cNvSpPr>
          <p:nvPr>
            <p:ph type="sldNum" sz="quarter" idx="11"/>
          </p:nvPr>
        </p:nvSpPr>
        <p:spPr>
          <a:ln/>
        </p:spPr>
        <p:txBody>
          <a:bodyPr/>
          <a:lstStyle>
            <a:lvl1pPr>
              <a:defRPr/>
            </a:lvl1pPr>
          </a:lstStyle>
          <a:p>
            <a:r>
              <a:rPr lang="en-US" altLang="en-US"/>
              <a:t>11 B-</a:t>
            </a:r>
            <a:fld id="{0B1D9234-076D-4735-84E6-32A0694D31E3}" type="slidenum">
              <a:rPr lang="en-US" altLang="en-US"/>
              <a:pPr/>
              <a:t>‹#›</a:t>
            </a:fld>
            <a:endParaRPr lang="en-US" altLang="en-US"/>
          </a:p>
        </p:txBody>
      </p:sp>
    </p:spTree>
    <p:extLst>
      <p:ext uri="{BB962C8B-B14F-4D97-AF65-F5344CB8AC3E}">
        <p14:creationId xmlns:p14="http://schemas.microsoft.com/office/powerpoint/2010/main" val="67117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4" name="text-0">
            <a:extLst>
              <a:ext uri="{FF2B5EF4-FFF2-40B4-BE49-F238E27FC236}">
                <a16:creationId xmlns:a16="http://schemas.microsoft.com/office/drawing/2014/main" id="{25FA7C4A-3F68-464B-9A08-F666177E0829}"/>
              </a:ext>
            </a:extLst>
          </p:cNvPr>
          <p:cNvSpPr>
            <a:spLocks noGrp="1"/>
          </p:cNvSpPr>
          <p:nvPr/>
        </p:nvSpPr>
        <p:spPr>
          <a:xfrm>
            <a:off x="609600" y="619125"/>
            <a:ext cx="6762750" cy="1333500"/>
          </a:xfrm>
          <a:prstGeom prst="rect">
            <a:avLst/>
          </a:prstGeom>
          <a:noFill/>
          <a:ln w="0">
            <a:noFill/>
          </a:ln>
        </p:spPr>
        <p:txBody>
          <a:bodyPr lIns="0" tIns="0" rIns="0" bIns="0" anchor="t"/>
          <a:lstStyle>
            <a:defPPr algn="l">
              <a:defRPr sz="4350" b="1">
                <a:solidFill>
                  <a:srgbClr val="142E42"/>
                </a:solidFill>
                <a:latin typeface="Arial"/>
                <a:ea typeface="Arial"/>
                <a:cs typeface="Arial"/>
              </a:defRPr>
            </a:defPPr>
            <a:lvl1pPr algn="l">
              <a:defRPr sz="4350" b="1">
                <a:solidFill>
                  <a:srgbClr val="142E42"/>
                </a:solidFill>
                <a:latin typeface="Arial"/>
                <a:ea typeface="Arial"/>
                <a:cs typeface="Arial"/>
              </a:defRPr>
            </a:lvl1pPr>
            <a:lvl2pPr algn="l">
              <a:defRPr sz="4350" b="1">
                <a:solidFill>
                  <a:srgbClr val="142E42"/>
                </a:solidFill>
                <a:latin typeface="Arial"/>
                <a:ea typeface="Arial"/>
                <a:cs typeface="Arial"/>
              </a:defRPr>
            </a:lvl2pPr>
            <a:lvl3pPr algn="l">
              <a:defRPr sz="4350" b="1">
                <a:solidFill>
                  <a:srgbClr val="142E42"/>
                </a:solidFill>
                <a:latin typeface="Arial"/>
                <a:ea typeface="Arial"/>
                <a:cs typeface="Arial"/>
              </a:defRPr>
            </a:lvl3pPr>
            <a:lvl4pPr algn="l">
              <a:defRPr sz="4350" b="1">
                <a:solidFill>
                  <a:srgbClr val="142E42"/>
                </a:solidFill>
                <a:latin typeface="Arial"/>
                <a:ea typeface="Arial"/>
                <a:cs typeface="Arial"/>
              </a:defRPr>
            </a:lvl4pPr>
            <a:lvl5pPr algn="l">
              <a:defRPr sz="4350" b="1">
                <a:solidFill>
                  <a:srgbClr val="142E42"/>
                </a:solidFill>
                <a:latin typeface="Arial"/>
                <a:ea typeface="Arial"/>
                <a:cs typeface="Arial"/>
              </a:defRPr>
            </a:lvl5pPr>
            <a:lvl6pPr algn="l">
              <a:defRPr sz="4350" b="1">
                <a:solidFill>
                  <a:srgbClr val="142E42"/>
                </a:solidFill>
                <a:latin typeface="Arial"/>
                <a:ea typeface="Arial"/>
                <a:cs typeface="Arial"/>
              </a:defRPr>
            </a:lvl6pPr>
            <a:lvl7pPr algn="l">
              <a:defRPr sz="4350" b="1">
                <a:solidFill>
                  <a:srgbClr val="142E42"/>
                </a:solidFill>
                <a:latin typeface="Arial"/>
                <a:ea typeface="Arial"/>
                <a:cs typeface="Arial"/>
              </a:defRPr>
            </a:lvl7pPr>
            <a:lvl8pPr algn="l">
              <a:defRPr sz="4350" b="1">
                <a:solidFill>
                  <a:srgbClr val="142E42"/>
                </a:solidFill>
                <a:latin typeface="Arial"/>
                <a:ea typeface="Arial"/>
                <a:cs typeface="Arial"/>
              </a:defRPr>
            </a:lvl8pPr>
            <a:lvl9pPr algn="l">
              <a:defRPr sz="4350" b="1">
                <a:solidFill>
                  <a:srgbClr val="142E42"/>
                </a:solidFill>
                <a:latin typeface="Arial"/>
                <a:ea typeface="Arial"/>
                <a:cs typeface="Arial"/>
              </a:defRPr>
            </a:lvl9pPr>
          </a:lstStyle>
          <a:p>
            <a:pPr algn="l">
              <a:defRPr sz="4350" b="1">
                <a:solidFill>
                  <a:srgbClr val="142E42"/>
                </a:solidFill>
                <a:latin typeface="Arial"/>
                <a:ea typeface="Arial"/>
                <a:cs typeface="Arial"/>
              </a:defRPr>
            </a:pPr>
            <a:r>
              <a:rPr sz="4350" b="1">
                <a:solidFill>
                  <a:srgbClr val="142E42"/>
                </a:solidFill>
                <a:latin typeface="Arial"/>
                <a:ea typeface="Arial"/>
                <a:cs typeface="Arial"/>
              </a:rPr>
              <a:t>Binary Search Trees</a:t>
            </a:r>
          </a:p>
        </p:txBody>
      </p:sp>
      <p:sp>
        <p:nvSpPr>
          <p:cNvPr id="2" name="text-1">
            <a:extLst>
              <a:ext uri="{FF2B5EF4-FFF2-40B4-BE49-F238E27FC236}">
                <a16:creationId xmlns:a16="http://schemas.microsoft.com/office/drawing/2014/main" id="{914E2972-1484-4726-9D6C-D37EDF660500}"/>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01</a:t>
            </a:r>
          </a:p>
        </p:txBody>
      </p:sp>
      <p:sp>
        <p:nvSpPr>
          <p:cNvPr id="3" name="text-2">
            <a:extLst>
              <a:ext uri="{FF2B5EF4-FFF2-40B4-BE49-F238E27FC236}">
                <a16:creationId xmlns:a16="http://schemas.microsoft.com/office/drawing/2014/main" id="{63E0C8C8-2543-4F03-B2D8-5466378DED7F}"/>
              </a:ext>
            </a:extLst>
          </p:cNvPr>
          <p:cNvSpPr>
            <a:spLocks noGrp="1"/>
          </p:cNvSpPr>
          <p:nvPr/>
        </p:nvSpPr>
        <p:spPr>
          <a:xfrm>
            <a:off x="609600" y="2286000"/>
            <a:ext cx="6191250" cy="1066800"/>
          </a:xfrm>
          <a:prstGeom prst="rect">
            <a:avLst/>
          </a:prstGeom>
          <a:noFill/>
          <a:ln w="0">
            <a:noFill/>
          </a:ln>
        </p:spPr>
        <p:txBody>
          <a:bodyPr lIns="0" tIns="0" rIns="0" bIns="0" anchor="t"/>
          <a:lstStyle>
            <a:defPPr algn="l">
              <a:defRPr sz="2700" b="0">
                <a:solidFill>
                  <a:srgbClr val="007C83"/>
                </a:solidFill>
                <a:latin typeface="Arial"/>
                <a:ea typeface="Arial"/>
                <a:cs typeface="Arial"/>
              </a:defRPr>
            </a:defPPr>
            <a:lvl1pPr algn="l">
              <a:defRPr sz="2700" b="0">
                <a:solidFill>
                  <a:srgbClr val="007C83"/>
                </a:solidFill>
                <a:latin typeface="Arial"/>
                <a:ea typeface="Arial"/>
                <a:cs typeface="Arial"/>
              </a:defRPr>
            </a:lvl1pPr>
            <a:lvl2pPr algn="l">
              <a:defRPr sz="2700" b="0">
                <a:solidFill>
                  <a:srgbClr val="007C83"/>
                </a:solidFill>
                <a:latin typeface="Arial"/>
                <a:ea typeface="Arial"/>
                <a:cs typeface="Arial"/>
              </a:defRPr>
            </a:lvl2pPr>
            <a:lvl3pPr algn="l">
              <a:defRPr sz="2700" b="0">
                <a:solidFill>
                  <a:srgbClr val="007C83"/>
                </a:solidFill>
                <a:latin typeface="Arial"/>
                <a:ea typeface="Arial"/>
                <a:cs typeface="Arial"/>
              </a:defRPr>
            </a:lvl3pPr>
            <a:lvl4pPr algn="l">
              <a:defRPr sz="2700" b="0">
                <a:solidFill>
                  <a:srgbClr val="007C83"/>
                </a:solidFill>
                <a:latin typeface="Arial"/>
                <a:ea typeface="Arial"/>
                <a:cs typeface="Arial"/>
              </a:defRPr>
            </a:lvl4pPr>
            <a:lvl5pPr algn="l">
              <a:defRPr sz="2700" b="0">
                <a:solidFill>
                  <a:srgbClr val="007C83"/>
                </a:solidFill>
                <a:latin typeface="Arial"/>
                <a:ea typeface="Arial"/>
                <a:cs typeface="Arial"/>
              </a:defRPr>
            </a:lvl5pPr>
            <a:lvl6pPr algn="l">
              <a:defRPr sz="2700" b="0">
                <a:solidFill>
                  <a:srgbClr val="007C83"/>
                </a:solidFill>
                <a:latin typeface="Arial"/>
                <a:ea typeface="Arial"/>
                <a:cs typeface="Arial"/>
              </a:defRPr>
            </a:lvl6pPr>
            <a:lvl7pPr algn="l">
              <a:defRPr sz="2700" b="0">
                <a:solidFill>
                  <a:srgbClr val="007C83"/>
                </a:solidFill>
                <a:latin typeface="Arial"/>
                <a:ea typeface="Arial"/>
                <a:cs typeface="Arial"/>
              </a:defRPr>
            </a:lvl7pPr>
            <a:lvl8pPr algn="l">
              <a:defRPr sz="2700" b="0">
                <a:solidFill>
                  <a:srgbClr val="007C83"/>
                </a:solidFill>
                <a:latin typeface="Arial"/>
                <a:ea typeface="Arial"/>
                <a:cs typeface="Arial"/>
              </a:defRPr>
            </a:lvl8pPr>
            <a:lvl9pPr algn="l">
              <a:defRPr sz="2700" b="0">
                <a:solidFill>
                  <a:srgbClr val="007C83"/>
                </a:solidFill>
                <a:latin typeface="Arial"/>
                <a:ea typeface="Arial"/>
                <a:cs typeface="Arial"/>
              </a:defRPr>
            </a:lvl9pPr>
          </a:lstStyle>
          <a:p>
            <a:pPr algn="l">
              <a:defRPr sz="2700" b="0">
                <a:solidFill>
                  <a:srgbClr val="007C83"/>
                </a:solidFill>
                <a:latin typeface="Arial"/>
                <a:ea typeface="Arial"/>
                <a:cs typeface="Arial"/>
              </a:defRPr>
            </a:pPr>
            <a:r>
              <a:rPr sz="2700" b="0">
                <a:solidFill>
                  <a:srgbClr val="007C83"/>
                </a:solidFill>
                <a:latin typeface="Arial"/>
                <a:ea typeface="Arial"/>
                <a:cs typeface="Arial"/>
              </a:rPr>
              <a:t>Structure, algorithms, and the cost of height</a:t>
            </a:r>
          </a:p>
        </p:txBody>
      </p:sp>
      <p:sp>
        <p:nvSpPr>
          <p:cNvPr id="4" name="text-3">
            <a:extLst>
              <a:ext uri="{FF2B5EF4-FFF2-40B4-BE49-F238E27FC236}">
                <a16:creationId xmlns:a16="http://schemas.microsoft.com/office/drawing/2014/main" id="{8D88292E-67AB-43D8-9CDC-8BACDD2B756F}"/>
              </a:ext>
            </a:extLst>
          </p:cNvPr>
          <p:cNvSpPr>
            <a:spLocks noGrp="1"/>
          </p:cNvSpPr>
          <p:nvPr/>
        </p:nvSpPr>
        <p:spPr>
          <a:xfrm>
            <a:off x="609600" y="3619500"/>
            <a:ext cx="5524500" cy="666750"/>
          </a:xfrm>
          <a:prstGeom prst="rect">
            <a:avLst/>
          </a:prstGeom>
          <a:noFill/>
          <a:ln w="0">
            <a:noFill/>
          </a:ln>
        </p:spPr>
        <p:txBody>
          <a:bodyPr lIns="0" tIns="0" rIns="0" bIns="0" anchor="t"/>
          <a:lstStyle>
            <a:defPPr algn="l">
              <a:defRPr sz="2025" b="0">
                <a:solidFill>
                  <a:srgbClr val="4B6070"/>
                </a:solidFill>
                <a:latin typeface="Arial"/>
                <a:ea typeface="Arial"/>
                <a:cs typeface="Arial"/>
              </a:defRPr>
            </a:defPPr>
            <a:lvl1pPr algn="l">
              <a:defRPr sz="2025" b="0">
                <a:solidFill>
                  <a:srgbClr val="4B6070"/>
                </a:solidFill>
                <a:latin typeface="Arial"/>
                <a:ea typeface="Arial"/>
                <a:cs typeface="Arial"/>
              </a:defRPr>
            </a:lvl1pPr>
            <a:lvl2pPr algn="l">
              <a:defRPr sz="2025" b="0">
                <a:solidFill>
                  <a:srgbClr val="4B6070"/>
                </a:solidFill>
                <a:latin typeface="Arial"/>
                <a:ea typeface="Arial"/>
                <a:cs typeface="Arial"/>
              </a:defRPr>
            </a:lvl2pPr>
            <a:lvl3pPr algn="l">
              <a:defRPr sz="2025" b="0">
                <a:solidFill>
                  <a:srgbClr val="4B6070"/>
                </a:solidFill>
                <a:latin typeface="Arial"/>
                <a:ea typeface="Arial"/>
                <a:cs typeface="Arial"/>
              </a:defRPr>
            </a:lvl3pPr>
            <a:lvl4pPr algn="l">
              <a:defRPr sz="2025" b="0">
                <a:solidFill>
                  <a:srgbClr val="4B6070"/>
                </a:solidFill>
                <a:latin typeface="Arial"/>
                <a:ea typeface="Arial"/>
                <a:cs typeface="Arial"/>
              </a:defRPr>
            </a:lvl4pPr>
            <a:lvl5pPr algn="l">
              <a:defRPr sz="2025" b="0">
                <a:solidFill>
                  <a:srgbClr val="4B6070"/>
                </a:solidFill>
                <a:latin typeface="Arial"/>
                <a:ea typeface="Arial"/>
                <a:cs typeface="Arial"/>
              </a:defRPr>
            </a:lvl5pPr>
            <a:lvl6pPr algn="l">
              <a:defRPr sz="2025" b="0">
                <a:solidFill>
                  <a:srgbClr val="4B6070"/>
                </a:solidFill>
                <a:latin typeface="Arial"/>
                <a:ea typeface="Arial"/>
                <a:cs typeface="Arial"/>
              </a:defRPr>
            </a:lvl6pPr>
            <a:lvl7pPr algn="l">
              <a:defRPr sz="2025" b="0">
                <a:solidFill>
                  <a:srgbClr val="4B6070"/>
                </a:solidFill>
                <a:latin typeface="Arial"/>
                <a:ea typeface="Arial"/>
                <a:cs typeface="Arial"/>
              </a:defRPr>
            </a:lvl7pPr>
            <a:lvl8pPr algn="l">
              <a:defRPr sz="2025" b="0">
                <a:solidFill>
                  <a:srgbClr val="4B6070"/>
                </a:solidFill>
                <a:latin typeface="Arial"/>
                <a:ea typeface="Arial"/>
                <a:cs typeface="Arial"/>
              </a:defRPr>
            </a:lvl8pPr>
            <a:lvl9pPr algn="l">
              <a:defRPr sz="2025" b="0">
                <a:solidFill>
                  <a:srgbClr val="4B6070"/>
                </a:solidFill>
                <a:latin typeface="Arial"/>
                <a:ea typeface="Arial"/>
                <a:cs typeface="Arial"/>
              </a:defRPr>
            </a:lvl9pPr>
          </a:lstStyle>
          <a:p>
            <a:pPr algn="l">
              <a:defRPr sz="2025" b="0">
                <a:solidFill>
                  <a:srgbClr val="4B6070"/>
                </a:solidFill>
                <a:latin typeface="Arial"/>
                <a:ea typeface="Arial"/>
                <a:cs typeface="Arial"/>
              </a:defRPr>
            </a:pPr>
            <a:r>
              <a:rPr sz="2025" b="0">
                <a:solidFill>
                  <a:srgbClr val="4B6070"/>
                </a:solidFill>
                <a:latin typeface="Arial"/>
                <a:ea typeface="Arial"/>
                <a:cs typeface="Arial"/>
              </a:rPr>
              <a:t>A lesson in ordered data structures</a:t>
            </a:r>
          </a:p>
        </p:txBody>
      </p:sp>
      <p:sp>
        <p:nvSpPr>
          <p:cNvPr id="5" name="source-diagram-dg0-9">
            <a:extLst>
              <a:ext uri="{FF2B5EF4-FFF2-40B4-BE49-F238E27FC236}">
                <a16:creationId xmlns:a16="http://schemas.microsoft.com/office/drawing/2014/main" id="{F62719C6-42B9-4309-881C-F8A52C06A62F}"/>
              </a:ext>
            </a:extLst>
          </p:cNvPr>
          <p:cNvSpPr>
            <a:spLocks noGrp="1"/>
          </p:cNvSpPr>
          <p:nvPr/>
        </p:nvSpPr>
        <p:spPr>
          <a:xfrm>
            <a:off x="9649802" y="3854515"/>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20</a:t>
            </a:r>
          </a:p>
        </p:txBody>
      </p:sp>
      <p:sp>
        <p:nvSpPr>
          <p:cNvPr id="6" name="source-diagram-dg0-10">
            <a:extLst>
              <a:ext uri="{FF2B5EF4-FFF2-40B4-BE49-F238E27FC236}">
                <a16:creationId xmlns:a16="http://schemas.microsoft.com/office/drawing/2014/main" id="{2567BE03-53D1-4EFC-BF61-319BBF18C597}"/>
              </a:ext>
            </a:extLst>
          </p:cNvPr>
          <p:cNvSpPr>
            <a:spLocks noGrp="1"/>
          </p:cNvSpPr>
          <p:nvPr/>
        </p:nvSpPr>
        <p:spPr>
          <a:xfrm>
            <a:off x="8519891" y="3854515"/>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9</a:t>
            </a:r>
          </a:p>
        </p:txBody>
      </p:sp>
      <p:sp>
        <p:nvSpPr>
          <p:cNvPr id="7" name="source-diagram-dg0-11">
            <a:extLst>
              <a:ext uri="{FF2B5EF4-FFF2-40B4-BE49-F238E27FC236}">
                <a16:creationId xmlns:a16="http://schemas.microsoft.com/office/drawing/2014/main" id="{DC55B831-7718-40A3-BA4F-1E8250BCAD60}"/>
              </a:ext>
            </a:extLst>
          </p:cNvPr>
          <p:cNvSpPr>
            <a:spLocks noGrp="1"/>
          </p:cNvSpPr>
          <p:nvPr/>
        </p:nvSpPr>
        <p:spPr>
          <a:xfrm>
            <a:off x="7572375" y="3854515"/>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2</a:t>
            </a:r>
          </a:p>
        </p:txBody>
      </p:sp>
      <p:sp>
        <p:nvSpPr>
          <p:cNvPr id="8" name="source-diagram-dg0-12">
            <a:extLst>
              <a:ext uri="{FF2B5EF4-FFF2-40B4-BE49-F238E27FC236}">
                <a16:creationId xmlns:a16="http://schemas.microsoft.com/office/drawing/2014/main" id="{9EC5A00A-53EB-4E99-B11F-FDF990A628BB}"/>
              </a:ext>
            </a:extLst>
          </p:cNvPr>
          <p:cNvSpPr>
            <a:spLocks noGrp="1"/>
          </p:cNvSpPr>
          <p:nvPr/>
        </p:nvSpPr>
        <p:spPr>
          <a:xfrm>
            <a:off x="9130445" y="2774983"/>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15</a:t>
            </a:r>
          </a:p>
        </p:txBody>
      </p:sp>
      <p:sp>
        <p:nvSpPr>
          <p:cNvPr id="9" name="source-diagram-dg0-13">
            <a:extLst>
              <a:ext uri="{FF2B5EF4-FFF2-40B4-BE49-F238E27FC236}">
                <a16:creationId xmlns:a16="http://schemas.microsoft.com/office/drawing/2014/main" id="{C2D074B4-8767-47E4-B269-88365596B3CF}"/>
              </a:ext>
            </a:extLst>
          </p:cNvPr>
          <p:cNvSpPr>
            <a:spLocks noGrp="1"/>
          </p:cNvSpPr>
          <p:nvPr/>
        </p:nvSpPr>
        <p:spPr>
          <a:xfrm>
            <a:off x="8000535" y="2774983"/>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5</a:t>
            </a:r>
          </a:p>
        </p:txBody>
      </p:sp>
      <p:sp>
        <p:nvSpPr>
          <p:cNvPr id="10" name="source-diagram-dg0-14">
            <a:extLst>
              <a:ext uri="{FF2B5EF4-FFF2-40B4-BE49-F238E27FC236}">
                <a16:creationId xmlns:a16="http://schemas.microsoft.com/office/drawing/2014/main" id="{D1FE3577-6037-4F40-9DBE-DE9DEBE7D726}"/>
              </a:ext>
            </a:extLst>
          </p:cNvPr>
          <p:cNvSpPr>
            <a:spLocks noGrp="1"/>
          </p:cNvSpPr>
          <p:nvPr/>
        </p:nvSpPr>
        <p:spPr>
          <a:xfrm>
            <a:off x="8536895" y="1695450"/>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12</a:t>
            </a:r>
          </a:p>
        </p:txBody>
      </p:sp>
      <p:cxnSp>
        <p:nvCxnSpPr>
          <p:cNvPr id="11" name="source-diagram-dg0-15">
            <a:extLst>
              <a:ext uri="{FF2B5EF4-FFF2-40B4-BE49-F238E27FC236}">
                <a16:creationId xmlns:a16="http://schemas.microsoft.com/office/drawing/2014/main" id="{60589BB2-F350-4566-BC09-8D1A466157D8}"/>
              </a:ext>
            </a:extLst>
          </p:cNvPr>
          <p:cNvCxnSpPr/>
          <p:nvPr/>
        </p:nvCxnSpPr>
        <p:spPr>
          <a:xfrm rot="5400000">
            <a:off x="8114145" y="2179992"/>
            <a:ext cx="548952" cy="505350"/>
          </a:xfrm>
          <a:prstGeom prst="straightConnector1">
            <a:avLst/>
          </a:prstGeom>
          <a:ln w="9525">
            <a:solidFill>
              <a:srgbClr val="142E42"/>
            </a:solidFill>
            <a:round/>
            <a:headEnd type="none" w="med" len="med"/>
            <a:tailEnd type="none" w="med" len="med"/>
          </a:ln>
        </p:spPr>
      </p:cxnSp>
      <p:cxnSp>
        <p:nvCxnSpPr>
          <p:cNvPr id="12" name="source-diagram-dg0-16">
            <a:extLst>
              <a:ext uri="{FF2B5EF4-FFF2-40B4-BE49-F238E27FC236}">
                <a16:creationId xmlns:a16="http://schemas.microsoft.com/office/drawing/2014/main" id="{66B10E79-7852-4740-9BBE-4F276FB0045C}"/>
              </a:ext>
            </a:extLst>
          </p:cNvPr>
          <p:cNvCxnSpPr/>
          <p:nvPr/>
        </p:nvCxnSpPr>
        <p:spPr>
          <a:xfrm rot="16200000" flipH="1">
            <a:off x="8810257" y="2144329"/>
            <a:ext cx="548952" cy="576677"/>
          </a:xfrm>
          <a:prstGeom prst="straightConnector1">
            <a:avLst/>
          </a:prstGeom>
          <a:ln w="9525">
            <a:solidFill>
              <a:srgbClr val="142E42"/>
            </a:solidFill>
            <a:round/>
            <a:headEnd type="none" w="med" len="med"/>
            <a:tailEnd type="none" w="med" len="med"/>
          </a:ln>
        </p:spPr>
      </p:cxnSp>
      <p:cxnSp>
        <p:nvCxnSpPr>
          <p:cNvPr id="13" name="source-diagram-dg0-17">
            <a:extLst>
              <a:ext uri="{FF2B5EF4-FFF2-40B4-BE49-F238E27FC236}">
                <a16:creationId xmlns:a16="http://schemas.microsoft.com/office/drawing/2014/main" id="{89E52241-0808-4909-9DBF-95B0F94DD7CF}"/>
              </a:ext>
            </a:extLst>
          </p:cNvPr>
          <p:cNvCxnSpPr/>
          <p:nvPr/>
        </p:nvCxnSpPr>
        <p:spPr>
          <a:xfrm>
            <a:off x="9447315" y="3193302"/>
            <a:ext cx="387971" cy="638080"/>
          </a:xfrm>
          <a:prstGeom prst="straightConnector1">
            <a:avLst/>
          </a:prstGeom>
          <a:ln w="9525">
            <a:solidFill>
              <a:srgbClr val="142E42"/>
            </a:solidFill>
            <a:round/>
            <a:headEnd type="none" w="med" len="med"/>
            <a:tailEnd type="none" w="med" len="med"/>
          </a:ln>
        </p:spPr>
      </p:cxnSp>
      <p:cxnSp>
        <p:nvCxnSpPr>
          <p:cNvPr id="14" name="source-diagram-dg0-18">
            <a:extLst>
              <a:ext uri="{FF2B5EF4-FFF2-40B4-BE49-F238E27FC236}">
                <a16:creationId xmlns:a16="http://schemas.microsoft.com/office/drawing/2014/main" id="{702F64E1-71EC-4460-9689-F2B8E95B82C9}"/>
              </a:ext>
            </a:extLst>
          </p:cNvPr>
          <p:cNvCxnSpPr/>
          <p:nvPr/>
        </p:nvCxnSpPr>
        <p:spPr>
          <a:xfrm rot="5400000">
            <a:off x="7631885" y="3326997"/>
            <a:ext cx="548952" cy="370408"/>
          </a:xfrm>
          <a:prstGeom prst="straightConnector1">
            <a:avLst/>
          </a:prstGeom>
          <a:ln w="9525">
            <a:solidFill>
              <a:srgbClr val="142E42"/>
            </a:solidFill>
            <a:round/>
            <a:headEnd type="none" w="med" len="med"/>
            <a:tailEnd type="none" w="med" len="med"/>
          </a:ln>
        </p:spPr>
      </p:cxnSp>
      <p:cxnSp>
        <p:nvCxnSpPr>
          <p:cNvPr id="15" name="source-diagram-dg0-19">
            <a:extLst>
              <a:ext uri="{FF2B5EF4-FFF2-40B4-BE49-F238E27FC236}">
                <a16:creationId xmlns:a16="http://schemas.microsoft.com/office/drawing/2014/main" id="{28938E44-8607-4975-A1AD-C0B0CF0BF8A4}"/>
              </a:ext>
            </a:extLst>
          </p:cNvPr>
          <p:cNvCxnSpPr/>
          <p:nvPr/>
        </p:nvCxnSpPr>
        <p:spPr>
          <a:xfrm>
            <a:off x="8317405" y="3193302"/>
            <a:ext cx="387971" cy="638080"/>
          </a:xfrm>
          <a:prstGeom prst="straightConnector1">
            <a:avLst/>
          </a:prstGeom>
          <a:ln w="9525">
            <a:solidFill>
              <a:srgbClr val="142E42"/>
            </a:solidFill>
            <a:round/>
            <a:headEnd type="none" w="med" len="med"/>
            <a:tailEnd type="none" w="med" len="med"/>
          </a:ln>
        </p:spPr>
      </p:cxnSp>
      <p:sp>
        <p:nvSpPr>
          <p:cNvPr id="16" name="source-diagram-dg0-20">
            <a:extLst>
              <a:ext uri="{FF2B5EF4-FFF2-40B4-BE49-F238E27FC236}">
                <a16:creationId xmlns:a16="http://schemas.microsoft.com/office/drawing/2014/main" id="{253C63BB-6E59-4FCF-93C5-A2DC9E5CC886}"/>
              </a:ext>
            </a:extLst>
          </p:cNvPr>
          <p:cNvSpPr>
            <a:spLocks noGrp="1"/>
          </p:cNvSpPr>
          <p:nvPr/>
        </p:nvSpPr>
        <p:spPr>
          <a:xfrm>
            <a:off x="9909480" y="4934049"/>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30</a:t>
            </a:r>
          </a:p>
        </p:txBody>
      </p:sp>
      <p:cxnSp>
        <p:nvCxnSpPr>
          <p:cNvPr id="17" name="source-diagram-dg0-21">
            <a:extLst>
              <a:ext uri="{FF2B5EF4-FFF2-40B4-BE49-F238E27FC236}">
                <a16:creationId xmlns:a16="http://schemas.microsoft.com/office/drawing/2014/main" id="{306E18DC-9FBC-4571-8174-2F73D826E30D}"/>
              </a:ext>
            </a:extLst>
          </p:cNvPr>
          <p:cNvCxnSpPr/>
          <p:nvPr/>
        </p:nvCxnSpPr>
        <p:spPr>
          <a:xfrm>
            <a:off x="9966672" y="4272835"/>
            <a:ext cx="128293" cy="638080"/>
          </a:xfrm>
          <a:prstGeom prst="straightConnector1">
            <a:avLst/>
          </a:prstGeom>
          <a:ln w="9525">
            <a:solidFill>
              <a:srgbClr val="142E42"/>
            </a:solidFill>
            <a:round/>
            <a:headEnd type="none" w="med" len="med"/>
            <a:tailEnd type="none" w="med" len="med"/>
          </a:ln>
        </p:spPr>
      </p:cxnSp>
      <p:sp>
        <p:nvSpPr>
          <p:cNvPr id="18" name="source-diagram-dg0-22">
            <a:extLst>
              <a:ext uri="{FF2B5EF4-FFF2-40B4-BE49-F238E27FC236}">
                <a16:creationId xmlns:a16="http://schemas.microsoft.com/office/drawing/2014/main" id="{D8B88EEB-FAE2-4582-BDF1-B4D9F7C88079}"/>
              </a:ext>
            </a:extLst>
          </p:cNvPr>
          <p:cNvSpPr>
            <a:spLocks noGrp="1"/>
          </p:cNvSpPr>
          <p:nvPr/>
        </p:nvSpPr>
        <p:spPr>
          <a:xfrm>
            <a:off x="8260213" y="4934049"/>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7</a:t>
            </a:r>
          </a:p>
        </p:txBody>
      </p:sp>
      <p:cxnSp>
        <p:nvCxnSpPr>
          <p:cNvPr id="19" name="source-diagram-dg0-23">
            <a:extLst>
              <a:ext uri="{FF2B5EF4-FFF2-40B4-BE49-F238E27FC236}">
                <a16:creationId xmlns:a16="http://schemas.microsoft.com/office/drawing/2014/main" id="{D64EA77D-167D-4A0E-BCD7-33DBA0EA3DA4}"/>
              </a:ext>
            </a:extLst>
          </p:cNvPr>
          <p:cNvCxnSpPr/>
          <p:nvPr/>
        </p:nvCxnSpPr>
        <p:spPr>
          <a:xfrm flipH="1">
            <a:off x="8445698" y="4272835"/>
            <a:ext cx="128294" cy="638080"/>
          </a:xfrm>
          <a:prstGeom prst="straightConnector1">
            <a:avLst/>
          </a:prstGeom>
          <a:ln w="9525">
            <a:solidFill>
              <a:srgbClr val="142E42"/>
            </a:solidFill>
            <a:round/>
            <a:headEnd type="none" w="med" len="med"/>
            <a:tailEnd type="none" w="med" len="med"/>
          </a:ln>
        </p:spPr>
      </p:cxnSp>
      <p:sp>
        <p:nvSpPr>
          <p:cNvPr id="20" name="source-diagram-dg0-24">
            <a:extLst>
              <a:ext uri="{FF2B5EF4-FFF2-40B4-BE49-F238E27FC236}">
                <a16:creationId xmlns:a16="http://schemas.microsoft.com/office/drawing/2014/main" id="{9CDD99C4-8213-4398-9DE9-1E7CE9A9C277}"/>
              </a:ext>
            </a:extLst>
          </p:cNvPr>
          <p:cNvSpPr>
            <a:spLocks noGrp="1"/>
          </p:cNvSpPr>
          <p:nvPr/>
        </p:nvSpPr>
        <p:spPr>
          <a:xfrm>
            <a:off x="9390123" y="4924411"/>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17</a:t>
            </a:r>
          </a:p>
        </p:txBody>
      </p:sp>
      <p:cxnSp>
        <p:nvCxnSpPr>
          <p:cNvPr id="21" name="source-diagram-dg0-25">
            <a:extLst>
              <a:ext uri="{FF2B5EF4-FFF2-40B4-BE49-F238E27FC236}">
                <a16:creationId xmlns:a16="http://schemas.microsoft.com/office/drawing/2014/main" id="{7C39D98D-8882-44F9-AB24-81BCBB6D1F63}"/>
              </a:ext>
            </a:extLst>
          </p:cNvPr>
          <p:cNvCxnSpPr/>
          <p:nvPr/>
        </p:nvCxnSpPr>
        <p:spPr>
          <a:xfrm flipH="1">
            <a:off x="9575608" y="4272835"/>
            <a:ext cx="128294" cy="628442"/>
          </a:xfrm>
          <a:prstGeom prst="straightConnector1">
            <a:avLst/>
          </a:prstGeom>
          <a:ln w="9525">
            <a:solidFill>
              <a:srgbClr val="142E42"/>
            </a:solidFill>
            <a:round/>
            <a:headEnd type="none" w="med" len="med"/>
            <a:tailEnd type="none" w="med" len="med"/>
          </a:ln>
        </p:spPr>
      </p:cxnSp>
      <p:sp>
        <p:nvSpPr>
          <p:cNvPr id="22" name="source-diagram-dg0-26">
            <a:extLst>
              <a:ext uri="{FF2B5EF4-FFF2-40B4-BE49-F238E27FC236}">
                <a16:creationId xmlns:a16="http://schemas.microsoft.com/office/drawing/2014/main" id="{99EF9087-4EEF-44CD-80C3-9E7ADE0CAF8A}"/>
              </a:ext>
            </a:extLst>
          </p:cNvPr>
          <p:cNvSpPr>
            <a:spLocks noGrp="1"/>
          </p:cNvSpPr>
          <p:nvPr/>
        </p:nvSpPr>
        <p:spPr>
          <a:xfrm>
            <a:off x="8759476" y="4947543"/>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10</a:t>
            </a:r>
          </a:p>
        </p:txBody>
      </p:sp>
      <p:cxnSp>
        <p:nvCxnSpPr>
          <p:cNvPr id="23" name="source-diagram-dg0-27">
            <a:extLst>
              <a:ext uri="{FF2B5EF4-FFF2-40B4-BE49-F238E27FC236}">
                <a16:creationId xmlns:a16="http://schemas.microsoft.com/office/drawing/2014/main" id="{A7D90149-9114-4625-B9E3-18F6C9489813}"/>
              </a:ext>
            </a:extLst>
          </p:cNvPr>
          <p:cNvCxnSpPr/>
          <p:nvPr/>
        </p:nvCxnSpPr>
        <p:spPr>
          <a:xfrm>
            <a:off x="8816667" y="4286329"/>
            <a:ext cx="128294" cy="638081"/>
          </a:xfrm>
          <a:prstGeom prst="straightConnector1">
            <a:avLst/>
          </a:prstGeom>
          <a:ln w="9525">
            <a:solidFill>
              <a:srgbClr val="142E42"/>
            </a:solidFill>
            <a:round/>
            <a:headEnd type="none" w="med" len="med"/>
            <a:tailEnd type="none" w="med" len="med"/>
          </a:ln>
        </p:spPr>
      </p:cxnSp>
    </p:spTree>
    <p:extLst>
      <p:ext uri="{BB962C8B-B14F-4D97-AF65-F5344CB8AC3E}">
        <p14:creationId xmlns:p14="http://schemas.microsoft.com/office/powerpoint/2010/main" val="1594121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1F75C9FB-E38A-4ADC-B04F-4FC51447949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Learning objectives</a:t>
            </a:r>
          </a:p>
        </p:txBody>
      </p:sp>
      <p:sp>
        <p:nvSpPr>
          <p:cNvPr id="2" name="text-1">
            <a:extLst>
              <a:ext uri="{FF2B5EF4-FFF2-40B4-BE49-F238E27FC236}">
                <a16:creationId xmlns:a16="http://schemas.microsoft.com/office/drawing/2014/main" id="{D1A086F4-87C0-4FC9-96A2-D10C2919A5AD}"/>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02</a:t>
            </a:r>
          </a:p>
        </p:txBody>
      </p:sp>
      <p:sp>
        <p:nvSpPr>
          <p:cNvPr id="3" name="text-2">
            <a:extLst>
              <a:ext uri="{FF2B5EF4-FFF2-40B4-BE49-F238E27FC236}">
                <a16:creationId xmlns:a16="http://schemas.microsoft.com/office/drawing/2014/main" id="{450DDB75-2828-4DCE-A16A-7BB1D4FFCBA2}"/>
              </a:ext>
            </a:extLst>
          </p:cNvPr>
          <p:cNvSpPr>
            <a:spLocks noGrp="1"/>
          </p:cNvSpPr>
          <p:nvPr/>
        </p:nvSpPr>
        <p:spPr>
          <a:xfrm>
            <a:off x="609600" y="1581150"/>
            <a:ext cx="10477500" cy="4095750"/>
          </a:xfrm>
          <a:prstGeom prst="rect">
            <a:avLst/>
          </a:prstGeom>
          <a:noFill/>
          <a:ln w="0">
            <a:noFill/>
          </a:ln>
        </p:spPr>
        <p:txBody>
          <a:bodyPr lIns="0" tIns="0" rIns="0" bIns="0" anchor="t"/>
          <a:lstStyle>
            <a:defPPr algn="l">
              <a:defRPr sz="2325" b="0">
                <a:solidFill>
                  <a:srgbClr val="142E42"/>
                </a:solidFill>
                <a:latin typeface="Arial"/>
                <a:ea typeface="Arial"/>
                <a:cs typeface="Arial"/>
              </a:defRPr>
            </a:defPPr>
            <a:lvl1pPr algn="l">
              <a:defRPr sz="2325" b="0">
                <a:solidFill>
                  <a:srgbClr val="142E42"/>
                </a:solidFill>
                <a:latin typeface="Arial"/>
                <a:ea typeface="Arial"/>
                <a:cs typeface="Arial"/>
              </a:defRPr>
            </a:lvl1pPr>
            <a:lvl2pPr algn="l">
              <a:defRPr sz="2325" b="0">
                <a:solidFill>
                  <a:srgbClr val="142E42"/>
                </a:solidFill>
                <a:latin typeface="Arial"/>
                <a:ea typeface="Arial"/>
                <a:cs typeface="Arial"/>
              </a:defRPr>
            </a:lvl2pPr>
            <a:lvl3pPr algn="l">
              <a:defRPr sz="2325" b="0">
                <a:solidFill>
                  <a:srgbClr val="142E42"/>
                </a:solidFill>
                <a:latin typeface="Arial"/>
                <a:ea typeface="Arial"/>
                <a:cs typeface="Arial"/>
              </a:defRPr>
            </a:lvl3pPr>
            <a:lvl4pPr algn="l">
              <a:defRPr sz="2325" b="0">
                <a:solidFill>
                  <a:srgbClr val="142E42"/>
                </a:solidFill>
                <a:latin typeface="Arial"/>
                <a:ea typeface="Arial"/>
                <a:cs typeface="Arial"/>
              </a:defRPr>
            </a:lvl4pPr>
            <a:lvl5pPr algn="l">
              <a:defRPr sz="2325" b="0">
                <a:solidFill>
                  <a:srgbClr val="142E42"/>
                </a:solidFill>
                <a:latin typeface="Arial"/>
                <a:ea typeface="Arial"/>
                <a:cs typeface="Arial"/>
              </a:defRPr>
            </a:lvl5pPr>
            <a:lvl6pPr algn="l">
              <a:defRPr sz="2325" b="0">
                <a:solidFill>
                  <a:srgbClr val="142E42"/>
                </a:solidFill>
                <a:latin typeface="Arial"/>
                <a:ea typeface="Arial"/>
                <a:cs typeface="Arial"/>
              </a:defRPr>
            </a:lvl6pPr>
            <a:lvl7pPr algn="l">
              <a:defRPr sz="2325" b="0">
                <a:solidFill>
                  <a:srgbClr val="142E42"/>
                </a:solidFill>
                <a:latin typeface="Arial"/>
                <a:ea typeface="Arial"/>
                <a:cs typeface="Arial"/>
              </a:defRPr>
            </a:lvl7pPr>
            <a:lvl8pPr algn="l">
              <a:defRPr sz="2325" b="0">
                <a:solidFill>
                  <a:srgbClr val="142E42"/>
                </a:solidFill>
                <a:latin typeface="Arial"/>
                <a:ea typeface="Arial"/>
                <a:cs typeface="Arial"/>
              </a:defRPr>
            </a:lvl8pPr>
            <a:lvl9pPr algn="l">
              <a:defRPr sz="2325" b="0">
                <a:solidFill>
                  <a:srgbClr val="142E42"/>
                </a:solidFill>
                <a:latin typeface="Arial"/>
                <a:ea typeface="Arial"/>
                <a:cs typeface="Arial"/>
              </a:defRPr>
            </a:lvl9pPr>
          </a:lstStyle>
          <a:p>
            <a:pPr algn="l">
              <a:defRPr sz="2325" b="0">
                <a:solidFill>
                  <a:srgbClr val="142E42"/>
                </a:solidFill>
                <a:latin typeface="Arial"/>
                <a:ea typeface="Arial"/>
                <a:cs typeface="Arial"/>
              </a:defRPr>
            </a:pPr>
            <a:r>
              <a:rPr sz="2325" b="0">
                <a:solidFill>
                  <a:srgbClr val="142E42"/>
                </a:solidFill>
                <a:latin typeface="Arial"/>
                <a:ea typeface="Arial"/>
                <a:cs typeface="Arial"/>
              </a:rPr>
              <a:t>Explain the BST ordering rule and tree terminology.</a:t>
            </a:r>
          </a:p>
          <a:p>
            <a:endParaRPr sz="2325" b="0">
              <a:solidFill>
                <a:srgbClr val="142E42"/>
              </a:solidFill>
              <a:latin typeface="Arial"/>
              <a:ea typeface="Arial"/>
              <a:cs typeface="Arial"/>
            </a:endParaRPr>
          </a:p>
          <a:p>
            <a:pPr algn="l">
              <a:defRPr sz="2325" b="0">
                <a:solidFill>
                  <a:srgbClr val="142E42"/>
                </a:solidFill>
                <a:latin typeface="Arial"/>
                <a:ea typeface="Arial"/>
                <a:cs typeface="Arial"/>
              </a:defRPr>
            </a:pPr>
            <a:r>
              <a:rPr sz="2325" b="0">
                <a:solidFill>
                  <a:srgbClr val="142E42"/>
                </a:solidFill>
                <a:latin typeface="Arial"/>
                <a:ea typeface="Arial"/>
                <a:cs typeface="Arial"/>
              </a:rPr>
              <a:t>Trace search, insertion, deletion, and traversal.</a:t>
            </a:r>
          </a:p>
          <a:p>
            <a:endParaRPr sz="2325" b="0">
              <a:solidFill>
                <a:srgbClr val="142E42"/>
              </a:solidFill>
              <a:latin typeface="Arial"/>
              <a:ea typeface="Arial"/>
              <a:cs typeface="Arial"/>
            </a:endParaRPr>
          </a:p>
          <a:p>
            <a:pPr algn="l">
              <a:defRPr sz="2325" b="0">
                <a:solidFill>
                  <a:srgbClr val="142E42"/>
                </a:solidFill>
                <a:latin typeface="Arial"/>
                <a:ea typeface="Arial"/>
                <a:cs typeface="Arial"/>
              </a:defRPr>
            </a:pPr>
            <a:r>
              <a:rPr sz="2325" b="0">
                <a:solidFill>
                  <a:srgbClr val="142E42"/>
                </a:solidFill>
                <a:latin typeface="Arial"/>
                <a:ea typeface="Arial"/>
                <a:cs typeface="Arial"/>
              </a:rPr>
              <a:t>Read and implement a generic Java BST.</a:t>
            </a:r>
          </a:p>
          <a:p>
            <a:endParaRPr sz="2325" b="0">
              <a:solidFill>
                <a:srgbClr val="142E42"/>
              </a:solidFill>
              <a:latin typeface="Arial"/>
              <a:ea typeface="Arial"/>
              <a:cs typeface="Arial"/>
            </a:endParaRPr>
          </a:p>
          <a:p>
            <a:pPr algn="l">
              <a:defRPr sz="2325" b="0">
                <a:solidFill>
                  <a:srgbClr val="142E42"/>
                </a:solidFill>
                <a:latin typeface="Arial"/>
                <a:ea typeface="Arial"/>
                <a:cs typeface="Arial"/>
              </a:defRPr>
            </a:pPr>
            <a:r>
              <a:rPr sz="2325" b="0">
                <a:solidFill>
                  <a:srgbClr val="142E42"/>
                </a:solidFill>
                <a:latin typeface="Arial"/>
                <a:ea typeface="Arial"/>
                <a:cs typeface="Arial"/>
              </a:rPr>
              <a:t>Relate operation cost to the height of the tree.</a:t>
            </a:r>
          </a:p>
        </p:txBody>
      </p:sp>
    </p:spTree>
    <p:extLst>
      <p:ext uri="{BB962C8B-B14F-4D97-AF65-F5344CB8AC3E}">
        <p14:creationId xmlns:p14="http://schemas.microsoft.com/office/powerpoint/2010/main" val="102481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5ABDD73B-460C-40FE-BCD1-D76D564CDAFF}"/>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Why an ordered tree?</a:t>
            </a:r>
          </a:p>
        </p:txBody>
      </p:sp>
      <p:sp>
        <p:nvSpPr>
          <p:cNvPr id="2" name="text-1">
            <a:extLst>
              <a:ext uri="{FF2B5EF4-FFF2-40B4-BE49-F238E27FC236}">
                <a16:creationId xmlns:a16="http://schemas.microsoft.com/office/drawing/2014/main" id="{A97BB003-1E83-4936-B266-69BC50CD5867}"/>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03</a:t>
            </a:r>
          </a:p>
        </p:txBody>
      </p:sp>
      <p:graphicFrame>
        <p:nvGraphicFramePr>
          <p:cNvPr id="3" name="Table 2">
            <a:extLst>
              <a:ext uri="{FF2B5EF4-FFF2-40B4-BE49-F238E27FC236}">
                <a16:creationId xmlns:a16="http://schemas.microsoft.com/office/drawing/2014/main" id="{F8C8B453-E5FA-4CFF-9D2E-BCB8DE86251B}"/>
              </a:ext>
            </a:extLst>
          </p:cNvPr>
          <p:cNvGraphicFramePr/>
          <p:nvPr/>
        </p:nvGraphicFramePr>
        <p:xfrm>
          <a:off x="609600" y="1619250"/>
          <a:ext cx="10972800" cy="3238500"/>
        </p:xfrm>
        <a:graphic>
          <a:graphicData uri="http://schemas.openxmlformats.org/drawingml/2006/table">
            <a:tbl>
              <a:tblPr/>
              <a:tblGrid>
                <a:gridCol w="38100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924300">
                  <a:extLst>
                    <a:ext uri="{9D8B030D-6E8A-4147-A177-3AD203B41FA5}">
                      <a16:colId xmlns:a16="http://schemas.microsoft.com/office/drawing/2014/main" val="20002"/>
                    </a:ext>
                  </a:extLst>
                </a:gridCol>
              </a:tblGrid>
              <a:tr h="809625">
                <a:tc>
                  <a:txBody>
                    <a:bodyPr/>
                    <a:lstStyle/>
                    <a:p>
                      <a:r>
                        <a:rPr sz="2025" b="1">
                          <a:solidFill>
                            <a:srgbClr val="FFFFFF"/>
                          </a:solidFill>
                          <a:latin typeface="Arial"/>
                          <a:ea typeface="Arial"/>
                          <a:cs typeface="Arial"/>
                        </a:rPr>
                        <a:t>Structure</a:t>
                      </a:r>
                    </a:p>
                  </a:txBody>
                  <a:tcPr>
                    <a:lnL w="9525">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tc>
                  <a:txBody>
                    <a:bodyPr/>
                    <a:lstStyle/>
                    <a:p>
                      <a:r>
                        <a:rPr sz="2025" b="1">
                          <a:solidFill>
                            <a:srgbClr val="FFFFFF"/>
                          </a:solidFill>
                          <a:latin typeface="Arial"/>
                          <a:ea typeface="Arial"/>
                          <a:cs typeface="Arial"/>
                        </a:rPr>
                        <a:t>Search by key</a:t>
                      </a:r>
                    </a:p>
                  </a:txBody>
                  <a:tcPr>
                    <a:lnL w="9525" cap="flat" cmpd="sng" algn="ctr">
                      <a:solidFill>
                        <a:srgbClr val="D6E1E6"/>
                      </a:solidFill>
                      <a:prstDash val="solid"/>
                      <a:round/>
                      <a:headEnd type="none" w="med" len="med"/>
                      <a:tailEnd type="none" w="med" len="me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tc>
                  <a:txBody>
                    <a:bodyPr/>
                    <a:lstStyle/>
                    <a:p>
                      <a:r>
                        <a:rPr sz="2025" b="1">
                          <a:solidFill>
                            <a:srgbClr val="FFFFFF"/>
                          </a:solidFill>
                          <a:latin typeface="Arial"/>
                          <a:ea typeface="Arial"/>
                          <a:cs typeface="Arial"/>
                        </a:rPr>
                        <a:t>Insert / delete</a:t>
                      </a:r>
                    </a:p>
                  </a:txBody>
                  <a:tcPr>
                    <a:lnL w="9525" cap="flat" cmpd="sng" algn="ctr">
                      <a:solidFill>
                        <a:srgbClr val="D6E1E6"/>
                      </a:solidFill>
                      <a:prstDash val="solid"/>
                      <a:round/>
                      <a:headEnd type="none" w="med" len="med"/>
                      <a:tailEnd type="none" w="med" len="me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extLst>
                  <a:ext uri="{0D108BD9-81ED-4DB2-BD59-A6C34878D82A}">
                    <a16:rowId xmlns:a16="http://schemas.microsoft.com/office/drawing/2014/main" val="10000"/>
                  </a:ext>
                </a:extLst>
              </a:tr>
              <a:tr h="809625">
                <a:tc>
                  <a:txBody>
                    <a:bodyPr/>
                    <a:lstStyle/>
                    <a:p>
                      <a:r>
                        <a:rPr sz="2025" b="0">
                          <a:solidFill>
                            <a:srgbClr val="142E42"/>
                          </a:solidFill>
                          <a:latin typeface="Arial"/>
                          <a:ea typeface="Arial"/>
                          <a:cs typeface="Arial"/>
                        </a:rPr>
                        <a:t>Sorted array</a:t>
                      </a:r>
                    </a:p>
                  </a:txBody>
                  <a:tcPr>
                    <a:lnL w="9525">
                      <a:solidFill>
                        <a:srgbClr val="D6E1E6"/>
                      </a:solidFill>
                      <a:prstDash val="soli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tc>
                  <a:txBody>
                    <a:bodyPr/>
                    <a:lstStyle/>
                    <a:p>
                      <a:r>
                        <a:rPr sz="2025" b="0">
                          <a:solidFill>
                            <a:srgbClr val="142E42"/>
                          </a:solidFill>
                          <a:latin typeface="Arial"/>
                          <a:ea typeface="Arial"/>
                          <a:cs typeface="Arial"/>
                        </a:rPr>
                        <a:t>O(log n)</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tc>
                  <a:txBody>
                    <a:bodyPr/>
                    <a:lstStyle/>
                    <a:p>
                      <a:r>
                        <a:rPr sz="2025" b="0">
                          <a:solidFill>
                            <a:srgbClr val="142E42"/>
                          </a:solidFill>
                          <a:latin typeface="Arial"/>
                          <a:ea typeface="Arial"/>
                          <a:cs typeface="Arial"/>
                        </a:rPr>
                        <a:t>O(n) shifting</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extLst>
                  <a:ext uri="{0D108BD9-81ED-4DB2-BD59-A6C34878D82A}">
                    <a16:rowId xmlns:a16="http://schemas.microsoft.com/office/drawing/2014/main" val="10001"/>
                  </a:ext>
                </a:extLst>
              </a:tr>
              <a:tr h="809625">
                <a:tc>
                  <a:txBody>
                    <a:bodyPr/>
                    <a:lstStyle/>
                    <a:p>
                      <a:r>
                        <a:rPr sz="2025" b="0">
                          <a:solidFill>
                            <a:srgbClr val="142E42"/>
                          </a:solidFill>
                          <a:latin typeface="Arial"/>
                          <a:ea typeface="Arial"/>
                          <a:cs typeface="Arial"/>
                        </a:rPr>
                        <a:t>Linked list</a:t>
                      </a:r>
                    </a:p>
                  </a:txBody>
                  <a:tcPr>
                    <a:lnL w="9525">
                      <a:solidFill>
                        <a:srgbClr val="D6E1E6"/>
                      </a:solidFill>
                      <a:prstDash val="soli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FFFFFF"/>
                    </a:solidFill>
                  </a:tcPr>
                </a:tc>
                <a:tc>
                  <a:txBody>
                    <a:bodyPr/>
                    <a:lstStyle/>
                    <a:p>
                      <a:r>
                        <a:rPr sz="2025" b="0">
                          <a:solidFill>
                            <a:srgbClr val="142E42"/>
                          </a:solidFill>
                          <a:latin typeface="Arial"/>
                          <a:ea typeface="Arial"/>
                          <a:cs typeface="Arial"/>
                        </a:rPr>
                        <a:t>O(n)</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FFFFFF"/>
                    </a:solidFill>
                  </a:tcPr>
                </a:tc>
                <a:tc>
                  <a:txBody>
                    <a:bodyPr/>
                    <a:lstStyle/>
                    <a:p>
                      <a:r>
                        <a:rPr sz="2025" b="0">
                          <a:solidFill>
                            <a:srgbClr val="142E42"/>
                          </a:solidFill>
                          <a:latin typeface="Arial"/>
                          <a:ea typeface="Arial"/>
                          <a:cs typeface="Arial"/>
                        </a:rPr>
                        <a:t>O(n) to locate</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FFFFFF"/>
                    </a:solidFill>
                  </a:tcPr>
                </a:tc>
                <a:extLst>
                  <a:ext uri="{0D108BD9-81ED-4DB2-BD59-A6C34878D82A}">
                    <a16:rowId xmlns:a16="http://schemas.microsoft.com/office/drawing/2014/main" val="10002"/>
                  </a:ext>
                </a:extLst>
              </a:tr>
              <a:tr h="809625">
                <a:tc>
                  <a:txBody>
                    <a:bodyPr/>
                    <a:lstStyle/>
                    <a:p>
                      <a:r>
                        <a:rPr sz="2025" b="0">
                          <a:solidFill>
                            <a:srgbClr val="142E42"/>
                          </a:solidFill>
                          <a:latin typeface="Arial"/>
                          <a:ea typeface="Arial"/>
                          <a:cs typeface="Arial"/>
                        </a:rPr>
                        <a:t>BST</a:t>
                      </a:r>
                    </a:p>
                  </a:txBody>
                  <a:tcPr>
                    <a:lnL w="9525">
                      <a:solidFill>
                        <a:srgbClr val="D6E1E6"/>
                      </a:solidFill>
                      <a:prstDash val="soli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tc>
                  <a:txBody>
                    <a:bodyPr/>
                    <a:lstStyle/>
                    <a:p>
                      <a:r>
                        <a:rPr sz="2025" b="0">
                          <a:solidFill>
                            <a:srgbClr val="142E42"/>
                          </a:solidFill>
                          <a:latin typeface="Arial"/>
                          <a:ea typeface="Arial"/>
                          <a:cs typeface="Arial"/>
                        </a:rPr>
                        <a:t>O(h + 1)</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tc>
                  <a:txBody>
                    <a:bodyPr/>
                    <a:lstStyle/>
                    <a:p>
                      <a:r>
                        <a:rPr sz="2025" b="0">
                          <a:solidFill>
                            <a:srgbClr val="142E42"/>
                          </a:solidFill>
                          <a:latin typeface="Arial"/>
                          <a:ea typeface="Arial"/>
                          <a:cs typeface="Arial"/>
                        </a:rPr>
                        <a:t>O(h + 1)</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extLst>
                  <a:ext uri="{0D108BD9-81ED-4DB2-BD59-A6C34878D82A}">
                    <a16:rowId xmlns:a16="http://schemas.microsoft.com/office/drawing/2014/main" val="10003"/>
                  </a:ext>
                </a:extLst>
              </a:tr>
            </a:tbl>
          </a:graphicData>
        </a:graphic>
      </p:graphicFrame>
      <p:sp>
        <p:nvSpPr>
          <p:cNvPr id="4" name="text-2">
            <a:extLst>
              <a:ext uri="{FF2B5EF4-FFF2-40B4-BE49-F238E27FC236}">
                <a16:creationId xmlns:a16="http://schemas.microsoft.com/office/drawing/2014/main" id="{F287819D-F269-465E-872D-7B42FF9750FE}"/>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A short tree can support fast search and updates.</a:t>
            </a:r>
          </a:p>
        </p:txBody>
      </p:sp>
    </p:spTree>
    <p:extLst>
      <p:ext uri="{BB962C8B-B14F-4D97-AF65-F5344CB8AC3E}">
        <p14:creationId xmlns:p14="http://schemas.microsoft.com/office/powerpoint/2010/main" val="728927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9A8AAFE7-4874-48BF-8193-68471AC9D93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Trees and rooted trees</a:t>
            </a:r>
          </a:p>
        </p:txBody>
      </p:sp>
      <p:sp>
        <p:nvSpPr>
          <p:cNvPr id="2" name="text-1">
            <a:extLst>
              <a:ext uri="{FF2B5EF4-FFF2-40B4-BE49-F238E27FC236}">
                <a16:creationId xmlns:a16="http://schemas.microsoft.com/office/drawing/2014/main" id="{650606D3-ABD2-4E51-9284-0D8CF30BD198}"/>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04</a:t>
            </a:r>
          </a:p>
        </p:txBody>
      </p:sp>
      <p:sp>
        <p:nvSpPr>
          <p:cNvPr id="3" name="text-2">
            <a:extLst>
              <a:ext uri="{FF2B5EF4-FFF2-40B4-BE49-F238E27FC236}">
                <a16:creationId xmlns:a16="http://schemas.microsoft.com/office/drawing/2014/main" id="{B5ADBC09-AB74-4CC0-9C94-A38F3B94E6AE}"/>
              </a:ext>
            </a:extLst>
          </p:cNvPr>
          <p:cNvSpPr>
            <a:spLocks noGrp="1"/>
          </p:cNvSpPr>
          <p:nvPr/>
        </p:nvSpPr>
        <p:spPr>
          <a:xfrm>
            <a:off x="609600" y="1571625"/>
            <a:ext cx="10858500" cy="4095750"/>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defRPr sz="2175" b="0">
                <a:solidFill>
                  <a:srgbClr val="142E42"/>
                </a:solidFill>
                <a:latin typeface="Arial"/>
                <a:ea typeface="Arial"/>
                <a:cs typeface="Arial"/>
              </a:defRPr>
            </a:lvl1pPr>
            <a:lvl2pPr algn="l">
              <a:defRPr sz="2175" b="0">
                <a:solidFill>
                  <a:srgbClr val="142E42"/>
                </a:solidFill>
                <a:latin typeface="Arial"/>
                <a:ea typeface="Arial"/>
                <a:cs typeface="Arial"/>
              </a:defRPr>
            </a:lvl2pPr>
            <a:lvl3pPr algn="l">
              <a:defRPr sz="2175" b="0">
                <a:solidFill>
                  <a:srgbClr val="142E42"/>
                </a:solidFill>
                <a:latin typeface="Arial"/>
                <a:ea typeface="Arial"/>
                <a:cs typeface="Arial"/>
              </a:defRPr>
            </a:lvl3pPr>
            <a:lvl4pPr algn="l">
              <a:defRPr sz="2175" b="0">
                <a:solidFill>
                  <a:srgbClr val="142E42"/>
                </a:solidFill>
                <a:latin typeface="Arial"/>
                <a:ea typeface="Arial"/>
                <a:cs typeface="Arial"/>
              </a:defRPr>
            </a:lvl4pPr>
            <a:lvl5pPr algn="l">
              <a:defRPr sz="2175" b="0">
                <a:solidFill>
                  <a:srgbClr val="142E42"/>
                </a:solidFill>
                <a:latin typeface="Arial"/>
                <a:ea typeface="Arial"/>
                <a:cs typeface="Arial"/>
              </a:defRPr>
            </a:lvl5pPr>
            <a:lvl6pPr algn="l">
              <a:defRPr sz="2175" b="0">
                <a:solidFill>
                  <a:srgbClr val="142E42"/>
                </a:solidFill>
                <a:latin typeface="Arial"/>
                <a:ea typeface="Arial"/>
                <a:cs typeface="Arial"/>
              </a:defRPr>
            </a:lvl6pPr>
            <a:lvl7pPr algn="l">
              <a:defRPr sz="2175" b="0">
                <a:solidFill>
                  <a:srgbClr val="142E42"/>
                </a:solidFill>
                <a:latin typeface="Arial"/>
                <a:ea typeface="Arial"/>
                <a:cs typeface="Arial"/>
              </a:defRPr>
            </a:lvl7pPr>
            <a:lvl8pPr algn="l">
              <a:defRPr sz="2175" b="0">
                <a:solidFill>
                  <a:srgbClr val="142E42"/>
                </a:solidFill>
                <a:latin typeface="Arial"/>
                <a:ea typeface="Arial"/>
                <a:cs typeface="Arial"/>
              </a:defRPr>
            </a:lvl8pPr>
            <a:lvl9pPr algn="l">
              <a:defRPr sz="2175" b="0">
                <a:solidFill>
                  <a:srgbClr val="142E42"/>
                </a:solidFill>
                <a:latin typeface="Arial"/>
                <a:ea typeface="Arial"/>
                <a:cs typeface="Arial"/>
              </a:defRPr>
            </a:lvl9pPr>
          </a:lstStyle>
          <a:p>
            <a:pPr algn="l">
              <a:defRPr sz="2175" b="0">
                <a:solidFill>
                  <a:srgbClr val="142E42"/>
                </a:solidFill>
                <a:latin typeface="Arial"/>
                <a:ea typeface="Arial"/>
                <a:cs typeface="Arial"/>
              </a:defRPr>
            </a:pPr>
            <a:r>
              <a:rPr sz="2175" b="0">
                <a:solidFill>
                  <a:srgbClr val="142E42"/>
                </a:solidFill>
                <a:latin typeface="Arial"/>
                <a:ea typeface="Arial"/>
                <a:cs typeface="Arial"/>
              </a:rPr>
              <a:t>An undirected tree is a connected graph with no cycles.</a:t>
            </a:r>
          </a:p>
          <a:p>
            <a:pPr algn="l">
              <a:defRPr sz="2175" b="0">
                <a:solidFill>
                  <a:srgbClr val="142E42"/>
                </a:solidFill>
                <a:latin typeface="Arial"/>
                <a:ea typeface="Arial"/>
                <a:cs typeface="Arial"/>
              </a:defRPr>
            </a:pPr>
            <a:r>
              <a:rPr sz="2175" b="0">
                <a:solidFill>
                  <a:srgbClr val="142E42"/>
                </a:solidFill>
                <a:latin typeface="Arial"/>
                <a:ea typeface="Arial"/>
                <a:cs typeface="Arial"/>
              </a:rPr>
              <a:t>A forest is an acyclic graph that may be disconnected.</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A tree with n nodes has n − 1 edges and exactly one</a:t>
            </a:r>
          </a:p>
          <a:p>
            <a:pPr algn="l">
              <a:defRPr sz="2175" b="0">
                <a:solidFill>
                  <a:srgbClr val="142E42"/>
                </a:solidFill>
                <a:latin typeface="Arial"/>
                <a:ea typeface="Arial"/>
                <a:cs typeface="Arial"/>
              </a:defRPr>
            </a:pPr>
            <a:r>
              <a:rPr sz="2175" b="0">
                <a:solidFill>
                  <a:srgbClr val="142E42"/>
                </a:solidFill>
                <a:latin typeface="Arial"/>
                <a:ea typeface="Arial"/>
                <a:cs typeface="Arial"/>
              </a:rPr>
              <a:t>simple path between any two nodes.</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Choosing a root defines parent–child relationships.</a:t>
            </a:r>
          </a:p>
        </p:txBody>
      </p:sp>
    </p:spTree>
    <p:extLst>
      <p:ext uri="{BB962C8B-B14F-4D97-AF65-F5344CB8AC3E}">
        <p14:creationId xmlns:p14="http://schemas.microsoft.com/office/powerpoint/2010/main" val="862188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5" name="text-0">
            <a:extLst>
              <a:ext uri="{FF2B5EF4-FFF2-40B4-BE49-F238E27FC236}">
                <a16:creationId xmlns:a16="http://schemas.microsoft.com/office/drawing/2014/main" id="{0FAE62F5-829D-48DD-8CA7-20B55FAD0A0C}"/>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Tree terminology</a:t>
            </a:r>
          </a:p>
        </p:txBody>
      </p:sp>
      <p:sp>
        <p:nvSpPr>
          <p:cNvPr id="2" name="text-1">
            <a:extLst>
              <a:ext uri="{FF2B5EF4-FFF2-40B4-BE49-F238E27FC236}">
                <a16:creationId xmlns:a16="http://schemas.microsoft.com/office/drawing/2014/main" id="{81B77556-88F4-4112-B12A-F61A742D414A}"/>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05</a:t>
            </a:r>
          </a:p>
        </p:txBody>
      </p:sp>
      <p:sp>
        <p:nvSpPr>
          <p:cNvPr id="3" name="text-2">
            <a:extLst>
              <a:ext uri="{FF2B5EF4-FFF2-40B4-BE49-F238E27FC236}">
                <a16:creationId xmlns:a16="http://schemas.microsoft.com/office/drawing/2014/main" id="{2EB64991-5057-4976-89A8-CF1BFDA43D75}"/>
              </a:ext>
            </a:extLst>
          </p:cNvPr>
          <p:cNvSpPr>
            <a:spLocks noGrp="1"/>
          </p:cNvSpPr>
          <p:nvPr/>
        </p:nvSpPr>
        <p:spPr>
          <a:xfrm>
            <a:off x="609600" y="1619250"/>
            <a:ext cx="5429250" cy="409575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defRPr sz="2100" b="0">
                <a:solidFill>
                  <a:srgbClr val="142E42"/>
                </a:solidFill>
                <a:latin typeface="Arial"/>
                <a:ea typeface="Arial"/>
                <a:cs typeface="Arial"/>
              </a:defRPr>
            </a:lvl1pPr>
            <a:lvl2pPr algn="l">
              <a:defRPr sz="2100" b="0">
                <a:solidFill>
                  <a:srgbClr val="142E42"/>
                </a:solidFill>
                <a:latin typeface="Arial"/>
                <a:ea typeface="Arial"/>
                <a:cs typeface="Arial"/>
              </a:defRPr>
            </a:lvl2pPr>
            <a:lvl3pPr algn="l">
              <a:defRPr sz="2100" b="0">
                <a:solidFill>
                  <a:srgbClr val="142E42"/>
                </a:solidFill>
                <a:latin typeface="Arial"/>
                <a:ea typeface="Arial"/>
                <a:cs typeface="Arial"/>
              </a:defRPr>
            </a:lvl3pPr>
            <a:lvl4pPr algn="l">
              <a:defRPr sz="2100" b="0">
                <a:solidFill>
                  <a:srgbClr val="142E42"/>
                </a:solidFill>
                <a:latin typeface="Arial"/>
                <a:ea typeface="Arial"/>
                <a:cs typeface="Arial"/>
              </a:defRPr>
            </a:lvl4pPr>
            <a:lvl5pPr algn="l">
              <a:defRPr sz="2100" b="0">
                <a:solidFill>
                  <a:srgbClr val="142E42"/>
                </a:solidFill>
                <a:latin typeface="Arial"/>
                <a:ea typeface="Arial"/>
                <a:cs typeface="Arial"/>
              </a:defRPr>
            </a:lvl5pPr>
            <a:lvl6pPr algn="l">
              <a:defRPr sz="2100" b="0">
                <a:solidFill>
                  <a:srgbClr val="142E42"/>
                </a:solidFill>
                <a:latin typeface="Arial"/>
                <a:ea typeface="Arial"/>
                <a:cs typeface="Arial"/>
              </a:defRPr>
            </a:lvl6pPr>
            <a:lvl7pPr algn="l">
              <a:defRPr sz="2100" b="0">
                <a:solidFill>
                  <a:srgbClr val="142E42"/>
                </a:solidFill>
                <a:latin typeface="Arial"/>
                <a:ea typeface="Arial"/>
                <a:cs typeface="Arial"/>
              </a:defRPr>
            </a:lvl7pPr>
            <a:lvl8pPr algn="l">
              <a:defRPr sz="2100" b="0">
                <a:solidFill>
                  <a:srgbClr val="142E42"/>
                </a:solidFill>
                <a:latin typeface="Arial"/>
                <a:ea typeface="Arial"/>
                <a:cs typeface="Arial"/>
              </a:defRPr>
            </a:lvl8pPr>
            <a:lvl9pPr algn="l">
              <a:defRPr sz="2100" b="0">
                <a:solidFill>
                  <a:srgbClr val="142E42"/>
                </a:solidFill>
                <a:latin typeface="Arial"/>
                <a:ea typeface="Arial"/>
                <a:cs typeface="Arial"/>
              </a:defRPr>
            </a:lvl9pPr>
          </a:lstStyle>
          <a:p>
            <a:pPr algn="l">
              <a:defRPr sz="2100" b="0">
                <a:solidFill>
                  <a:srgbClr val="142E42"/>
                </a:solidFill>
                <a:latin typeface="Arial"/>
                <a:ea typeface="Arial"/>
                <a:cs typeface="Arial"/>
              </a:defRPr>
            </a:pPr>
            <a:r>
              <a:rPr sz="2100" b="0">
                <a:solidFill>
                  <a:srgbClr val="142E42"/>
                </a:solidFill>
                <a:latin typeface="Arial"/>
                <a:ea typeface="Arial"/>
                <a:cs typeface="Arial"/>
              </a:rPr>
              <a:t>Root: A has no parent.</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Leaf: E has no children.</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Internal node: B has children.</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Ancestors of J: F, B, A.</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Subtree at F: F, I, J, K.</a:t>
            </a:r>
          </a:p>
        </p:txBody>
      </p:sp>
      <p:sp>
        <p:nvSpPr>
          <p:cNvPr id="4" name="source-diagram-dg4-5130">
            <a:extLst>
              <a:ext uri="{FF2B5EF4-FFF2-40B4-BE49-F238E27FC236}">
                <a16:creationId xmlns:a16="http://schemas.microsoft.com/office/drawing/2014/main" id="{FA262713-AAA4-4568-81FF-DB4A9F35770F}"/>
              </a:ext>
            </a:extLst>
          </p:cNvPr>
          <p:cNvSpPr>
            <a:spLocks noGrp="1"/>
          </p:cNvSpPr>
          <p:nvPr/>
        </p:nvSpPr>
        <p:spPr>
          <a:xfrm>
            <a:off x="8801148" y="1714500"/>
            <a:ext cx="405416" cy="448787"/>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13" b="0">
                <a:solidFill>
                  <a:srgbClr val="142E42"/>
                </a:solidFill>
                <a:latin typeface="Arial"/>
                <a:ea typeface="Arial"/>
                <a:cs typeface="Arial"/>
              </a:rPr>
              <a:t>A</a:t>
            </a:r>
          </a:p>
        </p:txBody>
      </p:sp>
      <p:sp>
        <p:nvSpPr>
          <p:cNvPr id="5" name="source-diagram-dg4-5131">
            <a:extLst>
              <a:ext uri="{FF2B5EF4-FFF2-40B4-BE49-F238E27FC236}">
                <a16:creationId xmlns:a16="http://schemas.microsoft.com/office/drawing/2014/main" id="{584CD74A-4824-4F84-AA16-2969FE1EAE7C}"/>
              </a:ext>
            </a:extLst>
          </p:cNvPr>
          <p:cNvSpPr>
            <a:spLocks noGrp="1"/>
          </p:cNvSpPr>
          <p:nvPr/>
        </p:nvSpPr>
        <p:spPr>
          <a:xfrm>
            <a:off x="7232279" y="2800640"/>
            <a:ext cx="401645" cy="448787"/>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02" b="0">
                <a:solidFill>
                  <a:srgbClr val="142E42"/>
                </a:solidFill>
                <a:latin typeface="Arial"/>
                <a:ea typeface="Arial"/>
                <a:cs typeface="Arial"/>
              </a:rPr>
              <a:t>B</a:t>
            </a:r>
          </a:p>
        </p:txBody>
      </p:sp>
      <p:sp>
        <p:nvSpPr>
          <p:cNvPr id="6" name="source-diagram-dg4-5132">
            <a:extLst>
              <a:ext uri="{FF2B5EF4-FFF2-40B4-BE49-F238E27FC236}">
                <a16:creationId xmlns:a16="http://schemas.microsoft.com/office/drawing/2014/main" id="{B2EFC777-A47D-41C6-A89F-B9E7CDA07052}"/>
              </a:ext>
            </a:extLst>
          </p:cNvPr>
          <p:cNvSpPr>
            <a:spLocks noGrp="1"/>
          </p:cNvSpPr>
          <p:nvPr/>
        </p:nvSpPr>
        <p:spPr>
          <a:xfrm>
            <a:off x="10745264" y="2798754"/>
            <a:ext cx="424273" cy="452558"/>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69" b="0">
                <a:solidFill>
                  <a:srgbClr val="142E42"/>
                </a:solidFill>
                <a:latin typeface="Arial"/>
                <a:ea typeface="Arial"/>
                <a:cs typeface="Arial"/>
              </a:rPr>
              <a:t>D</a:t>
            </a:r>
          </a:p>
        </p:txBody>
      </p:sp>
      <p:sp>
        <p:nvSpPr>
          <p:cNvPr id="7" name="source-diagram-dg4-5133">
            <a:extLst>
              <a:ext uri="{FF2B5EF4-FFF2-40B4-BE49-F238E27FC236}">
                <a16:creationId xmlns:a16="http://schemas.microsoft.com/office/drawing/2014/main" id="{0FDE7FA7-A61A-4550-81F6-91ED9908D770}"/>
              </a:ext>
            </a:extLst>
          </p:cNvPr>
          <p:cNvSpPr>
            <a:spLocks noGrp="1"/>
          </p:cNvSpPr>
          <p:nvPr/>
        </p:nvSpPr>
        <p:spPr>
          <a:xfrm>
            <a:off x="9815634" y="2798754"/>
            <a:ext cx="405416" cy="452558"/>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13" b="0">
                <a:solidFill>
                  <a:srgbClr val="142E42"/>
                </a:solidFill>
                <a:latin typeface="Arial"/>
                <a:ea typeface="Arial"/>
                <a:cs typeface="Arial"/>
              </a:rPr>
              <a:t>C</a:t>
            </a:r>
          </a:p>
        </p:txBody>
      </p:sp>
      <p:sp>
        <p:nvSpPr>
          <p:cNvPr id="8" name="source-diagram-dg4-5134">
            <a:extLst>
              <a:ext uri="{FF2B5EF4-FFF2-40B4-BE49-F238E27FC236}">
                <a16:creationId xmlns:a16="http://schemas.microsoft.com/office/drawing/2014/main" id="{65974103-66AD-4AE3-8079-C53DF3FCBAC4}"/>
              </a:ext>
            </a:extLst>
          </p:cNvPr>
          <p:cNvSpPr>
            <a:spLocks noGrp="1"/>
          </p:cNvSpPr>
          <p:nvPr/>
        </p:nvSpPr>
        <p:spPr>
          <a:xfrm>
            <a:off x="9325361" y="3884894"/>
            <a:ext cx="420502" cy="452558"/>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58" b="0">
                <a:solidFill>
                  <a:srgbClr val="142E42"/>
                </a:solidFill>
                <a:latin typeface="Arial"/>
                <a:ea typeface="Arial"/>
                <a:cs typeface="Arial"/>
              </a:rPr>
              <a:t>G</a:t>
            </a:r>
          </a:p>
        </p:txBody>
      </p:sp>
      <p:sp>
        <p:nvSpPr>
          <p:cNvPr id="9" name="source-diagram-dg4-5135">
            <a:extLst>
              <a:ext uri="{FF2B5EF4-FFF2-40B4-BE49-F238E27FC236}">
                <a16:creationId xmlns:a16="http://schemas.microsoft.com/office/drawing/2014/main" id="{20A5C0E3-DB4D-453D-B821-7A4A3607FE0A}"/>
              </a:ext>
            </a:extLst>
          </p:cNvPr>
          <p:cNvSpPr>
            <a:spLocks noGrp="1"/>
          </p:cNvSpPr>
          <p:nvPr/>
        </p:nvSpPr>
        <p:spPr>
          <a:xfrm>
            <a:off x="10292705" y="3884894"/>
            <a:ext cx="422388" cy="452558"/>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64" b="0">
                <a:solidFill>
                  <a:srgbClr val="142E42"/>
                </a:solidFill>
                <a:latin typeface="Arial"/>
                <a:ea typeface="Arial"/>
                <a:cs typeface="Arial"/>
              </a:rPr>
              <a:t>H</a:t>
            </a:r>
          </a:p>
        </p:txBody>
      </p:sp>
      <p:sp>
        <p:nvSpPr>
          <p:cNvPr id="10" name="source-diagram-dg4-5136">
            <a:extLst>
              <a:ext uri="{FF2B5EF4-FFF2-40B4-BE49-F238E27FC236}">
                <a16:creationId xmlns:a16="http://schemas.microsoft.com/office/drawing/2014/main" id="{4614369E-1F77-4C17-84E2-4E87ABD19644}"/>
              </a:ext>
            </a:extLst>
          </p:cNvPr>
          <p:cNvSpPr>
            <a:spLocks noGrp="1"/>
          </p:cNvSpPr>
          <p:nvPr/>
        </p:nvSpPr>
        <p:spPr>
          <a:xfrm>
            <a:off x="6762750" y="3881123"/>
            <a:ext cx="392217" cy="456330"/>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174" b="0">
                <a:solidFill>
                  <a:srgbClr val="142E42"/>
                </a:solidFill>
                <a:latin typeface="Arial"/>
                <a:ea typeface="Arial"/>
                <a:cs typeface="Arial"/>
              </a:rPr>
              <a:t>E</a:t>
            </a:r>
          </a:p>
        </p:txBody>
      </p:sp>
      <p:sp>
        <p:nvSpPr>
          <p:cNvPr id="11" name="source-diagram-dg4-5137">
            <a:extLst>
              <a:ext uri="{FF2B5EF4-FFF2-40B4-BE49-F238E27FC236}">
                <a16:creationId xmlns:a16="http://schemas.microsoft.com/office/drawing/2014/main" id="{7C36BD2B-63B8-4FAD-B7E7-4062610B068B}"/>
              </a:ext>
            </a:extLst>
          </p:cNvPr>
          <p:cNvSpPr>
            <a:spLocks noGrp="1"/>
          </p:cNvSpPr>
          <p:nvPr/>
        </p:nvSpPr>
        <p:spPr>
          <a:xfrm>
            <a:off x="7713123" y="3886780"/>
            <a:ext cx="382788" cy="448787"/>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F</a:t>
            </a:r>
          </a:p>
        </p:txBody>
      </p:sp>
      <p:cxnSp>
        <p:nvCxnSpPr>
          <p:cNvPr id="12" name="source-diagram-dg4-5138">
            <a:extLst>
              <a:ext uri="{FF2B5EF4-FFF2-40B4-BE49-F238E27FC236}">
                <a16:creationId xmlns:a16="http://schemas.microsoft.com/office/drawing/2014/main" id="{81A4144E-3A10-45C8-90EB-F0D4F6802634}"/>
              </a:ext>
            </a:extLst>
          </p:cNvPr>
          <p:cNvCxnSpPr/>
          <p:nvPr/>
        </p:nvCxnSpPr>
        <p:spPr>
          <a:xfrm flipH="1">
            <a:off x="7434045" y="2174601"/>
            <a:ext cx="1570754" cy="614725"/>
          </a:xfrm>
          <a:prstGeom prst="straightConnector1">
            <a:avLst/>
          </a:prstGeom>
          <a:ln w="19050">
            <a:solidFill>
              <a:srgbClr val="142E42"/>
            </a:solidFill>
            <a:round/>
          </a:ln>
        </p:spPr>
      </p:cxnSp>
      <p:cxnSp>
        <p:nvCxnSpPr>
          <p:cNvPr id="13" name="source-diagram-dg4-5139">
            <a:extLst>
              <a:ext uri="{FF2B5EF4-FFF2-40B4-BE49-F238E27FC236}">
                <a16:creationId xmlns:a16="http://schemas.microsoft.com/office/drawing/2014/main" id="{BA962034-1699-459F-92FE-3412724C25A3}"/>
              </a:ext>
            </a:extLst>
          </p:cNvPr>
          <p:cNvCxnSpPr/>
          <p:nvPr/>
        </p:nvCxnSpPr>
        <p:spPr>
          <a:xfrm>
            <a:off x="9004799" y="2174601"/>
            <a:ext cx="1014485" cy="612839"/>
          </a:xfrm>
          <a:prstGeom prst="straightConnector1">
            <a:avLst/>
          </a:prstGeom>
          <a:ln w="19050">
            <a:solidFill>
              <a:srgbClr val="142E42"/>
            </a:solidFill>
            <a:round/>
          </a:ln>
        </p:spPr>
      </p:cxnSp>
      <p:cxnSp>
        <p:nvCxnSpPr>
          <p:cNvPr id="14" name="source-diagram-dg4-5140">
            <a:extLst>
              <a:ext uri="{FF2B5EF4-FFF2-40B4-BE49-F238E27FC236}">
                <a16:creationId xmlns:a16="http://schemas.microsoft.com/office/drawing/2014/main" id="{51AF3877-DE45-4B4F-82B6-65CE3CA6584B}"/>
              </a:ext>
            </a:extLst>
          </p:cNvPr>
          <p:cNvCxnSpPr/>
          <p:nvPr/>
        </p:nvCxnSpPr>
        <p:spPr>
          <a:xfrm>
            <a:off x="9004799" y="2174601"/>
            <a:ext cx="1953544" cy="612839"/>
          </a:xfrm>
          <a:prstGeom prst="straightConnector1">
            <a:avLst/>
          </a:prstGeom>
          <a:ln w="19050">
            <a:solidFill>
              <a:srgbClr val="142E42"/>
            </a:solidFill>
            <a:round/>
          </a:ln>
        </p:spPr>
      </p:cxnSp>
      <p:cxnSp>
        <p:nvCxnSpPr>
          <p:cNvPr id="15" name="source-diagram-dg4-5141">
            <a:extLst>
              <a:ext uri="{FF2B5EF4-FFF2-40B4-BE49-F238E27FC236}">
                <a16:creationId xmlns:a16="http://schemas.microsoft.com/office/drawing/2014/main" id="{6B51D21B-0727-4F28-910F-9E478269C85E}"/>
              </a:ext>
            </a:extLst>
          </p:cNvPr>
          <p:cNvCxnSpPr/>
          <p:nvPr/>
        </p:nvCxnSpPr>
        <p:spPr>
          <a:xfrm>
            <a:off x="10019285" y="3262626"/>
            <a:ext cx="484614" cy="610954"/>
          </a:xfrm>
          <a:prstGeom prst="straightConnector1">
            <a:avLst/>
          </a:prstGeom>
          <a:ln w="19050">
            <a:solidFill>
              <a:srgbClr val="142E42"/>
            </a:solidFill>
            <a:round/>
          </a:ln>
        </p:spPr>
      </p:cxnSp>
      <p:cxnSp>
        <p:nvCxnSpPr>
          <p:cNvPr id="16" name="source-diagram-dg4-5142">
            <a:extLst>
              <a:ext uri="{FF2B5EF4-FFF2-40B4-BE49-F238E27FC236}">
                <a16:creationId xmlns:a16="http://schemas.microsoft.com/office/drawing/2014/main" id="{1DE20A56-5590-4143-BC10-D3848D76F692}"/>
              </a:ext>
            </a:extLst>
          </p:cNvPr>
          <p:cNvCxnSpPr/>
          <p:nvPr/>
        </p:nvCxnSpPr>
        <p:spPr>
          <a:xfrm flipH="1">
            <a:off x="9536555" y="3262626"/>
            <a:ext cx="482729" cy="610954"/>
          </a:xfrm>
          <a:prstGeom prst="straightConnector1">
            <a:avLst/>
          </a:prstGeom>
          <a:ln w="19050">
            <a:solidFill>
              <a:srgbClr val="142E42"/>
            </a:solidFill>
            <a:round/>
          </a:ln>
        </p:spPr>
      </p:cxnSp>
      <p:cxnSp>
        <p:nvCxnSpPr>
          <p:cNvPr id="17" name="source-diagram-dg4-5143">
            <a:extLst>
              <a:ext uri="{FF2B5EF4-FFF2-40B4-BE49-F238E27FC236}">
                <a16:creationId xmlns:a16="http://schemas.microsoft.com/office/drawing/2014/main" id="{CA450DC5-8D30-4F85-9033-970FFF46381E}"/>
              </a:ext>
            </a:extLst>
          </p:cNvPr>
          <p:cNvCxnSpPr/>
          <p:nvPr/>
        </p:nvCxnSpPr>
        <p:spPr>
          <a:xfrm>
            <a:off x="7434045" y="3260741"/>
            <a:ext cx="471415" cy="614725"/>
          </a:xfrm>
          <a:prstGeom prst="straightConnector1">
            <a:avLst/>
          </a:prstGeom>
          <a:ln w="19050">
            <a:solidFill>
              <a:srgbClr val="142E42"/>
            </a:solidFill>
            <a:round/>
          </a:ln>
        </p:spPr>
      </p:cxnSp>
      <p:cxnSp>
        <p:nvCxnSpPr>
          <p:cNvPr id="18" name="source-diagram-dg4-5144">
            <a:extLst>
              <a:ext uri="{FF2B5EF4-FFF2-40B4-BE49-F238E27FC236}">
                <a16:creationId xmlns:a16="http://schemas.microsoft.com/office/drawing/2014/main" id="{DE36D517-8CD5-4CC4-9DAA-9CC953CCBEA7}"/>
              </a:ext>
            </a:extLst>
          </p:cNvPr>
          <p:cNvCxnSpPr/>
          <p:nvPr/>
        </p:nvCxnSpPr>
        <p:spPr>
          <a:xfrm flipH="1">
            <a:off x="6958859" y="3260741"/>
            <a:ext cx="475186" cy="609068"/>
          </a:xfrm>
          <a:prstGeom prst="straightConnector1">
            <a:avLst/>
          </a:prstGeom>
          <a:ln w="19050">
            <a:solidFill>
              <a:srgbClr val="142E42"/>
            </a:solidFill>
            <a:round/>
          </a:ln>
        </p:spPr>
      </p:cxnSp>
      <p:sp>
        <p:nvSpPr>
          <p:cNvPr id="19" name="source-diagram-dg4-5145">
            <a:extLst>
              <a:ext uri="{FF2B5EF4-FFF2-40B4-BE49-F238E27FC236}">
                <a16:creationId xmlns:a16="http://schemas.microsoft.com/office/drawing/2014/main" id="{90573B51-A299-46F3-94E9-EE3E2F149FFD}"/>
              </a:ext>
            </a:extLst>
          </p:cNvPr>
          <p:cNvSpPr>
            <a:spLocks noGrp="1"/>
          </p:cNvSpPr>
          <p:nvPr/>
        </p:nvSpPr>
        <p:spPr>
          <a:xfrm>
            <a:off x="7053142" y="4978577"/>
            <a:ext cx="343190" cy="448787"/>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027" b="0">
                <a:solidFill>
                  <a:srgbClr val="142E42"/>
                </a:solidFill>
                <a:latin typeface="Arial"/>
                <a:ea typeface="Arial"/>
                <a:cs typeface="Arial"/>
              </a:rPr>
              <a:t>I</a:t>
            </a:r>
          </a:p>
        </p:txBody>
      </p:sp>
      <p:sp>
        <p:nvSpPr>
          <p:cNvPr id="20" name="source-diagram-dg4-5146">
            <a:extLst>
              <a:ext uri="{FF2B5EF4-FFF2-40B4-BE49-F238E27FC236}">
                <a16:creationId xmlns:a16="http://schemas.microsoft.com/office/drawing/2014/main" id="{335E9F11-121C-40DB-ADE7-6B660F3F7A64}"/>
              </a:ext>
            </a:extLst>
          </p:cNvPr>
          <p:cNvSpPr>
            <a:spLocks noGrp="1"/>
          </p:cNvSpPr>
          <p:nvPr/>
        </p:nvSpPr>
        <p:spPr>
          <a:xfrm>
            <a:off x="7743293" y="4978577"/>
            <a:ext cx="352618" cy="448787"/>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055" b="0">
                <a:solidFill>
                  <a:srgbClr val="142E42"/>
                </a:solidFill>
                <a:latin typeface="Arial"/>
                <a:ea typeface="Arial"/>
                <a:cs typeface="Arial"/>
              </a:rPr>
              <a:t>J</a:t>
            </a:r>
          </a:p>
        </p:txBody>
      </p:sp>
      <p:cxnSp>
        <p:nvCxnSpPr>
          <p:cNvPr id="21" name="source-diagram-dg4-5147">
            <a:extLst>
              <a:ext uri="{FF2B5EF4-FFF2-40B4-BE49-F238E27FC236}">
                <a16:creationId xmlns:a16="http://schemas.microsoft.com/office/drawing/2014/main" id="{287B8BC0-5CE5-4FDB-8F35-D6F1A5C43D6B}"/>
              </a:ext>
            </a:extLst>
          </p:cNvPr>
          <p:cNvCxnSpPr/>
          <p:nvPr/>
        </p:nvCxnSpPr>
        <p:spPr>
          <a:xfrm>
            <a:off x="7905460" y="4346881"/>
            <a:ext cx="15085" cy="620382"/>
          </a:xfrm>
          <a:prstGeom prst="straightConnector1">
            <a:avLst/>
          </a:prstGeom>
          <a:ln w="19050">
            <a:solidFill>
              <a:srgbClr val="142E42"/>
            </a:solidFill>
            <a:round/>
          </a:ln>
        </p:spPr>
      </p:cxnSp>
      <p:cxnSp>
        <p:nvCxnSpPr>
          <p:cNvPr id="22" name="source-diagram-dg4-5148">
            <a:extLst>
              <a:ext uri="{FF2B5EF4-FFF2-40B4-BE49-F238E27FC236}">
                <a16:creationId xmlns:a16="http://schemas.microsoft.com/office/drawing/2014/main" id="{4006F190-6484-4351-BF4D-BDA8AFF0FD02}"/>
              </a:ext>
            </a:extLst>
          </p:cNvPr>
          <p:cNvCxnSpPr/>
          <p:nvPr/>
        </p:nvCxnSpPr>
        <p:spPr>
          <a:xfrm flipH="1">
            <a:off x="7224736" y="4346881"/>
            <a:ext cx="680723" cy="620382"/>
          </a:xfrm>
          <a:prstGeom prst="straightConnector1">
            <a:avLst/>
          </a:prstGeom>
          <a:ln w="19050">
            <a:solidFill>
              <a:srgbClr val="142E42"/>
            </a:solidFill>
            <a:round/>
          </a:ln>
        </p:spPr>
      </p:cxnSp>
      <p:sp>
        <p:nvSpPr>
          <p:cNvPr id="23" name="source-diagram-dg4-5149">
            <a:extLst>
              <a:ext uri="{FF2B5EF4-FFF2-40B4-BE49-F238E27FC236}">
                <a16:creationId xmlns:a16="http://schemas.microsoft.com/office/drawing/2014/main" id="{7ED9EA6E-91EB-4E72-A704-09C4A9479C90}"/>
              </a:ext>
            </a:extLst>
          </p:cNvPr>
          <p:cNvSpPr>
            <a:spLocks noGrp="1"/>
          </p:cNvSpPr>
          <p:nvPr/>
        </p:nvSpPr>
        <p:spPr>
          <a:xfrm>
            <a:off x="8442872" y="4976692"/>
            <a:ext cx="401645" cy="452558"/>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02" b="0">
                <a:solidFill>
                  <a:srgbClr val="142E42"/>
                </a:solidFill>
                <a:latin typeface="Arial"/>
                <a:ea typeface="Arial"/>
                <a:cs typeface="Arial"/>
              </a:rPr>
              <a:t>K</a:t>
            </a:r>
          </a:p>
        </p:txBody>
      </p:sp>
      <p:cxnSp>
        <p:nvCxnSpPr>
          <p:cNvPr id="24" name="source-diagram-dg4-5150">
            <a:extLst>
              <a:ext uri="{FF2B5EF4-FFF2-40B4-BE49-F238E27FC236}">
                <a16:creationId xmlns:a16="http://schemas.microsoft.com/office/drawing/2014/main" id="{7415D316-8A69-453D-8BA2-145B54D83D85}"/>
              </a:ext>
            </a:extLst>
          </p:cNvPr>
          <p:cNvCxnSpPr/>
          <p:nvPr/>
        </p:nvCxnSpPr>
        <p:spPr>
          <a:xfrm>
            <a:off x="7905460" y="4346881"/>
            <a:ext cx="739179" cy="618496"/>
          </a:xfrm>
          <a:prstGeom prst="straightConnector1">
            <a:avLst/>
          </a:prstGeom>
          <a:ln w="19050">
            <a:solidFill>
              <a:srgbClr val="142E42"/>
            </a:solidFill>
            <a:round/>
          </a:ln>
        </p:spPr>
      </p:cxnSp>
    </p:spTree>
    <p:extLst>
      <p:ext uri="{BB962C8B-B14F-4D97-AF65-F5344CB8AC3E}">
        <p14:creationId xmlns:p14="http://schemas.microsoft.com/office/powerpoint/2010/main" val="615401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62DEF797-9AF1-4B6A-A652-CCB4A3A9812D}"/>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Binary trees and binary search trees</a:t>
            </a:r>
          </a:p>
        </p:txBody>
      </p:sp>
      <p:sp>
        <p:nvSpPr>
          <p:cNvPr id="2" name="text-1">
            <a:extLst>
              <a:ext uri="{FF2B5EF4-FFF2-40B4-BE49-F238E27FC236}">
                <a16:creationId xmlns:a16="http://schemas.microsoft.com/office/drawing/2014/main" id="{AD306F35-CF3B-4267-833F-BE8BE92E9F34}"/>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06</a:t>
            </a:r>
          </a:p>
        </p:txBody>
      </p:sp>
      <p:sp>
        <p:nvSpPr>
          <p:cNvPr id="3" name="text-2">
            <a:extLst>
              <a:ext uri="{FF2B5EF4-FFF2-40B4-BE49-F238E27FC236}">
                <a16:creationId xmlns:a16="http://schemas.microsoft.com/office/drawing/2014/main" id="{44AE4827-9CA0-4ED4-B5B5-E8987A6B0CF9}"/>
              </a:ext>
            </a:extLst>
          </p:cNvPr>
          <p:cNvSpPr>
            <a:spLocks noGrp="1"/>
          </p:cNvSpPr>
          <p:nvPr/>
        </p:nvSpPr>
        <p:spPr>
          <a:xfrm>
            <a:off x="609600" y="1552575"/>
            <a:ext cx="10858500" cy="4286250"/>
          </a:xfrm>
          <a:prstGeom prst="rect">
            <a:avLst/>
          </a:prstGeom>
          <a:noFill/>
          <a:ln w="0">
            <a:noFill/>
          </a:ln>
        </p:spPr>
        <p:txBody>
          <a:bodyPr lIns="0" tIns="0" rIns="0" bIns="0" anchor="t"/>
          <a:lstStyle>
            <a:defPPr algn="l">
              <a:defRPr sz="2250" b="0">
                <a:solidFill>
                  <a:srgbClr val="142E42"/>
                </a:solidFill>
                <a:latin typeface="Arial"/>
                <a:ea typeface="Arial"/>
                <a:cs typeface="Arial"/>
              </a:defRPr>
            </a:defPPr>
            <a:lvl1pPr algn="l">
              <a:defRPr sz="2250" b="0">
                <a:solidFill>
                  <a:srgbClr val="142E42"/>
                </a:solidFill>
                <a:latin typeface="Arial"/>
                <a:ea typeface="Arial"/>
                <a:cs typeface="Arial"/>
              </a:defRPr>
            </a:lvl1pPr>
            <a:lvl2pPr algn="l">
              <a:defRPr sz="2250" b="0">
                <a:solidFill>
                  <a:srgbClr val="142E42"/>
                </a:solidFill>
                <a:latin typeface="Arial"/>
                <a:ea typeface="Arial"/>
                <a:cs typeface="Arial"/>
              </a:defRPr>
            </a:lvl2pPr>
            <a:lvl3pPr algn="l">
              <a:defRPr sz="2250" b="0">
                <a:solidFill>
                  <a:srgbClr val="142E42"/>
                </a:solidFill>
                <a:latin typeface="Arial"/>
                <a:ea typeface="Arial"/>
                <a:cs typeface="Arial"/>
              </a:defRPr>
            </a:lvl3pPr>
            <a:lvl4pPr algn="l">
              <a:defRPr sz="2250" b="0">
                <a:solidFill>
                  <a:srgbClr val="142E42"/>
                </a:solidFill>
                <a:latin typeface="Arial"/>
                <a:ea typeface="Arial"/>
                <a:cs typeface="Arial"/>
              </a:defRPr>
            </a:lvl4pPr>
            <a:lvl5pPr algn="l">
              <a:defRPr sz="2250" b="0">
                <a:solidFill>
                  <a:srgbClr val="142E42"/>
                </a:solidFill>
                <a:latin typeface="Arial"/>
                <a:ea typeface="Arial"/>
                <a:cs typeface="Arial"/>
              </a:defRPr>
            </a:lvl5pPr>
            <a:lvl6pPr algn="l">
              <a:defRPr sz="2250" b="0">
                <a:solidFill>
                  <a:srgbClr val="142E42"/>
                </a:solidFill>
                <a:latin typeface="Arial"/>
                <a:ea typeface="Arial"/>
                <a:cs typeface="Arial"/>
              </a:defRPr>
            </a:lvl6pPr>
            <a:lvl7pPr algn="l">
              <a:defRPr sz="2250" b="0">
                <a:solidFill>
                  <a:srgbClr val="142E42"/>
                </a:solidFill>
                <a:latin typeface="Arial"/>
                <a:ea typeface="Arial"/>
                <a:cs typeface="Arial"/>
              </a:defRPr>
            </a:lvl7pPr>
            <a:lvl8pPr algn="l">
              <a:defRPr sz="2250" b="0">
                <a:solidFill>
                  <a:srgbClr val="142E42"/>
                </a:solidFill>
                <a:latin typeface="Arial"/>
                <a:ea typeface="Arial"/>
                <a:cs typeface="Arial"/>
              </a:defRPr>
            </a:lvl8pPr>
            <a:lvl9pPr algn="l">
              <a:defRPr sz="2250" b="0">
                <a:solidFill>
                  <a:srgbClr val="142E42"/>
                </a:solidFill>
                <a:latin typeface="Arial"/>
                <a:ea typeface="Arial"/>
                <a:cs typeface="Arial"/>
              </a:defRPr>
            </a:lvl9pPr>
          </a:lstStyle>
          <a:p>
            <a:pPr algn="l">
              <a:defRPr sz="2250" b="0">
                <a:solidFill>
                  <a:srgbClr val="142E42"/>
                </a:solidFill>
                <a:latin typeface="Arial"/>
                <a:ea typeface="Arial"/>
                <a:cs typeface="Arial"/>
              </a:defRPr>
            </a:pPr>
            <a:r>
              <a:rPr sz="2250" b="0">
                <a:solidFill>
                  <a:srgbClr val="142E42"/>
                </a:solidFill>
                <a:latin typeface="Arial"/>
                <a:ea typeface="Arial"/>
                <a:cs typeface="Arial"/>
              </a:rPr>
              <a:t>A binary tree gives each node at most two children,</a:t>
            </a:r>
          </a:p>
          <a:p>
            <a:pPr algn="l">
              <a:defRPr sz="2250" b="0">
                <a:solidFill>
                  <a:srgbClr val="142E42"/>
                </a:solidFill>
                <a:latin typeface="Arial"/>
                <a:ea typeface="Arial"/>
                <a:cs typeface="Arial"/>
              </a:defRPr>
            </a:pPr>
            <a:r>
              <a:rPr sz="2250" b="0">
                <a:solidFill>
                  <a:srgbClr val="142E42"/>
                </a:solidFill>
                <a:latin typeface="Arial"/>
                <a:ea typeface="Arial"/>
                <a:cs typeface="Arial"/>
              </a:rPr>
              <a:t>identified as left and right. Either child may be absent.</a:t>
            </a:r>
          </a:p>
          <a:p>
            <a:endParaRPr sz="2250" b="0">
              <a:solidFill>
                <a:srgbClr val="142E42"/>
              </a:solidFill>
              <a:latin typeface="Arial"/>
              <a:ea typeface="Arial"/>
              <a:cs typeface="Arial"/>
            </a:endParaRPr>
          </a:p>
          <a:p>
            <a:pPr algn="l">
              <a:defRPr sz="2250" b="0">
                <a:solidFill>
                  <a:srgbClr val="142E42"/>
                </a:solidFill>
                <a:latin typeface="Arial"/>
                <a:ea typeface="Arial"/>
                <a:cs typeface="Arial"/>
              </a:defRPr>
            </a:pPr>
            <a:r>
              <a:rPr sz="2250" b="0">
                <a:solidFill>
                  <a:srgbClr val="142E42"/>
                </a:solidFill>
                <a:latin typeface="Arial"/>
                <a:ea typeface="Arial"/>
                <a:cs typeface="Arial"/>
              </a:rPr>
              <a:t>A binary search tree adds an ordering rule:</a:t>
            </a:r>
          </a:p>
          <a:p>
            <a:pPr algn="l">
              <a:defRPr sz="2250" b="0">
                <a:solidFill>
                  <a:srgbClr val="142E42"/>
                </a:solidFill>
                <a:latin typeface="Arial"/>
                <a:ea typeface="Arial"/>
                <a:cs typeface="Arial"/>
              </a:defRPr>
            </a:pPr>
            <a:r>
              <a:rPr sz="2250" b="0">
                <a:solidFill>
                  <a:srgbClr val="142E42"/>
                </a:solidFill>
                <a:latin typeface="Arial"/>
                <a:ea typeface="Arial"/>
                <a:cs typeface="Arial"/>
              </a:rPr>
              <a:t>every key in the left subtree is smaller, and every key</a:t>
            </a:r>
          </a:p>
          <a:p>
            <a:pPr algn="l">
              <a:defRPr sz="2250" b="0">
                <a:solidFill>
                  <a:srgbClr val="142E42"/>
                </a:solidFill>
                <a:latin typeface="Arial"/>
                <a:ea typeface="Arial"/>
                <a:cs typeface="Arial"/>
              </a:defRPr>
            </a:pPr>
            <a:r>
              <a:rPr sz="2250" b="0">
                <a:solidFill>
                  <a:srgbClr val="142E42"/>
                </a:solidFill>
                <a:latin typeface="Arial"/>
                <a:ea typeface="Arial"/>
                <a:cs typeface="Arial"/>
              </a:rPr>
              <a:t>in the right subtree is larger.</a:t>
            </a:r>
          </a:p>
          <a:p>
            <a:endParaRPr sz="2250" b="0">
              <a:solidFill>
                <a:srgbClr val="142E42"/>
              </a:solidFill>
              <a:latin typeface="Arial"/>
              <a:ea typeface="Arial"/>
              <a:cs typeface="Arial"/>
            </a:endParaRPr>
          </a:p>
          <a:p>
            <a:pPr algn="l">
              <a:defRPr sz="2250" b="0">
                <a:solidFill>
                  <a:srgbClr val="142E42"/>
                </a:solidFill>
                <a:latin typeface="Arial"/>
                <a:ea typeface="Arial"/>
                <a:cs typeface="Arial"/>
              </a:defRPr>
            </a:pPr>
            <a:r>
              <a:rPr sz="2250" b="0">
                <a:solidFill>
                  <a:srgbClr val="142E42"/>
                </a:solidFill>
                <a:latin typeface="Arial"/>
                <a:ea typeface="Arial"/>
                <a:cs typeface="Arial"/>
              </a:rPr>
              <a:t>Both subtrees obey the same rule.</a:t>
            </a:r>
          </a:p>
        </p:txBody>
      </p:sp>
      <p:sp>
        <p:nvSpPr>
          <p:cNvPr id="4" name="text-3">
            <a:extLst>
              <a:ext uri="{FF2B5EF4-FFF2-40B4-BE49-F238E27FC236}">
                <a16:creationId xmlns:a16="http://schemas.microsoft.com/office/drawing/2014/main" id="{876C3210-996F-401C-9275-C84E7E45ECF3}"/>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This lesson uses unique keys and rejects duplicates.</a:t>
            </a:r>
          </a:p>
        </p:txBody>
      </p:sp>
    </p:spTree>
    <p:extLst>
      <p:ext uri="{BB962C8B-B14F-4D97-AF65-F5344CB8AC3E}">
        <p14:creationId xmlns:p14="http://schemas.microsoft.com/office/powerpoint/2010/main" val="2133418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19" name="text-0">
            <a:extLst>
              <a:ext uri="{FF2B5EF4-FFF2-40B4-BE49-F238E27FC236}">
                <a16:creationId xmlns:a16="http://schemas.microsoft.com/office/drawing/2014/main" id="{F5D6AD35-6321-457E-84D5-5DD91E2E9C2B}"/>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Depth, level, and height</a:t>
            </a:r>
          </a:p>
        </p:txBody>
      </p:sp>
      <p:sp>
        <p:nvSpPr>
          <p:cNvPr id="2" name="text-1">
            <a:extLst>
              <a:ext uri="{FF2B5EF4-FFF2-40B4-BE49-F238E27FC236}">
                <a16:creationId xmlns:a16="http://schemas.microsoft.com/office/drawing/2014/main" id="{D21D47BC-FCDD-4197-8C58-58836D94DC03}"/>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07</a:t>
            </a:r>
          </a:p>
        </p:txBody>
      </p:sp>
      <p:sp>
        <p:nvSpPr>
          <p:cNvPr id="3" name="text-2">
            <a:extLst>
              <a:ext uri="{FF2B5EF4-FFF2-40B4-BE49-F238E27FC236}">
                <a16:creationId xmlns:a16="http://schemas.microsoft.com/office/drawing/2014/main" id="{1C74EBF3-F4BD-402E-93EA-73962ADA36B0}"/>
              </a:ext>
            </a:extLst>
          </p:cNvPr>
          <p:cNvSpPr>
            <a:spLocks noGrp="1"/>
          </p:cNvSpPr>
          <p:nvPr/>
        </p:nvSpPr>
        <p:spPr>
          <a:xfrm>
            <a:off x="609600" y="1571625"/>
            <a:ext cx="6191250" cy="419100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defRPr sz="2100" b="0">
                <a:solidFill>
                  <a:srgbClr val="142E42"/>
                </a:solidFill>
                <a:latin typeface="Arial"/>
                <a:ea typeface="Arial"/>
                <a:cs typeface="Arial"/>
              </a:defRPr>
            </a:lvl1pPr>
            <a:lvl2pPr algn="l">
              <a:defRPr sz="2100" b="0">
                <a:solidFill>
                  <a:srgbClr val="142E42"/>
                </a:solidFill>
                <a:latin typeface="Arial"/>
                <a:ea typeface="Arial"/>
                <a:cs typeface="Arial"/>
              </a:defRPr>
            </a:lvl2pPr>
            <a:lvl3pPr algn="l">
              <a:defRPr sz="2100" b="0">
                <a:solidFill>
                  <a:srgbClr val="142E42"/>
                </a:solidFill>
                <a:latin typeface="Arial"/>
                <a:ea typeface="Arial"/>
                <a:cs typeface="Arial"/>
              </a:defRPr>
            </a:lvl3pPr>
            <a:lvl4pPr algn="l">
              <a:defRPr sz="2100" b="0">
                <a:solidFill>
                  <a:srgbClr val="142E42"/>
                </a:solidFill>
                <a:latin typeface="Arial"/>
                <a:ea typeface="Arial"/>
                <a:cs typeface="Arial"/>
              </a:defRPr>
            </a:lvl4pPr>
            <a:lvl5pPr algn="l">
              <a:defRPr sz="2100" b="0">
                <a:solidFill>
                  <a:srgbClr val="142E42"/>
                </a:solidFill>
                <a:latin typeface="Arial"/>
                <a:ea typeface="Arial"/>
                <a:cs typeface="Arial"/>
              </a:defRPr>
            </a:lvl5pPr>
            <a:lvl6pPr algn="l">
              <a:defRPr sz="2100" b="0">
                <a:solidFill>
                  <a:srgbClr val="142E42"/>
                </a:solidFill>
                <a:latin typeface="Arial"/>
                <a:ea typeface="Arial"/>
                <a:cs typeface="Arial"/>
              </a:defRPr>
            </a:lvl6pPr>
            <a:lvl7pPr algn="l">
              <a:defRPr sz="2100" b="0">
                <a:solidFill>
                  <a:srgbClr val="142E42"/>
                </a:solidFill>
                <a:latin typeface="Arial"/>
                <a:ea typeface="Arial"/>
                <a:cs typeface="Arial"/>
              </a:defRPr>
            </a:lvl7pPr>
            <a:lvl8pPr algn="l">
              <a:defRPr sz="2100" b="0">
                <a:solidFill>
                  <a:srgbClr val="142E42"/>
                </a:solidFill>
                <a:latin typeface="Arial"/>
                <a:ea typeface="Arial"/>
                <a:cs typeface="Arial"/>
              </a:defRPr>
            </a:lvl8pPr>
            <a:lvl9pPr algn="l">
              <a:defRPr sz="2100" b="0">
                <a:solidFill>
                  <a:srgbClr val="142E42"/>
                </a:solidFill>
                <a:latin typeface="Arial"/>
                <a:ea typeface="Arial"/>
                <a:cs typeface="Arial"/>
              </a:defRPr>
            </a:lvl9pPr>
          </a:lstStyle>
          <a:p>
            <a:pPr algn="l">
              <a:defRPr sz="2100" b="0">
                <a:solidFill>
                  <a:srgbClr val="142E42"/>
                </a:solidFill>
                <a:latin typeface="Arial"/>
                <a:ea typeface="Arial"/>
                <a:cs typeface="Arial"/>
              </a:defRPr>
            </a:pPr>
            <a:r>
              <a:rPr sz="2100" b="0">
                <a:solidFill>
                  <a:srgbClr val="142E42"/>
                </a:solidFill>
                <a:latin typeface="Arial"/>
                <a:ea typeface="Arial"/>
                <a:cs typeface="Arial"/>
              </a:rPr>
              <a:t>Depth counts edges from the root.</a:t>
            </a:r>
          </a:p>
          <a:p>
            <a:pPr algn="l">
              <a:defRPr sz="2100" b="0">
                <a:solidFill>
                  <a:srgbClr val="142E42"/>
                </a:solidFill>
                <a:latin typeface="Arial"/>
                <a:ea typeface="Arial"/>
                <a:cs typeface="Arial"/>
              </a:defRPr>
            </a:pPr>
            <a:r>
              <a:rPr sz="2100" b="0">
                <a:solidFill>
                  <a:srgbClr val="142E42"/>
                </a:solidFill>
                <a:latin typeface="Arial"/>
                <a:ea typeface="Arial"/>
                <a:cs typeface="Arial"/>
              </a:rPr>
              <a:t>Root 30 has depth 0.</a:t>
            </a:r>
          </a:p>
          <a:p>
            <a:pPr algn="l">
              <a:defRPr sz="2100" b="0">
                <a:solidFill>
                  <a:srgbClr val="142E42"/>
                </a:solidFill>
                <a:latin typeface="Arial"/>
                <a:ea typeface="Arial"/>
                <a:cs typeface="Arial"/>
              </a:defRPr>
            </a:pPr>
            <a:r>
              <a:rPr sz="2100" b="0">
                <a:solidFill>
                  <a:srgbClr val="142E42"/>
                </a:solidFill>
                <a:latin typeface="Arial"/>
                <a:ea typeface="Arial"/>
                <a:cs typeface="Arial"/>
              </a:rPr>
              <a:t>Node 40 has depth 3.</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Height is the maximum depth.</a:t>
            </a:r>
          </a:p>
          <a:p>
            <a:pPr algn="l">
              <a:defRPr sz="2100" b="0">
                <a:solidFill>
                  <a:srgbClr val="142E42"/>
                </a:solidFill>
                <a:latin typeface="Arial"/>
                <a:ea typeface="Arial"/>
                <a:cs typeface="Arial"/>
              </a:defRPr>
            </a:pPr>
            <a:r>
              <a:rPr sz="2100" b="0">
                <a:solidFill>
                  <a:srgbClr val="142E42"/>
                </a:solidFill>
                <a:latin typeface="Arial"/>
                <a:ea typeface="Arial"/>
                <a:cs typeface="Arial"/>
              </a:rPr>
              <a:t>This tree has height 3 and 4 levels.</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Empty tree: height −1.</a:t>
            </a:r>
          </a:p>
          <a:p>
            <a:pPr algn="l">
              <a:defRPr sz="2100" b="0">
                <a:solidFill>
                  <a:srgbClr val="142E42"/>
                </a:solidFill>
                <a:latin typeface="Arial"/>
                <a:ea typeface="Arial"/>
                <a:cs typeface="Arial"/>
              </a:defRPr>
            </a:pPr>
            <a:r>
              <a:rPr sz="2100" b="0">
                <a:solidFill>
                  <a:srgbClr val="142E42"/>
                </a:solidFill>
                <a:latin typeface="Arial"/>
                <a:ea typeface="Arial"/>
                <a:cs typeface="Arial"/>
              </a:rPr>
              <a:t>Single node: height 0.</a:t>
            </a:r>
          </a:p>
        </p:txBody>
      </p:sp>
      <p:sp>
        <p:nvSpPr>
          <p:cNvPr id="4" name="source-diagram-dg6-9">
            <a:extLst>
              <a:ext uri="{FF2B5EF4-FFF2-40B4-BE49-F238E27FC236}">
                <a16:creationId xmlns:a16="http://schemas.microsoft.com/office/drawing/2014/main" id="{FF11148E-2A86-4B01-9BAE-A6B96EF3CB5D}"/>
              </a:ext>
            </a:extLst>
          </p:cNvPr>
          <p:cNvSpPr>
            <a:spLocks noGrp="1"/>
          </p:cNvSpPr>
          <p:nvPr/>
        </p:nvSpPr>
        <p:spPr>
          <a:xfrm>
            <a:off x="8803972" y="1666875"/>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30</a:t>
            </a:r>
          </a:p>
        </p:txBody>
      </p:sp>
      <p:sp>
        <p:nvSpPr>
          <p:cNvPr id="5" name="source-diagram-dg6-10">
            <a:extLst>
              <a:ext uri="{FF2B5EF4-FFF2-40B4-BE49-F238E27FC236}">
                <a16:creationId xmlns:a16="http://schemas.microsoft.com/office/drawing/2014/main" id="{43CF427E-AE8C-4D22-AEE5-A7089D9B1E4F}"/>
              </a:ext>
            </a:extLst>
          </p:cNvPr>
          <p:cNvSpPr>
            <a:spLocks noGrp="1"/>
          </p:cNvSpPr>
          <p:nvPr/>
        </p:nvSpPr>
        <p:spPr>
          <a:xfrm>
            <a:off x="8141544" y="2576610"/>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20</a:t>
            </a:r>
          </a:p>
        </p:txBody>
      </p:sp>
      <p:sp>
        <p:nvSpPr>
          <p:cNvPr id="6" name="source-diagram-dg6-11">
            <a:extLst>
              <a:ext uri="{FF2B5EF4-FFF2-40B4-BE49-F238E27FC236}">
                <a16:creationId xmlns:a16="http://schemas.microsoft.com/office/drawing/2014/main" id="{E6911813-4A65-40DF-854E-C0316D3C5702}"/>
              </a:ext>
            </a:extLst>
          </p:cNvPr>
          <p:cNvSpPr>
            <a:spLocks noGrp="1"/>
          </p:cNvSpPr>
          <p:nvPr/>
        </p:nvSpPr>
        <p:spPr>
          <a:xfrm>
            <a:off x="9679849" y="2576610"/>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70</a:t>
            </a:r>
          </a:p>
        </p:txBody>
      </p:sp>
      <p:sp>
        <p:nvSpPr>
          <p:cNvPr id="7" name="source-diagram-dg6-12">
            <a:extLst>
              <a:ext uri="{FF2B5EF4-FFF2-40B4-BE49-F238E27FC236}">
                <a16:creationId xmlns:a16="http://schemas.microsoft.com/office/drawing/2014/main" id="{99F89124-3696-43AE-9BA4-9B6B3DF5156E}"/>
              </a:ext>
            </a:extLst>
          </p:cNvPr>
          <p:cNvSpPr>
            <a:spLocks noGrp="1"/>
          </p:cNvSpPr>
          <p:nvPr/>
        </p:nvSpPr>
        <p:spPr>
          <a:xfrm>
            <a:off x="7524750" y="3562157"/>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10</a:t>
            </a:r>
          </a:p>
        </p:txBody>
      </p:sp>
      <p:sp>
        <p:nvSpPr>
          <p:cNvPr id="8" name="source-diagram-dg6-13">
            <a:extLst>
              <a:ext uri="{FF2B5EF4-FFF2-40B4-BE49-F238E27FC236}">
                <a16:creationId xmlns:a16="http://schemas.microsoft.com/office/drawing/2014/main" id="{EEC602B6-0593-4160-A5F9-217F794B49CA}"/>
              </a:ext>
            </a:extLst>
          </p:cNvPr>
          <p:cNvSpPr>
            <a:spLocks noGrp="1"/>
          </p:cNvSpPr>
          <p:nvPr/>
        </p:nvSpPr>
        <p:spPr>
          <a:xfrm>
            <a:off x="9031406" y="3562157"/>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50</a:t>
            </a:r>
          </a:p>
        </p:txBody>
      </p:sp>
      <p:sp>
        <p:nvSpPr>
          <p:cNvPr id="9" name="source-diagram-dg6-14">
            <a:extLst>
              <a:ext uri="{FF2B5EF4-FFF2-40B4-BE49-F238E27FC236}">
                <a16:creationId xmlns:a16="http://schemas.microsoft.com/office/drawing/2014/main" id="{4BEFCF26-F58E-4FF3-9A73-066EB3D12F26}"/>
              </a:ext>
            </a:extLst>
          </p:cNvPr>
          <p:cNvSpPr>
            <a:spLocks noGrp="1"/>
          </p:cNvSpPr>
          <p:nvPr/>
        </p:nvSpPr>
        <p:spPr>
          <a:xfrm>
            <a:off x="10437961" y="3532148"/>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90</a:t>
            </a:r>
          </a:p>
        </p:txBody>
      </p:sp>
      <p:sp>
        <p:nvSpPr>
          <p:cNvPr id="10" name="source-diagram-dg6-15">
            <a:extLst>
              <a:ext uri="{FF2B5EF4-FFF2-40B4-BE49-F238E27FC236}">
                <a16:creationId xmlns:a16="http://schemas.microsoft.com/office/drawing/2014/main" id="{968A41B9-F715-42B4-B977-DE1DB392135B}"/>
              </a:ext>
            </a:extLst>
          </p:cNvPr>
          <p:cNvSpPr>
            <a:spLocks noGrp="1"/>
          </p:cNvSpPr>
          <p:nvPr/>
        </p:nvSpPr>
        <p:spPr>
          <a:xfrm>
            <a:off x="8465765" y="4699324"/>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40</a:t>
            </a:r>
          </a:p>
        </p:txBody>
      </p:sp>
      <p:sp>
        <p:nvSpPr>
          <p:cNvPr id="11" name="source-diagram-dg6-16">
            <a:extLst>
              <a:ext uri="{FF2B5EF4-FFF2-40B4-BE49-F238E27FC236}">
                <a16:creationId xmlns:a16="http://schemas.microsoft.com/office/drawing/2014/main" id="{39DC8F62-68EE-41F3-9D31-54F8D26E03B4}"/>
              </a:ext>
            </a:extLst>
          </p:cNvPr>
          <p:cNvSpPr>
            <a:spLocks noGrp="1"/>
          </p:cNvSpPr>
          <p:nvPr/>
        </p:nvSpPr>
        <p:spPr>
          <a:xfrm>
            <a:off x="9679849" y="4688567"/>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60</a:t>
            </a:r>
          </a:p>
        </p:txBody>
      </p:sp>
      <p:sp>
        <p:nvSpPr>
          <p:cNvPr id="12" name="source-diagram-dg6-18">
            <a:extLst>
              <a:ext uri="{FF2B5EF4-FFF2-40B4-BE49-F238E27FC236}">
                <a16:creationId xmlns:a16="http://schemas.microsoft.com/office/drawing/2014/main" id="{6B63FADE-7D3E-43FD-8DF5-2DCD577DF2E5}"/>
              </a:ext>
            </a:extLst>
          </p:cNvPr>
          <p:cNvSpPr>
            <a:spLocks noGrp="1"/>
          </p:cNvSpPr>
          <p:nvPr/>
        </p:nvSpPr>
        <p:spPr>
          <a:xfrm flipH="1">
            <a:off x="8542681" y="2249255"/>
            <a:ext cx="356253" cy="365261"/>
          </a:xfrm>
          <a:prstGeom prst="line">
            <a:avLst/>
          </a:prstGeom>
          <a:solidFill>
            <a:srgbClr val="E5EEF2"/>
          </a:solidFill>
          <a:ln>
            <a:headEnd type="none" w="med" len="med"/>
            <a:tailEnd type="none" w="med" len="med"/>
          </a:ln>
        </p:spPr>
        <p:style>
          <a:lnRef idx="1">
            <a:schemeClr val="dk1"/>
          </a:lnRef>
          <a:fillRef idx="0">
            <a:schemeClr val="dk1"/>
          </a:fillRef>
          <a:effectRef idx="0">
            <a:schemeClr val="dk1"/>
          </a:effectRef>
          <a:fontRef idx="minor">
            <a:schemeClr val="tx1"/>
          </a:fontRef>
        </p:style>
        <p:txBody>
          <a:bodyPr wrap="square" lIns="0" tIns="0" rIns="0" bIns="0" anchor="ctr"/>
          <a:lstStyle/>
          <a:p>
            <a:endParaRPr/>
          </a:p>
        </p:txBody>
      </p:sp>
      <p:sp>
        <p:nvSpPr>
          <p:cNvPr id="13" name="source-diagram-dg6-20">
            <a:extLst>
              <a:ext uri="{FF2B5EF4-FFF2-40B4-BE49-F238E27FC236}">
                <a16:creationId xmlns:a16="http://schemas.microsoft.com/office/drawing/2014/main" id="{21EEF36D-A451-463B-89F5-3F5509C335FD}"/>
              </a:ext>
            </a:extLst>
          </p:cNvPr>
          <p:cNvSpPr>
            <a:spLocks noGrp="1"/>
          </p:cNvSpPr>
          <p:nvPr/>
        </p:nvSpPr>
        <p:spPr>
          <a:xfrm>
            <a:off x="9357454" y="2249255"/>
            <a:ext cx="417358" cy="427275"/>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4" name="source-diagram-dg6-22">
            <a:extLst>
              <a:ext uri="{FF2B5EF4-FFF2-40B4-BE49-F238E27FC236}">
                <a16:creationId xmlns:a16="http://schemas.microsoft.com/office/drawing/2014/main" id="{67262CE6-1316-4445-969E-2735D0ACBE3F}"/>
              </a:ext>
            </a:extLst>
          </p:cNvPr>
          <p:cNvSpPr>
            <a:spLocks noGrp="1"/>
          </p:cNvSpPr>
          <p:nvPr/>
        </p:nvSpPr>
        <p:spPr>
          <a:xfrm flipH="1">
            <a:off x="7848972" y="3158990"/>
            <a:ext cx="387534" cy="403166"/>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5" name="source-diagram-dg6-24">
            <a:extLst>
              <a:ext uri="{FF2B5EF4-FFF2-40B4-BE49-F238E27FC236}">
                <a16:creationId xmlns:a16="http://schemas.microsoft.com/office/drawing/2014/main" id="{DBF1D2AE-7CD6-4B9C-BFFF-68BBE942C0ED}"/>
              </a:ext>
            </a:extLst>
          </p:cNvPr>
          <p:cNvSpPr>
            <a:spLocks noGrp="1"/>
          </p:cNvSpPr>
          <p:nvPr/>
        </p:nvSpPr>
        <p:spPr>
          <a:xfrm flipH="1">
            <a:off x="9355628" y="3158990"/>
            <a:ext cx="419183" cy="403166"/>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6" name="source-diagram-dg6-26">
            <a:extLst>
              <a:ext uri="{FF2B5EF4-FFF2-40B4-BE49-F238E27FC236}">
                <a16:creationId xmlns:a16="http://schemas.microsoft.com/office/drawing/2014/main" id="{4958D6BA-EC86-4526-ADB5-E183E2084064}"/>
              </a:ext>
            </a:extLst>
          </p:cNvPr>
          <p:cNvSpPr>
            <a:spLocks noGrp="1"/>
          </p:cNvSpPr>
          <p:nvPr/>
        </p:nvSpPr>
        <p:spPr>
          <a:xfrm>
            <a:off x="10233331" y="3158990"/>
            <a:ext cx="528852" cy="373157"/>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7" name="source-diagram-dg6-28">
            <a:extLst>
              <a:ext uri="{FF2B5EF4-FFF2-40B4-BE49-F238E27FC236}">
                <a16:creationId xmlns:a16="http://schemas.microsoft.com/office/drawing/2014/main" id="{8EF4E62E-955B-4736-B857-9A3DB5F455A6}"/>
              </a:ext>
            </a:extLst>
          </p:cNvPr>
          <p:cNvSpPr>
            <a:spLocks noGrp="1"/>
          </p:cNvSpPr>
          <p:nvPr/>
        </p:nvSpPr>
        <p:spPr>
          <a:xfrm flipH="1">
            <a:off x="8789988" y="4144537"/>
            <a:ext cx="336380" cy="554787"/>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8" name="source-diagram-dg6-30">
            <a:extLst>
              <a:ext uri="{FF2B5EF4-FFF2-40B4-BE49-F238E27FC236}">
                <a16:creationId xmlns:a16="http://schemas.microsoft.com/office/drawing/2014/main" id="{FCBC95FD-762B-4169-81C9-2628893758EA}"/>
              </a:ext>
            </a:extLst>
          </p:cNvPr>
          <p:cNvSpPr>
            <a:spLocks noGrp="1"/>
          </p:cNvSpPr>
          <p:nvPr/>
        </p:nvSpPr>
        <p:spPr>
          <a:xfrm>
            <a:off x="9584887" y="4144537"/>
            <a:ext cx="419184" cy="544030"/>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Tree>
    <p:extLst>
      <p:ext uri="{BB962C8B-B14F-4D97-AF65-F5344CB8AC3E}">
        <p14:creationId xmlns:p14="http://schemas.microsoft.com/office/powerpoint/2010/main" val="928817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CE6BFF48-7B30-4F81-A95F-7F3DF209803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Full, perfect, complete, and balanced</a:t>
            </a:r>
          </a:p>
        </p:txBody>
      </p:sp>
      <p:sp>
        <p:nvSpPr>
          <p:cNvPr id="2" name="text-1">
            <a:extLst>
              <a:ext uri="{FF2B5EF4-FFF2-40B4-BE49-F238E27FC236}">
                <a16:creationId xmlns:a16="http://schemas.microsoft.com/office/drawing/2014/main" id="{2E1217AD-4A5C-4AC2-9BA9-B3A1A88D2D05}"/>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08</a:t>
            </a:r>
          </a:p>
        </p:txBody>
      </p:sp>
      <p:graphicFrame>
        <p:nvGraphicFramePr>
          <p:cNvPr id="3" name="Table 2">
            <a:extLst>
              <a:ext uri="{FF2B5EF4-FFF2-40B4-BE49-F238E27FC236}">
                <a16:creationId xmlns:a16="http://schemas.microsoft.com/office/drawing/2014/main" id="{67D30198-06C4-4F92-B8D7-1B892D41B261}"/>
              </a:ext>
            </a:extLst>
          </p:cNvPr>
          <p:cNvGraphicFramePr/>
          <p:nvPr/>
        </p:nvGraphicFramePr>
        <p:xfrm>
          <a:off x="609600" y="1524000"/>
          <a:ext cx="10972800" cy="3924300"/>
        </p:xfrm>
        <a:graphic>
          <a:graphicData uri="http://schemas.openxmlformats.org/drawingml/2006/table">
            <a:tbl>
              <a:tblPr/>
              <a:tblGrid>
                <a:gridCol w="2857500">
                  <a:extLst>
                    <a:ext uri="{9D8B030D-6E8A-4147-A177-3AD203B41FA5}">
                      <a16:colId xmlns:a16="http://schemas.microsoft.com/office/drawing/2014/main" val="20000"/>
                    </a:ext>
                  </a:extLst>
                </a:gridCol>
                <a:gridCol w="8115300">
                  <a:extLst>
                    <a:ext uri="{9D8B030D-6E8A-4147-A177-3AD203B41FA5}">
                      <a16:colId xmlns:a16="http://schemas.microsoft.com/office/drawing/2014/main" val="20001"/>
                    </a:ext>
                  </a:extLst>
                </a:gridCol>
              </a:tblGrid>
              <a:tr h="784860">
                <a:tc>
                  <a:txBody>
                    <a:bodyPr/>
                    <a:lstStyle/>
                    <a:p>
                      <a:r>
                        <a:rPr sz="1800" b="1">
                          <a:solidFill>
                            <a:srgbClr val="FFFFFF"/>
                          </a:solidFill>
                          <a:latin typeface="Arial"/>
                          <a:ea typeface="Arial"/>
                          <a:cs typeface="Arial"/>
                        </a:rPr>
                        <a:t>Term</a:t>
                      </a:r>
                    </a:p>
                  </a:txBody>
                  <a:tcPr>
                    <a:lnL w="9525">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tc>
                  <a:txBody>
                    <a:bodyPr/>
                    <a:lstStyle/>
                    <a:p>
                      <a:r>
                        <a:rPr sz="1800" b="1">
                          <a:solidFill>
                            <a:srgbClr val="FFFFFF"/>
                          </a:solidFill>
                          <a:latin typeface="Arial"/>
                          <a:ea typeface="Arial"/>
                          <a:cs typeface="Arial"/>
                        </a:rPr>
                        <a:t>Definition used in this lesson</a:t>
                      </a:r>
                    </a:p>
                  </a:txBody>
                  <a:tcPr>
                    <a:lnL w="9525" cap="flat" cmpd="sng" algn="ctr">
                      <a:solidFill>
                        <a:srgbClr val="D6E1E6"/>
                      </a:solidFill>
                      <a:prstDash val="solid"/>
                      <a:round/>
                      <a:headEnd type="none" w="med" len="med"/>
                      <a:tailEnd type="none" w="med" len="me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extLst>
                  <a:ext uri="{0D108BD9-81ED-4DB2-BD59-A6C34878D82A}">
                    <a16:rowId xmlns:a16="http://schemas.microsoft.com/office/drawing/2014/main" val="10000"/>
                  </a:ext>
                </a:extLst>
              </a:tr>
              <a:tr h="784860">
                <a:tc>
                  <a:txBody>
                    <a:bodyPr/>
                    <a:lstStyle/>
                    <a:p>
                      <a:r>
                        <a:rPr sz="1800" b="0">
                          <a:solidFill>
                            <a:srgbClr val="142E42"/>
                          </a:solidFill>
                          <a:latin typeface="Arial"/>
                          <a:ea typeface="Arial"/>
                          <a:cs typeface="Arial"/>
                        </a:rPr>
                        <a:t>Full (proper)</a:t>
                      </a:r>
                    </a:p>
                  </a:txBody>
                  <a:tcPr>
                    <a:lnL w="9525">
                      <a:solidFill>
                        <a:srgbClr val="D6E1E6"/>
                      </a:solidFill>
                      <a:prstDash val="soli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tc>
                  <a:txBody>
                    <a:bodyPr/>
                    <a:lstStyle/>
                    <a:p>
                      <a:r>
                        <a:rPr sz="1800" b="0">
                          <a:solidFill>
                            <a:srgbClr val="142E42"/>
                          </a:solidFill>
                          <a:latin typeface="Arial"/>
                          <a:ea typeface="Arial"/>
                          <a:cs typeface="Arial"/>
                        </a:rPr>
                        <a:t>Every node has 0 or 2 children</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extLst>
                  <a:ext uri="{0D108BD9-81ED-4DB2-BD59-A6C34878D82A}">
                    <a16:rowId xmlns:a16="http://schemas.microsoft.com/office/drawing/2014/main" val="10001"/>
                  </a:ext>
                </a:extLst>
              </a:tr>
              <a:tr h="784860">
                <a:tc>
                  <a:txBody>
                    <a:bodyPr/>
                    <a:lstStyle/>
                    <a:p>
                      <a:r>
                        <a:rPr sz="1800" b="0">
                          <a:solidFill>
                            <a:srgbClr val="142E42"/>
                          </a:solidFill>
                          <a:latin typeface="Arial"/>
                          <a:ea typeface="Arial"/>
                          <a:cs typeface="Arial"/>
                        </a:rPr>
                        <a:t>Perfect</a:t>
                      </a:r>
                    </a:p>
                  </a:txBody>
                  <a:tcPr>
                    <a:lnL w="9525">
                      <a:solidFill>
                        <a:srgbClr val="D6E1E6"/>
                      </a:solidFill>
                      <a:prstDash val="soli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FFFFFF"/>
                    </a:solidFill>
                  </a:tcPr>
                </a:tc>
                <a:tc>
                  <a:txBody>
                    <a:bodyPr/>
                    <a:lstStyle/>
                    <a:p>
                      <a:r>
                        <a:rPr sz="1800" b="0">
                          <a:solidFill>
                            <a:srgbClr val="142E42"/>
                          </a:solidFill>
                          <a:latin typeface="Arial"/>
                          <a:ea typeface="Arial"/>
                          <a:cs typeface="Arial"/>
                        </a:rPr>
                        <a:t>Full, with all leaves at the same depth</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FFFFFF"/>
                    </a:solidFill>
                  </a:tcPr>
                </a:tc>
                <a:extLst>
                  <a:ext uri="{0D108BD9-81ED-4DB2-BD59-A6C34878D82A}">
                    <a16:rowId xmlns:a16="http://schemas.microsoft.com/office/drawing/2014/main" val="10002"/>
                  </a:ext>
                </a:extLst>
              </a:tr>
              <a:tr h="784860">
                <a:tc>
                  <a:txBody>
                    <a:bodyPr/>
                    <a:lstStyle/>
                    <a:p>
                      <a:r>
                        <a:rPr sz="1800" b="0">
                          <a:solidFill>
                            <a:srgbClr val="142E42"/>
                          </a:solidFill>
                          <a:latin typeface="Arial"/>
                          <a:ea typeface="Arial"/>
                          <a:cs typeface="Arial"/>
                        </a:rPr>
                        <a:t>Complete</a:t>
                      </a:r>
                    </a:p>
                  </a:txBody>
                  <a:tcPr>
                    <a:lnL w="9525">
                      <a:solidFill>
                        <a:srgbClr val="D6E1E6"/>
                      </a:solidFill>
                      <a:prstDash val="soli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tc>
                  <a:txBody>
                    <a:bodyPr/>
                    <a:lstStyle/>
                    <a:p>
                      <a:r>
                        <a:rPr sz="1800" b="0">
                          <a:solidFill>
                            <a:srgbClr val="142E42"/>
                          </a:solidFill>
                          <a:latin typeface="Arial"/>
                          <a:ea typeface="Arial"/>
                          <a:cs typeface="Arial"/>
                        </a:rPr>
                        <a:t>Every level fills, except possibly the last,</a:t>
                      </a:r>
                    </a:p>
                    <a:p>
                      <a:r>
                        <a:rPr sz="1800" b="0">
                          <a:solidFill>
                            <a:srgbClr val="142E42"/>
                          </a:solidFill>
                          <a:latin typeface="Arial"/>
                          <a:ea typeface="Arial"/>
                          <a:cs typeface="Arial"/>
                        </a:rPr>
                        <a:t>which fills from left to right</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extLst>
                  <a:ext uri="{0D108BD9-81ED-4DB2-BD59-A6C34878D82A}">
                    <a16:rowId xmlns:a16="http://schemas.microsoft.com/office/drawing/2014/main" val="10003"/>
                  </a:ext>
                </a:extLst>
              </a:tr>
              <a:tr h="784860">
                <a:tc>
                  <a:txBody>
                    <a:bodyPr/>
                    <a:lstStyle/>
                    <a:p>
                      <a:r>
                        <a:rPr sz="1800" b="0">
                          <a:solidFill>
                            <a:srgbClr val="142E42"/>
                          </a:solidFill>
                          <a:latin typeface="Arial"/>
                          <a:ea typeface="Arial"/>
                          <a:cs typeface="Arial"/>
                        </a:rPr>
                        <a:t>Height-balanced</a:t>
                      </a:r>
                    </a:p>
                  </a:txBody>
                  <a:tcPr>
                    <a:lnL w="9525">
                      <a:solidFill>
                        <a:srgbClr val="D6E1E6"/>
                      </a:solidFill>
                      <a:prstDash val="soli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FFFFFF"/>
                    </a:solidFill>
                  </a:tcPr>
                </a:tc>
                <a:tc>
                  <a:txBody>
                    <a:bodyPr/>
                    <a:lstStyle/>
                    <a:p>
                      <a:r>
                        <a:rPr sz="1800" b="0">
                          <a:solidFill>
                            <a:srgbClr val="142E42"/>
                          </a:solidFill>
                          <a:latin typeface="Arial"/>
                          <a:ea typeface="Arial"/>
                          <a:cs typeface="Arial"/>
                        </a:rPr>
                        <a:t>At every node, subtree heights differ by at most 1</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text-2">
            <a:extLst>
              <a:ext uri="{FF2B5EF4-FFF2-40B4-BE49-F238E27FC236}">
                <a16:creationId xmlns:a16="http://schemas.microsoft.com/office/drawing/2014/main" id="{21A8C81A-FE49-4A70-ABA7-B49832817FD3}"/>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Every perfect tree is complete. Every complete tree is height-balanced.</a:t>
            </a:r>
          </a:p>
        </p:txBody>
      </p:sp>
    </p:spTree>
    <p:extLst>
      <p:ext uri="{BB962C8B-B14F-4D97-AF65-F5344CB8AC3E}">
        <p14:creationId xmlns:p14="http://schemas.microsoft.com/office/powerpoint/2010/main" val="316345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3" name="text-0">
            <a:extLst>
              <a:ext uri="{FF2B5EF4-FFF2-40B4-BE49-F238E27FC236}">
                <a16:creationId xmlns:a16="http://schemas.microsoft.com/office/drawing/2014/main" id="{3DECC6DF-1918-4110-97D5-6148708FA7A1}"/>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The BST ordering rule applies to every descendant</a:t>
            </a:r>
          </a:p>
        </p:txBody>
      </p:sp>
      <p:sp>
        <p:nvSpPr>
          <p:cNvPr id="2" name="text-1">
            <a:extLst>
              <a:ext uri="{FF2B5EF4-FFF2-40B4-BE49-F238E27FC236}">
                <a16:creationId xmlns:a16="http://schemas.microsoft.com/office/drawing/2014/main" id="{A5036237-86D8-4C0C-ADDF-91664B78B817}"/>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09</a:t>
            </a:r>
          </a:p>
        </p:txBody>
      </p:sp>
      <p:sp>
        <p:nvSpPr>
          <p:cNvPr id="3" name="text-2">
            <a:extLst>
              <a:ext uri="{FF2B5EF4-FFF2-40B4-BE49-F238E27FC236}">
                <a16:creationId xmlns:a16="http://schemas.microsoft.com/office/drawing/2014/main" id="{B052586A-C82F-4EA6-94E9-A70DAD571CA4}"/>
              </a:ext>
            </a:extLst>
          </p:cNvPr>
          <p:cNvSpPr>
            <a:spLocks noGrp="1"/>
          </p:cNvSpPr>
          <p:nvPr/>
        </p:nvSpPr>
        <p:spPr>
          <a:xfrm>
            <a:off x="609600" y="1600200"/>
            <a:ext cx="5619750" cy="409575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defRPr sz="2100" b="0">
                <a:solidFill>
                  <a:srgbClr val="142E42"/>
                </a:solidFill>
                <a:latin typeface="Arial"/>
                <a:ea typeface="Arial"/>
                <a:cs typeface="Arial"/>
              </a:defRPr>
            </a:lvl1pPr>
            <a:lvl2pPr algn="l">
              <a:defRPr sz="2100" b="0">
                <a:solidFill>
                  <a:srgbClr val="142E42"/>
                </a:solidFill>
                <a:latin typeface="Arial"/>
                <a:ea typeface="Arial"/>
                <a:cs typeface="Arial"/>
              </a:defRPr>
            </a:lvl2pPr>
            <a:lvl3pPr algn="l">
              <a:defRPr sz="2100" b="0">
                <a:solidFill>
                  <a:srgbClr val="142E42"/>
                </a:solidFill>
                <a:latin typeface="Arial"/>
                <a:ea typeface="Arial"/>
                <a:cs typeface="Arial"/>
              </a:defRPr>
            </a:lvl3pPr>
            <a:lvl4pPr algn="l">
              <a:defRPr sz="2100" b="0">
                <a:solidFill>
                  <a:srgbClr val="142E42"/>
                </a:solidFill>
                <a:latin typeface="Arial"/>
                <a:ea typeface="Arial"/>
                <a:cs typeface="Arial"/>
              </a:defRPr>
            </a:lvl4pPr>
            <a:lvl5pPr algn="l">
              <a:defRPr sz="2100" b="0">
                <a:solidFill>
                  <a:srgbClr val="142E42"/>
                </a:solidFill>
                <a:latin typeface="Arial"/>
                <a:ea typeface="Arial"/>
                <a:cs typeface="Arial"/>
              </a:defRPr>
            </a:lvl5pPr>
            <a:lvl6pPr algn="l">
              <a:defRPr sz="2100" b="0">
                <a:solidFill>
                  <a:srgbClr val="142E42"/>
                </a:solidFill>
                <a:latin typeface="Arial"/>
                <a:ea typeface="Arial"/>
                <a:cs typeface="Arial"/>
              </a:defRPr>
            </a:lvl6pPr>
            <a:lvl7pPr algn="l">
              <a:defRPr sz="2100" b="0">
                <a:solidFill>
                  <a:srgbClr val="142E42"/>
                </a:solidFill>
                <a:latin typeface="Arial"/>
                <a:ea typeface="Arial"/>
                <a:cs typeface="Arial"/>
              </a:defRPr>
            </a:lvl7pPr>
            <a:lvl8pPr algn="l">
              <a:defRPr sz="2100" b="0">
                <a:solidFill>
                  <a:srgbClr val="142E42"/>
                </a:solidFill>
                <a:latin typeface="Arial"/>
                <a:ea typeface="Arial"/>
                <a:cs typeface="Arial"/>
              </a:defRPr>
            </a:lvl8pPr>
            <a:lvl9pPr algn="l">
              <a:defRPr sz="2100" b="0">
                <a:solidFill>
                  <a:srgbClr val="142E42"/>
                </a:solidFill>
                <a:latin typeface="Arial"/>
                <a:ea typeface="Arial"/>
                <a:cs typeface="Arial"/>
              </a:defRPr>
            </a:lvl9pPr>
          </a:lstStyle>
          <a:p>
            <a:pPr algn="l">
              <a:defRPr sz="2100" b="0">
                <a:solidFill>
                  <a:srgbClr val="142E42"/>
                </a:solidFill>
                <a:latin typeface="Arial"/>
                <a:ea typeface="Arial"/>
                <a:cs typeface="Arial"/>
              </a:defRPr>
            </a:pPr>
            <a:r>
              <a:rPr sz="2100" b="0">
                <a:solidFill>
                  <a:srgbClr val="142E42"/>
                </a:solidFill>
                <a:latin typeface="Arial"/>
                <a:ea typeface="Arial"/>
                <a:cs typeface="Arial"/>
              </a:rPr>
              <a:t>At root 12:</a:t>
            </a:r>
          </a:p>
          <a:p>
            <a:pPr algn="l">
              <a:defRPr sz="2100" b="0">
                <a:solidFill>
                  <a:srgbClr val="142E42"/>
                </a:solidFill>
                <a:latin typeface="Arial"/>
                <a:ea typeface="Arial"/>
                <a:cs typeface="Arial"/>
              </a:defRPr>
            </a:pPr>
            <a:r>
              <a:rPr sz="2100" b="0">
                <a:solidFill>
                  <a:srgbClr val="142E42"/>
                </a:solidFill>
                <a:latin typeface="Arial"/>
                <a:ea typeface="Arial"/>
                <a:cs typeface="Arial"/>
              </a:rPr>
              <a:t>all left keys are less than 12,</a:t>
            </a:r>
          </a:p>
          <a:p>
            <a:pPr algn="l">
              <a:defRPr sz="2100" b="0">
                <a:solidFill>
                  <a:srgbClr val="142E42"/>
                </a:solidFill>
                <a:latin typeface="Arial"/>
                <a:ea typeface="Arial"/>
                <a:cs typeface="Arial"/>
              </a:defRPr>
            </a:pPr>
            <a:r>
              <a:rPr sz="2100" b="0">
                <a:solidFill>
                  <a:srgbClr val="142E42"/>
                </a:solidFill>
                <a:latin typeface="Arial"/>
                <a:ea typeface="Arial"/>
                <a:cs typeface="Arial"/>
              </a:rPr>
              <a:t>all right keys are greater than 12.</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At node 15:</a:t>
            </a:r>
          </a:p>
          <a:p>
            <a:pPr algn="l">
              <a:defRPr sz="2100" b="0">
                <a:solidFill>
                  <a:srgbClr val="142E42"/>
                </a:solidFill>
                <a:latin typeface="Arial"/>
                <a:ea typeface="Arial"/>
                <a:cs typeface="Arial"/>
              </a:defRPr>
            </a:pPr>
            <a:r>
              <a:rPr sz="2100" b="0">
                <a:solidFill>
                  <a:srgbClr val="142E42"/>
                </a:solidFill>
                <a:latin typeface="Arial"/>
                <a:ea typeface="Arial"/>
                <a:cs typeface="Arial"/>
              </a:rPr>
              <a:t>all right keys are greater than 15.</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A parent–child check alone</a:t>
            </a:r>
          </a:p>
          <a:p>
            <a:pPr algn="l">
              <a:defRPr sz="2100" b="0">
                <a:solidFill>
                  <a:srgbClr val="142E42"/>
                </a:solidFill>
                <a:latin typeface="Arial"/>
                <a:ea typeface="Arial"/>
                <a:cs typeface="Arial"/>
              </a:defRPr>
            </a:pPr>
            <a:r>
              <a:rPr sz="2100" b="0">
                <a:solidFill>
                  <a:srgbClr val="142E42"/>
                </a:solidFill>
                <a:latin typeface="Arial"/>
                <a:ea typeface="Arial"/>
                <a:cs typeface="Arial"/>
              </a:rPr>
              <a:t>cannot validate a whole BST.</a:t>
            </a:r>
          </a:p>
        </p:txBody>
      </p:sp>
      <p:sp>
        <p:nvSpPr>
          <p:cNvPr id="4" name="source-diagram-dg8-9">
            <a:extLst>
              <a:ext uri="{FF2B5EF4-FFF2-40B4-BE49-F238E27FC236}">
                <a16:creationId xmlns:a16="http://schemas.microsoft.com/office/drawing/2014/main" id="{F62719C6-42B9-4309-881C-F8A52C06A62F}"/>
              </a:ext>
            </a:extLst>
          </p:cNvPr>
          <p:cNvSpPr>
            <a:spLocks noGrp="1"/>
          </p:cNvSpPr>
          <p:nvPr/>
        </p:nvSpPr>
        <p:spPr>
          <a:xfrm>
            <a:off x="9481871" y="3952133"/>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20</a:t>
            </a:r>
          </a:p>
        </p:txBody>
      </p:sp>
      <p:sp>
        <p:nvSpPr>
          <p:cNvPr id="5" name="source-diagram-dg8-10">
            <a:extLst>
              <a:ext uri="{FF2B5EF4-FFF2-40B4-BE49-F238E27FC236}">
                <a16:creationId xmlns:a16="http://schemas.microsoft.com/office/drawing/2014/main" id="{2567BE03-53D1-4EFC-BF61-319BBF18C597}"/>
              </a:ext>
            </a:extLst>
          </p:cNvPr>
          <p:cNvSpPr>
            <a:spLocks noGrp="1"/>
          </p:cNvSpPr>
          <p:nvPr/>
        </p:nvSpPr>
        <p:spPr>
          <a:xfrm>
            <a:off x="8236073" y="3952133"/>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9</a:t>
            </a:r>
          </a:p>
        </p:txBody>
      </p:sp>
      <p:sp>
        <p:nvSpPr>
          <p:cNvPr id="6" name="source-diagram-dg8-11">
            <a:extLst>
              <a:ext uri="{FF2B5EF4-FFF2-40B4-BE49-F238E27FC236}">
                <a16:creationId xmlns:a16="http://schemas.microsoft.com/office/drawing/2014/main" id="{DC55B831-7718-40A3-BA4F-1E8250BCAD60}"/>
              </a:ext>
            </a:extLst>
          </p:cNvPr>
          <p:cNvSpPr>
            <a:spLocks noGrp="1"/>
          </p:cNvSpPr>
          <p:nvPr/>
        </p:nvSpPr>
        <p:spPr>
          <a:xfrm>
            <a:off x="7191375" y="3952133"/>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2</a:t>
            </a:r>
          </a:p>
        </p:txBody>
      </p:sp>
      <p:sp>
        <p:nvSpPr>
          <p:cNvPr id="7" name="source-diagram-dg8-12">
            <a:extLst>
              <a:ext uri="{FF2B5EF4-FFF2-40B4-BE49-F238E27FC236}">
                <a16:creationId xmlns:a16="http://schemas.microsoft.com/office/drawing/2014/main" id="{9EC5A00A-53EB-4E99-B11F-FDF990A628BB}"/>
              </a:ext>
            </a:extLst>
          </p:cNvPr>
          <p:cNvSpPr>
            <a:spLocks noGrp="1"/>
          </p:cNvSpPr>
          <p:nvPr/>
        </p:nvSpPr>
        <p:spPr>
          <a:xfrm>
            <a:off x="8909247" y="2761879"/>
            <a:ext cx="409017" cy="510109"/>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24" b="0">
                <a:solidFill>
                  <a:srgbClr val="FFFFFF"/>
                </a:solidFill>
                <a:latin typeface="Arial"/>
                <a:ea typeface="Arial"/>
                <a:cs typeface="Arial"/>
              </a:rPr>
              <a:t>15</a:t>
            </a:r>
          </a:p>
        </p:txBody>
      </p:sp>
      <p:sp>
        <p:nvSpPr>
          <p:cNvPr id="8" name="source-diagram-dg8-13">
            <a:extLst>
              <a:ext uri="{FF2B5EF4-FFF2-40B4-BE49-F238E27FC236}">
                <a16:creationId xmlns:a16="http://schemas.microsoft.com/office/drawing/2014/main" id="{C2D074B4-8767-47E4-B269-88365596B3CF}"/>
              </a:ext>
            </a:extLst>
          </p:cNvPr>
          <p:cNvSpPr>
            <a:spLocks noGrp="1"/>
          </p:cNvSpPr>
          <p:nvPr/>
        </p:nvSpPr>
        <p:spPr>
          <a:xfrm>
            <a:off x="7663448" y="2761879"/>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5</a:t>
            </a:r>
          </a:p>
        </p:txBody>
      </p:sp>
      <p:sp>
        <p:nvSpPr>
          <p:cNvPr id="9" name="source-diagram-dg8-14">
            <a:extLst>
              <a:ext uri="{FF2B5EF4-FFF2-40B4-BE49-F238E27FC236}">
                <a16:creationId xmlns:a16="http://schemas.microsoft.com/office/drawing/2014/main" id="{D1FE3577-6037-4F40-9DBE-DE9DEBE7D726}"/>
              </a:ext>
            </a:extLst>
          </p:cNvPr>
          <p:cNvSpPr>
            <a:spLocks noGrp="1"/>
          </p:cNvSpPr>
          <p:nvPr/>
        </p:nvSpPr>
        <p:spPr>
          <a:xfrm>
            <a:off x="8254820" y="1571625"/>
            <a:ext cx="409017" cy="510109"/>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24" b="0">
                <a:solidFill>
                  <a:srgbClr val="FFFFFF"/>
                </a:solidFill>
                <a:latin typeface="Arial"/>
                <a:ea typeface="Arial"/>
                <a:cs typeface="Arial"/>
              </a:rPr>
              <a:t>12</a:t>
            </a:r>
          </a:p>
        </p:txBody>
      </p:sp>
      <p:cxnSp>
        <p:nvCxnSpPr>
          <p:cNvPr id="10" name="source-diagram-dg8-15">
            <a:extLst>
              <a:ext uri="{FF2B5EF4-FFF2-40B4-BE49-F238E27FC236}">
                <a16:creationId xmlns:a16="http://schemas.microsoft.com/office/drawing/2014/main" id="{60589BB2-F350-4566-BC09-8D1A466157D8}"/>
              </a:ext>
            </a:extLst>
          </p:cNvPr>
          <p:cNvCxnSpPr/>
          <p:nvPr/>
        </p:nvCxnSpPr>
        <p:spPr>
          <a:xfrm rot="5400000">
            <a:off x="7788711" y="2105864"/>
            <a:ext cx="605255" cy="557181"/>
          </a:xfrm>
          <a:prstGeom prst="straightConnector1">
            <a:avLst/>
          </a:prstGeom>
          <a:ln w="9525">
            <a:solidFill>
              <a:srgbClr val="142E42"/>
            </a:solidFill>
            <a:round/>
            <a:headEnd type="none" w="med" len="med"/>
            <a:tailEnd type="none" w="med" len="med"/>
          </a:ln>
        </p:spPr>
      </p:cxnSp>
      <p:cxnSp>
        <p:nvCxnSpPr>
          <p:cNvPr id="11" name="source-diagram-dg8-16">
            <a:extLst>
              <a:ext uri="{FF2B5EF4-FFF2-40B4-BE49-F238E27FC236}">
                <a16:creationId xmlns:a16="http://schemas.microsoft.com/office/drawing/2014/main" id="{66B10E79-7852-4740-9BBE-4F276FB0045C}"/>
              </a:ext>
            </a:extLst>
          </p:cNvPr>
          <p:cNvCxnSpPr/>
          <p:nvPr/>
        </p:nvCxnSpPr>
        <p:spPr>
          <a:xfrm rot="16200000" flipH="1">
            <a:off x="8556219" y="2066543"/>
            <a:ext cx="605255" cy="635823"/>
          </a:xfrm>
          <a:prstGeom prst="straightConnector1">
            <a:avLst/>
          </a:prstGeom>
          <a:ln w="9525">
            <a:solidFill>
              <a:srgbClr val="142E42"/>
            </a:solidFill>
            <a:round/>
            <a:headEnd type="none" w="med" len="med"/>
            <a:tailEnd type="none" w="med" len="med"/>
          </a:ln>
        </p:spPr>
      </p:cxnSp>
      <p:cxnSp>
        <p:nvCxnSpPr>
          <p:cNvPr id="12" name="source-diagram-dg8-17">
            <a:extLst>
              <a:ext uri="{FF2B5EF4-FFF2-40B4-BE49-F238E27FC236}">
                <a16:creationId xmlns:a16="http://schemas.microsoft.com/office/drawing/2014/main" id="{89E52241-0808-4909-9DBF-95B0F94DD7CF}"/>
              </a:ext>
            </a:extLst>
          </p:cNvPr>
          <p:cNvCxnSpPr/>
          <p:nvPr/>
        </p:nvCxnSpPr>
        <p:spPr>
          <a:xfrm>
            <a:off x="9258617" y="3223103"/>
            <a:ext cx="427763" cy="703525"/>
          </a:xfrm>
          <a:prstGeom prst="straightConnector1">
            <a:avLst/>
          </a:prstGeom>
          <a:ln w="9525">
            <a:solidFill>
              <a:srgbClr val="142E42"/>
            </a:solidFill>
            <a:round/>
            <a:headEnd type="none" w="med" len="med"/>
            <a:tailEnd type="none" w="med" len="med"/>
          </a:ln>
        </p:spPr>
      </p:cxnSp>
      <p:cxnSp>
        <p:nvCxnSpPr>
          <p:cNvPr id="13" name="source-diagram-dg8-18">
            <a:extLst>
              <a:ext uri="{FF2B5EF4-FFF2-40B4-BE49-F238E27FC236}">
                <a16:creationId xmlns:a16="http://schemas.microsoft.com/office/drawing/2014/main" id="{702F64E1-71EC-4460-9689-F2B8E95B82C9}"/>
              </a:ext>
            </a:extLst>
          </p:cNvPr>
          <p:cNvCxnSpPr/>
          <p:nvPr/>
        </p:nvCxnSpPr>
        <p:spPr>
          <a:xfrm rot="5400000">
            <a:off x="7256988" y="3370511"/>
            <a:ext cx="605255" cy="408399"/>
          </a:xfrm>
          <a:prstGeom prst="straightConnector1">
            <a:avLst/>
          </a:prstGeom>
          <a:ln w="9525">
            <a:solidFill>
              <a:srgbClr val="142E42"/>
            </a:solidFill>
            <a:round/>
            <a:headEnd type="none" w="med" len="med"/>
            <a:tailEnd type="none" w="med" len="med"/>
          </a:ln>
        </p:spPr>
      </p:cxnSp>
      <p:cxnSp>
        <p:nvCxnSpPr>
          <p:cNvPr id="14" name="source-diagram-dg8-19">
            <a:extLst>
              <a:ext uri="{FF2B5EF4-FFF2-40B4-BE49-F238E27FC236}">
                <a16:creationId xmlns:a16="http://schemas.microsoft.com/office/drawing/2014/main" id="{28938E44-8607-4975-A1AD-C0B0CF0BF8A4}"/>
              </a:ext>
            </a:extLst>
          </p:cNvPr>
          <p:cNvCxnSpPr/>
          <p:nvPr/>
        </p:nvCxnSpPr>
        <p:spPr>
          <a:xfrm>
            <a:off x="8012818" y="3223103"/>
            <a:ext cx="427763" cy="703525"/>
          </a:xfrm>
          <a:prstGeom prst="straightConnector1">
            <a:avLst/>
          </a:prstGeom>
          <a:ln w="9525">
            <a:solidFill>
              <a:srgbClr val="142E42"/>
            </a:solidFill>
            <a:round/>
            <a:headEnd type="none" w="med" len="med"/>
            <a:tailEnd type="none" w="med" len="med"/>
          </a:ln>
        </p:spPr>
      </p:cxnSp>
      <p:sp>
        <p:nvSpPr>
          <p:cNvPr id="15" name="source-diagram-dg8-20">
            <a:extLst>
              <a:ext uri="{FF2B5EF4-FFF2-40B4-BE49-F238E27FC236}">
                <a16:creationId xmlns:a16="http://schemas.microsoft.com/office/drawing/2014/main" id="{253C63BB-6E59-4FCF-93C5-A2DC9E5CC886}"/>
              </a:ext>
            </a:extLst>
          </p:cNvPr>
          <p:cNvSpPr>
            <a:spLocks noGrp="1"/>
          </p:cNvSpPr>
          <p:nvPr/>
        </p:nvSpPr>
        <p:spPr>
          <a:xfrm>
            <a:off x="9768183" y="5142388"/>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30</a:t>
            </a:r>
          </a:p>
        </p:txBody>
      </p:sp>
      <p:cxnSp>
        <p:nvCxnSpPr>
          <p:cNvPr id="16" name="source-diagram-dg8-21">
            <a:extLst>
              <a:ext uri="{FF2B5EF4-FFF2-40B4-BE49-F238E27FC236}">
                <a16:creationId xmlns:a16="http://schemas.microsoft.com/office/drawing/2014/main" id="{306E18DC-9FBC-4571-8174-2F73D826E30D}"/>
              </a:ext>
            </a:extLst>
          </p:cNvPr>
          <p:cNvCxnSpPr/>
          <p:nvPr/>
        </p:nvCxnSpPr>
        <p:spPr>
          <a:xfrm>
            <a:off x="9831241" y="4413357"/>
            <a:ext cx="141451" cy="703525"/>
          </a:xfrm>
          <a:prstGeom prst="straightConnector1">
            <a:avLst/>
          </a:prstGeom>
          <a:ln w="9525">
            <a:solidFill>
              <a:srgbClr val="142E42"/>
            </a:solidFill>
            <a:round/>
            <a:headEnd type="none" w="med" len="med"/>
            <a:tailEnd type="none" w="med" len="med"/>
          </a:ln>
        </p:spPr>
      </p:cxnSp>
      <p:sp>
        <p:nvSpPr>
          <p:cNvPr id="17" name="source-diagram-dg8-22">
            <a:extLst>
              <a:ext uri="{FF2B5EF4-FFF2-40B4-BE49-F238E27FC236}">
                <a16:creationId xmlns:a16="http://schemas.microsoft.com/office/drawing/2014/main" id="{D8B88EEB-FAE2-4582-BDF1-B4D9F7C88079}"/>
              </a:ext>
            </a:extLst>
          </p:cNvPr>
          <p:cNvSpPr>
            <a:spLocks noGrp="1"/>
          </p:cNvSpPr>
          <p:nvPr/>
        </p:nvSpPr>
        <p:spPr>
          <a:xfrm>
            <a:off x="7949761" y="5142388"/>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7</a:t>
            </a:r>
          </a:p>
        </p:txBody>
      </p:sp>
      <p:cxnSp>
        <p:nvCxnSpPr>
          <p:cNvPr id="18" name="source-diagram-dg8-23">
            <a:extLst>
              <a:ext uri="{FF2B5EF4-FFF2-40B4-BE49-F238E27FC236}">
                <a16:creationId xmlns:a16="http://schemas.microsoft.com/office/drawing/2014/main" id="{D64EA77D-167D-4A0E-BCD7-33DBA0EA3DA4}"/>
              </a:ext>
            </a:extLst>
          </p:cNvPr>
          <p:cNvCxnSpPr/>
          <p:nvPr/>
        </p:nvCxnSpPr>
        <p:spPr>
          <a:xfrm flipH="1">
            <a:off x="8154269" y="4413357"/>
            <a:ext cx="141452" cy="703525"/>
          </a:xfrm>
          <a:prstGeom prst="straightConnector1">
            <a:avLst/>
          </a:prstGeom>
          <a:ln w="9525">
            <a:solidFill>
              <a:srgbClr val="142E42"/>
            </a:solidFill>
            <a:round/>
            <a:headEnd type="none" w="med" len="med"/>
            <a:tailEnd type="none" w="med" len="med"/>
          </a:ln>
        </p:spPr>
      </p:cxnSp>
      <p:sp>
        <p:nvSpPr>
          <p:cNvPr id="19" name="source-diagram-dg8-24">
            <a:extLst>
              <a:ext uri="{FF2B5EF4-FFF2-40B4-BE49-F238E27FC236}">
                <a16:creationId xmlns:a16="http://schemas.microsoft.com/office/drawing/2014/main" id="{9CDD99C4-8213-4398-9DE9-1E7CE9A9C277}"/>
              </a:ext>
            </a:extLst>
          </p:cNvPr>
          <p:cNvSpPr>
            <a:spLocks noGrp="1"/>
          </p:cNvSpPr>
          <p:nvPr/>
        </p:nvSpPr>
        <p:spPr>
          <a:xfrm>
            <a:off x="9195559" y="5131761"/>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17</a:t>
            </a:r>
          </a:p>
        </p:txBody>
      </p:sp>
      <p:cxnSp>
        <p:nvCxnSpPr>
          <p:cNvPr id="20" name="source-diagram-dg8-25">
            <a:extLst>
              <a:ext uri="{FF2B5EF4-FFF2-40B4-BE49-F238E27FC236}">
                <a16:creationId xmlns:a16="http://schemas.microsoft.com/office/drawing/2014/main" id="{7C39D98D-8882-44F9-AB24-81BCBB6D1F63}"/>
              </a:ext>
            </a:extLst>
          </p:cNvPr>
          <p:cNvCxnSpPr/>
          <p:nvPr/>
        </p:nvCxnSpPr>
        <p:spPr>
          <a:xfrm flipH="1">
            <a:off x="9400068" y="4413357"/>
            <a:ext cx="141452" cy="692898"/>
          </a:xfrm>
          <a:prstGeom prst="straightConnector1">
            <a:avLst/>
          </a:prstGeom>
          <a:ln w="9525">
            <a:solidFill>
              <a:srgbClr val="142E42"/>
            </a:solidFill>
            <a:round/>
            <a:headEnd type="none" w="med" len="med"/>
            <a:tailEnd type="none" w="med" len="med"/>
          </a:ln>
        </p:spPr>
      </p:cxnSp>
      <p:sp>
        <p:nvSpPr>
          <p:cNvPr id="21" name="source-diagram-dg8-26">
            <a:extLst>
              <a:ext uri="{FF2B5EF4-FFF2-40B4-BE49-F238E27FC236}">
                <a16:creationId xmlns:a16="http://schemas.microsoft.com/office/drawing/2014/main" id="{99EF9087-4EEF-44CD-80C3-9E7ADE0CAF8A}"/>
              </a:ext>
            </a:extLst>
          </p:cNvPr>
          <p:cNvSpPr>
            <a:spLocks noGrp="1"/>
          </p:cNvSpPr>
          <p:nvPr/>
        </p:nvSpPr>
        <p:spPr>
          <a:xfrm>
            <a:off x="8500230" y="5157266"/>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10</a:t>
            </a:r>
          </a:p>
        </p:txBody>
      </p:sp>
      <p:cxnSp>
        <p:nvCxnSpPr>
          <p:cNvPr id="22" name="source-diagram-dg8-27">
            <a:extLst>
              <a:ext uri="{FF2B5EF4-FFF2-40B4-BE49-F238E27FC236}">
                <a16:creationId xmlns:a16="http://schemas.microsoft.com/office/drawing/2014/main" id="{A7D90149-9114-4625-B9E3-18F6C9489813}"/>
              </a:ext>
            </a:extLst>
          </p:cNvPr>
          <p:cNvCxnSpPr/>
          <p:nvPr/>
        </p:nvCxnSpPr>
        <p:spPr>
          <a:xfrm>
            <a:off x="8563286" y="4428235"/>
            <a:ext cx="141452" cy="703526"/>
          </a:xfrm>
          <a:prstGeom prst="straightConnector1">
            <a:avLst/>
          </a:prstGeom>
          <a:ln w="9525">
            <a:solidFill>
              <a:srgbClr val="142E42"/>
            </a:solidFill>
            <a:round/>
            <a:headEnd type="none" w="med" len="med"/>
            <a:tailEnd type="none" w="med" len="med"/>
          </a:ln>
        </p:spPr>
      </p:cxnSp>
    </p:spTree>
    <p:extLst>
      <p:ext uri="{BB962C8B-B14F-4D97-AF65-F5344CB8AC3E}">
        <p14:creationId xmlns:p14="http://schemas.microsoft.com/office/powerpoint/2010/main" val="1529169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0" name="text-0">
            <a:extLst>
              <a:ext uri="{FF2B5EF4-FFF2-40B4-BE49-F238E27FC236}">
                <a16:creationId xmlns:a16="http://schemas.microsoft.com/office/drawing/2014/main" id="{88CFBA58-822F-4707-AECC-390AF5B946B2}"/>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Checkpoint: which drawing is a valid BST?</a:t>
            </a:r>
          </a:p>
        </p:txBody>
      </p:sp>
      <p:sp>
        <p:nvSpPr>
          <p:cNvPr id="2" name="text-1">
            <a:extLst>
              <a:ext uri="{FF2B5EF4-FFF2-40B4-BE49-F238E27FC236}">
                <a16:creationId xmlns:a16="http://schemas.microsoft.com/office/drawing/2014/main" id="{7C056F94-4483-453A-9E76-01BDD79F5C0D}"/>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10</a:t>
            </a:r>
          </a:p>
        </p:txBody>
      </p:sp>
      <p:sp>
        <p:nvSpPr>
          <p:cNvPr id="3" name="text-2">
            <a:extLst>
              <a:ext uri="{FF2B5EF4-FFF2-40B4-BE49-F238E27FC236}">
                <a16:creationId xmlns:a16="http://schemas.microsoft.com/office/drawing/2014/main" id="{BE40D33E-BDA0-466F-81A0-C68BDDCA9887}"/>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For each node, carry the lower and upper bounds from its ancestors.</a:t>
            </a:r>
          </a:p>
        </p:txBody>
      </p:sp>
      <p:sp>
        <p:nvSpPr>
          <p:cNvPr id="4" name="source-diagram-dg9-16387">
            <a:extLst>
              <a:ext uri="{FF2B5EF4-FFF2-40B4-BE49-F238E27FC236}">
                <a16:creationId xmlns:a16="http://schemas.microsoft.com/office/drawing/2014/main" id="{05DCF3E4-9F19-49B6-A90E-F34069FB405C}"/>
              </a:ext>
            </a:extLst>
          </p:cNvPr>
          <p:cNvSpPr>
            <a:spLocks noGrp="1"/>
          </p:cNvSpPr>
          <p:nvPr/>
        </p:nvSpPr>
        <p:spPr>
          <a:xfrm>
            <a:off x="1157101" y="4189132"/>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3</a:t>
            </a:r>
          </a:p>
        </p:txBody>
      </p:sp>
      <p:sp>
        <p:nvSpPr>
          <p:cNvPr id="5" name="source-diagram-dg9-16388">
            <a:extLst>
              <a:ext uri="{FF2B5EF4-FFF2-40B4-BE49-F238E27FC236}">
                <a16:creationId xmlns:a16="http://schemas.microsoft.com/office/drawing/2014/main" id="{A2A7FEAE-BE9E-4BDC-AF2C-82FF042346AB}"/>
              </a:ext>
            </a:extLst>
          </p:cNvPr>
          <p:cNvSpPr>
            <a:spLocks noGrp="1"/>
          </p:cNvSpPr>
          <p:nvPr/>
        </p:nvSpPr>
        <p:spPr>
          <a:xfrm>
            <a:off x="4141134"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11</a:t>
            </a:r>
          </a:p>
        </p:txBody>
      </p:sp>
      <p:sp>
        <p:nvSpPr>
          <p:cNvPr id="6" name="source-diagram-dg9-16389">
            <a:extLst>
              <a:ext uri="{FF2B5EF4-FFF2-40B4-BE49-F238E27FC236}">
                <a16:creationId xmlns:a16="http://schemas.microsoft.com/office/drawing/2014/main" id="{C4285117-C1D7-4B1E-BC5B-7E3584DF3DB1}"/>
              </a:ext>
            </a:extLst>
          </p:cNvPr>
          <p:cNvSpPr>
            <a:spLocks noGrp="1"/>
          </p:cNvSpPr>
          <p:nvPr/>
        </p:nvSpPr>
        <p:spPr>
          <a:xfrm>
            <a:off x="3056031"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7</a:t>
            </a:r>
          </a:p>
        </p:txBody>
      </p:sp>
      <p:sp>
        <p:nvSpPr>
          <p:cNvPr id="7" name="source-diagram-dg9-16390">
            <a:extLst>
              <a:ext uri="{FF2B5EF4-FFF2-40B4-BE49-F238E27FC236}">
                <a16:creationId xmlns:a16="http://schemas.microsoft.com/office/drawing/2014/main" id="{E4569835-02C5-450F-9C49-AB1A82FA5CC7}"/>
              </a:ext>
            </a:extLst>
          </p:cNvPr>
          <p:cNvSpPr>
            <a:spLocks noGrp="1"/>
          </p:cNvSpPr>
          <p:nvPr/>
        </p:nvSpPr>
        <p:spPr>
          <a:xfrm>
            <a:off x="885825"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1</a:t>
            </a:r>
          </a:p>
        </p:txBody>
      </p:sp>
      <p:sp>
        <p:nvSpPr>
          <p:cNvPr id="8" name="source-diagram-dg9-16391">
            <a:extLst>
              <a:ext uri="{FF2B5EF4-FFF2-40B4-BE49-F238E27FC236}">
                <a16:creationId xmlns:a16="http://schemas.microsoft.com/office/drawing/2014/main" id="{C690F0FE-7D79-4BE1-B5B2-8751986C7B2E}"/>
              </a:ext>
            </a:extLst>
          </p:cNvPr>
          <p:cNvSpPr>
            <a:spLocks noGrp="1"/>
          </p:cNvSpPr>
          <p:nvPr/>
        </p:nvSpPr>
        <p:spPr>
          <a:xfrm>
            <a:off x="3598582" y="2380627"/>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8</a:t>
            </a:r>
          </a:p>
        </p:txBody>
      </p:sp>
      <p:sp>
        <p:nvSpPr>
          <p:cNvPr id="9" name="source-diagram-dg9-16392">
            <a:extLst>
              <a:ext uri="{FF2B5EF4-FFF2-40B4-BE49-F238E27FC236}">
                <a16:creationId xmlns:a16="http://schemas.microsoft.com/office/drawing/2014/main" id="{7E828504-6C4A-44C9-AD3A-3450DAC0FCD2}"/>
              </a:ext>
            </a:extLst>
          </p:cNvPr>
          <p:cNvSpPr>
            <a:spLocks noGrp="1"/>
          </p:cNvSpPr>
          <p:nvPr/>
        </p:nvSpPr>
        <p:spPr>
          <a:xfrm>
            <a:off x="1428376" y="2380627"/>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4</a:t>
            </a:r>
          </a:p>
        </p:txBody>
      </p:sp>
      <p:sp>
        <p:nvSpPr>
          <p:cNvPr id="10" name="source-diagram-dg9-16393">
            <a:extLst>
              <a:ext uri="{FF2B5EF4-FFF2-40B4-BE49-F238E27FC236}">
                <a16:creationId xmlns:a16="http://schemas.microsoft.com/office/drawing/2014/main" id="{B02EE21C-5E11-4B9C-B836-B7B7EA7A10BA}"/>
              </a:ext>
            </a:extLst>
          </p:cNvPr>
          <p:cNvSpPr>
            <a:spLocks noGrp="1"/>
          </p:cNvSpPr>
          <p:nvPr/>
        </p:nvSpPr>
        <p:spPr>
          <a:xfrm>
            <a:off x="2513479" y="1476375"/>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5</a:t>
            </a:r>
          </a:p>
        </p:txBody>
      </p:sp>
      <p:cxnSp>
        <p:nvCxnSpPr>
          <p:cNvPr id="11" name="source-diagram-dg9-16394">
            <a:extLst>
              <a:ext uri="{FF2B5EF4-FFF2-40B4-BE49-F238E27FC236}">
                <a16:creationId xmlns:a16="http://schemas.microsoft.com/office/drawing/2014/main" id="{BE439713-90C0-4D4C-971E-2B8A2B9F81A3}"/>
              </a:ext>
            </a:extLst>
          </p:cNvPr>
          <p:cNvCxnSpPr/>
          <p:nvPr/>
        </p:nvCxnSpPr>
        <p:spPr>
          <a:xfrm flipH="1">
            <a:off x="1622145" y="1826773"/>
            <a:ext cx="947851" cy="534477"/>
          </a:xfrm>
          <a:prstGeom prst="straightConnector1">
            <a:avLst/>
          </a:prstGeom>
          <a:ln w="9525">
            <a:solidFill>
              <a:srgbClr val="142E42"/>
            </a:solidFill>
            <a:round/>
            <a:headEnd type="none" w="med" len="med"/>
            <a:tailEnd type="none" w="med" len="med"/>
          </a:ln>
        </p:spPr>
      </p:cxnSp>
      <p:cxnSp>
        <p:nvCxnSpPr>
          <p:cNvPr id="12" name="source-diagram-dg9-16395">
            <a:extLst>
              <a:ext uri="{FF2B5EF4-FFF2-40B4-BE49-F238E27FC236}">
                <a16:creationId xmlns:a16="http://schemas.microsoft.com/office/drawing/2014/main" id="{4B2125CC-F5A7-457A-92E1-FBAD60A865E5}"/>
              </a:ext>
            </a:extLst>
          </p:cNvPr>
          <p:cNvCxnSpPr/>
          <p:nvPr/>
        </p:nvCxnSpPr>
        <p:spPr>
          <a:xfrm>
            <a:off x="2844501" y="1826773"/>
            <a:ext cx="947850" cy="534477"/>
          </a:xfrm>
          <a:prstGeom prst="straightConnector1">
            <a:avLst/>
          </a:prstGeom>
          <a:ln w="9525">
            <a:solidFill>
              <a:srgbClr val="142E42"/>
            </a:solidFill>
            <a:round/>
            <a:headEnd type="none" w="med" len="med"/>
            <a:tailEnd type="none" w="med" len="med"/>
          </a:ln>
        </p:spPr>
      </p:cxnSp>
      <p:cxnSp>
        <p:nvCxnSpPr>
          <p:cNvPr id="13" name="source-diagram-dg9-16396">
            <a:extLst>
              <a:ext uri="{FF2B5EF4-FFF2-40B4-BE49-F238E27FC236}">
                <a16:creationId xmlns:a16="http://schemas.microsoft.com/office/drawing/2014/main" id="{4294F840-F628-45BF-AFC5-EEB45A523C92}"/>
              </a:ext>
            </a:extLst>
          </p:cNvPr>
          <p:cNvCxnSpPr/>
          <p:nvPr/>
        </p:nvCxnSpPr>
        <p:spPr>
          <a:xfrm flipH="1">
            <a:off x="3249799" y="2731026"/>
            <a:ext cx="405299" cy="534477"/>
          </a:xfrm>
          <a:prstGeom prst="straightConnector1">
            <a:avLst/>
          </a:prstGeom>
          <a:ln w="9525">
            <a:solidFill>
              <a:srgbClr val="142E42"/>
            </a:solidFill>
            <a:round/>
            <a:headEnd type="none" w="med" len="med"/>
            <a:tailEnd type="none" w="med" len="med"/>
          </a:ln>
        </p:spPr>
      </p:cxnSp>
      <p:cxnSp>
        <p:nvCxnSpPr>
          <p:cNvPr id="14" name="source-diagram-dg9-16397">
            <a:extLst>
              <a:ext uri="{FF2B5EF4-FFF2-40B4-BE49-F238E27FC236}">
                <a16:creationId xmlns:a16="http://schemas.microsoft.com/office/drawing/2014/main" id="{C04AF1BC-FEB3-4C5F-819D-BC2AB26EF6FD}"/>
              </a:ext>
            </a:extLst>
          </p:cNvPr>
          <p:cNvCxnSpPr/>
          <p:nvPr/>
        </p:nvCxnSpPr>
        <p:spPr>
          <a:xfrm>
            <a:off x="3929604" y="2731026"/>
            <a:ext cx="405298" cy="534477"/>
          </a:xfrm>
          <a:prstGeom prst="straightConnector1">
            <a:avLst/>
          </a:prstGeom>
          <a:ln w="9525">
            <a:solidFill>
              <a:srgbClr val="142E42"/>
            </a:solidFill>
            <a:round/>
            <a:headEnd type="none" w="med" len="med"/>
            <a:tailEnd type="none" w="med" len="med"/>
          </a:ln>
        </p:spPr>
      </p:cxnSp>
      <p:cxnSp>
        <p:nvCxnSpPr>
          <p:cNvPr id="15" name="source-diagram-dg9-16398">
            <a:extLst>
              <a:ext uri="{FF2B5EF4-FFF2-40B4-BE49-F238E27FC236}">
                <a16:creationId xmlns:a16="http://schemas.microsoft.com/office/drawing/2014/main" id="{8E43660D-F186-4691-BA85-C83AADB858CB}"/>
              </a:ext>
            </a:extLst>
          </p:cNvPr>
          <p:cNvCxnSpPr/>
          <p:nvPr/>
        </p:nvCxnSpPr>
        <p:spPr>
          <a:xfrm flipH="1">
            <a:off x="1079593" y="2731026"/>
            <a:ext cx="405299" cy="534477"/>
          </a:xfrm>
          <a:prstGeom prst="straightConnector1">
            <a:avLst/>
          </a:prstGeom>
          <a:ln w="9525">
            <a:solidFill>
              <a:srgbClr val="142E42"/>
            </a:solidFill>
            <a:round/>
            <a:headEnd type="none" w="med" len="med"/>
            <a:tailEnd type="none" w="med" len="med"/>
          </a:ln>
        </p:spPr>
      </p:cxnSp>
      <p:cxnSp>
        <p:nvCxnSpPr>
          <p:cNvPr id="16" name="source-diagram-dg9-16399">
            <a:extLst>
              <a:ext uri="{FF2B5EF4-FFF2-40B4-BE49-F238E27FC236}">
                <a16:creationId xmlns:a16="http://schemas.microsoft.com/office/drawing/2014/main" id="{965A086D-D8DC-4FAB-9149-C4F65B1A4D52}"/>
              </a:ext>
            </a:extLst>
          </p:cNvPr>
          <p:cNvCxnSpPr/>
          <p:nvPr/>
        </p:nvCxnSpPr>
        <p:spPr>
          <a:xfrm>
            <a:off x="1216846" y="3635278"/>
            <a:ext cx="134023" cy="534477"/>
          </a:xfrm>
          <a:prstGeom prst="straightConnector1">
            <a:avLst/>
          </a:prstGeom>
          <a:ln w="9525">
            <a:solidFill>
              <a:srgbClr val="142E42"/>
            </a:solidFill>
            <a:round/>
            <a:headEnd type="none" w="med" len="med"/>
            <a:tailEnd type="none" w="med" len="med"/>
          </a:ln>
        </p:spPr>
      </p:cxnSp>
      <p:sp>
        <p:nvSpPr>
          <p:cNvPr id="17" name="source-diagram-dg9-15376">
            <a:extLst>
              <a:ext uri="{FF2B5EF4-FFF2-40B4-BE49-F238E27FC236}">
                <a16:creationId xmlns:a16="http://schemas.microsoft.com/office/drawing/2014/main" id="{C2CE23FC-F308-4B39-8290-E61A1A2FC1AB}"/>
              </a:ext>
            </a:extLst>
          </p:cNvPr>
          <p:cNvSpPr>
            <a:spLocks noGrp="1"/>
          </p:cNvSpPr>
          <p:nvPr/>
        </p:nvSpPr>
        <p:spPr>
          <a:xfrm>
            <a:off x="5458759" y="4189132"/>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4</a:t>
            </a:r>
          </a:p>
        </p:txBody>
      </p:sp>
      <p:sp>
        <p:nvSpPr>
          <p:cNvPr id="18" name="source-diagram-dg9-15377">
            <a:extLst>
              <a:ext uri="{FF2B5EF4-FFF2-40B4-BE49-F238E27FC236}">
                <a16:creationId xmlns:a16="http://schemas.microsoft.com/office/drawing/2014/main" id="{D8522FE1-8466-4108-AB74-1AEABDC71505}"/>
              </a:ext>
            </a:extLst>
          </p:cNvPr>
          <p:cNvSpPr>
            <a:spLocks noGrp="1"/>
          </p:cNvSpPr>
          <p:nvPr/>
        </p:nvSpPr>
        <p:spPr>
          <a:xfrm>
            <a:off x="8442792"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18</a:t>
            </a:r>
          </a:p>
        </p:txBody>
      </p:sp>
      <p:sp>
        <p:nvSpPr>
          <p:cNvPr id="19" name="source-diagram-dg9-15378">
            <a:extLst>
              <a:ext uri="{FF2B5EF4-FFF2-40B4-BE49-F238E27FC236}">
                <a16:creationId xmlns:a16="http://schemas.microsoft.com/office/drawing/2014/main" id="{B9B4C003-495C-4563-9881-7A3C8716C283}"/>
              </a:ext>
            </a:extLst>
          </p:cNvPr>
          <p:cNvSpPr>
            <a:spLocks noGrp="1"/>
          </p:cNvSpPr>
          <p:nvPr/>
        </p:nvSpPr>
        <p:spPr>
          <a:xfrm>
            <a:off x="7357689"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10</a:t>
            </a:r>
          </a:p>
        </p:txBody>
      </p:sp>
      <p:sp>
        <p:nvSpPr>
          <p:cNvPr id="20" name="source-diagram-dg9-15379">
            <a:extLst>
              <a:ext uri="{FF2B5EF4-FFF2-40B4-BE49-F238E27FC236}">
                <a16:creationId xmlns:a16="http://schemas.microsoft.com/office/drawing/2014/main" id="{A8ED7D51-27AC-4B9B-A981-E3DC475D5238}"/>
              </a:ext>
            </a:extLst>
          </p:cNvPr>
          <p:cNvSpPr>
            <a:spLocks noGrp="1"/>
          </p:cNvSpPr>
          <p:nvPr/>
        </p:nvSpPr>
        <p:spPr>
          <a:xfrm>
            <a:off x="6272586"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6</a:t>
            </a:r>
          </a:p>
        </p:txBody>
      </p:sp>
      <p:sp>
        <p:nvSpPr>
          <p:cNvPr id="21" name="source-diagram-dg9-15380">
            <a:extLst>
              <a:ext uri="{FF2B5EF4-FFF2-40B4-BE49-F238E27FC236}">
                <a16:creationId xmlns:a16="http://schemas.microsoft.com/office/drawing/2014/main" id="{F05BB9A7-6E49-4849-982D-6A9CDE8AC034}"/>
              </a:ext>
            </a:extLst>
          </p:cNvPr>
          <p:cNvSpPr>
            <a:spLocks noGrp="1"/>
          </p:cNvSpPr>
          <p:nvPr/>
        </p:nvSpPr>
        <p:spPr>
          <a:xfrm>
            <a:off x="5187483"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2</a:t>
            </a:r>
          </a:p>
        </p:txBody>
      </p:sp>
      <p:sp>
        <p:nvSpPr>
          <p:cNvPr id="22" name="source-diagram-dg9-15381">
            <a:extLst>
              <a:ext uri="{FF2B5EF4-FFF2-40B4-BE49-F238E27FC236}">
                <a16:creationId xmlns:a16="http://schemas.microsoft.com/office/drawing/2014/main" id="{8A3B3F99-A152-49E8-B38F-AC5531660BF4}"/>
              </a:ext>
            </a:extLst>
          </p:cNvPr>
          <p:cNvSpPr>
            <a:spLocks noGrp="1"/>
          </p:cNvSpPr>
          <p:nvPr/>
        </p:nvSpPr>
        <p:spPr>
          <a:xfrm>
            <a:off x="7900240" y="2380627"/>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11</a:t>
            </a:r>
          </a:p>
        </p:txBody>
      </p:sp>
      <p:sp>
        <p:nvSpPr>
          <p:cNvPr id="23" name="source-diagram-dg9-15382">
            <a:extLst>
              <a:ext uri="{FF2B5EF4-FFF2-40B4-BE49-F238E27FC236}">
                <a16:creationId xmlns:a16="http://schemas.microsoft.com/office/drawing/2014/main" id="{E6AEDF8E-177F-492C-A5D5-1C85C8226FFE}"/>
              </a:ext>
            </a:extLst>
          </p:cNvPr>
          <p:cNvSpPr>
            <a:spLocks noGrp="1"/>
          </p:cNvSpPr>
          <p:nvPr/>
        </p:nvSpPr>
        <p:spPr>
          <a:xfrm>
            <a:off x="5730035" y="2380627"/>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5</a:t>
            </a:r>
          </a:p>
        </p:txBody>
      </p:sp>
      <p:sp>
        <p:nvSpPr>
          <p:cNvPr id="24" name="source-diagram-dg9-15383">
            <a:extLst>
              <a:ext uri="{FF2B5EF4-FFF2-40B4-BE49-F238E27FC236}">
                <a16:creationId xmlns:a16="http://schemas.microsoft.com/office/drawing/2014/main" id="{797E79B2-5568-42ED-A330-9FD54138172A}"/>
              </a:ext>
            </a:extLst>
          </p:cNvPr>
          <p:cNvSpPr>
            <a:spLocks noGrp="1"/>
          </p:cNvSpPr>
          <p:nvPr/>
        </p:nvSpPr>
        <p:spPr>
          <a:xfrm>
            <a:off x="6815138" y="1476375"/>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8</a:t>
            </a:r>
          </a:p>
        </p:txBody>
      </p:sp>
      <p:cxnSp>
        <p:nvCxnSpPr>
          <p:cNvPr id="25" name="source-diagram-dg9-15384">
            <a:extLst>
              <a:ext uri="{FF2B5EF4-FFF2-40B4-BE49-F238E27FC236}">
                <a16:creationId xmlns:a16="http://schemas.microsoft.com/office/drawing/2014/main" id="{ADA7AC83-F136-4D4E-A210-4860C6417C15}"/>
              </a:ext>
            </a:extLst>
          </p:cNvPr>
          <p:cNvCxnSpPr/>
          <p:nvPr/>
        </p:nvCxnSpPr>
        <p:spPr>
          <a:xfrm flipH="1">
            <a:off x="5923803" y="1826773"/>
            <a:ext cx="947851" cy="534477"/>
          </a:xfrm>
          <a:prstGeom prst="straightConnector1">
            <a:avLst/>
          </a:prstGeom>
          <a:ln w="9525">
            <a:solidFill>
              <a:srgbClr val="142E42"/>
            </a:solidFill>
            <a:round/>
            <a:headEnd type="none" w="med" len="med"/>
            <a:tailEnd type="none" w="med" len="med"/>
          </a:ln>
        </p:spPr>
      </p:cxnSp>
      <p:cxnSp>
        <p:nvCxnSpPr>
          <p:cNvPr id="26" name="source-diagram-dg9-15385">
            <a:extLst>
              <a:ext uri="{FF2B5EF4-FFF2-40B4-BE49-F238E27FC236}">
                <a16:creationId xmlns:a16="http://schemas.microsoft.com/office/drawing/2014/main" id="{C6E35349-3098-45F4-80A6-34F8DF6D95D0}"/>
              </a:ext>
            </a:extLst>
          </p:cNvPr>
          <p:cNvCxnSpPr/>
          <p:nvPr/>
        </p:nvCxnSpPr>
        <p:spPr>
          <a:xfrm>
            <a:off x="7146159" y="1826773"/>
            <a:ext cx="947850" cy="534477"/>
          </a:xfrm>
          <a:prstGeom prst="straightConnector1">
            <a:avLst/>
          </a:prstGeom>
          <a:ln w="9525">
            <a:solidFill>
              <a:srgbClr val="142E42"/>
            </a:solidFill>
            <a:round/>
            <a:headEnd type="none" w="med" len="med"/>
            <a:tailEnd type="none" w="med" len="med"/>
          </a:ln>
        </p:spPr>
      </p:cxnSp>
      <p:cxnSp>
        <p:nvCxnSpPr>
          <p:cNvPr id="27" name="source-diagram-dg9-15386">
            <a:extLst>
              <a:ext uri="{FF2B5EF4-FFF2-40B4-BE49-F238E27FC236}">
                <a16:creationId xmlns:a16="http://schemas.microsoft.com/office/drawing/2014/main" id="{76E68538-7B86-4CEE-BD20-CA68A0AB5EA1}"/>
              </a:ext>
            </a:extLst>
          </p:cNvPr>
          <p:cNvCxnSpPr/>
          <p:nvPr/>
        </p:nvCxnSpPr>
        <p:spPr>
          <a:xfrm flipH="1">
            <a:off x="7551457" y="2731026"/>
            <a:ext cx="405299" cy="534477"/>
          </a:xfrm>
          <a:prstGeom prst="straightConnector1">
            <a:avLst/>
          </a:prstGeom>
          <a:ln w="9525">
            <a:solidFill>
              <a:srgbClr val="142E42"/>
            </a:solidFill>
            <a:round/>
            <a:headEnd type="none" w="med" len="med"/>
            <a:tailEnd type="none" w="med" len="med"/>
          </a:ln>
        </p:spPr>
      </p:cxnSp>
      <p:cxnSp>
        <p:nvCxnSpPr>
          <p:cNvPr id="28" name="source-diagram-dg9-15387">
            <a:extLst>
              <a:ext uri="{FF2B5EF4-FFF2-40B4-BE49-F238E27FC236}">
                <a16:creationId xmlns:a16="http://schemas.microsoft.com/office/drawing/2014/main" id="{FC77E18A-10CF-4ED9-AE49-09183064D4CF}"/>
              </a:ext>
            </a:extLst>
          </p:cNvPr>
          <p:cNvCxnSpPr/>
          <p:nvPr/>
        </p:nvCxnSpPr>
        <p:spPr>
          <a:xfrm>
            <a:off x="8231262" y="2731026"/>
            <a:ext cx="405298" cy="534477"/>
          </a:xfrm>
          <a:prstGeom prst="straightConnector1">
            <a:avLst/>
          </a:prstGeom>
          <a:ln w="9525">
            <a:solidFill>
              <a:srgbClr val="142E42"/>
            </a:solidFill>
            <a:round/>
            <a:headEnd type="none" w="med" len="med"/>
            <a:tailEnd type="none" w="med" len="med"/>
          </a:ln>
        </p:spPr>
      </p:cxnSp>
      <p:cxnSp>
        <p:nvCxnSpPr>
          <p:cNvPr id="29" name="source-diagram-dg9-15388">
            <a:extLst>
              <a:ext uri="{FF2B5EF4-FFF2-40B4-BE49-F238E27FC236}">
                <a16:creationId xmlns:a16="http://schemas.microsoft.com/office/drawing/2014/main" id="{19DDD478-F41E-48C0-9965-B41B52AA1FEA}"/>
              </a:ext>
            </a:extLst>
          </p:cNvPr>
          <p:cNvCxnSpPr/>
          <p:nvPr/>
        </p:nvCxnSpPr>
        <p:spPr>
          <a:xfrm flipH="1">
            <a:off x="5381251" y="2731026"/>
            <a:ext cx="405299" cy="534477"/>
          </a:xfrm>
          <a:prstGeom prst="straightConnector1">
            <a:avLst/>
          </a:prstGeom>
          <a:ln w="9525">
            <a:solidFill>
              <a:srgbClr val="142E42"/>
            </a:solidFill>
            <a:round/>
            <a:headEnd type="none" w="med" len="med"/>
            <a:tailEnd type="none" w="med" len="med"/>
          </a:ln>
        </p:spPr>
      </p:cxnSp>
      <p:cxnSp>
        <p:nvCxnSpPr>
          <p:cNvPr id="30" name="source-diagram-dg9-15389">
            <a:extLst>
              <a:ext uri="{FF2B5EF4-FFF2-40B4-BE49-F238E27FC236}">
                <a16:creationId xmlns:a16="http://schemas.microsoft.com/office/drawing/2014/main" id="{9D3EFC55-87E0-45E4-80A4-E68316519EBC}"/>
              </a:ext>
            </a:extLst>
          </p:cNvPr>
          <p:cNvCxnSpPr/>
          <p:nvPr/>
        </p:nvCxnSpPr>
        <p:spPr>
          <a:xfrm>
            <a:off x="6061056" y="2731026"/>
            <a:ext cx="405298" cy="534477"/>
          </a:xfrm>
          <a:prstGeom prst="straightConnector1">
            <a:avLst/>
          </a:prstGeom>
          <a:ln w="9525">
            <a:solidFill>
              <a:srgbClr val="142E42"/>
            </a:solidFill>
            <a:round/>
            <a:headEnd type="none" w="med" len="med"/>
            <a:tailEnd type="none" w="med" len="med"/>
          </a:ln>
        </p:spPr>
      </p:cxnSp>
      <p:cxnSp>
        <p:nvCxnSpPr>
          <p:cNvPr id="31" name="source-diagram-dg9-15390">
            <a:extLst>
              <a:ext uri="{FF2B5EF4-FFF2-40B4-BE49-F238E27FC236}">
                <a16:creationId xmlns:a16="http://schemas.microsoft.com/office/drawing/2014/main" id="{4F8707D3-9F6A-41B5-8305-672D4312B89A}"/>
              </a:ext>
            </a:extLst>
          </p:cNvPr>
          <p:cNvCxnSpPr/>
          <p:nvPr/>
        </p:nvCxnSpPr>
        <p:spPr>
          <a:xfrm>
            <a:off x="5518505" y="3635278"/>
            <a:ext cx="134023" cy="534477"/>
          </a:xfrm>
          <a:prstGeom prst="straightConnector1">
            <a:avLst/>
          </a:prstGeom>
          <a:ln w="9525">
            <a:solidFill>
              <a:srgbClr val="142E42"/>
            </a:solidFill>
            <a:round/>
            <a:headEnd type="none" w="med" len="med"/>
            <a:tailEnd type="none" w="med" len="med"/>
          </a:ln>
        </p:spPr>
      </p:cxnSp>
      <p:sp>
        <p:nvSpPr>
          <p:cNvPr id="32" name="source-diagram-dg9-15391">
            <a:extLst>
              <a:ext uri="{FF2B5EF4-FFF2-40B4-BE49-F238E27FC236}">
                <a16:creationId xmlns:a16="http://schemas.microsoft.com/office/drawing/2014/main" id="{0DDE5B33-F834-49F0-AB6E-7AADC4C6ECE1}"/>
              </a:ext>
            </a:extLst>
          </p:cNvPr>
          <p:cNvSpPr>
            <a:spLocks noGrp="1"/>
          </p:cNvSpPr>
          <p:nvPr/>
        </p:nvSpPr>
        <p:spPr>
          <a:xfrm>
            <a:off x="8714068" y="4189132"/>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20</a:t>
            </a:r>
          </a:p>
        </p:txBody>
      </p:sp>
      <p:sp>
        <p:nvSpPr>
          <p:cNvPr id="33" name="source-diagram-dg9-15392">
            <a:extLst>
              <a:ext uri="{FF2B5EF4-FFF2-40B4-BE49-F238E27FC236}">
                <a16:creationId xmlns:a16="http://schemas.microsoft.com/office/drawing/2014/main" id="{B76520A3-0066-4E0F-9B51-FEA8D81B6E5F}"/>
              </a:ext>
            </a:extLst>
          </p:cNvPr>
          <p:cNvSpPr>
            <a:spLocks noGrp="1"/>
          </p:cNvSpPr>
          <p:nvPr/>
        </p:nvSpPr>
        <p:spPr>
          <a:xfrm>
            <a:off x="8481546" y="5041713"/>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21</a:t>
            </a:r>
          </a:p>
        </p:txBody>
      </p:sp>
      <p:cxnSp>
        <p:nvCxnSpPr>
          <p:cNvPr id="34" name="source-diagram-dg9-15393">
            <a:extLst>
              <a:ext uri="{FF2B5EF4-FFF2-40B4-BE49-F238E27FC236}">
                <a16:creationId xmlns:a16="http://schemas.microsoft.com/office/drawing/2014/main" id="{A57CAC54-09B2-45BA-91D2-45187185BF4A}"/>
              </a:ext>
            </a:extLst>
          </p:cNvPr>
          <p:cNvCxnSpPr/>
          <p:nvPr/>
        </p:nvCxnSpPr>
        <p:spPr>
          <a:xfrm rot="5400000">
            <a:off x="8559053" y="4692930"/>
            <a:ext cx="465044" cy="232522"/>
          </a:xfrm>
          <a:prstGeom prst="straightConnector1">
            <a:avLst/>
          </a:prstGeom>
          <a:ln w="9525">
            <a:solidFill>
              <a:srgbClr val="142E42"/>
            </a:solidFill>
            <a:round/>
            <a:headEnd type="none" w="med" len="med"/>
            <a:tailEnd type="none" w="med" len="med"/>
          </a:ln>
        </p:spPr>
      </p:cxnSp>
      <p:cxnSp>
        <p:nvCxnSpPr>
          <p:cNvPr id="35" name="source-diagram-dg9-15394">
            <a:extLst>
              <a:ext uri="{FF2B5EF4-FFF2-40B4-BE49-F238E27FC236}">
                <a16:creationId xmlns:a16="http://schemas.microsoft.com/office/drawing/2014/main" id="{F59B8D29-9CC4-4B33-A3F7-AAA8AA739E2D}"/>
              </a:ext>
            </a:extLst>
          </p:cNvPr>
          <p:cNvCxnSpPr/>
          <p:nvPr/>
        </p:nvCxnSpPr>
        <p:spPr>
          <a:xfrm>
            <a:off x="8773813" y="3635278"/>
            <a:ext cx="134023" cy="534477"/>
          </a:xfrm>
          <a:prstGeom prst="straightConnector1">
            <a:avLst/>
          </a:prstGeom>
          <a:ln w="9525">
            <a:solidFill>
              <a:srgbClr val="142E42"/>
            </a:solidFill>
            <a:round/>
            <a:headEnd type="none" w="med" len="med"/>
            <a:tailEnd type="none" w="med" len="med"/>
          </a:ln>
        </p:spPr>
      </p:cxnSp>
      <p:sp>
        <p:nvSpPr>
          <p:cNvPr id="36" name="source-diagram-dg9-15396">
            <a:extLst>
              <a:ext uri="{FF2B5EF4-FFF2-40B4-BE49-F238E27FC236}">
                <a16:creationId xmlns:a16="http://schemas.microsoft.com/office/drawing/2014/main" id="{AA9E3A47-FFFB-43AA-A7EF-32472561E756}"/>
              </a:ext>
            </a:extLst>
          </p:cNvPr>
          <p:cNvSpPr>
            <a:spLocks noGrp="1"/>
          </p:cNvSpPr>
          <p:nvPr/>
        </p:nvSpPr>
        <p:spPr>
          <a:xfrm>
            <a:off x="5728420" y="3286495"/>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7</a:t>
            </a:r>
          </a:p>
        </p:txBody>
      </p:sp>
      <p:cxnSp>
        <p:nvCxnSpPr>
          <p:cNvPr id="37" name="source-diagram-dg9-15397">
            <a:extLst>
              <a:ext uri="{FF2B5EF4-FFF2-40B4-BE49-F238E27FC236}">
                <a16:creationId xmlns:a16="http://schemas.microsoft.com/office/drawing/2014/main" id="{9B40B6FC-C770-4CAE-AA34-AD20724B7B38}"/>
              </a:ext>
            </a:extLst>
          </p:cNvPr>
          <p:cNvCxnSpPr/>
          <p:nvPr/>
        </p:nvCxnSpPr>
        <p:spPr>
          <a:xfrm flipH="1">
            <a:off x="5922189" y="2787541"/>
            <a:ext cx="1614" cy="479577"/>
          </a:xfrm>
          <a:prstGeom prst="straightConnector1">
            <a:avLst/>
          </a:prstGeom>
          <a:ln w="9525">
            <a:solidFill>
              <a:srgbClr val="142E42"/>
            </a:solidFill>
            <a:round/>
            <a:headEnd type="none" w="med" len="med"/>
            <a:tailEnd type="none" w="med" len="med"/>
          </a:ln>
        </p:spPr>
      </p:cxnSp>
      <p:sp>
        <p:nvSpPr>
          <p:cNvPr id="38" name="source-diagram-dg9-15398">
            <a:extLst>
              <a:ext uri="{FF2B5EF4-FFF2-40B4-BE49-F238E27FC236}">
                <a16:creationId xmlns:a16="http://schemas.microsoft.com/office/drawing/2014/main" id="{942C3C4F-0F28-4CFB-9A12-72F49CC93E4B}"/>
              </a:ext>
            </a:extLst>
          </p:cNvPr>
          <p:cNvSpPr>
            <a:spLocks noGrp="1"/>
          </p:cNvSpPr>
          <p:nvPr/>
        </p:nvSpPr>
        <p:spPr>
          <a:xfrm>
            <a:off x="7628965" y="4189132"/>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15</a:t>
            </a:r>
          </a:p>
        </p:txBody>
      </p:sp>
      <p:cxnSp>
        <p:nvCxnSpPr>
          <p:cNvPr id="39" name="source-diagram-dg9-15399">
            <a:extLst>
              <a:ext uri="{FF2B5EF4-FFF2-40B4-BE49-F238E27FC236}">
                <a16:creationId xmlns:a16="http://schemas.microsoft.com/office/drawing/2014/main" id="{41BEC276-53B7-4B70-8FAC-A40C90E86D0E}"/>
              </a:ext>
            </a:extLst>
          </p:cNvPr>
          <p:cNvCxnSpPr/>
          <p:nvPr/>
        </p:nvCxnSpPr>
        <p:spPr>
          <a:xfrm>
            <a:off x="7688710" y="3635278"/>
            <a:ext cx="134023" cy="534477"/>
          </a:xfrm>
          <a:prstGeom prst="straightConnector1">
            <a:avLst/>
          </a:prstGeom>
          <a:ln w="9525">
            <a:solidFill>
              <a:srgbClr val="142E42"/>
            </a:solidFill>
            <a:round/>
            <a:headEnd type="none" w="med" len="med"/>
            <a:tailEnd type="none" w="med" len="med"/>
          </a:ln>
        </p:spPr>
      </p:cxnSp>
    </p:spTree>
    <p:extLst>
      <p:ext uri="{BB962C8B-B14F-4D97-AF65-F5344CB8AC3E}">
        <p14:creationId xmlns:p14="http://schemas.microsoft.com/office/powerpoint/2010/main" val="879591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04166CE0-4F2C-4757-93AB-F1DE7D927965}"/>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A linked representation in Java</a:t>
            </a:r>
          </a:p>
        </p:txBody>
      </p:sp>
      <p:sp>
        <p:nvSpPr>
          <p:cNvPr id="2" name="text-1">
            <a:extLst>
              <a:ext uri="{FF2B5EF4-FFF2-40B4-BE49-F238E27FC236}">
                <a16:creationId xmlns:a16="http://schemas.microsoft.com/office/drawing/2014/main" id="{82E6AADE-3909-4889-921A-AFD1F300D2E7}"/>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11</a:t>
            </a:r>
          </a:p>
        </p:txBody>
      </p:sp>
      <p:sp>
        <p:nvSpPr>
          <p:cNvPr id="3" name="text-2">
            <a:extLst>
              <a:ext uri="{FF2B5EF4-FFF2-40B4-BE49-F238E27FC236}">
                <a16:creationId xmlns:a16="http://schemas.microsoft.com/office/drawing/2014/main" id="{2E86A904-A9F5-4897-9BB0-7BE80DF4546E}"/>
              </a:ext>
            </a:extLst>
          </p:cNvPr>
          <p:cNvSpPr>
            <a:spLocks noGrp="1"/>
          </p:cNvSpPr>
          <p:nvPr/>
        </p:nvSpPr>
        <p:spPr>
          <a:xfrm>
            <a:off x="609600" y="1571625"/>
            <a:ext cx="10858500" cy="4000500"/>
          </a:xfrm>
          <a:prstGeom prst="rect">
            <a:avLst/>
          </a:prstGeom>
          <a:noFill/>
          <a:ln w="0">
            <a:noFill/>
          </a:ln>
        </p:spPr>
        <p:txBody>
          <a:bodyPr lIns="0" tIns="0" rIns="0" bIns="0" anchor="t"/>
          <a:lstStyle>
            <a:defPPr algn="l">
              <a:defRPr sz="2025" b="0">
                <a:solidFill>
                  <a:srgbClr val="142E42"/>
                </a:solidFill>
                <a:latin typeface="Consolas"/>
                <a:ea typeface="Consolas"/>
                <a:cs typeface="Consolas"/>
              </a:defRPr>
            </a:defPPr>
            <a:lvl1pPr algn="l">
              <a:defRPr sz="2025" b="0">
                <a:solidFill>
                  <a:srgbClr val="142E42"/>
                </a:solidFill>
                <a:latin typeface="Consolas"/>
                <a:ea typeface="Consolas"/>
                <a:cs typeface="Consolas"/>
              </a:defRPr>
            </a:lvl1pPr>
            <a:lvl2pPr algn="l">
              <a:defRPr sz="2025" b="0">
                <a:solidFill>
                  <a:srgbClr val="142E42"/>
                </a:solidFill>
                <a:latin typeface="Consolas"/>
                <a:ea typeface="Consolas"/>
                <a:cs typeface="Consolas"/>
              </a:defRPr>
            </a:lvl2pPr>
            <a:lvl3pPr algn="l">
              <a:defRPr sz="2025" b="0">
                <a:solidFill>
                  <a:srgbClr val="142E42"/>
                </a:solidFill>
                <a:latin typeface="Consolas"/>
                <a:ea typeface="Consolas"/>
                <a:cs typeface="Consolas"/>
              </a:defRPr>
            </a:lvl3pPr>
            <a:lvl4pPr algn="l">
              <a:defRPr sz="2025" b="0">
                <a:solidFill>
                  <a:srgbClr val="142E42"/>
                </a:solidFill>
                <a:latin typeface="Consolas"/>
                <a:ea typeface="Consolas"/>
                <a:cs typeface="Consolas"/>
              </a:defRPr>
            </a:lvl4pPr>
            <a:lvl5pPr algn="l">
              <a:defRPr sz="2025" b="0">
                <a:solidFill>
                  <a:srgbClr val="142E42"/>
                </a:solidFill>
                <a:latin typeface="Consolas"/>
                <a:ea typeface="Consolas"/>
                <a:cs typeface="Consolas"/>
              </a:defRPr>
            </a:lvl5pPr>
            <a:lvl6pPr algn="l">
              <a:defRPr sz="2025" b="0">
                <a:solidFill>
                  <a:srgbClr val="142E42"/>
                </a:solidFill>
                <a:latin typeface="Consolas"/>
                <a:ea typeface="Consolas"/>
                <a:cs typeface="Consolas"/>
              </a:defRPr>
            </a:lvl6pPr>
            <a:lvl7pPr algn="l">
              <a:defRPr sz="2025" b="0">
                <a:solidFill>
                  <a:srgbClr val="142E42"/>
                </a:solidFill>
                <a:latin typeface="Consolas"/>
                <a:ea typeface="Consolas"/>
                <a:cs typeface="Consolas"/>
              </a:defRPr>
            </a:lvl7pPr>
            <a:lvl8pPr algn="l">
              <a:defRPr sz="2025" b="0">
                <a:solidFill>
                  <a:srgbClr val="142E42"/>
                </a:solidFill>
                <a:latin typeface="Consolas"/>
                <a:ea typeface="Consolas"/>
                <a:cs typeface="Consolas"/>
              </a:defRPr>
            </a:lvl8pPr>
            <a:lvl9pPr algn="l">
              <a:defRPr sz="2025" b="0">
                <a:solidFill>
                  <a:srgbClr val="142E42"/>
                </a:solidFill>
                <a:latin typeface="Consolas"/>
                <a:ea typeface="Consolas"/>
                <a:cs typeface="Consolas"/>
              </a:defRPr>
            </a:lvl9pPr>
          </a:lstStyle>
          <a:p>
            <a:pPr algn="l">
              <a:defRPr sz="2025" b="0">
                <a:solidFill>
                  <a:srgbClr val="142E42"/>
                </a:solidFill>
                <a:latin typeface="Consolas"/>
                <a:ea typeface="Consolas"/>
                <a:cs typeface="Consolas"/>
              </a:defRPr>
            </a:pPr>
            <a:r>
              <a:rPr sz="2025" b="0">
                <a:solidFill>
                  <a:srgbClr val="142E42"/>
                </a:solidFill>
                <a:latin typeface="Consolas"/>
                <a:ea typeface="Consolas"/>
                <a:cs typeface="Consolas"/>
              </a:rPr>
              <a:t>class Node&lt;E&gt; {</a:t>
            </a:r>
          </a:p>
          <a:p>
            <a:pPr algn="l">
              <a:defRPr sz="2025" b="0">
                <a:solidFill>
                  <a:srgbClr val="142E42"/>
                </a:solidFill>
                <a:latin typeface="Consolas"/>
                <a:ea typeface="Consolas"/>
                <a:cs typeface="Consolas"/>
              </a:defRPr>
            </a:pPr>
            <a:r>
              <a:rPr sz="2025" b="0">
                <a:solidFill>
                  <a:srgbClr val="142E42"/>
                </a:solidFill>
                <a:latin typeface="Consolas"/>
                <a:ea typeface="Consolas"/>
                <a:cs typeface="Consolas"/>
              </a:rPr>
              <a:t>    E key;</a:t>
            </a:r>
          </a:p>
          <a:p>
            <a:pPr algn="l">
              <a:defRPr sz="2025" b="0">
                <a:solidFill>
                  <a:srgbClr val="142E42"/>
                </a:solidFill>
                <a:latin typeface="Consolas"/>
                <a:ea typeface="Consolas"/>
                <a:cs typeface="Consolas"/>
              </a:defRPr>
            </a:pPr>
            <a:r>
              <a:rPr sz="2025" b="0">
                <a:solidFill>
                  <a:srgbClr val="142E42"/>
                </a:solidFill>
                <a:latin typeface="Consolas"/>
                <a:ea typeface="Consolas"/>
                <a:cs typeface="Consolas"/>
              </a:rPr>
              <a:t>    Node&lt;E&gt; left, right;</a:t>
            </a:r>
          </a:p>
          <a:p>
            <a:endParaRPr sz="2025" b="0">
              <a:solidFill>
                <a:srgbClr val="142E42"/>
              </a:solidFill>
              <a:latin typeface="Consolas"/>
              <a:ea typeface="Consolas"/>
              <a:cs typeface="Consolas"/>
            </a:endParaRPr>
          </a:p>
          <a:p>
            <a:pPr algn="l">
              <a:defRPr sz="2025" b="0">
                <a:solidFill>
                  <a:srgbClr val="142E42"/>
                </a:solidFill>
                <a:latin typeface="Consolas"/>
                <a:ea typeface="Consolas"/>
                <a:cs typeface="Consolas"/>
              </a:defRPr>
            </a:pPr>
            <a:r>
              <a:rPr sz="2025" b="0">
                <a:solidFill>
                  <a:srgbClr val="142E42"/>
                </a:solidFill>
                <a:latin typeface="Consolas"/>
                <a:ea typeface="Consolas"/>
                <a:cs typeface="Consolas"/>
              </a:rPr>
              <a:t>    Node(E key) { this.key = key; }</a:t>
            </a:r>
          </a:p>
          <a:p>
            <a:pPr algn="l">
              <a:defRPr sz="2025" b="0">
                <a:solidFill>
                  <a:srgbClr val="142E42"/>
                </a:solidFill>
                <a:latin typeface="Consolas"/>
                <a:ea typeface="Consolas"/>
                <a:cs typeface="Consolas"/>
              </a:defRPr>
            </a:pPr>
            <a:r>
              <a:rPr sz="2025" b="0">
                <a:solidFill>
                  <a:srgbClr val="142E42"/>
                </a:solidFill>
                <a:latin typeface="Consolas"/>
                <a:ea typeface="Consolas"/>
                <a:cs typeface="Consolas"/>
              </a:rPr>
              <a:t>}</a:t>
            </a:r>
          </a:p>
          <a:p>
            <a:endParaRPr sz="2025" b="0">
              <a:solidFill>
                <a:srgbClr val="142E42"/>
              </a:solidFill>
              <a:latin typeface="Consolas"/>
              <a:ea typeface="Consolas"/>
              <a:cs typeface="Consolas"/>
            </a:endParaRPr>
          </a:p>
          <a:p>
            <a:pPr algn="l">
              <a:defRPr sz="2025" b="0">
                <a:solidFill>
                  <a:srgbClr val="142E42"/>
                </a:solidFill>
                <a:latin typeface="Consolas"/>
                <a:ea typeface="Consolas"/>
                <a:cs typeface="Consolas"/>
              </a:defRPr>
            </a:pPr>
            <a:r>
              <a:rPr sz="2025" b="0">
                <a:solidFill>
                  <a:srgbClr val="142E42"/>
                </a:solidFill>
                <a:latin typeface="Consolas"/>
                <a:ea typeface="Consolas"/>
                <a:cs typeface="Consolas"/>
              </a:rPr>
              <a:t>class BST&lt;E extends Comparable&lt;? super E&gt;&gt; {</a:t>
            </a:r>
          </a:p>
          <a:p>
            <a:pPr algn="l">
              <a:defRPr sz="2025" b="0">
                <a:solidFill>
                  <a:srgbClr val="142E42"/>
                </a:solidFill>
                <a:latin typeface="Consolas"/>
                <a:ea typeface="Consolas"/>
                <a:cs typeface="Consolas"/>
              </a:defRPr>
            </a:pPr>
            <a:r>
              <a:rPr sz="2025" b="0">
                <a:solidFill>
                  <a:srgbClr val="142E42"/>
                </a:solidFill>
                <a:latin typeface="Consolas"/>
                <a:ea typeface="Consolas"/>
                <a:cs typeface="Consolas"/>
              </a:rPr>
              <a:t>    private Node&lt;E&gt; root;</a:t>
            </a:r>
          </a:p>
          <a:p>
            <a:pPr algn="l">
              <a:defRPr sz="2025" b="0">
                <a:solidFill>
                  <a:srgbClr val="142E42"/>
                </a:solidFill>
                <a:latin typeface="Consolas"/>
                <a:ea typeface="Consolas"/>
                <a:cs typeface="Consolas"/>
              </a:defRPr>
            </a:pPr>
            <a:r>
              <a:rPr sz="2025" b="0">
                <a:solidFill>
                  <a:srgbClr val="142E42"/>
                </a:solidFill>
                <a:latin typeface="Consolas"/>
                <a:ea typeface="Consolas"/>
                <a:cs typeface="Consolas"/>
              </a:rPr>
              <a:t>    private int size;</a:t>
            </a:r>
          </a:p>
          <a:p>
            <a:pPr algn="l">
              <a:defRPr sz="2025" b="0">
                <a:solidFill>
                  <a:srgbClr val="142E42"/>
                </a:solidFill>
                <a:latin typeface="Consolas"/>
                <a:ea typeface="Consolas"/>
                <a:cs typeface="Consolas"/>
              </a:defRPr>
            </a:pPr>
            <a:r>
              <a:rPr sz="2025" b="0">
                <a:solidFill>
                  <a:srgbClr val="142E42"/>
                </a:solidFill>
                <a:latin typeface="Consolas"/>
                <a:ea typeface="Consolas"/>
                <a:cs typeface="Consolas"/>
              </a:rPr>
              <a:t>    // Methods follow.</a:t>
            </a:r>
          </a:p>
          <a:p>
            <a:pPr algn="l">
              <a:defRPr sz="2025" b="0">
                <a:solidFill>
                  <a:srgbClr val="142E42"/>
                </a:solidFill>
                <a:latin typeface="Consolas"/>
                <a:ea typeface="Consolas"/>
                <a:cs typeface="Consolas"/>
              </a:defRPr>
            </a:pPr>
            <a:r>
              <a:rPr sz="2025" b="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F77258C3-D891-4D84-A950-0148CC785E88}"/>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A missing child uses null. The tree stores a root reference and a size.</a:t>
            </a:r>
          </a:p>
        </p:txBody>
      </p:sp>
    </p:spTree>
    <p:extLst>
      <p:ext uri="{BB962C8B-B14F-4D97-AF65-F5344CB8AC3E}">
        <p14:creationId xmlns:p14="http://schemas.microsoft.com/office/powerpoint/2010/main" val="783138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34662D4B-6E32-49D3-A345-143F811B9C85}"/>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The Tree interface and BST implementation</a:t>
            </a:r>
          </a:p>
        </p:txBody>
      </p:sp>
      <p:sp>
        <p:nvSpPr>
          <p:cNvPr id="2" name="text-1">
            <a:extLst>
              <a:ext uri="{FF2B5EF4-FFF2-40B4-BE49-F238E27FC236}">
                <a16:creationId xmlns:a16="http://schemas.microsoft.com/office/drawing/2014/main" id="{55559249-3EB4-4E3D-B701-050F9DB34037}"/>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12</a:t>
            </a:r>
          </a:p>
        </p:txBody>
      </p:sp>
      <p:sp>
        <p:nvSpPr>
          <p:cNvPr id="3" name="text-2">
            <a:extLst>
              <a:ext uri="{FF2B5EF4-FFF2-40B4-BE49-F238E27FC236}">
                <a16:creationId xmlns:a16="http://schemas.microsoft.com/office/drawing/2014/main" id="{51FD83D8-0A49-4494-9F6B-7092B15BBF9D}"/>
              </a:ext>
            </a:extLst>
          </p:cNvPr>
          <p:cNvSpPr>
            <a:spLocks noGrp="1"/>
          </p:cNvSpPr>
          <p:nvPr/>
        </p:nvSpPr>
        <p:spPr>
          <a:xfrm>
            <a:off x="609600" y="1571625"/>
            <a:ext cx="10858500" cy="2381250"/>
          </a:xfrm>
          <a:prstGeom prst="rect">
            <a:avLst/>
          </a:prstGeom>
          <a:noFill/>
          <a:ln w="0">
            <a:noFill/>
          </a:ln>
        </p:spPr>
        <p:txBody>
          <a:bodyPr lIns="0" tIns="0" rIns="0" bIns="0" anchor="t"/>
          <a:lstStyle>
            <a:defPPr algn="l">
              <a:defRPr sz="2175" b="0">
                <a:solidFill>
                  <a:srgbClr val="142E42"/>
                </a:solidFill>
                <a:latin typeface="Consolas"/>
                <a:ea typeface="Consolas"/>
                <a:cs typeface="Consolas"/>
              </a:defRPr>
            </a:defPPr>
            <a:lvl1pPr algn="l">
              <a:defRPr sz="2175" b="0">
                <a:solidFill>
                  <a:srgbClr val="142E42"/>
                </a:solidFill>
                <a:latin typeface="Consolas"/>
                <a:ea typeface="Consolas"/>
                <a:cs typeface="Consolas"/>
              </a:defRPr>
            </a:lvl1pPr>
            <a:lvl2pPr algn="l">
              <a:defRPr sz="2175" b="0">
                <a:solidFill>
                  <a:srgbClr val="142E42"/>
                </a:solidFill>
                <a:latin typeface="Consolas"/>
                <a:ea typeface="Consolas"/>
                <a:cs typeface="Consolas"/>
              </a:defRPr>
            </a:lvl2pPr>
            <a:lvl3pPr algn="l">
              <a:defRPr sz="2175" b="0">
                <a:solidFill>
                  <a:srgbClr val="142E42"/>
                </a:solidFill>
                <a:latin typeface="Consolas"/>
                <a:ea typeface="Consolas"/>
                <a:cs typeface="Consolas"/>
              </a:defRPr>
            </a:lvl3pPr>
            <a:lvl4pPr algn="l">
              <a:defRPr sz="2175" b="0">
                <a:solidFill>
                  <a:srgbClr val="142E42"/>
                </a:solidFill>
                <a:latin typeface="Consolas"/>
                <a:ea typeface="Consolas"/>
                <a:cs typeface="Consolas"/>
              </a:defRPr>
            </a:lvl4pPr>
            <a:lvl5pPr algn="l">
              <a:defRPr sz="2175" b="0">
                <a:solidFill>
                  <a:srgbClr val="142E42"/>
                </a:solidFill>
                <a:latin typeface="Consolas"/>
                <a:ea typeface="Consolas"/>
                <a:cs typeface="Consolas"/>
              </a:defRPr>
            </a:lvl5pPr>
            <a:lvl6pPr algn="l">
              <a:defRPr sz="2175" b="0">
                <a:solidFill>
                  <a:srgbClr val="142E42"/>
                </a:solidFill>
                <a:latin typeface="Consolas"/>
                <a:ea typeface="Consolas"/>
                <a:cs typeface="Consolas"/>
              </a:defRPr>
            </a:lvl6pPr>
            <a:lvl7pPr algn="l">
              <a:defRPr sz="2175" b="0">
                <a:solidFill>
                  <a:srgbClr val="142E42"/>
                </a:solidFill>
                <a:latin typeface="Consolas"/>
                <a:ea typeface="Consolas"/>
                <a:cs typeface="Consolas"/>
              </a:defRPr>
            </a:lvl7pPr>
            <a:lvl8pPr algn="l">
              <a:defRPr sz="2175" b="0">
                <a:solidFill>
                  <a:srgbClr val="142E42"/>
                </a:solidFill>
                <a:latin typeface="Consolas"/>
                <a:ea typeface="Consolas"/>
                <a:cs typeface="Consolas"/>
              </a:defRPr>
            </a:lvl8pPr>
            <a:lvl9pPr algn="l">
              <a:defRPr sz="2175" b="0">
                <a:solidFill>
                  <a:srgbClr val="142E42"/>
                </a:solidFill>
                <a:latin typeface="Consolas"/>
                <a:ea typeface="Consolas"/>
                <a:cs typeface="Consolas"/>
              </a:defRPr>
            </a:lvl9pPr>
          </a:lstStyle>
          <a:p>
            <a:pPr algn="l">
              <a:defRPr sz="2175" b="0">
                <a:solidFill>
                  <a:srgbClr val="142E42"/>
                </a:solidFill>
                <a:latin typeface="Consolas"/>
                <a:ea typeface="Consolas"/>
                <a:cs typeface="Consolas"/>
              </a:defRPr>
            </a:pPr>
            <a:r>
              <a:rPr sz="2175" b="0">
                <a:solidFill>
                  <a:srgbClr val="142E42"/>
                </a:solidFill>
                <a:latin typeface="Consolas"/>
                <a:ea typeface="Consolas"/>
                <a:cs typeface="Consolas"/>
              </a:rPr>
              <a:t>interface Tree&lt;E&gt; extends Iterable&lt;E&gt; {</a:t>
            </a:r>
          </a:p>
          <a:p>
            <a:pPr algn="l">
              <a:defRPr sz="2175" b="0">
                <a:solidFill>
                  <a:srgbClr val="142E42"/>
                </a:solidFill>
                <a:latin typeface="Consolas"/>
                <a:ea typeface="Consolas"/>
                <a:cs typeface="Consolas"/>
              </a:defRPr>
            </a:pPr>
            <a:r>
              <a:rPr sz="2175" b="0">
                <a:solidFill>
                  <a:srgbClr val="142E42"/>
                </a:solidFill>
                <a:latin typeface="Consolas"/>
                <a:ea typeface="Consolas"/>
                <a:cs typeface="Consolas"/>
              </a:rPr>
              <a:t>    boolean contains(E key);</a:t>
            </a:r>
          </a:p>
          <a:p>
            <a:pPr algn="l">
              <a:defRPr sz="2175" b="0">
                <a:solidFill>
                  <a:srgbClr val="142E42"/>
                </a:solidFill>
                <a:latin typeface="Consolas"/>
                <a:ea typeface="Consolas"/>
                <a:cs typeface="Consolas"/>
              </a:defRPr>
            </a:pPr>
            <a:r>
              <a:rPr sz="2175" b="0">
                <a:solidFill>
                  <a:srgbClr val="142E42"/>
                </a:solidFill>
                <a:latin typeface="Consolas"/>
                <a:ea typeface="Consolas"/>
                <a:cs typeface="Consolas"/>
              </a:rPr>
              <a:t>    boolean insert(E key);</a:t>
            </a:r>
          </a:p>
          <a:p>
            <a:pPr algn="l">
              <a:defRPr sz="2175" b="0">
                <a:solidFill>
                  <a:srgbClr val="142E42"/>
                </a:solidFill>
                <a:latin typeface="Consolas"/>
                <a:ea typeface="Consolas"/>
                <a:cs typeface="Consolas"/>
              </a:defRPr>
            </a:pPr>
            <a:r>
              <a:rPr sz="2175" b="0">
                <a:solidFill>
                  <a:srgbClr val="142E42"/>
                </a:solidFill>
                <a:latin typeface="Consolas"/>
                <a:ea typeface="Consolas"/>
                <a:cs typeface="Consolas"/>
              </a:rPr>
              <a:t>    boolean delete(E key);</a:t>
            </a:r>
          </a:p>
          <a:p>
            <a:pPr algn="l">
              <a:defRPr sz="2175" b="0">
                <a:solidFill>
                  <a:srgbClr val="142E42"/>
                </a:solidFill>
                <a:latin typeface="Consolas"/>
                <a:ea typeface="Consolas"/>
                <a:cs typeface="Consolas"/>
              </a:defRPr>
            </a:pPr>
            <a:r>
              <a:rPr sz="2175" b="0">
                <a:solidFill>
                  <a:srgbClr val="142E42"/>
                </a:solidFill>
                <a:latin typeface="Consolas"/>
                <a:ea typeface="Consolas"/>
                <a:cs typeface="Consolas"/>
              </a:rPr>
              <a:t>    int size();</a:t>
            </a:r>
          </a:p>
          <a:p>
            <a:pPr algn="l">
              <a:defRPr sz="2175" b="0">
                <a:solidFill>
                  <a:srgbClr val="142E42"/>
                </a:solidFill>
                <a:latin typeface="Consolas"/>
                <a:ea typeface="Consolas"/>
                <a:cs typeface="Consolas"/>
              </a:defRPr>
            </a:pPr>
            <a:r>
              <a:rPr sz="2175" b="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B468EB03-EFEF-4B81-AEF1-677352E50AD4}"/>
              </a:ext>
            </a:extLst>
          </p:cNvPr>
          <p:cNvSpPr>
            <a:spLocks noGrp="1"/>
          </p:cNvSpPr>
          <p:nvPr/>
        </p:nvSpPr>
        <p:spPr>
          <a:xfrm>
            <a:off x="609600" y="4333875"/>
            <a:ext cx="10668000" cy="133350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defRPr sz="2100" b="0">
                <a:solidFill>
                  <a:srgbClr val="142E42"/>
                </a:solidFill>
                <a:latin typeface="Arial"/>
                <a:ea typeface="Arial"/>
                <a:cs typeface="Arial"/>
              </a:defRPr>
            </a:lvl1pPr>
            <a:lvl2pPr algn="l">
              <a:defRPr sz="2100" b="0">
                <a:solidFill>
                  <a:srgbClr val="142E42"/>
                </a:solidFill>
                <a:latin typeface="Arial"/>
                <a:ea typeface="Arial"/>
                <a:cs typeface="Arial"/>
              </a:defRPr>
            </a:lvl2pPr>
            <a:lvl3pPr algn="l">
              <a:defRPr sz="2100" b="0">
                <a:solidFill>
                  <a:srgbClr val="142E42"/>
                </a:solidFill>
                <a:latin typeface="Arial"/>
                <a:ea typeface="Arial"/>
                <a:cs typeface="Arial"/>
              </a:defRPr>
            </a:lvl3pPr>
            <a:lvl4pPr algn="l">
              <a:defRPr sz="2100" b="0">
                <a:solidFill>
                  <a:srgbClr val="142E42"/>
                </a:solidFill>
                <a:latin typeface="Arial"/>
                <a:ea typeface="Arial"/>
                <a:cs typeface="Arial"/>
              </a:defRPr>
            </a:lvl4pPr>
            <a:lvl5pPr algn="l">
              <a:defRPr sz="2100" b="0">
                <a:solidFill>
                  <a:srgbClr val="142E42"/>
                </a:solidFill>
                <a:latin typeface="Arial"/>
                <a:ea typeface="Arial"/>
                <a:cs typeface="Arial"/>
              </a:defRPr>
            </a:lvl5pPr>
            <a:lvl6pPr algn="l">
              <a:defRPr sz="2100" b="0">
                <a:solidFill>
                  <a:srgbClr val="142E42"/>
                </a:solidFill>
                <a:latin typeface="Arial"/>
                <a:ea typeface="Arial"/>
                <a:cs typeface="Arial"/>
              </a:defRPr>
            </a:lvl6pPr>
            <a:lvl7pPr algn="l">
              <a:defRPr sz="2100" b="0">
                <a:solidFill>
                  <a:srgbClr val="142E42"/>
                </a:solidFill>
                <a:latin typeface="Arial"/>
                <a:ea typeface="Arial"/>
                <a:cs typeface="Arial"/>
              </a:defRPr>
            </a:lvl7pPr>
            <a:lvl8pPr algn="l">
              <a:defRPr sz="2100" b="0">
                <a:solidFill>
                  <a:srgbClr val="142E42"/>
                </a:solidFill>
                <a:latin typeface="Arial"/>
                <a:ea typeface="Arial"/>
                <a:cs typeface="Arial"/>
              </a:defRPr>
            </a:lvl8pPr>
            <a:lvl9pPr algn="l">
              <a:defRPr sz="2100" b="0">
                <a:solidFill>
                  <a:srgbClr val="142E42"/>
                </a:solidFill>
                <a:latin typeface="Arial"/>
                <a:ea typeface="Arial"/>
                <a:cs typeface="Arial"/>
              </a:defRPr>
            </a:lvl9pPr>
          </a:lstStyle>
          <a:p>
            <a:pPr algn="l">
              <a:defRPr sz="2100" b="0">
                <a:solidFill>
                  <a:srgbClr val="142E42"/>
                </a:solidFill>
                <a:latin typeface="Arial"/>
                <a:ea typeface="Arial"/>
                <a:cs typeface="Arial"/>
              </a:defRPr>
            </a:pPr>
            <a:r>
              <a:rPr sz="2100" b="0">
                <a:solidFill>
                  <a:srgbClr val="142E42"/>
                </a:solidFill>
                <a:latin typeface="Arial"/>
                <a:ea typeface="Arial"/>
                <a:cs typeface="Arial"/>
              </a:rPr>
              <a:t>BST&lt;E&gt; implements Tree&lt;E&gt;.</a:t>
            </a:r>
          </a:p>
          <a:p>
            <a:pPr algn="l">
              <a:defRPr sz="2100" b="0">
                <a:solidFill>
                  <a:srgbClr val="142E42"/>
                </a:solidFill>
                <a:latin typeface="Arial"/>
                <a:ea typeface="Arial"/>
                <a:cs typeface="Arial"/>
              </a:defRPr>
            </a:pPr>
            <a:r>
              <a:rPr sz="2100" b="0">
                <a:solidFill>
                  <a:srgbClr val="142E42"/>
                </a:solidFill>
                <a:latin typeface="Arial"/>
                <a:ea typeface="Arial"/>
                <a:cs typeface="Arial"/>
              </a:rPr>
              <a:t>insert returns false for a duplicate key.</a:t>
            </a:r>
          </a:p>
          <a:p>
            <a:pPr algn="l">
              <a:defRPr sz="2100" b="0">
                <a:solidFill>
                  <a:srgbClr val="142E42"/>
                </a:solidFill>
                <a:latin typeface="Arial"/>
                <a:ea typeface="Arial"/>
                <a:cs typeface="Arial"/>
              </a:defRPr>
            </a:pPr>
            <a:r>
              <a:rPr sz="2100" b="0">
                <a:solidFill>
                  <a:srgbClr val="142E42"/>
                </a:solidFill>
                <a:latin typeface="Arial"/>
                <a:ea typeface="Arial"/>
                <a:cs typeface="Arial"/>
              </a:rPr>
              <a:t>delete returns false when the key is absent.</a:t>
            </a:r>
          </a:p>
        </p:txBody>
      </p:sp>
      <p:sp>
        <p:nvSpPr>
          <p:cNvPr id="5" name="text-4">
            <a:extLst>
              <a:ext uri="{FF2B5EF4-FFF2-40B4-BE49-F238E27FC236}">
                <a16:creationId xmlns:a16="http://schemas.microsoft.com/office/drawing/2014/main" id="{2BF933E3-3AA1-4139-A5E4-75CDE6DADF5D}"/>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Use compareTo consistently for less than, greater than, and equality.</a:t>
            </a:r>
          </a:p>
        </p:txBody>
      </p:sp>
    </p:spTree>
    <p:extLst>
      <p:ext uri="{BB962C8B-B14F-4D97-AF65-F5344CB8AC3E}">
        <p14:creationId xmlns:p14="http://schemas.microsoft.com/office/powerpoint/2010/main" val="342007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3" name="text-0">
            <a:extLst>
              <a:ext uri="{FF2B5EF4-FFF2-40B4-BE49-F238E27FC236}">
                <a16:creationId xmlns:a16="http://schemas.microsoft.com/office/drawing/2014/main" id="{833EEB59-153F-45AD-8D7A-77D3695BD7B5}"/>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Search follows one path</a:t>
            </a:r>
          </a:p>
        </p:txBody>
      </p:sp>
      <p:sp>
        <p:nvSpPr>
          <p:cNvPr id="2" name="text-1">
            <a:extLst>
              <a:ext uri="{FF2B5EF4-FFF2-40B4-BE49-F238E27FC236}">
                <a16:creationId xmlns:a16="http://schemas.microsoft.com/office/drawing/2014/main" id="{3C6BE83A-5DAF-463B-849D-40A2E430A651}"/>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13</a:t>
            </a:r>
          </a:p>
        </p:txBody>
      </p:sp>
      <p:sp>
        <p:nvSpPr>
          <p:cNvPr id="3" name="text-2">
            <a:extLst>
              <a:ext uri="{FF2B5EF4-FFF2-40B4-BE49-F238E27FC236}">
                <a16:creationId xmlns:a16="http://schemas.microsoft.com/office/drawing/2014/main" id="{65A20190-B2E4-4D68-8E61-9A446D2DAFCB}"/>
              </a:ext>
            </a:extLst>
          </p:cNvPr>
          <p:cNvSpPr>
            <a:spLocks noGrp="1"/>
          </p:cNvSpPr>
          <p:nvPr/>
        </p:nvSpPr>
        <p:spPr>
          <a:xfrm>
            <a:off x="609600" y="1571625"/>
            <a:ext cx="5334000" cy="4095750"/>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defRPr sz="2175" b="0">
                <a:solidFill>
                  <a:srgbClr val="142E42"/>
                </a:solidFill>
                <a:latin typeface="Arial"/>
                <a:ea typeface="Arial"/>
                <a:cs typeface="Arial"/>
              </a:defRPr>
            </a:lvl1pPr>
            <a:lvl2pPr algn="l">
              <a:defRPr sz="2175" b="0">
                <a:solidFill>
                  <a:srgbClr val="142E42"/>
                </a:solidFill>
                <a:latin typeface="Arial"/>
                <a:ea typeface="Arial"/>
                <a:cs typeface="Arial"/>
              </a:defRPr>
            </a:lvl2pPr>
            <a:lvl3pPr algn="l">
              <a:defRPr sz="2175" b="0">
                <a:solidFill>
                  <a:srgbClr val="142E42"/>
                </a:solidFill>
                <a:latin typeface="Arial"/>
                <a:ea typeface="Arial"/>
                <a:cs typeface="Arial"/>
              </a:defRPr>
            </a:lvl3pPr>
            <a:lvl4pPr algn="l">
              <a:defRPr sz="2175" b="0">
                <a:solidFill>
                  <a:srgbClr val="142E42"/>
                </a:solidFill>
                <a:latin typeface="Arial"/>
                <a:ea typeface="Arial"/>
                <a:cs typeface="Arial"/>
              </a:defRPr>
            </a:lvl4pPr>
            <a:lvl5pPr algn="l">
              <a:defRPr sz="2175" b="0">
                <a:solidFill>
                  <a:srgbClr val="142E42"/>
                </a:solidFill>
                <a:latin typeface="Arial"/>
                <a:ea typeface="Arial"/>
                <a:cs typeface="Arial"/>
              </a:defRPr>
            </a:lvl5pPr>
            <a:lvl6pPr algn="l">
              <a:defRPr sz="2175" b="0">
                <a:solidFill>
                  <a:srgbClr val="142E42"/>
                </a:solidFill>
                <a:latin typeface="Arial"/>
                <a:ea typeface="Arial"/>
                <a:cs typeface="Arial"/>
              </a:defRPr>
            </a:lvl6pPr>
            <a:lvl7pPr algn="l">
              <a:defRPr sz="2175" b="0">
                <a:solidFill>
                  <a:srgbClr val="142E42"/>
                </a:solidFill>
                <a:latin typeface="Arial"/>
                <a:ea typeface="Arial"/>
                <a:cs typeface="Arial"/>
              </a:defRPr>
            </a:lvl7pPr>
            <a:lvl8pPr algn="l">
              <a:defRPr sz="2175" b="0">
                <a:solidFill>
                  <a:srgbClr val="142E42"/>
                </a:solidFill>
                <a:latin typeface="Arial"/>
                <a:ea typeface="Arial"/>
                <a:cs typeface="Arial"/>
              </a:defRPr>
            </a:lvl8pPr>
            <a:lvl9pPr algn="l">
              <a:defRPr sz="2175" b="0">
                <a:solidFill>
                  <a:srgbClr val="142E42"/>
                </a:solidFill>
                <a:latin typeface="Arial"/>
                <a:ea typeface="Arial"/>
                <a:cs typeface="Arial"/>
              </a:defRPr>
            </a:lvl9pPr>
          </a:lstStyle>
          <a:p>
            <a:pPr algn="l">
              <a:defRPr sz="2175" b="0">
                <a:solidFill>
                  <a:srgbClr val="142E42"/>
                </a:solidFill>
                <a:latin typeface="Arial"/>
                <a:ea typeface="Arial"/>
                <a:cs typeface="Arial"/>
              </a:defRPr>
            </a:pPr>
            <a:r>
              <a:rPr sz="2175" b="0">
                <a:solidFill>
                  <a:srgbClr val="142E42"/>
                </a:solidFill>
                <a:latin typeface="Arial"/>
                <a:ea typeface="Arial"/>
                <a:cs typeface="Arial"/>
              </a:rPr>
              <a:t>Search for 10</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10 &lt; 12: go left.</a:t>
            </a:r>
          </a:p>
          <a:p>
            <a:pPr algn="l">
              <a:defRPr sz="2175" b="0">
                <a:solidFill>
                  <a:srgbClr val="142E42"/>
                </a:solidFill>
                <a:latin typeface="Arial"/>
                <a:ea typeface="Arial"/>
                <a:cs typeface="Arial"/>
              </a:defRPr>
            </a:pPr>
            <a:r>
              <a:rPr sz="2175" b="0">
                <a:solidFill>
                  <a:srgbClr val="142E42"/>
                </a:solidFill>
                <a:latin typeface="Arial"/>
                <a:ea typeface="Arial"/>
                <a:cs typeface="Arial"/>
              </a:rPr>
              <a:t>10 &gt; 5: go right.</a:t>
            </a:r>
          </a:p>
          <a:p>
            <a:pPr algn="l">
              <a:defRPr sz="2175" b="0">
                <a:solidFill>
                  <a:srgbClr val="142E42"/>
                </a:solidFill>
                <a:latin typeface="Arial"/>
                <a:ea typeface="Arial"/>
                <a:cs typeface="Arial"/>
              </a:defRPr>
            </a:pPr>
            <a:r>
              <a:rPr sz="2175" b="0">
                <a:solidFill>
                  <a:srgbClr val="142E42"/>
                </a:solidFill>
                <a:latin typeface="Arial"/>
                <a:ea typeface="Arial"/>
                <a:cs typeface="Arial"/>
              </a:rPr>
              <a:t>10 &gt; 9: go right.</a:t>
            </a:r>
          </a:p>
          <a:p>
            <a:pPr algn="l">
              <a:defRPr sz="2175" b="0">
                <a:solidFill>
                  <a:srgbClr val="142E42"/>
                </a:solidFill>
                <a:latin typeface="Arial"/>
                <a:ea typeface="Arial"/>
                <a:cs typeface="Arial"/>
              </a:defRPr>
            </a:pPr>
            <a:r>
              <a:rPr sz="2175" b="0">
                <a:solidFill>
                  <a:srgbClr val="142E42"/>
                </a:solidFill>
                <a:latin typeface="Arial"/>
                <a:ea typeface="Arial"/>
                <a:cs typeface="Arial"/>
              </a:rPr>
              <a:t>10 = 10: found.</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A null child ends an</a:t>
            </a:r>
          </a:p>
          <a:p>
            <a:pPr algn="l">
              <a:defRPr sz="2175" b="0">
                <a:solidFill>
                  <a:srgbClr val="142E42"/>
                </a:solidFill>
                <a:latin typeface="Arial"/>
                <a:ea typeface="Arial"/>
                <a:cs typeface="Arial"/>
              </a:defRPr>
            </a:pPr>
            <a:r>
              <a:rPr sz="2175" b="0">
                <a:solidFill>
                  <a:srgbClr val="142E42"/>
                </a:solidFill>
                <a:latin typeface="Arial"/>
                <a:ea typeface="Arial"/>
                <a:cs typeface="Arial"/>
              </a:rPr>
              <a:t>unsuccessful search.</a:t>
            </a:r>
          </a:p>
        </p:txBody>
      </p:sp>
      <p:sp>
        <p:nvSpPr>
          <p:cNvPr id="4" name="source-diagram-dg12-9">
            <a:extLst>
              <a:ext uri="{FF2B5EF4-FFF2-40B4-BE49-F238E27FC236}">
                <a16:creationId xmlns:a16="http://schemas.microsoft.com/office/drawing/2014/main" id="{F62719C6-42B9-4309-881C-F8A52C06A62F}"/>
              </a:ext>
            </a:extLst>
          </p:cNvPr>
          <p:cNvSpPr>
            <a:spLocks noGrp="1"/>
          </p:cNvSpPr>
          <p:nvPr/>
        </p:nvSpPr>
        <p:spPr>
          <a:xfrm>
            <a:off x="9460880" y="3960763"/>
            <a:ext cx="413773" cy="516040"/>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38" b="0">
                <a:solidFill>
                  <a:srgbClr val="142E42"/>
                </a:solidFill>
                <a:latin typeface="Arial"/>
                <a:ea typeface="Arial"/>
                <a:cs typeface="Arial"/>
              </a:rPr>
              <a:t>20</a:t>
            </a:r>
          </a:p>
        </p:txBody>
      </p:sp>
      <p:sp>
        <p:nvSpPr>
          <p:cNvPr id="5" name="source-diagram-dg12-10">
            <a:extLst>
              <a:ext uri="{FF2B5EF4-FFF2-40B4-BE49-F238E27FC236}">
                <a16:creationId xmlns:a16="http://schemas.microsoft.com/office/drawing/2014/main" id="{2567BE03-53D1-4EFC-BF61-319BBF18C597}"/>
              </a:ext>
            </a:extLst>
          </p:cNvPr>
          <p:cNvSpPr>
            <a:spLocks noGrp="1"/>
          </p:cNvSpPr>
          <p:nvPr/>
        </p:nvSpPr>
        <p:spPr>
          <a:xfrm>
            <a:off x="8200595" y="3960763"/>
            <a:ext cx="413773" cy="516040"/>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38" b="0">
                <a:solidFill>
                  <a:srgbClr val="FFFFFF"/>
                </a:solidFill>
                <a:latin typeface="Arial"/>
                <a:ea typeface="Arial"/>
                <a:cs typeface="Arial"/>
              </a:rPr>
              <a:t>9</a:t>
            </a:r>
          </a:p>
        </p:txBody>
      </p:sp>
      <p:sp>
        <p:nvSpPr>
          <p:cNvPr id="6" name="source-diagram-dg12-11">
            <a:extLst>
              <a:ext uri="{FF2B5EF4-FFF2-40B4-BE49-F238E27FC236}">
                <a16:creationId xmlns:a16="http://schemas.microsoft.com/office/drawing/2014/main" id="{DC55B831-7718-40A3-BA4F-1E8250BCAD60}"/>
              </a:ext>
            </a:extLst>
          </p:cNvPr>
          <p:cNvSpPr>
            <a:spLocks noGrp="1"/>
          </p:cNvSpPr>
          <p:nvPr/>
        </p:nvSpPr>
        <p:spPr>
          <a:xfrm>
            <a:off x="7143750" y="3960763"/>
            <a:ext cx="413773" cy="516040"/>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38" b="0">
                <a:solidFill>
                  <a:srgbClr val="142E42"/>
                </a:solidFill>
                <a:latin typeface="Arial"/>
                <a:ea typeface="Arial"/>
                <a:cs typeface="Arial"/>
              </a:rPr>
              <a:t>2</a:t>
            </a:r>
          </a:p>
        </p:txBody>
      </p:sp>
      <p:sp>
        <p:nvSpPr>
          <p:cNvPr id="7" name="source-diagram-dg12-12">
            <a:extLst>
              <a:ext uri="{FF2B5EF4-FFF2-40B4-BE49-F238E27FC236}">
                <a16:creationId xmlns:a16="http://schemas.microsoft.com/office/drawing/2014/main" id="{9EC5A00A-53EB-4E99-B11F-FDF990A628BB}"/>
              </a:ext>
            </a:extLst>
          </p:cNvPr>
          <p:cNvSpPr>
            <a:spLocks noGrp="1"/>
          </p:cNvSpPr>
          <p:nvPr/>
        </p:nvSpPr>
        <p:spPr>
          <a:xfrm>
            <a:off x="8881597" y="2756669"/>
            <a:ext cx="413773" cy="516040"/>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38" b="0">
                <a:solidFill>
                  <a:srgbClr val="142E42"/>
                </a:solidFill>
                <a:latin typeface="Arial"/>
                <a:ea typeface="Arial"/>
                <a:cs typeface="Arial"/>
              </a:rPr>
              <a:t>15</a:t>
            </a:r>
          </a:p>
        </p:txBody>
      </p:sp>
      <p:sp>
        <p:nvSpPr>
          <p:cNvPr id="8" name="source-diagram-dg12-13">
            <a:extLst>
              <a:ext uri="{FF2B5EF4-FFF2-40B4-BE49-F238E27FC236}">
                <a16:creationId xmlns:a16="http://schemas.microsoft.com/office/drawing/2014/main" id="{C2D074B4-8767-47E4-B269-88365596B3CF}"/>
              </a:ext>
            </a:extLst>
          </p:cNvPr>
          <p:cNvSpPr>
            <a:spLocks noGrp="1"/>
          </p:cNvSpPr>
          <p:nvPr/>
        </p:nvSpPr>
        <p:spPr>
          <a:xfrm>
            <a:off x="7621313" y="2756669"/>
            <a:ext cx="413773" cy="516040"/>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38" b="0">
                <a:solidFill>
                  <a:srgbClr val="FFFFFF"/>
                </a:solidFill>
                <a:latin typeface="Arial"/>
                <a:ea typeface="Arial"/>
                <a:cs typeface="Arial"/>
              </a:rPr>
              <a:t>5</a:t>
            </a:r>
          </a:p>
        </p:txBody>
      </p:sp>
      <p:sp>
        <p:nvSpPr>
          <p:cNvPr id="9" name="source-diagram-dg12-14">
            <a:extLst>
              <a:ext uri="{FF2B5EF4-FFF2-40B4-BE49-F238E27FC236}">
                <a16:creationId xmlns:a16="http://schemas.microsoft.com/office/drawing/2014/main" id="{D1FE3577-6037-4F40-9DBE-DE9DEBE7D726}"/>
              </a:ext>
            </a:extLst>
          </p:cNvPr>
          <p:cNvSpPr>
            <a:spLocks noGrp="1"/>
          </p:cNvSpPr>
          <p:nvPr/>
        </p:nvSpPr>
        <p:spPr>
          <a:xfrm>
            <a:off x="8219560" y="1552575"/>
            <a:ext cx="413773" cy="516040"/>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38" b="0">
                <a:solidFill>
                  <a:srgbClr val="FFFFFF"/>
                </a:solidFill>
                <a:latin typeface="Arial"/>
                <a:ea typeface="Arial"/>
                <a:cs typeface="Arial"/>
              </a:rPr>
              <a:t>12</a:t>
            </a:r>
          </a:p>
        </p:txBody>
      </p:sp>
      <p:cxnSp>
        <p:nvCxnSpPr>
          <p:cNvPr id="10" name="source-diagram-dg12-15">
            <a:extLst>
              <a:ext uri="{FF2B5EF4-FFF2-40B4-BE49-F238E27FC236}">
                <a16:creationId xmlns:a16="http://schemas.microsoft.com/office/drawing/2014/main" id="{60589BB2-F350-4566-BC09-8D1A466157D8}"/>
              </a:ext>
            </a:extLst>
          </p:cNvPr>
          <p:cNvCxnSpPr/>
          <p:nvPr/>
        </p:nvCxnSpPr>
        <p:spPr>
          <a:xfrm rot="5400000">
            <a:off x="7748032" y="2093026"/>
            <a:ext cx="612293" cy="563660"/>
          </a:xfrm>
          <a:prstGeom prst="straightConnector1">
            <a:avLst/>
          </a:prstGeom>
          <a:ln w="9525">
            <a:solidFill>
              <a:srgbClr val="142E42"/>
            </a:solidFill>
            <a:round/>
            <a:headEnd type="none" w="med" len="med"/>
            <a:tailEnd type="none" w="med" len="med"/>
          </a:ln>
        </p:spPr>
      </p:cxnSp>
      <p:cxnSp>
        <p:nvCxnSpPr>
          <p:cNvPr id="11" name="source-diagram-dg12-16">
            <a:extLst>
              <a:ext uri="{FF2B5EF4-FFF2-40B4-BE49-F238E27FC236}">
                <a16:creationId xmlns:a16="http://schemas.microsoft.com/office/drawing/2014/main" id="{66B10E79-7852-4740-9BBE-4F276FB0045C}"/>
              </a:ext>
            </a:extLst>
          </p:cNvPr>
          <p:cNvCxnSpPr/>
          <p:nvPr/>
        </p:nvCxnSpPr>
        <p:spPr>
          <a:xfrm rot="16200000" flipH="1">
            <a:off x="8524464" y="2053248"/>
            <a:ext cx="612293" cy="643216"/>
          </a:xfrm>
          <a:prstGeom prst="straightConnector1">
            <a:avLst/>
          </a:prstGeom>
          <a:ln w="9525">
            <a:solidFill>
              <a:srgbClr val="142E42"/>
            </a:solidFill>
            <a:round/>
            <a:headEnd type="none" w="med" len="med"/>
            <a:tailEnd type="none" w="med" len="med"/>
          </a:ln>
        </p:spPr>
      </p:cxnSp>
      <p:cxnSp>
        <p:nvCxnSpPr>
          <p:cNvPr id="12" name="source-diagram-dg12-17">
            <a:extLst>
              <a:ext uri="{FF2B5EF4-FFF2-40B4-BE49-F238E27FC236}">
                <a16:creationId xmlns:a16="http://schemas.microsoft.com/office/drawing/2014/main" id="{89E52241-0808-4909-9DBF-95B0F94DD7CF}"/>
              </a:ext>
            </a:extLst>
          </p:cNvPr>
          <p:cNvCxnSpPr/>
          <p:nvPr/>
        </p:nvCxnSpPr>
        <p:spPr>
          <a:xfrm>
            <a:off x="9235029" y="3223257"/>
            <a:ext cx="432737" cy="711705"/>
          </a:xfrm>
          <a:prstGeom prst="straightConnector1">
            <a:avLst/>
          </a:prstGeom>
          <a:ln w="9525">
            <a:solidFill>
              <a:srgbClr val="142E42"/>
            </a:solidFill>
            <a:round/>
            <a:headEnd type="none" w="med" len="med"/>
            <a:tailEnd type="none" w="med" len="med"/>
          </a:ln>
        </p:spPr>
      </p:cxnSp>
      <p:cxnSp>
        <p:nvCxnSpPr>
          <p:cNvPr id="13" name="source-diagram-dg12-18">
            <a:extLst>
              <a:ext uri="{FF2B5EF4-FFF2-40B4-BE49-F238E27FC236}">
                <a16:creationId xmlns:a16="http://schemas.microsoft.com/office/drawing/2014/main" id="{702F64E1-71EC-4460-9689-F2B8E95B82C9}"/>
              </a:ext>
            </a:extLst>
          </p:cNvPr>
          <p:cNvCxnSpPr/>
          <p:nvPr/>
        </p:nvCxnSpPr>
        <p:spPr>
          <a:xfrm rot="5400000">
            <a:off x="7210126" y="3372378"/>
            <a:ext cx="612293" cy="413148"/>
          </a:xfrm>
          <a:prstGeom prst="straightConnector1">
            <a:avLst/>
          </a:prstGeom>
          <a:ln w="9525">
            <a:solidFill>
              <a:srgbClr val="142E42"/>
            </a:solidFill>
            <a:round/>
            <a:headEnd type="none" w="med" len="med"/>
            <a:tailEnd type="none" w="med" len="med"/>
          </a:ln>
        </p:spPr>
      </p:cxnSp>
      <p:cxnSp>
        <p:nvCxnSpPr>
          <p:cNvPr id="14" name="source-diagram-dg12-19">
            <a:extLst>
              <a:ext uri="{FF2B5EF4-FFF2-40B4-BE49-F238E27FC236}">
                <a16:creationId xmlns:a16="http://schemas.microsoft.com/office/drawing/2014/main" id="{28938E44-8607-4975-A1AD-C0B0CF0BF8A4}"/>
              </a:ext>
            </a:extLst>
          </p:cNvPr>
          <p:cNvCxnSpPr/>
          <p:nvPr/>
        </p:nvCxnSpPr>
        <p:spPr>
          <a:xfrm>
            <a:off x="7974745" y="3223257"/>
            <a:ext cx="432737" cy="711705"/>
          </a:xfrm>
          <a:prstGeom prst="straightConnector1">
            <a:avLst/>
          </a:prstGeom>
          <a:ln w="9525">
            <a:solidFill>
              <a:srgbClr val="142E42"/>
            </a:solidFill>
            <a:round/>
            <a:headEnd type="none" w="med" len="med"/>
            <a:tailEnd type="none" w="med" len="med"/>
          </a:ln>
        </p:spPr>
      </p:cxnSp>
      <p:sp>
        <p:nvSpPr>
          <p:cNvPr id="15" name="source-diagram-dg12-20">
            <a:extLst>
              <a:ext uri="{FF2B5EF4-FFF2-40B4-BE49-F238E27FC236}">
                <a16:creationId xmlns:a16="http://schemas.microsoft.com/office/drawing/2014/main" id="{253C63BB-6E59-4FCF-93C5-A2DC9E5CC886}"/>
              </a:ext>
            </a:extLst>
          </p:cNvPr>
          <p:cNvSpPr>
            <a:spLocks noGrp="1"/>
          </p:cNvSpPr>
          <p:nvPr/>
        </p:nvSpPr>
        <p:spPr>
          <a:xfrm>
            <a:off x="9750521" y="5164859"/>
            <a:ext cx="413773" cy="516040"/>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38" b="0">
                <a:solidFill>
                  <a:srgbClr val="142E42"/>
                </a:solidFill>
                <a:latin typeface="Arial"/>
                <a:ea typeface="Arial"/>
                <a:cs typeface="Arial"/>
              </a:rPr>
              <a:t>30</a:t>
            </a:r>
          </a:p>
        </p:txBody>
      </p:sp>
      <p:cxnSp>
        <p:nvCxnSpPr>
          <p:cNvPr id="16" name="source-diagram-dg12-21">
            <a:extLst>
              <a:ext uri="{FF2B5EF4-FFF2-40B4-BE49-F238E27FC236}">
                <a16:creationId xmlns:a16="http://schemas.microsoft.com/office/drawing/2014/main" id="{306E18DC-9FBC-4571-8174-2F73D826E30D}"/>
              </a:ext>
            </a:extLst>
          </p:cNvPr>
          <p:cNvCxnSpPr/>
          <p:nvPr/>
        </p:nvCxnSpPr>
        <p:spPr>
          <a:xfrm>
            <a:off x="9814312" y="4427351"/>
            <a:ext cx="143096" cy="711705"/>
          </a:xfrm>
          <a:prstGeom prst="straightConnector1">
            <a:avLst/>
          </a:prstGeom>
          <a:ln w="9525">
            <a:solidFill>
              <a:srgbClr val="142E42"/>
            </a:solidFill>
            <a:round/>
            <a:headEnd type="none" w="med" len="med"/>
            <a:tailEnd type="none" w="med" len="med"/>
          </a:ln>
        </p:spPr>
      </p:cxnSp>
      <p:sp>
        <p:nvSpPr>
          <p:cNvPr id="17" name="source-diagram-dg12-22">
            <a:extLst>
              <a:ext uri="{FF2B5EF4-FFF2-40B4-BE49-F238E27FC236}">
                <a16:creationId xmlns:a16="http://schemas.microsoft.com/office/drawing/2014/main" id="{D8B88EEB-FAE2-4582-BDF1-B4D9F7C88079}"/>
              </a:ext>
            </a:extLst>
          </p:cNvPr>
          <p:cNvSpPr>
            <a:spLocks noGrp="1"/>
          </p:cNvSpPr>
          <p:nvPr/>
        </p:nvSpPr>
        <p:spPr>
          <a:xfrm>
            <a:off x="7910954" y="5164859"/>
            <a:ext cx="413773" cy="516040"/>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38" b="0">
                <a:solidFill>
                  <a:srgbClr val="142E42"/>
                </a:solidFill>
                <a:latin typeface="Arial"/>
                <a:ea typeface="Arial"/>
                <a:cs typeface="Arial"/>
              </a:rPr>
              <a:t>7</a:t>
            </a:r>
          </a:p>
        </p:txBody>
      </p:sp>
      <p:cxnSp>
        <p:nvCxnSpPr>
          <p:cNvPr id="18" name="source-diagram-dg12-23">
            <a:extLst>
              <a:ext uri="{FF2B5EF4-FFF2-40B4-BE49-F238E27FC236}">
                <a16:creationId xmlns:a16="http://schemas.microsoft.com/office/drawing/2014/main" id="{D64EA77D-167D-4A0E-BCD7-33DBA0EA3DA4}"/>
              </a:ext>
            </a:extLst>
          </p:cNvPr>
          <p:cNvCxnSpPr/>
          <p:nvPr/>
        </p:nvCxnSpPr>
        <p:spPr>
          <a:xfrm flipH="1">
            <a:off x="8117841" y="4427351"/>
            <a:ext cx="143097" cy="711705"/>
          </a:xfrm>
          <a:prstGeom prst="straightConnector1">
            <a:avLst/>
          </a:prstGeom>
          <a:ln w="9525">
            <a:solidFill>
              <a:srgbClr val="142E42"/>
            </a:solidFill>
            <a:round/>
            <a:headEnd type="none" w="med" len="med"/>
            <a:tailEnd type="none" w="med" len="med"/>
          </a:ln>
        </p:spPr>
      </p:cxnSp>
      <p:sp>
        <p:nvSpPr>
          <p:cNvPr id="19" name="source-diagram-dg12-24">
            <a:extLst>
              <a:ext uri="{FF2B5EF4-FFF2-40B4-BE49-F238E27FC236}">
                <a16:creationId xmlns:a16="http://schemas.microsoft.com/office/drawing/2014/main" id="{9CDD99C4-8213-4398-9DE9-1E7CE9A9C277}"/>
              </a:ext>
            </a:extLst>
          </p:cNvPr>
          <p:cNvSpPr>
            <a:spLocks noGrp="1"/>
          </p:cNvSpPr>
          <p:nvPr/>
        </p:nvSpPr>
        <p:spPr>
          <a:xfrm>
            <a:off x="9171239" y="5154108"/>
            <a:ext cx="413773" cy="516040"/>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38" b="0">
                <a:solidFill>
                  <a:srgbClr val="142E42"/>
                </a:solidFill>
                <a:latin typeface="Arial"/>
                <a:ea typeface="Arial"/>
                <a:cs typeface="Arial"/>
              </a:rPr>
              <a:t>17</a:t>
            </a:r>
          </a:p>
        </p:txBody>
      </p:sp>
      <p:cxnSp>
        <p:nvCxnSpPr>
          <p:cNvPr id="20" name="source-diagram-dg12-25">
            <a:extLst>
              <a:ext uri="{FF2B5EF4-FFF2-40B4-BE49-F238E27FC236}">
                <a16:creationId xmlns:a16="http://schemas.microsoft.com/office/drawing/2014/main" id="{7C39D98D-8882-44F9-AB24-81BCBB6D1F63}"/>
              </a:ext>
            </a:extLst>
          </p:cNvPr>
          <p:cNvCxnSpPr/>
          <p:nvPr/>
        </p:nvCxnSpPr>
        <p:spPr>
          <a:xfrm flipH="1">
            <a:off x="9378125" y="4427351"/>
            <a:ext cx="143097" cy="700955"/>
          </a:xfrm>
          <a:prstGeom prst="straightConnector1">
            <a:avLst/>
          </a:prstGeom>
          <a:ln w="9525">
            <a:solidFill>
              <a:srgbClr val="142E42"/>
            </a:solidFill>
            <a:round/>
            <a:headEnd type="none" w="med" len="med"/>
            <a:tailEnd type="none" w="med" len="med"/>
          </a:ln>
        </p:spPr>
      </p:cxnSp>
      <p:sp>
        <p:nvSpPr>
          <p:cNvPr id="21" name="source-diagram-dg12-26">
            <a:extLst>
              <a:ext uri="{FF2B5EF4-FFF2-40B4-BE49-F238E27FC236}">
                <a16:creationId xmlns:a16="http://schemas.microsoft.com/office/drawing/2014/main" id="{99EF9087-4EEF-44CD-80C3-9E7ADE0CAF8A}"/>
              </a:ext>
            </a:extLst>
          </p:cNvPr>
          <p:cNvSpPr>
            <a:spLocks noGrp="1"/>
          </p:cNvSpPr>
          <p:nvPr/>
        </p:nvSpPr>
        <p:spPr>
          <a:xfrm>
            <a:off x="8467824" y="5179910"/>
            <a:ext cx="413773" cy="516040"/>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38" b="0">
                <a:solidFill>
                  <a:srgbClr val="FFFFFF"/>
                </a:solidFill>
                <a:latin typeface="Arial"/>
                <a:ea typeface="Arial"/>
                <a:cs typeface="Arial"/>
              </a:rPr>
              <a:t>10</a:t>
            </a:r>
          </a:p>
        </p:txBody>
      </p:sp>
      <p:cxnSp>
        <p:nvCxnSpPr>
          <p:cNvPr id="22" name="source-diagram-dg12-27">
            <a:extLst>
              <a:ext uri="{FF2B5EF4-FFF2-40B4-BE49-F238E27FC236}">
                <a16:creationId xmlns:a16="http://schemas.microsoft.com/office/drawing/2014/main" id="{A7D90149-9114-4625-B9E3-18F6C9489813}"/>
              </a:ext>
            </a:extLst>
          </p:cNvPr>
          <p:cNvCxnSpPr/>
          <p:nvPr/>
        </p:nvCxnSpPr>
        <p:spPr>
          <a:xfrm>
            <a:off x="8531614" y="4442402"/>
            <a:ext cx="143097" cy="711706"/>
          </a:xfrm>
          <a:prstGeom prst="straightConnector1">
            <a:avLst/>
          </a:prstGeom>
          <a:ln w="9525">
            <a:solidFill>
              <a:srgbClr val="142E42"/>
            </a:solidFill>
            <a:round/>
            <a:headEnd type="none" w="med" len="med"/>
            <a:tailEnd type="none" w="med" len="med"/>
          </a:ln>
        </p:spPr>
      </p:cxnSp>
    </p:spTree>
    <p:extLst>
      <p:ext uri="{BB962C8B-B14F-4D97-AF65-F5344CB8AC3E}">
        <p14:creationId xmlns:p14="http://schemas.microsoft.com/office/powerpoint/2010/main" val="896807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A54D0E33-B099-49AF-8EF1-98E59DA4DA9E}"/>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Iterative search</a:t>
            </a:r>
          </a:p>
        </p:txBody>
      </p:sp>
      <p:sp>
        <p:nvSpPr>
          <p:cNvPr id="2" name="text-1">
            <a:extLst>
              <a:ext uri="{FF2B5EF4-FFF2-40B4-BE49-F238E27FC236}">
                <a16:creationId xmlns:a16="http://schemas.microsoft.com/office/drawing/2014/main" id="{DC159043-0FCE-4383-AEB7-F6A08B1E83B4}"/>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14</a:t>
            </a:r>
          </a:p>
        </p:txBody>
      </p:sp>
      <p:sp>
        <p:nvSpPr>
          <p:cNvPr id="3" name="text-2">
            <a:extLst>
              <a:ext uri="{FF2B5EF4-FFF2-40B4-BE49-F238E27FC236}">
                <a16:creationId xmlns:a16="http://schemas.microsoft.com/office/drawing/2014/main" id="{8771539B-9A64-4F9B-89DF-302F0C22EDBE}"/>
              </a:ext>
            </a:extLst>
          </p:cNvPr>
          <p:cNvSpPr>
            <a:spLocks noGrp="1"/>
          </p:cNvSpPr>
          <p:nvPr/>
        </p:nvSpPr>
        <p:spPr>
          <a:xfrm>
            <a:off x="609600" y="1571625"/>
            <a:ext cx="10953750" cy="3857625"/>
          </a:xfrm>
          <a:prstGeom prst="rect">
            <a:avLst/>
          </a:prstGeom>
          <a:noFill/>
          <a:ln w="0">
            <a:noFill/>
          </a:ln>
        </p:spPr>
        <p:txBody>
          <a:bodyPr lIns="0" tIns="0" rIns="0" bIns="0" anchor="t"/>
          <a:lstStyle>
            <a:defPPr algn="l">
              <a:defRPr sz="2025" b="0">
                <a:solidFill>
                  <a:srgbClr val="142E42"/>
                </a:solidFill>
                <a:latin typeface="Consolas"/>
                <a:ea typeface="Consolas"/>
                <a:cs typeface="Consolas"/>
              </a:defRPr>
            </a:defPPr>
            <a:lvl1pPr algn="l">
              <a:defRPr sz="2025" b="0">
                <a:solidFill>
                  <a:srgbClr val="142E42"/>
                </a:solidFill>
                <a:latin typeface="Consolas"/>
                <a:ea typeface="Consolas"/>
                <a:cs typeface="Consolas"/>
              </a:defRPr>
            </a:lvl1pPr>
            <a:lvl2pPr algn="l">
              <a:defRPr sz="2025" b="0">
                <a:solidFill>
                  <a:srgbClr val="142E42"/>
                </a:solidFill>
                <a:latin typeface="Consolas"/>
                <a:ea typeface="Consolas"/>
                <a:cs typeface="Consolas"/>
              </a:defRPr>
            </a:lvl2pPr>
            <a:lvl3pPr algn="l">
              <a:defRPr sz="2025" b="0">
                <a:solidFill>
                  <a:srgbClr val="142E42"/>
                </a:solidFill>
                <a:latin typeface="Consolas"/>
                <a:ea typeface="Consolas"/>
                <a:cs typeface="Consolas"/>
              </a:defRPr>
            </a:lvl3pPr>
            <a:lvl4pPr algn="l">
              <a:defRPr sz="2025" b="0">
                <a:solidFill>
                  <a:srgbClr val="142E42"/>
                </a:solidFill>
                <a:latin typeface="Consolas"/>
                <a:ea typeface="Consolas"/>
                <a:cs typeface="Consolas"/>
              </a:defRPr>
            </a:lvl4pPr>
            <a:lvl5pPr algn="l">
              <a:defRPr sz="2025" b="0">
                <a:solidFill>
                  <a:srgbClr val="142E42"/>
                </a:solidFill>
                <a:latin typeface="Consolas"/>
                <a:ea typeface="Consolas"/>
                <a:cs typeface="Consolas"/>
              </a:defRPr>
            </a:lvl5pPr>
            <a:lvl6pPr algn="l">
              <a:defRPr sz="2025" b="0">
                <a:solidFill>
                  <a:srgbClr val="142E42"/>
                </a:solidFill>
                <a:latin typeface="Consolas"/>
                <a:ea typeface="Consolas"/>
                <a:cs typeface="Consolas"/>
              </a:defRPr>
            </a:lvl6pPr>
            <a:lvl7pPr algn="l">
              <a:defRPr sz="2025" b="0">
                <a:solidFill>
                  <a:srgbClr val="142E42"/>
                </a:solidFill>
                <a:latin typeface="Consolas"/>
                <a:ea typeface="Consolas"/>
                <a:cs typeface="Consolas"/>
              </a:defRPr>
            </a:lvl7pPr>
            <a:lvl8pPr algn="l">
              <a:defRPr sz="2025" b="0">
                <a:solidFill>
                  <a:srgbClr val="142E42"/>
                </a:solidFill>
                <a:latin typeface="Consolas"/>
                <a:ea typeface="Consolas"/>
                <a:cs typeface="Consolas"/>
              </a:defRPr>
            </a:lvl8pPr>
            <a:lvl9pPr algn="l">
              <a:defRPr sz="2025" b="0">
                <a:solidFill>
                  <a:srgbClr val="142E42"/>
                </a:solidFill>
                <a:latin typeface="Consolas"/>
                <a:ea typeface="Consolas"/>
                <a:cs typeface="Consolas"/>
              </a:defRPr>
            </a:lvl9pPr>
          </a:lstStyle>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public </a:t>
            </a:r>
            <a:r>
              <a:rPr sz="2025" b="0" dirty="0" err="1">
                <a:solidFill>
                  <a:srgbClr val="142E42"/>
                </a:solidFill>
                <a:latin typeface="Consolas"/>
                <a:ea typeface="Consolas"/>
                <a:cs typeface="Consolas"/>
              </a:rPr>
              <a:t>boolean</a:t>
            </a:r>
            <a:r>
              <a:rPr sz="2025" b="0" dirty="0">
                <a:solidFill>
                  <a:srgbClr val="142E42"/>
                </a:solidFill>
                <a:latin typeface="Consolas"/>
                <a:ea typeface="Consolas"/>
                <a:cs typeface="Consolas"/>
              </a:rPr>
              <a:t> contains(E key) {</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a:t>
            </a:r>
            <a:r>
              <a:rPr sz="2025" b="0" dirty="0" err="1">
                <a:solidFill>
                  <a:srgbClr val="142E42"/>
                </a:solidFill>
                <a:latin typeface="Consolas"/>
                <a:ea typeface="Consolas"/>
                <a:cs typeface="Consolas"/>
              </a:rPr>
              <a:t>Objects.requireNonNull</a:t>
            </a:r>
            <a:r>
              <a:rPr sz="2025" b="0" dirty="0">
                <a:solidFill>
                  <a:srgbClr val="142E42"/>
                </a:solidFill>
                <a:latin typeface="Consolas"/>
                <a:ea typeface="Consolas"/>
                <a:cs typeface="Consolas"/>
              </a:rPr>
              <a:t>(key);</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Node&lt;E&gt; x = root;</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while (x != null) {</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int </a:t>
            </a:r>
            <a:r>
              <a:rPr sz="2025" b="0" dirty="0" err="1">
                <a:solidFill>
                  <a:srgbClr val="142E42"/>
                </a:solidFill>
                <a:latin typeface="Consolas"/>
                <a:ea typeface="Consolas"/>
                <a:cs typeface="Consolas"/>
              </a:rPr>
              <a:t>cmp</a:t>
            </a:r>
            <a:r>
              <a:rPr sz="2025" b="0" dirty="0">
                <a:solidFill>
                  <a:srgbClr val="142E42"/>
                </a:solidFill>
                <a:latin typeface="Consolas"/>
                <a:ea typeface="Consolas"/>
                <a:cs typeface="Consolas"/>
              </a:rPr>
              <a:t> = </a:t>
            </a:r>
            <a:r>
              <a:rPr sz="2025" b="0" dirty="0" err="1">
                <a:solidFill>
                  <a:srgbClr val="142E42"/>
                </a:solidFill>
                <a:latin typeface="Consolas"/>
                <a:ea typeface="Consolas"/>
                <a:cs typeface="Consolas"/>
              </a:rPr>
              <a:t>key.compareTo</a:t>
            </a:r>
            <a:r>
              <a:rPr sz="2025" b="0" dirty="0">
                <a:solidFill>
                  <a:srgbClr val="142E42"/>
                </a:solidFill>
                <a:latin typeface="Consolas"/>
                <a:ea typeface="Consolas"/>
                <a:cs typeface="Consolas"/>
              </a:rPr>
              <a:t>(</a:t>
            </a:r>
            <a:r>
              <a:rPr sz="2025" b="0" dirty="0" err="1">
                <a:solidFill>
                  <a:srgbClr val="142E42"/>
                </a:solidFill>
                <a:latin typeface="Consolas"/>
                <a:ea typeface="Consolas"/>
                <a:cs typeface="Consolas"/>
              </a:rPr>
              <a:t>x.key</a:t>
            </a:r>
            <a:r>
              <a:rPr sz="2025" b="0" dirty="0">
                <a:solidFill>
                  <a:srgbClr val="142E42"/>
                </a:solidFill>
                <a:latin typeface="Consolas"/>
                <a:ea typeface="Consolas"/>
                <a:cs typeface="Consolas"/>
              </a:rPr>
              <a:t>);</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if (</a:t>
            </a:r>
            <a:r>
              <a:rPr sz="2025" b="0" dirty="0" err="1">
                <a:solidFill>
                  <a:srgbClr val="142E42"/>
                </a:solidFill>
                <a:latin typeface="Consolas"/>
                <a:ea typeface="Consolas"/>
                <a:cs typeface="Consolas"/>
              </a:rPr>
              <a:t>cmp</a:t>
            </a:r>
            <a:r>
              <a:rPr sz="2025" b="0" dirty="0">
                <a:solidFill>
                  <a:srgbClr val="142E42"/>
                </a:solidFill>
                <a:latin typeface="Consolas"/>
                <a:ea typeface="Consolas"/>
                <a:cs typeface="Consolas"/>
              </a:rPr>
              <a:t> &lt; 0) x = </a:t>
            </a:r>
            <a:r>
              <a:rPr sz="2025" b="0" dirty="0" err="1">
                <a:solidFill>
                  <a:srgbClr val="142E42"/>
                </a:solidFill>
                <a:latin typeface="Consolas"/>
                <a:ea typeface="Consolas"/>
                <a:cs typeface="Consolas"/>
              </a:rPr>
              <a:t>x.left</a:t>
            </a:r>
            <a:r>
              <a:rPr sz="2025" b="0" dirty="0">
                <a:solidFill>
                  <a:srgbClr val="142E42"/>
                </a:solidFill>
                <a:latin typeface="Consolas"/>
                <a:ea typeface="Consolas"/>
                <a:cs typeface="Consolas"/>
              </a:rPr>
              <a:t>;</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else if (</a:t>
            </a:r>
            <a:r>
              <a:rPr sz="2025" b="0" dirty="0" err="1">
                <a:solidFill>
                  <a:srgbClr val="142E42"/>
                </a:solidFill>
                <a:latin typeface="Consolas"/>
                <a:ea typeface="Consolas"/>
                <a:cs typeface="Consolas"/>
              </a:rPr>
              <a:t>cmp</a:t>
            </a:r>
            <a:r>
              <a:rPr sz="2025" b="0" dirty="0">
                <a:solidFill>
                  <a:srgbClr val="142E42"/>
                </a:solidFill>
                <a:latin typeface="Consolas"/>
                <a:ea typeface="Consolas"/>
                <a:cs typeface="Consolas"/>
              </a:rPr>
              <a:t> &gt; 0) x = </a:t>
            </a:r>
            <a:r>
              <a:rPr sz="2025" b="0" dirty="0" err="1">
                <a:solidFill>
                  <a:srgbClr val="142E42"/>
                </a:solidFill>
                <a:latin typeface="Consolas"/>
                <a:ea typeface="Consolas"/>
                <a:cs typeface="Consolas"/>
              </a:rPr>
              <a:t>x.right</a:t>
            </a:r>
            <a:r>
              <a:rPr sz="2025" b="0" dirty="0">
                <a:solidFill>
                  <a:srgbClr val="142E42"/>
                </a:solidFill>
                <a:latin typeface="Consolas"/>
                <a:ea typeface="Consolas"/>
                <a:cs typeface="Consolas"/>
              </a:rPr>
              <a:t>;</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else return true;</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return false;</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06846BFD-A07B-48C5-9D3C-2FB977566BCB}"/>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Time O(h + 1). Extra space O(1). Import java.util.Objects.</a:t>
            </a:r>
          </a:p>
        </p:txBody>
      </p:sp>
    </p:spTree>
    <p:extLst>
      <p:ext uri="{BB962C8B-B14F-4D97-AF65-F5344CB8AC3E}">
        <p14:creationId xmlns:p14="http://schemas.microsoft.com/office/powerpoint/2010/main" val="41551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1C7B6110-54C9-4766-917A-A41C064CA6D9}"/>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Recursive search</a:t>
            </a:r>
          </a:p>
        </p:txBody>
      </p:sp>
      <p:sp>
        <p:nvSpPr>
          <p:cNvPr id="2" name="text-1">
            <a:extLst>
              <a:ext uri="{FF2B5EF4-FFF2-40B4-BE49-F238E27FC236}">
                <a16:creationId xmlns:a16="http://schemas.microsoft.com/office/drawing/2014/main" id="{898C6F6B-9641-4B10-A642-602F2582AC7C}"/>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15</a:t>
            </a:r>
          </a:p>
        </p:txBody>
      </p:sp>
      <p:sp>
        <p:nvSpPr>
          <p:cNvPr id="3" name="text-2">
            <a:extLst>
              <a:ext uri="{FF2B5EF4-FFF2-40B4-BE49-F238E27FC236}">
                <a16:creationId xmlns:a16="http://schemas.microsoft.com/office/drawing/2014/main" id="{BACEF785-2BDF-4583-8D12-F70822AB96D1}"/>
              </a:ext>
            </a:extLst>
          </p:cNvPr>
          <p:cNvSpPr>
            <a:spLocks noGrp="1"/>
          </p:cNvSpPr>
          <p:nvPr/>
        </p:nvSpPr>
        <p:spPr>
          <a:xfrm>
            <a:off x="609600" y="1714500"/>
            <a:ext cx="10953750" cy="2857500"/>
          </a:xfrm>
          <a:prstGeom prst="rect">
            <a:avLst/>
          </a:prstGeom>
          <a:noFill/>
          <a:ln w="0">
            <a:noFill/>
          </a:ln>
        </p:spPr>
        <p:txBody>
          <a:bodyPr lIns="0" tIns="0" rIns="0" bIns="0" anchor="t"/>
          <a:lstStyle>
            <a:defPPr algn="l">
              <a:defRPr sz="2100" b="0">
                <a:solidFill>
                  <a:srgbClr val="142E42"/>
                </a:solidFill>
                <a:latin typeface="Consolas"/>
                <a:ea typeface="Consolas"/>
                <a:cs typeface="Consolas"/>
              </a:defRPr>
            </a:defPPr>
            <a:lvl1pPr algn="l">
              <a:defRPr sz="2100" b="0">
                <a:solidFill>
                  <a:srgbClr val="142E42"/>
                </a:solidFill>
                <a:latin typeface="Consolas"/>
                <a:ea typeface="Consolas"/>
                <a:cs typeface="Consolas"/>
              </a:defRPr>
            </a:lvl1pPr>
            <a:lvl2pPr algn="l">
              <a:defRPr sz="2100" b="0">
                <a:solidFill>
                  <a:srgbClr val="142E42"/>
                </a:solidFill>
                <a:latin typeface="Consolas"/>
                <a:ea typeface="Consolas"/>
                <a:cs typeface="Consolas"/>
              </a:defRPr>
            </a:lvl2pPr>
            <a:lvl3pPr algn="l">
              <a:defRPr sz="2100" b="0">
                <a:solidFill>
                  <a:srgbClr val="142E42"/>
                </a:solidFill>
                <a:latin typeface="Consolas"/>
                <a:ea typeface="Consolas"/>
                <a:cs typeface="Consolas"/>
              </a:defRPr>
            </a:lvl3pPr>
            <a:lvl4pPr algn="l">
              <a:defRPr sz="2100" b="0">
                <a:solidFill>
                  <a:srgbClr val="142E42"/>
                </a:solidFill>
                <a:latin typeface="Consolas"/>
                <a:ea typeface="Consolas"/>
                <a:cs typeface="Consolas"/>
              </a:defRPr>
            </a:lvl4pPr>
            <a:lvl5pPr algn="l">
              <a:defRPr sz="2100" b="0">
                <a:solidFill>
                  <a:srgbClr val="142E42"/>
                </a:solidFill>
                <a:latin typeface="Consolas"/>
                <a:ea typeface="Consolas"/>
                <a:cs typeface="Consolas"/>
              </a:defRPr>
            </a:lvl5pPr>
            <a:lvl6pPr algn="l">
              <a:defRPr sz="2100" b="0">
                <a:solidFill>
                  <a:srgbClr val="142E42"/>
                </a:solidFill>
                <a:latin typeface="Consolas"/>
                <a:ea typeface="Consolas"/>
                <a:cs typeface="Consolas"/>
              </a:defRPr>
            </a:lvl6pPr>
            <a:lvl7pPr algn="l">
              <a:defRPr sz="2100" b="0">
                <a:solidFill>
                  <a:srgbClr val="142E42"/>
                </a:solidFill>
                <a:latin typeface="Consolas"/>
                <a:ea typeface="Consolas"/>
                <a:cs typeface="Consolas"/>
              </a:defRPr>
            </a:lvl7pPr>
            <a:lvl8pPr algn="l">
              <a:defRPr sz="2100" b="0">
                <a:solidFill>
                  <a:srgbClr val="142E42"/>
                </a:solidFill>
                <a:latin typeface="Consolas"/>
                <a:ea typeface="Consolas"/>
                <a:cs typeface="Consolas"/>
              </a:defRPr>
            </a:lvl8pPr>
            <a:lvl9pPr algn="l">
              <a:defRPr sz="2100" b="0">
                <a:solidFill>
                  <a:srgbClr val="142E42"/>
                </a:solidFill>
                <a:latin typeface="Consolas"/>
                <a:ea typeface="Consolas"/>
                <a:cs typeface="Consolas"/>
              </a:defRPr>
            </a:lvl9pPr>
          </a:lstStyle>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private </a:t>
            </a:r>
            <a:r>
              <a:rPr sz="2100" b="0" dirty="0" err="1">
                <a:solidFill>
                  <a:srgbClr val="142E42"/>
                </a:solidFill>
                <a:latin typeface="Consolas"/>
                <a:ea typeface="Consolas"/>
                <a:cs typeface="Consolas"/>
              </a:rPr>
              <a:t>boolean</a:t>
            </a:r>
            <a:r>
              <a:rPr sz="2100" b="0" dirty="0">
                <a:solidFill>
                  <a:srgbClr val="142E42"/>
                </a:solidFill>
                <a:latin typeface="Consolas"/>
                <a:ea typeface="Consolas"/>
                <a:cs typeface="Consolas"/>
              </a:rPr>
              <a:t> contains(Node&lt;E&gt; x, E key) {</a:t>
            </a: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    if (x == null) return false;</a:t>
            </a: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    int </a:t>
            </a:r>
            <a:r>
              <a:rPr sz="2100" b="0" dirty="0" err="1">
                <a:solidFill>
                  <a:srgbClr val="142E42"/>
                </a:solidFill>
                <a:latin typeface="Consolas"/>
                <a:ea typeface="Consolas"/>
                <a:cs typeface="Consolas"/>
              </a:rPr>
              <a:t>cmp</a:t>
            </a:r>
            <a:r>
              <a:rPr sz="2100" b="0" dirty="0">
                <a:solidFill>
                  <a:srgbClr val="142E42"/>
                </a:solidFill>
                <a:latin typeface="Consolas"/>
                <a:ea typeface="Consolas"/>
                <a:cs typeface="Consolas"/>
              </a:rPr>
              <a:t> = </a:t>
            </a:r>
            <a:r>
              <a:rPr sz="2100" b="0" dirty="0" err="1">
                <a:solidFill>
                  <a:srgbClr val="142E42"/>
                </a:solidFill>
                <a:latin typeface="Consolas"/>
                <a:ea typeface="Consolas"/>
                <a:cs typeface="Consolas"/>
              </a:rPr>
              <a:t>key.compareTo</a:t>
            </a:r>
            <a:r>
              <a:rPr sz="2100" b="0" dirty="0">
                <a:solidFill>
                  <a:srgbClr val="142E42"/>
                </a:solidFill>
                <a:latin typeface="Consolas"/>
                <a:ea typeface="Consolas"/>
                <a:cs typeface="Consolas"/>
              </a:rPr>
              <a:t>(</a:t>
            </a:r>
            <a:r>
              <a:rPr sz="2100" b="0" dirty="0" err="1">
                <a:solidFill>
                  <a:srgbClr val="142E42"/>
                </a:solidFill>
                <a:latin typeface="Consolas"/>
                <a:ea typeface="Consolas"/>
                <a:cs typeface="Consolas"/>
              </a:rPr>
              <a:t>x.key</a:t>
            </a:r>
            <a:r>
              <a:rPr sz="2100" b="0" dirty="0">
                <a:solidFill>
                  <a:srgbClr val="142E42"/>
                </a:solidFill>
                <a:latin typeface="Consolas"/>
                <a:ea typeface="Consolas"/>
                <a:cs typeface="Consolas"/>
              </a:rPr>
              <a:t>);</a:t>
            </a: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    if (</a:t>
            </a:r>
            <a:r>
              <a:rPr sz="2100" b="0" dirty="0" err="1">
                <a:solidFill>
                  <a:srgbClr val="142E42"/>
                </a:solidFill>
                <a:latin typeface="Consolas"/>
                <a:ea typeface="Consolas"/>
                <a:cs typeface="Consolas"/>
              </a:rPr>
              <a:t>cmp</a:t>
            </a:r>
            <a:r>
              <a:rPr sz="2100" b="0" dirty="0">
                <a:solidFill>
                  <a:srgbClr val="142E42"/>
                </a:solidFill>
                <a:latin typeface="Consolas"/>
                <a:ea typeface="Consolas"/>
                <a:cs typeface="Consolas"/>
              </a:rPr>
              <a:t> &lt; 0) return contains(</a:t>
            </a:r>
            <a:r>
              <a:rPr sz="2100" b="0" dirty="0" err="1">
                <a:solidFill>
                  <a:srgbClr val="142E42"/>
                </a:solidFill>
                <a:latin typeface="Consolas"/>
                <a:ea typeface="Consolas"/>
                <a:cs typeface="Consolas"/>
              </a:rPr>
              <a:t>x.left</a:t>
            </a:r>
            <a:r>
              <a:rPr sz="2100" b="0" dirty="0">
                <a:solidFill>
                  <a:srgbClr val="142E42"/>
                </a:solidFill>
                <a:latin typeface="Consolas"/>
                <a:ea typeface="Consolas"/>
                <a:cs typeface="Consolas"/>
              </a:rPr>
              <a:t>, key);</a:t>
            </a: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    if (</a:t>
            </a:r>
            <a:r>
              <a:rPr sz="2100" b="0" dirty="0" err="1">
                <a:solidFill>
                  <a:srgbClr val="142E42"/>
                </a:solidFill>
                <a:latin typeface="Consolas"/>
                <a:ea typeface="Consolas"/>
                <a:cs typeface="Consolas"/>
              </a:rPr>
              <a:t>cmp</a:t>
            </a:r>
            <a:r>
              <a:rPr sz="2100" b="0" dirty="0">
                <a:solidFill>
                  <a:srgbClr val="142E42"/>
                </a:solidFill>
                <a:latin typeface="Consolas"/>
                <a:ea typeface="Consolas"/>
                <a:cs typeface="Consolas"/>
              </a:rPr>
              <a:t> &gt; 0) return contains(</a:t>
            </a:r>
            <a:r>
              <a:rPr sz="2100" b="0" dirty="0" err="1">
                <a:solidFill>
                  <a:srgbClr val="142E42"/>
                </a:solidFill>
                <a:latin typeface="Consolas"/>
                <a:ea typeface="Consolas"/>
                <a:cs typeface="Consolas"/>
              </a:rPr>
              <a:t>x.right</a:t>
            </a:r>
            <a:r>
              <a:rPr sz="2100" b="0" dirty="0">
                <a:solidFill>
                  <a:srgbClr val="142E42"/>
                </a:solidFill>
                <a:latin typeface="Consolas"/>
                <a:ea typeface="Consolas"/>
                <a:cs typeface="Consolas"/>
              </a:rPr>
              <a:t>, key);</a:t>
            </a: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    return true;</a:t>
            </a: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92F42CD5-149D-47FB-8C04-38360083C537}"/>
              </a:ext>
            </a:extLst>
          </p:cNvPr>
          <p:cNvSpPr>
            <a:spLocks noGrp="1"/>
          </p:cNvSpPr>
          <p:nvPr/>
        </p:nvSpPr>
        <p:spPr>
          <a:xfrm>
            <a:off x="609600" y="4857750"/>
            <a:ext cx="10953750" cy="714375"/>
          </a:xfrm>
          <a:prstGeom prst="rect">
            <a:avLst/>
          </a:prstGeom>
          <a:noFill/>
          <a:ln w="0">
            <a:noFill/>
          </a:ln>
        </p:spPr>
        <p:txBody>
          <a:bodyPr lIns="0" tIns="0" rIns="0" bIns="0" anchor="t"/>
          <a:lstStyle>
            <a:defPPr algn="l">
              <a:defRPr sz="2025" b="0">
                <a:solidFill>
                  <a:srgbClr val="142E42"/>
                </a:solidFill>
                <a:latin typeface="Arial"/>
                <a:ea typeface="Arial"/>
                <a:cs typeface="Arial"/>
              </a:defRPr>
            </a:defPPr>
            <a:lvl1pPr algn="l">
              <a:defRPr sz="2025" b="0">
                <a:solidFill>
                  <a:srgbClr val="142E42"/>
                </a:solidFill>
                <a:latin typeface="Arial"/>
                <a:ea typeface="Arial"/>
                <a:cs typeface="Arial"/>
              </a:defRPr>
            </a:lvl1pPr>
            <a:lvl2pPr algn="l">
              <a:defRPr sz="2025" b="0">
                <a:solidFill>
                  <a:srgbClr val="142E42"/>
                </a:solidFill>
                <a:latin typeface="Arial"/>
                <a:ea typeface="Arial"/>
                <a:cs typeface="Arial"/>
              </a:defRPr>
            </a:lvl2pPr>
            <a:lvl3pPr algn="l">
              <a:defRPr sz="2025" b="0">
                <a:solidFill>
                  <a:srgbClr val="142E42"/>
                </a:solidFill>
                <a:latin typeface="Arial"/>
                <a:ea typeface="Arial"/>
                <a:cs typeface="Arial"/>
              </a:defRPr>
            </a:lvl3pPr>
            <a:lvl4pPr algn="l">
              <a:defRPr sz="2025" b="0">
                <a:solidFill>
                  <a:srgbClr val="142E42"/>
                </a:solidFill>
                <a:latin typeface="Arial"/>
                <a:ea typeface="Arial"/>
                <a:cs typeface="Arial"/>
              </a:defRPr>
            </a:lvl4pPr>
            <a:lvl5pPr algn="l">
              <a:defRPr sz="2025" b="0">
                <a:solidFill>
                  <a:srgbClr val="142E42"/>
                </a:solidFill>
                <a:latin typeface="Arial"/>
                <a:ea typeface="Arial"/>
                <a:cs typeface="Arial"/>
              </a:defRPr>
            </a:lvl5pPr>
            <a:lvl6pPr algn="l">
              <a:defRPr sz="2025" b="0">
                <a:solidFill>
                  <a:srgbClr val="142E42"/>
                </a:solidFill>
                <a:latin typeface="Arial"/>
                <a:ea typeface="Arial"/>
                <a:cs typeface="Arial"/>
              </a:defRPr>
            </a:lvl6pPr>
            <a:lvl7pPr algn="l">
              <a:defRPr sz="2025" b="0">
                <a:solidFill>
                  <a:srgbClr val="142E42"/>
                </a:solidFill>
                <a:latin typeface="Arial"/>
                <a:ea typeface="Arial"/>
                <a:cs typeface="Arial"/>
              </a:defRPr>
            </a:lvl7pPr>
            <a:lvl8pPr algn="l">
              <a:defRPr sz="2025" b="0">
                <a:solidFill>
                  <a:srgbClr val="142E42"/>
                </a:solidFill>
                <a:latin typeface="Arial"/>
                <a:ea typeface="Arial"/>
                <a:cs typeface="Arial"/>
              </a:defRPr>
            </a:lvl8pPr>
            <a:lvl9pPr algn="l">
              <a:defRPr sz="2025" b="0">
                <a:solidFill>
                  <a:srgbClr val="142E42"/>
                </a:solidFill>
                <a:latin typeface="Arial"/>
                <a:ea typeface="Arial"/>
                <a:cs typeface="Arial"/>
              </a:defRPr>
            </a:lvl9pPr>
          </a:lstStyle>
          <a:p>
            <a:pPr algn="l">
              <a:defRPr sz="2025" b="0">
                <a:solidFill>
                  <a:srgbClr val="142E42"/>
                </a:solidFill>
                <a:latin typeface="Arial"/>
                <a:ea typeface="Arial"/>
                <a:cs typeface="Arial"/>
              </a:defRPr>
            </a:pPr>
            <a:r>
              <a:rPr sz="2025" b="0">
                <a:solidFill>
                  <a:srgbClr val="142E42"/>
                </a:solidFill>
                <a:latin typeface="Arial"/>
                <a:ea typeface="Arial"/>
                <a:cs typeface="Arial"/>
              </a:rPr>
              <a:t>The public method checks the key, then calls contains(root, key).</a:t>
            </a:r>
          </a:p>
        </p:txBody>
      </p:sp>
      <p:sp>
        <p:nvSpPr>
          <p:cNvPr id="5" name="text-4">
            <a:extLst>
              <a:ext uri="{FF2B5EF4-FFF2-40B4-BE49-F238E27FC236}">
                <a16:creationId xmlns:a16="http://schemas.microsoft.com/office/drawing/2014/main" id="{B9A02DBF-3B16-4DFC-96ED-866DC95153CA}"/>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Time O(h + 1). Call stack O(h + 1).</a:t>
            </a:r>
          </a:p>
        </p:txBody>
      </p:sp>
    </p:spTree>
    <p:extLst>
      <p:ext uri="{BB962C8B-B14F-4D97-AF65-F5344CB8AC3E}">
        <p14:creationId xmlns:p14="http://schemas.microsoft.com/office/powerpoint/2010/main" val="1749790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9" name="text-0">
            <a:extLst>
              <a:ext uri="{FF2B5EF4-FFF2-40B4-BE49-F238E27FC236}">
                <a16:creationId xmlns:a16="http://schemas.microsoft.com/office/drawing/2014/main" id="{5DB64835-4DF4-4E4F-AA9D-CD0922BEC5B4}"/>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Insertion attaches a new leaf</a:t>
            </a:r>
          </a:p>
        </p:txBody>
      </p:sp>
      <p:sp>
        <p:nvSpPr>
          <p:cNvPr id="2" name="text-1">
            <a:extLst>
              <a:ext uri="{FF2B5EF4-FFF2-40B4-BE49-F238E27FC236}">
                <a16:creationId xmlns:a16="http://schemas.microsoft.com/office/drawing/2014/main" id="{8E52628E-6E82-459C-9F73-1ADA0366BF49}"/>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16</a:t>
            </a:r>
          </a:p>
        </p:txBody>
      </p:sp>
      <p:sp>
        <p:nvSpPr>
          <p:cNvPr id="3" name="text-2">
            <a:extLst>
              <a:ext uri="{FF2B5EF4-FFF2-40B4-BE49-F238E27FC236}">
                <a16:creationId xmlns:a16="http://schemas.microsoft.com/office/drawing/2014/main" id="{50C77CA1-BF89-4C68-95D7-D78A237E2207}"/>
              </a:ext>
            </a:extLst>
          </p:cNvPr>
          <p:cNvSpPr>
            <a:spLocks noGrp="1"/>
          </p:cNvSpPr>
          <p:nvPr/>
        </p:nvSpPr>
        <p:spPr>
          <a:xfrm>
            <a:off x="609600" y="1619250"/>
            <a:ext cx="5619750" cy="3810000"/>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defRPr sz="2175" b="0">
                <a:solidFill>
                  <a:srgbClr val="142E42"/>
                </a:solidFill>
                <a:latin typeface="Arial"/>
                <a:ea typeface="Arial"/>
                <a:cs typeface="Arial"/>
              </a:defRPr>
            </a:lvl1pPr>
            <a:lvl2pPr algn="l">
              <a:defRPr sz="2175" b="0">
                <a:solidFill>
                  <a:srgbClr val="142E42"/>
                </a:solidFill>
                <a:latin typeface="Arial"/>
                <a:ea typeface="Arial"/>
                <a:cs typeface="Arial"/>
              </a:defRPr>
            </a:lvl2pPr>
            <a:lvl3pPr algn="l">
              <a:defRPr sz="2175" b="0">
                <a:solidFill>
                  <a:srgbClr val="142E42"/>
                </a:solidFill>
                <a:latin typeface="Arial"/>
                <a:ea typeface="Arial"/>
                <a:cs typeface="Arial"/>
              </a:defRPr>
            </a:lvl3pPr>
            <a:lvl4pPr algn="l">
              <a:defRPr sz="2175" b="0">
                <a:solidFill>
                  <a:srgbClr val="142E42"/>
                </a:solidFill>
                <a:latin typeface="Arial"/>
                <a:ea typeface="Arial"/>
                <a:cs typeface="Arial"/>
              </a:defRPr>
            </a:lvl4pPr>
            <a:lvl5pPr algn="l">
              <a:defRPr sz="2175" b="0">
                <a:solidFill>
                  <a:srgbClr val="142E42"/>
                </a:solidFill>
                <a:latin typeface="Arial"/>
                <a:ea typeface="Arial"/>
                <a:cs typeface="Arial"/>
              </a:defRPr>
            </a:lvl5pPr>
            <a:lvl6pPr algn="l">
              <a:defRPr sz="2175" b="0">
                <a:solidFill>
                  <a:srgbClr val="142E42"/>
                </a:solidFill>
                <a:latin typeface="Arial"/>
                <a:ea typeface="Arial"/>
                <a:cs typeface="Arial"/>
              </a:defRPr>
            </a:lvl6pPr>
            <a:lvl7pPr algn="l">
              <a:defRPr sz="2175" b="0">
                <a:solidFill>
                  <a:srgbClr val="142E42"/>
                </a:solidFill>
                <a:latin typeface="Arial"/>
                <a:ea typeface="Arial"/>
                <a:cs typeface="Arial"/>
              </a:defRPr>
            </a:lvl7pPr>
            <a:lvl8pPr algn="l">
              <a:defRPr sz="2175" b="0">
                <a:solidFill>
                  <a:srgbClr val="142E42"/>
                </a:solidFill>
                <a:latin typeface="Arial"/>
                <a:ea typeface="Arial"/>
                <a:cs typeface="Arial"/>
              </a:defRPr>
            </a:lvl8pPr>
            <a:lvl9pPr algn="l">
              <a:defRPr sz="2175" b="0">
                <a:solidFill>
                  <a:srgbClr val="142E42"/>
                </a:solidFill>
                <a:latin typeface="Arial"/>
                <a:ea typeface="Arial"/>
                <a:cs typeface="Arial"/>
              </a:defRPr>
            </a:lvl9pPr>
          </a:lstStyle>
          <a:p>
            <a:pPr algn="l">
              <a:defRPr sz="2175" b="0">
                <a:solidFill>
                  <a:srgbClr val="142E42"/>
                </a:solidFill>
                <a:latin typeface="Arial"/>
                <a:ea typeface="Arial"/>
                <a:cs typeface="Arial"/>
              </a:defRPr>
            </a:pPr>
            <a:r>
              <a:rPr sz="2175" b="0">
                <a:solidFill>
                  <a:srgbClr val="142E42"/>
                </a:solidFill>
                <a:latin typeface="Arial"/>
                <a:ea typeface="Arial"/>
                <a:cs typeface="Arial"/>
              </a:rPr>
              <a:t>Search for the new key.</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If an equal key exists, return false.</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Otherwise, attach a new node</a:t>
            </a:r>
          </a:p>
          <a:p>
            <a:pPr algn="l">
              <a:defRPr sz="2175" b="0">
                <a:solidFill>
                  <a:srgbClr val="142E42"/>
                </a:solidFill>
                <a:latin typeface="Arial"/>
                <a:ea typeface="Arial"/>
                <a:cs typeface="Arial"/>
              </a:defRPr>
            </a:pPr>
            <a:r>
              <a:rPr sz="2175" b="0">
                <a:solidFill>
                  <a:srgbClr val="142E42"/>
                </a:solidFill>
                <a:latin typeface="Arial"/>
                <a:ea typeface="Arial"/>
                <a:cs typeface="Arial"/>
              </a:rPr>
              <a:t>at the first missing child link.</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An empty tree gets a new root.</a:t>
            </a:r>
          </a:p>
        </p:txBody>
      </p:sp>
      <p:sp>
        <p:nvSpPr>
          <p:cNvPr id="4" name="source-diagram-dg15-30">
            <a:extLst>
              <a:ext uri="{FF2B5EF4-FFF2-40B4-BE49-F238E27FC236}">
                <a16:creationId xmlns:a16="http://schemas.microsoft.com/office/drawing/2014/main" id="{A47C2BF4-03FF-4DA6-8005-0B3D6996CB47}"/>
              </a:ext>
            </a:extLst>
          </p:cNvPr>
          <p:cNvSpPr>
            <a:spLocks noGrp="1"/>
          </p:cNvSpPr>
          <p:nvPr/>
        </p:nvSpPr>
        <p:spPr>
          <a:xfrm>
            <a:off x="8379554" y="3301517"/>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9</a:t>
            </a:r>
          </a:p>
        </p:txBody>
      </p:sp>
      <p:sp>
        <p:nvSpPr>
          <p:cNvPr id="5" name="source-diagram-dg15-31">
            <a:extLst>
              <a:ext uri="{FF2B5EF4-FFF2-40B4-BE49-F238E27FC236}">
                <a16:creationId xmlns:a16="http://schemas.microsoft.com/office/drawing/2014/main" id="{F6FD3E75-076A-4AB0-8590-8D3A6B140ECD}"/>
              </a:ext>
            </a:extLst>
          </p:cNvPr>
          <p:cNvSpPr>
            <a:spLocks noGrp="1"/>
          </p:cNvSpPr>
          <p:nvPr/>
        </p:nvSpPr>
        <p:spPr>
          <a:xfrm>
            <a:off x="7143750" y="3301517"/>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2</a:t>
            </a:r>
          </a:p>
        </p:txBody>
      </p:sp>
      <p:sp>
        <p:nvSpPr>
          <p:cNvPr id="6" name="source-diagram-dg15-32">
            <a:extLst>
              <a:ext uri="{FF2B5EF4-FFF2-40B4-BE49-F238E27FC236}">
                <a16:creationId xmlns:a16="http://schemas.microsoft.com/office/drawing/2014/main" id="{E642F5E1-D6A6-4A97-9D4F-C6CB3B852DC7}"/>
              </a:ext>
            </a:extLst>
          </p:cNvPr>
          <p:cNvSpPr>
            <a:spLocks noGrp="1"/>
          </p:cNvSpPr>
          <p:nvPr/>
        </p:nvSpPr>
        <p:spPr>
          <a:xfrm>
            <a:off x="9669576" y="2464594"/>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15</a:t>
            </a:r>
          </a:p>
        </p:txBody>
      </p:sp>
      <p:sp>
        <p:nvSpPr>
          <p:cNvPr id="7" name="source-diagram-dg15-33">
            <a:extLst>
              <a:ext uri="{FF2B5EF4-FFF2-40B4-BE49-F238E27FC236}">
                <a16:creationId xmlns:a16="http://schemas.microsoft.com/office/drawing/2014/main" id="{129E2516-5F89-47BF-97DC-63D927793BF1}"/>
              </a:ext>
            </a:extLst>
          </p:cNvPr>
          <p:cNvSpPr>
            <a:spLocks noGrp="1"/>
          </p:cNvSpPr>
          <p:nvPr/>
        </p:nvSpPr>
        <p:spPr>
          <a:xfrm>
            <a:off x="7740125" y="2464594"/>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5</a:t>
            </a:r>
          </a:p>
        </p:txBody>
      </p:sp>
      <p:sp>
        <p:nvSpPr>
          <p:cNvPr id="8" name="source-diagram-dg15-57">
            <a:extLst>
              <a:ext uri="{FF2B5EF4-FFF2-40B4-BE49-F238E27FC236}">
                <a16:creationId xmlns:a16="http://schemas.microsoft.com/office/drawing/2014/main" id="{214408AF-0653-4DE3-BEEA-37711CB55178}"/>
              </a:ext>
            </a:extLst>
          </p:cNvPr>
          <p:cNvSpPr>
            <a:spLocks noGrp="1"/>
          </p:cNvSpPr>
          <p:nvPr/>
        </p:nvSpPr>
        <p:spPr>
          <a:xfrm>
            <a:off x="8751094" y="1571625"/>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12</a:t>
            </a:r>
          </a:p>
        </p:txBody>
      </p:sp>
      <p:cxnSp>
        <p:nvCxnSpPr>
          <p:cNvPr id="9" name="source-diagram-dg15-58">
            <a:extLst>
              <a:ext uri="{FF2B5EF4-FFF2-40B4-BE49-F238E27FC236}">
                <a16:creationId xmlns:a16="http://schemas.microsoft.com/office/drawing/2014/main" id="{02A669D4-03ED-4568-AC3A-C30B92B79EE6}"/>
              </a:ext>
            </a:extLst>
          </p:cNvPr>
          <p:cNvCxnSpPr/>
          <p:nvPr/>
        </p:nvCxnSpPr>
        <p:spPr>
          <a:xfrm flipH="1">
            <a:off x="7931475" y="1898281"/>
            <a:ext cx="875664" cy="566313"/>
          </a:xfrm>
          <a:prstGeom prst="straightConnector1">
            <a:avLst/>
          </a:prstGeom>
          <a:ln w="9525">
            <a:solidFill>
              <a:srgbClr val="142E42"/>
            </a:solidFill>
            <a:round/>
            <a:headEnd type="none" w="med" len="med"/>
            <a:tailEnd type="none" w="med" len="med"/>
          </a:ln>
        </p:spPr>
      </p:cxnSp>
      <p:cxnSp>
        <p:nvCxnSpPr>
          <p:cNvPr id="10" name="source-diagram-dg15-59">
            <a:extLst>
              <a:ext uri="{FF2B5EF4-FFF2-40B4-BE49-F238E27FC236}">
                <a16:creationId xmlns:a16="http://schemas.microsoft.com/office/drawing/2014/main" id="{AE5F1348-3647-4244-A463-4D92DE595C63}"/>
              </a:ext>
            </a:extLst>
          </p:cNvPr>
          <p:cNvCxnSpPr/>
          <p:nvPr/>
        </p:nvCxnSpPr>
        <p:spPr>
          <a:xfrm>
            <a:off x="9077750" y="1898281"/>
            <a:ext cx="783177" cy="566313"/>
          </a:xfrm>
          <a:prstGeom prst="straightConnector1">
            <a:avLst/>
          </a:prstGeom>
          <a:ln w="9525">
            <a:solidFill>
              <a:srgbClr val="142E42"/>
            </a:solidFill>
            <a:round/>
            <a:headEnd type="none" w="med" len="med"/>
            <a:tailEnd type="none" w="med" len="med"/>
          </a:ln>
        </p:spPr>
      </p:cxnSp>
      <p:cxnSp>
        <p:nvCxnSpPr>
          <p:cNvPr id="11" name="source-diagram-dg15-60">
            <a:extLst>
              <a:ext uri="{FF2B5EF4-FFF2-40B4-BE49-F238E27FC236}">
                <a16:creationId xmlns:a16="http://schemas.microsoft.com/office/drawing/2014/main" id="{A1281FCB-EFDC-4E73-A420-30097C083385}"/>
              </a:ext>
            </a:extLst>
          </p:cNvPr>
          <p:cNvCxnSpPr/>
          <p:nvPr/>
        </p:nvCxnSpPr>
        <p:spPr>
          <a:xfrm>
            <a:off x="9996232" y="2791250"/>
            <a:ext cx="477016" cy="510268"/>
          </a:xfrm>
          <a:prstGeom prst="straightConnector1">
            <a:avLst/>
          </a:prstGeom>
          <a:ln w="9525">
            <a:solidFill>
              <a:srgbClr val="142E42"/>
            </a:solidFill>
            <a:round/>
            <a:headEnd type="none" w="med" len="med"/>
            <a:tailEnd type="none" w="med" len="med"/>
          </a:ln>
        </p:spPr>
      </p:cxnSp>
      <p:cxnSp>
        <p:nvCxnSpPr>
          <p:cNvPr id="12" name="source-diagram-dg15-61">
            <a:extLst>
              <a:ext uri="{FF2B5EF4-FFF2-40B4-BE49-F238E27FC236}">
                <a16:creationId xmlns:a16="http://schemas.microsoft.com/office/drawing/2014/main" id="{5D2E6946-3EBD-4122-A7AA-683842403083}"/>
              </a:ext>
            </a:extLst>
          </p:cNvPr>
          <p:cNvCxnSpPr/>
          <p:nvPr/>
        </p:nvCxnSpPr>
        <p:spPr>
          <a:xfrm flipH="1">
            <a:off x="7335100" y="2791250"/>
            <a:ext cx="461069" cy="510268"/>
          </a:xfrm>
          <a:prstGeom prst="straightConnector1">
            <a:avLst/>
          </a:prstGeom>
          <a:ln w="9525">
            <a:solidFill>
              <a:srgbClr val="142E42"/>
            </a:solidFill>
            <a:round/>
            <a:headEnd type="none" w="med" len="med"/>
            <a:tailEnd type="none" w="med" len="med"/>
          </a:ln>
        </p:spPr>
      </p:cxnSp>
      <p:cxnSp>
        <p:nvCxnSpPr>
          <p:cNvPr id="13" name="source-diagram-dg15-62">
            <a:extLst>
              <a:ext uri="{FF2B5EF4-FFF2-40B4-BE49-F238E27FC236}">
                <a16:creationId xmlns:a16="http://schemas.microsoft.com/office/drawing/2014/main" id="{AE7FFBA0-350B-4BF2-914D-65888E6A3DB3}"/>
              </a:ext>
            </a:extLst>
          </p:cNvPr>
          <p:cNvCxnSpPr/>
          <p:nvPr/>
        </p:nvCxnSpPr>
        <p:spPr>
          <a:xfrm>
            <a:off x="8066780" y="2791250"/>
            <a:ext cx="504125" cy="510268"/>
          </a:xfrm>
          <a:prstGeom prst="straightConnector1">
            <a:avLst/>
          </a:prstGeom>
          <a:ln w="9525">
            <a:solidFill>
              <a:srgbClr val="142E42"/>
            </a:solidFill>
            <a:round/>
            <a:headEnd type="none" w="med" len="med"/>
            <a:tailEnd type="none" w="med" len="med"/>
          </a:ln>
        </p:spPr>
      </p:cxnSp>
      <p:sp>
        <p:nvSpPr>
          <p:cNvPr id="14" name="source-diagram-dg15-63">
            <a:extLst>
              <a:ext uri="{FF2B5EF4-FFF2-40B4-BE49-F238E27FC236}">
                <a16:creationId xmlns:a16="http://schemas.microsoft.com/office/drawing/2014/main" id="{91F696A2-46EA-4C90-9CD2-0D1A451688FC}"/>
              </a:ext>
            </a:extLst>
          </p:cNvPr>
          <p:cNvSpPr>
            <a:spLocks noGrp="1"/>
          </p:cNvSpPr>
          <p:nvPr/>
        </p:nvSpPr>
        <p:spPr>
          <a:xfrm>
            <a:off x="8008015" y="4250531"/>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7</a:t>
            </a:r>
          </a:p>
        </p:txBody>
      </p:sp>
      <p:cxnSp>
        <p:nvCxnSpPr>
          <p:cNvPr id="15" name="source-diagram-dg15-64">
            <a:extLst>
              <a:ext uri="{FF2B5EF4-FFF2-40B4-BE49-F238E27FC236}">
                <a16:creationId xmlns:a16="http://schemas.microsoft.com/office/drawing/2014/main" id="{5A12325C-BF6C-4E8C-8D33-3E50783376D8}"/>
              </a:ext>
            </a:extLst>
          </p:cNvPr>
          <p:cNvCxnSpPr/>
          <p:nvPr/>
        </p:nvCxnSpPr>
        <p:spPr>
          <a:xfrm flipH="1">
            <a:off x="8199366" y="3628173"/>
            <a:ext cx="236234" cy="622358"/>
          </a:xfrm>
          <a:prstGeom prst="straightConnector1">
            <a:avLst/>
          </a:prstGeom>
          <a:ln w="9525">
            <a:solidFill>
              <a:srgbClr val="142E42"/>
            </a:solidFill>
            <a:round/>
            <a:headEnd type="none" w="med" len="med"/>
            <a:tailEnd type="none" w="med" len="med"/>
          </a:ln>
        </p:spPr>
      </p:cxnSp>
      <p:sp>
        <p:nvSpPr>
          <p:cNvPr id="16" name="source-diagram-dg15-66">
            <a:extLst>
              <a:ext uri="{FF2B5EF4-FFF2-40B4-BE49-F238E27FC236}">
                <a16:creationId xmlns:a16="http://schemas.microsoft.com/office/drawing/2014/main" id="{A0393782-CC34-4AD7-87BC-2DF5E121E407}"/>
              </a:ext>
            </a:extLst>
          </p:cNvPr>
          <p:cNvSpPr>
            <a:spLocks noGrp="1"/>
          </p:cNvSpPr>
          <p:nvPr/>
        </p:nvSpPr>
        <p:spPr>
          <a:xfrm>
            <a:off x="10281897" y="3301517"/>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20</a:t>
            </a:r>
          </a:p>
        </p:txBody>
      </p:sp>
      <p:sp>
        <p:nvSpPr>
          <p:cNvPr id="17" name="source-diagram-dg15-67">
            <a:extLst>
              <a:ext uri="{FF2B5EF4-FFF2-40B4-BE49-F238E27FC236}">
                <a16:creationId xmlns:a16="http://schemas.microsoft.com/office/drawing/2014/main" id="{ED8DEC3F-2203-4C1F-8949-544AAA2FCD2E}"/>
              </a:ext>
            </a:extLst>
          </p:cNvPr>
          <p:cNvSpPr>
            <a:spLocks noGrp="1"/>
          </p:cNvSpPr>
          <p:nvPr/>
        </p:nvSpPr>
        <p:spPr>
          <a:xfrm>
            <a:off x="10664598" y="4250531"/>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30</a:t>
            </a:r>
          </a:p>
        </p:txBody>
      </p:sp>
      <p:cxnSp>
        <p:nvCxnSpPr>
          <p:cNvPr id="18" name="source-diagram-dg15-68">
            <a:extLst>
              <a:ext uri="{FF2B5EF4-FFF2-40B4-BE49-F238E27FC236}">
                <a16:creationId xmlns:a16="http://schemas.microsoft.com/office/drawing/2014/main" id="{53882EAA-1055-4AC6-91EC-92CC923D9E41}"/>
              </a:ext>
            </a:extLst>
          </p:cNvPr>
          <p:cNvCxnSpPr/>
          <p:nvPr/>
        </p:nvCxnSpPr>
        <p:spPr>
          <a:xfrm>
            <a:off x="10608553" y="3628173"/>
            <a:ext cx="247396" cy="622358"/>
          </a:xfrm>
          <a:prstGeom prst="straightConnector1">
            <a:avLst/>
          </a:prstGeom>
          <a:ln w="9525">
            <a:solidFill>
              <a:srgbClr val="142E42"/>
            </a:solidFill>
            <a:round/>
            <a:headEnd type="none" w="med" len="med"/>
            <a:tailEnd type="none" w="med" len="med"/>
          </a:ln>
        </p:spPr>
      </p:cxnSp>
      <p:sp>
        <p:nvSpPr>
          <p:cNvPr id="19" name="source-diagram-dg15-69">
            <a:extLst>
              <a:ext uri="{FF2B5EF4-FFF2-40B4-BE49-F238E27FC236}">
                <a16:creationId xmlns:a16="http://schemas.microsoft.com/office/drawing/2014/main" id="{C6C21D5A-08B7-41EC-AE4A-FC62CEA88E2A}"/>
              </a:ext>
            </a:extLst>
          </p:cNvPr>
          <p:cNvSpPr>
            <a:spLocks noGrp="1"/>
          </p:cNvSpPr>
          <p:nvPr/>
        </p:nvSpPr>
        <p:spPr>
          <a:xfrm>
            <a:off x="9899196" y="4242559"/>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17</a:t>
            </a:r>
          </a:p>
        </p:txBody>
      </p:sp>
      <p:cxnSp>
        <p:nvCxnSpPr>
          <p:cNvPr id="20" name="source-diagram-dg15-70">
            <a:extLst>
              <a:ext uri="{FF2B5EF4-FFF2-40B4-BE49-F238E27FC236}">
                <a16:creationId xmlns:a16="http://schemas.microsoft.com/office/drawing/2014/main" id="{0E69672D-A781-44BD-8455-A5A2DEEAB007}"/>
              </a:ext>
            </a:extLst>
          </p:cNvPr>
          <p:cNvCxnSpPr/>
          <p:nvPr/>
        </p:nvCxnSpPr>
        <p:spPr>
          <a:xfrm flipH="1">
            <a:off x="10090547" y="3628173"/>
            <a:ext cx="247396" cy="614386"/>
          </a:xfrm>
          <a:prstGeom prst="straightConnector1">
            <a:avLst/>
          </a:prstGeom>
          <a:ln w="9525">
            <a:solidFill>
              <a:srgbClr val="142E42"/>
            </a:solidFill>
            <a:round/>
            <a:headEnd type="none" w="med" len="med"/>
            <a:tailEnd type="none" w="med" len="med"/>
          </a:ln>
        </p:spPr>
      </p:cxnSp>
      <p:sp>
        <p:nvSpPr>
          <p:cNvPr id="21" name="source-diagram-dg15-71">
            <a:extLst>
              <a:ext uri="{FF2B5EF4-FFF2-40B4-BE49-F238E27FC236}">
                <a16:creationId xmlns:a16="http://schemas.microsoft.com/office/drawing/2014/main" id="{C26C50D7-3A93-450E-B004-4915F02BFA34}"/>
              </a:ext>
            </a:extLst>
          </p:cNvPr>
          <p:cNvSpPr>
            <a:spLocks noGrp="1"/>
          </p:cNvSpPr>
          <p:nvPr/>
        </p:nvSpPr>
        <p:spPr>
          <a:xfrm>
            <a:off x="8751094" y="4261694"/>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10</a:t>
            </a:r>
          </a:p>
        </p:txBody>
      </p:sp>
      <p:cxnSp>
        <p:nvCxnSpPr>
          <p:cNvPr id="22" name="source-diagram-dg15-72">
            <a:extLst>
              <a:ext uri="{FF2B5EF4-FFF2-40B4-BE49-F238E27FC236}">
                <a16:creationId xmlns:a16="http://schemas.microsoft.com/office/drawing/2014/main" id="{DF917056-35DF-41E5-AD94-BDD88989A791}"/>
              </a:ext>
            </a:extLst>
          </p:cNvPr>
          <p:cNvCxnSpPr/>
          <p:nvPr/>
        </p:nvCxnSpPr>
        <p:spPr>
          <a:xfrm>
            <a:off x="8706210" y="3628173"/>
            <a:ext cx="236234" cy="633521"/>
          </a:xfrm>
          <a:prstGeom prst="straightConnector1">
            <a:avLst/>
          </a:prstGeom>
          <a:ln w="9525">
            <a:solidFill>
              <a:srgbClr val="142E42"/>
            </a:solidFill>
            <a:round/>
            <a:headEnd type="none" w="med" len="med"/>
            <a:tailEnd type="none" w="med" len="med"/>
          </a:ln>
        </p:spPr>
      </p:cxnSp>
      <p:sp>
        <p:nvSpPr>
          <p:cNvPr id="23" name="source-diagram-dg15-73">
            <a:extLst>
              <a:ext uri="{FF2B5EF4-FFF2-40B4-BE49-F238E27FC236}">
                <a16:creationId xmlns:a16="http://schemas.microsoft.com/office/drawing/2014/main" id="{940B71E9-C81B-47C6-A6E6-582E99D2B5E7}"/>
              </a:ext>
            </a:extLst>
          </p:cNvPr>
          <p:cNvSpPr>
            <a:spLocks noGrp="1"/>
          </p:cNvSpPr>
          <p:nvPr/>
        </p:nvSpPr>
        <p:spPr>
          <a:xfrm>
            <a:off x="9133795" y="3301517"/>
            <a:ext cx="382701" cy="382701"/>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45" b="0">
                <a:solidFill>
                  <a:srgbClr val="FFFFFF"/>
                </a:solidFill>
                <a:latin typeface="Arial"/>
                <a:ea typeface="Arial"/>
                <a:cs typeface="Arial"/>
              </a:rPr>
              <a:t>13</a:t>
            </a:r>
          </a:p>
        </p:txBody>
      </p:sp>
      <p:cxnSp>
        <p:nvCxnSpPr>
          <p:cNvPr id="24" name="source-diagram-dg15-74">
            <a:extLst>
              <a:ext uri="{FF2B5EF4-FFF2-40B4-BE49-F238E27FC236}">
                <a16:creationId xmlns:a16="http://schemas.microsoft.com/office/drawing/2014/main" id="{AD718011-6AF2-4C14-88E0-CA64EF610CB8}"/>
              </a:ext>
            </a:extLst>
          </p:cNvPr>
          <p:cNvCxnSpPr/>
          <p:nvPr/>
        </p:nvCxnSpPr>
        <p:spPr>
          <a:xfrm flipH="1">
            <a:off x="9325145" y="2791250"/>
            <a:ext cx="400476" cy="510268"/>
          </a:xfrm>
          <a:prstGeom prst="straightConnector1">
            <a:avLst/>
          </a:prstGeom>
          <a:ln w="9525">
            <a:solidFill>
              <a:srgbClr val="142E42"/>
            </a:solidFill>
            <a:round/>
            <a:headEnd type="none" w="med" len="med"/>
            <a:tailEnd type="none" w="med" len="med"/>
          </a:ln>
        </p:spPr>
      </p:cxnSp>
      <p:sp>
        <p:nvSpPr>
          <p:cNvPr id="25" name="source-diagram-dg15-75">
            <a:extLst>
              <a:ext uri="{FF2B5EF4-FFF2-40B4-BE49-F238E27FC236}">
                <a16:creationId xmlns:a16="http://schemas.microsoft.com/office/drawing/2014/main" id="{82F61915-F4DD-4581-8FF2-68251AA017F6}"/>
              </a:ext>
            </a:extLst>
          </p:cNvPr>
          <p:cNvSpPr>
            <a:spLocks noGrp="1"/>
          </p:cNvSpPr>
          <p:nvPr/>
        </p:nvSpPr>
        <p:spPr>
          <a:xfrm>
            <a:off x="8368393" y="5046231"/>
            <a:ext cx="382701" cy="382701"/>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45" b="0">
                <a:solidFill>
                  <a:srgbClr val="FFFFFF"/>
                </a:solidFill>
                <a:latin typeface="Arial"/>
                <a:ea typeface="Arial"/>
                <a:cs typeface="Arial"/>
              </a:rPr>
              <a:t>8</a:t>
            </a:r>
          </a:p>
        </p:txBody>
      </p:sp>
      <p:cxnSp>
        <p:nvCxnSpPr>
          <p:cNvPr id="26" name="source-diagram-dg15-76">
            <a:extLst>
              <a:ext uri="{FF2B5EF4-FFF2-40B4-BE49-F238E27FC236}">
                <a16:creationId xmlns:a16="http://schemas.microsoft.com/office/drawing/2014/main" id="{05C27226-5724-4182-AF98-4F69E00D8982}"/>
              </a:ext>
            </a:extLst>
          </p:cNvPr>
          <p:cNvCxnSpPr/>
          <p:nvPr/>
        </p:nvCxnSpPr>
        <p:spPr>
          <a:xfrm>
            <a:off x="8334671" y="4577187"/>
            <a:ext cx="225072" cy="469044"/>
          </a:xfrm>
          <a:prstGeom prst="straightConnector1">
            <a:avLst/>
          </a:prstGeom>
          <a:ln w="9525">
            <a:solidFill>
              <a:srgbClr val="142E42"/>
            </a:solidFill>
            <a:round/>
            <a:headEnd type="none" w="med" len="med"/>
            <a:tailEnd type="none" w="med" len="med"/>
          </a:ln>
        </p:spPr>
      </p:cxnSp>
      <p:sp>
        <p:nvSpPr>
          <p:cNvPr id="27" name="source-diagram-dg15-77">
            <a:extLst>
              <a:ext uri="{FF2B5EF4-FFF2-40B4-BE49-F238E27FC236}">
                <a16:creationId xmlns:a16="http://schemas.microsoft.com/office/drawing/2014/main" id="{7D56FB65-86C3-46ED-AD3C-7944A0463639}"/>
              </a:ext>
            </a:extLst>
          </p:cNvPr>
          <p:cNvSpPr>
            <a:spLocks noGrp="1"/>
          </p:cNvSpPr>
          <p:nvPr/>
        </p:nvSpPr>
        <p:spPr>
          <a:xfrm>
            <a:off x="11047299" y="5046231"/>
            <a:ext cx="382701" cy="382701"/>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45" b="0">
                <a:solidFill>
                  <a:srgbClr val="FFFFFF"/>
                </a:solidFill>
                <a:latin typeface="Arial"/>
                <a:ea typeface="Arial"/>
                <a:cs typeface="Arial"/>
              </a:rPr>
              <a:t>31</a:t>
            </a:r>
          </a:p>
        </p:txBody>
      </p:sp>
      <p:cxnSp>
        <p:nvCxnSpPr>
          <p:cNvPr id="28" name="source-diagram-dg15-78">
            <a:extLst>
              <a:ext uri="{FF2B5EF4-FFF2-40B4-BE49-F238E27FC236}">
                <a16:creationId xmlns:a16="http://schemas.microsoft.com/office/drawing/2014/main" id="{194174D4-A956-40A1-8D14-EF4FBECCA8D4}"/>
              </a:ext>
            </a:extLst>
          </p:cNvPr>
          <p:cNvCxnSpPr/>
          <p:nvPr/>
        </p:nvCxnSpPr>
        <p:spPr>
          <a:xfrm>
            <a:off x="10991254" y="4577187"/>
            <a:ext cx="247396" cy="469044"/>
          </a:xfrm>
          <a:prstGeom prst="straightConnector1">
            <a:avLst/>
          </a:prstGeom>
          <a:ln w="9525">
            <a:solidFill>
              <a:srgbClr val="142E42"/>
            </a:solidFill>
            <a:round/>
            <a:headEnd type="none" w="med" len="med"/>
            <a:tailEnd type="none" w="med" len="med"/>
          </a:ln>
        </p:spPr>
      </p:cxnSp>
    </p:spTree>
    <p:extLst>
      <p:ext uri="{BB962C8B-B14F-4D97-AF65-F5344CB8AC3E}">
        <p14:creationId xmlns:p14="http://schemas.microsoft.com/office/powerpoint/2010/main" val="692640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5" name="text-0">
            <a:extLst>
              <a:ext uri="{FF2B5EF4-FFF2-40B4-BE49-F238E27FC236}">
                <a16:creationId xmlns:a16="http://schemas.microsoft.com/office/drawing/2014/main" id="{B1279EC4-10EB-4B91-BF1B-40446729EE5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Worked insertion: key 13</a:t>
            </a:r>
          </a:p>
        </p:txBody>
      </p:sp>
      <p:sp>
        <p:nvSpPr>
          <p:cNvPr id="2" name="text-1">
            <a:extLst>
              <a:ext uri="{FF2B5EF4-FFF2-40B4-BE49-F238E27FC236}">
                <a16:creationId xmlns:a16="http://schemas.microsoft.com/office/drawing/2014/main" id="{56E52F23-4EC9-4804-8C91-460C6FAA71AF}"/>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17</a:t>
            </a:r>
          </a:p>
        </p:txBody>
      </p:sp>
      <p:sp>
        <p:nvSpPr>
          <p:cNvPr id="3" name="text-2">
            <a:extLst>
              <a:ext uri="{FF2B5EF4-FFF2-40B4-BE49-F238E27FC236}">
                <a16:creationId xmlns:a16="http://schemas.microsoft.com/office/drawing/2014/main" id="{E479E728-0592-4F9F-81B8-144D9C22D834}"/>
              </a:ext>
            </a:extLst>
          </p:cNvPr>
          <p:cNvSpPr>
            <a:spLocks noGrp="1"/>
          </p:cNvSpPr>
          <p:nvPr/>
        </p:nvSpPr>
        <p:spPr>
          <a:xfrm>
            <a:off x="609600" y="1619250"/>
            <a:ext cx="5619750" cy="3905250"/>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defRPr sz="2175" b="0">
                <a:solidFill>
                  <a:srgbClr val="142E42"/>
                </a:solidFill>
                <a:latin typeface="Arial"/>
                <a:ea typeface="Arial"/>
                <a:cs typeface="Arial"/>
              </a:defRPr>
            </a:lvl1pPr>
            <a:lvl2pPr algn="l">
              <a:defRPr sz="2175" b="0">
                <a:solidFill>
                  <a:srgbClr val="142E42"/>
                </a:solidFill>
                <a:latin typeface="Arial"/>
                <a:ea typeface="Arial"/>
                <a:cs typeface="Arial"/>
              </a:defRPr>
            </a:lvl2pPr>
            <a:lvl3pPr algn="l">
              <a:defRPr sz="2175" b="0">
                <a:solidFill>
                  <a:srgbClr val="142E42"/>
                </a:solidFill>
                <a:latin typeface="Arial"/>
                <a:ea typeface="Arial"/>
                <a:cs typeface="Arial"/>
              </a:defRPr>
            </a:lvl3pPr>
            <a:lvl4pPr algn="l">
              <a:defRPr sz="2175" b="0">
                <a:solidFill>
                  <a:srgbClr val="142E42"/>
                </a:solidFill>
                <a:latin typeface="Arial"/>
                <a:ea typeface="Arial"/>
                <a:cs typeface="Arial"/>
              </a:defRPr>
            </a:lvl4pPr>
            <a:lvl5pPr algn="l">
              <a:defRPr sz="2175" b="0">
                <a:solidFill>
                  <a:srgbClr val="142E42"/>
                </a:solidFill>
                <a:latin typeface="Arial"/>
                <a:ea typeface="Arial"/>
                <a:cs typeface="Arial"/>
              </a:defRPr>
            </a:lvl5pPr>
            <a:lvl6pPr algn="l">
              <a:defRPr sz="2175" b="0">
                <a:solidFill>
                  <a:srgbClr val="142E42"/>
                </a:solidFill>
                <a:latin typeface="Arial"/>
                <a:ea typeface="Arial"/>
                <a:cs typeface="Arial"/>
              </a:defRPr>
            </a:lvl6pPr>
            <a:lvl7pPr algn="l">
              <a:defRPr sz="2175" b="0">
                <a:solidFill>
                  <a:srgbClr val="142E42"/>
                </a:solidFill>
                <a:latin typeface="Arial"/>
                <a:ea typeface="Arial"/>
                <a:cs typeface="Arial"/>
              </a:defRPr>
            </a:lvl7pPr>
            <a:lvl8pPr algn="l">
              <a:defRPr sz="2175" b="0">
                <a:solidFill>
                  <a:srgbClr val="142E42"/>
                </a:solidFill>
                <a:latin typeface="Arial"/>
                <a:ea typeface="Arial"/>
                <a:cs typeface="Arial"/>
              </a:defRPr>
            </a:lvl8pPr>
            <a:lvl9pPr algn="l">
              <a:defRPr sz="2175" b="0">
                <a:solidFill>
                  <a:srgbClr val="142E42"/>
                </a:solidFill>
                <a:latin typeface="Arial"/>
                <a:ea typeface="Arial"/>
                <a:cs typeface="Arial"/>
              </a:defRPr>
            </a:lvl9pPr>
          </a:lstStyle>
          <a:p>
            <a:pPr algn="l">
              <a:defRPr sz="2175" b="0">
                <a:solidFill>
                  <a:srgbClr val="142E42"/>
                </a:solidFill>
                <a:latin typeface="Arial"/>
                <a:ea typeface="Arial"/>
                <a:cs typeface="Arial"/>
              </a:defRPr>
            </a:pPr>
            <a:r>
              <a:rPr sz="2175" b="0">
                <a:solidFill>
                  <a:srgbClr val="142E42"/>
                </a:solidFill>
                <a:latin typeface="Arial"/>
                <a:ea typeface="Arial"/>
                <a:cs typeface="Arial"/>
              </a:rPr>
              <a:t>Compare with 12: 13 is larger.</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Compare with 15: 13 is smaller.</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The left link of 15 is empty.</a:t>
            </a:r>
          </a:p>
          <a:p>
            <a:pPr algn="l">
              <a:defRPr sz="2175" b="0">
                <a:solidFill>
                  <a:srgbClr val="142E42"/>
                </a:solidFill>
                <a:latin typeface="Arial"/>
                <a:ea typeface="Arial"/>
                <a:cs typeface="Arial"/>
              </a:defRPr>
            </a:pPr>
            <a:r>
              <a:rPr sz="2175" b="0">
                <a:solidFill>
                  <a:srgbClr val="142E42"/>
                </a:solidFill>
                <a:latin typeface="Arial"/>
                <a:ea typeface="Arial"/>
                <a:cs typeface="Arial"/>
              </a:rPr>
              <a:t>Attach node 13 there.</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The BST ordering rule still holds.</a:t>
            </a:r>
          </a:p>
        </p:txBody>
      </p:sp>
      <p:sp>
        <p:nvSpPr>
          <p:cNvPr id="4" name="source-diagram-dg16-30">
            <a:extLst>
              <a:ext uri="{FF2B5EF4-FFF2-40B4-BE49-F238E27FC236}">
                <a16:creationId xmlns:a16="http://schemas.microsoft.com/office/drawing/2014/main" id="{A47C2BF4-03FF-4DA6-8005-0B3D6996CB47}"/>
              </a:ext>
            </a:extLst>
          </p:cNvPr>
          <p:cNvSpPr>
            <a:spLocks noGrp="1"/>
          </p:cNvSpPr>
          <p:nvPr/>
        </p:nvSpPr>
        <p:spPr>
          <a:xfrm>
            <a:off x="8488027" y="3386693"/>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9</a:t>
            </a:r>
          </a:p>
        </p:txBody>
      </p:sp>
      <p:sp>
        <p:nvSpPr>
          <p:cNvPr id="5" name="source-diagram-dg16-31">
            <a:extLst>
              <a:ext uri="{FF2B5EF4-FFF2-40B4-BE49-F238E27FC236}">
                <a16:creationId xmlns:a16="http://schemas.microsoft.com/office/drawing/2014/main" id="{F6FD3E75-076A-4AB0-8590-8D3A6B140ECD}"/>
              </a:ext>
            </a:extLst>
          </p:cNvPr>
          <p:cNvSpPr>
            <a:spLocks noGrp="1"/>
          </p:cNvSpPr>
          <p:nvPr/>
        </p:nvSpPr>
        <p:spPr>
          <a:xfrm>
            <a:off x="7191375" y="3386693"/>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2</a:t>
            </a:r>
          </a:p>
        </p:txBody>
      </p:sp>
      <p:sp>
        <p:nvSpPr>
          <p:cNvPr id="6" name="source-diagram-dg16-32">
            <a:extLst>
              <a:ext uri="{FF2B5EF4-FFF2-40B4-BE49-F238E27FC236}">
                <a16:creationId xmlns:a16="http://schemas.microsoft.com/office/drawing/2014/main" id="{E642F5E1-D6A6-4A97-9D4F-C6CB3B852DC7}"/>
              </a:ext>
            </a:extLst>
          </p:cNvPr>
          <p:cNvSpPr>
            <a:spLocks noGrp="1"/>
          </p:cNvSpPr>
          <p:nvPr/>
        </p:nvSpPr>
        <p:spPr>
          <a:xfrm>
            <a:off x="9841566" y="2508561"/>
            <a:ext cx="401544" cy="401544"/>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01" b="0">
                <a:solidFill>
                  <a:srgbClr val="FFFFFF"/>
                </a:solidFill>
                <a:latin typeface="Arial"/>
                <a:ea typeface="Arial"/>
                <a:cs typeface="Arial"/>
              </a:rPr>
              <a:t>15</a:t>
            </a:r>
          </a:p>
        </p:txBody>
      </p:sp>
      <p:sp>
        <p:nvSpPr>
          <p:cNvPr id="7" name="source-diagram-dg16-33">
            <a:extLst>
              <a:ext uri="{FF2B5EF4-FFF2-40B4-BE49-F238E27FC236}">
                <a16:creationId xmlns:a16="http://schemas.microsoft.com/office/drawing/2014/main" id="{129E2516-5F89-47BF-97DC-63D927793BF1}"/>
              </a:ext>
            </a:extLst>
          </p:cNvPr>
          <p:cNvSpPr>
            <a:spLocks noGrp="1"/>
          </p:cNvSpPr>
          <p:nvPr/>
        </p:nvSpPr>
        <p:spPr>
          <a:xfrm>
            <a:off x="7817114" y="2508561"/>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5</a:t>
            </a:r>
          </a:p>
        </p:txBody>
      </p:sp>
      <p:sp>
        <p:nvSpPr>
          <p:cNvPr id="8" name="source-diagram-dg16-57">
            <a:extLst>
              <a:ext uri="{FF2B5EF4-FFF2-40B4-BE49-F238E27FC236}">
                <a16:creationId xmlns:a16="http://schemas.microsoft.com/office/drawing/2014/main" id="{214408AF-0653-4DE3-BEEA-37711CB55178}"/>
              </a:ext>
            </a:extLst>
          </p:cNvPr>
          <p:cNvSpPr>
            <a:spLocks noGrp="1"/>
          </p:cNvSpPr>
          <p:nvPr/>
        </p:nvSpPr>
        <p:spPr>
          <a:xfrm>
            <a:off x="8877860" y="1571625"/>
            <a:ext cx="401544" cy="401544"/>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01" b="0">
                <a:solidFill>
                  <a:srgbClr val="FFFFFF"/>
                </a:solidFill>
                <a:latin typeface="Arial"/>
                <a:ea typeface="Arial"/>
                <a:cs typeface="Arial"/>
              </a:rPr>
              <a:t>12</a:t>
            </a:r>
          </a:p>
        </p:txBody>
      </p:sp>
      <p:cxnSp>
        <p:nvCxnSpPr>
          <p:cNvPr id="9" name="source-diagram-dg16-58">
            <a:extLst>
              <a:ext uri="{FF2B5EF4-FFF2-40B4-BE49-F238E27FC236}">
                <a16:creationId xmlns:a16="http://schemas.microsoft.com/office/drawing/2014/main" id="{02A669D4-03ED-4568-AC3A-C30B92B79EE6}"/>
              </a:ext>
            </a:extLst>
          </p:cNvPr>
          <p:cNvCxnSpPr/>
          <p:nvPr/>
        </p:nvCxnSpPr>
        <p:spPr>
          <a:xfrm flipH="1">
            <a:off x="8017886" y="1914365"/>
            <a:ext cx="918779" cy="594197"/>
          </a:xfrm>
          <a:prstGeom prst="straightConnector1">
            <a:avLst/>
          </a:prstGeom>
          <a:ln w="9525">
            <a:solidFill>
              <a:srgbClr val="142E42"/>
            </a:solidFill>
            <a:round/>
            <a:headEnd type="none" w="med" len="med"/>
            <a:tailEnd type="none" w="med" len="med"/>
          </a:ln>
        </p:spPr>
      </p:cxnSp>
      <p:cxnSp>
        <p:nvCxnSpPr>
          <p:cNvPr id="10" name="source-diagram-dg16-59">
            <a:extLst>
              <a:ext uri="{FF2B5EF4-FFF2-40B4-BE49-F238E27FC236}">
                <a16:creationId xmlns:a16="http://schemas.microsoft.com/office/drawing/2014/main" id="{AE5F1348-3647-4244-A463-4D92DE595C63}"/>
              </a:ext>
            </a:extLst>
          </p:cNvPr>
          <p:cNvCxnSpPr/>
          <p:nvPr/>
        </p:nvCxnSpPr>
        <p:spPr>
          <a:xfrm>
            <a:off x="9220600" y="1914365"/>
            <a:ext cx="821738" cy="594197"/>
          </a:xfrm>
          <a:prstGeom prst="straightConnector1">
            <a:avLst/>
          </a:prstGeom>
          <a:ln w="9525">
            <a:solidFill>
              <a:srgbClr val="142E42"/>
            </a:solidFill>
            <a:round/>
            <a:headEnd type="none" w="med" len="med"/>
            <a:tailEnd type="none" w="med" len="med"/>
          </a:ln>
        </p:spPr>
      </p:cxnSp>
      <p:cxnSp>
        <p:nvCxnSpPr>
          <p:cNvPr id="11" name="source-diagram-dg16-60">
            <a:extLst>
              <a:ext uri="{FF2B5EF4-FFF2-40B4-BE49-F238E27FC236}">
                <a16:creationId xmlns:a16="http://schemas.microsoft.com/office/drawing/2014/main" id="{A1281FCB-EFDC-4E73-A420-30097C083385}"/>
              </a:ext>
            </a:extLst>
          </p:cNvPr>
          <p:cNvCxnSpPr/>
          <p:nvPr/>
        </p:nvCxnSpPr>
        <p:spPr>
          <a:xfrm>
            <a:off x="10184306" y="2851301"/>
            <a:ext cx="500503" cy="535392"/>
          </a:xfrm>
          <a:prstGeom prst="straightConnector1">
            <a:avLst/>
          </a:prstGeom>
          <a:ln w="9525">
            <a:solidFill>
              <a:srgbClr val="142E42"/>
            </a:solidFill>
            <a:round/>
            <a:headEnd type="none" w="med" len="med"/>
            <a:tailEnd type="none" w="med" len="med"/>
          </a:ln>
        </p:spPr>
      </p:cxnSp>
      <p:cxnSp>
        <p:nvCxnSpPr>
          <p:cNvPr id="12" name="source-diagram-dg16-61">
            <a:extLst>
              <a:ext uri="{FF2B5EF4-FFF2-40B4-BE49-F238E27FC236}">
                <a16:creationId xmlns:a16="http://schemas.microsoft.com/office/drawing/2014/main" id="{5D2E6946-3EBD-4122-A7AA-683842403083}"/>
              </a:ext>
            </a:extLst>
          </p:cNvPr>
          <p:cNvCxnSpPr/>
          <p:nvPr/>
        </p:nvCxnSpPr>
        <p:spPr>
          <a:xfrm flipH="1">
            <a:off x="7392147" y="2851301"/>
            <a:ext cx="483771" cy="535392"/>
          </a:xfrm>
          <a:prstGeom prst="straightConnector1">
            <a:avLst/>
          </a:prstGeom>
          <a:ln w="9525">
            <a:solidFill>
              <a:srgbClr val="142E42"/>
            </a:solidFill>
            <a:round/>
            <a:headEnd type="none" w="med" len="med"/>
            <a:tailEnd type="none" w="med" len="med"/>
          </a:ln>
        </p:spPr>
      </p:cxnSp>
      <p:cxnSp>
        <p:nvCxnSpPr>
          <p:cNvPr id="13" name="source-diagram-dg16-62">
            <a:extLst>
              <a:ext uri="{FF2B5EF4-FFF2-40B4-BE49-F238E27FC236}">
                <a16:creationId xmlns:a16="http://schemas.microsoft.com/office/drawing/2014/main" id="{AE7FFBA0-350B-4BF2-914D-65888E6A3DB3}"/>
              </a:ext>
            </a:extLst>
          </p:cNvPr>
          <p:cNvCxnSpPr/>
          <p:nvPr/>
        </p:nvCxnSpPr>
        <p:spPr>
          <a:xfrm>
            <a:off x="8159853" y="2851301"/>
            <a:ext cx="528946" cy="535392"/>
          </a:xfrm>
          <a:prstGeom prst="straightConnector1">
            <a:avLst/>
          </a:prstGeom>
          <a:ln w="9525">
            <a:solidFill>
              <a:srgbClr val="142E42"/>
            </a:solidFill>
            <a:round/>
            <a:headEnd type="none" w="med" len="med"/>
            <a:tailEnd type="none" w="med" len="med"/>
          </a:ln>
        </p:spPr>
      </p:cxnSp>
      <p:sp>
        <p:nvSpPr>
          <p:cNvPr id="14" name="source-diagram-dg16-63">
            <a:extLst>
              <a:ext uri="{FF2B5EF4-FFF2-40B4-BE49-F238E27FC236}">
                <a16:creationId xmlns:a16="http://schemas.microsoft.com/office/drawing/2014/main" id="{91F696A2-46EA-4C90-9CD2-0D1A451688FC}"/>
              </a:ext>
            </a:extLst>
          </p:cNvPr>
          <p:cNvSpPr>
            <a:spLocks noGrp="1"/>
          </p:cNvSpPr>
          <p:nvPr/>
        </p:nvSpPr>
        <p:spPr>
          <a:xfrm>
            <a:off x="8098194" y="4382434"/>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7</a:t>
            </a:r>
          </a:p>
        </p:txBody>
      </p:sp>
      <p:cxnSp>
        <p:nvCxnSpPr>
          <p:cNvPr id="15" name="source-diagram-dg16-64">
            <a:extLst>
              <a:ext uri="{FF2B5EF4-FFF2-40B4-BE49-F238E27FC236}">
                <a16:creationId xmlns:a16="http://schemas.microsoft.com/office/drawing/2014/main" id="{5A12325C-BF6C-4E8C-8D33-3E50783376D8}"/>
              </a:ext>
            </a:extLst>
          </p:cNvPr>
          <p:cNvCxnSpPr/>
          <p:nvPr/>
        </p:nvCxnSpPr>
        <p:spPr>
          <a:xfrm flipH="1">
            <a:off x="8298966" y="3729432"/>
            <a:ext cx="247865" cy="653001"/>
          </a:xfrm>
          <a:prstGeom prst="straightConnector1">
            <a:avLst/>
          </a:prstGeom>
          <a:ln w="9525">
            <a:solidFill>
              <a:srgbClr val="142E42"/>
            </a:solidFill>
            <a:round/>
            <a:headEnd type="none" w="med" len="med"/>
            <a:tailEnd type="none" w="med" len="med"/>
          </a:ln>
        </p:spPr>
      </p:cxnSp>
      <p:sp>
        <p:nvSpPr>
          <p:cNvPr id="16" name="source-diagram-dg16-66">
            <a:extLst>
              <a:ext uri="{FF2B5EF4-FFF2-40B4-BE49-F238E27FC236}">
                <a16:creationId xmlns:a16="http://schemas.microsoft.com/office/drawing/2014/main" id="{A0393782-CC34-4AD7-87BC-2DF5E121E407}"/>
              </a:ext>
            </a:extLst>
          </p:cNvPr>
          <p:cNvSpPr>
            <a:spLocks noGrp="1"/>
          </p:cNvSpPr>
          <p:nvPr/>
        </p:nvSpPr>
        <p:spPr>
          <a:xfrm>
            <a:off x="10484037" y="3386693"/>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20</a:t>
            </a:r>
          </a:p>
        </p:txBody>
      </p:sp>
      <p:sp>
        <p:nvSpPr>
          <p:cNvPr id="17" name="source-diagram-dg16-67">
            <a:extLst>
              <a:ext uri="{FF2B5EF4-FFF2-40B4-BE49-F238E27FC236}">
                <a16:creationId xmlns:a16="http://schemas.microsoft.com/office/drawing/2014/main" id="{ED8DEC3F-2203-4C1F-8949-544AAA2FCD2E}"/>
              </a:ext>
            </a:extLst>
          </p:cNvPr>
          <p:cNvSpPr>
            <a:spLocks noGrp="1"/>
          </p:cNvSpPr>
          <p:nvPr/>
        </p:nvSpPr>
        <p:spPr>
          <a:xfrm>
            <a:off x="10885581" y="4382434"/>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30</a:t>
            </a:r>
          </a:p>
        </p:txBody>
      </p:sp>
      <p:cxnSp>
        <p:nvCxnSpPr>
          <p:cNvPr id="18" name="source-diagram-dg16-68">
            <a:extLst>
              <a:ext uri="{FF2B5EF4-FFF2-40B4-BE49-F238E27FC236}">
                <a16:creationId xmlns:a16="http://schemas.microsoft.com/office/drawing/2014/main" id="{53882EAA-1055-4AC6-91EC-92CC923D9E41}"/>
              </a:ext>
            </a:extLst>
          </p:cNvPr>
          <p:cNvCxnSpPr/>
          <p:nvPr/>
        </p:nvCxnSpPr>
        <p:spPr>
          <a:xfrm>
            <a:off x="10826776" y="3729432"/>
            <a:ext cx="259577" cy="653001"/>
          </a:xfrm>
          <a:prstGeom prst="straightConnector1">
            <a:avLst/>
          </a:prstGeom>
          <a:ln w="9525">
            <a:solidFill>
              <a:srgbClr val="142E42"/>
            </a:solidFill>
            <a:round/>
            <a:headEnd type="none" w="med" len="med"/>
            <a:tailEnd type="none" w="med" len="med"/>
          </a:ln>
        </p:spPr>
      </p:cxnSp>
      <p:sp>
        <p:nvSpPr>
          <p:cNvPr id="19" name="source-diagram-dg16-69">
            <a:extLst>
              <a:ext uri="{FF2B5EF4-FFF2-40B4-BE49-F238E27FC236}">
                <a16:creationId xmlns:a16="http://schemas.microsoft.com/office/drawing/2014/main" id="{C6C21D5A-08B7-41EC-AE4A-FC62CEA88E2A}"/>
              </a:ext>
            </a:extLst>
          </p:cNvPr>
          <p:cNvSpPr>
            <a:spLocks noGrp="1"/>
          </p:cNvSpPr>
          <p:nvPr/>
        </p:nvSpPr>
        <p:spPr>
          <a:xfrm>
            <a:off x="10082493" y="4374069"/>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17</a:t>
            </a:r>
          </a:p>
        </p:txBody>
      </p:sp>
      <p:cxnSp>
        <p:nvCxnSpPr>
          <p:cNvPr id="20" name="source-diagram-dg16-70">
            <a:extLst>
              <a:ext uri="{FF2B5EF4-FFF2-40B4-BE49-F238E27FC236}">
                <a16:creationId xmlns:a16="http://schemas.microsoft.com/office/drawing/2014/main" id="{0E69672D-A781-44BD-8455-A5A2DEEAB007}"/>
              </a:ext>
            </a:extLst>
          </p:cNvPr>
          <p:cNvCxnSpPr/>
          <p:nvPr/>
        </p:nvCxnSpPr>
        <p:spPr>
          <a:xfrm flipH="1">
            <a:off x="10283265" y="3729432"/>
            <a:ext cx="259577" cy="644636"/>
          </a:xfrm>
          <a:prstGeom prst="straightConnector1">
            <a:avLst/>
          </a:prstGeom>
          <a:ln w="9525">
            <a:solidFill>
              <a:srgbClr val="142E42"/>
            </a:solidFill>
            <a:round/>
            <a:headEnd type="none" w="med" len="med"/>
            <a:tailEnd type="none" w="med" len="med"/>
          </a:ln>
        </p:spPr>
      </p:cxnSp>
      <p:sp>
        <p:nvSpPr>
          <p:cNvPr id="21" name="source-diagram-dg16-71">
            <a:extLst>
              <a:ext uri="{FF2B5EF4-FFF2-40B4-BE49-F238E27FC236}">
                <a16:creationId xmlns:a16="http://schemas.microsoft.com/office/drawing/2014/main" id="{C26C50D7-3A93-450E-B004-4915F02BFA34}"/>
              </a:ext>
            </a:extLst>
          </p:cNvPr>
          <p:cNvSpPr>
            <a:spLocks noGrp="1"/>
          </p:cNvSpPr>
          <p:nvPr/>
        </p:nvSpPr>
        <p:spPr>
          <a:xfrm>
            <a:off x="8877860" y="4394146"/>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10</a:t>
            </a:r>
          </a:p>
        </p:txBody>
      </p:sp>
      <p:cxnSp>
        <p:nvCxnSpPr>
          <p:cNvPr id="22" name="source-diagram-dg16-72">
            <a:extLst>
              <a:ext uri="{FF2B5EF4-FFF2-40B4-BE49-F238E27FC236}">
                <a16:creationId xmlns:a16="http://schemas.microsoft.com/office/drawing/2014/main" id="{DF917056-35DF-41E5-AD94-BDD88989A791}"/>
              </a:ext>
            </a:extLst>
          </p:cNvPr>
          <p:cNvCxnSpPr/>
          <p:nvPr/>
        </p:nvCxnSpPr>
        <p:spPr>
          <a:xfrm>
            <a:off x="8830767" y="3729432"/>
            <a:ext cx="247865" cy="664714"/>
          </a:xfrm>
          <a:prstGeom prst="straightConnector1">
            <a:avLst/>
          </a:prstGeom>
          <a:ln w="9525">
            <a:solidFill>
              <a:srgbClr val="142E42"/>
            </a:solidFill>
            <a:round/>
            <a:headEnd type="none" w="med" len="med"/>
            <a:tailEnd type="none" w="med" len="med"/>
          </a:ln>
        </p:spPr>
      </p:cxnSp>
      <p:sp>
        <p:nvSpPr>
          <p:cNvPr id="23" name="source-diagram-dg16-73">
            <a:extLst>
              <a:ext uri="{FF2B5EF4-FFF2-40B4-BE49-F238E27FC236}">
                <a16:creationId xmlns:a16="http://schemas.microsoft.com/office/drawing/2014/main" id="{940B71E9-C81B-47C6-A6E6-582E99D2B5E7}"/>
              </a:ext>
            </a:extLst>
          </p:cNvPr>
          <p:cNvSpPr>
            <a:spLocks noGrp="1"/>
          </p:cNvSpPr>
          <p:nvPr/>
        </p:nvSpPr>
        <p:spPr>
          <a:xfrm>
            <a:off x="9279404" y="3386693"/>
            <a:ext cx="401544" cy="401544"/>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01" b="0">
                <a:solidFill>
                  <a:srgbClr val="FFFFFF"/>
                </a:solidFill>
                <a:latin typeface="Arial"/>
                <a:ea typeface="Arial"/>
                <a:cs typeface="Arial"/>
              </a:rPr>
              <a:t>13</a:t>
            </a:r>
          </a:p>
        </p:txBody>
      </p:sp>
      <p:cxnSp>
        <p:nvCxnSpPr>
          <p:cNvPr id="24" name="source-diagram-dg16-74">
            <a:extLst>
              <a:ext uri="{FF2B5EF4-FFF2-40B4-BE49-F238E27FC236}">
                <a16:creationId xmlns:a16="http://schemas.microsoft.com/office/drawing/2014/main" id="{AD718011-6AF2-4C14-88E0-CA64EF610CB8}"/>
              </a:ext>
            </a:extLst>
          </p:cNvPr>
          <p:cNvCxnSpPr/>
          <p:nvPr/>
        </p:nvCxnSpPr>
        <p:spPr>
          <a:xfrm flipH="1">
            <a:off x="9480176" y="2851301"/>
            <a:ext cx="420194" cy="535392"/>
          </a:xfrm>
          <a:prstGeom prst="straightConnector1">
            <a:avLst/>
          </a:prstGeom>
          <a:ln w="9525">
            <a:solidFill>
              <a:srgbClr val="142E42"/>
            </a:solidFill>
            <a:round/>
            <a:headEnd type="none" w="med" len="med"/>
            <a:tailEnd type="none" w="med" len="med"/>
          </a:ln>
        </p:spPr>
      </p:cxnSp>
    </p:spTree>
    <p:extLst>
      <p:ext uri="{BB962C8B-B14F-4D97-AF65-F5344CB8AC3E}">
        <p14:creationId xmlns:p14="http://schemas.microsoft.com/office/powerpoint/2010/main" val="1486062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D8DD2FC4-9807-416A-BC59-95979E967194}"/>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Iterative insertion</a:t>
            </a:r>
          </a:p>
        </p:txBody>
      </p:sp>
      <p:sp>
        <p:nvSpPr>
          <p:cNvPr id="2" name="text-1">
            <a:extLst>
              <a:ext uri="{FF2B5EF4-FFF2-40B4-BE49-F238E27FC236}">
                <a16:creationId xmlns:a16="http://schemas.microsoft.com/office/drawing/2014/main" id="{D905FB03-8B21-48A2-BBFC-5E0CEE1484F4}"/>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18</a:t>
            </a:r>
          </a:p>
        </p:txBody>
      </p:sp>
      <p:sp>
        <p:nvSpPr>
          <p:cNvPr id="3" name="text-2">
            <a:extLst>
              <a:ext uri="{FF2B5EF4-FFF2-40B4-BE49-F238E27FC236}">
                <a16:creationId xmlns:a16="http://schemas.microsoft.com/office/drawing/2014/main" id="{EA36B068-DA30-4B3B-8931-1FF926EDE062}"/>
              </a:ext>
            </a:extLst>
          </p:cNvPr>
          <p:cNvSpPr>
            <a:spLocks noGrp="1"/>
          </p:cNvSpPr>
          <p:nvPr/>
        </p:nvSpPr>
        <p:spPr>
          <a:xfrm>
            <a:off x="609600" y="1381125"/>
            <a:ext cx="10953750" cy="4953000"/>
          </a:xfrm>
          <a:prstGeom prst="rect">
            <a:avLst/>
          </a:prstGeom>
          <a:noFill/>
          <a:ln w="0">
            <a:noFill/>
          </a:ln>
        </p:spPr>
        <p:txBody>
          <a:bodyPr lIns="0" tIns="0" rIns="0" bIns="0" anchor="t"/>
          <a:lstStyle>
            <a:defPPr algn="l">
              <a:defRPr sz="1725" b="0">
                <a:solidFill>
                  <a:srgbClr val="142E42"/>
                </a:solidFill>
                <a:latin typeface="Consolas"/>
                <a:ea typeface="Consolas"/>
                <a:cs typeface="Consolas"/>
              </a:defRPr>
            </a:defPPr>
            <a:lvl1pPr algn="l">
              <a:defRPr sz="1725" b="0">
                <a:solidFill>
                  <a:srgbClr val="142E42"/>
                </a:solidFill>
                <a:latin typeface="Consolas"/>
                <a:ea typeface="Consolas"/>
                <a:cs typeface="Consolas"/>
              </a:defRPr>
            </a:lvl1pPr>
            <a:lvl2pPr algn="l">
              <a:defRPr sz="1725" b="0">
                <a:solidFill>
                  <a:srgbClr val="142E42"/>
                </a:solidFill>
                <a:latin typeface="Consolas"/>
                <a:ea typeface="Consolas"/>
                <a:cs typeface="Consolas"/>
              </a:defRPr>
            </a:lvl2pPr>
            <a:lvl3pPr algn="l">
              <a:defRPr sz="1725" b="0">
                <a:solidFill>
                  <a:srgbClr val="142E42"/>
                </a:solidFill>
                <a:latin typeface="Consolas"/>
                <a:ea typeface="Consolas"/>
                <a:cs typeface="Consolas"/>
              </a:defRPr>
            </a:lvl3pPr>
            <a:lvl4pPr algn="l">
              <a:defRPr sz="1725" b="0">
                <a:solidFill>
                  <a:srgbClr val="142E42"/>
                </a:solidFill>
                <a:latin typeface="Consolas"/>
                <a:ea typeface="Consolas"/>
                <a:cs typeface="Consolas"/>
              </a:defRPr>
            </a:lvl4pPr>
            <a:lvl5pPr algn="l">
              <a:defRPr sz="1725" b="0">
                <a:solidFill>
                  <a:srgbClr val="142E42"/>
                </a:solidFill>
                <a:latin typeface="Consolas"/>
                <a:ea typeface="Consolas"/>
                <a:cs typeface="Consolas"/>
              </a:defRPr>
            </a:lvl5pPr>
            <a:lvl6pPr algn="l">
              <a:defRPr sz="1725" b="0">
                <a:solidFill>
                  <a:srgbClr val="142E42"/>
                </a:solidFill>
                <a:latin typeface="Consolas"/>
                <a:ea typeface="Consolas"/>
                <a:cs typeface="Consolas"/>
              </a:defRPr>
            </a:lvl6pPr>
            <a:lvl7pPr algn="l">
              <a:defRPr sz="1725" b="0">
                <a:solidFill>
                  <a:srgbClr val="142E42"/>
                </a:solidFill>
                <a:latin typeface="Consolas"/>
                <a:ea typeface="Consolas"/>
                <a:cs typeface="Consolas"/>
              </a:defRPr>
            </a:lvl7pPr>
            <a:lvl8pPr algn="l">
              <a:defRPr sz="1725" b="0">
                <a:solidFill>
                  <a:srgbClr val="142E42"/>
                </a:solidFill>
                <a:latin typeface="Consolas"/>
                <a:ea typeface="Consolas"/>
                <a:cs typeface="Consolas"/>
              </a:defRPr>
            </a:lvl8pPr>
            <a:lvl9pPr algn="l">
              <a:defRPr sz="1725" b="0">
                <a:solidFill>
                  <a:srgbClr val="142E42"/>
                </a:solidFill>
                <a:latin typeface="Consolas"/>
                <a:ea typeface="Consolas"/>
                <a:cs typeface="Consolas"/>
              </a:defRPr>
            </a:lvl9pPr>
          </a:lstStyle>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public </a:t>
            </a:r>
            <a:r>
              <a:rPr sz="1725" b="0" dirty="0" err="1">
                <a:solidFill>
                  <a:srgbClr val="142E42"/>
                </a:solidFill>
                <a:latin typeface="Consolas"/>
                <a:ea typeface="Consolas"/>
                <a:cs typeface="Consolas"/>
              </a:rPr>
              <a:t>boolean</a:t>
            </a:r>
            <a:r>
              <a:rPr sz="1725" b="0" dirty="0">
                <a:solidFill>
                  <a:srgbClr val="142E42"/>
                </a:solidFill>
                <a:latin typeface="Consolas"/>
                <a:ea typeface="Consolas"/>
                <a:cs typeface="Consolas"/>
              </a:rPr>
              <a:t> insert(E key) {</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a:t>
            </a:r>
            <a:r>
              <a:rPr sz="1725" b="0" dirty="0" err="1">
                <a:solidFill>
                  <a:srgbClr val="142E42"/>
                </a:solidFill>
                <a:latin typeface="Consolas"/>
                <a:ea typeface="Consolas"/>
                <a:cs typeface="Consolas"/>
              </a:rPr>
              <a:t>Objects.requireNonNull</a:t>
            </a:r>
            <a:r>
              <a:rPr sz="1725" b="0" dirty="0">
                <a:solidFill>
                  <a:srgbClr val="142E42"/>
                </a:solidFill>
                <a:latin typeface="Consolas"/>
                <a:ea typeface="Consolas"/>
                <a:cs typeface="Consolas"/>
              </a:rPr>
              <a:t>(key);</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Node&lt;E&gt; parent = null, x = root;</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int </a:t>
            </a:r>
            <a:r>
              <a:rPr sz="1725" b="0" dirty="0" err="1">
                <a:solidFill>
                  <a:srgbClr val="142E42"/>
                </a:solidFill>
                <a:latin typeface="Consolas"/>
                <a:ea typeface="Consolas"/>
                <a:cs typeface="Consolas"/>
              </a:rPr>
              <a:t>cmp</a:t>
            </a:r>
            <a:r>
              <a:rPr sz="1725" b="0" dirty="0">
                <a:solidFill>
                  <a:srgbClr val="142E42"/>
                </a:solidFill>
                <a:latin typeface="Consolas"/>
                <a:ea typeface="Consolas"/>
                <a:cs typeface="Consolas"/>
              </a:rPr>
              <a:t> = 0;</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while (x != null) {</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parent = x;</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a:t>
            </a:r>
            <a:r>
              <a:rPr sz="1725" b="0" dirty="0" err="1">
                <a:solidFill>
                  <a:srgbClr val="142E42"/>
                </a:solidFill>
                <a:latin typeface="Consolas"/>
                <a:ea typeface="Consolas"/>
                <a:cs typeface="Consolas"/>
              </a:rPr>
              <a:t>cmp</a:t>
            </a:r>
            <a:r>
              <a:rPr sz="1725" b="0" dirty="0">
                <a:solidFill>
                  <a:srgbClr val="142E42"/>
                </a:solidFill>
                <a:latin typeface="Consolas"/>
                <a:ea typeface="Consolas"/>
                <a:cs typeface="Consolas"/>
              </a:rPr>
              <a:t> = </a:t>
            </a:r>
            <a:r>
              <a:rPr sz="1725" b="0" dirty="0" err="1">
                <a:solidFill>
                  <a:srgbClr val="142E42"/>
                </a:solidFill>
                <a:latin typeface="Consolas"/>
                <a:ea typeface="Consolas"/>
                <a:cs typeface="Consolas"/>
              </a:rPr>
              <a:t>key.compareTo</a:t>
            </a:r>
            <a:r>
              <a:rPr sz="1725" b="0" dirty="0">
                <a:solidFill>
                  <a:srgbClr val="142E42"/>
                </a:solidFill>
                <a:latin typeface="Consolas"/>
                <a:ea typeface="Consolas"/>
                <a:cs typeface="Consolas"/>
              </a:rPr>
              <a:t>(</a:t>
            </a:r>
            <a:r>
              <a:rPr sz="1725" b="0" dirty="0" err="1">
                <a:solidFill>
                  <a:srgbClr val="142E42"/>
                </a:solidFill>
                <a:latin typeface="Consolas"/>
                <a:ea typeface="Consolas"/>
                <a:cs typeface="Consolas"/>
              </a:rPr>
              <a:t>x.key</a:t>
            </a:r>
            <a:r>
              <a:rPr sz="1725" b="0" dirty="0">
                <a:solidFill>
                  <a:srgbClr val="142E42"/>
                </a:solidFill>
                <a:latin typeface="Consolas"/>
                <a:ea typeface="Consolas"/>
                <a:cs typeface="Consolas"/>
              </a:rPr>
              <a:t>);</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if (</a:t>
            </a:r>
            <a:r>
              <a:rPr sz="1725" b="0" dirty="0" err="1">
                <a:solidFill>
                  <a:srgbClr val="142E42"/>
                </a:solidFill>
                <a:latin typeface="Consolas"/>
                <a:ea typeface="Consolas"/>
                <a:cs typeface="Consolas"/>
              </a:rPr>
              <a:t>cmp</a:t>
            </a:r>
            <a:r>
              <a:rPr sz="1725" b="0" dirty="0">
                <a:solidFill>
                  <a:srgbClr val="142E42"/>
                </a:solidFill>
                <a:latin typeface="Consolas"/>
                <a:ea typeface="Consolas"/>
                <a:cs typeface="Consolas"/>
              </a:rPr>
              <a:t> == 0) return false;</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x = </a:t>
            </a:r>
            <a:r>
              <a:rPr sz="1725" b="0" dirty="0" err="1">
                <a:solidFill>
                  <a:srgbClr val="142E42"/>
                </a:solidFill>
                <a:latin typeface="Consolas"/>
                <a:ea typeface="Consolas"/>
                <a:cs typeface="Consolas"/>
              </a:rPr>
              <a:t>cmp</a:t>
            </a:r>
            <a:r>
              <a:rPr sz="1725" b="0" dirty="0">
                <a:solidFill>
                  <a:srgbClr val="142E42"/>
                </a:solidFill>
                <a:latin typeface="Consolas"/>
                <a:ea typeface="Consolas"/>
                <a:cs typeface="Consolas"/>
              </a:rPr>
              <a:t> &lt; 0 ? </a:t>
            </a:r>
            <a:r>
              <a:rPr sz="1725" b="0" dirty="0" err="1">
                <a:solidFill>
                  <a:srgbClr val="142E42"/>
                </a:solidFill>
                <a:latin typeface="Consolas"/>
                <a:ea typeface="Consolas"/>
                <a:cs typeface="Consolas"/>
              </a:rPr>
              <a:t>x.left</a:t>
            </a:r>
            <a:r>
              <a:rPr sz="1725" b="0" dirty="0">
                <a:solidFill>
                  <a:srgbClr val="142E42"/>
                </a:solidFill>
                <a:latin typeface="Consolas"/>
                <a:ea typeface="Consolas"/>
                <a:cs typeface="Consolas"/>
              </a:rPr>
              <a:t> : </a:t>
            </a:r>
            <a:r>
              <a:rPr sz="1725" b="0" dirty="0" err="1">
                <a:solidFill>
                  <a:srgbClr val="142E42"/>
                </a:solidFill>
                <a:latin typeface="Consolas"/>
                <a:ea typeface="Consolas"/>
                <a:cs typeface="Consolas"/>
              </a:rPr>
              <a:t>x.right</a:t>
            </a:r>
            <a:r>
              <a:rPr sz="1725" b="0" dirty="0">
                <a:solidFill>
                  <a:srgbClr val="142E42"/>
                </a:solidFill>
                <a:latin typeface="Consolas"/>
                <a:ea typeface="Consolas"/>
                <a:cs typeface="Consolas"/>
              </a:rPr>
              <a:t>;</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Node&lt;E&gt; node = new Node&lt;&gt;(key);</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if (parent == null) root = node;</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else if (</a:t>
            </a:r>
            <a:r>
              <a:rPr sz="1725" b="0" dirty="0" err="1">
                <a:solidFill>
                  <a:srgbClr val="142E42"/>
                </a:solidFill>
                <a:latin typeface="Consolas"/>
                <a:ea typeface="Consolas"/>
                <a:cs typeface="Consolas"/>
              </a:rPr>
              <a:t>cmp</a:t>
            </a:r>
            <a:r>
              <a:rPr sz="1725" b="0" dirty="0">
                <a:solidFill>
                  <a:srgbClr val="142E42"/>
                </a:solidFill>
                <a:latin typeface="Consolas"/>
                <a:ea typeface="Consolas"/>
                <a:cs typeface="Consolas"/>
              </a:rPr>
              <a:t> &lt; 0) </a:t>
            </a:r>
            <a:r>
              <a:rPr sz="1725" b="0" dirty="0" err="1">
                <a:solidFill>
                  <a:srgbClr val="142E42"/>
                </a:solidFill>
                <a:latin typeface="Consolas"/>
                <a:ea typeface="Consolas"/>
                <a:cs typeface="Consolas"/>
              </a:rPr>
              <a:t>parent.left</a:t>
            </a:r>
            <a:r>
              <a:rPr sz="1725" b="0" dirty="0">
                <a:solidFill>
                  <a:srgbClr val="142E42"/>
                </a:solidFill>
                <a:latin typeface="Consolas"/>
                <a:ea typeface="Consolas"/>
                <a:cs typeface="Consolas"/>
              </a:rPr>
              <a:t> = node;</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else </a:t>
            </a:r>
            <a:r>
              <a:rPr sz="1725" b="0" dirty="0" err="1">
                <a:solidFill>
                  <a:srgbClr val="142E42"/>
                </a:solidFill>
                <a:latin typeface="Consolas"/>
                <a:ea typeface="Consolas"/>
                <a:cs typeface="Consolas"/>
              </a:rPr>
              <a:t>parent.right</a:t>
            </a:r>
            <a:r>
              <a:rPr sz="1725" b="0" dirty="0">
                <a:solidFill>
                  <a:srgbClr val="142E42"/>
                </a:solidFill>
                <a:latin typeface="Consolas"/>
                <a:ea typeface="Consolas"/>
                <a:cs typeface="Consolas"/>
              </a:rPr>
              <a:t> = node;</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size++;</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    return true;</a:t>
            </a:r>
          </a:p>
          <a:p>
            <a:pPr algn="l">
              <a:defRPr sz="1725" b="0">
                <a:solidFill>
                  <a:srgbClr val="142E42"/>
                </a:solidFill>
                <a:latin typeface="Consolas"/>
                <a:ea typeface="Consolas"/>
                <a:cs typeface="Consolas"/>
              </a:defRPr>
            </a:pPr>
            <a:r>
              <a:rPr sz="1725" b="0" dirty="0">
                <a:solidFill>
                  <a:srgbClr val="142E42"/>
                </a:solidFill>
                <a:latin typeface="Consolas"/>
                <a:ea typeface="Consolas"/>
                <a:cs typeface="Consolas"/>
              </a:rPr>
              <a:t>}</a:t>
            </a:r>
          </a:p>
        </p:txBody>
      </p:sp>
    </p:spTree>
    <p:extLst>
      <p:ext uri="{BB962C8B-B14F-4D97-AF65-F5344CB8AC3E}">
        <p14:creationId xmlns:p14="http://schemas.microsoft.com/office/powerpoint/2010/main" val="356228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1" name="text-0">
            <a:extLst>
              <a:ext uri="{FF2B5EF4-FFF2-40B4-BE49-F238E27FC236}">
                <a16:creationId xmlns:a16="http://schemas.microsoft.com/office/drawing/2014/main" id="{91E79BFF-4008-42BA-8A2E-B0F81DB2C5C8}"/>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An expression tree is a binary tree</a:t>
            </a:r>
          </a:p>
        </p:txBody>
      </p:sp>
      <p:sp>
        <p:nvSpPr>
          <p:cNvPr id="2" name="text-1">
            <a:extLst>
              <a:ext uri="{FF2B5EF4-FFF2-40B4-BE49-F238E27FC236}">
                <a16:creationId xmlns:a16="http://schemas.microsoft.com/office/drawing/2014/main" id="{65143CD4-F3D8-4449-9DE8-82DAE013E7F0}"/>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19</a:t>
            </a:r>
          </a:p>
        </p:txBody>
      </p:sp>
      <p:sp>
        <p:nvSpPr>
          <p:cNvPr id="3" name="text-2">
            <a:extLst>
              <a:ext uri="{FF2B5EF4-FFF2-40B4-BE49-F238E27FC236}">
                <a16:creationId xmlns:a16="http://schemas.microsoft.com/office/drawing/2014/main" id="{960DA9B5-EDB5-4825-BB63-B532A0D2D0AE}"/>
              </a:ext>
            </a:extLst>
          </p:cNvPr>
          <p:cNvSpPr>
            <a:spLocks noGrp="1"/>
          </p:cNvSpPr>
          <p:nvPr/>
        </p:nvSpPr>
        <p:spPr>
          <a:xfrm>
            <a:off x="609600" y="1571625"/>
            <a:ext cx="6000750" cy="3905250"/>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defRPr sz="2175" b="0">
                <a:solidFill>
                  <a:srgbClr val="142E42"/>
                </a:solidFill>
                <a:latin typeface="Arial"/>
                <a:ea typeface="Arial"/>
                <a:cs typeface="Arial"/>
              </a:defRPr>
            </a:lvl1pPr>
            <a:lvl2pPr algn="l">
              <a:defRPr sz="2175" b="0">
                <a:solidFill>
                  <a:srgbClr val="142E42"/>
                </a:solidFill>
                <a:latin typeface="Arial"/>
                <a:ea typeface="Arial"/>
                <a:cs typeface="Arial"/>
              </a:defRPr>
            </a:lvl2pPr>
            <a:lvl3pPr algn="l">
              <a:defRPr sz="2175" b="0">
                <a:solidFill>
                  <a:srgbClr val="142E42"/>
                </a:solidFill>
                <a:latin typeface="Arial"/>
                <a:ea typeface="Arial"/>
                <a:cs typeface="Arial"/>
              </a:defRPr>
            </a:lvl3pPr>
            <a:lvl4pPr algn="l">
              <a:defRPr sz="2175" b="0">
                <a:solidFill>
                  <a:srgbClr val="142E42"/>
                </a:solidFill>
                <a:latin typeface="Arial"/>
                <a:ea typeface="Arial"/>
                <a:cs typeface="Arial"/>
              </a:defRPr>
            </a:lvl4pPr>
            <a:lvl5pPr algn="l">
              <a:defRPr sz="2175" b="0">
                <a:solidFill>
                  <a:srgbClr val="142E42"/>
                </a:solidFill>
                <a:latin typeface="Arial"/>
                <a:ea typeface="Arial"/>
                <a:cs typeface="Arial"/>
              </a:defRPr>
            </a:lvl5pPr>
            <a:lvl6pPr algn="l">
              <a:defRPr sz="2175" b="0">
                <a:solidFill>
                  <a:srgbClr val="142E42"/>
                </a:solidFill>
                <a:latin typeface="Arial"/>
                <a:ea typeface="Arial"/>
                <a:cs typeface="Arial"/>
              </a:defRPr>
            </a:lvl6pPr>
            <a:lvl7pPr algn="l">
              <a:defRPr sz="2175" b="0">
                <a:solidFill>
                  <a:srgbClr val="142E42"/>
                </a:solidFill>
                <a:latin typeface="Arial"/>
                <a:ea typeface="Arial"/>
                <a:cs typeface="Arial"/>
              </a:defRPr>
            </a:lvl7pPr>
            <a:lvl8pPr algn="l">
              <a:defRPr sz="2175" b="0">
                <a:solidFill>
                  <a:srgbClr val="142E42"/>
                </a:solidFill>
                <a:latin typeface="Arial"/>
                <a:ea typeface="Arial"/>
                <a:cs typeface="Arial"/>
              </a:defRPr>
            </a:lvl8pPr>
            <a:lvl9pPr algn="l">
              <a:defRPr sz="2175" b="0">
                <a:solidFill>
                  <a:srgbClr val="142E42"/>
                </a:solidFill>
                <a:latin typeface="Arial"/>
                <a:ea typeface="Arial"/>
                <a:cs typeface="Arial"/>
              </a:defRPr>
            </a:lvl9pPr>
          </a:lstStyle>
          <a:p>
            <a:pPr algn="l">
              <a:defRPr sz="2175" b="0">
                <a:solidFill>
                  <a:srgbClr val="142E42"/>
                </a:solidFill>
                <a:latin typeface="Arial"/>
                <a:ea typeface="Arial"/>
                <a:cs typeface="Arial"/>
              </a:defRPr>
            </a:pPr>
            <a:r>
              <a:rPr sz="2175" b="0">
                <a:solidFill>
                  <a:srgbClr val="142E42"/>
                </a:solidFill>
                <a:latin typeface="Arial"/>
                <a:ea typeface="Arial"/>
                <a:cs typeface="Arial"/>
              </a:rPr>
              <a:t>Expression:</a:t>
            </a:r>
          </a:p>
          <a:p>
            <a:pPr algn="l">
              <a:defRPr sz="2175" b="0">
                <a:solidFill>
                  <a:srgbClr val="142E42"/>
                </a:solidFill>
                <a:latin typeface="Arial"/>
                <a:ea typeface="Arial"/>
                <a:cs typeface="Arial"/>
              </a:defRPr>
            </a:pPr>
            <a:r>
              <a:rPr sz="2175" b="0">
                <a:solidFill>
                  <a:srgbClr val="142E42"/>
                </a:solidFill>
                <a:latin typeface="Arial"/>
                <a:ea typeface="Arial"/>
                <a:cs typeface="Arial"/>
              </a:rPr>
              <a:t>2 × (a − 1) + 3 × b</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Internal nodes hold operators.</a:t>
            </a:r>
          </a:p>
          <a:p>
            <a:pPr algn="l">
              <a:defRPr sz="2175" b="0">
                <a:solidFill>
                  <a:srgbClr val="142E42"/>
                </a:solidFill>
                <a:latin typeface="Arial"/>
                <a:ea typeface="Arial"/>
                <a:cs typeface="Arial"/>
              </a:defRPr>
            </a:pPr>
            <a:r>
              <a:rPr sz="2175" b="0">
                <a:solidFill>
                  <a:srgbClr val="142E42"/>
                </a:solidFill>
                <a:latin typeface="Arial"/>
                <a:ea typeface="Arial"/>
                <a:cs typeface="Arial"/>
              </a:rPr>
              <a:t>Leaves hold operands.</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The shape captures evaluation</a:t>
            </a:r>
          </a:p>
          <a:p>
            <a:pPr algn="l">
              <a:defRPr sz="2175" b="0">
                <a:solidFill>
                  <a:srgbClr val="142E42"/>
                </a:solidFill>
                <a:latin typeface="Arial"/>
                <a:ea typeface="Arial"/>
                <a:cs typeface="Arial"/>
              </a:defRPr>
            </a:pPr>
            <a:r>
              <a:rPr sz="2175" b="0">
                <a:solidFill>
                  <a:srgbClr val="142E42"/>
                </a:solidFill>
                <a:latin typeface="Arial"/>
                <a:ea typeface="Arial"/>
                <a:cs typeface="Arial"/>
              </a:rPr>
              <a:t>order rather than key ordering.</a:t>
            </a:r>
          </a:p>
        </p:txBody>
      </p:sp>
      <p:sp>
        <p:nvSpPr>
          <p:cNvPr id="4" name="source-diagram-dg18-10248">
            <a:extLst>
              <a:ext uri="{FF2B5EF4-FFF2-40B4-BE49-F238E27FC236}">
                <a16:creationId xmlns:a16="http://schemas.microsoft.com/office/drawing/2014/main" id="{F1F59E46-350E-48AB-BAD5-4256539E8951}"/>
              </a:ext>
            </a:extLst>
          </p:cNvPr>
          <p:cNvSpPr>
            <a:spLocks noGrp="1"/>
          </p:cNvSpPr>
          <p:nvPr/>
        </p:nvSpPr>
        <p:spPr>
          <a:xfrm>
            <a:off x="9503833" y="2047875"/>
            <a:ext cx="433917" cy="433917"/>
          </a:xfrm>
          <a:prstGeom prst="ellipse">
            <a:avLst/>
          </a:prstGeom>
          <a:solidFill>
            <a:srgbClr val="E5EEF2"/>
          </a:solidFill>
          <a:ln w="19050">
            <a:solidFill>
              <a:srgbClr val="142E42"/>
            </a:solidFill>
            <a:round/>
          </a:ln>
        </p:spPr>
        <p:txBody>
          <a:bodyPr wrap="square" lIns="0" tIns="0" rIns="0" bIns="0" anchor="ctr"/>
          <a:lstStyle/>
          <a:p>
            <a:pPr marL="0" indent="0" algn="ctr">
              <a:buNone/>
            </a:pPr>
            <a:r>
              <a:rPr sz="1298" b="0">
                <a:solidFill>
                  <a:srgbClr val="142E42"/>
                </a:solidFill>
                <a:latin typeface="Arial"/>
                <a:ea typeface="Arial"/>
                <a:cs typeface="Arial"/>
              </a:rPr>
              <a:t>+</a:t>
            </a:r>
          </a:p>
        </p:txBody>
      </p:sp>
      <p:sp>
        <p:nvSpPr>
          <p:cNvPr id="5" name="source-diagram-dg18-10249">
            <a:extLst>
              <a:ext uri="{FF2B5EF4-FFF2-40B4-BE49-F238E27FC236}">
                <a16:creationId xmlns:a16="http://schemas.microsoft.com/office/drawing/2014/main" id="{ABA0E6A7-E94E-4612-B501-D60BA044EE7A}"/>
              </a:ext>
            </a:extLst>
          </p:cNvPr>
          <p:cNvSpPr>
            <a:spLocks noGrp="1"/>
          </p:cNvSpPr>
          <p:nvPr/>
        </p:nvSpPr>
        <p:spPr>
          <a:xfrm>
            <a:off x="10371667" y="2742142"/>
            <a:ext cx="433917" cy="433917"/>
          </a:xfrm>
          <a:prstGeom prst="ellipse">
            <a:avLst/>
          </a:prstGeom>
          <a:solidFill>
            <a:srgbClr val="E5EEF2"/>
          </a:solidFill>
          <a:ln w="19050">
            <a:solidFill>
              <a:srgbClr val="142E42"/>
            </a:solidFill>
            <a:round/>
          </a:ln>
        </p:spPr>
        <p:txBody>
          <a:bodyPr wrap="square" lIns="0" tIns="0" rIns="0" bIns="0" anchor="ctr"/>
          <a:lstStyle/>
          <a:p>
            <a:pPr marL="0" indent="0" algn="ctr">
              <a:buNone/>
            </a:pPr>
            <a:r>
              <a:rPr sz="1298" b="0">
                <a:solidFill>
                  <a:srgbClr val="142E42"/>
                </a:solidFill>
                <a:latin typeface="Arial"/>
                <a:ea typeface="Arial"/>
                <a:cs typeface="Arial"/>
              </a:rPr>
              <a:t>×</a:t>
            </a:r>
          </a:p>
        </p:txBody>
      </p:sp>
      <p:sp>
        <p:nvSpPr>
          <p:cNvPr id="6" name="source-diagram-dg18-10250">
            <a:extLst>
              <a:ext uri="{FF2B5EF4-FFF2-40B4-BE49-F238E27FC236}">
                <a16:creationId xmlns:a16="http://schemas.microsoft.com/office/drawing/2014/main" id="{D01043B5-1E79-4A1E-9748-EE3D716B8494}"/>
              </a:ext>
            </a:extLst>
          </p:cNvPr>
          <p:cNvSpPr>
            <a:spLocks noGrp="1"/>
          </p:cNvSpPr>
          <p:nvPr/>
        </p:nvSpPr>
        <p:spPr>
          <a:xfrm>
            <a:off x="7768167" y="2742142"/>
            <a:ext cx="433917" cy="433917"/>
          </a:xfrm>
          <a:prstGeom prst="ellipse">
            <a:avLst/>
          </a:prstGeom>
          <a:solidFill>
            <a:srgbClr val="E5EEF2"/>
          </a:solidFill>
          <a:ln w="19050">
            <a:solidFill>
              <a:srgbClr val="142E42"/>
            </a:solidFill>
            <a:round/>
          </a:ln>
        </p:spPr>
        <p:txBody>
          <a:bodyPr wrap="square" lIns="0" tIns="0" rIns="0" bIns="0" anchor="ctr"/>
          <a:lstStyle/>
          <a:p>
            <a:pPr marL="0" indent="0" algn="ctr">
              <a:buNone/>
            </a:pPr>
            <a:r>
              <a:rPr sz="1298" b="0">
                <a:solidFill>
                  <a:srgbClr val="142E42"/>
                </a:solidFill>
                <a:latin typeface="Arial"/>
                <a:ea typeface="Arial"/>
                <a:cs typeface="Arial"/>
              </a:rPr>
              <a:t>×</a:t>
            </a:r>
            <a:endParaRPr>
              <a:latin typeface="Symbol"/>
              <a:ea typeface="Symbol"/>
              <a:cs typeface="Symbol"/>
            </a:endParaRPr>
          </a:p>
        </p:txBody>
      </p:sp>
      <p:sp>
        <p:nvSpPr>
          <p:cNvPr id="7" name="source-diagram-dg18-10251">
            <a:extLst>
              <a:ext uri="{FF2B5EF4-FFF2-40B4-BE49-F238E27FC236}">
                <a16:creationId xmlns:a16="http://schemas.microsoft.com/office/drawing/2014/main" id="{B4ED74E2-BD96-48DD-B467-9BDDEA96F8E9}"/>
              </a:ext>
            </a:extLst>
          </p:cNvPr>
          <p:cNvSpPr>
            <a:spLocks noGrp="1"/>
          </p:cNvSpPr>
          <p:nvPr/>
        </p:nvSpPr>
        <p:spPr>
          <a:xfrm>
            <a:off x="8636000" y="3436408"/>
            <a:ext cx="433917" cy="433917"/>
          </a:xfrm>
          <a:prstGeom prst="ellipse">
            <a:avLst/>
          </a:prstGeom>
          <a:solidFill>
            <a:srgbClr val="E5EEF2"/>
          </a:solidFill>
          <a:ln w="19050">
            <a:solidFill>
              <a:srgbClr val="142E42"/>
            </a:solidFill>
            <a:round/>
          </a:ln>
        </p:spPr>
        <p:txBody>
          <a:bodyPr wrap="square" lIns="0" tIns="0" rIns="0" bIns="0" anchor="ctr"/>
          <a:lstStyle/>
          <a:p>
            <a:pPr marL="0" indent="0" algn="ctr">
              <a:buNone/>
            </a:pPr>
            <a:r>
              <a:rPr sz="1298" b="0">
                <a:solidFill>
                  <a:srgbClr val="142E42"/>
                </a:solidFill>
                <a:latin typeface="Arial"/>
                <a:ea typeface="Arial"/>
                <a:cs typeface="Arial"/>
              </a:rPr>
              <a:t>-</a:t>
            </a:r>
          </a:p>
        </p:txBody>
      </p:sp>
      <p:sp>
        <p:nvSpPr>
          <p:cNvPr id="8" name="source-diagram-dg18-10252">
            <a:extLst>
              <a:ext uri="{FF2B5EF4-FFF2-40B4-BE49-F238E27FC236}">
                <a16:creationId xmlns:a16="http://schemas.microsoft.com/office/drawing/2014/main" id="{4B2E74E6-7533-412C-8FDA-8A2912835797}"/>
              </a:ext>
            </a:extLst>
          </p:cNvPr>
          <p:cNvSpPr>
            <a:spLocks noGrp="1"/>
          </p:cNvSpPr>
          <p:nvPr/>
        </p:nvSpPr>
        <p:spPr>
          <a:xfrm>
            <a:off x="7334250" y="3436408"/>
            <a:ext cx="433917" cy="433917"/>
          </a:xfrm>
          <a:prstGeom prst="rect">
            <a:avLst/>
          </a:prstGeom>
          <a:solidFill>
            <a:srgbClr val="E5EEF2"/>
          </a:solidFill>
          <a:ln w="19050">
            <a:solidFill>
              <a:srgbClr val="142E42"/>
            </a:solidFill>
            <a:miter/>
          </a:ln>
        </p:spPr>
        <p:txBody>
          <a:bodyPr wrap="square" lIns="0" tIns="0" rIns="0" bIns="0" anchor="ctr"/>
          <a:lstStyle/>
          <a:p>
            <a:pPr marL="0" indent="0" algn="ctr">
              <a:buNone/>
            </a:pPr>
            <a:r>
              <a:rPr sz="1298" b="0">
                <a:solidFill>
                  <a:srgbClr val="142E42"/>
                </a:solidFill>
                <a:latin typeface="Arial"/>
                <a:ea typeface="Arial"/>
                <a:cs typeface="Arial"/>
              </a:rPr>
              <a:t>2</a:t>
            </a:r>
          </a:p>
        </p:txBody>
      </p:sp>
      <p:sp>
        <p:nvSpPr>
          <p:cNvPr id="9" name="source-diagram-dg18-10253">
            <a:extLst>
              <a:ext uri="{FF2B5EF4-FFF2-40B4-BE49-F238E27FC236}">
                <a16:creationId xmlns:a16="http://schemas.microsoft.com/office/drawing/2014/main" id="{9A17563E-AF69-48D3-BD54-16B22CF5E5C1}"/>
              </a:ext>
            </a:extLst>
          </p:cNvPr>
          <p:cNvSpPr>
            <a:spLocks noGrp="1"/>
          </p:cNvSpPr>
          <p:nvPr/>
        </p:nvSpPr>
        <p:spPr>
          <a:xfrm>
            <a:off x="8202083" y="4217458"/>
            <a:ext cx="433917" cy="433917"/>
          </a:xfrm>
          <a:prstGeom prst="rect">
            <a:avLst/>
          </a:prstGeom>
          <a:solidFill>
            <a:srgbClr val="E5EEF2"/>
          </a:solidFill>
          <a:ln w="19050">
            <a:solidFill>
              <a:srgbClr val="142E42"/>
            </a:solidFill>
            <a:miter/>
          </a:ln>
        </p:spPr>
        <p:txBody>
          <a:bodyPr wrap="square" lIns="0" tIns="0" rIns="0" bIns="0" anchor="ctr"/>
          <a:lstStyle/>
          <a:p>
            <a:pPr marL="0" indent="0" algn="ctr">
              <a:buNone/>
            </a:pPr>
            <a:r>
              <a:rPr sz="1298" b="0">
                <a:solidFill>
                  <a:srgbClr val="142E42"/>
                </a:solidFill>
                <a:latin typeface="Arial"/>
                <a:ea typeface="Arial"/>
                <a:cs typeface="Arial"/>
              </a:rPr>
              <a:t>a</a:t>
            </a:r>
          </a:p>
        </p:txBody>
      </p:sp>
      <p:sp>
        <p:nvSpPr>
          <p:cNvPr id="10" name="source-diagram-dg18-10254">
            <a:extLst>
              <a:ext uri="{FF2B5EF4-FFF2-40B4-BE49-F238E27FC236}">
                <a16:creationId xmlns:a16="http://schemas.microsoft.com/office/drawing/2014/main" id="{3F6527B4-4C39-4466-BC06-0AF3A1C84A0B}"/>
              </a:ext>
            </a:extLst>
          </p:cNvPr>
          <p:cNvSpPr>
            <a:spLocks noGrp="1"/>
          </p:cNvSpPr>
          <p:nvPr/>
        </p:nvSpPr>
        <p:spPr>
          <a:xfrm>
            <a:off x="9069917" y="4217458"/>
            <a:ext cx="433917" cy="433917"/>
          </a:xfrm>
          <a:prstGeom prst="rect">
            <a:avLst/>
          </a:prstGeom>
          <a:solidFill>
            <a:srgbClr val="E5EEF2"/>
          </a:solidFill>
          <a:ln w="19050">
            <a:solidFill>
              <a:srgbClr val="142E42"/>
            </a:solidFill>
            <a:miter/>
          </a:ln>
        </p:spPr>
        <p:txBody>
          <a:bodyPr wrap="square" lIns="0" tIns="0" rIns="0" bIns="0" anchor="ctr"/>
          <a:lstStyle/>
          <a:p>
            <a:pPr marL="0" indent="0" algn="ctr">
              <a:buNone/>
            </a:pPr>
            <a:r>
              <a:rPr sz="1298" b="0">
                <a:solidFill>
                  <a:srgbClr val="142E42"/>
                </a:solidFill>
                <a:latin typeface="Arial"/>
                <a:ea typeface="Arial"/>
                <a:cs typeface="Arial"/>
              </a:rPr>
              <a:t>1</a:t>
            </a:r>
          </a:p>
        </p:txBody>
      </p:sp>
      <p:sp>
        <p:nvSpPr>
          <p:cNvPr id="11" name="source-diagram-dg18-10255">
            <a:extLst>
              <a:ext uri="{FF2B5EF4-FFF2-40B4-BE49-F238E27FC236}">
                <a16:creationId xmlns:a16="http://schemas.microsoft.com/office/drawing/2014/main" id="{DB4AB9CC-E323-4BDE-94E1-35849D8A65FB}"/>
              </a:ext>
            </a:extLst>
          </p:cNvPr>
          <p:cNvSpPr>
            <a:spLocks noGrp="1"/>
          </p:cNvSpPr>
          <p:nvPr/>
        </p:nvSpPr>
        <p:spPr>
          <a:xfrm>
            <a:off x="9937750" y="3436408"/>
            <a:ext cx="433917" cy="433917"/>
          </a:xfrm>
          <a:prstGeom prst="rect">
            <a:avLst/>
          </a:prstGeom>
          <a:solidFill>
            <a:srgbClr val="E5EEF2"/>
          </a:solidFill>
          <a:ln w="19050">
            <a:solidFill>
              <a:srgbClr val="142E42"/>
            </a:solidFill>
            <a:miter/>
          </a:ln>
        </p:spPr>
        <p:txBody>
          <a:bodyPr wrap="square" lIns="0" tIns="0" rIns="0" bIns="0" anchor="ctr"/>
          <a:lstStyle/>
          <a:p>
            <a:pPr marL="0" indent="0" algn="ctr">
              <a:buNone/>
            </a:pPr>
            <a:r>
              <a:rPr sz="1298" b="0">
                <a:solidFill>
                  <a:srgbClr val="142E42"/>
                </a:solidFill>
                <a:latin typeface="Arial"/>
                <a:ea typeface="Arial"/>
                <a:cs typeface="Arial"/>
              </a:rPr>
              <a:t>3</a:t>
            </a:r>
          </a:p>
        </p:txBody>
      </p:sp>
      <p:sp>
        <p:nvSpPr>
          <p:cNvPr id="12" name="source-diagram-dg18-10256">
            <a:extLst>
              <a:ext uri="{FF2B5EF4-FFF2-40B4-BE49-F238E27FC236}">
                <a16:creationId xmlns:a16="http://schemas.microsoft.com/office/drawing/2014/main" id="{C9A073D4-8196-4EEF-A838-0A0D88B8915C}"/>
              </a:ext>
            </a:extLst>
          </p:cNvPr>
          <p:cNvSpPr>
            <a:spLocks noGrp="1"/>
          </p:cNvSpPr>
          <p:nvPr/>
        </p:nvSpPr>
        <p:spPr>
          <a:xfrm>
            <a:off x="10805583" y="3436408"/>
            <a:ext cx="433917" cy="433917"/>
          </a:xfrm>
          <a:prstGeom prst="rect">
            <a:avLst/>
          </a:prstGeom>
          <a:solidFill>
            <a:srgbClr val="E5EEF2"/>
          </a:solidFill>
          <a:ln w="19050">
            <a:solidFill>
              <a:srgbClr val="142E42"/>
            </a:solidFill>
            <a:miter/>
          </a:ln>
        </p:spPr>
        <p:txBody>
          <a:bodyPr wrap="square" lIns="0" tIns="0" rIns="0" bIns="0" anchor="ctr"/>
          <a:lstStyle/>
          <a:p>
            <a:pPr marL="0" indent="0" algn="ctr">
              <a:buNone/>
            </a:pPr>
            <a:r>
              <a:rPr sz="1298" b="0">
                <a:solidFill>
                  <a:srgbClr val="142E42"/>
                </a:solidFill>
                <a:latin typeface="Arial"/>
                <a:ea typeface="Arial"/>
                <a:cs typeface="Arial"/>
              </a:rPr>
              <a:t>b</a:t>
            </a:r>
          </a:p>
        </p:txBody>
      </p:sp>
      <p:cxnSp>
        <p:nvCxnSpPr>
          <p:cNvPr id="13" name="source-diagram-dg18-10257">
            <a:extLst>
              <a:ext uri="{FF2B5EF4-FFF2-40B4-BE49-F238E27FC236}">
                <a16:creationId xmlns:a16="http://schemas.microsoft.com/office/drawing/2014/main" id="{7B2997FF-C805-4C88-A5DD-6B21CE6A6DBC}"/>
              </a:ext>
            </a:extLst>
          </p:cNvPr>
          <p:cNvCxnSpPr/>
          <p:nvPr/>
        </p:nvCxnSpPr>
        <p:spPr>
          <a:xfrm flipH="1">
            <a:off x="8138803" y="2429360"/>
            <a:ext cx="1428309" cy="365213"/>
          </a:xfrm>
          <a:prstGeom prst="straightConnector1">
            <a:avLst/>
          </a:prstGeom>
          <a:ln w="19050">
            <a:solidFill>
              <a:srgbClr val="142E42"/>
            </a:solidFill>
            <a:round/>
          </a:ln>
        </p:spPr>
      </p:cxnSp>
      <p:cxnSp>
        <p:nvCxnSpPr>
          <p:cNvPr id="14" name="source-diagram-dg18-10258">
            <a:extLst>
              <a:ext uri="{FF2B5EF4-FFF2-40B4-BE49-F238E27FC236}">
                <a16:creationId xmlns:a16="http://schemas.microsoft.com/office/drawing/2014/main" id="{5AC55646-BFBD-49B1-BF4F-C83AFF56CDE1}"/>
              </a:ext>
            </a:extLst>
          </p:cNvPr>
          <p:cNvCxnSpPr/>
          <p:nvPr/>
        </p:nvCxnSpPr>
        <p:spPr>
          <a:xfrm flipH="1" flipV="1">
            <a:off x="9874470" y="2429360"/>
            <a:ext cx="560476" cy="365213"/>
          </a:xfrm>
          <a:prstGeom prst="straightConnector1">
            <a:avLst/>
          </a:prstGeom>
          <a:ln w="19050">
            <a:solidFill>
              <a:srgbClr val="142E42"/>
            </a:solidFill>
            <a:round/>
          </a:ln>
        </p:spPr>
      </p:cxnSp>
      <p:cxnSp>
        <p:nvCxnSpPr>
          <p:cNvPr id="15" name="source-diagram-dg18-10259">
            <a:extLst>
              <a:ext uri="{FF2B5EF4-FFF2-40B4-BE49-F238E27FC236}">
                <a16:creationId xmlns:a16="http://schemas.microsoft.com/office/drawing/2014/main" id="{3F26B78B-133A-4088-8366-75F3F877854C}"/>
              </a:ext>
            </a:extLst>
          </p:cNvPr>
          <p:cNvCxnSpPr/>
          <p:nvPr/>
        </p:nvCxnSpPr>
        <p:spPr>
          <a:xfrm flipH="1" flipV="1">
            <a:off x="10742303" y="3123626"/>
            <a:ext cx="280237" cy="301933"/>
          </a:xfrm>
          <a:prstGeom prst="straightConnector1">
            <a:avLst/>
          </a:prstGeom>
          <a:ln w="19050">
            <a:solidFill>
              <a:srgbClr val="142E42"/>
            </a:solidFill>
            <a:round/>
          </a:ln>
        </p:spPr>
      </p:cxnSp>
      <p:cxnSp>
        <p:nvCxnSpPr>
          <p:cNvPr id="16" name="source-diagram-dg18-10260">
            <a:extLst>
              <a:ext uri="{FF2B5EF4-FFF2-40B4-BE49-F238E27FC236}">
                <a16:creationId xmlns:a16="http://schemas.microsoft.com/office/drawing/2014/main" id="{0D8BED71-5852-426B-8CF4-6752248653A9}"/>
              </a:ext>
            </a:extLst>
          </p:cNvPr>
          <p:cNvCxnSpPr/>
          <p:nvPr/>
        </p:nvCxnSpPr>
        <p:spPr>
          <a:xfrm flipV="1">
            <a:off x="10154708" y="3123626"/>
            <a:ext cx="280237" cy="301933"/>
          </a:xfrm>
          <a:prstGeom prst="straightConnector1">
            <a:avLst/>
          </a:prstGeom>
          <a:ln w="19050">
            <a:solidFill>
              <a:srgbClr val="142E42"/>
            </a:solidFill>
            <a:round/>
          </a:ln>
        </p:spPr>
      </p:cxnSp>
      <p:cxnSp>
        <p:nvCxnSpPr>
          <p:cNvPr id="17" name="source-diagram-dg18-10261">
            <a:extLst>
              <a:ext uri="{FF2B5EF4-FFF2-40B4-BE49-F238E27FC236}">
                <a16:creationId xmlns:a16="http://schemas.microsoft.com/office/drawing/2014/main" id="{E886E1EA-0E84-4B54-81DB-EE5FDE562FA1}"/>
              </a:ext>
            </a:extLst>
          </p:cNvPr>
          <p:cNvCxnSpPr/>
          <p:nvPr/>
        </p:nvCxnSpPr>
        <p:spPr>
          <a:xfrm flipH="1" flipV="1">
            <a:off x="9006637" y="3817893"/>
            <a:ext cx="280237" cy="388716"/>
          </a:xfrm>
          <a:prstGeom prst="straightConnector1">
            <a:avLst/>
          </a:prstGeom>
          <a:ln w="19050">
            <a:solidFill>
              <a:srgbClr val="142E42"/>
            </a:solidFill>
            <a:round/>
          </a:ln>
        </p:spPr>
      </p:cxnSp>
      <p:cxnSp>
        <p:nvCxnSpPr>
          <p:cNvPr id="18" name="source-diagram-dg18-10262">
            <a:extLst>
              <a:ext uri="{FF2B5EF4-FFF2-40B4-BE49-F238E27FC236}">
                <a16:creationId xmlns:a16="http://schemas.microsoft.com/office/drawing/2014/main" id="{A315F2EB-054D-4A47-9006-09236537A9B3}"/>
              </a:ext>
            </a:extLst>
          </p:cNvPr>
          <p:cNvCxnSpPr/>
          <p:nvPr/>
        </p:nvCxnSpPr>
        <p:spPr>
          <a:xfrm flipV="1">
            <a:off x="8419042" y="3817893"/>
            <a:ext cx="280237" cy="388716"/>
          </a:xfrm>
          <a:prstGeom prst="straightConnector1">
            <a:avLst/>
          </a:prstGeom>
          <a:ln w="19050">
            <a:solidFill>
              <a:srgbClr val="142E42"/>
            </a:solidFill>
            <a:round/>
          </a:ln>
        </p:spPr>
      </p:cxnSp>
      <p:cxnSp>
        <p:nvCxnSpPr>
          <p:cNvPr id="19" name="source-diagram-dg18-10263">
            <a:extLst>
              <a:ext uri="{FF2B5EF4-FFF2-40B4-BE49-F238E27FC236}">
                <a16:creationId xmlns:a16="http://schemas.microsoft.com/office/drawing/2014/main" id="{B4EAA54F-23F5-4D0E-89AB-71CA4B44A10A}"/>
              </a:ext>
            </a:extLst>
          </p:cNvPr>
          <p:cNvCxnSpPr/>
          <p:nvPr/>
        </p:nvCxnSpPr>
        <p:spPr>
          <a:xfrm flipV="1">
            <a:off x="7551208" y="3123626"/>
            <a:ext cx="280237" cy="301933"/>
          </a:xfrm>
          <a:prstGeom prst="straightConnector1">
            <a:avLst/>
          </a:prstGeom>
          <a:ln w="19050">
            <a:solidFill>
              <a:srgbClr val="142E42"/>
            </a:solidFill>
            <a:round/>
          </a:ln>
        </p:spPr>
      </p:cxnSp>
      <p:cxnSp>
        <p:nvCxnSpPr>
          <p:cNvPr id="20" name="source-diagram-dg18-10264">
            <a:extLst>
              <a:ext uri="{FF2B5EF4-FFF2-40B4-BE49-F238E27FC236}">
                <a16:creationId xmlns:a16="http://schemas.microsoft.com/office/drawing/2014/main" id="{7FD868CA-8527-4EC4-8FDA-9D72B2C97611}"/>
              </a:ext>
            </a:extLst>
          </p:cNvPr>
          <p:cNvCxnSpPr/>
          <p:nvPr/>
        </p:nvCxnSpPr>
        <p:spPr>
          <a:xfrm flipH="1" flipV="1">
            <a:off x="8138803" y="3123626"/>
            <a:ext cx="560476" cy="365213"/>
          </a:xfrm>
          <a:prstGeom prst="straightConnector1">
            <a:avLst/>
          </a:prstGeom>
          <a:ln w="19050">
            <a:solidFill>
              <a:srgbClr val="142E42"/>
            </a:solidFill>
            <a:round/>
          </a:ln>
        </p:spPr>
      </p:cxnSp>
    </p:spTree>
    <p:extLst>
      <p:ext uri="{BB962C8B-B14F-4D97-AF65-F5344CB8AC3E}">
        <p14:creationId xmlns:p14="http://schemas.microsoft.com/office/powerpoint/2010/main" val="372732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19" name="text-0">
            <a:extLst>
              <a:ext uri="{FF2B5EF4-FFF2-40B4-BE49-F238E27FC236}">
                <a16:creationId xmlns:a16="http://schemas.microsoft.com/office/drawing/2014/main" id="{DA1EB2C7-9A61-4A47-86EC-0629B23B7920}"/>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Traversal visits every node once</a:t>
            </a:r>
          </a:p>
        </p:txBody>
      </p:sp>
      <p:sp>
        <p:nvSpPr>
          <p:cNvPr id="2" name="text-1">
            <a:extLst>
              <a:ext uri="{FF2B5EF4-FFF2-40B4-BE49-F238E27FC236}">
                <a16:creationId xmlns:a16="http://schemas.microsoft.com/office/drawing/2014/main" id="{EC49CD51-B0B6-460D-8DDE-4A891D4286DE}"/>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20</a:t>
            </a:r>
          </a:p>
        </p:txBody>
      </p:sp>
      <p:sp>
        <p:nvSpPr>
          <p:cNvPr id="3" name="text-2">
            <a:extLst>
              <a:ext uri="{FF2B5EF4-FFF2-40B4-BE49-F238E27FC236}">
                <a16:creationId xmlns:a16="http://schemas.microsoft.com/office/drawing/2014/main" id="{99347E0B-DB48-4BA1-A622-CB1D81F7F6ED}"/>
              </a:ext>
            </a:extLst>
          </p:cNvPr>
          <p:cNvSpPr>
            <a:spLocks noGrp="1"/>
          </p:cNvSpPr>
          <p:nvPr/>
        </p:nvSpPr>
        <p:spPr>
          <a:xfrm>
            <a:off x="609600" y="1571625"/>
            <a:ext cx="6477000" cy="400050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defRPr sz="2100" b="0">
                <a:solidFill>
                  <a:srgbClr val="142E42"/>
                </a:solidFill>
                <a:latin typeface="Arial"/>
                <a:ea typeface="Arial"/>
                <a:cs typeface="Arial"/>
              </a:defRPr>
            </a:lvl1pPr>
            <a:lvl2pPr algn="l">
              <a:defRPr sz="2100" b="0">
                <a:solidFill>
                  <a:srgbClr val="142E42"/>
                </a:solidFill>
                <a:latin typeface="Arial"/>
                <a:ea typeface="Arial"/>
                <a:cs typeface="Arial"/>
              </a:defRPr>
            </a:lvl2pPr>
            <a:lvl3pPr algn="l">
              <a:defRPr sz="2100" b="0">
                <a:solidFill>
                  <a:srgbClr val="142E42"/>
                </a:solidFill>
                <a:latin typeface="Arial"/>
                <a:ea typeface="Arial"/>
                <a:cs typeface="Arial"/>
              </a:defRPr>
            </a:lvl3pPr>
            <a:lvl4pPr algn="l">
              <a:defRPr sz="2100" b="0">
                <a:solidFill>
                  <a:srgbClr val="142E42"/>
                </a:solidFill>
                <a:latin typeface="Arial"/>
                <a:ea typeface="Arial"/>
                <a:cs typeface="Arial"/>
              </a:defRPr>
            </a:lvl4pPr>
            <a:lvl5pPr algn="l">
              <a:defRPr sz="2100" b="0">
                <a:solidFill>
                  <a:srgbClr val="142E42"/>
                </a:solidFill>
                <a:latin typeface="Arial"/>
                <a:ea typeface="Arial"/>
                <a:cs typeface="Arial"/>
              </a:defRPr>
            </a:lvl5pPr>
            <a:lvl6pPr algn="l">
              <a:defRPr sz="2100" b="0">
                <a:solidFill>
                  <a:srgbClr val="142E42"/>
                </a:solidFill>
                <a:latin typeface="Arial"/>
                <a:ea typeface="Arial"/>
                <a:cs typeface="Arial"/>
              </a:defRPr>
            </a:lvl6pPr>
            <a:lvl7pPr algn="l">
              <a:defRPr sz="2100" b="0">
                <a:solidFill>
                  <a:srgbClr val="142E42"/>
                </a:solidFill>
                <a:latin typeface="Arial"/>
                <a:ea typeface="Arial"/>
                <a:cs typeface="Arial"/>
              </a:defRPr>
            </a:lvl7pPr>
            <a:lvl8pPr algn="l">
              <a:defRPr sz="2100" b="0">
                <a:solidFill>
                  <a:srgbClr val="142E42"/>
                </a:solidFill>
                <a:latin typeface="Arial"/>
                <a:ea typeface="Arial"/>
                <a:cs typeface="Arial"/>
              </a:defRPr>
            </a:lvl8pPr>
            <a:lvl9pPr algn="l">
              <a:defRPr sz="2100" b="0">
                <a:solidFill>
                  <a:srgbClr val="142E42"/>
                </a:solidFill>
                <a:latin typeface="Arial"/>
                <a:ea typeface="Arial"/>
                <a:cs typeface="Arial"/>
              </a:defRPr>
            </a:lvl9pPr>
          </a:lstStyle>
          <a:p>
            <a:pPr algn="l">
              <a:defRPr sz="2100" b="0">
                <a:solidFill>
                  <a:srgbClr val="142E42"/>
                </a:solidFill>
                <a:latin typeface="Arial"/>
                <a:ea typeface="Arial"/>
                <a:cs typeface="Arial"/>
              </a:defRPr>
            </a:pPr>
            <a:r>
              <a:rPr sz="2100" b="0">
                <a:solidFill>
                  <a:srgbClr val="142E42"/>
                </a:solidFill>
                <a:latin typeface="Arial"/>
                <a:ea typeface="Arial"/>
                <a:cs typeface="Arial"/>
              </a:rPr>
              <a:t>Depth-first search follows a branch</a:t>
            </a:r>
          </a:p>
          <a:p>
            <a:pPr algn="l">
              <a:defRPr sz="2100" b="0">
                <a:solidFill>
                  <a:srgbClr val="142E42"/>
                </a:solidFill>
                <a:latin typeface="Arial"/>
                <a:ea typeface="Arial"/>
                <a:cs typeface="Arial"/>
              </a:defRPr>
            </a:pPr>
            <a:r>
              <a:rPr sz="2100" b="0">
                <a:solidFill>
                  <a:srgbClr val="142E42"/>
                </a:solidFill>
                <a:latin typeface="Arial"/>
                <a:ea typeface="Arial"/>
                <a:cs typeface="Arial"/>
              </a:rPr>
              <a:t>before returning to other branches.</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Preorder: node, left, right.</a:t>
            </a:r>
          </a:p>
          <a:p>
            <a:pPr algn="l">
              <a:defRPr sz="2100" b="0">
                <a:solidFill>
                  <a:srgbClr val="142E42"/>
                </a:solidFill>
                <a:latin typeface="Arial"/>
                <a:ea typeface="Arial"/>
                <a:cs typeface="Arial"/>
              </a:defRPr>
            </a:pPr>
            <a:r>
              <a:rPr sz="2100" b="0">
                <a:solidFill>
                  <a:srgbClr val="142E42"/>
                </a:solidFill>
                <a:latin typeface="Arial"/>
                <a:ea typeface="Arial"/>
                <a:cs typeface="Arial"/>
              </a:rPr>
              <a:t>Inorder: left, node, right.</a:t>
            </a:r>
          </a:p>
          <a:p>
            <a:pPr algn="l">
              <a:defRPr sz="2100" b="0">
                <a:solidFill>
                  <a:srgbClr val="142E42"/>
                </a:solidFill>
                <a:latin typeface="Arial"/>
                <a:ea typeface="Arial"/>
                <a:cs typeface="Arial"/>
              </a:defRPr>
            </a:pPr>
            <a:r>
              <a:rPr sz="2100" b="0">
                <a:solidFill>
                  <a:srgbClr val="142E42"/>
                </a:solidFill>
                <a:latin typeface="Arial"/>
                <a:ea typeface="Arial"/>
                <a:cs typeface="Arial"/>
              </a:rPr>
              <a:t>Postorder: left, right, node.</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Breadth-first search visits nodes</a:t>
            </a:r>
          </a:p>
          <a:p>
            <a:pPr algn="l">
              <a:defRPr sz="2100" b="0">
                <a:solidFill>
                  <a:srgbClr val="142E42"/>
                </a:solidFill>
                <a:latin typeface="Arial"/>
                <a:ea typeface="Arial"/>
                <a:cs typeface="Arial"/>
              </a:defRPr>
            </a:pPr>
            <a:r>
              <a:rPr sz="2100" b="0">
                <a:solidFill>
                  <a:srgbClr val="142E42"/>
                </a:solidFill>
                <a:latin typeface="Arial"/>
                <a:ea typeface="Arial"/>
                <a:cs typeface="Arial"/>
              </a:rPr>
              <a:t>one level at a time.</a:t>
            </a:r>
          </a:p>
        </p:txBody>
      </p:sp>
      <p:sp>
        <p:nvSpPr>
          <p:cNvPr id="4" name="source-diagram-dg19-9">
            <a:extLst>
              <a:ext uri="{FF2B5EF4-FFF2-40B4-BE49-F238E27FC236}">
                <a16:creationId xmlns:a16="http://schemas.microsoft.com/office/drawing/2014/main" id="{FF11148E-2A86-4B01-9BAE-A6B96EF3CB5D}"/>
              </a:ext>
            </a:extLst>
          </p:cNvPr>
          <p:cNvSpPr>
            <a:spLocks noGrp="1"/>
          </p:cNvSpPr>
          <p:nvPr/>
        </p:nvSpPr>
        <p:spPr>
          <a:xfrm>
            <a:off x="8879670" y="1714500"/>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30</a:t>
            </a:r>
          </a:p>
        </p:txBody>
      </p:sp>
      <p:sp>
        <p:nvSpPr>
          <p:cNvPr id="5" name="source-diagram-dg19-10">
            <a:extLst>
              <a:ext uri="{FF2B5EF4-FFF2-40B4-BE49-F238E27FC236}">
                <a16:creationId xmlns:a16="http://schemas.microsoft.com/office/drawing/2014/main" id="{43CF427E-AE8C-4D22-AEE5-A7089D9B1E4F}"/>
              </a:ext>
            </a:extLst>
          </p:cNvPr>
          <p:cNvSpPr>
            <a:spLocks noGrp="1"/>
          </p:cNvSpPr>
          <p:nvPr/>
        </p:nvSpPr>
        <p:spPr>
          <a:xfrm>
            <a:off x="8276691" y="2542592"/>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20</a:t>
            </a:r>
          </a:p>
        </p:txBody>
      </p:sp>
      <p:sp>
        <p:nvSpPr>
          <p:cNvPr id="6" name="source-diagram-dg19-11">
            <a:extLst>
              <a:ext uri="{FF2B5EF4-FFF2-40B4-BE49-F238E27FC236}">
                <a16:creationId xmlns:a16="http://schemas.microsoft.com/office/drawing/2014/main" id="{E6911813-4A65-40DF-854E-C0316D3C5702}"/>
              </a:ext>
            </a:extLst>
          </p:cNvPr>
          <p:cNvSpPr>
            <a:spLocks noGrp="1"/>
          </p:cNvSpPr>
          <p:nvPr/>
        </p:nvSpPr>
        <p:spPr>
          <a:xfrm>
            <a:off x="9676943" y="2542592"/>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70</a:t>
            </a:r>
          </a:p>
        </p:txBody>
      </p:sp>
      <p:sp>
        <p:nvSpPr>
          <p:cNvPr id="7" name="source-diagram-dg19-12">
            <a:extLst>
              <a:ext uri="{FF2B5EF4-FFF2-40B4-BE49-F238E27FC236}">
                <a16:creationId xmlns:a16="http://schemas.microsoft.com/office/drawing/2014/main" id="{99F89124-3696-43AE-9BA4-9B6B3DF5156E}"/>
              </a:ext>
            </a:extLst>
          </p:cNvPr>
          <p:cNvSpPr>
            <a:spLocks noGrp="1"/>
          </p:cNvSpPr>
          <p:nvPr/>
        </p:nvSpPr>
        <p:spPr>
          <a:xfrm>
            <a:off x="7715250" y="3439692"/>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10</a:t>
            </a:r>
          </a:p>
        </p:txBody>
      </p:sp>
      <p:sp>
        <p:nvSpPr>
          <p:cNvPr id="8" name="source-diagram-dg19-13">
            <a:extLst>
              <a:ext uri="{FF2B5EF4-FFF2-40B4-BE49-F238E27FC236}">
                <a16:creationId xmlns:a16="http://schemas.microsoft.com/office/drawing/2014/main" id="{EEC602B6-0593-4160-A5F9-217F794B49CA}"/>
              </a:ext>
            </a:extLst>
          </p:cNvPr>
          <p:cNvSpPr>
            <a:spLocks noGrp="1"/>
          </p:cNvSpPr>
          <p:nvPr/>
        </p:nvSpPr>
        <p:spPr>
          <a:xfrm>
            <a:off x="9086693" y="3439692"/>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50</a:t>
            </a:r>
          </a:p>
        </p:txBody>
      </p:sp>
      <p:sp>
        <p:nvSpPr>
          <p:cNvPr id="9" name="source-diagram-dg19-14">
            <a:extLst>
              <a:ext uri="{FF2B5EF4-FFF2-40B4-BE49-F238E27FC236}">
                <a16:creationId xmlns:a16="http://schemas.microsoft.com/office/drawing/2014/main" id="{4BEFCF26-F58E-4FF3-9A73-066EB3D12F26}"/>
              </a:ext>
            </a:extLst>
          </p:cNvPr>
          <p:cNvSpPr>
            <a:spLocks noGrp="1"/>
          </p:cNvSpPr>
          <p:nvPr/>
        </p:nvSpPr>
        <p:spPr>
          <a:xfrm>
            <a:off x="10367019" y="3412376"/>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90</a:t>
            </a:r>
          </a:p>
        </p:txBody>
      </p:sp>
      <p:sp>
        <p:nvSpPr>
          <p:cNvPr id="10" name="source-diagram-dg19-15">
            <a:extLst>
              <a:ext uri="{FF2B5EF4-FFF2-40B4-BE49-F238E27FC236}">
                <a16:creationId xmlns:a16="http://schemas.microsoft.com/office/drawing/2014/main" id="{968A41B9-F715-42B4-B977-DE1DB392135B}"/>
              </a:ext>
            </a:extLst>
          </p:cNvPr>
          <p:cNvSpPr>
            <a:spLocks noGrp="1"/>
          </p:cNvSpPr>
          <p:nvPr/>
        </p:nvSpPr>
        <p:spPr>
          <a:xfrm>
            <a:off x="8571815" y="4474806"/>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40</a:t>
            </a:r>
          </a:p>
        </p:txBody>
      </p:sp>
      <p:sp>
        <p:nvSpPr>
          <p:cNvPr id="11" name="source-diagram-dg19-16">
            <a:extLst>
              <a:ext uri="{FF2B5EF4-FFF2-40B4-BE49-F238E27FC236}">
                <a16:creationId xmlns:a16="http://schemas.microsoft.com/office/drawing/2014/main" id="{39DC8F62-68EE-41F3-9D31-54F8D26E03B4}"/>
              </a:ext>
            </a:extLst>
          </p:cNvPr>
          <p:cNvSpPr>
            <a:spLocks noGrp="1"/>
          </p:cNvSpPr>
          <p:nvPr/>
        </p:nvSpPr>
        <p:spPr>
          <a:xfrm>
            <a:off x="9676943" y="4465015"/>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60</a:t>
            </a:r>
          </a:p>
        </p:txBody>
      </p:sp>
      <p:sp>
        <p:nvSpPr>
          <p:cNvPr id="12" name="source-diagram-dg19-18">
            <a:extLst>
              <a:ext uri="{FF2B5EF4-FFF2-40B4-BE49-F238E27FC236}">
                <a16:creationId xmlns:a16="http://schemas.microsoft.com/office/drawing/2014/main" id="{6B63FADE-7D3E-43FD-8DF5-2DCD577DF2E5}"/>
              </a:ext>
            </a:extLst>
          </p:cNvPr>
          <p:cNvSpPr>
            <a:spLocks noGrp="1"/>
          </p:cNvSpPr>
          <p:nvPr/>
        </p:nvSpPr>
        <p:spPr>
          <a:xfrm flipH="1">
            <a:off x="8641828" y="2244616"/>
            <a:ext cx="324282" cy="332481"/>
          </a:xfrm>
          <a:prstGeom prst="line">
            <a:avLst/>
          </a:prstGeom>
          <a:solidFill>
            <a:srgbClr val="E5EEF2"/>
          </a:solidFill>
          <a:ln>
            <a:headEnd type="none" w="med" len="med"/>
            <a:tailEnd type="none" w="med" len="med"/>
          </a:ln>
        </p:spPr>
        <p:style>
          <a:lnRef idx="1">
            <a:schemeClr val="dk1"/>
          </a:lnRef>
          <a:fillRef idx="0">
            <a:schemeClr val="dk1"/>
          </a:fillRef>
          <a:effectRef idx="0">
            <a:schemeClr val="dk1"/>
          </a:effectRef>
          <a:fontRef idx="minor">
            <a:schemeClr val="tx1"/>
          </a:fontRef>
        </p:style>
        <p:txBody>
          <a:bodyPr wrap="square" lIns="0" tIns="0" rIns="0" bIns="0" anchor="ctr"/>
          <a:lstStyle/>
          <a:p>
            <a:endParaRPr/>
          </a:p>
        </p:txBody>
      </p:sp>
      <p:sp>
        <p:nvSpPr>
          <p:cNvPr id="13" name="source-diagram-dg19-20">
            <a:extLst>
              <a:ext uri="{FF2B5EF4-FFF2-40B4-BE49-F238E27FC236}">
                <a16:creationId xmlns:a16="http://schemas.microsoft.com/office/drawing/2014/main" id="{21EEF36D-A451-463B-89F5-3F5509C335FD}"/>
              </a:ext>
            </a:extLst>
          </p:cNvPr>
          <p:cNvSpPr>
            <a:spLocks noGrp="1"/>
          </p:cNvSpPr>
          <p:nvPr/>
        </p:nvSpPr>
        <p:spPr>
          <a:xfrm>
            <a:off x="9383480" y="2244616"/>
            <a:ext cx="379903" cy="388930"/>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4" name="source-diagram-dg19-22">
            <a:extLst>
              <a:ext uri="{FF2B5EF4-FFF2-40B4-BE49-F238E27FC236}">
                <a16:creationId xmlns:a16="http://schemas.microsoft.com/office/drawing/2014/main" id="{67262CE6-1316-4445-969E-2735D0ACBE3F}"/>
              </a:ext>
            </a:extLst>
          </p:cNvPr>
          <p:cNvSpPr>
            <a:spLocks noGrp="1"/>
          </p:cNvSpPr>
          <p:nvPr/>
        </p:nvSpPr>
        <p:spPr>
          <a:xfrm flipH="1">
            <a:off x="8010375" y="3072707"/>
            <a:ext cx="352755" cy="366985"/>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5" name="source-diagram-dg19-24">
            <a:extLst>
              <a:ext uri="{FF2B5EF4-FFF2-40B4-BE49-F238E27FC236}">
                <a16:creationId xmlns:a16="http://schemas.microsoft.com/office/drawing/2014/main" id="{DBF1D2AE-7CD6-4B9C-BFFF-68BBE942C0ED}"/>
              </a:ext>
            </a:extLst>
          </p:cNvPr>
          <p:cNvSpPr>
            <a:spLocks noGrp="1"/>
          </p:cNvSpPr>
          <p:nvPr/>
        </p:nvSpPr>
        <p:spPr>
          <a:xfrm flipH="1">
            <a:off x="9381818" y="3072707"/>
            <a:ext cx="381564" cy="366985"/>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6" name="source-diagram-dg19-26">
            <a:extLst>
              <a:ext uri="{FF2B5EF4-FFF2-40B4-BE49-F238E27FC236}">
                <a16:creationId xmlns:a16="http://schemas.microsoft.com/office/drawing/2014/main" id="{4958D6BA-EC86-4526-ADB5-E183E2084064}"/>
              </a:ext>
            </a:extLst>
          </p:cNvPr>
          <p:cNvSpPr>
            <a:spLocks noGrp="1"/>
          </p:cNvSpPr>
          <p:nvPr/>
        </p:nvSpPr>
        <p:spPr>
          <a:xfrm>
            <a:off x="10180753" y="3072707"/>
            <a:ext cx="481391" cy="339669"/>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7" name="source-diagram-dg19-28">
            <a:extLst>
              <a:ext uri="{FF2B5EF4-FFF2-40B4-BE49-F238E27FC236}">
                <a16:creationId xmlns:a16="http://schemas.microsoft.com/office/drawing/2014/main" id="{8EF4E62E-955B-4736-B857-9A3DB5F455A6}"/>
              </a:ext>
            </a:extLst>
          </p:cNvPr>
          <p:cNvSpPr>
            <a:spLocks noGrp="1"/>
          </p:cNvSpPr>
          <p:nvPr/>
        </p:nvSpPr>
        <p:spPr>
          <a:xfrm flipH="1">
            <a:off x="8866941" y="3969808"/>
            <a:ext cx="306192" cy="504998"/>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8" name="source-diagram-dg19-30">
            <a:extLst>
              <a:ext uri="{FF2B5EF4-FFF2-40B4-BE49-F238E27FC236}">
                <a16:creationId xmlns:a16="http://schemas.microsoft.com/office/drawing/2014/main" id="{FCBC95FD-762B-4169-81C9-2628893758EA}"/>
              </a:ext>
            </a:extLst>
          </p:cNvPr>
          <p:cNvSpPr>
            <a:spLocks noGrp="1"/>
          </p:cNvSpPr>
          <p:nvPr/>
        </p:nvSpPr>
        <p:spPr>
          <a:xfrm>
            <a:off x="9590503" y="3969808"/>
            <a:ext cx="381565" cy="495207"/>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Tree>
    <p:extLst>
      <p:ext uri="{BB962C8B-B14F-4D97-AF65-F5344CB8AC3E}">
        <p14:creationId xmlns:p14="http://schemas.microsoft.com/office/powerpoint/2010/main" val="1598139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0" name="text-0">
            <a:extLst>
              <a:ext uri="{FF2B5EF4-FFF2-40B4-BE49-F238E27FC236}">
                <a16:creationId xmlns:a16="http://schemas.microsoft.com/office/drawing/2014/main" id="{902F0CC6-57C4-471A-A9EB-70388F52F5D5}"/>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Traversal orders on the same tree</a:t>
            </a:r>
          </a:p>
        </p:txBody>
      </p:sp>
      <p:sp>
        <p:nvSpPr>
          <p:cNvPr id="2" name="text-1">
            <a:extLst>
              <a:ext uri="{FF2B5EF4-FFF2-40B4-BE49-F238E27FC236}">
                <a16:creationId xmlns:a16="http://schemas.microsoft.com/office/drawing/2014/main" id="{4FD59C51-1253-4D65-8E12-7E9C8F440DC9}"/>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21</a:t>
            </a:r>
          </a:p>
        </p:txBody>
      </p:sp>
      <p:sp>
        <p:nvSpPr>
          <p:cNvPr id="3" name="text-2">
            <a:extLst>
              <a:ext uri="{FF2B5EF4-FFF2-40B4-BE49-F238E27FC236}">
                <a16:creationId xmlns:a16="http://schemas.microsoft.com/office/drawing/2014/main" id="{4C1C2216-2D80-4028-AF49-E7EF8D19D408}"/>
              </a:ext>
            </a:extLst>
          </p:cNvPr>
          <p:cNvSpPr>
            <a:spLocks noGrp="1"/>
          </p:cNvSpPr>
          <p:nvPr/>
        </p:nvSpPr>
        <p:spPr>
          <a:xfrm>
            <a:off x="5334000" y="1714500"/>
            <a:ext cx="6191250" cy="3762375"/>
          </a:xfrm>
          <a:prstGeom prst="rect">
            <a:avLst/>
          </a:prstGeom>
          <a:noFill/>
          <a:ln w="0">
            <a:noFill/>
          </a:ln>
        </p:spPr>
        <p:txBody>
          <a:bodyPr lIns="0" tIns="0" rIns="0" bIns="0" anchor="t"/>
          <a:lstStyle>
            <a:defPPr algn="l">
              <a:defRPr sz="2025" b="0">
                <a:solidFill>
                  <a:srgbClr val="142E42"/>
                </a:solidFill>
                <a:latin typeface="Arial"/>
                <a:ea typeface="Arial"/>
                <a:cs typeface="Arial"/>
              </a:defRPr>
            </a:defPPr>
            <a:lvl1pPr algn="l">
              <a:defRPr sz="2025" b="0">
                <a:solidFill>
                  <a:srgbClr val="142E42"/>
                </a:solidFill>
                <a:latin typeface="Arial"/>
                <a:ea typeface="Arial"/>
                <a:cs typeface="Arial"/>
              </a:defRPr>
            </a:lvl1pPr>
            <a:lvl2pPr algn="l">
              <a:defRPr sz="2025" b="0">
                <a:solidFill>
                  <a:srgbClr val="142E42"/>
                </a:solidFill>
                <a:latin typeface="Arial"/>
                <a:ea typeface="Arial"/>
                <a:cs typeface="Arial"/>
              </a:defRPr>
            </a:lvl2pPr>
            <a:lvl3pPr algn="l">
              <a:defRPr sz="2025" b="0">
                <a:solidFill>
                  <a:srgbClr val="142E42"/>
                </a:solidFill>
                <a:latin typeface="Arial"/>
                <a:ea typeface="Arial"/>
                <a:cs typeface="Arial"/>
              </a:defRPr>
            </a:lvl3pPr>
            <a:lvl4pPr algn="l">
              <a:defRPr sz="2025" b="0">
                <a:solidFill>
                  <a:srgbClr val="142E42"/>
                </a:solidFill>
                <a:latin typeface="Arial"/>
                <a:ea typeface="Arial"/>
                <a:cs typeface="Arial"/>
              </a:defRPr>
            </a:lvl4pPr>
            <a:lvl5pPr algn="l">
              <a:defRPr sz="2025" b="0">
                <a:solidFill>
                  <a:srgbClr val="142E42"/>
                </a:solidFill>
                <a:latin typeface="Arial"/>
                <a:ea typeface="Arial"/>
                <a:cs typeface="Arial"/>
              </a:defRPr>
            </a:lvl5pPr>
            <a:lvl6pPr algn="l">
              <a:defRPr sz="2025" b="0">
                <a:solidFill>
                  <a:srgbClr val="142E42"/>
                </a:solidFill>
                <a:latin typeface="Arial"/>
                <a:ea typeface="Arial"/>
                <a:cs typeface="Arial"/>
              </a:defRPr>
            </a:lvl6pPr>
            <a:lvl7pPr algn="l">
              <a:defRPr sz="2025" b="0">
                <a:solidFill>
                  <a:srgbClr val="142E42"/>
                </a:solidFill>
                <a:latin typeface="Arial"/>
                <a:ea typeface="Arial"/>
                <a:cs typeface="Arial"/>
              </a:defRPr>
            </a:lvl7pPr>
            <a:lvl8pPr algn="l">
              <a:defRPr sz="2025" b="0">
                <a:solidFill>
                  <a:srgbClr val="142E42"/>
                </a:solidFill>
                <a:latin typeface="Arial"/>
                <a:ea typeface="Arial"/>
                <a:cs typeface="Arial"/>
              </a:defRPr>
            </a:lvl8pPr>
            <a:lvl9pPr algn="l">
              <a:defRPr sz="2025" b="0">
                <a:solidFill>
                  <a:srgbClr val="142E42"/>
                </a:solidFill>
                <a:latin typeface="Arial"/>
                <a:ea typeface="Arial"/>
                <a:cs typeface="Arial"/>
              </a:defRPr>
            </a:lvl9pPr>
          </a:lstStyle>
          <a:p>
            <a:pPr algn="l">
              <a:defRPr sz="2025" b="0">
                <a:solidFill>
                  <a:srgbClr val="142E42"/>
                </a:solidFill>
                <a:latin typeface="Arial"/>
                <a:ea typeface="Arial"/>
                <a:cs typeface="Arial"/>
              </a:defRPr>
            </a:pPr>
            <a:r>
              <a:rPr sz="2025" b="0">
                <a:solidFill>
                  <a:srgbClr val="142E42"/>
                </a:solidFill>
                <a:latin typeface="Arial"/>
                <a:ea typeface="Arial"/>
                <a:cs typeface="Arial"/>
              </a:rPr>
              <a:t>Preorder</a:t>
            </a:r>
          </a:p>
          <a:p>
            <a:pPr algn="l">
              <a:defRPr sz="2025" b="0">
                <a:solidFill>
                  <a:srgbClr val="142E42"/>
                </a:solidFill>
                <a:latin typeface="Arial"/>
                <a:ea typeface="Arial"/>
                <a:cs typeface="Arial"/>
              </a:defRPr>
            </a:pPr>
            <a:r>
              <a:rPr sz="2025" b="0">
                <a:solidFill>
                  <a:srgbClr val="142E42"/>
                </a:solidFill>
                <a:latin typeface="Arial"/>
                <a:ea typeface="Arial"/>
                <a:cs typeface="Arial"/>
              </a:rPr>
              <a:t>30, 20, 10, 70, 50, 40, 60, 90</a:t>
            </a:r>
          </a:p>
          <a:p>
            <a:endParaRPr sz="2025" b="0">
              <a:solidFill>
                <a:srgbClr val="142E42"/>
              </a:solidFill>
              <a:latin typeface="Arial"/>
              <a:ea typeface="Arial"/>
              <a:cs typeface="Arial"/>
            </a:endParaRPr>
          </a:p>
          <a:p>
            <a:pPr algn="l">
              <a:defRPr sz="2025" b="0">
                <a:solidFill>
                  <a:srgbClr val="142E42"/>
                </a:solidFill>
                <a:latin typeface="Arial"/>
                <a:ea typeface="Arial"/>
                <a:cs typeface="Arial"/>
              </a:defRPr>
            </a:pPr>
            <a:r>
              <a:rPr sz="2025" b="0">
                <a:solidFill>
                  <a:srgbClr val="142E42"/>
                </a:solidFill>
                <a:latin typeface="Arial"/>
                <a:ea typeface="Arial"/>
                <a:cs typeface="Arial"/>
              </a:rPr>
              <a:t>Inorder</a:t>
            </a:r>
          </a:p>
          <a:p>
            <a:pPr algn="l">
              <a:defRPr sz="2025" b="0">
                <a:solidFill>
                  <a:srgbClr val="142E42"/>
                </a:solidFill>
                <a:latin typeface="Arial"/>
                <a:ea typeface="Arial"/>
                <a:cs typeface="Arial"/>
              </a:defRPr>
            </a:pPr>
            <a:r>
              <a:rPr sz="2025" b="0">
                <a:solidFill>
                  <a:srgbClr val="142E42"/>
                </a:solidFill>
                <a:latin typeface="Arial"/>
                <a:ea typeface="Arial"/>
                <a:cs typeface="Arial"/>
              </a:rPr>
              <a:t>10, 20, 30, 40, 50, 60, 70, 90</a:t>
            </a:r>
          </a:p>
          <a:p>
            <a:endParaRPr sz="2025" b="0">
              <a:solidFill>
                <a:srgbClr val="142E42"/>
              </a:solidFill>
              <a:latin typeface="Arial"/>
              <a:ea typeface="Arial"/>
              <a:cs typeface="Arial"/>
            </a:endParaRPr>
          </a:p>
          <a:p>
            <a:pPr algn="l">
              <a:defRPr sz="2025" b="0">
                <a:solidFill>
                  <a:srgbClr val="142E42"/>
                </a:solidFill>
                <a:latin typeface="Arial"/>
                <a:ea typeface="Arial"/>
                <a:cs typeface="Arial"/>
              </a:defRPr>
            </a:pPr>
            <a:r>
              <a:rPr sz="2025" b="0">
                <a:solidFill>
                  <a:srgbClr val="142E42"/>
                </a:solidFill>
                <a:latin typeface="Arial"/>
                <a:ea typeface="Arial"/>
                <a:cs typeface="Arial"/>
              </a:rPr>
              <a:t>Postorder</a:t>
            </a:r>
          </a:p>
          <a:p>
            <a:pPr algn="l">
              <a:defRPr sz="2025" b="0">
                <a:solidFill>
                  <a:srgbClr val="142E42"/>
                </a:solidFill>
                <a:latin typeface="Arial"/>
                <a:ea typeface="Arial"/>
                <a:cs typeface="Arial"/>
              </a:defRPr>
            </a:pPr>
            <a:r>
              <a:rPr sz="2025" b="0">
                <a:solidFill>
                  <a:srgbClr val="142E42"/>
                </a:solidFill>
                <a:latin typeface="Arial"/>
                <a:ea typeface="Arial"/>
                <a:cs typeface="Arial"/>
              </a:rPr>
              <a:t>10, 20, 40, 60, 50, 90, 70, 30</a:t>
            </a:r>
          </a:p>
        </p:txBody>
      </p:sp>
      <p:sp>
        <p:nvSpPr>
          <p:cNvPr id="4" name="text-3">
            <a:extLst>
              <a:ext uri="{FF2B5EF4-FFF2-40B4-BE49-F238E27FC236}">
                <a16:creationId xmlns:a16="http://schemas.microsoft.com/office/drawing/2014/main" id="{1491D5A6-5AA2-42DC-92C5-A1CB20F40B46}"/>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Inorder traversal of a BST lists its keys in sorted order.</a:t>
            </a:r>
          </a:p>
        </p:txBody>
      </p:sp>
      <p:sp>
        <p:nvSpPr>
          <p:cNvPr id="5" name="source-diagram-dg20-9">
            <a:extLst>
              <a:ext uri="{FF2B5EF4-FFF2-40B4-BE49-F238E27FC236}">
                <a16:creationId xmlns:a16="http://schemas.microsoft.com/office/drawing/2014/main" id="{FF11148E-2A86-4B01-9BAE-A6B96EF3CB5D}"/>
              </a:ext>
            </a:extLst>
          </p:cNvPr>
          <p:cNvSpPr>
            <a:spLocks noGrp="1"/>
          </p:cNvSpPr>
          <p:nvPr/>
        </p:nvSpPr>
        <p:spPr>
          <a:xfrm>
            <a:off x="2090423" y="1619250"/>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30</a:t>
            </a:r>
          </a:p>
        </p:txBody>
      </p:sp>
      <p:sp>
        <p:nvSpPr>
          <p:cNvPr id="6" name="source-diagram-dg20-10">
            <a:extLst>
              <a:ext uri="{FF2B5EF4-FFF2-40B4-BE49-F238E27FC236}">
                <a16:creationId xmlns:a16="http://schemas.microsoft.com/office/drawing/2014/main" id="{43CF427E-AE8C-4D22-AEE5-A7089D9B1E4F}"/>
              </a:ext>
            </a:extLst>
          </p:cNvPr>
          <p:cNvSpPr>
            <a:spLocks noGrp="1"/>
          </p:cNvSpPr>
          <p:nvPr/>
        </p:nvSpPr>
        <p:spPr>
          <a:xfrm>
            <a:off x="1402517" y="2563974"/>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20</a:t>
            </a:r>
          </a:p>
        </p:txBody>
      </p:sp>
      <p:sp>
        <p:nvSpPr>
          <p:cNvPr id="7" name="source-diagram-dg20-11">
            <a:extLst>
              <a:ext uri="{FF2B5EF4-FFF2-40B4-BE49-F238E27FC236}">
                <a16:creationId xmlns:a16="http://schemas.microsoft.com/office/drawing/2014/main" id="{E6911813-4A65-40DF-854E-C0316D3C5702}"/>
              </a:ext>
            </a:extLst>
          </p:cNvPr>
          <p:cNvSpPr>
            <a:spLocks noGrp="1"/>
          </p:cNvSpPr>
          <p:nvPr/>
        </p:nvSpPr>
        <p:spPr>
          <a:xfrm>
            <a:off x="2999988" y="2563974"/>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70</a:t>
            </a:r>
          </a:p>
        </p:txBody>
      </p:sp>
      <p:sp>
        <p:nvSpPr>
          <p:cNvPr id="8" name="source-diagram-dg20-12">
            <a:extLst>
              <a:ext uri="{FF2B5EF4-FFF2-40B4-BE49-F238E27FC236}">
                <a16:creationId xmlns:a16="http://schemas.microsoft.com/office/drawing/2014/main" id="{99F89124-3696-43AE-9BA4-9B6B3DF5156E}"/>
              </a:ext>
            </a:extLst>
          </p:cNvPr>
          <p:cNvSpPr>
            <a:spLocks noGrp="1"/>
          </p:cNvSpPr>
          <p:nvPr/>
        </p:nvSpPr>
        <p:spPr>
          <a:xfrm>
            <a:off x="762000" y="3587427"/>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10</a:t>
            </a:r>
          </a:p>
        </p:txBody>
      </p:sp>
      <p:sp>
        <p:nvSpPr>
          <p:cNvPr id="9" name="source-diagram-dg20-13">
            <a:extLst>
              <a:ext uri="{FF2B5EF4-FFF2-40B4-BE49-F238E27FC236}">
                <a16:creationId xmlns:a16="http://schemas.microsoft.com/office/drawing/2014/main" id="{EEC602B6-0593-4160-A5F9-217F794B49CA}"/>
              </a:ext>
            </a:extLst>
          </p:cNvPr>
          <p:cNvSpPr>
            <a:spLocks noGrp="1"/>
          </p:cNvSpPr>
          <p:nvPr/>
        </p:nvSpPr>
        <p:spPr>
          <a:xfrm>
            <a:off x="2326604" y="3587427"/>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50</a:t>
            </a:r>
          </a:p>
        </p:txBody>
      </p:sp>
      <p:sp>
        <p:nvSpPr>
          <p:cNvPr id="10" name="source-diagram-dg20-14">
            <a:extLst>
              <a:ext uri="{FF2B5EF4-FFF2-40B4-BE49-F238E27FC236}">
                <a16:creationId xmlns:a16="http://schemas.microsoft.com/office/drawing/2014/main" id="{4BEFCF26-F58E-4FF3-9A73-066EB3D12F26}"/>
              </a:ext>
            </a:extLst>
          </p:cNvPr>
          <p:cNvSpPr>
            <a:spLocks noGrp="1"/>
          </p:cNvSpPr>
          <p:nvPr/>
        </p:nvSpPr>
        <p:spPr>
          <a:xfrm>
            <a:off x="3787258" y="3556264"/>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90</a:t>
            </a:r>
          </a:p>
        </p:txBody>
      </p:sp>
      <p:sp>
        <p:nvSpPr>
          <p:cNvPr id="11" name="source-diagram-dg20-15">
            <a:extLst>
              <a:ext uri="{FF2B5EF4-FFF2-40B4-BE49-F238E27FC236}">
                <a16:creationId xmlns:a16="http://schemas.microsoft.com/office/drawing/2014/main" id="{968A41B9-F715-42B4-B977-DE1DB392135B}"/>
              </a:ext>
            </a:extLst>
          </p:cNvPr>
          <p:cNvSpPr>
            <a:spLocks noGrp="1"/>
          </p:cNvSpPr>
          <p:nvPr/>
        </p:nvSpPr>
        <p:spPr>
          <a:xfrm>
            <a:off x="1739208" y="4768332"/>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40</a:t>
            </a:r>
          </a:p>
        </p:txBody>
      </p:sp>
      <p:sp>
        <p:nvSpPr>
          <p:cNvPr id="12" name="source-diagram-dg20-16">
            <a:extLst>
              <a:ext uri="{FF2B5EF4-FFF2-40B4-BE49-F238E27FC236}">
                <a16:creationId xmlns:a16="http://schemas.microsoft.com/office/drawing/2014/main" id="{39DC8F62-68EE-41F3-9D31-54F8D26E03B4}"/>
              </a:ext>
            </a:extLst>
          </p:cNvPr>
          <p:cNvSpPr>
            <a:spLocks noGrp="1"/>
          </p:cNvSpPr>
          <p:nvPr/>
        </p:nvSpPr>
        <p:spPr>
          <a:xfrm>
            <a:off x="2999988" y="4757161"/>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60</a:t>
            </a:r>
          </a:p>
        </p:txBody>
      </p:sp>
      <p:sp>
        <p:nvSpPr>
          <p:cNvPr id="13" name="source-diagram-dg20-18">
            <a:extLst>
              <a:ext uri="{FF2B5EF4-FFF2-40B4-BE49-F238E27FC236}">
                <a16:creationId xmlns:a16="http://schemas.microsoft.com/office/drawing/2014/main" id="{6B63FADE-7D3E-43FD-8DF5-2DCD577DF2E5}"/>
              </a:ext>
            </a:extLst>
          </p:cNvPr>
          <p:cNvSpPr>
            <a:spLocks noGrp="1"/>
          </p:cNvSpPr>
          <p:nvPr/>
        </p:nvSpPr>
        <p:spPr>
          <a:xfrm flipH="1">
            <a:off x="1819082" y="2224030"/>
            <a:ext cx="369955" cy="379309"/>
          </a:xfrm>
          <a:prstGeom prst="line">
            <a:avLst/>
          </a:prstGeom>
          <a:solidFill>
            <a:srgbClr val="E5EEF2"/>
          </a:solidFill>
          <a:ln>
            <a:headEnd type="none" w="med" len="med"/>
            <a:tailEnd type="none" w="med" len="med"/>
          </a:ln>
        </p:spPr>
        <p:style>
          <a:lnRef idx="1">
            <a:schemeClr val="dk1"/>
          </a:lnRef>
          <a:fillRef idx="0">
            <a:schemeClr val="dk1"/>
          </a:fillRef>
          <a:effectRef idx="0">
            <a:schemeClr val="dk1"/>
          </a:effectRef>
          <a:fontRef idx="minor">
            <a:schemeClr val="tx1"/>
          </a:fontRef>
        </p:style>
        <p:txBody>
          <a:bodyPr wrap="square" lIns="0" tIns="0" rIns="0" bIns="0" anchor="ctr"/>
          <a:lstStyle/>
          <a:p>
            <a:endParaRPr/>
          </a:p>
        </p:txBody>
      </p:sp>
      <p:sp>
        <p:nvSpPr>
          <p:cNvPr id="14" name="source-diagram-dg20-20">
            <a:extLst>
              <a:ext uri="{FF2B5EF4-FFF2-40B4-BE49-F238E27FC236}">
                <a16:creationId xmlns:a16="http://schemas.microsoft.com/office/drawing/2014/main" id="{21EEF36D-A451-463B-89F5-3F5509C335FD}"/>
              </a:ext>
            </a:extLst>
          </p:cNvPr>
          <p:cNvSpPr>
            <a:spLocks noGrp="1"/>
          </p:cNvSpPr>
          <p:nvPr/>
        </p:nvSpPr>
        <p:spPr>
          <a:xfrm>
            <a:off x="2665192" y="2224030"/>
            <a:ext cx="433410" cy="443708"/>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5" name="source-diagram-dg20-22">
            <a:extLst>
              <a:ext uri="{FF2B5EF4-FFF2-40B4-BE49-F238E27FC236}">
                <a16:creationId xmlns:a16="http://schemas.microsoft.com/office/drawing/2014/main" id="{67262CE6-1316-4445-969E-2735D0ACBE3F}"/>
              </a:ext>
            </a:extLst>
          </p:cNvPr>
          <p:cNvSpPr>
            <a:spLocks noGrp="1"/>
          </p:cNvSpPr>
          <p:nvPr/>
        </p:nvSpPr>
        <p:spPr>
          <a:xfrm flipH="1">
            <a:off x="1098692" y="3168754"/>
            <a:ext cx="402439" cy="418673"/>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6" name="source-diagram-dg20-24">
            <a:extLst>
              <a:ext uri="{FF2B5EF4-FFF2-40B4-BE49-F238E27FC236}">
                <a16:creationId xmlns:a16="http://schemas.microsoft.com/office/drawing/2014/main" id="{DBF1D2AE-7CD6-4B9C-BFFF-68BBE942C0ED}"/>
              </a:ext>
            </a:extLst>
          </p:cNvPr>
          <p:cNvSpPr>
            <a:spLocks noGrp="1"/>
          </p:cNvSpPr>
          <p:nvPr/>
        </p:nvSpPr>
        <p:spPr>
          <a:xfrm flipH="1">
            <a:off x="2663296" y="3168754"/>
            <a:ext cx="435306" cy="418673"/>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7" name="source-diagram-dg20-26">
            <a:extLst>
              <a:ext uri="{FF2B5EF4-FFF2-40B4-BE49-F238E27FC236}">
                <a16:creationId xmlns:a16="http://schemas.microsoft.com/office/drawing/2014/main" id="{4958D6BA-EC86-4526-ADB5-E183E2084064}"/>
              </a:ext>
            </a:extLst>
          </p:cNvPr>
          <p:cNvSpPr>
            <a:spLocks noGrp="1"/>
          </p:cNvSpPr>
          <p:nvPr/>
        </p:nvSpPr>
        <p:spPr>
          <a:xfrm>
            <a:off x="3574757" y="3168754"/>
            <a:ext cx="549192" cy="387510"/>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8" name="source-diagram-dg20-28">
            <a:extLst>
              <a:ext uri="{FF2B5EF4-FFF2-40B4-BE49-F238E27FC236}">
                <a16:creationId xmlns:a16="http://schemas.microsoft.com/office/drawing/2014/main" id="{8EF4E62E-955B-4736-B857-9A3DB5F455A6}"/>
              </a:ext>
            </a:extLst>
          </p:cNvPr>
          <p:cNvSpPr>
            <a:spLocks noGrp="1"/>
          </p:cNvSpPr>
          <p:nvPr/>
        </p:nvSpPr>
        <p:spPr>
          <a:xfrm flipH="1">
            <a:off x="2075901" y="4192207"/>
            <a:ext cx="349318" cy="576125"/>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9" name="source-diagram-dg20-30">
            <a:extLst>
              <a:ext uri="{FF2B5EF4-FFF2-40B4-BE49-F238E27FC236}">
                <a16:creationId xmlns:a16="http://schemas.microsoft.com/office/drawing/2014/main" id="{FCBC95FD-762B-4169-81C9-2628893758EA}"/>
              </a:ext>
            </a:extLst>
          </p:cNvPr>
          <p:cNvSpPr>
            <a:spLocks noGrp="1"/>
          </p:cNvSpPr>
          <p:nvPr/>
        </p:nvSpPr>
        <p:spPr>
          <a:xfrm>
            <a:off x="2901373" y="4192207"/>
            <a:ext cx="435307" cy="564954"/>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Tree>
    <p:extLst>
      <p:ext uri="{BB962C8B-B14F-4D97-AF65-F5344CB8AC3E}">
        <p14:creationId xmlns:p14="http://schemas.microsoft.com/office/powerpoint/2010/main" val="1411853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8ED264FD-2A5A-4535-9936-D7B08499C5E8}"/>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Recursive depth-first traversal</a:t>
            </a:r>
          </a:p>
        </p:txBody>
      </p:sp>
      <p:sp>
        <p:nvSpPr>
          <p:cNvPr id="2" name="text-1">
            <a:extLst>
              <a:ext uri="{FF2B5EF4-FFF2-40B4-BE49-F238E27FC236}">
                <a16:creationId xmlns:a16="http://schemas.microsoft.com/office/drawing/2014/main" id="{621A2407-95E3-4EED-B75E-99A2E4611B23}"/>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22</a:t>
            </a:r>
          </a:p>
        </p:txBody>
      </p:sp>
      <p:sp>
        <p:nvSpPr>
          <p:cNvPr id="3" name="text-2">
            <a:extLst>
              <a:ext uri="{FF2B5EF4-FFF2-40B4-BE49-F238E27FC236}">
                <a16:creationId xmlns:a16="http://schemas.microsoft.com/office/drawing/2014/main" id="{7122103A-B6BC-4D38-976C-892C671D9647}"/>
              </a:ext>
            </a:extLst>
          </p:cNvPr>
          <p:cNvSpPr>
            <a:spLocks noGrp="1"/>
          </p:cNvSpPr>
          <p:nvPr/>
        </p:nvSpPr>
        <p:spPr>
          <a:xfrm>
            <a:off x="609600" y="1619250"/>
            <a:ext cx="10858500" cy="2238375"/>
          </a:xfrm>
          <a:prstGeom prst="rect">
            <a:avLst/>
          </a:prstGeom>
          <a:noFill/>
          <a:ln w="0">
            <a:noFill/>
          </a:ln>
        </p:spPr>
        <p:txBody>
          <a:bodyPr lIns="0" tIns="0" rIns="0" bIns="0" anchor="t"/>
          <a:lstStyle>
            <a:defPPr algn="l">
              <a:defRPr sz="2250" b="0">
                <a:solidFill>
                  <a:srgbClr val="142E42"/>
                </a:solidFill>
                <a:latin typeface="Consolas"/>
                <a:ea typeface="Consolas"/>
                <a:cs typeface="Consolas"/>
              </a:defRPr>
            </a:defPPr>
            <a:lvl1pPr algn="l">
              <a:defRPr sz="2250" b="0">
                <a:solidFill>
                  <a:srgbClr val="142E42"/>
                </a:solidFill>
                <a:latin typeface="Consolas"/>
                <a:ea typeface="Consolas"/>
                <a:cs typeface="Consolas"/>
              </a:defRPr>
            </a:lvl1pPr>
            <a:lvl2pPr algn="l">
              <a:defRPr sz="2250" b="0">
                <a:solidFill>
                  <a:srgbClr val="142E42"/>
                </a:solidFill>
                <a:latin typeface="Consolas"/>
                <a:ea typeface="Consolas"/>
                <a:cs typeface="Consolas"/>
              </a:defRPr>
            </a:lvl2pPr>
            <a:lvl3pPr algn="l">
              <a:defRPr sz="2250" b="0">
                <a:solidFill>
                  <a:srgbClr val="142E42"/>
                </a:solidFill>
                <a:latin typeface="Consolas"/>
                <a:ea typeface="Consolas"/>
                <a:cs typeface="Consolas"/>
              </a:defRPr>
            </a:lvl3pPr>
            <a:lvl4pPr algn="l">
              <a:defRPr sz="2250" b="0">
                <a:solidFill>
                  <a:srgbClr val="142E42"/>
                </a:solidFill>
                <a:latin typeface="Consolas"/>
                <a:ea typeface="Consolas"/>
                <a:cs typeface="Consolas"/>
              </a:defRPr>
            </a:lvl4pPr>
            <a:lvl5pPr algn="l">
              <a:defRPr sz="2250" b="0">
                <a:solidFill>
                  <a:srgbClr val="142E42"/>
                </a:solidFill>
                <a:latin typeface="Consolas"/>
                <a:ea typeface="Consolas"/>
                <a:cs typeface="Consolas"/>
              </a:defRPr>
            </a:lvl5pPr>
            <a:lvl6pPr algn="l">
              <a:defRPr sz="2250" b="0">
                <a:solidFill>
                  <a:srgbClr val="142E42"/>
                </a:solidFill>
                <a:latin typeface="Consolas"/>
                <a:ea typeface="Consolas"/>
                <a:cs typeface="Consolas"/>
              </a:defRPr>
            </a:lvl6pPr>
            <a:lvl7pPr algn="l">
              <a:defRPr sz="2250" b="0">
                <a:solidFill>
                  <a:srgbClr val="142E42"/>
                </a:solidFill>
                <a:latin typeface="Consolas"/>
                <a:ea typeface="Consolas"/>
                <a:cs typeface="Consolas"/>
              </a:defRPr>
            </a:lvl7pPr>
            <a:lvl8pPr algn="l">
              <a:defRPr sz="2250" b="0">
                <a:solidFill>
                  <a:srgbClr val="142E42"/>
                </a:solidFill>
                <a:latin typeface="Consolas"/>
                <a:ea typeface="Consolas"/>
                <a:cs typeface="Consolas"/>
              </a:defRPr>
            </a:lvl8pPr>
            <a:lvl9pPr algn="l">
              <a:defRPr sz="2250" b="0">
                <a:solidFill>
                  <a:srgbClr val="142E42"/>
                </a:solidFill>
                <a:latin typeface="Consolas"/>
                <a:ea typeface="Consolas"/>
                <a:cs typeface="Consolas"/>
              </a:defRPr>
            </a:lvl9pPr>
          </a:lstStyle>
          <a:p>
            <a:pPr algn="l">
              <a:defRPr sz="2250" b="0">
                <a:solidFill>
                  <a:srgbClr val="142E42"/>
                </a:solidFill>
                <a:latin typeface="Consolas"/>
                <a:ea typeface="Consolas"/>
                <a:cs typeface="Consolas"/>
              </a:defRPr>
            </a:pPr>
            <a:r>
              <a:rPr sz="2250" b="0">
                <a:solidFill>
                  <a:srgbClr val="142E42"/>
                </a:solidFill>
                <a:latin typeface="Consolas"/>
                <a:ea typeface="Consolas"/>
                <a:cs typeface="Consolas"/>
              </a:rPr>
              <a:t>void inorder(Node&lt;E&gt; x) {</a:t>
            </a:r>
          </a:p>
          <a:p>
            <a:pPr algn="l">
              <a:defRPr sz="2250" b="0">
                <a:solidFill>
                  <a:srgbClr val="142E42"/>
                </a:solidFill>
                <a:latin typeface="Consolas"/>
                <a:ea typeface="Consolas"/>
                <a:cs typeface="Consolas"/>
              </a:defRPr>
            </a:pPr>
            <a:r>
              <a:rPr sz="2250" b="0">
                <a:solidFill>
                  <a:srgbClr val="142E42"/>
                </a:solidFill>
                <a:latin typeface="Consolas"/>
                <a:ea typeface="Consolas"/>
                <a:cs typeface="Consolas"/>
              </a:rPr>
              <a:t>    if (x == null) return;</a:t>
            </a:r>
          </a:p>
          <a:p>
            <a:pPr algn="l">
              <a:defRPr sz="2250" b="0">
                <a:solidFill>
                  <a:srgbClr val="142E42"/>
                </a:solidFill>
                <a:latin typeface="Consolas"/>
                <a:ea typeface="Consolas"/>
                <a:cs typeface="Consolas"/>
              </a:defRPr>
            </a:pPr>
            <a:r>
              <a:rPr sz="2250" b="0">
                <a:solidFill>
                  <a:srgbClr val="142E42"/>
                </a:solidFill>
                <a:latin typeface="Consolas"/>
                <a:ea typeface="Consolas"/>
                <a:cs typeface="Consolas"/>
              </a:rPr>
              <a:t>    inorder(x.left);</a:t>
            </a:r>
          </a:p>
          <a:p>
            <a:pPr algn="l">
              <a:defRPr sz="2250" b="0">
                <a:solidFill>
                  <a:srgbClr val="142E42"/>
                </a:solidFill>
                <a:latin typeface="Consolas"/>
                <a:ea typeface="Consolas"/>
                <a:cs typeface="Consolas"/>
              </a:defRPr>
            </a:pPr>
            <a:r>
              <a:rPr sz="2250" b="0">
                <a:solidFill>
                  <a:srgbClr val="142E42"/>
                </a:solidFill>
                <a:latin typeface="Consolas"/>
                <a:ea typeface="Consolas"/>
                <a:cs typeface="Consolas"/>
              </a:rPr>
              <a:t>    visit(x.key);</a:t>
            </a:r>
          </a:p>
          <a:p>
            <a:pPr algn="l">
              <a:defRPr sz="2250" b="0">
                <a:solidFill>
                  <a:srgbClr val="142E42"/>
                </a:solidFill>
                <a:latin typeface="Consolas"/>
                <a:ea typeface="Consolas"/>
                <a:cs typeface="Consolas"/>
              </a:defRPr>
            </a:pPr>
            <a:r>
              <a:rPr sz="2250" b="0">
                <a:solidFill>
                  <a:srgbClr val="142E42"/>
                </a:solidFill>
                <a:latin typeface="Consolas"/>
                <a:ea typeface="Consolas"/>
                <a:cs typeface="Consolas"/>
              </a:rPr>
              <a:t>    inorder(x.right);</a:t>
            </a:r>
          </a:p>
          <a:p>
            <a:pPr algn="l">
              <a:defRPr sz="2250" b="0">
                <a:solidFill>
                  <a:srgbClr val="142E42"/>
                </a:solidFill>
                <a:latin typeface="Consolas"/>
                <a:ea typeface="Consolas"/>
                <a:cs typeface="Consolas"/>
              </a:defRPr>
            </a:pPr>
            <a:r>
              <a:rPr sz="2250" b="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9F6CEEB5-6053-40AC-9639-B169D849CAF2}"/>
              </a:ext>
            </a:extLst>
          </p:cNvPr>
          <p:cNvSpPr>
            <a:spLocks noGrp="1"/>
          </p:cNvSpPr>
          <p:nvPr/>
        </p:nvSpPr>
        <p:spPr>
          <a:xfrm>
            <a:off x="609600" y="4191000"/>
            <a:ext cx="10858500" cy="142875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defRPr sz="2100" b="0">
                <a:solidFill>
                  <a:srgbClr val="142E42"/>
                </a:solidFill>
                <a:latin typeface="Arial"/>
                <a:ea typeface="Arial"/>
                <a:cs typeface="Arial"/>
              </a:defRPr>
            </a:lvl1pPr>
            <a:lvl2pPr algn="l">
              <a:defRPr sz="2100" b="0">
                <a:solidFill>
                  <a:srgbClr val="142E42"/>
                </a:solidFill>
                <a:latin typeface="Arial"/>
                <a:ea typeface="Arial"/>
                <a:cs typeface="Arial"/>
              </a:defRPr>
            </a:lvl2pPr>
            <a:lvl3pPr algn="l">
              <a:defRPr sz="2100" b="0">
                <a:solidFill>
                  <a:srgbClr val="142E42"/>
                </a:solidFill>
                <a:latin typeface="Arial"/>
                <a:ea typeface="Arial"/>
                <a:cs typeface="Arial"/>
              </a:defRPr>
            </a:lvl3pPr>
            <a:lvl4pPr algn="l">
              <a:defRPr sz="2100" b="0">
                <a:solidFill>
                  <a:srgbClr val="142E42"/>
                </a:solidFill>
                <a:latin typeface="Arial"/>
                <a:ea typeface="Arial"/>
                <a:cs typeface="Arial"/>
              </a:defRPr>
            </a:lvl4pPr>
            <a:lvl5pPr algn="l">
              <a:defRPr sz="2100" b="0">
                <a:solidFill>
                  <a:srgbClr val="142E42"/>
                </a:solidFill>
                <a:latin typeface="Arial"/>
                <a:ea typeface="Arial"/>
                <a:cs typeface="Arial"/>
              </a:defRPr>
            </a:lvl5pPr>
            <a:lvl6pPr algn="l">
              <a:defRPr sz="2100" b="0">
                <a:solidFill>
                  <a:srgbClr val="142E42"/>
                </a:solidFill>
                <a:latin typeface="Arial"/>
                <a:ea typeface="Arial"/>
                <a:cs typeface="Arial"/>
              </a:defRPr>
            </a:lvl6pPr>
            <a:lvl7pPr algn="l">
              <a:defRPr sz="2100" b="0">
                <a:solidFill>
                  <a:srgbClr val="142E42"/>
                </a:solidFill>
                <a:latin typeface="Arial"/>
                <a:ea typeface="Arial"/>
                <a:cs typeface="Arial"/>
              </a:defRPr>
            </a:lvl7pPr>
            <a:lvl8pPr algn="l">
              <a:defRPr sz="2100" b="0">
                <a:solidFill>
                  <a:srgbClr val="142E42"/>
                </a:solidFill>
                <a:latin typeface="Arial"/>
                <a:ea typeface="Arial"/>
                <a:cs typeface="Arial"/>
              </a:defRPr>
            </a:lvl8pPr>
            <a:lvl9pPr algn="l">
              <a:defRPr sz="2100" b="0">
                <a:solidFill>
                  <a:srgbClr val="142E42"/>
                </a:solidFill>
                <a:latin typeface="Arial"/>
                <a:ea typeface="Arial"/>
                <a:cs typeface="Arial"/>
              </a:defRPr>
            </a:lvl9pPr>
          </a:lstStyle>
          <a:p>
            <a:pPr algn="l">
              <a:defRPr sz="2100" b="0">
                <a:solidFill>
                  <a:srgbClr val="142E42"/>
                </a:solidFill>
                <a:latin typeface="Arial"/>
                <a:ea typeface="Arial"/>
                <a:cs typeface="Arial"/>
              </a:defRPr>
            </a:pPr>
            <a:r>
              <a:rPr sz="2100" b="0">
                <a:solidFill>
                  <a:srgbClr val="142E42"/>
                </a:solidFill>
                <a:latin typeface="Arial"/>
                <a:ea typeface="Arial"/>
                <a:cs typeface="Arial"/>
              </a:rPr>
              <a:t>Preorder moves visit before both recursive calls.</a:t>
            </a:r>
          </a:p>
          <a:p>
            <a:pPr algn="l">
              <a:defRPr sz="2100" b="0">
                <a:solidFill>
                  <a:srgbClr val="142E42"/>
                </a:solidFill>
                <a:latin typeface="Arial"/>
                <a:ea typeface="Arial"/>
                <a:cs typeface="Arial"/>
              </a:defRPr>
            </a:pPr>
            <a:r>
              <a:rPr sz="2100" b="0">
                <a:solidFill>
                  <a:srgbClr val="142E42"/>
                </a:solidFill>
                <a:latin typeface="Arial"/>
                <a:ea typeface="Arial"/>
                <a:cs typeface="Arial"/>
              </a:rPr>
              <a:t>Postorder moves visit after both recursive calls.</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visit is the action to perform on a key, such as printing it.</a:t>
            </a:r>
          </a:p>
        </p:txBody>
      </p:sp>
      <p:sp>
        <p:nvSpPr>
          <p:cNvPr id="5" name="text-4">
            <a:extLst>
              <a:ext uri="{FF2B5EF4-FFF2-40B4-BE49-F238E27FC236}">
                <a16:creationId xmlns:a16="http://schemas.microsoft.com/office/drawing/2014/main" id="{9F6D3F7C-5FBF-4729-8173-074CA661E2EF}"/>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All three take O(n) time and O(h + 1) stack space.</a:t>
            </a:r>
          </a:p>
        </p:txBody>
      </p:sp>
    </p:spTree>
    <p:extLst>
      <p:ext uri="{BB962C8B-B14F-4D97-AF65-F5344CB8AC3E}">
        <p14:creationId xmlns:p14="http://schemas.microsoft.com/office/powerpoint/2010/main" val="718371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355AEC9E-E8E6-41A3-999E-EBE18DEB369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Breadth-first traversal uses a queue</a:t>
            </a:r>
          </a:p>
        </p:txBody>
      </p:sp>
      <p:sp>
        <p:nvSpPr>
          <p:cNvPr id="2" name="text-1">
            <a:extLst>
              <a:ext uri="{FF2B5EF4-FFF2-40B4-BE49-F238E27FC236}">
                <a16:creationId xmlns:a16="http://schemas.microsoft.com/office/drawing/2014/main" id="{813E6273-43EB-4DA9-997A-615CA942BED1}"/>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23</a:t>
            </a:r>
          </a:p>
        </p:txBody>
      </p:sp>
      <p:sp>
        <p:nvSpPr>
          <p:cNvPr id="3" name="text-2">
            <a:extLst>
              <a:ext uri="{FF2B5EF4-FFF2-40B4-BE49-F238E27FC236}">
                <a16:creationId xmlns:a16="http://schemas.microsoft.com/office/drawing/2014/main" id="{62325E66-4BB4-4178-9A68-A7A1090D5044}"/>
              </a:ext>
            </a:extLst>
          </p:cNvPr>
          <p:cNvSpPr>
            <a:spLocks noGrp="1"/>
          </p:cNvSpPr>
          <p:nvPr/>
        </p:nvSpPr>
        <p:spPr>
          <a:xfrm>
            <a:off x="609600" y="1571625"/>
            <a:ext cx="10953750" cy="3857625"/>
          </a:xfrm>
          <a:prstGeom prst="rect">
            <a:avLst/>
          </a:prstGeom>
          <a:noFill/>
          <a:ln w="0">
            <a:noFill/>
          </a:ln>
        </p:spPr>
        <p:txBody>
          <a:bodyPr lIns="0" tIns="0" rIns="0" bIns="0" anchor="t"/>
          <a:lstStyle>
            <a:defPPr algn="l">
              <a:defRPr sz="2025" b="0">
                <a:solidFill>
                  <a:srgbClr val="142E42"/>
                </a:solidFill>
                <a:latin typeface="Consolas"/>
                <a:ea typeface="Consolas"/>
                <a:cs typeface="Consolas"/>
              </a:defRPr>
            </a:defPPr>
            <a:lvl1pPr algn="l">
              <a:defRPr sz="2025" b="0">
                <a:solidFill>
                  <a:srgbClr val="142E42"/>
                </a:solidFill>
                <a:latin typeface="Consolas"/>
                <a:ea typeface="Consolas"/>
                <a:cs typeface="Consolas"/>
              </a:defRPr>
            </a:lvl1pPr>
            <a:lvl2pPr algn="l">
              <a:defRPr sz="2025" b="0">
                <a:solidFill>
                  <a:srgbClr val="142E42"/>
                </a:solidFill>
                <a:latin typeface="Consolas"/>
                <a:ea typeface="Consolas"/>
                <a:cs typeface="Consolas"/>
              </a:defRPr>
            </a:lvl2pPr>
            <a:lvl3pPr algn="l">
              <a:defRPr sz="2025" b="0">
                <a:solidFill>
                  <a:srgbClr val="142E42"/>
                </a:solidFill>
                <a:latin typeface="Consolas"/>
                <a:ea typeface="Consolas"/>
                <a:cs typeface="Consolas"/>
              </a:defRPr>
            </a:lvl3pPr>
            <a:lvl4pPr algn="l">
              <a:defRPr sz="2025" b="0">
                <a:solidFill>
                  <a:srgbClr val="142E42"/>
                </a:solidFill>
                <a:latin typeface="Consolas"/>
                <a:ea typeface="Consolas"/>
                <a:cs typeface="Consolas"/>
              </a:defRPr>
            </a:lvl4pPr>
            <a:lvl5pPr algn="l">
              <a:defRPr sz="2025" b="0">
                <a:solidFill>
                  <a:srgbClr val="142E42"/>
                </a:solidFill>
                <a:latin typeface="Consolas"/>
                <a:ea typeface="Consolas"/>
                <a:cs typeface="Consolas"/>
              </a:defRPr>
            </a:lvl5pPr>
            <a:lvl6pPr algn="l">
              <a:defRPr sz="2025" b="0">
                <a:solidFill>
                  <a:srgbClr val="142E42"/>
                </a:solidFill>
                <a:latin typeface="Consolas"/>
                <a:ea typeface="Consolas"/>
                <a:cs typeface="Consolas"/>
              </a:defRPr>
            </a:lvl6pPr>
            <a:lvl7pPr algn="l">
              <a:defRPr sz="2025" b="0">
                <a:solidFill>
                  <a:srgbClr val="142E42"/>
                </a:solidFill>
                <a:latin typeface="Consolas"/>
                <a:ea typeface="Consolas"/>
                <a:cs typeface="Consolas"/>
              </a:defRPr>
            </a:lvl7pPr>
            <a:lvl8pPr algn="l">
              <a:defRPr sz="2025" b="0">
                <a:solidFill>
                  <a:srgbClr val="142E42"/>
                </a:solidFill>
                <a:latin typeface="Consolas"/>
                <a:ea typeface="Consolas"/>
                <a:cs typeface="Consolas"/>
              </a:defRPr>
            </a:lvl8pPr>
            <a:lvl9pPr algn="l">
              <a:defRPr sz="2025" b="0">
                <a:solidFill>
                  <a:srgbClr val="142E42"/>
                </a:solidFill>
                <a:latin typeface="Consolas"/>
                <a:ea typeface="Consolas"/>
                <a:cs typeface="Consolas"/>
              </a:defRPr>
            </a:lvl9pPr>
          </a:lstStyle>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void </a:t>
            </a:r>
            <a:r>
              <a:rPr sz="2025" b="0" dirty="0" err="1">
                <a:solidFill>
                  <a:srgbClr val="142E42"/>
                </a:solidFill>
                <a:latin typeface="Consolas"/>
                <a:ea typeface="Consolas"/>
                <a:cs typeface="Consolas"/>
              </a:rPr>
              <a:t>levelOrder</a:t>
            </a:r>
            <a:r>
              <a:rPr sz="2025" b="0" dirty="0">
                <a:solidFill>
                  <a:srgbClr val="142E42"/>
                </a:solidFill>
                <a:latin typeface="Consolas"/>
                <a:ea typeface="Consolas"/>
                <a:cs typeface="Consolas"/>
              </a:rPr>
              <a:t>() {</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if (root == null) return;</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Queue&lt;Node&lt;E&gt;&gt; q = new </a:t>
            </a:r>
            <a:r>
              <a:rPr sz="2025" b="0" dirty="0" err="1">
                <a:solidFill>
                  <a:srgbClr val="142E42"/>
                </a:solidFill>
                <a:latin typeface="Consolas"/>
                <a:ea typeface="Consolas"/>
                <a:cs typeface="Consolas"/>
              </a:rPr>
              <a:t>ArrayDeque</a:t>
            </a:r>
            <a:r>
              <a:rPr sz="2025" b="0" dirty="0">
                <a:solidFill>
                  <a:srgbClr val="142E42"/>
                </a:solidFill>
                <a:latin typeface="Consolas"/>
                <a:ea typeface="Consolas"/>
                <a:cs typeface="Consolas"/>
              </a:rPr>
              <a:t>&lt;&gt;();</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a:t>
            </a:r>
            <a:r>
              <a:rPr sz="2025" b="0" dirty="0" err="1">
                <a:solidFill>
                  <a:srgbClr val="142E42"/>
                </a:solidFill>
                <a:latin typeface="Consolas"/>
                <a:ea typeface="Consolas"/>
                <a:cs typeface="Consolas"/>
              </a:rPr>
              <a:t>q.add</a:t>
            </a:r>
            <a:r>
              <a:rPr sz="2025" b="0" dirty="0">
                <a:solidFill>
                  <a:srgbClr val="142E42"/>
                </a:solidFill>
                <a:latin typeface="Consolas"/>
                <a:ea typeface="Consolas"/>
                <a:cs typeface="Consolas"/>
              </a:rPr>
              <a:t>(root);</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while (!</a:t>
            </a:r>
            <a:r>
              <a:rPr sz="2025" b="0" dirty="0" err="1">
                <a:solidFill>
                  <a:srgbClr val="142E42"/>
                </a:solidFill>
                <a:latin typeface="Consolas"/>
                <a:ea typeface="Consolas"/>
                <a:cs typeface="Consolas"/>
              </a:rPr>
              <a:t>q.isEmpty</a:t>
            </a:r>
            <a:r>
              <a:rPr sz="2025" b="0" dirty="0">
                <a:solidFill>
                  <a:srgbClr val="142E42"/>
                </a:solidFill>
                <a:latin typeface="Consolas"/>
                <a:ea typeface="Consolas"/>
                <a:cs typeface="Consolas"/>
              </a:rPr>
              <a:t>()) {</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Node&lt;E&gt; x = </a:t>
            </a:r>
            <a:r>
              <a:rPr sz="2025" b="0" dirty="0" err="1">
                <a:solidFill>
                  <a:srgbClr val="142E42"/>
                </a:solidFill>
                <a:latin typeface="Consolas"/>
                <a:ea typeface="Consolas"/>
                <a:cs typeface="Consolas"/>
              </a:rPr>
              <a:t>q.remove</a:t>
            </a:r>
            <a:r>
              <a:rPr sz="2025" b="0" dirty="0">
                <a:solidFill>
                  <a:srgbClr val="142E42"/>
                </a:solidFill>
                <a:latin typeface="Consolas"/>
                <a:ea typeface="Consolas"/>
                <a:cs typeface="Consolas"/>
              </a:rPr>
              <a:t>();</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visit(</a:t>
            </a:r>
            <a:r>
              <a:rPr sz="2025" b="0" dirty="0" err="1">
                <a:solidFill>
                  <a:srgbClr val="142E42"/>
                </a:solidFill>
                <a:latin typeface="Consolas"/>
                <a:ea typeface="Consolas"/>
                <a:cs typeface="Consolas"/>
              </a:rPr>
              <a:t>x.key</a:t>
            </a:r>
            <a:r>
              <a:rPr sz="2025" b="0" dirty="0">
                <a:solidFill>
                  <a:srgbClr val="142E42"/>
                </a:solidFill>
                <a:latin typeface="Consolas"/>
                <a:ea typeface="Consolas"/>
                <a:cs typeface="Consolas"/>
              </a:rPr>
              <a:t>);</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if (</a:t>
            </a:r>
            <a:r>
              <a:rPr sz="2025" b="0" dirty="0" err="1">
                <a:solidFill>
                  <a:srgbClr val="142E42"/>
                </a:solidFill>
                <a:latin typeface="Consolas"/>
                <a:ea typeface="Consolas"/>
                <a:cs typeface="Consolas"/>
              </a:rPr>
              <a:t>x.left</a:t>
            </a:r>
            <a:r>
              <a:rPr sz="2025" b="0" dirty="0">
                <a:solidFill>
                  <a:srgbClr val="142E42"/>
                </a:solidFill>
                <a:latin typeface="Consolas"/>
                <a:ea typeface="Consolas"/>
                <a:cs typeface="Consolas"/>
              </a:rPr>
              <a:t> != null) </a:t>
            </a:r>
            <a:r>
              <a:rPr sz="2025" b="0" dirty="0" err="1">
                <a:solidFill>
                  <a:srgbClr val="142E42"/>
                </a:solidFill>
                <a:latin typeface="Consolas"/>
                <a:ea typeface="Consolas"/>
                <a:cs typeface="Consolas"/>
              </a:rPr>
              <a:t>q.add</a:t>
            </a:r>
            <a:r>
              <a:rPr sz="2025" b="0" dirty="0">
                <a:solidFill>
                  <a:srgbClr val="142E42"/>
                </a:solidFill>
                <a:latin typeface="Consolas"/>
                <a:ea typeface="Consolas"/>
                <a:cs typeface="Consolas"/>
              </a:rPr>
              <a:t>(</a:t>
            </a:r>
            <a:r>
              <a:rPr sz="2025" b="0" dirty="0" err="1">
                <a:solidFill>
                  <a:srgbClr val="142E42"/>
                </a:solidFill>
                <a:latin typeface="Consolas"/>
                <a:ea typeface="Consolas"/>
                <a:cs typeface="Consolas"/>
              </a:rPr>
              <a:t>x.left</a:t>
            </a:r>
            <a:r>
              <a:rPr sz="2025" b="0" dirty="0">
                <a:solidFill>
                  <a:srgbClr val="142E42"/>
                </a:solidFill>
                <a:latin typeface="Consolas"/>
                <a:ea typeface="Consolas"/>
                <a:cs typeface="Consolas"/>
              </a:rPr>
              <a:t>);</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if (</a:t>
            </a:r>
            <a:r>
              <a:rPr sz="2025" b="0" dirty="0" err="1">
                <a:solidFill>
                  <a:srgbClr val="142E42"/>
                </a:solidFill>
                <a:latin typeface="Consolas"/>
                <a:ea typeface="Consolas"/>
                <a:cs typeface="Consolas"/>
              </a:rPr>
              <a:t>x.right</a:t>
            </a:r>
            <a:r>
              <a:rPr sz="2025" b="0" dirty="0">
                <a:solidFill>
                  <a:srgbClr val="142E42"/>
                </a:solidFill>
                <a:latin typeface="Consolas"/>
                <a:ea typeface="Consolas"/>
                <a:cs typeface="Consolas"/>
              </a:rPr>
              <a:t> != null) </a:t>
            </a:r>
            <a:r>
              <a:rPr sz="2025" b="0" dirty="0" err="1">
                <a:solidFill>
                  <a:srgbClr val="142E42"/>
                </a:solidFill>
                <a:latin typeface="Consolas"/>
                <a:ea typeface="Consolas"/>
                <a:cs typeface="Consolas"/>
              </a:rPr>
              <a:t>q.add</a:t>
            </a:r>
            <a:r>
              <a:rPr sz="2025" b="0" dirty="0">
                <a:solidFill>
                  <a:srgbClr val="142E42"/>
                </a:solidFill>
                <a:latin typeface="Consolas"/>
                <a:ea typeface="Consolas"/>
                <a:cs typeface="Consolas"/>
              </a:rPr>
              <a:t>(</a:t>
            </a:r>
            <a:r>
              <a:rPr sz="2025" b="0" dirty="0" err="1">
                <a:solidFill>
                  <a:srgbClr val="142E42"/>
                </a:solidFill>
                <a:latin typeface="Consolas"/>
                <a:ea typeface="Consolas"/>
                <a:cs typeface="Consolas"/>
              </a:rPr>
              <a:t>x.right</a:t>
            </a:r>
            <a:r>
              <a:rPr sz="2025" b="0" dirty="0">
                <a:solidFill>
                  <a:srgbClr val="142E42"/>
                </a:solidFill>
                <a:latin typeface="Consolas"/>
                <a:ea typeface="Consolas"/>
                <a:cs typeface="Consolas"/>
              </a:rPr>
              <a:t>);</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    }</a:t>
            </a:r>
          </a:p>
          <a:p>
            <a:pPr algn="l">
              <a:defRPr sz="2025" b="0">
                <a:solidFill>
                  <a:srgbClr val="142E42"/>
                </a:solidFill>
                <a:latin typeface="Consolas"/>
                <a:ea typeface="Consolas"/>
                <a:cs typeface="Consolas"/>
              </a:defRPr>
            </a:pPr>
            <a:r>
              <a:rPr sz="2025" b="0" dirty="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FBE27A82-E7D0-46F6-A04B-06343B136E24}"/>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Time O(n). Queue space O(w), where w is the maximum level width.</a:t>
            </a:r>
          </a:p>
        </p:txBody>
      </p:sp>
    </p:spTree>
    <p:extLst>
      <p:ext uri="{BB962C8B-B14F-4D97-AF65-F5344CB8AC3E}">
        <p14:creationId xmlns:p14="http://schemas.microsoft.com/office/powerpoint/2010/main" val="942435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19" name="text-0">
            <a:extLst>
              <a:ext uri="{FF2B5EF4-FFF2-40B4-BE49-F238E27FC236}">
                <a16:creationId xmlns:a16="http://schemas.microsoft.com/office/drawing/2014/main" id="{2D4909A3-FF8D-4EB0-83A9-C8521500D9E1}"/>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Checkpoint: traversal and successor</a:t>
            </a:r>
          </a:p>
        </p:txBody>
      </p:sp>
      <p:sp>
        <p:nvSpPr>
          <p:cNvPr id="2" name="text-1">
            <a:extLst>
              <a:ext uri="{FF2B5EF4-FFF2-40B4-BE49-F238E27FC236}">
                <a16:creationId xmlns:a16="http://schemas.microsoft.com/office/drawing/2014/main" id="{5948FE73-85C4-43F7-8DC2-BA9F83BD864C}"/>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24</a:t>
            </a:r>
          </a:p>
        </p:txBody>
      </p:sp>
      <p:sp>
        <p:nvSpPr>
          <p:cNvPr id="3" name="text-2">
            <a:extLst>
              <a:ext uri="{FF2B5EF4-FFF2-40B4-BE49-F238E27FC236}">
                <a16:creationId xmlns:a16="http://schemas.microsoft.com/office/drawing/2014/main" id="{BE9A81D2-0209-428B-BA19-583508CE5FF0}"/>
              </a:ext>
            </a:extLst>
          </p:cNvPr>
          <p:cNvSpPr>
            <a:spLocks noGrp="1"/>
          </p:cNvSpPr>
          <p:nvPr/>
        </p:nvSpPr>
        <p:spPr>
          <a:xfrm>
            <a:off x="609600" y="1714500"/>
            <a:ext cx="5905500" cy="3714750"/>
          </a:xfrm>
          <a:prstGeom prst="rect">
            <a:avLst/>
          </a:prstGeom>
          <a:noFill/>
          <a:ln w="0">
            <a:noFill/>
          </a:ln>
        </p:spPr>
        <p:txBody>
          <a:bodyPr lIns="0" tIns="0" rIns="0" bIns="0" anchor="t"/>
          <a:lstStyle>
            <a:defPPr algn="l">
              <a:defRPr sz="2250" b="0">
                <a:solidFill>
                  <a:srgbClr val="142E42"/>
                </a:solidFill>
                <a:latin typeface="Arial"/>
                <a:ea typeface="Arial"/>
                <a:cs typeface="Arial"/>
              </a:defRPr>
            </a:defPPr>
            <a:lvl1pPr algn="l">
              <a:defRPr sz="2250" b="0">
                <a:solidFill>
                  <a:srgbClr val="142E42"/>
                </a:solidFill>
                <a:latin typeface="Arial"/>
                <a:ea typeface="Arial"/>
                <a:cs typeface="Arial"/>
              </a:defRPr>
            </a:lvl1pPr>
            <a:lvl2pPr algn="l">
              <a:defRPr sz="2250" b="0">
                <a:solidFill>
                  <a:srgbClr val="142E42"/>
                </a:solidFill>
                <a:latin typeface="Arial"/>
                <a:ea typeface="Arial"/>
                <a:cs typeface="Arial"/>
              </a:defRPr>
            </a:lvl2pPr>
            <a:lvl3pPr algn="l">
              <a:defRPr sz="2250" b="0">
                <a:solidFill>
                  <a:srgbClr val="142E42"/>
                </a:solidFill>
                <a:latin typeface="Arial"/>
                <a:ea typeface="Arial"/>
                <a:cs typeface="Arial"/>
              </a:defRPr>
            </a:lvl3pPr>
            <a:lvl4pPr algn="l">
              <a:defRPr sz="2250" b="0">
                <a:solidFill>
                  <a:srgbClr val="142E42"/>
                </a:solidFill>
                <a:latin typeface="Arial"/>
                <a:ea typeface="Arial"/>
                <a:cs typeface="Arial"/>
              </a:defRPr>
            </a:lvl4pPr>
            <a:lvl5pPr algn="l">
              <a:defRPr sz="2250" b="0">
                <a:solidFill>
                  <a:srgbClr val="142E42"/>
                </a:solidFill>
                <a:latin typeface="Arial"/>
                <a:ea typeface="Arial"/>
                <a:cs typeface="Arial"/>
              </a:defRPr>
            </a:lvl5pPr>
            <a:lvl6pPr algn="l">
              <a:defRPr sz="2250" b="0">
                <a:solidFill>
                  <a:srgbClr val="142E42"/>
                </a:solidFill>
                <a:latin typeface="Arial"/>
                <a:ea typeface="Arial"/>
                <a:cs typeface="Arial"/>
              </a:defRPr>
            </a:lvl6pPr>
            <a:lvl7pPr algn="l">
              <a:defRPr sz="2250" b="0">
                <a:solidFill>
                  <a:srgbClr val="142E42"/>
                </a:solidFill>
                <a:latin typeface="Arial"/>
                <a:ea typeface="Arial"/>
                <a:cs typeface="Arial"/>
              </a:defRPr>
            </a:lvl7pPr>
            <a:lvl8pPr algn="l">
              <a:defRPr sz="2250" b="0">
                <a:solidFill>
                  <a:srgbClr val="142E42"/>
                </a:solidFill>
                <a:latin typeface="Arial"/>
                <a:ea typeface="Arial"/>
                <a:cs typeface="Arial"/>
              </a:defRPr>
            </a:lvl8pPr>
            <a:lvl9pPr algn="l">
              <a:defRPr sz="2250" b="0">
                <a:solidFill>
                  <a:srgbClr val="142E42"/>
                </a:solidFill>
                <a:latin typeface="Arial"/>
                <a:ea typeface="Arial"/>
                <a:cs typeface="Arial"/>
              </a:defRPr>
            </a:lvl9pPr>
          </a:lstStyle>
          <a:p>
            <a:pPr algn="l">
              <a:defRPr sz="2250" b="0">
                <a:solidFill>
                  <a:srgbClr val="142E42"/>
                </a:solidFill>
                <a:latin typeface="Arial"/>
                <a:ea typeface="Arial"/>
                <a:cs typeface="Arial"/>
              </a:defRPr>
            </a:pPr>
            <a:r>
              <a:rPr sz="2250" b="0">
                <a:solidFill>
                  <a:srgbClr val="142E42"/>
                </a:solidFill>
                <a:latin typeface="Arial"/>
                <a:ea typeface="Arial"/>
                <a:cs typeface="Arial"/>
              </a:rPr>
              <a:t>Write the inorder, preorder,</a:t>
            </a:r>
          </a:p>
          <a:p>
            <a:pPr algn="l">
              <a:defRPr sz="2250" b="0">
                <a:solidFill>
                  <a:srgbClr val="142E42"/>
                </a:solidFill>
                <a:latin typeface="Arial"/>
                <a:ea typeface="Arial"/>
                <a:cs typeface="Arial"/>
              </a:defRPr>
            </a:pPr>
            <a:r>
              <a:rPr sz="2250" b="0">
                <a:solidFill>
                  <a:srgbClr val="142E42"/>
                </a:solidFill>
                <a:latin typeface="Arial"/>
                <a:ea typeface="Arial"/>
                <a:cs typeface="Arial"/>
              </a:rPr>
              <a:t>and postorder sequences.</a:t>
            </a:r>
          </a:p>
          <a:p>
            <a:endParaRPr sz="2250" b="0">
              <a:solidFill>
                <a:srgbClr val="142E42"/>
              </a:solidFill>
              <a:latin typeface="Arial"/>
              <a:ea typeface="Arial"/>
              <a:cs typeface="Arial"/>
            </a:endParaRPr>
          </a:p>
          <a:p>
            <a:pPr algn="l">
              <a:defRPr sz="2250" b="0">
                <a:solidFill>
                  <a:srgbClr val="142E42"/>
                </a:solidFill>
                <a:latin typeface="Arial"/>
                <a:ea typeface="Arial"/>
                <a:cs typeface="Arial"/>
              </a:defRPr>
            </a:pPr>
            <a:r>
              <a:rPr sz="2250" b="0">
                <a:solidFill>
                  <a:srgbClr val="142E42"/>
                </a:solidFill>
                <a:latin typeface="Arial"/>
                <a:ea typeface="Arial"/>
                <a:cs typeface="Arial"/>
              </a:rPr>
              <a:t>Which key follows 30</a:t>
            </a:r>
          </a:p>
          <a:p>
            <a:pPr algn="l">
              <a:defRPr sz="2250" b="0">
                <a:solidFill>
                  <a:srgbClr val="142E42"/>
                </a:solidFill>
                <a:latin typeface="Arial"/>
                <a:ea typeface="Arial"/>
                <a:cs typeface="Arial"/>
              </a:defRPr>
            </a:pPr>
            <a:r>
              <a:rPr sz="2250" b="0">
                <a:solidFill>
                  <a:srgbClr val="142E42"/>
                </a:solidFill>
                <a:latin typeface="Arial"/>
                <a:ea typeface="Arial"/>
                <a:cs typeface="Arial"/>
              </a:rPr>
              <a:t>in inorder traversal?</a:t>
            </a:r>
          </a:p>
          <a:p>
            <a:endParaRPr sz="2250" b="0">
              <a:solidFill>
                <a:srgbClr val="142E42"/>
              </a:solidFill>
              <a:latin typeface="Arial"/>
              <a:ea typeface="Arial"/>
              <a:cs typeface="Arial"/>
            </a:endParaRPr>
          </a:p>
          <a:p>
            <a:pPr algn="l">
              <a:defRPr sz="2250" b="0">
                <a:solidFill>
                  <a:srgbClr val="142E42"/>
                </a:solidFill>
                <a:latin typeface="Arial"/>
                <a:ea typeface="Arial"/>
                <a:cs typeface="Arial"/>
              </a:defRPr>
            </a:pPr>
            <a:r>
              <a:rPr sz="2250" b="0">
                <a:solidFill>
                  <a:srgbClr val="142E42"/>
                </a:solidFill>
                <a:latin typeface="Arial"/>
                <a:ea typeface="Arial"/>
                <a:cs typeface="Arial"/>
              </a:rPr>
              <a:t>Explain why that key</a:t>
            </a:r>
          </a:p>
          <a:p>
            <a:pPr algn="l">
              <a:defRPr sz="2250" b="0">
                <a:solidFill>
                  <a:srgbClr val="142E42"/>
                </a:solidFill>
                <a:latin typeface="Arial"/>
                <a:ea typeface="Arial"/>
                <a:cs typeface="Arial"/>
              </a:defRPr>
            </a:pPr>
            <a:r>
              <a:rPr sz="2250" b="0">
                <a:solidFill>
                  <a:srgbClr val="142E42"/>
                </a:solidFill>
                <a:latin typeface="Arial"/>
                <a:ea typeface="Arial"/>
                <a:cs typeface="Arial"/>
              </a:rPr>
              <a:t>is the inorder successor.</a:t>
            </a:r>
          </a:p>
        </p:txBody>
      </p:sp>
      <p:sp>
        <p:nvSpPr>
          <p:cNvPr id="4" name="source-diagram-dg23-9">
            <a:extLst>
              <a:ext uri="{FF2B5EF4-FFF2-40B4-BE49-F238E27FC236}">
                <a16:creationId xmlns:a16="http://schemas.microsoft.com/office/drawing/2014/main" id="{FF11148E-2A86-4B01-9BAE-A6B96EF3CB5D}"/>
              </a:ext>
            </a:extLst>
          </p:cNvPr>
          <p:cNvSpPr>
            <a:spLocks noGrp="1"/>
          </p:cNvSpPr>
          <p:nvPr/>
        </p:nvSpPr>
        <p:spPr>
          <a:xfrm>
            <a:off x="8899222" y="1619250"/>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30</a:t>
            </a:r>
          </a:p>
        </p:txBody>
      </p:sp>
      <p:sp>
        <p:nvSpPr>
          <p:cNvPr id="5" name="source-diagram-dg23-10">
            <a:extLst>
              <a:ext uri="{FF2B5EF4-FFF2-40B4-BE49-F238E27FC236}">
                <a16:creationId xmlns:a16="http://schemas.microsoft.com/office/drawing/2014/main" id="{43CF427E-AE8C-4D22-AEE5-A7089D9B1E4F}"/>
              </a:ext>
            </a:extLst>
          </p:cNvPr>
          <p:cNvSpPr>
            <a:spLocks noGrp="1"/>
          </p:cNvSpPr>
          <p:nvPr/>
        </p:nvSpPr>
        <p:spPr>
          <a:xfrm>
            <a:off x="8236794" y="2528985"/>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20</a:t>
            </a:r>
          </a:p>
        </p:txBody>
      </p:sp>
      <p:sp>
        <p:nvSpPr>
          <p:cNvPr id="6" name="source-diagram-dg23-11">
            <a:extLst>
              <a:ext uri="{FF2B5EF4-FFF2-40B4-BE49-F238E27FC236}">
                <a16:creationId xmlns:a16="http://schemas.microsoft.com/office/drawing/2014/main" id="{E6911813-4A65-40DF-854E-C0316D3C5702}"/>
              </a:ext>
            </a:extLst>
          </p:cNvPr>
          <p:cNvSpPr>
            <a:spLocks noGrp="1"/>
          </p:cNvSpPr>
          <p:nvPr/>
        </p:nvSpPr>
        <p:spPr>
          <a:xfrm>
            <a:off x="9775099" y="2528985"/>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70</a:t>
            </a:r>
          </a:p>
        </p:txBody>
      </p:sp>
      <p:sp>
        <p:nvSpPr>
          <p:cNvPr id="7" name="source-diagram-dg23-12">
            <a:extLst>
              <a:ext uri="{FF2B5EF4-FFF2-40B4-BE49-F238E27FC236}">
                <a16:creationId xmlns:a16="http://schemas.microsoft.com/office/drawing/2014/main" id="{99F89124-3696-43AE-9BA4-9B6B3DF5156E}"/>
              </a:ext>
            </a:extLst>
          </p:cNvPr>
          <p:cNvSpPr>
            <a:spLocks noGrp="1"/>
          </p:cNvSpPr>
          <p:nvPr/>
        </p:nvSpPr>
        <p:spPr>
          <a:xfrm>
            <a:off x="7620000" y="3514532"/>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10</a:t>
            </a:r>
          </a:p>
        </p:txBody>
      </p:sp>
      <p:sp>
        <p:nvSpPr>
          <p:cNvPr id="8" name="source-diagram-dg23-13">
            <a:extLst>
              <a:ext uri="{FF2B5EF4-FFF2-40B4-BE49-F238E27FC236}">
                <a16:creationId xmlns:a16="http://schemas.microsoft.com/office/drawing/2014/main" id="{EEC602B6-0593-4160-A5F9-217F794B49CA}"/>
              </a:ext>
            </a:extLst>
          </p:cNvPr>
          <p:cNvSpPr>
            <a:spLocks noGrp="1"/>
          </p:cNvSpPr>
          <p:nvPr/>
        </p:nvSpPr>
        <p:spPr>
          <a:xfrm>
            <a:off x="9126656" y="3514532"/>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50</a:t>
            </a:r>
          </a:p>
        </p:txBody>
      </p:sp>
      <p:sp>
        <p:nvSpPr>
          <p:cNvPr id="9" name="source-diagram-dg23-14">
            <a:extLst>
              <a:ext uri="{FF2B5EF4-FFF2-40B4-BE49-F238E27FC236}">
                <a16:creationId xmlns:a16="http://schemas.microsoft.com/office/drawing/2014/main" id="{4BEFCF26-F58E-4FF3-9A73-066EB3D12F26}"/>
              </a:ext>
            </a:extLst>
          </p:cNvPr>
          <p:cNvSpPr>
            <a:spLocks noGrp="1"/>
          </p:cNvSpPr>
          <p:nvPr/>
        </p:nvSpPr>
        <p:spPr>
          <a:xfrm>
            <a:off x="10533211" y="3484523"/>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90</a:t>
            </a:r>
          </a:p>
        </p:txBody>
      </p:sp>
      <p:sp>
        <p:nvSpPr>
          <p:cNvPr id="10" name="source-diagram-dg23-15">
            <a:extLst>
              <a:ext uri="{FF2B5EF4-FFF2-40B4-BE49-F238E27FC236}">
                <a16:creationId xmlns:a16="http://schemas.microsoft.com/office/drawing/2014/main" id="{968A41B9-F715-42B4-B977-DE1DB392135B}"/>
              </a:ext>
            </a:extLst>
          </p:cNvPr>
          <p:cNvSpPr>
            <a:spLocks noGrp="1"/>
          </p:cNvSpPr>
          <p:nvPr/>
        </p:nvSpPr>
        <p:spPr>
          <a:xfrm>
            <a:off x="8561015" y="4651699"/>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40</a:t>
            </a:r>
          </a:p>
        </p:txBody>
      </p:sp>
      <p:sp>
        <p:nvSpPr>
          <p:cNvPr id="11" name="source-diagram-dg23-16">
            <a:extLst>
              <a:ext uri="{FF2B5EF4-FFF2-40B4-BE49-F238E27FC236}">
                <a16:creationId xmlns:a16="http://schemas.microsoft.com/office/drawing/2014/main" id="{39DC8F62-68EE-41F3-9D31-54F8D26E03B4}"/>
              </a:ext>
            </a:extLst>
          </p:cNvPr>
          <p:cNvSpPr>
            <a:spLocks noGrp="1"/>
          </p:cNvSpPr>
          <p:nvPr/>
        </p:nvSpPr>
        <p:spPr>
          <a:xfrm>
            <a:off x="9775099" y="4640942"/>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60</a:t>
            </a:r>
          </a:p>
        </p:txBody>
      </p:sp>
      <p:sp>
        <p:nvSpPr>
          <p:cNvPr id="12" name="source-diagram-dg23-18">
            <a:extLst>
              <a:ext uri="{FF2B5EF4-FFF2-40B4-BE49-F238E27FC236}">
                <a16:creationId xmlns:a16="http://schemas.microsoft.com/office/drawing/2014/main" id="{6B63FADE-7D3E-43FD-8DF5-2DCD577DF2E5}"/>
              </a:ext>
            </a:extLst>
          </p:cNvPr>
          <p:cNvSpPr>
            <a:spLocks noGrp="1"/>
          </p:cNvSpPr>
          <p:nvPr/>
        </p:nvSpPr>
        <p:spPr>
          <a:xfrm flipH="1">
            <a:off x="8637931" y="2201630"/>
            <a:ext cx="356253" cy="365261"/>
          </a:xfrm>
          <a:prstGeom prst="line">
            <a:avLst/>
          </a:prstGeom>
          <a:solidFill>
            <a:srgbClr val="E5EEF2"/>
          </a:solidFill>
          <a:ln>
            <a:headEnd type="none" w="med" len="med"/>
            <a:tailEnd type="none" w="med" len="med"/>
          </a:ln>
        </p:spPr>
        <p:style>
          <a:lnRef idx="1">
            <a:schemeClr val="dk1"/>
          </a:lnRef>
          <a:fillRef idx="0">
            <a:schemeClr val="dk1"/>
          </a:fillRef>
          <a:effectRef idx="0">
            <a:schemeClr val="dk1"/>
          </a:effectRef>
          <a:fontRef idx="minor">
            <a:schemeClr val="tx1"/>
          </a:fontRef>
        </p:style>
        <p:txBody>
          <a:bodyPr wrap="square" lIns="0" tIns="0" rIns="0" bIns="0" anchor="ctr"/>
          <a:lstStyle/>
          <a:p>
            <a:endParaRPr/>
          </a:p>
        </p:txBody>
      </p:sp>
      <p:sp>
        <p:nvSpPr>
          <p:cNvPr id="13" name="source-diagram-dg23-20">
            <a:extLst>
              <a:ext uri="{FF2B5EF4-FFF2-40B4-BE49-F238E27FC236}">
                <a16:creationId xmlns:a16="http://schemas.microsoft.com/office/drawing/2014/main" id="{21EEF36D-A451-463B-89F5-3F5509C335FD}"/>
              </a:ext>
            </a:extLst>
          </p:cNvPr>
          <p:cNvSpPr>
            <a:spLocks noGrp="1"/>
          </p:cNvSpPr>
          <p:nvPr/>
        </p:nvSpPr>
        <p:spPr>
          <a:xfrm>
            <a:off x="9452704" y="2201630"/>
            <a:ext cx="417358" cy="427275"/>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4" name="source-diagram-dg23-22">
            <a:extLst>
              <a:ext uri="{FF2B5EF4-FFF2-40B4-BE49-F238E27FC236}">
                <a16:creationId xmlns:a16="http://schemas.microsoft.com/office/drawing/2014/main" id="{67262CE6-1316-4445-969E-2735D0ACBE3F}"/>
              </a:ext>
            </a:extLst>
          </p:cNvPr>
          <p:cNvSpPr>
            <a:spLocks noGrp="1"/>
          </p:cNvSpPr>
          <p:nvPr/>
        </p:nvSpPr>
        <p:spPr>
          <a:xfrm flipH="1">
            <a:off x="7944222" y="3111365"/>
            <a:ext cx="387534" cy="403166"/>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5" name="source-diagram-dg23-24">
            <a:extLst>
              <a:ext uri="{FF2B5EF4-FFF2-40B4-BE49-F238E27FC236}">
                <a16:creationId xmlns:a16="http://schemas.microsoft.com/office/drawing/2014/main" id="{DBF1D2AE-7CD6-4B9C-BFFF-68BBE942C0ED}"/>
              </a:ext>
            </a:extLst>
          </p:cNvPr>
          <p:cNvSpPr>
            <a:spLocks noGrp="1"/>
          </p:cNvSpPr>
          <p:nvPr/>
        </p:nvSpPr>
        <p:spPr>
          <a:xfrm flipH="1">
            <a:off x="9450878" y="3111365"/>
            <a:ext cx="419183" cy="403166"/>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6" name="source-diagram-dg23-26">
            <a:extLst>
              <a:ext uri="{FF2B5EF4-FFF2-40B4-BE49-F238E27FC236}">
                <a16:creationId xmlns:a16="http://schemas.microsoft.com/office/drawing/2014/main" id="{4958D6BA-EC86-4526-ADB5-E183E2084064}"/>
              </a:ext>
            </a:extLst>
          </p:cNvPr>
          <p:cNvSpPr>
            <a:spLocks noGrp="1"/>
          </p:cNvSpPr>
          <p:nvPr/>
        </p:nvSpPr>
        <p:spPr>
          <a:xfrm>
            <a:off x="10328581" y="3111365"/>
            <a:ext cx="528852" cy="373157"/>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7" name="source-diagram-dg23-28">
            <a:extLst>
              <a:ext uri="{FF2B5EF4-FFF2-40B4-BE49-F238E27FC236}">
                <a16:creationId xmlns:a16="http://schemas.microsoft.com/office/drawing/2014/main" id="{8EF4E62E-955B-4736-B857-9A3DB5F455A6}"/>
              </a:ext>
            </a:extLst>
          </p:cNvPr>
          <p:cNvSpPr>
            <a:spLocks noGrp="1"/>
          </p:cNvSpPr>
          <p:nvPr/>
        </p:nvSpPr>
        <p:spPr>
          <a:xfrm flipH="1">
            <a:off x="8885238" y="4096912"/>
            <a:ext cx="336380" cy="554787"/>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8" name="source-diagram-dg23-30">
            <a:extLst>
              <a:ext uri="{FF2B5EF4-FFF2-40B4-BE49-F238E27FC236}">
                <a16:creationId xmlns:a16="http://schemas.microsoft.com/office/drawing/2014/main" id="{FCBC95FD-762B-4169-81C9-2628893758EA}"/>
              </a:ext>
            </a:extLst>
          </p:cNvPr>
          <p:cNvSpPr>
            <a:spLocks noGrp="1"/>
          </p:cNvSpPr>
          <p:nvPr/>
        </p:nvSpPr>
        <p:spPr>
          <a:xfrm>
            <a:off x="9680137" y="4096912"/>
            <a:ext cx="419184" cy="544030"/>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Tree>
    <p:extLst>
      <p:ext uri="{BB962C8B-B14F-4D97-AF65-F5344CB8AC3E}">
        <p14:creationId xmlns:p14="http://schemas.microsoft.com/office/powerpoint/2010/main" val="531456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3" name="text-0">
            <a:extLst>
              <a:ext uri="{FF2B5EF4-FFF2-40B4-BE49-F238E27FC236}">
                <a16:creationId xmlns:a16="http://schemas.microsoft.com/office/drawing/2014/main" id="{0B97F258-6D41-4507-A0AC-B639E136E770}"/>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Predecessor and successor</a:t>
            </a:r>
          </a:p>
        </p:txBody>
      </p:sp>
      <p:sp>
        <p:nvSpPr>
          <p:cNvPr id="2" name="text-1">
            <a:extLst>
              <a:ext uri="{FF2B5EF4-FFF2-40B4-BE49-F238E27FC236}">
                <a16:creationId xmlns:a16="http://schemas.microsoft.com/office/drawing/2014/main" id="{4E5F7C75-CEB7-4521-A0A6-5148CF6A4DC5}"/>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25</a:t>
            </a:r>
          </a:p>
        </p:txBody>
      </p:sp>
      <p:sp>
        <p:nvSpPr>
          <p:cNvPr id="3" name="text-2">
            <a:extLst>
              <a:ext uri="{FF2B5EF4-FFF2-40B4-BE49-F238E27FC236}">
                <a16:creationId xmlns:a16="http://schemas.microsoft.com/office/drawing/2014/main" id="{5D9CADC5-A51E-4337-ABC8-0AC0E5095B0E}"/>
              </a:ext>
            </a:extLst>
          </p:cNvPr>
          <p:cNvSpPr>
            <a:spLocks noGrp="1"/>
          </p:cNvSpPr>
          <p:nvPr/>
        </p:nvSpPr>
        <p:spPr>
          <a:xfrm>
            <a:off x="609600" y="1571625"/>
            <a:ext cx="6191250" cy="409575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defRPr sz="2100" b="0">
                <a:solidFill>
                  <a:srgbClr val="142E42"/>
                </a:solidFill>
                <a:latin typeface="Arial"/>
                <a:ea typeface="Arial"/>
                <a:cs typeface="Arial"/>
              </a:defRPr>
            </a:lvl1pPr>
            <a:lvl2pPr algn="l">
              <a:defRPr sz="2100" b="0">
                <a:solidFill>
                  <a:srgbClr val="142E42"/>
                </a:solidFill>
                <a:latin typeface="Arial"/>
                <a:ea typeface="Arial"/>
                <a:cs typeface="Arial"/>
              </a:defRPr>
            </a:lvl2pPr>
            <a:lvl3pPr algn="l">
              <a:defRPr sz="2100" b="0">
                <a:solidFill>
                  <a:srgbClr val="142E42"/>
                </a:solidFill>
                <a:latin typeface="Arial"/>
                <a:ea typeface="Arial"/>
                <a:cs typeface="Arial"/>
              </a:defRPr>
            </a:lvl3pPr>
            <a:lvl4pPr algn="l">
              <a:defRPr sz="2100" b="0">
                <a:solidFill>
                  <a:srgbClr val="142E42"/>
                </a:solidFill>
                <a:latin typeface="Arial"/>
                <a:ea typeface="Arial"/>
                <a:cs typeface="Arial"/>
              </a:defRPr>
            </a:lvl4pPr>
            <a:lvl5pPr algn="l">
              <a:defRPr sz="2100" b="0">
                <a:solidFill>
                  <a:srgbClr val="142E42"/>
                </a:solidFill>
                <a:latin typeface="Arial"/>
                <a:ea typeface="Arial"/>
                <a:cs typeface="Arial"/>
              </a:defRPr>
            </a:lvl5pPr>
            <a:lvl6pPr algn="l">
              <a:defRPr sz="2100" b="0">
                <a:solidFill>
                  <a:srgbClr val="142E42"/>
                </a:solidFill>
                <a:latin typeface="Arial"/>
                <a:ea typeface="Arial"/>
                <a:cs typeface="Arial"/>
              </a:defRPr>
            </a:lvl6pPr>
            <a:lvl7pPr algn="l">
              <a:defRPr sz="2100" b="0">
                <a:solidFill>
                  <a:srgbClr val="142E42"/>
                </a:solidFill>
                <a:latin typeface="Arial"/>
                <a:ea typeface="Arial"/>
                <a:cs typeface="Arial"/>
              </a:defRPr>
            </a:lvl7pPr>
            <a:lvl8pPr algn="l">
              <a:defRPr sz="2100" b="0">
                <a:solidFill>
                  <a:srgbClr val="142E42"/>
                </a:solidFill>
                <a:latin typeface="Arial"/>
                <a:ea typeface="Arial"/>
                <a:cs typeface="Arial"/>
              </a:defRPr>
            </a:lvl8pPr>
            <a:lvl9pPr algn="l">
              <a:defRPr sz="2100" b="0">
                <a:solidFill>
                  <a:srgbClr val="142E42"/>
                </a:solidFill>
                <a:latin typeface="Arial"/>
                <a:ea typeface="Arial"/>
                <a:cs typeface="Arial"/>
              </a:defRPr>
            </a:lvl9pPr>
          </a:lstStyle>
          <a:p>
            <a:pPr algn="l">
              <a:defRPr sz="2100" b="0">
                <a:solidFill>
                  <a:srgbClr val="142E42"/>
                </a:solidFill>
                <a:latin typeface="Arial"/>
                <a:ea typeface="Arial"/>
                <a:cs typeface="Arial"/>
              </a:defRPr>
            </a:pPr>
            <a:r>
              <a:rPr sz="2100" b="0">
                <a:solidFill>
                  <a:srgbClr val="142E42"/>
                </a:solidFill>
                <a:latin typeface="Arial"/>
                <a:ea typeface="Arial"/>
                <a:cs typeface="Arial"/>
              </a:rPr>
              <a:t>For root 12:</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Predecessor = 10</a:t>
            </a:r>
          </a:p>
          <a:p>
            <a:pPr algn="l">
              <a:defRPr sz="2100" b="0">
                <a:solidFill>
                  <a:srgbClr val="142E42"/>
                </a:solidFill>
                <a:latin typeface="Arial"/>
                <a:ea typeface="Arial"/>
                <a:cs typeface="Arial"/>
              </a:defRPr>
            </a:pPr>
            <a:r>
              <a:rPr sz="2100" b="0">
                <a:solidFill>
                  <a:srgbClr val="142E42"/>
                </a:solidFill>
                <a:latin typeface="Arial"/>
                <a:ea typeface="Arial"/>
                <a:cs typeface="Arial"/>
              </a:rPr>
              <a:t>Largest key in the left subtree.</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Successor = 15</a:t>
            </a:r>
          </a:p>
          <a:p>
            <a:pPr algn="l">
              <a:defRPr sz="2100" b="0">
                <a:solidFill>
                  <a:srgbClr val="142E42"/>
                </a:solidFill>
                <a:latin typeface="Arial"/>
                <a:ea typeface="Arial"/>
                <a:cs typeface="Arial"/>
              </a:defRPr>
            </a:pPr>
            <a:r>
              <a:rPr sz="2100" b="0">
                <a:solidFill>
                  <a:srgbClr val="142E42"/>
                </a:solidFill>
                <a:latin typeface="Arial"/>
                <a:ea typeface="Arial"/>
                <a:cs typeface="Arial"/>
              </a:rPr>
              <a:t>Smallest key in the right subtree.</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The maximum follows right links.</a:t>
            </a:r>
          </a:p>
          <a:p>
            <a:pPr algn="l">
              <a:defRPr sz="2100" b="0">
                <a:solidFill>
                  <a:srgbClr val="142E42"/>
                </a:solidFill>
                <a:latin typeface="Arial"/>
                <a:ea typeface="Arial"/>
                <a:cs typeface="Arial"/>
              </a:defRPr>
            </a:pPr>
            <a:r>
              <a:rPr sz="2100" b="0">
                <a:solidFill>
                  <a:srgbClr val="142E42"/>
                </a:solidFill>
                <a:latin typeface="Arial"/>
                <a:ea typeface="Arial"/>
                <a:cs typeface="Arial"/>
              </a:rPr>
              <a:t>The minimum follows left links.</a:t>
            </a:r>
          </a:p>
        </p:txBody>
      </p:sp>
      <p:sp>
        <p:nvSpPr>
          <p:cNvPr id="4" name="source-diagram-dg24-9">
            <a:extLst>
              <a:ext uri="{FF2B5EF4-FFF2-40B4-BE49-F238E27FC236}">
                <a16:creationId xmlns:a16="http://schemas.microsoft.com/office/drawing/2014/main" id="{F62719C6-42B9-4309-881C-F8A52C06A62F}"/>
              </a:ext>
            </a:extLst>
          </p:cNvPr>
          <p:cNvSpPr>
            <a:spLocks noGrp="1"/>
          </p:cNvSpPr>
          <p:nvPr/>
        </p:nvSpPr>
        <p:spPr>
          <a:xfrm>
            <a:off x="9661087" y="3889037"/>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20</a:t>
            </a:r>
          </a:p>
        </p:txBody>
      </p:sp>
      <p:sp>
        <p:nvSpPr>
          <p:cNvPr id="5" name="source-diagram-dg24-10">
            <a:extLst>
              <a:ext uri="{FF2B5EF4-FFF2-40B4-BE49-F238E27FC236}">
                <a16:creationId xmlns:a16="http://schemas.microsoft.com/office/drawing/2014/main" id="{2567BE03-53D1-4EFC-BF61-319BBF18C597}"/>
              </a:ext>
            </a:extLst>
          </p:cNvPr>
          <p:cNvSpPr>
            <a:spLocks noGrp="1"/>
          </p:cNvSpPr>
          <p:nvPr/>
        </p:nvSpPr>
        <p:spPr>
          <a:xfrm>
            <a:off x="8473232" y="3889037"/>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9</a:t>
            </a:r>
          </a:p>
        </p:txBody>
      </p:sp>
      <p:sp>
        <p:nvSpPr>
          <p:cNvPr id="6" name="source-diagram-dg24-11">
            <a:extLst>
              <a:ext uri="{FF2B5EF4-FFF2-40B4-BE49-F238E27FC236}">
                <a16:creationId xmlns:a16="http://schemas.microsoft.com/office/drawing/2014/main" id="{DC55B831-7718-40A3-BA4F-1E8250BCAD60}"/>
              </a:ext>
            </a:extLst>
          </p:cNvPr>
          <p:cNvSpPr>
            <a:spLocks noGrp="1"/>
          </p:cNvSpPr>
          <p:nvPr/>
        </p:nvSpPr>
        <p:spPr>
          <a:xfrm>
            <a:off x="7477125" y="3889037"/>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2</a:t>
            </a:r>
          </a:p>
        </p:txBody>
      </p:sp>
      <p:sp>
        <p:nvSpPr>
          <p:cNvPr id="7" name="source-diagram-dg24-12">
            <a:extLst>
              <a:ext uri="{FF2B5EF4-FFF2-40B4-BE49-F238E27FC236}">
                <a16:creationId xmlns:a16="http://schemas.microsoft.com/office/drawing/2014/main" id="{9EC5A00A-53EB-4E99-B11F-FDF990A628BB}"/>
              </a:ext>
            </a:extLst>
          </p:cNvPr>
          <p:cNvSpPr>
            <a:spLocks noGrp="1"/>
          </p:cNvSpPr>
          <p:nvPr/>
        </p:nvSpPr>
        <p:spPr>
          <a:xfrm>
            <a:off x="9115096" y="2754143"/>
            <a:ext cx="389993" cy="486383"/>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67" b="0">
                <a:solidFill>
                  <a:srgbClr val="FFFFFF"/>
                </a:solidFill>
                <a:latin typeface="Arial"/>
                <a:ea typeface="Arial"/>
                <a:cs typeface="Arial"/>
              </a:rPr>
              <a:t>15</a:t>
            </a:r>
          </a:p>
        </p:txBody>
      </p:sp>
      <p:sp>
        <p:nvSpPr>
          <p:cNvPr id="8" name="source-diagram-dg24-13">
            <a:extLst>
              <a:ext uri="{FF2B5EF4-FFF2-40B4-BE49-F238E27FC236}">
                <a16:creationId xmlns:a16="http://schemas.microsoft.com/office/drawing/2014/main" id="{C2D074B4-8767-47E4-B269-88365596B3CF}"/>
              </a:ext>
            </a:extLst>
          </p:cNvPr>
          <p:cNvSpPr>
            <a:spLocks noGrp="1"/>
          </p:cNvSpPr>
          <p:nvPr/>
        </p:nvSpPr>
        <p:spPr>
          <a:xfrm>
            <a:off x="7927242" y="2754143"/>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5</a:t>
            </a:r>
          </a:p>
        </p:txBody>
      </p:sp>
      <p:sp>
        <p:nvSpPr>
          <p:cNvPr id="9" name="source-diagram-dg24-14">
            <a:extLst>
              <a:ext uri="{FF2B5EF4-FFF2-40B4-BE49-F238E27FC236}">
                <a16:creationId xmlns:a16="http://schemas.microsoft.com/office/drawing/2014/main" id="{D1FE3577-6037-4F40-9DBE-DE9DEBE7D726}"/>
              </a:ext>
            </a:extLst>
          </p:cNvPr>
          <p:cNvSpPr>
            <a:spLocks noGrp="1"/>
          </p:cNvSpPr>
          <p:nvPr/>
        </p:nvSpPr>
        <p:spPr>
          <a:xfrm>
            <a:off x="8491107" y="1619250"/>
            <a:ext cx="389993" cy="486383"/>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67" b="0">
                <a:solidFill>
                  <a:srgbClr val="FFFFFF"/>
                </a:solidFill>
                <a:latin typeface="Arial"/>
                <a:ea typeface="Arial"/>
                <a:cs typeface="Arial"/>
              </a:rPr>
              <a:t>12</a:t>
            </a:r>
          </a:p>
        </p:txBody>
      </p:sp>
      <p:cxnSp>
        <p:nvCxnSpPr>
          <p:cNvPr id="10" name="source-diagram-dg24-15">
            <a:extLst>
              <a:ext uri="{FF2B5EF4-FFF2-40B4-BE49-F238E27FC236}">
                <a16:creationId xmlns:a16="http://schemas.microsoft.com/office/drawing/2014/main" id="{60589BB2-F350-4566-BC09-8D1A466157D8}"/>
              </a:ext>
            </a:extLst>
          </p:cNvPr>
          <p:cNvCxnSpPr/>
          <p:nvPr/>
        </p:nvCxnSpPr>
        <p:spPr>
          <a:xfrm rot="5400000">
            <a:off x="8046678" y="2128640"/>
            <a:ext cx="577104" cy="531266"/>
          </a:xfrm>
          <a:prstGeom prst="straightConnector1">
            <a:avLst/>
          </a:prstGeom>
          <a:ln w="9525">
            <a:solidFill>
              <a:srgbClr val="142E42"/>
            </a:solidFill>
            <a:round/>
            <a:headEnd type="none" w="med" len="med"/>
            <a:tailEnd type="none" w="med" len="med"/>
          </a:ln>
        </p:spPr>
      </p:cxnSp>
      <p:cxnSp>
        <p:nvCxnSpPr>
          <p:cNvPr id="11" name="source-diagram-dg24-16">
            <a:extLst>
              <a:ext uri="{FF2B5EF4-FFF2-40B4-BE49-F238E27FC236}">
                <a16:creationId xmlns:a16="http://schemas.microsoft.com/office/drawing/2014/main" id="{66B10E79-7852-4740-9BBE-4F276FB0045C}"/>
              </a:ext>
            </a:extLst>
          </p:cNvPr>
          <p:cNvCxnSpPr/>
          <p:nvPr/>
        </p:nvCxnSpPr>
        <p:spPr>
          <a:xfrm rot="16200000" flipH="1">
            <a:off x="8778488" y="2091149"/>
            <a:ext cx="577104" cy="606250"/>
          </a:xfrm>
          <a:prstGeom prst="straightConnector1">
            <a:avLst/>
          </a:prstGeom>
          <a:ln w="9525">
            <a:solidFill>
              <a:srgbClr val="142E42"/>
            </a:solidFill>
            <a:round/>
            <a:headEnd type="none" w="med" len="med"/>
            <a:tailEnd type="none" w="med" len="med"/>
          </a:ln>
        </p:spPr>
      </p:cxnSp>
      <p:cxnSp>
        <p:nvCxnSpPr>
          <p:cNvPr id="12" name="source-diagram-dg24-17">
            <a:extLst>
              <a:ext uri="{FF2B5EF4-FFF2-40B4-BE49-F238E27FC236}">
                <a16:creationId xmlns:a16="http://schemas.microsoft.com/office/drawing/2014/main" id="{89E52241-0808-4909-9DBF-95B0F94DD7CF}"/>
              </a:ext>
            </a:extLst>
          </p:cNvPr>
          <p:cNvCxnSpPr/>
          <p:nvPr/>
        </p:nvCxnSpPr>
        <p:spPr>
          <a:xfrm>
            <a:off x="9448216" y="3193915"/>
            <a:ext cx="407867" cy="670803"/>
          </a:xfrm>
          <a:prstGeom prst="straightConnector1">
            <a:avLst/>
          </a:prstGeom>
          <a:ln w="9525">
            <a:solidFill>
              <a:srgbClr val="142E42"/>
            </a:solidFill>
            <a:round/>
            <a:headEnd type="none" w="med" len="med"/>
            <a:tailEnd type="none" w="med" len="med"/>
          </a:ln>
        </p:spPr>
      </p:cxnSp>
      <p:cxnSp>
        <p:nvCxnSpPr>
          <p:cNvPr id="13" name="source-diagram-dg24-18">
            <a:extLst>
              <a:ext uri="{FF2B5EF4-FFF2-40B4-BE49-F238E27FC236}">
                <a16:creationId xmlns:a16="http://schemas.microsoft.com/office/drawing/2014/main" id="{702F64E1-71EC-4460-9689-F2B8E95B82C9}"/>
              </a:ext>
            </a:extLst>
          </p:cNvPr>
          <p:cNvCxnSpPr/>
          <p:nvPr/>
        </p:nvCxnSpPr>
        <p:spPr>
          <a:xfrm rot="5400000">
            <a:off x="7539687" y="3334466"/>
            <a:ext cx="577104" cy="389404"/>
          </a:xfrm>
          <a:prstGeom prst="straightConnector1">
            <a:avLst/>
          </a:prstGeom>
          <a:ln w="9525">
            <a:solidFill>
              <a:srgbClr val="142E42"/>
            </a:solidFill>
            <a:round/>
            <a:headEnd type="none" w="med" len="med"/>
            <a:tailEnd type="none" w="med" len="med"/>
          </a:ln>
        </p:spPr>
      </p:cxnSp>
      <p:cxnSp>
        <p:nvCxnSpPr>
          <p:cNvPr id="14" name="source-diagram-dg24-19">
            <a:extLst>
              <a:ext uri="{FF2B5EF4-FFF2-40B4-BE49-F238E27FC236}">
                <a16:creationId xmlns:a16="http://schemas.microsoft.com/office/drawing/2014/main" id="{28938E44-8607-4975-A1AD-C0B0CF0BF8A4}"/>
              </a:ext>
            </a:extLst>
          </p:cNvPr>
          <p:cNvCxnSpPr/>
          <p:nvPr/>
        </p:nvCxnSpPr>
        <p:spPr>
          <a:xfrm>
            <a:off x="8260361" y="3193915"/>
            <a:ext cx="407867" cy="670803"/>
          </a:xfrm>
          <a:prstGeom prst="straightConnector1">
            <a:avLst/>
          </a:prstGeom>
          <a:ln w="9525">
            <a:solidFill>
              <a:srgbClr val="142E42"/>
            </a:solidFill>
            <a:round/>
            <a:headEnd type="none" w="med" len="med"/>
            <a:tailEnd type="none" w="med" len="med"/>
          </a:ln>
        </p:spPr>
      </p:cxnSp>
      <p:sp>
        <p:nvSpPr>
          <p:cNvPr id="15" name="source-diagram-dg24-20">
            <a:extLst>
              <a:ext uri="{FF2B5EF4-FFF2-40B4-BE49-F238E27FC236}">
                <a16:creationId xmlns:a16="http://schemas.microsoft.com/office/drawing/2014/main" id="{253C63BB-6E59-4FCF-93C5-A2DC9E5CC886}"/>
              </a:ext>
            </a:extLst>
          </p:cNvPr>
          <p:cNvSpPr>
            <a:spLocks noGrp="1"/>
          </p:cNvSpPr>
          <p:nvPr/>
        </p:nvSpPr>
        <p:spPr>
          <a:xfrm>
            <a:off x="9934082" y="5023931"/>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30</a:t>
            </a:r>
          </a:p>
        </p:txBody>
      </p:sp>
      <p:cxnSp>
        <p:nvCxnSpPr>
          <p:cNvPr id="16" name="source-diagram-dg24-21">
            <a:extLst>
              <a:ext uri="{FF2B5EF4-FFF2-40B4-BE49-F238E27FC236}">
                <a16:creationId xmlns:a16="http://schemas.microsoft.com/office/drawing/2014/main" id="{306E18DC-9FBC-4571-8174-2F73D826E30D}"/>
              </a:ext>
            </a:extLst>
          </p:cNvPr>
          <p:cNvCxnSpPr/>
          <p:nvPr/>
        </p:nvCxnSpPr>
        <p:spPr>
          <a:xfrm>
            <a:off x="9994206" y="4328809"/>
            <a:ext cx="134872" cy="670803"/>
          </a:xfrm>
          <a:prstGeom prst="straightConnector1">
            <a:avLst/>
          </a:prstGeom>
          <a:ln w="9525">
            <a:solidFill>
              <a:srgbClr val="142E42"/>
            </a:solidFill>
            <a:round/>
            <a:headEnd type="none" w="med" len="med"/>
            <a:tailEnd type="none" w="med" len="med"/>
          </a:ln>
        </p:spPr>
      </p:cxnSp>
      <p:sp>
        <p:nvSpPr>
          <p:cNvPr id="17" name="source-diagram-dg24-22">
            <a:extLst>
              <a:ext uri="{FF2B5EF4-FFF2-40B4-BE49-F238E27FC236}">
                <a16:creationId xmlns:a16="http://schemas.microsoft.com/office/drawing/2014/main" id="{D8B88EEB-FAE2-4582-BDF1-B4D9F7C88079}"/>
              </a:ext>
            </a:extLst>
          </p:cNvPr>
          <p:cNvSpPr>
            <a:spLocks noGrp="1"/>
          </p:cNvSpPr>
          <p:nvPr/>
        </p:nvSpPr>
        <p:spPr>
          <a:xfrm>
            <a:off x="8200237" y="5023931"/>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7</a:t>
            </a:r>
          </a:p>
        </p:txBody>
      </p:sp>
      <p:cxnSp>
        <p:nvCxnSpPr>
          <p:cNvPr id="18" name="source-diagram-dg24-23">
            <a:extLst>
              <a:ext uri="{FF2B5EF4-FFF2-40B4-BE49-F238E27FC236}">
                <a16:creationId xmlns:a16="http://schemas.microsoft.com/office/drawing/2014/main" id="{D64EA77D-167D-4A0E-BCD7-33DBA0EA3DA4}"/>
              </a:ext>
            </a:extLst>
          </p:cNvPr>
          <p:cNvCxnSpPr/>
          <p:nvPr/>
        </p:nvCxnSpPr>
        <p:spPr>
          <a:xfrm flipH="1">
            <a:off x="8395233" y="4328809"/>
            <a:ext cx="134873" cy="670803"/>
          </a:xfrm>
          <a:prstGeom prst="straightConnector1">
            <a:avLst/>
          </a:prstGeom>
          <a:ln w="9525">
            <a:solidFill>
              <a:srgbClr val="142E42"/>
            </a:solidFill>
            <a:round/>
            <a:headEnd type="none" w="med" len="med"/>
            <a:tailEnd type="none" w="med" len="med"/>
          </a:ln>
        </p:spPr>
      </p:cxnSp>
      <p:sp>
        <p:nvSpPr>
          <p:cNvPr id="19" name="source-diagram-dg24-24">
            <a:extLst>
              <a:ext uri="{FF2B5EF4-FFF2-40B4-BE49-F238E27FC236}">
                <a16:creationId xmlns:a16="http://schemas.microsoft.com/office/drawing/2014/main" id="{9CDD99C4-8213-4398-9DE9-1E7CE9A9C277}"/>
              </a:ext>
            </a:extLst>
          </p:cNvPr>
          <p:cNvSpPr>
            <a:spLocks noGrp="1"/>
          </p:cNvSpPr>
          <p:nvPr/>
        </p:nvSpPr>
        <p:spPr>
          <a:xfrm>
            <a:off x="9388091" y="5013798"/>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17</a:t>
            </a:r>
          </a:p>
        </p:txBody>
      </p:sp>
      <p:cxnSp>
        <p:nvCxnSpPr>
          <p:cNvPr id="20" name="source-diagram-dg24-25">
            <a:extLst>
              <a:ext uri="{FF2B5EF4-FFF2-40B4-BE49-F238E27FC236}">
                <a16:creationId xmlns:a16="http://schemas.microsoft.com/office/drawing/2014/main" id="{7C39D98D-8882-44F9-AB24-81BCBB6D1F63}"/>
              </a:ext>
            </a:extLst>
          </p:cNvPr>
          <p:cNvCxnSpPr/>
          <p:nvPr/>
        </p:nvCxnSpPr>
        <p:spPr>
          <a:xfrm flipH="1">
            <a:off x="9583088" y="4328809"/>
            <a:ext cx="134873" cy="660670"/>
          </a:xfrm>
          <a:prstGeom prst="straightConnector1">
            <a:avLst/>
          </a:prstGeom>
          <a:ln w="9525">
            <a:solidFill>
              <a:srgbClr val="142E42"/>
            </a:solidFill>
            <a:round/>
            <a:headEnd type="none" w="med" len="med"/>
            <a:tailEnd type="none" w="med" len="med"/>
          </a:ln>
        </p:spPr>
      </p:cxnSp>
      <p:sp>
        <p:nvSpPr>
          <p:cNvPr id="21" name="source-diagram-dg24-26">
            <a:extLst>
              <a:ext uri="{FF2B5EF4-FFF2-40B4-BE49-F238E27FC236}">
                <a16:creationId xmlns:a16="http://schemas.microsoft.com/office/drawing/2014/main" id="{99EF9087-4EEF-44CD-80C3-9E7ADE0CAF8A}"/>
              </a:ext>
            </a:extLst>
          </p:cNvPr>
          <p:cNvSpPr>
            <a:spLocks noGrp="1"/>
          </p:cNvSpPr>
          <p:nvPr/>
        </p:nvSpPr>
        <p:spPr>
          <a:xfrm>
            <a:off x="8725103" y="5038117"/>
            <a:ext cx="389993" cy="486383"/>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67" b="0">
                <a:solidFill>
                  <a:srgbClr val="FFFFFF"/>
                </a:solidFill>
                <a:latin typeface="Arial"/>
                <a:ea typeface="Arial"/>
                <a:cs typeface="Arial"/>
              </a:rPr>
              <a:t>10</a:t>
            </a:r>
          </a:p>
        </p:txBody>
      </p:sp>
      <p:cxnSp>
        <p:nvCxnSpPr>
          <p:cNvPr id="22" name="source-diagram-dg24-27">
            <a:extLst>
              <a:ext uri="{FF2B5EF4-FFF2-40B4-BE49-F238E27FC236}">
                <a16:creationId xmlns:a16="http://schemas.microsoft.com/office/drawing/2014/main" id="{A7D90149-9114-4625-B9E3-18F6C9489813}"/>
              </a:ext>
            </a:extLst>
          </p:cNvPr>
          <p:cNvCxnSpPr/>
          <p:nvPr/>
        </p:nvCxnSpPr>
        <p:spPr>
          <a:xfrm>
            <a:off x="8785226" y="4342995"/>
            <a:ext cx="134873" cy="670804"/>
          </a:xfrm>
          <a:prstGeom prst="straightConnector1">
            <a:avLst/>
          </a:prstGeom>
          <a:ln w="9525">
            <a:solidFill>
              <a:srgbClr val="142E42"/>
            </a:solidFill>
            <a:round/>
            <a:headEnd type="none" w="med" len="med"/>
            <a:tailEnd type="none" w="med" len="med"/>
          </a:ln>
        </p:spPr>
      </p:cxnSp>
    </p:spTree>
    <p:extLst>
      <p:ext uri="{BB962C8B-B14F-4D97-AF65-F5344CB8AC3E}">
        <p14:creationId xmlns:p14="http://schemas.microsoft.com/office/powerpoint/2010/main" val="279985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83287A7C-40E4-4B91-A756-B1AFB0ED53A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Deletion has three structural cases</a:t>
            </a:r>
          </a:p>
        </p:txBody>
      </p:sp>
      <p:sp>
        <p:nvSpPr>
          <p:cNvPr id="2" name="text-1">
            <a:extLst>
              <a:ext uri="{FF2B5EF4-FFF2-40B4-BE49-F238E27FC236}">
                <a16:creationId xmlns:a16="http://schemas.microsoft.com/office/drawing/2014/main" id="{CDF5F5E9-F010-4289-AF44-F7BC18E58C6F}"/>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26</a:t>
            </a:r>
          </a:p>
        </p:txBody>
      </p:sp>
      <p:graphicFrame>
        <p:nvGraphicFramePr>
          <p:cNvPr id="3" name="Table 2">
            <a:extLst>
              <a:ext uri="{FF2B5EF4-FFF2-40B4-BE49-F238E27FC236}">
                <a16:creationId xmlns:a16="http://schemas.microsoft.com/office/drawing/2014/main" id="{FE160D92-CF24-4694-BB87-47B786DD0F2B}"/>
              </a:ext>
            </a:extLst>
          </p:cNvPr>
          <p:cNvGraphicFramePr/>
          <p:nvPr/>
        </p:nvGraphicFramePr>
        <p:xfrm>
          <a:off x="609600" y="1657350"/>
          <a:ext cx="10972800" cy="3286124"/>
        </p:xfrm>
        <a:graphic>
          <a:graphicData uri="http://schemas.openxmlformats.org/drawingml/2006/table">
            <a:tbl>
              <a:tblPr/>
              <a:tblGrid>
                <a:gridCol w="2381250">
                  <a:extLst>
                    <a:ext uri="{9D8B030D-6E8A-4147-A177-3AD203B41FA5}">
                      <a16:colId xmlns:a16="http://schemas.microsoft.com/office/drawing/2014/main" val="20000"/>
                    </a:ext>
                  </a:extLst>
                </a:gridCol>
                <a:gridCol w="8591550">
                  <a:extLst>
                    <a:ext uri="{9D8B030D-6E8A-4147-A177-3AD203B41FA5}">
                      <a16:colId xmlns:a16="http://schemas.microsoft.com/office/drawing/2014/main" val="20001"/>
                    </a:ext>
                  </a:extLst>
                </a:gridCol>
              </a:tblGrid>
              <a:tr h="821531">
                <a:tc>
                  <a:txBody>
                    <a:bodyPr/>
                    <a:lstStyle/>
                    <a:p>
                      <a:r>
                        <a:rPr sz="2100" b="1">
                          <a:solidFill>
                            <a:srgbClr val="FFFFFF"/>
                          </a:solidFill>
                          <a:latin typeface="Arial"/>
                          <a:ea typeface="Arial"/>
                          <a:cs typeface="Arial"/>
                        </a:rPr>
                        <a:t>Children</a:t>
                      </a:r>
                    </a:p>
                  </a:txBody>
                  <a:tcPr>
                    <a:lnL w="9525">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tc>
                  <a:txBody>
                    <a:bodyPr/>
                    <a:lstStyle/>
                    <a:p>
                      <a:r>
                        <a:rPr sz="2100" b="1">
                          <a:solidFill>
                            <a:srgbClr val="FFFFFF"/>
                          </a:solidFill>
                          <a:latin typeface="Arial"/>
                          <a:ea typeface="Arial"/>
                          <a:cs typeface="Arial"/>
                        </a:rPr>
                        <a:t>Repair after finding the node</a:t>
                      </a:r>
                    </a:p>
                  </a:txBody>
                  <a:tcPr>
                    <a:lnL w="9525" cap="flat" cmpd="sng" algn="ctr">
                      <a:solidFill>
                        <a:srgbClr val="D6E1E6"/>
                      </a:solidFill>
                      <a:prstDash val="solid"/>
                      <a:round/>
                      <a:headEnd type="none" w="med" len="med"/>
                      <a:tailEnd type="none" w="med" len="me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extLst>
                  <a:ext uri="{0D108BD9-81ED-4DB2-BD59-A6C34878D82A}">
                    <a16:rowId xmlns:a16="http://schemas.microsoft.com/office/drawing/2014/main" val="10000"/>
                  </a:ext>
                </a:extLst>
              </a:tr>
              <a:tr h="821531">
                <a:tc>
                  <a:txBody>
                    <a:bodyPr/>
                    <a:lstStyle/>
                    <a:p>
                      <a:r>
                        <a:rPr sz="2100" b="0">
                          <a:solidFill>
                            <a:srgbClr val="142E42"/>
                          </a:solidFill>
                          <a:latin typeface="Arial"/>
                          <a:ea typeface="Arial"/>
                          <a:cs typeface="Arial"/>
                        </a:rPr>
                        <a:t>0</a:t>
                      </a:r>
                    </a:p>
                  </a:txBody>
                  <a:tcPr>
                    <a:lnL w="9525">
                      <a:solidFill>
                        <a:srgbClr val="D6E1E6"/>
                      </a:solidFill>
                      <a:prstDash val="soli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tc>
                  <a:txBody>
                    <a:bodyPr/>
                    <a:lstStyle/>
                    <a:p>
                      <a:r>
                        <a:rPr sz="2100" b="0">
                          <a:solidFill>
                            <a:srgbClr val="142E42"/>
                          </a:solidFill>
                          <a:latin typeface="Arial"/>
                          <a:ea typeface="Arial"/>
                          <a:cs typeface="Arial"/>
                        </a:rPr>
                        <a:t>Remove the parent’s child link</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extLst>
                  <a:ext uri="{0D108BD9-81ED-4DB2-BD59-A6C34878D82A}">
                    <a16:rowId xmlns:a16="http://schemas.microsoft.com/office/drawing/2014/main" val="10001"/>
                  </a:ext>
                </a:extLst>
              </a:tr>
              <a:tr h="821531">
                <a:tc>
                  <a:txBody>
                    <a:bodyPr/>
                    <a:lstStyle/>
                    <a:p>
                      <a:r>
                        <a:rPr sz="2100" b="0">
                          <a:solidFill>
                            <a:srgbClr val="142E42"/>
                          </a:solidFill>
                          <a:latin typeface="Arial"/>
                          <a:ea typeface="Arial"/>
                          <a:cs typeface="Arial"/>
                        </a:rPr>
                        <a:t>1</a:t>
                      </a:r>
                    </a:p>
                  </a:txBody>
                  <a:tcPr>
                    <a:lnL w="9525">
                      <a:solidFill>
                        <a:srgbClr val="D6E1E6"/>
                      </a:solidFill>
                      <a:prstDash val="soli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FFFFFF"/>
                    </a:solidFill>
                  </a:tcPr>
                </a:tc>
                <a:tc>
                  <a:txBody>
                    <a:bodyPr/>
                    <a:lstStyle/>
                    <a:p>
                      <a:r>
                        <a:rPr sz="2100" b="0">
                          <a:solidFill>
                            <a:srgbClr val="142E42"/>
                          </a:solidFill>
                          <a:latin typeface="Arial"/>
                          <a:ea typeface="Arial"/>
                          <a:cs typeface="Arial"/>
                        </a:rPr>
                        <a:t>Connect the parent directly to the child</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FFFFFF"/>
                    </a:solidFill>
                  </a:tcPr>
                </a:tc>
                <a:extLst>
                  <a:ext uri="{0D108BD9-81ED-4DB2-BD59-A6C34878D82A}">
                    <a16:rowId xmlns:a16="http://schemas.microsoft.com/office/drawing/2014/main" val="10002"/>
                  </a:ext>
                </a:extLst>
              </a:tr>
              <a:tr h="821531">
                <a:tc>
                  <a:txBody>
                    <a:bodyPr/>
                    <a:lstStyle/>
                    <a:p>
                      <a:r>
                        <a:rPr sz="2100" b="0">
                          <a:solidFill>
                            <a:srgbClr val="142E42"/>
                          </a:solidFill>
                          <a:latin typeface="Arial"/>
                          <a:ea typeface="Arial"/>
                          <a:cs typeface="Arial"/>
                        </a:rPr>
                        <a:t>2</a:t>
                      </a:r>
                    </a:p>
                  </a:txBody>
                  <a:tcPr>
                    <a:lnL w="9525">
                      <a:solidFill>
                        <a:srgbClr val="D6E1E6"/>
                      </a:solidFill>
                      <a:prstDash val="soli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tc>
                  <a:txBody>
                    <a:bodyPr/>
                    <a:lstStyle/>
                    <a:p>
                      <a:r>
                        <a:rPr sz="2100" b="0">
                          <a:solidFill>
                            <a:srgbClr val="142E42"/>
                          </a:solidFill>
                          <a:latin typeface="Arial"/>
                          <a:ea typeface="Arial"/>
                          <a:cs typeface="Arial"/>
                        </a:rPr>
                        <a:t>Copy the successor key, then remove</a:t>
                      </a:r>
                    </a:p>
                    <a:p>
                      <a:r>
                        <a:rPr sz="2100" b="0">
                          <a:solidFill>
                            <a:srgbClr val="142E42"/>
                          </a:solidFill>
                          <a:latin typeface="Arial"/>
                          <a:ea typeface="Arial"/>
                          <a:cs typeface="Arial"/>
                        </a:rPr>
                        <a:t>the successor from the right subtree</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extLst>
                  <a:ext uri="{0D108BD9-81ED-4DB2-BD59-A6C34878D82A}">
                    <a16:rowId xmlns:a16="http://schemas.microsoft.com/office/drawing/2014/main" val="10003"/>
                  </a:ext>
                </a:extLst>
              </a:tr>
            </a:tbl>
          </a:graphicData>
        </a:graphic>
      </p:graphicFrame>
      <p:sp>
        <p:nvSpPr>
          <p:cNvPr id="4" name="text-2">
            <a:extLst>
              <a:ext uri="{FF2B5EF4-FFF2-40B4-BE49-F238E27FC236}">
                <a16:creationId xmlns:a16="http://schemas.microsoft.com/office/drawing/2014/main" id="{29BE541E-F244-473A-BE58-0CC8D058D149}"/>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Deleting the root can change root. An absent key leaves size unchanged.</a:t>
            </a:r>
          </a:p>
        </p:txBody>
      </p:sp>
    </p:spTree>
    <p:extLst>
      <p:ext uri="{BB962C8B-B14F-4D97-AF65-F5344CB8AC3E}">
        <p14:creationId xmlns:p14="http://schemas.microsoft.com/office/powerpoint/2010/main" val="3337907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38" name="text-0">
            <a:extLst>
              <a:ext uri="{FF2B5EF4-FFF2-40B4-BE49-F238E27FC236}">
                <a16:creationId xmlns:a16="http://schemas.microsoft.com/office/drawing/2014/main" id="{C512CC57-B79F-4E20-84B3-D1FF1064BA0F}"/>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One child: deletion reconnects the subtree</a:t>
            </a:r>
          </a:p>
        </p:txBody>
      </p:sp>
      <p:sp>
        <p:nvSpPr>
          <p:cNvPr id="2" name="text-1">
            <a:extLst>
              <a:ext uri="{FF2B5EF4-FFF2-40B4-BE49-F238E27FC236}">
                <a16:creationId xmlns:a16="http://schemas.microsoft.com/office/drawing/2014/main" id="{DE5C78F8-3956-484D-9881-DD13A45A86D7}"/>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27</a:t>
            </a:r>
          </a:p>
        </p:txBody>
      </p:sp>
      <p:sp>
        <p:nvSpPr>
          <p:cNvPr id="3" name="text-2">
            <a:extLst>
              <a:ext uri="{FF2B5EF4-FFF2-40B4-BE49-F238E27FC236}">
                <a16:creationId xmlns:a16="http://schemas.microsoft.com/office/drawing/2014/main" id="{69A89AC3-BC2D-47D2-8C5A-EE51D2D69CC3}"/>
              </a:ext>
            </a:extLst>
          </p:cNvPr>
          <p:cNvSpPr>
            <a:spLocks noGrp="1"/>
          </p:cNvSpPr>
          <p:nvPr/>
        </p:nvSpPr>
        <p:spPr>
          <a:xfrm>
            <a:off x="876300" y="1381125"/>
            <a:ext cx="4762500" cy="457200"/>
          </a:xfrm>
          <a:prstGeom prst="rect">
            <a:avLst/>
          </a:prstGeom>
          <a:noFill/>
          <a:ln w="0">
            <a:noFill/>
          </a:ln>
        </p:spPr>
        <p:txBody>
          <a:bodyPr lIns="0" tIns="0" rIns="0" bIns="0" anchor="t"/>
          <a:lstStyle>
            <a:defPPr algn="l">
              <a:defRPr sz="2100" b="1">
                <a:solidFill>
                  <a:srgbClr val="007C83"/>
                </a:solidFill>
                <a:latin typeface="Arial"/>
                <a:ea typeface="Arial"/>
                <a:cs typeface="Arial"/>
              </a:defRPr>
            </a:defPPr>
            <a:lvl1pPr algn="l">
              <a:defRPr sz="2100" b="1">
                <a:solidFill>
                  <a:srgbClr val="007C83"/>
                </a:solidFill>
                <a:latin typeface="Arial"/>
                <a:ea typeface="Arial"/>
                <a:cs typeface="Arial"/>
              </a:defRPr>
            </a:lvl1pPr>
            <a:lvl2pPr algn="l">
              <a:defRPr sz="2100" b="1">
                <a:solidFill>
                  <a:srgbClr val="007C83"/>
                </a:solidFill>
                <a:latin typeface="Arial"/>
                <a:ea typeface="Arial"/>
                <a:cs typeface="Arial"/>
              </a:defRPr>
            </a:lvl2pPr>
            <a:lvl3pPr algn="l">
              <a:defRPr sz="2100" b="1">
                <a:solidFill>
                  <a:srgbClr val="007C83"/>
                </a:solidFill>
                <a:latin typeface="Arial"/>
                <a:ea typeface="Arial"/>
                <a:cs typeface="Arial"/>
              </a:defRPr>
            </a:lvl3pPr>
            <a:lvl4pPr algn="l">
              <a:defRPr sz="2100" b="1">
                <a:solidFill>
                  <a:srgbClr val="007C83"/>
                </a:solidFill>
                <a:latin typeface="Arial"/>
                <a:ea typeface="Arial"/>
                <a:cs typeface="Arial"/>
              </a:defRPr>
            </a:lvl4pPr>
            <a:lvl5pPr algn="l">
              <a:defRPr sz="2100" b="1">
                <a:solidFill>
                  <a:srgbClr val="007C83"/>
                </a:solidFill>
                <a:latin typeface="Arial"/>
                <a:ea typeface="Arial"/>
                <a:cs typeface="Arial"/>
              </a:defRPr>
            </a:lvl5pPr>
            <a:lvl6pPr algn="l">
              <a:defRPr sz="2100" b="1">
                <a:solidFill>
                  <a:srgbClr val="007C83"/>
                </a:solidFill>
                <a:latin typeface="Arial"/>
                <a:ea typeface="Arial"/>
                <a:cs typeface="Arial"/>
              </a:defRPr>
            </a:lvl6pPr>
            <a:lvl7pPr algn="l">
              <a:defRPr sz="2100" b="1">
                <a:solidFill>
                  <a:srgbClr val="007C83"/>
                </a:solidFill>
                <a:latin typeface="Arial"/>
                <a:ea typeface="Arial"/>
                <a:cs typeface="Arial"/>
              </a:defRPr>
            </a:lvl7pPr>
            <a:lvl8pPr algn="l">
              <a:defRPr sz="2100" b="1">
                <a:solidFill>
                  <a:srgbClr val="007C83"/>
                </a:solidFill>
                <a:latin typeface="Arial"/>
                <a:ea typeface="Arial"/>
                <a:cs typeface="Arial"/>
              </a:defRPr>
            </a:lvl8pPr>
            <a:lvl9pPr algn="l">
              <a:defRPr sz="2100" b="1">
                <a:solidFill>
                  <a:srgbClr val="007C83"/>
                </a:solidFill>
                <a:latin typeface="Arial"/>
                <a:ea typeface="Arial"/>
                <a:cs typeface="Arial"/>
              </a:defRPr>
            </a:lvl9pPr>
          </a:lstStyle>
          <a:p>
            <a:pPr algn="l">
              <a:defRPr sz="2100" b="1">
                <a:solidFill>
                  <a:srgbClr val="007C83"/>
                </a:solidFill>
                <a:latin typeface="Arial"/>
                <a:ea typeface="Arial"/>
                <a:cs typeface="Arial"/>
              </a:defRPr>
            </a:pPr>
            <a:r>
              <a:rPr sz="2100" b="1">
                <a:solidFill>
                  <a:srgbClr val="007C83"/>
                </a:solidFill>
                <a:latin typeface="Arial"/>
                <a:ea typeface="Arial"/>
                <a:cs typeface="Arial"/>
              </a:rPr>
              <a:t>Before: delete 15</a:t>
            </a:r>
          </a:p>
        </p:txBody>
      </p:sp>
      <p:sp>
        <p:nvSpPr>
          <p:cNvPr id="4" name="text-3">
            <a:extLst>
              <a:ext uri="{FF2B5EF4-FFF2-40B4-BE49-F238E27FC236}">
                <a16:creationId xmlns:a16="http://schemas.microsoft.com/office/drawing/2014/main" id="{CD29D287-3A15-4B43-BE80-062FE96E590B}"/>
              </a:ext>
            </a:extLst>
          </p:cNvPr>
          <p:cNvSpPr>
            <a:spLocks noGrp="1"/>
          </p:cNvSpPr>
          <p:nvPr/>
        </p:nvSpPr>
        <p:spPr>
          <a:xfrm>
            <a:off x="6572250" y="1381125"/>
            <a:ext cx="4762500" cy="457200"/>
          </a:xfrm>
          <a:prstGeom prst="rect">
            <a:avLst/>
          </a:prstGeom>
          <a:noFill/>
          <a:ln w="0">
            <a:noFill/>
          </a:ln>
        </p:spPr>
        <p:txBody>
          <a:bodyPr lIns="0" tIns="0" rIns="0" bIns="0" anchor="t"/>
          <a:lstStyle>
            <a:defPPr algn="l">
              <a:defRPr sz="2100" b="1">
                <a:solidFill>
                  <a:srgbClr val="007C83"/>
                </a:solidFill>
                <a:latin typeface="Arial"/>
                <a:ea typeface="Arial"/>
                <a:cs typeface="Arial"/>
              </a:defRPr>
            </a:defPPr>
            <a:lvl1pPr algn="l">
              <a:defRPr sz="2100" b="1">
                <a:solidFill>
                  <a:srgbClr val="007C83"/>
                </a:solidFill>
                <a:latin typeface="Arial"/>
                <a:ea typeface="Arial"/>
                <a:cs typeface="Arial"/>
              </a:defRPr>
            </a:lvl1pPr>
            <a:lvl2pPr algn="l">
              <a:defRPr sz="2100" b="1">
                <a:solidFill>
                  <a:srgbClr val="007C83"/>
                </a:solidFill>
                <a:latin typeface="Arial"/>
                <a:ea typeface="Arial"/>
                <a:cs typeface="Arial"/>
              </a:defRPr>
            </a:lvl2pPr>
            <a:lvl3pPr algn="l">
              <a:defRPr sz="2100" b="1">
                <a:solidFill>
                  <a:srgbClr val="007C83"/>
                </a:solidFill>
                <a:latin typeface="Arial"/>
                <a:ea typeface="Arial"/>
                <a:cs typeface="Arial"/>
              </a:defRPr>
            </a:lvl3pPr>
            <a:lvl4pPr algn="l">
              <a:defRPr sz="2100" b="1">
                <a:solidFill>
                  <a:srgbClr val="007C83"/>
                </a:solidFill>
                <a:latin typeface="Arial"/>
                <a:ea typeface="Arial"/>
                <a:cs typeface="Arial"/>
              </a:defRPr>
            </a:lvl4pPr>
            <a:lvl5pPr algn="l">
              <a:defRPr sz="2100" b="1">
                <a:solidFill>
                  <a:srgbClr val="007C83"/>
                </a:solidFill>
                <a:latin typeface="Arial"/>
                <a:ea typeface="Arial"/>
                <a:cs typeface="Arial"/>
              </a:defRPr>
            </a:lvl5pPr>
            <a:lvl6pPr algn="l">
              <a:defRPr sz="2100" b="1">
                <a:solidFill>
                  <a:srgbClr val="007C83"/>
                </a:solidFill>
                <a:latin typeface="Arial"/>
                <a:ea typeface="Arial"/>
                <a:cs typeface="Arial"/>
              </a:defRPr>
            </a:lvl6pPr>
            <a:lvl7pPr algn="l">
              <a:defRPr sz="2100" b="1">
                <a:solidFill>
                  <a:srgbClr val="007C83"/>
                </a:solidFill>
                <a:latin typeface="Arial"/>
                <a:ea typeface="Arial"/>
                <a:cs typeface="Arial"/>
              </a:defRPr>
            </a:lvl7pPr>
            <a:lvl8pPr algn="l">
              <a:defRPr sz="2100" b="1">
                <a:solidFill>
                  <a:srgbClr val="007C83"/>
                </a:solidFill>
                <a:latin typeface="Arial"/>
                <a:ea typeface="Arial"/>
                <a:cs typeface="Arial"/>
              </a:defRPr>
            </a:lvl8pPr>
            <a:lvl9pPr algn="l">
              <a:defRPr sz="2100" b="1">
                <a:solidFill>
                  <a:srgbClr val="007C83"/>
                </a:solidFill>
                <a:latin typeface="Arial"/>
                <a:ea typeface="Arial"/>
                <a:cs typeface="Arial"/>
              </a:defRPr>
            </a:lvl9pPr>
          </a:lstStyle>
          <a:p>
            <a:pPr algn="l">
              <a:defRPr sz="2100" b="1">
                <a:solidFill>
                  <a:srgbClr val="007C83"/>
                </a:solidFill>
                <a:latin typeface="Arial"/>
                <a:ea typeface="Arial"/>
                <a:cs typeface="Arial"/>
              </a:defRPr>
            </a:pPr>
            <a:r>
              <a:rPr sz="2100" b="1">
                <a:solidFill>
                  <a:srgbClr val="007C83"/>
                </a:solidFill>
                <a:latin typeface="Arial"/>
                <a:ea typeface="Arial"/>
                <a:cs typeface="Arial"/>
              </a:rPr>
              <a:t>After: 12 links to 20</a:t>
            </a:r>
          </a:p>
        </p:txBody>
      </p:sp>
      <p:sp>
        <p:nvSpPr>
          <p:cNvPr id="5" name="text-4">
            <a:extLst>
              <a:ext uri="{FF2B5EF4-FFF2-40B4-BE49-F238E27FC236}">
                <a16:creationId xmlns:a16="http://schemas.microsoft.com/office/drawing/2014/main" id="{01EE898D-6ABB-421D-A6F4-A910BB3CDA9F}"/>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A leaf uses the same reconnection idea with a null replacement.</a:t>
            </a:r>
          </a:p>
        </p:txBody>
      </p:sp>
      <p:sp>
        <p:nvSpPr>
          <p:cNvPr id="6" name="source-diagram-dg26-32">
            <a:extLst>
              <a:ext uri="{FF2B5EF4-FFF2-40B4-BE49-F238E27FC236}">
                <a16:creationId xmlns:a16="http://schemas.microsoft.com/office/drawing/2014/main" id="{273D55EA-7E5E-4470-9CA6-BE513C628DF1}"/>
              </a:ext>
            </a:extLst>
          </p:cNvPr>
          <p:cNvSpPr>
            <a:spLocks noGrp="1"/>
          </p:cNvSpPr>
          <p:nvPr/>
        </p:nvSpPr>
        <p:spPr>
          <a:xfrm>
            <a:off x="4344971" y="3947398"/>
            <a:ext cx="415205" cy="415205"/>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42" b="0">
                <a:solidFill>
                  <a:srgbClr val="FFFFFF"/>
                </a:solidFill>
                <a:latin typeface="Arial"/>
                <a:ea typeface="Arial"/>
                <a:cs typeface="Arial"/>
              </a:rPr>
              <a:t>20</a:t>
            </a:r>
          </a:p>
        </p:txBody>
      </p:sp>
      <p:sp>
        <p:nvSpPr>
          <p:cNvPr id="7" name="source-diagram-dg26-33">
            <a:extLst>
              <a:ext uri="{FF2B5EF4-FFF2-40B4-BE49-F238E27FC236}">
                <a16:creationId xmlns:a16="http://schemas.microsoft.com/office/drawing/2014/main" id="{7818CAA0-28FA-4D19-AE6B-AA5B872DAA3A}"/>
              </a:ext>
            </a:extLst>
          </p:cNvPr>
          <p:cNvSpPr>
            <a:spLocks noGrp="1"/>
          </p:cNvSpPr>
          <p:nvPr/>
        </p:nvSpPr>
        <p:spPr>
          <a:xfrm>
            <a:off x="2019824" y="3947398"/>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9</a:t>
            </a:r>
          </a:p>
        </p:txBody>
      </p:sp>
      <p:sp>
        <p:nvSpPr>
          <p:cNvPr id="8" name="source-diagram-dg26-34">
            <a:extLst>
              <a:ext uri="{FF2B5EF4-FFF2-40B4-BE49-F238E27FC236}">
                <a16:creationId xmlns:a16="http://schemas.microsoft.com/office/drawing/2014/main" id="{82924922-C5A8-4591-931D-182165D6EFFB}"/>
              </a:ext>
            </a:extLst>
          </p:cNvPr>
          <p:cNvSpPr>
            <a:spLocks noGrp="1"/>
          </p:cNvSpPr>
          <p:nvPr/>
        </p:nvSpPr>
        <p:spPr>
          <a:xfrm>
            <a:off x="857250" y="3947398"/>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2</a:t>
            </a:r>
          </a:p>
        </p:txBody>
      </p:sp>
      <p:sp>
        <p:nvSpPr>
          <p:cNvPr id="9" name="source-diagram-dg26-35">
            <a:extLst>
              <a:ext uri="{FF2B5EF4-FFF2-40B4-BE49-F238E27FC236}">
                <a16:creationId xmlns:a16="http://schemas.microsoft.com/office/drawing/2014/main" id="{D902C234-C5AE-4A61-B310-6CF7D353C2F3}"/>
              </a:ext>
            </a:extLst>
          </p:cNvPr>
          <p:cNvSpPr>
            <a:spLocks noGrp="1"/>
          </p:cNvSpPr>
          <p:nvPr/>
        </p:nvSpPr>
        <p:spPr>
          <a:xfrm>
            <a:off x="3763684" y="2978586"/>
            <a:ext cx="415205" cy="415205"/>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42" b="0">
                <a:solidFill>
                  <a:srgbClr val="FFFFFF"/>
                </a:solidFill>
                <a:latin typeface="Arial"/>
                <a:ea typeface="Arial"/>
                <a:cs typeface="Arial"/>
              </a:rPr>
              <a:t>15</a:t>
            </a:r>
          </a:p>
        </p:txBody>
      </p:sp>
      <p:sp>
        <p:nvSpPr>
          <p:cNvPr id="10" name="source-diagram-dg26-36">
            <a:extLst>
              <a:ext uri="{FF2B5EF4-FFF2-40B4-BE49-F238E27FC236}">
                <a16:creationId xmlns:a16="http://schemas.microsoft.com/office/drawing/2014/main" id="{878026F0-6712-41B3-9E10-B970BCCF3755}"/>
              </a:ext>
            </a:extLst>
          </p:cNvPr>
          <p:cNvSpPr>
            <a:spLocks noGrp="1"/>
          </p:cNvSpPr>
          <p:nvPr/>
        </p:nvSpPr>
        <p:spPr>
          <a:xfrm>
            <a:off x="1438537" y="2978586"/>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5</a:t>
            </a:r>
          </a:p>
        </p:txBody>
      </p:sp>
      <p:sp>
        <p:nvSpPr>
          <p:cNvPr id="11" name="source-diagram-dg26-37">
            <a:extLst>
              <a:ext uri="{FF2B5EF4-FFF2-40B4-BE49-F238E27FC236}">
                <a16:creationId xmlns:a16="http://schemas.microsoft.com/office/drawing/2014/main" id="{45B8B12B-0925-4C93-AD08-5236D9D00B9A}"/>
              </a:ext>
            </a:extLst>
          </p:cNvPr>
          <p:cNvSpPr>
            <a:spLocks noGrp="1"/>
          </p:cNvSpPr>
          <p:nvPr/>
        </p:nvSpPr>
        <p:spPr>
          <a:xfrm>
            <a:off x="2601111" y="2009775"/>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12</a:t>
            </a:r>
          </a:p>
        </p:txBody>
      </p:sp>
      <p:cxnSp>
        <p:nvCxnSpPr>
          <p:cNvPr id="12" name="source-diagram-dg26-38">
            <a:extLst>
              <a:ext uri="{FF2B5EF4-FFF2-40B4-BE49-F238E27FC236}">
                <a16:creationId xmlns:a16="http://schemas.microsoft.com/office/drawing/2014/main" id="{CFBB0B5F-4755-4655-8597-191990763D39}"/>
              </a:ext>
            </a:extLst>
          </p:cNvPr>
          <p:cNvCxnSpPr/>
          <p:nvPr/>
        </p:nvCxnSpPr>
        <p:spPr>
          <a:xfrm flipH="1">
            <a:off x="1646139" y="2385190"/>
            <a:ext cx="1015523" cy="572636"/>
          </a:xfrm>
          <a:prstGeom prst="straightConnector1">
            <a:avLst/>
          </a:prstGeom>
          <a:ln w="9525">
            <a:solidFill>
              <a:srgbClr val="142E42"/>
            </a:solidFill>
            <a:round/>
            <a:headEnd type="none" w="med" len="med"/>
            <a:tailEnd type="none" w="med" len="med"/>
          </a:ln>
        </p:spPr>
      </p:cxnSp>
      <p:cxnSp>
        <p:nvCxnSpPr>
          <p:cNvPr id="13" name="source-diagram-dg26-39">
            <a:extLst>
              <a:ext uri="{FF2B5EF4-FFF2-40B4-BE49-F238E27FC236}">
                <a16:creationId xmlns:a16="http://schemas.microsoft.com/office/drawing/2014/main" id="{C8330178-ABAD-44E2-8E83-52DE152885EC}"/>
              </a:ext>
            </a:extLst>
          </p:cNvPr>
          <p:cNvCxnSpPr/>
          <p:nvPr/>
        </p:nvCxnSpPr>
        <p:spPr>
          <a:xfrm>
            <a:off x="2955765" y="2385190"/>
            <a:ext cx="1015521" cy="572636"/>
          </a:xfrm>
          <a:prstGeom prst="straightConnector1">
            <a:avLst/>
          </a:prstGeom>
          <a:ln w="9525">
            <a:solidFill>
              <a:srgbClr val="142E42"/>
            </a:solidFill>
            <a:round/>
            <a:headEnd type="none" w="med" len="med"/>
            <a:tailEnd type="none" w="med" len="med"/>
          </a:ln>
        </p:spPr>
      </p:cxnSp>
      <p:cxnSp>
        <p:nvCxnSpPr>
          <p:cNvPr id="14" name="source-diagram-dg26-40">
            <a:extLst>
              <a:ext uri="{FF2B5EF4-FFF2-40B4-BE49-F238E27FC236}">
                <a16:creationId xmlns:a16="http://schemas.microsoft.com/office/drawing/2014/main" id="{A3B0A70D-71DF-4CBB-BEBC-8BFFC6FD5CE8}"/>
              </a:ext>
            </a:extLst>
          </p:cNvPr>
          <p:cNvCxnSpPr/>
          <p:nvPr/>
        </p:nvCxnSpPr>
        <p:spPr>
          <a:xfrm>
            <a:off x="4118339" y="3354001"/>
            <a:ext cx="434235" cy="572636"/>
          </a:xfrm>
          <a:prstGeom prst="straightConnector1">
            <a:avLst/>
          </a:prstGeom>
          <a:ln w="9525">
            <a:solidFill>
              <a:srgbClr val="142E42"/>
            </a:solidFill>
            <a:round/>
            <a:headEnd type="none" w="med" len="med"/>
            <a:tailEnd type="none" w="med" len="med"/>
          </a:ln>
        </p:spPr>
      </p:cxnSp>
      <p:cxnSp>
        <p:nvCxnSpPr>
          <p:cNvPr id="15" name="source-diagram-dg26-41">
            <a:extLst>
              <a:ext uri="{FF2B5EF4-FFF2-40B4-BE49-F238E27FC236}">
                <a16:creationId xmlns:a16="http://schemas.microsoft.com/office/drawing/2014/main" id="{FA8479A0-476A-4798-89D3-078B99E517F8}"/>
              </a:ext>
            </a:extLst>
          </p:cNvPr>
          <p:cNvCxnSpPr/>
          <p:nvPr/>
        </p:nvCxnSpPr>
        <p:spPr>
          <a:xfrm flipH="1">
            <a:off x="1064852" y="3354001"/>
            <a:ext cx="434236" cy="572636"/>
          </a:xfrm>
          <a:prstGeom prst="straightConnector1">
            <a:avLst/>
          </a:prstGeom>
          <a:ln w="9525">
            <a:solidFill>
              <a:srgbClr val="142E42"/>
            </a:solidFill>
            <a:round/>
            <a:headEnd type="none" w="med" len="med"/>
            <a:tailEnd type="none" w="med" len="med"/>
          </a:ln>
        </p:spPr>
      </p:cxnSp>
      <p:cxnSp>
        <p:nvCxnSpPr>
          <p:cNvPr id="16" name="source-diagram-dg26-42">
            <a:extLst>
              <a:ext uri="{FF2B5EF4-FFF2-40B4-BE49-F238E27FC236}">
                <a16:creationId xmlns:a16="http://schemas.microsoft.com/office/drawing/2014/main" id="{A5D1ADD1-B865-407A-BA26-35C9FC35765B}"/>
              </a:ext>
            </a:extLst>
          </p:cNvPr>
          <p:cNvCxnSpPr/>
          <p:nvPr/>
        </p:nvCxnSpPr>
        <p:spPr>
          <a:xfrm>
            <a:off x="1793192" y="3354001"/>
            <a:ext cx="434235" cy="572636"/>
          </a:xfrm>
          <a:prstGeom prst="straightConnector1">
            <a:avLst/>
          </a:prstGeom>
          <a:ln w="9525">
            <a:solidFill>
              <a:srgbClr val="142E42"/>
            </a:solidFill>
            <a:round/>
            <a:headEnd type="none" w="med" len="med"/>
            <a:tailEnd type="none" w="med" len="med"/>
          </a:ln>
        </p:spPr>
      </p:cxnSp>
      <p:sp>
        <p:nvSpPr>
          <p:cNvPr id="17" name="source-diagram-dg26-43">
            <a:extLst>
              <a:ext uri="{FF2B5EF4-FFF2-40B4-BE49-F238E27FC236}">
                <a16:creationId xmlns:a16="http://schemas.microsoft.com/office/drawing/2014/main" id="{C63D7FAD-B991-4017-B6F2-33CE1BB1B621}"/>
              </a:ext>
            </a:extLst>
          </p:cNvPr>
          <p:cNvSpPr>
            <a:spLocks noGrp="1"/>
          </p:cNvSpPr>
          <p:nvPr/>
        </p:nvSpPr>
        <p:spPr>
          <a:xfrm>
            <a:off x="4635615" y="4916209"/>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30</a:t>
            </a:r>
          </a:p>
        </p:txBody>
      </p:sp>
      <p:cxnSp>
        <p:nvCxnSpPr>
          <p:cNvPr id="18" name="source-diagram-dg26-44">
            <a:extLst>
              <a:ext uri="{FF2B5EF4-FFF2-40B4-BE49-F238E27FC236}">
                <a16:creationId xmlns:a16="http://schemas.microsoft.com/office/drawing/2014/main" id="{3BF7486B-F0E7-405E-B3F7-B8B909741AB6}"/>
              </a:ext>
            </a:extLst>
          </p:cNvPr>
          <p:cNvCxnSpPr/>
          <p:nvPr/>
        </p:nvCxnSpPr>
        <p:spPr>
          <a:xfrm>
            <a:off x="4699626" y="4322813"/>
            <a:ext cx="143591" cy="572636"/>
          </a:xfrm>
          <a:prstGeom prst="straightConnector1">
            <a:avLst/>
          </a:prstGeom>
          <a:ln w="9525">
            <a:solidFill>
              <a:srgbClr val="142E42"/>
            </a:solidFill>
            <a:round/>
            <a:headEnd type="none" w="med" len="med"/>
            <a:tailEnd type="none" w="med" len="med"/>
          </a:ln>
        </p:spPr>
      </p:cxnSp>
      <p:sp>
        <p:nvSpPr>
          <p:cNvPr id="19" name="source-diagram-dg26-45">
            <a:extLst>
              <a:ext uri="{FF2B5EF4-FFF2-40B4-BE49-F238E27FC236}">
                <a16:creationId xmlns:a16="http://schemas.microsoft.com/office/drawing/2014/main" id="{31C1FC58-EFE5-4A28-84D8-EEF696BE52D8}"/>
              </a:ext>
            </a:extLst>
          </p:cNvPr>
          <p:cNvSpPr>
            <a:spLocks noGrp="1"/>
          </p:cNvSpPr>
          <p:nvPr/>
        </p:nvSpPr>
        <p:spPr>
          <a:xfrm>
            <a:off x="1729180" y="4916209"/>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7</a:t>
            </a:r>
          </a:p>
        </p:txBody>
      </p:sp>
      <p:cxnSp>
        <p:nvCxnSpPr>
          <p:cNvPr id="20" name="source-diagram-dg26-46">
            <a:extLst>
              <a:ext uri="{FF2B5EF4-FFF2-40B4-BE49-F238E27FC236}">
                <a16:creationId xmlns:a16="http://schemas.microsoft.com/office/drawing/2014/main" id="{4B22D305-E379-41EB-862E-50B56FC4EB0C}"/>
              </a:ext>
            </a:extLst>
          </p:cNvPr>
          <p:cNvCxnSpPr/>
          <p:nvPr/>
        </p:nvCxnSpPr>
        <p:spPr>
          <a:xfrm flipH="1">
            <a:off x="1936783" y="4322813"/>
            <a:ext cx="143592" cy="572636"/>
          </a:xfrm>
          <a:prstGeom prst="straightConnector1">
            <a:avLst/>
          </a:prstGeom>
          <a:ln w="9525">
            <a:solidFill>
              <a:srgbClr val="142E42"/>
            </a:solidFill>
            <a:round/>
            <a:headEnd type="none" w="med" len="med"/>
            <a:tailEnd type="none" w="med" len="med"/>
          </a:ln>
        </p:spPr>
      </p:cxnSp>
      <p:sp>
        <p:nvSpPr>
          <p:cNvPr id="21" name="source-diagram-dg26-49">
            <a:extLst>
              <a:ext uri="{FF2B5EF4-FFF2-40B4-BE49-F238E27FC236}">
                <a16:creationId xmlns:a16="http://schemas.microsoft.com/office/drawing/2014/main" id="{FA548F13-5BAB-4294-B6D0-04C460742B7F}"/>
              </a:ext>
            </a:extLst>
          </p:cNvPr>
          <p:cNvSpPr>
            <a:spLocks noGrp="1"/>
          </p:cNvSpPr>
          <p:nvPr/>
        </p:nvSpPr>
        <p:spPr>
          <a:xfrm>
            <a:off x="2287977" y="4928320"/>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10</a:t>
            </a:r>
          </a:p>
        </p:txBody>
      </p:sp>
      <p:cxnSp>
        <p:nvCxnSpPr>
          <p:cNvPr id="22" name="source-diagram-dg26-50">
            <a:extLst>
              <a:ext uri="{FF2B5EF4-FFF2-40B4-BE49-F238E27FC236}">
                <a16:creationId xmlns:a16="http://schemas.microsoft.com/office/drawing/2014/main" id="{8B8757E4-98ED-4217-A7F6-6521E253BCC7}"/>
              </a:ext>
            </a:extLst>
          </p:cNvPr>
          <p:cNvCxnSpPr/>
          <p:nvPr/>
        </p:nvCxnSpPr>
        <p:spPr>
          <a:xfrm>
            <a:off x="2351988" y="4334923"/>
            <a:ext cx="143592" cy="572637"/>
          </a:xfrm>
          <a:prstGeom prst="straightConnector1">
            <a:avLst/>
          </a:prstGeom>
          <a:ln w="9525">
            <a:solidFill>
              <a:srgbClr val="142E42"/>
            </a:solidFill>
            <a:round/>
            <a:headEnd type="none" w="med" len="med"/>
            <a:tailEnd type="none" w="med" len="med"/>
          </a:ln>
        </p:spPr>
      </p:cxnSp>
      <p:sp>
        <p:nvSpPr>
          <p:cNvPr id="23" name="source-diagram-dg26-53">
            <a:extLst>
              <a:ext uri="{FF2B5EF4-FFF2-40B4-BE49-F238E27FC236}">
                <a16:creationId xmlns:a16="http://schemas.microsoft.com/office/drawing/2014/main" id="{4251924A-AFEA-4C02-9577-F8C6667F0724}"/>
              </a:ext>
            </a:extLst>
          </p:cNvPr>
          <p:cNvSpPr>
            <a:spLocks noGrp="1"/>
          </p:cNvSpPr>
          <p:nvPr/>
        </p:nvSpPr>
        <p:spPr>
          <a:xfrm>
            <a:off x="8649262" y="2929569"/>
            <a:ext cx="415205" cy="415205"/>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42" b="0">
                <a:solidFill>
                  <a:srgbClr val="FFFFFF"/>
                </a:solidFill>
                <a:latin typeface="Arial"/>
                <a:ea typeface="Arial"/>
                <a:cs typeface="Arial"/>
              </a:rPr>
              <a:t>20</a:t>
            </a:r>
          </a:p>
        </p:txBody>
      </p:sp>
      <p:sp>
        <p:nvSpPr>
          <p:cNvPr id="24" name="source-diagram-dg26-54">
            <a:extLst>
              <a:ext uri="{FF2B5EF4-FFF2-40B4-BE49-F238E27FC236}">
                <a16:creationId xmlns:a16="http://schemas.microsoft.com/office/drawing/2014/main" id="{A1BC0C9B-84C2-4E7D-BE1D-493B4C61BE94}"/>
              </a:ext>
            </a:extLst>
          </p:cNvPr>
          <p:cNvSpPr>
            <a:spLocks noGrp="1"/>
          </p:cNvSpPr>
          <p:nvPr/>
        </p:nvSpPr>
        <p:spPr>
          <a:xfrm>
            <a:off x="6794680" y="3947398"/>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9</a:t>
            </a:r>
          </a:p>
        </p:txBody>
      </p:sp>
      <p:sp>
        <p:nvSpPr>
          <p:cNvPr id="25" name="source-diagram-dg26-55">
            <a:extLst>
              <a:ext uri="{FF2B5EF4-FFF2-40B4-BE49-F238E27FC236}">
                <a16:creationId xmlns:a16="http://schemas.microsoft.com/office/drawing/2014/main" id="{C9FF2828-6A0C-48A1-B42F-95CE2000DF2D}"/>
              </a:ext>
            </a:extLst>
          </p:cNvPr>
          <p:cNvSpPr>
            <a:spLocks noGrp="1"/>
          </p:cNvSpPr>
          <p:nvPr/>
        </p:nvSpPr>
        <p:spPr>
          <a:xfrm>
            <a:off x="5632107" y="3947398"/>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2</a:t>
            </a:r>
          </a:p>
        </p:txBody>
      </p:sp>
      <p:sp>
        <p:nvSpPr>
          <p:cNvPr id="26" name="source-diagram-dg26-57">
            <a:extLst>
              <a:ext uri="{FF2B5EF4-FFF2-40B4-BE49-F238E27FC236}">
                <a16:creationId xmlns:a16="http://schemas.microsoft.com/office/drawing/2014/main" id="{89F55106-A851-47BE-8F1D-F9616291453C}"/>
              </a:ext>
            </a:extLst>
          </p:cNvPr>
          <p:cNvSpPr>
            <a:spLocks noGrp="1"/>
          </p:cNvSpPr>
          <p:nvPr/>
        </p:nvSpPr>
        <p:spPr>
          <a:xfrm>
            <a:off x="6213393" y="2978586"/>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5</a:t>
            </a:r>
          </a:p>
        </p:txBody>
      </p:sp>
      <p:sp>
        <p:nvSpPr>
          <p:cNvPr id="27" name="source-diagram-dg26-58">
            <a:extLst>
              <a:ext uri="{FF2B5EF4-FFF2-40B4-BE49-F238E27FC236}">
                <a16:creationId xmlns:a16="http://schemas.microsoft.com/office/drawing/2014/main" id="{D13212B7-33EF-4972-91C6-00FA7A85ED58}"/>
              </a:ext>
            </a:extLst>
          </p:cNvPr>
          <p:cNvSpPr>
            <a:spLocks noGrp="1"/>
          </p:cNvSpPr>
          <p:nvPr/>
        </p:nvSpPr>
        <p:spPr>
          <a:xfrm>
            <a:off x="7375967" y="2009775"/>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12</a:t>
            </a:r>
          </a:p>
        </p:txBody>
      </p:sp>
      <p:cxnSp>
        <p:nvCxnSpPr>
          <p:cNvPr id="28" name="source-diagram-dg26-59">
            <a:extLst>
              <a:ext uri="{FF2B5EF4-FFF2-40B4-BE49-F238E27FC236}">
                <a16:creationId xmlns:a16="http://schemas.microsoft.com/office/drawing/2014/main" id="{99B238FF-31AC-4832-99FF-D1D9E2311E27}"/>
              </a:ext>
            </a:extLst>
          </p:cNvPr>
          <p:cNvCxnSpPr/>
          <p:nvPr/>
        </p:nvCxnSpPr>
        <p:spPr>
          <a:xfrm flipH="1">
            <a:off x="6420996" y="2385190"/>
            <a:ext cx="1015523" cy="572636"/>
          </a:xfrm>
          <a:prstGeom prst="straightConnector1">
            <a:avLst/>
          </a:prstGeom>
          <a:ln w="9525">
            <a:solidFill>
              <a:srgbClr val="142E42"/>
            </a:solidFill>
            <a:round/>
            <a:headEnd type="none" w="med" len="med"/>
            <a:tailEnd type="none" w="med" len="med"/>
          </a:ln>
        </p:spPr>
      </p:cxnSp>
      <p:cxnSp>
        <p:nvCxnSpPr>
          <p:cNvPr id="29" name="source-diagram-dg26-60">
            <a:extLst>
              <a:ext uri="{FF2B5EF4-FFF2-40B4-BE49-F238E27FC236}">
                <a16:creationId xmlns:a16="http://schemas.microsoft.com/office/drawing/2014/main" id="{7B3A9A9C-7D09-4D67-8649-14C656063394}"/>
              </a:ext>
            </a:extLst>
          </p:cNvPr>
          <p:cNvCxnSpPr/>
          <p:nvPr/>
        </p:nvCxnSpPr>
        <p:spPr>
          <a:xfrm>
            <a:off x="7730367" y="2364175"/>
            <a:ext cx="979701" cy="626200"/>
          </a:xfrm>
          <a:prstGeom prst="straightConnector1">
            <a:avLst/>
          </a:prstGeom>
          <a:ln w="9525">
            <a:solidFill>
              <a:srgbClr val="142E42"/>
            </a:solidFill>
            <a:round/>
            <a:headEnd type="none" w="med" len="med"/>
            <a:tailEnd type="none" w="med" len="med"/>
          </a:ln>
        </p:spPr>
      </p:cxnSp>
      <p:cxnSp>
        <p:nvCxnSpPr>
          <p:cNvPr id="30" name="source-diagram-dg26-62">
            <a:extLst>
              <a:ext uri="{FF2B5EF4-FFF2-40B4-BE49-F238E27FC236}">
                <a16:creationId xmlns:a16="http://schemas.microsoft.com/office/drawing/2014/main" id="{76868DA7-E9A3-44C0-AA85-D0AC399BE89F}"/>
              </a:ext>
            </a:extLst>
          </p:cNvPr>
          <p:cNvCxnSpPr/>
          <p:nvPr/>
        </p:nvCxnSpPr>
        <p:spPr>
          <a:xfrm flipH="1">
            <a:off x="5839709" y="3354001"/>
            <a:ext cx="434236" cy="572636"/>
          </a:xfrm>
          <a:prstGeom prst="straightConnector1">
            <a:avLst/>
          </a:prstGeom>
          <a:ln w="9525">
            <a:solidFill>
              <a:srgbClr val="142E42"/>
            </a:solidFill>
            <a:round/>
            <a:headEnd type="none" w="med" len="med"/>
            <a:tailEnd type="none" w="med" len="med"/>
          </a:ln>
        </p:spPr>
      </p:cxnSp>
      <p:cxnSp>
        <p:nvCxnSpPr>
          <p:cNvPr id="31" name="source-diagram-dg26-63">
            <a:extLst>
              <a:ext uri="{FF2B5EF4-FFF2-40B4-BE49-F238E27FC236}">
                <a16:creationId xmlns:a16="http://schemas.microsoft.com/office/drawing/2014/main" id="{F7FEF029-2960-4855-9913-C54C3B14457B}"/>
              </a:ext>
            </a:extLst>
          </p:cNvPr>
          <p:cNvCxnSpPr/>
          <p:nvPr/>
        </p:nvCxnSpPr>
        <p:spPr>
          <a:xfrm>
            <a:off x="6568048" y="3354001"/>
            <a:ext cx="434235" cy="572636"/>
          </a:xfrm>
          <a:prstGeom prst="straightConnector1">
            <a:avLst/>
          </a:prstGeom>
          <a:ln w="9525">
            <a:solidFill>
              <a:srgbClr val="142E42"/>
            </a:solidFill>
            <a:round/>
            <a:headEnd type="none" w="med" len="med"/>
            <a:tailEnd type="none" w="med" len="med"/>
          </a:ln>
        </p:spPr>
      </p:cxnSp>
      <p:sp>
        <p:nvSpPr>
          <p:cNvPr id="32" name="source-diagram-dg26-64">
            <a:extLst>
              <a:ext uri="{FF2B5EF4-FFF2-40B4-BE49-F238E27FC236}">
                <a16:creationId xmlns:a16="http://schemas.microsoft.com/office/drawing/2014/main" id="{B5B3FE06-D08C-4ADB-818B-BD472977B74B}"/>
              </a:ext>
            </a:extLst>
          </p:cNvPr>
          <p:cNvSpPr>
            <a:spLocks noGrp="1"/>
          </p:cNvSpPr>
          <p:nvPr/>
        </p:nvSpPr>
        <p:spPr>
          <a:xfrm>
            <a:off x="9161348" y="3898381"/>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30</a:t>
            </a:r>
          </a:p>
        </p:txBody>
      </p:sp>
      <p:cxnSp>
        <p:nvCxnSpPr>
          <p:cNvPr id="33" name="source-diagram-dg26-65">
            <a:extLst>
              <a:ext uri="{FF2B5EF4-FFF2-40B4-BE49-F238E27FC236}">
                <a16:creationId xmlns:a16="http://schemas.microsoft.com/office/drawing/2014/main" id="{6400A976-1A5B-455A-8367-380AD8B8B30A}"/>
              </a:ext>
            </a:extLst>
          </p:cNvPr>
          <p:cNvCxnSpPr/>
          <p:nvPr/>
        </p:nvCxnSpPr>
        <p:spPr>
          <a:xfrm>
            <a:off x="9003662" y="3283969"/>
            <a:ext cx="365289" cy="614412"/>
          </a:xfrm>
          <a:prstGeom prst="straightConnector1">
            <a:avLst/>
          </a:prstGeom>
          <a:ln w="9525">
            <a:solidFill>
              <a:srgbClr val="142E42"/>
            </a:solidFill>
            <a:round/>
            <a:headEnd type="none" w="med" len="med"/>
            <a:tailEnd type="none" w="med" len="med"/>
          </a:ln>
        </p:spPr>
      </p:cxnSp>
      <p:sp>
        <p:nvSpPr>
          <p:cNvPr id="34" name="source-diagram-dg26-66">
            <a:extLst>
              <a:ext uri="{FF2B5EF4-FFF2-40B4-BE49-F238E27FC236}">
                <a16:creationId xmlns:a16="http://schemas.microsoft.com/office/drawing/2014/main" id="{DBF41DA2-49ED-491C-8813-44DECEB49CA7}"/>
              </a:ext>
            </a:extLst>
          </p:cNvPr>
          <p:cNvSpPr>
            <a:spLocks noGrp="1"/>
          </p:cNvSpPr>
          <p:nvPr/>
        </p:nvSpPr>
        <p:spPr>
          <a:xfrm>
            <a:off x="6504037" y="4916209"/>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7</a:t>
            </a:r>
          </a:p>
        </p:txBody>
      </p:sp>
      <p:cxnSp>
        <p:nvCxnSpPr>
          <p:cNvPr id="35" name="source-diagram-dg26-67">
            <a:extLst>
              <a:ext uri="{FF2B5EF4-FFF2-40B4-BE49-F238E27FC236}">
                <a16:creationId xmlns:a16="http://schemas.microsoft.com/office/drawing/2014/main" id="{7A4F61EC-0062-4197-9793-3DB82592C62B}"/>
              </a:ext>
            </a:extLst>
          </p:cNvPr>
          <p:cNvCxnSpPr/>
          <p:nvPr/>
        </p:nvCxnSpPr>
        <p:spPr>
          <a:xfrm flipH="1">
            <a:off x="6711639" y="4322813"/>
            <a:ext cx="143592" cy="572636"/>
          </a:xfrm>
          <a:prstGeom prst="straightConnector1">
            <a:avLst/>
          </a:prstGeom>
          <a:ln w="9525">
            <a:solidFill>
              <a:srgbClr val="142E42"/>
            </a:solidFill>
            <a:round/>
            <a:headEnd type="none" w="med" len="med"/>
            <a:tailEnd type="none" w="med" len="med"/>
          </a:ln>
        </p:spPr>
      </p:cxnSp>
      <p:sp>
        <p:nvSpPr>
          <p:cNvPr id="36" name="source-diagram-dg26-68">
            <a:extLst>
              <a:ext uri="{FF2B5EF4-FFF2-40B4-BE49-F238E27FC236}">
                <a16:creationId xmlns:a16="http://schemas.microsoft.com/office/drawing/2014/main" id="{6BAD83BF-4FE0-4601-9BE1-DE2AA357A8C2}"/>
              </a:ext>
            </a:extLst>
          </p:cNvPr>
          <p:cNvSpPr>
            <a:spLocks noGrp="1"/>
          </p:cNvSpPr>
          <p:nvPr/>
        </p:nvSpPr>
        <p:spPr>
          <a:xfrm>
            <a:off x="7062834" y="4928320"/>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10</a:t>
            </a:r>
          </a:p>
        </p:txBody>
      </p:sp>
      <p:cxnSp>
        <p:nvCxnSpPr>
          <p:cNvPr id="37" name="source-diagram-dg26-69">
            <a:extLst>
              <a:ext uri="{FF2B5EF4-FFF2-40B4-BE49-F238E27FC236}">
                <a16:creationId xmlns:a16="http://schemas.microsoft.com/office/drawing/2014/main" id="{155CE044-1726-4EE1-B3AC-2FD1C9F156DE}"/>
              </a:ext>
            </a:extLst>
          </p:cNvPr>
          <p:cNvCxnSpPr/>
          <p:nvPr/>
        </p:nvCxnSpPr>
        <p:spPr>
          <a:xfrm>
            <a:off x="7126844" y="4334923"/>
            <a:ext cx="143592" cy="572637"/>
          </a:xfrm>
          <a:prstGeom prst="straightConnector1">
            <a:avLst/>
          </a:prstGeom>
          <a:ln w="9525">
            <a:solidFill>
              <a:srgbClr val="142E42"/>
            </a:solidFill>
            <a:round/>
            <a:headEnd type="none" w="med" len="med"/>
            <a:tailEnd type="none" w="med" len="med"/>
          </a:ln>
        </p:spPr>
      </p:cxnSp>
    </p:spTree>
    <p:extLst>
      <p:ext uri="{BB962C8B-B14F-4D97-AF65-F5344CB8AC3E}">
        <p14:creationId xmlns:p14="http://schemas.microsoft.com/office/powerpoint/2010/main" val="1569209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3" name="text-0">
            <a:extLst>
              <a:ext uri="{FF2B5EF4-FFF2-40B4-BE49-F238E27FC236}">
                <a16:creationId xmlns:a16="http://schemas.microsoft.com/office/drawing/2014/main" id="{849893A6-494B-49D0-810F-878DEAF4BD29}"/>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Two children: deletion uses a neighboring key</a:t>
            </a:r>
          </a:p>
        </p:txBody>
      </p:sp>
      <p:sp>
        <p:nvSpPr>
          <p:cNvPr id="2" name="text-1">
            <a:extLst>
              <a:ext uri="{FF2B5EF4-FFF2-40B4-BE49-F238E27FC236}">
                <a16:creationId xmlns:a16="http://schemas.microsoft.com/office/drawing/2014/main" id="{5A20CF6B-626A-4FF5-9B19-6B3863E6ADB9}"/>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28</a:t>
            </a:r>
          </a:p>
        </p:txBody>
      </p:sp>
      <p:sp>
        <p:nvSpPr>
          <p:cNvPr id="3" name="text-2">
            <a:extLst>
              <a:ext uri="{FF2B5EF4-FFF2-40B4-BE49-F238E27FC236}">
                <a16:creationId xmlns:a16="http://schemas.microsoft.com/office/drawing/2014/main" id="{63224B36-F729-4B72-8F9C-7FCC1D43C435}"/>
              </a:ext>
            </a:extLst>
          </p:cNvPr>
          <p:cNvSpPr>
            <a:spLocks noGrp="1"/>
          </p:cNvSpPr>
          <p:nvPr/>
        </p:nvSpPr>
        <p:spPr>
          <a:xfrm>
            <a:off x="609600" y="1571625"/>
            <a:ext cx="6191250" cy="409575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defRPr sz="2100" b="0">
                <a:solidFill>
                  <a:srgbClr val="142E42"/>
                </a:solidFill>
                <a:latin typeface="Arial"/>
                <a:ea typeface="Arial"/>
                <a:cs typeface="Arial"/>
              </a:defRPr>
            </a:lvl1pPr>
            <a:lvl2pPr algn="l">
              <a:defRPr sz="2100" b="0">
                <a:solidFill>
                  <a:srgbClr val="142E42"/>
                </a:solidFill>
                <a:latin typeface="Arial"/>
                <a:ea typeface="Arial"/>
                <a:cs typeface="Arial"/>
              </a:defRPr>
            </a:lvl2pPr>
            <a:lvl3pPr algn="l">
              <a:defRPr sz="2100" b="0">
                <a:solidFill>
                  <a:srgbClr val="142E42"/>
                </a:solidFill>
                <a:latin typeface="Arial"/>
                <a:ea typeface="Arial"/>
                <a:cs typeface="Arial"/>
              </a:defRPr>
            </a:lvl3pPr>
            <a:lvl4pPr algn="l">
              <a:defRPr sz="2100" b="0">
                <a:solidFill>
                  <a:srgbClr val="142E42"/>
                </a:solidFill>
                <a:latin typeface="Arial"/>
                <a:ea typeface="Arial"/>
                <a:cs typeface="Arial"/>
              </a:defRPr>
            </a:lvl4pPr>
            <a:lvl5pPr algn="l">
              <a:defRPr sz="2100" b="0">
                <a:solidFill>
                  <a:srgbClr val="142E42"/>
                </a:solidFill>
                <a:latin typeface="Arial"/>
                <a:ea typeface="Arial"/>
                <a:cs typeface="Arial"/>
              </a:defRPr>
            </a:lvl5pPr>
            <a:lvl6pPr algn="l">
              <a:defRPr sz="2100" b="0">
                <a:solidFill>
                  <a:srgbClr val="142E42"/>
                </a:solidFill>
                <a:latin typeface="Arial"/>
                <a:ea typeface="Arial"/>
                <a:cs typeface="Arial"/>
              </a:defRPr>
            </a:lvl6pPr>
            <a:lvl7pPr algn="l">
              <a:defRPr sz="2100" b="0">
                <a:solidFill>
                  <a:srgbClr val="142E42"/>
                </a:solidFill>
                <a:latin typeface="Arial"/>
                <a:ea typeface="Arial"/>
                <a:cs typeface="Arial"/>
              </a:defRPr>
            </a:lvl7pPr>
            <a:lvl8pPr algn="l">
              <a:defRPr sz="2100" b="0">
                <a:solidFill>
                  <a:srgbClr val="142E42"/>
                </a:solidFill>
                <a:latin typeface="Arial"/>
                <a:ea typeface="Arial"/>
                <a:cs typeface="Arial"/>
              </a:defRPr>
            </a:lvl8pPr>
            <a:lvl9pPr algn="l">
              <a:defRPr sz="2100" b="0">
                <a:solidFill>
                  <a:srgbClr val="142E42"/>
                </a:solidFill>
                <a:latin typeface="Arial"/>
                <a:ea typeface="Arial"/>
                <a:cs typeface="Arial"/>
              </a:defRPr>
            </a:lvl9pPr>
          </a:lstStyle>
          <a:p>
            <a:pPr algn="l">
              <a:defRPr sz="2100" b="0">
                <a:solidFill>
                  <a:srgbClr val="142E42"/>
                </a:solidFill>
                <a:latin typeface="Arial"/>
                <a:ea typeface="Arial"/>
                <a:cs typeface="Arial"/>
              </a:defRPr>
            </a:pPr>
            <a:r>
              <a:rPr sz="2100" b="0">
                <a:solidFill>
                  <a:srgbClr val="142E42"/>
                </a:solidFill>
                <a:latin typeface="Arial"/>
                <a:ea typeface="Arial"/>
                <a:cs typeface="Arial"/>
              </a:rPr>
              <a:t>Delete 12 using its successor.</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1. Find the minimum in the right</a:t>
            </a:r>
          </a:p>
          <a:p>
            <a:pPr algn="l">
              <a:defRPr sz="2100" b="0">
                <a:solidFill>
                  <a:srgbClr val="142E42"/>
                </a:solidFill>
                <a:latin typeface="Arial"/>
                <a:ea typeface="Arial"/>
                <a:cs typeface="Arial"/>
              </a:defRPr>
            </a:pPr>
            <a:r>
              <a:rPr sz="2100" b="0">
                <a:solidFill>
                  <a:srgbClr val="142E42"/>
                </a:solidFill>
                <a:latin typeface="Arial"/>
                <a:ea typeface="Arial"/>
                <a:cs typeface="Arial"/>
              </a:rPr>
              <a:t>   subtree: key 15.</a:t>
            </a:r>
          </a:p>
          <a:p>
            <a:pPr algn="l">
              <a:defRPr sz="2100" b="0">
                <a:solidFill>
                  <a:srgbClr val="142E42"/>
                </a:solidFill>
                <a:latin typeface="Arial"/>
                <a:ea typeface="Arial"/>
                <a:cs typeface="Arial"/>
              </a:defRPr>
            </a:pPr>
            <a:r>
              <a:rPr sz="2100" b="0">
                <a:solidFill>
                  <a:srgbClr val="142E42"/>
                </a:solidFill>
                <a:latin typeface="Arial"/>
                <a:ea typeface="Arial"/>
                <a:cs typeface="Arial"/>
              </a:rPr>
              <a:t>2. Copy 15 into the root.</a:t>
            </a:r>
          </a:p>
          <a:p>
            <a:pPr algn="l">
              <a:defRPr sz="2100" b="0">
                <a:solidFill>
                  <a:srgbClr val="142E42"/>
                </a:solidFill>
                <a:latin typeface="Arial"/>
                <a:ea typeface="Arial"/>
                <a:cs typeface="Arial"/>
              </a:defRPr>
            </a:pPr>
            <a:r>
              <a:rPr sz="2100" b="0">
                <a:solidFill>
                  <a:srgbClr val="142E42"/>
                </a:solidFill>
                <a:latin typeface="Arial"/>
                <a:ea typeface="Arial"/>
                <a:cs typeface="Arial"/>
              </a:rPr>
              <a:t>3. Remove the original node 15,</a:t>
            </a:r>
          </a:p>
          <a:p>
            <a:pPr algn="l">
              <a:defRPr sz="2100" b="0">
                <a:solidFill>
                  <a:srgbClr val="142E42"/>
                </a:solidFill>
                <a:latin typeface="Arial"/>
                <a:ea typeface="Arial"/>
                <a:cs typeface="Arial"/>
              </a:defRPr>
            </a:pPr>
            <a:r>
              <a:rPr sz="2100" b="0">
                <a:solidFill>
                  <a:srgbClr val="142E42"/>
                </a:solidFill>
                <a:latin typeface="Arial"/>
                <a:ea typeface="Arial"/>
                <a:cs typeface="Arial"/>
              </a:rPr>
              <a:t>   reconnecting its child 20.</a:t>
            </a:r>
          </a:p>
          <a:p>
            <a:endParaRPr sz="2100" b="0">
              <a:solidFill>
                <a:srgbClr val="142E42"/>
              </a:solidFill>
              <a:latin typeface="Arial"/>
              <a:ea typeface="Arial"/>
              <a:cs typeface="Arial"/>
            </a:endParaRPr>
          </a:p>
          <a:p>
            <a:pPr algn="l">
              <a:defRPr sz="2100" b="0">
                <a:solidFill>
                  <a:srgbClr val="142E42"/>
                </a:solidFill>
                <a:latin typeface="Arial"/>
                <a:ea typeface="Arial"/>
                <a:cs typeface="Arial"/>
              </a:defRPr>
            </a:pPr>
            <a:r>
              <a:rPr sz="2100" b="0">
                <a:solidFill>
                  <a:srgbClr val="142E42"/>
                </a:solidFill>
                <a:latin typeface="Arial"/>
                <a:ea typeface="Arial"/>
                <a:cs typeface="Arial"/>
              </a:rPr>
              <a:t>The predecessor is an equally</a:t>
            </a:r>
          </a:p>
          <a:p>
            <a:pPr algn="l">
              <a:defRPr sz="2100" b="0">
                <a:solidFill>
                  <a:srgbClr val="142E42"/>
                </a:solidFill>
                <a:latin typeface="Arial"/>
                <a:ea typeface="Arial"/>
                <a:cs typeface="Arial"/>
              </a:defRPr>
            </a:pPr>
            <a:r>
              <a:rPr sz="2100" b="0">
                <a:solidFill>
                  <a:srgbClr val="142E42"/>
                </a:solidFill>
                <a:latin typeface="Arial"/>
                <a:ea typeface="Arial"/>
                <a:cs typeface="Arial"/>
              </a:rPr>
              <a:t>valid alternative.</a:t>
            </a:r>
          </a:p>
        </p:txBody>
      </p:sp>
      <p:sp>
        <p:nvSpPr>
          <p:cNvPr id="4" name="source-diagram-dg27-9">
            <a:extLst>
              <a:ext uri="{FF2B5EF4-FFF2-40B4-BE49-F238E27FC236}">
                <a16:creationId xmlns:a16="http://schemas.microsoft.com/office/drawing/2014/main" id="{F62719C6-42B9-4309-881C-F8A52C06A62F}"/>
              </a:ext>
            </a:extLst>
          </p:cNvPr>
          <p:cNvSpPr>
            <a:spLocks noGrp="1"/>
          </p:cNvSpPr>
          <p:nvPr/>
        </p:nvSpPr>
        <p:spPr>
          <a:xfrm>
            <a:off x="9809604" y="3896772"/>
            <a:ext cx="399505" cy="498246"/>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95" b="0">
                <a:solidFill>
                  <a:srgbClr val="FFFFFF"/>
                </a:solidFill>
                <a:latin typeface="Arial"/>
                <a:ea typeface="Arial"/>
                <a:cs typeface="Arial"/>
              </a:rPr>
              <a:t>20</a:t>
            </a:r>
          </a:p>
        </p:txBody>
      </p:sp>
      <p:sp>
        <p:nvSpPr>
          <p:cNvPr id="5" name="source-diagram-dg27-10">
            <a:extLst>
              <a:ext uri="{FF2B5EF4-FFF2-40B4-BE49-F238E27FC236}">
                <a16:creationId xmlns:a16="http://schemas.microsoft.com/office/drawing/2014/main" id="{2567BE03-53D1-4EFC-BF61-319BBF18C597}"/>
              </a:ext>
            </a:extLst>
          </p:cNvPr>
          <p:cNvSpPr>
            <a:spLocks noGrp="1"/>
          </p:cNvSpPr>
          <p:nvPr/>
        </p:nvSpPr>
        <p:spPr>
          <a:xfrm>
            <a:off x="8592777" y="3896772"/>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9</a:t>
            </a:r>
          </a:p>
        </p:txBody>
      </p:sp>
      <p:sp>
        <p:nvSpPr>
          <p:cNvPr id="6" name="source-diagram-dg27-11">
            <a:extLst>
              <a:ext uri="{FF2B5EF4-FFF2-40B4-BE49-F238E27FC236}">
                <a16:creationId xmlns:a16="http://schemas.microsoft.com/office/drawing/2014/main" id="{DC55B831-7718-40A3-BA4F-1E8250BCAD60}"/>
              </a:ext>
            </a:extLst>
          </p:cNvPr>
          <p:cNvSpPr>
            <a:spLocks noGrp="1"/>
          </p:cNvSpPr>
          <p:nvPr/>
        </p:nvSpPr>
        <p:spPr>
          <a:xfrm>
            <a:off x="7572375" y="3896772"/>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2</a:t>
            </a:r>
          </a:p>
        </p:txBody>
      </p:sp>
      <p:sp>
        <p:nvSpPr>
          <p:cNvPr id="7" name="source-diagram-dg27-12">
            <a:extLst>
              <a:ext uri="{FF2B5EF4-FFF2-40B4-BE49-F238E27FC236}">
                <a16:creationId xmlns:a16="http://schemas.microsoft.com/office/drawing/2014/main" id="{9EC5A00A-53EB-4E99-B11F-FDF990A628BB}"/>
              </a:ext>
            </a:extLst>
          </p:cNvPr>
          <p:cNvSpPr>
            <a:spLocks noGrp="1"/>
          </p:cNvSpPr>
          <p:nvPr/>
        </p:nvSpPr>
        <p:spPr>
          <a:xfrm>
            <a:off x="9250297" y="2734199"/>
            <a:ext cx="399505" cy="498246"/>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95" b="0">
                <a:solidFill>
                  <a:srgbClr val="FFFFFF"/>
                </a:solidFill>
                <a:latin typeface="Arial"/>
                <a:ea typeface="Arial"/>
                <a:cs typeface="Arial"/>
              </a:rPr>
              <a:t>15</a:t>
            </a:r>
          </a:p>
        </p:txBody>
      </p:sp>
      <p:sp>
        <p:nvSpPr>
          <p:cNvPr id="8" name="source-diagram-dg27-13">
            <a:extLst>
              <a:ext uri="{FF2B5EF4-FFF2-40B4-BE49-F238E27FC236}">
                <a16:creationId xmlns:a16="http://schemas.microsoft.com/office/drawing/2014/main" id="{C2D074B4-8767-47E4-B269-88365596B3CF}"/>
              </a:ext>
            </a:extLst>
          </p:cNvPr>
          <p:cNvSpPr>
            <a:spLocks noGrp="1"/>
          </p:cNvSpPr>
          <p:nvPr/>
        </p:nvSpPr>
        <p:spPr>
          <a:xfrm>
            <a:off x="8033470" y="2734199"/>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5</a:t>
            </a:r>
          </a:p>
        </p:txBody>
      </p:sp>
      <p:sp>
        <p:nvSpPr>
          <p:cNvPr id="9" name="source-diagram-dg27-14">
            <a:extLst>
              <a:ext uri="{FF2B5EF4-FFF2-40B4-BE49-F238E27FC236}">
                <a16:creationId xmlns:a16="http://schemas.microsoft.com/office/drawing/2014/main" id="{D1FE3577-6037-4F40-9DBE-DE9DEBE7D726}"/>
              </a:ext>
            </a:extLst>
          </p:cNvPr>
          <p:cNvSpPr>
            <a:spLocks noGrp="1"/>
          </p:cNvSpPr>
          <p:nvPr/>
        </p:nvSpPr>
        <p:spPr>
          <a:xfrm>
            <a:off x="8611088" y="1571625"/>
            <a:ext cx="399505" cy="498246"/>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95" b="0">
                <a:solidFill>
                  <a:srgbClr val="FFFFFF"/>
                </a:solidFill>
                <a:latin typeface="Arial"/>
                <a:ea typeface="Arial"/>
                <a:cs typeface="Arial"/>
              </a:rPr>
              <a:t>12</a:t>
            </a:r>
          </a:p>
        </p:txBody>
      </p:sp>
      <p:cxnSp>
        <p:nvCxnSpPr>
          <p:cNvPr id="10" name="source-diagram-dg27-15">
            <a:extLst>
              <a:ext uri="{FF2B5EF4-FFF2-40B4-BE49-F238E27FC236}">
                <a16:creationId xmlns:a16="http://schemas.microsoft.com/office/drawing/2014/main" id="{60589BB2-F350-4566-BC09-8D1A466157D8}"/>
              </a:ext>
            </a:extLst>
          </p:cNvPr>
          <p:cNvCxnSpPr/>
          <p:nvPr/>
        </p:nvCxnSpPr>
        <p:spPr>
          <a:xfrm rot="5400000">
            <a:off x="8155819" y="2093440"/>
            <a:ext cx="591180" cy="544224"/>
          </a:xfrm>
          <a:prstGeom prst="straightConnector1">
            <a:avLst/>
          </a:prstGeom>
          <a:ln w="9525">
            <a:solidFill>
              <a:srgbClr val="142E42"/>
            </a:solidFill>
            <a:round/>
            <a:headEnd type="none" w="med" len="med"/>
            <a:tailEnd type="none" w="med" len="med"/>
          </a:ln>
        </p:spPr>
      </p:cxnSp>
      <p:cxnSp>
        <p:nvCxnSpPr>
          <p:cNvPr id="11" name="source-diagram-dg27-16">
            <a:extLst>
              <a:ext uri="{FF2B5EF4-FFF2-40B4-BE49-F238E27FC236}">
                <a16:creationId xmlns:a16="http://schemas.microsoft.com/office/drawing/2014/main" id="{66B10E79-7852-4740-9BBE-4F276FB0045C}"/>
              </a:ext>
            </a:extLst>
          </p:cNvPr>
          <p:cNvCxnSpPr/>
          <p:nvPr/>
        </p:nvCxnSpPr>
        <p:spPr>
          <a:xfrm rot="16200000" flipH="1">
            <a:off x="8905479" y="2055034"/>
            <a:ext cx="591180" cy="621037"/>
          </a:xfrm>
          <a:prstGeom prst="straightConnector1">
            <a:avLst/>
          </a:prstGeom>
          <a:ln w="9525">
            <a:solidFill>
              <a:srgbClr val="142E42"/>
            </a:solidFill>
            <a:round/>
            <a:headEnd type="none" w="med" len="med"/>
            <a:tailEnd type="none" w="med" len="med"/>
          </a:ln>
        </p:spPr>
      </p:cxnSp>
      <p:cxnSp>
        <p:nvCxnSpPr>
          <p:cNvPr id="12" name="source-diagram-dg27-17">
            <a:extLst>
              <a:ext uri="{FF2B5EF4-FFF2-40B4-BE49-F238E27FC236}">
                <a16:creationId xmlns:a16="http://schemas.microsoft.com/office/drawing/2014/main" id="{89E52241-0808-4909-9DBF-95B0F94DD7CF}"/>
              </a:ext>
            </a:extLst>
          </p:cNvPr>
          <p:cNvCxnSpPr/>
          <p:nvPr/>
        </p:nvCxnSpPr>
        <p:spPr>
          <a:xfrm>
            <a:off x="9591541" y="3184697"/>
            <a:ext cx="417815" cy="687164"/>
          </a:xfrm>
          <a:prstGeom prst="straightConnector1">
            <a:avLst/>
          </a:prstGeom>
          <a:ln w="9525">
            <a:solidFill>
              <a:srgbClr val="142E42"/>
            </a:solidFill>
            <a:round/>
            <a:headEnd type="none" w="med" len="med"/>
            <a:tailEnd type="none" w="med" len="med"/>
          </a:ln>
        </p:spPr>
      </p:cxnSp>
      <p:cxnSp>
        <p:nvCxnSpPr>
          <p:cNvPr id="13" name="source-diagram-dg27-18">
            <a:extLst>
              <a:ext uri="{FF2B5EF4-FFF2-40B4-BE49-F238E27FC236}">
                <a16:creationId xmlns:a16="http://schemas.microsoft.com/office/drawing/2014/main" id="{702F64E1-71EC-4460-9689-F2B8E95B82C9}"/>
              </a:ext>
            </a:extLst>
          </p:cNvPr>
          <p:cNvCxnSpPr/>
          <p:nvPr/>
        </p:nvCxnSpPr>
        <p:spPr>
          <a:xfrm rot="5400000">
            <a:off x="7636463" y="3328676"/>
            <a:ext cx="591180" cy="398901"/>
          </a:xfrm>
          <a:prstGeom prst="straightConnector1">
            <a:avLst/>
          </a:prstGeom>
          <a:ln w="9525">
            <a:solidFill>
              <a:srgbClr val="142E42"/>
            </a:solidFill>
            <a:round/>
            <a:headEnd type="none" w="med" len="med"/>
            <a:tailEnd type="none" w="med" len="med"/>
          </a:ln>
        </p:spPr>
      </p:cxnSp>
      <p:cxnSp>
        <p:nvCxnSpPr>
          <p:cNvPr id="14" name="source-diagram-dg27-19">
            <a:extLst>
              <a:ext uri="{FF2B5EF4-FFF2-40B4-BE49-F238E27FC236}">
                <a16:creationId xmlns:a16="http://schemas.microsoft.com/office/drawing/2014/main" id="{28938E44-8607-4975-A1AD-C0B0CF0BF8A4}"/>
              </a:ext>
            </a:extLst>
          </p:cNvPr>
          <p:cNvCxnSpPr/>
          <p:nvPr/>
        </p:nvCxnSpPr>
        <p:spPr>
          <a:xfrm>
            <a:off x="8374715" y="3184697"/>
            <a:ext cx="417815" cy="687164"/>
          </a:xfrm>
          <a:prstGeom prst="straightConnector1">
            <a:avLst/>
          </a:prstGeom>
          <a:ln w="9525">
            <a:solidFill>
              <a:srgbClr val="142E42"/>
            </a:solidFill>
            <a:round/>
            <a:headEnd type="none" w="med" len="med"/>
            <a:tailEnd type="none" w="med" len="med"/>
          </a:ln>
        </p:spPr>
      </p:cxnSp>
      <p:sp>
        <p:nvSpPr>
          <p:cNvPr id="15" name="source-diagram-dg27-20">
            <a:extLst>
              <a:ext uri="{FF2B5EF4-FFF2-40B4-BE49-F238E27FC236}">
                <a16:creationId xmlns:a16="http://schemas.microsoft.com/office/drawing/2014/main" id="{253C63BB-6E59-4FCF-93C5-A2DC9E5CC886}"/>
              </a:ext>
            </a:extLst>
          </p:cNvPr>
          <p:cNvSpPr>
            <a:spLocks noGrp="1"/>
          </p:cNvSpPr>
          <p:nvPr/>
        </p:nvSpPr>
        <p:spPr>
          <a:xfrm>
            <a:off x="10089258" y="5059347"/>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30</a:t>
            </a:r>
          </a:p>
        </p:txBody>
      </p:sp>
      <p:cxnSp>
        <p:nvCxnSpPr>
          <p:cNvPr id="16" name="source-diagram-dg27-21">
            <a:extLst>
              <a:ext uri="{FF2B5EF4-FFF2-40B4-BE49-F238E27FC236}">
                <a16:creationId xmlns:a16="http://schemas.microsoft.com/office/drawing/2014/main" id="{306E18DC-9FBC-4571-8174-2F73D826E30D}"/>
              </a:ext>
            </a:extLst>
          </p:cNvPr>
          <p:cNvCxnSpPr/>
          <p:nvPr/>
        </p:nvCxnSpPr>
        <p:spPr>
          <a:xfrm>
            <a:off x="10150848" y="4347270"/>
            <a:ext cx="138162" cy="687164"/>
          </a:xfrm>
          <a:prstGeom prst="straightConnector1">
            <a:avLst/>
          </a:prstGeom>
          <a:ln w="9525">
            <a:solidFill>
              <a:srgbClr val="142E42"/>
            </a:solidFill>
            <a:round/>
            <a:headEnd type="none" w="med" len="med"/>
            <a:tailEnd type="none" w="med" len="med"/>
          </a:ln>
        </p:spPr>
      </p:cxnSp>
      <p:sp>
        <p:nvSpPr>
          <p:cNvPr id="17" name="source-diagram-dg27-22">
            <a:extLst>
              <a:ext uri="{FF2B5EF4-FFF2-40B4-BE49-F238E27FC236}">
                <a16:creationId xmlns:a16="http://schemas.microsoft.com/office/drawing/2014/main" id="{D8B88EEB-FAE2-4582-BDF1-B4D9F7C88079}"/>
              </a:ext>
            </a:extLst>
          </p:cNvPr>
          <p:cNvSpPr>
            <a:spLocks noGrp="1"/>
          </p:cNvSpPr>
          <p:nvPr/>
        </p:nvSpPr>
        <p:spPr>
          <a:xfrm>
            <a:off x="8313124" y="5059347"/>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7</a:t>
            </a:r>
          </a:p>
        </p:txBody>
      </p:sp>
      <p:cxnSp>
        <p:nvCxnSpPr>
          <p:cNvPr id="18" name="source-diagram-dg27-23">
            <a:extLst>
              <a:ext uri="{FF2B5EF4-FFF2-40B4-BE49-F238E27FC236}">
                <a16:creationId xmlns:a16="http://schemas.microsoft.com/office/drawing/2014/main" id="{D64EA77D-167D-4A0E-BCD7-33DBA0EA3DA4}"/>
              </a:ext>
            </a:extLst>
          </p:cNvPr>
          <p:cNvCxnSpPr/>
          <p:nvPr/>
        </p:nvCxnSpPr>
        <p:spPr>
          <a:xfrm flipH="1">
            <a:off x="8512876" y="4347270"/>
            <a:ext cx="138163" cy="687164"/>
          </a:xfrm>
          <a:prstGeom prst="straightConnector1">
            <a:avLst/>
          </a:prstGeom>
          <a:ln w="9525">
            <a:solidFill>
              <a:srgbClr val="142E42"/>
            </a:solidFill>
            <a:round/>
            <a:headEnd type="none" w="med" len="med"/>
            <a:tailEnd type="none" w="med" len="med"/>
          </a:ln>
        </p:spPr>
      </p:cxnSp>
      <p:sp>
        <p:nvSpPr>
          <p:cNvPr id="19" name="source-diagram-dg27-24">
            <a:extLst>
              <a:ext uri="{FF2B5EF4-FFF2-40B4-BE49-F238E27FC236}">
                <a16:creationId xmlns:a16="http://schemas.microsoft.com/office/drawing/2014/main" id="{9CDD99C4-8213-4398-9DE9-1E7CE9A9C277}"/>
              </a:ext>
            </a:extLst>
          </p:cNvPr>
          <p:cNvSpPr>
            <a:spLocks noGrp="1"/>
          </p:cNvSpPr>
          <p:nvPr/>
        </p:nvSpPr>
        <p:spPr>
          <a:xfrm>
            <a:off x="9529950" y="5048967"/>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17</a:t>
            </a:r>
          </a:p>
        </p:txBody>
      </p:sp>
      <p:cxnSp>
        <p:nvCxnSpPr>
          <p:cNvPr id="20" name="source-diagram-dg27-25">
            <a:extLst>
              <a:ext uri="{FF2B5EF4-FFF2-40B4-BE49-F238E27FC236}">
                <a16:creationId xmlns:a16="http://schemas.microsoft.com/office/drawing/2014/main" id="{7C39D98D-8882-44F9-AB24-81BCBB6D1F63}"/>
              </a:ext>
            </a:extLst>
          </p:cNvPr>
          <p:cNvCxnSpPr/>
          <p:nvPr/>
        </p:nvCxnSpPr>
        <p:spPr>
          <a:xfrm flipH="1">
            <a:off x="9729703" y="4347270"/>
            <a:ext cx="138163" cy="676784"/>
          </a:xfrm>
          <a:prstGeom prst="straightConnector1">
            <a:avLst/>
          </a:prstGeom>
          <a:ln w="9525">
            <a:solidFill>
              <a:srgbClr val="142E42"/>
            </a:solidFill>
            <a:round/>
            <a:headEnd type="none" w="med" len="med"/>
            <a:tailEnd type="none" w="med" len="med"/>
          </a:ln>
        </p:spPr>
      </p:cxnSp>
      <p:sp>
        <p:nvSpPr>
          <p:cNvPr id="21" name="source-diagram-dg27-26">
            <a:extLst>
              <a:ext uri="{FF2B5EF4-FFF2-40B4-BE49-F238E27FC236}">
                <a16:creationId xmlns:a16="http://schemas.microsoft.com/office/drawing/2014/main" id="{99EF9087-4EEF-44CD-80C3-9E7ADE0CAF8A}"/>
              </a:ext>
            </a:extLst>
          </p:cNvPr>
          <p:cNvSpPr>
            <a:spLocks noGrp="1"/>
          </p:cNvSpPr>
          <p:nvPr/>
        </p:nvSpPr>
        <p:spPr>
          <a:xfrm>
            <a:off x="8850792" y="5073879"/>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10</a:t>
            </a:r>
          </a:p>
        </p:txBody>
      </p:sp>
      <p:cxnSp>
        <p:nvCxnSpPr>
          <p:cNvPr id="22" name="source-diagram-dg27-27">
            <a:extLst>
              <a:ext uri="{FF2B5EF4-FFF2-40B4-BE49-F238E27FC236}">
                <a16:creationId xmlns:a16="http://schemas.microsoft.com/office/drawing/2014/main" id="{A7D90149-9114-4625-B9E3-18F6C9489813}"/>
              </a:ext>
            </a:extLst>
          </p:cNvPr>
          <p:cNvCxnSpPr/>
          <p:nvPr/>
        </p:nvCxnSpPr>
        <p:spPr>
          <a:xfrm>
            <a:off x="8912381" y="4361803"/>
            <a:ext cx="138163" cy="687165"/>
          </a:xfrm>
          <a:prstGeom prst="straightConnector1">
            <a:avLst/>
          </a:prstGeom>
          <a:ln w="9525">
            <a:solidFill>
              <a:srgbClr val="142E42"/>
            </a:solidFill>
            <a:round/>
            <a:headEnd type="none" w="med" len="med"/>
            <a:tailEnd type="none" w="med" len="med"/>
          </a:ln>
        </p:spPr>
      </p:cxnSp>
    </p:spTree>
    <p:extLst>
      <p:ext uri="{BB962C8B-B14F-4D97-AF65-F5344CB8AC3E}">
        <p14:creationId xmlns:p14="http://schemas.microsoft.com/office/powerpoint/2010/main" val="567759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4E50E3BB-E6E5-4D8D-99F0-3AFE820338C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Recursive deletion preserves the BST rule</a:t>
            </a:r>
          </a:p>
        </p:txBody>
      </p:sp>
      <p:sp>
        <p:nvSpPr>
          <p:cNvPr id="2" name="text-1">
            <a:extLst>
              <a:ext uri="{FF2B5EF4-FFF2-40B4-BE49-F238E27FC236}">
                <a16:creationId xmlns:a16="http://schemas.microsoft.com/office/drawing/2014/main" id="{6FB1757A-0237-4C76-B89D-CBA0EE607BC5}"/>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29</a:t>
            </a:r>
          </a:p>
        </p:txBody>
      </p:sp>
      <p:sp>
        <p:nvSpPr>
          <p:cNvPr id="3" name="text-2">
            <a:extLst>
              <a:ext uri="{FF2B5EF4-FFF2-40B4-BE49-F238E27FC236}">
                <a16:creationId xmlns:a16="http://schemas.microsoft.com/office/drawing/2014/main" id="{4BCC5CA5-09EC-4DB8-9F96-E90C41EBDEF4}"/>
              </a:ext>
            </a:extLst>
          </p:cNvPr>
          <p:cNvSpPr>
            <a:spLocks noGrp="1"/>
          </p:cNvSpPr>
          <p:nvPr/>
        </p:nvSpPr>
        <p:spPr>
          <a:xfrm>
            <a:off x="609600" y="1562100"/>
            <a:ext cx="10953750" cy="4191000"/>
          </a:xfrm>
          <a:prstGeom prst="rect">
            <a:avLst/>
          </a:prstGeom>
          <a:noFill/>
          <a:ln w="0">
            <a:noFill/>
          </a:ln>
        </p:spPr>
        <p:txBody>
          <a:bodyPr lIns="0" tIns="0" rIns="0" bIns="0" anchor="t"/>
          <a:lstStyle>
            <a:defPPr algn="l">
              <a:defRPr sz="1950" b="0">
                <a:solidFill>
                  <a:srgbClr val="142E42"/>
                </a:solidFill>
                <a:latin typeface="Consolas"/>
                <a:ea typeface="Consolas"/>
                <a:cs typeface="Consolas"/>
              </a:defRPr>
            </a:defPPr>
            <a:lvl1pPr algn="l">
              <a:defRPr sz="1950" b="0">
                <a:solidFill>
                  <a:srgbClr val="142E42"/>
                </a:solidFill>
                <a:latin typeface="Consolas"/>
                <a:ea typeface="Consolas"/>
                <a:cs typeface="Consolas"/>
              </a:defRPr>
            </a:lvl1pPr>
            <a:lvl2pPr algn="l">
              <a:defRPr sz="1950" b="0">
                <a:solidFill>
                  <a:srgbClr val="142E42"/>
                </a:solidFill>
                <a:latin typeface="Consolas"/>
                <a:ea typeface="Consolas"/>
                <a:cs typeface="Consolas"/>
              </a:defRPr>
            </a:lvl2pPr>
            <a:lvl3pPr algn="l">
              <a:defRPr sz="1950" b="0">
                <a:solidFill>
                  <a:srgbClr val="142E42"/>
                </a:solidFill>
                <a:latin typeface="Consolas"/>
                <a:ea typeface="Consolas"/>
                <a:cs typeface="Consolas"/>
              </a:defRPr>
            </a:lvl3pPr>
            <a:lvl4pPr algn="l">
              <a:defRPr sz="1950" b="0">
                <a:solidFill>
                  <a:srgbClr val="142E42"/>
                </a:solidFill>
                <a:latin typeface="Consolas"/>
                <a:ea typeface="Consolas"/>
                <a:cs typeface="Consolas"/>
              </a:defRPr>
            </a:lvl4pPr>
            <a:lvl5pPr algn="l">
              <a:defRPr sz="1950" b="0">
                <a:solidFill>
                  <a:srgbClr val="142E42"/>
                </a:solidFill>
                <a:latin typeface="Consolas"/>
                <a:ea typeface="Consolas"/>
                <a:cs typeface="Consolas"/>
              </a:defRPr>
            </a:lvl5pPr>
            <a:lvl6pPr algn="l">
              <a:defRPr sz="1950" b="0">
                <a:solidFill>
                  <a:srgbClr val="142E42"/>
                </a:solidFill>
                <a:latin typeface="Consolas"/>
                <a:ea typeface="Consolas"/>
                <a:cs typeface="Consolas"/>
              </a:defRPr>
            </a:lvl6pPr>
            <a:lvl7pPr algn="l">
              <a:defRPr sz="1950" b="0">
                <a:solidFill>
                  <a:srgbClr val="142E42"/>
                </a:solidFill>
                <a:latin typeface="Consolas"/>
                <a:ea typeface="Consolas"/>
                <a:cs typeface="Consolas"/>
              </a:defRPr>
            </a:lvl7pPr>
            <a:lvl8pPr algn="l">
              <a:defRPr sz="1950" b="0">
                <a:solidFill>
                  <a:srgbClr val="142E42"/>
                </a:solidFill>
                <a:latin typeface="Consolas"/>
                <a:ea typeface="Consolas"/>
                <a:cs typeface="Consolas"/>
              </a:defRPr>
            </a:lvl8pPr>
            <a:lvl9pPr algn="l">
              <a:defRPr sz="1950" b="0">
                <a:solidFill>
                  <a:srgbClr val="142E42"/>
                </a:solidFill>
                <a:latin typeface="Consolas"/>
                <a:ea typeface="Consolas"/>
                <a:cs typeface="Consolas"/>
              </a:defRPr>
            </a:lvl9pPr>
          </a:lstStyle>
          <a:p>
            <a:pPr algn="l">
              <a:defRPr sz="1950" b="0">
                <a:solidFill>
                  <a:srgbClr val="142E42"/>
                </a:solidFill>
                <a:latin typeface="Consolas"/>
                <a:ea typeface="Consolas"/>
                <a:cs typeface="Consolas"/>
              </a:defRPr>
            </a:pPr>
            <a:r>
              <a:rPr sz="1950" b="0" dirty="0">
                <a:solidFill>
                  <a:srgbClr val="142E42"/>
                </a:solidFill>
                <a:latin typeface="Consolas"/>
                <a:ea typeface="Consolas"/>
                <a:cs typeface="Consolas"/>
              </a:rPr>
              <a:t>private Node&lt;E&gt; delete(Node&lt;E&gt; x, E key) {</a:t>
            </a:r>
          </a:p>
          <a:p>
            <a:pPr algn="l">
              <a:defRPr sz="1950" b="0">
                <a:solidFill>
                  <a:srgbClr val="142E42"/>
                </a:solidFill>
                <a:latin typeface="Consolas"/>
                <a:ea typeface="Consolas"/>
                <a:cs typeface="Consolas"/>
              </a:defRPr>
            </a:pPr>
            <a:r>
              <a:rPr sz="1950" b="0" dirty="0">
                <a:solidFill>
                  <a:srgbClr val="142E42"/>
                </a:solidFill>
                <a:latin typeface="Consolas"/>
                <a:ea typeface="Consolas"/>
                <a:cs typeface="Consolas"/>
              </a:rPr>
              <a:t>    if (x == null) return null;</a:t>
            </a:r>
          </a:p>
          <a:p>
            <a:pPr algn="l">
              <a:defRPr sz="1950" b="0">
                <a:solidFill>
                  <a:srgbClr val="142E42"/>
                </a:solidFill>
                <a:latin typeface="Consolas"/>
                <a:ea typeface="Consolas"/>
                <a:cs typeface="Consolas"/>
              </a:defRPr>
            </a:pPr>
            <a:r>
              <a:rPr sz="1950" b="0" dirty="0">
                <a:solidFill>
                  <a:srgbClr val="142E42"/>
                </a:solidFill>
                <a:latin typeface="Consolas"/>
                <a:ea typeface="Consolas"/>
                <a:cs typeface="Consolas"/>
              </a:rPr>
              <a:t>    int </a:t>
            </a:r>
            <a:r>
              <a:rPr sz="1950" b="0" dirty="0" err="1">
                <a:solidFill>
                  <a:srgbClr val="142E42"/>
                </a:solidFill>
                <a:latin typeface="Consolas"/>
                <a:ea typeface="Consolas"/>
                <a:cs typeface="Consolas"/>
              </a:rPr>
              <a:t>cmp</a:t>
            </a:r>
            <a:r>
              <a:rPr sz="1950" b="0" dirty="0">
                <a:solidFill>
                  <a:srgbClr val="142E42"/>
                </a:solidFill>
                <a:latin typeface="Consolas"/>
                <a:ea typeface="Consolas"/>
                <a:cs typeface="Consolas"/>
              </a:rPr>
              <a:t> = </a:t>
            </a:r>
            <a:r>
              <a:rPr sz="1950" b="0" dirty="0" err="1">
                <a:solidFill>
                  <a:srgbClr val="142E42"/>
                </a:solidFill>
                <a:latin typeface="Consolas"/>
                <a:ea typeface="Consolas"/>
                <a:cs typeface="Consolas"/>
              </a:rPr>
              <a:t>key.compareTo</a:t>
            </a:r>
            <a:r>
              <a:rPr sz="1950" b="0" dirty="0">
                <a:solidFill>
                  <a:srgbClr val="142E42"/>
                </a:solidFill>
                <a:latin typeface="Consolas"/>
                <a:ea typeface="Consolas"/>
                <a:cs typeface="Consolas"/>
              </a:rPr>
              <a:t>(</a:t>
            </a:r>
            <a:r>
              <a:rPr sz="1950" b="0" dirty="0" err="1">
                <a:solidFill>
                  <a:srgbClr val="142E42"/>
                </a:solidFill>
                <a:latin typeface="Consolas"/>
                <a:ea typeface="Consolas"/>
                <a:cs typeface="Consolas"/>
              </a:rPr>
              <a:t>x.key</a:t>
            </a:r>
            <a:r>
              <a:rPr sz="1950" b="0" dirty="0">
                <a:solidFill>
                  <a:srgbClr val="142E42"/>
                </a:solidFill>
                <a:latin typeface="Consolas"/>
                <a:ea typeface="Consolas"/>
                <a:cs typeface="Consolas"/>
              </a:rPr>
              <a:t>);</a:t>
            </a:r>
          </a:p>
          <a:p>
            <a:pPr algn="l">
              <a:defRPr sz="1950" b="0">
                <a:solidFill>
                  <a:srgbClr val="142E42"/>
                </a:solidFill>
                <a:latin typeface="Consolas"/>
                <a:ea typeface="Consolas"/>
                <a:cs typeface="Consolas"/>
              </a:defRPr>
            </a:pPr>
            <a:r>
              <a:rPr sz="1950" b="0" dirty="0">
                <a:solidFill>
                  <a:srgbClr val="142E42"/>
                </a:solidFill>
                <a:latin typeface="Consolas"/>
                <a:ea typeface="Consolas"/>
                <a:cs typeface="Consolas"/>
              </a:rPr>
              <a:t>    if (</a:t>
            </a:r>
            <a:r>
              <a:rPr sz="1950" b="0" dirty="0" err="1">
                <a:solidFill>
                  <a:srgbClr val="142E42"/>
                </a:solidFill>
                <a:latin typeface="Consolas"/>
                <a:ea typeface="Consolas"/>
                <a:cs typeface="Consolas"/>
              </a:rPr>
              <a:t>cmp</a:t>
            </a:r>
            <a:r>
              <a:rPr sz="1950" b="0" dirty="0">
                <a:solidFill>
                  <a:srgbClr val="142E42"/>
                </a:solidFill>
                <a:latin typeface="Consolas"/>
                <a:ea typeface="Consolas"/>
                <a:cs typeface="Consolas"/>
              </a:rPr>
              <a:t> &lt; 0) </a:t>
            </a:r>
            <a:r>
              <a:rPr sz="1950" b="0" dirty="0" err="1">
                <a:solidFill>
                  <a:srgbClr val="142E42"/>
                </a:solidFill>
                <a:latin typeface="Consolas"/>
                <a:ea typeface="Consolas"/>
                <a:cs typeface="Consolas"/>
              </a:rPr>
              <a:t>x.left</a:t>
            </a:r>
            <a:r>
              <a:rPr sz="1950" b="0" dirty="0">
                <a:solidFill>
                  <a:srgbClr val="142E42"/>
                </a:solidFill>
                <a:latin typeface="Consolas"/>
                <a:ea typeface="Consolas"/>
                <a:cs typeface="Consolas"/>
              </a:rPr>
              <a:t> = delete(</a:t>
            </a:r>
            <a:r>
              <a:rPr sz="1950" b="0" dirty="0" err="1">
                <a:solidFill>
                  <a:srgbClr val="142E42"/>
                </a:solidFill>
                <a:latin typeface="Consolas"/>
                <a:ea typeface="Consolas"/>
                <a:cs typeface="Consolas"/>
              </a:rPr>
              <a:t>x.left</a:t>
            </a:r>
            <a:r>
              <a:rPr sz="1950" b="0" dirty="0">
                <a:solidFill>
                  <a:srgbClr val="142E42"/>
                </a:solidFill>
                <a:latin typeface="Consolas"/>
                <a:ea typeface="Consolas"/>
                <a:cs typeface="Consolas"/>
              </a:rPr>
              <a:t>, key);</a:t>
            </a:r>
          </a:p>
          <a:p>
            <a:pPr algn="l">
              <a:defRPr sz="1950" b="0">
                <a:solidFill>
                  <a:srgbClr val="142E42"/>
                </a:solidFill>
                <a:latin typeface="Consolas"/>
                <a:ea typeface="Consolas"/>
                <a:cs typeface="Consolas"/>
              </a:defRPr>
            </a:pPr>
            <a:r>
              <a:rPr sz="1950" b="0" dirty="0">
                <a:solidFill>
                  <a:srgbClr val="142E42"/>
                </a:solidFill>
                <a:latin typeface="Consolas"/>
                <a:ea typeface="Consolas"/>
                <a:cs typeface="Consolas"/>
              </a:rPr>
              <a:t>    else if (</a:t>
            </a:r>
            <a:r>
              <a:rPr sz="1950" b="0" dirty="0" err="1">
                <a:solidFill>
                  <a:srgbClr val="142E42"/>
                </a:solidFill>
                <a:latin typeface="Consolas"/>
                <a:ea typeface="Consolas"/>
                <a:cs typeface="Consolas"/>
              </a:rPr>
              <a:t>cmp</a:t>
            </a:r>
            <a:r>
              <a:rPr sz="1950" b="0" dirty="0">
                <a:solidFill>
                  <a:srgbClr val="142E42"/>
                </a:solidFill>
                <a:latin typeface="Consolas"/>
                <a:ea typeface="Consolas"/>
                <a:cs typeface="Consolas"/>
              </a:rPr>
              <a:t> &gt; 0) </a:t>
            </a:r>
            <a:r>
              <a:rPr sz="1950" b="0" dirty="0" err="1">
                <a:solidFill>
                  <a:srgbClr val="142E42"/>
                </a:solidFill>
                <a:latin typeface="Consolas"/>
                <a:ea typeface="Consolas"/>
                <a:cs typeface="Consolas"/>
              </a:rPr>
              <a:t>x.right</a:t>
            </a:r>
            <a:r>
              <a:rPr sz="1950" b="0" dirty="0">
                <a:solidFill>
                  <a:srgbClr val="142E42"/>
                </a:solidFill>
                <a:latin typeface="Consolas"/>
                <a:ea typeface="Consolas"/>
                <a:cs typeface="Consolas"/>
              </a:rPr>
              <a:t> = delete(</a:t>
            </a:r>
            <a:r>
              <a:rPr sz="1950" b="0" dirty="0" err="1">
                <a:solidFill>
                  <a:srgbClr val="142E42"/>
                </a:solidFill>
                <a:latin typeface="Consolas"/>
                <a:ea typeface="Consolas"/>
                <a:cs typeface="Consolas"/>
              </a:rPr>
              <a:t>x.right</a:t>
            </a:r>
            <a:r>
              <a:rPr sz="1950" b="0" dirty="0">
                <a:solidFill>
                  <a:srgbClr val="142E42"/>
                </a:solidFill>
                <a:latin typeface="Consolas"/>
                <a:ea typeface="Consolas"/>
                <a:cs typeface="Consolas"/>
              </a:rPr>
              <a:t>, key);</a:t>
            </a:r>
          </a:p>
          <a:p>
            <a:pPr algn="l">
              <a:defRPr sz="1950" b="0">
                <a:solidFill>
                  <a:srgbClr val="142E42"/>
                </a:solidFill>
                <a:latin typeface="Consolas"/>
                <a:ea typeface="Consolas"/>
                <a:cs typeface="Consolas"/>
              </a:defRPr>
            </a:pPr>
            <a:r>
              <a:rPr sz="1950" b="0" dirty="0">
                <a:solidFill>
                  <a:srgbClr val="142E42"/>
                </a:solidFill>
                <a:latin typeface="Consolas"/>
                <a:ea typeface="Consolas"/>
                <a:cs typeface="Consolas"/>
              </a:rPr>
              <a:t>    else {</a:t>
            </a:r>
          </a:p>
          <a:p>
            <a:pPr algn="l">
              <a:defRPr sz="1950" b="0">
                <a:solidFill>
                  <a:srgbClr val="142E42"/>
                </a:solidFill>
                <a:latin typeface="Consolas"/>
                <a:ea typeface="Consolas"/>
                <a:cs typeface="Consolas"/>
              </a:defRPr>
            </a:pPr>
            <a:r>
              <a:rPr sz="1950" b="0" dirty="0">
                <a:solidFill>
                  <a:srgbClr val="142E42"/>
                </a:solidFill>
                <a:latin typeface="Consolas"/>
                <a:ea typeface="Consolas"/>
                <a:cs typeface="Consolas"/>
              </a:rPr>
              <a:t>        if (</a:t>
            </a:r>
            <a:r>
              <a:rPr sz="1950" b="0" dirty="0" err="1">
                <a:solidFill>
                  <a:srgbClr val="142E42"/>
                </a:solidFill>
                <a:latin typeface="Consolas"/>
                <a:ea typeface="Consolas"/>
                <a:cs typeface="Consolas"/>
              </a:rPr>
              <a:t>x.left</a:t>
            </a:r>
            <a:r>
              <a:rPr sz="1950" b="0" dirty="0">
                <a:solidFill>
                  <a:srgbClr val="142E42"/>
                </a:solidFill>
                <a:latin typeface="Consolas"/>
                <a:ea typeface="Consolas"/>
                <a:cs typeface="Consolas"/>
              </a:rPr>
              <a:t> == null) return </a:t>
            </a:r>
            <a:r>
              <a:rPr sz="1950" b="0" dirty="0" err="1">
                <a:solidFill>
                  <a:srgbClr val="142E42"/>
                </a:solidFill>
                <a:latin typeface="Consolas"/>
                <a:ea typeface="Consolas"/>
                <a:cs typeface="Consolas"/>
              </a:rPr>
              <a:t>x.right</a:t>
            </a:r>
            <a:r>
              <a:rPr sz="1950" b="0" dirty="0">
                <a:solidFill>
                  <a:srgbClr val="142E42"/>
                </a:solidFill>
                <a:latin typeface="Consolas"/>
                <a:ea typeface="Consolas"/>
                <a:cs typeface="Consolas"/>
              </a:rPr>
              <a:t>;</a:t>
            </a:r>
          </a:p>
          <a:p>
            <a:pPr algn="l">
              <a:defRPr sz="1950" b="0">
                <a:solidFill>
                  <a:srgbClr val="142E42"/>
                </a:solidFill>
                <a:latin typeface="Consolas"/>
                <a:ea typeface="Consolas"/>
                <a:cs typeface="Consolas"/>
              </a:defRPr>
            </a:pPr>
            <a:r>
              <a:rPr sz="1950" b="0" dirty="0">
                <a:solidFill>
                  <a:srgbClr val="142E42"/>
                </a:solidFill>
                <a:latin typeface="Consolas"/>
                <a:ea typeface="Consolas"/>
                <a:cs typeface="Consolas"/>
              </a:rPr>
              <a:t>        if (</a:t>
            </a:r>
            <a:r>
              <a:rPr sz="1950" b="0" dirty="0" err="1">
                <a:solidFill>
                  <a:srgbClr val="142E42"/>
                </a:solidFill>
                <a:latin typeface="Consolas"/>
                <a:ea typeface="Consolas"/>
                <a:cs typeface="Consolas"/>
              </a:rPr>
              <a:t>x.right</a:t>
            </a:r>
            <a:r>
              <a:rPr sz="1950" b="0" dirty="0">
                <a:solidFill>
                  <a:srgbClr val="142E42"/>
                </a:solidFill>
                <a:latin typeface="Consolas"/>
                <a:ea typeface="Consolas"/>
                <a:cs typeface="Consolas"/>
              </a:rPr>
              <a:t> == null) return </a:t>
            </a:r>
            <a:r>
              <a:rPr sz="1950" b="0" dirty="0" err="1">
                <a:solidFill>
                  <a:srgbClr val="142E42"/>
                </a:solidFill>
                <a:latin typeface="Consolas"/>
                <a:ea typeface="Consolas"/>
                <a:cs typeface="Consolas"/>
              </a:rPr>
              <a:t>x.left</a:t>
            </a:r>
            <a:r>
              <a:rPr sz="1950" b="0" dirty="0">
                <a:solidFill>
                  <a:srgbClr val="142E42"/>
                </a:solidFill>
                <a:latin typeface="Consolas"/>
                <a:ea typeface="Consolas"/>
                <a:cs typeface="Consolas"/>
              </a:rPr>
              <a:t>;</a:t>
            </a:r>
          </a:p>
          <a:p>
            <a:pPr algn="l">
              <a:defRPr sz="1950" b="0">
                <a:solidFill>
                  <a:srgbClr val="142E42"/>
                </a:solidFill>
                <a:latin typeface="Consolas"/>
                <a:ea typeface="Consolas"/>
                <a:cs typeface="Consolas"/>
              </a:defRPr>
            </a:pPr>
            <a:r>
              <a:rPr sz="1950" b="0" dirty="0">
                <a:solidFill>
                  <a:srgbClr val="142E42"/>
                </a:solidFill>
                <a:latin typeface="Consolas"/>
                <a:ea typeface="Consolas"/>
                <a:cs typeface="Consolas"/>
              </a:rPr>
              <a:t>        </a:t>
            </a:r>
            <a:r>
              <a:rPr sz="1950" b="0" dirty="0" err="1">
                <a:solidFill>
                  <a:srgbClr val="142E42"/>
                </a:solidFill>
                <a:latin typeface="Consolas"/>
                <a:ea typeface="Consolas"/>
                <a:cs typeface="Consolas"/>
              </a:rPr>
              <a:t>x.key</a:t>
            </a:r>
            <a:r>
              <a:rPr sz="1950" b="0" dirty="0">
                <a:solidFill>
                  <a:srgbClr val="142E42"/>
                </a:solidFill>
                <a:latin typeface="Consolas"/>
                <a:ea typeface="Consolas"/>
                <a:cs typeface="Consolas"/>
              </a:rPr>
              <a:t> = min(</a:t>
            </a:r>
            <a:r>
              <a:rPr sz="1950" b="0" dirty="0" err="1">
                <a:solidFill>
                  <a:srgbClr val="142E42"/>
                </a:solidFill>
                <a:latin typeface="Consolas"/>
                <a:ea typeface="Consolas"/>
                <a:cs typeface="Consolas"/>
              </a:rPr>
              <a:t>x.right</a:t>
            </a:r>
            <a:r>
              <a:rPr sz="1950" b="0" dirty="0">
                <a:solidFill>
                  <a:srgbClr val="142E42"/>
                </a:solidFill>
                <a:latin typeface="Consolas"/>
                <a:ea typeface="Consolas"/>
                <a:cs typeface="Consolas"/>
              </a:rPr>
              <a:t>).key;</a:t>
            </a:r>
          </a:p>
          <a:p>
            <a:pPr algn="l">
              <a:defRPr sz="1950" b="0">
                <a:solidFill>
                  <a:srgbClr val="142E42"/>
                </a:solidFill>
                <a:latin typeface="Consolas"/>
                <a:ea typeface="Consolas"/>
                <a:cs typeface="Consolas"/>
              </a:defRPr>
            </a:pPr>
            <a:r>
              <a:rPr sz="1950" b="0" dirty="0">
                <a:solidFill>
                  <a:srgbClr val="142E42"/>
                </a:solidFill>
                <a:latin typeface="Consolas"/>
                <a:ea typeface="Consolas"/>
                <a:cs typeface="Consolas"/>
              </a:rPr>
              <a:t>        </a:t>
            </a:r>
            <a:r>
              <a:rPr sz="1950" b="0" dirty="0" err="1">
                <a:solidFill>
                  <a:srgbClr val="142E42"/>
                </a:solidFill>
                <a:latin typeface="Consolas"/>
                <a:ea typeface="Consolas"/>
                <a:cs typeface="Consolas"/>
              </a:rPr>
              <a:t>x.right</a:t>
            </a:r>
            <a:r>
              <a:rPr sz="1950" b="0" dirty="0">
                <a:solidFill>
                  <a:srgbClr val="142E42"/>
                </a:solidFill>
                <a:latin typeface="Consolas"/>
                <a:ea typeface="Consolas"/>
                <a:cs typeface="Consolas"/>
              </a:rPr>
              <a:t> = </a:t>
            </a:r>
            <a:r>
              <a:rPr sz="1950" b="0" dirty="0" err="1">
                <a:solidFill>
                  <a:srgbClr val="142E42"/>
                </a:solidFill>
                <a:latin typeface="Consolas"/>
                <a:ea typeface="Consolas"/>
                <a:cs typeface="Consolas"/>
              </a:rPr>
              <a:t>deleteMin</a:t>
            </a:r>
            <a:r>
              <a:rPr sz="1950" b="0" dirty="0">
                <a:solidFill>
                  <a:srgbClr val="142E42"/>
                </a:solidFill>
                <a:latin typeface="Consolas"/>
                <a:ea typeface="Consolas"/>
                <a:cs typeface="Consolas"/>
              </a:rPr>
              <a:t>(</a:t>
            </a:r>
            <a:r>
              <a:rPr sz="1950" b="0" dirty="0" err="1">
                <a:solidFill>
                  <a:srgbClr val="142E42"/>
                </a:solidFill>
                <a:latin typeface="Consolas"/>
                <a:ea typeface="Consolas"/>
                <a:cs typeface="Consolas"/>
              </a:rPr>
              <a:t>x.right</a:t>
            </a:r>
            <a:r>
              <a:rPr sz="1950" b="0" dirty="0">
                <a:solidFill>
                  <a:srgbClr val="142E42"/>
                </a:solidFill>
                <a:latin typeface="Consolas"/>
                <a:ea typeface="Consolas"/>
                <a:cs typeface="Consolas"/>
              </a:rPr>
              <a:t>);</a:t>
            </a:r>
          </a:p>
          <a:p>
            <a:pPr algn="l">
              <a:defRPr sz="1950" b="0">
                <a:solidFill>
                  <a:srgbClr val="142E42"/>
                </a:solidFill>
                <a:latin typeface="Consolas"/>
                <a:ea typeface="Consolas"/>
                <a:cs typeface="Consolas"/>
              </a:defRPr>
            </a:pPr>
            <a:r>
              <a:rPr sz="1950" b="0" dirty="0">
                <a:solidFill>
                  <a:srgbClr val="142E42"/>
                </a:solidFill>
                <a:latin typeface="Consolas"/>
                <a:ea typeface="Consolas"/>
                <a:cs typeface="Consolas"/>
              </a:rPr>
              <a:t>    }</a:t>
            </a:r>
          </a:p>
          <a:p>
            <a:pPr algn="l">
              <a:defRPr sz="1950" b="0">
                <a:solidFill>
                  <a:srgbClr val="142E42"/>
                </a:solidFill>
                <a:latin typeface="Consolas"/>
                <a:ea typeface="Consolas"/>
                <a:cs typeface="Consolas"/>
              </a:defRPr>
            </a:pPr>
            <a:r>
              <a:rPr sz="1950" b="0" dirty="0">
                <a:solidFill>
                  <a:srgbClr val="142E42"/>
                </a:solidFill>
                <a:latin typeface="Consolas"/>
                <a:ea typeface="Consolas"/>
                <a:cs typeface="Consolas"/>
              </a:rPr>
              <a:t>    return x;</a:t>
            </a:r>
          </a:p>
          <a:p>
            <a:pPr algn="l">
              <a:defRPr sz="1950" b="0">
                <a:solidFill>
                  <a:srgbClr val="142E42"/>
                </a:solidFill>
                <a:latin typeface="Consolas"/>
                <a:ea typeface="Consolas"/>
                <a:cs typeface="Consolas"/>
              </a:defRPr>
            </a:pPr>
            <a:r>
              <a:rPr sz="1950" b="0" dirty="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67E955C7-F447-4282-8DEF-89966715CCC2}"/>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Each call reconnects the returned subtree root to its parent.</a:t>
            </a:r>
          </a:p>
        </p:txBody>
      </p:sp>
    </p:spTree>
    <p:extLst>
      <p:ext uri="{BB962C8B-B14F-4D97-AF65-F5344CB8AC3E}">
        <p14:creationId xmlns:p14="http://schemas.microsoft.com/office/powerpoint/2010/main" val="21172062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6E182518-B4AD-4EA2-A208-DF7F24F5B84F}"/>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Successor helpers</a:t>
            </a:r>
          </a:p>
        </p:txBody>
      </p:sp>
      <p:sp>
        <p:nvSpPr>
          <p:cNvPr id="2" name="text-1">
            <a:extLst>
              <a:ext uri="{FF2B5EF4-FFF2-40B4-BE49-F238E27FC236}">
                <a16:creationId xmlns:a16="http://schemas.microsoft.com/office/drawing/2014/main" id="{78BE9020-7054-494B-9937-B0179B74687C}"/>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30</a:t>
            </a:r>
          </a:p>
        </p:txBody>
      </p:sp>
      <p:sp>
        <p:nvSpPr>
          <p:cNvPr id="3" name="text-2">
            <a:extLst>
              <a:ext uri="{FF2B5EF4-FFF2-40B4-BE49-F238E27FC236}">
                <a16:creationId xmlns:a16="http://schemas.microsoft.com/office/drawing/2014/main" id="{3C4EB71C-C56A-4109-8034-247FADA5F473}"/>
              </a:ext>
            </a:extLst>
          </p:cNvPr>
          <p:cNvSpPr>
            <a:spLocks noGrp="1"/>
          </p:cNvSpPr>
          <p:nvPr/>
        </p:nvSpPr>
        <p:spPr>
          <a:xfrm>
            <a:off x="609600" y="1619250"/>
            <a:ext cx="10953750" cy="3429000"/>
          </a:xfrm>
          <a:prstGeom prst="rect">
            <a:avLst/>
          </a:prstGeom>
          <a:noFill/>
          <a:ln w="0">
            <a:noFill/>
          </a:ln>
        </p:spPr>
        <p:txBody>
          <a:bodyPr lIns="0" tIns="0" rIns="0" bIns="0" anchor="t"/>
          <a:lstStyle>
            <a:defPPr algn="l">
              <a:defRPr sz="2100" b="0">
                <a:solidFill>
                  <a:srgbClr val="142E42"/>
                </a:solidFill>
                <a:latin typeface="Consolas"/>
                <a:ea typeface="Consolas"/>
                <a:cs typeface="Consolas"/>
              </a:defRPr>
            </a:defPPr>
            <a:lvl1pPr algn="l">
              <a:defRPr sz="2100" b="0">
                <a:solidFill>
                  <a:srgbClr val="142E42"/>
                </a:solidFill>
                <a:latin typeface="Consolas"/>
                <a:ea typeface="Consolas"/>
                <a:cs typeface="Consolas"/>
              </a:defRPr>
            </a:lvl1pPr>
            <a:lvl2pPr algn="l">
              <a:defRPr sz="2100" b="0">
                <a:solidFill>
                  <a:srgbClr val="142E42"/>
                </a:solidFill>
                <a:latin typeface="Consolas"/>
                <a:ea typeface="Consolas"/>
                <a:cs typeface="Consolas"/>
              </a:defRPr>
            </a:lvl2pPr>
            <a:lvl3pPr algn="l">
              <a:defRPr sz="2100" b="0">
                <a:solidFill>
                  <a:srgbClr val="142E42"/>
                </a:solidFill>
                <a:latin typeface="Consolas"/>
                <a:ea typeface="Consolas"/>
                <a:cs typeface="Consolas"/>
              </a:defRPr>
            </a:lvl3pPr>
            <a:lvl4pPr algn="l">
              <a:defRPr sz="2100" b="0">
                <a:solidFill>
                  <a:srgbClr val="142E42"/>
                </a:solidFill>
                <a:latin typeface="Consolas"/>
                <a:ea typeface="Consolas"/>
                <a:cs typeface="Consolas"/>
              </a:defRPr>
            </a:lvl4pPr>
            <a:lvl5pPr algn="l">
              <a:defRPr sz="2100" b="0">
                <a:solidFill>
                  <a:srgbClr val="142E42"/>
                </a:solidFill>
                <a:latin typeface="Consolas"/>
                <a:ea typeface="Consolas"/>
                <a:cs typeface="Consolas"/>
              </a:defRPr>
            </a:lvl5pPr>
            <a:lvl6pPr algn="l">
              <a:defRPr sz="2100" b="0">
                <a:solidFill>
                  <a:srgbClr val="142E42"/>
                </a:solidFill>
                <a:latin typeface="Consolas"/>
                <a:ea typeface="Consolas"/>
                <a:cs typeface="Consolas"/>
              </a:defRPr>
            </a:lvl6pPr>
            <a:lvl7pPr algn="l">
              <a:defRPr sz="2100" b="0">
                <a:solidFill>
                  <a:srgbClr val="142E42"/>
                </a:solidFill>
                <a:latin typeface="Consolas"/>
                <a:ea typeface="Consolas"/>
                <a:cs typeface="Consolas"/>
              </a:defRPr>
            </a:lvl7pPr>
            <a:lvl8pPr algn="l">
              <a:defRPr sz="2100" b="0">
                <a:solidFill>
                  <a:srgbClr val="142E42"/>
                </a:solidFill>
                <a:latin typeface="Consolas"/>
                <a:ea typeface="Consolas"/>
                <a:cs typeface="Consolas"/>
              </a:defRPr>
            </a:lvl8pPr>
            <a:lvl9pPr algn="l">
              <a:defRPr sz="2100" b="0">
                <a:solidFill>
                  <a:srgbClr val="142E42"/>
                </a:solidFill>
                <a:latin typeface="Consolas"/>
                <a:ea typeface="Consolas"/>
                <a:cs typeface="Consolas"/>
              </a:defRPr>
            </a:lvl9pPr>
          </a:lstStyle>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private Node&lt;E&gt; min(Node&lt;E&gt; x) {</a:t>
            </a: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    while (</a:t>
            </a:r>
            <a:r>
              <a:rPr sz="2100" b="0" dirty="0" err="1">
                <a:solidFill>
                  <a:srgbClr val="142E42"/>
                </a:solidFill>
                <a:latin typeface="Consolas"/>
                <a:ea typeface="Consolas"/>
                <a:cs typeface="Consolas"/>
              </a:rPr>
              <a:t>x.left</a:t>
            </a:r>
            <a:r>
              <a:rPr sz="2100" b="0" dirty="0">
                <a:solidFill>
                  <a:srgbClr val="142E42"/>
                </a:solidFill>
                <a:latin typeface="Consolas"/>
                <a:ea typeface="Consolas"/>
                <a:cs typeface="Consolas"/>
              </a:rPr>
              <a:t> != null) x = </a:t>
            </a:r>
            <a:r>
              <a:rPr sz="2100" b="0" dirty="0" err="1">
                <a:solidFill>
                  <a:srgbClr val="142E42"/>
                </a:solidFill>
                <a:latin typeface="Consolas"/>
                <a:ea typeface="Consolas"/>
                <a:cs typeface="Consolas"/>
              </a:rPr>
              <a:t>x.left</a:t>
            </a:r>
            <a:r>
              <a:rPr sz="2100" b="0" dirty="0">
                <a:solidFill>
                  <a:srgbClr val="142E42"/>
                </a:solidFill>
                <a:latin typeface="Consolas"/>
                <a:ea typeface="Consolas"/>
                <a:cs typeface="Consolas"/>
              </a:rPr>
              <a:t>;</a:t>
            </a: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    return x;</a:t>
            </a: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a:t>
            </a:r>
          </a:p>
          <a:p>
            <a:endParaRPr sz="2100" b="0" dirty="0">
              <a:solidFill>
                <a:srgbClr val="142E42"/>
              </a:solidFill>
              <a:latin typeface="Consolas"/>
              <a:ea typeface="Consolas"/>
              <a:cs typeface="Consolas"/>
            </a:endParaRP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private Node&lt;E&gt; </a:t>
            </a:r>
            <a:r>
              <a:rPr sz="2100" b="0" dirty="0" err="1">
                <a:solidFill>
                  <a:srgbClr val="142E42"/>
                </a:solidFill>
                <a:latin typeface="Consolas"/>
                <a:ea typeface="Consolas"/>
                <a:cs typeface="Consolas"/>
              </a:rPr>
              <a:t>deleteMin</a:t>
            </a:r>
            <a:r>
              <a:rPr sz="2100" b="0" dirty="0">
                <a:solidFill>
                  <a:srgbClr val="142E42"/>
                </a:solidFill>
                <a:latin typeface="Consolas"/>
                <a:ea typeface="Consolas"/>
                <a:cs typeface="Consolas"/>
              </a:rPr>
              <a:t>(Node&lt;E&gt; x) {</a:t>
            </a: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    if (</a:t>
            </a:r>
            <a:r>
              <a:rPr sz="2100" b="0" dirty="0" err="1">
                <a:solidFill>
                  <a:srgbClr val="142E42"/>
                </a:solidFill>
                <a:latin typeface="Consolas"/>
                <a:ea typeface="Consolas"/>
                <a:cs typeface="Consolas"/>
              </a:rPr>
              <a:t>x.left</a:t>
            </a:r>
            <a:r>
              <a:rPr sz="2100" b="0" dirty="0">
                <a:solidFill>
                  <a:srgbClr val="142E42"/>
                </a:solidFill>
                <a:latin typeface="Consolas"/>
                <a:ea typeface="Consolas"/>
                <a:cs typeface="Consolas"/>
              </a:rPr>
              <a:t> == null) return </a:t>
            </a:r>
            <a:r>
              <a:rPr sz="2100" b="0" dirty="0" err="1">
                <a:solidFill>
                  <a:srgbClr val="142E42"/>
                </a:solidFill>
                <a:latin typeface="Consolas"/>
                <a:ea typeface="Consolas"/>
                <a:cs typeface="Consolas"/>
              </a:rPr>
              <a:t>x.right</a:t>
            </a:r>
            <a:r>
              <a:rPr sz="2100" b="0" dirty="0">
                <a:solidFill>
                  <a:srgbClr val="142E42"/>
                </a:solidFill>
                <a:latin typeface="Consolas"/>
                <a:ea typeface="Consolas"/>
                <a:cs typeface="Consolas"/>
              </a:rPr>
              <a:t>;</a:t>
            </a: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    </a:t>
            </a:r>
            <a:r>
              <a:rPr sz="2100" b="0" dirty="0" err="1">
                <a:solidFill>
                  <a:srgbClr val="142E42"/>
                </a:solidFill>
                <a:latin typeface="Consolas"/>
                <a:ea typeface="Consolas"/>
                <a:cs typeface="Consolas"/>
              </a:rPr>
              <a:t>x.left</a:t>
            </a:r>
            <a:r>
              <a:rPr sz="2100" b="0" dirty="0">
                <a:solidFill>
                  <a:srgbClr val="142E42"/>
                </a:solidFill>
                <a:latin typeface="Consolas"/>
                <a:ea typeface="Consolas"/>
                <a:cs typeface="Consolas"/>
              </a:rPr>
              <a:t> = </a:t>
            </a:r>
            <a:r>
              <a:rPr sz="2100" b="0" dirty="0" err="1">
                <a:solidFill>
                  <a:srgbClr val="142E42"/>
                </a:solidFill>
                <a:latin typeface="Consolas"/>
                <a:ea typeface="Consolas"/>
                <a:cs typeface="Consolas"/>
              </a:rPr>
              <a:t>deleteMin</a:t>
            </a:r>
            <a:r>
              <a:rPr sz="2100" b="0" dirty="0">
                <a:solidFill>
                  <a:srgbClr val="142E42"/>
                </a:solidFill>
                <a:latin typeface="Consolas"/>
                <a:ea typeface="Consolas"/>
                <a:cs typeface="Consolas"/>
              </a:rPr>
              <a:t>(</a:t>
            </a:r>
            <a:r>
              <a:rPr sz="2100" b="0" dirty="0" err="1">
                <a:solidFill>
                  <a:srgbClr val="142E42"/>
                </a:solidFill>
                <a:latin typeface="Consolas"/>
                <a:ea typeface="Consolas"/>
                <a:cs typeface="Consolas"/>
              </a:rPr>
              <a:t>x.left</a:t>
            </a:r>
            <a:r>
              <a:rPr sz="2100" b="0" dirty="0">
                <a:solidFill>
                  <a:srgbClr val="142E42"/>
                </a:solidFill>
                <a:latin typeface="Consolas"/>
                <a:ea typeface="Consolas"/>
                <a:cs typeface="Consolas"/>
              </a:rPr>
              <a:t>);</a:t>
            </a: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    return x;</a:t>
            </a:r>
          </a:p>
          <a:p>
            <a:pPr algn="l">
              <a:defRPr sz="2100" b="0">
                <a:solidFill>
                  <a:srgbClr val="142E42"/>
                </a:solidFill>
                <a:latin typeface="Consolas"/>
                <a:ea typeface="Consolas"/>
                <a:cs typeface="Consolas"/>
              </a:defRPr>
            </a:pPr>
            <a:r>
              <a:rPr sz="2100" b="0" dirty="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F2924342-AB1E-4B50-B02E-17BEED68FE9B}"/>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The successor has no left child. It may have a right child to reconnect.</a:t>
            </a:r>
          </a:p>
        </p:txBody>
      </p:sp>
    </p:spTree>
    <p:extLst>
      <p:ext uri="{BB962C8B-B14F-4D97-AF65-F5344CB8AC3E}">
        <p14:creationId xmlns:p14="http://schemas.microsoft.com/office/powerpoint/2010/main" val="449836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42831D7D-A579-4CA1-93D4-F9276447343C}"/>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The public deletion method</a:t>
            </a:r>
          </a:p>
        </p:txBody>
      </p:sp>
      <p:sp>
        <p:nvSpPr>
          <p:cNvPr id="2" name="text-1">
            <a:extLst>
              <a:ext uri="{FF2B5EF4-FFF2-40B4-BE49-F238E27FC236}">
                <a16:creationId xmlns:a16="http://schemas.microsoft.com/office/drawing/2014/main" id="{54002ED5-43CF-4C42-8CB5-F1CBE48889FF}"/>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31</a:t>
            </a:r>
          </a:p>
        </p:txBody>
      </p:sp>
      <p:sp>
        <p:nvSpPr>
          <p:cNvPr id="3" name="text-2">
            <a:extLst>
              <a:ext uri="{FF2B5EF4-FFF2-40B4-BE49-F238E27FC236}">
                <a16:creationId xmlns:a16="http://schemas.microsoft.com/office/drawing/2014/main" id="{693BB9C2-4C06-445A-8C2F-EBEE7FACD98D}"/>
              </a:ext>
            </a:extLst>
          </p:cNvPr>
          <p:cNvSpPr>
            <a:spLocks noGrp="1"/>
          </p:cNvSpPr>
          <p:nvPr/>
        </p:nvSpPr>
        <p:spPr>
          <a:xfrm>
            <a:off x="609600" y="1619250"/>
            <a:ext cx="10953750" cy="2667000"/>
          </a:xfrm>
          <a:prstGeom prst="rect">
            <a:avLst/>
          </a:prstGeom>
          <a:noFill/>
          <a:ln w="0">
            <a:noFill/>
          </a:ln>
        </p:spPr>
        <p:txBody>
          <a:bodyPr lIns="0" tIns="0" rIns="0" bIns="0" anchor="t"/>
          <a:lstStyle>
            <a:defPPr algn="l">
              <a:defRPr sz="2175" b="0">
                <a:solidFill>
                  <a:srgbClr val="142E42"/>
                </a:solidFill>
                <a:latin typeface="Consolas"/>
                <a:ea typeface="Consolas"/>
                <a:cs typeface="Consolas"/>
              </a:defRPr>
            </a:defPPr>
            <a:lvl1pPr algn="l">
              <a:defRPr sz="2175" b="0">
                <a:solidFill>
                  <a:srgbClr val="142E42"/>
                </a:solidFill>
                <a:latin typeface="Consolas"/>
                <a:ea typeface="Consolas"/>
                <a:cs typeface="Consolas"/>
              </a:defRPr>
            </a:lvl1pPr>
            <a:lvl2pPr algn="l">
              <a:defRPr sz="2175" b="0">
                <a:solidFill>
                  <a:srgbClr val="142E42"/>
                </a:solidFill>
                <a:latin typeface="Consolas"/>
                <a:ea typeface="Consolas"/>
                <a:cs typeface="Consolas"/>
              </a:defRPr>
            </a:lvl2pPr>
            <a:lvl3pPr algn="l">
              <a:defRPr sz="2175" b="0">
                <a:solidFill>
                  <a:srgbClr val="142E42"/>
                </a:solidFill>
                <a:latin typeface="Consolas"/>
                <a:ea typeface="Consolas"/>
                <a:cs typeface="Consolas"/>
              </a:defRPr>
            </a:lvl3pPr>
            <a:lvl4pPr algn="l">
              <a:defRPr sz="2175" b="0">
                <a:solidFill>
                  <a:srgbClr val="142E42"/>
                </a:solidFill>
                <a:latin typeface="Consolas"/>
                <a:ea typeface="Consolas"/>
                <a:cs typeface="Consolas"/>
              </a:defRPr>
            </a:lvl4pPr>
            <a:lvl5pPr algn="l">
              <a:defRPr sz="2175" b="0">
                <a:solidFill>
                  <a:srgbClr val="142E42"/>
                </a:solidFill>
                <a:latin typeface="Consolas"/>
                <a:ea typeface="Consolas"/>
                <a:cs typeface="Consolas"/>
              </a:defRPr>
            </a:lvl5pPr>
            <a:lvl6pPr algn="l">
              <a:defRPr sz="2175" b="0">
                <a:solidFill>
                  <a:srgbClr val="142E42"/>
                </a:solidFill>
                <a:latin typeface="Consolas"/>
                <a:ea typeface="Consolas"/>
                <a:cs typeface="Consolas"/>
              </a:defRPr>
            </a:lvl6pPr>
            <a:lvl7pPr algn="l">
              <a:defRPr sz="2175" b="0">
                <a:solidFill>
                  <a:srgbClr val="142E42"/>
                </a:solidFill>
                <a:latin typeface="Consolas"/>
                <a:ea typeface="Consolas"/>
                <a:cs typeface="Consolas"/>
              </a:defRPr>
            </a:lvl7pPr>
            <a:lvl8pPr algn="l">
              <a:defRPr sz="2175" b="0">
                <a:solidFill>
                  <a:srgbClr val="142E42"/>
                </a:solidFill>
                <a:latin typeface="Consolas"/>
                <a:ea typeface="Consolas"/>
                <a:cs typeface="Consolas"/>
              </a:defRPr>
            </a:lvl8pPr>
            <a:lvl9pPr algn="l">
              <a:defRPr sz="2175" b="0">
                <a:solidFill>
                  <a:srgbClr val="142E42"/>
                </a:solidFill>
                <a:latin typeface="Consolas"/>
                <a:ea typeface="Consolas"/>
                <a:cs typeface="Consolas"/>
              </a:defRPr>
            </a:lvl9pPr>
          </a:lstStyle>
          <a:p>
            <a:pPr algn="l">
              <a:defRPr sz="2175" b="0">
                <a:solidFill>
                  <a:srgbClr val="142E42"/>
                </a:solidFill>
                <a:latin typeface="Consolas"/>
                <a:ea typeface="Consolas"/>
                <a:cs typeface="Consolas"/>
              </a:defRPr>
            </a:pPr>
            <a:r>
              <a:rPr sz="2175" b="0" dirty="0">
                <a:solidFill>
                  <a:srgbClr val="142E42"/>
                </a:solidFill>
                <a:latin typeface="Consolas"/>
                <a:ea typeface="Consolas"/>
                <a:cs typeface="Consolas"/>
              </a:rPr>
              <a:t>public </a:t>
            </a:r>
            <a:r>
              <a:rPr sz="2175" b="0" dirty="0" err="1">
                <a:solidFill>
                  <a:srgbClr val="142E42"/>
                </a:solidFill>
                <a:latin typeface="Consolas"/>
                <a:ea typeface="Consolas"/>
                <a:cs typeface="Consolas"/>
              </a:rPr>
              <a:t>boolean</a:t>
            </a:r>
            <a:r>
              <a:rPr sz="2175" b="0" dirty="0">
                <a:solidFill>
                  <a:srgbClr val="142E42"/>
                </a:solidFill>
                <a:latin typeface="Consolas"/>
                <a:ea typeface="Consolas"/>
                <a:cs typeface="Consolas"/>
              </a:rPr>
              <a:t> delete(E key) {</a:t>
            </a:r>
          </a:p>
          <a:p>
            <a:pPr algn="l">
              <a:defRPr sz="2175" b="0">
                <a:solidFill>
                  <a:srgbClr val="142E42"/>
                </a:solidFill>
                <a:latin typeface="Consolas"/>
                <a:ea typeface="Consolas"/>
                <a:cs typeface="Consolas"/>
              </a:defRPr>
            </a:pPr>
            <a:r>
              <a:rPr sz="2175" b="0" dirty="0">
                <a:solidFill>
                  <a:srgbClr val="142E42"/>
                </a:solidFill>
                <a:latin typeface="Consolas"/>
                <a:ea typeface="Consolas"/>
                <a:cs typeface="Consolas"/>
              </a:rPr>
              <a:t>    </a:t>
            </a:r>
            <a:r>
              <a:rPr sz="2175" b="0" dirty="0" err="1">
                <a:solidFill>
                  <a:srgbClr val="142E42"/>
                </a:solidFill>
                <a:latin typeface="Consolas"/>
                <a:ea typeface="Consolas"/>
                <a:cs typeface="Consolas"/>
              </a:rPr>
              <a:t>Objects.requireNonNull</a:t>
            </a:r>
            <a:r>
              <a:rPr sz="2175" b="0" dirty="0">
                <a:solidFill>
                  <a:srgbClr val="142E42"/>
                </a:solidFill>
                <a:latin typeface="Consolas"/>
                <a:ea typeface="Consolas"/>
                <a:cs typeface="Consolas"/>
              </a:rPr>
              <a:t>(key);</a:t>
            </a:r>
          </a:p>
          <a:p>
            <a:pPr algn="l">
              <a:defRPr sz="2175" b="0">
                <a:solidFill>
                  <a:srgbClr val="142E42"/>
                </a:solidFill>
                <a:latin typeface="Consolas"/>
                <a:ea typeface="Consolas"/>
                <a:cs typeface="Consolas"/>
              </a:defRPr>
            </a:pPr>
            <a:r>
              <a:rPr sz="2175" b="0" dirty="0">
                <a:solidFill>
                  <a:srgbClr val="142E42"/>
                </a:solidFill>
                <a:latin typeface="Consolas"/>
                <a:ea typeface="Consolas"/>
                <a:cs typeface="Consolas"/>
              </a:rPr>
              <a:t>    if (!contains(key)) return false;</a:t>
            </a:r>
          </a:p>
          <a:p>
            <a:pPr algn="l">
              <a:defRPr sz="2175" b="0">
                <a:solidFill>
                  <a:srgbClr val="142E42"/>
                </a:solidFill>
                <a:latin typeface="Consolas"/>
                <a:ea typeface="Consolas"/>
                <a:cs typeface="Consolas"/>
              </a:defRPr>
            </a:pPr>
            <a:r>
              <a:rPr sz="2175" b="0" dirty="0">
                <a:solidFill>
                  <a:srgbClr val="142E42"/>
                </a:solidFill>
                <a:latin typeface="Consolas"/>
                <a:ea typeface="Consolas"/>
                <a:cs typeface="Consolas"/>
              </a:rPr>
              <a:t>    root = delete(root, key);</a:t>
            </a:r>
          </a:p>
          <a:p>
            <a:pPr algn="l">
              <a:defRPr sz="2175" b="0">
                <a:solidFill>
                  <a:srgbClr val="142E42"/>
                </a:solidFill>
                <a:latin typeface="Consolas"/>
                <a:ea typeface="Consolas"/>
                <a:cs typeface="Consolas"/>
              </a:defRPr>
            </a:pPr>
            <a:r>
              <a:rPr sz="2175" b="0" dirty="0">
                <a:solidFill>
                  <a:srgbClr val="142E42"/>
                </a:solidFill>
                <a:latin typeface="Consolas"/>
                <a:ea typeface="Consolas"/>
                <a:cs typeface="Consolas"/>
              </a:rPr>
              <a:t>    size--;</a:t>
            </a:r>
          </a:p>
          <a:p>
            <a:pPr algn="l">
              <a:defRPr sz="2175" b="0">
                <a:solidFill>
                  <a:srgbClr val="142E42"/>
                </a:solidFill>
                <a:latin typeface="Consolas"/>
                <a:ea typeface="Consolas"/>
                <a:cs typeface="Consolas"/>
              </a:defRPr>
            </a:pPr>
            <a:r>
              <a:rPr sz="2175" b="0" dirty="0">
                <a:solidFill>
                  <a:srgbClr val="142E42"/>
                </a:solidFill>
                <a:latin typeface="Consolas"/>
                <a:ea typeface="Consolas"/>
                <a:cs typeface="Consolas"/>
              </a:rPr>
              <a:t>    return true;</a:t>
            </a:r>
          </a:p>
          <a:p>
            <a:pPr algn="l">
              <a:defRPr sz="2175" b="0">
                <a:solidFill>
                  <a:srgbClr val="142E42"/>
                </a:solidFill>
                <a:latin typeface="Consolas"/>
                <a:ea typeface="Consolas"/>
                <a:cs typeface="Consolas"/>
              </a:defRPr>
            </a:pPr>
            <a:r>
              <a:rPr sz="2175" b="0" dirty="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B94F9713-10E7-4C1A-8DAA-5FB54CBF11AA}"/>
              </a:ext>
            </a:extLst>
          </p:cNvPr>
          <p:cNvSpPr>
            <a:spLocks noGrp="1"/>
          </p:cNvSpPr>
          <p:nvPr/>
        </p:nvSpPr>
        <p:spPr>
          <a:xfrm>
            <a:off x="609600" y="4619625"/>
            <a:ext cx="10858500" cy="1143000"/>
          </a:xfrm>
          <a:prstGeom prst="rect">
            <a:avLst/>
          </a:prstGeom>
          <a:noFill/>
          <a:ln w="0">
            <a:noFill/>
          </a:ln>
        </p:spPr>
        <p:txBody>
          <a:bodyPr lIns="0" tIns="0" rIns="0" bIns="0" anchor="t"/>
          <a:lstStyle>
            <a:defPPr algn="l">
              <a:defRPr sz="2025" b="0">
                <a:solidFill>
                  <a:srgbClr val="142E42"/>
                </a:solidFill>
                <a:latin typeface="Arial"/>
                <a:ea typeface="Arial"/>
                <a:cs typeface="Arial"/>
              </a:defRPr>
            </a:defPPr>
            <a:lvl1pPr algn="l">
              <a:defRPr sz="2025" b="0">
                <a:solidFill>
                  <a:srgbClr val="142E42"/>
                </a:solidFill>
                <a:latin typeface="Arial"/>
                <a:ea typeface="Arial"/>
                <a:cs typeface="Arial"/>
              </a:defRPr>
            </a:lvl1pPr>
            <a:lvl2pPr algn="l">
              <a:defRPr sz="2025" b="0">
                <a:solidFill>
                  <a:srgbClr val="142E42"/>
                </a:solidFill>
                <a:latin typeface="Arial"/>
                <a:ea typeface="Arial"/>
                <a:cs typeface="Arial"/>
              </a:defRPr>
            </a:lvl2pPr>
            <a:lvl3pPr algn="l">
              <a:defRPr sz="2025" b="0">
                <a:solidFill>
                  <a:srgbClr val="142E42"/>
                </a:solidFill>
                <a:latin typeface="Arial"/>
                <a:ea typeface="Arial"/>
                <a:cs typeface="Arial"/>
              </a:defRPr>
            </a:lvl3pPr>
            <a:lvl4pPr algn="l">
              <a:defRPr sz="2025" b="0">
                <a:solidFill>
                  <a:srgbClr val="142E42"/>
                </a:solidFill>
                <a:latin typeface="Arial"/>
                <a:ea typeface="Arial"/>
                <a:cs typeface="Arial"/>
              </a:defRPr>
            </a:lvl4pPr>
            <a:lvl5pPr algn="l">
              <a:defRPr sz="2025" b="0">
                <a:solidFill>
                  <a:srgbClr val="142E42"/>
                </a:solidFill>
                <a:latin typeface="Arial"/>
                <a:ea typeface="Arial"/>
                <a:cs typeface="Arial"/>
              </a:defRPr>
            </a:lvl5pPr>
            <a:lvl6pPr algn="l">
              <a:defRPr sz="2025" b="0">
                <a:solidFill>
                  <a:srgbClr val="142E42"/>
                </a:solidFill>
                <a:latin typeface="Arial"/>
                <a:ea typeface="Arial"/>
                <a:cs typeface="Arial"/>
              </a:defRPr>
            </a:lvl6pPr>
            <a:lvl7pPr algn="l">
              <a:defRPr sz="2025" b="0">
                <a:solidFill>
                  <a:srgbClr val="142E42"/>
                </a:solidFill>
                <a:latin typeface="Arial"/>
                <a:ea typeface="Arial"/>
                <a:cs typeface="Arial"/>
              </a:defRPr>
            </a:lvl7pPr>
            <a:lvl8pPr algn="l">
              <a:defRPr sz="2025" b="0">
                <a:solidFill>
                  <a:srgbClr val="142E42"/>
                </a:solidFill>
                <a:latin typeface="Arial"/>
                <a:ea typeface="Arial"/>
                <a:cs typeface="Arial"/>
              </a:defRPr>
            </a:lvl8pPr>
            <a:lvl9pPr algn="l">
              <a:defRPr sz="2025" b="0">
                <a:solidFill>
                  <a:srgbClr val="142E42"/>
                </a:solidFill>
                <a:latin typeface="Arial"/>
                <a:ea typeface="Arial"/>
                <a:cs typeface="Arial"/>
              </a:defRPr>
            </a:lvl9pPr>
          </a:lstStyle>
          <a:p>
            <a:pPr algn="l">
              <a:defRPr sz="2025" b="0">
                <a:solidFill>
                  <a:srgbClr val="142E42"/>
                </a:solidFill>
                <a:latin typeface="Arial"/>
                <a:ea typeface="Arial"/>
                <a:cs typeface="Arial"/>
              </a:defRPr>
            </a:pPr>
            <a:r>
              <a:rPr sz="2025" b="0">
                <a:solidFill>
                  <a:srgbClr val="142E42"/>
                </a:solidFill>
                <a:latin typeface="Arial"/>
                <a:ea typeface="Arial"/>
                <a:cs typeface="Arial"/>
              </a:rPr>
              <a:t>The preliminary search keeps size bookkeeping simple.</a:t>
            </a:r>
          </a:p>
          <a:p>
            <a:pPr algn="l">
              <a:defRPr sz="2025" b="0">
                <a:solidFill>
                  <a:srgbClr val="142E42"/>
                </a:solidFill>
                <a:latin typeface="Arial"/>
                <a:ea typeface="Arial"/>
                <a:cs typeface="Arial"/>
              </a:defRPr>
            </a:pPr>
            <a:r>
              <a:rPr sz="2025" b="0">
                <a:solidFill>
                  <a:srgbClr val="142E42"/>
                </a:solidFill>
                <a:latin typeface="Arial"/>
                <a:ea typeface="Arial"/>
                <a:cs typeface="Arial"/>
              </a:rPr>
              <a:t>A later optimization can combine search and deletion.</a:t>
            </a:r>
          </a:p>
          <a:p>
            <a:pPr algn="l">
              <a:defRPr sz="2025" b="0">
                <a:solidFill>
                  <a:srgbClr val="142E42"/>
                </a:solidFill>
                <a:latin typeface="Arial"/>
                <a:ea typeface="Arial"/>
                <a:cs typeface="Arial"/>
              </a:defRPr>
            </a:pPr>
            <a:r>
              <a:rPr sz="2025" b="0">
                <a:solidFill>
                  <a:srgbClr val="142E42"/>
                </a:solidFill>
                <a:latin typeface="Arial"/>
                <a:ea typeface="Arial"/>
                <a:cs typeface="Arial"/>
              </a:rPr>
              <a:t>Both versions take O(h + 1) time.</a:t>
            </a:r>
          </a:p>
        </p:txBody>
      </p:sp>
    </p:spTree>
    <p:extLst>
      <p:ext uri="{BB962C8B-B14F-4D97-AF65-F5344CB8AC3E}">
        <p14:creationId xmlns:p14="http://schemas.microsoft.com/office/powerpoint/2010/main" val="19169272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FE2ABB4B-FAE9-438E-BFF5-280C4863384F}"/>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An inorder iterator</a:t>
            </a:r>
          </a:p>
        </p:txBody>
      </p:sp>
      <p:sp>
        <p:nvSpPr>
          <p:cNvPr id="2" name="text-1">
            <a:extLst>
              <a:ext uri="{FF2B5EF4-FFF2-40B4-BE49-F238E27FC236}">
                <a16:creationId xmlns:a16="http://schemas.microsoft.com/office/drawing/2014/main" id="{259D1B03-66AB-4047-BC19-FDD1A5648C93}"/>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32</a:t>
            </a:r>
          </a:p>
        </p:txBody>
      </p:sp>
      <p:sp>
        <p:nvSpPr>
          <p:cNvPr id="3" name="text-2">
            <a:extLst>
              <a:ext uri="{FF2B5EF4-FFF2-40B4-BE49-F238E27FC236}">
                <a16:creationId xmlns:a16="http://schemas.microsoft.com/office/drawing/2014/main" id="{0FD476F6-6CB5-4998-BC1D-D2D21DF6000F}"/>
              </a:ext>
            </a:extLst>
          </p:cNvPr>
          <p:cNvSpPr>
            <a:spLocks noGrp="1"/>
          </p:cNvSpPr>
          <p:nvPr/>
        </p:nvSpPr>
        <p:spPr>
          <a:xfrm>
            <a:off x="609600" y="1571625"/>
            <a:ext cx="10810875" cy="4143375"/>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defRPr sz="2175" b="0">
                <a:solidFill>
                  <a:srgbClr val="142E42"/>
                </a:solidFill>
                <a:latin typeface="Arial"/>
                <a:ea typeface="Arial"/>
                <a:cs typeface="Arial"/>
              </a:defRPr>
            </a:lvl1pPr>
            <a:lvl2pPr algn="l">
              <a:defRPr sz="2175" b="0">
                <a:solidFill>
                  <a:srgbClr val="142E42"/>
                </a:solidFill>
                <a:latin typeface="Arial"/>
                <a:ea typeface="Arial"/>
                <a:cs typeface="Arial"/>
              </a:defRPr>
            </a:lvl2pPr>
            <a:lvl3pPr algn="l">
              <a:defRPr sz="2175" b="0">
                <a:solidFill>
                  <a:srgbClr val="142E42"/>
                </a:solidFill>
                <a:latin typeface="Arial"/>
                <a:ea typeface="Arial"/>
                <a:cs typeface="Arial"/>
              </a:defRPr>
            </a:lvl3pPr>
            <a:lvl4pPr algn="l">
              <a:defRPr sz="2175" b="0">
                <a:solidFill>
                  <a:srgbClr val="142E42"/>
                </a:solidFill>
                <a:latin typeface="Arial"/>
                <a:ea typeface="Arial"/>
                <a:cs typeface="Arial"/>
              </a:defRPr>
            </a:lvl4pPr>
            <a:lvl5pPr algn="l">
              <a:defRPr sz="2175" b="0">
                <a:solidFill>
                  <a:srgbClr val="142E42"/>
                </a:solidFill>
                <a:latin typeface="Arial"/>
                <a:ea typeface="Arial"/>
                <a:cs typeface="Arial"/>
              </a:defRPr>
            </a:lvl5pPr>
            <a:lvl6pPr algn="l">
              <a:defRPr sz="2175" b="0">
                <a:solidFill>
                  <a:srgbClr val="142E42"/>
                </a:solidFill>
                <a:latin typeface="Arial"/>
                <a:ea typeface="Arial"/>
                <a:cs typeface="Arial"/>
              </a:defRPr>
            </a:lvl6pPr>
            <a:lvl7pPr algn="l">
              <a:defRPr sz="2175" b="0">
                <a:solidFill>
                  <a:srgbClr val="142E42"/>
                </a:solidFill>
                <a:latin typeface="Arial"/>
                <a:ea typeface="Arial"/>
                <a:cs typeface="Arial"/>
              </a:defRPr>
            </a:lvl7pPr>
            <a:lvl8pPr algn="l">
              <a:defRPr sz="2175" b="0">
                <a:solidFill>
                  <a:srgbClr val="142E42"/>
                </a:solidFill>
                <a:latin typeface="Arial"/>
                <a:ea typeface="Arial"/>
                <a:cs typeface="Arial"/>
              </a:defRPr>
            </a:lvl8pPr>
            <a:lvl9pPr algn="l">
              <a:defRPr sz="2175" b="0">
                <a:solidFill>
                  <a:srgbClr val="142E42"/>
                </a:solidFill>
                <a:latin typeface="Arial"/>
                <a:ea typeface="Arial"/>
                <a:cs typeface="Arial"/>
              </a:defRPr>
            </a:lvl9pPr>
          </a:lstStyle>
          <a:p>
            <a:pPr algn="l">
              <a:defRPr sz="2175" b="0">
                <a:solidFill>
                  <a:srgbClr val="142E42"/>
                </a:solidFill>
                <a:latin typeface="Arial"/>
                <a:ea typeface="Arial"/>
                <a:cs typeface="Arial"/>
              </a:defRPr>
            </a:pPr>
            <a:r>
              <a:rPr sz="2175" b="0" dirty="0">
                <a:solidFill>
                  <a:srgbClr val="142E42"/>
                </a:solidFill>
                <a:latin typeface="Arial"/>
                <a:ea typeface="Arial"/>
                <a:cs typeface="Arial"/>
              </a:rPr>
              <a:t>An iterator exposes </a:t>
            </a:r>
            <a:r>
              <a:rPr sz="2175" b="0" dirty="0" err="1">
                <a:solidFill>
                  <a:srgbClr val="142E42"/>
                </a:solidFill>
                <a:latin typeface="Arial"/>
                <a:ea typeface="Arial"/>
                <a:cs typeface="Arial"/>
              </a:rPr>
              <a:t>hasNext</a:t>
            </a:r>
            <a:r>
              <a:rPr sz="2175" b="0" dirty="0">
                <a:solidFill>
                  <a:srgbClr val="142E42"/>
                </a:solidFill>
                <a:latin typeface="Arial"/>
                <a:ea typeface="Arial"/>
                <a:cs typeface="Arial"/>
              </a:rPr>
              <a:t>() and next().</a:t>
            </a:r>
          </a:p>
          <a:p>
            <a:endParaRPr sz="2175" b="0" dirty="0">
              <a:solidFill>
                <a:srgbClr val="142E42"/>
              </a:solidFill>
              <a:latin typeface="Arial"/>
              <a:ea typeface="Arial"/>
              <a:cs typeface="Arial"/>
            </a:endParaRPr>
          </a:p>
          <a:p>
            <a:pPr algn="l">
              <a:defRPr sz="2175" b="0">
                <a:solidFill>
                  <a:srgbClr val="142E42"/>
                </a:solidFill>
                <a:latin typeface="Arial"/>
                <a:ea typeface="Arial"/>
                <a:cs typeface="Arial"/>
              </a:defRPr>
            </a:pPr>
            <a:r>
              <a:rPr sz="2175" b="0" dirty="0">
                <a:solidFill>
                  <a:srgbClr val="142E42"/>
                </a:solidFill>
                <a:latin typeface="Arial"/>
                <a:ea typeface="Arial"/>
                <a:cs typeface="Arial"/>
              </a:rPr>
              <a:t>A lazy </a:t>
            </a:r>
            <a:r>
              <a:rPr sz="2175" b="0" dirty="0" err="1">
                <a:solidFill>
                  <a:srgbClr val="142E42"/>
                </a:solidFill>
                <a:latin typeface="Arial"/>
                <a:ea typeface="Arial"/>
                <a:cs typeface="Arial"/>
              </a:rPr>
              <a:t>inorder</a:t>
            </a:r>
            <a:r>
              <a:rPr sz="2175" b="0" dirty="0">
                <a:solidFill>
                  <a:srgbClr val="142E42"/>
                </a:solidFill>
                <a:latin typeface="Arial"/>
                <a:ea typeface="Arial"/>
                <a:cs typeface="Arial"/>
              </a:rPr>
              <a:t> iterator keeps a stack of ancestors.</a:t>
            </a:r>
          </a:p>
          <a:p>
            <a:pPr algn="l">
              <a:defRPr sz="2175" b="0">
                <a:solidFill>
                  <a:srgbClr val="142E42"/>
                </a:solidFill>
                <a:latin typeface="Arial"/>
                <a:ea typeface="Arial"/>
                <a:cs typeface="Arial"/>
              </a:defRPr>
            </a:pPr>
            <a:r>
              <a:rPr sz="2175" b="0" dirty="0">
                <a:solidFill>
                  <a:srgbClr val="142E42"/>
                </a:solidFill>
                <a:latin typeface="Arial"/>
                <a:ea typeface="Arial"/>
                <a:cs typeface="Arial"/>
              </a:rPr>
              <a:t>Initially, push the path from root to the leftmost node.</a:t>
            </a:r>
          </a:p>
          <a:p>
            <a:endParaRPr sz="2175" b="0" dirty="0">
              <a:solidFill>
                <a:srgbClr val="142E42"/>
              </a:solidFill>
              <a:latin typeface="Arial"/>
              <a:ea typeface="Arial"/>
              <a:cs typeface="Arial"/>
            </a:endParaRPr>
          </a:p>
          <a:p>
            <a:pPr algn="l">
              <a:defRPr sz="2175" b="0">
                <a:solidFill>
                  <a:srgbClr val="142E42"/>
                </a:solidFill>
                <a:latin typeface="Arial"/>
                <a:ea typeface="Arial"/>
                <a:cs typeface="Arial"/>
              </a:defRPr>
            </a:pPr>
            <a:r>
              <a:rPr sz="2175" b="0" dirty="0">
                <a:solidFill>
                  <a:srgbClr val="142E42"/>
                </a:solidFill>
                <a:latin typeface="Arial"/>
                <a:ea typeface="Arial"/>
                <a:cs typeface="Arial"/>
              </a:rPr>
              <a:t>On next(), pop a node and return its key.</a:t>
            </a:r>
          </a:p>
          <a:p>
            <a:pPr algn="l">
              <a:defRPr sz="2175" b="0">
                <a:solidFill>
                  <a:srgbClr val="142E42"/>
                </a:solidFill>
                <a:latin typeface="Arial"/>
                <a:ea typeface="Arial"/>
                <a:cs typeface="Arial"/>
              </a:defRPr>
            </a:pPr>
            <a:r>
              <a:rPr sz="2175" b="0" dirty="0">
                <a:solidFill>
                  <a:srgbClr val="142E42"/>
                </a:solidFill>
                <a:latin typeface="Arial"/>
                <a:ea typeface="Arial"/>
                <a:cs typeface="Arial"/>
              </a:rPr>
              <a:t>Push the leftmost path in that node’s right subtree.</a:t>
            </a:r>
          </a:p>
          <a:p>
            <a:endParaRPr sz="2175" b="0" dirty="0">
              <a:solidFill>
                <a:srgbClr val="142E42"/>
              </a:solidFill>
              <a:latin typeface="Arial"/>
              <a:ea typeface="Arial"/>
              <a:cs typeface="Arial"/>
            </a:endParaRPr>
          </a:p>
          <a:p>
            <a:pPr algn="l">
              <a:defRPr sz="2175" b="0">
                <a:solidFill>
                  <a:srgbClr val="142E42"/>
                </a:solidFill>
                <a:latin typeface="Arial"/>
                <a:ea typeface="Arial"/>
                <a:cs typeface="Arial"/>
              </a:defRPr>
            </a:pPr>
            <a:r>
              <a:rPr sz="2175" b="0" dirty="0">
                <a:solidFill>
                  <a:srgbClr val="142E42"/>
                </a:solidFill>
                <a:latin typeface="Arial"/>
                <a:ea typeface="Arial"/>
                <a:cs typeface="Arial"/>
              </a:rPr>
              <a:t>Across n calls, total time is O(n) with O(h + 1) stack space.</a:t>
            </a:r>
          </a:p>
        </p:txBody>
      </p:sp>
      <p:sp>
        <p:nvSpPr>
          <p:cNvPr id="4" name="text-3">
            <a:extLst>
              <a:ext uri="{FF2B5EF4-FFF2-40B4-BE49-F238E27FC236}">
                <a16:creationId xmlns:a16="http://schemas.microsoft.com/office/drawing/2014/main" id="{F615A56C-D373-4622-A7EA-33F82624D13A}"/>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Exercise: handle an exhausted iterator with NoSuchElementException.</a:t>
            </a:r>
          </a:p>
        </p:txBody>
      </p:sp>
    </p:spTree>
    <p:extLst>
      <p:ext uri="{BB962C8B-B14F-4D97-AF65-F5344CB8AC3E}">
        <p14:creationId xmlns:p14="http://schemas.microsoft.com/office/powerpoint/2010/main" val="1673784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91AF823B-7EE4-4874-BDD5-B9EE2B57CFF7}"/>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Height determines operation cost</a:t>
            </a:r>
          </a:p>
        </p:txBody>
      </p:sp>
      <p:sp>
        <p:nvSpPr>
          <p:cNvPr id="2" name="text-1">
            <a:extLst>
              <a:ext uri="{FF2B5EF4-FFF2-40B4-BE49-F238E27FC236}">
                <a16:creationId xmlns:a16="http://schemas.microsoft.com/office/drawing/2014/main" id="{A637FC2F-BDA8-47C9-B254-BBAED3D790C2}"/>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33</a:t>
            </a:r>
          </a:p>
        </p:txBody>
      </p:sp>
      <p:graphicFrame>
        <p:nvGraphicFramePr>
          <p:cNvPr id="3" name="Table 2">
            <a:extLst>
              <a:ext uri="{FF2B5EF4-FFF2-40B4-BE49-F238E27FC236}">
                <a16:creationId xmlns:a16="http://schemas.microsoft.com/office/drawing/2014/main" id="{1600E480-B79A-4B10-8C6A-6E4FAA93EC1F}"/>
              </a:ext>
            </a:extLst>
          </p:cNvPr>
          <p:cNvGraphicFramePr/>
          <p:nvPr/>
        </p:nvGraphicFramePr>
        <p:xfrm>
          <a:off x="609600" y="1638300"/>
          <a:ext cx="10972800" cy="3238500"/>
        </p:xfrm>
        <a:graphic>
          <a:graphicData uri="http://schemas.openxmlformats.org/drawingml/2006/table">
            <a:tbl>
              <a:tblPr/>
              <a:tblGrid>
                <a:gridCol w="4619625">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3448050">
                  <a:extLst>
                    <a:ext uri="{9D8B030D-6E8A-4147-A177-3AD203B41FA5}">
                      <a16:colId xmlns:a16="http://schemas.microsoft.com/office/drawing/2014/main" val="20002"/>
                    </a:ext>
                  </a:extLst>
                </a:gridCol>
              </a:tblGrid>
              <a:tr h="809625">
                <a:tc>
                  <a:txBody>
                    <a:bodyPr/>
                    <a:lstStyle/>
                    <a:p>
                      <a:r>
                        <a:rPr sz="1875" b="1">
                          <a:solidFill>
                            <a:srgbClr val="FFFFFF"/>
                          </a:solidFill>
                          <a:latin typeface="Arial"/>
                          <a:ea typeface="Arial"/>
                          <a:cs typeface="Arial"/>
                        </a:rPr>
                        <a:t>Operation</a:t>
                      </a:r>
                    </a:p>
                  </a:txBody>
                  <a:tcPr>
                    <a:lnL w="9525">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tc>
                  <a:txBody>
                    <a:bodyPr/>
                    <a:lstStyle/>
                    <a:p>
                      <a:r>
                        <a:rPr sz="1875" b="1">
                          <a:solidFill>
                            <a:srgbClr val="FFFFFF"/>
                          </a:solidFill>
                          <a:latin typeface="Arial"/>
                          <a:ea typeface="Arial"/>
                          <a:cs typeface="Arial"/>
                        </a:rPr>
                        <a:t>General BST</a:t>
                      </a:r>
                    </a:p>
                  </a:txBody>
                  <a:tcPr>
                    <a:lnL w="9525" cap="flat" cmpd="sng" algn="ctr">
                      <a:solidFill>
                        <a:srgbClr val="D6E1E6"/>
                      </a:solidFill>
                      <a:prstDash val="solid"/>
                      <a:round/>
                      <a:headEnd type="none" w="med" len="med"/>
                      <a:tailEnd type="none" w="med" len="me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tc>
                  <a:txBody>
                    <a:bodyPr/>
                    <a:lstStyle/>
                    <a:p>
                      <a:r>
                        <a:rPr sz="1875" b="1">
                          <a:solidFill>
                            <a:srgbClr val="FFFFFF"/>
                          </a:solidFill>
                          <a:latin typeface="Arial"/>
                          <a:ea typeface="Arial"/>
                          <a:cs typeface="Arial"/>
                        </a:rPr>
                        <a:t>If height is O(log n)</a:t>
                      </a:r>
                    </a:p>
                  </a:txBody>
                  <a:tcPr>
                    <a:lnL w="9525" cap="flat" cmpd="sng" algn="ctr">
                      <a:solidFill>
                        <a:srgbClr val="D6E1E6"/>
                      </a:solidFill>
                      <a:prstDash val="solid"/>
                      <a:round/>
                      <a:headEnd type="none" w="med" len="med"/>
                      <a:tailEnd type="none" w="med" len="me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extLst>
                  <a:ext uri="{0D108BD9-81ED-4DB2-BD59-A6C34878D82A}">
                    <a16:rowId xmlns:a16="http://schemas.microsoft.com/office/drawing/2014/main" val="10000"/>
                  </a:ext>
                </a:extLst>
              </a:tr>
              <a:tr h="809625">
                <a:tc>
                  <a:txBody>
                    <a:bodyPr/>
                    <a:lstStyle/>
                    <a:p>
                      <a:r>
                        <a:rPr sz="1875" b="0">
                          <a:solidFill>
                            <a:srgbClr val="142E42"/>
                          </a:solidFill>
                          <a:latin typeface="Arial"/>
                          <a:ea typeface="Arial"/>
                          <a:cs typeface="Arial"/>
                        </a:rPr>
                        <a:t>Search, insert, delete</a:t>
                      </a:r>
                    </a:p>
                  </a:txBody>
                  <a:tcPr>
                    <a:lnL w="9525">
                      <a:solidFill>
                        <a:srgbClr val="D6E1E6"/>
                      </a:solidFill>
                      <a:prstDash val="soli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tc>
                  <a:txBody>
                    <a:bodyPr/>
                    <a:lstStyle/>
                    <a:p>
                      <a:r>
                        <a:rPr sz="1875" b="0">
                          <a:solidFill>
                            <a:srgbClr val="142E42"/>
                          </a:solidFill>
                          <a:latin typeface="Arial"/>
                          <a:ea typeface="Arial"/>
                          <a:cs typeface="Arial"/>
                        </a:rPr>
                        <a:t>O(h + 1)</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tc>
                  <a:txBody>
                    <a:bodyPr/>
                    <a:lstStyle/>
                    <a:p>
                      <a:r>
                        <a:rPr sz="1875" b="0">
                          <a:solidFill>
                            <a:srgbClr val="142E42"/>
                          </a:solidFill>
                          <a:latin typeface="Arial"/>
                          <a:ea typeface="Arial"/>
                          <a:cs typeface="Arial"/>
                        </a:rPr>
                        <a:t>O(log n)</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extLst>
                  <a:ext uri="{0D108BD9-81ED-4DB2-BD59-A6C34878D82A}">
                    <a16:rowId xmlns:a16="http://schemas.microsoft.com/office/drawing/2014/main" val="10001"/>
                  </a:ext>
                </a:extLst>
              </a:tr>
              <a:tr h="809625">
                <a:tc>
                  <a:txBody>
                    <a:bodyPr/>
                    <a:lstStyle/>
                    <a:p>
                      <a:r>
                        <a:rPr sz="1875" b="0">
                          <a:solidFill>
                            <a:srgbClr val="142E42"/>
                          </a:solidFill>
                          <a:latin typeface="Arial"/>
                          <a:ea typeface="Arial"/>
                          <a:cs typeface="Arial"/>
                        </a:rPr>
                        <a:t>Minimum, maximum</a:t>
                      </a:r>
                    </a:p>
                  </a:txBody>
                  <a:tcPr>
                    <a:lnL w="9525">
                      <a:solidFill>
                        <a:srgbClr val="D6E1E6"/>
                      </a:solidFill>
                      <a:prstDash val="soli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FFFFFF"/>
                    </a:solidFill>
                  </a:tcPr>
                </a:tc>
                <a:tc>
                  <a:txBody>
                    <a:bodyPr/>
                    <a:lstStyle/>
                    <a:p>
                      <a:r>
                        <a:rPr sz="1875" b="0">
                          <a:solidFill>
                            <a:srgbClr val="142E42"/>
                          </a:solidFill>
                          <a:latin typeface="Arial"/>
                          <a:ea typeface="Arial"/>
                          <a:cs typeface="Arial"/>
                        </a:rPr>
                        <a:t>O(h + 1)</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FFFFFF"/>
                    </a:solidFill>
                  </a:tcPr>
                </a:tc>
                <a:tc>
                  <a:txBody>
                    <a:bodyPr/>
                    <a:lstStyle/>
                    <a:p>
                      <a:r>
                        <a:rPr sz="1875" b="0">
                          <a:solidFill>
                            <a:srgbClr val="142E42"/>
                          </a:solidFill>
                          <a:latin typeface="Arial"/>
                          <a:ea typeface="Arial"/>
                          <a:cs typeface="Arial"/>
                        </a:rPr>
                        <a:t>O(log n)</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FFFFFF"/>
                    </a:solidFill>
                  </a:tcPr>
                </a:tc>
                <a:extLst>
                  <a:ext uri="{0D108BD9-81ED-4DB2-BD59-A6C34878D82A}">
                    <a16:rowId xmlns:a16="http://schemas.microsoft.com/office/drawing/2014/main" val="10002"/>
                  </a:ext>
                </a:extLst>
              </a:tr>
              <a:tr h="809625">
                <a:tc>
                  <a:txBody>
                    <a:bodyPr/>
                    <a:lstStyle/>
                    <a:p>
                      <a:r>
                        <a:rPr sz="1875" b="0">
                          <a:solidFill>
                            <a:srgbClr val="142E42"/>
                          </a:solidFill>
                          <a:latin typeface="Arial"/>
                          <a:ea typeface="Arial"/>
                          <a:cs typeface="Arial"/>
                        </a:rPr>
                        <a:t>Full traversal</a:t>
                      </a:r>
                    </a:p>
                  </a:txBody>
                  <a:tcPr>
                    <a:lnL w="9525">
                      <a:solidFill>
                        <a:srgbClr val="D6E1E6"/>
                      </a:solidFill>
                      <a:prstDash val="soli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tc>
                  <a:txBody>
                    <a:bodyPr/>
                    <a:lstStyle/>
                    <a:p>
                      <a:r>
                        <a:rPr sz="1875" b="0">
                          <a:solidFill>
                            <a:srgbClr val="142E42"/>
                          </a:solidFill>
                          <a:latin typeface="Arial"/>
                          <a:ea typeface="Arial"/>
                          <a:cs typeface="Arial"/>
                        </a:rPr>
                        <a:t>O(n)</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tc>
                  <a:txBody>
                    <a:bodyPr/>
                    <a:lstStyle/>
                    <a:p>
                      <a:r>
                        <a:rPr sz="1875" b="0">
                          <a:solidFill>
                            <a:srgbClr val="142E42"/>
                          </a:solidFill>
                          <a:latin typeface="Arial"/>
                          <a:ea typeface="Arial"/>
                          <a:cs typeface="Arial"/>
                        </a:rPr>
                        <a:t>O(n)</a:t>
                      </a:r>
                    </a:p>
                  </a:txBody>
                  <a:tcPr>
                    <a:lnL w="9525" cap="flat" cmpd="sng" algn="ctr">
                      <a:solidFill>
                        <a:srgbClr val="D6E1E6"/>
                      </a:solidFill>
                      <a:prstDash val="solid"/>
                      <a:round/>
                      <a:headEnd type="none" w="med" len="med"/>
                      <a:tailEnd type="none" w="med" len="med"/>
                    </a:lnL>
                    <a:lnR w="9525">
                      <a:solidFill>
                        <a:srgbClr val="D6E1E6"/>
                      </a:solidFill>
                      <a:prstDash val="solid"/>
                    </a:lnR>
                    <a:lnT w="9525" cap="flat" cmpd="sng" algn="ctr">
                      <a:solidFill>
                        <a:srgbClr val="D6E1E6"/>
                      </a:solidFill>
                      <a:prstDash val="solid"/>
                      <a:round/>
                      <a:headEnd type="none" w="med" len="med"/>
                      <a:tailEnd type="none" w="med" len="med"/>
                    </a:lnT>
                    <a:lnB w="9525">
                      <a:solidFill>
                        <a:srgbClr val="D6E1E6"/>
                      </a:solidFill>
                      <a:prstDash val="solid"/>
                    </a:lnB>
                    <a:solidFill>
                      <a:srgbClr val="EDF4F6"/>
                    </a:solidFill>
                  </a:tcPr>
                </a:tc>
                <a:extLst>
                  <a:ext uri="{0D108BD9-81ED-4DB2-BD59-A6C34878D82A}">
                    <a16:rowId xmlns:a16="http://schemas.microsoft.com/office/drawing/2014/main" val="10003"/>
                  </a:ext>
                </a:extLst>
              </a:tr>
            </a:tbl>
          </a:graphicData>
        </a:graphic>
      </p:graphicFrame>
      <p:sp>
        <p:nvSpPr>
          <p:cNvPr id="4" name="text-2">
            <a:extLst>
              <a:ext uri="{FF2B5EF4-FFF2-40B4-BE49-F238E27FC236}">
                <a16:creationId xmlns:a16="http://schemas.microsoft.com/office/drawing/2014/main" id="{37D543FF-1370-4700-80A7-CC138EF535B0}"/>
              </a:ext>
            </a:extLst>
          </p:cNvPr>
          <p:cNvSpPr>
            <a:spLocks noGrp="1"/>
          </p:cNvSpPr>
          <p:nvPr/>
        </p:nvSpPr>
        <p:spPr>
          <a:xfrm>
            <a:off x="609600" y="5286375"/>
            <a:ext cx="10763250" cy="857250"/>
          </a:xfrm>
          <a:prstGeom prst="rect">
            <a:avLst/>
          </a:prstGeom>
          <a:noFill/>
          <a:ln w="0">
            <a:noFill/>
          </a:ln>
        </p:spPr>
        <p:txBody>
          <a:bodyPr lIns="0" tIns="0" rIns="0" bIns="0" anchor="t"/>
          <a:lstStyle>
            <a:defPPr algn="l">
              <a:defRPr sz="2025" b="0">
                <a:solidFill>
                  <a:srgbClr val="142E42"/>
                </a:solidFill>
                <a:latin typeface="Arial"/>
                <a:ea typeface="Arial"/>
                <a:cs typeface="Arial"/>
              </a:defRPr>
            </a:defPPr>
            <a:lvl1pPr algn="l">
              <a:defRPr sz="2025" b="0">
                <a:solidFill>
                  <a:srgbClr val="142E42"/>
                </a:solidFill>
                <a:latin typeface="Arial"/>
                <a:ea typeface="Arial"/>
                <a:cs typeface="Arial"/>
              </a:defRPr>
            </a:lvl1pPr>
            <a:lvl2pPr algn="l">
              <a:defRPr sz="2025" b="0">
                <a:solidFill>
                  <a:srgbClr val="142E42"/>
                </a:solidFill>
                <a:latin typeface="Arial"/>
                <a:ea typeface="Arial"/>
                <a:cs typeface="Arial"/>
              </a:defRPr>
            </a:lvl2pPr>
            <a:lvl3pPr algn="l">
              <a:defRPr sz="2025" b="0">
                <a:solidFill>
                  <a:srgbClr val="142E42"/>
                </a:solidFill>
                <a:latin typeface="Arial"/>
                <a:ea typeface="Arial"/>
                <a:cs typeface="Arial"/>
              </a:defRPr>
            </a:lvl3pPr>
            <a:lvl4pPr algn="l">
              <a:defRPr sz="2025" b="0">
                <a:solidFill>
                  <a:srgbClr val="142E42"/>
                </a:solidFill>
                <a:latin typeface="Arial"/>
                <a:ea typeface="Arial"/>
                <a:cs typeface="Arial"/>
              </a:defRPr>
            </a:lvl4pPr>
            <a:lvl5pPr algn="l">
              <a:defRPr sz="2025" b="0">
                <a:solidFill>
                  <a:srgbClr val="142E42"/>
                </a:solidFill>
                <a:latin typeface="Arial"/>
                <a:ea typeface="Arial"/>
                <a:cs typeface="Arial"/>
              </a:defRPr>
            </a:lvl5pPr>
            <a:lvl6pPr algn="l">
              <a:defRPr sz="2025" b="0">
                <a:solidFill>
                  <a:srgbClr val="142E42"/>
                </a:solidFill>
                <a:latin typeface="Arial"/>
                <a:ea typeface="Arial"/>
                <a:cs typeface="Arial"/>
              </a:defRPr>
            </a:lvl6pPr>
            <a:lvl7pPr algn="l">
              <a:defRPr sz="2025" b="0">
                <a:solidFill>
                  <a:srgbClr val="142E42"/>
                </a:solidFill>
                <a:latin typeface="Arial"/>
                <a:ea typeface="Arial"/>
                <a:cs typeface="Arial"/>
              </a:defRPr>
            </a:lvl7pPr>
            <a:lvl8pPr algn="l">
              <a:defRPr sz="2025" b="0">
                <a:solidFill>
                  <a:srgbClr val="142E42"/>
                </a:solidFill>
                <a:latin typeface="Arial"/>
                <a:ea typeface="Arial"/>
                <a:cs typeface="Arial"/>
              </a:defRPr>
            </a:lvl8pPr>
            <a:lvl9pPr algn="l">
              <a:defRPr sz="2025" b="0">
                <a:solidFill>
                  <a:srgbClr val="142E42"/>
                </a:solidFill>
                <a:latin typeface="Arial"/>
                <a:ea typeface="Arial"/>
                <a:cs typeface="Arial"/>
              </a:defRPr>
            </a:lvl9pPr>
          </a:lstStyle>
          <a:p>
            <a:pPr algn="l">
              <a:defRPr sz="2025" b="0">
                <a:solidFill>
                  <a:srgbClr val="142E42"/>
                </a:solidFill>
                <a:latin typeface="Arial"/>
                <a:ea typeface="Arial"/>
                <a:cs typeface="Arial"/>
              </a:defRPr>
            </a:pPr>
            <a:r>
              <a:rPr sz="2025" b="0">
                <a:solidFill>
                  <a:srgbClr val="142E42"/>
                </a:solidFill>
                <a:latin typeface="Arial"/>
                <a:ea typeface="Arial"/>
                <a:cs typeface="Arial"/>
              </a:rPr>
              <a:t>Sorted insertion can create a chain with height n − 1.</a:t>
            </a:r>
          </a:p>
          <a:p>
            <a:pPr algn="l">
              <a:defRPr sz="2025" b="0">
                <a:solidFill>
                  <a:srgbClr val="142E42"/>
                </a:solidFill>
                <a:latin typeface="Arial"/>
                <a:ea typeface="Arial"/>
                <a:cs typeface="Arial"/>
              </a:defRPr>
            </a:pPr>
            <a:r>
              <a:rPr sz="2025" b="0">
                <a:solidFill>
                  <a:srgbClr val="142E42"/>
                </a:solidFill>
                <a:latin typeface="Arial"/>
                <a:ea typeface="Arial"/>
                <a:cs typeface="Arial"/>
              </a:rPr>
              <a:t>A balanced search tree controls height as the data changes.</a:t>
            </a:r>
          </a:p>
        </p:txBody>
      </p:sp>
    </p:spTree>
    <p:extLst>
      <p:ext uri="{BB962C8B-B14F-4D97-AF65-F5344CB8AC3E}">
        <p14:creationId xmlns:p14="http://schemas.microsoft.com/office/powerpoint/2010/main" val="20604579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4">
            <a:extLst>
              <a:ext uri="{FF2B5EF4-FFF2-40B4-BE49-F238E27FC236}">
                <a16:creationId xmlns:a16="http://schemas.microsoft.com/office/drawing/2014/main" id="{56C239B3-E075-4886-A79A-B05F0BBF81F5}"/>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A9B61F4-536B-40D4-A0CB-6121CD1047D8}" type="slidenum">
              <a:rPr lang="en-US" altLang="en-US" sz="1400"/>
              <a:pPr>
                <a:spcBef>
                  <a:spcPct val="0"/>
                </a:spcBef>
                <a:buClrTx/>
                <a:buSzTx/>
                <a:buFontTx/>
                <a:buNone/>
              </a:pPr>
              <a:t>34</a:t>
            </a:fld>
            <a:endParaRPr lang="en-US" altLang="en-US" sz="1400"/>
          </a:p>
        </p:txBody>
      </p:sp>
      <p:sp>
        <p:nvSpPr>
          <p:cNvPr id="51203" name="Rectangle 2">
            <a:extLst>
              <a:ext uri="{FF2B5EF4-FFF2-40B4-BE49-F238E27FC236}">
                <a16:creationId xmlns:a16="http://schemas.microsoft.com/office/drawing/2014/main" id="{DCD3EC8D-B18B-4DFB-BDC2-272D77CADD6D}"/>
              </a:ext>
            </a:extLst>
          </p:cNvPr>
          <p:cNvSpPr>
            <a:spLocks noGrp="1" noChangeArrowheads="1"/>
          </p:cNvSpPr>
          <p:nvPr>
            <p:ph type="title"/>
          </p:nvPr>
        </p:nvSpPr>
        <p:spPr>
          <a:xfrm>
            <a:off x="1524000" y="152400"/>
            <a:ext cx="8839200" cy="533400"/>
          </a:xfrm>
        </p:spPr>
        <p:txBody>
          <a:bodyPr/>
          <a:lstStyle/>
          <a:p>
            <a:r>
              <a:rPr lang="en-US" altLang="en-US"/>
              <a:t>binary tree time complexity </a:t>
            </a:r>
          </a:p>
        </p:txBody>
      </p:sp>
      <p:sp>
        <p:nvSpPr>
          <p:cNvPr id="51204" name="Rectangle 3">
            <a:extLst>
              <a:ext uri="{FF2B5EF4-FFF2-40B4-BE49-F238E27FC236}">
                <a16:creationId xmlns:a16="http://schemas.microsoft.com/office/drawing/2014/main" id="{441511DF-0B07-46B2-B9E4-D14CD326E8D1}"/>
              </a:ext>
            </a:extLst>
          </p:cNvPr>
          <p:cNvSpPr>
            <a:spLocks noChangeArrowheads="1"/>
          </p:cNvSpPr>
          <p:nvPr/>
        </p:nvSpPr>
        <p:spPr bwMode="auto">
          <a:xfrm>
            <a:off x="3265488" y="20843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05" name="Rectangle 4">
            <a:extLst>
              <a:ext uri="{FF2B5EF4-FFF2-40B4-BE49-F238E27FC236}">
                <a16:creationId xmlns:a16="http://schemas.microsoft.com/office/drawing/2014/main" id="{8F1DFF6B-64F8-47BB-AA74-DC0F9044E67C}"/>
              </a:ext>
            </a:extLst>
          </p:cNvPr>
          <p:cNvSpPr>
            <a:spLocks noChangeArrowheads="1"/>
          </p:cNvSpPr>
          <p:nvPr/>
        </p:nvSpPr>
        <p:spPr bwMode="auto">
          <a:xfrm>
            <a:off x="3657600" y="24304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06" name="Rectangle 5">
            <a:extLst>
              <a:ext uri="{FF2B5EF4-FFF2-40B4-BE49-F238E27FC236}">
                <a16:creationId xmlns:a16="http://schemas.microsoft.com/office/drawing/2014/main" id="{7C7D99C5-A02A-445C-98AB-F9AE4D2F2431}"/>
              </a:ext>
            </a:extLst>
          </p:cNvPr>
          <p:cNvSpPr>
            <a:spLocks noChangeArrowheads="1"/>
          </p:cNvSpPr>
          <p:nvPr/>
        </p:nvSpPr>
        <p:spPr bwMode="auto">
          <a:xfrm>
            <a:off x="3867150" y="164306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07" name="Rectangle 6">
            <a:extLst>
              <a:ext uri="{FF2B5EF4-FFF2-40B4-BE49-F238E27FC236}">
                <a16:creationId xmlns:a16="http://schemas.microsoft.com/office/drawing/2014/main" id="{F1A8FE85-E557-42CF-B8E8-E13578C4C29A}"/>
              </a:ext>
            </a:extLst>
          </p:cNvPr>
          <p:cNvSpPr>
            <a:spLocks noChangeArrowheads="1"/>
          </p:cNvSpPr>
          <p:nvPr/>
        </p:nvSpPr>
        <p:spPr bwMode="auto">
          <a:xfrm>
            <a:off x="4438650" y="31194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08" name="Rectangle 7">
            <a:extLst>
              <a:ext uri="{FF2B5EF4-FFF2-40B4-BE49-F238E27FC236}">
                <a16:creationId xmlns:a16="http://schemas.microsoft.com/office/drawing/2014/main" id="{44889680-BF54-419B-B078-B63BFAA2066C}"/>
              </a:ext>
            </a:extLst>
          </p:cNvPr>
          <p:cNvSpPr>
            <a:spLocks noChangeArrowheads="1"/>
          </p:cNvSpPr>
          <p:nvPr/>
        </p:nvSpPr>
        <p:spPr bwMode="auto">
          <a:xfrm>
            <a:off x="3776663" y="256698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09" name="Rectangle 8">
            <a:extLst>
              <a:ext uri="{FF2B5EF4-FFF2-40B4-BE49-F238E27FC236}">
                <a16:creationId xmlns:a16="http://schemas.microsoft.com/office/drawing/2014/main" id="{8311C3CD-F22B-4B57-9117-A542FD2BC941}"/>
              </a:ext>
            </a:extLst>
          </p:cNvPr>
          <p:cNvSpPr>
            <a:spLocks noChangeArrowheads="1"/>
          </p:cNvSpPr>
          <p:nvPr/>
        </p:nvSpPr>
        <p:spPr bwMode="auto">
          <a:xfrm>
            <a:off x="3667125" y="2171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0" name="Rectangle 9">
            <a:extLst>
              <a:ext uri="{FF2B5EF4-FFF2-40B4-BE49-F238E27FC236}">
                <a16:creationId xmlns:a16="http://schemas.microsoft.com/office/drawing/2014/main" id="{93353DBC-6ED3-4D34-9CC7-DAAE4AAF3C65}"/>
              </a:ext>
            </a:extLst>
          </p:cNvPr>
          <p:cNvSpPr>
            <a:spLocks noChangeArrowheads="1"/>
          </p:cNvSpPr>
          <p:nvPr/>
        </p:nvSpPr>
        <p:spPr bwMode="auto">
          <a:xfrm>
            <a:off x="3524250" y="22574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1" name="Rectangle 10">
            <a:extLst>
              <a:ext uri="{FF2B5EF4-FFF2-40B4-BE49-F238E27FC236}">
                <a16:creationId xmlns:a16="http://schemas.microsoft.com/office/drawing/2014/main" id="{F992858A-38D6-4804-A4FC-7A978CDD3D89}"/>
              </a:ext>
            </a:extLst>
          </p:cNvPr>
          <p:cNvSpPr>
            <a:spLocks noChangeArrowheads="1"/>
          </p:cNvSpPr>
          <p:nvPr/>
        </p:nvSpPr>
        <p:spPr bwMode="auto">
          <a:xfrm>
            <a:off x="3724275" y="211455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2" name="Rectangle 11">
            <a:extLst>
              <a:ext uri="{FF2B5EF4-FFF2-40B4-BE49-F238E27FC236}">
                <a16:creationId xmlns:a16="http://schemas.microsoft.com/office/drawing/2014/main" id="{D2180860-0EB5-40CA-BCC8-5C1B450A18D0}"/>
              </a:ext>
            </a:extLst>
          </p:cNvPr>
          <p:cNvSpPr>
            <a:spLocks noChangeArrowheads="1"/>
          </p:cNvSpPr>
          <p:nvPr/>
        </p:nvSpPr>
        <p:spPr bwMode="auto">
          <a:xfrm>
            <a:off x="3724275" y="24003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3" name="Rectangle 12">
            <a:extLst>
              <a:ext uri="{FF2B5EF4-FFF2-40B4-BE49-F238E27FC236}">
                <a16:creationId xmlns:a16="http://schemas.microsoft.com/office/drawing/2014/main" id="{A52B144D-8887-4734-83C5-B568171D542E}"/>
              </a:ext>
            </a:extLst>
          </p:cNvPr>
          <p:cNvSpPr>
            <a:spLocks noChangeArrowheads="1"/>
          </p:cNvSpPr>
          <p:nvPr/>
        </p:nvSpPr>
        <p:spPr bwMode="auto">
          <a:xfrm>
            <a:off x="4267200" y="27146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4" name="Rectangle 13">
            <a:extLst>
              <a:ext uri="{FF2B5EF4-FFF2-40B4-BE49-F238E27FC236}">
                <a16:creationId xmlns:a16="http://schemas.microsoft.com/office/drawing/2014/main" id="{EFFCE5DF-DB54-466A-A7AF-B3A8693062E2}"/>
              </a:ext>
            </a:extLst>
          </p:cNvPr>
          <p:cNvSpPr>
            <a:spLocks noGrp="1" noChangeArrowheads="1"/>
          </p:cNvSpPr>
          <p:nvPr>
            <p:ph type="body" idx="1"/>
          </p:nvPr>
        </p:nvSpPr>
        <p:spPr>
          <a:xfrm>
            <a:off x="1676400" y="990601"/>
            <a:ext cx="8991600" cy="3338513"/>
          </a:xfrm>
        </p:spPr>
        <p:txBody>
          <a:bodyPr/>
          <a:lstStyle/>
          <a:p>
            <a:pPr marL="0" indent="0">
              <a:buNone/>
            </a:pPr>
            <a:r>
              <a:rPr lang="en-US" altLang="en-US" sz="3600"/>
              <a:t>It is obvious that the time complexity for the inorder, preorder, and postorder is O(n), since each node is traversed only once. The time complexity for search, insertion and deletion is the height of the tree. In the worst case, the height of the tree is O(n).</a:t>
            </a:r>
          </a:p>
        </p:txBody>
      </p:sp>
      <p:sp>
        <p:nvSpPr>
          <p:cNvPr id="51215" name="Rectangle 14">
            <a:extLst>
              <a:ext uri="{FF2B5EF4-FFF2-40B4-BE49-F238E27FC236}">
                <a16:creationId xmlns:a16="http://schemas.microsoft.com/office/drawing/2014/main" id="{5EBA84CF-2B9A-43F0-B0A5-6D01ABC2E721}"/>
              </a:ext>
            </a:extLst>
          </p:cNvPr>
          <p:cNvSpPr>
            <a:spLocks noChangeArrowheads="1"/>
          </p:cNvSpPr>
          <p:nvPr/>
        </p:nvSpPr>
        <p:spPr bwMode="auto">
          <a:xfrm>
            <a:off x="3667125" y="26289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extLst>
      <p:ext uri="{BB962C8B-B14F-4D97-AF65-F5344CB8AC3E}">
        <p14:creationId xmlns:p14="http://schemas.microsoft.com/office/powerpoint/2010/main" val="3073965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EDB185E3-0038-4469-91E0-B2808ABA463E}"/>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12959C99-7096-45F2-881D-EB66730C2771}"/>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11 B-</a:t>
            </a:r>
            <a:fld id="{BB041DA7-EEF4-42CE-9F2D-691A8063EB28}" type="slidenum">
              <a:rPr lang="en-US" altLang="en-US" sz="1000">
                <a:solidFill>
                  <a:srgbClr val="548446"/>
                </a:solidFill>
                <a:latin typeface="Arial" panose="020B0604020202020204" pitchFamily="34" charset="0"/>
              </a:rPr>
              <a:pPr/>
              <a:t>35</a:t>
            </a:fld>
            <a:endParaRPr lang="en-US" altLang="en-US" sz="1000">
              <a:solidFill>
                <a:srgbClr val="548446"/>
              </a:solidFill>
              <a:latin typeface="Arial" panose="020B0604020202020204" pitchFamily="34" charset="0"/>
            </a:endParaRPr>
          </a:p>
        </p:txBody>
      </p:sp>
      <p:sp>
        <p:nvSpPr>
          <p:cNvPr id="17412" name="Rectangle 2">
            <a:extLst>
              <a:ext uri="{FF2B5EF4-FFF2-40B4-BE49-F238E27FC236}">
                <a16:creationId xmlns:a16="http://schemas.microsoft.com/office/drawing/2014/main" id="{276CFCB1-5432-400B-8575-A3F2C98EEBAF}"/>
              </a:ext>
            </a:extLst>
          </p:cNvPr>
          <p:cNvSpPr>
            <a:spLocks noGrp="1" noChangeArrowheads="1"/>
          </p:cNvSpPr>
          <p:nvPr>
            <p:ph type="title"/>
          </p:nvPr>
        </p:nvSpPr>
        <p:spPr/>
        <p:txBody>
          <a:bodyPr/>
          <a:lstStyle/>
          <a:p>
            <a:pPr eaLnBrk="1" hangingPunct="1"/>
            <a:r>
              <a:rPr lang="en-US" altLang="en-US"/>
              <a:t>The Efficiency of Binary Search Tree Operations</a:t>
            </a:r>
          </a:p>
        </p:txBody>
      </p:sp>
      <p:sp>
        <p:nvSpPr>
          <p:cNvPr id="17413" name="Rectangle 3">
            <a:extLst>
              <a:ext uri="{FF2B5EF4-FFF2-40B4-BE49-F238E27FC236}">
                <a16:creationId xmlns:a16="http://schemas.microsoft.com/office/drawing/2014/main" id="{B4C69F43-E171-49F4-8B8D-4A9DC315DC47}"/>
              </a:ext>
            </a:extLst>
          </p:cNvPr>
          <p:cNvSpPr>
            <a:spLocks noGrp="1" noChangeArrowheads="1"/>
          </p:cNvSpPr>
          <p:nvPr>
            <p:ph type="body" sz="half" idx="1"/>
          </p:nvPr>
        </p:nvSpPr>
        <p:spPr>
          <a:xfrm>
            <a:off x="338328" y="1828800"/>
            <a:ext cx="6291072" cy="4343400"/>
          </a:xfrm>
        </p:spPr>
        <p:txBody>
          <a:bodyPr/>
          <a:lstStyle/>
          <a:p>
            <a:pPr eaLnBrk="1" hangingPunct="1">
              <a:lnSpc>
                <a:spcPct val="90000"/>
              </a:lnSpc>
            </a:pPr>
            <a:r>
              <a:rPr lang="en-US" altLang="en-US" sz="2000" dirty="0"/>
              <a:t>The maximum number of comparisons for a retrieval, insertion, or deletion is the height of the tree</a:t>
            </a:r>
          </a:p>
          <a:p>
            <a:pPr eaLnBrk="1" hangingPunct="1">
              <a:lnSpc>
                <a:spcPct val="90000"/>
              </a:lnSpc>
            </a:pPr>
            <a:r>
              <a:rPr lang="en-US" altLang="en-US" sz="2000" dirty="0"/>
              <a:t>The maximum and minimum heights of a binary search tree</a:t>
            </a:r>
          </a:p>
          <a:p>
            <a:pPr lvl="1" eaLnBrk="1" hangingPunct="1">
              <a:lnSpc>
                <a:spcPct val="90000"/>
              </a:lnSpc>
            </a:pPr>
            <a:r>
              <a:rPr lang="en-US" altLang="en-US" sz="2000" dirty="0"/>
              <a:t>n is the maximum height of a binary tree with n nodes</a:t>
            </a:r>
          </a:p>
        </p:txBody>
      </p:sp>
      <p:pic>
        <p:nvPicPr>
          <p:cNvPr id="17414" name="Picture 5">
            <a:extLst>
              <a:ext uri="{FF2B5EF4-FFF2-40B4-BE49-F238E27FC236}">
                <a16:creationId xmlns:a16="http://schemas.microsoft.com/office/drawing/2014/main" id="{1E82709B-315B-4D5A-A8B3-9BC9DCEA51AD}"/>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467601" y="1219200"/>
            <a:ext cx="2314575" cy="3886200"/>
          </a:xfrm>
          <a:noFill/>
        </p:spPr>
      </p:pic>
      <p:sp>
        <p:nvSpPr>
          <p:cNvPr id="56326" name="Text Box 6">
            <a:extLst>
              <a:ext uri="{FF2B5EF4-FFF2-40B4-BE49-F238E27FC236}">
                <a16:creationId xmlns:a16="http://schemas.microsoft.com/office/drawing/2014/main" id="{87C0496C-A0FD-4C3E-B667-2BAE124F99D3}"/>
              </a:ext>
            </a:extLst>
          </p:cNvPr>
          <p:cNvSpPr txBox="1">
            <a:spLocks noChangeArrowheads="1"/>
          </p:cNvSpPr>
          <p:nvPr/>
        </p:nvSpPr>
        <p:spPr bwMode="auto">
          <a:xfrm>
            <a:off x="7239000" y="5334000"/>
            <a:ext cx="3124200" cy="767390"/>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A maximum-height binary tree with seven nodes</a:t>
            </a:r>
          </a:p>
        </p:txBody>
      </p:sp>
      <p:pic>
        <p:nvPicPr>
          <p:cNvPr id="3" name="Picture 5">
            <a:extLst>
              <a:ext uri="{FF2B5EF4-FFF2-40B4-BE49-F238E27FC236}">
                <a16:creationId xmlns:a16="http://schemas.microsoft.com/office/drawing/2014/main" id="{599B2D8C-BAC2-38F9-CDFD-DCE667D3E6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1371600"/>
            <a:ext cx="2314575"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50960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6AED60D7-94EE-4985-8FC7-D6453F944677}"/>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Height bounds with an edge count</a:t>
            </a:r>
          </a:p>
        </p:txBody>
      </p:sp>
      <p:sp>
        <p:nvSpPr>
          <p:cNvPr id="2" name="text-1">
            <a:extLst>
              <a:ext uri="{FF2B5EF4-FFF2-40B4-BE49-F238E27FC236}">
                <a16:creationId xmlns:a16="http://schemas.microsoft.com/office/drawing/2014/main" id="{7E91A4FD-869E-49A2-A8CD-EF8FA4A26AF8}"/>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34</a:t>
            </a:r>
          </a:p>
        </p:txBody>
      </p:sp>
      <p:sp>
        <p:nvSpPr>
          <p:cNvPr id="3" name="text-2">
            <a:extLst>
              <a:ext uri="{FF2B5EF4-FFF2-40B4-BE49-F238E27FC236}">
                <a16:creationId xmlns:a16="http://schemas.microsoft.com/office/drawing/2014/main" id="{8F53FBC6-7C8F-484A-8C47-0B1F25DD551E}"/>
              </a:ext>
            </a:extLst>
          </p:cNvPr>
          <p:cNvSpPr>
            <a:spLocks noGrp="1"/>
          </p:cNvSpPr>
          <p:nvPr/>
        </p:nvSpPr>
        <p:spPr>
          <a:xfrm>
            <a:off x="609600" y="1619250"/>
            <a:ext cx="10858500" cy="3714750"/>
          </a:xfrm>
          <a:prstGeom prst="rect">
            <a:avLst/>
          </a:prstGeom>
          <a:noFill/>
          <a:ln w="0">
            <a:noFill/>
          </a:ln>
        </p:spPr>
        <p:txBody>
          <a:bodyPr lIns="0" tIns="0" rIns="0" bIns="0" anchor="t"/>
          <a:lstStyle>
            <a:defPPr algn="l">
              <a:defRPr sz="2475" b="0">
                <a:solidFill>
                  <a:srgbClr val="142E42"/>
                </a:solidFill>
                <a:latin typeface="Arial"/>
                <a:ea typeface="Arial"/>
                <a:cs typeface="Arial"/>
              </a:defRPr>
            </a:defPPr>
            <a:lvl1pPr algn="l">
              <a:defRPr sz="2475" b="0">
                <a:solidFill>
                  <a:srgbClr val="142E42"/>
                </a:solidFill>
                <a:latin typeface="Arial"/>
                <a:ea typeface="Arial"/>
                <a:cs typeface="Arial"/>
              </a:defRPr>
            </a:lvl1pPr>
            <a:lvl2pPr algn="l">
              <a:defRPr sz="2475" b="0">
                <a:solidFill>
                  <a:srgbClr val="142E42"/>
                </a:solidFill>
                <a:latin typeface="Arial"/>
                <a:ea typeface="Arial"/>
                <a:cs typeface="Arial"/>
              </a:defRPr>
            </a:lvl2pPr>
            <a:lvl3pPr algn="l">
              <a:defRPr sz="2475" b="0">
                <a:solidFill>
                  <a:srgbClr val="142E42"/>
                </a:solidFill>
                <a:latin typeface="Arial"/>
                <a:ea typeface="Arial"/>
                <a:cs typeface="Arial"/>
              </a:defRPr>
            </a:lvl3pPr>
            <a:lvl4pPr algn="l">
              <a:defRPr sz="2475" b="0">
                <a:solidFill>
                  <a:srgbClr val="142E42"/>
                </a:solidFill>
                <a:latin typeface="Arial"/>
                <a:ea typeface="Arial"/>
                <a:cs typeface="Arial"/>
              </a:defRPr>
            </a:lvl4pPr>
            <a:lvl5pPr algn="l">
              <a:defRPr sz="2475" b="0">
                <a:solidFill>
                  <a:srgbClr val="142E42"/>
                </a:solidFill>
                <a:latin typeface="Arial"/>
                <a:ea typeface="Arial"/>
                <a:cs typeface="Arial"/>
              </a:defRPr>
            </a:lvl5pPr>
            <a:lvl6pPr algn="l">
              <a:defRPr sz="2475" b="0">
                <a:solidFill>
                  <a:srgbClr val="142E42"/>
                </a:solidFill>
                <a:latin typeface="Arial"/>
                <a:ea typeface="Arial"/>
                <a:cs typeface="Arial"/>
              </a:defRPr>
            </a:lvl6pPr>
            <a:lvl7pPr algn="l">
              <a:defRPr sz="2475" b="0">
                <a:solidFill>
                  <a:srgbClr val="142E42"/>
                </a:solidFill>
                <a:latin typeface="Arial"/>
                <a:ea typeface="Arial"/>
                <a:cs typeface="Arial"/>
              </a:defRPr>
            </a:lvl7pPr>
            <a:lvl8pPr algn="l">
              <a:defRPr sz="2475" b="0">
                <a:solidFill>
                  <a:srgbClr val="142E42"/>
                </a:solidFill>
                <a:latin typeface="Arial"/>
                <a:ea typeface="Arial"/>
                <a:cs typeface="Arial"/>
              </a:defRPr>
            </a:lvl8pPr>
            <a:lvl9pPr algn="l">
              <a:defRPr sz="2475" b="0">
                <a:solidFill>
                  <a:srgbClr val="142E42"/>
                </a:solidFill>
                <a:latin typeface="Arial"/>
                <a:ea typeface="Arial"/>
                <a:cs typeface="Arial"/>
              </a:defRPr>
            </a:lvl9pPr>
          </a:lstStyle>
          <a:p>
            <a:pPr algn="l">
              <a:defRPr sz="2475" b="0">
                <a:solidFill>
                  <a:srgbClr val="142E42"/>
                </a:solidFill>
                <a:latin typeface="Arial"/>
                <a:ea typeface="Arial"/>
                <a:cs typeface="Arial"/>
              </a:defRPr>
            </a:pPr>
            <a:r>
              <a:rPr sz="2475" b="0">
                <a:solidFill>
                  <a:srgbClr val="142E42"/>
                </a:solidFill>
                <a:latin typeface="Arial"/>
                <a:ea typeface="Arial"/>
                <a:cs typeface="Arial"/>
              </a:rPr>
              <a:t>For height h ≥ 0, the maximum node count is</a:t>
            </a:r>
          </a:p>
          <a:p>
            <a:endParaRPr sz="2475" b="0">
              <a:solidFill>
                <a:srgbClr val="142E42"/>
              </a:solidFill>
              <a:latin typeface="Arial"/>
              <a:ea typeface="Arial"/>
              <a:cs typeface="Arial"/>
            </a:endParaRPr>
          </a:p>
          <a:p>
            <a:pPr algn="l">
              <a:defRPr sz="2475" b="0">
                <a:solidFill>
                  <a:srgbClr val="142E42"/>
                </a:solidFill>
                <a:latin typeface="Arial"/>
                <a:ea typeface="Arial"/>
                <a:cs typeface="Arial"/>
              </a:defRPr>
            </a:pPr>
            <a:r>
              <a:rPr sz="2475" b="0">
                <a:solidFill>
                  <a:srgbClr val="142E42"/>
                </a:solidFill>
                <a:latin typeface="Arial"/>
                <a:ea typeface="Arial"/>
                <a:cs typeface="Arial"/>
              </a:rPr>
              <a:t>2^(h + 1) − 1</a:t>
            </a:r>
          </a:p>
          <a:p>
            <a:endParaRPr sz="2475" b="0">
              <a:solidFill>
                <a:srgbClr val="142E42"/>
              </a:solidFill>
              <a:latin typeface="Arial"/>
              <a:ea typeface="Arial"/>
              <a:cs typeface="Arial"/>
            </a:endParaRPr>
          </a:p>
          <a:p>
            <a:pPr algn="l">
              <a:defRPr sz="2475" b="0">
                <a:solidFill>
                  <a:srgbClr val="142E42"/>
                </a:solidFill>
                <a:latin typeface="Arial"/>
                <a:ea typeface="Arial"/>
                <a:cs typeface="Arial"/>
              </a:defRPr>
            </a:pPr>
            <a:r>
              <a:rPr sz="2475" b="0">
                <a:solidFill>
                  <a:srgbClr val="142E42"/>
                </a:solidFill>
                <a:latin typeface="Arial"/>
                <a:ea typeface="Arial"/>
                <a:cs typeface="Arial"/>
              </a:rPr>
              <a:t>For n ≥ 1 nodes, height satisfies</a:t>
            </a:r>
          </a:p>
          <a:p>
            <a:endParaRPr sz="2475" b="0">
              <a:solidFill>
                <a:srgbClr val="142E42"/>
              </a:solidFill>
              <a:latin typeface="Arial"/>
              <a:ea typeface="Arial"/>
              <a:cs typeface="Arial"/>
            </a:endParaRPr>
          </a:p>
          <a:p>
            <a:pPr algn="l">
              <a:defRPr sz="2475" b="0">
                <a:solidFill>
                  <a:srgbClr val="142E42"/>
                </a:solidFill>
                <a:latin typeface="Arial"/>
                <a:ea typeface="Arial"/>
                <a:cs typeface="Arial"/>
              </a:defRPr>
            </a:pPr>
            <a:r>
              <a:rPr sz="2475" b="0">
                <a:solidFill>
                  <a:srgbClr val="142E42"/>
                </a:solidFill>
                <a:latin typeface="Arial"/>
                <a:ea typeface="Arial"/>
                <a:cs typeface="Arial"/>
              </a:rPr>
              <a:t>ceil(log₂(n + 1)) − 1 ≤ h ≤ n − 1</a:t>
            </a:r>
          </a:p>
        </p:txBody>
      </p:sp>
      <p:sp>
        <p:nvSpPr>
          <p:cNvPr id="4" name="text-3">
            <a:extLst>
              <a:ext uri="{FF2B5EF4-FFF2-40B4-BE49-F238E27FC236}">
                <a16:creationId xmlns:a16="http://schemas.microsoft.com/office/drawing/2014/main" id="{53A87C20-C054-43F4-A852-EA5F79636759}"/>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A perfect tree attains the maximum node count for its height.</a:t>
            </a:r>
          </a:p>
        </p:txBody>
      </p:sp>
      <p:pic>
        <p:nvPicPr>
          <p:cNvPr id="6" name="Picture 9">
            <a:extLst>
              <a:ext uri="{FF2B5EF4-FFF2-40B4-BE49-F238E27FC236}">
                <a16:creationId xmlns:a16="http://schemas.microsoft.com/office/drawing/2014/main" id="{DAACC725-450B-6FA4-F3C4-9B0D065E79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226300" y="1353312"/>
            <a:ext cx="4337050" cy="3048000"/>
          </a:xfrm>
          <a:prstGeom prst="rect">
            <a:avLst/>
          </a:prstGeom>
          <a:noFill/>
        </p:spPr>
      </p:pic>
    </p:spTree>
    <p:extLst>
      <p:ext uri="{BB962C8B-B14F-4D97-AF65-F5344CB8AC3E}">
        <p14:creationId xmlns:p14="http://schemas.microsoft.com/office/powerpoint/2010/main" val="13171670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217F9782-4E6A-4755-A156-655BB52C3D6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Treesort</a:t>
            </a:r>
          </a:p>
        </p:txBody>
      </p:sp>
      <p:sp>
        <p:nvSpPr>
          <p:cNvPr id="2" name="text-1">
            <a:extLst>
              <a:ext uri="{FF2B5EF4-FFF2-40B4-BE49-F238E27FC236}">
                <a16:creationId xmlns:a16="http://schemas.microsoft.com/office/drawing/2014/main" id="{1677CA9C-315C-47CA-8CC9-175F6070EF4E}"/>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35</a:t>
            </a:r>
          </a:p>
        </p:txBody>
      </p:sp>
      <p:sp>
        <p:nvSpPr>
          <p:cNvPr id="3" name="text-2">
            <a:extLst>
              <a:ext uri="{FF2B5EF4-FFF2-40B4-BE49-F238E27FC236}">
                <a16:creationId xmlns:a16="http://schemas.microsoft.com/office/drawing/2014/main" id="{8273357A-FE8E-4C80-A717-28F6D159FA5B}"/>
              </a:ext>
            </a:extLst>
          </p:cNvPr>
          <p:cNvSpPr>
            <a:spLocks noGrp="1"/>
          </p:cNvSpPr>
          <p:nvPr/>
        </p:nvSpPr>
        <p:spPr>
          <a:xfrm>
            <a:off x="609600" y="1619250"/>
            <a:ext cx="10953750" cy="3905250"/>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defRPr sz="2175" b="0">
                <a:solidFill>
                  <a:srgbClr val="142E42"/>
                </a:solidFill>
                <a:latin typeface="Arial"/>
                <a:ea typeface="Arial"/>
                <a:cs typeface="Arial"/>
              </a:defRPr>
            </a:lvl1pPr>
            <a:lvl2pPr algn="l">
              <a:defRPr sz="2175" b="0">
                <a:solidFill>
                  <a:srgbClr val="142E42"/>
                </a:solidFill>
                <a:latin typeface="Arial"/>
                <a:ea typeface="Arial"/>
                <a:cs typeface="Arial"/>
              </a:defRPr>
            </a:lvl2pPr>
            <a:lvl3pPr algn="l">
              <a:defRPr sz="2175" b="0">
                <a:solidFill>
                  <a:srgbClr val="142E42"/>
                </a:solidFill>
                <a:latin typeface="Arial"/>
                <a:ea typeface="Arial"/>
                <a:cs typeface="Arial"/>
              </a:defRPr>
            </a:lvl3pPr>
            <a:lvl4pPr algn="l">
              <a:defRPr sz="2175" b="0">
                <a:solidFill>
                  <a:srgbClr val="142E42"/>
                </a:solidFill>
                <a:latin typeface="Arial"/>
                <a:ea typeface="Arial"/>
                <a:cs typeface="Arial"/>
              </a:defRPr>
            </a:lvl4pPr>
            <a:lvl5pPr algn="l">
              <a:defRPr sz="2175" b="0">
                <a:solidFill>
                  <a:srgbClr val="142E42"/>
                </a:solidFill>
                <a:latin typeface="Arial"/>
                <a:ea typeface="Arial"/>
                <a:cs typeface="Arial"/>
              </a:defRPr>
            </a:lvl5pPr>
            <a:lvl6pPr algn="l">
              <a:defRPr sz="2175" b="0">
                <a:solidFill>
                  <a:srgbClr val="142E42"/>
                </a:solidFill>
                <a:latin typeface="Arial"/>
                <a:ea typeface="Arial"/>
                <a:cs typeface="Arial"/>
              </a:defRPr>
            </a:lvl6pPr>
            <a:lvl7pPr algn="l">
              <a:defRPr sz="2175" b="0">
                <a:solidFill>
                  <a:srgbClr val="142E42"/>
                </a:solidFill>
                <a:latin typeface="Arial"/>
                <a:ea typeface="Arial"/>
                <a:cs typeface="Arial"/>
              </a:defRPr>
            </a:lvl7pPr>
            <a:lvl8pPr algn="l">
              <a:defRPr sz="2175" b="0">
                <a:solidFill>
                  <a:srgbClr val="142E42"/>
                </a:solidFill>
                <a:latin typeface="Arial"/>
                <a:ea typeface="Arial"/>
                <a:cs typeface="Arial"/>
              </a:defRPr>
            </a:lvl8pPr>
            <a:lvl9pPr algn="l">
              <a:defRPr sz="2175" b="0">
                <a:solidFill>
                  <a:srgbClr val="142E42"/>
                </a:solidFill>
                <a:latin typeface="Arial"/>
                <a:ea typeface="Arial"/>
                <a:cs typeface="Arial"/>
              </a:defRPr>
            </a:lvl9pPr>
          </a:lstStyle>
          <a:p>
            <a:pPr algn="l">
              <a:defRPr sz="2175" b="0">
                <a:solidFill>
                  <a:srgbClr val="142E42"/>
                </a:solidFill>
                <a:latin typeface="Arial"/>
                <a:ea typeface="Arial"/>
                <a:cs typeface="Arial"/>
              </a:defRPr>
            </a:pPr>
            <a:r>
              <a:rPr sz="2175" b="0">
                <a:solidFill>
                  <a:srgbClr val="142E42"/>
                </a:solidFill>
                <a:latin typeface="Arial"/>
                <a:ea typeface="Arial"/>
                <a:cs typeface="Arial"/>
              </a:rPr>
              <a:t>Insert the input keys into a BST.</a:t>
            </a:r>
          </a:p>
          <a:p>
            <a:pPr algn="l">
              <a:defRPr sz="2175" b="0">
                <a:solidFill>
                  <a:srgbClr val="142E42"/>
                </a:solidFill>
                <a:latin typeface="Arial"/>
                <a:ea typeface="Arial"/>
                <a:cs typeface="Arial"/>
              </a:defRPr>
            </a:pPr>
            <a:r>
              <a:rPr sz="2175" b="0">
                <a:solidFill>
                  <a:srgbClr val="142E42"/>
                </a:solidFill>
                <a:latin typeface="Arial"/>
                <a:ea typeface="Arial"/>
                <a:cs typeface="Arial"/>
              </a:rPr>
              <a:t>Then emit keys in inorder.</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Expected time with random insertion order: O(n log n).</a:t>
            </a:r>
          </a:p>
          <a:p>
            <a:pPr algn="l">
              <a:defRPr sz="2175" b="0">
                <a:solidFill>
                  <a:srgbClr val="142E42"/>
                </a:solidFill>
                <a:latin typeface="Arial"/>
                <a:ea typeface="Arial"/>
                <a:cs typeface="Arial"/>
              </a:defRPr>
            </a:pPr>
            <a:r>
              <a:rPr sz="2175" b="0">
                <a:solidFill>
                  <a:srgbClr val="142E42"/>
                </a:solidFill>
                <a:latin typeface="Arial"/>
                <a:ea typeface="Arial"/>
                <a:cs typeface="Arial"/>
              </a:rPr>
              <a:t>Worst case for an unbalanced tree: O(n²).</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A set-style BST discards duplicates. A sorting implementation</a:t>
            </a:r>
          </a:p>
          <a:p>
            <a:pPr algn="l">
              <a:defRPr sz="2175" b="0">
                <a:solidFill>
                  <a:srgbClr val="142E42"/>
                </a:solidFill>
                <a:latin typeface="Arial"/>
                <a:ea typeface="Arial"/>
                <a:cs typeface="Arial"/>
              </a:defRPr>
            </a:pPr>
            <a:r>
              <a:rPr sz="2175" b="0">
                <a:solidFill>
                  <a:srgbClr val="142E42"/>
                </a:solidFill>
                <a:latin typeface="Arial"/>
                <a:ea typeface="Arial"/>
                <a:cs typeface="Arial"/>
              </a:rPr>
              <a:t>must retain equal keys, for example with a count per node.</a:t>
            </a:r>
          </a:p>
        </p:txBody>
      </p:sp>
    </p:spTree>
    <p:extLst>
      <p:ext uri="{BB962C8B-B14F-4D97-AF65-F5344CB8AC3E}">
        <p14:creationId xmlns:p14="http://schemas.microsoft.com/office/powerpoint/2010/main" val="17540177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4A7E35BA-4C2A-4558-80AE-A3564C67E043}"/>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Review problems</a:t>
            </a:r>
          </a:p>
        </p:txBody>
      </p:sp>
      <p:sp>
        <p:nvSpPr>
          <p:cNvPr id="2" name="text-1">
            <a:extLst>
              <a:ext uri="{FF2B5EF4-FFF2-40B4-BE49-F238E27FC236}">
                <a16:creationId xmlns:a16="http://schemas.microsoft.com/office/drawing/2014/main" id="{39BBF459-4E53-4FC1-A220-39E4A7923301}"/>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36</a:t>
            </a:r>
          </a:p>
        </p:txBody>
      </p:sp>
      <p:sp>
        <p:nvSpPr>
          <p:cNvPr id="3" name="text-2">
            <a:extLst>
              <a:ext uri="{FF2B5EF4-FFF2-40B4-BE49-F238E27FC236}">
                <a16:creationId xmlns:a16="http://schemas.microsoft.com/office/drawing/2014/main" id="{DB2CA441-EA50-49F8-BBF4-289F104977E2}"/>
              </a:ext>
            </a:extLst>
          </p:cNvPr>
          <p:cNvSpPr>
            <a:spLocks noGrp="1"/>
          </p:cNvSpPr>
          <p:nvPr/>
        </p:nvSpPr>
        <p:spPr>
          <a:xfrm>
            <a:off x="609600" y="1571625"/>
            <a:ext cx="10906125" cy="4238625"/>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defRPr sz="2175" b="0">
                <a:solidFill>
                  <a:srgbClr val="142E42"/>
                </a:solidFill>
                <a:latin typeface="Arial"/>
                <a:ea typeface="Arial"/>
                <a:cs typeface="Arial"/>
              </a:defRPr>
            </a:lvl1pPr>
            <a:lvl2pPr algn="l">
              <a:defRPr sz="2175" b="0">
                <a:solidFill>
                  <a:srgbClr val="142E42"/>
                </a:solidFill>
                <a:latin typeface="Arial"/>
                <a:ea typeface="Arial"/>
                <a:cs typeface="Arial"/>
              </a:defRPr>
            </a:lvl2pPr>
            <a:lvl3pPr algn="l">
              <a:defRPr sz="2175" b="0">
                <a:solidFill>
                  <a:srgbClr val="142E42"/>
                </a:solidFill>
                <a:latin typeface="Arial"/>
                <a:ea typeface="Arial"/>
                <a:cs typeface="Arial"/>
              </a:defRPr>
            </a:lvl3pPr>
            <a:lvl4pPr algn="l">
              <a:defRPr sz="2175" b="0">
                <a:solidFill>
                  <a:srgbClr val="142E42"/>
                </a:solidFill>
                <a:latin typeface="Arial"/>
                <a:ea typeface="Arial"/>
                <a:cs typeface="Arial"/>
              </a:defRPr>
            </a:lvl4pPr>
            <a:lvl5pPr algn="l">
              <a:defRPr sz="2175" b="0">
                <a:solidFill>
                  <a:srgbClr val="142E42"/>
                </a:solidFill>
                <a:latin typeface="Arial"/>
                <a:ea typeface="Arial"/>
                <a:cs typeface="Arial"/>
              </a:defRPr>
            </a:lvl5pPr>
            <a:lvl6pPr algn="l">
              <a:defRPr sz="2175" b="0">
                <a:solidFill>
                  <a:srgbClr val="142E42"/>
                </a:solidFill>
                <a:latin typeface="Arial"/>
                <a:ea typeface="Arial"/>
                <a:cs typeface="Arial"/>
              </a:defRPr>
            </a:lvl6pPr>
            <a:lvl7pPr algn="l">
              <a:defRPr sz="2175" b="0">
                <a:solidFill>
                  <a:srgbClr val="142E42"/>
                </a:solidFill>
                <a:latin typeface="Arial"/>
                <a:ea typeface="Arial"/>
                <a:cs typeface="Arial"/>
              </a:defRPr>
            </a:lvl7pPr>
            <a:lvl8pPr algn="l">
              <a:defRPr sz="2175" b="0">
                <a:solidFill>
                  <a:srgbClr val="142E42"/>
                </a:solidFill>
                <a:latin typeface="Arial"/>
                <a:ea typeface="Arial"/>
                <a:cs typeface="Arial"/>
              </a:defRPr>
            </a:lvl8pPr>
            <a:lvl9pPr algn="l">
              <a:defRPr sz="2175" b="0">
                <a:solidFill>
                  <a:srgbClr val="142E42"/>
                </a:solidFill>
                <a:latin typeface="Arial"/>
                <a:ea typeface="Arial"/>
                <a:cs typeface="Arial"/>
              </a:defRPr>
            </a:lvl9pPr>
          </a:lstStyle>
          <a:p>
            <a:pPr algn="l">
              <a:defRPr sz="2175" b="0">
                <a:solidFill>
                  <a:srgbClr val="142E42"/>
                </a:solidFill>
                <a:latin typeface="Arial"/>
                <a:ea typeface="Arial"/>
                <a:cs typeface="Arial"/>
              </a:defRPr>
            </a:pPr>
            <a:r>
              <a:rPr sz="2175" b="0">
                <a:solidFill>
                  <a:srgbClr val="142E42"/>
                </a:solidFill>
                <a:latin typeface="Arial"/>
                <a:ea typeface="Arial"/>
                <a:cs typeface="Arial"/>
              </a:rPr>
              <a:t>1. What is the maximum node count with 8 levels?</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2. For 2011 nodes, what are the minimum and</a:t>
            </a:r>
          </a:p>
          <a:p>
            <a:pPr algn="l">
              <a:defRPr sz="2175" b="0">
                <a:solidFill>
                  <a:srgbClr val="142E42"/>
                </a:solidFill>
                <a:latin typeface="Arial"/>
                <a:ea typeface="Arial"/>
                <a:cs typeface="Arial"/>
              </a:defRPr>
            </a:pPr>
            <a:r>
              <a:rPr sz="2175" b="0">
                <a:solidFill>
                  <a:srgbClr val="142E42"/>
                </a:solidFill>
                <a:latin typeface="Arial"/>
                <a:ea typeface="Arial"/>
                <a:cs typeface="Arial"/>
              </a:rPr>
              <a:t>   maximum numbers of levels?</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3. With exactly 10 levels, what are the minimum</a:t>
            </a:r>
          </a:p>
          <a:p>
            <a:pPr algn="l">
              <a:defRPr sz="2175" b="0">
                <a:solidFill>
                  <a:srgbClr val="142E42"/>
                </a:solidFill>
                <a:latin typeface="Arial"/>
                <a:ea typeface="Arial"/>
                <a:cs typeface="Arial"/>
              </a:defRPr>
            </a:pPr>
            <a:r>
              <a:rPr sz="2175" b="0">
                <a:solidFill>
                  <a:srgbClr val="142E42"/>
                </a:solidFill>
                <a:latin typeface="Arial"/>
                <a:ea typeface="Arial"/>
                <a:cs typeface="Arial"/>
              </a:rPr>
              <a:t>   and maximum numbers of leaves?</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4. Why can sorted insertion make a BST slow?</a:t>
            </a:r>
          </a:p>
        </p:txBody>
      </p:sp>
    </p:spTree>
    <p:extLst>
      <p:ext uri="{BB962C8B-B14F-4D97-AF65-F5344CB8AC3E}">
        <p14:creationId xmlns:p14="http://schemas.microsoft.com/office/powerpoint/2010/main" val="6799403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403BE33A-CABD-4658-8812-93106B9E98CF}"/>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Review answers</a:t>
            </a:r>
          </a:p>
        </p:txBody>
      </p:sp>
      <p:sp>
        <p:nvSpPr>
          <p:cNvPr id="2" name="text-1">
            <a:extLst>
              <a:ext uri="{FF2B5EF4-FFF2-40B4-BE49-F238E27FC236}">
                <a16:creationId xmlns:a16="http://schemas.microsoft.com/office/drawing/2014/main" id="{A6B0BCEE-BA0D-4EAE-827F-06C1BEA1A48F}"/>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37</a:t>
            </a:r>
          </a:p>
        </p:txBody>
      </p:sp>
      <p:sp>
        <p:nvSpPr>
          <p:cNvPr id="3" name="text-2">
            <a:extLst>
              <a:ext uri="{FF2B5EF4-FFF2-40B4-BE49-F238E27FC236}">
                <a16:creationId xmlns:a16="http://schemas.microsoft.com/office/drawing/2014/main" id="{8729317F-FC96-4200-877E-8688683BEEC6}"/>
              </a:ext>
            </a:extLst>
          </p:cNvPr>
          <p:cNvSpPr>
            <a:spLocks noGrp="1"/>
          </p:cNvSpPr>
          <p:nvPr/>
        </p:nvSpPr>
        <p:spPr>
          <a:xfrm>
            <a:off x="609600" y="1571625"/>
            <a:ext cx="10906125" cy="4238625"/>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defRPr sz="2175" b="0">
                <a:solidFill>
                  <a:srgbClr val="142E42"/>
                </a:solidFill>
                <a:latin typeface="Arial"/>
                <a:ea typeface="Arial"/>
                <a:cs typeface="Arial"/>
              </a:defRPr>
            </a:lvl1pPr>
            <a:lvl2pPr algn="l">
              <a:defRPr sz="2175" b="0">
                <a:solidFill>
                  <a:srgbClr val="142E42"/>
                </a:solidFill>
                <a:latin typeface="Arial"/>
                <a:ea typeface="Arial"/>
                <a:cs typeface="Arial"/>
              </a:defRPr>
            </a:lvl2pPr>
            <a:lvl3pPr algn="l">
              <a:defRPr sz="2175" b="0">
                <a:solidFill>
                  <a:srgbClr val="142E42"/>
                </a:solidFill>
                <a:latin typeface="Arial"/>
                <a:ea typeface="Arial"/>
                <a:cs typeface="Arial"/>
              </a:defRPr>
            </a:lvl3pPr>
            <a:lvl4pPr algn="l">
              <a:defRPr sz="2175" b="0">
                <a:solidFill>
                  <a:srgbClr val="142E42"/>
                </a:solidFill>
                <a:latin typeface="Arial"/>
                <a:ea typeface="Arial"/>
                <a:cs typeface="Arial"/>
              </a:defRPr>
            </a:lvl4pPr>
            <a:lvl5pPr algn="l">
              <a:defRPr sz="2175" b="0">
                <a:solidFill>
                  <a:srgbClr val="142E42"/>
                </a:solidFill>
                <a:latin typeface="Arial"/>
                <a:ea typeface="Arial"/>
                <a:cs typeface="Arial"/>
              </a:defRPr>
            </a:lvl5pPr>
            <a:lvl6pPr algn="l">
              <a:defRPr sz="2175" b="0">
                <a:solidFill>
                  <a:srgbClr val="142E42"/>
                </a:solidFill>
                <a:latin typeface="Arial"/>
                <a:ea typeface="Arial"/>
                <a:cs typeface="Arial"/>
              </a:defRPr>
            </a:lvl6pPr>
            <a:lvl7pPr algn="l">
              <a:defRPr sz="2175" b="0">
                <a:solidFill>
                  <a:srgbClr val="142E42"/>
                </a:solidFill>
                <a:latin typeface="Arial"/>
                <a:ea typeface="Arial"/>
                <a:cs typeface="Arial"/>
              </a:defRPr>
            </a:lvl7pPr>
            <a:lvl8pPr algn="l">
              <a:defRPr sz="2175" b="0">
                <a:solidFill>
                  <a:srgbClr val="142E42"/>
                </a:solidFill>
                <a:latin typeface="Arial"/>
                <a:ea typeface="Arial"/>
                <a:cs typeface="Arial"/>
              </a:defRPr>
            </a:lvl8pPr>
            <a:lvl9pPr algn="l">
              <a:defRPr sz="2175" b="0">
                <a:solidFill>
                  <a:srgbClr val="142E42"/>
                </a:solidFill>
                <a:latin typeface="Arial"/>
                <a:ea typeface="Arial"/>
                <a:cs typeface="Arial"/>
              </a:defRPr>
            </a:lvl9pPr>
          </a:lstStyle>
          <a:p>
            <a:pPr algn="l">
              <a:defRPr sz="2175" b="0">
                <a:solidFill>
                  <a:srgbClr val="142E42"/>
                </a:solidFill>
                <a:latin typeface="Arial"/>
                <a:ea typeface="Arial"/>
                <a:cs typeface="Arial"/>
              </a:defRPr>
            </a:pPr>
            <a:r>
              <a:rPr sz="2175" b="0">
                <a:solidFill>
                  <a:srgbClr val="142E42"/>
                </a:solidFill>
                <a:latin typeface="Arial"/>
                <a:ea typeface="Arial"/>
                <a:cs typeface="Arial"/>
              </a:rPr>
              <a:t>1. 2⁸ − 1 = 255 nodes.</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2. Minimum: ceil(log₂ 2012) = 11 levels.</a:t>
            </a:r>
          </a:p>
          <a:p>
            <a:pPr algn="l">
              <a:defRPr sz="2175" b="0">
                <a:solidFill>
                  <a:srgbClr val="142E42"/>
                </a:solidFill>
                <a:latin typeface="Arial"/>
                <a:ea typeface="Arial"/>
                <a:cs typeface="Arial"/>
              </a:defRPr>
            </a:pPr>
            <a:r>
              <a:rPr sz="2175" b="0">
                <a:solidFill>
                  <a:srgbClr val="142E42"/>
                </a:solidFill>
                <a:latin typeface="Arial"/>
                <a:ea typeface="Arial"/>
                <a:cs typeface="Arial"/>
              </a:rPr>
              <a:t>   Maximum: 2011 levels, a chain.</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3. Minimum: 1 leaf. Maximum: 2⁹ = 512 leaves.</a:t>
            </a:r>
          </a:p>
          <a:p>
            <a:endParaRPr sz="2175" b="0">
              <a:solidFill>
                <a:srgbClr val="142E42"/>
              </a:solidFill>
              <a:latin typeface="Arial"/>
              <a:ea typeface="Arial"/>
              <a:cs typeface="Arial"/>
            </a:endParaRPr>
          </a:p>
          <a:p>
            <a:pPr algn="l">
              <a:defRPr sz="2175" b="0">
                <a:solidFill>
                  <a:srgbClr val="142E42"/>
                </a:solidFill>
                <a:latin typeface="Arial"/>
                <a:ea typeface="Arial"/>
                <a:cs typeface="Arial"/>
              </a:defRPr>
            </a:pPr>
            <a:r>
              <a:rPr sz="2175" b="0">
                <a:solidFill>
                  <a:srgbClr val="142E42"/>
                </a:solidFill>
                <a:latin typeface="Arial"/>
                <a:ea typeface="Arial"/>
                <a:cs typeface="Arial"/>
              </a:rPr>
              <a:t>4. Each key can extend the same branch, creating</a:t>
            </a:r>
          </a:p>
          <a:p>
            <a:pPr algn="l">
              <a:defRPr sz="2175" b="0">
                <a:solidFill>
                  <a:srgbClr val="142E42"/>
                </a:solidFill>
                <a:latin typeface="Arial"/>
                <a:ea typeface="Arial"/>
                <a:cs typeface="Arial"/>
              </a:defRPr>
            </a:pPr>
            <a:r>
              <a:rPr sz="2175" b="0">
                <a:solidFill>
                  <a:srgbClr val="142E42"/>
                </a:solidFill>
                <a:latin typeface="Arial"/>
                <a:ea typeface="Arial"/>
                <a:cs typeface="Arial"/>
              </a:rPr>
              <a:t>   height n − 1 and linear search paths.</a:t>
            </a:r>
          </a:p>
        </p:txBody>
      </p:sp>
    </p:spTree>
    <p:extLst>
      <p:ext uri="{BB962C8B-B14F-4D97-AF65-F5344CB8AC3E}">
        <p14:creationId xmlns:p14="http://schemas.microsoft.com/office/powerpoint/2010/main" val="3081076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FAAF1ADF-F1A1-428A-BC79-8FF29DA5B4F0}"/>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defRPr sz="3150" b="1">
                <a:solidFill>
                  <a:srgbClr val="142E42"/>
                </a:solidFill>
                <a:latin typeface="Arial"/>
                <a:ea typeface="Arial"/>
                <a:cs typeface="Arial"/>
              </a:defRPr>
            </a:lvl1pPr>
            <a:lvl2pPr algn="l">
              <a:defRPr sz="3150" b="1">
                <a:solidFill>
                  <a:srgbClr val="142E42"/>
                </a:solidFill>
                <a:latin typeface="Arial"/>
                <a:ea typeface="Arial"/>
                <a:cs typeface="Arial"/>
              </a:defRPr>
            </a:lvl2pPr>
            <a:lvl3pPr algn="l">
              <a:defRPr sz="3150" b="1">
                <a:solidFill>
                  <a:srgbClr val="142E42"/>
                </a:solidFill>
                <a:latin typeface="Arial"/>
                <a:ea typeface="Arial"/>
                <a:cs typeface="Arial"/>
              </a:defRPr>
            </a:lvl3pPr>
            <a:lvl4pPr algn="l">
              <a:defRPr sz="3150" b="1">
                <a:solidFill>
                  <a:srgbClr val="142E42"/>
                </a:solidFill>
                <a:latin typeface="Arial"/>
                <a:ea typeface="Arial"/>
                <a:cs typeface="Arial"/>
              </a:defRPr>
            </a:lvl4pPr>
            <a:lvl5pPr algn="l">
              <a:defRPr sz="3150" b="1">
                <a:solidFill>
                  <a:srgbClr val="142E42"/>
                </a:solidFill>
                <a:latin typeface="Arial"/>
                <a:ea typeface="Arial"/>
                <a:cs typeface="Arial"/>
              </a:defRPr>
            </a:lvl5pPr>
            <a:lvl6pPr algn="l">
              <a:defRPr sz="3150" b="1">
                <a:solidFill>
                  <a:srgbClr val="142E42"/>
                </a:solidFill>
                <a:latin typeface="Arial"/>
                <a:ea typeface="Arial"/>
                <a:cs typeface="Arial"/>
              </a:defRPr>
            </a:lvl6pPr>
            <a:lvl7pPr algn="l">
              <a:defRPr sz="3150" b="1">
                <a:solidFill>
                  <a:srgbClr val="142E42"/>
                </a:solidFill>
                <a:latin typeface="Arial"/>
                <a:ea typeface="Arial"/>
                <a:cs typeface="Arial"/>
              </a:defRPr>
            </a:lvl7pPr>
            <a:lvl8pPr algn="l">
              <a:defRPr sz="3150" b="1">
                <a:solidFill>
                  <a:srgbClr val="142E42"/>
                </a:solidFill>
                <a:latin typeface="Arial"/>
                <a:ea typeface="Arial"/>
                <a:cs typeface="Arial"/>
              </a:defRPr>
            </a:lvl8pPr>
            <a:lvl9pPr algn="l">
              <a:defRPr sz="3150" b="1">
                <a:solidFill>
                  <a:srgbClr val="142E42"/>
                </a:solidFill>
                <a:latin typeface="Arial"/>
                <a:ea typeface="Arial"/>
                <a:cs typeface="Arial"/>
              </a:defRPr>
            </a:lvl9pPr>
          </a:lstStyle>
          <a:p>
            <a:pPr algn="l">
              <a:defRPr sz="3150" b="1">
                <a:solidFill>
                  <a:srgbClr val="142E42"/>
                </a:solidFill>
                <a:latin typeface="Arial"/>
                <a:ea typeface="Arial"/>
                <a:cs typeface="Arial"/>
              </a:defRPr>
            </a:pPr>
            <a:r>
              <a:rPr sz="3150" b="1">
                <a:solidFill>
                  <a:srgbClr val="142E42"/>
                </a:solidFill>
                <a:latin typeface="Arial"/>
                <a:ea typeface="Arial"/>
                <a:cs typeface="Arial"/>
              </a:rPr>
              <a:t>Further practice</a:t>
            </a:r>
          </a:p>
        </p:txBody>
      </p:sp>
      <p:sp>
        <p:nvSpPr>
          <p:cNvPr id="2" name="text-1">
            <a:extLst>
              <a:ext uri="{FF2B5EF4-FFF2-40B4-BE49-F238E27FC236}">
                <a16:creationId xmlns:a16="http://schemas.microsoft.com/office/drawing/2014/main" id="{8D2F1261-AB4C-4CD8-A37B-B7894E1D662F}"/>
              </a:ext>
            </a:extLst>
          </p:cNvPr>
          <p:cNvSpPr>
            <a:spLocks noGrp="1"/>
          </p:cNvSpPr>
          <p:nvPr/>
        </p:nvSpPr>
        <p:spPr>
          <a:xfrm>
            <a:off x="11163300" y="6381750"/>
            <a:ext cx="476250" cy="266700"/>
          </a:xfrm>
          <a:prstGeom prst="rect">
            <a:avLst/>
          </a:prstGeom>
          <a:noFill/>
          <a:ln w="0">
            <a:noFill/>
          </a:ln>
        </p:spPr>
        <p:txBody>
          <a:bodyPr lIns="0" tIns="0" rIns="0" bIns="0" anchor="t"/>
          <a:lstStyle>
            <a:defPPr algn="l">
              <a:defRPr sz="1275" b="0">
                <a:solidFill>
                  <a:srgbClr val="4B6070"/>
                </a:solidFill>
                <a:latin typeface="Arial"/>
                <a:ea typeface="Arial"/>
                <a:cs typeface="Arial"/>
              </a:defRPr>
            </a:defPPr>
            <a:lvl1pPr algn="l">
              <a:defRPr sz="1275" b="0">
                <a:solidFill>
                  <a:srgbClr val="4B6070"/>
                </a:solidFill>
                <a:latin typeface="Arial"/>
                <a:ea typeface="Arial"/>
                <a:cs typeface="Arial"/>
              </a:defRPr>
            </a:lvl1pPr>
            <a:lvl2pPr algn="l">
              <a:defRPr sz="1275" b="0">
                <a:solidFill>
                  <a:srgbClr val="4B6070"/>
                </a:solidFill>
                <a:latin typeface="Arial"/>
                <a:ea typeface="Arial"/>
                <a:cs typeface="Arial"/>
              </a:defRPr>
            </a:lvl2pPr>
            <a:lvl3pPr algn="l">
              <a:defRPr sz="1275" b="0">
                <a:solidFill>
                  <a:srgbClr val="4B6070"/>
                </a:solidFill>
                <a:latin typeface="Arial"/>
                <a:ea typeface="Arial"/>
                <a:cs typeface="Arial"/>
              </a:defRPr>
            </a:lvl3pPr>
            <a:lvl4pPr algn="l">
              <a:defRPr sz="1275" b="0">
                <a:solidFill>
                  <a:srgbClr val="4B6070"/>
                </a:solidFill>
                <a:latin typeface="Arial"/>
                <a:ea typeface="Arial"/>
                <a:cs typeface="Arial"/>
              </a:defRPr>
            </a:lvl4pPr>
            <a:lvl5pPr algn="l">
              <a:defRPr sz="1275" b="0">
                <a:solidFill>
                  <a:srgbClr val="4B6070"/>
                </a:solidFill>
                <a:latin typeface="Arial"/>
                <a:ea typeface="Arial"/>
                <a:cs typeface="Arial"/>
              </a:defRPr>
            </a:lvl5pPr>
            <a:lvl6pPr algn="l">
              <a:defRPr sz="1275" b="0">
                <a:solidFill>
                  <a:srgbClr val="4B6070"/>
                </a:solidFill>
                <a:latin typeface="Arial"/>
                <a:ea typeface="Arial"/>
                <a:cs typeface="Arial"/>
              </a:defRPr>
            </a:lvl6pPr>
            <a:lvl7pPr algn="l">
              <a:defRPr sz="1275" b="0">
                <a:solidFill>
                  <a:srgbClr val="4B6070"/>
                </a:solidFill>
                <a:latin typeface="Arial"/>
                <a:ea typeface="Arial"/>
                <a:cs typeface="Arial"/>
              </a:defRPr>
            </a:lvl7pPr>
            <a:lvl8pPr algn="l">
              <a:defRPr sz="1275" b="0">
                <a:solidFill>
                  <a:srgbClr val="4B6070"/>
                </a:solidFill>
                <a:latin typeface="Arial"/>
                <a:ea typeface="Arial"/>
                <a:cs typeface="Arial"/>
              </a:defRPr>
            </a:lvl8pPr>
            <a:lvl9pPr algn="l">
              <a:defRPr sz="1275" b="0">
                <a:solidFill>
                  <a:srgbClr val="4B6070"/>
                </a:solidFill>
                <a:latin typeface="Arial"/>
                <a:ea typeface="Arial"/>
                <a:cs typeface="Arial"/>
              </a:defRPr>
            </a:lvl9pPr>
          </a:lstStyle>
          <a:p>
            <a:pPr algn="l">
              <a:defRPr sz="1275" b="0">
                <a:solidFill>
                  <a:srgbClr val="4B6070"/>
                </a:solidFill>
                <a:latin typeface="Arial"/>
                <a:ea typeface="Arial"/>
                <a:cs typeface="Arial"/>
              </a:defRPr>
            </a:pPr>
            <a:r>
              <a:rPr sz="1275" b="0">
                <a:solidFill>
                  <a:srgbClr val="4B6070"/>
                </a:solidFill>
                <a:latin typeface="Arial"/>
                <a:ea typeface="Arial"/>
                <a:cs typeface="Arial"/>
              </a:rPr>
              <a:t>38</a:t>
            </a:r>
          </a:p>
        </p:txBody>
      </p:sp>
      <p:sp>
        <p:nvSpPr>
          <p:cNvPr id="3" name="text-2">
            <a:extLst>
              <a:ext uri="{FF2B5EF4-FFF2-40B4-BE49-F238E27FC236}">
                <a16:creationId xmlns:a16="http://schemas.microsoft.com/office/drawing/2014/main" id="{C82E8F85-6827-4757-94F2-C474E8406534}"/>
              </a:ext>
            </a:extLst>
          </p:cNvPr>
          <p:cNvSpPr>
            <a:spLocks noGrp="1"/>
          </p:cNvSpPr>
          <p:nvPr/>
        </p:nvSpPr>
        <p:spPr>
          <a:xfrm>
            <a:off x="609600" y="1619250"/>
            <a:ext cx="10953750" cy="3905250"/>
          </a:xfrm>
          <a:prstGeom prst="rect">
            <a:avLst/>
          </a:prstGeom>
          <a:noFill/>
          <a:ln w="0">
            <a:noFill/>
          </a:ln>
        </p:spPr>
        <p:txBody>
          <a:bodyPr lIns="0" tIns="0" rIns="0" bIns="0" anchor="t"/>
          <a:lstStyle>
            <a:defPPr algn="l">
              <a:defRPr sz="2250" b="0">
                <a:solidFill>
                  <a:srgbClr val="142E42"/>
                </a:solidFill>
                <a:latin typeface="Arial"/>
                <a:ea typeface="Arial"/>
                <a:cs typeface="Arial"/>
              </a:defRPr>
            </a:defPPr>
            <a:lvl1pPr algn="l">
              <a:defRPr sz="2250" b="0">
                <a:solidFill>
                  <a:srgbClr val="142E42"/>
                </a:solidFill>
                <a:latin typeface="Arial"/>
                <a:ea typeface="Arial"/>
                <a:cs typeface="Arial"/>
              </a:defRPr>
            </a:lvl1pPr>
            <a:lvl2pPr algn="l">
              <a:defRPr sz="2250" b="0">
                <a:solidFill>
                  <a:srgbClr val="142E42"/>
                </a:solidFill>
                <a:latin typeface="Arial"/>
                <a:ea typeface="Arial"/>
                <a:cs typeface="Arial"/>
              </a:defRPr>
            </a:lvl2pPr>
            <a:lvl3pPr algn="l">
              <a:defRPr sz="2250" b="0">
                <a:solidFill>
                  <a:srgbClr val="142E42"/>
                </a:solidFill>
                <a:latin typeface="Arial"/>
                <a:ea typeface="Arial"/>
                <a:cs typeface="Arial"/>
              </a:defRPr>
            </a:lvl3pPr>
            <a:lvl4pPr algn="l">
              <a:defRPr sz="2250" b="0">
                <a:solidFill>
                  <a:srgbClr val="142E42"/>
                </a:solidFill>
                <a:latin typeface="Arial"/>
                <a:ea typeface="Arial"/>
                <a:cs typeface="Arial"/>
              </a:defRPr>
            </a:lvl4pPr>
            <a:lvl5pPr algn="l">
              <a:defRPr sz="2250" b="0">
                <a:solidFill>
                  <a:srgbClr val="142E42"/>
                </a:solidFill>
                <a:latin typeface="Arial"/>
                <a:ea typeface="Arial"/>
                <a:cs typeface="Arial"/>
              </a:defRPr>
            </a:lvl5pPr>
            <a:lvl6pPr algn="l">
              <a:defRPr sz="2250" b="0">
                <a:solidFill>
                  <a:srgbClr val="142E42"/>
                </a:solidFill>
                <a:latin typeface="Arial"/>
                <a:ea typeface="Arial"/>
                <a:cs typeface="Arial"/>
              </a:defRPr>
            </a:lvl6pPr>
            <a:lvl7pPr algn="l">
              <a:defRPr sz="2250" b="0">
                <a:solidFill>
                  <a:srgbClr val="142E42"/>
                </a:solidFill>
                <a:latin typeface="Arial"/>
                <a:ea typeface="Arial"/>
                <a:cs typeface="Arial"/>
              </a:defRPr>
            </a:lvl7pPr>
            <a:lvl8pPr algn="l">
              <a:defRPr sz="2250" b="0">
                <a:solidFill>
                  <a:srgbClr val="142E42"/>
                </a:solidFill>
                <a:latin typeface="Arial"/>
                <a:ea typeface="Arial"/>
                <a:cs typeface="Arial"/>
              </a:defRPr>
            </a:lvl8pPr>
            <a:lvl9pPr algn="l">
              <a:defRPr sz="2250" b="0">
                <a:solidFill>
                  <a:srgbClr val="142E42"/>
                </a:solidFill>
                <a:latin typeface="Arial"/>
                <a:ea typeface="Arial"/>
                <a:cs typeface="Arial"/>
              </a:defRPr>
            </a:lvl9pPr>
          </a:lstStyle>
          <a:p>
            <a:pPr algn="l">
              <a:defRPr sz="2250" b="0">
                <a:solidFill>
                  <a:srgbClr val="142E42"/>
                </a:solidFill>
                <a:latin typeface="Arial"/>
                <a:ea typeface="Arial"/>
                <a:cs typeface="Arial"/>
              </a:defRPr>
            </a:pPr>
            <a:r>
              <a:rPr sz="2250" b="0" dirty="0">
                <a:solidFill>
                  <a:srgbClr val="142E42"/>
                </a:solidFill>
                <a:latin typeface="Arial"/>
                <a:ea typeface="Arial"/>
                <a:cs typeface="Arial"/>
              </a:rPr>
              <a:t>Implement iterative </a:t>
            </a:r>
            <a:r>
              <a:rPr sz="2250" b="0" dirty="0" err="1">
                <a:solidFill>
                  <a:srgbClr val="142E42"/>
                </a:solidFill>
                <a:latin typeface="Arial"/>
                <a:ea typeface="Arial"/>
                <a:cs typeface="Arial"/>
              </a:rPr>
              <a:t>inorder</a:t>
            </a:r>
            <a:r>
              <a:rPr sz="2250" b="0" dirty="0">
                <a:solidFill>
                  <a:srgbClr val="142E42"/>
                </a:solidFill>
                <a:latin typeface="Arial"/>
                <a:ea typeface="Arial"/>
                <a:cs typeface="Arial"/>
              </a:rPr>
              <a:t> traversal with an explicit stack.</a:t>
            </a:r>
          </a:p>
          <a:p>
            <a:endParaRPr sz="2250" b="0" dirty="0">
              <a:solidFill>
                <a:srgbClr val="142E42"/>
              </a:solidFill>
              <a:latin typeface="Arial"/>
              <a:ea typeface="Arial"/>
              <a:cs typeface="Arial"/>
            </a:endParaRPr>
          </a:p>
          <a:p>
            <a:pPr algn="l">
              <a:defRPr sz="2250" b="0">
                <a:solidFill>
                  <a:srgbClr val="142E42"/>
                </a:solidFill>
                <a:latin typeface="Arial"/>
                <a:ea typeface="Arial"/>
                <a:cs typeface="Arial"/>
              </a:defRPr>
            </a:pPr>
            <a:r>
              <a:rPr sz="2250" b="0" dirty="0">
                <a:solidFill>
                  <a:srgbClr val="142E42"/>
                </a:solidFill>
                <a:latin typeface="Arial"/>
                <a:ea typeface="Arial"/>
                <a:cs typeface="Arial"/>
              </a:rPr>
              <a:t>Compute height using a queue and one level at a time.</a:t>
            </a:r>
          </a:p>
          <a:p>
            <a:endParaRPr sz="2250" b="0" dirty="0">
              <a:solidFill>
                <a:srgbClr val="142E42"/>
              </a:solidFill>
              <a:latin typeface="Arial"/>
              <a:ea typeface="Arial"/>
              <a:cs typeface="Arial"/>
            </a:endParaRPr>
          </a:p>
          <a:p>
            <a:pPr algn="l">
              <a:defRPr sz="2250" b="0">
                <a:solidFill>
                  <a:srgbClr val="142E42"/>
                </a:solidFill>
                <a:latin typeface="Arial"/>
                <a:ea typeface="Arial"/>
                <a:cs typeface="Arial"/>
              </a:defRPr>
            </a:pPr>
            <a:r>
              <a:rPr sz="2250" b="0" dirty="0">
                <a:solidFill>
                  <a:srgbClr val="142E42"/>
                </a:solidFill>
                <a:latin typeface="Arial"/>
                <a:ea typeface="Arial"/>
                <a:cs typeface="Arial"/>
              </a:rPr>
              <a:t>Validate a BST using lower and upper bounds.</a:t>
            </a:r>
          </a:p>
          <a:p>
            <a:endParaRPr sz="2250" b="0" dirty="0">
              <a:solidFill>
                <a:srgbClr val="142E42"/>
              </a:solidFill>
              <a:latin typeface="Arial"/>
              <a:ea typeface="Arial"/>
              <a:cs typeface="Arial"/>
            </a:endParaRPr>
          </a:p>
          <a:p>
            <a:pPr algn="l">
              <a:defRPr sz="2250" b="0">
                <a:solidFill>
                  <a:srgbClr val="142E42"/>
                </a:solidFill>
                <a:latin typeface="Arial"/>
                <a:ea typeface="Arial"/>
                <a:cs typeface="Arial"/>
              </a:defRPr>
            </a:pPr>
            <a:r>
              <a:rPr sz="2250" b="0" dirty="0">
                <a:solidFill>
                  <a:srgbClr val="142E42"/>
                </a:solidFill>
                <a:latin typeface="Arial"/>
                <a:ea typeface="Arial"/>
                <a:cs typeface="Arial"/>
              </a:rPr>
              <a:t>Compare sorted insertion with random insertion.</a:t>
            </a:r>
          </a:p>
          <a:p>
            <a:endParaRPr sz="2250" b="0" dirty="0">
              <a:solidFill>
                <a:srgbClr val="142E42"/>
              </a:solidFill>
              <a:latin typeface="Arial"/>
              <a:ea typeface="Arial"/>
              <a:cs typeface="Arial"/>
            </a:endParaRPr>
          </a:p>
          <a:p>
            <a:pPr algn="l">
              <a:defRPr sz="2250" b="0">
                <a:solidFill>
                  <a:srgbClr val="142E42"/>
                </a:solidFill>
                <a:latin typeface="Arial"/>
                <a:ea typeface="Arial"/>
                <a:cs typeface="Arial"/>
              </a:defRPr>
            </a:pPr>
            <a:r>
              <a:rPr sz="2250" b="0" dirty="0">
                <a:solidFill>
                  <a:srgbClr val="142E42"/>
                </a:solidFill>
                <a:latin typeface="Arial"/>
                <a:ea typeface="Arial"/>
                <a:cs typeface="Arial"/>
              </a:rPr>
              <a:t>Explain how changing a stored key could break ordering.</a:t>
            </a:r>
          </a:p>
        </p:txBody>
      </p:sp>
      <p:sp>
        <p:nvSpPr>
          <p:cNvPr id="4" name="text-3">
            <a:extLst>
              <a:ext uri="{FF2B5EF4-FFF2-40B4-BE49-F238E27FC236}">
                <a16:creationId xmlns:a16="http://schemas.microsoft.com/office/drawing/2014/main" id="{48C7AE37-26FB-4FB5-A158-8476ECC02610}"/>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defRPr sz="1800" b="1">
                <a:solidFill>
                  <a:srgbClr val="007C83"/>
                </a:solidFill>
                <a:latin typeface="Arial"/>
                <a:ea typeface="Arial"/>
                <a:cs typeface="Arial"/>
              </a:defRPr>
            </a:lvl1pPr>
            <a:lvl2pPr algn="l">
              <a:defRPr sz="1800" b="1">
                <a:solidFill>
                  <a:srgbClr val="007C83"/>
                </a:solidFill>
                <a:latin typeface="Arial"/>
                <a:ea typeface="Arial"/>
                <a:cs typeface="Arial"/>
              </a:defRPr>
            </a:lvl2pPr>
            <a:lvl3pPr algn="l">
              <a:defRPr sz="1800" b="1">
                <a:solidFill>
                  <a:srgbClr val="007C83"/>
                </a:solidFill>
                <a:latin typeface="Arial"/>
                <a:ea typeface="Arial"/>
                <a:cs typeface="Arial"/>
              </a:defRPr>
            </a:lvl3pPr>
            <a:lvl4pPr algn="l">
              <a:defRPr sz="1800" b="1">
                <a:solidFill>
                  <a:srgbClr val="007C83"/>
                </a:solidFill>
                <a:latin typeface="Arial"/>
                <a:ea typeface="Arial"/>
                <a:cs typeface="Arial"/>
              </a:defRPr>
            </a:lvl4pPr>
            <a:lvl5pPr algn="l">
              <a:defRPr sz="1800" b="1">
                <a:solidFill>
                  <a:srgbClr val="007C83"/>
                </a:solidFill>
                <a:latin typeface="Arial"/>
                <a:ea typeface="Arial"/>
                <a:cs typeface="Arial"/>
              </a:defRPr>
            </a:lvl5pPr>
            <a:lvl6pPr algn="l">
              <a:defRPr sz="1800" b="1">
                <a:solidFill>
                  <a:srgbClr val="007C83"/>
                </a:solidFill>
                <a:latin typeface="Arial"/>
                <a:ea typeface="Arial"/>
                <a:cs typeface="Arial"/>
              </a:defRPr>
            </a:lvl6pPr>
            <a:lvl7pPr algn="l">
              <a:defRPr sz="1800" b="1">
                <a:solidFill>
                  <a:srgbClr val="007C83"/>
                </a:solidFill>
                <a:latin typeface="Arial"/>
                <a:ea typeface="Arial"/>
                <a:cs typeface="Arial"/>
              </a:defRPr>
            </a:lvl7pPr>
            <a:lvl8pPr algn="l">
              <a:defRPr sz="1800" b="1">
                <a:solidFill>
                  <a:srgbClr val="007C83"/>
                </a:solidFill>
                <a:latin typeface="Arial"/>
                <a:ea typeface="Arial"/>
                <a:cs typeface="Arial"/>
              </a:defRPr>
            </a:lvl8pPr>
            <a:lvl9pPr algn="l">
              <a:defRPr sz="1800" b="1">
                <a:solidFill>
                  <a:srgbClr val="007C83"/>
                </a:solidFill>
                <a:latin typeface="Arial"/>
                <a:ea typeface="Arial"/>
                <a:cs typeface="Arial"/>
              </a:defRPr>
            </a:lvl9pPr>
          </a:lstStyle>
          <a:p>
            <a:pPr algn="l">
              <a:defRPr sz="1800" b="1">
                <a:solidFill>
                  <a:srgbClr val="007C83"/>
                </a:solidFill>
                <a:latin typeface="Arial"/>
                <a:ea typeface="Arial"/>
                <a:cs typeface="Arial"/>
              </a:defRPr>
            </a:pPr>
            <a:r>
              <a:rPr sz="1800" b="1">
                <a:solidFill>
                  <a:srgbClr val="007C83"/>
                </a:solidFill>
                <a:latin typeface="Arial"/>
                <a:ea typeface="Arial"/>
                <a:cs typeface="Arial"/>
              </a:rPr>
              <a:t>A BST’s ordering rule gives the algorithm. Its shape determines the cost.</a:t>
            </a:r>
          </a:p>
        </p:txBody>
      </p:sp>
    </p:spTree>
    <p:extLst>
      <p:ext uri="{BB962C8B-B14F-4D97-AF65-F5344CB8AC3E}">
        <p14:creationId xmlns:p14="http://schemas.microsoft.com/office/powerpoint/2010/main" val="114832998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TotalTime>
  <Words>3617</Words>
  <Application>Microsoft Office PowerPoint</Application>
  <DocSecurity>0</DocSecurity>
  <PresentationFormat>Widescreen</PresentationFormat>
  <Paragraphs>629</Paragraphs>
  <Slides>40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Consolas</vt:lpstr>
      <vt:lpstr>Symbol</vt:lpstr>
      <vt:lpstr>Times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binary tree time complexity </vt:lpstr>
      <vt:lpstr>The Efficiency of Binary Search Tree Operations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Zartoshty, Bahram</cp:lastModifiedBy>
  <cp:revision>3</cp:revision>
  <cp:lastPrinted>2026-10-21T20:00:48Z</cp:lastPrinted>
  <dcterms:created xsi:type="dcterms:W3CDTF">2026-10-21T17:56:52Z</dcterms:created>
  <dcterms:modified xsi:type="dcterms:W3CDTF">2026-10-21T21:39:41Z</dcterms:modified>
</cp:coreProperties>
</file>