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2.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3.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24.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25.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26.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notesSlides/notesSlide29.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30.xml" ContentType="application/vnd.openxmlformats-officedocument.presentationml.notesSlide+xml"/>
  <Override PartName="/ppt/tags/tag29.xml" ContentType="application/vnd.openxmlformats-officedocument.presentationml.tags+xml"/>
  <Override PartName="/ppt/notesSlides/notesSlide31.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32.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33.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36.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37.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38.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39.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40.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41.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42.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43.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44.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45.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46.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47.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notesSlides/notesSlide50.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notesSlides/notesSlide51.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52.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53.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54.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55.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notesSlides/notesSlide56.xml" ContentType="application/vnd.openxmlformats-officedocument.presentationml.notesSlide+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notesSlides/notesSlide63.xml" ContentType="application/vnd.openxmlformats-officedocument.presentationml.notesSlide+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64.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notesSlides/notesSlide65.xml" ContentType="application/vnd.openxmlformats-officedocument.presentationml.notesSlide+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notesSlides/notesSlide66.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notesSlides/notesSlide67.xml" ContentType="application/vnd.openxmlformats-officedocument.presentationml.notesSlide+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68.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notesSlides/notesSlide69.xml" ContentType="application/vnd.openxmlformats-officedocument.presentationml.notesSlide+xml"/>
  <Override PartName="/ppt/tags/tag125.xml" ContentType="application/vnd.openxmlformats-officedocument.presentationml.tags+xml"/>
  <Override PartName="/ppt/tags/tag126.xml" ContentType="application/vnd.openxmlformats-officedocument.presentationml.tags+xml"/>
  <Override PartName="/ppt/notesSlides/notesSlide70.xml" ContentType="application/vnd.openxmlformats-officedocument.presentationml.notesSlide+xml"/>
  <Override PartName="/ppt/tags/tag127.xml" ContentType="application/vnd.openxmlformats-officedocument.presentationml.tags+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5"/>
  </p:notesMasterIdLst>
  <p:sldIdLst>
    <p:sldId id="545" r:id="rId2"/>
    <p:sldId id="546" r:id="rId3"/>
    <p:sldId id="547" r:id="rId4"/>
    <p:sldId id="532" r:id="rId5"/>
    <p:sldId id="548" r:id="rId6"/>
    <p:sldId id="549" r:id="rId7"/>
    <p:sldId id="279" r:id="rId8"/>
    <p:sldId id="285" r:id="rId9"/>
    <p:sldId id="286" r:id="rId10"/>
    <p:sldId id="287" r:id="rId11"/>
    <p:sldId id="288" r:id="rId12"/>
    <p:sldId id="289" r:id="rId13"/>
    <p:sldId id="292" r:id="rId14"/>
    <p:sldId id="404" r:id="rId15"/>
    <p:sldId id="550" r:id="rId16"/>
    <p:sldId id="534" r:id="rId17"/>
    <p:sldId id="389" r:id="rId18"/>
    <p:sldId id="257" r:id="rId19"/>
    <p:sldId id="406" r:id="rId20"/>
    <p:sldId id="259" r:id="rId21"/>
    <p:sldId id="370" r:id="rId22"/>
    <p:sldId id="260" r:id="rId23"/>
    <p:sldId id="299" r:id="rId24"/>
    <p:sldId id="300" r:id="rId25"/>
    <p:sldId id="301" r:id="rId26"/>
    <p:sldId id="302" r:id="rId27"/>
    <p:sldId id="303" r:id="rId28"/>
    <p:sldId id="304" r:id="rId29"/>
    <p:sldId id="305" r:id="rId30"/>
    <p:sldId id="306" r:id="rId31"/>
    <p:sldId id="307" r:id="rId32"/>
    <p:sldId id="308" r:id="rId33"/>
    <p:sldId id="309" r:id="rId34"/>
    <p:sldId id="310" r:id="rId35"/>
    <p:sldId id="311" r:id="rId36"/>
    <p:sldId id="551" r:id="rId37"/>
    <p:sldId id="312" r:id="rId38"/>
    <p:sldId id="263" r:id="rId39"/>
    <p:sldId id="427" r:id="rId40"/>
    <p:sldId id="428" r:id="rId41"/>
    <p:sldId id="265" r:id="rId42"/>
    <p:sldId id="429" r:id="rId43"/>
    <p:sldId id="552" r:id="rId44"/>
    <p:sldId id="266" r:id="rId45"/>
    <p:sldId id="268" r:id="rId46"/>
    <p:sldId id="413" r:id="rId47"/>
    <p:sldId id="414" r:id="rId48"/>
    <p:sldId id="442" r:id="rId49"/>
    <p:sldId id="443" r:id="rId50"/>
    <p:sldId id="444" r:id="rId51"/>
    <p:sldId id="445" r:id="rId52"/>
    <p:sldId id="446" r:id="rId53"/>
    <p:sldId id="447" r:id="rId54"/>
    <p:sldId id="426" r:id="rId55"/>
    <p:sldId id="436" r:id="rId56"/>
    <p:sldId id="448" r:id="rId57"/>
    <p:sldId id="467" r:id="rId58"/>
    <p:sldId id="553" r:id="rId59"/>
    <p:sldId id="554" r:id="rId60"/>
    <p:sldId id="452" r:id="rId61"/>
    <p:sldId id="419" r:id="rId62"/>
    <p:sldId id="453" r:id="rId63"/>
    <p:sldId id="454" r:id="rId64"/>
    <p:sldId id="455" r:id="rId65"/>
    <p:sldId id="456" r:id="rId66"/>
    <p:sldId id="457" r:id="rId67"/>
    <p:sldId id="458" r:id="rId68"/>
    <p:sldId id="459" r:id="rId69"/>
    <p:sldId id="460" r:id="rId70"/>
    <p:sldId id="461" r:id="rId71"/>
    <p:sldId id="462" r:id="rId72"/>
    <p:sldId id="463" r:id="rId73"/>
    <p:sldId id="464" r:id="rId74"/>
    <p:sldId id="465" r:id="rId75"/>
    <p:sldId id="560" r:id="rId76"/>
    <p:sldId id="469" r:id="rId77"/>
    <p:sldId id="471" r:id="rId78"/>
    <p:sldId id="472" r:id="rId79"/>
    <p:sldId id="473" r:id="rId80"/>
    <p:sldId id="418" r:id="rId81"/>
    <p:sldId id="474" r:id="rId82"/>
    <p:sldId id="475" r:id="rId83"/>
    <p:sldId id="555" r:id="rId84"/>
    <p:sldId id="556" r:id="rId85"/>
    <p:sldId id="539" r:id="rId86"/>
    <p:sldId id="424" r:id="rId87"/>
    <p:sldId id="421" r:id="rId88"/>
    <p:sldId id="318" r:id="rId89"/>
    <p:sldId id="557" r:id="rId90"/>
    <p:sldId id="558" r:id="rId91"/>
    <p:sldId id="559" r:id="rId92"/>
    <p:sldId id="432" r:id="rId93"/>
    <p:sldId id="433" r:id="rId94"/>
    <p:sldId id="434" r:id="rId95"/>
    <p:sldId id="437" r:id="rId96"/>
    <p:sldId id="438" r:id="rId97"/>
    <p:sldId id="441" r:id="rId98"/>
    <p:sldId id="541" r:id="rId99"/>
    <p:sldId id="319" r:id="rId100"/>
    <p:sldId id="317" r:id="rId101"/>
    <p:sldId id="320" r:id="rId102"/>
    <p:sldId id="430" r:id="rId103"/>
    <p:sldId id="431" r:id="rId104"/>
  </p:sldIdLst>
  <p:sldSz cx="12192000" cy="6858000"/>
  <p:notesSz cx="7077075" cy="9363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8" autoAdjust="0"/>
    <p:restoredTop sz="75771" autoAdjust="0"/>
  </p:normalViewPr>
  <p:slideViewPr>
    <p:cSldViewPr snapToGrid="0">
      <p:cViewPr varScale="1">
        <p:scale>
          <a:sx n="122" d="100"/>
          <a:sy n="122" d="100"/>
        </p:scale>
        <p:origin x="3888" y="10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6733" cy="469779"/>
          </a:xfrm>
          <a:prstGeom prst="rect">
            <a:avLst/>
          </a:prstGeom>
        </p:spPr>
        <p:txBody>
          <a:bodyPr vert="horz" lIns="93932" tIns="46966" rIns="93932" bIns="46966" rtlCol="0"/>
          <a:lstStyle>
            <a:lvl1pPr algn="l">
              <a:defRPr sz="1200"/>
            </a:lvl1pPr>
          </a:lstStyle>
          <a:p>
            <a:endParaRPr lang="en-US"/>
          </a:p>
        </p:txBody>
      </p:sp>
      <p:sp>
        <p:nvSpPr>
          <p:cNvPr id="3" name="Date Placeholder 2"/>
          <p:cNvSpPr>
            <a:spLocks noGrp="1"/>
          </p:cNvSpPr>
          <p:nvPr>
            <p:ph type="dt" idx="1"/>
          </p:nvPr>
        </p:nvSpPr>
        <p:spPr>
          <a:xfrm>
            <a:off x="4008705" y="0"/>
            <a:ext cx="3066733" cy="469779"/>
          </a:xfrm>
          <a:prstGeom prst="rect">
            <a:avLst/>
          </a:prstGeom>
        </p:spPr>
        <p:txBody>
          <a:bodyPr vert="horz" lIns="93932" tIns="46966" rIns="93932" bIns="46966" rtlCol="0"/>
          <a:lstStyle>
            <a:lvl1pPr algn="r">
              <a:defRPr sz="1200"/>
            </a:lvl1pPr>
          </a:lstStyle>
          <a:p>
            <a:fld id="{B88858C5-09E3-4E63-BEBE-CEFB4971C70E}" type="datetimeFigureOut">
              <a:rPr lang="en-US" smtClean="0"/>
              <a:t>11/13/2025</a:t>
            </a:fld>
            <a:endParaRPr lang="en-US"/>
          </a:p>
        </p:txBody>
      </p:sp>
      <p:sp>
        <p:nvSpPr>
          <p:cNvPr id="4" name="Slide Image Placeholder 3"/>
          <p:cNvSpPr>
            <a:spLocks noGrp="1" noRot="1" noChangeAspect="1"/>
          </p:cNvSpPr>
          <p:nvPr>
            <p:ph type="sldImg" idx="2"/>
          </p:nvPr>
        </p:nvSpPr>
        <p:spPr>
          <a:xfrm>
            <a:off x="730250" y="1169988"/>
            <a:ext cx="5616575" cy="3159125"/>
          </a:xfrm>
          <a:prstGeom prst="rect">
            <a:avLst/>
          </a:prstGeom>
          <a:noFill/>
          <a:ln w="12700">
            <a:solidFill>
              <a:prstClr val="black"/>
            </a:solidFill>
          </a:ln>
        </p:spPr>
        <p:txBody>
          <a:bodyPr vert="horz" lIns="93932" tIns="46966" rIns="93932" bIns="46966" rtlCol="0" anchor="ctr"/>
          <a:lstStyle/>
          <a:p>
            <a:endParaRPr lang="en-US"/>
          </a:p>
        </p:txBody>
      </p:sp>
      <p:sp>
        <p:nvSpPr>
          <p:cNvPr id="5" name="Notes Placeholder 4"/>
          <p:cNvSpPr>
            <a:spLocks noGrp="1"/>
          </p:cNvSpPr>
          <p:nvPr>
            <p:ph type="body" sz="quarter" idx="3"/>
          </p:nvPr>
        </p:nvSpPr>
        <p:spPr>
          <a:xfrm>
            <a:off x="707708" y="4505979"/>
            <a:ext cx="5661660" cy="3686711"/>
          </a:xfrm>
          <a:prstGeom prst="rect">
            <a:avLst/>
          </a:prstGeom>
        </p:spPr>
        <p:txBody>
          <a:bodyPr vert="horz" lIns="93932" tIns="46966" rIns="93932" bIns="46966"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93297"/>
            <a:ext cx="3066733" cy="469778"/>
          </a:xfrm>
          <a:prstGeom prst="rect">
            <a:avLst/>
          </a:prstGeom>
        </p:spPr>
        <p:txBody>
          <a:bodyPr vert="horz" lIns="93932" tIns="46966" rIns="93932" bIns="46966" rtlCol="0" anchor="b"/>
          <a:lstStyle>
            <a:lvl1pPr algn="l">
              <a:defRPr sz="1200"/>
            </a:lvl1pPr>
          </a:lstStyle>
          <a:p>
            <a:endParaRPr lang="en-US"/>
          </a:p>
        </p:txBody>
      </p:sp>
      <p:sp>
        <p:nvSpPr>
          <p:cNvPr id="7" name="Slide Number Placeholder 6"/>
          <p:cNvSpPr>
            <a:spLocks noGrp="1"/>
          </p:cNvSpPr>
          <p:nvPr>
            <p:ph type="sldNum" sz="quarter" idx="5"/>
          </p:nvPr>
        </p:nvSpPr>
        <p:spPr>
          <a:xfrm>
            <a:off x="4008705" y="8893297"/>
            <a:ext cx="3066733" cy="469778"/>
          </a:xfrm>
          <a:prstGeom prst="rect">
            <a:avLst/>
          </a:prstGeom>
        </p:spPr>
        <p:txBody>
          <a:bodyPr vert="horz" lIns="93932" tIns="46966" rIns="93932" bIns="46966" rtlCol="0" anchor="b"/>
          <a:lstStyle>
            <a:lvl1pPr algn="r">
              <a:defRPr sz="1200"/>
            </a:lvl1pPr>
          </a:lstStyle>
          <a:p>
            <a:fld id="{B8C27712-3692-4A90-8CF2-CA78D6DC5F6E}" type="slidenum">
              <a:rPr lang="en-US" smtClean="0"/>
              <a:t>‹#›</a:t>
            </a:fld>
            <a:endParaRPr lang="en-US"/>
          </a:p>
        </p:txBody>
      </p:sp>
    </p:spTree>
    <p:extLst>
      <p:ext uri="{BB962C8B-B14F-4D97-AF65-F5344CB8AC3E}">
        <p14:creationId xmlns:p14="http://schemas.microsoft.com/office/powerpoint/2010/main" val="951743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r>
              <a:rPr lang="en-US" altLang="en-US" sz="1200" dirty="0"/>
              <a:t>To understand what hashing is and for what hashing is used.</a:t>
            </a:r>
          </a:p>
          <a:p>
            <a:pPr marL="342900" indent="-342900"/>
            <a:r>
              <a:rPr lang="en-US" altLang="en-US" sz="1200" dirty="0"/>
              <a:t>To obtain the hash code for an object and design the hash function to map a key to an index.</a:t>
            </a:r>
          </a:p>
          <a:p>
            <a:pPr marL="342900" indent="-342900"/>
            <a:r>
              <a:rPr lang="en-US" altLang="en-US" sz="1200" dirty="0"/>
              <a:t>To handle collisions using open addressing.</a:t>
            </a:r>
          </a:p>
          <a:p>
            <a:pPr marL="342900" indent="-342900"/>
            <a:r>
              <a:rPr lang="en-US" altLang="en-US" sz="1200" dirty="0"/>
              <a:t>To know the differences among linear probing, quadratic probing, and double hashing.</a:t>
            </a:r>
          </a:p>
          <a:p>
            <a:pPr marL="342900" indent="-342900"/>
            <a:r>
              <a:rPr lang="en-US" altLang="en-US" sz="1200" dirty="0"/>
              <a:t>To handle collisions using separate chaining.</a:t>
            </a:r>
          </a:p>
          <a:p>
            <a:pPr marL="342900" indent="-342900"/>
            <a:r>
              <a:rPr lang="en-US" altLang="en-US" sz="1200" dirty="0"/>
              <a:t>To understand the load factor and the need for rehashing.</a:t>
            </a:r>
          </a:p>
          <a:p>
            <a:endParaRPr lang="en-US" dirty="0"/>
          </a:p>
        </p:txBody>
      </p:sp>
      <p:sp>
        <p:nvSpPr>
          <p:cNvPr id="4" name="Slide Number Placeholder 3"/>
          <p:cNvSpPr>
            <a:spLocks noGrp="1"/>
          </p:cNvSpPr>
          <p:nvPr>
            <p:ph type="sldNum" sz="quarter" idx="5"/>
          </p:nvPr>
        </p:nvSpPr>
        <p:spPr/>
        <p:txBody>
          <a:bodyPr/>
          <a:lstStyle/>
          <a:p>
            <a:fld id="{B8C27712-3692-4A90-8CF2-CA78D6DC5F6E}" type="slidenum">
              <a:rPr lang="en-US" smtClean="0"/>
              <a:t>3</a:t>
            </a:fld>
            <a:endParaRPr lang="en-US"/>
          </a:p>
        </p:txBody>
      </p:sp>
    </p:spTree>
    <p:extLst>
      <p:ext uri="{BB962C8B-B14F-4D97-AF65-F5344CB8AC3E}">
        <p14:creationId xmlns:p14="http://schemas.microsoft.com/office/powerpoint/2010/main" val="3003115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a:cs typeface="Arial"/>
              </a:rPr>
              <a:t>Any</a:t>
            </a:r>
            <a:r>
              <a:rPr lang="en-US" sz="1200" spc="-10" dirty="0">
                <a:latin typeface="Arial"/>
                <a:cs typeface="Arial"/>
              </a:rPr>
              <a:t> </a:t>
            </a:r>
            <a:r>
              <a:rPr lang="en-US" sz="1200" dirty="0">
                <a:latin typeface="Arial"/>
                <a:cs typeface="Arial"/>
              </a:rPr>
              <a:t>data we</a:t>
            </a:r>
            <a:r>
              <a:rPr lang="en-US" sz="1200" spc="-5" dirty="0">
                <a:latin typeface="Arial"/>
                <a:cs typeface="Arial"/>
              </a:rPr>
              <a:t> </a:t>
            </a:r>
            <a:r>
              <a:rPr lang="en-US" sz="1200" dirty="0">
                <a:latin typeface="Arial"/>
                <a:cs typeface="Arial"/>
              </a:rPr>
              <a:t>might</a:t>
            </a:r>
            <a:r>
              <a:rPr lang="en-US" sz="1200" spc="-5" dirty="0">
                <a:latin typeface="Arial"/>
                <a:cs typeface="Arial"/>
              </a:rPr>
              <a:t> </a:t>
            </a:r>
            <a:r>
              <a:rPr lang="en-US" sz="1200" dirty="0">
                <a:latin typeface="Arial"/>
                <a:cs typeface="Arial"/>
              </a:rPr>
              <a:t>want</a:t>
            </a:r>
            <a:r>
              <a:rPr lang="en-US" sz="1200" spc="-5" dirty="0">
                <a:latin typeface="Arial"/>
                <a:cs typeface="Arial"/>
              </a:rPr>
              <a:t> </a:t>
            </a:r>
            <a:r>
              <a:rPr lang="en-US" sz="1200" dirty="0">
                <a:latin typeface="Arial"/>
                <a:cs typeface="Arial"/>
              </a:rPr>
              <a:t>to</a:t>
            </a:r>
            <a:r>
              <a:rPr lang="en-US" sz="1200" spc="-5" dirty="0">
                <a:latin typeface="Arial"/>
                <a:cs typeface="Arial"/>
              </a:rPr>
              <a:t> </a:t>
            </a:r>
            <a:r>
              <a:rPr lang="en-US" sz="1200" dirty="0">
                <a:latin typeface="Arial"/>
                <a:cs typeface="Arial"/>
              </a:rPr>
              <a:t>store is</a:t>
            </a:r>
            <a:r>
              <a:rPr lang="en-US" sz="1200" spc="-5" dirty="0">
                <a:latin typeface="Arial"/>
                <a:cs typeface="Arial"/>
              </a:rPr>
              <a:t> </a:t>
            </a:r>
            <a:r>
              <a:rPr lang="en-US" sz="1200" spc="-50" dirty="0">
                <a:latin typeface="Arial"/>
                <a:cs typeface="Arial"/>
              </a:rPr>
              <a:t>a </a:t>
            </a:r>
            <a:r>
              <a:rPr lang="en-US" sz="1200" dirty="0">
                <a:latin typeface="Arial"/>
                <a:cs typeface="Arial"/>
              </a:rPr>
              <a:t>member</a:t>
            </a:r>
            <a:r>
              <a:rPr lang="en-US" sz="1200" spc="-10" dirty="0">
                <a:latin typeface="Arial"/>
                <a:cs typeface="Arial"/>
              </a:rPr>
              <a:t> </a:t>
            </a:r>
            <a:r>
              <a:rPr lang="en-US" sz="1200" dirty="0">
                <a:latin typeface="Arial"/>
                <a:cs typeface="Arial"/>
              </a:rPr>
              <a:t>of</a:t>
            </a:r>
            <a:r>
              <a:rPr lang="en-US" sz="1200" spc="-5" dirty="0">
                <a:latin typeface="Arial"/>
                <a:cs typeface="Arial"/>
              </a:rPr>
              <a:t> </a:t>
            </a:r>
            <a:r>
              <a:rPr lang="en-US" sz="1200" dirty="0">
                <a:latin typeface="Arial"/>
                <a:cs typeface="Arial"/>
              </a:rPr>
              <a:t>this</a:t>
            </a:r>
            <a:r>
              <a:rPr lang="en-US" sz="1200" spc="-10" dirty="0">
                <a:latin typeface="Arial"/>
                <a:cs typeface="Arial"/>
              </a:rPr>
              <a:t> </a:t>
            </a:r>
            <a:r>
              <a:rPr lang="en-US" sz="1200" dirty="0">
                <a:latin typeface="Arial"/>
                <a:cs typeface="Arial"/>
              </a:rPr>
              <a:t>set.</a:t>
            </a:r>
            <a:r>
              <a:rPr lang="en-US" sz="1200" spc="-5" dirty="0">
                <a:latin typeface="Arial"/>
                <a:cs typeface="Arial"/>
              </a:rPr>
              <a:t> </a:t>
            </a:r>
            <a:r>
              <a:rPr lang="en-US" sz="1200" dirty="0">
                <a:latin typeface="Arial"/>
                <a:cs typeface="Arial"/>
              </a:rPr>
              <a:t>For</a:t>
            </a:r>
            <a:r>
              <a:rPr lang="en-US" sz="1200" spc="-10" dirty="0">
                <a:latin typeface="Arial"/>
                <a:cs typeface="Arial"/>
              </a:rPr>
              <a:t> </a:t>
            </a:r>
            <a:r>
              <a:rPr lang="en-US" sz="1200" dirty="0">
                <a:latin typeface="Arial"/>
                <a:cs typeface="Arial"/>
              </a:rPr>
              <a:t>example,</a:t>
            </a:r>
            <a:r>
              <a:rPr lang="en-US" sz="1200" spc="-5" dirty="0">
                <a:latin typeface="Arial"/>
                <a:cs typeface="Arial"/>
              </a:rPr>
              <a:t> </a:t>
            </a:r>
            <a:r>
              <a:rPr lang="en-US" sz="1200" b="1" dirty="0">
                <a:latin typeface="Arial"/>
                <a:cs typeface="Arial"/>
              </a:rPr>
              <a:t>M </a:t>
            </a:r>
            <a:r>
              <a:rPr lang="en-US" sz="1200" spc="-10" dirty="0">
                <a:latin typeface="Arial"/>
                <a:cs typeface="Arial"/>
              </a:rPr>
              <a:t>might </a:t>
            </a:r>
            <a:r>
              <a:rPr lang="en-US" sz="1200" dirty="0">
                <a:latin typeface="Arial"/>
                <a:cs typeface="Arial"/>
              </a:rPr>
              <a:t>be</a:t>
            </a:r>
            <a:r>
              <a:rPr lang="en-US" sz="1200" spc="-5" dirty="0">
                <a:latin typeface="Arial"/>
                <a:cs typeface="Arial"/>
              </a:rPr>
              <a:t> </a:t>
            </a:r>
            <a:r>
              <a:rPr lang="en-US" sz="1200" dirty="0">
                <a:latin typeface="Arial"/>
                <a:cs typeface="Arial"/>
              </a:rPr>
              <a:t>the set</a:t>
            </a:r>
            <a:r>
              <a:rPr lang="en-US" sz="1200" spc="-5" dirty="0">
                <a:latin typeface="Arial"/>
                <a:cs typeface="Arial"/>
              </a:rPr>
              <a:t> </a:t>
            </a:r>
            <a:r>
              <a:rPr lang="en-US" sz="1200" dirty="0">
                <a:latin typeface="Arial"/>
                <a:cs typeface="Arial"/>
              </a:rPr>
              <a:t>of</a:t>
            </a:r>
            <a:r>
              <a:rPr lang="en-US" sz="1200" spc="-5" dirty="0">
                <a:latin typeface="Arial"/>
                <a:cs typeface="Arial"/>
              </a:rPr>
              <a:t> </a:t>
            </a:r>
            <a:r>
              <a:rPr lang="en-US" sz="1200" dirty="0">
                <a:latin typeface="Arial"/>
                <a:cs typeface="Arial"/>
              </a:rPr>
              <a:t>all </a:t>
            </a:r>
            <a:r>
              <a:rPr lang="en-US" sz="1200" spc="-10" dirty="0">
                <a:latin typeface="Arial"/>
                <a:cs typeface="Arial"/>
              </a:rPr>
              <a:t>strings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a:cs typeface="Arial"/>
              </a:rPr>
              <a:t>For</a:t>
            </a:r>
            <a:r>
              <a:rPr lang="en-US" sz="1200" spc="-35" dirty="0">
                <a:latin typeface="Arial"/>
                <a:cs typeface="Arial"/>
              </a:rPr>
              <a:t> </a:t>
            </a:r>
            <a:r>
              <a:rPr lang="en-US" sz="1200" dirty="0">
                <a:latin typeface="Arial"/>
                <a:cs typeface="Arial"/>
              </a:rPr>
              <a:t>an</a:t>
            </a:r>
            <a:r>
              <a:rPr lang="en-US" sz="1200" spc="-15" dirty="0">
                <a:latin typeface="Arial"/>
                <a:cs typeface="Arial"/>
              </a:rPr>
              <a:t> </a:t>
            </a:r>
            <a:r>
              <a:rPr lang="en-US" sz="1200" dirty="0">
                <a:latin typeface="Arial"/>
                <a:cs typeface="Arial"/>
              </a:rPr>
              <a:t>English</a:t>
            </a:r>
            <a:r>
              <a:rPr lang="en-US" sz="1200" spc="-15" dirty="0">
                <a:latin typeface="Arial"/>
                <a:cs typeface="Arial"/>
              </a:rPr>
              <a:t> </a:t>
            </a:r>
            <a:r>
              <a:rPr lang="en-US" sz="1200" spc="-10" dirty="0">
                <a:latin typeface="Arial"/>
                <a:cs typeface="Arial"/>
              </a:rPr>
              <a:t>Dictionary,</a:t>
            </a:r>
            <a:r>
              <a:rPr lang="en-US" sz="1200" spc="-20" dirty="0">
                <a:latin typeface="Arial"/>
                <a:cs typeface="Arial"/>
              </a:rPr>
              <a:t> </a:t>
            </a:r>
            <a:r>
              <a:rPr lang="en-US" sz="1200" b="1" dirty="0">
                <a:latin typeface="Arial"/>
                <a:cs typeface="Arial"/>
              </a:rPr>
              <a:t>D</a:t>
            </a:r>
            <a:r>
              <a:rPr lang="en-US" sz="1200" b="1" spc="-15" dirty="0">
                <a:latin typeface="Arial"/>
                <a:cs typeface="Arial"/>
              </a:rPr>
              <a:t> </a:t>
            </a:r>
            <a:r>
              <a:rPr lang="en-US" sz="1200" dirty="0">
                <a:latin typeface="Arial"/>
                <a:cs typeface="Arial"/>
              </a:rPr>
              <a:t>might</a:t>
            </a:r>
            <a:r>
              <a:rPr lang="en-US" sz="1200" spc="-20" dirty="0">
                <a:latin typeface="Arial"/>
                <a:cs typeface="Arial"/>
              </a:rPr>
              <a:t> </a:t>
            </a:r>
            <a:r>
              <a:rPr lang="en-US" sz="1200" dirty="0">
                <a:latin typeface="Arial"/>
                <a:cs typeface="Arial"/>
              </a:rPr>
              <a:t>be</a:t>
            </a:r>
            <a:r>
              <a:rPr lang="en-US" sz="1200" spc="-15" dirty="0">
                <a:latin typeface="Arial"/>
                <a:cs typeface="Arial"/>
              </a:rPr>
              <a:t> </a:t>
            </a:r>
            <a:r>
              <a:rPr lang="en-US" sz="1200" spc="-25" dirty="0">
                <a:latin typeface="Arial"/>
                <a:cs typeface="Arial"/>
              </a:rPr>
              <a:t>the </a:t>
            </a:r>
            <a:r>
              <a:rPr lang="en-US" sz="1200" dirty="0">
                <a:latin typeface="Arial"/>
                <a:cs typeface="Arial"/>
              </a:rPr>
              <a:t>set</a:t>
            </a:r>
            <a:r>
              <a:rPr lang="en-US" sz="1200" spc="-15" dirty="0">
                <a:latin typeface="Arial"/>
                <a:cs typeface="Arial"/>
              </a:rPr>
              <a:t> </a:t>
            </a:r>
            <a:r>
              <a:rPr lang="en-US" sz="1200" dirty="0">
                <a:latin typeface="Arial"/>
                <a:cs typeface="Arial"/>
              </a:rPr>
              <a:t>of</a:t>
            </a:r>
            <a:r>
              <a:rPr lang="en-US" sz="1200" spc="-5" dirty="0">
                <a:latin typeface="Arial"/>
                <a:cs typeface="Arial"/>
              </a:rPr>
              <a:t> </a:t>
            </a:r>
            <a:r>
              <a:rPr lang="en-US" sz="1200" dirty="0">
                <a:latin typeface="Arial"/>
                <a:cs typeface="Arial"/>
              </a:rPr>
              <a:t>English </a:t>
            </a:r>
            <a:r>
              <a:rPr lang="en-US" sz="1200" spc="-10" dirty="0">
                <a:latin typeface="Arial"/>
                <a:cs typeface="Arial"/>
              </a:rPr>
              <a:t>words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a:cs typeface="Arial"/>
              </a:rPr>
              <a:t>The</a:t>
            </a:r>
            <a:r>
              <a:rPr lang="en-US" sz="1200" spc="-5" dirty="0">
                <a:latin typeface="Arial"/>
                <a:cs typeface="Arial"/>
              </a:rPr>
              <a:t> </a:t>
            </a:r>
            <a:r>
              <a:rPr lang="en-US" sz="1200" dirty="0">
                <a:latin typeface="Arial"/>
                <a:cs typeface="Arial"/>
              </a:rPr>
              <a:t>data</a:t>
            </a:r>
            <a:r>
              <a:rPr lang="en-US" sz="1200" spc="-5" dirty="0">
                <a:latin typeface="Arial"/>
                <a:cs typeface="Arial"/>
              </a:rPr>
              <a:t> </a:t>
            </a:r>
            <a:r>
              <a:rPr lang="en-US" sz="1200" dirty="0">
                <a:latin typeface="Arial"/>
                <a:cs typeface="Arial"/>
              </a:rPr>
              <a:t>structure</a:t>
            </a:r>
            <a:r>
              <a:rPr lang="en-US" sz="1200" spc="-5" dirty="0">
                <a:latin typeface="Arial"/>
                <a:cs typeface="Arial"/>
              </a:rPr>
              <a:t> </a:t>
            </a:r>
            <a:r>
              <a:rPr lang="en-US" sz="1200" dirty="0">
                <a:latin typeface="Arial"/>
                <a:cs typeface="Arial"/>
              </a:rPr>
              <a:t>should</a:t>
            </a:r>
            <a:r>
              <a:rPr lang="en-US" sz="1200" spc="-5" dirty="0">
                <a:latin typeface="Arial"/>
                <a:cs typeface="Arial"/>
              </a:rPr>
              <a:t> </a:t>
            </a:r>
            <a:r>
              <a:rPr lang="en-US" sz="1200" dirty="0">
                <a:latin typeface="Arial"/>
                <a:cs typeface="Arial"/>
              </a:rPr>
              <a:t>use </a:t>
            </a:r>
            <a:r>
              <a:rPr lang="en-US" sz="1200" spc="-20" dirty="0">
                <a:latin typeface="Arial"/>
                <a:cs typeface="Arial"/>
              </a:rPr>
              <a:t>O(D) </a:t>
            </a:r>
            <a:r>
              <a:rPr lang="en-US" sz="1200" spc="-10" dirty="0">
                <a:latin typeface="Arial"/>
                <a:cs typeface="Arial"/>
              </a:rPr>
              <a:t>memory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a:cs typeface="Arial"/>
              </a:rPr>
              <a:t>    No</a:t>
            </a:r>
            <a:r>
              <a:rPr lang="en-US" sz="1200" spc="-15" dirty="0">
                <a:latin typeface="Arial"/>
                <a:cs typeface="Arial"/>
              </a:rPr>
              <a:t> </a:t>
            </a:r>
            <a:r>
              <a:rPr lang="en-US" sz="1200" dirty="0">
                <a:latin typeface="Arial"/>
                <a:cs typeface="Arial"/>
              </a:rPr>
              <a:t>extra memory</a:t>
            </a:r>
            <a:r>
              <a:rPr lang="en-US" sz="1200" spc="-5" dirty="0">
                <a:latin typeface="Arial"/>
                <a:cs typeface="Arial"/>
              </a:rPr>
              <a:t> </a:t>
            </a:r>
            <a:r>
              <a:rPr lang="en-US" sz="1200" dirty="0">
                <a:latin typeface="Arial"/>
                <a:cs typeface="Arial"/>
              </a:rPr>
              <a:t>is</a:t>
            </a:r>
            <a:r>
              <a:rPr lang="en-US" sz="1200" spc="-5" dirty="0">
                <a:latin typeface="Arial"/>
                <a:cs typeface="Arial"/>
              </a:rPr>
              <a:t> </a:t>
            </a:r>
            <a:r>
              <a:rPr lang="en-US" sz="1200" spc="-10" dirty="0">
                <a:latin typeface="Arial"/>
                <a:cs typeface="Arial"/>
              </a:rPr>
              <a:t>allocated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a:cs typeface="Arial"/>
              </a:rPr>
              <a:t>Accesses</a:t>
            </a:r>
            <a:r>
              <a:rPr lang="en-US" sz="1200" spc="-10" dirty="0">
                <a:latin typeface="Arial"/>
                <a:cs typeface="Arial"/>
              </a:rPr>
              <a:t> </a:t>
            </a:r>
            <a:r>
              <a:rPr lang="en-US" sz="1200" dirty="0">
                <a:latin typeface="Arial"/>
                <a:cs typeface="Arial"/>
              </a:rPr>
              <a:t>should be as</a:t>
            </a:r>
            <a:r>
              <a:rPr lang="en-US" sz="1200" spc="-5" dirty="0">
                <a:latin typeface="Arial"/>
                <a:cs typeface="Arial"/>
              </a:rPr>
              <a:t> </a:t>
            </a:r>
            <a:r>
              <a:rPr lang="en-US" sz="1200" dirty="0">
                <a:latin typeface="Arial"/>
                <a:cs typeface="Arial"/>
              </a:rPr>
              <a:t>fast</a:t>
            </a:r>
            <a:r>
              <a:rPr lang="en-US" sz="1200" spc="-5" dirty="0">
                <a:latin typeface="Arial"/>
                <a:cs typeface="Arial"/>
              </a:rPr>
              <a:t> </a:t>
            </a:r>
            <a:r>
              <a:rPr lang="en-US" sz="1200" dirty="0">
                <a:latin typeface="Arial"/>
                <a:cs typeface="Arial"/>
              </a:rPr>
              <a:t>as</a:t>
            </a:r>
            <a:r>
              <a:rPr lang="en-US" sz="1200" spc="-5" dirty="0">
                <a:latin typeface="Arial"/>
                <a:cs typeface="Arial"/>
              </a:rPr>
              <a:t> </a:t>
            </a:r>
            <a:r>
              <a:rPr lang="en-US" sz="1200" spc="-10" dirty="0">
                <a:latin typeface="Arial"/>
                <a:cs typeface="Arial"/>
              </a:rPr>
              <a:t>possible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a:cs typeface="Arial"/>
              </a:rPr>
              <a:t>Need</a:t>
            </a:r>
            <a:r>
              <a:rPr lang="en-US" sz="1200" spc="-5" dirty="0">
                <a:latin typeface="Arial"/>
                <a:cs typeface="Arial"/>
              </a:rPr>
              <a:t> </a:t>
            </a:r>
            <a:r>
              <a:rPr lang="en-US" sz="1200" dirty="0">
                <a:latin typeface="Arial"/>
                <a:cs typeface="Arial"/>
              </a:rPr>
              <a:t>to know the size</a:t>
            </a:r>
            <a:r>
              <a:rPr lang="en-US" sz="1200" spc="-5" dirty="0">
                <a:latin typeface="Arial"/>
                <a:cs typeface="Arial"/>
              </a:rPr>
              <a:t> </a:t>
            </a:r>
            <a:r>
              <a:rPr lang="en-US" sz="1200" dirty="0">
                <a:latin typeface="Arial"/>
                <a:cs typeface="Arial"/>
              </a:rPr>
              <a:t>of</a:t>
            </a:r>
            <a:r>
              <a:rPr lang="en-US" sz="1200" spc="-5" dirty="0">
                <a:latin typeface="Arial"/>
                <a:cs typeface="Arial"/>
              </a:rPr>
              <a:t> </a:t>
            </a:r>
            <a:r>
              <a:rPr lang="en-US" sz="1200" b="1" dirty="0">
                <a:latin typeface="Arial"/>
                <a:cs typeface="Arial"/>
              </a:rPr>
              <a:t>D </a:t>
            </a:r>
            <a:r>
              <a:rPr lang="en-US" sz="1200" dirty="0">
                <a:latin typeface="Arial"/>
                <a:cs typeface="Arial"/>
              </a:rPr>
              <a:t>in advance </a:t>
            </a:r>
            <a:r>
              <a:rPr lang="en-US" sz="1200" spc="-25" dirty="0">
                <a:latin typeface="Arial"/>
                <a:cs typeface="Arial"/>
              </a:rPr>
              <a:t>or </a:t>
            </a:r>
            <a:r>
              <a:rPr lang="en-US" sz="1200" dirty="0">
                <a:latin typeface="Arial"/>
                <a:cs typeface="Arial"/>
              </a:rPr>
              <a:t>lose</a:t>
            </a:r>
            <a:r>
              <a:rPr lang="en-US" sz="1200" spc="-15" dirty="0">
                <a:latin typeface="Arial"/>
                <a:cs typeface="Arial"/>
              </a:rPr>
              <a:t> </a:t>
            </a:r>
            <a:r>
              <a:rPr lang="en-US" sz="1200" dirty="0">
                <a:latin typeface="Arial"/>
                <a:cs typeface="Arial"/>
              </a:rPr>
              <a:t>memory</a:t>
            </a:r>
            <a:r>
              <a:rPr lang="en-US" sz="1200" spc="-5" dirty="0">
                <a:latin typeface="Arial"/>
                <a:cs typeface="Arial"/>
              </a:rPr>
              <a:t> </a:t>
            </a:r>
            <a:r>
              <a:rPr lang="en-US" sz="1200" dirty="0">
                <a:latin typeface="Arial"/>
                <a:cs typeface="Arial"/>
              </a:rPr>
              <a:t>to</a:t>
            </a:r>
            <a:r>
              <a:rPr lang="en-US" sz="1200" spc="-5" dirty="0">
                <a:latin typeface="Arial"/>
                <a:cs typeface="Arial"/>
              </a:rPr>
              <a:t> </a:t>
            </a:r>
            <a:r>
              <a:rPr lang="en-US" sz="1200" dirty="0">
                <a:latin typeface="Arial"/>
                <a:cs typeface="Arial"/>
              </a:rPr>
              <a:t>pointer</a:t>
            </a:r>
            <a:r>
              <a:rPr lang="en-US" sz="1200" spc="-5" dirty="0">
                <a:latin typeface="Arial"/>
                <a:cs typeface="Arial"/>
              </a:rPr>
              <a:t> </a:t>
            </a:r>
            <a:r>
              <a:rPr lang="en-US" sz="1200" spc="-10" dirty="0">
                <a:latin typeface="Arial"/>
                <a:cs typeface="Arial"/>
              </a:rPr>
              <a:t>overhead</a:t>
            </a:r>
            <a:endParaRPr lang="en-US" sz="1200" dirty="0">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Arial"/>
              <a:cs typeface="Arial"/>
            </a:endParaRPr>
          </a:p>
          <a:p>
            <a:endParaRPr lang="en-US" dirty="0"/>
          </a:p>
        </p:txBody>
      </p:sp>
      <p:sp>
        <p:nvSpPr>
          <p:cNvPr id="4" name="Slide Number Placeholder 3"/>
          <p:cNvSpPr>
            <a:spLocks noGrp="1"/>
          </p:cNvSpPr>
          <p:nvPr>
            <p:ph type="sldNum" sz="quarter" idx="5"/>
          </p:nvPr>
        </p:nvSpPr>
        <p:spPr/>
        <p:txBody>
          <a:bodyPr/>
          <a:lstStyle/>
          <a:p>
            <a:fld id="{B8C27712-3692-4A90-8CF2-CA78D6DC5F6E}" type="slidenum">
              <a:rPr lang="en-US" smtClean="0"/>
              <a:t>5</a:t>
            </a:fld>
            <a:endParaRPr lang="en-US"/>
          </a:p>
        </p:txBody>
      </p:sp>
    </p:spTree>
    <p:extLst>
      <p:ext uri="{BB962C8B-B14F-4D97-AF65-F5344CB8AC3E}">
        <p14:creationId xmlns:p14="http://schemas.microsoft.com/office/powerpoint/2010/main" val="3013524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a:cs typeface="Arial"/>
              </a:rPr>
              <a:t>Can’t</a:t>
            </a:r>
            <a:r>
              <a:rPr lang="en-US" sz="1200" spc="-10" dirty="0">
                <a:latin typeface="Arial"/>
                <a:cs typeface="Arial"/>
              </a:rPr>
              <a:t> </a:t>
            </a:r>
            <a:r>
              <a:rPr lang="en-US" sz="1200" dirty="0">
                <a:latin typeface="Arial"/>
                <a:cs typeface="Arial"/>
              </a:rPr>
              <a:t>retrieve the</a:t>
            </a:r>
            <a:r>
              <a:rPr lang="en-US" sz="1200" spc="-5" dirty="0">
                <a:latin typeface="Arial"/>
                <a:cs typeface="Arial"/>
              </a:rPr>
              <a:t> </a:t>
            </a:r>
            <a:r>
              <a:rPr lang="en-US" sz="1200" dirty="0">
                <a:latin typeface="Arial"/>
                <a:cs typeface="Arial"/>
              </a:rPr>
              <a:t>random</a:t>
            </a:r>
            <a:r>
              <a:rPr lang="en-US" sz="1200" spc="-5" dirty="0">
                <a:latin typeface="Arial"/>
                <a:cs typeface="Arial"/>
              </a:rPr>
              <a:t> </a:t>
            </a:r>
            <a:r>
              <a:rPr lang="en-US" sz="1200" dirty="0">
                <a:latin typeface="Arial"/>
                <a:cs typeface="Arial"/>
              </a:rPr>
              <a:t>variable,</a:t>
            </a:r>
            <a:r>
              <a:rPr lang="en-US" sz="1200" spc="-10" dirty="0">
                <a:latin typeface="Arial"/>
                <a:cs typeface="Arial"/>
              </a:rPr>
              <a:t> </a:t>
            </a:r>
            <a:r>
              <a:rPr lang="en-US" sz="1200" dirty="0">
                <a:latin typeface="Arial"/>
                <a:cs typeface="Arial"/>
              </a:rPr>
              <a:t>O(D)</a:t>
            </a:r>
            <a:r>
              <a:rPr lang="en-US" sz="1200" spc="-5" dirty="0">
                <a:latin typeface="Arial"/>
                <a:cs typeface="Arial"/>
              </a:rPr>
              <a:t> </a:t>
            </a:r>
            <a:r>
              <a:rPr lang="en-US" sz="1200" spc="-10" dirty="0">
                <a:latin typeface="Arial"/>
                <a:cs typeface="Arial"/>
              </a:rPr>
              <a:t>search!</a:t>
            </a:r>
            <a:endParaRPr lang="en-US" sz="1200" dirty="0">
              <a:latin typeface="Arial"/>
              <a:cs typeface="Arial"/>
            </a:endParaRPr>
          </a:p>
          <a:p>
            <a:endParaRPr lang="en-US" dirty="0"/>
          </a:p>
        </p:txBody>
      </p:sp>
      <p:sp>
        <p:nvSpPr>
          <p:cNvPr id="4" name="Slide Number Placeholder 3"/>
          <p:cNvSpPr>
            <a:spLocks noGrp="1"/>
          </p:cNvSpPr>
          <p:nvPr>
            <p:ph type="sldNum" sz="quarter" idx="5"/>
          </p:nvPr>
        </p:nvSpPr>
        <p:spPr/>
        <p:txBody>
          <a:bodyPr/>
          <a:lstStyle/>
          <a:p>
            <a:fld id="{B8C27712-3692-4A90-8CF2-CA78D6DC5F6E}" type="slidenum">
              <a:rPr lang="en-US" smtClean="0"/>
              <a:t>12</a:t>
            </a:fld>
            <a:endParaRPr lang="en-US"/>
          </a:p>
        </p:txBody>
      </p:sp>
    </p:spTree>
    <p:extLst>
      <p:ext uri="{BB962C8B-B14F-4D97-AF65-F5344CB8AC3E}">
        <p14:creationId xmlns:p14="http://schemas.microsoft.com/office/powerpoint/2010/main" val="697073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a:cs typeface="Arial"/>
              </a:rPr>
              <a:t>This</a:t>
            </a:r>
            <a:r>
              <a:rPr lang="en-US" sz="1200" spc="-10" dirty="0">
                <a:latin typeface="Arial"/>
                <a:cs typeface="Arial"/>
              </a:rPr>
              <a:t> </a:t>
            </a:r>
            <a:r>
              <a:rPr lang="en-US" sz="1200" dirty="0">
                <a:latin typeface="Arial"/>
                <a:cs typeface="Arial"/>
              </a:rPr>
              <a:t>is</a:t>
            </a:r>
            <a:r>
              <a:rPr lang="en-US" sz="1200" spc="-5" dirty="0">
                <a:latin typeface="Arial"/>
                <a:cs typeface="Arial"/>
              </a:rPr>
              <a:t> </a:t>
            </a:r>
            <a:r>
              <a:rPr lang="en-US" sz="1200" dirty="0">
                <a:latin typeface="Arial"/>
                <a:cs typeface="Arial"/>
              </a:rPr>
              <a:t>“the</a:t>
            </a:r>
            <a:r>
              <a:rPr lang="en-US" sz="1200" spc="-5" dirty="0">
                <a:latin typeface="Arial"/>
                <a:cs typeface="Arial"/>
              </a:rPr>
              <a:t> </a:t>
            </a:r>
            <a:r>
              <a:rPr lang="en-US" sz="1200" dirty="0">
                <a:latin typeface="Arial"/>
                <a:cs typeface="Arial"/>
              </a:rPr>
              <a:t>hash </a:t>
            </a:r>
            <a:r>
              <a:rPr lang="en-US" sz="1200" spc="-10" dirty="0">
                <a:latin typeface="Arial"/>
                <a:cs typeface="Arial"/>
              </a:rPr>
              <a:t>function”</a:t>
            </a:r>
            <a:endParaRPr lang="en-US" sz="1200" dirty="0">
              <a:latin typeface="Arial"/>
              <a:cs typeface="Arial"/>
            </a:endParaRPr>
          </a:p>
          <a:p>
            <a:endParaRPr lang="en-US" dirty="0"/>
          </a:p>
        </p:txBody>
      </p:sp>
      <p:sp>
        <p:nvSpPr>
          <p:cNvPr id="4" name="Slide Number Placeholder 3"/>
          <p:cNvSpPr>
            <a:spLocks noGrp="1"/>
          </p:cNvSpPr>
          <p:nvPr>
            <p:ph type="sldNum" sz="quarter" idx="5"/>
          </p:nvPr>
        </p:nvSpPr>
        <p:spPr/>
        <p:txBody>
          <a:bodyPr/>
          <a:lstStyle/>
          <a:p>
            <a:fld id="{B8C27712-3692-4A90-8CF2-CA78D6DC5F6E}" type="slidenum">
              <a:rPr lang="en-US" smtClean="0"/>
              <a:t>13</a:t>
            </a:fld>
            <a:endParaRPr lang="en-US"/>
          </a:p>
        </p:txBody>
      </p:sp>
    </p:spTree>
    <p:extLst>
      <p:ext uri="{BB962C8B-B14F-4D97-AF65-F5344CB8AC3E}">
        <p14:creationId xmlns:p14="http://schemas.microsoft.com/office/powerpoint/2010/main" val="2311175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C27712-3692-4A90-8CF2-CA78D6DC5F6E}" type="slidenum">
              <a:rPr lang="en-US" smtClean="0"/>
              <a:t>14</a:t>
            </a:fld>
            <a:endParaRPr lang="en-US"/>
          </a:p>
        </p:txBody>
      </p:sp>
    </p:spTree>
    <p:extLst>
      <p:ext uri="{BB962C8B-B14F-4D97-AF65-F5344CB8AC3E}">
        <p14:creationId xmlns:p14="http://schemas.microsoft.com/office/powerpoint/2010/main" val="11996835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42CCA2-2949-4325-A78A-A7C3B63D73C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964540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8C27712-3692-4A90-8CF2-CA78D6DC5F6E}" type="slidenum">
              <a:rPr lang="en-US" smtClean="0"/>
              <a:t>18</a:t>
            </a:fld>
            <a:endParaRPr lang="en-US"/>
          </a:p>
        </p:txBody>
      </p:sp>
    </p:spTree>
    <p:extLst>
      <p:ext uri="{BB962C8B-B14F-4D97-AF65-F5344CB8AC3E}">
        <p14:creationId xmlns:p14="http://schemas.microsoft.com/office/powerpoint/2010/main" val="1269191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C27712-3692-4A90-8CF2-CA78D6DC5F6E}" type="slidenum">
              <a:rPr lang="en-US" smtClean="0"/>
              <a:t>19</a:t>
            </a:fld>
            <a:endParaRPr lang="en-US"/>
          </a:p>
        </p:txBody>
      </p:sp>
    </p:spTree>
    <p:extLst>
      <p:ext uri="{BB962C8B-B14F-4D97-AF65-F5344CB8AC3E}">
        <p14:creationId xmlns:p14="http://schemas.microsoft.com/office/powerpoint/2010/main" val="34946903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C27712-3692-4A90-8CF2-CA78D6DC5F6E}" type="slidenum">
              <a:rPr lang="en-US" smtClean="0"/>
              <a:t>20</a:t>
            </a:fld>
            <a:endParaRPr lang="en-US"/>
          </a:p>
        </p:txBody>
      </p:sp>
    </p:spTree>
    <p:extLst>
      <p:ext uri="{BB962C8B-B14F-4D97-AF65-F5344CB8AC3E}">
        <p14:creationId xmlns:p14="http://schemas.microsoft.com/office/powerpoint/2010/main" val="18288499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8C27712-3692-4A90-8CF2-CA78D6DC5F6E}" type="slidenum">
              <a:rPr lang="en-US" smtClean="0"/>
              <a:t>22</a:t>
            </a:fld>
            <a:endParaRPr lang="en-US"/>
          </a:p>
        </p:txBody>
      </p:sp>
    </p:spTree>
    <p:extLst>
      <p:ext uri="{BB962C8B-B14F-4D97-AF65-F5344CB8AC3E}">
        <p14:creationId xmlns:p14="http://schemas.microsoft.com/office/powerpoint/2010/main" val="1772300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20BB25B4-55B5-4510-AB7E-1B46935038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63198" indent="-293538">
              <a:defRPr sz="2400">
                <a:solidFill>
                  <a:schemeClr val="tx1"/>
                </a:solidFill>
                <a:latin typeface="Times" panose="02020603050405020304" pitchFamily="18" charset="0"/>
              </a:defRPr>
            </a:lvl2pPr>
            <a:lvl3pPr marL="1174151" indent="-234830">
              <a:defRPr sz="2400">
                <a:solidFill>
                  <a:schemeClr val="tx1"/>
                </a:solidFill>
                <a:latin typeface="Times" panose="02020603050405020304" pitchFamily="18" charset="0"/>
              </a:defRPr>
            </a:lvl3pPr>
            <a:lvl4pPr marL="1643812" indent="-234830">
              <a:defRPr sz="2400">
                <a:solidFill>
                  <a:schemeClr val="tx1"/>
                </a:solidFill>
                <a:latin typeface="Times" panose="02020603050405020304" pitchFamily="18" charset="0"/>
              </a:defRPr>
            </a:lvl4pPr>
            <a:lvl5pPr marL="2113473" indent="-234830">
              <a:defRPr sz="2400">
                <a:solidFill>
                  <a:schemeClr val="tx1"/>
                </a:solidFill>
                <a:latin typeface="Times" panose="02020603050405020304" pitchFamily="18" charset="0"/>
              </a:defRPr>
            </a:lvl5pPr>
            <a:lvl6pPr marL="2583132" indent="-234830" eaLnBrk="0" fontAlgn="base" hangingPunct="0">
              <a:spcBef>
                <a:spcPct val="0"/>
              </a:spcBef>
              <a:spcAft>
                <a:spcPct val="0"/>
              </a:spcAft>
              <a:defRPr sz="2400">
                <a:solidFill>
                  <a:schemeClr val="tx1"/>
                </a:solidFill>
                <a:latin typeface="Times" panose="02020603050405020304" pitchFamily="18" charset="0"/>
              </a:defRPr>
            </a:lvl6pPr>
            <a:lvl7pPr marL="3052793" indent="-234830" eaLnBrk="0" fontAlgn="base" hangingPunct="0">
              <a:spcBef>
                <a:spcPct val="0"/>
              </a:spcBef>
              <a:spcAft>
                <a:spcPct val="0"/>
              </a:spcAft>
              <a:defRPr sz="2400">
                <a:solidFill>
                  <a:schemeClr val="tx1"/>
                </a:solidFill>
                <a:latin typeface="Times" panose="02020603050405020304" pitchFamily="18" charset="0"/>
              </a:defRPr>
            </a:lvl7pPr>
            <a:lvl8pPr marL="3522454" indent="-234830" eaLnBrk="0" fontAlgn="base" hangingPunct="0">
              <a:spcBef>
                <a:spcPct val="0"/>
              </a:spcBef>
              <a:spcAft>
                <a:spcPct val="0"/>
              </a:spcAft>
              <a:defRPr sz="2400">
                <a:solidFill>
                  <a:schemeClr val="tx1"/>
                </a:solidFill>
                <a:latin typeface="Times" panose="02020603050405020304" pitchFamily="18" charset="0"/>
              </a:defRPr>
            </a:lvl8pPr>
            <a:lvl9pPr marL="3992114" indent="-234830" eaLnBrk="0" fontAlgn="base" hangingPunct="0">
              <a:spcBef>
                <a:spcPct val="0"/>
              </a:spcBef>
              <a:spcAft>
                <a:spcPct val="0"/>
              </a:spcAft>
              <a:defRPr sz="2400">
                <a:solidFill>
                  <a:schemeClr val="tx1"/>
                </a:solidFill>
                <a:latin typeface="Times" panose="02020603050405020304" pitchFamily="18" charset="0"/>
              </a:defRPr>
            </a:lvl9pPr>
          </a:lstStyle>
          <a:p>
            <a:fld id="{7F85D519-67C2-4E23-B210-0F99CEA8308C}" type="slidenum">
              <a:rPr lang="en-US" altLang="en-US" sz="1200"/>
              <a:pPr/>
              <a:t>37</a:t>
            </a:fld>
            <a:endParaRPr lang="en-US" altLang="en-US" sz="1200"/>
          </a:p>
        </p:txBody>
      </p:sp>
      <p:sp>
        <p:nvSpPr>
          <p:cNvPr id="52227" name="Rectangle 2">
            <a:extLst>
              <a:ext uri="{FF2B5EF4-FFF2-40B4-BE49-F238E27FC236}">
                <a16:creationId xmlns:a16="http://schemas.microsoft.com/office/drawing/2014/main" id="{40694193-5759-4AF0-A679-E4D80B7B292E}"/>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A8BE7CB1-DD4F-4730-958C-D4C835C516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Times" panose="02020603050405020304" pitchFamily="18" charset="0"/>
            </a:endParaRPr>
          </a:p>
        </p:txBody>
      </p:sp>
    </p:spTree>
    <p:extLst>
      <p:ext uri="{BB962C8B-B14F-4D97-AF65-F5344CB8AC3E}">
        <p14:creationId xmlns:p14="http://schemas.microsoft.com/office/powerpoint/2010/main" val="38849441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8C27712-3692-4A90-8CF2-CA78D6DC5F6E}" type="slidenum">
              <a:rPr lang="en-US" smtClean="0"/>
              <a:t>38</a:t>
            </a:fld>
            <a:endParaRPr lang="en-US"/>
          </a:p>
        </p:txBody>
      </p:sp>
    </p:spTree>
    <p:extLst>
      <p:ext uri="{BB962C8B-B14F-4D97-AF65-F5344CB8AC3E}">
        <p14:creationId xmlns:p14="http://schemas.microsoft.com/office/powerpoint/2010/main" val="20724529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8C27712-3692-4A90-8CF2-CA78D6DC5F6E}" type="slidenum">
              <a:rPr lang="en-US" smtClean="0"/>
              <a:t>39</a:t>
            </a:fld>
            <a:endParaRPr lang="en-US"/>
          </a:p>
        </p:txBody>
      </p:sp>
    </p:spTree>
    <p:extLst>
      <p:ext uri="{BB962C8B-B14F-4D97-AF65-F5344CB8AC3E}">
        <p14:creationId xmlns:p14="http://schemas.microsoft.com/office/powerpoint/2010/main" val="26960338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8C27712-3692-4A90-8CF2-CA78D6DC5F6E}" type="slidenum">
              <a:rPr lang="en-US" smtClean="0"/>
              <a:t>40</a:t>
            </a:fld>
            <a:endParaRPr lang="en-US"/>
          </a:p>
        </p:txBody>
      </p:sp>
    </p:spTree>
    <p:extLst>
      <p:ext uri="{BB962C8B-B14F-4D97-AF65-F5344CB8AC3E}">
        <p14:creationId xmlns:p14="http://schemas.microsoft.com/office/powerpoint/2010/main" val="33239379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C27712-3692-4A90-8CF2-CA78D6DC5F6E}" type="slidenum">
              <a:rPr lang="en-US" smtClean="0"/>
              <a:t>41</a:t>
            </a:fld>
            <a:endParaRPr lang="en-US"/>
          </a:p>
        </p:txBody>
      </p:sp>
    </p:spTree>
    <p:extLst>
      <p:ext uri="{BB962C8B-B14F-4D97-AF65-F5344CB8AC3E}">
        <p14:creationId xmlns:p14="http://schemas.microsoft.com/office/powerpoint/2010/main" val="1105370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8C27712-3692-4A90-8CF2-CA78D6DC5F6E}" type="slidenum">
              <a:rPr lang="en-US" smtClean="0"/>
              <a:t>42</a:t>
            </a:fld>
            <a:endParaRPr lang="en-US"/>
          </a:p>
        </p:txBody>
      </p:sp>
    </p:spTree>
    <p:extLst>
      <p:ext uri="{BB962C8B-B14F-4D97-AF65-F5344CB8AC3E}">
        <p14:creationId xmlns:p14="http://schemas.microsoft.com/office/powerpoint/2010/main" val="13920472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If class contains a field that is unique (use it)  : SSN</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42CCA2-2949-4325-A78A-A7C3B63D73C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429199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C27712-3692-4A90-8CF2-CA78D6DC5F6E}" type="slidenum">
              <a:rPr lang="en-US" smtClean="0"/>
              <a:t>44</a:t>
            </a:fld>
            <a:endParaRPr lang="en-US"/>
          </a:p>
        </p:txBody>
      </p:sp>
    </p:spTree>
    <p:extLst>
      <p:ext uri="{BB962C8B-B14F-4D97-AF65-F5344CB8AC3E}">
        <p14:creationId xmlns:p14="http://schemas.microsoft.com/office/powerpoint/2010/main" val="8546707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C27712-3692-4A90-8CF2-CA78D6DC5F6E}" type="slidenum">
              <a:rPr lang="en-US" smtClean="0"/>
              <a:t>45</a:t>
            </a:fld>
            <a:endParaRPr lang="en-US"/>
          </a:p>
        </p:txBody>
      </p:sp>
    </p:spTree>
    <p:extLst>
      <p:ext uri="{BB962C8B-B14F-4D97-AF65-F5344CB8AC3E}">
        <p14:creationId xmlns:p14="http://schemas.microsoft.com/office/powerpoint/2010/main" val="848474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8C27712-3692-4A90-8CF2-CA78D6DC5F6E}" type="slidenum">
              <a:rPr lang="en-US" smtClean="0"/>
              <a:t>46</a:t>
            </a:fld>
            <a:endParaRPr lang="en-US"/>
          </a:p>
        </p:txBody>
      </p:sp>
    </p:spTree>
    <p:extLst>
      <p:ext uri="{BB962C8B-B14F-4D97-AF65-F5344CB8AC3E}">
        <p14:creationId xmlns:p14="http://schemas.microsoft.com/office/powerpoint/2010/main" val="7290881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C27712-3692-4A90-8CF2-CA78D6DC5F6E}" type="slidenum">
              <a:rPr lang="en-US" smtClean="0"/>
              <a:t>47</a:t>
            </a:fld>
            <a:endParaRPr lang="en-US"/>
          </a:p>
        </p:txBody>
      </p:sp>
    </p:spTree>
    <p:extLst>
      <p:ext uri="{BB962C8B-B14F-4D97-AF65-F5344CB8AC3E}">
        <p14:creationId xmlns:p14="http://schemas.microsoft.com/office/powerpoint/2010/main" val="22862718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a:ln/>
        </p:spPr>
      </p:sp>
      <p:sp>
        <p:nvSpPr>
          <p:cNvPr id="23554" name="Notes Placeholder 2"/>
          <p:cNvSpPr>
            <a:spLocks noGrp="1"/>
          </p:cNvSpPr>
          <p:nvPr>
            <p:ph type="body" idx="1"/>
          </p:nvPr>
        </p:nvSpPr>
        <p:spPr>
          <a:noFill/>
          <a:ln/>
        </p:spPr>
        <p:txBody>
          <a:bodyPr/>
          <a:lstStyle/>
          <a:p>
            <a:pPr eaLnBrk="1" hangingPunct="1"/>
            <a:endParaRPr lang="en-US">
              <a:latin typeface="Arial" charset="0"/>
            </a:endParaRPr>
          </a:p>
        </p:txBody>
      </p:sp>
      <p:sp>
        <p:nvSpPr>
          <p:cNvPr id="23555" name="Slide Number Placeholder 3"/>
          <p:cNvSpPr>
            <a:spLocks noGrp="1"/>
          </p:cNvSpPr>
          <p:nvPr>
            <p:ph type="sldNum" sz="quarter" idx="5"/>
          </p:nvPr>
        </p:nvSpPr>
        <p:spPr>
          <a:noFill/>
        </p:spPr>
        <p:txBody>
          <a:bodyPr/>
          <a:lstStyle/>
          <a:p>
            <a:pPr defTabSz="935313"/>
            <a:fld id="{25EC91C1-1F7A-4839-8C2B-9B0009754383}" type="slidenum">
              <a:rPr lang="en-US" smtClean="0"/>
              <a:pPr defTabSz="935313"/>
              <a:t>48</a:t>
            </a:fld>
            <a:endParaRPr lang="en-US"/>
          </a:p>
        </p:txBody>
      </p:sp>
    </p:spTree>
    <p:extLst>
      <p:ext uri="{BB962C8B-B14F-4D97-AF65-F5344CB8AC3E}">
        <p14:creationId xmlns:p14="http://schemas.microsoft.com/office/powerpoint/2010/main" val="2271833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a:ln/>
        </p:spPr>
      </p:sp>
      <p:sp>
        <p:nvSpPr>
          <p:cNvPr id="23554" name="Notes Placeholder 2"/>
          <p:cNvSpPr>
            <a:spLocks noGrp="1"/>
          </p:cNvSpPr>
          <p:nvPr>
            <p:ph type="body" idx="1"/>
          </p:nvPr>
        </p:nvSpPr>
        <p:spPr>
          <a:noFill/>
          <a:ln/>
        </p:spPr>
        <p:txBody>
          <a:bodyPr/>
          <a:lstStyle/>
          <a:p>
            <a:pPr eaLnBrk="1" hangingPunct="1"/>
            <a:endParaRPr lang="en-US">
              <a:latin typeface="Arial" charset="0"/>
            </a:endParaRPr>
          </a:p>
        </p:txBody>
      </p:sp>
      <p:sp>
        <p:nvSpPr>
          <p:cNvPr id="23555" name="Slide Number Placeholder 3"/>
          <p:cNvSpPr>
            <a:spLocks noGrp="1"/>
          </p:cNvSpPr>
          <p:nvPr>
            <p:ph type="sldNum" sz="quarter" idx="5"/>
          </p:nvPr>
        </p:nvSpPr>
        <p:spPr>
          <a:noFill/>
        </p:spPr>
        <p:txBody>
          <a:bodyPr/>
          <a:lstStyle/>
          <a:p>
            <a:pPr defTabSz="935313"/>
            <a:fld id="{25EC91C1-1F7A-4839-8C2B-9B0009754383}" type="slidenum">
              <a:rPr lang="en-US" smtClean="0"/>
              <a:pPr defTabSz="935313"/>
              <a:t>49</a:t>
            </a:fld>
            <a:endParaRPr lang="en-US"/>
          </a:p>
        </p:txBody>
      </p:sp>
    </p:spTree>
    <p:extLst>
      <p:ext uri="{BB962C8B-B14F-4D97-AF65-F5344CB8AC3E}">
        <p14:creationId xmlns:p14="http://schemas.microsoft.com/office/powerpoint/2010/main" val="1777220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a:ln/>
        </p:spPr>
      </p:sp>
      <p:sp>
        <p:nvSpPr>
          <p:cNvPr id="23554" name="Notes Placeholder 2"/>
          <p:cNvSpPr>
            <a:spLocks noGrp="1"/>
          </p:cNvSpPr>
          <p:nvPr>
            <p:ph type="body" idx="1"/>
          </p:nvPr>
        </p:nvSpPr>
        <p:spPr>
          <a:noFill/>
          <a:ln/>
        </p:spPr>
        <p:txBody>
          <a:bodyPr/>
          <a:lstStyle/>
          <a:p>
            <a:pPr eaLnBrk="1" hangingPunct="1"/>
            <a:endParaRPr lang="en-US">
              <a:latin typeface="Arial" charset="0"/>
            </a:endParaRPr>
          </a:p>
        </p:txBody>
      </p:sp>
      <p:sp>
        <p:nvSpPr>
          <p:cNvPr id="23555" name="Slide Number Placeholder 3"/>
          <p:cNvSpPr>
            <a:spLocks noGrp="1"/>
          </p:cNvSpPr>
          <p:nvPr>
            <p:ph type="sldNum" sz="quarter" idx="5"/>
          </p:nvPr>
        </p:nvSpPr>
        <p:spPr>
          <a:noFill/>
        </p:spPr>
        <p:txBody>
          <a:bodyPr/>
          <a:lstStyle/>
          <a:p>
            <a:pPr defTabSz="935313"/>
            <a:fld id="{25EC91C1-1F7A-4839-8C2B-9B0009754383}" type="slidenum">
              <a:rPr lang="en-US" smtClean="0"/>
              <a:pPr defTabSz="935313"/>
              <a:t>50</a:t>
            </a:fld>
            <a:endParaRPr lang="en-US"/>
          </a:p>
        </p:txBody>
      </p:sp>
    </p:spTree>
    <p:extLst>
      <p:ext uri="{BB962C8B-B14F-4D97-AF65-F5344CB8AC3E}">
        <p14:creationId xmlns:p14="http://schemas.microsoft.com/office/powerpoint/2010/main" val="20681270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a:ln/>
        </p:spPr>
      </p:sp>
      <p:sp>
        <p:nvSpPr>
          <p:cNvPr id="23554" name="Notes Placeholder 2"/>
          <p:cNvSpPr>
            <a:spLocks noGrp="1"/>
          </p:cNvSpPr>
          <p:nvPr>
            <p:ph type="body" idx="1"/>
          </p:nvPr>
        </p:nvSpPr>
        <p:spPr>
          <a:noFill/>
          <a:ln/>
        </p:spPr>
        <p:txBody>
          <a:bodyPr/>
          <a:lstStyle/>
          <a:p>
            <a:pPr eaLnBrk="1" hangingPunct="1"/>
            <a:endParaRPr lang="en-US">
              <a:latin typeface="Arial" charset="0"/>
            </a:endParaRPr>
          </a:p>
        </p:txBody>
      </p:sp>
      <p:sp>
        <p:nvSpPr>
          <p:cNvPr id="23555" name="Slide Number Placeholder 3"/>
          <p:cNvSpPr>
            <a:spLocks noGrp="1"/>
          </p:cNvSpPr>
          <p:nvPr>
            <p:ph type="sldNum" sz="quarter" idx="5"/>
          </p:nvPr>
        </p:nvSpPr>
        <p:spPr>
          <a:noFill/>
        </p:spPr>
        <p:txBody>
          <a:bodyPr/>
          <a:lstStyle/>
          <a:p>
            <a:pPr defTabSz="935313"/>
            <a:fld id="{25EC91C1-1F7A-4839-8C2B-9B0009754383}" type="slidenum">
              <a:rPr lang="en-US" smtClean="0"/>
              <a:pPr defTabSz="935313"/>
              <a:t>51</a:t>
            </a:fld>
            <a:endParaRPr lang="en-US"/>
          </a:p>
        </p:txBody>
      </p:sp>
    </p:spTree>
    <p:extLst>
      <p:ext uri="{BB962C8B-B14F-4D97-AF65-F5344CB8AC3E}">
        <p14:creationId xmlns:p14="http://schemas.microsoft.com/office/powerpoint/2010/main" val="21226542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a:ln/>
        </p:spPr>
      </p:sp>
      <p:sp>
        <p:nvSpPr>
          <p:cNvPr id="23554" name="Notes Placeholder 2"/>
          <p:cNvSpPr>
            <a:spLocks noGrp="1"/>
          </p:cNvSpPr>
          <p:nvPr>
            <p:ph type="body" idx="1"/>
          </p:nvPr>
        </p:nvSpPr>
        <p:spPr>
          <a:noFill/>
          <a:ln/>
        </p:spPr>
        <p:txBody>
          <a:bodyPr/>
          <a:lstStyle/>
          <a:p>
            <a:pPr eaLnBrk="1" hangingPunct="1"/>
            <a:endParaRPr lang="en-US">
              <a:latin typeface="Arial" charset="0"/>
            </a:endParaRPr>
          </a:p>
        </p:txBody>
      </p:sp>
      <p:sp>
        <p:nvSpPr>
          <p:cNvPr id="23555" name="Slide Number Placeholder 3"/>
          <p:cNvSpPr>
            <a:spLocks noGrp="1"/>
          </p:cNvSpPr>
          <p:nvPr>
            <p:ph type="sldNum" sz="quarter" idx="5"/>
          </p:nvPr>
        </p:nvSpPr>
        <p:spPr>
          <a:noFill/>
        </p:spPr>
        <p:txBody>
          <a:bodyPr/>
          <a:lstStyle/>
          <a:p>
            <a:pPr defTabSz="935313"/>
            <a:fld id="{25EC91C1-1F7A-4839-8C2B-9B0009754383}" type="slidenum">
              <a:rPr lang="en-US" smtClean="0"/>
              <a:pPr defTabSz="935313"/>
              <a:t>52</a:t>
            </a:fld>
            <a:endParaRPr lang="en-US"/>
          </a:p>
        </p:txBody>
      </p:sp>
    </p:spTree>
    <p:extLst>
      <p:ext uri="{BB962C8B-B14F-4D97-AF65-F5344CB8AC3E}">
        <p14:creationId xmlns:p14="http://schemas.microsoft.com/office/powerpoint/2010/main" val="18470151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a:ln/>
        </p:spPr>
      </p:sp>
      <p:sp>
        <p:nvSpPr>
          <p:cNvPr id="23554" name="Notes Placeholder 2"/>
          <p:cNvSpPr>
            <a:spLocks noGrp="1"/>
          </p:cNvSpPr>
          <p:nvPr>
            <p:ph type="body" idx="1"/>
          </p:nvPr>
        </p:nvSpPr>
        <p:spPr>
          <a:noFill/>
          <a:ln/>
        </p:spPr>
        <p:txBody>
          <a:bodyPr/>
          <a:lstStyle/>
          <a:p>
            <a:pPr eaLnBrk="1" hangingPunct="1"/>
            <a:endParaRPr lang="en-US">
              <a:latin typeface="Arial" charset="0"/>
            </a:endParaRPr>
          </a:p>
        </p:txBody>
      </p:sp>
      <p:sp>
        <p:nvSpPr>
          <p:cNvPr id="23555" name="Slide Number Placeholder 3"/>
          <p:cNvSpPr>
            <a:spLocks noGrp="1"/>
          </p:cNvSpPr>
          <p:nvPr>
            <p:ph type="sldNum" sz="quarter" idx="5"/>
          </p:nvPr>
        </p:nvSpPr>
        <p:spPr>
          <a:noFill/>
        </p:spPr>
        <p:txBody>
          <a:bodyPr/>
          <a:lstStyle/>
          <a:p>
            <a:pPr defTabSz="935313"/>
            <a:fld id="{25EC91C1-1F7A-4839-8C2B-9B0009754383}" type="slidenum">
              <a:rPr lang="en-US" smtClean="0"/>
              <a:pPr defTabSz="935313"/>
              <a:t>53</a:t>
            </a:fld>
            <a:endParaRPr lang="en-US"/>
          </a:p>
        </p:txBody>
      </p:sp>
    </p:spTree>
    <p:extLst>
      <p:ext uri="{BB962C8B-B14F-4D97-AF65-F5344CB8AC3E}">
        <p14:creationId xmlns:p14="http://schemas.microsoft.com/office/powerpoint/2010/main" val="5242200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C27712-3692-4A90-8CF2-CA78D6DC5F6E}" type="slidenum">
              <a:rPr lang="en-US" smtClean="0"/>
              <a:t>54</a:t>
            </a:fld>
            <a:endParaRPr lang="en-US"/>
          </a:p>
        </p:txBody>
      </p:sp>
    </p:spTree>
    <p:extLst>
      <p:ext uri="{BB962C8B-B14F-4D97-AF65-F5344CB8AC3E}">
        <p14:creationId xmlns:p14="http://schemas.microsoft.com/office/powerpoint/2010/main" val="16685587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p:cNvSpPr>
          <p:nvPr>
            <p:ph type="sldImg"/>
          </p:nvPr>
        </p:nvSpPr>
        <p:spPr>
          <a:ln/>
        </p:spPr>
      </p:sp>
      <p:sp>
        <p:nvSpPr>
          <p:cNvPr id="41986" name="Notes Placeholder 2"/>
          <p:cNvSpPr>
            <a:spLocks noGrp="1"/>
          </p:cNvSpPr>
          <p:nvPr>
            <p:ph type="body" idx="1"/>
          </p:nvPr>
        </p:nvSpPr>
        <p:spPr/>
        <p:txBody>
          <a:bodyPr/>
          <a:lstStyle/>
          <a:p>
            <a:pPr eaLnBrk="1" hangingPunct="1"/>
            <a:endParaRPr lang="en-US">
              <a:latin typeface="Arial" charset="0"/>
            </a:endParaRPr>
          </a:p>
        </p:txBody>
      </p:sp>
      <p:sp>
        <p:nvSpPr>
          <p:cNvPr id="41987" name="Slide Number Placeholder 3"/>
          <p:cNvSpPr>
            <a:spLocks noGrp="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232AD1-8235-4B01-8709-75E56D976BF8}"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709322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a:ln/>
        </p:spPr>
      </p:sp>
      <p:sp>
        <p:nvSpPr>
          <p:cNvPr id="23554" name="Notes Placeholder 2"/>
          <p:cNvSpPr>
            <a:spLocks noGrp="1"/>
          </p:cNvSpPr>
          <p:nvPr>
            <p:ph type="body" idx="1"/>
          </p:nvPr>
        </p:nvSpPr>
        <p:spPr>
          <a:noFill/>
          <a:ln/>
        </p:spPr>
        <p:txBody>
          <a:bodyPr/>
          <a:lstStyle/>
          <a:p>
            <a:pPr eaLnBrk="1" hangingPunct="1"/>
            <a:endParaRPr lang="en-US">
              <a:latin typeface="Arial" charset="0"/>
            </a:endParaRPr>
          </a:p>
        </p:txBody>
      </p:sp>
      <p:sp>
        <p:nvSpPr>
          <p:cNvPr id="23555" name="Slide Number Placeholder 3"/>
          <p:cNvSpPr>
            <a:spLocks noGrp="1"/>
          </p:cNvSpPr>
          <p:nvPr>
            <p:ph type="sldNum" sz="quarter" idx="5"/>
          </p:nvPr>
        </p:nvSpPr>
        <p:spPr>
          <a:noFill/>
        </p:spPr>
        <p:txBody>
          <a:bodyPr/>
          <a:lstStyle/>
          <a:p>
            <a:pPr defTabSz="935313"/>
            <a:fld id="{25EC91C1-1F7A-4839-8C2B-9B0009754383}" type="slidenum">
              <a:rPr lang="en-US" smtClean="0"/>
              <a:pPr defTabSz="935313"/>
              <a:t>56</a:t>
            </a:fld>
            <a:endParaRPr lang="en-US"/>
          </a:p>
        </p:txBody>
      </p:sp>
    </p:spTree>
    <p:extLst>
      <p:ext uri="{BB962C8B-B14F-4D97-AF65-F5344CB8AC3E}">
        <p14:creationId xmlns:p14="http://schemas.microsoft.com/office/powerpoint/2010/main" val="32413370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142CCA2-2949-4325-A78A-A7C3B63D73CE}" type="slidenum">
              <a:rPr lang="en-US" smtClean="0"/>
              <a:pPr/>
              <a:t>57</a:t>
            </a:fld>
            <a:endParaRPr lang="en-US"/>
          </a:p>
        </p:txBody>
      </p:sp>
    </p:spTree>
    <p:extLst>
      <p:ext uri="{BB962C8B-B14F-4D97-AF65-F5344CB8AC3E}">
        <p14:creationId xmlns:p14="http://schemas.microsoft.com/office/powerpoint/2010/main" val="9285017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a:ln/>
        </p:spPr>
      </p:sp>
      <p:sp>
        <p:nvSpPr>
          <p:cNvPr id="23554" name="Notes Placeholder 2"/>
          <p:cNvSpPr>
            <a:spLocks noGrp="1"/>
          </p:cNvSpPr>
          <p:nvPr>
            <p:ph type="body" idx="1"/>
          </p:nvPr>
        </p:nvSpPr>
        <p:spPr>
          <a:noFill/>
          <a:ln/>
        </p:spPr>
        <p:txBody>
          <a:bodyPr/>
          <a:lstStyle/>
          <a:p>
            <a:pPr eaLnBrk="1" hangingPunct="1"/>
            <a:endParaRPr lang="en-US" dirty="0">
              <a:latin typeface="Arial" charset="0"/>
            </a:endParaRPr>
          </a:p>
        </p:txBody>
      </p:sp>
      <p:sp>
        <p:nvSpPr>
          <p:cNvPr id="23555" name="Slide Number Placeholder 3"/>
          <p:cNvSpPr>
            <a:spLocks noGrp="1"/>
          </p:cNvSpPr>
          <p:nvPr>
            <p:ph type="sldNum" sz="quarter" idx="5"/>
          </p:nvPr>
        </p:nvSpPr>
        <p:spPr>
          <a:noFill/>
        </p:spPr>
        <p:txBody>
          <a:bodyPr/>
          <a:lstStyle/>
          <a:p>
            <a:pPr defTabSz="935313"/>
            <a:fld id="{25EC91C1-1F7A-4839-8C2B-9B0009754383}" type="slidenum">
              <a:rPr lang="en-US" smtClean="0"/>
              <a:pPr defTabSz="935313"/>
              <a:t>58</a:t>
            </a:fld>
            <a:endParaRPr lang="en-US"/>
          </a:p>
        </p:txBody>
      </p:sp>
    </p:spTree>
    <p:extLst>
      <p:ext uri="{BB962C8B-B14F-4D97-AF65-F5344CB8AC3E}">
        <p14:creationId xmlns:p14="http://schemas.microsoft.com/office/powerpoint/2010/main" val="39702005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p:cNvSpPr>
          <p:nvPr>
            <p:ph type="sldImg"/>
          </p:nvPr>
        </p:nvSpPr>
        <p:spPr>
          <a:ln/>
        </p:spPr>
      </p:sp>
      <p:sp>
        <p:nvSpPr>
          <p:cNvPr id="23554" name="Notes Placeholder 2"/>
          <p:cNvSpPr>
            <a:spLocks noGrp="1"/>
          </p:cNvSpPr>
          <p:nvPr>
            <p:ph type="body" idx="1"/>
          </p:nvPr>
        </p:nvSpPr>
        <p:spPr>
          <a:noFill/>
          <a:ln/>
        </p:spPr>
        <p:txBody>
          <a:bodyPr/>
          <a:lstStyle/>
          <a:p>
            <a:pPr marL="354965" marR="1384300" indent="-342265">
              <a:lnSpc>
                <a:spcPts val="3300"/>
              </a:lnSpc>
              <a:spcBef>
                <a:spcPts val="260"/>
              </a:spcBef>
              <a:buFont typeface="Arial"/>
              <a:buChar char="•"/>
              <a:tabLst>
                <a:tab pos="354965" algn="l"/>
                <a:tab pos="355600" algn="l"/>
              </a:tabLst>
            </a:pPr>
            <a:r>
              <a:rPr lang="en-US" sz="2800" b="1" dirty="0">
                <a:latin typeface="Arial"/>
                <a:cs typeface="Arial"/>
              </a:rPr>
              <a:t>What</a:t>
            </a:r>
            <a:r>
              <a:rPr lang="en-US" sz="2800" b="1" spc="-15" dirty="0">
                <a:latin typeface="Arial"/>
                <a:cs typeface="Arial"/>
              </a:rPr>
              <a:t> </a:t>
            </a:r>
            <a:r>
              <a:rPr lang="en-US" sz="2800" b="1" dirty="0">
                <a:latin typeface="Arial"/>
                <a:cs typeface="Arial"/>
              </a:rPr>
              <a:t>are</a:t>
            </a:r>
            <a:r>
              <a:rPr lang="en-US" sz="2800" b="1" spc="-5" dirty="0">
                <a:latin typeface="Arial"/>
                <a:cs typeface="Arial"/>
              </a:rPr>
              <a:t> </a:t>
            </a:r>
            <a:r>
              <a:rPr lang="en-US" sz="2800" b="1" dirty="0">
                <a:latin typeface="Arial"/>
                <a:cs typeface="Arial"/>
              </a:rPr>
              <a:t>the</a:t>
            </a:r>
            <a:r>
              <a:rPr lang="en-US" sz="2800" b="1" spc="-5" dirty="0">
                <a:latin typeface="Arial"/>
                <a:cs typeface="Arial"/>
              </a:rPr>
              <a:t> </a:t>
            </a:r>
            <a:r>
              <a:rPr lang="en-US" sz="2800" b="1" dirty="0">
                <a:latin typeface="Arial"/>
                <a:cs typeface="Arial"/>
              </a:rPr>
              <a:t>negative</a:t>
            </a:r>
            <a:r>
              <a:rPr lang="en-US" sz="2800" b="1" spc="-5" dirty="0">
                <a:latin typeface="Arial"/>
                <a:cs typeface="Arial"/>
              </a:rPr>
              <a:t> </a:t>
            </a:r>
            <a:r>
              <a:rPr lang="en-US" sz="2800" b="1" dirty="0">
                <a:latin typeface="Arial"/>
                <a:cs typeface="Arial"/>
              </a:rPr>
              <a:t>effects</a:t>
            </a:r>
            <a:r>
              <a:rPr lang="en-US" sz="2800" b="1" spc="-5" dirty="0">
                <a:latin typeface="Arial"/>
                <a:cs typeface="Arial"/>
              </a:rPr>
              <a:t> </a:t>
            </a:r>
            <a:r>
              <a:rPr lang="en-US" sz="2800" b="1" spc="-25" dirty="0">
                <a:latin typeface="Arial"/>
                <a:cs typeface="Arial"/>
              </a:rPr>
              <a:t>of </a:t>
            </a:r>
            <a:r>
              <a:rPr lang="en-US" sz="2800" b="1" spc="-10" dirty="0">
                <a:latin typeface="Arial"/>
                <a:cs typeface="Arial"/>
              </a:rPr>
              <a:t>clustering?</a:t>
            </a:r>
            <a:endParaRPr lang="en-US" sz="2800" dirty="0">
              <a:latin typeface="Arial"/>
              <a:cs typeface="Arial"/>
            </a:endParaRPr>
          </a:p>
          <a:p>
            <a:pPr marL="812165" marR="5080" lvl="1" indent="-342265">
              <a:lnSpc>
                <a:spcPts val="3080"/>
              </a:lnSpc>
              <a:spcBef>
                <a:spcPts val="1300"/>
              </a:spcBef>
              <a:buClr>
                <a:srgbClr val="D1282E"/>
              </a:buClr>
              <a:buChar char="•"/>
              <a:tabLst>
                <a:tab pos="812165" algn="l"/>
                <a:tab pos="812800" algn="l"/>
              </a:tabLst>
            </a:pPr>
            <a:r>
              <a:rPr lang="en-US" sz="2600" dirty="0">
                <a:latin typeface="Arial"/>
                <a:cs typeface="Arial"/>
              </a:rPr>
              <a:t>If</a:t>
            </a:r>
            <a:r>
              <a:rPr lang="en-US" sz="2600" spc="-10" dirty="0">
                <a:latin typeface="Arial"/>
                <a:cs typeface="Arial"/>
              </a:rPr>
              <a:t> </a:t>
            </a:r>
            <a:r>
              <a:rPr lang="en-US" sz="2600" dirty="0">
                <a:latin typeface="Arial"/>
                <a:cs typeface="Arial"/>
              </a:rPr>
              <a:t>the</a:t>
            </a:r>
            <a:r>
              <a:rPr lang="en-US" sz="2600" spc="-5" dirty="0">
                <a:latin typeface="Arial"/>
                <a:cs typeface="Arial"/>
              </a:rPr>
              <a:t> </a:t>
            </a:r>
            <a:r>
              <a:rPr lang="en-US" sz="2600" dirty="0">
                <a:latin typeface="Arial"/>
                <a:cs typeface="Arial"/>
              </a:rPr>
              <a:t>cluster</a:t>
            </a:r>
            <a:r>
              <a:rPr lang="en-US" sz="2600" spc="-10" dirty="0">
                <a:latin typeface="Arial"/>
                <a:cs typeface="Arial"/>
              </a:rPr>
              <a:t> </a:t>
            </a:r>
            <a:r>
              <a:rPr lang="en-US" sz="2600" dirty="0">
                <a:latin typeface="Arial"/>
                <a:cs typeface="Arial"/>
              </a:rPr>
              <a:t>becomes</a:t>
            </a:r>
            <a:r>
              <a:rPr lang="en-US" sz="2600" spc="-5" dirty="0">
                <a:latin typeface="Arial"/>
                <a:cs typeface="Arial"/>
              </a:rPr>
              <a:t> </a:t>
            </a:r>
            <a:r>
              <a:rPr lang="en-US" sz="2600" dirty="0">
                <a:latin typeface="Arial"/>
                <a:cs typeface="Arial"/>
              </a:rPr>
              <a:t>too</a:t>
            </a:r>
            <a:r>
              <a:rPr lang="en-US" sz="2600" spc="-5" dirty="0">
                <a:latin typeface="Arial"/>
                <a:cs typeface="Arial"/>
              </a:rPr>
              <a:t> </a:t>
            </a:r>
            <a:r>
              <a:rPr lang="en-US" sz="2600" dirty="0">
                <a:latin typeface="Arial"/>
                <a:cs typeface="Arial"/>
              </a:rPr>
              <a:t>large,</a:t>
            </a:r>
            <a:r>
              <a:rPr lang="en-US" sz="2600" spc="-10" dirty="0">
                <a:latin typeface="Arial"/>
                <a:cs typeface="Arial"/>
              </a:rPr>
              <a:t> </a:t>
            </a:r>
            <a:r>
              <a:rPr lang="en-US" sz="2600" dirty="0">
                <a:latin typeface="Arial"/>
                <a:cs typeface="Arial"/>
              </a:rPr>
              <a:t>two </a:t>
            </a:r>
            <a:r>
              <a:rPr lang="en-US" sz="2600" spc="-10" dirty="0">
                <a:latin typeface="Arial"/>
                <a:cs typeface="Arial"/>
              </a:rPr>
              <a:t>things happen:</a:t>
            </a:r>
            <a:endParaRPr lang="en-US" sz="2600" dirty="0">
              <a:latin typeface="Arial"/>
              <a:cs typeface="Arial"/>
            </a:endParaRPr>
          </a:p>
          <a:p>
            <a:pPr marL="1497965" marR="208279" lvl="2" indent="-342265">
              <a:lnSpc>
                <a:spcPct val="101499"/>
              </a:lnSpc>
              <a:spcBef>
                <a:spcPts val="409"/>
              </a:spcBef>
              <a:buClr>
                <a:srgbClr val="D1282E"/>
              </a:buClr>
              <a:buChar char="•"/>
              <a:tabLst>
                <a:tab pos="1497965" algn="l"/>
                <a:tab pos="1498600" algn="l"/>
              </a:tabLst>
            </a:pPr>
            <a:r>
              <a:rPr lang="en-US" sz="2400" dirty="0">
                <a:latin typeface="Arial"/>
                <a:cs typeface="Arial"/>
              </a:rPr>
              <a:t>The</a:t>
            </a:r>
            <a:r>
              <a:rPr lang="en-US" sz="2400" spc="-5" dirty="0">
                <a:latin typeface="Arial"/>
                <a:cs typeface="Arial"/>
              </a:rPr>
              <a:t> </a:t>
            </a:r>
            <a:r>
              <a:rPr lang="en-US" sz="2400" dirty="0">
                <a:latin typeface="Arial"/>
                <a:cs typeface="Arial"/>
              </a:rPr>
              <a:t>chances</a:t>
            </a:r>
            <a:r>
              <a:rPr lang="en-US" sz="2400" spc="-5" dirty="0">
                <a:latin typeface="Arial"/>
                <a:cs typeface="Arial"/>
              </a:rPr>
              <a:t> </a:t>
            </a:r>
            <a:r>
              <a:rPr lang="en-US" sz="2400" dirty="0">
                <a:latin typeface="Arial"/>
                <a:cs typeface="Arial"/>
              </a:rPr>
              <a:t>of</a:t>
            </a:r>
            <a:r>
              <a:rPr lang="en-US" sz="2400" spc="-10" dirty="0">
                <a:latin typeface="Arial"/>
                <a:cs typeface="Arial"/>
              </a:rPr>
              <a:t> </a:t>
            </a:r>
            <a:r>
              <a:rPr lang="en-US" sz="2400" dirty="0">
                <a:latin typeface="Arial"/>
                <a:cs typeface="Arial"/>
              </a:rPr>
              <a:t>colliding with</a:t>
            </a:r>
            <a:r>
              <a:rPr lang="en-US" sz="2400" spc="-5" dirty="0">
                <a:latin typeface="Arial"/>
                <a:cs typeface="Arial"/>
              </a:rPr>
              <a:t> </a:t>
            </a:r>
            <a:r>
              <a:rPr lang="en-US" sz="2400" dirty="0">
                <a:latin typeface="Arial"/>
                <a:cs typeface="Arial"/>
              </a:rPr>
              <a:t>the </a:t>
            </a:r>
            <a:r>
              <a:rPr lang="en-US" sz="2400" spc="-10" dirty="0">
                <a:latin typeface="Arial"/>
                <a:cs typeface="Arial"/>
              </a:rPr>
              <a:t>cluster increase</a:t>
            </a:r>
            <a:endParaRPr lang="en-US" sz="2400" dirty="0">
              <a:latin typeface="Arial"/>
              <a:cs typeface="Arial"/>
            </a:endParaRPr>
          </a:p>
          <a:p>
            <a:pPr marL="1497965" marR="123825" lvl="2" indent="-342265">
              <a:lnSpc>
                <a:spcPts val="2820"/>
              </a:lnSpc>
              <a:spcBef>
                <a:spcPts val="740"/>
              </a:spcBef>
              <a:buClr>
                <a:srgbClr val="D1282E"/>
              </a:buClr>
              <a:buChar char="•"/>
              <a:tabLst>
                <a:tab pos="1497965" algn="l"/>
                <a:tab pos="1498600" algn="l"/>
              </a:tabLst>
            </a:pPr>
            <a:r>
              <a:rPr lang="en-US" sz="2400" dirty="0">
                <a:latin typeface="Arial"/>
                <a:cs typeface="Arial"/>
              </a:rPr>
              <a:t>The</a:t>
            </a:r>
            <a:r>
              <a:rPr lang="en-US" sz="2400" spc="-5" dirty="0">
                <a:latin typeface="Arial"/>
                <a:cs typeface="Arial"/>
              </a:rPr>
              <a:t> </a:t>
            </a:r>
            <a:r>
              <a:rPr lang="en-US" sz="2400" dirty="0">
                <a:latin typeface="Arial"/>
                <a:cs typeface="Arial"/>
              </a:rPr>
              <a:t>time</a:t>
            </a:r>
            <a:r>
              <a:rPr lang="en-US" sz="2400" spc="-5" dirty="0">
                <a:latin typeface="Arial"/>
                <a:cs typeface="Arial"/>
              </a:rPr>
              <a:t> </a:t>
            </a:r>
            <a:r>
              <a:rPr lang="en-US" sz="2400" dirty="0">
                <a:latin typeface="Arial"/>
                <a:cs typeface="Arial"/>
              </a:rPr>
              <a:t>it</a:t>
            </a:r>
            <a:r>
              <a:rPr lang="en-US" sz="2400" spc="-10" dirty="0">
                <a:latin typeface="Arial"/>
                <a:cs typeface="Arial"/>
              </a:rPr>
              <a:t> </a:t>
            </a:r>
            <a:r>
              <a:rPr lang="en-US" sz="2400" dirty="0">
                <a:latin typeface="Arial"/>
                <a:cs typeface="Arial"/>
              </a:rPr>
              <a:t>takes</a:t>
            </a:r>
            <a:r>
              <a:rPr lang="en-US" sz="2400" spc="-5" dirty="0">
                <a:latin typeface="Arial"/>
                <a:cs typeface="Arial"/>
              </a:rPr>
              <a:t> </a:t>
            </a:r>
            <a:r>
              <a:rPr lang="en-US" sz="2400" dirty="0">
                <a:latin typeface="Arial"/>
                <a:cs typeface="Arial"/>
              </a:rPr>
              <a:t>to</a:t>
            </a:r>
            <a:r>
              <a:rPr lang="en-US" sz="2400" spc="-5" dirty="0">
                <a:latin typeface="Arial"/>
                <a:cs typeface="Arial"/>
              </a:rPr>
              <a:t> </a:t>
            </a:r>
            <a:r>
              <a:rPr lang="en-US" sz="2400" dirty="0">
                <a:latin typeface="Arial"/>
                <a:cs typeface="Arial"/>
              </a:rPr>
              <a:t>find</a:t>
            </a:r>
            <a:r>
              <a:rPr lang="en-US" sz="2400" spc="-5" dirty="0">
                <a:latin typeface="Arial"/>
                <a:cs typeface="Arial"/>
              </a:rPr>
              <a:t> </a:t>
            </a:r>
            <a:r>
              <a:rPr lang="en-US" sz="2400" dirty="0">
                <a:latin typeface="Arial"/>
                <a:cs typeface="Arial"/>
              </a:rPr>
              <a:t>something</a:t>
            </a:r>
            <a:r>
              <a:rPr lang="en-US" sz="2400" spc="-5" dirty="0">
                <a:latin typeface="Arial"/>
                <a:cs typeface="Arial"/>
              </a:rPr>
              <a:t> </a:t>
            </a:r>
            <a:r>
              <a:rPr lang="en-US" sz="2400" dirty="0">
                <a:latin typeface="Arial"/>
                <a:cs typeface="Arial"/>
              </a:rPr>
              <a:t>in </a:t>
            </a:r>
            <a:r>
              <a:rPr lang="en-US" sz="2400" spc="-25" dirty="0">
                <a:latin typeface="Arial"/>
                <a:cs typeface="Arial"/>
              </a:rPr>
              <a:t>the </a:t>
            </a:r>
            <a:r>
              <a:rPr lang="en-US" sz="2400" dirty="0">
                <a:latin typeface="Arial"/>
                <a:cs typeface="Arial"/>
              </a:rPr>
              <a:t>cluster</a:t>
            </a:r>
            <a:r>
              <a:rPr lang="en-US" sz="2400" spc="-25" dirty="0">
                <a:latin typeface="Arial"/>
                <a:cs typeface="Arial"/>
              </a:rPr>
              <a:t> </a:t>
            </a:r>
            <a:r>
              <a:rPr lang="en-US" sz="2400" dirty="0">
                <a:latin typeface="Arial"/>
                <a:cs typeface="Arial"/>
              </a:rPr>
              <a:t>increases.</a:t>
            </a:r>
            <a:r>
              <a:rPr lang="en-US" sz="2400" spc="-15" dirty="0">
                <a:latin typeface="Arial"/>
                <a:cs typeface="Arial"/>
              </a:rPr>
              <a:t> </a:t>
            </a:r>
            <a:r>
              <a:rPr lang="en-US" sz="2400" b="1" dirty="0">
                <a:latin typeface="Arial"/>
                <a:cs typeface="Arial"/>
              </a:rPr>
              <a:t>This</a:t>
            </a:r>
            <a:r>
              <a:rPr lang="en-US" sz="2400" b="1" spc="-5" dirty="0">
                <a:latin typeface="Arial"/>
                <a:cs typeface="Arial"/>
              </a:rPr>
              <a:t> </a:t>
            </a:r>
            <a:r>
              <a:rPr lang="en-US" sz="2400" b="1" dirty="0">
                <a:latin typeface="Arial"/>
                <a:cs typeface="Arial"/>
              </a:rPr>
              <a:t>isn’t</a:t>
            </a:r>
            <a:r>
              <a:rPr lang="en-US" sz="2400" b="1" spc="-15" dirty="0">
                <a:latin typeface="Arial"/>
                <a:cs typeface="Arial"/>
              </a:rPr>
              <a:t> </a:t>
            </a:r>
            <a:r>
              <a:rPr lang="en-US" sz="2400" b="1" dirty="0">
                <a:latin typeface="Arial"/>
                <a:cs typeface="Arial"/>
              </a:rPr>
              <a:t>O(1)</a:t>
            </a:r>
            <a:r>
              <a:rPr lang="en-US" sz="2400" b="1" spc="-10" dirty="0">
                <a:latin typeface="Arial"/>
                <a:cs typeface="Arial"/>
              </a:rPr>
              <a:t> time!</a:t>
            </a:r>
            <a:endParaRPr lang="en-US" sz="2400" dirty="0">
              <a:latin typeface="Arial"/>
              <a:cs typeface="Arial"/>
            </a:endParaRPr>
          </a:p>
          <a:p>
            <a:pPr eaLnBrk="1" hangingPunct="1"/>
            <a:endParaRPr lang="en-US" dirty="0">
              <a:latin typeface="Arial" charset="0"/>
            </a:endParaRPr>
          </a:p>
        </p:txBody>
      </p:sp>
      <p:sp>
        <p:nvSpPr>
          <p:cNvPr id="23555" name="Slide Number Placeholder 3"/>
          <p:cNvSpPr>
            <a:spLocks noGrp="1"/>
          </p:cNvSpPr>
          <p:nvPr>
            <p:ph type="sldNum" sz="quarter" idx="5"/>
          </p:nvPr>
        </p:nvSpPr>
        <p:spPr>
          <a:noFill/>
        </p:spPr>
        <p:txBody>
          <a:bodyPr/>
          <a:lstStyle/>
          <a:p>
            <a:pPr defTabSz="935313"/>
            <a:fld id="{25EC91C1-1F7A-4839-8C2B-9B0009754383}" type="slidenum">
              <a:rPr lang="en-US" smtClean="0"/>
              <a:pPr defTabSz="935313"/>
              <a:t>59</a:t>
            </a:fld>
            <a:endParaRPr lang="en-US"/>
          </a:p>
        </p:txBody>
      </p:sp>
    </p:spTree>
    <p:extLst>
      <p:ext uri="{BB962C8B-B14F-4D97-AF65-F5344CB8AC3E}">
        <p14:creationId xmlns:p14="http://schemas.microsoft.com/office/powerpoint/2010/main" val="16033000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Slide Image Placeholder 1"/>
          <p:cNvSpPr>
            <a:spLocks noGrp="1" noRot="1" noChangeAspect="1"/>
          </p:cNvSpPr>
          <p:nvPr>
            <p:ph type="sldImg"/>
          </p:nvPr>
        </p:nvSpPr>
        <p:spPr>
          <a:ln/>
        </p:spPr>
      </p:sp>
      <p:sp>
        <p:nvSpPr>
          <p:cNvPr id="94210" name="Notes Placeholder 2"/>
          <p:cNvSpPr>
            <a:spLocks noGrp="1"/>
          </p:cNvSpPr>
          <p:nvPr>
            <p:ph type="body" idx="1"/>
          </p:nvPr>
        </p:nvSpPr>
        <p:spPr>
          <a:noFill/>
          <a:ln/>
        </p:spPr>
        <p:txBody>
          <a:bodyPr/>
          <a:lstStyle/>
          <a:p>
            <a:pPr eaLnBrk="1" hangingPunct="1"/>
            <a:endParaRPr lang="en-US">
              <a:latin typeface="Arial" charset="0"/>
            </a:endParaRPr>
          </a:p>
        </p:txBody>
      </p:sp>
      <p:sp>
        <p:nvSpPr>
          <p:cNvPr id="94211" name="Slide Number Placeholder 3"/>
          <p:cNvSpPr>
            <a:spLocks noGrp="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1FB961EA-5DC3-43AE-80AE-A27E67A15B21}"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807597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8C27712-3692-4A90-8CF2-CA78D6DC5F6E}" type="slidenum">
              <a:rPr lang="en-US" smtClean="0"/>
              <a:t>61</a:t>
            </a:fld>
            <a:endParaRPr lang="en-US"/>
          </a:p>
        </p:txBody>
      </p:sp>
    </p:spTree>
    <p:extLst>
      <p:ext uri="{BB962C8B-B14F-4D97-AF65-F5344CB8AC3E}">
        <p14:creationId xmlns:p14="http://schemas.microsoft.com/office/powerpoint/2010/main" val="15969300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Slide Image Placeholder 1"/>
          <p:cNvSpPr>
            <a:spLocks noGrp="1" noRot="1" noChangeAspect="1"/>
          </p:cNvSpPr>
          <p:nvPr>
            <p:ph type="sldImg"/>
          </p:nvPr>
        </p:nvSpPr>
        <p:spPr>
          <a:ln/>
        </p:spPr>
      </p:sp>
      <p:sp>
        <p:nvSpPr>
          <p:cNvPr id="96258" name="Notes Placeholder 2"/>
          <p:cNvSpPr>
            <a:spLocks noGrp="1"/>
          </p:cNvSpPr>
          <p:nvPr>
            <p:ph type="body" idx="1"/>
          </p:nvPr>
        </p:nvSpPr>
        <p:spPr>
          <a:noFill/>
          <a:ln/>
        </p:spPr>
        <p:txBody>
          <a:bodyPr/>
          <a:lstStyle/>
          <a:p>
            <a:pPr eaLnBrk="1" hangingPunct="1"/>
            <a:endParaRPr lang="en-US">
              <a:latin typeface="Arial" charset="0"/>
            </a:endParaRPr>
          </a:p>
        </p:txBody>
      </p:sp>
      <p:sp>
        <p:nvSpPr>
          <p:cNvPr id="96259" name="Slide Number Placeholder 3"/>
          <p:cNvSpPr>
            <a:spLocks noGrp="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471E55CB-CEE8-452E-997B-2E5638A865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512557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Slide Image Placeholder 1"/>
          <p:cNvSpPr>
            <a:spLocks noGrp="1" noRot="1" noChangeAspect="1"/>
          </p:cNvSpPr>
          <p:nvPr>
            <p:ph type="sldImg"/>
          </p:nvPr>
        </p:nvSpPr>
        <p:spPr>
          <a:ln/>
        </p:spPr>
      </p:sp>
      <p:sp>
        <p:nvSpPr>
          <p:cNvPr id="96258" name="Notes Placeholder 2"/>
          <p:cNvSpPr>
            <a:spLocks noGrp="1"/>
          </p:cNvSpPr>
          <p:nvPr>
            <p:ph type="body" idx="1"/>
          </p:nvPr>
        </p:nvSpPr>
        <p:spPr>
          <a:noFill/>
          <a:ln/>
        </p:spPr>
        <p:txBody>
          <a:bodyPr/>
          <a:lstStyle/>
          <a:p>
            <a:pPr eaLnBrk="1" hangingPunct="1"/>
            <a:endParaRPr lang="en-US">
              <a:latin typeface="Arial" charset="0"/>
            </a:endParaRPr>
          </a:p>
        </p:txBody>
      </p:sp>
      <p:sp>
        <p:nvSpPr>
          <p:cNvPr id="96259" name="Slide Number Placeholder 3"/>
          <p:cNvSpPr>
            <a:spLocks noGrp="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471E55CB-CEE8-452E-997B-2E5638A865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794328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Slide Image Placeholder 1"/>
          <p:cNvSpPr>
            <a:spLocks noGrp="1" noRot="1" noChangeAspect="1"/>
          </p:cNvSpPr>
          <p:nvPr>
            <p:ph type="sldImg"/>
          </p:nvPr>
        </p:nvSpPr>
        <p:spPr>
          <a:ln/>
        </p:spPr>
      </p:sp>
      <p:sp>
        <p:nvSpPr>
          <p:cNvPr id="96258" name="Notes Placeholder 2"/>
          <p:cNvSpPr>
            <a:spLocks noGrp="1"/>
          </p:cNvSpPr>
          <p:nvPr>
            <p:ph type="body" idx="1"/>
          </p:nvPr>
        </p:nvSpPr>
        <p:spPr>
          <a:noFill/>
          <a:ln/>
        </p:spPr>
        <p:txBody>
          <a:bodyPr/>
          <a:lstStyle/>
          <a:p>
            <a:pPr eaLnBrk="1" hangingPunct="1"/>
            <a:endParaRPr lang="en-US">
              <a:latin typeface="Arial" charset="0"/>
            </a:endParaRPr>
          </a:p>
        </p:txBody>
      </p:sp>
      <p:sp>
        <p:nvSpPr>
          <p:cNvPr id="96259" name="Slide Number Placeholder 3"/>
          <p:cNvSpPr>
            <a:spLocks noGrp="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471E55CB-CEE8-452E-997B-2E5638A865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032836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Slide Image Placeholder 1"/>
          <p:cNvSpPr>
            <a:spLocks noGrp="1" noRot="1" noChangeAspect="1"/>
          </p:cNvSpPr>
          <p:nvPr>
            <p:ph type="sldImg"/>
          </p:nvPr>
        </p:nvSpPr>
        <p:spPr>
          <a:ln/>
        </p:spPr>
      </p:sp>
      <p:sp>
        <p:nvSpPr>
          <p:cNvPr id="96258" name="Notes Placeholder 2"/>
          <p:cNvSpPr>
            <a:spLocks noGrp="1"/>
          </p:cNvSpPr>
          <p:nvPr>
            <p:ph type="body" idx="1"/>
          </p:nvPr>
        </p:nvSpPr>
        <p:spPr>
          <a:noFill/>
          <a:ln/>
        </p:spPr>
        <p:txBody>
          <a:bodyPr/>
          <a:lstStyle/>
          <a:p>
            <a:pPr eaLnBrk="1" hangingPunct="1"/>
            <a:endParaRPr lang="en-US">
              <a:latin typeface="Arial" charset="0"/>
            </a:endParaRPr>
          </a:p>
        </p:txBody>
      </p:sp>
      <p:sp>
        <p:nvSpPr>
          <p:cNvPr id="96259" name="Slide Number Placeholder 3"/>
          <p:cNvSpPr>
            <a:spLocks noGrp="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471E55CB-CEE8-452E-997B-2E5638A865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440531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Slide Image Placeholder 1"/>
          <p:cNvSpPr>
            <a:spLocks noGrp="1" noRot="1" noChangeAspect="1"/>
          </p:cNvSpPr>
          <p:nvPr>
            <p:ph type="sldImg"/>
          </p:nvPr>
        </p:nvSpPr>
        <p:spPr>
          <a:ln/>
        </p:spPr>
      </p:sp>
      <p:sp>
        <p:nvSpPr>
          <p:cNvPr id="96258" name="Notes Placeholder 2"/>
          <p:cNvSpPr>
            <a:spLocks noGrp="1"/>
          </p:cNvSpPr>
          <p:nvPr>
            <p:ph type="body" idx="1"/>
          </p:nvPr>
        </p:nvSpPr>
        <p:spPr>
          <a:noFill/>
          <a:ln/>
        </p:spPr>
        <p:txBody>
          <a:bodyPr/>
          <a:lstStyle/>
          <a:p>
            <a:pPr eaLnBrk="1" hangingPunct="1"/>
            <a:endParaRPr lang="en-US">
              <a:latin typeface="Arial" charset="0"/>
            </a:endParaRPr>
          </a:p>
        </p:txBody>
      </p:sp>
      <p:sp>
        <p:nvSpPr>
          <p:cNvPr id="96259" name="Slide Number Placeholder 3"/>
          <p:cNvSpPr>
            <a:spLocks noGrp="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471E55CB-CEE8-452E-997B-2E5638A865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300042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Slide Image Placeholder 1"/>
          <p:cNvSpPr>
            <a:spLocks noGrp="1" noRot="1" noChangeAspect="1"/>
          </p:cNvSpPr>
          <p:nvPr>
            <p:ph type="sldImg"/>
          </p:nvPr>
        </p:nvSpPr>
        <p:spPr>
          <a:ln/>
        </p:spPr>
      </p:sp>
      <p:sp>
        <p:nvSpPr>
          <p:cNvPr id="96258" name="Notes Placeholder 2"/>
          <p:cNvSpPr>
            <a:spLocks noGrp="1"/>
          </p:cNvSpPr>
          <p:nvPr>
            <p:ph type="body" idx="1"/>
          </p:nvPr>
        </p:nvSpPr>
        <p:spPr>
          <a:noFill/>
          <a:ln/>
        </p:spPr>
        <p:txBody>
          <a:bodyPr/>
          <a:lstStyle/>
          <a:p>
            <a:pPr eaLnBrk="1" hangingPunct="1"/>
            <a:endParaRPr lang="en-US">
              <a:latin typeface="Arial" charset="0"/>
            </a:endParaRPr>
          </a:p>
        </p:txBody>
      </p:sp>
      <p:sp>
        <p:nvSpPr>
          <p:cNvPr id="96259" name="Slide Number Placeholder 3"/>
          <p:cNvSpPr>
            <a:spLocks noGrp="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471E55CB-CEE8-452E-997B-2E5638A8656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382210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Slide Image Placeholder 1"/>
          <p:cNvSpPr>
            <a:spLocks noGrp="1" noRot="1" noChangeAspect="1"/>
          </p:cNvSpPr>
          <p:nvPr>
            <p:ph type="sldImg"/>
          </p:nvPr>
        </p:nvSpPr>
        <p:spPr>
          <a:ln/>
        </p:spPr>
      </p:sp>
      <p:sp>
        <p:nvSpPr>
          <p:cNvPr id="108546" name="Notes Placeholder 2"/>
          <p:cNvSpPr>
            <a:spLocks noGrp="1"/>
          </p:cNvSpPr>
          <p:nvPr>
            <p:ph type="body" idx="1"/>
          </p:nvPr>
        </p:nvSpPr>
        <p:spPr>
          <a:noFill/>
          <a:ln/>
        </p:spPr>
        <p:txBody>
          <a:bodyPr/>
          <a:lstStyle/>
          <a:p>
            <a:pPr eaLnBrk="1" hangingPunct="1"/>
            <a:endParaRPr lang="en-US">
              <a:latin typeface="Arial" charset="0"/>
            </a:endParaRPr>
          </a:p>
        </p:txBody>
      </p:sp>
      <p:sp>
        <p:nvSpPr>
          <p:cNvPr id="108547" name="Slide Number Placeholder 3"/>
          <p:cNvSpPr>
            <a:spLocks noGrp="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D1A6118E-1FA4-408C-8F82-D2F3B8D71BD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795081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Slide Image Placeholder 1"/>
          <p:cNvSpPr>
            <a:spLocks noGrp="1" noRot="1" noChangeAspect="1"/>
          </p:cNvSpPr>
          <p:nvPr>
            <p:ph type="sldImg"/>
          </p:nvPr>
        </p:nvSpPr>
        <p:spPr>
          <a:ln/>
        </p:spPr>
      </p:sp>
      <p:sp>
        <p:nvSpPr>
          <p:cNvPr id="108546" name="Notes Placeholder 2"/>
          <p:cNvSpPr>
            <a:spLocks noGrp="1"/>
          </p:cNvSpPr>
          <p:nvPr>
            <p:ph type="body" idx="1"/>
          </p:nvPr>
        </p:nvSpPr>
        <p:spPr>
          <a:noFill/>
          <a:ln/>
        </p:spPr>
        <p:txBody>
          <a:bodyPr/>
          <a:lstStyle/>
          <a:p>
            <a:pPr eaLnBrk="1" hangingPunct="1"/>
            <a:endParaRPr lang="en-US">
              <a:latin typeface="Arial" charset="0"/>
            </a:endParaRPr>
          </a:p>
        </p:txBody>
      </p:sp>
      <p:sp>
        <p:nvSpPr>
          <p:cNvPr id="108547" name="Slide Number Placeholder 3"/>
          <p:cNvSpPr>
            <a:spLocks noGrp="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D1A6118E-1FA4-408C-8F82-D2F3B8D71BD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447817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Slide Image Placeholder 1"/>
          <p:cNvSpPr>
            <a:spLocks noGrp="1" noRot="1" noChangeAspect="1"/>
          </p:cNvSpPr>
          <p:nvPr>
            <p:ph type="sldImg"/>
          </p:nvPr>
        </p:nvSpPr>
        <p:spPr>
          <a:ln/>
        </p:spPr>
      </p:sp>
      <p:sp>
        <p:nvSpPr>
          <p:cNvPr id="108546" name="Notes Placeholder 2"/>
          <p:cNvSpPr>
            <a:spLocks noGrp="1"/>
          </p:cNvSpPr>
          <p:nvPr>
            <p:ph type="body" idx="1"/>
          </p:nvPr>
        </p:nvSpPr>
        <p:spPr>
          <a:noFill/>
          <a:ln/>
        </p:spPr>
        <p:txBody>
          <a:bodyPr/>
          <a:lstStyle/>
          <a:p>
            <a:pPr eaLnBrk="1" hangingPunct="1"/>
            <a:endParaRPr lang="en-US">
              <a:latin typeface="Arial" charset="0"/>
            </a:endParaRPr>
          </a:p>
        </p:txBody>
      </p:sp>
      <p:sp>
        <p:nvSpPr>
          <p:cNvPr id="108547" name="Slide Number Placeholder 3"/>
          <p:cNvSpPr>
            <a:spLocks noGrp="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D1A6118E-1FA4-408C-8F82-D2F3B8D71BD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333976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Slide Image Placeholder 1"/>
          <p:cNvSpPr>
            <a:spLocks noGrp="1" noRot="1" noChangeAspect="1"/>
          </p:cNvSpPr>
          <p:nvPr>
            <p:ph type="sldImg"/>
          </p:nvPr>
        </p:nvSpPr>
        <p:spPr>
          <a:ln/>
        </p:spPr>
      </p:sp>
      <p:sp>
        <p:nvSpPr>
          <p:cNvPr id="108546" name="Notes Placeholder 2"/>
          <p:cNvSpPr>
            <a:spLocks noGrp="1"/>
          </p:cNvSpPr>
          <p:nvPr>
            <p:ph type="body" idx="1"/>
          </p:nvPr>
        </p:nvSpPr>
        <p:spPr>
          <a:noFill/>
          <a:ln/>
        </p:spPr>
        <p:txBody>
          <a:bodyPr/>
          <a:lstStyle/>
          <a:p>
            <a:pPr eaLnBrk="1" hangingPunct="1"/>
            <a:endParaRPr lang="en-US">
              <a:latin typeface="Arial" charset="0"/>
            </a:endParaRPr>
          </a:p>
        </p:txBody>
      </p:sp>
      <p:sp>
        <p:nvSpPr>
          <p:cNvPr id="108547" name="Slide Number Placeholder 3"/>
          <p:cNvSpPr>
            <a:spLocks noGrp="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D1A6118E-1FA4-408C-8F82-D2F3B8D71BD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71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3741123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Slide Image Placeholder 1"/>
          <p:cNvSpPr>
            <a:spLocks noGrp="1" noRot="1" noChangeAspect="1"/>
          </p:cNvSpPr>
          <p:nvPr>
            <p:ph type="sldImg"/>
          </p:nvPr>
        </p:nvSpPr>
        <p:spPr>
          <a:ln/>
        </p:spPr>
      </p:sp>
      <p:sp>
        <p:nvSpPr>
          <p:cNvPr id="108546" name="Notes Placeholder 2"/>
          <p:cNvSpPr>
            <a:spLocks noGrp="1"/>
          </p:cNvSpPr>
          <p:nvPr>
            <p:ph type="body" idx="1"/>
          </p:nvPr>
        </p:nvSpPr>
        <p:spPr>
          <a:noFill/>
          <a:ln/>
        </p:spPr>
        <p:txBody>
          <a:bodyPr/>
          <a:lstStyle/>
          <a:p>
            <a:pPr eaLnBrk="1" hangingPunct="1"/>
            <a:endParaRPr lang="en-US">
              <a:latin typeface="Arial" charset="0"/>
            </a:endParaRPr>
          </a:p>
        </p:txBody>
      </p:sp>
      <p:sp>
        <p:nvSpPr>
          <p:cNvPr id="108547" name="Slide Number Placeholder 3"/>
          <p:cNvSpPr>
            <a:spLocks noGrp="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D1A6118E-1FA4-408C-8F82-D2F3B8D71BD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458517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Slide Image Placeholder 1"/>
          <p:cNvSpPr>
            <a:spLocks noGrp="1" noRot="1" noChangeAspect="1"/>
          </p:cNvSpPr>
          <p:nvPr>
            <p:ph type="sldImg"/>
          </p:nvPr>
        </p:nvSpPr>
        <p:spPr>
          <a:ln/>
        </p:spPr>
      </p:sp>
      <p:sp>
        <p:nvSpPr>
          <p:cNvPr id="108546" name="Notes Placeholder 2"/>
          <p:cNvSpPr>
            <a:spLocks noGrp="1"/>
          </p:cNvSpPr>
          <p:nvPr>
            <p:ph type="body" idx="1"/>
          </p:nvPr>
        </p:nvSpPr>
        <p:spPr>
          <a:noFill/>
          <a:ln/>
        </p:spPr>
        <p:txBody>
          <a:bodyPr/>
          <a:lstStyle/>
          <a:p>
            <a:pPr eaLnBrk="1" hangingPunct="1"/>
            <a:endParaRPr lang="en-US">
              <a:latin typeface="Arial" charset="0"/>
            </a:endParaRPr>
          </a:p>
        </p:txBody>
      </p:sp>
      <p:sp>
        <p:nvSpPr>
          <p:cNvPr id="108547" name="Slide Number Placeholder 3"/>
          <p:cNvSpPr>
            <a:spLocks noGrp="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D1A6118E-1FA4-408C-8F82-D2F3B8D71BD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73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8139392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Slide Image Placeholder 1"/>
          <p:cNvSpPr>
            <a:spLocks noGrp="1" noRot="1" noChangeAspect="1"/>
          </p:cNvSpPr>
          <p:nvPr>
            <p:ph type="sldImg"/>
          </p:nvPr>
        </p:nvSpPr>
        <p:spPr>
          <a:ln/>
        </p:spPr>
      </p:sp>
      <p:sp>
        <p:nvSpPr>
          <p:cNvPr id="108546" name="Notes Placeholder 2"/>
          <p:cNvSpPr>
            <a:spLocks noGrp="1"/>
          </p:cNvSpPr>
          <p:nvPr>
            <p:ph type="body" idx="1"/>
          </p:nvPr>
        </p:nvSpPr>
        <p:spPr>
          <a:noFill/>
          <a:ln/>
        </p:spPr>
        <p:txBody>
          <a:bodyPr/>
          <a:lstStyle/>
          <a:p>
            <a:pPr eaLnBrk="1" hangingPunct="1"/>
            <a:endParaRPr lang="en-US">
              <a:latin typeface="Arial" charset="0"/>
            </a:endParaRPr>
          </a:p>
        </p:txBody>
      </p:sp>
      <p:sp>
        <p:nvSpPr>
          <p:cNvPr id="108547" name="Slide Number Placeholder 3"/>
          <p:cNvSpPr>
            <a:spLocks noGrp="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D1A6118E-1FA4-408C-8F82-D2F3B8D71BD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940400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C27712-3692-4A90-8CF2-CA78D6DC5F6E}" type="slidenum">
              <a:rPr lang="en-US" smtClean="0"/>
              <a:t>75</a:t>
            </a:fld>
            <a:endParaRPr lang="en-US"/>
          </a:p>
        </p:txBody>
      </p:sp>
    </p:spTree>
    <p:extLst>
      <p:ext uri="{BB962C8B-B14F-4D97-AF65-F5344CB8AC3E}">
        <p14:creationId xmlns:p14="http://schemas.microsoft.com/office/powerpoint/2010/main" val="18676199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Slide Image Placeholder 1"/>
          <p:cNvSpPr>
            <a:spLocks noGrp="1" noRot="1" noChangeAspect="1"/>
          </p:cNvSpPr>
          <p:nvPr>
            <p:ph type="sldImg"/>
          </p:nvPr>
        </p:nvSpPr>
        <p:spPr>
          <a:ln/>
        </p:spPr>
      </p:sp>
      <p:sp>
        <p:nvSpPr>
          <p:cNvPr id="126978" name="Notes Placeholder 2"/>
          <p:cNvSpPr>
            <a:spLocks noGrp="1"/>
          </p:cNvSpPr>
          <p:nvPr>
            <p:ph type="body" idx="1"/>
          </p:nvPr>
        </p:nvSpPr>
        <p:spPr>
          <a:noFill/>
          <a:ln/>
        </p:spPr>
        <p:txBody>
          <a:bodyPr/>
          <a:lstStyle/>
          <a:p>
            <a:pPr eaLnBrk="1" hangingPunct="1"/>
            <a:endParaRPr lang="en-US">
              <a:latin typeface="Arial" charset="0"/>
            </a:endParaRPr>
          </a:p>
        </p:txBody>
      </p:sp>
      <p:sp>
        <p:nvSpPr>
          <p:cNvPr id="126979" name="Slide Number Placeholder 3"/>
          <p:cNvSpPr>
            <a:spLocks noGrp="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DD439324-F9A6-4350-B21B-26A17CF25A7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76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386680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Slide Image Placeholder 1"/>
          <p:cNvSpPr>
            <a:spLocks noGrp="1" noRot="1" noChangeAspect="1"/>
          </p:cNvSpPr>
          <p:nvPr>
            <p:ph type="sldImg"/>
          </p:nvPr>
        </p:nvSpPr>
        <p:spPr>
          <a:ln/>
        </p:spPr>
      </p:sp>
      <p:sp>
        <p:nvSpPr>
          <p:cNvPr id="129026" name="Notes Placeholder 2"/>
          <p:cNvSpPr>
            <a:spLocks noGrp="1"/>
          </p:cNvSpPr>
          <p:nvPr>
            <p:ph type="body" idx="1"/>
          </p:nvPr>
        </p:nvSpPr>
        <p:spPr>
          <a:noFill/>
          <a:ln/>
        </p:spPr>
        <p:txBody>
          <a:bodyPr/>
          <a:lstStyle/>
          <a:p>
            <a:r>
              <a:rPr lang="en-US" dirty="0"/>
              <a:t>Linear probing and quadratic probing add increments to </a:t>
            </a:r>
            <a:r>
              <a:rPr lang="en-US" i="1" dirty="0">
                <a:latin typeface="Times New Roman"/>
                <a:ea typeface="Times New Roman"/>
                <a:cs typeface="Times New Roman"/>
                <a:sym typeface="Times New Roman"/>
              </a:rPr>
              <a:t>k (initial index)</a:t>
            </a:r>
            <a:r>
              <a:rPr lang="en-US" dirty="0"/>
              <a:t> to define a probe sequence</a:t>
            </a:r>
          </a:p>
          <a:p>
            <a:pPr lvl="1"/>
            <a:r>
              <a:rPr lang="en-US" dirty="0"/>
              <a:t>Both are independent of the search key</a:t>
            </a:r>
          </a:p>
          <a:p>
            <a:r>
              <a:rPr lang="en-US" b="1" i="1" u="none" strike="noStrike" dirty="0">
                <a:solidFill>
                  <a:srgbClr val="000000"/>
                </a:solidFill>
                <a:effectLst/>
                <a:latin typeface="Roboto" panose="02000000000000000000" pitchFamily="2" charset="0"/>
              </a:rPr>
              <a:t>Double hashing</a:t>
            </a:r>
            <a:r>
              <a:rPr lang="en-US" b="0" i="0" dirty="0">
                <a:solidFill>
                  <a:srgbClr val="37474F"/>
                </a:solidFill>
                <a:effectLst/>
                <a:latin typeface="Roboto" panose="02000000000000000000" pitchFamily="2" charset="0"/>
              </a:rPr>
              <a:t> is an open-addressing collision resolution technique that uses 2 different hash functions to compute bucket indices. Using hash functions h1 and h2, a key's index in the table is computed with the formula (ℎ1(key)+</a:t>
            </a:r>
            <a:r>
              <a:rPr lang="en-US" i="1" dirty="0">
                <a:solidFill>
                  <a:srgbClr val="37474F"/>
                </a:solidFill>
                <a:latin typeface="Roboto" panose="02000000000000000000" pitchFamily="2" charset="0"/>
              </a:rPr>
              <a:t>i</a:t>
            </a:r>
            <a:r>
              <a:rPr lang="en-US" b="0" i="0" dirty="0">
                <a:solidFill>
                  <a:srgbClr val="37474F"/>
                </a:solidFill>
                <a:effectLst/>
                <a:latin typeface="Roboto" panose="02000000000000000000" pitchFamily="2" charset="0"/>
              </a:rPr>
              <a:t>∗ℎ2(key))mod(</a:t>
            </a:r>
            <a:r>
              <a:rPr lang="en-US" b="0" i="1" dirty="0" err="1">
                <a:solidFill>
                  <a:srgbClr val="37474F"/>
                </a:solidFill>
                <a:effectLst/>
                <a:latin typeface="Roboto" panose="02000000000000000000" pitchFamily="2" charset="0"/>
              </a:rPr>
              <a:t>tableSize</a:t>
            </a:r>
            <a:r>
              <a:rPr lang="en-US" b="0" i="0" dirty="0">
                <a:solidFill>
                  <a:srgbClr val="37474F"/>
                </a:solidFill>
                <a:effectLst/>
                <a:latin typeface="Roboto" panose="02000000000000000000" pitchFamily="2" charset="0"/>
              </a:rPr>
              <a:t>). Inserting a key uses the formula, starting with </a:t>
            </a:r>
            <a:r>
              <a:rPr lang="en-US" b="0" i="0" dirty="0" err="1">
                <a:solidFill>
                  <a:srgbClr val="37474F"/>
                </a:solidFill>
                <a:effectLst/>
                <a:latin typeface="Roboto" panose="02000000000000000000" pitchFamily="2" charset="0"/>
              </a:rPr>
              <a:t>i</a:t>
            </a:r>
            <a:r>
              <a:rPr lang="en-US" b="0" i="0" dirty="0">
                <a:solidFill>
                  <a:srgbClr val="37474F"/>
                </a:solidFill>
                <a:effectLst/>
                <a:latin typeface="Roboto" panose="02000000000000000000" pitchFamily="2" charset="0"/>
              </a:rPr>
              <a:t> = 0, to repeatedly search hash table buckets until an empty bucket is found. Each time an empty bucket is not found, </a:t>
            </a:r>
            <a:r>
              <a:rPr lang="en-US" b="0" i="1" dirty="0" err="1">
                <a:solidFill>
                  <a:srgbClr val="37474F"/>
                </a:solidFill>
                <a:effectLst/>
                <a:latin typeface="Roboto" panose="02000000000000000000" pitchFamily="2" charset="0"/>
              </a:rPr>
              <a:t>i</a:t>
            </a:r>
            <a:r>
              <a:rPr lang="en-US" b="0" i="0" dirty="0">
                <a:solidFill>
                  <a:srgbClr val="37474F"/>
                </a:solidFill>
                <a:effectLst/>
                <a:latin typeface="Roboto" panose="02000000000000000000" pitchFamily="2" charset="0"/>
              </a:rPr>
              <a:t> is incremented by 1. Iterating through sequential </a:t>
            </a:r>
            <a:r>
              <a:rPr lang="en-US" b="0" i="1" dirty="0" err="1">
                <a:solidFill>
                  <a:srgbClr val="37474F"/>
                </a:solidFill>
                <a:effectLst/>
                <a:latin typeface="Roboto" panose="02000000000000000000" pitchFamily="2" charset="0"/>
              </a:rPr>
              <a:t>i</a:t>
            </a:r>
            <a:r>
              <a:rPr lang="en-US" b="0" i="0" dirty="0">
                <a:solidFill>
                  <a:srgbClr val="37474F"/>
                </a:solidFill>
                <a:effectLst/>
                <a:latin typeface="Roboto" panose="02000000000000000000" pitchFamily="2" charset="0"/>
              </a:rPr>
              <a:t> values to obtain the desired table index is called the </a:t>
            </a:r>
            <a:r>
              <a:rPr lang="en-US" b="1" i="1" u="none" strike="noStrike" dirty="0">
                <a:solidFill>
                  <a:srgbClr val="000000"/>
                </a:solidFill>
                <a:effectLst/>
                <a:latin typeface="Roboto" panose="02000000000000000000" pitchFamily="2" charset="0"/>
              </a:rPr>
              <a:t>probing sequence</a:t>
            </a:r>
            <a:r>
              <a:rPr lang="en-US" b="0" i="0" dirty="0">
                <a:solidFill>
                  <a:srgbClr val="37474F"/>
                </a:solidFill>
                <a:effectLst/>
                <a:latin typeface="Roboto" panose="02000000000000000000" pitchFamily="2" charset="0"/>
              </a:rPr>
              <a:t>.</a:t>
            </a:r>
          </a:p>
          <a:p>
            <a:r>
              <a:rPr lang="en-US" dirty="0"/>
              <a:t>This is a key-dependent method.</a:t>
            </a:r>
          </a:p>
          <a:p>
            <a:pPr eaLnBrk="1" hangingPunct="1"/>
            <a:endParaRPr lang="en-US" dirty="0">
              <a:latin typeface="Arial" charset="0"/>
            </a:endParaRPr>
          </a:p>
        </p:txBody>
      </p:sp>
      <p:sp>
        <p:nvSpPr>
          <p:cNvPr id="129027" name="Slide Number Placeholder 3"/>
          <p:cNvSpPr>
            <a:spLocks noGrp="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D1EBBC44-992A-4D62-AD05-3853C92C9DC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77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4682477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p:cNvSpPr>
            <a:spLocks noGrp="1" noChangeArrowheads="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D140F4C9-9173-4EB6-9AA7-98BD717335D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78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31074" name="Rectangle 2"/>
          <p:cNvSpPr>
            <a:spLocks noGrp="1" noRot="1" noChangeAspect="1" noChangeArrowheads="1" noTextEdit="1"/>
          </p:cNvSpPr>
          <p:nvPr>
            <p:ph type="sldImg"/>
          </p:nvPr>
        </p:nvSpPr>
        <p:spPr>
          <a:ln/>
        </p:spPr>
      </p:sp>
      <p:sp>
        <p:nvSpPr>
          <p:cNvPr id="131075" name="Rectangle 3"/>
          <p:cNvSpPr>
            <a:spLocks noGrp="1" noChangeArrowheads="1"/>
          </p:cNvSpPr>
          <p:nvPr>
            <p:ph type="body" idx="1"/>
          </p:nvPr>
        </p:nvSpPr>
        <p:spPr>
          <a:xfrm>
            <a:off x="913806" y="4343704"/>
            <a:ext cx="5030391" cy="4113892"/>
          </a:xfrm>
          <a:noFill/>
          <a:ln/>
        </p:spPr>
        <p:txBody>
          <a:bodyPr/>
          <a:lstStyle/>
          <a:p>
            <a:endParaRPr lang="en-US">
              <a:latin typeface="Arial" charset="0"/>
            </a:endParaRPr>
          </a:p>
        </p:txBody>
      </p:sp>
    </p:spTree>
    <p:extLst>
      <p:ext uri="{BB962C8B-B14F-4D97-AF65-F5344CB8AC3E}">
        <p14:creationId xmlns:p14="http://schemas.microsoft.com/office/powerpoint/2010/main" val="226373434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p:cNvSpPr>
            <a:spLocks noGrp="1" noChangeArrowheads="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D140F4C9-9173-4EB6-9AA7-98BD717335D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79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31074" name="Rectangle 2"/>
          <p:cNvSpPr>
            <a:spLocks noGrp="1" noRot="1" noChangeAspect="1" noChangeArrowheads="1" noTextEdit="1"/>
          </p:cNvSpPr>
          <p:nvPr>
            <p:ph type="sldImg"/>
          </p:nvPr>
        </p:nvSpPr>
        <p:spPr>
          <a:ln/>
        </p:spPr>
      </p:sp>
      <p:sp>
        <p:nvSpPr>
          <p:cNvPr id="131075" name="Rectangle 3"/>
          <p:cNvSpPr>
            <a:spLocks noGrp="1" noChangeArrowheads="1"/>
          </p:cNvSpPr>
          <p:nvPr>
            <p:ph type="body" idx="1"/>
          </p:nvPr>
        </p:nvSpPr>
        <p:spPr>
          <a:xfrm>
            <a:off x="913806" y="4343704"/>
            <a:ext cx="5030391" cy="4113892"/>
          </a:xfrm>
          <a:noFill/>
          <a:ln/>
        </p:spPr>
        <p:txBody>
          <a:bodyPr/>
          <a:lstStyle/>
          <a:p>
            <a:endParaRPr lang="en-US" dirty="0">
              <a:latin typeface="Arial" charset="0"/>
            </a:endParaRPr>
          </a:p>
        </p:txBody>
      </p:sp>
    </p:spTree>
    <p:extLst>
      <p:ext uri="{BB962C8B-B14F-4D97-AF65-F5344CB8AC3E}">
        <p14:creationId xmlns:p14="http://schemas.microsoft.com/office/powerpoint/2010/main" val="79862171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p:cNvSpPr>
            <a:spLocks noGrp="1" noChangeArrowheads="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D140F4C9-9173-4EB6-9AA7-98BD717335D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31074" name="Rectangle 2"/>
          <p:cNvSpPr>
            <a:spLocks noGrp="1" noRot="1" noChangeAspect="1" noChangeArrowheads="1" noTextEdit="1"/>
          </p:cNvSpPr>
          <p:nvPr>
            <p:ph type="sldImg"/>
          </p:nvPr>
        </p:nvSpPr>
        <p:spPr>
          <a:ln/>
        </p:spPr>
      </p:sp>
      <p:sp>
        <p:nvSpPr>
          <p:cNvPr id="131075" name="Rectangle 3"/>
          <p:cNvSpPr>
            <a:spLocks noGrp="1" noChangeArrowheads="1"/>
          </p:cNvSpPr>
          <p:nvPr>
            <p:ph type="body" idx="1"/>
          </p:nvPr>
        </p:nvSpPr>
        <p:spPr>
          <a:xfrm>
            <a:off x="913806" y="4343704"/>
            <a:ext cx="5030391" cy="4113892"/>
          </a:xfrm>
          <a:noFill/>
          <a:ln/>
        </p:spPr>
        <p:txBody>
          <a:bodyPr/>
          <a:lstStyle/>
          <a:p>
            <a:endParaRPr lang="en-US">
              <a:latin typeface="Arial" charset="0"/>
            </a:endParaRPr>
          </a:p>
        </p:txBody>
      </p:sp>
    </p:spTree>
    <p:extLst>
      <p:ext uri="{BB962C8B-B14F-4D97-AF65-F5344CB8AC3E}">
        <p14:creationId xmlns:p14="http://schemas.microsoft.com/office/powerpoint/2010/main" val="341343053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p:cNvSpPr>
            <a:spLocks noGrp="1" noChangeArrowheads="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D140F4C9-9173-4EB6-9AA7-98BD717335D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81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31074" name="Rectangle 2"/>
          <p:cNvSpPr>
            <a:spLocks noGrp="1" noRot="1" noChangeAspect="1" noChangeArrowheads="1" noTextEdit="1"/>
          </p:cNvSpPr>
          <p:nvPr>
            <p:ph type="sldImg"/>
          </p:nvPr>
        </p:nvSpPr>
        <p:spPr>
          <a:ln/>
        </p:spPr>
      </p:sp>
      <p:sp>
        <p:nvSpPr>
          <p:cNvPr id="131075" name="Rectangle 3"/>
          <p:cNvSpPr>
            <a:spLocks noGrp="1" noChangeArrowheads="1"/>
          </p:cNvSpPr>
          <p:nvPr>
            <p:ph type="body" idx="1"/>
          </p:nvPr>
        </p:nvSpPr>
        <p:spPr>
          <a:xfrm>
            <a:off x="913806" y="4343704"/>
            <a:ext cx="5030391" cy="4113892"/>
          </a:xfrm>
          <a:noFill/>
          <a:ln/>
        </p:spPr>
        <p:txBody>
          <a:bodyPr/>
          <a:lstStyle/>
          <a:p>
            <a:endParaRPr lang="en-US">
              <a:latin typeface="Arial" charset="0"/>
            </a:endParaRPr>
          </a:p>
        </p:txBody>
      </p:sp>
    </p:spTree>
    <p:extLst>
      <p:ext uri="{BB962C8B-B14F-4D97-AF65-F5344CB8AC3E}">
        <p14:creationId xmlns:p14="http://schemas.microsoft.com/office/powerpoint/2010/main" val="95931576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p:cNvSpPr>
            <a:spLocks noGrp="1" noChangeArrowheads="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D140F4C9-9173-4EB6-9AA7-98BD717335D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82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31074" name="Rectangle 2"/>
          <p:cNvSpPr>
            <a:spLocks noGrp="1" noRot="1" noChangeAspect="1" noChangeArrowheads="1" noTextEdit="1"/>
          </p:cNvSpPr>
          <p:nvPr>
            <p:ph type="sldImg"/>
          </p:nvPr>
        </p:nvSpPr>
        <p:spPr>
          <a:ln/>
        </p:spPr>
      </p:sp>
      <p:sp>
        <p:nvSpPr>
          <p:cNvPr id="131075" name="Rectangle 3"/>
          <p:cNvSpPr>
            <a:spLocks noGrp="1" noChangeArrowheads="1"/>
          </p:cNvSpPr>
          <p:nvPr>
            <p:ph type="body" idx="1"/>
          </p:nvPr>
        </p:nvSpPr>
        <p:spPr>
          <a:xfrm>
            <a:off x="913806" y="4343704"/>
            <a:ext cx="5030391" cy="4113892"/>
          </a:xfrm>
          <a:noFill/>
          <a:ln/>
        </p:spPr>
        <p:txBody>
          <a:bodyPr/>
          <a:lstStyle/>
          <a:p>
            <a:endParaRPr lang="en-US">
              <a:latin typeface="Arial" charset="0"/>
            </a:endParaRPr>
          </a:p>
        </p:txBody>
      </p:sp>
    </p:spTree>
    <p:extLst>
      <p:ext uri="{BB962C8B-B14F-4D97-AF65-F5344CB8AC3E}">
        <p14:creationId xmlns:p14="http://schemas.microsoft.com/office/powerpoint/2010/main" val="415929475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p:cNvSpPr>
            <a:spLocks noGrp="1" noChangeArrowheads="1"/>
          </p:cNvSpPr>
          <p:nvPr>
            <p:ph type="sldNum" sz="quarter" idx="5"/>
          </p:nvPr>
        </p:nvSpPr>
        <p:spPr>
          <a:noFill/>
        </p:spPr>
        <p:txBody>
          <a:bodyPr/>
          <a:lstStyle/>
          <a:p>
            <a:pPr marL="0" marR="0" lvl="0" indent="0" algn="r" defTabSz="935313" rtl="0" eaLnBrk="1" fontAlgn="auto" latinLnBrk="0" hangingPunct="1">
              <a:lnSpc>
                <a:spcPct val="100000"/>
              </a:lnSpc>
              <a:spcBef>
                <a:spcPts val="0"/>
              </a:spcBef>
              <a:spcAft>
                <a:spcPts val="0"/>
              </a:spcAft>
              <a:buClrTx/>
              <a:buSzTx/>
              <a:buFontTx/>
              <a:buNone/>
              <a:tabLst/>
              <a:defRPr/>
            </a:pPr>
            <a:fld id="{D140F4C9-9173-4EB6-9AA7-98BD717335D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35313" rtl="0" eaLnBrk="1" fontAlgn="auto" latinLnBrk="0" hangingPunct="1">
                <a:lnSpc>
                  <a:spcPct val="100000"/>
                </a:lnSpc>
                <a:spcBef>
                  <a:spcPts val="0"/>
                </a:spcBef>
                <a:spcAft>
                  <a:spcPts val="0"/>
                </a:spcAft>
                <a:buClrTx/>
                <a:buSzTx/>
                <a:buFontTx/>
                <a:buNone/>
                <a:tabLst/>
                <a:defRPr/>
              </a:pPr>
              <a:t>83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31074" name="Rectangle 2"/>
          <p:cNvSpPr>
            <a:spLocks noGrp="1" noRot="1" noChangeAspect="1" noChangeArrowheads="1" noTextEdit="1"/>
          </p:cNvSpPr>
          <p:nvPr>
            <p:ph type="sldImg"/>
          </p:nvPr>
        </p:nvSpPr>
        <p:spPr>
          <a:ln/>
        </p:spPr>
      </p:sp>
      <p:sp>
        <p:nvSpPr>
          <p:cNvPr id="131075" name="Rectangle 3"/>
          <p:cNvSpPr>
            <a:spLocks noGrp="1" noChangeArrowheads="1"/>
          </p:cNvSpPr>
          <p:nvPr>
            <p:ph type="body" idx="1"/>
          </p:nvPr>
        </p:nvSpPr>
        <p:spPr>
          <a:xfrm>
            <a:off x="913806" y="4343704"/>
            <a:ext cx="5030391" cy="4113892"/>
          </a:xfrm>
          <a:noFill/>
          <a:ln/>
        </p:spPr>
        <p:txBody>
          <a:bodyPr/>
          <a:lstStyle/>
          <a:p>
            <a:endParaRPr lang="en-US">
              <a:latin typeface="Arial" charset="0"/>
            </a:endParaRPr>
          </a:p>
        </p:txBody>
      </p:sp>
    </p:spTree>
    <p:extLst>
      <p:ext uri="{BB962C8B-B14F-4D97-AF65-F5344CB8AC3E}">
        <p14:creationId xmlns:p14="http://schemas.microsoft.com/office/powerpoint/2010/main" val="42415808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42CCA2-2949-4325-A78A-A7C3B63D73C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5472049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text in various sections is as follows.</a:t>
            </a:r>
          </a:p>
          <a:p>
            <a:r>
              <a:rPr lang="en-US" dirty="0"/>
              <a:t>Section 1. key, 45.</a:t>
            </a:r>
          </a:p>
          <a:p>
            <a:r>
              <a:rPr lang="en-US" dirty="0"/>
              <a:t>Section 3. key, 58.</a:t>
            </a:r>
          </a:p>
          <a:p>
            <a:r>
              <a:rPr lang="en-US" dirty="0"/>
              <a:t>Section 4. key, 4.</a:t>
            </a:r>
          </a:p>
          <a:p>
            <a:r>
              <a:rPr lang="en-US" dirty="0"/>
              <a:t>Section 6. key, 28.</a:t>
            </a:r>
          </a:p>
          <a:p>
            <a:r>
              <a:rPr lang="en-US" dirty="0"/>
              <a:t>Section 10. key, 21.</a:t>
            </a:r>
          </a:p>
          <a:p>
            <a:r>
              <a:rPr lang="en-US" dirty="0"/>
              <a:t>All other sections are blank.</a:t>
            </a:r>
          </a:p>
          <a:p>
            <a:r>
              <a:rPr lang="en-US" dirty="0"/>
              <a:t>Section 1 in the first box is labeled, h left parenthesis 12 right parenthesis. Section 3 in the second box is labeled, h left parenthesis 12 right parenthesis + h dash left parenthesis 12 right parenthesis. Section 5 in the third box is labeled, h left parenthesis 12 right parenthesis + 2 times h dash left parenthesis 12 right parenthesis.</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86636039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8C27712-3692-4A90-8CF2-CA78D6DC5F6E}" type="slidenum">
              <a:rPr lang="en-US" smtClean="0"/>
              <a:t>86</a:t>
            </a:fld>
            <a:endParaRPr lang="en-US"/>
          </a:p>
        </p:txBody>
      </p:sp>
    </p:spTree>
    <p:extLst>
      <p:ext uri="{BB962C8B-B14F-4D97-AF65-F5344CB8AC3E}">
        <p14:creationId xmlns:p14="http://schemas.microsoft.com/office/powerpoint/2010/main" val="197794972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C27712-3692-4A90-8CF2-CA78D6DC5F6E}" type="slidenum">
              <a:rPr lang="en-US" smtClean="0"/>
              <a:t>87</a:t>
            </a:fld>
            <a:endParaRPr lang="en-US"/>
          </a:p>
        </p:txBody>
      </p:sp>
    </p:spTree>
    <p:extLst>
      <p:ext uri="{BB962C8B-B14F-4D97-AF65-F5344CB8AC3E}">
        <p14:creationId xmlns:p14="http://schemas.microsoft.com/office/powerpoint/2010/main" val="230026877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8B294631-D672-45DC-B3F5-8999CAF10A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63198" indent="-293538">
              <a:defRPr sz="2400">
                <a:solidFill>
                  <a:schemeClr val="tx1"/>
                </a:solidFill>
                <a:latin typeface="Times" panose="02020603050405020304" pitchFamily="18" charset="0"/>
              </a:defRPr>
            </a:lvl2pPr>
            <a:lvl3pPr marL="1174151" indent="-234830">
              <a:defRPr sz="2400">
                <a:solidFill>
                  <a:schemeClr val="tx1"/>
                </a:solidFill>
                <a:latin typeface="Times" panose="02020603050405020304" pitchFamily="18" charset="0"/>
              </a:defRPr>
            </a:lvl3pPr>
            <a:lvl4pPr marL="1643812" indent="-234830">
              <a:defRPr sz="2400">
                <a:solidFill>
                  <a:schemeClr val="tx1"/>
                </a:solidFill>
                <a:latin typeface="Times" panose="02020603050405020304" pitchFamily="18" charset="0"/>
              </a:defRPr>
            </a:lvl4pPr>
            <a:lvl5pPr marL="2113473" indent="-234830">
              <a:defRPr sz="2400">
                <a:solidFill>
                  <a:schemeClr val="tx1"/>
                </a:solidFill>
                <a:latin typeface="Times" panose="02020603050405020304" pitchFamily="18" charset="0"/>
              </a:defRPr>
            </a:lvl5pPr>
            <a:lvl6pPr marL="2583132" indent="-234830" eaLnBrk="0" fontAlgn="base" hangingPunct="0">
              <a:spcBef>
                <a:spcPct val="0"/>
              </a:spcBef>
              <a:spcAft>
                <a:spcPct val="0"/>
              </a:spcAft>
              <a:defRPr sz="2400">
                <a:solidFill>
                  <a:schemeClr val="tx1"/>
                </a:solidFill>
                <a:latin typeface="Times" panose="02020603050405020304" pitchFamily="18" charset="0"/>
              </a:defRPr>
            </a:lvl6pPr>
            <a:lvl7pPr marL="3052793" indent="-234830" eaLnBrk="0" fontAlgn="base" hangingPunct="0">
              <a:spcBef>
                <a:spcPct val="0"/>
              </a:spcBef>
              <a:spcAft>
                <a:spcPct val="0"/>
              </a:spcAft>
              <a:defRPr sz="2400">
                <a:solidFill>
                  <a:schemeClr val="tx1"/>
                </a:solidFill>
                <a:latin typeface="Times" panose="02020603050405020304" pitchFamily="18" charset="0"/>
              </a:defRPr>
            </a:lvl7pPr>
            <a:lvl8pPr marL="3522454" indent="-234830" eaLnBrk="0" fontAlgn="base" hangingPunct="0">
              <a:spcBef>
                <a:spcPct val="0"/>
              </a:spcBef>
              <a:spcAft>
                <a:spcPct val="0"/>
              </a:spcAft>
              <a:defRPr sz="2400">
                <a:solidFill>
                  <a:schemeClr val="tx1"/>
                </a:solidFill>
                <a:latin typeface="Times" panose="02020603050405020304" pitchFamily="18" charset="0"/>
              </a:defRPr>
            </a:lvl8pPr>
            <a:lvl9pPr marL="3992114" indent="-234830" eaLnBrk="0" fontAlgn="base" hangingPunct="0">
              <a:spcBef>
                <a:spcPct val="0"/>
              </a:spcBef>
              <a:spcAft>
                <a:spcPct val="0"/>
              </a:spcAft>
              <a:defRPr sz="2400">
                <a:solidFill>
                  <a:schemeClr val="tx1"/>
                </a:solidFill>
                <a:latin typeface="Times" panose="02020603050405020304" pitchFamily="18" charset="0"/>
              </a:defRPr>
            </a:lvl9pPr>
          </a:lstStyle>
          <a:p>
            <a:fld id="{4EE8EAA8-60D3-4A14-B0D7-098464A89F6B}" type="slidenum">
              <a:rPr lang="en-US" altLang="en-US" sz="1200"/>
              <a:pPr/>
              <a:t>88</a:t>
            </a:fld>
            <a:endParaRPr lang="en-US" altLang="en-US" sz="1200"/>
          </a:p>
        </p:txBody>
      </p:sp>
      <p:sp>
        <p:nvSpPr>
          <p:cNvPr id="56323" name="Rectangle 2">
            <a:extLst>
              <a:ext uri="{FF2B5EF4-FFF2-40B4-BE49-F238E27FC236}">
                <a16:creationId xmlns:a16="http://schemas.microsoft.com/office/drawing/2014/main" id="{8E02F6E1-79A3-4809-AA24-D314E46DC1C4}"/>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2884DAB7-3B19-4E84-A44D-74A247EAB1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61032308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p:cNvSpPr>
          <p:nvPr>
            <p:ph type="sldImg"/>
          </p:nvPr>
        </p:nvSpPr>
        <p:spPr>
          <a:ln/>
        </p:spPr>
      </p:sp>
      <p:sp>
        <p:nvSpPr>
          <p:cNvPr id="24578" name="Notes Placeholder 2"/>
          <p:cNvSpPr>
            <a:spLocks noGrp="1"/>
          </p:cNvSpPr>
          <p:nvPr>
            <p:ph type="body" idx="1"/>
          </p:nvPr>
        </p:nvSpPr>
        <p:spPr/>
        <p:txBody>
          <a:bodyPr/>
          <a:lstStyle/>
          <a:p>
            <a:pPr eaLnBrk="1" hangingPunct="1"/>
            <a:endParaRPr lang="en-US">
              <a:latin typeface="Arial" charset="0"/>
            </a:endParaRPr>
          </a:p>
        </p:txBody>
      </p:sp>
      <p:sp>
        <p:nvSpPr>
          <p:cNvPr id="24579" name="Slide Number Placeholder 3"/>
          <p:cNvSpPr>
            <a:spLocks noGrp="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BD9C9F-F1C6-49C2-A1EC-E6CEE61ACCC1}"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1780591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p:cNvSpPr>
          <p:nvPr>
            <p:ph type="sldImg"/>
          </p:nvPr>
        </p:nvSpPr>
        <p:spPr>
          <a:ln/>
        </p:spPr>
      </p:sp>
      <p:sp>
        <p:nvSpPr>
          <p:cNvPr id="24578" name="Notes Placeholder 2"/>
          <p:cNvSpPr>
            <a:spLocks noGrp="1"/>
          </p:cNvSpPr>
          <p:nvPr>
            <p:ph type="body" idx="1"/>
          </p:nvPr>
        </p:nvSpPr>
        <p:spPr/>
        <p:txBody>
          <a:bodyPr/>
          <a:lstStyle/>
          <a:p>
            <a:pPr eaLnBrk="1" hangingPunct="1"/>
            <a:endParaRPr lang="en-US">
              <a:latin typeface="Arial" charset="0"/>
            </a:endParaRPr>
          </a:p>
        </p:txBody>
      </p:sp>
      <p:sp>
        <p:nvSpPr>
          <p:cNvPr id="24579" name="Slide Number Placeholder 3"/>
          <p:cNvSpPr>
            <a:spLocks noGrp="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BD9C9F-F1C6-49C2-A1EC-E6CEE61ACCC1}"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9300052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p:cNvSpPr>
          <p:nvPr>
            <p:ph type="sldImg"/>
          </p:nvPr>
        </p:nvSpPr>
        <p:spPr>
          <a:ln/>
        </p:spPr>
      </p:sp>
      <p:sp>
        <p:nvSpPr>
          <p:cNvPr id="24578" name="Notes Placeholder 2"/>
          <p:cNvSpPr>
            <a:spLocks noGrp="1"/>
          </p:cNvSpPr>
          <p:nvPr>
            <p:ph type="body" idx="1"/>
          </p:nvPr>
        </p:nvSpPr>
        <p:spPr/>
        <p:txBody>
          <a:bodyPr/>
          <a:lstStyle/>
          <a:p>
            <a:pPr eaLnBrk="1" hangingPunct="1"/>
            <a:endParaRPr lang="en-US">
              <a:latin typeface="Arial" charset="0"/>
            </a:endParaRPr>
          </a:p>
        </p:txBody>
      </p:sp>
      <p:sp>
        <p:nvSpPr>
          <p:cNvPr id="24579" name="Slide Number Placeholder 3"/>
          <p:cNvSpPr>
            <a:spLocks noGrp="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BD9C9F-F1C6-49C2-A1EC-E6CEE61ACCC1}"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5238201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p:cNvSpPr>
          <p:nvPr>
            <p:ph type="sldImg"/>
          </p:nvPr>
        </p:nvSpPr>
        <p:spPr>
          <a:ln/>
        </p:spPr>
      </p:sp>
      <p:sp>
        <p:nvSpPr>
          <p:cNvPr id="24578" name="Notes Placeholder 2"/>
          <p:cNvSpPr>
            <a:spLocks noGrp="1"/>
          </p:cNvSpPr>
          <p:nvPr>
            <p:ph type="body" idx="1"/>
          </p:nvPr>
        </p:nvSpPr>
        <p:spPr/>
        <p:txBody>
          <a:bodyPr/>
          <a:lstStyle/>
          <a:p>
            <a:pPr eaLnBrk="1" hangingPunct="1"/>
            <a:endParaRPr lang="en-US">
              <a:latin typeface="Arial" charset="0"/>
            </a:endParaRPr>
          </a:p>
        </p:txBody>
      </p:sp>
      <p:sp>
        <p:nvSpPr>
          <p:cNvPr id="24579" name="Slide Number Placeholder 3"/>
          <p:cNvSpPr>
            <a:spLocks noGrp="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BD9C9F-F1C6-49C2-A1EC-E6CEE61ACCC1}"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8924230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p:cNvSpPr>
          <p:nvPr>
            <p:ph type="sldImg"/>
          </p:nvPr>
        </p:nvSpPr>
        <p:spPr>
          <a:ln/>
        </p:spPr>
      </p:sp>
      <p:sp>
        <p:nvSpPr>
          <p:cNvPr id="24578" name="Notes Placeholder 2"/>
          <p:cNvSpPr>
            <a:spLocks noGrp="1"/>
          </p:cNvSpPr>
          <p:nvPr>
            <p:ph type="body" idx="1"/>
          </p:nvPr>
        </p:nvSpPr>
        <p:spPr/>
        <p:txBody>
          <a:bodyPr/>
          <a:lstStyle/>
          <a:p>
            <a:pPr eaLnBrk="1" hangingPunct="1"/>
            <a:endParaRPr lang="en-US">
              <a:latin typeface="Arial" charset="0"/>
            </a:endParaRPr>
          </a:p>
        </p:txBody>
      </p:sp>
      <p:sp>
        <p:nvSpPr>
          <p:cNvPr id="24579" name="Slide Number Placeholder 3"/>
          <p:cNvSpPr>
            <a:spLocks noGrp="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BD9C9F-F1C6-49C2-A1EC-E6CEE61ACCC1}"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3648642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p:cNvSpPr>
          <p:nvPr>
            <p:ph type="sldImg"/>
          </p:nvPr>
        </p:nvSpPr>
        <p:spPr>
          <a:ln/>
        </p:spPr>
      </p:sp>
      <p:sp>
        <p:nvSpPr>
          <p:cNvPr id="24578" name="Notes Placeholder 2"/>
          <p:cNvSpPr>
            <a:spLocks noGrp="1"/>
          </p:cNvSpPr>
          <p:nvPr>
            <p:ph type="body" idx="1"/>
          </p:nvPr>
        </p:nvSpPr>
        <p:spPr/>
        <p:txBody>
          <a:bodyPr/>
          <a:lstStyle/>
          <a:p>
            <a:pPr marL="0" indent="0">
              <a:buNone/>
            </a:pPr>
            <a:r>
              <a:rPr lang="en-US" sz="4800" dirty="0"/>
              <a:t>Thoughts on Separate Chaining</a:t>
            </a:r>
            <a:endParaRPr lang="en-US" sz="1400" dirty="0"/>
          </a:p>
          <a:p>
            <a:pPr marL="0" indent="0">
              <a:buNone/>
            </a:pPr>
            <a:r>
              <a:rPr lang="en-US" sz="1400" dirty="0"/>
              <a:t>Worst-case time for find?</a:t>
            </a:r>
          </a:p>
          <a:p>
            <a:r>
              <a:rPr lang="en-US" sz="1200" dirty="0"/>
              <a:t>Linear</a:t>
            </a:r>
          </a:p>
          <a:p>
            <a:r>
              <a:rPr lang="en-US" sz="1200" dirty="0"/>
              <a:t>But only with really bad luck or bad hash function</a:t>
            </a:r>
          </a:p>
          <a:p>
            <a:pPr marL="57150" indent="0">
              <a:buNone/>
            </a:pPr>
            <a:endParaRPr lang="en-US" sz="900" dirty="0"/>
          </a:p>
          <a:p>
            <a:pPr marL="57150" indent="0">
              <a:buNone/>
            </a:pPr>
            <a:endParaRPr lang="en-US" sz="900" dirty="0"/>
          </a:p>
          <a:p>
            <a:pPr marL="0" indent="0">
              <a:buNone/>
            </a:pPr>
            <a:r>
              <a:rPr lang="en-US" sz="1400" dirty="0"/>
              <a:t>Beyond asymptotic complexity, some "data-structure engineering" can improve constant factors</a:t>
            </a:r>
          </a:p>
          <a:p>
            <a:r>
              <a:rPr lang="en-US" sz="1200" dirty="0"/>
              <a:t>Linked list, array, or a hybrid</a:t>
            </a:r>
          </a:p>
          <a:p>
            <a:r>
              <a:rPr lang="en-US" sz="1200" dirty="0"/>
              <a:t>Insert at end or beginning of list </a:t>
            </a:r>
          </a:p>
          <a:p>
            <a:r>
              <a:rPr lang="en-US" sz="1200" dirty="0"/>
              <a:t>Sorting the lists gains and loses performance</a:t>
            </a:r>
          </a:p>
          <a:p>
            <a:pPr eaLnBrk="1" hangingPunct="1"/>
            <a:endParaRPr lang="en-US" dirty="0">
              <a:latin typeface="Arial" charset="0"/>
            </a:endParaRPr>
          </a:p>
          <a:p>
            <a:pPr eaLnBrk="1" hangingPunct="1"/>
            <a:endParaRPr lang="en-US" dirty="0">
              <a:latin typeface="Arial" charset="0"/>
            </a:endParaRPr>
          </a:p>
        </p:txBody>
      </p:sp>
      <p:sp>
        <p:nvSpPr>
          <p:cNvPr id="24579" name="Slide Number Placeholder 3"/>
          <p:cNvSpPr>
            <a:spLocks noGrp="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BD9C9F-F1C6-49C2-A1EC-E6CEE61ACCC1}"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2907217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p:cNvSpPr>
          <p:nvPr>
            <p:ph type="sldImg"/>
          </p:nvPr>
        </p:nvSpPr>
        <p:spPr>
          <a:ln/>
        </p:spPr>
      </p:sp>
      <p:sp>
        <p:nvSpPr>
          <p:cNvPr id="24578" name="Notes Placeholder 2"/>
          <p:cNvSpPr>
            <a:spLocks noGrp="1"/>
          </p:cNvSpPr>
          <p:nvPr>
            <p:ph type="body" idx="1"/>
          </p:nvPr>
        </p:nvSpPr>
        <p:spPr/>
        <p:txBody>
          <a:bodyPr/>
          <a:lstStyle/>
          <a:p>
            <a:pPr eaLnBrk="1" hangingPunct="1"/>
            <a:endParaRPr lang="en-US">
              <a:latin typeface="Arial" charset="0"/>
            </a:endParaRPr>
          </a:p>
        </p:txBody>
      </p:sp>
      <p:sp>
        <p:nvSpPr>
          <p:cNvPr id="24579" name="Slide Number Placeholder 3"/>
          <p:cNvSpPr>
            <a:spLocks noGrp="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BD9C9F-F1C6-49C2-A1EC-E6CEE61ACCC1}"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8800289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p:cNvSpPr>
          <p:nvPr>
            <p:ph type="sldImg"/>
          </p:nvPr>
        </p:nvSpPr>
        <p:spPr>
          <a:ln/>
        </p:spPr>
      </p:sp>
      <p:sp>
        <p:nvSpPr>
          <p:cNvPr id="24578"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ym typeface="Symbol" pitchFamily="18" charset="2"/>
              </a:rPr>
              <a:t>We like to keep </a:t>
            </a:r>
            <a:r>
              <a:rPr lang="en-US" sz="1200" i="1" dirty="0">
                <a:sym typeface="Symbol" pitchFamily="18" charset="2"/>
              </a:rPr>
              <a:t></a:t>
            </a:r>
            <a:r>
              <a:rPr lang="en-US" sz="1200" dirty="0">
                <a:sym typeface="Symbol" pitchFamily="18" charset="2"/>
              </a:rPr>
              <a:t> around 0.75 for separate chaining</a:t>
            </a:r>
          </a:p>
          <a:p>
            <a:pPr eaLnBrk="1" hangingPunct="1"/>
            <a:endParaRPr lang="en-US" dirty="0">
              <a:latin typeface="Arial" charset="0"/>
            </a:endParaRPr>
          </a:p>
        </p:txBody>
      </p:sp>
      <p:sp>
        <p:nvSpPr>
          <p:cNvPr id="24579" name="Slide Number Placeholder 3"/>
          <p:cNvSpPr>
            <a:spLocks noGrp="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BD9C9F-F1C6-49C2-A1EC-E6CEE61ACCC1}"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1280716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Daniel Liang </a:t>
            </a:r>
          </a:p>
          <a:p>
            <a:r>
              <a:rPr lang="en-US" dirty="0"/>
              <a:t>Enter the table size and press the enter key to set the hash table size. Entering the load factor threshold factor and press the enter key to set a new load factor threshold. Enter an integer key and click the Search button to search the key in the hash set. Click the Insert button to insert the key into the hash set. Click the Remove button to remove the key from the hash set. Clicking the Remove All button to remove all entries in the hash set. For the best display, use integers between 0 and 99.</a:t>
            </a:r>
          </a:p>
          <a:p>
            <a:r>
              <a:rPr lang="en-US" dirty="0"/>
              <a:t>Current table size = 11. Number of keys = 4. Current load, 0.36. Load factor threshold = 0.5.</a:t>
            </a:r>
          </a:p>
          <a:p>
            <a:r>
              <a:rPr lang="en-US" dirty="0"/>
              <a:t>0, blank. 1, 1. 2, blank. 3, blank. 4, 48. 5, blank. 6, blank. 7, blank. 8, blank. 9, 31. 10, 21.</a:t>
            </a:r>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6278333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666AEA70-8E74-4B69-8959-4B19C1E213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63198" indent="-293538">
              <a:defRPr sz="2400">
                <a:solidFill>
                  <a:schemeClr val="tx1"/>
                </a:solidFill>
                <a:latin typeface="Times" panose="02020603050405020304" pitchFamily="18" charset="0"/>
              </a:defRPr>
            </a:lvl2pPr>
            <a:lvl3pPr marL="1174151" indent="-234830">
              <a:defRPr sz="2400">
                <a:solidFill>
                  <a:schemeClr val="tx1"/>
                </a:solidFill>
                <a:latin typeface="Times" panose="02020603050405020304" pitchFamily="18" charset="0"/>
              </a:defRPr>
            </a:lvl3pPr>
            <a:lvl4pPr marL="1643812" indent="-234830">
              <a:defRPr sz="2400">
                <a:solidFill>
                  <a:schemeClr val="tx1"/>
                </a:solidFill>
                <a:latin typeface="Times" panose="02020603050405020304" pitchFamily="18" charset="0"/>
              </a:defRPr>
            </a:lvl4pPr>
            <a:lvl5pPr marL="2113473" indent="-234830">
              <a:defRPr sz="2400">
                <a:solidFill>
                  <a:schemeClr val="tx1"/>
                </a:solidFill>
                <a:latin typeface="Times" panose="02020603050405020304" pitchFamily="18" charset="0"/>
              </a:defRPr>
            </a:lvl5pPr>
            <a:lvl6pPr marL="2583132" indent="-234830" eaLnBrk="0" fontAlgn="base" hangingPunct="0">
              <a:spcBef>
                <a:spcPct val="0"/>
              </a:spcBef>
              <a:spcAft>
                <a:spcPct val="0"/>
              </a:spcAft>
              <a:defRPr sz="2400">
                <a:solidFill>
                  <a:schemeClr val="tx1"/>
                </a:solidFill>
                <a:latin typeface="Times" panose="02020603050405020304" pitchFamily="18" charset="0"/>
              </a:defRPr>
            </a:lvl6pPr>
            <a:lvl7pPr marL="3052793" indent="-234830" eaLnBrk="0" fontAlgn="base" hangingPunct="0">
              <a:spcBef>
                <a:spcPct val="0"/>
              </a:spcBef>
              <a:spcAft>
                <a:spcPct val="0"/>
              </a:spcAft>
              <a:defRPr sz="2400">
                <a:solidFill>
                  <a:schemeClr val="tx1"/>
                </a:solidFill>
                <a:latin typeface="Times" panose="02020603050405020304" pitchFamily="18" charset="0"/>
              </a:defRPr>
            </a:lvl7pPr>
            <a:lvl8pPr marL="3522454" indent="-234830" eaLnBrk="0" fontAlgn="base" hangingPunct="0">
              <a:spcBef>
                <a:spcPct val="0"/>
              </a:spcBef>
              <a:spcAft>
                <a:spcPct val="0"/>
              </a:spcAft>
              <a:defRPr sz="2400">
                <a:solidFill>
                  <a:schemeClr val="tx1"/>
                </a:solidFill>
                <a:latin typeface="Times" panose="02020603050405020304" pitchFamily="18" charset="0"/>
              </a:defRPr>
            </a:lvl8pPr>
            <a:lvl9pPr marL="3992114" indent="-234830" eaLnBrk="0" fontAlgn="base" hangingPunct="0">
              <a:spcBef>
                <a:spcPct val="0"/>
              </a:spcBef>
              <a:spcAft>
                <a:spcPct val="0"/>
              </a:spcAft>
              <a:defRPr sz="2400">
                <a:solidFill>
                  <a:schemeClr val="tx1"/>
                </a:solidFill>
                <a:latin typeface="Times" panose="02020603050405020304" pitchFamily="18" charset="0"/>
              </a:defRPr>
            </a:lvl9pPr>
          </a:lstStyle>
          <a:p>
            <a:fld id="{8DAD00F1-977A-4243-8A8D-8648880DF22E}" type="slidenum">
              <a:rPr lang="en-US" altLang="en-US" sz="1200"/>
              <a:pPr/>
              <a:t>99</a:t>
            </a:fld>
            <a:endParaRPr lang="en-US" altLang="en-US" sz="1200"/>
          </a:p>
        </p:txBody>
      </p:sp>
      <p:sp>
        <p:nvSpPr>
          <p:cNvPr id="57347" name="Rectangle 2">
            <a:extLst>
              <a:ext uri="{FF2B5EF4-FFF2-40B4-BE49-F238E27FC236}">
                <a16:creationId xmlns:a16="http://schemas.microsoft.com/office/drawing/2014/main" id="{661BCF3A-A302-48FD-937E-81A1C6CBD220}"/>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76F1328C-05E6-472E-8770-B13FB25333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88614336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0F5F3A7F-7F78-4096-A63C-1B9EEDA08E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63198" indent="-293538">
              <a:defRPr sz="2400">
                <a:solidFill>
                  <a:schemeClr val="tx1"/>
                </a:solidFill>
                <a:latin typeface="Times" panose="02020603050405020304" pitchFamily="18" charset="0"/>
              </a:defRPr>
            </a:lvl2pPr>
            <a:lvl3pPr marL="1174151" indent="-234830">
              <a:defRPr sz="2400">
                <a:solidFill>
                  <a:schemeClr val="tx1"/>
                </a:solidFill>
                <a:latin typeface="Times" panose="02020603050405020304" pitchFamily="18" charset="0"/>
              </a:defRPr>
            </a:lvl3pPr>
            <a:lvl4pPr marL="1643812" indent="-234830">
              <a:defRPr sz="2400">
                <a:solidFill>
                  <a:schemeClr val="tx1"/>
                </a:solidFill>
                <a:latin typeface="Times" panose="02020603050405020304" pitchFamily="18" charset="0"/>
              </a:defRPr>
            </a:lvl4pPr>
            <a:lvl5pPr marL="2113473" indent="-234830">
              <a:defRPr sz="2400">
                <a:solidFill>
                  <a:schemeClr val="tx1"/>
                </a:solidFill>
                <a:latin typeface="Times" panose="02020603050405020304" pitchFamily="18" charset="0"/>
              </a:defRPr>
            </a:lvl5pPr>
            <a:lvl6pPr marL="2583132" indent="-234830" eaLnBrk="0" fontAlgn="base" hangingPunct="0">
              <a:spcBef>
                <a:spcPct val="0"/>
              </a:spcBef>
              <a:spcAft>
                <a:spcPct val="0"/>
              </a:spcAft>
              <a:defRPr sz="2400">
                <a:solidFill>
                  <a:schemeClr val="tx1"/>
                </a:solidFill>
                <a:latin typeface="Times" panose="02020603050405020304" pitchFamily="18" charset="0"/>
              </a:defRPr>
            </a:lvl6pPr>
            <a:lvl7pPr marL="3052793" indent="-234830" eaLnBrk="0" fontAlgn="base" hangingPunct="0">
              <a:spcBef>
                <a:spcPct val="0"/>
              </a:spcBef>
              <a:spcAft>
                <a:spcPct val="0"/>
              </a:spcAft>
              <a:defRPr sz="2400">
                <a:solidFill>
                  <a:schemeClr val="tx1"/>
                </a:solidFill>
                <a:latin typeface="Times" panose="02020603050405020304" pitchFamily="18" charset="0"/>
              </a:defRPr>
            </a:lvl7pPr>
            <a:lvl8pPr marL="3522454" indent="-234830" eaLnBrk="0" fontAlgn="base" hangingPunct="0">
              <a:spcBef>
                <a:spcPct val="0"/>
              </a:spcBef>
              <a:spcAft>
                <a:spcPct val="0"/>
              </a:spcAft>
              <a:defRPr sz="2400">
                <a:solidFill>
                  <a:schemeClr val="tx1"/>
                </a:solidFill>
                <a:latin typeface="Times" panose="02020603050405020304" pitchFamily="18" charset="0"/>
              </a:defRPr>
            </a:lvl8pPr>
            <a:lvl9pPr marL="3992114" indent="-234830" eaLnBrk="0" fontAlgn="base" hangingPunct="0">
              <a:spcBef>
                <a:spcPct val="0"/>
              </a:spcBef>
              <a:spcAft>
                <a:spcPct val="0"/>
              </a:spcAft>
              <a:defRPr sz="2400">
                <a:solidFill>
                  <a:schemeClr val="tx1"/>
                </a:solidFill>
                <a:latin typeface="Times" panose="02020603050405020304" pitchFamily="18" charset="0"/>
              </a:defRPr>
            </a:lvl9pPr>
          </a:lstStyle>
          <a:p>
            <a:fld id="{4BB0CC0F-DEFB-40A3-A2AD-E4580A7B59CD}" type="slidenum">
              <a:rPr lang="en-US" altLang="en-US" sz="1200"/>
              <a:pPr/>
              <a:t>100</a:t>
            </a:fld>
            <a:endParaRPr lang="en-US" altLang="en-US" sz="1200"/>
          </a:p>
        </p:txBody>
      </p:sp>
      <p:sp>
        <p:nvSpPr>
          <p:cNvPr id="58371" name="Rectangle 2">
            <a:extLst>
              <a:ext uri="{FF2B5EF4-FFF2-40B4-BE49-F238E27FC236}">
                <a16:creationId xmlns:a16="http://schemas.microsoft.com/office/drawing/2014/main" id="{1F4E874E-6B51-4754-A7F8-4A5E057A48CC}"/>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27A7AB2B-D429-4445-8D6E-8125FB3248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394955362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8FE4564D-3680-4DE5-BFED-6D2F6A1A2C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63198" indent="-293538">
              <a:defRPr sz="2400">
                <a:solidFill>
                  <a:schemeClr val="tx1"/>
                </a:solidFill>
                <a:latin typeface="Times" panose="02020603050405020304" pitchFamily="18" charset="0"/>
              </a:defRPr>
            </a:lvl2pPr>
            <a:lvl3pPr marL="1174151" indent="-234830">
              <a:defRPr sz="2400">
                <a:solidFill>
                  <a:schemeClr val="tx1"/>
                </a:solidFill>
                <a:latin typeface="Times" panose="02020603050405020304" pitchFamily="18" charset="0"/>
              </a:defRPr>
            </a:lvl3pPr>
            <a:lvl4pPr marL="1643812" indent="-234830">
              <a:defRPr sz="2400">
                <a:solidFill>
                  <a:schemeClr val="tx1"/>
                </a:solidFill>
                <a:latin typeface="Times" panose="02020603050405020304" pitchFamily="18" charset="0"/>
              </a:defRPr>
            </a:lvl4pPr>
            <a:lvl5pPr marL="2113473" indent="-234830">
              <a:defRPr sz="2400">
                <a:solidFill>
                  <a:schemeClr val="tx1"/>
                </a:solidFill>
                <a:latin typeface="Times" panose="02020603050405020304" pitchFamily="18" charset="0"/>
              </a:defRPr>
            </a:lvl5pPr>
            <a:lvl6pPr marL="2583132" indent="-234830" eaLnBrk="0" fontAlgn="base" hangingPunct="0">
              <a:spcBef>
                <a:spcPct val="0"/>
              </a:spcBef>
              <a:spcAft>
                <a:spcPct val="0"/>
              </a:spcAft>
              <a:defRPr sz="2400">
                <a:solidFill>
                  <a:schemeClr val="tx1"/>
                </a:solidFill>
                <a:latin typeface="Times" panose="02020603050405020304" pitchFamily="18" charset="0"/>
              </a:defRPr>
            </a:lvl6pPr>
            <a:lvl7pPr marL="3052793" indent="-234830" eaLnBrk="0" fontAlgn="base" hangingPunct="0">
              <a:spcBef>
                <a:spcPct val="0"/>
              </a:spcBef>
              <a:spcAft>
                <a:spcPct val="0"/>
              </a:spcAft>
              <a:defRPr sz="2400">
                <a:solidFill>
                  <a:schemeClr val="tx1"/>
                </a:solidFill>
                <a:latin typeface="Times" panose="02020603050405020304" pitchFamily="18" charset="0"/>
              </a:defRPr>
            </a:lvl7pPr>
            <a:lvl8pPr marL="3522454" indent="-234830" eaLnBrk="0" fontAlgn="base" hangingPunct="0">
              <a:spcBef>
                <a:spcPct val="0"/>
              </a:spcBef>
              <a:spcAft>
                <a:spcPct val="0"/>
              </a:spcAft>
              <a:defRPr sz="2400">
                <a:solidFill>
                  <a:schemeClr val="tx1"/>
                </a:solidFill>
                <a:latin typeface="Times" panose="02020603050405020304" pitchFamily="18" charset="0"/>
              </a:defRPr>
            </a:lvl8pPr>
            <a:lvl9pPr marL="3992114" indent="-234830" eaLnBrk="0" fontAlgn="base" hangingPunct="0">
              <a:spcBef>
                <a:spcPct val="0"/>
              </a:spcBef>
              <a:spcAft>
                <a:spcPct val="0"/>
              </a:spcAft>
              <a:defRPr sz="2400">
                <a:solidFill>
                  <a:schemeClr val="tx1"/>
                </a:solidFill>
                <a:latin typeface="Times" panose="02020603050405020304" pitchFamily="18" charset="0"/>
              </a:defRPr>
            </a:lvl9pPr>
          </a:lstStyle>
          <a:p>
            <a:fld id="{B95AAFA6-9C7F-4025-8F11-287B9D7D0DBB}" type="slidenum">
              <a:rPr lang="en-US" altLang="en-US" sz="1200"/>
              <a:pPr/>
              <a:t>101</a:t>
            </a:fld>
            <a:endParaRPr lang="en-US" altLang="en-US" sz="1200"/>
          </a:p>
        </p:txBody>
      </p:sp>
      <p:sp>
        <p:nvSpPr>
          <p:cNvPr id="59395" name="Rectangle 2">
            <a:extLst>
              <a:ext uri="{FF2B5EF4-FFF2-40B4-BE49-F238E27FC236}">
                <a16:creationId xmlns:a16="http://schemas.microsoft.com/office/drawing/2014/main" id="{F5D2FCDE-6063-491C-92AD-7DA1928F2788}"/>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ACAF6EAA-33B0-427A-93D2-9A6F70E7D0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anose="02020603050405020304" pitchFamily="18" charset="0"/>
            </a:endParaRPr>
          </a:p>
        </p:txBody>
      </p:sp>
    </p:spTree>
    <p:extLst>
      <p:ext uri="{BB962C8B-B14F-4D97-AF65-F5344CB8AC3E}">
        <p14:creationId xmlns:p14="http://schemas.microsoft.com/office/powerpoint/2010/main" val="69654701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8C27712-3692-4A90-8CF2-CA78D6DC5F6E}" type="slidenum">
              <a:rPr lang="en-US" smtClean="0"/>
              <a:t>102</a:t>
            </a:fld>
            <a:endParaRPr lang="en-US"/>
          </a:p>
        </p:txBody>
      </p:sp>
    </p:spTree>
    <p:extLst>
      <p:ext uri="{BB962C8B-B14F-4D97-AF65-F5344CB8AC3E}">
        <p14:creationId xmlns:p14="http://schemas.microsoft.com/office/powerpoint/2010/main" val="232950214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8C27712-3692-4A90-8CF2-CA78D6DC5F6E}" type="slidenum">
              <a:rPr lang="en-US" smtClean="0"/>
              <a:t>103</a:t>
            </a:fld>
            <a:endParaRPr lang="en-US"/>
          </a:p>
        </p:txBody>
      </p:sp>
    </p:spTree>
    <p:extLst>
      <p:ext uri="{BB962C8B-B14F-4D97-AF65-F5344CB8AC3E}">
        <p14:creationId xmlns:p14="http://schemas.microsoft.com/office/powerpoint/2010/main" val="2003712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9D9CE-B052-451A-A259-4C3D6420A4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46B1FF5-FFC0-4732-A885-26D37A90DB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6F25DA0-E3F3-4B56-B816-CC24F6EE412A}"/>
              </a:ext>
            </a:extLst>
          </p:cNvPr>
          <p:cNvSpPr>
            <a:spLocks noGrp="1"/>
          </p:cNvSpPr>
          <p:nvPr>
            <p:ph type="dt" sz="half" idx="10"/>
          </p:nvPr>
        </p:nvSpPr>
        <p:spPr/>
        <p:txBody>
          <a:bodyPr/>
          <a:lstStyle/>
          <a:p>
            <a:fld id="{379883D9-B21A-4BD8-BDBF-D18E62AFEEA2}" type="datetimeFigureOut">
              <a:rPr lang="en-US" smtClean="0"/>
              <a:t>11/13/2025</a:t>
            </a:fld>
            <a:endParaRPr lang="en-US"/>
          </a:p>
        </p:txBody>
      </p:sp>
      <p:sp>
        <p:nvSpPr>
          <p:cNvPr id="5" name="Footer Placeholder 4">
            <a:extLst>
              <a:ext uri="{FF2B5EF4-FFF2-40B4-BE49-F238E27FC236}">
                <a16:creationId xmlns:a16="http://schemas.microsoft.com/office/drawing/2014/main" id="{C2D75E81-91F3-468D-BEDD-1DA1A78C95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D5C710-37EE-4F66-901F-FDA165B454A0}"/>
              </a:ext>
            </a:extLst>
          </p:cNvPr>
          <p:cNvSpPr>
            <a:spLocks noGrp="1"/>
          </p:cNvSpPr>
          <p:nvPr>
            <p:ph type="sldNum" sz="quarter" idx="12"/>
          </p:nvPr>
        </p:nvSpPr>
        <p:spPr/>
        <p:txBody>
          <a:bodyPr/>
          <a:lstStyle/>
          <a:p>
            <a:fld id="{85AA3731-747E-4068-A392-36446FDD4A94}" type="slidenum">
              <a:rPr lang="en-US" smtClean="0"/>
              <a:t>‹#›</a:t>
            </a:fld>
            <a:endParaRPr lang="en-US"/>
          </a:p>
        </p:txBody>
      </p:sp>
    </p:spTree>
    <p:extLst>
      <p:ext uri="{BB962C8B-B14F-4D97-AF65-F5344CB8AC3E}">
        <p14:creationId xmlns:p14="http://schemas.microsoft.com/office/powerpoint/2010/main" val="3386760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9D173-6513-4C00-9D56-11F14F5168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1DB808-652F-4C1E-9411-A0212969E34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5C4BD3-1EF2-4162-A565-0356972BCDEF}"/>
              </a:ext>
            </a:extLst>
          </p:cNvPr>
          <p:cNvSpPr>
            <a:spLocks noGrp="1"/>
          </p:cNvSpPr>
          <p:nvPr>
            <p:ph type="dt" sz="half" idx="10"/>
          </p:nvPr>
        </p:nvSpPr>
        <p:spPr/>
        <p:txBody>
          <a:bodyPr/>
          <a:lstStyle/>
          <a:p>
            <a:fld id="{379883D9-B21A-4BD8-BDBF-D18E62AFEEA2}" type="datetimeFigureOut">
              <a:rPr lang="en-US" smtClean="0"/>
              <a:t>11/13/2025</a:t>
            </a:fld>
            <a:endParaRPr lang="en-US"/>
          </a:p>
        </p:txBody>
      </p:sp>
      <p:sp>
        <p:nvSpPr>
          <p:cNvPr id="5" name="Footer Placeholder 4">
            <a:extLst>
              <a:ext uri="{FF2B5EF4-FFF2-40B4-BE49-F238E27FC236}">
                <a16:creationId xmlns:a16="http://schemas.microsoft.com/office/drawing/2014/main" id="{5C53FE17-E745-45C4-A20C-7159104FFF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3827A4-853C-4E94-976A-96C7A44FC18D}"/>
              </a:ext>
            </a:extLst>
          </p:cNvPr>
          <p:cNvSpPr>
            <a:spLocks noGrp="1"/>
          </p:cNvSpPr>
          <p:nvPr>
            <p:ph type="sldNum" sz="quarter" idx="12"/>
          </p:nvPr>
        </p:nvSpPr>
        <p:spPr/>
        <p:txBody>
          <a:bodyPr/>
          <a:lstStyle/>
          <a:p>
            <a:fld id="{85AA3731-747E-4068-A392-36446FDD4A94}" type="slidenum">
              <a:rPr lang="en-US" smtClean="0"/>
              <a:t>‹#›</a:t>
            </a:fld>
            <a:endParaRPr lang="en-US"/>
          </a:p>
        </p:txBody>
      </p:sp>
    </p:spTree>
    <p:extLst>
      <p:ext uri="{BB962C8B-B14F-4D97-AF65-F5344CB8AC3E}">
        <p14:creationId xmlns:p14="http://schemas.microsoft.com/office/powerpoint/2010/main" val="3771489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A77A9-0E5D-4B90-918D-43D70BEC91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FEA601C-2658-40AF-BA57-C22E9F064E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5A41898-2D5E-4AE2-874E-AB08C9394546}"/>
              </a:ext>
            </a:extLst>
          </p:cNvPr>
          <p:cNvSpPr>
            <a:spLocks noGrp="1"/>
          </p:cNvSpPr>
          <p:nvPr>
            <p:ph type="dt" sz="half" idx="10"/>
          </p:nvPr>
        </p:nvSpPr>
        <p:spPr/>
        <p:txBody>
          <a:bodyPr/>
          <a:lstStyle/>
          <a:p>
            <a:fld id="{379883D9-B21A-4BD8-BDBF-D18E62AFEEA2}" type="datetimeFigureOut">
              <a:rPr lang="en-US" smtClean="0"/>
              <a:t>11/13/2025</a:t>
            </a:fld>
            <a:endParaRPr lang="en-US"/>
          </a:p>
        </p:txBody>
      </p:sp>
      <p:sp>
        <p:nvSpPr>
          <p:cNvPr id="5" name="Footer Placeholder 4">
            <a:extLst>
              <a:ext uri="{FF2B5EF4-FFF2-40B4-BE49-F238E27FC236}">
                <a16:creationId xmlns:a16="http://schemas.microsoft.com/office/drawing/2014/main" id="{F4F18AF2-4760-4210-AB09-4CC06B7983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4A5B07-BED0-43AC-AB1F-05F1948428FF}"/>
              </a:ext>
            </a:extLst>
          </p:cNvPr>
          <p:cNvSpPr>
            <a:spLocks noGrp="1"/>
          </p:cNvSpPr>
          <p:nvPr>
            <p:ph type="sldNum" sz="quarter" idx="12"/>
          </p:nvPr>
        </p:nvSpPr>
        <p:spPr/>
        <p:txBody>
          <a:bodyPr/>
          <a:lstStyle/>
          <a:p>
            <a:fld id="{85AA3731-747E-4068-A392-36446FDD4A94}" type="slidenum">
              <a:rPr lang="en-US" smtClean="0"/>
              <a:t>‹#›</a:t>
            </a:fld>
            <a:endParaRPr lang="en-US"/>
          </a:p>
        </p:txBody>
      </p:sp>
    </p:spTree>
    <p:extLst>
      <p:ext uri="{BB962C8B-B14F-4D97-AF65-F5344CB8AC3E}">
        <p14:creationId xmlns:p14="http://schemas.microsoft.com/office/powerpoint/2010/main" val="6151779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F22F7-FC52-4021-976A-A4E23A09E5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BE89DF-3998-413C-A5BE-4B67E5D1427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87B239-01A5-4186-BCF2-15247778FBF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DB6B39-867A-40DF-B6C4-B9A0F176B9F5}"/>
              </a:ext>
            </a:extLst>
          </p:cNvPr>
          <p:cNvSpPr>
            <a:spLocks noGrp="1"/>
          </p:cNvSpPr>
          <p:nvPr>
            <p:ph type="dt" sz="half" idx="10"/>
          </p:nvPr>
        </p:nvSpPr>
        <p:spPr/>
        <p:txBody>
          <a:bodyPr/>
          <a:lstStyle/>
          <a:p>
            <a:fld id="{379883D9-B21A-4BD8-BDBF-D18E62AFEEA2}" type="datetimeFigureOut">
              <a:rPr lang="en-US" smtClean="0"/>
              <a:t>11/13/2025</a:t>
            </a:fld>
            <a:endParaRPr lang="en-US"/>
          </a:p>
        </p:txBody>
      </p:sp>
      <p:sp>
        <p:nvSpPr>
          <p:cNvPr id="6" name="Footer Placeholder 5">
            <a:extLst>
              <a:ext uri="{FF2B5EF4-FFF2-40B4-BE49-F238E27FC236}">
                <a16:creationId xmlns:a16="http://schemas.microsoft.com/office/drawing/2014/main" id="{7432DAAB-DCE2-43CA-BB65-97FC087FB2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87A1F6-FBBC-4722-B50D-F60CB41995B8}"/>
              </a:ext>
            </a:extLst>
          </p:cNvPr>
          <p:cNvSpPr>
            <a:spLocks noGrp="1"/>
          </p:cNvSpPr>
          <p:nvPr>
            <p:ph type="sldNum" sz="quarter" idx="12"/>
          </p:nvPr>
        </p:nvSpPr>
        <p:spPr/>
        <p:txBody>
          <a:bodyPr/>
          <a:lstStyle/>
          <a:p>
            <a:fld id="{85AA3731-747E-4068-A392-36446FDD4A94}" type="slidenum">
              <a:rPr lang="en-US" smtClean="0"/>
              <a:t>‹#›</a:t>
            </a:fld>
            <a:endParaRPr lang="en-US"/>
          </a:p>
        </p:txBody>
      </p:sp>
    </p:spTree>
    <p:extLst>
      <p:ext uri="{BB962C8B-B14F-4D97-AF65-F5344CB8AC3E}">
        <p14:creationId xmlns:p14="http://schemas.microsoft.com/office/powerpoint/2010/main" val="423630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A9FE0-FB7F-4A79-85EA-888A92124F6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0216B9D-9C60-408C-94AF-2BD78A7D6F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4571CCE-6B2D-46A5-B569-CE8E52C3B6C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4CE1687-363D-481C-9A88-FB78460697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879FAEB-AB1C-4F4C-9555-520507917AA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AA0777B-B02E-4118-9B7F-1DAE01E22232}"/>
              </a:ext>
            </a:extLst>
          </p:cNvPr>
          <p:cNvSpPr>
            <a:spLocks noGrp="1"/>
          </p:cNvSpPr>
          <p:nvPr>
            <p:ph type="dt" sz="half" idx="10"/>
          </p:nvPr>
        </p:nvSpPr>
        <p:spPr/>
        <p:txBody>
          <a:bodyPr/>
          <a:lstStyle/>
          <a:p>
            <a:fld id="{379883D9-B21A-4BD8-BDBF-D18E62AFEEA2}" type="datetimeFigureOut">
              <a:rPr lang="en-US" smtClean="0"/>
              <a:t>11/13/2025</a:t>
            </a:fld>
            <a:endParaRPr lang="en-US"/>
          </a:p>
        </p:txBody>
      </p:sp>
      <p:sp>
        <p:nvSpPr>
          <p:cNvPr id="8" name="Footer Placeholder 7">
            <a:extLst>
              <a:ext uri="{FF2B5EF4-FFF2-40B4-BE49-F238E27FC236}">
                <a16:creationId xmlns:a16="http://schemas.microsoft.com/office/drawing/2014/main" id="{5285C23B-958E-4521-97AF-AD0239EA02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8010B88-B2BE-4955-9EEA-217D0827DED9}"/>
              </a:ext>
            </a:extLst>
          </p:cNvPr>
          <p:cNvSpPr>
            <a:spLocks noGrp="1"/>
          </p:cNvSpPr>
          <p:nvPr>
            <p:ph type="sldNum" sz="quarter" idx="12"/>
          </p:nvPr>
        </p:nvSpPr>
        <p:spPr/>
        <p:txBody>
          <a:bodyPr/>
          <a:lstStyle/>
          <a:p>
            <a:fld id="{85AA3731-747E-4068-A392-36446FDD4A94}" type="slidenum">
              <a:rPr lang="en-US" smtClean="0"/>
              <a:t>‹#›</a:t>
            </a:fld>
            <a:endParaRPr lang="en-US"/>
          </a:p>
        </p:txBody>
      </p:sp>
    </p:spTree>
    <p:extLst>
      <p:ext uri="{BB962C8B-B14F-4D97-AF65-F5344CB8AC3E}">
        <p14:creationId xmlns:p14="http://schemas.microsoft.com/office/powerpoint/2010/main" val="2790355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7F56E-E6B0-4141-877A-C0CB660EECD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12D2ECB-5E9C-4B83-A8B7-0F4DDE6EA78B}"/>
              </a:ext>
            </a:extLst>
          </p:cNvPr>
          <p:cNvSpPr>
            <a:spLocks noGrp="1"/>
          </p:cNvSpPr>
          <p:nvPr>
            <p:ph type="dt" sz="half" idx="10"/>
          </p:nvPr>
        </p:nvSpPr>
        <p:spPr/>
        <p:txBody>
          <a:bodyPr/>
          <a:lstStyle/>
          <a:p>
            <a:fld id="{379883D9-B21A-4BD8-BDBF-D18E62AFEEA2}" type="datetimeFigureOut">
              <a:rPr lang="en-US" smtClean="0"/>
              <a:t>11/13/2025</a:t>
            </a:fld>
            <a:endParaRPr lang="en-US"/>
          </a:p>
        </p:txBody>
      </p:sp>
      <p:sp>
        <p:nvSpPr>
          <p:cNvPr id="4" name="Footer Placeholder 3">
            <a:extLst>
              <a:ext uri="{FF2B5EF4-FFF2-40B4-BE49-F238E27FC236}">
                <a16:creationId xmlns:a16="http://schemas.microsoft.com/office/drawing/2014/main" id="{C2589D23-0EC9-4272-B82B-8FAF0D83AD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55D55A-3BF8-400C-A05A-A119C1560A14}"/>
              </a:ext>
            </a:extLst>
          </p:cNvPr>
          <p:cNvSpPr>
            <a:spLocks noGrp="1"/>
          </p:cNvSpPr>
          <p:nvPr>
            <p:ph type="sldNum" sz="quarter" idx="12"/>
          </p:nvPr>
        </p:nvSpPr>
        <p:spPr/>
        <p:txBody>
          <a:bodyPr/>
          <a:lstStyle/>
          <a:p>
            <a:fld id="{85AA3731-747E-4068-A392-36446FDD4A94}" type="slidenum">
              <a:rPr lang="en-US" smtClean="0"/>
              <a:t>‹#›</a:t>
            </a:fld>
            <a:endParaRPr lang="en-US"/>
          </a:p>
        </p:txBody>
      </p:sp>
    </p:spTree>
    <p:extLst>
      <p:ext uri="{BB962C8B-B14F-4D97-AF65-F5344CB8AC3E}">
        <p14:creationId xmlns:p14="http://schemas.microsoft.com/office/powerpoint/2010/main" val="4220326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665B00-FF3E-4410-A856-84B67449686D}"/>
              </a:ext>
            </a:extLst>
          </p:cNvPr>
          <p:cNvSpPr>
            <a:spLocks noGrp="1"/>
          </p:cNvSpPr>
          <p:nvPr>
            <p:ph type="dt" sz="half" idx="10"/>
          </p:nvPr>
        </p:nvSpPr>
        <p:spPr/>
        <p:txBody>
          <a:bodyPr/>
          <a:lstStyle/>
          <a:p>
            <a:fld id="{379883D9-B21A-4BD8-BDBF-D18E62AFEEA2}" type="datetimeFigureOut">
              <a:rPr lang="en-US" smtClean="0"/>
              <a:t>11/13/2025</a:t>
            </a:fld>
            <a:endParaRPr lang="en-US"/>
          </a:p>
        </p:txBody>
      </p:sp>
      <p:sp>
        <p:nvSpPr>
          <p:cNvPr id="3" name="Footer Placeholder 2">
            <a:extLst>
              <a:ext uri="{FF2B5EF4-FFF2-40B4-BE49-F238E27FC236}">
                <a16:creationId xmlns:a16="http://schemas.microsoft.com/office/drawing/2014/main" id="{6E0FAE9F-2BE2-4AFC-95AE-FADB59CA30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1D576A-ECC8-46EA-AD02-D0175D1342C5}"/>
              </a:ext>
            </a:extLst>
          </p:cNvPr>
          <p:cNvSpPr>
            <a:spLocks noGrp="1"/>
          </p:cNvSpPr>
          <p:nvPr>
            <p:ph type="sldNum" sz="quarter" idx="12"/>
          </p:nvPr>
        </p:nvSpPr>
        <p:spPr/>
        <p:txBody>
          <a:bodyPr/>
          <a:lstStyle/>
          <a:p>
            <a:fld id="{85AA3731-747E-4068-A392-36446FDD4A94}" type="slidenum">
              <a:rPr lang="en-US" smtClean="0"/>
              <a:t>‹#›</a:t>
            </a:fld>
            <a:endParaRPr lang="en-US"/>
          </a:p>
        </p:txBody>
      </p:sp>
    </p:spTree>
    <p:extLst>
      <p:ext uri="{BB962C8B-B14F-4D97-AF65-F5344CB8AC3E}">
        <p14:creationId xmlns:p14="http://schemas.microsoft.com/office/powerpoint/2010/main" val="3353917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3668A-143D-428F-A0A0-E36C922844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C015A7-8099-4E45-91A4-52267AE534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E0F758-1469-4B9C-A61D-F09D6B1FCD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F5FF9EC-894F-4E53-87DB-9FA9D58EDF05}"/>
              </a:ext>
            </a:extLst>
          </p:cNvPr>
          <p:cNvSpPr>
            <a:spLocks noGrp="1"/>
          </p:cNvSpPr>
          <p:nvPr>
            <p:ph type="dt" sz="half" idx="10"/>
          </p:nvPr>
        </p:nvSpPr>
        <p:spPr/>
        <p:txBody>
          <a:bodyPr/>
          <a:lstStyle/>
          <a:p>
            <a:fld id="{379883D9-B21A-4BD8-BDBF-D18E62AFEEA2}" type="datetimeFigureOut">
              <a:rPr lang="en-US" smtClean="0"/>
              <a:t>11/13/2025</a:t>
            </a:fld>
            <a:endParaRPr lang="en-US"/>
          </a:p>
        </p:txBody>
      </p:sp>
      <p:sp>
        <p:nvSpPr>
          <p:cNvPr id="6" name="Footer Placeholder 5">
            <a:extLst>
              <a:ext uri="{FF2B5EF4-FFF2-40B4-BE49-F238E27FC236}">
                <a16:creationId xmlns:a16="http://schemas.microsoft.com/office/drawing/2014/main" id="{DAA7B8EE-2413-4B5C-AE5B-8C739B662C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623D4D-5016-453F-A1FB-7B0930BDC744}"/>
              </a:ext>
            </a:extLst>
          </p:cNvPr>
          <p:cNvSpPr>
            <a:spLocks noGrp="1"/>
          </p:cNvSpPr>
          <p:nvPr>
            <p:ph type="sldNum" sz="quarter" idx="12"/>
          </p:nvPr>
        </p:nvSpPr>
        <p:spPr/>
        <p:txBody>
          <a:bodyPr/>
          <a:lstStyle/>
          <a:p>
            <a:fld id="{85AA3731-747E-4068-A392-36446FDD4A94}" type="slidenum">
              <a:rPr lang="en-US" smtClean="0"/>
              <a:t>‹#›</a:t>
            </a:fld>
            <a:endParaRPr lang="en-US"/>
          </a:p>
        </p:txBody>
      </p:sp>
    </p:spTree>
    <p:extLst>
      <p:ext uri="{BB962C8B-B14F-4D97-AF65-F5344CB8AC3E}">
        <p14:creationId xmlns:p14="http://schemas.microsoft.com/office/powerpoint/2010/main" val="551037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6A89F-5D45-4A4E-B202-7B738FBAC3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E2F686-2202-4B2B-9063-2CD6CF2188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11FAE3-7958-4736-95C1-7417813EA1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16675DB-0FFA-4F7D-AEFB-0E96F97F4C62}"/>
              </a:ext>
            </a:extLst>
          </p:cNvPr>
          <p:cNvSpPr>
            <a:spLocks noGrp="1"/>
          </p:cNvSpPr>
          <p:nvPr>
            <p:ph type="dt" sz="half" idx="10"/>
          </p:nvPr>
        </p:nvSpPr>
        <p:spPr/>
        <p:txBody>
          <a:bodyPr/>
          <a:lstStyle/>
          <a:p>
            <a:fld id="{379883D9-B21A-4BD8-BDBF-D18E62AFEEA2}" type="datetimeFigureOut">
              <a:rPr lang="en-US" smtClean="0"/>
              <a:t>11/13/2025</a:t>
            </a:fld>
            <a:endParaRPr lang="en-US"/>
          </a:p>
        </p:txBody>
      </p:sp>
      <p:sp>
        <p:nvSpPr>
          <p:cNvPr id="6" name="Footer Placeholder 5">
            <a:extLst>
              <a:ext uri="{FF2B5EF4-FFF2-40B4-BE49-F238E27FC236}">
                <a16:creationId xmlns:a16="http://schemas.microsoft.com/office/drawing/2014/main" id="{259AFE6B-4B78-463B-B25F-7411E80568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C374F7-E129-4F3F-B9F3-C722B0242AB2}"/>
              </a:ext>
            </a:extLst>
          </p:cNvPr>
          <p:cNvSpPr>
            <a:spLocks noGrp="1"/>
          </p:cNvSpPr>
          <p:nvPr>
            <p:ph type="sldNum" sz="quarter" idx="12"/>
          </p:nvPr>
        </p:nvSpPr>
        <p:spPr/>
        <p:txBody>
          <a:bodyPr/>
          <a:lstStyle/>
          <a:p>
            <a:fld id="{85AA3731-747E-4068-A392-36446FDD4A94}" type="slidenum">
              <a:rPr lang="en-US" smtClean="0"/>
              <a:t>‹#›</a:t>
            </a:fld>
            <a:endParaRPr lang="en-US"/>
          </a:p>
        </p:txBody>
      </p:sp>
    </p:spTree>
    <p:extLst>
      <p:ext uri="{BB962C8B-B14F-4D97-AF65-F5344CB8AC3E}">
        <p14:creationId xmlns:p14="http://schemas.microsoft.com/office/powerpoint/2010/main" val="3997113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AA26D-19C3-4DB0-832D-85491ADA3B1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AF20FC-2220-4BB5-9657-030F3C1277B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B4BFBD-0D26-48C2-8E3A-A7ED7249270E}"/>
              </a:ext>
            </a:extLst>
          </p:cNvPr>
          <p:cNvSpPr>
            <a:spLocks noGrp="1"/>
          </p:cNvSpPr>
          <p:nvPr>
            <p:ph type="dt" sz="half" idx="10"/>
          </p:nvPr>
        </p:nvSpPr>
        <p:spPr/>
        <p:txBody>
          <a:bodyPr/>
          <a:lstStyle/>
          <a:p>
            <a:fld id="{379883D9-B21A-4BD8-BDBF-D18E62AFEEA2}" type="datetimeFigureOut">
              <a:rPr lang="en-US" smtClean="0"/>
              <a:t>11/13/2025</a:t>
            </a:fld>
            <a:endParaRPr lang="en-US"/>
          </a:p>
        </p:txBody>
      </p:sp>
      <p:sp>
        <p:nvSpPr>
          <p:cNvPr id="5" name="Footer Placeholder 4">
            <a:extLst>
              <a:ext uri="{FF2B5EF4-FFF2-40B4-BE49-F238E27FC236}">
                <a16:creationId xmlns:a16="http://schemas.microsoft.com/office/drawing/2014/main" id="{C490B37B-D4A5-457D-8D60-901B0BE7E3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EFB738-14CA-44C9-8E6A-47867AE06586}"/>
              </a:ext>
            </a:extLst>
          </p:cNvPr>
          <p:cNvSpPr>
            <a:spLocks noGrp="1"/>
          </p:cNvSpPr>
          <p:nvPr>
            <p:ph type="sldNum" sz="quarter" idx="12"/>
          </p:nvPr>
        </p:nvSpPr>
        <p:spPr/>
        <p:txBody>
          <a:bodyPr/>
          <a:lstStyle/>
          <a:p>
            <a:fld id="{85AA3731-747E-4068-A392-36446FDD4A94}" type="slidenum">
              <a:rPr lang="en-US" smtClean="0"/>
              <a:t>‹#›</a:t>
            </a:fld>
            <a:endParaRPr lang="en-US"/>
          </a:p>
        </p:txBody>
      </p:sp>
    </p:spTree>
    <p:extLst>
      <p:ext uri="{BB962C8B-B14F-4D97-AF65-F5344CB8AC3E}">
        <p14:creationId xmlns:p14="http://schemas.microsoft.com/office/powerpoint/2010/main" val="742650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612CC6-2363-4E02-A5C8-ED90BD6741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ED7ABC9-1693-4598-98A5-3F4363E4060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944029-2054-4BD3-AAB3-A72E6E2DE71D}"/>
              </a:ext>
            </a:extLst>
          </p:cNvPr>
          <p:cNvSpPr>
            <a:spLocks noGrp="1"/>
          </p:cNvSpPr>
          <p:nvPr>
            <p:ph type="dt" sz="half" idx="10"/>
          </p:nvPr>
        </p:nvSpPr>
        <p:spPr/>
        <p:txBody>
          <a:bodyPr/>
          <a:lstStyle/>
          <a:p>
            <a:fld id="{379883D9-B21A-4BD8-BDBF-D18E62AFEEA2}" type="datetimeFigureOut">
              <a:rPr lang="en-US" smtClean="0"/>
              <a:t>11/13/2025</a:t>
            </a:fld>
            <a:endParaRPr lang="en-US"/>
          </a:p>
        </p:txBody>
      </p:sp>
      <p:sp>
        <p:nvSpPr>
          <p:cNvPr id="5" name="Footer Placeholder 4">
            <a:extLst>
              <a:ext uri="{FF2B5EF4-FFF2-40B4-BE49-F238E27FC236}">
                <a16:creationId xmlns:a16="http://schemas.microsoft.com/office/drawing/2014/main" id="{E0BF6602-728D-4863-A2E8-38AEB867B1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11F60D-45C6-4D84-AEC3-EFE62B239725}"/>
              </a:ext>
            </a:extLst>
          </p:cNvPr>
          <p:cNvSpPr>
            <a:spLocks noGrp="1"/>
          </p:cNvSpPr>
          <p:nvPr>
            <p:ph type="sldNum" sz="quarter" idx="12"/>
          </p:nvPr>
        </p:nvSpPr>
        <p:spPr/>
        <p:txBody>
          <a:bodyPr/>
          <a:lstStyle/>
          <a:p>
            <a:fld id="{85AA3731-747E-4068-A392-36446FDD4A94}" type="slidenum">
              <a:rPr lang="en-US" smtClean="0"/>
              <a:t>‹#›</a:t>
            </a:fld>
            <a:endParaRPr lang="en-US"/>
          </a:p>
        </p:txBody>
      </p:sp>
    </p:spTree>
    <p:extLst>
      <p:ext uri="{BB962C8B-B14F-4D97-AF65-F5344CB8AC3E}">
        <p14:creationId xmlns:p14="http://schemas.microsoft.com/office/powerpoint/2010/main" val="1340999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5e Title &amp; Content">
    <p:spTree>
      <p:nvGrpSpPr>
        <p:cNvPr id="1" name=""/>
        <p:cNvGrpSpPr/>
        <p:nvPr/>
      </p:nvGrpSpPr>
      <p:grpSpPr>
        <a:xfrm>
          <a:off x="0" y="0"/>
          <a:ext cx="0" cy="0"/>
          <a:chOff x="0" y="0"/>
          <a:chExt cx="0" cy="0"/>
        </a:xfrm>
      </p:grpSpPr>
      <p:sp>
        <p:nvSpPr>
          <p:cNvPr id="32" name="Title Text"/>
          <p:cNvSpPr txBox="1">
            <a:spLocks noGrp="1"/>
          </p:cNvSpPr>
          <p:nvPr>
            <p:ph type="title"/>
          </p:nvPr>
        </p:nvSpPr>
        <p:spPr>
          <a:prstGeom prst="rect">
            <a:avLst/>
          </a:prstGeom>
        </p:spPr>
        <p:txBody>
          <a:bodyPr/>
          <a:lstStyle/>
          <a:p>
            <a:r>
              <a:t>Title Text</a:t>
            </a:r>
          </a:p>
        </p:txBody>
      </p:sp>
      <p:sp>
        <p:nvSpPr>
          <p:cNvPr id="3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54894318"/>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609601" y="1552575"/>
            <a:ext cx="5349025"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609601" y="2216772"/>
            <a:ext cx="5349025"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601" y="2953477"/>
            <a:ext cx="5349025"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09601" y="3640944"/>
            <a:ext cx="5349025"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900" smtClean="0">
                <a:solidFill>
                  <a:schemeClr val="lt1"/>
                </a:solidFill>
                <a:latin typeface="Arial"/>
                <a:ea typeface="Arial"/>
                <a:cs typeface="Arial"/>
                <a:sym typeface="Arial"/>
              </a:rPr>
              <a:pPr>
                <a:buSzPct val="25000"/>
              </a:pPr>
              <a:t>‹#›</a:t>
            </a:fld>
            <a:endParaRPr lang="en-US" sz="900"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609601" y="4352925"/>
            <a:ext cx="5349025"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609601" y="5010150"/>
            <a:ext cx="5349025"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609601" y="5692775"/>
            <a:ext cx="5349025"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6163735" y="1557339"/>
            <a:ext cx="5418667"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6163733" y="2216150"/>
            <a:ext cx="5418667"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6163733" y="2952751"/>
            <a:ext cx="5418667"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6163733" y="3641726"/>
            <a:ext cx="5418667"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6163733" y="4352925"/>
            <a:ext cx="5418667"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6284384" y="5010150"/>
            <a:ext cx="5298016"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6284384" y="5692775"/>
            <a:ext cx="5298016"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793775468"/>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900" smtClean="0">
                <a:solidFill>
                  <a:schemeClr val="lt1"/>
                </a:solidFill>
                <a:latin typeface="Arial"/>
                <a:ea typeface="Arial"/>
                <a:cs typeface="Arial"/>
                <a:sym typeface="Arial"/>
              </a:rPr>
              <a:pPr>
                <a:buSzPct val="25000"/>
              </a:pPr>
              <a:t>‹#›</a:t>
            </a:fld>
            <a:endParaRPr lang="en-US" sz="900" dirty="0">
              <a:solidFill>
                <a:schemeClr val="lt1"/>
              </a:solidFill>
              <a:latin typeface="Arial"/>
              <a:ea typeface="Arial"/>
              <a:cs typeface="Arial"/>
              <a:sym typeface="Arial"/>
            </a:endParaRPr>
          </a:p>
        </p:txBody>
      </p:sp>
      <p:sp>
        <p:nvSpPr>
          <p:cNvPr id="4" name="Text Placeholder 3">
            <a:extLst>
              <a:ext uri="{FF2B5EF4-FFF2-40B4-BE49-F238E27FC236}">
                <a16:creationId xmlns:a16="http://schemas.microsoft.com/office/drawing/2014/main" id="{8FE7ACA9-B2FC-432F-BFBD-B7649FB02D48}"/>
              </a:ext>
            </a:extLst>
          </p:cNvPr>
          <p:cNvSpPr>
            <a:spLocks noGrp="1"/>
          </p:cNvSpPr>
          <p:nvPr>
            <p:ph type="body" sz="quarter" idx="13"/>
          </p:nvPr>
        </p:nvSpPr>
        <p:spPr>
          <a:xfrm>
            <a:off x="609601" y="1557338"/>
            <a:ext cx="10858500" cy="552450"/>
          </a:xfrm>
        </p:spPr>
        <p:txBody>
          <a:bodyPr/>
          <a:lstStyle>
            <a:lvl1pPr>
              <a:defRPr sz="2400"/>
            </a:lvl1pPr>
            <a:lvl2pPr>
              <a:defRPr sz="2400"/>
            </a:lvl2pPr>
            <a:lvl3pPr>
              <a:defRPr sz="2400"/>
            </a:lvl3pPr>
            <a:lvl4pPr>
              <a:defRPr sz="24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2" name="Content Placeholder 7">
            <a:extLst>
              <a:ext uri="{FF2B5EF4-FFF2-40B4-BE49-F238E27FC236}">
                <a16:creationId xmlns:a16="http://schemas.microsoft.com/office/drawing/2014/main" id="{B99D3F93-60E8-4636-89EF-3CE3661BC0D3}"/>
              </a:ext>
            </a:extLst>
          </p:cNvPr>
          <p:cNvSpPr>
            <a:spLocks noGrp="1"/>
          </p:cNvSpPr>
          <p:nvPr>
            <p:ph sz="quarter" idx="14"/>
          </p:nvPr>
        </p:nvSpPr>
        <p:spPr>
          <a:xfrm>
            <a:off x="609600" y="2296151"/>
            <a:ext cx="10972800"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Content Placeholder 7">
            <a:extLst>
              <a:ext uri="{FF2B5EF4-FFF2-40B4-BE49-F238E27FC236}">
                <a16:creationId xmlns:a16="http://schemas.microsoft.com/office/drawing/2014/main" id="{5AC56484-E3E3-4B22-99D6-6FCEF4C50DF4}"/>
              </a:ext>
            </a:extLst>
          </p:cNvPr>
          <p:cNvSpPr>
            <a:spLocks noGrp="1"/>
          </p:cNvSpPr>
          <p:nvPr>
            <p:ph sz="quarter" idx="15"/>
          </p:nvPr>
        </p:nvSpPr>
        <p:spPr>
          <a:xfrm>
            <a:off x="609600" y="2904664"/>
            <a:ext cx="10972800"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Content Placeholder 7">
            <a:extLst>
              <a:ext uri="{FF2B5EF4-FFF2-40B4-BE49-F238E27FC236}">
                <a16:creationId xmlns:a16="http://schemas.microsoft.com/office/drawing/2014/main" id="{8A98C441-987D-4B8C-9278-5F65A0FCDEA5}"/>
              </a:ext>
            </a:extLst>
          </p:cNvPr>
          <p:cNvSpPr>
            <a:spLocks noGrp="1"/>
          </p:cNvSpPr>
          <p:nvPr>
            <p:ph sz="quarter" idx="16"/>
          </p:nvPr>
        </p:nvSpPr>
        <p:spPr>
          <a:xfrm>
            <a:off x="719015" y="3563918"/>
            <a:ext cx="10972800"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Content Placeholder 7">
            <a:extLst>
              <a:ext uri="{FF2B5EF4-FFF2-40B4-BE49-F238E27FC236}">
                <a16:creationId xmlns:a16="http://schemas.microsoft.com/office/drawing/2014/main" id="{348408DF-1795-4CC1-8FFB-C1C9DADB69A4}"/>
              </a:ext>
            </a:extLst>
          </p:cNvPr>
          <p:cNvSpPr>
            <a:spLocks noGrp="1"/>
          </p:cNvSpPr>
          <p:nvPr>
            <p:ph sz="quarter" idx="17"/>
          </p:nvPr>
        </p:nvSpPr>
        <p:spPr>
          <a:xfrm>
            <a:off x="719015" y="4237158"/>
            <a:ext cx="10972800"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Content Placeholder 7">
            <a:extLst>
              <a:ext uri="{FF2B5EF4-FFF2-40B4-BE49-F238E27FC236}">
                <a16:creationId xmlns:a16="http://schemas.microsoft.com/office/drawing/2014/main" id="{92C2E526-5DD0-4487-A01E-A345BEB598B1}"/>
              </a:ext>
            </a:extLst>
          </p:cNvPr>
          <p:cNvSpPr>
            <a:spLocks noGrp="1"/>
          </p:cNvSpPr>
          <p:nvPr>
            <p:ph sz="quarter" idx="18"/>
          </p:nvPr>
        </p:nvSpPr>
        <p:spPr>
          <a:xfrm>
            <a:off x="812800" y="4930494"/>
            <a:ext cx="10972800"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25350180"/>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609600" y="215372"/>
            <a:ext cx="109728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609600" y="1552576"/>
            <a:ext cx="10972800" cy="198039"/>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609600" y="1841637"/>
            <a:ext cx="10972800" cy="2329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600" y="2191482"/>
            <a:ext cx="109728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09600" y="2515536"/>
            <a:ext cx="109728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8447617" y="113072"/>
            <a:ext cx="28447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11292415" y="113072"/>
            <a:ext cx="735711" cy="182879"/>
          </a:xfrm>
          <a:prstGeom prst="rect">
            <a:avLst/>
          </a:prstGeom>
          <a:noFill/>
          <a:ln>
            <a:noFill/>
          </a:ln>
        </p:spPr>
        <p:txBody>
          <a:bodyPr lIns="91425" tIns="45700" rIns="91425" bIns="45700" anchor="ctr" anchorCtr="0">
            <a:noAutofit/>
          </a:bodyPr>
          <a:lstStyle/>
          <a:p>
            <a:pPr>
              <a:buSzPct val="25000"/>
            </a:pPr>
            <a:fld id="{00000000-1234-1234-1234-123412341234}" type="slidenum">
              <a:rPr lang="en-US" sz="900" smtClean="0">
                <a:solidFill>
                  <a:schemeClr val="lt1"/>
                </a:solidFill>
                <a:latin typeface="Arial"/>
                <a:ea typeface="Arial"/>
                <a:cs typeface="Arial"/>
                <a:sym typeface="Arial"/>
              </a:rPr>
              <a:pPr>
                <a:buSzPct val="25000"/>
              </a:pPr>
              <a:t>‹#›</a:t>
            </a:fld>
            <a:endParaRPr lang="en-US" sz="900"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609600" y="2840656"/>
            <a:ext cx="10972800" cy="20092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609600" y="3169638"/>
            <a:ext cx="10972800" cy="21700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609600" y="3488845"/>
            <a:ext cx="10972800" cy="23910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quarter" idx="20"/>
          </p:nvPr>
        </p:nvSpPr>
        <p:spPr>
          <a:xfrm>
            <a:off x="609600" y="3727451"/>
            <a:ext cx="10972800" cy="328613"/>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8"/>
          <p:cNvSpPr>
            <a:spLocks noGrp="1"/>
          </p:cNvSpPr>
          <p:nvPr>
            <p:ph type="body" sz="quarter" idx="21"/>
          </p:nvPr>
        </p:nvSpPr>
        <p:spPr>
          <a:xfrm>
            <a:off x="609600" y="4056064"/>
            <a:ext cx="109728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12"/>
          <p:cNvSpPr>
            <a:spLocks noGrp="1"/>
          </p:cNvSpPr>
          <p:nvPr>
            <p:ph type="body" sz="quarter" idx="22"/>
          </p:nvPr>
        </p:nvSpPr>
        <p:spPr>
          <a:xfrm>
            <a:off x="609600" y="4349750"/>
            <a:ext cx="10972800" cy="280988"/>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Text Placeholder 19"/>
          <p:cNvSpPr>
            <a:spLocks noGrp="1"/>
          </p:cNvSpPr>
          <p:nvPr>
            <p:ph type="body" sz="quarter" idx="23"/>
          </p:nvPr>
        </p:nvSpPr>
        <p:spPr>
          <a:xfrm>
            <a:off x="609600" y="4630739"/>
            <a:ext cx="109728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23"/>
          <p:cNvSpPr>
            <a:spLocks noGrp="1"/>
          </p:cNvSpPr>
          <p:nvPr>
            <p:ph type="body" sz="quarter" idx="24"/>
          </p:nvPr>
        </p:nvSpPr>
        <p:spPr>
          <a:xfrm>
            <a:off x="609600" y="4970464"/>
            <a:ext cx="109728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26"/>
          <p:cNvSpPr>
            <a:spLocks noGrp="1"/>
          </p:cNvSpPr>
          <p:nvPr>
            <p:ph type="body" sz="quarter" idx="25"/>
          </p:nvPr>
        </p:nvSpPr>
        <p:spPr>
          <a:xfrm>
            <a:off x="609600" y="5264151"/>
            <a:ext cx="109728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153202427"/>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8F6977-5543-439A-9624-9FB51304B4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3632BAF-EBFC-4135-8C10-C289AB4FF3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E11E2B-E347-49F0-ACD4-8BFC8A830A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9883D9-B21A-4BD8-BDBF-D18E62AFEEA2}" type="datetimeFigureOut">
              <a:rPr lang="en-US" smtClean="0"/>
              <a:t>11/13/2025</a:t>
            </a:fld>
            <a:endParaRPr lang="en-US"/>
          </a:p>
        </p:txBody>
      </p:sp>
      <p:sp>
        <p:nvSpPr>
          <p:cNvPr id="5" name="Footer Placeholder 4">
            <a:extLst>
              <a:ext uri="{FF2B5EF4-FFF2-40B4-BE49-F238E27FC236}">
                <a16:creationId xmlns:a16="http://schemas.microsoft.com/office/drawing/2014/main" id="{4A04E359-70B9-4EA9-9CFA-78D809D7A7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AAC7C6F-C117-4FAD-B115-1E924DB853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AA3731-747E-4068-A392-36446FDD4A94}" type="slidenum">
              <a:rPr lang="en-US" smtClean="0"/>
              <a:t>‹#›</a:t>
            </a:fld>
            <a:endParaRPr lang="en-US"/>
          </a:p>
        </p:txBody>
      </p:sp>
    </p:spTree>
    <p:extLst>
      <p:ext uri="{BB962C8B-B14F-4D97-AF65-F5344CB8AC3E}">
        <p14:creationId xmlns:p14="http://schemas.microsoft.com/office/powerpoint/2010/main" val="40257203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1.png"/><Relationship Id="rId3" Type="http://schemas.openxmlformats.org/officeDocument/2006/relationships/image" Target="../media/image16.png"/><Relationship Id="rId7" Type="http://schemas.openxmlformats.org/officeDocument/2006/relationships/image" Target="../media/image18.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image" Target="../media/image6.png"/><Relationship Id="rId16"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20.png"/><Relationship Id="rId5" Type="http://schemas.openxmlformats.org/officeDocument/2006/relationships/image" Target="../media/image17.png"/><Relationship Id="rId15" Type="http://schemas.openxmlformats.org/officeDocument/2006/relationships/image" Target="../media/image13.png"/><Relationship Id="rId10"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image" Target="../media/image19.png"/><Relationship Id="rId14" Type="http://schemas.openxmlformats.org/officeDocument/2006/relationships/image" Target="../media/image12.pn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1.png"/><Relationship Id="rId3" Type="http://schemas.openxmlformats.org/officeDocument/2006/relationships/image" Target="../media/image16.png"/><Relationship Id="rId7" Type="http://schemas.openxmlformats.org/officeDocument/2006/relationships/image" Target="../media/image18.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image" Target="../media/image6.png"/><Relationship Id="rId16"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20.png"/><Relationship Id="rId5" Type="http://schemas.openxmlformats.org/officeDocument/2006/relationships/image" Target="../media/image17.png"/><Relationship Id="rId15" Type="http://schemas.openxmlformats.org/officeDocument/2006/relationships/image" Target="../media/image13.png"/><Relationship Id="rId10"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image" Target="../media/image19.png"/><Relationship Id="rId1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1.png"/><Relationship Id="rId3" Type="http://schemas.openxmlformats.org/officeDocument/2006/relationships/image" Target="../media/image16.png"/><Relationship Id="rId7" Type="http://schemas.openxmlformats.org/officeDocument/2006/relationships/image" Target="../media/image18.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image" Target="../media/image6.png"/><Relationship Id="rId16"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20.png"/><Relationship Id="rId5" Type="http://schemas.openxmlformats.org/officeDocument/2006/relationships/image" Target="../media/image17.png"/><Relationship Id="rId15" Type="http://schemas.openxmlformats.org/officeDocument/2006/relationships/image" Target="../media/image13.png"/><Relationship Id="rId10"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image" Target="../media/image19.png"/><Relationship Id="rId14"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2.png"/><Relationship Id="rId18" Type="http://schemas.openxmlformats.org/officeDocument/2006/relationships/image" Target="../media/image24.png"/><Relationship Id="rId3" Type="http://schemas.openxmlformats.org/officeDocument/2006/relationships/image" Target="../media/image6.png"/><Relationship Id="rId7" Type="http://schemas.openxmlformats.org/officeDocument/2006/relationships/image" Target="../media/image7.png"/><Relationship Id="rId12" Type="http://schemas.openxmlformats.org/officeDocument/2006/relationships/image" Target="../media/image11.png"/><Relationship Id="rId17" Type="http://schemas.openxmlformats.org/officeDocument/2006/relationships/image" Target="../media/image15.png"/><Relationship Id="rId2" Type="http://schemas.openxmlformats.org/officeDocument/2006/relationships/notesSlide" Target="../notesSlides/notesSlide3.xml"/><Relationship Id="rId16"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2.png"/><Relationship Id="rId5" Type="http://schemas.openxmlformats.org/officeDocument/2006/relationships/image" Target="../media/image5.png"/><Relationship Id="rId15" Type="http://schemas.openxmlformats.org/officeDocument/2006/relationships/image" Target="../media/image13.png"/><Relationship Id="rId10" Type="http://schemas.openxmlformats.org/officeDocument/2006/relationships/image" Target="../media/image10.png"/><Relationship Id="rId4" Type="http://schemas.openxmlformats.org/officeDocument/2006/relationships/image" Target="../media/image16.png"/><Relationship Id="rId9" Type="http://schemas.openxmlformats.org/officeDocument/2006/relationships/image" Target="../media/image9.png"/><Relationship Id="rId14" Type="http://schemas.openxmlformats.org/officeDocument/2006/relationships/image" Target="../media/image23.png"/></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2.png"/><Relationship Id="rId18" Type="http://schemas.openxmlformats.org/officeDocument/2006/relationships/image" Target="../media/image14.png"/><Relationship Id="rId3" Type="http://schemas.openxmlformats.org/officeDocument/2006/relationships/image" Target="../media/image6.png"/><Relationship Id="rId21" Type="http://schemas.openxmlformats.org/officeDocument/2006/relationships/image" Target="../media/image27.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3.png"/><Relationship Id="rId2" Type="http://schemas.openxmlformats.org/officeDocument/2006/relationships/notesSlide" Target="../notesSlides/notesSlide4.xml"/><Relationship Id="rId16" Type="http://schemas.openxmlformats.org/officeDocument/2006/relationships/image" Target="../media/image23.png"/><Relationship Id="rId20"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9.png"/><Relationship Id="rId5" Type="http://schemas.openxmlformats.org/officeDocument/2006/relationships/image" Target="../media/image25.png"/><Relationship Id="rId15" Type="http://schemas.openxmlformats.org/officeDocument/2006/relationships/image" Target="../media/image12.png"/><Relationship Id="rId23" Type="http://schemas.openxmlformats.org/officeDocument/2006/relationships/image" Target="../media/image29.png"/><Relationship Id="rId10" Type="http://schemas.openxmlformats.org/officeDocument/2006/relationships/image" Target="../media/image8.png"/><Relationship Id="rId19" Type="http://schemas.openxmlformats.org/officeDocument/2006/relationships/image" Target="../media/image15.png"/><Relationship Id="rId4" Type="http://schemas.openxmlformats.org/officeDocument/2006/relationships/image" Target="../media/image16.png"/><Relationship Id="rId9" Type="http://schemas.openxmlformats.org/officeDocument/2006/relationships/image" Target="../media/image7.png"/><Relationship Id="rId14" Type="http://schemas.openxmlformats.org/officeDocument/2006/relationships/image" Target="../media/image11.png"/><Relationship Id="rId22" Type="http://schemas.openxmlformats.org/officeDocument/2006/relationships/image" Target="../media/image2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6.xml"/><Relationship Id="rId3" Type="http://schemas.openxmlformats.org/officeDocument/2006/relationships/tags" Target="../tags/tag3.xml"/><Relationship Id="rId7"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30.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3.vml"/><Relationship Id="rId4" Type="http://schemas.openxmlformats.org/officeDocument/2006/relationships/image" Target="../media/image32.w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6.png"/><Relationship Id="rId2" Type="http://schemas.openxmlformats.org/officeDocument/2006/relationships/image" Target="../media/image33.png"/><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s>
</file>

<file path=ppt/slides/_rels/slide24.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7.png"/><Relationship Id="rId2" Type="http://schemas.openxmlformats.org/officeDocument/2006/relationships/image" Target="../media/image33.png"/><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s>
</file>

<file path=ppt/slides/_rels/slide25.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7.png"/><Relationship Id="rId2" Type="http://schemas.openxmlformats.org/officeDocument/2006/relationships/image" Target="../media/image33.png"/><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s>
</file>

<file path=ppt/slides/_rels/slide26.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7.png"/><Relationship Id="rId2" Type="http://schemas.openxmlformats.org/officeDocument/2006/relationships/image" Target="../media/image33.png"/><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s>
</file>

<file path=ppt/slides/_rels/slide27.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34.png"/><Relationship Id="rId21" Type="http://schemas.openxmlformats.org/officeDocument/2006/relationships/image" Target="../media/image52.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7.png"/><Relationship Id="rId2" Type="http://schemas.openxmlformats.org/officeDocument/2006/relationships/image" Target="../media/image33.png"/><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image" Target="../media/image36.png"/><Relationship Id="rId15" Type="http://schemas.openxmlformats.org/officeDocument/2006/relationships/image" Target="../media/image46.png"/><Relationship Id="rId23" Type="http://schemas.openxmlformats.org/officeDocument/2006/relationships/image" Target="../media/image54.png"/><Relationship Id="rId10" Type="http://schemas.openxmlformats.org/officeDocument/2006/relationships/image" Target="../media/image41.png"/><Relationship Id="rId19" Type="http://schemas.openxmlformats.org/officeDocument/2006/relationships/image" Target="../media/image50.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53.png"/></Relationships>
</file>

<file path=ppt/slides/_rels/slide28.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60.png"/><Relationship Id="rId3" Type="http://schemas.openxmlformats.org/officeDocument/2006/relationships/image" Target="../media/image34.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9.png"/><Relationship Id="rId2" Type="http://schemas.openxmlformats.org/officeDocument/2006/relationships/image" Target="../media/image33.png"/><Relationship Id="rId16" Type="http://schemas.openxmlformats.org/officeDocument/2006/relationships/image" Target="../media/image46.png"/><Relationship Id="rId20"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41.png"/><Relationship Id="rId24" Type="http://schemas.openxmlformats.org/officeDocument/2006/relationships/image" Target="../media/image57.png"/><Relationship Id="rId5" Type="http://schemas.openxmlformats.org/officeDocument/2006/relationships/image" Target="../media/image36.png"/><Relationship Id="rId15" Type="http://schemas.openxmlformats.org/officeDocument/2006/relationships/image" Target="../media/image45.png"/><Relationship Id="rId23" Type="http://schemas.openxmlformats.org/officeDocument/2006/relationships/image" Target="../media/image55.png"/><Relationship Id="rId10" Type="http://schemas.openxmlformats.org/officeDocument/2006/relationships/image" Target="../media/image40.png"/><Relationship Id="rId19" Type="http://schemas.openxmlformats.org/officeDocument/2006/relationships/image" Target="../media/image49.png"/><Relationship Id="rId4" Type="http://schemas.openxmlformats.org/officeDocument/2006/relationships/image" Target="../media/image35.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8.png"/><Relationship Id="rId27" Type="http://schemas.openxmlformats.org/officeDocument/2006/relationships/image" Target="../media/image27.png"/></Relationships>
</file>

<file path=ppt/slides/_rels/slide29.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60.png"/><Relationship Id="rId3" Type="http://schemas.openxmlformats.org/officeDocument/2006/relationships/image" Target="../media/image34.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9.png"/><Relationship Id="rId2" Type="http://schemas.openxmlformats.org/officeDocument/2006/relationships/image" Target="../media/image33.png"/><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41.png"/><Relationship Id="rId24" Type="http://schemas.openxmlformats.org/officeDocument/2006/relationships/image" Target="../media/image57.png"/><Relationship Id="rId5" Type="http://schemas.openxmlformats.org/officeDocument/2006/relationships/image" Target="../media/image36.png"/><Relationship Id="rId15" Type="http://schemas.openxmlformats.org/officeDocument/2006/relationships/image" Target="../media/image45.png"/><Relationship Id="rId23" Type="http://schemas.openxmlformats.org/officeDocument/2006/relationships/image" Target="../media/image55.png"/><Relationship Id="rId28" Type="http://schemas.openxmlformats.org/officeDocument/2006/relationships/image" Target="../media/image61.png"/><Relationship Id="rId10" Type="http://schemas.openxmlformats.org/officeDocument/2006/relationships/image" Target="../media/image40.png"/><Relationship Id="rId19" Type="http://schemas.openxmlformats.org/officeDocument/2006/relationships/image" Target="../media/image49.png"/><Relationship Id="rId4" Type="http://schemas.openxmlformats.org/officeDocument/2006/relationships/image" Target="../media/image35.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8.png"/><Relationship Id="rId27" Type="http://schemas.openxmlformats.org/officeDocument/2006/relationships/image" Target="../media/image27.png"/></Relationships>
</file>

<file path=ppt/slides/_rels/slide30.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60.png"/><Relationship Id="rId3" Type="http://schemas.openxmlformats.org/officeDocument/2006/relationships/image" Target="../media/image34.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63.png"/><Relationship Id="rId17" Type="http://schemas.openxmlformats.org/officeDocument/2006/relationships/image" Target="../media/image47.png"/><Relationship Id="rId25" Type="http://schemas.openxmlformats.org/officeDocument/2006/relationships/image" Target="../media/image59.png"/><Relationship Id="rId2" Type="http://schemas.openxmlformats.org/officeDocument/2006/relationships/image" Target="../media/image33.png"/><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41.png"/><Relationship Id="rId24" Type="http://schemas.openxmlformats.org/officeDocument/2006/relationships/image" Target="../media/image57.png"/><Relationship Id="rId5" Type="http://schemas.openxmlformats.org/officeDocument/2006/relationships/image" Target="../media/image36.png"/><Relationship Id="rId15" Type="http://schemas.openxmlformats.org/officeDocument/2006/relationships/image" Target="../media/image45.png"/><Relationship Id="rId23" Type="http://schemas.openxmlformats.org/officeDocument/2006/relationships/image" Target="../media/image55.png"/><Relationship Id="rId28" Type="http://schemas.openxmlformats.org/officeDocument/2006/relationships/image" Target="../media/image61.png"/><Relationship Id="rId10" Type="http://schemas.openxmlformats.org/officeDocument/2006/relationships/image" Target="../media/image40.png"/><Relationship Id="rId19" Type="http://schemas.openxmlformats.org/officeDocument/2006/relationships/image" Target="../media/image49.png"/><Relationship Id="rId4" Type="http://schemas.openxmlformats.org/officeDocument/2006/relationships/image" Target="../media/image35.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8.png"/><Relationship Id="rId27" Type="http://schemas.openxmlformats.org/officeDocument/2006/relationships/image" Target="../media/image27.png"/></Relationships>
</file>

<file path=ppt/slides/_rels/slide31.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60.png"/><Relationship Id="rId3" Type="http://schemas.openxmlformats.org/officeDocument/2006/relationships/image" Target="../media/image34.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63.png"/><Relationship Id="rId17" Type="http://schemas.openxmlformats.org/officeDocument/2006/relationships/image" Target="../media/image47.png"/><Relationship Id="rId25" Type="http://schemas.openxmlformats.org/officeDocument/2006/relationships/image" Target="../media/image59.png"/><Relationship Id="rId2" Type="http://schemas.openxmlformats.org/officeDocument/2006/relationships/image" Target="../media/image33.png"/><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41.png"/><Relationship Id="rId24" Type="http://schemas.openxmlformats.org/officeDocument/2006/relationships/image" Target="../media/image57.png"/><Relationship Id="rId5" Type="http://schemas.openxmlformats.org/officeDocument/2006/relationships/image" Target="../media/image36.png"/><Relationship Id="rId15" Type="http://schemas.openxmlformats.org/officeDocument/2006/relationships/image" Target="../media/image45.png"/><Relationship Id="rId23" Type="http://schemas.openxmlformats.org/officeDocument/2006/relationships/image" Target="../media/image55.png"/><Relationship Id="rId28" Type="http://schemas.openxmlformats.org/officeDocument/2006/relationships/image" Target="../media/image61.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5.png"/><Relationship Id="rId4" Type="http://schemas.openxmlformats.org/officeDocument/2006/relationships/image" Target="../media/image35.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8.png"/><Relationship Id="rId27" Type="http://schemas.openxmlformats.org/officeDocument/2006/relationships/image" Target="../media/image27.png"/><Relationship Id="rId30" Type="http://schemas.openxmlformats.org/officeDocument/2006/relationships/image" Target="../media/image64.png"/></Relationships>
</file>

<file path=ppt/slides/_rels/slide32.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60.png"/><Relationship Id="rId3" Type="http://schemas.openxmlformats.org/officeDocument/2006/relationships/image" Target="../media/image66.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63.png"/><Relationship Id="rId17" Type="http://schemas.openxmlformats.org/officeDocument/2006/relationships/image" Target="../media/image47.png"/><Relationship Id="rId25" Type="http://schemas.openxmlformats.org/officeDocument/2006/relationships/image" Target="../media/image59.png"/><Relationship Id="rId2" Type="http://schemas.openxmlformats.org/officeDocument/2006/relationships/image" Target="../media/image33.png"/><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41.png"/><Relationship Id="rId24" Type="http://schemas.openxmlformats.org/officeDocument/2006/relationships/image" Target="../media/image57.png"/><Relationship Id="rId5" Type="http://schemas.openxmlformats.org/officeDocument/2006/relationships/image" Target="../media/image36.png"/><Relationship Id="rId15" Type="http://schemas.openxmlformats.org/officeDocument/2006/relationships/image" Target="../media/image45.png"/><Relationship Id="rId23" Type="http://schemas.openxmlformats.org/officeDocument/2006/relationships/image" Target="../media/image55.png"/><Relationship Id="rId28" Type="http://schemas.openxmlformats.org/officeDocument/2006/relationships/image" Target="../media/image61.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5.png"/><Relationship Id="rId4" Type="http://schemas.openxmlformats.org/officeDocument/2006/relationships/image" Target="../media/image35.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8.png"/><Relationship Id="rId27" Type="http://schemas.openxmlformats.org/officeDocument/2006/relationships/image" Target="../media/image27.png"/><Relationship Id="rId30" Type="http://schemas.openxmlformats.org/officeDocument/2006/relationships/image" Target="../media/image64.png"/></Relationships>
</file>

<file path=ppt/slides/_rels/slide33.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60.png"/><Relationship Id="rId3" Type="http://schemas.openxmlformats.org/officeDocument/2006/relationships/image" Target="../media/image66.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63.png"/><Relationship Id="rId17" Type="http://schemas.openxmlformats.org/officeDocument/2006/relationships/image" Target="../media/image47.png"/><Relationship Id="rId25" Type="http://schemas.openxmlformats.org/officeDocument/2006/relationships/image" Target="../media/image59.png"/><Relationship Id="rId2" Type="http://schemas.openxmlformats.org/officeDocument/2006/relationships/image" Target="../media/image33.png"/><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41.png"/><Relationship Id="rId24" Type="http://schemas.openxmlformats.org/officeDocument/2006/relationships/image" Target="../media/image57.png"/><Relationship Id="rId5" Type="http://schemas.openxmlformats.org/officeDocument/2006/relationships/image" Target="../media/image36.png"/><Relationship Id="rId15" Type="http://schemas.openxmlformats.org/officeDocument/2006/relationships/image" Target="../media/image45.png"/><Relationship Id="rId23" Type="http://schemas.openxmlformats.org/officeDocument/2006/relationships/image" Target="../media/image55.png"/><Relationship Id="rId28" Type="http://schemas.openxmlformats.org/officeDocument/2006/relationships/image" Target="../media/image61.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5.png"/><Relationship Id="rId4" Type="http://schemas.openxmlformats.org/officeDocument/2006/relationships/image" Target="../media/image35.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8.png"/><Relationship Id="rId27" Type="http://schemas.openxmlformats.org/officeDocument/2006/relationships/image" Target="../media/image27.png"/><Relationship Id="rId30" Type="http://schemas.openxmlformats.org/officeDocument/2006/relationships/image" Target="../media/image64.png"/></Relationships>
</file>

<file path=ppt/slides/_rels/slide34.xml.rels><?xml version="1.0" encoding="UTF-8" standalone="yes"?>
<Relationships xmlns="http://schemas.openxmlformats.org/package/2006/relationships"><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60.png"/><Relationship Id="rId3" Type="http://schemas.openxmlformats.org/officeDocument/2006/relationships/image" Target="../media/image66.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63.png"/><Relationship Id="rId17" Type="http://schemas.openxmlformats.org/officeDocument/2006/relationships/image" Target="../media/image47.png"/><Relationship Id="rId25" Type="http://schemas.openxmlformats.org/officeDocument/2006/relationships/image" Target="../media/image59.png"/><Relationship Id="rId33" Type="http://schemas.openxmlformats.org/officeDocument/2006/relationships/image" Target="../media/image68.png"/><Relationship Id="rId2" Type="http://schemas.openxmlformats.org/officeDocument/2006/relationships/image" Target="../media/image33.png"/><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41.png"/><Relationship Id="rId24" Type="http://schemas.openxmlformats.org/officeDocument/2006/relationships/image" Target="../media/image57.png"/><Relationship Id="rId32" Type="http://schemas.openxmlformats.org/officeDocument/2006/relationships/image" Target="../media/image67.png"/><Relationship Id="rId5" Type="http://schemas.openxmlformats.org/officeDocument/2006/relationships/image" Target="../media/image36.png"/><Relationship Id="rId15" Type="http://schemas.openxmlformats.org/officeDocument/2006/relationships/image" Target="../media/image45.png"/><Relationship Id="rId23" Type="http://schemas.openxmlformats.org/officeDocument/2006/relationships/image" Target="../media/image55.png"/><Relationship Id="rId28" Type="http://schemas.openxmlformats.org/officeDocument/2006/relationships/image" Target="../media/image61.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5.png"/><Relationship Id="rId4" Type="http://schemas.openxmlformats.org/officeDocument/2006/relationships/image" Target="../media/image35.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8.png"/><Relationship Id="rId27" Type="http://schemas.openxmlformats.org/officeDocument/2006/relationships/image" Target="../media/image27.png"/><Relationship Id="rId30" Type="http://schemas.openxmlformats.org/officeDocument/2006/relationships/image" Target="../media/image64.png"/><Relationship Id="rId8" Type="http://schemas.openxmlformats.org/officeDocument/2006/relationships/image" Target="../media/image38.png"/></Relationships>
</file>

<file path=ppt/slides/_rels/slide35.xml.rels><?xml version="1.0" encoding="UTF-8" standalone="yes"?>
<Relationships xmlns="http://schemas.openxmlformats.org/package/2006/relationships"><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60.png"/><Relationship Id="rId3" Type="http://schemas.openxmlformats.org/officeDocument/2006/relationships/image" Target="../media/image66.png"/><Relationship Id="rId21" Type="http://schemas.openxmlformats.org/officeDocument/2006/relationships/image" Target="../media/image51.png"/><Relationship Id="rId34" Type="http://schemas.openxmlformats.org/officeDocument/2006/relationships/image" Target="../media/image69.png"/><Relationship Id="rId7" Type="http://schemas.openxmlformats.org/officeDocument/2006/relationships/image" Target="../media/image37.png"/><Relationship Id="rId12" Type="http://schemas.openxmlformats.org/officeDocument/2006/relationships/image" Target="../media/image63.png"/><Relationship Id="rId17" Type="http://schemas.openxmlformats.org/officeDocument/2006/relationships/image" Target="../media/image47.png"/><Relationship Id="rId25" Type="http://schemas.openxmlformats.org/officeDocument/2006/relationships/image" Target="../media/image59.png"/><Relationship Id="rId33" Type="http://schemas.openxmlformats.org/officeDocument/2006/relationships/image" Target="../media/image68.png"/><Relationship Id="rId2" Type="http://schemas.openxmlformats.org/officeDocument/2006/relationships/image" Target="../media/image33.png"/><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41.png"/><Relationship Id="rId24" Type="http://schemas.openxmlformats.org/officeDocument/2006/relationships/image" Target="../media/image57.png"/><Relationship Id="rId32" Type="http://schemas.openxmlformats.org/officeDocument/2006/relationships/image" Target="../media/image67.png"/><Relationship Id="rId5" Type="http://schemas.openxmlformats.org/officeDocument/2006/relationships/image" Target="../media/image36.png"/><Relationship Id="rId15" Type="http://schemas.openxmlformats.org/officeDocument/2006/relationships/image" Target="../media/image45.png"/><Relationship Id="rId23" Type="http://schemas.openxmlformats.org/officeDocument/2006/relationships/image" Target="../media/image55.png"/><Relationship Id="rId28" Type="http://schemas.openxmlformats.org/officeDocument/2006/relationships/image" Target="../media/image61.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5.png"/><Relationship Id="rId4" Type="http://schemas.openxmlformats.org/officeDocument/2006/relationships/image" Target="../media/image35.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8.png"/><Relationship Id="rId27" Type="http://schemas.openxmlformats.org/officeDocument/2006/relationships/image" Target="../media/image27.png"/><Relationship Id="rId30" Type="http://schemas.openxmlformats.org/officeDocument/2006/relationships/image" Target="../media/image64.png"/><Relationship Id="rId8" Type="http://schemas.openxmlformats.org/officeDocument/2006/relationships/image" Target="../media/image38.png"/></Relationships>
</file>

<file path=ppt/slides/_rels/slide36.xml.rels><?xml version="1.0" encoding="UTF-8" standalone="yes"?>
<Relationships xmlns="http://schemas.openxmlformats.org/package/2006/relationships"><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60.png"/><Relationship Id="rId3" Type="http://schemas.openxmlformats.org/officeDocument/2006/relationships/image" Target="../media/image66.png"/><Relationship Id="rId21" Type="http://schemas.openxmlformats.org/officeDocument/2006/relationships/image" Target="../media/image51.png"/><Relationship Id="rId34" Type="http://schemas.openxmlformats.org/officeDocument/2006/relationships/image" Target="../media/image69.png"/><Relationship Id="rId7" Type="http://schemas.openxmlformats.org/officeDocument/2006/relationships/image" Target="../media/image37.png"/><Relationship Id="rId12" Type="http://schemas.openxmlformats.org/officeDocument/2006/relationships/image" Target="../media/image63.png"/><Relationship Id="rId17" Type="http://schemas.openxmlformats.org/officeDocument/2006/relationships/image" Target="../media/image47.png"/><Relationship Id="rId25" Type="http://schemas.openxmlformats.org/officeDocument/2006/relationships/image" Target="../media/image59.png"/><Relationship Id="rId33" Type="http://schemas.openxmlformats.org/officeDocument/2006/relationships/image" Target="../media/image68.png"/><Relationship Id="rId2" Type="http://schemas.openxmlformats.org/officeDocument/2006/relationships/image" Target="../media/image33.png"/><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41.png"/><Relationship Id="rId24" Type="http://schemas.openxmlformats.org/officeDocument/2006/relationships/image" Target="../media/image57.png"/><Relationship Id="rId32" Type="http://schemas.openxmlformats.org/officeDocument/2006/relationships/image" Target="../media/image67.png"/><Relationship Id="rId5" Type="http://schemas.openxmlformats.org/officeDocument/2006/relationships/image" Target="../media/image36.png"/><Relationship Id="rId15" Type="http://schemas.openxmlformats.org/officeDocument/2006/relationships/image" Target="../media/image45.png"/><Relationship Id="rId23" Type="http://schemas.openxmlformats.org/officeDocument/2006/relationships/image" Target="../media/image55.png"/><Relationship Id="rId28" Type="http://schemas.openxmlformats.org/officeDocument/2006/relationships/image" Target="../media/image61.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5.png"/><Relationship Id="rId4" Type="http://schemas.openxmlformats.org/officeDocument/2006/relationships/image" Target="../media/image35.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8.png"/><Relationship Id="rId27" Type="http://schemas.openxmlformats.org/officeDocument/2006/relationships/image" Target="../media/image27.png"/><Relationship Id="rId30" Type="http://schemas.openxmlformats.org/officeDocument/2006/relationships/image" Target="../media/image64.png"/><Relationship Id="rId8" Type="http://schemas.openxmlformats.org/officeDocument/2006/relationships/image" Target="../media/image38.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notesSlide" Target="../notesSlides/notesSlide22.xml"/><Relationship Id="rId4"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notesSlide" Target="../notesSlides/notesSlide23.xml"/><Relationship Id="rId4"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notesSlide" Target="../notesSlides/notesSlide24.xml"/><Relationship Id="rId4"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notesSlide" Target="../notesSlides/notesSlide25.xml"/><Relationship Id="rId4"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notesSlide" Target="../notesSlides/notesSlide26.xml"/><Relationship Id="rId4"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notesSlide" Target="../notesSlides/notesSlide27.xml"/><Relationship Id="rId4"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71.png"/><Relationship Id="rId5" Type="http://schemas.openxmlformats.org/officeDocument/2006/relationships/tags" Target="../tags/tag26.xml"/><Relationship Id="rId4" Type="http://schemas.openxmlformats.org/officeDocument/2006/relationships/notesSlide" Target="../notesSlides/notesSlide29.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notesSlide" Target="../notesSlides/notesSlide30.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29.xml"/><Relationship Id="rId4" Type="http://schemas.openxmlformats.org/officeDocument/2006/relationships/hyperlink" Target="https://yongdanielliang.github.io/animation/web/LinearProbing.html" TargetMode="External"/></Relationships>
</file>

<file path=ppt/slides/_rels/slide58.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notesSlide" Target="../notesSlides/notesSlide32.xml"/><Relationship Id="rId4"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 Id="rId5" Type="http://schemas.openxmlformats.org/officeDocument/2006/relationships/notesSlide" Target="../notesSlides/notesSlide33.xml"/><Relationship Id="rId4"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image" Target="../media/image71.jpeg"/><Relationship Id="rId4" Type="http://schemas.openxmlformats.org/officeDocument/2006/relationships/notesSlide" Target="../notesSlides/notesSlide34.xml"/></Relationships>
</file>

<file path=ppt/slides/_rels/slide61.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notesSlide" Target="../notesSlides/notesSlide36.xml"/><Relationship Id="rId4"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notesSlide" Target="../notesSlides/notesSlide37.xml"/><Relationship Id="rId4"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notesSlide" Target="../notesSlides/notesSlide38.xml"/><Relationship Id="rId4"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5" Type="http://schemas.openxmlformats.org/officeDocument/2006/relationships/notesSlide" Target="../notesSlides/notesSlide39.xml"/><Relationship Id="rId4"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5" Type="http://schemas.openxmlformats.org/officeDocument/2006/relationships/notesSlide" Target="../notesSlides/notesSlide40.xml"/><Relationship Id="rId4"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5" Type="http://schemas.openxmlformats.org/officeDocument/2006/relationships/notesSlide" Target="../notesSlides/notesSlide41.xml"/><Relationship Id="rId4"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notesSlide" Target="../notesSlides/notesSlide42.xml"/><Relationship Id="rId4"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5" Type="http://schemas.openxmlformats.org/officeDocument/2006/relationships/notesSlide" Target="../notesSlides/notesSlide43.xml"/><Relationship Id="rId4"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 Id="rId5" Type="http://schemas.openxmlformats.org/officeDocument/2006/relationships/notesSlide" Target="../notesSlides/notesSlide44.xml"/><Relationship Id="rId4"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notesSlide" Target="../notesSlides/notesSlide45.xml"/><Relationship Id="rId4"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 Id="rId5" Type="http://schemas.openxmlformats.org/officeDocument/2006/relationships/notesSlide" Target="../notesSlides/notesSlide46.xml"/><Relationship Id="rId4"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 Id="rId5" Type="http://schemas.openxmlformats.org/officeDocument/2006/relationships/notesSlide" Target="../notesSlides/notesSlide47.xml"/><Relationship Id="rId4"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tags" Target="../tags/tag74.xml"/><Relationship Id="rId5" Type="http://schemas.openxmlformats.org/officeDocument/2006/relationships/notesSlide" Target="../notesSlides/notesSlide48.xml"/><Relationship Id="rId4"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tags" Target="../tags/tag77.xml"/><Relationship Id="rId4" Type="http://schemas.openxmlformats.org/officeDocument/2006/relationships/notesSlide" Target="../notesSlides/notesSlide50.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tags" Target="../tags/tag79.xml"/><Relationship Id="rId4" Type="http://schemas.openxmlformats.org/officeDocument/2006/relationships/notesSlide" Target="../notesSlides/notesSlide51.xml"/></Relationships>
</file>

<file path=ppt/slides/_rels/slide78.xml.rels><?xml version="1.0" encoding="UTF-8" standalone="yes"?>
<Relationships xmlns="http://schemas.openxmlformats.org/package/2006/relationships"><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notesSlide" Target="../notesSlides/notesSlide52.xml"/><Relationship Id="rId5" Type="http://schemas.openxmlformats.org/officeDocument/2006/relationships/slideLayout" Target="../slideLayouts/slideLayout2.xml"/><Relationship Id="rId4" Type="http://schemas.openxmlformats.org/officeDocument/2006/relationships/tags" Target="../tags/tag84.xml"/></Relationships>
</file>

<file path=ppt/slides/_rels/slide79.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notesSlide" Target="../notesSlides/notesSlide53.xml"/><Relationship Id="rId5" Type="http://schemas.openxmlformats.org/officeDocument/2006/relationships/slideLayout" Target="../slideLayouts/slideLayout2.xml"/><Relationship Id="rId4" Type="http://schemas.openxmlformats.org/officeDocument/2006/relationships/tags" Target="../tags/tag88.xml"/></Relationships>
</file>

<file path=ppt/slides/_rels/slide80.xml.rels><?xml version="1.0" encoding="UTF-8" standalone="yes"?>
<Relationships xmlns="http://schemas.openxmlformats.org/package/2006/relationships"><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notesSlide" Target="../notesSlides/notesSlide54.xml"/><Relationship Id="rId5" Type="http://schemas.openxmlformats.org/officeDocument/2006/relationships/slideLayout" Target="../slideLayouts/slideLayout2.xml"/><Relationship Id="rId4" Type="http://schemas.openxmlformats.org/officeDocument/2006/relationships/tags" Target="../tags/tag92.xml"/></Relationships>
</file>

<file path=ppt/slides/_rels/slide81.xml.rels><?xml version="1.0" encoding="UTF-8" standalone="yes"?>
<Relationships xmlns="http://schemas.openxmlformats.org/package/2006/relationships"><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notesSlide" Target="../notesSlides/notesSlide55.xml"/><Relationship Id="rId5" Type="http://schemas.openxmlformats.org/officeDocument/2006/relationships/slideLayout" Target="../slideLayouts/slideLayout2.xml"/><Relationship Id="rId4" Type="http://schemas.openxmlformats.org/officeDocument/2006/relationships/tags" Target="../tags/tag96.xml"/></Relationships>
</file>

<file path=ppt/slides/_rels/slide82.xml.rels><?xml version="1.0" encoding="UTF-8" standalone="yes"?>
<Relationships xmlns="http://schemas.openxmlformats.org/package/2006/relationships"><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notesSlide" Target="../notesSlides/notesSlide56.xml"/><Relationship Id="rId5" Type="http://schemas.openxmlformats.org/officeDocument/2006/relationships/slideLayout" Target="../slideLayouts/slideLayout2.xml"/><Relationship Id="rId4" Type="http://schemas.openxmlformats.org/officeDocument/2006/relationships/tags" Target="../tags/tag100.xml"/></Relationships>
</file>

<file path=ppt/slides/_rels/slide83.xml.rels><?xml version="1.0" encoding="UTF-8" standalone="yes"?>
<Relationships xmlns="http://schemas.openxmlformats.org/package/2006/relationships"><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notesSlide" Target="../notesSlides/notesSlide57.xml"/><Relationship Id="rId5" Type="http://schemas.openxmlformats.org/officeDocument/2006/relationships/slideLayout" Target="../slideLayouts/slideLayout2.xml"/><Relationship Id="rId4" Type="http://schemas.openxmlformats.org/officeDocument/2006/relationships/tags" Target="../tags/tag10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hyperlink" Target="https://liveexample.pearsoncmg.com/dsanimation/DoubleHashingeBook.html" TargetMode="External"/><Relationship Id="rId2" Type="http://schemas.openxmlformats.org/officeDocument/2006/relationships/notesSlide" Target="../notesSlides/notesSlide59.xml"/><Relationship Id="rId1" Type="http://schemas.openxmlformats.org/officeDocument/2006/relationships/slideLayout" Target="../slideLayouts/slideLayout14.xml"/><Relationship Id="rId5" Type="http://schemas.openxmlformats.org/officeDocument/2006/relationships/image" Target="../media/image74.png"/><Relationship Id="rId4" Type="http://schemas.openxmlformats.org/officeDocument/2006/relationships/image" Target="../media/image75.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 Id="rId5" Type="http://schemas.openxmlformats.org/officeDocument/2006/relationships/notesSlide" Target="../notesSlides/notesSlide63.xml"/><Relationship Id="rId4"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 Id="rId5" Type="http://schemas.openxmlformats.org/officeDocument/2006/relationships/notesSlide" Target="../notesSlides/notesSlide64.xml"/><Relationship Id="rId4"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 Id="rId5" Type="http://schemas.openxmlformats.org/officeDocument/2006/relationships/notesSlide" Target="../notesSlides/notesSlide65.xml"/><Relationship Id="rId4"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 Id="rId5" Type="http://schemas.openxmlformats.org/officeDocument/2006/relationships/notesSlide" Target="../notesSlides/notesSlide66.xml"/><Relationship Id="rId4"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 Id="rId5" Type="http://schemas.openxmlformats.org/officeDocument/2006/relationships/notesSlide" Target="../notesSlides/notesSlide67.xml"/><Relationship Id="rId4"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 Id="rId5" Type="http://schemas.openxmlformats.org/officeDocument/2006/relationships/notesSlide" Target="../notesSlides/notesSlide68.xml"/><Relationship Id="rId4"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notesSlide" Target="../notesSlides/notesSlide69.xml"/></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image" Target="../media/image77.png"/><Relationship Id="rId5" Type="http://schemas.openxmlformats.org/officeDocument/2006/relationships/image" Target="../media/image72.png"/><Relationship Id="rId4" Type="http://schemas.openxmlformats.org/officeDocument/2006/relationships/notesSlide" Target="../notesSlides/notesSlide70.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7.xml"/></Relationships>
</file>

<file path=ppt/slides/_rels/slide98.xml.rels><?xml version="1.0" encoding="UTF-8" standalone="yes"?>
<Relationships xmlns="http://schemas.openxmlformats.org/package/2006/relationships"><Relationship Id="rId3" Type="http://schemas.openxmlformats.org/officeDocument/2006/relationships/hyperlink" Target="https://liveexample.pearsoncmg.com/dsanimation/SeparateChainingeBook.html" TargetMode="External"/><Relationship Id="rId2" Type="http://schemas.openxmlformats.org/officeDocument/2006/relationships/notesSlide" Target="../notesSlides/notesSlide71.xml"/><Relationship Id="rId1" Type="http://schemas.openxmlformats.org/officeDocument/2006/relationships/slideLayout" Target="../slideLayouts/slideLayout15.xml"/><Relationship Id="rId4" Type="http://schemas.openxmlformats.org/officeDocument/2006/relationships/image" Target="../media/image76.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 Id="rId5" Type="http://schemas.openxmlformats.org/officeDocument/2006/relationships/image" Target="../media/image160.png"/></Relationships>
</file>

<file path=ppt/slides/_rels/slide10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102E8-29A6-4CF2-A377-6E09F19614AC}"/>
              </a:ext>
            </a:extLst>
          </p:cNvPr>
          <p:cNvSpPr>
            <a:spLocks noGrp="1"/>
          </p:cNvSpPr>
          <p:nvPr>
            <p:ph type="title"/>
          </p:nvPr>
        </p:nvSpPr>
        <p:spPr/>
        <p:txBody>
          <a:bodyPr/>
          <a:lstStyle/>
          <a:p>
            <a:pPr algn="ctr"/>
            <a:r>
              <a:rPr lang="en-US" b="1" dirty="0"/>
              <a:t>Hashing</a:t>
            </a:r>
          </a:p>
        </p:txBody>
      </p:sp>
      <p:sp>
        <p:nvSpPr>
          <p:cNvPr id="3" name="Content Placeholder 2">
            <a:extLst>
              <a:ext uri="{FF2B5EF4-FFF2-40B4-BE49-F238E27FC236}">
                <a16:creationId xmlns:a16="http://schemas.microsoft.com/office/drawing/2014/main" id="{E4E8FBFC-AB34-4E15-9DA0-CD5D29ED4FBB}"/>
              </a:ext>
            </a:extLst>
          </p:cNvPr>
          <p:cNvSpPr>
            <a:spLocks noGrp="1"/>
          </p:cNvSpPr>
          <p:nvPr>
            <p:ph idx="1"/>
          </p:nvPr>
        </p:nvSpPr>
        <p:spPr/>
        <p:txBody>
          <a:bodyPr/>
          <a:lstStyle/>
          <a:p>
            <a:endParaRPr lang="en-US"/>
          </a:p>
        </p:txBody>
      </p:sp>
      <p:pic>
        <p:nvPicPr>
          <p:cNvPr id="4" name="Picture 10" descr="enter image description here">
            <a:extLst>
              <a:ext uri="{FF2B5EF4-FFF2-40B4-BE49-F238E27FC236}">
                <a16:creationId xmlns:a16="http://schemas.microsoft.com/office/drawing/2014/main" id="{4A3C3979-C054-4C9D-8CDB-33111313CA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9629" y="2016466"/>
            <a:ext cx="5436704" cy="396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5008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3208B1-B798-E444-8F89-EDC5A5F7A735}"/>
              </a:ext>
            </a:extLst>
          </p:cNvPr>
          <p:cNvSpPr>
            <a:spLocks noGrp="1"/>
          </p:cNvSpPr>
          <p:nvPr>
            <p:ph type="title"/>
          </p:nvPr>
        </p:nvSpPr>
        <p:spPr/>
        <p:txBody>
          <a:bodyPr/>
          <a:lstStyle/>
          <a:p>
            <a:r>
              <a:rPr lang="en-US" dirty="0"/>
              <a:t>So Far</a:t>
            </a:r>
          </a:p>
        </p:txBody>
      </p:sp>
      <p:pic>
        <p:nvPicPr>
          <p:cNvPr id="4" name="Picture 3" descr="Table&#10;&#10;Description automatically generated">
            <a:extLst>
              <a:ext uri="{FF2B5EF4-FFF2-40B4-BE49-F238E27FC236}">
                <a16:creationId xmlns:a16="http://schemas.microsoft.com/office/drawing/2014/main" id="{1A6A05EB-2E92-7C40-9D8F-E15E268926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3100" y="2377229"/>
            <a:ext cx="8305800" cy="1712207"/>
          </a:xfrm>
          <a:prstGeom prst="rect">
            <a:avLst/>
          </a:prstGeom>
        </p:spPr>
      </p:pic>
      <p:sp>
        <p:nvSpPr>
          <p:cNvPr id="5" name="Rectangle 4">
            <a:extLst>
              <a:ext uri="{FF2B5EF4-FFF2-40B4-BE49-F238E27FC236}">
                <a16:creationId xmlns:a16="http://schemas.microsoft.com/office/drawing/2014/main" id="{CE638A88-FE1E-A44A-95E2-848DE34C227C}"/>
              </a:ext>
            </a:extLst>
          </p:cNvPr>
          <p:cNvSpPr/>
          <p:nvPr/>
        </p:nvSpPr>
        <p:spPr>
          <a:xfrm>
            <a:off x="2067208" y="4375200"/>
            <a:ext cx="7696200" cy="1754326"/>
          </a:xfrm>
          <a:prstGeom prst="rect">
            <a:avLst/>
          </a:prstGeom>
        </p:spPr>
        <p:txBody>
          <a:bodyPr wrap="square">
            <a:spAutoFit/>
          </a:bodyPr>
          <a:lstStyle/>
          <a:p>
            <a:pPr marL="285750" indent="-285750">
              <a:buFont typeface="Arial" panose="020B0604020202020204" pitchFamily="34" charset="0"/>
              <a:buChar char="•"/>
            </a:pPr>
            <a:r>
              <a:rPr lang="en-US" dirty="0">
                <a:solidFill>
                  <a:srgbClr val="000000"/>
                </a:solidFill>
                <a:latin typeface="Times" pitchFamily="2" charset="0"/>
              </a:rPr>
              <a:t>Obviously the well-behaved structure here is the binary search tree because everything becomes O(log n). </a:t>
            </a:r>
          </a:p>
          <a:p>
            <a:pPr marL="285750" indent="-285750">
              <a:buFont typeface="Arial" panose="020B0604020202020204" pitchFamily="34" charset="0"/>
              <a:buChar char="•"/>
            </a:pPr>
            <a:r>
              <a:rPr lang="en-US" dirty="0">
                <a:solidFill>
                  <a:srgbClr val="000000"/>
                </a:solidFill>
                <a:latin typeface="Times" pitchFamily="2" charset="0"/>
              </a:rPr>
              <a:t>That's why the Java class libraries include tree implementations of sets and maps. </a:t>
            </a:r>
          </a:p>
          <a:p>
            <a:pPr marL="285750" indent="-285750">
              <a:buFont typeface="Arial" panose="020B0604020202020204" pitchFamily="34" charset="0"/>
              <a:buChar char="•"/>
            </a:pPr>
            <a:r>
              <a:rPr lang="en-US" dirty="0">
                <a:solidFill>
                  <a:srgbClr val="000000"/>
                </a:solidFill>
                <a:latin typeface="Times" pitchFamily="2" charset="0"/>
              </a:rPr>
              <a:t>But it turns out you can do even better. With a structure known as a hash table, you can get O(1) for each of these operations.</a:t>
            </a:r>
            <a:endParaRPr lang="en-US" dirty="0"/>
          </a:p>
        </p:txBody>
      </p:sp>
    </p:spTree>
    <p:extLst>
      <p:ext uri="{BB962C8B-B14F-4D97-AF65-F5344CB8AC3E}">
        <p14:creationId xmlns:p14="http://schemas.microsoft.com/office/powerpoint/2010/main" val="3400115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F3080-7775-4E52-86BF-42805BC7D53B}"/>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48E23D24-9D09-4ABE-B6AD-3F76B0A74186}"/>
              </a:ext>
            </a:extLst>
          </p:cNvPr>
          <p:cNvSpPr>
            <a:spLocks noGrp="1"/>
          </p:cNvSpPr>
          <p:nvPr>
            <p:ph idx="1"/>
          </p:nvPr>
        </p:nvSpPr>
        <p:spPr/>
        <p:txBody>
          <a:bodyPr/>
          <a:lstStyle/>
          <a:p>
            <a:pPr>
              <a:buClr>
                <a:srgbClr val="C00000"/>
              </a:buClr>
            </a:pPr>
            <a:r>
              <a:rPr lang="en-US" dirty="0"/>
              <a:t>Basic Concept</a:t>
            </a:r>
          </a:p>
          <a:p>
            <a:pPr>
              <a:buClr>
                <a:srgbClr val="C00000"/>
              </a:buClr>
            </a:pPr>
            <a:r>
              <a:rPr lang="en-US" dirty="0"/>
              <a:t>Hash Functions</a:t>
            </a:r>
          </a:p>
          <a:p>
            <a:pPr>
              <a:buClr>
                <a:srgbClr val="C00000"/>
              </a:buClr>
            </a:pPr>
            <a:r>
              <a:rPr lang="en-US" dirty="0"/>
              <a:t>Collision Resolution</a:t>
            </a:r>
          </a:p>
          <a:p>
            <a:pPr>
              <a:buClr>
                <a:srgbClr val="C00000"/>
              </a:buClr>
            </a:pPr>
            <a:r>
              <a:rPr lang="en-US" dirty="0"/>
              <a:t>Runtimes</a:t>
            </a:r>
          </a:p>
          <a:p>
            <a:pPr marL="0" indent="0">
              <a:buNone/>
            </a:pPr>
            <a:endParaRPr lang="en-US" dirty="0"/>
          </a:p>
        </p:txBody>
      </p:sp>
    </p:spTree>
    <p:extLst>
      <p:ext uri="{BB962C8B-B14F-4D97-AF65-F5344CB8AC3E}">
        <p14:creationId xmlns:p14="http://schemas.microsoft.com/office/powerpoint/2010/main" val="1464221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F0FF3-A96F-4231-9649-DDE72A509CA0}"/>
              </a:ext>
            </a:extLst>
          </p:cNvPr>
          <p:cNvSpPr>
            <a:spLocks noGrp="1"/>
          </p:cNvSpPr>
          <p:nvPr>
            <p:ph type="title"/>
          </p:nvPr>
        </p:nvSpPr>
        <p:spPr/>
        <p:txBody>
          <a:bodyPr/>
          <a:lstStyle/>
          <a:p>
            <a:r>
              <a:rPr lang="en-IN" dirty="0"/>
              <a:t>Why Hashing?</a:t>
            </a:r>
          </a:p>
        </p:txBody>
      </p:sp>
      <p:sp>
        <p:nvSpPr>
          <p:cNvPr id="3" name="Content Placeholder 2">
            <a:extLst>
              <a:ext uri="{FF2B5EF4-FFF2-40B4-BE49-F238E27FC236}">
                <a16:creationId xmlns:a16="http://schemas.microsoft.com/office/drawing/2014/main" id="{B1D44701-B397-4B2C-9EC5-E81F66EEF3D0}"/>
              </a:ext>
            </a:extLst>
          </p:cNvPr>
          <p:cNvSpPr>
            <a:spLocks noGrp="1"/>
          </p:cNvSpPr>
          <p:nvPr>
            <p:ph sz="quarter" idx="13"/>
          </p:nvPr>
        </p:nvSpPr>
        <p:spPr>
          <a:xfrm>
            <a:off x="1981201" y="1552576"/>
            <a:ext cx="8436077" cy="394211"/>
          </a:xfrm>
        </p:spPr>
        <p:txBody>
          <a:bodyPr vert="horz" lIns="91440" tIns="0" rIns="91440" bIns="45720" rtlCol="0">
            <a:normAutofit lnSpcReduction="10000"/>
          </a:bodyPr>
          <a:lstStyle/>
          <a:p>
            <a:pPr marL="432" indent="0">
              <a:buNone/>
            </a:pPr>
            <a:r>
              <a:rPr lang="en-US" altLang="en-US" dirty="0"/>
              <a:t>The preceding chapters introduced search trees. An element</a:t>
            </a:r>
            <a:endParaRPr lang="en-IN" dirty="0"/>
          </a:p>
        </p:txBody>
      </p:sp>
      <p:sp>
        <p:nvSpPr>
          <p:cNvPr id="4" name="Content Placeholder 3">
            <a:extLst>
              <a:ext uri="{FF2B5EF4-FFF2-40B4-BE49-F238E27FC236}">
                <a16:creationId xmlns:a16="http://schemas.microsoft.com/office/drawing/2014/main" id="{BBE0D50A-82B5-40FE-B4C2-6B8417367863}"/>
              </a:ext>
            </a:extLst>
          </p:cNvPr>
          <p:cNvSpPr>
            <a:spLocks noGrp="1"/>
          </p:cNvSpPr>
          <p:nvPr>
            <p:ph sz="quarter" idx="14"/>
          </p:nvPr>
        </p:nvSpPr>
        <p:spPr>
          <a:xfrm>
            <a:off x="1981201" y="2017581"/>
            <a:ext cx="2300748" cy="408441"/>
          </a:xfrm>
        </p:spPr>
        <p:txBody>
          <a:bodyPr vert="horz" lIns="91440" tIns="0" rIns="91440" bIns="45720" rtlCol="0">
            <a:normAutofit lnSpcReduction="10000"/>
          </a:bodyPr>
          <a:lstStyle/>
          <a:p>
            <a:pPr marL="432" indent="0">
              <a:buNone/>
            </a:pPr>
            <a:r>
              <a:rPr lang="en-US" altLang="en-US" dirty="0"/>
              <a:t>can be found in</a:t>
            </a:r>
            <a:endParaRPr lang="en-IN" dirty="0"/>
          </a:p>
        </p:txBody>
      </p:sp>
      <p:graphicFrame>
        <p:nvGraphicFramePr>
          <p:cNvPr id="17" name="Object 16" descr="please provide alt-text">
            <a:extLst>
              <a:ext uri="{FF2B5EF4-FFF2-40B4-BE49-F238E27FC236}">
                <a16:creationId xmlns:a16="http://schemas.microsoft.com/office/drawing/2014/main" id="{23AE6AB5-A382-4BB5-849A-EA0B9BD629F9}"/>
              </a:ext>
            </a:extLst>
          </p:cNvPr>
          <p:cNvGraphicFramePr>
            <a:graphicFrameLocks noChangeAspect="1"/>
          </p:cNvGraphicFramePr>
          <p:nvPr/>
        </p:nvGraphicFramePr>
        <p:xfrm>
          <a:off x="4353130" y="2015626"/>
          <a:ext cx="1019810" cy="419100"/>
        </p:xfrm>
        <a:graphic>
          <a:graphicData uri="http://schemas.openxmlformats.org/presentationml/2006/ole">
            <mc:AlternateContent xmlns:mc="http://schemas.openxmlformats.org/markup-compatibility/2006">
              <mc:Choice xmlns:v="urn:schemas-microsoft-com:vml" Requires="v">
                <p:oleObj spid="_x0000_s2088" name="Equation" r:id="rId3" imgW="927000" imgH="380880" progId="Equation.DSMT4">
                  <p:embed/>
                </p:oleObj>
              </mc:Choice>
              <mc:Fallback>
                <p:oleObj name="Equation" r:id="rId3" imgW="927000" imgH="380880" progId="Equation.DSMT4">
                  <p:embed/>
                  <p:pic>
                    <p:nvPicPr>
                      <p:cNvPr id="17" name="Object 16" descr="please provide alt-text">
                        <a:extLst>
                          <a:ext uri="{FF2B5EF4-FFF2-40B4-BE49-F238E27FC236}">
                            <a16:creationId xmlns:a16="http://schemas.microsoft.com/office/drawing/2014/main" id="{23AE6AB5-A382-4BB5-849A-EA0B9BD629F9}"/>
                          </a:ext>
                        </a:extLst>
                      </p:cNvPr>
                      <p:cNvPicPr/>
                      <p:nvPr/>
                    </p:nvPicPr>
                    <p:blipFill>
                      <a:blip r:embed="rId4"/>
                      <a:stretch>
                        <a:fillRect/>
                      </a:stretch>
                    </p:blipFill>
                    <p:spPr>
                      <a:xfrm>
                        <a:off x="4353130" y="2015626"/>
                        <a:ext cx="1019810" cy="4191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CDE51AE9-AB2F-4E54-8B7D-A231FA1EFD87}"/>
              </a:ext>
            </a:extLst>
          </p:cNvPr>
          <p:cNvSpPr>
            <a:spLocks noGrp="1"/>
          </p:cNvSpPr>
          <p:nvPr>
            <p:ph sz="quarter" idx="15"/>
          </p:nvPr>
        </p:nvSpPr>
        <p:spPr>
          <a:xfrm>
            <a:off x="5391827" y="2016872"/>
            <a:ext cx="5025451" cy="409155"/>
          </a:xfrm>
        </p:spPr>
        <p:txBody>
          <a:bodyPr vert="horz" lIns="91440" tIns="0" rIns="91440" bIns="45720" rtlCol="0">
            <a:normAutofit lnSpcReduction="10000"/>
          </a:bodyPr>
          <a:lstStyle/>
          <a:p>
            <a:pPr marL="432" indent="0">
              <a:buNone/>
            </a:pPr>
            <a:r>
              <a:rPr lang="en-US" altLang="en-US" dirty="0"/>
              <a:t>time in a well-balanced search tree.</a:t>
            </a:r>
            <a:endParaRPr lang="en-US" dirty="0"/>
          </a:p>
        </p:txBody>
      </p:sp>
      <p:sp>
        <p:nvSpPr>
          <p:cNvPr id="6" name="Content Placeholder 5">
            <a:extLst>
              <a:ext uri="{FF2B5EF4-FFF2-40B4-BE49-F238E27FC236}">
                <a16:creationId xmlns:a16="http://schemas.microsoft.com/office/drawing/2014/main" id="{BD331E6E-3F8F-44F0-BEFA-6934FE8AFD5A}"/>
              </a:ext>
            </a:extLst>
          </p:cNvPr>
          <p:cNvSpPr>
            <a:spLocks noGrp="1"/>
          </p:cNvSpPr>
          <p:nvPr>
            <p:ph sz="quarter" idx="16"/>
          </p:nvPr>
        </p:nvSpPr>
        <p:spPr>
          <a:xfrm>
            <a:off x="1981201" y="2514872"/>
            <a:ext cx="8314841" cy="1155706"/>
          </a:xfrm>
        </p:spPr>
        <p:txBody>
          <a:bodyPr vert="horz" lIns="91440" tIns="0" rIns="91440" bIns="45720" rtlCol="0">
            <a:normAutofit/>
          </a:bodyPr>
          <a:lstStyle/>
          <a:p>
            <a:pPr marL="432" indent="0">
              <a:buNone/>
            </a:pPr>
            <a:r>
              <a:rPr lang="en-US" altLang="en-US" dirty="0"/>
              <a:t>Is there a more efficient way to search for an element in a container? This chapter introduces a technique called </a:t>
            </a:r>
            <a:r>
              <a:rPr lang="en-US" altLang="en-US" b="1" dirty="0"/>
              <a:t>hashing</a:t>
            </a:r>
            <a:r>
              <a:rPr lang="en-US" altLang="en-US" dirty="0"/>
              <a:t>. You can use hashing to implement a map or a set</a:t>
            </a:r>
            <a:endParaRPr lang="en-IN" dirty="0"/>
          </a:p>
        </p:txBody>
      </p:sp>
      <p:sp>
        <p:nvSpPr>
          <p:cNvPr id="7" name="Content Placeholder 6">
            <a:extLst>
              <a:ext uri="{FF2B5EF4-FFF2-40B4-BE49-F238E27FC236}">
                <a16:creationId xmlns:a16="http://schemas.microsoft.com/office/drawing/2014/main" id="{DE4A7BD5-166C-428B-A3CF-F597BF75AD0A}"/>
              </a:ext>
            </a:extLst>
          </p:cNvPr>
          <p:cNvSpPr>
            <a:spLocks noGrp="1"/>
          </p:cNvSpPr>
          <p:nvPr>
            <p:ph sz="quarter" idx="17"/>
          </p:nvPr>
        </p:nvSpPr>
        <p:spPr>
          <a:xfrm>
            <a:off x="1981200" y="3743505"/>
            <a:ext cx="5881607" cy="410956"/>
          </a:xfrm>
        </p:spPr>
        <p:txBody>
          <a:bodyPr vert="horz" lIns="91440" tIns="0" rIns="91440" bIns="45720" rtlCol="0">
            <a:normAutofit lnSpcReduction="10000"/>
          </a:bodyPr>
          <a:lstStyle/>
          <a:p>
            <a:pPr marL="432" indent="0">
              <a:buNone/>
            </a:pPr>
            <a:r>
              <a:rPr lang="en-US" altLang="en-US" dirty="0"/>
              <a:t>to search, insert, and delete an element in</a:t>
            </a:r>
            <a:endParaRPr lang="en-IN" dirty="0"/>
          </a:p>
        </p:txBody>
      </p:sp>
      <p:graphicFrame>
        <p:nvGraphicFramePr>
          <p:cNvPr id="18" name="Object 17" descr="O of 1 time.">
            <a:extLst>
              <a:ext uri="{FF2B5EF4-FFF2-40B4-BE49-F238E27FC236}">
                <a16:creationId xmlns:a16="http://schemas.microsoft.com/office/drawing/2014/main" id="{52AF6A14-D5B2-4BC6-BE3F-78D27F9FC4D8}"/>
              </a:ext>
            </a:extLst>
          </p:cNvPr>
          <p:cNvGraphicFramePr>
            <a:graphicFrameLocks noChangeAspect="1"/>
          </p:cNvGraphicFramePr>
          <p:nvPr/>
        </p:nvGraphicFramePr>
        <p:xfrm>
          <a:off x="7923728" y="3744816"/>
          <a:ext cx="1313180" cy="419100"/>
        </p:xfrm>
        <a:graphic>
          <a:graphicData uri="http://schemas.openxmlformats.org/presentationml/2006/ole">
            <mc:AlternateContent xmlns:mc="http://schemas.openxmlformats.org/markup-compatibility/2006">
              <mc:Choice xmlns:v="urn:schemas-microsoft-com:vml" Requires="v">
                <p:oleObj spid="_x0000_s2089" name="Equation" r:id="rId5" imgW="1193760" imgH="380880" progId="Equation.DSMT4">
                  <p:embed/>
                </p:oleObj>
              </mc:Choice>
              <mc:Fallback>
                <p:oleObj name="Equation" r:id="rId5" imgW="1193760" imgH="380880" progId="Equation.DSMT4">
                  <p:embed/>
                  <p:pic>
                    <p:nvPicPr>
                      <p:cNvPr id="18" name="Object 17" descr="O of 1 time.">
                        <a:extLst>
                          <a:ext uri="{FF2B5EF4-FFF2-40B4-BE49-F238E27FC236}">
                            <a16:creationId xmlns:a16="http://schemas.microsoft.com/office/drawing/2014/main" id="{52AF6A14-D5B2-4BC6-BE3F-78D27F9FC4D8}"/>
                          </a:ext>
                        </a:extLst>
                      </p:cNvPr>
                      <p:cNvPicPr/>
                      <p:nvPr/>
                    </p:nvPicPr>
                    <p:blipFill>
                      <a:blip r:embed="rId6"/>
                      <a:stretch>
                        <a:fillRect/>
                      </a:stretch>
                    </p:blipFill>
                    <p:spPr>
                      <a:xfrm>
                        <a:off x="7923728" y="3744816"/>
                        <a:ext cx="1313180" cy="419100"/>
                      </a:xfrm>
                      <a:prstGeom prst="rect">
                        <a:avLst/>
                      </a:prstGeom>
                    </p:spPr>
                  </p:pic>
                </p:oleObj>
              </mc:Fallback>
            </mc:AlternateContent>
          </a:graphicData>
        </a:graphic>
      </p:graphicFrame>
    </p:spTree>
    <p:extLst>
      <p:ext uri="{BB962C8B-B14F-4D97-AF65-F5344CB8AC3E}">
        <p14:creationId xmlns:p14="http://schemas.microsoft.com/office/powerpoint/2010/main" val="743040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15905-0221-4E1C-861A-5DFB89A0D179}"/>
              </a:ext>
            </a:extLst>
          </p:cNvPr>
          <p:cNvSpPr>
            <a:spLocks noGrp="1"/>
          </p:cNvSpPr>
          <p:nvPr>
            <p:ph type="title"/>
          </p:nvPr>
        </p:nvSpPr>
        <p:spPr/>
        <p:txBody>
          <a:bodyPr/>
          <a:lstStyle/>
          <a:p>
            <a:pPr algn="ctr"/>
            <a:r>
              <a:rPr lang="en-US" dirty="0"/>
              <a:t>Introduction</a:t>
            </a:r>
          </a:p>
        </p:txBody>
      </p:sp>
      <p:sp>
        <p:nvSpPr>
          <p:cNvPr id="3" name="Content Placeholder 2">
            <a:extLst>
              <a:ext uri="{FF2B5EF4-FFF2-40B4-BE49-F238E27FC236}">
                <a16:creationId xmlns:a16="http://schemas.microsoft.com/office/drawing/2014/main" id="{4DCD4E12-1F0A-46B0-8A60-05441709539A}"/>
              </a:ext>
            </a:extLst>
          </p:cNvPr>
          <p:cNvSpPr>
            <a:spLocks noGrp="1"/>
          </p:cNvSpPr>
          <p:nvPr>
            <p:ph idx="1"/>
          </p:nvPr>
        </p:nvSpPr>
        <p:spPr/>
        <p:txBody>
          <a:bodyPr/>
          <a:lstStyle/>
          <a:p>
            <a:r>
              <a:rPr lang="en-US" dirty="0">
                <a:latin typeface="Arial"/>
                <a:cs typeface="Arial"/>
              </a:rPr>
              <a:t>Suppose</a:t>
            </a:r>
            <a:r>
              <a:rPr lang="en-US" spc="-5" dirty="0">
                <a:latin typeface="Arial"/>
                <a:cs typeface="Arial"/>
              </a:rPr>
              <a:t> </a:t>
            </a:r>
            <a:r>
              <a:rPr lang="en-US" dirty="0">
                <a:latin typeface="Arial"/>
                <a:cs typeface="Arial"/>
              </a:rPr>
              <a:t>there is</a:t>
            </a:r>
            <a:r>
              <a:rPr lang="en-US" spc="-5" dirty="0">
                <a:latin typeface="Arial"/>
                <a:cs typeface="Arial"/>
              </a:rPr>
              <a:t> </a:t>
            </a:r>
            <a:r>
              <a:rPr lang="en-US" dirty="0">
                <a:latin typeface="Arial"/>
                <a:cs typeface="Arial"/>
              </a:rPr>
              <a:t>a</a:t>
            </a:r>
            <a:r>
              <a:rPr lang="en-US" spc="-5" dirty="0">
                <a:latin typeface="Arial"/>
                <a:cs typeface="Arial"/>
              </a:rPr>
              <a:t> </a:t>
            </a:r>
            <a:r>
              <a:rPr lang="en-US" dirty="0">
                <a:latin typeface="Arial"/>
                <a:cs typeface="Arial"/>
              </a:rPr>
              <a:t>set</a:t>
            </a:r>
            <a:r>
              <a:rPr lang="en-US" spc="-5" dirty="0">
                <a:latin typeface="Arial"/>
                <a:cs typeface="Arial"/>
              </a:rPr>
              <a:t> </a:t>
            </a:r>
            <a:r>
              <a:rPr lang="en-US" dirty="0">
                <a:latin typeface="Arial"/>
                <a:cs typeface="Arial"/>
              </a:rPr>
              <a:t>of</a:t>
            </a:r>
            <a:r>
              <a:rPr lang="en-US" spc="-5" dirty="0">
                <a:latin typeface="Arial"/>
                <a:cs typeface="Arial"/>
              </a:rPr>
              <a:t> </a:t>
            </a:r>
            <a:r>
              <a:rPr lang="en-US" dirty="0">
                <a:latin typeface="Arial"/>
                <a:cs typeface="Arial"/>
              </a:rPr>
              <a:t>data</a:t>
            </a:r>
            <a:r>
              <a:rPr lang="en-US" spc="-5" dirty="0">
                <a:latin typeface="Arial"/>
                <a:cs typeface="Arial"/>
              </a:rPr>
              <a:t> </a:t>
            </a:r>
            <a:r>
              <a:rPr lang="en-US" b="1" spc="-50" dirty="0">
                <a:latin typeface="Arial"/>
                <a:cs typeface="Arial"/>
              </a:rPr>
              <a:t>M</a:t>
            </a:r>
          </a:p>
          <a:p>
            <a:r>
              <a:rPr lang="en-US" dirty="0">
                <a:latin typeface="Arial"/>
                <a:cs typeface="Arial"/>
              </a:rPr>
              <a:t>There</a:t>
            </a:r>
            <a:r>
              <a:rPr lang="en-US" spc="-5" dirty="0">
                <a:latin typeface="Arial"/>
                <a:cs typeface="Arial"/>
              </a:rPr>
              <a:t> </a:t>
            </a:r>
            <a:r>
              <a:rPr lang="en-US" dirty="0">
                <a:latin typeface="Arial"/>
                <a:cs typeface="Arial"/>
              </a:rPr>
              <a:t>is</a:t>
            </a:r>
            <a:r>
              <a:rPr lang="en-US" spc="-5" dirty="0">
                <a:latin typeface="Arial"/>
                <a:cs typeface="Arial"/>
              </a:rPr>
              <a:t> </a:t>
            </a:r>
            <a:r>
              <a:rPr lang="en-US" dirty="0">
                <a:latin typeface="Arial"/>
                <a:cs typeface="Arial"/>
              </a:rPr>
              <a:t>a</a:t>
            </a:r>
            <a:r>
              <a:rPr lang="en-US" spc="-5" dirty="0">
                <a:latin typeface="Arial"/>
                <a:cs typeface="Arial"/>
              </a:rPr>
              <a:t> </a:t>
            </a:r>
            <a:r>
              <a:rPr lang="en-US" dirty="0">
                <a:latin typeface="Arial"/>
                <a:cs typeface="Arial"/>
              </a:rPr>
              <a:t>set</a:t>
            </a:r>
            <a:r>
              <a:rPr lang="en-US" spc="-5" dirty="0">
                <a:latin typeface="Arial"/>
                <a:cs typeface="Arial"/>
              </a:rPr>
              <a:t> </a:t>
            </a:r>
            <a:r>
              <a:rPr lang="en-US" dirty="0">
                <a:latin typeface="Arial"/>
                <a:cs typeface="Arial"/>
              </a:rPr>
              <a:t>of</a:t>
            </a:r>
            <a:r>
              <a:rPr lang="en-US" spc="-5" dirty="0">
                <a:latin typeface="Arial"/>
                <a:cs typeface="Arial"/>
              </a:rPr>
              <a:t> </a:t>
            </a:r>
            <a:r>
              <a:rPr lang="en-US" dirty="0">
                <a:latin typeface="Arial"/>
                <a:cs typeface="Arial"/>
              </a:rPr>
              <a:t>data</a:t>
            </a:r>
            <a:r>
              <a:rPr lang="en-US" spc="-5" dirty="0">
                <a:latin typeface="Arial"/>
                <a:cs typeface="Arial"/>
              </a:rPr>
              <a:t> </a:t>
            </a:r>
            <a:r>
              <a:rPr lang="en-US" dirty="0">
                <a:latin typeface="Arial"/>
                <a:cs typeface="Arial"/>
              </a:rPr>
              <a:t>that</a:t>
            </a:r>
            <a:r>
              <a:rPr lang="en-US" spc="-5" dirty="0">
                <a:latin typeface="Arial"/>
                <a:cs typeface="Arial"/>
              </a:rPr>
              <a:t> </a:t>
            </a:r>
            <a:r>
              <a:rPr lang="en-US" dirty="0">
                <a:latin typeface="Arial"/>
                <a:cs typeface="Arial"/>
              </a:rPr>
              <a:t>we </a:t>
            </a:r>
            <a:r>
              <a:rPr lang="en-US" spc="-10" dirty="0">
                <a:latin typeface="Arial"/>
                <a:cs typeface="Arial"/>
              </a:rPr>
              <a:t>actually </a:t>
            </a:r>
            <a:r>
              <a:rPr lang="en-US" dirty="0">
                <a:latin typeface="Arial"/>
                <a:cs typeface="Arial"/>
              </a:rPr>
              <a:t>care</a:t>
            </a:r>
            <a:r>
              <a:rPr lang="en-US" spc="-5" dirty="0">
                <a:latin typeface="Arial"/>
                <a:cs typeface="Arial"/>
              </a:rPr>
              <a:t> </a:t>
            </a:r>
            <a:r>
              <a:rPr lang="en-US" dirty="0">
                <a:latin typeface="Arial"/>
                <a:cs typeface="Arial"/>
              </a:rPr>
              <a:t>about</a:t>
            </a:r>
            <a:r>
              <a:rPr lang="en-US" spc="-5" dirty="0">
                <a:latin typeface="Arial"/>
                <a:cs typeface="Arial"/>
              </a:rPr>
              <a:t> </a:t>
            </a:r>
            <a:r>
              <a:rPr lang="en-US" dirty="0">
                <a:latin typeface="Arial"/>
                <a:cs typeface="Arial"/>
              </a:rPr>
              <a:t>storing</a:t>
            </a:r>
            <a:r>
              <a:rPr lang="en-US" spc="-5" dirty="0">
                <a:latin typeface="Arial"/>
                <a:cs typeface="Arial"/>
              </a:rPr>
              <a:t> </a:t>
            </a:r>
            <a:r>
              <a:rPr lang="en-US" b="1" dirty="0">
                <a:latin typeface="Arial"/>
                <a:cs typeface="Arial"/>
              </a:rPr>
              <a:t>D</a:t>
            </a:r>
            <a:r>
              <a:rPr lang="en-US" dirty="0">
                <a:latin typeface="Arial"/>
                <a:cs typeface="Arial"/>
              </a:rPr>
              <a:t>,</a:t>
            </a:r>
            <a:r>
              <a:rPr lang="en-US" spc="-5" dirty="0">
                <a:latin typeface="Arial"/>
                <a:cs typeface="Arial"/>
              </a:rPr>
              <a:t> </a:t>
            </a:r>
            <a:r>
              <a:rPr lang="en-US" dirty="0">
                <a:latin typeface="Arial"/>
                <a:cs typeface="Arial"/>
              </a:rPr>
              <a:t>where</a:t>
            </a:r>
            <a:r>
              <a:rPr lang="en-US" spc="-5" dirty="0">
                <a:latin typeface="Arial"/>
                <a:cs typeface="Arial"/>
              </a:rPr>
              <a:t> </a:t>
            </a:r>
            <a:r>
              <a:rPr lang="en-US" b="1" dirty="0">
                <a:latin typeface="Arial"/>
                <a:cs typeface="Arial"/>
              </a:rPr>
              <a:t>D</a:t>
            </a:r>
            <a:r>
              <a:rPr lang="en-US" b="1" spc="-5" dirty="0">
                <a:latin typeface="Arial"/>
                <a:cs typeface="Arial"/>
              </a:rPr>
              <a:t> </a:t>
            </a:r>
            <a:r>
              <a:rPr lang="en-US" dirty="0">
                <a:latin typeface="Arial"/>
                <a:cs typeface="Arial"/>
              </a:rPr>
              <a:t>&lt;&lt; </a:t>
            </a:r>
            <a:r>
              <a:rPr lang="en-US" b="1" spc="-50" dirty="0">
                <a:latin typeface="Arial"/>
                <a:cs typeface="Arial"/>
              </a:rPr>
              <a:t>M</a:t>
            </a:r>
          </a:p>
          <a:p>
            <a:r>
              <a:rPr lang="en-US" dirty="0">
                <a:latin typeface="Arial"/>
                <a:cs typeface="Arial"/>
              </a:rPr>
              <a:t>What is our ideal data structure?</a:t>
            </a:r>
          </a:p>
          <a:p>
            <a:r>
              <a:rPr lang="en-US" dirty="0">
                <a:latin typeface="Arial"/>
                <a:cs typeface="Arial"/>
              </a:rPr>
              <a:t>The</a:t>
            </a:r>
            <a:r>
              <a:rPr lang="en-US" spc="-5" dirty="0">
                <a:latin typeface="Arial"/>
                <a:cs typeface="Arial"/>
              </a:rPr>
              <a:t> </a:t>
            </a:r>
            <a:r>
              <a:rPr lang="en-US" dirty="0">
                <a:latin typeface="Arial"/>
                <a:cs typeface="Arial"/>
              </a:rPr>
              <a:t>operation should</a:t>
            </a:r>
            <a:r>
              <a:rPr lang="en-US" spc="-5" dirty="0">
                <a:latin typeface="Arial"/>
                <a:cs typeface="Arial"/>
              </a:rPr>
              <a:t> </a:t>
            </a:r>
            <a:r>
              <a:rPr lang="en-US" dirty="0">
                <a:latin typeface="Arial"/>
                <a:cs typeface="Arial"/>
              </a:rPr>
              <a:t>run in</a:t>
            </a:r>
            <a:r>
              <a:rPr lang="en-US" spc="-5" dirty="0">
                <a:latin typeface="Arial"/>
                <a:cs typeface="Arial"/>
              </a:rPr>
              <a:t> </a:t>
            </a:r>
            <a:r>
              <a:rPr lang="en-US" dirty="0">
                <a:latin typeface="Arial"/>
                <a:cs typeface="Arial"/>
              </a:rPr>
              <a:t>O(1)</a:t>
            </a:r>
            <a:r>
              <a:rPr lang="en-US" spc="-5" dirty="0">
                <a:latin typeface="Arial"/>
                <a:cs typeface="Arial"/>
              </a:rPr>
              <a:t> </a:t>
            </a:r>
            <a:r>
              <a:rPr lang="en-US" spc="-20" dirty="0">
                <a:latin typeface="Arial"/>
                <a:cs typeface="Arial"/>
              </a:rPr>
              <a:t>time</a:t>
            </a:r>
          </a:p>
          <a:p>
            <a:r>
              <a:rPr lang="en-US" dirty="0">
                <a:latin typeface="Arial"/>
                <a:cs typeface="Arial"/>
              </a:rPr>
              <a:t>What are some difficulties with this?</a:t>
            </a:r>
          </a:p>
          <a:p>
            <a:endParaRPr lang="en-US" dirty="0">
              <a:latin typeface="Arial"/>
              <a:cs typeface="Arial"/>
            </a:endParaRPr>
          </a:p>
          <a:p>
            <a:endParaRPr lang="en-US" dirty="0">
              <a:latin typeface="Arial"/>
              <a:cs typeface="Arial"/>
            </a:endParaRPr>
          </a:p>
          <a:p>
            <a:endParaRPr lang="en-US" dirty="0">
              <a:latin typeface="Arial"/>
              <a:cs typeface="Arial"/>
            </a:endParaRPr>
          </a:p>
          <a:p>
            <a:endParaRPr lang="en-US" b="1" spc="-50" dirty="0">
              <a:latin typeface="Arial"/>
              <a:cs typeface="Arial"/>
            </a:endParaRPr>
          </a:p>
          <a:p>
            <a:endParaRPr lang="en-US" b="1" spc="-50" dirty="0">
              <a:latin typeface="Arial"/>
              <a:cs typeface="Arial"/>
            </a:endParaRPr>
          </a:p>
          <a:p>
            <a:endParaRPr lang="en-US" dirty="0">
              <a:latin typeface="Arial"/>
              <a:cs typeface="Arial"/>
            </a:endParaRPr>
          </a:p>
          <a:p>
            <a:endParaRPr lang="en-US" dirty="0"/>
          </a:p>
        </p:txBody>
      </p:sp>
    </p:spTree>
    <p:extLst>
      <p:ext uri="{BB962C8B-B14F-4D97-AF65-F5344CB8AC3E}">
        <p14:creationId xmlns:p14="http://schemas.microsoft.com/office/powerpoint/2010/main" val="1910309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A0CBC-338B-4B94-95D7-55896CE1F768}"/>
              </a:ext>
            </a:extLst>
          </p:cNvPr>
          <p:cNvSpPr>
            <a:spLocks noGrp="1"/>
          </p:cNvSpPr>
          <p:nvPr>
            <p:ph type="title"/>
          </p:nvPr>
        </p:nvSpPr>
        <p:spPr/>
        <p:txBody>
          <a:bodyPr/>
          <a:lstStyle/>
          <a:p>
            <a:pPr algn="ctr"/>
            <a:r>
              <a:rPr lang="en-US" dirty="0"/>
              <a:t>Hashing</a:t>
            </a:r>
          </a:p>
        </p:txBody>
      </p:sp>
      <p:sp>
        <p:nvSpPr>
          <p:cNvPr id="3" name="Content Placeholder 2">
            <a:extLst>
              <a:ext uri="{FF2B5EF4-FFF2-40B4-BE49-F238E27FC236}">
                <a16:creationId xmlns:a16="http://schemas.microsoft.com/office/drawing/2014/main" id="{9D6811D8-2667-417D-AFED-8A96B8D05131}"/>
              </a:ext>
            </a:extLst>
          </p:cNvPr>
          <p:cNvSpPr>
            <a:spLocks noGrp="1"/>
          </p:cNvSpPr>
          <p:nvPr>
            <p:ph idx="1"/>
          </p:nvPr>
        </p:nvSpPr>
        <p:spPr/>
        <p:txBody>
          <a:bodyPr/>
          <a:lstStyle/>
          <a:p>
            <a:pPr marL="354965" indent="-342265">
              <a:lnSpc>
                <a:spcPct val="100000"/>
              </a:lnSpc>
              <a:spcBef>
                <a:spcPts val="1350"/>
              </a:spcBef>
              <a:buFont typeface="Arial"/>
              <a:buChar char="•"/>
              <a:tabLst>
                <a:tab pos="354965" algn="l"/>
                <a:tab pos="355600" algn="l"/>
              </a:tabLst>
            </a:pPr>
            <a:r>
              <a:rPr lang="en-US" sz="2800" b="1" dirty="0">
                <a:latin typeface="Arial"/>
                <a:cs typeface="Arial"/>
              </a:rPr>
              <a:t>Memory:</a:t>
            </a:r>
            <a:r>
              <a:rPr lang="en-US" sz="2800" b="1" spc="-20" dirty="0">
                <a:latin typeface="Arial"/>
                <a:cs typeface="Arial"/>
              </a:rPr>
              <a:t> </a:t>
            </a:r>
            <a:r>
              <a:rPr lang="en-US" sz="2800" b="1" dirty="0">
                <a:latin typeface="Arial"/>
                <a:cs typeface="Arial"/>
              </a:rPr>
              <a:t>The</a:t>
            </a:r>
            <a:r>
              <a:rPr lang="en-US" sz="2800" b="1" spc="-5" dirty="0">
                <a:latin typeface="Arial"/>
                <a:cs typeface="Arial"/>
              </a:rPr>
              <a:t> </a:t>
            </a:r>
            <a:r>
              <a:rPr lang="en-US" sz="2800" b="1" dirty="0">
                <a:latin typeface="Arial"/>
                <a:cs typeface="Arial"/>
              </a:rPr>
              <a:t>Hash</a:t>
            </a:r>
            <a:r>
              <a:rPr lang="en-US" sz="2800" b="1" spc="-10" dirty="0">
                <a:latin typeface="Arial"/>
                <a:cs typeface="Arial"/>
              </a:rPr>
              <a:t> Table</a:t>
            </a:r>
            <a:endParaRPr lang="en-US" sz="2800" dirty="0">
              <a:latin typeface="Arial"/>
              <a:cs typeface="Arial"/>
            </a:endParaRPr>
          </a:p>
          <a:p>
            <a:pPr marL="812165" lvl="1" indent="-342265">
              <a:lnSpc>
                <a:spcPct val="100000"/>
              </a:lnSpc>
              <a:spcBef>
                <a:spcPts val="1165"/>
              </a:spcBef>
              <a:buClr>
                <a:srgbClr val="D1282E"/>
              </a:buClr>
              <a:buChar char="•"/>
              <a:tabLst>
                <a:tab pos="812165" algn="l"/>
                <a:tab pos="812800" algn="l"/>
              </a:tabLst>
            </a:pPr>
            <a:r>
              <a:rPr lang="en-US" sz="2600" dirty="0">
                <a:latin typeface="Arial"/>
                <a:cs typeface="Arial"/>
              </a:rPr>
              <a:t>Consider</a:t>
            </a:r>
            <a:r>
              <a:rPr lang="en-US" sz="2600" spc="-5" dirty="0">
                <a:latin typeface="Arial"/>
                <a:cs typeface="Arial"/>
              </a:rPr>
              <a:t> </a:t>
            </a:r>
            <a:r>
              <a:rPr lang="en-US" sz="2600" dirty="0">
                <a:latin typeface="Arial"/>
                <a:cs typeface="Arial"/>
              </a:rPr>
              <a:t>an array</a:t>
            </a:r>
            <a:r>
              <a:rPr lang="en-US" sz="2600" spc="-5" dirty="0">
                <a:latin typeface="Arial"/>
                <a:cs typeface="Arial"/>
              </a:rPr>
              <a:t> </a:t>
            </a:r>
            <a:r>
              <a:rPr lang="en-US" sz="2600" dirty="0">
                <a:latin typeface="Arial"/>
                <a:cs typeface="Arial"/>
              </a:rPr>
              <a:t>of</a:t>
            </a:r>
            <a:r>
              <a:rPr lang="en-US" sz="2600" spc="-5" dirty="0">
                <a:latin typeface="Arial"/>
                <a:cs typeface="Arial"/>
              </a:rPr>
              <a:t> </a:t>
            </a:r>
            <a:r>
              <a:rPr lang="en-US" sz="2600" dirty="0">
                <a:latin typeface="Arial"/>
                <a:cs typeface="Arial"/>
              </a:rPr>
              <a:t>size</a:t>
            </a:r>
            <a:r>
              <a:rPr lang="en-US" sz="2600" spc="-5" dirty="0">
                <a:latin typeface="Arial"/>
                <a:cs typeface="Arial"/>
              </a:rPr>
              <a:t> </a:t>
            </a:r>
            <a:r>
              <a:rPr lang="en-US" sz="2600" b="1" dirty="0">
                <a:latin typeface="Arial"/>
                <a:cs typeface="Arial"/>
              </a:rPr>
              <a:t>c * </a:t>
            </a:r>
            <a:r>
              <a:rPr lang="en-US" sz="2600" b="1" spc="-50" dirty="0">
                <a:latin typeface="Arial"/>
                <a:cs typeface="Arial"/>
              </a:rPr>
              <a:t>D</a:t>
            </a:r>
            <a:endParaRPr lang="en-US" sz="2600" dirty="0">
              <a:latin typeface="Arial"/>
              <a:cs typeface="Arial"/>
            </a:endParaRPr>
          </a:p>
          <a:p>
            <a:pPr marL="812165" lvl="1" indent="-342265">
              <a:lnSpc>
                <a:spcPts val="3100"/>
              </a:lnSpc>
              <a:spcBef>
                <a:spcPts val="680"/>
              </a:spcBef>
              <a:buClr>
                <a:srgbClr val="D1282E"/>
              </a:buClr>
              <a:buChar char="•"/>
              <a:tabLst>
                <a:tab pos="812165" algn="l"/>
                <a:tab pos="812800" algn="l"/>
              </a:tabLst>
            </a:pPr>
            <a:r>
              <a:rPr lang="en-US" sz="2600" dirty="0">
                <a:latin typeface="Arial"/>
                <a:cs typeface="Arial"/>
              </a:rPr>
              <a:t>Each</a:t>
            </a:r>
            <a:r>
              <a:rPr lang="en-US" sz="2600" spc="-5" dirty="0">
                <a:latin typeface="Arial"/>
                <a:cs typeface="Arial"/>
              </a:rPr>
              <a:t> </a:t>
            </a:r>
            <a:r>
              <a:rPr lang="en-US" sz="2600" dirty="0">
                <a:latin typeface="Arial"/>
                <a:cs typeface="Arial"/>
              </a:rPr>
              <a:t>index</a:t>
            </a:r>
            <a:r>
              <a:rPr lang="en-US" sz="2600" spc="-5" dirty="0">
                <a:latin typeface="Arial"/>
                <a:cs typeface="Arial"/>
              </a:rPr>
              <a:t> </a:t>
            </a:r>
            <a:r>
              <a:rPr lang="en-US" sz="2600" dirty="0">
                <a:latin typeface="Arial"/>
                <a:cs typeface="Arial"/>
              </a:rPr>
              <a:t>in the</a:t>
            </a:r>
            <a:r>
              <a:rPr lang="en-US" sz="2600" spc="-5" dirty="0">
                <a:latin typeface="Arial"/>
                <a:cs typeface="Arial"/>
              </a:rPr>
              <a:t> </a:t>
            </a:r>
            <a:r>
              <a:rPr lang="en-US" sz="2600" dirty="0">
                <a:latin typeface="Arial"/>
                <a:cs typeface="Arial"/>
              </a:rPr>
              <a:t>array</a:t>
            </a:r>
            <a:r>
              <a:rPr lang="en-US" sz="2600" spc="-5" dirty="0">
                <a:latin typeface="Arial"/>
                <a:cs typeface="Arial"/>
              </a:rPr>
              <a:t> </a:t>
            </a:r>
            <a:r>
              <a:rPr lang="en-US" sz="2600" dirty="0">
                <a:latin typeface="Arial"/>
                <a:cs typeface="Arial"/>
              </a:rPr>
              <a:t>corresponds</a:t>
            </a:r>
            <a:r>
              <a:rPr lang="en-US" sz="2600" spc="-5" dirty="0">
                <a:latin typeface="Arial"/>
                <a:cs typeface="Arial"/>
              </a:rPr>
              <a:t> </a:t>
            </a:r>
            <a:r>
              <a:rPr lang="en-US" sz="2600" dirty="0">
                <a:latin typeface="Arial"/>
                <a:cs typeface="Arial"/>
              </a:rPr>
              <a:t>to</a:t>
            </a:r>
            <a:r>
              <a:rPr lang="en-US" sz="2600" spc="-5" dirty="0">
                <a:latin typeface="Arial"/>
                <a:cs typeface="Arial"/>
              </a:rPr>
              <a:t> </a:t>
            </a:r>
            <a:r>
              <a:rPr lang="en-US" sz="2600" i="1" spc="-20" dirty="0">
                <a:latin typeface="Arial"/>
                <a:cs typeface="Arial"/>
              </a:rPr>
              <a:t>some e</a:t>
            </a:r>
            <a:r>
              <a:rPr lang="en-US" sz="2600" dirty="0">
                <a:latin typeface="Arial"/>
                <a:cs typeface="Arial"/>
              </a:rPr>
              <a:t>lement</a:t>
            </a:r>
            <a:r>
              <a:rPr lang="en-US" sz="2600" spc="-20" dirty="0">
                <a:latin typeface="Arial"/>
                <a:cs typeface="Arial"/>
              </a:rPr>
              <a:t> </a:t>
            </a:r>
            <a:r>
              <a:rPr lang="en-US" sz="2600" dirty="0">
                <a:latin typeface="Arial"/>
                <a:cs typeface="Arial"/>
              </a:rPr>
              <a:t>in</a:t>
            </a:r>
            <a:r>
              <a:rPr lang="en-US" sz="2600" spc="-5" dirty="0">
                <a:latin typeface="Arial"/>
                <a:cs typeface="Arial"/>
              </a:rPr>
              <a:t> </a:t>
            </a:r>
            <a:r>
              <a:rPr lang="en-US" sz="2600" b="1" dirty="0">
                <a:latin typeface="Arial"/>
                <a:cs typeface="Arial"/>
              </a:rPr>
              <a:t>M </a:t>
            </a:r>
            <a:r>
              <a:rPr lang="en-US" sz="2600" dirty="0">
                <a:latin typeface="Arial"/>
                <a:cs typeface="Arial"/>
              </a:rPr>
              <a:t>that</a:t>
            </a:r>
            <a:r>
              <a:rPr lang="en-US" sz="2600" spc="-10" dirty="0">
                <a:latin typeface="Arial"/>
                <a:cs typeface="Arial"/>
              </a:rPr>
              <a:t> </a:t>
            </a:r>
            <a:r>
              <a:rPr lang="en-US" sz="2600" dirty="0">
                <a:latin typeface="Arial"/>
                <a:cs typeface="Arial"/>
              </a:rPr>
              <a:t>we want</a:t>
            </a:r>
            <a:r>
              <a:rPr lang="en-US" sz="2600" spc="-5" dirty="0">
                <a:latin typeface="Arial"/>
                <a:cs typeface="Arial"/>
              </a:rPr>
              <a:t> </a:t>
            </a:r>
            <a:r>
              <a:rPr lang="en-US" sz="2600" dirty="0">
                <a:latin typeface="Arial"/>
                <a:cs typeface="Arial"/>
              </a:rPr>
              <a:t>to </a:t>
            </a:r>
            <a:r>
              <a:rPr lang="en-US" sz="2600" spc="-10" dirty="0">
                <a:latin typeface="Arial"/>
                <a:cs typeface="Arial"/>
              </a:rPr>
              <a:t>store.</a:t>
            </a:r>
            <a:endParaRPr lang="en-US" sz="2600" dirty="0">
              <a:latin typeface="Arial"/>
              <a:cs typeface="Arial"/>
            </a:endParaRPr>
          </a:p>
          <a:p>
            <a:pPr marL="812165" marR="316230" lvl="1" indent="-342265">
              <a:lnSpc>
                <a:spcPct val="101800"/>
              </a:lnSpc>
              <a:spcBef>
                <a:spcPts val="550"/>
              </a:spcBef>
              <a:buClr>
                <a:srgbClr val="D1282E"/>
              </a:buClr>
              <a:buChar char="•"/>
              <a:tabLst>
                <a:tab pos="812165" algn="l"/>
                <a:tab pos="812800" algn="l"/>
              </a:tabLst>
            </a:pPr>
            <a:r>
              <a:rPr lang="en-US" sz="2600" dirty="0">
                <a:latin typeface="Arial"/>
                <a:cs typeface="Arial"/>
              </a:rPr>
              <a:t>The</a:t>
            </a:r>
            <a:r>
              <a:rPr lang="en-US" sz="2600" spc="-15" dirty="0">
                <a:latin typeface="Arial"/>
                <a:cs typeface="Arial"/>
              </a:rPr>
              <a:t> </a:t>
            </a:r>
            <a:r>
              <a:rPr lang="en-US" sz="2600" dirty="0">
                <a:latin typeface="Arial"/>
                <a:cs typeface="Arial"/>
              </a:rPr>
              <a:t>data</a:t>
            </a:r>
            <a:r>
              <a:rPr lang="en-US" sz="2600" spc="-5" dirty="0">
                <a:latin typeface="Arial"/>
                <a:cs typeface="Arial"/>
              </a:rPr>
              <a:t> </a:t>
            </a:r>
            <a:r>
              <a:rPr lang="en-US" sz="2600" dirty="0">
                <a:latin typeface="Arial"/>
                <a:cs typeface="Arial"/>
              </a:rPr>
              <a:t>in </a:t>
            </a:r>
            <a:r>
              <a:rPr lang="en-US" sz="2600" b="1" dirty="0">
                <a:latin typeface="Arial"/>
                <a:cs typeface="Arial"/>
              </a:rPr>
              <a:t>D </a:t>
            </a:r>
            <a:r>
              <a:rPr lang="en-US" sz="2600" dirty="0">
                <a:latin typeface="Arial"/>
                <a:cs typeface="Arial"/>
              </a:rPr>
              <a:t>does</a:t>
            </a:r>
            <a:r>
              <a:rPr lang="en-US" sz="2600" spc="-10" dirty="0">
                <a:latin typeface="Arial"/>
                <a:cs typeface="Arial"/>
              </a:rPr>
              <a:t> </a:t>
            </a:r>
            <a:r>
              <a:rPr lang="en-US" sz="2600" dirty="0">
                <a:latin typeface="Arial"/>
                <a:cs typeface="Arial"/>
              </a:rPr>
              <a:t>not</a:t>
            </a:r>
            <a:r>
              <a:rPr lang="en-US" sz="2600" spc="-5" dirty="0">
                <a:latin typeface="Arial"/>
                <a:cs typeface="Arial"/>
              </a:rPr>
              <a:t> </a:t>
            </a:r>
            <a:r>
              <a:rPr lang="en-US" sz="2600" dirty="0">
                <a:latin typeface="Arial"/>
                <a:cs typeface="Arial"/>
              </a:rPr>
              <a:t>need</a:t>
            </a:r>
            <a:r>
              <a:rPr lang="en-US" sz="2600" spc="-5" dirty="0">
                <a:latin typeface="Arial"/>
                <a:cs typeface="Arial"/>
              </a:rPr>
              <a:t> </a:t>
            </a:r>
            <a:r>
              <a:rPr lang="en-US" sz="2600" dirty="0">
                <a:latin typeface="Arial"/>
                <a:cs typeface="Arial"/>
              </a:rPr>
              <a:t>any</a:t>
            </a:r>
            <a:r>
              <a:rPr lang="en-US" sz="2600" spc="-5" dirty="0">
                <a:latin typeface="Arial"/>
                <a:cs typeface="Arial"/>
              </a:rPr>
              <a:t> </a:t>
            </a:r>
            <a:r>
              <a:rPr lang="en-US" sz="2600" spc="-10" dirty="0">
                <a:latin typeface="Arial"/>
                <a:cs typeface="Arial"/>
              </a:rPr>
              <a:t>particular ordering</a:t>
            </a:r>
            <a:endParaRPr lang="en-US" dirty="0"/>
          </a:p>
        </p:txBody>
      </p:sp>
    </p:spTree>
    <p:extLst>
      <p:ext uri="{BB962C8B-B14F-4D97-AF65-F5344CB8AC3E}">
        <p14:creationId xmlns:p14="http://schemas.microsoft.com/office/powerpoint/2010/main" val="2882904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dirty="0"/>
              <a:t>THE</a:t>
            </a:r>
            <a:r>
              <a:rPr spc="-254" dirty="0"/>
              <a:t> </a:t>
            </a:r>
            <a:r>
              <a:rPr spc="-10" dirty="0"/>
              <a:t>HASH</a:t>
            </a:r>
            <a:r>
              <a:rPr spc="-254" dirty="0"/>
              <a:t> </a:t>
            </a:r>
            <a:r>
              <a:rPr spc="-105" dirty="0"/>
              <a:t>TABLE</a:t>
            </a:r>
          </a:p>
        </p:txBody>
      </p:sp>
      <p:sp>
        <p:nvSpPr>
          <p:cNvPr id="3" name="object 3"/>
          <p:cNvSpPr txBox="1"/>
          <p:nvPr/>
        </p:nvSpPr>
        <p:spPr>
          <a:xfrm>
            <a:off x="2059940" y="1785620"/>
            <a:ext cx="3884929" cy="452120"/>
          </a:xfrm>
          <a:prstGeom prst="rect">
            <a:avLst/>
          </a:prstGeom>
        </p:spPr>
        <p:txBody>
          <a:bodyPr vert="horz" wrap="square" lIns="0" tIns="12700" rIns="0" bIns="0" rtlCol="0">
            <a:spAutoFit/>
          </a:bodyPr>
          <a:lstStyle/>
          <a:p>
            <a:pPr marL="354965" indent="-342265">
              <a:spcBef>
                <a:spcPts val="100"/>
              </a:spcBef>
              <a:buFont typeface="Arial"/>
              <a:buChar char="•"/>
              <a:tabLst>
                <a:tab pos="354965" algn="l"/>
                <a:tab pos="355600" algn="l"/>
              </a:tabLst>
            </a:pPr>
            <a:r>
              <a:rPr sz="2800" b="1" dirty="0">
                <a:latin typeface="Arial"/>
                <a:cs typeface="Arial"/>
              </a:rPr>
              <a:t>How</a:t>
            </a:r>
            <a:r>
              <a:rPr sz="2800" b="1" spc="-10" dirty="0">
                <a:latin typeface="Arial"/>
                <a:cs typeface="Arial"/>
              </a:rPr>
              <a:t> </a:t>
            </a:r>
            <a:r>
              <a:rPr sz="2800" b="1" dirty="0">
                <a:latin typeface="Arial"/>
                <a:cs typeface="Arial"/>
              </a:rPr>
              <a:t>can</a:t>
            </a:r>
            <a:r>
              <a:rPr sz="2800" b="1" spc="-10" dirty="0">
                <a:latin typeface="Arial"/>
                <a:cs typeface="Arial"/>
              </a:rPr>
              <a:t> </a:t>
            </a:r>
            <a:r>
              <a:rPr sz="2800" b="1" dirty="0">
                <a:latin typeface="Arial"/>
                <a:cs typeface="Arial"/>
              </a:rPr>
              <a:t>we</a:t>
            </a:r>
            <a:r>
              <a:rPr sz="2800" b="1" spc="-5" dirty="0">
                <a:latin typeface="Arial"/>
                <a:cs typeface="Arial"/>
              </a:rPr>
              <a:t> </a:t>
            </a:r>
            <a:r>
              <a:rPr sz="2800" b="1" dirty="0">
                <a:latin typeface="Arial"/>
                <a:cs typeface="Arial"/>
              </a:rPr>
              <a:t>do</a:t>
            </a:r>
            <a:r>
              <a:rPr sz="2800" b="1" spc="-5" dirty="0">
                <a:latin typeface="Arial"/>
                <a:cs typeface="Arial"/>
              </a:rPr>
              <a:t> </a:t>
            </a:r>
            <a:r>
              <a:rPr sz="2800" b="1" spc="-10" dirty="0">
                <a:latin typeface="Arial"/>
                <a:cs typeface="Arial"/>
              </a:rPr>
              <a:t>this?</a:t>
            </a:r>
            <a:endParaRPr sz="2800">
              <a:latin typeface="Arial"/>
              <a:cs typeface="Arial"/>
            </a:endParaRPr>
          </a:p>
        </p:txBody>
      </p:sp>
      <p:grpSp>
        <p:nvGrpSpPr>
          <p:cNvPr id="8" name="object 8"/>
          <p:cNvGrpSpPr/>
          <p:nvPr/>
        </p:nvGrpSpPr>
        <p:grpSpPr>
          <a:xfrm>
            <a:off x="6906492" y="3179617"/>
            <a:ext cx="1222375" cy="3180080"/>
            <a:chOff x="5382491" y="3179617"/>
            <a:chExt cx="1222375" cy="3180080"/>
          </a:xfrm>
        </p:grpSpPr>
        <p:pic>
          <p:nvPicPr>
            <p:cNvPr id="9" name="object 9"/>
            <p:cNvPicPr/>
            <p:nvPr/>
          </p:nvPicPr>
          <p:blipFill>
            <a:blip r:embed="rId2" cstate="print"/>
            <a:stretch>
              <a:fillRect/>
            </a:stretch>
          </p:blipFill>
          <p:spPr>
            <a:xfrm>
              <a:off x="5382491" y="3179617"/>
              <a:ext cx="1221970" cy="378229"/>
            </a:xfrm>
            <a:prstGeom prst="rect">
              <a:avLst/>
            </a:prstGeom>
          </p:spPr>
        </p:pic>
        <p:sp>
          <p:nvSpPr>
            <p:cNvPr id="10" name="object 10"/>
            <p:cNvSpPr/>
            <p:nvPr/>
          </p:nvSpPr>
          <p:spPr>
            <a:xfrm>
              <a:off x="5412055" y="3231619"/>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11" name="object 11"/>
            <p:cNvPicPr/>
            <p:nvPr/>
          </p:nvPicPr>
          <p:blipFill>
            <a:blip r:embed="rId3" cstate="print"/>
            <a:stretch>
              <a:fillRect/>
            </a:stretch>
          </p:blipFill>
          <p:spPr>
            <a:xfrm>
              <a:off x="5382491" y="3470563"/>
              <a:ext cx="1221970" cy="382385"/>
            </a:xfrm>
            <a:prstGeom prst="rect">
              <a:avLst/>
            </a:prstGeom>
          </p:spPr>
        </p:pic>
        <p:sp>
          <p:nvSpPr>
            <p:cNvPr id="12" name="object 12"/>
            <p:cNvSpPr/>
            <p:nvPr/>
          </p:nvSpPr>
          <p:spPr>
            <a:xfrm>
              <a:off x="5412055" y="3523152"/>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13" name="object 13"/>
            <p:cNvPicPr/>
            <p:nvPr/>
          </p:nvPicPr>
          <p:blipFill>
            <a:blip r:embed="rId4" cstate="print"/>
            <a:stretch>
              <a:fillRect/>
            </a:stretch>
          </p:blipFill>
          <p:spPr>
            <a:xfrm>
              <a:off x="5382491" y="3749039"/>
              <a:ext cx="1221970" cy="378229"/>
            </a:xfrm>
            <a:prstGeom prst="rect">
              <a:avLst/>
            </a:prstGeom>
          </p:spPr>
        </p:pic>
        <p:sp>
          <p:nvSpPr>
            <p:cNvPr id="14" name="object 14"/>
            <p:cNvSpPr/>
            <p:nvPr/>
          </p:nvSpPr>
          <p:spPr>
            <a:xfrm>
              <a:off x="5412055" y="3799805"/>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15" name="object 15"/>
            <p:cNvPicPr/>
            <p:nvPr/>
          </p:nvPicPr>
          <p:blipFill>
            <a:blip r:embed="rId5" cstate="print"/>
            <a:stretch>
              <a:fillRect/>
            </a:stretch>
          </p:blipFill>
          <p:spPr>
            <a:xfrm>
              <a:off x="5382491" y="4023360"/>
              <a:ext cx="1221970" cy="382385"/>
            </a:xfrm>
            <a:prstGeom prst="rect">
              <a:avLst/>
            </a:prstGeom>
          </p:spPr>
        </p:pic>
        <p:sp>
          <p:nvSpPr>
            <p:cNvPr id="16" name="object 16"/>
            <p:cNvSpPr/>
            <p:nvPr/>
          </p:nvSpPr>
          <p:spPr>
            <a:xfrm>
              <a:off x="5412055" y="4075923"/>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17" name="object 17"/>
            <p:cNvPicPr/>
            <p:nvPr/>
          </p:nvPicPr>
          <p:blipFill>
            <a:blip r:embed="rId6" cstate="print"/>
            <a:stretch>
              <a:fillRect/>
            </a:stretch>
          </p:blipFill>
          <p:spPr>
            <a:xfrm>
              <a:off x="5382491" y="4301836"/>
              <a:ext cx="1221970" cy="378229"/>
            </a:xfrm>
            <a:prstGeom prst="rect">
              <a:avLst/>
            </a:prstGeom>
          </p:spPr>
        </p:pic>
        <p:sp>
          <p:nvSpPr>
            <p:cNvPr id="18" name="object 18"/>
            <p:cNvSpPr/>
            <p:nvPr/>
          </p:nvSpPr>
          <p:spPr>
            <a:xfrm>
              <a:off x="5412055" y="4352574"/>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19" name="object 19"/>
            <p:cNvPicPr/>
            <p:nvPr/>
          </p:nvPicPr>
          <p:blipFill>
            <a:blip r:embed="rId7" cstate="print"/>
            <a:stretch>
              <a:fillRect/>
            </a:stretch>
          </p:blipFill>
          <p:spPr>
            <a:xfrm>
              <a:off x="5382491" y="4580313"/>
              <a:ext cx="1221970" cy="378229"/>
            </a:xfrm>
            <a:prstGeom prst="rect">
              <a:avLst/>
            </a:prstGeom>
          </p:spPr>
        </p:pic>
        <p:sp>
          <p:nvSpPr>
            <p:cNvPr id="20" name="object 20"/>
            <p:cNvSpPr/>
            <p:nvPr/>
          </p:nvSpPr>
          <p:spPr>
            <a:xfrm>
              <a:off x="5412055" y="4631508"/>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21" name="object 21"/>
            <p:cNvPicPr/>
            <p:nvPr/>
          </p:nvPicPr>
          <p:blipFill>
            <a:blip r:embed="rId8" cstate="print"/>
            <a:stretch>
              <a:fillRect/>
            </a:stretch>
          </p:blipFill>
          <p:spPr>
            <a:xfrm>
              <a:off x="5382491" y="4854632"/>
              <a:ext cx="1221970" cy="382385"/>
            </a:xfrm>
            <a:prstGeom prst="rect">
              <a:avLst/>
            </a:prstGeom>
          </p:spPr>
        </p:pic>
        <p:sp>
          <p:nvSpPr>
            <p:cNvPr id="22" name="object 22"/>
            <p:cNvSpPr/>
            <p:nvPr/>
          </p:nvSpPr>
          <p:spPr>
            <a:xfrm>
              <a:off x="5412055" y="4908161"/>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23" name="object 23"/>
            <p:cNvPicPr/>
            <p:nvPr/>
          </p:nvPicPr>
          <p:blipFill>
            <a:blip r:embed="rId9" cstate="print"/>
            <a:stretch>
              <a:fillRect/>
            </a:stretch>
          </p:blipFill>
          <p:spPr>
            <a:xfrm>
              <a:off x="5382491" y="5133108"/>
              <a:ext cx="1221970" cy="378229"/>
            </a:xfrm>
            <a:prstGeom prst="rect">
              <a:avLst/>
            </a:prstGeom>
          </p:spPr>
        </p:pic>
        <p:sp>
          <p:nvSpPr>
            <p:cNvPr id="24" name="object 24"/>
            <p:cNvSpPr/>
            <p:nvPr/>
          </p:nvSpPr>
          <p:spPr>
            <a:xfrm>
              <a:off x="5412055" y="5184278"/>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25" name="object 25"/>
            <p:cNvPicPr/>
            <p:nvPr/>
          </p:nvPicPr>
          <p:blipFill>
            <a:blip r:embed="rId10" cstate="print"/>
            <a:stretch>
              <a:fillRect/>
            </a:stretch>
          </p:blipFill>
          <p:spPr>
            <a:xfrm>
              <a:off x="5382491" y="5407429"/>
              <a:ext cx="1221970" cy="382385"/>
            </a:xfrm>
            <a:prstGeom prst="rect">
              <a:avLst/>
            </a:prstGeom>
          </p:spPr>
        </p:pic>
        <p:sp>
          <p:nvSpPr>
            <p:cNvPr id="26" name="object 26"/>
            <p:cNvSpPr/>
            <p:nvPr/>
          </p:nvSpPr>
          <p:spPr>
            <a:xfrm>
              <a:off x="5412055" y="5460930"/>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27" name="object 27"/>
            <p:cNvPicPr/>
            <p:nvPr/>
          </p:nvPicPr>
          <p:blipFill>
            <a:blip r:embed="rId11" cstate="print"/>
            <a:stretch>
              <a:fillRect/>
            </a:stretch>
          </p:blipFill>
          <p:spPr>
            <a:xfrm>
              <a:off x="5382491" y="5698374"/>
              <a:ext cx="1221970" cy="382385"/>
            </a:xfrm>
            <a:prstGeom prst="rect">
              <a:avLst/>
            </a:prstGeom>
          </p:spPr>
        </p:pic>
        <p:sp>
          <p:nvSpPr>
            <p:cNvPr id="28" name="object 28"/>
            <p:cNvSpPr/>
            <p:nvPr/>
          </p:nvSpPr>
          <p:spPr>
            <a:xfrm>
              <a:off x="5412055" y="5752464"/>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29" name="object 29"/>
            <p:cNvPicPr/>
            <p:nvPr/>
          </p:nvPicPr>
          <p:blipFill>
            <a:blip r:embed="rId12" cstate="print"/>
            <a:stretch>
              <a:fillRect/>
            </a:stretch>
          </p:blipFill>
          <p:spPr>
            <a:xfrm>
              <a:off x="5382491" y="5976850"/>
              <a:ext cx="1221970" cy="382385"/>
            </a:xfrm>
            <a:prstGeom prst="rect">
              <a:avLst/>
            </a:prstGeom>
          </p:spPr>
        </p:pic>
        <p:sp>
          <p:nvSpPr>
            <p:cNvPr id="30" name="object 30"/>
            <p:cNvSpPr/>
            <p:nvPr/>
          </p:nvSpPr>
          <p:spPr>
            <a:xfrm>
              <a:off x="5412055" y="6029116"/>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31" name="object 31"/>
          <p:cNvSpPr txBox="1"/>
          <p:nvPr/>
        </p:nvSpPr>
        <p:spPr>
          <a:xfrm>
            <a:off x="8173856" y="4053716"/>
            <a:ext cx="190500" cy="299720"/>
          </a:xfrm>
          <a:prstGeom prst="rect">
            <a:avLst/>
          </a:prstGeom>
        </p:spPr>
        <p:txBody>
          <a:bodyPr vert="horz" wrap="square" lIns="0" tIns="12700" rIns="0" bIns="0" rtlCol="0">
            <a:spAutoFit/>
          </a:bodyPr>
          <a:lstStyle/>
          <a:p>
            <a:pPr marL="12700">
              <a:spcBef>
                <a:spcPts val="100"/>
              </a:spcBef>
            </a:pPr>
            <a:r>
              <a:rPr b="1" dirty="0">
                <a:latin typeface="Arial"/>
                <a:cs typeface="Arial"/>
              </a:rPr>
              <a:t>D</a:t>
            </a:r>
            <a:endParaRPr>
              <a:latin typeface="Arial"/>
              <a:cs typeface="Arial"/>
            </a:endParaRPr>
          </a:p>
        </p:txBody>
      </p:sp>
      <p:sp>
        <p:nvSpPr>
          <p:cNvPr id="32" name="TextBox 31">
            <a:extLst>
              <a:ext uri="{FF2B5EF4-FFF2-40B4-BE49-F238E27FC236}">
                <a16:creationId xmlns:a16="http://schemas.microsoft.com/office/drawing/2014/main" id="{E54FFD3A-5A9A-48A8-9AF2-2F93B65FE755}"/>
              </a:ext>
            </a:extLst>
          </p:cNvPr>
          <p:cNvSpPr txBox="1"/>
          <p:nvPr/>
        </p:nvSpPr>
        <p:spPr>
          <a:xfrm>
            <a:off x="2362199" y="3231619"/>
            <a:ext cx="642257" cy="2862322"/>
          </a:xfrm>
          <a:prstGeom prst="rect">
            <a:avLst/>
          </a:prstGeom>
          <a:noFill/>
          <a:ln>
            <a:solidFill>
              <a:schemeClr val="tx1"/>
            </a:solidFill>
          </a:ln>
        </p:spPr>
        <p:txBody>
          <a:bodyPr wrap="square" rtlCol="0">
            <a:spAutoFit/>
          </a:bodyPr>
          <a:lstStyle/>
          <a:p>
            <a:endParaRPr lang="en-US" dirty="0"/>
          </a:p>
          <a:p>
            <a:endParaRPr lang="en-US" dirty="0"/>
          </a:p>
          <a:p>
            <a:endParaRPr lang="en-US" dirty="0"/>
          </a:p>
          <a:p>
            <a:endParaRPr lang="en-US" dirty="0"/>
          </a:p>
          <a:p>
            <a:endParaRPr lang="en-US" dirty="0"/>
          </a:p>
          <a:p>
            <a:pPr algn="ctr"/>
            <a:r>
              <a:rPr lang="en-US" dirty="0"/>
              <a:t>M</a:t>
            </a:r>
          </a:p>
          <a:p>
            <a:endParaRPr lang="en-US" dirty="0"/>
          </a:p>
          <a:p>
            <a:endParaRPr lang="en-US" dirty="0"/>
          </a:p>
          <a:p>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39" y="1785620"/>
            <a:ext cx="4833620" cy="452120"/>
          </a:xfrm>
          <a:prstGeom prst="rect">
            <a:avLst/>
          </a:prstGeom>
        </p:spPr>
        <p:txBody>
          <a:bodyPr vert="horz" wrap="square" lIns="0" tIns="12700" rIns="0" bIns="0" rtlCol="0">
            <a:spAutoFit/>
          </a:bodyPr>
          <a:lstStyle/>
          <a:p>
            <a:pPr marL="354965" indent="-342265">
              <a:spcBef>
                <a:spcPts val="100"/>
              </a:spcBef>
              <a:buFont typeface="Arial"/>
              <a:buChar char="•"/>
              <a:tabLst>
                <a:tab pos="354965" algn="l"/>
                <a:tab pos="355600" algn="l"/>
              </a:tabLst>
            </a:pPr>
            <a:r>
              <a:rPr sz="2800" b="1" dirty="0">
                <a:latin typeface="Arial"/>
                <a:cs typeface="Arial"/>
              </a:rPr>
              <a:t>What</a:t>
            </a:r>
            <a:r>
              <a:rPr sz="2800" b="1" spc="-15" dirty="0">
                <a:latin typeface="Arial"/>
                <a:cs typeface="Arial"/>
              </a:rPr>
              <a:t> </a:t>
            </a:r>
            <a:r>
              <a:rPr sz="2800" b="1" dirty="0">
                <a:latin typeface="Arial"/>
                <a:cs typeface="Arial"/>
              </a:rPr>
              <a:t>is</a:t>
            </a:r>
            <a:r>
              <a:rPr sz="2800" b="1" spc="-10" dirty="0">
                <a:latin typeface="Arial"/>
                <a:cs typeface="Arial"/>
              </a:rPr>
              <a:t> </a:t>
            </a:r>
            <a:r>
              <a:rPr sz="2800" b="1" dirty="0">
                <a:latin typeface="Arial"/>
                <a:cs typeface="Arial"/>
              </a:rPr>
              <a:t>the</a:t>
            </a:r>
            <a:r>
              <a:rPr sz="2800" b="1" spc="-10" dirty="0">
                <a:latin typeface="Arial"/>
                <a:cs typeface="Arial"/>
              </a:rPr>
              <a:t> </a:t>
            </a:r>
            <a:r>
              <a:rPr sz="2800" b="1" dirty="0">
                <a:latin typeface="Arial"/>
                <a:cs typeface="Arial"/>
              </a:rPr>
              <a:t>problem</a:t>
            </a:r>
            <a:r>
              <a:rPr sz="2800" b="1" spc="-10" dirty="0">
                <a:latin typeface="Arial"/>
                <a:cs typeface="Arial"/>
              </a:rPr>
              <a:t> here?</a:t>
            </a:r>
            <a:endParaRPr sz="2800">
              <a:latin typeface="Arial"/>
              <a:cs typeface="Arial"/>
            </a:endParaRPr>
          </a:p>
        </p:txBody>
      </p:sp>
      <p:grpSp>
        <p:nvGrpSpPr>
          <p:cNvPr id="3" name="object 3"/>
          <p:cNvGrpSpPr/>
          <p:nvPr/>
        </p:nvGrpSpPr>
        <p:grpSpPr>
          <a:xfrm>
            <a:off x="6906492" y="3162993"/>
            <a:ext cx="1222375" cy="1542415"/>
            <a:chOff x="5382491" y="3162992"/>
            <a:chExt cx="1222375" cy="1542415"/>
          </a:xfrm>
        </p:grpSpPr>
        <p:pic>
          <p:nvPicPr>
            <p:cNvPr id="4" name="object 4"/>
            <p:cNvPicPr/>
            <p:nvPr/>
          </p:nvPicPr>
          <p:blipFill>
            <a:blip r:embed="rId2" cstate="print"/>
            <a:stretch>
              <a:fillRect/>
            </a:stretch>
          </p:blipFill>
          <p:spPr>
            <a:xfrm>
              <a:off x="5382491" y="3470563"/>
              <a:ext cx="1221970" cy="382385"/>
            </a:xfrm>
            <a:prstGeom prst="rect">
              <a:avLst/>
            </a:prstGeom>
          </p:spPr>
        </p:pic>
        <p:pic>
          <p:nvPicPr>
            <p:cNvPr id="5" name="object 5"/>
            <p:cNvPicPr/>
            <p:nvPr/>
          </p:nvPicPr>
          <p:blipFill>
            <a:blip r:embed="rId3" cstate="print"/>
            <a:stretch>
              <a:fillRect/>
            </a:stretch>
          </p:blipFill>
          <p:spPr>
            <a:xfrm>
              <a:off x="5685905" y="3453938"/>
              <a:ext cx="623454" cy="419792"/>
            </a:xfrm>
            <a:prstGeom prst="rect">
              <a:avLst/>
            </a:prstGeom>
          </p:spPr>
        </p:pic>
        <p:pic>
          <p:nvPicPr>
            <p:cNvPr id="6" name="object 6"/>
            <p:cNvPicPr/>
            <p:nvPr/>
          </p:nvPicPr>
          <p:blipFill>
            <a:blip r:embed="rId4" cstate="print"/>
            <a:stretch>
              <a:fillRect/>
            </a:stretch>
          </p:blipFill>
          <p:spPr>
            <a:xfrm>
              <a:off x="5382491" y="3179617"/>
              <a:ext cx="1221970" cy="378229"/>
            </a:xfrm>
            <a:prstGeom prst="rect">
              <a:avLst/>
            </a:prstGeom>
          </p:spPr>
        </p:pic>
        <p:pic>
          <p:nvPicPr>
            <p:cNvPr id="7" name="object 7"/>
            <p:cNvPicPr/>
            <p:nvPr/>
          </p:nvPicPr>
          <p:blipFill>
            <a:blip r:embed="rId5" cstate="print"/>
            <a:stretch>
              <a:fillRect/>
            </a:stretch>
          </p:blipFill>
          <p:spPr>
            <a:xfrm>
              <a:off x="5619403" y="3162992"/>
              <a:ext cx="739832" cy="419792"/>
            </a:xfrm>
            <a:prstGeom prst="rect">
              <a:avLst/>
            </a:prstGeom>
          </p:spPr>
        </p:pic>
        <p:pic>
          <p:nvPicPr>
            <p:cNvPr id="8" name="object 8"/>
            <p:cNvPicPr/>
            <p:nvPr/>
          </p:nvPicPr>
          <p:blipFill>
            <a:blip r:embed="rId6" cstate="print"/>
            <a:stretch>
              <a:fillRect/>
            </a:stretch>
          </p:blipFill>
          <p:spPr>
            <a:xfrm>
              <a:off x="5382491" y="3749039"/>
              <a:ext cx="1221970" cy="378229"/>
            </a:xfrm>
            <a:prstGeom prst="rect">
              <a:avLst/>
            </a:prstGeom>
          </p:spPr>
        </p:pic>
        <p:pic>
          <p:nvPicPr>
            <p:cNvPr id="9" name="object 9"/>
            <p:cNvPicPr/>
            <p:nvPr/>
          </p:nvPicPr>
          <p:blipFill>
            <a:blip r:embed="rId7" cstate="print"/>
            <a:stretch>
              <a:fillRect/>
            </a:stretch>
          </p:blipFill>
          <p:spPr>
            <a:xfrm>
              <a:off x="5544588" y="3728257"/>
              <a:ext cx="901930" cy="423949"/>
            </a:xfrm>
            <a:prstGeom prst="rect">
              <a:avLst/>
            </a:prstGeom>
          </p:spPr>
        </p:pic>
        <p:pic>
          <p:nvPicPr>
            <p:cNvPr id="10" name="object 10"/>
            <p:cNvPicPr/>
            <p:nvPr/>
          </p:nvPicPr>
          <p:blipFill>
            <a:blip r:embed="rId8" cstate="print"/>
            <a:stretch>
              <a:fillRect/>
            </a:stretch>
          </p:blipFill>
          <p:spPr>
            <a:xfrm>
              <a:off x="5382491" y="4023360"/>
              <a:ext cx="1221970" cy="382385"/>
            </a:xfrm>
            <a:prstGeom prst="rect">
              <a:avLst/>
            </a:prstGeom>
          </p:spPr>
        </p:pic>
        <p:pic>
          <p:nvPicPr>
            <p:cNvPr id="11" name="object 11"/>
            <p:cNvPicPr/>
            <p:nvPr/>
          </p:nvPicPr>
          <p:blipFill>
            <a:blip r:embed="rId9" cstate="print"/>
            <a:stretch>
              <a:fillRect/>
            </a:stretch>
          </p:blipFill>
          <p:spPr>
            <a:xfrm>
              <a:off x="5581996" y="4006734"/>
              <a:ext cx="814647" cy="419792"/>
            </a:xfrm>
            <a:prstGeom prst="rect">
              <a:avLst/>
            </a:prstGeom>
          </p:spPr>
        </p:pic>
        <p:pic>
          <p:nvPicPr>
            <p:cNvPr id="12" name="object 12"/>
            <p:cNvPicPr/>
            <p:nvPr/>
          </p:nvPicPr>
          <p:blipFill>
            <a:blip r:embed="rId10" cstate="print"/>
            <a:stretch>
              <a:fillRect/>
            </a:stretch>
          </p:blipFill>
          <p:spPr>
            <a:xfrm>
              <a:off x="5382491" y="4301836"/>
              <a:ext cx="1221970" cy="378229"/>
            </a:xfrm>
            <a:prstGeom prst="rect">
              <a:avLst/>
            </a:prstGeom>
          </p:spPr>
        </p:pic>
        <p:pic>
          <p:nvPicPr>
            <p:cNvPr id="13" name="object 13"/>
            <p:cNvPicPr/>
            <p:nvPr/>
          </p:nvPicPr>
          <p:blipFill>
            <a:blip r:embed="rId11" cstate="print"/>
            <a:stretch>
              <a:fillRect/>
            </a:stretch>
          </p:blipFill>
          <p:spPr>
            <a:xfrm>
              <a:off x="5469774" y="4281054"/>
              <a:ext cx="1055716" cy="423949"/>
            </a:xfrm>
            <a:prstGeom prst="rect">
              <a:avLst/>
            </a:prstGeom>
          </p:spPr>
        </p:pic>
      </p:grpSp>
      <p:sp>
        <p:nvSpPr>
          <p:cNvPr id="14" name="object 14"/>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dirty="0"/>
              <a:t>THE</a:t>
            </a:r>
            <a:r>
              <a:rPr spc="-254" dirty="0"/>
              <a:t> </a:t>
            </a:r>
            <a:r>
              <a:rPr spc="-10" dirty="0"/>
              <a:t>HASH</a:t>
            </a:r>
            <a:r>
              <a:rPr spc="-254" dirty="0"/>
              <a:t> </a:t>
            </a:r>
            <a:r>
              <a:rPr spc="-105" dirty="0"/>
              <a:t>TABLE</a:t>
            </a:r>
          </a:p>
        </p:txBody>
      </p:sp>
      <p:grpSp>
        <p:nvGrpSpPr>
          <p:cNvPr id="19" name="object 19"/>
          <p:cNvGrpSpPr/>
          <p:nvPr/>
        </p:nvGrpSpPr>
        <p:grpSpPr>
          <a:xfrm>
            <a:off x="6906492" y="4580313"/>
            <a:ext cx="1222375" cy="1779270"/>
            <a:chOff x="5382491" y="4580313"/>
            <a:chExt cx="1222375" cy="1779270"/>
          </a:xfrm>
        </p:grpSpPr>
        <p:pic>
          <p:nvPicPr>
            <p:cNvPr id="20" name="object 20"/>
            <p:cNvPicPr/>
            <p:nvPr/>
          </p:nvPicPr>
          <p:blipFill>
            <a:blip r:embed="rId12" cstate="print"/>
            <a:stretch>
              <a:fillRect/>
            </a:stretch>
          </p:blipFill>
          <p:spPr>
            <a:xfrm>
              <a:off x="5382491" y="4580313"/>
              <a:ext cx="1221970" cy="378229"/>
            </a:xfrm>
            <a:prstGeom prst="rect">
              <a:avLst/>
            </a:prstGeom>
          </p:spPr>
        </p:pic>
        <p:pic>
          <p:nvPicPr>
            <p:cNvPr id="21" name="object 21"/>
            <p:cNvPicPr/>
            <p:nvPr/>
          </p:nvPicPr>
          <p:blipFill>
            <a:blip r:embed="rId13" cstate="print"/>
            <a:stretch>
              <a:fillRect/>
            </a:stretch>
          </p:blipFill>
          <p:spPr>
            <a:xfrm>
              <a:off x="5382491" y="4854632"/>
              <a:ext cx="1221970" cy="382385"/>
            </a:xfrm>
            <a:prstGeom prst="rect">
              <a:avLst/>
            </a:prstGeom>
          </p:spPr>
        </p:pic>
        <p:pic>
          <p:nvPicPr>
            <p:cNvPr id="22" name="object 22"/>
            <p:cNvPicPr/>
            <p:nvPr/>
          </p:nvPicPr>
          <p:blipFill>
            <a:blip r:embed="rId14" cstate="print"/>
            <a:stretch>
              <a:fillRect/>
            </a:stretch>
          </p:blipFill>
          <p:spPr>
            <a:xfrm>
              <a:off x="5382491" y="5133108"/>
              <a:ext cx="1221970" cy="378229"/>
            </a:xfrm>
            <a:prstGeom prst="rect">
              <a:avLst/>
            </a:prstGeom>
          </p:spPr>
        </p:pic>
        <p:pic>
          <p:nvPicPr>
            <p:cNvPr id="23" name="object 23"/>
            <p:cNvPicPr/>
            <p:nvPr/>
          </p:nvPicPr>
          <p:blipFill>
            <a:blip r:embed="rId15" cstate="print"/>
            <a:stretch>
              <a:fillRect/>
            </a:stretch>
          </p:blipFill>
          <p:spPr>
            <a:xfrm>
              <a:off x="5382491" y="5407428"/>
              <a:ext cx="1221970" cy="382385"/>
            </a:xfrm>
            <a:prstGeom prst="rect">
              <a:avLst/>
            </a:prstGeom>
          </p:spPr>
        </p:pic>
        <p:pic>
          <p:nvPicPr>
            <p:cNvPr id="24" name="object 24"/>
            <p:cNvPicPr/>
            <p:nvPr/>
          </p:nvPicPr>
          <p:blipFill>
            <a:blip r:embed="rId16" cstate="print"/>
            <a:stretch>
              <a:fillRect/>
            </a:stretch>
          </p:blipFill>
          <p:spPr>
            <a:xfrm>
              <a:off x="5382491" y="5698374"/>
              <a:ext cx="1221970" cy="382385"/>
            </a:xfrm>
            <a:prstGeom prst="rect">
              <a:avLst/>
            </a:prstGeom>
          </p:spPr>
        </p:pic>
        <p:pic>
          <p:nvPicPr>
            <p:cNvPr id="25" name="object 25"/>
            <p:cNvPicPr/>
            <p:nvPr/>
          </p:nvPicPr>
          <p:blipFill>
            <a:blip r:embed="rId17" cstate="print"/>
            <a:stretch>
              <a:fillRect/>
            </a:stretch>
          </p:blipFill>
          <p:spPr>
            <a:xfrm>
              <a:off x="5382491" y="5976850"/>
              <a:ext cx="1221970" cy="382385"/>
            </a:xfrm>
            <a:prstGeom prst="rect">
              <a:avLst/>
            </a:prstGeom>
          </p:spPr>
        </p:pic>
      </p:grpSp>
      <p:graphicFrame>
        <p:nvGraphicFramePr>
          <p:cNvPr id="26" name="object 26"/>
          <p:cNvGraphicFramePr>
            <a:graphicFrameLocks noGrp="1"/>
          </p:cNvGraphicFramePr>
          <p:nvPr/>
        </p:nvGraphicFramePr>
        <p:xfrm>
          <a:off x="6929706" y="3225269"/>
          <a:ext cx="1118235" cy="3070860"/>
        </p:xfrm>
        <a:graphic>
          <a:graphicData uri="http://schemas.openxmlformats.org/drawingml/2006/table">
            <a:tbl>
              <a:tblPr firstRow="1" bandRow="1">
                <a:tableStyleId>{2D5ABB26-0587-4C30-8999-92F81FD0307C}</a:tableStyleId>
              </a:tblPr>
              <a:tblGrid>
                <a:gridCol w="1118235">
                  <a:extLst>
                    <a:ext uri="{9D8B030D-6E8A-4147-A177-3AD203B41FA5}">
                      <a16:colId xmlns:a16="http://schemas.microsoft.com/office/drawing/2014/main" val="20000"/>
                    </a:ext>
                  </a:extLst>
                </a:gridCol>
              </a:tblGrid>
              <a:tr h="283210">
                <a:tc>
                  <a:txBody>
                    <a:bodyPr/>
                    <a:lstStyle/>
                    <a:p>
                      <a:pPr marL="5715" algn="ctr">
                        <a:lnSpc>
                          <a:spcPts val="2130"/>
                        </a:lnSpc>
                        <a:spcBef>
                          <a:spcPts val="5"/>
                        </a:spcBef>
                      </a:pPr>
                      <a:r>
                        <a:rPr sz="1800" spc="-10" dirty="0">
                          <a:latin typeface="Arial"/>
                          <a:cs typeface="Arial"/>
                        </a:rPr>
                        <a:t>Apple</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83845">
                <a:tc>
                  <a:txBody>
                    <a:bodyPr/>
                    <a:lstStyle/>
                    <a:p>
                      <a:pPr marL="5715" algn="ctr">
                        <a:lnSpc>
                          <a:spcPts val="2070"/>
                        </a:lnSpc>
                        <a:spcBef>
                          <a:spcPts val="65"/>
                        </a:spcBef>
                      </a:pPr>
                      <a:r>
                        <a:rPr sz="1800" spc="-20" dirty="0">
                          <a:latin typeface="Arial"/>
                          <a:cs typeface="Arial"/>
                        </a:rPr>
                        <a:t>Pear</a:t>
                      </a:r>
                      <a:endParaRPr sz="1800">
                        <a:latin typeface="Arial"/>
                        <a:cs typeface="Arial"/>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276225">
                <a:tc>
                  <a:txBody>
                    <a:bodyPr/>
                    <a:lstStyle/>
                    <a:p>
                      <a:pPr marL="5715" algn="ctr">
                        <a:lnSpc>
                          <a:spcPts val="2065"/>
                        </a:lnSpc>
                        <a:spcBef>
                          <a:spcPts val="10"/>
                        </a:spcBef>
                      </a:pPr>
                      <a:r>
                        <a:rPr sz="1800" spc="-10" dirty="0">
                          <a:latin typeface="Arial"/>
                          <a:cs typeface="Arial"/>
                        </a:rPr>
                        <a:t>Orange</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76225">
                <a:tc>
                  <a:txBody>
                    <a:bodyPr/>
                    <a:lstStyle/>
                    <a:p>
                      <a:pPr marL="5715" algn="ctr">
                        <a:lnSpc>
                          <a:spcPts val="2070"/>
                        </a:lnSpc>
                        <a:spcBef>
                          <a:spcPts val="5"/>
                        </a:spcBef>
                      </a:pPr>
                      <a:r>
                        <a:rPr sz="1800" spc="-10" dirty="0">
                          <a:latin typeface="Arial"/>
                          <a:cs typeface="Arial"/>
                        </a:rPr>
                        <a:t>Durian</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3"/>
                  </a:ext>
                </a:extLst>
              </a:tr>
              <a:tr h="277495">
                <a:tc>
                  <a:txBody>
                    <a:bodyPr/>
                    <a:lstStyle/>
                    <a:p>
                      <a:pPr marL="5715" algn="ctr">
                        <a:lnSpc>
                          <a:spcPts val="2080"/>
                        </a:lnSpc>
                        <a:spcBef>
                          <a:spcPts val="10"/>
                        </a:spcBef>
                      </a:pPr>
                      <a:r>
                        <a:rPr sz="1800" spc="-10" dirty="0">
                          <a:latin typeface="Arial"/>
                          <a:cs typeface="Arial"/>
                        </a:rPr>
                        <a:t>Kumquat</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4"/>
                  </a:ext>
                </a:extLst>
              </a:tr>
              <a:tr h="27749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5"/>
                  </a:ext>
                </a:extLst>
              </a:tr>
              <a:tr h="27622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7622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7"/>
                  </a:ext>
                </a:extLst>
              </a:tr>
              <a:tr h="28384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28384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9"/>
                  </a:ext>
                </a:extLst>
              </a:tr>
              <a:tr h="27622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10"/>
                  </a:ext>
                </a:extLst>
              </a:tr>
            </a:tbl>
          </a:graphicData>
        </a:graphic>
      </p:graphicFrame>
      <p:sp>
        <p:nvSpPr>
          <p:cNvPr id="27" name="object 27"/>
          <p:cNvSpPr txBox="1"/>
          <p:nvPr/>
        </p:nvSpPr>
        <p:spPr>
          <a:xfrm>
            <a:off x="8173856" y="4053716"/>
            <a:ext cx="190500" cy="299720"/>
          </a:xfrm>
          <a:prstGeom prst="rect">
            <a:avLst/>
          </a:prstGeom>
        </p:spPr>
        <p:txBody>
          <a:bodyPr vert="horz" wrap="square" lIns="0" tIns="12700" rIns="0" bIns="0" rtlCol="0">
            <a:spAutoFit/>
          </a:bodyPr>
          <a:lstStyle/>
          <a:p>
            <a:pPr marL="12700">
              <a:spcBef>
                <a:spcPts val="100"/>
              </a:spcBef>
            </a:pPr>
            <a:r>
              <a:rPr b="1" dirty="0">
                <a:latin typeface="Arial"/>
                <a:cs typeface="Arial"/>
              </a:rPr>
              <a:t>D</a:t>
            </a:r>
            <a:endParaRPr>
              <a:latin typeface="Arial"/>
              <a:cs typeface="Arial"/>
            </a:endParaRPr>
          </a:p>
        </p:txBody>
      </p:sp>
      <p:sp>
        <p:nvSpPr>
          <p:cNvPr id="28" name="TextBox 27">
            <a:extLst>
              <a:ext uri="{FF2B5EF4-FFF2-40B4-BE49-F238E27FC236}">
                <a16:creationId xmlns:a16="http://schemas.microsoft.com/office/drawing/2014/main" id="{5176213E-BE76-4E64-9000-C6AE5A66F772}"/>
              </a:ext>
            </a:extLst>
          </p:cNvPr>
          <p:cNvSpPr txBox="1"/>
          <p:nvPr/>
        </p:nvSpPr>
        <p:spPr>
          <a:xfrm>
            <a:off x="2362199" y="3231619"/>
            <a:ext cx="642257" cy="2862322"/>
          </a:xfrm>
          <a:prstGeom prst="rect">
            <a:avLst/>
          </a:prstGeom>
          <a:noFill/>
          <a:ln>
            <a:solidFill>
              <a:schemeClr val="tx1"/>
            </a:solidFill>
          </a:ln>
        </p:spPr>
        <p:txBody>
          <a:bodyPr wrap="square" rtlCol="0">
            <a:spAutoFit/>
          </a:bodyPr>
          <a:lstStyle/>
          <a:p>
            <a:endParaRPr lang="en-US" dirty="0"/>
          </a:p>
          <a:p>
            <a:endParaRPr lang="en-US" dirty="0"/>
          </a:p>
          <a:p>
            <a:endParaRPr lang="en-US" dirty="0"/>
          </a:p>
          <a:p>
            <a:endParaRPr lang="en-US" dirty="0"/>
          </a:p>
          <a:p>
            <a:endParaRPr lang="en-US" dirty="0"/>
          </a:p>
          <a:p>
            <a:pPr algn="ctr"/>
            <a:r>
              <a:rPr lang="en-US" dirty="0"/>
              <a:t>M</a:t>
            </a:r>
          </a:p>
          <a:p>
            <a:endParaRPr lang="en-US" dirty="0"/>
          </a:p>
          <a:p>
            <a:endParaRPr lang="en-US" dirty="0"/>
          </a:p>
          <a:p>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40" y="1604264"/>
            <a:ext cx="5611495" cy="1068070"/>
          </a:xfrm>
          <a:prstGeom prst="rect">
            <a:avLst/>
          </a:prstGeom>
        </p:spPr>
        <p:txBody>
          <a:bodyPr vert="horz" wrap="square" lIns="0" tIns="193675" rIns="0" bIns="0" rtlCol="0">
            <a:spAutoFit/>
          </a:bodyPr>
          <a:lstStyle/>
          <a:p>
            <a:pPr marL="354965" indent="-342265">
              <a:spcBef>
                <a:spcPts val="1525"/>
              </a:spcBef>
              <a:buFont typeface="Arial"/>
              <a:buChar char="•"/>
              <a:tabLst>
                <a:tab pos="354965" algn="l"/>
                <a:tab pos="355600" algn="l"/>
              </a:tabLst>
            </a:pPr>
            <a:r>
              <a:rPr sz="2800" b="1" dirty="0">
                <a:latin typeface="Arial"/>
                <a:cs typeface="Arial"/>
              </a:rPr>
              <a:t>What</a:t>
            </a:r>
            <a:r>
              <a:rPr sz="2800" b="1" spc="-15" dirty="0">
                <a:latin typeface="Arial"/>
                <a:cs typeface="Arial"/>
              </a:rPr>
              <a:t> </a:t>
            </a:r>
            <a:r>
              <a:rPr sz="2800" b="1" dirty="0">
                <a:latin typeface="Arial"/>
                <a:cs typeface="Arial"/>
              </a:rPr>
              <a:t>is</a:t>
            </a:r>
            <a:r>
              <a:rPr sz="2800" b="1" spc="-10" dirty="0">
                <a:latin typeface="Arial"/>
                <a:cs typeface="Arial"/>
              </a:rPr>
              <a:t> </a:t>
            </a:r>
            <a:r>
              <a:rPr sz="2800" b="1" dirty="0">
                <a:latin typeface="Arial"/>
                <a:cs typeface="Arial"/>
              </a:rPr>
              <a:t>the</a:t>
            </a:r>
            <a:r>
              <a:rPr sz="2800" b="1" spc="-10" dirty="0">
                <a:latin typeface="Arial"/>
                <a:cs typeface="Arial"/>
              </a:rPr>
              <a:t> </a:t>
            </a:r>
            <a:r>
              <a:rPr sz="2800" b="1" dirty="0">
                <a:latin typeface="Arial"/>
                <a:cs typeface="Arial"/>
              </a:rPr>
              <a:t>problem</a:t>
            </a:r>
            <a:r>
              <a:rPr sz="2800" b="1" spc="-10" dirty="0">
                <a:latin typeface="Arial"/>
                <a:cs typeface="Arial"/>
              </a:rPr>
              <a:t> here?</a:t>
            </a:r>
            <a:endParaRPr sz="2800">
              <a:latin typeface="Arial"/>
              <a:cs typeface="Arial"/>
            </a:endParaRPr>
          </a:p>
          <a:p>
            <a:pPr marL="812165" lvl="1" indent="-342265">
              <a:spcBef>
                <a:spcPts val="1019"/>
              </a:spcBef>
              <a:buClr>
                <a:srgbClr val="D1282E"/>
              </a:buClr>
              <a:buChar char="•"/>
              <a:tabLst>
                <a:tab pos="812165" algn="l"/>
                <a:tab pos="812800" algn="l"/>
              </a:tabLst>
            </a:pPr>
            <a:r>
              <a:rPr sz="2000" spc="-25" dirty="0">
                <a:latin typeface="Arial"/>
                <a:cs typeface="Arial"/>
              </a:rPr>
              <a:t>Takes</a:t>
            </a:r>
            <a:r>
              <a:rPr sz="2000" spc="-30" dirty="0">
                <a:latin typeface="Arial"/>
                <a:cs typeface="Arial"/>
              </a:rPr>
              <a:t> </a:t>
            </a:r>
            <a:r>
              <a:rPr sz="2000" dirty="0">
                <a:latin typeface="Arial"/>
                <a:cs typeface="Arial"/>
              </a:rPr>
              <a:t>O(D)</a:t>
            </a:r>
            <a:r>
              <a:rPr sz="2000" spc="-20" dirty="0">
                <a:latin typeface="Arial"/>
                <a:cs typeface="Arial"/>
              </a:rPr>
              <a:t> </a:t>
            </a:r>
            <a:r>
              <a:rPr sz="2000" dirty="0">
                <a:latin typeface="Arial"/>
                <a:cs typeface="Arial"/>
              </a:rPr>
              <a:t>time</a:t>
            </a:r>
            <a:r>
              <a:rPr sz="2000" spc="-15" dirty="0">
                <a:latin typeface="Arial"/>
                <a:cs typeface="Arial"/>
              </a:rPr>
              <a:t> </a:t>
            </a:r>
            <a:r>
              <a:rPr sz="2000" dirty="0">
                <a:latin typeface="Arial"/>
                <a:cs typeface="Arial"/>
              </a:rPr>
              <a:t>to</a:t>
            </a:r>
            <a:r>
              <a:rPr sz="2000" spc="-15" dirty="0">
                <a:latin typeface="Arial"/>
                <a:cs typeface="Arial"/>
              </a:rPr>
              <a:t> </a:t>
            </a:r>
            <a:r>
              <a:rPr sz="2000" dirty="0">
                <a:latin typeface="Arial"/>
                <a:cs typeface="Arial"/>
              </a:rPr>
              <a:t>find</a:t>
            </a:r>
            <a:r>
              <a:rPr sz="2000" spc="-15" dirty="0">
                <a:latin typeface="Arial"/>
                <a:cs typeface="Arial"/>
              </a:rPr>
              <a:t> </a:t>
            </a:r>
            <a:r>
              <a:rPr sz="2000" dirty="0">
                <a:latin typeface="Arial"/>
                <a:cs typeface="Arial"/>
              </a:rPr>
              <a:t>the</a:t>
            </a:r>
            <a:r>
              <a:rPr sz="2000" spc="-15" dirty="0">
                <a:latin typeface="Arial"/>
                <a:cs typeface="Arial"/>
              </a:rPr>
              <a:t> </a:t>
            </a:r>
            <a:r>
              <a:rPr sz="2000" dirty="0">
                <a:latin typeface="Arial"/>
                <a:cs typeface="Arial"/>
              </a:rPr>
              <a:t>word</a:t>
            </a:r>
            <a:r>
              <a:rPr sz="2000" spc="-15" dirty="0">
                <a:latin typeface="Arial"/>
                <a:cs typeface="Arial"/>
              </a:rPr>
              <a:t> </a:t>
            </a:r>
            <a:r>
              <a:rPr sz="2000" dirty="0">
                <a:latin typeface="Arial"/>
                <a:cs typeface="Arial"/>
              </a:rPr>
              <a:t>in</a:t>
            </a:r>
            <a:r>
              <a:rPr sz="2000" spc="-15" dirty="0">
                <a:latin typeface="Arial"/>
                <a:cs typeface="Arial"/>
              </a:rPr>
              <a:t> </a:t>
            </a:r>
            <a:r>
              <a:rPr sz="2000" dirty="0">
                <a:latin typeface="Arial"/>
                <a:cs typeface="Arial"/>
              </a:rPr>
              <a:t>the</a:t>
            </a:r>
            <a:r>
              <a:rPr sz="2000" spc="-10" dirty="0">
                <a:latin typeface="Arial"/>
                <a:cs typeface="Arial"/>
              </a:rPr>
              <a:t> list!</a:t>
            </a:r>
            <a:endParaRPr sz="2000">
              <a:latin typeface="Arial"/>
              <a:cs typeface="Arial"/>
            </a:endParaRPr>
          </a:p>
        </p:txBody>
      </p:sp>
      <p:grpSp>
        <p:nvGrpSpPr>
          <p:cNvPr id="3" name="object 3"/>
          <p:cNvGrpSpPr/>
          <p:nvPr/>
        </p:nvGrpSpPr>
        <p:grpSpPr>
          <a:xfrm>
            <a:off x="6906492" y="3162993"/>
            <a:ext cx="1222375" cy="1542415"/>
            <a:chOff x="5382491" y="3162992"/>
            <a:chExt cx="1222375" cy="1542415"/>
          </a:xfrm>
        </p:grpSpPr>
        <p:pic>
          <p:nvPicPr>
            <p:cNvPr id="4" name="object 4"/>
            <p:cNvPicPr/>
            <p:nvPr/>
          </p:nvPicPr>
          <p:blipFill>
            <a:blip r:embed="rId2" cstate="print"/>
            <a:stretch>
              <a:fillRect/>
            </a:stretch>
          </p:blipFill>
          <p:spPr>
            <a:xfrm>
              <a:off x="5382491" y="3470563"/>
              <a:ext cx="1221970" cy="382385"/>
            </a:xfrm>
            <a:prstGeom prst="rect">
              <a:avLst/>
            </a:prstGeom>
          </p:spPr>
        </p:pic>
        <p:pic>
          <p:nvPicPr>
            <p:cNvPr id="5" name="object 5"/>
            <p:cNvPicPr/>
            <p:nvPr/>
          </p:nvPicPr>
          <p:blipFill>
            <a:blip r:embed="rId3" cstate="print"/>
            <a:stretch>
              <a:fillRect/>
            </a:stretch>
          </p:blipFill>
          <p:spPr>
            <a:xfrm>
              <a:off x="5685905" y="3453938"/>
              <a:ext cx="623454" cy="419792"/>
            </a:xfrm>
            <a:prstGeom prst="rect">
              <a:avLst/>
            </a:prstGeom>
          </p:spPr>
        </p:pic>
        <p:pic>
          <p:nvPicPr>
            <p:cNvPr id="6" name="object 6"/>
            <p:cNvPicPr/>
            <p:nvPr/>
          </p:nvPicPr>
          <p:blipFill>
            <a:blip r:embed="rId4" cstate="print"/>
            <a:stretch>
              <a:fillRect/>
            </a:stretch>
          </p:blipFill>
          <p:spPr>
            <a:xfrm>
              <a:off x="5382491" y="3179617"/>
              <a:ext cx="1221970" cy="378229"/>
            </a:xfrm>
            <a:prstGeom prst="rect">
              <a:avLst/>
            </a:prstGeom>
          </p:spPr>
        </p:pic>
        <p:pic>
          <p:nvPicPr>
            <p:cNvPr id="7" name="object 7"/>
            <p:cNvPicPr/>
            <p:nvPr/>
          </p:nvPicPr>
          <p:blipFill>
            <a:blip r:embed="rId5" cstate="print"/>
            <a:stretch>
              <a:fillRect/>
            </a:stretch>
          </p:blipFill>
          <p:spPr>
            <a:xfrm>
              <a:off x="5619403" y="3162992"/>
              <a:ext cx="739832" cy="419792"/>
            </a:xfrm>
            <a:prstGeom prst="rect">
              <a:avLst/>
            </a:prstGeom>
          </p:spPr>
        </p:pic>
        <p:pic>
          <p:nvPicPr>
            <p:cNvPr id="8" name="object 8"/>
            <p:cNvPicPr/>
            <p:nvPr/>
          </p:nvPicPr>
          <p:blipFill>
            <a:blip r:embed="rId6" cstate="print"/>
            <a:stretch>
              <a:fillRect/>
            </a:stretch>
          </p:blipFill>
          <p:spPr>
            <a:xfrm>
              <a:off x="5382491" y="3749039"/>
              <a:ext cx="1221970" cy="378229"/>
            </a:xfrm>
            <a:prstGeom prst="rect">
              <a:avLst/>
            </a:prstGeom>
          </p:spPr>
        </p:pic>
        <p:pic>
          <p:nvPicPr>
            <p:cNvPr id="9" name="object 9"/>
            <p:cNvPicPr/>
            <p:nvPr/>
          </p:nvPicPr>
          <p:blipFill>
            <a:blip r:embed="rId7" cstate="print"/>
            <a:stretch>
              <a:fillRect/>
            </a:stretch>
          </p:blipFill>
          <p:spPr>
            <a:xfrm>
              <a:off x="5544588" y="3728257"/>
              <a:ext cx="901930" cy="423949"/>
            </a:xfrm>
            <a:prstGeom prst="rect">
              <a:avLst/>
            </a:prstGeom>
          </p:spPr>
        </p:pic>
        <p:pic>
          <p:nvPicPr>
            <p:cNvPr id="10" name="object 10"/>
            <p:cNvPicPr/>
            <p:nvPr/>
          </p:nvPicPr>
          <p:blipFill>
            <a:blip r:embed="rId8" cstate="print"/>
            <a:stretch>
              <a:fillRect/>
            </a:stretch>
          </p:blipFill>
          <p:spPr>
            <a:xfrm>
              <a:off x="5382491" y="4023360"/>
              <a:ext cx="1221970" cy="382385"/>
            </a:xfrm>
            <a:prstGeom prst="rect">
              <a:avLst/>
            </a:prstGeom>
          </p:spPr>
        </p:pic>
        <p:pic>
          <p:nvPicPr>
            <p:cNvPr id="11" name="object 11"/>
            <p:cNvPicPr/>
            <p:nvPr/>
          </p:nvPicPr>
          <p:blipFill>
            <a:blip r:embed="rId9" cstate="print"/>
            <a:stretch>
              <a:fillRect/>
            </a:stretch>
          </p:blipFill>
          <p:spPr>
            <a:xfrm>
              <a:off x="5581996" y="4006734"/>
              <a:ext cx="814647" cy="419792"/>
            </a:xfrm>
            <a:prstGeom prst="rect">
              <a:avLst/>
            </a:prstGeom>
          </p:spPr>
        </p:pic>
        <p:pic>
          <p:nvPicPr>
            <p:cNvPr id="12" name="object 12"/>
            <p:cNvPicPr/>
            <p:nvPr/>
          </p:nvPicPr>
          <p:blipFill>
            <a:blip r:embed="rId10" cstate="print"/>
            <a:stretch>
              <a:fillRect/>
            </a:stretch>
          </p:blipFill>
          <p:spPr>
            <a:xfrm>
              <a:off x="5382491" y="4301836"/>
              <a:ext cx="1221970" cy="378229"/>
            </a:xfrm>
            <a:prstGeom prst="rect">
              <a:avLst/>
            </a:prstGeom>
          </p:spPr>
        </p:pic>
        <p:pic>
          <p:nvPicPr>
            <p:cNvPr id="13" name="object 13"/>
            <p:cNvPicPr/>
            <p:nvPr/>
          </p:nvPicPr>
          <p:blipFill>
            <a:blip r:embed="rId11" cstate="print"/>
            <a:stretch>
              <a:fillRect/>
            </a:stretch>
          </p:blipFill>
          <p:spPr>
            <a:xfrm>
              <a:off x="5469774" y="4281054"/>
              <a:ext cx="1055716" cy="423949"/>
            </a:xfrm>
            <a:prstGeom prst="rect">
              <a:avLst/>
            </a:prstGeom>
          </p:spPr>
        </p:pic>
      </p:grpSp>
      <p:sp>
        <p:nvSpPr>
          <p:cNvPr id="14" name="object 14"/>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dirty="0"/>
              <a:t>THE</a:t>
            </a:r>
            <a:r>
              <a:rPr spc="-254" dirty="0"/>
              <a:t> </a:t>
            </a:r>
            <a:r>
              <a:rPr spc="-10" dirty="0"/>
              <a:t>HASH</a:t>
            </a:r>
            <a:r>
              <a:rPr spc="-254" dirty="0"/>
              <a:t> </a:t>
            </a:r>
            <a:r>
              <a:rPr spc="-105" dirty="0"/>
              <a:t>TABLE</a:t>
            </a:r>
          </a:p>
        </p:txBody>
      </p:sp>
      <p:grpSp>
        <p:nvGrpSpPr>
          <p:cNvPr id="19" name="object 19"/>
          <p:cNvGrpSpPr/>
          <p:nvPr/>
        </p:nvGrpSpPr>
        <p:grpSpPr>
          <a:xfrm>
            <a:off x="6906492" y="4580313"/>
            <a:ext cx="1222375" cy="1779270"/>
            <a:chOff x="5382491" y="4580313"/>
            <a:chExt cx="1222375" cy="1779270"/>
          </a:xfrm>
        </p:grpSpPr>
        <p:pic>
          <p:nvPicPr>
            <p:cNvPr id="20" name="object 20"/>
            <p:cNvPicPr/>
            <p:nvPr/>
          </p:nvPicPr>
          <p:blipFill>
            <a:blip r:embed="rId12" cstate="print"/>
            <a:stretch>
              <a:fillRect/>
            </a:stretch>
          </p:blipFill>
          <p:spPr>
            <a:xfrm>
              <a:off x="5382491" y="4580313"/>
              <a:ext cx="1221970" cy="378229"/>
            </a:xfrm>
            <a:prstGeom prst="rect">
              <a:avLst/>
            </a:prstGeom>
          </p:spPr>
        </p:pic>
        <p:pic>
          <p:nvPicPr>
            <p:cNvPr id="21" name="object 21"/>
            <p:cNvPicPr/>
            <p:nvPr/>
          </p:nvPicPr>
          <p:blipFill>
            <a:blip r:embed="rId13" cstate="print"/>
            <a:stretch>
              <a:fillRect/>
            </a:stretch>
          </p:blipFill>
          <p:spPr>
            <a:xfrm>
              <a:off x="5382491" y="4854632"/>
              <a:ext cx="1221970" cy="382385"/>
            </a:xfrm>
            <a:prstGeom prst="rect">
              <a:avLst/>
            </a:prstGeom>
          </p:spPr>
        </p:pic>
        <p:pic>
          <p:nvPicPr>
            <p:cNvPr id="22" name="object 22"/>
            <p:cNvPicPr/>
            <p:nvPr/>
          </p:nvPicPr>
          <p:blipFill>
            <a:blip r:embed="rId14" cstate="print"/>
            <a:stretch>
              <a:fillRect/>
            </a:stretch>
          </p:blipFill>
          <p:spPr>
            <a:xfrm>
              <a:off x="5382491" y="5133108"/>
              <a:ext cx="1221970" cy="378229"/>
            </a:xfrm>
            <a:prstGeom prst="rect">
              <a:avLst/>
            </a:prstGeom>
          </p:spPr>
        </p:pic>
        <p:pic>
          <p:nvPicPr>
            <p:cNvPr id="23" name="object 23"/>
            <p:cNvPicPr/>
            <p:nvPr/>
          </p:nvPicPr>
          <p:blipFill>
            <a:blip r:embed="rId15" cstate="print"/>
            <a:stretch>
              <a:fillRect/>
            </a:stretch>
          </p:blipFill>
          <p:spPr>
            <a:xfrm>
              <a:off x="5382491" y="5407428"/>
              <a:ext cx="1221970" cy="382385"/>
            </a:xfrm>
            <a:prstGeom prst="rect">
              <a:avLst/>
            </a:prstGeom>
          </p:spPr>
        </p:pic>
        <p:pic>
          <p:nvPicPr>
            <p:cNvPr id="24" name="object 24"/>
            <p:cNvPicPr/>
            <p:nvPr/>
          </p:nvPicPr>
          <p:blipFill>
            <a:blip r:embed="rId16" cstate="print"/>
            <a:stretch>
              <a:fillRect/>
            </a:stretch>
          </p:blipFill>
          <p:spPr>
            <a:xfrm>
              <a:off x="5382491" y="5698374"/>
              <a:ext cx="1221970" cy="382385"/>
            </a:xfrm>
            <a:prstGeom prst="rect">
              <a:avLst/>
            </a:prstGeom>
          </p:spPr>
        </p:pic>
        <p:pic>
          <p:nvPicPr>
            <p:cNvPr id="25" name="object 25"/>
            <p:cNvPicPr/>
            <p:nvPr/>
          </p:nvPicPr>
          <p:blipFill>
            <a:blip r:embed="rId17" cstate="print"/>
            <a:stretch>
              <a:fillRect/>
            </a:stretch>
          </p:blipFill>
          <p:spPr>
            <a:xfrm>
              <a:off x="5382491" y="5976850"/>
              <a:ext cx="1221970" cy="382385"/>
            </a:xfrm>
            <a:prstGeom prst="rect">
              <a:avLst/>
            </a:prstGeom>
          </p:spPr>
        </p:pic>
      </p:grpSp>
      <p:graphicFrame>
        <p:nvGraphicFramePr>
          <p:cNvPr id="26" name="object 26"/>
          <p:cNvGraphicFramePr>
            <a:graphicFrameLocks noGrp="1"/>
          </p:cNvGraphicFramePr>
          <p:nvPr/>
        </p:nvGraphicFramePr>
        <p:xfrm>
          <a:off x="6929706" y="3225269"/>
          <a:ext cx="1118235" cy="3070860"/>
        </p:xfrm>
        <a:graphic>
          <a:graphicData uri="http://schemas.openxmlformats.org/drawingml/2006/table">
            <a:tbl>
              <a:tblPr firstRow="1" bandRow="1">
                <a:tableStyleId>{2D5ABB26-0587-4C30-8999-92F81FD0307C}</a:tableStyleId>
              </a:tblPr>
              <a:tblGrid>
                <a:gridCol w="1118235">
                  <a:extLst>
                    <a:ext uri="{9D8B030D-6E8A-4147-A177-3AD203B41FA5}">
                      <a16:colId xmlns:a16="http://schemas.microsoft.com/office/drawing/2014/main" val="20000"/>
                    </a:ext>
                  </a:extLst>
                </a:gridCol>
              </a:tblGrid>
              <a:tr h="283210">
                <a:tc>
                  <a:txBody>
                    <a:bodyPr/>
                    <a:lstStyle/>
                    <a:p>
                      <a:pPr marL="5715" algn="ctr">
                        <a:lnSpc>
                          <a:spcPts val="2130"/>
                        </a:lnSpc>
                        <a:spcBef>
                          <a:spcPts val="5"/>
                        </a:spcBef>
                      </a:pPr>
                      <a:r>
                        <a:rPr sz="1800" spc="-10" dirty="0">
                          <a:latin typeface="Arial"/>
                          <a:cs typeface="Arial"/>
                        </a:rPr>
                        <a:t>Apple</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83845">
                <a:tc>
                  <a:txBody>
                    <a:bodyPr/>
                    <a:lstStyle/>
                    <a:p>
                      <a:pPr marL="5715" algn="ctr">
                        <a:lnSpc>
                          <a:spcPts val="2070"/>
                        </a:lnSpc>
                        <a:spcBef>
                          <a:spcPts val="65"/>
                        </a:spcBef>
                      </a:pPr>
                      <a:r>
                        <a:rPr sz="1800" spc="-20" dirty="0">
                          <a:latin typeface="Arial"/>
                          <a:cs typeface="Arial"/>
                        </a:rPr>
                        <a:t>Pear</a:t>
                      </a:r>
                      <a:endParaRPr sz="1800">
                        <a:latin typeface="Arial"/>
                        <a:cs typeface="Arial"/>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276225">
                <a:tc>
                  <a:txBody>
                    <a:bodyPr/>
                    <a:lstStyle/>
                    <a:p>
                      <a:pPr marL="5715" algn="ctr">
                        <a:lnSpc>
                          <a:spcPts val="2065"/>
                        </a:lnSpc>
                        <a:spcBef>
                          <a:spcPts val="10"/>
                        </a:spcBef>
                      </a:pPr>
                      <a:r>
                        <a:rPr sz="1800" spc="-10" dirty="0">
                          <a:latin typeface="Arial"/>
                          <a:cs typeface="Arial"/>
                        </a:rPr>
                        <a:t>Orange</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76225">
                <a:tc>
                  <a:txBody>
                    <a:bodyPr/>
                    <a:lstStyle/>
                    <a:p>
                      <a:pPr marL="5715" algn="ctr">
                        <a:lnSpc>
                          <a:spcPts val="2070"/>
                        </a:lnSpc>
                        <a:spcBef>
                          <a:spcPts val="5"/>
                        </a:spcBef>
                      </a:pPr>
                      <a:r>
                        <a:rPr sz="1800" spc="-10" dirty="0">
                          <a:latin typeface="Arial"/>
                          <a:cs typeface="Arial"/>
                        </a:rPr>
                        <a:t>Durian</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3"/>
                  </a:ext>
                </a:extLst>
              </a:tr>
              <a:tr h="277495">
                <a:tc>
                  <a:txBody>
                    <a:bodyPr/>
                    <a:lstStyle/>
                    <a:p>
                      <a:pPr marL="5715" algn="ctr">
                        <a:lnSpc>
                          <a:spcPts val="2080"/>
                        </a:lnSpc>
                        <a:spcBef>
                          <a:spcPts val="10"/>
                        </a:spcBef>
                      </a:pPr>
                      <a:r>
                        <a:rPr sz="1800" spc="-10" dirty="0">
                          <a:latin typeface="Arial"/>
                          <a:cs typeface="Arial"/>
                        </a:rPr>
                        <a:t>Kumquat</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4"/>
                  </a:ext>
                </a:extLst>
              </a:tr>
              <a:tr h="27749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5"/>
                  </a:ext>
                </a:extLst>
              </a:tr>
              <a:tr h="27622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7622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7"/>
                  </a:ext>
                </a:extLst>
              </a:tr>
              <a:tr h="28384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28384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9"/>
                  </a:ext>
                </a:extLst>
              </a:tr>
              <a:tr h="27622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10"/>
                  </a:ext>
                </a:extLst>
              </a:tr>
            </a:tbl>
          </a:graphicData>
        </a:graphic>
      </p:graphicFrame>
      <p:sp>
        <p:nvSpPr>
          <p:cNvPr id="27" name="object 27"/>
          <p:cNvSpPr txBox="1"/>
          <p:nvPr/>
        </p:nvSpPr>
        <p:spPr>
          <a:xfrm>
            <a:off x="8173856" y="4053716"/>
            <a:ext cx="190500" cy="299720"/>
          </a:xfrm>
          <a:prstGeom prst="rect">
            <a:avLst/>
          </a:prstGeom>
        </p:spPr>
        <p:txBody>
          <a:bodyPr vert="horz" wrap="square" lIns="0" tIns="12700" rIns="0" bIns="0" rtlCol="0">
            <a:spAutoFit/>
          </a:bodyPr>
          <a:lstStyle/>
          <a:p>
            <a:pPr marL="12700">
              <a:spcBef>
                <a:spcPts val="100"/>
              </a:spcBef>
            </a:pPr>
            <a:r>
              <a:rPr b="1" dirty="0">
                <a:latin typeface="Arial"/>
                <a:cs typeface="Arial"/>
              </a:rPr>
              <a:t>D</a:t>
            </a:r>
            <a:endParaRPr>
              <a:latin typeface="Arial"/>
              <a:cs typeface="Arial"/>
            </a:endParaRPr>
          </a:p>
        </p:txBody>
      </p:sp>
      <p:sp>
        <p:nvSpPr>
          <p:cNvPr id="28" name="TextBox 27">
            <a:extLst>
              <a:ext uri="{FF2B5EF4-FFF2-40B4-BE49-F238E27FC236}">
                <a16:creationId xmlns:a16="http://schemas.microsoft.com/office/drawing/2014/main" id="{ABA840DA-50D8-47A1-BA07-A3E92F3865B5}"/>
              </a:ext>
            </a:extLst>
          </p:cNvPr>
          <p:cNvSpPr txBox="1"/>
          <p:nvPr/>
        </p:nvSpPr>
        <p:spPr>
          <a:xfrm>
            <a:off x="2449285" y="3149152"/>
            <a:ext cx="642257" cy="2862322"/>
          </a:xfrm>
          <a:prstGeom prst="rect">
            <a:avLst/>
          </a:prstGeom>
          <a:noFill/>
          <a:ln>
            <a:solidFill>
              <a:schemeClr val="tx1"/>
            </a:solidFill>
          </a:ln>
        </p:spPr>
        <p:txBody>
          <a:bodyPr wrap="square" rtlCol="0">
            <a:spAutoFit/>
          </a:bodyPr>
          <a:lstStyle/>
          <a:p>
            <a:endParaRPr lang="en-US" dirty="0"/>
          </a:p>
          <a:p>
            <a:endParaRPr lang="en-US" dirty="0"/>
          </a:p>
          <a:p>
            <a:endParaRPr lang="en-US" dirty="0"/>
          </a:p>
          <a:p>
            <a:endParaRPr lang="en-US" dirty="0"/>
          </a:p>
          <a:p>
            <a:endParaRPr lang="en-US" dirty="0"/>
          </a:p>
          <a:p>
            <a:pPr algn="ctr"/>
            <a:r>
              <a:rPr lang="en-US" dirty="0"/>
              <a:t>M</a:t>
            </a:r>
          </a:p>
          <a:p>
            <a:endParaRPr lang="en-US" dirty="0"/>
          </a:p>
          <a:p>
            <a:endParaRPr lang="en-US" dirty="0"/>
          </a:p>
          <a:p>
            <a:endParaRPr lang="en-US"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39" y="1604264"/>
            <a:ext cx="5541010" cy="1436370"/>
          </a:xfrm>
          <a:prstGeom prst="rect">
            <a:avLst/>
          </a:prstGeom>
        </p:spPr>
        <p:txBody>
          <a:bodyPr vert="horz" wrap="square" lIns="0" tIns="193675" rIns="0" bIns="0" rtlCol="0">
            <a:spAutoFit/>
          </a:bodyPr>
          <a:lstStyle/>
          <a:p>
            <a:pPr marL="354965" indent="-342265">
              <a:spcBef>
                <a:spcPts val="1525"/>
              </a:spcBef>
              <a:buFont typeface="Arial"/>
              <a:buChar char="•"/>
              <a:tabLst>
                <a:tab pos="354965" algn="l"/>
                <a:tab pos="355600" algn="l"/>
              </a:tabLst>
            </a:pPr>
            <a:r>
              <a:rPr sz="2800" b="1" dirty="0">
                <a:latin typeface="Arial"/>
                <a:cs typeface="Arial"/>
              </a:rPr>
              <a:t>What</a:t>
            </a:r>
            <a:r>
              <a:rPr sz="2800" b="1" spc="-15" dirty="0">
                <a:latin typeface="Arial"/>
                <a:cs typeface="Arial"/>
              </a:rPr>
              <a:t> </a:t>
            </a:r>
            <a:r>
              <a:rPr sz="2800" b="1" dirty="0">
                <a:latin typeface="Arial"/>
                <a:cs typeface="Arial"/>
              </a:rPr>
              <a:t>is</a:t>
            </a:r>
            <a:r>
              <a:rPr sz="2800" b="1" spc="-10" dirty="0">
                <a:latin typeface="Arial"/>
                <a:cs typeface="Arial"/>
              </a:rPr>
              <a:t> </a:t>
            </a:r>
            <a:r>
              <a:rPr sz="2800" b="1" dirty="0">
                <a:latin typeface="Arial"/>
                <a:cs typeface="Arial"/>
              </a:rPr>
              <a:t>the</a:t>
            </a:r>
            <a:r>
              <a:rPr sz="2800" b="1" spc="-10" dirty="0">
                <a:latin typeface="Arial"/>
                <a:cs typeface="Arial"/>
              </a:rPr>
              <a:t> </a:t>
            </a:r>
            <a:r>
              <a:rPr sz="2800" b="1" dirty="0">
                <a:latin typeface="Arial"/>
                <a:cs typeface="Arial"/>
              </a:rPr>
              <a:t>problem</a:t>
            </a:r>
            <a:r>
              <a:rPr sz="2800" b="1" spc="-10" dirty="0">
                <a:latin typeface="Arial"/>
                <a:cs typeface="Arial"/>
              </a:rPr>
              <a:t> here?</a:t>
            </a:r>
            <a:endParaRPr sz="2800">
              <a:latin typeface="Arial"/>
              <a:cs typeface="Arial"/>
            </a:endParaRPr>
          </a:p>
          <a:p>
            <a:pPr marL="812165" lvl="1" indent="-342265">
              <a:spcBef>
                <a:spcPts val="1019"/>
              </a:spcBef>
              <a:buClr>
                <a:srgbClr val="D1282E"/>
              </a:buClr>
              <a:buChar char="•"/>
              <a:tabLst>
                <a:tab pos="812165" algn="l"/>
                <a:tab pos="812800" algn="l"/>
              </a:tabLst>
            </a:pPr>
            <a:r>
              <a:rPr sz="2000" spc="-25" dirty="0">
                <a:latin typeface="Arial"/>
                <a:cs typeface="Arial"/>
              </a:rPr>
              <a:t>Takes</a:t>
            </a:r>
            <a:r>
              <a:rPr sz="2000" spc="-30" dirty="0">
                <a:latin typeface="Arial"/>
                <a:cs typeface="Arial"/>
              </a:rPr>
              <a:t> </a:t>
            </a:r>
            <a:r>
              <a:rPr sz="2000" dirty="0">
                <a:latin typeface="Arial"/>
                <a:cs typeface="Arial"/>
              </a:rPr>
              <a:t>O(D)</a:t>
            </a:r>
            <a:r>
              <a:rPr sz="2000" spc="-20" dirty="0">
                <a:latin typeface="Arial"/>
                <a:cs typeface="Arial"/>
              </a:rPr>
              <a:t> </a:t>
            </a:r>
            <a:r>
              <a:rPr sz="2000" dirty="0">
                <a:latin typeface="Arial"/>
                <a:cs typeface="Arial"/>
              </a:rPr>
              <a:t>time</a:t>
            </a:r>
            <a:r>
              <a:rPr sz="2000" spc="-15" dirty="0">
                <a:latin typeface="Arial"/>
                <a:cs typeface="Arial"/>
              </a:rPr>
              <a:t> </a:t>
            </a:r>
            <a:r>
              <a:rPr sz="2000" dirty="0">
                <a:latin typeface="Arial"/>
                <a:cs typeface="Arial"/>
              </a:rPr>
              <a:t>to</a:t>
            </a:r>
            <a:r>
              <a:rPr sz="2000" spc="-15" dirty="0">
                <a:latin typeface="Arial"/>
                <a:cs typeface="Arial"/>
              </a:rPr>
              <a:t> </a:t>
            </a:r>
            <a:r>
              <a:rPr sz="2000" dirty="0">
                <a:latin typeface="Arial"/>
                <a:cs typeface="Arial"/>
              </a:rPr>
              <a:t>find</a:t>
            </a:r>
            <a:r>
              <a:rPr sz="2000" spc="-15" dirty="0">
                <a:latin typeface="Arial"/>
                <a:cs typeface="Arial"/>
              </a:rPr>
              <a:t> </a:t>
            </a:r>
            <a:r>
              <a:rPr sz="2000" dirty="0">
                <a:latin typeface="Arial"/>
                <a:cs typeface="Arial"/>
              </a:rPr>
              <a:t>the</a:t>
            </a:r>
            <a:r>
              <a:rPr sz="2000" spc="-15" dirty="0">
                <a:latin typeface="Arial"/>
                <a:cs typeface="Arial"/>
              </a:rPr>
              <a:t> </a:t>
            </a:r>
            <a:r>
              <a:rPr sz="2000" dirty="0">
                <a:latin typeface="Arial"/>
                <a:cs typeface="Arial"/>
              </a:rPr>
              <a:t>word</a:t>
            </a:r>
            <a:r>
              <a:rPr sz="2000" spc="-15" dirty="0">
                <a:latin typeface="Arial"/>
                <a:cs typeface="Arial"/>
              </a:rPr>
              <a:t> </a:t>
            </a:r>
            <a:r>
              <a:rPr sz="2000" dirty="0">
                <a:latin typeface="Arial"/>
                <a:cs typeface="Arial"/>
              </a:rPr>
              <a:t>in</a:t>
            </a:r>
            <a:r>
              <a:rPr sz="2000" spc="-15" dirty="0">
                <a:latin typeface="Arial"/>
                <a:cs typeface="Arial"/>
              </a:rPr>
              <a:t> </a:t>
            </a:r>
            <a:r>
              <a:rPr sz="2000" dirty="0">
                <a:latin typeface="Arial"/>
                <a:cs typeface="Arial"/>
              </a:rPr>
              <a:t>the</a:t>
            </a:r>
            <a:r>
              <a:rPr sz="2000" spc="-10" dirty="0">
                <a:latin typeface="Arial"/>
                <a:cs typeface="Arial"/>
              </a:rPr>
              <a:t> </a:t>
            </a:r>
            <a:r>
              <a:rPr sz="2000" spc="-20" dirty="0">
                <a:latin typeface="Arial"/>
                <a:cs typeface="Arial"/>
              </a:rPr>
              <a:t>list</a:t>
            </a:r>
            <a:endParaRPr sz="2000">
              <a:latin typeface="Arial"/>
              <a:cs typeface="Arial"/>
            </a:endParaRPr>
          </a:p>
          <a:p>
            <a:pPr marL="812165" lvl="1" indent="-342265">
              <a:spcBef>
                <a:spcPts val="500"/>
              </a:spcBef>
              <a:buClr>
                <a:srgbClr val="D1282E"/>
              </a:buClr>
              <a:buChar char="•"/>
              <a:tabLst>
                <a:tab pos="812165" algn="l"/>
                <a:tab pos="812800" algn="l"/>
              </a:tabLst>
            </a:pPr>
            <a:r>
              <a:rPr sz="2000" dirty="0">
                <a:latin typeface="Arial"/>
                <a:cs typeface="Arial"/>
              </a:rPr>
              <a:t>Same</a:t>
            </a:r>
            <a:r>
              <a:rPr sz="2000" spc="-5" dirty="0">
                <a:latin typeface="Arial"/>
                <a:cs typeface="Arial"/>
              </a:rPr>
              <a:t> </a:t>
            </a:r>
            <a:r>
              <a:rPr sz="2000" dirty="0">
                <a:latin typeface="Arial"/>
                <a:cs typeface="Arial"/>
              </a:rPr>
              <a:t>problem</a:t>
            </a:r>
            <a:r>
              <a:rPr sz="2000" spc="-5" dirty="0">
                <a:latin typeface="Arial"/>
                <a:cs typeface="Arial"/>
              </a:rPr>
              <a:t> </a:t>
            </a:r>
            <a:r>
              <a:rPr sz="2000" dirty="0">
                <a:latin typeface="Arial"/>
                <a:cs typeface="Arial"/>
              </a:rPr>
              <a:t>with</a:t>
            </a:r>
            <a:r>
              <a:rPr sz="2000" spc="-5" dirty="0">
                <a:latin typeface="Arial"/>
                <a:cs typeface="Arial"/>
              </a:rPr>
              <a:t> </a:t>
            </a:r>
            <a:r>
              <a:rPr sz="2000" dirty="0">
                <a:latin typeface="Arial"/>
                <a:cs typeface="Arial"/>
              </a:rPr>
              <a:t>sorted </a:t>
            </a:r>
            <a:r>
              <a:rPr sz="2000" spc="-10" dirty="0">
                <a:latin typeface="Arial"/>
                <a:cs typeface="Arial"/>
              </a:rPr>
              <a:t>arrays!</a:t>
            </a:r>
            <a:endParaRPr sz="2000">
              <a:latin typeface="Arial"/>
              <a:cs typeface="Arial"/>
            </a:endParaRPr>
          </a:p>
        </p:txBody>
      </p:sp>
      <p:sp>
        <p:nvSpPr>
          <p:cNvPr id="14" name="object 14"/>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dirty="0"/>
              <a:t>THE</a:t>
            </a:r>
            <a:r>
              <a:rPr spc="-254" dirty="0"/>
              <a:t> </a:t>
            </a:r>
            <a:r>
              <a:rPr spc="-10" dirty="0"/>
              <a:t>HASH</a:t>
            </a:r>
            <a:r>
              <a:rPr spc="-254" dirty="0"/>
              <a:t> </a:t>
            </a:r>
            <a:r>
              <a:rPr spc="-105" dirty="0"/>
              <a:t>TABLE</a:t>
            </a:r>
          </a:p>
        </p:txBody>
      </p:sp>
      <p:graphicFrame>
        <p:nvGraphicFramePr>
          <p:cNvPr id="26" name="object 26"/>
          <p:cNvGraphicFramePr>
            <a:graphicFrameLocks noGrp="1"/>
          </p:cNvGraphicFramePr>
          <p:nvPr>
            <p:extLst>
              <p:ext uri="{D42A27DB-BD31-4B8C-83A1-F6EECF244321}">
                <p14:modId xmlns:p14="http://schemas.microsoft.com/office/powerpoint/2010/main" val="4110765184"/>
              </p:ext>
            </p:extLst>
          </p:nvPr>
        </p:nvGraphicFramePr>
        <p:xfrm>
          <a:off x="6915060" y="3094952"/>
          <a:ext cx="1118235" cy="3296285"/>
        </p:xfrm>
        <a:graphic>
          <a:graphicData uri="http://schemas.openxmlformats.org/drawingml/2006/table">
            <a:tbl>
              <a:tblPr firstRow="1" bandRow="1">
                <a:tableStyleId>{2D5ABB26-0587-4C30-8999-92F81FD0307C}</a:tableStyleId>
              </a:tblPr>
              <a:tblGrid>
                <a:gridCol w="1118235">
                  <a:extLst>
                    <a:ext uri="{9D8B030D-6E8A-4147-A177-3AD203B41FA5}">
                      <a16:colId xmlns:a16="http://schemas.microsoft.com/office/drawing/2014/main" val="20000"/>
                    </a:ext>
                  </a:extLst>
                </a:gridCol>
              </a:tblGrid>
              <a:tr h="283210">
                <a:tc>
                  <a:txBody>
                    <a:bodyPr/>
                    <a:lstStyle/>
                    <a:p>
                      <a:pPr marL="5715" algn="ctr">
                        <a:lnSpc>
                          <a:spcPts val="2130"/>
                        </a:lnSpc>
                        <a:spcBef>
                          <a:spcPts val="5"/>
                        </a:spcBef>
                      </a:pPr>
                      <a:r>
                        <a:rPr sz="1800" spc="-10" dirty="0">
                          <a:latin typeface="Arial"/>
                          <a:cs typeface="Arial"/>
                        </a:rPr>
                        <a:t>Apple</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83845">
                <a:tc>
                  <a:txBody>
                    <a:bodyPr/>
                    <a:lstStyle/>
                    <a:p>
                      <a:pPr marL="5715" algn="ctr">
                        <a:lnSpc>
                          <a:spcPts val="2070"/>
                        </a:lnSpc>
                        <a:spcBef>
                          <a:spcPts val="65"/>
                        </a:spcBef>
                      </a:pPr>
                      <a:r>
                        <a:rPr lang="en-US" sz="1800" dirty="0">
                          <a:latin typeface="Arial"/>
                          <a:cs typeface="Arial"/>
                        </a:rPr>
                        <a:t>Durian</a:t>
                      </a:r>
                      <a:endParaRPr sz="1800" dirty="0">
                        <a:latin typeface="Arial"/>
                        <a:cs typeface="Arial"/>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276225">
                <a:tc>
                  <a:txBody>
                    <a:bodyPr/>
                    <a:lstStyle/>
                    <a:p>
                      <a:pPr marL="5715" algn="ctr">
                        <a:lnSpc>
                          <a:spcPts val="2065"/>
                        </a:lnSpc>
                        <a:spcBef>
                          <a:spcPts val="10"/>
                        </a:spcBef>
                      </a:pPr>
                      <a:r>
                        <a:rPr lang="en-US" sz="1800" dirty="0">
                          <a:latin typeface="Arial"/>
                          <a:cs typeface="Arial"/>
                        </a:rPr>
                        <a:t>Kumquat</a:t>
                      </a:r>
                      <a:endParaRPr sz="1800" dirty="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76225">
                <a:tc>
                  <a:txBody>
                    <a:bodyPr/>
                    <a:lstStyle/>
                    <a:p>
                      <a:pPr marL="5715" algn="ctr">
                        <a:lnSpc>
                          <a:spcPts val="2070"/>
                        </a:lnSpc>
                        <a:spcBef>
                          <a:spcPts val="5"/>
                        </a:spcBef>
                      </a:pPr>
                      <a:r>
                        <a:rPr lang="en-US" sz="1800" spc="-10" dirty="0">
                          <a:latin typeface="Arial"/>
                          <a:cs typeface="Arial"/>
                        </a:rPr>
                        <a:t>Orange</a:t>
                      </a:r>
                      <a:endParaRPr sz="1800" dirty="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3"/>
                  </a:ext>
                </a:extLst>
              </a:tr>
              <a:tr h="277495">
                <a:tc>
                  <a:txBody>
                    <a:bodyPr/>
                    <a:lstStyle/>
                    <a:p>
                      <a:pPr marL="5715" algn="ctr">
                        <a:lnSpc>
                          <a:spcPts val="2080"/>
                        </a:lnSpc>
                        <a:spcBef>
                          <a:spcPts val="10"/>
                        </a:spcBef>
                      </a:pPr>
                      <a:r>
                        <a:rPr lang="en-US" sz="1800" spc="-20" dirty="0">
                          <a:latin typeface="Arial"/>
                          <a:cs typeface="Arial"/>
                        </a:rPr>
                        <a:t>Pear</a:t>
                      </a:r>
                      <a:endParaRPr sz="1800" dirty="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4"/>
                  </a:ext>
                </a:extLst>
              </a:tr>
              <a:tr h="2774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latin typeface="Arial"/>
                        <a:cs typeface="Arial"/>
                      </a:endParaRPr>
                    </a:p>
                    <a:p>
                      <a:pPr>
                        <a:lnSpc>
                          <a:spcPct val="100000"/>
                        </a:lnSpc>
                      </a:pPr>
                      <a:endParaRPr sz="17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5"/>
                  </a:ext>
                </a:extLst>
              </a:tr>
              <a:tr h="27622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7622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7"/>
                  </a:ext>
                </a:extLst>
              </a:tr>
              <a:tr h="28384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28384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9"/>
                  </a:ext>
                </a:extLst>
              </a:tr>
              <a:tr h="276225">
                <a:tc>
                  <a:txBody>
                    <a:bodyPr/>
                    <a:lstStyle/>
                    <a:p>
                      <a:pPr>
                        <a:lnSpc>
                          <a:spcPct val="100000"/>
                        </a:lnSpc>
                      </a:pPr>
                      <a:endParaRPr sz="17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10"/>
                  </a:ext>
                </a:extLst>
              </a:tr>
            </a:tbl>
          </a:graphicData>
        </a:graphic>
      </p:graphicFrame>
      <p:sp>
        <p:nvSpPr>
          <p:cNvPr id="27" name="object 27"/>
          <p:cNvSpPr txBox="1"/>
          <p:nvPr/>
        </p:nvSpPr>
        <p:spPr>
          <a:xfrm>
            <a:off x="8173856" y="4053716"/>
            <a:ext cx="190500" cy="299720"/>
          </a:xfrm>
          <a:prstGeom prst="rect">
            <a:avLst/>
          </a:prstGeom>
        </p:spPr>
        <p:txBody>
          <a:bodyPr vert="horz" wrap="square" lIns="0" tIns="12700" rIns="0" bIns="0" rtlCol="0">
            <a:spAutoFit/>
          </a:bodyPr>
          <a:lstStyle/>
          <a:p>
            <a:pPr marL="12700">
              <a:spcBef>
                <a:spcPts val="100"/>
              </a:spcBef>
            </a:pPr>
            <a:r>
              <a:rPr b="1" dirty="0">
                <a:latin typeface="Arial"/>
                <a:cs typeface="Arial"/>
              </a:rPr>
              <a:t>D</a:t>
            </a:r>
            <a:endParaRPr>
              <a:latin typeface="Arial"/>
              <a:cs typeface="Arial"/>
            </a:endParaRPr>
          </a:p>
        </p:txBody>
      </p:sp>
      <p:sp>
        <p:nvSpPr>
          <p:cNvPr id="28" name="TextBox 27">
            <a:extLst>
              <a:ext uri="{FF2B5EF4-FFF2-40B4-BE49-F238E27FC236}">
                <a16:creationId xmlns:a16="http://schemas.microsoft.com/office/drawing/2014/main" id="{55667AED-9DAE-41C4-95CE-1D0C1B29E53C}"/>
              </a:ext>
            </a:extLst>
          </p:cNvPr>
          <p:cNvSpPr txBox="1"/>
          <p:nvPr/>
        </p:nvSpPr>
        <p:spPr>
          <a:xfrm>
            <a:off x="2362199" y="3231619"/>
            <a:ext cx="642257" cy="2862322"/>
          </a:xfrm>
          <a:prstGeom prst="rect">
            <a:avLst/>
          </a:prstGeom>
          <a:noFill/>
          <a:ln>
            <a:solidFill>
              <a:schemeClr val="tx1"/>
            </a:solidFill>
          </a:ln>
        </p:spPr>
        <p:txBody>
          <a:bodyPr wrap="square" rtlCol="0">
            <a:spAutoFit/>
          </a:bodyPr>
          <a:lstStyle/>
          <a:p>
            <a:endParaRPr lang="en-US" dirty="0"/>
          </a:p>
          <a:p>
            <a:endParaRPr lang="en-US" dirty="0"/>
          </a:p>
          <a:p>
            <a:endParaRPr lang="en-US" dirty="0"/>
          </a:p>
          <a:p>
            <a:endParaRPr lang="en-US" dirty="0"/>
          </a:p>
          <a:p>
            <a:endParaRPr lang="en-US" dirty="0"/>
          </a:p>
          <a:p>
            <a:pPr algn="ctr"/>
            <a:r>
              <a:rPr lang="en-US" dirty="0"/>
              <a:t>M</a:t>
            </a:r>
          </a:p>
          <a:p>
            <a:endParaRPr lang="en-US" dirty="0"/>
          </a:p>
          <a:p>
            <a:endParaRPr lang="en-US" dirty="0"/>
          </a:p>
          <a:p>
            <a:endParaRPr lang="en-US" dirty="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40" y="1785620"/>
            <a:ext cx="4733925" cy="452120"/>
          </a:xfrm>
          <a:prstGeom prst="rect">
            <a:avLst/>
          </a:prstGeom>
        </p:spPr>
        <p:txBody>
          <a:bodyPr vert="horz" wrap="square" lIns="0" tIns="12700" rIns="0" bIns="0" rtlCol="0">
            <a:spAutoFit/>
          </a:bodyPr>
          <a:lstStyle/>
          <a:p>
            <a:pPr marL="354965" indent="-342265">
              <a:spcBef>
                <a:spcPts val="100"/>
              </a:spcBef>
              <a:buFont typeface="Arial"/>
              <a:buChar char="•"/>
              <a:tabLst>
                <a:tab pos="354965" algn="l"/>
                <a:tab pos="355600" algn="l"/>
              </a:tabLst>
            </a:pPr>
            <a:r>
              <a:rPr sz="2800" b="1" dirty="0">
                <a:latin typeface="Arial"/>
                <a:cs typeface="Arial"/>
              </a:rPr>
              <a:t>What</a:t>
            </a:r>
            <a:r>
              <a:rPr sz="2800" b="1" spc="-25" dirty="0">
                <a:latin typeface="Arial"/>
                <a:cs typeface="Arial"/>
              </a:rPr>
              <a:t> </a:t>
            </a:r>
            <a:r>
              <a:rPr sz="2800" b="1" dirty="0">
                <a:latin typeface="Arial"/>
                <a:cs typeface="Arial"/>
              </a:rPr>
              <a:t>is</a:t>
            </a:r>
            <a:r>
              <a:rPr sz="2800" b="1" spc="-10" dirty="0">
                <a:latin typeface="Arial"/>
                <a:cs typeface="Arial"/>
              </a:rPr>
              <a:t> </a:t>
            </a:r>
            <a:r>
              <a:rPr sz="2800" b="1" dirty="0">
                <a:latin typeface="Arial"/>
                <a:cs typeface="Arial"/>
              </a:rPr>
              <a:t>another</a:t>
            </a:r>
            <a:r>
              <a:rPr sz="2800" b="1" spc="-10" dirty="0">
                <a:latin typeface="Arial"/>
                <a:cs typeface="Arial"/>
              </a:rPr>
              <a:t> solution?</a:t>
            </a:r>
            <a:endParaRPr sz="2800">
              <a:latin typeface="Arial"/>
              <a:cs typeface="Arial"/>
            </a:endParaRPr>
          </a:p>
        </p:txBody>
      </p:sp>
      <p:grpSp>
        <p:nvGrpSpPr>
          <p:cNvPr id="3" name="object 3"/>
          <p:cNvGrpSpPr/>
          <p:nvPr/>
        </p:nvGrpSpPr>
        <p:grpSpPr>
          <a:xfrm>
            <a:off x="6906492" y="3162993"/>
            <a:ext cx="1222375" cy="1542415"/>
            <a:chOff x="5382491" y="3162992"/>
            <a:chExt cx="1222375" cy="1542415"/>
          </a:xfrm>
        </p:grpSpPr>
        <p:pic>
          <p:nvPicPr>
            <p:cNvPr id="4" name="object 4"/>
            <p:cNvPicPr/>
            <p:nvPr/>
          </p:nvPicPr>
          <p:blipFill>
            <a:blip r:embed="rId2" cstate="print"/>
            <a:stretch>
              <a:fillRect/>
            </a:stretch>
          </p:blipFill>
          <p:spPr>
            <a:xfrm>
              <a:off x="5382491" y="3470563"/>
              <a:ext cx="1221970" cy="382385"/>
            </a:xfrm>
            <a:prstGeom prst="rect">
              <a:avLst/>
            </a:prstGeom>
          </p:spPr>
        </p:pic>
        <p:pic>
          <p:nvPicPr>
            <p:cNvPr id="5" name="object 5"/>
            <p:cNvPicPr/>
            <p:nvPr/>
          </p:nvPicPr>
          <p:blipFill>
            <a:blip r:embed="rId3" cstate="print"/>
            <a:stretch>
              <a:fillRect/>
            </a:stretch>
          </p:blipFill>
          <p:spPr>
            <a:xfrm>
              <a:off x="5685905" y="3453938"/>
              <a:ext cx="623454" cy="419792"/>
            </a:xfrm>
            <a:prstGeom prst="rect">
              <a:avLst/>
            </a:prstGeom>
          </p:spPr>
        </p:pic>
        <p:pic>
          <p:nvPicPr>
            <p:cNvPr id="6" name="object 6"/>
            <p:cNvPicPr/>
            <p:nvPr/>
          </p:nvPicPr>
          <p:blipFill>
            <a:blip r:embed="rId4" cstate="print"/>
            <a:stretch>
              <a:fillRect/>
            </a:stretch>
          </p:blipFill>
          <p:spPr>
            <a:xfrm>
              <a:off x="5382491" y="3179617"/>
              <a:ext cx="1221970" cy="378229"/>
            </a:xfrm>
            <a:prstGeom prst="rect">
              <a:avLst/>
            </a:prstGeom>
          </p:spPr>
        </p:pic>
        <p:pic>
          <p:nvPicPr>
            <p:cNvPr id="7" name="object 7"/>
            <p:cNvPicPr/>
            <p:nvPr/>
          </p:nvPicPr>
          <p:blipFill>
            <a:blip r:embed="rId5" cstate="print"/>
            <a:stretch>
              <a:fillRect/>
            </a:stretch>
          </p:blipFill>
          <p:spPr>
            <a:xfrm>
              <a:off x="5619403" y="3162992"/>
              <a:ext cx="739832" cy="419792"/>
            </a:xfrm>
            <a:prstGeom prst="rect">
              <a:avLst/>
            </a:prstGeom>
          </p:spPr>
        </p:pic>
        <p:pic>
          <p:nvPicPr>
            <p:cNvPr id="8" name="object 8"/>
            <p:cNvPicPr/>
            <p:nvPr/>
          </p:nvPicPr>
          <p:blipFill>
            <a:blip r:embed="rId6" cstate="print"/>
            <a:stretch>
              <a:fillRect/>
            </a:stretch>
          </p:blipFill>
          <p:spPr>
            <a:xfrm>
              <a:off x="5382491" y="3749039"/>
              <a:ext cx="1221970" cy="378229"/>
            </a:xfrm>
            <a:prstGeom prst="rect">
              <a:avLst/>
            </a:prstGeom>
          </p:spPr>
        </p:pic>
        <p:pic>
          <p:nvPicPr>
            <p:cNvPr id="9" name="object 9"/>
            <p:cNvPicPr/>
            <p:nvPr/>
          </p:nvPicPr>
          <p:blipFill>
            <a:blip r:embed="rId7" cstate="print"/>
            <a:stretch>
              <a:fillRect/>
            </a:stretch>
          </p:blipFill>
          <p:spPr>
            <a:xfrm>
              <a:off x="5544588" y="3728257"/>
              <a:ext cx="901930" cy="423949"/>
            </a:xfrm>
            <a:prstGeom prst="rect">
              <a:avLst/>
            </a:prstGeom>
          </p:spPr>
        </p:pic>
        <p:pic>
          <p:nvPicPr>
            <p:cNvPr id="10" name="object 10"/>
            <p:cNvPicPr/>
            <p:nvPr/>
          </p:nvPicPr>
          <p:blipFill>
            <a:blip r:embed="rId8" cstate="print"/>
            <a:stretch>
              <a:fillRect/>
            </a:stretch>
          </p:blipFill>
          <p:spPr>
            <a:xfrm>
              <a:off x="5382491" y="4023360"/>
              <a:ext cx="1221970" cy="382385"/>
            </a:xfrm>
            <a:prstGeom prst="rect">
              <a:avLst/>
            </a:prstGeom>
          </p:spPr>
        </p:pic>
        <p:pic>
          <p:nvPicPr>
            <p:cNvPr id="11" name="object 11"/>
            <p:cNvPicPr/>
            <p:nvPr/>
          </p:nvPicPr>
          <p:blipFill>
            <a:blip r:embed="rId9" cstate="print"/>
            <a:stretch>
              <a:fillRect/>
            </a:stretch>
          </p:blipFill>
          <p:spPr>
            <a:xfrm>
              <a:off x="5581996" y="4006734"/>
              <a:ext cx="814647" cy="419792"/>
            </a:xfrm>
            <a:prstGeom prst="rect">
              <a:avLst/>
            </a:prstGeom>
          </p:spPr>
        </p:pic>
        <p:pic>
          <p:nvPicPr>
            <p:cNvPr id="12" name="object 12"/>
            <p:cNvPicPr/>
            <p:nvPr/>
          </p:nvPicPr>
          <p:blipFill>
            <a:blip r:embed="rId10" cstate="print"/>
            <a:stretch>
              <a:fillRect/>
            </a:stretch>
          </p:blipFill>
          <p:spPr>
            <a:xfrm>
              <a:off x="5382491" y="4301836"/>
              <a:ext cx="1221970" cy="378229"/>
            </a:xfrm>
            <a:prstGeom prst="rect">
              <a:avLst/>
            </a:prstGeom>
          </p:spPr>
        </p:pic>
        <p:pic>
          <p:nvPicPr>
            <p:cNvPr id="13" name="object 13"/>
            <p:cNvPicPr/>
            <p:nvPr/>
          </p:nvPicPr>
          <p:blipFill>
            <a:blip r:embed="rId11" cstate="print"/>
            <a:stretch>
              <a:fillRect/>
            </a:stretch>
          </p:blipFill>
          <p:spPr>
            <a:xfrm>
              <a:off x="5469774" y="4281054"/>
              <a:ext cx="1055716" cy="423949"/>
            </a:xfrm>
            <a:prstGeom prst="rect">
              <a:avLst/>
            </a:prstGeom>
          </p:spPr>
        </p:pic>
      </p:grpSp>
      <p:sp>
        <p:nvSpPr>
          <p:cNvPr id="14" name="object 14"/>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dirty="0"/>
              <a:t>THE</a:t>
            </a:r>
            <a:r>
              <a:rPr spc="-254" dirty="0"/>
              <a:t> </a:t>
            </a:r>
            <a:r>
              <a:rPr spc="-10" dirty="0"/>
              <a:t>HASH</a:t>
            </a:r>
            <a:r>
              <a:rPr spc="-254" dirty="0"/>
              <a:t> </a:t>
            </a:r>
            <a:r>
              <a:rPr spc="-105" dirty="0"/>
              <a:t>TABLE</a:t>
            </a:r>
          </a:p>
        </p:txBody>
      </p:sp>
      <p:grpSp>
        <p:nvGrpSpPr>
          <p:cNvPr id="19" name="object 19"/>
          <p:cNvGrpSpPr/>
          <p:nvPr/>
        </p:nvGrpSpPr>
        <p:grpSpPr>
          <a:xfrm>
            <a:off x="6906492" y="4580313"/>
            <a:ext cx="1222375" cy="1779270"/>
            <a:chOff x="5382491" y="4580313"/>
            <a:chExt cx="1222375" cy="1779270"/>
          </a:xfrm>
        </p:grpSpPr>
        <p:pic>
          <p:nvPicPr>
            <p:cNvPr id="20" name="object 20"/>
            <p:cNvPicPr/>
            <p:nvPr/>
          </p:nvPicPr>
          <p:blipFill>
            <a:blip r:embed="rId12" cstate="print"/>
            <a:stretch>
              <a:fillRect/>
            </a:stretch>
          </p:blipFill>
          <p:spPr>
            <a:xfrm>
              <a:off x="5382491" y="4580313"/>
              <a:ext cx="1221970" cy="378229"/>
            </a:xfrm>
            <a:prstGeom prst="rect">
              <a:avLst/>
            </a:prstGeom>
          </p:spPr>
        </p:pic>
        <p:pic>
          <p:nvPicPr>
            <p:cNvPr id="21" name="object 21"/>
            <p:cNvPicPr/>
            <p:nvPr/>
          </p:nvPicPr>
          <p:blipFill>
            <a:blip r:embed="rId13" cstate="print"/>
            <a:stretch>
              <a:fillRect/>
            </a:stretch>
          </p:blipFill>
          <p:spPr>
            <a:xfrm>
              <a:off x="5382491" y="4854632"/>
              <a:ext cx="1221970" cy="382385"/>
            </a:xfrm>
            <a:prstGeom prst="rect">
              <a:avLst/>
            </a:prstGeom>
          </p:spPr>
        </p:pic>
        <p:pic>
          <p:nvPicPr>
            <p:cNvPr id="22" name="object 22"/>
            <p:cNvPicPr/>
            <p:nvPr/>
          </p:nvPicPr>
          <p:blipFill>
            <a:blip r:embed="rId14" cstate="print"/>
            <a:stretch>
              <a:fillRect/>
            </a:stretch>
          </p:blipFill>
          <p:spPr>
            <a:xfrm>
              <a:off x="5382491" y="5133108"/>
              <a:ext cx="1221970" cy="378229"/>
            </a:xfrm>
            <a:prstGeom prst="rect">
              <a:avLst/>
            </a:prstGeom>
          </p:spPr>
        </p:pic>
        <p:pic>
          <p:nvPicPr>
            <p:cNvPr id="23" name="object 23"/>
            <p:cNvPicPr/>
            <p:nvPr/>
          </p:nvPicPr>
          <p:blipFill>
            <a:blip r:embed="rId15" cstate="print"/>
            <a:stretch>
              <a:fillRect/>
            </a:stretch>
          </p:blipFill>
          <p:spPr>
            <a:xfrm>
              <a:off x="5382491" y="5407428"/>
              <a:ext cx="1221970" cy="382385"/>
            </a:xfrm>
            <a:prstGeom prst="rect">
              <a:avLst/>
            </a:prstGeom>
          </p:spPr>
        </p:pic>
        <p:pic>
          <p:nvPicPr>
            <p:cNvPr id="24" name="object 24"/>
            <p:cNvPicPr/>
            <p:nvPr/>
          </p:nvPicPr>
          <p:blipFill>
            <a:blip r:embed="rId16" cstate="print"/>
            <a:stretch>
              <a:fillRect/>
            </a:stretch>
          </p:blipFill>
          <p:spPr>
            <a:xfrm>
              <a:off x="5382491" y="5698374"/>
              <a:ext cx="1221970" cy="382385"/>
            </a:xfrm>
            <a:prstGeom prst="rect">
              <a:avLst/>
            </a:prstGeom>
          </p:spPr>
        </p:pic>
        <p:pic>
          <p:nvPicPr>
            <p:cNvPr id="25" name="object 25"/>
            <p:cNvPicPr/>
            <p:nvPr/>
          </p:nvPicPr>
          <p:blipFill>
            <a:blip r:embed="rId17" cstate="print"/>
            <a:stretch>
              <a:fillRect/>
            </a:stretch>
          </p:blipFill>
          <p:spPr>
            <a:xfrm>
              <a:off x="5382491" y="5976850"/>
              <a:ext cx="1221970" cy="382385"/>
            </a:xfrm>
            <a:prstGeom prst="rect">
              <a:avLst/>
            </a:prstGeom>
          </p:spPr>
        </p:pic>
      </p:grpSp>
      <p:graphicFrame>
        <p:nvGraphicFramePr>
          <p:cNvPr id="26" name="object 26"/>
          <p:cNvGraphicFramePr>
            <a:graphicFrameLocks noGrp="1"/>
          </p:cNvGraphicFramePr>
          <p:nvPr/>
        </p:nvGraphicFramePr>
        <p:xfrm>
          <a:off x="6929706" y="3225269"/>
          <a:ext cx="1118235" cy="3070860"/>
        </p:xfrm>
        <a:graphic>
          <a:graphicData uri="http://schemas.openxmlformats.org/drawingml/2006/table">
            <a:tbl>
              <a:tblPr firstRow="1" bandRow="1">
                <a:tableStyleId>{2D5ABB26-0587-4C30-8999-92F81FD0307C}</a:tableStyleId>
              </a:tblPr>
              <a:tblGrid>
                <a:gridCol w="1118235">
                  <a:extLst>
                    <a:ext uri="{9D8B030D-6E8A-4147-A177-3AD203B41FA5}">
                      <a16:colId xmlns:a16="http://schemas.microsoft.com/office/drawing/2014/main" val="20000"/>
                    </a:ext>
                  </a:extLst>
                </a:gridCol>
              </a:tblGrid>
              <a:tr h="283210">
                <a:tc>
                  <a:txBody>
                    <a:bodyPr/>
                    <a:lstStyle/>
                    <a:p>
                      <a:pPr marL="5715" algn="ctr">
                        <a:lnSpc>
                          <a:spcPts val="2130"/>
                        </a:lnSpc>
                        <a:spcBef>
                          <a:spcPts val="5"/>
                        </a:spcBef>
                      </a:pPr>
                      <a:r>
                        <a:rPr sz="1800" spc="-10" dirty="0">
                          <a:latin typeface="Arial"/>
                          <a:cs typeface="Arial"/>
                        </a:rPr>
                        <a:t>Apple</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83845">
                <a:tc>
                  <a:txBody>
                    <a:bodyPr/>
                    <a:lstStyle/>
                    <a:p>
                      <a:pPr marL="5715" algn="ctr">
                        <a:lnSpc>
                          <a:spcPts val="2070"/>
                        </a:lnSpc>
                        <a:spcBef>
                          <a:spcPts val="65"/>
                        </a:spcBef>
                      </a:pPr>
                      <a:r>
                        <a:rPr sz="1800" spc="-20" dirty="0">
                          <a:latin typeface="Arial"/>
                          <a:cs typeface="Arial"/>
                        </a:rPr>
                        <a:t>Pear</a:t>
                      </a:r>
                      <a:endParaRPr sz="1800">
                        <a:latin typeface="Arial"/>
                        <a:cs typeface="Arial"/>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276225">
                <a:tc>
                  <a:txBody>
                    <a:bodyPr/>
                    <a:lstStyle/>
                    <a:p>
                      <a:pPr marL="5715" algn="ctr">
                        <a:lnSpc>
                          <a:spcPts val="2065"/>
                        </a:lnSpc>
                        <a:spcBef>
                          <a:spcPts val="10"/>
                        </a:spcBef>
                      </a:pPr>
                      <a:r>
                        <a:rPr sz="1800" spc="-10" dirty="0">
                          <a:latin typeface="Arial"/>
                          <a:cs typeface="Arial"/>
                        </a:rPr>
                        <a:t>Orange</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76225">
                <a:tc>
                  <a:txBody>
                    <a:bodyPr/>
                    <a:lstStyle/>
                    <a:p>
                      <a:pPr marL="5715" algn="ctr">
                        <a:lnSpc>
                          <a:spcPts val="2070"/>
                        </a:lnSpc>
                        <a:spcBef>
                          <a:spcPts val="5"/>
                        </a:spcBef>
                      </a:pPr>
                      <a:r>
                        <a:rPr sz="1800" spc="-10" dirty="0">
                          <a:latin typeface="Arial"/>
                          <a:cs typeface="Arial"/>
                        </a:rPr>
                        <a:t>Durian</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3"/>
                  </a:ext>
                </a:extLst>
              </a:tr>
              <a:tr h="277495">
                <a:tc>
                  <a:txBody>
                    <a:bodyPr/>
                    <a:lstStyle/>
                    <a:p>
                      <a:pPr marL="5715" algn="ctr">
                        <a:lnSpc>
                          <a:spcPts val="2080"/>
                        </a:lnSpc>
                        <a:spcBef>
                          <a:spcPts val="10"/>
                        </a:spcBef>
                      </a:pPr>
                      <a:r>
                        <a:rPr sz="1800" spc="-10" dirty="0">
                          <a:latin typeface="Arial"/>
                          <a:cs typeface="Arial"/>
                        </a:rPr>
                        <a:t>Kumquat</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4"/>
                  </a:ext>
                </a:extLst>
              </a:tr>
              <a:tr h="27749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5"/>
                  </a:ext>
                </a:extLst>
              </a:tr>
              <a:tr h="27622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7622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7"/>
                  </a:ext>
                </a:extLst>
              </a:tr>
              <a:tr h="28384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28384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9"/>
                  </a:ext>
                </a:extLst>
              </a:tr>
              <a:tr h="27622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10"/>
                  </a:ext>
                </a:extLst>
              </a:tr>
            </a:tbl>
          </a:graphicData>
        </a:graphic>
      </p:graphicFrame>
      <p:sp>
        <p:nvSpPr>
          <p:cNvPr id="27" name="object 27"/>
          <p:cNvSpPr txBox="1"/>
          <p:nvPr/>
        </p:nvSpPr>
        <p:spPr>
          <a:xfrm>
            <a:off x="8173856" y="4053716"/>
            <a:ext cx="190500" cy="299720"/>
          </a:xfrm>
          <a:prstGeom prst="rect">
            <a:avLst/>
          </a:prstGeom>
        </p:spPr>
        <p:txBody>
          <a:bodyPr vert="horz" wrap="square" lIns="0" tIns="12700" rIns="0" bIns="0" rtlCol="0">
            <a:spAutoFit/>
          </a:bodyPr>
          <a:lstStyle/>
          <a:p>
            <a:pPr marL="12700">
              <a:spcBef>
                <a:spcPts val="100"/>
              </a:spcBef>
            </a:pPr>
            <a:r>
              <a:rPr b="1" dirty="0">
                <a:latin typeface="Arial"/>
                <a:cs typeface="Arial"/>
              </a:rPr>
              <a:t>D</a:t>
            </a:r>
            <a:endParaRPr>
              <a:latin typeface="Arial"/>
              <a:cs typeface="Arial"/>
            </a:endParaRPr>
          </a:p>
        </p:txBody>
      </p:sp>
      <p:sp>
        <p:nvSpPr>
          <p:cNvPr id="28" name="TextBox 27">
            <a:extLst>
              <a:ext uri="{FF2B5EF4-FFF2-40B4-BE49-F238E27FC236}">
                <a16:creationId xmlns:a16="http://schemas.microsoft.com/office/drawing/2014/main" id="{57DE1E07-8E40-488B-82DE-4C36C083ECD6}"/>
              </a:ext>
            </a:extLst>
          </p:cNvPr>
          <p:cNvSpPr txBox="1"/>
          <p:nvPr/>
        </p:nvSpPr>
        <p:spPr>
          <a:xfrm>
            <a:off x="2362199" y="3231619"/>
            <a:ext cx="642257" cy="2862322"/>
          </a:xfrm>
          <a:prstGeom prst="rect">
            <a:avLst/>
          </a:prstGeom>
          <a:noFill/>
          <a:ln>
            <a:solidFill>
              <a:schemeClr val="tx1"/>
            </a:solidFill>
          </a:ln>
        </p:spPr>
        <p:txBody>
          <a:bodyPr wrap="square" rtlCol="0">
            <a:spAutoFit/>
          </a:bodyPr>
          <a:lstStyle/>
          <a:p>
            <a:endParaRPr lang="en-US" dirty="0"/>
          </a:p>
          <a:p>
            <a:endParaRPr lang="en-US" dirty="0"/>
          </a:p>
          <a:p>
            <a:endParaRPr lang="en-US" dirty="0"/>
          </a:p>
          <a:p>
            <a:endParaRPr lang="en-US" dirty="0"/>
          </a:p>
          <a:p>
            <a:endParaRPr lang="en-US" dirty="0"/>
          </a:p>
          <a:p>
            <a:pPr algn="ctr"/>
            <a:r>
              <a:rPr lang="en-US" dirty="0"/>
              <a:t>M</a:t>
            </a:r>
          </a:p>
          <a:p>
            <a:endParaRPr lang="en-US" dirty="0"/>
          </a:p>
          <a:p>
            <a:endParaRPr lang="en-US" dirty="0"/>
          </a:p>
          <a:p>
            <a:endParaRPr lang="en-US"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40" y="1604264"/>
            <a:ext cx="4733925" cy="1068070"/>
          </a:xfrm>
          <a:prstGeom prst="rect">
            <a:avLst/>
          </a:prstGeom>
        </p:spPr>
        <p:txBody>
          <a:bodyPr vert="horz" wrap="square" lIns="0" tIns="193675" rIns="0" bIns="0" rtlCol="0">
            <a:spAutoFit/>
          </a:bodyPr>
          <a:lstStyle/>
          <a:p>
            <a:pPr marL="354965" indent="-342265">
              <a:spcBef>
                <a:spcPts val="1525"/>
              </a:spcBef>
              <a:buFont typeface="Arial"/>
              <a:buChar char="•"/>
              <a:tabLst>
                <a:tab pos="354965" algn="l"/>
                <a:tab pos="355600" algn="l"/>
              </a:tabLst>
            </a:pPr>
            <a:r>
              <a:rPr sz="2800" b="1" dirty="0">
                <a:latin typeface="Arial"/>
                <a:cs typeface="Arial"/>
              </a:rPr>
              <a:t>What</a:t>
            </a:r>
            <a:r>
              <a:rPr sz="2800" b="1" spc="-25" dirty="0">
                <a:latin typeface="Arial"/>
                <a:cs typeface="Arial"/>
              </a:rPr>
              <a:t> </a:t>
            </a:r>
            <a:r>
              <a:rPr sz="2800" b="1" dirty="0">
                <a:latin typeface="Arial"/>
                <a:cs typeface="Arial"/>
              </a:rPr>
              <a:t>is</a:t>
            </a:r>
            <a:r>
              <a:rPr sz="2800" b="1" spc="-10" dirty="0">
                <a:latin typeface="Arial"/>
                <a:cs typeface="Arial"/>
              </a:rPr>
              <a:t> </a:t>
            </a:r>
            <a:r>
              <a:rPr sz="2800" b="1" dirty="0">
                <a:latin typeface="Arial"/>
                <a:cs typeface="Arial"/>
              </a:rPr>
              <a:t>another</a:t>
            </a:r>
            <a:r>
              <a:rPr sz="2800" b="1" spc="-10" dirty="0">
                <a:latin typeface="Arial"/>
                <a:cs typeface="Arial"/>
              </a:rPr>
              <a:t> solution?</a:t>
            </a:r>
            <a:endParaRPr sz="2800">
              <a:latin typeface="Arial"/>
              <a:cs typeface="Arial"/>
            </a:endParaRPr>
          </a:p>
          <a:p>
            <a:pPr marL="812165" lvl="1" indent="-342265">
              <a:spcBef>
                <a:spcPts val="1019"/>
              </a:spcBef>
              <a:buClr>
                <a:srgbClr val="D1282E"/>
              </a:buClr>
              <a:buChar char="•"/>
              <a:tabLst>
                <a:tab pos="812165" algn="l"/>
                <a:tab pos="812800" algn="l"/>
              </a:tabLst>
            </a:pPr>
            <a:r>
              <a:rPr sz="2000" dirty="0">
                <a:latin typeface="Arial"/>
                <a:cs typeface="Arial"/>
              </a:rPr>
              <a:t>Random</a:t>
            </a:r>
            <a:r>
              <a:rPr sz="2000" spc="-5" dirty="0">
                <a:latin typeface="Arial"/>
                <a:cs typeface="Arial"/>
              </a:rPr>
              <a:t> </a:t>
            </a:r>
            <a:r>
              <a:rPr sz="2000" spc="-10" dirty="0">
                <a:latin typeface="Arial"/>
                <a:cs typeface="Arial"/>
              </a:rPr>
              <a:t>mapping</a:t>
            </a:r>
            <a:endParaRPr sz="2000">
              <a:latin typeface="Arial"/>
              <a:cs typeface="Arial"/>
            </a:endParaRPr>
          </a:p>
        </p:txBody>
      </p:sp>
      <p:grpSp>
        <p:nvGrpSpPr>
          <p:cNvPr id="3" name="object 3"/>
          <p:cNvGrpSpPr/>
          <p:nvPr/>
        </p:nvGrpSpPr>
        <p:grpSpPr>
          <a:xfrm>
            <a:off x="6906492" y="3162993"/>
            <a:ext cx="1222375" cy="3217545"/>
            <a:chOff x="5382491" y="3162992"/>
            <a:chExt cx="1222375" cy="3217545"/>
          </a:xfrm>
        </p:grpSpPr>
        <p:pic>
          <p:nvPicPr>
            <p:cNvPr id="4" name="object 4"/>
            <p:cNvPicPr/>
            <p:nvPr/>
          </p:nvPicPr>
          <p:blipFill>
            <a:blip r:embed="rId3" cstate="print"/>
            <a:stretch>
              <a:fillRect/>
            </a:stretch>
          </p:blipFill>
          <p:spPr>
            <a:xfrm>
              <a:off x="5382491" y="3470563"/>
              <a:ext cx="1221970" cy="382385"/>
            </a:xfrm>
            <a:prstGeom prst="rect">
              <a:avLst/>
            </a:prstGeom>
          </p:spPr>
        </p:pic>
        <p:pic>
          <p:nvPicPr>
            <p:cNvPr id="5" name="object 5"/>
            <p:cNvPicPr/>
            <p:nvPr/>
          </p:nvPicPr>
          <p:blipFill>
            <a:blip r:embed="rId4" cstate="print"/>
            <a:stretch>
              <a:fillRect/>
            </a:stretch>
          </p:blipFill>
          <p:spPr>
            <a:xfrm>
              <a:off x="5685905" y="3453938"/>
              <a:ext cx="623454" cy="419792"/>
            </a:xfrm>
            <a:prstGeom prst="rect">
              <a:avLst/>
            </a:prstGeom>
          </p:spPr>
        </p:pic>
        <p:pic>
          <p:nvPicPr>
            <p:cNvPr id="6" name="object 6"/>
            <p:cNvPicPr/>
            <p:nvPr/>
          </p:nvPicPr>
          <p:blipFill>
            <a:blip r:embed="rId5" cstate="print"/>
            <a:stretch>
              <a:fillRect/>
            </a:stretch>
          </p:blipFill>
          <p:spPr>
            <a:xfrm>
              <a:off x="5382491" y="3179617"/>
              <a:ext cx="1221970" cy="378229"/>
            </a:xfrm>
            <a:prstGeom prst="rect">
              <a:avLst/>
            </a:prstGeom>
          </p:spPr>
        </p:pic>
        <p:pic>
          <p:nvPicPr>
            <p:cNvPr id="7" name="object 7"/>
            <p:cNvPicPr/>
            <p:nvPr/>
          </p:nvPicPr>
          <p:blipFill>
            <a:blip r:embed="rId6" cstate="print"/>
            <a:stretch>
              <a:fillRect/>
            </a:stretch>
          </p:blipFill>
          <p:spPr>
            <a:xfrm>
              <a:off x="5469774" y="3162992"/>
              <a:ext cx="1055716" cy="419792"/>
            </a:xfrm>
            <a:prstGeom prst="rect">
              <a:avLst/>
            </a:prstGeom>
          </p:spPr>
        </p:pic>
        <p:pic>
          <p:nvPicPr>
            <p:cNvPr id="8" name="object 8"/>
            <p:cNvPicPr/>
            <p:nvPr/>
          </p:nvPicPr>
          <p:blipFill>
            <a:blip r:embed="rId7" cstate="print"/>
            <a:stretch>
              <a:fillRect/>
            </a:stretch>
          </p:blipFill>
          <p:spPr>
            <a:xfrm>
              <a:off x="5382491" y="3749039"/>
              <a:ext cx="1221970" cy="378229"/>
            </a:xfrm>
            <a:prstGeom prst="rect">
              <a:avLst/>
            </a:prstGeom>
          </p:spPr>
        </p:pic>
        <p:pic>
          <p:nvPicPr>
            <p:cNvPr id="9" name="object 9"/>
            <p:cNvPicPr/>
            <p:nvPr/>
          </p:nvPicPr>
          <p:blipFill>
            <a:blip r:embed="rId8" cstate="print"/>
            <a:stretch>
              <a:fillRect/>
            </a:stretch>
          </p:blipFill>
          <p:spPr>
            <a:xfrm>
              <a:off x="5382491" y="4023360"/>
              <a:ext cx="1221970" cy="382385"/>
            </a:xfrm>
            <a:prstGeom prst="rect">
              <a:avLst/>
            </a:prstGeom>
          </p:spPr>
        </p:pic>
        <p:pic>
          <p:nvPicPr>
            <p:cNvPr id="10" name="object 10"/>
            <p:cNvPicPr/>
            <p:nvPr/>
          </p:nvPicPr>
          <p:blipFill>
            <a:blip r:embed="rId9" cstate="print"/>
            <a:stretch>
              <a:fillRect/>
            </a:stretch>
          </p:blipFill>
          <p:spPr>
            <a:xfrm>
              <a:off x="5382491" y="4301836"/>
              <a:ext cx="1221970" cy="378229"/>
            </a:xfrm>
            <a:prstGeom prst="rect">
              <a:avLst/>
            </a:prstGeom>
          </p:spPr>
        </p:pic>
        <p:pic>
          <p:nvPicPr>
            <p:cNvPr id="11" name="object 11"/>
            <p:cNvPicPr/>
            <p:nvPr/>
          </p:nvPicPr>
          <p:blipFill>
            <a:blip r:embed="rId10" cstate="print"/>
            <a:stretch>
              <a:fillRect/>
            </a:stretch>
          </p:blipFill>
          <p:spPr>
            <a:xfrm>
              <a:off x="5382491" y="4580313"/>
              <a:ext cx="1221970" cy="378229"/>
            </a:xfrm>
            <a:prstGeom prst="rect">
              <a:avLst/>
            </a:prstGeom>
          </p:spPr>
        </p:pic>
        <p:pic>
          <p:nvPicPr>
            <p:cNvPr id="12" name="object 12"/>
            <p:cNvPicPr/>
            <p:nvPr/>
          </p:nvPicPr>
          <p:blipFill>
            <a:blip r:embed="rId11" cstate="print"/>
            <a:stretch>
              <a:fillRect/>
            </a:stretch>
          </p:blipFill>
          <p:spPr>
            <a:xfrm>
              <a:off x="5581996" y="4559530"/>
              <a:ext cx="814647" cy="423949"/>
            </a:xfrm>
            <a:prstGeom prst="rect">
              <a:avLst/>
            </a:prstGeom>
          </p:spPr>
        </p:pic>
        <p:pic>
          <p:nvPicPr>
            <p:cNvPr id="13" name="object 13"/>
            <p:cNvPicPr/>
            <p:nvPr/>
          </p:nvPicPr>
          <p:blipFill>
            <a:blip r:embed="rId12" cstate="print"/>
            <a:stretch>
              <a:fillRect/>
            </a:stretch>
          </p:blipFill>
          <p:spPr>
            <a:xfrm>
              <a:off x="5382491" y="4854632"/>
              <a:ext cx="1221970" cy="382385"/>
            </a:xfrm>
            <a:prstGeom prst="rect">
              <a:avLst/>
            </a:prstGeom>
          </p:spPr>
        </p:pic>
        <p:pic>
          <p:nvPicPr>
            <p:cNvPr id="14" name="object 14"/>
            <p:cNvPicPr/>
            <p:nvPr/>
          </p:nvPicPr>
          <p:blipFill>
            <a:blip r:embed="rId13" cstate="print"/>
            <a:stretch>
              <a:fillRect/>
            </a:stretch>
          </p:blipFill>
          <p:spPr>
            <a:xfrm>
              <a:off x="5382491" y="5133108"/>
              <a:ext cx="1221970" cy="378229"/>
            </a:xfrm>
            <a:prstGeom prst="rect">
              <a:avLst/>
            </a:prstGeom>
          </p:spPr>
        </p:pic>
        <p:pic>
          <p:nvPicPr>
            <p:cNvPr id="15" name="object 15"/>
            <p:cNvPicPr/>
            <p:nvPr/>
          </p:nvPicPr>
          <p:blipFill>
            <a:blip r:embed="rId14" cstate="print"/>
            <a:stretch>
              <a:fillRect/>
            </a:stretch>
          </p:blipFill>
          <p:spPr>
            <a:xfrm>
              <a:off x="5619403" y="5112326"/>
              <a:ext cx="739832" cy="423949"/>
            </a:xfrm>
            <a:prstGeom prst="rect">
              <a:avLst/>
            </a:prstGeom>
          </p:spPr>
        </p:pic>
        <p:pic>
          <p:nvPicPr>
            <p:cNvPr id="16" name="object 16"/>
            <p:cNvPicPr/>
            <p:nvPr/>
          </p:nvPicPr>
          <p:blipFill>
            <a:blip r:embed="rId15" cstate="print"/>
            <a:stretch>
              <a:fillRect/>
            </a:stretch>
          </p:blipFill>
          <p:spPr>
            <a:xfrm>
              <a:off x="5382491" y="5407429"/>
              <a:ext cx="1221970" cy="382385"/>
            </a:xfrm>
            <a:prstGeom prst="rect">
              <a:avLst/>
            </a:prstGeom>
          </p:spPr>
        </p:pic>
        <p:pic>
          <p:nvPicPr>
            <p:cNvPr id="17" name="object 17"/>
            <p:cNvPicPr/>
            <p:nvPr/>
          </p:nvPicPr>
          <p:blipFill>
            <a:blip r:embed="rId16" cstate="print"/>
            <a:stretch>
              <a:fillRect/>
            </a:stretch>
          </p:blipFill>
          <p:spPr>
            <a:xfrm>
              <a:off x="5382491" y="5698374"/>
              <a:ext cx="1221970" cy="382385"/>
            </a:xfrm>
            <a:prstGeom prst="rect">
              <a:avLst/>
            </a:prstGeom>
          </p:spPr>
        </p:pic>
        <p:pic>
          <p:nvPicPr>
            <p:cNvPr id="18" name="object 18"/>
            <p:cNvPicPr/>
            <p:nvPr/>
          </p:nvPicPr>
          <p:blipFill>
            <a:blip r:embed="rId17" cstate="print"/>
            <a:stretch>
              <a:fillRect/>
            </a:stretch>
          </p:blipFill>
          <p:spPr>
            <a:xfrm>
              <a:off x="5382491" y="5976850"/>
              <a:ext cx="1221970" cy="382385"/>
            </a:xfrm>
            <a:prstGeom prst="rect">
              <a:avLst/>
            </a:prstGeom>
          </p:spPr>
        </p:pic>
        <p:pic>
          <p:nvPicPr>
            <p:cNvPr id="19" name="object 19"/>
            <p:cNvPicPr/>
            <p:nvPr/>
          </p:nvPicPr>
          <p:blipFill>
            <a:blip r:embed="rId18" cstate="print"/>
            <a:stretch>
              <a:fillRect/>
            </a:stretch>
          </p:blipFill>
          <p:spPr>
            <a:xfrm>
              <a:off x="5544588" y="5960225"/>
              <a:ext cx="901930" cy="419792"/>
            </a:xfrm>
            <a:prstGeom prst="rect">
              <a:avLst/>
            </a:prstGeom>
          </p:spPr>
        </p:pic>
      </p:grpSp>
      <p:graphicFrame>
        <p:nvGraphicFramePr>
          <p:cNvPr id="20" name="object 20"/>
          <p:cNvGraphicFramePr>
            <a:graphicFrameLocks noGrp="1"/>
          </p:cNvGraphicFramePr>
          <p:nvPr/>
        </p:nvGraphicFramePr>
        <p:xfrm>
          <a:off x="6929706" y="3225269"/>
          <a:ext cx="1118235" cy="3070860"/>
        </p:xfrm>
        <a:graphic>
          <a:graphicData uri="http://schemas.openxmlformats.org/drawingml/2006/table">
            <a:tbl>
              <a:tblPr firstRow="1" bandRow="1">
                <a:tableStyleId>{2D5ABB26-0587-4C30-8999-92F81FD0307C}</a:tableStyleId>
              </a:tblPr>
              <a:tblGrid>
                <a:gridCol w="1118235">
                  <a:extLst>
                    <a:ext uri="{9D8B030D-6E8A-4147-A177-3AD203B41FA5}">
                      <a16:colId xmlns:a16="http://schemas.microsoft.com/office/drawing/2014/main" val="20000"/>
                    </a:ext>
                  </a:extLst>
                </a:gridCol>
              </a:tblGrid>
              <a:tr h="283210">
                <a:tc>
                  <a:txBody>
                    <a:bodyPr/>
                    <a:lstStyle/>
                    <a:p>
                      <a:pPr marL="5715" algn="ctr">
                        <a:lnSpc>
                          <a:spcPts val="2130"/>
                        </a:lnSpc>
                        <a:spcBef>
                          <a:spcPts val="5"/>
                        </a:spcBef>
                      </a:pPr>
                      <a:r>
                        <a:rPr sz="1800" spc="-10" dirty="0">
                          <a:latin typeface="Arial"/>
                          <a:cs typeface="Arial"/>
                        </a:rPr>
                        <a:t>Kumquat</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83845">
                <a:tc>
                  <a:txBody>
                    <a:bodyPr/>
                    <a:lstStyle/>
                    <a:p>
                      <a:pPr marL="5715" algn="ctr">
                        <a:lnSpc>
                          <a:spcPts val="2070"/>
                        </a:lnSpc>
                        <a:spcBef>
                          <a:spcPts val="65"/>
                        </a:spcBef>
                      </a:pPr>
                      <a:r>
                        <a:rPr sz="1800" spc="-20" dirty="0">
                          <a:latin typeface="Arial"/>
                          <a:cs typeface="Arial"/>
                        </a:rPr>
                        <a:t>Pear</a:t>
                      </a:r>
                      <a:endParaRPr sz="1800">
                        <a:latin typeface="Arial"/>
                        <a:cs typeface="Arial"/>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27622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7622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3"/>
                  </a:ext>
                </a:extLst>
              </a:tr>
              <a:tr h="27749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4"/>
                  </a:ext>
                </a:extLst>
              </a:tr>
              <a:tr h="277495">
                <a:tc>
                  <a:txBody>
                    <a:bodyPr/>
                    <a:lstStyle/>
                    <a:p>
                      <a:pPr marL="5715" algn="ctr">
                        <a:lnSpc>
                          <a:spcPts val="2070"/>
                        </a:lnSpc>
                        <a:spcBef>
                          <a:spcPts val="15"/>
                        </a:spcBef>
                      </a:pPr>
                      <a:r>
                        <a:rPr sz="1800" spc="-10" dirty="0">
                          <a:latin typeface="Arial"/>
                          <a:cs typeface="Arial"/>
                        </a:rPr>
                        <a:t>Durian</a:t>
                      </a:r>
                      <a:endParaRPr sz="1800">
                        <a:latin typeface="Arial"/>
                        <a:cs typeface="Arial"/>
                      </a:endParaRPr>
                    </a:p>
                  </a:txBody>
                  <a:tcPr marL="0" marR="0" marT="190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5"/>
                  </a:ext>
                </a:extLst>
              </a:tr>
              <a:tr h="27622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76225">
                <a:tc>
                  <a:txBody>
                    <a:bodyPr/>
                    <a:lstStyle/>
                    <a:p>
                      <a:pPr marL="5715" algn="ctr">
                        <a:lnSpc>
                          <a:spcPts val="2070"/>
                        </a:lnSpc>
                        <a:spcBef>
                          <a:spcPts val="5"/>
                        </a:spcBef>
                      </a:pPr>
                      <a:r>
                        <a:rPr sz="1800" spc="-10" dirty="0">
                          <a:latin typeface="Arial"/>
                          <a:cs typeface="Arial"/>
                        </a:rPr>
                        <a:t>Apple</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7"/>
                  </a:ext>
                </a:extLst>
              </a:tr>
              <a:tr h="28384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28384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9"/>
                  </a:ext>
                </a:extLst>
              </a:tr>
              <a:tr h="276225">
                <a:tc>
                  <a:txBody>
                    <a:bodyPr/>
                    <a:lstStyle/>
                    <a:p>
                      <a:pPr marL="5715" algn="ctr">
                        <a:lnSpc>
                          <a:spcPts val="2065"/>
                        </a:lnSpc>
                        <a:spcBef>
                          <a:spcPts val="10"/>
                        </a:spcBef>
                      </a:pPr>
                      <a:r>
                        <a:rPr sz="1800" spc="-10" dirty="0">
                          <a:latin typeface="Arial"/>
                          <a:cs typeface="Arial"/>
                        </a:rPr>
                        <a:t>Orange</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10"/>
                  </a:ext>
                </a:extLst>
              </a:tr>
            </a:tbl>
          </a:graphicData>
        </a:graphic>
      </p:graphicFrame>
      <p:sp>
        <p:nvSpPr>
          <p:cNvPr id="21" name="object 21"/>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dirty="0"/>
              <a:t>THE</a:t>
            </a:r>
            <a:r>
              <a:rPr spc="-254" dirty="0"/>
              <a:t> </a:t>
            </a:r>
            <a:r>
              <a:rPr spc="-10" dirty="0"/>
              <a:t>HASH</a:t>
            </a:r>
            <a:r>
              <a:rPr spc="-254" dirty="0"/>
              <a:t> </a:t>
            </a:r>
            <a:r>
              <a:rPr spc="-105" dirty="0"/>
              <a:t>TABLE</a:t>
            </a:r>
          </a:p>
        </p:txBody>
      </p:sp>
      <p:sp>
        <p:nvSpPr>
          <p:cNvPr id="26" name="object 26"/>
          <p:cNvSpPr txBox="1"/>
          <p:nvPr/>
        </p:nvSpPr>
        <p:spPr>
          <a:xfrm>
            <a:off x="8173856" y="4053716"/>
            <a:ext cx="190500" cy="299720"/>
          </a:xfrm>
          <a:prstGeom prst="rect">
            <a:avLst/>
          </a:prstGeom>
        </p:spPr>
        <p:txBody>
          <a:bodyPr vert="horz" wrap="square" lIns="0" tIns="12700" rIns="0" bIns="0" rtlCol="0">
            <a:spAutoFit/>
          </a:bodyPr>
          <a:lstStyle/>
          <a:p>
            <a:pPr marL="12700">
              <a:spcBef>
                <a:spcPts val="100"/>
              </a:spcBef>
            </a:pPr>
            <a:r>
              <a:rPr b="1" dirty="0">
                <a:latin typeface="Arial"/>
                <a:cs typeface="Arial"/>
              </a:rPr>
              <a:t>D</a:t>
            </a:r>
            <a:endParaRPr>
              <a:latin typeface="Arial"/>
              <a:cs typeface="Arial"/>
            </a:endParaRPr>
          </a:p>
        </p:txBody>
      </p:sp>
      <p:sp>
        <p:nvSpPr>
          <p:cNvPr id="27" name="TextBox 26">
            <a:extLst>
              <a:ext uri="{FF2B5EF4-FFF2-40B4-BE49-F238E27FC236}">
                <a16:creationId xmlns:a16="http://schemas.microsoft.com/office/drawing/2014/main" id="{D242AAEB-D467-4038-8117-154433D5D13A}"/>
              </a:ext>
            </a:extLst>
          </p:cNvPr>
          <p:cNvSpPr txBox="1"/>
          <p:nvPr/>
        </p:nvSpPr>
        <p:spPr>
          <a:xfrm>
            <a:off x="2362199" y="3231619"/>
            <a:ext cx="642257" cy="2862322"/>
          </a:xfrm>
          <a:prstGeom prst="rect">
            <a:avLst/>
          </a:prstGeom>
          <a:noFill/>
          <a:ln>
            <a:solidFill>
              <a:schemeClr val="tx1"/>
            </a:solidFill>
          </a:ln>
        </p:spPr>
        <p:txBody>
          <a:bodyPr wrap="square" rtlCol="0">
            <a:spAutoFit/>
          </a:bodyPr>
          <a:lstStyle/>
          <a:p>
            <a:endParaRPr lang="en-US" dirty="0"/>
          </a:p>
          <a:p>
            <a:endParaRPr lang="en-US" dirty="0"/>
          </a:p>
          <a:p>
            <a:endParaRPr lang="en-US" dirty="0"/>
          </a:p>
          <a:p>
            <a:endParaRPr lang="en-US" dirty="0"/>
          </a:p>
          <a:p>
            <a:endParaRPr lang="en-US" dirty="0"/>
          </a:p>
          <a:p>
            <a:pPr algn="ctr"/>
            <a:r>
              <a:rPr lang="en-US" dirty="0"/>
              <a:t>M</a:t>
            </a:r>
          </a:p>
          <a:p>
            <a:endParaRPr lang="en-US" dirty="0"/>
          </a:p>
          <a:p>
            <a:endParaRPr lang="en-US" dirty="0"/>
          </a:p>
          <a:p>
            <a:endParaRPr lang="en-US" dirty="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40" y="1785620"/>
            <a:ext cx="7183755" cy="452120"/>
          </a:xfrm>
          <a:prstGeom prst="rect">
            <a:avLst/>
          </a:prstGeom>
        </p:spPr>
        <p:txBody>
          <a:bodyPr vert="horz" wrap="square" lIns="0" tIns="12700" rIns="0" bIns="0" rtlCol="0">
            <a:spAutoFit/>
          </a:bodyPr>
          <a:lstStyle/>
          <a:p>
            <a:pPr marL="354965" indent="-342265">
              <a:spcBef>
                <a:spcPts val="100"/>
              </a:spcBef>
              <a:buFont typeface="Arial"/>
              <a:buChar char="•"/>
              <a:tabLst>
                <a:tab pos="354965" algn="l"/>
                <a:tab pos="355600" algn="l"/>
              </a:tabLst>
            </a:pPr>
            <a:r>
              <a:rPr sz="2800" b="1" dirty="0">
                <a:latin typeface="Arial"/>
                <a:cs typeface="Arial"/>
              </a:rPr>
              <a:t>What</a:t>
            </a:r>
            <a:r>
              <a:rPr sz="2800" b="1" spc="-15" dirty="0">
                <a:latin typeface="Arial"/>
                <a:cs typeface="Arial"/>
              </a:rPr>
              <a:t> </a:t>
            </a:r>
            <a:r>
              <a:rPr sz="2800" b="1" dirty="0">
                <a:latin typeface="Arial"/>
                <a:cs typeface="Arial"/>
              </a:rPr>
              <a:t>about a </a:t>
            </a:r>
            <a:r>
              <a:rPr sz="2800" b="1" spc="-10" dirty="0">
                <a:latin typeface="Arial"/>
                <a:cs typeface="Arial"/>
              </a:rPr>
              <a:t>pseudo-</a:t>
            </a:r>
            <a:r>
              <a:rPr sz="2800" b="1" dirty="0">
                <a:latin typeface="Arial"/>
                <a:cs typeface="Arial"/>
              </a:rPr>
              <a:t>random</a:t>
            </a:r>
            <a:r>
              <a:rPr sz="2800" b="1" spc="5" dirty="0">
                <a:latin typeface="Arial"/>
                <a:cs typeface="Arial"/>
              </a:rPr>
              <a:t> </a:t>
            </a:r>
            <a:r>
              <a:rPr sz="2800" b="1" spc="-10" dirty="0">
                <a:latin typeface="Arial"/>
                <a:cs typeface="Arial"/>
              </a:rPr>
              <a:t>mapping?</a:t>
            </a:r>
            <a:endParaRPr sz="2800">
              <a:latin typeface="Arial"/>
              <a:cs typeface="Arial"/>
            </a:endParaRPr>
          </a:p>
        </p:txBody>
      </p:sp>
      <p:grpSp>
        <p:nvGrpSpPr>
          <p:cNvPr id="3" name="object 3"/>
          <p:cNvGrpSpPr/>
          <p:nvPr/>
        </p:nvGrpSpPr>
        <p:grpSpPr>
          <a:xfrm>
            <a:off x="2380211" y="3150524"/>
            <a:ext cx="5748655" cy="3312795"/>
            <a:chOff x="856210" y="3150523"/>
            <a:chExt cx="5748655" cy="3312795"/>
          </a:xfrm>
        </p:grpSpPr>
        <p:pic>
          <p:nvPicPr>
            <p:cNvPr id="4" name="object 4"/>
            <p:cNvPicPr/>
            <p:nvPr/>
          </p:nvPicPr>
          <p:blipFill>
            <a:blip r:embed="rId3" cstate="print"/>
            <a:stretch>
              <a:fillRect/>
            </a:stretch>
          </p:blipFill>
          <p:spPr>
            <a:xfrm>
              <a:off x="5382491" y="3470563"/>
              <a:ext cx="1221970" cy="382385"/>
            </a:xfrm>
            <a:prstGeom prst="rect">
              <a:avLst/>
            </a:prstGeom>
          </p:spPr>
        </p:pic>
        <p:pic>
          <p:nvPicPr>
            <p:cNvPr id="5" name="object 5"/>
            <p:cNvPicPr/>
            <p:nvPr/>
          </p:nvPicPr>
          <p:blipFill>
            <a:blip r:embed="rId4" cstate="print"/>
            <a:stretch>
              <a:fillRect/>
            </a:stretch>
          </p:blipFill>
          <p:spPr>
            <a:xfrm>
              <a:off x="5685905" y="3453938"/>
              <a:ext cx="623454" cy="419792"/>
            </a:xfrm>
            <a:prstGeom prst="rect">
              <a:avLst/>
            </a:prstGeom>
          </p:spPr>
        </p:pic>
        <p:sp>
          <p:nvSpPr>
            <p:cNvPr id="6" name="object 6"/>
            <p:cNvSpPr/>
            <p:nvPr/>
          </p:nvSpPr>
          <p:spPr>
            <a:xfrm>
              <a:off x="5412055" y="3523152"/>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7" name="object 7"/>
            <p:cNvPicPr/>
            <p:nvPr/>
          </p:nvPicPr>
          <p:blipFill>
            <a:blip r:embed="rId5" cstate="print"/>
            <a:stretch>
              <a:fillRect/>
            </a:stretch>
          </p:blipFill>
          <p:spPr>
            <a:xfrm>
              <a:off x="856210" y="3150523"/>
              <a:ext cx="1221970" cy="3312622"/>
            </a:xfrm>
            <a:prstGeom prst="rect">
              <a:avLst/>
            </a:prstGeom>
          </p:spPr>
        </p:pic>
        <p:pic>
          <p:nvPicPr>
            <p:cNvPr id="8" name="object 8"/>
            <p:cNvPicPr/>
            <p:nvPr/>
          </p:nvPicPr>
          <p:blipFill>
            <a:blip r:embed="rId6" cstate="print"/>
            <a:stretch>
              <a:fillRect/>
            </a:stretch>
          </p:blipFill>
          <p:spPr>
            <a:xfrm>
              <a:off x="1296785" y="4596937"/>
              <a:ext cx="332509" cy="423949"/>
            </a:xfrm>
            <a:prstGeom prst="rect">
              <a:avLst/>
            </a:prstGeom>
          </p:spPr>
        </p:pic>
        <p:sp>
          <p:nvSpPr>
            <p:cNvPr id="9" name="object 9"/>
            <p:cNvSpPr/>
            <p:nvPr/>
          </p:nvSpPr>
          <p:spPr>
            <a:xfrm>
              <a:off x="883511" y="3202931"/>
              <a:ext cx="1118235" cy="3206750"/>
            </a:xfrm>
            <a:custGeom>
              <a:avLst/>
              <a:gdLst/>
              <a:ahLst/>
              <a:cxnLst/>
              <a:rect l="l" t="t" r="r" b="b"/>
              <a:pathLst>
                <a:path w="1118235" h="3206750">
                  <a:moveTo>
                    <a:pt x="0" y="0"/>
                  </a:moveTo>
                  <a:lnTo>
                    <a:pt x="1118193" y="0"/>
                  </a:lnTo>
                  <a:lnTo>
                    <a:pt x="1118193" y="3206140"/>
                  </a:lnTo>
                  <a:lnTo>
                    <a:pt x="0" y="3206140"/>
                  </a:lnTo>
                  <a:lnTo>
                    <a:pt x="0" y="0"/>
                  </a:lnTo>
                  <a:close/>
                </a:path>
              </a:pathLst>
            </a:custGeom>
            <a:ln w="12699">
              <a:solidFill>
                <a:srgbClr val="000000"/>
              </a:solidFill>
            </a:ln>
          </p:spPr>
          <p:txBody>
            <a:bodyPr wrap="square" lIns="0" tIns="0" rIns="0" bIns="0" rtlCol="0"/>
            <a:lstStyle/>
            <a:p>
              <a:endParaRPr/>
            </a:p>
          </p:txBody>
        </p:sp>
      </p:grpSp>
      <p:sp>
        <p:nvSpPr>
          <p:cNvPr id="10" name="object 10"/>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dirty="0"/>
              <a:t>THE</a:t>
            </a:r>
            <a:r>
              <a:rPr spc="-254" dirty="0"/>
              <a:t> </a:t>
            </a:r>
            <a:r>
              <a:rPr spc="-10" dirty="0"/>
              <a:t>HASH</a:t>
            </a:r>
            <a:r>
              <a:rPr spc="-254" dirty="0"/>
              <a:t> </a:t>
            </a:r>
            <a:r>
              <a:rPr spc="-105" dirty="0"/>
              <a:t>TABLE</a:t>
            </a:r>
          </a:p>
        </p:txBody>
      </p:sp>
      <p:sp>
        <p:nvSpPr>
          <p:cNvPr id="11" name="object 11"/>
          <p:cNvSpPr txBox="1"/>
          <p:nvPr/>
        </p:nvSpPr>
        <p:spPr>
          <a:xfrm>
            <a:off x="2874432" y="4656142"/>
            <a:ext cx="203200" cy="299720"/>
          </a:xfrm>
          <a:prstGeom prst="rect">
            <a:avLst/>
          </a:prstGeom>
        </p:spPr>
        <p:txBody>
          <a:bodyPr vert="horz" wrap="square" lIns="0" tIns="12700" rIns="0" bIns="0" rtlCol="0">
            <a:spAutoFit/>
          </a:bodyPr>
          <a:lstStyle/>
          <a:p>
            <a:pPr>
              <a:spcBef>
                <a:spcPts val="100"/>
              </a:spcBef>
            </a:pPr>
            <a:r>
              <a:rPr b="1" dirty="0">
                <a:latin typeface="Arial"/>
                <a:cs typeface="Arial"/>
              </a:rPr>
              <a:t>M</a:t>
            </a:r>
            <a:endParaRPr>
              <a:latin typeface="Arial"/>
              <a:cs typeface="Arial"/>
            </a:endParaRPr>
          </a:p>
        </p:txBody>
      </p:sp>
      <p:grpSp>
        <p:nvGrpSpPr>
          <p:cNvPr id="12" name="object 12"/>
          <p:cNvGrpSpPr/>
          <p:nvPr/>
        </p:nvGrpSpPr>
        <p:grpSpPr>
          <a:xfrm>
            <a:off x="6906492" y="3162993"/>
            <a:ext cx="1222375" cy="1820545"/>
            <a:chOff x="5382491" y="3162992"/>
            <a:chExt cx="1222375" cy="1820545"/>
          </a:xfrm>
        </p:grpSpPr>
        <p:pic>
          <p:nvPicPr>
            <p:cNvPr id="13" name="object 13"/>
            <p:cNvPicPr/>
            <p:nvPr/>
          </p:nvPicPr>
          <p:blipFill>
            <a:blip r:embed="rId7" cstate="print"/>
            <a:stretch>
              <a:fillRect/>
            </a:stretch>
          </p:blipFill>
          <p:spPr>
            <a:xfrm>
              <a:off x="5382491" y="3179617"/>
              <a:ext cx="1221970" cy="378229"/>
            </a:xfrm>
            <a:prstGeom prst="rect">
              <a:avLst/>
            </a:prstGeom>
          </p:spPr>
        </p:pic>
        <p:pic>
          <p:nvPicPr>
            <p:cNvPr id="14" name="object 14"/>
            <p:cNvPicPr/>
            <p:nvPr/>
          </p:nvPicPr>
          <p:blipFill>
            <a:blip r:embed="rId8" cstate="print"/>
            <a:stretch>
              <a:fillRect/>
            </a:stretch>
          </p:blipFill>
          <p:spPr>
            <a:xfrm>
              <a:off x="5469774" y="3162992"/>
              <a:ext cx="1055716" cy="419792"/>
            </a:xfrm>
            <a:prstGeom prst="rect">
              <a:avLst/>
            </a:prstGeom>
          </p:spPr>
        </p:pic>
        <p:sp>
          <p:nvSpPr>
            <p:cNvPr id="15" name="object 15"/>
            <p:cNvSpPr/>
            <p:nvPr/>
          </p:nvSpPr>
          <p:spPr>
            <a:xfrm>
              <a:off x="5412055" y="3231619"/>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16" name="object 16"/>
            <p:cNvPicPr/>
            <p:nvPr/>
          </p:nvPicPr>
          <p:blipFill>
            <a:blip r:embed="rId9" cstate="print"/>
            <a:stretch>
              <a:fillRect/>
            </a:stretch>
          </p:blipFill>
          <p:spPr>
            <a:xfrm>
              <a:off x="5382491" y="3749039"/>
              <a:ext cx="1221970" cy="378229"/>
            </a:xfrm>
            <a:prstGeom prst="rect">
              <a:avLst/>
            </a:prstGeom>
          </p:spPr>
        </p:pic>
        <p:sp>
          <p:nvSpPr>
            <p:cNvPr id="17" name="object 17"/>
            <p:cNvSpPr/>
            <p:nvPr/>
          </p:nvSpPr>
          <p:spPr>
            <a:xfrm>
              <a:off x="5412055" y="3799805"/>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18" name="object 18"/>
            <p:cNvPicPr/>
            <p:nvPr/>
          </p:nvPicPr>
          <p:blipFill>
            <a:blip r:embed="rId10" cstate="print"/>
            <a:stretch>
              <a:fillRect/>
            </a:stretch>
          </p:blipFill>
          <p:spPr>
            <a:xfrm>
              <a:off x="5382491" y="4023360"/>
              <a:ext cx="1221970" cy="382385"/>
            </a:xfrm>
            <a:prstGeom prst="rect">
              <a:avLst/>
            </a:prstGeom>
          </p:spPr>
        </p:pic>
        <p:sp>
          <p:nvSpPr>
            <p:cNvPr id="19" name="object 19"/>
            <p:cNvSpPr/>
            <p:nvPr/>
          </p:nvSpPr>
          <p:spPr>
            <a:xfrm>
              <a:off x="5412055" y="4075923"/>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20" name="object 20"/>
            <p:cNvPicPr/>
            <p:nvPr/>
          </p:nvPicPr>
          <p:blipFill>
            <a:blip r:embed="rId11" cstate="print"/>
            <a:stretch>
              <a:fillRect/>
            </a:stretch>
          </p:blipFill>
          <p:spPr>
            <a:xfrm>
              <a:off x="5382491" y="4301836"/>
              <a:ext cx="1221970" cy="378229"/>
            </a:xfrm>
            <a:prstGeom prst="rect">
              <a:avLst/>
            </a:prstGeom>
          </p:spPr>
        </p:pic>
        <p:sp>
          <p:nvSpPr>
            <p:cNvPr id="21" name="object 21"/>
            <p:cNvSpPr/>
            <p:nvPr/>
          </p:nvSpPr>
          <p:spPr>
            <a:xfrm>
              <a:off x="5412055" y="4352574"/>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22" name="object 22"/>
            <p:cNvPicPr/>
            <p:nvPr/>
          </p:nvPicPr>
          <p:blipFill>
            <a:blip r:embed="rId12" cstate="print"/>
            <a:stretch>
              <a:fillRect/>
            </a:stretch>
          </p:blipFill>
          <p:spPr>
            <a:xfrm>
              <a:off x="5382491" y="4580313"/>
              <a:ext cx="1221970" cy="378229"/>
            </a:xfrm>
            <a:prstGeom prst="rect">
              <a:avLst/>
            </a:prstGeom>
          </p:spPr>
        </p:pic>
        <p:pic>
          <p:nvPicPr>
            <p:cNvPr id="23" name="object 23"/>
            <p:cNvPicPr/>
            <p:nvPr/>
          </p:nvPicPr>
          <p:blipFill>
            <a:blip r:embed="rId13" cstate="print"/>
            <a:stretch>
              <a:fillRect/>
            </a:stretch>
          </p:blipFill>
          <p:spPr>
            <a:xfrm>
              <a:off x="5581996" y="4559530"/>
              <a:ext cx="814647" cy="423949"/>
            </a:xfrm>
            <a:prstGeom prst="rect">
              <a:avLst/>
            </a:prstGeom>
          </p:spPr>
        </p:pic>
        <p:sp>
          <p:nvSpPr>
            <p:cNvPr id="24" name="object 24"/>
            <p:cNvSpPr/>
            <p:nvPr/>
          </p:nvSpPr>
          <p:spPr>
            <a:xfrm>
              <a:off x="5412055" y="4631508"/>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25" name="object 25"/>
          <p:cNvSpPr txBox="1"/>
          <p:nvPr/>
        </p:nvSpPr>
        <p:spPr>
          <a:xfrm>
            <a:off x="6942406" y="4619706"/>
            <a:ext cx="1105535" cy="299720"/>
          </a:xfrm>
          <a:prstGeom prst="rect">
            <a:avLst/>
          </a:prstGeom>
        </p:spPr>
        <p:txBody>
          <a:bodyPr vert="horz" wrap="square" lIns="0" tIns="12700" rIns="0" bIns="0" rtlCol="0">
            <a:spAutoFit/>
          </a:bodyPr>
          <a:lstStyle/>
          <a:p>
            <a:pPr marL="219075">
              <a:spcBef>
                <a:spcPts val="100"/>
              </a:spcBef>
            </a:pPr>
            <a:r>
              <a:rPr spc="-10" dirty="0">
                <a:latin typeface="Arial"/>
                <a:cs typeface="Arial"/>
              </a:rPr>
              <a:t>Durian</a:t>
            </a:r>
            <a:endParaRPr>
              <a:latin typeface="Arial"/>
              <a:cs typeface="Arial"/>
            </a:endParaRPr>
          </a:p>
        </p:txBody>
      </p:sp>
      <p:grpSp>
        <p:nvGrpSpPr>
          <p:cNvPr id="26" name="object 26"/>
          <p:cNvGrpSpPr/>
          <p:nvPr/>
        </p:nvGrpSpPr>
        <p:grpSpPr>
          <a:xfrm>
            <a:off x="6906492" y="4854632"/>
            <a:ext cx="1222375" cy="681990"/>
            <a:chOff x="5382491" y="4854632"/>
            <a:chExt cx="1222375" cy="681990"/>
          </a:xfrm>
        </p:grpSpPr>
        <p:pic>
          <p:nvPicPr>
            <p:cNvPr id="27" name="object 27"/>
            <p:cNvPicPr/>
            <p:nvPr/>
          </p:nvPicPr>
          <p:blipFill>
            <a:blip r:embed="rId14" cstate="print"/>
            <a:stretch>
              <a:fillRect/>
            </a:stretch>
          </p:blipFill>
          <p:spPr>
            <a:xfrm>
              <a:off x="5382491" y="4854632"/>
              <a:ext cx="1221970" cy="382385"/>
            </a:xfrm>
            <a:prstGeom prst="rect">
              <a:avLst/>
            </a:prstGeom>
          </p:spPr>
        </p:pic>
        <p:sp>
          <p:nvSpPr>
            <p:cNvPr id="28" name="object 28"/>
            <p:cNvSpPr/>
            <p:nvPr/>
          </p:nvSpPr>
          <p:spPr>
            <a:xfrm>
              <a:off x="5412055" y="4908161"/>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29" name="object 29"/>
            <p:cNvPicPr/>
            <p:nvPr/>
          </p:nvPicPr>
          <p:blipFill>
            <a:blip r:embed="rId15" cstate="print"/>
            <a:stretch>
              <a:fillRect/>
            </a:stretch>
          </p:blipFill>
          <p:spPr>
            <a:xfrm>
              <a:off x="5382491" y="5133108"/>
              <a:ext cx="1221970" cy="378229"/>
            </a:xfrm>
            <a:prstGeom prst="rect">
              <a:avLst/>
            </a:prstGeom>
          </p:spPr>
        </p:pic>
        <p:pic>
          <p:nvPicPr>
            <p:cNvPr id="30" name="object 30"/>
            <p:cNvPicPr/>
            <p:nvPr/>
          </p:nvPicPr>
          <p:blipFill>
            <a:blip r:embed="rId16" cstate="print"/>
            <a:stretch>
              <a:fillRect/>
            </a:stretch>
          </p:blipFill>
          <p:spPr>
            <a:xfrm>
              <a:off x="5619403" y="5112326"/>
              <a:ext cx="739832" cy="423949"/>
            </a:xfrm>
            <a:prstGeom prst="rect">
              <a:avLst/>
            </a:prstGeom>
          </p:spPr>
        </p:pic>
      </p:grpSp>
      <p:sp>
        <p:nvSpPr>
          <p:cNvPr id="31" name="object 31"/>
          <p:cNvSpPr txBox="1"/>
          <p:nvPr/>
        </p:nvSpPr>
        <p:spPr>
          <a:xfrm>
            <a:off x="6936056" y="5184277"/>
            <a:ext cx="1118235" cy="259715"/>
          </a:xfrm>
          <a:prstGeom prst="rect">
            <a:avLst/>
          </a:prstGeom>
          <a:ln w="12699">
            <a:solidFill>
              <a:srgbClr val="000000"/>
            </a:solidFill>
          </a:ln>
        </p:spPr>
        <p:txBody>
          <a:bodyPr vert="horz" wrap="square" lIns="0" tIns="635" rIns="0" bIns="0" rtlCol="0">
            <a:spAutoFit/>
          </a:bodyPr>
          <a:lstStyle/>
          <a:p>
            <a:pPr marL="269240">
              <a:lnSpc>
                <a:spcPts val="2035"/>
              </a:lnSpc>
              <a:spcBef>
                <a:spcPts val="5"/>
              </a:spcBef>
            </a:pPr>
            <a:r>
              <a:rPr spc="-10" dirty="0">
                <a:latin typeface="Arial"/>
                <a:cs typeface="Arial"/>
              </a:rPr>
              <a:t>Apple</a:t>
            </a:r>
            <a:endParaRPr>
              <a:latin typeface="Arial"/>
              <a:cs typeface="Arial"/>
            </a:endParaRPr>
          </a:p>
        </p:txBody>
      </p:sp>
      <p:grpSp>
        <p:nvGrpSpPr>
          <p:cNvPr id="32" name="object 32"/>
          <p:cNvGrpSpPr/>
          <p:nvPr/>
        </p:nvGrpSpPr>
        <p:grpSpPr>
          <a:xfrm>
            <a:off x="6906492" y="5407429"/>
            <a:ext cx="1222375" cy="972819"/>
            <a:chOff x="5382491" y="5407428"/>
            <a:chExt cx="1222375" cy="972819"/>
          </a:xfrm>
        </p:grpSpPr>
        <p:pic>
          <p:nvPicPr>
            <p:cNvPr id="33" name="object 33"/>
            <p:cNvPicPr/>
            <p:nvPr/>
          </p:nvPicPr>
          <p:blipFill>
            <a:blip r:embed="rId17" cstate="print"/>
            <a:stretch>
              <a:fillRect/>
            </a:stretch>
          </p:blipFill>
          <p:spPr>
            <a:xfrm>
              <a:off x="5382491" y="5407428"/>
              <a:ext cx="1221970" cy="382385"/>
            </a:xfrm>
            <a:prstGeom prst="rect">
              <a:avLst/>
            </a:prstGeom>
          </p:spPr>
        </p:pic>
        <p:sp>
          <p:nvSpPr>
            <p:cNvPr id="34" name="object 34"/>
            <p:cNvSpPr/>
            <p:nvPr/>
          </p:nvSpPr>
          <p:spPr>
            <a:xfrm>
              <a:off x="5412055" y="5460930"/>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35" name="object 35"/>
            <p:cNvPicPr/>
            <p:nvPr/>
          </p:nvPicPr>
          <p:blipFill>
            <a:blip r:embed="rId18" cstate="print"/>
            <a:stretch>
              <a:fillRect/>
            </a:stretch>
          </p:blipFill>
          <p:spPr>
            <a:xfrm>
              <a:off x="5382491" y="5698374"/>
              <a:ext cx="1221970" cy="382385"/>
            </a:xfrm>
            <a:prstGeom prst="rect">
              <a:avLst/>
            </a:prstGeom>
          </p:spPr>
        </p:pic>
        <p:sp>
          <p:nvSpPr>
            <p:cNvPr id="36" name="object 36"/>
            <p:cNvSpPr/>
            <p:nvPr/>
          </p:nvSpPr>
          <p:spPr>
            <a:xfrm>
              <a:off x="5412055" y="5752464"/>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37" name="object 37"/>
            <p:cNvPicPr/>
            <p:nvPr/>
          </p:nvPicPr>
          <p:blipFill>
            <a:blip r:embed="rId19" cstate="print"/>
            <a:stretch>
              <a:fillRect/>
            </a:stretch>
          </p:blipFill>
          <p:spPr>
            <a:xfrm>
              <a:off x="5382491" y="5976850"/>
              <a:ext cx="1221970" cy="382385"/>
            </a:xfrm>
            <a:prstGeom prst="rect">
              <a:avLst/>
            </a:prstGeom>
          </p:spPr>
        </p:pic>
        <p:pic>
          <p:nvPicPr>
            <p:cNvPr id="38" name="object 38"/>
            <p:cNvPicPr/>
            <p:nvPr/>
          </p:nvPicPr>
          <p:blipFill>
            <a:blip r:embed="rId20" cstate="print"/>
            <a:stretch>
              <a:fillRect/>
            </a:stretch>
          </p:blipFill>
          <p:spPr>
            <a:xfrm>
              <a:off x="5544588" y="5960225"/>
              <a:ext cx="901930" cy="419792"/>
            </a:xfrm>
            <a:prstGeom prst="rect">
              <a:avLst/>
            </a:prstGeom>
          </p:spPr>
        </p:pic>
      </p:grpSp>
      <p:sp>
        <p:nvSpPr>
          <p:cNvPr id="39" name="object 39"/>
          <p:cNvSpPr txBox="1"/>
          <p:nvPr/>
        </p:nvSpPr>
        <p:spPr>
          <a:xfrm>
            <a:off x="6936056" y="6028847"/>
            <a:ext cx="1118235" cy="276860"/>
          </a:xfrm>
          <a:prstGeom prst="rect">
            <a:avLst/>
          </a:prstGeom>
          <a:ln w="12699">
            <a:solidFill>
              <a:srgbClr val="000000"/>
            </a:solidFill>
          </a:ln>
        </p:spPr>
        <p:txBody>
          <a:bodyPr vert="horz" wrap="square" lIns="0" tIns="1270" rIns="0" bIns="0" rtlCol="0">
            <a:spAutoFit/>
          </a:bodyPr>
          <a:lstStyle/>
          <a:p>
            <a:pPr marL="180340">
              <a:spcBef>
                <a:spcPts val="10"/>
              </a:spcBef>
            </a:pPr>
            <a:r>
              <a:rPr spc="-10" dirty="0">
                <a:latin typeface="Arial"/>
                <a:cs typeface="Arial"/>
              </a:rPr>
              <a:t>Orange</a:t>
            </a:r>
            <a:endParaRPr>
              <a:latin typeface="Arial"/>
              <a:cs typeface="Arial"/>
            </a:endParaRPr>
          </a:p>
        </p:txBody>
      </p:sp>
      <p:sp>
        <p:nvSpPr>
          <p:cNvPr id="40" name="object 40"/>
          <p:cNvSpPr txBox="1"/>
          <p:nvPr/>
        </p:nvSpPr>
        <p:spPr>
          <a:xfrm>
            <a:off x="6942405" y="3202604"/>
            <a:ext cx="1422400" cy="1151255"/>
          </a:xfrm>
          <a:prstGeom prst="rect">
            <a:avLst/>
          </a:prstGeom>
        </p:spPr>
        <p:txBody>
          <a:bodyPr vert="horz" wrap="square" lIns="0" tIns="12700" rIns="0" bIns="0" rtlCol="0">
            <a:spAutoFit/>
          </a:bodyPr>
          <a:lstStyle/>
          <a:p>
            <a:pPr marL="314325" marR="400685" indent="-216535">
              <a:lnSpc>
                <a:spcPct val="106300"/>
              </a:lnSpc>
              <a:spcBef>
                <a:spcPts val="100"/>
              </a:spcBef>
            </a:pPr>
            <a:r>
              <a:rPr spc="-10" dirty="0">
                <a:latin typeface="Arial"/>
                <a:cs typeface="Arial"/>
              </a:rPr>
              <a:t>Kumquat </a:t>
            </a:r>
            <a:r>
              <a:rPr spc="-20" dirty="0">
                <a:latin typeface="Arial"/>
                <a:cs typeface="Arial"/>
              </a:rPr>
              <a:t>Pear</a:t>
            </a:r>
            <a:endParaRPr>
              <a:latin typeface="Arial"/>
              <a:cs typeface="Arial"/>
            </a:endParaRPr>
          </a:p>
          <a:p>
            <a:pPr>
              <a:spcBef>
                <a:spcPts val="40"/>
              </a:spcBef>
            </a:pPr>
            <a:endParaRPr>
              <a:latin typeface="Arial"/>
              <a:cs typeface="Arial"/>
            </a:endParaRPr>
          </a:p>
          <a:p>
            <a:pPr marR="5080" algn="r"/>
            <a:r>
              <a:rPr b="1" dirty="0">
                <a:latin typeface="Arial"/>
                <a:cs typeface="Arial"/>
              </a:rPr>
              <a:t>D</a:t>
            </a:r>
            <a:endParaRPr>
              <a:latin typeface="Arial"/>
              <a:cs typeface="Arial"/>
            </a:endParaRPr>
          </a:p>
        </p:txBody>
      </p:sp>
      <p:sp>
        <p:nvSpPr>
          <p:cNvPr id="44" name="object 44"/>
          <p:cNvSpPr txBox="1"/>
          <p:nvPr/>
        </p:nvSpPr>
        <p:spPr>
          <a:xfrm>
            <a:off x="4547813" y="4390027"/>
            <a:ext cx="1118235" cy="550151"/>
          </a:xfrm>
          <a:prstGeom prst="rect">
            <a:avLst/>
          </a:prstGeom>
          <a:ln w="12699">
            <a:solidFill>
              <a:srgbClr val="000000"/>
            </a:solidFill>
          </a:ln>
        </p:spPr>
        <p:txBody>
          <a:bodyPr vert="horz" wrap="square" lIns="0" tIns="3810" rIns="0" bIns="0" rtlCol="0">
            <a:spAutoFit/>
          </a:bodyPr>
          <a:lstStyle/>
          <a:p>
            <a:pPr>
              <a:spcBef>
                <a:spcPts val="30"/>
              </a:spcBef>
            </a:pPr>
            <a:endParaRPr sz="1750">
              <a:latin typeface="Times New Roman"/>
              <a:cs typeface="Times New Roman"/>
            </a:endParaRPr>
          </a:p>
          <a:p>
            <a:pPr marL="352425">
              <a:spcBef>
                <a:spcPts val="5"/>
              </a:spcBef>
            </a:pPr>
            <a:r>
              <a:rPr b="1" i="1" spc="-20" dirty="0">
                <a:latin typeface="Arial-BoldItalicMT"/>
                <a:cs typeface="Arial-BoldItalicMT"/>
              </a:rPr>
              <a:t>h(x)</a:t>
            </a:r>
            <a:endParaRPr>
              <a:latin typeface="Arial-BoldItalicMT"/>
              <a:cs typeface="Arial-BoldItalicMT"/>
            </a:endParaRPr>
          </a:p>
        </p:txBody>
      </p:sp>
      <p:grpSp>
        <p:nvGrpSpPr>
          <p:cNvPr id="45" name="object 45"/>
          <p:cNvGrpSpPr/>
          <p:nvPr/>
        </p:nvGrpSpPr>
        <p:grpSpPr>
          <a:xfrm>
            <a:off x="3512445" y="3303191"/>
            <a:ext cx="3423920" cy="2931160"/>
            <a:chOff x="1988445" y="3303191"/>
            <a:chExt cx="3423920" cy="2931160"/>
          </a:xfrm>
        </p:grpSpPr>
        <p:sp>
          <p:nvSpPr>
            <p:cNvPr id="46" name="object 46"/>
            <p:cNvSpPr/>
            <p:nvPr/>
          </p:nvSpPr>
          <p:spPr>
            <a:xfrm>
              <a:off x="2443464" y="3523152"/>
              <a:ext cx="552450" cy="1264285"/>
            </a:xfrm>
            <a:custGeom>
              <a:avLst/>
              <a:gdLst/>
              <a:ahLst/>
              <a:cxnLst/>
              <a:rect l="l" t="t" r="r" b="b"/>
              <a:pathLst>
                <a:path w="552450" h="1264285">
                  <a:moveTo>
                    <a:pt x="0" y="0"/>
                  </a:moveTo>
                  <a:lnTo>
                    <a:pt x="0" y="1263998"/>
                  </a:lnTo>
                  <a:lnTo>
                    <a:pt x="551992" y="1263998"/>
                  </a:lnTo>
                </a:path>
              </a:pathLst>
            </a:custGeom>
            <a:ln w="28574">
              <a:solidFill>
                <a:srgbClr val="8D8D8D"/>
              </a:solidFill>
            </a:ln>
          </p:spPr>
          <p:txBody>
            <a:bodyPr wrap="square" lIns="0" tIns="0" rIns="0" bIns="0" rtlCol="0"/>
            <a:lstStyle/>
            <a:p>
              <a:endParaRPr/>
            </a:p>
          </p:txBody>
        </p:sp>
        <p:pic>
          <p:nvPicPr>
            <p:cNvPr id="47" name="object 47"/>
            <p:cNvPicPr/>
            <p:nvPr/>
          </p:nvPicPr>
          <p:blipFill>
            <a:blip r:embed="rId21" cstate="print"/>
            <a:stretch>
              <a:fillRect/>
            </a:stretch>
          </p:blipFill>
          <p:spPr>
            <a:xfrm>
              <a:off x="2893415" y="4720828"/>
              <a:ext cx="130397" cy="132646"/>
            </a:xfrm>
            <a:prstGeom prst="rect">
              <a:avLst/>
            </a:prstGeom>
          </p:spPr>
        </p:pic>
        <p:sp>
          <p:nvSpPr>
            <p:cNvPr id="48" name="object 48"/>
            <p:cNvSpPr/>
            <p:nvPr/>
          </p:nvSpPr>
          <p:spPr>
            <a:xfrm>
              <a:off x="2001705" y="3523151"/>
              <a:ext cx="441959" cy="0"/>
            </a:xfrm>
            <a:custGeom>
              <a:avLst/>
              <a:gdLst/>
              <a:ahLst/>
              <a:cxnLst/>
              <a:rect l="l" t="t" r="r" b="b"/>
              <a:pathLst>
                <a:path w="441960">
                  <a:moveTo>
                    <a:pt x="441758" y="0"/>
                  </a:moveTo>
                  <a:lnTo>
                    <a:pt x="0" y="1"/>
                  </a:lnTo>
                </a:path>
              </a:pathLst>
            </a:custGeom>
            <a:ln w="28574">
              <a:solidFill>
                <a:srgbClr val="8D8D8D"/>
              </a:solidFill>
            </a:ln>
          </p:spPr>
          <p:txBody>
            <a:bodyPr wrap="square" lIns="0" tIns="0" rIns="0" bIns="0" rtlCol="0"/>
            <a:lstStyle/>
            <a:p>
              <a:endParaRPr/>
            </a:p>
          </p:txBody>
        </p:sp>
        <p:sp>
          <p:nvSpPr>
            <p:cNvPr id="49" name="object 49"/>
            <p:cNvSpPr/>
            <p:nvPr/>
          </p:nvSpPr>
          <p:spPr>
            <a:xfrm>
              <a:off x="2443464" y="4787152"/>
              <a:ext cx="552450" cy="818515"/>
            </a:xfrm>
            <a:custGeom>
              <a:avLst/>
              <a:gdLst/>
              <a:ahLst/>
              <a:cxnLst/>
              <a:rect l="l" t="t" r="r" b="b"/>
              <a:pathLst>
                <a:path w="552450" h="818514">
                  <a:moveTo>
                    <a:pt x="0" y="817976"/>
                  </a:moveTo>
                  <a:lnTo>
                    <a:pt x="0" y="0"/>
                  </a:lnTo>
                  <a:lnTo>
                    <a:pt x="551992" y="0"/>
                  </a:lnTo>
                </a:path>
              </a:pathLst>
            </a:custGeom>
            <a:ln w="28574">
              <a:solidFill>
                <a:srgbClr val="8D8D8D"/>
              </a:solidFill>
            </a:ln>
          </p:spPr>
          <p:txBody>
            <a:bodyPr wrap="square" lIns="0" tIns="0" rIns="0" bIns="0" rtlCol="0"/>
            <a:lstStyle/>
            <a:p>
              <a:endParaRPr/>
            </a:p>
          </p:txBody>
        </p:sp>
        <p:pic>
          <p:nvPicPr>
            <p:cNvPr id="50" name="object 50"/>
            <p:cNvPicPr/>
            <p:nvPr/>
          </p:nvPicPr>
          <p:blipFill>
            <a:blip r:embed="rId21" cstate="print"/>
            <a:stretch>
              <a:fillRect/>
            </a:stretch>
          </p:blipFill>
          <p:spPr>
            <a:xfrm>
              <a:off x="2893415" y="4720828"/>
              <a:ext cx="130397" cy="132647"/>
            </a:xfrm>
            <a:prstGeom prst="rect">
              <a:avLst/>
            </a:prstGeom>
          </p:spPr>
        </p:pic>
        <p:sp>
          <p:nvSpPr>
            <p:cNvPr id="51" name="object 51"/>
            <p:cNvSpPr/>
            <p:nvPr/>
          </p:nvSpPr>
          <p:spPr>
            <a:xfrm>
              <a:off x="2001705" y="5605130"/>
              <a:ext cx="441959" cy="0"/>
            </a:xfrm>
            <a:custGeom>
              <a:avLst/>
              <a:gdLst/>
              <a:ahLst/>
              <a:cxnLst/>
              <a:rect l="l" t="t" r="r" b="b"/>
              <a:pathLst>
                <a:path w="441960">
                  <a:moveTo>
                    <a:pt x="441758" y="0"/>
                  </a:moveTo>
                  <a:lnTo>
                    <a:pt x="0" y="0"/>
                  </a:lnTo>
                </a:path>
              </a:pathLst>
            </a:custGeom>
            <a:ln w="28574">
              <a:solidFill>
                <a:srgbClr val="8D8D8D"/>
              </a:solidFill>
            </a:ln>
          </p:spPr>
          <p:txBody>
            <a:bodyPr wrap="square" lIns="0" tIns="0" rIns="0" bIns="0" rtlCol="0"/>
            <a:lstStyle/>
            <a:p>
              <a:endParaRPr/>
            </a:p>
          </p:txBody>
        </p:sp>
        <p:sp>
          <p:nvSpPr>
            <p:cNvPr id="52" name="object 52"/>
            <p:cNvSpPr/>
            <p:nvPr/>
          </p:nvSpPr>
          <p:spPr>
            <a:xfrm>
              <a:off x="2001705" y="5184275"/>
              <a:ext cx="441959" cy="0"/>
            </a:xfrm>
            <a:custGeom>
              <a:avLst/>
              <a:gdLst/>
              <a:ahLst/>
              <a:cxnLst/>
              <a:rect l="l" t="t" r="r" b="b"/>
              <a:pathLst>
                <a:path w="441960">
                  <a:moveTo>
                    <a:pt x="441758" y="0"/>
                  </a:moveTo>
                  <a:lnTo>
                    <a:pt x="0" y="0"/>
                  </a:lnTo>
                </a:path>
              </a:pathLst>
            </a:custGeom>
            <a:ln w="28574">
              <a:solidFill>
                <a:srgbClr val="8D8D8D"/>
              </a:solidFill>
            </a:ln>
          </p:spPr>
          <p:txBody>
            <a:bodyPr wrap="square" lIns="0" tIns="0" rIns="0" bIns="0" rtlCol="0"/>
            <a:lstStyle/>
            <a:p>
              <a:endParaRPr/>
            </a:p>
          </p:txBody>
        </p:sp>
        <p:sp>
          <p:nvSpPr>
            <p:cNvPr id="53" name="object 53"/>
            <p:cNvSpPr/>
            <p:nvPr/>
          </p:nvSpPr>
          <p:spPr>
            <a:xfrm>
              <a:off x="2001705" y="4318282"/>
              <a:ext cx="441959" cy="0"/>
            </a:xfrm>
            <a:custGeom>
              <a:avLst/>
              <a:gdLst/>
              <a:ahLst/>
              <a:cxnLst/>
              <a:rect l="l" t="t" r="r" b="b"/>
              <a:pathLst>
                <a:path w="441960">
                  <a:moveTo>
                    <a:pt x="441758" y="0"/>
                  </a:moveTo>
                  <a:lnTo>
                    <a:pt x="0" y="0"/>
                  </a:lnTo>
                </a:path>
              </a:pathLst>
            </a:custGeom>
            <a:ln w="28574">
              <a:solidFill>
                <a:srgbClr val="8D8D8D"/>
              </a:solidFill>
            </a:ln>
          </p:spPr>
          <p:txBody>
            <a:bodyPr wrap="square" lIns="0" tIns="0" rIns="0" bIns="0" rtlCol="0"/>
            <a:lstStyle/>
            <a:p>
              <a:endParaRPr/>
            </a:p>
          </p:txBody>
        </p:sp>
        <p:sp>
          <p:nvSpPr>
            <p:cNvPr id="54" name="object 54"/>
            <p:cNvSpPr/>
            <p:nvPr/>
          </p:nvSpPr>
          <p:spPr>
            <a:xfrm>
              <a:off x="2001705" y="5426637"/>
              <a:ext cx="441959" cy="0"/>
            </a:xfrm>
            <a:custGeom>
              <a:avLst/>
              <a:gdLst/>
              <a:ahLst/>
              <a:cxnLst/>
              <a:rect l="l" t="t" r="r" b="b"/>
              <a:pathLst>
                <a:path w="441960">
                  <a:moveTo>
                    <a:pt x="441758" y="0"/>
                  </a:moveTo>
                  <a:lnTo>
                    <a:pt x="0" y="0"/>
                  </a:lnTo>
                </a:path>
              </a:pathLst>
            </a:custGeom>
            <a:ln w="28574">
              <a:solidFill>
                <a:srgbClr val="8D8D8D"/>
              </a:solidFill>
            </a:ln>
          </p:spPr>
          <p:txBody>
            <a:bodyPr wrap="square" lIns="0" tIns="0" rIns="0" bIns="0" rtlCol="0"/>
            <a:lstStyle/>
            <a:p>
              <a:endParaRPr/>
            </a:p>
          </p:txBody>
        </p:sp>
        <p:sp>
          <p:nvSpPr>
            <p:cNvPr id="55" name="object 55"/>
            <p:cNvSpPr/>
            <p:nvPr/>
          </p:nvSpPr>
          <p:spPr>
            <a:xfrm>
              <a:off x="1988445" y="3848885"/>
              <a:ext cx="441959" cy="0"/>
            </a:xfrm>
            <a:custGeom>
              <a:avLst/>
              <a:gdLst/>
              <a:ahLst/>
              <a:cxnLst/>
              <a:rect l="l" t="t" r="r" b="b"/>
              <a:pathLst>
                <a:path w="441960">
                  <a:moveTo>
                    <a:pt x="441758" y="0"/>
                  </a:moveTo>
                  <a:lnTo>
                    <a:pt x="0" y="0"/>
                  </a:lnTo>
                </a:path>
              </a:pathLst>
            </a:custGeom>
            <a:ln w="28574">
              <a:solidFill>
                <a:srgbClr val="8D8D8D"/>
              </a:solidFill>
            </a:ln>
          </p:spPr>
          <p:txBody>
            <a:bodyPr wrap="square" lIns="0" tIns="0" rIns="0" bIns="0" rtlCol="0"/>
            <a:lstStyle/>
            <a:p>
              <a:endParaRPr/>
            </a:p>
          </p:txBody>
        </p:sp>
        <p:sp>
          <p:nvSpPr>
            <p:cNvPr id="56" name="object 56"/>
            <p:cNvSpPr/>
            <p:nvPr/>
          </p:nvSpPr>
          <p:spPr>
            <a:xfrm>
              <a:off x="4142005" y="3369514"/>
              <a:ext cx="1242060" cy="1417955"/>
            </a:xfrm>
            <a:custGeom>
              <a:avLst/>
              <a:gdLst/>
              <a:ahLst/>
              <a:cxnLst/>
              <a:rect l="l" t="t" r="r" b="b"/>
              <a:pathLst>
                <a:path w="1242060" h="1417954">
                  <a:moveTo>
                    <a:pt x="0" y="1417637"/>
                  </a:moveTo>
                  <a:lnTo>
                    <a:pt x="634999" y="1417637"/>
                  </a:lnTo>
                  <a:lnTo>
                    <a:pt x="634999" y="0"/>
                  </a:lnTo>
                  <a:lnTo>
                    <a:pt x="1241643" y="0"/>
                  </a:lnTo>
                </a:path>
              </a:pathLst>
            </a:custGeom>
            <a:ln w="28574">
              <a:solidFill>
                <a:srgbClr val="8D8D8D"/>
              </a:solidFill>
            </a:ln>
          </p:spPr>
          <p:txBody>
            <a:bodyPr wrap="square" lIns="0" tIns="0" rIns="0" bIns="0" rtlCol="0"/>
            <a:lstStyle/>
            <a:p>
              <a:endParaRPr/>
            </a:p>
          </p:txBody>
        </p:sp>
        <p:pic>
          <p:nvPicPr>
            <p:cNvPr id="57" name="object 57"/>
            <p:cNvPicPr/>
            <p:nvPr/>
          </p:nvPicPr>
          <p:blipFill>
            <a:blip r:embed="rId22" cstate="print"/>
            <a:stretch>
              <a:fillRect/>
            </a:stretch>
          </p:blipFill>
          <p:spPr>
            <a:xfrm>
              <a:off x="5281608" y="3303191"/>
              <a:ext cx="130397" cy="132647"/>
            </a:xfrm>
            <a:prstGeom prst="rect">
              <a:avLst/>
            </a:prstGeom>
          </p:spPr>
        </p:pic>
        <p:sp>
          <p:nvSpPr>
            <p:cNvPr id="58" name="object 58"/>
            <p:cNvSpPr/>
            <p:nvPr/>
          </p:nvSpPr>
          <p:spPr>
            <a:xfrm>
              <a:off x="4142005" y="3660821"/>
              <a:ext cx="1242060" cy="1126490"/>
            </a:xfrm>
            <a:custGeom>
              <a:avLst/>
              <a:gdLst/>
              <a:ahLst/>
              <a:cxnLst/>
              <a:rect l="l" t="t" r="r" b="b"/>
              <a:pathLst>
                <a:path w="1242060" h="1126489">
                  <a:moveTo>
                    <a:pt x="0" y="1126330"/>
                  </a:moveTo>
                  <a:lnTo>
                    <a:pt x="634999" y="1126330"/>
                  </a:lnTo>
                  <a:lnTo>
                    <a:pt x="634999" y="0"/>
                  </a:lnTo>
                  <a:lnTo>
                    <a:pt x="1241643" y="0"/>
                  </a:lnTo>
                </a:path>
              </a:pathLst>
            </a:custGeom>
            <a:ln w="28574">
              <a:solidFill>
                <a:srgbClr val="8D8D8D"/>
              </a:solidFill>
            </a:ln>
          </p:spPr>
          <p:txBody>
            <a:bodyPr wrap="square" lIns="0" tIns="0" rIns="0" bIns="0" rtlCol="0"/>
            <a:lstStyle/>
            <a:p>
              <a:endParaRPr/>
            </a:p>
          </p:txBody>
        </p:sp>
        <p:pic>
          <p:nvPicPr>
            <p:cNvPr id="59" name="object 59"/>
            <p:cNvPicPr/>
            <p:nvPr/>
          </p:nvPicPr>
          <p:blipFill>
            <a:blip r:embed="rId21" cstate="print"/>
            <a:stretch>
              <a:fillRect/>
            </a:stretch>
          </p:blipFill>
          <p:spPr>
            <a:xfrm>
              <a:off x="5281608" y="3594497"/>
              <a:ext cx="130397" cy="132647"/>
            </a:xfrm>
            <a:prstGeom prst="rect">
              <a:avLst/>
            </a:prstGeom>
          </p:spPr>
        </p:pic>
        <p:sp>
          <p:nvSpPr>
            <p:cNvPr id="60" name="object 60"/>
            <p:cNvSpPr/>
            <p:nvPr/>
          </p:nvSpPr>
          <p:spPr>
            <a:xfrm>
              <a:off x="4142005" y="4770079"/>
              <a:ext cx="1242060" cy="17145"/>
            </a:xfrm>
            <a:custGeom>
              <a:avLst/>
              <a:gdLst/>
              <a:ahLst/>
              <a:cxnLst/>
              <a:rect l="l" t="t" r="r" b="b"/>
              <a:pathLst>
                <a:path w="1242060" h="17145">
                  <a:moveTo>
                    <a:pt x="0" y="17072"/>
                  </a:moveTo>
                  <a:lnTo>
                    <a:pt x="1241647" y="0"/>
                  </a:lnTo>
                </a:path>
              </a:pathLst>
            </a:custGeom>
            <a:ln w="28574">
              <a:solidFill>
                <a:srgbClr val="8D8D8D"/>
              </a:solidFill>
            </a:ln>
          </p:spPr>
          <p:txBody>
            <a:bodyPr wrap="square" lIns="0" tIns="0" rIns="0" bIns="0" rtlCol="0"/>
            <a:lstStyle/>
            <a:p>
              <a:endParaRPr/>
            </a:p>
          </p:txBody>
        </p:sp>
        <p:pic>
          <p:nvPicPr>
            <p:cNvPr id="61" name="object 61"/>
            <p:cNvPicPr/>
            <p:nvPr/>
          </p:nvPicPr>
          <p:blipFill>
            <a:blip r:embed="rId23" cstate="print"/>
            <a:stretch>
              <a:fillRect/>
            </a:stretch>
          </p:blipFill>
          <p:spPr>
            <a:xfrm>
              <a:off x="5280929" y="4704936"/>
              <a:ext cx="131077" cy="132633"/>
            </a:xfrm>
            <a:prstGeom prst="rect">
              <a:avLst/>
            </a:prstGeom>
          </p:spPr>
        </p:pic>
        <p:sp>
          <p:nvSpPr>
            <p:cNvPr id="62" name="object 62"/>
            <p:cNvSpPr/>
            <p:nvPr/>
          </p:nvSpPr>
          <p:spPr>
            <a:xfrm>
              <a:off x="4142005" y="4787152"/>
              <a:ext cx="1242060" cy="535305"/>
            </a:xfrm>
            <a:custGeom>
              <a:avLst/>
              <a:gdLst/>
              <a:ahLst/>
              <a:cxnLst/>
              <a:rect l="l" t="t" r="r" b="b"/>
              <a:pathLst>
                <a:path w="1242060" h="535304">
                  <a:moveTo>
                    <a:pt x="0" y="0"/>
                  </a:moveTo>
                  <a:lnTo>
                    <a:pt x="634999" y="0"/>
                  </a:lnTo>
                  <a:lnTo>
                    <a:pt x="634999" y="534987"/>
                  </a:lnTo>
                  <a:lnTo>
                    <a:pt x="1241643" y="534987"/>
                  </a:lnTo>
                </a:path>
              </a:pathLst>
            </a:custGeom>
            <a:ln w="28574">
              <a:solidFill>
                <a:srgbClr val="8D8D8D"/>
              </a:solidFill>
            </a:ln>
          </p:spPr>
          <p:txBody>
            <a:bodyPr wrap="square" lIns="0" tIns="0" rIns="0" bIns="0" rtlCol="0"/>
            <a:lstStyle/>
            <a:p>
              <a:endParaRPr/>
            </a:p>
          </p:txBody>
        </p:sp>
        <p:pic>
          <p:nvPicPr>
            <p:cNvPr id="63" name="object 63"/>
            <p:cNvPicPr/>
            <p:nvPr/>
          </p:nvPicPr>
          <p:blipFill>
            <a:blip r:embed="rId22" cstate="print"/>
            <a:stretch>
              <a:fillRect/>
            </a:stretch>
          </p:blipFill>
          <p:spPr>
            <a:xfrm>
              <a:off x="5281608" y="5255816"/>
              <a:ext cx="130397" cy="132646"/>
            </a:xfrm>
            <a:prstGeom prst="rect">
              <a:avLst/>
            </a:prstGeom>
          </p:spPr>
        </p:pic>
        <p:sp>
          <p:nvSpPr>
            <p:cNvPr id="64" name="object 64"/>
            <p:cNvSpPr/>
            <p:nvPr/>
          </p:nvSpPr>
          <p:spPr>
            <a:xfrm>
              <a:off x="4142005" y="4787152"/>
              <a:ext cx="1242060" cy="1380490"/>
            </a:xfrm>
            <a:custGeom>
              <a:avLst/>
              <a:gdLst/>
              <a:ahLst/>
              <a:cxnLst/>
              <a:rect l="l" t="t" r="r" b="b"/>
              <a:pathLst>
                <a:path w="1242060" h="1380489">
                  <a:moveTo>
                    <a:pt x="0" y="0"/>
                  </a:moveTo>
                  <a:lnTo>
                    <a:pt x="634999" y="0"/>
                  </a:lnTo>
                  <a:lnTo>
                    <a:pt x="634999" y="1380331"/>
                  </a:lnTo>
                  <a:lnTo>
                    <a:pt x="1241643" y="1380331"/>
                  </a:lnTo>
                </a:path>
              </a:pathLst>
            </a:custGeom>
            <a:ln w="28574">
              <a:solidFill>
                <a:srgbClr val="8D8D8D"/>
              </a:solidFill>
            </a:ln>
          </p:spPr>
          <p:txBody>
            <a:bodyPr wrap="square" lIns="0" tIns="0" rIns="0" bIns="0" rtlCol="0"/>
            <a:lstStyle/>
            <a:p>
              <a:endParaRPr/>
            </a:p>
          </p:txBody>
        </p:sp>
        <p:pic>
          <p:nvPicPr>
            <p:cNvPr id="65" name="object 65"/>
            <p:cNvPicPr/>
            <p:nvPr/>
          </p:nvPicPr>
          <p:blipFill>
            <a:blip r:embed="rId21" cstate="print"/>
            <a:stretch>
              <a:fillRect/>
            </a:stretch>
          </p:blipFill>
          <p:spPr>
            <a:xfrm>
              <a:off x="5281608" y="6101160"/>
              <a:ext cx="130397" cy="132646"/>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4">
            <a:extLst>
              <a:ext uri="{FF2B5EF4-FFF2-40B4-BE49-F238E27FC236}">
                <a16:creationId xmlns:a16="http://schemas.microsoft.com/office/drawing/2014/main" id="{D5599823-9668-48A2-826F-63144B804A1C}"/>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5099AB8-5315-4C71-9E8C-4DEBA76C10F5}" type="slidenum">
              <a:rPr lang="en-US" altLang="en-US" sz="1400"/>
              <a:pPr>
                <a:spcBef>
                  <a:spcPct val="0"/>
                </a:spcBef>
                <a:buClrTx/>
                <a:buSzTx/>
                <a:buFontTx/>
                <a:buNone/>
              </a:pPr>
              <a:t>14</a:t>
            </a:fld>
            <a:endParaRPr lang="en-US" altLang="en-US" sz="1400"/>
          </a:p>
        </p:txBody>
      </p:sp>
      <p:sp>
        <p:nvSpPr>
          <p:cNvPr id="7171" name="Rectangle 2">
            <a:extLst>
              <a:ext uri="{FF2B5EF4-FFF2-40B4-BE49-F238E27FC236}">
                <a16:creationId xmlns:a16="http://schemas.microsoft.com/office/drawing/2014/main" id="{14CAB2D0-DFDC-437C-ADFA-0638AE4F2634}"/>
              </a:ext>
            </a:extLst>
          </p:cNvPr>
          <p:cNvSpPr>
            <a:spLocks noGrp="1" noChangeArrowheads="1"/>
          </p:cNvSpPr>
          <p:nvPr>
            <p:ph type="title"/>
          </p:nvPr>
        </p:nvSpPr>
        <p:spPr>
          <a:xfrm>
            <a:off x="2209800" y="285750"/>
            <a:ext cx="7772400" cy="704850"/>
          </a:xfrm>
        </p:spPr>
        <p:txBody>
          <a:bodyPr/>
          <a:lstStyle/>
          <a:p>
            <a:pPr algn="ctr"/>
            <a:r>
              <a:rPr lang="en-US" altLang="en-US" dirty="0"/>
              <a:t>Map </a:t>
            </a:r>
          </a:p>
        </p:txBody>
      </p:sp>
      <p:sp>
        <p:nvSpPr>
          <p:cNvPr id="7172" name="Text Box 3">
            <a:extLst>
              <a:ext uri="{FF2B5EF4-FFF2-40B4-BE49-F238E27FC236}">
                <a16:creationId xmlns:a16="http://schemas.microsoft.com/office/drawing/2014/main" id="{3C517E05-CCAE-4B95-B374-5FD81CF604B9}"/>
              </a:ext>
            </a:extLst>
          </p:cNvPr>
          <p:cNvSpPr txBox="1">
            <a:spLocks noChangeArrowheads="1"/>
          </p:cNvSpPr>
          <p:nvPr/>
        </p:nvSpPr>
        <p:spPr bwMode="auto">
          <a:xfrm>
            <a:off x="2133600" y="1447800"/>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endParaRPr lang="en-US" altLang="en-US" sz="2400"/>
          </a:p>
        </p:txBody>
      </p:sp>
      <p:sp>
        <p:nvSpPr>
          <p:cNvPr id="7173" name="Text Box 4">
            <a:extLst>
              <a:ext uri="{FF2B5EF4-FFF2-40B4-BE49-F238E27FC236}">
                <a16:creationId xmlns:a16="http://schemas.microsoft.com/office/drawing/2014/main" id="{FE440D8E-75D9-4FAC-B8AE-C17F78C8AF45}"/>
              </a:ext>
            </a:extLst>
          </p:cNvPr>
          <p:cNvSpPr txBox="1">
            <a:spLocks noChangeArrowheads="1"/>
          </p:cNvSpPr>
          <p:nvPr/>
        </p:nvSpPr>
        <p:spPr bwMode="auto">
          <a:xfrm>
            <a:off x="1828800" y="1219200"/>
            <a:ext cx="86106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A </a:t>
            </a:r>
            <a:r>
              <a:rPr lang="en-US" altLang="en-US" sz="2400" i="1"/>
              <a:t>map</a:t>
            </a:r>
            <a:r>
              <a:rPr lang="en-US" altLang="en-US" sz="2400"/>
              <a:t> is a data structure that stores entries. Each entry contains two parts: </a:t>
            </a:r>
            <a:r>
              <a:rPr lang="en-US" altLang="en-US" sz="2400" i="1"/>
              <a:t>key</a:t>
            </a:r>
            <a:r>
              <a:rPr lang="en-US" altLang="en-US" sz="2400"/>
              <a:t> and </a:t>
            </a:r>
            <a:r>
              <a:rPr lang="en-US" altLang="en-US" sz="2400" i="1"/>
              <a:t>value</a:t>
            </a:r>
            <a:r>
              <a:rPr lang="en-US" altLang="en-US" sz="2400"/>
              <a:t>. The key is also called a </a:t>
            </a:r>
            <a:r>
              <a:rPr lang="en-US" altLang="en-US" sz="2400" i="1"/>
              <a:t>search key</a:t>
            </a:r>
            <a:r>
              <a:rPr lang="en-US" altLang="en-US" sz="2400"/>
              <a:t>, which is used to search for the corresponding value. For example, a dictionary can be stored in a map, where the words are the keys and the definitions of the words are the values.</a:t>
            </a:r>
          </a:p>
        </p:txBody>
      </p:sp>
      <p:sp>
        <p:nvSpPr>
          <p:cNvPr id="7174" name="Rectangle 5">
            <a:extLst>
              <a:ext uri="{FF2B5EF4-FFF2-40B4-BE49-F238E27FC236}">
                <a16:creationId xmlns:a16="http://schemas.microsoft.com/office/drawing/2014/main" id="{F2D50F92-85E5-4EE5-AA38-ECC41CA58226}"/>
              </a:ext>
            </a:extLst>
          </p:cNvPr>
          <p:cNvSpPr>
            <a:spLocks noChangeArrowheads="1"/>
          </p:cNvSpPr>
          <p:nvPr/>
        </p:nvSpPr>
        <p:spPr bwMode="auto">
          <a:xfrm>
            <a:off x="1524001" y="27600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5" name="Rectangle 6">
            <a:extLst>
              <a:ext uri="{FF2B5EF4-FFF2-40B4-BE49-F238E27FC236}">
                <a16:creationId xmlns:a16="http://schemas.microsoft.com/office/drawing/2014/main" id="{EA01D41F-FC36-4BFF-B650-118C373FC812}"/>
              </a:ext>
            </a:extLst>
          </p:cNvPr>
          <p:cNvSpPr>
            <a:spLocks noChangeArrowheads="1"/>
          </p:cNvSpPr>
          <p:nvPr/>
        </p:nvSpPr>
        <p:spPr bwMode="auto">
          <a:xfrm>
            <a:off x="1524001" y="27600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7176" name="Text Box 7">
            <a:extLst>
              <a:ext uri="{FF2B5EF4-FFF2-40B4-BE49-F238E27FC236}">
                <a16:creationId xmlns:a16="http://schemas.microsoft.com/office/drawing/2014/main" id="{9CB554D4-072D-43FB-8823-DF6A26E5FF9F}"/>
              </a:ext>
            </a:extLst>
          </p:cNvPr>
          <p:cNvSpPr txBox="1">
            <a:spLocks noChangeArrowheads="1"/>
          </p:cNvSpPr>
          <p:nvPr/>
        </p:nvSpPr>
        <p:spPr bwMode="auto">
          <a:xfrm>
            <a:off x="1828800" y="3505201"/>
            <a:ext cx="8610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A map is also called a </a:t>
            </a:r>
            <a:r>
              <a:rPr lang="en-US" altLang="en-US" sz="2400" i="1"/>
              <a:t>dictionary</a:t>
            </a:r>
            <a:r>
              <a:rPr lang="en-US" altLang="en-US" sz="2400"/>
              <a:t>, a </a:t>
            </a:r>
            <a:r>
              <a:rPr lang="en-US" altLang="en-US" sz="2400" i="1"/>
              <a:t>hash table</a:t>
            </a:r>
            <a:r>
              <a:rPr lang="en-US" altLang="en-US" sz="2400"/>
              <a:t>, or an associative array. The new trend is to use the term map.</a:t>
            </a:r>
          </a:p>
        </p:txBody>
      </p:sp>
      <p:sp>
        <p:nvSpPr>
          <p:cNvPr id="2" name="Rectangle 1">
            <a:extLst>
              <a:ext uri="{FF2B5EF4-FFF2-40B4-BE49-F238E27FC236}">
                <a16:creationId xmlns:a16="http://schemas.microsoft.com/office/drawing/2014/main" id="{97F3FC8B-9D73-43B6-B69B-FF6F9C14040B}"/>
              </a:ext>
            </a:extLst>
          </p:cNvPr>
          <p:cNvSpPr/>
          <p:nvPr/>
        </p:nvSpPr>
        <p:spPr>
          <a:xfrm>
            <a:off x="2743200" y="4495800"/>
            <a:ext cx="2205644"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&lt;</a:t>
            </a:r>
            <a:r>
              <a:rPr lang="en-US" dirty="0" err="1"/>
              <a:t>key,value</a:t>
            </a:r>
            <a:r>
              <a:rPr lang="en-US" dirty="0"/>
              <a:t>&gt;</a:t>
            </a:r>
          </a:p>
        </p:txBody>
      </p:sp>
      <p:cxnSp>
        <p:nvCxnSpPr>
          <p:cNvPr id="4" name="Straight Arrow Connector 3">
            <a:extLst>
              <a:ext uri="{FF2B5EF4-FFF2-40B4-BE49-F238E27FC236}">
                <a16:creationId xmlns:a16="http://schemas.microsoft.com/office/drawing/2014/main" id="{70BFA1B4-F8D8-46D0-AC5B-45FDD27565B9}"/>
              </a:ext>
            </a:extLst>
          </p:cNvPr>
          <p:cNvCxnSpPr>
            <a:cxnSpLocks/>
          </p:cNvCxnSpPr>
          <p:nvPr/>
        </p:nvCxnSpPr>
        <p:spPr>
          <a:xfrm flipV="1">
            <a:off x="2510444" y="5081848"/>
            <a:ext cx="1052945" cy="96629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C6D157F-5DB1-4CA6-AAB3-3BCC42CD7C91}"/>
              </a:ext>
            </a:extLst>
          </p:cNvPr>
          <p:cNvSpPr txBox="1"/>
          <p:nvPr/>
        </p:nvSpPr>
        <p:spPr>
          <a:xfrm>
            <a:off x="1083418" y="5996248"/>
            <a:ext cx="3319563" cy="369332"/>
          </a:xfrm>
          <a:prstGeom prst="rect">
            <a:avLst/>
          </a:prstGeom>
          <a:noFill/>
        </p:spPr>
        <p:txBody>
          <a:bodyPr wrap="none" rtlCol="0">
            <a:spAutoFit/>
          </a:bodyPr>
          <a:lstStyle/>
          <a:p>
            <a:r>
              <a:rPr lang="en-US" dirty="0"/>
              <a:t>Map key to an index in </a:t>
            </a:r>
            <a:r>
              <a:rPr lang="en-US" dirty="0" err="1"/>
              <a:t>HashTable</a:t>
            </a:r>
            <a:endParaRPr lang="en-US" dirty="0"/>
          </a:p>
        </p:txBody>
      </p:sp>
    </p:spTree>
    <p:extLst>
      <p:ext uri="{BB962C8B-B14F-4D97-AF65-F5344CB8AC3E}">
        <p14:creationId xmlns:p14="http://schemas.microsoft.com/office/powerpoint/2010/main" val="1136353447"/>
      </p:ext>
    </p:extLst>
  </p:cSld>
  <p:clrMapOvr>
    <a:masterClrMapping/>
  </p:clrMapOvr>
  <mc:AlternateContent xmlns:mc="http://schemas.openxmlformats.org/markup-compatibility/2006" xmlns:p14="http://schemas.microsoft.com/office/powerpoint/2010/main">
    <mc:Choice Requires="p14">
      <p:transition spd="slow" p14:dur="2000" advTm="57409"/>
    </mc:Choice>
    <mc:Fallback xmlns="">
      <p:transition spd="slow" advTm="5740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Hash Tables</a:t>
            </a:r>
            <a:endParaRPr lang="en-US" dirty="0"/>
          </a:p>
        </p:txBody>
      </p:sp>
      <p:sp>
        <p:nvSpPr>
          <p:cNvPr id="3" name="Content Placeholder 2"/>
          <p:cNvSpPr>
            <a:spLocks noGrp="1"/>
          </p:cNvSpPr>
          <p:nvPr>
            <p:ph idx="1"/>
          </p:nvPr>
        </p:nvSpPr>
        <p:spPr/>
        <p:txBody>
          <a:bodyPr>
            <a:noAutofit/>
          </a:bodyPr>
          <a:lstStyle/>
          <a:p>
            <a:pPr marL="0" indent="0">
              <a:buNone/>
            </a:pPr>
            <a:r>
              <a:rPr lang="en-US" sz="2400" dirty="0"/>
              <a:t>A hash table is an array of some fixed size</a:t>
            </a:r>
          </a:p>
          <a:p>
            <a:pPr marL="0" indent="0">
              <a:buNone/>
            </a:pPr>
            <a:r>
              <a:rPr lang="en-US" sz="2600" dirty="0"/>
              <a:t>Basic idea:</a:t>
            </a:r>
          </a:p>
          <a:p>
            <a:pPr marL="0" indent="0">
              <a:buNone/>
            </a:pPr>
            <a:endParaRPr lang="en-US" sz="2600" dirty="0"/>
          </a:p>
          <a:p>
            <a:pPr marL="0" indent="0">
              <a:buNone/>
            </a:pPr>
            <a:endParaRPr lang="en-US" sz="2600" dirty="0"/>
          </a:p>
          <a:p>
            <a:pPr marL="0" indent="0">
              <a:buNone/>
            </a:pPr>
            <a:endParaRPr lang="en-US" sz="2600" dirty="0"/>
          </a:p>
          <a:p>
            <a:pPr marL="0" indent="0">
              <a:buNone/>
            </a:pPr>
            <a:endParaRPr lang="en-US" sz="2600" dirty="0"/>
          </a:p>
          <a:p>
            <a:pPr marL="0" indent="0">
              <a:buNone/>
            </a:pPr>
            <a:endParaRPr lang="en-US" sz="2600" dirty="0"/>
          </a:p>
          <a:p>
            <a:pPr marL="0" indent="0">
              <a:buNone/>
            </a:pPr>
            <a:endParaRPr lang="en-US" sz="2600" dirty="0"/>
          </a:p>
          <a:p>
            <a:pPr marL="0" indent="0">
              <a:buNone/>
            </a:pPr>
            <a:endParaRPr lang="en-US" sz="1600" dirty="0"/>
          </a:p>
          <a:p>
            <a:pPr marL="0" indent="0">
              <a:buNone/>
            </a:pPr>
            <a:endParaRPr lang="en-US" sz="2400" dirty="0"/>
          </a:p>
          <a:p>
            <a:pPr marL="0" indent="0">
              <a:buNone/>
            </a:pPr>
            <a:r>
              <a:rPr lang="en-US" sz="2400" dirty="0"/>
              <a:t>The goal:</a:t>
            </a:r>
          </a:p>
          <a:p>
            <a:pPr marL="0" indent="0">
              <a:buNone/>
            </a:pPr>
            <a:br>
              <a:rPr lang="en-US" sz="400" dirty="0"/>
            </a:br>
            <a:r>
              <a:rPr lang="en-US" sz="2400" dirty="0"/>
              <a:t>Aim for constant-time find, insert, and delete "on average" under reasonable assumptions</a:t>
            </a:r>
          </a:p>
        </p:txBody>
      </p:sp>
      <p:graphicFrame>
        <p:nvGraphicFramePr>
          <p:cNvPr id="9" name="Group 89"/>
          <p:cNvGraphicFramePr>
            <a:graphicFrameLocks noGrp="1"/>
          </p:cNvGraphicFramePr>
          <p:nvPr>
            <p:custDataLst>
              <p:tags r:id="rId1"/>
            </p:custDataLst>
          </p:nvPr>
        </p:nvGraphicFramePr>
        <p:xfrm>
          <a:off x="8576792" y="1676987"/>
          <a:ext cx="1478281" cy="3505200"/>
        </p:xfrm>
        <a:graphic>
          <a:graphicData uri="http://schemas.openxmlformats.org/drawingml/2006/table">
            <a:tbl>
              <a:tblPr/>
              <a:tblGrid>
                <a:gridCol w="868680">
                  <a:extLst>
                    <a:ext uri="{9D8B030D-6E8A-4147-A177-3AD203B41FA5}">
                      <a16:colId xmlns:a16="http://schemas.microsoft.com/office/drawing/2014/main" val="20000"/>
                    </a:ext>
                  </a:extLst>
                </a:gridCol>
                <a:gridCol w="609601">
                  <a:extLst>
                    <a:ext uri="{9D8B030D-6E8A-4147-A177-3AD203B41FA5}">
                      <a16:colId xmlns:a16="http://schemas.microsoft.com/office/drawing/2014/main" val="20001"/>
                    </a:ext>
                  </a:extLst>
                </a:gridCol>
              </a:tblGrid>
              <a:tr h="381000">
                <a:tc>
                  <a:txBody>
                    <a:bodyPr/>
                    <a:lstStyle/>
                    <a:p>
                      <a:pPr marL="0" marR="0" lvl="0" indent="0" algn="r" defTabSz="914400" rtl="0" eaLnBrk="1" fontAlgn="base" latinLnBrk="0" hangingPunct="1">
                        <a:lnSpc>
                          <a:spcPct val="100000"/>
                        </a:lnSpc>
                        <a:spcBef>
                          <a:spcPct val="20000"/>
                        </a:spcBef>
                        <a:spcAft>
                          <a:spcPct val="0"/>
                        </a:spcAft>
                        <a:buClrTx/>
                        <a:buSzTx/>
                        <a:buFontTx/>
                        <a:buNone/>
                        <a:tabLst/>
                        <a:defRPr/>
                      </a:pPr>
                      <a:r>
                        <a:rPr kumimoji="0" lang="en-US" sz="1600" b="0" i="0" u="none" strike="noStrike" kern="1200" cap="none" normalizeH="0" baseline="0" dirty="0">
                          <a:ln>
                            <a:noFill/>
                          </a:ln>
                          <a:solidFill>
                            <a:schemeClr val="tx1"/>
                          </a:solidFill>
                          <a:effectLst/>
                          <a:latin typeface="+mn-lt"/>
                          <a:ea typeface="+mn-ea"/>
                          <a:cs typeface="+mn-cs"/>
                        </a:rPr>
                        <a:t>        0</a:t>
                      </a:r>
                    </a:p>
                  </a:txBody>
                  <a:tcPr marL="0" marR="0" marT="0" marB="0"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0"/>
                  </a:ext>
                </a:extLst>
              </a:tr>
              <a:tr h="3810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mj-lt"/>
                        </a:rPr>
                        <a:t>       </a:t>
                      </a:r>
                    </a:p>
                  </a:txBody>
                  <a:tcPr marL="0" marR="0" marT="0" marB="0"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1"/>
                  </a:ext>
                </a:extLst>
              </a:tr>
              <a:tr h="3810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Times New Roman" pitchFamily="18" charset="0"/>
                      </a:endParaRP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2"/>
                  </a:ext>
                </a:extLst>
              </a:tr>
              <a:tr h="3810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Times New Roman" pitchFamily="18" charset="0"/>
                      </a:endParaRP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rowSpan="4">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600" b="0" i="0" u="none" strike="noStrike" cap="none" normalizeH="0" baseline="0" dirty="0">
                          <a:ln>
                            <a:noFill/>
                          </a:ln>
                          <a:solidFill>
                            <a:schemeClr val="tx1"/>
                          </a:solidFill>
                          <a:effectLst/>
                          <a:latin typeface="Cambria Math"/>
                          <a:ea typeface="Cambria Math"/>
                        </a:rPr>
                        <a:t>⁞</a:t>
                      </a:r>
                      <a:endParaRPr kumimoji="0" lang="en-US" sz="3600" b="0" i="0" u="none" strike="noStrike" cap="none" normalizeH="0" baseline="0" dirty="0">
                        <a:ln>
                          <a:noFill/>
                        </a:ln>
                        <a:solidFill>
                          <a:schemeClr val="tx1"/>
                        </a:solidFill>
                        <a:effectLst/>
                        <a:latin typeface="Times New Roman"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3"/>
                  </a:ext>
                </a:extLst>
              </a:tr>
              <a:tr h="3810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Times New Roman" pitchFamily="18" charset="0"/>
                      </a:endParaRP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Times New Roman" pitchFamily="18" charset="0"/>
                      </a:endParaRP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Times New Roman" pitchFamily="18" charset="0"/>
                      </a:endParaRP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vMerge="1">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Times New Roman" pitchFamily="18" charset="0"/>
                      </a:endParaRP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7"/>
                  </a:ext>
                </a:extLst>
              </a:tr>
              <a:tr h="381000">
                <a:tc>
                  <a:txBody>
                    <a:bodyPr/>
                    <a:lstStyle/>
                    <a:p>
                      <a:pPr marL="0" marR="0" lvl="0" indent="0" algn="r" defTabSz="914400" rtl="0" eaLnBrk="1" fontAlgn="base" latinLnBrk="0" hangingPunct="1">
                        <a:lnSpc>
                          <a:spcPct val="100000"/>
                        </a:lnSpc>
                        <a:spcBef>
                          <a:spcPct val="20000"/>
                        </a:spcBef>
                        <a:spcAft>
                          <a:spcPct val="0"/>
                        </a:spcAft>
                        <a:buClrTx/>
                        <a:buSzTx/>
                        <a:buFontTx/>
                        <a:buNone/>
                        <a:tabLst/>
                      </a:pPr>
                      <a:r>
                        <a:rPr kumimoji="0" lang="en-US" sz="1600" b="0" i="0" u="none" strike="noStrike" cap="none" normalizeH="0" baseline="0" dirty="0">
                          <a:ln>
                            <a:noFill/>
                          </a:ln>
                          <a:solidFill>
                            <a:schemeClr val="tx1"/>
                          </a:solidFill>
                          <a:effectLst/>
                          <a:latin typeface="+mj-lt"/>
                        </a:rPr>
                        <a:t>size -1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extLst>
                  <a:ext uri="{0D108BD9-81ED-4DB2-BD59-A6C34878D82A}">
                    <a16:rowId xmlns:a16="http://schemas.microsoft.com/office/drawing/2014/main" val="10008"/>
                  </a:ext>
                </a:extLst>
              </a:tr>
            </a:tbl>
          </a:graphicData>
        </a:graphic>
      </p:graphicFrame>
      <p:grpSp>
        <p:nvGrpSpPr>
          <p:cNvPr id="15" name="Group 14"/>
          <p:cNvGrpSpPr/>
          <p:nvPr/>
        </p:nvGrpSpPr>
        <p:grpSpPr>
          <a:xfrm>
            <a:off x="6781801" y="2946351"/>
            <a:ext cx="2130713" cy="966475"/>
            <a:chOff x="4294043" y="2479047"/>
            <a:chExt cx="2130713" cy="966475"/>
          </a:xfrm>
        </p:grpSpPr>
        <p:sp>
          <p:nvSpPr>
            <p:cNvPr id="8" name="Line 6"/>
            <p:cNvSpPr>
              <a:spLocks noChangeShapeType="1"/>
            </p:cNvSpPr>
            <p:nvPr>
              <p:custDataLst>
                <p:tags r:id="rId5"/>
              </p:custDataLst>
            </p:nvPr>
          </p:nvSpPr>
          <p:spPr bwMode="auto">
            <a:xfrm>
              <a:off x="4597399" y="3445522"/>
              <a:ext cx="1524000" cy="0"/>
            </a:xfrm>
            <a:prstGeom prst="line">
              <a:avLst/>
            </a:prstGeom>
            <a:noFill/>
            <a:ln w="38100">
              <a:solidFill>
                <a:schemeClr val="tx1"/>
              </a:solidFill>
              <a:round/>
              <a:headEnd/>
              <a:tailEnd type="triangle" w="lg" len="lg"/>
            </a:ln>
            <a:effectLst/>
          </p:spPr>
          <p:txBody>
            <a:bodyPr/>
            <a:lstStyle/>
            <a:p>
              <a:pPr>
                <a:defRPr/>
              </a:pPr>
              <a:endParaRPr lang="en-US">
                <a:solidFill>
                  <a:prstClr val="black"/>
                </a:solidFill>
                <a:latin typeface="Verdana"/>
              </a:endParaRPr>
            </a:p>
          </p:txBody>
        </p:sp>
        <p:sp>
          <p:nvSpPr>
            <p:cNvPr id="11" name="Text Box 86"/>
            <p:cNvSpPr txBox="1">
              <a:spLocks noChangeArrowheads="1"/>
            </p:cNvSpPr>
            <p:nvPr>
              <p:custDataLst>
                <p:tags r:id="rId6"/>
              </p:custDataLst>
            </p:nvPr>
          </p:nvSpPr>
          <p:spPr bwMode="auto">
            <a:xfrm>
              <a:off x="4294043" y="2479047"/>
              <a:ext cx="2130713" cy="723275"/>
            </a:xfrm>
            <a:prstGeom prst="rect">
              <a:avLst/>
            </a:prstGeom>
            <a:noFill/>
            <a:ln w="9525">
              <a:noFill/>
              <a:miter lim="800000"/>
              <a:headEnd/>
              <a:tailEnd/>
            </a:ln>
            <a:effectLst/>
          </p:spPr>
          <p:txBody>
            <a:bodyPr wrap="none" anchor="ctr" anchorCtr="1">
              <a:spAutoFit/>
            </a:bodyPr>
            <a:lstStyle/>
            <a:p>
              <a:pPr algn="ctr">
                <a:spcBef>
                  <a:spcPts val="600"/>
                </a:spcBef>
                <a:defRPr/>
              </a:pPr>
              <a:r>
                <a:rPr lang="en-US" dirty="0">
                  <a:solidFill>
                    <a:prstClr val="black"/>
                  </a:solidFill>
                  <a:latin typeface="Verdana"/>
                </a:rPr>
                <a:t>hash function:</a:t>
              </a:r>
            </a:p>
            <a:p>
              <a:pPr algn="ctr">
                <a:spcBef>
                  <a:spcPts val="600"/>
                </a:spcBef>
                <a:defRPr/>
              </a:pPr>
              <a:r>
                <a:rPr lang="en-US" b="1" dirty="0">
                  <a:solidFill>
                    <a:srgbClr val="FF0000"/>
                  </a:solidFill>
                  <a:latin typeface="Verdana"/>
                </a:rPr>
                <a:t>index = h(key)</a:t>
              </a:r>
            </a:p>
          </p:txBody>
        </p:sp>
      </p:grpSp>
      <p:sp>
        <p:nvSpPr>
          <p:cNvPr id="12" name="Text Box 87"/>
          <p:cNvSpPr txBox="1">
            <a:spLocks noChangeArrowheads="1"/>
          </p:cNvSpPr>
          <p:nvPr>
            <p:custDataLst>
              <p:tags r:id="rId2"/>
            </p:custDataLst>
          </p:nvPr>
        </p:nvSpPr>
        <p:spPr bwMode="auto">
          <a:xfrm>
            <a:off x="9067801" y="1307655"/>
            <a:ext cx="1391727" cy="369332"/>
          </a:xfrm>
          <a:prstGeom prst="rect">
            <a:avLst/>
          </a:prstGeom>
          <a:noFill/>
          <a:ln w="9525">
            <a:noFill/>
            <a:miter lim="800000"/>
            <a:headEnd/>
            <a:tailEnd/>
          </a:ln>
          <a:effectLst/>
        </p:spPr>
        <p:txBody>
          <a:bodyPr wrap="none">
            <a:spAutoFit/>
          </a:bodyPr>
          <a:lstStyle/>
          <a:p>
            <a:pPr algn="ctr">
              <a:defRPr/>
            </a:pPr>
            <a:r>
              <a:rPr lang="en-US" dirty="0">
                <a:solidFill>
                  <a:prstClr val="black"/>
                </a:solidFill>
                <a:latin typeface="Verdana"/>
              </a:rPr>
              <a:t>hash table</a:t>
            </a:r>
          </a:p>
        </p:txBody>
      </p:sp>
      <p:grpSp>
        <p:nvGrpSpPr>
          <p:cNvPr id="16" name="Group 15"/>
          <p:cNvGrpSpPr/>
          <p:nvPr/>
        </p:nvGrpSpPr>
        <p:grpSpPr>
          <a:xfrm>
            <a:off x="2149901" y="2375607"/>
            <a:ext cx="4631899" cy="2292683"/>
            <a:chOff x="625900" y="2441949"/>
            <a:chExt cx="4631899" cy="2292683"/>
          </a:xfrm>
        </p:grpSpPr>
        <p:sp>
          <p:nvSpPr>
            <p:cNvPr id="7" name="Freeform 4"/>
            <p:cNvSpPr>
              <a:spLocks/>
            </p:cNvSpPr>
            <p:nvPr>
              <p:custDataLst>
                <p:tags r:id="rId3"/>
              </p:custDataLst>
            </p:nvPr>
          </p:nvSpPr>
          <p:spPr bwMode="auto">
            <a:xfrm>
              <a:off x="998750" y="2441949"/>
              <a:ext cx="3886199" cy="1705083"/>
            </a:xfrm>
            <a:custGeom>
              <a:avLst/>
              <a:gdLst>
                <a:gd name="connsiteX0" fmla="*/ 6438 w 9993"/>
                <a:gd name="connsiteY0" fmla="*/ 191 h 9829"/>
                <a:gd name="connsiteX1" fmla="*/ 4053 w 9993"/>
                <a:gd name="connsiteY1" fmla="*/ 191 h 9829"/>
                <a:gd name="connsiteX2" fmla="*/ 3618 w 9993"/>
                <a:gd name="connsiteY2" fmla="*/ 303 h 9829"/>
                <a:gd name="connsiteX3" fmla="*/ 3401 w 9993"/>
                <a:gd name="connsiteY3" fmla="*/ 354 h 9829"/>
                <a:gd name="connsiteX4" fmla="*/ 2389 w 9993"/>
                <a:gd name="connsiteY4" fmla="*/ 737 h 9829"/>
                <a:gd name="connsiteX5" fmla="*/ 1229 w 9993"/>
                <a:gd name="connsiteY5" fmla="*/ 1391 h 9829"/>
                <a:gd name="connsiteX6" fmla="*/ 869 w 9993"/>
                <a:gd name="connsiteY6" fmla="*/ 1717 h 9829"/>
                <a:gd name="connsiteX7" fmla="*/ 509 w 9993"/>
                <a:gd name="connsiteY7" fmla="*/ 2207 h 9829"/>
                <a:gd name="connsiteX8" fmla="*/ 0 w 9993"/>
                <a:gd name="connsiteY8" fmla="*/ 3514 h 9829"/>
                <a:gd name="connsiteX9" fmla="*/ 74 w 9993"/>
                <a:gd name="connsiteY9" fmla="*/ 4111 h 9829"/>
                <a:gd name="connsiteX10" fmla="*/ 577 w 9993"/>
                <a:gd name="connsiteY10" fmla="*/ 4224 h 9829"/>
                <a:gd name="connsiteX11" fmla="*/ 2172 w 9993"/>
                <a:gd name="connsiteY11" fmla="*/ 4331 h 9829"/>
                <a:gd name="connsiteX12" fmla="*/ 2389 w 9993"/>
                <a:gd name="connsiteY12" fmla="*/ 4438 h 9829"/>
                <a:gd name="connsiteX13" fmla="*/ 2532 w 9993"/>
                <a:gd name="connsiteY13" fmla="*/ 4765 h 9829"/>
                <a:gd name="connsiteX14" fmla="*/ 2389 w 9993"/>
                <a:gd name="connsiteY14" fmla="*/ 5311 h 9829"/>
                <a:gd name="connsiteX15" fmla="*/ 1738 w 9993"/>
                <a:gd name="connsiteY15" fmla="*/ 6128 h 9829"/>
                <a:gd name="connsiteX16" fmla="*/ 1378 w 9993"/>
                <a:gd name="connsiteY16" fmla="*/ 6725 h 9829"/>
                <a:gd name="connsiteX17" fmla="*/ 2247 w 9993"/>
                <a:gd name="connsiteY17" fmla="*/ 8032 h 9829"/>
                <a:gd name="connsiteX18" fmla="*/ 3116 w 9993"/>
                <a:gd name="connsiteY18" fmla="*/ 7981 h 9829"/>
                <a:gd name="connsiteX19" fmla="*/ 3985 w 9993"/>
                <a:gd name="connsiteY19" fmla="*/ 7654 h 9829"/>
                <a:gd name="connsiteX20" fmla="*/ 4854 w 9993"/>
                <a:gd name="connsiteY20" fmla="*/ 7271 h 9829"/>
                <a:gd name="connsiteX21" fmla="*/ 5723 w 9993"/>
                <a:gd name="connsiteY21" fmla="*/ 7491 h 9829"/>
                <a:gd name="connsiteX22" fmla="*/ 6008 w 9993"/>
                <a:gd name="connsiteY22" fmla="*/ 7981 h 9829"/>
                <a:gd name="connsiteX23" fmla="*/ 6734 w 9993"/>
                <a:gd name="connsiteY23" fmla="*/ 9829 h 9829"/>
                <a:gd name="connsiteX24" fmla="*/ 8472 w 9993"/>
                <a:gd name="connsiteY24" fmla="*/ 9614 h 9829"/>
                <a:gd name="connsiteX25" fmla="*/ 8832 w 9993"/>
                <a:gd name="connsiteY25" fmla="*/ 9395 h 9829"/>
                <a:gd name="connsiteX26" fmla="*/ 8981 w 9993"/>
                <a:gd name="connsiteY26" fmla="*/ 9231 h 9829"/>
                <a:gd name="connsiteX27" fmla="*/ 9199 w 9993"/>
                <a:gd name="connsiteY27" fmla="*/ 9124 h 9829"/>
                <a:gd name="connsiteX28" fmla="*/ 9993 w 9993"/>
                <a:gd name="connsiteY28" fmla="*/ 6511 h 9829"/>
                <a:gd name="connsiteX29" fmla="*/ 9484 w 9993"/>
                <a:gd name="connsiteY29" fmla="*/ 4494 h 9829"/>
                <a:gd name="connsiteX30" fmla="*/ 9124 w 9993"/>
                <a:gd name="connsiteY30" fmla="*/ 4111 h 9829"/>
                <a:gd name="connsiteX31" fmla="*/ 8832 w 9993"/>
                <a:gd name="connsiteY31" fmla="*/ 3678 h 9829"/>
                <a:gd name="connsiteX32" fmla="*/ 8615 w 9993"/>
                <a:gd name="connsiteY32" fmla="*/ 3080 h 9829"/>
                <a:gd name="connsiteX33" fmla="*/ 9124 w 9993"/>
                <a:gd name="connsiteY33" fmla="*/ 1661 h 9829"/>
                <a:gd name="connsiteX34" fmla="*/ 9124 w 9993"/>
                <a:gd name="connsiteY34" fmla="*/ 574 h 9829"/>
                <a:gd name="connsiteX35" fmla="*/ 8255 w 9993"/>
                <a:gd name="connsiteY35" fmla="*/ 140 h 9829"/>
                <a:gd name="connsiteX36" fmla="*/ 7821 w 9993"/>
                <a:gd name="connsiteY36" fmla="*/ 28 h 9829"/>
                <a:gd name="connsiteX37" fmla="*/ 6438 w 9993"/>
                <a:gd name="connsiteY37" fmla="*/ 191 h 9829"/>
                <a:gd name="connsiteX0" fmla="*/ 6443 w 10000"/>
                <a:gd name="connsiteY0" fmla="*/ 220 h 10026"/>
                <a:gd name="connsiteX1" fmla="*/ 4056 w 10000"/>
                <a:gd name="connsiteY1" fmla="*/ 220 h 10026"/>
                <a:gd name="connsiteX2" fmla="*/ 3621 w 10000"/>
                <a:gd name="connsiteY2" fmla="*/ 334 h 10026"/>
                <a:gd name="connsiteX3" fmla="*/ 3403 w 10000"/>
                <a:gd name="connsiteY3" fmla="*/ 386 h 10026"/>
                <a:gd name="connsiteX4" fmla="*/ 2391 w 10000"/>
                <a:gd name="connsiteY4" fmla="*/ 776 h 10026"/>
                <a:gd name="connsiteX5" fmla="*/ 1230 w 10000"/>
                <a:gd name="connsiteY5" fmla="*/ 1441 h 10026"/>
                <a:gd name="connsiteX6" fmla="*/ 870 w 10000"/>
                <a:gd name="connsiteY6" fmla="*/ 1773 h 10026"/>
                <a:gd name="connsiteX7" fmla="*/ 509 w 10000"/>
                <a:gd name="connsiteY7" fmla="*/ 2271 h 10026"/>
                <a:gd name="connsiteX8" fmla="*/ 0 w 10000"/>
                <a:gd name="connsiteY8" fmla="*/ 3601 h 10026"/>
                <a:gd name="connsiteX9" fmla="*/ 74 w 10000"/>
                <a:gd name="connsiteY9" fmla="*/ 4209 h 10026"/>
                <a:gd name="connsiteX10" fmla="*/ 577 w 10000"/>
                <a:gd name="connsiteY10" fmla="*/ 4323 h 10026"/>
                <a:gd name="connsiteX11" fmla="*/ 2174 w 10000"/>
                <a:gd name="connsiteY11" fmla="*/ 4432 h 10026"/>
                <a:gd name="connsiteX12" fmla="*/ 2391 w 10000"/>
                <a:gd name="connsiteY12" fmla="*/ 4541 h 10026"/>
                <a:gd name="connsiteX13" fmla="*/ 2534 w 10000"/>
                <a:gd name="connsiteY13" fmla="*/ 4874 h 10026"/>
                <a:gd name="connsiteX14" fmla="*/ 2391 w 10000"/>
                <a:gd name="connsiteY14" fmla="*/ 5429 h 10026"/>
                <a:gd name="connsiteX15" fmla="*/ 1739 w 10000"/>
                <a:gd name="connsiteY15" fmla="*/ 6261 h 10026"/>
                <a:gd name="connsiteX16" fmla="*/ 1379 w 10000"/>
                <a:gd name="connsiteY16" fmla="*/ 6868 h 10026"/>
                <a:gd name="connsiteX17" fmla="*/ 2249 w 10000"/>
                <a:gd name="connsiteY17" fmla="*/ 8198 h 10026"/>
                <a:gd name="connsiteX18" fmla="*/ 3118 w 10000"/>
                <a:gd name="connsiteY18" fmla="*/ 8146 h 10026"/>
                <a:gd name="connsiteX19" fmla="*/ 3988 w 10000"/>
                <a:gd name="connsiteY19" fmla="*/ 7813 h 10026"/>
                <a:gd name="connsiteX20" fmla="*/ 4857 w 10000"/>
                <a:gd name="connsiteY20" fmla="*/ 7423 h 10026"/>
                <a:gd name="connsiteX21" fmla="*/ 5727 w 10000"/>
                <a:gd name="connsiteY21" fmla="*/ 7647 h 10026"/>
                <a:gd name="connsiteX22" fmla="*/ 6012 w 10000"/>
                <a:gd name="connsiteY22" fmla="*/ 8146 h 10026"/>
                <a:gd name="connsiteX23" fmla="*/ 6739 w 10000"/>
                <a:gd name="connsiteY23" fmla="*/ 10026 h 10026"/>
                <a:gd name="connsiteX24" fmla="*/ 8478 w 10000"/>
                <a:gd name="connsiteY24" fmla="*/ 9807 h 10026"/>
                <a:gd name="connsiteX25" fmla="*/ 8838 w 10000"/>
                <a:gd name="connsiteY25" fmla="*/ 9584 h 10026"/>
                <a:gd name="connsiteX26" fmla="*/ 8987 w 10000"/>
                <a:gd name="connsiteY26" fmla="*/ 9418 h 10026"/>
                <a:gd name="connsiteX27" fmla="*/ 9205 w 10000"/>
                <a:gd name="connsiteY27" fmla="*/ 9309 h 10026"/>
                <a:gd name="connsiteX28" fmla="*/ 10000 w 10000"/>
                <a:gd name="connsiteY28" fmla="*/ 6650 h 10026"/>
                <a:gd name="connsiteX29" fmla="*/ 9491 w 10000"/>
                <a:gd name="connsiteY29" fmla="*/ 4598 h 10026"/>
                <a:gd name="connsiteX30" fmla="*/ 9130 w 10000"/>
                <a:gd name="connsiteY30" fmla="*/ 4209 h 10026"/>
                <a:gd name="connsiteX31" fmla="*/ 8838 w 10000"/>
                <a:gd name="connsiteY31" fmla="*/ 3768 h 10026"/>
                <a:gd name="connsiteX32" fmla="*/ 8621 w 10000"/>
                <a:gd name="connsiteY32" fmla="*/ 3160 h 10026"/>
                <a:gd name="connsiteX33" fmla="*/ 9130 w 10000"/>
                <a:gd name="connsiteY33" fmla="*/ 1716 h 10026"/>
                <a:gd name="connsiteX34" fmla="*/ 9130 w 10000"/>
                <a:gd name="connsiteY34" fmla="*/ 610 h 10026"/>
                <a:gd name="connsiteX35" fmla="*/ 8261 w 10000"/>
                <a:gd name="connsiteY35" fmla="*/ 168 h 10026"/>
                <a:gd name="connsiteX36" fmla="*/ 7826 w 10000"/>
                <a:gd name="connsiteY36" fmla="*/ 54 h 10026"/>
                <a:gd name="connsiteX37" fmla="*/ 6443 w 10000"/>
                <a:gd name="connsiteY37" fmla="*/ 220 h 10026"/>
                <a:gd name="connsiteX0" fmla="*/ 6443 w 10000"/>
                <a:gd name="connsiteY0" fmla="*/ 166 h 9972"/>
                <a:gd name="connsiteX1" fmla="*/ 4056 w 10000"/>
                <a:gd name="connsiteY1" fmla="*/ 166 h 9972"/>
                <a:gd name="connsiteX2" fmla="*/ 3621 w 10000"/>
                <a:gd name="connsiteY2" fmla="*/ 280 h 9972"/>
                <a:gd name="connsiteX3" fmla="*/ 3403 w 10000"/>
                <a:gd name="connsiteY3" fmla="*/ 332 h 9972"/>
                <a:gd name="connsiteX4" fmla="*/ 2391 w 10000"/>
                <a:gd name="connsiteY4" fmla="*/ 722 h 9972"/>
                <a:gd name="connsiteX5" fmla="*/ 1230 w 10000"/>
                <a:gd name="connsiteY5" fmla="*/ 1387 h 9972"/>
                <a:gd name="connsiteX6" fmla="*/ 870 w 10000"/>
                <a:gd name="connsiteY6" fmla="*/ 1719 h 9972"/>
                <a:gd name="connsiteX7" fmla="*/ 509 w 10000"/>
                <a:gd name="connsiteY7" fmla="*/ 2217 h 9972"/>
                <a:gd name="connsiteX8" fmla="*/ 0 w 10000"/>
                <a:gd name="connsiteY8" fmla="*/ 3547 h 9972"/>
                <a:gd name="connsiteX9" fmla="*/ 74 w 10000"/>
                <a:gd name="connsiteY9" fmla="*/ 4155 h 9972"/>
                <a:gd name="connsiteX10" fmla="*/ 577 w 10000"/>
                <a:gd name="connsiteY10" fmla="*/ 4269 h 9972"/>
                <a:gd name="connsiteX11" fmla="*/ 2174 w 10000"/>
                <a:gd name="connsiteY11" fmla="*/ 4378 h 9972"/>
                <a:gd name="connsiteX12" fmla="*/ 2391 w 10000"/>
                <a:gd name="connsiteY12" fmla="*/ 4487 h 9972"/>
                <a:gd name="connsiteX13" fmla="*/ 2534 w 10000"/>
                <a:gd name="connsiteY13" fmla="*/ 4820 h 9972"/>
                <a:gd name="connsiteX14" fmla="*/ 2391 w 10000"/>
                <a:gd name="connsiteY14" fmla="*/ 5375 h 9972"/>
                <a:gd name="connsiteX15" fmla="*/ 1739 w 10000"/>
                <a:gd name="connsiteY15" fmla="*/ 6207 h 9972"/>
                <a:gd name="connsiteX16" fmla="*/ 1379 w 10000"/>
                <a:gd name="connsiteY16" fmla="*/ 6814 h 9972"/>
                <a:gd name="connsiteX17" fmla="*/ 2249 w 10000"/>
                <a:gd name="connsiteY17" fmla="*/ 8144 h 9972"/>
                <a:gd name="connsiteX18" fmla="*/ 3118 w 10000"/>
                <a:gd name="connsiteY18" fmla="*/ 8092 h 9972"/>
                <a:gd name="connsiteX19" fmla="*/ 3988 w 10000"/>
                <a:gd name="connsiteY19" fmla="*/ 7759 h 9972"/>
                <a:gd name="connsiteX20" fmla="*/ 4857 w 10000"/>
                <a:gd name="connsiteY20" fmla="*/ 7369 h 9972"/>
                <a:gd name="connsiteX21" fmla="*/ 5727 w 10000"/>
                <a:gd name="connsiteY21" fmla="*/ 7593 h 9972"/>
                <a:gd name="connsiteX22" fmla="*/ 6012 w 10000"/>
                <a:gd name="connsiteY22" fmla="*/ 8092 h 9972"/>
                <a:gd name="connsiteX23" fmla="*/ 6739 w 10000"/>
                <a:gd name="connsiteY23" fmla="*/ 9972 h 9972"/>
                <a:gd name="connsiteX24" fmla="*/ 8478 w 10000"/>
                <a:gd name="connsiteY24" fmla="*/ 9753 h 9972"/>
                <a:gd name="connsiteX25" fmla="*/ 8838 w 10000"/>
                <a:gd name="connsiteY25" fmla="*/ 9530 h 9972"/>
                <a:gd name="connsiteX26" fmla="*/ 8987 w 10000"/>
                <a:gd name="connsiteY26" fmla="*/ 9364 h 9972"/>
                <a:gd name="connsiteX27" fmla="*/ 9205 w 10000"/>
                <a:gd name="connsiteY27" fmla="*/ 9255 h 9972"/>
                <a:gd name="connsiteX28" fmla="*/ 10000 w 10000"/>
                <a:gd name="connsiteY28" fmla="*/ 6596 h 9972"/>
                <a:gd name="connsiteX29" fmla="*/ 9491 w 10000"/>
                <a:gd name="connsiteY29" fmla="*/ 4544 h 9972"/>
                <a:gd name="connsiteX30" fmla="*/ 9130 w 10000"/>
                <a:gd name="connsiteY30" fmla="*/ 4155 h 9972"/>
                <a:gd name="connsiteX31" fmla="*/ 8838 w 10000"/>
                <a:gd name="connsiteY31" fmla="*/ 3714 h 9972"/>
                <a:gd name="connsiteX32" fmla="*/ 8621 w 10000"/>
                <a:gd name="connsiteY32" fmla="*/ 3106 h 9972"/>
                <a:gd name="connsiteX33" fmla="*/ 9130 w 10000"/>
                <a:gd name="connsiteY33" fmla="*/ 1662 h 9972"/>
                <a:gd name="connsiteX34" fmla="*/ 9130 w 10000"/>
                <a:gd name="connsiteY34" fmla="*/ 556 h 9972"/>
                <a:gd name="connsiteX35" fmla="*/ 8261 w 10000"/>
                <a:gd name="connsiteY35" fmla="*/ 114 h 9972"/>
                <a:gd name="connsiteX36" fmla="*/ 7826 w 10000"/>
                <a:gd name="connsiteY36" fmla="*/ 0 h 9972"/>
                <a:gd name="connsiteX37" fmla="*/ 6443 w 10000"/>
                <a:gd name="connsiteY37" fmla="*/ 166 h 9972"/>
                <a:gd name="connsiteX0" fmla="*/ 6443 w 10000"/>
                <a:gd name="connsiteY0" fmla="*/ 166 h 10000"/>
                <a:gd name="connsiteX1" fmla="*/ 4056 w 10000"/>
                <a:gd name="connsiteY1" fmla="*/ 166 h 10000"/>
                <a:gd name="connsiteX2" fmla="*/ 3621 w 10000"/>
                <a:gd name="connsiteY2" fmla="*/ 281 h 10000"/>
                <a:gd name="connsiteX3" fmla="*/ 3403 w 10000"/>
                <a:gd name="connsiteY3" fmla="*/ 333 h 10000"/>
                <a:gd name="connsiteX4" fmla="*/ 2391 w 10000"/>
                <a:gd name="connsiteY4" fmla="*/ 724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379 w 10000"/>
                <a:gd name="connsiteY16" fmla="*/ 6833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5727 w 10000"/>
                <a:gd name="connsiteY21" fmla="*/ 7614 h 10000"/>
                <a:gd name="connsiteX22" fmla="*/ 6012 w 10000"/>
                <a:gd name="connsiteY22" fmla="*/ 811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056 w 10000"/>
                <a:gd name="connsiteY1" fmla="*/ 166 h 10000"/>
                <a:gd name="connsiteX2" fmla="*/ 3621 w 10000"/>
                <a:gd name="connsiteY2" fmla="*/ 281 h 10000"/>
                <a:gd name="connsiteX3" fmla="*/ 3403 w 10000"/>
                <a:gd name="connsiteY3" fmla="*/ 333 h 10000"/>
                <a:gd name="connsiteX4" fmla="*/ 2391 w 10000"/>
                <a:gd name="connsiteY4" fmla="*/ 724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379 w 10000"/>
                <a:gd name="connsiteY16" fmla="*/ 6833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5727 w 10000"/>
                <a:gd name="connsiteY21" fmla="*/ 7614 h 10000"/>
                <a:gd name="connsiteX22" fmla="*/ 6012 w 10000"/>
                <a:gd name="connsiteY22" fmla="*/ 811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88 h 10022"/>
                <a:gd name="connsiteX1" fmla="*/ 4056 w 10000"/>
                <a:gd name="connsiteY1" fmla="*/ 188 h 10022"/>
                <a:gd name="connsiteX2" fmla="*/ 3621 w 10000"/>
                <a:gd name="connsiteY2" fmla="*/ 303 h 10022"/>
                <a:gd name="connsiteX3" fmla="*/ 3403 w 10000"/>
                <a:gd name="connsiteY3" fmla="*/ 355 h 10022"/>
                <a:gd name="connsiteX4" fmla="*/ 2391 w 10000"/>
                <a:gd name="connsiteY4" fmla="*/ 746 h 10022"/>
                <a:gd name="connsiteX5" fmla="*/ 1230 w 10000"/>
                <a:gd name="connsiteY5" fmla="*/ 1413 h 10022"/>
                <a:gd name="connsiteX6" fmla="*/ 870 w 10000"/>
                <a:gd name="connsiteY6" fmla="*/ 1746 h 10022"/>
                <a:gd name="connsiteX7" fmla="*/ 509 w 10000"/>
                <a:gd name="connsiteY7" fmla="*/ 2245 h 10022"/>
                <a:gd name="connsiteX8" fmla="*/ 0 w 10000"/>
                <a:gd name="connsiteY8" fmla="*/ 3579 h 10022"/>
                <a:gd name="connsiteX9" fmla="*/ 74 w 10000"/>
                <a:gd name="connsiteY9" fmla="*/ 4189 h 10022"/>
                <a:gd name="connsiteX10" fmla="*/ 577 w 10000"/>
                <a:gd name="connsiteY10" fmla="*/ 4303 h 10022"/>
                <a:gd name="connsiteX11" fmla="*/ 2174 w 10000"/>
                <a:gd name="connsiteY11" fmla="*/ 4412 h 10022"/>
                <a:gd name="connsiteX12" fmla="*/ 2391 w 10000"/>
                <a:gd name="connsiteY12" fmla="*/ 4522 h 10022"/>
                <a:gd name="connsiteX13" fmla="*/ 2534 w 10000"/>
                <a:gd name="connsiteY13" fmla="*/ 4856 h 10022"/>
                <a:gd name="connsiteX14" fmla="*/ 2391 w 10000"/>
                <a:gd name="connsiteY14" fmla="*/ 5412 h 10022"/>
                <a:gd name="connsiteX15" fmla="*/ 1739 w 10000"/>
                <a:gd name="connsiteY15" fmla="*/ 6246 h 10022"/>
                <a:gd name="connsiteX16" fmla="*/ 1379 w 10000"/>
                <a:gd name="connsiteY16" fmla="*/ 6855 h 10022"/>
                <a:gd name="connsiteX17" fmla="*/ 2249 w 10000"/>
                <a:gd name="connsiteY17" fmla="*/ 8189 h 10022"/>
                <a:gd name="connsiteX18" fmla="*/ 3118 w 10000"/>
                <a:gd name="connsiteY18" fmla="*/ 8137 h 10022"/>
                <a:gd name="connsiteX19" fmla="*/ 3988 w 10000"/>
                <a:gd name="connsiteY19" fmla="*/ 7803 h 10022"/>
                <a:gd name="connsiteX20" fmla="*/ 4857 w 10000"/>
                <a:gd name="connsiteY20" fmla="*/ 7412 h 10022"/>
                <a:gd name="connsiteX21" fmla="*/ 5727 w 10000"/>
                <a:gd name="connsiteY21" fmla="*/ 7636 h 10022"/>
                <a:gd name="connsiteX22" fmla="*/ 6012 w 10000"/>
                <a:gd name="connsiteY22" fmla="*/ 8137 h 10022"/>
                <a:gd name="connsiteX23" fmla="*/ 6739 w 10000"/>
                <a:gd name="connsiteY23" fmla="*/ 10022 h 10022"/>
                <a:gd name="connsiteX24" fmla="*/ 8478 w 10000"/>
                <a:gd name="connsiteY24" fmla="*/ 9802 h 10022"/>
                <a:gd name="connsiteX25" fmla="*/ 8838 w 10000"/>
                <a:gd name="connsiteY25" fmla="*/ 9579 h 10022"/>
                <a:gd name="connsiteX26" fmla="*/ 8987 w 10000"/>
                <a:gd name="connsiteY26" fmla="*/ 9412 h 10022"/>
                <a:gd name="connsiteX27" fmla="*/ 9205 w 10000"/>
                <a:gd name="connsiteY27" fmla="*/ 9303 h 10022"/>
                <a:gd name="connsiteX28" fmla="*/ 10000 w 10000"/>
                <a:gd name="connsiteY28" fmla="*/ 6637 h 10022"/>
                <a:gd name="connsiteX29" fmla="*/ 9491 w 10000"/>
                <a:gd name="connsiteY29" fmla="*/ 4579 h 10022"/>
                <a:gd name="connsiteX30" fmla="*/ 9130 w 10000"/>
                <a:gd name="connsiteY30" fmla="*/ 4189 h 10022"/>
                <a:gd name="connsiteX31" fmla="*/ 8838 w 10000"/>
                <a:gd name="connsiteY31" fmla="*/ 3746 h 10022"/>
                <a:gd name="connsiteX32" fmla="*/ 8621 w 10000"/>
                <a:gd name="connsiteY32" fmla="*/ 3137 h 10022"/>
                <a:gd name="connsiteX33" fmla="*/ 9130 w 10000"/>
                <a:gd name="connsiteY33" fmla="*/ 1689 h 10022"/>
                <a:gd name="connsiteX34" fmla="*/ 9130 w 10000"/>
                <a:gd name="connsiteY34" fmla="*/ 580 h 10022"/>
                <a:gd name="connsiteX35" fmla="*/ 8261 w 10000"/>
                <a:gd name="connsiteY35" fmla="*/ 136 h 10022"/>
                <a:gd name="connsiteX36" fmla="*/ 7826 w 10000"/>
                <a:gd name="connsiteY36" fmla="*/ 22 h 10022"/>
                <a:gd name="connsiteX37" fmla="*/ 6443 w 10000"/>
                <a:gd name="connsiteY37" fmla="*/ 188 h 10022"/>
                <a:gd name="connsiteX0" fmla="*/ 6443 w 10000"/>
                <a:gd name="connsiteY0" fmla="*/ 166 h 10000"/>
                <a:gd name="connsiteX1" fmla="*/ 4315 w 10000"/>
                <a:gd name="connsiteY1" fmla="*/ 529 h 10000"/>
                <a:gd name="connsiteX2" fmla="*/ 3621 w 10000"/>
                <a:gd name="connsiteY2" fmla="*/ 281 h 10000"/>
                <a:gd name="connsiteX3" fmla="*/ 3403 w 10000"/>
                <a:gd name="connsiteY3" fmla="*/ 333 h 10000"/>
                <a:gd name="connsiteX4" fmla="*/ 2391 w 10000"/>
                <a:gd name="connsiteY4" fmla="*/ 724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379 w 10000"/>
                <a:gd name="connsiteY16" fmla="*/ 6833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5727 w 10000"/>
                <a:gd name="connsiteY21" fmla="*/ 7614 h 10000"/>
                <a:gd name="connsiteX22" fmla="*/ 6012 w 10000"/>
                <a:gd name="connsiteY22" fmla="*/ 811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391 w 10000"/>
                <a:gd name="connsiteY4" fmla="*/ 724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379 w 10000"/>
                <a:gd name="connsiteY16" fmla="*/ 6833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5727 w 10000"/>
                <a:gd name="connsiteY21" fmla="*/ 7614 h 10000"/>
                <a:gd name="connsiteX22" fmla="*/ 6012 w 10000"/>
                <a:gd name="connsiteY22" fmla="*/ 811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379 w 10000"/>
                <a:gd name="connsiteY16" fmla="*/ 6833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5727 w 10000"/>
                <a:gd name="connsiteY21" fmla="*/ 7614 h 10000"/>
                <a:gd name="connsiteX22" fmla="*/ 6012 w 10000"/>
                <a:gd name="connsiteY22" fmla="*/ 811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379 w 10000"/>
                <a:gd name="connsiteY16" fmla="*/ 6833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5727 w 10000"/>
                <a:gd name="connsiteY21" fmla="*/ 7614 h 10000"/>
                <a:gd name="connsiteX22" fmla="*/ 6012 w 10000"/>
                <a:gd name="connsiteY22" fmla="*/ 811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379 w 10000"/>
                <a:gd name="connsiteY16" fmla="*/ 6833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5727 w 10000"/>
                <a:gd name="connsiteY21" fmla="*/ 7614 h 10000"/>
                <a:gd name="connsiteX22" fmla="*/ 5864 w 10000"/>
                <a:gd name="connsiteY22" fmla="*/ 8243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379 w 10000"/>
                <a:gd name="connsiteY16" fmla="*/ 6833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6010 w 10000"/>
                <a:gd name="connsiteY21" fmla="*/ 7529 h 10000"/>
                <a:gd name="connsiteX22" fmla="*/ 5864 w 10000"/>
                <a:gd name="connsiteY22" fmla="*/ 8243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379 w 10000"/>
                <a:gd name="connsiteY16" fmla="*/ 6833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6010 w 10000"/>
                <a:gd name="connsiteY21" fmla="*/ 7529 h 10000"/>
                <a:gd name="connsiteX22" fmla="*/ 5864 w 10000"/>
                <a:gd name="connsiteY22" fmla="*/ 8243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379 w 10000"/>
                <a:gd name="connsiteY16" fmla="*/ 6833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6010 w 10000"/>
                <a:gd name="connsiteY21" fmla="*/ 7529 h 10000"/>
                <a:gd name="connsiteX22" fmla="*/ 5864 w 10000"/>
                <a:gd name="connsiteY22" fmla="*/ 8243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379 w 10000"/>
                <a:gd name="connsiteY16" fmla="*/ 6833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6010 w 10000"/>
                <a:gd name="connsiteY21" fmla="*/ 7529 h 10000"/>
                <a:gd name="connsiteX22" fmla="*/ 5876 w 10000"/>
                <a:gd name="connsiteY22" fmla="*/ 858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379 w 10000"/>
                <a:gd name="connsiteY16" fmla="*/ 6833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6010 w 10000"/>
                <a:gd name="connsiteY21" fmla="*/ 7529 h 10000"/>
                <a:gd name="connsiteX22" fmla="*/ 5876 w 10000"/>
                <a:gd name="connsiteY22" fmla="*/ 858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379 w 10000"/>
                <a:gd name="connsiteY16" fmla="*/ 6833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6010 w 10000"/>
                <a:gd name="connsiteY21" fmla="*/ 7529 h 10000"/>
                <a:gd name="connsiteX22" fmla="*/ 5876 w 10000"/>
                <a:gd name="connsiteY22" fmla="*/ 858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379 w 10000"/>
                <a:gd name="connsiteY16" fmla="*/ 6833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6010 w 10000"/>
                <a:gd name="connsiteY21" fmla="*/ 7529 h 10000"/>
                <a:gd name="connsiteX22" fmla="*/ 5876 w 10000"/>
                <a:gd name="connsiteY22" fmla="*/ 858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379 w 10000"/>
                <a:gd name="connsiteY16" fmla="*/ 6833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6010 w 10000"/>
                <a:gd name="connsiteY21" fmla="*/ 7529 h 10000"/>
                <a:gd name="connsiteX22" fmla="*/ 5876 w 10000"/>
                <a:gd name="connsiteY22" fmla="*/ 858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379 w 10000"/>
                <a:gd name="connsiteY16" fmla="*/ 6833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6010 w 10000"/>
                <a:gd name="connsiteY21" fmla="*/ 7529 h 10000"/>
                <a:gd name="connsiteX22" fmla="*/ 5876 w 10000"/>
                <a:gd name="connsiteY22" fmla="*/ 858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379 w 10000"/>
                <a:gd name="connsiteY16" fmla="*/ 6833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6010 w 10000"/>
                <a:gd name="connsiteY21" fmla="*/ 7529 h 10000"/>
                <a:gd name="connsiteX22" fmla="*/ 5876 w 10000"/>
                <a:gd name="connsiteY22" fmla="*/ 858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379 w 10000"/>
                <a:gd name="connsiteY16" fmla="*/ 6833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6010 w 10000"/>
                <a:gd name="connsiteY21" fmla="*/ 7529 h 10000"/>
                <a:gd name="connsiteX22" fmla="*/ 5876 w 10000"/>
                <a:gd name="connsiteY22" fmla="*/ 858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379 w 10000"/>
                <a:gd name="connsiteY16" fmla="*/ 6833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6010 w 10000"/>
                <a:gd name="connsiteY21" fmla="*/ 7529 h 10000"/>
                <a:gd name="connsiteX22" fmla="*/ 5876 w 10000"/>
                <a:gd name="connsiteY22" fmla="*/ 858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539 w 10000"/>
                <a:gd name="connsiteY16" fmla="*/ 7004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6010 w 10000"/>
                <a:gd name="connsiteY21" fmla="*/ 7529 h 10000"/>
                <a:gd name="connsiteX22" fmla="*/ 5876 w 10000"/>
                <a:gd name="connsiteY22" fmla="*/ 858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539 w 10000"/>
                <a:gd name="connsiteY16" fmla="*/ 7196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6010 w 10000"/>
                <a:gd name="connsiteY21" fmla="*/ 7529 h 10000"/>
                <a:gd name="connsiteX22" fmla="*/ 5876 w 10000"/>
                <a:gd name="connsiteY22" fmla="*/ 858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539 w 10000"/>
                <a:gd name="connsiteY16" fmla="*/ 7196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6010 w 10000"/>
                <a:gd name="connsiteY21" fmla="*/ 7529 h 10000"/>
                <a:gd name="connsiteX22" fmla="*/ 5876 w 10000"/>
                <a:gd name="connsiteY22" fmla="*/ 858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539 w 10000"/>
                <a:gd name="connsiteY16" fmla="*/ 7196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6010 w 10000"/>
                <a:gd name="connsiteY21" fmla="*/ 7529 h 10000"/>
                <a:gd name="connsiteX22" fmla="*/ 5876 w 10000"/>
                <a:gd name="connsiteY22" fmla="*/ 858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539 w 10000"/>
                <a:gd name="connsiteY16" fmla="*/ 7196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6010 w 10000"/>
                <a:gd name="connsiteY21" fmla="*/ 7529 h 10000"/>
                <a:gd name="connsiteX22" fmla="*/ 5876 w 10000"/>
                <a:gd name="connsiteY22" fmla="*/ 858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443 w 10000"/>
                <a:gd name="connsiteY0" fmla="*/ 166 h 10000"/>
                <a:gd name="connsiteX1" fmla="*/ 4315 w 10000"/>
                <a:gd name="connsiteY1" fmla="*/ 529 h 10000"/>
                <a:gd name="connsiteX2" fmla="*/ 3855 w 10000"/>
                <a:gd name="connsiteY2" fmla="*/ 281 h 10000"/>
                <a:gd name="connsiteX3" fmla="*/ 3403 w 10000"/>
                <a:gd name="connsiteY3" fmla="*/ 333 h 10000"/>
                <a:gd name="connsiteX4" fmla="*/ 2416 w 10000"/>
                <a:gd name="connsiteY4" fmla="*/ 980 h 10000"/>
                <a:gd name="connsiteX5" fmla="*/ 1230 w 10000"/>
                <a:gd name="connsiteY5" fmla="*/ 1391 h 10000"/>
                <a:gd name="connsiteX6" fmla="*/ 870 w 10000"/>
                <a:gd name="connsiteY6" fmla="*/ 1724 h 10000"/>
                <a:gd name="connsiteX7" fmla="*/ 509 w 10000"/>
                <a:gd name="connsiteY7" fmla="*/ 2223 h 10000"/>
                <a:gd name="connsiteX8" fmla="*/ 0 w 10000"/>
                <a:gd name="connsiteY8" fmla="*/ 3557 h 10000"/>
                <a:gd name="connsiteX9" fmla="*/ 74 w 10000"/>
                <a:gd name="connsiteY9" fmla="*/ 4167 h 10000"/>
                <a:gd name="connsiteX10" fmla="*/ 577 w 10000"/>
                <a:gd name="connsiteY10" fmla="*/ 4281 h 10000"/>
                <a:gd name="connsiteX11" fmla="*/ 2174 w 10000"/>
                <a:gd name="connsiteY11" fmla="*/ 4390 h 10000"/>
                <a:gd name="connsiteX12" fmla="*/ 2391 w 10000"/>
                <a:gd name="connsiteY12" fmla="*/ 4500 h 10000"/>
                <a:gd name="connsiteX13" fmla="*/ 2534 w 10000"/>
                <a:gd name="connsiteY13" fmla="*/ 4834 h 10000"/>
                <a:gd name="connsiteX14" fmla="*/ 2391 w 10000"/>
                <a:gd name="connsiteY14" fmla="*/ 5390 h 10000"/>
                <a:gd name="connsiteX15" fmla="*/ 1739 w 10000"/>
                <a:gd name="connsiteY15" fmla="*/ 6224 h 10000"/>
                <a:gd name="connsiteX16" fmla="*/ 1539 w 10000"/>
                <a:gd name="connsiteY16" fmla="*/ 7196 h 10000"/>
                <a:gd name="connsiteX17" fmla="*/ 2249 w 10000"/>
                <a:gd name="connsiteY17" fmla="*/ 8167 h 10000"/>
                <a:gd name="connsiteX18" fmla="*/ 3118 w 10000"/>
                <a:gd name="connsiteY18" fmla="*/ 8115 h 10000"/>
                <a:gd name="connsiteX19" fmla="*/ 3988 w 10000"/>
                <a:gd name="connsiteY19" fmla="*/ 7781 h 10000"/>
                <a:gd name="connsiteX20" fmla="*/ 4857 w 10000"/>
                <a:gd name="connsiteY20" fmla="*/ 7390 h 10000"/>
                <a:gd name="connsiteX21" fmla="*/ 6010 w 10000"/>
                <a:gd name="connsiteY21" fmla="*/ 7529 h 10000"/>
                <a:gd name="connsiteX22" fmla="*/ 5876 w 10000"/>
                <a:gd name="connsiteY22" fmla="*/ 8585 h 10000"/>
                <a:gd name="connsiteX23" fmla="*/ 6739 w 10000"/>
                <a:gd name="connsiteY23" fmla="*/ 10000 h 10000"/>
                <a:gd name="connsiteX24" fmla="*/ 8478 w 10000"/>
                <a:gd name="connsiteY24" fmla="*/ 9780 h 10000"/>
                <a:gd name="connsiteX25" fmla="*/ 8838 w 10000"/>
                <a:gd name="connsiteY25" fmla="*/ 9557 h 10000"/>
                <a:gd name="connsiteX26" fmla="*/ 8987 w 10000"/>
                <a:gd name="connsiteY26" fmla="*/ 9390 h 10000"/>
                <a:gd name="connsiteX27" fmla="*/ 9205 w 10000"/>
                <a:gd name="connsiteY27" fmla="*/ 9281 h 10000"/>
                <a:gd name="connsiteX28" fmla="*/ 10000 w 10000"/>
                <a:gd name="connsiteY28" fmla="*/ 6615 h 10000"/>
                <a:gd name="connsiteX29" fmla="*/ 9491 w 10000"/>
                <a:gd name="connsiteY29" fmla="*/ 4557 h 10000"/>
                <a:gd name="connsiteX30" fmla="*/ 9130 w 10000"/>
                <a:gd name="connsiteY30" fmla="*/ 4167 h 10000"/>
                <a:gd name="connsiteX31" fmla="*/ 8838 w 10000"/>
                <a:gd name="connsiteY31" fmla="*/ 3724 h 10000"/>
                <a:gd name="connsiteX32" fmla="*/ 8621 w 10000"/>
                <a:gd name="connsiteY32" fmla="*/ 3115 h 10000"/>
                <a:gd name="connsiteX33" fmla="*/ 9130 w 10000"/>
                <a:gd name="connsiteY33" fmla="*/ 1667 h 10000"/>
                <a:gd name="connsiteX34" fmla="*/ 9130 w 10000"/>
                <a:gd name="connsiteY34" fmla="*/ 558 h 10000"/>
                <a:gd name="connsiteX35" fmla="*/ 8261 w 10000"/>
                <a:gd name="connsiteY35" fmla="*/ 114 h 10000"/>
                <a:gd name="connsiteX36" fmla="*/ 7826 w 10000"/>
                <a:gd name="connsiteY36" fmla="*/ 0 h 10000"/>
                <a:gd name="connsiteX37" fmla="*/ 6443 w 10000"/>
                <a:gd name="connsiteY37" fmla="*/ 166 h 10000"/>
                <a:gd name="connsiteX0" fmla="*/ 6396 w 9953"/>
                <a:gd name="connsiteY0" fmla="*/ 166 h 10000"/>
                <a:gd name="connsiteX1" fmla="*/ 4268 w 9953"/>
                <a:gd name="connsiteY1" fmla="*/ 529 h 10000"/>
                <a:gd name="connsiteX2" fmla="*/ 3808 w 9953"/>
                <a:gd name="connsiteY2" fmla="*/ 281 h 10000"/>
                <a:gd name="connsiteX3" fmla="*/ 3356 w 9953"/>
                <a:gd name="connsiteY3" fmla="*/ 333 h 10000"/>
                <a:gd name="connsiteX4" fmla="*/ 2369 w 9953"/>
                <a:gd name="connsiteY4" fmla="*/ 980 h 10000"/>
                <a:gd name="connsiteX5" fmla="*/ 1183 w 9953"/>
                <a:gd name="connsiteY5" fmla="*/ 1391 h 10000"/>
                <a:gd name="connsiteX6" fmla="*/ 823 w 9953"/>
                <a:gd name="connsiteY6" fmla="*/ 1724 h 10000"/>
                <a:gd name="connsiteX7" fmla="*/ 462 w 9953"/>
                <a:gd name="connsiteY7" fmla="*/ 2223 h 10000"/>
                <a:gd name="connsiteX8" fmla="*/ 52 w 9953"/>
                <a:gd name="connsiteY8" fmla="*/ 3151 h 10000"/>
                <a:gd name="connsiteX9" fmla="*/ 27 w 9953"/>
                <a:gd name="connsiteY9" fmla="*/ 4167 h 10000"/>
                <a:gd name="connsiteX10" fmla="*/ 530 w 9953"/>
                <a:gd name="connsiteY10" fmla="*/ 4281 h 10000"/>
                <a:gd name="connsiteX11" fmla="*/ 2127 w 9953"/>
                <a:gd name="connsiteY11" fmla="*/ 4390 h 10000"/>
                <a:gd name="connsiteX12" fmla="*/ 2344 w 9953"/>
                <a:gd name="connsiteY12" fmla="*/ 4500 h 10000"/>
                <a:gd name="connsiteX13" fmla="*/ 2487 w 9953"/>
                <a:gd name="connsiteY13" fmla="*/ 4834 h 10000"/>
                <a:gd name="connsiteX14" fmla="*/ 2344 w 9953"/>
                <a:gd name="connsiteY14" fmla="*/ 5390 h 10000"/>
                <a:gd name="connsiteX15" fmla="*/ 1692 w 9953"/>
                <a:gd name="connsiteY15" fmla="*/ 6224 h 10000"/>
                <a:gd name="connsiteX16" fmla="*/ 1492 w 9953"/>
                <a:gd name="connsiteY16" fmla="*/ 7196 h 10000"/>
                <a:gd name="connsiteX17" fmla="*/ 2202 w 9953"/>
                <a:gd name="connsiteY17" fmla="*/ 8167 h 10000"/>
                <a:gd name="connsiteX18" fmla="*/ 3071 w 9953"/>
                <a:gd name="connsiteY18" fmla="*/ 8115 h 10000"/>
                <a:gd name="connsiteX19" fmla="*/ 3941 w 9953"/>
                <a:gd name="connsiteY19" fmla="*/ 7781 h 10000"/>
                <a:gd name="connsiteX20" fmla="*/ 4810 w 9953"/>
                <a:gd name="connsiteY20" fmla="*/ 7390 h 10000"/>
                <a:gd name="connsiteX21" fmla="*/ 5963 w 9953"/>
                <a:gd name="connsiteY21" fmla="*/ 7529 h 10000"/>
                <a:gd name="connsiteX22" fmla="*/ 5829 w 9953"/>
                <a:gd name="connsiteY22" fmla="*/ 8585 h 10000"/>
                <a:gd name="connsiteX23" fmla="*/ 6692 w 9953"/>
                <a:gd name="connsiteY23" fmla="*/ 10000 h 10000"/>
                <a:gd name="connsiteX24" fmla="*/ 8431 w 9953"/>
                <a:gd name="connsiteY24" fmla="*/ 9780 h 10000"/>
                <a:gd name="connsiteX25" fmla="*/ 8791 w 9953"/>
                <a:gd name="connsiteY25" fmla="*/ 9557 h 10000"/>
                <a:gd name="connsiteX26" fmla="*/ 8940 w 9953"/>
                <a:gd name="connsiteY26" fmla="*/ 9390 h 10000"/>
                <a:gd name="connsiteX27" fmla="*/ 9158 w 9953"/>
                <a:gd name="connsiteY27" fmla="*/ 9281 h 10000"/>
                <a:gd name="connsiteX28" fmla="*/ 9953 w 9953"/>
                <a:gd name="connsiteY28" fmla="*/ 6615 h 10000"/>
                <a:gd name="connsiteX29" fmla="*/ 9444 w 9953"/>
                <a:gd name="connsiteY29" fmla="*/ 4557 h 10000"/>
                <a:gd name="connsiteX30" fmla="*/ 9083 w 9953"/>
                <a:gd name="connsiteY30" fmla="*/ 4167 h 10000"/>
                <a:gd name="connsiteX31" fmla="*/ 8791 w 9953"/>
                <a:gd name="connsiteY31" fmla="*/ 3724 h 10000"/>
                <a:gd name="connsiteX32" fmla="*/ 8574 w 9953"/>
                <a:gd name="connsiteY32" fmla="*/ 3115 h 10000"/>
                <a:gd name="connsiteX33" fmla="*/ 9083 w 9953"/>
                <a:gd name="connsiteY33" fmla="*/ 1667 h 10000"/>
                <a:gd name="connsiteX34" fmla="*/ 9083 w 9953"/>
                <a:gd name="connsiteY34" fmla="*/ 558 h 10000"/>
                <a:gd name="connsiteX35" fmla="*/ 8214 w 9953"/>
                <a:gd name="connsiteY35" fmla="*/ 114 h 10000"/>
                <a:gd name="connsiteX36" fmla="*/ 7779 w 9953"/>
                <a:gd name="connsiteY36" fmla="*/ 0 h 10000"/>
                <a:gd name="connsiteX37" fmla="*/ 6396 w 9953"/>
                <a:gd name="connsiteY37" fmla="*/ 166 h 10000"/>
                <a:gd name="connsiteX0" fmla="*/ 6426 w 10000"/>
                <a:gd name="connsiteY0" fmla="*/ 166 h 10000"/>
                <a:gd name="connsiteX1" fmla="*/ 4288 w 10000"/>
                <a:gd name="connsiteY1" fmla="*/ 529 h 10000"/>
                <a:gd name="connsiteX2" fmla="*/ 3826 w 10000"/>
                <a:gd name="connsiteY2" fmla="*/ 281 h 10000"/>
                <a:gd name="connsiteX3" fmla="*/ 3372 w 10000"/>
                <a:gd name="connsiteY3" fmla="*/ 333 h 10000"/>
                <a:gd name="connsiteX4" fmla="*/ 2380 w 10000"/>
                <a:gd name="connsiteY4" fmla="*/ 980 h 10000"/>
                <a:gd name="connsiteX5" fmla="*/ 1189 w 10000"/>
                <a:gd name="connsiteY5" fmla="*/ 1391 h 10000"/>
                <a:gd name="connsiteX6" fmla="*/ 827 w 10000"/>
                <a:gd name="connsiteY6" fmla="*/ 1724 h 10000"/>
                <a:gd name="connsiteX7" fmla="*/ 464 w 10000"/>
                <a:gd name="connsiteY7" fmla="*/ 2223 h 10000"/>
                <a:gd name="connsiteX8" fmla="*/ 52 w 10000"/>
                <a:gd name="connsiteY8" fmla="*/ 3151 h 10000"/>
                <a:gd name="connsiteX9" fmla="*/ 27 w 10000"/>
                <a:gd name="connsiteY9" fmla="*/ 4167 h 10000"/>
                <a:gd name="connsiteX10" fmla="*/ 533 w 10000"/>
                <a:gd name="connsiteY10" fmla="*/ 4281 h 10000"/>
                <a:gd name="connsiteX11" fmla="*/ 2137 w 10000"/>
                <a:gd name="connsiteY11" fmla="*/ 4390 h 10000"/>
                <a:gd name="connsiteX12" fmla="*/ 2355 w 10000"/>
                <a:gd name="connsiteY12" fmla="*/ 4500 h 10000"/>
                <a:gd name="connsiteX13" fmla="*/ 2499 w 10000"/>
                <a:gd name="connsiteY13" fmla="*/ 4834 h 10000"/>
                <a:gd name="connsiteX14" fmla="*/ 2355 w 10000"/>
                <a:gd name="connsiteY14" fmla="*/ 5390 h 10000"/>
                <a:gd name="connsiteX15" fmla="*/ 1700 w 10000"/>
                <a:gd name="connsiteY15" fmla="*/ 6224 h 10000"/>
                <a:gd name="connsiteX16" fmla="*/ 1499 w 10000"/>
                <a:gd name="connsiteY16" fmla="*/ 7196 h 10000"/>
                <a:gd name="connsiteX17" fmla="*/ 2212 w 10000"/>
                <a:gd name="connsiteY17" fmla="*/ 8167 h 10000"/>
                <a:gd name="connsiteX18" fmla="*/ 3086 w 10000"/>
                <a:gd name="connsiteY18" fmla="*/ 8115 h 10000"/>
                <a:gd name="connsiteX19" fmla="*/ 3960 w 10000"/>
                <a:gd name="connsiteY19" fmla="*/ 7781 h 10000"/>
                <a:gd name="connsiteX20" fmla="*/ 4833 w 10000"/>
                <a:gd name="connsiteY20" fmla="*/ 7390 h 10000"/>
                <a:gd name="connsiteX21" fmla="*/ 5991 w 10000"/>
                <a:gd name="connsiteY21" fmla="*/ 7529 h 10000"/>
                <a:gd name="connsiteX22" fmla="*/ 5857 w 10000"/>
                <a:gd name="connsiteY22" fmla="*/ 8585 h 10000"/>
                <a:gd name="connsiteX23" fmla="*/ 6724 w 10000"/>
                <a:gd name="connsiteY23" fmla="*/ 10000 h 10000"/>
                <a:gd name="connsiteX24" fmla="*/ 8471 w 10000"/>
                <a:gd name="connsiteY24" fmla="*/ 9780 h 10000"/>
                <a:gd name="connsiteX25" fmla="*/ 8833 w 10000"/>
                <a:gd name="connsiteY25" fmla="*/ 9557 h 10000"/>
                <a:gd name="connsiteX26" fmla="*/ 8982 w 10000"/>
                <a:gd name="connsiteY26" fmla="*/ 9390 h 10000"/>
                <a:gd name="connsiteX27" fmla="*/ 9201 w 10000"/>
                <a:gd name="connsiteY27" fmla="*/ 9281 h 10000"/>
                <a:gd name="connsiteX28" fmla="*/ 10000 w 10000"/>
                <a:gd name="connsiteY28" fmla="*/ 6615 h 10000"/>
                <a:gd name="connsiteX29" fmla="*/ 9489 w 10000"/>
                <a:gd name="connsiteY29" fmla="*/ 4557 h 10000"/>
                <a:gd name="connsiteX30" fmla="*/ 9126 w 10000"/>
                <a:gd name="connsiteY30" fmla="*/ 4167 h 10000"/>
                <a:gd name="connsiteX31" fmla="*/ 8833 w 10000"/>
                <a:gd name="connsiteY31" fmla="*/ 3724 h 10000"/>
                <a:gd name="connsiteX32" fmla="*/ 8614 w 10000"/>
                <a:gd name="connsiteY32" fmla="*/ 3115 h 10000"/>
                <a:gd name="connsiteX33" fmla="*/ 9126 w 10000"/>
                <a:gd name="connsiteY33" fmla="*/ 1667 h 10000"/>
                <a:gd name="connsiteX34" fmla="*/ 9126 w 10000"/>
                <a:gd name="connsiteY34" fmla="*/ 558 h 10000"/>
                <a:gd name="connsiteX35" fmla="*/ 8253 w 10000"/>
                <a:gd name="connsiteY35" fmla="*/ 114 h 10000"/>
                <a:gd name="connsiteX36" fmla="*/ 7816 w 10000"/>
                <a:gd name="connsiteY36" fmla="*/ 0 h 10000"/>
                <a:gd name="connsiteX37" fmla="*/ 6426 w 10000"/>
                <a:gd name="connsiteY37"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259 w 10070"/>
                <a:gd name="connsiteY5" fmla="*/ 1391 h 10000"/>
                <a:gd name="connsiteX6" fmla="*/ 897 w 10070"/>
                <a:gd name="connsiteY6" fmla="*/ 1724 h 10000"/>
                <a:gd name="connsiteX7" fmla="*/ 534 w 10070"/>
                <a:gd name="connsiteY7" fmla="*/ 2223 h 10000"/>
                <a:gd name="connsiteX8" fmla="*/ 122 w 10070"/>
                <a:gd name="connsiteY8" fmla="*/ 3151 h 10000"/>
                <a:gd name="connsiteX9" fmla="*/ 97 w 10070"/>
                <a:gd name="connsiteY9" fmla="*/ 4167 h 10000"/>
                <a:gd name="connsiteX10" fmla="*/ 603 w 10070"/>
                <a:gd name="connsiteY10" fmla="*/ 4281 h 10000"/>
                <a:gd name="connsiteX11" fmla="*/ 2207 w 10070"/>
                <a:gd name="connsiteY11" fmla="*/ 4390 h 10000"/>
                <a:gd name="connsiteX12" fmla="*/ 2425 w 10070"/>
                <a:gd name="connsiteY12" fmla="*/ 4500 h 10000"/>
                <a:gd name="connsiteX13" fmla="*/ 2569 w 10070"/>
                <a:gd name="connsiteY13" fmla="*/ 4834 h 10000"/>
                <a:gd name="connsiteX14" fmla="*/ 2425 w 10070"/>
                <a:gd name="connsiteY14" fmla="*/ 5390 h 10000"/>
                <a:gd name="connsiteX15" fmla="*/ 1770 w 10070"/>
                <a:gd name="connsiteY15" fmla="*/ 6224 h 10000"/>
                <a:gd name="connsiteX16" fmla="*/ 1569 w 10070"/>
                <a:gd name="connsiteY16" fmla="*/ 7196 h 10000"/>
                <a:gd name="connsiteX17" fmla="*/ 2282 w 10070"/>
                <a:gd name="connsiteY17" fmla="*/ 8167 h 10000"/>
                <a:gd name="connsiteX18" fmla="*/ 3156 w 10070"/>
                <a:gd name="connsiteY18" fmla="*/ 8115 h 10000"/>
                <a:gd name="connsiteX19" fmla="*/ 4030 w 10070"/>
                <a:gd name="connsiteY19" fmla="*/ 7781 h 10000"/>
                <a:gd name="connsiteX20" fmla="*/ 4903 w 10070"/>
                <a:gd name="connsiteY20" fmla="*/ 7390 h 10000"/>
                <a:gd name="connsiteX21" fmla="*/ 6061 w 10070"/>
                <a:gd name="connsiteY21" fmla="*/ 7529 h 10000"/>
                <a:gd name="connsiteX22" fmla="*/ 5927 w 10070"/>
                <a:gd name="connsiteY22" fmla="*/ 8585 h 10000"/>
                <a:gd name="connsiteX23" fmla="*/ 6794 w 10070"/>
                <a:gd name="connsiteY23" fmla="*/ 10000 h 10000"/>
                <a:gd name="connsiteX24" fmla="*/ 8541 w 10070"/>
                <a:gd name="connsiteY24" fmla="*/ 9780 h 10000"/>
                <a:gd name="connsiteX25" fmla="*/ 8903 w 10070"/>
                <a:gd name="connsiteY25" fmla="*/ 9557 h 10000"/>
                <a:gd name="connsiteX26" fmla="*/ 9052 w 10070"/>
                <a:gd name="connsiteY26" fmla="*/ 9390 h 10000"/>
                <a:gd name="connsiteX27" fmla="*/ 9271 w 10070"/>
                <a:gd name="connsiteY27" fmla="*/ 9281 h 10000"/>
                <a:gd name="connsiteX28" fmla="*/ 10070 w 10070"/>
                <a:gd name="connsiteY28" fmla="*/ 6615 h 10000"/>
                <a:gd name="connsiteX29" fmla="*/ 9559 w 10070"/>
                <a:gd name="connsiteY29" fmla="*/ 4557 h 10000"/>
                <a:gd name="connsiteX30" fmla="*/ 9196 w 10070"/>
                <a:gd name="connsiteY30" fmla="*/ 4167 h 10000"/>
                <a:gd name="connsiteX31" fmla="*/ 8903 w 10070"/>
                <a:gd name="connsiteY31" fmla="*/ 3724 h 10000"/>
                <a:gd name="connsiteX32" fmla="*/ 8684 w 10070"/>
                <a:gd name="connsiteY32" fmla="*/ 3115 h 10000"/>
                <a:gd name="connsiteX33" fmla="*/ 9196 w 10070"/>
                <a:gd name="connsiteY33" fmla="*/ 1667 h 10000"/>
                <a:gd name="connsiteX34" fmla="*/ 9196 w 10070"/>
                <a:gd name="connsiteY34" fmla="*/ 558 h 10000"/>
                <a:gd name="connsiteX35" fmla="*/ 8323 w 10070"/>
                <a:gd name="connsiteY35" fmla="*/ 114 h 10000"/>
                <a:gd name="connsiteX36" fmla="*/ 7886 w 10070"/>
                <a:gd name="connsiteY36" fmla="*/ 0 h 10000"/>
                <a:gd name="connsiteX37" fmla="*/ 6496 w 10070"/>
                <a:gd name="connsiteY37"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259 w 10070"/>
                <a:gd name="connsiteY5" fmla="*/ 1391 h 10000"/>
                <a:gd name="connsiteX6" fmla="*/ 897 w 10070"/>
                <a:gd name="connsiteY6" fmla="*/ 1724 h 10000"/>
                <a:gd name="connsiteX7" fmla="*/ 534 w 10070"/>
                <a:gd name="connsiteY7" fmla="*/ 2223 h 10000"/>
                <a:gd name="connsiteX8" fmla="*/ 122 w 10070"/>
                <a:gd name="connsiteY8" fmla="*/ 3151 h 10000"/>
                <a:gd name="connsiteX9" fmla="*/ 97 w 10070"/>
                <a:gd name="connsiteY9" fmla="*/ 4167 h 10000"/>
                <a:gd name="connsiteX10" fmla="*/ 1210 w 10070"/>
                <a:gd name="connsiteY10" fmla="*/ 4281 h 10000"/>
                <a:gd name="connsiteX11" fmla="*/ 2207 w 10070"/>
                <a:gd name="connsiteY11" fmla="*/ 4390 h 10000"/>
                <a:gd name="connsiteX12" fmla="*/ 2425 w 10070"/>
                <a:gd name="connsiteY12" fmla="*/ 4500 h 10000"/>
                <a:gd name="connsiteX13" fmla="*/ 2569 w 10070"/>
                <a:gd name="connsiteY13" fmla="*/ 4834 h 10000"/>
                <a:gd name="connsiteX14" fmla="*/ 2425 w 10070"/>
                <a:gd name="connsiteY14" fmla="*/ 5390 h 10000"/>
                <a:gd name="connsiteX15" fmla="*/ 1770 w 10070"/>
                <a:gd name="connsiteY15" fmla="*/ 6224 h 10000"/>
                <a:gd name="connsiteX16" fmla="*/ 1569 w 10070"/>
                <a:gd name="connsiteY16" fmla="*/ 7196 h 10000"/>
                <a:gd name="connsiteX17" fmla="*/ 2282 w 10070"/>
                <a:gd name="connsiteY17" fmla="*/ 8167 h 10000"/>
                <a:gd name="connsiteX18" fmla="*/ 3156 w 10070"/>
                <a:gd name="connsiteY18" fmla="*/ 8115 h 10000"/>
                <a:gd name="connsiteX19" fmla="*/ 4030 w 10070"/>
                <a:gd name="connsiteY19" fmla="*/ 7781 h 10000"/>
                <a:gd name="connsiteX20" fmla="*/ 4903 w 10070"/>
                <a:gd name="connsiteY20" fmla="*/ 7390 h 10000"/>
                <a:gd name="connsiteX21" fmla="*/ 6061 w 10070"/>
                <a:gd name="connsiteY21" fmla="*/ 7529 h 10000"/>
                <a:gd name="connsiteX22" fmla="*/ 5927 w 10070"/>
                <a:gd name="connsiteY22" fmla="*/ 8585 h 10000"/>
                <a:gd name="connsiteX23" fmla="*/ 6794 w 10070"/>
                <a:gd name="connsiteY23" fmla="*/ 10000 h 10000"/>
                <a:gd name="connsiteX24" fmla="*/ 8541 w 10070"/>
                <a:gd name="connsiteY24" fmla="*/ 9780 h 10000"/>
                <a:gd name="connsiteX25" fmla="*/ 8903 w 10070"/>
                <a:gd name="connsiteY25" fmla="*/ 9557 h 10000"/>
                <a:gd name="connsiteX26" fmla="*/ 9052 w 10070"/>
                <a:gd name="connsiteY26" fmla="*/ 9390 h 10000"/>
                <a:gd name="connsiteX27" fmla="*/ 9271 w 10070"/>
                <a:gd name="connsiteY27" fmla="*/ 9281 h 10000"/>
                <a:gd name="connsiteX28" fmla="*/ 10070 w 10070"/>
                <a:gd name="connsiteY28" fmla="*/ 6615 h 10000"/>
                <a:gd name="connsiteX29" fmla="*/ 9559 w 10070"/>
                <a:gd name="connsiteY29" fmla="*/ 4557 h 10000"/>
                <a:gd name="connsiteX30" fmla="*/ 9196 w 10070"/>
                <a:gd name="connsiteY30" fmla="*/ 4167 h 10000"/>
                <a:gd name="connsiteX31" fmla="*/ 8903 w 10070"/>
                <a:gd name="connsiteY31" fmla="*/ 3724 h 10000"/>
                <a:gd name="connsiteX32" fmla="*/ 8684 w 10070"/>
                <a:gd name="connsiteY32" fmla="*/ 3115 h 10000"/>
                <a:gd name="connsiteX33" fmla="*/ 9196 w 10070"/>
                <a:gd name="connsiteY33" fmla="*/ 1667 h 10000"/>
                <a:gd name="connsiteX34" fmla="*/ 9196 w 10070"/>
                <a:gd name="connsiteY34" fmla="*/ 558 h 10000"/>
                <a:gd name="connsiteX35" fmla="*/ 8323 w 10070"/>
                <a:gd name="connsiteY35" fmla="*/ 114 h 10000"/>
                <a:gd name="connsiteX36" fmla="*/ 7886 w 10070"/>
                <a:gd name="connsiteY36" fmla="*/ 0 h 10000"/>
                <a:gd name="connsiteX37" fmla="*/ 6496 w 10070"/>
                <a:gd name="connsiteY37"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259 w 10070"/>
                <a:gd name="connsiteY5" fmla="*/ 1391 h 10000"/>
                <a:gd name="connsiteX6" fmla="*/ 897 w 10070"/>
                <a:gd name="connsiteY6" fmla="*/ 1724 h 10000"/>
                <a:gd name="connsiteX7" fmla="*/ 534 w 10070"/>
                <a:gd name="connsiteY7" fmla="*/ 2223 h 10000"/>
                <a:gd name="connsiteX8" fmla="*/ 122 w 10070"/>
                <a:gd name="connsiteY8" fmla="*/ 3151 h 10000"/>
                <a:gd name="connsiteX9" fmla="*/ 97 w 10070"/>
                <a:gd name="connsiteY9" fmla="*/ 4167 h 10000"/>
                <a:gd name="connsiteX10" fmla="*/ 1210 w 10070"/>
                <a:gd name="connsiteY10" fmla="*/ 4281 h 10000"/>
                <a:gd name="connsiteX11" fmla="*/ 2207 w 10070"/>
                <a:gd name="connsiteY11" fmla="*/ 4390 h 10000"/>
                <a:gd name="connsiteX12" fmla="*/ 2425 w 10070"/>
                <a:gd name="connsiteY12" fmla="*/ 4500 h 10000"/>
                <a:gd name="connsiteX13" fmla="*/ 2569 w 10070"/>
                <a:gd name="connsiteY13" fmla="*/ 4834 h 10000"/>
                <a:gd name="connsiteX14" fmla="*/ 2425 w 10070"/>
                <a:gd name="connsiteY14" fmla="*/ 5390 h 10000"/>
                <a:gd name="connsiteX15" fmla="*/ 1770 w 10070"/>
                <a:gd name="connsiteY15" fmla="*/ 6224 h 10000"/>
                <a:gd name="connsiteX16" fmla="*/ 1569 w 10070"/>
                <a:gd name="connsiteY16" fmla="*/ 7196 h 10000"/>
                <a:gd name="connsiteX17" fmla="*/ 2282 w 10070"/>
                <a:gd name="connsiteY17" fmla="*/ 8167 h 10000"/>
                <a:gd name="connsiteX18" fmla="*/ 3156 w 10070"/>
                <a:gd name="connsiteY18" fmla="*/ 8115 h 10000"/>
                <a:gd name="connsiteX19" fmla="*/ 4030 w 10070"/>
                <a:gd name="connsiteY19" fmla="*/ 7781 h 10000"/>
                <a:gd name="connsiteX20" fmla="*/ 4903 w 10070"/>
                <a:gd name="connsiteY20" fmla="*/ 7390 h 10000"/>
                <a:gd name="connsiteX21" fmla="*/ 6061 w 10070"/>
                <a:gd name="connsiteY21" fmla="*/ 7529 h 10000"/>
                <a:gd name="connsiteX22" fmla="*/ 5927 w 10070"/>
                <a:gd name="connsiteY22" fmla="*/ 8585 h 10000"/>
                <a:gd name="connsiteX23" fmla="*/ 6794 w 10070"/>
                <a:gd name="connsiteY23" fmla="*/ 10000 h 10000"/>
                <a:gd name="connsiteX24" fmla="*/ 8541 w 10070"/>
                <a:gd name="connsiteY24" fmla="*/ 9780 h 10000"/>
                <a:gd name="connsiteX25" fmla="*/ 8903 w 10070"/>
                <a:gd name="connsiteY25" fmla="*/ 9557 h 10000"/>
                <a:gd name="connsiteX26" fmla="*/ 9052 w 10070"/>
                <a:gd name="connsiteY26" fmla="*/ 9390 h 10000"/>
                <a:gd name="connsiteX27" fmla="*/ 9271 w 10070"/>
                <a:gd name="connsiteY27" fmla="*/ 9281 h 10000"/>
                <a:gd name="connsiteX28" fmla="*/ 10070 w 10070"/>
                <a:gd name="connsiteY28" fmla="*/ 6615 h 10000"/>
                <a:gd name="connsiteX29" fmla="*/ 9559 w 10070"/>
                <a:gd name="connsiteY29" fmla="*/ 4557 h 10000"/>
                <a:gd name="connsiteX30" fmla="*/ 9196 w 10070"/>
                <a:gd name="connsiteY30" fmla="*/ 4167 h 10000"/>
                <a:gd name="connsiteX31" fmla="*/ 8903 w 10070"/>
                <a:gd name="connsiteY31" fmla="*/ 3724 h 10000"/>
                <a:gd name="connsiteX32" fmla="*/ 8684 w 10070"/>
                <a:gd name="connsiteY32" fmla="*/ 3115 h 10000"/>
                <a:gd name="connsiteX33" fmla="*/ 9196 w 10070"/>
                <a:gd name="connsiteY33" fmla="*/ 1667 h 10000"/>
                <a:gd name="connsiteX34" fmla="*/ 9196 w 10070"/>
                <a:gd name="connsiteY34" fmla="*/ 558 h 10000"/>
                <a:gd name="connsiteX35" fmla="*/ 8323 w 10070"/>
                <a:gd name="connsiteY35" fmla="*/ 114 h 10000"/>
                <a:gd name="connsiteX36" fmla="*/ 7886 w 10070"/>
                <a:gd name="connsiteY36" fmla="*/ 0 h 10000"/>
                <a:gd name="connsiteX37" fmla="*/ 6496 w 10070"/>
                <a:gd name="connsiteY37"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259 w 10070"/>
                <a:gd name="connsiteY5" fmla="*/ 1391 h 10000"/>
                <a:gd name="connsiteX6" fmla="*/ 897 w 10070"/>
                <a:gd name="connsiteY6" fmla="*/ 1724 h 10000"/>
                <a:gd name="connsiteX7" fmla="*/ 534 w 10070"/>
                <a:gd name="connsiteY7" fmla="*/ 2223 h 10000"/>
                <a:gd name="connsiteX8" fmla="*/ 122 w 10070"/>
                <a:gd name="connsiteY8" fmla="*/ 3151 h 10000"/>
                <a:gd name="connsiteX9" fmla="*/ 97 w 10070"/>
                <a:gd name="connsiteY9" fmla="*/ 4167 h 10000"/>
                <a:gd name="connsiteX10" fmla="*/ 1061 w 10070"/>
                <a:gd name="connsiteY10" fmla="*/ 4623 h 10000"/>
                <a:gd name="connsiteX11" fmla="*/ 2207 w 10070"/>
                <a:gd name="connsiteY11" fmla="*/ 4390 h 10000"/>
                <a:gd name="connsiteX12" fmla="*/ 2425 w 10070"/>
                <a:gd name="connsiteY12" fmla="*/ 4500 h 10000"/>
                <a:gd name="connsiteX13" fmla="*/ 2569 w 10070"/>
                <a:gd name="connsiteY13" fmla="*/ 4834 h 10000"/>
                <a:gd name="connsiteX14" fmla="*/ 2425 w 10070"/>
                <a:gd name="connsiteY14" fmla="*/ 5390 h 10000"/>
                <a:gd name="connsiteX15" fmla="*/ 1770 w 10070"/>
                <a:gd name="connsiteY15" fmla="*/ 6224 h 10000"/>
                <a:gd name="connsiteX16" fmla="*/ 1569 w 10070"/>
                <a:gd name="connsiteY16" fmla="*/ 7196 h 10000"/>
                <a:gd name="connsiteX17" fmla="*/ 2282 w 10070"/>
                <a:gd name="connsiteY17" fmla="*/ 8167 h 10000"/>
                <a:gd name="connsiteX18" fmla="*/ 3156 w 10070"/>
                <a:gd name="connsiteY18" fmla="*/ 8115 h 10000"/>
                <a:gd name="connsiteX19" fmla="*/ 4030 w 10070"/>
                <a:gd name="connsiteY19" fmla="*/ 7781 h 10000"/>
                <a:gd name="connsiteX20" fmla="*/ 4903 w 10070"/>
                <a:gd name="connsiteY20" fmla="*/ 7390 h 10000"/>
                <a:gd name="connsiteX21" fmla="*/ 6061 w 10070"/>
                <a:gd name="connsiteY21" fmla="*/ 7529 h 10000"/>
                <a:gd name="connsiteX22" fmla="*/ 5927 w 10070"/>
                <a:gd name="connsiteY22" fmla="*/ 8585 h 10000"/>
                <a:gd name="connsiteX23" fmla="*/ 6794 w 10070"/>
                <a:gd name="connsiteY23" fmla="*/ 10000 h 10000"/>
                <a:gd name="connsiteX24" fmla="*/ 8541 w 10070"/>
                <a:gd name="connsiteY24" fmla="*/ 9780 h 10000"/>
                <a:gd name="connsiteX25" fmla="*/ 8903 w 10070"/>
                <a:gd name="connsiteY25" fmla="*/ 9557 h 10000"/>
                <a:gd name="connsiteX26" fmla="*/ 9052 w 10070"/>
                <a:gd name="connsiteY26" fmla="*/ 9390 h 10000"/>
                <a:gd name="connsiteX27" fmla="*/ 9271 w 10070"/>
                <a:gd name="connsiteY27" fmla="*/ 9281 h 10000"/>
                <a:gd name="connsiteX28" fmla="*/ 10070 w 10070"/>
                <a:gd name="connsiteY28" fmla="*/ 6615 h 10000"/>
                <a:gd name="connsiteX29" fmla="*/ 9559 w 10070"/>
                <a:gd name="connsiteY29" fmla="*/ 4557 h 10000"/>
                <a:gd name="connsiteX30" fmla="*/ 9196 w 10070"/>
                <a:gd name="connsiteY30" fmla="*/ 4167 h 10000"/>
                <a:gd name="connsiteX31" fmla="*/ 8903 w 10070"/>
                <a:gd name="connsiteY31" fmla="*/ 3724 h 10000"/>
                <a:gd name="connsiteX32" fmla="*/ 8684 w 10070"/>
                <a:gd name="connsiteY32" fmla="*/ 3115 h 10000"/>
                <a:gd name="connsiteX33" fmla="*/ 9196 w 10070"/>
                <a:gd name="connsiteY33" fmla="*/ 1667 h 10000"/>
                <a:gd name="connsiteX34" fmla="*/ 9196 w 10070"/>
                <a:gd name="connsiteY34" fmla="*/ 558 h 10000"/>
                <a:gd name="connsiteX35" fmla="*/ 8323 w 10070"/>
                <a:gd name="connsiteY35" fmla="*/ 114 h 10000"/>
                <a:gd name="connsiteX36" fmla="*/ 7886 w 10070"/>
                <a:gd name="connsiteY36" fmla="*/ 0 h 10000"/>
                <a:gd name="connsiteX37" fmla="*/ 6496 w 10070"/>
                <a:gd name="connsiteY37"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259 w 10070"/>
                <a:gd name="connsiteY5" fmla="*/ 1391 h 10000"/>
                <a:gd name="connsiteX6" fmla="*/ 897 w 10070"/>
                <a:gd name="connsiteY6" fmla="*/ 1724 h 10000"/>
                <a:gd name="connsiteX7" fmla="*/ 534 w 10070"/>
                <a:gd name="connsiteY7" fmla="*/ 2223 h 10000"/>
                <a:gd name="connsiteX8" fmla="*/ 122 w 10070"/>
                <a:gd name="connsiteY8" fmla="*/ 3151 h 10000"/>
                <a:gd name="connsiteX9" fmla="*/ 97 w 10070"/>
                <a:gd name="connsiteY9" fmla="*/ 4167 h 10000"/>
                <a:gd name="connsiteX10" fmla="*/ 1061 w 10070"/>
                <a:gd name="connsiteY10" fmla="*/ 4623 h 10000"/>
                <a:gd name="connsiteX11" fmla="*/ 2207 w 10070"/>
                <a:gd name="connsiteY11" fmla="*/ 4390 h 10000"/>
                <a:gd name="connsiteX12" fmla="*/ 2425 w 10070"/>
                <a:gd name="connsiteY12" fmla="*/ 4500 h 10000"/>
                <a:gd name="connsiteX13" fmla="*/ 2569 w 10070"/>
                <a:gd name="connsiteY13" fmla="*/ 4834 h 10000"/>
                <a:gd name="connsiteX14" fmla="*/ 2425 w 10070"/>
                <a:gd name="connsiteY14" fmla="*/ 5390 h 10000"/>
                <a:gd name="connsiteX15" fmla="*/ 1770 w 10070"/>
                <a:gd name="connsiteY15" fmla="*/ 6224 h 10000"/>
                <a:gd name="connsiteX16" fmla="*/ 1569 w 10070"/>
                <a:gd name="connsiteY16" fmla="*/ 7196 h 10000"/>
                <a:gd name="connsiteX17" fmla="*/ 2282 w 10070"/>
                <a:gd name="connsiteY17" fmla="*/ 8167 h 10000"/>
                <a:gd name="connsiteX18" fmla="*/ 3156 w 10070"/>
                <a:gd name="connsiteY18" fmla="*/ 8115 h 10000"/>
                <a:gd name="connsiteX19" fmla="*/ 4030 w 10070"/>
                <a:gd name="connsiteY19" fmla="*/ 7781 h 10000"/>
                <a:gd name="connsiteX20" fmla="*/ 4903 w 10070"/>
                <a:gd name="connsiteY20" fmla="*/ 7390 h 10000"/>
                <a:gd name="connsiteX21" fmla="*/ 6061 w 10070"/>
                <a:gd name="connsiteY21" fmla="*/ 7529 h 10000"/>
                <a:gd name="connsiteX22" fmla="*/ 5927 w 10070"/>
                <a:gd name="connsiteY22" fmla="*/ 8585 h 10000"/>
                <a:gd name="connsiteX23" fmla="*/ 6794 w 10070"/>
                <a:gd name="connsiteY23" fmla="*/ 10000 h 10000"/>
                <a:gd name="connsiteX24" fmla="*/ 8541 w 10070"/>
                <a:gd name="connsiteY24" fmla="*/ 9780 h 10000"/>
                <a:gd name="connsiteX25" fmla="*/ 8903 w 10070"/>
                <a:gd name="connsiteY25" fmla="*/ 9557 h 10000"/>
                <a:gd name="connsiteX26" fmla="*/ 9052 w 10070"/>
                <a:gd name="connsiteY26" fmla="*/ 9390 h 10000"/>
                <a:gd name="connsiteX27" fmla="*/ 9271 w 10070"/>
                <a:gd name="connsiteY27" fmla="*/ 9281 h 10000"/>
                <a:gd name="connsiteX28" fmla="*/ 10070 w 10070"/>
                <a:gd name="connsiteY28" fmla="*/ 6615 h 10000"/>
                <a:gd name="connsiteX29" fmla="*/ 9559 w 10070"/>
                <a:gd name="connsiteY29" fmla="*/ 4557 h 10000"/>
                <a:gd name="connsiteX30" fmla="*/ 9196 w 10070"/>
                <a:gd name="connsiteY30" fmla="*/ 4167 h 10000"/>
                <a:gd name="connsiteX31" fmla="*/ 8903 w 10070"/>
                <a:gd name="connsiteY31" fmla="*/ 3724 h 10000"/>
                <a:gd name="connsiteX32" fmla="*/ 8684 w 10070"/>
                <a:gd name="connsiteY32" fmla="*/ 3115 h 10000"/>
                <a:gd name="connsiteX33" fmla="*/ 9196 w 10070"/>
                <a:gd name="connsiteY33" fmla="*/ 1667 h 10000"/>
                <a:gd name="connsiteX34" fmla="*/ 9196 w 10070"/>
                <a:gd name="connsiteY34" fmla="*/ 558 h 10000"/>
                <a:gd name="connsiteX35" fmla="*/ 8323 w 10070"/>
                <a:gd name="connsiteY35" fmla="*/ 114 h 10000"/>
                <a:gd name="connsiteX36" fmla="*/ 7886 w 10070"/>
                <a:gd name="connsiteY36" fmla="*/ 0 h 10000"/>
                <a:gd name="connsiteX37" fmla="*/ 6496 w 10070"/>
                <a:gd name="connsiteY37"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259 w 10070"/>
                <a:gd name="connsiteY5" fmla="*/ 1391 h 10000"/>
                <a:gd name="connsiteX6" fmla="*/ 897 w 10070"/>
                <a:gd name="connsiteY6" fmla="*/ 1724 h 10000"/>
                <a:gd name="connsiteX7" fmla="*/ 534 w 10070"/>
                <a:gd name="connsiteY7" fmla="*/ 2223 h 10000"/>
                <a:gd name="connsiteX8" fmla="*/ 122 w 10070"/>
                <a:gd name="connsiteY8" fmla="*/ 3151 h 10000"/>
                <a:gd name="connsiteX9" fmla="*/ 97 w 10070"/>
                <a:gd name="connsiteY9" fmla="*/ 4167 h 10000"/>
                <a:gd name="connsiteX10" fmla="*/ 1061 w 10070"/>
                <a:gd name="connsiteY10" fmla="*/ 4623 h 10000"/>
                <a:gd name="connsiteX11" fmla="*/ 1484 w 10070"/>
                <a:gd name="connsiteY11" fmla="*/ 4386 h 10000"/>
                <a:gd name="connsiteX12" fmla="*/ 2207 w 10070"/>
                <a:gd name="connsiteY12" fmla="*/ 4390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903 w 10070"/>
                <a:gd name="connsiteY26" fmla="*/ 9557 h 10000"/>
                <a:gd name="connsiteX27" fmla="*/ 9052 w 10070"/>
                <a:gd name="connsiteY27" fmla="*/ 9390 h 10000"/>
                <a:gd name="connsiteX28" fmla="*/ 9271 w 10070"/>
                <a:gd name="connsiteY28" fmla="*/ 9281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259 w 10070"/>
                <a:gd name="connsiteY5" fmla="*/ 1391 h 10000"/>
                <a:gd name="connsiteX6" fmla="*/ 897 w 10070"/>
                <a:gd name="connsiteY6" fmla="*/ 1724 h 10000"/>
                <a:gd name="connsiteX7" fmla="*/ 534 w 10070"/>
                <a:gd name="connsiteY7" fmla="*/ 2223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4386 h 10000"/>
                <a:gd name="connsiteX12" fmla="*/ 2207 w 10070"/>
                <a:gd name="connsiteY12" fmla="*/ 4390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903 w 10070"/>
                <a:gd name="connsiteY26" fmla="*/ 9557 h 10000"/>
                <a:gd name="connsiteX27" fmla="*/ 9052 w 10070"/>
                <a:gd name="connsiteY27" fmla="*/ 9390 h 10000"/>
                <a:gd name="connsiteX28" fmla="*/ 9271 w 10070"/>
                <a:gd name="connsiteY28" fmla="*/ 9281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259 w 10070"/>
                <a:gd name="connsiteY5" fmla="*/ 1391 h 10000"/>
                <a:gd name="connsiteX6" fmla="*/ 897 w 10070"/>
                <a:gd name="connsiteY6" fmla="*/ 1724 h 10000"/>
                <a:gd name="connsiteX7" fmla="*/ 534 w 10070"/>
                <a:gd name="connsiteY7" fmla="*/ 2223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2207 w 10070"/>
                <a:gd name="connsiteY12" fmla="*/ 4390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903 w 10070"/>
                <a:gd name="connsiteY26" fmla="*/ 9557 h 10000"/>
                <a:gd name="connsiteX27" fmla="*/ 9052 w 10070"/>
                <a:gd name="connsiteY27" fmla="*/ 9390 h 10000"/>
                <a:gd name="connsiteX28" fmla="*/ 9271 w 10070"/>
                <a:gd name="connsiteY28" fmla="*/ 9281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259 w 10070"/>
                <a:gd name="connsiteY5" fmla="*/ 1391 h 10000"/>
                <a:gd name="connsiteX6" fmla="*/ 897 w 10070"/>
                <a:gd name="connsiteY6" fmla="*/ 1724 h 10000"/>
                <a:gd name="connsiteX7" fmla="*/ 534 w 10070"/>
                <a:gd name="connsiteY7" fmla="*/ 2223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2207 w 10070"/>
                <a:gd name="connsiteY12" fmla="*/ 4390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903 w 10070"/>
                <a:gd name="connsiteY26" fmla="*/ 9557 h 10000"/>
                <a:gd name="connsiteX27" fmla="*/ 9052 w 10070"/>
                <a:gd name="connsiteY27" fmla="*/ 9390 h 10000"/>
                <a:gd name="connsiteX28" fmla="*/ 9271 w 10070"/>
                <a:gd name="connsiteY28" fmla="*/ 9281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259 w 10070"/>
                <a:gd name="connsiteY5" fmla="*/ 1391 h 10000"/>
                <a:gd name="connsiteX6" fmla="*/ 897 w 10070"/>
                <a:gd name="connsiteY6" fmla="*/ 1724 h 10000"/>
                <a:gd name="connsiteX7" fmla="*/ 534 w 10070"/>
                <a:gd name="connsiteY7" fmla="*/ 2223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2207 w 10070"/>
                <a:gd name="connsiteY12" fmla="*/ 4390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903 w 10070"/>
                <a:gd name="connsiteY26" fmla="*/ 9557 h 10000"/>
                <a:gd name="connsiteX27" fmla="*/ 9052 w 10070"/>
                <a:gd name="connsiteY27" fmla="*/ 9390 h 10000"/>
                <a:gd name="connsiteX28" fmla="*/ 9271 w 10070"/>
                <a:gd name="connsiteY28" fmla="*/ 9281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259 w 10070"/>
                <a:gd name="connsiteY5" fmla="*/ 1391 h 10000"/>
                <a:gd name="connsiteX6" fmla="*/ 897 w 10070"/>
                <a:gd name="connsiteY6" fmla="*/ 1724 h 10000"/>
                <a:gd name="connsiteX7" fmla="*/ 534 w 10070"/>
                <a:gd name="connsiteY7" fmla="*/ 2223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903 w 10070"/>
                <a:gd name="connsiteY26" fmla="*/ 9557 h 10000"/>
                <a:gd name="connsiteX27" fmla="*/ 9052 w 10070"/>
                <a:gd name="connsiteY27" fmla="*/ 9390 h 10000"/>
                <a:gd name="connsiteX28" fmla="*/ 9271 w 10070"/>
                <a:gd name="connsiteY28" fmla="*/ 9281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259 w 10070"/>
                <a:gd name="connsiteY5" fmla="*/ 1391 h 10000"/>
                <a:gd name="connsiteX6" fmla="*/ 897 w 10070"/>
                <a:gd name="connsiteY6" fmla="*/ 1724 h 10000"/>
                <a:gd name="connsiteX7" fmla="*/ 534 w 10070"/>
                <a:gd name="connsiteY7" fmla="*/ 2223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903 w 10070"/>
                <a:gd name="connsiteY26" fmla="*/ 9557 h 10000"/>
                <a:gd name="connsiteX27" fmla="*/ 9052 w 10070"/>
                <a:gd name="connsiteY27" fmla="*/ 9390 h 10000"/>
                <a:gd name="connsiteX28" fmla="*/ 9271 w 10070"/>
                <a:gd name="connsiteY28" fmla="*/ 9281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259 w 10070"/>
                <a:gd name="connsiteY5" fmla="*/ 1391 h 10000"/>
                <a:gd name="connsiteX6" fmla="*/ 897 w 10070"/>
                <a:gd name="connsiteY6" fmla="*/ 1724 h 10000"/>
                <a:gd name="connsiteX7" fmla="*/ 534 w 10070"/>
                <a:gd name="connsiteY7" fmla="*/ 2223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903 w 10070"/>
                <a:gd name="connsiteY26" fmla="*/ 9557 h 10000"/>
                <a:gd name="connsiteX27" fmla="*/ 9052 w 10070"/>
                <a:gd name="connsiteY27" fmla="*/ 9390 h 10000"/>
                <a:gd name="connsiteX28" fmla="*/ 9271 w 10070"/>
                <a:gd name="connsiteY28" fmla="*/ 9281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556 w 10070"/>
                <a:gd name="connsiteY5" fmla="*/ 943 h 10000"/>
                <a:gd name="connsiteX6" fmla="*/ 897 w 10070"/>
                <a:gd name="connsiteY6" fmla="*/ 1724 h 10000"/>
                <a:gd name="connsiteX7" fmla="*/ 534 w 10070"/>
                <a:gd name="connsiteY7" fmla="*/ 2223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903 w 10070"/>
                <a:gd name="connsiteY26" fmla="*/ 9557 h 10000"/>
                <a:gd name="connsiteX27" fmla="*/ 9052 w 10070"/>
                <a:gd name="connsiteY27" fmla="*/ 9390 h 10000"/>
                <a:gd name="connsiteX28" fmla="*/ 9271 w 10070"/>
                <a:gd name="connsiteY28" fmla="*/ 9281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556 w 10070"/>
                <a:gd name="connsiteY5" fmla="*/ 943 h 10000"/>
                <a:gd name="connsiteX6" fmla="*/ 897 w 10070"/>
                <a:gd name="connsiteY6" fmla="*/ 1724 h 10000"/>
                <a:gd name="connsiteX7" fmla="*/ 534 w 10070"/>
                <a:gd name="connsiteY7" fmla="*/ 2223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903 w 10070"/>
                <a:gd name="connsiteY26" fmla="*/ 9557 h 10000"/>
                <a:gd name="connsiteX27" fmla="*/ 9052 w 10070"/>
                <a:gd name="connsiteY27" fmla="*/ 9390 h 10000"/>
                <a:gd name="connsiteX28" fmla="*/ 9271 w 10070"/>
                <a:gd name="connsiteY28" fmla="*/ 9281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556 w 10070"/>
                <a:gd name="connsiteY5" fmla="*/ 943 h 10000"/>
                <a:gd name="connsiteX6" fmla="*/ 835 w 10070"/>
                <a:gd name="connsiteY6" fmla="*/ 1553 h 10000"/>
                <a:gd name="connsiteX7" fmla="*/ 534 w 10070"/>
                <a:gd name="connsiteY7" fmla="*/ 2223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903 w 10070"/>
                <a:gd name="connsiteY26" fmla="*/ 9557 h 10000"/>
                <a:gd name="connsiteX27" fmla="*/ 9052 w 10070"/>
                <a:gd name="connsiteY27" fmla="*/ 9390 h 10000"/>
                <a:gd name="connsiteX28" fmla="*/ 9271 w 10070"/>
                <a:gd name="connsiteY28" fmla="*/ 9281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556 w 10070"/>
                <a:gd name="connsiteY5" fmla="*/ 943 h 10000"/>
                <a:gd name="connsiteX6" fmla="*/ 835 w 10070"/>
                <a:gd name="connsiteY6" fmla="*/ 1553 h 10000"/>
                <a:gd name="connsiteX7" fmla="*/ 559 w 10070"/>
                <a:gd name="connsiteY7" fmla="*/ 2501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903 w 10070"/>
                <a:gd name="connsiteY26" fmla="*/ 9557 h 10000"/>
                <a:gd name="connsiteX27" fmla="*/ 9052 w 10070"/>
                <a:gd name="connsiteY27" fmla="*/ 9390 h 10000"/>
                <a:gd name="connsiteX28" fmla="*/ 9271 w 10070"/>
                <a:gd name="connsiteY28" fmla="*/ 9281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556 w 10070"/>
                <a:gd name="connsiteY5" fmla="*/ 943 h 10000"/>
                <a:gd name="connsiteX6" fmla="*/ 835 w 10070"/>
                <a:gd name="connsiteY6" fmla="*/ 1553 h 10000"/>
                <a:gd name="connsiteX7" fmla="*/ 559 w 10070"/>
                <a:gd name="connsiteY7" fmla="*/ 2501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903 w 10070"/>
                <a:gd name="connsiteY26" fmla="*/ 9557 h 10000"/>
                <a:gd name="connsiteX27" fmla="*/ 9052 w 10070"/>
                <a:gd name="connsiteY27" fmla="*/ 9390 h 10000"/>
                <a:gd name="connsiteX28" fmla="*/ 9271 w 10070"/>
                <a:gd name="connsiteY28" fmla="*/ 9281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556 w 10070"/>
                <a:gd name="connsiteY5" fmla="*/ 943 h 10000"/>
                <a:gd name="connsiteX6" fmla="*/ 835 w 10070"/>
                <a:gd name="connsiteY6" fmla="*/ 1553 h 10000"/>
                <a:gd name="connsiteX7" fmla="*/ 559 w 10070"/>
                <a:gd name="connsiteY7" fmla="*/ 2501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903 w 10070"/>
                <a:gd name="connsiteY26" fmla="*/ 9557 h 10000"/>
                <a:gd name="connsiteX27" fmla="*/ 9052 w 10070"/>
                <a:gd name="connsiteY27" fmla="*/ 9390 h 10000"/>
                <a:gd name="connsiteX28" fmla="*/ 9271 w 10070"/>
                <a:gd name="connsiteY28" fmla="*/ 9281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556 w 10070"/>
                <a:gd name="connsiteY5" fmla="*/ 943 h 10000"/>
                <a:gd name="connsiteX6" fmla="*/ 835 w 10070"/>
                <a:gd name="connsiteY6" fmla="*/ 1553 h 10000"/>
                <a:gd name="connsiteX7" fmla="*/ 559 w 10070"/>
                <a:gd name="connsiteY7" fmla="*/ 2501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903 w 10070"/>
                <a:gd name="connsiteY26" fmla="*/ 9557 h 10000"/>
                <a:gd name="connsiteX27" fmla="*/ 9052 w 10070"/>
                <a:gd name="connsiteY27" fmla="*/ 9390 h 10000"/>
                <a:gd name="connsiteX28" fmla="*/ 9271 w 10070"/>
                <a:gd name="connsiteY28" fmla="*/ 9281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556 w 10070"/>
                <a:gd name="connsiteY5" fmla="*/ 943 h 10000"/>
                <a:gd name="connsiteX6" fmla="*/ 835 w 10070"/>
                <a:gd name="connsiteY6" fmla="*/ 1553 h 10000"/>
                <a:gd name="connsiteX7" fmla="*/ 559 w 10070"/>
                <a:gd name="connsiteY7" fmla="*/ 2501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866 w 10070"/>
                <a:gd name="connsiteY26" fmla="*/ 8745 h 10000"/>
                <a:gd name="connsiteX27" fmla="*/ 9052 w 10070"/>
                <a:gd name="connsiteY27" fmla="*/ 9390 h 10000"/>
                <a:gd name="connsiteX28" fmla="*/ 9271 w 10070"/>
                <a:gd name="connsiteY28" fmla="*/ 9281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556 w 10070"/>
                <a:gd name="connsiteY5" fmla="*/ 943 h 10000"/>
                <a:gd name="connsiteX6" fmla="*/ 835 w 10070"/>
                <a:gd name="connsiteY6" fmla="*/ 1553 h 10000"/>
                <a:gd name="connsiteX7" fmla="*/ 559 w 10070"/>
                <a:gd name="connsiteY7" fmla="*/ 2501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866 w 10070"/>
                <a:gd name="connsiteY26" fmla="*/ 8745 h 10000"/>
                <a:gd name="connsiteX27" fmla="*/ 9052 w 10070"/>
                <a:gd name="connsiteY27" fmla="*/ 9390 h 10000"/>
                <a:gd name="connsiteX28" fmla="*/ 9531 w 10070"/>
                <a:gd name="connsiteY28" fmla="*/ 8448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556 w 10070"/>
                <a:gd name="connsiteY5" fmla="*/ 943 h 10000"/>
                <a:gd name="connsiteX6" fmla="*/ 835 w 10070"/>
                <a:gd name="connsiteY6" fmla="*/ 1553 h 10000"/>
                <a:gd name="connsiteX7" fmla="*/ 559 w 10070"/>
                <a:gd name="connsiteY7" fmla="*/ 2501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866 w 10070"/>
                <a:gd name="connsiteY26" fmla="*/ 8745 h 10000"/>
                <a:gd name="connsiteX27" fmla="*/ 9052 w 10070"/>
                <a:gd name="connsiteY27" fmla="*/ 9390 h 10000"/>
                <a:gd name="connsiteX28" fmla="*/ 9531 w 10070"/>
                <a:gd name="connsiteY28" fmla="*/ 8448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556 w 10070"/>
                <a:gd name="connsiteY5" fmla="*/ 943 h 10000"/>
                <a:gd name="connsiteX6" fmla="*/ 835 w 10070"/>
                <a:gd name="connsiteY6" fmla="*/ 1553 h 10000"/>
                <a:gd name="connsiteX7" fmla="*/ 559 w 10070"/>
                <a:gd name="connsiteY7" fmla="*/ 2501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866 w 10070"/>
                <a:gd name="connsiteY26" fmla="*/ 8745 h 10000"/>
                <a:gd name="connsiteX27" fmla="*/ 9052 w 10070"/>
                <a:gd name="connsiteY27" fmla="*/ 9390 h 10000"/>
                <a:gd name="connsiteX28" fmla="*/ 9531 w 10070"/>
                <a:gd name="connsiteY28" fmla="*/ 8448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556 w 10070"/>
                <a:gd name="connsiteY5" fmla="*/ 943 h 10000"/>
                <a:gd name="connsiteX6" fmla="*/ 835 w 10070"/>
                <a:gd name="connsiteY6" fmla="*/ 1553 h 10000"/>
                <a:gd name="connsiteX7" fmla="*/ 559 w 10070"/>
                <a:gd name="connsiteY7" fmla="*/ 2501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866 w 10070"/>
                <a:gd name="connsiteY26" fmla="*/ 8745 h 10000"/>
                <a:gd name="connsiteX27" fmla="*/ 9300 w 10070"/>
                <a:gd name="connsiteY27" fmla="*/ 9112 h 10000"/>
                <a:gd name="connsiteX28" fmla="*/ 9531 w 10070"/>
                <a:gd name="connsiteY28" fmla="*/ 8448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556 w 10070"/>
                <a:gd name="connsiteY5" fmla="*/ 943 h 10000"/>
                <a:gd name="connsiteX6" fmla="*/ 835 w 10070"/>
                <a:gd name="connsiteY6" fmla="*/ 1553 h 10000"/>
                <a:gd name="connsiteX7" fmla="*/ 559 w 10070"/>
                <a:gd name="connsiteY7" fmla="*/ 2501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804 w 10070"/>
                <a:gd name="connsiteY26" fmla="*/ 9129 h 10000"/>
                <a:gd name="connsiteX27" fmla="*/ 9300 w 10070"/>
                <a:gd name="connsiteY27" fmla="*/ 9112 h 10000"/>
                <a:gd name="connsiteX28" fmla="*/ 9531 w 10070"/>
                <a:gd name="connsiteY28" fmla="*/ 8448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556 w 10070"/>
                <a:gd name="connsiteY5" fmla="*/ 943 h 10000"/>
                <a:gd name="connsiteX6" fmla="*/ 835 w 10070"/>
                <a:gd name="connsiteY6" fmla="*/ 1553 h 10000"/>
                <a:gd name="connsiteX7" fmla="*/ 559 w 10070"/>
                <a:gd name="connsiteY7" fmla="*/ 2501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8541 w 10070"/>
                <a:gd name="connsiteY25" fmla="*/ 9780 h 10000"/>
                <a:gd name="connsiteX26" fmla="*/ 8804 w 10070"/>
                <a:gd name="connsiteY26" fmla="*/ 9129 h 10000"/>
                <a:gd name="connsiteX27" fmla="*/ 9300 w 10070"/>
                <a:gd name="connsiteY27" fmla="*/ 9112 h 10000"/>
                <a:gd name="connsiteX28" fmla="*/ 9531 w 10070"/>
                <a:gd name="connsiteY28" fmla="*/ 8448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556 w 10070"/>
                <a:gd name="connsiteY5" fmla="*/ 943 h 10000"/>
                <a:gd name="connsiteX6" fmla="*/ 835 w 10070"/>
                <a:gd name="connsiteY6" fmla="*/ 1553 h 10000"/>
                <a:gd name="connsiteX7" fmla="*/ 559 w 10070"/>
                <a:gd name="connsiteY7" fmla="*/ 2501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7885 w 10070"/>
                <a:gd name="connsiteY25" fmla="*/ 9374 h 10000"/>
                <a:gd name="connsiteX26" fmla="*/ 8804 w 10070"/>
                <a:gd name="connsiteY26" fmla="*/ 9129 h 10000"/>
                <a:gd name="connsiteX27" fmla="*/ 9300 w 10070"/>
                <a:gd name="connsiteY27" fmla="*/ 9112 h 10000"/>
                <a:gd name="connsiteX28" fmla="*/ 9531 w 10070"/>
                <a:gd name="connsiteY28" fmla="*/ 8448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556 w 10070"/>
                <a:gd name="connsiteY5" fmla="*/ 943 h 10000"/>
                <a:gd name="connsiteX6" fmla="*/ 835 w 10070"/>
                <a:gd name="connsiteY6" fmla="*/ 1553 h 10000"/>
                <a:gd name="connsiteX7" fmla="*/ 559 w 10070"/>
                <a:gd name="connsiteY7" fmla="*/ 2501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7885 w 10070"/>
                <a:gd name="connsiteY25" fmla="*/ 9374 h 10000"/>
                <a:gd name="connsiteX26" fmla="*/ 8804 w 10070"/>
                <a:gd name="connsiteY26" fmla="*/ 9129 h 10000"/>
                <a:gd name="connsiteX27" fmla="*/ 9300 w 10070"/>
                <a:gd name="connsiteY27" fmla="*/ 9112 h 10000"/>
                <a:gd name="connsiteX28" fmla="*/ 9531 w 10070"/>
                <a:gd name="connsiteY28" fmla="*/ 8448 h 10000"/>
                <a:gd name="connsiteX29" fmla="*/ 10070 w 10070"/>
                <a:gd name="connsiteY29" fmla="*/ 6615 h 10000"/>
                <a:gd name="connsiteX30" fmla="*/ 9559 w 10070"/>
                <a:gd name="connsiteY30" fmla="*/ 4557 h 10000"/>
                <a:gd name="connsiteX31" fmla="*/ 9196 w 10070"/>
                <a:gd name="connsiteY31" fmla="*/ 4167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556 w 10070"/>
                <a:gd name="connsiteY5" fmla="*/ 943 h 10000"/>
                <a:gd name="connsiteX6" fmla="*/ 835 w 10070"/>
                <a:gd name="connsiteY6" fmla="*/ 1553 h 10000"/>
                <a:gd name="connsiteX7" fmla="*/ 559 w 10070"/>
                <a:gd name="connsiteY7" fmla="*/ 2501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7885 w 10070"/>
                <a:gd name="connsiteY25" fmla="*/ 9374 h 10000"/>
                <a:gd name="connsiteX26" fmla="*/ 8804 w 10070"/>
                <a:gd name="connsiteY26" fmla="*/ 9129 h 10000"/>
                <a:gd name="connsiteX27" fmla="*/ 9300 w 10070"/>
                <a:gd name="connsiteY27" fmla="*/ 9112 h 10000"/>
                <a:gd name="connsiteX28" fmla="*/ 9531 w 10070"/>
                <a:gd name="connsiteY28" fmla="*/ 8448 h 10000"/>
                <a:gd name="connsiteX29" fmla="*/ 10070 w 10070"/>
                <a:gd name="connsiteY29" fmla="*/ 6615 h 10000"/>
                <a:gd name="connsiteX30" fmla="*/ 9559 w 10070"/>
                <a:gd name="connsiteY30" fmla="*/ 4557 h 10000"/>
                <a:gd name="connsiteX31" fmla="*/ 8874 w 10070"/>
                <a:gd name="connsiteY31" fmla="*/ 4829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10070"/>
                <a:gd name="connsiteY0" fmla="*/ 166 h 10000"/>
                <a:gd name="connsiteX1" fmla="*/ 4358 w 10070"/>
                <a:gd name="connsiteY1" fmla="*/ 529 h 10000"/>
                <a:gd name="connsiteX2" fmla="*/ 3896 w 10070"/>
                <a:gd name="connsiteY2" fmla="*/ 281 h 10000"/>
                <a:gd name="connsiteX3" fmla="*/ 3442 w 10070"/>
                <a:gd name="connsiteY3" fmla="*/ 333 h 10000"/>
                <a:gd name="connsiteX4" fmla="*/ 2450 w 10070"/>
                <a:gd name="connsiteY4" fmla="*/ 980 h 10000"/>
                <a:gd name="connsiteX5" fmla="*/ 1556 w 10070"/>
                <a:gd name="connsiteY5" fmla="*/ 943 h 10000"/>
                <a:gd name="connsiteX6" fmla="*/ 835 w 10070"/>
                <a:gd name="connsiteY6" fmla="*/ 1553 h 10000"/>
                <a:gd name="connsiteX7" fmla="*/ 559 w 10070"/>
                <a:gd name="connsiteY7" fmla="*/ 2501 h 10000"/>
                <a:gd name="connsiteX8" fmla="*/ 122 w 10070"/>
                <a:gd name="connsiteY8" fmla="*/ 3151 h 10000"/>
                <a:gd name="connsiteX9" fmla="*/ 97 w 10070"/>
                <a:gd name="connsiteY9" fmla="*/ 4167 h 10000"/>
                <a:gd name="connsiteX10" fmla="*/ 702 w 10070"/>
                <a:gd name="connsiteY10" fmla="*/ 4666 h 10000"/>
                <a:gd name="connsiteX11" fmla="*/ 1484 w 10070"/>
                <a:gd name="connsiteY11" fmla="*/ 3938 h 10000"/>
                <a:gd name="connsiteX12" fmla="*/ 1798 w 10070"/>
                <a:gd name="connsiteY12" fmla="*/ 4497 h 10000"/>
                <a:gd name="connsiteX13" fmla="*/ 2425 w 10070"/>
                <a:gd name="connsiteY13" fmla="*/ 4500 h 10000"/>
                <a:gd name="connsiteX14" fmla="*/ 2569 w 10070"/>
                <a:gd name="connsiteY14" fmla="*/ 4834 h 10000"/>
                <a:gd name="connsiteX15" fmla="*/ 2425 w 10070"/>
                <a:gd name="connsiteY15" fmla="*/ 5390 h 10000"/>
                <a:gd name="connsiteX16" fmla="*/ 1770 w 10070"/>
                <a:gd name="connsiteY16" fmla="*/ 6224 h 10000"/>
                <a:gd name="connsiteX17" fmla="*/ 1569 w 10070"/>
                <a:gd name="connsiteY17" fmla="*/ 7196 h 10000"/>
                <a:gd name="connsiteX18" fmla="*/ 2282 w 10070"/>
                <a:gd name="connsiteY18" fmla="*/ 8167 h 10000"/>
                <a:gd name="connsiteX19" fmla="*/ 3156 w 10070"/>
                <a:gd name="connsiteY19" fmla="*/ 8115 h 10000"/>
                <a:gd name="connsiteX20" fmla="*/ 4030 w 10070"/>
                <a:gd name="connsiteY20" fmla="*/ 7781 h 10000"/>
                <a:gd name="connsiteX21" fmla="*/ 4903 w 10070"/>
                <a:gd name="connsiteY21" fmla="*/ 7390 h 10000"/>
                <a:gd name="connsiteX22" fmla="*/ 6061 w 10070"/>
                <a:gd name="connsiteY22" fmla="*/ 7529 h 10000"/>
                <a:gd name="connsiteX23" fmla="*/ 5927 w 10070"/>
                <a:gd name="connsiteY23" fmla="*/ 8585 h 10000"/>
                <a:gd name="connsiteX24" fmla="*/ 6794 w 10070"/>
                <a:gd name="connsiteY24" fmla="*/ 10000 h 10000"/>
                <a:gd name="connsiteX25" fmla="*/ 7885 w 10070"/>
                <a:gd name="connsiteY25" fmla="*/ 9374 h 10000"/>
                <a:gd name="connsiteX26" fmla="*/ 8804 w 10070"/>
                <a:gd name="connsiteY26" fmla="*/ 9129 h 10000"/>
                <a:gd name="connsiteX27" fmla="*/ 9300 w 10070"/>
                <a:gd name="connsiteY27" fmla="*/ 9112 h 10000"/>
                <a:gd name="connsiteX28" fmla="*/ 9531 w 10070"/>
                <a:gd name="connsiteY28" fmla="*/ 8448 h 10000"/>
                <a:gd name="connsiteX29" fmla="*/ 10070 w 10070"/>
                <a:gd name="connsiteY29" fmla="*/ 6615 h 10000"/>
                <a:gd name="connsiteX30" fmla="*/ 9856 w 10070"/>
                <a:gd name="connsiteY30" fmla="*/ 5070 h 10000"/>
                <a:gd name="connsiteX31" fmla="*/ 8874 w 10070"/>
                <a:gd name="connsiteY31" fmla="*/ 4829 h 10000"/>
                <a:gd name="connsiteX32" fmla="*/ 8903 w 10070"/>
                <a:gd name="connsiteY32" fmla="*/ 3724 h 10000"/>
                <a:gd name="connsiteX33" fmla="*/ 8684 w 10070"/>
                <a:gd name="connsiteY33" fmla="*/ 3115 h 10000"/>
                <a:gd name="connsiteX34" fmla="*/ 9196 w 10070"/>
                <a:gd name="connsiteY34" fmla="*/ 1667 h 10000"/>
                <a:gd name="connsiteX35" fmla="*/ 9196 w 10070"/>
                <a:gd name="connsiteY35" fmla="*/ 558 h 10000"/>
                <a:gd name="connsiteX36" fmla="*/ 8323 w 10070"/>
                <a:gd name="connsiteY36" fmla="*/ 114 h 10000"/>
                <a:gd name="connsiteX37" fmla="*/ 7886 w 10070"/>
                <a:gd name="connsiteY37" fmla="*/ 0 h 10000"/>
                <a:gd name="connsiteX38" fmla="*/ 6496 w 10070"/>
                <a:gd name="connsiteY38" fmla="*/ 166 h 10000"/>
                <a:gd name="connsiteX0" fmla="*/ 6496 w 9883"/>
                <a:gd name="connsiteY0" fmla="*/ 166 h 10000"/>
                <a:gd name="connsiteX1" fmla="*/ 4358 w 9883"/>
                <a:gd name="connsiteY1" fmla="*/ 529 h 10000"/>
                <a:gd name="connsiteX2" fmla="*/ 3896 w 9883"/>
                <a:gd name="connsiteY2" fmla="*/ 281 h 10000"/>
                <a:gd name="connsiteX3" fmla="*/ 3442 w 9883"/>
                <a:gd name="connsiteY3" fmla="*/ 333 h 10000"/>
                <a:gd name="connsiteX4" fmla="*/ 2450 w 9883"/>
                <a:gd name="connsiteY4" fmla="*/ 980 h 10000"/>
                <a:gd name="connsiteX5" fmla="*/ 1556 w 9883"/>
                <a:gd name="connsiteY5" fmla="*/ 943 h 10000"/>
                <a:gd name="connsiteX6" fmla="*/ 835 w 9883"/>
                <a:gd name="connsiteY6" fmla="*/ 1553 h 10000"/>
                <a:gd name="connsiteX7" fmla="*/ 559 w 9883"/>
                <a:gd name="connsiteY7" fmla="*/ 2501 h 10000"/>
                <a:gd name="connsiteX8" fmla="*/ 122 w 9883"/>
                <a:gd name="connsiteY8" fmla="*/ 3151 h 10000"/>
                <a:gd name="connsiteX9" fmla="*/ 97 w 9883"/>
                <a:gd name="connsiteY9" fmla="*/ 4167 h 10000"/>
                <a:gd name="connsiteX10" fmla="*/ 702 w 9883"/>
                <a:gd name="connsiteY10" fmla="*/ 4666 h 10000"/>
                <a:gd name="connsiteX11" fmla="*/ 1484 w 9883"/>
                <a:gd name="connsiteY11" fmla="*/ 3938 h 10000"/>
                <a:gd name="connsiteX12" fmla="*/ 1798 w 9883"/>
                <a:gd name="connsiteY12" fmla="*/ 4497 h 10000"/>
                <a:gd name="connsiteX13" fmla="*/ 2425 w 9883"/>
                <a:gd name="connsiteY13" fmla="*/ 4500 h 10000"/>
                <a:gd name="connsiteX14" fmla="*/ 2569 w 9883"/>
                <a:gd name="connsiteY14" fmla="*/ 4834 h 10000"/>
                <a:gd name="connsiteX15" fmla="*/ 2425 w 9883"/>
                <a:gd name="connsiteY15" fmla="*/ 5390 h 10000"/>
                <a:gd name="connsiteX16" fmla="*/ 1770 w 9883"/>
                <a:gd name="connsiteY16" fmla="*/ 6224 h 10000"/>
                <a:gd name="connsiteX17" fmla="*/ 1569 w 9883"/>
                <a:gd name="connsiteY17" fmla="*/ 7196 h 10000"/>
                <a:gd name="connsiteX18" fmla="*/ 2282 w 9883"/>
                <a:gd name="connsiteY18" fmla="*/ 8167 h 10000"/>
                <a:gd name="connsiteX19" fmla="*/ 3156 w 9883"/>
                <a:gd name="connsiteY19" fmla="*/ 8115 h 10000"/>
                <a:gd name="connsiteX20" fmla="*/ 4030 w 9883"/>
                <a:gd name="connsiteY20" fmla="*/ 7781 h 10000"/>
                <a:gd name="connsiteX21" fmla="*/ 4903 w 9883"/>
                <a:gd name="connsiteY21" fmla="*/ 7390 h 10000"/>
                <a:gd name="connsiteX22" fmla="*/ 6061 w 9883"/>
                <a:gd name="connsiteY22" fmla="*/ 7529 h 10000"/>
                <a:gd name="connsiteX23" fmla="*/ 5927 w 9883"/>
                <a:gd name="connsiteY23" fmla="*/ 8585 h 10000"/>
                <a:gd name="connsiteX24" fmla="*/ 6794 w 9883"/>
                <a:gd name="connsiteY24" fmla="*/ 10000 h 10000"/>
                <a:gd name="connsiteX25" fmla="*/ 7885 w 9883"/>
                <a:gd name="connsiteY25" fmla="*/ 9374 h 10000"/>
                <a:gd name="connsiteX26" fmla="*/ 8804 w 9883"/>
                <a:gd name="connsiteY26" fmla="*/ 9129 h 10000"/>
                <a:gd name="connsiteX27" fmla="*/ 9300 w 9883"/>
                <a:gd name="connsiteY27" fmla="*/ 9112 h 10000"/>
                <a:gd name="connsiteX28" fmla="*/ 9531 w 9883"/>
                <a:gd name="connsiteY28" fmla="*/ 8448 h 10000"/>
                <a:gd name="connsiteX29" fmla="*/ 9661 w 9883"/>
                <a:gd name="connsiteY29" fmla="*/ 6636 h 10000"/>
                <a:gd name="connsiteX30" fmla="*/ 9856 w 9883"/>
                <a:gd name="connsiteY30" fmla="*/ 5070 h 10000"/>
                <a:gd name="connsiteX31" fmla="*/ 8874 w 9883"/>
                <a:gd name="connsiteY31" fmla="*/ 4829 h 10000"/>
                <a:gd name="connsiteX32" fmla="*/ 8903 w 9883"/>
                <a:gd name="connsiteY32" fmla="*/ 3724 h 10000"/>
                <a:gd name="connsiteX33" fmla="*/ 8684 w 9883"/>
                <a:gd name="connsiteY33" fmla="*/ 3115 h 10000"/>
                <a:gd name="connsiteX34" fmla="*/ 9196 w 9883"/>
                <a:gd name="connsiteY34" fmla="*/ 1667 h 10000"/>
                <a:gd name="connsiteX35" fmla="*/ 9196 w 9883"/>
                <a:gd name="connsiteY35" fmla="*/ 558 h 10000"/>
                <a:gd name="connsiteX36" fmla="*/ 8323 w 9883"/>
                <a:gd name="connsiteY36" fmla="*/ 114 h 10000"/>
                <a:gd name="connsiteX37" fmla="*/ 7886 w 9883"/>
                <a:gd name="connsiteY37" fmla="*/ 0 h 10000"/>
                <a:gd name="connsiteX38" fmla="*/ 6496 w 9883"/>
                <a:gd name="connsiteY38" fmla="*/ 166 h 10000"/>
                <a:gd name="connsiteX0" fmla="*/ 6573 w 10232"/>
                <a:gd name="connsiteY0" fmla="*/ 166 h 10000"/>
                <a:gd name="connsiteX1" fmla="*/ 4410 w 10232"/>
                <a:gd name="connsiteY1" fmla="*/ 529 h 10000"/>
                <a:gd name="connsiteX2" fmla="*/ 3942 w 10232"/>
                <a:gd name="connsiteY2" fmla="*/ 281 h 10000"/>
                <a:gd name="connsiteX3" fmla="*/ 3483 w 10232"/>
                <a:gd name="connsiteY3" fmla="*/ 333 h 10000"/>
                <a:gd name="connsiteX4" fmla="*/ 2479 w 10232"/>
                <a:gd name="connsiteY4" fmla="*/ 980 h 10000"/>
                <a:gd name="connsiteX5" fmla="*/ 1574 w 10232"/>
                <a:gd name="connsiteY5" fmla="*/ 943 h 10000"/>
                <a:gd name="connsiteX6" fmla="*/ 845 w 10232"/>
                <a:gd name="connsiteY6" fmla="*/ 1553 h 10000"/>
                <a:gd name="connsiteX7" fmla="*/ 566 w 10232"/>
                <a:gd name="connsiteY7" fmla="*/ 2501 h 10000"/>
                <a:gd name="connsiteX8" fmla="*/ 123 w 10232"/>
                <a:gd name="connsiteY8" fmla="*/ 3151 h 10000"/>
                <a:gd name="connsiteX9" fmla="*/ 98 w 10232"/>
                <a:gd name="connsiteY9" fmla="*/ 4167 h 10000"/>
                <a:gd name="connsiteX10" fmla="*/ 710 w 10232"/>
                <a:gd name="connsiteY10" fmla="*/ 4666 h 10000"/>
                <a:gd name="connsiteX11" fmla="*/ 1502 w 10232"/>
                <a:gd name="connsiteY11" fmla="*/ 3938 h 10000"/>
                <a:gd name="connsiteX12" fmla="*/ 1819 w 10232"/>
                <a:gd name="connsiteY12" fmla="*/ 4497 h 10000"/>
                <a:gd name="connsiteX13" fmla="*/ 2454 w 10232"/>
                <a:gd name="connsiteY13" fmla="*/ 4500 h 10000"/>
                <a:gd name="connsiteX14" fmla="*/ 2599 w 10232"/>
                <a:gd name="connsiteY14" fmla="*/ 4834 h 10000"/>
                <a:gd name="connsiteX15" fmla="*/ 2454 w 10232"/>
                <a:gd name="connsiteY15" fmla="*/ 5390 h 10000"/>
                <a:gd name="connsiteX16" fmla="*/ 1791 w 10232"/>
                <a:gd name="connsiteY16" fmla="*/ 6224 h 10000"/>
                <a:gd name="connsiteX17" fmla="*/ 1588 w 10232"/>
                <a:gd name="connsiteY17" fmla="*/ 7196 h 10000"/>
                <a:gd name="connsiteX18" fmla="*/ 2309 w 10232"/>
                <a:gd name="connsiteY18" fmla="*/ 8167 h 10000"/>
                <a:gd name="connsiteX19" fmla="*/ 3193 w 10232"/>
                <a:gd name="connsiteY19" fmla="*/ 8115 h 10000"/>
                <a:gd name="connsiteX20" fmla="*/ 4078 w 10232"/>
                <a:gd name="connsiteY20" fmla="*/ 7781 h 10000"/>
                <a:gd name="connsiteX21" fmla="*/ 4961 w 10232"/>
                <a:gd name="connsiteY21" fmla="*/ 7390 h 10000"/>
                <a:gd name="connsiteX22" fmla="*/ 6133 w 10232"/>
                <a:gd name="connsiteY22" fmla="*/ 7529 h 10000"/>
                <a:gd name="connsiteX23" fmla="*/ 5997 w 10232"/>
                <a:gd name="connsiteY23" fmla="*/ 8585 h 10000"/>
                <a:gd name="connsiteX24" fmla="*/ 6874 w 10232"/>
                <a:gd name="connsiteY24" fmla="*/ 10000 h 10000"/>
                <a:gd name="connsiteX25" fmla="*/ 7978 w 10232"/>
                <a:gd name="connsiteY25" fmla="*/ 9374 h 10000"/>
                <a:gd name="connsiteX26" fmla="*/ 8908 w 10232"/>
                <a:gd name="connsiteY26" fmla="*/ 9129 h 10000"/>
                <a:gd name="connsiteX27" fmla="*/ 9410 w 10232"/>
                <a:gd name="connsiteY27" fmla="*/ 9112 h 10000"/>
                <a:gd name="connsiteX28" fmla="*/ 10108 w 10232"/>
                <a:gd name="connsiteY28" fmla="*/ 8085 h 10000"/>
                <a:gd name="connsiteX29" fmla="*/ 9775 w 10232"/>
                <a:gd name="connsiteY29" fmla="*/ 6636 h 10000"/>
                <a:gd name="connsiteX30" fmla="*/ 9973 w 10232"/>
                <a:gd name="connsiteY30" fmla="*/ 5070 h 10000"/>
                <a:gd name="connsiteX31" fmla="*/ 8979 w 10232"/>
                <a:gd name="connsiteY31" fmla="*/ 4829 h 10000"/>
                <a:gd name="connsiteX32" fmla="*/ 9008 w 10232"/>
                <a:gd name="connsiteY32" fmla="*/ 3724 h 10000"/>
                <a:gd name="connsiteX33" fmla="*/ 8787 w 10232"/>
                <a:gd name="connsiteY33" fmla="*/ 3115 h 10000"/>
                <a:gd name="connsiteX34" fmla="*/ 9305 w 10232"/>
                <a:gd name="connsiteY34" fmla="*/ 1667 h 10000"/>
                <a:gd name="connsiteX35" fmla="*/ 9305 w 10232"/>
                <a:gd name="connsiteY35" fmla="*/ 558 h 10000"/>
                <a:gd name="connsiteX36" fmla="*/ 8422 w 10232"/>
                <a:gd name="connsiteY36" fmla="*/ 114 h 10000"/>
                <a:gd name="connsiteX37" fmla="*/ 7979 w 10232"/>
                <a:gd name="connsiteY37" fmla="*/ 0 h 10000"/>
                <a:gd name="connsiteX38" fmla="*/ 6573 w 10232"/>
                <a:gd name="connsiteY38" fmla="*/ 166 h 10000"/>
                <a:gd name="connsiteX0" fmla="*/ 6573 w 10108"/>
                <a:gd name="connsiteY0" fmla="*/ 166 h 10000"/>
                <a:gd name="connsiteX1" fmla="*/ 4410 w 10108"/>
                <a:gd name="connsiteY1" fmla="*/ 529 h 10000"/>
                <a:gd name="connsiteX2" fmla="*/ 3942 w 10108"/>
                <a:gd name="connsiteY2" fmla="*/ 281 h 10000"/>
                <a:gd name="connsiteX3" fmla="*/ 3483 w 10108"/>
                <a:gd name="connsiteY3" fmla="*/ 333 h 10000"/>
                <a:gd name="connsiteX4" fmla="*/ 2479 w 10108"/>
                <a:gd name="connsiteY4" fmla="*/ 980 h 10000"/>
                <a:gd name="connsiteX5" fmla="*/ 1574 w 10108"/>
                <a:gd name="connsiteY5" fmla="*/ 943 h 10000"/>
                <a:gd name="connsiteX6" fmla="*/ 845 w 10108"/>
                <a:gd name="connsiteY6" fmla="*/ 1553 h 10000"/>
                <a:gd name="connsiteX7" fmla="*/ 566 w 10108"/>
                <a:gd name="connsiteY7" fmla="*/ 2501 h 10000"/>
                <a:gd name="connsiteX8" fmla="*/ 123 w 10108"/>
                <a:gd name="connsiteY8" fmla="*/ 3151 h 10000"/>
                <a:gd name="connsiteX9" fmla="*/ 98 w 10108"/>
                <a:gd name="connsiteY9" fmla="*/ 4167 h 10000"/>
                <a:gd name="connsiteX10" fmla="*/ 710 w 10108"/>
                <a:gd name="connsiteY10" fmla="*/ 4666 h 10000"/>
                <a:gd name="connsiteX11" fmla="*/ 1502 w 10108"/>
                <a:gd name="connsiteY11" fmla="*/ 3938 h 10000"/>
                <a:gd name="connsiteX12" fmla="*/ 1819 w 10108"/>
                <a:gd name="connsiteY12" fmla="*/ 4497 h 10000"/>
                <a:gd name="connsiteX13" fmla="*/ 2454 w 10108"/>
                <a:gd name="connsiteY13" fmla="*/ 4500 h 10000"/>
                <a:gd name="connsiteX14" fmla="*/ 2599 w 10108"/>
                <a:gd name="connsiteY14" fmla="*/ 4834 h 10000"/>
                <a:gd name="connsiteX15" fmla="*/ 2454 w 10108"/>
                <a:gd name="connsiteY15" fmla="*/ 5390 h 10000"/>
                <a:gd name="connsiteX16" fmla="*/ 1791 w 10108"/>
                <a:gd name="connsiteY16" fmla="*/ 6224 h 10000"/>
                <a:gd name="connsiteX17" fmla="*/ 1588 w 10108"/>
                <a:gd name="connsiteY17" fmla="*/ 7196 h 10000"/>
                <a:gd name="connsiteX18" fmla="*/ 2309 w 10108"/>
                <a:gd name="connsiteY18" fmla="*/ 8167 h 10000"/>
                <a:gd name="connsiteX19" fmla="*/ 3193 w 10108"/>
                <a:gd name="connsiteY19" fmla="*/ 8115 h 10000"/>
                <a:gd name="connsiteX20" fmla="*/ 4078 w 10108"/>
                <a:gd name="connsiteY20" fmla="*/ 7781 h 10000"/>
                <a:gd name="connsiteX21" fmla="*/ 4961 w 10108"/>
                <a:gd name="connsiteY21" fmla="*/ 7390 h 10000"/>
                <a:gd name="connsiteX22" fmla="*/ 6133 w 10108"/>
                <a:gd name="connsiteY22" fmla="*/ 7529 h 10000"/>
                <a:gd name="connsiteX23" fmla="*/ 5997 w 10108"/>
                <a:gd name="connsiteY23" fmla="*/ 8585 h 10000"/>
                <a:gd name="connsiteX24" fmla="*/ 6874 w 10108"/>
                <a:gd name="connsiteY24" fmla="*/ 10000 h 10000"/>
                <a:gd name="connsiteX25" fmla="*/ 7978 w 10108"/>
                <a:gd name="connsiteY25" fmla="*/ 9374 h 10000"/>
                <a:gd name="connsiteX26" fmla="*/ 8908 w 10108"/>
                <a:gd name="connsiteY26" fmla="*/ 9129 h 10000"/>
                <a:gd name="connsiteX27" fmla="*/ 9410 w 10108"/>
                <a:gd name="connsiteY27" fmla="*/ 9112 h 10000"/>
                <a:gd name="connsiteX28" fmla="*/ 10108 w 10108"/>
                <a:gd name="connsiteY28" fmla="*/ 8085 h 10000"/>
                <a:gd name="connsiteX29" fmla="*/ 9775 w 10108"/>
                <a:gd name="connsiteY29" fmla="*/ 6636 h 10000"/>
                <a:gd name="connsiteX30" fmla="*/ 9973 w 10108"/>
                <a:gd name="connsiteY30" fmla="*/ 5070 h 10000"/>
                <a:gd name="connsiteX31" fmla="*/ 8979 w 10108"/>
                <a:gd name="connsiteY31" fmla="*/ 4829 h 10000"/>
                <a:gd name="connsiteX32" fmla="*/ 9008 w 10108"/>
                <a:gd name="connsiteY32" fmla="*/ 3724 h 10000"/>
                <a:gd name="connsiteX33" fmla="*/ 8787 w 10108"/>
                <a:gd name="connsiteY33" fmla="*/ 3115 h 10000"/>
                <a:gd name="connsiteX34" fmla="*/ 9305 w 10108"/>
                <a:gd name="connsiteY34" fmla="*/ 1667 h 10000"/>
                <a:gd name="connsiteX35" fmla="*/ 9305 w 10108"/>
                <a:gd name="connsiteY35" fmla="*/ 558 h 10000"/>
                <a:gd name="connsiteX36" fmla="*/ 8422 w 10108"/>
                <a:gd name="connsiteY36" fmla="*/ 114 h 10000"/>
                <a:gd name="connsiteX37" fmla="*/ 7979 w 10108"/>
                <a:gd name="connsiteY37" fmla="*/ 0 h 10000"/>
                <a:gd name="connsiteX38" fmla="*/ 6573 w 10108"/>
                <a:gd name="connsiteY38" fmla="*/ 166 h 10000"/>
                <a:gd name="connsiteX0" fmla="*/ 6573 w 10108"/>
                <a:gd name="connsiteY0" fmla="*/ 166 h 10000"/>
                <a:gd name="connsiteX1" fmla="*/ 4410 w 10108"/>
                <a:gd name="connsiteY1" fmla="*/ 529 h 10000"/>
                <a:gd name="connsiteX2" fmla="*/ 3942 w 10108"/>
                <a:gd name="connsiteY2" fmla="*/ 281 h 10000"/>
                <a:gd name="connsiteX3" fmla="*/ 3483 w 10108"/>
                <a:gd name="connsiteY3" fmla="*/ 333 h 10000"/>
                <a:gd name="connsiteX4" fmla="*/ 2479 w 10108"/>
                <a:gd name="connsiteY4" fmla="*/ 980 h 10000"/>
                <a:gd name="connsiteX5" fmla="*/ 1574 w 10108"/>
                <a:gd name="connsiteY5" fmla="*/ 943 h 10000"/>
                <a:gd name="connsiteX6" fmla="*/ 845 w 10108"/>
                <a:gd name="connsiteY6" fmla="*/ 1553 h 10000"/>
                <a:gd name="connsiteX7" fmla="*/ 566 w 10108"/>
                <a:gd name="connsiteY7" fmla="*/ 2501 h 10000"/>
                <a:gd name="connsiteX8" fmla="*/ 123 w 10108"/>
                <a:gd name="connsiteY8" fmla="*/ 3151 h 10000"/>
                <a:gd name="connsiteX9" fmla="*/ 98 w 10108"/>
                <a:gd name="connsiteY9" fmla="*/ 4167 h 10000"/>
                <a:gd name="connsiteX10" fmla="*/ 710 w 10108"/>
                <a:gd name="connsiteY10" fmla="*/ 4666 h 10000"/>
                <a:gd name="connsiteX11" fmla="*/ 1502 w 10108"/>
                <a:gd name="connsiteY11" fmla="*/ 3938 h 10000"/>
                <a:gd name="connsiteX12" fmla="*/ 1819 w 10108"/>
                <a:gd name="connsiteY12" fmla="*/ 4497 h 10000"/>
                <a:gd name="connsiteX13" fmla="*/ 2454 w 10108"/>
                <a:gd name="connsiteY13" fmla="*/ 4500 h 10000"/>
                <a:gd name="connsiteX14" fmla="*/ 2599 w 10108"/>
                <a:gd name="connsiteY14" fmla="*/ 4834 h 10000"/>
                <a:gd name="connsiteX15" fmla="*/ 2454 w 10108"/>
                <a:gd name="connsiteY15" fmla="*/ 5390 h 10000"/>
                <a:gd name="connsiteX16" fmla="*/ 1791 w 10108"/>
                <a:gd name="connsiteY16" fmla="*/ 6224 h 10000"/>
                <a:gd name="connsiteX17" fmla="*/ 1588 w 10108"/>
                <a:gd name="connsiteY17" fmla="*/ 7196 h 10000"/>
                <a:gd name="connsiteX18" fmla="*/ 2309 w 10108"/>
                <a:gd name="connsiteY18" fmla="*/ 8167 h 10000"/>
                <a:gd name="connsiteX19" fmla="*/ 3193 w 10108"/>
                <a:gd name="connsiteY19" fmla="*/ 8115 h 10000"/>
                <a:gd name="connsiteX20" fmla="*/ 4078 w 10108"/>
                <a:gd name="connsiteY20" fmla="*/ 7781 h 10000"/>
                <a:gd name="connsiteX21" fmla="*/ 4961 w 10108"/>
                <a:gd name="connsiteY21" fmla="*/ 7390 h 10000"/>
                <a:gd name="connsiteX22" fmla="*/ 6133 w 10108"/>
                <a:gd name="connsiteY22" fmla="*/ 7529 h 10000"/>
                <a:gd name="connsiteX23" fmla="*/ 5997 w 10108"/>
                <a:gd name="connsiteY23" fmla="*/ 8585 h 10000"/>
                <a:gd name="connsiteX24" fmla="*/ 6874 w 10108"/>
                <a:gd name="connsiteY24" fmla="*/ 10000 h 10000"/>
                <a:gd name="connsiteX25" fmla="*/ 7978 w 10108"/>
                <a:gd name="connsiteY25" fmla="*/ 9374 h 10000"/>
                <a:gd name="connsiteX26" fmla="*/ 8908 w 10108"/>
                <a:gd name="connsiteY26" fmla="*/ 9129 h 10000"/>
                <a:gd name="connsiteX27" fmla="*/ 9410 w 10108"/>
                <a:gd name="connsiteY27" fmla="*/ 9112 h 10000"/>
                <a:gd name="connsiteX28" fmla="*/ 10108 w 10108"/>
                <a:gd name="connsiteY28" fmla="*/ 8085 h 10000"/>
                <a:gd name="connsiteX29" fmla="*/ 9775 w 10108"/>
                <a:gd name="connsiteY29" fmla="*/ 6636 h 10000"/>
                <a:gd name="connsiteX30" fmla="*/ 9973 w 10108"/>
                <a:gd name="connsiteY30" fmla="*/ 5070 h 10000"/>
                <a:gd name="connsiteX31" fmla="*/ 8979 w 10108"/>
                <a:gd name="connsiteY31" fmla="*/ 4829 h 10000"/>
                <a:gd name="connsiteX32" fmla="*/ 9008 w 10108"/>
                <a:gd name="connsiteY32" fmla="*/ 3724 h 10000"/>
                <a:gd name="connsiteX33" fmla="*/ 8787 w 10108"/>
                <a:gd name="connsiteY33" fmla="*/ 3115 h 10000"/>
                <a:gd name="connsiteX34" fmla="*/ 9305 w 10108"/>
                <a:gd name="connsiteY34" fmla="*/ 1667 h 10000"/>
                <a:gd name="connsiteX35" fmla="*/ 9305 w 10108"/>
                <a:gd name="connsiteY35" fmla="*/ 558 h 10000"/>
                <a:gd name="connsiteX36" fmla="*/ 8422 w 10108"/>
                <a:gd name="connsiteY36" fmla="*/ 114 h 10000"/>
                <a:gd name="connsiteX37" fmla="*/ 7979 w 10108"/>
                <a:gd name="connsiteY37" fmla="*/ 0 h 10000"/>
                <a:gd name="connsiteX38" fmla="*/ 6573 w 10108"/>
                <a:gd name="connsiteY38" fmla="*/ 166 h 10000"/>
                <a:gd name="connsiteX0" fmla="*/ 6573 w 10108"/>
                <a:gd name="connsiteY0" fmla="*/ 166 h 10000"/>
                <a:gd name="connsiteX1" fmla="*/ 4410 w 10108"/>
                <a:gd name="connsiteY1" fmla="*/ 529 h 10000"/>
                <a:gd name="connsiteX2" fmla="*/ 3942 w 10108"/>
                <a:gd name="connsiteY2" fmla="*/ 281 h 10000"/>
                <a:gd name="connsiteX3" fmla="*/ 3483 w 10108"/>
                <a:gd name="connsiteY3" fmla="*/ 333 h 10000"/>
                <a:gd name="connsiteX4" fmla="*/ 2479 w 10108"/>
                <a:gd name="connsiteY4" fmla="*/ 980 h 10000"/>
                <a:gd name="connsiteX5" fmla="*/ 1574 w 10108"/>
                <a:gd name="connsiteY5" fmla="*/ 943 h 10000"/>
                <a:gd name="connsiteX6" fmla="*/ 845 w 10108"/>
                <a:gd name="connsiteY6" fmla="*/ 1553 h 10000"/>
                <a:gd name="connsiteX7" fmla="*/ 566 w 10108"/>
                <a:gd name="connsiteY7" fmla="*/ 2501 h 10000"/>
                <a:gd name="connsiteX8" fmla="*/ 123 w 10108"/>
                <a:gd name="connsiteY8" fmla="*/ 3151 h 10000"/>
                <a:gd name="connsiteX9" fmla="*/ 98 w 10108"/>
                <a:gd name="connsiteY9" fmla="*/ 4167 h 10000"/>
                <a:gd name="connsiteX10" fmla="*/ 710 w 10108"/>
                <a:gd name="connsiteY10" fmla="*/ 4666 h 10000"/>
                <a:gd name="connsiteX11" fmla="*/ 1502 w 10108"/>
                <a:gd name="connsiteY11" fmla="*/ 3938 h 10000"/>
                <a:gd name="connsiteX12" fmla="*/ 1819 w 10108"/>
                <a:gd name="connsiteY12" fmla="*/ 4497 h 10000"/>
                <a:gd name="connsiteX13" fmla="*/ 2454 w 10108"/>
                <a:gd name="connsiteY13" fmla="*/ 4500 h 10000"/>
                <a:gd name="connsiteX14" fmla="*/ 2599 w 10108"/>
                <a:gd name="connsiteY14" fmla="*/ 4834 h 10000"/>
                <a:gd name="connsiteX15" fmla="*/ 2454 w 10108"/>
                <a:gd name="connsiteY15" fmla="*/ 5390 h 10000"/>
                <a:gd name="connsiteX16" fmla="*/ 1791 w 10108"/>
                <a:gd name="connsiteY16" fmla="*/ 6224 h 10000"/>
                <a:gd name="connsiteX17" fmla="*/ 1588 w 10108"/>
                <a:gd name="connsiteY17" fmla="*/ 7196 h 10000"/>
                <a:gd name="connsiteX18" fmla="*/ 2309 w 10108"/>
                <a:gd name="connsiteY18" fmla="*/ 8167 h 10000"/>
                <a:gd name="connsiteX19" fmla="*/ 3193 w 10108"/>
                <a:gd name="connsiteY19" fmla="*/ 8115 h 10000"/>
                <a:gd name="connsiteX20" fmla="*/ 4078 w 10108"/>
                <a:gd name="connsiteY20" fmla="*/ 7781 h 10000"/>
                <a:gd name="connsiteX21" fmla="*/ 4961 w 10108"/>
                <a:gd name="connsiteY21" fmla="*/ 7390 h 10000"/>
                <a:gd name="connsiteX22" fmla="*/ 6133 w 10108"/>
                <a:gd name="connsiteY22" fmla="*/ 7529 h 10000"/>
                <a:gd name="connsiteX23" fmla="*/ 5997 w 10108"/>
                <a:gd name="connsiteY23" fmla="*/ 8585 h 10000"/>
                <a:gd name="connsiteX24" fmla="*/ 6874 w 10108"/>
                <a:gd name="connsiteY24" fmla="*/ 10000 h 10000"/>
                <a:gd name="connsiteX25" fmla="*/ 7978 w 10108"/>
                <a:gd name="connsiteY25" fmla="*/ 9374 h 10000"/>
                <a:gd name="connsiteX26" fmla="*/ 8908 w 10108"/>
                <a:gd name="connsiteY26" fmla="*/ 9129 h 10000"/>
                <a:gd name="connsiteX27" fmla="*/ 9410 w 10108"/>
                <a:gd name="connsiteY27" fmla="*/ 9112 h 10000"/>
                <a:gd name="connsiteX28" fmla="*/ 10108 w 10108"/>
                <a:gd name="connsiteY28" fmla="*/ 8085 h 10000"/>
                <a:gd name="connsiteX29" fmla="*/ 9775 w 10108"/>
                <a:gd name="connsiteY29" fmla="*/ 6636 h 10000"/>
                <a:gd name="connsiteX30" fmla="*/ 9722 w 10108"/>
                <a:gd name="connsiteY30" fmla="*/ 5369 h 10000"/>
                <a:gd name="connsiteX31" fmla="*/ 8979 w 10108"/>
                <a:gd name="connsiteY31" fmla="*/ 4829 h 10000"/>
                <a:gd name="connsiteX32" fmla="*/ 9008 w 10108"/>
                <a:gd name="connsiteY32" fmla="*/ 3724 h 10000"/>
                <a:gd name="connsiteX33" fmla="*/ 8787 w 10108"/>
                <a:gd name="connsiteY33" fmla="*/ 3115 h 10000"/>
                <a:gd name="connsiteX34" fmla="*/ 9305 w 10108"/>
                <a:gd name="connsiteY34" fmla="*/ 1667 h 10000"/>
                <a:gd name="connsiteX35" fmla="*/ 9305 w 10108"/>
                <a:gd name="connsiteY35" fmla="*/ 558 h 10000"/>
                <a:gd name="connsiteX36" fmla="*/ 8422 w 10108"/>
                <a:gd name="connsiteY36" fmla="*/ 114 h 10000"/>
                <a:gd name="connsiteX37" fmla="*/ 7979 w 10108"/>
                <a:gd name="connsiteY37" fmla="*/ 0 h 10000"/>
                <a:gd name="connsiteX38" fmla="*/ 6573 w 10108"/>
                <a:gd name="connsiteY38" fmla="*/ 166 h 10000"/>
                <a:gd name="connsiteX0" fmla="*/ 6573 w 10108"/>
                <a:gd name="connsiteY0" fmla="*/ 166 h 10000"/>
                <a:gd name="connsiteX1" fmla="*/ 4410 w 10108"/>
                <a:gd name="connsiteY1" fmla="*/ 529 h 10000"/>
                <a:gd name="connsiteX2" fmla="*/ 3942 w 10108"/>
                <a:gd name="connsiteY2" fmla="*/ 281 h 10000"/>
                <a:gd name="connsiteX3" fmla="*/ 3483 w 10108"/>
                <a:gd name="connsiteY3" fmla="*/ 333 h 10000"/>
                <a:gd name="connsiteX4" fmla="*/ 2479 w 10108"/>
                <a:gd name="connsiteY4" fmla="*/ 980 h 10000"/>
                <a:gd name="connsiteX5" fmla="*/ 1574 w 10108"/>
                <a:gd name="connsiteY5" fmla="*/ 943 h 10000"/>
                <a:gd name="connsiteX6" fmla="*/ 845 w 10108"/>
                <a:gd name="connsiteY6" fmla="*/ 1553 h 10000"/>
                <a:gd name="connsiteX7" fmla="*/ 566 w 10108"/>
                <a:gd name="connsiteY7" fmla="*/ 2501 h 10000"/>
                <a:gd name="connsiteX8" fmla="*/ 123 w 10108"/>
                <a:gd name="connsiteY8" fmla="*/ 3151 h 10000"/>
                <a:gd name="connsiteX9" fmla="*/ 98 w 10108"/>
                <a:gd name="connsiteY9" fmla="*/ 4167 h 10000"/>
                <a:gd name="connsiteX10" fmla="*/ 710 w 10108"/>
                <a:gd name="connsiteY10" fmla="*/ 4666 h 10000"/>
                <a:gd name="connsiteX11" fmla="*/ 1502 w 10108"/>
                <a:gd name="connsiteY11" fmla="*/ 3938 h 10000"/>
                <a:gd name="connsiteX12" fmla="*/ 1819 w 10108"/>
                <a:gd name="connsiteY12" fmla="*/ 4497 h 10000"/>
                <a:gd name="connsiteX13" fmla="*/ 2454 w 10108"/>
                <a:gd name="connsiteY13" fmla="*/ 4500 h 10000"/>
                <a:gd name="connsiteX14" fmla="*/ 2599 w 10108"/>
                <a:gd name="connsiteY14" fmla="*/ 4834 h 10000"/>
                <a:gd name="connsiteX15" fmla="*/ 2454 w 10108"/>
                <a:gd name="connsiteY15" fmla="*/ 5390 h 10000"/>
                <a:gd name="connsiteX16" fmla="*/ 1791 w 10108"/>
                <a:gd name="connsiteY16" fmla="*/ 6224 h 10000"/>
                <a:gd name="connsiteX17" fmla="*/ 1588 w 10108"/>
                <a:gd name="connsiteY17" fmla="*/ 7196 h 10000"/>
                <a:gd name="connsiteX18" fmla="*/ 2309 w 10108"/>
                <a:gd name="connsiteY18" fmla="*/ 8167 h 10000"/>
                <a:gd name="connsiteX19" fmla="*/ 3193 w 10108"/>
                <a:gd name="connsiteY19" fmla="*/ 8115 h 10000"/>
                <a:gd name="connsiteX20" fmla="*/ 4078 w 10108"/>
                <a:gd name="connsiteY20" fmla="*/ 7781 h 10000"/>
                <a:gd name="connsiteX21" fmla="*/ 4961 w 10108"/>
                <a:gd name="connsiteY21" fmla="*/ 7390 h 10000"/>
                <a:gd name="connsiteX22" fmla="*/ 6133 w 10108"/>
                <a:gd name="connsiteY22" fmla="*/ 7529 h 10000"/>
                <a:gd name="connsiteX23" fmla="*/ 5997 w 10108"/>
                <a:gd name="connsiteY23" fmla="*/ 8585 h 10000"/>
                <a:gd name="connsiteX24" fmla="*/ 6874 w 10108"/>
                <a:gd name="connsiteY24" fmla="*/ 10000 h 10000"/>
                <a:gd name="connsiteX25" fmla="*/ 7978 w 10108"/>
                <a:gd name="connsiteY25" fmla="*/ 9374 h 10000"/>
                <a:gd name="connsiteX26" fmla="*/ 8908 w 10108"/>
                <a:gd name="connsiteY26" fmla="*/ 9129 h 10000"/>
                <a:gd name="connsiteX27" fmla="*/ 9410 w 10108"/>
                <a:gd name="connsiteY27" fmla="*/ 9112 h 10000"/>
                <a:gd name="connsiteX28" fmla="*/ 10108 w 10108"/>
                <a:gd name="connsiteY28" fmla="*/ 8085 h 10000"/>
                <a:gd name="connsiteX29" fmla="*/ 9775 w 10108"/>
                <a:gd name="connsiteY29" fmla="*/ 6636 h 10000"/>
                <a:gd name="connsiteX30" fmla="*/ 9722 w 10108"/>
                <a:gd name="connsiteY30" fmla="*/ 5369 h 10000"/>
                <a:gd name="connsiteX31" fmla="*/ 8979 w 10108"/>
                <a:gd name="connsiteY31" fmla="*/ 4829 h 10000"/>
                <a:gd name="connsiteX32" fmla="*/ 9008 w 10108"/>
                <a:gd name="connsiteY32" fmla="*/ 3724 h 10000"/>
                <a:gd name="connsiteX33" fmla="*/ 8787 w 10108"/>
                <a:gd name="connsiteY33" fmla="*/ 3115 h 10000"/>
                <a:gd name="connsiteX34" fmla="*/ 9305 w 10108"/>
                <a:gd name="connsiteY34" fmla="*/ 1667 h 10000"/>
                <a:gd name="connsiteX35" fmla="*/ 9305 w 10108"/>
                <a:gd name="connsiteY35" fmla="*/ 558 h 10000"/>
                <a:gd name="connsiteX36" fmla="*/ 8447 w 10108"/>
                <a:gd name="connsiteY36" fmla="*/ 370 h 10000"/>
                <a:gd name="connsiteX37" fmla="*/ 7979 w 10108"/>
                <a:gd name="connsiteY37" fmla="*/ 0 h 10000"/>
                <a:gd name="connsiteX38" fmla="*/ 6573 w 10108"/>
                <a:gd name="connsiteY38" fmla="*/ 166 h 10000"/>
                <a:gd name="connsiteX0" fmla="*/ 6573 w 10108"/>
                <a:gd name="connsiteY0" fmla="*/ 166 h 10000"/>
                <a:gd name="connsiteX1" fmla="*/ 4410 w 10108"/>
                <a:gd name="connsiteY1" fmla="*/ 529 h 10000"/>
                <a:gd name="connsiteX2" fmla="*/ 3942 w 10108"/>
                <a:gd name="connsiteY2" fmla="*/ 281 h 10000"/>
                <a:gd name="connsiteX3" fmla="*/ 3483 w 10108"/>
                <a:gd name="connsiteY3" fmla="*/ 333 h 10000"/>
                <a:gd name="connsiteX4" fmla="*/ 2479 w 10108"/>
                <a:gd name="connsiteY4" fmla="*/ 980 h 10000"/>
                <a:gd name="connsiteX5" fmla="*/ 1574 w 10108"/>
                <a:gd name="connsiteY5" fmla="*/ 943 h 10000"/>
                <a:gd name="connsiteX6" fmla="*/ 845 w 10108"/>
                <a:gd name="connsiteY6" fmla="*/ 1553 h 10000"/>
                <a:gd name="connsiteX7" fmla="*/ 566 w 10108"/>
                <a:gd name="connsiteY7" fmla="*/ 2501 h 10000"/>
                <a:gd name="connsiteX8" fmla="*/ 123 w 10108"/>
                <a:gd name="connsiteY8" fmla="*/ 3151 h 10000"/>
                <a:gd name="connsiteX9" fmla="*/ 98 w 10108"/>
                <a:gd name="connsiteY9" fmla="*/ 4167 h 10000"/>
                <a:gd name="connsiteX10" fmla="*/ 710 w 10108"/>
                <a:gd name="connsiteY10" fmla="*/ 4666 h 10000"/>
                <a:gd name="connsiteX11" fmla="*/ 1502 w 10108"/>
                <a:gd name="connsiteY11" fmla="*/ 3938 h 10000"/>
                <a:gd name="connsiteX12" fmla="*/ 1819 w 10108"/>
                <a:gd name="connsiteY12" fmla="*/ 4497 h 10000"/>
                <a:gd name="connsiteX13" fmla="*/ 2454 w 10108"/>
                <a:gd name="connsiteY13" fmla="*/ 4500 h 10000"/>
                <a:gd name="connsiteX14" fmla="*/ 2599 w 10108"/>
                <a:gd name="connsiteY14" fmla="*/ 4834 h 10000"/>
                <a:gd name="connsiteX15" fmla="*/ 2454 w 10108"/>
                <a:gd name="connsiteY15" fmla="*/ 5390 h 10000"/>
                <a:gd name="connsiteX16" fmla="*/ 1791 w 10108"/>
                <a:gd name="connsiteY16" fmla="*/ 6224 h 10000"/>
                <a:gd name="connsiteX17" fmla="*/ 1588 w 10108"/>
                <a:gd name="connsiteY17" fmla="*/ 7196 h 10000"/>
                <a:gd name="connsiteX18" fmla="*/ 2309 w 10108"/>
                <a:gd name="connsiteY18" fmla="*/ 8167 h 10000"/>
                <a:gd name="connsiteX19" fmla="*/ 3193 w 10108"/>
                <a:gd name="connsiteY19" fmla="*/ 8115 h 10000"/>
                <a:gd name="connsiteX20" fmla="*/ 4078 w 10108"/>
                <a:gd name="connsiteY20" fmla="*/ 7781 h 10000"/>
                <a:gd name="connsiteX21" fmla="*/ 4961 w 10108"/>
                <a:gd name="connsiteY21" fmla="*/ 7390 h 10000"/>
                <a:gd name="connsiteX22" fmla="*/ 6133 w 10108"/>
                <a:gd name="connsiteY22" fmla="*/ 7529 h 10000"/>
                <a:gd name="connsiteX23" fmla="*/ 5997 w 10108"/>
                <a:gd name="connsiteY23" fmla="*/ 8585 h 10000"/>
                <a:gd name="connsiteX24" fmla="*/ 6874 w 10108"/>
                <a:gd name="connsiteY24" fmla="*/ 10000 h 10000"/>
                <a:gd name="connsiteX25" fmla="*/ 7978 w 10108"/>
                <a:gd name="connsiteY25" fmla="*/ 9374 h 10000"/>
                <a:gd name="connsiteX26" fmla="*/ 8908 w 10108"/>
                <a:gd name="connsiteY26" fmla="*/ 9129 h 10000"/>
                <a:gd name="connsiteX27" fmla="*/ 9410 w 10108"/>
                <a:gd name="connsiteY27" fmla="*/ 9112 h 10000"/>
                <a:gd name="connsiteX28" fmla="*/ 10108 w 10108"/>
                <a:gd name="connsiteY28" fmla="*/ 8085 h 10000"/>
                <a:gd name="connsiteX29" fmla="*/ 9775 w 10108"/>
                <a:gd name="connsiteY29" fmla="*/ 6636 h 10000"/>
                <a:gd name="connsiteX30" fmla="*/ 9722 w 10108"/>
                <a:gd name="connsiteY30" fmla="*/ 5369 h 10000"/>
                <a:gd name="connsiteX31" fmla="*/ 8979 w 10108"/>
                <a:gd name="connsiteY31" fmla="*/ 4829 h 10000"/>
                <a:gd name="connsiteX32" fmla="*/ 9008 w 10108"/>
                <a:gd name="connsiteY32" fmla="*/ 3724 h 10000"/>
                <a:gd name="connsiteX33" fmla="*/ 8787 w 10108"/>
                <a:gd name="connsiteY33" fmla="*/ 3115 h 10000"/>
                <a:gd name="connsiteX34" fmla="*/ 9305 w 10108"/>
                <a:gd name="connsiteY34" fmla="*/ 1667 h 10000"/>
                <a:gd name="connsiteX35" fmla="*/ 9305 w 10108"/>
                <a:gd name="connsiteY35" fmla="*/ 558 h 10000"/>
                <a:gd name="connsiteX36" fmla="*/ 8447 w 10108"/>
                <a:gd name="connsiteY36" fmla="*/ 370 h 10000"/>
                <a:gd name="connsiteX37" fmla="*/ 7979 w 10108"/>
                <a:gd name="connsiteY37" fmla="*/ 0 h 10000"/>
                <a:gd name="connsiteX38" fmla="*/ 6573 w 10108"/>
                <a:gd name="connsiteY38" fmla="*/ 166 h 10000"/>
                <a:gd name="connsiteX0" fmla="*/ 6573 w 10108"/>
                <a:gd name="connsiteY0" fmla="*/ 166 h 10000"/>
                <a:gd name="connsiteX1" fmla="*/ 4410 w 10108"/>
                <a:gd name="connsiteY1" fmla="*/ 529 h 10000"/>
                <a:gd name="connsiteX2" fmla="*/ 3942 w 10108"/>
                <a:gd name="connsiteY2" fmla="*/ 281 h 10000"/>
                <a:gd name="connsiteX3" fmla="*/ 3483 w 10108"/>
                <a:gd name="connsiteY3" fmla="*/ 333 h 10000"/>
                <a:gd name="connsiteX4" fmla="*/ 2479 w 10108"/>
                <a:gd name="connsiteY4" fmla="*/ 980 h 10000"/>
                <a:gd name="connsiteX5" fmla="*/ 1574 w 10108"/>
                <a:gd name="connsiteY5" fmla="*/ 943 h 10000"/>
                <a:gd name="connsiteX6" fmla="*/ 845 w 10108"/>
                <a:gd name="connsiteY6" fmla="*/ 1553 h 10000"/>
                <a:gd name="connsiteX7" fmla="*/ 566 w 10108"/>
                <a:gd name="connsiteY7" fmla="*/ 2501 h 10000"/>
                <a:gd name="connsiteX8" fmla="*/ 123 w 10108"/>
                <a:gd name="connsiteY8" fmla="*/ 3151 h 10000"/>
                <a:gd name="connsiteX9" fmla="*/ 98 w 10108"/>
                <a:gd name="connsiteY9" fmla="*/ 4167 h 10000"/>
                <a:gd name="connsiteX10" fmla="*/ 710 w 10108"/>
                <a:gd name="connsiteY10" fmla="*/ 4666 h 10000"/>
                <a:gd name="connsiteX11" fmla="*/ 1502 w 10108"/>
                <a:gd name="connsiteY11" fmla="*/ 3938 h 10000"/>
                <a:gd name="connsiteX12" fmla="*/ 1819 w 10108"/>
                <a:gd name="connsiteY12" fmla="*/ 4497 h 10000"/>
                <a:gd name="connsiteX13" fmla="*/ 2454 w 10108"/>
                <a:gd name="connsiteY13" fmla="*/ 4500 h 10000"/>
                <a:gd name="connsiteX14" fmla="*/ 2599 w 10108"/>
                <a:gd name="connsiteY14" fmla="*/ 4834 h 10000"/>
                <a:gd name="connsiteX15" fmla="*/ 2454 w 10108"/>
                <a:gd name="connsiteY15" fmla="*/ 5390 h 10000"/>
                <a:gd name="connsiteX16" fmla="*/ 1791 w 10108"/>
                <a:gd name="connsiteY16" fmla="*/ 6224 h 10000"/>
                <a:gd name="connsiteX17" fmla="*/ 1588 w 10108"/>
                <a:gd name="connsiteY17" fmla="*/ 7196 h 10000"/>
                <a:gd name="connsiteX18" fmla="*/ 2309 w 10108"/>
                <a:gd name="connsiteY18" fmla="*/ 8167 h 10000"/>
                <a:gd name="connsiteX19" fmla="*/ 3193 w 10108"/>
                <a:gd name="connsiteY19" fmla="*/ 8115 h 10000"/>
                <a:gd name="connsiteX20" fmla="*/ 4078 w 10108"/>
                <a:gd name="connsiteY20" fmla="*/ 7781 h 10000"/>
                <a:gd name="connsiteX21" fmla="*/ 4961 w 10108"/>
                <a:gd name="connsiteY21" fmla="*/ 7390 h 10000"/>
                <a:gd name="connsiteX22" fmla="*/ 6133 w 10108"/>
                <a:gd name="connsiteY22" fmla="*/ 7529 h 10000"/>
                <a:gd name="connsiteX23" fmla="*/ 5997 w 10108"/>
                <a:gd name="connsiteY23" fmla="*/ 8585 h 10000"/>
                <a:gd name="connsiteX24" fmla="*/ 6874 w 10108"/>
                <a:gd name="connsiteY24" fmla="*/ 10000 h 10000"/>
                <a:gd name="connsiteX25" fmla="*/ 7978 w 10108"/>
                <a:gd name="connsiteY25" fmla="*/ 9374 h 10000"/>
                <a:gd name="connsiteX26" fmla="*/ 8908 w 10108"/>
                <a:gd name="connsiteY26" fmla="*/ 9129 h 10000"/>
                <a:gd name="connsiteX27" fmla="*/ 9410 w 10108"/>
                <a:gd name="connsiteY27" fmla="*/ 9112 h 10000"/>
                <a:gd name="connsiteX28" fmla="*/ 10108 w 10108"/>
                <a:gd name="connsiteY28" fmla="*/ 8085 h 10000"/>
                <a:gd name="connsiteX29" fmla="*/ 9775 w 10108"/>
                <a:gd name="connsiteY29" fmla="*/ 6636 h 10000"/>
                <a:gd name="connsiteX30" fmla="*/ 9722 w 10108"/>
                <a:gd name="connsiteY30" fmla="*/ 5369 h 10000"/>
                <a:gd name="connsiteX31" fmla="*/ 8979 w 10108"/>
                <a:gd name="connsiteY31" fmla="*/ 4829 h 10000"/>
                <a:gd name="connsiteX32" fmla="*/ 9008 w 10108"/>
                <a:gd name="connsiteY32" fmla="*/ 3724 h 10000"/>
                <a:gd name="connsiteX33" fmla="*/ 8787 w 10108"/>
                <a:gd name="connsiteY33" fmla="*/ 3115 h 10000"/>
                <a:gd name="connsiteX34" fmla="*/ 9305 w 10108"/>
                <a:gd name="connsiteY34" fmla="*/ 1667 h 10000"/>
                <a:gd name="connsiteX35" fmla="*/ 9305 w 10108"/>
                <a:gd name="connsiteY35" fmla="*/ 558 h 10000"/>
                <a:gd name="connsiteX36" fmla="*/ 8447 w 10108"/>
                <a:gd name="connsiteY36" fmla="*/ 370 h 10000"/>
                <a:gd name="connsiteX37" fmla="*/ 7979 w 10108"/>
                <a:gd name="connsiteY37" fmla="*/ 0 h 10000"/>
                <a:gd name="connsiteX38" fmla="*/ 6573 w 10108"/>
                <a:gd name="connsiteY38" fmla="*/ 166 h 10000"/>
                <a:gd name="connsiteX0" fmla="*/ 6573 w 10108"/>
                <a:gd name="connsiteY0" fmla="*/ 201 h 10035"/>
                <a:gd name="connsiteX1" fmla="*/ 4410 w 10108"/>
                <a:gd name="connsiteY1" fmla="*/ 564 h 10035"/>
                <a:gd name="connsiteX2" fmla="*/ 3942 w 10108"/>
                <a:gd name="connsiteY2" fmla="*/ 316 h 10035"/>
                <a:gd name="connsiteX3" fmla="*/ 3483 w 10108"/>
                <a:gd name="connsiteY3" fmla="*/ 368 h 10035"/>
                <a:gd name="connsiteX4" fmla="*/ 2479 w 10108"/>
                <a:gd name="connsiteY4" fmla="*/ 1015 h 10035"/>
                <a:gd name="connsiteX5" fmla="*/ 1574 w 10108"/>
                <a:gd name="connsiteY5" fmla="*/ 978 h 10035"/>
                <a:gd name="connsiteX6" fmla="*/ 845 w 10108"/>
                <a:gd name="connsiteY6" fmla="*/ 1588 h 10035"/>
                <a:gd name="connsiteX7" fmla="*/ 566 w 10108"/>
                <a:gd name="connsiteY7" fmla="*/ 2536 h 10035"/>
                <a:gd name="connsiteX8" fmla="*/ 123 w 10108"/>
                <a:gd name="connsiteY8" fmla="*/ 3186 h 10035"/>
                <a:gd name="connsiteX9" fmla="*/ 98 w 10108"/>
                <a:gd name="connsiteY9" fmla="*/ 4202 h 10035"/>
                <a:gd name="connsiteX10" fmla="*/ 710 w 10108"/>
                <a:gd name="connsiteY10" fmla="*/ 4701 h 10035"/>
                <a:gd name="connsiteX11" fmla="*/ 1502 w 10108"/>
                <a:gd name="connsiteY11" fmla="*/ 3973 h 10035"/>
                <a:gd name="connsiteX12" fmla="*/ 1819 w 10108"/>
                <a:gd name="connsiteY12" fmla="*/ 4532 h 10035"/>
                <a:gd name="connsiteX13" fmla="*/ 2454 w 10108"/>
                <a:gd name="connsiteY13" fmla="*/ 4535 h 10035"/>
                <a:gd name="connsiteX14" fmla="*/ 2599 w 10108"/>
                <a:gd name="connsiteY14" fmla="*/ 4869 h 10035"/>
                <a:gd name="connsiteX15" fmla="*/ 2454 w 10108"/>
                <a:gd name="connsiteY15" fmla="*/ 5425 h 10035"/>
                <a:gd name="connsiteX16" fmla="*/ 1791 w 10108"/>
                <a:gd name="connsiteY16" fmla="*/ 6259 h 10035"/>
                <a:gd name="connsiteX17" fmla="*/ 1588 w 10108"/>
                <a:gd name="connsiteY17" fmla="*/ 7231 h 10035"/>
                <a:gd name="connsiteX18" fmla="*/ 2309 w 10108"/>
                <a:gd name="connsiteY18" fmla="*/ 8202 h 10035"/>
                <a:gd name="connsiteX19" fmla="*/ 3193 w 10108"/>
                <a:gd name="connsiteY19" fmla="*/ 8150 h 10035"/>
                <a:gd name="connsiteX20" fmla="*/ 4078 w 10108"/>
                <a:gd name="connsiteY20" fmla="*/ 7816 h 10035"/>
                <a:gd name="connsiteX21" fmla="*/ 4961 w 10108"/>
                <a:gd name="connsiteY21" fmla="*/ 7425 h 10035"/>
                <a:gd name="connsiteX22" fmla="*/ 6133 w 10108"/>
                <a:gd name="connsiteY22" fmla="*/ 7564 h 10035"/>
                <a:gd name="connsiteX23" fmla="*/ 5997 w 10108"/>
                <a:gd name="connsiteY23" fmla="*/ 8620 h 10035"/>
                <a:gd name="connsiteX24" fmla="*/ 6874 w 10108"/>
                <a:gd name="connsiteY24" fmla="*/ 10035 h 10035"/>
                <a:gd name="connsiteX25" fmla="*/ 7978 w 10108"/>
                <a:gd name="connsiteY25" fmla="*/ 9409 h 10035"/>
                <a:gd name="connsiteX26" fmla="*/ 8908 w 10108"/>
                <a:gd name="connsiteY26" fmla="*/ 9164 h 10035"/>
                <a:gd name="connsiteX27" fmla="*/ 9410 w 10108"/>
                <a:gd name="connsiteY27" fmla="*/ 9147 h 10035"/>
                <a:gd name="connsiteX28" fmla="*/ 10108 w 10108"/>
                <a:gd name="connsiteY28" fmla="*/ 8120 h 10035"/>
                <a:gd name="connsiteX29" fmla="*/ 9775 w 10108"/>
                <a:gd name="connsiteY29" fmla="*/ 6671 h 10035"/>
                <a:gd name="connsiteX30" fmla="*/ 9722 w 10108"/>
                <a:gd name="connsiteY30" fmla="*/ 5404 h 10035"/>
                <a:gd name="connsiteX31" fmla="*/ 8979 w 10108"/>
                <a:gd name="connsiteY31" fmla="*/ 4864 h 10035"/>
                <a:gd name="connsiteX32" fmla="*/ 9008 w 10108"/>
                <a:gd name="connsiteY32" fmla="*/ 3759 h 10035"/>
                <a:gd name="connsiteX33" fmla="*/ 8787 w 10108"/>
                <a:gd name="connsiteY33" fmla="*/ 3150 h 10035"/>
                <a:gd name="connsiteX34" fmla="*/ 9305 w 10108"/>
                <a:gd name="connsiteY34" fmla="*/ 1702 h 10035"/>
                <a:gd name="connsiteX35" fmla="*/ 9305 w 10108"/>
                <a:gd name="connsiteY35" fmla="*/ 593 h 10035"/>
                <a:gd name="connsiteX36" fmla="*/ 8447 w 10108"/>
                <a:gd name="connsiteY36" fmla="*/ 405 h 10035"/>
                <a:gd name="connsiteX37" fmla="*/ 7979 w 10108"/>
                <a:gd name="connsiteY37" fmla="*/ 35 h 10035"/>
                <a:gd name="connsiteX38" fmla="*/ 6573 w 10108"/>
                <a:gd name="connsiteY38" fmla="*/ 201 h 10035"/>
                <a:gd name="connsiteX0" fmla="*/ 6573 w 10108"/>
                <a:gd name="connsiteY0" fmla="*/ 201 h 10035"/>
                <a:gd name="connsiteX1" fmla="*/ 4410 w 10108"/>
                <a:gd name="connsiteY1" fmla="*/ 564 h 10035"/>
                <a:gd name="connsiteX2" fmla="*/ 3942 w 10108"/>
                <a:gd name="connsiteY2" fmla="*/ 316 h 10035"/>
                <a:gd name="connsiteX3" fmla="*/ 3483 w 10108"/>
                <a:gd name="connsiteY3" fmla="*/ 368 h 10035"/>
                <a:gd name="connsiteX4" fmla="*/ 2479 w 10108"/>
                <a:gd name="connsiteY4" fmla="*/ 1015 h 10035"/>
                <a:gd name="connsiteX5" fmla="*/ 1574 w 10108"/>
                <a:gd name="connsiteY5" fmla="*/ 978 h 10035"/>
                <a:gd name="connsiteX6" fmla="*/ 845 w 10108"/>
                <a:gd name="connsiteY6" fmla="*/ 1588 h 10035"/>
                <a:gd name="connsiteX7" fmla="*/ 566 w 10108"/>
                <a:gd name="connsiteY7" fmla="*/ 2536 h 10035"/>
                <a:gd name="connsiteX8" fmla="*/ 123 w 10108"/>
                <a:gd name="connsiteY8" fmla="*/ 3186 h 10035"/>
                <a:gd name="connsiteX9" fmla="*/ 98 w 10108"/>
                <a:gd name="connsiteY9" fmla="*/ 4202 h 10035"/>
                <a:gd name="connsiteX10" fmla="*/ 710 w 10108"/>
                <a:gd name="connsiteY10" fmla="*/ 4701 h 10035"/>
                <a:gd name="connsiteX11" fmla="*/ 1502 w 10108"/>
                <a:gd name="connsiteY11" fmla="*/ 3973 h 10035"/>
                <a:gd name="connsiteX12" fmla="*/ 1819 w 10108"/>
                <a:gd name="connsiteY12" fmla="*/ 4532 h 10035"/>
                <a:gd name="connsiteX13" fmla="*/ 2454 w 10108"/>
                <a:gd name="connsiteY13" fmla="*/ 4535 h 10035"/>
                <a:gd name="connsiteX14" fmla="*/ 2599 w 10108"/>
                <a:gd name="connsiteY14" fmla="*/ 4869 h 10035"/>
                <a:gd name="connsiteX15" fmla="*/ 2454 w 10108"/>
                <a:gd name="connsiteY15" fmla="*/ 5425 h 10035"/>
                <a:gd name="connsiteX16" fmla="*/ 1791 w 10108"/>
                <a:gd name="connsiteY16" fmla="*/ 6259 h 10035"/>
                <a:gd name="connsiteX17" fmla="*/ 1588 w 10108"/>
                <a:gd name="connsiteY17" fmla="*/ 7231 h 10035"/>
                <a:gd name="connsiteX18" fmla="*/ 2309 w 10108"/>
                <a:gd name="connsiteY18" fmla="*/ 8202 h 10035"/>
                <a:gd name="connsiteX19" fmla="*/ 3193 w 10108"/>
                <a:gd name="connsiteY19" fmla="*/ 8150 h 10035"/>
                <a:gd name="connsiteX20" fmla="*/ 4078 w 10108"/>
                <a:gd name="connsiteY20" fmla="*/ 7816 h 10035"/>
                <a:gd name="connsiteX21" fmla="*/ 4974 w 10108"/>
                <a:gd name="connsiteY21" fmla="*/ 6720 h 10035"/>
                <a:gd name="connsiteX22" fmla="*/ 6133 w 10108"/>
                <a:gd name="connsiteY22" fmla="*/ 7564 h 10035"/>
                <a:gd name="connsiteX23" fmla="*/ 5997 w 10108"/>
                <a:gd name="connsiteY23" fmla="*/ 8620 h 10035"/>
                <a:gd name="connsiteX24" fmla="*/ 6874 w 10108"/>
                <a:gd name="connsiteY24" fmla="*/ 10035 h 10035"/>
                <a:gd name="connsiteX25" fmla="*/ 7978 w 10108"/>
                <a:gd name="connsiteY25" fmla="*/ 9409 h 10035"/>
                <a:gd name="connsiteX26" fmla="*/ 8908 w 10108"/>
                <a:gd name="connsiteY26" fmla="*/ 9164 h 10035"/>
                <a:gd name="connsiteX27" fmla="*/ 9410 w 10108"/>
                <a:gd name="connsiteY27" fmla="*/ 9147 h 10035"/>
                <a:gd name="connsiteX28" fmla="*/ 10108 w 10108"/>
                <a:gd name="connsiteY28" fmla="*/ 8120 h 10035"/>
                <a:gd name="connsiteX29" fmla="*/ 9775 w 10108"/>
                <a:gd name="connsiteY29" fmla="*/ 6671 h 10035"/>
                <a:gd name="connsiteX30" fmla="*/ 9722 w 10108"/>
                <a:gd name="connsiteY30" fmla="*/ 5404 h 10035"/>
                <a:gd name="connsiteX31" fmla="*/ 8979 w 10108"/>
                <a:gd name="connsiteY31" fmla="*/ 4864 h 10035"/>
                <a:gd name="connsiteX32" fmla="*/ 9008 w 10108"/>
                <a:gd name="connsiteY32" fmla="*/ 3759 h 10035"/>
                <a:gd name="connsiteX33" fmla="*/ 8787 w 10108"/>
                <a:gd name="connsiteY33" fmla="*/ 3150 h 10035"/>
                <a:gd name="connsiteX34" fmla="*/ 9305 w 10108"/>
                <a:gd name="connsiteY34" fmla="*/ 1702 h 10035"/>
                <a:gd name="connsiteX35" fmla="*/ 9305 w 10108"/>
                <a:gd name="connsiteY35" fmla="*/ 593 h 10035"/>
                <a:gd name="connsiteX36" fmla="*/ 8447 w 10108"/>
                <a:gd name="connsiteY36" fmla="*/ 405 h 10035"/>
                <a:gd name="connsiteX37" fmla="*/ 7979 w 10108"/>
                <a:gd name="connsiteY37" fmla="*/ 35 h 10035"/>
                <a:gd name="connsiteX38" fmla="*/ 6573 w 10108"/>
                <a:gd name="connsiteY38" fmla="*/ 201 h 10035"/>
                <a:gd name="connsiteX0" fmla="*/ 6573 w 10108"/>
                <a:gd name="connsiteY0" fmla="*/ 201 h 10035"/>
                <a:gd name="connsiteX1" fmla="*/ 4410 w 10108"/>
                <a:gd name="connsiteY1" fmla="*/ 564 h 10035"/>
                <a:gd name="connsiteX2" fmla="*/ 3942 w 10108"/>
                <a:gd name="connsiteY2" fmla="*/ 316 h 10035"/>
                <a:gd name="connsiteX3" fmla="*/ 3483 w 10108"/>
                <a:gd name="connsiteY3" fmla="*/ 368 h 10035"/>
                <a:gd name="connsiteX4" fmla="*/ 2479 w 10108"/>
                <a:gd name="connsiteY4" fmla="*/ 1015 h 10035"/>
                <a:gd name="connsiteX5" fmla="*/ 1574 w 10108"/>
                <a:gd name="connsiteY5" fmla="*/ 978 h 10035"/>
                <a:gd name="connsiteX6" fmla="*/ 845 w 10108"/>
                <a:gd name="connsiteY6" fmla="*/ 1588 h 10035"/>
                <a:gd name="connsiteX7" fmla="*/ 566 w 10108"/>
                <a:gd name="connsiteY7" fmla="*/ 2536 h 10035"/>
                <a:gd name="connsiteX8" fmla="*/ 123 w 10108"/>
                <a:gd name="connsiteY8" fmla="*/ 3186 h 10035"/>
                <a:gd name="connsiteX9" fmla="*/ 98 w 10108"/>
                <a:gd name="connsiteY9" fmla="*/ 4202 h 10035"/>
                <a:gd name="connsiteX10" fmla="*/ 710 w 10108"/>
                <a:gd name="connsiteY10" fmla="*/ 4701 h 10035"/>
                <a:gd name="connsiteX11" fmla="*/ 1502 w 10108"/>
                <a:gd name="connsiteY11" fmla="*/ 3973 h 10035"/>
                <a:gd name="connsiteX12" fmla="*/ 1819 w 10108"/>
                <a:gd name="connsiteY12" fmla="*/ 4532 h 10035"/>
                <a:gd name="connsiteX13" fmla="*/ 2454 w 10108"/>
                <a:gd name="connsiteY13" fmla="*/ 4535 h 10035"/>
                <a:gd name="connsiteX14" fmla="*/ 2599 w 10108"/>
                <a:gd name="connsiteY14" fmla="*/ 4869 h 10035"/>
                <a:gd name="connsiteX15" fmla="*/ 2454 w 10108"/>
                <a:gd name="connsiteY15" fmla="*/ 5425 h 10035"/>
                <a:gd name="connsiteX16" fmla="*/ 1791 w 10108"/>
                <a:gd name="connsiteY16" fmla="*/ 6259 h 10035"/>
                <a:gd name="connsiteX17" fmla="*/ 1588 w 10108"/>
                <a:gd name="connsiteY17" fmla="*/ 7231 h 10035"/>
                <a:gd name="connsiteX18" fmla="*/ 2309 w 10108"/>
                <a:gd name="connsiteY18" fmla="*/ 8202 h 10035"/>
                <a:gd name="connsiteX19" fmla="*/ 3193 w 10108"/>
                <a:gd name="connsiteY19" fmla="*/ 8150 h 10035"/>
                <a:gd name="connsiteX20" fmla="*/ 4078 w 10108"/>
                <a:gd name="connsiteY20" fmla="*/ 7816 h 10035"/>
                <a:gd name="connsiteX21" fmla="*/ 4974 w 10108"/>
                <a:gd name="connsiteY21" fmla="*/ 6720 h 10035"/>
                <a:gd name="connsiteX22" fmla="*/ 6133 w 10108"/>
                <a:gd name="connsiteY22" fmla="*/ 7564 h 10035"/>
                <a:gd name="connsiteX23" fmla="*/ 5997 w 10108"/>
                <a:gd name="connsiteY23" fmla="*/ 8620 h 10035"/>
                <a:gd name="connsiteX24" fmla="*/ 6874 w 10108"/>
                <a:gd name="connsiteY24" fmla="*/ 10035 h 10035"/>
                <a:gd name="connsiteX25" fmla="*/ 7978 w 10108"/>
                <a:gd name="connsiteY25" fmla="*/ 9409 h 10035"/>
                <a:gd name="connsiteX26" fmla="*/ 8908 w 10108"/>
                <a:gd name="connsiteY26" fmla="*/ 9164 h 10035"/>
                <a:gd name="connsiteX27" fmla="*/ 9410 w 10108"/>
                <a:gd name="connsiteY27" fmla="*/ 9147 h 10035"/>
                <a:gd name="connsiteX28" fmla="*/ 10108 w 10108"/>
                <a:gd name="connsiteY28" fmla="*/ 8120 h 10035"/>
                <a:gd name="connsiteX29" fmla="*/ 9775 w 10108"/>
                <a:gd name="connsiteY29" fmla="*/ 6671 h 10035"/>
                <a:gd name="connsiteX30" fmla="*/ 9722 w 10108"/>
                <a:gd name="connsiteY30" fmla="*/ 5404 h 10035"/>
                <a:gd name="connsiteX31" fmla="*/ 8979 w 10108"/>
                <a:gd name="connsiteY31" fmla="*/ 4864 h 10035"/>
                <a:gd name="connsiteX32" fmla="*/ 9008 w 10108"/>
                <a:gd name="connsiteY32" fmla="*/ 3759 h 10035"/>
                <a:gd name="connsiteX33" fmla="*/ 8787 w 10108"/>
                <a:gd name="connsiteY33" fmla="*/ 3150 h 10035"/>
                <a:gd name="connsiteX34" fmla="*/ 9305 w 10108"/>
                <a:gd name="connsiteY34" fmla="*/ 1702 h 10035"/>
                <a:gd name="connsiteX35" fmla="*/ 9305 w 10108"/>
                <a:gd name="connsiteY35" fmla="*/ 593 h 10035"/>
                <a:gd name="connsiteX36" fmla="*/ 8447 w 10108"/>
                <a:gd name="connsiteY36" fmla="*/ 405 h 10035"/>
                <a:gd name="connsiteX37" fmla="*/ 7979 w 10108"/>
                <a:gd name="connsiteY37" fmla="*/ 35 h 10035"/>
                <a:gd name="connsiteX38" fmla="*/ 6573 w 10108"/>
                <a:gd name="connsiteY38" fmla="*/ 201 h 10035"/>
                <a:gd name="connsiteX0" fmla="*/ 6573 w 10108"/>
                <a:gd name="connsiteY0" fmla="*/ 201 h 10035"/>
                <a:gd name="connsiteX1" fmla="*/ 4410 w 10108"/>
                <a:gd name="connsiteY1" fmla="*/ 564 h 10035"/>
                <a:gd name="connsiteX2" fmla="*/ 3942 w 10108"/>
                <a:gd name="connsiteY2" fmla="*/ 316 h 10035"/>
                <a:gd name="connsiteX3" fmla="*/ 3483 w 10108"/>
                <a:gd name="connsiteY3" fmla="*/ 368 h 10035"/>
                <a:gd name="connsiteX4" fmla="*/ 2479 w 10108"/>
                <a:gd name="connsiteY4" fmla="*/ 1015 h 10035"/>
                <a:gd name="connsiteX5" fmla="*/ 1574 w 10108"/>
                <a:gd name="connsiteY5" fmla="*/ 978 h 10035"/>
                <a:gd name="connsiteX6" fmla="*/ 845 w 10108"/>
                <a:gd name="connsiteY6" fmla="*/ 1588 h 10035"/>
                <a:gd name="connsiteX7" fmla="*/ 566 w 10108"/>
                <a:gd name="connsiteY7" fmla="*/ 2536 h 10035"/>
                <a:gd name="connsiteX8" fmla="*/ 123 w 10108"/>
                <a:gd name="connsiteY8" fmla="*/ 3186 h 10035"/>
                <a:gd name="connsiteX9" fmla="*/ 98 w 10108"/>
                <a:gd name="connsiteY9" fmla="*/ 4202 h 10035"/>
                <a:gd name="connsiteX10" fmla="*/ 710 w 10108"/>
                <a:gd name="connsiteY10" fmla="*/ 4701 h 10035"/>
                <a:gd name="connsiteX11" fmla="*/ 1502 w 10108"/>
                <a:gd name="connsiteY11" fmla="*/ 3973 h 10035"/>
                <a:gd name="connsiteX12" fmla="*/ 1819 w 10108"/>
                <a:gd name="connsiteY12" fmla="*/ 4532 h 10035"/>
                <a:gd name="connsiteX13" fmla="*/ 2454 w 10108"/>
                <a:gd name="connsiteY13" fmla="*/ 4535 h 10035"/>
                <a:gd name="connsiteX14" fmla="*/ 2599 w 10108"/>
                <a:gd name="connsiteY14" fmla="*/ 4869 h 10035"/>
                <a:gd name="connsiteX15" fmla="*/ 2454 w 10108"/>
                <a:gd name="connsiteY15" fmla="*/ 5425 h 10035"/>
                <a:gd name="connsiteX16" fmla="*/ 1791 w 10108"/>
                <a:gd name="connsiteY16" fmla="*/ 6259 h 10035"/>
                <a:gd name="connsiteX17" fmla="*/ 1588 w 10108"/>
                <a:gd name="connsiteY17" fmla="*/ 7231 h 10035"/>
                <a:gd name="connsiteX18" fmla="*/ 2309 w 10108"/>
                <a:gd name="connsiteY18" fmla="*/ 8202 h 10035"/>
                <a:gd name="connsiteX19" fmla="*/ 3193 w 10108"/>
                <a:gd name="connsiteY19" fmla="*/ 8150 h 10035"/>
                <a:gd name="connsiteX20" fmla="*/ 4078 w 10108"/>
                <a:gd name="connsiteY20" fmla="*/ 7816 h 10035"/>
                <a:gd name="connsiteX21" fmla="*/ 4849 w 10108"/>
                <a:gd name="connsiteY21" fmla="*/ 6805 h 10035"/>
                <a:gd name="connsiteX22" fmla="*/ 6133 w 10108"/>
                <a:gd name="connsiteY22" fmla="*/ 7564 h 10035"/>
                <a:gd name="connsiteX23" fmla="*/ 5997 w 10108"/>
                <a:gd name="connsiteY23" fmla="*/ 8620 h 10035"/>
                <a:gd name="connsiteX24" fmla="*/ 6874 w 10108"/>
                <a:gd name="connsiteY24" fmla="*/ 10035 h 10035"/>
                <a:gd name="connsiteX25" fmla="*/ 7978 w 10108"/>
                <a:gd name="connsiteY25" fmla="*/ 9409 h 10035"/>
                <a:gd name="connsiteX26" fmla="*/ 8908 w 10108"/>
                <a:gd name="connsiteY26" fmla="*/ 9164 h 10035"/>
                <a:gd name="connsiteX27" fmla="*/ 9410 w 10108"/>
                <a:gd name="connsiteY27" fmla="*/ 9147 h 10035"/>
                <a:gd name="connsiteX28" fmla="*/ 10108 w 10108"/>
                <a:gd name="connsiteY28" fmla="*/ 8120 h 10035"/>
                <a:gd name="connsiteX29" fmla="*/ 9775 w 10108"/>
                <a:gd name="connsiteY29" fmla="*/ 6671 h 10035"/>
                <a:gd name="connsiteX30" fmla="*/ 9722 w 10108"/>
                <a:gd name="connsiteY30" fmla="*/ 5404 h 10035"/>
                <a:gd name="connsiteX31" fmla="*/ 8979 w 10108"/>
                <a:gd name="connsiteY31" fmla="*/ 4864 h 10035"/>
                <a:gd name="connsiteX32" fmla="*/ 9008 w 10108"/>
                <a:gd name="connsiteY32" fmla="*/ 3759 h 10035"/>
                <a:gd name="connsiteX33" fmla="*/ 8787 w 10108"/>
                <a:gd name="connsiteY33" fmla="*/ 3150 h 10035"/>
                <a:gd name="connsiteX34" fmla="*/ 9305 w 10108"/>
                <a:gd name="connsiteY34" fmla="*/ 1702 h 10035"/>
                <a:gd name="connsiteX35" fmla="*/ 9305 w 10108"/>
                <a:gd name="connsiteY35" fmla="*/ 593 h 10035"/>
                <a:gd name="connsiteX36" fmla="*/ 8447 w 10108"/>
                <a:gd name="connsiteY36" fmla="*/ 405 h 10035"/>
                <a:gd name="connsiteX37" fmla="*/ 7979 w 10108"/>
                <a:gd name="connsiteY37" fmla="*/ 35 h 10035"/>
                <a:gd name="connsiteX38" fmla="*/ 6573 w 10108"/>
                <a:gd name="connsiteY38" fmla="*/ 201 h 10035"/>
                <a:gd name="connsiteX0" fmla="*/ 6573 w 10108"/>
                <a:gd name="connsiteY0" fmla="*/ 201 h 10035"/>
                <a:gd name="connsiteX1" fmla="*/ 4410 w 10108"/>
                <a:gd name="connsiteY1" fmla="*/ 564 h 10035"/>
                <a:gd name="connsiteX2" fmla="*/ 3942 w 10108"/>
                <a:gd name="connsiteY2" fmla="*/ 316 h 10035"/>
                <a:gd name="connsiteX3" fmla="*/ 3483 w 10108"/>
                <a:gd name="connsiteY3" fmla="*/ 368 h 10035"/>
                <a:gd name="connsiteX4" fmla="*/ 2479 w 10108"/>
                <a:gd name="connsiteY4" fmla="*/ 1015 h 10035"/>
                <a:gd name="connsiteX5" fmla="*/ 1574 w 10108"/>
                <a:gd name="connsiteY5" fmla="*/ 978 h 10035"/>
                <a:gd name="connsiteX6" fmla="*/ 845 w 10108"/>
                <a:gd name="connsiteY6" fmla="*/ 1588 h 10035"/>
                <a:gd name="connsiteX7" fmla="*/ 566 w 10108"/>
                <a:gd name="connsiteY7" fmla="*/ 2536 h 10035"/>
                <a:gd name="connsiteX8" fmla="*/ 123 w 10108"/>
                <a:gd name="connsiteY8" fmla="*/ 3186 h 10035"/>
                <a:gd name="connsiteX9" fmla="*/ 98 w 10108"/>
                <a:gd name="connsiteY9" fmla="*/ 4202 h 10035"/>
                <a:gd name="connsiteX10" fmla="*/ 710 w 10108"/>
                <a:gd name="connsiteY10" fmla="*/ 4701 h 10035"/>
                <a:gd name="connsiteX11" fmla="*/ 1502 w 10108"/>
                <a:gd name="connsiteY11" fmla="*/ 3973 h 10035"/>
                <a:gd name="connsiteX12" fmla="*/ 1819 w 10108"/>
                <a:gd name="connsiteY12" fmla="*/ 4532 h 10035"/>
                <a:gd name="connsiteX13" fmla="*/ 2454 w 10108"/>
                <a:gd name="connsiteY13" fmla="*/ 4535 h 10035"/>
                <a:gd name="connsiteX14" fmla="*/ 2599 w 10108"/>
                <a:gd name="connsiteY14" fmla="*/ 4869 h 10035"/>
                <a:gd name="connsiteX15" fmla="*/ 2454 w 10108"/>
                <a:gd name="connsiteY15" fmla="*/ 5425 h 10035"/>
                <a:gd name="connsiteX16" fmla="*/ 1791 w 10108"/>
                <a:gd name="connsiteY16" fmla="*/ 6259 h 10035"/>
                <a:gd name="connsiteX17" fmla="*/ 1588 w 10108"/>
                <a:gd name="connsiteY17" fmla="*/ 7231 h 10035"/>
                <a:gd name="connsiteX18" fmla="*/ 2309 w 10108"/>
                <a:gd name="connsiteY18" fmla="*/ 8202 h 10035"/>
                <a:gd name="connsiteX19" fmla="*/ 3193 w 10108"/>
                <a:gd name="connsiteY19" fmla="*/ 8150 h 10035"/>
                <a:gd name="connsiteX20" fmla="*/ 4078 w 10108"/>
                <a:gd name="connsiteY20" fmla="*/ 7816 h 10035"/>
                <a:gd name="connsiteX21" fmla="*/ 4849 w 10108"/>
                <a:gd name="connsiteY21" fmla="*/ 6805 h 10035"/>
                <a:gd name="connsiteX22" fmla="*/ 6133 w 10108"/>
                <a:gd name="connsiteY22" fmla="*/ 7564 h 10035"/>
                <a:gd name="connsiteX23" fmla="*/ 5997 w 10108"/>
                <a:gd name="connsiteY23" fmla="*/ 8620 h 10035"/>
                <a:gd name="connsiteX24" fmla="*/ 6874 w 10108"/>
                <a:gd name="connsiteY24" fmla="*/ 10035 h 10035"/>
                <a:gd name="connsiteX25" fmla="*/ 7978 w 10108"/>
                <a:gd name="connsiteY25" fmla="*/ 9409 h 10035"/>
                <a:gd name="connsiteX26" fmla="*/ 8908 w 10108"/>
                <a:gd name="connsiteY26" fmla="*/ 9164 h 10035"/>
                <a:gd name="connsiteX27" fmla="*/ 9410 w 10108"/>
                <a:gd name="connsiteY27" fmla="*/ 9147 h 10035"/>
                <a:gd name="connsiteX28" fmla="*/ 10108 w 10108"/>
                <a:gd name="connsiteY28" fmla="*/ 8120 h 10035"/>
                <a:gd name="connsiteX29" fmla="*/ 9775 w 10108"/>
                <a:gd name="connsiteY29" fmla="*/ 6671 h 10035"/>
                <a:gd name="connsiteX30" fmla="*/ 9722 w 10108"/>
                <a:gd name="connsiteY30" fmla="*/ 5404 h 10035"/>
                <a:gd name="connsiteX31" fmla="*/ 8979 w 10108"/>
                <a:gd name="connsiteY31" fmla="*/ 4864 h 10035"/>
                <a:gd name="connsiteX32" fmla="*/ 9008 w 10108"/>
                <a:gd name="connsiteY32" fmla="*/ 3759 h 10035"/>
                <a:gd name="connsiteX33" fmla="*/ 8787 w 10108"/>
                <a:gd name="connsiteY33" fmla="*/ 3150 h 10035"/>
                <a:gd name="connsiteX34" fmla="*/ 9305 w 10108"/>
                <a:gd name="connsiteY34" fmla="*/ 1702 h 10035"/>
                <a:gd name="connsiteX35" fmla="*/ 9305 w 10108"/>
                <a:gd name="connsiteY35" fmla="*/ 593 h 10035"/>
                <a:gd name="connsiteX36" fmla="*/ 8447 w 10108"/>
                <a:gd name="connsiteY36" fmla="*/ 405 h 10035"/>
                <a:gd name="connsiteX37" fmla="*/ 7979 w 10108"/>
                <a:gd name="connsiteY37" fmla="*/ 35 h 10035"/>
                <a:gd name="connsiteX38" fmla="*/ 6573 w 10108"/>
                <a:gd name="connsiteY38" fmla="*/ 201 h 10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0108" h="10035">
                  <a:moveTo>
                    <a:pt x="6573" y="201"/>
                  </a:moveTo>
                  <a:cubicBezTo>
                    <a:pt x="5677" y="-201"/>
                    <a:pt x="5217" y="523"/>
                    <a:pt x="4410" y="564"/>
                  </a:cubicBezTo>
                  <a:lnTo>
                    <a:pt x="3942" y="316"/>
                  </a:lnTo>
                  <a:cubicBezTo>
                    <a:pt x="3866" y="338"/>
                    <a:pt x="3727" y="251"/>
                    <a:pt x="3483" y="368"/>
                  </a:cubicBezTo>
                  <a:cubicBezTo>
                    <a:pt x="3239" y="485"/>
                    <a:pt x="2797" y="913"/>
                    <a:pt x="2479" y="1015"/>
                  </a:cubicBezTo>
                  <a:cubicBezTo>
                    <a:pt x="2161" y="1117"/>
                    <a:pt x="1829" y="818"/>
                    <a:pt x="1574" y="978"/>
                  </a:cubicBezTo>
                  <a:cubicBezTo>
                    <a:pt x="1303" y="1518"/>
                    <a:pt x="1013" y="1328"/>
                    <a:pt x="845" y="1588"/>
                  </a:cubicBezTo>
                  <a:cubicBezTo>
                    <a:pt x="677" y="1848"/>
                    <a:pt x="448" y="1863"/>
                    <a:pt x="566" y="2536"/>
                  </a:cubicBezTo>
                  <a:cubicBezTo>
                    <a:pt x="414" y="2990"/>
                    <a:pt x="528" y="3017"/>
                    <a:pt x="123" y="3186"/>
                  </a:cubicBezTo>
                  <a:cubicBezTo>
                    <a:pt x="-87" y="3411"/>
                    <a:pt x="16" y="4009"/>
                    <a:pt x="98" y="4202"/>
                  </a:cubicBezTo>
                  <a:cubicBezTo>
                    <a:pt x="105" y="4223"/>
                    <a:pt x="477" y="4739"/>
                    <a:pt x="710" y="4701"/>
                  </a:cubicBezTo>
                  <a:cubicBezTo>
                    <a:pt x="944" y="4663"/>
                    <a:pt x="1296" y="3841"/>
                    <a:pt x="1502" y="3973"/>
                  </a:cubicBezTo>
                  <a:cubicBezTo>
                    <a:pt x="1758" y="4126"/>
                    <a:pt x="1660" y="4513"/>
                    <a:pt x="1819" y="4532"/>
                  </a:cubicBezTo>
                  <a:cubicBezTo>
                    <a:pt x="1895" y="4569"/>
                    <a:pt x="2324" y="4479"/>
                    <a:pt x="2454" y="4535"/>
                  </a:cubicBezTo>
                  <a:cubicBezTo>
                    <a:pt x="2583" y="4591"/>
                    <a:pt x="2599" y="4869"/>
                    <a:pt x="2599" y="4869"/>
                  </a:cubicBezTo>
                  <a:cubicBezTo>
                    <a:pt x="2579" y="4988"/>
                    <a:pt x="2558" y="5285"/>
                    <a:pt x="2454" y="5425"/>
                  </a:cubicBezTo>
                  <a:cubicBezTo>
                    <a:pt x="2240" y="5712"/>
                    <a:pt x="1948" y="5615"/>
                    <a:pt x="1791" y="6259"/>
                  </a:cubicBezTo>
                  <a:cubicBezTo>
                    <a:pt x="1638" y="6467"/>
                    <a:pt x="1372" y="6991"/>
                    <a:pt x="1588" y="7231"/>
                  </a:cubicBezTo>
                  <a:cubicBezTo>
                    <a:pt x="1404" y="7901"/>
                    <a:pt x="1460" y="8776"/>
                    <a:pt x="2309" y="8202"/>
                  </a:cubicBezTo>
                  <a:cubicBezTo>
                    <a:pt x="2606" y="8186"/>
                    <a:pt x="2903" y="8180"/>
                    <a:pt x="3193" y="8150"/>
                  </a:cubicBezTo>
                  <a:cubicBezTo>
                    <a:pt x="3524" y="8118"/>
                    <a:pt x="3753" y="7895"/>
                    <a:pt x="4078" y="7816"/>
                  </a:cubicBezTo>
                  <a:cubicBezTo>
                    <a:pt x="4319" y="7633"/>
                    <a:pt x="4492" y="6142"/>
                    <a:pt x="4849" y="6805"/>
                  </a:cubicBezTo>
                  <a:cubicBezTo>
                    <a:pt x="5060" y="7808"/>
                    <a:pt x="5946" y="6982"/>
                    <a:pt x="6133" y="7564"/>
                  </a:cubicBezTo>
                  <a:cubicBezTo>
                    <a:pt x="6158" y="8216"/>
                    <a:pt x="6083" y="8202"/>
                    <a:pt x="5997" y="8620"/>
                  </a:cubicBezTo>
                  <a:cubicBezTo>
                    <a:pt x="6052" y="9318"/>
                    <a:pt x="6032" y="9618"/>
                    <a:pt x="6874" y="10035"/>
                  </a:cubicBezTo>
                  <a:cubicBezTo>
                    <a:pt x="8891" y="9957"/>
                    <a:pt x="7666" y="9559"/>
                    <a:pt x="7978" y="9409"/>
                  </a:cubicBezTo>
                  <a:cubicBezTo>
                    <a:pt x="8379" y="8946"/>
                    <a:pt x="8669" y="9208"/>
                    <a:pt x="8908" y="9164"/>
                  </a:cubicBezTo>
                  <a:cubicBezTo>
                    <a:pt x="9147" y="9120"/>
                    <a:pt x="9210" y="9321"/>
                    <a:pt x="9410" y="9147"/>
                  </a:cubicBezTo>
                  <a:cubicBezTo>
                    <a:pt x="9610" y="8973"/>
                    <a:pt x="9844" y="8711"/>
                    <a:pt x="10108" y="8120"/>
                  </a:cubicBezTo>
                  <a:cubicBezTo>
                    <a:pt x="10129" y="7160"/>
                    <a:pt x="9430" y="7675"/>
                    <a:pt x="9775" y="6671"/>
                  </a:cubicBezTo>
                  <a:cubicBezTo>
                    <a:pt x="9727" y="5889"/>
                    <a:pt x="9854" y="5705"/>
                    <a:pt x="9722" y="5404"/>
                  </a:cubicBezTo>
                  <a:cubicBezTo>
                    <a:pt x="9589" y="5103"/>
                    <a:pt x="9353" y="5379"/>
                    <a:pt x="8979" y="4864"/>
                  </a:cubicBezTo>
                  <a:cubicBezTo>
                    <a:pt x="8875" y="4718"/>
                    <a:pt x="9041" y="4045"/>
                    <a:pt x="9008" y="3759"/>
                  </a:cubicBezTo>
                  <a:cubicBezTo>
                    <a:pt x="8976" y="3473"/>
                    <a:pt x="8857" y="3352"/>
                    <a:pt x="8787" y="3150"/>
                  </a:cubicBezTo>
                  <a:cubicBezTo>
                    <a:pt x="8850" y="2644"/>
                    <a:pt x="8925" y="2134"/>
                    <a:pt x="9305" y="1702"/>
                  </a:cubicBezTo>
                  <a:cubicBezTo>
                    <a:pt x="9381" y="1333"/>
                    <a:pt x="9477" y="787"/>
                    <a:pt x="9305" y="593"/>
                  </a:cubicBezTo>
                  <a:cubicBezTo>
                    <a:pt x="8736" y="-50"/>
                    <a:pt x="8791" y="495"/>
                    <a:pt x="8447" y="405"/>
                  </a:cubicBezTo>
                  <a:cubicBezTo>
                    <a:pt x="8291" y="282"/>
                    <a:pt x="8198" y="-120"/>
                    <a:pt x="7979" y="35"/>
                  </a:cubicBezTo>
                  <a:cubicBezTo>
                    <a:pt x="7445" y="55"/>
                    <a:pt x="7259" y="829"/>
                    <a:pt x="6573" y="201"/>
                  </a:cubicBezTo>
                  <a:close/>
                </a:path>
              </a:pathLst>
            </a:custGeom>
            <a:solidFill>
              <a:schemeClr val="accent2"/>
            </a:solidFill>
            <a:ln w="9525">
              <a:solidFill>
                <a:schemeClr val="tx1"/>
              </a:solidFill>
              <a:round/>
              <a:headEnd/>
              <a:tailEnd/>
            </a:ln>
            <a:effectLst/>
          </p:spPr>
          <p:txBody>
            <a:bodyPr/>
            <a:lstStyle/>
            <a:p>
              <a:pPr>
                <a:defRPr/>
              </a:pPr>
              <a:endParaRPr lang="en-US">
                <a:solidFill>
                  <a:prstClr val="black"/>
                </a:solidFill>
                <a:latin typeface="Verdana"/>
              </a:endParaRPr>
            </a:p>
          </p:txBody>
        </p:sp>
        <p:sp>
          <p:nvSpPr>
            <p:cNvPr id="13" name="Text Box 5"/>
            <p:cNvSpPr txBox="1">
              <a:spLocks noChangeArrowheads="1"/>
            </p:cNvSpPr>
            <p:nvPr>
              <p:custDataLst>
                <p:tags r:id="rId4"/>
              </p:custDataLst>
            </p:nvPr>
          </p:nvSpPr>
          <p:spPr bwMode="auto">
            <a:xfrm>
              <a:off x="625900" y="4334522"/>
              <a:ext cx="4631899" cy="400110"/>
            </a:xfrm>
            <a:prstGeom prst="rect">
              <a:avLst/>
            </a:prstGeom>
            <a:noFill/>
            <a:ln w="9525">
              <a:noFill/>
              <a:miter lim="800000"/>
              <a:headEnd/>
              <a:tailEnd/>
            </a:ln>
            <a:effectLst/>
          </p:spPr>
          <p:txBody>
            <a:bodyPr wrap="none">
              <a:spAutoFit/>
            </a:bodyPr>
            <a:lstStyle/>
            <a:p>
              <a:pPr algn="ctr">
                <a:defRPr/>
              </a:pPr>
              <a:r>
                <a:rPr lang="en-US" sz="2000" dirty="0">
                  <a:solidFill>
                    <a:prstClr val="black"/>
                  </a:solidFill>
                  <a:latin typeface="Verdana"/>
                </a:rPr>
                <a:t>key space (e.g., integers, strings)</a:t>
              </a:r>
            </a:p>
          </p:txBody>
        </p:sp>
      </p:grpSp>
      <p:sp>
        <p:nvSpPr>
          <p:cNvPr id="19" name="Slide Number Placeholder 18"/>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15</a:t>
            </a:fld>
            <a:endParaRPr lang="en-US">
              <a:solidFill>
                <a:srgbClr val="2F1343"/>
              </a:solidFill>
              <a:latin typeface="Verdana"/>
            </a:endParaRPr>
          </a:p>
        </p:txBody>
      </p:sp>
    </p:spTree>
    <p:extLst>
      <p:ext uri="{BB962C8B-B14F-4D97-AF65-F5344CB8AC3E}">
        <p14:creationId xmlns:p14="http://schemas.microsoft.com/office/powerpoint/2010/main" val="3450745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06315-0265-47C6-881E-2A0B4A9B6867}"/>
              </a:ext>
            </a:extLst>
          </p:cNvPr>
          <p:cNvSpPr>
            <a:spLocks noGrp="1"/>
          </p:cNvSpPr>
          <p:nvPr>
            <p:ph type="title"/>
          </p:nvPr>
        </p:nvSpPr>
        <p:spPr/>
        <p:txBody>
          <a:bodyPr/>
          <a:lstStyle/>
          <a:p>
            <a:r>
              <a:rPr lang="en-IN" dirty="0"/>
              <a:t>What Is Hashing?</a:t>
            </a:r>
          </a:p>
        </p:txBody>
      </p:sp>
      <p:sp>
        <p:nvSpPr>
          <p:cNvPr id="3" name="Content Placeholder 2">
            <a:extLst>
              <a:ext uri="{FF2B5EF4-FFF2-40B4-BE49-F238E27FC236}">
                <a16:creationId xmlns:a16="http://schemas.microsoft.com/office/drawing/2014/main" id="{E9D0F146-41CF-492C-8EE5-861C4B47035E}"/>
              </a:ext>
            </a:extLst>
          </p:cNvPr>
          <p:cNvSpPr>
            <a:spLocks noGrp="1"/>
          </p:cNvSpPr>
          <p:nvPr>
            <p:ph sz="quarter" idx="13"/>
          </p:nvPr>
        </p:nvSpPr>
        <p:spPr>
          <a:xfrm>
            <a:off x="1981201" y="1562624"/>
            <a:ext cx="8306554" cy="369215"/>
          </a:xfrm>
        </p:spPr>
        <p:txBody>
          <a:bodyPr vert="horz" lIns="91440" tIns="0" rIns="91440" bIns="45720" rtlCol="0">
            <a:normAutofit lnSpcReduction="10000"/>
          </a:bodyPr>
          <a:lstStyle/>
          <a:p>
            <a:pPr marL="432" indent="0">
              <a:buNone/>
            </a:pPr>
            <a:r>
              <a:rPr lang="en-US" altLang="en-US" sz="2200" dirty="0"/>
              <a:t>If you know the index of an element in the array, you can retrieve</a:t>
            </a:r>
            <a:endParaRPr lang="en-IN" sz="2200" dirty="0"/>
          </a:p>
        </p:txBody>
      </p:sp>
      <p:sp>
        <p:nvSpPr>
          <p:cNvPr id="4" name="Content Placeholder 3">
            <a:extLst>
              <a:ext uri="{FF2B5EF4-FFF2-40B4-BE49-F238E27FC236}">
                <a16:creationId xmlns:a16="http://schemas.microsoft.com/office/drawing/2014/main" id="{841DD635-F20A-4AA1-A34F-AFB852FE8FC7}"/>
              </a:ext>
            </a:extLst>
          </p:cNvPr>
          <p:cNvSpPr>
            <a:spLocks noGrp="1"/>
          </p:cNvSpPr>
          <p:nvPr>
            <p:ph sz="quarter" idx="14"/>
          </p:nvPr>
        </p:nvSpPr>
        <p:spPr>
          <a:xfrm>
            <a:off x="1981201" y="1988896"/>
            <a:ext cx="3959816" cy="386943"/>
          </a:xfrm>
        </p:spPr>
        <p:txBody>
          <a:bodyPr vert="horz" lIns="91440" tIns="0" rIns="91440" bIns="45720" rtlCol="0">
            <a:normAutofit/>
          </a:bodyPr>
          <a:lstStyle/>
          <a:p>
            <a:pPr marL="432" indent="0">
              <a:buNone/>
            </a:pPr>
            <a:r>
              <a:rPr lang="en-US" altLang="en-US" sz="2200" dirty="0"/>
              <a:t>the element using the index in</a:t>
            </a:r>
            <a:endParaRPr lang="en-IN" sz="2200" dirty="0"/>
          </a:p>
        </p:txBody>
      </p:sp>
      <p:graphicFrame>
        <p:nvGraphicFramePr>
          <p:cNvPr id="17" name="Object 16" descr="O of 1">
            <a:extLst>
              <a:ext uri="{FF2B5EF4-FFF2-40B4-BE49-F238E27FC236}">
                <a16:creationId xmlns:a16="http://schemas.microsoft.com/office/drawing/2014/main" id="{0E005258-B5EC-44EF-B11D-3BDF82C85C42}"/>
              </a:ext>
            </a:extLst>
          </p:cNvPr>
          <p:cNvGraphicFramePr>
            <a:graphicFrameLocks noChangeAspect="1"/>
          </p:cNvGraphicFramePr>
          <p:nvPr/>
        </p:nvGraphicFramePr>
        <p:xfrm>
          <a:off x="5995988" y="1999613"/>
          <a:ext cx="546100" cy="381000"/>
        </p:xfrm>
        <a:graphic>
          <a:graphicData uri="http://schemas.openxmlformats.org/presentationml/2006/ole">
            <mc:AlternateContent xmlns:mc="http://schemas.openxmlformats.org/markup-compatibility/2006">
              <mc:Choice xmlns:v="urn:schemas-microsoft-com:vml" Requires="v">
                <p:oleObj spid="_x0000_s3093" name="Equation" r:id="rId3" imgW="545760" imgH="380880" progId="Equation.DSMT4">
                  <p:embed/>
                </p:oleObj>
              </mc:Choice>
              <mc:Fallback>
                <p:oleObj name="Equation" r:id="rId3" imgW="545760" imgH="380880" progId="Equation.DSMT4">
                  <p:embed/>
                  <p:pic>
                    <p:nvPicPr>
                      <p:cNvPr id="17" name="Object 16" descr="O of 1">
                        <a:extLst>
                          <a:ext uri="{FF2B5EF4-FFF2-40B4-BE49-F238E27FC236}">
                            <a16:creationId xmlns:a16="http://schemas.microsoft.com/office/drawing/2014/main" id="{0E005258-B5EC-44EF-B11D-3BDF82C85C42}"/>
                          </a:ext>
                        </a:extLst>
                      </p:cNvPr>
                      <p:cNvPicPr/>
                      <p:nvPr/>
                    </p:nvPicPr>
                    <p:blipFill>
                      <a:blip r:embed="rId4"/>
                      <a:stretch>
                        <a:fillRect/>
                      </a:stretch>
                    </p:blipFill>
                    <p:spPr>
                      <a:xfrm>
                        <a:off x="5995988" y="1999613"/>
                        <a:ext cx="546100" cy="3810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E788AB55-401E-4D4E-9101-418044DE48E2}"/>
              </a:ext>
            </a:extLst>
          </p:cNvPr>
          <p:cNvSpPr>
            <a:spLocks noGrp="1"/>
          </p:cNvSpPr>
          <p:nvPr>
            <p:ph sz="quarter" idx="15"/>
          </p:nvPr>
        </p:nvSpPr>
        <p:spPr>
          <a:xfrm>
            <a:off x="6630694" y="1981682"/>
            <a:ext cx="3417375" cy="394156"/>
          </a:xfrm>
        </p:spPr>
        <p:txBody>
          <a:bodyPr vert="horz" lIns="0" tIns="0" rIns="0" bIns="0" rtlCol="0">
            <a:normAutofit/>
          </a:bodyPr>
          <a:lstStyle/>
          <a:p>
            <a:pPr marL="432" indent="0">
              <a:buNone/>
            </a:pPr>
            <a:r>
              <a:rPr lang="en-US" altLang="en-US" sz="2200" dirty="0"/>
              <a:t>time. So, can we store the</a:t>
            </a:r>
            <a:endParaRPr lang="en-IN" sz="2200" dirty="0"/>
          </a:p>
        </p:txBody>
      </p:sp>
      <p:sp>
        <p:nvSpPr>
          <p:cNvPr id="6" name="Content Placeholder 5">
            <a:extLst>
              <a:ext uri="{FF2B5EF4-FFF2-40B4-BE49-F238E27FC236}">
                <a16:creationId xmlns:a16="http://schemas.microsoft.com/office/drawing/2014/main" id="{0A17EB83-A867-4B1F-97E7-96E20FF20D68}"/>
              </a:ext>
            </a:extLst>
          </p:cNvPr>
          <p:cNvSpPr>
            <a:spLocks noGrp="1"/>
          </p:cNvSpPr>
          <p:nvPr>
            <p:ph sz="quarter" idx="16"/>
          </p:nvPr>
        </p:nvSpPr>
        <p:spPr>
          <a:xfrm>
            <a:off x="1981201" y="2468466"/>
            <a:ext cx="8438827" cy="737979"/>
          </a:xfrm>
        </p:spPr>
        <p:txBody>
          <a:bodyPr vert="horz" lIns="91440" tIns="0" rIns="91440" bIns="45720" rtlCol="0">
            <a:normAutofit/>
          </a:bodyPr>
          <a:lstStyle/>
          <a:p>
            <a:pPr marL="432" indent="0">
              <a:buNone/>
            </a:pPr>
            <a:r>
              <a:rPr lang="en-US" altLang="en-US" sz="2200" dirty="0"/>
              <a:t>values in an array and use the key as the index to find the value? The answer is yes if you can map a key to an index.</a:t>
            </a:r>
          </a:p>
        </p:txBody>
      </p:sp>
      <p:sp>
        <p:nvSpPr>
          <p:cNvPr id="7" name="Content Placeholder 6">
            <a:extLst>
              <a:ext uri="{FF2B5EF4-FFF2-40B4-BE49-F238E27FC236}">
                <a16:creationId xmlns:a16="http://schemas.microsoft.com/office/drawing/2014/main" id="{757C9C49-DF8D-4410-8C71-19440BDEAFC8}"/>
              </a:ext>
            </a:extLst>
          </p:cNvPr>
          <p:cNvSpPr>
            <a:spLocks noGrp="1"/>
          </p:cNvSpPr>
          <p:nvPr>
            <p:ph sz="quarter" idx="17"/>
          </p:nvPr>
        </p:nvSpPr>
        <p:spPr>
          <a:xfrm>
            <a:off x="1981200" y="3376532"/>
            <a:ext cx="8376834" cy="1086980"/>
          </a:xfrm>
        </p:spPr>
        <p:txBody>
          <a:bodyPr vert="horz" lIns="91440" tIns="0" rIns="91440" bIns="45720" rtlCol="0">
            <a:normAutofit/>
          </a:bodyPr>
          <a:lstStyle/>
          <a:p>
            <a:pPr marL="432" indent="0">
              <a:buNone/>
            </a:pPr>
            <a:r>
              <a:rPr lang="en-US" altLang="en-US" sz="2200" dirty="0"/>
              <a:t>The array that stores the values is called a </a:t>
            </a:r>
            <a:r>
              <a:rPr lang="en-US" altLang="en-US" sz="2200" b="1" dirty="0"/>
              <a:t>hash table</a:t>
            </a:r>
            <a:r>
              <a:rPr lang="en-US" altLang="en-US" sz="2200" dirty="0"/>
              <a:t>. The function that maps a key to an index in the hash table is called a </a:t>
            </a:r>
            <a:r>
              <a:rPr lang="en-US" altLang="en-US" sz="2200" b="1" dirty="0"/>
              <a:t>hash function</a:t>
            </a:r>
            <a:r>
              <a:rPr lang="en-US" altLang="en-US" sz="2200" dirty="0"/>
              <a:t>.</a:t>
            </a:r>
          </a:p>
        </p:txBody>
      </p:sp>
      <p:sp>
        <p:nvSpPr>
          <p:cNvPr id="8" name="Content Placeholder 7">
            <a:extLst>
              <a:ext uri="{FF2B5EF4-FFF2-40B4-BE49-F238E27FC236}">
                <a16:creationId xmlns:a16="http://schemas.microsoft.com/office/drawing/2014/main" id="{CA255D2E-F700-43CA-88DA-39BA9EA94547}"/>
              </a:ext>
            </a:extLst>
          </p:cNvPr>
          <p:cNvSpPr>
            <a:spLocks noGrp="1"/>
          </p:cNvSpPr>
          <p:nvPr>
            <p:ph sz="quarter" idx="18"/>
          </p:nvPr>
        </p:nvSpPr>
        <p:spPr>
          <a:xfrm>
            <a:off x="1981201" y="4684686"/>
            <a:ext cx="8152646" cy="817213"/>
          </a:xfrm>
        </p:spPr>
        <p:txBody>
          <a:bodyPr vert="horz" lIns="91440" tIns="0" rIns="91440" bIns="45720" rtlCol="0">
            <a:normAutofit/>
          </a:bodyPr>
          <a:lstStyle/>
          <a:p>
            <a:pPr marL="432" indent="0">
              <a:buNone/>
            </a:pPr>
            <a:r>
              <a:rPr lang="en-US" altLang="en-US" sz="2200" b="1" dirty="0"/>
              <a:t>Hashing</a:t>
            </a:r>
            <a:r>
              <a:rPr lang="en-US" altLang="en-US" sz="2200" dirty="0"/>
              <a:t> is a technique that retrieves the value using the index obtained from key without performing a search.</a:t>
            </a:r>
          </a:p>
        </p:txBody>
      </p:sp>
    </p:spTree>
    <p:extLst>
      <p:ext uri="{BB962C8B-B14F-4D97-AF65-F5344CB8AC3E}">
        <p14:creationId xmlns:p14="http://schemas.microsoft.com/office/powerpoint/2010/main" val="4166477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p:cNvSpPr>
            <a:spLocks noGrp="1"/>
          </p:cNvSpPr>
          <p:nvPr>
            <p:ph type="title"/>
          </p:nvPr>
        </p:nvSpPr>
        <p:spPr/>
        <p:txBody>
          <a:bodyPr/>
          <a:lstStyle/>
          <a:p>
            <a:r>
              <a:rPr lang="en-US">
                <a:latin typeface="Tahoma" charset="0"/>
              </a:rPr>
              <a:t>More General Kinds of Keys</a:t>
            </a:r>
          </a:p>
        </p:txBody>
      </p:sp>
      <p:sp>
        <p:nvSpPr>
          <p:cNvPr id="10242" name="Content Placeholder 2" descr="Rectangle: Click to edit Master text styles&#10;Second level&#10;Third level&#10;Fourth level&#10;Fifth level"/>
          <p:cNvSpPr>
            <a:spLocks noGrp="1"/>
          </p:cNvSpPr>
          <p:nvPr>
            <p:ph idx="1"/>
          </p:nvPr>
        </p:nvSpPr>
        <p:spPr>
          <a:xfrm>
            <a:off x="2209800" y="1447800"/>
            <a:ext cx="8153400" cy="4953000"/>
          </a:xfrm>
        </p:spPr>
        <p:txBody>
          <a:bodyPr/>
          <a:lstStyle/>
          <a:p>
            <a:r>
              <a:rPr lang="en-US">
                <a:latin typeface="Tahoma" charset="0"/>
              </a:rPr>
              <a:t>But what should we do if our keys are not integers in the range from 0 to N – 1?</a:t>
            </a:r>
          </a:p>
          <a:p>
            <a:pPr lvl="1"/>
            <a:r>
              <a:rPr lang="en-US">
                <a:latin typeface="Tahoma" charset="0"/>
              </a:rPr>
              <a:t>Use a </a:t>
            </a:r>
            <a:r>
              <a:rPr lang="en-US" b="1">
                <a:latin typeface="Tahoma" charset="0"/>
              </a:rPr>
              <a:t>hash function </a:t>
            </a:r>
            <a:r>
              <a:rPr lang="en-US">
                <a:latin typeface="Tahoma" charset="0"/>
              </a:rPr>
              <a:t>to map general keys to corresponding indices in a table.</a:t>
            </a:r>
          </a:p>
          <a:p>
            <a:pPr lvl="1"/>
            <a:r>
              <a:rPr lang="en-US">
                <a:latin typeface="Tahoma" charset="0"/>
              </a:rPr>
              <a:t>For instance, the last four digits of a Social Security number.</a:t>
            </a:r>
          </a:p>
        </p:txBody>
      </p:sp>
      <p:sp>
        <p:nvSpPr>
          <p:cNvPr id="5" name="Footer Placeholder 4"/>
          <p:cNvSpPr>
            <a:spLocks noGrp="1"/>
          </p:cNvSpPr>
          <p:nvPr>
            <p:ph type="ftr" sz="quarter" idx="11"/>
          </p:nvPr>
        </p:nvSpPr>
        <p:spPr/>
        <p:txBody>
          <a:bodyPr/>
          <a:lstStyle/>
          <a:p>
            <a:pPr>
              <a:defRPr/>
            </a:pPr>
            <a:r>
              <a:rPr lang="en-US" dirty="0"/>
              <a:t>Hash Tables</a:t>
            </a:r>
          </a:p>
        </p:txBody>
      </p:sp>
      <p:sp>
        <p:nvSpPr>
          <p:cNvPr id="10245" name="Slide Number Placeholder 5"/>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C8880455-608B-4D49-A079-025340FE0590}" type="slidenum">
              <a:rPr lang="en-US" sz="1400"/>
              <a:pPr eaLnBrk="1" hangingPunct="1"/>
              <a:t>17</a:t>
            </a:fld>
            <a:endParaRPr lang="en-US" sz="1400"/>
          </a:p>
        </p:txBody>
      </p:sp>
      <p:sp>
        <p:nvSpPr>
          <p:cNvPr id="10246" name="Rectangle 384"/>
          <p:cNvSpPr>
            <a:spLocks noChangeArrowheads="1"/>
          </p:cNvSpPr>
          <p:nvPr/>
        </p:nvSpPr>
        <p:spPr bwMode="auto">
          <a:xfrm>
            <a:off x="5289550" y="4114800"/>
            <a:ext cx="304800" cy="304800"/>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r>
              <a:rPr lang="en-US">
                <a:sym typeface="Symbol" charset="0"/>
              </a:rPr>
              <a:t></a:t>
            </a:r>
            <a:endParaRPr lang="en-US"/>
          </a:p>
        </p:txBody>
      </p:sp>
      <p:sp>
        <p:nvSpPr>
          <p:cNvPr id="10247" name="Rectangle 385"/>
          <p:cNvSpPr>
            <a:spLocks noChangeArrowheads="1"/>
          </p:cNvSpPr>
          <p:nvPr/>
        </p:nvSpPr>
        <p:spPr bwMode="auto">
          <a:xfrm>
            <a:off x="5289550" y="4419600"/>
            <a:ext cx="304800" cy="304800"/>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10248" name="Rectangle 386"/>
          <p:cNvSpPr>
            <a:spLocks noChangeArrowheads="1"/>
          </p:cNvSpPr>
          <p:nvPr/>
        </p:nvSpPr>
        <p:spPr bwMode="auto">
          <a:xfrm>
            <a:off x="5289550" y="4724400"/>
            <a:ext cx="304800" cy="304800"/>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sym typeface="Symbol" charset="0"/>
            </a:endParaRPr>
          </a:p>
        </p:txBody>
      </p:sp>
      <p:sp>
        <p:nvSpPr>
          <p:cNvPr id="10249" name="Rectangle 387"/>
          <p:cNvSpPr>
            <a:spLocks noChangeArrowheads="1"/>
          </p:cNvSpPr>
          <p:nvPr/>
        </p:nvSpPr>
        <p:spPr bwMode="auto">
          <a:xfrm>
            <a:off x="5289550" y="5029200"/>
            <a:ext cx="304800" cy="304800"/>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r>
              <a:rPr lang="en-US">
                <a:sym typeface="Symbol" charset="0"/>
              </a:rPr>
              <a:t></a:t>
            </a:r>
          </a:p>
        </p:txBody>
      </p:sp>
      <p:sp>
        <p:nvSpPr>
          <p:cNvPr id="10250" name="Rectangle 388"/>
          <p:cNvSpPr>
            <a:spLocks noChangeArrowheads="1"/>
          </p:cNvSpPr>
          <p:nvPr/>
        </p:nvSpPr>
        <p:spPr bwMode="auto">
          <a:xfrm>
            <a:off x="5289550" y="5334000"/>
            <a:ext cx="304800" cy="304800"/>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p>
            <a:endParaRPr lang="en-US"/>
          </a:p>
        </p:txBody>
      </p:sp>
      <p:sp>
        <p:nvSpPr>
          <p:cNvPr id="10251" name="Text Box 392"/>
          <p:cNvSpPr txBox="1">
            <a:spLocks noChangeArrowheads="1"/>
          </p:cNvSpPr>
          <p:nvPr/>
        </p:nvSpPr>
        <p:spPr bwMode="auto">
          <a:xfrm>
            <a:off x="4953000" y="4038600"/>
            <a:ext cx="3365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0</a:t>
            </a:r>
          </a:p>
        </p:txBody>
      </p:sp>
      <p:sp>
        <p:nvSpPr>
          <p:cNvPr id="10252" name="Text Box 393"/>
          <p:cNvSpPr txBox="1">
            <a:spLocks noChangeArrowheads="1"/>
          </p:cNvSpPr>
          <p:nvPr/>
        </p:nvSpPr>
        <p:spPr bwMode="auto">
          <a:xfrm>
            <a:off x="4953000" y="4343400"/>
            <a:ext cx="3365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1</a:t>
            </a:r>
          </a:p>
        </p:txBody>
      </p:sp>
      <p:sp>
        <p:nvSpPr>
          <p:cNvPr id="10253" name="Text Box 394"/>
          <p:cNvSpPr txBox="1">
            <a:spLocks noChangeArrowheads="1"/>
          </p:cNvSpPr>
          <p:nvPr/>
        </p:nvSpPr>
        <p:spPr bwMode="auto">
          <a:xfrm>
            <a:off x="4953000" y="4648200"/>
            <a:ext cx="3365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2</a:t>
            </a:r>
          </a:p>
        </p:txBody>
      </p:sp>
      <p:sp>
        <p:nvSpPr>
          <p:cNvPr id="10254" name="Text Box 395"/>
          <p:cNvSpPr txBox="1">
            <a:spLocks noChangeArrowheads="1"/>
          </p:cNvSpPr>
          <p:nvPr/>
        </p:nvSpPr>
        <p:spPr bwMode="auto">
          <a:xfrm>
            <a:off x="4953000" y="4953000"/>
            <a:ext cx="3365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3</a:t>
            </a:r>
          </a:p>
        </p:txBody>
      </p:sp>
      <p:sp>
        <p:nvSpPr>
          <p:cNvPr id="10255" name="Text Box 396"/>
          <p:cNvSpPr txBox="1">
            <a:spLocks noChangeArrowheads="1"/>
          </p:cNvSpPr>
          <p:nvPr/>
        </p:nvSpPr>
        <p:spPr bwMode="auto">
          <a:xfrm>
            <a:off x="4953000" y="5257800"/>
            <a:ext cx="3365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4</a:t>
            </a:r>
          </a:p>
        </p:txBody>
      </p:sp>
      <p:sp>
        <p:nvSpPr>
          <p:cNvPr id="10256" name="AutoShape 401"/>
          <p:cNvSpPr>
            <a:spLocks noChangeArrowheads="1"/>
          </p:cNvSpPr>
          <p:nvPr/>
        </p:nvSpPr>
        <p:spPr bwMode="auto">
          <a:xfrm>
            <a:off x="5867400" y="5334000"/>
            <a:ext cx="1600200" cy="304800"/>
          </a:xfrm>
          <a:prstGeom prst="roundRect">
            <a:avLst>
              <a:gd name="adj" fmla="val 16667"/>
            </a:avLst>
          </a:prstGeom>
          <a:solidFill>
            <a:schemeClr val="accent1"/>
          </a:solidFill>
          <a:ln w="19050">
            <a:solidFill>
              <a:schemeClr val="tx1"/>
            </a:solidFill>
            <a:round/>
            <a:headEnd/>
            <a:tailEnd/>
          </a:ln>
        </p:spPr>
        <p:txBody>
          <a:bodyPr wrap="none" anchor="ctr"/>
          <a:lstStyle/>
          <a:p>
            <a:r>
              <a:rPr lang="en-US" sz="1600" b="1"/>
              <a:t>451-229-0004</a:t>
            </a:r>
          </a:p>
        </p:txBody>
      </p:sp>
      <p:sp>
        <p:nvSpPr>
          <p:cNvPr id="10257" name="AutoShape 402"/>
          <p:cNvSpPr>
            <a:spLocks noChangeArrowheads="1"/>
          </p:cNvSpPr>
          <p:nvPr/>
        </p:nvSpPr>
        <p:spPr bwMode="auto">
          <a:xfrm>
            <a:off x="5867400" y="4724400"/>
            <a:ext cx="1600200" cy="304800"/>
          </a:xfrm>
          <a:prstGeom prst="roundRect">
            <a:avLst>
              <a:gd name="adj" fmla="val 16667"/>
            </a:avLst>
          </a:prstGeom>
          <a:solidFill>
            <a:schemeClr val="accent1"/>
          </a:solidFill>
          <a:ln w="19050">
            <a:solidFill>
              <a:schemeClr val="tx1"/>
            </a:solidFill>
            <a:round/>
            <a:headEnd/>
            <a:tailEnd/>
          </a:ln>
        </p:spPr>
        <p:txBody>
          <a:bodyPr wrap="none" anchor="ctr"/>
          <a:lstStyle/>
          <a:p>
            <a:r>
              <a:rPr lang="en-US" sz="1600" b="1"/>
              <a:t>981-101-0002</a:t>
            </a:r>
          </a:p>
        </p:txBody>
      </p:sp>
      <p:sp>
        <p:nvSpPr>
          <p:cNvPr id="10258" name="Line 403"/>
          <p:cNvSpPr>
            <a:spLocks noChangeShapeType="1"/>
          </p:cNvSpPr>
          <p:nvPr/>
        </p:nvSpPr>
        <p:spPr bwMode="auto">
          <a:xfrm>
            <a:off x="5441950" y="5486400"/>
            <a:ext cx="425450" cy="0"/>
          </a:xfrm>
          <a:prstGeom prst="line">
            <a:avLst/>
          </a:prstGeom>
          <a:noFill/>
          <a:ln w="19050">
            <a:solidFill>
              <a:schemeClr val="tx1"/>
            </a:solidFill>
            <a:round/>
            <a:headEnd type="oval"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259" name="AutoShape 406"/>
          <p:cNvSpPr>
            <a:spLocks noChangeArrowheads="1"/>
          </p:cNvSpPr>
          <p:nvPr/>
        </p:nvSpPr>
        <p:spPr bwMode="auto">
          <a:xfrm>
            <a:off x="5867400" y="4419600"/>
            <a:ext cx="1600200" cy="304800"/>
          </a:xfrm>
          <a:prstGeom prst="roundRect">
            <a:avLst>
              <a:gd name="adj" fmla="val 16667"/>
            </a:avLst>
          </a:prstGeom>
          <a:solidFill>
            <a:schemeClr val="accent1"/>
          </a:solidFill>
          <a:ln w="19050">
            <a:solidFill>
              <a:schemeClr val="tx1"/>
            </a:solidFill>
            <a:round/>
            <a:headEnd/>
            <a:tailEnd/>
          </a:ln>
        </p:spPr>
        <p:txBody>
          <a:bodyPr wrap="none" anchor="ctr"/>
          <a:lstStyle/>
          <a:p>
            <a:r>
              <a:rPr lang="en-US" sz="1600" b="1"/>
              <a:t>025-612-0001</a:t>
            </a:r>
          </a:p>
        </p:txBody>
      </p:sp>
      <p:sp>
        <p:nvSpPr>
          <p:cNvPr id="10260" name="Line 407"/>
          <p:cNvSpPr>
            <a:spLocks noChangeShapeType="1"/>
          </p:cNvSpPr>
          <p:nvPr/>
        </p:nvSpPr>
        <p:spPr bwMode="auto">
          <a:xfrm>
            <a:off x="5441950" y="4572000"/>
            <a:ext cx="425450" cy="0"/>
          </a:xfrm>
          <a:prstGeom prst="line">
            <a:avLst/>
          </a:prstGeom>
          <a:noFill/>
          <a:ln w="19050">
            <a:solidFill>
              <a:schemeClr val="tx1"/>
            </a:solidFill>
            <a:round/>
            <a:headEnd type="oval"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261" name="Line 408"/>
          <p:cNvSpPr>
            <a:spLocks noChangeShapeType="1"/>
          </p:cNvSpPr>
          <p:nvPr/>
        </p:nvSpPr>
        <p:spPr bwMode="auto">
          <a:xfrm>
            <a:off x="5410200" y="4876800"/>
            <a:ext cx="425450" cy="0"/>
          </a:xfrm>
          <a:prstGeom prst="line">
            <a:avLst/>
          </a:prstGeom>
          <a:noFill/>
          <a:ln w="19050">
            <a:solidFill>
              <a:schemeClr val="tx1"/>
            </a:solidFill>
            <a:round/>
            <a:headEnd type="oval" w="med" len="med"/>
            <a:tailEnd type="triangle" w="med" len="med"/>
          </a:ln>
          <a:extLst>
            <a:ext uri="{909E8E84-426E-40dd-AFC4-6F175D3DCCD1}">
              <a14:hiddenFill xmlns="" xmlns:a14="http://schemas.microsoft.com/office/drawing/2010/main">
                <a:noFill/>
              </a14:hiddenFill>
            </a:ext>
          </a:extLst>
        </p:spPr>
        <p:txBody>
          <a:bodyPr wrap="none" anchor="ctr"/>
          <a:lstStyle/>
          <a:p>
            <a:endParaRPr lang="en-US"/>
          </a:p>
        </p:txBody>
      </p:sp>
      <p:sp>
        <p:nvSpPr>
          <p:cNvPr id="10262" name="Text Box 20"/>
          <p:cNvSpPr txBox="1">
            <a:spLocks noChangeArrowheads="1"/>
          </p:cNvSpPr>
          <p:nvPr/>
        </p:nvSpPr>
        <p:spPr bwMode="auto">
          <a:xfrm rot="5400000">
            <a:off x="5318125" y="5730875"/>
            <a:ext cx="4889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9050">
                <a:solidFill>
                  <a:srgbClr val="000000"/>
                </a:solidFill>
                <a:miter lim="800000"/>
                <a:headEnd/>
                <a:tailEnd/>
              </a14:hiddenLine>
            </a:ext>
          </a:extLst>
        </p:spPr>
        <p:txBody>
          <a:bodyPr wrap="none">
            <a:spAutoFit/>
          </a:bodyPr>
          <a:lstStyle>
            <a:lvl1pPr eaLnBrk="0" hangingPunct="0">
              <a:defRPr sz="2400">
                <a:solidFill>
                  <a:schemeClr val="tx1"/>
                </a:solidFill>
                <a:latin typeface="Tahoma" charset="0"/>
                <a:ea typeface="ＭＳ Ｐゴシック" charset="0"/>
                <a:cs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a:latin typeface="Times New Roman" charset="0"/>
              </a:rPr>
              <a:t>…</a:t>
            </a:r>
          </a:p>
        </p:txBody>
      </p:sp>
    </p:spTree>
    <p:extLst>
      <p:ext uri="{BB962C8B-B14F-4D97-AF65-F5344CB8AC3E}">
        <p14:creationId xmlns:p14="http://schemas.microsoft.com/office/powerpoint/2010/main" val="2983317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itle 4"/>
          <p:cNvSpPr txBox="1">
            <a:spLocks noGrp="1"/>
          </p:cNvSpPr>
          <p:nvPr>
            <p:ph type="title"/>
          </p:nvPr>
        </p:nvSpPr>
        <p:spPr>
          <a:xfrm>
            <a:off x="1773766" y="0"/>
            <a:ext cx="8513234" cy="816042"/>
          </a:xfrm>
          <a:prstGeom prst="rect">
            <a:avLst/>
          </a:prstGeom>
        </p:spPr>
        <p:txBody>
          <a:bodyPr/>
          <a:lstStyle/>
          <a:p>
            <a:pPr algn="ctr"/>
            <a:r>
              <a:rPr dirty="0"/>
              <a:t>Hashing</a:t>
            </a:r>
          </a:p>
        </p:txBody>
      </p:sp>
      <p:sp>
        <p:nvSpPr>
          <p:cNvPr id="50" name="Content Placeholder 5"/>
          <p:cNvSpPr txBox="1">
            <a:spLocks noGrp="1"/>
          </p:cNvSpPr>
          <p:nvPr>
            <p:ph type="body" idx="1"/>
          </p:nvPr>
        </p:nvSpPr>
        <p:spPr>
          <a:prstGeom prst="rect">
            <a:avLst/>
          </a:prstGeom>
        </p:spPr>
        <p:txBody>
          <a:bodyPr/>
          <a:lstStyle/>
          <a:p>
            <a:r>
              <a:rPr dirty="0"/>
              <a:t>A technique that determines an index into a table using only an entry’s search key</a:t>
            </a:r>
          </a:p>
          <a:p>
            <a:r>
              <a:rPr dirty="0"/>
              <a:t>Hash function </a:t>
            </a:r>
          </a:p>
          <a:p>
            <a:pPr lvl="1"/>
            <a:r>
              <a:rPr dirty="0"/>
              <a:t>Takes a search key and produces the integer index of an element in the hash table</a:t>
            </a:r>
          </a:p>
          <a:p>
            <a:pPr lvl="1"/>
            <a:r>
              <a:rPr dirty="0"/>
              <a:t>Search key is mapped, or hashed, to the index</a:t>
            </a:r>
          </a:p>
        </p:txBody>
      </p:sp>
      <p:graphicFrame>
        <p:nvGraphicFramePr>
          <p:cNvPr id="2" name="Table 2">
            <a:extLst>
              <a:ext uri="{FF2B5EF4-FFF2-40B4-BE49-F238E27FC236}">
                <a16:creationId xmlns:a16="http://schemas.microsoft.com/office/drawing/2014/main" id="{35C65ED5-C2E4-4373-B3E3-1A064BF260EF}"/>
              </a:ext>
            </a:extLst>
          </p:cNvPr>
          <p:cNvGraphicFramePr>
            <a:graphicFrameLocks noGrp="1"/>
          </p:cNvGraphicFramePr>
          <p:nvPr>
            <p:extLst>
              <p:ext uri="{D42A27DB-BD31-4B8C-83A1-F6EECF244321}">
                <p14:modId xmlns:p14="http://schemas.microsoft.com/office/powerpoint/2010/main" val="67350400"/>
              </p:ext>
            </p:extLst>
          </p:nvPr>
        </p:nvGraphicFramePr>
        <p:xfrm>
          <a:off x="1632989" y="5108786"/>
          <a:ext cx="8128000" cy="37084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1862451236"/>
                    </a:ext>
                  </a:extLst>
                </a:gridCol>
                <a:gridCol w="1016000">
                  <a:extLst>
                    <a:ext uri="{9D8B030D-6E8A-4147-A177-3AD203B41FA5}">
                      <a16:colId xmlns:a16="http://schemas.microsoft.com/office/drawing/2014/main" val="931493228"/>
                    </a:ext>
                  </a:extLst>
                </a:gridCol>
                <a:gridCol w="1016000">
                  <a:extLst>
                    <a:ext uri="{9D8B030D-6E8A-4147-A177-3AD203B41FA5}">
                      <a16:colId xmlns:a16="http://schemas.microsoft.com/office/drawing/2014/main" val="1320346374"/>
                    </a:ext>
                  </a:extLst>
                </a:gridCol>
                <a:gridCol w="1016000">
                  <a:extLst>
                    <a:ext uri="{9D8B030D-6E8A-4147-A177-3AD203B41FA5}">
                      <a16:colId xmlns:a16="http://schemas.microsoft.com/office/drawing/2014/main" val="2965156699"/>
                    </a:ext>
                  </a:extLst>
                </a:gridCol>
                <a:gridCol w="1016000">
                  <a:extLst>
                    <a:ext uri="{9D8B030D-6E8A-4147-A177-3AD203B41FA5}">
                      <a16:colId xmlns:a16="http://schemas.microsoft.com/office/drawing/2014/main" val="217644726"/>
                    </a:ext>
                  </a:extLst>
                </a:gridCol>
                <a:gridCol w="1016000">
                  <a:extLst>
                    <a:ext uri="{9D8B030D-6E8A-4147-A177-3AD203B41FA5}">
                      <a16:colId xmlns:a16="http://schemas.microsoft.com/office/drawing/2014/main" val="718859727"/>
                    </a:ext>
                  </a:extLst>
                </a:gridCol>
                <a:gridCol w="1016000">
                  <a:extLst>
                    <a:ext uri="{9D8B030D-6E8A-4147-A177-3AD203B41FA5}">
                      <a16:colId xmlns:a16="http://schemas.microsoft.com/office/drawing/2014/main" val="339882858"/>
                    </a:ext>
                  </a:extLst>
                </a:gridCol>
                <a:gridCol w="1016000">
                  <a:extLst>
                    <a:ext uri="{9D8B030D-6E8A-4147-A177-3AD203B41FA5}">
                      <a16:colId xmlns:a16="http://schemas.microsoft.com/office/drawing/2014/main" val="836098461"/>
                    </a:ext>
                  </a:extLst>
                </a:gridCol>
              </a:tblGrid>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46022701"/>
                  </a:ext>
                </a:extLst>
              </a:tr>
            </a:tbl>
          </a:graphicData>
        </a:graphic>
      </p:graphicFrame>
      <p:cxnSp>
        <p:nvCxnSpPr>
          <p:cNvPr id="5" name="Straight Arrow Connector 4">
            <a:extLst>
              <a:ext uri="{FF2B5EF4-FFF2-40B4-BE49-F238E27FC236}">
                <a16:creationId xmlns:a16="http://schemas.microsoft.com/office/drawing/2014/main" id="{AD806181-8C9E-4134-A9CB-AD311F890937}"/>
              </a:ext>
            </a:extLst>
          </p:cNvPr>
          <p:cNvCxnSpPr/>
          <p:nvPr/>
        </p:nvCxnSpPr>
        <p:spPr>
          <a:xfrm>
            <a:off x="1113905" y="4915593"/>
            <a:ext cx="387928" cy="1330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F218EF8-4100-4707-95D3-EFF9B8F32F1B}"/>
              </a:ext>
            </a:extLst>
          </p:cNvPr>
          <p:cNvSpPr txBox="1"/>
          <p:nvPr/>
        </p:nvSpPr>
        <p:spPr>
          <a:xfrm>
            <a:off x="552084" y="4494414"/>
            <a:ext cx="1123641" cy="369332"/>
          </a:xfrm>
          <a:prstGeom prst="rect">
            <a:avLst/>
          </a:prstGeom>
          <a:noFill/>
        </p:spPr>
        <p:txBody>
          <a:bodyPr wrap="none" rtlCol="0">
            <a:spAutoFit/>
          </a:bodyPr>
          <a:lstStyle/>
          <a:p>
            <a:r>
              <a:rPr lang="en-US" dirty="0" err="1"/>
              <a:t>hashTable</a:t>
            </a:r>
            <a:endParaRPr lang="en-US" dirty="0"/>
          </a:p>
        </p:txBody>
      </p:sp>
      <p:sp>
        <p:nvSpPr>
          <p:cNvPr id="7" name="TextBox 6">
            <a:extLst>
              <a:ext uri="{FF2B5EF4-FFF2-40B4-BE49-F238E27FC236}">
                <a16:creationId xmlns:a16="http://schemas.microsoft.com/office/drawing/2014/main" id="{F457244A-0365-4465-8488-FDCF3F7B95E2}"/>
              </a:ext>
            </a:extLst>
          </p:cNvPr>
          <p:cNvSpPr txBox="1"/>
          <p:nvPr/>
        </p:nvSpPr>
        <p:spPr>
          <a:xfrm>
            <a:off x="1965225" y="4739454"/>
            <a:ext cx="301686" cy="369332"/>
          </a:xfrm>
          <a:prstGeom prst="rect">
            <a:avLst/>
          </a:prstGeom>
          <a:noFill/>
        </p:spPr>
        <p:txBody>
          <a:bodyPr wrap="none" rtlCol="0">
            <a:spAutoFit/>
          </a:bodyPr>
          <a:lstStyle/>
          <a:p>
            <a:r>
              <a:rPr lang="en-US" dirty="0"/>
              <a:t>0</a:t>
            </a:r>
          </a:p>
        </p:txBody>
      </p:sp>
      <p:sp>
        <p:nvSpPr>
          <p:cNvPr id="12" name="TextBox 11">
            <a:extLst>
              <a:ext uri="{FF2B5EF4-FFF2-40B4-BE49-F238E27FC236}">
                <a16:creationId xmlns:a16="http://schemas.microsoft.com/office/drawing/2014/main" id="{9AAFDC82-FB73-4ED9-9544-6F43CE4C677E}"/>
              </a:ext>
            </a:extLst>
          </p:cNvPr>
          <p:cNvSpPr txBox="1"/>
          <p:nvPr/>
        </p:nvSpPr>
        <p:spPr>
          <a:xfrm>
            <a:off x="8733694" y="4730927"/>
            <a:ext cx="1326838" cy="369332"/>
          </a:xfrm>
          <a:prstGeom prst="rect">
            <a:avLst/>
          </a:prstGeom>
          <a:noFill/>
        </p:spPr>
        <p:txBody>
          <a:bodyPr wrap="none" rtlCol="0">
            <a:spAutoFit/>
          </a:bodyPr>
          <a:lstStyle/>
          <a:p>
            <a:r>
              <a:rPr lang="en-US" dirty="0"/>
              <a:t>Table_size-1</a:t>
            </a:r>
          </a:p>
        </p:txBody>
      </p:sp>
      <p:sp>
        <p:nvSpPr>
          <p:cNvPr id="8" name="TextBox 7">
            <a:extLst>
              <a:ext uri="{FF2B5EF4-FFF2-40B4-BE49-F238E27FC236}">
                <a16:creationId xmlns:a16="http://schemas.microsoft.com/office/drawing/2014/main" id="{519455A1-51FB-4F7A-AF5F-FB3EB27D175B}"/>
              </a:ext>
            </a:extLst>
          </p:cNvPr>
          <p:cNvSpPr txBox="1"/>
          <p:nvPr/>
        </p:nvSpPr>
        <p:spPr>
          <a:xfrm>
            <a:off x="3247833" y="6361629"/>
            <a:ext cx="1813766" cy="369332"/>
          </a:xfrm>
          <a:prstGeom prst="rect">
            <a:avLst/>
          </a:prstGeom>
          <a:noFill/>
        </p:spPr>
        <p:txBody>
          <a:bodyPr wrap="none" rtlCol="0">
            <a:spAutoFit/>
          </a:bodyPr>
          <a:lstStyle/>
          <a:p>
            <a:r>
              <a:rPr lang="en-US" dirty="0"/>
              <a:t>index = hash(key)</a:t>
            </a:r>
          </a:p>
        </p:txBody>
      </p:sp>
      <p:cxnSp>
        <p:nvCxnSpPr>
          <p:cNvPr id="13" name="Straight Arrow Connector 12">
            <a:extLst>
              <a:ext uri="{FF2B5EF4-FFF2-40B4-BE49-F238E27FC236}">
                <a16:creationId xmlns:a16="http://schemas.microsoft.com/office/drawing/2014/main" id="{2BF32E5E-256C-4287-B923-B2BF0D89C80D}"/>
              </a:ext>
            </a:extLst>
          </p:cNvPr>
          <p:cNvCxnSpPr>
            <a:cxnSpLocks/>
          </p:cNvCxnSpPr>
          <p:nvPr/>
        </p:nvCxnSpPr>
        <p:spPr>
          <a:xfrm flipV="1">
            <a:off x="3818313" y="6142694"/>
            <a:ext cx="1740131" cy="27930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5" name="Left Brace 14">
            <a:extLst>
              <a:ext uri="{FF2B5EF4-FFF2-40B4-BE49-F238E27FC236}">
                <a16:creationId xmlns:a16="http://schemas.microsoft.com/office/drawing/2014/main" id="{60C1E2C0-DB3A-43BC-B283-CAFE133EF1D7}"/>
              </a:ext>
            </a:extLst>
          </p:cNvPr>
          <p:cNvSpPr/>
          <p:nvPr/>
        </p:nvSpPr>
        <p:spPr>
          <a:xfrm rot="16200000">
            <a:off x="5323488" y="1848192"/>
            <a:ext cx="704516" cy="8170486"/>
          </a:xfrm>
          <a:prstGeom prst="leftBrace">
            <a:avLst>
              <a:gd name="adj1" fmla="val 8333"/>
              <a:gd name="adj2" fmla="val 51792"/>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406233986"/>
      </p:ext>
    </p:extLst>
  </p:cSld>
  <p:clrMapOvr>
    <a:masterClrMapping/>
  </p:clrMapOvr>
  <p:transition spd="med" advTm="63896"/>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2" grpId="0"/>
      <p:bldP spid="8" grpId="0"/>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4">
            <a:extLst>
              <a:ext uri="{FF2B5EF4-FFF2-40B4-BE49-F238E27FC236}">
                <a16:creationId xmlns:a16="http://schemas.microsoft.com/office/drawing/2014/main" id="{B4842622-FEF9-420F-9653-14FA4F7FE108}"/>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ABB4903-B94A-4D17-A4B5-D539CCC72428}" type="slidenum">
              <a:rPr lang="en-US" altLang="en-US" sz="1400"/>
              <a:pPr>
                <a:spcBef>
                  <a:spcPct val="0"/>
                </a:spcBef>
                <a:buClrTx/>
                <a:buSzTx/>
                <a:buFontTx/>
                <a:buNone/>
              </a:pPr>
              <a:t>19</a:t>
            </a:fld>
            <a:endParaRPr lang="en-US" altLang="en-US" sz="1400"/>
          </a:p>
        </p:txBody>
      </p:sp>
      <p:sp>
        <p:nvSpPr>
          <p:cNvPr id="9219" name="Rectangle 2">
            <a:extLst>
              <a:ext uri="{FF2B5EF4-FFF2-40B4-BE49-F238E27FC236}">
                <a16:creationId xmlns:a16="http://schemas.microsoft.com/office/drawing/2014/main" id="{B8EBE70C-FF0E-443C-A255-109787E92DA5}"/>
              </a:ext>
            </a:extLst>
          </p:cNvPr>
          <p:cNvSpPr>
            <a:spLocks noGrp="1" noChangeArrowheads="1"/>
          </p:cNvSpPr>
          <p:nvPr>
            <p:ph type="title"/>
          </p:nvPr>
        </p:nvSpPr>
        <p:spPr>
          <a:xfrm>
            <a:off x="2209800" y="285750"/>
            <a:ext cx="8153400" cy="634192"/>
          </a:xfrm>
        </p:spPr>
        <p:txBody>
          <a:bodyPr>
            <a:normAutofit fontScale="90000"/>
          </a:bodyPr>
          <a:lstStyle/>
          <a:p>
            <a:r>
              <a:rPr lang="en-US" altLang="en-US" dirty="0"/>
              <a:t>Hash Function and Hash Codes </a:t>
            </a:r>
          </a:p>
        </p:txBody>
      </p:sp>
      <p:sp>
        <p:nvSpPr>
          <p:cNvPr id="9220" name="Rectangle 4">
            <a:extLst>
              <a:ext uri="{FF2B5EF4-FFF2-40B4-BE49-F238E27FC236}">
                <a16:creationId xmlns:a16="http://schemas.microsoft.com/office/drawing/2014/main" id="{900046AF-382C-4A5E-B53C-7DCC63412316}"/>
              </a:ext>
            </a:extLst>
          </p:cNvPr>
          <p:cNvSpPr>
            <a:spLocks noChangeArrowheads="1"/>
          </p:cNvSpPr>
          <p:nvPr/>
        </p:nvSpPr>
        <p:spPr bwMode="auto">
          <a:xfrm>
            <a:off x="1524001" y="27600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1" name="Rectangle 5">
            <a:extLst>
              <a:ext uri="{FF2B5EF4-FFF2-40B4-BE49-F238E27FC236}">
                <a16:creationId xmlns:a16="http://schemas.microsoft.com/office/drawing/2014/main" id="{3B520188-8A9F-4CE3-8151-7DC5EBED8BAB}"/>
              </a:ext>
            </a:extLst>
          </p:cNvPr>
          <p:cNvSpPr>
            <a:spLocks noChangeArrowheads="1"/>
          </p:cNvSpPr>
          <p:nvPr/>
        </p:nvSpPr>
        <p:spPr bwMode="auto">
          <a:xfrm>
            <a:off x="1524001" y="27600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2" name="Text Box 6">
            <a:extLst>
              <a:ext uri="{FF2B5EF4-FFF2-40B4-BE49-F238E27FC236}">
                <a16:creationId xmlns:a16="http://schemas.microsoft.com/office/drawing/2014/main" id="{9CA202C3-503D-4626-B272-2FAAF1BABD6A}"/>
              </a:ext>
            </a:extLst>
          </p:cNvPr>
          <p:cNvSpPr txBox="1">
            <a:spLocks noChangeArrowheads="1"/>
          </p:cNvSpPr>
          <p:nvPr/>
        </p:nvSpPr>
        <p:spPr bwMode="auto">
          <a:xfrm>
            <a:off x="1790700" y="898097"/>
            <a:ext cx="8610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dirty="0"/>
              <a:t>A typical hash function:</a:t>
            </a:r>
          </a:p>
          <a:p>
            <a:pPr>
              <a:spcBef>
                <a:spcPct val="0"/>
              </a:spcBef>
              <a:buClrTx/>
              <a:buSzTx/>
              <a:buFont typeface="+mj-lt"/>
              <a:buAutoNum type="arabicPeriod"/>
            </a:pPr>
            <a:r>
              <a:rPr lang="en-US" altLang="en-US" sz="2400" dirty="0"/>
              <a:t> first converts a search key to an integer value called a </a:t>
            </a:r>
            <a:r>
              <a:rPr lang="en-US" altLang="en-US" sz="2400" i="1" dirty="0"/>
              <a:t>hash code</a:t>
            </a:r>
            <a:r>
              <a:rPr lang="en-US" altLang="en-US" sz="2400" dirty="0"/>
              <a:t>, </a:t>
            </a:r>
          </a:p>
          <a:p>
            <a:pPr>
              <a:spcBef>
                <a:spcPct val="0"/>
              </a:spcBef>
              <a:buClrTx/>
              <a:buSzTx/>
              <a:buFont typeface="+mj-lt"/>
              <a:buAutoNum type="arabicPeriod"/>
            </a:pPr>
            <a:r>
              <a:rPr lang="en-US" altLang="en-US" sz="2400" dirty="0"/>
              <a:t>Compresses the hash code into an index to the hash table. </a:t>
            </a:r>
          </a:p>
        </p:txBody>
      </p:sp>
      <p:sp>
        <p:nvSpPr>
          <p:cNvPr id="9223" name="Rectangle 8">
            <a:extLst>
              <a:ext uri="{FF2B5EF4-FFF2-40B4-BE49-F238E27FC236}">
                <a16:creationId xmlns:a16="http://schemas.microsoft.com/office/drawing/2014/main" id="{6C297739-D2E8-4CA0-96E5-FC90922A5640}"/>
              </a:ext>
            </a:extLst>
          </p:cNvPr>
          <p:cNvSpPr>
            <a:spLocks noChangeArrowheads="1"/>
          </p:cNvSpPr>
          <p:nvPr/>
        </p:nvSpPr>
        <p:spPr bwMode="auto">
          <a:xfrm>
            <a:off x="1524001" y="15789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4" name="Rectangle 10">
            <a:extLst>
              <a:ext uri="{FF2B5EF4-FFF2-40B4-BE49-F238E27FC236}">
                <a16:creationId xmlns:a16="http://schemas.microsoft.com/office/drawing/2014/main" id="{203532BB-AA34-4092-A748-0A5DED10DC12}"/>
              </a:ext>
            </a:extLst>
          </p:cNvPr>
          <p:cNvSpPr>
            <a:spLocks noChangeArrowheads="1"/>
          </p:cNvSpPr>
          <p:nvPr/>
        </p:nvSpPr>
        <p:spPr bwMode="auto">
          <a:xfrm>
            <a:off x="1524001" y="242505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5" name="Rectangle 11">
            <a:extLst>
              <a:ext uri="{FF2B5EF4-FFF2-40B4-BE49-F238E27FC236}">
                <a16:creationId xmlns:a16="http://schemas.microsoft.com/office/drawing/2014/main" id="{75E42FFD-DA72-44F1-A6D5-C20DC5D1FF51}"/>
              </a:ext>
            </a:extLst>
          </p:cNvPr>
          <p:cNvSpPr>
            <a:spLocks noChangeArrowheads="1"/>
          </p:cNvSpPr>
          <p:nvPr/>
        </p:nvSpPr>
        <p:spPr bwMode="auto">
          <a:xfrm>
            <a:off x="1524001" y="397128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9226" name="Picture 11">
            <a:extLst>
              <a:ext uri="{FF2B5EF4-FFF2-40B4-BE49-F238E27FC236}">
                <a16:creationId xmlns:a16="http://schemas.microsoft.com/office/drawing/2014/main" id="{B8308B7A-100E-4526-8FFE-89332DFD9E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4150" y="2815244"/>
            <a:ext cx="6819900" cy="4090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2033018671"/>
      </p:ext>
    </p:extLst>
  </p:cSld>
  <p:clrMapOvr>
    <a:masterClrMapping/>
  </p:clrMapOvr>
  <mc:AlternateContent xmlns:mc="http://schemas.openxmlformats.org/markup-compatibility/2006" xmlns:p14="http://schemas.microsoft.com/office/powerpoint/2010/main">
    <mc:Choice Requires="p14">
      <p:transition spd="slow" p14:dur="2000" advTm="101854"/>
    </mc:Choice>
    <mc:Fallback xmlns="">
      <p:transition spd="slow" advTm="10185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itle 1"/>
          <p:cNvSpPr txBox="1">
            <a:spLocks noGrp="1"/>
          </p:cNvSpPr>
          <p:nvPr>
            <p:ph type="title"/>
          </p:nvPr>
        </p:nvSpPr>
        <p:spPr>
          <a:prstGeom prst="rect">
            <a:avLst/>
          </a:prstGeom>
        </p:spPr>
        <p:txBody>
          <a:bodyPr/>
          <a:lstStyle/>
          <a:p>
            <a:r>
              <a:t>Ideal Hashing</a:t>
            </a:r>
          </a:p>
        </p:txBody>
      </p:sp>
      <p:sp>
        <p:nvSpPr>
          <p:cNvPr id="57" name="Content Placeholder 2"/>
          <p:cNvSpPr txBox="1">
            <a:spLocks noGrp="1"/>
          </p:cNvSpPr>
          <p:nvPr>
            <p:ph type="body" sz="quarter" idx="1"/>
          </p:nvPr>
        </p:nvSpPr>
        <p:spPr>
          <a:prstGeom prst="rect">
            <a:avLst/>
          </a:prstGeom>
        </p:spPr>
        <p:txBody>
          <a:bodyPr/>
          <a:lstStyle>
            <a:lvl1pPr defTabSz="539495">
              <a:defRPr sz="2124"/>
            </a:lvl1pPr>
          </a:lstStyle>
          <a:p>
            <a:r>
              <a:rPr dirty="0"/>
              <a:t>Simple algorithms for the dictionary operations that add and retrieve</a:t>
            </a:r>
          </a:p>
        </p:txBody>
      </p:sp>
      <p:sp>
        <p:nvSpPr>
          <p:cNvPr id="58" name="Algorithm add(key, value)…"/>
          <p:cNvSpPr txBox="1"/>
          <p:nvPr/>
        </p:nvSpPr>
        <p:spPr>
          <a:xfrm>
            <a:off x="1196419" y="2561479"/>
            <a:ext cx="8584399" cy="2107628"/>
          </a:xfrm>
          <a:prstGeom prst="rect">
            <a:avLst/>
          </a:prstGeom>
          <a:ln w="12700">
            <a:miter lim="400000"/>
          </a:ln>
          <a:extLst>
            <a:ext uri="{C572A759-6A51-4108-AA02-DFA0A04FC94B}">
              <ma14:wrappingTextBoxFlag xmlns="" xmlns:ma14="http://schemas.microsoft.com/office/mac/drawingml/2011/main" val="1"/>
            </a:ext>
          </a:extLst>
        </p:spPr>
        <p:txBody>
          <a:bodyPr wrap="none" lIns="45719" rIns="45719">
            <a:spAutoFit/>
          </a:bodyPr>
          <a:lstStyle/>
          <a:p>
            <a:pPr eaLnBrk="1" hangingPunct="1">
              <a:lnSpc>
                <a:spcPct val="120000"/>
              </a:lnSpc>
              <a:buFont typeface="Wingdings" pitchFamily="2" charset="2"/>
              <a:buChar char="q"/>
              <a:defRPr/>
            </a:pPr>
            <a:r>
              <a:rPr b="1" i="1" dirty="0">
                <a:latin typeface="Times"/>
                <a:ea typeface="Times"/>
                <a:cs typeface="Times"/>
                <a:sym typeface="Times"/>
              </a:rPr>
              <a:t> </a:t>
            </a:r>
            <a:r>
              <a:rPr lang="en-US" dirty="0">
                <a:solidFill>
                  <a:schemeClr val="tx2"/>
                </a:solidFill>
              </a:rPr>
              <a:t>put</a:t>
            </a:r>
            <a:r>
              <a:rPr lang="en-US" dirty="0"/>
              <a:t>(k, v): </a:t>
            </a:r>
          </a:p>
          <a:p>
            <a:pPr eaLnBrk="1" hangingPunct="1">
              <a:lnSpc>
                <a:spcPct val="120000"/>
              </a:lnSpc>
              <a:defRPr/>
            </a:pPr>
            <a:r>
              <a:rPr lang="en-US" dirty="0"/>
              <a:t>insert entry (k, v) into the map M; if key k is not already in M, </a:t>
            </a:r>
          </a:p>
          <a:p>
            <a:pPr eaLnBrk="1" hangingPunct="1">
              <a:lnSpc>
                <a:spcPct val="120000"/>
              </a:lnSpc>
              <a:defRPr/>
            </a:pPr>
            <a:r>
              <a:rPr lang="en-US" dirty="0"/>
              <a:t>then return </a:t>
            </a:r>
            <a:r>
              <a:rPr lang="en-US" dirty="0">
                <a:solidFill>
                  <a:srgbClr val="000000"/>
                </a:solidFill>
              </a:rPr>
              <a:t>null</a:t>
            </a:r>
            <a:r>
              <a:rPr lang="en-US" dirty="0"/>
              <a:t>; else, return old value associated with k</a:t>
            </a:r>
          </a:p>
          <a:p>
            <a:pPr marR="1106828" defTabSz="457200">
              <a:spcBef>
                <a:spcPts val="600"/>
              </a:spcBef>
              <a:defRPr sz="1800"/>
            </a:pPr>
            <a:endParaRPr lang="en-US" b="1" dirty="0"/>
          </a:p>
          <a:p>
            <a:pPr marR="1106828" defTabSz="457200">
              <a:spcBef>
                <a:spcPts val="600"/>
              </a:spcBef>
              <a:defRPr sz="1800"/>
            </a:pPr>
            <a:endParaRPr lang="en-US" b="1" dirty="0"/>
          </a:p>
          <a:p>
            <a:pPr eaLnBrk="1" hangingPunct="1">
              <a:lnSpc>
                <a:spcPct val="120000"/>
              </a:lnSpc>
              <a:buFont typeface="Wingdings" pitchFamily="2" charset="2"/>
              <a:buChar char="q"/>
              <a:defRPr/>
            </a:pPr>
            <a:r>
              <a:rPr lang="en-US" dirty="0">
                <a:solidFill>
                  <a:schemeClr val="tx2"/>
                </a:solidFill>
              </a:rPr>
              <a:t>get</a:t>
            </a:r>
            <a:r>
              <a:rPr lang="en-US" dirty="0"/>
              <a:t>(k): if the map M has an entry with key k, return its associated value; else, return null </a:t>
            </a:r>
          </a:p>
        </p:txBody>
      </p:sp>
    </p:spTree>
    <p:extLst>
      <p:ext uri="{BB962C8B-B14F-4D97-AF65-F5344CB8AC3E}">
        <p14:creationId xmlns:p14="http://schemas.microsoft.com/office/powerpoint/2010/main" val="1338202266"/>
      </p:ext>
    </p:extLst>
  </p:cSld>
  <p:clrMapOvr>
    <a:masterClrMapping/>
  </p:clrMapOvr>
  <p:transition spd="med" advTm="56425"/>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Footer Placeholder 5"/>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r>
              <a:rPr lang="en-US" sz="1400"/>
              <a:t>Hash Tables</a:t>
            </a:r>
          </a:p>
        </p:txBody>
      </p:sp>
      <p:sp>
        <p:nvSpPr>
          <p:cNvPr id="1028" name="Slide Number Placeholder 6"/>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24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24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24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2400">
                <a:solidFill>
                  <a:schemeClr val="tx1"/>
                </a:solidFill>
                <a:latin typeface="Tahoma" charset="0"/>
                <a:ea typeface="ＭＳ Ｐゴシック" charset="0"/>
              </a:defRPr>
            </a:lvl9pPr>
          </a:lstStyle>
          <a:p>
            <a:pPr eaLnBrk="1" hangingPunct="1"/>
            <a:fld id="{5D54E005-E4B0-604F-8C72-0C64F3BB6FBF}" type="slidenum">
              <a:rPr lang="en-US" sz="1400"/>
              <a:pPr eaLnBrk="1" hangingPunct="1"/>
              <a:t>21</a:t>
            </a:fld>
            <a:endParaRPr lang="en-US" sz="1400"/>
          </a:p>
        </p:txBody>
      </p:sp>
      <p:sp>
        <p:nvSpPr>
          <p:cNvPr id="144386" name="Rectangle 1026"/>
          <p:cNvSpPr>
            <a:spLocks noGrp="1" noChangeArrowheads="1"/>
          </p:cNvSpPr>
          <p:nvPr>
            <p:ph type="title"/>
          </p:nvPr>
        </p:nvSpPr>
        <p:spPr>
          <a:xfrm>
            <a:off x="2133600" y="381000"/>
            <a:ext cx="5715000" cy="1143000"/>
          </a:xfrm>
        </p:spPr>
        <p:txBody>
          <a:bodyPr>
            <a:normAutofit fontScale="90000"/>
          </a:bodyPr>
          <a:lstStyle/>
          <a:p>
            <a:pPr eaLnBrk="1" hangingPunct="1">
              <a:defRPr/>
            </a:pPr>
            <a:r>
              <a:rPr lang="en-US" dirty="0">
                <a:ea typeface="+mj-ea"/>
              </a:rPr>
              <a:t>Hash Functions and Hash Tables</a:t>
            </a:r>
          </a:p>
        </p:txBody>
      </p:sp>
      <p:sp>
        <p:nvSpPr>
          <p:cNvPr id="1030" name="Rectangle 1027" descr="Rectangle: Click to edit Master text styles&#10;Second level&#10;Third level&#10;Fourth level&#10;Fifth level"/>
          <p:cNvSpPr>
            <a:spLocks noGrp="1" noChangeArrowheads="1"/>
          </p:cNvSpPr>
          <p:nvPr>
            <p:ph type="body" sz="half" idx="1"/>
          </p:nvPr>
        </p:nvSpPr>
        <p:spPr>
          <a:xfrm>
            <a:off x="2209800" y="1676400"/>
            <a:ext cx="8001000" cy="2590800"/>
          </a:xfrm>
        </p:spPr>
        <p:txBody>
          <a:bodyPr/>
          <a:lstStyle/>
          <a:p>
            <a:pPr eaLnBrk="1" hangingPunct="1"/>
            <a:r>
              <a:rPr lang="en-US" sz="2400" dirty="0">
                <a:latin typeface="Tahoma" charset="0"/>
              </a:rPr>
              <a:t>A </a:t>
            </a:r>
            <a:r>
              <a:rPr lang="en-US" sz="2400" dirty="0">
                <a:solidFill>
                  <a:schemeClr val="tx2"/>
                </a:solidFill>
                <a:latin typeface="Tahoma" charset="0"/>
              </a:rPr>
              <a:t>hash function</a:t>
            </a:r>
            <a:r>
              <a:rPr lang="en-US" sz="2400" dirty="0">
                <a:latin typeface="Tahoma" charset="0"/>
              </a:rPr>
              <a:t> </a:t>
            </a:r>
            <a:r>
              <a:rPr lang="en-US" sz="2400" b="1" i="1" dirty="0">
                <a:latin typeface="Times New Roman" charset="0"/>
              </a:rPr>
              <a:t>h</a:t>
            </a:r>
            <a:r>
              <a:rPr lang="en-US" sz="2400" dirty="0">
                <a:latin typeface="Tahoma" charset="0"/>
              </a:rPr>
              <a:t> maps keys of a given type to integers in a fixed interval </a:t>
            </a:r>
            <a:r>
              <a:rPr lang="en-US" sz="2400" dirty="0">
                <a:latin typeface="Times New Roman" charset="0"/>
              </a:rPr>
              <a:t>[0, </a:t>
            </a:r>
            <a:r>
              <a:rPr lang="en-US" sz="2400" b="1" i="1" dirty="0">
                <a:latin typeface="Times New Roman" charset="0"/>
              </a:rPr>
              <a:t>N</a:t>
            </a:r>
            <a:r>
              <a:rPr lang="en-US" sz="2400" b="1" i="1" dirty="0">
                <a:latin typeface="Symbol" charset="0"/>
              </a:rPr>
              <a:t> </a:t>
            </a:r>
            <a:r>
              <a:rPr lang="en-US" sz="2400" dirty="0">
                <a:latin typeface="Symbol" charset="0"/>
              </a:rPr>
              <a:t>- </a:t>
            </a:r>
            <a:r>
              <a:rPr lang="en-US" sz="2400" dirty="0">
                <a:latin typeface="Times New Roman" charset="0"/>
              </a:rPr>
              <a:t>1]</a:t>
            </a:r>
          </a:p>
          <a:p>
            <a:pPr eaLnBrk="1" hangingPunct="1"/>
            <a:r>
              <a:rPr lang="en-US" sz="2400" dirty="0">
                <a:latin typeface="Verdana" charset="0"/>
              </a:rPr>
              <a:t>Example:</a:t>
            </a:r>
            <a:br>
              <a:rPr lang="en-US" sz="2400" dirty="0">
                <a:latin typeface="Verdana" charset="0"/>
              </a:rPr>
            </a:br>
            <a:r>
              <a:rPr lang="en-US" sz="2400" dirty="0">
                <a:latin typeface="Verdana" charset="0"/>
              </a:rPr>
              <a:t>	</a:t>
            </a:r>
            <a:r>
              <a:rPr lang="en-US" sz="2400" b="1" i="1" dirty="0">
                <a:latin typeface="Times New Roman" charset="0"/>
              </a:rPr>
              <a:t>h</a:t>
            </a:r>
            <a:r>
              <a:rPr lang="en-US" sz="2400" dirty="0">
                <a:latin typeface="Times New Roman" charset="0"/>
              </a:rPr>
              <a:t>(</a:t>
            </a:r>
            <a:r>
              <a:rPr lang="en-US" sz="2400" b="1" i="1" dirty="0">
                <a:latin typeface="Times New Roman" charset="0"/>
              </a:rPr>
              <a:t>x</a:t>
            </a:r>
            <a:r>
              <a:rPr lang="en-US" sz="2400" dirty="0">
                <a:latin typeface="Times New Roman" charset="0"/>
              </a:rPr>
              <a:t>) </a:t>
            </a:r>
            <a:r>
              <a:rPr lang="en-US" sz="2400" dirty="0">
                <a:latin typeface="Symbol" charset="0"/>
              </a:rPr>
              <a:t>=</a:t>
            </a:r>
            <a:r>
              <a:rPr lang="en-US" sz="2400" dirty="0">
                <a:latin typeface="Times New Roman" charset="0"/>
              </a:rPr>
              <a:t> </a:t>
            </a:r>
            <a:r>
              <a:rPr lang="en-US" sz="2400" b="1" i="1" dirty="0">
                <a:latin typeface="Times New Roman" charset="0"/>
              </a:rPr>
              <a:t>x</a:t>
            </a:r>
            <a:r>
              <a:rPr lang="en-US" sz="2400" dirty="0">
                <a:latin typeface="Times New Roman" charset="0"/>
              </a:rPr>
              <a:t> mod </a:t>
            </a:r>
            <a:r>
              <a:rPr lang="en-US" sz="2400" b="1" i="1" dirty="0">
                <a:latin typeface="Times New Roman" charset="0"/>
              </a:rPr>
              <a:t>N</a:t>
            </a:r>
            <a:br>
              <a:rPr lang="en-US" sz="2400" b="1" i="1" dirty="0">
                <a:latin typeface="Times New Roman" charset="0"/>
              </a:rPr>
            </a:br>
            <a:r>
              <a:rPr lang="en-US" sz="2400" dirty="0">
                <a:latin typeface="Verdana" charset="0"/>
              </a:rPr>
              <a:t>is a hash function for integer keys</a:t>
            </a:r>
          </a:p>
          <a:p>
            <a:pPr eaLnBrk="1" hangingPunct="1"/>
            <a:r>
              <a:rPr lang="en-US" sz="2400" dirty="0">
                <a:latin typeface="Verdana" charset="0"/>
              </a:rPr>
              <a:t>The integer </a:t>
            </a:r>
            <a:r>
              <a:rPr lang="en-US" sz="2400" b="1" i="1" dirty="0">
                <a:latin typeface="Times New Roman" charset="0"/>
              </a:rPr>
              <a:t>h</a:t>
            </a:r>
            <a:r>
              <a:rPr lang="en-US" sz="2400" dirty="0">
                <a:latin typeface="Times New Roman" charset="0"/>
              </a:rPr>
              <a:t>(</a:t>
            </a:r>
            <a:r>
              <a:rPr lang="en-US" sz="2400" b="1" i="1" dirty="0">
                <a:latin typeface="Times New Roman" charset="0"/>
              </a:rPr>
              <a:t>x</a:t>
            </a:r>
            <a:r>
              <a:rPr lang="en-US" sz="2400" dirty="0">
                <a:latin typeface="Times New Roman" charset="0"/>
              </a:rPr>
              <a:t>)</a:t>
            </a:r>
            <a:r>
              <a:rPr lang="en-US" sz="2400" dirty="0">
                <a:latin typeface="Verdana" charset="0"/>
              </a:rPr>
              <a:t> is called the </a:t>
            </a:r>
            <a:r>
              <a:rPr lang="en-US" sz="2400" dirty="0">
                <a:solidFill>
                  <a:schemeClr val="tx2"/>
                </a:solidFill>
                <a:latin typeface="Verdana" charset="0"/>
              </a:rPr>
              <a:t>hash value</a:t>
            </a:r>
            <a:r>
              <a:rPr lang="en-US" sz="2400" dirty="0">
                <a:latin typeface="Verdana" charset="0"/>
              </a:rPr>
              <a:t> of key </a:t>
            </a:r>
            <a:r>
              <a:rPr lang="en-US" sz="2400" b="1" i="1" dirty="0">
                <a:latin typeface="Times New Roman" charset="0"/>
              </a:rPr>
              <a:t>x</a:t>
            </a:r>
          </a:p>
        </p:txBody>
      </p:sp>
      <p:sp>
        <p:nvSpPr>
          <p:cNvPr id="1031" name="Rectangle 1028" descr="Rectangle: Click to edit Master text styles&#10;Second level&#10;Third level&#10;Fourth level&#10;Fifth level"/>
          <p:cNvSpPr>
            <a:spLocks noGrp="1" noChangeArrowheads="1"/>
          </p:cNvSpPr>
          <p:nvPr>
            <p:ph type="body" sz="half" idx="2"/>
          </p:nvPr>
        </p:nvSpPr>
        <p:spPr>
          <a:xfrm>
            <a:off x="2209800" y="4191000"/>
            <a:ext cx="7848600" cy="1981200"/>
          </a:xfrm>
        </p:spPr>
        <p:txBody>
          <a:bodyPr>
            <a:normAutofit lnSpcReduction="10000"/>
          </a:bodyPr>
          <a:lstStyle/>
          <a:p>
            <a:pPr eaLnBrk="1" hangingPunct="1"/>
            <a:r>
              <a:rPr lang="en-US" sz="2400">
                <a:latin typeface="Verdana" charset="0"/>
              </a:rPr>
              <a:t>A </a:t>
            </a:r>
            <a:r>
              <a:rPr lang="en-US" sz="2400">
                <a:solidFill>
                  <a:schemeClr val="tx2"/>
                </a:solidFill>
                <a:latin typeface="Verdana" charset="0"/>
              </a:rPr>
              <a:t>hash table</a:t>
            </a:r>
            <a:r>
              <a:rPr lang="en-US" sz="2400">
                <a:latin typeface="Verdana" charset="0"/>
              </a:rPr>
              <a:t> for a given key type consists of</a:t>
            </a:r>
          </a:p>
          <a:p>
            <a:pPr lvl="1" eaLnBrk="1" hangingPunct="1"/>
            <a:r>
              <a:rPr lang="en-US">
                <a:latin typeface="Verdana" charset="0"/>
              </a:rPr>
              <a:t>Hash function </a:t>
            </a:r>
            <a:r>
              <a:rPr lang="en-US" b="1" i="1">
                <a:latin typeface="Times New Roman" charset="0"/>
              </a:rPr>
              <a:t>h</a:t>
            </a:r>
            <a:endParaRPr lang="en-US">
              <a:latin typeface="Tahoma" charset="0"/>
            </a:endParaRPr>
          </a:p>
          <a:p>
            <a:pPr lvl="1" eaLnBrk="1" hangingPunct="1"/>
            <a:r>
              <a:rPr lang="en-US">
                <a:latin typeface="Tahoma" charset="0"/>
              </a:rPr>
              <a:t>Array (called table) of size </a:t>
            </a:r>
            <a:r>
              <a:rPr lang="en-US" b="1" i="1">
                <a:latin typeface="Times New Roman" charset="0"/>
              </a:rPr>
              <a:t>N</a:t>
            </a:r>
          </a:p>
          <a:p>
            <a:pPr eaLnBrk="1" hangingPunct="1"/>
            <a:r>
              <a:rPr lang="en-US" sz="2400">
                <a:latin typeface="Tahoma" charset="0"/>
              </a:rPr>
              <a:t>When implementing a map with a hash table, the goal is to store item </a:t>
            </a:r>
            <a:r>
              <a:rPr lang="en-US" sz="2400">
                <a:latin typeface="Times New Roman" charset="0"/>
              </a:rPr>
              <a:t>(</a:t>
            </a:r>
            <a:r>
              <a:rPr lang="en-US" sz="2400" b="1" i="1">
                <a:latin typeface="Times New Roman" charset="0"/>
              </a:rPr>
              <a:t>k</a:t>
            </a:r>
            <a:r>
              <a:rPr lang="en-US" sz="2400">
                <a:latin typeface="Times New Roman" charset="0"/>
              </a:rPr>
              <a:t>, </a:t>
            </a:r>
            <a:r>
              <a:rPr lang="en-US" sz="2400" b="1" i="1">
                <a:latin typeface="Times New Roman" charset="0"/>
              </a:rPr>
              <a:t>o</a:t>
            </a:r>
            <a:r>
              <a:rPr lang="en-US" sz="2400">
                <a:latin typeface="Times New Roman" charset="0"/>
              </a:rPr>
              <a:t>)</a:t>
            </a:r>
            <a:r>
              <a:rPr lang="en-US" sz="2400">
                <a:latin typeface="Tahoma" charset="0"/>
              </a:rPr>
              <a:t> at index </a:t>
            </a:r>
            <a:r>
              <a:rPr lang="en-US" sz="2400" b="1" i="1">
                <a:latin typeface="Times New Roman" charset="0"/>
              </a:rPr>
              <a:t>i</a:t>
            </a:r>
            <a:r>
              <a:rPr lang="en-US" sz="2400">
                <a:latin typeface="Times New Roman" charset="0"/>
              </a:rPr>
              <a:t> </a:t>
            </a:r>
            <a:r>
              <a:rPr lang="en-US" sz="2400">
                <a:latin typeface="Symbol" charset="0"/>
              </a:rPr>
              <a:t>=</a:t>
            </a:r>
            <a:r>
              <a:rPr lang="en-US" sz="2400">
                <a:latin typeface="Times New Roman" charset="0"/>
              </a:rPr>
              <a:t> </a:t>
            </a:r>
            <a:r>
              <a:rPr lang="en-US" sz="2400" b="1" i="1">
                <a:latin typeface="Times New Roman" charset="0"/>
              </a:rPr>
              <a:t>h</a:t>
            </a:r>
            <a:r>
              <a:rPr lang="en-US" sz="2400">
                <a:latin typeface="Times New Roman" charset="0"/>
              </a:rPr>
              <a:t>(</a:t>
            </a:r>
            <a:r>
              <a:rPr lang="en-US" sz="2400" b="1" i="1">
                <a:latin typeface="Times New Roman" charset="0"/>
              </a:rPr>
              <a:t>k</a:t>
            </a:r>
            <a:r>
              <a:rPr lang="en-US" sz="2400">
                <a:latin typeface="Times New Roman" charset="0"/>
              </a:rPr>
              <a:t>)</a:t>
            </a:r>
            <a:endParaRPr lang="en-US">
              <a:latin typeface="Verdana" charset="0"/>
            </a:endParaRPr>
          </a:p>
        </p:txBody>
      </p:sp>
      <p:graphicFrame>
        <p:nvGraphicFramePr>
          <p:cNvPr id="1026" name="Object 1030"/>
          <p:cNvGraphicFramePr>
            <a:graphicFrameLocks noChangeAspect="1"/>
          </p:cNvGraphicFramePr>
          <p:nvPr/>
        </p:nvGraphicFramePr>
        <p:xfrm>
          <a:off x="8281988" y="130176"/>
          <a:ext cx="1928812" cy="1622425"/>
        </p:xfrm>
        <a:graphic>
          <a:graphicData uri="http://schemas.openxmlformats.org/presentationml/2006/ole">
            <mc:AlternateContent xmlns:mc="http://schemas.openxmlformats.org/markup-compatibility/2006">
              <mc:Choice xmlns:v="urn:schemas-microsoft-com:vml" Requires="v">
                <p:oleObj spid="_x0000_s1046" name="Clip" r:id="rId3" imgW="4674960" imgH="3934080" progId="MS_ClipArt_Gallery.2">
                  <p:embed/>
                </p:oleObj>
              </mc:Choice>
              <mc:Fallback>
                <p:oleObj name="Clip" r:id="rId3" imgW="4674960" imgH="3934080" progId="MS_ClipArt_Gallery.2">
                  <p:embed/>
                  <p:pic>
                    <p:nvPicPr>
                      <p:cNvPr id="1026" name="Object 10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1988" y="130176"/>
                        <a:ext cx="1928812" cy="16224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1"/>
          <p:cNvSpPr txBox="1">
            <a:spLocks noGrp="1"/>
          </p:cNvSpPr>
          <p:nvPr>
            <p:ph type="title"/>
          </p:nvPr>
        </p:nvSpPr>
        <p:spPr>
          <a:prstGeom prst="rect">
            <a:avLst/>
          </a:prstGeom>
        </p:spPr>
        <p:txBody>
          <a:bodyPr/>
          <a:lstStyle/>
          <a:p>
            <a:r>
              <a:t>Typical Hashing</a:t>
            </a:r>
          </a:p>
        </p:txBody>
      </p:sp>
      <p:sp>
        <p:nvSpPr>
          <p:cNvPr id="61" name="Content Placeholder 2"/>
          <p:cNvSpPr txBox="1">
            <a:spLocks noGrp="1"/>
          </p:cNvSpPr>
          <p:nvPr>
            <p:ph type="body" idx="1"/>
          </p:nvPr>
        </p:nvSpPr>
        <p:spPr>
          <a:prstGeom prst="rect">
            <a:avLst/>
          </a:prstGeom>
        </p:spPr>
        <p:txBody>
          <a:bodyPr/>
          <a:lstStyle/>
          <a:p>
            <a:r>
              <a:rPr dirty="0"/>
              <a:t>Typical hash functions perform two steps:</a:t>
            </a:r>
          </a:p>
          <a:p>
            <a:pPr lvl="1"/>
            <a:r>
              <a:rPr dirty="0"/>
              <a:t>Convert search key to an integer </a:t>
            </a:r>
          </a:p>
          <a:p>
            <a:pPr lvl="2"/>
            <a:r>
              <a:rPr dirty="0"/>
              <a:t>Called the hash code.</a:t>
            </a:r>
          </a:p>
          <a:p>
            <a:pPr lvl="1"/>
            <a:r>
              <a:rPr dirty="0"/>
              <a:t>Compress hash code into the range of indices for hash table.</a:t>
            </a:r>
          </a:p>
        </p:txBody>
      </p:sp>
      <p:sp>
        <p:nvSpPr>
          <p:cNvPr id="62" name="Algorithm getHashIndex(phoneNumber)…"/>
          <p:cNvSpPr txBox="1"/>
          <p:nvPr/>
        </p:nvSpPr>
        <p:spPr>
          <a:xfrm>
            <a:off x="536239" y="3618801"/>
            <a:ext cx="5377752" cy="1431161"/>
          </a:xfrm>
          <a:prstGeom prst="rect">
            <a:avLst/>
          </a:prstGeom>
          <a:ln w="12700">
            <a:miter lim="400000"/>
          </a:ln>
          <a:extLst>
            <a:ext uri="{C572A759-6A51-4108-AA02-DFA0A04FC94B}">
              <ma14:wrappingTextBoxFlag xmlns="" xmlns:ma14="http://schemas.microsoft.com/office/mac/drawingml/2011/main" val="1"/>
            </a:ext>
          </a:extLst>
        </p:spPr>
        <p:txBody>
          <a:bodyPr wrap="none" lIns="45719" rIns="45719">
            <a:spAutoFit/>
          </a:bodyPr>
          <a:lstStyle/>
          <a:p>
            <a:pPr marL="382904" defTabSz="457200">
              <a:spcBef>
                <a:spcPts val="600"/>
              </a:spcBef>
              <a:defRPr sz="1800" b="1"/>
            </a:pPr>
            <a:r>
              <a:rPr i="1" dirty="0">
                <a:latin typeface="Times"/>
                <a:ea typeface="Times"/>
                <a:cs typeface="Times"/>
                <a:sym typeface="Times"/>
              </a:rPr>
              <a:t>Algorithm </a:t>
            </a:r>
            <a:r>
              <a:rPr dirty="0" err="1"/>
              <a:t>getHashIndex</a:t>
            </a:r>
            <a:r>
              <a:rPr dirty="0"/>
              <a:t>(</a:t>
            </a:r>
            <a:r>
              <a:rPr dirty="0" err="1"/>
              <a:t>phoneNumber</a:t>
            </a:r>
            <a:r>
              <a:rPr dirty="0"/>
              <a:t>)</a:t>
            </a:r>
            <a:endParaRPr dirty="0">
              <a:latin typeface="Times New Roman"/>
              <a:ea typeface="Times New Roman"/>
              <a:cs typeface="Times New Roman"/>
              <a:sym typeface="Times New Roman"/>
            </a:endParaRPr>
          </a:p>
          <a:p>
            <a:pPr marL="382904" defTabSz="457200">
              <a:spcBef>
                <a:spcPts val="600"/>
              </a:spcBef>
              <a:defRPr sz="1800" i="1">
                <a:solidFill>
                  <a:schemeClr val="accent6"/>
                </a:solidFill>
                <a:latin typeface="Times New Roman"/>
                <a:ea typeface="Times New Roman"/>
                <a:cs typeface="Times New Roman"/>
                <a:sym typeface="Times New Roman"/>
              </a:defRPr>
            </a:pPr>
            <a:r>
              <a:rPr dirty="0">
                <a:sym typeface="Arial"/>
              </a:rPr>
              <a:t>// </a:t>
            </a:r>
            <a:r>
              <a:rPr dirty="0"/>
              <a:t>Returns an index to an array of </a:t>
            </a:r>
            <a:r>
              <a:rPr dirty="0" err="1">
                <a:sym typeface="Arial"/>
              </a:rPr>
              <a:t>tableSize</a:t>
            </a:r>
            <a:r>
              <a:rPr dirty="0">
                <a:sym typeface="Arial"/>
              </a:rPr>
              <a:t> </a:t>
            </a:r>
            <a:r>
              <a:rPr dirty="0"/>
              <a:t>elements.</a:t>
            </a:r>
          </a:p>
          <a:p>
            <a:pPr marL="382904" defTabSz="457200">
              <a:spcBef>
                <a:spcPts val="600"/>
              </a:spcBef>
              <a:defRPr sz="1800" i="1">
                <a:latin typeface="Times New Roman"/>
                <a:ea typeface="Times New Roman"/>
                <a:cs typeface="Times New Roman"/>
                <a:sym typeface="Times New Roman"/>
              </a:defRPr>
            </a:pPr>
            <a:r>
              <a:rPr dirty="0" err="1"/>
              <a:t>i</a:t>
            </a:r>
            <a:r>
              <a:rPr dirty="0"/>
              <a:t> = last four digits of </a:t>
            </a:r>
            <a:r>
              <a:rPr dirty="0" err="1">
                <a:sym typeface="Arial"/>
              </a:rPr>
              <a:t>phoneNumber</a:t>
            </a:r>
            <a:endParaRPr dirty="0"/>
          </a:p>
          <a:p>
            <a:pPr marL="382904" defTabSz="457200">
              <a:spcBef>
                <a:spcPts val="600"/>
              </a:spcBef>
              <a:defRPr sz="1800"/>
            </a:pPr>
            <a:r>
              <a:rPr b="1" dirty="0"/>
              <a:t>return </a:t>
            </a:r>
            <a:r>
              <a:rPr dirty="0" err="1"/>
              <a:t>i</a:t>
            </a:r>
            <a:r>
              <a:rPr dirty="0"/>
              <a:t> % </a:t>
            </a:r>
            <a:r>
              <a:rPr dirty="0" err="1"/>
              <a:t>tableSize</a:t>
            </a:r>
            <a:endParaRPr dirty="0">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A650E5C3-8675-4B8B-883C-D96FC5B8E5D0}"/>
              </a:ext>
            </a:extLst>
          </p:cNvPr>
          <p:cNvSpPr txBox="1"/>
          <p:nvPr/>
        </p:nvSpPr>
        <p:spPr>
          <a:xfrm>
            <a:off x="7165571" y="3631962"/>
            <a:ext cx="1566454" cy="369332"/>
          </a:xfrm>
          <a:prstGeom prst="rect">
            <a:avLst/>
          </a:prstGeom>
          <a:noFill/>
        </p:spPr>
        <p:txBody>
          <a:bodyPr wrap="none" rtlCol="0">
            <a:spAutoFit/>
          </a:bodyPr>
          <a:lstStyle/>
          <a:p>
            <a:r>
              <a:rPr lang="en-US" dirty="0"/>
              <a:t>(800)555-1234</a:t>
            </a:r>
          </a:p>
        </p:txBody>
      </p:sp>
      <p:cxnSp>
        <p:nvCxnSpPr>
          <p:cNvPr id="4" name="Straight Arrow Connector 3">
            <a:extLst>
              <a:ext uri="{FF2B5EF4-FFF2-40B4-BE49-F238E27FC236}">
                <a16:creationId xmlns:a16="http://schemas.microsoft.com/office/drawing/2014/main" id="{BE4FAD19-5E43-4439-ADED-CD132B75FEF4}"/>
              </a:ext>
            </a:extLst>
          </p:cNvPr>
          <p:cNvCxnSpPr>
            <a:cxnSpLocks/>
          </p:cNvCxnSpPr>
          <p:nvPr/>
        </p:nvCxnSpPr>
        <p:spPr>
          <a:xfrm>
            <a:off x="8506627" y="4069730"/>
            <a:ext cx="543162" cy="60648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 name="Left Bracket 4">
            <a:extLst>
              <a:ext uri="{FF2B5EF4-FFF2-40B4-BE49-F238E27FC236}">
                <a16:creationId xmlns:a16="http://schemas.microsoft.com/office/drawing/2014/main" id="{CF4124B1-0D03-4171-9116-183C8B3B3663}"/>
              </a:ext>
            </a:extLst>
          </p:cNvPr>
          <p:cNvSpPr/>
          <p:nvPr/>
        </p:nvSpPr>
        <p:spPr>
          <a:xfrm rot="16200000">
            <a:off x="8309208" y="3737205"/>
            <a:ext cx="195471" cy="509844"/>
          </a:xfrm>
          <a:prstGeom prst="leftBracket">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A764A4D3-D4AB-4C93-A594-4191AF6FDC55}"/>
              </a:ext>
            </a:extLst>
          </p:cNvPr>
          <p:cNvSpPr txBox="1"/>
          <p:nvPr/>
        </p:nvSpPr>
        <p:spPr>
          <a:xfrm>
            <a:off x="9204960" y="4588625"/>
            <a:ext cx="1111202" cy="369332"/>
          </a:xfrm>
          <a:prstGeom prst="rect">
            <a:avLst/>
          </a:prstGeom>
          <a:noFill/>
        </p:spPr>
        <p:txBody>
          <a:bodyPr wrap="none" rtlCol="0">
            <a:spAutoFit/>
          </a:bodyPr>
          <a:lstStyle/>
          <a:p>
            <a:r>
              <a:rPr lang="en-US" dirty="0" err="1"/>
              <a:t>hashCode</a:t>
            </a:r>
            <a:endParaRPr lang="en-US" dirty="0"/>
          </a:p>
        </p:txBody>
      </p:sp>
      <p:cxnSp>
        <p:nvCxnSpPr>
          <p:cNvPr id="10" name="Straight Arrow Connector 9">
            <a:extLst>
              <a:ext uri="{FF2B5EF4-FFF2-40B4-BE49-F238E27FC236}">
                <a16:creationId xmlns:a16="http://schemas.microsoft.com/office/drawing/2014/main" id="{61CC0064-2A0E-4E49-8D59-8AB23B623BD5}"/>
              </a:ext>
            </a:extLst>
          </p:cNvPr>
          <p:cNvCxnSpPr/>
          <p:nvPr/>
        </p:nvCxnSpPr>
        <p:spPr>
          <a:xfrm flipH="1">
            <a:off x="8732025" y="4957957"/>
            <a:ext cx="472935" cy="56169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88EAF3E-517B-4A71-A0E2-5DE08B039573}"/>
              </a:ext>
            </a:extLst>
          </p:cNvPr>
          <p:cNvSpPr txBox="1"/>
          <p:nvPr/>
        </p:nvSpPr>
        <p:spPr>
          <a:xfrm>
            <a:off x="8406943" y="5549261"/>
            <a:ext cx="2240934" cy="369332"/>
          </a:xfrm>
          <a:prstGeom prst="rect">
            <a:avLst/>
          </a:prstGeom>
          <a:noFill/>
        </p:spPr>
        <p:txBody>
          <a:bodyPr wrap="none" rtlCol="0">
            <a:spAutoFit/>
          </a:bodyPr>
          <a:lstStyle/>
          <a:p>
            <a:r>
              <a:rPr lang="en-US" dirty="0"/>
              <a:t>Index (0..table_size-1)</a:t>
            </a:r>
          </a:p>
        </p:txBody>
      </p:sp>
    </p:spTree>
    <p:extLst>
      <p:ext uri="{BB962C8B-B14F-4D97-AF65-F5344CB8AC3E}">
        <p14:creationId xmlns:p14="http://schemas.microsoft.com/office/powerpoint/2010/main" val="3658772784"/>
      </p:ext>
    </p:extLst>
  </p:cSld>
  <p:clrMapOvr>
    <a:masterClrMapping/>
  </p:clrMapOvr>
  <p:transition spd="med" advTm="9471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2" grpId="0"/>
      <p:bldP spid="5" grpId="0" animBg="1"/>
      <p:bldP spid="7" grpId="0"/>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39" y="1785621"/>
            <a:ext cx="7068820" cy="1884045"/>
          </a:xfrm>
          <a:prstGeom prst="rect">
            <a:avLst/>
          </a:prstGeom>
        </p:spPr>
        <p:txBody>
          <a:bodyPr vert="horz" wrap="square" lIns="0" tIns="13970" rIns="0" bIns="0" rtlCol="0">
            <a:spAutoFit/>
          </a:bodyPr>
          <a:lstStyle/>
          <a:p>
            <a:pPr marL="354965" marR="5080" indent="-342265">
              <a:lnSpc>
                <a:spcPct val="99700"/>
              </a:lnSpc>
              <a:spcBef>
                <a:spcPts val="110"/>
              </a:spcBef>
              <a:buFont typeface="Arial"/>
              <a:buChar char="•"/>
              <a:tabLst>
                <a:tab pos="354965" algn="l"/>
                <a:tab pos="355600" algn="l"/>
              </a:tabLst>
            </a:pPr>
            <a:r>
              <a:rPr sz="2800" b="1" dirty="0">
                <a:latin typeface="Arial"/>
                <a:cs typeface="Arial"/>
              </a:rPr>
              <a:t>Let’s</a:t>
            </a:r>
            <a:r>
              <a:rPr sz="2800" b="1" spc="-45" dirty="0">
                <a:latin typeface="Arial"/>
                <a:cs typeface="Arial"/>
              </a:rPr>
              <a:t> </a:t>
            </a:r>
            <a:r>
              <a:rPr sz="2800" b="1" dirty="0">
                <a:latin typeface="Arial"/>
                <a:cs typeface="Arial"/>
              </a:rPr>
              <a:t>consider</a:t>
            </a:r>
            <a:r>
              <a:rPr sz="2800" b="1" spc="-35" dirty="0">
                <a:latin typeface="Arial"/>
                <a:cs typeface="Arial"/>
              </a:rPr>
              <a:t> </a:t>
            </a:r>
            <a:r>
              <a:rPr sz="2800" b="1" dirty="0">
                <a:latin typeface="Arial"/>
                <a:cs typeface="Arial"/>
              </a:rPr>
              <a:t>an</a:t>
            </a:r>
            <a:r>
              <a:rPr sz="2800" b="1" spc="-40" dirty="0">
                <a:latin typeface="Arial"/>
                <a:cs typeface="Arial"/>
              </a:rPr>
              <a:t> </a:t>
            </a:r>
            <a:r>
              <a:rPr sz="2800" b="1" dirty="0">
                <a:latin typeface="Arial"/>
                <a:cs typeface="Arial"/>
              </a:rPr>
              <a:t>example.</a:t>
            </a:r>
            <a:r>
              <a:rPr sz="2800" b="1" spc="-40" dirty="0">
                <a:latin typeface="Arial"/>
                <a:cs typeface="Arial"/>
              </a:rPr>
              <a:t> </a:t>
            </a:r>
            <a:r>
              <a:rPr sz="2800" b="1" dirty="0">
                <a:latin typeface="Arial"/>
                <a:cs typeface="Arial"/>
              </a:rPr>
              <a:t>We</a:t>
            </a:r>
            <a:r>
              <a:rPr sz="2800" b="1" spc="-35" dirty="0">
                <a:latin typeface="Arial"/>
                <a:cs typeface="Arial"/>
              </a:rPr>
              <a:t> </a:t>
            </a:r>
            <a:r>
              <a:rPr sz="2800" b="1" dirty="0">
                <a:latin typeface="Arial"/>
                <a:cs typeface="Arial"/>
              </a:rPr>
              <a:t>want</a:t>
            </a:r>
            <a:r>
              <a:rPr sz="2800" b="1" spc="-35" dirty="0">
                <a:latin typeface="Arial"/>
                <a:cs typeface="Arial"/>
              </a:rPr>
              <a:t> </a:t>
            </a:r>
            <a:r>
              <a:rPr sz="2800" b="1" spc="-25" dirty="0">
                <a:latin typeface="Arial"/>
                <a:cs typeface="Arial"/>
              </a:rPr>
              <a:t>to </a:t>
            </a:r>
            <a:r>
              <a:rPr sz="2800" b="1" dirty="0">
                <a:latin typeface="Arial"/>
                <a:cs typeface="Arial"/>
              </a:rPr>
              <a:t>save</a:t>
            </a:r>
            <a:r>
              <a:rPr sz="2800" b="1" spc="-20" dirty="0">
                <a:latin typeface="Arial"/>
                <a:cs typeface="Arial"/>
              </a:rPr>
              <a:t> </a:t>
            </a:r>
            <a:r>
              <a:rPr sz="2800" b="1" dirty="0">
                <a:latin typeface="Arial"/>
                <a:cs typeface="Arial"/>
              </a:rPr>
              <a:t>10</a:t>
            </a:r>
            <a:r>
              <a:rPr sz="2800" b="1" spc="-10" dirty="0">
                <a:latin typeface="Arial"/>
                <a:cs typeface="Arial"/>
              </a:rPr>
              <a:t> </a:t>
            </a:r>
            <a:r>
              <a:rPr sz="2800" b="1" dirty="0">
                <a:latin typeface="Arial"/>
                <a:cs typeface="Arial"/>
              </a:rPr>
              <a:t>numbers</a:t>
            </a:r>
            <a:r>
              <a:rPr sz="2800" b="1" spc="-5" dirty="0">
                <a:latin typeface="Arial"/>
                <a:cs typeface="Arial"/>
              </a:rPr>
              <a:t> </a:t>
            </a:r>
            <a:r>
              <a:rPr sz="2800" b="1" dirty="0">
                <a:latin typeface="Arial"/>
                <a:cs typeface="Arial"/>
              </a:rPr>
              <a:t>from</a:t>
            </a:r>
            <a:r>
              <a:rPr sz="2800" b="1" spc="-10" dirty="0">
                <a:latin typeface="Arial"/>
                <a:cs typeface="Arial"/>
              </a:rPr>
              <a:t> </a:t>
            </a:r>
            <a:r>
              <a:rPr sz="2800" b="1" dirty="0">
                <a:latin typeface="Arial"/>
                <a:cs typeface="Arial"/>
              </a:rPr>
              <a:t>all</a:t>
            </a:r>
            <a:r>
              <a:rPr sz="2800" b="1" spc="-15" dirty="0">
                <a:latin typeface="Arial"/>
                <a:cs typeface="Arial"/>
              </a:rPr>
              <a:t> </a:t>
            </a:r>
            <a:r>
              <a:rPr sz="2800" b="1" dirty="0">
                <a:latin typeface="Arial"/>
                <a:cs typeface="Arial"/>
              </a:rPr>
              <a:t>possible</a:t>
            </a:r>
            <a:r>
              <a:rPr sz="2800" b="1" spc="-5" dirty="0">
                <a:latin typeface="Arial"/>
                <a:cs typeface="Arial"/>
              </a:rPr>
              <a:t> </a:t>
            </a:r>
            <a:r>
              <a:rPr sz="2800" b="1" spc="-20" dirty="0">
                <a:latin typeface="Arial"/>
                <a:cs typeface="Arial"/>
              </a:rPr>
              <a:t>Java ints</a:t>
            </a:r>
            <a:endParaRPr sz="2800">
              <a:latin typeface="Arial"/>
              <a:cs typeface="Arial"/>
            </a:endParaRPr>
          </a:p>
          <a:p>
            <a:pPr marL="812165" lvl="1" indent="-342265">
              <a:spcBef>
                <a:spcPts val="1210"/>
              </a:spcBef>
              <a:buClr>
                <a:srgbClr val="D1282E"/>
              </a:buClr>
              <a:buChar char="•"/>
              <a:tabLst>
                <a:tab pos="812165" algn="l"/>
                <a:tab pos="812800" algn="l"/>
              </a:tabLst>
            </a:pPr>
            <a:r>
              <a:rPr sz="2800" dirty="0">
                <a:latin typeface="Arial"/>
                <a:cs typeface="Arial"/>
              </a:rPr>
              <a:t>What</a:t>
            </a:r>
            <a:r>
              <a:rPr sz="2800" spc="-20" dirty="0">
                <a:latin typeface="Arial"/>
                <a:cs typeface="Arial"/>
              </a:rPr>
              <a:t> </a:t>
            </a:r>
            <a:r>
              <a:rPr sz="2800" dirty="0">
                <a:latin typeface="Arial"/>
                <a:cs typeface="Arial"/>
              </a:rPr>
              <a:t>is</a:t>
            </a:r>
            <a:r>
              <a:rPr sz="2800" spc="-5" dirty="0">
                <a:latin typeface="Arial"/>
                <a:cs typeface="Arial"/>
              </a:rPr>
              <a:t> </a:t>
            </a:r>
            <a:r>
              <a:rPr sz="2800" dirty="0">
                <a:latin typeface="Arial"/>
                <a:cs typeface="Arial"/>
              </a:rPr>
              <a:t>a simple hash </a:t>
            </a:r>
            <a:r>
              <a:rPr sz="2800" spc="-10" dirty="0">
                <a:latin typeface="Arial"/>
                <a:cs typeface="Arial"/>
              </a:rPr>
              <a:t>function?</a:t>
            </a:r>
            <a:endParaRPr sz="2800">
              <a:latin typeface="Arial"/>
              <a:cs typeface="Arial"/>
            </a:endParaRPr>
          </a:p>
        </p:txBody>
      </p:sp>
      <p:sp>
        <p:nvSpPr>
          <p:cNvPr id="3" name="object 3"/>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spc="-10" dirty="0"/>
              <a:t>HASH</a:t>
            </a:r>
            <a:r>
              <a:rPr spc="-275" dirty="0"/>
              <a:t> </a:t>
            </a:r>
            <a:r>
              <a:rPr spc="-60" dirty="0"/>
              <a:t>EXAMPLE</a:t>
            </a:r>
          </a:p>
        </p:txBody>
      </p:sp>
      <p:grpSp>
        <p:nvGrpSpPr>
          <p:cNvPr id="4" name="object 4"/>
          <p:cNvGrpSpPr/>
          <p:nvPr/>
        </p:nvGrpSpPr>
        <p:grpSpPr>
          <a:xfrm>
            <a:off x="7197436" y="3877888"/>
            <a:ext cx="1222375" cy="2943225"/>
            <a:chOff x="5673435" y="3877887"/>
            <a:chExt cx="1222375" cy="2943225"/>
          </a:xfrm>
        </p:grpSpPr>
        <p:pic>
          <p:nvPicPr>
            <p:cNvPr id="5" name="object 5"/>
            <p:cNvPicPr/>
            <p:nvPr/>
          </p:nvPicPr>
          <p:blipFill>
            <a:blip r:embed="rId2" cstate="print"/>
            <a:stretch>
              <a:fillRect/>
            </a:stretch>
          </p:blipFill>
          <p:spPr>
            <a:xfrm>
              <a:off x="5673435" y="4189614"/>
              <a:ext cx="1221970" cy="378229"/>
            </a:xfrm>
            <a:prstGeom prst="rect">
              <a:avLst/>
            </a:prstGeom>
          </p:spPr>
        </p:pic>
        <p:pic>
          <p:nvPicPr>
            <p:cNvPr id="6" name="object 6"/>
            <p:cNvPicPr/>
            <p:nvPr/>
          </p:nvPicPr>
          <p:blipFill>
            <a:blip r:embed="rId3" cstate="print"/>
            <a:stretch>
              <a:fillRect/>
            </a:stretch>
          </p:blipFill>
          <p:spPr>
            <a:xfrm>
              <a:off x="5744094" y="4168833"/>
              <a:ext cx="270163" cy="423949"/>
            </a:xfrm>
            <a:prstGeom prst="rect">
              <a:avLst/>
            </a:prstGeom>
          </p:spPr>
        </p:pic>
        <p:pic>
          <p:nvPicPr>
            <p:cNvPr id="7" name="object 7"/>
            <p:cNvPicPr/>
            <p:nvPr/>
          </p:nvPicPr>
          <p:blipFill>
            <a:blip r:embed="rId4" cstate="print"/>
            <a:stretch>
              <a:fillRect/>
            </a:stretch>
          </p:blipFill>
          <p:spPr>
            <a:xfrm>
              <a:off x="5673435" y="3898668"/>
              <a:ext cx="1221970" cy="378229"/>
            </a:xfrm>
            <a:prstGeom prst="rect">
              <a:avLst/>
            </a:prstGeom>
          </p:spPr>
        </p:pic>
        <p:pic>
          <p:nvPicPr>
            <p:cNvPr id="8" name="object 8"/>
            <p:cNvPicPr/>
            <p:nvPr/>
          </p:nvPicPr>
          <p:blipFill>
            <a:blip r:embed="rId5" cstate="print"/>
            <a:stretch>
              <a:fillRect/>
            </a:stretch>
          </p:blipFill>
          <p:spPr>
            <a:xfrm>
              <a:off x="5744094" y="3877887"/>
              <a:ext cx="270163" cy="423949"/>
            </a:xfrm>
            <a:prstGeom prst="rect">
              <a:avLst/>
            </a:prstGeom>
          </p:spPr>
        </p:pic>
        <p:pic>
          <p:nvPicPr>
            <p:cNvPr id="9" name="object 9"/>
            <p:cNvPicPr/>
            <p:nvPr/>
          </p:nvPicPr>
          <p:blipFill>
            <a:blip r:embed="rId6" cstate="print"/>
            <a:stretch>
              <a:fillRect/>
            </a:stretch>
          </p:blipFill>
          <p:spPr>
            <a:xfrm>
              <a:off x="5673435" y="4463934"/>
              <a:ext cx="1221970" cy="382385"/>
            </a:xfrm>
            <a:prstGeom prst="rect">
              <a:avLst/>
            </a:prstGeom>
          </p:spPr>
        </p:pic>
        <p:pic>
          <p:nvPicPr>
            <p:cNvPr id="10" name="object 10"/>
            <p:cNvPicPr/>
            <p:nvPr/>
          </p:nvPicPr>
          <p:blipFill>
            <a:blip r:embed="rId7" cstate="print"/>
            <a:stretch>
              <a:fillRect/>
            </a:stretch>
          </p:blipFill>
          <p:spPr>
            <a:xfrm>
              <a:off x="5744094" y="4447308"/>
              <a:ext cx="270163" cy="419792"/>
            </a:xfrm>
            <a:prstGeom prst="rect">
              <a:avLst/>
            </a:prstGeom>
          </p:spPr>
        </p:pic>
        <p:pic>
          <p:nvPicPr>
            <p:cNvPr id="11" name="object 11"/>
            <p:cNvPicPr/>
            <p:nvPr/>
          </p:nvPicPr>
          <p:blipFill>
            <a:blip r:embed="rId8" cstate="print"/>
            <a:stretch>
              <a:fillRect/>
            </a:stretch>
          </p:blipFill>
          <p:spPr>
            <a:xfrm>
              <a:off x="5673435" y="4742411"/>
              <a:ext cx="1221970" cy="378229"/>
            </a:xfrm>
            <a:prstGeom prst="rect">
              <a:avLst/>
            </a:prstGeom>
          </p:spPr>
        </p:pic>
        <p:pic>
          <p:nvPicPr>
            <p:cNvPr id="12" name="object 12"/>
            <p:cNvPicPr/>
            <p:nvPr/>
          </p:nvPicPr>
          <p:blipFill>
            <a:blip r:embed="rId9" cstate="print"/>
            <a:stretch>
              <a:fillRect/>
            </a:stretch>
          </p:blipFill>
          <p:spPr>
            <a:xfrm>
              <a:off x="5744094" y="4721628"/>
              <a:ext cx="270163" cy="423949"/>
            </a:xfrm>
            <a:prstGeom prst="rect">
              <a:avLst/>
            </a:prstGeom>
          </p:spPr>
        </p:pic>
        <p:pic>
          <p:nvPicPr>
            <p:cNvPr id="13" name="object 13"/>
            <p:cNvPicPr/>
            <p:nvPr/>
          </p:nvPicPr>
          <p:blipFill>
            <a:blip r:embed="rId10" cstate="print"/>
            <a:stretch>
              <a:fillRect/>
            </a:stretch>
          </p:blipFill>
          <p:spPr>
            <a:xfrm>
              <a:off x="5673435" y="5016731"/>
              <a:ext cx="1221970" cy="382385"/>
            </a:xfrm>
            <a:prstGeom prst="rect">
              <a:avLst/>
            </a:prstGeom>
          </p:spPr>
        </p:pic>
        <p:pic>
          <p:nvPicPr>
            <p:cNvPr id="14" name="object 14"/>
            <p:cNvPicPr/>
            <p:nvPr/>
          </p:nvPicPr>
          <p:blipFill>
            <a:blip r:embed="rId11" cstate="print"/>
            <a:stretch>
              <a:fillRect/>
            </a:stretch>
          </p:blipFill>
          <p:spPr>
            <a:xfrm>
              <a:off x="5744094" y="5000105"/>
              <a:ext cx="270163" cy="419792"/>
            </a:xfrm>
            <a:prstGeom prst="rect">
              <a:avLst/>
            </a:prstGeom>
          </p:spPr>
        </p:pic>
        <p:pic>
          <p:nvPicPr>
            <p:cNvPr id="15" name="object 15"/>
            <p:cNvPicPr/>
            <p:nvPr/>
          </p:nvPicPr>
          <p:blipFill>
            <a:blip r:embed="rId12" cstate="print"/>
            <a:stretch>
              <a:fillRect/>
            </a:stretch>
          </p:blipFill>
          <p:spPr>
            <a:xfrm>
              <a:off x="5673435" y="5299363"/>
              <a:ext cx="1221970" cy="378229"/>
            </a:xfrm>
            <a:prstGeom prst="rect">
              <a:avLst/>
            </a:prstGeom>
          </p:spPr>
        </p:pic>
        <p:pic>
          <p:nvPicPr>
            <p:cNvPr id="16" name="object 16"/>
            <p:cNvPicPr/>
            <p:nvPr/>
          </p:nvPicPr>
          <p:blipFill>
            <a:blip r:embed="rId13" cstate="print"/>
            <a:stretch>
              <a:fillRect/>
            </a:stretch>
          </p:blipFill>
          <p:spPr>
            <a:xfrm>
              <a:off x="5744094" y="5278581"/>
              <a:ext cx="270163" cy="423949"/>
            </a:xfrm>
            <a:prstGeom prst="rect">
              <a:avLst/>
            </a:prstGeom>
          </p:spPr>
        </p:pic>
        <p:pic>
          <p:nvPicPr>
            <p:cNvPr id="17" name="object 17"/>
            <p:cNvPicPr/>
            <p:nvPr/>
          </p:nvPicPr>
          <p:blipFill>
            <a:blip r:embed="rId14" cstate="print"/>
            <a:stretch>
              <a:fillRect/>
            </a:stretch>
          </p:blipFill>
          <p:spPr>
            <a:xfrm>
              <a:off x="5673435" y="5573683"/>
              <a:ext cx="1221970" cy="382385"/>
            </a:xfrm>
            <a:prstGeom prst="rect">
              <a:avLst/>
            </a:prstGeom>
          </p:spPr>
        </p:pic>
        <p:pic>
          <p:nvPicPr>
            <p:cNvPr id="18" name="object 18"/>
            <p:cNvPicPr/>
            <p:nvPr/>
          </p:nvPicPr>
          <p:blipFill>
            <a:blip r:embed="rId15" cstate="print"/>
            <a:stretch>
              <a:fillRect/>
            </a:stretch>
          </p:blipFill>
          <p:spPr>
            <a:xfrm>
              <a:off x="5744094" y="5557058"/>
              <a:ext cx="270163" cy="419792"/>
            </a:xfrm>
            <a:prstGeom prst="rect">
              <a:avLst/>
            </a:prstGeom>
          </p:spPr>
        </p:pic>
        <p:pic>
          <p:nvPicPr>
            <p:cNvPr id="19" name="object 19"/>
            <p:cNvPicPr/>
            <p:nvPr/>
          </p:nvPicPr>
          <p:blipFill>
            <a:blip r:embed="rId16" cstate="print"/>
            <a:stretch>
              <a:fillRect/>
            </a:stretch>
          </p:blipFill>
          <p:spPr>
            <a:xfrm>
              <a:off x="5673435" y="5852159"/>
              <a:ext cx="1221970" cy="378229"/>
            </a:xfrm>
            <a:prstGeom prst="rect">
              <a:avLst/>
            </a:prstGeom>
          </p:spPr>
        </p:pic>
        <p:pic>
          <p:nvPicPr>
            <p:cNvPr id="20" name="object 20"/>
            <p:cNvPicPr/>
            <p:nvPr/>
          </p:nvPicPr>
          <p:blipFill>
            <a:blip r:embed="rId17" cstate="print"/>
            <a:stretch>
              <a:fillRect/>
            </a:stretch>
          </p:blipFill>
          <p:spPr>
            <a:xfrm>
              <a:off x="5744094" y="5831377"/>
              <a:ext cx="270163" cy="423949"/>
            </a:xfrm>
            <a:prstGeom prst="rect">
              <a:avLst/>
            </a:prstGeom>
          </p:spPr>
        </p:pic>
        <p:pic>
          <p:nvPicPr>
            <p:cNvPr id="21" name="object 21"/>
            <p:cNvPicPr/>
            <p:nvPr/>
          </p:nvPicPr>
          <p:blipFill>
            <a:blip r:embed="rId18" cstate="print"/>
            <a:stretch>
              <a:fillRect/>
            </a:stretch>
          </p:blipFill>
          <p:spPr>
            <a:xfrm>
              <a:off x="5673435" y="6126479"/>
              <a:ext cx="1221970" cy="382385"/>
            </a:xfrm>
            <a:prstGeom prst="rect">
              <a:avLst/>
            </a:prstGeom>
          </p:spPr>
        </p:pic>
        <p:pic>
          <p:nvPicPr>
            <p:cNvPr id="22" name="object 22"/>
            <p:cNvPicPr/>
            <p:nvPr/>
          </p:nvPicPr>
          <p:blipFill>
            <a:blip r:embed="rId19" cstate="print"/>
            <a:stretch>
              <a:fillRect/>
            </a:stretch>
          </p:blipFill>
          <p:spPr>
            <a:xfrm>
              <a:off x="5744094" y="6109854"/>
              <a:ext cx="270163" cy="419792"/>
            </a:xfrm>
            <a:prstGeom prst="rect">
              <a:avLst/>
            </a:prstGeom>
          </p:spPr>
        </p:pic>
        <p:pic>
          <p:nvPicPr>
            <p:cNvPr id="23" name="object 23"/>
            <p:cNvPicPr/>
            <p:nvPr/>
          </p:nvPicPr>
          <p:blipFill>
            <a:blip r:embed="rId20" cstate="print"/>
            <a:stretch>
              <a:fillRect/>
            </a:stretch>
          </p:blipFill>
          <p:spPr>
            <a:xfrm>
              <a:off x="5673435" y="6417425"/>
              <a:ext cx="1221970" cy="382385"/>
            </a:xfrm>
            <a:prstGeom prst="rect">
              <a:avLst/>
            </a:prstGeom>
          </p:spPr>
        </p:pic>
        <p:pic>
          <p:nvPicPr>
            <p:cNvPr id="24" name="object 24"/>
            <p:cNvPicPr/>
            <p:nvPr/>
          </p:nvPicPr>
          <p:blipFill>
            <a:blip r:embed="rId21" cstate="print"/>
            <a:stretch>
              <a:fillRect/>
            </a:stretch>
          </p:blipFill>
          <p:spPr>
            <a:xfrm>
              <a:off x="5744094" y="6400800"/>
              <a:ext cx="270163" cy="419792"/>
            </a:xfrm>
            <a:prstGeom prst="rect">
              <a:avLst/>
            </a:prstGeom>
          </p:spPr>
        </p:pic>
      </p:grpSp>
      <p:graphicFrame>
        <p:nvGraphicFramePr>
          <p:cNvPr id="25" name="object 25"/>
          <p:cNvGraphicFramePr>
            <a:graphicFrameLocks noGrp="1"/>
          </p:cNvGraphicFramePr>
          <p:nvPr/>
        </p:nvGraphicFramePr>
        <p:xfrm>
          <a:off x="7219611" y="3943181"/>
          <a:ext cx="1118235" cy="2794000"/>
        </p:xfrm>
        <a:graphic>
          <a:graphicData uri="http://schemas.openxmlformats.org/drawingml/2006/table">
            <a:tbl>
              <a:tblPr firstRow="1" bandRow="1">
                <a:tableStyleId>{2D5ABB26-0587-4C30-8999-92F81FD0307C}</a:tableStyleId>
              </a:tblPr>
              <a:tblGrid>
                <a:gridCol w="1118235">
                  <a:extLst>
                    <a:ext uri="{9D8B030D-6E8A-4147-A177-3AD203B41FA5}">
                      <a16:colId xmlns:a16="http://schemas.microsoft.com/office/drawing/2014/main" val="20000"/>
                    </a:ext>
                  </a:extLst>
                </a:gridCol>
              </a:tblGrid>
              <a:tr h="283210">
                <a:tc>
                  <a:txBody>
                    <a:bodyPr/>
                    <a:lstStyle/>
                    <a:p>
                      <a:pPr marL="90805">
                        <a:lnSpc>
                          <a:spcPts val="2130"/>
                        </a:lnSpc>
                        <a:spcBef>
                          <a:spcPts val="5"/>
                        </a:spcBef>
                      </a:pPr>
                      <a:r>
                        <a:rPr sz="1800" dirty="0">
                          <a:latin typeface="Arial"/>
                          <a:cs typeface="Arial"/>
                        </a:rPr>
                        <a:t>0</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83845">
                <a:tc>
                  <a:txBody>
                    <a:bodyPr/>
                    <a:lstStyle/>
                    <a:p>
                      <a:pPr marL="90805">
                        <a:lnSpc>
                          <a:spcPts val="2070"/>
                        </a:lnSpc>
                        <a:spcBef>
                          <a:spcPts val="65"/>
                        </a:spcBef>
                      </a:pPr>
                      <a:r>
                        <a:rPr sz="1800" dirty="0">
                          <a:latin typeface="Arial"/>
                          <a:cs typeface="Arial"/>
                        </a:rPr>
                        <a:t>1</a:t>
                      </a:r>
                      <a:endParaRPr sz="1800">
                        <a:latin typeface="Arial"/>
                        <a:cs typeface="Arial"/>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276225">
                <a:tc>
                  <a:txBody>
                    <a:bodyPr/>
                    <a:lstStyle/>
                    <a:p>
                      <a:pPr marL="90805">
                        <a:lnSpc>
                          <a:spcPts val="2065"/>
                        </a:lnSpc>
                        <a:spcBef>
                          <a:spcPts val="10"/>
                        </a:spcBef>
                      </a:pPr>
                      <a:r>
                        <a:rPr sz="1800" dirty="0">
                          <a:latin typeface="Arial"/>
                          <a:cs typeface="Arial"/>
                        </a:rPr>
                        <a:t>2</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76225">
                <a:tc>
                  <a:txBody>
                    <a:bodyPr/>
                    <a:lstStyle/>
                    <a:p>
                      <a:pPr marL="90805">
                        <a:lnSpc>
                          <a:spcPts val="2070"/>
                        </a:lnSpc>
                        <a:spcBef>
                          <a:spcPts val="5"/>
                        </a:spcBef>
                      </a:pPr>
                      <a:r>
                        <a:rPr sz="1800" dirty="0">
                          <a:latin typeface="Arial"/>
                          <a:cs typeface="Arial"/>
                        </a:rPr>
                        <a:t>3</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3"/>
                  </a:ext>
                </a:extLst>
              </a:tr>
              <a:tr h="277495">
                <a:tc>
                  <a:txBody>
                    <a:bodyPr/>
                    <a:lstStyle/>
                    <a:p>
                      <a:pPr marL="90805">
                        <a:lnSpc>
                          <a:spcPts val="2080"/>
                        </a:lnSpc>
                        <a:spcBef>
                          <a:spcPts val="10"/>
                        </a:spcBef>
                      </a:pPr>
                      <a:r>
                        <a:rPr sz="1800" dirty="0">
                          <a:latin typeface="Arial"/>
                          <a:cs typeface="Arial"/>
                        </a:rPr>
                        <a:t>4</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4"/>
                  </a:ext>
                </a:extLst>
              </a:tr>
              <a:tr h="277495">
                <a:tc>
                  <a:txBody>
                    <a:bodyPr/>
                    <a:lstStyle/>
                    <a:p>
                      <a:pPr marL="90805">
                        <a:lnSpc>
                          <a:spcPts val="2070"/>
                        </a:lnSpc>
                        <a:spcBef>
                          <a:spcPts val="15"/>
                        </a:spcBef>
                      </a:pPr>
                      <a:r>
                        <a:rPr sz="1800" dirty="0">
                          <a:latin typeface="Arial"/>
                          <a:cs typeface="Arial"/>
                        </a:rPr>
                        <a:t>5</a:t>
                      </a:r>
                      <a:endParaRPr sz="1800">
                        <a:latin typeface="Arial"/>
                        <a:cs typeface="Arial"/>
                      </a:endParaRPr>
                    </a:p>
                  </a:txBody>
                  <a:tcPr marL="0" marR="0" marT="190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5"/>
                  </a:ext>
                </a:extLst>
              </a:tr>
              <a:tr h="276225">
                <a:tc>
                  <a:txBody>
                    <a:bodyPr/>
                    <a:lstStyle/>
                    <a:p>
                      <a:pPr marL="90805">
                        <a:lnSpc>
                          <a:spcPts val="2065"/>
                        </a:lnSpc>
                        <a:spcBef>
                          <a:spcPts val="10"/>
                        </a:spcBef>
                      </a:pPr>
                      <a:r>
                        <a:rPr sz="1800" dirty="0">
                          <a:latin typeface="Arial"/>
                          <a:cs typeface="Arial"/>
                        </a:rPr>
                        <a:t>6</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76225">
                <a:tc>
                  <a:txBody>
                    <a:bodyPr/>
                    <a:lstStyle/>
                    <a:p>
                      <a:pPr marL="90805">
                        <a:lnSpc>
                          <a:spcPts val="2070"/>
                        </a:lnSpc>
                        <a:spcBef>
                          <a:spcPts val="5"/>
                        </a:spcBef>
                      </a:pPr>
                      <a:r>
                        <a:rPr sz="1800" dirty="0">
                          <a:latin typeface="Arial"/>
                          <a:cs typeface="Arial"/>
                        </a:rPr>
                        <a:t>7</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7"/>
                  </a:ext>
                </a:extLst>
              </a:tr>
              <a:tr h="283845">
                <a:tc>
                  <a:txBody>
                    <a:bodyPr/>
                    <a:lstStyle/>
                    <a:p>
                      <a:pPr marL="90805">
                        <a:lnSpc>
                          <a:spcPts val="2130"/>
                        </a:lnSpc>
                        <a:spcBef>
                          <a:spcPts val="10"/>
                        </a:spcBef>
                      </a:pPr>
                      <a:r>
                        <a:rPr sz="1800" dirty="0">
                          <a:latin typeface="Arial"/>
                          <a:cs typeface="Arial"/>
                        </a:rPr>
                        <a:t>8</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283210">
                <a:tc>
                  <a:txBody>
                    <a:bodyPr/>
                    <a:lstStyle/>
                    <a:p>
                      <a:pPr marL="90805">
                        <a:lnSpc>
                          <a:spcPts val="2065"/>
                        </a:lnSpc>
                        <a:spcBef>
                          <a:spcPts val="65"/>
                        </a:spcBef>
                      </a:pPr>
                      <a:r>
                        <a:rPr sz="1800" dirty="0">
                          <a:latin typeface="Arial"/>
                          <a:cs typeface="Arial"/>
                        </a:rPr>
                        <a:t>9</a:t>
                      </a:r>
                      <a:endParaRPr sz="1800">
                        <a:latin typeface="Arial"/>
                        <a:cs typeface="Arial"/>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bl>
          </a:graphicData>
        </a:graphic>
      </p:graphicFrame>
      <p:grpSp>
        <p:nvGrpSpPr>
          <p:cNvPr id="26" name="object 26"/>
          <p:cNvGrpSpPr/>
          <p:nvPr/>
        </p:nvGrpSpPr>
        <p:grpSpPr>
          <a:xfrm>
            <a:off x="2380211" y="3898669"/>
            <a:ext cx="1222375" cy="2893060"/>
            <a:chOff x="856210" y="3898669"/>
            <a:chExt cx="1222375" cy="2893060"/>
          </a:xfrm>
        </p:grpSpPr>
        <p:pic>
          <p:nvPicPr>
            <p:cNvPr id="27" name="object 27"/>
            <p:cNvPicPr/>
            <p:nvPr/>
          </p:nvPicPr>
          <p:blipFill>
            <a:blip r:embed="rId22" cstate="print"/>
            <a:stretch>
              <a:fillRect/>
            </a:stretch>
          </p:blipFill>
          <p:spPr>
            <a:xfrm>
              <a:off x="856210" y="3898669"/>
              <a:ext cx="1221970" cy="2892828"/>
            </a:xfrm>
            <a:prstGeom prst="rect">
              <a:avLst/>
            </a:prstGeom>
          </p:spPr>
        </p:pic>
        <p:pic>
          <p:nvPicPr>
            <p:cNvPr id="28" name="object 28"/>
            <p:cNvPicPr/>
            <p:nvPr/>
          </p:nvPicPr>
          <p:blipFill>
            <a:blip r:embed="rId23" cstate="print"/>
            <a:stretch>
              <a:fillRect/>
            </a:stretch>
          </p:blipFill>
          <p:spPr>
            <a:xfrm>
              <a:off x="1192876" y="5137265"/>
              <a:ext cx="548640" cy="419792"/>
            </a:xfrm>
            <a:prstGeom prst="rect">
              <a:avLst/>
            </a:prstGeom>
          </p:spPr>
        </p:pic>
      </p:grpSp>
      <p:sp>
        <p:nvSpPr>
          <p:cNvPr id="29" name="object 29"/>
          <p:cNvSpPr txBox="1"/>
          <p:nvPr/>
        </p:nvSpPr>
        <p:spPr>
          <a:xfrm>
            <a:off x="2407512" y="3949531"/>
            <a:ext cx="1118235" cy="1600438"/>
          </a:xfrm>
          <a:prstGeom prst="rect">
            <a:avLst/>
          </a:prstGeom>
          <a:ln w="12699">
            <a:solidFill>
              <a:srgbClr val="000000"/>
            </a:solidFill>
          </a:ln>
        </p:spPr>
        <p:txBody>
          <a:bodyPr vert="horz" wrap="square" lIns="0" tIns="0" rIns="0" bIns="0" rtlCol="0">
            <a:spAutoFit/>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spcBef>
                <a:spcPts val="15"/>
              </a:spcBef>
            </a:pPr>
            <a:endParaRPr sz="2600">
              <a:latin typeface="Times New Roman"/>
              <a:cs typeface="Times New Roman"/>
            </a:endParaRPr>
          </a:p>
          <a:p>
            <a:pPr marL="358775"/>
            <a:r>
              <a:rPr b="1" spc="-20" dirty="0">
                <a:latin typeface="Arial"/>
                <a:cs typeface="Arial"/>
              </a:rPr>
              <a:t>ints</a:t>
            </a:r>
            <a:endParaRPr>
              <a:latin typeface="Arial"/>
              <a:cs typeface="Arial"/>
            </a:endParaRPr>
          </a:p>
        </p:txBody>
      </p:sp>
      <p:grpSp>
        <p:nvGrpSpPr>
          <p:cNvPr id="30" name="object 30"/>
          <p:cNvGrpSpPr/>
          <p:nvPr/>
        </p:nvGrpSpPr>
        <p:grpSpPr>
          <a:xfrm>
            <a:off x="4520738" y="4667596"/>
            <a:ext cx="1222375" cy="902335"/>
            <a:chOff x="2996737" y="4667595"/>
            <a:chExt cx="1222375" cy="902335"/>
          </a:xfrm>
        </p:grpSpPr>
        <p:pic>
          <p:nvPicPr>
            <p:cNvPr id="31" name="object 31"/>
            <p:cNvPicPr/>
            <p:nvPr/>
          </p:nvPicPr>
          <p:blipFill>
            <a:blip r:embed="rId24" cstate="print"/>
            <a:stretch>
              <a:fillRect/>
            </a:stretch>
          </p:blipFill>
          <p:spPr>
            <a:xfrm>
              <a:off x="2996737" y="4667595"/>
              <a:ext cx="1221970" cy="901930"/>
            </a:xfrm>
            <a:prstGeom prst="rect">
              <a:avLst/>
            </a:prstGeom>
          </p:spPr>
        </p:pic>
        <p:pic>
          <p:nvPicPr>
            <p:cNvPr id="32" name="object 32"/>
            <p:cNvPicPr/>
            <p:nvPr/>
          </p:nvPicPr>
          <p:blipFill>
            <a:blip r:embed="rId25" cstate="print"/>
            <a:stretch>
              <a:fillRect/>
            </a:stretch>
          </p:blipFill>
          <p:spPr>
            <a:xfrm>
              <a:off x="3320934" y="4908665"/>
              <a:ext cx="586047" cy="423949"/>
            </a:xfrm>
            <a:prstGeom prst="rect">
              <a:avLst/>
            </a:prstGeom>
          </p:spPr>
        </p:pic>
      </p:grpSp>
      <p:sp>
        <p:nvSpPr>
          <p:cNvPr id="33" name="object 33"/>
          <p:cNvSpPr txBox="1"/>
          <p:nvPr/>
        </p:nvSpPr>
        <p:spPr>
          <a:xfrm>
            <a:off x="4547813" y="4721372"/>
            <a:ext cx="1118235" cy="550151"/>
          </a:xfrm>
          <a:prstGeom prst="rect">
            <a:avLst/>
          </a:prstGeom>
          <a:ln w="12699">
            <a:solidFill>
              <a:srgbClr val="000000"/>
            </a:solidFill>
          </a:ln>
        </p:spPr>
        <p:txBody>
          <a:bodyPr vert="horz" wrap="square" lIns="0" tIns="3810" rIns="0" bIns="0" rtlCol="0">
            <a:spAutoFit/>
          </a:bodyPr>
          <a:lstStyle/>
          <a:p>
            <a:pPr>
              <a:spcBef>
                <a:spcPts val="30"/>
              </a:spcBef>
            </a:pPr>
            <a:endParaRPr sz="1750">
              <a:latin typeface="Times New Roman"/>
              <a:cs typeface="Times New Roman"/>
            </a:endParaRPr>
          </a:p>
          <a:p>
            <a:pPr marL="365125">
              <a:spcBef>
                <a:spcPts val="5"/>
              </a:spcBef>
            </a:pPr>
            <a:r>
              <a:rPr i="1" spc="-20" dirty="0">
                <a:latin typeface="Arial"/>
                <a:cs typeface="Arial"/>
              </a:rPr>
              <a:t>h(x)</a:t>
            </a:r>
            <a:endParaRPr>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39" y="1785621"/>
            <a:ext cx="7068820" cy="1884045"/>
          </a:xfrm>
          <a:prstGeom prst="rect">
            <a:avLst/>
          </a:prstGeom>
        </p:spPr>
        <p:txBody>
          <a:bodyPr vert="horz" wrap="square" lIns="0" tIns="13970" rIns="0" bIns="0" rtlCol="0">
            <a:spAutoFit/>
          </a:bodyPr>
          <a:lstStyle/>
          <a:p>
            <a:pPr marL="354965" marR="5080" indent="-342265">
              <a:lnSpc>
                <a:spcPct val="99700"/>
              </a:lnSpc>
              <a:spcBef>
                <a:spcPts val="110"/>
              </a:spcBef>
              <a:buFont typeface="Arial"/>
              <a:buChar char="•"/>
              <a:tabLst>
                <a:tab pos="354965" algn="l"/>
                <a:tab pos="355600" algn="l"/>
              </a:tabLst>
            </a:pPr>
            <a:r>
              <a:rPr sz="2800" b="1" dirty="0">
                <a:latin typeface="Arial"/>
                <a:cs typeface="Arial"/>
              </a:rPr>
              <a:t>Let’s</a:t>
            </a:r>
            <a:r>
              <a:rPr sz="2800" b="1" spc="-45" dirty="0">
                <a:latin typeface="Arial"/>
                <a:cs typeface="Arial"/>
              </a:rPr>
              <a:t> </a:t>
            </a:r>
            <a:r>
              <a:rPr sz="2800" b="1" dirty="0">
                <a:latin typeface="Arial"/>
                <a:cs typeface="Arial"/>
              </a:rPr>
              <a:t>consider</a:t>
            </a:r>
            <a:r>
              <a:rPr sz="2800" b="1" spc="-35" dirty="0">
                <a:latin typeface="Arial"/>
                <a:cs typeface="Arial"/>
              </a:rPr>
              <a:t> </a:t>
            </a:r>
            <a:r>
              <a:rPr sz="2800" b="1" dirty="0">
                <a:latin typeface="Arial"/>
                <a:cs typeface="Arial"/>
              </a:rPr>
              <a:t>an</a:t>
            </a:r>
            <a:r>
              <a:rPr sz="2800" b="1" spc="-40" dirty="0">
                <a:latin typeface="Arial"/>
                <a:cs typeface="Arial"/>
              </a:rPr>
              <a:t> </a:t>
            </a:r>
            <a:r>
              <a:rPr sz="2800" b="1" dirty="0">
                <a:latin typeface="Arial"/>
                <a:cs typeface="Arial"/>
              </a:rPr>
              <a:t>example.</a:t>
            </a:r>
            <a:r>
              <a:rPr sz="2800" b="1" spc="-40" dirty="0">
                <a:latin typeface="Arial"/>
                <a:cs typeface="Arial"/>
              </a:rPr>
              <a:t> </a:t>
            </a:r>
            <a:r>
              <a:rPr sz="2800" b="1" dirty="0">
                <a:latin typeface="Arial"/>
                <a:cs typeface="Arial"/>
              </a:rPr>
              <a:t>We</a:t>
            </a:r>
            <a:r>
              <a:rPr sz="2800" b="1" spc="-35" dirty="0">
                <a:latin typeface="Arial"/>
                <a:cs typeface="Arial"/>
              </a:rPr>
              <a:t> </a:t>
            </a:r>
            <a:r>
              <a:rPr sz="2800" b="1" dirty="0">
                <a:latin typeface="Arial"/>
                <a:cs typeface="Arial"/>
              </a:rPr>
              <a:t>want</a:t>
            </a:r>
            <a:r>
              <a:rPr sz="2800" b="1" spc="-35" dirty="0">
                <a:latin typeface="Arial"/>
                <a:cs typeface="Arial"/>
              </a:rPr>
              <a:t> </a:t>
            </a:r>
            <a:r>
              <a:rPr sz="2800" b="1" spc="-25" dirty="0">
                <a:latin typeface="Arial"/>
                <a:cs typeface="Arial"/>
              </a:rPr>
              <a:t>to </a:t>
            </a:r>
            <a:r>
              <a:rPr sz="2800" b="1" dirty="0">
                <a:latin typeface="Arial"/>
                <a:cs typeface="Arial"/>
              </a:rPr>
              <a:t>save</a:t>
            </a:r>
            <a:r>
              <a:rPr sz="2800" b="1" spc="-20" dirty="0">
                <a:latin typeface="Arial"/>
                <a:cs typeface="Arial"/>
              </a:rPr>
              <a:t> </a:t>
            </a:r>
            <a:r>
              <a:rPr sz="2800" b="1" dirty="0">
                <a:latin typeface="Arial"/>
                <a:cs typeface="Arial"/>
              </a:rPr>
              <a:t>10</a:t>
            </a:r>
            <a:r>
              <a:rPr sz="2800" b="1" spc="-10" dirty="0">
                <a:latin typeface="Arial"/>
                <a:cs typeface="Arial"/>
              </a:rPr>
              <a:t> </a:t>
            </a:r>
            <a:r>
              <a:rPr sz="2800" b="1" dirty="0">
                <a:latin typeface="Arial"/>
                <a:cs typeface="Arial"/>
              </a:rPr>
              <a:t>numbers</a:t>
            </a:r>
            <a:r>
              <a:rPr sz="2800" b="1" spc="-5" dirty="0">
                <a:latin typeface="Arial"/>
                <a:cs typeface="Arial"/>
              </a:rPr>
              <a:t> </a:t>
            </a:r>
            <a:r>
              <a:rPr sz="2800" b="1" dirty="0">
                <a:latin typeface="Arial"/>
                <a:cs typeface="Arial"/>
              </a:rPr>
              <a:t>from</a:t>
            </a:r>
            <a:r>
              <a:rPr sz="2800" b="1" spc="-10" dirty="0">
                <a:latin typeface="Arial"/>
                <a:cs typeface="Arial"/>
              </a:rPr>
              <a:t> </a:t>
            </a:r>
            <a:r>
              <a:rPr sz="2800" b="1" dirty="0">
                <a:latin typeface="Arial"/>
                <a:cs typeface="Arial"/>
              </a:rPr>
              <a:t>all</a:t>
            </a:r>
            <a:r>
              <a:rPr sz="2800" b="1" spc="-15" dirty="0">
                <a:latin typeface="Arial"/>
                <a:cs typeface="Arial"/>
              </a:rPr>
              <a:t> </a:t>
            </a:r>
            <a:r>
              <a:rPr sz="2800" b="1" dirty="0">
                <a:latin typeface="Arial"/>
                <a:cs typeface="Arial"/>
              </a:rPr>
              <a:t>possible</a:t>
            </a:r>
            <a:r>
              <a:rPr sz="2800" b="1" spc="-5" dirty="0">
                <a:latin typeface="Arial"/>
                <a:cs typeface="Arial"/>
              </a:rPr>
              <a:t> </a:t>
            </a:r>
            <a:r>
              <a:rPr sz="2800" b="1" spc="-20" dirty="0">
                <a:latin typeface="Arial"/>
                <a:cs typeface="Arial"/>
              </a:rPr>
              <a:t>Java ints</a:t>
            </a:r>
            <a:endParaRPr sz="2800">
              <a:latin typeface="Arial"/>
              <a:cs typeface="Arial"/>
            </a:endParaRPr>
          </a:p>
          <a:p>
            <a:pPr marL="812165" lvl="1" indent="-342265">
              <a:spcBef>
                <a:spcPts val="1210"/>
              </a:spcBef>
              <a:buClr>
                <a:srgbClr val="D1282E"/>
              </a:buClr>
              <a:buChar char="•"/>
              <a:tabLst>
                <a:tab pos="812165" algn="l"/>
                <a:tab pos="812800" algn="l"/>
              </a:tabLst>
            </a:pPr>
            <a:r>
              <a:rPr sz="2800" dirty="0">
                <a:latin typeface="Arial"/>
                <a:cs typeface="Arial"/>
              </a:rPr>
              <a:t>What</a:t>
            </a:r>
            <a:r>
              <a:rPr sz="2800" spc="-20" dirty="0">
                <a:latin typeface="Arial"/>
                <a:cs typeface="Arial"/>
              </a:rPr>
              <a:t> </a:t>
            </a:r>
            <a:r>
              <a:rPr sz="2800" dirty="0">
                <a:latin typeface="Arial"/>
                <a:cs typeface="Arial"/>
              </a:rPr>
              <a:t>is</a:t>
            </a:r>
            <a:r>
              <a:rPr sz="2800" spc="-5" dirty="0">
                <a:latin typeface="Arial"/>
                <a:cs typeface="Arial"/>
              </a:rPr>
              <a:t> </a:t>
            </a:r>
            <a:r>
              <a:rPr sz="2800" dirty="0">
                <a:latin typeface="Arial"/>
                <a:cs typeface="Arial"/>
              </a:rPr>
              <a:t>a simple hash </a:t>
            </a:r>
            <a:r>
              <a:rPr sz="2800" spc="-10" dirty="0">
                <a:latin typeface="Arial"/>
                <a:cs typeface="Arial"/>
              </a:rPr>
              <a:t>function?</a:t>
            </a:r>
            <a:endParaRPr sz="2800">
              <a:latin typeface="Arial"/>
              <a:cs typeface="Arial"/>
            </a:endParaRPr>
          </a:p>
        </p:txBody>
      </p:sp>
      <p:sp>
        <p:nvSpPr>
          <p:cNvPr id="3" name="object 3"/>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spc="-10" dirty="0"/>
              <a:t>HASH</a:t>
            </a:r>
            <a:r>
              <a:rPr spc="-275" dirty="0"/>
              <a:t> </a:t>
            </a:r>
            <a:r>
              <a:rPr spc="-60" dirty="0"/>
              <a:t>EXAMPLE</a:t>
            </a:r>
          </a:p>
        </p:txBody>
      </p:sp>
      <p:grpSp>
        <p:nvGrpSpPr>
          <p:cNvPr id="4" name="object 4"/>
          <p:cNvGrpSpPr/>
          <p:nvPr/>
        </p:nvGrpSpPr>
        <p:grpSpPr>
          <a:xfrm>
            <a:off x="7197436" y="3877888"/>
            <a:ext cx="1222375" cy="2943225"/>
            <a:chOff x="5673435" y="3877887"/>
            <a:chExt cx="1222375" cy="2943225"/>
          </a:xfrm>
        </p:grpSpPr>
        <p:pic>
          <p:nvPicPr>
            <p:cNvPr id="5" name="object 5"/>
            <p:cNvPicPr/>
            <p:nvPr/>
          </p:nvPicPr>
          <p:blipFill>
            <a:blip r:embed="rId2" cstate="print"/>
            <a:stretch>
              <a:fillRect/>
            </a:stretch>
          </p:blipFill>
          <p:spPr>
            <a:xfrm>
              <a:off x="5673435" y="4189614"/>
              <a:ext cx="1221970" cy="378229"/>
            </a:xfrm>
            <a:prstGeom prst="rect">
              <a:avLst/>
            </a:prstGeom>
          </p:spPr>
        </p:pic>
        <p:pic>
          <p:nvPicPr>
            <p:cNvPr id="6" name="object 6"/>
            <p:cNvPicPr/>
            <p:nvPr/>
          </p:nvPicPr>
          <p:blipFill>
            <a:blip r:embed="rId3" cstate="print"/>
            <a:stretch>
              <a:fillRect/>
            </a:stretch>
          </p:blipFill>
          <p:spPr>
            <a:xfrm>
              <a:off x="5744094" y="4168833"/>
              <a:ext cx="270163" cy="423949"/>
            </a:xfrm>
            <a:prstGeom prst="rect">
              <a:avLst/>
            </a:prstGeom>
          </p:spPr>
        </p:pic>
        <p:pic>
          <p:nvPicPr>
            <p:cNvPr id="7" name="object 7"/>
            <p:cNvPicPr/>
            <p:nvPr/>
          </p:nvPicPr>
          <p:blipFill>
            <a:blip r:embed="rId4" cstate="print"/>
            <a:stretch>
              <a:fillRect/>
            </a:stretch>
          </p:blipFill>
          <p:spPr>
            <a:xfrm>
              <a:off x="5673435" y="3898668"/>
              <a:ext cx="1221970" cy="378229"/>
            </a:xfrm>
            <a:prstGeom prst="rect">
              <a:avLst/>
            </a:prstGeom>
          </p:spPr>
        </p:pic>
        <p:pic>
          <p:nvPicPr>
            <p:cNvPr id="8" name="object 8"/>
            <p:cNvPicPr/>
            <p:nvPr/>
          </p:nvPicPr>
          <p:blipFill>
            <a:blip r:embed="rId5" cstate="print"/>
            <a:stretch>
              <a:fillRect/>
            </a:stretch>
          </p:blipFill>
          <p:spPr>
            <a:xfrm>
              <a:off x="5744094" y="3877887"/>
              <a:ext cx="270163" cy="423949"/>
            </a:xfrm>
            <a:prstGeom prst="rect">
              <a:avLst/>
            </a:prstGeom>
          </p:spPr>
        </p:pic>
        <p:pic>
          <p:nvPicPr>
            <p:cNvPr id="9" name="object 9"/>
            <p:cNvPicPr/>
            <p:nvPr/>
          </p:nvPicPr>
          <p:blipFill>
            <a:blip r:embed="rId6" cstate="print"/>
            <a:stretch>
              <a:fillRect/>
            </a:stretch>
          </p:blipFill>
          <p:spPr>
            <a:xfrm>
              <a:off x="5673435" y="4463934"/>
              <a:ext cx="1221970" cy="382385"/>
            </a:xfrm>
            <a:prstGeom prst="rect">
              <a:avLst/>
            </a:prstGeom>
          </p:spPr>
        </p:pic>
        <p:pic>
          <p:nvPicPr>
            <p:cNvPr id="10" name="object 10"/>
            <p:cNvPicPr/>
            <p:nvPr/>
          </p:nvPicPr>
          <p:blipFill>
            <a:blip r:embed="rId7" cstate="print"/>
            <a:stretch>
              <a:fillRect/>
            </a:stretch>
          </p:blipFill>
          <p:spPr>
            <a:xfrm>
              <a:off x="5744094" y="4447308"/>
              <a:ext cx="270163" cy="419792"/>
            </a:xfrm>
            <a:prstGeom prst="rect">
              <a:avLst/>
            </a:prstGeom>
          </p:spPr>
        </p:pic>
        <p:pic>
          <p:nvPicPr>
            <p:cNvPr id="11" name="object 11"/>
            <p:cNvPicPr/>
            <p:nvPr/>
          </p:nvPicPr>
          <p:blipFill>
            <a:blip r:embed="rId8" cstate="print"/>
            <a:stretch>
              <a:fillRect/>
            </a:stretch>
          </p:blipFill>
          <p:spPr>
            <a:xfrm>
              <a:off x="5673435" y="4742411"/>
              <a:ext cx="1221970" cy="378229"/>
            </a:xfrm>
            <a:prstGeom prst="rect">
              <a:avLst/>
            </a:prstGeom>
          </p:spPr>
        </p:pic>
        <p:pic>
          <p:nvPicPr>
            <p:cNvPr id="12" name="object 12"/>
            <p:cNvPicPr/>
            <p:nvPr/>
          </p:nvPicPr>
          <p:blipFill>
            <a:blip r:embed="rId9" cstate="print"/>
            <a:stretch>
              <a:fillRect/>
            </a:stretch>
          </p:blipFill>
          <p:spPr>
            <a:xfrm>
              <a:off x="5744094" y="4721628"/>
              <a:ext cx="270163" cy="423949"/>
            </a:xfrm>
            <a:prstGeom prst="rect">
              <a:avLst/>
            </a:prstGeom>
          </p:spPr>
        </p:pic>
        <p:pic>
          <p:nvPicPr>
            <p:cNvPr id="13" name="object 13"/>
            <p:cNvPicPr/>
            <p:nvPr/>
          </p:nvPicPr>
          <p:blipFill>
            <a:blip r:embed="rId10" cstate="print"/>
            <a:stretch>
              <a:fillRect/>
            </a:stretch>
          </p:blipFill>
          <p:spPr>
            <a:xfrm>
              <a:off x="5673435" y="5016731"/>
              <a:ext cx="1221970" cy="382385"/>
            </a:xfrm>
            <a:prstGeom prst="rect">
              <a:avLst/>
            </a:prstGeom>
          </p:spPr>
        </p:pic>
        <p:pic>
          <p:nvPicPr>
            <p:cNvPr id="14" name="object 14"/>
            <p:cNvPicPr/>
            <p:nvPr/>
          </p:nvPicPr>
          <p:blipFill>
            <a:blip r:embed="rId11" cstate="print"/>
            <a:stretch>
              <a:fillRect/>
            </a:stretch>
          </p:blipFill>
          <p:spPr>
            <a:xfrm>
              <a:off x="5744094" y="5000105"/>
              <a:ext cx="270163" cy="419792"/>
            </a:xfrm>
            <a:prstGeom prst="rect">
              <a:avLst/>
            </a:prstGeom>
          </p:spPr>
        </p:pic>
        <p:pic>
          <p:nvPicPr>
            <p:cNvPr id="15" name="object 15"/>
            <p:cNvPicPr/>
            <p:nvPr/>
          </p:nvPicPr>
          <p:blipFill>
            <a:blip r:embed="rId12" cstate="print"/>
            <a:stretch>
              <a:fillRect/>
            </a:stretch>
          </p:blipFill>
          <p:spPr>
            <a:xfrm>
              <a:off x="5673435" y="5299363"/>
              <a:ext cx="1221970" cy="378229"/>
            </a:xfrm>
            <a:prstGeom prst="rect">
              <a:avLst/>
            </a:prstGeom>
          </p:spPr>
        </p:pic>
        <p:pic>
          <p:nvPicPr>
            <p:cNvPr id="16" name="object 16"/>
            <p:cNvPicPr/>
            <p:nvPr/>
          </p:nvPicPr>
          <p:blipFill>
            <a:blip r:embed="rId13" cstate="print"/>
            <a:stretch>
              <a:fillRect/>
            </a:stretch>
          </p:blipFill>
          <p:spPr>
            <a:xfrm>
              <a:off x="5744094" y="5278581"/>
              <a:ext cx="270163" cy="423949"/>
            </a:xfrm>
            <a:prstGeom prst="rect">
              <a:avLst/>
            </a:prstGeom>
          </p:spPr>
        </p:pic>
        <p:pic>
          <p:nvPicPr>
            <p:cNvPr id="17" name="object 17"/>
            <p:cNvPicPr/>
            <p:nvPr/>
          </p:nvPicPr>
          <p:blipFill>
            <a:blip r:embed="rId14" cstate="print"/>
            <a:stretch>
              <a:fillRect/>
            </a:stretch>
          </p:blipFill>
          <p:spPr>
            <a:xfrm>
              <a:off x="5673435" y="5573683"/>
              <a:ext cx="1221970" cy="382385"/>
            </a:xfrm>
            <a:prstGeom prst="rect">
              <a:avLst/>
            </a:prstGeom>
          </p:spPr>
        </p:pic>
        <p:pic>
          <p:nvPicPr>
            <p:cNvPr id="18" name="object 18"/>
            <p:cNvPicPr/>
            <p:nvPr/>
          </p:nvPicPr>
          <p:blipFill>
            <a:blip r:embed="rId15" cstate="print"/>
            <a:stretch>
              <a:fillRect/>
            </a:stretch>
          </p:blipFill>
          <p:spPr>
            <a:xfrm>
              <a:off x="5744094" y="5557058"/>
              <a:ext cx="270163" cy="419792"/>
            </a:xfrm>
            <a:prstGeom prst="rect">
              <a:avLst/>
            </a:prstGeom>
          </p:spPr>
        </p:pic>
        <p:pic>
          <p:nvPicPr>
            <p:cNvPr id="19" name="object 19"/>
            <p:cNvPicPr/>
            <p:nvPr/>
          </p:nvPicPr>
          <p:blipFill>
            <a:blip r:embed="rId16" cstate="print"/>
            <a:stretch>
              <a:fillRect/>
            </a:stretch>
          </p:blipFill>
          <p:spPr>
            <a:xfrm>
              <a:off x="5673435" y="5852159"/>
              <a:ext cx="1221970" cy="378229"/>
            </a:xfrm>
            <a:prstGeom prst="rect">
              <a:avLst/>
            </a:prstGeom>
          </p:spPr>
        </p:pic>
        <p:pic>
          <p:nvPicPr>
            <p:cNvPr id="20" name="object 20"/>
            <p:cNvPicPr/>
            <p:nvPr/>
          </p:nvPicPr>
          <p:blipFill>
            <a:blip r:embed="rId17" cstate="print"/>
            <a:stretch>
              <a:fillRect/>
            </a:stretch>
          </p:blipFill>
          <p:spPr>
            <a:xfrm>
              <a:off x="5744094" y="5831377"/>
              <a:ext cx="270163" cy="423949"/>
            </a:xfrm>
            <a:prstGeom prst="rect">
              <a:avLst/>
            </a:prstGeom>
          </p:spPr>
        </p:pic>
        <p:pic>
          <p:nvPicPr>
            <p:cNvPr id="21" name="object 21"/>
            <p:cNvPicPr/>
            <p:nvPr/>
          </p:nvPicPr>
          <p:blipFill>
            <a:blip r:embed="rId18" cstate="print"/>
            <a:stretch>
              <a:fillRect/>
            </a:stretch>
          </p:blipFill>
          <p:spPr>
            <a:xfrm>
              <a:off x="5673435" y="6126479"/>
              <a:ext cx="1221970" cy="382385"/>
            </a:xfrm>
            <a:prstGeom prst="rect">
              <a:avLst/>
            </a:prstGeom>
          </p:spPr>
        </p:pic>
        <p:pic>
          <p:nvPicPr>
            <p:cNvPr id="22" name="object 22"/>
            <p:cNvPicPr/>
            <p:nvPr/>
          </p:nvPicPr>
          <p:blipFill>
            <a:blip r:embed="rId19" cstate="print"/>
            <a:stretch>
              <a:fillRect/>
            </a:stretch>
          </p:blipFill>
          <p:spPr>
            <a:xfrm>
              <a:off x="5744094" y="6109854"/>
              <a:ext cx="270163" cy="419792"/>
            </a:xfrm>
            <a:prstGeom prst="rect">
              <a:avLst/>
            </a:prstGeom>
          </p:spPr>
        </p:pic>
        <p:pic>
          <p:nvPicPr>
            <p:cNvPr id="23" name="object 23"/>
            <p:cNvPicPr/>
            <p:nvPr/>
          </p:nvPicPr>
          <p:blipFill>
            <a:blip r:embed="rId20" cstate="print"/>
            <a:stretch>
              <a:fillRect/>
            </a:stretch>
          </p:blipFill>
          <p:spPr>
            <a:xfrm>
              <a:off x="5673435" y="6417425"/>
              <a:ext cx="1221970" cy="382385"/>
            </a:xfrm>
            <a:prstGeom prst="rect">
              <a:avLst/>
            </a:prstGeom>
          </p:spPr>
        </p:pic>
        <p:pic>
          <p:nvPicPr>
            <p:cNvPr id="24" name="object 24"/>
            <p:cNvPicPr/>
            <p:nvPr/>
          </p:nvPicPr>
          <p:blipFill>
            <a:blip r:embed="rId21" cstate="print"/>
            <a:stretch>
              <a:fillRect/>
            </a:stretch>
          </p:blipFill>
          <p:spPr>
            <a:xfrm>
              <a:off x="5744094" y="6400800"/>
              <a:ext cx="270163" cy="419792"/>
            </a:xfrm>
            <a:prstGeom prst="rect">
              <a:avLst/>
            </a:prstGeom>
          </p:spPr>
        </p:pic>
      </p:grpSp>
      <p:graphicFrame>
        <p:nvGraphicFramePr>
          <p:cNvPr id="25" name="object 25"/>
          <p:cNvGraphicFramePr>
            <a:graphicFrameLocks noGrp="1"/>
          </p:cNvGraphicFramePr>
          <p:nvPr/>
        </p:nvGraphicFramePr>
        <p:xfrm>
          <a:off x="7219611" y="3943181"/>
          <a:ext cx="1118235" cy="2794000"/>
        </p:xfrm>
        <a:graphic>
          <a:graphicData uri="http://schemas.openxmlformats.org/drawingml/2006/table">
            <a:tbl>
              <a:tblPr firstRow="1" bandRow="1">
                <a:tableStyleId>{2D5ABB26-0587-4C30-8999-92F81FD0307C}</a:tableStyleId>
              </a:tblPr>
              <a:tblGrid>
                <a:gridCol w="1118235">
                  <a:extLst>
                    <a:ext uri="{9D8B030D-6E8A-4147-A177-3AD203B41FA5}">
                      <a16:colId xmlns:a16="http://schemas.microsoft.com/office/drawing/2014/main" val="20000"/>
                    </a:ext>
                  </a:extLst>
                </a:gridCol>
              </a:tblGrid>
              <a:tr h="283210">
                <a:tc>
                  <a:txBody>
                    <a:bodyPr/>
                    <a:lstStyle/>
                    <a:p>
                      <a:pPr marL="90805">
                        <a:lnSpc>
                          <a:spcPts val="2130"/>
                        </a:lnSpc>
                        <a:spcBef>
                          <a:spcPts val="5"/>
                        </a:spcBef>
                      </a:pPr>
                      <a:r>
                        <a:rPr sz="1800" dirty="0">
                          <a:latin typeface="Arial"/>
                          <a:cs typeface="Arial"/>
                        </a:rPr>
                        <a:t>0</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83845">
                <a:tc>
                  <a:txBody>
                    <a:bodyPr/>
                    <a:lstStyle/>
                    <a:p>
                      <a:pPr marL="90805">
                        <a:lnSpc>
                          <a:spcPts val="2070"/>
                        </a:lnSpc>
                        <a:spcBef>
                          <a:spcPts val="65"/>
                        </a:spcBef>
                      </a:pPr>
                      <a:r>
                        <a:rPr sz="1800" dirty="0">
                          <a:latin typeface="Arial"/>
                          <a:cs typeface="Arial"/>
                        </a:rPr>
                        <a:t>1</a:t>
                      </a:r>
                      <a:endParaRPr sz="1800">
                        <a:latin typeface="Arial"/>
                        <a:cs typeface="Arial"/>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276225">
                <a:tc>
                  <a:txBody>
                    <a:bodyPr/>
                    <a:lstStyle/>
                    <a:p>
                      <a:pPr marL="90805">
                        <a:lnSpc>
                          <a:spcPts val="2065"/>
                        </a:lnSpc>
                        <a:spcBef>
                          <a:spcPts val="10"/>
                        </a:spcBef>
                      </a:pPr>
                      <a:r>
                        <a:rPr sz="1800" dirty="0">
                          <a:latin typeface="Arial"/>
                          <a:cs typeface="Arial"/>
                        </a:rPr>
                        <a:t>2</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76225">
                <a:tc>
                  <a:txBody>
                    <a:bodyPr/>
                    <a:lstStyle/>
                    <a:p>
                      <a:pPr marL="90805">
                        <a:lnSpc>
                          <a:spcPts val="2070"/>
                        </a:lnSpc>
                        <a:spcBef>
                          <a:spcPts val="5"/>
                        </a:spcBef>
                      </a:pPr>
                      <a:r>
                        <a:rPr sz="1800" dirty="0">
                          <a:latin typeface="Arial"/>
                          <a:cs typeface="Arial"/>
                        </a:rPr>
                        <a:t>3</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3"/>
                  </a:ext>
                </a:extLst>
              </a:tr>
              <a:tr h="277495">
                <a:tc>
                  <a:txBody>
                    <a:bodyPr/>
                    <a:lstStyle/>
                    <a:p>
                      <a:pPr marL="90805">
                        <a:lnSpc>
                          <a:spcPts val="2080"/>
                        </a:lnSpc>
                        <a:spcBef>
                          <a:spcPts val="10"/>
                        </a:spcBef>
                      </a:pPr>
                      <a:r>
                        <a:rPr sz="1800" dirty="0">
                          <a:latin typeface="Arial"/>
                          <a:cs typeface="Arial"/>
                        </a:rPr>
                        <a:t>4</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4"/>
                  </a:ext>
                </a:extLst>
              </a:tr>
              <a:tr h="277495">
                <a:tc>
                  <a:txBody>
                    <a:bodyPr/>
                    <a:lstStyle/>
                    <a:p>
                      <a:pPr marL="90805">
                        <a:lnSpc>
                          <a:spcPts val="2070"/>
                        </a:lnSpc>
                        <a:spcBef>
                          <a:spcPts val="15"/>
                        </a:spcBef>
                      </a:pPr>
                      <a:r>
                        <a:rPr sz="1800" dirty="0">
                          <a:latin typeface="Arial"/>
                          <a:cs typeface="Arial"/>
                        </a:rPr>
                        <a:t>5</a:t>
                      </a:r>
                      <a:endParaRPr sz="1800">
                        <a:latin typeface="Arial"/>
                        <a:cs typeface="Arial"/>
                      </a:endParaRPr>
                    </a:p>
                  </a:txBody>
                  <a:tcPr marL="0" marR="0" marT="190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5"/>
                  </a:ext>
                </a:extLst>
              </a:tr>
              <a:tr h="276225">
                <a:tc>
                  <a:txBody>
                    <a:bodyPr/>
                    <a:lstStyle/>
                    <a:p>
                      <a:pPr marL="90805">
                        <a:lnSpc>
                          <a:spcPts val="2065"/>
                        </a:lnSpc>
                        <a:spcBef>
                          <a:spcPts val="10"/>
                        </a:spcBef>
                      </a:pPr>
                      <a:r>
                        <a:rPr sz="1800" dirty="0">
                          <a:latin typeface="Arial"/>
                          <a:cs typeface="Arial"/>
                        </a:rPr>
                        <a:t>6</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76225">
                <a:tc>
                  <a:txBody>
                    <a:bodyPr/>
                    <a:lstStyle/>
                    <a:p>
                      <a:pPr marL="90805">
                        <a:lnSpc>
                          <a:spcPts val="2070"/>
                        </a:lnSpc>
                        <a:spcBef>
                          <a:spcPts val="5"/>
                        </a:spcBef>
                      </a:pPr>
                      <a:r>
                        <a:rPr sz="1800" dirty="0">
                          <a:latin typeface="Arial"/>
                          <a:cs typeface="Arial"/>
                        </a:rPr>
                        <a:t>7</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7"/>
                  </a:ext>
                </a:extLst>
              </a:tr>
              <a:tr h="283845">
                <a:tc>
                  <a:txBody>
                    <a:bodyPr/>
                    <a:lstStyle/>
                    <a:p>
                      <a:pPr marL="90805">
                        <a:lnSpc>
                          <a:spcPts val="2130"/>
                        </a:lnSpc>
                        <a:spcBef>
                          <a:spcPts val="10"/>
                        </a:spcBef>
                      </a:pPr>
                      <a:r>
                        <a:rPr sz="1800" dirty="0">
                          <a:latin typeface="Arial"/>
                          <a:cs typeface="Arial"/>
                        </a:rPr>
                        <a:t>8</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283210">
                <a:tc>
                  <a:txBody>
                    <a:bodyPr/>
                    <a:lstStyle/>
                    <a:p>
                      <a:pPr marL="90805">
                        <a:lnSpc>
                          <a:spcPts val="2065"/>
                        </a:lnSpc>
                        <a:spcBef>
                          <a:spcPts val="65"/>
                        </a:spcBef>
                      </a:pPr>
                      <a:r>
                        <a:rPr sz="1800" dirty="0">
                          <a:latin typeface="Arial"/>
                          <a:cs typeface="Arial"/>
                        </a:rPr>
                        <a:t>9</a:t>
                      </a:r>
                      <a:endParaRPr sz="1800">
                        <a:latin typeface="Arial"/>
                        <a:cs typeface="Arial"/>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bl>
          </a:graphicData>
        </a:graphic>
      </p:graphicFrame>
      <p:grpSp>
        <p:nvGrpSpPr>
          <p:cNvPr id="26" name="object 26"/>
          <p:cNvGrpSpPr/>
          <p:nvPr/>
        </p:nvGrpSpPr>
        <p:grpSpPr>
          <a:xfrm>
            <a:off x="2380211" y="3898669"/>
            <a:ext cx="1222375" cy="2893060"/>
            <a:chOff x="856210" y="3898669"/>
            <a:chExt cx="1222375" cy="2893060"/>
          </a:xfrm>
        </p:grpSpPr>
        <p:pic>
          <p:nvPicPr>
            <p:cNvPr id="27" name="object 27"/>
            <p:cNvPicPr/>
            <p:nvPr/>
          </p:nvPicPr>
          <p:blipFill>
            <a:blip r:embed="rId22" cstate="print"/>
            <a:stretch>
              <a:fillRect/>
            </a:stretch>
          </p:blipFill>
          <p:spPr>
            <a:xfrm>
              <a:off x="856210" y="3898669"/>
              <a:ext cx="1221970" cy="2892828"/>
            </a:xfrm>
            <a:prstGeom prst="rect">
              <a:avLst/>
            </a:prstGeom>
          </p:spPr>
        </p:pic>
        <p:pic>
          <p:nvPicPr>
            <p:cNvPr id="28" name="object 28"/>
            <p:cNvPicPr/>
            <p:nvPr/>
          </p:nvPicPr>
          <p:blipFill>
            <a:blip r:embed="rId23" cstate="print"/>
            <a:stretch>
              <a:fillRect/>
            </a:stretch>
          </p:blipFill>
          <p:spPr>
            <a:xfrm>
              <a:off x="1192876" y="5137265"/>
              <a:ext cx="548640" cy="419792"/>
            </a:xfrm>
            <a:prstGeom prst="rect">
              <a:avLst/>
            </a:prstGeom>
          </p:spPr>
        </p:pic>
      </p:grpSp>
      <p:sp>
        <p:nvSpPr>
          <p:cNvPr id="29" name="object 29"/>
          <p:cNvSpPr txBox="1"/>
          <p:nvPr/>
        </p:nvSpPr>
        <p:spPr>
          <a:xfrm>
            <a:off x="2407512" y="3949531"/>
            <a:ext cx="1118235" cy="1600438"/>
          </a:xfrm>
          <a:prstGeom prst="rect">
            <a:avLst/>
          </a:prstGeom>
          <a:ln w="12699">
            <a:solidFill>
              <a:srgbClr val="000000"/>
            </a:solidFill>
          </a:ln>
        </p:spPr>
        <p:txBody>
          <a:bodyPr vert="horz" wrap="square" lIns="0" tIns="0" rIns="0" bIns="0" rtlCol="0">
            <a:spAutoFit/>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spcBef>
                <a:spcPts val="15"/>
              </a:spcBef>
            </a:pPr>
            <a:endParaRPr sz="2600">
              <a:latin typeface="Times New Roman"/>
              <a:cs typeface="Times New Roman"/>
            </a:endParaRPr>
          </a:p>
          <a:p>
            <a:pPr marL="358775"/>
            <a:r>
              <a:rPr b="1" spc="-20" dirty="0">
                <a:latin typeface="Arial"/>
                <a:cs typeface="Arial"/>
              </a:rPr>
              <a:t>ints</a:t>
            </a:r>
            <a:endParaRPr>
              <a:latin typeface="Arial"/>
              <a:cs typeface="Arial"/>
            </a:endParaRPr>
          </a:p>
        </p:txBody>
      </p:sp>
      <p:grpSp>
        <p:nvGrpSpPr>
          <p:cNvPr id="30" name="object 30"/>
          <p:cNvGrpSpPr/>
          <p:nvPr/>
        </p:nvGrpSpPr>
        <p:grpSpPr>
          <a:xfrm>
            <a:off x="4520738" y="4667596"/>
            <a:ext cx="1222375" cy="902335"/>
            <a:chOff x="2996737" y="4667595"/>
            <a:chExt cx="1222375" cy="902335"/>
          </a:xfrm>
        </p:grpSpPr>
        <p:pic>
          <p:nvPicPr>
            <p:cNvPr id="31" name="object 31"/>
            <p:cNvPicPr/>
            <p:nvPr/>
          </p:nvPicPr>
          <p:blipFill>
            <a:blip r:embed="rId24" cstate="print"/>
            <a:stretch>
              <a:fillRect/>
            </a:stretch>
          </p:blipFill>
          <p:spPr>
            <a:xfrm>
              <a:off x="2996737" y="4667595"/>
              <a:ext cx="1221970" cy="901930"/>
            </a:xfrm>
            <a:prstGeom prst="rect">
              <a:avLst/>
            </a:prstGeom>
          </p:spPr>
        </p:pic>
        <p:pic>
          <p:nvPicPr>
            <p:cNvPr id="32" name="object 32"/>
            <p:cNvPicPr/>
            <p:nvPr/>
          </p:nvPicPr>
          <p:blipFill>
            <a:blip r:embed="rId25" cstate="print"/>
            <a:stretch>
              <a:fillRect/>
            </a:stretch>
          </p:blipFill>
          <p:spPr>
            <a:xfrm>
              <a:off x="3117272" y="4771504"/>
              <a:ext cx="1005839" cy="689956"/>
            </a:xfrm>
            <a:prstGeom prst="rect">
              <a:avLst/>
            </a:prstGeom>
          </p:spPr>
        </p:pic>
      </p:grpSp>
      <p:sp>
        <p:nvSpPr>
          <p:cNvPr id="33" name="object 33"/>
          <p:cNvSpPr txBox="1"/>
          <p:nvPr/>
        </p:nvSpPr>
        <p:spPr>
          <a:xfrm>
            <a:off x="4547813" y="4721371"/>
            <a:ext cx="1118235" cy="677750"/>
          </a:xfrm>
          <a:prstGeom prst="rect">
            <a:avLst/>
          </a:prstGeom>
          <a:ln w="12699">
            <a:solidFill>
              <a:srgbClr val="000000"/>
            </a:solidFill>
          </a:ln>
        </p:spPr>
        <p:txBody>
          <a:bodyPr vert="horz" wrap="square" lIns="0" tIns="137795" rIns="0" bIns="0" rtlCol="0">
            <a:spAutoFit/>
          </a:bodyPr>
          <a:lstStyle/>
          <a:p>
            <a:pPr marL="154940" marR="141605" indent="111125">
              <a:lnSpc>
                <a:spcPts val="2100"/>
              </a:lnSpc>
              <a:spcBef>
                <a:spcPts val="1085"/>
              </a:spcBef>
            </a:pPr>
            <a:r>
              <a:rPr i="1" dirty="0">
                <a:latin typeface="Arial"/>
                <a:cs typeface="Arial"/>
              </a:rPr>
              <a:t>h(x)</a:t>
            </a:r>
            <a:r>
              <a:rPr i="1" spc="-5" dirty="0">
                <a:latin typeface="Arial"/>
                <a:cs typeface="Arial"/>
              </a:rPr>
              <a:t> </a:t>
            </a:r>
            <a:r>
              <a:rPr i="1" spc="-50" dirty="0">
                <a:latin typeface="Arial"/>
                <a:cs typeface="Arial"/>
              </a:rPr>
              <a:t>= </a:t>
            </a:r>
            <a:r>
              <a:rPr i="1" spc="-10" dirty="0">
                <a:latin typeface="Arial"/>
                <a:cs typeface="Arial"/>
              </a:rPr>
              <a:t>key%10</a:t>
            </a:r>
            <a:endParaRPr>
              <a:latin typeface="Arial"/>
              <a:cs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40" y="1785620"/>
            <a:ext cx="4011295" cy="452120"/>
          </a:xfrm>
          <a:prstGeom prst="rect">
            <a:avLst/>
          </a:prstGeom>
        </p:spPr>
        <p:txBody>
          <a:bodyPr vert="horz" wrap="square" lIns="0" tIns="12700" rIns="0" bIns="0" rtlCol="0">
            <a:spAutoFit/>
          </a:bodyPr>
          <a:lstStyle/>
          <a:p>
            <a:pPr marL="354965" indent="-342265">
              <a:spcBef>
                <a:spcPts val="100"/>
              </a:spcBef>
              <a:buFont typeface="Arial"/>
              <a:buChar char="•"/>
              <a:tabLst>
                <a:tab pos="354965" algn="l"/>
                <a:tab pos="355600" algn="l"/>
              </a:tabLst>
            </a:pPr>
            <a:r>
              <a:rPr sz="2800" b="1" dirty="0">
                <a:latin typeface="Arial"/>
                <a:cs typeface="Arial"/>
              </a:rPr>
              <a:t>Let’s</a:t>
            </a:r>
            <a:r>
              <a:rPr sz="2800" b="1" spc="-65" dirty="0">
                <a:latin typeface="Arial"/>
                <a:cs typeface="Arial"/>
              </a:rPr>
              <a:t> </a:t>
            </a:r>
            <a:r>
              <a:rPr sz="2800" b="1" dirty="0">
                <a:latin typeface="Arial"/>
                <a:cs typeface="Arial"/>
              </a:rPr>
              <a:t>insert(519)</a:t>
            </a:r>
            <a:r>
              <a:rPr sz="2800" b="1" spc="-60" dirty="0">
                <a:latin typeface="Arial"/>
                <a:cs typeface="Arial"/>
              </a:rPr>
              <a:t> </a:t>
            </a:r>
            <a:r>
              <a:rPr sz="2800" b="1" spc="-10" dirty="0">
                <a:latin typeface="Arial"/>
                <a:cs typeface="Arial"/>
              </a:rPr>
              <a:t>table</a:t>
            </a:r>
            <a:endParaRPr sz="2800">
              <a:latin typeface="Arial"/>
              <a:cs typeface="Arial"/>
            </a:endParaRPr>
          </a:p>
        </p:txBody>
      </p:sp>
      <p:sp>
        <p:nvSpPr>
          <p:cNvPr id="3" name="object 3"/>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spc="-10" dirty="0"/>
              <a:t>HASH</a:t>
            </a:r>
            <a:r>
              <a:rPr spc="-275" dirty="0"/>
              <a:t> </a:t>
            </a:r>
            <a:r>
              <a:rPr spc="-60" dirty="0"/>
              <a:t>EXAMPLE</a:t>
            </a:r>
          </a:p>
        </p:txBody>
      </p:sp>
      <p:grpSp>
        <p:nvGrpSpPr>
          <p:cNvPr id="4" name="object 4"/>
          <p:cNvGrpSpPr/>
          <p:nvPr/>
        </p:nvGrpSpPr>
        <p:grpSpPr>
          <a:xfrm>
            <a:off x="7197436" y="3877888"/>
            <a:ext cx="1222375" cy="2943225"/>
            <a:chOff x="5673435" y="3877887"/>
            <a:chExt cx="1222375" cy="2943225"/>
          </a:xfrm>
        </p:grpSpPr>
        <p:pic>
          <p:nvPicPr>
            <p:cNvPr id="5" name="object 5"/>
            <p:cNvPicPr/>
            <p:nvPr/>
          </p:nvPicPr>
          <p:blipFill>
            <a:blip r:embed="rId2" cstate="print"/>
            <a:stretch>
              <a:fillRect/>
            </a:stretch>
          </p:blipFill>
          <p:spPr>
            <a:xfrm>
              <a:off x="5673435" y="4189614"/>
              <a:ext cx="1221970" cy="378229"/>
            </a:xfrm>
            <a:prstGeom prst="rect">
              <a:avLst/>
            </a:prstGeom>
          </p:spPr>
        </p:pic>
        <p:pic>
          <p:nvPicPr>
            <p:cNvPr id="6" name="object 6"/>
            <p:cNvPicPr/>
            <p:nvPr/>
          </p:nvPicPr>
          <p:blipFill>
            <a:blip r:embed="rId3" cstate="print"/>
            <a:stretch>
              <a:fillRect/>
            </a:stretch>
          </p:blipFill>
          <p:spPr>
            <a:xfrm>
              <a:off x="5744094" y="4168833"/>
              <a:ext cx="270163" cy="423949"/>
            </a:xfrm>
            <a:prstGeom prst="rect">
              <a:avLst/>
            </a:prstGeom>
          </p:spPr>
        </p:pic>
        <p:pic>
          <p:nvPicPr>
            <p:cNvPr id="7" name="object 7"/>
            <p:cNvPicPr/>
            <p:nvPr/>
          </p:nvPicPr>
          <p:blipFill>
            <a:blip r:embed="rId4" cstate="print"/>
            <a:stretch>
              <a:fillRect/>
            </a:stretch>
          </p:blipFill>
          <p:spPr>
            <a:xfrm>
              <a:off x="5673435" y="3898668"/>
              <a:ext cx="1221970" cy="378229"/>
            </a:xfrm>
            <a:prstGeom prst="rect">
              <a:avLst/>
            </a:prstGeom>
          </p:spPr>
        </p:pic>
        <p:pic>
          <p:nvPicPr>
            <p:cNvPr id="8" name="object 8"/>
            <p:cNvPicPr/>
            <p:nvPr/>
          </p:nvPicPr>
          <p:blipFill>
            <a:blip r:embed="rId5" cstate="print"/>
            <a:stretch>
              <a:fillRect/>
            </a:stretch>
          </p:blipFill>
          <p:spPr>
            <a:xfrm>
              <a:off x="5744094" y="3877887"/>
              <a:ext cx="270163" cy="423949"/>
            </a:xfrm>
            <a:prstGeom prst="rect">
              <a:avLst/>
            </a:prstGeom>
          </p:spPr>
        </p:pic>
        <p:pic>
          <p:nvPicPr>
            <p:cNvPr id="9" name="object 9"/>
            <p:cNvPicPr/>
            <p:nvPr/>
          </p:nvPicPr>
          <p:blipFill>
            <a:blip r:embed="rId6" cstate="print"/>
            <a:stretch>
              <a:fillRect/>
            </a:stretch>
          </p:blipFill>
          <p:spPr>
            <a:xfrm>
              <a:off x="5673435" y="4463934"/>
              <a:ext cx="1221970" cy="382385"/>
            </a:xfrm>
            <a:prstGeom prst="rect">
              <a:avLst/>
            </a:prstGeom>
          </p:spPr>
        </p:pic>
        <p:pic>
          <p:nvPicPr>
            <p:cNvPr id="10" name="object 10"/>
            <p:cNvPicPr/>
            <p:nvPr/>
          </p:nvPicPr>
          <p:blipFill>
            <a:blip r:embed="rId7" cstate="print"/>
            <a:stretch>
              <a:fillRect/>
            </a:stretch>
          </p:blipFill>
          <p:spPr>
            <a:xfrm>
              <a:off x="5744094" y="4447308"/>
              <a:ext cx="270163" cy="419792"/>
            </a:xfrm>
            <a:prstGeom prst="rect">
              <a:avLst/>
            </a:prstGeom>
          </p:spPr>
        </p:pic>
        <p:pic>
          <p:nvPicPr>
            <p:cNvPr id="11" name="object 11"/>
            <p:cNvPicPr/>
            <p:nvPr/>
          </p:nvPicPr>
          <p:blipFill>
            <a:blip r:embed="rId8" cstate="print"/>
            <a:stretch>
              <a:fillRect/>
            </a:stretch>
          </p:blipFill>
          <p:spPr>
            <a:xfrm>
              <a:off x="5673435" y="4742411"/>
              <a:ext cx="1221970" cy="378229"/>
            </a:xfrm>
            <a:prstGeom prst="rect">
              <a:avLst/>
            </a:prstGeom>
          </p:spPr>
        </p:pic>
        <p:pic>
          <p:nvPicPr>
            <p:cNvPr id="12" name="object 12"/>
            <p:cNvPicPr/>
            <p:nvPr/>
          </p:nvPicPr>
          <p:blipFill>
            <a:blip r:embed="rId9" cstate="print"/>
            <a:stretch>
              <a:fillRect/>
            </a:stretch>
          </p:blipFill>
          <p:spPr>
            <a:xfrm>
              <a:off x="5744094" y="4721628"/>
              <a:ext cx="270163" cy="423949"/>
            </a:xfrm>
            <a:prstGeom prst="rect">
              <a:avLst/>
            </a:prstGeom>
          </p:spPr>
        </p:pic>
        <p:pic>
          <p:nvPicPr>
            <p:cNvPr id="13" name="object 13"/>
            <p:cNvPicPr/>
            <p:nvPr/>
          </p:nvPicPr>
          <p:blipFill>
            <a:blip r:embed="rId10" cstate="print"/>
            <a:stretch>
              <a:fillRect/>
            </a:stretch>
          </p:blipFill>
          <p:spPr>
            <a:xfrm>
              <a:off x="5673435" y="5016731"/>
              <a:ext cx="1221970" cy="382385"/>
            </a:xfrm>
            <a:prstGeom prst="rect">
              <a:avLst/>
            </a:prstGeom>
          </p:spPr>
        </p:pic>
        <p:pic>
          <p:nvPicPr>
            <p:cNvPr id="14" name="object 14"/>
            <p:cNvPicPr/>
            <p:nvPr/>
          </p:nvPicPr>
          <p:blipFill>
            <a:blip r:embed="rId11" cstate="print"/>
            <a:stretch>
              <a:fillRect/>
            </a:stretch>
          </p:blipFill>
          <p:spPr>
            <a:xfrm>
              <a:off x="5744094" y="5000105"/>
              <a:ext cx="270163" cy="419792"/>
            </a:xfrm>
            <a:prstGeom prst="rect">
              <a:avLst/>
            </a:prstGeom>
          </p:spPr>
        </p:pic>
        <p:pic>
          <p:nvPicPr>
            <p:cNvPr id="15" name="object 15"/>
            <p:cNvPicPr/>
            <p:nvPr/>
          </p:nvPicPr>
          <p:blipFill>
            <a:blip r:embed="rId12" cstate="print"/>
            <a:stretch>
              <a:fillRect/>
            </a:stretch>
          </p:blipFill>
          <p:spPr>
            <a:xfrm>
              <a:off x="5673435" y="5299363"/>
              <a:ext cx="1221970" cy="378229"/>
            </a:xfrm>
            <a:prstGeom prst="rect">
              <a:avLst/>
            </a:prstGeom>
          </p:spPr>
        </p:pic>
        <p:pic>
          <p:nvPicPr>
            <p:cNvPr id="16" name="object 16"/>
            <p:cNvPicPr/>
            <p:nvPr/>
          </p:nvPicPr>
          <p:blipFill>
            <a:blip r:embed="rId13" cstate="print"/>
            <a:stretch>
              <a:fillRect/>
            </a:stretch>
          </p:blipFill>
          <p:spPr>
            <a:xfrm>
              <a:off x="5744094" y="5278581"/>
              <a:ext cx="270163" cy="423949"/>
            </a:xfrm>
            <a:prstGeom prst="rect">
              <a:avLst/>
            </a:prstGeom>
          </p:spPr>
        </p:pic>
        <p:pic>
          <p:nvPicPr>
            <p:cNvPr id="17" name="object 17"/>
            <p:cNvPicPr/>
            <p:nvPr/>
          </p:nvPicPr>
          <p:blipFill>
            <a:blip r:embed="rId14" cstate="print"/>
            <a:stretch>
              <a:fillRect/>
            </a:stretch>
          </p:blipFill>
          <p:spPr>
            <a:xfrm>
              <a:off x="5673435" y="5573683"/>
              <a:ext cx="1221970" cy="382385"/>
            </a:xfrm>
            <a:prstGeom prst="rect">
              <a:avLst/>
            </a:prstGeom>
          </p:spPr>
        </p:pic>
        <p:pic>
          <p:nvPicPr>
            <p:cNvPr id="18" name="object 18"/>
            <p:cNvPicPr/>
            <p:nvPr/>
          </p:nvPicPr>
          <p:blipFill>
            <a:blip r:embed="rId15" cstate="print"/>
            <a:stretch>
              <a:fillRect/>
            </a:stretch>
          </p:blipFill>
          <p:spPr>
            <a:xfrm>
              <a:off x="5744094" y="5557058"/>
              <a:ext cx="270163" cy="419792"/>
            </a:xfrm>
            <a:prstGeom prst="rect">
              <a:avLst/>
            </a:prstGeom>
          </p:spPr>
        </p:pic>
        <p:pic>
          <p:nvPicPr>
            <p:cNvPr id="19" name="object 19"/>
            <p:cNvPicPr/>
            <p:nvPr/>
          </p:nvPicPr>
          <p:blipFill>
            <a:blip r:embed="rId16" cstate="print"/>
            <a:stretch>
              <a:fillRect/>
            </a:stretch>
          </p:blipFill>
          <p:spPr>
            <a:xfrm>
              <a:off x="5673435" y="5852159"/>
              <a:ext cx="1221970" cy="378229"/>
            </a:xfrm>
            <a:prstGeom prst="rect">
              <a:avLst/>
            </a:prstGeom>
          </p:spPr>
        </p:pic>
        <p:pic>
          <p:nvPicPr>
            <p:cNvPr id="20" name="object 20"/>
            <p:cNvPicPr/>
            <p:nvPr/>
          </p:nvPicPr>
          <p:blipFill>
            <a:blip r:embed="rId17" cstate="print"/>
            <a:stretch>
              <a:fillRect/>
            </a:stretch>
          </p:blipFill>
          <p:spPr>
            <a:xfrm>
              <a:off x="5744094" y="5831377"/>
              <a:ext cx="270163" cy="423949"/>
            </a:xfrm>
            <a:prstGeom prst="rect">
              <a:avLst/>
            </a:prstGeom>
          </p:spPr>
        </p:pic>
        <p:pic>
          <p:nvPicPr>
            <p:cNvPr id="21" name="object 21"/>
            <p:cNvPicPr/>
            <p:nvPr/>
          </p:nvPicPr>
          <p:blipFill>
            <a:blip r:embed="rId18" cstate="print"/>
            <a:stretch>
              <a:fillRect/>
            </a:stretch>
          </p:blipFill>
          <p:spPr>
            <a:xfrm>
              <a:off x="5673435" y="6126479"/>
              <a:ext cx="1221970" cy="382385"/>
            </a:xfrm>
            <a:prstGeom prst="rect">
              <a:avLst/>
            </a:prstGeom>
          </p:spPr>
        </p:pic>
        <p:pic>
          <p:nvPicPr>
            <p:cNvPr id="22" name="object 22"/>
            <p:cNvPicPr/>
            <p:nvPr/>
          </p:nvPicPr>
          <p:blipFill>
            <a:blip r:embed="rId19" cstate="print"/>
            <a:stretch>
              <a:fillRect/>
            </a:stretch>
          </p:blipFill>
          <p:spPr>
            <a:xfrm>
              <a:off x="5744094" y="6109854"/>
              <a:ext cx="270163" cy="419792"/>
            </a:xfrm>
            <a:prstGeom prst="rect">
              <a:avLst/>
            </a:prstGeom>
          </p:spPr>
        </p:pic>
        <p:pic>
          <p:nvPicPr>
            <p:cNvPr id="23" name="object 23"/>
            <p:cNvPicPr/>
            <p:nvPr/>
          </p:nvPicPr>
          <p:blipFill>
            <a:blip r:embed="rId20" cstate="print"/>
            <a:stretch>
              <a:fillRect/>
            </a:stretch>
          </p:blipFill>
          <p:spPr>
            <a:xfrm>
              <a:off x="5673435" y="6417425"/>
              <a:ext cx="1221970" cy="382385"/>
            </a:xfrm>
            <a:prstGeom prst="rect">
              <a:avLst/>
            </a:prstGeom>
          </p:spPr>
        </p:pic>
        <p:pic>
          <p:nvPicPr>
            <p:cNvPr id="24" name="object 24"/>
            <p:cNvPicPr/>
            <p:nvPr/>
          </p:nvPicPr>
          <p:blipFill>
            <a:blip r:embed="rId21" cstate="print"/>
            <a:stretch>
              <a:fillRect/>
            </a:stretch>
          </p:blipFill>
          <p:spPr>
            <a:xfrm>
              <a:off x="5744094" y="6400800"/>
              <a:ext cx="270163" cy="419792"/>
            </a:xfrm>
            <a:prstGeom prst="rect">
              <a:avLst/>
            </a:prstGeom>
          </p:spPr>
        </p:pic>
      </p:grpSp>
      <p:graphicFrame>
        <p:nvGraphicFramePr>
          <p:cNvPr id="25" name="object 25"/>
          <p:cNvGraphicFramePr>
            <a:graphicFrameLocks noGrp="1"/>
          </p:cNvGraphicFramePr>
          <p:nvPr/>
        </p:nvGraphicFramePr>
        <p:xfrm>
          <a:off x="7219611" y="3943181"/>
          <a:ext cx="1118235" cy="2794000"/>
        </p:xfrm>
        <a:graphic>
          <a:graphicData uri="http://schemas.openxmlformats.org/drawingml/2006/table">
            <a:tbl>
              <a:tblPr firstRow="1" bandRow="1">
                <a:tableStyleId>{2D5ABB26-0587-4C30-8999-92F81FD0307C}</a:tableStyleId>
              </a:tblPr>
              <a:tblGrid>
                <a:gridCol w="1118235">
                  <a:extLst>
                    <a:ext uri="{9D8B030D-6E8A-4147-A177-3AD203B41FA5}">
                      <a16:colId xmlns:a16="http://schemas.microsoft.com/office/drawing/2014/main" val="20000"/>
                    </a:ext>
                  </a:extLst>
                </a:gridCol>
              </a:tblGrid>
              <a:tr h="283210">
                <a:tc>
                  <a:txBody>
                    <a:bodyPr/>
                    <a:lstStyle/>
                    <a:p>
                      <a:pPr marL="90805">
                        <a:lnSpc>
                          <a:spcPts val="2130"/>
                        </a:lnSpc>
                        <a:spcBef>
                          <a:spcPts val="5"/>
                        </a:spcBef>
                      </a:pPr>
                      <a:r>
                        <a:rPr sz="1800" dirty="0">
                          <a:latin typeface="Arial"/>
                          <a:cs typeface="Arial"/>
                        </a:rPr>
                        <a:t>0</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83845">
                <a:tc>
                  <a:txBody>
                    <a:bodyPr/>
                    <a:lstStyle/>
                    <a:p>
                      <a:pPr marL="90805">
                        <a:lnSpc>
                          <a:spcPts val="2070"/>
                        </a:lnSpc>
                        <a:spcBef>
                          <a:spcPts val="65"/>
                        </a:spcBef>
                      </a:pPr>
                      <a:r>
                        <a:rPr sz="1800" dirty="0">
                          <a:latin typeface="Arial"/>
                          <a:cs typeface="Arial"/>
                        </a:rPr>
                        <a:t>1</a:t>
                      </a:r>
                      <a:endParaRPr sz="1800">
                        <a:latin typeface="Arial"/>
                        <a:cs typeface="Arial"/>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276225">
                <a:tc>
                  <a:txBody>
                    <a:bodyPr/>
                    <a:lstStyle/>
                    <a:p>
                      <a:pPr marL="90805">
                        <a:lnSpc>
                          <a:spcPts val="2065"/>
                        </a:lnSpc>
                        <a:spcBef>
                          <a:spcPts val="10"/>
                        </a:spcBef>
                      </a:pPr>
                      <a:r>
                        <a:rPr sz="1800" dirty="0">
                          <a:latin typeface="Arial"/>
                          <a:cs typeface="Arial"/>
                        </a:rPr>
                        <a:t>2</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76225">
                <a:tc>
                  <a:txBody>
                    <a:bodyPr/>
                    <a:lstStyle/>
                    <a:p>
                      <a:pPr marL="90805">
                        <a:lnSpc>
                          <a:spcPts val="2070"/>
                        </a:lnSpc>
                        <a:spcBef>
                          <a:spcPts val="5"/>
                        </a:spcBef>
                      </a:pPr>
                      <a:r>
                        <a:rPr sz="1800" dirty="0">
                          <a:latin typeface="Arial"/>
                          <a:cs typeface="Arial"/>
                        </a:rPr>
                        <a:t>3</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3"/>
                  </a:ext>
                </a:extLst>
              </a:tr>
              <a:tr h="277495">
                <a:tc>
                  <a:txBody>
                    <a:bodyPr/>
                    <a:lstStyle/>
                    <a:p>
                      <a:pPr marL="90805">
                        <a:lnSpc>
                          <a:spcPts val="2080"/>
                        </a:lnSpc>
                        <a:spcBef>
                          <a:spcPts val="10"/>
                        </a:spcBef>
                      </a:pPr>
                      <a:r>
                        <a:rPr sz="1800" dirty="0">
                          <a:latin typeface="Arial"/>
                          <a:cs typeface="Arial"/>
                        </a:rPr>
                        <a:t>4</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4"/>
                  </a:ext>
                </a:extLst>
              </a:tr>
              <a:tr h="277495">
                <a:tc>
                  <a:txBody>
                    <a:bodyPr/>
                    <a:lstStyle/>
                    <a:p>
                      <a:pPr marL="90805">
                        <a:lnSpc>
                          <a:spcPts val="2070"/>
                        </a:lnSpc>
                        <a:spcBef>
                          <a:spcPts val="15"/>
                        </a:spcBef>
                      </a:pPr>
                      <a:r>
                        <a:rPr sz="1800" dirty="0">
                          <a:latin typeface="Arial"/>
                          <a:cs typeface="Arial"/>
                        </a:rPr>
                        <a:t>5</a:t>
                      </a:r>
                      <a:endParaRPr sz="1800">
                        <a:latin typeface="Arial"/>
                        <a:cs typeface="Arial"/>
                      </a:endParaRPr>
                    </a:p>
                  </a:txBody>
                  <a:tcPr marL="0" marR="0" marT="190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5"/>
                  </a:ext>
                </a:extLst>
              </a:tr>
              <a:tr h="276225">
                <a:tc>
                  <a:txBody>
                    <a:bodyPr/>
                    <a:lstStyle/>
                    <a:p>
                      <a:pPr marL="90805">
                        <a:lnSpc>
                          <a:spcPts val="2065"/>
                        </a:lnSpc>
                        <a:spcBef>
                          <a:spcPts val="10"/>
                        </a:spcBef>
                      </a:pPr>
                      <a:r>
                        <a:rPr sz="1800" dirty="0">
                          <a:latin typeface="Arial"/>
                          <a:cs typeface="Arial"/>
                        </a:rPr>
                        <a:t>6</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76225">
                <a:tc>
                  <a:txBody>
                    <a:bodyPr/>
                    <a:lstStyle/>
                    <a:p>
                      <a:pPr marL="90805">
                        <a:lnSpc>
                          <a:spcPts val="2070"/>
                        </a:lnSpc>
                        <a:spcBef>
                          <a:spcPts val="5"/>
                        </a:spcBef>
                      </a:pPr>
                      <a:r>
                        <a:rPr sz="1800" dirty="0">
                          <a:latin typeface="Arial"/>
                          <a:cs typeface="Arial"/>
                        </a:rPr>
                        <a:t>7</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7"/>
                  </a:ext>
                </a:extLst>
              </a:tr>
              <a:tr h="283845">
                <a:tc>
                  <a:txBody>
                    <a:bodyPr/>
                    <a:lstStyle/>
                    <a:p>
                      <a:pPr marL="90805">
                        <a:lnSpc>
                          <a:spcPts val="2130"/>
                        </a:lnSpc>
                        <a:spcBef>
                          <a:spcPts val="10"/>
                        </a:spcBef>
                      </a:pPr>
                      <a:r>
                        <a:rPr sz="1800" dirty="0">
                          <a:latin typeface="Arial"/>
                          <a:cs typeface="Arial"/>
                        </a:rPr>
                        <a:t>8</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283210">
                <a:tc>
                  <a:txBody>
                    <a:bodyPr/>
                    <a:lstStyle/>
                    <a:p>
                      <a:pPr marL="90805">
                        <a:lnSpc>
                          <a:spcPts val="2065"/>
                        </a:lnSpc>
                        <a:spcBef>
                          <a:spcPts val="65"/>
                        </a:spcBef>
                      </a:pPr>
                      <a:r>
                        <a:rPr sz="1800" dirty="0">
                          <a:latin typeface="Arial"/>
                          <a:cs typeface="Arial"/>
                        </a:rPr>
                        <a:t>9</a:t>
                      </a:r>
                      <a:endParaRPr sz="1800">
                        <a:latin typeface="Arial"/>
                        <a:cs typeface="Arial"/>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bl>
          </a:graphicData>
        </a:graphic>
      </p:graphicFrame>
      <p:grpSp>
        <p:nvGrpSpPr>
          <p:cNvPr id="26" name="object 26"/>
          <p:cNvGrpSpPr/>
          <p:nvPr/>
        </p:nvGrpSpPr>
        <p:grpSpPr>
          <a:xfrm>
            <a:off x="2380211" y="3898669"/>
            <a:ext cx="1222375" cy="2893060"/>
            <a:chOff x="856210" y="3898669"/>
            <a:chExt cx="1222375" cy="2893060"/>
          </a:xfrm>
        </p:grpSpPr>
        <p:pic>
          <p:nvPicPr>
            <p:cNvPr id="27" name="object 27"/>
            <p:cNvPicPr/>
            <p:nvPr/>
          </p:nvPicPr>
          <p:blipFill>
            <a:blip r:embed="rId22" cstate="print"/>
            <a:stretch>
              <a:fillRect/>
            </a:stretch>
          </p:blipFill>
          <p:spPr>
            <a:xfrm>
              <a:off x="856210" y="3898669"/>
              <a:ext cx="1221970" cy="2892828"/>
            </a:xfrm>
            <a:prstGeom prst="rect">
              <a:avLst/>
            </a:prstGeom>
          </p:spPr>
        </p:pic>
        <p:pic>
          <p:nvPicPr>
            <p:cNvPr id="28" name="object 28"/>
            <p:cNvPicPr/>
            <p:nvPr/>
          </p:nvPicPr>
          <p:blipFill>
            <a:blip r:embed="rId23" cstate="print"/>
            <a:stretch>
              <a:fillRect/>
            </a:stretch>
          </p:blipFill>
          <p:spPr>
            <a:xfrm>
              <a:off x="1192876" y="5137265"/>
              <a:ext cx="548640" cy="419792"/>
            </a:xfrm>
            <a:prstGeom prst="rect">
              <a:avLst/>
            </a:prstGeom>
          </p:spPr>
        </p:pic>
      </p:grpSp>
      <p:sp>
        <p:nvSpPr>
          <p:cNvPr id="29" name="object 29"/>
          <p:cNvSpPr txBox="1"/>
          <p:nvPr/>
        </p:nvSpPr>
        <p:spPr>
          <a:xfrm>
            <a:off x="2407512" y="3949531"/>
            <a:ext cx="1118235" cy="1600438"/>
          </a:xfrm>
          <a:prstGeom prst="rect">
            <a:avLst/>
          </a:prstGeom>
          <a:ln w="12699">
            <a:solidFill>
              <a:srgbClr val="000000"/>
            </a:solidFill>
          </a:ln>
        </p:spPr>
        <p:txBody>
          <a:bodyPr vert="horz" wrap="square" lIns="0" tIns="0" rIns="0" bIns="0" rtlCol="0">
            <a:spAutoFit/>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spcBef>
                <a:spcPts val="15"/>
              </a:spcBef>
            </a:pPr>
            <a:endParaRPr sz="2600">
              <a:latin typeface="Times New Roman"/>
              <a:cs typeface="Times New Roman"/>
            </a:endParaRPr>
          </a:p>
          <a:p>
            <a:pPr marL="358775"/>
            <a:r>
              <a:rPr b="1" spc="-20" dirty="0">
                <a:latin typeface="Arial"/>
                <a:cs typeface="Arial"/>
              </a:rPr>
              <a:t>ints</a:t>
            </a:r>
            <a:endParaRPr>
              <a:latin typeface="Arial"/>
              <a:cs typeface="Arial"/>
            </a:endParaRPr>
          </a:p>
        </p:txBody>
      </p:sp>
      <p:grpSp>
        <p:nvGrpSpPr>
          <p:cNvPr id="30" name="object 30"/>
          <p:cNvGrpSpPr/>
          <p:nvPr/>
        </p:nvGrpSpPr>
        <p:grpSpPr>
          <a:xfrm>
            <a:off x="4520738" y="4667596"/>
            <a:ext cx="1222375" cy="902335"/>
            <a:chOff x="2996737" y="4667595"/>
            <a:chExt cx="1222375" cy="902335"/>
          </a:xfrm>
        </p:grpSpPr>
        <p:pic>
          <p:nvPicPr>
            <p:cNvPr id="31" name="object 31"/>
            <p:cNvPicPr/>
            <p:nvPr/>
          </p:nvPicPr>
          <p:blipFill>
            <a:blip r:embed="rId24" cstate="print"/>
            <a:stretch>
              <a:fillRect/>
            </a:stretch>
          </p:blipFill>
          <p:spPr>
            <a:xfrm>
              <a:off x="2996737" y="4667595"/>
              <a:ext cx="1221970" cy="901930"/>
            </a:xfrm>
            <a:prstGeom prst="rect">
              <a:avLst/>
            </a:prstGeom>
          </p:spPr>
        </p:pic>
        <p:pic>
          <p:nvPicPr>
            <p:cNvPr id="32" name="object 32"/>
            <p:cNvPicPr/>
            <p:nvPr/>
          </p:nvPicPr>
          <p:blipFill>
            <a:blip r:embed="rId25" cstate="print"/>
            <a:stretch>
              <a:fillRect/>
            </a:stretch>
          </p:blipFill>
          <p:spPr>
            <a:xfrm>
              <a:off x="3117272" y="4771504"/>
              <a:ext cx="1005839" cy="689956"/>
            </a:xfrm>
            <a:prstGeom prst="rect">
              <a:avLst/>
            </a:prstGeom>
          </p:spPr>
        </p:pic>
      </p:grpSp>
      <p:sp>
        <p:nvSpPr>
          <p:cNvPr id="33" name="object 33"/>
          <p:cNvSpPr txBox="1"/>
          <p:nvPr/>
        </p:nvSpPr>
        <p:spPr>
          <a:xfrm>
            <a:off x="4547813" y="4721371"/>
            <a:ext cx="1118235" cy="677750"/>
          </a:xfrm>
          <a:prstGeom prst="rect">
            <a:avLst/>
          </a:prstGeom>
          <a:ln w="12699">
            <a:solidFill>
              <a:srgbClr val="000000"/>
            </a:solidFill>
          </a:ln>
        </p:spPr>
        <p:txBody>
          <a:bodyPr vert="horz" wrap="square" lIns="0" tIns="137795" rIns="0" bIns="0" rtlCol="0">
            <a:spAutoFit/>
          </a:bodyPr>
          <a:lstStyle/>
          <a:p>
            <a:pPr marL="154940" marR="141605" indent="111125">
              <a:lnSpc>
                <a:spcPts val="2100"/>
              </a:lnSpc>
              <a:spcBef>
                <a:spcPts val="1085"/>
              </a:spcBef>
            </a:pPr>
            <a:r>
              <a:rPr i="1" dirty="0">
                <a:latin typeface="Arial"/>
                <a:cs typeface="Arial"/>
              </a:rPr>
              <a:t>h(x)</a:t>
            </a:r>
            <a:r>
              <a:rPr i="1" spc="-5" dirty="0">
                <a:latin typeface="Arial"/>
                <a:cs typeface="Arial"/>
              </a:rPr>
              <a:t> </a:t>
            </a:r>
            <a:r>
              <a:rPr i="1" spc="-50" dirty="0">
                <a:latin typeface="Arial"/>
                <a:cs typeface="Arial"/>
              </a:rPr>
              <a:t>= </a:t>
            </a:r>
            <a:r>
              <a:rPr i="1" spc="-10" dirty="0">
                <a:latin typeface="Arial"/>
                <a:cs typeface="Arial"/>
              </a:rPr>
              <a:t>key%10</a:t>
            </a:r>
            <a:endParaRPr>
              <a:latin typeface="Arial"/>
              <a:cs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40" y="1631697"/>
            <a:ext cx="4011295" cy="1186815"/>
          </a:xfrm>
          <a:prstGeom prst="rect">
            <a:avLst/>
          </a:prstGeom>
        </p:spPr>
        <p:txBody>
          <a:bodyPr vert="horz" wrap="square" lIns="0" tIns="166370" rIns="0" bIns="0" rtlCol="0">
            <a:spAutoFit/>
          </a:bodyPr>
          <a:lstStyle/>
          <a:p>
            <a:pPr marL="354965" indent="-342265">
              <a:spcBef>
                <a:spcPts val="1310"/>
              </a:spcBef>
              <a:buFont typeface="Arial"/>
              <a:buChar char="•"/>
              <a:tabLst>
                <a:tab pos="354965" algn="l"/>
                <a:tab pos="355600" algn="l"/>
              </a:tabLst>
            </a:pPr>
            <a:r>
              <a:rPr sz="2800" b="1" dirty="0">
                <a:latin typeface="Arial"/>
                <a:cs typeface="Arial"/>
              </a:rPr>
              <a:t>Let’s</a:t>
            </a:r>
            <a:r>
              <a:rPr sz="2800" b="1" spc="-65" dirty="0">
                <a:latin typeface="Arial"/>
                <a:cs typeface="Arial"/>
              </a:rPr>
              <a:t> </a:t>
            </a:r>
            <a:r>
              <a:rPr sz="2800" b="1" dirty="0">
                <a:latin typeface="Arial"/>
                <a:cs typeface="Arial"/>
              </a:rPr>
              <a:t>insert(519)</a:t>
            </a:r>
            <a:r>
              <a:rPr sz="2800" b="1" spc="-60" dirty="0">
                <a:latin typeface="Arial"/>
                <a:cs typeface="Arial"/>
              </a:rPr>
              <a:t> </a:t>
            </a:r>
            <a:r>
              <a:rPr sz="2800" b="1" spc="-10" dirty="0">
                <a:latin typeface="Arial"/>
                <a:cs typeface="Arial"/>
              </a:rPr>
              <a:t>table</a:t>
            </a:r>
            <a:endParaRPr sz="2800">
              <a:latin typeface="Arial"/>
              <a:cs typeface="Arial"/>
            </a:endParaRPr>
          </a:p>
          <a:p>
            <a:pPr marL="812165" lvl="1" indent="-342265">
              <a:spcBef>
                <a:spcPts val="1215"/>
              </a:spcBef>
              <a:buClr>
                <a:srgbClr val="D1282E"/>
              </a:buClr>
              <a:buChar char="•"/>
              <a:tabLst>
                <a:tab pos="812165" algn="l"/>
                <a:tab pos="812800" algn="l"/>
              </a:tabLst>
            </a:pPr>
            <a:r>
              <a:rPr sz="2800" dirty="0">
                <a:latin typeface="Arial"/>
                <a:cs typeface="Arial"/>
              </a:rPr>
              <a:t>Where</a:t>
            </a:r>
            <a:r>
              <a:rPr sz="2800" spc="-5" dirty="0">
                <a:latin typeface="Arial"/>
                <a:cs typeface="Arial"/>
              </a:rPr>
              <a:t> </a:t>
            </a:r>
            <a:r>
              <a:rPr sz="2800" dirty="0">
                <a:latin typeface="Arial"/>
                <a:cs typeface="Arial"/>
              </a:rPr>
              <a:t>does</a:t>
            </a:r>
            <a:r>
              <a:rPr sz="2800" spc="-5" dirty="0">
                <a:latin typeface="Arial"/>
                <a:cs typeface="Arial"/>
              </a:rPr>
              <a:t> </a:t>
            </a:r>
            <a:r>
              <a:rPr sz="2800" dirty="0">
                <a:latin typeface="Arial"/>
                <a:cs typeface="Arial"/>
              </a:rPr>
              <a:t>it</a:t>
            </a:r>
            <a:r>
              <a:rPr sz="2800" spc="-5" dirty="0">
                <a:latin typeface="Arial"/>
                <a:cs typeface="Arial"/>
              </a:rPr>
              <a:t> </a:t>
            </a:r>
            <a:r>
              <a:rPr sz="2800" spc="-25" dirty="0">
                <a:latin typeface="Arial"/>
                <a:cs typeface="Arial"/>
              </a:rPr>
              <a:t>go?</a:t>
            </a:r>
            <a:endParaRPr sz="2800">
              <a:latin typeface="Arial"/>
              <a:cs typeface="Arial"/>
            </a:endParaRPr>
          </a:p>
        </p:txBody>
      </p:sp>
      <p:sp>
        <p:nvSpPr>
          <p:cNvPr id="3" name="object 3"/>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spc="-10" dirty="0"/>
              <a:t>HASH</a:t>
            </a:r>
            <a:r>
              <a:rPr spc="-275" dirty="0"/>
              <a:t> </a:t>
            </a:r>
            <a:r>
              <a:rPr spc="-60" dirty="0"/>
              <a:t>EXAMPLE</a:t>
            </a:r>
          </a:p>
        </p:txBody>
      </p:sp>
      <p:grpSp>
        <p:nvGrpSpPr>
          <p:cNvPr id="4" name="object 4"/>
          <p:cNvGrpSpPr/>
          <p:nvPr/>
        </p:nvGrpSpPr>
        <p:grpSpPr>
          <a:xfrm>
            <a:off x="7197436" y="3877888"/>
            <a:ext cx="1222375" cy="2943225"/>
            <a:chOff x="5673435" y="3877887"/>
            <a:chExt cx="1222375" cy="2943225"/>
          </a:xfrm>
        </p:grpSpPr>
        <p:pic>
          <p:nvPicPr>
            <p:cNvPr id="5" name="object 5"/>
            <p:cNvPicPr/>
            <p:nvPr/>
          </p:nvPicPr>
          <p:blipFill>
            <a:blip r:embed="rId2" cstate="print"/>
            <a:stretch>
              <a:fillRect/>
            </a:stretch>
          </p:blipFill>
          <p:spPr>
            <a:xfrm>
              <a:off x="5673435" y="4189614"/>
              <a:ext cx="1221970" cy="378229"/>
            </a:xfrm>
            <a:prstGeom prst="rect">
              <a:avLst/>
            </a:prstGeom>
          </p:spPr>
        </p:pic>
        <p:pic>
          <p:nvPicPr>
            <p:cNvPr id="6" name="object 6"/>
            <p:cNvPicPr/>
            <p:nvPr/>
          </p:nvPicPr>
          <p:blipFill>
            <a:blip r:embed="rId3" cstate="print"/>
            <a:stretch>
              <a:fillRect/>
            </a:stretch>
          </p:blipFill>
          <p:spPr>
            <a:xfrm>
              <a:off x="5744094" y="4168833"/>
              <a:ext cx="270163" cy="423949"/>
            </a:xfrm>
            <a:prstGeom prst="rect">
              <a:avLst/>
            </a:prstGeom>
          </p:spPr>
        </p:pic>
        <p:pic>
          <p:nvPicPr>
            <p:cNvPr id="7" name="object 7"/>
            <p:cNvPicPr/>
            <p:nvPr/>
          </p:nvPicPr>
          <p:blipFill>
            <a:blip r:embed="rId4" cstate="print"/>
            <a:stretch>
              <a:fillRect/>
            </a:stretch>
          </p:blipFill>
          <p:spPr>
            <a:xfrm>
              <a:off x="5673435" y="3898668"/>
              <a:ext cx="1221970" cy="378229"/>
            </a:xfrm>
            <a:prstGeom prst="rect">
              <a:avLst/>
            </a:prstGeom>
          </p:spPr>
        </p:pic>
        <p:pic>
          <p:nvPicPr>
            <p:cNvPr id="8" name="object 8"/>
            <p:cNvPicPr/>
            <p:nvPr/>
          </p:nvPicPr>
          <p:blipFill>
            <a:blip r:embed="rId5" cstate="print"/>
            <a:stretch>
              <a:fillRect/>
            </a:stretch>
          </p:blipFill>
          <p:spPr>
            <a:xfrm>
              <a:off x="5744094" y="3877887"/>
              <a:ext cx="270163" cy="423949"/>
            </a:xfrm>
            <a:prstGeom prst="rect">
              <a:avLst/>
            </a:prstGeom>
          </p:spPr>
        </p:pic>
        <p:pic>
          <p:nvPicPr>
            <p:cNvPr id="9" name="object 9"/>
            <p:cNvPicPr/>
            <p:nvPr/>
          </p:nvPicPr>
          <p:blipFill>
            <a:blip r:embed="rId6" cstate="print"/>
            <a:stretch>
              <a:fillRect/>
            </a:stretch>
          </p:blipFill>
          <p:spPr>
            <a:xfrm>
              <a:off x="5673435" y="4463934"/>
              <a:ext cx="1221970" cy="382385"/>
            </a:xfrm>
            <a:prstGeom prst="rect">
              <a:avLst/>
            </a:prstGeom>
          </p:spPr>
        </p:pic>
        <p:pic>
          <p:nvPicPr>
            <p:cNvPr id="10" name="object 10"/>
            <p:cNvPicPr/>
            <p:nvPr/>
          </p:nvPicPr>
          <p:blipFill>
            <a:blip r:embed="rId7" cstate="print"/>
            <a:stretch>
              <a:fillRect/>
            </a:stretch>
          </p:blipFill>
          <p:spPr>
            <a:xfrm>
              <a:off x="5744094" y="4447308"/>
              <a:ext cx="270163" cy="419792"/>
            </a:xfrm>
            <a:prstGeom prst="rect">
              <a:avLst/>
            </a:prstGeom>
          </p:spPr>
        </p:pic>
        <p:pic>
          <p:nvPicPr>
            <p:cNvPr id="11" name="object 11"/>
            <p:cNvPicPr/>
            <p:nvPr/>
          </p:nvPicPr>
          <p:blipFill>
            <a:blip r:embed="rId8" cstate="print"/>
            <a:stretch>
              <a:fillRect/>
            </a:stretch>
          </p:blipFill>
          <p:spPr>
            <a:xfrm>
              <a:off x="5673435" y="4742411"/>
              <a:ext cx="1221970" cy="378229"/>
            </a:xfrm>
            <a:prstGeom prst="rect">
              <a:avLst/>
            </a:prstGeom>
          </p:spPr>
        </p:pic>
        <p:pic>
          <p:nvPicPr>
            <p:cNvPr id="12" name="object 12"/>
            <p:cNvPicPr/>
            <p:nvPr/>
          </p:nvPicPr>
          <p:blipFill>
            <a:blip r:embed="rId9" cstate="print"/>
            <a:stretch>
              <a:fillRect/>
            </a:stretch>
          </p:blipFill>
          <p:spPr>
            <a:xfrm>
              <a:off x="5744094" y="4721628"/>
              <a:ext cx="270163" cy="423949"/>
            </a:xfrm>
            <a:prstGeom prst="rect">
              <a:avLst/>
            </a:prstGeom>
          </p:spPr>
        </p:pic>
        <p:pic>
          <p:nvPicPr>
            <p:cNvPr id="13" name="object 13"/>
            <p:cNvPicPr/>
            <p:nvPr/>
          </p:nvPicPr>
          <p:blipFill>
            <a:blip r:embed="rId10" cstate="print"/>
            <a:stretch>
              <a:fillRect/>
            </a:stretch>
          </p:blipFill>
          <p:spPr>
            <a:xfrm>
              <a:off x="5673435" y="5016731"/>
              <a:ext cx="1221970" cy="382385"/>
            </a:xfrm>
            <a:prstGeom prst="rect">
              <a:avLst/>
            </a:prstGeom>
          </p:spPr>
        </p:pic>
        <p:pic>
          <p:nvPicPr>
            <p:cNvPr id="14" name="object 14"/>
            <p:cNvPicPr/>
            <p:nvPr/>
          </p:nvPicPr>
          <p:blipFill>
            <a:blip r:embed="rId11" cstate="print"/>
            <a:stretch>
              <a:fillRect/>
            </a:stretch>
          </p:blipFill>
          <p:spPr>
            <a:xfrm>
              <a:off x="5744094" y="5000105"/>
              <a:ext cx="270163" cy="419792"/>
            </a:xfrm>
            <a:prstGeom prst="rect">
              <a:avLst/>
            </a:prstGeom>
          </p:spPr>
        </p:pic>
        <p:pic>
          <p:nvPicPr>
            <p:cNvPr id="15" name="object 15"/>
            <p:cNvPicPr/>
            <p:nvPr/>
          </p:nvPicPr>
          <p:blipFill>
            <a:blip r:embed="rId12" cstate="print"/>
            <a:stretch>
              <a:fillRect/>
            </a:stretch>
          </p:blipFill>
          <p:spPr>
            <a:xfrm>
              <a:off x="5673435" y="5299363"/>
              <a:ext cx="1221970" cy="378229"/>
            </a:xfrm>
            <a:prstGeom prst="rect">
              <a:avLst/>
            </a:prstGeom>
          </p:spPr>
        </p:pic>
        <p:pic>
          <p:nvPicPr>
            <p:cNvPr id="16" name="object 16"/>
            <p:cNvPicPr/>
            <p:nvPr/>
          </p:nvPicPr>
          <p:blipFill>
            <a:blip r:embed="rId13" cstate="print"/>
            <a:stretch>
              <a:fillRect/>
            </a:stretch>
          </p:blipFill>
          <p:spPr>
            <a:xfrm>
              <a:off x="5744094" y="5278581"/>
              <a:ext cx="270163" cy="423949"/>
            </a:xfrm>
            <a:prstGeom prst="rect">
              <a:avLst/>
            </a:prstGeom>
          </p:spPr>
        </p:pic>
        <p:pic>
          <p:nvPicPr>
            <p:cNvPr id="17" name="object 17"/>
            <p:cNvPicPr/>
            <p:nvPr/>
          </p:nvPicPr>
          <p:blipFill>
            <a:blip r:embed="rId14" cstate="print"/>
            <a:stretch>
              <a:fillRect/>
            </a:stretch>
          </p:blipFill>
          <p:spPr>
            <a:xfrm>
              <a:off x="5673435" y="5573683"/>
              <a:ext cx="1221970" cy="382385"/>
            </a:xfrm>
            <a:prstGeom prst="rect">
              <a:avLst/>
            </a:prstGeom>
          </p:spPr>
        </p:pic>
        <p:pic>
          <p:nvPicPr>
            <p:cNvPr id="18" name="object 18"/>
            <p:cNvPicPr/>
            <p:nvPr/>
          </p:nvPicPr>
          <p:blipFill>
            <a:blip r:embed="rId15" cstate="print"/>
            <a:stretch>
              <a:fillRect/>
            </a:stretch>
          </p:blipFill>
          <p:spPr>
            <a:xfrm>
              <a:off x="5744094" y="5557058"/>
              <a:ext cx="270163" cy="419792"/>
            </a:xfrm>
            <a:prstGeom prst="rect">
              <a:avLst/>
            </a:prstGeom>
          </p:spPr>
        </p:pic>
        <p:pic>
          <p:nvPicPr>
            <p:cNvPr id="19" name="object 19"/>
            <p:cNvPicPr/>
            <p:nvPr/>
          </p:nvPicPr>
          <p:blipFill>
            <a:blip r:embed="rId16" cstate="print"/>
            <a:stretch>
              <a:fillRect/>
            </a:stretch>
          </p:blipFill>
          <p:spPr>
            <a:xfrm>
              <a:off x="5673435" y="5852159"/>
              <a:ext cx="1221970" cy="378229"/>
            </a:xfrm>
            <a:prstGeom prst="rect">
              <a:avLst/>
            </a:prstGeom>
          </p:spPr>
        </p:pic>
        <p:pic>
          <p:nvPicPr>
            <p:cNvPr id="20" name="object 20"/>
            <p:cNvPicPr/>
            <p:nvPr/>
          </p:nvPicPr>
          <p:blipFill>
            <a:blip r:embed="rId17" cstate="print"/>
            <a:stretch>
              <a:fillRect/>
            </a:stretch>
          </p:blipFill>
          <p:spPr>
            <a:xfrm>
              <a:off x="5744094" y="5831377"/>
              <a:ext cx="270163" cy="423949"/>
            </a:xfrm>
            <a:prstGeom prst="rect">
              <a:avLst/>
            </a:prstGeom>
          </p:spPr>
        </p:pic>
        <p:pic>
          <p:nvPicPr>
            <p:cNvPr id="21" name="object 21"/>
            <p:cNvPicPr/>
            <p:nvPr/>
          </p:nvPicPr>
          <p:blipFill>
            <a:blip r:embed="rId18" cstate="print"/>
            <a:stretch>
              <a:fillRect/>
            </a:stretch>
          </p:blipFill>
          <p:spPr>
            <a:xfrm>
              <a:off x="5673435" y="6126479"/>
              <a:ext cx="1221970" cy="382385"/>
            </a:xfrm>
            <a:prstGeom prst="rect">
              <a:avLst/>
            </a:prstGeom>
          </p:spPr>
        </p:pic>
        <p:pic>
          <p:nvPicPr>
            <p:cNvPr id="22" name="object 22"/>
            <p:cNvPicPr/>
            <p:nvPr/>
          </p:nvPicPr>
          <p:blipFill>
            <a:blip r:embed="rId19" cstate="print"/>
            <a:stretch>
              <a:fillRect/>
            </a:stretch>
          </p:blipFill>
          <p:spPr>
            <a:xfrm>
              <a:off x="5744094" y="6109854"/>
              <a:ext cx="270163" cy="419792"/>
            </a:xfrm>
            <a:prstGeom prst="rect">
              <a:avLst/>
            </a:prstGeom>
          </p:spPr>
        </p:pic>
        <p:pic>
          <p:nvPicPr>
            <p:cNvPr id="23" name="object 23"/>
            <p:cNvPicPr/>
            <p:nvPr/>
          </p:nvPicPr>
          <p:blipFill>
            <a:blip r:embed="rId20" cstate="print"/>
            <a:stretch>
              <a:fillRect/>
            </a:stretch>
          </p:blipFill>
          <p:spPr>
            <a:xfrm>
              <a:off x="5673435" y="6417425"/>
              <a:ext cx="1221970" cy="382385"/>
            </a:xfrm>
            <a:prstGeom prst="rect">
              <a:avLst/>
            </a:prstGeom>
          </p:spPr>
        </p:pic>
        <p:pic>
          <p:nvPicPr>
            <p:cNvPr id="24" name="object 24"/>
            <p:cNvPicPr/>
            <p:nvPr/>
          </p:nvPicPr>
          <p:blipFill>
            <a:blip r:embed="rId21" cstate="print"/>
            <a:stretch>
              <a:fillRect/>
            </a:stretch>
          </p:blipFill>
          <p:spPr>
            <a:xfrm>
              <a:off x="5744094" y="6400800"/>
              <a:ext cx="270163" cy="419792"/>
            </a:xfrm>
            <a:prstGeom prst="rect">
              <a:avLst/>
            </a:prstGeom>
          </p:spPr>
        </p:pic>
      </p:grpSp>
      <p:graphicFrame>
        <p:nvGraphicFramePr>
          <p:cNvPr id="25" name="object 25"/>
          <p:cNvGraphicFramePr>
            <a:graphicFrameLocks noGrp="1"/>
          </p:cNvGraphicFramePr>
          <p:nvPr/>
        </p:nvGraphicFramePr>
        <p:xfrm>
          <a:off x="7219611" y="3943181"/>
          <a:ext cx="1118235" cy="2794000"/>
        </p:xfrm>
        <a:graphic>
          <a:graphicData uri="http://schemas.openxmlformats.org/drawingml/2006/table">
            <a:tbl>
              <a:tblPr firstRow="1" bandRow="1">
                <a:tableStyleId>{2D5ABB26-0587-4C30-8999-92F81FD0307C}</a:tableStyleId>
              </a:tblPr>
              <a:tblGrid>
                <a:gridCol w="1118235">
                  <a:extLst>
                    <a:ext uri="{9D8B030D-6E8A-4147-A177-3AD203B41FA5}">
                      <a16:colId xmlns:a16="http://schemas.microsoft.com/office/drawing/2014/main" val="20000"/>
                    </a:ext>
                  </a:extLst>
                </a:gridCol>
              </a:tblGrid>
              <a:tr h="283210">
                <a:tc>
                  <a:txBody>
                    <a:bodyPr/>
                    <a:lstStyle/>
                    <a:p>
                      <a:pPr marL="90805">
                        <a:lnSpc>
                          <a:spcPts val="2130"/>
                        </a:lnSpc>
                        <a:spcBef>
                          <a:spcPts val="5"/>
                        </a:spcBef>
                      </a:pPr>
                      <a:r>
                        <a:rPr sz="1800" dirty="0">
                          <a:latin typeface="Arial"/>
                          <a:cs typeface="Arial"/>
                        </a:rPr>
                        <a:t>0</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83845">
                <a:tc>
                  <a:txBody>
                    <a:bodyPr/>
                    <a:lstStyle/>
                    <a:p>
                      <a:pPr marL="90805">
                        <a:lnSpc>
                          <a:spcPts val="2070"/>
                        </a:lnSpc>
                        <a:spcBef>
                          <a:spcPts val="65"/>
                        </a:spcBef>
                      </a:pPr>
                      <a:r>
                        <a:rPr sz="1800" dirty="0">
                          <a:latin typeface="Arial"/>
                          <a:cs typeface="Arial"/>
                        </a:rPr>
                        <a:t>1</a:t>
                      </a:r>
                      <a:endParaRPr sz="1800">
                        <a:latin typeface="Arial"/>
                        <a:cs typeface="Arial"/>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276225">
                <a:tc>
                  <a:txBody>
                    <a:bodyPr/>
                    <a:lstStyle/>
                    <a:p>
                      <a:pPr marL="90805">
                        <a:lnSpc>
                          <a:spcPts val="2065"/>
                        </a:lnSpc>
                        <a:spcBef>
                          <a:spcPts val="10"/>
                        </a:spcBef>
                      </a:pPr>
                      <a:r>
                        <a:rPr sz="1800" dirty="0">
                          <a:latin typeface="Arial"/>
                          <a:cs typeface="Arial"/>
                        </a:rPr>
                        <a:t>2</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76225">
                <a:tc>
                  <a:txBody>
                    <a:bodyPr/>
                    <a:lstStyle/>
                    <a:p>
                      <a:pPr marL="90805">
                        <a:lnSpc>
                          <a:spcPts val="2070"/>
                        </a:lnSpc>
                        <a:spcBef>
                          <a:spcPts val="5"/>
                        </a:spcBef>
                      </a:pPr>
                      <a:r>
                        <a:rPr sz="1800" dirty="0">
                          <a:latin typeface="Arial"/>
                          <a:cs typeface="Arial"/>
                        </a:rPr>
                        <a:t>3</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3"/>
                  </a:ext>
                </a:extLst>
              </a:tr>
              <a:tr h="277495">
                <a:tc>
                  <a:txBody>
                    <a:bodyPr/>
                    <a:lstStyle/>
                    <a:p>
                      <a:pPr marL="90805">
                        <a:lnSpc>
                          <a:spcPts val="2080"/>
                        </a:lnSpc>
                        <a:spcBef>
                          <a:spcPts val="10"/>
                        </a:spcBef>
                      </a:pPr>
                      <a:r>
                        <a:rPr sz="1800" dirty="0">
                          <a:latin typeface="Arial"/>
                          <a:cs typeface="Arial"/>
                        </a:rPr>
                        <a:t>4</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4"/>
                  </a:ext>
                </a:extLst>
              </a:tr>
              <a:tr h="277495">
                <a:tc>
                  <a:txBody>
                    <a:bodyPr/>
                    <a:lstStyle/>
                    <a:p>
                      <a:pPr marL="90805">
                        <a:lnSpc>
                          <a:spcPts val="2070"/>
                        </a:lnSpc>
                        <a:spcBef>
                          <a:spcPts val="15"/>
                        </a:spcBef>
                      </a:pPr>
                      <a:r>
                        <a:rPr sz="1800" dirty="0">
                          <a:latin typeface="Arial"/>
                          <a:cs typeface="Arial"/>
                        </a:rPr>
                        <a:t>5</a:t>
                      </a:r>
                      <a:endParaRPr sz="1800">
                        <a:latin typeface="Arial"/>
                        <a:cs typeface="Arial"/>
                      </a:endParaRPr>
                    </a:p>
                  </a:txBody>
                  <a:tcPr marL="0" marR="0" marT="190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5"/>
                  </a:ext>
                </a:extLst>
              </a:tr>
              <a:tr h="276225">
                <a:tc>
                  <a:txBody>
                    <a:bodyPr/>
                    <a:lstStyle/>
                    <a:p>
                      <a:pPr marL="90805">
                        <a:lnSpc>
                          <a:spcPts val="2065"/>
                        </a:lnSpc>
                        <a:spcBef>
                          <a:spcPts val="10"/>
                        </a:spcBef>
                      </a:pPr>
                      <a:r>
                        <a:rPr sz="1800" dirty="0">
                          <a:latin typeface="Arial"/>
                          <a:cs typeface="Arial"/>
                        </a:rPr>
                        <a:t>6</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76225">
                <a:tc>
                  <a:txBody>
                    <a:bodyPr/>
                    <a:lstStyle/>
                    <a:p>
                      <a:pPr marL="90805">
                        <a:lnSpc>
                          <a:spcPts val="2070"/>
                        </a:lnSpc>
                        <a:spcBef>
                          <a:spcPts val="5"/>
                        </a:spcBef>
                      </a:pPr>
                      <a:r>
                        <a:rPr sz="1800" dirty="0">
                          <a:latin typeface="Arial"/>
                          <a:cs typeface="Arial"/>
                        </a:rPr>
                        <a:t>7</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7"/>
                  </a:ext>
                </a:extLst>
              </a:tr>
              <a:tr h="283845">
                <a:tc>
                  <a:txBody>
                    <a:bodyPr/>
                    <a:lstStyle/>
                    <a:p>
                      <a:pPr marL="90805">
                        <a:lnSpc>
                          <a:spcPts val="2130"/>
                        </a:lnSpc>
                        <a:spcBef>
                          <a:spcPts val="10"/>
                        </a:spcBef>
                      </a:pPr>
                      <a:r>
                        <a:rPr sz="1800" dirty="0">
                          <a:latin typeface="Arial"/>
                          <a:cs typeface="Arial"/>
                        </a:rPr>
                        <a:t>8</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283210">
                <a:tc>
                  <a:txBody>
                    <a:bodyPr/>
                    <a:lstStyle/>
                    <a:p>
                      <a:pPr marL="90805">
                        <a:lnSpc>
                          <a:spcPts val="2065"/>
                        </a:lnSpc>
                        <a:spcBef>
                          <a:spcPts val="65"/>
                        </a:spcBef>
                      </a:pPr>
                      <a:r>
                        <a:rPr sz="1800" dirty="0">
                          <a:latin typeface="Arial"/>
                          <a:cs typeface="Arial"/>
                        </a:rPr>
                        <a:t>9</a:t>
                      </a:r>
                      <a:endParaRPr sz="1800">
                        <a:latin typeface="Arial"/>
                        <a:cs typeface="Arial"/>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bl>
          </a:graphicData>
        </a:graphic>
      </p:graphicFrame>
      <p:grpSp>
        <p:nvGrpSpPr>
          <p:cNvPr id="26" name="object 26"/>
          <p:cNvGrpSpPr/>
          <p:nvPr/>
        </p:nvGrpSpPr>
        <p:grpSpPr>
          <a:xfrm>
            <a:off x="2380211" y="3898669"/>
            <a:ext cx="1222375" cy="2893060"/>
            <a:chOff x="856210" y="3898669"/>
            <a:chExt cx="1222375" cy="2893060"/>
          </a:xfrm>
        </p:grpSpPr>
        <p:pic>
          <p:nvPicPr>
            <p:cNvPr id="27" name="object 27"/>
            <p:cNvPicPr/>
            <p:nvPr/>
          </p:nvPicPr>
          <p:blipFill>
            <a:blip r:embed="rId22" cstate="print"/>
            <a:stretch>
              <a:fillRect/>
            </a:stretch>
          </p:blipFill>
          <p:spPr>
            <a:xfrm>
              <a:off x="856210" y="3898669"/>
              <a:ext cx="1221970" cy="2892828"/>
            </a:xfrm>
            <a:prstGeom prst="rect">
              <a:avLst/>
            </a:prstGeom>
          </p:spPr>
        </p:pic>
        <p:pic>
          <p:nvPicPr>
            <p:cNvPr id="28" name="object 28"/>
            <p:cNvPicPr/>
            <p:nvPr/>
          </p:nvPicPr>
          <p:blipFill>
            <a:blip r:embed="rId23" cstate="print"/>
            <a:stretch>
              <a:fillRect/>
            </a:stretch>
          </p:blipFill>
          <p:spPr>
            <a:xfrm>
              <a:off x="1192876" y="5137265"/>
              <a:ext cx="548640" cy="419792"/>
            </a:xfrm>
            <a:prstGeom prst="rect">
              <a:avLst/>
            </a:prstGeom>
          </p:spPr>
        </p:pic>
      </p:grpSp>
      <p:sp>
        <p:nvSpPr>
          <p:cNvPr id="29" name="object 29"/>
          <p:cNvSpPr txBox="1"/>
          <p:nvPr/>
        </p:nvSpPr>
        <p:spPr>
          <a:xfrm>
            <a:off x="2407512" y="3949531"/>
            <a:ext cx="1118235" cy="1600438"/>
          </a:xfrm>
          <a:prstGeom prst="rect">
            <a:avLst/>
          </a:prstGeom>
          <a:ln w="12699">
            <a:solidFill>
              <a:srgbClr val="000000"/>
            </a:solidFill>
          </a:ln>
        </p:spPr>
        <p:txBody>
          <a:bodyPr vert="horz" wrap="square" lIns="0" tIns="0" rIns="0" bIns="0" rtlCol="0">
            <a:spAutoFit/>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spcBef>
                <a:spcPts val="15"/>
              </a:spcBef>
            </a:pPr>
            <a:endParaRPr sz="2600">
              <a:latin typeface="Times New Roman"/>
              <a:cs typeface="Times New Roman"/>
            </a:endParaRPr>
          </a:p>
          <a:p>
            <a:pPr marL="358775"/>
            <a:r>
              <a:rPr b="1" spc="-20" dirty="0">
                <a:latin typeface="Arial"/>
                <a:cs typeface="Arial"/>
              </a:rPr>
              <a:t>ints</a:t>
            </a:r>
            <a:endParaRPr>
              <a:latin typeface="Arial"/>
              <a:cs typeface="Arial"/>
            </a:endParaRPr>
          </a:p>
        </p:txBody>
      </p:sp>
      <p:grpSp>
        <p:nvGrpSpPr>
          <p:cNvPr id="30" name="object 30"/>
          <p:cNvGrpSpPr/>
          <p:nvPr/>
        </p:nvGrpSpPr>
        <p:grpSpPr>
          <a:xfrm>
            <a:off x="4520738" y="4667596"/>
            <a:ext cx="1222375" cy="902335"/>
            <a:chOff x="2996737" y="4667595"/>
            <a:chExt cx="1222375" cy="902335"/>
          </a:xfrm>
        </p:grpSpPr>
        <p:pic>
          <p:nvPicPr>
            <p:cNvPr id="31" name="object 31"/>
            <p:cNvPicPr/>
            <p:nvPr/>
          </p:nvPicPr>
          <p:blipFill>
            <a:blip r:embed="rId24" cstate="print"/>
            <a:stretch>
              <a:fillRect/>
            </a:stretch>
          </p:blipFill>
          <p:spPr>
            <a:xfrm>
              <a:off x="2996737" y="4667595"/>
              <a:ext cx="1221970" cy="901930"/>
            </a:xfrm>
            <a:prstGeom prst="rect">
              <a:avLst/>
            </a:prstGeom>
          </p:spPr>
        </p:pic>
        <p:pic>
          <p:nvPicPr>
            <p:cNvPr id="32" name="object 32"/>
            <p:cNvPicPr/>
            <p:nvPr/>
          </p:nvPicPr>
          <p:blipFill>
            <a:blip r:embed="rId25" cstate="print"/>
            <a:stretch>
              <a:fillRect/>
            </a:stretch>
          </p:blipFill>
          <p:spPr>
            <a:xfrm>
              <a:off x="3117272" y="4771504"/>
              <a:ext cx="1005839" cy="689956"/>
            </a:xfrm>
            <a:prstGeom prst="rect">
              <a:avLst/>
            </a:prstGeom>
          </p:spPr>
        </p:pic>
      </p:grpSp>
      <p:sp>
        <p:nvSpPr>
          <p:cNvPr id="33" name="object 33"/>
          <p:cNvSpPr txBox="1"/>
          <p:nvPr/>
        </p:nvSpPr>
        <p:spPr>
          <a:xfrm>
            <a:off x="4547813" y="4721371"/>
            <a:ext cx="1118235" cy="677750"/>
          </a:xfrm>
          <a:prstGeom prst="rect">
            <a:avLst/>
          </a:prstGeom>
          <a:ln w="12699">
            <a:solidFill>
              <a:srgbClr val="000000"/>
            </a:solidFill>
          </a:ln>
        </p:spPr>
        <p:txBody>
          <a:bodyPr vert="horz" wrap="square" lIns="0" tIns="137795" rIns="0" bIns="0" rtlCol="0">
            <a:spAutoFit/>
          </a:bodyPr>
          <a:lstStyle/>
          <a:p>
            <a:pPr marL="154940" marR="141605" indent="111125">
              <a:lnSpc>
                <a:spcPts val="2100"/>
              </a:lnSpc>
              <a:spcBef>
                <a:spcPts val="1085"/>
              </a:spcBef>
            </a:pPr>
            <a:r>
              <a:rPr i="1" dirty="0">
                <a:latin typeface="Arial"/>
                <a:cs typeface="Arial"/>
              </a:rPr>
              <a:t>h(x)</a:t>
            </a:r>
            <a:r>
              <a:rPr i="1" spc="-5" dirty="0">
                <a:latin typeface="Arial"/>
                <a:cs typeface="Arial"/>
              </a:rPr>
              <a:t> </a:t>
            </a:r>
            <a:r>
              <a:rPr i="1" spc="-50" dirty="0">
                <a:latin typeface="Arial"/>
                <a:cs typeface="Arial"/>
              </a:rPr>
              <a:t>= </a:t>
            </a:r>
            <a:r>
              <a:rPr i="1" spc="-10" dirty="0">
                <a:latin typeface="Arial"/>
                <a:cs typeface="Arial"/>
              </a:rPr>
              <a:t>key%10</a:t>
            </a:r>
            <a:endParaRPr>
              <a:latin typeface="Arial"/>
              <a:cs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40" y="1631696"/>
            <a:ext cx="4011295" cy="1694814"/>
          </a:xfrm>
          <a:prstGeom prst="rect">
            <a:avLst/>
          </a:prstGeom>
        </p:spPr>
        <p:txBody>
          <a:bodyPr vert="horz" wrap="square" lIns="0" tIns="166370" rIns="0" bIns="0" rtlCol="0">
            <a:spAutoFit/>
          </a:bodyPr>
          <a:lstStyle/>
          <a:p>
            <a:pPr marL="354965" indent="-342265">
              <a:spcBef>
                <a:spcPts val="1310"/>
              </a:spcBef>
              <a:buFont typeface="Arial"/>
              <a:buChar char="•"/>
              <a:tabLst>
                <a:tab pos="354965" algn="l"/>
                <a:tab pos="355600" algn="l"/>
              </a:tabLst>
            </a:pPr>
            <a:r>
              <a:rPr sz="2800" b="1" dirty="0">
                <a:latin typeface="Arial"/>
                <a:cs typeface="Arial"/>
              </a:rPr>
              <a:t>Let’s</a:t>
            </a:r>
            <a:r>
              <a:rPr sz="2800" b="1" spc="-65" dirty="0">
                <a:latin typeface="Arial"/>
                <a:cs typeface="Arial"/>
              </a:rPr>
              <a:t> </a:t>
            </a:r>
            <a:r>
              <a:rPr sz="2800" b="1" dirty="0">
                <a:latin typeface="Arial"/>
                <a:cs typeface="Arial"/>
              </a:rPr>
              <a:t>insert(519)</a:t>
            </a:r>
            <a:r>
              <a:rPr sz="2800" b="1" spc="-60" dirty="0">
                <a:latin typeface="Arial"/>
                <a:cs typeface="Arial"/>
              </a:rPr>
              <a:t> </a:t>
            </a:r>
            <a:r>
              <a:rPr sz="2800" b="1" spc="-10" dirty="0">
                <a:latin typeface="Arial"/>
                <a:cs typeface="Arial"/>
              </a:rPr>
              <a:t>table</a:t>
            </a:r>
            <a:endParaRPr sz="2800">
              <a:latin typeface="Arial"/>
              <a:cs typeface="Arial"/>
            </a:endParaRPr>
          </a:p>
          <a:p>
            <a:pPr marL="812165" lvl="1" indent="-342265">
              <a:spcBef>
                <a:spcPts val="1215"/>
              </a:spcBef>
              <a:buClr>
                <a:srgbClr val="D1282E"/>
              </a:buClr>
              <a:buChar char="•"/>
              <a:tabLst>
                <a:tab pos="812165" algn="l"/>
                <a:tab pos="812800" algn="l"/>
              </a:tabLst>
            </a:pPr>
            <a:r>
              <a:rPr sz="2800" dirty="0">
                <a:latin typeface="Arial"/>
                <a:cs typeface="Arial"/>
              </a:rPr>
              <a:t>Where</a:t>
            </a:r>
            <a:r>
              <a:rPr sz="2800" spc="-5" dirty="0">
                <a:latin typeface="Arial"/>
                <a:cs typeface="Arial"/>
              </a:rPr>
              <a:t> </a:t>
            </a:r>
            <a:r>
              <a:rPr sz="2800" dirty="0">
                <a:latin typeface="Arial"/>
                <a:cs typeface="Arial"/>
              </a:rPr>
              <a:t>does</a:t>
            </a:r>
            <a:r>
              <a:rPr sz="2800" spc="-5" dirty="0">
                <a:latin typeface="Arial"/>
                <a:cs typeface="Arial"/>
              </a:rPr>
              <a:t> </a:t>
            </a:r>
            <a:r>
              <a:rPr sz="2800" dirty="0">
                <a:latin typeface="Arial"/>
                <a:cs typeface="Arial"/>
              </a:rPr>
              <a:t>it</a:t>
            </a:r>
            <a:r>
              <a:rPr sz="2800" spc="-5" dirty="0">
                <a:latin typeface="Arial"/>
                <a:cs typeface="Arial"/>
              </a:rPr>
              <a:t> </a:t>
            </a:r>
            <a:r>
              <a:rPr sz="2800" spc="-25" dirty="0">
                <a:latin typeface="Arial"/>
                <a:cs typeface="Arial"/>
              </a:rPr>
              <a:t>go?</a:t>
            </a:r>
            <a:endParaRPr sz="2800">
              <a:latin typeface="Arial"/>
              <a:cs typeface="Arial"/>
            </a:endParaRPr>
          </a:p>
          <a:p>
            <a:pPr marL="812165" lvl="1" indent="-342265">
              <a:spcBef>
                <a:spcPts val="640"/>
              </a:spcBef>
              <a:buClr>
                <a:srgbClr val="D1282E"/>
              </a:buClr>
              <a:buChar char="•"/>
              <a:tabLst>
                <a:tab pos="812165" algn="l"/>
                <a:tab pos="812800" algn="l"/>
              </a:tabLst>
            </a:pPr>
            <a:r>
              <a:rPr sz="2800" dirty="0">
                <a:latin typeface="Arial"/>
                <a:cs typeface="Arial"/>
              </a:rPr>
              <a:t>519%10 </a:t>
            </a:r>
            <a:r>
              <a:rPr sz="2800" spc="-50" dirty="0">
                <a:latin typeface="Arial"/>
                <a:cs typeface="Arial"/>
              </a:rPr>
              <a:t>=</a:t>
            </a:r>
            <a:endParaRPr sz="2800">
              <a:latin typeface="Arial"/>
              <a:cs typeface="Arial"/>
            </a:endParaRPr>
          </a:p>
        </p:txBody>
      </p:sp>
      <p:sp>
        <p:nvSpPr>
          <p:cNvPr id="3" name="object 3"/>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spc="-10" dirty="0"/>
              <a:t>HASH</a:t>
            </a:r>
            <a:r>
              <a:rPr spc="-275" dirty="0"/>
              <a:t> </a:t>
            </a:r>
            <a:r>
              <a:rPr spc="-60" dirty="0"/>
              <a:t>EXAMPLE</a:t>
            </a:r>
          </a:p>
        </p:txBody>
      </p:sp>
      <p:grpSp>
        <p:nvGrpSpPr>
          <p:cNvPr id="4" name="object 4"/>
          <p:cNvGrpSpPr/>
          <p:nvPr/>
        </p:nvGrpSpPr>
        <p:grpSpPr>
          <a:xfrm>
            <a:off x="7197436" y="3877888"/>
            <a:ext cx="1222375" cy="2943225"/>
            <a:chOff x="5673435" y="3877887"/>
            <a:chExt cx="1222375" cy="2943225"/>
          </a:xfrm>
        </p:grpSpPr>
        <p:pic>
          <p:nvPicPr>
            <p:cNvPr id="5" name="object 5"/>
            <p:cNvPicPr/>
            <p:nvPr/>
          </p:nvPicPr>
          <p:blipFill>
            <a:blip r:embed="rId2" cstate="print"/>
            <a:stretch>
              <a:fillRect/>
            </a:stretch>
          </p:blipFill>
          <p:spPr>
            <a:xfrm>
              <a:off x="5673435" y="4189614"/>
              <a:ext cx="1221970" cy="378229"/>
            </a:xfrm>
            <a:prstGeom prst="rect">
              <a:avLst/>
            </a:prstGeom>
          </p:spPr>
        </p:pic>
        <p:pic>
          <p:nvPicPr>
            <p:cNvPr id="6" name="object 6"/>
            <p:cNvPicPr/>
            <p:nvPr/>
          </p:nvPicPr>
          <p:blipFill>
            <a:blip r:embed="rId3" cstate="print"/>
            <a:stretch>
              <a:fillRect/>
            </a:stretch>
          </p:blipFill>
          <p:spPr>
            <a:xfrm>
              <a:off x="5744094" y="4168833"/>
              <a:ext cx="270163" cy="423949"/>
            </a:xfrm>
            <a:prstGeom prst="rect">
              <a:avLst/>
            </a:prstGeom>
          </p:spPr>
        </p:pic>
        <p:pic>
          <p:nvPicPr>
            <p:cNvPr id="7" name="object 7"/>
            <p:cNvPicPr/>
            <p:nvPr/>
          </p:nvPicPr>
          <p:blipFill>
            <a:blip r:embed="rId4" cstate="print"/>
            <a:stretch>
              <a:fillRect/>
            </a:stretch>
          </p:blipFill>
          <p:spPr>
            <a:xfrm>
              <a:off x="5673435" y="3898668"/>
              <a:ext cx="1221970" cy="378229"/>
            </a:xfrm>
            <a:prstGeom prst="rect">
              <a:avLst/>
            </a:prstGeom>
          </p:spPr>
        </p:pic>
        <p:pic>
          <p:nvPicPr>
            <p:cNvPr id="8" name="object 8"/>
            <p:cNvPicPr/>
            <p:nvPr/>
          </p:nvPicPr>
          <p:blipFill>
            <a:blip r:embed="rId5" cstate="print"/>
            <a:stretch>
              <a:fillRect/>
            </a:stretch>
          </p:blipFill>
          <p:spPr>
            <a:xfrm>
              <a:off x="5744094" y="3877887"/>
              <a:ext cx="270163" cy="423949"/>
            </a:xfrm>
            <a:prstGeom prst="rect">
              <a:avLst/>
            </a:prstGeom>
          </p:spPr>
        </p:pic>
        <p:pic>
          <p:nvPicPr>
            <p:cNvPr id="9" name="object 9"/>
            <p:cNvPicPr/>
            <p:nvPr/>
          </p:nvPicPr>
          <p:blipFill>
            <a:blip r:embed="rId6" cstate="print"/>
            <a:stretch>
              <a:fillRect/>
            </a:stretch>
          </p:blipFill>
          <p:spPr>
            <a:xfrm>
              <a:off x="5673435" y="4463934"/>
              <a:ext cx="1221970" cy="382385"/>
            </a:xfrm>
            <a:prstGeom prst="rect">
              <a:avLst/>
            </a:prstGeom>
          </p:spPr>
        </p:pic>
        <p:pic>
          <p:nvPicPr>
            <p:cNvPr id="10" name="object 10"/>
            <p:cNvPicPr/>
            <p:nvPr/>
          </p:nvPicPr>
          <p:blipFill>
            <a:blip r:embed="rId7" cstate="print"/>
            <a:stretch>
              <a:fillRect/>
            </a:stretch>
          </p:blipFill>
          <p:spPr>
            <a:xfrm>
              <a:off x="5744094" y="4447308"/>
              <a:ext cx="270163" cy="419792"/>
            </a:xfrm>
            <a:prstGeom prst="rect">
              <a:avLst/>
            </a:prstGeom>
          </p:spPr>
        </p:pic>
        <p:pic>
          <p:nvPicPr>
            <p:cNvPr id="11" name="object 11"/>
            <p:cNvPicPr/>
            <p:nvPr/>
          </p:nvPicPr>
          <p:blipFill>
            <a:blip r:embed="rId8" cstate="print"/>
            <a:stretch>
              <a:fillRect/>
            </a:stretch>
          </p:blipFill>
          <p:spPr>
            <a:xfrm>
              <a:off x="5673435" y="4742411"/>
              <a:ext cx="1221970" cy="378229"/>
            </a:xfrm>
            <a:prstGeom prst="rect">
              <a:avLst/>
            </a:prstGeom>
          </p:spPr>
        </p:pic>
        <p:pic>
          <p:nvPicPr>
            <p:cNvPr id="12" name="object 12"/>
            <p:cNvPicPr/>
            <p:nvPr/>
          </p:nvPicPr>
          <p:blipFill>
            <a:blip r:embed="rId9" cstate="print"/>
            <a:stretch>
              <a:fillRect/>
            </a:stretch>
          </p:blipFill>
          <p:spPr>
            <a:xfrm>
              <a:off x="5744094" y="4721628"/>
              <a:ext cx="270163" cy="423949"/>
            </a:xfrm>
            <a:prstGeom prst="rect">
              <a:avLst/>
            </a:prstGeom>
          </p:spPr>
        </p:pic>
        <p:pic>
          <p:nvPicPr>
            <p:cNvPr id="13" name="object 13"/>
            <p:cNvPicPr/>
            <p:nvPr/>
          </p:nvPicPr>
          <p:blipFill>
            <a:blip r:embed="rId10" cstate="print"/>
            <a:stretch>
              <a:fillRect/>
            </a:stretch>
          </p:blipFill>
          <p:spPr>
            <a:xfrm>
              <a:off x="5673435" y="5016731"/>
              <a:ext cx="1221970" cy="382385"/>
            </a:xfrm>
            <a:prstGeom prst="rect">
              <a:avLst/>
            </a:prstGeom>
          </p:spPr>
        </p:pic>
        <p:pic>
          <p:nvPicPr>
            <p:cNvPr id="14" name="object 14"/>
            <p:cNvPicPr/>
            <p:nvPr/>
          </p:nvPicPr>
          <p:blipFill>
            <a:blip r:embed="rId11" cstate="print"/>
            <a:stretch>
              <a:fillRect/>
            </a:stretch>
          </p:blipFill>
          <p:spPr>
            <a:xfrm>
              <a:off x="5744094" y="5000105"/>
              <a:ext cx="270163" cy="419792"/>
            </a:xfrm>
            <a:prstGeom prst="rect">
              <a:avLst/>
            </a:prstGeom>
          </p:spPr>
        </p:pic>
        <p:pic>
          <p:nvPicPr>
            <p:cNvPr id="15" name="object 15"/>
            <p:cNvPicPr/>
            <p:nvPr/>
          </p:nvPicPr>
          <p:blipFill>
            <a:blip r:embed="rId12" cstate="print"/>
            <a:stretch>
              <a:fillRect/>
            </a:stretch>
          </p:blipFill>
          <p:spPr>
            <a:xfrm>
              <a:off x="5673435" y="5299363"/>
              <a:ext cx="1221970" cy="378229"/>
            </a:xfrm>
            <a:prstGeom prst="rect">
              <a:avLst/>
            </a:prstGeom>
          </p:spPr>
        </p:pic>
        <p:pic>
          <p:nvPicPr>
            <p:cNvPr id="16" name="object 16"/>
            <p:cNvPicPr/>
            <p:nvPr/>
          </p:nvPicPr>
          <p:blipFill>
            <a:blip r:embed="rId13" cstate="print"/>
            <a:stretch>
              <a:fillRect/>
            </a:stretch>
          </p:blipFill>
          <p:spPr>
            <a:xfrm>
              <a:off x="5744094" y="5278581"/>
              <a:ext cx="270163" cy="423949"/>
            </a:xfrm>
            <a:prstGeom prst="rect">
              <a:avLst/>
            </a:prstGeom>
          </p:spPr>
        </p:pic>
        <p:pic>
          <p:nvPicPr>
            <p:cNvPr id="17" name="object 17"/>
            <p:cNvPicPr/>
            <p:nvPr/>
          </p:nvPicPr>
          <p:blipFill>
            <a:blip r:embed="rId14" cstate="print"/>
            <a:stretch>
              <a:fillRect/>
            </a:stretch>
          </p:blipFill>
          <p:spPr>
            <a:xfrm>
              <a:off x="5673435" y="5573683"/>
              <a:ext cx="1221970" cy="382385"/>
            </a:xfrm>
            <a:prstGeom prst="rect">
              <a:avLst/>
            </a:prstGeom>
          </p:spPr>
        </p:pic>
        <p:pic>
          <p:nvPicPr>
            <p:cNvPr id="18" name="object 18"/>
            <p:cNvPicPr/>
            <p:nvPr/>
          </p:nvPicPr>
          <p:blipFill>
            <a:blip r:embed="rId15" cstate="print"/>
            <a:stretch>
              <a:fillRect/>
            </a:stretch>
          </p:blipFill>
          <p:spPr>
            <a:xfrm>
              <a:off x="5744094" y="5557058"/>
              <a:ext cx="270163" cy="419792"/>
            </a:xfrm>
            <a:prstGeom prst="rect">
              <a:avLst/>
            </a:prstGeom>
          </p:spPr>
        </p:pic>
        <p:pic>
          <p:nvPicPr>
            <p:cNvPr id="19" name="object 19"/>
            <p:cNvPicPr/>
            <p:nvPr/>
          </p:nvPicPr>
          <p:blipFill>
            <a:blip r:embed="rId16" cstate="print"/>
            <a:stretch>
              <a:fillRect/>
            </a:stretch>
          </p:blipFill>
          <p:spPr>
            <a:xfrm>
              <a:off x="5673435" y="5852159"/>
              <a:ext cx="1221970" cy="378229"/>
            </a:xfrm>
            <a:prstGeom prst="rect">
              <a:avLst/>
            </a:prstGeom>
          </p:spPr>
        </p:pic>
        <p:pic>
          <p:nvPicPr>
            <p:cNvPr id="20" name="object 20"/>
            <p:cNvPicPr/>
            <p:nvPr/>
          </p:nvPicPr>
          <p:blipFill>
            <a:blip r:embed="rId17" cstate="print"/>
            <a:stretch>
              <a:fillRect/>
            </a:stretch>
          </p:blipFill>
          <p:spPr>
            <a:xfrm>
              <a:off x="5744094" y="5831377"/>
              <a:ext cx="270163" cy="423949"/>
            </a:xfrm>
            <a:prstGeom prst="rect">
              <a:avLst/>
            </a:prstGeom>
          </p:spPr>
        </p:pic>
        <p:pic>
          <p:nvPicPr>
            <p:cNvPr id="21" name="object 21"/>
            <p:cNvPicPr/>
            <p:nvPr/>
          </p:nvPicPr>
          <p:blipFill>
            <a:blip r:embed="rId18" cstate="print"/>
            <a:stretch>
              <a:fillRect/>
            </a:stretch>
          </p:blipFill>
          <p:spPr>
            <a:xfrm>
              <a:off x="5673435" y="6126479"/>
              <a:ext cx="1221970" cy="382385"/>
            </a:xfrm>
            <a:prstGeom prst="rect">
              <a:avLst/>
            </a:prstGeom>
          </p:spPr>
        </p:pic>
        <p:pic>
          <p:nvPicPr>
            <p:cNvPr id="22" name="object 22"/>
            <p:cNvPicPr/>
            <p:nvPr/>
          </p:nvPicPr>
          <p:blipFill>
            <a:blip r:embed="rId19" cstate="print"/>
            <a:stretch>
              <a:fillRect/>
            </a:stretch>
          </p:blipFill>
          <p:spPr>
            <a:xfrm>
              <a:off x="5744094" y="6109854"/>
              <a:ext cx="270163" cy="419792"/>
            </a:xfrm>
            <a:prstGeom prst="rect">
              <a:avLst/>
            </a:prstGeom>
          </p:spPr>
        </p:pic>
        <p:pic>
          <p:nvPicPr>
            <p:cNvPr id="23" name="object 23"/>
            <p:cNvPicPr/>
            <p:nvPr/>
          </p:nvPicPr>
          <p:blipFill>
            <a:blip r:embed="rId20" cstate="print"/>
            <a:stretch>
              <a:fillRect/>
            </a:stretch>
          </p:blipFill>
          <p:spPr>
            <a:xfrm>
              <a:off x="5673435" y="6417425"/>
              <a:ext cx="1221970" cy="382385"/>
            </a:xfrm>
            <a:prstGeom prst="rect">
              <a:avLst/>
            </a:prstGeom>
          </p:spPr>
        </p:pic>
        <p:pic>
          <p:nvPicPr>
            <p:cNvPr id="24" name="object 24"/>
            <p:cNvPicPr/>
            <p:nvPr/>
          </p:nvPicPr>
          <p:blipFill>
            <a:blip r:embed="rId21" cstate="print"/>
            <a:stretch>
              <a:fillRect/>
            </a:stretch>
          </p:blipFill>
          <p:spPr>
            <a:xfrm>
              <a:off x="5744094" y="6400800"/>
              <a:ext cx="270163" cy="419792"/>
            </a:xfrm>
            <a:prstGeom prst="rect">
              <a:avLst/>
            </a:prstGeom>
          </p:spPr>
        </p:pic>
      </p:grpSp>
      <p:graphicFrame>
        <p:nvGraphicFramePr>
          <p:cNvPr id="25" name="object 25"/>
          <p:cNvGraphicFramePr>
            <a:graphicFrameLocks noGrp="1"/>
          </p:cNvGraphicFramePr>
          <p:nvPr/>
        </p:nvGraphicFramePr>
        <p:xfrm>
          <a:off x="7219611" y="3943181"/>
          <a:ext cx="1118235" cy="2794000"/>
        </p:xfrm>
        <a:graphic>
          <a:graphicData uri="http://schemas.openxmlformats.org/drawingml/2006/table">
            <a:tbl>
              <a:tblPr firstRow="1" bandRow="1">
                <a:tableStyleId>{2D5ABB26-0587-4C30-8999-92F81FD0307C}</a:tableStyleId>
              </a:tblPr>
              <a:tblGrid>
                <a:gridCol w="1118235">
                  <a:extLst>
                    <a:ext uri="{9D8B030D-6E8A-4147-A177-3AD203B41FA5}">
                      <a16:colId xmlns:a16="http://schemas.microsoft.com/office/drawing/2014/main" val="20000"/>
                    </a:ext>
                  </a:extLst>
                </a:gridCol>
              </a:tblGrid>
              <a:tr h="283210">
                <a:tc>
                  <a:txBody>
                    <a:bodyPr/>
                    <a:lstStyle/>
                    <a:p>
                      <a:pPr marL="90805">
                        <a:lnSpc>
                          <a:spcPts val="2130"/>
                        </a:lnSpc>
                        <a:spcBef>
                          <a:spcPts val="5"/>
                        </a:spcBef>
                      </a:pPr>
                      <a:r>
                        <a:rPr sz="1800" dirty="0">
                          <a:latin typeface="Arial"/>
                          <a:cs typeface="Arial"/>
                        </a:rPr>
                        <a:t>0</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83845">
                <a:tc>
                  <a:txBody>
                    <a:bodyPr/>
                    <a:lstStyle/>
                    <a:p>
                      <a:pPr marL="90805">
                        <a:lnSpc>
                          <a:spcPts val="2070"/>
                        </a:lnSpc>
                        <a:spcBef>
                          <a:spcPts val="65"/>
                        </a:spcBef>
                      </a:pPr>
                      <a:r>
                        <a:rPr sz="1800" dirty="0">
                          <a:latin typeface="Arial"/>
                          <a:cs typeface="Arial"/>
                        </a:rPr>
                        <a:t>1</a:t>
                      </a:r>
                      <a:endParaRPr sz="1800">
                        <a:latin typeface="Arial"/>
                        <a:cs typeface="Arial"/>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1"/>
                  </a:ext>
                </a:extLst>
              </a:tr>
              <a:tr h="276225">
                <a:tc>
                  <a:txBody>
                    <a:bodyPr/>
                    <a:lstStyle/>
                    <a:p>
                      <a:pPr marL="90805">
                        <a:lnSpc>
                          <a:spcPts val="2065"/>
                        </a:lnSpc>
                        <a:spcBef>
                          <a:spcPts val="10"/>
                        </a:spcBef>
                      </a:pPr>
                      <a:r>
                        <a:rPr sz="1800" dirty="0">
                          <a:latin typeface="Arial"/>
                          <a:cs typeface="Arial"/>
                        </a:rPr>
                        <a:t>2</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76225">
                <a:tc>
                  <a:txBody>
                    <a:bodyPr/>
                    <a:lstStyle/>
                    <a:p>
                      <a:pPr marL="90805">
                        <a:lnSpc>
                          <a:spcPts val="2070"/>
                        </a:lnSpc>
                        <a:spcBef>
                          <a:spcPts val="5"/>
                        </a:spcBef>
                      </a:pPr>
                      <a:r>
                        <a:rPr sz="1800" dirty="0">
                          <a:latin typeface="Arial"/>
                          <a:cs typeface="Arial"/>
                        </a:rPr>
                        <a:t>3</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3"/>
                  </a:ext>
                </a:extLst>
              </a:tr>
              <a:tr h="277495">
                <a:tc>
                  <a:txBody>
                    <a:bodyPr/>
                    <a:lstStyle/>
                    <a:p>
                      <a:pPr marL="90805">
                        <a:lnSpc>
                          <a:spcPts val="2080"/>
                        </a:lnSpc>
                        <a:spcBef>
                          <a:spcPts val="10"/>
                        </a:spcBef>
                      </a:pPr>
                      <a:r>
                        <a:rPr sz="1800" dirty="0">
                          <a:latin typeface="Arial"/>
                          <a:cs typeface="Arial"/>
                        </a:rPr>
                        <a:t>4</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4"/>
                  </a:ext>
                </a:extLst>
              </a:tr>
              <a:tr h="277495">
                <a:tc>
                  <a:txBody>
                    <a:bodyPr/>
                    <a:lstStyle/>
                    <a:p>
                      <a:pPr marL="90805">
                        <a:lnSpc>
                          <a:spcPts val="2070"/>
                        </a:lnSpc>
                        <a:spcBef>
                          <a:spcPts val="15"/>
                        </a:spcBef>
                      </a:pPr>
                      <a:r>
                        <a:rPr sz="1800" dirty="0">
                          <a:latin typeface="Arial"/>
                          <a:cs typeface="Arial"/>
                        </a:rPr>
                        <a:t>5</a:t>
                      </a:r>
                      <a:endParaRPr sz="1800">
                        <a:latin typeface="Arial"/>
                        <a:cs typeface="Arial"/>
                      </a:endParaRPr>
                    </a:p>
                  </a:txBody>
                  <a:tcPr marL="0" marR="0" marT="1905" marB="0">
                    <a:lnL w="12700">
                      <a:solidFill>
                        <a:srgbClr val="000000"/>
                      </a:solidFill>
                      <a:prstDash val="solid"/>
                    </a:lnL>
                    <a:lnR w="1270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5"/>
                  </a:ext>
                </a:extLst>
              </a:tr>
              <a:tr h="276225">
                <a:tc>
                  <a:txBody>
                    <a:bodyPr/>
                    <a:lstStyle/>
                    <a:p>
                      <a:pPr marL="90805">
                        <a:lnSpc>
                          <a:spcPts val="2065"/>
                        </a:lnSpc>
                        <a:spcBef>
                          <a:spcPts val="10"/>
                        </a:spcBef>
                      </a:pPr>
                      <a:r>
                        <a:rPr sz="1800" dirty="0">
                          <a:latin typeface="Arial"/>
                          <a:cs typeface="Arial"/>
                        </a:rPr>
                        <a:t>6</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276225">
                <a:tc>
                  <a:txBody>
                    <a:bodyPr/>
                    <a:lstStyle/>
                    <a:p>
                      <a:pPr marL="90805">
                        <a:lnSpc>
                          <a:spcPts val="2070"/>
                        </a:lnSpc>
                        <a:spcBef>
                          <a:spcPts val="5"/>
                        </a:spcBef>
                      </a:pPr>
                      <a:r>
                        <a:rPr sz="1800" dirty="0">
                          <a:latin typeface="Arial"/>
                          <a:cs typeface="Arial"/>
                        </a:rPr>
                        <a:t>7</a:t>
                      </a:r>
                      <a:endParaRPr sz="1800">
                        <a:latin typeface="Arial"/>
                        <a:cs typeface="Arial"/>
                      </a:endParaRPr>
                    </a:p>
                  </a:txBody>
                  <a:tcPr marL="0" marR="0" marT="635"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extLst>
                  <a:ext uri="{0D108BD9-81ED-4DB2-BD59-A6C34878D82A}">
                    <a16:rowId xmlns:a16="http://schemas.microsoft.com/office/drawing/2014/main" val="10007"/>
                  </a:ext>
                </a:extLst>
              </a:tr>
              <a:tr h="283845">
                <a:tc>
                  <a:txBody>
                    <a:bodyPr/>
                    <a:lstStyle/>
                    <a:p>
                      <a:pPr marL="90805">
                        <a:lnSpc>
                          <a:spcPts val="2130"/>
                        </a:lnSpc>
                        <a:spcBef>
                          <a:spcPts val="10"/>
                        </a:spcBef>
                      </a:pPr>
                      <a:r>
                        <a:rPr sz="1800" dirty="0">
                          <a:latin typeface="Arial"/>
                          <a:cs typeface="Arial"/>
                        </a:rPr>
                        <a:t>8</a:t>
                      </a:r>
                      <a:endParaRPr sz="1800">
                        <a:latin typeface="Arial"/>
                        <a:cs typeface="Arial"/>
                      </a:endParaRPr>
                    </a:p>
                  </a:txBody>
                  <a:tcPr marL="0" marR="0" marT="1270" marB="0">
                    <a:lnL w="12700">
                      <a:solidFill>
                        <a:srgbClr val="000000"/>
                      </a:solidFill>
                      <a:prstDash val="solid"/>
                    </a:lnL>
                    <a:lnR w="12700">
                      <a:solidFill>
                        <a:srgbClr val="000000"/>
                      </a:solidFill>
                      <a:prstDash val="solid"/>
                    </a:lnR>
                    <a:lnT w="1905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283210">
                <a:tc>
                  <a:txBody>
                    <a:bodyPr/>
                    <a:lstStyle/>
                    <a:p>
                      <a:pPr marL="90805">
                        <a:lnSpc>
                          <a:spcPts val="2065"/>
                        </a:lnSpc>
                        <a:spcBef>
                          <a:spcPts val="65"/>
                        </a:spcBef>
                      </a:pPr>
                      <a:r>
                        <a:rPr sz="1800" dirty="0">
                          <a:latin typeface="Arial"/>
                          <a:cs typeface="Arial"/>
                        </a:rPr>
                        <a:t>9</a:t>
                      </a:r>
                      <a:endParaRPr sz="1800">
                        <a:latin typeface="Arial"/>
                        <a:cs typeface="Arial"/>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bl>
          </a:graphicData>
        </a:graphic>
      </p:graphicFrame>
      <p:grpSp>
        <p:nvGrpSpPr>
          <p:cNvPr id="26" name="object 26"/>
          <p:cNvGrpSpPr/>
          <p:nvPr/>
        </p:nvGrpSpPr>
        <p:grpSpPr>
          <a:xfrm>
            <a:off x="2380211" y="3898669"/>
            <a:ext cx="1222375" cy="2893060"/>
            <a:chOff x="856210" y="3898669"/>
            <a:chExt cx="1222375" cy="2893060"/>
          </a:xfrm>
        </p:grpSpPr>
        <p:pic>
          <p:nvPicPr>
            <p:cNvPr id="27" name="object 27"/>
            <p:cNvPicPr/>
            <p:nvPr/>
          </p:nvPicPr>
          <p:blipFill>
            <a:blip r:embed="rId22" cstate="print"/>
            <a:stretch>
              <a:fillRect/>
            </a:stretch>
          </p:blipFill>
          <p:spPr>
            <a:xfrm>
              <a:off x="856210" y="3898669"/>
              <a:ext cx="1221970" cy="2892828"/>
            </a:xfrm>
            <a:prstGeom prst="rect">
              <a:avLst/>
            </a:prstGeom>
          </p:spPr>
        </p:pic>
        <p:pic>
          <p:nvPicPr>
            <p:cNvPr id="28" name="object 28"/>
            <p:cNvPicPr/>
            <p:nvPr/>
          </p:nvPicPr>
          <p:blipFill>
            <a:blip r:embed="rId23" cstate="print"/>
            <a:stretch>
              <a:fillRect/>
            </a:stretch>
          </p:blipFill>
          <p:spPr>
            <a:xfrm>
              <a:off x="1192876" y="5137265"/>
              <a:ext cx="548640" cy="419792"/>
            </a:xfrm>
            <a:prstGeom prst="rect">
              <a:avLst/>
            </a:prstGeom>
          </p:spPr>
        </p:pic>
      </p:grpSp>
      <p:sp>
        <p:nvSpPr>
          <p:cNvPr id="29" name="object 29"/>
          <p:cNvSpPr txBox="1"/>
          <p:nvPr/>
        </p:nvSpPr>
        <p:spPr>
          <a:xfrm>
            <a:off x="2407512" y="3949531"/>
            <a:ext cx="1118235" cy="1600438"/>
          </a:xfrm>
          <a:prstGeom prst="rect">
            <a:avLst/>
          </a:prstGeom>
          <a:ln w="12699">
            <a:solidFill>
              <a:srgbClr val="000000"/>
            </a:solidFill>
          </a:ln>
        </p:spPr>
        <p:txBody>
          <a:bodyPr vert="horz" wrap="square" lIns="0" tIns="0" rIns="0" bIns="0" rtlCol="0">
            <a:spAutoFit/>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spcBef>
                <a:spcPts val="15"/>
              </a:spcBef>
            </a:pPr>
            <a:endParaRPr sz="2600">
              <a:latin typeface="Times New Roman"/>
              <a:cs typeface="Times New Roman"/>
            </a:endParaRPr>
          </a:p>
          <a:p>
            <a:pPr marL="358775"/>
            <a:r>
              <a:rPr b="1" spc="-20" dirty="0">
                <a:latin typeface="Arial"/>
                <a:cs typeface="Arial"/>
              </a:rPr>
              <a:t>ints</a:t>
            </a:r>
            <a:endParaRPr>
              <a:latin typeface="Arial"/>
              <a:cs typeface="Arial"/>
            </a:endParaRPr>
          </a:p>
        </p:txBody>
      </p:sp>
      <p:grpSp>
        <p:nvGrpSpPr>
          <p:cNvPr id="30" name="object 30"/>
          <p:cNvGrpSpPr/>
          <p:nvPr/>
        </p:nvGrpSpPr>
        <p:grpSpPr>
          <a:xfrm>
            <a:off x="4520738" y="4667596"/>
            <a:ext cx="1222375" cy="902335"/>
            <a:chOff x="2996737" y="4667595"/>
            <a:chExt cx="1222375" cy="902335"/>
          </a:xfrm>
        </p:grpSpPr>
        <p:pic>
          <p:nvPicPr>
            <p:cNvPr id="31" name="object 31"/>
            <p:cNvPicPr/>
            <p:nvPr/>
          </p:nvPicPr>
          <p:blipFill>
            <a:blip r:embed="rId24" cstate="print"/>
            <a:stretch>
              <a:fillRect/>
            </a:stretch>
          </p:blipFill>
          <p:spPr>
            <a:xfrm>
              <a:off x="2996737" y="4667595"/>
              <a:ext cx="1221970" cy="901930"/>
            </a:xfrm>
            <a:prstGeom prst="rect">
              <a:avLst/>
            </a:prstGeom>
          </p:spPr>
        </p:pic>
        <p:pic>
          <p:nvPicPr>
            <p:cNvPr id="32" name="object 32"/>
            <p:cNvPicPr/>
            <p:nvPr/>
          </p:nvPicPr>
          <p:blipFill>
            <a:blip r:embed="rId25" cstate="print"/>
            <a:stretch>
              <a:fillRect/>
            </a:stretch>
          </p:blipFill>
          <p:spPr>
            <a:xfrm>
              <a:off x="3117272" y="4771504"/>
              <a:ext cx="1005839" cy="689956"/>
            </a:xfrm>
            <a:prstGeom prst="rect">
              <a:avLst/>
            </a:prstGeom>
          </p:spPr>
        </p:pic>
      </p:grpSp>
      <p:sp>
        <p:nvSpPr>
          <p:cNvPr id="33" name="object 33"/>
          <p:cNvSpPr txBox="1"/>
          <p:nvPr/>
        </p:nvSpPr>
        <p:spPr>
          <a:xfrm>
            <a:off x="4547813" y="4721371"/>
            <a:ext cx="1118235" cy="677750"/>
          </a:xfrm>
          <a:prstGeom prst="rect">
            <a:avLst/>
          </a:prstGeom>
          <a:ln w="12699">
            <a:solidFill>
              <a:srgbClr val="000000"/>
            </a:solidFill>
          </a:ln>
        </p:spPr>
        <p:txBody>
          <a:bodyPr vert="horz" wrap="square" lIns="0" tIns="137795" rIns="0" bIns="0" rtlCol="0">
            <a:spAutoFit/>
          </a:bodyPr>
          <a:lstStyle/>
          <a:p>
            <a:pPr marL="154940" marR="141605" indent="111125">
              <a:lnSpc>
                <a:spcPts val="2100"/>
              </a:lnSpc>
              <a:spcBef>
                <a:spcPts val="1085"/>
              </a:spcBef>
            </a:pPr>
            <a:r>
              <a:rPr i="1" dirty="0">
                <a:latin typeface="Arial"/>
                <a:cs typeface="Arial"/>
              </a:rPr>
              <a:t>h(x)</a:t>
            </a:r>
            <a:r>
              <a:rPr i="1" spc="-5" dirty="0">
                <a:latin typeface="Arial"/>
                <a:cs typeface="Arial"/>
              </a:rPr>
              <a:t> </a:t>
            </a:r>
            <a:r>
              <a:rPr i="1" spc="-50" dirty="0">
                <a:latin typeface="Arial"/>
                <a:cs typeface="Arial"/>
              </a:rPr>
              <a:t>= </a:t>
            </a:r>
            <a:r>
              <a:rPr i="1" spc="-10" dirty="0">
                <a:latin typeface="Arial"/>
                <a:cs typeface="Arial"/>
              </a:rPr>
              <a:t>key%10</a:t>
            </a:r>
            <a:endParaRPr>
              <a:latin typeface="Arial"/>
              <a:cs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40" y="1631696"/>
            <a:ext cx="4011295" cy="1694814"/>
          </a:xfrm>
          <a:prstGeom prst="rect">
            <a:avLst/>
          </a:prstGeom>
        </p:spPr>
        <p:txBody>
          <a:bodyPr vert="horz" wrap="square" lIns="0" tIns="166370" rIns="0" bIns="0" rtlCol="0">
            <a:spAutoFit/>
          </a:bodyPr>
          <a:lstStyle/>
          <a:p>
            <a:pPr marL="354965" indent="-342265">
              <a:spcBef>
                <a:spcPts val="1310"/>
              </a:spcBef>
              <a:buFont typeface="Arial"/>
              <a:buChar char="•"/>
              <a:tabLst>
                <a:tab pos="354965" algn="l"/>
                <a:tab pos="355600" algn="l"/>
              </a:tabLst>
            </a:pPr>
            <a:r>
              <a:rPr sz="2800" b="1" dirty="0">
                <a:latin typeface="Arial"/>
                <a:cs typeface="Arial"/>
              </a:rPr>
              <a:t>Let’s</a:t>
            </a:r>
            <a:r>
              <a:rPr sz="2800" b="1" spc="-65" dirty="0">
                <a:latin typeface="Arial"/>
                <a:cs typeface="Arial"/>
              </a:rPr>
              <a:t> </a:t>
            </a:r>
            <a:r>
              <a:rPr sz="2800" b="1" dirty="0">
                <a:latin typeface="Arial"/>
                <a:cs typeface="Arial"/>
              </a:rPr>
              <a:t>insert(519)</a:t>
            </a:r>
            <a:r>
              <a:rPr sz="2800" b="1" spc="-60" dirty="0">
                <a:latin typeface="Arial"/>
                <a:cs typeface="Arial"/>
              </a:rPr>
              <a:t> </a:t>
            </a:r>
            <a:r>
              <a:rPr sz="2800" b="1" spc="-10" dirty="0">
                <a:latin typeface="Arial"/>
                <a:cs typeface="Arial"/>
              </a:rPr>
              <a:t>table</a:t>
            </a:r>
            <a:endParaRPr sz="2800">
              <a:latin typeface="Arial"/>
              <a:cs typeface="Arial"/>
            </a:endParaRPr>
          </a:p>
          <a:p>
            <a:pPr marL="812165" lvl="1" indent="-342265">
              <a:spcBef>
                <a:spcPts val="1215"/>
              </a:spcBef>
              <a:buClr>
                <a:srgbClr val="D1282E"/>
              </a:buClr>
              <a:buChar char="•"/>
              <a:tabLst>
                <a:tab pos="812165" algn="l"/>
                <a:tab pos="812800" algn="l"/>
              </a:tabLst>
            </a:pPr>
            <a:r>
              <a:rPr sz="2800" dirty="0">
                <a:latin typeface="Arial"/>
                <a:cs typeface="Arial"/>
              </a:rPr>
              <a:t>Where</a:t>
            </a:r>
            <a:r>
              <a:rPr sz="2800" spc="-5" dirty="0">
                <a:latin typeface="Arial"/>
                <a:cs typeface="Arial"/>
              </a:rPr>
              <a:t> </a:t>
            </a:r>
            <a:r>
              <a:rPr sz="2800" dirty="0">
                <a:latin typeface="Arial"/>
                <a:cs typeface="Arial"/>
              </a:rPr>
              <a:t>does</a:t>
            </a:r>
            <a:r>
              <a:rPr sz="2800" spc="-5" dirty="0">
                <a:latin typeface="Arial"/>
                <a:cs typeface="Arial"/>
              </a:rPr>
              <a:t> </a:t>
            </a:r>
            <a:r>
              <a:rPr sz="2800" dirty="0">
                <a:latin typeface="Arial"/>
                <a:cs typeface="Arial"/>
              </a:rPr>
              <a:t>it</a:t>
            </a:r>
            <a:r>
              <a:rPr sz="2800" spc="-5" dirty="0">
                <a:latin typeface="Arial"/>
                <a:cs typeface="Arial"/>
              </a:rPr>
              <a:t> </a:t>
            </a:r>
            <a:r>
              <a:rPr sz="2800" spc="-25" dirty="0">
                <a:latin typeface="Arial"/>
                <a:cs typeface="Arial"/>
              </a:rPr>
              <a:t>go?</a:t>
            </a:r>
            <a:endParaRPr sz="2800">
              <a:latin typeface="Arial"/>
              <a:cs typeface="Arial"/>
            </a:endParaRPr>
          </a:p>
          <a:p>
            <a:pPr marL="812165" lvl="1" indent="-342265">
              <a:spcBef>
                <a:spcPts val="640"/>
              </a:spcBef>
              <a:buClr>
                <a:srgbClr val="D1282E"/>
              </a:buClr>
              <a:buChar char="•"/>
              <a:tabLst>
                <a:tab pos="812165" algn="l"/>
                <a:tab pos="812800" algn="l"/>
              </a:tabLst>
            </a:pPr>
            <a:r>
              <a:rPr sz="2800" dirty="0">
                <a:latin typeface="Arial"/>
                <a:cs typeface="Arial"/>
              </a:rPr>
              <a:t>519%10 = </a:t>
            </a:r>
            <a:r>
              <a:rPr sz="2800" spc="-50" dirty="0">
                <a:latin typeface="Arial"/>
                <a:cs typeface="Arial"/>
              </a:rPr>
              <a:t>9</a:t>
            </a:r>
            <a:endParaRPr sz="2800">
              <a:latin typeface="Arial"/>
              <a:cs typeface="Arial"/>
            </a:endParaRPr>
          </a:p>
        </p:txBody>
      </p:sp>
      <p:sp>
        <p:nvSpPr>
          <p:cNvPr id="3" name="object 3"/>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spc="-10" dirty="0"/>
              <a:t>HASH</a:t>
            </a:r>
            <a:r>
              <a:rPr spc="-275" dirty="0"/>
              <a:t> </a:t>
            </a:r>
            <a:r>
              <a:rPr spc="-60" dirty="0"/>
              <a:t>EXAMPLE</a:t>
            </a:r>
          </a:p>
        </p:txBody>
      </p:sp>
      <p:grpSp>
        <p:nvGrpSpPr>
          <p:cNvPr id="4" name="object 4"/>
          <p:cNvGrpSpPr/>
          <p:nvPr/>
        </p:nvGrpSpPr>
        <p:grpSpPr>
          <a:xfrm>
            <a:off x="2380211" y="3877888"/>
            <a:ext cx="6039485" cy="2914015"/>
            <a:chOff x="856210" y="3877887"/>
            <a:chExt cx="6039485" cy="2914015"/>
          </a:xfrm>
        </p:grpSpPr>
        <p:pic>
          <p:nvPicPr>
            <p:cNvPr id="5" name="object 5"/>
            <p:cNvPicPr/>
            <p:nvPr/>
          </p:nvPicPr>
          <p:blipFill>
            <a:blip r:embed="rId2" cstate="print"/>
            <a:stretch>
              <a:fillRect/>
            </a:stretch>
          </p:blipFill>
          <p:spPr>
            <a:xfrm>
              <a:off x="5673435" y="4189614"/>
              <a:ext cx="1221970" cy="378229"/>
            </a:xfrm>
            <a:prstGeom prst="rect">
              <a:avLst/>
            </a:prstGeom>
          </p:spPr>
        </p:pic>
        <p:pic>
          <p:nvPicPr>
            <p:cNvPr id="6" name="object 6"/>
            <p:cNvPicPr/>
            <p:nvPr/>
          </p:nvPicPr>
          <p:blipFill>
            <a:blip r:embed="rId3" cstate="print"/>
            <a:stretch>
              <a:fillRect/>
            </a:stretch>
          </p:blipFill>
          <p:spPr>
            <a:xfrm>
              <a:off x="5744094" y="4168833"/>
              <a:ext cx="270163" cy="423949"/>
            </a:xfrm>
            <a:prstGeom prst="rect">
              <a:avLst/>
            </a:prstGeom>
          </p:spPr>
        </p:pic>
        <p:sp>
          <p:nvSpPr>
            <p:cNvPr id="7" name="object 7"/>
            <p:cNvSpPr/>
            <p:nvPr/>
          </p:nvSpPr>
          <p:spPr>
            <a:xfrm>
              <a:off x="5701960" y="4241064"/>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8" name="object 8"/>
            <p:cNvPicPr/>
            <p:nvPr/>
          </p:nvPicPr>
          <p:blipFill>
            <a:blip r:embed="rId4" cstate="print"/>
            <a:stretch>
              <a:fillRect/>
            </a:stretch>
          </p:blipFill>
          <p:spPr>
            <a:xfrm>
              <a:off x="5673435" y="3898668"/>
              <a:ext cx="1221970" cy="378229"/>
            </a:xfrm>
            <a:prstGeom prst="rect">
              <a:avLst/>
            </a:prstGeom>
          </p:spPr>
        </p:pic>
        <p:pic>
          <p:nvPicPr>
            <p:cNvPr id="9" name="object 9"/>
            <p:cNvPicPr/>
            <p:nvPr/>
          </p:nvPicPr>
          <p:blipFill>
            <a:blip r:embed="rId5" cstate="print"/>
            <a:stretch>
              <a:fillRect/>
            </a:stretch>
          </p:blipFill>
          <p:spPr>
            <a:xfrm>
              <a:off x="5744094" y="3877887"/>
              <a:ext cx="270163" cy="423949"/>
            </a:xfrm>
            <a:prstGeom prst="rect">
              <a:avLst/>
            </a:prstGeom>
          </p:spPr>
        </p:pic>
        <p:sp>
          <p:nvSpPr>
            <p:cNvPr id="10" name="object 10"/>
            <p:cNvSpPr/>
            <p:nvPr/>
          </p:nvSpPr>
          <p:spPr>
            <a:xfrm>
              <a:off x="5701960" y="3949531"/>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11" name="object 11"/>
            <p:cNvPicPr/>
            <p:nvPr/>
          </p:nvPicPr>
          <p:blipFill>
            <a:blip r:embed="rId6" cstate="print"/>
            <a:stretch>
              <a:fillRect/>
            </a:stretch>
          </p:blipFill>
          <p:spPr>
            <a:xfrm>
              <a:off x="856210" y="3898669"/>
              <a:ext cx="1221970" cy="2892828"/>
            </a:xfrm>
            <a:prstGeom prst="rect">
              <a:avLst/>
            </a:prstGeom>
          </p:spPr>
        </p:pic>
        <p:sp>
          <p:nvSpPr>
            <p:cNvPr id="12" name="object 12"/>
            <p:cNvSpPr/>
            <p:nvPr/>
          </p:nvSpPr>
          <p:spPr>
            <a:xfrm>
              <a:off x="883511" y="3949531"/>
              <a:ext cx="1118235" cy="2791460"/>
            </a:xfrm>
            <a:custGeom>
              <a:avLst/>
              <a:gdLst/>
              <a:ahLst/>
              <a:cxnLst/>
              <a:rect l="l" t="t" r="r" b="b"/>
              <a:pathLst>
                <a:path w="1118235" h="2791459">
                  <a:moveTo>
                    <a:pt x="0" y="0"/>
                  </a:moveTo>
                  <a:lnTo>
                    <a:pt x="1118193" y="0"/>
                  </a:lnTo>
                  <a:lnTo>
                    <a:pt x="1118193" y="2790885"/>
                  </a:lnTo>
                  <a:lnTo>
                    <a:pt x="0" y="2790885"/>
                  </a:lnTo>
                  <a:lnTo>
                    <a:pt x="0" y="0"/>
                  </a:lnTo>
                  <a:close/>
                </a:path>
              </a:pathLst>
            </a:custGeom>
            <a:ln w="12699">
              <a:solidFill>
                <a:srgbClr val="000000"/>
              </a:solidFill>
            </a:ln>
          </p:spPr>
          <p:txBody>
            <a:bodyPr wrap="square" lIns="0" tIns="0" rIns="0" bIns="0" rtlCol="0"/>
            <a:lstStyle/>
            <a:p>
              <a:endParaRPr/>
            </a:p>
          </p:txBody>
        </p:sp>
      </p:grpSp>
      <p:sp>
        <p:nvSpPr>
          <p:cNvPr id="13" name="object 13"/>
          <p:cNvSpPr txBox="1"/>
          <p:nvPr/>
        </p:nvSpPr>
        <p:spPr>
          <a:xfrm>
            <a:off x="7232311" y="3920516"/>
            <a:ext cx="1105535" cy="608965"/>
          </a:xfrm>
          <a:prstGeom prst="rect">
            <a:avLst/>
          </a:prstGeom>
        </p:spPr>
        <p:txBody>
          <a:bodyPr vert="horz" wrap="square" lIns="0" tIns="29845" rIns="0" bIns="0" rtlCol="0">
            <a:spAutoFit/>
          </a:bodyPr>
          <a:lstStyle/>
          <a:p>
            <a:pPr marL="84455">
              <a:spcBef>
                <a:spcPts val="235"/>
              </a:spcBef>
            </a:pPr>
            <a:r>
              <a:rPr dirty="0">
                <a:latin typeface="Arial"/>
                <a:cs typeface="Arial"/>
              </a:rPr>
              <a:t>0</a:t>
            </a:r>
            <a:endParaRPr>
              <a:latin typeface="Arial"/>
              <a:cs typeface="Arial"/>
            </a:endParaRPr>
          </a:p>
          <a:p>
            <a:pPr marL="84455">
              <a:spcBef>
                <a:spcPts val="135"/>
              </a:spcBef>
            </a:pPr>
            <a:r>
              <a:rPr dirty="0">
                <a:latin typeface="Arial"/>
                <a:cs typeface="Arial"/>
              </a:rPr>
              <a:t>1</a:t>
            </a:r>
            <a:endParaRPr>
              <a:latin typeface="Arial"/>
              <a:cs typeface="Arial"/>
            </a:endParaRPr>
          </a:p>
        </p:txBody>
      </p:sp>
      <p:grpSp>
        <p:nvGrpSpPr>
          <p:cNvPr id="14" name="object 14"/>
          <p:cNvGrpSpPr/>
          <p:nvPr/>
        </p:nvGrpSpPr>
        <p:grpSpPr>
          <a:xfrm>
            <a:off x="7197436" y="4447308"/>
            <a:ext cx="1222375" cy="420370"/>
            <a:chOff x="5673435" y="4447308"/>
            <a:chExt cx="1222375" cy="420370"/>
          </a:xfrm>
        </p:grpSpPr>
        <p:pic>
          <p:nvPicPr>
            <p:cNvPr id="15" name="object 15"/>
            <p:cNvPicPr/>
            <p:nvPr/>
          </p:nvPicPr>
          <p:blipFill>
            <a:blip r:embed="rId7" cstate="print"/>
            <a:stretch>
              <a:fillRect/>
            </a:stretch>
          </p:blipFill>
          <p:spPr>
            <a:xfrm>
              <a:off x="5673435" y="4463934"/>
              <a:ext cx="1221970" cy="382385"/>
            </a:xfrm>
            <a:prstGeom prst="rect">
              <a:avLst/>
            </a:prstGeom>
          </p:spPr>
        </p:pic>
        <p:pic>
          <p:nvPicPr>
            <p:cNvPr id="16" name="object 16"/>
            <p:cNvPicPr/>
            <p:nvPr/>
          </p:nvPicPr>
          <p:blipFill>
            <a:blip r:embed="rId8" cstate="print"/>
            <a:stretch>
              <a:fillRect/>
            </a:stretch>
          </p:blipFill>
          <p:spPr>
            <a:xfrm>
              <a:off x="5744094" y="4447308"/>
              <a:ext cx="270163" cy="419792"/>
            </a:xfrm>
            <a:prstGeom prst="rect">
              <a:avLst/>
            </a:prstGeom>
          </p:spPr>
        </p:pic>
      </p:grpSp>
      <p:sp>
        <p:nvSpPr>
          <p:cNvPr id="17" name="object 17"/>
          <p:cNvSpPr txBox="1"/>
          <p:nvPr/>
        </p:nvSpPr>
        <p:spPr>
          <a:xfrm>
            <a:off x="7225961" y="4517448"/>
            <a:ext cx="1118235" cy="284480"/>
          </a:xfrm>
          <a:prstGeom prst="rect">
            <a:avLst/>
          </a:prstGeom>
          <a:ln w="12699">
            <a:solidFill>
              <a:srgbClr val="000000"/>
            </a:solidFill>
          </a:ln>
        </p:spPr>
        <p:txBody>
          <a:bodyPr vert="horz" wrap="square" lIns="0" tIns="1270" rIns="0" bIns="0" rtlCol="0">
            <a:spAutoFit/>
          </a:bodyPr>
          <a:lstStyle/>
          <a:p>
            <a:pPr marL="90805">
              <a:spcBef>
                <a:spcPts val="10"/>
              </a:spcBef>
            </a:pPr>
            <a:r>
              <a:rPr dirty="0">
                <a:latin typeface="Arial"/>
                <a:cs typeface="Arial"/>
              </a:rPr>
              <a:t>2</a:t>
            </a:r>
            <a:endParaRPr>
              <a:latin typeface="Arial"/>
              <a:cs typeface="Arial"/>
            </a:endParaRPr>
          </a:p>
        </p:txBody>
      </p:sp>
      <p:grpSp>
        <p:nvGrpSpPr>
          <p:cNvPr id="18" name="object 18"/>
          <p:cNvGrpSpPr/>
          <p:nvPr/>
        </p:nvGrpSpPr>
        <p:grpSpPr>
          <a:xfrm>
            <a:off x="7197436" y="4721628"/>
            <a:ext cx="1222375" cy="424180"/>
            <a:chOff x="5673435" y="4721628"/>
            <a:chExt cx="1222375" cy="424180"/>
          </a:xfrm>
        </p:grpSpPr>
        <p:pic>
          <p:nvPicPr>
            <p:cNvPr id="19" name="object 19"/>
            <p:cNvPicPr/>
            <p:nvPr/>
          </p:nvPicPr>
          <p:blipFill>
            <a:blip r:embed="rId9" cstate="print"/>
            <a:stretch>
              <a:fillRect/>
            </a:stretch>
          </p:blipFill>
          <p:spPr>
            <a:xfrm>
              <a:off x="5673435" y="4742410"/>
              <a:ext cx="1221970" cy="378229"/>
            </a:xfrm>
            <a:prstGeom prst="rect">
              <a:avLst/>
            </a:prstGeom>
          </p:spPr>
        </p:pic>
        <p:pic>
          <p:nvPicPr>
            <p:cNvPr id="20" name="object 20"/>
            <p:cNvPicPr/>
            <p:nvPr/>
          </p:nvPicPr>
          <p:blipFill>
            <a:blip r:embed="rId10" cstate="print"/>
            <a:stretch>
              <a:fillRect/>
            </a:stretch>
          </p:blipFill>
          <p:spPr>
            <a:xfrm>
              <a:off x="5744094" y="4721628"/>
              <a:ext cx="270163" cy="423949"/>
            </a:xfrm>
            <a:prstGeom prst="rect">
              <a:avLst/>
            </a:prstGeom>
          </p:spPr>
        </p:pic>
      </p:grpSp>
      <p:sp>
        <p:nvSpPr>
          <p:cNvPr id="21" name="object 21"/>
          <p:cNvSpPr txBox="1"/>
          <p:nvPr/>
        </p:nvSpPr>
        <p:spPr>
          <a:xfrm>
            <a:off x="7225961" y="4801818"/>
            <a:ext cx="1118235" cy="269304"/>
          </a:xfrm>
          <a:prstGeom prst="rect">
            <a:avLst/>
          </a:prstGeom>
          <a:ln w="12699">
            <a:solidFill>
              <a:srgbClr val="000000"/>
            </a:solidFill>
          </a:ln>
        </p:spPr>
        <p:txBody>
          <a:bodyPr vert="horz" wrap="square" lIns="0" tIns="0" rIns="0" bIns="0" rtlCol="0">
            <a:spAutoFit/>
          </a:bodyPr>
          <a:lstStyle/>
          <a:p>
            <a:pPr marL="90805">
              <a:lnSpc>
                <a:spcPts val="2105"/>
              </a:lnSpc>
            </a:pPr>
            <a:r>
              <a:rPr dirty="0">
                <a:latin typeface="Arial"/>
                <a:cs typeface="Arial"/>
              </a:rPr>
              <a:t>3</a:t>
            </a:r>
            <a:endParaRPr>
              <a:latin typeface="Arial"/>
              <a:cs typeface="Arial"/>
            </a:endParaRPr>
          </a:p>
        </p:txBody>
      </p:sp>
      <p:grpSp>
        <p:nvGrpSpPr>
          <p:cNvPr id="22" name="object 22"/>
          <p:cNvGrpSpPr/>
          <p:nvPr/>
        </p:nvGrpSpPr>
        <p:grpSpPr>
          <a:xfrm>
            <a:off x="7197436" y="5000104"/>
            <a:ext cx="1222375" cy="420370"/>
            <a:chOff x="5673435" y="5000104"/>
            <a:chExt cx="1222375" cy="420370"/>
          </a:xfrm>
        </p:grpSpPr>
        <p:pic>
          <p:nvPicPr>
            <p:cNvPr id="23" name="object 23"/>
            <p:cNvPicPr/>
            <p:nvPr/>
          </p:nvPicPr>
          <p:blipFill>
            <a:blip r:embed="rId11" cstate="print"/>
            <a:stretch>
              <a:fillRect/>
            </a:stretch>
          </p:blipFill>
          <p:spPr>
            <a:xfrm>
              <a:off x="5673435" y="5016731"/>
              <a:ext cx="1221970" cy="382385"/>
            </a:xfrm>
            <a:prstGeom prst="rect">
              <a:avLst/>
            </a:prstGeom>
          </p:spPr>
        </p:pic>
        <p:pic>
          <p:nvPicPr>
            <p:cNvPr id="24" name="object 24"/>
            <p:cNvPicPr/>
            <p:nvPr/>
          </p:nvPicPr>
          <p:blipFill>
            <a:blip r:embed="rId12" cstate="print"/>
            <a:stretch>
              <a:fillRect/>
            </a:stretch>
          </p:blipFill>
          <p:spPr>
            <a:xfrm>
              <a:off x="5744094" y="5000104"/>
              <a:ext cx="270163" cy="419792"/>
            </a:xfrm>
            <a:prstGeom prst="rect">
              <a:avLst/>
            </a:prstGeom>
          </p:spPr>
        </p:pic>
        <p:sp>
          <p:nvSpPr>
            <p:cNvPr id="25" name="object 25"/>
            <p:cNvSpPr/>
            <p:nvPr/>
          </p:nvSpPr>
          <p:spPr>
            <a:xfrm>
              <a:off x="5701960" y="5070486"/>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26" name="object 26"/>
          <p:cNvSpPr txBox="1"/>
          <p:nvPr/>
        </p:nvSpPr>
        <p:spPr>
          <a:xfrm>
            <a:off x="7232311" y="5058683"/>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4</a:t>
            </a:r>
            <a:endParaRPr>
              <a:latin typeface="Arial"/>
              <a:cs typeface="Arial"/>
            </a:endParaRPr>
          </a:p>
        </p:txBody>
      </p:sp>
      <p:grpSp>
        <p:nvGrpSpPr>
          <p:cNvPr id="27" name="object 27"/>
          <p:cNvGrpSpPr/>
          <p:nvPr/>
        </p:nvGrpSpPr>
        <p:grpSpPr>
          <a:xfrm>
            <a:off x="7197436" y="5278581"/>
            <a:ext cx="1222375" cy="424180"/>
            <a:chOff x="5673435" y="5278581"/>
            <a:chExt cx="1222375" cy="424180"/>
          </a:xfrm>
        </p:grpSpPr>
        <p:pic>
          <p:nvPicPr>
            <p:cNvPr id="28" name="object 28"/>
            <p:cNvPicPr/>
            <p:nvPr/>
          </p:nvPicPr>
          <p:blipFill>
            <a:blip r:embed="rId13" cstate="print"/>
            <a:stretch>
              <a:fillRect/>
            </a:stretch>
          </p:blipFill>
          <p:spPr>
            <a:xfrm>
              <a:off x="5673435" y="5299363"/>
              <a:ext cx="1221970" cy="378229"/>
            </a:xfrm>
            <a:prstGeom prst="rect">
              <a:avLst/>
            </a:prstGeom>
          </p:spPr>
        </p:pic>
        <p:pic>
          <p:nvPicPr>
            <p:cNvPr id="29" name="object 29"/>
            <p:cNvPicPr/>
            <p:nvPr/>
          </p:nvPicPr>
          <p:blipFill>
            <a:blip r:embed="rId14" cstate="print"/>
            <a:stretch>
              <a:fillRect/>
            </a:stretch>
          </p:blipFill>
          <p:spPr>
            <a:xfrm>
              <a:off x="5744094" y="5278581"/>
              <a:ext cx="270163" cy="423949"/>
            </a:xfrm>
            <a:prstGeom prst="rect">
              <a:avLst/>
            </a:prstGeom>
          </p:spPr>
        </p:pic>
        <p:sp>
          <p:nvSpPr>
            <p:cNvPr id="30" name="object 30"/>
            <p:cNvSpPr/>
            <p:nvPr/>
          </p:nvSpPr>
          <p:spPr>
            <a:xfrm>
              <a:off x="5701960" y="5349421"/>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31" name="object 31"/>
          <p:cNvSpPr txBox="1"/>
          <p:nvPr/>
        </p:nvSpPr>
        <p:spPr>
          <a:xfrm>
            <a:off x="7232311" y="5337618"/>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5</a:t>
            </a:r>
            <a:endParaRPr>
              <a:latin typeface="Arial"/>
              <a:cs typeface="Arial"/>
            </a:endParaRPr>
          </a:p>
        </p:txBody>
      </p:sp>
      <p:grpSp>
        <p:nvGrpSpPr>
          <p:cNvPr id="32" name="object 32"/>
          <p:cNvGrpSpPr/>
          <p:nvPr/>
        </p:nvGrpSpPr>
        <p:grpSpPr>
          <a:xfrm>
            <a:off x="7197436" y="5557058"/>
            <a:ext cx="1222375" cy="420370"/>
            <a:chOff x="5673435" y="5557058"/>
            <a:chExt cx="1222375" cy="420370"/>
          </a:xfrm>
        </p:grpSpPr>
        <p:pic>
          <p:nvPicPr>
            <p:cNvPr id="33" name="object 33"/>
            <p:cNvPicPr/>
            <p:nvPr/>
          </p:nvPicPr>
          <p:blipFill>
            <a:blip r:embed="rId15" cstate="print"/>
            <a:stretch>
              <a:fillRect/>
            </a:stretch>
          </p:blipFill>
          <p:spPr>
            <a:xfrm>
              <a:off x="5673435" y="5573683"/>
              <a:ext cx="1221970" cy="382385"/>
            </a:xfrm>
            <a:prstGeom prst="rect">
              <a:avLst/>
            </a:prstGeom>
          </p:spPr>
        </p:pic>
        <p:pic>
          <p:nvPicPr>
            <p:cNvPr id="34" name="object 34"/>
            <p:cNvPicPr/>
            <p:nvPr/>
          </p:nvPicPr>
          <p:blipFill>
            <a:blip r:embed="rId16" cstate="print"/>
            <a:stretch>
              <a:fillRect/>
            </a:stretch>
          </p:blipFill>
          <p:spPr>
            <a:xfrm>
              <a:off x="5744094" y="5557058"/>
              <a:ext cx="270163" cy="419792"/>
            </a:xfrm>
            <a:prstGeom prst="rect">
              <a:avLst/>
            </a:prstGeom>
          </p:spPr>
        </p:pic>
      </p:grpSp>
      <p:sp>
        <p:nvSpPr>
          <p:cNvPr id="35" name="object 35"/>
          <p:cNvSpPr txBox="1"/>
          <p:nvPr/>
        </p:nvSpPr>
        <p:spPr>
          <a:xfrm>
            <a:off x="7225961" y="5625804"/>
            <a:ext cx="1118235" cy="276860"/>
          </a:xfrm>
          <a:prstGeom prst="rect">
            <a:avLst/>
          </a:prstGeom>
          <a:ln w="12699">
            <a:solidFill>
              <a:srgbClr val="000000"/>
            </a:solidFill>
          </a:ln>
        </p:spPr>
        <p:txBody>
          <a:bodyPr vert="horz" wrap="square" lIns="0" tIns="1270" rIns="0" bIns="0" rtlCol="0">
            <a:spAutoFit/>
          </a:bodyPr>
          <a:lstStyle/>
          <a:p>
            <a:pPr marL="90805">
              <a:spcBef>
                <a:spcPts val="10"/>
              </a:spcBef>
            </a:pPr>
            <a:r>
              <a:rPr dirty="0">
                <a:latin typeface="Arial"/>
                <a:cs typeface="Arial"/>
              </a:rPr>
              <a:t>6</a:t>
            </a:r>
            <a:endParaRPr>
              <a:latin typeface="Arial"/>
              <a:cs typeface="Arial"/>
            </a:endParaRPr>
          </a:p>
        </p:txBody>
      </p:sp>
      <p:grpSp>
        <p:nvGrpSpPr>
          <p:cNvPr id="36" name="object 36"/>
          <p:cNvGrpSpPr/>
          <p:nvPr/>
        </p:nvGrpSpPr>
        <p:grpSpPr>
          <a:xfrm>
            <a:off x="7197436" y="5831377"/>
            <a:ext cx="1222375" cy="424180"/>
            <a:chOff x="5673435" y="5831377"/>
            <a:chExt cx="1222375" cy="424180"/>
          </a:xfrm>
        </p:grpSpPr>
        <p:pic>
          <p:nvPicPr>
            <p:cNvPr id="37" name="object 37"/>
            <p:cNvPicPr/>
            <p:nvPr/>
          </p:nvPicPr>
          <p:blipFill>
            <a:blip r:embed="rId17" cstate="print"/>
            <a:stretch>
              <a:fillRect/>
            </a:stretch>
          </p:blipFill>
          <p:spPr>
            <a:xfrm>
              <a:off x="5673435" y="5852159"/>
              <a:ext cx="1221970" cy="378229"/>
            </a:xfrm>
            <a:prstGeom prst="rect">
              <a:avLst/>
            </a:prstGeom>
          </p:spPr>
        </p:pic>
        <p:pic>
          <p:nvPicPr>
            <p:cNvPr id="38" name="object 38"/>
            <p:cNvPicPr/>
            <p:nvPr/>
          </p:nvPicPr>
          <p:blipFill>
            <a:blip r:embed="rId18" cstate="print"/>
            <a:stretch>
              <a:fillRect/>
            </a:stretch>
          </p:blipFill>
          <p:spPr>
            <a:xfrm>
              <a:off x="5744094" y="5831377"/>
              <a:ext cx="270163" cy="423949"/>
            </a:xfrm>
            <a:prstGeom prst="rect">
              <a:avLst/>
            </a:prstGeom>
          </p:spPr>
        </p:pic>
      </p:grpSp>
      <p:sp>
        <p:nvSpPr>
          <p:cNvPr id="39" name="object 39"/>
          <p:cNvSpPr txBox="1"/>
          <p:nvPr/>
        </p:nvSpPr>
        <p:spPr>
          <a:xfrm>
            <a:off x="7225961" y="5902188"/>
            <a:ext cx="1118235" cy="276860"/>
          </a:xfrm>
          <a:prstGeom prst="rect">
            <a:avLst/>
          </a:prstGeom>
          <a:ln w="12699">
            <a:solidFill>
              <a:srgbClr val="000000"/>
            </a:solidFill>
          </a:ln>
        </p:spPr>
        <p:txBody>
          <a:bodyPr vert="horz" wrap="square" lIns="0" tIns="635" rIns="0" bIns="0" rtlCol="0">
            <a:spAutoFit/>
          </a:bodyPr>
          <a:lstStyle/>
          <a:p>
            <a:pPr marL="90805">
              <a:spcBef>
                <a:spcPts val="5"/>
              </a:spcBef>
            </a:pPr>
            <a:r>
              <a:rPr dirty="0">
                <a:latin typeface="Arial"/>
                <a:cs typeface="Arial"/>
              </a:rPr>
              <a:t>7</a:t>
            </a:r>
            <a:endParaRPr>
              <a:latin typeface="Arial"/>
              <a:cs typeface="Arial"/>
            </a:endParaRPr>
          </a:p>
        </p:txBody>
      </p:sp>
      <p:grpSp>
        <p:nvGrpSpPr>
          <p:cNvPr id="40" name="object 40"/>
          <p:cNvGrpSpPr/>
          <p:nvPr/>
        </p:nvGrpSpPr>
        <p:grpSpPr>
          <a:xfrm>
            <a:off x="7197436" y="6109854"/>
            <a:ext cx="1222375" cy="711200"/>
            <a:chOff x="5673435" y="6109854"/>
            <a:chExt cx="1222375" cy="711200"/>
          </a:xfrm>
        </p:grpSpPr>
        <p:pic>
          <p:nvPicPr>
            <p:cNvPr id="41" name="object 41"/>
            <p:cNvPicPr/>
            <p:nvPr/>
          </p:nvPicPr>
          <p:blipFill>
            <a:blip r:embed="rId19" cstate="print"/>
            <a:stretch>
              <a:fillRect/>
            </a:stretch>
          </p:blipFill>
          <p:spPr>
            <a:xfrm>
              <a:off x="5673435" y="6126480"/>
              <a:ext cx="1221970" cy="382385"/>
            </a:xfrm>
            <a:prstGeom prst="rect">
              <a:avLst/>
            </a:prstGeom>
          </p:spPr>
        </p:pic>
        <p:pic>
          <p:nvPicPr>
            <p:cNvPr id="42" name="object 42"/>
            <p:cNvPicPr/>
            <p:nvPr/>
          </p:nvPicPr>
          <p:blipFill>
            <a:blip r:embed="rId20" cstate="print"/>
            <a:stretch>
              <a:fillRect/>
            </a:stretch>
          </p:blipFill>
          <p:spPr>
            <a:xfrm>
              <a:off x="5744094" y="6109854"/>
              <a:ext cx="270163" cy="419792"/>
            </a:xfrm>
            <a:prstGeom prst="rect">
              <a:avLst/>
            </a:prstGeom>
          </p:spPr>
        </p:pic>
        <p:sp>
          <p:nvSpPr>
            <p:cNvPr id="43" name="object 43"/>
            <p:cNvSpPr/>
            <p:nvPr/>
          </p:nvSpPr>
          <p:spPr>
            <a:xfrm>
              <a:off x="5701960" y="6178842"/>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44" name="object 44"/>
            <p:cNvPicPr/>
            <p:nvPr/>
          </p:nvPicPr>
          <p:blipFill>
            <a:blip r:embed="rId21" cstate="print"/>
            <a:stretch>
              <a:fillRect/>
            </a:stretch>
          </p:blipFill>
          <p:spPr>
            <a:xfrm>
              <a:off x="5673435" y="6417425"/>
              <a:ext cx="1221970" cy="382385"/>
            </a:xfrm>
            <a:prstGeom prst="rect">
              <a:avLst/>
            </a:prstGeom>
          </p:spPr>
        </p:pic>
        <p:pic>
          <p:nvPicPr>
            <p:cNvPr id="45" name="object 45"/>
            <p:cNvPicPr/>
            <p:nvPr/>
          </p:nvPicPr>
          <p:blipFill>
            <a:blip r:embed="rId22" cstate="print"/>
            <a:stretch>
              <a:fillRect/>
            </a:stretch>
          </p:blipFill>
          <p:spPr>
            <a:xfrm>
              <a:off x="5744094" y="6400799"/>
              <a:ext cx="777239" cy="419792"/>
            </a:xfrm>
            <a:prstGeom prst="rect">
              <a:avLst/>
            </a:prstGeom>
          </p:spPr>
        </p:pic>
        <p:sp>
          <p:nvSpPr>
            <p:cNvPr id="46" name="object 46"/>
            <p:cNvSpPr/>
            <p:nvPr/>
          </p:nvSpPr>
          <p:spPr>
            <a:xfrm>
              <a:off x="5701960" y="6470375"/>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47" name="object 47"/>
          <p:cNvSpPr txBox="1"/>
          <p:nvPr/>
        </p:nvSpPr>
        <p:spPr>
          <a:xfrm>
            <a:off x="7232311" y="6149826"/>
            <a:ext cx="1105535" cy="608965"/>
          </a:xfrm>
          <a:prstGeom prst="rect">
            <a:avLst/>
          </a:prstGeom>
        </p:spPr>
        <p:txBody>
          <a:bodyPr vert="horz" wrap="square" lIns="0" tIns="29845" rIns="0" bIns="0" rtlCol="0">
            <a:spAutoFit/>
          </a:bodyPr>
          <a:lstStyle/>
          <a:p>
            <a:pPr marL="84455">
              <a:spcBef>
                <a:spcPts val="235"/>
              </a:spcBef>
            </a:pPr>
            <a:r>
              <a:rPr dirty="0">
                <a:latin typeface="Arial"/>
                <a:cs typeface="Arial"/>
              </a:rPr>
              <a:t>8</a:t>
            </a:r>
            <a:endParaRPr>
              <a:latin typeface="Arial"/>
              <a:cs typeface="Arial"/>
            </a:endParaRPr>
          </a:p>
          <a:p>
            <a:pPr marL="84455">
              <a:spcBef>
                <a:spcPts val="135"/>
              </a:spcBef>
            </a:pPr>
            <a:r>
              <a:rPr dirty="0">
                <a:latin typeface="Arial"/>
                <a:cs typeface="Arial"/>
              </a:rPr>
              <a:t>9:</a:t>
            </a:r>
            <a:r>
              <a:rPr spc="-5" dirty="0">
                <a:latin typeface="Arial"/>
                <a:cs typeface="Arial"/>
              </a:rPr>
              <a:t> </a:t>
            </a:r>
            <a:r>
              <a:rPr b="1" spc="-25" dirty="0">
                <a:latin typeface="Arial"/>
                <a:cs typeface="Arial"/>
              </a:rPr>
              <a:t>519</a:t>
            </a:r>
            <a:endParaRPr>
              <a:latin typeface="Arial"/>
              <a:cs typeface="Arial"/>
            </a:endParaRPr>
          </a:p>
        </p:txBody>
      </p:sp>
      <p:grpSp>
        <p:nvGrpSpPr>
          <p:cNvPr id="48" name="object 48"/>
          <p:cNvGrpSpPr/>
          <p:nvPr/>
        </p:nvGrpSpPr>
        <p:grpSpPr>
          <a:xfrm>
            <a:off x="4520738" y="4667596"/>
            <a:ext cx="1222375" cy="902335"/>
            <a:chOff x="2996737" y="4667595"/>
            <a:chExt cx="1222375" cy="902335"/>
          </a:xfrm>
        </p:grpSpPr>
        <p:pic>
          <p:nvPicPr>
            <p:cNvPr id="49" name="object 49"/>
            <p:cNvPicPr/>
            <p:nvPr/>
          </p:nvPicPr>
          <p:blipFill>
            <a:blip r:embed="rId23" cstate="print"/>
            <a:stretch>
              <a:fillRect/>
            </a:stretch>
          </p:blipFill>
          <p:spPr>
            <a:xfrm>
              <a:off x="2996737" y="4667595"/>
              <a:ext cx="1221970" cy="901930"/>
            </a:xfrm>
            <a:prstGeom prst="rect">
              <a:avLst/>
            </a:prstGeom>
          </p:spPr>
        </p:pic>
        <p:pic>
          <p:nvPicPr>
            <p:cNvPr id="50" name="object 50"/>
            <p:cNvPicPr/>
            <p:nvPr/>
          </p:nvPicPr>
          <p:blipFill>
            <a:blip r:embed="rId24" cstate="print"/>
            <a:stretch>
              <a:fillRect/>
            </a:stretch>
          </p:blipFill>
          <p:spPr>
            <a:xfrm>
              <a:off x="3117272" y="4771504"/>
              <a:ext cx="1005839" cy="689956"/>
            </a:xfrm>
            <a:prstGeom prst="rect">
              <a:avLst/>
            </a:prstGeom>
          </p:spPr>
        </p:pic>
      </p:grpSp>
      <p:sp>
        <p:nvSpPr>
          <p:cNvPr id="51" name="object 51"/>
          <p:cNvSpPr txBox="1"/>
          <p:nvPr/>
        </p:nvSpPr>
        <p:spPr>
          <a:xfrm>
            <a:off x="4547813" y="4721371"/>
            <a:ext cx="1118235" cy="677750"/>
          </a:xfrm>
          <a:prstGeom prst="rect">
            <a:avLst/>
          </a:prstGeom>
          <a:ln w="12699">
            <a:solidFill>
              <a:srgbClr val="000000"/>
            </a:solidFill>
          </a:ln>
        </p:spPr>
        <p:txBody>
          <a:bodyPr vert="horz" wrap="square" lIns="0" tIns="137795" rIns="0" bIns="0" rtlCol="0">
            <a:spAutoFit/>
          </a:bodyPr>
          <a:lstStyle/>
          <a:p>
            <a:pPr marL="154940" marR="141605" indent="111125">
              <a:lnSpc>
                <a:spcPts val="2100"/>
              </a:lnSpc>
              <a:spcBef>
                <a:spcPts val="1085"/>
              </a:spcBef>
            </a:pPr>
            <a:r>
              <a:rPr i="1" dirty="0">
                <a:latin typeface="Arial"/>
                <a:cs typeface="Arial"/>
              </a:rPr>
              <a:t>h(x)</a:t>
            </a:r>
            <a:r>
              <a:rPr i="1" spc="-5" dirty="0">
                <a:latin typeface="Arial"/>
                <a:cs typeface="Arial"/>
              </a:rPr>
              <a:t> </a:t>
            </a:r>
            <a:r>
              <a:rPr i="1" spc="-50" dirty="0">
                <a:latin typeface="Arial"/>
                <a:cs typeface="Arial"/>
              </a:rPr>
              <a:t>= </a:t>
            </a:r>
            <a:r>
              <a:rPr i="1" spc="-10" dirty="0">
                <a:latin typeface="Arial"/>
                <a:cs typeface="Arial"/>
              </a:rPr>
              <a:t>key%10</a:t>
            </a:r>
            <a:endParaRPr>
              <a:latin typeface="Arial"/>
              <a:cs typeface="Arial"/>
            </a:endParaRPr>
          </a:p>
        </p:txBody>
      </p:sp>
      <p:grpSp>
        <p:nvGrpSpPr>
          <p:cNvPr id="52" name="object 52"/>
          <p:cNvGrpSpPr/>
          <p:nvPr/>
        </p:nvGrpSpPr>
        <p:grpSpPr>
          <a:xfrm>
            <a:off x="2380211" y="4738254"/>
            <a:ext cx="1222375" cy="424180"/>
            <a:chOff x="856210" y="4738254"/>
            <a:chExt cx="1222375" cy="424180"/>
          </a:xfrm>
        </p:grpSpPr>
        <p:pic>
          <p:nvPicPr>
            <p:cNvPr id="53" name="object 53"/>
            <p:cNvPicPr/>
            <p:nvPr/>
          </p:nvPicPr>
          <p:blipFill>
            <a:blip r:embed="rId25" cstate="print"/>
            <a:stretch>
              <a:fillRect/>
            </a:stretch>
          </p:blipFill>
          <p:spPr>
            <a:xfrm>
              <a:off x="856210" y="4759036"/>
              <a:ext cx="1221970" cy="378229"/>
            </a:xfrm>
            <a:prstGeom prst="rect">
              <a:avLst/>
            </a:prstGeom>
          </p:spPr>
        </p:pic>
        <p:pic>
          <p:nvPicPr>
            <p:cNvPr id="54" name="object 54"/>
            <p:cNvPicPr/>
            <p:nvPr/>
          </p:nvPicPr>
          <p:blipFill>
            <a:blip r:embed="rId26" cstate="print"/>
            <a:stretch>
              <a:fillRect/>
            </a:stretch>
          </p:blipFill>
          <p:spPr>
            <a:xfrm>
              <a:off x="1205345" y="4738254"/>
              <a:ext cx="523701" cy="423949"/>
            </a:xfrm>
            <a:prstGeom prst="rect">
              <a:avLst/>
            </a:prstGeom>
          </p:spPr>
        </p:pic>
      </p:grpSp>
      <p:sp>
        <p:nvSpPr>
          <p:cNvPr id="55" name="object 55"/>
          <p:cNvSpPr txBox="1"/>
          <p:nvPr/>
        </p:nvSpPr>
        <p:spPr>
          <a:xfrm>
            <a:off x="2407512" y="4801818"/>
            <a:ext cx="1118235" cy="295910"/>
          </a:xfrm>
          <a:prstGeom prst="rect">
            <a:avLst/>
          </a:prstGeom>
          <a:ln w="12699">
            <a:solidFill>
              <a:srgbClr val="000000"/>
            </a:solidFill>
          </a:ln>
        </p:spPr>
        <p:txBody>
          <a:bodyPr vert="horz" wrap="square" lIns="0" tIns="8890" rIns="0" bIns="0" rtlCol="0">
            <a:spAutoFit/>
          </a:bodyPr>
          <a:lstStyle/>
          <a:p>
            <a:pPr marL="370840">
              <a:spcBef>
                <a:spcPts val="70"/>
              </a:spcBef>
            </a:pPr>
            <a:r>
              <a:rPr spc="-25" dirty="0">
                <a:latin typeface="Arial"/>
                <a:cs typeface="Arial"/>
              </a:rPr>
              <a:t>519</a:t>
            </a:r>
            <a:endParaRPr>
              <a:latin typeface="Arial"/>
              <a:cs typeface="Arial"/>
            </a:endParaRPr>
          </a:p>
        </p:txBody>
      </p:sp>
      <p:grpSp>
        <p:nvGrpSpPr>
          <p:cNvPr id="56" name="object 56"/>
          <p:cNvGrpSpPr/>
          <p:nvPr/>
        </p:nvGrpSpPr>
        <p:grpSpPr>
          <a:xfrm>
            <a:off x="3511417" y="4933575"/>
            <a:ext cx="3714750" cy="1741170"/>
            <a:chOff x="1987417" y="4933575"/>
            <a:chExt cx="3714750" cy="1741170"/>
          </a:xfrm>
        </p:grpSpPr>
        <p:sp>
          <p:nvSpPr>
            <p:cNvPr id="57" name="object 57"/>
            <p:cNvSpPr/>
            <p:nvPr/>
          </p:nvSpPr>
          <p:spPr>
            <a:xfrm>
              <a:off x="2001705" y="4947862"/>
              <a:ext cx="994410" cy="170815"/>
            </a:xfrm>
            <a:custGeom>
              <a:avLst/>
              <a:gdLst/>
              <a:ahLst/>
              <a:cxnLst/>
              <a:rect l="l" t="t" r="r" b="b"/>
              <a:pathLst>
                <a:path w="994410" h="170814">
                  <a:moveTo>
                    <a:pt x="0" y="0"/>
                  </a:moveTo>
                  <a:lnTo>
                    <a:pt x="511174" y="0"/>
                  </a:lnTo>
                  <a:lnTo>
                    <a:pt x="511174" y="170656"/>
                  </a:lnTo>
                  <a:lnTo>
                    <a:pt x="993994" y="170656"/>
                  </a:lnTo>
                </a:path>
              </a:pathLst>
            </a:custGeom>
            <a:ln w="28574">
              <a:solidFill>
                <a:srgbClr val="8D8D8D"/>
              </a:solidFill>
            </a:ln>
          </p:spPr>
          <p:txBody>
            <a:bodyPr wrap="square" lIns="0" tIns="0" rIns="0" bIns="0" rtlCol="0"/>
            <a:lstStyle/>
            <a:p>
              <a:endParaRPr/>
            </a:p>
          </p:txBody>
        </p:sp>
        <p:pic>
          <p:nvPicPr>
            <p:cNvPr id="58" name="object 58"/>
            <p:cNvPicPr/>
            <p:nvPr/>
          </p:nvPicPr>
          <p:blipFill>
            <a:blip r:embed="rId27" cstate="print"/>
            <a:stretch>
              <a:fillRect/>
            </a:stretch>
          </p:blipFill>
          <p:spPr>
            <a:xfrm>
              <a:off x="2893658" y="5052194"/>
              <a:ext cx="130397" cy="132647"/>
            </a:xfrm>
            <a:prstGeom prst="rect">
              <a:avLst/>
            </a:prstGeom>
          </p:spPr>
        </p:pic>
        <p:sp>
          <p:nvSpPr>
            <p:cNvPr id="59" name="object 59"/>
            <p:cNvSpPr/>
            <p:nvPr/>
          </p:nvSpPr>
          <p:spPr>
            <a:xfrm>
              <a:off x="4142005" y="5118496"/>
              <a:ext cx="1531620" cy="1490345"/>
            </a:xfrm>
            <a:custGeom>
              <a:avLst/>
              <a:gdLst/>
              <a:ahLst/>
              <a:cxnLst/>
              <a:rect l="l" t="t" r="r" b="b"/>
              <a:pathLst>
                <a:path w="1531620" h="1490345">
                  <a:moveTo>
                    <a:pt x="0" y="0"/>
                  </a:moveTo>
                  <a:lnTo>
                    <a:pt x="780256" y="0"/>
                  </a:lnTo>
                  <a:lnTo>
                    <a:pt x="780256" y="1489868"/>
                  </a:lnTo>
                  <a:lnTo>
                    <a:pt x="1531362" y="1489868"/>
                  </a:lnTo>
                </a:path>
              </a:pathLst>
            </a:custGeom>
            <a:ln w="28574">
              <a:solidFill>
                <a:srgbClr val="8D8D8D"/>
              </a:solidFill>
            </a:ln>
          </p:spPr>
          <p:txBody>
            <a:bodyPr wrap="square" lIns="0" tIns="0" rIns="0" bIns="0" rtlCol="0"/>
            <a:lstStyle/>
            <a:p>
              <a:endParaRPr/>
            </a:p>
          </p:txBody>
        </p:sp>
        <p:pic>
          <p:nvPicPr>
            <p:cNvPr id="60" name="object 60"/>
            <p:cNvPicPr/>
            <p:nvPr/>
          </p:nvPicPr>
          <p:blipFill>
            <a:blip r:embed="rId27" cstate="print"/>
            <a:stretch>
              <a:fillRect/>
            </a:stretch>
          </p:blipFill>
          <p:spPr>
            <a:xfrm>
              <a:off x="5571327" y="6542041"/>
              <a:ext cx="130397" cy="132646"/>
            </a:xfrm>
            <a:prstGeom prst="rect">
              <a:avLst/>
            </a:prstGeom>
          </p:spPr>
        </p:pic>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40" y="1787185"/>
            <a:ext cx="2167255" cy="452120"/>
          </a:xfrm>
          <a:prstGeom prst="rect">
            <a:avLst/>
          </a:prstGeom>
        </p:spPr>
        <p:txBody>
          <a:bodyPr vert="horz" wrap="square" lIns="0" tIns="12700" rIns="0" bIns="0" rtlCol="0">
            <a:spAutoFit/>
          </a:bodyPr>
          <a:lstStyle/>
          <a:p>
            <a:pPr marL="354965" indent="-342265">
              <a:spcBef>
                <a:spcPts val="100"/>
              </a:spcBef>
              <a:buFont typeface="Arial"/>
              <a:buChar char="•"/>
              <a:tabLst>
                <a:tab pos="354965" algn="l"/>
                <a:tab pos="355600" algn="l"/>
              </a:tabLst>
            </a:pPr>
            <a:r>
              <a:rPr sz="2800" b="1" spc="-10" dirty="0">
                <a:latin typeface="Arial"/>
                <a:cs typeface="Arial"/>
              </a:rPr>
              <a:t>Insert(214)</a:t>
            </a:r>
            <a:endParaRPr sz="2800">
              <a:latin typeface="Arial"/>
              <a:cs typeface="Arial"/>
            </a:endParaRPr>
          </a:p>
        </p:txBody>
      </p:sp>
      <p:sp>
        <p:nvSpPr>
          <p:cNvPr id="3" name="object 3"/>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spc="-10" dirty="0"/>
              <a:t>HASH</a:t>
            </a:r>
            <a:r>
              <a:rPr spc="-275" dirty="0"/>
              <a:t> </a:t>
            </a:r>
            <a:r>
              <a:rPr spc="-60" dirty="0"/>
              <a:t>EXAMPLE</a:t>
            </a:r>
          </a:p>
        </p:txBody>
      </p:sp>
      <p:grpSp>
        <p:nvGrpSpPr>
          <p:cNvPr id="4" name="object 4"/>
          <p:cNvGrpSpPr/>
          <p:nvPr/>
        </p:nvGrpSpPr>
        <p:grpSpPr>
          <a:xfrm>
            <a:off x="7197436" y="4168833"/>
            <a:ext cx="1222375" cy="424180"/>
            <a:chOff x="5673435" y="4168833"/>
            <a:chExt cx="1222375" cy="424180"/>
          </a:xfrm>
        </p:grpSpPr>
        <p:pic>
          <p:nvPicPr>
            <p:cNvPr id="5" name="object 5"/>
            <p:cNvPicPr/>
            <p:nvPr/>
          </p:nvPicPr>
          <p:blipFill>
            <a:blip r:embed="rId2" cstate="print"/>
            <a:stretch>
              <a:fillRect/>
            </a:stretch>
          </p:blipFill>
          <p:spPr>
            <a:xfrm>
              <a:off x="5673435" y="4189614"/>
              <a:ext cx="1221970" cy="378229"/>
            </a:xfrm>
            <a:prstGeom prst="rect">
              <a:avLst/>
            </a:prstGeom>
          </p:spPr>
        </p:pic>
        <p:pic>
          <p:nvPicPr>
            <p:cNvPr id="6" name="object 6"/>
            <p:cNvPicPr/>
            <p:nvPr/>
          </p:nvPicPr>
          <p:blipFill>
            <a:blip r:embed="rId3" cstate="print"/>
            <a:stretch>
              <a:fillRect/>
            </a:stretch>
          </p:blipFill>
          <p:spPr>
            <a:xfrm>
              <a:off x="5744094" y="4168833"/>
              <a:ext cx="270163" cy="423949"/>
            </a:xfrm>
            <a:prstGeom prst="rect">
              <a:avLst/>
            </a:prstGeom>
          </p:spPr>
        </p:pic>
        <p:sp>
          <p:nvSpPr>
            <p:cNvPr id="7" name="object 7"/>
            <p:cNvSpPr/>
            <p:nvPr/>
          </p:nvSpPr>
          <p:spPr>
            <a:xfrm>
              <a:off x="5701960" y="4241064"/>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8" name="object 8"/>
          <p:cNvSpPr txBox="1"/>
          <p:nvPr/>
        </p:nvSpPr>
        <p:spPr>
          <a:xfrm>
            <a:off x="7232311" y="4229262"/>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1</a:t>
            </a:r>
            <a:endParaRPr>
              <a:latin typeface="Arial"/>
              <a:cs typeface="Arial"/>
            </a:endParaRPr>
          </a:p>
        </p:txBody>
      </p:sp>
      <p:grpSp>
        <p:nvGrpSpPr>
          <p:cNvPr id="9" name="object 9"/>
          <p:cNvGrpSpPr/>
          <p:nvPr/>
        </p:nvGrpSpPr>
        <p:grpSpPr>
          <a:xfrm>
            <a:off x="2380211" y="3877888"/>
            <a:ext cx="6039485" cy="2914015"/>
            <a:chOff x="856210" y="3877887"/>
            <a:chExt cx="6039485" cy="2914015"/>
          </a:xfrm>
        </p:grpSpPr>
        <p:pic>
          <p:nvPicPr>
            <p:cNvPr id="10" name="object 10"/>
            <p:cNvPicPr/>
            <p:nvPr/>
          </p:nvPicPr>
          <p:blipFill>
            <a:blip r:embed="rId4" cstate="print"/>
            <a:stretch>
              <a:fillRect/>
            </a:stretch>
          </p:blipFill>
          <p:spPr>
            <a:xfrm>
              <a:off x="5673435" y="3898668"/>
              <a:ext cx="1221970" cy="378229"/>
            </a:xfrm>
            <a:prstGeom prst="rect">
              <a:avLst/>
            </a:prstGeom>
          </p:spPr>
        </p:pic>
        <p:pic>
          <p:nvPicPr>
            <p:cNvPr id="11" name="object 11"/>
            <p:cNvPicPr/>
            <p:nvPr/>
          </p:nvPicPr>
          <p:blipFill>
            <a:blip r:embed="rId5" cstate="print"/>
            <a:stretch>
              <a:fillRect/>
            </a:stretch>
          </p:blipFill>
          <p:spPr>
            <a:xfrm>
              <a:off x="5744094" y="3877887"/>
              <a:ext cx="270163" cy="423949"/>
            </a:xfrm>
            <a:prstGeom prst="rect">
              <a:avLst/>
            </a:prstGeom>
          </p:spPr>
        </p:pic>
        <p:sp>
          <p:nvSpPr>
            <p:cNvPr id="12" name="object 12"/>
            <p:cNvSpPr/>
            <p:nvPr/>
          </p:nvSpPr>
          <p:spPr>
            <a:xfrm>
              <a:off x="5701960" y="3949531"/>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13" name="object 13"/>
            <p:cNvPicPr/>
            <p:nvPr/>
          </p:nvPicPr>
          <p:blipFill>
            <a:blip r:embed="rId6" cstate="print"/>
            <a:stretch>
              <a:fillRect/>
            </a:stretch>
          </p:blipFill>
          <p:spPr>
            <a:xfrm>
              <a:off x="856210" y="3898669"/>
              <a:ext cx="1221970" cy="2892828"/>
            </a:xfrm>
            <a:prstGeom prst="rect">
              <a:avLst/>
            </a:prstGeom>
          </p:spPr>
        </p:pic>
        <p:sp>
          <p:nvSpPr>
            <p:cNvPr id="14" name="object 14"/>
            <p:cNvSpPr/>
            <p:nvPr/>
          </p:nvSpPr>
          <p:spPr>
            <a:xfrm>
              <a:off x="883511" y="3949531"/>
              <a:ext cx="1118235" cy="2791460"/>
            </a:xfrm>
            <a:custGeom>
              <a:avLst/>
              <a:gdLst/>
              <a:ahLst/>
              <a:cxnLst/>
              <a:rect l="l" t="t" r="r" b="b"/>
              <a:pathLst>
                <a:path w="1118235" h="2791459">
                  <a:moveTo>
                    <a:pt x="0" y="0"/>
                  </a:moveTo>
                  <a:lnTo>
                    <a:pt x="1118193" y="0"/>
                  </a:lnTo>
                  <a:lnTo>
                    <a:pt x="1118193" y="2790885"/>
                  </a:lnTo>
                  <a:lnTo>
                    <a:pt x="0" y="2790885"/>
                  </a:lnTo>
                  <a:lnTo>
                    <a:pt x="0" y="0"/>
                  </a:lnTo>
                  <a:close/>
                </a:path>
              </a:pathLst>
            </a:custGeom>
            <a:ln w="12699">
              <a:solidFill>
                <a:srgbClr val="000000"/>
              </a:solidFill>
            </a:ln>
          </p:spPr>
          <p:txBody>
            <a:bodyPr wrap="square" lIns="0" tIns="0" rIns="0" bIns="0" rtlCol="0"/>
            <a:lstStyle/>
            <a:p>
              <a:endParaRPr/>
            </a:p>
          </p:txBody>
        </p:sp>
      </p:grpSp>
      <p:sp>
        <p:nvSpPr>
          <p:cNvPr id="15" name="object 15"/>
          <p:cNvSpPr txBox="1"/>
          <p:nvPr/>
        </p:nvSpPr>
        <p:spPr>
          <a:xfrm>
            <a:off x="7232311" y="3937729"/>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0</a:t>
            </a:r>
            <a:endParaRPr>
              <a:latin typeface="Arial"/>
              <a:cs typeface="Arial"/>
            </a:endParaRPr>
          </a:p>
        </p:txBody>
      </p:sp>
      <p:grpSp>
        <p:nvGrpSpPr>
          <p:cNvPr id="16" name="object 16"/>
          <p:cNvGrpSpPr/>
          <p:nvPr/>
        </p:nvGrpSpPr>
        <p:grpSpPr>
          <a:xfrm>
            <a:off x="7197436" y="4447308"/>
            <a:ext cx="1222375" cy="420370"/>
            <a:chOff x="5673435" y="4447308"/>
            <a:chExt cx="1222375" cy="420370"/>
          </a:xfrm>
        </p:grpSpPr>
        <p:pic>
          <p:nvPicPr>
            <p:cNvPr id="17" name="object 17"/>
            <p:cNvPicPr/>
            <p:nvPr/>
          </p:nvPicPr>
          <p:blipFill>
            <a:blip r:embed="rId7" cstate="print"/>
            <a:stretch>
              <a:fillRect/>
            </a:stretch>
          </p:blipFill>
          <p:spPr>
            <a:xfrm>
              <a:off x="5673435" y="4463934"/>
              <a:ext cx="1221970" cy="382385"/>
            </a:xfrm>
            <a:prstGeom prst="rect">
              <a:avLst/>
            </a:prstGeom>
          </p:spPr>
        </p:pic>
        <p:pic>
          <p:nvPicPr>
            <p:cNvPr id="18" name="object 18"/>
            <p:cNvPicPr/>
            <p:nvPr/>
          </p:nvPicPr>
          <p:blipFill>
            <a:blip r:embed="rId8" cstate="print"/>
            <a:stretch>
              <a:fillRect/>
            </a:stretch>
          </p:blipFill>
          <p:spPr>
            <a:xfrm>
              <a:off x="5744094" y="4447308"/>
              <a:ext cx="270163" cy="419792"/>
            </a:xfrm>
            <a:prstGeom prst="rect">
              <a:avLst/>
            </a:prstGeom>
          </p:spPr>
        </p:pic>
      </p:grpSp>
      <p:sp>
        <p:nvSpPr>
          <p:cNvPr id="19" name="object 19"/>
          <p:cNvSpPr txBox="1"/>
          <p:nvPr/>
        </p:nvSpPr>
        <p:spPr>
          <a:xfrm>
            <a:off x="7225961" y="4517448"/>
            <a:ext cx="1118235" cy="284480"/>
          </a:xfrm>
          <a:prstGeom prst="rect">
            <a:avLst/>
          </a:prstGeom>
          <a:ln w="12699">
            <a:solidFill>
              <a:srgbClr val="000000"/>
            </a:solidFill>
          </a:ln>
        </p:spPr>
        <p:txBody>
          <a:bodyPr vert="horz" wrap="square" lIns="0" tIns="1270" rIns="0" bIns="0" rtlCol="0">
            <a:spAutoFit/>
          </a:bodyPr>
          <a:lstStyle/>
          <a:p>
            <a:pPr marL="90805">
              <a:spcBef>
                <a:spcPts val="10"/>
              </a:spcBef>
            </a:pPr>
            <a:r>
              <a:rPr dirty="0">
                <a:latin typeface="Arial"/>
                <a:cs typeface="Arial"/>
              </a:rPr>
              <a:t>2</a:t>
            </a:r>
            <a:endParaRPr>
              <a:latin typeface="Arial"/>
              <a:cs typeface="Arial"/>
            </a:endParaRPr>
          </a:p>
        </p:txBody>
      </p:sp>
      <p:grpSp>
        <p:nvGrpSpPr>
          <p:cNvPr id="20" name="object 20"/>
          <p:cNvGrpSpPr/>
          <p:nvPr/>
        </p:nvGrpSpPr>
        <p:grpSpPr>
          <a:xfrm>
            <a:off x="7197436" y="4721628"/>
            <a:ext cx="1222375" cy="424180"/>
            <a:chOff x="5673435" y="4721628"/>
            <a:chExt cx="1222375" cy="424180"/>
          </a:xfrm>
        </p:grpSpPr>
        <p:pic>
          <p:nvPicPr>
            <p:cNvPr id="21" name="object 21"/>
            <p:cNvPicPr/>
            <p:nvPr/>
          </p:nvPicPr>
          <p:blipFill>
            <a:blip r:embed="rId9" cstate="print"/>
            <a:stretch>
              <a:fillRect/>
            </a:stretch>
          </p:blipFill>
          <p:spPr>
            <a:xfrm>
              <a:off x="5673435" y="4742410"/>
              <a:ext cx="1221970" cy="378229"/>
            </a:xfrm>
            <a:prstGeom prst="rect">
              <a:avLst/>
            </a:prstGeom>
          </p:spPr>
        </p:pic>
        <p:pic>
          <p:nvPicPr>
            <p:cNvPr id="22" name="object 22"/>
            <p:cNvPicPr/>
            <p:nvPr/>
          </p:nvPicPr>
          <p:blipFill>
            <a:blip r:embed="rId10" cstate="print"/>
            <a:stretch>
              <a:fillRect/>
            </a:stretch>
          </p:blipFill>
          <p:spPr>
            <a:xfrm>
              <a:off x="5744094" y="4721628"/>
              <a:ext cx="270163" cy="423949"/>
            </a:xfrm>
            <a:prstGeom prst="rect">
              <a:avLst/>
            </a:prstGeom>
          </p:spPr>
        </p:pic>
      </p:grpSp>
      <p:sp>
        <p:nvSpPr>
          <p:cNvPr id="23" name="object 23"/>
          <p:cNvSpPr txBox="1"/>
          <p:nvPr/>
        </p:nvSpPr>
        <p:spPr>
          <a:xfrm>
            <a:off x="7225961" y="4801818"/>
            <a:ext cx="1118235" cy="269304"/>
          </a:xfrm>
          <a:prstGeom prst="rect">
            <a:avLst/>
          </a:prstGeom>
          <a:ln w="12699">
            <a:solidFill>
              <a:srgbClr val="000000"/>
            </a:solidFill>
          </a:ln>
        </p:spPr>
        <p:txBody>
          <a:bodyPr vert="horz" wrap="square" lIns="0" tIns="0" rIns="0" bIns="0" rtlCol="0">
            <a:spAutoFit/>
          </a:bodyPr>
          <a:lstStyle/>
          <a:p>
            <a:pPr marL="90805">
              <a:lnSpc>
                <a:spcPts val="2105"/>
              </a:lnSpc>
            </a:pPr>
            <a:r>
              <a:rPr dirty="0">
                <a:latin typeface="Arial"/>
                <a:cs typeface="Arial"/>
              </a:rPr>
              <a:t>3</a:t>
            </a:r>
            <a:endParaRPr>
              <a:latin typeface="Arial"/>
              <a:cs typeface="Arial"/>
            </a:endParaRPr>
          </a:p>
        </p:txBody>
      </p:sp>
      <p:grpSp>
        <p:nvGrpSpPr>
          <p:cNvPr id="24" name="object 24"/>
          <p:cNvGrpSpPr/>
          <p:nvPr/>
        </p:nvGrpSpPr>
        <p:grpSpPr>
          <a:xfrm>
            <a:off x="7197436" y="5000104"/>
            <a:ext cx="1222375" cy="420370"/>
            <a:chOff x="5673435" y="5000104"/>
            <a:chExt cx="1222375" cy="420370"/>
          </a:xfrm>
        </p:grpSpPr>
        <p:pic>
          <p:nvPicPr>
            <p:cNvPr id="25" name="object 25"/>
            <p:cNvPicPr/>
            <p:nvPr/>
          </p:nvPicPr>
          <p:blipFill>
            <a:blip r:embed="rId11" cstate="print"/>
            <a:stretch>
              <a:fillRect/>
            </a:stretch>
          </p:blipFill>
          <p:spPr>
            <a:xfrm>
              <a:off x="5673435" y="5016731"/>
              <a:ext cx="1221970" cy="382385"/>
            </a:xfrm>
            <a:prstGeom prst="rect">
              <a:avLst/>
            </a:prstGeom>
          </p:spPr>
        </p:pic>
        <p:pic>
          <p:nvPicPr>
            <p:cNvPr id="26" name="object 26"/>
            <p:cNvPicPr/>
            <p:nvPr/>
          </p:nvPicPr>
          <p:blipFill>
            <a:blip r:embed="rId12" cstate="print"/>
            <a:stretch>
              <a:fillRect/>
            </a:stretch>
          </p:blipFill>
          <p:spPr>
            <a:xfrm>
              <a:off x="5744094" y="5000104"/>
              <a:ext cx="270163" cy="419792"/>
            </a:xfrm>
            <a:prstGeom prst="rect">
              <a:avLst/>
            </a:prstGeom>
          </p:spPr>
        </p:pic>
        <p:sp>
          <p:nvSpPr>
            <p:cNvPr id="27" name="object 27"/>
            <p:cNvSpPr/>
            <p:nvPr/>
          </p:nvSpPr>
          <p:spPr>
            <a:xfrm>
              <a:off x="5701960" y="5070486"/>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28" name="object 28"/>
          <p:cNvSpPr txBox="1"/>
          <p:nvPr/>
        </p:nvSpPr>
        <p:spPr>
          <a:xfrm>
            <a:off x="7232311" y="5058683"/>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4</a:t>
            </a:r>
            <a:endParaRPr>
              <a:latin typeface="Arial"/>
              <a:cs typeface="Arial"/>
            </a:endParaRPr>
          </a:p>
        </p:txBody>
      </p:sp>
      <p:grpSp>
        <p:nvGrpSpPr>
          <p:cNvPr id="29" name="object 29"/>
          <p:cNvGrpSpPr/>
          <p:nvPr/>
        </p:nvGrpSpPr>
        <p:grpSpPr>
          <a:xfrm>
            <a:off x="7197436" y="5278581"/>
            <a:ext cx="1222375" cy="424180"/>
            <a:chOff x="5673435" y="5278581"/>
            <a:chExt cx="1222375" cy="424180"/>
          </a:xfrm>
        </p:grpSpPr>
        <p:pic>
          <p:nvPicPr>
            <p:cNvPr id="30" name="object 30"/>
            <p:cNvPicPr/>
            <p:nvPr/>
          </p:nvPicPr>
          <p:blipFill>
            <a:blip r:embed="rId13" cstate="print"/>
            <a:stretch>
              <a:fillRect/>
            </a:stretch>
          </p:blipFill>
          <p:spPr>
            <a:xfrm>
              <a:off x="5673435" y="5299363"/>
              <a:ext cx="1221970" cy="378229"/>
            </a:xfrm>
            <a:prstGeom prst="rect">
              <a:avLst/>
            </a:prstGeom>
          </p:spPr>
        </p:pic>
        <p:pic>
          <p:nvPicPr>
            <p:cNvPr id="31" name="object 31"/>
            <p:cNvPicPr/>
            <p:nvPr/>
          </p:nvPicPr>
          <p:blipFill>
            <a:blip r:embed="rId14" cstate="print"/>
            <a:stretch>
              <a:fillRect/>
            </a:stretch>
          </p:blipFill>
          <p:spPr>
            <a:xfrm>
              <a:off x="5744094" y="5278581"/>
              <a:ext cx="270163" cy="423949"/>
            </a:xfrm>
            <a:prstGeom prst="rect">
              <a:avLst/>
            </a:prstGeom>
          </p:spPr>
        </p:pic>
        <p:sp>
          <p:nvSpPr>
            <p:cNvPr id="32" name="object 32"/>
            <p:cNvSpPr/>
            <p:nvPr/>
          </p:nvSpPr>
          <p:spPr>
            <a:xfrm>
              <a:off x="5701960" y="5349421"/>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33" name="object 33"/>
          <p:cNvSpPr txBox="1"/>
          <p:nvPr/>
        </p:nvSpPr>
        <p:spPr>
          <a:xfrm>
            <a:off x="7232311" y="5337618"/>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5</a:t>
            </a:r>
            <a:endParaRPr>
              <a:latin typeface="Arial"/>
              <a:cs typeface="Arial"/>
            </a:endParaRPr>
          </a:p>
        </p:txBody>
      </p:sp>
      <p:grpSp>
        <p:nvGrpSpPr>
          <p:cNvPr id="34" name="object 34"/>
          <p:cNvGrpSpPr/>
          <p:nvPr/>
        </p:nvGrpSpPr>
        <p:grpSpPr>
          <a:xfrm>
            <a:off x="7197436" y="5557058"/>
            <a:ext cx="1222375" cy="420370"/>
            <a:chOff x="5673435" y="5557058"/>
            <a:chExt cx="1222375" cy="420370"/>
          </a:xfrm>
        </p:grpSpPr>
        <p:pic>
          <p:nvPicPr>
            <p:cNvPr id="35" name="object 35"/>
            <p:cNvPicPr/>
            <p:nvPr/>
          </p:nvPicPr>
          <p:blipFill>
            <a:blip r:embed="rId15" cstate="print"/>
            <a:stretch>
              <a:fillRect/>
            </a:stretch>
          </p:blipFill>
          <p:spPr>
            <a:xfrm>
              <a:off x="5673435" y="5573683"/>
              <a:ext cx="1221970" cy="382385"/>
            </a:xfrm>
            <a:prstGeom prst="rect">
              <a:avLst/>
            </a:prstGeom>
          </p:spPr>
        </p:pic>
        <p:pic>
          <p:nvPicPr>
            <p:cNvPr id="36" name="object 36"/>
            <p:cNvPicPr/>
            <p:nvPr/>
          </p:nvPicPr>
          <p:blipFill>
            <a:blip r:embed="rId16" cstate="print"/>
            <a:stretch>
              <a:fillRect/>
            </a:stretch>
          </p:blipFill>
          <p:spPr>
            <a:xfrm>
              <a:off x="5744094" y="5557058"/>
              <a:ext cx="270163" cy="419792"/>
            </a:xfrm>
            <a:prstGeom prst="rect">
              <a:avLst/>
            </a:prstGeom>
          </p:spPr>
        </p:pic>
      </p:grpSp>
      <p:sp>
        <p:nvSpPr>
          <p:cNvPr id="37" name="object 37"/>
          <p:cNvSpPr txBox="1"/>
          <p:nvPr/>
        </p:nvSpPr>
        <p:spPr>
          <a:xfrm>
            <a:off x="7225961" y="5625804"/>
            <a:ext cx="1118235" cy="276860"/>
          </a:xfrm>
          <a:prstGeom prst="rect">
            <a:avLst/>
          </a:prstGeom>
          <a:ln w="12699">
            <a:solidFill>
              <a:srgbClr val="000000"/>
            </a:solidFill>
          </a:ln>
        </p:spPr>
        <p:txBody>
          <a:bodyPr vert="horz" wrap="square" lIns="0" tIns="1270" rIns="0" bIns="0" rtlCol="0">
            <a:spAutoFit/>
          </a:bodyPr>
          <a:lstStyle/>
          <a:p>
            <a:pPr marL="90805">
              <a:spcBef>
                <a:spcPts val="10"/>
              </a:spcBef>
            </a:pPr>
            <a:r>
              <a:rPr dirty="0">
                <a:latin typeface="Arial"/>
                <a:cs typeface="Arial"/>
              </a:rPr>
              <a:t>6</a:t>
            </a:r>
            <a:endParaRPr>
              <a:latin typeface="Arial"/>
              <a:cs typeface="Arial"/>
            </a:endParaRPr>
          </a:p>
        </p:txBody>
      </p:sp>
      <p:grpSp>
        <p:nvGrpSpPr>
          <p:cNvPr id="38" name="object 38"/>
          <p:cNvGrpSpPr/>
          <p:nvPr/>
        </p:nvGrpSpPr>
        <p:grpSpPr>
          <a:xfrm>
            <a:off x="7197436" y="5831377"/>
            <a:ext cx="1222375" cy="424180"/>
            <a:chOff x="5673435" y="5831377"/>
            <a:chExt cx="1222375" cy="424180"/>
          </a:xfrm>
        </p:grpSpPr>
        <p:pic>
          <p:nvPicPr>
            <p:cNvPr id="39" name="object 39"/>
            <p:cNvPicPr/>
            <p:nvPr/>
          </p:nvPicPr>
          <p:blipFill>
            <a:blip r:embed="rId17" cstate="print"/>
            <a:stretch>
              <a:fillRect/>
            </a:stretch>
          </p:blipFill>
          <p:spPr>
            <a:xfrm>
              <a:off x="5673435" y="5852159"/>
              <a:ext cx="1221970" cy="378229"/>
            </a:xfrm>
            <a:prstGeom prst="rect">
              <a:avLst/>
            </a:prstGeom>
          </p:spPr>
        </p:pic>
        <p:pic>
          <p:nvPicPr>
            <p:cNvPr id="40" name="object 40"/>
            <p:cNvPicPr/>
            <p:nvPr/>
          </p:nvPicPr>
          <p:blipFill>
            <a:blip r:embed="rId18" cstate="print"/>
            <a:stretch>
              <a:fillRect/>
            </a:stretch>
          </p:blipFill>
          <p:spPr>
            <a:xfrm>
              <a:off x="5744094" y="5831377"/>
              <a:ext cx="270163" cy="423949"/>
            </a:xfrm>
            <a:prstGeom prst="rect">
              <a:avLst/>
            </a:prstGeom>
          </p:spPr>
        </p:pic>
      </p:grpSp>
      <p:sp>
        <p:nvSpPr>
          <p:cNvPr id="41" name="object 41"/>
          <p:cNvSpPr txBox="1"/>
          <p:nvPr/>
        </p:nvSpPr>
        <p:spPr>
          <a:xfrm>
            <a:off x="7225961" y="5902188"/>
            <a:ext cx="1118235" cy="276860"/>
          </a:xfrm>
          <a:prstGeom prst="rect">
            <a:avLst/>
          </a:prstGeom>
          <a:ln w="12699">
            <a:solidFill>
              <a:srgbClr val="000000"/>
            </a:solidFill>
          </a:ln>
        </p:spPr>
        <p:txBody>
          <a:bodyPr vert="horz" wrap="square" lIns="0" tIns="635" rIns="0" bIns="0" rtlCol="0">
            <a:spAutoFit/>
          </a:bodyPr>
          <a:lstStyle/>
          <a:p>
            <a:pPr marL="90805">
              <a:spcBef>
                <a:spcPts val="5"/>
              </a:spcBef>
            </a:pPr>
            <a:r>
              <a:rPr dirty="0">
                <a:latin typeface="Arial"/>
                <a:cs typeface="Arial"/>
              </a:rPr>
              <a:t>7</a:t>
            </a:r>
            <a:endParaRPr>
              <a:latin typeface="Arial"/>
              <a:cs typeface="Arial"/>
            </a:endParaRPr>
          </a:p>
        </p:txBody>
      </p:sp>
      <p:grpSp>
        <p:nvGrpSpPr>
          <p:cNvPr id="42" name="object 42"/>
          <p:cNvGrpSpPr/>
          <p:nvPr/>
        </p:nvGrpSpPr>
        <p:grpSpPr>
          <a:xfrm>
            <a:off x="7197436" y="6109854"/>
            <a:ext cx="1222375" cy="711200"/>
            <a:chOff x="5673435" y="6109854"/>
            <a:chExt cx="1222375" cy="711200"/>
          </a:xfrm>
        </p:grpSpPr>
        <p:pic>
          <p:nvPicPr>
            <p:cNvPr id="43" name="object 43"/>
            <p:cNvPicPr/>
            <p:nvPr/>
          </p:nvPicPr>
          <p:blipFill>
            <a:blip r:embed="rId19" cstate="print"/>
            <a:stretch>
              <a:fillRect/>
            </a:stretch>
          </p:blipFill>
          <p:spPr>
            <a:xfrm>
              <a:off x="5673435" y="6126480"/>
              <a:ext cx="1221970" cy="382385"/>
            </a:xfrm>
            <a:prstGeom prst="rect">
              <a:avLst/>
            </a:prstGeom>
          </p:spPr>
        </p:pic>
        <p:pic>
          <p:nvPicPr>
            <p:cNvPr id="44" name="object 44"/>
            <p:cNvPicPr/>
            <p:nvPr/>
          </p:nvPicPr>
          <p:blipFill>
            <a:blip r:embed="rId20" cstate="print"/>
            <a:stretch>
              <a:fillRect/>
            </a:stretch>
          </p:blipFill>
          <p:spPr>
            <a:xfrm>
              <a:off x="5744094" y="6109854"/>
              <a:ext cx="270163" cy="419792"/>
            </a:xfrm>
            <a:prstGeom prst="rect">
              <a:avLst/>
            </a:prstGeom>
          </p:spPr>
        </p:pic>
        <p:sp>
          <p:nvSpPr>
            <p:cNvPr id="45" name="object 45"/>
            <p:cNvSpPr/>
            <p:nvPr/>
          </p:nvSpPr>
          <p:spPr>
            <a:xfrm>
              <a:off x="5701960" y="6178842"/>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46" name="object 46"/>
            <p:cNvPicPr/>
            <p:nvPr/>
          </p:nvPicPr>
          <p:blipFill>
            <a:blip r:embed="rId21" cstate="print"/>
            <a:stretch>
              <a:fillRect/>
            </a:stretch>
          </p:blipFill>
          <p:spPr>
            <a:xfrm>
              <a:off x="5673435" y="6417425"/>
              <a:ext cx="1221970" cy="382385"/>
            </a:xfrm>
            <a:prstGeom prst="rect">
              <a:avLst/>
            </a:prstGeom>
          </p:spPr>
        </p:pic>
        <p:pic>
          <p:nvPicPr>
            <p:cNvPr id="47" name="object 47"/>
            <p:cNvPicPr/>
            <p:nvPr/>
          </p:nvPicPr>
          <p:blipFill>
            <a:blip r:embed="rId22" cstate="print"/>
            <a:stretch>
              <a:fillRect/>
            </a:stretch>
          </p:blipFill>
          <p:spPr>
            <a:xfrm>
              <a:off x="5744094" y="6400799"/>
              <a:ext cx="777239" cy="419792"/>
            </a:xfrm>
            <a:prstGeom prst="rect">
              <a:avLst/>
            </a:prstGeom>
          </p:spPr>
        </p:pic>
        <p:sp>
          <p:nvSpPr>
            <p:cNvPr id="48" name="object 48"/>
            <p:cNvSpPr/>
            <p:nvPr/>
          </p:nvSpPr>
          <p:spPr>
            <a:xfrm>
              <a:off x="5701960" y="6470375"/>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49" name="object 49"/>
          <p:cNvSpPr txBox="1"/>
          <p:nvPr/>
        </p:nvSpPr>
        <p:spPr>
          <a:xfrm>
            <a:off x="7232311" y="6149826"/>
            <a:ext cx="1105535" cy="608965"/>
          </a:xfrm>
          <a:prstGeom prst="rect">
            <a:avLst/>
          </a:prstGeom>
        </p:spPr>
        <p:txBody>
          <a:bodyPr vert="horz" wrap="square" lIns="0" tIns="29845" rIns="0" bIns="0" rtlCol="0">
            <a:spAutoFit/>
          </a:bodyPr>
          <a:lstStyle/>
          <a:p>
            <a:pPr marL="84455">
              <a:spcBef>
                <a:spcPts val="235"/>
              </a:spcBef>
            </a:pPr>
            <a:r>
              <a:rPr dirty="0">
                <a:latin typeface="Arial"/>
                <a:cs typeface="Arial"/>
              </a:rPr>
              <a:t>8</a:t>
            </a:r>
            <a:endParaRPr>
              <a:latin typeface="Arial"/>
              <a:cs typeface="Arial"/>
            </a:endParaRPr>
          </a:p>
          <a:p>
            <a:pPr marL="84455">
              <a:spcBef>
                <a:spcPts val="135"/>
              </a:spcBef>
            </a:pPr>
            <a:r>
              <a:rPr dirty="0">
                <a:latin typeface="Arial"/>
                <a:cs typeface="Arial"/>
              </a:rPr>
              <a:t>9:</a:t>
            </a:r>
            <a:r>
              <a:rPr spc="-5" dirty="0">
                <a:latin typeface="Arial"/>
                <a:cs typeface="Arial"/>
              </a:rPr>
              <a:t> </a:t>
            </a:r>
            <a:r>
              <a:rPr b="1" spc="-25" dirty="0">
                <a:latin typeface="Arial"/>
                <a:cs typeface="Arial"/>
              </a:rPr>
              <a:t>519</a:t>
            </a:r>
            <a:endParaRPr>
              <a:latin typeface="Arial"/>
              <a:cs typeface="Arial"/>
            </a:endParaRPr>
          </a:p>
        </p:txBody>
      </p:sp>
      <p:grpSp>
        <p:nvGrpSpPr>
          <p:cNvPr id="50" name="object 50"/>
          <p:cNvGrpSpPr/>
          <p:nvPr/>
        </p:nvGrpSpPr>
        <p:grpSpPr>
          <a:xfrm>
            <a:off x="4520738" y="4667596"/>
            <a:ext cx="1222375" cy="902335"/>
            <a:chOff x="2996737" y="4667595"/>
            <a:chExt cx="1222375" cy="902335"/>
          </a:xfrm>
        </p:grpSpPr>
        <p:pic>
          <p:nvPicPr>
            <p:cNvPr id="51" name="object 51"/>
            <p:cNvPicPr/>
            <p:nvPr/>
          </p:nvPicPr>
          <p:blipFill>
            <a:blip r:embed="rId23" cstate="print"/>
            <a:stretch>
              <a:fillRect/>
            </a:stretch>
          </p:blipFill>
          <p:spPr>
            <a:xfrm>
              <a:off x="2996737" y="4667595"/>
              <a:ext cx="1221970" cy="901930"/>
            </a:xfrm>
            <a:prstGeom prst="rect">
              <a:avLst/>
            </a:prstGeom>
          </p:spPr>
        </p:pic>
        <p:pic>
          <p:nvPicPr>
            <p:cNvPr id="52" name="object 52"/>
            <p:cNvPicPr/>
            <p:nvPr/>
          </p:nvPicPr>
          <p:blipFill>
            <a:blip r:embed="rId24" cstate="print"/>
            <a:stretch>
              <a:fillRect/>
            </a:stretch>
          </p:blipFill>
          <p:spPr>
            <a:xfrm>
              <a:off x="3117272" y="4771504"/>
              <a:ext cx="1005839" cy="689956"/>
            </a:xfrm>
            <a:prstGeom prst="rect">
              <a:avLst/>
            </a:prstGeom>
          </p:spPr>
        </p:pic>
      </p:grpSp>
      <p:sp>
        <p:nvSpPr>
          <p:cNvPr id="53" name="object 53"/>
          <p:cNvSpPr txBox="1"/>
          <p:nvPr/>
        </p:nvSpPr>
        <p:spPr>
          <a:xfrm>
            <a:off x="4547813" y="4721371"/>
            <a:ext cx="1118235" cy="677750"/>
          </a:xfrm>
          <a:prstGeom prst="rect">
            <a:avLst/>
          </a:prstGeom>
          <a:ln w="12699">
            <a:solidFill>
              <a:srgbClr val="000000"/>
            </a:solidFill>
          </a:ln>
        </p:spPr>
        <p:txBody>
          <a:bodyPr vert="horz" wrap="square" lIns="0" tIns="137795" rIns="0" bIns="0" rtlCol="0">
            <a:spAutoFit/>
          </a:bodyPr>
          <a:lstStyle/>
          <a:p>
            <a:pPr marL="154940" marR="141605" indent="111125">
              <a:lnSpc>
                <a:spcPts val="2100"/>
              </a:lnSpc>
              <a:spcBef>
                <a:spcPts val="1085"/>
              </a:spcBef>
            </a:pPr>
            <a:r>
              <a:rPr i="1" dirty="0">
                <a:latin typeface="Arial"/>
                <a:cs typeface="Arial"/>
              </a:rPr>
              <a:t>h(x)</a:t>
            </a:r>
            <a:r>
              <a:rPr i="1" spc="-5" dirty="0">
                <a:latin typeface="Arial"/>
                <a:cs typeface="Arial"/>
              </a:rPr>
              <a:t> </a:t>
            </a:r>
            <a:r>
              <a:rPr i="1" spc="-50" dirty="0">
                <a:latin typeface="Arial"/>
                <a:cs typeface="Arial"/>
              </a:rPr>
              <a:t>= </a:t>
            </a:r>
            <a:r>
              <a:rPr i="1" spc="-10" dirty="0">
                <a:latin typeface="Arial"/>
                <a:cs typeface="Arial"/>
              </a:rPr>
              <a:t>key%10</a:t>
            </a:r>
            <a:endParaRPr>
              <a:latin typeface="Arial"/>
              <a:cs typeface="Arial"/>
            </a:endParaRPr>
          </a:p>
        </p:txBody>
      </p:sp>
      <p:grpSp>
        <p:nvGrpSpPr>
          <p:cNvPr id="54" name="object 54"/>
          <p:cNvGrpSpPr/>
          <p:nvPr/>
        </p:nvGrpSpPr>
        <p:grpSpPr>
          <a:xfrm>
            <a:off x="2380211" y="4738254"/>
            <a:ext cx="1222375" cy="424180"/>
            <a:chOff x="856210" y="4738254"/>
            <a:chExt cx="1222375" cy="424180"/>
          </a:xfrm>
        </p:grpSpPr>
        <p:pic>
          <p:nvPicPr>
            <p:cNvPr id="55" name="object 55"/>
            <p:cNvPicPr/>
            <p:nvPr/>
          </p:nvPicPr>
          <p:blipFill>
            <a:blip r:embed="rId25" cstate="print"/>
            <a:stretch>
              <a:fillRect/>
            </a:stretch>
          </p:blipFill>
          <p:spPr>
            <a:xfrm>
              <a:off x="856210" y="4759036"/>
              <a:ext cx="1221970" cy="378229"/>
            </a:xfrm>
            <a:prstGeom prst="rect">
              <a:avLst/>
            </a:prstGeom>
          </p:spPr>
        </p:pic>
        <p:pic>
          <p:nvPicPr>
            <p:cNvPr id="56" name="object 56"/>
            <p:cNvPicPr/>
            <p:nvPr/>
          </p:nvPicPr>
          <p:blipFill>
            <a:blip r:embed="rId26" cstate="print"/>
            <a:stretch>
              <a:fillRect/>
            </a:stretch>
          </p:blipFill>
          <p:spPr>
            <a:xfrm>
              <a:off x="1205345" y="4738254"/>
              <a:ext cx="523701" cy="423949"/>
            </a:xfrm>
            <a:prstGeom prst="rect">
              <a:avLst/>
            </a:prstGeom>
          </p:spPr>
        </p:pic>
      </p:grpSp>
      <p:sp>
        <p:nvSpPr>
          <p:cNvPr id="57" name="object 57"/>
          <p:cNvSpPr txBox="1"/>
          <p:nvPr/>
        </p:nvSpPr>
        <p:spPr>
          <a:xfrm>
            <a:off x="2407512" y="4801818"/>
            <a:ext cx="1118235" cy="295910"/>
          </a:xfrm>
          <a:prstGeom prst="rect">
            <a:avLst/>
          </a:prstGeom>
          <a:ln w="12699">
            <a:solidFill>
              <a:srgbClr val="000000"/>
            </a:solidFill>
          </a:ln>
        </p:spPr>
        <p:txBody>
          <a:bodyPr vert="horz" wrap="square" lIns="0" tIns="8890" rIns="0" bIns="0" rtlCol="0">
            <a:spAutoFit/>
          </a:bodyPr>
          <a:lstStyle/>
          <a:p>
            <a:pPr marL="370840">
              <a:spcBef>
                <a:spcPts val="70"/>
              </a:spcBef>
            </a:pPr>
            <a:r>
              <a:rPr spc="-25" dirty="0">
                <a:latin typeface="Arial"/>
                <a:cs typeface="Arial"/>
              </a:rPr>
              <a:t>519</a:t>
            </a:r>
            <a:endParaRPr>
              <a:latin typeface="Arial"/>
              <a:cs typeface="Arial"/>
            </a:endParaRPr>
          </a:p>
        </p:txBody>
      </p:sp>
      <p:grpSp>
        <p:nvGrpSpPr>
          <p:cNvPr id="58" name="object 58"/>
          <p:cNvGrpSpPr/>
          <p:nvPr/>
        </p:nvGrpSpPr>
        <p:grpSpPr>
          <a:xfrm>
            <a:off x="2380211" y="4172989"/>
            <a:ext cx="4845685" cy="2501900"/>
            <a:chOff x="856210" y="4172989"/>
            <a:chExt cx="4845685" cy="2501900"/>
          </a:xfrm>
        </p:grpSpPr>
        <p:sp>
          <p:nvSpPr>
            <p:cNvPr id="59" name="object 59"/>
            <p:cNvSpPr/>
            <p:nvPr/>
          </p:nvSpPr>
          <p:spPr>
            <a:xfrm>
              <a:off x="2001705" y="4947862"/>
              <a:ext cx="994410" cy="170815"/>
            </a:xfrm>
            <a:custGeom>
              <a:avLst/>
              <a:gdLst/>
              <a:ahLst/>
              <a:cxnLst/>
              <a:rect l="l" t="t" r="r" b="b"/>
              <a:pathLst>
                <a:path w="994410" h="170814">
                  <a:moveTo>
                    <a:pt x="0" y="0"/>
                  </a:moveTo>
                  <a:lnTo>
                    <a:pt x="511174" y="0"/>
                  </a:lnTo>
                  <a:lnTo>
                    <a:pt x="511174" y="170656"/>
                  </a:lnTo>
                  <a:lnTo>
                    <a:pt x="993994" y="170656"/>
                  </a:lnTo>
                </a:path>
              </a:pathLst>
            </a:custGeom>
            <a:ln w="28574">
              <a:solidFill>
                <a:srgbClr val="8D8D8D"/>
              </a:solidFill>
            </a:ln>
          </p:spPr>
          <p:txBody>
            <a:bodyPr wrap="square" lIns="0" tIns="0" rIns="0" bIns="0" rtlCol="0"/>
            <a:lstStyle/>
            <a:p>
              <a:endParaRPr/>
            </a:p>
          </p:txBody>
        </p:sp>
        <p:pic>
          <p:nvPicPr>
            <p:cNvPr id="60" name="object 60"/>
            <p:cNvPicPr/>
            <p:nvPr/>
          </p:nvPicPr>
          <p:blipFill>
            <a:blip r:embed="rId27" cstate="print"/>
            <a:stretch>
              <a:fillRect/>
            </a:stretch>
          </p:blipFill>
          <p:spPr>
            <a:xfrm>
              <a:off x="2893658" y="5052194"/>
              <a:ext cx="130397" cy="132647"/>
            </a:xfrm>
            <a:prstGeom prst="rect">
              <a:avLst/>
            </a:prstGeom>
          </p:spPr>
        </p:pic>
        <p:sp>
          <p:nvSpPr>
            <p:cNvPr id="61" name="object 61"/>
            <p:cNvSpPr/>
            <p:nvPr/>
          </p:nvSpPr>
          <p:spPr>
            <a:xfrm>
              <a:off x="4142005" y="5118496"/>
              <a:ext cx="1531620" cy="1490345"/>
            </a:xfrm>
            <a:custGeom>
              <a:avLst/>
              <a:gdLst/>
              <a:ahLst/>
              <a:cxnLst/>
              <a:rect l="l" t="t" r="r" b="b"/>
              <a:pathLst>
                <a:path w="1531620" h="1490345">
                  <a:moveTo>
                    <a:pt x="0" y="0"/>
                  </a:moveTo>
                  <a:lnTo>
                    <a:pt x="780256" y="0"/>
                  </a:lnTo>
                  <a:lnTo>
                    <a:pt x="780256" y="1489868"/>
                  </a:lnTo>
                  <a:lnTo>
                    <a:pt x="1531362" y="1489868"/>
                  </a:lnTo>
                </a:path>
              </a:pathLst>
            </a:custGeom>
            <a:ln w="28574">
              <a:solidFill>
                <a:srgbClr val="8D8D8D"/>
              </a:solidFill>
            </a:ln>
          </p:spPr>
          <p:txBody>
            <a:bodyPr wrap="square" lIns="0" tIns="0" rIns="0" bIns="0" rtlCol="0"/>
            <a:lstStyle/>
            <a:p>
              <a:endParaRPr/>
            </a:p>
          </p:txBody>
        </p:sp>
        <p:pic>
          <p:nvPicPr>
            <p:cNvPr id="62" name="object 62"/>
            <p:cNvPicPr/>
            <p:nvPr/>
          </p:nvPicPr>
          <p:blipFill>
            <a:blip r:embed="rId27" cstate="print"/>
            <a:stretch>
              <a:fillRect/>
            </a:stretch>
          </p:blipFill>
          <p:spPr>
            <a:xfrm>
              <a:off x="5571327" y="6542041"/>
              <a:ext cx="130397" cy="132646"/>
            </a:xfrm>
            <a:prstGeom prst="rect">
              <a:avLst/>
            </a:prstGeom>
          </p:spPr>
        </p:pic>
        <p:pic>
          <p:nvPicPr>
            <p:cNvPr id="63" name="object 63"/>
            <p:cNvPicPr/>
            <p:nvPr/>
          </p:nvPicPr>
          <p:blipFill>
            <a:blip r:embed="rId28" cstate="print"/>
            <a:stretch>
              <a:fillRect/>
            </a:stretch>
          </p:blipFill>
          <p:spPr>
            <a:xfrm>
              <a:off x="856210" y="4189614"/>
              <a:ext cx="1221970" cy="378229"/>
            </a:xfrm>
            <a:prstGeom prst="rect">
              <a:avLst/>
            </a:prstGeom>
          </p:spPr>
        </p:pic>
        <p:pic>
          <p:nvPicPr>
            <p:cNvPr id="64" name="object 64"/>
            <p:cNvPicPr/>
            <p:nvPr/>
          </p:nvPicPr>
          <p:blipFill>
            <a:blip r:embed="rId29" cstate="print"/>
            <a:stretch>
              <a:fillRect/>
            </a:stretch>
          </p:blipFill>
          <p:spPr>
            <a:xfrm>
              <a:off x="1205345" y="4172989"/>
              <a:ext cx="523701" cy="419792"/>
            </a:xfrm>
            <a:prstGeom prst="rect">
              <a:avLst/>
            </a:prstGeom>
          </p:spPr>
        </p:pic>
        <p:sp>
          <p:nvSpPr>
            <p:cNvPr id="65" name="object 65"/>
            <p:cNvSpPr/>
            <p:nvPr/>
          </p:nvSpPr>
          <p:spPr>
            <a:xfrm>
              <a:off x="883511" y="4241601"/>
              <a:ext cx="1118235" cy="276225"/>
            </a:xfrm>
            <a:custGeom>
              <a:avLst/>
              <a:gdLst/>
              <a:ahLst/>
              <a:cxnLst/>
              <a:rect l="l" t="t" r="r" b="b"/>
              <a:pathLst>
                <a:path w="1118235"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66" name="object 66"/>
          <p:cNvSpPr txBox="1"/>
          <p:nvPr/>
        </p:nvSpPr>
        <p:spPr>
          <a:xfrm>
            <a:off x="2407512" y="3949532"/>
            <a:ext cx="1118235" cy="585417"/>
          </a:xfrm>
          <a:prstGeom prst="rect">
            <a:avLst/>
          </a:prstGeom>
          <a:ln w="12699">
            <a:solidFill>
              <a:srgbClr val="000000"/>
            </a:solidFill>
          </a:ln>
        </p:spPr>
        <p:txBody>
          <a:bodyPr vert="horz" wrap="square" lIns="0" tIns="635" rIns="0" bIns="0" rtlCol="0">
            <a:spAutoFit/>
          </a:bodyPr>
          <a:lstStyle/>
          <a:p>
            <a:pPr>
              <a:spcBef>
                <a:spcPts val="5"/>
              </a:spcBef>
            </a:pPr>
            <a:endParaRPr sz="2000">
              <a:latin typeface="Times New Roman"/>
              <a:cs typeface="Times New Roman"/>
            </a:endParaRPr>
          </a:p>
          <a:p>
            <a:pPr marL="370840"/>
            <a:r>
              <a:rPr spc="-25" dirty="0">
                <a:latin typeface="Arial"/>
                <a:cs typeface="Arial"/>
              </a:rPr>
              <a:t>214</a:t>
            </a:r>
            <a:endParaRPr>
              <a:latin typeface="Arial"/>
              <a:cs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40" y="1785620"/>
            <a:ext cx="2167255" cy="452120"/>
          </a:xfrm>
          <a:prstGeom prst="rect">
            <a:avLst/>
          </a:prstGeom>
        </p:spPr>
        <p:txBody>
          <a:bodyPr vert="horz" wrap="square" lIns="0" tIns="12700" rIns="0" bIns="0" rtlCol="0">
            <a:spAutoFit/>
          </a:bodyPr>
          <a:lstStyle/>
          <a:p>
            <a:pPr marL="354965" indent="-342265">
              <a:spcBef>
                <a:spcPts val="100"/>
              </a:spcBef>
              <a:buFont typeface="Arial"/>
              <a:buChar char="•"/>
              <a:tabLst>
                <a:tab pos="354965" algn="l"/>
                <a:tab pos="355600" algn="l"/>
              </a:tabLst>
            </a:pPr>
            <a:r>
              <a:rPr sz="2800" b="1" spc="-10" dirty="0">
                <a:latin typeface="Arial"/>
                <a:cs typeface="Arial"/>
              </a:rPr>
              <a:t>Insert(214)</a:t>
            </a:r>
            <a:endParaRPr sz="2800">
              <a:latin typeface="Arial"/>
              <a:cs typeface="Arial"/>
            </a:endParaRPr>
          </a:p>
        </p:txBody>
      </p:sp>
      <p:sp>
        <p:nvSpPr>
          <p:cNvPr id="3" name="object 3"/>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spc="-10" dirty="0"/>
              <a:t>HASH</a:t>
            </a:r>
            <a:r>
              <a:rPr spc="-275" dirty="0"/>
              <a:t> </a:t>
            </a:r>
            <a:r>
              <a:rPr spc="-60" dirty="0"/>
              <a:t>EXAMPLE</a:t>
            </a:r>
          </a:p>
        </p:txBody>
      </p:sp>
      <p:grpSp>
        <p:nvGrpSpPr>
          <p:cNvPr id="4" name="object 4"/>
          <p:cNvGrpSpPr/>
          <p:nvPr/>
        </p:nvGrpSpPr>
        <p:grpSpPr>
          <a:xfrm>
            <a:off x="7197436" y="4168833"/>
            <a:ext cx="1222375" cy="424180"/>
            <a:chOff x="5673435" y="4168833"/>
            <a:chExt cx="1222375" cy="424180"/>
          </a:xfrm>
        </p:grpSpPr>
        <p:pic>
          <p:nvPicPr>
            <p:cNvPr id="5" name="object 5"/>
            <p:cNvPicPr/>
            <p:nvPr/>
          </p:nvPicPr>
          <p:blipFill>
            <a:blip r:embed="rId2" cstate="print"/>
            <a:stretch>
              <a:fillRect/>
            </a:stretch>
          </p:blipFill>
          <p:spPr>
            <a:xfrm>
              <a:off x="5673435" y="4189614"/>
              <a:ext cx="1221970" cy="378229"/>
            </a:xfrm>
            <a:prstGeom prst="rect">
              <a:avLst/>
            </a:prstGeom>
          </p:spPr>
        </p:pic>
        <p:pic>
          <p:nvPicPr>
            <p:cNvPr id="6" name="object 6"/>
            <p:cNvPicPr/>
            <p:nvPr/>
          </p:nvPicPr>
          <p:blipFill>
            <a:blip r:embed="rId3" cstate="print"/>
            <a:stretch>
              <a:fillRect/>
            </a:stretch>
          </p:blipFill>
          <p:spPr>
            <a:xfrm>
              <a:off x="5744094" y="4168833"/>
              <a:ext cx="270163" cy="423949"/>
            </a:xfrm>
            <a:prstGeom prst="rect">
              <a:avLst/>
            </a:prstGeom>
          </p:spPr>
        </p:pic>
        <p:sp>
          <p:nvSpPr>
            <p:cNvPr id="7" name="object 7"/>
            <p:cNvSpPr/>
            <p:nvPr/>
          </p:nvSpPr>
          <p:spPr>
            <a:xfrm>
              <a:off x="5701960" y="4241064"/>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8" name="object 8"/>
          <p:cNvSpPr txBox="1"/>
          <p:nvPr/>
        </p:nvSpPr>
        <p:spPr>
          <a:xfrm>
            <a:off x="7232311" y="4229262"/>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1</a:t>
            </a:r>
            <a:endParaRPr>
              <a:latin typeface="Arial"/>
              <a:cs typeface="Arial"/>
            </a:endParaRPr>
          </a:p>
        </p:txBody>
      </p:sp>
      <p:grpSp>
        <p:nvGrpSpPr>
          <p:cNvPr id="9" name="object 9"/>
          <p:cNvGrpSpPr/>
          <p:nvPr/>
        </p:nvGrpSpPr>
        <p:grpSpPr>
          <a:xfrm>
            <a:off x="2380211" y="3877888"/>
            <a:ext cx="6039485" cy="2914015"/>
            <a:chOff x="856210" y="3877887"/>
            <a:chExt cx="6039485" cy="2914015"/>
          </a:xfrm>
        </p:grpSpPr>
        <p:pic>
          <p:nvPicPr>
            <p:cNvPr id="10" name="object 10"/>
            <p:cNvPicPr/>
            <p:nvPr/>
          </p:nvPicPr>
          <p:blipFill>
            <a:blip r:embed="rId4" cstate="print"/>
            <a:stretch>
              <a:fillRect/>
            </a:stretch>
          </p:blipFill>
          <p:spPr>
            <a:xfrm>
              <a:off x="5673435" y="3898668"/>
              <a:ext cx="1221970" cy="378229"/>
            </a:xfrm>
            <a:prstGeom prst="rect">
              <a:avLst/>
            </a:prstGeom>
          </p:spPr>
        </p:pic>
        <p:pic>
          <p:nvPicPr>
            <p:cNvPr id="11" name="object 11"/>
            <p:cNvPicPr/>
            <p:nvPr/>
          </p:nvPicPr>
          <p:blipFill>
            <a:blip r:embed="rId5" cstate="print"/>
            <a:stretch>
              <a:fillRect/>
            </a:stretch>
          </p:blipFill>
          <p:spPr>
            <a:xfrm>
              <a:off x="5744094" y="3877887"/>
              <a:ext cx="270163" cy="423949"/>
            </a:xfrm>
            <a:prstGeom prst="rect">
              <a:avLst/>
            </a:prstGeom>
          </p:spPr>
        </p:pic>
        <p:sp>
          <p:nvSpPr>
            <p:cNvPr id="12" name="object 12"/>
            <p:cNvSpPr/>
            <p:nvPr/>
          </p:nvSpPr>
          <p:spPr>
            <a:xfrm>
              <a:off x="5701960" y="3949531"/>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13" name="object 13"/>
            <p:cNvPicPr/>
            <p:nvPr/>
          </p:nvPicPr>
          <p:blipFill>
            <a:blip r:embed="rId6" cstate="print"/>
            <a:stretch>
              <a:fillRect/>
            </a:stretch>
          </p:blipFill>
          <p:spPr>
            <a:xfrm>
              <a:off x="856210" y="3898669"/>
              <a:ext cx="1221970" cy="2892828"/>
            </a:xfrm>
            <a:prstGeom prst="rect">
              <a:avLst/>
            </a:prstGeom>
          </p:spPr>
        </p:pic>
        <p:sp>
          <p:nvSpPr>
            <p:cNvPr id="14" name="object 14"/>
            <p:cNvSpPr/>
            <p:nvPr/>
          </p:nvSpPr>
          <p:spPr>
            <a:xfrm>
              <a:off x="883511" y="3949531"/>
              <a:ext cx="1118235" cy="2791460"/>
            </a:xfrm>
            <a:custGeom>
              <a:avLst/>
              <a:gdLst/>
              <a:ahLst/>
              <a:cxnLst/>
              <a:rect l="l" t="t" r="r" b="b"/>
              <a:pathLst>
                <a:path w="1118235" h="2791459">
                  <a:moveTo>
                    <a:pt x="0" y="0"/>
                  </a:moveTo>
                  <a:lnTo>
                    <a:pt x="1118193" y="0"/>
                  </a:lnTo>
                  <a:lnTo>
                    <a:pt x="1118193" y="2790885"/>
                  </a:lnTo>
                  <a:lnTo>
                    <a:pt x="0" y="2790885"/>
                  </a:lnTo>
                  <a:lnTo>
                    <a:pt x="0" y="0"/>
                  </a:lnTo>
                  <a:close/>
                </a:path>
              </a:pathLst>
            </a:custGeom>
            <a:ln w="12699">
              <a:solidFill>
                <a:srgbClr val="000000"/>
              </a:solidFill>
            </a:ln>
          </p:spPr>
          <p:txBody>
            <a:bodyPr wrap="square" lIns="0" tIns="0" rIns="0" bIns="0" rtlCol="0"/>
            <a:lstStyle/>
            <a:p>
              <a:endParaRPr/>
            </a:p>
          </p:txBody>
        </p:sp>
      </p:grpSp>
      <p:sp>
        <p:nvSpPr>
          <p:cNvPr id="15" name="object 15"/>
          <p:cNvSpPr txBox="1"/>
          <p:nvPr/>
        </p:nvSpPr>
        <p:spPr>
          <a:xfrm>
            <a:off x="7232311" y="3937729"/>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0</a:t>
            </a:r>
            <a:endParaRPr>
              <a:latin typeface="Arial"/>
              <a:cs typeface="Arial"/>
            </a:endParaRPr>
          </a:p>
        </p:txBody>
      </p:sp>
      <p:grpSp>
        <p:nvGrpSpPr>
          <p:cNvPr id="16" name="object 16"/>
          <p:cNvGrpSpPr/>
          <p:nvPr/>
        </p:nvGrpSpPr>
        <p:grpSpPr>
          <a:xfrm>
            <a:off x="7197436" y="4447308"/>
            <a:ext cx="1222375" cy="420370"/>
            <a:chOff x="5673435" y="4447308"/>
            <a:chExt cx="1222375" cy="420370"/>
          </a:xfrm>
        </p:grpSpPr>
        <p:pic>
          <p:nvPicPr>
            <p:cNvPr id="17" name="object 17"/>
            <p:cNvPicPr/>
            <p:nvPr/>
          </p:nvPicPr>
          <p:blipFill>
            <a:blip r:embed="rId7" cstate="print"/>
            <a:stretch>
              <a:fillRect/>
            </a:stretch>
          </p:blipFill>
          <p:spPr>
            <a:xfrm>
              <a:off x="5673435" y="4463934"/>
              <a:ext cx="1221970" cy="382385"/>
            </a:xfrm>
            <a:prstGeom prst="rect">
              <a:avLst/>
            </a:prstGeom>
          </p:spPr>
        </p:pic>
        <p:pic>
          <p:nvPicPr>
            <p:cNvPr id="18" name="object 18"/>
            <p:cNvPicPr/>
            <p:nvPr/>
          </p:nvPicPr>
          <p:blipFill>
            <a:blip r:embed="rId8" cstate="print"/>
            <a:stretch>
              <a:fillRect/>
            </a:stretch>
          </p:blipFill>
          <p:spPr>
            <a:xfrm>
              <a:off x="5744094" y="4447308"/>
              <a:ext cx="270163" cy="419792"/>
            </a:xfrm>
            <a:prstGeom prst="rect">
              <a:avLst/>
            </a:prstGeom>
          </p:spPr>
        </p:pic>
      </p:grpSp>
      <p:sp>
        <p:nvSpPr>
          <p:cNvPr id="19" name="object 19"/>
          <p:cNvSpPr txBox="1"/>
          <p:nvPr/>
        </p:nvSpPr>
        <p:spPr>
          <a:xfrm>
            <a:off x="7225961" y="4517448"/>
            <a:ext cx="1118235" cy="284480"/>
          </a:xfrm>
          <a:prstGeom prst="rect">
            <a:avLst/>
          </a:prstGeom>
          <a:ln w="12699">
            <a:solidFill>
              <a:srgbClr val="000000"/>
            </a:solidFill>
          </a:ln>
        </p:spPr>
        <p:txBody>
          <a:bodyPr vert="horz" wrap="square" lIns="0" tIns="1270" rIns="0" bIns="0" rtlCol="0">
            <a:spAutoFit/>
          </a:bodyPr>
          <a:lstStyle/>
          <a:p>
            <a:pPr marL="90805">
              <a:spcBef>
                <a:spcPts val="10"/>
              </a:spcBef>
            </a:pPr>
            <a:r>
              <a:rPr dirty="0">
                <a:latin typeface="Arial"/>
                <a:cs typeface="Arial"/>
              </a:rPr>
              <a:t>2</a:t>
            </a:r>
            <a:endParaRPr>
              <a:latin typeface="Arial"/>
              <a:cs typeface="Arial"/>
            </a:endParaRPr>
          </a:p>
        </p:txBody>
      </p:sp>
      <p:grpSp>
        <p:nvGrpSpPr>
          <p:cNvPr id="20" name="object 20"/>
          <p:cNvGrpSpPr/>
          <p:nvPr/>
        </p:nvGrpSpPr>
        <p:grpSpPr>
          <a:xfrm>
            <a:off x="7197436" y="4721628"/>
            <a:ext cx="1222375" cy="424180"/>
            <a:chOff x="5673435" y="4721628"/>
            <a:chExt cx="1222375" cy="424180"/>
          </a:xfrm>
        </p:grpSpPr>
        <p:pic>
          <p:nvPicPr>
            <p:cNvPr id="21" name="object 21"/>
            <p:cNvPicPr/>
            <p:nvPr/>
          </p:nvPicPr>
          <p:blipFill>
            <a:blip r:embed="rId9" cstate="print"/>
            <a:stretch>
              <a:fillRect/>
            </a:stretch>
          </p:blipFill>
          <p:spPr>
            <a:xfrm>
              <a:off x="5673435" y="4742410"/>
              <a:ext cx="1221970" cy="378229"/>
            </a:xfrm>
            <a:prstGeom prst="rect">
              <a:avLst/>
            </a:prstGeom>
          </p:spPr>
        </p:pic>
        <p:pic>
          <p:nvPicPr>
            <p:cNvPr id="22" name="object 22"/>
            <p:cNvPicPr/>
            <p:nvPr/>
          </p:nvPicPr>
          <p:blipFill>
            <a:blip r:embed="rId10" cstate="print"/>
            <a:stretch>
              <a:fillRect/>
            </a:stretch>
          </p:blipFill>
          <p:spPr>
            <a:xfrm>
              <a:off x="5744094" y="4721628"/>
              <a:ext cx="270163" cy="423949"/>
            </a:xfrm>
            <a:prstGeom prst="rect">
              <a:avLst/>
            </a:prstGeom>
          </p:spPr>
        </p:pic>
      </p:grpSp>
      <p:sp>
        <p:nvSpPr>
          <p:cNvPr id="23" name="object 23"/>
          <p:cNvSpPr txBox="1"/>
          <p:nvPr/>
        </p:nvSpPr>
        <p:spPr>
          <a:xfrm>
            <a:off x="7225961" y="4801818"/>
            <a:ext cx="1118235" cy="269304"/>
          </a:xfrm>
          <a:prstGeom prst="rect">
            <a:avLst/>
          </a:prstGeom>
          <a:ln w="12699">
            <a:solidFill>
              <a:srgbClr val="000000"/>
            </a:solidFill>
          </a:ln>
        </p:spPr>
        <p:txBody>
          <a:bodyPr vert="horz" wrap="square" lIns="0" tIns="0" rIns="0" bIns="0" rtlCol="0">
            <a:spAutoFit/>
          </a:bodyPr>
          <a:lstStyle/>
          <a:p>
            <a:pPr marL="90805">
              <a:lnSpc>
                <a:spcPts val="2105"/>
              </a:lnSpc>
            </a:pPr>
            <a:r>
              <a:rPr dirty="0">
                <a:latin typeface="Arial"/>
                <a:cs typeface="Arial"/>
              </a:rPr>
              <a:t>3</a:t>
            </a:r>
            <a:endParaRPr>
              <a:latin typeface="Arial"/>
              <a:cs typeface="Arial"/>
            </a:endParaRPr>
          </a:p>
        </p:txBody>
      </p:sp>
      <p:grpSp>
        <p:nvGrpSpPr>
          <p:cNvPr id="24" name="object 24"/>
          <p:cNvGrpSpPr/>
          <p:nvPr/>
        </p:nvGrpSpPr>
        <p:grpSpPr>
          <a:xfrm>
            <a:off x="7197436" y="5000104"/>
            <a:ext cx="1222375" cy="420370"/>
            <a:chOff x="5673435" y="5000104"/>
            <a:chExt cx="1222375" cy="420370"/>
          </a:xfrm>
        </p:grpSpPr>
        <p:pic>
          <p:nvPicPr>
            <p:cNvPr id="25" name="object 25"/>
            <p:cNvPicPr/>
            <p:nvPr/>
          </p:nvPicPr>
          <p:blipFill>
            <a:blip r:embed="rId11" cstate="print"/>
            <a:stretch>
              <a:fillRect/>
            </a:stretch>
          </p:blipFill>
          <p:spPr>
            <a:xfrm>
              <a:off x="5673435" y="5016731"/>
              <a:ext cx="1221970" cy="382385"/>
            </a:xfrm>
            <a:prstGeom prst="rect">
              <a:avLst/>
            </a:prstGeom>
          </p:spPr>
        </p:pic>
        <p:pic>
          <p:nvPicPr>
            <p:cNvPr id="26" name="object 26"/>
            <p:cNvPicPr/>
            <p:nvPr/>
          </p:nvPicPr>
          <p:blipFill>
            <a:blip r:embed="rId12" cstate="print"/>
            <a:stretch>
              <a:fillRect/>
            </a:stretch>
          </p:blipFill>
          <p:spPr>
            <a:xfrm>
              <a:off x="5744094" y="5000104"/>
              <a:ext cx="777239" cy="419792"/>
            </a:xfrm>
            <a:prstGeom prst="rect">
              <a:avLst/>
            </a:prstGeom>
          </p:spPr>
        </p:pic>
        <p:sp>
          <p:nvSpPr>
            <p:cNvPr id="27" name="object 27"/>
            <p:cNvSpPr/>
            <p:nvPr/>
          </p:nvSpPr>
          <p:spPr>
            <a:xfrm>
              <a:off x="5701960" y="5070486"/>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28" name="object 28"/>
          <p:cNvSpPr txBox="1"/>
          <p:nvPr/>
        </p:nvSpPr>
        <p:spPr>
          <a:xfrm>
            <a:off x="7232311" y="5058683"/>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4:</a:t>
            </a:r>
            <a:r>
              <a:rPr spc="-5" dirty="0">
                <a:latin typeface="Arial"/>
                <a:cs typeface="Arial"/>
              </a:rPr>
              <a:t> </a:t>
            </a:r>
            <a:r>
              <a:rPr b="1" spc="-25" dirty="0">
                <a:latin typeface="Arial"/>
                <a:cs typeface="Arial"/>
              </a:rPr>
              <a:t>214</a:t>
            </a:r>
            <a:endParaRPr>
              <a:latin typeface="Arial"/>
              <a:cs typeface="Arial"/>
            </a:endParaRPr>
          </a:p>
        </p:txBody>
      </p:sp>
      <p:grpSp>
        <p:nvGrpSpPr>
          <p:cNvPr id="29" name="object 29"/>
          <p:cNvGrpSpPr/>
          <p:nvPr/>
        </p:nvGrpSpPr>
        <p:grpSpPr>
          <a:xfrm>
            <a:off x="7197436" y="5278581"/>
            <a:ext cx="1222375" cy="424180"/>
            <a:chOff x="5673435" y="5278581"/>
            <a:chExt cx="1222375" cy="424180"/>
          </a:xfrm>
        </p:grpSpPr>
        <p:pic>
          <p:nvPicPr>
            <p:cNvPr id="30" name="object 30"/>
            <p:cNvPicPr/>
            <p:nvPr/>
          </p:nvPicPr>
          <p:blipFill>
            <a:blip r:embed="rId13" cstate="print"/>
            <a:stretch>
              <a:fillRect/>
            </a:stretch>
          </p:blipFill>
          <p:spPr>
            <a:xfrm>
              <a:off x="5673435" y="5299363"/>
              <a:ext cx="1221970" cy="378229"/>
            </a:xfrm>
            <a:prstGeom prst="rect">
              <a:avLst/>
            </a:prstGeom>
          </p:spPr>
        </p:pic>
        <p:pic>
          <p:nvPicPr>
            <p:cNvPr id="31" name="object 31"/>
            <p:cNvPicPr/>
            <p:nvPr/>
          </p:nvPicPr>
          <p:blipFill>
            <a:blip r:embed="rId14" cstate="print"/>
            <a:stretch>
              <a:fillRect/>
            </a:stretch>
          </p:blipFill>
          <p:spPr>
            <a:xfrm>
              <a:off x="5744094" y="5278581"/>
              <a:ext cx="270163" cy="423949"/>
            </a:xfrm>
            <a:prstGeom prst="rect">
              <a:avLst/>
            </a:prstGeom>
          </p:spPr>
        </p:pic>
        <p:sp>
          <p:nvSpPr>
            <p:cNvPr id="32" name="object 32"/>
            <p:cNvSpPr/>
            <p:nvPr/>
          </p:nvSpPr>
          <p:spPr>
            <a:xfrm>
              <a:off x="5701960" y="5349421"/>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33" name="object 33"/>
          <p:cNvSpPr txBox="1"/>
          <p:nvPr/>
        </p:nvSpPr>
        <p:spPr>
          <a:xfrm>
            <a:off x="7232311" y="5337618"/>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5</a:t>
            </a:r>
            <a:endParaRPr>
              <a:latin typeface="Arial"/>
              <a:cs typeface="Arial"/>
            </a:endParaRPr>
          </a:p>
        </p:txBody>
      </p:sp>
      <p:grpSp>
        <p:nvGrpSpPr>
          <p:cNvPr id="34" name="object 34"/>
          <p:cNvGrpSpPr/>
          <p:nvPr/>
        </p:nvGrpSpPr>
        <p:grpSpPr>
          <a:xfrm>
            <a:off x="7197436" y="5557058"/>
            <a:ext cx="1222375" cy="420370"/>
            <a:chOff x="5673435" y="5557058"/>
            <a:chExt cx="1222375" cy="420370"/>
          </a:xfrm>
        </p:grpSpPr>
        <p:pic>
          <p:nvPicPr>
            <p:cNvPr id="35" name="object 35"/>
            <p:cNvPicPr/>
            <p:nvPr/>
          </p:nvPicPr>
          <p:blipFill>
            <a:blip r:embed="rId15" cstate="print"/>
            <a:stretch>
              <a:fillRect/>
            </a:stretch>
          </p:blipFill>
          <p:spPr>
            <a:xfrm>
              <a:off x="5673435" y="5573683"/>
              <a:ext cx="1221970" cy="382385"/>
            </a:xfrm>
            <a:prstGeom prst="rect">
              <a:avLst/>
            </a:prstGeom>
          </p:spPr>
        </p:pic>
        <p:pic>
          <p:nvPicPr>
            <p:cNvPr id="36" name="object 36"/>
            <p:cNvPicPr/>
            <p:nvPr/>
          </p:nvPicPr>
          <p:blipFill>
            <a:blip r:embed="rId16" cstate="print"/>
            <a:stretch>
              <a:fillRect/>
            </a:stretch>
          </p:blipFill>
          <p:spPr>
            <a:xfrm>
              <a:off x="5744094" y="5557058"/>
              <a:ext cx="270163" cy="419792"/>
            </a:xfrm>
            <a:prstGeom prst="rect">
              <a:avLst/>
            </a:prstGeom>
          </p:spPr>
        </p:pic>
      </p:grpSp>
      <p:sp>
        <p:nvSpPr>
          <p:cNvPr id="37" name="object 37"/>
          <p:cNvSpPr txBox="1"/>
          <p:nvPr/>
        </p:nvSpPr>
        <p:spPr>
          <a:xfrm>
            <a:off x="7225961" y="5625804"/>
            <a:ext cx="1118235" cy="276860"/>
          </a:xfrm>
          <a:prstGeom prst="rect">
            <a:avLst/>
          </a:prstGeom>
          <a:ln w="12699">
            <a:solidFill>
              <a:srgbClr val="000000"/>
            </a:solidFill>
          </a:ln>
        </p:spPr>
        <p:txBody>
          <a:bodyPr vert="horz" wrap="square" lIns="0" tIns="1270" rIns="0" bIns="0" rtlCol="0">
            <a:spAutoFit/>
          </a:bodyPr>
          <a:lstStyle/>
          <a:p>
            <a:pPr marL="90805">
              <a:spcBef>
                <a:spcPts val="10"/>
              </a:spcBef>
            </a:pPr>
            <a:r>
              <a:rPr dirty="0">
                <a:latin typeface="Arial"/>
                <a:cs typeface="Arial"/>
              </a:rPr>
              <a:t>6</a:t>
            </a:r>
            <a:endParaRPr>
              <a:latin typeface="Arial"/>
              <a:cs typeface="Arial"/>
            </a:endParaRPr>
          </a:p>
        </p:txBody>
      </p:sp>
      <p:grpSp>
        <p:nvGrpSpPr>
          <p:cNvPr id="38" name="object 38"/>
          <p:cNvGrpSpPr/>
          <p:nvPr/>
        </p:nvGrpSpPr>
        <p:grpSpPr>
          <a:xfrm>
            <a:off x="7197436" y="5831377"/>
            <a:ext cx="1222375" cy="424180"/>
            <a:chOff x="5673435" y="5831377"/>
            <a:chExt cx="1222375" cy="424180"/>
          </a:xfrm>
        </p:grpSpPr>
        <p:pic>
          <p:nvPicPr>
            <p:cNvPr id="39" name="object 39"/>
            <p:cNvPicPr/>
            <p:nvPr/>
          </p:nvPicPr>
          <p:blipFill>
            <a:blip r:embed="rId17" cstate="print"/>
            <a:stretch>
              <a:fillRect/>
            </a:stretch>
          </p:blipFill>
          <p:spPr>
            <a:xfrm>
              <a:off x="5673435" y="5852159"/>
              <a:ext cx="1221970" cy="378229"/>
            </a:xfrm>
            <a:prstGeom prst="rect">
              <a:avLst/>
            </a:prstGeom>
          </p:spPr>
        </p:pic>
        <p:pic>
          <p:nvPicPr>
            <p:cNvPr id="40" name="object 40"/>
            <p:cNvPicPr/>
            <p:nvPr/>
          </p:nvPicPr>
          <p:blipFill>
            <a:blip r:embed="rId18" cstate="print"/>
            <a:stretch>
              <a:fillRect/>
            </a:stretch>
          </p:blipFill>
          <p:spPr>
            <a:xfrm>
              <a:off x="5744094" y="5831377"/>
              <a:ext cx="270163" cy="423949"/>
            </a:xfrm>
            <a:prstGeom prst="rect">
              <a:avLst/>
            </a:prstGeom>
          </p:spPr>
        </p:pic>
      </p:grpSp>
      <p:sp>
        <p:nvSpPr>
          <p:cNvPr id="41" name="object 41"/>
          <p:cNvSpPr txBox="1"/>
          <p:nvPr/>
        </p:nvSpPr>
        <p:spPr>
          <a:xfrm>
            <a:off x="7225961" y="5902188"/>
            <a:ext cx="1118235" cy="276860"/>
          </a:xfrm>
          <a:prstGeom prst="rect">
            <a:avLst/>
          </a:prstGeom>
          <a:ln w="12699">
            <a:solidFill>
              <a:srgbClr val="000000"/>
            </a:solidFill>
          </a:ln>
        </p:spPr>
        <p:txBody>
          <a:bodyPr vert="horz" wrap="square" lIns="0" tIns="635" rIns="0" bIns="0" rtlCol="0">
            <a:spAutoFit/>
          </a:bodyPr>
          <a:lstStyle/>
          <a:p>
            <a:pPr marL="90805">
              <a:spcBef>
                <a:spcPts val="5"/>
              </a:spcBef>
            </a:pPr>
            <a:r>
              <a:rPr dirty="0">
                <a:latin typeface="Arial"/>
                <a:cs typeface="Arial"/>
              </a:rPr>
              <a:t>7</a:t>
            </a:r>
            <a:endParaRPr>
              <a:latin typeface="Arial"/>
              <a:cs typeface="Arial"/>
            </a:endParaRPr>
          </a:p>
        </p:txBody>
      </p:sp>
      <p:grpSp>
        <p:nvGrpSpPr>
          <p:cNvPr id="42" name="object 42"/>
          <p:cNvGrpSpPr/>
          <p:nvPr/>
        </p:nvGrpSpPr>
        <p:grpSpPr>
          <a:xfrm>
            <a:off x="7197436" y="6109854"/>
            <a:ext cx="1222375" cy="711200"/>
            <a:chOff x="5673435" y="6109854"/>
            <a:chExt cx="1222375" cy="711200"/>
          </a:xfrm>
        </p:grpSpPr>
        <p:pic>
          <p:nvPicPr>
            <p:cNvPr id="43" name="object 43"/>
            <p:cNvPicPr/>
            <p:nvPr/>
          </p:nvPicPr>
          <p:blipFill>
            <a:blip r:embed="rId19" cstate="print"/>
            <a:stretch>
              <a:fillRect/>
            </a:stretch>
          </p:blipFill>
          <p:spPr>
            <a:xfrm>
              <a:off x="5673435" y="6126480"/>
              <a:ext cx="1221970" cy="382385"/>
            </a:xfrm>
            <a:prstGeom prst="rect">
              <a:avLst/>
            </a:prstGeom>
          </p:spPr>
        </p:pic>
        <p:pic>
          <p:nvPicPr>
            <p:cNvPr id="44" name="object 44"/>
            <p:cNvPicPr/>
            <p:nvPr/>
          </p:nvPicPr>
          <p:blipFill>
            <a:blip r:embed="rId20" cstate="print"/>
            <a:stretch>
              <a:fillRect/>
            </a:stretch>
          </p:blipFill>
          <p:spPr>
            <a:xfrm>
              <a:off x="5744094" y="6109854"/>
              <a:ext cx="270163" cy="419792"/>
            </a:xfrm>
            <a:prstGeom prst="rect">
              <a:avLst/>
            </a:prstGeom>
          </p:spPr>
        </p:pic>
        <p:sp>
          <p:nvSpPr>
            <p:cNvPr id="45" name="object 45"/>
            <p:cNvSpPr/>
            <p:nvPr/>
          </p:nvSpPr>
          <p:spPr>
            <a:xfrm>
              <a:off x="5701960" y="6178842"/>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46" name="object 46"/>
            <p:cNvPicPr/>
            <p:nvPr/>
          </p:nvPicPr>
          <p:blipFill>
            <a:blip r:embed="rId21" cstate="print"/>
            <a:stretch>
              <a:fillRect/>
            </a:stretch>
          </p:blipFill>
          <p:spPr>
            <a:xfrm>
              <a:off x="5673435" y="6417425"/>
              <a:ext cx="1221970" cy="382385"/>
            </a:xfrm>
            <a:prstGeom prst="rect">
              <a:avLst/>
            </a:prstGeom>
          </p:spPr>
        </p:pic>
        <p:pic>
          <p:nvPicPr>
            <p:cNvPr id="47" name="object 47"/>
            <p:cNvPicPr/>
            <p:nvPr/>
          </p:nvPicPr>
          <p:blipFill>
            <a:blip r:embed="rId22" cstate="print"/>
            <a:stretch>
              <a:fillRect/>
            </a:stretch>
          </p:blipFill>
          <p:spPr>
            <a:xfrm>
              <a:off x="5744094" y="6400799"/>
              <a:ext cx="777239" cy="419792"/>
            </a:xfrm>
            <a:prstGeom prst="rect">
              <a:avLst/>
            </a:prstGeom>
          </p:spPr>
        </p:pic>
        <p:sp>
          <p:nvSpPr>
            <p:cNvPr id="48" name="object 48"/>
            <p:cNvSpPr/>
            <p:nvPr/>
          </p:nvSpPr>
          <p:spPr>
            <a:xfrm>
              <a:off x="5701960" y="6470375"/>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49" name="object 49"/>
          <p:cNvSpPr txBox="1"/>
          <p:nvPr/>
        </p:nvSpPr>
        <p:spPr>
          <a:xfrm>
            <a:off x="7232311" y="6149826"/>
            <a:ext cx="1105535" cy="608965"/>
          </a:xfrm>
          <a:prstGeom prst="rect">
            <a:avLst/>
          </a:prstGeom>
        </p:spPr>
        <p:txBody>
          <a:bodyPr vert="horz" wrap="square" lIns="0" tIns="29845" rIns="0" bIns="0" rtlCol="0">
            <a:spAutoFit/>
          </a:bodyPr>
          <a:lstStyle/>
          <a:p>
            <a:pPr marL="84455">
              <a:spcBef>
                <a:spcPts val="235"/>
              </a:spcBef>
            </a:pPr>
            <a:r>
              <a:rPr dirty="0">
                <a:latin typeface="Arial"/>
                <a:cs typeface="Arial"/>
              </a:rPr>
              <a:t>8</a:t>
            </a:r>
            <a:endParaRPr>
              <a:latin typeface="Arial"/>
              <a:cs typeface="Arial"/>
            </a:endParaRPr>
          </a:p>
          <a:p>
            <a:pPr marL="84455">
              <a:spcBef>
                <a:spcPts val="135"/>
              </a:spcBef>
            </a:pPr>
            <a:r>
              <a:rPr dirty="0">
                <a:latin typeface="Arial"/>
                <a:cs typeface="Arial"/>
              </a:rPr>
              <a:t>9:</a:t>
            </a:r>
            <a:r>
              <a:rPr spc="-5" dirty="0">
                <a:latin typeface="Arial"/>
                <a:cs typeface="Arial"/>
              </a:rPr>
              <a:t> </a:t>
            </a:r>
            <a:r>
              <a:rPr b="1" spc="-25" dirty="0">
                <a:latin typeface="Arial"/>
                <a:cs typeface="Arial"/>
              </a:rPr>
              <a:t>519</a:t>
            </a:r>
            <a:endParaRPr>
              <a:latin typeface="Arial"/>
              <a:cs typeface="Arial"/>
            </a:endParaRPr>
          </a:p>
        </p:txBody>
      </p:sp>
      <p:grpSp>
        <p:nvGrpSpPr>
          <p:cNvPr id="50" name="object 50"/>
          <p:cNvGrpSpPr/>
          <p:nvPr/>
        </p:nvGrpSpPr>
        <p:grpSpPr>
          <a:xfrm>
            <a:off x="4520738" y="4667596"/>
            <a:ext cx="1222375" cy="902335"/>
            <a:chOff x="2996737" y="4667595"/>
            <a:chExt cx="1222375" cy="902335"/>
          </a:xfrm>
        </p:grpSpPr>
        <p:pic>
          <p:nvPicPr>
            <p:cNvPr id="51" name="object 51"/>
            <p:cNvPicPr/>
            <p:nvPr/>
          </p:nvPicPr>
          <p:blipFill>
            <a:blip r:embed="rId23" cstate="print"/>
            <a:stretch>
              <a:fillRect/>
            </a:stretch>
          </p:blipFill>
          <p:spPr>
            <a:xfrm>
              <a:off x="2996737" y="4667595"/>
              <a:ext cx="1221970" cy="901930"/>
            </a:xfrm>
            <a:prstGeom prst="rect">
              <a:avLst/>
            </a:prstGeom>
          </p:spPr>
        </p:pic>
        <p:pic>
          <p:nvPicPr>
            <p:cNvPr id="52" name="object 52"/>
            <p:cNvPicPr/>
            <p:nvPr/>
          </p:nvPicPr>
          <p:blipFill>
            <a:blip r:embed="rId24" cstate="print"/>
            <a:stretch>
              <a:fillRect/>
            </a:stretch>
          </p:blipFill>
          <p:spPr>
            <a:xfrm>
              <a:off x="3117272" y="4771504"/>
              <a:ext cx="1005839" cy="689956"/>
            </a:xfrm>
            <a:prstGeom prst="rect">
              <a:avLst/>
            </a:prstGeom>
          </p:spPr>
        </p:pic>
      </p:grpSp>
      <p:sp>
        <p:nvSpPr>
          <p:cNvPr id="53" name="object 53"/>
          <p:cNvSpPr txBox="1"/>
          <p:nvPr/>
        </p:nvSpPr>
        <p:spPr>
          <a:xfrm>
            <a:off x="4547813" y="4721371"/>
            <a:ext cx="1118235" cy="677750"/>
          </a:xfrm>
          <a:prstGeom prst="rect">
            <a:avLst/>
          </a:prstGeom>
          <a:ln w="12699">
            <a:solidFill>
              <a:srgbClr val="000000"/>
            </a:solidFill>
          </a:ln>
        </p:spPr>
        <p:txBody>
          <a:bodyPr vert="horz" wrap="square" lIns="0" tIns="137795" rIns="0" bIns="0" rtlCol="0">
            <a:spAutoFit/>
          </a:bodyPr>
          <a:lstStyle/>
          <a:p>
            <a:pPr marL="154940" marR="141605" indent="111125">
              <a:lnSpc>
                <a:spcPts val="2100"/>
              </a:lnSpc>
              <a:spcBef>
                <a:spcPts val="1085"/>
              </a:spcBef>
            </a:pPr>
            <a:r>
              <a:rPr i="1" dirty="0">
                <a:latin typeface="Arial"/>
                <a:cs typeface="Arial"/>
              </a:rPr>
              <a:t>h(x)</a:t>
            </a:r>
            <a:r>
              <a:rPr i="1" spc="-5" dirty="0">
                <a:latin typeface="Arial"/>
                <a:cs typeface="Arial"/>
              </a:rPr>
              <a:t> </a:t>
            </a:r>
            <a:r>
              <a:rPr i="1" spc="-50" dirty="0">
                <a:latin typeface="Arial"/>
                <a:cs typeface="Arial"/>
              </a:rPr>
              <a:t>= </a:t>
            </a:r>
            <a:r>
              <a:rPr i="1" spc="-10" dirty="0">
                <a:latin typeface="Arial"/>
                <a:cs typeface="Arial"/>
              </a:rPr>
              <a:t>key%10</a:t>
            </a:r>
            <a:endParaRPr>
              <a:latin typeface="Arial"/>
              <a:cs typeface="Arial"/>
            </a:endParaRPr>
          </a:p>
        </p:txBody>
      </p:sp>
      <p:grpSp>
        <p:nvGrpSpPr>
          <p:cNvPr id="54" name="object 54"/>
          <p:cNvGrpSpPr/>
          <p:nvPr/>
        </p:nvGrpSpPr>
        <p:grpSpPr>
          <a:xfrm>
            <a:off x="2380211" y="4738254"/>
            <a:ext cx="1222375" cy="424180"/>
            <a:chOff x="856210" y="4738254"/>
            <a:chExt cx="1222375" cy="424180"/>
          </a:xfrm>
        </p:grpSpPr>
        <p:pic>
          <p:nvPicPr>
            <p:cNvPr id="55" name="object 55"/>
            <p:cNvPicPr/>
            <p:nvPr/>
          </p:nvPicPr>
          <p:blipFill>
            <a:blip r:embed="rId25" cstate="print"/>
            <a:stretch>
              <a:fillRect/>
            </a:stretch>
          </p:blipFill>
          <p:spPr>
            <a:xfrm>
              <a:off x="856210" y="4759036"/>
              <a:ext cx="1221970" cy="378229"/>
            </a:xfrm>
            <a:prstGeom prst="rect">
              <a:avLst/>
            </a:prstGeom>
          </p:spPr>
        </p:pic>
        <p:pic>
          <p:nvPicPr>
            <p:cNvPr id="56" name="object 56"/>
            <p:cNvPicPr/>
            <p:nvPr/>
          </p:nvPicPr>
          <p:blipFill>
            <a:blip r:embed="rId26" cstate="print"/>
            <a:stretch>
              <a:fillRect/>
            </a:stretch>
          </p:blipFill>
          <p:spPr>
            <a:xfrm>
              <a:off x="1205345" y="4738254"/>
              <a:ext cx="523701" cy="423949"/>
            </a:xfrm>
            <a:prstGeom prst="rect">
              <a:avLst/>
            </a:prstGeom>
          </p:spPr>
        </p:pic>
      </p:grpSp>
      <p:sp>
        <p:nvSpPr>
          <p:cNvPr id="57" name="object 57"/>
          <p:cNvSpPr txBox="1"/>
          <p:nvPr/>
        </p:nvSpPr>
        <p:spPr>
          <a:xfrm>
            <a:off x="2407512" y="4801818"/>
            <a:ext cx="1118235" cy="295910"/>
          </a:xfrm>
          <a:prstGeom prst="rect">
            <a:avLst/>
          </a:prstGeom>
          <a:ln w="12699">
            <a:solidFill>
              <a:srgbClr val="000000"/>
            </a:solidFill>
          </a:ln>
        </p:spPr>
        <p:txBody>
          <a:bodyPr vert="horz" wrap="square" lIns="0" tIns="8890" rIns="0" bIns="0" rtlCol="0">
            <a:spAutoFit/>
          </a:bodyPr>
          <a:lstStyle/>
          <a:p>
            <a:pPr marL="370840">
              <a:spcBef>
                <a:spcPts val="70"/>
              </a:spcBef>
            </a:pPr>
            <a:r>
              <a:rPr spc="-25" dirty="0">
                <a:latin typeface="Arial"/>
                <a:cs typeface="Arial"/>
              </a:rPr>
              <a:t>519</a:t>
            </a:r>
            <a:endParaRPr>
              <a:latin typeface="Arial"/>
              <a:cs typeface="Arial"/>
            </a:endParaRPr>
          </a:p>
        </p:txBody>
      </p:sp>
      <p:grpSp>
        <p:nvGrpSpPr>
          <p:cNvPr id="58" name="object 58"/>
          <p:cNvGrpSpPr/>
          <p:nvPr/>
        </p:nvGrpSpPr>
        <p:grpSpPr>
          <a:xfrm>
            <a:off x="2380211" y="4172989"/>
            <a:ext cx="4845685" cy="2501900"/>
            <a:chOff x="856210" y="4172989"/>
            <a:chExt cx="4845685" cy="2501900"/>
          </a:xfrm>
        </p:grpSpPr>
        <p:sp>
          <p:nvSpPr>
            <p:cNvPr id="59" name="object 59"/>
            <p:cNvSpPr/>
            <p:nvPr/>
          </p:nvSpPr>
          <p:spPr>
            <a:xfrm>
              <a:off x="2001705" y="4947862"/>
              <a:ext cx="994410" cy="170815"/>
            </a:xfrm>
            <a:custGeom>
              <a:avLst/>
              <a:gdLst/>
              <a:ahLst/>
              <a:cxnLst/>
              <a:rect l="l" t="t" r="r" b="b"/>
              <a:pathLst>
                <a:path w="994410" h="170814">
                  <a:moveTo>
                    <a:pt x="0" y="0"/>
                  </a:moveTo>
                  <a:lnTo>
                    <a:pt x="511174" y="0"/>
                  </a:lnTo>
                  <a:lnTo>
                    <a:pt x="511174" y="170656"/>
                  </a:lnTo>
                  <a:lnTo>
                    <a:pt x="993994" y="170656"/>
                  </a:lnTo>
                </a:path>
              </a:pathLst>
            </a:custGeom>
            <a:ln w="28574">
              <a:solidFill>
                <a:srgbClr val="8D8D8D"/>
              </a:solidFill>
            </a:ln>
          </p:spPr>
          <p:txBody>
            <a:bodyPr wrap="square" lIns="0" tIns="0" rIns="0" bIns="0" rtlCol="0"/>
            <a:lstStyle/>
            <a:p>
              <a:endParaRPr/>
            </a:p>
          </p:txBody>
        </p:sp>
        <p:pic>
          <p:nvPicPr>
            <p:cNvPr id="60" name="object 60"/>
            <p:cNvPicPr/>
            <p:nvPr/>
          </p:nvPicPr>
          <p:blipFill>
            <a:blip r:embed="rId27" cstate="print"/>
            <a:stretch>
              <a:fillRect/>
            </a:stretch>
          </p:blipFill>
          <p:spPr>
            <a:xfrm>
              <a:off x="2893658" y="5052194"/>
              <a:ext cx="130397" cy="132647"/>
            </a:xfrm>
            <a:prstGeom prst="rect">
              <a:avLst/>
            </a:prstGeom>
          </p:spPr>
        </p:pic>
        <p:sp>
          <p:nvSpPr>
            <p:cNvPr id="61" name="object 61"/>
            <p:cNvSpPr/>
            <p:nvPr/>
          </p:nvSpPr>
          <p:spPr>
            <a:xfrm>
              <a:off x="4142005" y="5118496"/>
              <a:ext cx="1531620" cy="1490345"/>
            </a:xfrm>
            <a:custGeom>
              <a:avLst/>
              <a:gdLst/>
              <a:ahLst/>
              <a:cxnLst/>
              <a:rect l="l" t="t" r="r" b="b"/>
              <a:pathLst>
                <a:path w="1531620" h="1490345">
                  <a:moveTo>
                    <a:pt x="0" y="0"/>
                  </a:moveTo>
                  <a:lnTo>
                    <a:pt x="780256" y="0"/>
                  </a:lnTo>
                  <a:lnTo>
                    <a:pt x="780256" y="1489868"/>
                  </a:lnTo>
                  <a:lnTo>
                    <a:pt x="1531362" y="1489868"/>
                  </a:lnTo>
                </a:path>
              </a:pathLst>
            </a:custGeom>
            <a:ln w="28574">
              <a:solidFill>
                <a:srgbClr val="8D8D8D"/>
              </a:solidFill>
            </a:ln>
          </p:spPr>
          <p:txBody>
            <a:bodyPr wrap="square" lIns="0" tIns="0" rIns="0" bIns="0" rtlCol="0"/>
            <a:lstStyle/>
            <a:p>
              <a:endParaRPr/>
            </a:p>
          </p:txBody>
        </p:sp>
        <p:pic>
          <p:nvPicPr>
            <p:cNvPr id="62" name="object 62"/>
            <p:cNvPicPr/>
            <p:nvPr/>
          </p:nvPicPr>
          <p:blipFill>
            <a:blip r:embed="rId27" cstate="print"/>
            <a:stretch>
              <a:fillRect/>
            </a:stretch>
          </p:blipFill>
          <p:spPr>
            <a:xfrm>
              <a:off x="5571327" y="6542041"/>
              <a:ext cx="130397" cy="132646"/>
            </a:xfrm>
            <a:prstGeom prst="rect">
              <a:avLst/>
            </a:prstGeom>
          </p:spPr>
        </p:pic>
        <p:pic>
          <p:nvPicPr>
            <p:cNvPr id="63" name="object 63"/>
            <p:cNvPicPr/>
            <p:nvPr/>
          </p:nvPicPr>
          <p:blipFill>
            <a:blip r:embed="rId28" cstate="print"/>
            <a:stretch>
              <a:fillRect/>
            </a:stretch>
          </p:blipFill>
          <p:spPr>
            <a:xfrm>
              <a:off x="856210" y="4189614"/>
              <a:ext cx="1221970" cy="378229"/>
            </a:xfrm>
            <a:prstGeom prst="rect">
              <a:avLst/>
            </a:prstGeom>
          </p:spPr>
        </p:pic>
        <p:pic>
          <p:nvPicPr>
            <p:cNvPr id="64" name="object 64"/>
            <p:cNvPicPr/>
            <p:nvPr/>
          </p:nvPicPr>
          <p:blipFill>
            <a:blip r:embed="rId29" cstate="print"/>
            <a:stretch>
              <a:fillRect/>
            </a:stretch>
          </p:blipFill>
          <p:spPr>
            <a:xfrm>
              <a:off x="1205345" y="4172989"/>
              <a:ext cx="523701" cy="419792"/>
            </a:xfrm>
            <a:prstGeom prst="rect">
              <a:avLst/>
            </a:prstGeom>
          </p:spPr>
        </p:pic>
        <p:sp>
          <p:nvSpPr>
            <p:cNvPr id="65" name="object 65"/>
            <p:cNvSpPr/>
            <p:nvPr/>
          </p:nvSpPr>
          <p:spPr>
            <a:xfrm>
              <a:off x="883511" y="4241601"/>
              <a:ext cx="1118235" cy="276225"/>
            </a:xfrm>
            <a:custGeom>
              <a:avLst/>
              <a:gdLst/>
              <a:ahLst/>
              <a:cxnLst/>
              <a:rect l="l" t="t" r="r" b="b"/>
              <a:pathLst>
                <a:path w="1118235"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66" name="object 66"/>
          <p:cNvSpPr txBox="1"/>
          <p:nvPr/>
        </p:nvSpPr>
        <p:spPr>
          <a:xfrm>
            <a:off x="2407512" y="3949532"/>
            <a:ext cx="1118235" cy="585417"/>
          </a:xfrm>
          <a:prstGeom prst="rect">
            <a:avLst/>
          </a:prstGeom>
          <a:ln w="12699">
            <a:solidFill>
              <a:srgbClr val="000000"/>
            </a:solidFill>
          </a:ln>
        </p:spPr>
        <p:txBody>
          <a:bodyPr vert="horz" wrap="square" lIns="0" tIns="635" rIns="0" bIns="0" rtlCol="0">
            <a:spAutoFit/>
          </a:bodyPr>
          <a:lstStyle/>
          <a:p>
            <a:pPr>
              <a:spcBef>
                <a:spcPts val="5"/>
              </a:spcBef>
            </a:pPr>
            <a:endParaRPr sz="2000">
              <a:latin typeface="Times New Roman"/>
              <a:cs typeface="Times New Roman"/>
            </a:endParaRPr>
          </a:p>
          <a:p>
            <a:pPr marL="370840"/>
            <a:r>
              <a:rPr spc="-25" dirty="0">
                <a:latin typeface="Arial"/>
                <a:cs typeface="Arial"/>
              </a:rPr>
              <a:t>214</a:t>
            </a:r>
            <a:endParaRPr>
              <a:latin typeface="Arial"/>
              <a:cs typeface="Arial"/>
            </a:endParaRPr>
          </a:p>
        </p:txBody>
      </p:sp>
      <p:grpSp>
        <p:nvGrpSpPr>
          <p:cNvPr id="67" name="object 67"/>
          <p:cNvGrpSpPr/>
          <p:nvPr/>
        </p:nvGrpSpPr>
        <p:grpSpPr>
          <a:xfrm>
            <a:off x="3511417" y="4365373"/>
            <a:ext cx="3714750" cy="909319"/>
            <a:chOff x="1987417" y="4365372"/>
            <a:chExt cx="3714750" cy="909319"/>
          </a:xfrm>
        </p:grpSpPr>
        <p:sp>
          <p:nvSpPr>
            <p:cNvPr id="68" name="object 68"/>
            <p:cNvSpPr/>
            <p:nvPr/>
          </p:nvSpPr>
          <p:spPr>
            <a:xfrm>
              <a:off x="2001705" y="4379659"/>
              <a:ext cx="994410" cy="739140"/>
            </a:xfrm>
            <a:custGeom>
              <a:avLst/>
              <a:gdLst/>
              <a:ahLst/>
              <a:cxnLst/>
              <a:rect l="l" t="t" r="r" b="b"/>
              <a:pathLst>
                <a:path w="994410" h="739139">
                  <a:moveTo>
                    <a:pt x="0" y="0"/>
                  </a:moveTo>
                  <a:lnTo>
                    <a:pt x="511174" y="0"/>
                  </a:lnTo>
                  <a:lnTo>
                    <a:pt x="511174" y="738981"/>
                  </a:lnTo>
                  <a:lnTo>
                    <a:pt x="993994" y="738981"/>
                  </a:lnTo>
                </a:path>
              </a:pathLst>
            </a:custGeom>
            <a:ln w="28574">
              <a:solidFill>
                <a:srgbClr val="8D8D8D"/>
              </a:solidFill>
            </a:ln>
          </p:spPr>
          <p:txBody>
            <a:bodyPr wrap="square" lIns="0" tIns="0" rIns="0" bIns="0" rtlCol="0"/>
            <a:lstStyle/>
            <a:p>
              <a:endParaRPr/>
            </a:p>
          </p:txBody>
        </p:sp>
        <p:pic>
          <p:nvPicPr>
            <p:cNvPr id="69" name="object 69"/>
            <p:cNvPicPr/>
            <p:nvPr/>
          </p:nvPicPr>
          <p:blipFill>
            <a:blip r:embed="rId27" cstate="print"/>
            <a:stretch>
              <a:fillRect/>
            </a:stretch>
          </p:blipFill>
          <p:spPr>
            <a:xfrm>
              <a:off x="2893658" y="5052317"/>
              <a:ext cx="130397" cy="132647"/>
            </a:xfrm>
            <a:prstGeom prst="rect">
              <a:avLst/>
            </a:prstGeom>
          </p:spPr>
        </p:pic>
        <p:sp>
          <p:nvSpPr>
            <p:cNvPr id="70" name="object 70"/>
            <p:cNvSpPr/>
            <p:nvPr/>
          </p:nvSpPr>
          <p:spPr>
            <a:xfrm>
              <a:off x="4142005" y="5118496"/>
              <a:ext cx="1531620" cy="90170"/>
            </a:xfrm>
            <a:custGeom>
              <a:avLst/>
              <a:gdLst/>
              <a:ahLst/>
              <a:cxnLst/>
              <a:rect l="l" t="t" r="r" b="b"/>
              <a:pathLst>
                <a:path w="1531620" h="90170">
                  <a:moveTo>
                    <a:pt x="0" y="0"/>
                  </a:moveTo>
                  <a:lnTo>
                    <a:pt x="780256" y="0"/>
                  </a:lnTo>
                  <a:lnTo>
                    <a:pt x="780256" y="89693"/>
                  </a:lnTo>
                  <a:lnTo>
                    <a:pt x="1531362" y="89693"/>
                  </a:lnTo>
                </a:path>
              </a:pathLst>
            </a:custGeom>
            <a:ln w="28574">
              <a:solidFill>
                <a:srgbClr val="8D8D8D"/>
              </a:solidFill>
            </a:ln>
          </p:spPr>
          <p:txBody>
            <a:bodyPr wrap="square" lIns="0" tIns="0" rIns="0" bIns="0" rtlCol="0"/>
            <a:lstStyle/>
            <a:p>
              <a:endParaRPr/>
            </a:p>
          </p:txBody>
        </p:sp>
        <p:pic>
          <p:nvPicPr>
            <p:cNvPr id="71" name="object 71"/>
            <p:cNvPicPr/>
            <p:nvPr/>
          </p:nvPicPr>
          <p:blipFill>
            <a:blip r:embed="rId27" cstate="print"/>
            <a:stretch>
              <a:fillRect/>
            </a:stretch>
          </p:blipFill>
          <p:spPr>
            <a:xfrm>
              <a:off x="5571327" y="5141866"/>
              <a:ext cx="130397" cy="132646"/>
            </a:xfrm>
            <a:prstGeom prst="rect">
              <a:avLst/>
            </a:prstGeom>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39" y="1785620"/>
            <a:ext cx="2364740" cy="452120"/>
          </a:xfrm>
          <a:prstGeom prst="rect">
            <a:avLst/>
          </a:prstGeom>
        </p:spPr>
        <p:txBody>
          <a:bodyPr vert="horz" wrap="square" lIns="0" tIns="12700" rIns="0" bIns="0" rtlCol="0">
            <a:spAutoFit/>
          </a:bodyPr>
          <a:lstStyle/>
          <a:p>
            <a:pPr marL="354965" indent="-342265">
              <a:spcBef>
                <a:spcPts val="100"/>
              </a:spcBef>
              <a:buFont typeface="Arial"/>
              <a:buChar char="•"/>
              <a:tabLst>
                <a:tab pos="354965" algn="l"/>
                <a:tab pos="355600" algn="l"/>
              </a:tabLst>
            </a:pPr>
            <a:r>
              <a:rPr sz="2800" b="1" spc="-10" dirty="0">
                <a:latin typeface="Arial"/>
                <a:cs typeface="Arial"/>
              </a:rPr>
              <a:t>insert(1001)</a:t>
            </a:r>
            <a:endParaRPr sz="2800">
              <a:latin typeface="Arial"/>
              <a:cs typeface="Arial"/>
            </a:endParaRPr>
          </a:p>
        </p:txBody>
      </p:sp>
      <p:sp>
        <p:nvSpPr>
          <p:cNvPr id="3" name="object 3"/>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spc="-10" dirty="0"/>
              <a:t>HASH</a:t>
            </a:r>
            <a:r>
              <a:rPr spc="-275" dirty="0"/>
              <a:t> </a:t>
            </a:r>
            <a:r>
              <a:rPr spc="-60" dirty="0"/>
              <a:t>EXAMPLE</a:t>
            </a:r>
          </a:p>
        </p:txBody>
      </p:sp>
      <p:grpSp>
        <p:nvGrpSpPr>
          <p:cNvPr id="4" name="object 4"/>
          <p:cNvGrpSpPr/>
          <p:nvPr/>
        </p:nvGrpSpPr>
        <p:grpSpPr>
          <a:xfrm>
            <a:off x="7197436" y="4168833"/>
            <a:ext cx="1222375" cy="424180"/>
            <a:chOff x="5673435" y="4168833"/>
            <a:chExt cx="1222375" cy="424180"/>
          </a:xfrm>
        </p:grpSpPr>
        <p:pic>
          <p:nvPicPr>
            <p:cNvPr id="5" name="object 5"/>
            <p:cNvPicPr/>
            <p:nvPr/>
          </p:nvPicPr>
          <p:blipFill>
            <a:blip r:embed="rId2" cstate="print"/>
            <a:stretch>
              <a:fillRect/>
            </a:stretch>
          </p:blipFill>
          <p:spPr>
            <a:xfrm>
              <a:off x="5673435" y="4189614"/>
              <a:ext cx="1221970" cy="378229"/>
            </a:xfrm>
            <a:prstGeom prst="rect">
              <a:avLst/>
            </a:prstGeom>
          </p:spPr>
        </p:pic>
        <p:pic>
          <p:nvPicPr>
            <p:cNvPr id="6" name="object 6"/>
            <p:cNvPicPr/>
            <p:nvPr/>
          </p:nvPicPr>
          <p:blipFill>
            <a:blip r:embed="rId3" cstate="print"/>
            <a:stretch>
              <a:fillRect/>
            </a:stretch>
          </p:blipFill>
          <p:spPr>
            <a:xfrm>
              <a:off x="5744094" y="4168833"/>
              <a:ext cx="270163" cy="423949"/>
            </a:xfrm>
            <a:prstGeom prst="rect">
              <a:avLst/>
            </a:prstGeom>
          </p:spPr>
        </p:pic>
        <p:sp>
          <p:nvSpPr>
            <p:cNvPr id="7" name="object 7"/>
            <p:cNvSpPr/>
            <p:nvPr/>
          </p:nvSpPr>
          <p:spPr>
            <a:xfrm>
              <a:off x="5701960" y="4241064"/>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8" name="object 8"/>
          <p:cNvSpPr txBox="1"/>
          <p:nvPr/>
        </p:nvSpPr>
        <p:spPr>
          <a:xfrm>
            <a:off x="7232311" y="4229262"/>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1</a:t>
            </a:r>
            <a:endParaRPr>
              <a:latin typeface="Arial"/>
              <a:cs typeface="Arial"/>
            </a:endParaRPr>
          </a:p>
        </p:txBody>
      </p:sp>
      <p:grpSp>
        <p:nvGrpSpPr>
          <p:cNvPr id="9" name="object 9"/>
          <p:cNvGrpSpPr/>
          <p:nvPr/>
        </p:nvGrpSpPr>
        <p:grpSpPr>
          <a:xfrm>
            <a:off x="2380211" y="3877888"/>
            <a:ext cx="6039485" cy="2914015"/>
            <a:chOff x="856210" y="3877887"/>
            <a:chExt cx="6039485" cy="2914015"/>
          </a:xfrm>
        </p:grpSpPr>
        <p:pic>
          <p:nvPicPr>
            <p:cNvPr id="10" name="object 10"/>
            <p:cNvPicPr/>
            <p:nvPr/>
          </p:nvPicPr>
          <p:blipFill>
            <a:blip r:embed="rId4" cstate="print"/>
            <a:stretch>
              <a:fillRect/>
            </a:stretch>
          </p:blipFill>
          <p:spPr>
            <a:xfrm>
              <a:off x="5673435" y="3898668"/>
              <a:ext cx="1221970" cy="378229"/>
            </a:xfrm>
            <a:prstGeom prst="rect">
              <a:avLst/>
            </a:prstGeom>
          </p:spPr>
        </p:pic>
        <p:pic>
          <p:nvPicPr>
            <p:cNvPr id="11" name="object 11"/>
            <p:cNvPicPr/>
            <p:nvPr/>
          </p:nvPicPr>
          <p:blipFill>
            <a:blip r:embed="rId5" cstate="print"/>
            <a:stretch>
              <a:fillRect/>
            </a:stretch>
          </p:blipFill>
          <p:spPr>
            <a:xfrm>
              <a:off x="5744094" y="3877887"/>
              <a:ext cx="270163" cy="423949"/>
            </a:xfrm>
            <a:prstGeom prst="rect">
              <a:avLst/>
            </a:prstGeom>
          </p:spPr>
        </p:pic>
        <p:sp>
          <p:nvSpPr>
            <p:cNvPr id="12" name="object 12"/>
            <p:cNvSpPr/>
            <p:nvPr/>
          </p:nvSpPr>
          <p:spPr>
            <a:xfrm>
              <a:off x="5701960" y="3949531"/>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13" name="object 13"/>
            <p:cNvPicPr/>
            <p:nvPr/>
          </p:nvPicPr>
          <p:blipFill>
            <a:blip r:embed="rId6" cstate="print"/>
            <a:stretch>
              <a:fillRect/>
            </a:stretch>
          </p:blipFill>
          <p:spPr>
            <a:xfrm>
              <a:off x="856210" y="3898669"/>
              <a:ext cx="1221970" cy="2892828"/>
            </a:xfrm>
            <a:prstGeom prst="rect">
              <a:avLst/>
            </a:prstGeom>
          </p:spPr>
        </p:pic>
        <p:sp>
          <p:nvSpPr>
            <p:cNvPr id="14" name="object 14"/>
            <p:cNvSpPr/>
            <p:nvPr/>
          </p:nvSpPr>
          <p:spPr>
            <a:xfrm>
              <a:off x="883511" y="3949531"/>
              <a:ext cx="1118235" cy="2791460"/>
            </a:xfrm>
            <a:custGeom>
              <a:avLst/>
              <a:gdLst/>
              <a:ahLst/>
              <a:cxnLst/>
              <a:rect l="l" t="t" r="r" b="b"/>
              <a:pathLst>
                <a:path w="1118235" h="2791459">
                  <a:moveTo>
                    <a:pt x="0" y="0"/>
                  </a:moveTo>
                  <a:lnTo>
                    <a:pt x="1118193" y="0"/>
                  </a:lnTo>
                  <a:lnTo>
                    <a:pt x="1118193" y="2790885"/>
                  </a:lnTo>
                  <a:lnTo>
                    <a:pt x="0" y="2790885"/>
                  </a:lnTo>
                  <a:lnTo>
                    <a:pt x="0" y="0"/>
                  </a:lnTo>
                  <a:close/>
                </a:path>
              </a:pathLst>
            </a:custGeom>
            <a:ln w="12699">
              <a:solidFill>
                <a:srgbClr val="000000"/>
              </a:solidFill>
            </a:ln>
          </p:spPr>
          <p:txBody>
            <a:bodyPr wrap="square" lIns="0" tIns="0" rIns="0" bIns="0" rtlCol="0"/>
            <a:lstStyle/>
            <a:p>
              <a:endParaRPr/>
            </a:p>
          </p:txBody>
        </p:sp>
      </p:grpSp>
      <p:sp>
        <p:nvSpPr>
          <p:cNvPr id="15" name="object 15"/>
          <p:cNvSpPr txBox="1"/>
          <p:nvPr/>
        </p:nvSpPr>
        <p:spPr>
          <a:xfrm>
            <a:off x="7232311" y="3937729"/>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0</a:t>
            </a:r>
            <a:endParaRPr>
              <a:latin typeface="Arial"/>
              <a:cs typeface="Arial"/>
            </a:endParaRPr>
          </a:p>
        </p:txBody>
      </p:sp>
      <p:grpSp>
        <p:nvGrpSpPr>
          <p:cNvPr id="16" name="object 16"/>
          <p:cNvGrpSpPr/>
          <p:nvPr/>
        </p:nvGrpSpPr>
        <p:grpSpPr>
          <a:xfrm>
            <a:off x="7197436" y="4447308"/>
            <a:ext cx="1222375" cy="420370"/>
            <a:chOff x="5673435" y="4447308"/>
            <a:chExt cx="1222375" cy="420370"/>
          </a:xfrm>
        </p:grpSpPr>
        <p:pic>
          <p:nvPicPr>
            <p:cNvPr id="17" name="object 17"/>
            <p:cNvPicPr/>
            <p:nvPr/>
          </p:nvPicPr>
          <p:blipFill>
            <a:blip r:embed="rId7" cstate="print"/>
            <a:stretch>
              <a:fillRect/>
            </a:stretch>
          </p:blipFill>
          <p:spPr>
            <a:xfrm>
              <a:off x="5673435" y="4463934"/>
              <a:ext cx="1221970" cy="382385"/>
            </a:xfrm>
            <a:prstGeom prst="rect">
              <a:avLst/>
            </a:prstGeom>
          </p:spPr>
        </p:pic>
        <p:pic>
          <p:nvPicPr>
            <p:cNvPr id="18" name="object 18"/>
            <p:cNvPicPr/>
            <p:nvPr/>
          </p:nvPicPr>
          <p:blipFill>
            <a:blip r:embed="rId8" cstate="print"/>
            <a:stretch>
              <a:fillRect/>
            </a:stretch>
          </p:blipFill>
          <p:spPr>
            <a:xfrm>
              <a:off x="5744094" y="4447308"/>
              <a:ext cx="270163" cy="419792"/>
            </a:xfrm>
            <a:prstGeom prst="rect">
              <a:avLst/>
            </a:prstGeom>
          </p:spPr>
        </p:pic>
      </p:grpSp>
      <p:sp>
        <p:nvSpPr>
          <p:cNvPr id="19" name="object 19"/>
          <p:cNvSpPr txBox="1"/>
          <p:nvPr/>
        </p:nvSpPr>
        <p:spPr>
          <a:xfrm>
            <a:off x="7225961" y="4517448"/>
            <a:ext cx="1118235" cy="284480"/>
          </a:xfrm>
          <a:prstGeom prst="rect">
            <a:avLst/>
          </a:prstGeom>
          <a:ln w="12699">
            <a:solidFill>
              <a:srgbClr val="000000"/>
            </a:solidFill>
          </a:ln>
        </p:spPr>
        <p:txBody>
          <a:bodyPr vert="horz" wrap="square" lIns="0" tIns="1270" rIns="0" bIns="0" rtlCol="0">
            <a:spAutoFit/>
          </a:bodyPr>
          <a:lstStyle/>
          <a:p>
            <a:pPr marL="90805">
              <a:spcBef>
                <a:spcPts val="10"/>
              </a:spcBef>
            </a:pPr>
            <a:r>
              <a:rPr dirty="0">
                <a:latin typeface="Arial"/>
                <a:cs typeface="Arial"/>
              </a:rPr>
              <a:t>2</a:t>
            </a:r>
            <a:endParaRPr>
              <a:latin typeface="Arial"/>
              <a:cs typeface="Arial"/>
            </a:endParaRPr>
          </a:p>
        </p:txBody>
      </p:sp>
      <p:grpSp>
        <p:nvGrpSpPr>
          <p:cNvPr id="20" name="object 20"/>
          <p:cNvGrpSpPr/>
          <p:nvPr/>
        </p:nvGrpSpPr>
        <p:grpSpPr>
          <a:xfrm>
            <a:off x="7197436" y="4721628"/>
            <a:ext cx="1222375" cy="424180"/>
            <a:chOff x="5673435" y="4721628"/>
            <a:chExt cx="1222375" cy="424180"/>
          </a:xfrm>
        </p:grpSpPr>
        <p:pic>
          <p:nvPicPr>
            <p:cNvPr id="21" name="object 21"/>
            <p:cNvPicPr/>
            <p:nvPr/>
          </p:nvPicPr>
          <p:blipFill>
            <a:blip r:embed="rId9" cstate="print"/>
            <a:stretch>
              <a:fillRect/>
            </a:stretch>
          </p:blipFill>
          <p:spPr>
            <a:xfrm>
              <a:off x="5673435" y="4742410"/>
              <a:ext cx="1221970" cy="378229"/>
            </a:xfrm>
            <a:prstGeom prst="rect">
              <a:avLst/>
            </a:prstGeom>
          </p:spPr>
        </p:pic>
        <p:pic>
          <p:nvPicPr>
            <p:cNvPr id="22" name="object 22"/>
            <p:cNvPicPr/>
            <p:nvPr/>
          </p:nvPicPr>
          <p:blipFill>
            <a:blip r:embed="rId10" cstate="print"/>
            <a:stretch>
              <a:fillRect/>
            </a:stretch>
          </p:blipFill>
          <p:spPr>
            <a:xfrm>
              <a:off x="5744094" y="4721628"/>
              <a:ext cx="270163" cy="423949"/>
            </a:xfrm>
            <a:prstGeom prst="rect">
              <a:avLst/>
            </a:prstGeom>
          </p:spPr>
        </p:pic>
      </p:grpSp>
      <p:sp>
        <p:nvSpPr>
          <p:cNvPr id="23" name="object 23"/>
          <p:cNvSpPr txBox="1"/>
          <p:nvPr/>
        </p:nvSpPr>
        <p:spPr>
          <a:xfrm>
            <a:off x="7225961" y="4801818"/>
            <a:ext cx="1118235" cy="269304"/>
          </a:xfrm>
          <a:prstGeom prst="rect">
            <a:avLst/>
          </a:prstGeom>
          <a:ln w="12699">
            <a:solidFill>
              <a:srgbClr val="000000"/>
            </a:solidFill>
          </a:ln>
        </p:spPr>
        <p:txBody>
          <a:bodyPr vert="horz" wrap="square" lIns="0" tIns="0" rIns="0" bIns="0" rtlCol="0">
            <a:spAutoFit/>
          </a:bodyPr>
          <a:lstStyle/>
          <a:p>
            <a:pPr marL="90805">
              <a:lnSpc>
                <a:spcPts val="2105"/>
              </a:lnSpc>
            </a:pPr>
            <a:r>
              <a:rPr dirty="0">
                <a:latin typeface="Arial"/>
                <a:cs typeface="Arial"/>
              </a:rPr>
              <a:t>3</a:t>
            </a:r>
            <a:endParaRPr>
              <a:latin typeface="Arial"/>
              <a:cs typeface="Arial"/>
            </a:endParaRPr>
          </a:p>
        </p:txBody>
      </p:sp>
      <p:grpSp>
        <p:nvGrpSpPr>
          <p:cNvPr id="24" name="object 24"/>
          <p:cNvGrpSpPr/>
          <p:nvPr/>
        </p:nvGrpSpPr>
        <p:grpSpPr>
          <a:xfrm>
            <a:off x="7197436" y="5000104"/>
            <a:ext cx="1222375" cy="420370"/>
            <a:chOff x="5673435" y="5000104"/>
            <a:chExt cx="1222375" cy="420370"/>
          </a:xfrm>
        </p:grpSpPr>
        <p:pic>
          <p:nvPicPr>
            <p:cNvPr id="25" name="object 25"/>
            <p:cNvPicPr/>
            <p:nvPr/>
          </p:nvPicPr>
          <p:blipFill>
            <a:blip r:embed="rId11" cstate="print"/>
            <a:stretch>
              <a:fillRect/>
            </a:stretch>
          </p:blipFill>
          <p:spPr>
            <a:xfrm>
              <a:off x="5673435" y="5016731"/>
              <a:ext cx="1221970" cy="382385"/>
            </a:xfrm>
            <a:prstGeom prst="rect">
              <a:avLst/>
            </a:prstGeom>
          </p:spPr>
        </p:pic>
        <p:pic>
          <p:nvPicPr>
            <p:cNvPr id="26" name="object 26"/>
            <p:cNvPicPr/>
            <p:nvPr/>
          </p:nvPicPr>
          <p:blipFill>
            <a:blip r:embed="rId12" cstate="print"/>
            <a:stretch>
              <a:fillRect/>
            </a:stretch>
          </p:blipFill>
          <p:spPr>
            <a:xfrm>
              <a:off x="5744094" y="5000104"/>
              <a:ext cx="777239" cy="419792"/>
            </a:xfrm>
            <a:prstGeom prst="rect">
              <a:avLst/>
            </a:prstGeom>
          </p:spPr>
        </p:pic>
        <p:sp>
          <p:nvSpPr>
            <p:cNvPr id="27" name="object 27"/>
            <p:cNvSpPr/>
            <p:nvPr/>
          </p:nvSpPr>
          <p:spPr>
            <a:xfrm>
              <a:off x="5701960" y="5070486"/>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28" name="object 28"/>
          <p:cNvSpPr txBox="1"/>
          <p:nvPr/>
        </p:nvSpPr>
        <p:spPr>
          <a:xfrm>
            <a:off x="7232311" y="5058683"/>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4:</a:t>
            </a:r>
            <a:r>
              <a:rPr spc="-5" dirty="0">
                <a:latin typeface="Arial"/>
                <a:cs typeface="Arial"/>
              </a:rPr>
              <a:t> </a:t>
            </a:r>
            <a:r>
              <a:rPr b="1" spc="-25" dirty="0">
                <a:latin typeface="Arial"/>
                <a:cs typeface="Arial"/>
              </a:rPr>
              <a:t>214</a:t>
            </a:r>
            <a:endParaRPr>
              <a:latin typeface="Arial"/>
              <a:cs typeface="Arial"/>
            </a:endParaRPr>
          </a:p>
        </p:txBody>
      </p:sp>
      <p:grpSp>
        <p:nvGrpSpPr>
          <p:cNvPr id="29" name="object 29"/>
          <p:cNvGrpSpPr/>
          <p:nvPr/>
        </p:nvGrpSpPr>
        <p:grpSpPr>
          <a:xfrm>
            <a:off x="7197436" y="5278581"/>
            <a:ext cx="1222375" cy="424180"/>
            <a:chOff x="5673435" y="5278581"/>
            <a:chExt cx="1222375" cy="424180"/>
          </a:xfrm>
        </p:grpSpPr>
        <p:pic>
          <p:nvPicPr>
            <p:cNvPr id="30" name="object 30"/>
            <p:cNvPicPr/>
            <p:nvPr/>
          </p:nvPicPr>
          <p:blipFill>
            <a:blip r:embed="rId13" cstate="print"/>
            <a:stretch>
              <a:fillRect/>
            </a:stretch>
          </p:blipFill>
          <p:spPr>
            <a:xfrm>
              <a:off x="5673435" y="5299363"/>
              <a:ext cx="1221970" cy="378229"/>
            </a:xfrm>
            <a:prstGeom prst="rect">
              <a:avLst/>
            </a:prstGeom>
          </p:spPr>
        </p:pic>
        <p:pic>
          <p:nvPicPr>
            <p:cNvPr id="31" name="object 31"/>
            <p:cNvPicPr/>
            <p:nvPr/>
          </p:nvPicPr>
          <p:blipFill>
            <a:blip r:embed="rId14" cstate="print"/>
            <a:stretch>
              <a:fillRect/>
            </a:stretch>
          </p:blipFill>
          <p:spPr>
            <a:xfrm>
              <a:off x="5744094" y="5278581"/>
              <a:ext cx="270163" cy="423949"/>
            </a:xfrm>
            <a:prstGeom prst="rect">
              <a:avLst/>
            </a:prstGeom>
          </p:spPr>
        </p:pic>
        <p:sp>
          <p:nvSpPr>
            <p:cNvPr id="32" name="object 32"/>
            <p:cNvSpPr/>
            <p:nvPr/>
          </p:nvSpPr>
          <p:spPr>
            <a:xfrm>
              <a:off x="5701960" y="5349421"/>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33" name="object 33"/>
          <p:cNvSpPr txBox="1"/>
          <p:nvPr/>
        </p:nvSpPr>
        <p:spPr>
          <a:xfrm>
            <a:off x="7232311" y="5337618"/>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5</a:t>
            </a:r>
            <a:endParaRPr>
              <a:latin typeface="Arial"/>
              <a:cs typeface="Arial"/>
            </a:endParaRPr>
          </a:p>
        </p:txBody>
      </p:sp>
      <p:grpSp>
        <p:nvGrpSpPr>
          <p:cNvPr id="34" name="object 34"/>
          <p:cNvGrpSpPr/>
          <p:nvPr/>
        </p:nvGrpSpPr>
        <p:grpSpPr>
          <a:xfrm>
            <a:off x="7197436" y="5557058"/>
            <a:ext cx="1222375" cy="420370"/>
            <a:chOff x="5673435" y="5557058"/>
            <a:chExt cx="1222375" cy="420370"/>
          </a:xfrm>
        </p:grpSpPr>
        <p:pic>
          <p:nvPicPr>
            <p:cNvPr id="35" name="object 35"/>
            <p:cNvPicPr/>
            <p:nvPr/>
          </p:nvPicPr>
          <p:blipFill>
            <a:blip r:embed="rId15" cstate="print"/>
            <a:stretch>
              <a:fillRect/>
            </a:stretch>
          </p:blipFill>
          <p:spPr>
            <a:xfrm>
              <a:off x="5673435" y="5573683"/>
              <a:ext cx="1221970" cy="382385"/>
            </a:xfrm>
            <a:prstGeom prst="rect">
              <a:avLst/>
            </a:prstGeom>
          </p:spPr>
        </p:pic>
        <p:pic>
          <p:nvPicPr>
            <p:cNvPr id="36" name="object 36"/>
            <p:cNvPicPr/>
            <p:nvPr/>
          </p:nvPicPr>
          <p:blipFill>
            <a:blip r:embed="rId16" cstate="print"/>
            <a:stretch>
              <a:fillRect/>
            </a:stretch>
          </p:blipFill>
          <p:spPr>
            <a:xfrm>
              <a:off x="5744094" y="5557058"/>
              <a:ext cx="270163" cy="419792"/>
            </a:xfrm>
            <a:prstGeom prst="rect">
              <a:avLst/>
            </a:prstGeom>
          </p:spPr>
        </p:pic>
      </p:grpSp>
      <p:sp>
        <p:nvSpPr>
          <p:cNvPr id="37" name="object 37"/>
          <p:cNvSpPr txBox="1"/>
          <p:nvPr/>
        </p:nvSpPr>
        <p:spPr>
          <a:xfrm>
            <a:off x="7225961" y="5625804"/>
            <a:ext cx="1118235" cy="276860"/>
          </a:xfrm>
          <a:prstGeom prst="rect">
            <a:avLst/>
          </a:prstGeom>
          <a:ln w="12699">
            <a:solidFill>
              <a:srgbClr val="000000"/>
            </a:solidFill>
          </a:ln>
        </p:spPr>
        <p:txBody>
          <a:bodyPr vert="horz" wrap="square" lIns="0" tIns="1270" rIns="0" bIns="0" rtlCol="0">
            <a:spAutoFit/>
          </a:bodyPr>
          <a:lstStyle/>
          <a:p>
            <a:pPr marL="90805">
              <a:spcBef>
                <a:spcPts val="10"/>
              </a:spcBef>
            </a:pPr>
            <a:r>
              <a:rPr dirty="0">
                <a:latin typeface="Arial"/>
                <a:cs typeface="Arial"/>
              </a:rPr>
              <a:t>6</a:t>
            </a:r>
            <a:endParaRPr>
              <a:latin typeface="Arial"/>
              <a:cs typeface="Arial"/>
            </a:endParaRPr>
          </a:p>
        </p:txBody>
      </p:sp>
      <p:grpSp>
        <p:nvGrpSpPr>
          <p:cNvPr id="38" name="object 38"/>
          <p:cNvGrpSpPr/>
          <p:nvPr/>
        </p:nvGrpSpPr>
        <p:grpSpPr>
          <a:xfrm>
            <a:off x="7197436" y="5831377"/>
            <a:ext cx="1222375" cy="424180"/>
            <a:chOff x="5673435" y="5831377"/>
            <a:chExt cx="1222375" cy="424180"/>
          </a:xfrm>
        </p:grpSpPr>
        <p:pic>
          <p:nvPicPr>
            <p:cNvPr id="39" name="object 39"/>
            <p:cNvPicPr/>
            <p:nvPr/>
          </p:nvPicPr>
          <p:blipFill>
            <a:blip r:embed="rId17" cstate="print"/>
            <a:stretch>
              <a:fillRect/>
            </a:stretch>
          </p:blipFill>
          <p:spPr>
            <a:xfrm>
              <a:off x="5673435" y="5852159"/>
              <a:ext cx="1221970" cy="378229"/>
            </a:xfrm>
            <a:prstGeom prst="rect">
              <a:avLst/>
            </a:prstGeom>
          </p:spPr>
        </p:pic>
        <p:pic>
          <p:nvPicPr>
            <p:cNvPr id="40" name="object 40"/>
            <p:cNvPicPr/>
            <p:nvPr/>
          </p:nvPicPr>
          <p:blipFill>
            <a:blip r:embed="rId18" cstate="print"/>
            <a:stretch>
              <a:fillRect/>
            </a:stretch>
          </p:blipFill>
          <p:spPr>
            <a:xfrm>
              <a:off x="5744094" y="5831377"/>
              <a:ext cx="270163" cy="423949"/>
            </a:xfrm>
            <a:prstGeom prst="rect">
              <a:avLst/>
            </a:prstGeom>
          </p:spPr>
        </p:pic>
      </p:grpSp>
      <p:sp>
        <p:nvSpPr>
          <p:cNvPr id="41" name="object 41"/>
          <p:cNvSpPr txBox="1"/>
          <p:nvPr/>
        </p:nvSpPr>
        <p:spPr>
          <a:xfrm>
            <a:off x="7225961" y="5902188"/>
            <a:ext cx="1118235" cy="276860"/>
          </a:xfrm>
          <a:prstGeom prst="rect">
            <a:avLst/>
          </a:prstGeom>
          <a:ln w="12699">
            <a:solidFill>
              <a:srgbClr val="000000"/>
            </a:solidFill>
          </a:ln>
        </p:spPr>
        <p:txBody>
          <a:bodyPr vert="horz" wrap="square" lIns="0" tIns="635" rIns="0" bIns="0" rtlCol="0">
            <a:spAutoFit/>
          </a:bodyPr>
          <a:lstStyle/>
          <a:p>
            <a:pPr marL="90805">
              <a:spcBef>
                <a:spcPts val="5"/>
              </a:spcBef>
            </a:pPr>
            <a:r>
              <a:rPr dirty="0">
                <a:latin typeface="Arial"/>
                <a:cs typeface="Arial"/>
              </a:rPr>
              <a:t>7</a:t>
            </a:r>
            <a:endParaRPr>
              <a:latin typeface="Arial"/>
              <a:cs typeface="Arial"/>
            </a:endParaRPr>
          </a:p>
        </p:txBody>
      </p:sp>
      <p:grpSp>
        <p:nvGrpSpPr>
          <p:cNvPr id="42" name="object 42"/>
          <p:cNvGrpSpPr/>
          <p:nvPr/>
        </p:nvGrpSpPr>
        <p:grpSpPr>
          <a:xfrm>
            <a:off x="7197436" y="6109854"/>
            <a:ext cx="1222375" cy="420370"/>
            <a:chOff x="5673435" y="6109854"/>
            <a:chExt cx="1222375" cy="420370"/>
          </a:xfrm>
        </p:grpSpPr>
        <p:pic>
          <p:nvPicPr>
            <p:cNvPr id="43" name="object 43"/>
            <p:cNvPicPr/>
            <p:nvPr/>
          </p:nvPicPr>
          <p:blipFill>
            <a:blip r:embed="rId19" cstate="print"/>
            <a:stretch>
              <a:fillRect/>
            </a:stretch>
          </p:blipFill>
          <p:spPr>
            <a:xfrm>
              <a:off x="5673435" y="6126480"/>
              <a:ext cx="1221970" cy="382385"/>
            </a:xfrm>
            <a:prstGeom prst="rect">
              <a:avLst/>
            </a:prstGeom>
          </p:spPr>
        </p:pic>
        <p:pic>
          <p:nvPicPr>
            <p:cNvPr id="44" name="object 44"/>
            <p:cNvPicPr/>
            <p:nvPr/>
          </p:nvPicPr>
          <p:blipFill>
            <a:blip r:embed="rId20" cstate="print"/>
            <a:stretch>
              <a:fillRect/>
            </a:stretch>
          </p:blipFill>
          <p:spPr>
            <a:xfrm>
              <a:off x="5744094" y="6109854"/>
              <a:ext cx="270163" cy="419792"/>
            </a:xfrm>
            <a:prstGeom prst="rect">
              <a:avLst/>
            </a:prstGeom>
          </p:spPr>
        </p:pic>
        <p:sp>
          <p:nvSpPr>
            <p:cNvPr id="45" name="object 45"/>
            <p:cNvSpPr/>
            <p:nvPr/>
          </p:nvSpPr>
          <p:spPr>
            <a:xfrm>
              <a:off x="5701960" y="6178842"/>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46" name="object 46"/>
          <p:cNvSpPr txBox="1"/>
          <p:nvPr/>
        </p:nvSpPr>
        <p:spPr>
          <a:xfrm>
            <a:off x="7232311" y="6167039"/>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8</a:t>
            </a:r>
            <a:endParaRPr>
              <a:latin typeface="Arial"/>
              <a:cs typeface="Arial"/>
            </a:endParaRPr>
          </a:p>
        </p:txBody>
      </p:sp>
      <p:grpSp>
        <p:nvGrpSpPr>
          <p:cNvPr id="47" name="object 47"/>
          <p:cNvGrpSpPr/>
          <p:nvPr/>
        </p:nvGrpSpPr>
        <p:grpSpPr>
          <a:xfrm>
            <a:off x="7197436" y="6400800"/>
            <a:ext cx="1222375" cy="420370"/>
            <a:chOff x="5673435" y="6400800"/>
            <a:chExt cx="1222375" cy="420370"/>
          </a:xfrm>
        </p:grpSpPr>
        <p:pic>
          <p:nvPicPr>
            <p:cNvPr id="48" name="object 48"/>
            <p:cNvPicPr/>
            <p:nvPr/>
          </p:nvPicPr>
          <p:blipFill>
            <a:blip r:embed="rId21" cstate="print"/>
            <a:stretch>
              <a:fillRect/>
            </a:stretch>
          </p:blipFill>
          <p:spPr>
            <a:xfrm>
              <a:off x="5673435" y="6417425"/>
              <a:ext cx="1221970" cy="382385"/>
            </a:xfrm>
            <a:prstGeom prst="rect">
              <a:avLst/>
            </a:prstGeom>
          </p:spPr>
        </p:pic>
        <p:pic>
          <p:nvPicPr>
            <p:cNvPr id="49" name="object 49"/>
            <p:cNvPicPr/>
            <p:nvPr/>
          </p:nvPicPr>
          <p:blipFill>
            <a:blip r:embed="rId22" cstate="print"/>
            <a:stretch>
              <a:fillRect/>
            </a:stretch>
          </p:blipFill>
          <p:spPr>
            <a:xfrm>
              <a:off x="5744094" y="6400800"/>
              <a:ext cx="777239" cy="419792"/>
            </a:xfrm>
            <a:prstGeom prst="rect">
              <a:avLst/>
            </a:prstGeom>
          </p:spPr>
        </p:pic>
        <p:sp>
          <p:nvSpPr>
            <p:cNvPr id="50" name="object 50"/>
            <p:cNvSpPr/>
            <p:nvPr/>
          </p:nvSpPr>
          <p:spPr>
            <a:xfrm>
              <a:off x="5701960" y="6470375"/>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51" name="object 51"/>
          <p:cNvSpPr txBox="1"/>
          <p:nvPr/>
        </p:nvSpPr>
        <p:spPr>
          <a:xfrm>
            <a:off x="7232311" y="6458573"/>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9:</a:t>
            </a:r>
            <a:r>
              <a:rPr spc="-5" dirty="0">
                <a:latin typeface="Arial"/>
                <a:cs typeface="Arial"/>
              </a:rPr>
              <a:t> </a:t>
            </a:r>
            <a:r>
              <a:rPr b="1" spc="-25" dirty="0">
                <a:latin typeface="Arial"/>
                <a:cs typeface="Arial"/>
              </a:rPr>
              <a:t>519</a:t>
            </a:r>
            <a:endParaRPr>
              <a:latin typeface="Arial"/>
              <a:cs typeface="Arial"/>
            </a:endParaRPr>
          </a:p>
        </p:txBody>
      </p:sp>
      <p:grpSp>
        <p:nvGrpSpPr>
          <p:cNvPr id="52" name="object 52"/>
          <p:cNvGrpSpPr/>
          <p:nvPr/>
        </p:nvGrpSpPr>
        <p:grpSpPr>
          <a:xfrm>
            <a:off x="4520738" y="4667596"/>
            <a:ext cx="1222375" cy="902335"/>
            <a:chOff x="2996737" y="4667595"/>
            <a:chExt cx="1222375" cy="902335"/>
          </a:xfrm>
        </p:grpSpPr>
        <p:pic>
          <p:nvPicPr>
            <p:cNvPr id="53" name="object 53"/>
            <p:cNvPicPr/>
            <p:nvPr/>
          </p:nvPicPr>
          <p:blipFill>
            <a:blip r:embed="rId23" cstate="print"/>
            <a:stretch>
              <a:fillRect/>
            </a:stretch>
          </p:blipFill>
          <p:spPr>
            <a:xfrm>
              <a:off x="2996737" y="4667595"/>
              <a:ext cx="1221970" cy="901930"/>
            </a:xfrm>
            <a:prstGeom prst="rect">
              <a:avLst/>
            </a:prstGeom>
          </p:spPr>
        </p:pic>
        <p:pic>
          <p:nvPicPr>
            <p:cNvPr id="54" name="object 54"/>
            <p:cNvPicPr/>
            <p:nvPr/>
          </p:nvPicPr>
          <p:blipFill>
            <a:blip r:embed="rId24" cstate="print"/>
            <a:stretch>
              <a:fillRect/>
            </a:stretch>
          </p:blipFill>
          <p:spPr>
            <a:xfrm>
              <a:off x="3117272" y="4771504"/>
              <a:ext cx="1005839" cy="689956"/>
            </a:xfrm>
            <a:prstGeom prst="rect">
              <a:avLst/>
            </a:prstGeom>
          </p:spPr>
        </p:pic>
      </p:grpSp>
      <p:sp>
        <p:nvSpPr>
          <p:cNvPr id="55" name="object 55"/>
          <p:cNvSpPr txBox="1"/>
          <p:nvPr/>
        </p:nvSpPr>
        <p:spPr>
          <a:xfrm>
            <a:off x="4547813" y="4721371"/>
            <a:ext cx="1118235" cy="677750"/>
          </a:xfrm>
          <a:prstGeom prst="rect">
            <a:avLst/>
          </a:prstGeom>
          <a:ln w="12699">
            <a:solidFill>
              <a:srgbClr val="000000"/>
            </a:solidFill>
          </a:ln>
        </p:spPr>
        <p:txBody>
          <a:bodyPr vert="horz" wrap="square" lIns="0" tIns="137795" rIns="0" bIns="0" rtlCol="0">
            <a:spAutoFit/>
          </a:bodyPr>
          <a:lstStyle/>
          <a:p>
            <a:pPr marL="154940" marR="141605" indent="111125">
              <a:lnSpc>
                <a:spcPts val="2100"/>
              </a:lnSpc>
              <a:spcBef>
                <a:spcPts val="1085"/>
              </a:spcBef>
            </a:pPr>
            <a:r>
              <a:rPr i="1" dirty="0">
                <a:latin typeface="Arial"/>
                <a:cs typeface="Arial"/>
              </a:rPr>
              <a:t>h(x)</a:t>
            </a:r>
            <a:r>
              <a:rPr i="1" spc="-5" dirty="0">
                <a:latin typeface="Arial"/>
                <a:cs typeface="Arial"/>
              </a:rPr>
              <a:t> </a:t>
            </a:r>
            <a:r>
              <a:rPr i="1" spc="-50" dirty="0">
                <a:latin typeface="Arial"/>
                <a:cs typeface="Arial"/>
              </a:rPr>
              <a:t>= </a:t>
            </a:r>
            <a:r>
              <a:rPr i="1" spc="-10" dirty="0">
                <a:latin typeface="Arial"/>
                <a:cs typeface="Arial"/>
              </a:rPr>
              <a:t>key%10</a:t>
            </a:r>
            <a:endParaRPr>
              <a:latin typeface="Arial"/>
              <a:cs typeface="Arial"/>
            </a:endParaRPr>
          </a:p>
        </p:txBody>
      </p:sp>
      <p:grpSp>
        <p:nvGrpSpPr>
          <p:cNvPr id="56" name="object 56"/>
          <p:cNvGrpSpPr/>
          <p:nvPr/>
        </p:nvGrpSpPr>
        <p:grpSpPr>
          <a:xfrm>
            <a:off x="2380211" y="4738254"/>
            <a:ext cx="1222375" cy="424180"/>
            <a:chOff x="856210" y="4738254"/>
            <a:chExt cx="1222375" cy="424180"/>
          </a:xfrm>
        </p:grpSpPr>
        <p:pic>
          <p:nvPicPr>
            <p:cNvPr id="57" name="object 57"/>
            <p:cNvPicPr/>
            <p:nvPr/>
          </p:nvPicPr>
          <p:blipFill>
            <a:blip r:embed="rId25" cstate="print"/>
            <a:stretch>
              <a:fillRect/>
            </a:stretch>
          </p:blipFill>
          <p:spPr>
            <a:xfrm>
              <a:off x="856210" y="4759036"/>
              <a:ext cx="1221970" cy="378229"/>
            </a:xfrm>
            <a:prstGeom prst="rect">
              <a:avLst/>
            </a:prstGeom>
          </p:spPr>
        </p:pic>
        <p:pic>
          <p:nvPicPr>
            <p:cNvPr id="58" name="object 58"/>
            <p:cNvPicPr/>
            <p:nvPr/>
          </p:nvPicPr>
          <p:blipFill>
            <a:blip r:embed="rId26" cstate="print"/>
            <a:stretch>
              <a:fillRect/>
            </a:stretch>
          </p:blipFill>
          <p:spPr>
            <a:xfrm>
              <a:off x="1205345" y="4738254"/>
              <a:ext cx="523701" cy="423949"/>
            </a:xfrm>
            <a:prstGeom prst="rect">
              <a:avLst/>
            </a:prstGeom>
          </p:spPr>
        </p:pic>
      </p:grpSp>
      <p:sp>
        <p:nvSpPr>
          <p:cNvPr id="59" name="object 59"/>
          <p:cNvSpPr txBox="1"/>
          <p:nvPr/>
        </p:nvSpPr>
        <p:spPr>
          <a:xfrm>
            <a:off x="2407512" y="4801818"/>
            <a:ext cx="1118235" cy="295910"/>
          </a:xfrm>
          <a:prstGeom prst="rect">
            <a:avLst/>
          </a:prstGeom>
          <a:ln w="12699">
            <a:solidFill>
              <a:srgbClr val="000000"/>
            </a:solidFill>
          </a:ln>
        </p:spPr>
        <p:txBody>
          <a:bodyPr vert="horz" wrap="square" lIns="0" tIns="8890" rIns="0" bIns="0" rtlCol="0">
            <a:spAutoFit/>
          </a:bodyPr>
          <a:lstStyle/>
          <a:p>
            <a:pPr marL="370840">
              <a:spcBef>
                <a:spcPts val="70"/>
              </a:spcBef>
            </a:pPr>
            <a:r>
              <a:rPr spc="-25" dirty="0">
                <a:latin typeface="Arial"/>
                <a:cs typeface="Arial"/>
              </a:rPr>
              <a:t>519</a:t>
            </a:r>
            <a:endParaRPr>
              <a:latin typeface="Arial"/>
              <a:cs typeface="Arial"/>
            </a:endParaRPr>
          </a:p>
        </p:txBody>
      </p:sp>
      <p:grpSp>
        <p:nvGrpSpPr>
          <p:cNvPr id="60" name="object 60"/>
          <p:cNvGrpSpPr/>
          <p:nvPr/>
        </p:nvGrpSpPr>
        <p:grpSpPr>
          <a:xfrm>
            <a:off x="2380211" y="4172989"/>
            <a:ext cx="4845685" cy="2501900"/>
            <a:chOff x="856210" y="4172989"/>
            <a:chExt cx="4845685" cy="2501900"/>
          </a:xfrm>
        </p:grpSpPr>
        <p:sp>
          <p:nvSpPr>
            <p:cNvPr id="61" name="object 61"/>
            <p:cNvSpPr/>
            <p:nvPr/>
          </p:nvSpPr>
          <p:spPr>
            <a:xfrm>
              <a:off x="2001705" y="4947862"/>
              <a:ext cx="994410" cy="170815"/>
            </a:xfrm>
            <a:custGeom>
              <a:avLst/>
              <a:gdLst/>
              <a:ahLst/>
              <a:cxnLst/>
              <a:rect l="l" t="t" r="r" b="b"/>
              <a:pathLst>
                <a:path w="994410" h="170814">
                  <a:moveTo>
                    <a:pt x="0" y="0"/>
                  </a:moveTo>
                  <a:lnTo>
                    <a:pt x="511174" y="0"/>
                  </a:lnTo>
                  <a:lnTo>
                    <a:pt x="511174" y="170656"/>
                  </a:lnTo>
                  <a:lnTo>
                    <a:pt x="993994" y="170656"/>
                  </a:lnTo>
                </a:path>
              </a:pathLst>
            </a:custGeom>
            <a:ln w="28574">
              <a:solidFill>
                <a:srgbClr val="8D8D8D"/>
              </a:solidFill>
            </a:ln>
          </p:spPr>
          <p:txBody>
            <a:bodyPr wrap="square" lIns="0" tIns="0" rIns="0" bIns="0" rtlCol="0"/>
            <a:lstStyle/>
            <a:p>
              <a:endParaRPr/>
            </a:p>
          </p:txBody>
        </p:sp>
        <p:pic>
          <p:nvPicPr>
            <p:cNvPr id="62" name="object 62"/>
            <p:cNvPicPr/>
            <p:nvPr/>
          </p:nvPicPr>
          <p:blipFill>
            <a:blip r:embed="rId27" cstate="print"/>
            <a:stretch>
              <a:fillRect/>
            </a:stretch>
          </p:blipFill>
          <p:spPr>
            <a:xfrm>
              <a:off x="2893658" y="5052194"/>
              <a:ext cx="130397" cy="132647"/>
            </a:xfrm>
            <a:prstGeom prst="rect">
              <a:avLst/>
            </a:prstGeom>
          </p:spPr>
        </p:pic>
        <p:sp>
          <p:nvSpPr>
            <p:cNvPr id="63" name="object 63"/>
            <p:cNvSpPr/>
            <p:nvPr/>
          </p:nvSpPr>
          <p:spPr>
            <a:xfrm>
              <a:off x="4142005" y="5118496"/>
              <a:ext cx="1531620" cy="1490345"/>
            </a:xfrm>
            <a:custGeom>
              <a:avLst/>
              <a:gdLst/>
              <a:ahLst/>
              <a:cxnLst/>
              <a:rect l="l" t="t" r="r" b="b"/>
              <a:pathLst>
                <a:path w="1531620" h="1490345">
                  <a:moveTo>
                    <a:pt x="0" y="0"/>
                  </a:moveTo>
                  <a:lnTo>
                    <a:pt x="780256" y="0"/>
                  </a:lnTo>
                  <a:lnTo>
                    <a:pt x="780256" y="1489868"/>
                  </a:lnTo>
                  <a:lnTo>
                    <a:pt x="1531362" y="1489868"/>
                  </a:lnTo>
                </a:path>
              </a:pathLst>
            </a:custGeom>
            <a:ln w="28574">
              <a:solidFill>
                <a:srgbClr val="8D8D8D"/>
              </a:solidFill>
            </a:ln>
          </p:spPr>
          <p:txBody>
            <a:bodyPr wrap="square" lIns="0" tIns="0" rIns="0" bIns="0" rtlCol="0"/>
            <a:lstStyle/>
            <a:p>
              <a:endParaRPr/>
            </a:p>
          </p:txBody>
        </p:sp>
        <p:pic>
          <p:nvPicPr>
            <p:cNvPr id="64" name="object 64"/>
            <p:cNvPicPr/>
            <p:nvPr/>
          </p:nvPicPr>
          <p:blipFill>
            <a:blip r:embed="rId27" cstate="print"/>
            <a:stretch>
              <a:fillRect/>
            </a:stretch>
          </p:blipFill>
          <p:spPr>
            <a:xfrm>
              <a:off x="5571327" y="6542041"/>
              <a:ext cx="130397" cy="132646"/>
            </a:xfrm>
            <a:prstGeom prst="rect">
              <a:avLst/>
            </a:prstGeom>
          </p:spPr>
        </p:pic>
        <p:pic>
          <p:nvPicPr>
            <p:cNvPr id="65" name="object 65"/>
            <p:cNvPicPr/>
            <p:nvPr/>
          </p:nvPicPr>
          <p:blipFill>
            <a:blip r:embed="rId28" cstate="print"/>
            <a:stretch>
              <a:fillRect/>
            </a:stretch>
          </p:blipFill>
          <p:spPr>
            <a:xfrm>
              <a:off x="856210" y="4189614"/>
              <a:ext cx="1221970" cy="378229"/>
            </a:xfrm>
            <a:prstGeom prst="rect">
              <a:avLst/>
            </a:prstGeom>
          </p:spPr>
        </p:pic>
        <p:pic>
          <p:nvPicPr>
            <p:cNvPr id="66" name="object 66"/>
            <p:cNvPicPr/>
            <p:nvPr/>
          </p:nvPicPr>
          <p:blipFill>
            <a:blip r:embed="rId29" cstate="print"/>
            <a:stretch>
              <a:fillRect/>
            </a:stretch>
          </p:blipFill>
          <p:spPr>
            <a:xfrm>
              <a:off x="1205345" y="4172989"/>
              <a:ext cx="523701" cy="419792"/>
            </a:xfrm>
            <a:prstGeom prst="rect">
              <a:avLst/>
            </a:prstGeom>
          </p:spPr>
        </p:pic>
        <p:sp>
          <p:nvSpPr>
            <p:cNvPr id="67" name="object 67"/>
            <p:cNvSpPr/>
            <p:nvPr/>
          </p:nvSpPr>
          <p:spPr>
            <a:xfrm>
              <a:off x="883511" y="4241601"/>
              <a:ext cx="1118235" cy="276225"/>
            </a:xfrm>
            <a:custGeom>
              <a:avLst/>
              <a:gdLst/>
              <a:ahLst/>
              <a:cxnLst/>
              <a:rect l="l" t="t" r="r" b="b"/>
              <a:pathLst>
                <a:path w="1118235"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68" name="object 68"/>
          <p:cNvSpPr txBox="1"/>
          <p:nvPr/>
        </p:nvSpPr>
        <p:spPr>
          <a:xfrm>
            <a:off x="2407512" y="3949532"/>
            <a:ext cx="1118235" cy="585417"/>
          </a:xfrm>
          <a:prstGeom prst="rect">
            <a:avLst/>
          </a:prstGeom>
          <a:ln w="12699">
            <a:solidFill>
              <a:srgbClr val="000000"/>
            </a:solidFill>
          </a:ln>
        </p:spPr>
        <p:txBody>
          <a:bodyPr vert="horz" wrap="square" lIns="0" tIns="635" rIns="0" bIns="0" rtlCol="0">
            <a:spAutoFit/>
          </a:bodyPr>
          <a:lstStyle/>
          <a:p>
            <a:pPr>
              <a:spcBef>
                <a:spcPts val="5"/>
              </a:spcBef>
            </a:pPr>
            <a:endParaRPr sz="2000">
              <a:latin typeface="Times New Roman"/>
              <a:cs typeface="Times New Roman"/>
            </a:endParaRPr>
          </a:p>
          <a:p>
            <a:pPr marL="370840"/>
            <a:r>
              <a:rPr spc="-25" dirty="0">
                <a:latin typeface="Arial"/>
                <a:cs typeface="Arial"/>
              </a:rPr>
              <a:t>214</a:t>
            </a:r>
            <a:endParaRPr>
              <a:latin typeface="Arial"/>
              <a:cs typeface="Arial"/>
            </a:endParaRPr>
          </a:p>
        </p:txBody>
      </p:sp>
      <p:grpSp>
        <p:nvGrpSpPr>
          <p:cNvPr id="69" name="object 69"/>
          <p:cNvGrpSpPr/>
          <p:nvPr/>
        </p:nvGrpSpPr>
        <p:grpSpPr>
          <a:xfrm>
            <a:off x="2380211" y="4365372"/>
            <a:ext cx="4845685" cy="1362710"/>
            <a:chOff x="856210" y="4365372"/>
            <a:chExt cx="4845685" cy="1362710"/>
          </a:xfrm>
        </p:grpSpPr>
        <p:sp>
          <p:nvSpPr>
            <p:cNvPr id="70" name="object 70"/>
            <p:cNvSpPr/>
            <p:nvPr/>
          </p:nvSpPr>
          <p:spPr>
            <a:xfrm>
              <a:off x="2001705" y="4379659"/>
              <a:ext cx="994410" cy="739140"/>
            </a:xfrm>
            <a:custGeom>
              <a:avLst/>
              <a:gdLst/>
              <a:ahLst/>
              <a:cxnLst/>
              <a:rect l="l" t="t" r="r" b="b"/>
              <a:pathLst>
                <a:path w="994410" h="739139">
                  <a:moveTo>
                    <a:pt x="0" y="0"/>
                  </a:moveTo>
                  <a:lnTo>
                    <a:pt x="511174" y="0"/>
                  </a:lnTo>
                  <a:lnTo>
                    <a:pt x="511174" y="738981"/>
                  </a:lnTo>
                  <a:lnTo>
                    <a:pt x="993994" y="738981"/>
                  </a:lnTo>
                </a:path>
              </a:pathLst>
            </a:custGeom>
            <a:ln w="28574">
              <a:solidFill>
                <a:srgbClr val="8D8D8D"/>
              </a:solidFill>
            </a:ln>
          </p:spPr>
          <p:txBody>
            <a:bodyPr wrap="square" lIns="0" tIns="0" rIns="0" bIns="0" rtlCol="0"/>
            <a:lstStyle/>
            <a:p>
              <a:endParaRPr/>
            </a:p>
          </p:txBody>
        </p:sp>
        <p:pic>
          <p:nvPicPr>
            <p:cNvPr id="71" name="object 71"/>
            <p:cNvPicPr/>
            <p:nvPr/>
          </p:nvPicPr>
          <p:blipFill>
            <a:blip r:embed="rId27" cstate="print"/>
            <a:stretch>
              <a:fillRect/>
            </a:stretch>
          </p:blipFill>
          <p:spPr>
            <a:xfrm>
              <a:off x="2893658" y="5052317"/>
              <a:ext cx="130397" cy="132647"/>
            </a:xfrm>
            <a:prstGeom prst="rect">
              <a:avLst/>
            </a:prstGeom>
          </p:spPr>
        </p:pic>
        <p:sp>
          <p:nvSpPr>
            <p:cNvPr id="72" name="object 72"/>
            <p:cNvSpPr/>
            <p:nvPr/>
          </p:nvSpPr>
          <p:spPr>
            <a:xfrm>
              <a:off x="4142005" y="5118496"/>
              <a:ext cx="1531620" cy="90170"/>
            </a:xfrm>
            <a:custGeom>
              <a:avLst/>
              <a:gdLst/>
              <a:ahLst/>
              <a:cxnLst/>
              <a:rect l="l" t="t" r="r" b="b"/>
              <a:pathLst>
                <a:path w="1531620" h="90170">
                  <a:moveTo>
                    <a:pt x="0" y="0"/>
                  </a:moveTo>
                  <a:lnTo>
                    <a:pt x="780256" y="0"/>
                  </a:lnTo>
                  <a:lnTo>
                    <a:pt x="780256" y="89693"/>
                  </a:lnTo>
                  <a:lnTo>
                    <a:pt x="1531362" y="89693"/>
                  </a:lnTo>
                </a:path>
              </a:pathLst>
            </a:custGeom>
            <a:ln w="28574">
              <a:solidFill>
                <a:srgbClr val="8D8D8D"/>
              </a:solidFill>
            </a:ln>
          </p:spPr>
          <p:txBody>
            <a:bodyPr wrap="square" lIns="0" tIns="0" rIns="0" bIns="0" rtlCol="0"/>
            <a:lstStyle/>
            <a:p>
              <a:endParaRPr/>
            </a:p>
          </p:txBody>
        </p:sp>
        <p:pic>
          <p:nvPicPr>
            <p:cNvPr id="73" name="object 73"/>
            <p:cNvPicPr/>
            <p:nvPr/>
          </p:nvPicPr>
          <p:blipFill>
            <a:blip r:embed="rId27" cstate="print"/>
            <a:stretch>
              <a:fillRect/>
            </a:stretch>
          </p:blipFill>
          <p:spPr>
            <a:xfrm>
              <a:off x="5571327" y="5141866"/>
              <a:ext cx="130397" cy="132646"/>
            </a:xfrm>
            <a:prstGeom prst="rect">
              <a:avLst/>
            </a:prstGeom>
          </p:spPr>
        </p:pic>
        <p:pic>
          <p:nvPicPr>
            <p:cNvPr id="74" name="object 74"/>
            <p:cNvPicPr/>
            <p:nvPr/>
          </p:nvPicPr>
          <p:blipFill>
            <a:blip r:embed="rId30" cstate="print"/>
            <a:stretch>
              <a:fillRect/>
            </a:stretch>
          </p:blipFill>
          <p:spPr>
            <a:xfrm>
              <a:off x="856210" y="5324301"/>
              <a:ext cx="1221970" cy="382385"/>
            </a:xfrm>
            <a:prstGeom prst="rect">
              <a:avLst/>
            </a:prstGeom>
          </p:spPr>
        </p:pic>
        <p:pic>
          <p:nvPicPr>
            <p:cNvPr id="75" name="object 75"/>
            <p:cNvPicPr/>
            <p:nvPr/>
          </p:nvPicPr>
          <p:blipFill>
            <a:blip r:embed="rId31" cstate="print"/>
            <a:stretch>
              <a:fillRect/>
            </a:stretch>
          </p:blipFill>
          <p:spPr>
            <a:xfrm>
              <a:off x="1142999" y="5307676"/>
              <a:ext cx="648392" cy="419792"/>
            </a:xfrm>
            <a:prstGeom prst="rect">
              <a:avLst/>
            </a:prstGeom>
          </p:spPr>
        </p:pic>
        <p:sp>
          <p:nvSpPr>
            <p:cNvPr id="76" name="object 76"/>
            <p:cNvSpPr/>
            <p:nvPr/>
          </p:nvSpPr>
          <p:spPr>
            <a:xfrm>
              <a:off x="883511" y="5377562"/>
              <a:ext cx="1118235" cy="276225"/>
            </a:xfrm>
            <a:custGeom>
              <a:avLst/>
              <a:gdLst/>
              <a:ahLst/>
              <a:cxnLst/>
              <a:rect l="l" t="t" r="r" b="b"/>
              <a:pathLst>
                <a:path w="1118235"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77" name="object 77"/>
          <p:cNvSpPr txBox="1"/>
          <p:nvPr/>
        </p:nvSpPr>
        <p:spPr>
          <a:xfrm>
            <a:off x="2407512" y="5097239"/>
            <a:ext cx="1118235" cy="572593"/>
          </a:xfrm>
          <a:prstGeom prst="rect">
            <a:avLst/>
          </a:prstGeom>
          <a:ln w="12699">
            <a:solidFill>
              <a:srgbClr val="000000"/>
            </a:solidFill>
          </a:ln>
        </p:spPr>
        <p:txBody>
          <a:bodyPr vert="horz" wrap="square" lIns="0" tIns="3175" rIns="0" bIns="0" rtlCol="0">
            <a:spAutoFit/>
          </a:bodyPr>
          <a:lstStyle/>
          <a:p>
            <a:pPr>
              <a:spcBef>
                <a:spcPts val="25"/>
              </a:spcBef>
            </a:pPr>
            <a:endParaRPr sz="1900">
              <a:latin typeface="Times New Roman"/>
              <a:cs typeface="Times New Roman"/>
            </a:endParaRPr>
          </a:p>
          <a:p>
            <a:pPr marL="307340">
              <a:spcBef>
                <a:spcPts val="5"/>
              </a:spcBef>
            </a:pPr>
            <a:r>
              <a:rPr spc="-20" dirty="0">
                <a:latin typeface="Arial"/>
                <a:cs typeface="Arial"/>
              </a:rPr>
              <a:t>1001</a:t>
            </a:r>
            <a:endParaRPr>
              <a:latin typeface="Arial"/>
              <a:cs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39" y="1785620"/>
            <a:ext cx="2364740" cy="452120"/>
          </a:xfrm>
          <a:prstGeom prst="rect">
            <a:avLst/>
          </a:prstGeom>
        </p:spPr>
        <p:txBody>
          <a:bodyPr vert="horz" wrap="square" lIns="0" tIns="12700" rIns="0" bIns="0" rtlCol="0">
            <a:spAutoFit/>
          </a:bodyPr>
          <a:lstStyle/>
          <a:p>
            <a:pPr marL="354965" indent="-342265">
              <a:spcBef>
                <a:spcPts val="100"/>
              </a:spcBef>
              <a:buFont typeface="Arial"/>
              <a:buChar char="•"/>
              <a:tabLst>
                <a:tab pos="354965" algn="l"/>
                <a:tab pos="355600" algn="l"/>
              </a:tabLst>
            </a:pPr>
            <a:r>
              <a:rPr sz="2800" b="1" spc="-10" dirty="0">
                <a:latin typeface="Arial"/>
                <a:cs typeface="Arial"/>
              </a:rPr>
              <a:t>insert(1001)</a:t>
            </a:r>
            <a:endParaRPr sz="2800">
              <a:latin typeface="Arial"/>
              <a:cs typeface="Arial"/>
            </a:endParaRPr>
          </a:p>
        </p:txBody>
      </p:sp>
      <p:sp>
        <p:nvSpPr>
          <p:cNvPr id="3" name="object 3"/>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spc="-10" dirty="0"/>
              <a:t>HASH</a:t>
            </a:r>
            <a:r>
              <a:rPr spc="-275" dirty="0"/>
              <a:t> </a:t>
            </a:r>
            <a:r>
              <a:rPr spc="-60" dirty="0"/>
              <a:t>EXAMPLE</a:t>
            </a:r>
          </a:p>
        </p:txBody>
      </p:sp>
      <p:grpSp>
        <p:nvGrpSpPr>
          <p:cNvPr id="4" name="object 4"/>
          <p:cNvGrpSpPr/>
          <p:nvPr/>
        </p:nvGrpSpPr>
        <p:grpSpPr>
          <a:xfrm>
            <a:off x="7197436" y="4168833"/>
            <a:ext cx="1222375" cy="424180"/>
            <a:chOff x="5673435" y="4168833"/>
            <a:chExt cx="1222375" cy="424180"/>
          </a:xfrm>
        </p:grpSpPr>
        <p:pic>
          <p:nvPicPr>
            <p:cNvPr id="5" name="object 5"/>
            <p:cNvPicPr/>
            <p:nvPr/>
          </p:nvPicPr>
          <p:blipFill>
            <a:blip r:embed="rId2" cstate="print"/>
            <a:stretch>
              <a:fillRect/>
            </a:stretch>
          </p:blipFill>
          <p:spPr>
            <a:xfrm>
              <a:off x="5673435" y="4189614"/>
              <a:ext cx="1221970" cy="378229"/>
            </a:xfrm>
            <a:prstGeom prst="rect">
              <a:avLst/>
            </a:prstGeom>
          </p:spPr>
        </p:pic>
        <p:pic>
          <p:nvPicPr>
            <p:cNvPr id="6" name="object 6"/>
            <p:cNvPicPr/>
            <p:nvPr/>
          </p:nvPicPr>
          <p:blipFill>
            <a:blip r:embed="rId3" cstate="print"/>
            <a:stretch>
              <a:fillRect/>
            </a:stretch>
          </p:blipFill>
          <p:spPr>
            <a:xfrm>
              <a:off x="5744094" y="4168833"/>
              <a:ext cx="906087" cy="423949"/>
            </a:xfrm>
            <a:prstGeom prst="rect">
              <a:avLst/>
            </a:prstGeom>
          </p:spPr>
        </p:pic>
        <p:sp>
          <p:nvSpPr>
            <p:cNvPr id="7" name="object 7"/>
            <p:cNvSpPr/>
            <p:nvPr/>
          </p:nvSpPr>
          <p:spPr>
            <a:xfrm>
              <a:off x="5701960" y="4241064"/>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8" name="object 8"/>
          <p:cNvSpPr txBox="1"/>
          <p:nvPr/>
        </p:nvSpPr>
        <p:spPr>
          <a:xfrm>
            <a:off x="7232311" y="4229262"/>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1:</a:t>
            </a:r>
            <a:r>
              <a:rPr spc="-5" dirty="0">
                <a:latin typeface="Arial"/>
                <a:cs typeface="Arial"/>
              </a:rPr>
              <a:t> </a:t>
            </a:r>
            <a:r>
              <a:rPr b="1" spc="-20" dirty="0">
                <a:latin typeface="Arial"/>
                <a:cs typeface="Arial"/>
              </a:rPr>
              <a:t>1001</a:t>
            </a:r>
            <a:endParaRPr>
              <a:latin typeface="Arial"/>
              <a:cs typeface="Arial"/>
            </a:endParaRPr>
          </a:p>
        </p:txBody>
      </p:sp>
      <p:grpSp>
        <p:nvGrpSpPr>
          <p:cNvPr id="9" name="object 9"/>
          <p:cNvGrpSpPr/>
          <p:nvPr/>
        </p:nvGrpSpPr>
        <p:grpSpPr>
          <a:xfrm>
            <a:off x="2380211" y="3877888"/>
            <a:ext cx="6039485" cy="2914015"/>
            <a:chOff x="856210" y="3877887"/>
            <a:chExt cx="6039485" cy="2914015"/>
          </a:xfrm>
        </p:grpSpPr>
        <p:pic>
          <p:nvPicPr>
            <p:cNvPr id="10" name="object 10"/>
            <p:cNvPicPr/>
            <p:nvPr/>
          </p:nvPicPr>
          <p:blipFill>
            <a:blip r:embed="rId4" cstate="print"/>
            <a:stretch>
              <a:fillRect/>
            </a:stretch>
          </p:blipFill>
          <p:spPr>
            <a:xfrm>
              <a:off x="5673435" y="3898668"/>
              <a:ext cx="1221970" cy="378229"/>
            </a:xfrm>
            <a:prstGeom prst="rect">
              <a:avLst/>
            </a:prstGeom>
          </p:spPr>
        </p:pic>
        <p:pic>
          <p:nvPicPr>
            <p:cNvPr id="11" name="object 11"/>
            <p:cNvPicPr/>
            <p:nvPr/>
          </p:nvPicPr>
          <p:blipFill>
            <a:blip r:embed="rId5" cstate="print"/>
            <a:stretch>
              <a:fillRect/>
            </a:stretch>
          </p:blipFill>
          <p:spPr>
            <a:xfrm>
              <a:off x="5744094" y="3877887"/>
              <a:ext cx="270163" cy="423949"/>
            </a:xfrm>
            <a:prstGeom prst="rect">
              <a:avLst/>
            </a:prstGeom>
          </p:spPr>
        </p:pic>
        <p:sp>
          <p:nvSpPr>
            <p:cNvPr id="12" name="object 12"/>
            <p:cNvSpPr/>
            <p:nvPr/>
          </p:nvSpPr>
          <p:spPr>
            <a:xfrm>
              <a:off x="5701960" y="3949531"/>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13" name="object 13"/>
            <p:cNvPicPr/>
            <p:nvPr/>
          </p:nvPicPr>
          <p:blipFill>
            <a:blip r:embed="rId6" cstate="print"/>
            <a:stretch>
              <a:fillRect/>
            </a:stretch>
          </p:blipFill>
          <p:spPr>
            <a:xfrm>
              <a:off x="856210" y="3898669"/>
              <a:ext cx="1221970" cy="2892828"/>
            </a:xfrm>
            <a:prstGeom prst="rect">
              <a:avLst/>
            </a:prstGeom>
          </p:spPr>
        </p:pic>
        <p:sp>
          <p:nvSpPr>
            <p:cNvPr id="14" name="object 14"/>
            <p:cNvSpPr/>
            <p:nvPr/>
          </p:nvSpPr>
          <p:spPr>
            <a:xfrm>
              <a:off x="883511" y="3949531"/>
              <a:ext cx="1118235" cy="2791460"/>
            </a:xfrm>
            <a:custGeom>
              <a:avLst/>
              <a:gdLst/>
              <a:ahLst/>
              <a:cxnLst/>
              <a:rect l="l" t="t" r="r" b="b"/>
              <a:pathLst>
                <a:path w="1118235" h="2791459">
                  <a:moveTo>
                    <a:pt x="0" y="0"/>
                  </a:moveTo>
                  <a:lnTo>
                    <a:pt x="1118193" y="0"/>
                  </a:lnTo>
                  <a:lnTo>
                    <a:pt x="1118193" y="2790885"/>
                  </a:lnTo>
                  <a:lnTo>
                    <a:pt x="0" y="2790885"/>
                  </a:lnTo>
                  <a:lnTo>
                    <a:pt x="0" y="0"/>
                  </a:lnTo>
                  <a:close/>
                </a:path>
              </a:pathLst>
            </a:custGeom>
            <a:ln w="12699">
              <a:solidFill>
                <a:srgbClr val="000000"/>
              </a:solidFill>
            </a:ln>
          </p:spPr>
          <p:txBody>
            <a:bodyPr wrap="square" lIns="0" tIns="0" rIns="0" bIns="0" rtlCol="0"/>
            <a:lstStyle/>
            <a:p>
              <a:endParaRPr/>
            </a:p>
          </p:txBody>
        </p:sp>
      </p:grpSp>
      <p:sp>
        <p:nvSpPr>
          <p:cNvPr id="15" name="object 15"/>
          <p:cNvSpPr txBox="1"/>
          <p:nvPr/>
        </p:nvSpPr>
        <p:spPr>
          <a:xfrm>
            <a:off x="7232311" y="3937729"/>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0</a:t>
            </a:r>
            <a:endParaRPr>
              <a:latin typeface="Arial"/>
              <a:cs typeface="Arial"/>
            </a:endParaRPr>
          </a:p>
        </p:txBody>
      </p:sp>
      <p:grpSp>
        <p:nvGrpSpPr>
          <p:cNvPr id="16" name="object 16"/>
          <p:cNvGrpSpPr/>
          <p:nvPr/>
        </p:nvGrpSpPr>
        <p:grpSpPr>
          <a:xfrm>
            <a:off x="7197436" y="4447308"/>
            <a:ext cx="1222375" cy="420370"/>
            <a:chOff x="5673435" y="4447308"/>
            <a:chExt cx="1222375" cy="420370"/>
          </a:xfrm>
        </p:grpSpPr>
        <p:pic>
          <p:nvPicPr>
            <p:cNvPr id="17" name="object 17"/>
            <p:cNvPicPr/>
            <p:nvPr/>
          </p:nvPicPr>
          <p:blipFill>
            <a:blip r:embed="rId7" cstate="print"/>
            <a:stretch>
              <a:fillRect/>
            </a:stretch>
          </p:blipFill>
          <p:spPr>
            <a:xfrm>
              <a:off x="5673435" y="4463934"/>
              <a:ext cx="1221970" cy="382385"/>
            </a:xfrm>
            <a:prstGeom prst="rect">
              <a:avLst/>
            </a:prstGeom>
          </p:spPr>
        </p:pic>
        <p:pic>
          <p:nvPicPr>
            <p:cNvPr id="18" name="object 18"/>
            <p:cNvPicPr/>
            <p:nvPr/>
          </p:nvPicPr>
          <p:blipFill>
            <a:blip r:embed="rId8" cstate="print"/>
            <a:stretch>
              <a:fillRect/>
            </a:stretch>
          </p:blipFill>
          <p:spPr>
            <a:xfrm>
              <a:off x="5744094" y="4447308"/>
              <a:ext cx="270163" cy="419792"/>
            </a:xfrm>
            <a:prstGeom prst="rect">
              <a:avLst/>
            </a:prstGeom>
          </p:spPr>
        </p:pic>
      </p:grpSp>
      <p:sp>
        <p:nvSpPr>
          <p:cNvPr id="19" name="object 19"/>
          <p:cNvSpPr txBox="1"/>
          <p:nvPr/>
        </p:nvSpPr>
        <p:spPr>
          <a:xfrm>
            <a:off x="7225961" y="4517448"/>
            <a:ext cx="1118235" cy="284480"/>
          </a:xfrm>
          <a:prstGeom prst="rect">
            <a:avLst/>
          </a:prstGeom>
          <a:ln w="12699">
            <a:solidFill>
              <a:srgbClr val="000000"/>
            </a:solidFill>
          </a:ln>
        </p:spPr>
        <p:txBody>
          <a:bodyPr vert="horz" wrap="square" lIns="0" tIns="1270" rIns="0" bIns="0" rtlCol="0">
            <a:spAutoFit/>
          </a:bodyPr>
          <a:lstStyle/>
          <a:p>
            <a:pPr marL="90805">
              <a:spcBef>
                <a:spcPts val="10"/>
              </a:spcBef>
            </a:pPr>
            <a:r>
              <a:rPr dirty="0">
                <a:latin typeface="Arial"/>
                <a:cs typeface="Arial"/>
              </a:rPr>
              <a:t>2</a:t>
            </a:r>
            <a:endParaRPr>
              <a:latin typeface="Arial"/>
              <a:cs typeface="Arial"/>
            </a:endParaRPr>
          </a:p>
        </p:txBody>
      </p:sp>
      <p:grpSp>
        <p:nvGrpSpPr>
          <p:cNvPr id="20" name="object 20"/>
          <p:cNvGrpSpPr/>
          <p:nvPr/>
        </p:nvGrpSpPr>
        <p:grpSpPr>
          <a:xfrm>
            <a:off x="7197436" y="4721628"/>
            <a:ext cx="1222375" cy="424180"/>
            <a:chOff x="5673435" y="4721628"/>
            <a:chExt cx="1222375" cy="424180"/>
          </a:xfrm>
        </p:grpSpPr>
        <p:pic>
          <p:nvPicPr>
            <p:cNvPr id="21" name="object 21"/>
            <p:cNvPicPr/>
            <p:nvPr/>
          </p:nvPicPr>
          <p:blipFill>
            <a:blip r:embed="rId9" cstate="print"/>
            <a:stretch>
              <a:fillRect/>
            </a:stretch>
          </p:blipFill>
          <p:spPr>
            <a:xfrm>
              <a:off x="5673435" y="4742410"/>
              <a:ext cx="1221970" cy="378229"/>
            </a:xfrm>
            <a:prstGeom prst="rect">
              <a:avLst/>
            </a:prstGeom>
          </p:spPr>
        </p:pic>
        <p:pic>
          <p:nvPicPr>
            <p:cNvPr id="22" name="object 22"/>
            <p:cNvPicPr/>
            <p:nvPr/>
          </p:nvPicPr>
          <p:blipFill>
            <a:blip r:embed="rId10" cstate="print"/>
            <a:stretch>
              <a:fillRect/>
            </a:stretch>
          </p:blipFill>
          <p:spPr>
            <a:xfrm>
              <a:off x="5744094" y="4721628"/>
              <a:ext cx="270163" cy="423949"/>
            </a:xfrm>
            <a:prstGeom prst="rect">
              <a:avLst/>
            </a:prstGeom>
          </p:spPr>
        </p:pic>
      </p:grpSp>
      <p:sp>
        <p:nvSpPr>
          <p:cNvPr id="23" name="object 23"/>
          <p:cNvSpPr txBox="1"/>
          <p:nvPr/>
        </p:nvSpPr>
        <p:spPr>
          <a:xfrm>
            <a:off x="7225961" y="4801818"/>
            <a:ext cx="1118235" cy="269304"/>
          </a:xfrm>
          <a:prstGeom prst="rect">
            <a:avLst/>
          </a:prstGeom>
          <a:ln w="12699">
            <a:solidFill>
              <a:srgbClr val="000000"/>
            </a:solidFill>
          </a:ln>
        </p:spPr>
        <p:txBody>
          <a:bodyPr vert="horz" wrap="square" lIns="0" tIns="0" rIns="0" bIns="0" rtlCol="0">
            <a:spAutoFit/>
          </a:bodyPr>
          <a:lstStyle/>
          <a:p>
            <a:pPr marL="90805">
              <a:lnSpc>
                <a:spcPts val="2105"/>
              </a:lnSpc>
            </a:pPr>
            <a:r>
              <a:rPr dirty="0">
                <a:latin typeface="Arial"/>
                <a:cs typeface="Arial"/>
              </a:rPr>
              <a:t>3</a:t>
            </a:r>
            <a:endParaRPr>
              <a:latin typeface="Arial"/>
              <a:cs typeface="Arial"/>
            </a:endParaRPr>
          </a:p>
        </p:txBody>
      </p:sp>
      <p:grpSp>
        <p:nvGrpSpPr>
          <p:cNvPr id="24" name="object 24"/>
          <p:cNvGrpSpPr/>
          <p:nvPr/>
        </p:nvGrpSpPr>
        <p:grpSpPr>
          <a:xfrm>
            <a:off x="7197436" y="5000104"/>
            <a:ext cx="1222375" cy="420370"/>
            <a:chOff x="5673435" y="5000104"/>
            <a:chExt cx="1222375" cy="420370"/>
          </a:xfrm>
        </p:grpSpPr>
        <p:pic>
          <p:nvPicPr>
            <p:cNvPr id="25" name="object 25"/>
            <p:cNvPicPr/>
            <p:nvPr/>
          </p:nvPicPr>
          <p:blipFill>
            <a:blip r:embed="rId11" cstate="print"/>
            <a:stretch>
              <a:fillRect/>
            </a:stretch>
          </p:blipFill>
          <p:spPr>
            <a:xfrm>
              <a:off x="5673435" y="5016731"/>
              <a:ext cx="1221970" cy="382385"/>
            </a:xfrm>
            <a:prstGeom prst="rect">
              <a:avLst/>
            </a:prstGeom>
          </p:spPr>
        </p:pic>
        <p:pic>
          <p:nvPicPr>
            <p:cNvPr id="26" name="object 26"/>
            <p:cNvPicPr/>
            <p:nvPr/>
          </p:nvPicPr>
          <p:blipFill>
            <a:blip r:embed="rId12" cstate="print"/>
            <a:stretch>
              <a:fillRect/>
            </a:stretch>
          </p:blipFill>
          <p:spPr>
            <a:xfrm>
              <a:off x="5744094" y="5000104"/>
              <a:ext cx="777239" cy="419792"/>
            </a:xfrm>
            <a:prstGeom prst="rect">
              <a:avLst/>
            </a:prstGeom>
          </p:spPr>
        </p:pic>
        <p:sp>
          <p:nvSpPr>
            <p:cNvPr id="27" name="object 27"/>
            <p:cNvSpPr/>
            <p:nvPr/>
          </p:nvSpPr>
          <p:spPr>
            <a:xfrm>
              <a:off x="5701960" y="5070486"/>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28" name="object 28"/>
          <p:cNvSpPr txBox="1"/>
          <p:nvPr/>
        </p:nvSpPr>
        <p:spPr>
          <a:xfrm>
            <a:off x="7232311" y="5058683"/>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4:</a:t>
            </a:r>
            <a:r>
              <a:rPr spc="-5" dirty="0">
                <a:latin typeface="Arial"/>
                <a:cs typeface="Arial"/>
              </a:rPr>
              <a:t> </a:t>
            </a:r>
            <a:r>
              <a:rPr b="1" spc="-25" dirty="0">
                <a:latin typeface="Arial"/>
                <a:cs typeface="Arial"/>
              </a:rPr>
              <a:t>214</a:t>
            </a:r>
            <a:endParaRPr>
              <a:latin typeface="Arial"/>
              <a:cs typeface="Arial"/>
            </a:endParaRPr>
          </a:p>
        </p:txBody>
      </p:sp>
      <p:grpSp>
        <p:nvGrpSpPr>
          <p:cNvPr id="29" name="object 29"/>
          <p:cNvGrpSpPr/>
          <p:nvPr/>
        </p:nvGrpSpPr>
        <p:grpSpPr>
          <a:xfrm>
            <a:off x="7197436" y="5278581"/>
            <a:ext cx="1222375" cy="424180"/>
            <a:chOff x="5673435" y="5278581"/>
            <a:chExt cx="1222375" cy="424180"/>
          </a:xfrm>
        </p:grpSpPr>
        <p:pic>
          <p:nvPicPr>
            <p:cNvPr id="30" name="object 30"/>
            <p:cNvPicPr/>
            <p:nvPr/>
          </p:nvPicPr>
          <p:blipFill>
            <a:blip r:embed="rId13" cstate="print"/>
            <a:stretch>
              <a:fillRect/>
            </a:stretch>
          </p:blipFill>
          <p:spPr>
            <a:xfrm>
              <a:off x="5673435" y="5299363"/>
              <a:ext cx="1221970" cy="378229"/>
            </a:xfrm>
            <a:prstGeom prst="rect">
              <a:avLst/>
            </a:prstGeom>
          </p:spPr>
        </p:pic>
        <p:pic>
          <p:nvPicPr>
            <p:cNvPr id="31" name="object 31"/>
            <p:cNvPicPr/>
            <p:nvPr/>
          </p:nvPicPr>
          <p:blipFill>
            <a:blip r:embed="rId14" cstate="print"/>
            <a:stretch>
              <a:fillRect/>
            </a:stretch>
          </p:blipFill>
          <p:spPr>
            <a:xfrm>
              <a:off x="5744094" y="5278581"/>
              <a:ext cx="270163" cy="423949"/>
            </a:xfrm>
            <a:prstGeom prst="rect">
              <a:avLst/>
            </a:prstGeom>
          </p:spPr>
        </p:pic>
        <p:sp>
          <p:nvSpPr>
            <p:cNvPr id="32" name="object 32"/>
            <p:cNvSpPr/>
            <p:nvPr/>
          </p:nvSpPr>
          <p:spPr>
            <a:xfrm>
              <a:off x="5701960" y="5349421"/>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33" name="object 33"/>
          <p:cNvSpPr txBox="1"/>
          <p:nvPr/>
        </p:nvSpPr>
        <p:spPr>
          <a:xfrm>
            <a:off x="7232311" y="5337618"/>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5</a:t>
            </a:r>
            <a:endParaRPr>
              <a:latin typeface="Arial"/>
              <a:cs typeface="Arial"/>
            </a:endParaRPr>
          </a:p>
        </p:txBody>
      </p:sp>
      <p:grpSp>
        <p:nvGrpSpPr>
          <p:cNvPr id="34" name="object 34"/>
          <p:cNvGrpSpPr/>
          <p:nvPr/>
        </p:nvGrpSpPr>
        <p:grpSpPr>
          <a:xfrm>
            <a:off x="7197436" y="5557058"/>
            <a:ext cx="1222375" cy="420370"/>
            <a:chOff x="5673435" y="5557058"/>
            <a:chExt cx="1222375" cy="420370"/>
          </a:xfrm>
        </p:grpSpPr>
        <p:pic>
          <p:nvPicPr>
            <p:cNvPr id="35" name="object 35"/>
            <p:cNvPicPr/>
            <p:nvPr/>
          </p:nvPicPr>
          <p:blipFill>
            <a:blip r:embed="rId15" cstate="print"/>
            <a:stretch>
              <a:fillRect/>
            </a:stretch>
          </p:blipFill>
          <p:spPr>
            <a:xfrm>
              <a:off x="5673435" y="5573683"/>
              <a:ext cx="1221970" cy="382385"/>
            </a:xfrm>
            <a:prstGeom prst="rect">
              <a:avLst/>
            </a:prstGeom>
          </p:spPr>
        </p:pic>
        <p:pic>
          <p:nvPicPr>
            <p:cNvPr id="36" name="object 36"/>
            <p:cNvPicPr/>
            <p:nvPr/>
          </p:nvPicPr>
          <p:blipFill>
            <a:blip r:embed="rId16" cstate="print"/>
            <a:stretch>
              <a:fillRect/>
            </a:stretch>
          </p:blipFill>
          <p:spPr>
            <a:xfrm>
              <a:off x="5744094" y="5557058"/>
              <a:ext cx="270163" cy="419792"/>
            </a:xfrm>
            <a:prstGeom prst="rect">
              <a:avLst/>
            </a:prstGeom>
          </p:spPr>
        </p:pic>
      </p:grpSp>
      <p:sp>
        <p:nvSpPr>
          <p:cNvPr id="37" name="object 37"/>
          <p:cNvSpPr txBox="1"/>
          <p:nvPr/>
        </p:nvSpPr>
        <p:spPr>
          <a:xfrm>
            <a:off x="7225961" y="5625804"/>
            <a:ext cx="1118235" cy="276860"/>
          </a:xfrm>
          <a:prstGeom prst="rect">
            <a:avLst/>
          </a:prstGeom>
          <a:ln w="12699">
            <a:solidFill>
              <a:srgbClr val="000000"/>
            </a:solidFill>
          </a:ln>
        </p:spPr>
        <p:txBody>
          <a:bodyPr vert="horz" wrap="square" lIns="0" tIns="1270" rIns="0" bIns="0" rtlCol="0">
            <a:spAutoFit/>
          </a:bodyPr>
          <a:lstStyle/>
          <a:p>
            <a:pPr marL="90805">
              <a:spcBef>
                <a:spcPts val="10"/>
              </a:spcBef>
            </a:pPr>
            <a:r>
              <a:rPr dirty="0">
                <a:latin typeface="Arial"/>
                <a:cs typeface="Arial"/>
              </a:rPr>
              <a:t>6</a:t>
            </a:r>
            <a:endParaRPr>
              <a:latin typeface="Arial"/>
              <a:cs typeface="Arial"/>
            </a:endParaRPr>
          </a:p>
        </p:txBody>
      </p:sp>
      <p:grpSp>
        <p:nvGrpSpPr>
          <p:cNvPr id="38" name="object 38"/>
          <p:cNvGrpSpPr/>
          <p:nvPr/>
        </p:nvGrpSpPr>
        <p:grpSpPr>
          <a:xfrm>
            <a:off x="7197436" y="5831377"/>
            <a:ext cx="1222375" cy="424180"/>
            <a:chOff x="5673435" y="5831377"/>
            <a:chExt cx="1222375" cy="424180"/>
          </a:xfrm>
        </p:grpSpPr>
        <p:pic>
          <p:nvPicPr>
            <p:cNvPr id="39" name="object 39"/>
            <p:cNvPicPr/>
            <p:nvPr/>
          </p:nvPicPr>
          <p:blipFill>
            <a:blip r:embed="rId17" cstate="print"/>
            <a:stretch>
              <a:fillRect/>
            </a:stretch>
          </p:blipFill>
          <p:spPr>
            <a:xfrm>
              <a:off x="5673435" y="5852159"/>
              <a:ext cx="1221970" cy="378229"/>
            </a:xfrm>
            <a:prstGeom prst="rect">
              <a:avLst/>
            </a:prstGeom>
          </p:spPr>
        </p:pic>
        <p:pic>
          <p:nvPicPr>
            <p:cNvPr id="40" name="object 40"/>
            <p:cNvPicPr/>
            <p:nvPr/>
          </p:nvPicPr>
          <p:blipFill>
            <a:blip r:embed="rId18" cstate="print"/>
            <a:stretch>
              <a:fillRect/>
            </a:stretch>
          </p:blipFill>
          <p:spPr>
            <a:xfrm>
              <a:off x="5744094" y="5831377"/>
              <a:ext cx="270163" cy="423949"/>
            </a:xfrm>
            <a:prstGeom prst="rect">
              <a:avLst/>
            </a:prstGeom>
          </p:spPr>
        </p:pic>
      </p:grpSp>
      <p:sp>
        <p:nvSpPr>
          <p:cNvPr id="41" name="object 41"/>
          <p:cNvSpPr txBox="1"/>
          <p:nvPr/>
        </p:nvSpPr>
        <p:spPr>
          <a:xfrm>
            <a:off x="7225961" y="5902188"/>
            <a:ext cx="1118235" cy="276860"/>
          </a:xfrm>
          <a:prstGeom prst="rect">
            <a:avLst/>
          </a:prstGeom>
          <a:ln w="12699">
            <a:solidFill>
              <a:srgbClr val="000000"/>
            </a:solidFill>
          </a:ln>
        </p:spPr>
        <p:txBody>
          <a:bodyPr vert="horz" wrap="square" lIns="0" tIns="635" rIns="0" bIns="0" rtlCol="0">
            <a:spAutoFit/>
          </a:bodyPr>
          <a:lstStyle/>
          <a:p>
            <a:pPr marL="90805">
              <a:spcBef>
                <a:spcPts val="5"/>
              </a:spcBef>
            </a:pPr>
            <a:r>
              <a:rPr dirty="0">
                <a:latin typeface="Arial"/>
                <a:cs typeface="Arial"/>
              </a:rPr>
              <a:t>7</a:t>
            </a:r>
            <a:endParaRPr>
              <a:latin typeface="Arial"/>
              <a:cs typeface="Arial"/>
            </a:endParaRPr>
          </a:p>
        </p:txBody>
      </p:sp>
      <p:grpSp>
        <p:nvGrpSpPr>
          <p:cNvPr id="42" name="object 42"/>
          <p:cNvGrpSpPr/>
          <p:nvPr/>
        </p:nvGrpSpPr>
        <p:grpSpPr>
          <a:xfrm>
            <a:off x="7197436" y="6109854"/>
            <a:ext cx="1222375" cy="420370"/>
            <a:chOff x="5673435" y="6109854"/>
            <a:chExt cx="1222375" cy="420370"/>
          </a:xfrm>
        </p:grpSpPr>
        <p:pic>
          <p:nvPicPr>
            <p:cNvPr id="43" name="object 43"/>
            <p:cNvPicPr/>
            <p:nvPr/>
          </p:nvPicPr>
          <p:blipFill>
            <a:blip r:embed="rId19" cstate="print"/>
            <a:stretch>
              <a:fillRect/>
            </a:stretch>
          </p:blipFill>
          <p:spPr>
            <a:xfrm>
              <a:off x="5673435" y="6126480"/>
              <a:ext cx="1221970" cy="382385"/>
            </a:xfrm>
            <a:prstGeom prst="rect">
              <a:avLst/>
            </a:prstGeom>
          </p:spPr>
        </p:pic>
        <p:pic>
          <p:nvPicPr>
            <p:cNvPr id="44" name="object 44"/>
            <p:cNvPicPr/>
            <p:nvPr/>
          </p:nvPicPr>
          <p:blipFill>
            <a:blip r:embed="rId20" cstate="print"/>
            <a:stretch>
              <a:fillRect/>
            </a:stretch>
          </p:blipFill>
          <p:spPr>
            <a:xfrm>
              <a:off x="5744094" y="6109854"/>
              <a:ext cx="270163" cy="419792"/>
            </a:xfrm>
            <a:prstGeom prst="rect">
              <a:avLst/>
            </a:prstGeom>
          </p:spPr>
        </p:pic>
        <p:sp>
          <p:nvSpPr>
            <p:cNvPr id="45" name="object 45"/>
            <p:cNvSpPr/>
            <p:nvPr/>
          </p:nvSpPr>
          <p:spPr>
            <a:xfrm>
              <a:off x="5701960" y="6178842"/>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46" name="object 46"/>
          <p:cNvSpPr txBox="1"/>
          <p:nvPr/>
        </p:nvSpPr>
        <p:spPr>
          <a:xfrm>
            <a:off x="7232311" y="6167039"/>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8</a:t>
            </a:r>
            <a:endParaRPr>
              <a:latin typeface="Arial"/>
              <a:cs typeface="Arial"/>
            </a:endParaRPr>
          </a:p>
        </p:txBody>
      </p:sp>
      <p:grpSp>
        <p:nvGrpSpPr>
          <p:cNvPr id="47" name="object 47"/>
          <p:cNvGrpSpPr/>
          <p:nvPr/>
        </p:nvGrpSpPr>
        <p:grpSpPr>
          <a:xfrm>
            <a:off x="7197436" y="6400800"/>
            <a:ext cx="1222375" cy="420370"/>
            <a:chOff x="5673435" y="6400800"/>
            <a:chExt cx="1222375" cy="420370"/>
          </a:xfrm>
        </p:grpSpPr>
        <p:pic>
          <p:nvPicPr>
            <p:cNvPr id="48" name="object 48"/>
            <p:cNvPicPr/>
            <p:nvPr/>
          </p:nvPicPr>
          <p:blipFill>
            <a:blip r:embed="rId21" cstate="print"/>
            <a:stretch>
              <a:fillRect/>
            </a:stretch>
          </p:blipFill>
          <p:spPr>
            <a:xfrm>
              <a:off x="5673435" y="6417425"/>
              <a:ext cx="1221970" cy="382385"/>
            </a:xfrm>
            <a:prstGeom prst="rect">
              <a:avLst/>
            </a:prstGeom>
          </p:spPr>
        </p:pic>
        <p:pic>
          <p:nvPicPr>
            <p:cNvPr id="49" name="object 49"/>
            <p:cNvPicPr/>
            <p:nvPr/>
          </p:nvPicPr>
          <p:blipFill>
            <a:blip r:embed="rId22" cstate="print"/>
            <a:stretch>
              <a:fillRect/>
            </a:stretch>
          </p:blipFill>
          <p:spPr>
            <a:xfrm>
              <a:off x="5744094" y="6400800"/>
              <a:ext cx="777239" cy="419792"/>
            </a:xfrm>
            <a:prstGeom prst="rect">
              <a:avLst/>
            </a:prstGeom>
          </p:spPr>
        </p:pic>
        <p:sp>
          <p:nvSpPr>
            <p:cNvPr id="50" name="object 50"/>
            <p:cNvSpPr/>
            <p:nvPr/>
          </p:nvSpPr>
          <p:spPr>
            <a:xfrm>
              <a:off x="5701960" y="6470375"/>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51" name="object 51"/>
          <p:cNvSpPr txBox="1"/>
          <p:nvPr/>
        </p:nvSpPr>
        <p:spPr>
          <a:xfrm>
            <a:off x="7232311" y="6458573"/>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9:</a:t>
            </a:r>
            <a:r>
              <a:rPr spc="-5" dirty="0">
                <a:latin typeface="Arial"/>
                <a:cs typeface="Arial"/>
              </a:rPr>
              <a:t> </a:t>
            </a:r>
            <a:r>
              <a:rPr b="1" spc="-25" dirty="0">
                <a:latin typeface="Arial"/>
                <a:cs typeface="Arial"/>
              </a:rPr>
              <a:t>519</a:t>
            </a:r>
            <a:endParaRPr>
              <a:latin typeface="Arial"/>
              <a:cs typeface="Arial"/>
            </a:endParaRPr>
          </a:p>
        </p:txBody>
      </p:sp>
      <p:grpSp>
        <p:nvGrpSpPr>
          <p:cNvPr id="52" name="object 52"/>
          <p:cNvGrpSpPr/>
          <p:nvPr/>
        </p:nvGrpSpPr>
        <p:grpSpPr>
          <a:xfrm>
            <a:off x="4520738" y="4667596"/>
            <a:ext cx="1222375" cy="902335"/>
            <a:chOff x="2996737" y="4667595"/>
            <a:chExt cx="1222375" cy="902335"/>
          </a:xfrm>
        </p:grpSpPr>
        <p:pic>
          <p:nvPicPr>
            <p:cNvPr id="53" name="object 53"/>
            <p:cNvPicPr/>
            <p:nvPr/>
          </p:nvPicPr>
          <p:blipFill>
            <a:blip r:embed="rId23" cstate="print"/>
            <a:stretch>
              <a:fillRect/>
            </a:stretch>
          </p:blipFill>
          <p:spPr>
            <a:xfrm>
              <a:off x="2996737" y="4667595"/>
              <a:ext cx="1221970" cy="901930"/>
            </a:xfrm>
            <a:prstGeom prst="rect">
              <a:avLst/>
            </a:prstGeom>
          </p:spPr>
        </p:pic>
        <p:pic>
          <p:nvPicPr>
            <p:cNvPr id="54" name="object 54"/>
            <p:cNvPicPr/>
            <p:nvPr/>
          </p:nvPicPr>
          <p:blipFill>
            <a:blip r:embed="rId24" cstate="print"/>
            <a:stretch>
              <a:fillRect/>
            </a:stretch>
          </p:blipFill>
          <p:spPr>
            <a:xfrm>
              <a:off x="3117272" y="4771504"/>
              <a:ext cx="1005839" cy="689956"/>
            </a:xfrm>
            <a:prstGeom prst="rect">
              <a:avLst/>
            </a:prstGeom>
          </p:spPr>
        </p:pic>
      </p:grpSp>
      <p:sp>
        <p:nvSpPr>
          <p:cNvPr id="55" name="object 55"/>
          <p:cNvSpPr txBox="1"/>
          <p:nvPr/>
        </p:nvSpPr>
        <p:spPr>
          <a:xfrm>
            <a:off x="4547813" y="4721371"/>
            <a:ext cx="1118235" cy="677750"/>
          </a:xfrm>
          <a:prstGeom prst="rect">
            <a:avLst/>
          </a:prstGeom>
          <a:ln w="12699">
            <a:solidFill>
              <a:srgbClr val="000000"/>
            </a:solidFill>
          </a:ln>
        </p:spPr>
        <p:txBody>
          <a:bodyPr vert="horz" wrap="square" lIns="0" tIns="137795" rIns="0" bIns="0" rtlCol="0">
            <a:spAutoFit/>
          </a:bodyPr>
          <a:lstStyle/>
          <a:p>
            <a:pPr marL="154940" marR="141605" indent="111125">
              <a:lnSpc>
                <a:spcPts val="2100"/>
              </a:lnSpc>
              <a:spcBef>
                <a:spcPts val="1085"/>
              </a:spcBef>
            </a:pPr>
            <a:r>
              <a:rPr i="1" dirty="0">
                <a:latin typeface="Arial"/>
                <a:cs typeface="Arial"/>
              </a:rPr>
              <a:t>h(x)</a:t>
            </a:r>
            <a:r>
              <a:rPr i="1" spc="-5" dirty="0">
                <a:latin typeface="Arial"/>
                <a:cs typeface="Arial"/>
              </a:rPr>
              <a:t> </a:t>
            </a:r>
            <a:r>
              <a:rPr i="1" spc="-50" dirty="0">
                <a:latin typeface="Arial"/>
                <a:cs typeface="Arial"/>
              </a:rPr>
              <a:t>= </a:t>
            </a:r>
            <a:r>
              <a:rPr i="1" spc="-10" dirty="0">
                <a:latin typeface="Arial"/>
                <a:cs typeface="Arial"/>
              </a:rPr>
              <a:t>key%10</a:t>
            </a:r>
            <a:endParaRPr>
              <a:latin typeface="Arial"/>
              <a:cs typeface="Arial"/>
            </a:endParaRPr>
          </a:p>
        </p:txBody>
      </p:sp>
      <p:grpSp>
        <p:nvGrpSpPr>
          <p:cNvPr id="56" name="object 56"/>
          <p:cNvGrpSpPr/>
          <p:nvPr/>
        </p:nvGrpSpPr>
        <p:grpSpPr>
          <a:xfrm>
            <a:off x="2380211" y="4738254"/>
            <a:ext cx="1222375" cy="424180"/>
            <a:chOff x="856210" y="4738254"/>
            <a:chExt cx="1222375" cy="424180"/>
          </a:xfrm>
        </p:grpSpPr>
        <p:pic>
          <p:nvPicPr>
            <p:cNvPr id="57" name="object 57"/>
            <p:cNvPicPr/>
            <p:nvPr/>
          </p:nvPicPr>
          <p:blipFill>
            <a:blip r:embed="rId25" cstate="print"/>
            <a:stretch>
              <a:fillRect/>
            </a:stretch>
          </p:blipFill>
          <p:spPr>
            <a:xfrm>
              <a:off x="856210" y="4759036"/>
              <a:ext cx="1221970" cy="378229"/>
            </a:xfrm>
            <a:prstGeom prst="rect">
              <a:avLst/>
            </a:prstGeom>
          </p:spPr>
        </p:pic>
        <p:pic>
          <p:nvPicPr>
            <p:cNvPr id="58" name="object 58"/>
            <p:cNvPicPr/>
            <p:nvPr/>
          </p:nvPicPr>
          <p:blipFill>
            <a:blip r:embed="rId26" cstate="print"/>
            <a:stretch>
              <a:fillRect/>
            </a:stretch>
          </p:blipFill>
          <p:spPr>
            <a:xfrm>
              <a:off x="1205345" y="4738254"/>
              <a:ext cx="523701" cy="423949"/>
            </a:xfrm>
            <a:prstGeom prst="rect">
              <a:avLst/>
            </a:prstGeom>
          </p:spPr>
        </p:pic>
      </p:grpSp>
      <p:sp>
        <p:nvSpPr>
          <p:cNvPr id="59" name="object 59"/>
          <p:cNvSpPr txBox="1"/>
          <p:nvPr/>
        </p:nvSpPr>
        <p:spPr>
          <a:xfrm>
            <a:off x="2407512" y="4801818"/>
            <a:ext cx="1118235" cy="276860"/>
          </a:xfrm>
          <a:prstGeom prst="rect">
            <a:avLst/>
          </a:prstGeom>
          <a:ln w="12699">
            <a:solidFill>
              <a:srgbClr val="000000"/>
            </a:solidFill>
          </a:ln>
        </p:spPr>
        <p:txBody>
          <a:bodyPr vert="horz" wrap="square" lIns="0" tIns="8890" rIns="0" bIns="0" rtlCol="0">
            <a:spAutoFit/>
          </a:bodyPr>
          <a:lstStyle/>
          <a:p>
            <a:pPr marL="370840">
              <a:lnSpc>
                <a:spcPts val="2105"/>
              </a:lnSpc>
              <a:spcBef>
                <a:spcPts val="70"/>
              </a:spcBef>
            </a:pPr>
            <a:r>
              <a:rPr spc="-25" dirty="0">
                <a:latin typeface="Arial"/>
                <a:cs typeface="Arial"/>
              </a:rPr>
              <a:t>519</a:t>
            </a:r>
            <a:endParaRPr>
              <a:latin typeface="Arial"/>
              <a:cs typeface="Arial"/>
            </a:endParaRPr>
          </a:p>
        </p:txBody>
      </p:sp>
      <p:grpSp>
        <p:nvGrpSpPr>
          <p:cNvPr id="60" name="object 60"/>
          <p:cNvGrpSpPr/>
          <p:nvPr/>
        </p:nvGrpSpPr>
        <p:grpSpPr>
          <a:xfrm>
            <a:off x="2380211" y="4172989"/>
            <a:ext cx="4845685" cy="2501900"/>
            <a:chOff x="856210" y="4172989"/>
            <a:chExt cx="4845685" cy="2501900"/>
          </a:xfrm>
        </p:grpSpPr>
        <p:sp>
          <p:nvSpPr>
            <p:cNvPr id="61" name="object 61"/>
            <p:cNvSpPr/>
            <p:nvPr/>
          </p:nvSpPr>
          <p:spPr>
            <a:xfrm>
              <a:off x="2001705" y="4947862"/>
              <a:ext cx="994410" cy="170815"/>
            </a:xfrm>
            <a:custGeom>
              <a:avLst/>
              <a:gdLst/>
              <a:ahLst/>
              <a:cxnLst/>
              <a:rect l="l" t="t" r="r" b="b"/>
              <a:pathLst>
                <a:path w="994410" h="170814">
                  <a:moveTo>
                    <a:pt x="0" y="0"/>
                  </a:moveTo>
                  <a:lnTo>
                    <a:pt x="511174" y="0"/>
                  </a:lnTo>
                  <a:lnTo>
                    <a:pt x="511174" y="170656"/>
                  </a:lnTo>
                  <a:lnTo>
                    <a:pt x="993994" y="170656"/>
                  </a:lnTo>
                </a:path>
              </a:pathLst>
            </a:custGeom>
            <a:ln w="28574">
              <a:solidFill>
                <a:srgbClr val="8D8D8D"/>
              </a:solidFill>
            </a:ln>
          </p:spPr>
          <p:txBody>
            <a:bodyPr wrap="square" lIns="0" tIns="0" rIns="0" bIns="0" rtlCol="0"/>
            <a:lstStyle/>
            <a:p>
              <a:endParaRPr/>
            </a:p>
          </p:txBody>
        </p:sp>
        <p:pic>
          <p:nvPicPr>
            <p:cNvPr id="62" name="object 62"/>
            <p:cNvPicPr/>
            <p:nvPr/>
          </p:nvPicPr>
          <p:blipFill>
            <a:blip r:embed="rId27" cstate="print"/>
            <a:stretch>
              <a:fillRect/>
            </a:stretch>
          </p:blipFill>
          <p:spPr>
            <a:xfrm>
              <a:off x="2893658" y="5052194"/>
              <a:ext cx="130397" cy="132647"/>
            </a:xfrm>
            <a:prstGeom prst="rect">
              <a:avLst/>
            </a:prstGeom>
          </p:spPr>
        </p:pic>
        <p:sp>
          <p:nvSpPr>
            <p:cNvPr id="63" name="object 63"/>
            <p:cNvSpPr/>
            <p:nvPr/>
          </p:nvSpPr>
          <p:spPr>
            <a:xfrm>
              <a:off x="4142005" y="5118496"/>
              <a:ext cx="1531620" cy="1490345"/>
            </a:xfrm>
            <a:custGeom>
              <a:avLst/>
              <a:gdLst/>
              <a:ahLst/>
              <a:cxnLst/>
              <a:rect l="l" t="t" r="r" b="b"/>
              <a:pathLst>
                <a:path w="1531620" h="1490345">
                  <a:moveTo>
                    <a:pt x="0" y="0"/>
                  </a:moveTo>
                  <a:lnTo>
                    <a:pt x="780256" y="0"/>
                  </a:lnTo>
                  <a:lnTo>
                    <a:pt x="780256" y="1489868"/>
                  </a:lnTo>
                  <a:lnTo>
                    <a:pt x="1531362" y="1489868"/>
                  </a:lnTo>
                </a:path>
              </a:pathLst>
            </a:custGeom>
            <a:ln w="28574">
              <a:solidFill>
                <a:srgbClr val="8D8D8D"/>
              </a:solidFill>
            </a:ln>
          </p:spPr>
          <p:txBody>
            <a:bodyPr wrap="square" lIns="0" tIns="0" rIns="0" bIns="0" rtlCol="0"/>
            <a:lstStyle/>
            <a:p>
              <a:endParaRPr/>
            </a:p>
          </p:txBody>
        </p:sp>
        <p:pic>
          <p:nvPicPr>
            <p:cNvPr id="64" name="object 64"/>
            <p:cNvPicPr/>
            <p:nvPr/>
          </p:nvPicPr>
          <p:blipFill>
            <a:blip r:embed="rId27" cstate="print"/>
            <a:stretch>
              <a:fillRect/>
            </a:stretch>
          </p:blipFill>
          <p:spPr>
            <a:xfrm>
              <a:off x="5571327" y="6542041"/>
              <a:ext cx="130397" cy="132646"/>
            </a:xfrm>
            <a:prstGeom prst="rect">
              <a:avLst/>
            </a:prstGeom>
          </p:spPr>
        </p:pic>
        <p:pic>
          <p:nvPicPr>
            <p:cNvPr id="65" name="object 65"/>
            <p:cNvPicPr/>
            <p:nvPr/>
          </p:nvPicPr>
          <p:blipFill>
            <a:blip r:embed="rId28" cstate="print"/>
            <a:stretch>
              <a:fillRect/>
            </a:stretch>
          </p:blipFill>
          <p:spPr>
            <a:xfrm>
              <a:off x="856210" y="4189614"/>
              <a:ext cx="1221970" cy="378229"/>
            </a:xfrm>
            <a:prstGeom prst="rect">
              <a:avLst/>
            </a:prstGeom>
          </p:spPr>
        </p:pic>
        <p:pic>
          <p:nvPicPr>
            <p:cNvPr id="66" name="object 66"/>
            <p:cNvPicPr/>
            <p:nvPr/>
          </p:nvPicPr>
          <p:blipFill>
            <a:blip r:embed="rId29" cstate="print"/>
            <a:stretch>
              <a:fillRect/>
            </a:stretch>
          </p:blipFill>
          <p:spPr>
            <a:xfrm>
              <a:off x="1205345" y="4172989"/>
              <a:ext cx="523701" cy="419792"/>
            </a:xfrm>
            <a:prstGeom prst="rect">
              <a:avLst/>
            </a:prstGeom>
          </p:spPr>
        </p:pic>
        <p:sp>
          <p:nvSpPr>
            <p:cNvPr id="67" name="object 67"/>
            <p:cNvSpPr/>
            <p:nvPr/>
          </p:nvSpPr>
          <p:spPr>
            <a:xfrm>
              <a:off x="883511" y="4241601"/>
              <a:ext cx="1118235" cy="276225"/>
            </a:xfrm>
            <a:custGeom>
              <a:avLst/>
              <a:gdLst/>
              <a:ahLst/>
              <a:cxnLst/>
              <a:rect l="l" t="t" r="r" b="b"/>
              <a:pathLst>
                <a:path w="1118235"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68" name="object 68"/>
          <p:cNvSpPr txBox="1"/>
          <p:nvPr/>
        </p:nvSpPr>
        <p:spPr>
          <a:xfrm>
            <a:off x="2407512" y="3949532"/>
            <a:ext cx="1118235" cy="585417"/>
          </a:xfrm>
          <a:prstGeom prst="rect">
            <a:avLst/>
          </a:prstGeom>
          <a:ln w="12699">
            <a:solidFill>
              <a:srgbClr val="000000"/>
            </a:solidFill>
          </a:ln>
        </p:spPr>
        <p:txBody>
          <a:bodyPr vert="horz" wrap="square" lIns="0" tIns="635" rIns="0" bIns="0" rtlCol="0">
            <a:spAutoFit/>
          </a:bodyPr>
          <a:lstStyle/>
          <a:p>
            <a:pPr>
              <a:spcBef>
                <a:spcPts val="5"/>
              </a:spcBef>
            </a:pPr>
            <a:endParaRPr sz="2000">
              <a:latin typeface="Times New Roman"/>
              <a:cs typeface="Times New Roman"/>
            </a:endParaRPr>
          </a:p>
          <a:p>
            <a:pPr marL="370840"/>
            <a:r>
              <a:rPr spc="-25" dirty="0">
                <a:latin typeface="Arial"/>
                <a:cs typeface="Arial"/>
              </a:rPr>
              <a:t>214</a:t>
            </a:r>
            <a:endParaRPr>
              <a:latin typeface="Arial"/>
              <a:cs typeface="Arial"/>
            </a:endParaRPr>
          </a:p>
        </p:txBody>
      </p:sp>
      <p:grpSp>
        <p:nvGrpSpPr>
          <p:cNvPr id="69" name="object 69"/>
          <p:cNvGrpSpPr/>
          <p:nvPr/>
        </p:nvGrpSpPr>
        <p:grpSpPr>
          <a:xfrm>
            <a:off x="2380211" y="4365372"/>
            <a:ext cx="4845685" cy="1362710"/>
            <a:chOff x="856210" y="4365372"/>
            <a:chExt cx="4845685" cy="1362710"/>
          </a:xfrm>
        </p:grpSpPr>
        <p:sp>
          <p:nvSpPr>
            <p:cNvPr id="70" name="object 70"/>
            <p:cNvSpPr/>
            <p:nvPr/>
          </p:nvSpPr>
          <p:spPr>
            <a:xfrm>
              <a:off x="2001705" y="4379659"/>
              <a:ext cx="994410" cy="739140"/>
            </a:xfrm>
            <a:custGeom>
              <a:avLst/>
              <a:gdLst/>
              <a:ahLst/>
              <a:cxnLst/>
              <a:rect l="l" t="t" r="r" b="b"/>
              <a:pathLst>
                <a:path w="994410" h="739139">
                  <a:moveTo>
                    <a:pt x="0" y="0"/>
                  </a:moveTo>
                  <a:lnTo>
                    <a:pt x="511174" y="0"/>
                  </a:lnTo>
                  <a:lnTo>
                    <a:pt x="511174" y="738981"/>
                  </a:lnTo>
                  <a:lnTo>
                    <a:pt x="993994" y="738981"/>
                  </a:lnTo>
                </a:path>
              </a:pathLst>
            </a:custGeom>
            <a:ln w="28574">
              <a:solidFill>
                <a:srgbClr val="8D8D8D"/>
              </a:solidFill>
            </a:ln>
          </p:spPr>
          <p:txBody>
            <a:bodyPr wrap="square" lIns="0" tIns="0" rIns="0" bIns="0" rtlCol="0"/>
            <a:lstStyle/>
            <a:p>
              <a:endParaRPr/>
            </a:p>
          </p:txBody>
        </p:sp>
        <p:pic>
          <p:nvPicPr>
            <p:cNvPr id="71" name="object 71"/>
            <p:cNvPicPr/>
            <p:nvPr/>
          </p:nvPicPr>
          <p:blipFill>
            <a:blip r:embed="rId27" cstate="print"/>
            <a:stretch>
              <a:fillRect/>
            </a:stretch>
          </p:blipFill>
          <p:spPr>
            <a:xfrm>
              <a:off x="2893658" y="5052317"/>
              <a:ext cx="130397" cy="132647"/>
            </a:xfrm>
            <a:prstGeom prst="rect">
              <a:avLst/>
            </a:prstGeom>
          </p:spPr>
        </p:pic>
        <p:sp>
          <p:nvSpPr>
            <p:cNvPr id="72" name="object 72"/>
            <p:cNvSpPr/>
            <p:nvPr/>
          </p:nvSpPr>
          <p:spPr>
            <a:xfrm>
              <a:off x="4142005" y="5118496"/>
              <a:ext cx="1531620" cy="90170"/>
            </a:xfrm>
            <a:custGeom>
              <a:avLst/>
              <a:gdLst/>
              <a:ahLst/>
              <a:cxnLst/>
              <a:rect l="l" t="t" r="r" b="b"/>
              <a:pathLst>
                <a:path w="1531620" h="90170">
                  <a:moveTo>
                    <a:pt x="0" y="0"/>
                  </a:moveTo>
                  <a:lnTo>
                    <a:pt x="780256" y="0"/>
                  </a:lnTo>
                  <a:lnTo>
                    <a:pt x="780256" y="89693"/>
                  </a:lnTo>
                  <a:lnTo>
                    <a:pt x="1531362" y="89693"/>
                  </a:lnTo>
                </a:path>
              </a:pathLst>
            </a:custGeom>
            <a:ln w="28574">
              <a:solidFill>
                <a:srgbClr val="8D8D8D"/>
              </a:solidFill>
            </a:ln>
          </p:spPr>
          <p:txBody>
            <a:bodyPr wrap="square" lIns="0" tIns="0" rIns="0" bIns="0" rtlCol="0"/>
            <a:lstStyle/>
            <a:p>
              <a:endParaRPr/>
            </a:p>
          </p:txBody>
        </p:sp>
        <p:pic>
          <p:nvPicPr>
            <p:cNvPr id="73" name="object 73"/>
            <p:cNvPicPr/>
            <p:nvPr/>
          </p:nvPicPr>
          <p:blipFill>
            <a:blip r:embed="rId27" cstate="print"/>
            <a:stretch>
              <a:fillRect/>
            </a:stretch>
          </p:blipFill>
          <p:spPr>
            <a:xfrm>
              <a:off x="5571327" y="5141866"/>
              <a:ext cx="130397" cy="132646"/>
            </a:xfrm>
            <a:prstGeom prst="rect">
              <a:avLst/>
            </a:prstGeom>
          </p:spPr>
        </p:pic>
        <p:pic>
          <p:nvPicPr>
            <p:cNvPr id="74" name="object 74"/>
            <p:cNvPicPr/>
            <p:nvPr/>
          </p:nvPicPr>
          <p:blipFill>
            <a:blip r:embed="rId30" cstate="print"/>
            <a:stretch>
              <a:fillRect/>
            </a:stretch>
          </p:blipFill>
          <p:spPr>
            <a:xfrm>
              <a:off x="856210" y="5324301"/>
              <a:ext cx="1221970" cy="382385"/>
            </a:xfrm>
            <a:prstGeom prst="rect">
              <a:avLst/>
            </a:prstGeom>
          </p:spPr>
        </p:pic>
        <p:pic>
          <p:nvPicPr>
            <p:cNvPr id="75" name="object 75"/>
            <p:cNvPicPr/>
            <p:nvPr/>
          </p:nvPicPr>
          <p:blipFill>
            <a:blip r:embed="rId31" cstate="print"/>
            <a:stretch>
              <a:fillRect/>
            </a:stretch>
          </p:blipFill>
          <p:spPr>
            <a:xfrm>
              <a:off x="1142999" y="5307676"/>
              <a:ext cx="648392" cy="419792"/>
            </a:xfrm>
            <a:prstGeom prst="rect">
              <a:avLst/>
            </a:prstGeom>
          </p:spPr>
        </p:pic>
        <p:sp>
          <p:nvSpPr>
            <p:cNvPr id="76" name="object 76"/>
            <p:cNvSpPr/>
            <p:nvPr/>
          </p:nvSpPr>
          <p:spPr>
            <a:xfrm>
              <a:off x="883511" y="5377562"/>
              <a:ext cx="1118235" cy="276225"/>
            </a:xfrm>
            <a:custGeom>
              <a:avLst/>
              <a:gdLst/>
              <a:ahLst/>
              <a:cxnLst/>
              <a:rect l="l" t="t" r="r" b="b"/>
              <a:pathLst>
                <a:path w="1118235"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77" name="object 77"/>
          <p:cNvSpPr txBox="1"/>
          <p:nvPr/>
        </p:nvSpPr>
        <p:spPr>
          <a:xfrm>
            <a:off x="2407512" y="5078069"/>
            <a:ext cx="1118235" cy="593111"/>
          </a:xfrm>
          <a:prstGeom prst="rect">
            <a:avLst/>
          </a:prstGeom>
          <a:ln w="12699">
            <a:solidFill>
              <a:srgbClr val="000000"/>
            </a:solidFill>
          </a:ln>
        </p:spPr>
        <p:txBody>
          <a:bodyPr vert="horz" wrap="square" lIns="0" tIns="635" rIns="0" bIns="0" rtlCol="0">
            <a:spAutoFit/>
          </a:bodyPr>
          <a:lstStyle/>
          <a:p>
            <a:pPr>
              <a:spcBef>
                <a:spcPts val="5"/>
              </a:spcBef>
            </a:pPr>
            <a:endParaRPr sz="2050">
              <a:latin typeface="Times New Roman"/>
              <a:cs typeface="Times New Roman"/>
            </a:endParaRPr>
          </a:p>
          <a:p>
            <a:pPr marL="307340"/>
            <a:r>
              <a:rPr spc="-20" dirty="0">
                <a:latin typeface="Arial"/>
                <a:cs typeface="Arial"/>
              </a:rPr>
              <a:t>1001</a:t>
            </a:r>
            <a:endParaRPr>
              <a:latin typeface="Arial"/>
              <a:cs typeface="Arial"/>
            </a:endParaRPr>
          </a:p>
        </p:txBody>
      </p:sp>
      <p:grpSp>
        <p:nvGrpSpPr>
          <p:cNvPr id="78" name="object 78"/>
          <p:cNvGrpSpPr/>
          <p:nvPr/>
        </p:nvGrpSpPr>
        <p:grpSpPr>
          <a:xfrm>
            <a:off x="3511417" y="4313192"/>
            <a:ext cx="3714750" cy="1217295"/>
            <a:chOff x="1987417" y="4313191"/>
            <a:chExt cx="3714750" cy="1217295"/>
          </a:xfrm>
        </p:grpSpPr>
        <p:sp>
          <p:nvSpPr>
            <p:cNvPr id="79" name="object 79"/>
            <p:cNvSpPr/>
            <p:nvPr/>
          </p:nvSpPr>
          <p:spPr>
            <a:xfrm>
              <a:off x="2001705" y="5118745"/>
              <a:ext cx="994410" cy="396875"/>
            </a:xfrm>
            <a:custGeom>
              <a:avLst/>
              <a:gdLst/>
              <a:ahLst/>
              <a:cxnLst/>
              <a:rect l="l" t="t" r="r" b="b"/>
              <a:pathLst>
                <a:path w="994410" h="396875">
                  <a:moveTo>
                    <a:pt x="0" y="396874"/>
                  </a:moveTo>
                  <a:lnTo>
                    <a:pt x="511174" y="396874"/>
                  </a:lnTo>
                  <a:lnTo>
                    <a:pt x="511174" y="0"/>
                  </a:lnTo>
                  <a:lnTo>
                    <a:pt x="993994" y="0"/>
                  </a:lnTo>
                </a:path>
              </a:pathLst>
            </a:custGeom>
            <a:ln w="28574">
              <a:solidFill>
                <a:srgbClr val="8D8D8D"/>
              </a:solidFill>
            </a:ln>
          </p:spPr>
          <p:txBody>
            <a:bodyPr wrap="square" lIns="0" tIns="0" rIns="0" bIns="0" rtlCol="0"/>
            <a:lstStyle/>
            <a:p>
              <a:endParaRPr/>
            </a:p>
          </p:txBody>
        </p:sp>
        <p:pic>
          <p:nvPicPr>
            <p:cNvPr id="80" name="object 80"/>
            <p:cNvPicPr/>
            <p:nvPr/>
          </p:nvPicPr>
          <p:blipFill>
            <a:blip r:embed="rId27" cstate="print"/>
            <a:stretch>
              <a:fillRect/>
            </a:stretch>
          </p:blipFill>
          <p:spPr>
            <a:xfrm>
              <a:off x="2893658" y="5052421"/>
              <a:ext cx="130397" cy="132646"/>
            </a:xfrm>
            <a:prstGeom prst="rect">
              <a:avLst/>
            </a:prstGeom>
          </p:spPr>
        </p:pic>
        <p:sp>
          <p:nvSpPr>
            <p:cNvPr id="81" name="object 81"/>
            <p:cNvSpPr/>
            <p:nvPr/>
          </p:nvSpPr>
          <p:spPr>
            <a:xfrm>
              <a:off x="4142005" y="4379515"/>
              <a:ext cx="1531620" cy="739140"/>
            </a:xfrm>
            <a:custGeom>
              <a:avLst/>
              <a:gdLst/>
              <a:ahLst/>
              <a:cxnLst/>
              <a:rect l="l" t="t" r="r" b="b"/>
              <a:pathLst>
                <a:path w="1531620" h="739139">
                  <a:moveTo>
                    <a:pt x="0" y="738981"/>
                  </a:moveTo>
                  <a:lnTo>
                    <a:pt x="780256" y="738981"/>
                  </a:lnTo>
                  <a:lnTo>
                    <a:pt x="780256" y="0"/>
                  </a:lnTo>
                  <a:lnTo>
                    <a:pt x="1531362" y="0"/>
                  </a:lnTo>
                </a:path>
              </a:pathLst>
            </a:custGeom>
            <a:ln w="28574">
              <a:solidFill>
                <a:srgbClr val="8D8D8D"/>
              </a:solidFill>
            </a:ln>
          </p:spPr>
          <p:txBody>
            <a:bodyPr wrap="square" lIns="0" tIns="0" rIns="0" bIns="0" rtlCol="0"/>
            <a:lstStyle/>
            <a:p>
              <a:endParaRPr/>
            </a:p>
          </p:txBody>
        </p:sp>
        <p:pic>
          <p:nvPicPr>
            <p:cNvPr id="82" name="object 82"/>
            <p:cNvPicPr/>
            <p:nvPr/>
          </p:nvPicPr>
          <p:blipFill>
            <a:blip r:embed="rId27" cstate="print"/>
            <a:stretch>
              <a:fillRect/>
            </a:stretch>
          </p:blipFill>
          <p:spPr>
            <a:xfrm>
              <a:off x="5571327" y="4313191"/>
              <a:ext cx="130397" cy="132646"/>
            </a:xfrm>
            <a:prstGeom prst="rect">
              <a:avLst/>
            </a:prstGeom>
          </p:spPr>
        </p:pic>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40" y="1785620"/>
            <a:ext cx="4498975" cy="452120"/>
          </a:xfrm>
          <a:prstGeom prst="rect">
            <a:avLst/>
          </a:prstGeom>
        </p:spPr>
        <p:txBody>
          <a:bodyPr vert="horz" wrap="square" lIns="0" tIns="12700" rIns="0" bIns="0" rtlCol="0">
            <a:spAutoFit/>
          </a:bodyPr>
          <a:lstStyle/>
          <a:p>
            <a:pPr marL="354965" indent="-342265">
              <a:spcBef>
                <a:spcPts val="100"/>
              </a:spcBef>
              <a:buFont typeface="Arial"/>
              <a:buChar char="•"/>
              <a:tabLst>
                <a:tab pos="354965" algn="l"/>
                <a:tab pos="355600" algn="l"/>
              </a:tabLst>
            </a:pPr>
            <a:r>
              <a:rPr sz="2800" b="1" dirty="0">
                <a:latin typeface="Arial"/>
                <a:cs typeface="Arial"/>
              </a:rPr>
              <a:t>Is</a:t>
            </a:r>
            <a:r>
              <a:rPr sz="2800" b="1" spc="-20" dirty="0">
                <a:latin typeface="Arial"/>
                <a:cs typeface="Arial"/>
              </a:rPr>
              <a:t> </a:t>
            </a:r>
            <a:r>
              <a:rPr sz="2800" b="1" dirty="0">
                <a:latin typeface="Arial"/>
                <a:cs typeface="Arial"/>
              </a:rPr>
              <a:t>there</a:t>
            </a:r>
            <a:r>
              <a:rPr sz="2800" b="1" spc="-5" dirty="0">
                <a:latin typeface="Arial"/>
                <a:cs typeface="Arial"/>
              </a:rPr>
              <a:t> </a:t>
            </a:r>
            <a:r>
              <a:rPr sz="2800" b="1" dirty="0">
                <a:latin typeface="Arial"/>
                <a:cs typeface="Arial"/>
              </a:rPr>
              <a:t>a</a:t>
            </a:r>
            <a:r>
              <a:rPr sz="2800" b="1" spc="-10" dirty="0">
                <a:latin typeface="Arial"/>
                <a:cs typeface="Arial"/>
              </a:rPr>
              <a:t> </a:t>
            </a:r>
            <a:r>
              <a:rPr sz="2800" b="1" dirty="0">
                <a:latin typeface="Arial"/>
                <a:cs typeface="Arial"/>
              </a:rPr>
              <a:t>problem</a:t>
            </a:r>
            <a:r>
              <a:rPr sz="2800" b="1" spc="-5" dirty="0">
                <a:latin typeface="Arial"/>
                <a:cs typeface="Arial"/>
              </a:rPr>
              <a:t> </a:t>
            </a:r>
            <a:r>
              <a:rPr sz="2800" b="1" spc="-20" dirty="0">
                <a:latin typeface="Arial"/>
                <a:cs typeface="Arial"/>
              </a:rPr>
              <a:t>here?</a:t>
            </a:r>
            <a:endParaRPr sz="2800">
              <a:latin typeface="Arial"/>
              <a:cs typeface="Arial"/>
            </a:endParaRPr>
          </a:p>
        </p:txBody>
      </p:sp>
      <p:sp>
        <p:nvSpPr>
          <p:cNvPr id="3" name="object 3"/>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spc="-10" dirty="0"/>
              <a:t>HASH</a:t>
            </a:r>
            <a:r>
              <a:rPr spc="-275" dirty="0"/>
              <a:t> </a:t>
            </a:r>
            <a:r>
              <a:rPr spc="-60" dirty="0"/>
              <a:t>EXAMPLE</a:t>
            </a:r>
          </a:p>
        </p:txBody>
      </p:sp>
      <p:grpSp>
        <p:nvGrpSpPr>
          <p:cNvPr id="4" name="object 4"/>
          <p:cNvGrpSpPr/>
          <p:nvPr/>
        </p:nvGrpSpPr>
        <p:grpSpPr>
          <a:xfrm>
            <a:off x="7197436" y="4168833"/>
            <a:ext cx="1222375" cy="424180"/>
            <a:chOff x="5673435" y="4168833"/>
            <a:chExt cx="1222375" cy="424180"/>
          </a:xfrm>
        </p:grpSpPr>
        <p:pic>
          <p:nvPicPr>
            <p:cNvPr id="5" name="object 5"/>
            <p:cNvPicPr/>
            <p:nvPr/>
          </p:nvPicPr>
          <p:blipFill>
            <a:blip r:embed="rId2" cstate="print"/>
            <a:stretch>
              <a:fillRect/>
            </a:stretch>
          </p:blipFill>
          <p:spPr>
            <a:xfrm>
              <a:off x="5673435" y="4189614"/>
              <a:ext cx="1221970" cy="378229"/>
            </a:xfrm>
            <a:prstGeom prst="rect">
              <a:avLst/>
            </a:prstGeom>
          </p:spPr>
        </p:pic>
        <p:pic>
          <p:nvPicPr>
            <p:cNvPr id="6" name="object 6"/>
            <p:cNvPicPr/>
            <p:nvPr/>
          </p:nvPicPr>
          <p:blipFill>
            <a:blip r:embed="rId3" cstate="print"/>
            <a:stretch>
              <a:fillRect/>
            </a:stretch>
          </p:blipFill>
          <p:spPr>
            <a:xfrm>
              <a:off x="5744094" y="4168833"/>
              <a:ext cx="906087" cy="423949"/>
            </a:xfrm>
            <a:prstGeom prst="rect">
              <a:avLst/>
            </a:prstGeom>
          </p:spPr>
        </p:pic>
        <p:sp>
          <p:nvSpPr>
            <p:cNvPr id="7" name="object 7"/>
            <p:cNvSpPr/>
            <p:nvPr/>
          </p:nvSpPr>
          <p:spPr>
            <a:xfrm>
              <a:off x="5701960" y="4241064"/>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8" name="object 8"/>
          <p:cNvSpPr txBox="1"/>
          <p:nvPr/>
        </p:nvSpPr>
        <p:spPr>
          <a:xfrm>
            <a:off x="7232311" y="4229262"/>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1:</a:t>
            </a:r>
            <a:r>
              <a:rPr spc="-5" dirty="0">
                <a:latin typeface="Arial"/>
                <a:cs typeface="Arial"/>
              </a:rPr>
              <a:t> </a:t>
            </a:r>
            <a:r>
              <a:rPr b="1" spc="-20" dirty="0">
                <a:latin typeface="Arial"/>
                <a:cs typeface="Arial"/>
              </a:rPr>
              <a:t>1001</a:t>
            </a:r>
            <a:endParaRPr>
              <a:latin typeface="Arial"/>
              <a:cs typeface="Arial"/>
            </a:endParaRPr>
          </a:p>
        </p:txBody>
      </p:sp>
      <p:grpSp>
        <p:nvGrpSpPr>
          <p:cNvPr id="9" name="object 9"/>
          <p:cNvGrpSpPr/>
          <p:nvPr/>
        </p:nvGrpSpPr>
        <p:grpSpPr>
          <a:xfrm>
            <a:off x="2380211" y="3877888"/>
            <a:ext cx="6039485" cy="2914015"/>
            <a:chOff x="856210" y="3877887"/>
            <a:chExt cx="6039485" cy="2914015"/>
          </a:xfrm>
        </p:grpSpPr>
        <p:pic>
          <p:nvPicPr>
            <p:cNvPr id="10" name="object 10"/>
            <p:cNvPicPr/>
            <p:nvPr/>
          </p:nvPicPr>
          <p:blipFill>
            <a:blip r:embed="rId4" cstate="print"/>
            <a:stretch>
              <a:fillRect/>
            </a:stretch>
          </p:blipFill>
          <p:spPr>
            <a:xfrm>
              <a:off x="5673435" y="3898668"/>
              <a:ext cx="1221970" cy="378229"/>
            </a:xfrm>
            <a:prstGeom prst="rect">
              <a:avLst/>
            </a:prstGeom>
          </p:spPr>
        </p:pic>
        <p:pic>
          <p:nvPicPr>
            <p:cNvPr id="11" name="object 11"/>
            <p:cNvPicPr/>
            <p:nvPr/>
          </p:nvPicPr>
          <p:blipFill>
            <a:blip r:embed="rId5" cstate="print"/>
            <a:stretch>
              <a:fillRect/>
            </a:stretch>
          </p:blipFill>
          <p:spPr>
            <a:xfrm>
              <a:off x="5744094" y="3877887"/>
              <a:ext cx="270163" cy="423949"/>
            </a:xfrm>
            <a:prstGeom prst="rect">
              <a:avLst/>
            </a:prstGeom>
          </p:spPr>
        </p:pic>
        <p:sp>
          <p:nvSpPr>
            <p:cNvPr id="12" name="object 12"/>
            <p:cNvSpPr/>
            <p:nvPr/>
          </p:nvSpPr>
          <p:spPr>
            <a:xfrm>
              <a:off x="5701960" y="3949531"/>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13" name="object 13"/>
            <p:cNvPicPr/>
            <p:nvPr/>
          </p:nvPicPr>
          <p:blipFill>
            <a:blip r:embed="rId6" cstate="print"/>
            <a:stretch>
              <a:fillRect/>
            </a:stretch>
          </p:blipFill>
          <p:spPr>
            <a:xfrm>
              <a:off x="856210" y="3898669"/>
              <a:ext cx="1221970" cy="2892828"/>
            </a:xfrm>
            <a:prstGeom prst="rect">
              <a:avLst/>
            </a:prstGeom>
          </p:spPr>
        </p:pic>
        <p:sp>
          <p:nvSpPr>
            <p:cNvPr id="14" name="object 14"/>
            <p:cNvSpPr/>
            <p:nvPr/>
          </p:nvSpPr>
          <p:spPr>
            <a:xfrm>
              <a:off x="883511" y="3949531"/>
              <a:ext cx="1118235" cy="2791460"/>
            </a:xfrm>
            <a:custGeom>
              <a:avLst/>
              <a:gdLst/>
              <a:ahLst/>
              <a:cxnLst/>
              <a:rect l="l" t="t" r="r" b="b"/>
              <a:pathLst>
                <a:path w="1118235" h="2791459">
                  <a:moveTo>
                    <a:pt x="0" y="0"/>
                  </a:moveTo>
                  <a:lnTo>
                    <a:pt x="1118193" y="0"/>
                  </a:lnTo>
                  <a:lnTo>
                    <a:pt x="1118193" y="2790885"/>
                  </a:lnTo>
                  <a:lnTo>
                    <a:pt x="0" y="2790885"/>
                  </a:lnTo>
                  <a:lnTo>
                    <a:pt x="0" y="0"/>
                  </a:lnTo>
                  <a:close/>
                </a:path>
              </a:pathLst>
            </a:custGeom>
            <a:ln w="12699">
              <a:solidFill>
                <a:srgbClr val="000000"/>
              </a:solidFill>
            </a:ln>
          </p:spPr>
          <p:txBody>
            <a:bodyPr wrap="square" lIns="0" tIns="0" rIns="0" bIns="0" rtlCol="0"/>
            <a:lstStyle/>
            <a:p>
              <a:endParaRPr/>
            </a:p>
          </p:txBody>
        </p:sp>
      </p:grpSp>
      <p:sp>
        <p:nvSpPr>
          <p:cNvPr id="15" name="object 15"/>
          <p:cNvSpPr txBox="1"/>
          <p:nvPr/>
        </p:nvSpPr>
        <p:spPr>
          <a:xfrm>
            <a:off x="7232311" y="3937729"/>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0</a:t>
            </a:r>
            <a:endParaRPr>
              <a:latin typeface="Arial"/>
              <a:cs typeface="Arial"/>
            </a:endParaRPr>
          </a:p>
        </p:txBody>
      </p:sp>
      <p:grpSp>
        <p:nvGrpSpPr>
          <p:cNvPr id="16" name="object 16"/>
          <p:cNvGrpSpPr/>
          <p:nvPr/>
        </p:nvGrpSpPr>
        <p:grpSpPr>
          <a:xfrm>
            <a:off x="7197436" y="4447308"/>
            <a:ext cx="1222375" cy="420370"/>
            <a:chOff x="5673435" y="4447308"/>
            <a:chExt cx="1222375" cy="420370"/>
          </a:xfrm>
        </p:grpSpPr>
        <p:pic>
          <p:nvPicPr>
            <p:cNvPr id="17" name="object 17"/>
            <p:cNvPicPr/>
            <p:nvPr/>
          </p:nvPicPr>
          <p:blipFill>
            <a:blip r:embed="rId7" cstate="print"/>
            <a:stretch>
              <a:fillRect/>
            </a:stretch>
          </p:blipFill>
          <p:spPr>
            <a:xfrm>
              <a:off x="5673435" y="4463934"/>
              <a:ext cx="1221970" cy="382385"/>
            </a:xfrm>
            <a:prstGeom prst="rect">
              <a:avLst/>
            </a:prstGeom>
          </p:spPr>
        </p:pic>
        <p:pic>
          <p:nvPicPr>
            <p:cNvPr id="18" name="object 18"/>
            <p:cNvPicPr/>
            <p:nvPr/>
          </p:nvPicPr>
          <p:blipFill>
            <a:blip r:embed="rId8" cstate="print"/>
            <a:stretch>
              <a:fillRect/>
            </a:stretch>
          </p:blipFill>
          <p:spPr>
            <a:xfrm>
              <a:off x="5744094" y="4447308"/>
              <a:ext cx="270163" cy="419792"/>
            </a:xfrm>
            <a:prstGeom prst="rect">
              <a:avLst/>
            </a:prstGeom>
          </p:spPr>
        </p:pic>
      </p:grpSp>
      <p:sp>
        <p:nvSpPr>
          <p:cNvPr id="19" name="object 19"/>
          <p:cNvSpPr txBox="1"/>
          <p:nvPr/>
        </p:nvSpPr>
        <p:spPr>
          <a:xfrm>
            <a:off x="7225961" y="4517448"/>
            <a:ext cx="1118235" cy="284480"/>
          </a:xfrm>
          <a:prstGeom prst="rect">
            <a:avLst/>
          </a:prstGeom>
          <a:ln w="12699">
            <a:solidFill>
              <a:srgbClr val="000000"/>
            </a:solidFill>
          </a:ln>
        </p:spPr>
        <p:txBody>
          <a:bodyPr vert="horz" wrap="square" lIns="0" tIns="1270" rIns="0" bIns="0" rtlCol="0">
            <a:spAutoFit/>
          </a:bodyPr>
          <a:lstStyle/>
          <a:p>
            <a:pPr marL="90805">
              <a:spcBef>
                <a:spcPts val="10"/>
              </a:spcBef>
            </a:pPr>
            <a:r>
              <a:rPr dirty="0">
                <a:latin typeface="Arial"/>
                <a:cs typeface="Arial"/>
              </a:rPr>
              <a:t>2</a:t>
            </a:r>
            <a:endParaRPr>
              <a:latin typeface="Arial"/>
              <a:cs typeface="Arial"/>
            </a:endParaRPr>
          </a:p>
        </p:txBody>
      </p:sp>
      <p:grpSp>
        <p:nvGrpSpPr>
          <p:cNvPr id="20" name="object 20"/>
          <p:cNvGrpSpPr/>
          <p:nvPr/>
        </p:nvGrpSpPr>
        <p:grpSpPr>
          <a:xfrm>
            <a:off x="7197436" y="4721628"/>
            <a:ext cx="1222375" cy="424180"/>
            <a:chOff x="5673435" y="4721628"/>
            <a:chExt cx="1222375" cy="424180"/>
          </a:xfrm>
        </p:grpSpPr>
        <p:pic>
          <p:nvPicPr>
            <p:cNvPr id="21" name="object 21"/>
            <p:cNvPicPr/>
            <p:nvPr/>
          </p:nvPicPr>
          <p:blipFill>
            <a:blip r:embed="rId9" cstate="print"/>
            <a:stretch>
              <a:fillRect/>
            </a:stretch>
          </p:blipFill>
          <p:spPr>
            <a:xfrm>
              <a:off x="5673435" y="4742410"/>
              <a:ext cx="1221970" cy="378229"/>
            </a:xfrm>
            <a:prstGeom prst="rect">
              <a:avLst/>
            </a:prstGeom>
          </p:spPr>
        </p:pic>
        <p:pic>
          <p:nvPicPr>
            <p:cNvPr id="22" name="object 22"/>
            <p:cNvPicPr/>
            <p:nvPr/>
          </p:nvPicPr>
          <p:blipFill>
            <a:blip r:embed="rId10" cstate="print"/>
            <a:stretch>
              <a:fillRect/>
            </a:stretch>
          </p:blipFill>
          <p:spPr>
            <a:xfrm>
              <a:off x="5744094" y="4721628"/>
              <a:ext cx="270163" cy="423949"/>
            </a:xfrm>
            <a:prstGeom prst="rect">
              <a:avLst/>
            </a:prstGeom>
          </p:spPr>
        </p:pic>
      </p:grpSp>
      <p:sp>
        <p:nvSpPr>
          <p:cNvPr id="23" name="object 23"/>
          <p:cNvSpPr txBox="1"/>
          <p:nvPr/>
        </p:nvSpPr>
        <p:spPr>
          <a:xfrm>
            <a:off x="7225961" y="4801818"/>
            <a:ext cx="1118235" cy="269304"/>
          </a:xfrm>
          <a:prstGeom prst="rect">
            <a:avLst/>
          </a:prstGeom>
          <a:ln w="12699">
            <a:solidFill>
              <a:srgbClr val="000000"/>
            </a:solidFill>
          </a:ln>
        </p:spPr>
        <p:txBody>
          <a:bodyPr vert="horz" wrap="square" lIns="0" tIns="0" rIns="0" bIns="0" rtlCol="0">
            <a:spAutoFit/>
          </a:bodyPr>
          <a:lstStyle/>
          <a:p>
            <a:pPr marL="90805">
              <a:lnSpc>
                <a:spcPts val="2105"/>
              </a:lnSpc>
            </a:pPr>
            <a:r>
              <a:rPr dirty="0">
                <a:latin typeface="Arial"/>
                <a:cs typeface="Arial"/>
              </a:rPr>
              <a:t>3</a:t>
            </a:r>
            <a:endParaRPr>
              <a:latin typeface="Arial"/>
              <a:cs typeface="Arial"/>
            </a:endParaRPr>
          </a:p>
        </p:txBody>
      </p:sp>
      <p:grpSp>
        <p:nvGrpSpPr>
          <p:cNvPr id="24" name="object 24"/>
          <p:cNvGrpSpPr/>
          <p:nvPr/>
        </p:nvGrpSpPr>
        <p:grpSpPr>
          <a:xfrm>
            <a:off x="7197436" y="5000104"/>
            <a:ext cx="1222375" cy="420370"/>
            <a:chOff x="5673435" y="5000104"/>
            <a:chExt cx="1222375" cy="420370"/>
          </a:xfrm>
        </p:grpSpPr>
        <p:pic>
          <p:nvPicPr>
            <p:cNvPr id="25" name="object 25"/>
            <p:cNvPicPr/>
            <p:nvPr/>
          </p:nvPicPr>
          <p:blipFill>
            <a:blip r:embed="rId11" cstate="print"/>
            <a:stretch>
              <a:fillRect/>
            </a:stretch>
          </p:blipFill>
          <p:spPr>
            <a:xfrm>
              <a:off x="5673435" y="5016731"/>
              <a:ext cx="1221970" cy="382385"/>
            </a:xfrm>
            <a:prstGeom prst="rect">
              <a:avLst/>
            </a:prstGeom>
          </p:spPr>
        </p:pic>
        <p:pic>
          <p:nvPicPr>
            <p:cNvPr id="26" name="object 26"/>
            <p:cNvPicPr/>
            <p:nvPr/>
          </p:nvPicPr>
          <p:blipFill>
            <a:blip r:embed="rId12" cstate="print"/>
            <a:stretch>
              <a:fillRect/>
            </a:stretch>
          </p:blipFill>
          <p:spPr>
            <a:xfrm>
              <a:off x="5744094" y="5000104"/>
              <a:ext cx="777239" cy="419792"/>
            </a:xfrm>
            <a:prstGeom prst="rect">
              <a:avLst/>
            </a:prstGeom>
          </p:spPr>
        </p:pic>
        <p:sp>
          <p:nvSpPr>
            <p:cNvPr id="27" name="object 27"/>
            <p:cNvSpPr/>
            <p:nvPr/>
          </p:nvSpPr>
          <p:spPr>
            <a:xfrm>
              <a:off x="5701960" y="5070486"/>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28" name="object 28"/>
          <p:cNvSpPr txBox="1"/>
          <p:nvPr/>
        </p:nvSpPr>
        <p:spPr>
          <a:xfrm>
            <a:off x="7232311" y="5058683"/>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4:</a:t>
            </a:r>
            <a:r>
              <a:rPr spc="-5" dirty="0">
                <a:latin typeface="Arial"/>
                <a:cs typeface="Arial"/>
              </a:rPr>
              <a:t> </a:t>
            </a:r>
            <a:r>
              <a:rPr b="1" spc="-25" dirty="0">
                <a:latin typeface="Arial"/>
                <a:cs typeface="Arial"/>
              </a:rPr>
              <a:t>214</a:t>
            </a:r>
            <a:endParaRPr>
              <a:latin typeface="Arial"/>
              <a:cs typeface="Arial"/>
            </a:endParaRPr>
          </a:p>
        </p:txBody>
      </p:sp>
      <p:grpSp>
        <p:nvGrpSpPr>
          <p:cNvPr id="29" name="object 29"/>
          <p:cNvGrpSpPr/>
          <p:nvPr/>
        </p:nvGrpSpPr>
        <p:grpSpPr>
          <a:xfrm>
            <a:off x="7197436" y="5278581"/>
            <a:ext cx="1222375" cy="424180"/>
            <a:chOff x="5673435" y="5278581"/>
            <a:chExt cx="1222375" cy="424180"/>
          </a:xfrm>
        </p:grpSpPr>
        <p:pic>
          <p:nvPicPr>
            <p:cNvPr id="30" name="object 30"/>
            <p:cNvPicPr/>
            <p:nvPr/>
          </p:nvPicPr>
          <p:blipFill>
            <a:blip r:embed="rId13" cstate="print"/>
            <a:stretch>
              <a:fillRect/>
            </a:stretch>
          </p:blipFill>
          <p:spPr>
            <a:xfrm>
              <a:off x="5673435" y="5299363"/>
              <a:ext cx="1221970" cy="378229"/>
            </a:xfrm>
            <a:prstGeom prst="rect">
              <a:avLst/>
            </a:prstGeom>
          </p:spPr>
        </p:pic>
        <p:pic>
          <p:nvPicPr>
            <p:cNvPr id="31" name="object 31"/>
            <p:cNvPicPr/>
            <p:nvPr/>
          </p:nvPicPr>
          <p:blipFill>
            <a:blip r:embed="rId14" cstate="print"/>
            <a:stretch>
              <a:fillRect/>
            </a:stretch>
          </p:blipFill>
          <p:spPr>
            <a:xfrm>
              <a:off x="5744094" y="5278581"/>
              <a:ext cx="270163" cy="423949"/>
            </a:xfrm>
            <a:prstGeom prst="rect">
              <a:avLst/>
            </a:prstGeom>
          </p:spPr>
        </p:pic>
        <p:sp>
          <p:nvSpPr>
            <p:cNvPr id="32" name="object 32"/>
            <p:cNvSpPr/>
            <p:nvPr/>
          </p:nvSpPr>
          <p:spPr>
            <a:xfrm>
              <a:off x="5701960" y="5349421"/>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33" name="object 33"/>
          <p:cNvSpPr txBox="1"/>
          <p:nvPr/>
        </p:nvSpPr>
        <p:spPr>
          <a:xfrm>
            <a:off x="7232311" y="5337618"/>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5</a:t>
            </a:r>
            <a:endParaRPr>
              <a:latin typeface="Arial"/>
              <a:cs typeface="Arial"/>
            </a:endParaRPr>
          </a:p>
        </p:txBody>
      </p:sp>
      <p:grpSp>
        <p:nvGrpSpPr>
          <p:cNvPr id="34" name="object 34"/>
          <p:cNvGrpSpPr/>
          <p:nvPr/>
        </p:nvGrpSpPr>
        <p:grpSpPr>
          <a:xfrm>
            <a:off x="7197436" y="5557058"/>
            <a:ext cx="1222375" cy="420370"/>
            <a:chOff x="5673435" y="5557058"/>
            <a:chExt cx="1222375" cy="420370"/>
          </a:xfrm>
        </p:grpSpPr>
        <p:pic>
          <p:nvPicPr>
            <p:cNvPr id="35" name="object 35"/>
            <p:cNvPicPr/>
            <p:nvPr/>
          </p:nvPicPr>
          <p:blipFill>
            <a:blip r:embed="rId15" cstate="print"/>
            <a:stretch>
              <a:fillRect/>
            </a:stretch>
          </p:blipFill>
          <p:spPr>
            <a:xfrm>
              <a:off x="5673435" y="5573683"/>
              <a:ext cx="1221970" cy="382385"/>
            </a:xfrm>
            <a:prstGeom prst="rect">
              <a:avLst/>
            </a:prstGeom>
          </p:spPr>
        </p:pic>
        <p:pic>
          <p:nvPicPr>
            <p:cNvPr id="36" name="object 36"/>
            <p:cNvPicPr/>
            <p:nvPr/>
          </p:nvPicPr>
          <p:blipFill>
            <a:blip r:embed="rId16" cstate="print"/>
            <a:stretch>
              <a:fillRect/>
            </a:stretch>
          </p:blipFill>
          <p:spPr>
            <a:xfrm>
              <a:off x="5744094" y="5557058"/>
              <a:ext cx="270163" cy="419792"/>
            </a:xfrm>
            <a:prstGeom prst="rect">
              <a:avLst/>
            </a:prstGeom>
          </p:spPr>
        </p:pic>
      </p:grpSp>
      <p:sp>
        <p:nvSpPr>
          <p:cNvPr id="37" name="object 37"/>
          <p:cNvSpPr txBox="1"/>
          <p:nvPr/>
        </p:nvSpPr>
        <p:spPr>
          <a:xfrm>
            <a:off x="7225961" y="5625804"/>
            <a:ext cx="1118235" cy="276860"/>
          </a:xfrm>
          <a:prstGeom prst="rect">
            <a:avLst/>
          </a:prstGeom>
          <a:ln w="12699">
            <a:solidFill>
              <a:srgbClr val="000000"/>
            </a:solidFill>
          </a:ln>
        </p:spPr>
        <p:txBody>
          <a:bodyPr vert="horz" wrap="square" lIns="0" tIns="1270" rIns="0" bIns="0" rtlCol="0">
            <a:spAutoFit/>
          </a:bodyPr>
          <a:lstStyle/>
          <a:p>
            <a:pPr marL="90805">
              <a:spcBef>
                <a:spcPts val="10"/>
              </a:spcBef>
            </a:pPr>
            <a:r>
              <a:rPr dirty="0">
                <a:latin typeface="Arial"/>
                <a:cs typeface="Arial"/>
              </a:rPr>
              <a:t>6</a:t>
            </a:r>
            <a:endParaRPr>
              <a:latin typeface="Arial"/>
              <a:cs typeface="Arial"/>
            </a:endParaRPr>
          </a:p>
        </p:txBody>
      </p:sp>
      <p:grpSp>
        <p:nvGrpSpPr>
          <p:cNvPr id="38" name="object 38"/>
          <p:cNvGrpSpPr/>
          <p:nvPr/>
        </p:nvGrpSpPr>
        <p:grpSpPr>
          <a:xfrm>
            <a:off x="7197436" y="5831377"/>
            <a:ext cx="1222375" cy="424180"/>
            <a:chOff x="5673435" y="5831377"/>
            <a:chExt cx="1222375" cy="424180"/>
          </a:xfrm>
        </p:grpSpPr>
        <p:pic>
          <p:nvPicPr>
            <p:cNvPr id="39" name="object 39"/>
            <p:cNvPicPr/>
            <p:nvPr/>
          </p:nvPicPr>
          <p:blipFill>
            <a:blip r:embed="rId17" cstate="print"/>
            <a:stretch>
              <a:fillRect/>
            </a:stretch>
          </p:blipFill>
          <p:spPr>
            <a:xfrm>
              <a:off x="5673435" y="5852159"/>
              <a:ext cx="1221970" cy="378229"/>
            </a:xfrm>
            <a:prstGeom prst="rect">
              <a:avLst/>
            </a:prstGeom>
          </p:spPr>
        </p:pic>
        <p:pic>
          <p:nvPicPr>
            <p:cNvPr id="40" name="object 40"/>
            <p:cNvPicPr/>
            <p:nvPr/>
          </p:nvPicPr>
          <p:blipFill>
            <a:blip r:embed="rId18" cstate="print"/>
            <a:stretch>
              <a:fillRect/>
            </a:stretch>
          </p:blipFill>
          <p:spPr>
            <a:xfrm>
              <a:off x="5744094" y="5831377"/>
              <a:ext cx="270163" cy="423949"/>
            </a:xfrm>
            <a:prstGeom prst="rect">
              <a:avLst/>
            </a:prstGeom>
          </p:spPr>
        </p:pic>
      </p:grpSp>
      <p:sp>
        <p:nvSpPr>
          <p:cNvPr id="41" name="object 41"/>
          <p:cNvSpPr txBox="1"/>
          <p:nvPr/>
        </p:nvSpPr>
        <p:spPr>
          <a:xfrm>
            <a:off x="7225961" y="5902188"/>
            <a:ext cx="1118235" cy="276860"/>
          </a:xfrm>
          <a:prstGeom prst="rect">
            <a:avLst/>
          </a:prstGeom>
          <a:ln w="12699">
            <a:solidFill>
              <a:srgbClr val="000000"/>
            </a:solidFill>
          </a:ln>
        </p:spPr>
        <p:txBody>
          <a:bodyPr vert="horz" wrap="square" lIns="0" tIns="635" rIns="0" bIns="0" rtlCol="0">
            <a:spAutoFit/>
          </a:bodyPr>
          <a:lstStyle/>
          <a:p>
            <a:pPr marL="90805">
              <a:spcBef>
                <a:spcPts val="5"/>
              </a:spcBef>
            </a:pPr>
            <a:r>
              <a:rPr dirty="0">
                <a:latin typeface="Arial"/>
                <a:cs typeface="Arial"/>
              </a:rPr>
              <a:t>7</a:t>
            </a:r>
            <a:endParaRPr>
              <a:latin typeface="Arial"/>
              <a:cs typeface="Arial"/>
            </a:endParaRPr>
          </a:p>
        </p:txBody>
      </p:sp>
      <p:grpSp>
        <p:nvGrpSpPr>
          <p:cNvPr id="42" name="object 42"/>
          <p:cNvGrpSpPr/>
          <p:nvPr/>
        </p:nvGrpSpPr>
        <p:grpSpPr>
          <a:xfrm>
            <a:off x="7197436" y="6109854"/>
            <a:ext cx="1222375" cy="420370"/>
            <a:chOff x="5673435" y="6109854"/>
            <a:chExt cx="1222375" cy="420370"/>
          </a:xfrm>
        </p:grpSpPr>
        <p:pic>
          <p:nvPicPr>
            <p:cNvPr id="43" name="object 43"/>
            <p:cNvPicPr/>
            <p:nvPr/>
          </p:nvPicPr>
          <p:blipFill>
            <a:blip r:embed="rId19" cstate="print"/>
            <a:stretch>
              <a:fillRect/>
            </a:stretch>
          </p:blipFill>
          <p:spPr>
            <a:xfrm>
              <a:off x="5673435" y="6126480"/>
              <a:ext cx="1221970" cy="382385"/>
            </a:xfrm>
            <a:prstGeom prst="rect">
              <a:avLst/>
            </a:prstGeom>
          </p:spPr>
        </p:pic>
        <p:pic>
          <p:nvPicPr>
            <p:cNvPr id="44" name="object 44"/>
            <p:cNvPicPr/>
            <p:nvPr/>
          </p:nvPicPr>
          <p:blipFill>
            <a:blip r:embed="rId20" cstate="print"/>
            <a:stretch>
              <a:fillRect/>
            </a:stretch>
          </p:blipFill>
          <p:spPr>
            <a:xfrm>
              <a:off x="5744094" y="6109854"/>
              <a:ext cx="270163" cy="419792"/>
            </a:xfrm>
            <a:prstGeom prst="rect">
              <a:avLst/>
            </a:prstGeom>
          </p:spPr>
        </p:pic>
        <p:sp>
          <p:nvSpPr>
            <p:cNvPr id="45" name="object 45"/>
            <p:cNvSpPr/>
            <p:nvPr/>
          </p:nvSpPr>
          <p:spPr>
            <a:xfrm>
              <a:off x="5701960" y="6178842"/>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46" name="object 46"/>
          <p:cNvSpPr txBox="1"/>
          <p:nvPr/>
        </p:nvSpPr>
        <p:spPr>
          <a:xfrm>
            <a:off x="7232311" y="6167039"/>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8</a:t>
            </a:r>
            <a:endParaRPr>
              <a:latin typeface="Arial"/>
              <a:cs typeface="Arial"/>
            </a:endParaRPr>
          </a:p>
        </p:txBody>
      </p:sp>
      <p:grpSp>
        <p:nvGrpSpPr>
          <p:cNvPr id="47" name="object 47"/>
          <p:cNvGrpSpPr/>
          <p:nvPr/>
        </p:nvGrpSpPr>
        <p:grpSpPr>
          <a:xfrm>
            <a:off x="7197436" y="6400800"/>
            <a:ext cx="1222375" cy="420370"/>
            <a:chOff x="5673435" y="6400800"/>
            <a:chExt cx="1222375" cy="420370"/>
          </a:xfrm>
        </p:grpSpPr>
        <p:pic>
          <p:nvPicPr>
            <p:cNvPr id="48" name="object 48"/>
            <p:cNvPicPr/>
            <p:nvPr/>
          </p:nvPicPr>
          <p:blipFill>
            <a:blip r:embed="rId21" cstate="print"/>
            <a:stretch>
              <a:fillRect/>
            </a:stretch>
          </p:blipFill>
          <p:spPr>
            <a:xfrm>
              <a:off x="5673435" y="6417425"/>
              <a:ext cx="1221970" cy="382385"/>
            </a:xfrm>
            <a:prstGeom prst="rect">
              <a:avLst/>
            </a:prstGeom>
          </p:spPr>
        </p:pic>
        <p:pic>
          <p:nvPicPr>
            <p:cNvPr id="49" name="object 49"/>
            <p:cNvPicPr/>
            <p:nvPr/>
          </p:nvPicPr>
          <p:blipFill>
            <a:blip r:embed="rId22" cstate="print"/>
            <a:stretch>
              <a:fillRect/>
            </a:stretch>
          </p:blipFill>
          <p:spPr>
            <a:xfrm>
              <a:off x="5744094" y="6400800"/>
              <a:ext cx="777239" cy="419792"/>
            </a:xfrm>
            <a:prstGeom prst="rect">
              <a:avLst/>
            </a:prstGeom>
          </p:spPr>
        </p:pic>
        <p:sp>
          <p:nvSpPr>
            <p:cNvPr id="50" name="object 50"/>
            <p:cNvSpPr/>
            <p:nvPr/>
          </p:nvSpPr>
          <p:spPr>
            <a:xfrm>
              <a:off x="5701960" y="6470375"/>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51" name="object 51"/>
          <p:cNvSpPr txBox="1"/>
          <p:nvPr/>
        </p:nvSpPr>
        <p:spPr>
          <a:xfrm>
            <a:off x="7232311" y="6458573"/>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9:</a:t>
            </a:r>
            <a:r>
              <a:rPr spc="-5" dirty="0">
                <a:latin typeface="Arial"/>
                <a:cs typeface="Arial"/>
              </a:rPr>
              <a:t> </a:t>
            </a:r>
            <a:r>
              <a:rPr b="1" spc="-25" dirty="0">
                <a:latin typeface="Arial"/>
                <a:cs typeface="Arial"/>
              </a:rPr>
              <a:t>519</a:t>
            </a:r>
            <a:endParaRPr>
              <a:latin typeface="Arial"/>
              <a:cs typeface="Arial"/>
            </a:endParaRPr>
          </a:p>
        </p:txBody>
      </p:sp>
      <p:grpSp>
        <p:nvGrpSpPr>
          <p:cNvPr id="52" name="object 52"/>
          <p:cNvGrpSpPr/>
          <p:nvPr/>
        </p:nvGrpSpPr>
        <p:grpSpPr>
          <a:xfrm>
            <a:off x="4520738" y="4667596"/>
            <a:ext cx="1222375" cy="902335"/>
            <a:chOff x="2996737" y="4667595"/>
            <a:chExt cx="1222375" cy="902335"/>
          </a:xfrm>
        </p:grpSpPr>
        <p:pic>
          <p:nvPicPr>
            <p:cNvPr id="53" name="object 53"/>
            <p:cNvPicPr/>
            <p:nvPr/>
          </p:nvPicPr>
          <p:blipFill>
            <a:blip r:embed="rId23" cstate="print"/>
            <a:stretch>
              <a:fillRect/>
            </a:stretch>
          </p:blipFill>
          <p:spPr>
            <a:xfrm>
              <a:off x="2996737" y="4667595"/>
              <a:ext cx="1221970" cy="901930"/>
            </a:xfrm>
            <a:prstGeom prst="rect">
              <a:avLst/>
            </a:prstGeom>
          </p:spPr>
        </p:pic>
        <p:pic>
          <p:nvPicPr>
            <p:cNvPr id="54" name="object 54"/>
            <p:cNvPicPr/>
            <p:nvPr/>
          </p:nvPicPr>
          <p:blipFill>
            <a:blip r:embed="rId24" cstate="print"/>
            <a:stretch>
              <a:fillRect/>
            </a:stretch>
          </p:blipFill>
          <p:spPr>
            <a:xfrm>
              <a:off x="3117272" y="4771504"/>
              <a:ext cx="1005839" cy="689956"/>
            </a:xfrm>
            <a:prstGeom prst="rect">
              <a:avLst/>
            </a:prstGeom>
          </p:spPr>
        </p:pic>
      </p:grpSp>
      <p:sp>
        <p:nvSpPr>
          <p:cNvPr id="55" name="object 55"/>
          <p:cNvSpPr txBox="1"/>
          <p:nvPr/>
        </p:nvSpPr>
        <p:spPr>
          <a:xfrm>
            <a:off x="4547813" y="4721371"/>
            <a:ext cx="1118235" cy="677750"/>
          </a:xfrm>
          <a:prstGeom prst="rect">
            <a:avLst/>
          </a:prstGeom>
          <a:ln w="12699">
            <a:solidFill>
              <a:srgbClr val="000000"/>
            </a:solidFill>
          </a:ln>
        </p:spPr>
        <p:txBody>
          <a:bodyPr vert="horz" wrap="square" lIns="0" tIns="137795" rIns="0" bIns="0" rtlCol="0">
            <a:spAutoFit/>
          </a:bodyPr>
          <a:lstStyle/>
          <a:p>
            <a:pPr marL="154940" marR="141605" indent="111125">
              <a:lnSpc>
                <a:spcPts val="2100"/>
              </a:lnSpc>
              <a:spcBef>
                <a:spcPts val="1085"/>
              </a:spcBef>
            </a:pPr>
            <a:r>
              <a:rPr i="1" dirty="0">
                <a:latin typeface="Arial"/>
                <a:cs typeface="Arial"/>
              </a:rPr>
              <a:t>h(x)</a:t>
            </a:r>
            <a:r>
              <a:rPr i="1" spc="-5" dirty="0">
                <a:latin typeface="Arial"/>
                <a:cs typeface="Arial"/>
              </a:rPr>
              <a:t> </a:t>
            </a:r>
            <a:r>
              <a:rPr i="1" spc="-50" dirty="0">
                <a:latin typeface="Arial"/>
                <a:cs typeface="Arial"/>
              </a:rPr>
              <a:t>= </a:t>
            </a:r>
            <a:r>
              <a:rPr i="1" spc="-10" dirty="0">
                <a:latin typeface="Arial"/>
                <a:cs typeface="Arial"/>
              </a:rPr>
              <a:t>key%10</a:t>
            </a:r>
            <a:endParaRPr>
              <a:latin typeface="Arial"/>
              <a:cs typeface="Arial"/>
            </a:endParaRPr>
          </a:p>
        </p:txBody>
      </p:sp>
      <p:grpSp>
        <p:nvGrpSpPr>
          <p:cNvPr id="56" name="object 56"/>
          <p:cNvGrpSpPr/>
          <p:nvPr/>
        </p:nvGrpSpPr>
        <p:grpSpPr>
          <a:xfrm>
            <a:off x="2380211" y="4738254"/>
            <a:ext cx="1222375" cy="424180"/>
            <a:chOff x="856210" y="4738254"/>
            <a:chExt cx="1222375" cy="424180"/>
          </a:xfrm>
        </p:grpSpPr>
        <p:pic>
          <p:nvPicPr>
            <p:cNvPr id="57" name="object 57"/>
            <p:cNvPicPr/>
            <p:nvPr/>
          </p:nvPicPr>
          <p:blipFill>
            <a:blip r:embed="rId25" cstate="print"/>
            <a:stretch>
              <a:fillRect/>
            </a:stretch>
          </p:blipFill>
          <p:spPr>
            <a:xfrm>
              <a:off x="856210" y="4759036"/>
              <a:ext cx="1221970" cy="378229"/>
            </a:xfrm>
            <a:prstGeom prst="rect">
              <a:avLst/>
            </a:prstGeom>
          </p:spPr>
        </p:pic>
        <p:pic>
          <p:nvPicPr>
            <p:cNvPr id="58" name="object 58"/>
            <p:cNvPicPr/>
            <p:nvPr/>
          </p:nvPicPr>
          <p:blipFill>
            <a:blip r:embed="rId26" cstate="print"/>
            <a:stretch>
              <a:fillRect/>
            </a:stretch>
          </p:blipFill>
          <p:spPr>
            <a:xfrm>
              <a:off x="1205345" y="4738254"/>
              <a:ext cx="523701" cy="423949"/>
            </a:xfrm>
            <a:prstGeom prst="rect">
              <a:avLst/>
            </a:prstGeom>
          </p:spPr>
        </p:pic>
      </p:grpSp>
      <p:sp>
        <p:nvSpPr>
          <p:cNvPr id="59" name="object 59"/>
          <p:cNvSpPr txBox="1"/>
          <p:nvPr/>
        </p:nvSpPr>
        <p:spPr>
          <a:xfrm>
            <a:off x="2407512" y="4801818"/>
            <a:ext cx="1118235" cy="276860"/>
          </a:xfrm>
          <a:prstGeom prst="rect">
            <a:avLst/>
          </a:prstGeom>
          <a:ln w="12699">
            <a:solidFill>
              <a:srgbClr val="000000"/>
            </a:solidFill>
          </a:ln>
        </p:spPr>
        <p:txBody>
          <a:bodyPr vert="horz" wrap="square" lIns="0" tIns="8890" rIns="0" bIns="0" rtlCol="0">
            <a:spAutoFit/>
          </a:bodyPr>
          <a:lstStyle/>
          <a:p>
            <a:pPr marL="370840">
              <a:lnSpc>
                <a:spcPts val="2105"/>
              </a:lnSpc>
              <a:spcBef>
                <a:spcPts val="70"/>
              </a:spcBef>
            </a:pPr>
            <a:r>
              <a:rPr spc="-25" dirty="0">
                <a:latin typeface="Arial"/>
                <a:cs typeface="Arial"/>
              </a:rPr>
              <a:t>519</a:t>
            </a:r>
            <a:endParaRPr>
              <a:latin typeface="Arial"/>
              <a:cs typeface="Arial"/>
            </a:endParaRPr>
          </a:p>
        </p:txBody>
      </p:sp>
      <p:grpSp>
        <p:nvGrpSpPr>
          <p:cNvPr id="60" name="object 60"/>
          <p:cNvGrpSpPr/>
          <p:nvPr/>
        </p:nvGrpSpPr>
        <p:grpSpPr>
          <a:xfrm>
            <a:off x="2380211" y="4172989"/>
            <a:ext cx="4845685" cy="2501900"/>
            <a:chOff x="856210" y="4172989"/>
            <a:chExt cx="4845685" cy="2501900"/>
          </a:xfrm>
        </p:grpSpPr>
        <p:sp>
          <p:nvSpPr>
            <p:cNvPr id="61" name="object 61"/>
            <p:cNvSpPr/>
            <p:nvPr/>
          </p:nvSpPr>
          <p:spPr>
            <a:xfrm>
              <a:off x="2001705" y="4947862"/>
              <a:ext cx="994410" cy="170815"/>
            </a:xfrm>
            <a:custGeom>
              <a:avLst/>
              <a:gdLst/>
              <a:ahLst/>
              <a:cxnLst/>
              <a:rect l="l" t="t" r="r" b="b"/>
              <a:pathLst>
                <a:path w="994410" h="170814">
                  <a:moveTo>
                    <a:pt x="0" y="0"/>
                  </a:moveTo>
                  <a:lnTo>
                    <a:pt x="511174" y="0"/>
                  </a:lnTo>
                  <a:lnTo>
                    <a:pt x="511174" y="170656"/>
                  </a:lnTo>
                  <a:lnTo>
                    <a:pt x="993994" y="170656"/>
                  </a:lnTo>
                </a:path>
              </a:pathLst>
            </a:custGeom>
            <a:ln w="28574">
              <a:solidFill>
                <a:srgbClr val="8D8D8D"/>
              </a:solidFill>
            </a:ln>
          </p:spPr>
          <p:txBody>
            <a:bodyPr wrap="square" lIns="0" tIns="0" rIns="0" bIns="0" rtlCol="0"/>
            <a:lstStyle/>
            <a:p>
              <a:endParaRPr/>
            </a:p>
          </p:txBody>
        </p:sp>
        <p:pic>
          <p:nvPicPr>
            <p:cNvPr id="62" name="object 62"/>
            <p:cNvPicPr/>
            <p:nvPr/>
          </p:nvPicPr>
          <p:blipFill>
            <a:blip r:embed="rId27" cstate="print"/>
            <a:stretch>
              <a:fillRect/>
            </a:stretch>
          </p:blipFill>
          <p:spPr>
            <a:xfrm>
              <a:off x="2893658" y="5052194"/>
              <a:ext cx="130397" cy="132647"/>
            </a:xfrm>
            <a:prstGeom prst="rect">
              <a:avLst/>
            </a:prstGeom>
          </p:spPr>
        </p:pic>
        <p:sp>
          <p:nvSpPr>
            <p:cNvPr id="63" name="object 63"/>
            <p:cNvSpPr/>
            <p:nvPr/>
          </p:nvSpPr>
          <p:spPr>
            <a:xfrm>
              <a:off x="4142005" y="5118496"/>
              <a:ext cx="1531620" cy="1490345"/>
            </a:xfrm>
            <a:custGeom>
              <a:avLst/>
              <a:gdLst/>
              <a:ahLst/>
              <a:cxnLst/>
              <a:rect l="l" t="t" r="r" b="b"/>
              <a:pathLst>
                <a:path w="1531620" h="1490345">
                  <a:moveTo>
                    <a:pt x="0" y="0"/>
                  </a:moveTo>
                  <a:lnTo>
                    <a:pt x="780256" y="0"/>
                  </a:lnTo>
                  <a:lnTo>
                    <a:pt x="780256" y="1489868"/>
                  </a:lnTo>
                  <a:lnTo>
                    <a:pt x="1531362" y="1489868"/>
                  </a:lnTo>
                </a:path>
              </a:pathLst>
            </a:custGeom>
            <a:ln w="28574">
              <a:solidFill>
                <a:srgbClr val="8D8D8D"/>
              </a:solidFill>
            </a:ln>
          </p:spPr>
          <p:txBody>
            <a:bodyPr wrap="square" lIns="0" tIns="0" rIns="0" bIns="0" rtlCol="0"/>
            <a:lstStyle/>
            <a:p>
              <a:endParaRPr/>
            </a:p>
          </p:txBody>
        </p:sp>
        <p:pic>
          <p:nvPicPr>
            <p:cNvPr id="64" name="object 64"/>
            <p:cNvPicPr/>
            <p:nvPr/>
          </p:nvPicPr>
          <p:blipFill>
            <a:blip r:embed="rId27" cstate="print"/>
            <a:stretch>
              <a:fillRect/>
            </a:stretch>
          </p:blipFill>
          <p:spPr>
            <a:xfrm>
              <a:off x="5571327" y="6542041"/>
              <a:ext cx="130397" cy="132646"/>
            </a:xfrm>
            <a:prstGeom prst="rect">
              <a:avLst/>
            </a:prstGeom>
          </p:spPr>
        </p:pic>
        <p:pic>
          <p:nvPicPr>
            <p:cNvPr id="65" name="object 65"/>
            <p:cNvPicPr/>
            <p:nvPr/>
          </p:nvPicPr>
          <p:blipFill>
            <a:blip r:embed="rId28" cstate="print"/>
            <a:stretch>
              <a:fillRect/>
            </a:stretch>
          </p:blipFill>
          <p:spPr>
            <a:xfrm>
              <a:off x="856210" y="4189614"/>
              <a:ext cx="1221970" cy="378229"/>
            </a:xfrm>
            <a:prstGeom prst="rect">
              <a:avLst/>
            </a:prstGeom>
          </p:spPr>
        </p:pic>
        <p:pic>
          <p:nvPicPr>
            <p:cNvPr id="66" name="object 66"/>
            <p:cNvPicPr/>
            <p:nvPr/>
          </p:nvPicPr>
          <p:blipFill>
            <a:blip r:embed="rId29" cstate="print"/>
            <a:stretch>
              <a:fillRect/>
            </a:stretch>
          </p:blipFill>
          <p:spPr>
            <a:xfrm>
              <a:off x="1205345" y="4172989"/>
              <a:ext cx="523701" cy="419792"/>
            </a:xfrm>
            <a:prstGeom prst="rect">
              <a:avLst/>
            </a:prstGeom>
          </p:spPr>
        </p:pic>
        <p:sp>
          <p:nvSpPr>
            <p:cNvPr id="67" name="object 67"/>
            <p:cNvSpPr/>
            <p:nvPr/>
          </p:nvSpPr>
          <p:spPr>
            <a:xfrm>
              <a:off x="883511" y="4241601"/>
              <a:ext cx="1118235" cy="276225"/>
            </a:xfrm>
            <a:custGeom>
              <a:avLst/>
              <a:gdLst/>
              <a:ahLst/>
              <a:cxnLst/>
              <a:rect l="l" t="t" r="r" b="b"/>
              <a:pathLst>
                <a:path w="1118235"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68" name="object 68"/>
          <p:cNvSpPr txBox="1"/>
          <p:nvPr/>
        </p:nvSpPr>
        <p:spPr>
          <a:xfrm>
            <a:off x="2407512" y="3949532"/>
            <a:ext cx="1118235" cy="585417"/>
          </a:xfrm>
          <a:prstGeom prst="rect">
            <a:avLst/>
          </a:prstGeom>
          <a:ln w="12699">
            <a:solidFill>
              <a:srgbClr val="000000"/>
            </a:solidFill>
          </a:ln>
        </p:spPr>
        <p:txBody>
          <a:bodyPr vert="horz" wrap="square" lIns="0" tIns="635" rIns="0" bIns="0" rtlCol="0">
            <a:spAutoFit/>
          </a:bodyPr>
          <a:lstStyle/>
          <a:p>
            <a:pPr>
              <a:spcBef>
                <a:spcPts val="5"/>
              </a:spcBef>
            </a:pPr>
            <a:endParaRPr sz="2000">
              <a:latin typeface="Times New Roman"/>
              <a:cs typeface="Times New Roman"/>
            </a:endParaRPr>
          </a:p>
          <a:p>
            <a:pPr marL="370840"/>
            <a:r>
              <a:rPr spc="-25" dirty="0">
                <a:latin typeface="Arial"/>
                <a:cs typeface="Arial"/>
              </a:rPr>
              <a:t>214</a:t>
            </a:r>
            <a:endParaRPr>
              <a:latin typeface="Arial"/>
              <a:cs typeface="Arial"/>
            </a:endParaRPr>
          </a:p>
        </p:txBody>
      </p:sp>
      <p:grpSp>
        <p:nvGrpSpPr>
          <p:cNvPr id="69" name="object 69"/>
          <p:cNvGrpSpPr/>
          <p:nvPr/>
        </p:nvGrpSpPr>
        <p:grpSpPr>
          <a:xfrm>
            <a:off x="2380211" y="4365372"/>
            <a:ext cx="4845685" cy="1362710"/>
            <a:chOff x="856210" y="4365372"/>
            <a:chExt cx="4845685" cy="1362710"/>
          </a:xfrm>
        </p:grpSpPr>
        <p:sp>
          <p:nvSpPr>
            <p:cNvPr id="70" name="object 70"/>
            <p:cNvSpPr/>
            <p:nvPr/>
          </p:nvSpPr>
          <p:spPr>
            <a:xfrm>
              <a:off x="2001705" y="4379659"/>
              <a:ext cx="994410" cy="739140"/>
            </a:xfrm>
            <a:custGeom>
              <a:avLst/>
              <a:gdLst/>
              <a:ahLst/>
              <a:cxnLst/>
              <a:rect l="l" t="t" r="r" b="b"/>
              <a:pathLst>
                <a:path w="994410" h="739139">
                  <a:moveTo>
                    <a:pt x="0" y="0"/>
                  </a:moveTo>
                  <a:lnTo>
                    <a:pt x="511174" y="0"/>
                  </a:lnTo>
                  <a:lnTo>
                    <a:pt x="511174" y="738981"/>
                  </a:lnTo>
                  <a:lnTo>
                    <a:pt x="993994" y="738981"/>
                  </a:lnTo>
                </a:path>
              </a:pathLst>
            </a:custGeom>
            <a:ln w="28574">
              <a:solidFill>
                <a:srgbClr val="8D8D8D"/>
              </a:solidFill>
            </a:ln>
          </p:spPr>
          <p:txBody>
            <a:bodyPr wrap="square" lIns="0" tIns="0" rIns="0" bIns="0" rtlCol="0"/>
            <a:lstStyle/>
            <a:p>
              <a:endParaRPr/>
            </a:p>
          </p:txBody>
        </p:sp>
        <p:pic>
          <p:nvPicPr>
            <p:cNvPr id="71" name="object 71"/>
            <p:cNvPicPr/>
            <p:nvPr/>
          </p:nvPicPr>
          <p:blipFill>
            <a:blip r:embed="rId27" cstate="print"/>
            <a:stretch>
              <a:fillRect/>
            </a:stretch>
          </p:blipFill>
          <p:spPr>
            <a:xfrm>
              <a:off x="2893658" y="5052317"/>
              <a:ext cx="130397" cy="132647"/>
            </a:xfrm>
            <a:prstGeom prst="rect">
              <a:avLst/>
            </a:prstGeom>
          </p:spPr>
        </p:pic>
        <p:sp>
          <p:nvSpPr>
            <p:cNvPr id="72" name="object 72"/>
            <p:cNvSpPr/>
            <p:nvPr/>
          </p:nvSpPr>
          <p:spPr>
            <a:xfrm>
              <a:off x="4142005" y="5118496"/>
              <a:ext cx="1531620" cy="90170"/>
            </a:xfrm>
            <a:custGeom>
              <a:avLst/>
              <a:gdLst/>
              <a:ahLst/>
              <a:cxnLst/>
              <a:rect l="l" t="t" r="r" b="b"/>
              <a:pathLst>
                <a:path w="1531620" h="90170">
                  <a:moveTo>
                    <a:pt x="0" y="0"/>
                  </a:moveTo>
                  <a:lnTo>
                    <a:pt x="780256" y="0"/>
                  </a:lnTo>
                  <a:lnTo>
                    <a:pt x="780256" y="89693"/>
                  </a:lnTo>
                  <a:lnTo>
                    <a:pt x="1531362" y="89693"/>
                  </a:lnTo>
                </a:path>
              </a:pathLst>
            </a:custGeom>
            <a:ln w="28574">
              <a:solidFill>
                <a:srgbClr val="8D8D8D"/>
              </a:solidFill>
            </a:ln>
          </p:spPr>
          <p:txBody>
            <a:bodyPr wrap="square" lIns="0" tIns="0" rIns="0" bIns="0" rtlCol="0"/>
            <a:lstStyle/>
            <a:p>
              <a:endParaRPr/>
            </a:p>
          </p:txBody>
        </p:sp>
        <p:pic>
          <p:nvPicPr>
            <p:cNvPr id="73" name="object 73"/>
            <p:cNvPicPr/>
            <p:nvPr/>
          </p:nvPicPr>
          <p:blipFill>
            <a:blip r:embed="rId27" cstate="print"/>
            <a:stretch>
              <a:fillRect/>
            </a:stretch>
          </p:blipFill>
          <p:spPr>
            <a:xfrm>
              <a:off x="5571327" y="5141866"/>
              <a:ext cx="130397" cy="132646"/>
            </a:xfrm>
            <a:prstGeom prst="rect">
              <a:avLst/>
            </a:prstGeom>
          </p:spPr>
        </p:pic>
        <p:pic>
          <p:nvPicPr>
            <p:cNvPr id="74" name="object 74"/>
            <p:cNvPicPr/>
            <p:nvPr/>
          </p:nvPicPr>
          <p:blipFill>
            <a:blip r:embed="rId30" cstate="print"/>
            <a:stretch>
              <a:fillRect/>
            </a:stretch>
          </p:blipFill>
          <p:spPr>
            <a:xfrm>
              <a:off x="856210" y="5324301"/>
              <a:ext cx="1221970" cy="382385"/>
            </a:xfrm>
            <a:prstGeom prst="rect">
              <a:avLst/>
            </a:prstGeom>
          </p:spPr>
        </p:pic>
        <p:pic>
          <p:nvPicPr>
            <p:cNvPr id="75" name="object 75"/>
            <p:cNvPicPr/>
            <p:nvPr/>
          </p:nvPicPr>
          <p:blipFill>
            <a:blip r:embed="rId31" cstate="print"/>
            <a:stretch>
              <a:fillRect/>
            </a:stretch>
          </p:blipFill>
          <p:spPr>
            <a:xfrm>
              <a:off x="1142999" y="5307676"/>
              <a:ext cx="648392" cy="419792"/>
            </a:xfrm>
            <a:prstGeom prst="rect">
              <a:avLst/>
            </a:prstGeom>
          </p:spPr>
        </p:pic>
        <p:sp>
          <p:nvSpPr>
            <p:cNvPr id="76" name="object 76"/>
            <p:cNvSpPr/>
            <p:nvPr/>
          </p:nvSpPr>
          <p:spPr>
            <a:xfrm>
              <a:off x="883511" y="5377562"/>
              <a:ext cx="1118235" cy="276225"/>
            </a:xfrm>
            <a:custGeom>
              <a:avLst/>
              <a:gdLst/>
              <a:ahLst/>
              <a:cxnLst/>
              <a:rect l="l" t="t" r="r" b="b"/>
              <a:pathLst>
                <a:path w="1118235"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77" name="object 77"/>
          <p:cNvSpPr txBox="1"/>
          <p:nvPr/>
        </p:nvSpPr>
        <p:spPr>
          <a:xfrm>
            <a:off x="2407512" y="5078069"/>
            <a:ext cx="1118235" cy="593111"/>
          </a:xfrm>
          <a:prstGeom prst="rect">
            <a:avLst/>
          </a:prstGeom>
          <a:ln w="12699">
            <a:solidFill>
              <a:srgbClr val="000000"/>
            </a:solidFill>
          </a:ln>
        </p:spPr>
        <p:txBody>
          <a:bodyPr vert="horz" wrap="square" lIns="0" tIns="635" rIns="0" bIns="0" rtlCol="0">
            <a:spAutoFit/>
          </a:bodyPr>
          <a:lstStyle/>
          <a:p>
            <a:pPr>
              <a:spcBef>
                <a:spcPts val="5"/>
              </a:spcBef>
            </a:pPr>
            <a:endParaRPr sz="2050">
              <a:latin typeface="Times New Roman"/>
              <a:cs typeface="Times New Roman"/>
            </a:endParaRPr>
          </a:p>
          <a:p>
            <a:pPr marL="307340"/>
            <a:r>
              <a:rPr spc="-20" dirty="0">
                <a:latin typeface="Arial"/>
                <a:cs typeface="Arial"/>
              </a:rPr>
              <a:t>1001</a:t>
            </a:r>
            <a:endParaRPr>
              <a:latin typeface="Arial"/>
              <a:cs typeface="Arial"/>
            </a:endParaRPr>
          </a:p>
        </p:txBody>
      </p:sp>
      <p:grpSp>
        <p:nvGrpSpPr>
          <p:cNvPr id="78" name="object 78"/>
          <p:cNvGrpSpPr/>
          <p:nvPr/>
        </p:nvGrpSpPr>
        <p:grpSpPr>
          <a:xfrm>
            <a:off x="3511417" y="4313192"/>
            <a:ext cx="3714750" cy="1217295"/>
            <a:chOff x="1987417" y="4313191"/>
            <a:chExt cx="3714750" cy="1217295"/>
          </a:xfrm>
        </p:grpSpPr>
        <p:sp>
          <p:nvSpPr>
            <p:cNvPr id="79" name="object 79"/>
            <p:cNvSpPr/>
            <p:nvPr/>
          </p:nvSpPr>
          <p:spPr>
            <a:xfrm>
              <a:off x="2001705" y="5118745"/>
              <a:ext cx="994410" cy="396875"/>
            </a:xfrm>
            <a:custGeom>
              <a:avLst/>
              <a:gdLst/>
              <a:ahLst/>
              <a:cxnLst/>
              <a:rect l="l" t="t" r="r" b="b"/>
              <a:pathLst>
                <a:path w="994410" h="396875">
                  <a:moveTo>
                    <a:pt x="0" y="396874"/>
                  </a:moveTo>
                  <a:lnTo>
                    <a:pt x="511174" y="396874"/>
                  </a:lnTo>
                  <a:lnTo>
                    <a:pt x="511174" y="0"/>
                  </a:lnTo>
                  <a:lnTo>
                    <a:pt x="993994" y="0"/>
                  </a:lnTo>
                </a:path>
              </a:pathLst>
            </a:custGeom>
            <a:ln w="28574">
              <a:solidFill>
                <a:srgbClr val="8D8D8D"/>
              </a:solidFill>
            </a:ln>
          </p:spPr>
          <p:txBody>
            <a:bodyPr wrap="square" lIns="0" tIns="0" rIns="0" bIns="0" rtlCol="0"/>
            <a:lstStyle/>
            <a:p>
              <a:endParaRPr/>
            </a:p>
          </p:txBody>
        </p:sp>
        <p:pic>
          <p:nvPicPr>
            <p:cNvPr id="80" name="object 80"/>
            <p:cNvPicPr/>
            <p:nvPr/>
          </p:nvPicPr>
          <p:blipFill>
            <a:blip r:embed="rId27" cstate="print"/>
            <a:stretch>
              <a:fillRect/>
            </a:stretch>
          </p:blipFill>
          <p:spPr>
            <a:xfrm>
              <a:off x="2893658" y="5052421"/>
              <a:ext cx="130397" cy="132646"/>
            </a:xfrm>
            <a:prstGeom prst="rect">
              <a:avLst/>
            </a:prstGeom>
          </p:spPr>
        </p:pic>
        <p:sp>
          <p:nvSpPr>
            <p:cNvPr id="81" name="object 81"/>
            <p:cNvSpPr/>
            <p:nvPr/>
          </p:nvSpPr>
          <p:spPr>
            <a:xfrm>
              <a:off x="4142005" y="4379515"/>
              <a:ext cx="1531620" cy="739140"/>
            </a:xfrm>
            <a:custGeom>
              <a:avLst/>
              <a:gdLst/>
              <a:ahLst/>
              <a:cxnLst/>
              <a:rect l="l" t="t" r="r" b="b"/>
              <a:pathLst>
                <a:path w="1531620" h="739139">
                  <a:moveTo>
                    <a:pt x="0" y="738981"/>
                  </a:moveTo>
                  <a:lnTo>
                    <a:pt x="780256" y="738981"/>
                  </a:lnTo>
                  <a:lnTo>
                    <a:pt x="780256" y="0"/>
                  </a:lnTo>
                  <a:lnTo>
                    <a:pt x="1531362" y="0"/>
                  </a:lnTo>
                </a:path>
              </a:pathLst>
            </a:custGeom>
            <a:ln w="28574">
              <a:solidFill>
                <a:srgbClr val="8D8D8D"/>
              </a:solidFill>
            </a:ln>
          </p:spPr>
          <p:txBody>
            <a:bodyPr wrap="square" lIns="0" tIns="0" rIns="0" bIns="0" rtlCol="0"/>
            <a:lstStyle/>
            <a:p>
              <a:endParaRPr/>
            </a:p>
          </p:txBody>
        </p:sp>
        <p:pic>
          <p:nvPicPr>
            <p:cNvPr id="82" name="object 82"/>
            <p:cNvPicPr/>
            <p:nvPr/>
          </p:nvPicPr>
          <p:blipFill>
            <a:blip r:embed="rId27" cstate="print"/>
            <a:stretch>
              <a:fillRect/>
            </a:stretch>
          </p:blipFill>
          <p:spPr>
            <a:xfrm>
              <a:off x="5571327" y="4313191"/>
              <a:ext cx="130397" cy="132646"/>
            </a:xfrm>
            <a:prstGeom prst="rect">
              <a:avLst/>
            </a:prstGeom>
          </p:spPr>
        </p:pic>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40" y="1631697"/>
            <a:ext cx="4498975" cy="1186815"/>
          </a:xfrm>
          <a:prstGeom prst="rect">
            <a:avLst/>
          </a:prstGeom>
        </p:spPr>
        <p:txBody>
          <a:bodyPr vert="horz" wrap="square" lIns="0" tIns="166370" rIns="0" bIns="0" rtlCol="0">
            <a:spAutoFit/>
          </a:bodyPr>
          <a:lstStyle/>
          <a:p>
            <a:pPr marL="354965" indent="-342265">
              <a:spcBef>
                <a:spcPts val="1310"/>
              </a:spcBef>
              <a:buFont typeface="Arial"/>
              <a:buChar char="•"/>
              <a:tabLst>
                <a:tab pos="354965" algn="l"/>
                <a:tab pos="355600" algn="l"/>
              </a:tabLst>
            </a:pPr>
            <a:r>
              <a:rPr sz="2800" b="1" dirty="0">
                <a:latin typeface="Arial"/>
                <a:cs typeface="Arial"/>
              </a:rPr>
              <a:t>Is</a:t>
            </a:r>
            <a:r>
              <a:rPr sz="2800" b="1" spc="-20" dirty="0">
                <a:latin typeface="Arial"/>
                <a:cs typeface="Arial"/>
              </a:rPr>
              <a:t> </a:t>
            </a:r>
            <a:r>
              <a:rPr sz="2800" b="1" dirty="0">
                <a:latin typeface="Arial"/>
                <a:cs typeface="Arial"/>
              </a:rPr>
              <a:t>there</a:t>
            </a:r>
            <a:r>
              <a:rPr sz="2800" b="1" spc="-5" dirty="0">
                <a:latin typeface="Arial"/>
                <a:cs typeface="Arial"/>
              </a:rPr>
              <a:t> </a:t>
            </a:r>
            <a:r>
              <a:rPr sz="2800" b="1" dirty="0">
                <a:latin typeface="Arial"/>
                <a:cs typeface="Arial"/>
              </a:rPr>
              <a:t>a</a:t>
            </a:r>
            <a:r>
              <a:rPr sz="2800" b="1" spc="-10" dirty="0">
                <a:latin typeface="Arial"/>
                <a:cs typeface="Arial"/>
              </a:rPr>
              <a:t> </a:t>
            </a:r>
            <a:r>
              <a:rPr sz="2800" b="1" dirty="0">
                <a:latin typeface="Arial"/>
                <a:cs typeface="Arial"/>
              </a:rPr>
              <a:t>problem</a:t>
            </a:r>
            <a:r>
              <a:rPr sz="2800" b="1" spc="-5" dirty="0">
                <a:latin typeface="Arial"/>
                <a:cs typeface="Arial"/>
              </a:rPr>
              <a:t> </a:t>
            </a:r>
            <a:r>
              <a:rPr sz="2800" b="1" spc="-20" dirty="0">
                <a:latin typeface="Arial"/>
                <a:cs typeface="Arial"/>
              </a:rPr>
              <a:t>here?</a:t>
            </a:r>
            <a:endParaRPr sz="2800">
              <a:latin typeface="Arial"/>
              <a:cs typeface="Arial"/>
            </a:endParaRPr>
          </a:p>
          <a:p>
            <a:pPr marL="812165" lvl="1" indent="-342265">
              <a:spcBef>
                <a:spcPts val="1215"/>
              </a:spcBef>
              <a:buClr>
                <a:srgbClr val="D1282E"/>
              </a:buClr>
              <a:buChar char="•"/>
              <a:tabLst>
                <a:tab pos="812165" algn="l"/>
                <a:tab pos="812800" algn="l"/>
              </a:tabLst>
            </a:pPr>
            <a:r>
              <a:rPr sz="2800" spc="-10" dirty="0">
                <a:latin typeface="Arial"/>
                <a:cs typeface="Arial"/>
              </a:rPr>
              <a:t>insert(3744)</a:t>
            </a:r>
            <a:endParaRPr sz="2800">
              <a:latin typeface="Arial"/>
              <a:cs typeface="Arial"/>
            </a:endParaRPr>
          </a:p>
        </p:txBody>
      </p:sp>
      <p:sp>
        <p:nvSpPr>
          <p:cNvPr id="3" name="object 3"/>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spc="-10" dirty="0"/>
              <a:t>HASH</a:t>
            </a:r>
            <a:r>
              <a:rPr spc="-275" dirty="0"/>
              <a:t> </a:t>
            </a:r>
            <a:r>
              <a:rPr spc="-60" dirty="0"/>
              <a:t>EXAMPLE</a:t>
            </a:r>
          </a:p>
        </p:txBody>
      </p:sp>
      <p:grpSp>
        <p:nvGrpSpPr>
          <p:cNvPr id="4" name="object 4"/>
          <p:cNvGrpSpPr/>
          <p:nvPr/>
        </p:nvGrpSpPr>
        <p:grpSpPr>
          <a:xfrm>
            <a:off x="7197436" y="4168833"/>
            <a:ext cx="1222375" cy="424180"/>
            <a:chOff x="5673435" y="4168833"/>
            <a:chExt cx="1222375" cy="424180"/>
          </a:xfrm>
        </p:grpSpPr>
        <p:pic>
          <p:nvPicPr>
            <p:cNvPr id="5" name="object 5"/>
            <p:cNvPicPr/>
            <p:nvPr/>
          </p:nvPicPr>
          <p:blipFill>
            <a:blip r:embed="rId2" cstate="print"/>
            <a:stretch>
              <a:fillRect/>
            </a:stretch>
          </p:blipFill>
          <p:spPr>
            <a:xfrm>
              <a:off x="5673435" y="4189614"/>
              <a:ext cx="1221970" cy="378229"/>
            </a:xfrm>
            <a:prstGeom prst="rect">
              <a:avLst/>
            </a:prstGeom>
          </p:spPr>
        </p:pic>
        <p:pic>
          <p:nvPicPr>
            <p:cNvPr id="6" name="object 6"/>
            <p:cNvPicPr/>
            <p:nvPr/>
          </p:nvPicPr>
          <p:blipFill>
            <a:blip r:embed="rId3" cstate="print"/>
            <a:stretch>
              <a:fillRect/>
            </a:stretch>
          </p:blipFill>
          <p:spPr>
            <a:xfrm>
              <a:off x="5744094" y="4168833"/>
              <a:ext cx="906087" cy="423949"/>
            </a:xfrm>
            <a:prstGeom prst="rect">
              <a:avLst/>
            </a:prstGeom>
          </p:spPr>
        </p:pic>
        <p:sp>
          <p:nvSpPr>
            <p:cNvPr id="7" name="object 7"/>
            <p:cNvSpPr/>
            <p:nvPr/>
          </p:nvSpPr>
          <p:spPr>
            <a:xfrm>
              <a:off x="5701960" y="4241064"/>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8" name="object 8"/>
          <p:cNvSpPr txBox="1"/>
          <p:nvPr/>
        </p:nvSpPr>
        <p:spPr>
          <a:xfrm>
            <a:off x="7232311" y="4229262"/>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1:</a:t>
            </a:r>
            <a:r>
              <a:rPr spc="-5" dirty="0">
                <a:latin typeface="Arial"/>
                <a:cs typeface="Arial"/>
              </a:rPr>
              <a:t> </a:t>
            </a:r>
            <a:r>
              <a:rPr b="1" spc="-20" dirty="0">
                <a:latin typeface="Arial"/>
                <a:cs typeface="Arial"/>
              </a:rPr>
              <a:t>1001</a:t>
            </a:r>
            <a:endParaRPr>
              <a:latin typeface="Arial"/>
              <a:cs typeface="Arial"/>
            </a:endParaRPr>
          </a:p>
        </p:txBody>
      </p:sp>
      <p:grpSp>
        <p:nvGrpSpPr>
          <p:cNvPr id="9" name="object 9"/>
          <p:cNvGrpSpPr/>
          <p:nvPr/>
        </p:nvGrpSpPr>
        <p:grpSpPr>
          <a:xfrm>
            <a:off x="2380211" y="3877888"/>
            <a:ext cx="6039485" cy="2914015"/>
            <a:chOff x="856210" y="3877887"/>
            <a:chExt cx="6039485" cy="2914015"/>
          </a:xfrm>
        </p:grpSpPr>
        <p:pic>
          <p:nvPicPr>
            <p:cNvPr id="10" name="object 10"/>
            <p:cNvPicPr/>
            <p:nvPr/>
          </p:nvPicPr>
          <p:blipFill>
            <a:blip r:embed="rId4" cstate="print"/>
            <a:stretch>
              <a:fillRect/>
            </a:stretch>
          </p:blipFill>
          <p:spPr>
            <a:xfrm>
              <a:off x="5673435" y="3898668"/>
              <a:ext cx="1221970" cy="378229"/>
            </a:xfrm>
            <a:prstGeom prst="rect">
              <a:avLst/>
            </a:prstGeom>
          </p:spPr>
        </p:pic>
        <p:pic>
          <p:nvPicPr>
            <p:cNvPr id="11" name="object 11"/>
            <p:cNvPicPr/>
            <p:nvPr/>
          </p:nvPicPr>
          <p:blipFill>
            <a:blip r:embed="rId5" cstate="print"/>
            <a:stretch>
              <a:fillRect/>
            </a:stretch>
          </p:blipFill>
          <p:spPr>
            <a:xfrm>
              <a:off x="5744094" y="3877887"/>
              <a:ext cx="270163" cy="423949"/>
            </a:xfrm>
            <a:prstGeom prst="rect">
              <a:avLst/>
            </a:prstGeom>
          </p:spPr>
        </p:pic>
        <p:sp>
          <p:nvSpPr>
            <p:cNvPr id="12" name="object 12"/>
            <p:cNvSpPr/>
            <p:nvPr/>
          </p:nvSpPr>
          <p:spPr>
            <a:xfrm>
              <a:off x="5701960" y="3949531"/>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13" name="object 13"/>
            <p:cNvPicPr/>
            <p:nvPr/>
          </p:nvPicPr>
          <p:blipFill>
            <a:blip r:embed="rId6" cstate="print"/>
            <a:stretch>
              <a:fillRect/>
            </a:stretch>
          </p:blipFill>
          <p:spPr>
            <a:xfrm>
              <a:off x="856210" y="3898669"/>
              <a:ext cx="1221970" cy="2892828"/>
            </a:xfrm>
            <a:prstGeom prst="rect">
              <a:avLst/>
            </a:prstGeom>
          </p:spPr>
        </p:pic>
        <p:sp>
          <p:nvSpPr>
            <p:cNvPr id="14" name="object 14"/>
            <p:cNvSpPr/>
            <p:nvPr/>
          </p:nvSpPr>
          <p:spPr>
            <a:xfrm>
              <a:off x="883511" y="3949531"/>
              <a:ext cx="1118235" cy="2791460"/>
            </a:xfrm>
            <a:custGeom>
              <a:avLst/>
              <a:gdLst/>
              <a:ahLst/>
              <a:cxnLst/>
              <a:rect l="l" t="t" r="r" b="b"/>
              <a:pathLst>
                <a:path w="1118235" h="2791459">
                  <a:moveTo>
                    <a:pt x="0" y="0"/>
                  </a:moveTo>
                  <a:lnTo>
                    <a:pt x="1118193" y="0"/>
                  </a:lnTo>
                  <a:lnTo>
                    <a:pt x="1118193" y="2790885"/>
                  </a:lnTo>
                  <a:lnTo>
                    <a:pt x="0" y="2790885"/>
                  </a:lnTo>
                  <a:lnTo>
                    <a:pt x="0" y="0"/>
                  </a:lnTo>
                  <a:close/>
                </a:path>
              </a:pathLst>
            </a:custGeom>
            <a:ln w="12699">
              <a:solidFill>
                <a:srgbClr val="000000"/>
              </a:solidFill>
            </a:ln>
          </p:spPr>
          <p:txBody>
            <a:bodyPr wrap="square" lIns="0" tIns="0" rIns="0" bIns="0" rtlCol="0"/>
            <a:lstStyle/>
            <a:p>
              <a:endParaRPr/>
            </a:p>
          </p:txBody>
        </p:sp>
      </p:grpSp>
      <p:sp>
        <p:nvSpPr>
          <p:cNvPr id="15" name="object 15"/>
          <p:cNvSpPr txBox="1"/>
          <p:nvPr/>
        </p:nvSpPr>
        <p:spPr>
          <a:xfrm>
            <a:off x="7232311" y="3937729"/>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0</a:t>
            </a:r>
            <a:endParaRPr>
              <a:latin typeface="Arial"/>
              <a:cs typeface="Arial"/>
            </a:endParaRPr>
          </a:p>
        </p:txBody>
      </p:sp>
      <p:grpSp>
        <p:nvGrpSpPr>
          <p:cNvPr id="16" name="object 16"/>
          <p:cNvGrpSpPr/>
          <p:nvPr/>
        </p:nvGrpSpPr>
        <p:grpSpPr>
          <a:xfrm>
            <a:off x="7197436" y="4447308"/>
            <a:ext cx="1222375" cy="420370"/>
            <a:chOff x="5673435" y="4447308"/>
            <a:chExt cx="1222375" cy="420370"/>
          </a:xfrm>
        </p:grpSpPr>
        <p:pic>
          <p:nvPicPr>
            <p:cNvPr id="17" name="object 17"/>
            <p:cNvPicPr/>
            <p:nvPr/>
          </p:nvPicPr>
          <p:blipFill>
            <a:blip r:embed="rId7" cstate="print"/>
            <a:stretch>
              <a:fillRect/>
            </a:stretch>
          </p:blipFill>
          <p:spPr>
            <a:xfrm>
              <a:off x="5673435" y="4463934"/>
              <a:ext cx="1221970" cy="382385"/>
            </a:xfrm>
            <a:prstGeom prst="rect">
              <a:avLst/>
            </a:prstGeom>
          </p:spPr>
        </p:pic>
        <p:pic>
          <p:nvPicPr>
            <p:cNvPr id="18" name="object 18"/>
            <p:cNvPicPr/>
            <p:nvPr/>
          </p:nvPicPr>
          <p:blipFill>
            <a:blip r:embed="rId8" cstate="print"/>
            <a:stretch>
              <a:fillRect/>
            </a:stretch>
          </p:blipFill>
          <p:spPr>
            <a:xfrm>
              <a:off x="5744094" y="4447308"/>
              <a:ext cx="270163" cy="419792"/>
            </a:xfrm>
            <a:prstGeom prst="rect">
              <a:avLst/>
            </a:prstGeom>
          </p:spPr>
        </p:pic>
      </p:grpSp>
      <p:sp>
        <p:nvSpPr>
          <p:cNvPr id="19" name="object 19"/>
          <p:cNvSpPr txBox="1"/>
          <p:nvPr/>
        </p:nvSpPr>
        <p:spPr>
          <a:xfrm>
            <a:off x="7225961" y="4517448"/>
            <a:ext cx="1118235" cy="284480"/>
          </a:xfrm>
          <a:prstGeom prst="rect">
            <a:avLst/>
          </a:prstGeom>
          <a:ln w="12699">
            <a:solidFill>
              <a:srgbClr val="000000"/>
            </a:solidFill>
          </a:ln>
        </p:spPr>
        <p:txBody>
          <a:bodyPr vert="horz" wrap="square" lIns="0" tIns="1270" rIns="0" bIns="0" rtlCol="0">
            <a:spAutoFit/>
          </a:bodyPr>
          <a:lstStyle/>
          <a:p>
            <a:pPr marL="90805">
              <a:spcBef>
                <a:spcPts val="10"/>
              </a:spcBef>
            </a:pPr>
            <a:r>
              <a:rPr dirty="0">
                <a:latin typeface="Arial"/>
                <a:cs typeface="Arial"/>
              </a:rPr>
              <a:t>2</a:t>
            </a:r>
            <a:endParaRPr>
              <a:latin typeface="Arial"/>
              <a:cs typeface="Arial"/>
            </a:endParaRPr>
          </a:p>
        </p:txBody>
      </p:sp>
      <p:grpSp>
        <p:nvGrpSpPr>
          <p:cNvPr id="20" name="object 20"/>
          <p:cNvGrpSpPr/>
          <p:nvPr/>
        </p:nvGrpSpPr>
        <p:grpSpPr>
          <a:xfrm>
            <a:off x="7197436" y="4721628"/>
            <a:ext cx="1222375" cy="424180"/>
            <a:chOff x="5673435" y="4721628"/>
            <a:chExt cx="1222375" cy="424180"/>
          </a:xfrm>
        </p:grpSpPr>
        <p:pic>
          <p:nvPicPr>
            <p:cNvPr id="21" name="object 21"/>
            <p:cNvPicPr/>
            <p:nvPr/>
          </p:nvPicPr>
          <p:blipFill>
            <a:blip r:embed="rId9" cstate="print"/>
            <a:stretch>
              <a:fillRect/>
            </a:stretch>
          </p:blipFill>
          <p:spPr>
            <a:xfrm>
              <a:off x="5673435" y="4742410"/>
              <a:ext cx="1221970" cy="378229"/>
            </a:xfrm>
            <a:prstGeom prst="rect">
              <a:avLst/>
            </a:prstGeom>
          </p:spPr>
        </p:pic>
        <p:pic>
          <p:nvPicPr>
            <p:cNvPr id="22" name="object 22"/>
            <p:cNvPicPr/>
            <p:nvPr/>
          </p:nvPicPr>
          <p:blipFill>
            <a:blip r:embed="rId10" cstate="print"/>
            <a:stretch>
              <a:fillRect/>
            </a:stretch>
          </p:blipFill>
          <p:spPr>
            <a:xfrm>
              <a:off x="5744094" y="4721628"/>
              <a:ext cx="270163" cy="423949"/>
            </a:xfrm>
            <a:prstGeom prst="rect">
              <a:avLst/>
            </a:prstGeom>
          </p:spPr>
        </p:pic>
      </p:grpSp>
      <p:sp>
        <p:nvSpPr>
          <p:cNvPr id="23" name="object 23"/>
          <p:cNvSpPr txBox="1"/>
          <p:nvPr/>
        </p:nvSpPr>
        <p:spPr>
          <a:xfrm>
            <a:off x="7225961" y="4801818"/>
            <a:ext cx="1118235" cy="269304"/>
          </a:xfrm>
          <a:prstGeom prst="rect">
            <a:avLst/>
          </a:prstGeom>
          <a:ln w="12699">
            <a:solidFill>
              <a:srgbClr val="000000"/>
            </a:solidFill>
          </a:ln>
        </p:spPr>
        <p:txBody>
          <a:bodyPr vert="horz" wrap="square" lIns="0" tIns="0" rIns="0" bIns="0" rtlCol="0">
            <a:spAutoFit/>
          </a:bodyPr>
          <a:lstStyle/>
          <a:p>
            <a:pPr marL="90805">
              <a:lnSpc>
                <a:spcPts val="2105"/>
              </a:lnSpc>
            </a:pPr>
            <a:r>
              <a:rPr dirty="0">
                <a:latin typeface="Arial"/>
                <a:cs typeface="Arial"/>
              </a:rPr>
              <a:t>3</a:t>
            </a:r>
            <a:endParaRPr>
              <a:latin typeface="Arial"/>
              <a:cs typeface="Arial"/>
            </a:endParaRPr>
          </a:p>
        </p:txBody>
      </p:sp>
      <p:grpSp>
        <p:nvGrpSpPr>
          <p:cNvPr id="24" name="object 24"/>
          <p:cNvGrpSpPr/>
          <p:nvPr/>
        </p:nvGrpSpPr>
        <p:grpSpPr>
          <a:xfrm>
            <a:off x="7197436" y="5000104"/>
            <a:ext cx="1222375" cy="420370"/>
            <a:chOff x="5673435" y="5000104"/>
            <a:chExt cx="1222375" cy="420370"/>
          </a:xfrm>
        </p:grpSpPr>
        <p:pic>
          <p:nvPicPr>
            <p:cNvPr id="25" name="object 25"/>
            <p:cNvPicPr/>
            <p:nvPr/>
          </p:nvPicPr>
          <p:blipFill>
            <a:blip r:embed="rId11" cstate="print"/>
            <a:stretch>
              <a:fillRect/>
            </a:stretch>
          </p:blipFill>
          <p:spPr>
            <a:xfrm>
              <a:off x="5673435" y="5016731"/>
              <a:ext cx="1221970" cy="382385"/>
            </a:xfrm>
            <a:prstGeom prst="rect">
              <a:avLst/>
            </a:prstGeom>
          </p:spPr>
        </p:pic>
        <p:pic>
          <p:nvPicPr>
            <p:cNvPr id="26" name="object 26"/>
            <p:cNvPicPr/>
            <p:nvPr/>
          </p:nvPicPr>
          <p:blipFill>
            <a:blip r:embed="rId12" cstate="print"/>
            <a:stretch>
              <a:fillRect/>
            </a:stretch>
          </p:blipFill>
          <p:spPr>
            <a:xfrm>
              <a:off x="5744094" y="5000104"/>
              <a:ext cx="777239" cy="419792"/>
            </a:xfrm>
            <a:prstGeom prst="rect">
              <a:avLst/>
            </a:prstGeom>
          </p:spPr>
        </p:pic>
        <p:sp>
          <p:nvSpPr>
            <p:cNvPr id="27" name="object 27"/>
            <p:cNvSpPr/>
            <p:nvPr/>
          </p:nvSpPr>
          <p:spPr>
            <a:xfrm>
              <a:off x="5701960" y="5070486"/>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28" name="object 28"/>
          <p:cNvSpPr txBox="1"/>
          <p:nvPr/>
        </p:nvSpPr>
        <p:spPr>
          <a:xfrm>
            <a:off x="7232311" y="5058683"/>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4:</a:t>
            </a:r>
            <a:r>
              <a:rPr spc="-5" dirty="0">
                <a:latin typeface="Arial"/>
                <a:cs typeface="Arial"/>
              </a:rPr>
              <a:t> </a:t>
            </a:r>
            <a:r>
              <a:rPr b="1" spc="-25" dirty="0">
                <a:latin typeface="Arial"/>
                <a:cs typeface="Arial"/>
              </a:rPr>
              <a:t>214</a:t>
            </a:r>
            <a:endParaRPr>
              <a:latin typeface="Arial"/>
              <a:cs typeface="Arial"/>
            </a:endParaRPr>
          </a:p>
        </p:txBody>
      </p:sp>
      <p:grpSp>
        <p:nvGrpSpPr>
          <p:cNvPr id="29" name="object 29"/>
          <p:cNvGrpSpPr/>
          <p:nvPr/>
        </p:nvGrpSpPr>
        <p:grpSpPr>
          <a:xfrm>
            <a:off x="7197436" y="5278581"/>
            <a:ext cx="1222375" cy="424180"/>
            <a:chOff x="5673435" y="5278581"/>
            <a:chExt cx="1222375" cy="424180"/>
          </a:xfrm>
        </p:grpSpPr>
        <p:pic>
          <p:nvPicPr>
            <p:cNvPr id="30" name="object 30"/>
            <p:cNvPicPr/>
            <p:nvPr/>
          </p:nvPicPr>
          <p:blipFill>
            <a:blip r:embed="rId13" cstate="print"/>
            <a:stretch>
              <a:fillRect/>
            </a:stretch>
          </p:blipFill>
          <p:spPr>
            <a:xfrm>
              <a:off x="5673435" y="5299363"/>
              <a:ext cx="1221970" cy="378229"/>
            </a:xfrm>
            <a:prstGeom prst="rect">
              <a:avLst/>
            </a:prstGeom>
          </p:spPr>
        </p:pic>
        <p:pic>
          <p:nvPicPr>
            <p:cNvPr id="31" name="object 31"/>
            <p:cNvPicPr/>
            <p:nvPr/>
          </p:nvPicPr>
          <p:blipFill>
            <a:blip r:embed="rId14" cstate="print"/>
            <a:stretch>
              <a:fillRect/>
            </a:stretch>
          </p:blipFill>
          <p:spPr>
            <a:xfrm>
              <a:off x="5744094" y="5278581"/>
              <a:ext cx="270163" cy="423949"/>
            </a:xfrm>
            <a:prstGeom prst="rect">
              <a:avLst/>
            </a:prstGeom>
          </p:spPr>
        </p:pic>
        <p:sp>
          <p:nvSpPr>
            <p:cNvPr id="32" name="object 32"/>
            <p:cNvSpPr/>
            <p:nvPr/>
          </p:nvSpPr>
          <p:spPr>
            <a:xfrm>
              <a:off x="5701960" y="5349421"/>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33" name="object 33"/>
          <p:cNvSpPr txBox="1"/>
          <p:nvPr/>
        </p:nvSpPr>
        <p:spPr>
          <a:xfrm>
            <a:off x="7232311" y="5337618"/>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5</a:t>
            </a:r>
            <a:endParaRPr>
              <a:latin typeface="Arial"/>
              <a:cs typeface="Arial"/>
            </a:endParaRPr>
          </a:p>
        </p:txBody>
      </p:sp>
      <p:grpSp>
        <p:nvGrpSpPr>
          <p:cNvPr id="34" name="object 34"/>
          <p:cNvGrpSpPr/>
          <p:nvPr/>
        </p:nvGrpSpPr>
        <p:grpSpPr>
          <a:xfrm>
            <a:off x="7197436" y="5557058"/>
            <a:ext cx="1222375" cy="420370"/>
            <a:chOff x="5673435" y="5557058"/>
            <a:chExt cx="1222375" cy="420370"/>
          </a:xfrm>
        </p:grpSpPr>
        <p:pic>
          <p:nvPicPr>
            <p:cNvPr id="35" name="object 35"/>
            <p:cNvPicPr/>
            <p:nvPr/>
          </p:nvPicPr>
          <p:blipFill>
            <a:blip r:embed="rId15" cstate="print"/>
            <a:stretch>
              <a:fillRect/>
            </a:stretch>
          </p:blipFill>
          <p:spPr>
            <a:xfrm>
              <a:off x="5673435" y="5573683"/>
              <a:ext cx="1221970" cy="382385"/>
            </a:xfrm>
            <a:prstGeom prst="rect">
              <a:avLst/>
            </a:prstGeom>
          </p:spPr>
        </p:pic>
        <p:pic>
          <p:nvPicPr>
            <p:cNvPr id="36" name="object 36"/>
            <p:cNvPicPr/>
            <p:nvPr/>
          </p:nvPicPr>
          <p:blipFill>
            <a:blip r:embed="rId16" cstate="print"/>
            <a:stretch>
              <a:fillRect/>
            </a:stretch>
          </p:blipFill>
          <p:spPr>
            <a:xfrm>
              <a:off x="5744094" y="5557058"/>
              <a:ext cx="270163" cy="419792"/>
            </a:xfrm>
            <a:prstGeom prst="rect">
              <a:avLst/>
            </a:prstGeom>
          </p:spPr>
        </p:pic>
      </p:grpSp>
      <p:sp>
        <p:nvSpPr>
          <p:cNvPr id="37" name="object 37"/>
          <p:cNvSpPr txBox="1"/>
          <p:nvPr/>
        </p:nvSpPr>
        <p:spPr>
          <a:xfrm>
            <a:off x="7225961" y="5625804"/>
            <a:ext cx="1118235" cy="276860"/>
          </a:xfrm>
          <a:prstGeom prst="rect">
            <a:avLst/>
          </a:prstGeom>
          <a:ln w="12699">
            <a:solidFill>
              <a:srgbClr val="000000"/>
            </a:solidFill>
          </a:ln>
        </p:spPr>
        <p:txBody>
          <a:bodyPr vert="horz" wrap="square" lIns="0" tIns="1270" rIns="0" bIns="0" rtlCol="0">
            <a:spAutoFit/>
          </a:bodyPr>
          <a:lstStyle/>
          <a:p>
            <a:pPr marL="90805">
              <a:spcBef>
                <a:spcPts val="10"/>
              </a:spcBef>
            </a:pPr>
            <a:r>
              <a:rPr dirty="0">
                <a:latin typeface="Arial"/>
                <a:cs typeface="Arial"/>
              </a:rPr>
              <a:t>6</a:t>
            </a:r>
            <a:endParaRPr>
              <a:latin typeface="Arial"/>
              <a:cs typeface="Arial"/>
            </a:endParaRPr>
          </a:p>
        </p:txBody>
      </p:sp>
      <p:grpSp>
        <p:nvGrpSpPr>
          <p:cNvPr id="38" name="object 38"/>
          <p:cNvGrpSpPr/>
          <p:nvPr/>
        </p:nvGrpSpPr>
        <p:grpSpPr>
          <a:xfrm>
            <a:off x="7197436" y="5831377"/>
            <a:ext cx="1222375" cy="424180"/>
            <a:chOff x="5673435" y="5831377"/>
            <a:chExt cx="1222375" cy="424180"/>
          </a:xfrm>
        </p:grpSpPr>
        <p:pic>
          <p:nvPicPr>
            <p:cNvPr id="39" name="object 39"/>
            <p:cNvPicPr/>
            <p:nvPr/>
          </p:nvPicPr>
          <p:blipFill>
            <a:blip r:embed="rId17" cstate="print"/>
            <a:stretch>
              <a:fillRect/>
            </a:stretch>
          </p:blipFill>
          <p:spPr>
            <a:xfrm>
              <a:off x="5673435" y="5852159"/>
              <a:ext cx="1221970" cy="378229"/>
            </a:xfrm>
            <a:prstGeom prst="rect">
              <a:avLst/>
            </a:prstGeom>
          </p:spPr>
        </p:pic>
        <p:pic>
          <p:nvPicPr>
            <p:cNvPr id="40" name="object 40"/>
            <p:cNvPicPr/>
            <p:nvPr/>
          </p:nvPicPr>
          <p:blipFill>
            <a:blip r:embed="rId18" cstate="print"/>
            <a:stretch>
              <a:fillRect/>
            </a:stretch>
          </p:blipFill>
          <p:spPr>
            <a:xfrm>
              <a:off x="5744094" y="5831377"/>
              <a:ext cx="270163" cy="423949"/>
            </a:xfrm>
            <a:prstGeom prst="rect">
              <a:avLst/>
            </a:prstGeom>
          </p:spPr>
        </p:pic>
      </p:grpSp>
      <p:sp>
        <p:nvSpPr>
          <p:cNvPr id="41" name="object 41"/>
          <p:cNvSpPr txBox="1"/>
          <p:nvPr/>
        </p:nvSpPr>
        <p:spPr>
          <a:xfrm>
            <a:off x="7225961" y="5902188"/>
            <a:ext cx="1118235" cy="276860"/>
          </a:xfrm>
          <a:prstGeom prst="rect">
            <a:avLst/>
          </a:prstGeom>
          <a:ln w="12699">
            <a:solidFill>
              <a:srgbClr val="000000"/>
            </a:solidFill>
          </a:ln>
        </p:spPr>
        <p:txBody>
          <a:bodyPr vert="horz" wrap="square" lIns="0" tIns="635" rIns="0" bIns="0" rtlCol="0">
            <a:spAutoFit/>
          </a:bodyPr>
          <a:lstStyle/>
          <a:p>
            <a:pPr marL="90805">
              <a:spcBef>
                <a:spcPts val="5"/>
              </a:spcBef>
            </a:pPr>
            <a:r>
              <a:rPr dirty="0">
                <a:latin typeface="Arial"/>
                <a:cs typeface="Arial"/>
              </a:rPr>
              <a:t>7</a:t>
            </a:r>
            <a:endParaRPr>
              <a:latin typeface="Arial"/>
              <a:cs typeface="Arial"/>
            </a:endParaRPr>
          </a:p>
        </p:txBody>
      </p:sp>
      <p:grpSp>
        <p:nvGrpSpPr>
          <p:cNvPr id="42" name="object 42"/>
          <p:cNvGrpSpPr/>
          <p:nvPr/>
        </p:nvGrpSpPr>
        <p:grpSpPr>
          <a:xfrm>
            <a:off x="7197436" y="6109854"/>
            <a:ext cx="1222375" cy="420370"/>
            <a:chOff x="5673435" y="6109854"/>
            <a:chExt cx="1222375" cy="420370"/>
          </a:xfrm>
        </p:grpSpPr>
        <p:pic>
          <p:nvPicPr>
            <p:cNvPr id="43" name="object 43"/>
            <p:cNvPicPr/>
            <p:nvPr/>
          </p:nvPicPr>
          <p:blipFill>
            <a:blip r:embed="rId19" cstate="print"/>
            <a:stretch>
              <a:fillRect/>
            </a:stretch>
          </p:blipFill>
          <p:spPr>
            <a:xfrm>
              <a:off x="5673435" y="6126480"/>
              <a:ext cx="1221970" cy="382385"/>
            </a:xfrm>
            <a:prstGeom prst="rect">
              <a:avLst/>
            </a:prstGeom>
          </p:spPr>
        </p:pic>
        <p:pic>
          <p:nvPicPr>
            <p:cNvPr id="44" name="object 44"/>
            <p:cNvPicPr/>
            <p:nvPr/>
          </p:nvPicPr>
          <p:blipFill>
            <a:blip r:embed="rId20" cstate="print"/>
            <a:stretch>
              <a:fillRect/>
            </a:stretch>
          </p:blipFill>
          <p:spPr>
            <a:xfrm>
              <a:off x="5744094" y="6109854"/>
              <a:ext cx="270163" cy="419792"/>
            </a:xfrm>
            <a:prstGeom prst="rect">
              <a:avLst/>
            </a:prstGeom>
          </p:spPr>
        </p:pic>
        <p:sp>
          <p:nvSpPr>
            <p:cNvPr id="45" name="object 45"/>
            <p:cNvSpPr/>
            <p:nvPr/>
          </p:nvSpPr>
          <p:spPr>
            <a:xfrm>
              <a:off x="5701960" y="6178842"/>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46" name="object 46"/>
          <p:cNvSpPr txBox="1"/>
          <p:nvPr/>
        </p:nvSpPr>
        <p:spPr>
          <a:xfrm>
            <a:off x="7232311" y="6167039"/>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8</a:t>
            </a:r>
            <a:endParaRPr>
              <a:latin typeface="Arial"/>
              <a:cs typeface="Arial"/>
            </a:endParaRPr>
          </a:p>
        </p:txBody>
      </p:sp>
      <p:grpSp>
        <p:nvGrpSpPr>
          <p:cNvPr id="47" name="object 47"/>
          <p:cNvGrpSpPr/>
          <p:nvPr/>
        </p:nvGrpSpPr>
        <p:grpSpPr>
          <a:xfrm>
            <a:off x="7197436" y="6400800"/>
            <a:ext cx="1222375" cy="420370"/>
            <a:chOff x="5673435" y="6400800"/>
            <a:chExt cx="1222375" cy="420370"/>
          </a:xfrm>
        </p:grpSpPr>
        <p:pic>
          <p:nvPicPr>
            <p:cNvPr id="48" name="object 48"/>
            <p:cNvPicPr/>
            <p:nvPr/>
          </p:nvPicPr>
          <p:blipFill>
            <a:blip r:embed="rId21" cstate="print"/>
            <a:stretch>
              <a:fillRect/>
            </a:stretch>
          </p:blipFill>
          <p:spPr>
            <a:xfrm>
              <a:off x="5673435" y="6417425"/>
              <a:ext cx="1221970" cy="382385"/>
            </a:xfrm>
            <a:prstGeom prst="rect">
              <a:avLst/>
            </a:prstGeom>
          </p:spPr>
        </p:pic>
        <p:pic>
          <p:nvPicPr>
            <p:cNvPr id="49" name="object 49"/>
            <p:cNvPicPr/>
            <p:nvPr/>
          </p:nvPicPr>
          <p:blipFill>
            <a:blip r:embed="rId22" cstate="print"/>
            <a:stretch>
              <a:fillRect/>
            </a:stretch>
          </p:blipFill>
          <p:spPr>
            <a:xfrm>
              <a:off x="5744094" y="6400800"/>
              <a:ext cx="777239" cy="419792"/>
            </a:xfrm>
            <a:prstGeom prst="rect">
              <a:avLst/>
            </a:prstGeom>
          </p:spPr>
        </p:pic>
        <p:sp>
          <p:nvSpPr>
            <p:cNvPr id="50" name="object 50"/>
            <p:cNvSpPr/>
            <p:nvPr/>
          </p:nvSpPr>
          <p:spPr>
            <a:xfrm>
              <a:off x="5701960" y="6470375"/>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51" name="object 51"/>
          <p:cNvSpPr txBox="1"/>
          <p:nvPr/>
        </p:nvSpPr>
        <p:spPr>
          <a:xfrm>
            <a:off x="7232311" y="6458573"/>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9:</a:t>
            </a:r>
            <a:r>
              <a:rPr spc="-5" dirty="0">
                <a:latin typeface="Arial"/>
                <a:cs typeface="Arial"/>
              </a:rPr>
              <a:t> </a:t>
            </a:r>
            <a:r>
              <a:rPr b="1" spc="-25" dirty="0">
                <a:latin typeface="Arial"/>
                <a:cs typeface="Arial"/>
              </a:rPr>
              <a:t>519</a:t>
            </a:r>
            <a:endParaRPr>
              <a:latin typeface="Arial"/>
              <a:cs typeface="Arial"/>
            </a:endParaRPr>
          </a:p>
        </p:txBody>
      </p:sp>
      <p:grpSp>
        <p:nvGrpSpPr>
          <p:cNvPr id="52" name="object 52"/>
          <p:cNvGrpSpPr/>
          <p:nvPr/>
        </p:nvGrpSpPr>
        <p:grpSpPr>
          <a:xfrm>
            <a:off x="4520738" y="4667596"/>
            <a:ext cx="1222375" cy="902335"/>
            <a:chOff x="2996737" y="4667595"/>
            <a:chExt cx="1222375" cy="902335"/>
          </a:xfrm>
        </p:grpSpPr>
        <p:pic>
          <p:nvPicPr>
            <p:cNvPr id="53" name="object 53"/>
            <p:cNvPicPr/>
            <p:nvPr/>
          </p:nvPicPr>
          <p:blipFill>
            <a:blip r:embed="rId23" cstate="print"/>
            <a:stretch>
              <a:fillRect/>
            </a:stretch>
          </p:blipFill>
          <p:spPr>
            <a:xfrm>
              <a:off x="2996737" y="4667595"/>
              <a:ext cx="1221970" cy="901930"/>
            </a:xfrm>
            <a:prstGeom prst="rect">
              <a:avLst/>
            </a:prstGeom>
          </p:spPr>
        </p:pic>
        <p:pic>
          <p:nvPicPr>
            <p:cNvPr id="54" name="object 54"/>
            <p:cNvPicPr/>
            <p:nvPr/>
          </p:nvPicPr>
          <p:blipFill>
            <a:blip r:embed="rId24" cstate="print"/>
            <a:stretch>
              <a:fillRect/>
            </a:stretch>
          </p:blipFill>
          <p:spPr>
            <a:xfrm>
              <a:off x="3117272" y="4771504"/>
              <a:ext cx="1005839" cy="689956"/>
            </a:xfrm>
            <a:prstGeom prst="rect">
              <a:avLst/>
            </a:prstGeom>
          </p:spPr>
        </p:pic>
      </p:grpSp>
      <p:sp>
        <p:nvSpPr>
          <p:cNvPr id="55" name="object 55"/>
          <p:cNvSpPr txBox="1"/>
          <p:nvPr/>
        </p:nvSpPr>
        <p:spPr>
          <a:xfrm>
            <a:off x="4547813" y="4721371"/>
            <a:ext cx="1118235" cy="677750"/>
          </a:xfrm>
          <a:prstGeom prst="rect">
            <a:avLst/>
          </a:prstGeom>
          <a:ln w="12699">
            <a:solidFill>
              <a:srgbClr val="000000"/>
            </a:solidFill>
          </a:ln>
        </p:spPr>
        <p:txBody>
          <a:bodyPr vert="horz" wrap="square" lIns="0" tIns="137795" rIns="0" bIns="0" rtlCol="0">
            <a:spAutoFit/>
          </a:bodyPr>
          <a:lstStyle/>
          <a:p>
            <a:pPr marL="154940" marR="141605" indent="111125">
              <a:lnSpc>
                <a:spcPts val="2100"/>
              </a:lnSpc>
              <a:spcBef>
                <a:spcPts val="1085"/>
              </a:spcBef>
            </a:pPr>
            <a:r>
              <a:rPr i="1" dirty="0">
                <a:latin typeface="Arial"/>
                <a:cs typeface="Arial"/>
              </a:rPr>
              <a:t>h(x)</a:t>
            </a:r>
            <a:r>
              <a:rPr i="1" spc="-5" dirty="0">
                <a:latin typeface="Arial"/>
                <a:cs typeface="Arial"/>
              </a:rPr>
              <a:t> </a:t>
            </a:r>
            <a:r>
              <a:rPr i="1" spc="-50" dirty="0">
                <a:latin typeface="Arial"/>
                <a:cs typeface="Arial"/>
              </a:rPr>
              <a:t>= </a:t>
            </a:r>
            <a:r>
              <a:rPr i="1" spc="-10" dirty="0">
                <a:latin typeface="Arial"/>
                <a:cs typeface="Arial"/>
              </a:rPr>
              <a:t>key%10</a:t>
            </a:r>
            <a:endParaRPr>
              <a:latin typeface="Arial"/>
              <a:cs typeface="Arial"/>
            </a:endParaRPr>
          </a:p>
        </p:txBody>
      </p:sp>
      <p:grpSp>
        <p:nvGrpSpPr>
          <p:cNvPr id="56" name="object 56"/>
          <p:cNvGrpSpPr/>
          <p:nvPr/>
        </p:nvGrpSpPr>
        <p:grpSpPr>
          <a:xfrm>
            <a:off x="2380211" y="4738254"/>
            <a:ext cx="1222375" cy="424180"/>
            <a:chOff x="856210" y="4738254"/>
            <a:chExt cx="1222375" cy="424180"/>
          </a:xfrm>
        </p:grpSpPr>
        <p:pic>
          <p:nvPicPr>
            <p:cNvPr id="57" name="object 57"/>
            <p:cNvPicPr/>
            <p:nvPr/>
          </p:nvPicPr>
          <p:blipFill>
            <a:blip r:embed="rId25" cstate="print"/>
            <a:stretch>
              <a:fillRect/>
            </a:stretch>
          </p:blipFill>
          <p:spPr>
            <a:xfrm>
              <a:off x="856210" y="4759036"/>
              <a:ext cx="1221970" cy="378229"/>
            </a:xfrm>
            <a:prstGeom prst="rect">
              <a:avLst/>
            </a:prstGeom>
          </p:spPr>
        </p:pic>
        <p:pic>
          <p:nvPicPr>
            <p:cNvPr id="58" name="object 58"/>
            <p:cNvPicPr/>
            <p:nvPr/>
          </p:nvPicPr>
          <p:blipFill>
            <a:blip r:embed="rId26" cstate="print"/>
            <a:stretch>
              <a:fillRect/>
            </a:stretch>
          </p:blipFill>
          <p:spPr>
            <a:xfrm>
              <a:off x="1205345" y="4738254"/>
              <a:ext cx="523701" cy="423949"/>
            </a:xfrm>
            <a:prstGeom prst="rect">
              <a:avLst/>
            </a:prstGeom>
          </p:spPr>
        </p:pic>
      </p:grpSp>
      <p:sp>
        <p:nvSpPr>
          <p:cNvPr id="59" name="object 59"/>
          <p:cNvSpPr txBox="1"/>
          <p:nvPr/>
        </p:nvSpPr>
        <p:spPr>
          <a:xfrm>
            <a:off x="2407512" y="4801818"/>
            <a:ext cx="1118235" cy="276860"/>
          </a:xfrm>
          <a:prstGeom prst="rect">
            <a:avLst/>
          </a:prstGeom>
          <a:ln w="12699">
            <a:solidFill>
              <a:srgbClr val="000000"/>
            </a:solidFill>
          </a:ln>
        </p:spPr>
        <p:txBody>
          <a:bodyPr vert="horz" wrap="square" lIns="0" tIns="8890" rIns="0" bIns="0" rtlCol="0">
            <a:spAutoFit/>
          </a:bodyPr>
          <a:lstStyle/>
          <a:p>
            <a:pPr marL="370840">
              <a:lnSpc>
                <a:spcPts val="2105"/>
              </a:lnSpc>
              <a:spcBef>
                <a:spcPts val="70"/>
              </a:spcBef>
            </a:pPr>
            <a:r>
              <a:rPr spc="-25" dirty="0">
                <a:latin typeface="Arial"/>
                <a:cs typeface="Arial"/>
              </a:rPr>
              <a:t>519</a:t>
            </a:r>
            <a:endParaRPr>
              <a:latin typeface="Arial"/>
              <a:cs typeface="Arial"/>
            </a:endParaRPr>
          </a:p>
        </p:txBody>
      </p:sp>
      <p:grpSp>
        <p:nvGrpSpPr>
          <p:cNvPr id="60" name="object 60"/>
          <p:cNvGrpSpPr/>
          <p:nvPr/>
        </p:nvGrpSpPr>
        <p:grpSpPr>
          <a:xfrm>
            <a:off x="2380211" y="4172989"/>
            <a:ext cx="4845685" cy="2501900"/>
            <a:chOff x="856210" y="4172989"/>
            <a:chExt cx="4845685" cy="2501900"/>
          </a:xfrm>
        </p:grpSpPr>
        <p:sp>
          <p:nvSpPr>
            <p:cNvPr id="61" name="object 61"/>
            <p:cNvSpPr/>
            <p:nvPr/>
          </p:nvSpPr>
          <p:spPr>
            <a:xfrm>
              <a:off x="2001705" y="4947862"/>
              <a:ext cx="994410" cy="170815"/>
            </a:xfrm>
            <a:custGeom>
              <a:avLst/>
              <a:gdLst/>
              <a:ahLst/>
              <a:cxnLst/>
              <a:rect l="l" t="t" r="r" b="b"/>
              <a:pathLst>
                <a:path w="994410" h="170814">
                  <a:moveTo>
                    <a:pt x="0" y="0"/>
                  </a:moveTo>
                  <a:lnTo>
                    <a:pt x="511174" y="0"/>
                  </a:lnTo>
                  <a:lnTo>
                    <a:pt x="511174" y="170656"/>
                  </a:lnTo>
                  <a:lnTo>
                    <a:pt x="993994" y="170656"/>
                  </a:lnTo>
                </a:path>
              </a:pathLst>
            </a:custGeom>
            <a:ln w="28574">
              <a:solidFill>
                <a:srgbClr val="8D8D8D"/>
              </a:solidFill>
            </a:ln>
          </p:spPr>
          <p:txBody>
            <a:bodyPr wrap="square" lIns="0" tIns="0" rIns="0" bIns="0" rtlCol="0"/>
            <a:lstStyle/>
            <a:p>
              <a:endParaRPr/>
            </a:p>
          </p:txBody>
        </p:sp>
        <p:pic>
          <p:nvPicPr>
            <p:cNvPr id="62" name="object 62"/>
            <p:cNvPicPr/>
            <p:nvPr/>
          </p:nvPicPr>
          <p:blipFill>
            <a:blip r:embed="rId27" cstate="print"/>
            <a:stretch>
              <a:fillRect/>
            </a:stretch>
          </p:blipFill>
          <p:spPr>
            <a:xfrm>
              <a:off x="2893658" y="5052194"/>
              <a:ext cx="130397" cy="132647"/>
            </a:xfrm>
            <a:prstGeom prst="rect">
              <a:avLst/>
            </a:prstGeom>
          </p:spPr>
        </p:pic>
        <p:sp>
          <p:nvSpPr>
            <p:cNvPr id="63" name="object 63"/>
            <p:cNvSpPr/>
            <p:nvPr/>
          </p:nvSpPr>
          <p:spPr>
            <a:xfrm>
              <a:off x="4142005" y="5118496"/>
              <a:ext cx="1531620" cy="1490345"/>
            </a:xfrm>
            <a:custGeom>
              <a:avLst/>
              <a:gdLst/>
              <a:ahLst/>
              <a:cxnLst/>
              <a:rect l="l" t="t" r="r" b="b"/>
              <a:pathLst>
                <a:path w="1531620" h="1490345">
                  <a:moveTo>
                    <a:pt x="0" y="0"/>
                  </a:moveTo>
                  <a:lnTo>
                    <a:pt x="780256" y="0"/>
                  </a:lnTo>
                  <a:lnTo>
                    <a:pt x="780256" y="1489868"/>
                  </a:lnTo>
                  <a:lnTo>
                    <a:pt x="1531362" y="1489868"/>
                  </a:lnTo>
                </a:path>
              </a:pathLst>
            </a:custGeom>
            <a:ln w="28574">
              <a:solidFill>
                <a:srgbClr val="8D8D8D"/>
              </a:solidFill>
            </a:ln>
          </p:spPr>
          <p:txBody>
            <a:bodyPr wrap="square" lIns="0" tIns="0" rIns="0" bIns="0" rtlCol="0"/>
            <a:lstStyle/>
            <a:p>
              <a:endParaRPr/>
            </a:p>
          </p:txBody>
        </p:sp>
        <p:pic>
          <p:nvPicPr>
            <p:cNvPr id="64" name="object 64"/>
            <p:cNvPicPr/>
            <p:nvPr/>
          </p:nvPicPr>
          <p:blipFill>
            <a:blip r:embed="rId27" cstate="print"/>
            <a:stretch>
              <a:fillRect/>
            </a:stretch>
          </p:blipFill>
          <p:spPr>
            <a:xfrm>
              <a:off x="5571327" y="6542041"/>
              <a:ext cx="130397" cy="132646"/>
            </a:xfrm>
            <a:prstGeom prst="rect">
              <a:avLst/>
            </a:prstGeom>
          </p:spPr>
        </p:pic>
        <p:pic>
          <p:nvPicPr>
            <p:cNvPr id="65" name="object 65"/>
            <p:cNvPicPr/>
            <p:nvPr/>
          </p:nvPicPr>
          <p:blipFill>
            <a:blip r:embed="rId28" cstate="print"/>
            <a:stretch>
              <a:fillRect/>
            </a:stretch>
          </p:blipFill>
          <p:spPr>
            <a:xfrm>
              <a:off x="856210" y="4189614"/>
              <a:ext cx="1221970" cy="378229"/>
            </a:xfrm>
            <a:prstGeom prst="rect">
              <a:avLst/>
            </a:prstGeom>
          </p:spPr>
        </p:pic>
        <p:pic>
          <p:nvPicPr>
            <p:cNvPr id="66" name="object 66"/>
            <p:cNvPicPr/>
            <p:nvPr/>
          </p:nvPicPr>
          <p:blipFill>
            <a:blip r:embed="rId29" cstate="print"/>
            <a:stretch>
              <a:fillRect/>
            </a:stretch>
          </p:blipFill>
          <p:spPr>
            <a:xfrm>
              <a:off x="1205345" y="4172989"/>
              <a:ext cx="523701" cy="419792"/>
            </a:xfrm>
            <a:prstGeom prst="rect">
              <a:avLst/>
            </a:prstGeom>
          </p:spPr>
        </p:pic>
        <p:sp>
          <p:nvSpPr>
            <p:cNvPr id="67" name="object 67"/>
            <p:cNvSpPr/>
            <p:nvPr/>
          </p:nvSpPr>
          <p:spPr>
            <a:xfrm>
              <a:off x="883511" y="4241601"/>
              <a:ext cx="1118235" cy="276225"/>
            </a:xfrm>
            <a:custGeom>
              <a:avLst/>
              <a:gdLst/>
              <a:ahLst/>
              <a:cxnLst/>
              <a:rect l="l" t="t" r="r" b="b"/>
              <a:pathLst>
                <a:path w="1118235"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68" name="object 68"/>
          <p:cNvSpPr txBox="1"/>
          <p:nvPr/>
        </p:nvSpPr>
        <p:spPr>
          <a:xfrm>
            <a:off x="2407512" y="3949532"/>
            <a:ext cx="1118235" cy="585417"/>
          </a:xfrm>
          <a:prstGeom prst="rect">
            <a:avLst/>
          </a:prstGeom>
          <a:ln w="12699">
            <a:solidFill>
              <a:srgbClr val="000000"/>
            </a:solidFill>
          </a:ln>
        </p:spPr>
        <p:txBody>
          <a:bodyPr vert="horz" wrap="square" lIns="0" tIns="635" rIns="0" bIns="0" rtlCol="0">
            <a:spAutoFit/>
          </a:bodyPr>
          <a:lstStyle/>
          <a:p>
            <a:pPr>
              <a:spcBef>
                <a:spcPts val="5"/>
              </a:spcBef>
            </a:pPr>
            <a:endParaRPr sz="2000">
              <a:latin typeface="Times New Roman"/>
              <a:cs typeface="Times New Roman"/>
            </a:endParaRPr>
          </a:p>
          <a:p>
            <a:pPr marL="370840"/>
            <a:r>
              <a:rPr spc="-25" dirty="0">
                <a:latin typeface="Arial"/>
                <a:cs typeface="Arial"/>
              </a:rPr>
              <a:t>214</a:t>
            </a:r>
            <a:endParaRPr>
              <a:latin typeface="Arial"/>
              <a:cs typeface="Arial"/>
            </a:endParaRPr>
          </a:p>
        </p:txBody>
      </p:sp>
      <p:grpSp>
        <p:nvGrpSpPr>
          <p:cNvPr id="69" name="object 69"/>
          <p:cNvGrpSpPr/>
          <p:nvPr/>
        </p:nvGrpSpPr>
        <p:grpSpPr>
          <a:xfrm>
            <a:off x="2380211" y="4365372"/>
            <a:ext cx="4845685" cy="1362710"/>
            <a:chOff x="856210" y="4365372"/>
            <a:chExt cx="4845685" cy="1362710"/>
          </a:xfrm>
        </p:grpSpPr>
        <p:sp>
          <p:nvSpPr>
            <p:cNvPr id="70" name="object 70"/>
            <p:cNvSpPr/>
            <p:nvPr/>
          </p:nvSpPr>
          <p:spPr>
            <a:xfrm>
              <a:off x="2001705" y="4379659"/>
              <a:ext cx="994410" cy="739140"/>
            </a:xfrm>
            <a:custGeom>
              <a:avLst/>
              <a:gdLst/>
              <a:ahLst/>
              <a:cxnLst/>
              <a:rect l="l" t="t" r="r" b="b"/>
              <a:pathLst>
                <a:path w="994410" h="739139">
                  <a:moveTo>
                    <a:pt x="0" y="0"/>
                  </a:moveTo>
                  <a:lnTo>
                    <a:pt x="511174" y="0"/>
                  </a:lnTo>
                  <a:lnTo>
                    <a:pt x="511174" y="738981"/>
                  </a:lnTo>
                  <a:lnTo>
                    <a:pt x="993994" y="738981"/>
                  </a:lnTo>
                </a:path>
              </a:pathLst>
            </a:custGeom>
            <a:ln w="28574">
              <a:solidFill>
                <a:srgbClr val="8D8D8D"/>
              </a:solidFill>
            </a:ln>
          </p:spPr>
          <p:txBody>
            <a:bodyPr wrap="square" lIns="0" tIns="0" rIns="0" bIns="0" rtlCol="0"/>
            <a:lstStyle/>
            <a:p>
              <a:endParaRPr/>
            </a:p>
          </p:txBody>
        </p:sp>
        <p:pic>
          <p:nvPicPr>
            <p:cNvPr id="71" name="object 71"/>
            <p:cNvPicPr/>
            <p:nvPr/>
          </p:nvPicPr>
          <p:blipFill>
            <a:blip r:embed="rId27" cstate="print"/>
            <a:stretch>
              <a:fillRect/>
            </a:stretch>
          </p:blipFill>
          <p:spPr>
            <a:xfrm>
              <a:off x="2893658" y="5052317"/>
              <a:ext cx="130397" cy="132647"/>
            </a:xfrm>
            <a:prstGeom prst="rect">
              <a:avLst/>
            </a:prstGeom>
          </p:spPr>
        </p:pic>
        <p:sp>
          <p:nvSpPr>
            <p:cNvPr id="72" name="object 72"/>
            <p:cNvSpPr/>
            <p:nvPr/>
          </p:nvSpPr>
          <p:spPr>
            <a:xfrm>
              <a:off x="4142005" y="5118496"/>
              <a:ext cx="1531620" cy="90170"/>
            </a:xfrm>
            <a:custGeom>
              <a:avLst/>
              <a:gdLst/>
              <a:ahLst/>
              <a:cxnLst/>
              <a:rect l="l" t="t" r="r" b="b"/>
              <a:pathLst>
                <a:path w="1531620" h="90170">
                  <a:moveTo>
                    <a:pt x="0" y="0"/>
                  </a:moveTo>
                  <a:lnTo>
                    <a:pt x="780256" y="0"/>
                  </a:lnTo>
                  <a:lnTo>
                    <a:pt x="780256" y="89693"/>
                  </a:lnTo>
                  <a:lnTo>
                    <a:pt x="1531362" y="89693"/>
                  </a:lnTo>
                </a:path>
              </a:pathLst>
            </a:custGeom>
            <a:ln w="28574">
              <a:solidFill>
                <a:srgbClr val="8D8D8D"/>
              </a:solidFill>
            </a:ln>
          </p:spPr>
          <p:txBody>
            <a:bodyPr wrap="square" lIns="0" tIns="0" rIns="0" bIns="0" rtlCol="0"/>
            <a:lstStyle/>
            <a:p>
              <a:endParaRPr/>
            </a:p>
          </p:txBody>
        </p:sp>
        <p:pic>
          <p:nvPicPr>
            <p:cNvPr id="73" name="object 73"/>
            <p:cNvPicPr/>
            <p:nvPr/>
          </p:nvPicPr>
          <p:blipFill>
            <a:blip r:embed="rId27" cstate="print"/>
            <a:stretch>
              <a:fillRect/>
            </a:stretch>
          </p:blipFill>
          <p:spPr>
            <a:xfrm>
              <a:off x="5571327" y="5141866"/>
              <a:ext cx="130397" cy="132646"/>
            </a:xfrm>
            <a:prstGeom prst="rect">
              <a:avLst/>
            </a:prstGeom>
          </p:spPr>
        </p:pic>
        <p:pic>
          <p:nvPicPr>
            <p:cNvPr id="74" name="object 74"/>
            <p:cNvPicPr/>
            <p:nvPr/>
          </p:nvPicPr>
          <p:blipFill>
            <a:blip r:embed="rId30" cstate="print"/>
            <a:stretch>
              <a:fillRect/>
            </a:stretch>
          </p:blipFill>
          <p:spPr>
            <a:xfrm>
              <a:off x="856210" y="5324301"/>
              <a:ext cx="1221970" cy="382385"/>
            </a:xfrm>
            <a:prstGeom prst="rect">
              <a:avLst/>
            </a:prstGeom>
          </p:spPr>
        </p:pic>
        <p:pic>
          <p:nvPicPr>
            <p:cNvPr id="75" name="object 75"/>
            <p:cNvPicPr/>
            <p:nvPr/>
          </p:nvPicPr>
          <p:blipFill>
            <a:blip r:embed="rId31" cstate="print"/>
            <a:stretch>
              <a:fillRect/>
            </a:stretch>
          </p:blipFill>
          <p:spPr>
            <a:xfrm>
              <a:off x="1142999" y="5307676"/>
              <a:ext cx="648392" cy="419792"/>
            </a:xfrm>
            <a:prstGeom prst="rect">
              <a:avLst/>
            </a:prstGeom>
          </p:spPr>
        </p:pic>
        <p:sp>
          <p:nvSpPr>
            <p:cNvPr id="76" name="object 76"/>
            <p:cNvSpPr/>
            <p:nvPr/>
          </p:nvSpPr>
          <p:spPr>
            <a:xfrm>
              <a:off x="883511" y="5377562"/>
              <a:ext cx="1118235" cy="276225"/>
            </a:xfrm>
            <a:custGeom>
              <a:avLst/>
              <a:gdLst/>
              <a:ahLst/>
              <a:cxnLst/>
              <a:rect l="l" t="t" r="r" b="b"/>
              <a:pathLst>
                <a:path w="1118235"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77" name="object 77"/>
          <p:cNvSpPr txBox="1"/>
          <p:nvPr/>
        </p:nvSpPr>
        <p:spPr>
          <a:xfrm>
            <a:off x="2715372" y="5365758"/>
            <a:ext cx="521334" cy="299720"/>
          </a:xfrm>
          <a:prstGeom prst="rect">
            <a:avLst/>
          </a:prstGeom>
        </p:spPr>
        <p:txBody>
          <a:bodyPr vert="horz" wrap="square" lIns="0" tIns="12700" rIns="0" bIns="0" rtlCol="0">
            <a:spAutoFit/>
          </a:bodyPr>
          <a:lstStyle/>
          <a:p>
            <a:pPr>
              <a:spcBef>
                <a:spcPts val="100"/>
              </a:spcBef>
            </a:pPr>
            <a:r>
              <a:rPr spc="-20" dirty="0">
                <a:latin typeface="Arial"/>
                <a:cs typeface="Arial"/>
              </a:rPr>
              <a:t>1001</a:t>
            </a:r>
            <a:endParaRPr>
              <a:latin typeface="Arial"/>
              <a:cs typeface="Arial"/>
            </a:endParaRPr>
          </a:p>
        </p:txBody>
      </p:sp>
      <p:grpSp>
        <p:nvGrpSpPr>
          <p:cNvPr id="78" name="object 78"/>
          <p:cNvGrpSpPr/>
          <p:nvPr/>
        </p:nvGrpSpPr>
        <p:grpSpPr>
          <a:xfrm>
            <a:off x="2380211" y="4313192"/>
            <a:ext cx="4845685" cy="2079625"/>
            <a:chOff x="856210" y="4313191"/>
            <a:chExt cx="4845685" cy="2079625"/>
          </a:xfrm>
        </p:grpSpPr>
        <p:sp>
          <p:nvSpPr>
            <p:cNvPr id="79" name="object 79"/>
            <p:cNvSpPr/>
            <p:nvPr/>
          </p:nvSpPr>
          <p:spPr>
            <a:xfrm>
              <a:off x="2001705" y="5118745"/>
              <a:ext cx="994410" cy="396875"/>
            </a:xfrm>
            <a:custGeom>
              <a:avLst/>
              <a:gdLst/>
              <a:ahLst/>
              <a:cxnLst/>
              <a:rect l="l" t="t" r="r" b="b"/>
              <a:pathLst>
                <a:path w="994410" h="396875">
                  <a:moveTo>
                    <a:pt x="0" y="396874"/>
                  </a:moveTo>
                  <a:lnTo>
                    <a:pt x="511174" y="396874"/>
                  </a:lnTo>
                  <a:lnTo>
                    <a:pt x="511174" y="0"/>
                  </a:lnTo>
                  <a:lnTo>
                    <a:pt x="993994" y="0"/>
                  </a:lnTo>
                </a:path>
              </a:pathLst>
            </a:custGeom>
            <a:ln w="28574">
              <a:solidFill>
                <a:srgbClr val="8D8D8D"/>
              </a:solidFill>
            </a:ln>
          </p:spPr>
          <p:txBody>
            <a:bodyPr wrap="square" lIns="0" tIns="0" rIns="0" bIns="0" rtlCol="0"/>
            <a:lstStyle/>
            <a:p>
              <a:endParaRPr/>
            </a:p>
          </p:txBody>
        </p:sp>
        <p:pic>
          <p:nvPicPr>
            <p:cNvPr id="80" name="object 80"/>
            <p:cNvPicPr/>
            <p:nvPr/>
          </p:nvPicPr>
          <p:blipFill>
            <a:blip r:embed="rId27" cstate="print"/>
            <a:stretch>
              <a:fillRect/>
            </a:stretch>
          </p:blipFill>
          <p:spPr>
            <a:xfrm>
              <a:off x="2893658" y="5052421"/>
              <a:ext cx="130397" cy="132646"/>
            </a:xfrm>
            <a:prstGeom prst="rect">
              <a:avLst/>
            </a:prstGeom>
          </p:spPr>
        </p:pic>
        <p:sp>
          <p:nvSpPr>
            <p:cNvPr id="81" name="object 81"/>
            <p:cNvSpPr/>
            <p:nvPr/>
          </p:nvSpPr>
          <p:spPr>
            <a:xfrm>
              <a:off x="4142005" y="4379515"/>
              <a:ext cx="1531620" cy="739140"/>
            </a:xfrm>
            <a:custGeom>
              <a:avLst/>
              <a:gdLst/>
              <a:ahLst/>
              <a:cxnLst/>
              <a:rect l="l" t="t" r="r" b="b"/>
              <a:pathLst>
                <a:path w="1531620" h="739139">
                  <a:moveTo>
                    <a:pt x="0" y="738981"/>
                  </a:moveTo>
                  <a:lnTo>
                    <a:pt x="780256" y="738981"/>
                  </a:lnTo>
                  <a:lnTo>
                    <a:pt x="780256" y="0"/>
                  </a:lnTo>
                  <a:lnTo>
                    <a:pt x="1531362" y="0"/>
                  </a:lnTo>
                </a:path>
              </a:pathLst>
            </a:custGeom>
            <a:ln w="28574">
              <a:solidFill>
                <a:srgbClr val="8D8D8D"/>
              </a:solidFill>
            </a:ln>
          </p:spPr>
          <p:txBody>
            <a:bodyPr wrap="square" lIns="0" tIns="0" rIns="0" bIns="0" rtlCol="0"/>
            <a:lstStyle/>
            <a:p>
              <a:endParaRPr/>
            </a:p>
          </p:txBody>
        </p:sp>
        <p:pic>
          <p:nvPicPr>
            <p:cNvPr id="82" name="object 82"/>
            <p:cNvPicPr/>
            <p:nvPr/>
          </p:nvPicPr>
          <p:blipFill>
            <a:blip r:embed="rId27" cstate="print"/>
            <a:stretch>
              <a:fillRect/>
            </a:stretch>
          </p:blipFill>
          <p:spPr>
            <a:xfrm>
              <a:off x="5571327" y="4313191"/>
              <a:ext cx="130397" cy="132646"/>
            </a:xfrm>
            <a:prstGeom prst="rect">
              <a:avLst/>
            </a:prstGeom>
          </p:spPr>
        </p:pic>
        <p:pic>
          <p:nvPicPr>
            <p:cNvPr id="83" name="object 83"/>
            <p:cNvPicPr/>
            <p:nvPr/>
          </p:nvPicPr>
          <p:blipFill>
            <a:blip r:embed="rId32" cstate="print"/>
            <a:stretch>
              <a:fillRect/>
            </a:stretch>
          </p:blipFill>
          <p:spPr>
            <a:xfrm>
              <a:off x="856210" y="5989319"/>
              <a:ext cx="1221970" cy="378229"/>
            </a:xfrm>
            <a:prstGeom prst="rect">
              <a:avLst/>
            </a:prstGeom>
          </p:spPr>
        </p:pic>
        <p:pic>
          <p:nvPicPr>
            <p:cNvPr id="84" name="object 84"/>
            <p:cNvPicPr/>
            <p:nvPr/>
          </p:nvPicPr>
          <p:blipFill>
            <a:blip r:embed="rId33" cstate="print"/>
            <a:stretch>
              <a:fillRect/>
            </a:stretch>
          </p:blipFill>
          <p:spPr>
            <a:xfrm>
              <a:off x="1142999" y="5968538"/>
              <a:ext cx="648392" cy="423949"/>
            </a:xfrm>
            <a:prstGeom prst="rect">
              <a:avLst/>
            </a:prstGeom>
          </p:spPr>
        </p:pic>
        <p:sp>
          <p:nvSpPr>
            <p:cNvPr id="85" name="object 85"/>
            <p:cNvSpPr/>
            <p:nvPr/>
          </p:nvSpPr>
          <p:spPr>
            <a:xfrm>
              <a:off x="883511" y="6040247"/>
              <a:ext cx="1118235" cy="276225"/>
            </a:xfrm>
            <a:custGeom>
              <a:avLst/>
              <a:gdLst/>
              <a:ahLst/>
              <a:cxnLst/>
              <a:rect l="l" t="t" r="r" b="b"/>
              <a:pathLst>
                <a:path w="1118235"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86" name="object 86"/>
          <p:cNvSpPr txBox="1"/>
          <p:nvPr/>
        </p:nvSpPr>
        <p:spPr>
          <a:xfrm>
            <a:off x="2715372" y="6028444"/>
            <a:ext cx="521334" cy="299720"/>
          </a:xfrm>
          <a:prstGeom prst="rect">
            <a:avLst/>
          </a:prstGeom>
        </p:spPr>
        <p:txBody>
          <a:bodyPr vert="horz" wrap="square" lIns="0" tIns="12700" rIns="0" bIns="0" rtlCol="0">
            <a:spAutoFit/>
          </a:bodyPr>
          <a:lstStyle/>
          <a:p>
            <a:pPr>
              <a:spcBef>
                <a:spcPts val="100"/>
              </a:spcBef>
            </a:pPr>
            <a:r>
              <a:rPr spc="-20" dirty="0">
                <a:latin typeface="Arial"/>
                <a:cs typeface="Arial"/>
              </a:rPr>
              <a:t>3744</a:t>
            </a:r>
            <a:endParaRPr>
              <a:latin typeface="Arial"/>
              <a:cs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40" y="1631697"/>
            <a:ext cx="4498975" cy="1186815"/>
          </a:xfrm>
          <a:prstGeom prst="rect">
            <a:avLst/>
          </a:prstGeom>
        </p:spPr>
        <p:txBody>
          <a:bodyPr vert="horz" wrap="square" lIns="0" tIns="166370" rIns="0" bIns="0" rtlCol="0">
            <a:spAutoFit/>
          </a:bodyPr>
          <a:lstStyle/>
          <a:p>
            <a:pPr marL="354965" indent="-342265">
              <a:spcBef>
                <a:spcPts val="1310"/>
              </a:spcBef>
              <a:buFont typeface="Arial"/>
              <a:buChar char="•"/>
              <a:tabLst>
                <a:tab pos="354965" algn="l"/>
                <a:tab pos="355600" algn="l"/>
              </a:tabLst>
            </a:pPr>
            <a:r>
              <a:rPr sz="2800" b="1" dirty="0">
                <a:latin typeface="Arial"/>
                <a:cs typeface="Arial"/>
              </a:rPr>
              <a:t>Is</a:t>
            </a:r>
            <a:r>
              <a:rPr sz="2800" b="1" spc="-20" dirty="0">
                <a:latin typeface="Arial"/>
                <a:cs typeface="Arial"/>
              </a:rPr>
              <a:t> </a:t>
            </a:r>
            <a:r>
              <a:rPr sz="2800" b="1" dirty="0">
                <a:latin typeface="Arial"/>
                <a:cs typeface="Arial"/>
              </a:rPr>
              <a:t>there</a:t>
            </a:r>
            <a:r>
              <a:rPr sz="2800" b="1" spc="-5" dirty="0">
                <a:latin typeface="Arial"/>
                <a:cs typeface="Arial"/>
              </a:rPr>
              <a:t> </a:t>
            </a:r>
            <a:r>
              <a:rPr sz="2800" b="1" dirty="0">
                <a:latin typeface="Arial"/>
                <a:cs typeface="Arial"/>
              </a:rPr>
              <a:t>a</a:t>
            </a:r>
            <a:r>
              <a:rPr sz="2800" b="1" spc="-10" dirty="0">
                <a:latin typeface="Arial"/>
                <a:cs typeface="Arial"/>
              </a:rPr>
              <a:t> </a:t>
            </a:r>
            <a:r>
              <a:rPr sz="2800" b="1" dirty="0">
                <a:latin typeface="Arial"/>
                <a:cs typeface="Arial"/>
              </a:rPr>
              <a:t>problem</a:t>
            </a:r>
            <a:r>
              <a:rPr sz="2800" b="1" spc="-5" dirty="0">
                <a:latin typeface="Arial"/>
                <a:cs typeface="Arial"/>
              </a:rPr>
              <a:t> </a:t>
            </a:r>
            <a:r>
              <a:rPr sz="2800" b="1" spc="-20" dirty="0">
                <a:latin typeface="Arial"/>
                <a:cs typeface="Arial"/>
              </a:rPr>
              <a:t>here?</a:t>
            </a:r>
            <a:endParaRPr sz="2800">
              <a:latin typeface="Arial"/>
              <a:cs typeface="Arial"/>
            </a:endParaRPr>
          </a:p>
          <a:p>
            <a:pPr marL="812165" lvl="1" indent="-342265">
              <a:spcBef>
                <a:spcPts val="1215"/>
              </a:spcBef>
              <a:buClr>
                <a:srgbClr val="D1282E"/>
              </a:buClr>
              <a:buChar char="•"/>
              <a:tabLst>
                <a:tab pos="812165" algn="l"/>
                <a:tab pos="812800" algn="l"/>
              </a:tabLst>
            </a:pPr>
            <a:r>
              <a:rPr sz="2800" spc="-10" dirty="0">
                <a:latin typeface="Arial"/>
                <a:cs typeface="Arial"/>
              </a:rPr>
              <a:t>insert(3744)</a:t>
            </a:r>
            <a:endParaRPr sz="2800">
              <a:latin typeface="Arial"/>
              <a:cs typeface="Arial"/>
            </a:endParaRPr>
          </a:p>
        </p:txBody>
      </p:sp>
      <p:sp>
        <p:nvSpPr>
          <p:cNvPr id="3" name="object 3"/>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spc="-10" dirty="0"/>
              <a:t>HASH</a:t>
            </a:r>
            <a:r>
              <a:rPr spc="-275" dirty="0"/>
              <a:t> </a:t>
            </a:r>
            <a:r>
              <a:rPr spc="-60" dirty="0"/>
              <a:t>EXAMPLE</a:t>
            </a:r>
          </a:p>
        </p:txBody>
      </p:sp>
      <p:grpSp>
        <p:nvGrpSpPr>
          <p:cNvPr id="4" name="object 4"/>
          <p:cNvGrpSpPr/>
          <p:nvPr/>
        </p:nvGrpSpPr>
        <p:grpSpPr>
          <a:xfrm>
            <a:off x="7197436" y="4168833"/>
            <a:ext cx="1222375" cy="424180"/>
            <a:chOff x="5673435" y="4168833"/>
            <a:chExt cx="1222375" cy="424180"/>
          </a:xfrm>
        </p:grpSpPr>
        <p:pic>
          <p:nvPicPr>
            <p:cNvPr id="5" name="object 5"/>
            <p:cNvPicPr/>
            <p:nvPr/>
          </p:nvPicPr>
          <p:blipFill>
            <a:blip r:embed="rId2" cstate="print"/>
            <a:stretch>
              <a:fillRect/>
            </a:stretch>
          </p:blipFill>
          <p:spPr>
            <a:xfrm>
              <a:off x="5673435" y="4189614"/>
              <a:ext cx="1221970" cy="378229"/>
            </a:xfrm>
            <a:prstGeom prst="rect">
              <a:avLst/>
            </a:prstGeom>
          </p:spPr>
        </p:pic>
        <p:pic>
          <p:nvPicPr>
            <p:cNvPr id="6" name="object 6"/>
            <p:cNvPicPr/>
            <p:nvPr/>
          </p:nvPicPr>
          <p:blipFill>
            <a:blip r:embed="rId3" cstate="print"/>
            <a:stretch>
              <a:fillRect/>
            </a:stretch>
          </p:blipFill>
          <p:spPr>
            <a:xfrm>
              <a:off x="5744094" y="4168833"/>
              <a:ext cx="906087" cy="423949"/>
            </a:xfrm>
            <a:prstGeom prst="rect">
              <a:avLst/>
            </a:prstGeom>
          </p:spPr>
        </p:pic>
        <p:sp>
          <p:nvSpPr>
            <p:cNvPr id="7" name="object 7"/>
            <p:cNvSpPr/>
            <p:nvPr/>
          </p:nvSpPr>
          <p:spPr>
            <a:xfrm>
              <a:off x="5701960" y="4241064"/>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8" name="object 8"/>
          <p:cNvSpPr txBox="1"/>
          <p:nvPr/>
        </p:nvSpPr>
        <p:spPr>
          <a:xfrm>
            <a:off x="7232311" y="4229262"/>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1:</a:t>
            </a:r>
            <a:r>
              <a:rPr spc="-5" dirty="0">
                <a:latin typeface="Arial"/>
                <a:cs typeface="Arial"/>
              </a:rPr>
              <a:t> </a:t>
            </a:r>
            <a:r>
              <a:rPr b="1" spc="-20" dirty="0">
                <a:latin typeface="Arial"/>
                <a:cs typeface="Arial"/>
              </a:rPr>
              <a:t>1001</a:t>
            </a:r>
            <a:endParaRPr>
              <a:latin typeface="Arial"/>
              <a:cs typeface="Arial"/>
            </a:endParaRPr>
          </a:p>
        </p:txBody>
      </p:sp>
      <p:grpSp>
        <p:nvGrpSpPr>
          <p:cNvPr id="9" name="object 9"/>
          <p:cNvGrpSpPr/>
          <p:nvPr/>
        </p:nvGrpSpPr>
        <p:grpSpPr>
          <a:xfrm>
            <a:off x="2380211" y="3877888"/>
            <a:ext cx="6039485" cy="2914015"/>
            <a:chOff x="856210" y="3877887"/>
            <a:chExt cx="6039485" cy="2914015"/>
          </a:xfrm>
        </p:grpSpPr>
        <p:pic>
          <p:nvPicPr>
            <p:cNvPr id="10" name="object 10"/>
            <p:cNvPicPr/>
            <p:nvPr/>
          </p:nvPicPr>
          <p:blipFill>
            <a:blip r:embed="rId4" cstate="print"/>
            <a:stretch>
              <a:fillRect/>
            </a:stretch>
          </p:blipFill>
          <p:spPr>
            <a:xfrm>
              <a:off x="5673435" y="3898668"/>
              <a:ext cx="1221970" cy="378229"/>
            </a:xfrm>
            <a:prstGeom prst="rect">
              <a:avLst/>
            </a:prstGeom>
          </p:spPr>
        </p:pic>
        <p:pic>
          <p:nvPicPr>
            <p:cNvPr id="11" name="object 11"/>
            <p:cNvPicPr/>
            <p:nvPr/>
          </p:nvPicPr>
          <p:blipFill>
            <a:blip r:embed="rId5" cstate="print"/>
            <a:stretch>
              <a:fillRect/>
            </a:stretch>
          </p:blipFill>
          <p:spPr>
            <a:xfrm>
              <a:off x="5744094" y="3877887"/>
              <a:ext cx="270163" cy="423949"/>
            </a:xfrm>
            <a:prstGeom prst="rect">
              <a:avLst/>
            </a:prstGeom>
          </p:spPr>
        </p:pic>
        <p:sp>
          <p:nvSpPr>
            <p:cNvPr id="12" name="object 12"/>
            <p:cNvSpPr/>
            <p:nvPr/>
          </p:nvSpPr>
          <p:spPr>
            <a:xfrm>
              <a:off x="5701960" y="3949531"/>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13" name="object 13"/>
            <p:cNvPicPr/>
            <p:nvPr/>
          </p:nvPicPr>
          <p:blipFill>
            <a:blip r:embed="rId6" cstate="print"/>
            <a:stretch>
              <a:fillRect/>
            </a:stretch>
          </p:blipFill>
          <p:spPr>
            <a:xfrm>
              <a:off x="856210" y="3898669"/>
              <a:ext cx="1221970" cy="2892828"/>
            </a:xfrm>
            <a:prstGeom prst="rect">
              <a:avLst/>
            </a:prstGeom>
          </p:spPr>
        </p:pic>
        <p:sp>
          <p:nvSpPr>
            <p:cNvPr id="14" name="object 14"/>
            <p:cNvSpPr/>
            <p:nvPr/>
          </p:nvSpPr>
          <p:spPr>
            <a:xfrm>
              <a:off x="883511" y="3949531"/>
              <a:ext cx="1118235" cy="2791460"/>
            </a:xfrm>
            <a:custGeom>
              <a:avLst/>
              <a:gdLst/>
              <a:ahLst/>
              <a:cxnLst/>
              <a:rect l="l" t="t" r="r" b="b"/>
              <a:pathLst>
                <a:path w="1118235" h="2791459">
                  <a:moveTo>
                    <a:pt x="0" y="0"/>
                  </a:moveTo>
                  <a:lnTo>
                    <a:pt x="1118193" y="0"/>
                  </a:lnTo>
                  <a:lnTo>
                    <a:pt x="1118193" y="2790885"/>
                  </a:lnTo>
                  <a:lnTo>
                    <a:pt x="0" y="2790885"/>
                  </a:lnTo>
                  <a:lnTo>
                    <a:pt x="0" y="0"/>
                  </a:lnTo>
                  <a:close/>
                </a:path>
              </a:pathLst>
            </a:custGeom>
            <a:ln w="12699">
              <a:solidFill>
                <a:srgbClr val="000000"/>
              </a:solidFill>
            </a:ln>
          </p:spPr>
          <p:txBody>
            <a:bodyPr wrap="square" lIns="0" tIns="0" rIns="0" bIns="0" rtlCol="0"/>
            <a:lstStyle/>
            <a:p>
              <a:endParaRPr/>
            </a:p>
          </p:txBody>
        </p:sp>
      </p:grpSp>
      <p:sp>
        <p:nvSpPr>
          <p:cNvPr id="15" name="object 15"/>
          <p:cNvSpPr txBox="1"/>
          <p:nvPr/>
        </p:nvSpPr>
        <p:spPr>
          <a:xfrm>
            <a:off x="7232311" y="3937729"/>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0</a:t>
            </a:r>
            <a:endParaRPr>
              <a:latin typeface="Arial"/>
              <a:cs typeface="Arial"/>
            </a:endParaRPr>
          </a:p>
        </p:txBody>
      </p:sp>
      <p:grpSp>
        <p:nvGrpSpPr>
          <p:cNvPr id="16" name="object 16"/>
          <p:cNvGrpSpPr/>
          <p:nvPr/>
        </p:nvGrpSpPr>
        <p:grpSpPr>
          <a:xfrm>
            <a:off x="7197436" y="4447308"/>
            <a:ext cx="1222375" cy="420370"/>
            <a:chOff x="5673435" y="4447308"/>
            <a:chExt cx="1222375" cy="420370"/>
          </a:xfrm>
        </p:grpSpPr>
        <p:pic>
          <p:nvPicPr>
            <p:cNvPr id="17" name="object 17"/>
            <p:cNvPicPr/>
            <p:nvPr/>
          </p:nvPicPr>
          <p:blipFill>
            <a:blip r:embed="rId7" cstate="print"/>
            <a:stretch>
              <a:fillRect/>
            </a:stretch>
          </p:blipFill>
          <p:spPr>
            <a:xfrm>
              <a:off x="5673435" y="4463934"/>
              <a:ext cx="1221970" cy="382385"/>
            </a:xfrm>
            <a:prstGeom prst="rect">
              <a:avLst/>
            </a:prstGeom>
          </p:spPr>
        </p:pic>
        <p:pic>
          <p:nvPicPr>
            <p:cNvPr id="18" name="object 18"/>
            <p:cNvPicPr/>
            <p:nvPr/>
          </p:nvPicPr>
          <p:blipFill>
            <a:blip r:embed="rId8" cstate="print"/>
            <a:stretch>
              <a:fillRect/>
            </a:stretch>
          </p:blipFill>
          <p:spPr>
            <a:xfrm>
              <a:off x="5744094" y="4447308"/>
              <a:ext cx="270163" cy="419792"/>
            </a:xfrm>
            <a:prstGeom prst="rect">
              <a:avLst/>
            </a:prstGeom>
          </p:spPr>
        </p:pic>
      </p:grpSp>
      <p:sp>
        <p:nvSpPr>
          <p:cNvPr id="19" name="object 19"/>
          <p:cNvSpPr txBox="1"/>
          <p:nvPr/>
        </p:nvSpPr>
        <p:spPr>
          <a:xfrm>
            <a:off x="7225961" y="4517448"/>
            <a:ext cx="1118235" cy="284480"/>
          </a:xfrm>
          <a:prstGeom prst="rect">
            <a:avLst/>
          </a:prstGeom>
          <a:ln w="12699">
            <a:solidFill>
              <a:srgbClr val="000000"/>
            </a:solidFill>
          </a:ln>
        </p:spPr>
        <p:txBody>
          <a:bodyPr vert="horz" wrap="square" lIns="0" tIns="1270" rIns="0" bIns="0" rtlCol="0">
            <a:spAutoFit/>
          </a:bodyPr>
          <a:lstStyle/>
          <a:p>
            <a:pPr marL="90805">
              <a:spcBef>
                <a:spcPts val="10"/>
              </a:spcBef>
            </a:pPr>
            <a:r>
              <a:rPr dirty="0">
                <a:latin typeface="Arial"/>
                <a:cs typeface="Arial"/>
              </a:rPr>
              <a:t>2</a:t>
            </a:r>
            <a:endParaRPr>
              <a:latin typeface="Arial"/>
              <a:cs typeface="Arial"/>
            </a:endParaRPr>
          </a:p>
        </p:txBody>
      </p:sp>
      <p:grpSp>
        <p:nvGrpSpPr>
          <p:cNvPr id="20" name="object 20"/>
          <p:cNvGrpSpPr/>
          <p:nvPr/>
        </p:nvGrpSpPr>
        <p:grpSpPr>
          <a:xfrm>
            <a:off x="7197436" y="4721628"/>
            <a:ext cx="1222375" cy="424180"/>
            <a:chOff x="5673435" y="4721628"/>
            <a:chExt cx="1222375" cy="424180"/>
          </a:xfrm>
        </p:grpSpPr>
        <p:pic>
          <p:nvPicPr>
            <p:cNvPr id="21" name="object 21"/>
            <p:cNvPicPr/>
            <p:nvPr/>
          </p:nvPicPr>
          <p:blipFill>
            <a:blip r:embed="rId9" cstate="print"/>
            <a:stretch>
              <a:fillRect/>
            </a:stretch>
          </p:blipFill>
          <p:spPr>
            <a:xfrm>
              <a:off x="5673435" y="4742410"/>
              <a:ext cx="1221970" cy="378229"/>
            </a:xfrm>
            <a:prstGeom prst="rect">
              <a:avLst/>
            </a:prstGeom>
          </p:spPr>
        </p:pic>
        <p:pic>
          <p:nvPicPr>
            <p:cNvPr id="22" name="object 22"/>
            <p:cNvPicPr/>
            <p:nvPr/>
          </p:nvPicPr>
          <p:blipFill>
            <a:blip r:embed="rId10" cstate="print"/>
            <a:stretch>
              <a:fillRect/>
            </a:stretch>
          </p:blipFill>
          <p:spPr>
            <a:xfrm>
              <a:off x="5744094" y="4721628"/>
              <a:ext cx="270163" cy="423949"/>
            </a:xfrm>
            <a:prstGeom prst="rect">
              <a:avLst/>
            </a:prstGeom>
          </p:spPr>
        </p:pic>
      </p:grpSp>
      <p:sp>
        <p:nvSpPr>
          <p:cNvPr id="23" name="object 23"/>
          <p:cNvSpPr txBox="1"/>
          <p:nvPr/>
        </p:nvSpPr>
        <p:spPr>
          <a:xfrm>
            <a:off x="7225961" y="4801818"/>
            <a:ext cx="1118235" cy="269304"/>
          </a:xfrm>
          <a:prstGeom prst="rect">
            <a:avLst/>
          </a:prstGeom>
          <a:ln w="12699">
            <a:solidFill>
              <a:srgbClr val="000000"/>
            </a:solidFill>
          </a:ln>
        </p:spPr>
        <p:txBody>
          <a:bodyPr vert="horz" wrap="square" lIns="0" tIns="0" rIns="0" bIns="0" rtlCol="0">
            <a:spAutoFit/>
          </a:bodyPr>
          <a:lstStyle/>
          <a:p>
            <a:pPr marL="90805">
              <a:lnSpc>
                <a:spcPts val="2105"/>
              </a:lnSpc>
            </a:pPr>
            <a:r>
              <a:rPr dirty="0">
                <a:latin typeface="Arial"/>
                <a:cs typeface="Arial"/>
              </a:rPr>
              <a:t>3</a:t>
            </a:r>
            <a:endParaRPr>
              <a:latin typeface="Arial"/>
              <a:cs typeface="Arial"/>
            </a:endParaRPr>
          </a:p>
        </p:txBody>
      </p:sp>
      <p:grpSp>
        <p:nvGrpSpPr>
          <p:cNvPr id="24" name="object 24"/>
          <p:cNvGrpSpPr/>
          <p:nvPr/>
        </p:nvGrpSpPr>
        <p:grpSpPr>
          <a:xfrm>
            <a:off x="7197436" y="5000104"/>
            <a:ext cx="1222375" cy="420370"/>
            <a:chOff x="5673435" y="5000104"/>
            <a:chExt cx="1222375" cy="420370"/>
          </a:xfrm>
        </p:grpSpPr>
        <p:pic>
          <p:nvPicPr>
            <p:cNvPr id="25" name="object 25"/>
            <p:cNvPicPr/>
            <p:nvPr/>
          </p:nvPicPr>
          <p:blipFill>
            <a:blip r:embed="rId11" cstate="print"/>
            <a:stretch>
              <a:fillRect/>
            </a:stretch>
          </p:blipFill>
          <p:spPr>
            <a:xfrm>
              <a:off x="5673435" y="5016731"/>
              <a:ext cx="1221970" cy="382385"/>
            </a:xfrm>
            <a:prstGeom prst="rect">
              <a:avLst/>
            </a:prstGeom>
          </p:spPr>
        </p:pic>
        <p:pic>
          <p:nvPicPr>
            <p:cNvPr id="26" name="object 26"/>
            <p:cNvPicPr/>
            <p:nvPr/>
          </p:nvPicPr>
          <p:blipFill>
            <a:blip r:embed="rId12" cstate="print"/>
            <a:stretch>
              <a:fillRect/>
            </a:stretch>
          </p:blipFill>
          <p:spPr>
            <a:xfrm>
              <a:off x="5744094" y="5000104"/>
              <a:ext cx="777239" cy="419792"/>
            </a:xfrm>
            <a:prstGeom prst="rect">
              <a:avLst/>
            </a:prstGeom>
          </p:spPr>
        </p:pic>
        <p:sp>
          <p:nvSpPr>
            <p:cNvPr id="27" name="object 27"/>
            <p:cNvSpPr/>
            <p:nvPr/>
          </p:nvSpPr>
          <p:spPr>
            <a:xfrm>
              <a:off x="5701960" y="5070486"/>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28" name="object 28"/>
          <p:cNvSpPr txBox="1"/>
          <p:nvPr/>
        </p:nvSpPr>
        <p:spPr>
          <a:xfrm>
            <a:off x="7232311" y="5058683"/>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4:</a:t>
            </a:r>
            <a:r>
              <a:rPr spc="-5" dirty="0">
                <a:latin typeface="Arial"/>
                <a:cs typeface="Arial"/>
              </a:rPr>
              <a:t> </a:t>
            </a:r>
            <a:r>
              <a:rPr b="1" spc="-25" dirty="0">
                <a:latin typeface="Arial"/>
                <a:cs typeface="Arial"/>
              </a:rPr>
              <a:t>214</a:t>
            </a:r>
            <a:endParaRPr>
              <a:latin typeface="Arial"/>
              <a:cs typeface="Arial"/>
            </a:endParaRPr>
          </a:p>
        </p:txBody>
      </p:sp>
      <p:grpSp>
        <p:nvGrpSpPr>
          <p:cNvPr id="29" name="object 29"/>
          <p:cNvGrpSpPr/>
          <p:nvPr/>
        </p:nvGrpSpPr>
        <p:grpSpPr>
          <a:xfrm>
            <a:off x="7197436" y="5278581"/>
            <a:ext cx="1222375" cy="424180"/>
            <a:chOff x="5673435" y="5278581"/>
            <a:chExt cx="1222375" cy="424180"/>
          </a:xfrm>
        </p:grpSpPr>
        <p:pic>
          <p:nvPicPr>
            <p:cNvPr id="30" name="object 30"/>
            <p:cNvPicPr/>
            <p:nvPr/>
          </p:nvPicPr>
          <p:blipFill>
            <a:blip r:embed="rId13" cstate="print"/>
            <a:stretch>
              <a:fillRect/>
            </a:stretch>
          </p:blipFill>
          <p:spPr>
            <a:xfrm>
              <a:off x="5673435" y="5299363"/>
              <a:ext cx="1221970" cy="378229"/>
            </a:xfrm>
            <a:prstGeom prst="rect">
              <a:avLst/>
            </a:prstGeom>
          </p:spPr>
        </p:pic>
        <p:pic>
          <p:nvPicPr>
            <p:cNvPr id="31" name="object 31"/>
            <p:cNvPicPr/>
            <p:nvPr/>
          </p:nvPicPr>
          <p:blipFill>
            <a:blip r:embed="rId14" cstate="print"/>
            <a:stretch>
              <a:fillRect/>
            </a:stretch>
          </p:blipFill>
          <p:spPr>
            <a:xfrm>
              <a:off x="5744094" y="5278581"/>
              <a:ext cx="270163" cy="423949"/>
            </a:xfrm>
            <a:prstGeom prst="rect">
              <a:avLst/>
            </a:prstGeom>
          </p:spPr>
        </p:pic>
        <p:sp>
          <p:nvSpPr>
            <p:cNvPr id="32" name="object 32"/>
            <p:cNvSpPr/>
            <p:nvPr/>
          </p:nvSpPr>
          <p:spPr>
            <a:xfrm>
              <a:off x="5701960" y="5349421"/>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33" name="object 33"/>
          <p:cNvSpPr txBox="1"/>
          <p:nvPr/>
        </p:nvSpPr>
        <p:spPr>
          <a:xfrm>
            <a:off x="7232311" y="5337618"/>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5</a:t>
            </a:r>
            <a:endParaRPr>
              <a:latin typeface="Arial"/>
              <a:cs typeface="Arial"/>
            </a:endParaRPr>
          </a:p>
        </p:txBody>
      </p:sp>
      <p:grpSp>
        <p:nvGrpSpPr>
          <p:cNvPr id="34" name="object 34"/>
          <p:cNvGrpSpPr/>
          <p:nvPr/>
        </p:nvGrpSpPr>
        <p:grpSpPr>
          <a:xfrm>
            <a:off x="7197436" y="5557058"/>
            <a:ext cx="1222375" cy="420370"/>
            <a:chOff x="5673435" y="5557058"/>
            <a:chExt cx="1222375" cy="420370"/>
          </a:xfrm>
        </p:grpSpPr>
        <p:pic>
          <p:nvPicPr>
            <p:cNvPr id="35" name="object 35"/>
            <p:cNvPicPr/>
            <p:nvPr/>
          </p:nvPicPr>
          <p:blipFill>
            <a:blip r:embed="rId15" cstate="print"/>
            <a:stretch>
              <a:fillRect/>
            </a:stretch>
          </p:blipFill>
          <p:spPr>
            <a:xfrm>
              <a:off x="5673435" y="5573683"/>
              <a:ext cx="1221970" cy="382385"/>
            </a:xfrm>
            <a:prstGeom prst="rect">
              <a:avLst/>
            </a:prstGeom>
          </p:spPr>
        </p:pic>
        <p:pic>
          <p:nvPicPr>
            <p:cNvPr id="36" name="object 36"/>
            <p:cNvPicPr/>
            <p:nvPr/>
          </p:nvPicPr>
          <p:blipFill>
            <a:blip r:embed="rId16" cstate="print"/>
            <a:stretch>
              <a:fillRect/>
            </a:stretch>
          </p:blipFill>
          <p:spPr>
            <a:xfrm>
              <a:off x="5744094" y="5557058"/>
              <a:ext cx="270163" cy="419792"/>
            </a:xfrm>
            <a:prstGeom prst="rect">
              <a:avLst/>
            </a:prstGeom>
          </p:spPr>
        </p:pic>
      </p:grpSp>
      <p:sp>
        <p:nvSpPr>
          <p:cNvPr id="37" name="object 37"/>
          <p:cNvSpPr txBox="1"/>
          <p:nvPr/>
        </p:nvSpPr>
        <p:spPr>
          <a:xfrm>
            <a:off x="7225961" y="5625804"/>
            <a:ext cx="1118235" cy="276860"/>
          </a:xfrm>
          <a:prstGeom prst="rect">
            <a:avLst/>
          </a:prstGeom>
          <a:ln w="12699">
            <a:solidFill>
              <a:srgbClr val="000000"/>
            </a:solidFill>
          </a:ln>
        </p:spPr>
        <p:txBody>
          <a:bodyPr vert="horz" wrap="square" lIns="0" tIns="1270" rIns="0" bIns="0" rtlCol="0">
            <a:spAutoFit/>
          </a:bodyPr>
          <a:lstStyle/>
          <a:p>
            <a:pPr marL="90805">
              <a:spcBef>
                <a:spcPts val="10"/>
              </a:spcBef>
            </a:pPr>
            <a:r>
              <a:rPr dirty="0">
                <a:latin typeface="Arial"/>
                <a:cs typeface="Arial"/>
              </a:rPr>
              <a:t>6</a:t>
            </a:r>
            <a:endParaRPr>
              <a:latin typeface="Arial"/>
              <a:cs typeface="Arial"/>
            </a:endParaRPr>
          </a:p>
        </p:txBody>
      </p:sp>
      <p:grpSp>
        <p:nvGrpSpPr>
          <p:cNvPr id="38" name="object 38"/>
          <p:cNvGrpSpPr/>
          <p:nvPr/>
        </p:nvGrpSpPr>
        <p:grpSpPr>
          <a:xfrm>
            <a:off x="7197436" y="5831377"/>
            <a:ext cx="1222375" cy="424180"/>
            <a:chOff x="5673435" y="5831377"/>
            <a:chExt cx="1222375" cy="424180"/>
          </a:xfrm>
        </p:grpSpPr>
        <p:pic>
          <p:nvPicPr>
            <p:cNvPr id="39" name="object 39"/>
            <p:cNvPicPr/>
            <p:nvPr/>
          </p:nvPicPr>
          <p:blipFill>
            <a:blip r:embed="rId17" cstate="print"/>
            <a:stretch>
              <a:fillRect/>
            </a:stretch>
          </p:blipFill>
          <p:spPr>
            <a:xfrm>
              <a:off x="5673435" y="5852159"/>
              <a:ext cx="1221970" cy="378229"/>
            </a:xfrm>
            <a:prstGeom prst="rect">
              <a:avLst/>
            </a:prstGeom>
          </p:spPr>
        </p:pic>
        <p:pic>
          <p:nvPicPr>
            <p:cNvPr id="40" name="object 40"/>
            <p:cNvPicPr/>
            <p:nvPr/>
          </p:nvPicPr>
          <p:blipFill>
            <a:blip r:embed="rId18" cstate="print"/>
            <a:stretch>
              <a:fillRect/>
            </a:stretch>
          </p:blipFill>
          <p:spPr>
            <a:xfrm>
              <a:off x="5744094" y="5831377"/>
              <a:ext cx="270163" cy="423949"/>
            </a:xfrm>
            <a:prstGeom prst="rect">
              <a:avLst/>
            </a:prstGeom>
          </p:spPr>
        </p:pic>
      </p:grpSp>
      <p:sp>
        <p:nvSpPr>
          <p:cNvPr id="41" name="object 41"/>
          <p:cNvSpPr txBox="1"/>
          <p:nvPr/>
        </p:nvSpPr>
        <p:spPr>
          <a:xfrm>
            <a:off x="7225961" y="5902188"/>
            <a:ext cx="1118235" cy="276860"/>
          </a:xfrm>
          <a:prstGeom prst="rect">
            <a:avLst/>
          </a:prstGeom>
          <a:ln w="12699">
            <a:solidFill>
              <a:srgbClr val="000000"/>
            </a:solidFill>
          </a:ln>
        </p:spPr>
        <p:txBody>
          <a:bodyPr vert="horz" wrap="square" lIns="0" tIns="635" rIns="0" bIns="0" rtlCol="0">
            <a:spAutoFit/>
          </a:bodyPr>
          <a:lstStyle/>
          <a:p>
            <a:pPr marL="90805">
              <a:spcBef>
                <a:spcPts val="5"/>
              </a:spcBef>
            </a:pPr>
            <a:r>
              <a:rPr dirty="0">
                <a:latin typeface="Arial"/>
                <a:cs typeface="Arial"/>
              </a:rPr>
              <a:t>7</a:t>
            </a:r>
            <a:endParaRPr>
              <a:latin typeface="Arial"/>
              <a:cs typeface="Arial"/>
            </a:endParaRPr>
          </a:p>
        </p:txBody>
      </p:sp>
      <p:grpSp>
        <p:nvGrpSpPr>
          <p:cNvPr id="42" name="object 42"/>
          <p:cNvGrpSpPr/>
          <p:nvPr/>
        </p:nvGrpSpPr>
        <p:grpSpPr>
          <a:xfrm>
            <a:off x="7197436" y="6109854"/>
            <a:ext cx="1222375" cy="420370"/>
            <a:chOff x="5673435" y="6109854"/>
            <a:chExt cx="1222375" cy="420370"/>
          </a:xfrm>
        </p:grpSpPr>
        <p:pic>
          <p:nvPicPr>
            <p:cNvPr id="43" name="object 43"/>
            <p:cNvPicPr/>
            <p:nvPr/>
          </p:nvPicPr>
          <p:blipFill>
            <a:blip r:embed="rId19" cstate="print"/>
            <a:stretch>
              <a:fillRect/>
            </a:stretch>
          </p:blipFill>
          <p:spPr>
            <a:xfrm>
              <a:off x="5673435" y="6126480"/>
              <a:ext cx="1221970" cy="382385"/>
            </a:xfrm>
            <a:prstGeom prst="rect">
              <a:avLst/>
            </a:prstGeom>
          </p:spPr>
        </p:pic>
        <p:pic>
          <p:nvPicPr>
            <p:cNvPr id="44" name="object 44"/>
            <p:cNvPicPr/>
            <p:nvPr/>
          </p:nvPicPr>
          <p:blipFill>
            <a:blip r:embed="rId20" cstate="print"/>
            <a:stretch>
              <a:fillRect/>
            </a:stretch>
          </p:blipFill>
          <p:spPr>
            <a:xfrm>
              <a:off x="5744094" y="6109854"/>
              <a:ext cx="270163" cy="419792"/>
            </a:xfrm>
            <a:prstGeom prst="rect">
              <a:avLst/>
            </a:prstGeom>
          </p:spPr>
        </p:pic>
        <p:sp>
          <p:nvSpPr>
            <p:cNvPr id="45" name="object 45"/>
            <p:cNvSpPr/>
            <p:nvPr/>
          </p:nvSpPr>
          <p:spPr>
            <a:xfrm>
              <a:off x="5701960" y="6178842"/>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46" name="object 46"/>
          <p:cNvSpPr txBox="1"/>
          <p:nvPr/>
        </p:nvSpPr>
        <p:spPr>
          <a:xfrm>
            <a:off x="7232311" y="6167039"/>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8</a:t>
            </a:r>
            <a:endParaRPr>
              <a:latin typeface="Arial"/>
              <a:cs typeface="Arial"/>
            </a:endParaRPr>
          </a:p>
        </p:txBody>
      </p:sp>
      <p:grpSp>
        <p:nvGrpSpPr>
          <p:cNvPr id="47" name="object 47"/>
          <p:cNvGrpSpPr/>
          <p:nvPr/>
        </p:nvGrpSpPr>
        <p:grpSpPr>
          <a:xfrm>
            <a:off x="7197436" y="6400800"/>
            <a:ext cx="1222375" cy="420370"/>
            <a:chOff x="5673435" y="6400800"/>
            <a:chExt cx="1222375" cy="420370"/>
          </a:xfrm>
        </p:grpSpPr>
        <p:pic>
          <p:nvPicPr>
            <p:cNvPr id="48" name="object 48"/>
            <p:cNvPicPr/>
            <p:nvPr/>
          </p:nvPicPr>
          <p:blipFill>
            <a:blip r:embed="rId21" cstate="print"/>
            <a:stretch>
              <a:fillRect/>
            </a:stretch>
          </p:blipFill>
          <p:spPr>
            <a:xfrm>
              <a:off x="5673435" y="6417425"/>
              <a:ext cx="1221970" cy="382385"/>
            </a:xfrm>
            <a:prstGeom prst="rect">
              <a:avLst/>
            </a:prstGeom>
          </p:spPr>
        </p:pic>
        <p:pic>
          <p:nvPicPr>
            <p:cNvPr id="49" name="object 49"/>
            <p:cNvPicPr/>
            <p:nvPr/>
          </p:nvPicPr>
          <p:blipFill>
            <a:blip r:embed="rId22" cstate="print"/>
            <a:stretch>
              <a:fillRect/>
            </a:stretch>
          </p:blipFill>
          <p:spPr>
            <a:xfrm>
              <a:off x="5744094" y="6400800"/>
              <a:ext cx="777239" cy="419792"/>
            </a:xfrm>
            <a:prstGeom prst="rect">
              <a:avLst/>
            </a:prstGeom>
          </p:spPr>
        </p:pic>
        <p:sp>
          <p:nvSpPr>
            <p:cNvPr id="50" name="object 50"/>
            <p:cNvSpPr/>
            <p:nvPr/>
          </p:nvSpPr>
          <p:spPr>
            <a:xfrm>
              <a:off x="5701960" y="6470375"/>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51" name="object 51"/>
          <p:cNvSpPr txBox="1"/>
          <p:nvPr/>
        </p:nvSpPr>
        <p:spPr>
          <a:xfrm>
            <a:off x="7232311" y="6458573"/>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9:</a:t>
            </a:r>
            <a:r>
              <a:rPr spc="-5" dirty="0">
                <a:latin typeface="Arial"/>
                <a:cs typeface="Arial"/>
              </a:rPr>
              <a:t> </a:t>
            </a:r>
            <a:r>
              <a:rPr b="1" spc="-25" dirty="0">
                <a:latin typeface="Arial"/>
                <a:cs typeface="Arial"/>
              </a:rPr>
              <a:t>519</a:t>
            </a:r>
            <a:endParaRPr>
              <a:latin typeface="Arial"/>
              <a:cs typeface="Arial"/>
            </a:endParaRPr>
          </a:p>
        </p:txBody>
      </p:sp>
      <p:grpSp>
        <p:nvGrpSpPr>
          <p:cNvPr id="52" name="object 52"/>
          <p:cNvGrpSpPr/>
          <p:nvPr/>
        </p:nvGrpSpPr>
        <p:grpSpPr>
          <a:xfrm>
            <a:off x="4520738" y="4667596"/>
            <a:ext cx="1222375" cy="902335"/>
            <a:chOff x="2996737" y="4667595"/>
            <a:chExt cx="1222375" cy="902335"/>
          </a:xfrm>
        </p:grpSpPr>
        <p:pic>
          <p:nvPicPr>
            <p:cNvPr id="53" name="object 53"/>
            <p:cNvPicPr/>
            <p:nvPr/>
          </p:nvPicPr>
          <p:blipFill>
            <a:blip r:embed="rId23" cstate="print"/>
            <a:stretch>
              <a:fillRect/>
            </a:stretch>
          </p:blipFill>
          <p:spPr>
            <a:xfrm>
              <a:off x="2996737" y="4667595"/>
              <a:ext cx="1221970" cy="901930"/>
            </a:xfrm>
            <a:prstGeom prst="rect">
              <a:avLst/>
            </a:prstGeom>
          </p:spPr>
        </p:pic>
        <p:pic>
          <p:nvPicPr>
            <p:cNvPr id="54" name="object 54"/>
            <p:cNvPicPr/>
            <p:nvPr/>
          </p:nvPicPr>
          <p:blipFill>
            <a:blip r:embed="rId24" cstate="print"/>
            <a:stretch>
              <a:fillRect/>
            </a:stretch>
          </p:blipFill>
          <p:spPr>
            <a:xfrm>
              <a:off x="3117272" y="4771504"/>
              <a:ext cx="1005839" cy="689956"/>
            </a:xfrm>
            <a:prstGeom prst="rect">
              <a:avLst/>
            </a:prstGeom>
          </p:spPr>
        </p:pic>
      </p:grpSp>
      <p:sp>
        <p:nvSpPr>
          <p:cNvPr id="55" name="object 55"/>
          <p:cNvSpPr txBox="1"/>
          <p:nvPr/>
        </p:nvSpPr>
        <p:spPr>
          <a:xfrm>
            <a:off x="4547813" y="4721371"/>
            <a:ext cx="1118235" cy="677750"/>
          </a:xfrm>
          <a:prstGeom prst="rect">
            <a:avLst/>
          </a:prstGeom>
          <a:ln w="12699">
            <a:solidFill>
              <a:srgbClr val="000000"/>
            </a:solidFill>
          </a:ln>
        </p:spPr>
        <p:txBody>
          <a:bodyPr vert="horz" wrap="square" lIns="0" tIns="137795" rIns="0" bIns="0" rtlCol="0">
            <a:spAutoFit/>
          </a:bodyPr>
          <a:lstStyle/>
          <a:p>
            <a:pPr marL="154940" marR="141605" indent="111125">
              <a:lnSpc>
                <a:spcPts val="2100"/>
              </a:lnSpc>
              <a:spcBef>
                <a:spcPts val="1085"/>
              </a:spcBef>
            </a:pPr>
            <a:r>
              <a:rPr i="1" dirty="0">
                <a:latin typeface="Arial"/>
                <a:cs typeface="Arial"/>
              </a:rPr>
              <a:t>h(x)</a:t>
            </a:r>
            <a:r>
              <a:rPr i="1" spc="-5" dirty="0">
                <a:latin typeface="Arial"/>
                <a:cs typeface="Arial"/>
              </a:rPr>
              <a:t> </a:t>
            </a:r>
            <a:r>
              <a:rPr i="1" spc="-50" dirty="0">
                <a:latin typeface="Arial"/>
                <a:cs typeface="Arial"/>
              </a:rPr>
              <a:t>= </a:t>
            </a:r>
            <a:r>
              <a:rPr i="1" spc="-10" dirty="0">
                <a:latin typeface="Arial"/>
                <a:cs typeface="Arial"/>
              </a:rPr>
              <a:t>key%10</a:t>
            </a:r>
            <a:endParaRPr>
              <a:latin typeface="Arial"/>
              <a:cs typeface="Arial"/>
            </a:endParaRPr>
          </a:p>
        </p:txBody>
      </p:sp>
      <p:grpSp>
        <p:nvGrpSpPr>
          <p:cNvPr id="56" name="object 56"/>
          <p:cNvGrpSpPr/>
          <p:nvPr/>
        </p:nvGrpSpPr>
        <p:grpSpPr>
          <a:xfrm>
            <a:off x="2380211" y="4738254"/>
            <a:ext cx="1222375" cy="424180"/>
            <a:chOff x="856210" y="4738254"/>
            <a:chExt cx="1222375" cy="424180"/>
          </a:xfrm>
        </p:grpSpPr>
        <p:pic>
          <p:nvPicPr>
            <p:cNvPr id="57" name="object 57"/>
            <p:cNvPicPr/>
            <p:nvPr/>
          </p:nvPicPr>
          <p:blipFill>
            <a:blip r:embed="rId25" cstate="print"/>
            <a:stretch>
              <a:fillRect/>
            </a:stretch>
          </p:blipFill>
          <p:spPr>
            <a:xfrm>
              <a:off x="856210" y="4759036"/>
              <a:ext cx="1221970" cy="378229"/>
            </a:xfrm>
            <a:prstGeom prst="rect">
              <a:avLst/>
            </a:prstGeom>
          </p:spPr>
        </p:pic>
        <p:pic>
          <p:nvPicPr>
            <p:cNvPr id="58" name="object 58"/>
            <p:cNvPicPr/>
            <p:nvPr/>
          </p:nvPicPr>
          <p:blipFill>
            <a:blip r:embed="rId26" cstate="print"/>
            <a:stretch>
              <a:fillRect/>
            </a:stretch>
          </p:blipFill>
          <p:spPr>
            <a:xfrm>
              <a:off x="1205345" y="4738254"/>
              <a:ext cx="523701" cy="423949"/>
            </a:xfrm>
            <a:prstGeom prst="rect">
              <a:avLst/>
            </a:prstGeom>
          </p:spPr>
        </p:pic>
      </p:grpSp>
      <p:sp>
        <p:nvSpPr>
          <p:cNvPr id="59" name="object 59"/>
          <p:cNvSpPr txBox="1"/>
          <p:nvPr/>
        </p:nvSpPr>
        <p:spPr>
          <a:xfrm>
            <a:off x="2407512" y="4801818"/>
            <a:ext cx="1118235" cy="276860"/>
          </a:xfrm>
          <a:prstGeom prst="rect">
            <a:avLst/>
          </a:prstGeom>
          <a:ln w="12699">
            <a:solidFill>
              <a:srgbClr val="000000"/>
            </a:solidFill>
          </a:ln>
        </p:spPr>
        <p:txBody>
          <a:bodyPr vert="horz" wrap="square" lIns="0" tIns="8890" rIns="0" bIns="0" rtlCol="0">
            <a:spAutoFit/>
          </a:bodyPr>
          <a:lstStyle/>
          <a:p>
            <a:pPr marL="370840">
              <a:lnSpc>
                <a:spcPts val="2105"/>
              </a:lnSpc>
              <a:spcBef>
                <a:spcPts val="70"/>
              </a:spcBef>
            </a:pPr>
            <a:r>
              <a:rPr spc="-25" dirty="0">
                <a:latin typeface="Arial"/>
                <a:cs typeface="Arial"/>
              </a:rPr>
              <a:t>519</a:t>
            </a:r>
            <a:endParaRPr>
              <a:latin typeface="Arial"/>
              <a:cs typeface="Arial"/>
            </a:endParaRPr>
          </a:p>
        </p:txBody>
      </p:sp>
      <p:grpSp>
        <p:nvGrpSpPr>
          <p:cNvPr id="60" name="object 60"/>
          <p:cNvGrpSpPr/>
          <p:nvPr/>
        </p:nvGrpSpPr>
        <p:grpSpPr>
          <a:xfrm>
            <a:off x="2380211" y="4172989"/>
            <a:ext cx="4845685" cy="2501900"/>
            <a:chOff x="856210" y="4172989"/>
            <a:chExt cx="4845685" cy="2501900"/>
          </a:xfrm>
        </p:grpSpPr>
        <p:sp>
          <p:nvSpPr>
            <p:cNvPr id="61" name="object 61"/>
            <p:cNvSpPr/>
            <p:nvPr/>
          </p:nvSpPr>
          <p:spPr>
            <a:xfrm>
              <a:off x="2001705" y="4947862"/>
              <a:ext cx="994410" cy="170815"/>
            </a:xfrm>
            <a:custGeom>
              <a:avLst/>
              <a:gdLst/>
              <a:ahLst/>
              <a:cxnLst/>
              <a:rect l="l" t="t" r="r" b="b"/>
              <a:pathLst>
                <a:path w="994410" h="170814">
                  <a:moveTo>
                    <a:pt x="0" y="0"/>
                  </a:moveTo>
                  <a:lnTo>
                    <a:pt x="511174" y="0"/>
                  </a:lnTo>
                  <a:lnTo>
                    <a:pt x="511174" y="170656"/>
                  </a:lnTo>
                  <a:lnTo>
                    <a:pt x="993994" y="170656"/>
                  </a:lnTo>
                </a:path>
              </a:pathLst>
            </a:custGeom>
            <a:ln w="28574">
              <a:solidFill>
                <a:srgbClr val="8D8D8D"/>
              </a:solidFill>
            </a:ln>
          </p:spPr>
          <p:txBody>
            <a:bodyPr wrap="square" lIns="0" tIns="0" rIns="0" bIns="0" rtlCol="0"/>
            <a:lstStyle/>
            <a:p>
              <a:endParaRPr/>
            </a:p>
          </p:txBody>
        </p:sp>
        <p:pic>
          <p:nvPicPr>
            <p:cNvPr id="62" name="object 62"/>
            <p:cNvPicPr/>
            <p:nvPr/>
          </p:nvPicPr>
          <p:blipFill>
            <a:blip r:embed="rId27" cstate="print"/>
            <a:stretch>
              <a:fillRect/>
            </a:stretch>
          </p:blipFill>
          <p:spPr>
            <a:xfrm>
              <a:off x="2893658" y="5052194"/>
              <a:ext cx="130397" cy="132647"/>
            </a:xfrm>
            <a:prstGeom prst="rect">
              <a:avLst/>
            </a:prstGeom>
          </p:spPr>
        </p:pic>
        <p:sp>
          <p:nvSpPr>
            <p:cNvPr id="63" name="object 63"/>
            <p:cNvSpPr/>
            <p:nvPr/>
          </p:nvSpPr>
          <p:spPr>
            <a:xfrm>
              <a:off x="4142005" y="5118496"/>
              <a:ext cx="1531620" cy="1490345"/>
            </a:xfrm>
            <a:custGeom>
              <a:avLst/>
              <a:gdLst/>
              <a:ahLst/>
              <a:cxnLst/>
              <a:rect l="l" t="t" r="r" b="b"/>
              <a:pathLst>
                <a:path w="1531620" h="1490345">
                  <a:moveTo>
                    <a:pt x="0" y="0"/>
                  </a:moveTo>
                  <a:lnTo>
                    <a:pt x="780256" y="0"/>
                  </a:lnTo>
                  <a:lnTo>
                    <a:pt x="780256" y="1489868"/>
                  </a:lnTo>
                  <a:lnTo>
                    <a:pt x="1531362" y="1489868"/>
                  </a:lnTo>
                </a:path>
              </a:pathLst>
            </a:custGeom>
            <a:ln w="28574">
              <a:solidFill>
                <a:srgbClr val="8D8D8D"/>
              </a:solidFill>
            </a:ln>
          </p:spPr>
          <p:txBody>
            <a:bodyPr wrap="square" lIns="0" tIns="0" rIns="0" bIns="0" rtlCol="0"/>
            <a:lstStyle/>
            <a:p>
              <a:endParaRPr/>
            </a:p>
          </p:txBody>
        </p:sp>
        <p:pic>
          <p:nvPicPr>
            <p:cNvPr id="64" name="object 64"/>
            <p:cNvPicPr/>
            <p:nvPr/>
          </p:nvPicPr>
          <p:blipFill>
            <a:blip r:embed="rId27" cstate="print"/>
            <a:stretch>
              <a:fillRect/>
            </a:stretch>
          </p:blipFill>
          <p:spPr>
            <a:xfrm>
              <a:off x="5571327" y="6542041"/>
              <a:ext cx="130397" cy="132646"/>
            </a:xfrm>
            <a:prstGeom prst="rect">
              <a:avLst/>
            </a:prstGeom>
          </p:spPr>
        </p:pic>
        <p:pic>
          <p:nvPicPr>
            <p:cNvPr id="65" name="object 65"/>
            <p:cNvPicPr/>
            <p:nvPr/>
          </p:nvPicPr>
          <p:blipFill>
            <a:blip r:embed="rId28" cstate="print"/>
            <a:stretch>
              <a:fillRect/>
            </a:stretch>
          </p:blipFill>
          <p:spPr>
            <a:xfrm>
              <a:off x="856210" y="4189614"/>
              <a:ext cx="1221970" cy="378229"/>
            </a:xfrm>
            <a:prstGeom prst="rect">
              <a:avLst/>
            </a:prstGeom>
          </p:spPr>
        </p:pic>
        <p:pic>
          <p:nvPicPr>
            <p:cNvPr id="66" name="object 66"/>
            <p:cNvPicPr/>
            <p:nvPr/>
          </p:nvPicPr>
          <p:blipFill>
            <a:blip r:embed="rId29" cstate="print"/>
            <a:stretch>
              <a:fillRect/>
            </a:stretch>
          </p:blipFill>
          <p:spPr>
            <a:xfrm>
              <a:off x="1205345" y="4172989"/>
              <a:ext cx="523701" cy="419792"/>
            </a:xfrm>
            <a:prstGeom prst="rect">
              <a:avLst/>
            </a:prstGeom>
          </p:spPr>
        </p:pic>
        <p:sp>
          <p:nvSpPr>
            <p:cNvPr id="67" name="object 67"/>
            <p:cNvSpPr/>
            <p:nvPr/>
          </p:nvSpPr>
          <p:spPr>
            <a:xfrm>
              <a:off x="883511" y="4241601"/>
              <a:ext cx="1118235" cy="276225"/>
            </a:xfrm>
            <a:custGeom>
              <a:avLst/>
              <a:gdLst/>
              <a:ahLst/>
              <a:cxnLst/>
              <a:rect l="l" t="t" r="r" b="b"/>
              <a:pathLst>
                <a:path w="1118235"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68" name="object 68"/>
          <p:cNvSpPr txBox="1"/>
          <p:nvPr/>
        </p:nvSpPr>
        <p:spPr>
          <a:xfrm>
            <a:off x="2407512" y="3949532"/>
            <a:ext cx="1118235" cy="585417"/>
          </a:xfrm>
          <a:prstGeom prst="rect">
            <a:avLst/>
          </a:prstGeom>
          <a:ln w="12699">
            <a:solidFill>
              <a:srgbClr val="000000"/>
            </a:solidFill>
          </a:ln>
        </p:spPr>
        <p:txBody>
          <a:bodyPr vert="horz" wrap="square" lIns="0" tIns="635" rIns="0" bIns="0" rtlCol="0">
            <a:spAutoFit/>
          </a:bodyPr>
          <a:lstStyle/>
          <a:p>
            <a:pPr>
              <a:spcBef>
                <a:spcPts val="5"/>
              </a:spcBef>
            </a:pPr>
            <a:endParaRPr sz="2000">
              <a:latin typeface="Times New Roman"/>
              <a:cs typeface="Times New Roman"/>
            </a:endParaRPr>
          </a:p>
          <a:p>
            <a:pPr marL="370840"/>
            <a:r>
              <a:rPr spc="-25" dirty="0">
                <a:latin typeface="Arial"/>
                <a:cs typeface="Arial"/>
              </a:rPr>
              <a:t>214</a:t>
            </a:r>
            <a:endParaRPr>
              <a:latin typeface="Arial"/>
              <a:cs typeface="Arial"/>
            </a:endParaRPr>
          </a:p>
        </p:txBody>
      </p:sp>
      <p:grpSp>
        <p:nvGrpSpPr>
          <p:cNvPr id="69" name="object 69"/>
          <p:cNvGrpSpPr/>
          <p:nvPr/>
        </p:nvGrpSpPr>
        <p:grpSpPr>
          <a:xfrm>
            <a:off x="2380210" y="4365372"/>
            <a:ext cx="2167890" cy="1362710"/>
            <a:chOff x="856210" y="4365372"/>
            <a:chExt cx="2167890" cy="1362710"/>
          </a:xfrm>
        </p:grpSpPr>
        <p:sp>
          <p:nvSpPr>
            <p:cNvPr id="70" name="object 70"/>
            <p:cNvSpPr/>
            <p:nvPr/>
          </p:nvSpPr>
          <p:spPr>
            <a:xfrm>
              <a:off x="2001705" y="4379659"/>
              <a:ext cx="994410" cy="739140"/>
            </a:xfrm>
            <a:custGeom>
              <a:avLst/>
              <a:gdLst/>
              <a:ahLst/>
              <a:cxnLst/>
              <a:rect l="l" t="t" r="r" b="b"/>
              <a:pathLst>
                <a:path w="994410" h="739139">
                  <a:moveTo>
                    <a:pt x="0" y="0"/>
                  </a:moveTo>
                  <a:lnTo>
                    <a:pt x="511174" y="0"/>
                  </a:lnTo>
                  <a:lnTo>
                    <a:pt x="511174" y="738981"/>
                  </a:lnTo>
                  <a:lnTo>
                    <a:pt x="993994" y="738981"/>
                  </a:lnTo>
                </a:path>
              </a:pathLst>
            </a:custGeom>
            <a:ln w="28574">
              <a:solidFill>
                <a:srgbClr val="8D8D8D"/>
              </a:solidFill>
            </a:ln>
          </p:spPr>
          <p:txBody>
            <a:bodyPr wrap="square" lIns="0" tIns="0" rIns="0" bIns="0" rtlCol="0"/>
            <a:lstStyle/>
            <a:p>
              <a:endParaRPr/>
            </a:p>
          </p:txBody>
        </p:sp>
        <p:pic>
          <p:nvPicPr>
            <p:cNvPr id="71" name="object 71"/>
            <p:cNvPicPr/>
            <p:nvPr/>
          </p:nvPicPr>
          <p:blipFill>
            <a:blip r:embed="rId27" cstate="print"/>
            <a:stretch>
              <a:fillRect/>
            </a:stretch>
          </p:blipFill>
          <p:spPr>
            <a:xfrm>
              <a:off x="2893658" y="5052317"/>
              <a:ext cx="130397" cy="132647"/>
            </a:xfrm>
            <a:prstGeom prst="rect">
              <a:avLst/>
            </a:prstGeom>
          </p:spPr>
        </p:pic>
        <p:pic>
          <p:nvPicPr>
            <p:cNvPr id="72" name="object 72"/>
            <p:cNvPicPr/>
            <p:nvPr/>
          </p:nvPicPr>
          <p:blipFill>
            <a:blip r:embed="rId30" cstate="print"/>
            <a:stretch>
              <a:fillRect/>
            </a:stretch>
          </p:blipFill>
          <p:spPr>
            <a:xfrm>
              <a:off x="856210" y="5324301"/>
              <a:ext cx="1221970" cy="382385"/>
            </a:xfrm>
            <a:prstGeom prst="rect">
              <a:avLst/>
            </a:prstGeom>
          </p:spPr>
        </p:pic>
        <p:pic>
          <p:nvPicPr>
            <p:cNvPr id="73" name="object 73"/>
            <p:cNvPicPr/>
            <p:nvPr/>
          </p:nvPicPr>
          <p:blipFill>
            <a:blip r:embed="rId31" cstate="print"/>
            <a:stretch>
              <a:fillRect/>
            </a:stretch>
          </p:blipFill>
          <p:spPr>
            <a:xfrm>
              <a:off x="1142999" y="5307676"/>
              <a:ext cx="648392" cy="419792"/>
            </a:xfrm>
            <a:prstGeom prst="rect">
              <a:avLst/>
            </a:prstGeom>
          </p:spPr>
        </p:pic>
        <p:sp>
          <p:nvSpPr>
            <p:cNvPr id="74" name="object 74"/>
            <p:cNvSpPr/>
            <p:nvPr/>
          </p:nvSpPr>
          <p:spPr>
            <a:xfrm>
              <a:off x="883511" y="5377562"/>
              <a:ext cx="1118235" cy="276225"/>
            </a:xfrm>
            <a:custGeom>
              <a:avLst/>
              <a:gdLst/>
              <a:ahLst/>
              <a:cxnLst/>
              <a:rect l="l" t="t" r="r" b="b"/>
              <a:pathLst>
                <a:path w="1118235"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75" name="object 75"/>
          <p:cNvSpPr txBox="1"/>
          <p:nvPr/>
        </p:nvSpPr>
        <p:spPr>
          <a:xfrm>
            <a:off x="2715372" y="5365758"/>
            <a:ext cx="521334" cy="299720"/>
          </a:xfrm>
          <a:prstGeom prst="rect">
            <a:avLst/>
          </a:prstGeom>
        </p:spPr>
        <p:txBody>
          <a:bodyPr vert="horz" wrap="square" lIns="0" tIns="12700" rIns="0" bIns="0" rtlCol="0">
            <a:spAutoFit/>
          </a:bodyPr>
          <a:lstStyle/>
          <a:p>
            <a:pPr>
              <a:spcBef>
                <a:spcPts val="100"/>
              </a:spcBef>
            </a:pPr>
            <a:r>
              <a:rPr spc="-20" dirty="0">
                <a:latin typeface="Arial"/>
                <a:cs typeface="Arial"/>
              </a:rPr>
              <a:t>1001</a:t>
            </a:r>
            <a:endParaRPr>
              <a:latin typeface="Arial"/>
              <a:cs typeface="Arial"/>
            </a:endParaRPr>
          </a:p>
        </p:txBody>
      </p:sp>
      <p:grpSp>
        <p:nvGrpSpPr>
          <p:cNvPr id="76" name="object 76"/>
          <p:cNvGrpSpPr/>
          <p:nvPr/>
        </p:nvGrpSpPr>
        <p:grpSpPr>
          <a:xfrm>
            <a:off x="2380211" y="4313192"/>
            <a:ext cx="4845685" cy="2079625"/>
            <a:chOff x="856210" y="4313191"/>
            <a:chExt cx="4845685" cy="2079625"/>
          </a:xfrm>
        </p:grpSpPr>
        <p:sp>
          <p:nvSpPr>
            <p:cNvPr id="77" name="object 77"/>
            <p:cNvSpPr/>
            <p:nvPr/>
          </p:nvSpPr>
          <p:spPr>
            <a:xfrm>
              <a:off x="2001705" y="5118745"/>
              <a:ext cx="994410" cy="396875"/>
            </a:xfrm>
            <a:custGeom>
              <a:avLst/>
              <a:gdLst/>
              <a:ahLst/>
              <a:cxnLst/>
              <a:rect l="l" t="t" r="r" b="b"/>
              <a:pathLst>
                <a:path w="994410" h="396875">
                  <a:moveTo>
                    <a:pt x="0" y="396874"/>
                  </a:moveTo>
                  <a:lnTo>
                    <a:pt x="511174" y="396874"/>
                  </a:lnTo>
                  <a:lnTo>
                    <a:pt x="511174" y="0"/>
                  </a:lnTo>
                  <a:lnTo>
                    <a:pt x="993994" y="0"/>
                  </a:lnTo>
                </a:path>
              </a:pathLst>
            </a:custGeom>
            <a:ln w="28574">
              <a:solidFill>
                <a:srgbClr val="8D8D8D"/>
              </a:solidFill>
            </a:ln>
          </p:spPr>
          <p:txBody>
            <a:bodyPr wrap="square" lIns="0" tIns="0" rIns="0" bIns="0" rtlCol="0"/>
            <a:lstStyle/>
            <a:p>
              <a:endParaRPr/>
            </a:p>
          </p:txBody>
        </p:sp>
        <p:pic>
          <p:nvPicPr>
            <p:cNvPr id="78" name="object 78"/>
            <p:cNvPicPr/>
            <p:nvPr/>
          </p:nvPicPr>
          <p:blipFill>
            <a:blip r:embed="rId27" cstate="print"/>
            <a:stretch>
              <a:fillRect/>
            </a:stretch>
          </p:blipFill>
          <p:spPr>
            <a:xfrm>
              <a:off x="2893658" y="5052421"/>
              <a:ext cx="130397" cy="132646"/>
            </a:xfrm>
            <a:prstGeom prst="rect">
              <a:avLst/>
            </a:prstGeom>
          </p:spPr>
        </p:pic>
        <p:sp>
          <p:nvSpPr>
            <p:cNvPr id="79" name="object 79"/>
            <p:cNvSpPr/>
            <p:nvPr/>
          </p:nvSpPr>
          <p:spPr>
            <a:xfrm>
              <a:off x="4142005" y="4379515"/>
              <a:ext cx="1531620" cy="739140"/>
            </a:xfrm>
            <a:custGeom>
              <a:avLst/>
              <a:gdLst/>
              <a:ahLst/>
              <a:cxnLst/>
              <a:rect l="l" t="t" r="r" b="b"/>
              <a:pathLst>
                <a:path w="1531620" h="739139">
                  <a:moveTo>
                    <a:pt x="0" y="738981"/>
                  </a:moveTo>
                  <a:lnTo>
                    <a:pt x="780256" y="738981"/>
                  </a:lnTo>
                  <a:lnTo>
                    <a:pt x="780256" y="0"/>
                  </a:lnTo>
                  <a:lnTo>
                    <a:pt x="1531362" y="0"/>
                  </a:lnTo>
                </a:path>
              </a:pathLst>
            </a:custGeom>
            <a:ln w="28574">
              <a:solidFill>
                <a:srgbClr val="8D8D8D"/>
              </a:solidFill>
            </a:ln>
          </p:spPr>
          <p:txBody>
            <a:bodyPr wrap="square" lIns="0" tIns="0" rIns="0" bIns="0" rtlCol="0"/>
            <a:lstStyle/>
            <a:p>
              <a:endParaRPr/>
            </a:p>
          </p:txBody>
        </p:sp>
        <p:pic>
          <p:nvPicPr>
            <p:cNvPr id="80" name="object 80"/>
            <p:cNvPicPr/>
            <p:nvPr/>
          </p:nvPicPr>
          <p:blipFill>
            <a:blip r:embed="rId27" cstate="print"/>
            <a:stretch>
              <a:fillRect/>
            </a:stretch>
          </p:blipFill>
          <p:spPr>
            <a:xfrm>
              <a:off x="5571327" y="4313191"/>
              <a:ext cx="130397" cy="132646"/>
            </a:xfrm>
            <a:prstGeom prst="rect">
              <a:avLst/>
            </a:prstGeom>
          </p:spPr>
        </p:pic>
        <p:pic>
          <p:nvPicPr>
            <p:cNvPr id="81" name="object 81"/>
            <p:cNvPicPr/>
            <p:nvPr/>
          </p:nvPicPr>
          <p:blipFill>
            <a:blip r:embed="rId32" cstate="print"/>
            <a:stretch>
              <a:fillRect/>
            </a:stretch>
          </p:blipFill>
          <p:spPr>
            <a:xfrm>
              <a:off x="856210" y="5989319"/>
              <a:ext cx="1221970" cy="378229"/>
            </a:xfrm>
            <a:prstGeom prst="rect">
              <a:avLst/>
            </a:prstGeom>
          </p:spPr>
        </p:pic>
        <p:pic>
          <p:nvPicPr>
            <p:cNvPr id="82" name="object 82"/>
            <p:cNvPicPr/>
            <p:nvPr/>
          </p:nvPicPr>
          <p:blipFill>
            <a:blip r:embed="rId33" cstate="print"/>
            <a:stretch>
              <a:fillRect/>
            </a:stretch>
          </p:blipFill>
          <p:spPr>
            <a:xfrm>
              <a:off x="1142999" y="5968538"/>
              <a:ext cx="648392" cy="423949"/>
            </a:xfrm>
            <a:prstGeom prst="rect">
              <a:avLst/>
            </a:prstGeom>
          </p:spPr>
        </p:pic>
        <p:sp>
          <p:nvSpPr>
            <p:cNvPr id="83" name="object 83"/>
            <p:cNvSpPr/>
            <p:nvPr/>
          </p:nvSpPr>
          <p:spPr>
            <a:xfrm>
              <a:off x="883511" y="6040247"/>
              <a:ext cx="1118235" cy="276225"/>
            </a:xfrm>
            <a:custGeom>
              <a:avLst/>
              <a:gdLst/>
              <a:ahLst/>
              <a:cxnLst/>
              <a:rect l="l" t="t" r="r" b="b"/>
              <a:pathLst>
                <a:path w="1118235"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84" name="object 84"/>
          <p:cNvSpPr txBox="1"/>
          <p:nvPr/>
        </p:nvSpPr>
        <p:spPr>
          <a:xfrm>
            <a:off x="2715372" y="6028444"/>
            <a:ext cx="521334" cy="299720"/>
          </a:xfrm>
          <a:prstGeom prst="rect">
            <a:avLst/>
          </a:prstGeom>
        </p:spPr>
        <p:txBody>
          <a:bodyPr vert="horz" wrap="square" lIns="0" tIns="12700" rIns="0" bIns="0" rtlCol="0">
            <a:spAutoFit/>
          </a:bodyPr>
          <a:lstStyle/>
          <a:p>
            <a:pPr>
              <a:spcBef>
                <a:spcPts val="100"/>
              </a:spcBef>
            </a:pPr>
            <a:r>
              <a:rPr spc="-20" dirty="0">
                <a:latin typeface="Arial"/>
                <a:cs typeface="Arial"/>
              </a:rPr>
              <a:t>3744</a:t>
            </a:r>
            <a:endParaRPr>
              <a:latin typeface="Arial"/>
              <a:cs typeface="Arial"/>
            </a:endParaRPr>
          </a:p>
        </p:txBody>
      </p:sp>
      <p:grpSp>
        <p:nvGrpSpPr>
          <p:cNvPr id="85" name="object 85"/>
          <p:cNvGrpSpPr/>
          <p:nvPr/>
        </p:nvGrpSpPr>
        <p:grpSpPr>
          <a:xfrm>
            <a:off x="3511417" y="5052325"/>
            <a:ext cx="3714750" cy="1140460"/>
            <a:chOff x="1987417" y="5052325"/>
            <a:chExt cx="3714750" cy="1140460"/>
          </a:xfrm>
        </p:grpSpPr>
        <p:sp>
          <p:nvSpPr>
            <p:cNvPr id="86" name="object 86"/>
            <p:cNvSpPr/>
            <p:nvPr/>
          </p:nvSpPr>
          <p:spPr>
            <a:xfrm>
              <a:off x="2001705" y="5118649"/>
              <a:ext cx="994410" cy="1059815"/>
            </a:xfrm>
            <a:custGeom>
              <a:avLst/>
              <a:gdLst/>
              <a:ahLst/>
              <a:cxnLst/>
              <a:rect l="l" t="t" r="r" b="b"/>
              <a:pathLst>
                <a:path w="994410" h="1059814">
                  <a:moveTo>
                    <a:pt x="0" y="1059655"/>
                  </a:moveTo>
                  <a:lnTo>
                    <a:pt x="511174" y="1059655"/>
                  </a:lnTo>
                  <a:lnTo>
                    <a:pt x="511174" y="0"/>
                  </a:lnTo>
                  <a:lnTo>
                    <a:pt x="993994" y="0"/>
                  </a:lnTo>
                </a:path>
              </a:pathLst>
            </a:custGeom>
            <a:ln w="28574">
              <a:solidFill>
                <a:srgbClr val="8D8D8D"/>
              </a:solidFill>
            </a:ln>
          </p:spPr>
          <p:txBody>
            <a:bodyPr wrap="square" lIns="0" tIns="0" rIns="0" bIns="0" rtlCol="0"/>
            <a:lstStyle/>
            <a:p>
              <a:endParaRPr/>
            </a:p>
          </p:txBody>
        </p:sp>
        <p:pic>
          <p:nvPicPr>
            <p:cNvPr id="87" name="object 87"/>
            <p:cNvPicPr/>
            <p:nvPr/>
          </p:nvPicPr>
          <p:blipFill>
            <a:blip r:embed="rId27" cstate="print"/>
            <a:stretch>
              <a:fillRect/>
            </a:stretch>
          </p:blipFill>
          <p:spPr>
            <a:xfrm>
              <a:off x="2893658" y="5052325"/>
              <a:ext cx="130397" cy="132646"/>
            </a:xfrm>
            <a:prstGeom prst="rect">
              <a:avLst/>
            </a:prstGeom>
          </p:spPr>
        </p:pic>
        <p:sp>
          <p:nvSpPr>
            <p:cNvPr id="88" name="object 88"/>
            <p:cNvSpPr/>
            <p:nvPr/>
          </p:nvSpPr>
          <p:spPr>
            <a:xfrm>
              <a:off x="4142005" y="5118496"/>
              <a:ext cx="1531620" cy="90170"/>
            </a:xfrm>
            <a:custGeom>
              <a:avLst/>
              <a:gdLst/>
              <a:ahLst/>
              <a:cxnLst/>
              <a:rect l="l" t="t" r="r" b="b"/>
              <a:pathLst>
                <a:path w="1531620" h="90170">
                  <a:moveTo>
                    <a:pt x="0" y="0"/>
                  </a:moveTo>
                  <a:lnTo>
                    <a:pt x="780256" y="0"/>
                  </a:lnTo>
                  <a:lnTo>
                    <a:pt x="780256" y="89693"/>
                  </a:lnTo>
                  <a:lnTo>
                    <a:pt x="1531362" y="89693"/>
                  </a:lnTo>
                </a:path>
              </a:pathLst>
            </a:custGeom>
            <a:ln w="28574">
              <a:solidFill>
                <a:srgbClr val="DC3E3C"/>
              </a:solidFill>
            </a:ln>
          </p:spPr>
          <p:txBody>
            <a:bodyPr wrap="square" lIns="0" tIns="0" rIns="0" bIns="0" rtlCol="0"/>
            <a:lstStyle/>
            <a:p>
              <a:endParaRPr/>
            </a:p>
          </p:txBody>
        </p:sp>
        <p:pic>
          <p:nvPicPr>
            <p:cNvPr id="89" name="object 89"/>
            <p:cNvPicPr/>
            <p:nvPr/>
          </p:nvPicPr>
          <p:blipFill>
            <a:blip r:embed="rId34" cstate="print"/>
            <a:stretch>
              <a:fillRect/>
            </a:stretch>
          </p:blipFill>
          <p:spPr>
            <a:xfrm>
              <a:off x="5571327" y="5141866"/>
              <a:ext cx="130397" cy="132646"/>
            </a:xfrm>
            <a:prstGeom prst="rect">
              <a:avLst/>
            </a:prstGeom>
          </p:spPr>
        </p:pic>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059939" y="1631696"/>
            <a:ext cx="4640580" cy="1694814"/>
          </a:xfrm>
          <a:prstGeom prst="rect">
            <a:avLst/>
          </a:prstGeom>
        </p:spPr>
        <p:txBody>
          <a:bodyPr vert="horz" wrap="square" lIns="0" tIns="166370" rIns="0" bIns="0" rtlCol="0">
            <a:spAutoFit/>
          </a:bodyPr>
          <a:lstStyle/>
          <a:p>
            <a:pPr marL="354965" indent="-342265">
              <a:spcBef>
                <a:spcPts val="1310"/>
              </a:spcBef>
              <a:buFont typeface="Arial"/>
              <a:buChar char="•"/>
              <a:tabLst>
                <a:tab pos="354965" algn="l"/>
                <a:tab pos="355600" algn="l"/>
              </a:tabLst>
            </a:pPr>
            <a:r>
              <a:rPr sz="2800" b="1" dirty="0">
                <a:latin typeface="Arial"/>
                <a:cs typeface="Arial"/>
              </a:rPr>
              <a:t>Is</a:t>
            </a:r>
            <a:r>
              <a:rPr sz="2800" b="1" spc="-20" dirty="0">
                <a:latin typeface="Arial"/>
                <a:cs typeface="Arial"/>
              </a:rPr>
              <a:t> </a:t>
            </a:r>
            <a:r>
              <a:rPr sz="2800" b="1" dirty="0">
                <a:latin typeface="Arial"/>
                <a:cs typeface="Arial"/>
              </a:rPr>
              <a:t>there</a:t>
            </a:r>
            <a:r>
              <a:rPr sz="2800" b="1" spc="-5" dirty="0">
                <a:latin typeface="Arial"/>
                <a:cs typeface="Arial"/>
              </a:rPr>
              <a:t> </a:t>
            </a:r>
            <a:r>
              <a:rPr sz="2800" b="1" dirty="0">
                <a:latin typeface="Arial"/>
                <a:cs typeface="Arial"/>
              </a:rPr>
              <a:t>a</a:t>
            </a:r>
            <a:r>
              <a:rPr sz="2800" b="1" spc="-10" dirty="0">
                <a:latin typeface="Arial"/>
                <a:cs typeface="Arial"/>
              </a:rPr>
              <a:t> </a:t>
            </a:r>
            <a:r>
              <a:rPr sz="2800" b="1" dirty="0">
                <a:latin typeface="Arial"/>
                <a:cs typeface="Arial"/>
              </a:rPr>
              <a:t>problem</a:t>
            </a:r>
            <a:r>
              <a:rPr sz="2800" b="1" spc="-5" dirty="0">
                <a:latin typeface="Arial"/>
                <a:cs typeface="Arial"/>
              </a:rPr>
              <a:t> </a:t>
            </a:r>
            <a:r>
              <a:rPr sz="2800" b="1" spc="-20" dirty="0">
                <a:latin typeface="Arial"/>
                <a:cs typeface="Arial"/>
              </a:rPr>
              <a:t>here?</a:t>
            </a:r>
            <a:endParaRPr sz="2800">
              <a:latin typeface="Arial"/>
              <a:cs typeface="Arial"/>
            </a:endParaRPr>
          </a:p>
          <a:p>
            <a:pPr marL="812165" lvl="1" indent="-342265">
              <a:spcBef>
                <a:spcPts val="1215"/>
              </a:spcBef>
              <a:buClr>
                <a:srgbClr val="D1282E"/>
              </a:buClr>
              <a:buChar char="•"/>
              <a:tabLst>
                <a:tab pos="812165" algn="l"/>
                <a:tab pos="812800" algn="l"/>
              </a:tabLst>
            </a:pPr>
            <a:r>
              <a:rPr sz="2800" spc="-10" dirty="0">
                <a:latin typeface="Arial"/>
                <a:cs typeface="Arial"/>
              </a:rPr>
              <a:t>insert(3744)</a:t>
            </a:r>
            <a:endParaRPr sz="2800">
              <a:latin typeface="Arial"/>
              <a:cs typeface="Arial"/>
            </a:endParaRPr>
          </a:p>
          <a:p>
            <a:pPr marL="812165" lvl="1" indent="-342265">
              <a:spcBef>
                <a:spcPts val="640"/>
              </a:spcBef>
              <a:buClr>
                <a:srgbClr val="D1282E"/>
              </a:buClr>
              <a:buChar char="•"/>
              <a:tabLst>
                <a:tab pos="812165" algn="l"/>
                <a:tab pos="812800" algn="l"/>
              </a:tabLst>
            </a:pPr>
            <a:r>
              <a:rPr sz="2800" dirty="0">
                <a:latin typeface="Arial"/>
                <a:cs typeface="Arial"/>
              </a:rPr>
              <a:t>This</a:t>
            </a:r>
            <a:r>
              <a:rPr sz="2800" spc="-10" dirty="0">
                <a:latin typeface="Arial"/>
                <a:cs typeface="Arial"/>
              </a:rPr>
              <a:t> </a:t>
            </a:r>
            <a:r>
              <a:rPr sz="2800" dirty="0">
                <a:latin typeface="Arial"/>
                <a:cs typeface="Arial"/>
              </a:rPr>
              <a:t>is</a:t>
            </a:r>
            <a:r>
              <a:rPr sz="2800" spc="-5" dirty="0">
                <a:latin typeface="Arial"/>
                <a:cs typeface="Arial"/>
              </a:rPr>
              <a:t> </a:t>
            </a:r>
            <a:r>
              <a:rPr sz="2800" dirty="0">
                <a:latin typeface="Arial"/>
                <a:cs typeface="Arial"/>
              </a:rPr>
              <a:t>called a </a:t>
            </a:r>
            <a:r>
              <a:rPr sz="2800" spc="-10" dirty="0">
                <a:latin typeface="Arial"/>
                <a:cs typeface="Arial"/>
              </a:rPr>
              <a:t>collision!</a:t>
            </a:r>
            <a:endParaRPr sz="2800">
              <a:latin typeface="Arial"/>
              <a:cs typeface="Arial"/>
            </a:endParaRPr>
          </a:p>
        </p:txBody>
      </p:sp>
      <p:sp>
        <p:nvSpPr>
          <p:cNvPr id="3" name="object 3"/>
          <p:cNvSpPr txBox="1">
            <a:spLocks noGrp="1"/>
          </p:cNvSpPr>
          <p:nvPr>
            <p:ph type="title"/>
          </p:nvPr>
        </p:nvSpPr>
        <p:spPr>
          <a:xfrm>
            <a:off x="2362200" y="682940"/>
            <a:ext cx="10515600" cy="689932"/>
          </a:xfrm>
          <a:prstGeom prst="rect">
            <a:avLst/>
          </a:prstGeom>
        </p:spPr>
        <p:txBody>
          <a:bodyPr vert="horz" wrap="square" lIns="0" tIns="12700" rIns="0" bIns="0" rtlCol="0" anchor="ctr">
            <a:spAutoFit/>
          </a:bodyPr>
          <a:lstStyle/>
          <a:p>
            <a:pPr marL="12700">
              <a:lnSpc>
                <a:spcPct val="100000"/>
              </a:lnSpc>
              <a:spcBef>
                <a:spcPts val="100"/>
              </a:spcBef>
            </a:pPr>
            <a:r>
              <a:rPr spc="-10" dirty="0"/>
              <a:t>HASH</a:t>
            </a:r>
            <a:r>
              <a:rPr spc="-275" dirty="0"/>
              <a:t> </a:t>
            </a:r>
            <a:r>
              <a:rPr spc="-60" dirty="0"/>
              <a:t>EXAMPLE</a:t>
            </a:r>
          </a:p>
        </p:txBody>
      </p:sp>
      <p:grpSp>
        <p:nvGrpSpPr>
          <p:cNvPr id="4" name="object 4"/>
          <p:cNvGrpSpPr/>
          <p:nvPr/>
        </p:nvGrpSpPr>
        <p:grpSpPr>
          <a:xfrm>
            <a:off x="7197436" y="4168833"/>
            <a:ext cx="1222375" cy="424180"/>
            <a:chOff x="5673435" y="4168833"/>
            <a:chExt cx="1222375" cy="424180"/>
          </a:xfrm>
        </p:grpSpPr>
        <p:pic>
          <p:nvPicPr>
            <p:cNvPr id="5" name="object 5"/>
            <p:cNvPicPr/>
            <p:nvPr/>
          </p:nvPicPr>
          <p:blipFill>
            <a:blip r:embed="rId2" cstate="print"/>
            <a:stretch>
              <a:fillRect/>
            </a:stretch>
          </p:blipFill>
          <p:spPr>
            <a:xfrm>
              <a:off x="5673435" y="4189614"/>
              <a:ext cx="1221970" cy="378229"/>
            </a:xfrm>
            <a:prstGeom prst="rect">
              <a:avLst/>
            </a:prstGeom>
          </p:spPr>
        </p:pic>
        <p:pic>
          <p:nvPicPr>
            <p:cNvPr id="6" name="object 6"/>
            <p:cNvPicPr/>
            <p:nvPr/>
          </p:nvPicPr>
          <p:blipFill>
            <a:blip r:embed="rId3" cstate="print"/>
            <a:stretch>
              <a:fillRect/>
            </a:stretch>
          </p:blipFill>
          <p:spPr>
            <a:xfrm>
              <a:off x="5744094" y="4168833"/>
              <a:ext cx="906087" cy="423949"/>
            </a:xfrm>
            <a:prstGeom prst="rect">
              <a:avLst/>
            </a:prstGeom>
          </p:spPr>
        </p:pic>
        <p:sp>
          <p:nvSpPr>
            <p:cNvPr id="7" name="object 7"/>
            <p:cNvSpPr/>
            <p:nvPr/>
          </p:nvSpPr>
          <p:spPr>
            <a:xfrm>
              <a:off x="5701960" y="4241064"/>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8" name="object 8"/>
          <p:cNvSpPr txBox="1"/>
          <p:nvPr/>
        </p:nvSpPr>
        <p:spPr>
          <a:xfrm>
            <a:off x="7232311" y="4229262"/>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1:</a:t>
            </a:r>
            <a:r>
              <a:rPr spc="-5" dirty="0">
                <a:latin typeface="Arial"/>
                <a:cs typeface="Arial"/>
              </a:rPr>
              <a:t> </a:t>
            </a:r>
            <a:r>
              <a:rPr b="1" spc="-20" dirty="0">
                <a:latin typeface="Arial"/>
                <a:cs typeface="Arial"/>
              </a:rPr>
              <a:t>1001</a:t>
            </a:r>
            <a:endParaRPr>
              <a:latin typeface="Arial"/>
              <a:cs typeface="Arial"/>
            </a:endParaRPr>
          </a:p>
        </p:txBody>
      </p:sp>
      <p:grpSp>
        <p:nvGrpSpPr>
          <p:cNvPr id="9" name="object 9"/>
          <p:cNvGrpSpPr/>
          <p:nvPr/>
        </p:nvGrpSpPr>
        <p:grpSpPr>
          <a:xfrm>
            <a:off x="2380211" y="3877888"/>
            <a:ext cx="6039485" cy="2914015"/>
            <a:chOff x="856210" y="3877887"/>
            <a:chExt cx="6039485" cy="2914015"/>
          </a:xfrm>
        </p:grpSpPr>
        <p:pic>
          <p:nvPicPr>
            <p:cNvPr id="10" name="object 10"/>
            <p:cNvPicPr/>
            <p:nvPr/>
          </p:nvPicPr>
          <p:blipFill>
            <a:blip r:embed="rId4" cstate="print"/>
            <a:stretch>
              <a:fillRect/>
            </a:stretch>
          </p:blipFill>
          <p:spPr>
            <a:xfrm>
              <a:off x="5673435" y="3898668"/>
              <a:ext cx="1221970" cy="378229"/>
            </a:xfrm>
            <a:prstGeom prst="rect">
              <a:avLst/>
            </a:prstGeom>
          </p:spPr>
        </p:pic>
        <p:pic>
          <p:nvPicPr>
            <p:cNvPr id="11" name="object 11"/>
            <p:cNvPicPr/>
            <p:nvPr/>
          </p:nvPicPr>
          <p:blipFill>
            <a:blip r:embed="rId5" cstate="print"/>
            <a:stretch>
              <a:fillRect/>
            </a:stretch>
          </p:blipFill>
          <p:spPr>
            <a:xfrm>
              <a:off x="5744094" y="3877887"/>
              <a:ext cx="270163" cy="423949"/>
            </a:xfrm>
            <a:prstGeom prst="rect">
              <a:avLst/>
            </a:prstGeom>
          </p:spPr>
        </p:pic>
        <p:sp>
          <p:nvSpPr>
            <p:cNvPr id="12" name="object 12"/>
            <p:cNvSpPr/>
            <p:nvPr/>
          </p:nvSpPr>
          <p:spPr>
            <a:xfrm>
              <a:off x="5701960" y="3949531"/>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pic>
          <p:nvPicPr>
            <p:cNvPr id="13" name="object 13"/>
            <p:cNvPicPr/>
            <p:nvPr/>
          </p:nvPicPr>
          <p:blipFill>
            <a:blip r:embed="rId6" cstate="print"/>
            <a:stretch>
              <a:fillRect/>
            </a:stretch>
          </p:blipFill>
          <p:spPr>
            <a:xfrm>
              <a:off x="856210" y="3898669"/>
              <a:ext cx="1221970" cy="2892828"/>
            </a:xfrm>
            <a:prstGeom prst="rect">
              <a:avLst/>
            </a:prstGeom>
          </p:spPr>
        </p:pic>
        <p:sp>
          <p:nvSpPr>
            <p:cNvPr id="14" name="object 14"/>
            <p:cNvSpPr/>
            <p:nvPr/>
          </p:nvSpPr>
          <p:spPr>
            <a:xfrm>
              <a:off x="883511" y="3949531"/>
              <a:ext cx="1118235" cy="2791460"/>
            </a:xfrm>
            <a:custGeom>
              <a:avLst/>
              <a:gdLst/>
              <a:ahLst/>
              <a:cxnLst/>
              <a:rect l="l" t="t" r="r" b="b"/>
              <a:pathLst>
                <a:path w="1118235" h="2791459">
                  <a:moveTo>
                    <a:pt x="0" y="0"/>
                  </a:moveTo>
                  <a:lnTo>
                    <a:pt x="1118193" y="0"/>
                  </a:lnTo>
                  <a:lnTo>
                    <a:pt x="1118193" y="2790885"/>
                  </a:lnTo>
                  <a:lnTo>
                    <a:pt x="0" y="2790885"/>
                  </a:lnTo>
                  <a:lnTo>
                    <a:pt x="0" y="0"/>
                  </a:lnTo>
                  <a:close/>
                </a:path>
              </a:pathLst>
            </a:custGeom>
            <a:ln w="12699">
              <a:solidFill>
                <a:srgbClr val="000000"/>
              </a:solidFill>
            </a:ln>
          </p:spPr>
          <p:txBody>
            <a:bodyPr wrap="square" lIns="0" tIns="0" rIns="0" bIns="0" rtlCol="0"/>
            <a:lstStyle/>
            <a:p>
              <a:endParaRPr/>
            </a:p>
          </p:txBody>
        </p:sp>
      </p:grpSp>
      <p:sp>
        <p:nvSpPr>
          <p:cNvPr id="15" name="object 15"/>
          <p:cNvSpPr txBox="1"/>
          <p:nvPr/>
        </p:nvSpPr>
        <p:spPr>
          <a:xfrm>
            <a:off x="7232311" y="3937729"/>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0</a:t>
            </a:r>
            <a:endParaRPr>
              <a:latin typeface="Arial"/>
              <a:cs typeface="Arial"/>
            </a:endParaRPr>
          </a:p>
        </p:txBody>
      </p:sp>
      <p:grpSp>
        <p:nvGrpSpPr>
          <p:cNvPr id="16" name="object 16"/>
          <p:cNvGrpSpPr/>
          <p:nvPr/>
        </p:nvGrpSpPr>
        <p:grpSpPr>
          <a:xfrm>
            <a:off x="7197436" y="4447308"/>
            <a:ext cx="1222375" cy="420370"/>
            <a:chOff x="5673435" y="4447308"/>
            <a:chExt cx="1222375" cy="420370"/>
          </a:xfrm>
        </p:grpSpPr>
        <p:pic>
          <p:nvPicPr>
            <p:cNvPr id="17" name="object 17"/>
            <p:cNvPicPr/>
            <p:nvPr/>
          </p:nvPicPr>
          <p:blipFill>
            <a:blip r:embed="rId7" cstate="print"/>
            <a:stretch>
              <a:fillRect/>
            </a:stretch>
          </p:blipFill>
          <p:spPr>
            <a:xfrm>
              <a:off x="5673435" y="4463934"/>
              <a:ext cx="1221970" cy="382385"/>
            </a:xfrm>
            <a:prstGeom prst="rect">
              <a:avLst/>
            </a:prstGeom>
          </p:spPr>
        </p:pic>
        <p:pic>
          <p:nvPicPr>
            <p:cNvPr id="18" name="object 18"/>
            <p:cNvPicPr/>
            <p:nvPr/>
          </p:nvPicPr>
          <p:blipFill>
            <a:blip r:embed="rId8" cstate="print"/>
            <a:stretch>
              <a:fillRect/>
            </a:stretch>
          </p:blipFill>
          <p:spPr>
            <a:xfrm>
              <a:off x="5744094" y="4447308"/>
              <a:ext cx="270163" cy="419792"/>
            </a:xfrm>
            <a:prstGeom prst="rect">
              <a:avLst/>
            </a:prstGeom>
          </p:spPr>
        </p:pic>
      </p:grpSp>
      <p:sp>
        <p:nvSpPr>
          <p:cNvPr id="19" name="object 19"/>
          <p:cNvSpPr txBox="1"/>
          <p:nvPr/>
        </p:nvSpPr>
        <p:spPr>
          <a:xfrm>
            <a:off x="7225961" y="4517448"/>
            <a:ext cx="1118235" cy="284480"/>
          </a:xfrm>
          <a:prstGeom prst="rect">
            <a:avLst/>
          </a:prstGeom>
          <a:ln w="12699">
            <a:solidFill>
              <a:srgbClr val="000000"/>
            </a:solidFill>
          </a:ln>
        </p:spPr>
        <p:txBody>
          <a:bodyPr vert="horz" wrap="square" lIns="0" tIns="1270" rIns="0" bIns="0" rtlCol="0">
            <a:spAutoFit/>
          </a:bodyPr>
          <a:lstStyle/>
          <a:p>
            <a:pPr marL="90805">
              <a:spcBef>
                <a:spcPts val="10"/>
              </a:spcBef>
            </a:pPr>
            <a:r>
              <a:rPr dirty="0">
                <a:latin typeface="Arial"/>
                <a:cs typeface="Arial"/>
              </a:rPr>
              <a:t>2</a:t>
            </a:r>
            <a:endParaRPr>
              <a:latin typeface="Arial"/>
              <a:cs typeface="Arial"/>
            </a:endParaRPr>
          </a:p>
        </p:txBody>
      </p:sp>
      <p:grpSp>
        <p:nvGrpSpPr>
          <p:cNvPr id="20" name="object 20"/>
          <p:cNvGrpSpPr/>
          <p:nvPr/>
        </p:nvGrpSpPr>
        <p:grpSpPr>
          <a:xfrm>
            <a:off x="7197436" y="4721628"/>
            <a:ext cx="1222375" cy="424180"/>
            <a:chOff x="5673435" y="4721628"/>
            <a:chExt cx="1222375" cy="424180"/>
          </a:xfrm>
        </p:grpSpPr>
        <p:pic>
          <p:nvPicPr>
            <p:cNvPr id="21" name="object 21"/>
            <p:cNvPicPr/>
            <p:nvPr/>
          </p:nvPicPr>
          <p:blipFill>
            <a:blip r:embed="rId9" cstate="print"/>
            <a:stretch>
              <a:fillRect/>
            </a:stretch>
          </p:blipFill>
          <p:spPr>
            <a:xfrm>
              <a:off x="5673435" y="4742410"/>
              <a:ext cx="1221970" cy="378229"/>
            </a:xfrm>
            <a:prstGeom prst="rect">
              <a:avLst/>
            </a:prstGeom>
          </p:spPr>
        </p:pic>
        <p:pic>
          <p:nvPicPr>
            <p:cNvPr id="22" name="object 22"/>
            <p:cNvPicPr/>
            <p:nvPr/>
          </p:nvPicPr>
          <p:blipFill>
            <a:blip r:embed="rId10" cstate="print"/>
            <a:stretch>
              <a:fillRect/>
            </a:stretch>
          </p:blipFill>
          <p:spPr>
            <a:xfrm>
              <a:off x="5744094" y="4721628"/>
              <a:ext cx="270163" cy="423949"/>
            </a:xfrm>
            <a:prstGeom prst="rect">
              <a:avLst/>
            </a:prstGeom>
          </p:spPr>
        </p:pic>
      </p:grpSp>
      <p:sp>
        <p:nvSpPr>
          <p:cNvPr id="23" name="object 23"/>
          <p:cNvSpPr txBox="1"/>
          <p:nvPr/>
        </p:nvSpPr>
        <p:spPr>
          <a:xfrm>
            <a:off x="7225961" y="4801818"/>
            <a:ext cx="1118235" cy="269304"/>
          </a:xfrm>
          <a:prstGeom prst="rect">
            <a:avLst/>
          </a:prstGeom>
          <a:ln w="12699">
            <a:solidFill>
              <a:srgbClr val="000000"/>
            </a:solidFill>
          </a:ln>
        </p:spPr>
        <p:txBody>
          <a:bodyPr vert="horz" wrap="square" lIns="0" tIns="0" rIns="0" bIns="0" rtlCol="0">
            <a:spAutoFit/>
          </a:bodyPr>
          <a:lstStyle/>
          <a:p>
            <a:pPr marL="90805">
              <a:lnSpc>
                <a:spcPts val="2105"/>
              </a:lnSpc>
            </a:pPr>
            <a:r>
              <a:rPr dirty="0">
                <a:latin typeface="Arial"/>
                <a:cs typeface="Arial"/>
              </a:rPr>
              <a:t>3</a:t>
            </a:r>
            <a:endParaRPr>
              <a:latin typeface="Arial"/>
              <a:cs typeface="Arial"/>
            </a:endParaRPr>
          </a:p>
        </p:txBody>
      </p:sp>
      <p:grpSp>
        <p:nvGrpSpPr>
          <p:cNvPr id="24" name="object 24"/>
          <p:cNvGrpSpPr/>
          <p:nvPr/>
        </p:nvGrpSpPr>
        <p:grpSpPr>
          <a:xfrm>
            <a:off x="7197436" y="5000104"/>
            <a:ext cx="1222375" cy="420370"/>
            <a:chOff x="5673435" y="5000104"/>
            <a:chExt cx="1222375" cy="420370"/>
          </a:xfrm>
        </p:grpSpPr>
        <p:pic>
          <p:nvPicPr>
            <p:cNvPr id="25" name="object 25"/>
            <p:cNvPicPr/>
            <p:nvPr/>
          </p:nvPicPr>
          <p:blipFill>
            <a:blip r:embed="rId11" cstate="print"/>
            <a:stretch>
              <a:fillRect/>
            </a:stretch>
          </p:blipFill>
          <p:spPr>
            <a:xfrm>
              <a:off x="5673435" y="5016731"/>
              <a:ext cx="1221970" cy="382385"/>
            </a:xfrm>
            <a:prstGeom prst="rect">
              <a:avLst/>
            </a:prstGeom>
          </p:spPr>
        </p:pic>
        <p:pic>
          <p:nvPicPr>
            <p:cNvPr id="26" name="object 26"/>
            <p:cNvPicPr/>
            <p:nvPr/>
          </p:nvPicPr>
          <p:blipFill>
            <a:blip r:embed="rId12" cstate="print"/>
            <a:stretch>
              <a:fillRect/>
            </a:stretch>
          </p:blipFill>
          <p:spPr>
            <a:xfrm>
              <a:off x="5744094" y="5000104"/>
              <a:ext cx="777239" cy="419792"/>
            </a:xfrm>
            <a:prstGeom prst="rect">
              <a:avLst/>
            </a:prstGeom>
          </p:spPr>
        </p:pic>
        <p:sp>
          <p:nvSpPr>
            <p:cNvPr id="27" name="object 27"/>
            <p:cNvSpPr/>
            <p:nvPr/>
          </p:nvSpPr>
          <p:spPr>
            <a:xfrm>
              <a:off x="5701960" y="5070486"/>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28" name="object 28"/>
          <p:cNvSpPr txBox="1"/>
          <p:nvPr/>
        </p:nvSpPr>
        <p:spPr>
          <a:xfrm>
            <a:off x="7232311" y="5058683"/>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4:</a:t>
            </a:r>
            <a:r>
              <a:rPr spc="-5" dirty="0">
                <a:latin typeface="Arial"/>
                <a:cs typeface="Arial"/>
              </a:rPr>
              <a:t> </a:t>
            </a:r>
            <a:r>
              <a:rPr b="1" spc="-25" dirty="0">
                <a:latin typeface="Arial"/>
                <a:cs typeface="Arial"/>
              </a:rPr>
              <a:t>214</a:t>
            </a:r>
            <a:endParaRPr>
              <a:latin typeface="Arial"/>
              <a:cs typeface="Arial"/>
            </a:endParaRPr>
          </a:p>
        </p:txBody>
      </p:sp>
      <p:grpSp>
        <p:nvGrpSpPr>
          <p:cNvPr id="29" name="object 29"/>
          <p:cNvGrpSpPr/>
          <p:nvPr/>
        </p:nvGrpSpPr>
        <p:grpSpPr>
          <a:xfrm>
            <a:off x="7197436" y="5278581"/>
            <a:ext cx="1222375" cy="424180"/>
            <a:chOff x="5673435" y="5278581"/>
            <a:chExt cx="1222375" cy="424180"/>
          </a:xfrm>
        </p:grpSpPr>
        <p:pic>
          <p:nvPicPr>
            <p:cNvPr id="30" name="object 30"/>
            <p:cNvPicPr/>
            <p:nvPr/>
          </p:nvPicPr>
          <p:blipFill>
            <a:blip r:embed="rId13" cstate="print"/>
            <a:stretch>
              <a:fillRect/>
            </a:stretch>
          </p:blipFill>
          <p:spPr>
            <a:xfrm>
              <a:off x="5673435" y="5299363"/>
              <a:ext cx="1221970" cy="378229"/>
            </a:xfrm>
            <a:prstGeom prst="rect">
              <a:avLst/>
            </a:prstGeom>
          </p:spPr>
        </p:pic>
        <p:pic>
          <p:nvPicPr>
            <p:cNvPr id="31" name="object 31"/>
            <p:cNvPicPr/>
            <p:nvPr/>
          </p:nvPicPr>
          <p:blipFill>
            <a:blip r:embed="rId14" cstate="print"/>
            <a:stretch>
              <a:fillRect/>
            </a:stretch>
          </p:blipFill>
          <p:spPr>
            <a:xfrm>
              <a:off x="5744094" y="5278581"/>
              <a:ext cx="270163" cy="423949"/>
            </a:xfrm>
            <a:prstGeom prst="rect">
              <a:avLst/>
            </a:prstGeom>
          </p:spPr>
        </p:pic>
        <p:sp>
          <p:nvSpPr>
            <p:cNvPr id="32" name="object 32"/>
            <p:cNvSpPr/>
            <p:nvPr/>
          </p:nvSpPr>
          <p:spPr>
            <a:xfrm>
              <a:off x="5701960" y="5349421"/>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33" name="object 33"/>
          <p:cNvSpPr txBox="1"/>
          <p:nvPr/>
        </p:nvSpPr>
        <p:spPr>
          <a:xfrm>
            <a:off x="7232311" y="5337618"/>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5</a:t>
            </a:r>
            <a:endParaRPr>
              <a:latin typeface="Arial"/>
              <a:cs typeface="Arial"/>
            </a:endParaRPr>
          </a:p>
        </p:txBody>
      </p:sp>
      <p:grpSp>
        <p:nvGrpSpPr>
          <p:cNvPr id="34" name="object 34"/>
          <p:cNvGrpSpPr/>
          <p:nvPr/>
        </p:nvGrpSpPr>
        <p:grpSpPr>
          <a:xfrm>
            <a:off x="7197436" y="5557058"/>
            <a:ext cx="1222375" cy="420370"/>
            <a:chOff x="5673435" y="5557058"/>
            <a:chExt cx="1222375" cy="420370"/>
          </a:xfrm>
        </p:grpSpPr>
        <p:pic>
          <p:nvPicPr>
            <p:cNvPr id="35" name="object 35"/>
            <p:cNvPicPr/>
            <p:nvPr/>
          </p:nvPicPr>
          <p:blipFill>
            <a:blip r:embed="rId15" cstate="print"/>
            <a:stretch>
              <a:fillRect/>
            </a:stretch>
          </p:blipFill>
          <p:spPr>
            <a:xfrm>
              <a:off x="5673435" y="5573683"/>
              <a:ext cx="1221970" cy="382385"/>
            </a:xfrm>
            <a:prstGeom prst="rect">
              <a:avLst/>
            </a:prstGeom>
          </p:spPr>
        </p:pic>
        <p:pic>
          <p:nvPicPr>
            <p:cNvPr id="36" name="object 36"/>
            <p:cNvPicPr/>
            <p:nvPr/>
          </p:nvPicPr>
          <p:blipFill>
            <a:blip r:embed="rId16" cstate="print"/>
            <a:stretch>
              <a:fillRect/>
            </a:stretch>
          </p:blipFill>
          <p:spPr>
            <a:xfrm>
              <a:off x="5744094" y="5557058"/>
              <a:ext cx="270163" cy="419792"/>
            </a:xfrm>
            <a:prstGeom prst="rect">
              <a:avLst/>
            </a:prstGeom>
          </p:spPr>
        </p:pic>
      </p:grpSp>
      <p:sp>
        <p:nvSpPr>
          <p:cNvPr id="37" name="object 37"/>
          <p:cNvSpPr txBox="1"/>
          <p:nvPr/>
        </p:nvSpPr>
        <p:spPr>
          <a:xfrm>
            <a:off x="7225961" y="5625804"/>
            <a:ext cx="1118235" cy="276860"/>
          </a:xfrm>
          <a:prstGeom prst="rect">
            <a:avLst/>
          </a:prstGeom>
          <a:ln w="12699">
            <a:solidFill>
              <a:srgbClr val="000000"/>
            </a:solidFill>
          </a:ln>
        </p:spPr>
        <p:txBody>
          <a:bodyPr vert="horz" wrap="square" lIns="0" tIns="1270" rIns="0" bIns="0" rtlCol="0">
            <a:spAutoFit/>
          </a:bodyPr>
          <a:lstStyle/>
          <a:p>
            <a:pPr marL="90805">
              <a:spcBef>
                <a:spcPts val="10"/>
              </a:spcBef>
            </a:pPr>
            <a:r>
              <a:rPr dirty="0">
                <a:latin typeface="Arial"/>
                <a:cs typeface="Arial"/>
              </a:rPr>
              <a:t>6</a:t>
            </a:r>
            <a:endParaRPr>
              <a:latin typeface="Arial"/>
              <a:cs typeface="Arial"/>
            </a:endParaRPr>
          </a:p>
        </p:txBody>
      </p:sp>
      <p:grpSp>
        <p:nvGrpSpPr>
          <p:cNvPr id="38" name="object 38"/>
          <p:cNvGrpSpPr/>
          <p:nvPr/>
        </p:nvGrpSpPr>
        <p:grpSpPr>
          <a:xfrm>
            <a:off x="7197436" y="5831377"/>
            <a:ext cx="1222375" cy="424180"/>
            <a:chOff x="5673435" y="5831377"/>
            <a:chExt cx="1222375" cy="424180"/>
          </a:xfrm>
        </p:grpSpPr>
        <p:pic>
          <p:nvPicPr>
            <p:cNvPr id="39" name="object 39"/>
            <p:cNvPicPr/>
            <p:nvPr/>
          </p:nvPicPr>
          <p:blipFill>
            <a:blip r:embed="rId17" cstate="print"/>
            <a:stretch>
              <a:fillRect/>
            </a:stretch>
          </p:blipFill>
          <p:spPr>
            <a:xfrm>
              <a:off x="5673435" y="5852159"/>
              <a:ext cx="1221970" cy="378229"/>
            </a:xfrm>
            <a:prstGeom prst="rect">
              <a:avLst/>
            </a:prstGeom>
          </p:spPr>
        </p:pic>
        <p:pic>
          <p:nvPicPr>
            <p:cNvPr id="40" name="object 40"/>
            <p:cNvPicPr/>
            <p:nvPr/>
          </p:nvPicPr>
          <p:blipFill>
            <a:blip r:embed="rId18" cstate="print"/>
            <a:stretch>
              <a:fillRect/>
            </a:stretch>
          </p:blipFill>
          <p:spPr>
            <a:xfrm>
              <a:off x="5744094" y="5831377"/>
              <a:ext cx="270163" cy="423949"/>
            </a:xfrm>
            <a:prstGeom prst="rect">
              <a:avLst/>
            </a:prstGeom>
          </p:spPr>
        </p:pic>
      </p:grpSp>
      <p:sp>
        <p:nvSpPr>
          <p:cNvPr id="41" name="object 41"/>
          <p:cNvSpPr txBox="1"/>
          <p:nvPr/>
        </p:nvSpPr>
        <p:spPr>
          <a:xfrm>
            <a:off x="7225961" y="5902188"/>
            <a:ext cx="1118235" cy="276860"/>
          </a:xfrm>
          <a:prstGeom prst="rect">
            <a:avLst/>
          </a:prstGeom>
          <a:ln w="12699">
            <a:solidFill>
              <a:srgbClr val="000000"/>
            </a:solidFill>
          </a:ln>
        </p:spPr>
        <p:txBody>
          <a:bodyPr vert="horz" wrap="square" lIns="0" tIns="635" rIns="0" bIns="0" rtlCol="0">
            <a:spAutoFit/>
          </a:bodyPr>
          <a:lstStyle/>
          <a:p>
            <a:pPr marL="90805">
              <a:spcBef>
                <a:spcPts val="5"/>
              </a:spcBef>
            </a:pPr>
            <a:r>
              <a:rPr dirty="0">
                <a:latin typeface="Arial"/>
                <a:cs typeface="Arial"/>
              </a:rPr>
              <a:t>7</a:t>
            </a:r>
            <a:endParaRPr>
              <a:latin typeface="Arial"/>
              <a:cs typeface="Arial"/>
            </a:endParaRPr>
          </a:p>
        </p:txBody>
      </p:sp>
      <p:grpSp>
        <p:nvGrpSpPr>
          <p:cNvPr id="42" name="object 42"/>
          <p:cNvGrpSpPr/>
          <p:nvPr/>
        </p:nvGrpSpPr>
        <p:grpSpPr>
          <a:xfrm>
            <a:off x="7197436" y="6109854"/>
            <a:ext cx="1222375" cy="420370"/>
            <a:chOff x="5673435" y="6109854"/>
            <a:chExt cx="1222375" cy="420370"/>
          </a:xfrm>
        </p:grpSpPr>
        <p:pic>
          <p:nvPicPr>
            <p:cNvPr id="43" name="object 43"/>
            <p:cNvPicPr/>
            <p:nvPr/>
          </p:nvPicPr>
          <p:blipFill>
            <a:blip r:embed="rId19" cstate="print"/>
            <a:stretch>
              <a:fillRect/>
            </a:stretch>
          </p:blipFill>
          <p:spPr>
            <a:xfrm>
              <a:off x="5673435" y="6126480"/>
              <a:ext cx="1221970" cy="382385"/>
            </a:xfrm>
            <a:prstGeom prst="rect">
              <a:avLst/>
            </a:prstGeom>
          </p:spPr>
        </p:pic>
        <p:pic>
          <p:nvPicPr>
            <p:cNvPr id="44" name="object 44"/>
            <p:cNvPicPr/>
            <p:nvPr/>
          </p:nvPicPr>
          <p:blipFill>
            <a:blip r:embed="rId20" cstate="print"/>
            <a:stretch>
              <a:fillRect/>
            </a:stretch>
          </p:blipFill>
          <p:spPr>
            <a:xfrm>
              <a:off x="5744094" y="6109854"/>
              <a:ext cx="270163" cy="419792"/>
            </a:xfrm>
            <a:prstGeom prst="rect">
              <a:avLst/>
            </a:prstGeom>
          </p:spPr>
        </p:pic>
        <p:sp>
          <p:nvSpPr>
            <p:cNvPr id="45" name="object 45"/>
            <p:cNvSpPr/>
            <p:nvPr/>
          </p:nvSpPr>
          <p:spPr>
            <a:xfrm>
              <a:off x="5701960" y="6178842"/>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46" name="object 46"/>
          <p:cNvSpPr txBox="1"/>
          <p:nvPr/>
        </p:nvSpPr>
        <p:spPr>
          <a:xfrm>
            <a:off x="7232311" y="6167039"/>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8</a:t>
            </a:r>
            <a:endParaRPr>
              <a:latin typeface="Arial"/>
              <a:cs typeface="Arial"/>
            </a:endParaRPr>
          </a:p>
        </p:txBody>
      </p:sp>
      <p:grpSp>
        <p:nvGrpSpPr>
          <p:cNvPr id="47" name="object 47"/>
          <p:cNvGrpSpPr/>
          <p:nvPr/>
        </p:nvGrpSpPr>
        <p:grpSpPr>
          <a:xfrm>
            <a:off x="7197436" y="6400800"/>
            <a:ext cx="1222375" cy="420370"/>
            <a:chOff x="5673435" y="6400800"/>
            <a:chExt cx="1222375" cy="420370"/>
          </a:xfrm>
        </p:grpSpPr>
        <p:pic>
          <p:nvPicPr>
            <p:cNvPr id="48" name="object 48"/>
            <p:cNvPicPr/>
            <p:nvPr/>
          </p:nvPicPr>
          <p:blipFill>
            <a:blip r:embed="rId21" cstate="print"/>
            <a:stretch>
              <a:fillRect/>
            </a:stretch>
          </p:blipFill>
          <p:spPr>
            <a:xfrm>
              <a:off x="5673435" y="6417425"/>
              <a:ext cx="1221970" cy="382385"/>
            </a:xfrm>
            <a:prstGeom prst="rect">
              <a:avLst/>
            </a:prstGeom>
          </p:spPr>
        </p:pic>
        <p:pic>
          <p:nvPicPr>
            <p:cNvPr id="49" name="object 49"/>
            <p:cNvPicPr/>
            <p:nvPr/>
          </p:nvPicPr>
          <p:blipFill>
            <a:blip r:embed="rId22" cstate="print"/>
            <a:stretch>
              <a:fillRect/>
            </a:stretch>
          </p:blipFill>
          <p:spPr>
            <a:xfrm>
              <a:off x="5744094" y="6400800"/>
              <a:ext cx="777239" cy="419792"/>
            </a:xfrm>
            <a:prstGeom prst="rect">
              <a:avLst/>
            </a:prstGeom>
          </p:spPr>
        </p:pic>
        <p:sp>
          <p:nvSpPr>
            <p:cNvPr id="50" name="object 50"/>
            <p:cNvSpPr/>
            <p:nvPr/>
          </p:nvSpPr>
          <p:spPr>
            <a:xfrm>
              <a:off x="5701960" y="6470375"/>
              <a:ext cx="1118235" cy="276225"/>
            </a:xfrm>
            <a:custGeom>
              <a:avLst/>
              <a:gdLst/>
              <a:ahLst/>
              <a:cxnLst/>
              <a:rect l="l" t="t" r="r" b="b"/>
              <a:pathLst>
                <a:path w="1118234"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51" name="object 51"/>
          <p:cNvSpPr txBox="1"/>
          <p:nvPr/>
        </p:nvSpPr>
        <p:spPr>
          <a:xfrm>
            <a:off x="7232311" y="6458573"/>
            <a:ext cx="1105535" cy="299720"/>
          </a:xfrm>
          <a:prstGeom prst="rect">
            <a:avLst/>
          </a:prstGeom>
        </p:spPr>
        <p:txBody>
          <a:bodyPr vert="horz" wrap="square" lIns="0" tIns="12700" rIns="0" bIns="0" rtlCol="0">
            <a:spAutoFit/>
          </a:bodyPr>
          <a:lstStyle/>
          <a:p>
            <a:pPr marL="84455">
              <a:spcBef>
                <a:spcPts val="100"/>
              </a:spcBef>
            </a:pPr>
            <a:r>
              <a:rPr dirty="0">
                <a:latin typeface="Arial"/>
                <a:cs typeface="Arial"/>
              </a:rPr>
              <a:t>9:</a:t>
            </a:r>
            <a:r>
              <a:rPr spc="-5" dirty="0">
                <a:latin typeface="Arial"/>
                <a:cs typeface="Arial"/>
              </a:rPr>
              <a:t> </a:t>
            </a:r>
            <a:r>
              <a:rPr b="1" spc="-25" dirty="0">
                <a:latin typeface="Arial"/>
                <a:cs typeface="Arial"/>
              </a:rPr>
              <a:t>519</a:t>
            </a:r>
            <a:endParaRPr>
              <a:latin typeface="Arial"/>
              <a:cs typeface="Arial"/>
            </a:endParaRPr>
          </a:p>
        </p:txBody>
      </p:sp>
      <p:grpSp>
        <p:nvGrpSpPr>
          <p:cNvPr id="52" name="object 52"/>
          <p:cNvGrpSpPr/>
          <p:nvPr/>
        </p:nvGrpSpPr>
        <p:grpSpPr>
          <a:xfrm>
            <a:off x="4520738" y="4667596"/>
            <a:ext cx="1222375" cy="902335"/>
            <a:chOff x="2996737" y="4667595"/>
            <a:chExt cx="1222375" cy="902335"/>
          </a:xfrm>
        </p:grpSpPr>
        <p:pic>
          <p:nvPicPr>
            <p:cNvPr id="53" name="object 53"/>
            <p:cNvPicPr/>
            <p:nvPr/>
          </p:nvPicPr>
          <p:blipFill>
            <a:blip r:embed="rId23" cstate="print"/>
            <a:stretch>
              <a:fillRect/>
            </a:stretch>
          </p:blipFill>
          <p:spPr>
            <a:xfrm>
              <a:off x="2996737" y="4667595"/>
              <a:ext cx="1221970" cy="901930"/>
            </a:xfrm>
            <a:prstGeom prst="rect">
              <a:avLst/>
            </a:prstGeom>
          </p:spPr>
        </p:pic>
        <p:pic>
          <p:nvPicPr>
            <p:cNvPr id="54" name="object 54"/>
            <p:cNvPicPr/>
            <p:nvPr/>
          </p:nvPicPr>
          <p:blipFill>
            <a:blip r:embed="rId24" cstate="print"/>
            <a:stretch>
              <a:fillRect/>
            </a:stretch>
          </p:blipFill>
          <p:spPr>
            <a:xfrm>
              <a:off x="3117272" y="4771504"/>
              <a:ext cx="1005839" cy="689956"/>
            </a:xfrm>
            <a:prstGeom prst="rect">
              <a:avLst/>
            </a:prstGeom>
          </p:spPr>
        </p:pic>
      </p:grpSp>
      <p:sp>
        <p:nvSpPr>
          <p:cNvPr id="55" name="object 55"/>
          <p:cNvSpPr txBox="1"/>
          <p:nvPr/>
        </p:nvSpPr>
        <p:spPr>
          <a:xfrm>
            <a:off x="4547813" y="4721371"/>
            <a:ext cx="1118235" cy="677750"/>
          </a:xfrm>
          <a:prstGeom prst="rect">
            <a:avLst/>
          </a:prstGeom>
          <a:ln w="12699">
            <a:solidFill>
              <a:srgbClr val="000000"/>
            </a:solidFill>
          </a:ln>
        </p:spPr>
        <p:txBody>
          <a:bodyPr vert="horz" wrap="square" lIns="0" tIns="137795" rIns="0" bIns="0" rtlCol="0">
            <a:spAutoFit/>
          </a:bodyPr>
          <a:lstStyle/>
          <a:p>
            <a:pPr marL="154940" marR="141605" indent="111125">
              <a:lnSpc>
                <a:spcPts val="2100"/>
              </a:lnSpc>
              <a:spcBef>
                <a:spcPts val="1085"/>
              </a:spcBef>
            </a:pPr>
            <a:r>
              <a:rPr i="1" dirty="0">
                <a:latin typeface="Arial"/>
                <a:cs typeface="Arial"/>
              </a:rPr>
              <a:t>h(x)</a:t>
            </a:r>
            <a:r>
              <a:rPr i="1" spc="-5" dirty="0">
                <a:latin typeface="Arial"/>
                <a:cs typeface="Arial"/>
              </a:rPr>
              <a:t> </a:t>
            </a:r>
            <a:r>
              <a:rPr i="1" spc="-50" dirty="0">
                <a:latin typeface="Arial"/>
                <a:cs typeface="Arial"/>
              </a:rPr>
              <a:t>= </a:t>
            </a:r>
            <a:r>
              <a:rPr i="1" spc="-10" dirty="0">
                <a:latin typeface="Arial"/>
                <a:cs typeface="Arial"/>
              </a:rPr>
              <a:t>key%10</a:t>
            </a:r>
            <a:endParaRPr>
              <a:latin typeface="Arial"/>
              <a:cs typeface="Arial"/>
            </a:endParaRPr>
          </a:p>
        </p:txBody>
      </p:sp>
      <p:grpSp>
        <p:nvGrpSpPr>
          <p:cNvPr id="56" name="object 56"/>
          <p:cNvGrpSpPr/>
          <p:nvPr/>
        </p:nvGrpSpPr>
        <p:grpSpPr>
          <a:xfrm>
            <a:off x="2380211" y="4738254"/>
            <a:ext cx="1222375" cy="424180"/>
            <a:chOff x="856210" y="4738254"/>
            <a:chExt cx="1222375" cy="424180"/>
          </a:xfrm>
        </p:grpSpPr>
        <p:pic>
          <p:nvPicPr>
            <p:cNvPr id="57" name="object 57"/>
            <p:cNvPicPr/>
            <p:nvPr/>
          </p:nvPicPr>
          <p:blipFill>
            <a:blip r:embed="rId25" cstate="print"/>
            <a:stretch>
              <a:fillRect/>
            </a:stretch>
          </p:blipFill>
          <p:spPr>
            <a:xfrm>
              <a:off x="856210" y="4759036"/>
              <a:ext cx="1221970" cy="378229"/>
            </a:xfrm>
            <a:prstGeom prst="rect">
              <a:avLst/>
            </a:prstGeom>
          </p:spPr>
        </p:pic>
        <p:pic>
          <p:nvPicPr>
            <p:cNvPr id="58" name="object 58"/>
            <p:cNvPicPr/>
            <p:nvPr/>
          </p:nvPicPr>
          <p:blipFill>
            <a:blip r:embed="rId26" cstate="print"/>
            <a:stretch>
              <a:fillRect/>
            </a:stretch>
          </p:blipFill>
          <p:spPr>
            <a:xfrm>
              <a:off x="1205345" y="4738254"/>
              <a:ext cx="523701" cy="423949"/>
            </a:xfrm>
            <a:prstGeom prst="rect">
              <a:avLst/>
            </a:prstGeom>
          </p:spPr>
        </p:pic>
      </p:grpSp>
      <p:sp>
        <p:nvSpPr>
          <p:cNvPr id="59" name="object 59"/>
          <p:cNvSpPr txBox="1"/>
          <p:nvPr/>
        </p:nvSpPr>
        <p:spPr>
          <a:xfrm>
            <a:off x="2407512" y="4801818"/>
            <a:ext cx="1118235" cy="276860"/>
          </a:xfrm>
          <a:prstGeom prst="rect">
            <a:avLst/>
          </a:prstGeom>
          <a:ln w="12699">
            <a:solidFill>
              <a:srgbClr val="000000"/>
            </a:solidFill>
          </a:ln>
        </p:spPr>
        <p:txBody>
          <a:bodyPr vert="horz" wrap="square" lIns="0" tIns="8890" rIns="0" bIns="0" rtlCol="0">
            <a:spAutoFit/>
          </a:bodyPr>
          <a:lstStyle/>
          <a:p>
            <a:pPr marL="370840">
              <a:lnSpc>
                <a:spcPts val="2105"/>
              </a:lnSpc>
              <a:spcBef>
                <a:spcPts val="70"/>
              </a:spcBef>
            </a:pPr>
            <a:r>
              <a:rPr spc="-25" dirty="0">
                <a:latin typeface="Arial"/>
                <a:cs typeface="Arial"/>
              </a:rPr>
              <a:t>519</a:t>
            </a:r>
            <a:endParaRPr>
              <a:latin typeface="Arial"/>
              <a:cs typeface="Arial"/>
            </a:endParaRPr>
          </a:p>
        </p:txBody>
      </p:sp>
      <p:grpSp>
        <p:nvGrpSpPr>
          <p:cNvPr id="60" name="object 60"/>
          <p:cNvGrpSpPr/>
          <p:nvPr/>
        </p:nvGrpSpPr>
        <p:grpSpPr>
          <a:xfrm>
            <a:off x="2380211" y="4172989"/>
            <a:ext cx="4845685" cy="2501900"/>
            <a:chOff x="856210" y="4172989"/>
            <a:chExt cx="4845685" cy="2501900"/>
          </a:xfrm>
        </p:grpSpPr>
        <p:sp>
          <p:nvSpPr>
            <p:cNvPr id="61" name="object 61"/>
            <p:cNvSpPr/>
            <p:nvPr/>
          </p:nvSpPr>
          <p:spPr>
            <a:xfrm>
              <a:off x="2001705" y="4947862"/>
              <a:ext cx="994410" cy="170815"/>
            </a:xfrm>
            <a:custGeom>
              <a:avLst/>
              <a:gdLst/>
              <a:ahLst/>
              <a:cxnLst/>
              <a:rect l="l" t="t" r="r" b="b"/>
              <a:pathLst>
                <a:path w="994410" h="170814">
                  <a:moveTo>
                    <a:pt x="0" y="0"/>
                  </a:moveTo>
                  <a:lnTo>
                    <a:pt x="511174" y="0"/>
                  </a:lnTo>
                  <a:lnTo>
                    <a:pt x="511174" y="170656"/>
                  </a:lnTo>
                  <a:lnTo>
                    <a:pt x="993994" y="170656"/>
                  </a:lnTo>
                </a:path>
              </a:pathLst>
            </a:custGeom>
            <a:ln w="28574">
              <a:solidFill>
                <a:srgbClr val="8D8D8D"/>
              </a:solidFill>
            </a:ln>
          </p:spPr>
          <p:txBody>
            <a:bodyPr wrap="square" lIns="0" tIns="0" rIns="0" bIns="0" rtlCol="0"/>
            <a:lstStyle/>
            <a:p>
              <a:endParaRPr/>
            </a:p>
          </p:txBody>
        </p:sp>
        <p:pic>
          <p:nvPicPr>
            <p:cNvPr id="62" name="object 62"/>
            <p:cNvPicPr/>
            <p:nvPr/>
          </p:nvPicPr>
          <p:blipFill>
            <a:blip r:embed="rId27" cstate="print"/>
            <a:stretch>
              <a:fillRect/>
            </a:stretch>
          </p:blipFill>
          <p:spPr>
            <a:xfrm>
              <a:off x="2893658" y="5052194"/>
              <a:ext cx="130397" cy="132647"/>
            </a:xfrm>
            <a:prstGeom prst="rect">
              <a:avLst/>
            </a:prstGeom>
          </p:spPr>
        </p:pic>
        <p:sp>
          <p:nvSpPr>
            <p:cNvPr id="63" name="object 63"/>
            <p:cNvSpPr/>
            <p:nvPr/>
          </p:nvSpPr>
          <p:spPr>
            <a:xfrm>
              <a:off x="4142005" y="5118496"/>
              <a:ext cx="1531620" cy="1490345"/>
            </a:xfrm>
            <a:custGeom>
              <a:avLst/>
              <a:gdLst/>
              <a:ahLst/>
              <a:cxnLst/>
              <a:rect l="l" t="t" r="r" b="b"/>
              <a:pathLst>
                <a:path w="1531620" h="1490345">
                  <a:moveTo>
                    <a:pt x="0" y="0"/>
                  </a:moveTo>
                  <a:lnTo>
                    <a:pt x="780256" y="0"/>
                  </a:lnTo>
                  <a:lnTo>
                    <a:pt x="780256" y="1489868"/>
                  </a:lnTo>
                  <a:lnTo>
                    <a:pt x="1531362" y="1489868"/>
                  </a:lnTo>
                </a:path>
              </a:pathLst>
            </a:custGeom>
            <a:ln w="28574">
              <a:solidFill>
                <a:srgbClr val="8D8D8D"/>
              </a:solidFill>
            </a:ln>
          </p:spPr>
          <p:txBody>
            <a:bodyPr wrap="square" lIns="0" tIns="0" rIns="0" bIns="0" rtlCol="0"/>
            <a:lstStyle/>
            <a:p>
              <a:endParaRPr/>
            </a:p>
          </p:txBody>
        </p:sp>
        <p:pic>
          <p:nvPicPr>
            <p:cNvPr id="64" name="object 64"/>
            <p:cNvPicPr/>
            <p:nvPr/>
          </p:nvPicPr>
          <p:blipFill>
            <a:blip r:embed="rId27" cstate="print"/>
            <a:stretch>
              <a:fillRect/>
            </a:stretch>
          </p:blipFill>
          <p:spPr>
            <a:xfrm>
              <a:off x="5571327" y="6542041"/>
              <a:ext cx="130397" cy="132646"/>
            </a:xfrm>
            <a:prstGeom prst="rect">
              <a:avLst/>
            </a:prstGeom>
          </p:spPr>
        </p:pic>
        <p:pic>
          <p:nvPicPr>
            <p:cNvPr id="65" name="object 65"/>
            <p:cNvPicPr/>
            <p:nvPr/>
          </p:nvPicPr>
          <p:blipFill>
            <a:blip r:embed="rId28" cstate="print"/>
            <a:stretch>
              <a:fillRect/>
            </a:stretch>
          </p:blipFill>
          <p:spPr>
            <a:xfrm>
              <a:off x="856210" y="4189614"/>
              <a:ext cx="1221970" cy="378229"/>
            </a:xfrm>
            <a:prstGeom prst="rect">
              <a:avLst/>
            </a:prstGeom>
          </p:spPr>
        </p:pic>
        <p:pic>
          <p:nvPicPr>
            <p:cNvPr id="66" name="object 66"/>
            <p:cNvPicPr/>
            <p:nvPr/>
          </p:nvPicPr>
          <p:blipFill>
            <a:blip r:embed="rId29" cstate="print"/>
            <a:stretch>
              <a:fillRect/>
            </a:stretch>
          </p:blipFill>
          <p:spPr>
            <a:xfrm>
              <a:off x="1205345" y="4172989"/>
              <a:ext cx="523701" cy="419792"/>
            </a:xfrm>
            <a:prstGeom prst="rect">
              <a:avLst/>
            </a:prstGeom>
          </p:spPr>
        </p:pic>
        <p:sp>
          <p:nvSpPr>
            <p:cNvPr id="67" name="object 67"/>
            <p:cNvSpPr/>
            <p:nvPr/>
          </p:nvSpPr>
          <p:spPr>
            <a:xfrm>
              <a:off x="883511" y="4241601"/>
              <a:ext cx="1118235" cy="276225"/>
            </a:xfrm>
            <a:custGeom>
              <a:avLst/>
              <a:gdLst/>
              <a:ahLst/>
              <a:cxnLst/>
              <a:rect l="l" t="t" r="r" b="b"/>
              <a:pathLst>
                <a:path w="1118235"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68" name="object 68"/>
          <p:cNvSpPr txBox="1"/>
          <p:nvPr/>
        </p:nvSpPr>
        <p:spPr>
          <a:xfrm>
            <a:off x="2407512" y="3949532"/>
            <a:ext cx="1118235" cy="585417"/>
          </a:xfrm>
          <a:prstGeom prst="rect">
            <a:avLst/>
          </a:prstGeom>
          <a:ln w="12699">
            <a:solidFill>
              <a:srgbClr val="000000"/>
            </a:solidFill>
          </a:ln>
        </p:spPr>
        <p:txBody>
          <a:bodyPr vert="horz" wrap="square" lIns="0" tIns="635" rIns="0" bIns="0" rtlCol="0">
            <a:spAutoFit/>
          </a:bodyPr>
          <a:lstStyle/>
          <a:p>
            <a:pPr>
              <a:spcBef>
                <a:spcPts val="5"/>
              </a:spcBef>
            </a:pPr>
            <a:endParaRPr sz="2000">
              <a:latin typeface="Times New Roman"/>
              <a:cs typeface="Times New Roman"/>
            </a:endParaRPr>
          </a:p>
          <a:p>
            <a:pPr marL="370840"/>
            <a:r>
              <a:rPr spc="-25" dirty="0">
                <a:latin typeface="Arial"/>
                <a:cs typeface="Arial"/>
              </a:rPr>
              <a:t>214</a:t>
            </a:r>
            <a:endParaRPr>
              <a:latin typeface="Arial"/>
              <a:cs typeface="Arial"/>
            </a:endParaRPr>
          </a:p>
        </p:txBody>
      </p:sp>
      <p:grpSp>
        <p:nvGrpSpPr>
          <p:cNvPr id="69" name="object 69"/>
          <p:cNvGrpSpPr/>
          <p:nvPr/>
        </p:nvGrpSpPr>
        <p:grpSpPr>
          <a:xfrm>
            <a:off x="2380210" y="4365372"/>
            <a:ext cx="2167890" cy="1362710"/>
            <a:chOff x="856210" y="4365372"/>
            <a:chExt cx="2167890" cy="1362710"/>
          </a:xfrm>
        </p:grpSpPr>
        <p:sp>
          <p:nvSpPr>
            <p:cNvPr id="70" name="object 70"/>
            <p:cNvSpPr/>
            <p:nvPr/>
          </p:nvSpPr>
          <p:spPr>
            <a:xfrm>
              <a:off x="2001705" y="4379659"/>
              <a:ext cx="994410" cy="739140"/>
            </a:xfrm>
            <a:custGeom>
              <a:avLst/>
              <a:gdLst/>
              <a:ahLst/>
              <a:cxnLst/>
              <a:rect l="l" t="t" r="r" b="b"/>
              <a:pathLst>
                <a:path w="994410" h="739139">
                  <a:moveTo>
                    <a:pt x="0" y="0"/>
                  </a:moveTo>
                  <a:lnTo>
                    <a:pt x="511174" y="0"/>
                  </a:lnTo>
                  <a:lnTo>
                    <a:pt x="511174" y="738981"/>
                  </a:lnTo>
                  <a:lnTo>
                    <a:pt x="993994" y="738981"/>
                  </a:lnTo>
                </a:path>
              </a:pathLst>
            </a:custGeom>
            <a:ln w="28574">
              <a:solidFill>
                <a:srgbClr val="8D8D8D"/>
              </a:solidFill>
            </a:ln>
          </p:spPr>
          <p:txBody>
            <a:bodyPr wrap="square" lIns="0" tIns="0" rIns="0" bIns="0" rtlCol="0"/>
            <a:lstStyle/>
            <a:p>
              <a:endParaRPr/>
            </a:p>
          </p:txBody>
        </p:sp>
        <p:pic>
          <p:nvPicPr>
            <p:cNvPr id="71" name="object 71"/>
            <p:cNvPicPr/>
            <p:nvPr/>
          </p:nvPicPr>
          <p:blipFill>
            <a:blip r:embed="rId27" cstate="print"/>
            <a:stretch>
              <a:fillRect/>
            </a:stretch>
          </p:blipFill>
          <p:spPr>
            <a:xfrm>
              <a:off x="2893658" y="5052317"/>
              <a:ext cx="130397" cy="132647"/>
            </a:xfrm>
            <a:prstGeom prst="rect">
              <a:avLst/>
            </a:prstGeom>
          </p:spPr>
        </p:pic>
        <p:pic>
          <p:nvPicPr>
            <p:cNvPr id="72" name="object 72"/>
            <p:cNvPicPr/>
            <p:nvPr/>
          </p:nvPicPr>
          <p:blipFill>
            <a:blip r:embed="rId30" cstate="print"/>
            <a:stretch>
              <a:fillRect/>
            </a:stretch>
          </p:blipFill>
          <p:spPr>
            <a:xfrm>
              <a:off x="856210" y="5324301"/>
              <a:ext cx="1221970" cy="382385"/>
            </a:xfrm>
            <a:prstGeom prst="rect">
              <a:avLst/>
            </a:prstGeom>
          </p:spPr>
        </p:pic>
        <p:pic>
          <p:nvPicPr>
            <p:cNvPr id="73" name="object 73"/>
            <p:cNvPicPr/>
            <p:nvPr/>
          </p:nvPicPr>
          <p:blipFill>
            <a:blip r:embed="rId31" cstate="print"/>
            <a:stretch>
              <a:fillRect/>
            </a:stretch>
          </p:blipFill>
          <p:spPr>
            <a:xfrm>
              <a:off x="1142999" y="5307676"/>
              <a:ext cx="648392" cy="419792"/>
            </a:xfrm>
            <a:prstGeom prst="rect">
              <a:avLst/>
            </a:prstGeom>
          </p:spPr>
        </p:pic>
        <p:sp>
          <p:nvSpPr>
            <p:cNvPr id="74" name="object 74"/>
            <p:cNvSpPr/>
            <p:nvPr/>
          </p:nvSpPr>
          <p:spPr>
            <a:xfrm>
              <a:off x="883511" y="5377562"/>
              <a:ext cx="1118235" cy="276225"/>
            </a:xfrm>
            <a:custGeom>
              <a:avLst/>
              <a:gdLst/>
              <a:ahLst/>
              <a:cxnLst/>
              <a:rect l="l" t="t" r="r" b="b"/>
              <a:pathLst>
                <a:path w="1118235"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75" name="object 75"/>
          <p:cNvSpPr txBox="1"/>
          <p:nvPr/>
        </p:nvSpPr>
        <p:spPr>
          <a:xfrm>
            <a:off x="2715372" y="5365758"/>
            <a:ext cx="521334" cy="299720"/>
          </a:xfrm>
          <a:prstGeom prst="rect">
            <a:avLst/>
          </a:prstGeom>
        </p:spPr>
        <p:txBody>
          <a:bodyPr vert="horz" wrap="square" lIns="0" tIns="12700" rIns="0" bIns="0" rtlCol="0">
            <a:spAutoFit/>
          </a:bodyPr>
          <a:lstStyle/>
          <a:p>
            <a:pPr>
              <a:spcBef>
                <a:spcPts val="100"/>
              </a:spcBef>
            </a:pPr>
            <a:r>
              <a:rPr spc="-20" dirty="0">
                <a:latin typeface="Arial"/>
                <a:cs typeface="Arial"/>
              </a:rPr>
              <a:t>1001</a:t>
            </a:r>
            <a:endParaRPr>
              <a:latin typeface="Arial"/>
              <a:cs typeface="Arial"/>
            </a:endParaRPr>
          </a:p>
        </p:txBody>
      </p:sp>
      <p:grpSp>
        <p:nvGrpSpPr>
          <p:cNvPr id="76" name="object 76"/>
          <p:cNvGrpSpPr/>
          <p:nvPr/>
        </p:nvGrpSpPr>
        <p:grpSpPr>
          <a:xfrm>
            <a:off x="2380211" y="4313192"/>
            <a:ext cx="4845685" cy="2079625"/>
            <a:chOff x="856210" y="4313191"/>
            <a:chExt cx="4845685" cy="2079625"/>
          </a:xfrm>
        </p:grpSpPr>
        <p:sp>
          <p:nvSpPr>
            <p:cNvPr id="77" name="object 77"/>
            <p:cNvSpPr/>
            <p:nvPr/>
          </p:nvSpPr>
          <p:spPr>
            <a:xfrm>
              <a:off x="2001705" y="5118745"/>
              <a:ext cx="994410" cy="396875"/>
            </a:xfrm>
            <a:custGeom>
              <a:avLst/>
              <a:gdLst/>
              <a:ahLst/>
              <a:cxnLst/>
              <a:rect l="l" t="t" r="r" b="b"/>
              <a:pathLst>
                <a:path w="994410" h="396875">
                  <a:moveTo>
                    <a:pt x="0" y="396874"/>
                  </a:moveTo>
                  <a:lnTo>
                    <a:pt x="511174" y="396874"/>
                  </a:lnTo>
                  <a:lnTo>
                    <a:pt x="511174" y="0"/>
                  </a:lnTo>
                  <a:lnTo>
                    <a:pt x="993994" y="0"/>
                  </a:lnTo>
                </a:path>
              </a:pathLst>
            </a:custGeom>
            <a:ln w="28574">
              <a:solidFill>
                <a:srgbClr val="8D8D8D"/>
              </a:solidFill>
            </a:ln>
          </p:spPr>
          <p:txBody>
            <a:bodyPr wrap="square" lIns="0" tIns="0" rIns="0" bIns="0" rtlCol="0"/>
            <a:lstStyle/>
            <a:p>
              <a:endParaRPr/>
            </a:p>
          </p:txBody>
        </p:sp>
        <p:pic>
          <p:nvPicPr>
            <p:cNvPr id="78" name="object 78"/>
            <p:cNvPicPr/>
            <p:nvPr/>
          </p:nvPicPr>
          <p:blipFill>
            <a:blip r:embed="rId27" cstate="print"/>
            <a:stretch>
              <a:fillRect/>
            </a:stretch>
          </p:blipFill>
          <p:spPr>
            <a:xfrm>
              <a:off x="2893658" y="5052421"/>
              <a:ext cx="130397" cy="132646"/>
            </a:xfrm>
            <a:prstGeom prst="rect">
              <a:avLst/>
            </a:prstGeom>
          </p:spPr>
        </p:pic>
        <p:sp>
          <p:nvSpPr>
            <p:cNvPr id="79" name="object 79"/>
            <p:cNvSpPr/>
            <p:nvPr/>
          </p:nvSpPr>
          <p:spPr>
            <a:xfrm>
              <a:off x="4142005" y="4379515"/>
              <a:ext cx="1531620" cy="739140"/>
            </a:xfrm>
            <a:custGeom>
              <a:avLst/>
              <a:gdLst/>
              <a:ahLst/>
              <a:cxnLst/>
              <a:rect l="l" t="t" r="r" b="b"/>
              <a:pathLst>
                <a:path w="1531620" h="739139">
                  <a:moveTo>
                    <a:pt x="0" y="738981"/>
                  </a:moveTo>
                  <a:lnTo>
                    <a:pt x="780256" y="738981"/>
                  </a:lnTo>
                  <a:lnTo>
                    <a:pt x="780256" y="0"/>
                  </a:lnTo>
                  <a:lnTo>
                    <a:pt x="1531362" y="0"/>
                  </a:lnTo>
                </a:path>
              </a:pathLst>
            </a:custGeom>
            <a:ln w="28574">
              <a:solidFill>
                <a:srgbClr val="8D8D8D"/>
              </a:solidFill>
            </a:ln>
          </p:spPr>
          <p:txBody>
            <a:bodyPr wrap="square" lIns="0" tIns="0" rIns="0" bIns="0" rtlCol="0"/>
            <a:lstStyle/>
            <a:p>
              <a:endParaRPr/>
            </a:p>
          </p:txBody>
        </p:sp>
        <p:pic>
          <p:nvPicPr>
            <p:cNvPr id="80" name="object 80"/>
            <p:cNvPicPr/>
            <p:nvPr/>
          </p:nvPicPr>
          <p:blipFill>
            <a:blip r:embed="rId27" cstate="print"/>
            <a:stretch>
              <a:fillRect/>
            </a:stretch>
          </p:blipFill>
          <p:spPr>
            <a:xfrm>
              <a:off x="5571327" y="4313191"/>
              <a:ext cx="130397" cy="132646"/>
            </a:xfrm>
            <a:prstGeom prst="rect">
              <a:avLst/>
            </a:prstGeom>
          </p:spPr>
        </p:pic>
        <p:pic>
          <p:nvPicPr>
            <p:cNvPr id="81" name="object 81"/>
            <p:cNvPicPr/>
            <p:nvPr/>
          </p:nvPicPr>
          <p:blipFill>
            <a:blip r:embed="rId32" cstate="print"/>
            <a:stretch>
              <a:fillRect/>
            </a:stretch>
          </p:blipFill>
          <p:spPr>
            <a:xfrm>
              <a:off x="856210" y="5989319"/>
              <a:ext cx="1221970" cy="378229"/>
            </a:xfrm>
            <a:prstGeom prst="rect">
              <a:avLst/>
            </a:prstGeom>
          </p:spPr>
        </p:pic>
        <p:pic>
          <p:nvPicPr>
            <p:cNvPr id="82" name="object 82"/>
            <p:cNvPicPr/>
            <p:nvPr/>
          </p:nvPicPr>
          <p:blipFill>
            <a:blip r:embed="rId33" cstate="print"/>
            <a:stretch>
              <a:fillRect/>
            </a:stretch>
          </p:blipFill>
          <p:spPr>
            <a:xfrm>
              <a:off x="1142999" y="5968538"/>
              <a:ext cx="648392" cy="423949"/>
            </a:xfrm>
            <a:prstGeom prst="rect">
              <a:avLst/>
            </a:prstGeom>
          </p:spPr>
        </p:pic>
        <p:sp>
          <p:nvSpPr>
            <p:cNvPr id="83" name="object 83"/>
            <p:cNvSpPr/>
            <p:nvPr/>
          </p:nvSpPr>
          <p:spPr>
            <a:xfrm>
              <a:off x="883511" y="6040247"/>
              <a:ext cx="1118235" cy="276225"/>
            </a:xfrm>
            <a:custGeom>
              <a:avLst/>
              <a:gdLst/>
              <a:ahLst/>
              <a:cxnLst/>
              <a:rect l="l" t="t" r="r" b="b"/>
              <a:pathLst>
                <a:path w="1118235" h="276225">
                  <a:moveTo>
                    <a:pt x="0" y="0"/>
                  </a:moveTo>
                  <a:lnTo>
                    <a:pt x="1118193" y="0"/>
                  </a:lnTo>
                  <a:lnTo>
                    <a:pt x="1118193" y="276114"/>
                  </a:lnTo>
                  <a:lnTo>
                    <a:pt x="0" y="276114"/>
                  </a:lnTo>
                  <a:lnTo>
                    <a:pt x="0" y="0"/>
                  </a:lnTo>
                  <a:close/>
                </a:path>
              </a:pathLst>
            </a:custGeom>
            <a:ln w="12699">
              <a:solidFill>
                <a:srgbClr val="000000"/>
              </a:solidFill>
            </a:ln>
          </p:spPr>
          <p:txBody>
            <a:bodyPr wrap="square" lIns="0" tIns="0" rIns="0" bIns="0" rtlCol="0"/>
            <a:lstStyle/>
            <a:p>
              <a:endParaRPr/>
            </a:p>
          </p:txBody>
        </p:sp>
      </p:grpSp>
      <p:sp>
        <p:nvSpPr>
          <p:cNvPr id="84" name="object 84"/>
          <p:cNvSpPr txBox="1"/>
          <p:nvPr/>
        </p:nvSpPr>
        <p:spPr>
          <a:xfrm>
            <a:off x="2715372" y="6028444"/>
            <a:ext cx="521334" cy="299720"/>
          </a:xfrm>
          <a:prstGeom prst="rect">
            <a:avLst/>
          </a:prstGeom>
        </p:spPr>
        <p:txBody>
          <a:bodyPr vert="horz" wrap="square" lIns="0" tIns="12700" rIns="0" bIns="0" rtlCol="0">
            <a:spAutoFit/>
          </a:bodyPr>
          <a:lstStyle/>
          <a:p>
            <a:pPr>
              <a:spcBef>
                <a:spcPts val="100"/>
              </a:spcBef>
            </a:pPr>
            <a:r>
              <a:rPr spc="-20" dirty="0">
                <a:latin typeface="Arial"/>
                <a:cs typeface="Arial"/>
              </a:rPr>
              <a:t>3744</a:t>
            </a:r>
            <a:endParaRPr>
              <a:latin typeface="Arial"/>
              <a:cs typeface="Arial"/>
            </a:endParaRPr>
          </a:p>
        </p:txBody>
      </p:sp>
      <p:grpSp>
        <p:nvGrpSpPr>
          <p:cNvPr id="85" name="object 85"/>
          <p:cNvGrpSpPr/>
          <p:nvPr/>
        </p:nvGrpSpPr>
        <p:grpSpPr>
          <a:xfrm>
            <a:off x="3511417" y="5052325"/>
            <a:ext cx="3714750" cy="1140460"/>
            <a:chOff x="1987417" y="5052325"/>
            <a:chExt cx="3714750" cy="1140460"/>
          </a:xfrm>
        </p:grpSpPr>
        <p:sp>
          <p:nvSpPr>
            <p:cNvPr id="86" name="object 86"/>
            <p:cNvSpPr/>
            <p:nvPr/>
          </p:nvSpPr>
          <p:spPr>
            <a:xfrm>
              <a:off x="2001705" y="5118649"/>
              <a:ext cx="994410" cy="1059815"/>
            </a:xfrm>
            <a:custGeom>
              <a:avLst/>
              <a:gdLst/>
              <a:ahLst/>
              <a:cxnLst/>
              <a:rect l="l" t="t" r="r" b="b"/>
              <a:pathLst>
                <a:path w="994410" h="1059814">
                  <a:moveTo>
                    <a:pt x="0" y="1059655"/>
                  </a:moveTo>
                  <a:lnTo>
                    <a:pt x="511174" y="1059655"/>
                  </a:lnTo>
                  <a:lnTo>
                    <a:pt x="511174" y="0"/>
                  </a:lnTo>
                  <a:lnTo>
                    <a:pt x="993994" y="0"/>
                  </a:lnTo>
                </a:path>
              </a:pathLst>
            </a:custGeom>
            <a:ln w="28574">
              <a:solidFill>
                <a:srgbClr val="8D8D8D"/>
              </a:solidFill>
            </a:ln>
          </p:spPr>
          <p:txBody>
            <a:bodyPr wrap="square" lIns="0" tIns="0" rIns="0" bIns="0" rtlCol="0"/>
            <a:lstStyle/>
            <a:p>
              <a:endParaRPr/>
            </a:p>
          </p:txBody>
        </p:sp>
        <p:pic>
          <p:nvPicPr>
            <p:cNvPr id="87" name="object 87"/>
            <p:cNvPicPr/>
            <p:nvPr/>
          </p:nvPicPr>
          <p:blipFill>
            <a:blip r:embed="rId27" cstate="print"/>
            <a:stretch>
              <a:fillRect/>
            </a:stretch>
          </p:blipFill>
          <p:spPr>
            <a:xfrm>
              <a:off x="2893658" y="5052325"/>
              <a:ext cx="130397" cy="132646"/>
            </a:xfrm>
            <a:prstGeom prst="rect">
              <a:avLst/>
            </a:prstGeom>
          </p:spPr>
        </p:pic>
        <p:sp>
          <p:nvSpPr>
            <p:cNvPr id="88" name="object 88"/>
            <p:cNvSpPr/>
            <p:nvPr/>
          </p:nvSpPr>
          <p:spPr>
            <a:xfrm>
              <a:off x="4142005" y="5118496"/>
              <a:ext cx="1531620" cy="90170"/>
            </a:xfrm>
            <a:custGeom>
              <a:avLst/>
              <a:gdLst/>
              <a:ahLst/>
              <a:cxnLst/>
              <a:rect l="l" t="t" r="r" b="b"/>
              <a:pathLst>
                <a:path w="1531620" h="90170">
                  <a:moveTo>
                    <a:pt x="0" y="0"/>
                  </a:moveTo>
                  <a:lnTo>
                    <a:pt x="780256" y="0"/>
                  </a:lnTo>
                  <a:lnTo>
                    <a:pt x="780256" y="89693"/>
                  </a:lnTo>
                  <a:lnTo>
                    <a:pt x="1531362" y="89693"/>
                  </a:lnTo>
                </a:path>
              </a:pathLst>
            </a:custGeom>
            <a:ln w="28574">
              <a:solidFill>
                <a:srgbClr val="DC3E3C"/>
              </a:solidFill>
            </a:ln>
          </p:spPr>
          <p:txBody>
            <a:bodyPr wrap="square" lIns="0" tIns="0" rIns="0" bIns="0" rtlCol="0"/>
            <a:lstStyle/>
            <a:p>
              <a:endParaRPr/>
            </a:p>
          </p:txBody>
        </p:sp>
        <p:pic>
          <p:nvPicPr>
            <p:cNvPr id="89" name="object 89"/>
            <p:cNvPicPr/>
            <p:nvPr/>
          </p:nvPicPr>
          <p:blipFill>
            <a:blip r:embed="rId34" cstate="print"/>
            <a:stretch>
              <a:fillRect/>
            </a:stretch>
          </p:blipFill>
          <p:spPr>
            <a:xfrm>
              <a:off x="5571327" y="5141866"/>
              <a:ext cx="130397" cy="132646"/>
            </a:xfrm>
            <a:prstGeom prst="rect">
              <a:avLst/>
            </a:prstGeom>
          </p:spPr>
        </p:pic>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6EE3F7F-DA66-4BAA-8819-0AB5AD154BA5}"/>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5" name="Slide Number Placeholder 4">
            <a:extLst>
              <a:ext uri="{FF2B5EF4-FFF2-40B4-BE49-F238E27FC236}">
                <a16:creationId xmlns:a16="http://schemas.microsoft.com/office/drawing/2014/main" id="{1A8E8F38-1A36-4C5F-8CA7-FE5DE0AB619E}"/>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13 B-</a:t>
            </a:r>
            <a:fld id="{85499B77-39D5-4A3C-88ED-796F85E8D436}" type="slidenum">
              <a:rPr lang="en-US" altLang="en-US" sz="1000">
                <a:solidFill>
                  <a:srgbClr val="548446"/>
                </a:solidFill>
                <a:latin typeface="Arial" panose="020B0604020202020204" pitchFamily="34" charset="0"/>
              </a:rPr>
              <a:pPr/>
              <a:t>37</a:t>
            </a:fld>
            <a:endParaRPr lang="en-US" altLang="en-US" sz="1000">
              <a:solidFill>
                <a:srgbClr val="548446"/>
              </a:solidFill>
              <a:latin typeface="Arial" panose="020B0604020202020204" pitchFamily="34" charset="0"/>
            </a:endParaRPr>
          </a:p>
        </p:txBody>
      </p:sp>
      <p:sp>
        <p:nvSpPr>
          <p:cNvPr id="20484" name="Rectangle 2">
            <a:extLst>
              <a:ext uri="{FF2B5EF4-FFF2-40B4-BE49-F238E27FC236}">
                <a16:creationId xmlns:a16="http://schemas.microsoft.com/office/drawing/2014/main" id="{B2C995DC-F05B-4D9A-B61B-3356087562EE}"/>
              </a:ext>
            </a:extLst>
          </p:cNvPr>
          <p:cNvSpPr>
            <a:spLocks noGrp="1" noChangeArrowheads="1"/>
          </p:cNvSpPr>
          <p:nvPr>
            <p:ph type="title"/>
          </p:nvPr>
        </p:nvSpPr>
        <p:spPr/>
        <p:txBody>
          <a:bodyPr/>
          <a:lstStyle/>
          <a:p>
            <a:pPr eaLnBrk="1" hangingPunct="1"/>
            <a:r>
              <a:rPr lang="en-US" altLang="en-US"/>
              <a:t>Hashing</a:t>
            </a:r>
          </a:p>
        </p:txBody>
      </p:sp>
      <p:sp>
        <p:nvSpPr>
          <p:cNvPr id="20485" name="Rectangle 3">
            <a:extLst>
              <a:ext uri="{FF2B5EF4-FFF2-40B4-BE49-F238E27FC236}">
                <a16:creationId xmlns:a16="http://schemas.microsoft.com/office/drawing/2014/main" id="{7B643BFE-3EDF-4314-9F71-1EAE78451108}"/>
              </a:ext>
            </a:extLst>
          </p:cNvPr>
          <p:cNvSpPr>
            <a:spLocks noGrp="1" noChangeArrowheads="1"/>
          </p:cNvSpPr>
          <p:nvPr>
            <p:ph type="body" idx="1"/>
          </p:nvPr>
        </p:nvSpPr>
        <p:spPr>
          <a:xfrm>
            <a:off x="2514600" y="1752600"/>
            <a:ext cx="7772400" cy="4038600"/>
          </a:xfrm>
        </p:spPr>
        <p:txBody>
          <a:bodyPr>
            <a:normAutofit lnSpcReduction="10000"/>
          </a:bodyPr>
          <a:lstStyle/>
          <a:p>
            <a:pPr eaLnBrk="1" hangingPunct="1">
              <a:lnSpc>
                <a:spcPct val="90000"/>
              </a:lnSpc>
            </a:pPr>
            <a:r>
              <a:rPr lang="en-US" altLang="en-US" sz="2400" dirty="0"/>
              <a:t>A perfect hash function</a:t>
            </a:r>
          </a:p>
          <a:p>
            <a:pPr lvl="1" eaLnBrk="1" hangingPunct="1">
              <a:lnSpc>
                <a:spcPct val="90000"/>
              </a:lnSpc>
            </a:pPr>
            <a:r>
              <a:rPr lang="en-US" altLang="en-US" sz="2000" dirty="0"/>
              <a:t>Maps each search key into a unique location of the hash table</a:t>
            </a:r>
          </a:p>
          <a:p>
            <a:pPr lvl="1" eaLnBrk="1" hangingPunct="1">
              <a:lnSpc>
                <a:spcPct val="90000"/>
              </a:lnSpc>
            </a:pPr>
            <a:r>
              <a:rPr lang="en-US" altLang="en-US" sz="2000" dirty="0"/>
              <a:t>Possible if all the search keys are known</a:t>
            </a:r>
          </a:p>
          <a:p>
            <a:pPr eaLnBrk="1" hangingPunct="1">
              <a:lnSpc>
                <a:spcPct val="90000"/>
              </a:lnSpc>
            </a:pPr>
            <a:r>
              <a:rPr lang="en-US" altLang="en-US" sz="2400" dirty="0"/>
              <a:t>Collisions</a:t>
            </a:r>
          </a:p>
          <a:p>
            <a:pPr lvl="1" eaLnBrk="1" hangingPunct="1">
              <a:lnSpc>
                <a:spcPct val="90000"/>
              </a:lnSpc>
            </a:pPr>
            <a:r>
              <a:rPr lang="en-US" altLang="en-US" sz="2000" dirty="0"/>
              <a:t>Occur when the hash function maps more than one item into the same array location</a:t>
            </a:r>
          </a:p>
          <a:p>
            <a:pPr eaLnBrk="1" hangingPunct="1">
              <a:lnSpc>
                <a:spcPct val="90000"/>
              </a:lnSpc>
            </a:pPr>
            <a:r>
              <a:rPr lang="en-US" altLang="en-US" sz="2400" dirty="0"/>
              <a:t>Collision-resolution schemes</a:t>
            </a:r>
          </a:p>
          <a:p>
            <a:pPr lvl="1" eaLnBrk="1" hangingPunct="1">
              <a:lnSpc>
                <a:spcPct val="90000"/>
              </a:lnSpc>
            </a:pPr>
            <a:r>
              <a:rPr lang="en-US" altLang="en-US" sz="2000" dirty="0"/>
              <a:t>Assign locations in the hash table to items with different search keys when the items are involved in a collision</a:t>
            </a:r>
          </a:p>
          <a:p>
            <a:pPr eaLnBrk="1" hangingPunct="1">
              <a:lnSpc>
                <a:spcPct val="90000"/>
              </a:lnSpc>
            </a:pPr>
            <a:r>
              <a:rPr lang="en-US" altLang="en-US" sz="2400" dirty="0"/>
              <a:t>Requirements for a hash function</a:t>
            </a:r>
          </a:p>
          <a:p>
            <a:pPr lvl="1" eaLnBrk="1" hangingPunct="1">
              <a:lnSpc>
                <a:spcPct val="90000"/>
              </a:lnSpc>
            </a:pPr>
            <a:r>
              <a:rPr lang="en-US" altLang="en-US" sz="2000" dirty="0"/>
              <a:t>Be easy and fast to compute</a:t>
            </a:r>
          </a:p>
          <a:p>
            <a:pPr lvl="1" eaLnBrk="1" hangingPunct="1">
              <a:lnSpc>
                <a:spcPct val="90000"/>
              </a:lnSpc>
            </a:pPr>
            <a:r>
              <a:rPr lang="en-US" altLang="en-US" sz="2000" dirty="0"/>
              <a:t>Place items evenly throughout the hash table</a:t>
            </a:r>
          </a:p>
        </p:txBody>
      </p:sp>
    </p:spTree>
    <p:extLst>
      <p:ext uri="{BB962C8B-B14F-4D97-AF65-F5344CB8AC3E}">
        <p14:creationId xmlns:p14="http://schemas.microsoft.com/office/powerpoint/2010/main" val="1749072993"/>
      </p:ext>
    </p:extLst>
  </p:cSld>
  <p:clrMapOvr>
    <a:masterClrMapping/>
  </p:clrMapOvr>
  <mc:AlternateContent xmlns:mc="http://schemas.openxmlformats.org/markup-compatibility/2006" xmlns:p14="http://schemas.microsoft.com/office/powerpoint/2010/main">
    <mc:Choice Requires="p14">
      <p:transition spd="slow" p14:dur="2000" advTm="102291"/>
    </mc:Choice>
    <mc:Fallback xmlns="">
      <p:transition spd="slow" advTm="102291"/>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itle 1"/>
          <p:cNvSpPr txBox="1">
            <a:spLocks noGrp="1"/>
          </p:cNvSpPr>
          <p:nvPr>
            <p:ph type="title"/>
          </p:nvPr>
        </p:nvSpPr>
        <p:spPr>
          <a:prstGeom prst="rect">
            <a:avLst/>
          </a:prstGeom>
        </p:spPr>
        <p:txBody>
          <a:bodyPr/>
          <a:lstStyle/>
          <a:p>
            <a:r>
              <a:rPr dirty="0"/>
              <a:t>Computing Hash Codes</a:t>
            </a:r>
          </a:p>
        </p:txBody>
      </p:sp>
      <p:sp>
        <p:nvSpPr>
          <p:cNvPr id="73" name="Content Placeholder 2"/>
          <p:cNvSpPr txBox="1">
            <a:spLocks noGrp="1"/>
          </p:cNvSpPr>
          <p:nvPr>
            <p:ph type="body" idx="1"/>
          </p:nvPr>
        </p:nvSpPr>
        <p:spPr>
          <a:prstGeom prst="rect">
            <a:avLst/>
          </a:prstGeom>
        </p:spPr>
        <p:txBody>
          <a:bodyPr>
            <a:normAutofit/>
          </a:bodyPr>
          <a:lstStyle/>
          <a:p>
            <a:pPr>
              <a:buFont typeface="Wingdings" panose="05000000000000000000" pitchFamily="2" charset="2"/>
              <a:buChar char="Ø"/>
            </a:pPr>
            <a:r>
              <a:rPr dirty="0"/>
              <a:t>Java’s base class </a:t>
            </a:r>
            <a:r>
              <a:rPr b="1" dirty="0">
                <a:latin typeface="Courier New"/>
                <a:ea typeface="Courier New"/>
                <a:cs typeface="Courier New"/>
                <a:sym typeface="Courier New"/>
              </a:rPr>
              <a:t>Object</a:t>
            </a:r>
            <a:r>
              <a:rPr dirty="0"/>
              <a:t> has a method </a:t>
            </a:r>
            <a:r>
              <a:rPr b="1" dirty="0" err="1">
                <a:latin typeface="Courier New"/>
                <a:ea typeface="Courier New"/>
                <a:cs typeface="Courier New"/>
                <a:sym typeface="Courier New"/>
              </a:rPr>
              <a:t>hashCode</a:t>
            </a:r>
            <a:r>
              <a:rPr dirty="0"/>
              <a:t> that returns an integer hash code</a:t>
            </a:r>
            <a:endParaRPr lang="en-US" dirty="0"/>
          </a:p>
          <a:p>
            <a:pPr lvl="1">
              <a:buFont typeface="Wingdings" panose="05000000000000000000" pitchFamily="2" charset="2"/>
              <a:buChar char="§"/>
            </a:pPr>
            <a:r>
              <a:rPr lang="en-US" dirty="0"/>
              <a:t>By default returns memory address of the object</a:t>
            </a:r>
          </a:p>
          <a:p>
            <a:pPr>
              <a:buFont typeface="Wingdings" panose="05000000000000000000" pitchFamily="2" charset="2"/>
              <a:buChar char="Ø"/>
            </a:pPr>
            <a:r>
              <a:rPr lang="en-US" dirty="0"/>
              <a:t>A class should define its own version of </a:t>
            </a:r>
            <a:r>
              <a:rPr lang="en-US" b="1" dirty="0" err="1">
                <a:latin typeface="Courier New"/>
                <a:ea typeface="Courier New"/>
                <a:cs typeface="Courier New"/>
                <a:sym typeface="Courier New"/>
              </a:rPr>
              <a:t>hashCode</a:t>
            </a:r>
            <a:endParaRPr lang="en-US" b="1" dirty="0">
              <a:latin typeface="Courier New"/>
              <a:ea typeface="Courier New"/>
              <a:cs typeface="Courier New"/>
              <a:sym typeface="Courier New"/>
            </a:endParaRPr>
          </a:p>
          <a:p>
            <a:pPr lvl="1">
              <a:buFont typeface="Wingdings" panose="05000000000000000000" pitchFamily="2" charset="2"/>
              <a:buChar char="§"/>
            </a:pPr>
            <a:r>
              <a:rPr lang="en-US" dirty="0"/>
              <a:t>Override: whenever the equals() method is overridden to ensure two equal objects return the same </a:t>
            </a:r>
            <a:r>
              <a:rPr lang="en-US" dirty="0" err="1"/>
              <a:t>hashcode</a:t>
            </a:r>
            <a:endParaRPr lang="en-US" dirty="0"/>
          </a:p>
          <a:p>
            <a:pPr lvl="1">
              <a:buFont typeface="Wingdings" panose="05000000000000000000" pitchFamily="2" charset="2"/>
              <a:buChar char="§"/>
            </a:pPr>
            <a:r>
              <a:rPr lang="en-US" dirty="0"/>
              <a:t>Multiple execution of a program with same key should give same integer </a:t>
            </a:r>
          </a:p>
          <a:p>
            <a:pPr lvl="1">
              <a:buFont typeface="Wingdings" panose="05000000000000000000" pitchFamily="2" charset="2"/>
              <a:buChar char="§"/>
            </a:pPr>
            <a:r>
              <a:rPr lang="en-US" dirty="0"/>
              <a:t>Two unequal objects may have the same </a:t>
            </a:r>
            <a:r>
              <a:rPr lang="en-US" dirty="0" err="1"/>
              <a:t>hashcode</a:t>
            </a:r>
            <a:r>
              <a:rPr lang="en-US" dirty="0"/>
              <a:t>, must avoid too many such cases</a:t>
            </a:r>
          </a:p>
          <a:p>
            <a:pPr lvl="1">
              <a:buFont typeface="Wingdings" panose="05000000000000000000" pitchFamily="2" charset="2"/>
              <a:buChar char="§"/>
            </a:pPr>
            <a:endParaRPr lang="en-US" dirty="0"/>
          </a:p>
          <a:p>
            <a:pPr marL="457200" lvl="1" indent="0">
              <a:buNone/>
            </a:pPr>
            <a:endParaRPr lang="en-US" dirty="0"/>
          </a:p>
          <a:p>
            <a:pPr lvl="1"/>
            <a:endParaRPr dirty="0"/>
          </a:p>
        </p:txBody>
      </p:sp>
    </p:spTree>
    <p:extLst>
      <p:ext uri="{BB962C8B-B14F-4D97-AF65-F5344CB8AC3E}">
        <p14:creationId xmlns:p14="http://schemas.microsoft.com/office/powerpoint/2010/main" val="3417657235"/>
      </p:ext>
    </p:extLst>
  </p:cSld>
  <p:clrMapOvr>
    <a:masterClrMapping/>
  </p:clrMapOvr>
  <p:transition spd="med" advTm="6655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A51FC-ED6D-4CD9-9753-D416BAF8A494}"/>
              </a:ext>
            </a:extLst>
          </p:cNvPr>
          <p:cNvSpPr>
            <a:spLocks noGrp="1"/>
          </p:cNvSpPr>
          <p:nvPr>
            <p:ph type="title"/>
          </p:nvPr>
        </p:nvSpPr>
        <p:spPr/>
        <p:txBody>
          <a:bodyPr/>
          <a:lstStyle/>
          <a:p>
            <a:r>
              <a:rPr lang="en-US" dirty="0"/>
              <a:t>A hash code for a string</a:t>
            </a:r>
          </a:p>
        </p:txBody>
      </p:sp>
      <p:sp>
        <p:nvSpPr>
          <p:cNvPr id="3" name="Content Placeholder 2">
            <a:extLst>
              <a:ext uri="{FF2B5EF4-FFF2-40B4-BE49-F238E27FC236}">
                <a16:creationId xmlns:a16="http://schemas.microsoft.com/office/drawing/2014/main" id="{4FBAB19B-EBF9-4018-A99B-6B34D8F9FE4F}"/>
              </a:ext>
            </a:extLst>
          </p:cNvPr>
          <p:cNvSpPr>
            <a:spLocks noGrp="1"/>
          </p:cNvSpPr>
          <p:nvPr>
            <p:ph idx="1"/>
          </p:nvPr>
        </p:nvSpPr>
        <p:spPr/>
        <p:txBody>
          <a:bodyPr>
            <a:normAutofit/>
          </a:bodyPr>
          <a:lstStyle/>
          <a:p>
            <a:pPr>
              <a:buFont typeface="Wingdings" panose="05000000000000000000" pitchFamily="2" charset="2"/>
              <a:buChar char="Ø"/>
            </a:pPr>
            <a:r>
              <a:rPr lang="en-US" dirty="0"/>
              <a:t>Approach 1:</a:t>
            </a:r>
          </a:p>
          <a:p>
            <a:pPr lvl="1"/>
            <a:r>
              <a:rPr lang="en-US" dirty="0"/>
              <a:t>Using a character’s Unicode integer is common</a:t>
            </a:r>
          </a:p>
          <a:p>
            <a:pPr marL="457200" lvl="1" indent="0">
              <a:buNone/>
            </a:pPr>
            <a:endParaRPr lang="en-US" dirty="0"/>
          </a:p>
          <a:p>
            <a:pPr marL="457200" lvl="1" indent="0">
              <a:buNone/>
            </a:pPr>
            <a:endParaRPr lang="en-US" dirty="0"/>
          </a:p>
          <a:p>
            <a:pPr marL="457200" lvl="1" indent="0">
              <a:buNone/>
            </a:pPr>
            <a:endParaRPr lang="en-US" dirty="0"/>
          </a:p>
          <a:p>
            <a:endParaRPr lang="en-US" dirty="0"/>
          </a:p>
        </p:txBody>
      </p:sp>
    </p:spTree>
    <p:extLst>
      <p:ext uri="{BB962C8B-B14F-4D97-AF65-F5344CB8AC3E}">
        <p14:creationId xmlns:p14="http://schemas.microsoft.com/office/powerpoint/2010/main" val="2842288142"/>
      </p:ext>
    </p:extLst>
  </p:cSld>
  <p:clrMapOvr>
    <a:masterClrMapping/>
  </p:clrMapOvr>
  <mc:AlternateContent xmlns:mc="http://schemas.openxmlformats.org/markup-compatibility/2006" xmlns:p14="http://schemas.microsoft.com/office/powerpoint/2010/main">
    <mc:Choice Requires="p14">
      <p:transition spd="slow" p14:dur="2000" advTm="104560"/>
    </mc:Choice>
    <mc:Fallback xmlns="">
      <p:transition spd="slow" advTm="1045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8C0A6D-CD44-4E04-89C6-D504B2CDC121}"/>
              </a:ext>
            </a:extLst>
          </p:cNvPr>
          <p:cNvSpPr>
            <a:spLocks noGrp="1"/>
          </p:cNvSpPr>
          <p:nvPr>
            <p:ph idx="1"/>
          </p:nvPr>
        </p:nvSpPr>
        <p:spPr>
          <a:xfrm>
            <a:off x="838200" y="448887"/>
            <a:ext cx="10611196" cy="5728076"/>
          </a:xfrm>
        </p:spPr>
        <p:txBody>
          <a:bodyPr>
            <a:normAutofit/>
          </a:bodyPr>
          <a:lstStyle/>
          <a:p>
            <a:pPr lvl="1">
              <a:buFont typeface="Wingdings" panose="05000000000000000000" pitchFamily="2" charset="2"/>
              <a:buChar char="Ø"/>
            </a:pPr>
            <a:r>
              <a:rPr lang="en-US" dirty="0"/>
              <a:t>Approach 2: </a:t>
            </a:r>
          </a:p>
          <a:p>
            <a:pPr lvl="2"/>
            <a:r>
              <a:rPr lang="en-US" dirty="0"/>
              <a:t>Generate a hash code that takes the position of characters into consideration.</a:t>
            </a:r>
          </a:p>
          <a:p>
            <a:pPr lvl="2"/>
            <a:r>
              <a:rPr lang="en-US" dirty="0"/>
              <a:t>Let the hash code be:</a:t>
            </a:r>
          </a:p>
          <a:p>
            <a:pPr marL="1371600" lvl="3" indent="0">
              <a:buNone/>
            </a:pPr>
            <a:r>
              <a:rPr lang="pt-BR" dirty="0"/>
              <a:t>s </a:t>
            </a:r>
            <a:r>
              <a:rPr lang="pt-BR" baseline="-25000" dirty="0"/>
              <a:t>0</a:t>
            </a:r>
            <a:r>
              <a:rPr lang="pt-BR" dirty="0"/>
              <a:t>   ∗   b </a:t>
            </a:r>
            <a:r>
              <a:rPr lang="pt-BR" baseline="30000" dirty="0"/>
              <a:t>( n − 1 ) </a:t>
            </a:r>
            <a:r>
              <a:rPr lang="pt-BR" dirty="0"/>
              <a:t>+ s </a:t>
            </a:r>
            <a:r>
              <a:rPr lang="pt-BR" baseline="-25000" dirty="0"/>
              <a:t>1</a:t>
            </a:r>
            <a:r>
              <a:rPr lang="pt-BR" dirty="0"/>
              <a:t>   ∗   b </a:t>
            </a:r>
            <a:r>
              <a:rPr lang="pt-BR" baseline="30000" dirty="0"/>
              <a:t>( n − 2 ) </a:t>
            </a:r>
            <a:r>
              <a:rPr lang="pt-BR" dirty="0"/>
              <a:t>+ ⋯ + s </a:t>
            </a:r>
            <a:r>
              <a:rPr lang="pt-BR" baseline="-25000" dirty="0"/>
              <a:t>n − 1 </a:t>
            </a:r>
            <a:r>
              <a:rPr lang="pt-BR" dirty="0"/>
              <a:t> , where s</a:t>
            </a:r>
            <a:r>
              <a:rPr lang="pt-BR" baseline="-25000" dirty="0"/>
              <a:t>i</a:t>
            </a:r>
            <a:r>
              <a:rPr lang="pt-BR" dirty="0"/>
              <a:t> is s.charAt(i)</a:t>
            </a:r>
          </a:p>
          <a:p>
            <a:pPr lvl="2">
              <a:buFont typeface="Wingdings" panose="05000000000000000000" pitchFamily="2" charset="2"/>
              <a:buChar char="§"/>
            </a:pPr>
            <a:r>
              <a:rPr lang="pt-BR" dirty="0"/>
              <a:t>The expression is a polyomial for some positive value (b).</a:t>
            </a:r>
            <a:endParaRPr lang="en-US" dirty="0"/>
          </a:p>
          <a:p>
            <a:pPr lvl="1">
              <a:buFont typeface="Wingdings" panose="05000000000000000000" pitchFamily="2" charset="2"/>
              <a:buChar char="§"/>
            </a:pPr>
            <a:r>
              <a:rPr lang="en-US" dirty="0"/>
              <a:t>Polynomial hash code</a:t>
            </a:r>
          </a:p>
          <a:p>
            <a:pPr marL="914400" lvl="2" indent="0">
              <a:buNone/>
            </a:pPr>
            <a:r>
              <a:rPr lang="en-US" dirty="0"/>
              <a:t>(…((s</a:t>
            </a:r>
            <a:r>
              <a:rPr lang="en-US" baseline="-25000" dirty="0"/>
              <a:t>0</a:t>
            </a:r>
            <a:r>
              <a:rPr lang="en-US" dirty="0"/>
              <a:t> ∗ b+s</a:t>
            </a:r>
            <a:r>
              <a:rPr lang="en-US" baseline="-25000" dirty="0"/>
              <a:t>1</a:t>
            </a:r>
            <a:r>
              <a:rPr lang="en-US" dirty="0"/>
              <a:t>) ∗ b+s</a:t>
            </a:r>
            <a:r>
              <a:rPr lang="en-US" baseline="-25000" dirty="0"/>
              <a:t>2</a:t>
            </a:r>
            <a:r>
              <a:rPr lang="en-US" dirty="0"/>
              <a:t>) ∗ b+⋯+s</a:t>
            </a:r>
            <a:r>
              <a:rPr lang="en-US" baseline="-25000" dirty="0"/>
              <a:t>n−2</a:t>
            </a:r>
            <a:r>
              <a:rPr lang="en-US" dirty="0"/>
              <a:t>) ∗ b+s</a:t>
            </a:r>
            <a:r>
              <a:rPr lang="en-US" baseline="-25000" dirty="0"/>
              <a:t>n-1</a:t>
            </a:r>
          </a:p>
          <a:p>
            <a:pPr marL="457200" lvl="1" indent="0">
              <a:buNone/>
            </a:pPr>
            <a:endParaRPr lang="en-US" baseline="-25000" dirty="0"/>
          </a:p>
        </p:txBody>
      </p:sp>
    </p:spTree>
    <p:extLst>
      <p:ext uri="{BB962C8B-B14F-4D97-AF65-F5344CB8AC3E}">
        <p14:creationId xmlns:p14="http://schemas.microsoft.com/office/powerpoint/2010/main" val="3074855403"/>
      </p:ext>
    </p:extLst>
  </p:cSld>
  <p:clrMapOvr>
    <a:masterClrMapping/>
  </p:clrMapOvr>
  <mc:AlternateContent xmlns:mc="http://schemas.openxmlformats.org/markup-compatibility/2006" xmlns:p14="http://schemas.microsoft.com/office/powerpoint/2010/main">
    <mc:Choice Requires="p14">
      <p:transition spd="slow" p14:dur="2000" advTm="97859"/>
    </mc:Choice>
    <mc:Fallback xmlns="">
      <p:transition spd="slow" advTm="97859"/>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itle 1"/>
          <p:cNvSpPr txBox="1">
            <a:spLocks noGrp="1"/>
          </p:cNvSpPr>
          <p:nvPr>
            <p:ph type="title"/>
          </p:nvPr>
        </p:nvSpPr>
        <p:spPr>
          <a:xfrm>
            <a:off x="838200" y="365126"/>
            <a:ext cx="10515600" cy="715530"/>
          </a:xfrm>
          <a:prstGeom prst="rect">
            <a:avLst/>
          </a:prstGeom>
        </p:spPr>
        <p:txBody>
          <a:bodyPr/>
          <a:lstStyle/>
          <a:p>
            <a:r>
              <a:rPr dirty="0"/>
              <a:t>Hash Code for a Primitive type</a:t>
            </a:r>
          </a:p>
        </p:txBody>
      </p:sp>
      <p:sp>
        <p:nvSpPr>
          <p:cNvPr id="81" name="Content Placeholder 2"/>
          <p:cNvSpPr txBox="1">
            <a:spLocks noGrp="1"/>
          </p:cNvSpPr>
          <p:nvPr>
            <p:ph type="body" idx="1"/>
          </p:nvPr>
        </p:nvSpPr>
        <p:spPr>
          <a:xfrm>
            <a:off x="838200" y="1080656"/>
            <a:ext cx="10515600" cy="5096307"/>
          </a:xfrm>
          <a:prstGeom prst="rect">
            <a:avLst/>
          </a:prstGeom>
        </p:spPr>
        <p:txBody>
          <a:bodyPr>
            <a:normAutofit lnSpcReduction="10000"/>
          </a:bodyPr>
          <a:lstStyle/>
          <a:p>
            <a:pPr>
              <a:buFont typeface="Wingdings" panose="05000000000000000000" pitchFamily="2" charset="2"/>
              <a:buChar char="Ø"/>
            </a:pPr>
            <a:r>
              <a:rPr dirty="0"/>
              <a:t>If data type is </a:t>
            </a:r>
            <a:r>
              <a:rPr b="1" dirty="0">
                <a:latin typeface="Courier New"/>
                <a:ea typeface="Courier New"/>
                <a:cs typeface="Courier New"/>
                <a:sym typeface="Courier New"/>
              </a:rPr>
              <a:t>int</a:t>
            </a:r>
            <a:r>
              <a:rPr lang="en-US" b="1" dirty="0">
                <a:latin typeface="Courier New"/>
                <a:ea typeface="Courier New"/>
                <a:cs typeface="Courier New"/>
                <a:sym typeface="Courier New"/>
              </a:rPr>
              <a:t> (32 bits)</a:t>
            </a:r>
            <a:r>
              <a:rPr dirty="0"/>
              <a:t> </a:t>
            </a:r>
            <a:r>
              <a:rPr lang="en-US" dirty="0">
                <a:sym typeface="Wingdings" panose="05000000000000000000" pitchFamily="2" charset="2"/>
              </a:rPr>
              <a:t> </a:t>
            </a:r>
            <a:r>
              <a:rPr lang="en-US" dirty="0" err="1">
                <a:sym typeface="Wingdings" panose="05000000000000000000" pitchFamily="2" charset="2"/>
              </a:rPr>
              <a:t>Integer.hashCode</a:t>
            </a:r>
            <a:r>
              <a:rPr lang="en-US" dirty="0">
                <a:sym typeface="Wingdings" panose="05000000000000000000" pitchFamily="2" charset="2"/>
              </a:rPr>
              <a:t>()</a:t>
            </a:r>
            <a:endParaRPr dirty="0"/>
          </a:p>
          <a:p>
            <a:pPr lvl="1"/>
            <a:r>
              <a:rPr dirty="0"/>
              <a:t>Use the key itself</a:t>
            </a:r>
          </a:p>
          <a:p>
            <a:pPr>
              <a:buFont typeface="Wingdings" panose="05000000000000000000" pitchFamily="2" charset="2"/>
              <a:buChar char="Ø"/>
            </a:pPr>
            <a:r>
              <a:rPr dirty="0"/>
              <a:t>For </a:t>
            </a:r>
            <a:r>
              <a:rPr b="1" dirty="0">
                <a:latin typeface="Courier New"/>
                <a:ea typeface="Courier New"/>
                <a:cs typeface="Courier New"/>
                <a:sym typeface="Courier New"/>
              </a:rPr>
              <a:t>byte</a:t>
            </a:r>
            <a:r>
              <a:rPr lang="en-US" b="1" dirty="0">
                <a:latin typeface="Courier New"/>
                <a:ea typeface="Courier New"/>
                <a:cs typeface="Courier New"/>
                <a:sym typeface="Courier New"/>
              </a:rPr>
              <a:t>(8 bits)</a:t>
            </a:r>
            <a:r>
              <a:rPr b="1" dirty="0">
                <a:latin typeface="Courier New"/>
                <a:ea typeface="Courier New"/>
                <a:cs typeface="Courier New"/>
                <a:sym typeface="Courier New"/>
              </a:rPr>
              <a:t>, short</a:t>
            </a:r>
            <a:r>
              <a:rPr lang="en-US" b="1" dirty="0">
                <a:latin typeface="Courier New"/>
                <a:ea typeface="Courier New"/>
                <a:cs typeface="Courier New"/>
                <a:sym typeface="Courier New"/>
              </a:rPr>
              <a:t>(16 bits)</a:t>
            </a:r>
            <a:r>
              <a:rPr b="1" dirty="0">
                <a:latin typeface="Courier New"/>
                <a:ea typeface="Courier New"/>
                <a:cs typeface="Courier New"/>
                <a:sym typeface="Courier New"/>
              </a:rPr>
              <a:t>, char</a:t>
            </a:r>
            <a:r>
              <a:rPr lang="en-US" b="1" dirty="0">
                <a:latin typeface="Courier New"/>
                <a:ea typeface="Courier New"/>
                <a:cs typeface="Courier New"/>
                <a:sym typeface="Courier New"/>
              </a:rPr>
              <a:t> (16 bits)</a:t>
            </a:r>
            <a:r>
              <a:rPr dirty="0"/>
              <a:t>: </a:t>
            </a:r>
          </a:p>
          <a:p>
            <a:pPr lvl="1"/>
            <a:r>
              <a:rPr dirty="0"/>
              <a:t>Cast as </a:t>
            </a:r>
            <a:r>
              <a:rPr b="1" dirty="0">
                <a:latin typeface="Courier New"/>
                <a:ea typeface="Courier New"/>
                <a:cs typeface="Courier New"/>
                <a:sym typeface="Courier New"/>
              </a:rPr>
              <a:t>int</a:t>
            </a:r>
            <a:endParaRPr lang="en-US" b="1" dirty="0">
              <a:latin typeface="Courier New"/>
              <a:ea typeface="Courier New"/>
              <a:cs typeface="Courier New"/>
              <a:sym typeface="Courier New"/>
            </a:endParaRPr>
          </a:p>
          <a:p>
            <a:pPr>
              <a:buFont typeface="Wingdings" panose="05000000000000000000" pitchFamily="2" charset="2"/>
              <a:buChar char="Ø"/>
            </a:pPr>
            <a:r>
              <a:rPr lang="en-US" b="1" dirty="0">
                <a:latin typeface="Courier New"/>
                <a:ea typeface="Courier New"/>
                <a:cs typeface="Courier New"/>
                <a:sym typeface="Courier New"/>
              </a:rPr>
              <a:t>For long (64 bits)</a:t>
            </a:r>
          </a:p>
          <a:p>
            <a:pPr lvl="1"/>
            <a:r>
              <a:rPr lang="en-US" dirty="0">
                <a:sym typeface="Wingdings" panose="05000000000000000000" pitchFamily="2" charset="2"/>
              </a:rPr>
              <a:t>Casting from long to int (not good idea)</a:t>
            </a:r>
          </a:p>
          <a:p>
            <a:pPr lvl="1"/>
            <a:r>
              <a:rPr lang="en-US" dirty="0"/>
              <a:t>All keys that differ in only the first 32 bits will have the same hash code.</a:t>
            </a:r>
          </a:p>
          <a:p>
            <a:pPr lvl="1"/>
            <a:r>
              <a:rPr lang="en-US" dirty="0"/>
              <a:t>To take the first 32 bits into consideration (folding)</a:t>
            </a:r>
          </a:p>
          <a:p>
            <a:pPr lvl="2">
              <a:buFont typeface="Wingdings" panose="05000000000000000000" pitchFamily="2" charset="2"/>
              <a:buChar char="§"/>
            </a:pPr>
            <a:r>
              <a:rPr lang="en-US" dirty="0"/>
              <a:t>divide the 64 bits into two halves (bit-wise right-shift operator)</a:t>
            </a:r>
          </a:p>
          <a:p>
            <a:pPr lvl="2">
              <a:buFont typeface="Wingdings" panose="05000000000000000000" pitchFamily="2" charset="2"/>
              <a:buChar char="§"/>
            </a:pPr>
            <a:r>
              <a:rPr lang="en-US" dirty="0"/>
              <a:t>perform the exclusive-or operation to combine the two halves</a:t>
            </a:r>
          </a:p>
          <a:p>
            <a:pPr lvl="1">
              <a:buFont typeface="Wingdings" panose="05000000000000000000" pitchFamily="2" charset="2"/>
              <a:buChar char="§"/>
            </a:pPr>
            <a:endParaRPr lang="en-US" dirty="0"/>
          </a:p>
          <a:p>
            <a:pPr lvl="1">
              <a:buFont typeface="Wingdings" panose="05000000000000000000" pitchFamily="2" charset="2"/>
              <a:buChar char="§"/>
            </a:pPr>
            <a:r>
              <a:rPr lang="en-US" dirty="0"/>
              <a:t>Hash code for long key:</a:t>
            </a:r>
          </a:p>
          <a:p>
            <a:pPr marL="914400" lvl="2" indent="0">
              <a:buNone/>
            </a:pPr>
            <a:r>
              <a:rPr lang="en-US" dirty="0"/>
              <a:t>int </a:t>
            </a:r>
            <a:r>
              <a:rPr lang="en-US" dirty="0" err="1"/>
              <a:t>hashCode</a:t>
            </a:r>
            <a:r>
              <a:rPr lang="en-US" dirty="0"/>
              <a:t> = (int)(key ^ (key &gt;&gt; 32)); </a:t>
            </a:r>
          </a:p>
          <a:p>
            <a:pPr marL="457200" lvl="1" indent="0">
              <a:buNone/>
            </a:pPr>
            <a:endParaRPr lang="en-US" b="1" dirty="0">
              <a:latin typeface="Courier New"/>
              <a:ea typeface="Courier New"/>
              <a:cs typeface="Courier New"/>
              <a:sym typeface="Courier New"/>
            </a:endParaRPr>
          </a:p>
          <a:p>
            <a:pPr marL="457200" lvl="1" indent="0">
              <a:buNone/>
            </a:pPr>
            <a:endParaRPr b="1" dirty="0">
              <a:latin typeface="Courier New"/>
              <a:ea typeface="Courier New"/>
              <a:cs typeface="Courier New"/>
              <a:sym typeface="Courier New"/>
            </a:endParaRPr>
          </a:p>
          <a:p>
            <a:pPr marL="914400" lvl="2" indent="0">
              <a:buNone/>
            </a:pPr>
            <a:endParaRPr lang="en-US" dirty="0"/>
          </a:p>
          <a:p>
            <a:pPr marL="914400" lvl="2" indent="0">
              <a:buNone/>
            </a:pPr>
            <a:endParaRPr lang="en-US" dirty="0"/>
          </a:p>
          <a:p>
            <a:endParaRPr dirty="0"/>
          </a:p>
          <a:p>
            <a:pPr lvl="1"/>
            <a:endParaRPr dirty="0"/>
          </a:p>
        </p:txBody>
      </p:sp>
      <p:cxnSp>
        <p:nvCxnSpPr>
          <p:cNvPr id="5" name="Straight Arrow Connector 4">
            <a:extLst>
              <a:ext uri="{FF2B5EF4-FFF2-40B4-BE49-F238E27FC236}">
                <a16:creationId xmlns:a16="http://schemas.microsoft.com/office/drawing/2014/main" id="{03F11240-09F3-460E-B277-BB6BC47DC918}"/>
              </a:ext>
            </a:extLst>
          </p:cNvPr>
          <p:cNvCxnSpPr>
            <a:cxnSpLocks/>
          </p:cNvCxnSpPr>
          <p:nvPr/>
        </p:nvCxnSpPr>
        <p:spPr>
          <a:xfrm>
            <a:off x="4139738" y="4743255"/>
            <a:ext cx="254132" cy="8262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F71F989-DC91-45BF-8C5F-C89F7BD44577}"/>
              </a:ext>
            </a:extLst>
          </p:cNvPr>
          <p:cNvCxnSpPr>
            <a:cxnSpLocks/>
          </p:cNvCxnSpPr>
          <p:nvPr/>
        </p:nvCxnSpPr>
        <p:spPr>
          <a:xfrm flipH="1">
            <a:off x="5159433" y="4498875"/>
            <a:ext cx="1252452" cy="107065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637949"/>
      </p:ext>
    </p:extLst>
  </p:cSld>
  <p:clrMapOvr>
    <a:masterClrMapping/>
  </p:clrMapOvr>
  <p:transition spd="med" advTm="18603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1">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1">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1">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1">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1">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1">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1">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1">
                                            <p:txEl>
                                              <p:pRg st="12" end="1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FA7A16-6438-492E-9F92-FAAEBBAABD66}"/>
              </a:ext>
            </a:extLst>
          </p:cNvPr>
          <p:cNvSpPr>
            <a:spLocks noGrp="1"/>
          </p:cNvSpPr>
          <p:nvPr>
            <p:ph idx="1"/>
          </p:nvPr>
        </p:nvSpPr>
        <p:spPr>
          <a:xfrm>
            <a:off x="838200" y="670560"/>
            <a:ext cx="10515600" cy="5506403"/>
          </a:xfrm>
        </p:spPr>
        <p:txBody>
          <a:bodyPr/>
          <a:lstStyle/>
          <a:p>
            <a:pPr>
              <a:buFont typeface="Wingdings" panose="05000000000000000000" pitchFamily="2" charset="2"/>
              <a:buChar char="Ø"/>
            </a:pPr>
            <a:r>
              <a:rPr lang="en-US" dirty="0"/>
              <a:t>Other primitive types (Manipulate internal binary representations)</a:t>
            </a:r>
          </a:p>
          <a:p>
            <a:pPr lvl="1">
              <a:buFont typeface="Wingdings" panose="05000000000000000000" pitchFamily="2" charset="2"/>
              <a:buChar char="§"/>
            </a:pPr>
            <a:r>
              <a:rPr lang="en-US" dirty="0"/>
              <a:t>Hash code for float key (32 bits) </a:t>
            </a:r>
            <a:r>
              <a:rPr lang="en-US" dirty="0">
                <a:sym typeface="Wingdings" panose="05000000000000000000" pitchFamily="2" charset="2"/>
              </a:rPr>
              <a:t></a:t>
            </a:r>
            <a:r>
              <a:rPr lang="en-US" dirty="0"/>
              <a:t> </a:t>
            </a:r>
            <a:r>
              <a:rPr lang="en-US" dirty="0" err="1"/>
              <a:t>Float.hashCode</a:t>
            </a:r>
            <a:r>
              <a:rPr lang="en-US" dirty="0"/>
              <a:t>():</a:t>
            </a:r>
          </a:p>
          <a:p>
            <a:pPr marL="914400" lvl="2" indent="0">
              <a:buNone/>
            </a:pPr>
            <a:r>
              <a:rPr lang="en-US" dirty="0" err="1"/>
              <a:t>Float.floatToIntBits</a:t>
            </a:r>
            <a:r>
              <a:rPr lang="en-US" dirty="0"/>
              <a:t>(key) </a:t>
            </a:r>
            <a:r>
              <a:rPr lang="en-US" dirty="0">
                <a:sym typeface="Wingdings" panose="05000000000000000000" pitchFamily="2" charset="2"/>
              </a:rPr>
              <a:t> </a:t>
            </a:r>
            <a:r>
              <a:rPr lang="en-US" dirty="0" err="1"/>
              <a:t>Float.floatToIntBits</a:t>
            </a:r>
            <a:r>
              <a:rPr lang="en-US" dirty="0"/>
              <a:t>(12.2f) </a:t>
            </a:r>
            <a:r>
              <a:rPr lang="en-US" dirty="0">
                <a:sym typeface="Wingdings" panose="05000000000000000000" pitchFamily="2" charset="2"/>
              </a:rPr>
              <a:t> </a:t>
            </a:r>
            <a:r>
              <a:rPr lang="en-US" dirty="0"/>
              <a:t>1094923059</a:t>
            </a:r>
          </a:p>
          <a:p>
            <a:pPr marL="914400" lvl="2" indent="0">
              <a:buNone/>
            </a:pPr>
            <a:r>
              <a:rPr lang="en-US" dirty="0"/>
              <a:t>			 </a:t>
            </a:r>
            <a:r>
              <a:rPr lang="en-US" dirty="0" err="1"/>
              <a:t>Float.floatToIntBits</a:t>
            </a:r>
            <a:r>
              <a:rPr lang="en-US" dirty="0"/>
              <a:t>(2.2f) </a:t>
            </a:r>
            <a:r>
              <a:rPr lang="en-US" dirty="0">
                <a:sym typeface="Wingdings" panose="05000000000000000000" pitchFamily="2" charset="2"/>
              </a:rPr>
              <a:t> </a:t>
            </a:r>
            <a:r>
              <a:rPr lang="en-US" dirty="0"/>
              <a:t>1074580685</a:t>
            </a:r>
          </a:p>
          <a:p>
            <a:pPr marL="457200" lvl="1" indent="0">
              <a:buNone/>
            </a:pPr>
            <a:endParaRPr lang="en-US" dirty="0"/>
          </a:p>
          <a:p>
            <a:pPr lvl="1">
              <a:buFont typeface="Wingdings" panose="05000000000000000000" pitchFamily="2" charset="2"/>
              <a:buChar char="§"/>
            </a:pPr>
            <a:r>
              <a:rPr lang="en-US" dirty="0"/>
              <a:t>Hash code for double key (64 bits) </a:t>
            </a:r>
            <a:r>
              <a:rPr lang="en-US" dirty="0">
                <a:sym typeface="Wingdings" panose="05000000000000000000" pitchFamily="2" charset="2"/>
              </a:rPr>
              <a:t></a:t>
            </a:r>
            <a:r>
              <a:rPr lang="en-US" dirty="0"/>
              <a:t> </a:t>
            </a:r>
            <a:r>
              <a:rPr lang="en-US" dirty="0" err="1"/>
              <a:t>Double.hashCode</a:t>
            </a:r>
            <a:r>
              <a:rPr lang="en-US" dirty="0"/>
              <a:t>():</a:t>
            </a:r>
          </a:p>
          <a:p>
            <a:pPr marL="914400" lvl="2" indent="0">
              <a:buNone/>
            </a:pPr>
            <a:r>
              <a:rPr lang="en-US" altLang="en-US" dirty="0"/>
              <a:t>long bits = </a:t>
            </a:r>
            <a:r>
              <a:rPr lang="en-US" altLang="en-US" dirty="0" err="1"/>
              <a:t>Double.doubleToLongBits</a:t>
            </a:r>
            <a:r>
              <a:rPr lang="en-US" altLang="en-US" dirty="0"/>
              <a:t>(key); </a:t>
            </a:r>
          </a:p>
          <a:p>
            <a:pPr marL="914400" lvl="2" indent="0">
              <a:buNone/>
            </a:pPr>
            <a:r>
              <a:rPr lang="en-US" altLang="en-US" dirty="0"/>
              <a:t>int </a:t>
            </a:r>
            <a:r>
              <a:rPr lang="en-US" altLang="en-US" dirty="0" err="1"/>
              <a:t>hashCode</a:t>
            </a:r>
            <a:r>
              <a:rPr lang="en-US" altLang="en-US" dirty="0"/>
              <a:t> = (int)(bits ^ (bits &gt;&gt; 32)); </a:t>
            </a:r>
          </a:p>
          <a:p>
            <a:pPr marL="457200" lvl="1" indent="0">
              <a:buNone/>
            </a:pPr>
            <a:endParaRPr lang="en-US" dirty="0"/>
          </a:p>
        </p:txBody>
      </p:sp>
    </p:spTree>
    <p:extLst>
      <p:ext uri="{BB962C8B-B14F-4D97-AF65-F5344CB8AC3E}">
        <p14:creationId xmlns:p14="http://schemas.microsoft.com/office/powerpoint/2010/main" val="384771732"/>
      </p:ext>
    </p:extLst>
  </p:cSld>
  <p:clrMapOvr>
    <a:masterClrMapping/>
  </p:clrMapOvr>
  <mc:AlternateContent xmlns:mc="http://schemas.openxmlformats.org/markup-compatibility/2006" xmlns:p14="http://schemas.microsoft.com/office/powerpoint/2010/main">
    <mc:Choice Requires="p14">
      <p:transition spd="slow" p14:dur="2000" advTm="74749"/>
    </mc:Choice>
    <mc:Fallback xmlns="">
      <p:transition spd="slow" advTm="74749"/>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to Hash?</a:t>
            </a:r>
            <a:endParaRPr lang="en-US" dirty="0"/>
          </a:p>
        </p:txBody>
      </p:sp>
      <p:sp>
        <p:nvSpPr>
          <p:cNvPr id="3" name="Content Placeholder 2"/>
          <p:cNvSpPr>
            <a:spLocks noGrp="1"/>
          </p:cNvSpPr>
          <p:nvPr>
            <p:ph idx="1"/>
          </p:nvPr>
        </p:nvSpPr>
        <p:spPr/>
        <p:txBody>
          <a:bodyPr>
            <a:noAutofit/>
          </a:bodyPr>
          <a:lstStyle/>
          <a:p>
            <a:pPr marL="0" indent="0">
              <a:buNone/>
            </a:pPr>
            <a:r>
              <a:rPr lang="en-US" sz="2600" dirty="0"/>
              <a:t>We will focus on two most common things to hash: </a:t>
            </a:r>
            <a:r>
              <a:rPr lang="en-US" sz="2600" dirty="0" err="1">
                <a:solidFill>
                  <a:schemeClr val="accent5">
                    <a:lumMod val="75000"/>
                  </a:schemeClr>
                </a:solidFill>
              </a:rPr>
              <a:t>ints</a:t>
            </a:r>
            <a:r>
              <a:rPr lang="en-US" sz="2600" dirty="0"/>
              <a:t> and </a:t>
            </a:r>
            <a:r>
              <a:rPr lang="en-US" sz="2600" dirty="0">
                <a:solidFill>
                  <a:schemeClr val="accent5">
                    <a:lumMod val="75000"/>
                  </a:schemeClr>
                </a:solidFill>
              </a:rPr>
              <a:t>strings</a:t>
            </a:r>
            <a:endParaRPr lang="en-US" sz="2600" dirty="0"/>
          </a:p>
          <a:p>
            <a:pPr marL="0" indent="0">
              <a:buNone/>
            </a:pPr>
            <a:endParaRPr lang="en-US" sz="1000" dirty="0"/>
          </a:p>
          <a:p>
            <a:pPr marL="0" indent="0">
              <a:buNone/>
            </a:pPr>
            <a:r>
              <a:rPr lang="en-US" sz="2600" dirty="0"/>
              <a:t>If you have objects with several fields, it is usually best to hash most of the "identifying fields" to avoid collisions:</a:t>
            </a:r>
          </a:p>
          <a:p>
            <a:pPr marL="0" indent="0">
              <a:buNone/>
            </a:pPr>
            <a:endParaRPr lang="en-US" sz="1000" dirty="0"/>
          </a:p>
          <a:p>
            <a:pPr marL="457200" lvl="1" indent="0">
              <a:buNone/>
            </a:pPr>
            <a:r>
              <a:rPr lang="en-US" sz="2000" dirty="0">
                <a:latin typeface="Courier New" pitchFamily="49" charset="0"/>
                <a:cs typeface="Courier New" pitchFamily="49" charset="0"/>
              </a:rPr>
              <a:t>class Person { </a:t>
            </a:r>
            <a:br>
              <a:rPr lang="en-US" sz="2000" dirty="0">
                <a:latin typeface="Courier New" pitchFamily="49" charset="0"/>
                <a:cs typeface="Courier New" pitchFamily="49" charset="0"/>
              </a:rPr>
            </a:br>
            <a:r>
              <a:rPr lang="en-US" sz="2000" dirty="0">
                <a:latin typeface="Courier New" pitchFamily="49" charset="0"/>
                <a:cs typeface="Courier New" pitchFamily="49" charset="0"/>
              </a:rPr>
              <a:t>	String </a:t>
            </a:r>
            <a:r>
              <a:rPr lang="en-US" sz="2000" dirty="0" err="1">
                <a:latin typeface="Courier New" pitchFamily="49" charset="0"/>
                <a:cs typeface="Courier New" pitchFamily="49" charset="0"/>
              </a:rPr>
              <a:t>firstName</a:t>
            </a: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middleName</a:t>
            </a: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lastName</a:t>
            </a:r>
            <a:r>
              <a:rPr lang="en-US" sz="2000" dirty="0">
                <a:latin typeface="Courier New" pitchFamily="49" charset="0"/>
                <a:cs typeface="Courier New" pitchFamily="49" charset="0"/>
              </a:rPr>
              <a:t>;</a:t>
            </a:r>
          </a:p>
          <a:p>
            <a:pPr marL="457200" lvl="1" indent="0">
              <a:buNone/>
            </a:pPr>
            <a:r>
              <a:rPr lang="en-US" sz="2000" dirty="0">
                <a:latin typeface="Courier New" pitchFamily="49" charset="0"/>
                <a:cs typeface="Courier New" pitchFamily="49" charset="0"/>
              </a:rPr>
              <a:t>	Date </a:t>
            </a:r>
            <a:r>
              <a:rPr lang="en-US" sz="2000" dirty="0" err="1">
                <a:latin typeface="Courier New" pitchFamily="49" charset="0"/>
                <a:cs typeface="Courier New" pitchFamily="49" charset="0"/>
              </a:rPr>
              <a:t>birthDate</a:t>
            </a:r>
            <a:r>
              <a:rPr lang="en-US" sz="2000" dirty="0">
                <a:latin typeface="Courier New" pitchFamily="49" charset="0"/>
                <a:cs typeface="Courier New" pitchFamily="49" charset="0"/>
              </a:rPr>
              <a:t>; </a:t>
            </a:r>
          </a:p>
          <a:p>
            <a:pPr marL="457200" lvl="1" indent="0">
              <a:buNone/>
            </a:pPr>
            <a:r>
              <a:rPr lang="en-US" sz="2000" dirty="0">
                <a:latin typeface="Courier New" pitchFamily="49" charset="0"/>
                <a:cs typeface="Courier New" pitchFamily="49" charset="0"/>
              </a:rPr>
              <a:t>	…</a:t>
            </a:r>
          </a:p>
          <a:p>
            <a:pPr marL="457200" lvl="1" indent="0">
              <a:buNone/>
            </a:pPr>
            <a:r>
              <a:rPr lang="en-US" sz="2000" dirty="0">
                <a:latin typeface="Courier New" pitchFamily="49" charset="0"/>
                <a:cs typeface="Courier New" pitchFamily="49" charset="0"/>
              </a:rPr>
              <a:t>}</a:t>
            </a:r>
          </a:p>
          <a:p>
            <a:pPr marL="57150" indent="0">
              <a:buNone/>
            </a:pPr>
            <a:endParaRPr lang="en-US" sz="1000" dirty="0"/>
          </a:p>
          <a:p>
            <a:pPr marL="0" indent="0">
              <a:buNone/>
            </a:pPr>
            <a:r>
              <a:rPr lang="en-US" sz="2600" dirty="0"/>
              <a:t>An inherent trade-off:</a:t>
            </a:r>
          </a:p>
          <a:p>
            <a:pPr marL="0" indent="0" algn="ctr">
              <a:buNone/>
            </a:pPr>
            <a:r>
              <a:rPr lang="en-US" sz="2600" dirty="0"/>
              <a:t>hashing-time vs. collision-avoidance</a:t>
            </a:r>
          </a:p>
        </p:txBody>
      </p:sp>
      <p:sp>
        <p:nvSpPr>
          <p:cNvPr id="6" name="Slide Number Placeholder 5"/>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43</a:t>
            </a:fld>
            <a:endParaRPr lang="en-US">
              <a:solidFill>
                <a:srgbClr val="2F1343"/>
              </a:solidFill>
              <a:latin typeface="Verdana"/>
            </a:endParaRPr>
          </a:p>
        </p:txBody>
      </p:sp>
      <p:sp>
        <p:nvSpPr>
          <p:cNvPr id="12" name="TextBox 11"/>
          <p:cNvSpPr txBox="1"/>
          <p:nvPr/>
        </p:nvSpPr>
        <p:spPr>
          <a:xfrm>
            <a:off x="6248401" y="4468799"/>
            <a:ext cx="2965877" cy="369332"/>
          </a:xfrm>
          <a:prstGeom prst="rect">
            <a:avLst/>
          </a:prstGeom>
          <a:noFill/>
        </p:spPr>
        <p:txBody>
          <a:bodyPr wrap="none" rtlCol="0">
            <a:spAutoFit/>
          </a:bodyPr>
          <a:lstStyle/>
          <a:p>
            <a:pPr>
              <a:defRPr/>
            </a:pPr>
            <a:r>
              <a:rPr lang="en-US" b="1" dirty="0">
                <a:solidFill>
                  <a:srgbClr val="475A8D">
                    <a:lumMod val="50000"/>
                  </a:srgbClr>
                </a:solidFill>
                <a:latin typeface="Verdana"/>
              </a:rPr>
              <a:t>use these four values</a:t>
            </a:r>
          </a:p>
        </p:txBody>
      </p:sp>
      <p:cxnSp>
        <p:nvCxnSpPr>
          <p:cNvPr id="14" name="Straight Arrow Connector 13"/>
          <p:cNvCxnSpPr>
            <a:cxnSpLocks/>
          </p:cNvCxnSpPr>
          <p:nvPr/>
        </p:nvCxnSpPr>
        <p:spPr>
          <a:xfrm flipH="1" flipV="1">
            <a:off x="4223657" y="4241074"/>
            <a:ext cx="2634343" cy="227726"/>
          </a:xfrm>
          <a:prstGeom prst="straightConnector1">
            <a:avLst/>
          </a:prstGeom>
          <a:ln w="25400">
            <a:solidFill>
              <a:schemeClr val="accent3"/>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cxnSpLocks/>
          </p:cNvCxnSpPr>
          <p:nvPr/>
        </p:nvCxnSpPr>
        <p:spPr>
          <a:xfrm flipH="1" flipV="1">
            <a:off x="5943600" y="4241074"/>
            <a:ext cx="1574800" cy="227727"/>
          </a:xfrm>
          <a:prstGeom prst="straightConnector1">
            <a:avLst/>
          </a:prstGeom>
          <a:ln w="25400">
            <a:solidFill>
              <a:schemeClr val="accent3"/>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cxnSpLocks/>
          </p:cNvCxnSpPr>
          <p:nvPr/>
        </p:nvCxnSpPr>
        <p:spPr>
          <a:xfrm flipH="1" flipV="1">
            <a:off x="7518400" y="4241074"/>
            <a:ext cx="212939" cy="227727"/>
          </a:xfrm>
          <a:prstGeom prst="straightConnector1">
            <a:avLst/>
          </a:prstGeom>
          <a:ln w="25400">
            <a:solidFill>
              <a:schemeClr val="accent3"/>
            </a:solidFill>
            <a:tailEnd type="arrow" w="lg"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cxnSpLocks/>
          </p:cNvCxnSpPr>
          <p:nvPr/>
        </p:nvCxnSpPr>
        <p:spPr>
          <a:xfrm flipH="1" flipV="1">
            <a:off x="4127863" y="4468799"/>
            <a:ext cx="2044339" cy="184666"/>
          </a:xfrm>
          <a:prstGeom prst="straightConnector1">
            <a:avLst/>
          </a:prstGeom>
          <a:ln w="25400">
            <a:solidFill>
              <a:schemeClr val="accent3"/>
            </a:solidFill>
            <a:tailEnd type="arrow"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67556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Title 1"/>
          <p:cNvSpPr txBox="1">
            <a:spLocks noGrp="1"/>
          </p:cNvSpPr>
          <p:nvPr>
            <p:ph type="title"/>
          </p:nvPr>
        </p:nvSpPr>
        <p:spPr>
          <a:prstGeom prst="rect">
            <a:avLst/>
          </a:prstGeom>
        </p:spPr>
        <p:txBody>
          <a:bodyPr/>
          <a:lstStyle/>
          <a:p>
            <a:r>
              <a:t>Compressing a Hash Code</a:t>
            </a:r>
          </a:p>
        </p:txBody>
      </p:sp>
      <p:sp>
        <p:nvSpPr>
          <p:cNvPr id="84" name="Content Placeholder 2"/>
          <p:cNvSpPr txBox="1">
            <a:spLocks noGrp="1"/>
          </p:cNvSpPr>
          <p:nvPr>
            <p:ph type="body" idx="1"/>
          </p:nvPr>
        </p:nvSpPr>
        <p:spPr>
          <a:xfrm>
            <a:off x="760615" y="1448781"/>
            <a:ext cx="10515600" cy="5351030"/>
          </a:xfrm>
          <a:prstGeom prst="rect">
            <a:avLst/>
          </a:prstGeom>
        </p:spPr>
        <p:txBody>
          <a:bodyPr/>
          <a:lstStyle/>
          <a:p>
            <a:r>
              <a:rPr dirty="0"/>
              <a:t>Common way to scale an integer</a:t>
            </a:r>
          </a:p>
          <a:p>
            <a:pPr lvl="1"/>
            <a:r>
              <a:rPr dirty="0"/>
              <a:t>Use Java mod operator </a:t>
            </a:r>
            <a:r>
              <a:rPr b="1" dirty="0"/>
              <a:t>%</a:t>
            </a:r>
            <a:r>
              <a:rPr dirty="0"/>
              <a:t>: </a:t>
            </a:r>
            <a:r>
              <a:rPr lang="en-US" dirty="0"/>
              <a:t> </a:t>
            </a:r>
            <a:r>
              <a:rPr lang="en-US" dirty="0" err="1"/>
              <a:t>hashCode</a:t>
            </a:r>
            <a:r>
              <a:rPr lang="en-US" dirty="0"/>
              <a:t> </a:t>
            </a:r>
            <a:r>
              <a:rPr b="1" dirty="0">
                <a:latin typeface="Courier New"/>
                <a:ea typeface="Courier New"/>
                <a:cs typeface="Courier New"/>
                <a:sym typeface="Courier New"/>
              </a:rPr>
              <a:t>% n</a:t>
            </a:r>
          </a:p>
          <a:p>
            <a:r>
              <a:rPr dirty="0"/>
              <a:t>Best to use </a:t>
            </a:r>
            <a:r>
              <a:rPr lang="en-US" dirty="0"/>
              <a:t>a prime </a:t>
            </a:r>
            <a:r>
              <a:rPr dirty="0"/>
              <a:t>number for </a:t>
            </a:r>
            <a:r>
              <a:rPr i="1" dirty="0">
                <a:latin typeface="Times New Roman"/>
                <a:ea typeface="Times New Roman"/>
                <a:cs typeface="Times New Roman"/>
                <a:sym typeface="Times New Roman"/>
              </a:rPr>
              <a:t>n</a:t>
            </a:r>
          </a:p>
          <a:p>
            <a:r>
              <a:rPr dirty="0"/>
              <a:t>Prime numbers often give good distribution of hash values</a:t>
            </a:r>
            <a:endParaRPr lang="en-US" dirty="0"/>
          </a:p>
          <a:p>
            <a:r>
              <a:rPr lang="en-US" dirty="0"/>
              <a:t>Java API implementation for </a:t>
            </a:r>
            <a:r>
              <a:rPr lang="en-US" dirty="0" err="1"/>
              <a:t>java.util.Map</a:t>
            </a:r>
            <a:endParaRPr lang="en-US" dirty="0"/>
          </a:p>
          <a:p>
            <a:pPr lvl="1"/>
            <a:r>
              <a:rPr lang="en-US" dirty="0"/>
              <a:t>n is set to an integer power of 2</a:t>
            </a:r>
          </a:p>
          <a:p>
            <a:pPr lvl="1"/>
            <a:r>
              <a:rPr lang="en-US" dirty="0"/>
              <a:t>Use logical bit-wise and (&amp;) compress the </a:t>
            </a:r>
            <a:r>
              <a:rPr lang="en-US" dirty="0" err="1"/>
              <a:t>hashCode</a:t>
            </a:r>
            <a:endParaRPr lang="en-US" dirty="0"/>
          </a:p>
          <a:p>
            <a:pPr marL="914400" lvl="2" indent="0">
              <a:buNone/>
            </a:pPr>
            <a:r>
              <a:rPr lang="en-US" dirty="0"/>
              <a:t>Index = </a:t>
            </a:r>
            <a:r>
              <a:rPr lang="en-US" dirty="0" err="1"/>
              <a:t>hashCode</a:t>
            </a:r>
            <a:r>
              <a:rPr lang="en-US" dirty="0"/>
              <a:t> &amp; (n-1) </a:t>
            </a:r>
            <a:r>
              <a:rPr lang="en-US" dirty="0">
                <a:sym typeface="Wingdings" panose="05000000000000000000" pitchFamily="2" charset="2"/>
              </a:rPr>
              <a:t> index will be in range of 0..(n-1)</a:t>
            </a:r>
          </a:p>
          <a:p>
            <a:pPr marL="914400" lvl="2" indent="0">
              <a:buNone/>
            </a:pPr>
            <a:endParaRPr lang="en-US" dirty="0">
              <a:sym typeface="Wingdings" panose="05000000000000000000" pitchFamily="2" charset="2"/>
            </a:endParaRPr>
          </a:p>
          <a:p>
            <a:pPr marL="914400" lvl="2" indent="0">
              <a:buNone/>
            </a:pPr>
            <a:r>
              <a:rPr lang="en-US" dirty="0">
                <a:sym typeface="Wingdings" panose="05000000000000000000" pitchFamily="2" charset="2"/>
              </a:rPr>
              <a:t>n=4 , </a:t>
            </a:r>
            <a:r>
              <a:rPr lang="en-US" dirty="0" err="1">
                <a:sym typeface="Wingdings" panose="05000000000000000000" pitchFamily="2" charset="2"/>
              </a:rPr>
              <a:t>hashCode</a:t>
            </a:r>
            <a:r>
              <a:rPr lang="en-US" dirty="0">
                <a:sym typeface="Wingdings" panose="05000000000000000000" pitchFamily="2" charset="2"/>
              </a:rPr>
              <a:t>=11</a:t>
            </a:r>
          </a:p>
          <a:p>
            <a:pPr marL="914400" lvl="2" indent="0">
              <a:buNone/>
            </a:pPr>
            <a:endParaRPr dirty="0"/>
          </a:p>
        </p:txBody>
      </p:sp>
    </p:spTree>
    <p:extLst>
      <p:ext uri="{BB962C8B-B14F-4D97-AF65-F5344CB8AC3E}">
        <p14:creationId xmlns:p14="http://schemas.microsoft.com/office/powerpoint/2010/main" val="203728162"/>
      </p:ext>
    </p:extLst>
  </p:cSld>
  <p:clrMapOvr>
    <a:masterClrMapping/>
  </p:clrMapOvr>
  <p:transition spd="med" advTm="134991"/>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itle 1"/>
          <p:cNvSpPr txBox="1">
            <a:spLocks noGrp="1"/>
          </p:cNvSpPr>
          <p:nvPr>
            <p:ph type="title"/>
          </p:nvPr>
        </p:nvSpPr>
        <p:spPr>
          <a:prstGeom prst="rect">
            <a:avLst/>
          </a:prstGeom>
        </p:spPr>
        <p:txBody>
          <a:bodyPr/>
          <a:lstStyle/>
          <a:p>
            <a:r>
              <a:t>Resolving Collisions</a:t>
            </a:r>
          </a:p>
        </p:txBody>
      </p:sp>
      <p:sp>
        <p:nvSpPr>
          <p:cNvPr id="91" name="Content Placeholder 4"/>
          <p:cNvSpPr txBox="1">
            <a:spLocks noGrp="1"/>
          </p:cNvSpPr>
          <p:nvPr>
            <p:ph type="body" idx="1"/>
          </p:nvPr>
        </p:nvSpPr>
        <p:spPr>
          <a:prstGeom prst="rect">
            <a:avLst/>
          </a:prstGeom>
        </p:spPr>
        <p:txBody>
          <a:bodyPr>
            <a:normAutofit lnSpcReduction="10000"/>
          </a:bodyPr>
          <a:lstStyle/>
          <a:p>
            <a:r>
              <a:rPr dirty="0"/>
              <a:t>Collision: </a:t>
            </a:r>
          </a:p>
          <a:p>
            <a:pPr lvl="1"/>
            <a:r>
              <a:rPr dirty="0"/>
              <a:t>Hash function maps search key into a location in hash table already in use</a:t>
            </a:r>
          </a:p>
          <a:p>
            <a:pPr marL="354965" indent="-342265">
              <a:lnSpc>
                <a:spcPct val="100000"/>
              </a:lnSpc>
              <a:spcBef>
                <a:spcPts val="1310"/>
              </a:spcBef>
              <a:buFont typeface="Arial"/>
              <a:buChar char="•"/>
              <a:tabLst>
                <a:tab pos="354965" algn="l"/>
                <a:tab pos="355600" algn="l"/>
              </a:tabLst>
            </a:pPr>
            <a:r>
              <a:rPr lang="en-US" sz="2800" b="1" dirty="0">
                <a:latin typeface="Arial"/>
                <a:cs typeface="Arial"/>
              </a:rPr>
              <a:t>How</a:t>
            </a:r>
            <a:r>
              <a:rPr lang="en-US" sz="2800" b="1" spc="-10" dirty="0">
                <a:latin typeface="Arial"/>
                <a:cs typeface="Arial"/>
              </a:rPr>
              <a:t> </a:t>
            </a:r>
            <a:r>
              <a:rPr lang="en-US" sz="2800" b="1" dirty="0">
                <a:latin typeface="Arial"/>
                <a:cs typeface="Arial"/>
              </a:rPr>
              <a:t>to</a:t>
            </a:r>
            <a:r>
              <a:rPr lang="en-US" sz="2800" b="1" spc="-10" dirty="0">
                <a:latin typeface="Arial"/>
                <a:cs typeface="Arial"/>
              </a:rPr>
              <a:t> </a:t>
            </a:r>
            <a:r>
              <a:rPr lang="en-US" sz="2800" b="1" dirty="0">
                <a:latin typeface="Arial"/>
                <a:cs typeface="Arial"/>
              </a:rPr>
              <a:t>rectify </a:t>
            </a:r>
            <a:r>
              <a:rPr lang="en-US" sz="2800" b="1" spc="-10" dirty="0">
                <a:latin typeface="Arial"/>
                <a:cs typeface="Arial"/>
              </a:rPr>
              <a:t>collisions?</a:t>
            </a:r>
            <a:endParaRPr lang="en-US" sz="2800" dirty="0">
              <a:latin typeface="Arial"/>
              <a:cs typeface="Arial"/>
            </a:endParaRPr>
          </a:p>
          <a:p>
            <a:pPr marL="812165" lvl="1" indent="-342265">
              <a:lnSpc>
                <a:spcPct val="100000"/>
              </a:lnSpc>
              <a:spcBef>
                <a:spcPts val="1215"/>
              </a:spcBef>
              <a:buClr>
                <a:srgbClr val="D1282E"/>
              </a:buClr>
              <a:buChar char="•"/>
              <a:tabLst>
                <a:tab pos="812165" algn="l"/>
                <a:tab pos="812800" algn="l"/>
              </a:tabLst>
            </a:pPr>
            <a:r>
              <a:rPr lang="en-US" sz="2800" dirty="0">
                <a:latin typeface="Arial"/>
                <a:cs typeface="Arial"/>
              </a:rPr>
              <a:t>Think</a:t>
            </a:r>
            <a:r>
              <a:rPr lang="en-US" sz="2800" spc="-20" dirty="0">
                <a:latin typeface="Arial"/>
                <a:cs typeface="Arial"/>
              </a:rPr>
              <a:t> </a:t>
            </a:r>
            <a:r>
              <a:rPr lang="en-US" sz="2800" dirty="0">
                <a:latin typeface="Arial"/>
                <a:cs typeface="Arial"/>
              </a:rPr>
              <a:t>of</a:t>
            </a:r>
            <a:r>
              <a:rPr lang="en-US" sz="2800" spc="-10" dirty="0">
                <a:latin typeface="Arial"/>
                <a:cs typeface="Arial"/>
              </a:rPr>
              <a:t> </a:t>
            </a:r>
            <a:r>
              <a:rPr lang="en-US" sz="2800" dirty="0">
                <a:latin typeface="Arial"/>
                <a:cs typeface="Arial"/>
              </a:rPr>
              <a:t>a</a:t>
            </a:r>
            <a:r>
              <a:rPr lang="en-US" sz="2800" spc="-5" dirty="0">
                <a:latin typeface="Arial"/>
                <a:cs typeface="Arial"/>
              </a:rPr>
              <a:t> </a:t>
            </a:r>
            <a:r>
              <a:rPr lang="en-US" sz="2800" dirty="0">
                <a:latin typeface="Arial"/>
                <a:cs typeface="Arial"/>
              </a:rPr>
              <a:t>strategy</a:t>
            </a:r>
            <a:r>
              <a:rPr lang="en-US" sz="2800" spc="-5" dirty="0">
                <a:latin typeface="Arial"/>
                <a:cs typeface="Arial"/>
              </a:rPr>
              <a:t> </a:t>
            </a:r>
            <a:r>
              <a:rPr lang="en-US" sz="2800" dirty="0">
                <a:latin typeface="Arial"/>
                <a:cs typeface="Arial"/>
              </a:rPr>
              <a:t>for</a:t>
            </a:r>
            <a:r>
              <a:rPr lang="en-US" sz="2800" spc="-10" dirty="0">
                <a:latin typeface="Arial"/>
                <a:cs typeface="Arial"/>
              </a:rPr>
              <a:t> </a:t>
            </a:r>
            <a:r>
              <a:rPr lang="en-US" sz="2800" dirty="0">
                <a:latin typeface="Arial"/>
                <a:cs typeface="Arial"/>
              </a:rPr>
              <a:t>a</a:t>
            </a:r>
            <a:r>
              <a:rPr lang="en-US" sz="2800" spc="-5" dirty="0">
                <a:latin typeface="Arial"/>
                <a:cs typeface="Arial"/>
              </a:rPr>
              <a:t> </a:t>
            </a:r>
            <a:r>
              <a:rPr lang="en-US" sz="2800" dirty="0">
                <a:latin typeface="Arial"/>
                <a:cs typeface="Arial"/>
              </a:rPr>
              <a:t>few </a:t>
            </a:r>
            <a:r>
              <a:rPr lang="en-US" sz="2800" spc="-10" dirty="0">
                <a:latin typeface="Arial"/>
                <a:cs typeface="Arial"/>
              </a:rPr>
              <a:t>minutes</a:t>
            </a:r>
            <a:endParaRPr lang="en-US" sz="2800" dirty="0">
              <a:latin typeface="Arial"/>
              <a:cs typeface="Arial"/>
            </a:endParaRPr>
          </a:p>
          <a:p>
            <a:pPr marL="354965" indent="-342265">
              <a:lnSpc>
                <a:spcPct val="100000"/>
              </a:lnSpc>
              <a:spcBef>
                <a:spcPts val="640"/>
              </a:spcBef>
              <a:buFont typeface="Arial"/>
              <a:buChar char="•"/>
              <a:tabLst>
                <a:tab pos="354965" algn="l"/>
                <a:tab pos="355600" algn="l"/>
              </a:tabLst>
            </a:pPr>
            <a:r>
              <a:rPr lang="en-US" sz="2800" b="1" dirty="0">
                <a:latin typeface="Arial"/>
                <a:cs typeface="Arial"/>
              </a:rPr>
              <a:t>Possible</a:t>
            </a:r>
            <a:r>
              <a:rPr lang="en-US" sz="2800" b="1" spc="-20" dirty="0">
                <a:latin typeface="Arial"/>
                <a:cs typeface="Arial"/>
              </a:rPr>
              <a:t> </a:t>
            </a:r>
            <a:r>
              <a:rPr lang="en-US" sz="2800" b="1" spc="-10" dirty="0">
                <a:latin typeface="Arial"/>
                <a:cs typeface="Arial"/>
              </a:rPr>
              <a:t>solutions:</a:t>
            </a:r>
            <a:endParaRPr lang="en-US" sz="2800" dirty="0">
              <a:latin typeface="Arial"/>
              <a:cs typeface="Arial"/>
            </a:endParaRPr>
          </a:p>
          <a:p>
            <a:pPr marL="812165" lvl="1" indent="-342265">
              <a:lnSpc>
                <a:spcPct val="100000"/>
              </a:lnSpc>
              <a:spcBef>
                <a:spcPts val="1340"/>
              </a:spcBef>
              <a:buClr>
                <a:srgbClr val="D1282E"/>
              </a:buClr>
              <a:buChar char="•"/>
              <a:tabLst>
                <a:tab pos="812165" algn="l"/>
                <a:tab pos="812800" algn="l"/>
              </a:tabLst>
            </a:pPr>
            <a:r>
              <a:rPr lang="en-US" sz="2800" dirty="0">
                <a:latin typeface="Arial"/>
                <a:cs typeface="Arial"/>
              </a:rPr>
              <a:t>Store</a:t>
            </a:r>
            <a:r>
              <a:rPr lang="en-US" sz="2800" spc="-5" dirty="0">
                <a:latin typeface="Arial"/>
                <a:cs typeface="Arial"/>
              </a:rPr>
              <a:t> </a:t>
            </a:r>
            <a:r>
              <a:rPr lang="en-US" sz="2800" dirty="0">
                <a:latin typeface="Arial"/>
                <a:cs typeface="Arial"/>
              </a:rPr>
              <a:t>in the</a:t>
            </a:r>
            <a:r>
              <a:rPr lang="en-US" sz="2800" spc="-5" dirty="0">
                <a:latin typeface="Arial"/>
                <a:cs typeface="Arial"/>
              </a:rPr>
              <a:t> </a:t>
            </a:r>
            <a:r>
              <a:rPr lang="en-US" sz="2800" dirty="0">
                <a:latin typeface="Arial"/>
                <a:cs typeface="Arial"/>
              </a:rPr>
              <a:t>next</a:t>
            </a:r>
            <a:r>
              <a:rPr lang="en-US" sz="2800" spc="-5" dirty="0">
                <a:latin typeface="Arial"/>
                <a:cs typeface="Arial"/>
              </a:rPr>
              <a:t> </a:t>
            </a:r>
            <a:r>
              <a:rPr lang="en-US" sz="2800" dirty="0">
                <a:latin typeface="Arial"/>
                <a:cs typeface="Arial"/>
              </a:rPr>
              <a:t>available </a:t>
            </a:r>
            <a:r>
              <a:rPr lang="en-US" sz="2800" spc="-10" dirty="0">
                <a:latin typeface="Arial"/>
                <a:cs typeface="Arial"/>
              </a:rPr>
              <a:t>space</a:t>
            </a:r>
            <a:endParaRPr lang="en-US" sz="2800" dirty="0">
              <a:latin typeface="Arial"/>
              <a:cs typeface="Arial"/>
            </a:endParaRPr>
          </a:p>
          <a:p>
            <a:pPr marL="812165" lvl="1" indent="-342265">
              <a:lnSpc>
                <a:spcPct val="100000"/>
              </a:lnSpc>
              <a:spcBef>
                <a:spcPts val="640"/>
              </a:spcBef>
              <a:buClr>
                <a:srgbClr val="D1282E"/>
              </a:buClr>
              <a:buChar char="•"/>
              <a:tabLst>
                <a:tab pos="812165" algn="l"/>
                <a:tab pos="812800" algn="l"/>
              </a:tabLst>
            </a:pPr>
            <a:r>
              <a:rPr lang="en-US" sz="2800" dirty="0">
                <a:latin typeface="Arial"/>
                <a:cs typeface="Arial"/>
              </a:rPr>
              <a:t>Store</a:t>
            </a:r>
            <a:r>
              <a:rPr lang="en-US" sz="2800" spc="-5" dirty="0">
                <a:latin typeface="Arial"/>
                <a:cs typeface="Arial"/>
              </a:rPr>
              <a:t> </a:t>
            </a:r>
            <a:r>
              <a:rPr lang="en-US" sz="2800" dirty="0">
                <a:latin typeface="Arial"/>
                <a:cs typeface="Arial"/>
              </a:rPr>
              <a:t>both</a:t>
            </a:r>
            <a:r>
              <a:rPr lang="en-US" sz="2800" spc="-5" dirty="0">
                <a:latin typeface="Arial"/>
                <a:cs typeface="Arial"/>
              </a:rPr>
              <a:t> </a:t>
            </a:r>
            <a:r>
              <a:rPr lang="en-US" sz="2800" dirty="0">
                <a:latin typeface="Arial"/>
                <a:cs typeface="Arial"/>
              </a:rPr>
              <a:t>in the</a:t>
            </a:r>
            <a:r>
              <a:rPr lang="en-US" sz="2800" spc="-5" dirty="0">
                <a:latin typeface="Arial"/>
                <a:cs typeface="Arial"/>
              </a:rPr>
              <a:t> </a:t>
            </a:r>
            <a:r>
              <a:rPr lang="en-US" sz="2800" dirty="0">
                <a:latin typeface="Arial"/>
                <a:cs typeface="Arial"/>
              </a:rPr>
              <a:t>same </a:t>
            </a:r>
            <a:r>
              <a:rPr lang="en-US" sz="2800" spc="-10" dirty="0">
                <a:latin typeface="Arial"/>
                <a:cs typeface="Arial"/>
              </a:rPr>
              <a:t>space</a:t>
            </a:r>
            <a:endParaRPr lang="en-US" sz="2800" dirty="0">
              <a:latin typeface="Arial"/>
              <a:cs typeface="Arial"/>
            </a:endParaRPr>
          </a:p>
          <a:p>
            <a:pPr marL="812165" lvl="1" indent="-342265">
              <a:lnSpc>
                <a:spcPct val="100000"/>
              </a:lnSpc>
              <a:spcBef>
                <a:spcPts val="640"/>
              </a:spcBef>
              <a:buClr>
                <a:srgbClr val="D1282E"/>
              </a:buClr>
              <a:buChar char="•"/>
              <a:tabLst>
                <a:tab pos="812165" algn="l"/>
                <a:tab pos="812800" algn="l"/>
              </a:tabLst>
            </a:pPr>
            <a:r>
              <a:rPr lang="en-US" sz="2800" dirty="0">
                <a:latin typeface="Arial"/>
                <a:cs typeface="Arial"/>
              </a:rPr>
              <a:t>Try</a:t>
            </a:r>
            <a:r>
              <a:rPr lang="en-US" sz="2800" spc="-60" dirty="0">
                <a:latin typeface="Arial"/>
                <a:cs typeface="Arial"/>
              </a:rPr>
              <a:t> </a:t>
            </a:r>
            <a:r>
              <a:rPr lang="en-US" sz="2800" dirty="0">
                <a:latin typeface="Arial"/>
                <a:cs typeface="Arial"/>
              </a:rPr>
              <a:t>a</a:t>
            </a:r>
            <a:r>
              <a:rPr lang="en-US" sz="2800" spc="-60" dirty="0">
                <a:latin typeface="Arial"/>
                <a:cs typeface="Arial"/>
              </a:rPr>
              <a:t> </a:t>
            </a:r>
            <a:r>
              <a:rPr lang="en-US" sz="2800" dirty="0">
                <a:latin typeface="Arial"/>
                <a:cs typeface="Arial"/>
              </a:rPr>
              <a:t>different</a:t>
            </a:r>
            <a:r>
              <a:rPr lang="en-US" sz="2800" spc="-55" dirty="0">
                <a:latin typeface="Arial"/>
                <a:cs typeface="Arial"/>
              </a:rPr>
              <a:t> </a:t>
            </a:r>
            <a:r>
              <a:rPr lang="en-US" sz="2800" spc="-20" dirty="0">
                <a:latin typeface="Arial"/>
                <a:cs typeface="Arial"/>
              </a:rPr>
              <a:t>hash</a:t>
            </a:r>
            <a:endParaRPr lang="en-US" sz="2800" dirty="0">
              <a:latin typeface="Arial"/>
              <a:cs typeface="Arial"/>
            </a:endParaRPr>
          </a:p>
          <a:p>
            <a:pPr marL="812165" lvl="1" indent="-342265">
              <a:lnSpc>
                <a:spcPct val="100000"/>
              </a:lnSpc>
              <a:spcBef>
                <a:spcPts val="735"/>
              </a:spcBef>
              <a:buClr>
                <a:srgbClr val="D1282E"/>
              </a:buClr>
              <a:buChar char="•"/>
              <a:tabLst>
                <a:tab pos="812165" algn="l"/>
                <a:tab pos="812800" algn="l"/>
              </a:tabLst>
            </a:pPr>
            <a:r>
              <a:rPr lang="en-US" sz="2800" dirty="0">
                <a:latin typeface="Arial"/>
                <a:cs typeface="Arial"/>
              </a:rPr>
              <a:t>Resize</a:t>
            </a:r>
            <a:r>
              <a:rPr lang="en-US" sz="2800" spc="-5" dirty="0">
                <a:latin typeface="Arial"/>
                <a:cs typeface="Arial"/>
              </a:rPr>
              <a:t> </a:t>
            </a:r>
            <a:r>
              <a:rPr lang="en-US" sz="2800" dirty="0">
                <a:latin typeface="Arial"/>
                <a:cs typeface="Arial"/>
              </a:rPr>
              <a:t>the </a:t>
            </a:r>
            <a:r>
              <a:rPr lang="en-US" sz="2800" spc="-10" dirty="0">
                <a:latin typeface="Arial"/>
                <a:cs typeface="Arial"/>
              </a:rPr>
              <a:t>array</a:t>
            </a:r>
            <a:endParaRPr dirty="0"/>
          </a:p>
        </p:txBody>
      </p:sp>
    </p:spTree>
    <p:extLst>
      <p:ext uri="{BB962C8B-B14F-4D97-AF65-F5344CB8AC3E}">
        <p14:creationId xmlns:p14="http://schemas.microsoft.com/office/powerpoint/2010/main" val="3621755068"/>
      </p:ext>
    </p:extLst>
  </p:cSld>
  <p:clrMapOvr>
    <a:masterClrMapping/>
  </p:clrMapOvr>
  <p:transition spd="med" advTm="42195"/>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itle 1"/>
          <p:cNvSpPr txBox="1">
            <a:spLocks noGrp="1"/>
          </p:cNvSpPr>
          <p:nvPr>
            <p:ph type="title"/>
          </p:nvPr>
        </p:nvSpPr>
        <p:spPr>
          <a:prstGeom prst="rect">
            <a:avLst/>
          </a:prstGeom>
        </p:spPr>
        <p:txBody>
          <a:bodyPr/>
          <a:lstStyle/>
          <a:p>
            <a:r>
              <a:t>Resolving Collisions</a:t>
            </a:r>
          </a:p>
        </p:txBody>
      </p:sp>
      <p:sp>
        <p:nvSpPr>
          <p:cNvPr id="94" name="Content Placeholder 2"/>
          <p:cNvSpPr txBox="1">
            <a:spLocks noGrp="1"/>
          </p:cNvSpPr>
          <p:nvPr>
            <p:ph type="body" idx="1"/>
          </p:nvPr>
        </p:nvSpPr>
        <p:spPr>
          <a:prstGeom prst="rect">
            <a:avLst/>
          </a:prstGeom>
        </p:spPr>
        <p:txBody>
          <a:bodyPr/>
          <a:lstStyle/>
          <a:p>
            <a:r>
              <a:rPr b="1" dirty="0"/>
              <a:t>Linear probing</a:t>
            </a:r>
            <a:r>
              <a:rPr dirty="0"/>
              <a:t> </a:t>
            </a:r>
          </a:p>
          <a:p>
            <a:pPr lvl="1"/>
            <a:r>
              <a:rPr dirty="0"/>
              <a:t>Resolves a collision during hashing by examining consecutive locations in hash table</a:t>
            </a:r>
          </a:p>
          <a:p>
            <a:pPr lvl="1"/>
            <a:r>
              <a:rPr dirty="0"/>
              <a:t>Beginning at original hash index  </a:t>
            </a:r>
          </a:p>
          <a:p>
            <a:pPr lvl="1"/>
            <a:r>
              <a:rPr dirty="0"/>
              <a:t>Find the next available one</a:t>
            </a:r>
          </a:p>
          <a:p>
            <a:r>
              <a:rPr dirty="0"/>
              <a:t>Table locations checked make up probe sequence</a:t>
            </a:r>
          </a:p>
          <a:p>
            <a:r>
              <a:rPr dirty="0"/>
              <a:t>If probe sequence reaches end of table, go to beginning of table (circular hash table)</a:t>
            </a:r>
            <a:endParaRPr lang="en-US" dirty="0"/>
          </a:p>
          <a:p>
            <a:pPr lvl="2"/>
            <a:r>
              <a:rPr lang="en-US" altLang="en-US" dirty="0"/>
              <a:t>Possible problem</a:t>
            </a:r>
          </a:p>
          <a:p>
            <a:pPr lvl="3"/>
            <a:r>
              <a:rPr lang="en-US" altLang="en-US" dirty="0"/>
              <a:t>Primary clustering</a:t>
            </a:r>
          </a:p>
          <a:p>
            <a:pPr marL="0" indent="0">
              <a:buNone/>
            </a:pPr>
            <a:endParaRPr dirty="0"/>
          </a:p>
        </p:txBody>
      </p:sp>
    </p:spTree>
    <p:extLst>
      <p:ext uri="{BB962C8B-B14F-4D97-AF65-F5344CB8AC3E}">
        <p14:creationId xmlns:p14="http://schemas.microsoft.com/office/powerpoint/2010/main" val="2420509467"/>
      </p:ext>
    </p:extLst>
  </p:cSld>
  <p:clrMapOvr>
    <a:masterClrMapping/>
  </p:clrMapOvr>
  <p:transition spd="med" advTm="61936"/>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Title 1"/>
          <p:cNvSpPr txBox="1">
            <a:spLocks noGrp="1"/>
          </p:cNvSpPr>
          <p:nvPr>
            <p:ph type="title"/>
          </p:nvPr>
        </p:nvSpPr>
        <p:spPr>
          <a:prstGeom prst="rect">
            <a:avLst/>
          </a:prstGeom>
        </p:spPr>
        <p:txBody>
          <a:bodyPr/>
          <a:lstStyle/>
          <a:p>
            <a:r>
              <a:t>Linear Probing</a:t>
            </a:r>
          </a:p>
        </p:txBody>
      </p:sp>
      <p:sp>
        <p:nvSpPr>
          <p:cNvPr id="97" name="FIGURE 22-3 The effect of linear probing after adding four entries whose search keys hash to the same index"/>
          <p:cNvSpPr txBox="1">
            <a:spLocks noGrp="1"/>
          </p:cNvSpPr>
          <p:nvPr>
            <p:ph type="body" sz="quarter" idx="1"/>
          </p:nvPr>
        </p:nvSpPr>
        <p:spPr>
          <a:xfrm>
            <a:off x="1981200" y="5604202"/>
            <a:ext cx="8229600" cy="807815"/>
          </a:xfrm>
          <a:prstGeom prst="rect">
            <a:avLst/>
          </a:prstGeom>
        </p:spPr>
        <p:txBody>
          <a:bodyPr/>
          <a:lstStyle>
            <a:lvl1pPr defTabSz="448055">
              <a:defRPr sz="2156"/>
            </a:lvl1pPr>
          </a:lstStyle>
          <a:p>
            <a:r>
              <a:rPr dirty="0"/>
              <a:t>The effect of linear probing after adding four entries whose search keys hash to the same index</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0526" y="567070"/>
            <a:ext cx="6102000" cy="4961860"/>
          </a:xfrm>
          <a:prstGeom prst="rect">
            <a:avLst/>
          </a:prstGeom>
        </p:spPr>
      </p:pic>
      <p:sp>
        <p:nvSpPr>
          <p:cNvPr id="3" name="TextBox 2"/>
          <p:cNvSpPr txBox="1"/>
          <p:nvPr/>
        </p:nvSpPr>
        <p:spPr>
          <a:xfrm>
            <a:off x="5238307" y="1543658"/>
            <a:ext cx="418704" cy="369332"/>
          </a:xfrm>
          <a:prstGeom prst="rect">
            <a:avLst/>
          </a:prstGeom>
          <a:noFill/>
        </p:spPr>
        <p:txBody>
          <a:bodyPr wrap="none" rtlCol="0">
            <a:spAutoFit/>
          </a:bodyPr>
          <a:lstStyle/>
          <a:p>
            <a:r>
              <a:rPr lang="en-US" dirty="0"/>
              <a:t>64</a:t>
            </a:r>
          </a:p>
        </p:txBody>
      </p:sp>
    </p:spTree>
    <p:extLst>
      <p:ext uri="{BB962C8B-B14F-4D97-AF65-F5344CB8AC3E}">
        <p14:creationId xmlns:p14="http://schemas.microsoft.com/office/powerpoint/2010/main" val="2302361061"/>
      </p:ext>
    </p:extLst>
  </p:cSld>
  <p:clrMapOvr>
    <a:masterClrMapping/>
  </p:clrMapOvr>
  <p:transition spd="med" advTm="127194"/>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custDataLst>
              <p:tags r:id="rId1"/>
            </p:custDataLst>
          </p:nvPr>
        </p:nvSpPr>
        <p:spPr/>
        <p:txBody>
          <a:bodyPr/>
          <a:lstStyle/>
          <a:p>
            <a:pPr eaLnBrk="1" hangingPunct="1"/>
            <a:r>
              <a:rPr lang="en-US" dirty="0"/>
              <a:t>Open Addressing: Linear Probing</a:t>
            </a:r>
          </a:p>
        </p:txBody>
      </p:sp>
      <p:sp>
        <p:nvSpPr>
          <p:cNvPr id="22530" name="Content Placeholder 2"/>
          <p:cNvSpPr>
            <a:spLocks noGrp="1"/>
          </p:cNvSpPr>
          <p:nvPr>
            <p:ph idx="1"/>
            <p:custDataLst>
              <p:tags r:id="rId2"/>
            </p:custDataLst>
          </p:nvPr>
        </p:nvSpPr>
        <p:spPr>
          <a:xfrm>
            <a:off x="3578578" y="1611086"/>
            <a:ext cx="6860822" cy="4637314"/>
          </a:xfrm>
        </p:spPr>
        <p:txBody>
          <a:bodyPr>
            <a:normAutofit/>
          </a:bodyPr>
          <a:lstStyle/>
          <a:p>
            <a:pPr marL="0" indent="0">
              <a:buNone/>
            </a:pPr>
            <a:endParaRPr lang="en-US" sz="2400" dirty="0"/>
          </a:p>
          <a:p>
            <a:pPr marL="0" indent="0">
              <a:buNone/>
            </a:pPr>
            <a:r>
              <a:rPr lang="en-US" sz="2600" dirty="0"/>
              <a:t>How to deal with collisions?</a:t>
            </a:r>
          </a:p>
          <a:p>
            <a:pPr marL="0" indent="0">
              <a:buNone/>
            </a:pPr>
            <a:r>
              <a:rPr lang="en-US" sz="2600" dirty="0"/>
              <a:t>   (h(key) + </a:t>
            </a:r>
            <a:r>
              <a:rPr lang="en-US" sz="2600" i="1" dirty="0" err="1"/>
              <a:t>i</a:t>
            </a:r>
            <a:r>
              <a:rPr lang="en-US" sz="2600" dirty="0"/>
              <a:t>) % </a:t>
            </a:r>
            <a:r>
              <a:rPr lang="en-US" b="1" dirty="0" err="1">
                <a:latin typeface="Courier New" pitchFamily="49" charset="0"/>
                <a:cs typeface="Courier New" pitchFamily="49" charset="0"/>
              </a:rPr>
              <a:t>TableSize</a:t>
            </a:r>
            <a:r>
              <a:rPr lang="en-US" b="1" dirty="0">
                <a:latin typeface="Courier New" pitchFamily="49" charset="0"/>
                <a:cs typeface="Courier New" pitchFamily="49" charset="0"/>
              </a:rPr>
              <a:t> for </a:t>
            </a:r>
            <a:r>
              <a:rPr lang="en-US" b="1" i="1" dirty="0" err="1">
                <a:latin typeface="Courier New" pitchFamily="49" charset="0"/>
                <a:cs typeface="Courier New" pitchFamily="49" charset="0"/>
              </a:rPr>
              <a:t>i</a:t>
            </a:r>
            <a:r>
              <a:rPr lang="en-US" b="1" i="1" dirty="0">
                <a:latin typeface="Courier New" pitchFamily="49" charset="0"/>
                <a:cs typeface="Courier New" pitchFamily="49" charset="0"/>
              </a:rPr>
              <a:t>&gt;=0</a:t>
            </a:r>
            <a:endParaRPr lang="en-US" sz="2600" i="1" dirty="0"/>
          </a:p>
          <a:p>
            <a:pPr marL="225425" indent="0">
              <a:buNone/>
            </a:pPr>
            <a:r>
              <a:rPr lang="en-US" sz="2400" dirty="0"/>
              <a:t>If </a:t>
            </a:r>
            <a:r>
              <a:rPr lang="en-US" sz="2400" b="1" dirty="0">
                <a:latin typeface="Courier New" pitchFamily="49" charset="0"/>
                <a:cs typeface="Courier New" pitchFamily="49" charset="0"/>
              </a:rPr>
              <a:t>h(key)</a:t>
            </a:r>
            <a:r>
              <a:rPr lang="en-US" sz="2400" dirty="0"/>
              <a:t> is already full, </a:t>
            </a:r>
          </a:p>
          <a:p>
            <a:pPr marL="225425" indent="0">
              <a:buNone/>
            </a:pPr>
            <a:r>
              <a:rPr lang="en-US" sz="2400" dirty="0"/>
              <a:t>try </a:t>
            </a:r>
            <a:r>
              <a:rPr lang="en-US" sz="2400" b="1" dirty="0">
                <a:latin typeface="Courier New" pitchFamily="49" charset="0"/>
                <a:cs typeface="Courier New" pitchFamily="49" charset="0"/>
              </a:rPr>
              <a:t>(h(key) + 1) % </a:t>
            </a:r>
            <a:r>
              <a:rPr lang="en-US" sz="2400" b="1" dirty="0" err="1">
                <a:latin typeface="Courier New" pitchFamily="49" charset="0"/>
                <a:cs typeface="Courier New" pitchFamily="49" charset="0"/>
              </a:rPr>
              <a:t>TableSize</a:t>
            </a:r>
            <a:r>
              <a:rPr lang="en-US" sz="2400" dirty="0"/>
              <a:t>.  If full,</a:t>
            </a:r>
          </a:p>
          <a:p>
            <a:pPr marL="225425" indent="0">
              <a:buNone/>
            </a:pPr>
            <a:r>
              <a:rPr lang="en-US" sz="2400" dirty="0"/>
              <a:t>try </a:t>
            </a:r>
            <a:r>
              <a:rPr lang="en-US" sz="2400" b="1" dirty="0">
                <a:latin typeface="Courier New" pitchFamily="49" charset="0"/>
                <a:cs typeface="Courier New" pitchFamily="49" charset="0"/>
              </a:rPr>
              <a:t>(h(key) + 2) % </a:t>
            </a:r>
            <a:r>
              <a:rPr lang="en-US" sz="2400" b="1" dirty="0" err="1">
                <a:latin typeface="Courier New" pitchFamily="49" charset="0"/>
                <a:cs typeface="Courier New" pitchFamily="49" charset="0"/>
              </a:rPr>
              <a:t>TableSize</a:t>
            </a:r>
            <a:r>
              <a:rPr lang="en-US" sz="2400" dirty="0"/>
              <a:t>.  If full,</a:t>
            </a:r>
          </a:p>
          <a:p>
            <a:pPr marL="225425" indent="0">
              <a:buNone/>
            </a:pPr>
            <a:r>
              <a:rPr lang="en-US" sz="2400" dirty="0"/>
              <a:t>try </a:t>
            </a:r>
            <a:r>
              <a:rPr lang="en-US" sz="2400" b="1" dirty="0">
                <a:latin typeface="Courier New" pitchFamily="49" charset="0"/>
                <a:cs typeface="Courier New" pitchFamily="49" charset="0"/>
              </a:rPr>
              <a:t>(h(key) + 3) % </a:t>
            </a:r>
            <a:r>
              <a:rPr lang="en-US" sz="2400" b="1" dirty="0" err="1">
                <a:latin typeface="Courier New" pitchFamily="49" charset="0"/>
                <a:cs typeface="Courier New" pitchFamily="49" charset="0"/>
              </a:rPr>
              <a:t>TableSize</a:t>
            </a:r>
            <a:r>
              <a:rPr lang="en-US" sz="2400" dirty="0"/>
              <a:t>.  If full…</a:t>
            </a:r>
          </a:p>
          <a:p>
            <a:pPr lvl="1" eaLnBrk="1" hangingPunct="1"/>
            <a:endParaRPr lang="en-US" dirty="0"/>
          </a:p>
          <a:p>
            <a:pPr marL="0" indent="0">
              <a:buNone/>
            </a:pPr>
            <a:r>
              <a:rPr lang="en-US" sz="2400" dirty="0"/>
              <a:t>Example: insert 38, 19, 8, 79, 10</a:t>
            </a:r>
          </a:p>
        </p:txBody>
      </p:sp>
      <p:graphicFrame>
        <p:nvGraphicFramePr>
          <p:cNvPr id="5" name="Group 64"/>
          <p:cNvGraphicFramePr>
            <a:graphicFrameLocks noGrp="1"/>
          </p:cNvGraphicFramePr>
          <p:nvPr>
            <p:custDataLst>
              <p:tags r:id="rId3"/>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 name="Slide Number Placeholder 3"/>
          <p:cNvSpPr>
            <a:spLocks noGrp="1"/>
          </p:cNvSpPr>
          <p:nvPr>
            <p:ph type="sldNum" sz="quarter" idx="12"/>
          </p:nvPr>
        </p:nvSpPr>
        <p:spPr/>
        <p:txBody>
          <a:bodyPr/>
          <a:lstStyle/>
          <a:p>
            <a:fld id="{2781ADA0-3BB4-460A-B7EB-C1A8DEAFE2E2}" type="slidenum">
              <a:rPr lang="en-US" smtClean="0"/>
              <a:t>48</a:t>
            </a:fld>
            <a:endParaRPr lang="en-US"/>
          </a:p>
        </p:txBody>
      </p:sp>
    </p:spTree>
    <p:extLst>
      <p:ext uri="{BB962C8B-B14F-4D97-AF65-F5344CB8AC3E}">
        <p14:creationId xmlns:p14="http://schemas.microsoft.com/office/powerpoint/2010/main" val="2486237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53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530">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530">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53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53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custDataLst>
              <p:tags r:id="rId1"/>
            </p:custDataLst>
          </p:nvPr>
        </p:nvSpPr>
        <p:spPr/>
        <p:txBody>
          <a:bodyPr/>
          <a:lstStyle/>
          <a:p>
            <a:pPr eaLnBrk="1" hangingPunct="1"/>
            <a:r>
              <a:rPr lang="en-US" dirty="0"/>
              <a:t>Open Addressing: Linear Probing</a:t>
            </a:r>
          </a:p>
        </p:txBody>
      </p:sp>
      <p:sp>
        <p:nvSpPr>
          <p:cNvPr id="22530" name="Content Placeholder 2"/>
          <p:cNvSpPr>
            <a:spLocks noGrp="1"/>
          </p:cNvSpPr>
          <p:nvPr>
            <p:ph idx="1"/>
            <p:custDataLst>
              <p:tags r:id="rId2"/>
            </p:custDataLst>
          </p:nvPr>
        </p:nvSpPr>
        <p:spPr>
          <a:xfrm>
            <a:off x="3761458" y="1280319"/>
            <a:ext cx="6860822" cy="5486400"/>
          </a:xfrm>
        </p:spPr>
        <p:txBody>
          <a:bodyPr>
            <a:normAutofit/>
          </a:bodyPr>
          <a:lstStyle/>
          <a:p>
            <a:pPr marL="0" indent="0">
              <a:buNone/>
            </a:pPr>
            <a:endParaRPr lang="en-US" sz="2400" dirty="0"/>
          </a:p>
          <a:p>
            <a:pPr marL="0" indent="0">
              <a:buNone/>
            </a:pPr>
            <a:r>
              <a:rPr lang="en-US" sz="2600" dirty="0"/>
              <a:t>How to deal with collisions?</a:t>
            </a:r>
          </a:p>
          <a:p>
            <a:pPr marL="0" indent="0">
              <a:buNone/>
            </a:pPr>
            <a:r>
              <a:rPr lang="en-US" sz="2600" dirty="0"/>
              <a:t>   (h(key) + </a:t>
            </a:r>
            <a:r>
              <a:rPr lang="en-US" sz="2600" i="1" dirty="0" err="1"/>
              <a:t>i</a:t>
            </a:r>
            <a:r>
              <a:rPr lang="en-US" sz="2600" dirty="0"/>
              <a:t>) % </a:t>
            </a:r>
            <a:r>
              <a:rPr lang="en-US" b="1" dirty="0" err="1">
                <a:latin typeface="Courier New" pitchFamily="49" charset="0"/>
                <a:cs typeface="Courier New" pitchFamily="49" charset="0"/>
              </a:rPr>
              <a:t>TableSize</a:t>
            </a:r>
            <a:r>
              <a:rPr lang="en-US" b="1" dirty="0">
                <a:latin typeface="Courier New" pitchFamily="49" charset="0"/>
                <a:cs typeface="Courier New" pitchFamily="49" charset="0"/>
              </a:rPr>
              <a:t> for </a:t>
            </a:r>
            <a:r>
              <a:rPr lang="en-US" b="1" i="1" dirty="0" err="1">
                <a:latin typeface="Courier New" pitchFamily="49" charset="0"/>
                <a:cs typeface="Courier New" pitchFamily="49" charset="0"/>
              </a:rPr>
              <a:t>i</a:t>
            </a:r>
            <a:r>
              <a:rPr lang="en-US" b="1" i="1" dirty="0">
                <a:latin typeface="Courier New" pitchFamily="49" charset="0"/>
                <a:cs typeface="Courier New" pitchFamily="49" charset="0"/>
              </a:rPr>
              <a:t>&gt;=0</a:t>
            </a:r>
            <a:endParaRPr lang="en-US" sz="2600" i="1" dirty="0"/>
          </a:p>
          <a:p>
            <a:pPr marL="225425" indent="0">
              <a:buNone/>
            </a:pPr>
            <a:r>
              <a:rPr lang="en-US" sz="2400" dirty="0"/>
              <a:t>If </a:t>
            </a:r>
            <a:r>
              <a:rPr lang="en-US" sz="2400" b="1" dirty="0">
                <a:latin typeface="Courier New" pitchFamily="49" charset="0"/>
                <a:cs typeface="Courier New" pitchFamily="49" charset="0"/>
              </a:rPr>
              <a:t>h(key)</a:t>
            </a:r>
            <a:r>
              <a:rPr lang="en-US" sz="2400" dirty="0"/>
              <a:t> is already full, </a:t>
            </a:r>
          </a:p>
          <a:p>
            <a:pPr marL="225425" indent="0">
              <a:buNone/>
            </a:pPr>
            <a:r>
              <a:rPr lang="en-US" sz="2400" dirty="0"/>
              <a:t>try </a:t>
            </a:r>
            <a:r>
              <a:rPr lang="en-US" sz="2400" b="1" dirty="0">
                <a:latin typeface="Courier New" pitchFamily="49" charset="0"/>
                <a:cs typeface="Courier New" pitchFamily="49" charset="0"/>
              </a:rPr>
              <a:t>(h(key) + 1) % </a:t>
            </a:r>
            <a:r>
              <a:rPr lang="en-US" sz="2400" b="1" dirty="0" err="1">
                <a:latin typeface="Courier New" pitchFamily="49" charset="0"/>
                <a:cs typeface="Courier New" pitchFamily="49" charset="0"/>
              </a:rPr>
              <a:t>TableSize</a:t>
            </a:r>
            <a:r>
              <a:rPr lang="en-US" sz="2400" dirty="0"/>
              <a:t>.  If full,</a:t>
            </a:r>
          </a:p>
          <a:p>
            <a:pPr marL="225425" indent="0">
              <a:buNone/>
            </a:pPr>
            <a:r>
              <a:rPr lang="en-US" sz="2400" dirty="0"/>
              <a:t>try </a:t>
            </a:r>
            <a:r>
              <a:rPr lang="en-US" sz="2400" b="1" dirty="0">
                <a:latin typeface="Courier New" pitchFamily="49" charset="0"/>
                <a:cs typeface="Courier New" pitchFamily="49" charset="0"/>
              </a:rPr>
              <a:t>(h(key) + 2) % </a:t>
            </a:r>
            <a:r>
              <a:rPr lang="en-US" sz="2400" b="1" dirty="0" err="1">
                <a:latin typeface="Courier New" pitchFamily="49" charset="0"/>
                <a:cs typeface="Courier New" pitchFamily="49" charset="0"/>
              </a:rPr>
              <a:t>TableSize</a:t>
            </a:r>
            <a:r>
              <a:rPr lang="en-US" sz="2400" dirty="0"/>
              <a:t>.  If full,</a:t>
            </a:r>
          </a:p>
          <a:p>
            <a:pPr marL="225425" indent="0">
              <a:buNone/>
            </a:pPr>
            <a:r>
              <a:rPr lang="en-US" sz="2400" dirty="0"/>
              <a:t>try </a:t>
            </a:r>
            <a:r>
              <a:rPr lang="en-US" sz="2400" b="1" dirty="0">
                <a:latin typeface="Courier New" pitchFamily="49" charset="0"/>
                <a:cs typeface="Courier New" pitchFamily="49" charset="0"/>
              </a:rPr>
              <a:t>(h(key) + 3) % </a:t>
            </a:r>
            <a:r>
              <a:rPr lang="en-US" sz="2400" b="1" dirty="0" err="1">
                <a:latin typeface="Courier New" pitchFamily="49" charset="0"/>
                <a:cs typeface="Courier New" pitchFamily="49" charset="0"/>
              </a:rPr>
              <a:t>TableSize</a:t>
            </a:r>
            <a:r>
              <a:rPr lang="en-US" sz="2400" dirty="0"/>
              <a:t>.  If full…</a:t>
            </a:r>
          </a:p>
          <a:p>
            <a:pPr lvl="1" eaLnBrk="1" hangingPunct="1"/>
            <a:endParaRPr lang="en-US" dirty="0"/>
          </a:p>
          <a:p>
            <a:pPr marL="0" indent="0">
              <a:buNone/>
            </a:pPr>
            <a:r>
              <a:rPr lang="en-US" sz="2400" dirty="0"/>
              <a:t>Example: insert 38, 19, 8, 79, 10</a:t>
            </a:r>
          </a:p>
        </p:txBody>
      </p:sp>
      <p:graphicFrame>
        <p:nvGraphicFramePr>
          <p:cNvPr id="5" name="Group 64"/>
          <p:cNvGraphicFramePr>
            <a:graphicFrameLocks noGrp="1"/>
          </p:cNvGraphicFramePr>
          <p:nvPr>
            <p:custDataLst>
              <p:tags r:id="rId3"/>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75000"/>
                              <a:lumOff val="25000"/>
                            </a:schemeClr>
                          </a:solidFill>
                          <a:effectLst/>
                          <a:latin typeface="+mj-lt"/>
                        </a:rPr>
                        <a:t>38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 name="Slide Number Placeholder 3"/>
          <p:cNvSpPr>
            <a:spLocks noGrp="1"/>
          </p:cNvSpPr>
          <p:nvPr>
            <p:ph type="sldNum" sz="quarter" idx="12"/>
          </p:nvPr>
        </p:nvSpPr>
        <p:spPr/>
        <p:txBody>
          <a:bodyPr/>
          <a:lstStyle/>
          <a:p>
            <a:fld id="{2781ADA0-3BB4-460A-B7EB-C1A8DEAFE2E2}" type="slidenum">
              <a:rPr lang="en-US" smtClean="0"/>
              <a:t>49</a:t>
            </a:fld>
            <a:endParaRPr lang="en-US"/>
          </a:p>
        </p:txBody>
      </p:sp>
    </p:spTree>
    <p:extLst>
      <p:ext uri="{BB962C8B-B14F-4D97-AF65-F5344CB8AC3E}">
        <p14:creationId xmlns:p14="http://schemas.microsoft.com/office/powerpoint/2010/main" val="42742647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custDataLst>
              <p:tags r:id="rId1"/>
            </p:custDataLst>
          </p:nvPr>
        </p:nvSpPr>
        <p:spPr/>
        <p:txBody>
          <a:bodyPr/>
          <a:lstStyle/>
          <a:p>
            <a:pPr eaLnBrk="1" hangingPunct="1"/>
            <a:r>
              <a:rPr lang="en-US" dirty="0"/>
              <a:t>Open Addressing: Linear Probing</a:t>
            </a:r>
          </a:p>
        </p:txBody>
      </p:sp>
      <p:sp>
        <p:nvSpPr>
          <p:cNvPr id="22530" name="Content Placeholder 2"/>
          <p:cNvSpPr>
            <a:spLocks noGrp="1"/>
          </p:cNvSpPr>
          <p:nvPr>
            <p:ph idx="1"/>
            <p:custDataLst>
              <p:tags r:id="rId2"/>
            </p:custDataLst>
          </p:nvPr>
        </p:nvSpPr>
        <p:spPr>
          <a:xfrm>
            <a:off x="3578578" y="1447800"/>
            <a:ext cx="6860822" cy="4800600"/>
          </a:xfrm>
        </p:spPr>
        <p:txBody>
          <a:bodyPr>
            <a:normAutofit/>
          </a:bodyPr>
          <a:lstStyle/>
          <a:p>
            <a:pPr marL="0" indent="0">
              <a:buNone/>
            </a:pPr>
            <a:r>
              <a:rPr lang="en-US" sz="2600" dirty="0"/>
              <a:t>How to deal with collisions?</a:t>
            </a:r>
          </a:p>
          <a:p>
            <a:pPr marL="0" indent="0">
              <a:buNone/>
            </a:pPr>
            <a:r>
              <a:rPr lang="en-US" sz="2600" dirty="0"/>
              <a:t>   (h(key) + </a:t>
            </a:r>
            <a:r>
              <a:rPr lang="en-US" sz="2600" i="1" dirty="0" err="1"/>
              <a:t>i</a:t>
            </a:r>
            <a:r>
              <a:rPr lang="en-US" sz="2600" dirty="0"/>
              <a:t>) % </a:t>
            </a:r>
            <a:r>
              <a:rPr lang="en-US" b="1" dirty="0" err="1">
                <a:latin typeface="Courier New" pitchFamily="49" charset="0"/>
                <a:cs typeface="Courier New" pitchFamily="49" charset="0"/>
              </a:rPr>
              <a:t>TableSize</a:t>
            </a:r>
            <a:r>
              <a:rPr lang="en-US" b="1" dirty="0">
                <a:latin typeface="Courier New" pitchFamily="49" charset="0"/>
                <a:cs typeface="Courier New" pitchFamily="49" charset="0"/>
              </a:rPr>
              <a:t> for </a:t>
            </a:r>
            <a:r>
              <a:rPr lang="en-US" b="1" i="1" dirty="0" err="1">
                <a:latin typeface="Courier New" pitchFamily="49" charset="0"/>
                <a:cs typeface="Courier New" pitchFamily="49" charset="0"/>
              </a:rPr>
              <a:t>i</a:t>
            </a:r>
            <a:r>
              <a:rPr lang="en-US" b="1" i="1" dirty="0">
                <a:latin typeface="Courier New" pitchFamily="49" charset="0"/>
                <a:cs typeface="Courier New" pitchFamily="49" charset="0"/>
              </a:rPr>
              <a:t>&gt;=0</a:t>
            </a:r>
            <a:endParaRPr lang="en-US" sz="2600" i="1" dirty="0"/>
          </a:p>
          <a:p>
            <a:pPr marL="225425" indent="0">
              <a:buNone/>
            </a:pPr>
            <a:r>
              <a:rPr lang="en-US" sz="2400" dirty="0"/>
              <a:t>If </a:t>
            </a:r>
            <a:r>
              <a:rPr lang="en-US" sz="2400" b="1" dirty="0">
                <a:latin typeface="Courier New" pitchFamily="49" charset="0"/>
                <a:cs typeface="Courier New" pitchFamily="49" charset="0"/>
              </a:rPr>
              <a:t>h(key)</a:t>
            </a:r>
            <a:r>
              <a:rPr lang="en-US" sz="2400" dirty="0"/>
              <a:t> is already full, </a:t>
            </a:r>
          </a:p>
          <a:p>
            <a:pPr marL="225425" indent="0">
              <a:buNone/>
            </a:pPr>
            <a:r>
              <a:rPr lang="en-US" sz="2400" dirty="0"/>
              <a:t>try </a:t>
            </a:r>
            <a:r>
              <a:rPr lang="en-US" sz="2400" b="1" dirty="0">
                <a:latin typeface="Courier New" pitchFamily="49" charset="0"/>
                <a:cs typeface="Courier New" pitchFamily="49" charset="0"/>
              </a:rPr>
              <a:t>(h(key) + 1) % </a:t>
            </a:r>
            <a:r>
              <a:rPr lang="en-US" sz="2400" b="1" dirty="0" err="1">
                <a:latin typeface="Courier New" pitchFamily="49" charset="0"/>
                <a:cs typeface="Courier New" pitchFamily="49" charset="0"/>
              </a:rPr>
              <a:t>TableSize</a:t>
            </a:r>
            <a:r>
              <a:rPr lang="en-US" sz="2400" dirty="0"/>
              <a:t>.  If full,</a:t>
            </a:r>
          </a:p>
          <a:p>
            <a:pPr marL="225425" indent="0">
              <a:buNone/>
            </a:pPr>
            <a:r>
              <a:rPr lang="en-US" sz="2400" dirty="0"/>
              <a:t>try </a:t>
            </a:r>
            <a:r>
              <a:rPr lang="en-US" sz="2400" b="1" dirty="0">
                <a:latin typeface="Courier New" pitchFamily="49" charset="0"/>
                <a:cs typeface="Courier New" pitchFamily="49" charset="0"/>
              </a:rPr>
              <a:t>(h(key) + 2) % </a:t>
            </a:r>
            <a:r>
              <a:rPr lang="en-US" sz="2400" b="1" dirty="0" err="1">
                <a:latin typeface="Courier New" pitchFamily="49" charset="0"/>
                <a:cs typeface="Courier New" pitchFamily="49" charset="0"/>
              </a:rPr>
              <a:t>TableSize</a:t>
            </a:r>
            <a:r>
              <a:rPr lang="en-US" sz="2400" dirty="0"/>
              <a:t>.  If full,</a:t>
            </a:r>
          </a:p>
          <a:p>
            <a:pPr marL="225425" indent="0">
              <a:buNone/>
            </a:pPr>
            <a:r>
              <a:rPr lang="en-US" sz="2400" dirty="0"/>
              <a:t>try </a:t>
            </a:r>
            <a:r>
              <a:rPr lang="en-US" sz="2400" b="1" dirty="0">
                <a:latin typeface="Courier New" pitchFamily="49" charset="0"/>
                <a:cs typeface="Courier New" pitchFamily="49" charset="0"/>
              </a:rPr>
              <a:t>(h(key) + 3) % </a:t>
            </a:r>
            <a:r>
              <a:rPr lang="en-US" sz="2400" b="1" dirty="0" err="1">
                <a:latin typeface="Courier New" pitchFamily="49" charset="0"/>
                <a:cs typeface="Courier New" pitchFamily="49" charset="0"/>
              </a:rPr>
              <a:t>TableSize</a:t>
            </a:r>
            <a:r>
              <a:rPr lang="en-US" sz="2400" dirty="0"/>
              <a:t>.  If full…</a:t>
            </a:r>
          </a:p>
          <a:p>
            <a:pPr lvl="1" eaLnBrk="1" hangingPunct="1"/>
            <a:endParaRPr lang="en-US" dirty="0"/>
          </a:p>
          <a:p>
            <a:pPr marL="0" indent="0">
              <a:buNone/>
            </a:pPr>
            <a:r>
              <a:rPr lang="en-US" sz="2400" dirty="0"/>
              <a:t>Example: insert 38, 19, 8, 79, 10</a:t>
            </a:r>
          </a:p>
        </p:txBody>
      </p:sp>
      <p:graphicFrame>
        <p:nvGraphicFramePr>
          <p:cNvPr id="5" name="Group 64"/>
          <p:cNvGraphicFramePr>
            <a:graphicFrameLocks noGrp="1"/>
          </p:cNvGraphicFramePr>
          <p:nvPr>
            <p:custDataLst>
              <p:tags r:id="rId3"/>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75000"/>
                              <a:lumOff val="25000"/>
                            </a:schemeClr>
                          </a:solidFill>
                          <a:effectLst/>
                          <a:latin typeface="+mj-lt"/>
                        </a:rPr>
                        <a:t>19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 name="Slide Number Placeholder 3"/>
          <p:cNvSpPr>
            <a:spLocks noGrp="1"/>
          </p:cNvSpPr>
          <p:nvPr>
            <p:ph type="sldNum" sz="quarter" idx="12"/>
          </p:nvPr>
        </p:nvSpPr>
        <p:spPr/>
        <p:txBody>
          <a:bodyPr/>
          <a:lstStyle/>
          <a:p>
            <a:fld id="{2781ADA0-3BB4-460A-B7EB-C1A8DEAFE2E2}" type="slidenum">
              <a:rPr lang="en-US" smtClean="0"/>
              <a:t>50</a:t>
            </a:fld>
            <a:endParaRPr lang="en-US"/>
          </a:p>
        </p:txBody>
      </p:sp>
    </p:spTree>
    <p:extLst>
      <p:ext uri="{BB962C8B-B14F-4D97-AF65-F5344CB8AC3E}">
        <p14:creationId xmlns:p14="http://schemas.microsoft.com/office/powerpoint/2010/main" val="4448795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custDataLst>
              <p:tags r:id="rId1"/>
            </p:custDataLst>
          </p:nvPr>
        </p:nvSpPr>
        <p:spPr/>
        <p:txBody>
          <a:bodyPr/>
          <a:lstStyle/>
          <a:p>
            <a:pPr eaLnBrk="1" hangingPunct="1"/>
            <a:r>
              <a:rPr lang="en-US" dirty="0"/>
              <a:t>Open Addressing: Linear Probing</a:t>
            </a:r>
          </a:p>
        </p:txBody>
      </p:sp>
      <p:sp>
        <p:nvSpPr>
          <p:cNvPr id="22530" name="Content Placeholder 2"/>
          <p:cNvSpPr>
            <a:spLocks noGrp="1"/>
          </p:cNvSpPr>
          <p:nvPr>
            <p:ph idx="1"/>
            <p:custDataLst>
              <p:tags r:id="rId2"/>
            </p:custDataLst>
          </p:nvPr>
        </p:nvSpPr>
        <p:spPr>
          <a:xfrm>
            <a:off x="3578578" y="2098766"/>
            <a:ext cx="6860822" cy="4149634"/>
          </a:xfrm>
        </p:spPr>
        <p:txBody>
          <a:bodyPr>
            <a:normAutofit/>
          </a:bodyPr>
          <a:lstStyle/>
          <a:p>
            <a:pPr marL="0" indent="0">
              <a:buNone/>
            </a:pPr>
            <a:r>
              <a:rPr lang="en-US" sz="2600" dirty="0"/>
              <a:t>How to deal with collisions?</a:t>
            </a:r>
          </a:p>
          <a:p>
            <a:pPr marL="0" indent="0">
              <a:buNone/>
            </a:pPr>
            <a:r>
              <a:rPr lang="en-US" sz="2600" dirty="0"/>
              <a:t>   (h(key) + </a:t>
            </a:r>
            <a:r>
              <a:rPr lang="en-US" sz="2600" i="1" dirty="0" err="1"/>
              <a:t>i</a:t>
            </a:r>
            <a:r>
              <a:rPr lang="en-US" sz="2600" dirty="0"/>
              <a:t>) % </a:t>
            </a:r>
            <a:r>
              <a:rPr lang="en-US" b="1" dirty="0" err="1">
                <a:latin typeface="Courier New" pitchFamily="49" charset="0"/>
                <a:cs typeface="Courier New" pitchFamily="49" charset="0"/>
              </a:rPr>
              <a:t>TableSize</a:t>
            </a:r>
            <a:r>
              <a:rPr lang="en-US" b="1" dirty="0">
                <a:latin typeface="Courier New" pitchFamily="49" charset="0"/>
                <a:cs typeface="Courier New" pitchFamily="49" charset="0"/>
              </a:rPr>
              <a:t> for </a:t>
            </a:r>
            <a:r>
              <a:rPr lang="en-US" b="1" i="1" dirty="0" err="1">
                <a:latin typeface="Courier New" pitchFamily="49" charset="0"/>
                <a:cs typeface="Courier New" pitchFamily="49" charset="0"/>
              </a:rPr>
              <a:t>i</a:t>
            </a:r>
            <a:r>
              <a:rPr lang="en-US" b="1" i="1" dirty="0">
                <a:latin typeface="Courier New" pitchFamily="49" charset="0"/>
                <a:cs typeface="Courier New" pitchFamily="49" charset="0"/>
              </a:rPr>
              <a:t>&gt;=0</a:t>
            </a:r>
            <a:endParaRPr lang="en-US" sz="2600" i="1" dirty="0"/>
          </a:p>
          <a:p>
            <a:pPr marL="225425" indent="0">
              <a:buNone/>
            </a:pPr>
            <a:r>
              <a:rPr lang="en-US" sz="2400" dirty="0"/>
              <a:t>If </a:t>
            </a:r>
            <a:r>
              <a:rPr lang="en-US" sz="2400" b="1" dirty="0">
                <a:latin typeface="Courier New" pitchFamily="49" charset="0"/>
                <a:cs typeface="Courier New" pitchFamily="49" charset="0"/>
              </a:rPr>
              <a:t>h(key)</a:t>
            </a:r>
            <a:r>
              <a:rPr lang="en-US" sz="2400" dirty="0"/>
              <a:t> is already full, </a:t>
            </a:r>
          </a:p>
          <a:p>
            <a:pPr marL="225425" indent="0">
              <a:buNone/>
            </a:pPr>
            <a:r>
              <a:rPr lang="en-US" sz="2400" dirty="0"/>
              <a:t>try </a:t>
            </a:r>
            <a:r>
              <a:rPr lang="en-US" sz="2400" b="1" dirty="0">
                <a:latin typeface="Courier New" pitchFamily="49" charset="0"/>
                <a:cs typeface="Courier New" pitchFamily="49" charset="0"/>
              </a:rPr>
              <a:t>(h(key) + 1) % </a:t>
            </a:r>
            <a:r>
              <a:rPr lang="en-US" sz="2400" b="1" dirty="0" err="1">
                <a:latin typeface="Courier New" pitchFamily="49" charset="0"/>
                <a:cs typeface="Courier New" pitchFamily="49" charset="0"/>
              </a:rPr>
              <a:t>TableSize</a:t>
            </a:r>
            <a:r>
              <a:rPr lang="en-US" sz="2400" dirty="0"/>
              <a:t>.  If full,</a:t>
            </a:r>
          </a:p>
          <a:p>
            <a:pPr marL="225425" indent="0">
              <a:buNone/>
            </a:pPr>
            <a:r>
              <a:rPr lang="en-US" sz="2400" dirty="0"/>
              <a:t>try </a:t>
            </a:r>
            <a:r>
              <a:rPr lang="en-US" sz="2400" b="1" dirty="0">
                <a:latin typeface="Courier New" pitchFamily="49" charset="0"/>
                <a:cs typeface="Courier New" pitchFamily="49" charset="0"/>
              </a:rPr>
              <a:t>(h(key) + 2) % </a:t>
            </a:r>
            <a:r>
              <a:rPr lang="en-US" sz="2400" b="1" dirty="0" err="1">
                <a:latin typeface="Courier New" pitchFamily="49" charset="0"/>
                <a:cs typeface="Courier New" pitchFamily="49" charset="0"/>
              </a:rPr>
              <a:t>TableSize</a:t>
            </a:r>
            <a:r>
              <a:rPr lang="en-US" sz="2400" dirty="0"/>
              <a:t>.  If full,</a:t>
            </a:r>
          </a:p>
          <a:p>
            <a:pPr marL="225425" indent="0">
              <a:buNone/>
            </a:pPr>
            <a:r>
              <a:rPr lang="en-US" sz="2400" dirty="0"/>
              <a:t>try </a:t>
            </a:r>
            <a:r>
              <a:rPr lang="en-US" sz="2400" b="1" dirty="0">
                <a:latin typeface="Courier New" pitchFamily="49" charset="0"/>
                <a:cs typeface="Courier New" pitchFamily="49" charset="0"/>
              </a:rPr>
              <a:t>(h(key) + 3) % </a:t>
            </a:r>
            <a:r>
              <a:rPr lang="en-US" sz="2400" b="1" dirty="0" err="1">
                <a:latin typeface="Courier New" pitchFamily="49" charset="0"/>
                <a:cs typeface="Courier New" pitchFamily="49" charset="0"/>
              </a:rPr>
              <a:t>TableSize</a:t>
            </a:r>
            <a:r>
              <a:rPr lang="en-US" sz="2400" dirty="0"/>
              <a:t>.  If full…</a:t>
            </a:r>
          </a:p>
          <a:p>
            <a:pPr lvl="1" eaLnBrk="1" hangingPunct="1"/>
            <a:endParaRPr lang="en-US" dirty="0"/>
          </a:p>
          <a:p>
            <a:pPr marL="0" indent="0">
              <a:buNone/>
            </a:pPr>
            <a:r>
              <a:rPr lang="en-US" sz="2400" dirty="0"/>
              <a:t>Example: insert 38, 19, 8, 79, 10</a:t>
            </a:r>
          </a:p>
        </p:txBody>
      </p:sp>
      <p:graphicFrame>
        <p:nvGraphicFramePr>
          <p:cNvPr id="5" name="Group 64"/>
          <p:cNvGraphicFramePr>
            <a:graphicFrameLocks noGrp="1"/>
          </p:cNvGraphicFramePr>
          <p:nvPr>
            <p:custDataLst>
              <p:tags r:id="rId3"/>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75000"/>
                              <a:lumOff val="25000"/>
                            </a:schemeClr>
                          </a:solidFill>
                          <a:effectLst/>
                          <a:latin typeface="+mj-lt"/>
                        </a:rPr>
                        <a:t>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 name="Slide Number Placeholder 3"/>
          <p:cNvSpPr>
            <a:spLocks noGrp="1"/>
          </p:cNvSpPr>
          <p:nvPr>
            <p:ph type="sldNum" sz="quarter" idx="12"/>
          </p:nvPr>
        </p:nvSpPr>
        <p:spPr/>
        <p:txBody>
          <a:bodyPr/>
          <a:lstStyle/>
          <a:p>
            <a:fld id="{2781ADA0-3BB4-460A-B7EB-C1A8DEAFE2E2}" type="slidenum">
              <a:rPr lang="en-US" smtClean="0"/>
              <a:t>51</a:t>
            </a:fld>
            <a:endParaRPr lang="en-US"/>
          </a:p>
        </p:txBody>
      </p:sp>
    </p:spTree>
    <p:extLst>
      <p:ext uri="{BB962C8B-B14F-4D97-AF65-F5344CB8AC3E}">
        <p14:creationId xmlns:p14="http://schemas.microsoft.com/office/powerpoint/2010/main" val="31262349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custDataLst>
              <p:tags r:id="rId1"/>
            </p:custDataLst>
          </p:nvPr>
        </p:nvSpPr>
        <p:spPr/>
        <p:txBody>
          <a:bodyPr/>
          <a:lstStyle/>
          <a:p>
            <a:pPr eaLnBrk="1" hangingPunct="1"/>
            <a:r>
              <a:rPr lang="en-US" dirty="0"/>
              <a:t>Open Addressing: Linear Probing</a:t>
            </a:r>
          </a:p>
        </p:txBody>
      </p:sp>
      <p:sp>
        <p:nvSpPr>
          <p:cNvPr id="22530" name="Content Placeholder 2"/>
          <p:cNvSpPr>
            <a:spLocks noGrp="1"/>
          </p:cNvSpPr>
          <p:nvPr>
            <p:ph idx="1"/>
            <p:custDataLst>
              <p:tags r:id="rId2"/>
            </p:custDataLst>
          </p:nvPr>
        </p:nvSpPr>
        <p:spPr>
          <a:xfrm>
            <a:off x="3578578" y="1950720"/>
            <a:ext cx="6860822" cy="4297680"/>
          </a:xfrm>
        </p:spPr>
        <p:txBody>
          <a:bodyPr>
            <a:normAutofit/>
          </a:bodyPr>
          <a:lstStyle/>
          <a:p>
            <a:pPr marL="0" indent="0">
              <a:buNone/>
            </a:pPr>
            <a:r>
              <a:rPr lang="en-US" sz="2600" dirty="0"/>
              <a:t>How to deal with collisions?</a:t>
            </a:r>
          </a:p>
          <a:p>
            <a:pPr marL="0" indent="0">
              <a:buNone/>
            </a:pPr>
            <a:r>
              <a:rPr lang="en-US" sz="2600" dirty="0"/>
              <a:t>   (h(key) + </a:t>
            </a:r>
            <a:r>
              <a:rPr lang="en-US" sz="2600" i="1" dirty="0" err="1"/>
              <a:t>i</a:t>
            </a:r>
            <a:r>
              <a:rPr lang="en-US" sz="2600" dirty="0"/>
              <a:t>) % </a:t>
            </a:r>
            <a:r>
              <a:rPr lang="en-US" b="1" dirty="0" err="1">
                <a:latin typeface="Courier New" pitchFamily="49" charset="0"/>
                <a:cs typeface="Courier New" pitchFamily="49" charset="0"/>
              </a:rPr>
              <a:t>TableSize</a:t>
            </a:r>
            <a:r>
              <a:rPr lang="en-US" b="1" dirty="0">
                <a:latin typeface="Courier New" pitchFamily="49" charset="0"/>
                <a:cs typeface="Courier New" pitchFamily="49" charset="0"/>
              </a:rPr>
              <a:t> for </a:t>
            </a:r>
            <a:r>
              <a:rPr lang="en-US" b="1" i="1" dirty="0" err="1">
                <a:latin typeface="Courier New" pitchFamily="49" charset="0"/>
                <a:cs typeface="Courier New" pitchFamily="49" charset="0"/>
              </a:rPr>
              <a:t>i</a:t>
            </a:r>
            <a:r>
              <a:rPr lang="en-US" b="1" i="1" dirty="0">
                <a:latin typeface="Courier New" pitchFamily="49" charset="0"/>
                <a:cs typeface="Courier New" pitchFamily="49" charset="0"/>
              </a:rPr>
              <a:t>&gt;=0</a:t>
            </a:r>
            <a:endParaRPr lang="en-US" sz="2600" i="1" dirty="0"/>
          </a:p>
          <a:p>
            <a:pPr marL="225425" indent="0">
              <a:buNone/>
            </a:pPr>
            <a:r>
              <a:rPr lang="en-US" sz="2400" dirty="0"/>
              <a:t>If </a:t>
            </a:r>
            <a:r>
              <a:rPr lang="en-US" sz="2400" b="1" dirty="0">
                <a:latin typeface="Courier New" pitchFamily="49" charset="0"/>
                <a:cs typeface="Courier New" pitchFamily="49" charset="0"/>
              </a:rPr>
              <a:t>h(key)</a:t>
            </a:r>
            <a:r>
              <a:rPr lang="en-US" sz="2400" dirty="0"/>
              <a:t> is already full, </a:t>
            </a:r>
          </a:p>
          <a:p>
            <a:pPr marL="225425" indent="0">
              <a:buNone/>
            </a:pPr>
            <a:r>
              <a:rPr lang="en-US" sz="2400" dirty="0"/>
              <a:t>try </a:t>
            </a:r>
            <a:r>
              <a:rPr lang="en-US" sz="2400" b="1" dirty="0">
                <a:latin typeface="Courier New" pitchFamily="49" charset="0"/>
                <a:cs typeface="Courier New" pitchFamily="49" charset="0"/>
              </a:rPr>
              <a:t>(h(key) + 1) % </a:t>
            </a:r>
            <a:r>
              <a:rPr lang="en-US" sz="2400" b="1" dirty="0" err="1">
                <a:latin typeface="Courier New" pitchFamily="49" charset="0"/>
                <a:cs typeface="Courier New" pitchFamily="49" charset="0"/>
              </a:rPr>
              <a:t>TableSize</a:t>
            </a:r>
            <a:r>
              <a:rPr lang="en-US" sz="2400" dirty="0"/>
              <a:t>.  If full,</a:t>
            </a:r>
          </a:p>
          <a:p>
            <a:pPr marL="225425" indent="0">
              <a:buNone/>
            </a:pPr>
            <a:r>
              <a:rPr lang="en-US" sz="2400" dirty="0"/>
              <a:t>try </a:t>
            </a:r>
            <a:r>
              <a:rPr lang="en-US" sz="2400" b="1" dirty="0">
                <a:latin typeface="Courier New" pitchFamily="49" charset="0"/>
                <a:cs typeface="Courier New" pitchFamily="49" charset="0"/>
              </a:rPr>
              <a:t>(h(key) + 2) % </a:t>
            </a:r>
            <a:r>
              <a:rPr lang="en-US" sz="2400" b="1" dirty="0" err="1">
                <a:latin typeface="Courier New" pitchFamily="49" charset="0"/>
                <a:cs typeface="Courier New" pitchFamily="49" charset="0"/>
              </a:rPr>
              <a:t>TableSize</a:t>
            </a:r>
            <a:r>
              <a:rPr lang="en-US" sz="2400" dirty="0"/>
              <a:t>.  If full,</a:t>
            </a:r>
          </a:p>
          <a:p>
            <a:pPr marL="225425" indent="0">
              <a:buNone/>
            </a:pPr>
            <a:r>
              <a:rPr lang="en-US" sz="2400" dirty="0"/>
              <a:t>try </a:t>
            </a:r>
            <a:r>
              <a:rPr lang="en-US" sz="2400" b="1" dirty="0">
                <a:latin typeface="Courier New" pitchFamily="49" charset="0"/>
                <a:cs typeface="Courier New" pitchFamily="49" charset="0"/>
              </a:rPr>
              <a:t>(h(key) + 3) % </a:t>
            </a:r>
            <a:r>
              <a:rPr lang="en-US" sz="2400" b="1" dirty="0" err="1">
                <a:latin typeface="Courier New" pitchFamily="49" charset="0"/>
                <a:cs typeface="Courier New" pitchFamily="49" charset="0"/>
              </a:rPr>
              <a:t>TableSize</a:t>
            </a:r>
            <a:r>
              <a:rPr lang="en-US" sz="2400" dirty="0"/>
              <a:t>.  If full…</a:t>
            </a:r>
          </a:p>
          <a:p>
            <a:pPr lvl="1" eaLnBrk="1" hangingPunct="1"/>
            <a:endParaRPr lang="en-US" dirty="0"/>
          </a:p>
          <a:p>
            <a:pPr marL="0" indent="0">
              <a:buNone/>
            </a:pPr>
            <a:r>
              <a:rPr lang="en-US" sz="2400" dirty="0"/>
              <a:t>Example: insert 38, 19, 8, 79, 10</a:t>
            </a:r>
          </a:p>
        </p:txBody>
      </p:sp>
      <p:graphicFrame>
        <p:nvGraphicFramePr>
          <p:cNvPr id="5" name="Group 64"/>
          <p:cNvGraphicFramePr>
            <a:graphicFrameLocks noGrp="1"/>
          </p:cNvGraphicFramePr>
          <p:nvPr>
            <p:custDataLst>
              <p:tags r:id="rId3"/>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75000"/>
                              <a:lumOff val="25000"/>
                            </a:schemeClr>
                          </a:solidFill>
                          <a:effectLst/>
                          <a:latin typeface="+mj-lt"/>
                        </a:rPr>
                        <a:t>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75000"/>
                              <a:lumOff val="25000"/>
                            </a:schemeClr>
                          </a:solidFill>
                          <a:effectLst/>
                          <a:latin typeface="+mj-lt"/>
                        </a:rPr>
                        <a:t>79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 name="Slide Number Placeholder 3"/>
          <p:cNvSpPr>
            <a:spLocks noGrp="1"/>
          </p:cNvSpPr>
          <p:nvPr>
            <p:ph type="sldNum" sz="quarter" idx="12"/>
          </p:nvPr>
        </p:nvSpPr>
        <p:spPr/>
        <p:txBody>
          <a:bodyPr/>
          <a:lstStyle/>
          <a:p>
            <a:fld id="{2781ADA0-3BB4-460A-B7EB-C1A8DEAFE2E2}" type="slidenum">
              <a:rPr lang="en-US" smtClean="0"/>
              <a:t>52</a:t>
            </a:fld>
            <a:endParaRPr lang="en-US"/>
          </a:p>
        </p:txBody>
      </p:sp>
    </p:spTree>
    <p:extLst>
      <p:ext uri="{BB962C8B-B14F-4D97-AF65-F5344CB8AC3E}">
        <p14:creationId xmlns:p14="http://schemas.microsoft.com/office/powerpoint/2010/main" val="34096932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custDataLst>
              <p:tags r:id="rId1"/>
            </p:custDataLst>
          </p:nvPr>
        </p:nvSpPr>
        <p:spPr/>
        <p:txBody>
          <a:bodyPr/>
          <a:lstStyle/>
          <a:p>
            <a:pPr eaLnBrk="1" hangingPunct="1"/>
            <a:r>
              <a:rPr lang="en-US" dirty="0"/>
              <a:t>Open Addressing: Linear Probing</a:t>
            </a:r>
          </a:p>
        </p:txBody>
      </p:sp>
      <p:sp>
        <p:nvSpPr>
          <p:cNvPr id="22530" name="Content Placeholder 2"/>
          <p:cNvSpPr>
            <a:spLocks noGrp="1"/>
          </p:cNvSpPr>
          <p:nvPr>
            <p:ph idx="1"/>
            <p:custDataLst>
              <p:tags r:id="rId2"/>
            </p:custDataLst>
          </p:nvPr>
        </p:nvSpPr>
        <p:spPr>
          <a:xfrm>
            <a:off x="3578578" y="1994262"/>
            <a:ext cx="6860822" cy="4254137"/>
          </a:xfrm>
        </p:spPr>
        <p:txBody>
          <a:bodyPr>
            <a:normAutofit/>
          </a:bodyPr>
          <a:lstStyle/>
          <a:p>
            <a:pPr marL="0" indent="0">
              <a:buNone/>
            </a:pPr>
            <a:r>
              <a:rPr lang="en-US" sz="2600" dirty="0"/>
              <a:t>How to deal with collisions?</a:t>
            </a:r>
          </a:p>
          <a:p>
            <a:pPr marL="0" indent="0">
              <a:buNone/>
            </a:pPr>
            <a:r>
              <a:rPr lang="en-US" sz="2600" dirty="0"/>
              <a:t>   (h(key) + </a:t>
            </a:r>
            <a:r>
              <a:rPr lang="en-US" sz="2600" i="1" dirty="0" err="1"/>
              <a:t>i</a:t>
            </a:r>
            <a:r>
              <a:rPr lang="en-US" sz="2600" dirty="0"/>
              <a:t>) % </a:t>
            </a:r>
            <a:r>
              <a:rPr lang="en-US" b="1" dirty="0" err="1">
                <a:latin typeface="Courier New" pitchFamily="49" charset="0"/>
                <a:cs typeface="Courier New" pitchFamily="49" charset="0"/>
              </a:rPr>
              <a:t>TableSize</a:t>
            </a:r>
            <a:r>
              <a:rPr lang="en-US" b="1" dirty="0">
                <a:latin typeface="Courier New" pitchFamily="49" charset="0"/>
                <a:cs typeface="Courier New" pitchFamily="49" charset="0"/>
              </a:rPr>
              <a:t> for </a:t>
            </a:r>
            <a:r>
              <a:rPr lang="en-US" b="1" i="1" dirty="0" err="1">
                <a:latin typeface="Courier New" pitchFamily="49" charset="0"/>
                <a:cs typeface="Courier New" pitchFamily="49" charset="0"/>
              </a:rPr>
              <a:t>i</a:t>
            </a:r>
            <a:r>
              <a:rPr lang="en-US" b="1" i="1" dirty="0">
                <a:latin typeface="Courier New" pitchFamily="49" charset="0"/>
                <a:cs typeface="Courier New" pitchFamily="49" charset="0"/>
              </a:rPr>
              <a:t>&gt;=0</a:t>
            </a:r>
            <a:endParaRPr lang="en-US" sz="2600" i="1" dirty="0"/>
          </a:p>
          <a:p>
            <a:pPr marL="225425" indent="0">
              <a:buNone/>
            </a:pPr>
            <a:r>
              <a:rPr lang="en-US" sz="2400" dirty="0"/>
              <a:t>If </a:t>
            </a:r>
            <a:r>
              <a:rPr lang="en-US" sz="2400" b="1" dirty="0">
                <a:latin typeface="Courier New" pitchFamily="49" charset="0"/>
                <a:cs typeface="Courier New" pitchFamily="49" charset="0"/>
              </a:rPr>
              <a:t>h(key)</a:t>
            </a:r>
            <a:r>
              <a:rPr lang="en-US" sz="2400" dirty="0"/>
              <a:t> is already full, </a:t>
            </a:r>
          </a:p>
          <a:p>
            <a:pPr marL="225425" indent="0">
              <a:buNone/>
            </a:pPr>
            <a:r>
              <a:rPr lang="en-US" sz="2400" dirty="0"/>
              <a:t>try </a:t>
            </a:r>
            <a:r>
              <a:rPr lang="en-US" sz="2400" b="1" dirty="0">
                <a:latin typeface="Courier New" pitchFamily="49" charset="0"/>
                <a:cs typeface="Courier New" pitchFamily="49" charset="0"/>
              </a:rPr>
              <a:t>(h(key) + 1) % </a:t>
            </a:r>
            <a:r>
              <a:rPr lang="en-US" sz="2400" b="1" dirty="0" err="1">
                <a:latin typeface="Courier New" pitchFamily="49" charset="0"/>
                <a:cs typeface="Courier New" pitchFamily="49" charset="0"/>
              </a:rPr>
              <a:t>TableSize</a:t>
            </a:r>
            <a:r>
              <a:rPr lang="en-US" sz="2400" dirty="0"/>
              <a:t>.  If full,</a:t>
            </a:r>
          </a:p>
          <a:p>
            <a:pPr marL="225425" indent="0">
              <a:buNone/>
            </a:pPr>
            <a:r>
              <a:rPr lang="en-US" sz="2400" dirty="0"/>
              <a:t>try </a:t>
            </a:r>
            <a:r>
              <a:rPr lang="en-US" sz="2400" b="1" dirty="0">
                <a:latin typeface="Courier New" pitchFamily="49" charset="0"/>
                <a:cs typeface="Courier New" pitchFamily="49" charset="0"/>
              </a:rPr>
              <a:t>(h(key) + 2) % </a:t>
            </a:r>
            <a:r>
              <a:rPr lang="en-US" sz="2400" b="1" dirty="0" err="1">
                <a:latin typeface="Courier New" pitchFamily="49" charset="0"/>
                <a:cs typeface="Courier New" pitchFamily="49" charset="0"/>
              </a:rPr>
              <a:t>TableSize</a:t>
            </a:r>
            <a:r>
              <a:rPr lang="en-US" sz="2400" dirty="0"/>
              <a:t>.  If full,</a:t>
            </a:r>
          </a:p>
          <a:p>
            <a:pPr marL="225425" indent="0">
              <a:buNone/>
            </a:pPr>
            <a:r>
              <a:rPr lang="en-US" sz="2400" dirty="0"/>
              <a:t>try </a:t>
            </a:r>
            <a:r>
              <a:rPr lang="en-US" sz="2400" b="1" dirty="0">
                <a:latin typeface="Courier New" pitchFamily="49" charset="0"/>
                <a:cs typeface="Courier New" pitchFamily="49" charset="0"/>
              </a:rPr>
              <a:t>(h(key) + 3) % </a:t>
            </a:r>
            <a:r>
              <a:rPr lang="en-US" sz="2400" b="1" dirty="0" err="1">
                <a:latin typeface="Courier New" pitchFamily="49" charset="0"/>
                <a:cs typeface="Courier New" pitchFamily="49" charset="0"/>
              </a:rPr>
              <a:t>TableSize</a:t>
            </a:r>
            <a:r>
              <a:rPr lang="en-US" sz="2400" dirty="0"/>
              <a:t>.  If full…</a:t>
            </a:r>
          </a:p>
          <a:p>
            <a:pPr lvl="1" eaLnBrk="1" hangingPunct="1"/>
            <a:endParaRPr lang="en-US" dirty="0"/>
          </a:p>
          <a:p>
            <a:pPr marL="0" indent="0">
              <a:buNone/>
            </a:pPr>
            <a:r>
              <a:rPr lang="en-US" sz="2400" dirty="0"/>
              <a:t>Example: insert 38, 19, 8, 79, 10</a:t>
            </a:r>
          </a:p>
        </p:txBody>
      </p:sp>
      <p:graphicFrame>
        <p:nvGraphicFramePr>
          <p:cNvPr id="5" name="Group 64"/>
          <p:cNvGraphicFramePr>
            <a:graphicFrameLocks noGrp="1"/>
          </p:cNvGraphicFramePr>
          <p:nvPr>
            <p:custDataLst>
              <p:tags r:id="rId3"/>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75000"/>
                              <a:lumOff val="25000"/>
                            </a:schemeClr>
                          </a:solidFill>
                          <a:effectLst/>
                          <a:latin typeface="+mj-lt"/>
                        </a:rPr>
                        <a:t>10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 name="Slide Number Placeholder 3"/>
          <p:cNvSpPr>
            <a:spLocks noGrp="1"/>
          </p:cNvSpPr>
          <p:nvPr>
            <p:ph type="sldNum" sz="quarter" idx="12"/>
          </p:nvPr>
        </p:nvSpPr>
        <p:spPr/>
        <p:txBody>
          <a:bodyPr/>
          <a:lstStyle/>
          <a:p>
            <a:fld id="{2781ADA0-3BB4-460A-B7EB-C1A8DEAFE2E2}" type="slidenum">
              <a:rPr lang="en-US" smtClean="0"/>
              <a:t>53</a:t>
            </a:fld>
            <a:endParaRPr lang="en-US"/>
          </a:p>
        </p:txBody>
      </p:sp>
    </p:spTree>
    <p:extLst>
      <p:ext uri="{BB962C8B-B14F-4D97-AF65-F5344CB8AC3E}">
        <p14:creationId xmlns:p14="http://schemas.microsoft.com/office/powerpoint/2010/main" val="28693493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4">
            <a:extLst>
              <a:ext uri="{FF2B5EF4-FFF2-40B4-BE49-F238E27FC236}">
                <a16:creationId xmlns:a16="http://schemas.microsoft.com/office/drawing/2014/main" id="{1EBE2470-F400-484E-AB09-4036A79E9027}"/>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FD51C55-8B81-421D-A7A8-EBA21D47FFDF}" type="slidenum">
              <a:rPr lang="en-US" altLang="en-US" sz="1400"/>
              <a:pPr>
                <a:spcBef>
                  <a:spcPct val="0"/>
                </a:spcBef>
                <a:buClrTx/>
                <a:buSzTx/>
                <a:buFontTx/>
                <a:buNone/>
              </a:pPr>
              <a:t>54</a:t>
            </a:fld>
            <a:endParaRPr lang="en-US" altLang="en-US" sz="1400"/>
          </a:p>
        </p:txBody>
      </p:sp>
      <p:sp>
        <p:nvSpPr>
          <p:cNvPr id="11267" name="Rectangle 2">
            <a:extLst>
              <a:ext uri="{FF2B5EF4-FFF2-40B4-BE49-F238E27FC236}">
                <a16:creationId xmlns:a16="http://schemas.microsoft.com/office/drawing/2014/main" id="{59BC5E75-3070-4777-81B8-5762E4ADF5DF}"/>
              </a:ext>
            </a:extLst>
          </p:cNvPr>
          <p:cNvSpPr>
            <a:spLocks noGrp="1" noChangeArrowheads="1"/>
          </p:cNvSpPr>
          <p:nvPr>
            <p:ph type="title"/>
          </p:nvPr>
        </p:nvSpPr>
        <p:spPr>
          <a:xfrm>
            <a:off x="1752600" y="152400"/>
            <a:ext cx="8686800" cy="685800"/>
          </a:xfrm>
        </p:spPr>
        <p:txBody>
          <a:bodyPr>
            <a:normAutofit fontScale="90000"/>
          </a:bodyPr>
          <a:lstStyle/>
          <a:p>
            <a:r>
              <a:rPr lang="en-US" altLang="en-US" dirty="0"/>
              <a:t>Linear Probing : Practice </a:t>
            </a:r>
          </a:p>
        </p:txBody>
      </p:sp>
      <p:sp>
        <p:nvSpPr>
          <p:cNvPr id="11268" name="Text Box 3">
            <a:extLst>
              <a:ext uri="{FF2B5EF4-FFF2-40B4-BE49-F238E27FC236}">
                <a16:creationId xmlns:a16="http://schemas.microsoft.com/office/drawing/2014/main" id="{3A0121FA-9C86-469B-B72A-96C14785559D}"/>
              </a:ext>
            </a:extLst>
          </p:cNvPr>
          <p:cNvSpPr txBox="1">
            <a:spLocks noChangeArrowheads="1"/>
          </p:cNvSpPr>
          <p:nvPr/>
        </p:nvSpPr>
        <p:spPr bwMode="auto">
          <a:xfrm>
            <a:off x="2304422" y="1133791"/>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dirty="0"/>
              <a:t>Insert 44, 4, 16, 28, 21,26 into a table of size 11</a:t>
            </a:r>
          </a:p>
        </p:txBody>
      </p:sp>
      <p:sp>
        <p:nvSpPr>
          <p:cNvPr id="11269" name="Rectangle 4">
            <a:extLst>
              <a:ext uri="{FF2B5EF4-FFF2-40B4-BE49-F238E27FC236}">
                <a16:creationId xmlns:a16="http://schemas.microsoft.com/office/drawing/2014/main" id="{B0E21BD8-804A-4D1B-BF9D-DB1E43904996}"/>
              </a:ext>
            </a:extLst>
          </p:cNvPr>
          <p:cNvSpPr>
            <a:spLocks noChangeArrowheads="1"/>
          </p:cNvSpPr>
          <p:nvPr/>
        </p:nvSpPr>
        <p:spPr bwMode="auto">
          <a:xfrm>
            <a:off x="1524001" y="26234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0" name="Rectangle 5">
            <a:extLst>
              <a:ext uri="{FF2B5EF4-FFF2-40B4-BE49-F238E27FC236}">
                <a16:creationId xmlns:a16="http://schemas.microsoft.com/office/drawing/2014/main" id="{5655B1DA-EB26-461E-BB87-8B78059A685A}"/>
              </a:ext>
            </a:extLst>
          </p:cNvPr>
          <p:cNvSpPr>
            <a:spLocks noChangeArrowheads="1"/>
          </p:cNvSpPr>
          <p:nvPr/>
        </p:nvSpPr>
        <p:spPr bwMode="auto">
          <a:xfrm>
            <a:off x="1524001" y="26076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1" name="Rectangle 7">
            <a:extLst>
              <a:ext uri="{FF2B5EF4-FFF2-40B4-BE49-F238E27FC236}">
                <a16:creationId xmlns:a16="http://schemas.microsoft.com/office/drawing/2014/main" id="{0B608E40-2641-4D1C-92A7-110B38D30250}"/>
              </a:ext>
            </a:extLst>
          </p:cNvPr>
          <p:cNvSpPr>
            <a:spLocks noChangeArrowheads="1"/>
          </p:cNvSpPr>
          <p:nvPr/>
        </p:nvSpPr>
        <p:spPr bwMode="auto">
          <a:xfrm>
            <a:off x="1524001" y="215835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2" name="Rectangle 8">
            <a:extLst>
              <a:ext uri="{FF2B5EF4-FFF2-40B4-BE49-F238E27FC236}">
                <a16:creationId xmlns:a16="http://schemas.microsoft.com/office/drawing/2014/main" id="{673FBCDE-ADED-4AB6-A6B5-B173B7A5F241}"/>
              </a:ext>
            </a:extLst>
          </p:cNvPr>
          <p:cNvSpPr>
            <a:spLocks noChangeArrowheads="1"/>
          </p:cNvSpPr>
          <p:nvPr/>
        </p:nvSpPr>
        <p:spPr bwMode="auto">
          <a:xfrm>
            <a:off x="1524001" y="215835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3" name="Rectangle 9">
            <a:extLst>
              <a:ext uri="{FF2B5EF4-FFF2-40B4-BE49-F238E27FC236}">
                <a16:creationId xmlns:a16="http://schemas.microsoft.com/office/drawing/2014/main" id="{E96E6936-3B63-403C-AFFD-0D4E27AB5B86}"/>
              </a:ext>
            </a:extLst>
          </p:cNvPr>
          <p:cNvSpPr>
            <a:spLocks noChangeArrowheads="1"/>
          </p:cNvSpPr>
          <p:nvPr/>
        </p:nvSpPr>
        <p:spPr bwMode="auto">
          <a:xfrm>
            <a:off x="1524001" y="21313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4" name="Rectangle 10">
            <a:extLst>
              <a:ext uri="{FF2B5EF4-FFF2-40B4-BE49-F238E27FC236}">
                <a16:creationId xmlns:a16="http://schemas.microsoft.com/office/drawing/2014/main" id="{2CAA6600-CFC0-4F5A-815A-C357BB297316}"/>
              </a:ext>
            </a:extLst>
          </p:cNvPr>
          <p:cNvSpPr>
            <a:spLocks noChangeArrowheads="1"/>
          </p:cNvSpPr>
          <p:nvPr/>
        </p:nvSpPr>
        <p:spPr bwMode="auto">
          <a:xfrm>
            <a:off x="1524001" y="21313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5" name="Rectangle 11">
            <a:extLst>
              <a:ext uri="{FF2B5EF4-FFF2-40B4-BE49-F238E27FC236}">
                <a16:creationId xmlns:a16="http://schemas.microsoft.com/office/drawing/2014/main" id="{299CD177-B81D-491E-A74D-76BEA02E6702}"/>
              </a:ext>
            </a:extLst>
          </p:cNvPr>
          <p:cNvSpPr>
            <a:spLocks noChangeArrowheads="1"/>
          </p:cNvSpPr>
          <p:nvPr/>
        </p:nvSpPr>
        <p:spPr bwMode="auto">
          <a:xfrm>
            <a:off x="1524001" y="20853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6" name="Rectangle 12">
            <a:extLst>
              <a:ext uri="{FF2B5EF4-FFF2-40B4-BE49-F238E27FC236}">
                <a16:creationId xmlns:a16="http://schemas.microsoft.com/office/drawing/2014/main" id="{EA3CCC47-5363-46F6-849E-4A74F8541CE1}"/>
              </a:ext>
            </a:extLst>
          </p:cNvPr>
          <p:cNvSpPr>
            <a:spLocks noChangeArrowheads="1"/>
          </p:cNvSpPr>
          <p:nvPr/>
        </p:nvSpPr>
        <p:spPr bwMode="auto">
          <a:xfrm>
            <a:off x="1524001" y="21313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7" name="Rectangle 13">
            <a:extLst>
              <a:ext uri="{FF2B5EF4-FFF2-40B4-BE49-F238E27FC236}">
                <a16:creationId xmlns:a16="http://schemas.microsoft.com/office/drawing/2014/main" id="{4A7E0E5F-A13F-4E4B-A3BC-DB554543A79E}"/>
              </a:ext>
            </a:extLst>
          </p:cNvPr>
          <p:cNvSpPr>
            <a:spLocks noChangeArrowheads="1"/>
          </p:cNvSpPr>
          <p:nvPr/>
        </p:nvSpPr>
        <p:spPr bwMode="auto">
          <a:xfrm>
            <a:off x="1524001" y="20853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8" name="Rectangle 14">
            <a:extLst>
              <a:ext uri="{FF2B5EF4-FFF2-40B4-BE49-F238E27FC236}">
                <a16:creationId xmlns:a16="http://schemas.microsoft.com/office/drawing/2014/main" id="{298F2F8E-83CF-4F73-8A4C-FD1CC803F18B}"/>
              </a:ext>
            </a:extLst>
          </p:cNvPr>
          <p:cNvSpPr>
            <a:spLocks noChangeArrowheads="1"/>
          </p:cNvSpPr>
          <p:nvPr/>
        </p:nvSpPr>
        <p:spPr bwMode="auto">
          <a:xfrm>
            <a:off x="1524001" y="12931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9" name="Rectangle 16">
            <a:extLst>
              <a:ext uri="{FF2B5EF4-FFF2-40B4-BE49-F238E27FC236}">
                <a16:creationId xmlns:a16="http://schemas.microsoft.com/office/drawing/2014/main" id="{3C64A829-A3B5-4D75-9B40-83707058F647}"/>
              </a:ext>
            </a:extLst>
          </p:cNvPr>
          <p:cNvSpPr>
            <a:spLocks noChangeArrowheads="1"/>
          </p:cNvSpPr>
          <p:nvPr/>
        </p:nvSpPr>
        <p:spPr bwMode="auto">
          <a:xfrm>
            <a:off x="1524001" y="5040314"/>
            <a:ext cx="2762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b="1">
                <a:latin typeface="Courier New" panose="02070309020205020404" pitchFamily="49" charset="0"/>
                <a:ea typeface="Times New Roman" panose="02020603050405020304" pitchFamily="18" charset="0"/>
                <a:cs typeface="Courier New" panose="02070309020205020404" pitchFamily="49" charset="0"/>
              </a:rPr>
              <a:t> </a:t>
            </a:r>
            <a:endParaRPr lang="en-US" altLang="en-US" sz="2400">
              <a:ea typeface="Times New Roman" panose="02020603050405020304" pitchFamily="18" charset="0"/>
              <a:cs typeface="Courier New" panose="02070309020205020404" pitchFamily="49" charset="0"/>
            </a:endParaRPr>
          </a:p>
        </p:txBody>
      </p:sp>
      <p:graphicFrame>
        <p:nvGraphicFramePr>
          <p:cNvPr id="8" name="Table 8">
            <a:extLst>
              <a:ext uri="{FF2B5EF4-FFF2-40B4-BE49-F238E27FC236}">
                <a16:creationId xmlns:a16="http://schemas.microsoft.com/office/drawing/2014/main" id="{6A46700F-1330-4007-A942-DC8B82C44983}"/>
              </a:ext>
            </a:extLst>
          </p:cNvPr>
          <p:cNvGraphicFramePr>
            <a:graphicFrameLocks noGrp="1"/>
          </p:cNvGraphicFramePr>
          <p:nvPr>
            <p:extLst>
              <p:ext uri="{D42A27DB-BD31-4B8C-83A1-F6EECF244321}">
                <p14:modId xmlns:p14="http://schemas.microsoft.com/office/powerpoint/2010/main" val="3263722654"/>
              </p:ext>
            </p:extLst>
          </p:nvPr>
        </p:nvGraphicFramePr>
        <p:xfrm>
          <a:off x="1409001" y="1676400"/>
          <a:ext cx="1123183" cy="4079240"/>
        </p:xfrm>
        <a:graphic>
          <a:graphicData uri="http://schemas.openxmlformats.org/drawingml/2006/table">
            <a:tbl>
              <a:tblPr firstRow="1" bandRow="1">
                <a:tableStyleId>{5C22544A-7EE6-4342-B048-85BDC9FD1C3A}</a:tableStyleId>
              </a:tblPr>
              <a:tblGrid>
                <a:gridCol w="1123183">
                  <a:extLst>
                    <a:ext uri="{9D8B030D-6E8A-4147-A177-3AD203B41FA5}">
                      <a16:colId xmlns:a16="http://schemas.microsoft.com/office/drawing/2014/main" val="4250829449"/>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720303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541379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89351833"/>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8139613"/>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96053063"/>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3287923"/>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2553864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0789274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1030810"/>
                  </a:ext>
                </a:extLst>
              </a:tr>
              <a:tr h="370840">
                <a:tc>
                  <a:txBody>
                    <a:bodyPr/>
                    <a:lstStyle/>
                    <a:p>
                      <a:r>
                        <a:rPr lang="en-US"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0838705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82418850"/>
                  </a:ext>
                </a:extLst>
              </a:tr>
            </a:tbl>
          </a:graphicData>
        </a:graphic>
      </p:graphicFrame>
      <p:graphicFrame>
        <p:nvGraphicFramePr>
          <p:cNvPr id="25" name="Table 8">
            <a:extLst>
              <a:ext uri="{FF2B5EF4-FFF2-40B4-BE49-F238E27FC236}">
                <a16:creationId xmlns:a16="http://schemas.microsoft.com/office/drawing/2014/main" id="{E8CB854A-8208-480A-B535-D7F33CEB458C}"/>
              </a:ext>
            </a:extLst>
          </p:cNvPr>
          <p:cNvGraphicFramePr>
            <a:graphicFrameLocks noGrp="1"/>
          </p:cNvGraphicFramePr>
          <p:nvPr>
            <p:extLst>
              <p:ext uri="{D42A27DB-BD31-4B8C-83A1-F6EECF244321}">
                <p14:modId xmlns:p14="http://schemas.microsoft.com/office/powerpoint/2010/main" val="2222341172"/>
              </p:ext>
            </p:extLst>
          </p:nvPr>
        </p:nvGraphicFramePr>
        <p:xfrm>
          <a:off x="928311" y="1676400"/>
          <a:ext cx="424239" cy="4079240"/>
        </p:xfrm>
        <a:graphic>
          <a:graphicData uri="http://schemas.openxmlformats.org/drawingml/2006/table">
            <a:tbl>
              <a:tblPr firstRow="1" bandRow="1">
                <a:tableStyleId>{5C22544A-7EE6-4342-B048-85BDC9FD1C3A}</a:tableStyleId>
              </a:tblPr>
              <a:tblGrid>
                <a:gridCol w="424239">
                  <a:extLst>
                    <a:ext uri="{9D8B030D-6E8A-4147-A177-3AD203B41FA5}">
                      <a16:colId xmlns:a16="http://schemas.microsoft.com/office/drawing/2014/main" val="4250829449"/>
                    </a:ext>
                  </a:extLst>
                </a:gridCol>
              </a:tblGrid>
              <a:tr h="370840">
                <a:tc>
                  <a:txBody>
                    <a:bodyPr/>
                    <a:lstStyle/>
                    <a:p>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7203035"/>
                  </a:ext>
                </a:extLst>
              </a:tr>
              <a:tr h="370840">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5413798"/>
                  </a:ext>
                </a:extLst>
              </a:tr>
              <a:tr h="370840">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9351833"/>
                  </a:ext>
                </a:extLst>
              </a:tr>
              <a:tr h="370840">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8139613"/>
                  </a:ext>
                </a:extLst>
              </a:tr>
              <a:tr h="370840">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96053063"/>
                  </a:ext>
                </a:extLst>
              </a:tr>
              <a:tr h="370840">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3287923"/>
                  </a:ext>
                </a:extLst>
              </a:tr>
              <a:tr h="370840">
                <a:tc>
                  <a:txBody>
                    <a:bodyPr/>
                    <a:lstStyle/>
                    <a:p>
                      <a:r>
                        <a:rPr lang="en-US"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25538648"/>
                  </a:ext>
                </a:extLst>
              </a:tr>
              <a:tr h="370840">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07892744"/>
                  </a:ext>
                </a:extLst>
              </a:tr>
              <a:tr h="370840">
                <a:tc>
                  <a:txBody>
                    <a:bodyPr/>
                    <a:lstStyle/>
                    <a:p>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1030810"/>
                  </a:ext>
                </a:extLst>
              </a:tr>
              <a:tr h="370840">
                <a:tc>
                  <a:txBody>
                    <a:bodyPr/>
                    <a:lstStyle/>
                    <a:p>
                      <a:r>
                        <a:rPr lang="en-US" dirty="0"/>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08387055"/>
                  </a:ext>
                </a:extLst>
              </a:tr>
              <a:tr h="370840">
                <a:tc>
                  <a:txBody>
                    <a:bodyPr/>
                    <a:lstStyle/>
                    <a:p>
                      <a:r>
                        <a:rPr lang="en-US"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9133427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72097"/>
    </mc:Choice>
    <mc:Fallback xmlns="">
      <p:transition spd="slow" advTm="72097"/>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itle 1"/>
          <p:cNvSpPr>
            <a:spLocks noGrp="1"/>
          </p:cNvSpPr>
          <p:nvPr>
            <p:ph type="title"/>
            <p:custDataLst>
              <p:tags r:id="rId1"/>
            </p:custDataLst>
          </p:nvPr>
        </p:nvSpPr>
        <p:spPr/>
        <p:txBody>
          <a:bodyPr/>
          <a:lstStyle/>
          <a:p>
            <a:pPr>
              <a:spcBef>
                <a:spcPts val="600"/>
              </a:spcBef>
            </a:pPr>
            <a:r>
              <a:rPr lang="en-US" sz="3500" dirty="0"/>
              <a:t>Load factor</a:t>
            </a:r>
          </a:p>
        </p:txBody>
      </p:sp>
      <mc:AlternateContent xmlns:mc="http://schemas.openxmlformats.org/markup-compatibility/2006" xmlns:a14="http://schemas.microsoft.com/office/drawing/2010/main">
        <mc:Choice Requires="a14">
          <p:sp>
            <p:nvSpPr>
              <p:cNvPr id="2052" name="Content Placeholder 2"/>
              <p:cNvSpPr>
                <a:spLocks noGrp="1"/>
              </p:cNvSpPr>
              <p:nvPr>
                <p:ph idx="1"/>
                <p:custDataLst>
                  <p:tags r:id="rId2"/>
                </p:custDataLst>
              </p:nvPr>
            </p:nvSpPr>
            <p:spPr>
              <a:xfrm>
                <a:off x="1981200" y="2055223"/>
                <a:ext cx="8458200" cy="4313244"/>
              </a:xfrm>
            </p:spPr>
            <p:txBody>
              <a:bodyPr>
                <a:noAutofit/>
              </a:bodyPr>
              <a:lstStyle/>
              <a:p>
                <a:pPr marL="0" indent="0">
                  <a:spcBef>
                    <a:spcPts val="800"/>
                  </a:spcBef>
                  <a:buNone/>
                </a:pPr>
                <a:r>
                  <a:rPr lang="en-US" sz="2400" dirty="0"/>
                  <a:t>The </a:t>
                </a:r>
                <a:r>
                  <a:rPr lang="en-US" sz="2400" dirty="0">
                    <a:solidFill>
                      <a:schemeClr val="accent2"/>
                    </a:solidFill>
                  </a:rPr>
                  <a:t>load factor</a:t>
                </a:r>
                <a:r>
                  <a:rPr lang="en-US" sz="2400" dirty="0"/>
                  <a:t>, </a:t>
                </a:r>
                <a:r>
                  <a:rPr lang="en-US" sz="2400" i="1" dirty="0">
                    <a:sym typeface="Symbol" pitchFamily="18" charset="2"/>
                  </a:rPr>
                  <a:t></a:t>
                </a:r>
                <a:r>
                  <a:rPr lang="en-US" sz="2400" dirty="0">
                    <a:sym typeface="Symbol" pitchFamily="18" charset="2"/>
                  </a:rPr>
                  <a:t>, </a:t>
                </a:r>
                <a:r>
                  <a:rPr lang="en-US" sz="2400" dirty="0"/>
                  <a:t>of a hash table is calculated as </a:t>
                </a:r>
              </a:p>
              <a:p>
                <a:pPr marL="0" indent="0">
                  <a:spcBef>
                    <a:spcPts val="800"/>
                  </a:spcBef>
                  <a:buNone/>
                </a:pPr>
                <a:endParaRPr lang="en-US" sz="2400" dirty="0"/>
              </a:p>
              <a:p>
                <a:pPr marL="0" indent="0">
                  <a:spcBef>
                    <a:spcPts val="800"/>
                  </a:spcBef>
                  <a:buNone/>
                </a:pPr>
                <a14:m>
                  <m:oMathPara xmlns:m="http://schemas.openxmlformats.org/officeDocument/2006/math">
                    <m:oMathParaPr>
                      <m:jc m:val="centerGroup"/>
                    </m:oMathParaPr>
                    <m:oMath xmlns:m="http://schemas.openxmlformats.org/officeDocument/2006/math">
                      <m:r>
                        <a:rPr lang="en-US" sz="2400">
                          <a:latin typeface="Cambria Math"/>
                        </a:rPr>
                        <m:t>𝜆</m:t>
                      </m:r>
                      <m:r>
                        <a:rPr lang="en-US" sz="2400">
                          <a:latin typeface="Cambria Math"/>
                        </a:rPr>
                        <m:t>=</m:t>
                      </m:r>
                      <m:f>
                        <m:fPr>
                          <m:ctrlPr>
                            <a:rPr lang="en-US" sz="2400" i="1">
                              <a:latin typeface="Cambria Math" panose="02040503050406030204" pitchFamily="18" charset="0"/>
                            </a:rPr>
                          </m:ctrlPr>
                        </m:fPr>
                        <m:num>
                          <m:r>
                            <a:rPr lang="en-US" sz="2400">
                              <a:latin typeface="Cambria Math"/>
                            </a:rPr>
                            <m:t>𝑛</m:t>
                          </m:r>
                        </m:num>
                        <m:den>
                          <m:r>
                            <a:rPr lang="en-US" sz="2400">
                              <a:latin typeface="Cambria Math"/>
                            </a:rPr>
                            <m:t>𝑇𝑎𝑏𝑙𝑒𝑆𝑖𝑧𝑒</m:t>
                          </m:r>
                        </m:den>
                      </m:f>
                    </m:oMath>
                  </m:oMathPara>
                </a14:m>
                <a:endParaRPr lang="en-US" sz="2400" dirty="0"/>
              </a:p>
              <a:p>
                <a:pPr marL="0" indent="0">
                  <a:spcBef>
                    <a:spcPts val="800"/>
                  </a:spcBef>
                  <a:buNone/>
                </a:pPr>
                <a:br>
                  <a:rPr lang="en-US" sz="2400" dirty="0"/>
                </a:br>
                <a:r>
                  <a:rPr lang="en-US" sz="2400" dirty="0"/>
                  <a:t>where </a:t>
                </a:r>
                <a:r>
                  <a:rPr lang="en-US" sz="2400" i="1" dirty="0"/>
                  <a:t>n</a:t>
                </a:r>
                <a:r>
                  <a:rPr lang="en-US" sz="2400" dirty="0"/>
                  <a:t> is the number of items currently in the table</a:t>
                </a:r>
              </a:p>
            </p:txBody>
          </p:sp>
        </mc:Choice>
        <mc:Fallback xmlns="">
          <p:sp>
            <p:nvSpPr>
              <p:cNvPr id="2052" name="Content Placeholder 2"/>
              <p:cNvSpPr>
                <a:spLocks noGrp="1" noRot="1" noChangeAspect="1" noMove="1" noResize="1" noEditPoints="1" noAdjustHandles="1" noChangeArrowheads="1" noChangeShapeType="1" noTextEdit="1"/>
              </p:cNvSpPr>
              <p:nvPr>
                <p:ph idx="1"/>
                <p:custDataLst>
                  <p:tags r:id="rId5"/>
                </p:custDataLst>
              </p:nvPr>
            </p:nvSpPr>
            <p:spPr>
              <a:xfrm>
                <a:off x="1981200" y="2055223"/>
                <a:ext cx="8458200" cy="4313244"/>
              </a:xfrm>
              <a:blipFill>
                <a:blip r:embed="rId6"/>
                <a:stretch>
                  <a:fillRect l="-1081" t="-226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55</a:t>
            </a:fld>
            <a:endParaRPr lang="en-US">
              <a:solidFill>
                <a:srgbClr val="2F1343"/>
              </a:solidFill>
              <a:latin typeface="Verdana"/>
            </a:endParaRPr>
          </a:p>
        </p:txBody>
      </p:sp>
    </p:spTree>
    <p:extLst>
      <p:ext uri="{BB962C8B-B14F-4D97-AF65-F5344CB8AC3E}">
        <p14:creationId xmlns:p14="http://schemas.microsoft.com/office/powerpoint/2010/main" val="12017315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custDataLst>
              <p:tags r:id="rId1"/>
            </p:custDataLst>
          </p:nvPr>
        </p:nvSpPr>
        <p:spPr/>
        <p:txBody>
          <a:bodyPr/>
          <a:lstStyle/>
          <a:p>
            <a:pPr eaLnBrk="1" hangingPunct="1"/>
            <a:r>
              <a:rPr lang="en-US" dirty="0"/>
              <a:t>Load Factor?</a:t>
            </a:r>
          </a:p>
        </p:txBody>
      </p:sp>
      <p:graphicFrame>
        <p:nvGraphicFramePr>
          <p:cNvPr id="5" name="Group 64"/>
          <p:cNvGraphicFramePr>
            <a:graphicFrameLocks noGrp="1"/>
          </p:cNvGraphicFramePr>
          <p:nvPr>
            <p:custDataLst>
              <p:tags r:id="rId2"/>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75000"/>
                              <a:lumOff val="25000"/>
                            </a:schemeClr>
                          </a:solidFill>
                          <a:effectLst/>
                          <a:latin typeface="+mj-lt"/>
                        </a:rPr>
                        <a:t>10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 name="Slide Number Placeholder 3"/>
          <p:cNvSpPr>
            <a:spLocks noGrp="1"/>
          </p:cNvSpPr>
          <p:nvPr>
            <p:ph type="sldNum" sz="quarter" idx="12"/>
          </p:nvPr>
        </p:nvSpPr>
        <p:spPr/>
        <p:txBody>
          <a:bodyPr/>
          <a:lstStyle/>
          <a:p>
            <a:fld id="{2781ADA0-3BB4-460A-B7EB-C1A8DEAFE2E2}" type="slidenum">
              <a:rPr lang="en-US" smtClean="0"/>
              <a:t>56</a:t>
            </a:fld>
            <a:endParaRPr lang="en-US"/>
          </a:p>
        </p:txBody>
      </p:sp>
      <mc:AlternateContent xmlns:mc="http://schemas.openxmlformats.org/markup-compatibility/2006" xmlns:a14="http://schemas.microsoft.com/office/drawing/2010/main">
        <mc:Choice Requires="a14">
          <p:sp>
            <p:nvSpPr>
              <p:cNvPr id="9" name="TextBox 8"/>
              <p:cNvSpPr txBox="1"/>
              <p:nvPr/>
            </p:nvSpPr>
            <p:spPr>
              <a:xfrm>
                <a:off x="4645238" y="5019898"/>
                <a:ext cx="3553152" cy="935962"/>
              </a:xfrm>
              <a:prstGeom prst="rect">
                <a:avLst/>
              </a:prstGeom>
              <a:noFill/>
            </p:spPr>
            <p:txBody>
              <a:bodyPr wrap="none" rtlCol="0" anchor="ctr">
                <a:spAutoFit/>
              </a:bodyPr>
              <a:lstStyle/>
              <a:p>
                <a:pPr/>
                <a14:m>
                  <m:oMathPara xmlns:m="http://schemas.openxmlformats.org/officeDocument/2006/math">
                    <m:oMathParaPr>
                      <m:jc m:val="centerGroup"/>
                    </m:oMathParaPr>
                    <m:oMath xmlns:m="http://schemas.openxmlformats.org/officeDocument/2006/math">
                      <m:r>
                        <a:rPr lang="en-US" sz="3200">
                          <a:latin typeface="Cambria Math"/>
                        </a:rPr>
                        <m:t>𝜆</m:t>
                      </m:r>
                      <m:r>
                        <a:rPr lang="en-US" sz="3200">
                          <a:latin typeface="Cambria Math"/>
                        </a:rPr>
                        <m:t>=</m:t>
                      </m:r>
                      <m:f>
                        <m:fPr>
                          <m:ctrlPr>
                            <a:rPr lang="en-US" sz="3200" i="1">
                              <a:latin typeface="Cambria Math" panose="02040503050406030204" pitchFamily="18" charset="0"/>
                            </a:rPr>
                          </m:ctrlPr>
                        </m:fPr>
                        <m:num>
                          <m:r>
                            <a:rPr lang="en-US" sz="3200">
                              <a:latin typeface="Cambria Math"/>
                            </a:rPr>
                            <m:t>𝑛</m:t>
                          </m:r>
                        </m:num>
                        <m:den>
                          <m:r>
                            <a:rPr lang="en-US" sz="3200">
                              <a:latin typeface="Cambria Math"/>
                            </a:rPr>
                            <m:t>𝑇𝑎𝑏𝑙𝑒𝑆𝑖𝑧𝑒</m:t>
                          </m:r>
                        </m:den>
                      </m:f>
                      <m:r>
                        <a:rPr lang="en-US" sz="3200" i="1">
                          <a:latin typeface="Cambria Math"/>
                        </a:rPr>
                        <m:t>= ?</m:t>
                      </m:r>
                    </m:oMath>
                  </m:oMathPara>
                </a14:m>
                <a:endParaRPr lang="en-US" sz="3200" dirty="0"/>
              </a:p>
            </p:txBody>
          </p:sp>
        </mc:Choice>
        <mc:Fallback xmlns="">
          <p:sp>
            <p:nvSpPr>
              <p:cNvPr id="9" name="TextBox 8"/>
              <p:cNvSpPr txBox="1">
                <a:spLocks noRot="1" noChangeAspect="1" noMove="1" noResize="1" noEditPoints="1" noAdjustHandles="1" noChangeArrowheads="1" noChangeShapeType="1" noTextEdit="1"/>
              </p:cNvSpPr>
              <p:nvPr/>
            </p:nvSpPr>
            <p:spPr>
              <a:xfrm>
                <a:off x="4645238" y="5019898"/>
                <a:ext cx="3553152" cy="93596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367016" y="4923789"/>
                <a:ext cx="2186432" cy="1027525"/>
              </a:xfrm>
              <a:prstGeom prst="rect">
                <a:avLst/>
              </a:prstGeom>
              <a:solidFill>
                <a:schemeClr val="bg1"/>
              </a:solidFill>
            </p:spPr>
            <p:txBody>
              <a:bodyPr wrap="none" lIns="0" rtlCol="0" anchor="ctr">
                <a:spAutoFit/>
              </a:bodyPr>
              <a:lstStyle/>
              <a:p>
                <a:pPr/>
                <a14:m>
                  <m:oMathPara xmlns:m="http://schemas.openxmlformats.org/officeDocument/2006/math">
                    <m:oMathParaPr>
                      <m:jc m:val="centerGroup"/>
                    </m:oMathParaPr>
                    <m:oMath xmlns:m="http://schemas.openxmlformats.org/officeDocument/2006/math">
                      <m:r>
                        <a:rPr lang="en-US" sz="3200">
                          <a:latin typeface="Cambria Math"/>
                        </a:rPr>
                        <m:t>=</m:t>
                      </m:r>
                      <m:f>
                        <m:fPr>
                          <m:ctrlPr>
                            <a:rPr lang="en-US" sz="3200" i="1">
                              <a:latin typeface="Cambria Math" panose="02040503050406030204" pitchFamily="18" charset="0"/>
                            </a:rPr>
                          </m:ctrlPr>
                        </m:fPr>
                        <m:num>
                          <m:r>
                            <a:rPr lang="en-US" sz="3200" i="1">
                              <a:latin typeface="Cambria Math"/>
                            </a:rPr>
                            <m:t>5</m:t>
                          </m:r>
                        </m:num>
                        <m:den>
                          <m:r>
                            <a:rPr lang="en-US" sz="3200" i="1">
                              <a:latin typeface="Cambria Math"/>
                            </a:rPr>
                            <m:t>10</m:t>
                          </m:r>
                        </m:den>
                      </m:f>
                      <m:r>
                        <a:rPr lang="en-US" sz="3200" i="1">
                          <a:latin typeface="Cambria Math"/>
                        </a:rPr>
                        <m:t>=0.5</m:t>
                      </m:r>
                    </m:oMath>
                  </m:oMathPara>
                </a14:m>
                <a:endParaRPr lang="en-US" sz="3200" dirty="0"/>
              </a:p>
            </p:txBody>
          </p:sp>
        </mc:Choice>
        <mc:Fallback xmlns="">
          <p:sp>
            <p:nvSpPr>
              <p:cNvPr id="10" name="TextBox 9"/>
              <p:cNvSpPr txBox="1">
                <a:spLocks noRot="1" noChangeAspect="1" noMove="1" noResize="1" noEditPoints="1" noAdjustHandles="1" noChangeArrowheads="1" noChangeShapeType="1" noTextEdit="1"/>
              </p:cNvSpPr>
              <p:nvPr/>
            </p:nvSpPr>
            <p:spPr>
              <a:xfrm>
                <a:off x="7367016" y="4923789"/>
                <a:ext cx="2186432" cy="1027525"/>
              </a:xfrm>
              <a:prstGeom prst="rect">
                <a:avLst/>
              </a:prstGeom>
              <a:blipFill>
                <a:blip r:embed="rId6"/>
                <a:stretch>
                  <a:fillRect/>
                </a:stretch>
              </a:blipFill>
            </p:spPr>
            <p:txBody>
              <a:bodyPr/>
              <a:lstStyle/>
              <a:p>
                <a:r>
                  <a:rPr lang="en-US">
                    <a:noFill/>
                  </a:rPr>
                  <a:t> </a:t>
                </a:r>
              </a:p>
            </p:txBody>
          </p:sp>
        </mc:Fallback>
      </mc:AlternateContent>
      <p:sp>
        <p:nvSpPr>
          <p:cNvPr id="7" name="TextBox 6"/>
          <p:cNvSpPr txBox="1"/>
          <p:nvPr/>
        </p:nvSpPr>
        <p:spPr>
          <a:xfrm>
            <a:off x="4067048" y="1437395"/>
            <a:ext cx="6146801" cy="1815882"/>
          </a:xfrm>
          <a:prstGeom prst="rect">
            <a:avLst/>
          </a:prstGeom>
          <a:noFill/>
        </p:spPr>
        <p:txBody>
          <a:bodyPr wrap="square" rtlCol="0">
            <a:spAutoFit/>
          </a:bodyPr>
          <a:lstStyle/>
          <a:p>
            <a:r>
              <a:rPr lang="en-US" sz="2800" dirty="0"/>
              <a:t>Can the load factor when using linear probing ever exceed 1.0?</a:t>
            </a:r>
          </a:p>
          <a:p>
            <a:endParaRPr lang="en-US" sz="2800" dirty="0"/>
          </a:p>
          <a:p>
            <a:r>
              <a:rPr lang="en-US" sz="2800" dirty="0"/>
              <a:t>Nope!!</a:t>
            </a:r>
          </a:p>
        </p:txBody>
      </p:sp>
    </p:spTree>
    <p:extLst>
      <p:ext uri="{BB962C8B-B14F-4D97-AF65-F5344CB8AC3E}">
        <p14:creationId xmlns:p14="http://schemas.microsoft.com/office/powerpoint/2010/main" val="3912201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Open Addressing: Other Operations</a:t>
            </a:r>
            <a:endParaRPr lang="en-US" dirty="0"/>
          </a:p>
        </p:txBody>
      </p:sp>
      <p:sp>
        <p:nvSpPr>
          <p:cNvPr id="3" name="Content Placeholder 2"/>
          <p:cNvSpPr>
            <a:spLocks noGrp="1"/>
          </p:cNvSpPr>
          <p:nvPr>
            <p:ph idx="1"/>
          </p:nvPr>
        </p:nvSpPr>
        <p:spPr/>
        <p:txBody>
          <a:bodyPr>
            <a:noAutofit/>
          </a:bodyPr>
          <a:lstStyle/>
          <a:p>
            <a:pPr marL="0" indent="0">
              <a:buNone/>
            </a:pPr>
            <a:r>
              <a:rPr lang="en-US" sz="2400" dirty="0">
                <a:solidFill>
                  <a:schemeClr val="accent5">
                    <a:lumMod val="50000"/>
                  </a:schemeClr>
                </a:solidFill>
              </a:rPr>
              <a:t>insert</a:t>
            </a:r>
            <a:r>
              <a:rPr lang="en-US" sz="2400" dirty="0"/>
              <a:t> finds an open table position using a probe function</a:t>
            </a:r>
          </a:p>
          <a:p>
            <a:pPr marL="0" indent="0">
              <a:buNone/>
            </a:pPr>
            <a:endParaRPr lang="en-US" sz="1200" dirty="0"/>
          </a:p>
          <a:p>
            <a:pPr marL="0" indent="0">
              <a:buNone/>
            </a:pPr>
            <a:r>
              <a:rPr lang="en-US" sz="2400" dirty="0"/>
              <a:t>What about </a:t>
            </a:r>
            <a:r>
              <a:rPr lang="en-US" sz="2400" dirty="0">
                <a:solidFill>
                  <a:schemeClr val="accent5">
                    <a:lumMod val="50000"/>
                  </a:schemeClr>
                </a:solidFill>
              </a:rPr>
              <a:t>find</a:t>
            </a:r>
            <a:r>
              <a:rPr lang="en-US" sz="2400" dirty="0"/>
              <a:t>?</a:t>
            </a:r>
          </a:p>
          <a:p>
            <a:pPr lvl="1"/>
            <a:r>
              <a:rPr lang="en-US" dirty="0"/>
              <a:t>Must use same probe function to "retrace the trail" for the data</a:t>
            </a:r>
          </a:p>
          <a:p>
            <a:pPr lvl="1"/>
            <a:r>
              <a:rPr lang="en-US" dirty="0"/>
              <a:t>Unsuccessful search when reach empty position</a:t>
            </a:r>
          </a:p>
          <a:p>
            <a:r>
              <a:rPr lang="en-US" dirty="0">
                <a:hlinkClick r:id="rId4"/>
              </a:rPr>
              <a:t>Demo</a:t>
            </a:r>
            <a:endParaRPr lang="en-US" dirty="0"/>
          </a:p>
          <a:p>
            <a:pPr marL="57150" indent="0">
              <a:buNone/>
            </a:pPr>
            <a:endParaRPr lang="en-US" sz="1200" dirty="0"/>
          </a:p>
          <a:p>
            <a:pPr marL="0" indent="0">
              <a:buNone/>
            </a:pPr>
            <a:r>
              <a:rPr lang="en-US" sz="2400" dirty="0"/>
              <a:t>What about </a:t>
            </a:r>
            <a:r>
              <a:rPr lang="en-US" sz="2400" dirty="0">
                <a:solidFill>
                  <a:schemeClr val="accent5">
                    <a:lumMod val="50000"/>
                  </a:schemeClr>
                </a:solidFill>
              </a:rPr>
              <a:t>delete</a:t>
            </a:r>
            <a:r>
              <a:rPr lang="en-US" sz="2400" dirty="0"/>
              <a:t>?</a:t>
            </a:r>
          </a:p>
          <a:p>
            <a:r>
              <a:rPr lang="en-US" sz="2400" dirty="0"/>
              <a:t>Must use "lazy" deletion.  Why?</a:t>
            </a:r>
          </a:p>
          <a:p>
            <a:pPr marL="0" indent="0">
              <a:buNone/>
            </a:pPr>
            <a:endParaRPr lang="en-US" sz="3600" dirty="0"/>
          </a:p>
          <a:p>
            <a:r>
              <a:rPr lang="en-US" sz="2400" dirty="0"/>
              <a:t>Marker indicates "data was here, keep on probing"</a:t>
            </a:r>
          </a:p>
        </p:txBody>
      </p:sp>
      <p:sp>
        <p:nvSpPr>
          <p:cNvPr id="6" name="Slide Number Placeholder 5"/>
          <p:cNvSpPr>
            <a:spLocks noGrp="1"/>
          </p:cNvSpPr>
          <p:nvPr>
            <p:ph type="sldNum" sz="quarter" idx="12"/>
          </p:nvPr>
        </p:nvSpPr>
        <p:spPr/>
        <p:txBody>
          <a:bodyPr/>
          <a:lstStyle/>
          <a:p>
            <a:fld id="{2781ADA0-3BB4-460A-B7EB-C1A8DEAFE2E2}" type="slidenum">
              <a:rPr lang="en-US" smtClean="0"/>
              <a:pPr/>
              <a:t>57</a:t>
            </a:fld>
            <a:endParaRPr lang="en-US"/>
          </a:p>
        </p:txBody>
      </p:sp>
      <p:graphicFrame>
        <p:nvGraphicFramePr>
          <p:cNvPr id="7" name="Group 193"/>
          <p:cNvGraphicFramePr>
            <a:graphicFrameLocks noGrp="1"/>
          </p:cNvGraphicFramePr>
          <p:nvPr>
            <p:custDataLst>
              <p:tags r:id="rId1"/>
            </p:custDataLst>
            <p:extLst>
              <p:ext uri="{D42A27DB-BD31-4B8C-83A1-F6EECF244321}">
                <p14:modId xmlns:p14="http://schemas.microsoft.com/office/powerpoint/2010/main" val="1992744663"/>
              </p:ext>
            </p:extLst>
          </p:nvPr>
        </p:nvGraphicFramePr>
        <p:xfrm>
          <a:off x="3352800" y="5534482"/>
          <a:ext cx="5486400" cy="396240"/>
        </p:xfrm>
        <a:graphic>
          <a:graphicData uri="http://schemas.openxmlformats.org/drawingml/2006/table">
            <a:tbl>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609600">
                  <a:extLst>
                    <a:ext uri="{9D8B030D-6E8A-4147-A177-3AD203B41FA5}">
                      <a16:colId xmlns:a16="http://schemas.microsoft.com/office/drawing/2014/main" val="20007"/>
                    </a:ext>
                  </a:extLst>
                </a:gridCol>
                <a:gridCol w="609600">
                  <a:extLst>
                    <a:ext uri="{9D8B030D-6E8A-4147-A177-3AD203B41FA5}">
                      <a16:colId xmlns:a16="http://schemas.microsoft.com/office/drawing/2014/main" val="20008"/>
                    </a:ext>
                  </a:extLst>
                </a:gridCol>
              </a:tblGrid>
              <a:tr h="3143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itchFamily="18" charset="0"/>
                        </a:rPr>
                        <a:t>10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rgbClr val="FF0000"/>
                          </a:solidFill>
                          <a:effectLst/>
                          <a:latin typeface="Times New Roman" pitchFamily="18" charset="0"/>
                          <a:sym typeface="Wingdings"/>
                        </a:rPr>
                        <a:t></a:t>
                      </a:r>
                      <a:endParaRPr kumimoji="0" lang="en-US" sz="2000" b="1" i="0" u="none" strike="noStrike" cap="none" normalizeH="0" baseline="0" dirty="0">
                        <a:ln>
                          <a:noFill/>
                        </a:ln>
                        <a:solidFill>
                          <a:srgbClr val="FF0000"/>
                        </a:solidFill>
                        <a:effectLst/>
                        <a:latin typeface="Times New Roman"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itchFamily="18" charset="0"/>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itchFamily="18" charset="0"/>
                        </a:rPr>
                        <a:t>23</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itchFamily="18" charset="0"/>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itchFamily="18" charset="0"/>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itchFamily="18" charset="0"/>
                        </a:rPr>
                        <a:t>16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sz="2000" b="1" i="0" u="none" strike="noStrike" cap="none" normalizeH="0" baseline="0" dirty="0">
                          <a:ln>
                            <a:noFill/>
                          </a:ln>
                          <a:solidFill>
                            <a:srgbClr val="FF0000"/>
                          </a:solidFill>
                          <a:effectLst/>
                          <a:latin typeface="Times New Roman" pitchFamily="18" charset="0"/>
                          <a:sym typeface="Wingdings"/>
                        </a:rPr>
                        <a:t></a:t>
                      </a:r>
                      <a:endParaRPr kumimoji="0" lang="en-US" sz="2000" b="1" i="0" u="none" strike="noStrike" cap="none" normalizeH="0" baseline="0" dirty="0">
                        <a:ln>
                          <a:noFill/>
                        </a:ln>
                        <a:solidFill>
                          <a:srgbClr val="FF0000"/>
                        </a:solidFill>
                        <a:effectLst/>
                        <a:latin typeface="Times New Roman" pitchFamily="18" charset="0"/>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itchFamily="18" charset="0"/>
                        </a:rPr>
                        <a:t>26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375073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custDataLst>
              <p:tags r:id="rId1"/>
            </p:custDataLst>
          </p:nvPr>
        </p:nvSpPr>
        <p:spPr/>
        <p:txBody>
          <a:bodyPr/>
          <a:lstStyle/>
          <a:p>
            <a:pPr eaLnBrk="1" hangingPunct="1"/>
            <a:r>
              <a:rPr lang="en-US" dirty="0"/>
              <a:t>Open Addressing: Linear Probing</a:t>
            </a:r>
          </a:p>
        </p:txBody>
      </p:sp>
      <p:sp>
        <p:nvSpPr>
          <p:cNvPr id="22530" name="Content Placeholder 2"/>
          <p:cNvSpPr>
            <a:spLocks noGrp="1"/>
          </p:cNvSpPr>
          <p:nvPr>
            <p:ph idx="1"/>
            <p:custDataLst>
              <p:tags r:id="rId2"/>
            </p:custDataLst>
          </p:nvPr>
        </p:nvSpPr>
        <p:spPr>
          <a:xfrm>
            <a:off x="3578578" y="1994262"/>
            <a:ext cx="6860822" cy="4254137"/>
          </a:xfrm>
        </p:spPr>
        <p:txBody>
          <a:bodyPr>
            <a:normAutofit/>
          </a:bodyPr>
          <a:lstStyle/>
          <a:p>
            <a:pPr marL="0" indent="0">
              <a:buNone/>
            </a:pPr>
            <a:r>
              <a:rPr lang="en-US" sz="2600" dirty="0"/>
              <a:t>Now insert 18</a:t>
            </a:r>
          </a:p>
          <a:p>
            <a:pPr marL="0" indent="0">
              <a:buNone/>
            </a:pPr>
            <a:r>
              <a:rPr lang="en-US" sz="2400" b="1" dirty="0">
                <a:latin typeface="Arial"/>
                <a:cs typeface="Arial"/>
              </a:rPr>
              <a:t>What</a:t>
            </a:r>
            <a:r>
              <a:rPr lang="en-US" sz="2400" b="1" spc="-25" dirty="0">
                <a:latin typeface="Arial"/>
                <a:cs typeface="Arial"/>
              </a:rPr>
              <a:t> </a:t>
            </a:r>
            <a:r>
              <a:rPr lang="en-US" sz="2400" b="1" dirty="0">
                <a:latin typeface="Arial"/>
                <a:cs typeface="Arial"/>
              </a:rPr>
              <a:t>are</a:t>
            </a:r>
            <a:r>
              <a:rPr lang="en-US" sz="2400" b="1" spc="-10" dirty="0">
                <a:latin typeface="Arial"/>
                <a:cs typeface="Arial"/>
              </a:rPr>
              <a:t> </a:t>
            </a:r>
            <a:r>
              <a:rPr lang="en-US" sz="2400" b="1" dirty="0">
                <a:latin typeface="Arial"/>
                <a:cs typeface="Arial"/>
              </a:rPr>
              <a:t>the</a:t>
            </a:r>
            <a:r>
              <a:rPr lang="en-US" sz="2400" b="1" spc="-10" dirty="0">
                <a:latin typeface="Arial"/>
                <a:cs typeface="Arial"/>
              </a:rPr>
              <a:t> </a:t>
            </a:r>
            <a:r>
              <a:rPr lang="en-US" sz="2400" b="1" dirty="0">
                <a:latin typeface="Arial"/>
                <a:cs typeface="Arial"/>
              </a:rPr>
              <a:t>problems</a:t>
            </a:r>
            <a:r>
              <a:rPr lang="en-US" sz="2400" b="1" spc="-10" dirty="0">
                <a:latin typeface="Arial"/>
                <a:cs typeface="Arial"/>
              </a:rPr>
              <a:t> </a:t>
            </a:r>
            <a:r>
              <a:rPr lang="en-US" sz="2400" b="1" dirty="0">
                <a:latin typeface="Arial"/>
                <a:cs typeface="Arial"/>
              </a:rPr>
              <a:t>with</a:t>
            </a:r>
            <a:r>
              <a:rPr lang="en-US" sz="2400" b="1" spc="-10" dirty="0">
                <a:latin typeface="Arial"/>
                <a:cs typeface="Arial"/>
              </a:rPr>
              <a:t> this?</a:t>
            </a:r>
          </a:p>
          <a:p>
            <a:pPr marL="0" indent="0">
              <a:buNone/>
            </a:pPr>
            <a:r>
              <a:rPr lang="en-US" sz="2400" dirty="0">
                <a:latin typeface="Arial"/>
                <a:cs typeface="Arial"/>
              </a:rPr>
              <a:t>Need</a:t>
            </a:r>
            <a:r>
              <a:rPr lang="en-US" sz="2400" spc="-15" dirty="0">
                <a:latin typeface="Arial"/>
                <a:cs typeface="Arial"/>
              </a:rPr>
              <a:t> </a:t>
            </a:r>
            <a:r>
              <a:rPr lang="en-US" sz="2400" dirty="0">
                <a:latin typeface="Arial"/>
                <a:cs typeface="Arial"/>
              </a:rPr>
              <a:t>to go</a:t>
            </a:r>
            <a:r>
              <a:rPr lang="en-US" sz="2400" spc="-5" dirty="0">
                <a:latin typeface="Arial"/>
                <a:cs typeface="Arial"/>
              </a:rPr>
              <a:t> </a:t>
            </a:r>
            <a:r>
              <a:rPr lang="en-US" sz="2400" dirty="0">
                <a:latin typeface="Arial"/>
                <a:cs typeface="Arial"/>
              </a:rPr>
              <a:t>to 8,</a:t>
            </a:r>
            <a:r>
              <a:rPr lang="en-US" sz="2400" spc="-5" dirty="0">
                <a:latin typeface="Arial"/>
                <a:cs typeface="Arial"/>
              </a:rPr>
              <a:t> </a:t>
            </a:r>
            <a:r>
              <a:rPr lang="en-US" sz="2400" dirty="0">
                <a:latin typeface="Arial"/>
                <a:cs typeface="Arial"/>
              </a:rPr>
              <a:t>and</a:t>
            </a:r>
            <a:r>
              <a:rPr lang="en-US" sz="2400" spc="-5" dirty="0">
                <a:latin typeface="Arial"/>
                <a:cs typeface="Arial"/>
              </a:rPr>
              <a:t> </a:t>
            </a:r>
            <a:r>
              <a:rPr lang="en-US" sz="2400" dirty="0">
                <a:latin typeface="Arial"/>
                <a:cs typeface="Arial"/>
              </a:rPr>
              <a:t>then cycle </a:t>
            </a:r>
            <a:r>
              <a:rPr lang="en-US" sz="2400" spc="-10" dirty="0">
                <a:latin typeface="Arial"/>
                <a:cs typeface="Arial"/>
              </a:rPr>
              <a:t>through </a:t>
            </a:r>
            <a:r>
              <a:rPr lang="en-US" sz="2400" dirty="0">
                <a:latin typeface="Arial"/>
                <a:cs typeface="Arial"/>
              </a:rPr>
              <a:t>all of</a:t>
            </a:r>
            <a:r>
              <a:rPr lang="en-US" sz="2400" spc="5" dirty="0">
                <a:latin typeface="Arial"/>
                <a:cs typeface="Arial"/>
              </a:rPr>
              <a:t> </a:t>
            </a:r>
            <a:r>
              <a:rPr lang="en-US" sz="2400" dirty="0">
                <a:latin typeface="Arial"/>
                <a:cs typeface="Arial"/>
              </a:rPr>
              <a:t>the</a:t>
            </a:r>
            <a:r>
              <a:rPr lang="en-US" sz="2400" spc="10" dirty="0">
                <a:latin typeface="Arial"/>
                <a:cs typeface="Arial"/>
              </a:rPr>
              <a:t> </a:t>
            </a:r>
            <a:r>
              <a:rPr lang="en-US" sz="2400" dirty="0">
                <a:latin typeface="Arial"/>
                <a:cs typeface="Arial"/>
              </a:rPr>
              <a:t>entries</a:t>
            </a:r>
            <a:r>
              <a:rPr lang="en-US" sz="2400" spc="10" dirty="0">
                <a:latin typeface="Arial"/>
                <a:cs typeface="Arial"/>
              </a:rPr>
              <a:t> </a:t>
            </a:r>
            <a:r>
              <a:rPr lang="en-US" sz="2400" spc="-10" dirty="0">
                <a:latin typeface="Arial"/>
                <a:cs typeface="Arial"/>
              </a:rPr>
              <a:t>until we get to empty or deleted entry</a:t>
            </a:r>
            <a:endParaRPr lang="en-US" sz="2400" dirty="0">
              <a:latin typeface="Arial"/>
              <a:cs typeface="Arial"/>
            </a:endParaRPr>
          </a:p>
          <a:p>
            <a:pPr marL="0" indent="0">
              <a:buNone/>
            </a:pPr>
            <a:endParaRPr lang="en-US" sz="2400" dirty="0">
              <a:latin typeface="Arial"/>
              <a:cs typeface="Arial"/>
            </a:endParaRPr>
          </a:p>
          <a:p>
            <a:pPr marL="0" indent="0">
              <a:buNone/>
            </a:pPr>
            <a:endParaRPr lang="en-US" sz="2400" dirty="0"/>
          </a:p>
        </p:txBody>
      </p:sp>
      <p:graphicFrame>
        <p:nvGraphicFramePr>
          <p:cNvPr id="5" name="Group 64"/>
          <p:cNvGraphicFramePr>
            <a:graphicFrameLocks noGrp="1"/>
          </p:cNvGraphicFramePr>
          <p:nvPr>
            <p:custDataLst>
              <p:tags r:id="rId3"/>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75000"/>
                              <a:lumOff val="25000"/>
                            </a:schemeClr>
                          </a:solidFill>
                          <a:effectLst/>
                          <a:latin typeface="+mj-lt"/>
                        </a:rPr>
                        <a:t>10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 name="Slide Number Placeholder 3"/>
          <p:cNvSpPr>
            <a:spLocks noGrp="1"/>
          </p:cNvSpPr>
          <p:nvPr>
            <p:ph type="sldNum" sz="quarter" idx="12"/>
          </p:nvPr>
        </p:nvSpPr>
        <p:spPr/>
        <p:txBody>
          <a:bodyPr/>
          <a:lstStyle/>
          <a:p>
            <a:fld id="{2781ADA0-3BB4-460A-B7EB-C1A8DEAFE2E2}" type="slidenum">
              <a:rPr lang="en-US" smtClean="0"/>
              <a:t>58</a:t>
            </a:fld>
            <a:endParaRPr lang="en-US"/>
          </a:p>
        </p:txBody>
      </p:sp>
    </p:spTree>
    <p:extLst>
      <p:ext uri="{BB962C8B-B14F-4D97-AF65-F5344CB8AC3E}">
        <p14:creationId xmlns:p14="http://schemas.microsoft.com/office/powerpoint/2010/main" val="28916593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custDataLst>
              <p:tags r:id="rId1"/>
            </p:custDataLst>
          </p:nvPr>
        </p:nvSpPr>
        <p:spPr/>
        <p:txBody>
          <a:bodyPr/>
          <a:lstStyle/>
          <a:p>
            <a:pPr eaLnBrk="1" hangingPunct="1"/>
            <a:r>
              <a:rPr lang="en-US" dirty="0"/>
              <a:t>Open Addressing: Linear Probing</a:t>
            </a:r>
          </a:p>
        </p:txBody>
      </p:sp>
      <p:sp>
        <p:nvSpPr>
          <p:cNvPr id="22530" name="Content Placeholder 2"/>
          <p:cNvSpPr>
            <a:spLocks noGrp="1"/>
          </p:cNvSpPr>
          <p:nvPr>
            <p:ph idx="1"/>
            <p:custDataLst>
              <p:tags r:id="rId2"/>
            </p:custDataLst>
          </p:nvPr>
        </p:nvSpPr>
        <p:spPr>
          <a:xfrm>
            <a:off x="3578578" y="1994262"/>
            <a:ext cx="6860822" cy="4254137"/>
          </a:xfrm>
        </p:spPr>
        <p:txBody>
          <a:bodyPr>
            <a:normAutofit/>
          </a:bodyPr>
          <a:lstStyle/>
          <a:p>
            <a:pPr marL="0" indent="0">
              <a:buNone/>
            </a:pPr>
            <a:r>
              <a:rPr lang="en-US" sz="2600" dirty="0"/>
              <a:t>18 is placed at index 3.</a:t>
            </a:r>
          </a:p>
          <a:p>
            <a:r>
              <a:rPr lang="en-US" sz="2400" dirty="0">
                <a:latin typeface="Arial"/>
                <a:cs typeface="Arial"/>
              </a:rPr>
              <a:t>How</a:t>
            </a:r>
            <a:r>
              <a:rPr lang="en-US" sz="2400" spc="-5" dirty="0">
                <a:latin typeface="Arial"/>
                <a:cs typeface="Arial"/>
              </a:rPr>
              <a:t> </a:t>
            </a:r>
            <a:r>
              <a:rPr lang="en-US" sz="2400" dirty="0">
                <a:latin typeface="Arial"/>
                <a:cs typeface="Arial"/>
              </a:rPr>
              <a:t>do we search for</a:t>
            </a:r>
            <a:r>
              <a:rPr lang="en-US" sz="2400" spc="-5" dirty="0">
                <a:latin typeface="Arial"/>
                <a:cs typeface="Arial"/>
              </a:rPr>
              <a:t> </a:t>
            </a:r>
            <a:r>
              <a:rPr lang="en-US" sz="2400" spc="-10" dirty="0">
                <a:latin typeface="Arial"/>
                <a:cs typeface="Arial"/>
              </a:rPr>
              <a:t>10?</a:t>
            </a:r>
          </a:p>
          <a:p>
            <a:r>
              <a:rPr lang="en-US" sz="2400" dirty="0">
                <a:latin typeface="Arial"/>
                <a:cs typeface="Arial"/>
              </a:rPr>
              <a:t>Need</a:t>
            </a:r>
            <a:r>
              <a:rPr lang="en-US" sz="2400" spc="-15" dirty="0">
                <a:latin typeface="Arial"/>
                <a:cs typeface="Arial"/>
              </a:rPr>
              <a:t> </a:t>
            </a:r>
            <a:r>
              <a:rPr lang="en-US" sz="2400" dirty="0">
                <a:latin typeface="Arial"/>
                <a:cs typeface="Arial"/>
              </a:rPr>
              <a:t>to go</a:t>
            </a:r>
            <a:r>
              <a:rPr lang="en-US" sz="2400" spc="-5" dirty="0">
                <a:latin typeface="Arial"/>
                <a:cs typeface="Arial"/>
              </a:rPr>
              <a:t> </a:t>
            </a:r>
            <a:r>
              <a:rPr lang="en-US" sz="2400" dirty="0">
                <a:latin typeface="Arial"/>
                <a:cs typeface="Arial"/>
              </a:rPr>
              <a:t>to 8,</a:t>
            </a:r>
            <a:r>
              <a:rPr lang="en-US" sz="2400" spc="-5" dirty="0">
                <a:latin typeface="Arial"/>
                <a:cs typeface="Arial"/>
              </a:rPr>
              <a:t> </a:t>
            </a:r>
            <a:r>
              <a:rPr lang="en-US" sz="2400" dirty="0">
                <a:latin typeface="Arial"/>
                <a:cs typeface="Arial"/>
              </a:rPr>
              <a:t>and</a:t>
            </a:r>
            <a:r>
              <a:rPr lang="en-US" sz="2400" spc="-5" dirty="0">
                <a:latin typeface="Arial"/>
                <a:cs typeface="Arial"/>
              </a:rPr>
              <a:t> </a:t>
            </a:r>
            <a:r>
              <a:rPr lang="en-US" sz="2400" dirty="0">
                <a:latin typeface="Arial"/>
                <a:cs typeface="Arial"/>
              </a:rPr>
              <a:t>then cycle </a:t>
            </a:r>
            <a:r>
              <a:rPr lang="en-US" sz="2400" spc="-10" dirty="0">
                <a:latin typeface="Arial"/>
                <a:cs typeface="Arial"/>
              </a:rPr>
              <a:t>through </a:t>
            </a:r>
            <a:r>
              <a:rPr lang="en-US" sz="2400" dirty="0">
                <a:latin typeface="Arial"/>
                <a:cs typeface="Arial"/>
              </a:rPr>
              <a:t>all</a:t>
            </a:r>
            <a:r>
              <a:rPr lang="en-US" sz="2400" spc="-15" dirty="0">
                <a:latin typeface="Arial"/>
                <a:cs typeface="Arial"/>
              </a:rPr>
              <a:t> </a:t>
            </a:r>
            <a:r>
              <a:rPr lang="en-US" sz="2400" dirty="0">
                <a:latin typeface="Arial"/>
                <a:cs typeface="Arial"/>
              </a:rPr>
              <a:t>of</a:t>
            </a:r>
            <a:r>
              <a:rPr lang="en-US" sz="2400" spc="-10" dirty="0">
                <a:latin typeface="Arial"/>
                <a:cs typeface="Arial"/>
              </a:rPr>
              <a:t> </a:t>
            </a:r>
            <a:r>
              <a:rPr lang="en-US" sz="2400" dirty="0">
                <a:latin typeface="Arial"/>
                <a:cs typeface="Arial"/>
              </a:rPr>
              <a:t>the entries</a:t>
            </a:r>
            <a:r>
              <a:rPr lang="en-US" sz="2400" spc="-10" dirty="0">
                <a:latin typeface="Arial"/>
                <a:cs typeface="Arial"/>
              </a:rPr>
              <a:t> </a:t>
            </a:r>
            <a:r>
              <a:rPr lang="en-US" sz="2400" dirty="0">
                <a:latin typeface="Arial"/>
                <a:cs typeface="Arial"/>
              </a:rPr>
              <a:t>until we</a:t>
            </a:r>
            <a:r>
              <a:rPr lang="en-US" sz="2400" spc="-5" dirty="0">
                <a:latin typeface="Arial"/>
                <a:cs typeface="Arial"/>
              </a:rPr>
              <a:t> </a:t>
            </a:r>
            <a:r>
              <a:rPr lang="en-US" sz="2400" dirty="0">
                <a:latin typeface="Arial"/>
                <a:cs typeface="Arial"/>
              </a:rPr>
              <a:t>find </a:t>
            </a:r>
            <a:r>
              <a:rPr lang="en-US" sz="2400" spc="-25" dirty="0">
                <a:latin typeface="Arial"/>
                <a:cs typeface="Arial"/>
              </a:rPr>
              <a:t>the </a:t>
            </a:r>
            <a:r>
              <a:rPr lang="en-US" sz="2400" dirty="0">
                <a:latin typeface="Arial"/>
                <a:cs typeface="Arial"/>
              </a:rPr>
              <a:t>element</a:t>
            </a:r>
            <a:r>
              <a:rPr lang="en-US" sz="2400" spc="-20" dirty="0">
                <a:latin typeface="Arial"/>
                <a:cs typeface="Arial"/>
              </a:rPr>
              <a:t> </a:t>
            </a:r>
            <a:r>
              <a:rPr lang="en-US" sz="2400" dirty="0">
                <a:latin typeface="Arial"/>
                <a:cs typeface="Arial"/>
              </a:rPr>
              <a:t>or</a:t>
            </a:r>
            <a:r>
              <a:rPr lang="en-US" sz="2400" spc="-5" dirty="0">
                <a:latin typeface="Arial"/>
                <a:cs typeface="Arial"/>
              </a:rPr>
              <a:t> </a:t>
            </a:r>
            <a:r>
              <a:rPr lang="en-US" sz="2400" dirty="0">
                <a:latin typeface="Arial"/>
                <a:cs typeface="Arial"/>
              </a:rPr>
              <a:t>find a blank</a:t>
            </a:r>
            <a:r>
              <a:rPr lang="en-US" sz="2400" spc="-5" dirty="0">
                <a:latin typeface="Arial"/>
                <a:cs typeface="Arial"/>
              </a:rPr>
              <a:t> </a:t>
            </a:r>
            <a:r>
              <a:rPr lang="en-US" sz="2400" spc="-10" dirty="0">
                <a:latin typeface="Arial"/>
                <a:cs typeface="Arial"/>
              </a:rPr>
              <a:t>space</a:t>
            </a:r>
          </a:p>
          <a:p>
            <a:r>
              <a:rPr lang="en-US" sz="2400" dirty="0">
                <a:latin typeface="Arial"/>
                <a:cs typeface="Arial"/>
              </a:rPr>
              <a:t>What</a:t>
            </a:r>
            <a:r>
              <a:rPr lang="en-US" sz="2400" spc="-10" dirty="0">
                <a:latin typeface="Arial"/>
                <a:cs typeface="Arial"/>
              </a:rPr>
              <a:t> </a:t>
            </a:r>
            <a:r>
              <a:rPr lang="en-US" sz="2400" dirty="0">
                <a:latin typeface="Arial"/>
                <a:cs typeface="Arial"/>
              </a:rPr>
              <a:t>if</a:t>
            </a:r>
            <a:r>
              <a:rPr lang="en-US" sz="2400" spc="-5" dirty="0">
                <a:latin typeface="Arial"/>
                <a:cs typeface="Arial"/>
              </a:rPr>
              <a:t> </a:t>
            </a:r>
            <a:r>
              <a:rPr lang="en-US" sz="2400" dirty="0">
                <a:latin typeface="Arial"/>
                <a:cs typeface="Arial"/>
              </a:rPr>
              <a:t>we</a:t>
            </a:r>
            <a:r>
              <a:rPr lang="en-US" sz="2400" spc="-5" dirty="0">
                <a:latin typeface="Arial"/>
                <a:cs typeface="Arial"/>
              </a:rPr>
              <a:t> </a:t>
            </a:r>
            <a:r>
              <a:rPr lang="en-US" sz="2400" dirty="0">
                <a:latin typeface="Arial"/>
                <a:cs typeface="Arial"/>
              </a:rPr>
              <a:t>need to</a:t>
            </a:r>
            <a:r>
              <a:rPr lang="en-US" sz="2400" spc="-5" dirty="0">
                <a:latin typeface="Arial"/>
                <a:cs typeface="Arial"/>
              </a:rPr>
              <a:t> </a:t>
            </a:r>
            <a:r>
              <a:rPr lang="en-US" sz="2400" dirty="0">
                <a:latin typeface="Arial"/>
                <a:cs typeface="Arial"/>
              </a:rPr>
              <a:t>add something </a:t>
            </a:r>
            <a:r>
              <a:rPr lang="en-US" sz="2400" spc="-20" dirty="0">
                <a:latin typeface="Arial"/>
                <a:cs typeface="Arial"/>
              </a:rPr>
              <a:t>that </a:t>
            </a:r>
            <a:r>
              <a:rPr lang="en-US" sz="2400" dirty="0">
                <a:latin typeface="Arial"/>
                <a:cs typeface="Arial"/>
              </a:rPr>
              <a:t>ends</a:t>
            </a:r>
            <a:r>
              <a:rPr lang="en-US" sz="2400" spc="-5" dirty="0">
                <a:latin typeface="Arial"/>
                <a:cs typeface="Arial"/>
              </a:rPr>
              <a:t> </a:t>
            </a:r>
            <a:r>
              <a:rPr lang="en-US" sz="2400" dirty="0">
                <a:latin typeface="Arial"/>
                <a:cs typeface="Arial"/>
              </a:rPr>
              <a:t>in </a:t>
            </a:r>
            <a:r>
              <a:rPr lang="en-US" sz="2400" spc="-25" dirty="0">
                <a:latin typeface="Arial"/>
                <a:cs typeface="Arial"/>
              </a:rPr>
              <a:t>8?</a:t>
            </a:r>
          </a:p>
          <a:p>
            <a:pPr lvl="1"/>
            <a:r>
              <a:rPr lang="en-US" sz="2000" dirty="0">
                <a:latin typeface="Arial"/>
                <a:cs typeface="Arial"/>
              </a:rPr>
              <a:t>It</a:t>
            </a:r>
            <a:r>
              <a:rPr lang="en-US" sz="2000" spc="-10" dirty="0">
                <a:latin typeface="Arial"/>
                <a:cs typeface="Arial"/>
              </a:rPr>
              <a:t> </a:t>
            </a:r>
            <a:r>
              <a:rPr lang="en-US" sz="2000" dirty="0">
                <a:latin typeface="Arial"/>
                <a:cs typeface="Arial"/>
              </a:rPr>
              <a:t>also ends</a:t>
            </a:r>
            <a:r>
              <a:rPr lang="en-US" sz="2000" spc="-5" dirty="0">
                <a:latin typeface="Arial"/>
                <a:cs typeface="Arial"/>
              </a:rPr>
              <a:t> </a:t>
            </a:r>
            <a:r>
              <a:rPr lang="en-US" sz="2000" dirty="0">
                <a:latin typeface="Arial"/>
                <a:cs typeface="Arial"/>
              </a:rPr>
              <a:t>up</a:t>
            </a:r>
            <a:r>
              <a:rPr lang="en-US" sz="2000" spc="-5" dirty="0">
                <a:latin typeface="Arial"/>
                <a:cs typeface="Arial"/>
              </a:rPr>
              <a:t> </a:t>
            </a:r>
            <a:r>
              <a:rPr lang="en-US" sz="2000" dirty="0">
                <a:latin typeface="Arial"/>
                <a:cs typeface="Arial"/>
              </a:rPr>
              <a:t>in this</a:t>
            </a:r>
            <a:r>
              <a:rPr lang="en-US" sz="2000" spc="-5" dirty="0">
                <a:latin typeface="Arial"/>
                <a:cs typeface="Arial"/>
              </a:rPr>
              <a:t> </a:t>
            </a:r>
            <a:r>
              <a:rPr lang="en-US" sz="2000" dirty="0">
                <a:latin typeface="Arial"/>
                <a:cs typeface="Arial"/>
              </a:rPr>
              <a:t>problem</a:t>
            </a:r>
            <a:r>
              <a:rPr lang="en-US" sz="2000" spc="-5" dirty="0">
                <a:latin typeface="Arial"/>
                <a:cs typeface="Arial"/>
              </a:rPr>
              <a:t> </a:t>
            </a:r>
            <a:r>
              <a:rPr lang="en-US" sz="2000" spc="-20" dirty="0">
                <a:latin typeface="Arial"/>
                <a:cs typeface="Arial"/>
              </a:rPr>
              <a:t>area</a:t>
            </a:r>
          </a:p>
          <a:p>
            <a:pPr lvl="1"/>
            <a:r>
              <a:rPr lang="en-US" sz="2000" dirty="0">
                <a:latin typeface="Arial"/>
                <a:cs typeface="Arial"/>
              </a:rPr>
              <a:t>This</a:t>
            </a:r>
            <a:r>
              <a:rPr lang="en-US" sz="2000" spc="-20" dirty="0">
                <a:latin typeface="Arial"/>
                <a:cs typeface="Arial"/>
              </a:rPr>
              <a:t> </a:t>
            </a:r>
            <a:r>
              <a:rPr lang="en-US" sz="2000" dirty="0">
                <a:latin typeface="Arial"/>
                <a:cs typeface="Arial"/>
              </a:rPr>
              <a:t>is</a:t>
            </a:r>
            <a:r>
              <a:rPr lang="en-US" sz="2000" spc="-5" dirty="0">
                <a:latin typeface="Arial"/>
                <a:cs typeface="Arial"/>
              </a:rPr>
              <a:t> </a:t>
            </a:r>
            <a:r>
              <a:rPr lang="en-US" sz="2000" dirty="0">
                <a:latin typeface="Arial"/>
                <a:cs typeface="Arial"/>
              </a:rPr>
              <a:t>called</a:t>
            </a:r>
            <a:r>
              <a:rPr lang="en-US" sz="2000" spc="-5" dirty="0">
                <a:latin typeface="Arial"/>
                <a:cs typeface="Arial"/>
              </a:rPr>
              <a:t> </a:t>
            </a:r>
            <a:r>
              <a:rPr lang="en-US" sz="2000" b="1" spc="-5" dirty="0">
                <a:latin typeface="Arial"/>
                <a:cs typeface="Arial"/>
              </a:rPr>
              <a:t>primary</a:t>
            </a:r>
            <a:r>
              <a:rPr lang="en-US" sz="2000" spc="-5" dirty="0">
                <a:latin typeface="Arial"/>
                <a:cs typeface="Arial"/>
              </a:rPr>
              <a:t> </a:t>
            </a:r>
            <a:r>
              <a:rPr lang="en-US" sz="2000" b="1" spc="-10" dirty="0">
                <a:latin typeface="Arial"/>
                <a:cs typeface="Arial"/>
              </a:rPr>
              <a:t>clustering</a:t>
            </a:r>
            <a:endParaRPr lang="en-US" sz="2000" dirty="0">
              <a:latin typeface="Arial"/>
              <a:cs typeface="Arial"/>
            </a:endParaRPr>
          </a:p>
          <a:p>
            <a:pPr marL="457200" lvl="1" indent="0">
              <a:buNone/>
            </a:pPr>
            <a:endParaRPr lang="en-US" sz="2000" dirty="0">
              <a:latin typeface="Arial"/>
              <a:cs typeface="Arial"/>
            </a:endParaRPr>
          </a:p>
          <a:p>
            <a:endParaRPr lang="en-US" sz="2400" dirty="0">
              <a:latin typeface="Arial"/>
              <a:cs typeface="Arial"/>
            </a:endParaRPr>
          </a:p>
          <a:p>
            <a:endParaRPr lang="en-US" sz="2400" dirty="0">
              <a:latin typeface="Arial"/>
              <a:cs typeface="Arial"/>
            </a:endParaRPr>
          </a:p>
          <a:p>
            <a:pPr marL="0" indent="0">
              <a:buNone/>
            </a:pPr>
            <a:endParaRPr lang="en-US" sz="2400" dirty="0">
              <a:latin typeface="Arial"/>
              <a:cs typeface="Arial"/>
            </a:endParaRPr>
          </a:p>
          <a:p>
            <a:pPr marL="0" indent="0">
              <a:buNone/>
            </a:pPr>
            <a:endParaRPr lang="en-US" sz="2400" dirty="0">
              <a:latin typeface="Arial"/>
              <a:cs typeface="Arial"/>
            </a:endParaRPr>
          </a:p>
          <a:p>
            <a:pPr marL="0" indent="0">
              <a:buNone/>
            </a:pPr>
            <a:endParaRPr lang="en-US" sz="2400" dirty="0">
              <a:latin typeface="Arial"/>
              <a:cs typeface="Arial"/>
            </a:endParaRPr>
          </a:p>
          <a:p>
            <a:pPr marL="0" indent="0">
              <a:buNone/>
            </a:pPr>
            <a:endParaRPr lang="en-US" sz="2400" dirty="0"/>
          </a:p>
        </p:txBody>
      </p:sp>
      <p:graphicFrame>
        <p:nvGraphicFramePr>
          <p:cNvPr id="5" name="Group 64"/>
          <p:cNvGraphicFramePr>
            <a:graphicFrameLocks noGrp="1"/>
          </p:cNvGraphicFramePr>
          <p:nvPr>
            <p:custDataLst>
              <p:tags r:id="rId3"/>
            </p:custDataLst>
            <p:extLst>
              <p:ext uri="{D42A27DB-BD31-4B8C-83A1-F6EECF244321}">
                <p14:modId xmlns:p14="http://schemas.microsoft.com/office/powerpoint/2010/main" val="3117763249"/>
              </p:ext>
            </p:ext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75000"/>
                              <a:lumOff val="25000"/>
                            </a:schemeClr>
                          </a:solidFill>
                          <a:effectLst/>
                          <a:latin typeface="+mj-lt"/>
                        </a:rPr>
                        <a:t>10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4" name="Slide Number Placeholder 3"/>
          <p:cNvSpPr>
            <a:spLocks noGrp="1"/>
          </p:cNvSpPr>
          <p:nvPr>
            <p:ph type="sldNum" sz="quarter" idx="12"/>
          </p:nvPr>
        </p:nvSpPr>
        <p:spPr/>
        <p:txBody>
          <a:bodyPr/>
          <a:lstStyle/>
          <a:p>
            <a:fld id="{2781ADA0-3BB4-460A-B7EB-C1A8DEAFE2E2}" type="slidenum">
              <a:rPr lang="en-US" smtClean="0"/>
              <a:t>59</a:t>
            </a:fld>
            <a:endParaRPr lang="en-US"/>
          </a:p>
        </p:txBody>
      </p:sp>
    </p:spTree>
    <p:extLst>
      <p:ext uri="{BB962C8B-B14F-4D97-AF65-F5344CB8AC3E}">
        <p14:creationId xmlns:p14="http://schemas.microsoft.com/office/powerpoint/2010/main" val="3491516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53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custDataLst>
              <p:tags r:id="rId1"/>
            </p:custDataLst>
          </p:nvPr>
        </p:nvSpPr>
        <p:spPr>
          <a:xfrm>
            <a:off x="838200" y="365126"/>
            <a:ext cx="10515600" cy="529610"/>
          </a:xfrm>
        </p:spPr>
        <p:txBody>
          <a:bodyPr>
            <a:normAutofit fontScale="90000"/>
          </a:bodyPr>
          <a:lstStyle/>
          <a:p>
            <a:r>
              <a:rPr lang="en-US" sz="3500" dirty="0"/>
              <a:t>Open Addressing: Quadratic Probing</a:t>
            </a:r>
          </a:p>
        </p:txBody>
      </p:sp>
      <p:sp>
        <p:nvSpPr>
          <p:cNvPr id="69634" name="Content Placeholder 2"/>
          <p:cNvSpPr>
            <a:spLocks noGrp="1"/>
          </p:cNvSpPr>
          <p:nvPr>
            <p:ph idx="1"/>
            <p:custDataLst>
              <p:tags r:id="rId2"/>
            </p:custDataLst>
          </p:nvPr>
        </p:nvSpPr>
        <p:spPr>
          <a:xfrm>
            <a:off x="1831622" y="1263863"/>
            <a:ext cx="8528756" cy="3864078"/>
          </a:xfrm>
        </p:spPr>
        <p:txBody>
          <a:bodyPr>
            <a:normAutofit fontScale="85000" lnSpcReduction="20000"/>
          </a:bodyPr>
          <a:lstStyle/>
          <a:p>
            <a:pPr marL="0" indent="0">
              <a:buNone/>
            </a:pPr>
            <a:r>
              <a:rPr lang="en-US" sz="2400" dirty="0"/>
              <a:t>We can avoid primary clustering by changing the probe function from just </a:t>
            </a:r>
            <a:r>
              <a:rPr lang="en-US" sz="2400" dirty="0" err="1"/>
              <a:t>i</a:t>
            </a:r>
            <a:r>
              <a:rPr lang="en-US" sz="2400" dirty="0"/>
              <a:t> to f(</a:t>
            </a:r>
            <a:r>
              <a:rPr lang="en-US" sz="2400" dirty="0" err="1"/>
              <a:t>i</a:t>
            </a:r>
            <a:r>
              <a:rPr lang="en-US" sz="2400" dirty="0"/>
              <a:t>)</a:t>
            </a:r>
          </a:p>
          <a:p>
            <a:pPr marL="463550" indent="0">
              <a:buNone/>
            </a:pPr>
            <a:r>
              <a:rPr lang="en-US" sz="2400" dirty="0"/>
              <a:t>(h(key) + f(</a:t>
            </a:r>
            <a:r>
              <a:rPr lang="en-US" sz="2400" dirty="0" err="1"/>
              <a:t>i</a:t>
            </a:r>
            <a:r>
              <a:rPr lang="en-US" sz="2400" dirty="0"/>
              <a:t>)) % </a:t>
            </a:r>
            <a:r>
              <a:rPr lang="en-US" sz="2400" dirty="0" err="1"/>
              <a:t>TableSize</a:t>
            </a:r>
            <a:endParaRPr lang="en-US" sz="2400" dirty="0"/>
          </a:p>
          <a:p>
            <a:pPr marL="463550" indent="0">
              <a:buNone/>
            </a:pPr>
            <a:endParaRPr lang="en-US" sz="1200" dirty="0"/>
          </a:p>
          <a:p>
            <a:pPr marL="0" indent="0">
              <a:buNone/>
            </a:pPr>
            <a:r>
              <a:rPr lang="en-US" sz="2400" dirty="0"/>
              <a:t>For </a:t>
            </a:r>
            <a:r>
              <a:rPr lang="en-US" sz="2400" dirty="0">
                <a:solidFill>
                  <a:schemeClr val="accent5">
                    <a:lumMod val="75000"/>
                  </a:schemeClr>
                </a:solidFill>
              </a:rPr>
              <a:t>quadratic probing</a:t>
            </a:r>
            <a:r>
              <a:rPr lang="en-US" sz="2400" dirty="0"/>
              <a:t>, f(</a:t>
            </a:r>
            <a:r>
              <a:rPr lang="en-US" sz="2400" dirty="0" err="1"/>
              <a:t>i</a:t>
            </a:r>
            <a:r>
              <a:rPr lang="en-US" sz="2400" dirty="0"/>
              <a:t>) = i</a:t>
            </a:r>
            <a:r>
              <a:rPr lang="en-US" sz="2400" baseline="30000" dirty="0"/>
              <a:t>2</a:t>
            </a:r>
            <a:r>
              <a:rPr lang="en-US" sz="2400" dirty="0"/>
              <a:t>:  for </a:t>
            </a:r>
            <a:r>
              <a:rPr lang="en-US" sz="2400" dirty="0" err="1"/>
              <a:t>i</a:t>
            </a:r>
            <a:r>
              <a:rPr lang="en-US" sz="2400" dirty="0"/>
              <a:t>&gt;=0</a:t>
            </a:r>
          </a:p>
          <a:p>
            <a:pPr marL="463550" indent="0">
              <a:buNone/>
              <a:tabLst>
                <a:tab pos="2405063" algn="l"/>
              </a:tabLst>
            </a:pPr>
            <a:r>
              <a:rPr lang="en-US" sz="2400" dirty="0"/>
              <a:t>0</a:t>
            </a:r>
            <a:r>
              <a:rPr lang="en-US" sz="2400" baseline="30000" dirty="0"/>
              <a:t>th</a:t>
            </a:r>
            <a:r>
              <a:rPr lang="en-US" sz="2400" dirty="0"/>
              <a:t> probe:	(h(key) + 0) % </a:t>
            </a:r>
            <a:r>
              <a:rPr lang="en-US" sz="2400" dirty="0" err="1"/>
              <a:t>TableSize</a:t>
            </a:r>
            <a:endParaRPr lang="en-US" sz="2400" dirty="0"/>
          </a:p>
          <a:p>
            <a:pPr marL="463550" indent="0">
              <a:buNone/>
              <a:tabLst>
                <a:tab pos="2405063" algn="l"/>
              </a:tabLst>
            </a:pPr>
            <a:r>
              <a:rPr lang="en-US" sz="2400" dirty="0"/>
              <a:t>1</a:t>
            </a:r>
            <a:r>
              <a:rPr lang="en-US" sz="2400" baseline="30000" dirty="0"/>
              <a:t>st</a:t>
            </a:r>
            <a:r>
              <a:rPr lang="en-US" sz="2400" dirty="0"/>
              <a:t> probe:	(h(key) + 1) % </a:t>
            </a:r>
            <a:r>
              <a:rPr lang="en-US" sz="2400" dirty="0" err="1"/>
              <a:t>TableSize</a:t>
            </a:r>
            <a:endParaRPr lang="en-US" sz="2400" dirty="0"/>
          </a:p>
          <a:p>
            <a:pPr marL="463550" indent="0">
              <a:buNone/>
              <a:tabLst>
                <a:tab pos="2405063" algn="l"/>
              </a:tabLst>
            </a:pPr>
            <a:r>
              <a:rPr lang="en-US" sz="2400" dirty="0"/>
              <a:t>2</a:t>
            </a:r>
            <a:r>
              <a:rPr lang="en-US" sz="2400" baseline="30000" dirty="0"/>
              <a:t>nd</a:t>
            </a:r>
            <a:r>
              <a:rPr lang="en-US" sz="2400" dirty="0"/>
              <a:t> probe:	(h(key) + 4) % </a:t>
            </a:r>
            <a:r>
              <a:rPr lang="en-US" sz="2400" dirty="0" err="1"/>
              <a:t>TableSize</a:t>
            </a:r>
            <a:endParaRPr lang="en-US" sz="2400" dirty="0"/>
          </a:p>
          <a:p>
            <a:pPr marL="463550" indent="0">
              <a:buNone/>
              <a:tabLst>
                <a:tab pos="2405063" algn="l"/>
              </a:tabLst>
            </a:pPr>
            <a:r>
              <a:rPr lang="en-US" sz="2400" dirty="0"/>
              <a:t>3</a:t>
            </a:r>
            <a:r>
              <a:rPr lang="en-US" sz="2400" baseline="30000" dirty="0"/>
              <a:t>rd</a:t>
            </a:r>
            <a:r>
              <a:rPr lang="en-US" sz="2400" dirty="0"/>
              <a:t> probe: 	(h(key) + 9) % </a:t>
            </a:r>
            <a:r>
              <a:rPr lang="en-US" sz="2400" dirty="0" err="1"/>
              <a:t>TableSize</a:t>
            </a:r>
            <a:endParaRPr lang="en-US" sz="2400" dirty="0"/>
          </a:p>
          <a:p>
            <a:pPr marL="463550" indent="0">
              <a:buNone/>
              <a:tabLst>
                <a:tab pos="2405063" algn="l"/>
              </a:tabLst>
            </a:pPr>
            <a:r>
              <a:rPr lang="en-US" sz="2400" dirty="0"/>
              <a:t>…</a:t>
            </a:r>
          </a:p>
          <a:p>
            <a:pPr marL="463550" indent="0">
              <a:buNone/>
              <a:tabLst>
                <a:tab pos="2405063" algn="l"/>
              </a:tabLst>
            </a:pPr>
            <a:r>
              <a:rPr lang="en-US" sz="2400" dirty="0" err="1"/>
              <a:t>i</a:t>
            </a:r>
            <a:r>
              <a:rPr lang="en-US" sz="2400" baseline="30000" dirty="0" err="1"/>
              <a:t>th</a:t>
            </a:r>
            <a:r>
              <a:rPr lang="en-US" sz="2400" dirty="0"/>
              <a:t> probe:	(h(key) + i</a:t>
            </a:r>
            <a:r>
              <a:rPr lang="en-US" sz="2400" baseline="30000" dirty="0"/>
              <a:t>2</a:t>
            </a:r>
            <a:r>
              <a:rPr lang="en-US" sz="2400" dirty="0"/>
              <a:t>) % </a:t>
            </a:r>
            <a:r>
              <a:rPr lang="en-US" sz="2400" dirty="0" err="1"/>
              <a:t>TableSize</a:t>
            </a:r>
            <a:endParaRPr lang="en-US" sz="2400" dirty="0"/>
          </a:p>
          <a:p>
            <a:endParaRPr lang="en-US" sz="1200" dirty="0"/>
          </a:p>
          <a:p>
            <a:pPr marL="0" indent="0">
              <a:buNone/>
            </a:pPr>
            <a:r>
              <a:rPr lang="en-US" sz="2400" dirty="0"/>
              <a:t>Intuition: Probes quickly "leave the neighborhood“</a:t>
            </a:r>
          </a:p>
          <a:p>
            <a:pPr marL="0" indent="0">
              <a:buNone/>
            </a:pPr>
            <a:endParaRPr lang="en-US" sz="2400" dirty="0"/>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60</a:t>
            </a:fld>
            <a:endParaRPr lang="en-US">
              <a:solidFill>
                <a:srgbClr val="2F1343"/>
              </a:solidFill>
              <a:latin typeface="Verdana"/>
            </a:endParaRPr>
          </a:p>
        </p:txBody>
      </p:sp>
      <p:pic>
        <p:nvPicPr>
          <p:cNvPr id="5" name="A diagram illustrates an array of 22 elements where the elements 3, 4, 7, 12, and 19 are highlighted. The highlighted elements are labeled as follows. k, k + 1, k + 2 squared, k + 3 squared, and k + 4 squared. &#10;&#10;Picture 2" descr="A diagram illustrates an array of 22 elements where the elements 3, 4, 7, 12, and 19 are highlighted. The highlighted elements are labeled as follows. k, k + 1, k + 2 squared, k + 3 squared, and k + 4 squared. Picture 2">
            <a:extLst>
              <a:ext uri="{FF2B5EF4-FFF2-40B4-BE49-F238E27FC236}">
                <a16:creationId xmlns:a16="http://schemas.microsoft.com/office/drawing/2014/main" id="{8761EEC8-0D85-4738-AE74-98B0D1A242FD}"/>
              </a:ext>
            </a:extLst>
          </p:cNvPr>
          <p:cNvPicPr>
            <a:picLocks noChangeAspect="1"/>
          </p:cNvPicPr>
          <p:nvPr/>
        </p:nvPicPr>
        <p:blipFill>
          <a:blip r:embed="rId5"/>
          <a:stretch>
            <a:fillRect/>
          </a:stretch>
        </p:blipFill>
        <p:spPr>
          <a:xfrm>
            <a:off x="1447799" y="5435535"/>
            <a:ext cx="8534401" cy="1103377"/>
          </a:xfrm>
          <a:prstGeom prst="rect">
            <a:avLst/>
          </a:prstGeom>
          <a:ln w="12700">
            <a:miter lim="400000"/>
          </a:ln>
        </p:spPr>
      </p:pic>
    </p:spTree>
    <p:extLst>
      <p:ext uri="{BB962C8B-B14F-4D97-AF65-F5344CB8AC3E}">
        <p14:creationId xmlns:p14="http://schemas.microsoft.com/office/powerpoint/2010/main" val="2638037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Title 1"/>
          <p:cNvSpPr txBox="1">
            <a:spLocks noGrp="1"/>
          </p:cNvSpPr>
          <p:nvPr>
            <p:ph type="title"/>
          </p:nvPr>
        </p:nvSpPr>
        <p:spPr>
          <a:prstGeom prst="rect">
            <a:avLst/>
          </a:prstGeom>
        </p:spPr>
        <p:txBody>
          <a:bodyPr/>
          <a:lstStyle>
            <a:lvl1pPr defTabSz="758951">
              <a:defRPr sz="3652"/>
            </a:lvl1pPr>
          </a:lstStyle>
          <a:p>
            <a:r>
              <a:t>Open Addressing with Quadratic Probing</a:t>
            </a:r>
          </a:p>
        </p:txBody>
      </p:sp>
      <p:sp>
        <p:nvSpPr>
          <p:cNvPr id="126" name="Content Placeholder 4"/>
          <p:cNvSpPr txBox="1">
            <a:spLocks noGrp="1"/>
          </p:cNvSpPr>
          <p:nvPr>
            <p:ph type="body" idx="1"/>
          </p:nvPr>
        </p:nvSpPr>
        <p:spPr>
          <a:prstGeom prst="rect">
            <a:avLst/>
          </a:prstGeom>
        </p:spPr>
        <p:txBody>
          <a:bodyPr/>
          <a:lstStyle/>
          <a:p>
            <a:r>
              <a:t>Linear probing looks at consecutive locations beginning at index </a:t>
            </a:r>
            <a:r>
              <a:rPr b="1" i="1">
                <a:latin typeface="Times New Roman"/>
                <a:ea typeface="Times New Roman"/>
                <a:cs typeface="Times New Roman"/>
                <a:sym typeface="Times New Roman"/>
              </a:rPr>
              <a:t>k</a:t>
            </a:r>
          </a:p>
          <a:p>
            <a:r>
              <a:t>Quadratic probing:</a:t>
            </a:r>
          </a:p>
          <a:p>
            <a:pPr lvl="1"/>
            <a:r>
              <a:t>Considers the locations at indices </a:t>
            </a:r>
            <a:r>
              <a:rPr b="1" i="1">
                <a:latin typeface="Courier New"/>
                <a:ea typeface="Courier New"/>
                <a:cs typeface="Courier New"/>
                <a:sym typeface="Courier New"/>
              </a:rPr>
              <a:t>k + j</a:t>
            </a:r>
            <a:r>
              <a:rPr b="1" i="1" baseline="31999">
                <a:latin typeface="Courier New"/>
                <a:ea typeface="Courier New"/>
                <a:cs typeface="Courier New"/>
                <a:sym typeface="Courier New"/>
              </a:rPr>
              <a:t>2</a:t>
            </a:r>
            <a:r>
              <a:rPr b="1" i="1">
                <a:latin typeface="Courier New"/>
                <a:ea typeface="Courier New"/>
                <a:cs typeface="Courier New"/>
                <a:sym typeface="Courier New"/>
              </a:rPr>
              <a:t> </a:t>
            </a:r>
          </a:p>
          <a:p>
            <a:pPr lvl="1"/>
            <a:r>
              <a:t>Uses the indices </a:t>
            </a:r>
            <a:r>
              <a:rPr b="1" i="1">
                <a:latin typeface="Courier New"/>
                <a:ea typeface="Courier New"/>
                <a:cs typeface="Courier New"/>
                <a:sym typeface="Courier New"/>
              </a:rPr>
              <a:t>k, k + 1, k + 4, k + 9, …</a:t>
            </a:r>
          </a:p>
        </p:txBody>
      </p:sp>
      <p:sp>
        <p:nvSpPr>
          <p:cNvPr id="127" name="FIGURE 22-7 A probe sequence of length five using quadratic probing"/>
          <p:cNvSpPr txBox="1"/>
          <p:nvPr/>
        </p:nvSpPr>
        <p:spPr>
          <a:xfrm>
            <a:off x="1782233" y="5465249"/>
            <a:ext cx="8212372" cy="461665"/>
          </a:xfrm>
          <a:prstGeom prst="rect">
            <a:avLst/>
          </a:prstGeom>
          <a:ln w="12700">
            <a:miter lim="400000"/>
          </a:ln>
          <a:extLst>
            <a:ext uri="{C572A759-6A51-4108-AA02-DFA0A04FC94B}">
              <ma14:wrappingTextBoxFlag xmlns:ma14="http://schemas.microsoft.com/office/mac/drawingml/2011/main" xmlns="" val="1"/>
            </a:ext>
          </a:extLst>
        </p:spPr>
        <p:txBody>
          <a:bodyPr wrap="square" lIns="45719" rIns="45719">
            <a:spAutoFit/>
          </a:bodyPr>
          <a:lstStyle>
            <a:lvl1pPr>
              <a:defRPr sz="2400" b="1">
                <a:solidFill>
                  <a:srgbClr val="007FA3"/>
                </a:solidFill>
                <a:latin typeface="Times New Roman"/>
                <a:ea typeface="Times New Roman"/>
                <a:cs typeface="Times New Roman"/>
                <a:sym typeface="Times New Roman"/>
              </a:defRPr>
            </a:lvl1pPr>
          </a:lstStyle>
          <a:p>
            <a:r>
              <a:rPr dirty="0"/>
              <a:t>A probe sequence of length five using quadratic probing</a:t>
            </a:r>
          </a:p>
        </p:txBody>
      </p:sp>
      <p:pic>
        <p:nvPicPr>
          <p:cNvPr id="128" name="A diagram illustrates an array of 22 elements where the elements 3, 4, 7, 12, and 19 are highlighted. The highlighted elements are labeled as follows. k, k + 1, k + 2 squared, k + 3 squared, and k + 4 squared. &#10;&#10;Picture 2" descr="A diagram illustrates an array of 22 elements where the elements 3, 4, 7, 12, and 19 are highlighted. The highlighted elements are labeled as follows. k, k + 1, k + 2 squared, k + 3 squared, and k + 4 squared. Picture 2"/>
          <p:cNvPicPr>
            <a:picLocks noChangeAspect="1"/>
          </p:cNvPicPr>
          <p:nvPr/>
        </p:nvPicPr>
        <p:blipFill>
          <a:blip r:embed="rId3"/>
          <a:stretch>
            <a:fillRect/>
          </a:stretch>
        </p:blipFill>
        <p:spPr>
          <a:xfrm>
            <a:off x="1752600" y="4161705"/>
            <a:ext cx="8534401" cy="1103377"/>
          </a:xfrm>
          <a:prstGeom prst="rect">
            <a:avLst/>
          </a:prstGeom>
          <a:ln w="12700">
            <a:miter lim="400000"/>
          </a:ln>
        </p:spPr>
      </p:pic>
      <p:sp>
        <p:nvSpPr>
          <p:cNvPr id="2" name="TextBox 1">
            <a:extLst>
              <a:ext uri="{FF2B5EF4-FFF2-40B4-BE49-F238E27FC236}">
                <a16:creationId xmlns:a16="http://schemas.microsoft.com/office/drawing/2014/main" id="{6C8ED49C-C834-4DA2-A7BA-6CB25BA63D7A}"/>
              </a:ext>
            </a:extLst>
          </p:cNvPr>
          <p:cNvSpPr txBox="1"/>
          <p:nvPr/>
        </p:nvSpPr>
        <p:spPr>
          <a:xfrm>
            <a:off x="1174865" y="5986572"/>
            <a:ext cx="9071073" cy="646331"/>
          </a:xfrm>
          <a:prstGeom prst="rect">
            <a:avLst/>
          </a:prstGeom>
          <a:noFill/>
        </p:spPr>
        <p:txBody>
          <a:bodyPr wrap="none" rtlCol="0">
            <a:spAutoFit/>
          </a:bodyPr>
          <a:lstStyle/>
          <a:p>
            <a:r>
              <a:rPr lang="en-US" dirty="0"/>
              <a:t>Possible problem:</a:t>
            </a:r>
          </a:p>
          <a:p>
            <a:r>
              <a:rPr lang="en-US" dirty="0"/>
              <a:t>Secondary clustering: entries that collide with an occupied entry use the same probe sequence</a:t>
            </a:r>
          </a:p>
        </p:txBody>
      </p:sp>
    </p:spTree>
    <p:extLst>
      <p:ext uri="{BB962C8B-B14F-4D97-AF65-F5344CB8AC3E}">
        <p14:creationId xmlns:p14="http://schemas.microsoft.com/office/powerpoint/2010/main" val="3358444532"/>
      </p:ext>
    </p:extLst>
  </p:cSld>
  <p:clrMapOvr>
    <a:masterClrMapping/>
  </p:clrMapOvr>
  <p:transition spd="med" advTm="50136"/>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p:cNvSpPr>
            <a:spLocks noGrp="1"/>
          </p:cNvSpPr>
          <p:nvPr>
            <p:ph type="title"/>
            <p:custDataLst>
              <p:tags r:id="rId1"/>
            </p:custDataLst>
          </p:nvPr>
        </p:nvSpPr>
        <p:spPr>
          <a:xfrm>
            <a:off x="838200" y="365125"/>
            <a:ext cx="10515600" cy="755297"/>
          </a:xfrm>
        </p:spPr>
        <p:txBody>
          <a:bodyPr/>
          <a:lstStyle/>
          <a:p>
            <a:pPr eaLnBrk="1" hangingPunct="1"/>
            <a:r>
              <a:rPr lang="en-US" dirty="0"/>
              <a:t>Quadratic Probing Example</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62</a:t>
            </a:fld>
            <a:endParaRPr lang="en-US">
              <a:solidFill>
                <a:srgbClr val="2F1343"/>
              </a:solidFill>
              <a:latin typeface="Verdana"/>
            </a:endParaRPr>
          </a:p>
        </p:txBody>
      </p:sp>
      <p:graphicFrame>
        <p:nvGraphicFramePr>
          <p:cNvPr id="10" name="Group 64"/>
          <p:cNvGraphicFramePr>
            <a:graphicFrameLocks noGrp="1"/>
          </p:cNvGraphicFramePr>
          <p:nvPr>
            <p:custDataLst>
              <p:tags r:id="rId2"/>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1" i="0" u="none" strike="noStrike" cap="none" normalizeH="0" baseline="0" dirty="0">
                        <a:ln>
                          <a:noFill/>
                        </a:ln>
                        <a:solidFill>
                          <a:schemeClr val="tx2">
                            <a:lumMod val="50000"/>
                            <a:lumOff val="50000"/>
                          </a:schemeClr>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8" name="Text Box 49"/>
          <p:cNvSpPr txBox="1">
            <a:spLocks noChangeArrowheads="1"/>
          </p:cNvSpPr>
          <p:nvPr>
            <p:custDataLst>
              <p:tags r:id="rId3"/>
            </p:custDataLst>
          </p:nvPr>
        </p:nvSpPr>
        <p:spPr bwMode="auto">
          <a:xfrm>
            <a:off x="5438422" y="1120422"/>
            <a:ext cx="4405489" cy="784830"/>
          </a:xfrm>
          <a:prstGeom prst="rect">
            <a:avLst/>
          </a:prstGeom>
          <a:noFill/>
          <a:ln w="9525">
            <a:noFill/>
            <a:miter lim="800000"/>
            <a:headEnd/>
            <a:tailEnd/>
          </a:ln>
        </p:spPr>
        <p:txBody>
          <a:bodyPr wrap="square">
            <a:spAutoFit/>
          </a:bodyPr>
          <a:lstStyle/>
          <a:p>
            <a:pPr>
              <a:spcBef>
                <a:spcPts val="600"/>
              </a:spcBef>
              <a:defRPr/>
            </a:pPr>
            <a:r>
              <a:rPr lang="en-US" sz="2000" dirty="0" err="1">
                <a:solidFill>
                  <a:prstClr val="black"/>
                </a:solidFill>
                <a:latin typeface="Verdana"/>
              </a:rPr>
              <a:t>TableSize</a:t>
            </a:r>
            <a:r>
              <a:rPr lang="en-US" sz="2000" dirty="0">
                <a:solidFill>
                  <a:prstClr val="black"/>
                </a:solidFill>
                <a:latin typeface="Verdana"/>
              </a:rPr>
              <a:t> = 10</a:t>
            </a:r>
          </a:p>
          <a:p>
            <a:pPr>
              <a:spcBef>
                <a:spcPts val="600"/>
              </a:spcBef>
              <a:defRPr/>
            </a:pPr>
            <a:r>
              <a:rPr lang="en-US" sz="2000" dirty="0">
                <a:solidFill>
                  <a:prstClr val="black"/>
                </a:solidFill>
                <a:latin typeface="Verdana"/>
              </a:rPr>
              <a:t>insert(89)</a:t>
            </a:r>
          </a:p>
        </p:txBody>
      </p:sp>
    </p:spTree>
    <p:extLst>
      <p:ext uri="{BB962C8B-B14F-4D97-AF65-F5344CB8AC3E}">
        <p14:creationId xmlns:p14="http://schemas.microsoft.com/office/powerpoint/2010/main" val="38668819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p:cNvSpPr>
            <a:spLocks noGrp="1"/>
          </p:cNvSpPr>
          <p:nvPr>
            <p:ph type="title"/>
            <p:custDataLst>
              <p:tags r:id="rId1"/>
            </p:custDataLst>
          </p:nvPr>
        </p:nvSpPr>
        <p:spPr/>
        <p:txBody>
          <a:bodyPr/>
          <a:lstStyle/>
          <a:p>
            <a:pPr eaLnBrk="1" hangingPunct="1"/>
            <a:r>
              <a:rPr lang="en-US"/>
              <a:t>Quadratic Probing Example</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63</a:t>
            </a:fld>
            <a:endParaRPr lang="en-US">
              <a:solidFill>
                <a:srgbClr val="2F1343"/>
              </a:solidFill>
              <a:latin typeface="Verdana"/>
            </a:endParaRPr>
          </a:p>
        </p:txBody>
      </p:sp>
      <p:graphicFrame>
        <p:nvGraphicFramePr>
          <p:cNvPr id="10" name="Group 64"/>
          <p:cNvGraphicFramePr>
            <a:graphicFrameLocks noGrp="1"/>
          </p:cNvGraphicFramePr>
          <p:nvPr>
            <p:custDataLst>
              <p:tags r:id="rId2"/>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50000"/>
                              <a:lumOff val="50000"/>
                            </a:schemeClr>
                          </a:solidFill>
                          <a:effectLst/>
                          <a:latin typeface="+mj-lt"/>
                        </a:rPr>
                        <a:t>89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8" name="Text Box 49"/>
          <p:cNvSpPr txBox="1">
            <a:spLocks noChangeArrowheads="1"/>
          </p:cNvSpPr>
          <p:nvPr>
            <p:custDataLst>
              <p:tags r:id="rId3"/>
            </p:custDataLst>
          </p:nvPr>
        </p:nvSpPr>
        <p:spPr bwMode="auto">
          <a:xfrm>
            <a:off x="5438422" y="1120423"/>
            <a:ext cx="4405489" cy="1169551"/>
          </a:xfrm>
          <a:prstGeom prst="rect">
            <a:avLst/>
          </a:prstGeom>
          <a:noFill/>
          <a:ln w="9525">
            <a:noFill/>
            <a:miter lim="800000"/>
            <a:headEnd/>
            <a:tailEnd/>
          </a:ln>
        </p:spPr>
        <p:txBody>
          <a:bodyPr wrap="square">
            <a:spAutoFit/>
          </a:bodyPr>
          <a:lstStyle/>
          <a:p>
            <a:pPr>
              <a:spcBef>
                <a:spcPts val="600"/>
              </a:spcBef>
              <a:defRPr/>
            </a:pPr>
            <a:r>
              <a:rPr lang="en-US" sz="2000" dirty="0" err="1">
                <a:solidFill>
                  <a:prstClr val="black"/>
                </a:solidFill>
                <a:latin typeface="Verdana"/>
              </a:rPr>
              <a:t>TableSize</a:t>
            </a:r>
            <a:r>
              <a:rPr lang="en-US" sz="2000" dirty="0">
                <a:solidFill>
                  <a:prstClr val="black"/>
                </a:solidFill>
                <a:latin typeface="Verdana"/>
              </a:rPr>
              <a:t> = 10</a:t>
            </a:r>
          </a:p>
          <a:p>
            <a:pPr>
              <a:spcBef>
                <a:spcPts val="600"/>
              </a:spcBef>
              <a:defRPr/>
            </a:pPr>
            <a:r>
              <a:rPr lang="en-US" sz="2000" dirty="0">
                <a:solidFill>
                  <a:prstClr val="black"/>
                </a:solidFill>
                <a:latin typeface="Verdana"/>
              </a:rPr>
              <a:t>insert(89)</a:t>
            </a:r>
          </a:p>
          <a:p>
            <a:pPr>
              <a:spcBef>
                <a:spcPts val="600"/>
              </a:spcBef>
              <a:defRPr/>
            </a:pPr>
            <a:r>
              <a:rPr lang="en-US" sz="2000" dirty="0">
                <a:solidFill>
                  <a:prstClr val="black"/>
                </a:solidFill>
                <a:latin typeface="Verdana"/>
              </a:rPr>
              <a:t>insert(18)</a:t>
            </a:r>
          </a:p>
        </p:txBody>
      </p:sp>
    </p:spTree>
    <p:extLst>
      <p:ext uri="{BB962C8B-B14F-4D97-AF65-F5344CB8AC3E}">
        <p14:creationId xmlns:p14="http://schemas.microsoft.com/office/powerpoint/2010/main" val="62681507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p:cNvSpPr>
            <a:spLocks noGrp="1"/>
          </p:cNvSpPr>
          <p:nvPr>
            <p:ph type="title"/>
            <p:custDataLst>
              <p:tags r:id="rId1"/>
            </p:custDataLst>
          </p:nvPr>
        </p:nvSpPr>
        <p:spPr>
          <a:xfrm>
            <a:off x="838200" y="365125"/>
            <a:ext cx="10515600" cy="539443"/>
          </a:xfrm>
        </p:spPr>
        <p:txBody>
          <a:bodyPr>
            <a:normAutofit fontScale="90000"/>
          </a:bodyPr>
          <a:lstStyle/>
          <a:p>
            <a:pPr eaLnBrk="1" hangingPunct="1"/>
            <a:r>
              <a:rPr lang="en-US" dirty="0"/>
              <a:t>Quadratic Probing Example</a:t>
            </a:r>
          </a:p>
        </p:txBody>
      </p:sp>
      <p:sp>
        <p:nvSpPr>
          <p:cNvPr id="95270" name="Text Box 49"/>
          <p:cNvSpPr txBox="1">
            <a:spLocks noChangeArrowheads="1"/>
          </p:cNvSpPr>
          <p:nvPr>
            <p:custDataLst>
              <p:tags r:id="rId2"/>
            </p:custDataLst>
          </p:nvPr>
        </p:nvSpPr>
        <p:spPr bwMode="auto">
          <a:xfrm>
            <a:off x="5438422" y="1120422"/>
            <a:ext cx="4405489" cy="1554272"/>
          </a:xfrm>
          <a:prstGeom prst="rect">
            <a:avLst/>
          </a:prstGeom>
          <a:noFill/>
          <a:ln w="9525">
            <a:noFill/>
            <a:miter lim="800000"/>
            <a:headEnd/>
            <a:tailEnd/>
          </a:ln>
        </p:spPr>
        <p:txBody>
          <a:bodyPr wrap="square">
            <a:spAutoFit/>
          </a:bodyPr>
          <a:lstStyle/>
          <a:p>
            <a:pPr>
              <a:spcBef>
                <a:spcPts val="600"/>
              </a:spcBef>
              <a:defRPr/>
            </a:pPr>
            <a:r>
              <a:rPr lang="en-US" sz="2000" dirty="0" err="1">
                <a:solidFill>
                  <a:prstClr val="black"/>
                </a:solidFill>
                <a:latin typeface="Verdana"/>
              </a:rPr>
              <a:t>TableSize</a:t>
            </a:r>
            <a:r>
              <a:rPr lang="en-US" sz="2000" dirty="0">
                <a:solidFill>
                  <a:prstClr val="black"/>
                </a:solidFill>
                <a:latin typeface="Verdana"/>
              </a:rPr>
              <a:t> = 10</a:t>
            </a:r>
          </a:p>
          <a:p>
            <a:pPr>
              <a:spcBef>
                <a:spcPts val="600"/>
              </a:spcBef>
              <a:defRPr/>
            </a:pPr>
            <a:r>
              <a:rPr lang="en-US" sz="2000" dirty="0">
                <a:solidFill>
                  <a:prstClr val="black"/>
                </a:solidFill>
                <a:latin typeface="Verdana"/>
              </a:rPr>
              <a:t>insert(89)</a:t>
            </a:r>
          </a:p>
          <a:p>
            <a:pPr>
              <a:spcBef>
                <a:spcPts val="600"/>
              </a:spcBef>
              <a:defRPr/>
            </a:pPr>
            <a:r>
              <a:rPr lang="en-US" sz="2000" dirty="0">
                <a:solidFill>
                  <a:prstClr val="black"/>
                </a:solidFill>
                <a:latin typeface="Verdana"/>
              </a:rPr>
              <a:t>insert(18)</a:t>
            </a:r>
          </a:p>
          <a:p>
            <a:pPr>
              <a:spcBef>
                <a:spcPts val="600"/>
              </a:spcBef>
              <a:defRPr/>
            </a:pPr>
            <a:r>
              <a:rPr lang="en-US" sz="2000" dirty="0">
                <a:solidFill>
                  <a:prstClr val="black"/>
                </a:solidFill>
                <a:latin typeface="Verdana"/>
              </a:rPr>
              <a:t>insert(49)</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64</a:t>
            </a:fld>
            <a:endParaRPr lang="en-US">
              <a:solidFill>
                <a:srgbClr val="2F1343"/>
              </a:solidFill>
              <a:latin typeface="Verdana"/>
            </a:endParaRPr>
          </a:p>
        </p:txBody>
      </p:sp>
      <p:graphicFrame>
        <p:nvGraphicFramePr>
          <p:cNvPr id="10" name="Group 64"/>
          <p:cNvGraphicFramePr>
            <a:graphicFrameLocks noGrp="1"/>
          </p:cNvGraphicFramePr>
          <p:nvPr>
            <p:custDataLst>
              <p:tags r:id="rId3"/>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50000"/>
                              <a:lumOff val="50000"/>
                            </a:schemeClr>
                          </a:solidFill>
                          <a:effectLst/>
                          <a:latin typeface="+mj-lt"/>
                        </a:rPr>
                        <a:t>18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6395728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p:cNvSpPr>
            <a:spLocks noGrp="1"/>
          </p:cNvSpPr>
          <p:nvPr>
            <p:ph type="title"/>
            <p:custDataLst>
              <p:tags r:id="rId1"/>
            </p:custDataLst>
          </p:nvPr>
        </p:nvSpPr>
        <p:spPr>
          <a:xfrm>
            <a:off x="838200" y="365126"/>
            <a:ext cx="10515600" cy="647598"/>
          </a:xfrm>
        </p:spPr>
        <p:txBody>
          <a:bodyPr>
            <a:normAutofit fontScale="90000"/>
          </a:bodyPr>
          <a:lstStyle/>
          <a:p>
            <a:pPr eaLnBrk="1" hangingPunct="1"/>
            <a:r>
              <a:rPr lang="en-US" dirty="0"/>
              <a:t>Quadratic Probing Example</a:t>
            </a:r>
          </a:p>
        </p:txBody>
      </p:sp>
      <p:sp>
        <p:nvSpPr>
          <p:cNvPr id="95270" name="Text Box 49"/>
          <p:cNvSpPr txBox="1">
            <a:spLocks noChangeArrowheads="1"/>
          </p:cNvSpPr>
          <p:nvPr>
            <p:custDataLst>
              <p:tags r:id="rId2"/>
            </p:custDataLst>
          </p:nvPr>
        </p:nvSpPr>
        <p:spPr bwMode="auto">
          <a:xfrm>
            <a:off x="5438422" y="1120422"/>
            <a:ext cx="4405489" cy="2708434"/>
          </a:xfrm>
          <a:prstGeom prst="rect">
            <a:avLst/>
          </a:prstGeom>
          <a:noFill/>
          <a:ln w="9525">
            <a:noFill/>
            <a:miter lim="800000"/>
            <a:headEnd/>
            <a:tailEnd/>
          </a:ln>
        </p:spPr>
        <p:txBody>
          <a:bodyPr wrap="square">
            <a:spAutoFit/>
          </a:bodyPr>
          <a:lstStyle/>
          <a:p>
            <a:pPr>
              <a:spcBef>
                <a:spcPts val="600"/>
              </a:spcBef>
              <a:defRPr/>
            </a:pPr>
            <a:r>
              <a:rPr lang="en-US" sz="2000" dirty="0" err="1">
                <a:solidFill>
                  <a:prstClr val="black"/>
                </a:solidFill>
                <a:latin typeface="Verdana"/>
              </a:rPr>
              <a:t>TableSize</a:t>
            </a:r>
            <a:r>
              <a:rPr lang="en-US" sz="2000" dirty="0">
                <a:solidFill>
                  <a:prstClr val="black"/>
                </a:solidFill>
                <a:latin typeface="Verdana"/>
              </a:rPr>
              <a:t> = 10</a:t>
            </a:r>
          </a:p>
          <a:p>
            <a:pPr>
              <a:spcBef>
                <a:spcPts val="600"/>
              </a:spcBef>
              <a:defRPr/>
            </a:pPr>
            <a:r>
              <a:rPr lang="en-US" sz="2000" dirty="0">
                <a:solidFill>
                  <a:prstClr val="black"/>
                </a:solidFill>
                <a:latin typeface="Verdana"/>
              </a:rPr>
              <a:t>insert(89)</a:t>
            </a:r>
          </a:p>
          <a:p>
            <a:pPr>
              <a:spcBef>
                <a:spcPts val="600"/>
              </a:spcBef>
              <a:defRPr/>
            </a:pPr>
            <a:r>
              <a:rPr lang="en-US" sz="2000" dirty="0">
                <a:solidFill>
                  <a:prstClr val="black"/>
                </a:solidFill>
                <a:latin typeface="Verdana"/>
              </a:rPr>
              <a:t>insert(18)</a:t>
            </a:r>
          </a:p>
          <a:p>
            <a:pPr>
              <a:spcBef>
                <a:spcPts val="600"/>
              </a:spcBef>
              <a:defRPr/>
            </a:pPr>
            <a:r>
              <a:rPr lang="en-US" sz="2000" dirty="0">
                <a:solidFill>
                  <a:prstClr val="black"/>
                </a:solidFill>
                <a:latin typeface="Verdana"/>
              </a:rPr>
              <a:t>insert(49)</a:t>
            </a:r>
          </a:p>
          <a:p>
            <a:pPr marL="463550">
              <a:spcBef>
                <a:spcPts val="600"/>
              </a:spcBef>
              <a:defRPr/>
            </a:pPr>
            <a:r>
              <a:rPr lang="en-US" sz="2000" dirty="0">
                <a:solidFill>
                  <a:prstClr val="black"/>
                </a:solidFill>
                <a:latin typeface="Verdana"/>
              </a:rPr>
              <a:t>49 % 10 = 9 </a:t>
            </a:r>
            <a:r>
              <a:rPr lang="en-US" sz="2000" dirty="0">
                <a:solidFill>
                  <a:srgbClr val="D62D31"/>
                </a:solidFill>
                <a:latin typeface="Verdana"/>
              </a:rPr>
              <a:t>collision!</a:t>
            </a:r>
          </a:p>
          <a:p>
            <a:pPr marL="463550">
              <a:spcBef>
                <a:spcPts val="600"/>
              </a:spcBef>
              <a:defRPr/>
            </a:pPr>
            <a:r>
              <a:rPr lang="en-US" sz="2000" dirty="0">
                <a:solidFill>
                  <a:prstClr val="black"/>
                </a:solidFill>
                <a:latin typeface="Verdana"/>
              </a:rPr>
              <a:t>(49 + 1) % 10 = 0</a:t>
            </a:r>
          </a:p>
          <a:p>
            <a:pPr>
              <a:spcBef>
                <a:spcPts val="600"/>
              </a:spcBef>
              <a:defRPr/>
            </a:pPr>
            <a:r>
              <a:rPr lang="en-US" sz="2000" dirty="0">
                <a:solidFill>
                  <a:prstClr val="black"/>
                </a:solidFill>
                <a:latin typeface="Verdana"/>
              </a:rPr>
              <a:t>insert(58)</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65</a:t>
            </a:fld>
            <a:endParaRPr lang="en-US">
              <a:solidFill>
                <a:srgbClr val="2F1343"/>
              </a:solidFill>
              <a:latin typeface="Verdana"/>
            </a:endParaRPr>
          </a:p>
        </p:txBody>
      </p:sp>
      <p:graphicFrame>
        <p:nvGraphicFramePr>
          <p:cNvPr id="10" name="Group 64"/>
          <p:cNvGraphicFramePr>
            <a:graphicFrameLocks noGrp="1"/>
          </p:cNvGraphicFramePr>
          <p:nvPr>
            <p:custDataLst>
              <p:tags r:id="rId3"/>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50000"/>
                              <a:lumOff val="50000"/>
                            </a:schemeClr>
                          </a:solidFill>
                          <a:effectLst/>
                          <a:latin typeface="+mj-lt"/>
                        </a:rPr>
                        <a:t>49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4815104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p:cNvSpPr>
            <a:spLocks noGrp="1"/>
          </p:cNvSpPr>
          <p:nvPr>
            <p:ph type="title"/>
            <p:custDataLst>
              <p:tags r:id="rId1"/>
            </p:custDataLst>
          </p:nvPr>
        </p:nvSpPr>
        <p:spPr>
          <a:xfrm>
            <a:off x="838200" y="365125"/>
            <a:ext cx="10515600" cy="539443"/>
          </a:xfrm>
        </p:spPr>
        <p:txBody>
          <a:bodyPr>
            <a:normAutofit fontScale="90000"/>
          </a:bodyPr>
          <a:lstStyle/>
          <a:p>
            <a:pPr eaLnBrk="1" hangingPunct="1"/>
            <a:r>
              <a:rPr lang="en-US" dirty="0"/>
              <a:t>Quadratic Probing Example</a:t>
            </a:r>
          </a:p>
        </p:txBody>
      </p:sp>
      <p:sp>
        <p:nvSpPr>
          <p:cNvPr id="95270" name="Text Box 49"/>
          <p:cNvSpPr txBox="1">
            <a:spLocks noChangeArrowheads="1"/>
          </p:cNvSpPr>
          <p:nvPr>
            <p:custDataLst>
              <p:tags r:id="rId2"/>
            </p:custDataLst>
          </p:nvPr>
        </p:nvSpPr>
        <p:spPr bwMode="auto">
          <a:xfrm>
            <a:off x="5438422" y="1120423"/>
            <a:ext cx="4405489" cy="3477875"/>
          </a:xfrm>
          <a:prstGeom prst="rect">
            <a:avLst/>
          </a:prstGeom>
          <a:noFill/>
          <a:ln w="9525">
            <a:noFill/>
            <a:miter lim="800000"/>
            <a:headEnd/>
            <a:tailEnd/>
          </a:ln>
        </p:spPr>
        <p:txBody>
          <a:bodyPr wrap="square">
            <a:spAutoFit/>
          </a:bodyPr>
          <a:lstStyle/>
          <a:p>
            <a:pPr>
              <a:spcBef>
                <a:spcPts val="600"/>
              </a:spcBef>
              <a:defRPr/>
            </a:pPr>
            <a:r>
              <a:rPr lang="en-US" sz="2000" dirty="0" err="1">
                <a:solidFill>
                  <a:prstClr val="black"/>
                </a:solidFill>
                <a:latin typeface="Verdana"/>
              </a:rPr>
              <a:t>TableSize</a:t>
            </a:r>
            <a:r>
              <a:rPr lang="en-US" sz="2000" dirty="0">
                <a:solidFill>
                  <a:prstClr val="black"/>
                </a:solidFill>
                <a:latin typeface="Verdana"/>
              </a:rPr>
              <a:t> = 10</a:t>
            </a:r>
          </a:p>
          <a:p>
            <a:pPr>
              <a:spcBef>
                <a:spcPts val="600"/>
              </a:spcBef>
              <a:defRPr/>
            </a:pPr>
            <a:r>
              <a:rPr lang="en-US" sz="2000" dirty="0">
                <a:solidFill>
                  <a:prstClr val="black"/>
                </a:solidFill>
                <a:latin typeface="Verdana"/>
              </a:rPr>
              <a:t>insert(89)</a:t>
            </a:r>
          </a:p>
          <a:p>
            <a:pPr>
              <a:spcBef>
                <a:spcPts val="600"/>
              </a:spcBef>
              <a:defRPr/>
            </a:pPr>
            <a:r>
              <a:rPr lang="en-US" sz="2000" dirty="0">
                <a:solidFill>
                  <a:prstClr val="black"/>
                </a:solidFill>
                <a:latin typeface="Verdana"/>
              </a:rPr>
              <a:t>insert(18)</a:t>
            </a:r>
          </a:p>
          <a:p>
            <a:pPr>
              <a:spcBef>
                <a:spcPts val="600"/>
              </a:spcBef>
              <a:defRPr/>
            </a:pPr>
            <a:r>
              <a:rPr lang="en-US" sz="2000" dirty="0">
                <a:solidFill>
                  <a:prstClr val="black"/>
                </a:solidFill>
                <a:latin typeface="Verdana"/>
              </a:rPr>
              <a:t>insert(49)</a:t>
            </a:r>
          </a:p>
          <a:p>
            <a:pPr>
              <a:spcBef>
                <a:spcPts val="600"/>
              </a:spcBef>
              <a:defRPr/>
            </a:pPr>
            <a:r>
              <a:rPr lang="en-US" sz="2000" dirty="0">
                <a:solidFill>
                  <a:prstClr val="black"/>
                </a:solidFill>
                <a:latin typeface="Verdana"/>
              </a:rPr>
              <a:t>insert(58)</a:t>
            </a:r>
          </a:p>
          <a:p>
            <a:pPr marL="463550">
              <a:spcBef>
                <a:spcPts val="600"/>
              </a:spcBef>
              <a:defRPr/>
            </a:pPr>
            <a:r>
              <a:rPr lang="en-US" sz="2000" dirty="0">
                <a:solidFill>
                  <a:prstClr val="black"/>
                </a:solidFill>
                <a:latin typeface="Verdana"/>
              </a:rPr>
              <a:t>58 % 10 = 8 </a:t>
            </a:r>
            <a:r>
              <a:rPr lang="en-US" sz="2000" dirty="0">
                <a:solidFill>
                  <a:srgbClr val="D62D31"/>
                </a:solidFill>
                <a:latin typeface="Verdana"/>
              </a:rPr>
              <a:t>collision!</a:t>
            </a:r>
          </a:p>
          <a:p>
            <a:pPr marL="463550">
              <a:spcBef>
                <a:spcPts val="600"/>
              </a:spcBef>
              <a:defRPr/>
            </a:pPr>
            <a:r>
              <a:rPr lang="en-US" sz="2000" dirty="0">
                <a:solidFill>
                  <a:prstClr val="black"/>
                </a:solidFill>
                <a:latin typeface="Verdana"/>
              </a:rPr>
              <a:t>(58 + 1) % 10 = 9 </a:t>
            </a:r>
            <a:r>
              <a:rPr lang="en-US" sz="2000" dirty="0">
                <a:solidFill>
                  <a:srgbClr val="D62D31"/>
                </a:solidFill>
                <a:latin typeface="Verdana"/>
              </a:rPr>
              <a:t>collision!</a:t>
            </a:r>
            <a:endParaRPr lang="en-US" sz="2000" dirty="0">
              <a:solidFill>
                <a:prstClr val="black"/>
              </a:solidFill>
              <a:latin typeface="Verdana"/>
            </a:endParaRPr>
          </a:p>
          <a:p>
            <a:pPr marL="463550">
              <a:spcBef>
                <a:spcPts val="600"/>
              </a:spcBef>
              <a:defRPr/>
            </a:pPr>
            <a:r>
              <a:rPr lang="en-US" sz="2000" dirty="0">
                <a:solidFill>
                  <a:prstClr val="black"/>
                </a:solidFill>
                <a:latin typeface="Verdana"/>
              </a:rPr>
              <a:t>(58 + 4) % 10 = 2</a:t>
            </a:r>
          </a:p>
          <a:p>
            <a:pPr>
              <a:spcBef>
                <a:spcPts val="600"/>
              </a:spcBef>
              <a:defRPr/>
            </a:pPr>
            <a:r>
              <a:rPr lang="en-US" sz="2000" dirty="0">
                <a:solidFill>
                  <a:prstClr val="black"/>
                </a:solidFill>
                <a:latin typeface="Verdana"/>
              </a:rPr>
              <a:t>insert(79)</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66</a:t>
            </a:fld>
            <a:endParaRPr lang="en-US">
              <a:solidFill>
                <a:srgbClr val="2F1343"/>
              </a:solidFill>
              <a:latin typeface="Verdana"/>
            </a:endParaRPr>
          </a:p>
        </p:txBody>
      </p:sp>
      <p:graphicFrame>
        <p:nvGraphicFramePr>
          <p:cNvPr id="10" name="Group 64"/>
          <p:cNvGraphicFramePr>
            <a:graphicFrameLocks noGrp="1"/>
          </p:cNvGraphicFramePr>
          <p:nvPr>
            <p:custDataLst>
              <p:tags r:id="rId3"/>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50000"/>
                              <a:lumOff val="50000"/>
                            </a:schemeClr>
                          </a:solidFill>
                          <a:effectLst/>
                          <a:latin typeface="+mj-lt"/>
                        </a:rPr>
                        <a:t>58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69700726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p:cNvSpPr>
            <a:spLocks noGrp="1"/>
          </p:cNvSpPr>
          <p:nvPr>
            <p:ph type="title"/>
            <p:custDataLst>
              <p:tags r:id="rId1"/>
            </p:custDataLst>
          </p:nvPr>
        </p:nvSpPr>
        <p:spPr>
          <a:xfrm>
            <a:off x="838200" y="365125"/>
            <a:ext cx="10515600" cy="608269"/>
          </a:xfrm>
        </p:spPr>
        <p:txBody>
          <a:bodyPr>
            <a:normAutofit fontScale="90000"/>
          </a:bodyPr>
          <a:lstStyle/>
          <a:p>
            <a:pPr eaLnBrk="1" hangingPunct="1"/>
            <a:r>
              <a:rPr lang="en-US" dirty="0"/>
              <a:t>Quadratic Probing Example</a:t>
            </a:r>
          </a:p>
        </p:txBody>
      </p:sp>
      <p:sp>
        <p:nvSpPr>
          <p:cNvPr id="95270" name="Text Box 49"/>
          <p:cNvSpPr txBox="1">
            <a:spLocks noChangeArrowheads="1"/>
          </p:cNvSpPr>
          <p:nvPr>
            <p:custDataLst>
              <p:tags r:id="rId2"/>
            </p:custDataLst>
          </p:nvPr>
        </p:nvSpPr>
        <p:spPr bwMode="auto">
          <a:xfrm>
            <a:off x="5438422" y="1120423"/>
            <a:ext cx="4405489" cy="3477875"/>
          </a:xfrm>
          <a:prstGeom prst="rect">
            <a:avLst/>
          </a:prstGeom>
          <a:noFill/>
          <a:ln w="9525">
            <a:noFill/>
            <a:miter lim="800000"/>
            <a:headEnd/>
            <a:tailEnd/>
          </a:ln>
        </p:spPr>
        <p:txBody>
          <a:bodyPr wrap="square">
            <a:spAutoFit/>
          </a:bodyPr>
          <a:lstStyle/>
          <a:p>
            <a:pPr>
              <a:spcBef>
                <a:spcPts val="600"/>
              </a:spcBef>
              <a:defRPr/>
            </a:pPr>
            <a:r>
              <a:rPr lang="en-US" sz="2000" dirty="0" err="1">
                <a:solidFill>
                  <a:prstClr val="black"/>
                </a:solidFill>
                <a:latin typeface="Verdana"/>
              </a:rPr>
              <a:t>TableSize</a:t>
            </a:r>
            <a:r>
              <a:rPr lang="en-US" sz="2000" dirty="0">
                <a:solidFill>
                  <a:prstClr val="black"/>
                </a:solidFill>
                <a:latin typeface="Verdana"/>
              </a:rPr>
              <a:t> = 10</a:t>
            </a:r>
          </a:p>
          <a:p>
            <a:pPr>
              <a:spcBef>
                <a:spcPts val="600"/>
              </a:spcBef>
              <a:defRPr/>
            </a:pPr>
            <a:r>
              <a:rPr lang="en-US" sz="2000" dirty="0">
                <a:solidFill>
                  <a:prstClr val="black"/>
                </a:solidFill>
                <a:latin typeface="Verdana"/>
              </a:rPr>
              <a:t>insert(89)</a:t>
            </a:r>
          </a:p>
          <a:p>
            <a:pPr>
              <a:spcBef>
                <a:spcPts val="600"/>
              </a:spcBef>
              <a:defRPr/>
            </a:pPr>
            <a:r>
              <a:rPr lang="en-US" sz="2000" dirty="0">
                <a:solidFill>
                  <a:prstClr val="black"/>
                </a:solidFill>
                <a:latin typeface="Verdana"/>
              </a:rPr>
              <a:t>insert(18)</a:t>
            </a:r>
          </a:p>
          <a:p>
            <a:pPr>
              <a:spcBef>
                <a:spcPts val="600"/>
              </a:spcBef>
              <a:defRPr/>
            </a:pPr>
            <a:r>
              <a:rPr lang="en-US" sz="2000" dirty="0">
                <a:solidFill>
                  <a:prstClr val="black"/>
                </a:solidFill>
                <a:latin typeface="Verdana"/>
              </a:rPr>
              <a:t>insert(49)</a:t>
            </a:r>
          </a:p>
          <a:p>
            <a:pPr>
              <a:spcBef>
                <a:spcPts val="600"/>
              </a:spcBef>
              <a:defRPr/>
            </a:pPr>
            <a:r>
              <a:rPr lang="en-US" sz="2000" dirty="0">
                <a:solidFill>
                  <a:prstClr val="black"/>
                </a:solidFill>
                <a:latin typeface="Verdana"/>
              </a:rPr>
              <a:t>insert(58)</a:t>
            </a:r>
          </a:p>
          <a:p>
            <a:pPr>
              <a:spcBef>
                <a:spcPts val="600"/>
              </a:spcBef>
              <a:defRPr/>
            </a:pPr>
            <a:r>
              <a:rPr lang="en-US" sz="2000" dirty="0">
                <a:solidFill>
                  <a:prstClr val="black"/>
                </a:solidFill>
                <a:latin typeface="Verdana"/>
              </a:rPr>
              <a:t>insert(79)</a:t>
            </a:r>
          </a:p>
          <a:p>
            <a:pPr marL="463550">
              <a:spcBef>
                <a:spcPts val="600"/>
              </a:spcBef>
              <a:defRPr/>
            </a:pPr>
            <a:r>
              <a:rPr lang="en-US" sz="2000" dirty="0">
                <a:solidFill>
                  <a:prstClr val="black"/>
                </a:solidFill>
                <a:latin typeface="Verdana"/>
              </a:rPr>
              <a:t>79 % 10 = 9 </a:t>
            </a:r>
            <a:r>
              <a:rPr lang="en-US" sz="2000" dirty="0">
                <a:solidFill>
                  <a:srgbClr val="D62D31"/>
                </a:solidFill>
                <a:latin typeface="Verdana"/>
              </a:rPr>
              <a:t>collision!</a:t>
            </a:r>
          </a:p>
          <a:p>
            <a:pPr marL="463550">
              <a:spcBef>
                <a:spcPts val="600"/>
              </a:spcBef>
              <a:defRPr/>
            </a:pPr>
            <a:r>
              <a:rPr lang="en-US" sz="2000" dirty="0">
                <a:solidFill>
                  <a:prstClr val="black"/>
                </a:solidFill>
                <a:latin typeface="Verdana"/>
              </a:rPr>
              <a:t>(79 + 1) % 10 = 0 </a:t>
            </a:r>
            <a:r>
              <a:rPr lang="en-US" sz="2000" dirty="0">
                <a:solidFill>
                  <a:srgbClr val="D62D31"/>
                </a:solidFill>
                <a:latin typeface="Verdana"/>
              </a:rPr>
              <a:t>collision!</a:t>
            </a:r>
            <a:endParaRPr lang="en-US" sz="2000" dirty="0">
              <a:solidFill>
                <a:prstClr val="black"/>
              </a:solidFill>
              <a:latin typeface="Verdana"/>
            </a:endParaRPr>
          </a:p>
          <a:p>
            <a:pPr marL="463550">
              <a:spcBef>
                <a:spcPts val="600"/>
              </a:spcBef>
              <a:defRPr/>
            </a:pPr>
            <a:r>
              <a:rPr lang="en-US" sz="2000" dirty="0">
                <a:solidFill>
                  <a:prstClr val="black"/>
                </a:solidFill>
                <a:latin typeface="Verdana"/>
              </a:rPr>
              <a:t>(79 + 4) % 10 = 3</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67</a:t>
            </a:fld>
            <a:endParaRPr lang="en-US">
              <a:solidFill>
                <a:srgbClr val="2F1343"/>
              </a:solidFill>
              <a:latin typeface="Verdana"/>
            </a:endParaRPr>
          </a:p>
        </p:txBody>
      </p:sp>
      <p:graphicFrame>
        <p:nvGraphicFramePr>
          <p:cNvPr id="10" name="Group 64"/>
          <p:cNvGraphicFramePr>
            <a:graphicFrameLocks noGrp="1"/>
          </p:cNvGraphicFramePr>
          <p:nvPr>
            <p:custDataLst>
              <p:tags r:id="rId3"/>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50000"/>
                              <a:lumOff val="50000"/>
                            </a:schemeClr>
                          </a:solidFill>
                          <a:effectLst/>
                          <a:latin typeface="+mj-lt"/>
                        </a:rPr>
                        <a:t>79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89</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3383458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le 1"/>
          <p:cNvSpPr>
            <a:spLocks noGrp="1"/>
          </p:cNvSpPr>
          <p:nvPr>
            <p:ph type="title"/>
            <p:custDataLst>
              <p:tags r:id="rId1"/>
            </p:custDataLst>
          </p:nvPr>
        </p:nvSpPr>
        <p:spPr/>
        <p:txBody>
          <a:bodyPr/>
          <a:lstStyle/>
          <a:p>
            <a:pPr eaLnBrk="1" hangingPunct="1"/>
            <a:r>
              <a:rPr lang="en-US"/>
              <a:t>Another Quadratic Probing Example</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68</a:t>
            </a:fld>
            <a:endParaRPr lang="en-US">
              <a:solidFill>
                <a:srgbClr val="2F1343"/>
              </a:solidFill>
              <a:latin typeface="Verdana"/>
            </a:endParaRPr>
          </a:p>
        </p:txBody>
      </p:sp>
      <p:graphicFrame>
        <p:nvGraphicFramePr>
          <p:cNvPr id="8" name="Group 64"/>
          <p:cNvGraphicFramePr>
            <a:graphicFrameLocks noGrp="1"/>
          </p:cNvGraphicFramePr>
          <p:nvPr>
            <p:custDataLst>
              <p:tags r:id="rId2"/>
            </p:custDataLst>
          </p:nvPr>
        </p:nvGraphicFramePr>
        <p:xfrm>
          <a:off x="2133600" y="1447800"/>
          <a:ext cx="1219200" cy="2667000"/>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9" name="Text Box 49"/>
          <p:cNvSpPr txBox="1">
            <a:spLocks noChangeArrowheads="1"/>
          </p:cNvSpPr>
          <p:nvPr>
            <p:custDataLst>
              <p:tags r:id="rId3"/>
            </p:custDataLst>
          </p:nvPr>
        </p:nvSpPr>
        <p:spPr bwMode="auto">
          <a:xfrm>
            <a:off x="5438422" y="1120423"/>
            <a:ext cx="4405489" cy="4247317"/>
          </a:xfrm>
          <a:prstGeom prst="rect">
            <a:avLst/>
          </a:prstGeom>
          <a:noFill/>
          <a:ln w="9525">
            <a:noFill/>
            <a:miter lim="800000"/>
            <a:headEnd/>
            <a:tailEnd/>
          </a:ln>
        </p:spPr>
        <p:txBody>
          <a:bodyPr wrap="square">
            <a:spAutoFit/>
          </a:bodyPr>
          <a:lstStyle/>
          <a:p>
            <a:pPr eaLnBrk="0" hangingPunct="0">
              <a:spcBef>
                <a:spcPts val="600"/>
              </a:spcBef>
              <a:defRPr/>
            </a:pPr>
            <a:r>
              <a:rPr lang="en-US" sz="2000" dirty="0" err="1">
                <a:solidFill>
                  <a:prstClr val="black"/>
                </a:solidFill>
                <a:latin typeface="Verdana"/>
              </a:rPr>
              <a:t>TableSize</a:t>
            </a:r>
            <a:r>
              <a:rPr lang="en-US" sz="2000" dirty="0">
                <a:solidFill>
                  <a:prstClr val="black"/>
                </a:solidFill>
                <a:latin typeface="Verdana"/>
              </a:rPr>
              <a:t> = 7</a:t>
            </a:r>
          </a:p>
          <a:p>
            <a:pPr eaLnBrk="0" hangingPunct="0">
              <a:spcBef>
                <a:spcPts val="600"/>
              </a:spcBef>
              <a:defRPr/>
            </a:pPr>
            <a:r>
              <a:rPr lang="en-US" sz="2000" dirty="0">
                <a:solidFill>
                  <a:prstClr val="black"/>
                </a:solidFill>
                <a:latin typeface="Verdana"/>
              </a:rPr>
              <a:t>Insert:</a:t>
            </a:r>
          </a:p>
          <a:p>
            <a:pPr eaLnBrk="0" hangingPunct="0">
              <a:spcBef>
                <a:spcPts val="600"/>
              </a:spcBef>
              <a:defRPr/>
            </a:pPr>
            <a:r>
              <a:rPr lang="en-US" sz="2000" b="1" dirty="0">
                <a:solidFill>
                  <a:prstClr val="black"/>
                </a:solidFill>
                <a:latin typeface="Verdana"/>
              </a:rPr>
              <a:t>76</a:t>
            </a:r>
            <a:r>
              <a:rPr lang="en-US" sz="2000" dirty="0">
                <a:solidFill>
                  <a:prstClr val="black"/>
                </a:solidFill>
                <a:latin typeface="Verdana"/>
              </a:rPr>
              <a:t>               	(76 % 7 = 6)</a:t>
            </a:r>
          </a:p>
          <a:p>
            <a:pPr>
              <a:spcBef>
                <a:spcPts val="600"/>
              </a:spcBef>
              <a:defRPr/>
            </a:pPr>
            <a:r>
              <a:rPr lang="en-US" sz="2000" dirty="0">
                <a:solidFill>
                  <a:prstClr val="black"/>
                </a:solidFill>
                <a:latin typeface="Verdana"/>
              </a:rPr>
              <a:t>40 		(40 % 7 = 5)</a:t>
            </a:r>
          </a:p>
          <a:p>
            <a:pPr marL="457200" indent="-457200">
              <a:spcBef>
                <a:spcPts val="600"/>
              </a:spcBef>
              <a:defRPr/>
            </a:pPr>
            <a:r>
              <a:rPr lang="en-US" sz="2000" dirty="0">
                <a:solidFill>
                  <a:prstClr val="black"/>
                </a:solidFill>
                <a:latin typeface="Verdana"/>
              </a:rPr>
              <a:t>48			(48 % 7 = 6)</a:t>
            </a:r>
          </a:p>
          <a:p>
            <a:pPr>
              <a:spcBef>
                <a:spcPts val="600"/>
              </a:spcBef>
              <a:defRPr/>
            </a:pPr>
            <a:r>
              <a:rPr lang="en-US" sz="2000" dirty="0">
                <a:solidFill>
                  <a:prstClr val="black"/>
                </a:solidFill>
                <a:latin typeface="Verdana"/>
              </a:rPr>
              <a:t>5 		(5 % 7 = 5)</a:t>
            </a:r>
          </a:p>
          <a:p>
            <a:pPr>
              <a:spcBef>
                <a:spcPts val="600"/>
              </a:spcBef>
              <a:defRPr/>
            </a:pPr>
            <a:r>
              <a:rPr lang="en-US" sz="2000" dirty="0">
                <a:solidFill>
                  <a:prstClr val="black"/>
                </a:solidFill>
                <a:latin typeface="Verdana"/>
              </a:rPr>
              <a:t>55 		(55 % 7 = 6)</a:t>
            </a:r>
          </a:p>
          <a:p>
            <a:pPr>
              <a:spcBef>
                <a:spcPts val="600"/>
              </a:spcBef>
              <a:defRPr/>
            </a:pPr>
            <a:r>
              <a:rPr lang="en-US" sz="2000" dirty="0">
                <a:solidFill>
                  <a:prstClr val="black"/>
                </a:solidFill>
                <a:latin typeface="Verdana"/>
              </a:rPr>
              <a:t>47 		(47 % 7 = 5)</a:t>
            </a:r>
          </a:p>
          <a:p>
            <a:pPr>
              <a:spcBef>
                <a:spcPts val="600"/>
              </a:spcBef>
              <a:defRPr/>
            </a:pPr>
            <a:endParaRPr lang="en-US" sz="2000" dirty="0">
              <a:solidFill>
                <a:prstClr val="black"/>
              </a:solidFill>
              <a:latin typeface="Verdana"/>
            </a:endParaRPr>
          </a:p>
          <a:p>
            <a:pPr eaLnBrk="0" hangingPunct="0">
              <a:spcBef>
                <a:spcPts val="600"/>
              </a:spcBef>
              <a:defRPr/>
            </a:pPr>
            <a:endParaRPr lang="en-US" sz="2000" dirty="0">
              <a:solidFill>
                <a:prstClr val="black"/>
              </a:solidFill>
              <a:latin typeface="Verdana"/>
            </a:endParaRPr>
          </a:p>
          <a:p>
            <a:pPr>
              <a:spcBef>
                <a:spcPts val="600"/>
              </a:spcBef>
              <a:defRPr/>
            </a:pPr>
            <a:endParaRPr lang="en-US" sz="2000" dirty="0">
              <a:solidFill>
                <a:prstClr val="black"/>
              </a:solidFill>
              <a:latin typeface="Verdana"/>
            </a:endParaRPr>
          </a:p>
        </p:txBody>
      </p:sp>
    </p:spTree>
    <p:extLst>
      <p:ext uri="{BB962C8B-B14F-4D97-AF65-F5344CB8AC3E}">
        <p14:creationId xmlns:p14="http://schemas.microsoft.com/office/powerpoint/2010/main" val="18034149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le 1"/>
          <p:cNvSpPr>
            <a:spLocks noGrp="1"/>
          </p:cNvSpPr>
          <p:nvPr>
            <p:ph type="title"/>
            <p:custDataLst>
              <p:tags r:id="rId1"/>
            </p:custDataLst>
          </p:nvPr>
        </p:nvSpPr>
        <p:spPr>
          <a:xfrm>
            <a:off x="838200" y="365125"/>
            <a:ext cx="10515600" cy="637765"/>
          </a:xfrm>
        </p:spPr>
        <p:txBody>
          <a:bodyPr>
            <a:normAutofit fontScale="90000"/>
          </a:bodyPr>
          <a:lstStyle/>
          <a:p>
            <a:pPr eaLnBrk="1" hangingPunct="1"/>
            <a:r>
              <a:rPr lang="en-US" dirty="0"/>
              <a:t>Another Quadratic Probing Example</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69</a:t>
            </a:fld>
            <a:endParaRPr lang="en-US">
              <a:solidFill>
                <a:srgbClr val="2F1343"/>
              </a:solidFill>
              <a:latin typeface="Verdana"/>
            </a:endParaRPr>
          </a:p>
        </p:txBody>
      </p:sp>
      <p:graphicFrame>
        <p:nvGraphicFramePr>
          <p:cNvPr id="8" name="Group 64"/>
          <p:cNvGraphicFramePr>
            <a:graphicFrameLocks noGrp="1"/>
          </p:cNvGraphicFramePr>
          <p:nvPr>
            <p:custDataLst>
              <p:tags r:id="rId2"/>
            </p:custDataLst>
          </p:nvPr>
        </p:nvGraphicFramePr>
        <p:xfrm>
          <a:off x="2133600" y="1447800"/>
          <a:ext cx="1219200" cy="2667000"/>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50000"/>
                              <a:lumOff val="50000"/>
                            </a:schemeClr>
                          </a:solidFill>
                          <a:effectLst/>
                          <a:latin typeface="+mj-lt"/>
                        </a:rPr>
                        <a:t>76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9" name="Text Box 49"/>
          <p:cNvSpPr txBox="1">
            <a:spLocks noChangeArrowheads="1"/>
          </p:cNvSpPr>
          <p:nvPr>
            <p:custDataLst>
              <p:tags r:id="rId3"/>
            </p:custDataLst>
          </p:nvPr>
        </p:nvSpPr>
        <p:spPr bwMode="auto">
          <a:xfrm>
            <a:off x="5438422" y="1120423"/>
            <a:ext cx="4405489" cy="4247317"/>
          </a:xfrm>
          <a:prstGeom prst="rect">
            <a:avLst/>
          </a:prstGeom>
          <a:noFill/>
          <a:ln w="9525">
            <a:noFill/>
            <a:miter lim="800000"/>
            <a:headEnd/>
            <a:tailEnd/>
          </a:ln>
        </p:spPr>
        <p:txBody>
          <a:bodyPr wrap="square">
            <a:spAutoFit/>
          </a:bodyPr>
          <a:lstStyle/>
          <a:p>
            <a:pPr eaLnBrk="0" hangingPunct="0">
              <a:spcBef>
                <a:spcPts val="600"/>
              </a:spcBef>
              <a:defRPr/>
            </a:pPr>
            <a:r>
              <a:rPr lang="en-US" sz="2000" dirty="0" err="1">
                <a:solidFill>
                  <a:prstClr val="black"/>
                </a:solidFill>
                <a:latin typeface="Verdana"/>
              </a:rPr>
              <a:t>TableSize</a:t>
            </a:r>
            <a:r>
              <a:rPr lang="en-US" sz="2000" dirty="0">
                <a:solidFill>
                  <a:prstClr val="black"/>
                </a:solidFill>
                <a:latin typeface="Verdana"/>
              </a:rPr>
              <a:t> = 7</a:t>
            </a:r>
          </a:p>
          <a:p>
            <a:pPr eaLnBrk="0" hangingPunct="0">
              <a:spcBef>
                <a:spcPts val="600"/>
              </a:spcBef>
              <a:defRPr/>
            </a:pPr>
            <a:r>
              <a:rPr lang="en-US" sz="2000" dirty="0">
                <a:solidFill>
                  <a:prstClr val="black"/>
                </a:solidFill>
                <a:latin typeface="Verdana"/>
              </a:rPr>
              <a:t>Insert:</a:t>
            </a:r>
          </a:p>
          <a:p>
            <a:pPr eaLnBrk="0" hangingPunct="0">
              <a:spcBef>
                <a:spcPts val="600"/>
              </a:spcBef>
              <a:defRPr/>
            </a:pPr>
            <a:r>
              <a:rPr lang="en-US" sz="2000" dirty="0">
                <a:solidFill>
                  <a:prstClr val="black"/>
                </a:solidFill>
                <a:latin typeface="Verdana"/>
              </a:rPr>
              <a:t>76               	(76 % 7 = 6)</a:t>
            </a:r>
          </a:p>
          <a:p>
            <a:pPr>
              <a:spcBef>
                <a:spcPts val="600"/>
              </a:spcBef>
              <a:defRPr/>
            </a:pPr>
            <a:r>
              <a:rPr lang="en-US" sz="2000" b="1" dirty="0">
                <a:solidFill>
                  <a:prstClr val="black"/>
                </a:solidFill>
                <a:latin typeface="Verdana"/>
              </a:rPr>
              <a:t>40</a:t>
            </a:r>
            <a:r>
              <a:rPr lang="en-US" sz="2000" dirty="0">
                <a:solidFill>
                  <a:prstClr val="black"/>
                </a:solidFill>
                <a:latin typeface="Verdana"/>
              </a:rPr>
              <a:t> 		(40 % 7 = 5)</a:t>
            </a:r>
          </a:p>
          <a:p>
            <a:pPr marL="457200" indent="-457200">
              <a:spcBef>
                <a:spcPts val="600"/>
              </a:spcBef>
              <a:defRPr/>
            </a:pPr>
            <a:r>
              <a:rPr lang="en-US" sz="2000" dirty="0">
                <a:solidFill>
                  <a:prstClr val="black"/>
                </a:solidFill>
                <a:latin typeface="Verdana"/>
              </a:rPr>
              <a:t>48			(48 % 7 = 6)</a:t>
            </a:r>
          </a:p>
          <a:p>
            <a:pPr>
              <a:spcBef>
                <a:spcPts val="600"/>
              </a:spcBef>
              <a:defRPr/>
            </a:pPr>
            <a:r>
              <a:rPr lang="en-US" sz="2000" dirty="0">
                <a:solidFill>
                  <a:prstClr val="black"/>
                </a:solidFill>
                <a:latin typeface="Verdana"/>
              </a:rPr>
              <a:t>5 		(5 % 7 = 5)</a:t>
            </a:r>
          </a:p>
          <a:p>
            <a:pPr>
              <a:spcBef>
                <a:spcPts val="600"/>
              </a:spcBef>
              <a:defRPr/>
            </a:pPr>
            <a:r>
              <a:rPr lang="en-US" sz="2000" dirty="0">
                <a:solidFill>
                  <a:prstClr val="black"/>
                </a:solidFill>
                <a:latin typeface="Verdana"/>
              </a:rPr>
              <a:t>55 		(55 % 7 = 6)</a:t>
            </a:r>
          </a:p>
          <a:p>
            <a:pPr>
              <a:spcBef>
                <a:spcPts val="600"/>
              </a:spcBef>
              <a:defRPr/>
            </a:pPr>
            <a:r>
              <a:rPr lang="en-US" sz="2000" dirty="0">
                <a:solidFill>
                  <a:prstClr val="black"/>
                </a:solidFill>
                <a:latin typeface="Verdana"/>
              </a:rPr>
              <a:t>47 		(47 % 7 = 5)</a:t>
            </a:r>
          </a:p>
          <a:p>
            <a:pPr>
              <a:spcBef>
                <a:spcPts val="600"/>
              </a:spcBef>
              <a:defRPr/>
            </a:pPr>
            <a:endParaRPr lang="en-US" sz="2000" dirty="0">
              <a:solidFill>
                <a:prstClr val="black"/>
              </a:solidFill>
              <a:latin typeface="Verdana"/>
            </a:endParaRPr>
          </a:p>
          <a:p>
            <a:pPr eaLnBrk="0" hangingPunct="0">
              <a:spcBef>
                <a:spcPts val="600"/>
              </a:spcBef>
              <a:defRPr/>
            </a:pPr>
            <a:endParaRPr lang="en-US" sz="2000" dirty="0">
              <a:solidFill>
                <a:prstClr val="black"/>
              </a:solidFill>
              <a:latin typeface="Verdana"/>
            </a:endParaRPr>
          </a:p>
          <a:p>
            <a:pPr>
              <a:spcBef>
                <a:spcPts val="600"/>
              </a:spcBef>
              <a:defRPr/>
            </a:pPr>
            <a:endParaRPr lang="en-US" sz="2000" dirty="0">
              <a:solidFill>
                <a:prstClr val="black"/>
              </a:solidFill>
              <a:latin typeface="Verdana"/>
            </a:endParaRPr>
          </a:p>
        </p:txBody>
      </p:sp>
    </p:spTree>
    <p:extLst>
      <p:ext uri="{BB962C8B-B14F-4D97-AF65-F5344CB8AC3E}">
        <p14:creationId xmlns:p14="http://schemas.microsoft.com/office/powerpoint/2010/main" val="999306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le 1"/>
          <p:cNvSpPr>
            <a:spLocks noGrp="1"/>
          </p:cNvSpPr>
          <p:nvPr>
            <p:ph type="title"/>
            <p:custDataLst>
              <p:tags r:id="rId1"/>
            </p:custDataLst>
          </p:nvPr>
        </p:nvSpPr>
        <p:spPr>
          <a:xfrm>
            <a:off x="838200" y="365125"/>
            <a:ext cx="10515600" cy="637765"/>
          </a:xfrm>
        </p:spPr>
        <p:txBody>
          <a:bodyPr>
            <a:normAutofit fontScale="90000"/>
          </a:bodyPr>
          <a:lstStyle/>
          <a:p>
            <a:pPr eaLnBrk="1" hangingPunct="1"/>
            <a:r>
              <a:rPr lang="en-US" dirty="0"/>
              <a:t>Another Quadratic Probing Example</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70</a:t>
            </a:fld>
            <a:endParaRPr lang="en-US">
              <a:solidFill>
                <a:srgbClr val="2F1343"/>
              </a:solidFill>
              <a:latin typeface="Verdana"/>
            </a:endParaRPr>
          </a:p>
        </p:txBody>
      </p:sp>
      <p:graphicFrame>
        <p:nvGraphicFramePr>
          <p:cNvPr id="8" name="Group 64"/>
          <p:cNvGraphicFramePr>
            <a:graphicFrameLocks noGrp="1"/>
          </p:cNvGraphicFramePr>
          <p:nvPr>
            <p:custDataLst>
              <p:tags r:id="rId2"/>
            </p:custDataLst>
          </p:nvPr>
        </p:nvGraphicFramePr>
        <p:xfrm>
          <a:off x="2133600" y="1447800"/>
          <a:ext cx="1219200" cy="2667000"/>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50000"/>
                              <a:lumOff val="50000"/>
                            </a:schemeClr>
                          </a:solidFill>
                          <a:effectLst/>
                          <a:latin typeface="+mj-lt"/>
                        </a:rPr>
                        <a:t>40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9" name="Text Box 49"/>
          <p:cNvSpPr txBox="1">
            <a:spLocks noChangeArrowheads="1"/>
          </p:cNvSpPr>
          <p:nvPr>
            <p:custDataLst>
              <p:tags r:id="rId3"/>
            </p:custDataLst>
          </p:nvPr>
        </p:nvSpPr>
        <p:spPr bwMode="auto">
          <a:xfrm>
            <a:off x="5438422" y="1120423"/>
            <a:ext cx="4405489" cy="4247317"/>
          </a:xfrm>
          <a:prstGeom prst="rect">
            <a:avLst/>
          </a:prstGeom>
          <a:noFill/>
          <a:ln w="9525">
            <a:noFill/>
            <a:miter lim="800000"/>
            <a:headEnd/>
            <a:tailEnd/>
          </a:ln>
        </p:spPr>
        <p:txBody>
          <a:bodyPr wrap="square">
            <a:spAutoFit/>
          </a:bodyPr>
          <a:lstStyle/>
          <a:p>
            <a:pPr eaLnBrk="0" hangingPunct="0">
              <a:spcBef>
                <a:spcPts val="600"/>
              </a:spcBef>
              <a:defRPr/>
            </a:pPr>
            <a:r>
              <a:rPr lang="en-US" sz="2000" dirty="0" err="1">
                <a:solidFill>
                  <a:prstClr val="black"/>
                </a:solidFill>
                <a:latin typeface="Verdana"/>
              </a:rPr>
              <a:t>TableSize</a:t>
            </a:r>
            <a:r>
              <a:rPr lang="en-US" sz="2000" dirty="0">
                <a:solidFill>
                  <a:prstClr val="black"/>
                </a:solidFill>
                <a:latin typeface="Verdana"/>
              </a:rPr>
              <a:t> = 7</a:t>
            </a:r>
          </a:p>
          <a:p>
            <a:pPr eaLnBrk="0" hangingPunct="0">
              <a:spcBef>
                <a:spcPts val="600"/>
              </a:spcBef>
              <a:defRPr/>
            </a:pPr>
            <a:r>
              <a:rPr lang="en-US" sz="2000" dirty="0">
                <a:solidFill>
                  <a:prstClr val="black"/>
                </a:solidFill>
                <a:latin typeface="Verdana"/>
              </a:rPr>
              <a:t>Insert:</a:t>
            </a:r>
          </a:p>
          <a:p>
            <a:pPr eaLnBrk="0" hangingPunct="0">
              <a:spcBef>
                <a:spcPts val="600"/>
              </a:spcBef>
              <a:defRPr/>
            </a:pPr>
            <a:r>
              <a:rPr lang="en-US" sz="2000" dirty="0">
                <a:solidFill>
                  <a:prstClr val="black"/>
                </a:solidFill>
                <a:latin typeface="Verdana"/>
              </a:rPr>
              <a:t>76               	(76 % 7 = 6)</a:t>
            </a:r>
          </a:p>
          <a:p>
            <a:pPr>
              <a:spcBef>
                <a:spcPts val="600"/>
              </a:spcBef>
              <a:defRPr/>
            </a:pPr>
            <a:r>
              <a:rPr lang="en-US" sz="2000" dirty="0">
                <a:solidFill>
                  <a:prstClr val="black"/>
                </a:solidFill>
                <a:latin typeface="Verdana"/>
              </a:rPr>
              <a:t>40 		(40 % 7 = 5)</a:t>
            </a:r>
          </a:p>
          <a:p>
            <a:pPr marL="457200" indent="-457200">
              <a:spcBef>
                <a:spcPts val="600"/>
              </a:spcBef>
              <a:defRPr/>
            </a:pPr>
            <a:r>
              <a:rPr lang="en-US" sz="2000" b="1" dirty="0">
                <a:solidFill>
                  <a:prstClr val="black"/>
                </a:solidFill>
                <a:latin typeface="Verdana"/>
              </a:rPr>
              <a:t>48</a:t>
            </a:r>
            <a:r>
              <a:rPr lang="en-US" sz="2000" dirty="0">
                <a:solidFill>
                  <a:prstClr val="black"/>
                </a:solidFill>
                <a:latin typeface="Verdana"/>
              </a:rPr>
              <a:t>			(48 % 7 = 6)</a:t>
            </a:r>
          </a:p>
          <a:p>
            <a:pPr>
              <a:spcBef>
                <a:spcPts val="600"/>
              </a:spcBef>
              <a:defRPr/>
            </a:pPr>
            <a:r>
              <a:rPr lang="en-US" sz="2000" dirty="0">
                <a:solidFill>
                  <a:prstClr val="black"/>
                </a:solidFill>
                <a:latin typeface="Verdana"/>
              </a:rPr>
              <a:t>5 		(5 % 7 = 5)</a:t>
            </a:r>
          </a:p>
          <a:p>
            <a:pPr>
              <a:spcBef>
                <a:spcPts val="600"/>
              </a:spcBef>
              <a:defRPr/>
            </a:pPr>
            <a:r>
              <a:rPr lang="en-US" sz="2000" dirty="0">
                <a:solidFill>
                  <a:prstClr val="black"/>
                </a:solidFill>
                <a:latin typeface="Verdana"/>
              </a:rPr>
              <a:t>55 		(55 % 7 = 6)</a:t>
            </a:r>
          </a:p>
          <a:p>
            <a:pPr>
              <a:spcBef>
                <a:spcPts val="600"/>
              </a:spcBef>
              <a:defRPr/>
            </a:pPr>
            <a:r>
              <a:rPr lang="en-US" sz="2000" dirty="0">
                <a:solidFill>
                  <a:prstClr val="black"/>
                </a:solidFill>
                <a:latin typeface="Verdana"/>
              </a:rPr>
              <a:t>47 		(47 % 7 = 5)</a:t>
            </a:r>
          </a:p>
          <a:p>
            <a:pPr>
              <a:spcBef>
                <a:spcPts val="600"/>
              </a:spcBef>
              <a:defRPr/>
            </a:pPr>
            <a:endParaRPr lang="en-US" sz="2000" dirty="0">
              <a:solidFill>
                <a:prstClr val="black"/>
              </a:solidFill>
              <a:latin typeface="Verdana"/>
            </a:endParaRPr>
          </a:p>
          <a:p>
            <a:pPr eaLnBrk="0" hangingPunct="0">
              <a:spcBef>
                <a:spcPts val="600"/>
              </a:spcBef>
              <a:defRPr/>
            </a:pPr>
            <a:endParaRPr lang="en-US" sz="2000" dirty="0">
              <a:solidFill>
                <a:prstClr val="black"/>
              </a:solidFill>
              <a:latin typeface="Verdana"/>
            </a:endParaRPr>
          </a:p>
          <a:p>
            <a:pPr>
              <a:spcBef>
                <a:spcPts val="600"/>
              </a:spcBef>
              <a:defRPr/>
            </a:pPr>
            <a:endParaRPr lang="en-US" sz="2000" dirty="0">
              <a:solidFill>
                <a:prstClr val="black"/>
              </a:solidFill>
              <a:latin typeface="Verdana"/>
            </a:endParaRPr>
          </a:p>
        </p:txBody>
      </p:sp>
    </p:spTree>
    <p:extLst>
      <p:ext uri="{BB962C8B-B14F-4D97-AF65-F5344CB8AC3E}">
        <p14:creationId xmlns:p14="http://schemas.microsoft.com/office/powerpoint/2010/main" val="16221665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le 1"/>
          <p:cNvSpPr>
            <a:spLocks noGrp="1"/>
          </p:cNvSpPr>
          <p:nvPr>
            <p:ph type="title"/>
            <p:custDataLst>
              <p:tags r:id="rId1"/>
            </p:custDataLst>
          </p:nvPr>
        </p:nvSpPr>
        <p:spPr>
          <a:xfrm>
            <a:off x="838200" y="365126"/>
            <a:ext cx="10515600" cy="657430"/>
          </a:xfrm>
        </p:spPr>
        <p:txBody>
          <a:bodyPr>
            <a:normAutofit fontScale="90000"/>
          </a:bodyPr>
          <a:lstStyle/>
          <a:p>
            <a:pPr eaLnBrk="1" hangingPunct="1"/>
            <a:r>
              <a:rPr lang="en-US" dirty="0"/>
              <a:t>Another Quadratic Probing Example</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71</a:t>
            </a:fld>
            <a:endParaRPr lang="en-US">
              <a:solidFill>
                <a:srgbClr val="2F1343"/>
              </a:solidFill>
              <a:latin typeface="Verdana"/>
            </a:endParaRPr>
          </a:p>
        </p:txBody>
      </p:sp>
      <p:graphicFrame>
        <p:nvGraphicFramePr>
          <p:cNvPr id="8" name="Group 64"/>
          <p:cNvGraphicFramePr>
            <a:graphicFrameLocks noGrp="1"/>
          </p:cNvGraphicFramePr>
          <p:nvPr>
            <p:custDataLst>
              <p:tags r:id="rId2"/>
            </p:custDataLst>
          </p:nvPr>
        </p:nvGraphicFramePr>
        <p:xfrm>
          <a:off x="2133600" y="1447800"/>
          <a:ext cx="1219200" cy="2667000"/>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50000"/>
                              <a:lumOff val="50000"/>
                            </a:schemeClr>
                          </a:solidFill>
                          <a:effectLst/>
                          <a:latin typeface="+mj-lt"/>
                        </a:rPr>
                        <a:t>48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9" name="Text Box 49"/>
          <p:cNvSpPr txBox="1">
            <a:spLocks noChangeArrowheads="1"/>
          </p:cNvSpPr>
          <p:nvPr>
            <p:custDataLst>
              <p:tags r:id="rId3"/>
            </p:custDataLst>
          </p:nvPr>
        </p:nvSpPr>
        <p:spPr bwMode="auto">
          <a:xfrm>
            <a:off x="5438422" y="1120423"/>
            <a:ext cx="4405489" cy="4247317"/>
          </a:xfrm>
          <a:prstGeom prst="rect">
            <a:avLst/>
          </a:prstGeom>
          <a:noFill/>
          <a:ln w="9525">
            <a:noFill/>
            <a:miter lim="800000"/>
            <a:headEnd/>
            <a:tailEnd/>
          </a:ln>
        </p:spPr>
        <p:txBody>
          <a:bodyPr wrap="square">
            <a:spAutoFit/>
          </a:bodyPr>
          <a:lstStyle/>
          <a:p>
            <a:pPr eaLnBrk="0" hangingPunct="0">
              <a:spcBef>
                <a:spcPts val="600"/>
              </a:spcBef>
              <a:defRPr/>
            </a:pPr>
            <a:r>
              <a:rPr lang="en-US" sz="2000" dirty="0" err="1">
                <a:solidFill>
                  <a:prstClr val="black"/>
                </a:solidFill>
                <a:latin typeface="Verdana"/>
              </a:rPr>
              <a:t>TableSize</a:t>
            </a:r>
            <a:r>
              <a:rPr lang="en-US" sz="2000" dirty="0">
                <a:solidFill>
                  <a:prstClr val="black"/>
                </a:solidFill>
                <a:latin typeface="Verdana"/>
              </a:rPr>
              <a:t> = 7</a:t>
            </a:r>
          </a:p>
          <a:p>
            <a:pPr eaLnBrk="0" hangingPunct="0">
              <a:spcBef>
                <a:spcPts val="600"/>
              </a:spcBef>
              <a:defRPr/>
            </a:pPr>
            <a:r>
              <a:rPr lang="en-US" sz="2000" dirty="0">
                <a:solidFill>
                  <a:prstClr val="black"/>
                </a:solidFill>
                <a:latin typeface="Verdana"/>
              </a:rPr>
              <a:t>Insert:</a:t>
            </a:r>
          </a:p>
          <a:p>
            <a:pPr eaLnBrk="0" hangingPunct="0">
              <a:spcBef>
                <a:spcPts val="600"/>
              </a:spcBef>
              <a:defRPr/>
            </a:pPr>
            <a:r>
              <a:rPr lang="en-US" sz="2000" dirty="0">
                <a:solidFill>
                  <a:prstClr val="black"/>
                </a:solidFill>
                <a:latin typeface="Verdana"/>
              </a:rPr>
              <a:t>76               	(76 % 7 = 6)</a:t>
            </a:r>
          </a:p>
          <a:p>
            <a:pPr>
              <a:spcBef>
                <a:spcPts val="600"/>
              </a:spcBef>
              <a:defRPr/>
            </a:pPr>
            <a:r>
              <a:rPr lang="en-US" sz="2000" dirty="0">
                <a:solidFill>
                  <a:prstClr val="black"/>
                </a:solidFill>
                <a:latin typeface="Verdana"/>
              </a:rPr>
              <a:t>40 		(40 % 7 = 5)</a:t>
            </a:r>
          </a:p>
          <a:p>
            <a:pPr marL="457200" indent="-457200">
              <a:spcBef>
                <a:spcPts val="600"/>
              </a:spcBef>
              <a:defRPr/>
            </a:pPr>
            <a:r>
              <a:rPr lang="en-US" sz="2000" dirty="0">
                <a:solidFill>
                  <a:prstClr val="black"/>
                </a:solidFill>
                <a:latin typeface="Verdana"/>
              </a:rPr>
              <a:t>48			(48 % 7 = 6)</a:t>
            </a:r>
          </a:p>
          <a:p>
            <a:pPr>
              <a:spcBef>
                <a:spcPts val="600"/>
              </a:spcBef>
              <a:defRPr/>
            </a:pPr>
            <a:r>
              <a:rPr lang="en-US" sz="2000" b="1" dirty="0">
                <a:solidFill>
                  <a:prstClr val="black"/>
                </a:solidFill>
                <a:latin typeface="Verdana"/>
              </a:rPr>
              <a:t>5</a:t>
            </a:r>
            <a:r>
              <a:rPr lang="en-US" sz="2000" dirty="0">
                <a:solidFill>
                  <a:prstClr val="black"/>
                </a:solidFill>
                <a:latin typeface="Verdana"/>
              </a:rPr>
              <a:t> 		(5 % 7 = 5)</a:t>
            </a:r>
          </a:p>
          <a:p>
            <a:pPr>
              <a:spcBef>
                <a:spcPts val="600"/>
              </a:spcBef>
              <a:defRPr/>
            </a:pPr>
            <a:r>
              <a:rPr lang="en-US" sz="2000" dirty="0">
                <a:solidFill>
                  <a:prstClr val="black"/>
                </a:solidFill>
                <a:latin typeface="Verdana"/>
              </a:rPr>
              <a:t>55 		(55 % 7 = 6)</a:t>
            </a:r>
          </a:p>
          <a:p>
            <a:pPr>
              <a:spcBef>
                <a:spcPts val="600"/>
              </a:spcBef>
              <a:defRPr/>
            </a:pPr>
            <a:r>
              <a:rPr lang="en-US" sz="2000" dirty="0">
                <a:solidFill>
                  <a:prstClr val="black"/>
                </a:solidFill>
                <a:latin typeface="Verdana"/>
              </a:rPr>
              <a:t>47 		(47 % 7 = 5)</a:t>
            </a:r>
          </a:p>
          <a:p>
            <a:pPr>
              <a:spcBef>
                <a:spcPts val="600"/>
              </a:spcBef>
              <a:defRPr/>
            </a:pPr>
            <a:endParaRPr lang="en-US" sz="2000" dirty="0">
              <a:solidFill>
                <a:prstClr val="black"/>
              </a:solidFill>
              <a:latin typeface="Verdana"/>
            </a:endParaRPr>
          </a:p>
          <a:p>
            <a:pPr eaLnBrk="0" hangingPunct="0">
              <a:spcBef>
                <a:spcPts val="600"/>
              </a:spcBef>
              <a:defRPr/>
            </a:pPr>
            <a:endParaRPr lang="en-US" sz="2000" dirty="0">
              <a:solidFill>
                <a:prstClr val="black"/>
              </a:solidFill>
              <a:latin typeface="Verdana"/>
            </a:endParaRPr>
          </a:p>
          <a:p>
            <a:pPr>
              <a:spcBef>
                <a:spcPts val="600"/>
              </a:spcBef>
              <a:defRPr/>
            </a:pPr>
            <a:endParaRPr lang="en-US" sz="2000" dirty="0">
              <a:solidFill>
                <a:prstClr val="black"/>
              </a:solidFill>
              <a:latin typeface="Verdana"/>
            </a:endParaRPr>
          </a:p>
        </p:txBody>
      </p:sp>
    </p:spTree>
    <p:extLst>
      <p:ext uri="{BB962C8B-B14F-4D97-AF65-F5344CB8AC3E}">
        <p14:creationId xmlns:p14="http://schemas.microsoft.com/office/powerpoint/2010/main" val="4911181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le 1"/>
          <p:cNvSpPr>
            <a:spLocks noGrp="1"/>
          </p:cNvSpPr>
          <p:nvPr>
            <p:ph type="title"/>
            <p:custDataLst>
              <p:tags r:id="rId1"/>
            </p:custDataLst>
          </p:nvPr>
        </p:nvSpPr>
        <p:spPr>
          <a:xfrm>
            <a:off x="838200" y="365126"/>
            <a:ext cx="10515600" cy="598436"/>
          </a:xfrm>
        </p:spPr>
        <p:txBody>
          <a:bodyPr>
            <a:normAutofit fontScale="90000"/>
          </a:bodyPr>
          <a:lstStyle/>
          <a:p>
            <a:pPr eaLnBrk="1" hangingPunct="1"/>
            <a:r>
              <a:rPr lang="en-US" dirty="0"/>
              <a:t>Another Quadratic Probing Example</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72</a:t>
            </a:fld>
            <a:endParaRPr lang="en-US">
              <a:solidFill>
                <a:srgbClr val="2F1343"/>
              </a:solidFill>
              <a:latin typeface="Verdana"/>
            </a:endParaRPr>
          </a:p>
        </p:txBody>
      </p:sp>
      <p:graphicFrame>
        <p:nvGraphicFramePr>
          <p:cNvPr id="8" name="Group 64"/>
          <p:cNvGraphicFramePr>
            <a:graphicFrameLocks noGrp="1"/>
          </p:cNvGraphicFramePr>
          <p:nvPr>
            <p:custDataLst>
              <p:tags r:id="rId2"/>
            </p:custDataLst>
          </p:nvPr>
        </p:nvGraphicFramePr>
        <p:xfrm>
          <a:off x="2133600" y="1447800"/>
          <a:ext cx="1219200" cy="2667000"/>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50000"/>
                              <a:lumOff val="50000"/>
                            </a:schemeClr>
                          </a:solidFill>
                          <a:effectLst/>
                          <a:latin typeface="+mj-lt"/>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9" name="Text Box 49"/>
          <p:cNvSpPr txBox="1">
            <a:spLocks noChangeArrowheads="1"/>
          </p:cNvSpPr>
          <p:nvPr>
            <p:custDataLst>
              <p:tags r:id="rId3"/>
            </p:custDataLst>
          </p:nvPr>
        </p:nvSpPr>
        <p:spPr bwMode="auto">
          <a:xfrm>
            <a:off x="5438422" y="1120423"/>
            <a:ext cx="4405489" cy="4247317"/>
          </a:xfrm>
          <a:prstGeom prst="rect">
            <a:avLst/>
          </a:prstGeom>
          <a:noFill/>
          <a:ln w="9525">
            <a:noFill/>
            <a:miter lim="800000"/>
            <a:headEnd/>
            <a:tailEnd/>
          </a:ln>
        </p:spPr>
        <p:txBody>
          <a:bodyPr wrap="square">
            <a:spAutoFit/>
          </a:bodyPr>
          <a:lstStyle/>
          <a:p>
            <a:pPr eaLnBrk="0" hangingPunct="0">
              <a:spcBef>
                <a:spcPts val="600"/>
              </a:spcBef>
              <a:defRPr/>
            </a:pPr>
            <a:r>
              <a:rPr lang="en-US" sz="2000" dirty="0" err="1">
                <a:solidFill>
                  <a:prstClr val="black"/>
                </a:solidFill>
                <a:latin typeface="Verdana"/>
              </a:rPr>
              <a:t>TableSize</a:t>
            </a:r>
            <a:r>
              <a:rPr lang="en-US" sz="2000" dirty="0">
                <a:solidFill>
                  <a:prstClr val="black"/>
                </a:solidFill>
                <a:latin typeface="Verdana"/>
              </a:rPr>
              <a:t> = 7</a:t>
            </a:r>
          </a:p>
          <a:p>
            <a:pPr eaLnBrk="0" hangingPunct="0">
              <a:spcBef>
                <a:spcPts val="600"/>
              </a:spcBef>
              <a:defRPr/>
            </a:pPr>
            <a:r>
              <a:rPr lang="en-US" sz="2000" dirty="0">
                <a:solidFill>
                  <a:prstClr val="black"/>
                </a:solidFill>
                <a:latin typeface="Verdana"/>
              </a:rPr>
              <a:t>Insert:</a:t>
            </a:r>
          </a:p>
          <a:p>
            <a:pPr marL="457200" indent="-457200" eaLnBrk="0" hangingPunct="0">
              <a:spcBef>
                <a:spcPts val="600"/>
              </a:spcBef>
              <a:buFontTx/>
              <a:buAutoNum type="arabicPlain" startAt="76"/>
              <a:defRPr/>
            </a:pPr>
            <a:r>
              <a:rPr lang="en-US" sz="2000" dirty="0">
                <a:solidFill>
                  <a:prstClr val="black"/>
                </a:solidFill>
                <a:latin typeface="Verdana"/>
              </a:rPr>
              <a:t> 		(76 % 7 = 6)</a:t>
            </a:r>
          </a:p>
          <a:p>
            <a:pPr marL="457200" indent="-457200">
              <a:spcBef>
                <a:spcPts val="600"/>
              </a:spcBef>
              <a:buFontTx/>
              <a:buAutoNum type="arabicPlain" startAt="40"/>
              <a:defRPr/>
            </a:pPr>
            <a:r>
              <a:rPr lang="en-US" sz="2000" dirty="0">
                <a:solidFill>
                  <a:prstClr val="black"/>
                </a:solidFill>
                <a:latin typeface="Verdana"/>
              </a:rPr>
              <a:t> 		(40 % 7 = 5)</a:t>
            </a:r>
          </a:p>
          <a:p>
            <a:pPr marL="457200" indent="-457200">
              <a:spcBef>
                <a:spcPts val="600"/>
              </a:spcBef>
              <a:defRPr/>
            </a:pPr>
            <a:r>
              <a:rPr lang="en-US" sz="2000" dirty="0">
                <a:solidFill>
                  <a:prstClr val="black"/>
                </a:solidFill>
                <a:latin typeface="Verdana"/>
              </a:rPr>
              <a:t>48			(48 % 7 = 6)</a:t>
            </a:r>
          </a:p>
          <a:p>
            <a:pPr>
              <a:spcBef>
                <a:spcPts val="600"/>
              </a:spcBef>
              <a:defRPr/>
            </a:pPr>
            <a:r>
              <a:rPr lang="en-US" sz="2000" dirty="0">
                <a:solidFill>
                  <a:prstClr val="black"/>
                </a:solidFill>
                <a:latin typeface="Verdana"/>
              </a:rPr>
              <a:t>5 		(5 % 7 = 5)</a:t>
            </a:r>
          </a:p>
          <a:p>
            <a:pPr>
              <a:spcBef>
                <a:spcPts val="600"/>
              </a:spcBef>
              <a:defRPr/>
            </a:pPr>
            <a:r>
              <a:rPr lang="en-US" sz="2000" b="1" dirty="0">
                <a:solidFill>
                  <a:prstClr val="black"/>
                </a:solidFill>
                <a:latin typeface="Verdana"/>
              </a:rPr>
              <a:t>55</a:t>
            </a:r>
            <a:r>
              <a:rPr lang="en-US" sz="2000" dirty="0">
                <a:solidFill>
                  <a:prstClr val="black"/>
                </a:solidFill>
                <a:latin typeface="Verdana"/>
              </a:rPr>
              <a:t> 		(55 % 7 = 6)</a:t>
            </a:r>
          </a:p>
          <a:p>
            <a:pPr>
              <a:spcBef>
                <a:spcPts val="600"/>
              </a:spcBef>
              <a:defRPr/>
            </a:pPr>
            <a:r>
              <a:rPr lang="en-US" sz="2000" dirty="0">
                <a:solidFill>
                  <a:prstClr val="black"/>
                </a:solidFill>
                <a:latin typeface="Verdana"/>
              </a:rPr>
              <a:t>47 		(47 % 7 = 5)</a:t>
            </a:r>
          </a:p>
          <a:p>
            <a:pPr>
              <a:spcBef>
                <a:spcPts val="600"/>
              </a:spcBef>
              <a:defRPr/>
            </a:pPr>
            <a:endParaRPr lang="en-US" sz="2000" dirty="0">
              <a:solidFill>
                <a:prstClr val="black"/>
              </a:solidFill>
              <a:latin typeface="Verdana"/>
            </a:endParaRPr>
          </a:p>
          <a:p>
            <a:pPr eaLnBrk="0" hangingPunct="0">
              <a:spcBef>
                <a:spcPts val="600"/>
              </a:spcBef>
              <a:defRPr/>
            </a:pPr>
            <a:endParaRPr lang="en-US" sz="2000" dirty="0">
              <a:solidFill>
                <a:prstClr val="black"/>
              </a:solidFill>
              <a:latin typeface="Verdana"/>
            </a:endParaRPr>
          </a:p>
          <a:p>
            <a:pPr>
              <a:spcBef>
                <a:spcPts val="600"/>
              </a:spcBef>
              <a:defRPr/>
            </a:pPr>
            <a:endParaRPr lang="en-US" sz="2000" dirty="0">
              <a:solidFill>
                <a:prstClr val="black"/>
              </a:solidFill>
              <a:latin typeface="Verdana"/>
            </a:endParaRPr>
          </a:p>
        </p:txBody>
      </p:sp>
    </p:spTree>
    <p:extLst>
      <p:ext uri="{BB962C8B-B14F-4D97-AF65-F5344CB8AC3E}">
        <p14:creationId xmlns:p14="http://schemas.microsoft.com/office/powerpoint/2010/main" val="19556558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le 1"/>
          <p:cNvSpPr>
            <a:spLocks noGrp="1"/>
          </p:cNvSpPr>
          <p:nvPr>
            <p:ph type="title"/>
            <p:custDataLst>
              <p:tags r:id="rId1"/>
            </p:custDataLst>
          </p:nvPr>
        </p:nvSpPr>
        <p:spPr>
          <a:xfrm>
            <a:off x="838200" y="365126"/>
            <a:ext cx="10515600" cy="519778"/>
          </a:xfrm>
        </p:spPr>
        <p:txBody>
          <a:bodyPr>
            <a:normAutofit fontScale="90000"/>
          </a:bodyPr>
          <a:lstStyle/>
          <a:p>
            <a:pPr eaLnBrk="1" hangingPunct="1"/>
            <a:r>
              <a:rPr lang="en-US" dirty="0"/>
              <a:t>Another Quadratic Probing Example</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73</a:t>
            </a:fld>
            <a:endParaRPr lang="en-US">
              <a:solidFill>
                <a:srgbClr val="2F1343"/>
              </a:solidFill>
              <a:latin typeface="Verdana"/>
            </a:endParaRPr>
          </a:p>
        </p:txBody>
      </p:sp>
      <p:graphicFrame>
        <p:nvGraphicFramePr>
          <p:cNvPr id="8" name="Group 64"/>
          <p:cNvGraphicFramePr>
            <a:graphicFrameLocks noGrp="1"/>
          </p:cNvGraphicFramePr>
          <p:nvPr>
            <p:custDataLst>
              <p:tags r:id="rId2"/>
            </p:custDataLst>
          </p:nvPr>
        </p:nvGraphicFramePr>
        <p:xfrm>
          <a:off x="2133600" y="1447800"/>
          <a:ext cx="1219200" cy="2667000"/>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50000"/>
                              <a:lumOff val="50000"/>
                            </a:schemeClr>
                          </a:solidFill>
                          <a:effectLst/>
                          <a:latin typeface="+mj-lt"/>
                        </a:rPr>
                        <a:t>55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9" name="Text Box 49"/>
          <p:cNvSpPr txBox="1">
            <a:spLocks noChangeArrowheads="1"/>
          </p:cNvSpPr>
          <p:nvPr>
            <p:custDataLst>
              <p:tags r:id="rId3"/>
            </p:custDataLst>
          </p:nvPr>
        </p:nvSpPr>
        <p:spPr bwMode="auto">
          <a:xfrm>
            <a:off x="5438422" y="1120423"/>
            <a:ext cx="4405489" cy="4247317"/>
          </a:xfrm>
          <a:prstGeom prst="rect">
            <a:avLst/>
          </a:prstGeom>
          <a:noFill/>
          <a:ln w="9525">
            <a:noFill/>
            <a:miter lim="800000"/>
            <a:headEnd/>
            <a:tailEnd/>
          </a:ln>
        </p:spPr>
        <p:txBody>
          <a:bodyPr wrap="square">
            <a:spAutoFit/>
          </a:bodyPr>
          <a:lstStyle/>
          <a:p>
            <a:pPr eaLnBrk="0" hangingPunct="0">
              <a:spcBef>
                <a:spcPts val="600"/>
              </a:spcBef>
              <a:defRPr/>
            </a:pPr>
            <a:r>
              <a:rPr lang="en-US" sz="2000" dirty="0" err="1">
                <a:solidFill>
                  <a:prstClr val="black"/>
                </a:solidFill>
                <a:latin typeface="Verdana"/>
              </a:rPr>
              <a:t>TableSize</a:t>
            </a:r>
            <a:r>
              <a:rPr lang="en-US" sz="2000" dirty="0">
                <a:solidFill>
                  <a:prstClr val="black"/>
                </a:solidFill>
                <a:latin typeface="Verdana"/>
              </a:rPr>
              <a:t> = 7</a:t>
            </a:r>
          </a:p>
          <a:p>
            <a:pPr eaLnBrk="0" hangingPunct="0">
              <a:spcBef>
                <a:spcPts val="600"/>
              </a:spcBef>
              <a:defRPr/>
            </a:pPr>
            <a:r>
              <a:rPr lang="en-US" sz="2000" dirty="0">
                <a:solidFill>
                  <a:prstClr val="black"/>
                </a:solidFill>
                <a:latin typeface="Verdana"/>
              </a:rPr>
              <a:t>Insert:</a:t>
            </a:r>
          </a:p>
          <a:p>
            <a:pPr eaLnBrk="0" hangingPunct="0">
              <a:spcBef>
                <a:spcPts val="600"/>
              </a:spcBef>
              <a:defRPr/>
            </a:pPr>
            <a:r>
              <a:rPr lang="en-US" sz="2000" dirty="0">
                <a:solidFill>
                  <a:prstClr val="black"/>
                </a:solidFill>
                <a:latin typeface="Verdana"/>
              </a:rPr>
              <a:t>76               	(76 % 7 = 6)</a:t>
            </a:r>
          </a:p>
          <a:p>
            <a:pPr>
              <a:spcBef>
                <a:spcPts val="600"/>
              </a:spcBef>
              <a:defRPr/>
            </a:pPr>
            <a:r>
              <a:rPr lang="en-US" sz="2000" dirty="0">
                <a:solidFill>
                  <a:prstClr val="black"/>
                </a:solidFill>
                <a:latin typeface="Verdana"/>
              </a:rPr>
              <a:t>40 		(40 % 7 = 5)</a:t>
            </a:r>
          </a:p>
          <a:p>
            <a:pPr marL="457200" indent="-457200">
              <a:spcBef>
                <a:spcPts val="600"/>
              </a:spcBef>
              <a:defRPr/>
            </a:pPr>
            <a:r>
              <a:rPr lang="en-US" sz="2000" dirty="0">
                <a:solidFill>
                  <a:prstClr val="black"/>
                </a:solidFill>
                <a:latin typeface="Verdana"/>
              </a:rPr>
              <a:t>48			(48 % 7 = 6)</a:t>
            </a:r>
          </a:p>
          <a:p>
            <a:pPr>
              <a:spcBef>
                <a:spcPts val="600"/>
              </a:spcBef>
              <a:defRPr/>
            </a:pPr>
            <a:r>
              <a:rPr lang="en-US" sz="2000" dirty="0">
                <a:solidFill>
                  <a:prstClr val="black"/>
                </a:solidFill>
                <a:latin typeface="Verdana"/>
              </a:rPr>
              <a:t>5 		(5 % 7 = 5)</a:t>
            </a:r>
          </a:p>
          <a:p>
            <a:pPr>
              <a:spcBef>
                <a:spcPts val="600"/>
              </a:spcBef>
              <a:defRPr/>
            </a:pPr>
            <a:r>
              <a:rPr lang="en-US" sz="2000" dirty="0">
                <a:solidFill>
                  <a:prstClr val="black"/>
                </a:solidFill>
                <a:latin typeface="Verdana"/>
              </a:rPr>
              <a:t>55 		(55 % 7 = 6)</a:t>
            </a:r>
          </a:p>
          <a:p>
            <a:pPr>
              <a:spcBef>
                <a:spcPts val="600"/>
              </a:spcBef>
              <a:defRPr/>
            </a:pPr>
            <a:r>
              <a:rPr lang="en-US" sz="2000" b="1" dirty="0">
                <a:solidFill>
                  <a:prstClr val="black"/>
                </a:solidFill>
                <a:latin typeface="Verdana"/>
              </a:rPr>
              <a:t>47</a:t>
            </a:r>
            <a:r>
              <a:rPr lang="en-US" sz="2000" dirty="0">
                <a:solidFill>
                  <a:prstClr val="black"/>
                </a:solidFill>
                <a:latin typeface="Verdana"/>
              </a:rPr>
              <a:t> 		(47 % 7 = 5)</a:t>
            </a:r>
          </a:p>
          <a:p>
            <a:pPr>
              <a:spcBef>
                <a:spcPts val="600"/>
              </a:spcBef>
              <a:defRPr/>
            </a:pPr>
            <a:endParaRPr lang="en-US" sz="2000" dirty="0">
              <a:solidFill>
                <a:prstClr val="black"/>
              </a:solidFill>
              <a:latin typeface="Verdana"/>
            </a:endParaRPr>
          </a:p>
          <a:p>
            <a:pPr eaLnBrk="0" hangingPunct="0">
              <a:spcBef>
                <a:spcPts val="600"/>
              </a:spcBef>
              <a:defRPr/>
            </a:pPr>
            <a:endParaRPr lang="en-US" sz="2000" dirty="0">
              <a:solidFill>
                <a:prstClr val="black"/>
              </a:solidFill>
              <a:latin typeface="Verdana"/>
            </a:endParaRPr>
          </a:p>
          <a:p>
            <a:pPr>
              <a:spcBef>
                <a:spcPts val="600"/>
              </a:spcBef>
              <a:defRPr/>
            </a:pPr>
            <a:endParaRPr lang="en-US" sz="2000" dirty="0">
              <a:solidFill>
                <a:prstClr val="black"/>
              </a:solidFill>
              <a:latin typeface="Verdana"/>
            </a:endParaRPr>
          </a:p>
        </p:txBody>
      </p:sp>
    </p:spTree>
    <p:extLst>
      <p:ext uri="{BB962C8B-B14F-4D97-AF65-F5344CB8AC3E}">
        <p14:creationId xmlns:p14="http://schemas.microsoft.com/office/powerpoint/2010/main" val="36918464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le 1"/>
          <p:cNvSpPr>
            <a:spLocks noGrp="1"/>
          </p:cNvSpPr>
          <p:nvPr>
            <p:ph type="title"/>
            <p:custDataLst>
              <p:tags r:id="rId1"/>
            </p:custDataLst>
          </p:nvPr>
        </p:nvSpPr>
        <p:spPr>
          <a:xfrm>
            <a:off x="838200" y="365126"/>
            <a:ext cx="10515600" cy="755298"/>
          </a:xfrm>
        </p:spPr>
        <p:txBody>
          <a:bodyPr/>
          <a:lstStyle/>
          <a:p>
            <a:pPr eaLnBrk="1" hangingPunct="1"/>
            <a:r>
              <a:rPr lang="en-US" dirty="0"/>
              <a:t>Another Quadratic Probing Example</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74</a:t>
            </a:fld>
            <a:endParaRPr lang="en-US">
              <a:solidFill>
                <a:srgbClr val="2F1343"/>
              </a:solidFill>
              <a:latin typeface="Verdana"/>
            </a:endParaRPr>
          </a:p>
        </p:txBody>
      </p:sp>
      <p:graphicFrame>
        <p:nvGraphicFramePr>
          <p:cNvPr id="8" name="Group 64"/>
          <p:cNvGraphicFramePr>
            <a:graphicFrameLocks noGrp="1"/>
          </p:cNvGraphicFramePr>
          <p:nvPr>
            <p:custDataLst>
              <p:tags r:id="rId2"/>
            </p:custDataLst>
          </p:nvPr>
        </p:nvGraphicFramePr>
        <p:xfrm>
          <a:off x="2133600" y="1447800"/>
          <a:ext cx="1219200" cy="2667000"/>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ysClr val="windowText" lastClr="000000"/>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50000"/>
                              <a:lumOff val="50000"/>
                            </a:schemeClr>
                          </a:solidFill>
                          <a:effectLst/>
                          <a:latin typeface="+mj-lt"/>
                        </a:rPr>
                        <a:t>55</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ysClr val="windowText" lastClr="000000"/>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76</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9" name="Text Box 49"/>
          <p:cNvSpPr txBox="1">
            <a:spLocks noChangeArrowheads="1"/>
          </p:cNvSpPr>
          <p:nvPr>
            <p:custDataLst>
              <p:tags r:id="rId3"/>
            </p:custDataLst>
          </p:nvPr>
        </p:nvSpPr>
        <p:spPr bwMode="auto">
          <a:xfrm>
            <a:off x="5438422" y="1120423"/>
            <a:ext cx="4405489" cy="5401479"/>
          </a:xfrm>
          <a:prstGeom prst="rect">
            <a:avLst/>
          </a:prstGeom>
          <a:noFill/>
          <a:ln w="9525">
            <a:noFill/>
            <a:miter lim="800000"/>
            <a:headEnd/>
            <a:tailEnd/>
          </a:ln>
        </p:spPr>
        <p:txBody>
          <a:bodyPr wrap="square">
            <a:spAutoFit/>
          </a:bodyPr>
          <a:lstStyle/>
          <a:p>
            <a:pPr eaLnBrk="0" hangingPunct="0">
              <a:spcBef>
                <a:spcPts val="600"/>
              </a:spcBef>
              <a:defRPr/>
            </a:pPr>
            <a:r>
              <a:rPr lang="en-US" sz="2000" dirty="0" err="1">
                <a:solidFill>
                  <a:prstClr val="black"/>
                </a:solidFill>
                <a:latin typeface="Verdana"/>
              </a:rPr>
              <a:t>TableSize</a:t>
            </a:r>
            <a:r>
              <a:rPr lang="en-US" sz="2000" dirty="0">
                <a:solidFill>
                  <a:prstClr val="black"/>
                </a:solidFill>
                <a:latin typeface="Verdana"/>
              </a:rPr>
              <a:t> = 7</a:t>
            </a:r>
          </a:p>
          <a:p>
            <a:pPr eaLnBrk="0" hangingPunct="0">
              <a:spcBef>
                <a:spcPts val="600"/>
              </a:spcBef>
              <a:defRPr/>
            </a:pPr>
            <a:r>
              <a:rPr lang="en-US" sz="2000" dirty="0">
                <a:solidFill>
                  <a:prstClr val="black"/>
                </a:solidFill>
                <a:latin typeface="Verdana"/>
              </a:rPr>
              <a:t>Insert:</a:t>
            </a:r>
          </a:p>
          <a:p>
            <a:pPr eaLnBrk="0" hangingPunct="0">
              <a:spcBef>
                <a:spcPts val="600"/>
              </a:spcBef>
              <a:defRPr/>
            </a:pPr>
            <a:r>
              <a:rPr lang="en-US" sz="2000" dirty="0">
                <a:solidFill>
                  <a:prstClr val="black"/>
                </a:solidFill>
                <a:latin typeface="Verdana"/>
              </a:rPr>
              <a:t>76               	(76 % 7 = 6)</a:t>
            </a:r>
          </a:p>
          <a:p>
            <a:pPr>
              <a:spcBef>
                <a:spcPts val="600"/>
              </a:spcBef>
              <a:defRPr/>
            </a:pPr>
            <a:r>
              <a:rPr lang="en-US" sz="2000" dirty="0">
                <a:solidFill>
                  <a:prstClr val="black"/>
                </a:solidFill>
                <a:latin typeface="Verdana"/>
              </a:rPr>
              <a:t>40 		(40 % 7 = 5)</a:t>
            </a:r>
          </a:p>
          <a:p>
            <a:pPr marL="457200" indent="-457200">
              <a:spcBef>
                <a:spcPts val="600"/>
              </a:spcBef>
              <a:defRPr/>
            </a:pPr>
            <a:r>
              <a:rPr lang="en-US" sz="2000" dirty="0">
                <a:solidFill>
                  <a:prstClr val="black"/>
                </a:solidFill>
                <a:latin typeface="Verdana"/>
              </a:rPr>
              <a:t>48			(48 % 7 = 6)</a:t>
            </a:r>
          </a:p>
          <a:p>
            <a:pPr>
              <a:spcBef>
                <a:spcPts val="600"/>
              </a:spcBef>
              <a:defRPr/>
            </a:pPr>
            <a:r>
              <a:rPr lang="en-US" sz="2000" dirty="0">
                <a:solidFill>
                  <a:prstClr val="black"/>
                </a:solidFill>
                <a:latin typeface="Verdana"/>
              </a:rPr>
              <a:t>5 		(5 % 7 = 5)</a:t>
            </a:r>
          </a:p>
          <a:p>
            <a:pPr>
              <a:spcBef>
                <a:spcPts val="600"/>
              </a:spcBef>
              <a:defRPr/>
            </a:pPr>
            <a:r>
              <a:rPr lang="en-US" sz="2000" dirty="0">
                <a:solidFill>
                  <a:prstClr val="black"/>
                </a:solidFill>
                <a:latin typeface="Verdana"/>
              </a:rPr>
              <a:t>55 		(55 % 7 = 6)</a:t>
            </a:r>
          </a:p>
          <a:p>
            <a:pPr>
              <a:spcBef>
                <a:spcPts val="600"/>
              </a:spcBef>
              <a:defRPr/>
            </a:pPr>
            <a:r>
              <a:rPr lang="en-US" sz="2000" b="1" dirty="0">
                <a:solidFill>
                  <a:prstClr val="black"/>
                </a:solidFill>
                <a:latin typeface="Verdana"/>
              </a:rPr>
              <a:t>47</a:t>
            </a:r>
            <a:r>
              <a:rPr lang="en-US" sz="2000" dirty="0">
                <a:solidFill>
                  <a:prstClr val="black"/>
                </a:solidFill>
                <a:latin typeface="Verdana"/>
              </a:rPr>
              <a:t> 		(47 % 7 = 5)</a:t>
            </a:r>
          </a:p>
          <a:p>
            <a:pPr marL="463550">
              <a:spcBef>
                <a:spcPts val="600"/>
              </a:spcBef>
              <a:defRPr/>
            </a:pPr>
            <a:r>
              <a:rPr lang="en-US" sz="2000" dirty="0">
                <a:solidFill>
                  <a:prstClr val="black"/>
                </a:solidFill>
                <a:latin typeface="Verdana"/>
              </a:rPr>
              <a:t>(47 + 1) % 7 = 6 </a:t>
            </a:r>
            <a:r>
              <a:rPr lang="en-US" sz="2000" dirty="0">
                <a:solidFill>
                  <a:srgbClr val="D62D31"/>
                </a:solidFill>
                <a:latin typeface="Verdana"/>
              </a:rPr>
              <a:t>collision!</a:t>
            </a:r>
          </a:p>
          <a:p>
            <a:pPr marL="463550">
              <a:spcBef>
                <a:spcPts val="600"/>
              </a:spcBef>
              <a:defRPr/>
            </a:pPr>
            <a:r>
              <a:rPr lang="en-US" sz="2000" dirty="0">
                <a:solidFill>
                  <a:prstClr val="black"/>
                </a:solidFill>
                <a:latin typeface="Verdana"/>
              </a:rPr>
              <a:t>(47 + 4) % 7 = 2 </a:t>
            </a:r>
            <a:r>
              <a:rPr lang="en-US" sz="2000" dirty="0">
                <a:solidFill>
                  <a:srgbClr val="D62D31"/>
                </a:solidFill>
                <a:latin typeface="Verdana"/>
              </a:rPr>
              <a:t>collision! </a:t>
            </a:r>
          </a:p>
          <a:p>
            <a:pPr marL="463550">
              <a:spcBef>
                <a:spcPts val="600"/>
              </a:spcBef>
              <a:defRPr/>
            </a:pPr>
            <a:r>
              <a:rPr lang="en-US" sz="2000" dirty="0">
                <a:solidFill>
                  <a:prstClr val="black"/>
                </a:solidFill>
                <a:latin typeface="Verdana"/>
              </a:rPr>
              <a:t>(47 + 9) % 7 = 0 </a:t>
            </a:r>
            <a:r>
              <a:rPr lang="en-US" sz="2000" dirty="0">
                <a:solidFill>
                  <a:srgbClr val="D62D31"/>
                </a:solidFill>
                <a:latin typeface="Verdana"/>
              </a:rPr>
              <a:t>collision!</a:t>
            </a:r>
          </a:p>
          <a:p>
            <a:pPr marL="463550">
              <a:spcBef>
                <a:spcPts val="600"/>
              </a:spcBef>
              <a:defRPr/>
            </a:pPr>
            <a:r>
              <a:rPr lang="en-US" sz="2000" dirty="0">
                <a:solidFill>
                  <a:prstClr val="black"/>
                </a:solidFill>
                <a:latin typeface="Verdana"/>
              </a:rPr>
              <a:t>(47 + 16) % 7 = 0 </a:t>
            </a:r>
            <a:r>
              <a:rPr lang="en-US" sz="2000" dirty="0">
                <a:solidFill>
                  <a:srgbClr val="D62D31"/>
                </a:solidFill>
                <a:latin typeface="Verdana"/>
              </a:rPr>
              <a:t>collision!</a:t>
            </a:r>
          </a:p>
          <a:p>
            <a:pPr marL="463550">
              <a:spcBef>
                <a:spcPts val="600"/>
              </a:spcBef>
              <a:defRPr/>
            </a:pPr>
            <a:r>
              <a:rPr lang="en-US" sz="2000" dirty="0">
                <a:solidFill>
                  <a:prstClr val="black"/>
                </a:solidFill>
                <a:latin typeface="Verdana"/>
              </a:rPr>
              <a:t>(47 + 25) % 7 = 2 </a:t>
            </a:r>
            <a:r>
              <a:rPr lang="en-US" sz="2000" dirty="0">
                <a:solidFill>
                  <a:srgbClr val="D62D31"/>
                </a:solidFill>
                <a:latin typeface="Verdana"/>
              </a:rPr>
              <a:t>collision!</a:t>
            </a:r>
          </a:p>
          <a:p>
            <a:pPr>
              <a:spcBef>
                <a:spcPts val="600"/>
              </a:spcBef>
              <a:defRPr/>
            </a:pPr>
            <a:endParaRPr lang="en-US" sz="2000" dirty="0">
              <a:solidFill>
                <a:prstClr val="black"/>
              </a:solidFill>
              <a:latin typeface="Verdana"/>
            </a:endParaRPr>
          </a:p>
        </p:txBody>
      </p:sp>
      <p:sp>
        <p:nvSpPr>
          <p:cNvPr id="5" name="TextBox 4"/>
          <p:cNvSpPr txBox="1"/>
          <p:nvPr/>
        </p:nvSpPr>
        <p:spPr>
          <a:xfrm>
            <a:off x="2356555" y="4662313"/>
            <a:ext cx="3081867" cy="830997"/>
          </a:xfrm>
          <a:prstGeom prst="rect">
            <a:avLst/>
          </a:prstGeom>
          <a:noFill/>
        </p:spPr>
        <p:txBody>
          <a:bodyPr wrap="square" rtlCol="0">
            <a:spAutoFit/>
          </a:bodyPr>
          <a:lstStyle/>
          <a:p>
            <a:pPr algn="ctr">
              <a:defRPr/>
            </a:pPr>
            <a:r>
              <a:rPr lang="en-US" sz="2400" b="1" dirty="0">
                <a:solidFill>
                  <a:srgbClr val="D62D31"/>
                </a:solidFill>
                <a:latin typeface="Verdana"/>
              </a:rPr>
              <a:t>Will we ever get a 1 or 4?!?</a:t>
            </a:r>
          </a:p>
        </p:txBody>
      </p:sp>
    </p:spTree>
    <p:extLst>
      <p:ext uri="{BB962C8B-B14F-4D97-AF65-F5344CB8AC3E}">
        <p14:creationId xmlns:p14="http://schemas.microsoft.com/office/powerpoint/2010/main" val="3576612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4">
            <a:extLst>
              <a:ext uri="{FF2B5EF4-FFF2-40B4-BE49-F238E27FC236}">
                <a16:creationId xmlns:a16="http://schemas.microsoft.com/office/drawing/2014/main" id="{1EBE2470-F400-484E-AB09-4036A79E9027}"/>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FD51C55-8B81-421D-A7A8-EBA21D47FFDF}" type="slidenum">
              <a:rPr lang="en-US" altLang="en-US" sz="1400"/>
              <a:pPr>
                <a:spcBef>
                  <a:spcPct val="0"/>
                </a:spcBef>
                <a:buClrTx/>
                <a:buSzTx/>
                <a:buFontTx/>
                <a:buNone/>
              </a:pPr>
              <a:t>75</a:t>
            </a:fld>
            <a:endParaRPr lang="en-US" altLang="en-US" sz="1400"/>
          </a:p>
        </p:txBody>
      </p:sp>
      <p:sp>
        <p:nvSpPr>
          <p:cNvPr id="11267" name="Rectangle 2">
            <a:extLst>
              <a:ext uri="{FF2B5EF4-FFF2-40B4-BE49-F238E27FC236}">
                <a16:creationId xmlns:a16="http://schemas.microsoft.com/office/drawing/2014/main" id="{59BC5E75-3070-4777-81B8-5762E4ADF5DF}"/>
              </a:ext>
            </a:extLst>
          </p:cNvPr>
          <p:cNvSpPr>
            <a:spLocks noGrp="1" noChangeArrowheads="1"/>
          </p:cNvSpPr>
          <p:nvPr>
            <p:ph type="title"/>
          </p:nvPr>
        </p:nvSpPr>
        <p:spPr>
          <a:xfrm>
            <a:off x="1752600" y="152400"/>
            <a:ext cx="8686800" cy="685800"/>
          </a:xfrm>
        </p:spPr>
        <p:txBody>
          <a:bodyPr>
            <a:normAutofit fontScale="90000"/>
          </a:bodyPr>
          <a:lstStyle/>
          <a:p>
            <a:r>
              <a:rPr lang="en-US" altLang="en-US" dirty="0" err="1"/>
              <a:t>Quadtratic</a:t>
            </a:r>
            <a:r>
              <a:rPr lang="en-US" altLang="en-US" dirty="0"/>
              <a:t> Probing : Practice </a:t>
            </a:r>
          </a:p>
        </p:txBody>
      </p:sp>
      <p:sp>
        <p:nvSpPr>
          <p:cNvPr id="11268" name="Text Box 3">
            <a:extLst>
              <a:ext uri="{FF2B5EF4-FFF2-40B4-BE49-F238E27FC236}">
                <a16:creationId xmlns:a16="http://schemas.microsoft.com/office/drawing/2014/main" id="{3A0121FA-9C86-469B-B72A-96C14785559D}"/>
              </a:ext>
            </a:extLst>
          </p:cNvPr>
          <p:cNvSpPr txBox="1">
            <a:spLocks noChangeArrowheads="1"/>
          </p:cNvSpPr>
          <p:nvPr/>
        </p:nvSpPr>
        <p:spPr bwMode="auto">
          <a:xfrm>
            <a:off x="2304422" y="1133791"/>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dirty="0"/>
              <a:t>Insert 44, 4, 16, 28, 21,26 into a table of size 11</a:t>
            </a:r>
          </a:p>
        </p:txBody>
      </p:sp>
      <p:sp>
        <p:nvSpPr>
          <p:cNvPr id="11269" name="Rectangle 4">
            <a:extLst>
              <a:ext uri="{FF2B5EF4-FFF2-40B4-BE49-F238E27FC236}">
                <a16:creationId xmlns:a16="http://schemas.microsoft.com/office/drawing/2014/main" id="{B0E21BD8-804A-4D1B-BF9D-DB1E43904996}"/>
              </a:ext>
            </a:extLst>
          </p:cNvPr>
          <p:cNvSpPr>
            <a:spLocks noChangeArrowheads="1"/>
          </p:cNvSpPr>
          <p:nvPr/>
        </p:nvSpPr>
        <p:spPr bwMode="auto">
          <a:xfrm>
            <a:off x="1524001" y="2623494"/>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0" name="Rectangle 5">
            <a:extLst>
              <a:ext uri="{FF2B5EF4-FFF2-40B4-BE49-F238E27FC236}">
                <a16:creationId xmlns:a16="http://schemas.microsoft.com/office/drawing/2014/main" id="{5655B1DA-EB26-461E-BB87-8B78059A685A}"/>
              </a:ext>
            </a:extLst>
          </p:cNvPr>
          <p:cNvSpPr>
            <a:spLocks noChangeArrowheads="1"/>
          </p:cNvSpPr>
          <p:nvPr/>
        </p:nvSpPr>
        <p:spPr bwMode="auto">
          <a:xfrm>
            <a:off x="1524001" y="26076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1" name="Rectangle 7">
            <a:extLst>
              <a:ext uri="{FF2B5EF4-FFF2-40B4-BE49-F238E27FC236}">
                <a16:creationId xmlns:a16="http://schemas.microsoft.com/office/drawing/2014/main" id="{0B608E40-2641-4D1C-92A7-110B38D30250}"/>
              </a:ext>
            </a:extLst>
          </p:cNvPr>
          <p:cNvSpPr>
            <a:spLocks noChangeArrowheads="1"/>
          </p:cNvSpPr>
          <p:nvPr/>
        </p:nvSpPr>
        <p:spPr bwMode="auto">
          <a:xfrm>
            <a:off x="1524001" y="215835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2" name="Rectangle 8">
            <a:extLst>
              <a:ext uri="{FF2B5EF4-FFF2-40B4-BE49-F238E27FC236}">
                <a16:creationId xmlns:a16="http://schemas.microsoft.com/office/drawing/2014/main" id="{673FBCDE-ADED-4AB6-A6B5-B173B7A5F241}"/>
              </a:ext>
            </a:extLst>
          </p:cNvPr>
          <p:cNvSpPr>
            <a:spLocks noChangeArrowheads="1"/>
          </p:cNvSpPr>
          <p:nvPr/>
        </p:nvSpPr>
        <p:spPr bwMode="auto">
          <a:xfrm>
            <a:off x="1524001" y="215835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3" name="Rectangle 9">
            <a:extLst>
              <a:ext uri="{FF2B5EF4-FFF2-40B4-BE49-F238E27FC236}">
                <a16:creationId xmlns:a16="http://schemas.microsoft.com/office/drawing/2014/main" id="{E96E6936-3B63-403C-AFFD-0D4E27AB5B86}"/>
              </a:ext>
            </a:extLst>
          </p:cNvPr>
          <p:cNvSpPr>
            <a:spLocks noChangeArrowheads="1"/>
          </p:cNvSpPr>
          <p:nvPr/>
        </p:nvSpPr>
        <p:spPr bwMode="auto">
          <a:xfrm>
            <a:off x="1524001" y="21313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4" name="Rectangle 10">
            <a:extLst>
              <a:ext uri="{FF2B5EF4-FFF2-40B4-BE49-F238E27FC236}">
                <a16:creationId xmlns:a16="http://schemas.microsoft.com/office/drawing/2014/main" id="{2CAA6600-CFC0-4F5A-815A-C357BB297316}"/>
              </a:ext>
            </a:extLst>
          </p:cNvPr>
          <p:cNvSpPr>
            <a:spLocks noChangeArrowheads="1"/>
          </p:cNvSpPr>
          <p:nvPr/>
        </p:nvSpPr>
        <p:spPr bwMode="auto">
          <a:xfrm>
            <a:off x="1524001" y="21313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5" name="Rectangle 11">
            <a:extLst>
              <a:ext uri="{FF2B5EF4-FFF2-40B4-BE49-F238E27FC236}">
                <a16:creationId xmlns:a16="http://schemas.microsoft.com/office/drawing/2014/main" id="{299CD177-B81D-491E-A74D-76BEA02E6702}"/>
              </a:ext>
            </a:extLst>
          </p:cNvPr>
          <p:cNvSpPr>
            <a:spLocks noChangeArrowheads="1"/>
          </p:cNvSpPr>
          <p:nvPr/>
        </p:nvSpPr>
        <p:spPr bwMode="auto">
          <a:xfrm>
            <a:off x="1524001" y="20853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6" name="Rectangle 12">
            <a:extLst>
              <a:ext uri="{FF2B5EF4-FFF2-40B4-BE49-F238E27FC236}">
                <a16:creationId xmlns:a16="http://schemas.microsoft.com/office/drawing/2014/main" id="{EA3CCC47-5363-46F6-849E-4A74F8541CE1}"/>
              </a:ext>
            </a:extLst>
          </p:cNvPr>
          <p:cNvSpPr>
            <a:spLocks noChangeArrowheads="1"/>
          </p:cNvSpPr>
          <p:nvPr/>
        </p:nvSpPr>
        <p:spPr bwMode="auto">
          <a:xfrm>
            <a:off x="1524001" y="21313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7" name="Rectangle 13">
            <a:extLst>
              <a:ext uri="{FF2B5EF4-FFF2-40B4-BE49-F238E27FC236}">
                <a16:creationId xmlns:a16="http://schemas.microsoft.com/office/drawing/2014/main" id="{4A7E0E5F-A13F-4E4B-A3BC-DB554543A79E}"/>
              </a:ext>
            </a:extLst>
          </p:cNvPr>
          <p:cNvSpPr>
            <a:spLocks noChangeArrowheads="1"/>
          </p:cNvSpPr>
          <p:nvPr/>
        </p:nvSpPr>
        <p:spPr bwMode="auto">
          <a:xfrm>
            <a:off x="1524001" y="20853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8" name="Rectangle 14">
            <a:extLst>
              <a:ext uri="{FF2B5EF4-FFF2-40B4-BE49-F238E27FC236}">
                <a16:creationId xmlns:a16="http://schemas.microsoft.com/office/drawing/2014/main" id="{298F2F8E-83CF-4F73-8A4C-FD1CC803F18B}"/>
              </a:ext>
            </a:extLst>
          </p:cNvPr>
          <p:cNvSpPr>
            <a:spLocks noChangeArrowheads="1"/>
          </p:cNvSpPr>
          <p:nvPr/>
        </p:nvSpPr>
        <p:spPr bwMode="auto">
          <a:xfrm>
            <a:off x="1524001" y="12931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9" name="Rectangle 16">
            <a:extLst>
              <a:ext uri="{FF2B5EF4-FFF2-40B4-BE49-F238E27FC236}">
                <a16:creationId xmlns:a16="http://schemas.microsoft.com/office/drawing/2014/main" id="{3C64A829-A3B5-4D75-9B40-83707058F647}"/>
              </a:ext>
            </a:extLst>
          </p:cNvPr>
          <p:cNvSpPr>
            <a:spLocks noChangeArrowheads="1"/>
          </p:cNvSpPr>
          <p:nvPr/>
        </p:nvSpPr>
        <p:spPr bwMode="auto">
          <a:xfrm>
            <a:off x="1524001" y="5040314"/>
            <a:ext cx="2762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b="1">
                <a:latin typeface="Courier New" panose="02070309020205020404" pitchFamily="49" charset="0"/>
                <a:ea typeface="Times New Roman" panose="02020603050405020304" pitchFamily="18" charset="0"/>
                <a:cs typeface="Courier New" panose="02070309020205020404" pitchFamily="49" charset="0"/>
              </a:rPr>
              <a:t> </a:t>
            </a:r>
            <a:endParaRPr lang="en-US" altLang="en-US" sz="2400">
              <a:ea typeface="Times New Roman" panose="02020603050405020304" pitchFamily="18" charset="0"/>
              <a:cs typeface="Courier New" panose="02070309020205020404" pitchFamily="49" charset="0"/>
            </a:endParaRPr>
          </a:p>
        </p:txBody>
      </p:sp>
      <p:graphicFrame>
        <p:nvGraphicFramePr>
          <p:cNvPr id="8" name="Table 8">
            <a:extLst>
              <a:ext uri="{FF2B5EF4-FFF2-40B4-BE49-F238E27FC236}">
                <a16:creationId xmlns:a16="http://schemas.microsoft.com/office/drawing/2014/main" id="{6A46700F-1330-4007-A942-DC8B82C44983}"/>
              </a:ext>
            </a:extLst>
          </p:cNvPr>
          <p:cNvGraphicFramePr>
            <a:graphicFrameLocks noGrp="1"/>
          </p:cNvGraphicFramePr>
          <p:nvPr/>
        </p:nvGraphicFramePr>
        <p:xfrm>
          <a:off x="1409001" y="1676400"/>
          <a:ext cx="1123183" cy="4079240"/>
        </p:xfrm>
        <a:graphic>
          <a:graphicData uri="http://schemas.openxmlformats.org/drawingml/2006/table">
            <a:tbl>
              <a:tblPr firstRow="1" bandRow="1">
                <a:tableStyleId>{5C22544A-7EE6-4342-B048-85BDC9FD1C3A}</a:tableStyleId>
              </a:tblPr>
              <a:tblGrid>
                <a:gridCol w="1123183">
                  <a:extLst>
                    <a:ext uri="{9D8B030D-6E8A-4147-A177-3AD203B41FA5}">
                      <a16:colId xmlns:a16="http://schemas.microsoft.com/office/drawing/2014/main" val="4250829449"/>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720303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541379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89351833"/>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8139613"/>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96053063"/>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3287923"/>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2553864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0789274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1030810"/>
                  </a:ext>
                </a:extLst>
              </a:tr>
              <a:tr h="370840">
                <a:tc>
                  <a:txBody>
                    <a:bodyPr/>
                    <a:lstStyle/>
                    <a:p>
                      <a:r>
                        <a:rPr lang="en-US"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0838705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82418850"/>
                  </a:ext>
                </a:extLst>
              </a:tr>
            </a:tbl>
          </a:graphicData>
        </a:graphic>
      </p:graphicFrame>
      <p:graphicFrame>
        <p:nvGraphicFramePr>
          <p:cNvPr id="25" name="Table 8">
            <a:extLst>
              <a:ext uri="{FF2B5EF4-FFF2-40B4-BE49-F238E27FC236}">
                <a16:creationId xmlns:a16="http://schemas.microsoft.com/office/drawing/2014/main" id="{E8CB854A-8208-480A-B535-D7F33CEB458C}"/>
              </a:ext>
            </a:extLst>
          </p:cNvPr>
          <p:cNvGraphicFramePr>
            <a:graphicFrameLocks noGrp="1"/>
          </p:cNvGraphicFramePr>
          <p:nvPr/>
        </p:nvGraphicFramePr>
        <p:xfrm>
          <a:off x="928311" y="1676400"/>
          <a:ext cx="424239" cy="4079240"/>
        </p:xfrm>
        <a:graphic>
          <a:graphicData uri="http://schemas.openxmlformats.org/drawingml/2006/table">
            <a:tbl>
              <a:tblPr firstRow="1" bandRow="1">
                <a:tableStyleId>{5C22544A-7EE6-4342-B048-85BDC9FD1C3A}</a:tableStyleId>
              </a:tblPr>
              <a:tblGrid>
                <a:gridCol w="424239">
                  <a:extLst>
                    <a:ext uri="{9D8B030D-6E8A-4147-A177-3AD203B41FA5}">
                      <a16:colId xmlns:a16="http://schemas.microsoft.com/office/drawing/2014/main" val="4250829449"/>
                    </a:ext>
                  </a:extLst>
                </a:gridCol>
              </a:tblGrid>
              <a:tr h="370840">
                <a:tc>
                  <a:txBody>
                    <a:bodyPr/>
                    <a:lstStyle/>
                    <a:p>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7203035"/>
                  </a:ext>
                </a:extLst>
              </a:tr>
              <a:tr h="370840">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5413798"/>
                  </a:ext>
                </a:extLst>
              </a:tr>
              <a:tr h="370840">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9351833"/>
                  </a:ext>
                </a:extLst>
              </a:tr>
              <a:tr h="370840">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8139613"/>
                  </a:ext>
                </a:extLst>
              </a:tr>
              <a:tr h="370840">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96053063"/>
                  </a:ext>
                </a:extLst>
              </a:tr>
              <a:tr h="370840">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3287923"/>
                  </a:ext>
                </a:extLst>
              </a:tr>
              <a:tr h="370840">
                <a:tc>
                  <a:txBody>
                    <a:bodyPr/>
                    <a:lstStyle/>
                    <a:p>
                      <a:r>
                        <a:rPr lang="en-US"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25538648"/>
                  </a:ext>
                </a:extLst>
              </a:tr>
              <a:tr h="370840">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07892744"/>
                  </a:ext>
                </a:extLst>
              </a:tr>
              <a:tr h="370840">
                <a:tc>
                  <a:txBody>
                    <a:bodyPr/>
                    <a:lstStyle/>
                    <a:p>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1030810"/>
                  </a:ext>
                </a:extLst>
              </a:tr>
              <a:tr h="370840">
                <a:tc>
                  <a:txBody>
                    <a:bodyPr/>
                    <a:lstStyle/>
                    <a:p>
                      <a:r>
                        <a:rPr lang="en-US" dirty="0"/>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08387055"/>
                  </a:ext>
                </a:extLst>
              </a:tr>
              <a:tr h="370840">
                <a:tc>
                  <a:txBody>
                    <a:bodyPr/>
                    <a:lstStyle/>
                    <a:p>
                      <a:r>
                        <a:rPr lang="en-US"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91334272"/>
                  </a:ext>
                </a:extLst>
              </a:tr>
            </a:tbl>
          </a:graphicData>
        </a:graphic>
      </p:graphicFrame>
    </p:spTree>
    <p:extLst>
      <p:ext uri="{BB962C8B-B14F-4D97-AF65-F5344CB8AC3E}">
        <p14:creationId xmlns:p14="http://schemas.microsoft.com/office/powerpoint/2010/main" val="2640945106"/>
      </p:ext>
    </p:extLst>
  </p:cSld>
  <p:clrMapOvr>
    <a:masterClrMapping/>
  </p:clrMapOvr>
  <mc:AlternateContent xmlns:mc="http://schemas.openxmlformats.org/markup-compatibility/2006" xmlns:p14="http://schemas.microsoft.com/office/powerpoint/2010/main">
    <mc:Choice Requires="p14">
      <p:transition spd="slow" p14:dur="2000" advTm="72097"/>
    </mc:Choice>
    <mc:Fallback xmlns="">
      <p:transition spd="slow" advTm="72097"/>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Title 1"/>
          <p:cNvSpPr>
            <a:spLocks noGrp="1"/>
          </p:cNvSpPr>
          <p:nvPr>
            <p:ph type="title"/>
            <p:custDataLst>
              <p:tags r:id="rId1"/>
            </p:custDataLst>
          </p:nvPr>
        </p:nvSpPr>
        <p:spPr/>
        <p:txBody>
          <a:bodyPr/>
          <a:lstStyle/>
          <a:p>
            <a:r>
              <a:rPr lang="en-US"/>
              <a:t>Clustering Reconsidered</a:t>
            </a:r>
            <a:endParaRPr lang="en-US" dirty="0"/>
          </a:p>
        </p:txBody>
      </p:sp>
      <p:sp>
        <p:nvSpPr>
          <p:cNvPr id="125954" name="Content Placeholder 2"/>
          <p:cNvSpPr>
            <a:spLocks noGrp="1"/>
          </p:cNvSpPr>
          <p:nvPr>
            <p:ph idx="1"/>
            <p:custDataLst>
              <p:tags r:id="rId2"/>
            </p:custDataLst>
          </p:nvPr>
        </p:nvSpPr>
        <p:spPr/>
        <p:txBody>
          <a:bodyPr>
            <a:noAutofit/>
          </a:bodyPr>
          <a:lstStyle/>
          <a:p>
            <a:pPr marL="0" indent="0">
              <a:buNone/>
            </a:pPr>
            <a:r>
              <a:rPr lang="en-US" sz="2400" dirty="0"/>
              <a:t>Quadratic probing does not suffer from primary clustering as the quadratic nature quickly escapes the neighborhood</a:t>
            </a:r>
          </a:p>
          <a:p>
            <a:pPr marL="0" indent="0">
              <a:buNone/>
            </a:pPr>
            <a:endParaRPr lang="en-US" sz="1000" dirty="0"/>
          </a:p>
          <a:p>
            <a:pPr marL="0" indent="0">
              <a:buNone/>
            </a:pPr>
            <a:r>
              <a:rPr lang="en-US" sz="2400" dirty="0"/>
              <a:t>But it is no help if keys initially hash the same index</a:t>
            </a:r>
          </a:p>
          <a:p>
            <a:r>
              <a:rPr lang="en-US" sz="2400" dirty="0"/>
              <a:t>Any 2 keys that hash to the same value will have the same series of moves after that</a:t>
            </a:r>
          </a:p>
          <a:p>
            <a:r>
              <a:rPr lang="en-US" sz="2400" dirty="0"/>
              <a:t>Called </a:t>
            </a:r>
            <a:r>
              <a:rPr lang="en-US" sz="2400" i="1" dirty="0">
                <a:solidFill>
                  <a:schemeClr val="accent5">
                    <a:lumMod val="75000"/>
                  </a:schemeClr>
                </a:solidFill>
              </a:rPr>
              <a:t>secondary clustering</a:t>
            </a:r>
          </a:p>
          <a:p>
            <a:pPr marL="0" indent="0">
              <a:buNone/>
            </a:pPr>
            <a:endParaRPr lang="en-US" sz="1000" dirty="0"/>
          </a:p>
          <a:p>
            <a:pPr marL="0" indent="0">
              <a:buNone/>
            </a:pPr>
            <a:r>
              <a:rPr lang="en-US" sz="2400" dirty="0"/>
              <a:t>We can avoid secondary clustering with a probe function that depends on the key: </a:t>
            </a:r>
            <a:r>
              <a:rPr lang="en-US" sz="2400" i="1" dirty="0">
                <a:solidFill>
                  <a:schemeClr val="accent5">
                    <a:lumMod val="75000"/>
                  </a:schemeClr>
                </a:solidFill>
              </a:rPr>
              <a:t>double hashing</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76</a:t>
            </a:fld>
            <a:endParaRPr lang="en-US">
              <a:solidFill>
                <a:srgbClr val="2F1343"/>
              </a:solidFill>
              <a:latin typeface="Verdana"/>
            </a:endParaRPr>
          </a:p>
        </p:txBody>
      </p:sp>
    </p:spTree>
    <p:extLst>
      <p:ext uri="{BB962C8B-B14F-4D97-AF65-F5344CB8AC3E}">
        <p14:creationId xmlns:p14="http://schemas.microsoft.com/office/powerpoint/2010/main" val="2798564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595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595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595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595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Title 1"/>
          <p:cNvSpPr>
            <a:spLocks noGrp="1"/>
          </p:cNvSpPr>
          <p:nvPr>
            <p:ph type="title"/>
            <p:custDataLst>
              <p:tags r:id="rId1"/>
            </p:custDataLst>
          </p:nvPr>
        </p:nvSpPr>
        <p:spPr/>
        <p:txBody>
          <a:bodyPr/>
          <a:lstStyle/>
          <a:p>
            <a:r>
              <a:rPr lang="en-US"/>
              <a:t>Open Addressing: Double Hashing</a:t>
            </a:r>
            <a:endParaRPr lang="en-US" dirty="0"/>
          </a:p>
        </p:txBody>
      </p:sp>
      <p:sp>
        <p:nvSpPr>
          <p:cNvPr id="69634" name="Content Placeholder 2"/>
          <p:cNvSpPr>
            <a:spLocks noGrp="1"/>
          </p:cNvSpPr>
          <p:nvPr>
            <p:ph idx="1"/>
            <p:custDataLst>
              <p:tags r:id="rId2"/>
            </p:custDataLst>
          </p:nvPr>
        </p:nvSpPr>
        <p:spPr/>
        <p:txBody>
          <a:bodyPr>
            <a:normAutofit fontScale="85000" lnSpcReduction="20000"/>
          </a:bodyPr>
          <a:lstStyle/>
          <a:p>
            <a:pPr marL="0" indent="0">
              <a:buNone/>
            </a:pPr>
            <a:r>
              <a:rPr lang="en-US" sz="2400" dirty="0"/>
              <a:t>Idea: 	</a:t>
            </a:r>
          </a:p>
          <a:p>
            <a:pPr marL="338138" indent="0">
              <a:buNone/>
            </a:pPr>
            <a:r>
              <a:rPr lang="en-US" sz="2400" dirty="0"/>
              <a:t>Given two good hash functions h1 and h2, it is very unlikely that for some key, h1(key) == h2(key)</a:t>
            </a:r>
          </a:p>
          <a:p>
            <a:pPr marL="338138" indent="0">
              <a:buNone/>
            </a:pPr>
            <a:r>
              <a:rPr lang="en-US" sz="2400" dirty="0"/>
              <a:t>Why not probe using h2(key)?</a:t>
            </a:r>
          </a:p>
          <a:p>
            <a:pPr marL="0" indent="0">
              <a:buNone/>
            </a:pPr>
            <a:endParaRPr lang="en-US" sz="800" dirty="0"/>
          </a:p>
          <a:p>
            <a:pPr marL="0" indent="0">
              <a:buNone/>
            </a:pPr>
            <a:r>
              <a:rPr lang="en-US" sz="2400" dirty="0"/>
              <a:t>For </a:t>
            </a:r>
            <a:r>
              <a:rPr lang="en-US" sz="2400" dirty="0">
                <a:solidFill>
                  <a:schemeClr val="accent5">
                    <a:lumMod val="75000"/>
                  </a:schemeClr>
                </a:solidFill>
              </a:rPr>
              <a:t>double hashing</a:t>
            </a:r>
            <a:r>
              <a:rPr lang="en-US" sz="2400" dirty="0"/>
              <a:t>, f(</a:t>
            </a:r>
            <a:r>
              <a:rPr lang="en-US" sz="2400" dirty="0" err="1"/>
              <a:t>i</a:t>
            </a:r>
            <a:r>
              <a:rPr lang="en-US" sz="2400" dirty="0"/>
              <a:t>) = </a:t>
            </a:r>
            <a:r>
              <a:rPr lang="en-US" sz="2400" dirty="0" err="1"/>
              <a:t>i</a:t>
            </a:r>
            <a:r>
              <a:rPr lang="en-US" sz="2400" dirty="0"/>
              <a:t> </a:t>
            </a:r>
            <a:r>
              <a:rPr lang="en-US" sz="2400" dirty="0">
                <a:latin typeface="Arial Unicode MS"/>
                <a:ea typeface="Arial Unicode MS"/>
                <a:cs typeface="Arial Unicode MS"/>
              </a:rPr>
              <a:t>⋅ h2(key)</a:t>
            </a:r>
            <a:r>
              <a:rPr lang="en-US" sz="2400" dirty="0"/>
              <a:t>:</a:t>
            </a:r>
          </a:p>
          <a:p>
            <a:pPr marL="463550" indent="0">
              <a:buNone/>
            </a:pPr>
            <a:r>
              <a:rPr lang="en-US" sz="2400" dirty="0"/>
              <a:t>0</a:t>
            </a:r>
            <a:r>
              <a:rPr lang="en-US" sz="2400" baseline="30000" dirty="0"/>
              <a:t>th</a:t>
            </a:r>
            <a:r>
              <a:rPr lang="en-US" sz="2400" dirty="0"/>
              <a:t> probe:	(h1(key) + 0 </a:t>
            </a:r>
            <a:r>
              <a:rPr lang="en-US" sz="2400" dirty="0">
                <a:latin typeface="Arial Unicode MS"/>
                <a:ea typeface="Arial Unicode MS"/>
                <a:cs typeface="Arial Unicode MS"/>
              </a:rPr>
              <a:t>⋅ h2(key)</a:t>
            </a:r>
            <a:r>
              <a:rPr lang="en-US" sz="2400" dirty="0"/>
              <a:t>) % </a:t>
            </a:r>
            <a:r>
              <a:rPr lang="en-US" sz="2400" dirty="0" err="1"/>
              <a:t>TableSize</a:t>
            </a:r>
            <a:endParaRPr lang="en-US" sz="2400" dirty="0"/>
          </a:p>
          <a:p>
            <a:pPr marL="463550" indent="0">
              <a:buNone/>
            </a:pPr>
            <a:r>
              <a:rPr lang="en-US" sz="2400" dirty="0"/>
              <a:t>1</a:t>
            </a:r>
            <a:r>
              <a:rPr lang="en-US" sz="2400" baseline="30000" dirty="0"/>
              <a:t>st</a:t>
            </a:r>
            <a:r>
              <a:rPr lang="en-US" sz="2400" dirty="0"/>
              <a:t> probe:	(h1(key) + 1 </a:t>
            </a:r>
            <a:r>
              <a:rPr lang="en-US" sz="2400" dirty="0">
                <a:latin typeface="Arial Unicode MS"/>
                <a:ea typeface="Arial Unicode MS"/>
                <a:cs typeface="Arial Unicode MS"/>
              </a:rPr>
              <a:t>⋅ h2(key)</a:t>
            </a:r>
            <a:r>
              <a:rPr lang="en-US" sz="2400" dirty="0"/>
              <a:t>) % </a:t>
            </a:r>
            <a:r>
              <a:rPr lang="en-US" sz="2400" dirty="0" err="1"/>
              <a:t>TableSize</a:t>
            </a:r>
            <a:endParaRPr lang="en-US" sz="2400" dirty="0"/>
          </a:p>
          <a:p>
            <a:pPr marL="463550" indent="0">
              <a:buNone/>
            </a:pPr>
            <a:r>
              <a:rPr lang="en-US" sz="2400" dirty="0"/>
              <a:t>2</a:t>
            </a:r>
            <a:r>
              <a:rPr lang="en-US" sz="2400" baseline="30000" dirty="0"/>
              <a:t>nd</a:t>
            </a:r>
            <a:r>
              <a:rPr lang="en-US" sz="2400" dirty="0"/>
              <a:t> probe:	(h1(key) + 2 </a:t>
            </a:r>
            <a:r>
              <a:rPr lang="en-US" sz="2400" dirty="0">
                <a:latin typeface="Arial Unicode MS"/>
                <a:ea typeface="Arial Unicode MS"/>
                <a:cs typeface="Arial Unicode MS"/>
              </a:rPr>
              <a:t>⋅ h2(key)</a:t>
            </a:r>
            <a:r>
              <a:rPr lang="en-US" sz="2400" dirty="0"/>
              <a:t>) % </a:t>
            </a:r>
            <a:r>
              <a:rPr lang="en-US" sz="2400" dirty="0" err="1"/>
              <a:t>TableSize</a:t>
            </a:r>
            <a:endParaRPr lang="en-US" sz="2400" dirty="0"/>
          </a:p>
          <a:p>
            <a:pPr marL="463550" indent="0">
              <a:buNone/>
            </a:pPr>
            <a:r>
              <a:rPr lang="en-US" sz="2400" dirty="0"/>
              <a:t>…</a:t>
            </a:r>
          </a:p>
          <a:p>
            <a:pPr marL="463550" indent="0">
              <a:buNone/>
            </a:pPr>
            <a:r>
              <a:rPr lang="en-US" sz="2400" dirty="0" err="1"/>
              <a:t>i</a:t>
            </a:r>
            <a:r>
              <a:rPr lang="en-US" sz="2400" baseline="30000" dirty="0" err="1"/>
              <a:t>th</a:t>
            </a:r>
            <a:r>
              <a:rPr lang="en-US" sz="2400" dirty="0"/>
              <a:t> probe:	(h1(key) + </a:t>
            </a:r>
            <a:r>
              <a:rPr lang="en-US" sz="2400" dirty="0" err="1"/>
              <a:t>i</a:t>
            </a:r>
            <a:r>
              <a:rPr lang="en-US" sz="2400" dirty="0"/>
              <a:t> </a:t>
            </a:r>
            <a:r>
              <a:rPr lang="en-US" sz="2400" dirty="0">
                <a:latin typeface="Arial Unicode MS"/>
                <a:ea typeface="Arial Unicode MS"/>
                <a:cs typeface="Arial Unicode MS"/>
              </a:rPr>
              <a:t>⋅ h2(key)</a:t>
            </a:r>
            <a:r>
              <a:rPr lang="en-US" sz="2400" dirty="0"/>
              <a:t>) % </a:t>
            </a:r>
            <a:r>
              <a:rPr lang="en-US" sz="2400" dirty="0" err="1"/>
              <a:t>TableSize</a:t>
            </a:r>
            <a:endParaRPr lang="en-US" sz="2400" dirty="0"/>
          </a:p>
          <a:p>
            <a:pPr marL="0" indent="0">
              <a:spcBef>
                <a:spcPts val="150"/>
              </a:spcBef>
              <a:buNone/>
            </a:pPr>
            <a:endParaRPr lang="en-US" sz="800" dirty="0"/>
          </a:p>
          <a:p>
            <a:pPr marL="0" indent="0">
              <a:buNone/>
            </a:pPr>
            <a:r>
              <a:rPr lang="en-US" sz="2400" dirty="0"/>
              <a:t>Crucial Detail: </a:t>
            </a:r>
          </a:p>
          <a:p>
            <a:pPr marL="0" indent="0">
              <a:buNone/>
            </a:pPr>
            <a:r>
              <a:rPr lang="en-US" sz="2400" dirty="0"/>
              <a:t>We must make sure that h2(key) cannot be 0</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77</a:t>
            </a:fld>
            <a:endParaRPr lang="en-US">
              <a:solidFill>
                <a:srgbClr val="2F1343"/>
              </a:solidFill>
              <a:latin typeface="Verdana"/>
            </a:endParaRPr>
          </a:p>
        </p:txBody>
      </p:sp>
    </p:spTree>
    <p:extLst>
      <p:ext uri="{BB962C8B-B14F-4D97-AF65-F5344CB8AC3E}">
        <p14:creationId xmlns:p14="http://schemas.microsoft.com/office/powerpoint/2010/main" val="187317975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1" name="Rectangle 2"/>
          <p:cNvSpPr>
            <a:spLocks noGrp="1" noChangeArrowheads="1"/>
          </p:cNvSpPr>
          <p:nvPr>
            <p:ph type="title"/>
            <p:custDataLst>
              <p:tags r:id="rId1"/>
            </p:custDataLst>
          </p:nvPr>
        </p:nvSpPr>
        <p:spPr>
          <a:xfrm>
            <a:off x="1676400" y="171450"/>
            <a:ext cx="8839200" cy="685800"/>
          </a:xfrm>
        </p:spPr>
        <p:txBody>
          <a:bodyPr/>
          <a:lstStyle/>
          <a:p>
            <a:r>
              <a:rPr lang="en-US" sz="3600" dirty="0"/>
              <a:t>Double Hashing</a:t>
            </a:r>
          </a:p>
        </p:txBody>
      </p:sp>
      <p:sp>
        <p:nvSpPr>
          <p:cNvPr id="130086" name="Text Box 49"/>
          <p:cNvSpPr txBox="1">
            <a:spLocks noChangeArrowheads="1"/>
          </p:cNvSpPr>
          <p:nvPr>
            <p:custDataLst>
              <p:tags r:id="rId2"/>
            </p:custDataLst>
          </p:nvPr>
        </p:nvSpPr>
        <p:spPr bwMode="auto">
          <a:xfrm>
            <a:off x="3736623" y="2849562"/>
            <a:ext cx="6660445" cy="2631490"/>
          </a:xfrm>
          <a:prstGeom prst="rect">
            <a:avLst/>
          </a:prstGeom>
          <a:noFill/>
          <a:ln w="9525">
            <a:noFill/>
            <a:miter lim="800000"/>
            <a:headEnd/>
            <a:tailEnd/>
          </a:ln>
        </p:spPr>
        <p:txBody>
          <a:bodyPr wrap="square">
            <a:spAutoFit/>
          </a:bodyPr>
          <a:lstStyle/>
          <a:p>
            <a:pPr>
              <a:spcBef>
                <a:spcPts val="600"/>
              </a:spcBef>
              <a:defRPr/>
            </a:pPr>
            <a:r>
              <a:rPr lang="en-US" sz="2000" dirty="0">
                <a:solidFill>
                  <a:prstClr val="black"/>
                </a:solidFill>
                <a:latin typeface="Verdana"/>
              </a:rPr>
              <a:t>Insert these values into the hash table in this order.  Resolve any collisions with double hashing:</a:t>
            </a:r>
          </a:p>
          <a:p>
            <a:pPr>
              <a:spcBef>
                <a:spcPts val="600"/>
              </a:spcBef>
              <a:defRPr/>
            </a:pPr>
            <a:r>
              <a:rPr lang="en-US" sz="2000" b="1" dirty="0">
                <a:solidFill>
                  <a:prstClr val="black"/>
                </a:solidFill>
                <a:latin typeface="Verdana"/>
              </a:rPr>
              <a:t>13</a:t>
            </a:r>
          </a:p>
          <a:p>
            <a:pPr>
              <a:spcBef>
                <a:spcPts val="600"/>
              </a:spcBef>
              <a:defRPr/>
            </a:pPr>
            <a:r>
              <a:rPr lang="en-US" sz="2000" dirty="0">
                <a:solidFill>
                  <a:prstClr val="black"/>
                </a:solidFill>
                <a:latin typeface="Verdana"/>
              </a:rPr>
              <a:t>28</a:t>
            </a:r>
          </a:p>
          <a:p>
            <a:pPr>
              <a:spcBef>
                <a:spcPts val="600"/>
              </a:spcBef>
              <a:defRPr/>
            </a:pPr>
            <a:r>
              <a:rPr lang="en-US" sz="2000" dirty="0">
                <a:solidFill>
                  <a:prstClr val="black"/>
                </a:solidFill>
                <a:latin typeface="Verdana"/>
              </a:rPr>
              <a:t>33</a:t>
            </a:r>
          </a:p>
          <a:p>
            <a:pPr>
              <a:spcBef>
                <a:spcPts val="600"/>
              </a:spcBef>
              <a:defRPr/>
            </a:pPr>
            <a:r>
              <a:rPr lang="en-US" sz="2000" dirty="0">
                <a:solidFill>
                  <a:prstClr val="black"/>
                </a:solidFill>
                <a:latin typeface="Verdana"/>
              </a:rPr>
              <a:t>147</a:t>
            </a:r>
          </a:p>
          <a:p>
            <a:pPr>
              <a:spcBef>
                <a:spcPts val="600"/>
              </a:spcBef>
              <a:defRPr/>
            </a:pPr>
            <a:r>
              <a:rPr lang="en-US" sz="2000" dirty="0">
                <a:solidFill>
                  <a:prstClr val="black"/>
                </a:solidFill>
                <a:latin typeface="Verdana"/>
              </a:rPr>
              <a:t>43</a:t>
            </a:r>
          </a:p>
        </p:txBody>
      </p:sp>
      <p:sp>
        <p:nvSpPr>
          <p:cNvPr id="130087" name="Rectangle 50"/>
          <p:cNvSpPr>
            <a:spLocks noGrp="1" noChangeArrowheads="1"/>
          </p:cNvSpPr>
          <p:nvPr>
            <p:ph type="body" idx="1"/>
            <p:custDataLst>
              <p:tags r:id="rId3"/>
            </p:custDataLst>
          </p:nvPr>
        </p:nvSpPr>
        <p:spPr>
          <a:xfrm>
            <a:off x="3736623" y="879651"/>
            <a:ext cx="6395155" cy="1892826"/>
          </a:xfrm>
          <a:ln>
            <a:solidFill>
              <a:schemeClr val="tx1"/>
            </a:solidFill>
          </a:ln>
        </p:spPr>
        <p:txBody>
          <a:bodyPr vert="horz" wrap="square" lIns="91440" tIns="91440" rIns="91440" bIns="91440" rtlCol="0">
            <a:spAutoFit/>
          </a:bodyPr>
          <a:lstStyle/>
          <a:p>
            <a:pPr>
              <a:lnSpc>
                <a:spcPct val="120000"/>
              </a:lnSpc>
              <a:spcBef>
                <a:spcPts val="600"/>
              </a:spcBef>
              <a:buNone/>
            </a:pPr>
            <a:r>
              <a:rPr lang="en-US" sz="2000" dirty="0"/>
              <a:t>T = 10 (</a:t>
            </a:r>
            <a:r>
              <a:rPr lang="en-US" sz="2000" dirty="0" err="1"/>
              <a:t>TableSize</a:t>
            </a:r>
            <a:r>
              <a:rPr lang="en-US" sz="2000" dirty="0"/>
              <a:t>)</a:t>
            </a:r>
          </a:p>
          <a:p>
            <a:pPr>
              <a:lnSpc>
                <a:spcPct val="120000"/>
              </a:lnSpc>
              <a:spcBef>
                <a:spcPts val="600"/>
              </a:spcBef>
              <a:buNone/>
            </a:pPr>
            <a:r>
              <a:rPr lang="en-US" sz="2000" u="sng" dirty="0"/>
              <a:t>Hash Functions</a:t>
            </a:r>
            <a:r>
              <a:rPr lang="en-US" sz="2000" dirty="0"/>
              <a:t>:</a:t>
            </a:r>
          </a:p>
          <a:p>
            <a:pPr>
              <a:lnSpc>
                <a:spcPct val="120000"/>
              </a:lnSpc>
              <a:spcBef>
                <a:spcPts val="600"/>
              </a:spcBef>
              <a:buNone/>
            </a:pPr>
            <a:r>
              <a:rPr lang="en-US" sz="2000" dirty="0"/>
              <a:t>   h1(key) = key mod T</a:t>
            </a:r>
          </a:p>
          <a:p>
            <a:pPr>
              <a:lnSpc>
                <a:spcPct val="120000"/>
              </a:lnSpc>
              <a:spcBef>
                <a:spcPts val="600"/>
              </a:spcBef>
              <a:buNone/>
            </a:pPr>
            <a:r>
              <a:rPr lang="en-US" sz="2000" dirty="0"/>
              <a:t>   h2(key) = 1 + ((key/T) mod (T-1))   </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78</a:t>
            </a:fld>
            <a:endParaRPr lang="en-US">
              <a:solidFill>
                <a:srgbClr val="2F1343"/>
              </a:solidFill>
              <a:latin typeface="Verdana"/>
            </a:endParaRPr>
          </a:p>
        </p:txBody>
      </p:sp>
      <p:graphicFrame>
        <p:nvGraphicFramePr>
          <p:cNvPr id="9" name="Group 64"/>
          <p:cNvGraphicFramePr>
            <a:graphicFrameLocks noGrp="1"/>
          </p:cNvGraphicFramePr>
          <p:nvPr>
            <p:custDataLst>
              <p:tags r:id="rId4"/>
            </p:custDataLst>
          </p:nvPr>
        </p:nvGraphicFramePr>
        <p:xfrm>
          <a:off x="2133600" y="1447800"/>
          <a:ext cx="1219200" cy="3810000"/>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9534512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1" name="Rectangle 2"/>
          <p:cNvSpPr>
            <a:spLocks noGrp="1" noChangeArrowheads="1"/>
          </p:cNvSpPr>
          <p:nvPr>
            <p:ph type="title"/>
            <p:custDataLst>
              <p:tags r:id="rId1"/>
            </p:custDataLst>
          </p:nvPr>
        </p:nvSpPr>
        <p:spPr>
          <a:xfrm>
            <a:off x="1676400" y="171450"/>
            <a:ext cx="8839200" cy="685800"/>
          </a:xfrm>
        </p:spPr>
        <p:txBody>
          <a:bodyPr/>
          <a:lstStyle/>
          <a:p>
            <a:r>
              <a:rPr lang="en-US" sz="3600" dirty="0"/>
              <a:t>Double Hashing</a:t>
            </a:r>
          </a:p>
        </p:txBody>
      </p:sp>
      <p:sp>
        <p:nvSpPr>
          <p:cNvPr id="130086" name="Text Box 49"/>
          <p:cNvSpPr txBox="1">
            <a:spLocks noChangeArrowheads="1"/>
          </p:cNvSpPr>
          <p:nvPr>
            <p:custDataLst>
              <p:tags r:id="rId2"/>
            </p:custDataLst>
          </p:nvPr>
        </p:nvSpPr>
        <p:spPr bwMode="auto">
          <a:xfrm>
            <a:off x="3736623" y="2849562"/>
            <a:ext cx="6660445" cy="2631490"/>
          </a:xfrm>
          <a:prstGeom prst="rect">
            <a:avLst/>
          </a:prstGeom>
          <a:noFill/>
          <a:ln w="9525">
            <a:noFill/>
            <a:miter lim="800000"/>
            <a:headEnd/>
            <a:tailEnd/>
          </a:ln>
        </p:spPr>
        <p:txBody>
          <a:bodyPr wrap="square">
            <a:spAutoFit/>
          </a:bodyPr>
          <a:lstStyle/>
          <a:p>
            <a:pPr>
              <a:spcBef>
                <a:spcPts val="600"/>
              </a:spcBef>
              <a:defRPr/>
            </a:pPr>
            <a:r>
              <a:rPr lang="en-US" sz="2000" dirty="0">
                <a:solidFill>
                  <a:prstClr val="black"/>
                </a:solidFill>
                <a:latin typeface="Verdana"/>
              </a:rPr>
              <a:t>Insert these values into the hash table in this order.  Resolve any collisions with double hashing:</a:t>
            </a:r>
          </a:p>
          <a:p>
            <a:pPr>
              <a:spcBef>
                <a:spcPts val="600"/>
              </a:spcBef>
              <a:defRPr/>
            </a:pPr>
            <a:r>
              <a:rPr lang="en-US" sz="2000" dirty="0">
                <a:solidFill>
                  <a:prstClr val="black"/>
                </a:solidFill>
                <a:latin typeface="Verdana"/>
              </a:rPr>
              <a:t>13</a:t>
            </a:r>
          </a:p>
          <a:p>
            <a:pPr>
              <a:spcBef>
                <a:spcPts val="600"/>
              </a:spcBef>
              <a:defRPr/>
            </a:pPr>
            <a:r>
              <a:rPr lang="en-US" sz="2000" b="1" dirty="0">
                <a:solidFill>
                  <a:prstClr val="black"/>
                </a:solidFill>
                <a:latin typeface="Verdana"/>
              </a:rPr>
              <a:t>28</a:t>
            </a:r>
          </a:p>
          <a:p>
            <a:pPr>
              <a:spcBef>
                <a:spcPts val="600"/>
              </a:spcBef>
              <a:defRPr/>
            </a:pPr>
            <a:r>
              <a:rPr lang="en-US" sz="2000" dirty="0">
                <a:solidFill>
                  <a:prstClr val="black"/>
                </a:solidFill>
                <a:latin typeface="Verdana"/>
              </a:rPr>
              <a:t>33</a:t>
            </a:r>
          </a:p>
          <a:p>
            <a:pPr>
              <a:spcBef>
                <a:spcPts val="600"/>
              </a:spcBef>
              <a:defRPr/>
            </a:pPr>
            <a:r>
              <a:rPr lang="en-US" sz="2000" dirty="0">
                <a:solidFill>
                  <a:prstClr val="black"/>
                </a:solidFill>
                <a:latin typeface="Verdana"/>
              </a:rPr>
              <a:t>147</a:t>
            </a:r>
          </a:p>
          <a:p>
            <a:pPr>
              <a:spcBef>
                <a:spcPts val="600"/>
              </a:spcBef>
              <a:defRPr/>
            </a:pPr>
            <a:r>
              <a:rPr lang="en-US" sz="2000" dirty="0">
                <a:solidFill>
                  <a:prstClr val="black"/>
                </a:solidFill>
                <a:latin typeface="Verdana"/>
              </a:rPr>
              <a:t>43</a:t>
            </a:r>
          </a:p>
        </p:txBody>
      </p:sp>
      <p:sp>
        <p:nvSpPr>
          <p:cNvPr id="130087" name="Rectangle 50"/>
          <p:cNvSpPr>
            <a:spLocks noGrp="1" noChangeArrowheads="1"/>
          </p:cNvSpPr>
          <p:nvPr>
            <p:ph type="body" idx="1"/>
            <p:custDataLst>
              <p:tags r:id="rId3"/>
            </p:custDataLst>
          </p:nvPr>
        </p:nvSpPr>
        <p:spPr>
          <a:xfrm>
            <a:off x="3736623" y="879651"/>
            <a:ext cx="6395155" cy="1892826"/>
          </a:xfrm>
          <a:ln>
            <a:solidFill>
              <a:schemeClr val="tx1"/>
            </a:solidFill>
          </a:ln>
        </p:spPr>
        <p:txBody>
          <a:bodyPr vert="horz" wrap="square" lIns="91440" tIns="91440" rIns="91440" bIns="91440" rtlCol="0">
            <a:spAutoFit/>
          </a:bodyPr>
          <a:lstStyle/>
          <a:p>
            <a:pPr>
              <a:lnSpc>
                <a:spcPct val="120000"/>
              </a:lnSpc>
              <a:spcBef>
                <a:spcPts val="600"/>
              </a:spcBef>
              <a:buNone/>
            </a:pPr>
            <a:r>
              <a:rPr lang="en-US" sz="2000" dirty="0"/>
              <a:t>T = 10 (</a:t>
            </a:r>
            <a:r>
              <a:rPr lang="en-US" sz="2000" dirty="0" err="1"/>
              <a:t>TableSize</a:t>
            </a:r>
            <a:r>
              <a:rPr lang="en-US" sz="2000" dirty="0"/>
              <a:t>)</a:t>
            </a:r>
          </a:p>
          <a:p>
            <a:pPr>
              <a:lnSpc>
                <a:spcPct val="120000"/>
              </a:lnSpc>
              <a:spcBef>
                <a:spcPts val="600"/>
              </a:spcBef>
              <a:buNone/>
            </a:pPr>
            <a:r>
              <a:rPr lang="en-US" sz="2000" u="sng" dirty="0"/>
              <a:t>Hash Functions</a:t>
            </a:r>
            <a:r>
              <a:rPr lang="en-US" sz="2000" dirty="0"/>
              <a:t>:</a:t>
            </a:r>
          </a:p>
          <a:p>
            <a:pPr>
              <a:lnSpc>
                <a:spcPct val="120000"/>
              </a:lnSpc>
              <a:spcBef>
                <a:spcPts val="600"/>
              </a:spcBef>
              <a:buNone/>
            </a:pPr>
            <a:r>
              <a:rPr lang="en-US" sz="2000" dirty="0"/>
              <a:t>   h1(key) = key mod T</a:t>
            </a:r>
          </a:p>
          <a:p>
            <a:pPr>
              <a:lnSpc>
                <a:spcPct val="120000"/>
              </a:lnSpc>
              <a:spcBef>
                <a:spcPts val="600"/>
              </a:spcBef>
              <a:buNone/>
            </a:pPr>
            <a:r>
              <a:rPr lang="en-US" sz="2000" dirty="0"/>
              <a:t>   h2(key) = 1 + ((key/T) mod (T-1))   </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79</a:t>
            </a:fld>
            <a:endParaRPr lang="en-US">
              <a:solidFill>
                <a:srgbClr val="2F1343"/>
              </a:solidFill>
              <a:latin typeface="Verdana"/>
            </a:endParaRPr>
          </a:p>
        </p:txBody>
      </p:sp>
      <p:graphicFrame>
        <p:nvGraphicFramePr>
          <p:cNvPr id="9" name="Group 64"/>
          <p:cNvGraphicFramePr>
            <a:graphicFrameLocks noGrp="1"/>
          </p:cNvGraphicFramePr>
          <p:nvPr>
            <p:custDataLst>
              <p:tags r:id="rId4"/>
            </p:custDataLst>
          </p:nvPr>
        </p:nvGraphicFramePr>
        <p:xfrm>
          <a:off x="2133600" y="1447800"/>
          <a:ext cx="1219200" cy="3810000"/>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50000"/>
                              <a:lumOff val="50000"/>
                            </a:schemeClr>
                          </a:solidFill>
                          <a:effectLst/>
                          <a:latin typeface="+mj-lt"/>
                        </a:rPr>
                        <a:t>13</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78035294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1" name="Rectangle 2"/>
          <p:cNvSpPr>
            <a:spLocks noGrp="1" noChangeArrowheads="1"/>
          </p:cNvSpPr>
          <p:nvPr>
            <p:ph type="title"/>
            <p:custDataLst>
              <p:tags r:id="rId1"/>
            </p:custDataLst>
          </p:nvPr>
        </p:nvSpPr>
        <p:spPr>
          <a:xfrm>
            <a:off x="1676400" y="171450"/>
            <a:ext cx="8839200" cy="685800"/>
          </a:xfrm>
        </p:spPr>
        <p:txBody>
          <a:bodyPr/>
          <a:lstStyle/>
          <a:p>
            <a:r>
              <a:rPr lang="en-US" sz="3600" dirty="0"/>
              <a:t>Double Hashing</a:t>
            </a:r>
          </a:p>
        </p:txBody>
      </p:sp>
      <p:sp>
        <p:nvSpPr>
          <p:cNvPr id="130086" name="Text Box 49"/>
          <p:cNvSpPr txBox="1">
            <a:spLocks noChangeArrowheads="1"/>
          </p:cNvSpPr>
          <p:nvPr>
            <p:custDataLst>
              <p:tags r:id="rId2"/>
            </p:custDataLst>
          </p:nvPr>
        </p:nvSpPr>
        <p:spPr bwMode="auto">
          <a:xfrm>
            <a:off x="3736623" y="2849562"/>
            <a:ext cx="6660445" cy="2631490"/>
          </a:xfrm>
          <a:prstGeom prst="rect">
            <a:avLst/>
          </a:prstGeom>
          <a:noFill/>
          <a:ln w="9525">
            <a:noFill/>
            <a:miter lim="800000"/>
            <a:headEnd/>
            <a:tailEnd/>
          </a:ln>
        </p:spPr>
        <p:txBody>
          <a:bodyPr wrap="square">
            <a:spAutoFit/>
          </a:bodyPr>
          <a:lstStyle/>
          <a:p>
            <a:pPr>
              <a:spcBef>
                <a:spcPts val="600"/>
              </a:spcBef>
              <a:defRPr/>
            </a:pPr>
            <a:r>
              <a:rPr lang="en-US" sz="2000" dirty="0">
                <a:solidFill>
                  <a:prstClr val="black"/>
                </a:solidFill>
                <a:latin typeface="Verdana"/>
              </a:rPr>
              <a:t>Insert these values into the hash table in this order. Resolve any collisions with double hashing:</a:t>
            </a:r>
          </a:p>
          <a:p>
            <a:pPr>
              <a:spcBef>
                <a:spcPts val="600"/>
              </a:spcBef>
              <a:defRPr/>
            </a:pPr>
            <a:r>
              <a:rPr lang="en-US" sz="2000" dirty="0">
                <a:solidFill>
                  <a:prstClr val="black"/>
                </a:solidFill>
                <a:latin typeface="Verdana"/>
              </a:rPr>
              <a:t>13</a:t>
            </a:r>
          </a:p>
          <a:p>
            <a:pPr>
              <a:spcBef>
                <a:spcPts val="600"/>
              </a:spcBef>
              <a:defRPr/>
            </a:pPr>
            <a:r>
              <a:rPr lang="en-US" sz="2000" dirty="0">
                <a:solidFill>
                  <a:prstClr val="black"/>
                </a:solidFill>
                <a:latin typeface="Verdana"/>
              </a:rPr>
              <a:t>28</a:t>
            </a:r>
          </a:p>
          <a:p>
            <a:pPr>
              <a:spcBef>
                <a:spcPts val="600"/>
              </a:spcBef>
              <a:defRPr/>
            </a:pPr>
            <a:r>
              <a:rPr lang="en-US" sz="2000" b="1" dirty="0">
                <a:solidFill>
                  <a:prstClr val="black"/>
                </a:solidFill>
                <a:latin typeface="Verdana"/>
              </a:rPr>
              <a:t>33</a:t>
            </a:r>
          </a:p>
          <a:p>
            <a:pPr>
              <a:spcBef>
                <a:spcPts val="600"/>
              </a:spcBef>
              <a:defRPr/>
            </a:pPr>
            <a:r>
              <a:rPr lang="en-US" sz="2000" dirty="0">
                <a:solidFill>
                  <a:prstClr val="black"/>
                </a:solidFill>
                <a:latin typeface="Verdana"/>
              </a:rPr>
              <a:t>147</a:t>
            </a:r>
          </a:p>
          <a:p>
            <a:pPr>
              <a:spcBef>
                <a:spcPts val="600"/>
              </a:spcBef>
              <a:defRPr/>
            </a:pPr>
            <a:r>
              <a:rPr lang="en-US" sz="2000" dirty="0">
                <a:solidFill>
                  <a:prstClr val="black"/>
                </a:solidFill>
                <a:latin typeface="Verdana"/>
              </a:rPr>
              <a:t>43</a:t>
            </a:r>
          </a:p>
        </p:txBody>
      </p:sp>
      <p:sp>
        <p:nvSpPr>
          <p:cNvPr id="130087" name="Rectangle 50"/>
          <p:cNvSpPr>
            <a:spLocks noGrp="1" noChangeArrowheads="1"/>
          </p:cNvSpPr>
          <p:nvPr>
            <p:ph type="body" idx="1"/>
            <p:custDataLst>
              <p:tags r:id="rId3"/>
            </p:custDataLst>
          </p:nvPr>
        </p:nvSpPr>
        <p:spPr>
          <a:xfrm>
            <a:off x="3736623" y="879651"/>
            <a:ext cx="6395155" cy="1892826"/>
          </a:xfrm>
          <a:ln>
            <a:solidFill>
              <a:schemeClr val="tx1"/>
            </a:solidFill>
          </a:ln>
        </p:spPr>
        <p:txBody>
          <a:bodyPr vert="horz" wrap="square" lIns="91440" tIns="91440" rIns="91440" bIns="91440" rtlCol="0">
            <a:spAutoFit/>
          </a:bodyPr>
          <a:lstStyle/>
          <a:p>
            <a:pPr>
              <a:lnSpc>
                <a:spcPct val="120000"/>
              </a:lnSpc>
              <a:spcBef>
                <a:spcPts val="600"/>
              </a:spcBef>
              <a:buNone/>
            </a:pPr>
            <a:r>
              <a:rPr lang="en-US" sz="2000" dirty="0"/>
              <a:t>T = 10 (</a:t>
            </a:r>
            <a:r>
              <a:rPr lang="en-US" sz="2000" dirty="0" err="1"/>
              <a:t>TableSize</a:t>
            </a:r>
            <a:r>
              <a:rPr lang="en-US" sz="2000" dirty="0"/>
              <a:t>)</a:t>
            </a:r>
          </a:p>
          <a:p>
            <a:pPr>
              <a:lnSpc>
                <a:spcPct val="120000"/>
              </a:lnSpc>
              <a:spcBef>
                <a:spcPts val="600"/>
              </a:spcBef>
              <a:buNone/>
            </a:pPr>
            <a:r>
              <a:rPr lang="en-US" sz="2000" u="sng" dirty="0"/>
              <a:t>Hash Functions</a:t>
            </a:r>
            <a:r>
              <a:rPr lang="en-US" sz="2000" dirty="0"/>
              <a:t>:</a:t>
            </a:r>
          </a:p>
          <a:p>
            <a:pPr>
              <a:lnSpc>
                <a:spcPct val="120000"/>
              </a:lnSpc>
              <a:spcBef>
                <a:spcPts val="600"/>
              </a:spcBef>
              <a:buNone/>
            </a:pPr>
            <a:r>
              <a:rPr lang="en-US" sz="2000" dirty="0"/>
              <a:t>   h1(key) = key mod T</a:t>
            </a:r>
          </a:p>
          <a:p>
            <a:pPr>
              <a:lnSpc>
                <a:spcPct val="120000"/>
              </a:lnSpc>
              <a:spcBef>
                <a:spcPts val="600"/>
              </a:spcBef>
              <a:buNone/>
            </a:pPr>
            <a:r>
              <a:rPr lang="en-US" sz="2000" dirty="0"/>
              <a:t>   h2(key) = 1 + ((key/T) mod (T-1))   </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80</a:t>
            </a:fld>
            <a:endParaRPr lang="en-US">
              <a:solidFill>
                <a:srgbClr val="2F1343"/>
              </a:solidFill>
              <a:latin typeface="Verdana"/>
            </a:endParaRPr>
          </a:p>
        </p:txBody>
      </p:sp>
      <p:graphicFrame>
        <p:nvGraphicFramePr>
          <p:cNvPr id="9" name="Group 64"/>
          <p:cNvGraphicFramePr>
            <a:graphicFrameLocks noGrp="1"/>
          </p:cNvGraphicFramePr>
          <p:nvPr>
            <p:custDataLst>
              <p:tags r:id="rId4"/>
            </p:custDataLst>
          </p:nvPr>
        </p:nvGraphicFramePr>
        <p:xfrm>
          <a:off x="2133600" y="1447800"/>
          <a:ext cx="1219200" cy="3810000"/>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13</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50000"/>
                              <a:lumOff val="50000"/>
                            </a:schemeClr>
                          </a:solidFill>
                          <a:effectLst/>
                          <a:latin typeface="+mj-lt"/>
                        </a:rPr>
                        <a:t>28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41228640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1" name="Rectangle 2"/>
          <p:cNvSpPr>
            <a:spLocks noGrp="1" noChangeArrowheads="1"/>
          </p:cNvSpPr>
          <p:nvPr>
            <p:ph type="title"/>
            <p:custDataLst>
              <p:tags r:id="rId1"/>
            </p:custDataLst>
          </p:nvPr>
        </p:nvSpPr>
        <p:spPr>
          <a:xfrm>
            <a:off x="1676400" y="171450"/>
            <a:ext cx="8839200" cy="685800"/>
          </a:xfrm>
        </p:spPr>
        <p:txBody>
          <a:bodyPr/>
          <a:lstStyle/>
          <a:p>
            <a:r>
              <a:rPr lang="en-US" sz="3600" dirty="0"/>
              <a:t>Double Hashing</a:t>
            </a:r>
          </a:p>
        </p:txBody>
      </p:sp>
      <p:sp>
        <p:nvSpPr>
          <p:cNvPr id="130086" name="Text Box 49"/>
          <p:cNvSpPr txBox="1">
            <a:spLocks noChangeArrowheads="1"/>
          </p:cNvSpPr>
          <p:nvPr>
            <p:custDataLst>
              <p:tags r:id="rId2"/>
            </p:custDataLst>
          </p:nvPr>
        </p:nvSpPr>
        <p:spPr bwMode="auto">
          <a:xfrm>
            <a:off x="3736623" y="2849562"/>
            <a:ext cx="6660445" cy="2631490"/>
          </a:xfrm>
          <a:prstGeom prst="rect">
            <a:avLst/>
          </a:prstGeom>
          <a:noFill/>
          <a:ln w="9525">
            <a:noFill/>
            <a:miter lim="800000"/>
            <a:headEnd/>
            <a:tailEnd/>
          </a:ln>
        </p:spPr>
        <p:txBody>
          <a:bodyPr wrap="square">
            <a:spAutoFit/>
          </a:bodyPr>
          <a:lstStyle/>
          <a:p>
            <a:pPr>
              <a:spcBef>
                <a:spcPts val="600"/>
              </a:spcBef>
              <a:tabLst>
                <a:tab pos="395288" algn="l"/>
                <a:tab pos="744538" algn="l"/>
              </a:tabLst>
              <a:defRPr/>
            </a:pPr>
            <a:r>
              <a:rPr lang="en-US" sz="2000" dirty="0">
                <a:solidFill>
                  <a:prstClr val="black"/>
                </a:solidFill>
                <a:latin typeface="Verdana"/>
              </a:rPr>
              <a:t>Insert these values into the hash table in this order. Resolve any collisions with double hashing:</a:t>
            </a:r>
          </a:p>
          <a:p>
            <a:pPr>
              <a:spcBef>
                <a:spcPts val="600"/>
              </a:spcBef>
              <a:tabLst>
                <a:tab pos="395288" algn="l"/>
                <a:tab pos="744538" algn="l"/>
              </a:tabLst>
              <a:defRPr/>
            </a:pPr>
            <a:r>
              <a:rPr lang="en-US" sz="2000" dirty="0">
                <a:solidFill>
                  <a:prstClr val="black"/>
                </a:solidFill>
                <a:latin typeface="Verdana"/>
              </a:rPr>
              <a:t>13</a:t>
            </a:r>
          </a:p>
          <a:p>
            <a:pPr>
              <a:spcBef>
                <a:spcPts val="600"/>
              </a:spcBef>
              <a:tabLst>
                <a:tab pos="395288" algn="l"/>
                <a:tab pos="744538" algn="l"/>
              </a:tabLst>
              <a:defRPr/>
            </a:pPr>
            <a:r>
              <a:rPr lang="en-US" sz="2000" dirty="0">
                <a:solidFill>
                  <a:prstClr val="black"/>
                </a:solidFill>
                <a:latin typeface="Verdana"/>
              </a:rPr>
              <a:t>28</a:t>
            </a:r>
          </a:p>
          <a:p>
            <a:pPr>
              <a:spcBef>
                <a:spcPts val="600"/>
              </a:spcBef>
              <a:tabLst>
                <a:tab pos="395288" algn="l"/>
                <a:tab pos="744538" algn="l"/>
              </a:tabLst>
              <a:defRPr/>
            </a:pPr>
            <a:r>
              <a:rPr lang="en-US" sz="2000" dirty="0">
                <a:solidFill>
                  <a:prstClr val="black"/>
                </a:solidFill>
                <a:latin typeface="Verdana"/>
              </a:rPr>
              <a:t>33</a:t>
            </a:r>
            <a:r>
              <a:rPr lang="en-US" sz="2000" b="1" dirty="0">
                <a:solidFill>
                  <a:prstClr val="black"/>
                </a:solidFill>
                <a:latin typeface="Verdana"/>
              </a:rPr>
              <a:t> </a:t>
            </a:r>
            <a:r>
              <a:rPr lang="en-US" sz="2000" dirty="0">
                <a:solidFill>
                  <a:prstClr val="black"/>
                </a:solidFill>
                <a:latin typeface="Verdana"/>
                <a:sym typeface="Wingdings" pitchFamily="2" charset="2"/>
              </a:rPr>
              <a:t></a:t>
            </a:r>
            <a:r>
              <a:rPr lang="en-US" sz="2000" b="1" dirty="0">
                <a:solidFill>
                  <a:prstClr val="black"/>
                </a:solidFill>
                <a:latin typeface="Verdana"/>
                <a:sym typeface="Wingdings" pitchFamily="2" charset="2"/>
              </a:rPr>
              <a:t>	</a:t>
            </a:r>
            <a:r>
              <a:rPr lang="en-US" sz="2000" dirty="0">
                <a:solidFill>
                  <a:prstClr val="black"/>
                </a:solidFill>
                <a:latin typeface="Verdana"/>
              </a:rPr>
              <a:t>g(33) = 1 + 3 mod 9 = 4</a:t>
            </a:r>
            <a:endParaRPr lang="en-US" sz="2000" b="1" dirty="0">
              <a:solidFill>
                <a:prstClr val="black"/>
              </a:solidFill>
              <a:latin typeface="Verdana"/>
            </a:endParaRPr>
          </a:p>
          <a:p>
            <a:pPr>
              <a:spcBef>
                <a:spcPts val="600"/>
              </a:spcBef>
              <a:tabLst>
                <a:tab pos="395288" algn="l"/>
                <a:tab pos="744538" algn="l"/>
              </a:tabLst>
              <a:defRPr/>
            </a:pPr>
            <a:r>
              <a:rPr lang="en-US" sz="2000" b="1" dirty="0">
                <a:solidFill>
                  <a:prstClr val="black"/>
                </a:solidFill>
                <a:latin typeface="Verdana"/>
              </a:rPr>
              <a:t>147	</a:t>
            </a:r>
          </a:p>
          <a:p>
            <a:pPr>
              <a:spcBef>
                <a:spcPts val="600"/>
              </a:spcBef>
              <a:tabLst>
                <a:tab pos="395288" algn="l"/>
                <a:tab pos="744538" algn="l"/>
              </a:tabLst>
              <a:defRPr/>
            </a:pPr>
            <a:r>
              <a:rPr lang="en-US" sz="2000" dirty="0">
                <a:solidFill>
                  <a:prstClr val="black"/>
                </a:solidFill>
                <a:latin typeface="Verdana"/>
              </a:rPr>
              <a:t>43</a:t>
            </a:r>
          </a:p>
        </p:txBody>
      </p:sp>
      <p:sp>
        <p:nvSpPr>
          <p:cNvPr id="130087" name="Rectangle 50"/>
          <p:cNvSpPr>
            <a:spLocks noGrp="1" noChangeArrowheads="1"/>
          </p:cNvSpPr>
          <p:nvPr>
            <p:ph type="body" idx="1"/>
            <p:custDataLst>
              <p:tags r:id="rId3"/>
            </p:custDataLst>
          </p:nvPr>
        </p:nvSpPr>
        <p:spPr>
          <a:xfrm>
            <a:off x="3736623" y="879651"/>
            <a:ext cx="6395155" cy="1892826"/>
          </a:xfrm>
          <a:ln>
            <a:solidFill>
              <a:schemeClr val="tx1"/>
            </a:solidFill>
          </a:ln>
        </p:spPr>
        <p:txBody>
          <a:bodyPr vert="horz" wrap="square" lIns="91440" tIns="91440" rIns="91440" bIns="91440" rtlCol="0">
            <a:spAutoFit/>
          </a:bodyPr>
          <a:lstStyle/>
          <a:p>
            <a:pPr>
              <a:lnSpc>
                <a:spcPct val="120000"/>
              </a:lnSpc>
              <a:spcBef>
                <a:spcPts val="600"/>
              </a:spcBef>
              <a:buNone/>
            </a:pPr>
            <a:r>
              <a:rPr lang="en-US" sz="2000" dirty="0"/>
              <a:t>T = 10 (</a:t>
            </a:r>
            <a:r>
              <a:rPr lang="en-US" sz="2000" dirty="0" err="1"/>
              <a:t>TableSize</a:t>
            </a:r>
            <a:r>
              <a:rPr lang="en-US" sz="2000" dirty="0"/>
              <a:t>)</a:t>
            </a:r>
          </a:p>
          <a:p>
            <a:pPr>
              <a:lnSpc>
                <a:spcPct val="120000"/>
              </a:lnSpc>
              <a:spcBef>
                <a:spcPts val="600"/>
              </a:spcBef>
              <a:buNone/>
            </a:pPr>
            <a:r>
              <a:rPr lang="en-US" sz="2000" u="sng" dirty="0"/>
              <a:t>Hash Functions</a:t>
            </a:r>
            <a:r>
              <a:rPr lang="en-US" sz="2000" dirty="0"/>
              <a:t>:</a:t>
            </a:r>
          </a:p>
          <a:p>
            <a:pPr>
              <a:lnSpc>
                <a:spcPct val="120000"/>
              </a:lnSpc>
              <a:spcBef>
                <a:spcPts val="600"/>
              </a:spcBef>
              <a:buNone/>
            </a:pPr>
            <a:r>
              <a:rPr lang="en-US" sz="2000" dirty="0"/>
              <a:t>   h1(key) = key mod T</a:t>
            </a:r>
          </a:p>
          <a:p>
            <a:pPr>
              <a:lnSpc>
                <a:spcPct val="120000"/>
              </a:lnSpc>
              <a:spcBef>
                <a:spcPts val="600"/>
              </a:spcBef>
              <a:buNone/>
            </a:pPr>
            <a:r>
              <a:rPr lang="en-US" sz="2000" dirty="0"/>
              <a:t>   h2(key) = 1 + ((key/T) mod (T-1))   </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81</a:t>
            </a:fld>
            <a:endParaRPr lang="en-US">
              <a:solidFill>
                <a:srgbClr val="2F1343"/>
              </a:solidFill>
              <a:latin typeface="Verdana"/>
            </a:endParaRPr>
          </a:p>
        </p:txBody>
      </p:sp>
      <p:graphicFrame>
        <p:nvGraphicFramePr>
          <p:cNvPr id="9" name="Group 64"/>
          <p:cNvGraphicFramePr>
            <a:graphicFrameLocks noGrp="1"/>
          </p:cNvGraphicFramePr>
          <p:nvPr>
            <p:custDataLst>
              <p:tags r:id="rId4"/>
            </p:custDataLst>
            <p:extLst>
              <p:ext uri="{D42A27DB-BD31-4B8C-83A1-F6EECF244321}">
                <p14:modId xmlns:p14="http://schemas.microsoft.com/office/powerpoint/2010/main" val="3149902238"/>
              </p:ext>
            </p:extLst>
          </p:nvPr>
        </p:nvGraphicFramePr>
        <p:xfrm>
          <a:off x="2133600" y="1447800"/>
          <a:ext cx="1219200" cy="3810000"/>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13</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50000"/>
                              <a:lumOff val="50000"/>
                            </a:schemeClr>
                          </a:solidFill>
                          <a:effectLst/>
                          <a:latin typeface="+mj-lt"/>
                        </a:rPr>
                        <a:t>33</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5763339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1" name="Rectangle 2"/>
          <p:cNvSpPr>
            <a:spLocks noGrp="1" noChangeArrowheads="1"/>
          </p:cNvSpPr>
          <p:nvPr>
            <p:ph type="title"/>
            <p:custDataLst>
              <p:tags r:id="rId1"/>
            </p:custDataLst>
          </p:nvPr>
        </p:nvSpPr>
        <p:spPr>
          <a:xfrm>
            <a:off x="1676400" y="171450"/>
            <a:ext cx="8839200" cy="685800"/>
          </a:xfrm>
        </p:spPr>
        <p:txBody>
          <a:bodyPr/>
          <a:lstStyle/>
          <a:p>
            <a:r>
              <a:rPr lang="en-US" sz="3600" dirty="0"/>
              <a:t>Double Hashing</a:t>
            </a:r>
          </a:p>
        </p:txBody>
      </p:sp>
      <p:sp>
        <p:nvSpPr>
          <p:cNvPr id="130086" name="Text Box 49"/>
          <p:cNvSpPr txBox="1">
            <a:spLocks noChangeArrowheads="1"/>
          </p:cNvSpPr>
          <p:nvPr>
            <p:custDataLst>
              <p:tags r:id="rId2"/>
            </p:custDataLst>
          </p:nvPr>
        </p:nvSpPr>
        <p:spPr bwMode="auto">
          <a:xfrm>
            <a:off x="3736623" y="2849562"/>
            <a:ext cx="6660445" cy="2631490"/>
          </a:xfrm>
          <a:prstGeom prst="rect">
            <a:avLst/>
          </a:prstGeom>
          <a:noFill/>
          <a:ln w="9525">
            <a:noFill/>
            <a:miter lim="800000"/>
            <a:headEnd/>
            <a:tailEnd/>
          </a:ln>
        </p:spPr>
        <p:txBody>
          <a:bodyPr wrap="square">
            <a:spAutoFit/>
          </a:bodyPr>
          <a:lstStyle/>
          <a:p>
            <a:pPr>
              <a:spcBef>
                <a:spcPts val="600"/>
              </a:spcBef>
              <a:tabLst>
                <a:tab pos="395288" algn="l"/>
                <a:tab pos="744538" algn="l"/>
              </a:tabLst>
              <a:defRPr/>
            </a:pPr>
            <a:r>
              <a:rPr lang="en-US" sz="2000" dirty="0">
                <a:solidFill>
                  <a:prstClr val="black"/>
                </a:solidFill>
                <a:latin typeface="Verdana"/>
              </a:rPr>
              <a:t>Insert these values into the hash table in this order.  Resolve any collisions with double hashing:</a:t>
            </a:r>
          </a:p>
          <a:p>
            <a:pPr>
              <a:spcBef>
                <a:spcPts val="600"/>
              </a:spcBef>
              <a:tabLst>
                <a:tab pos="395288" algn="l"/>
                <a:tab pos="744538" algn="l"/>
              </a:tabLst>
              <a:defRPr/>
            </a:pPr>
            <a:r>
              <a:rPr lang="en-US" sz="2000" dirty="0">
                <a:solidFill>
                  <a:prstClr val="black"/>
                </a:solidFill>
                <a:latin typeface="Verdana"/>
              </a:rPr>
              <a:t>13</a:t>
            </a:r>
          </a:p>
          <a:p>
            <a:pPr>
              <a:spcBef>
                <a:spcPts val="600"/>
              </a:spcBef>
              <a:tabLst>
                <a:tab pos="395288" algn="l"/>
                <a:tab pos="744538" algn="l"/>
              </a:tabLst>
              <a:defRPr/>
            </a:pPr>
            <a:r>
              <a:rPr lang="en-US" sz="2000" dirty="0">
                <a:solidFill>
                  <a:prstClr val="black"/>
                </a:solidFill>
                <a:latin typeface="Verdana"/>
              </a:rPr>
              <a:t>28</a:t>
            </a:r>
          </a:p>
          <a:p>
            <a:pPr>
              <a:spcBef>
                <a:spcPts val="600"/>
              </a:spcBef>
              <a:tabLst>
                <a:tab pos="395288" algn="l"/>
                <a:tab pos="744538" algn="l"/>
              </a:tabLst>
              <a:defRPr/>
            </a:pPr>
            <a:r>
              <a:rPr lang="en-US" sz="2000" dirty="0">
                <a:solidFill>
                  <a:prstClr val="black"/>
                </a:solidFill>
                <a:latin typeface="Verdana"/>
              </a:rPr>
              <a:t>33</a:t>
            </a:r>
            <a:r>
              <a:rPr lang="en-US" sz="2000" b="1" dirty="0">
                <a:solidFill>
                  <a:prstClr val="black"/>
                </a:solidFill>
                <a:latin typeface="Verdana"/>
              </a:rPr>
              <a:t> </a:t>
            </a:r>
          </a:p>
          <a:p>
            <a:pPr>
              <a:spcBef>
                <a:spcPts val="600"/>
              </a:spcBef>
              <a:tabLst>
                <a:tab pos="631825" algn="l"/>
                <a:tab pos="971550" algn="l"/>
              </a:tabLst>
              <a:defRPr/>
            </a:pPr>
            <a:r>
              <a:rPr lang="en-US" sz="2000" dirty="0">
                <a:solidFill>
                  <a:prstClr val="black"/>
                </a:solidFill>
                <a:latin typeface="Verdana"/>
              </a:rPr>
              <a:t>147</a:t>
            </a:r>
            <a:r>
              <a:rPr lang="en-US" sz="2000" b="1" dirty="0">
                <a:solidFill>
                  <a:prstClr val="black"/>
                </a:solidFill>
                <a:latin typeface="Verdana"/>
              </a:rPr>
              <a:t>	</a:t>
            </a:r>
            <a:r>
              <a:rPr lang="en-US" sz="2000" dirty="0">
                <a:solidFill>
                  <a:prstClr val="black"/>
                </a:solidFill>
                <a:latin typeface="Verdana"/>
                <a:sym typeface="Wingdings" pitchFamily="2" charset="2"/>
              </a:rPr>
              <a:t></a:t>
            </a:r>
            <a:r>
              <a:rPr lang="en-US" sz="2000" b="1" dirty="0">
                <a:solidFill>
                  <a:prstClr val="black"/>
                </a:solidFill>
                <a:latin typeface="Verdana"/>
                <a:sym typeface="Wingdings" pitchFamily="2" charset="2"/>
              </a:rPr>
              <a:t>	</a:t>
            </a:r>
            <a:r>
              <a:rPr lang="en-US" sz="2000" dirty="0">
                <a:solidFill>
                  <a:prstClr val="black"/>
                </a:solidFill>
                <a:latin typeface="Verdana"/>
              </a:rPr>
              <a:t>g(147) = 1 + 14 mod 9 = 6</a:t>
            </a:r>
            <a:endParaRPr lang="en-US" sz="2000" b="1" dirty="0">
              <a:solidFill>
                <a:prstClr val="black"/>
              </a:solidFill>
              <a:latin typeface="Verdana"/>
            </a:endParaRPr>
          </a:p>
          <a:p>
            <a:pPr>
              <a:spcBef>
                <a:spcPts val="600"/>
              </a:spcBef>
              <a:tabLst>
                <a:tab pos="395288" algn="l"/>
                <a:tab pos="744538" algn="l"/>
              </a:tabLst>
              <a:defRPr/>
            </a:pPr>
            <a:r>
              <a:rPr lang="en-US" sz="2000" b="1" dirty="0">
                <a:solidFill>
                  <a:prstClr val="black"/>
                </a:solidFill>
                <a:latin typeface="Verdana"/>
              </a:rPr>
              <a:t>43</a:t>
            </a:r>
          </a:p>
        </p:txBody>
      </p:sp>
      <p:sp>
        <p:nvSpPr>
          <p:cNvPr id="130087" name="Rectangle 50"/>
          <p:cNvSpPr>
            <a:spLocks noGrp="1" noChangeArrowheads="1"/>
          </p:cNvSpPr>
          <p:nvPr>
            <p:ph type="body" idx="1"/>
            <p:custDataLst>
              <p:tags r:id="rId3"/>
            </p:custDataLst>
          </p:nvPr>
        </p:nvSpPr>
        <p:spPr>
          <a:xfrm>
            <a:off x="3663245" y="956736"/>
            <a:ext cx="6395155" cy="1892826"/>
          </a:xfrm>
          <a:ln>
            <a:solidFill>
              <a:schemeClr val="tx1"/>
            </a:solidFill>
          </a:ln>
        </p:spPr>
        <p:txBody>
          <a:bodyPr vert="horz" wrap="square" lIns="91440" tIns="91440" rIns="91440" bIns="91440" rtlCol="0">
            <a:spAutoFit/>
          </a:bodyPr>
          <a:lstStyle/>
          <a:p>
            <a:pPr>
              <a:lnSpc>
                <a:spcPct val="120000"/>
              </a:lnSpc>
              <a:spcBef>
                <a:spcPts val="600"/>
              </a:spcBef>
              <a:buNone/>
            </a:pPr>
            <a:r>
              <a:rPr lang="en-US" sz="2000" dirty="0"/>
              <a:t>T = 10 (</a:t>
            </a:r>
            <a:r>
              <a:rPr lang="en-US" sz="2000" dirty="0" err="1"/>
              <a:t>TableSize</a:t>
            </a:r>
            <a:r>
              <a:rPr lang="en-US" sz="2000" dirty="0"/>
              <a:t>)</a:t>
            </a:r>
          </a:p>
          <a:p>
            <a:pPr>
              <a:lnSpc>
                <a:spcPct val="120000"/>
              </a:lnSpc>
              <a:spcBef>
                <a:spcPts val="600"/>
              </a:spcBef>
              <a:buNone/>
            </a:pPr>
            <a:r>
              <a:rPr lang="en-US" sz="2000" u="sng" dirty="0"/>
              <a:t>Hash Functions</a:t>
            </a:r>
            <a:r>
              <a:rPr lang="en-US" sz="2000" dirty="0"/>
              <a:t>:</a:t>
            </a:r>
          </a:p>
          <a:p>
            <a:pPr>
              <a:lnSpc>
                <a:spcPct val="120000"/>
              </a:lnSpc>
              <a:spcBef>
                <a:spcPts val="600"/>
              </a:spcBef>
              <a:buNone/>
            </a:pPr>
            <a:r>
              <a:rPr lang="en-US" sz="2000" dirty="0"/>
              <a:t>   h1(key) = key mod T</a:t>
            </a:r>
          </a:p>
          <a:p>
            <a:pPr>
              <a:lnSpc>
                <a:spcPct val="120000"/>
              </a:lnSpc>
              <a:spcBef>
                <a:spcPts val="600"/>
              </a:spcBef>
              <a:buNone/>
            </a:pPr>
            <a:r>
              <a:rPr lang="en-US" sz="2000" dirty="0"/>
              <a:t>   h2(key) = 1 + ((key/T) mod (T-1))   </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82</a:t>
            </a:fld>
            <a:endParaRPr lang="en-US">
              <a:solidFill>
                <a:srgbClr val="2F1343"/>
              </a:solidFill>
              <a:latin typeface="Verdana"/>
            </a:endParaRPr>
          </a:p>
        </p:txBody>
      </p:sp>
      <p:graphicFrame>
        <p:nvGraphicFramePr>
          <p:cNvPr id="9" name="Group 64"/>
          <p:cNvGraphicFramePr>
            <a:graphicFrameLocks noGrp="1"/>
          </p:cNvGraphicFramePr>
          <p:nvPr>
            <p:custDataLst>
              <p:tags r:id="rId4"/>
            </p:custDataLst>
          </p:nvPr>
        </p:nvGraphicFramePr>
        <p:xfrm>
          <a:off x="2133600" y="1447800"/>
          <a:ext cx="1219200" cy="3810000"/>
        </p:xfrm>
        <a:graphic>
          <a:graphicData uri="http://schemas.openxmlformats.org/drawingml/2006/table">
            <a:tbl>
              <a:tblPr/>
              <a:tblGrid>
                <a:gridCol w="474133">
                  <a:extLst>
                    <a:ext uri="{9D8B030D-6E8A-4147-A177-3AD203B41FA5}">
                      <a16:colId xmlns:a16="http://schemas.microsoft.com/office/drawing/2014/main" val="20000"/>
                    </a:ext>
                  </a:extLst>
                </a:gridCol>
                <a:gridCol w="745067">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13</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33</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1" i="0" u="none" strike="noStrike" cap="none" normalizeH="0" baseline="0" dirty="0">
                          <a:ln>
                            <a:noFill/>
                          </a:ln>
                          <a:solidFill>
                            <a:schemeClr val="tx2">
                              <a:lumMod val="50000"/>
                              <a:lumOff val="50000"/>
                            </a:schemeClr>
                          </a:solidFill>
                          <a:effectLst/>
                          <a:latin typeface="+mj-lt"/>
                        </a:rPr>
                        <a:t>147</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09077815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1" name="Rectangle 2"/>
          <p:cNvSpPr>
            <a:spLocks noGrp="1" noChangeArrowheads="1"/>
          </p:cNvSpPr>
          <p:nvPr>
            <p:ph type="title"/>
            <p:custDataLst>
              <p:tags r:id="rId1"/>
            </p:custDataLst>
          </p:nvPr>
        </p:nvSpPr>
        <p:spPr>
          <a:xfrm>
            <a:off x="1676400" y="171450"/>
            <a:ext cx="8839200" cy="685800"/>
          </a:xfrm>
        </p:spPr>
        <p:txBody>
          <a:bodyPr/>
          <a:lstStyle/>
          <a:p>
            <a:r>
              <a:rPr lang="en-US" sz="3600" dirty="0"/>
              <a:t>Double Hashing</a:t>
            </a:r>
          </a:p>
        </p:txBody>
      </p:sp>
      <p:sp>
        <p:nvSpPr>
          <p:cNvPr id="130086" name="Text Box 49"/>
          <p:cNvSpPr txBox="1">
            <a:spLocks noChangeArrowheads="1"/>
          </p:cNvSpPr>
          <p:nvPr>
            <p:custDataLst>
              <p:tags r:id="rId2"/>
            </p:custDataLst>
          </p:nvPr>
        </p:nvSpPr>
        <p:spPr bwMode="auto">
          <a:xfrm>
            <a:off x="3736623" y="2849562"/>
            <a:ext cx="6660445" cy="3016210"/>
          </a:xfrm>
          <a:prstGeom prst="rect">
            <a:avLst/>
          </a:prstGeom>
          <a:noFill/>
          <a:ln w="9525">
            <a:noFill/>
            <a:miter lim="800000"/>
            <a:headEnd/>
            <a:tailEnd/>
          </a:ln>
        </p:spPr>
        <p:txBody>
          <a:bodyPr wrap="square">
            <a:spAutoFit/>
          </a:bodyPr>
          <a:lstStyle/>
          <a:p>
            <a:pPr>
              <a:spcBef>
                <a:spcPts val="600"/>
              </a:spcBef>
              <a:tabLst>
                <a:tab pos="395288" algn="l"/>
                <a:tab pos="744538" algn="l"/>
              </a:tabLst>
              <a:defRPr/>
            </a:pPr>
            <a:r>
              <a:rPr lang="en-US" sz="2000" dirty="0">
                <a:solidFill>
                  <a:prstClr val="black"/>
                </a:solidFill>
                <a:latin typeface="Verdana"/>
              </a:rPr>
              <a:t>Insert these values into the hash table in this order.  Resolve any collisions with double hashing:</a:t>
            </a:r>
          </a:p>
          <a:p>
            <a:pPr>
              <a:spcBef>
                <a:spcPts val="600"/>
              </a:spcBef>
              <a:tabLst>
                <a:tab pos="395288" algn="l"/>
                <a:tab pos="744538" algn="l"/>
              </a:tabLst>
              <a:defRPr/>
            </a:pPr>
            <a:r>
              <a:rPr lang="en-US" sz="2000" dirty="0">
                <a:solidFill>
                  <a:prstClr val="black"/>
                </a:solidFill>
                <a:latin typeface="Verdana"/>
              </a:rPr>
              <a:t>13</a:t>
            </a:r>
          </a:p>
          <a:p>
            <a:pPr>
              <a:spcBef>
                <a:spcPts val="600"/>
              </a:spcBef>
              <a:tabLst>
                <a:tab pos="395288" algn="l"/>
                <a:tab pos="744538" algn="l"/>
              </a:tabLst>
              <a:defRPr/>
            </a:pPr>
            <a:r>
              <a:rPr lang="en-US" sz="2000" dirty="0">
                <a:solidFill>
                  <a:prstClr val="black"/>
                </a:solidFill>
                <a:latin typeface="Verdana"/>
              </a:rPr>
              <a:t>28</a:t>
            </a:r>
          </a:p>
          <a:p>
            <a:pPr>
              <a:spcBef>
                <a:spcPts val="600"/>
              </a:spcBef>
              <a:tabLst>
                <a:tab pos="395288" algn="l"/>
                <a:tab pos="744538" algn="l"/>
              </a:tabLst>
              <a:defRPr/>
            </a:pPr>
            <a:r>
              <a:rPr lang="en-US" sz="2000" dirty="0">
                <a:solidFill>
                  <a:prstClr val="black"/>
                </a:solidFill>
                <a:latin typeface="Verdana"/>
              </a:rPr>
              <a:t>33</a:t>
            </a:r>
            <a:r>
              <a:rPr lang="en-US" sz="2000" b="1" dirty="0">
                <a:solidFill>
                  <a:prstClr val="black"/>
                </a:solidFill>
                <a:latin typeface="Verdana"/>
              </a:rPr>
              <a:t> </a:t>
            </a:r>
          </a:p>
          <a:p>
            <a:pPr>
              <a:spcBef>
                <a:spcPts val="600"/>
              </a:spcBef>
              <a:tabLst>
                <a:tab pos="631825" algn="l"/>
                <a:tab pos="971550" algn="l"/>
              </a:tabLst>
              <a:defRPr/>
            </a:pPr>
            <a:r>
              <a:rPr lang="en-US" sz="2000" dirty="0">
                <a:solidFill>
                  <a:prstClr val="black"/>
                </a:solidFill>
                <a:latin typeface="Verdana"/>
              </a:rPr>
              <a:t>147</a:t>
            </a:r>
            <a:r>
              <a:rPr lang="en-US" sz="2000" b="1" dirty="0">
                <a:solidFill>
                  <a:prstClr val="black"/>
                </a:solidFill>
                <a:latin typeface="Verdana"/>
              </a:rPr>
              <a:t>	</a:t>
            </a:r>
            <a:r>
              <a:rPr lang="en-US" sz="2000" dirty="0">
                <a:solidFill>
                  <a:prstClr val="black"/>
                </a:solidFill>
                <a:latin typeface="Verdana"/>
                <a:sym typeface="Wingdings" pitchFamily="2" charset="2"/>
              </a:rPr>
              <a:t></a:t>
            </a:r>
            <a:r>
              <a:rPr lang="en-US" sz="2000" b="1" dirty="0">
                <a:solidFill>
                  <a:prstClr val="black"/>
                </a:solidFill>
                <a:latin typeface="Verdana"/>
                <a:sym typeface="Wingdings" pitchFamily="2" charset="2"/>
              </a:rPr>
              <a:t>	</a:t>
            </a:r>
            <a:r>
              <a:rPr lang="en-US" sz="2000" dirty="0">
                <a:solidFill>
                  <a:prstClr val="black"/>
                </a:solidFill>
                <a:latin typeface="Verdana"/>
              </a:rPr>
              <a:t>g(147) = 1 + 14 mod 9 = 6</a:t>
            </a:r>
            <a:endParaRPr lang="en-US" sz="2000" b="1" dirty="0">
              <a:solidFill>
                <a:prstClr val="black"/>
              </a:solidFill>
              <a:latin typeface="Verdana"/>
            </a:endParaRPr>
          </a:p>
          <a:p>
            <a:pPr>
              <a:spcBef>
                <a:spcPts val="600"/>
              </a:spcBef>
              <a:tabLst>
                <a:tab pos="631825" algn="l"/>
                <a:tab pos="971550" algn="l"/>
              </a:tabLst>
              <a:defRPr/>
            </a:pPr>
            <a:r>
              <a:rPr lang="en-US" sz="2000" dirty="0">
                <a:solidFill>
                  <a:prstClr val="black"/>
                </a:solidFill>
                <a:latin typeface="Verdana"/>
              </a:rPr>
              <a:t>43</a:t>
            </a:r>
            <a:r>
              <a:rPr lang="en-US" sz="2000" b="1" dirty="0">
                <a:solidFill>
                  <a:prstClr val="black"/>
                </a:solidFill>
                <a:latin typeface="Verdana"/>
              </a:rPr>
              <a:t>	</a:t>
            </a:r>
            <a:r>
              <a:rPr lang="en-US" sz="2000" dirty="0">
                <a:solidFill>
                  <a:prstClr val="black"/>
                </a:solidFill>
                <a:latin typeface="Verdana"/>
                <a:sym typeface="Wingdings" pitchFamily="2" charset="2"/>
              </a:rPr>
              <a:t></a:t>
            </a:r>
            <a:r>
              <a:rPr lang="en-US" sz="2000" b="1" dirty="0">
                <a:solidFill>
                  <a:prstClr val="black"/>
                </a:solidFill>
                <a:latin typeface="Verdana"/>
                <a:sym typeface="Wingdings" pitchFamily="2" charset="2"/>
              </a:rPr>
              <a:t>	</a:t>
            </a:r>
            <a:r>
              <a:rPr lang="en-US" sz="2000" dirty="0">
                <a:solidFill>
                  <a:prstClr val="black"/>
                </a:solidFill>
                <a:latin typeface="Verdana"/>
              </a:rPr>
              <a:t>g(43) = 1 + 4 mod 9 = 5</a:t>
            </a:r>
            <a:endParaRPr lang="en-US" sz="2000" b="1" dirty="0">
              <a:solidFill>
                <a:prstClr val="black"/>
              </a:solidFill>
              <a:latin typeface="Verdana"/>
            </a:endParaRPr>
          </a:p>
          <a:p>
            <a:pPr>
              <a:spcBef>
                <a:spcPts val="600"/>
              </a:spcBef>
              <a:tabLst>
                <a:tab pos="395288" algn="l"/>
                <a:tab pos="744538" algn="l"/>
              </a:tabLst>
              <a:defRPr/>
            </a:pPr>
            <a:endParaRPr lang="en-US" sz="2000" b="1" dirty="0">
              <a:solidFill>
                <a:prstClr val="black"/>
              </a:solidFill>
              <a:latin typeface="Verdana"/>
            </a:endParaRPr>
          </a:p>
        </p:txBody>
      </p:sp>
      <p:sp>
        <p:nvSpPr>
          <p:cNvPr id="130087" name="Rectangle 50"/>
          <p:cNvSpPr>
            <a:spLocks noGrp="1" noChangeArrowheads="1"/>
          </p:cNvSpPr>
          <p:nvPr>
            <p:ph type="body" idx="1"/>
            <p:custDataLst>
              <p:tags r:id="rId3"/>
            </p:custDataLst>
          </p:nvPr>
        </p:nvSpPr>
        <p:spPr>
          <a:xfrm>
            <a:off x="3736623" y="879651"/>
            <a:ext cx="6395155" cy="1892826"/>
          </a:xfrm>
          <a:ln>
            <a:solidFill>
              <a:schemeClr val="tx1"/>
            </a:solidFill>
          </a:ln>
        </p:spPr>
        <p:txBody>
          <a:bodyPr vert="horz" wrap="square" lIns="91440" tIns="91440" rIns="91440" bIns="91440" rtlCol="0">
            <a:spAutoFit/>
          </a:bodyPr>
          <a:lstStyle/>
          <a:p>
            <a:pPr>
              <a:lnSpc>
                <a:spcPct val="120000"/>
              </a:lnSpc>
              <a:spcBef>
                <a:spcPts val="600"/>
              </a:spcBef>
              <a:buNone/>
            </a:pPr>
            <a:r>
              <a:rPr lang="en-US" sz="2000" dirty="0"/>
              <a:t>T = 10 (</a:t>
            </a:r>
            <a:r>
              <a:rPr lang="en-US" sz="2000" dirty="0" err="1"/>
              <a:t>TableSize</a:t>
            </a:r>
            <a:r>
              <a:rPr lang="en-US" sz="2000" dirty="0"/>
              <a:t>)</a:t>
            </a:r>
          </a:p>
          <a:p>
            <a:pPr>
              <a:lnSpc>
                <a:spcPct val="120000"/>
              </a:lnSpc>
              <a:spcBef>
                <a:spcPts val="600"/>
              </a:spcBef>
              <a:buNone/>
            </a:pPr>
            <a:r>
              <a:rPr lang="en-US" sz="2000" u="sng" dirty="0"/>
              <a:t>Hash Functions</a:t>
            </a:r>
            <a:r>
              <a:rPr lang="en-US" sz="2000" dirty="0"/>
              <a:t>:</a:t>
            </a:r>
          </a:p>
          <a:p>
            <a:pPr>
              <a:lnSpc>
                <a:spcPct val="120000"/>
              </a:lnSpc>
              <a:spcBef>
                <a:spcPts val="600"/>
              </a:spcBef>
              <a:buNone/>
            </a:pPr>
            <a:r>
              <a:rPr lang="en-US" sz="2000" dirty="0"/>
              <a:t>   h1(key) = key mod T</a:t>
            </a:r>
          </a:p>
          <a:p>
            <a:pPr>
              <a:lnSpc>
                <a:spcPct val="120000"/>
              </a:lnSpc>
              <a:spcBef>
                <a:spcPts val="600"/>
              </a:spcBef>
              <a:buNone/>
            </a:pPr>
            <a:r>
              <a:rPr lang="en-US" sz="2000" dirty="0"/>
              <a:t>   h2(key) = 1 + ((key/T) mod (T-1))   </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83</a:t>
            </a:fld>
            <a:endParaRPr lang="en-US">
              <a:solidFill>
                <a:srgbClr val="2F1343"/>
              </a:solidFill>
              <a:latin typeface="Verdana"/>
            </a:endParaRPr>
          </a:p>
        </p:txBody>
      </p:sp>
      <p:graphicFrame>
        <p:nvGraphicFramePr>
          <p:cNvPr id="9" name="Group 64"/>
          <p:cNvGraphicFramePr>
            <a:graphicFrameLocks noGrp="1"/>
          </p:cNvGraphicFramePr>
          <p:nvPr>
            <p:custDataLst>
              <p:tags r:id="rId4"/>
            </p:custDataLst>
          </p:nvPr>
        </p:nvGraphicFramePr>
        <p:xfrm>
          <a:off x="2133600" y="1447800"/>
          <a:ext cx="1219200" cy="3810000"/>
        </p:xfrm>
        <a:graphic>
          <a:graphicData uri="http://schemas.openxmlformats.org/drawingml/2006/table">
            <a:tbl>
              <a:tblPr/>
              <a:tblGrid>
                <a:gridCol w="474133">
                  <a:extLst>
                    <a:ext uri="{9D8B030D-6E8A-4147-A177-3AD203B41FA5}">
                      <a16:colId xmlns:a16="http://schemas.microsoft.com/office/drawing/2014/main" val="20000"/>
                    </a:ext>
                  </a:extLst>
                </a:gridCol>
                <a:gridCol w="745067">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13</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33</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28</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147</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0" name="Rectangle 9"/>
          <p:cNvSpPr/>
          <p:nvPr/>
        </p:nvSpPr>
        <p:spPr>
          <a:xfrm>
            <a:off x="4338276" y="5434704"/>
            <a:ext cx="6160392" cy="1015663"/>
          </a:xfrm>
          <a:prstGeom prst="rect">
            <a:avLst/>
          </a:prstGeom>
        </p:spPr>
        <p:txBody>
          <a:bodyPr wrap="square">
            <a:spAutoFit/>
          </a:bodyPr>
          <a:lstStyle/>
          <a:p>
            <a:pPr>
              <a:tabLst>
                <a:tab pos="1658938" algn="l"/>
                <a:tab pos="3827463" algn="l"/>
              </a:tabLst>
              <a:defRPr/>
            </a:pPr>
            <a:r>
              <a:rPr lang="en-US" sz="2000" dirty="0">
                <a:solidFill>
                  <a:srgbClr val="FF0000"/>
                </a:solidFill>
                <a:latin typeface="Verdana"/>
              </a:rPr>
              <a:t>We have a problem:</a:t>
            </a:r>
          </a:p>
          <a:p>
            <a:pPr>
              <a:tabLst>
                <a:tab pos="1658938" algn="l"/>
                <a:tab pos="3827463" algn="l"/>
              </a:tabLst>
              <a:defRPr/>
            </a:pPr>
            <a:r>
              <a:rPr lang="en-US" sz="2000" dirty="0">
                <a:solidFill>
                  <a:srgbClr val="FF0000"/>
                </a:solidFill>
                <a:latin typeface="Verdana"/>
              </a:rPr>
              <a:t>3 + 0 = 3	3 + 5 = 8	3 + 10 = 13</a:t>
            </a:r>
            <a:br>
              <a:rPr lang="en-US" sz="2000" dirty="0">
                <a:solidFill>
                  <a:srgbClr val="FF0000"/>
                </a:solidFill>
                <a:latin typeface="Verdana"/>
              </a:rPr>
            </a:br>
            <a:r>
              <a:rPr lang="en-US" sz="2000" dirty="0">
                <a:solidFill>
                  <a:srgbClr val="FF0000"/>
                </a:solidFill>
                <a:latin typeface="Verdana"/>
              </a:rPr>
              <a:t>	3 + 15 = 18	3 + 20 = 23	</a:t>
            </a:r>
          </a:p>
        </p:txBody>
      </p:sp>
    </p:spTree>
    <p:extLst>
      <p:ext uri="{BB962C8B-B14F-4D97-AF65-F5344CB8AC3E}">
        <p14:creationId xmlns:p14="http://schemas.microsoft.com/office/powerpoint/2010/main" val="412231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Double Hashing Analysis</a:t>
            </a:r>
            <a:endParaRPr lang="en-US" dirty="0"/>
          </a:p>
        </p:txBody>
      </p:sp>
      <p:sp>
        <p:nvSpPr>
          <p:cNvPr id="3" name="Content Placeholder 2"/>
          <p:cNvSpPr>
            <a:spLocks noGrp="1"/>
          </p:cNvSpPr>
          <p:nvPr>
            <p:ph idx="1"/>
          </p:nvPr>
        </p:nvSpPr>
        <p:spPr/>
        <p:txBody>
          <a:bodyPr>
            <a:noAutofit/>
          </a:bodyPr>
          <a:lstStyle/>
          <a:p>
            <a:pPr marL="0" indent="0">
              <a:buNone/>
            </a:pPr>
            <a:r>
              <a:rPr lang="en-US" sz="2400" dirty="0"/>
              <a:t>Because each probe is "jumping" by g(key) each time,	we should ideally "leave the neighborhood" and "go different places from the same initial collision"</a:t>
            </a:r>
          </a:p>
          <a:p>
            <a:pPr marL="0" indent="0">
              <a:buNone/>
            </a:pPr>
            <a:endParaRPr lang="en-US" sz="1200" dirty="0"/>
          </a:p>
          <a:p>
            <a:pPr marL="0" indent="0">
              <a:buNone/>
            </a:pPr>
            <a:r>
              <a:rPr lang="en-US" sz="2400" dirty="0"/>
              <a:t>But, as in quadratic probing, we could still have a problem where we are not "safe" due to an infinite loop despite room in table</a:t>
            </a:r>
          </a:p>
          <a:p>
            <a:pPr marL="0" indent="0">
              <a:buNone/>
            </a:pPr>
            <a:endParaRPr lang="en-US" sz="1200" dirty="0"/>
          </a:p>
          <a:p>
            <a:pPr marL="0" indent="0">
              <a:buNone/>
            </a:pPr>
            <a:r>
              <a:rPr lang="en-US" sz="2400" dirty="0"/>
              <a:t>This cannot happen in at least one case:</a:t>
            </a:r>
          </a:p>
          <a:p>
            <a:pPr marL="519113" indent="0">
              <a:buNone/>
            </a:pPr>
            <a:r>
              <a:rPr lang="en-US" sz="2400" dirty="0"/>
              <a:t>For primes p and q such that 2 &lt; q &lt; p</a:t>
            </a:r>
          </a:p>
          <a:p>
            <a:pPr marL="914400" lvl="1" indent="0">
              <a:buNone/>
            </a:pPr>
            <a:r>
              <a:rPr lang="en-US" dirty="0"/>
              <a:t>h1(key) = key % p</a:t>
            </a:r>
          </a:p>
          <a:p>
            <a:pPr marL="914400" lvl="1" indent="0">
              <a:buNone/>
            </a:pPr>
            <a:r>
              <a:rPr lang="en-US" dirty="0"/>
              <a:t>h2(key) = q – (key % q)</a:t>
            </a:r>
          </a:p>
        </p:txBody>
      </p:sp>
      <p:sp>
        <p:nvSpPr>
          <p:cNvPr id="6" name="Slide Number Placeholder 5"/>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84</a:t>
            </a:fld>
            <a:endParaRPr lang="en-US">
              <a:solidFill>
                <a:srgbClr val="2F1343"/>
              </a:solidFill>
              <a:latin typeface="Verdana"/>
            </a:endParaRPr>
          </a:p>
        </p:txBody>
      </p:sp>
    </p:spTree>
    <p:extLst>
      <p:ext uri="{BB962C8B-B14F-4D97-AF65-F5344CB8AC3E}">
        <p14:creationId xmlns:p14="http://schemas.microsoft.com/office/powerpoint/2010/main" val="3534048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C7082-E296-4F9E-B097-188FBBA12DDA}"/>
              </a:ext>
            </a:extLst>
          </p:cNvPr>
          <p:cNvSpPr>
            <a:spLocks noGrp="1"/>
          </p:cNvSpPr>
          <p:nvPr>
            <p:ph type="title"/>
          </p:nvPr>
        </p:nvSpPr>
        <p:spPr/>
        <p:txBody>
          <a:bodyPr/>
          <a:lstStyle/>
          <a:p>
            <a:r>
              <a:rPr lang="en-US" altLang="en-US" dirty="0"/>
              <a:t>Double Hashing</a:t>
            </a:r>
            <a:endParaRPr lang="en-IN" dirty="0"/>
          </a:p>
        </p:txBody>
      </p:sp>
      <p:sp>
        <p:nvSpPr>
          <p:cNvPr id="10" name="Text Placeholder 9">
            <a:extLst>
              <a:ext uri="{FF2B5EF4-FFF2-40B4-BE49-F238E27FC236}">
                <a16:creationId xmlns:a16="http://schemas.microsoft.com/office/drawing/2014/main" id="{09E66E45-70EC-4274-A6DD-623FADED96D9}"/>
              </a:ext>
            </a:extLst>
          </p:cNvPr>
          <p:cNvSpPr>
            <a:spLocks noGrp="1"/>
          </p:cNvSpPr>
          <p:nvPr>
            <p:ph type="body" sz="quarter" idx="13"/>
          </p:nvPr>
        </p:nvSpPr>
        <p:spPr>
          <a:xfrm>
            <a:off x="1981201" y="1557338"/>
            <a:ext cx="8143875" cy="474662"/>
          </a:xfrm>
        </p:spPr>
        <p:txBody>
          <a:bodyPr/>
          <a:lstStyle/>
          <a:p>
            <a:pPr marL="432" indent="0">
              <a:buNone/>
            </a:pPr>
            <a:r>
              <a:rPr lang="en-US" altLang="en-US" sz="1800" dirty="0">
                <a:solidFill>
                  <a:schemeClr val="bg2"/>
                </a:solidFill>
                <a:hlinkClick r:id="rId3" tooltip="https://liveexample.pearsoncmg.com/dsanimation/DoubleHashingeBook.html"/>
              </a:rPr>
              <a:t>https://liveexample.pearsoncmg.com/dsanimation/DoubleHashingeBook.html</a:t>
            </a:r>
            <a:endParaRPr lang="en-US" altLang="en-US" sz="1800" dirty="0">
              <a:solidFill>
                <a:schemeClr val="bg2"/>
              </a:solidFill>
              <a:hlinkClick r:id="rId3">
                <a:extLst>
                  <a:ext uri="{A12FA001-AC4F-418D-AE19-62706E023703}">
                    <ahyp:hlinkClr xmlns:ahyp="http://schemas.microsoft.com/office/drawing/2018/hyperlinkcolor" val="tx"/>
                  </a:ext>
                </a:extLst>
              </a:hlinkClick>
            </a:endParaRPr>
          </a:p>
        </p:txBody>
      </p:sp>
      <p:sp>
        <p:nvSpPr>
          <p:cNvPr id="3" name="Content Placeholder 2">
            <a:extLst>
              <a:ext uri="{FF2B5EF4-FFF2-40B4-BE49-F238E27FC236}">
                <a16:creationId xmlns:a16="http://schemas.microsoft.com/office/drawing/2014/main" id="{D0E5F761-7D97-4C69-83DF-705327C90955}"/>
              </a:ext>
            </a:extLst>
          </p:cNvPr>
          <p:cNvSpPr>
            <a:spLocks noGrp="1"/>
          </p:cNvSpPr>
          <p:nvPr>
            <p:ph sz="quarter" idx="14"/>
          </p:nvPr>
        </p:nvSpPr>
        <p:spPr>
          <a:xfrm>
            <a:off x="1981200" y="2164071"/>
            <a:ext cx="8229600" cy="680729"/>
          </a:xfrm>
        </p:spPr>
        <p:txBody>
          <a:bodyPr vert="horz" lIns="91440" tIns="0" rIns="91440" bIns="45720" rtlCol="0">
            <a:normAutofit/>
          </a:bodyPr>
          <a:lstStyle/>
          <a:p>
            <a:pPr marL="432" indent="0">
              <a:buNone/>
            </a:pPr>
            <a:r>
              <a:rPr lang="en-IN" altLang="en-US" sz="2000" dirty="0"/>
              <a:t>Double hashing uses a secondary hash function on the keys to determine the increments to avoid the clustering problem.</a:t>
            </a:r>
          </a:p>
        </p:txBody>
      </p:sp>
      <mc:AlternateContent xmlns:mc="http://schemas.openxmlformats.org/markup-compatibility/2006" xmlns:a14="http://schemas.microsoft.com/office/drawing/2010/main">
        <mc:Choice Requires="a14">
          <p:sp>
            <p:nvSpPr>
              <p:cNvPr id="14" name="Object 13" descr="h dash of k = 7 minus k% 7,">
                <a:extLst>
                  <a:ext uri="{FF2B5EF4-FFF2-40B4-BE49-F238E27FC236}">
                    <a16:creationId xmlns:a16="http://schemas.microsoft.com/office/drawing/2014/main" id="{84587A72-5735-4E75-9AB9-E8FDC8EEA7E6}"/>
                  </a:ext>
                </a:extLst>
              </p:cNvPr>
              <p:cNvSpPr txBox="1"/>
              <p:nvPr/>
            </p:nvSpPr>
            <p:spPr>
              <a:xfrm>
                <a:off x="2098675" y="2890838"/>
                <a:ext cx="1930400" cy="381000"/>
              </a:xfrm>
              <a:prstGeom prst="rect">
                <a:avLst/>
              </a:prstGeom>
            </p:spPr>
            <p:txBody>
              <a:bodyPr>
                <a:normAutofit fontScale="92500"/>
              </a:bodyPr>
              <a:lstStyle/>
              <a:p>
                <a:pPr/>
                <a14:m>
                  <m:oMathPara xmlns:m="http://schemas.openxmlformats.org/officeDocument/2006/math">
                    <m:oMathParaPr>
                      <m:jc m:val="left"/>
                    </m:oMathParaPr>
                    <m:oMath xmlns:m="http://schemas.openxmlformats.org/officeDocument/2006/math">
                      <m:r>
                        <m:rPr>
                          <m:nor/>
                        </m:rPr>
                        <a:rPr lang="en-US" i="0" smtClean="0">
                          <a:solidFill>
                            <a:srgbClr val="000000"/>
                          </a:solidFill>
                          <a:latin typeface="Cambria Math" panose="02040503050406030204" pitchFamily="18" charset="0"/>
                        </a:rPr>
                        <m:t>h</m:t>
                      </m:r>
                      <m:r>
                        <m:rPr>
                          <m:nor/>
                        </m:rPr>
                        <a:rPr lang="en-US" i="0" smtClean="0">
                          <a:solidFill>
                            <a:srgbClr val="000000"/>
                          </a:solidFill>
                          <a:latin typeface="Cambria Math" panose="02040503050406030204" pitchFamily="18" charset="0"/>
                        </a:rPr>
                        <m:t>’</m:t>
                      </m:r>
                      <m:d>
                        <m:dPr>
                          <m:ctrlPr>
                            <a:rPr lang="en-US" i="1">
                              <a:solidFill>
                                <a:srgbClr val="000000"/>
                              </a:solidFill>
                              <a:latin typeface="Cambria Math" panose="02040503050406030204" pitchFamily="18" charset="0"/>
                            </a:rPr>
                          </m:ctrlPr>
                        </m:dPr>
                        <m:e>
                          <m:r>
                            <m:rPr>
                              <m:sty m:val="p"/>
                            </m:rPr>
                            <a:rPr lang="en-US" i="0">
                              <a:solidFill>
                                <a:srgbClr val="000000"/>
                              </a:solidFill>
                              <a:latin typeface="Cambria Math" panose="02040503050406030204" pitchFamily="18" charset="0"/>
                            </a:rPr>
                            <m:t>k</m:t>
                          </m:r>
                        </m:e>
                      </m:d>
                      <m:r>
                        <a:rPr lang="en-US" i="1">
                          <a:solidFill>
                            <a:srgbClr val="000000"/>
                          </a:solidFill>
                          <a:latin typeface="Cambria Math" panose="02040503050406030204" pitchFamily="18" charset="0"/>
                        </a:rPr>
                        <m:t>=</m:t>
                      </m:r>
                      <m:r>
                        <a:rPr lang="en-US" i="0">
                          <a:solidFill>
                            <a:srgbClr val="000000"/>
                          </a:solidFill>
                          <a:latin typeface="Cambria Math" panose="02040503050406030204" pitchFamily="18" charset="0"/>
                        </a:rPr>
                        <m:t>7</m:t>
                      </m:r>
                      <m:r>
                        <a:rPr lang="en-US" i="1">
                          <a:solidFill>
                            <a:srgbClr val="000000"/>
                          </a:solidFill>
                          <a:latin typeface="Cambria Math" panose="02040503050406030204" pitchFamily="18" charset="0"/>
                        </a:rPr>
                        <m:t>−</m:t>
                      </m:r>
                      <m:r>
                        <m:rPr>
                          <m:nor/>
                        </m:rPr>
                        <a:rPr lang="en-US" i="0">
                          <a:solidFill>
                            <a:srgbClr val="000000"/>
                          </a:solidFill>
                          <a:latin typeface="Cambria Math" panose="02040503050406030204" pitchFamily="18" charset="0"/>
                        </a:rPr>
                        <m:t>k</m:t>
                      </m:r>
                      <m:r>
                        <m:rPr>
                          <m:nor/>
                        </m:rPr>
                        <a:rPr lang="en-US" i="0">
                          <a:solidFill>
                            <a:srgbClr val="000000"/>
                          </a:solidFill>
                          <a:latin typeface="Cambria Math" panose="02040503050406030204" pitchFamily="18" charset="0"/>
                        </a:rPr>
                        <m:t> % 7;</m:t>
                      </m:r>
                    </m:oMath>
                  </m:oMathPara>
                </a14:m>
                <a:endParaRPr lang="en-US" dirty="0"/>
              </a:p>
            </p:txBody>
          </p:sp>
        </mc:Choice>
        <mc:Fallback xmlns="">
          <p:sp>
            <p:nvSpPr>
              <p:cNvPr id="14" name="Object 13" descr="h dash of k = 7 minus k% 7,">
                <a:extLst>
                  <a:ext uri="{FF2B5EF4-FFF2-40B4-BE49-F238E27FC236}">
                    <a16:creationId xmlns:a16="http://schemas.microsoft.com/office/drawing/2014/main" id="{84587A72-5735-4E75-9AB9-E8FDC8EEA7E6}"/>
                  </a:ext>
                </a:extLst>
              </p:cNvPr>
              <p:cNvSpPr txBox="1">
                <a:spLocks noRot="1" noChangeAspect="1" noMove="1" noResize="1" noEditPoints="1" noAdjustHandles="1" noChangeArrowheads="1" noChangeShapeType="1" noTextEdit="1"/>
              </p:cNvSpPr>
              <p:nvPr/>
            </p:nvSpPr>
            <p:spPr>
              <a:xfrm>
                <a:off x="2098675" y="2890838"/>
                <a:ext cx="1930400" cy="381000"/>
              </a:xfrm>
              <a:prstGeom prst="rect">
                <a:avLst/>
              </a:prstGeom>
              <a:blipFill>
                <a:blip r:embed="rId4"/>
                <a:stretch>
                  <a:fillRect/>
                </a:stretch>
              </a:blipFill>
            </p:spPr>
            <p:txBody>
              <a:bodyPr/>
              <a:lstStyle/>
              <a:p>
                <a:r>
                  <a:rPr lang="en-US">
                    <a:noFill/>
                  </a:rPr>
                  <a:t> </a:t>
                </a:r>
              </a:p>
            </p:txBody>
          </p:sp>
        </mc:Fallback>
      </mc:AlternateContent>
      <p:pic>
        <p:nvPicPr>
          <p:cNvPr id="20" name="Content Placeholder 19" descr="Three vertical boxes, each with horizontal sections numbered 0 to 10. For long description in Notes pane, press F6.">
            <a:extLst>
              <a:ext uri="{FF2B5EF4-FFF2-40B4-BE49-F238E27FC236}">
                <a16:creationId xmlns:a16="http://schemas.microsoft.com/office/drawing/2014/main" id="{A97A3984-2F7F-4BBB-ACDF-DB2DC262F77F}"/>
              </a:ext>
            </a:extLst>
          </p:cNvPr>
          <p:cNvPicPr>
            <a:picLocks noGrp="1" noChangeAspect="1"/>
          </p:cNvPicPr>
          <p:nvPr>
            <p:ph sz="quarter" idx="15"/>
          </p:nvPr>
        </p:nvPicPr>
        <p:blipFill>
          <a:blip r:embed="rId5"/>
          <a:stretch>
            <a:fillRect/>
          </a:stretch>
        </p:blipFill>
        <p:spPr>
          <a:xfrm>
            <a:off x="2451886" y="3497361"/>
            <a:ext cx="6784478" cy="2819520"/>
          </a:xfrm>
          <a:prstGeom prst="rect">
            <a:avLst/>
          </a:prstGeom>
        </p:spPr>
      </p:pic>
    </p:spTree>
    <p:extLst>
      <p:ext uri="{BB962C8B-B14F-4D97-AF65-F5344CB8AC3E}">
        <p14:creationId xmlns:p14="http://schemas.microsoft.com/office/powerpoint/2010/main" val="362935603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a:extLst>
              <a:ext uri="{FF2B5EF4-FFF2-40B4-BE49-F238E27FC236}">
                <a16:creationId xmlns:a16="http://schemas.microsoft.com/office/drawing/2014/main" id="{1D39F9BC-77DA-4DCF-97DF-913184E33D30}"/>
              </a:ext>
            </a:extLst>
          </p:cNvPr>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82CAF11-631E-4040-A76F-BA7427A6AC9E}" type="slidenum">
              <a:rPr lang="en-US" altLang="en-US" sz="1400"/>
              <a:pPr>
                <a:spcBef>
                  <a:spcPct val="0"/>
                </a:spcBef>
                <a:buClrTx/>
                <a:buSzTx/>
                <a:buFontTx/>
                <a:buNone/>
              </a:pPr>
              <a:t>86</a:t>
            </a:fld>
            <a:endParaRPr lang="en-US" altLang="en-US" sz="1400"/>
          </a:p>
        </p:txBody>
      </p:sp>
      <p:sp>
        <p:nvSpPr>
          <p:cNvPr id="13315" name="Rectangle 2">
            <a:extLst>
              <a:ext uri="{FF2B5EF4-FFF2-40B4-BE49-F238E27FC236}">
                <a16:creationId xmlns:a16="http://schemas.microsoft.com/office/drawing/2014/main" id="{7547DEE1-FE35-4FF1-A327-216E5703DDA5}"/>
              </a:ext>
            </a:extLst>
          </p:cNvPr>
          <p:cNvSpPr>
            <a:spLocks noGrp="1" noChangeArrowheads="1"/>
          </p:cNvSpPr>
          <p:nvPr>
            <p:ph type="title"/>
          </p:nvPr>
        </p:nvSpPr>
        <p:spPr>
          <a:xfrm>
            <a:off x="2209800" y="285750"/>
            <a:ext cx="8153400" cy="476250"/>
          </a:xfrm>
        </p:spPr>
        <p:txBody>
          <a:bodyPr>
            <a:normAutofit fontScale="90000"/>
          </a:bodyPr>
          <a:lstStyle/>
          <a:p>
            <a:r>
              <a:rPr lang="en-US" altLang="en-US"/>
              <a:t>Double Hashing </a:t>
            </a:r>
          </a:p>
        </p:txBody>
      </p:sp>
      <p:sp>
        <p:nvSpPr>
          <p:cNvPr id="13316" name="Rectangle 3">
            <a:extLst>
              <a:ext uri="{FF2B5EF4-FFF2-40B4-BE49-F238E27FC236}">
                <a16:creationId xmlns:a16="http://schemas.microsoft.com/office/drawing/2014/main" id="{695C5808-B0EB-4086-AC41-176B18A6B4BF}"/>
              </a:ext>
            </a:extLst>
          </p:cNvPr>
          <p:cNvSpPr>
            <a:spLocks noChangeArrowheads="1"/>
          </p:cNvSpPr>
          <p:nvPr/>
        </p:nvSpPr>
        <p:spPr bwMode="auto">
          <a:xfrm>
            <a:off x="1524001" y="27600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17" name="Rectangle 4">
            <a:extLst>
              <a:ext uri="{FF2B5EF4-FFF2-40B4-BE49-F238E27FC236}">
                <a16:creationId xmlns:a16="http://schemas.microsoft.com/office/drawing/2014/main" id="{0B39DCCC-F15A-4479-9042-9FB1BE7F1E1C}"/>
              </a:ext>
            </a:extLst>
          </p:cNvPr>
          <p:cNvSpPr>
            <a:spLocks noChangeArrowheads="1"/>
          </p:cNvSpPr>
          <p:nvPr/>
        </p:nvSpPr>
        <p:spPr bwMode="auto">
          <a:xfrm>
            <a:off x="1524001" y="27600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18" name="Text Box 5">
            <a:extLst>
              <a:ext uri="{FF2B5EF4-FFF2-40B4-BE49-F238E27FC236}">
                <a16:creationId xmlns:a16="http://schemas.microsoft.com/office/drawing/2014/main" id="{1300A5AA-50A8-481E-B359-86081A08FA45}"/>
              </a:ext>
            </a:extLst>
          </p:cNvPr>
          <p:cNvSpPr txBox="1">
            <a:spLocks noChangeArrowheads="1"/>
          </p:cNvSpPr>
          <p:nvPr/>
        </p:nvSpPr>
        <p:spPr bwMode="auto">
          <a:xfrm>
            <a:off x="1828800" y="1219200"/>
            <a:ext cx="8610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dirty="0"/>
              <a:t>Double hashing uses a secondary hash function on the keys to determine the increments to avoid the clustering problem. </a:t>
            </a:r>
          </a:p>
          <a:p>
            <a:pPr>
              <a:spcBef>
                <a:spcPct val="0"/>
              </a:spcBef>
              <a:buClrTx/>
              <a:buSzTx/>
              <a:buFontTx/>
              <a:buNone/>
            </a:pPr>
            <a:r>
              <a:rPr lang="en-US" altLang="en-US" sz="2400" dirty="0"/>
              <a:t>k = h1(key) = key % table-size</a:t>
            </a:r>
          </a:p>
          <a:p>
            <a:pPr>
              <a:spcBef>
                <a:spcPct val="0"/>
              </a:spcBef>
              <a:buClrTx/>
              <a:buSzTx/>
              <a:buFontTx/>
              <a:buNone/>
            </a:pPr>
            <a:r>
              <a:rPr lang="en-US" altLang="en-US" sz="2400" dirty="0"/>
              <a:t>h2(key) = 7 – key % 7;</a:t>
            </a:r>
          </a:p>
        </p:txBody>
      </p:sp>
      <p:sp>
        <p:nvSpPr>
          <p:cNvPr id="13319" name="Rectangle 6">
            <a:extLst>
              <a:ext uri="{FF2B5EF4-FFF2-40B4-BE49-F238E27FC236}">
                <a16:creationId xmlns:a16="http://schemas.microsoft.com/office/drawing/2014/main" id="{69704127-E2BC-4A64-B88D-4EBD714AACC9}"/>
              </a:ext>
            </a:extLst>
          </p:cNvPr>
          <p:cNvSpPr>
            <a:spLocks noChangeArrowheads="1"/>
          </p:cNvSpPr>
          <p:nvPr/>
        </p:nvSpPr>
        <p:spPr bwMode="auto">
          <a:xfrm>
            <a:off x="1524001" y="15789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0" name="Rectangle 7">
            <a:extLst>
              <a:ext uri="{FF2B5EF4-FFF2-40B4-BE49-F238E27FC236}">
                <a16:creationId xmlns:a16="http://schemas.microsoft.com/office/drawing/2014/main" id="{6A9ACB62-59DE-40C3-A745-4AF8B4DE7150}"/>
              </a:ext>
            </a:extLst>
          </p:cNvPr>
          <p:cNvSpPr>
            <a:spLocks noChangeArrowheads="1"/>
          </p:cNvSpPr>
          <p:nvPr/>
        </p:nvSpPr>
        <p:spPr bwMode="auto">
          <a:xfrm>
            <a:off x="1524001" y="255046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1" name="Rectangle 8">
            <a:extLst>
              <a:ext uri="{FF2B5EF4-FFF2-40B4-BE49-F238E27FC236}">
                <a16:creationId xmlns:a16="http://schemas.microsoft.com/office/drawing/2014/main" id="{7E1E963D-2F23-4C02-9E0D-6DD5AACEEF79}"/>
              </a:ext>
            </a:extLst>
          </p:cNvPr>
          <p:cNvSpPr>
            <a:spLocks noChangeArrowheads="1"/>
          </p:cNvSpPr>
          <p:nvPr/>
        </p:nvSpPr>
        <p:spPr bwMode="auto">
          <a:xfrm>
            <a:off x="1524001" y="2569519"/>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2" name="Rectangle 9">
            <a:extLst>
              <a:ext uri="{FF2B5EF4-FFF2-40B4-BE49-F238E27FC236}">
                <a16:creationId xmlns:a16="http://schemas.microsoft.com/office/drawing/2014/main" id="{E2F57491-4790-49E4-A715-262EBF03B500}"/>
              </a:ext>
            </a:extLst>
          </p:cNvPr>
          <p:cNvSpPr>
            <a:spLocks noChangeArrowheads="1"/>
          </p:cNvSpPr>
          <p:nvPr/>
        </p:nvSpPr>
        <p:spPr bwMode="auto">
          <a:xfrm>
            <a:off x="1524001" y="2602857"/>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3323" name="Rectangle 10">
            <a:extLst>
              <a:ext uri="{FF2B5EF4-FFF2-40B4-BE49-F238E27FC236}">
                <a16:creationId xmlns:a16="http://schemas.microsoft.com/office/drawing/2014/main" id="{EB8DF1F4-2C5D-4D7B-B8E1-44F41EC0C255}"/>
              </a:ext>
            </a:extLst>
          </p:cNvPr>
          <p:cNvSpPr>
            <a:spLocks noChangeArrowheads="1"/>
          </p:cNvSpPr>
          <p:nvPr/>
        </p:nvSpPr>
        <p:spPr bwMode="auto">
          <a:xfrm>
            <a:off x="1524001"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 name="TextBox 1">
            <a:extLst>
              <a:ext uri="{FF2B5EF4-FFF2-40B4-BE49-F238E27FC236}">
                <a16:creationId xmlns:a16="http://schemas.microsoft.com/office/drawing/2014/main" id="{3D01B4D0-BBB9-40F6-A171-A40FD23F4605}"/>
              </a:ext>
            </a:extLst>
          </p:cNvPr>
          <p:cNvSpPr txBox="1"/>
          <p:nvPr/>
        </p:nvSpPr>
        <p:spPr>
          <a:xfrm>
            <a:off x="5641570" y="2009456"/>
            <a:ext cx="1564852" cy="369332"/>
          </a:xfrm>
          <a:prstGeom prst="rect">
            <a:avLst/>
          </a:prstGeom>
          <a:noFill/>
        </p:spPr>
        <p:txBody>
          <a:bodyPr wrap="none" rtlCol="0">
            <a:spAutoFit/>
          </a:bodyPr>
          <a:lstStyle/>
          <a:p>
            <a:r>
              <a:rPr lang="en-US" dirty="0"/>
              <a:t>(table-size=11)</a:t>
            </a:r>
          </a:p>
        </p:txBody>
      </p:sp>
      <p:graphicFrame>
        <p:nvGraphicFramePr>
          <p:cNvPr id="14" name="Table 8">
            <a:extLst>
              <a:ext uri="{FF2B5EF4-FFF2-40B4-BE49-F238E27FC236}">
                <a16:creationId xmlns:a16="http://schemas.microsoft.com/office/drawing/2014/main" id="{450C716F-3CA3-495D-83A9-AB2EA465FCC8}"/>
              </a:ext>
            </a:extLst>
          </p:cNvPr>
          <p:cNvGraphicFramePr>
            <a:graphicFrameLocks noGrp="1"/>
          </p:cNvGraphicFramePr>
          <p:nvPr>
            <p:extLst>
              <p:ext uri="{D42A27DB-BD31-4B8C-83A1-F6EECF244321}">
                <p14:modId xmlns:p14="http://schemas.microsoft.com/office/powerpoint/2010/main" val="1429189002"/>
              </p:ext>
            </p:extLst>
          </p:nvPr>
        </p:nvGraphicFramePr>
        <p:xfrm>
          <a:off x="9997876" y="2277110"/>
          <a:ext cx="1123183" cy="4079240"/>
        </p:xfrm>
        <a:graphic>
          <a:graphicData uri="http://schemas.openxmlformats.org/drawingml/2006/table">
            <a:tbl>
              <a:tblPr firstRow="1" bandRow="1">
                <a:tableStyleId>{5C22544A-7EE6-4342-B048-85BDC9FD1C3A}</a:tableStyleId>
              </a:tblPr>
              <a:tblGrid>
                <a:gridCol w="1123183">
                  <a:extLst>
                    <a:ext uri="{9D8B030D-6E8A-4147-A177-3AD203B41FA5}">
                      <a16:colId xmlns:a16="http://schemas.microsoft.com/office/drawing/2014/main" val="4250829449"/>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7203035"/>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5413798"/>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89351833"/>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8139613"/>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96053063"/>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3287923"/>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25538648"/>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07892744"/>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1030810"/>
                  </a:ext>
                </a:extLst>
              </a:tr>
              <a:tr h="370840">
                <a:tc>
                  <a:txBody>
                    <a:bodyPr/>
                    <a:lstStyle/>
                    <a:p>
                      <a:r>
                        <a:rPr lang="en-US"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08387055"/>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82418850"/>
                  </a:ext>
                </a:extLst>
              </a:tr>
            </a:tbl>
          </a:graphicData>
        </a:graphic>
      </p:graphicFrame>
      <p:graphicFrame>
        <p:nvGraphicFramePr>
          <p:cNvPr id="15" name="Table 8">
            <a:extLst>
              <a:ext uri="{FF2B5EF4-FFF2-40B4-BE49-F238E27FC236}">
                <a16:creationId xmlns:a16="http://schemas.microsoft.com/office/drawing/2014/main" id="{F18066A6-1BCD-42BE-9181-D749AB99C268}"/>
              </a:ext>
            </a:extLst>
          </p:cNvPr>
          <p:cNvGraphicFramePr>
            <a:graphicFrameLocks noGrp="1"/>
          </p:cNvGraphicFramePr>
          <p:nvPr>
            <p:extLst>
              <p:ext uri="{D42A27DB-BD31-4B8C-83A1-F6EECF244321}">
                <p14:modId xmlns:p14="http://schemas.microsoft.com/office/powerpoint/2010/main" val="1127391595"/>
              </p:ext>
            </p:extLst>
          </p:nvPr>
        </p:nvGraphicFramePr>
        <p:xfrm>
          <a:off x="9499578" y="2277110"/>
          <a:ext cx="424239" cy="4079240"/>
        </p:xfrm>
        <a:graphic>
          <a:graphicData uri="http://schemas.openxmlformats.org/drawingml/2006/table">
            <a:tbl>
              <a:tblPr firstRow="1" bandRow="1">
                <a:tableStyleId>{5C22544A-7EE6-4342-B048-85BDC9FD1C3A}</a:tableStyleId>
              </a:tblPr>
              <a:tblGrid>
                <a:gridCol w="424239">
                  <a:extLst>
                    <a:ext uri="{9D8B030D-6E8A-4147-A177-3AD203B41FA5}">
                      <a16:colId xmlns:a16="http://schemas.microsoft.com/office/drawing/2014/main" val="4250829449"/>
                    </a:ext>
                  </a:extLst>
                </a:gridCol>
              </a:tblGrid>
              <a:tr h="370840">
                <a:tc>
                  <a:txBody>
                    <a:bodyPr/>
                    <a:lstStyle/>
                    <a:p>
                      <a:r>
                        <a:rPr lang="en-US"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47203035"/>
                  </a:ext>
                </a:extLst>
              </a:tr>
              <a:tr h="370840">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5413798"/>
                  </a:ext>
                </a:extLst>
              </a:tr>
              <a:tr h="370840">
                <a:tc>
                  <a:txBody>
                    <a:bodyPr/>
                    <a:lstStyle/>
                    <a:p>
                      <a:r>
                        <a:rPr lang="en-US"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9351833"/>
                  </a:ext>
                </a:extLst>
              </a:tr>
              <a:tr h="370840">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78139613"/>
                  </a:ext>
                </a:extLst>
              </a:tr>
              <a:tr h="370840">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96053063"/>
                  </a:ext>
                </a:extLst>
              </a:tr>
              <a:tr h="370840">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3287923"/>
                  </a:ext>
                </a:extLst>
              </a:tr>
              <a:tr h="370840">
                <a:tc>
                  <a:txBody>
                    <a:bodyPr/>
                    <a:lstStyle/>
                    <a:p>
                      <a:r>
                        <a:rPr lang="en-US"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25538648"/>
                  </a:ext>
                </a:extLst>
              </a:tr>
              <a:tr h="370840">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07892744"/>
                  </a:ext>
                </a:extLst>
              </a:tr>
              <a:tr h="370840">
                <a:tc>
                  <a:txBody>
                    <a:bodyPr/>
                    <a:lstStyle/>
                    <a:p>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41030810"/>
                  </a:ext>
                </a:extLst>
              </a:tr>
              <a:tr h="370840">
                <a:tc>
                  <a:txBody>
                    <a:bodyPr/>
                    <a:lstStyle/>
                    <a:p>
                      <a:r>
                        <a:rPr lang="en-US" dirty="0"/>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08387055"/>
                  </a:ext>
                </a:extLst>
              </a:tr>
              <a:tr h="370840">
                <a:tc>
                  <a:txBody>
                    <a:bodyPr/>
                    <a:lstStyle/>
                    <a:p>
                      <a:r>
                        <a:rPr lang="en-US"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91334272"/>
                  </a:ext>
                </a:extLst>
              </a:tr>
            </a:tbl>
          </a:graphicData>
        </a:graphic>
      </p:graphicFrame>
      <p:sp>
        <p:nvSpPr>
          <p:cNvPr id="16" name="Text Box 3">
            <a:extLst>
              <a:ext uri="{FF2B5EF4-FFF2-40B4-BE49-F238E27FC236}">
                <a16:creationId xmlns:a16="http://schemas.microsoft.com/office/drawing/2014/main" id="{8E49184C-27FC-4978-9A8F-98EF0814243A}"/>
              </a:ext>
            </a:extLst>
          </p:cNvPr>
          <p:cNvSpPr txBox="1">
            <a:spLocks noChangeArrowheads="1"/>
          </p:cNvSpPr>
          <p:nvPr/>
        </p:nvSpPr>
        <p:spPr bwMode="auto">
          <a:xfrm>
            <a:off x="1828800" y="2833689"/>
            <a:ext cx="8001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dirty="0"/>
              <a:t>Insert 44, 4, 16, 28, 21,26 into a table of size 11</a:t>
            </a:r>
          </a:p>
        </p:txBody>
      </p:sp>
    </p:spTree>
    <p:extLst>
      <p:ext uri="{BB962C8B-B14F-4D97-AF65-F5344CB8AC3E}">
        <p14:creationId xmlns:p14="http://schemas.microsoft.com/office/powerpoint/2010/main" val="2572421650"/>
      </p:ext>
    </p:extLst>
  </p:cSld>
  <p:clrMapOvr>
    <a:masterClrMapping/>
  </p:clrMapOvr>
  <mc:AlternateContent xmlns:mc="http://schemas.openxmlformats.org/markup-compatibility/2006" xmlns:p14="http://schemas.microsoft.com/office/powerpoint/2010/main">
    <mc:Choice Requires="p14">
      <p:transition spd="slow" p14:dur="2000" advTm="77736"/>
    </mc:Choice>
    <mc:Fallback xmlns="">
      <p:transition spd="slow" advTm="77736"/>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itle 1"/>
          <p:cNvSpPr txBox="1">
            <a:spLocks noGrp="1"/>
          </p:cNvSpPr>
          <p:nvPr>
            <p:ph type="title"/>
          </p:nvPr>
        </p:nvSpPr>
        <p:spPr>
          <a:xfrm>
            <a:off x="1773766" y="0"/>
            <a:ext cx="8513234" cy="816042"/>
          </a:xfrm>
          <a:prstGeom prst="rect">
            <a:avLst/>
          </a:prstGeom>
        </p:spPr>
        <p:txBody>
          <a:bodyPr>
            <a:normAutofit/>
          </a:bodyPr>
          <a:lstStyle>
            <a:lvl1pPr defTabSz="777240">
              <a:defRPr sz="3740"/>
            </a:lvl1pPr>
          </a:lstStyle>
          <a:p>
            <a:r>
              <a:t>Potential Problem with Open Addressing</a:t>
            </a:r>
          </a:p>
        </p:txBody>
      </p:sp>
      <p:sp>
        <p:nvSpPr>
          <p:cNvPr id="140" name="Content Placeholder 4"/>
          <p:cNvSpPr txBox="1">
            <a:spLocks noGrp="1"/>
          </p:cNvSpPr>
          <p:nvPr>
            <p:ph type="body" idx="1"/>
          </p:nvPr>
        </p:nvSpPr>
        <p:spPr>
          <a:prstGeom prst="rect">
            <a:avLst/>
          </a:prstGeom>
        </p:spPr>
        <p:txBody>
          <a:bodyPr/>
          <a:lstStyle/>
          <a:p>
            <a:r>
              <a:t>Recall each location is either occupied, empty, or available</a:t>
            </a:r>
          </a:p>
          <a:p>
            <a:pPr lvl="1"/>
            <a:r>
              <a:t>Frequent additions and removals can result in no locations that are null</a:t>
            </a:r>
          </a:p>
          <a:p>
            <a:r>
              <a:t>Thus searching a probe sequence will not work</a:t>
            </a:r>
          </a:p>
          <a:p>
            <a:r>
              <a:t>Consider separate chaining as a solution</a:t>
            </a:r>
          </a:p>
        </p:txBody>
      </p:sp>
    </p:spTree>
    <p:extLst>
      <p:ext uri="{BB962C8B-B14F-4D97-AF65-F5344CB8AC3E}">
        <p14:creationId xmlns:p14="http://schemas.microsoft.com/office/powerpoint/2010/main" val="960128476"/>
      </p:ext>
    </p:extLst>
  </p:cSld>
  <p:clrMapOvr>
    <a:masterClrMapping/>
  </p:clrMapOvr>
  <p:transition spd="med" advTm="27576"/>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82BE062-41CF-4207-9D0C-BEAB2482A53F}"/>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5" name="Slide Number Placeholder 4">
            <a:extLst>
              <a:ext uri="{FF2B5EF4-FFF2-40B4-BE49-F238E27FC236}">
                <a16:creationId xmlns:a16="http://schemas.microsoft.com/office/drawing/2014/main" id="{7F468BFB-F5D1-4E4A-A499-06A0AAB0FD87}"/>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13 B-</a:t>
            </a:r>
            <a:fld id="{6527F270-C821-4E54-BBED-A1487404FC79}" type="slidenum">
              <a:rPr lang="en-US" altLang="en-US" sz="1000">
                <a:solidFill>
                  <a:srgbClr val="548446"/>
                </a:solidFill>
                <a:latin typeface="Arial" panose="020B0604020202020204" pitchFamily="34" charset="0"/>
              </a:rPr>
              <a:pPr/>
              <a:t>88</a:t>
            </a:fld>
            <a:endParaRPr lang="en-US" altLang="en-US" sz="1000">
              <a:solidFill>
                <a:srgbClr val="548446"/>
              </a:solidFill>
              <a:latin typeface="Arial" panose="020B0604020202020204" pitchFamily="34" charset="0"/>
            </a:endParaRPr>
          </a:p>
        </p:txBody>
      </p:sp>
      <p:sp>
        <p:nvSpPr>
          <p:cNvPr id="24580" name="Rectangle 2">
            <a:extLst>
              <a:ext uri="{FF2B5EF4-FFF2-40B4-BE49-F238E27FC236}">
                <a16:creationId xmlns:a16="http://schemas.microsoft.com/office/drawing/2014/main" id="{FFFC4365-0AE0-44FA-ADA2-41799BE4151E}"/>
              </a:ext>
            </a:extLst>
          </p:cNvPr>
          <p:cNvSpPr>
            <a:spLocks noGrp="1" noChangeArrowheads="1"/>
          </p:cNvSpPr>
          <p:nvPr>
            <p:ph type="title"/>
          </p:nvPr>
        </p:nvSpPr>
        <p:spPr/>
        <p:txBody>
          <a:bodyPr/>
          <a:lstStyle/>
          <a:p>
            <a:pPr eaLnBrk="1" hangingPunct="1"/>
            <a:r>
              <a:rPr lang="en-US" altLang="en-US"/>
              <a:t>Resolving Collisions</a:t>
            </a:r>
          </a:p>
        </p:txBody>
      </p:sp>
      <p:sp>
        <p:nvSpPr>
          <p:cNvPr id="24581" name="Rectangle 3">
            <a:extLst>
              <a:ext uri="{FF2B5EF4-FFF2-40B4-BE49-F238E27FC236}">
                <a16:creationId xmlns:a16="http://schemas.microsoft.com/office/drawing/2014/main" id="{67D5B277-18D8-41B1-8C4F-3D4741D6C4C3}"/>
              </a:ext>
            </a:extLst>
          </p:cNvPr>
          <p:cNvSpPr>
            <a:spLocks noGrp="1" noChangeArrowheads="1"/>
          </p:cNvSpPr>
          <p:nvPr>
            <p:ph type="body" idx="1"/>
          </p:nvPr>
        </p:nvSpPr>
        <p:spPr/>
        <p:txBody>
          <a:bodyPr/>
          <a:lstStyle/>
          <a:p>
            <a:pPr eaLnBrk="1" hangingPunct="1">
              <a:lnSpc>
                <a:spcPct val="90000"/>
              </a:lnSpc>
            </a:pPr>
            <a:r>
              <a:rPr lang="en-US" altLang="en-US"/>
              <a:t>Approach 2: Restructuring the hash table</a:t>
            </a:r>
          </a:p>
          <a:p>
            <a:pPr lvl="1" eaLnBrk="1" hangingPunct="1">
              <a:lnSpc>
                <a:spcPct val="90000"/>
              </a:lnSpc>
            </a:pPr>
            <a:r>
              <a:rPr lang="en-US" altLang="en-US"/>
              <a:t>Changes the structure of the hash table so that it can accommodate more than one item in the same location</a:t>
            </a:r>
          </a:p>
          <a:p>
            <a:pPr lvl="1" eaLnBrk="1" hangingPunct="1">
              <a:lnSpc>
                <a:spcPct val="90000"/>
              </a:lnSpc>
            </a:pPr>
            <a:r>
              <a:rPr lang="en-US" altLang="en-US"/>
              <a:t>Buckets</a:t>
            </a:r>
          </a:p>
          <a:p>
            <a:pPr lvl="2" eaLnBrk="1" hangingPunct="1">
              <a:lnSpc>
                <a:spcPct val="90000"/>
              </a:lnSpc>
            </a:pPr>
            <a:r>
              <a:rPr lang="en-US" altLang="en-US"/>
              <a:t>Each location in the hash table is itself an array called a bucket</a:t>
            </a:r>
          </a:p>
          <a:p>
            <a:pPr lvl="1" eaLnBrk="1" hangingPunct="1">
              <a:lnSpc>
                <a:spcPct val="90000"/>
              </a:lnSpc>
            </a:pPr>
            <a:r>
              <a:rPr lang="en-US" altLang="en-US"/>
              <a:t>Separate chaining</a:t>
            </a:r>
          </a:p>
          <a:p>
            <a:pPr lvl="2" eaLnBrk="1" hangingPunct="1">
              <a:lnSpc>
                <a:spcPct val="90000"/>
              </a:lnSpc>
            </a:pPr>
            <a:r>
              <a:rPr lang="en-US" altLang="en-US"/>
              <a:t>Each hash table location is a linked list</a:t>
            </a:r>
          </a:p>
        </p:txBody>
      </p:sp>
    </p:spTree>
    <p:extLst>
      <p:ext uri="{BB962C8B-B14F-4D97-AF65-F5344CB8AC3E}">
        <p14:creationId xmlns:p14="http://schemas.microsoft.com/office/powerpoint/2010/main" val="2436129484"/>
      </p:ext>
    </p:extLst>
  </p:cSld>
  <p:clrMapOvr>
    <a:masterClrMapping/>
  </p:clrMapOvr>
  <mc:AlternateContent xmlns:mc="http://schemas.openxmlformats.org/markup-compatibility/2006" xmlns:p14="http://schemas.microsoft.com/office/powerpoint/2010/main">
    <mc:Choice Requires="p14">
      <p:transition spd="slow" p14:dur="2000" advTm="27837"/>
    </mc:Choice>
    <mc:Fallback xmlns="">
      <p:transition spd="slow" advTm="27837"/>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custDataLst>
              <p:tags r:id="rId1"/>
            </p:custDataLst>
          </p:nvPr>
        </p:nvSpPr>
        <p:spPr/>
        <p:txBody>
          <a:bodyPr/>
          <a:lstStyle/>
          <a:p>
            <a:r>
              <a:rPr lang="en-US"/>
              <a:t>Separate Chaining</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89</a:t>
            </a:fld>
            <a:endParaRPr lang="en-US">
              <a:solidFill>
                <a:srgbClr val="2F1343"/>
              </a:solidFill>
              <a:latin typeface="Verdana"/>
            </a:endParaRPr>
          </a:p>
        </p:txBody>
      </p:sp>
      <p:graphicFrame>
        <p:nvGraphicFramePr>
          <p:cNvPr id="7" name="Group 64"/>
          <p:cNvGraphicFramePr>
            <a:graphicFrameLocks noGrp="1"/>
          </p:cNvGraphicFramePr>
          <p:nvPr>
            <p:custDataLst>
              <p:tags r:id="rId2"/>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5" name="Content Placeholder 2"/>
          <p:cNvSpPr>
            <a:spLocks noGrp="1"/>
          </p:cNvSpPr>
          <p:nvPr>
            <p:ph idx="1"/>
            <p:custDataLst>
              <p:tags r:id="rId3"/>
            </p:custDataLst>
          </p:nvPr>
        </p:nvSpPr>
        <p:spPr>
          <a:xfrm>
            <a:off x="4368800" y="1838632"/>
            <a:ext cx="6070600" cy="4409768"/>
          </a:xfrm>
        </p:spPr>
        <p:txBody>
          <a:bodyPr>
            <a:normAutofit/>
          </a:bodyPr>
          <a:lstStyle/>
          <a:p>
            <a:pPr marL="0" indent="0">
              <a:buNone/>
            </a:pPr>
            <a:r>
              <a:rPr lang="en-US" sz="2000" dirty="0"/>
              <a:t>All keys that map to the same table location are kept in a linked list (a.k.a. a "chain" or "bucket")</a:t>
            </a:r>
          </a:p>
          <a:p>
            <a:pPr marL="0" indent="0">
              <a:buNone/>
            </a:pPr>
            <a:endParaRPr lang="en-US" sz="2600" dirty="0"/>
          </a:p>
          <a:p>
            <a:pPr marL="0" indent="0">
              <a:buNone/>
            </a:pPr>
            <a:endParaRPr lang="en-US" sz="2000" dirty="0"/>
          </a:p>
          <a:p>
            <a:pPr marL="0" indent="0">
              <a:buNone/>
            </a:pPr>
            <a:r>
              <a:rPr lang="en-US" sz="2000" dirty="0"/>
              <a:t>As easy as it sounds</a:t>
            </a:r>
            <a:endParaRPr lang="en-US" sz="2400" dirty="0"/>
          </a:p>
          <a:p>
            <a:pPr marL="457200" lvl="1" indent="0">
              <a:buNone/>
            </a:pPr>
            <a:endParaRPr lang="en-US" sz="2000" dirty="0"/>
          </a:p>
          <a:p>
            <a:pPr marL="457200" lvl="1" indent="0">
              <a:buNone/>
            </a:pPr>
            <a:endParaRPr lang="en-US" sz="2000" dirty="0"/>
          </a:p>
          <a:p>
            <a:pPr marL="0" indent="0">
              <a:buNone/>
            </a:pPr>
            <a:r>
              <a:rPr lang="en-US" sz="2000" dirty="0"/>
              <a:t>Example: </a:t>
            </a:r>
            <a:br>
              <a:rPr lang="en-US" sz="2000" dirty="0"/>
            </a:br>
            <a:r>
              <a:rPr lang="en-US" sz="2000" dirty="0"/>
              <a:t>	insert 10, 22, 86, 12, 42 </a:t>
            </a:r>
            <a:br>
              <a:rPr lang="en-US" sz="2000" dirty="0"/>
            </a:br>
            <a:r>
              <a:rPr lang="en-US" sz="2000" dirty="0"/>
              <a:t>	with h(x) = x % 10</a:t>
            </a:r>
          </a:p>
        </p:txBody>
      </p:sp>
    </p:spTree>
    <p:extLst>
      <p:ext uri="{BB962C8B-B14F-4D97-AF65-F5344CB8AC3E}">
        <p14:creationId xmlns:p14="http://schemas.microsoft.com/office/powerpoint/2010/main" val="103541856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custDataLst>
              <p:tags r:id="rId1"/>
            </p:custDataLst>
          </p:nvPr>
        </p:nvSpPr>
        <p:spPr/>
        <p:txBody>
          <a:bodyPr/>
          <a:lstStyle/>
          <a:p>
            <a:r>
              <a:rPr lang="en-US"/>
              <a:t>Separate Chaining</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90</a:t>
            </a:fld>
            <a:endParaRPr lang="en-US">
              <a:solidFill>
                <a:srgbClr val="2F1343"/>
              </a:solidFill>
              <a:latin typeface="Verdana"/>
            </a:endParaRPr>
          </a:p>
        </p:txBody>
      </p:sp>
      <p:graphicFrame>
        <p:nvGraphicFramePr>
          <p:cNvPr id="7" name="Group 64"/>
          <p:cNvGraphicFramePr>
            <a:graphicFrameLocks noGrp="1"/>
          </p:cNvGraphicFramePr>
          <p:nvPr>
            <p:custDataLst>
              <p:tags r:id="rId2"/>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5" name="Content Placeholder 2"/>
          <p:cNvSpPr>
            <a:spLocks noGrp="1"/>
          </p:cNvSpPr>
          <p:nvPr>
            <p:ph idx="1"/>
            <p:custDataLst>
              <p:tags r:id="rId3"/>
            </p:custDataLst>
          </p:nvPr>
        </p:nvSpPr>
        <p:spPr>
          <a:xfrm>
            <a:off x="4757639" y="1634613"/>
            <a:ext cx="6070600" cy="4610100"/>
          </a:xfrm>
        </p:spPr>
        <p:txBody>
          <a:bodyPr>
            <a:normAutofit/>
          </a:bodyPr>
          <a:lstStyle/>
          <a:p>
            <a:pPr marL="0" indent="0">
              <a:buNone/>
            </a:pPr>
            <a:r>
              <a:rPr lang="en-US" sz="2600" dirty="0"/>
              <a:t>All keys that map to the same </a:t>
            </a:r>
            <a:br>
              <a:rPr lang="en-US" sz="2600" dirty="0"/>
            </a:br>
            <a:r>
              <a:rPr lang="en-US" sz="2600" dirty="0"/>
              <a:t>table location are kept in a linked list (a.k.a. a "chain" or "bucket")</a:t>
            </a:r>
          </a:p>
          <a:p>
            <a:pPr marL="0" indent="0">
              <a:buNone/>
            </a:pPr>
            <a:endParaRPr lang="en-US" sz="2600" dirty="0"/>
          </a:p>
          <a:p>
            <a:pPr marL="0" indent="0">
              <a:buNone/>
            </a:pPr>
            <a:endParaRPr lang="en-US" sz="2600" dirty="0"/>
          </a:p>
          <a:p>
            <a:pPr marL="0" indent="0">
              <a:buNone/>
            </a:pPr>
            <a:r>
              <a:rPr lang="en-US" sz="2600" dirty="0"/>
              <a:t>As easy as it sounds</a:t>
            </a:r>
            <a:endParaRPr lang="en-US" dirty="0"/>
          </a:p>
          <a:p>
            <a:pPr marL="457200" lvl="1" indent="0">
              <a:buNone/>
            </a:pPr>
            <a:endParaRPr lang="en-US" dirty="0"/>
          </a:p>
          <a:p>
            <a:pPr marL="457200" lvl="1" indent="0">
              <a:buNone/>
            </a:pPr>
            <a:endParaRPr lang="en-US" dirty="0"/>
          </a:p>
          <a:p>
            <a:pPr marL="0" indent="0">
              <a:buNone/>
            </a:pPr>
            <a:r>
              <a:rPr lang="en-US" sz="2600" dirty="0"/>
              <a:t>Example: </a:t>
            </a:r>
            <a:br>
              <a:rPr lang="en-US" sz="2600" dirty="0"/>
            </a:br>
            <a:r>
              <a:rPr lang="en-US" sz="2600" dirty="0"/>
              <a:t>	insert 10, 22, 86, 12, 42 </a:t>
            </a:r>
            <a:br>
              <a:rPr lang="en-US" sz="2600" dirty="0"/>
            </a:br>
            <a:r>
              <a:rPr lang="en-US" sz="2600" dirty="0"/>
              <a:t>	with h(x) = x % 10</a:t>
            </a:r>
          </a:p>
        </p:txBody>
      </p:sp>
      <p:grpSp>
        <p:nvGrpSpPr>
          <p:cNvPr id="8" name="Group 7"/>
          <p:cNvGrpSpPr/>
          <p:nvPr/>
        </p:nvGrpSpPr>
        <p:grpSpPr>
          <a:xfrm>
            <a:off x="3181351" y="1455420"/>
            <a:ext cx="1114637" cy="365760"/>
            <a:chOff x="1657350" y="1455420"/>
            <a:chExt cx="1114637" cy="365760"/>
          </a:xfrm>
        </p:grpSpPr>
        <p:grpSp>
          <p:nvGrpSpPr>
            <p:cNvPr id="17" name="Group 16"/>
            <p:cNvGrpSpPr/>
            <p:nvPr/>
          </p:nvGrpSpPr>
          <p:grpSpPr>
            <a:xfrm>
              <a:off x="2040467" y="1455420"/>
              <a:ext cx="731520" cy="365760"/>
              <a:chOff x="7281333" y="254000"/>
              <a:chExt cx="731520" cy="365760"/>
            </a:xfrm>
          </p:grpSpPr>
          <p:sp>
            <p:nvSpPr>
              <p:cNvPr id="18" name="Rectangle 17"/>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10</a:t>
                </a:r>
              </a:p>
            </p:txBody>
          </p:sp>
          <p:sp>
            <p:nvSpPr>
              <p:cNvPr id="19" name="Rectangle 18"/>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6" name="Straight Arrow Connector 5"/>
            <p:cNvCxnSpPr>
              <a:endCxn id="18"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5151646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custDataLst>
              <p:tags r:id="rId1"/>
            </p:custDataLst>
          </p:nvPr>
        </p:nvSpPr>
        <p:spPr/>
        <p:txBody>
          <a:bodyPr/>
          <a:lstStyle/>
          <a:p>
            <a:r>
              <a:rPr lang="en-US"/>
              <a:t>Separate Chaining</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91</a:t>
            </a:fld>
            <a:endParaRPr lang="en-US">
              <a:solidFill>
                <a:srgbClr val="2F1343"/>
              </a:solidFill>
              <a:latin typeface="Verdana"/>
            </a:endParaRPr>
          </a:p>
        </p:txBody>
      </p:sp>
      <p:graphicFrame>
        <p:nvGraphicFramePr>
          <p:cNvPr id="7" name="Group 64"/>
          <p:cNvGraphicFramePr>
            <a:graphicFrameLocks noGrp="1"/>
          </p:cNvGraphicFramePr>
          <p:nvPr>
            <p:custDataLst>
              <p:tags r:id="rId2"/>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5" name="Content Placeholder 2"/>
          <p:cNvSpPr>
            <a:spLocks noGrp="1"/>
          </p:cNvSpPr>
          <p:nvPr>
            <p:ph idx="1"/>
            <p:custDataLst>
              <p:tags r:id="rId3"/>
            </p:custDataLst>
          </p:nvPr>
        </p:nvSpPr>
        <p:spPr>
          <a:xfrm>
            <a:off x="5226474" y="1638300"/>
            <a:ext cx="6070600" cy="4900612"/>
          </a:xfrm>
        </p:spPr>
        <p:txBody>
          <a:bodyPr>
            <a:normAutofit/>
          </a:bodyPr>
          <a:lstStyle/>
          <a:p>
            <a:pPr marL="0" indent="0">
              <a:buNone/>
            </a:pPr>
            <a:r>
              <a:rPr lang="en-US" sz="2600" dirty="0"/>
              <a:t>All keys that map to the same </a:t>
            </a:r>
            <a:br>
              <a:rPr lang="en-US" sz="2600" dirty="0"/>
            </a:br>
            <a:r>
              <a:rPr lang="en-US" sz="2600" dirty="0"/>
              <a:t>table location are kept in a linked list (a.k.a. a "chain" or "bucket")</a:t>
            </a:r>
          </a:p>
          <a:p>
            <a:pPr marL="0" indent="0">
              <a:buNone/>
            </a:pPr>
            <a:endParaRPr lang="en-US" sz="2600" dirty="0"/>
          </a:p>
          <a:p>
            <a:pPr marL="0" indent="0">
              <a:buNone/>
            </a:pPr>
            <a:endParaRPr lang="en-US" sz="2600" dirty="0"/>
          </a:p>
          <a:p>
            <a:pPr marL="0" indent="0">
              <a:buNone/>
            </a:pPr>
            <a:r>
              <a:rPr lang="en-US" sz="2600" dirty="0"/>
              <a:t>As easy as it sounds</a:t>
            </a:r>
            <a:endParaRPr lang="en-US" dirty="0"/>
          </a:p>
          <a:p>
            <a:pPr marL="457200" lvl="1" indent="0">
              <a:buNone/>
            </a:pPr>
            <a:endParaRPr lang="en-US" dirty="0"/>
          </a:p>
          <a:p>
            <a:pPr marL="457200" lvl="1" indent="0">
              <a:buNone/>
            </a:pPr>
            <a:endParaRPr lang="en-US" dirty="0"/>
          </a:p>
          <a:p>
            <a:pPr marL="0" indent="0">
              <a:buNone/>
            </a:pPr>
            <a:r>
              <a:rPr lang="en-US" sz="2600" dirty="0"/>
              <a:t>Example: </a:t>
            </a:r>
            <a:br>
              <a:rPr lang="en-US" sz="2600" dirty="0"/>
            </a:br>
            <a:r>
              <a:rPr lang="en-US" sz="2600" dirty="0"/>
              <a:t>	insert 10, 22, 86, 12, 42 </a:t>
            </a:r>
            <a:br>
              <a:rPr lang="en-US" sz="2600" dirty="0"/>
            </a:br>
            <a:r>
              <a:rPr lang="en-US" sz="2600" dirty="0"/>
              <a:t>	with h(x) = x % 10</a:t>
            </a:r>
          </a:p>
        </p:txBody>
      </p:sp>
      <p:grpSp>
        <p:nvGrpSpPr>
          <p:cNvPr id="8" name="Group 7"/>
          <p:cNvGrpSpPr/>
          <p:nvPr/>
        </p:nvGrpSpPr>
        <p:grpSpPr>
          <a:xfrm>
            <a:off x="3181351" y="1455420"/>
            <a:ext cx="1114637" cy="365760"/>
            <a:chOff x="1657350" y="1455420"/>
            <a:chExt cx="1114637" cy="365760"/>
          </a:xfrm>
        </p:grpSpPr>
        <p:grpSp>
          <p:nvGrpSpPr>
            <p:cNvPr id="17" name="Group 16"/>
            <p:cNvGrpSpPr/>
            <p:nvPr/>
          </p:nvGrpSpPr>
          <p:grpSpPr>
            <a:xfrm>
              <a:off x="2040467" y="1455420"/>
              <a:ext cx="731520" cy="365760"/>
              <a:chOff x="7281333" y="254000"/>
              <a:chExt cx="731520" cy="365760"/>
            </a:xfrm>
          </p:grpSpPr>
          <p:sp>
            <p:nvSpPr>
              <p:cNvPr id="18" name="Rectangle 17"/>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10</a:t>
                </a:r>
              </a:p>
            </p:txBody>
          </p:sp>
          <p:sp>
            <p:nvSpPr>
              <p:cNvPr id="19" name="Rectangle 18"/>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6" name="Straight Arrow Connector 5"/>
            <p:cNvCxnSpPr>
              <a:endCxn id="18"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3181351" y="2236470"/>
            <a:ext cx="1114637" cy="365760"/>
            <a:chOff x="1657350" y="1455420"/>
            <a:chExt cx="1114637" cy="365760"/>
          </a:xfrm>
        </p:grpSpPr>
        <p:grpSp>
          <p:nvGrpSpPr>
            <p:cNvPr id="16" name="Group 15"/>
            <p:cNvGrpSpPr/>
            <p:nvPr/>
          </p:nvGrpSpPr>
          <p:grpSpPr>
            <a:xfrm>
              <a:off x="2040467" y="1455420"/>
              <a:ext cx="731520" cy="365760"/>
              <a:chOff x="7281333" y="254000"/>
              <a:chExt cx="731520" cy="365760"/>
            </a:xfrm>
          </p:grpSpPr>
          <p:sp>
            <p:nvSpPr>
              <p:cNvPr id="21" name="Rectangle 20"/>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22</a:t>
                </a:r>
              </a:p>
            </p:txBody>
          </p:sp>
          <p:sp>
            <p:nvSpPr>
              <p:cNvPr id="22" name="Rectangle 21"/>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20" name="Straight Arrow Connector 19"/>
            <p:cNvCxnSpPr>
              <a:endCxn id="21"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9435190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custDataLst>
              <p:tags r:id="rId1"/>
            </p:custDataLst>
          </p:nvPr>
        </p:nvSpPr>
        <p:spPr/>
        <p:txBody>
          <a:bodyPr/>
          <a:lstStyle/>
          <a:p>
            <a:r>
              <a:rPr lang="en-US"/>
              <a:t>Separate Chaining</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92</a:t>
            </a:fld>
            <a:endParaRPr lang="en-US">
              <a:solidFill>
                <a:srgbClr val="2F1343"/>
              </a:solidFill>
              <a:latin typeface="Verdana"/>
            </a:endParaRPr>
          </a:p>
        </p:txBody>
      </p:sp>
      <p:graphicFrame>
        <p:nvGraphicFramePr>
          <p:cNvPr id="7" name="Group 64"/>
          <p:cNvGraphicFramePr>
            <a:graphicFrameLocks noGrp="1"/>
          </p:cNvGraphicFramePr>
          <p:nvPr>
            <p:custDataLst>
              <p:tags r:id="rId2"/>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5" name="Content Placeholder 2"/>
          <p:cNvSpPr>
            <a:spLocks noGrp="1"/>
          </p:cNvSpPr>
          <p:nvPr>
            <p:ph idx="1"/>
            <p:custDataLst>
              <p:tags r:id="rId3"/>
            </p:custDataLst>
          </p:nvPr>
        </p:nvSpPr>
        <p:spPr>
          <a:xfrm>
            <a:off x="4860714" y="1447800"/>
            <a:ext cx="6070600" cy="4800600"/>
          </a:xfrm>
        </p:spPr>
        <p:txBody>
          <a:bodyPr>
            <a:normAutofit/>
          </a:bodyPr>
          <a:lstStyle/>
          <a:p>
            <a:pPr marL="0" indent="0">
              <a:buNone/>
            </a:pPr>
            <a:r>
              <a:rPr lang="en-US" sz="2600" dirty="0"/>
              <a:t>All keys that map to the same </a:t>
            </a:r>
            <a:br>
              <a:rPr lang="en-US" sz="2600" dirty="0"/>
            </a:br>
            <a:r>
              <a:rPr lang="en-US" sz="2600" dirty="0"/>
              <a:t>table location are kept in a linked list (a.k.a. a "chain" or "bucket")</a:t>
            </a:r>
          </a:p>
          <a:p>
            <a:pPr marL="0" indent="0">
              <a:buNone/>
            </a:pPr>
            <a:endParaRPr lang="en-US" sz="2600" dirty="0"/>
          </a:p>
          <a:p>
            <a:pPr marL="0" indent="0">
              <a:buNone/>
            </a:pPr>
            <a:endParaRPr lang="en-US" sz="2600" dirty="0"/>
          </a:p>
          <a:p>
            <a:pPr marL="0" indent="0">
              <a:buNone/>
            </a:pPr>
            <a:r>
              <a:rPr lang="en-US" sz="2600" dirty="0"/>
              <a:t>As easy as it sounds</a:t>
            </a:r>
            <a:endParaRPr lang="en-US" dirty="0"/>
          </a:p>
          <a:p>
            <a:pPr marL="457200" lvl="1" indent="0">
              <a:buNone/>
            </a:pPr>
            <a:endParaRPr lang="en-US" dirty="0"/>
          </a:p>
          <a:p>
            <a:pPr marL="457200" lvl="1" indent="0">
              <a:buNone/>
            </a:pPr>
            <a:endParaRPr lang="en-US" dirty="0"/>
          </a:p>
          <a:p>
            <a:pPr marL="0" indent="0">
              <a:buNone/>
            </a:pPr>
            <a:r>
              <a:rPr lang="en-US" sz="2600" dirty="0"/>
              <a:t>Example: </a:t>
            </a:r>
            <a:br>
              <a:rPr lang="en-US" sz="2600" dirty="0"/>
            </a:br>
            <a:r>
              <a:rPr lang="en-US" sz="2600" dirty="0"/>
              <a:t>	insert 10, 22, 86, 12, 42 </a:t>
            </a:r>
            <a:br>
              <a:rPr lang="en-US" sz="2600" dirty="0"/>
            </a:br>
            <a:r>
              <a:rPr lang="en-US" sz="2600" dirty="0"/>
              <a:t>	with h(x) = x % 10</a:t>
            </a:r>
          </a:p>
        </p:txBody>
      </p:sp>
      <p:grpSp>
        <p:nvGrpSpPr>
          <p:cNvPr id="8" name="Group 7"/>
          <p:cNvGrpSpPr/>
          <p:nvPr/>
        </p:nvGrpSpPr>
        <p:grpSpPr>
          <a:xfrm>
            <a:off x="3181351" y="1455420"/>
            <a:ext cx="1114637" cy="365760"/>
            <a:chOff x="1657350" y="1455420"/>
            <a:chExt cx="1114637" cy="365760"/>
          </a:xfrm>
        </p:grpSpPr>
        <p:grpSp>
          <p:nvGrpSpPr>
            <p:cNvPr id="17" name="Group 16"/>
            <p:cNvGrpSpPr/>
            <p:nvPr/>
          </p:nvGrpSpPr>
          <p:grpSpPr>
            <a:xfrm>
              <a:off x="2040467" y="1455420"/>
              <a:ext cx="731520" cy="365760"/>
              <a:chOff x="7281333" y="254000"/>
              <a:chExt cx="731520" cy="365760"/>
            </a:xfrm>
          </p:grpSpPr>
          <p:sp>
            <p:nvSpPr>
              <p:cNvPr id="18" name="Rectangle 17"/>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10</a:t>
                </a:r>
              </a:p>
            </p:txBody>
          </p:sp>
          <p:sp>
            <p:nvSpPr>
              <p:cNvPr id="19" name="Rectangle 18"/>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6" name="Straight Arrow Connector 5"/>
            <p:cNvCxnSpPr>
              <a:endCxn id="18"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3181351" y="2236470"/>
            <a:ext cx="1114637" cy="365760"/>
            <a:chOff x="1657350" y="1455420"/>
            <a:chExt cx="1114637" cy="365760"/>
          </a:xfrm>
        </p:grpSpPr>
        <p:grpSp>
          <p:nvGrpSpPr>
            <p:cNvPr id="16" name="Group 15"/>
            <p:cNvGrpSpPr/>
            <p:nvPr/>
          </p:nvGrpSpPr>
          <p:grpSpPr>
            <a:xfrm>
              <a:off x="2040467" y="1455420"/>
              <a:ext cx="731520" cy="365760"/>
              <a:chOff x="7281333" y="254000"/>
              <a:chExt cx="731520" cy="365760"/>
            </a:xfrm>
          </p:grpSpPr>
          <p:sp>
            <p:nvSpPr>
              <p:cNvPr id="21" name="Rectangle 20"/>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22</a:t>
                </a:r>
              </a:p>
            </p:txBody>
          </p:sp>
          <p:sp>
            <p:nvSpPr>
              <p:cNvPr id="22" name="Rectangle 21"/>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20" name="Straight Arrow Connector 19"/>
            <p:cNvCxnSpPr>
              <a:endCxn id="21"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23" name="Group 22"/>
          <p:cNvGrpSpPr/>
          <p:nvPr/>
        </p:nvGrpSpPr>
        <p:grpSpPr>
          <a:xfrm>
            <a:off x="3181351" y="3731895"/>
            <a:ext cx="1114637" cy="365760"/>
            <a:chOff x="1657350" y="1455420"/>
            <a:chExt cx="1114637" cy="365760"/>
          </a:xfrm>
        </p:grpSpPr>
        <p:grpSp>
          <p:nvGrpSpPr>
            <p:cNvPr id="24" name="Group 23"/>
            <p:cNvGrpSpPr/>
            <p:nvPr/>
          </p:nvGrpSpPr>
          <p:grpSpPr>
            <a:xfrm>
              <a:off x="2040467" y="1455420"/>
              <a:ext cx="731520" cy="365760"/>
              <a:chOff x="7281333" y="254000"/>
              <a:chExt cx="731520" cy="365760"/>
            </a:xfrm>
          </p:grpSpPr>
          <p:sp>
            <p:nvSpPr>
              <p:cNvPr id="26" name="Rectangle 25"/>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86</a:t>
                </a:r>
              </a:p>
            </p:txBody>
          </p:sp>
          <p:sp>
            <p:nvSpPr>
              <p:cNvPr id="27" name="Rectangle 26"/>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25" name="Straight Arrow Connector 24"/>
            <p:cNvCxnSpPr>
              <a:endCxn id="26"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2419295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custDataLst>
              <p:tags r:id="rId1"/>
            </p:custDataLst>
          </p:nvPr>
        </p:nvSpPr>
        <p:spPr/>
        <p:txBody>
          <a:bodyPr/>
          <a:lstStyle/>
          <a:p>
            <a:r>
              <a:rPr lang="en-US"/>
              <a:t>Separate Chaining</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93</a:t>
            </a:fld>
            <a:endParaRPr lang="en-US">
              <a:solidFill>
                <a:srgbClr val="2F1343"/>
              </a:solidFill>
              <a:latin typeface="Verdana"/>
            </a:endParaRPr>
          </a:p>
        </p:txBody>
      </p:sp>
      <p:graphicFrame>
        <p:nvGraphicFramePr>
          <p:cNvPr id="7" name="Group 64"/>
          <p:cNvGraphicFramePr>
            <a:graphicFrameLocks noGrp="1"/>
          </p:cNvGraphicFramePr>
          <p:nvPr>
            <p:custDataLst>
              <p:tags r:id="rId2"/>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5" name="Content Placeholder 2"/>
          <p:cNvSpPr>
            <a:spLocks noGrp="1"/>
          </p:cNvSpPr>
          <p:nvPr>
            <p:ph idx="1"/>
            <p:custDataLst>
              <p:tags r:id="rId3"/>
            </p:custDataLst>
          </p:nvPr>
        </p:nvSpPr>
        <p:spPr>
          <a:xfrm>
            <a:off x="5383319" y="1140542"/>
            <a:ext cx="6070600" cy="5215808"/>
          </a:xfrm>
        </p:spPr>
        <p:txBody>
          <a:bodyPr>
            <a:normAutofit/>
          </a:bodyPr>
          <a:lstStyle/>
          <a:p>
            <a:pPr marL="0" indent="0">
              <a:buNone/>
            </a:pPr>
            <a:r>
              <a:rPr lang="en-US" sz="2600" dirty="0"/>
              <a:t>All keys that map to the same </a:t>
            </a:r>
            <a:br>
              <a:rPr lang="en-US" sz="2600" dirty="0"/>
            </a:br>
            <a:r>
              <a:rPr lang="en-US" sz="2600" dirty="0"/>
              <a:t>table location are kept in a linked list (a.k.a. a "chain" or "bucket")</a:t>
            </a:r>
          </a:p>
          <a:p>
            <a:pPr marL="0" indent="0">
              <a:buNone/>
            </a:pPr>
            <a:endParaRPr lang="en-US" sz="2600" dirty="0"/>
          </a:p>
          <a:p>
            <a:pPr marL="0" indent="0">
              <a:buNone/>
            </a:pPr>
            <a:endParaRPr lang="en-US" sz="2600" dirty="0"/>
          </a:p>
          <a:p>
            <a:pPr marL="0" indent="0">
              <a:buNone/>
            </a:pPr>
            <a:r>
              <a:rPr lang="en-US" sz="2600" dirty="0"/>
              <a:t>As easy as it sounds</a:t>
            </a:r>
            <a:endParaRPr lang="en-US" dirty="0"/>
          </a:p>
          <a:p>
            <a:pPr marL="457200" lvl="1" indent="0">
              <a:buNone/>
            </a:pPr>
            <a:endParaRPr lang="en-US" dirty="0"/>
          </a:p>
          <a:p>
            <a:pPr marL="457200" lvl="1" indent="0">
              <a:buNone/>
            </a:pPr>
            <a:endParaRPr lang="en-US" dirty="0"/>
          </a:p>
          <a:p>
            <a:pPr marL="0" indent="0">
              <a:buNone/>
            </a:pPr>
            <a:r>
              <a:rPr lang="en-US" sz="2600" dirty="0"/>
              <a:t>Example: </a:t>
            </a:r>
            <a:br>
              <a:rPr lang="en-US" sz="2600" dirty="0"/>
            </a:br>
            <a:r>
              <a:rPr lang="en-US" sz="2600" dirty="0"/>
              <a:t>	insert 10, 22, 86, 12, 42 </a:t>
            </a:r>
            <a:br>
              <a:rPr lang="en-US" sz="2600" dirty="0"/>
            </a:br>
            <a:r>
              <a:rPr lang="en-US" sz="2600" dirty="0"/>
              <a:t>	with h(x) = x % 10</a:t>
            </a:r>
          </a:p>
        </p:txBody>
      </p:sp>
      <p:grpSp>
        <p:nvGrpSpPr>
          <p:cNvPr id="8" name="Group 7"/>
          <p:cNvGrpSpPr/>
          <p:nvPr/>
        </p:nvGrpSpPr>
        <p:grpSpPr>
          <a:xfrm>
            <a:off x="3181351" y="1455420"/>
            <a:ext cx="1114637" cy="365760"/>
            <a:chOff x="1657350" y="1455420"/>
            <a:chExt cx="1114637" cy="365760"/>
          </a:xfrm>
        </p:grpSpPr>
        <p:grpSp>
          <p:nvGrpSpPr>
            <p:cNvPr id="17" name="Group 16"/>
            <p:cNvGrpSpPr/>
            <p:nvPr/>
          </p:nvGrpSpPr>
          <p:grpSpPr>
            <a:xfrm>
              <a:off x="2040467" y="1455420"/>
              <a:ext cx="731520" cy="365760"/>
              <a:chOff x="7281333" y="254000"/>
              <a:chExt cx="731520" cy="365760"/>
            </a:xfrm>
          </p:grpSpPr>
          <p:sp>
            <p:nvSpPr>
              <p:cNvPr id="18" name="Rectangle 17"/>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10</a:t>
                </a:r>
              </a:p>
            </p:txBody>
          </p:sp>
          <p:sp>
            <p:nvSpPr>
              <p:cNvPr id="19" name="Rectangle 18"/>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6" name="Straight Arrow Connector 5"/>
            <p:cNvCxnSpPr>
              <a:endCxn id="18"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3181351" y="2236470"/>
            <a:ext cx="1114637" cy="365760"/>
            <a:chOff x="1657350" y="1455420"/>
            <a:chExt cx="1114637" cy="365760"/>
          </a:xfrm>
        </p:grpSpPr>
        <p:grpSp>
          <p:nvGrpSpPr>
            <p:cNvPr id="16" name="Group 15"/>
            <p:cNvGrpSpPr/>
            <p:nvPr/>
          </p:nvGrpSpPr>
          <p:grpSpPr>
            <a:xfrm>
              <a:off x="2040467" y="1455420"/>
              <a:ext cx="731520" cy="365760"/>
              <a:chOff x="7281333" y="254000"/>
              <a:chExt cx="731520" cy="365760"/>
            </a:xfrm>
          </p:grpSpPr>
          <p:sp>
            <p:nvSpPr>
              <p:cNvPr id="21" name="Rectangle 20"/>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12</a:t>
                </a:r>
              </a:p>
            </p:txBody>
          </p:sp>
          <p:sp>
            <p:nvSpPr>
              <p:cNvPr id="22" name="Rectangle 21"/>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endParaRPr lang="en-US" dirty="0">
                  <a:solidFill>
                    <a:sysClr val="windowText" lastClr="000000"/>
                  </a:solidFill>
                  <a:latin typeface="Verdana"/>
                </a:endParaRPr>
              </a:p>
            </p:txBody>
          </p:sp>
        </p:grpSp>
        <p:cxnSp>
          <p:nvCxnSpPr>
            <p:cNvPr id="20" name="Straight Arrow Connector 19"/>
            <p:cNvCxnSpPr>
              <a:endCxn id="21"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23" name="Group 22"/>
          <p:cNvGrpSpPr/>
          <p:nvPr/>
        </p:nvGrpSpPr>
        <p:grpSpPr>
          <a:xfrm>
            <a:off x="3181351" y="3731895"/>
            <a:ext cx="1114637" cy="365760"/>
            <a:chOff x="1657350" y="1455420"/>
            <a:chExt cx="1114637" cy="365760"/>
          </a:xfrm>
        </p:grpSpPr>
        <p:grpSp>
          <p:nvGrpSpPr>
            <p:cNvPr id="24" name="Group 23"/>
            <p:cNvGrpSpPr/>
            <p:nvPr/>
          </p:nvGrpSpPr>
          <p:grpSpPr>
            <a:xfrm>
              <a:off x="2040467" y="1455420"/>
              <a:ext cx="731520" cy="365760"/>
              <a:chOff x="7281333" y="254000"/>
              <a:chExt cx="731520" cy="365760"/>
            </a:xfrm>
          </p:grpSpPr>
          <p:sp>
            <p:nvSpPr>
              <p:cNvPr id="26" name="Rectangle 25"/>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86</a:t>
                </a:r>
              </a:p>
            </p:txBody>
          </p:sp>
          <p:sp>
            <p:nvSpPr>
              <p:cNvPr id="27" name="Rectangle 26"/>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25" name="Straight Arrow Connector 24"/>
            <p:cNvCxnSpPr>
              <a:endCxn id="26"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4113108" y="2236470"/>
            <a:ext cx="1114637" cy="365760"/>
            <a:chOff x="1657350" y="1455420"/>
            <a:chExt cx="1114637" cy="365760"/>
          </a:xfrm>
        </p:grpSpPr>
        <p:grpSp>
          <p:nvGrpSpPr>
            <p:cNvPr id="29" name="Group 28"/>
            <p:cNvGrpSpPr/>
            <p:nvPr/>
          </p:nvGrpSpPr>
          <p:grpSpPr>
            <a:xfrm>
              <a:off x="2040467" y="1455420"/>
              <a:ext cx="731520" cy="365760"/>
              <a:chOff x="7281333" y="254000"/>
              <a:chExt cx="731520" cy="365760"/>
            </a:xfrm>
          </p:grpSpPr>
          <p:sp>
            <p:nvSpPr>
              <p:cNvPr id="31" name="Rectangle 30"/>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22</a:t>
                </a:r>
              </a:p>
            </p:txBody>
          </p:sp>
          <p:sp>
            <p:nvSpPr>
              <p:cNvPr id="32" name="Rectangle 31"/>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30" name="Straight Arrow Connector 29"/>
            <p:cNvCxnSpPr>
              <a:endCxn id="31"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1174302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custDataLst>
              <p:tags r:id="rId1"/>
            </p:custDataLst>
          </p:nvPr>
        </p:nvSpPr>
        <p:spPr/>
        <p:txBody>
          <a:bodyPr/>
          <a:lstStyle/>
          <a:p>
            <a:r>
              <a:rPr lang="en-US"/>
              <a:t>Separate Chaining</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94</a:t>
            </a:fld>
            <a:endParaRPr lang="en-US">
              <a:solidFill>
                <a:srgbClr val="2F1343"/>
              </a:solidFill>
              <a:latin typeface="Verdana"/>
            </a:endParaRPr>
          </a:p>
        </p:txBody>
      </p:sp>
      <p:graphicFrame>
        <p:nvGraphicFramePr>
          <p:cNvPr id="7" name="Group 64"/>
          <p:cNvGraphicFramePr>
            <a:graphicFrameLocks noGrp="1"/>
          </p:cNvGraphicFramePr>
          <p:nvPr>
            <p:custDataLst>
              <p:tags r:id="rId2"/>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5" name="Content Placeholder 2"/>
          <p:cNvSpPr>
            <a:spLocks noGrp="1"/>
          </p:cNvSpPr>
          <p:nvPr>
            <p:ph idx="1"/>
            <p:custDataLst>
              <p:tags r:id="rId3"/>
            </p:custDataLst>
          </p:nvPr>
        </p:nvSpPr>
        <p:spPr>
          <a:xfrm>
            <a:off x="5655737" y="2871018"/>
            <a:ext cx="6070600" cy="3485331"/>
          </a:xfrm>
        </p:spPr>
        <p:txBody>
          <a:bodyPr>
            <a:normAutofit fontScale="85000" lnSpcReduction="20000"/>
          </a:bodyPr>
          <a:lstStyle/>
          <a:p>
            <a:pPr marL="0" indent="0">
              <a:buNone/>
            </a:pPr>
            <a:r>
              <a:rPr lang="en-US" sz="2600" dirty="0"/>
              <a:t>All keys that map to the same </a:t>
            </a:r>
            <a:br>
              <a:rPr lang="en-US" sz="2600" dirty="0"/>
            </a:br>
            <a:r>
              <a:rPr lang="en-US" sz="2600" dirty="0"/>
              <a:t>table location are kept in a linked list (a.k.a. a "chain" or "bucket")</a:t>
            </a:r>
          </a:p>
          <a:p>
            <a:pPr marL="0" indent="0">
              <a:buNone/>
            </a:pPr>
            <a:endParaRPr lang="en-US" sz="2600" dirty="0"/>
          </a:p>
          <a:p>
            <a:pPr marL="0" indent="0">
              <a:buNone/>
            </a:pPr>
            <a:endParaRPr lang="en-US" sz="2600" dirty="0"/>
          </a:p>
          <a:p>
            <a:pPr marL="0" indent="0">
              <a:buNone/>
            </a:pPr>
            <a:r>
              <a:rPr lang="en-US" sz="2600" dirty="0"/>
              <a:t>As easy as it sounds</a:t>
            </a:r>
            <a:endParaRPr lang="en-US" dirty="0"/>
          </a:p>
          <a:p>
            <a:pPr marL="457200" lvl="1" indent="0">
              <a:buNone/>
            </a:pPr>
            <a:endParaRPr lang="en-US" dirty="0"/>
          </a:p>
          <a:p>
            <a:pPr marL="457200" lvl="1" indent="0">
              <a:buNone/>
            </a:pPr>
            <a:endParaRPr lang="en-US" dirty="0"/>
          </a:p>
          <a:p>
            <a:pPr marL="0" indent="0">
              <a:buNone/>
            </a:pPr>
            <a:r>
              <a:rPr lang="en-US" sz="2600" dirty="0"/>
              <a:t>Example: </a:t>
            </a:r>
            <a:br>
              <a:rPr lang="en-US" sz="2600" dirty="0"/>
            </a:br>
            <a:r>
              <a:rPr lang="en-US" sz="2600" dirty="0"/>
              <a:t>	insert 10, 22, 86, 12, 42 </a:t>
            </a:r>
            <a:br>
              <a:rPr lang="en-US" sz="2600" dirty="0"/>
            </a:br>
            <a:r>
              <a:rPr lang="en-US" sz="2600" dirty="0"/>
              <a:t>	with h(x) = x % 10</a:t>
            </a:r>
          </a:p>
        </p:txBody>
      </p:sp>
      <p:grpSp>
        <p:nvGrpSpPr>
          <p:cNvPr id="8" name="Group 7"/>
          <p:cNvGrpSpPr/>
          <p:nvPr/>
        </p:nvGrpSpPr>
        <p:grpSpPr>
          <a:xfrm>
            <a:off x="3181351" y="1455420"/>
            <a:ext cx="1114637" cy="365760"/>
            <a:chOff x="1657350" y="1455420"/>
            <a:chExt cx="1114637" cy="365760"/>
          </a:xfrm>
        </p:grpSpPr>
        <p:grpSp>
          <p:nvGrpSpPr>
            <p:cNvPr id="17" name="Group 16"/>
            <p:cNvGrpSpPr/>
            <p:nvPr/>
          </p:nvGrpSpPr>
          <p:grpSpPr>
            <a:xfrm>
              <a:off x="2040467" y="1455420"/>
              <a:ext cx="731520" cy="365760"/>
              <a:chOff x="7281333" y="254000"/>
              <a:chExt cx="731520" cy="365760"/>
            </a:xfrm>
          </p:grpSpPr>
          <p:sp>
            <p:nvSpPr>
              <p:cNvPr id="18" name="Rectangle 17"/>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10</a:t>
                </a:r>
              </a:p>
            </p:txBody>
          </p:sp>
          <p:sp>
            <p:nvSpPr>
              <p:cNvPr id="19" name="Rectangle 18"/>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6" name="Straight Arrow Connector 5"/>
            <p:cNvCxnSpPr>
              <a:endCxn id="18"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3181351" y="2236470"/>
            <a:ext cx="1114637" cy="365760"/>
            <a:chOff x="1657350" y="1455420"/>
            <a:chExt cx="1114637" cy="365760"/>
          </a:xfrm>
        </p:grpSpPr>
        <p:grpSp>
          <p:nvGrpSpPr>
            <p:cNvPr id="16" name="Group 15"/>
            <p:cNvGrpSpPr/>
            <p:nvPr/>
          </p:nvGrpSpPr>
          <p:grpSpPr>
            <a:xfrm>
              <a:off x="2040467" y="1455420"/>
              <a:ext cx="731520" cy="365760"/>
              <a:chOff x="7281333" y="254000"/>
              <a:chExt cx="731520" cy="365760"/>
            </a:xfrm>
          </p:grpSpPr>
          <p:sp>
            <p:nvSpPr>
              <p:cNvPr id="21" name="Rectangle 20"/>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42</a:t>
                </a:r>
              </a:p>
            </p:txBody>
          </p:sp>
          <p:sp>
            <p:nvSpPr>
              <p:cNvPr id="22" name="Rectangle 21"/>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endParaRPr lang="en-US" dirty="0">
                  <a:solidFill>
                    <a:sysClr val="windowText" lastClr="000000"/>
                  </a:solidFill>
                  <a:latin typeface="Verdana"/>
                </a:endParaRPr>
              </a:p>
            </p:txBody>
          </p:sp>
        </p:grpSp>
        <p:cxnSp>
          <p:nvCxnSpPr>
            <p:cNvPr id="20" name="Straight Arrow Connector 19"/>
            <p:cNvCxnSpPr>
              <a:endCxn id="21"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23" name="Group 22"/>
          <p:cNvGrpSpPr/>
          <p:nvPr/>
        </p:nvGrpSpPr>
        <p:grpSpPr>
          <a:xfrm>
            <a:off x="3181351" y="3731895"/>
            <a:ext cx="1114637" cy="365760"/>
            <a:chOff x="1657350" y="1455420"/>
            <a:chExt cx="1114637" cy="365760"/>
          </a:xfrm>
        </p:grpSpPr>
        <p:grpSp>
          <p:nvGrpSpPr>
            <p:cNvPr id="24" name="Group 23"/>
            <p:cNvGrpSpPr/>
            <p:nvPr/>
          </p:nvGrpSpPr>
          <p:grpSpPr>
            <a:xfrm>
              <a:off x="2040467" y="1455420"/>
              <a:ext cx="731520" cy="365760"/>
              <a:chOff x="7281333" y="254000"/>
              <a:chExt cx="731520" cy="365760"/>
            </a:xfrm>
          </p:grpSpPr>
          <p:sp>
            <p:nvSpPr>
              <p:cNvPr id="26" name="Rectangle 25"/>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86</a:t>
                </a:r>
              </a:p>
            </p:txBody>
          </p:sp>
          <p:sp>
            <p:nvSpPr>
              <p:cNvPr id="27" name="Rectangle 26"/>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25" name="Straight Arrow Connector 24"/>
            <p:cNvCxnSpPr>
              <a:endCxn id="26"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4113108" y="2236470"/>
            <a:ext cx="1114637" cy="365760"/>
            <a:chOff x="1657350" y="1455420"/>
            <a:chExt cx="1114637" cy="365760"/>
          </a:xfrm>
        </p:grpSpPr>
        <p:grpSp>
          <p:nvGrpSpPr>
            <p:cNvPr id="29" name="Group 28"/>
            <p:cNvGrpSpPr/>
            <p:nvPr/>
          </p:nvGrpSpPr>
          <p:grpSpPr>
            <a:xfrm>
              <a:off x="2040467" y="1455420"/>
              <a:ext cx="731520" cy="365760"/>
              <a:chOff x="7281333" y="254000"/>
              <a:chExt cx="731520" cy="365760"/>
            </a:xfrm>
          </p:grpSpPr>
          <p:sp>
            <p:nvSpPr>
              <p:cNvPr id="31" name="Rectangle 30"/>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12</a:t>
                </a:r>
              </a:p>
            </p:txBody>
          </p:sp>
          <p:sp>
            <p:nvSpPr>
              <p:cNvPr id="32" name="Rectangle 31"/>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endParaRPr lang="en-US" dirty="0">
                  <a:solidFill>
                    <a:sysClr val="windowText" lastClr="000000"/>
                  </a:solidFill>
                  <a:latin typeface="Verdana"/>
                </a:endParaRPr>
              </a:p>
            </p:txBody>
          </p:sp>
        </p:grpSp>
        <p:cxnSp>
          <p:nvCxnSpPr>
            <p:cNvPr id="30" name="Straight Arrow Connector 29"/>
            <p:cNvCxnSpPr>
              <a:endCxn id="31"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33" name="Group 32"/>
          <p:cNvGrpSpPr/>
          <p:nvPr/>
        </p:nvGrpSpPr>
        <p:grpSpPr>
          <a:xfrm>
            <a:off x="5058624" y="2236470"/>
            <a:ext cx="1114637" cy="365760"/>
            <a:chOff x="1657350" y="1455420"/>
            <a:chExt cx="1114637" cy="365760"/>
          </a:xfrm>
        </p:grpSpPr>
        <p:grpSp>
          <p:nvGrpSpPr>
            <p:cNvPr id="34" name="Group 33"/>
            <p:cNvGrpSpPr/>
            <p:nvPr/>
          </p:nvGrpSpPr>
          <p:grpSpPr>
            <a:xfrm>
              <a:off x="2040467" y="1455420"/>
              <a:ext cx="731520" cy="365760"/>
              <a:chOff x="7281333" y="254000"/>
              <a:chExt cx="731520" cy="365760"/>
            </a:xfrm>
          </p:grpSpPr>
          <p:sp>
            <p:nvSpPr>
              <p:cNvPr id="36" name="Rectangle 35"/>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22</a:t>
                </a:r>
              </a:p>
            </p:txBody>
          </p:sp>
          <p:sp>
            <p:nvSpPr>
              <p:cNvPr id="37" name="Rectangle 36"/>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35" name="Straight Arrow Connector 34"/>
            <p:cNvCxnSpPr>
              <a:endCxn id="36"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1474885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custDataLst>
              <p:tags r:id="rId1"/>
            </p:custDataLst>
          </p:nvPr>
        </p:nvSpPr>
        <p:spPr/>
        <p:txBody>
          <a:bodyPr/>
          <a:lstStyle/>
          <a:p>
            <a:r>
              <a:rPr lang="en-US" dirty="0"/>
              <a:t>Load Factor?</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95</a:t>
            </a:fld>
            <a:endParaRPr lang="en-US">
              <a:solidFill>
                <a:srgbClr val="2F1343"/>
              </a:solidFill>
              <a:latin typeface="Verdana"/>
            </a:endParaRPr>
          </a:p>
        </p:txBody>
      </p:sp>
      <p:graphicFrame>
        <p:nvGraphicFramePr>
          <p:cNvPr id="7" name="Group 64"/>
          <p:cNvGraphicFramePr>
            <a:graphicFrameLocks noGrp="1"/>
          </p:cNvGraphicFramePr>
          <p:nvPr>
            <p:custDataLst>
              <p:tags r:id="rId2"/>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grpSp>
        <p:nvGrpSpPr>
          <p:cNvPr id="8" name="Group 7"/>
          <p:cNvGrpSpPr/>
          <p:nvPr/>
        </p:nvGrpSpPr>
        <p:grpSpPr>
          <a:xfrm>
            <a:off x="3181351" y="1455420"/>
            <a:ext cx="1114637" cy="365760"/>
            <a:chOff x="1657350" y="1455420"/>
            <a:chExt cx="1114637" cy="365760"/>
          </a:xfrm>
        </p:grpSpPr>
        <p:grpSp>
          <p:nvGrpSpPr>
            <p:cNvPr id="17" name="Group 16"/>
            <p:cNvGrpSpPr/>
            <p:nvPr/>
          </p:nvGrpSpPr>
          <p:grpSpPr>
            <a:xfrm>
              <a:off x="2040467" y="1455420"/>
              <a:ext cx="731520" cy="365760"/>
              <a:chOff x="7281333" y="254000"/>
              <a:chExt cx="731520" cy="365760"/>
            </a:xfrm>
          </p:grpSpPr>
          <p:sp>
            <p:nvSpPr>
              <p:cNvPr id="18" name="Rectangle 17"/>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10</a:t>
                </a:r>
              </a:p>
            </p:txBody>
          </p:sp>
          <p:sp>
            <p:nvSpPr>
              <p:cNvPr id="19" name="Rectangle 18"/>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6" name="Straight Arrow Connector 5"/>
            <p:cNvCxnSpPr>
              <a:endCxn id="18"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3181351" y="2236470"/>
            <a:ext cx="1114637" cy="365760"/>
            <a:chOff x="1657350" y="1455420"/>
            <a:chExt cx="1114637" cy="365760"/>
          </a:xfrm>
        </p:grpSpPr>
        <p:grpSp>
          <p:nvGrpSpPr>
            <p:cNvPr id="16" name="Group 15"/>
            <p:cNvGrpSpPr/>
            <p:nvPr/>
          </p:nvGrpSpPr>
          <p:grpSpPr>
            <a:xfrm>
              <a:off x="2040467" y="1455420"/>
              <a:ext cx="731520" cy="365760"/>
              <a:chOff x="7281333" y="254000"/>
              <a:chExt cx="731520" cy="365760"/>
            </a:xfrm>
          </p:grpSpPr>
          <p:sp>
            <p:nvSpPr>
              <p:cNvPr id="21" name="Rectangle 20"/>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42</a:t>
                </a:r>
              </a:p>
            </p:txBody>
          </p:sp>
          <p:sp>
            <p:nvSpPr>
              <p:cNvPr id="22" name="Rectangle 21"/>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endParaRPr lang="en-US" dirty="0">
                  <a:solidFill>
                    <a:sysClr val="windowText" lastClr="000000"/>
                  </a:solidFill>
                  <a:latin typeface="Verdana"/>
                </a:endParaRPr>
              </a:p>
            </p:txBody>
          </p:sp>
        </p:grpSp>
        <p:cxnSp>
          <p:nvCxnSpPr>
            <p:cNvPr id="20" name="Straight Arrow Connector 19"/>
            <p:cNvCxnSpPr>
              <a:endCxn id="21"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23" name="Group 22"/>
          <p:cNvGrpSpPr/>
          <p:nvPr/>
        </p:nvGrpSpPr>
        <p:grpSpPr>
          <a:xfrm>
            <a:off x="3181351" y="3731895"/>
            <a:ext cx="1114637" cy="365760"/>
            <a:chOff x="1657350" y="1455420"/>
            <a:chExt cx="1114637" cy="365760"/>
          </a:xfrm>
        </p:grpSpPr>
        <p:grpSp>
          <p:nvGrpSpPr>
            <p:cNvPr id="24" name="Group 23"/>
            <p:cNvGrpSpPr/>
            <p:nvPr/>
          </p:nvGrpSpPr>
          <p:grpSpPr>
            <a:xfrm>
              <a:off x="2040467" y="1455420"/>
              <a:ext cx="731520" cy="365760"/>
              <a:chOff x="7281333" y="254000"/>
              <a:chExt cx="731520" cy="365760"/>
            </a:xfrm>
          </p:grpSpPr>
          <p:sp>
            <p:nvSpPr>
              <p:cNvPr id="26" name="Rectangle 25"/>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86</a:t>
                </a:r>
              </a:p>
            </p:txBody>
          </p:sp>
          <p:sp>
            <p:nvSpPr>
              <p:cNvPr id="27" name="Rectangle 26"/>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25" name="Straight Arrow Connector 24"/>
            <p:cNvCxnSpPr>
              <a:endCxn id="26"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4113108" y="2236470"/>
            <a:ext cx="1114637" cy="365760"/>
            <a:chOff x="1657350" y="1455420"/>
            <a:chExt cx="1114637" cy="365760"/>
          </a:xfrm>
        </p:grpSpPr>
        <p:grpSp>
          <p:nvGrpSpPr>
            <p:cNvPr id="29" name="Group 28"/>
            <p:cNvGrpSpPr/>
            <p:nvPr/>
          </p:nvGrpSpPr>
          <p:grpSpPr>
            <a:xfrm>
              <a:off x="2040467" y="1455420"/>
              <a:ext cx="731520" cy="365760"/>
              <a:chOff x="7281333" y="254000"/>
              <a:chExt cx="731520" cy="365760"/>
            </a:xfrm>
          </p:grpSpPr>
          <p:sp>
            <p:nvSpPr>
              <p:cNvPr id="31" name="Rectangle 30"/>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12</a:t>
                </a:r>
              </a:p>
            </p:txBody>
          </p:sp>
          <p:sp>
            <p:nvSpPr>
              <p:cNvPr id="32" name="Rectangle 31"/>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endParaRPr lang="en-US" dirty="0">
                  <a:solidFill>
                    <a:sysClr val="windowText" lastClr="000000"/>
                  </a:solidFill>
                  <a:latin typeface="Verdana"/>
                </a:endParaRPr>
              </a:p>
            </p:txBody>
          </p:sp>
        </p:grpSp>
        <p:cxnSp>
          <p:nvCxnSpPr>
            <p:cNvPr id="30" name="Straight Arrow Connector 29"/>
            <p:cNvCxnSpPr>
              <a:endCxn id="31"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33" name="Group 32"/>
          <p:cNvGrpSpPr/>
          <p:nvPr/>
        </p:nvGrpSpPr>
        <p:grpSpPr>
          <a:xfrm>
            <a:off x="5058624" y="2236470"/>
            <a:ext cx="1114637" cy="365760"/>
            <a:chOff x="1657350" y="1455420"/>
            <a:chExt cx="1114637" cy="365760"/>
          </a:xfrm>
        </p:grpSpPr>
        <p:grpSp>
          <p:nvGrpSpPr>
            <p:cNvPr id="34" name="Group 33"/>
            <p:cNvGrpSpPr/>
            <p:nvPr/>
          </p:nvGrpSpPr>
          <p:grpSpPr>
            <a:xfrm>
              <a:off x="2040467" y="1455420"/>
              <a:ext cx="731520" cy="365760"/>
              <a:chOff x="7281333" y="254000"/>
              <a:chExt cx="731520" cy="365760"/>
            </a:xfrm>
          </p:grpSpPr>
          <p:sp>
            <p:nvSpPr>
              <p:cNvPr id="36" name="Rectangle 35"/>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22</a:t>
                </a:r>
              </a:p>
            </p:txBody>
          </p:sp>
          <p:sp>
            <p:nvSpPr>
              <p:cNvPr id="37" name="Rectangle 36"/>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35" name="Straight Arrow Connector 34"/>
            <p:cNvCxnSpPr>
              <a:endCxn id="36"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8" name="TextBox 37"/>
              <p:cNvSpPr txBox="1"/>
              <p:nvPr/>
            </p:nvSpPr>
            <p:spPr>
              <a:xfrm>
                <a:off x="4645238" y="5019898"/>
                <a:ext cx="3553152" cy="935962"/>
              </a:xfrm>
              <a:prstGeom prst="rect">
                <a:avLst/>
              </a:prstGeom>
              <a:noFill/>
            </p:spPr>
            <p:txBody>
              <a:bodyPr wrap="none" rtlCol="0" anchor="ctr">
                <a:spAutoFit/>
              </a:bodyPr>
              <a:lstStyle/>
              <a:p>
                <a:pPr>
                  <a:defRPr/>
                </a:pPr>
                <a14:m>
                  <m:oMathPara xmlns:m="http://schemas.openxmlformats.org/officeDocument/2006/math">
                    <m:oMathParaPr>
                      <m:jc m:val="centerGroup"/>
                    </m:oMathParaPr>
                    <m:oMath xmlns:m="http://schemas.openxmlformats.org/officeDocument/2006/math">
                      <m:r>
                        <a:rPr lang="en-US" sz="3200">
                          <a:solidFill>
                            <a:prstClr val="black"/>
                          </a:solidFill>
                          <a:latin typeface="Cambria Math"/>
                        </a:rPr>
                        <m:t>𝜆</m:t>
                      </m:r>
                      <m:r>
                        <a:rPr lang="en-US" sz="3200">
                          <a:solidFill>
                            <a:prstClr val="black"/>
                          </a:solidFill>
                          <a:latin typeface="Cambria Math"/>
                        </a:rPr>
                        <m:t>=</m:t>
                      </m:r>
                      <m:f>
                        <m:fPr>
                          <m:ctrlPr>
                            <a:rPr lang="en-US" sz="3200" i="1">
                              <a:solidFill>
                                <a:prstClr val="black"/>
                              </a:solidFill>
                              <a:latin typeface="Cambria Math" panose="02040503050406030204" pitchFamily="18" charset="0"/>
                            </a:rPr>
                          </m:ctrlPr>
                        </m:fPr>
                        <m:num>
                          <m:r>
                            <a:rPr lang="en-US" sz="3200">
                              <a:solidFill>
                                <a:prstClr val="black"/>
                              </a:solidFill>
                              <a:latin typeface="Cambria Math"/>
                            </a:rPr>
                            <m:t>𝑛</m:t>
                          </m:r>
                        </m:num>
                        <m:den>
                          <m:r>
                            <a:rPr lang="en-US" sz="3200">
                              <a:solidFill>
                                <a:prstClr val="black"/>
                              </a:solidFill>
                              <a:latin typeface="Cambria Math"/>
                            </a:rPr>
                            <m:t>𝑇𝑎𝑏𝑙𝑒𝑆𝑖𝑧𝑒</m:t>
                          </m:r>
                        </m:den>
                      </m:f>
                      <m:r>
                        <a:rPr lang="en-US" sz="3200" i="1">
                          <a:solidFill>
                            <a:prstClr val="black"/>
                          </a:solidFill>
                          <a:latin typeface="Cambria Math"/>
                        </a:rPr>
                        <m:t>= ?</m:t>
                      </m:r>
                    </m:oMath>
                  </m:oMathPara>
                </a14:m>
                <a:endParaRPr lang="en-US" sz="3200" dirty="0">
                  <a:solidFill>
                    <a:prstClr val="black"/>
                  </a:solidFill>
                  <a:latin typeface="Verdana"/>
                </a:endParaRPr>
              </a:p>
            </p:txBody>
          </p:sp>
        </mc:Choice>
        <mc:Fallback xmlns="">
          <p:sp>
            <p:nvSpPr>
              <p:cNvPr id="38" name="TextBox 37"/>
              <p:cNvSpPr txBox="1">
                <a:spLocks noRot="1" noChangeAspect="1" noMove="1" noResize="1" noEditPoints="1" noAdjustHandles="1" noChangeArrowheads="1" noChangeShapeType="1" noTextEdit="1"/>
              </p:cNvSpPr>
              <p:nvPr/>
            </p:nvSpPr>
            <p:spPr>
              <a:xfrm>
                <a:off x="4645238" y="5019898"/>
                <a:ext cx="3553152" cy="93596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7367016" y="4923789"/>
                <a:ext cx="2186432" cy="1027525"/>
              </a:xfrm>
              <a:prstGeom prst="rect">
                <a:avLst/>
              </a:prstGeom>
              <a:solidFill>
                <a:schemeClr val="bg1"/>
              </a:solidFill>
            </p:spPr>
            <p:txBody>
              <a:bodyPr wrap="none" lIns="0" rtlCol="0" anchor="ctr">
                <a:spAutoFit/>
              </a:bodyPr>
              <a:lstStyle/>
              <a:p>
                <a:pPr>
                  <a:defRPr/>
                </a:pPr>
                <a14:m>
                  <m:oMathPara xmlns:m="http://schemas.openxmlformats.org/officeDocument/2006/math">
                    <m:oMathParaPr>
                      <m:jc m:val="centerGroup"/>
                    </m:oMathParaPr>
                    <m:oMath xmlns:m="http://schemas.openxmlformats.org/officeDocument/2006/math">
                      <m:r>
                        <a:rPr lang="en-US" sz="3200">
                          <a:solidFill>
                            <a:prstClr val="black"/>
                          </a:solidFill>
                          <a:latin typeface="Cambria Math"/>
                        </a:rPr>
                        <m:t>=</m:t>
                      </m:r>
                      <m:f>
                        <m:fPr>
                          <m:ctrlPr>
                            <a:rPr lang="en-US" sz="3200" i="1">
                              <a:solidFill>
                                <a:prstClr val="black"/>
                              </a:solidFill>
                              <a:latin typeface="Cambria Math" panose="02040503050406030204" pitchFamily="18" charset="0"/>
                            </a:rPr>
                          </m:ctrlPr>
                        </m:fPr>
                        <m:num>
                          <m:r>
                            <a:rPr lang="en-US" sz="3200" i="1">
                              <a:solidFill>
                                <a:prstClr val="black"/>
                              </a:solidFill>
                              <a:latin typeface="Cambria Math"/>
                            </a:rPr>
                            <m:t>5</m:t>
                          </m:r>
                        </m:num>
                        <m:den>
                          <m:r>
                            <a:rPr lang="en-US" sz="3200" i="1">
                              <a:solidFill>
                                <a:prstClr val="black"/>
                              </a:solidFill>
                              <a:latin typeface="Cambria Math"/>
                            </a:rPr>
                            <m:t>10</m:t>
                          </m:r>
                        </m:den>
                      </m:f>
                      <m:r>
                        <a:rPr lang="en-US" sz="3200" i="1">
                          <a:solidFill>
                            <a:prstClr val="black"/>
                          </a:solidFill>
                          <a:latin typeface="Cambria Math"/>
                        </a:rPr>
                        <m:t>=0.5</m:t>
                      </m:r>
                    </m:oMath>
                  </m:oMathPara>
                </a14:m>
                <a:endParaRPr lang="en-US" sz="3200" dirty="0">
                  <a:solidFill>
                    <a:prstClr val="black"/>
                  </a:solidFill>
                  <a:latin typeface="Verdana"/>
                </a:endParaRPr>
              </a:p>
            </p:txBody>
          </p:sp>
        </mc:Choice>
        <mc:Fallback xmlns="">
          <p:sp>
            <p:nvSpPr>
              <p:cNvPr id="39" name="TextBox 38"/>
              <p:cNvSpPr txBox="1">
                <a:spLocks noRot="1" noChangeAspect="1" noMove="1" noResize="1" noEditPoints="1" noAdjustHandles="1" noChangeArrowheads="1" noChangeShapeType="1" noTextEdit="1"/>
              </p:cNvSpPr>
              <p:nvPr/>
            </p:nvSpPr>
            <p:spPr>
              <a:xfrm>
                <a:off x="7367016" y="4923789"/>
                <a:ext cx="2186432" cy="1027525"/>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44375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custDataLst>
              <p:tags r:id="rId1"/>
            </p:custDataLst>
          </p:nvPr>
        </p:nvSpPr>
        <p:spPr/>
        <p:txBody>
          <a:bodyPr/>
          <a:lstStyle/>
          <a:p>
            <a:r>
              <a:rPr lang="en-US" dirty="0"/>
              <a:t>Load Factor?</a:t>
            </a:r>
          </a:p>
        </p:txBody>
      </p:sp>
      <p:sp>
        <p:nvSpPr>
          <p:cNvPr id="4" name="Slide Number Placeholder 3"/>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96</a:t>
            </a:fld>
            <a:endParaRPr lang="en-US">
              <a:solidFill>
                <a:srgbClr val="2F1343"/>
              </a:solidFill>
              <a:latin typeface="Verdana"/>
            </a:endParaRPr>
          </a:p>
        </p:txBody>
      </p:sp>
      <p:graphicFrame>
        <p:nvGraphicFramePr>
          <p:cNvPr id="7" name="Group 64"/>
          <p:cNvGraphicFramePr>
            <a:graphicFrameLocks noGrp="1"/>
          </p:cNvGraphicFramePr>
          <p:nvPr>
            <p:custDataLst>
              <p:tags r:id="rId2"/>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grpSp>
        <p:nvGrpSpPr>
          <p:cNvPr id="8" name="Group 7"/>
          <p:cNvGrpSpPr/>
          <p:nvPr/>
        </p:nvGrpSpPr>
        <p:grpSpPr>
          <a:xfrm>
            <a:off x="3181351" y="1455420"/>
            <a:ext cx="1114637" cy="365760"/>
            <a:chOff x="1657350" y="1455420"/>
            <a:chExt cx="1114637" cy="365760"/>
          </a:xfrm>
        </p:grpSpPr>
        <p:grpSp>
          <p:nvGrpSpPr>
            <p:cNvPr id="17" name="Group 16"/>
            <p:cNvGrpSpPr/>
            <p:nvPr/>
          </p:nvGrpSpPr>
          <p:grpSpPr>
            <a:xfrm>
              <a:off x="2040467" y="1455420"/>
              <a:ext cx="731520" cy="365760"/>
              <a:chOff x="7281333" y="254000"/>
              <a:chExt cx="731520" cy="365760"/>
            </a:xfrm>
          </p:grpSpPr>
          <p:sp>
            <p:nvSpPr>
              <p:cNvPr id="18" name="Rectangle 17"/>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10</a:t>
                </a:r>
              </a:p>
            </p:txBody>
          </p:sp>
          <p:sp>
            <p:nvSpPr>
              <p:cNvPr id="19" name="Rectangle 18"/>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6" name="Straight Arrow Connector 5"/>
            <p:cNvCxnSpPr>
              <a:endCxn id="18"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3181351" y="2236470"/>
            <a:ext cx="1114637" cy="365760"/>
            <a:chOff x="1657350" y="1455420"/>
            <a:chExt cx="1114637" cy="365760"/>
          </a:xfrm>
        </p:grpSpPr>
        <p:grpSp>
          <p:nvGrpSpPr>
            <p:cNvPr id="16" name="Group 15"/>
            <p:cNvGrpSpPr/>
            <p:nvPr/>
          </p:nvGrpSpPr>
          <p:grpSpPr>
            <a:xfrm>
              <a:off x="2040467" y="1455420"/>
              <a:ext cx="731520" cy="365760"/>
              <a:chOff x="7281333" y="254000"/>
              <a:chExt cx="731520" cy="365760"/>
            </a:xfrm>
          </p:grpSpPr>
          <p:sp>
            <p:nvSpPr>
              <p:cNvPr id="21" name="Rectangle 20"/>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42</a:t>
                </a:r>
              </a:p>
            </p:txBody>
          </p:sp>
          <p:sp>
            <p:nvSpPr>
              <p:cNvPr id="22" name="Rectangle 21"/>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endParaRPr lang="en-US" dirty="0">
                  <a:solidFill>
                    <a:sysClr val="windowText" lastClr="000000"/>
                  </a:solidFill>
                  <a:latin typeface="Verdana"/>
                </a:endParaRPr>
              </a:p>
            </p:txBody>
          </p:sp>
        </p:grpSp>
        <p:cxnSp>
          <p:nvCxnSpPr>
            <p:cNvPr id="20" name="Straight Arrow Connector 19"/>
            <p:cNvCxnSpPr>
              <a:endCxn id="21"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23" name="Group 22"/>
          <p:cNvGrpSpPr/>
          <p:nvPr/>
        </p:nvGrpSpPr>
        <p:grpSpPr>
          <a:xfrm>
            <a:off x="3181351" y="3731895"/>
            <a:ext cx="1114637" cy="365760"/>
            <a:chOff x="1657350" y="1455420"/>
            <a:chExt cx="1114637" cy="365760"/>
          </a:xfrm>
        </p:grpSpPr>
        <p:grpSp>
          <p:nvGrpSpPr>
            <p:cNvPr id="24" name="Group 23"/>
            <p:cNvGrpSpPr/>
            <p:nvPr/>
          </p:nvGrpSpPr>
          <p:grpSpPr>
            <a:xfrm>
              <a:off x="2040467" y="1455420"/>
              <a:ext cx="731520" cy="365760"/>
              <a:chOff x="7281333" y="254000"/>
              <a:chExt cx="731520" cy="365760"/>
            </a:xfrm>
          </p:grpSpPr>
          <p:sp>
            <p:nvSpPr>
              <p:cNvPr id="26" name="Rectangle 25"/>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86</a:t>
                </a:r>
              </a:p>
            </p:txBody>
          </p:sp>
          <p:sp>
            <p:nvSpPr>
              <p:cNvPr id="27" name="Rectangle 26"/>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25" name="Straight Arrow Connector 24"/>
            <p:cNvCxnSpPr>
              <a:endCxn id="26"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28" name="Group 27"/>
          <p:cNvGrpSpPr/>
          <p:nvPr/>
        </p:nvGrpSpPr>
        <p:grpSpPr>
          <a:xfrm>
            <a:off x="4113108" y="2236470"/>
            <a:ext cx="1114637" cy="365760"/>
            <a:chOff x="1657350" y="1455420"/>
            <a:chExt cx="1114637" cy="365760"/>
          </a:xfrm>
        </p:grpSpPr>
        <p:grpSp>
          <p:nvGrpSpPr>
            <p:cNvPr id="29" name="Group 28"/>
            <p:cNvGrpSpPr/>
            <p:nvPr/>
          </p:nvGrpSpPr>
          <p:grpSpPr>
            <a:xfrm>
              <a:off x="2040467" y="1455420"/>
              <a:ext cx="731520" cy="365760"/>
              <a:chOff x="7281333" y="254000"/>
              <a:chExt cx="731520" cy="365760"/>
            </a:xfrm>
          </p:grpSpPr>
          <p:sp>
            <p:nvSpPr>
              <p:cNvPr id="31" name="Rectangle 30"/>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12</a:t>
                </a:r>
              </a:p>
            </p:txBody>
          </p:sp>
          <p:sp>
            <p:nvSpPr>
              <p:cNvPr id="32" name="Rectangle 31"/>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endParaRPr lang="en-US" dirty="0">
                  <a:solidFill>
                    <a:sysClr val="windowText" lastClr="000000"/>
                  </a:solidFill>
                  <a:latin typeface="Verdana"/>
                </a:endParaRPr>
              </a:p>
            </p:txBody>
          </p:sp>
        </p:grpSp>
        <p:cxnSp>
          <p:nvCxnSpPr>
            <p:cNvPr id="30" name="Straight Arrow Connector 29"/>
            <p:cNvCxnSpPr>
              <a:endCxn id="31"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33" name="Group 32"/>
          <p:cNvGrpSpPr/>
          <p:nvPr/>
        </p:nvGrpSpPr>
        <p:grpSpPr>
          <a:xfrm>
            <a:off x="5058624" y="2236470"/>
            <a:ext cx="1114637" cy="365760"/>
            <a:chOff x="1657350" y="1455420"/>
            <a:chExt cx="1114637" cy="365760"/>
          </a:xfrm>
        </p:grpSpPr>
        <p:grpSp>
          <p:nvGrpSpPr>
            <p:cNvPr id="34" name="Group 33"/>
            <p:cNvGrpSpPr/>
            <p:nvPr/>
          </p:nvGrpSpPr>
          <p:grpSpPr>
            <a:xfrm>
              <a:off x="2040467" y="1455420"/>
              <a:ext cx="731520" cy="365760"/>
              <a:chOff x="7281333" y="254000"/>
              <a:chExt cx="731520" cy="365760"/>
            </a:xfrm>
          </p:grpSpPr>
          <p:sp>
            <p:nvSpPr>
              <p:cNvPr id="36" name="Rectangle 35"/>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22</a:t>
                </a:r>
              </a:p>
            </p:txBody>
          </p:sp>
          <p:sp>
            <p:nvSpPr>
              <p:cNvPr id="37" name="Rectangle 36"/>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35" name="Straight Arrow Connector 34"/>
            <p:cNvCxnSpPr>
              <a:endCxn id="36"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8" name="TextBox 37"/>
              <p:cNvSpPr txBox="1"/>
              <p:nvPr/>
            </p:nvSpPr>
            <p:spPr>
              <a:xfrm>
                <a:off x="4645238" y="5019898"/>
                <a:ext cx="3553152" cy="935962"/>
              </a:xfrm>
              <a:prstGeom prst="rect">
                <a:avLst/>
              </a:prstGeom>
              <a:noFill/>
            </p:spPr>
            <p:txBody>
              <a:bodyPr wrap="none" rtlCol="0" anchor="ctr">
                <a:spAutoFit/>
              </a:bodyPr>
              <a:lstStyle/>
              <a:p>
                <a:pPr>
                  <a:defRPr/>
                </a:pPr>
                <a14:m>
                  <m:oMathPara xmlns:m="http://schemas.openxmlformats.org/officeDocument/2006/math">
                    <m:oMathParaPr>
                      <m:jc m:val="centerGroup"/>
                    </m:oMathParaPr>
                    <m:oMath xmlns:m="http://schemas.openxmlformats.org/officeDocument/2006/math">
                      <m:r>
                        <a:rPr lang="en-US" sz="3200">
                          <a:solidFill>
                            <a:prstClr val="black"/>
                          </a:solidFill>
                          <a:latin typeface="Cambria Math"/>
                        </a:rPr>
                        <m:t>𝜆</m:t>
                      </m:r>
                      <m:r>
                        <a:rPr lang="en-US" sz="3200">
                          <a:solidFill>
                            <a:prstClr val="black"/>
                          </a:solidFill>
                          <a:latin typeface="Cambria Math"/>
                        </a:rPr>
                        <m:t>=</m:t>
                      </m:r>
                      <m:f>
                        <m:fPr>
                          <m:ctrlPr>
                            <a:rPr lang="en-US" sz="3200" i="1">
                              <a:solidFill>
                                <a:prstClr val="black"/>
                              </a:solidFill>
                              <a:latin typeface="Cambria Math" panose="02040503050406030204" pitchFamily="18" charset="0"/>
                            </a:rPr>
                          </m:ctrlPr>
                        </m:fPr>
                        <m:num>
                          <m:r>
                            <a:rPr lang="en-US" sz="3200">
                              <a:solidFill>
                                <a:prstClr val="black"/>
                              </a:solidFill>
                              <a:latin typeface="Cambria Math"/>
                            </a:rPr>
                            <m:t>𝑛</m:t>
                          </m:r>
                        </m:num>
                        <m:den>
                          <m:r>
                            <a:rPr lang="en-US" sz="3200">
                              <a:solidFill>
                                <a:prstClr val="black"/>
                              </a:solidFill>
                              <a:latin typeface="Cambria Math"/>
                            </a:rPr>
                            <m:t>𝑇𝑎𝑏𝑙𝑒𝑆𝑖𝑧𝑒</m:t>
                          </m:r>
                        </m:den>
                      </m:f>
                      <m:r>
                        <a:rPr lang="en-US" sz="3200" i="1">
                          <a:solidFill>
                            <a:prstClr val="black"/>
                          </a:solidFill>
                          <a:latin typeface="Cambria Math"/>
                        </a:rPr>
                        <m:t>= ?</m:t>
                      </m:r>
                    </m:oMath>
                  </m:oMathPara>
                </a14:m>
                <a:endParaRPr lang="en-US" sz="3200" dirty="0">
                  <a:solidFill>
                    <a:prstClr val="black"/>
                  </a:solidFill>
                  <a:latin typeface="Verdana"/>
                </a:endParaRPr>
              </a:p>
            </p:txBody>
          </p:sp>
        </mc:Choice>
        <mc:Fallback xmlns="">
          <p:sp>
            <p:nvSpPr>
              <p:cNvPr id="38" name="TextBox 37"/>
              <p:cNvSpPr txBox="1">
                <a:spLocks noRot="1" noChangeAspect="1" noMove="1" noResize="1" noEditPoints="1" noAdjustHandles="1" noChangeArrowheads="1" noChangeShapeType="1" noTextEdit="1"/>
              </p:cNvSpPr>
              <p:nvPr/>
            </p:nvSpPr>
            <p:spPr>
              <a:xfrm>
                <a:off x="4645238" y="5019898"/>
                <a:ext cx="3553152" cy="93596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7367017" y="4928790"/>
                <a:ext cx="2186431" cy="1017523"/>
              </a:xfrm>
              <a:prstGeom prst="rect">
                <a:avLst/>
              </a:prstGeom>
              <a:solidFill>
                <a:schemeClr val="bg1"/>
              </a:solidFill>
            </p:spPr>
            <p:txBody>
              <a:bodyPr wrap="none" lIns="0" rtlCol="0" anchor="ctr">
                <a:spAutoFit/>
              </a:bodyPr>
              <a:lstStyle/>
              <a:p>
                <a:pPr>
                  <a:defRPr/>
                </a:pPr>
                <a14:m>
                  <m:oMathPara xmlns:m="http://schemas.openxmlformats.org/officeDocument/2006/math">
                    <m:oMathParaPr>
                      <m:jc m:val="centerGroup"/>
                    </m:oMathParaPr>
                    <m:oMath xmlns:m="http://schemas.openxmlformats.org/officeDocument/2006/math">
                      <m:r>
                        <a:rPr lang="en-US" sz="3200">
                          <a:solidFill>
                            <a:prstClr val="black"/>
                          </a:solidFill>
                          <a:latin typeface="Cambria Math"/>
                        </a:rPr>
                        <m:t>=</m:t>
                      </m:r>
                      <m:f>
                        <m:fPr>
                          <m:ctrlPr>
                            <a:rPr lang="en-US" sz="3200" i="1">
                              <a:solidFill>
                                <a:prstClr val="black"/>
                              </a:solidFill>
                              <a:latin typeface="Cambria Math" panose="02040503050406030204" pitchFamily="18" charset="0"/>
                            </a:rPr>
                          </m:ctrlPr>
                        </m:fPr>
                        <m:num>
                          <m:r>
                            <a:rPr lang="en-US" sz="3200" i="1">
                              <a:solidFill>
                                <a:prstClr val="black"/>
                              </a:solidFill>
                              <a:latin typeface="Cambria Math"/>
                            </a:rPr>
                            <m:t>21</m:t>
                          </m:r>
                        </m:num>
                        <m:den>
                          <m:r>
                            <a:rPr lang="en-US" sz="3200" i="1">
                              <a:solidFill>
                                <a:prstClr val="black"/>
                              </a:solidFill>
                              <a:latin typeface="Cambria Math"/>
                            </a:rPr>
                            <m:t>10</m:t>
                          </m:r>
                        </m:den>
                      </m:f>
                      <m:r>
                        <a:rPr lang="en-US" sz="3200" i="1">
                          <a:solidFill>
                            <a:prstClr val="black"/>
                          </a:solidFill>
                          <a:latin typeface="Cambria Math"/>
                        </a:rPr>
                        <m:t>=2.1</m:t>
                      </m:r>
                    </m:oMath>
                  </m:oMathPara>
                </a14:m>
                <a:endParaRPr lang="en-US" sz="3200" dirty="0">
                  <a:solidFill>
                    <a:prstClr val="black"/>
                  </a:solidFill>
                  <a:latin typeface="Verdana"/>
                </a:endParaRPr>
              </a:p>
            </p:txBody>
          </p:sp>
        </mc:Choice>
        <mc:Fallback xmlns="">
          <p:sp>
            <p:nvSpPr>
              <p:cNvPr id="39" name="TextBox 38"/>
              <p:cNvSpPr txBox="1">
                <a:spLocks noRot="1" noChangeAspect="1" noMove="1" noResize="1" noEditPoints="1" noAdjustHandles="1" noChangeArrowheads="1" noChangeShapeType="1" noTextEdit="1"/>
              </p:cNvSpPr>
              <p:nvPr/>
            </p:nvSpPr>
            <p:spPr>
              <a:xfrm>
                <a:off x="7367017" y="4928790"/>
                <a:ext cx="2186431" cy="1017523"/>
              </a:xfrm>
              <a:prstGeom prst="rect">
                <a:avLst/>
              </a:prstGeom>
              <a:blipFill>
                <a:blip r:embed="rId6"/>
                <a:stretch>
                  <a:fillRect/>
                </a:stretch>
              </a:blipFill>
            </p:spPr>
            <p:txBody>
              <a:bodyPr/>
              <a:lstStyle/>
              <a:p>
                <a:r>
                  <a:rPr lang="en-US">
                    <a:noFill/>
                  </a:rPr>
                  <a:t> </a:t>
                </a:r>
              </a:p>
            </p:txBody>
          </p:sp>
        </mc:Fallback>
      </mc:AlternateContent>
      <p:grpSp>
        <p:nvGrpSpPr>
          <p:cNvPr id="40" name="Group 39"/>
          <p:cNvGrpSpPr/>
          <p:nvPr/>
        </p:nvGrpSpPr>
        <p:grpSpPr>
          <a:xfrm>
            <a:off x="3181351" y="1853777"/>
            <a:ext cx="1114637" cy="365760"/>
            <a:chOff x="1657350" y="1455420"/>
            <a:chExt cx="1114637" cy="365760"/>
          </a:xfrm>
        </p:grpSpPr>
        <p:grpSp>
          <p:nvGrpSpPr>
            <p:cNvPr id="41" name="Group 40"/>
            <p:cNvGrpSpPr/>
            <p:nvPr/>
          </p:nvGrpSpPr>
          <p:grpSpPr>
            <a:xfrm>
              <a:off x="2040467" y="1455420"/>
              <a:ext cx="731520" cy="365760"/>
              <a:chOff x="7281333" y="254000"/>
              <a:chExt cx="731520" cy="365760"/>
            </a:xfrm>
          </p:grpSpPr>
          <p:sp>
            <p:nvSpPr>
              <p:cNvPr id="43" name="Rectangle 42"/>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71</a:t>
                </a:r>
              </a:p>
            </p:txBody>
          </p:sp>
          <p:sp>
            <p:nvSpPr>
              <p:cNvPr id="44" name="Rectangle 43"/>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endParaRPr lang="en-US" dirty="0">
                  <a:solidFill>
                    <a:sysClr val="windowText" lastClr="000000"/>
                  </a:solidFill>
                  <a:latin typeface="Verdana"/>
                </a:endParaRPr>
              </a:p>
            </p:txBody>
          </p:sp>
        </p:grpSp>
        <p:cxnSp>
          <p:nvCxnSpPr>
            <p:cNvPr id="42" name="Straight Arrow Connector 41"/>
            <p:cNvCxnSpPr>
              <a:endCxn id="43"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45" name="Group 44"/>
          <p:cNvGrpSpPr/>
          <p:nvPr/>
        </p:nvGrpSpPr>
        <p:grpSpPr>
          <a:xfrm>
            <a:off x="4113108" y="1853777"/>
            <a:ext cx="1114637" cy="365760"/>
            <a:chOff x="1657350" y="1455420"/>
            <a:chExt cx="1114637" cy="365760"/>
          </a:xfrm>
        </p:grpSpPr>
        <p:grpSp>
          <p:nvGrpSpPr>
            <p:cNvPr id="46" name="Group 45"/>
            <p:cNvGrpSpPr/>
            <p:nvPr/>
          </p:nvGrpSpPr>
          <p:grpSpPr>
            <a:xfrm>
              <a:off x="2040467" y="1455420"/>
              <a:ext cx="731520" cy="365760"/>
              <a:chOff x="7281333" y="254000"/>
              <a:chExt cx="731520" cy="365760"/>
            </a:xfrm>
          </p:grpSpPr>
          <p:sp>
            <p:nvSpPr>
              <p:cNvPr id="48" name="Rectangle 47"/>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2</a:t>
                </a:r>
              </a:p>
            </p:txBody>
          </p:sp>
          <p:sp>
            <p:nvSpPr>
              <p:cNvPr id="49" name="Rectangle 48"/>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endParaRPr lang="en-US" dirty="0">
                  <a:solidFill>
                    <a:sysClr val="windowText" lastClr="000000"/>
                  </a:solidFill>
                  <a:latin typeface="Verdana"/>
                </a:endParaRPr>
              </a:p>
            </p:txBody>
          </p:sp>
        </p:grpSp>
        <p:cxnSp>
          <p:nvCxnSpPr>
            <p:cNvPr id="47" name="Straight Arrow Connector 46"/>
            <p:cNvCxnSpPr>
              <a:endCxn id="48"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50" name="Group 49"/>
          <p:cNvGrpSpPr/>
          <p:nvPr/>
        </p:nvGrpSpPr>
        <p:grpSpPr>
          <a:xfrm>
            <a:off x="5058624" y="1853777"/>
            <a:ext cx="1114637" cy="365760"/>
            <a:chOff x="1657350" y="1455420"/>
            <a:chExt cx="1114637" cy="365760"/>
          </a:xfrm>
        </p:grpSpPr>
        <p:grpSp>
          <p:nvGrpSpPr>
            <p:cNvPr id="51" name="Group 50"/>
            <p:cNvGrpSpPr/>
            <p:nvPr/>
          </p:nvGrpSpPr>
          <p:grpSpPr>
            <a:xfrm>
              <a:off x="2040467" y="1455420"/>
              <a:ext cx="731520" cy="365760"/>
              <a:chOff x="7281333" y="254000"/>
              <a:chExt cx="731520" cy="365760"/>
            </a:xfrm>
          </p:grpSpPr>
          <p:sp>
            <p:nvSpPr>
              <p:cNvPr id="53" name="Rectangle 52"/>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31</a:t>
                </a:r>
              </a:p>
            </p:txBody>
          </p:sp>
          <p:sp>
            <p:nvSpPr>
              <p:cNvPr id="54" name="Rectangle 53"/>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52" name="Straight Arrow Connector 51"/>
            <p:cNvCxnSpPr>
              <a:endCxn id="53"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55" name="Group 54"/>
          <p:cNvGrpSpPr/>
          <p:nvPr/>
        </p:nvGrpSpPr>
        <p:grpSpPr>
          <a:xfrm>
            <a:off x="3181351" y="2619163"/>
            <a:ext cx="1114637" cy="365760"/>
            <a:chOff x="1657350" y="1455420"/>
            <a:chExt cx="1114637" cy="365760"/>
          </a:xfrm>
        </p:grpSpPr>
        <p:grpSp>
          <p:nvGrpSpPr>
            <p:cNvPr id="56" name="Group 55"/>
            <p:cNvGrpSpPr/>
            <p:nvPr/>
          </p:nvGrpSpPr>
          <p:grpSpPr>
            <a:xfrm>
              <a:off x="2040467" y="1455420"/>
              <a:ext cx="731520" cy="365760"/>
              <a:chOff x="7281333" y="254000"/>
              <a:chExt cx="731520" cy="365760"/>
            </a:xfrm>
          </p:grpSpPr>
          <p:sp>
            <p:nvSpPr>
              <p:cNvPr id="58" name="Rectangle 57"/>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63</a:t>
                </a:r>
              </a:p>
            </p:txBody>
          </p:sp>
          <p:sp>
            <p:nvSpPr>
              <p:cNvPr id="59" name="Rectangle 58"/>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endParaRPr lang="en-US" dirty="0">
                  <a:solidFill>
                    <a:sysClr val="windowText" lastClr="000000"/>
                  </a:solidFill>
                  <a:latin typeface="Verdana"/>
                </a:endParaRPr>
              </a:p>
            </p:txBody>
          </p:sp>
        </p:grpSp>
        <p:cxnSp>
          <p:nvCxnSpPr>
            <p:cNvPr id="57" name="Straight Arrow Connector 56"/>
            <p:cNvCxnSpPr>
              <a:endCxn id="58"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60" name="Group 59"/>
          <p:cNvGrpSpPr/>
          <p:nvPr/>
        </p:nvGrpSpPr>
        <p:grpSpPr>
          <a:xfrm>
            <a:off x="4113108" y="2619163"/>
            <a:ext cx="1114637" cy="365760"/>
            <a:chOff x="1657350" y="1455420"/>
            <a:chExt cx="1114637" cy="365760"/>
          </a:xfrm>
        </p:grpSpPr>
        <p:grpSp>
          <p:nvGrpSpPr>
            <p:cNvPr id="61" name="Group 60"/>
            <p:cNvGrpSpPr/>
            <p:nvPr/>
          </p:nvGrpSpPr>
          <p:grpSpPr>
            <a:xfrm>
              <a:off x="2040467" y="1455420"/>
              <a:ext cx="731520" cy="365760"/>
              <a:chOff x="7281333" y="254000"/>
              <a:chExt cx="731520" cy="365760"/>
            </a:xfrm>
          </p:grpSpPr>
          <p:sp>
            <p:nvSpPr>
              <p:cNvPr id="63" name="Rectangle 62"/>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73</a:t>
                </a:r>
              </a:p>
            </p:txBody>
          </p:sp>
          <p:sp>
            <p:nvSpPr>
              <p:cNvPr id="64" name="Rectangle 63"/>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62" name="Straight Arrow Connector 61"/>
            <p:cNvCxnSpPr>
              <a:endCxn id="63"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70" name="Group 69"/>
          <p:cNvGrpSpPr/>
          <p:nvPr/>
        </p:nvGrpSpPr>
        <p:grpSpPr>
          <a:xfrm>
            <a:off x="3181351" y="3349202"/>
            <a:ext cx="1114637" cy="365760"/>
            <a:chOff x="1657350" y="1455420"/>
            <a:chExt cx="1114637" cy="365760"/>
          </a:xfrm>
        </p:grpSpPr>
        <p:grpSp>
          <p:nvGrpSpPr>
            <p:cNvPr id="71" name="Group 70"/>
            <p:cNvGrpSpPr/>
            <p:nvPr/>
          </p:nvGrpSpPr>
          <p:grpSpPr>
            <a:xfrm>
              <a:off x="2040467" y="1455420"/>
              <a:ext cx="731520" cy="365760"/>
              <a:chOff x="7281333" y="254000"/>
              <a:chExt cx="731520" cy="365760"/>
            </a:xfrm>
          </p:grpSpPr>
          <p:sp>
            <p:nvSpPr>
              <p:cNvPr id="73" name="Rectangle 72"/>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75</a:t>
                </a:r>
              </a:p>
            </p:txBody>
          </p:sp>
          <p:sp>
            <p:nvSpPr>
              <p:cNvPr id="74" name="Rectangle 73"/>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endParaRPr lang="en-US" dirty="0">
                  <a:solidFill>
                    <a:sysClr val="windowText" lastClr="000000"/>
                  </a:solidFill>
                  <a:latin typeface="Verdana"/>
                </a:endParaRPr>
              </a:p>
            </p:txBody>
          </p:sp>
        </p:grpSp>
        <p:cxnSp>
          <p:nvCxnSpPr>
            <p:cNvPr id="72" name="Straight Arrow Connector 71"/>
            <p:cNvCxnSpPr>
              <a:endCxn id="73"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75" name="Group 74"/>
          <p:cNvGrpSpPr/>
          <p:nvPr/>
        </p:nvGrpSpPr>
        <p:grpSpPr>
          <a:xfrm>
            <a:off x="4113108" y="3349202"/>
            <a:ext cx="1114637" cy="365760"/>
            <a:chOff x="1657350" y="1455420"/>
            <a:chExt cx="1114637" cy="365760"/>
          </a:xfrm>
        </p:grpSpPr>
        <p:grpSp>
          <p:nvGrpSpPr>
            <p:cNvPr id="76" name="Group 75"/>
            <p:cNvGrpSpPr/>
            <p:nvPr/>
          </p:nvGrpSpPr>
          <p:grpSpPr>
            <a:xfrm>
              <a:off x="2040467" y="1455420"/>
              <a:ext cx="731520" cy="365760"/>
              <a:chOff x="7281333" y="254000"/>
              <a:chExt cx="731520" cy="365760"/>
            </a:xfrm>
          </p:grpSpPr>
          <p:sp>
            <p:nvSpPr>
              <p:cNvPr id="78" name="Rectangle 77"/>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5</a:t>
                </a:r>
              </a:p>
            </p:txBody>
          </p:sp>
          <p:sp>
            <p:nvSpPr>
              <p:cNvPr id="79" name="Rectangle 78"/>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endParaRPr lang="en-US" dirty="0">
                  <a:solidFill>
                    <a:sysClr val="windowText" lastClr="000000"/>
                  </a:solidFill>
                  <a:latin typeface="Verdana"/>
                </a:endParaRPr>
              </a:p>
            </p:txBody>
          </p:sp>
        </p:grpSp>
        <p:cxnSp>
          <p:nvCxnSpPr>
            <p:cNvPr id="77" name="Straight Arrow Connector 76"/>
            <p:cNvCxnSpPr>
              <a:endCxn id="78"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90" name="Group 89"/>
          <p:cNvGrpSpPr/>
          <p:nvPr/>
        </p:nvGrpSpPr>
        <p:grpSpPr>
          <a:xfrm>
            <a:off x="5058624" y="3349202"/>
            <a:ext cx="1114637" cy="365760"/>
            <a:chOff x="1657350" y="1455420"/>
            <a:chExt cx="1114637" cy="365760"/>
          </a:xfrm>
        </p:grpSpPr>
        <p:grpSp>
          <p:nvGrpSpPr>
            <p:cNvPr id="91" name="Group 90"/>
            <p:cNvGrpSpPr/>
            <p:nvPr/>
          </p:nvGrpSpPr>
          <p:grpSpPr>
            <a:xfrm>
              <a:off x="2040467" y="1455420"/>
              <a:ext cx="731520" cy="365760"/>
              <a:chOff x="7281333" y="254000"/>
              <a:chExt cx="731520" cy="365760"/>
            </a:xfrm>
          </p:grpSpPr>
          <p:sp>
            <p:nvSpPr>
              <p:cNvPr id="93" name="Rectangle 92"/>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65</a:t>
                </a:r>
              </a:p>
            </p:txBody>
          </p:sp>
          <p:sp>
            <p:nvSpPr>
              <p:cNvPr id="94" name="Rectangle 93"/>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endParaRPr lang="en-US" dirty="0">
                  <a:solidFill>
                    <a:sysClr val="windowText" lastClr="000000"/>
                  </a:solidFill>
                  <a:latin typeface="Verdana"/>
                </a:endParaRPr>
              </a:p>
            </p:txBody>
          </p:sp>
        </p:grpSp>
        <p:cxnSp>
          <p:nvCxnSpPr>
            <p:cNvPr id="92" name="Straight Arrow Connector 91"/>
            <p:cNvCxnSpPr>
              <a:endCxn id="93"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95" name="Group 94"/>
          <p:cNvGrpSpPr/>
          <p:nvPr/>
        </p:nvGrpSpPr>
        <p:grpSpPr>
          <a:xfrm>
            <a:off x="5990381" y="3349202"/>
            <a:ext cx="1114637" cy="365760"/>
            <a:chOff x="1657350" y="1455420"/>
            <a:chExt cx="1114637" cy="365760"/>
          </a:xfrm>
        </p:grpSpPr>
        <p:grpSp>
          <p:nvGrpSpPr>
            <p:cNvPr id="96" name="Group 95"/>
            <p:cNvGrpSpPr/>
            <p:nvPr/>
          </p:nvGrpSpPr>
          <p:grpSpPr>
            <a:xfrm>
              <a:off x="2040467" y="1455420"/>
              <a:ext cx="731520" cy="365760"/>
              <a:chOff x="7281333" y="254000"/>
              <a:chExt cx="731520" cy="365760"/>
            </a:xfrm>
          </p:grpSpPr>
          <p:sp>
            <p:nvSpPr>
              <p:cNvPr id="98" name="Rectangle 97"/>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95</a:t>
                </a:r>
              </a:p>
            </p:txBody>
          </p:sp>
          <p:sp>
            <p:nvSpPr>
              <p:cNvPr id="99" name="Rectangle 98"/>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97" name="Straight Arrow Connector 96"/>
            <p:cNvCxnSpPr>
              <a:endCxn id="98"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00" name="Group 99"/>
          <p:cNvGrpSpPr/>
          <p:nvPr/>
        </p:nvGrpSpPr>
        <p:grpSpPr>
          <a:xfrm>
            <a:off x="3181351" y="4114588"/>
            <a:ext cx="1114637" cy="365760"/>
            <a:chOff x="1657350" y="1455420"/>
            <a:chExt cx="1114637" cy="365760"/>
          </a:xfrm>
        </p:grpSpPr>
        <p:grpSp>
          <p:nvGrpSpPr>
            <p:cNvPr id="101" name="Group 100"/>
            <p:cNvGrpSpPr/>
            <p:nvPr/>
          </p:nvGrpSpPr>
          <p:grpSpPr>
            <a:xfrm>
              <a:off x="2040467" y="1455420"/>
              <a:ext cx="731520" cy="365760"/>
              <a:chOff x="7281333" y="254000"/>
              <a:chExt cx="731520" cy="365760"/>
            </a:xfrm>
          </p:grpSpPr>
          <p:sp>
            <p:nvSpPr>
              <p:cNvPr id="103" name="Rectangle 102"/>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27</a:t>
                </a:r>
              </a:p>
            </p:txBody>
          </p:sp>
          <p:sp>
            <p:nvSpPr>
              <p:cNvPr id="104" name="Rectangle 103"/>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endParaRPr lang="en-US" dirty="0">
                  <a:solidFill>
                    <a:sysClr val="windowText" lastClr="000000"/>
                  </a:solidFill>
                  <a:latin typeface="Verdana"/>
                </a:endParaRPr>
              </a:p>
            </p:txBody>
          </p:sp>
        </p:grpSp>
        <p:cxnSp>
          <p:nvCxnSpPr>
            <p:cNvPr id="102" name="Straight Arrow Connector 101"/>
            <p:cNvCxnSpPr>
              <a:endCxn id="103"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05" name="Group 104"/>
          <p:cNvGrpSpPr/>
          <p:nvPr/>
        </p:nvGrpSpPr>
        <p:grpSpPr>
          <a:xfrm>
            <a:off x="4113108" y="4114588"/>
            <a:ext cx="1114637" cy="365760"/>
            <a:chOff x="1657350" y="1455420"/>
            <a:chExt cx="1114637" cy="365760"/>
          </a:xfrm>
        </p:grpSpPr>
        <p:grpSp>
          <p:nvGrpSpPr>
            <p:cNvPr id="106" name="Group 105"/>
            <p:cNvGrpSpPr/>
            <p:nvPr/>
          </p:nvGrpSpPr>
          <p:grpSpPr>
            <a:xfrm>
              <a:off x="2040467" y="1455420"/>
              <a:ext cx="731520" cy="365760"/>
              <a:chOff x="7281333" y="254000"/>
              <a:chExt cx="731520" cy="365760"/>
            </a:xfrm>
          </p:grpSpPr>
          <p:sp>
            <p:nvSpPr>
              <p:cNvPr id="108" name="Rectangle 107"/>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47</a:t>
                </a:r>
              </a:p>
            </p:txBody>
          </p:sp>
          <p:sp>
            <p:nvSpPr>
              <p:cNvPr id="109" name="Rectangle 108"/>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endParaRPr lang="en-US" dirty="0">
                  <a:solidFill>
                    <a:sysClr val="windowText" lastClr="000000"/>
                  </a:solidFill>
                  <a:latin typeface="Verdana"/>
                </a:endParaRPr>
              </a:p>
            </p:txBody>
          </p:sp>
        </p:grpSp>
        <p:cxnSp>
          <p:nvCxnSpPr>
            <p:cNvPr id="107" name="Straight Arrow Connector 106"/>
            <p:cNvCxnSpPr>
              <a:endCxn id="108"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10" name="Group 109"/>
          <p:cNvGrpSpPr/>
          <p:nvPr/>
        </p:nvGrpSpPr>
        <p:grpSpPr>
          <a:xfrm>
            <a:off x="3181351" y="4497281"/>
            <a:ext cx="1114637" cy="365760"/>
            <a:chOff x="1657350" y="1455420"/>
            <a:chExt cx="1114637" cy="365760"/>
          </a:xfrm>
        </p:grpSpPr>
        <p:grpSp>
          <p:nvGrpSpPr>
            <p:cNvPr id="111" name="Group 110"/>
            <p:cNvGrpSpPr/>
            <p:nvPr/>
          </p:nvGrpSpPr>
          <p:grpSpPr>
            <a:xfrm>
              <a:off x="2040467" y="1455420"/>
              <a:ext cx="731520" cy="365760"/>
              <a:chOff x="7281333" y="254000"/>
              <a:chExt cx="731520" cy="365760"/>
            </a:xfrm>
          </p:grpSpPr>
          <p:sp>
            <p:nvSpPr>
              <p:cNvPr id="113" name="Rectangle 112"/>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88</a:t>
                </a:r>
              </a:p>
            </p:txBody>
          </p:sp>
          <p:sp>
            <p:nvSpPr>
              <p:cNvPr id="114" name="Rectangle 113"/>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endParaRPr lang="en-US" dirty="0">
                  <a:solidFill>
                    <a:sysClr val="windowText" lastClr="000000"/>
                  </a:solidFill>
                  <a:latin typeface="Verdana"/>
                </a:endParaRPr>
              </a:p>
            </p:txBody>
          </p:sp>
        </p:grpSp>
        <p:cxnSp>
          <p:nvCxnSpPr>
            <p:cNvPr id="112" name="Straight Arrow Connector 111"/>
            <p:cNvCxnSpPr>
              <a:endCxn id="113"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15" name="Group 114"/>
          <p:cNvGrpSpPr/>
          <p:nvPr/>
        </p:nvGrpSpPr>
        <p:grpSpPr>
          <a:xfrm>
            <a:off x="4113108" y="4497281"/>
            <a:ext cx="1114637" cy="365760"/>
            <a:chOff x="1657350" y="1455420"/>
            <a:chExt cx="1114637" cy="365760"/>
          </a:xfrm>
        </p:grpSpPr>
        <p:grpSp>
          <p:nvGrpSpPr>
            <p:cNvPr id="116" name="Group 115"/>
            <p:cNvGrpSpPr/>
            <p:nvPr/>
          </p:nvGrpSpPr>
          <p:grpSpPr>
            <a:xfrm>
              <a:off x="2040467" y="1455420"/>
              <a:ext cx="731520" cy="365760"/>
              <a:chOff x="7281333" y="254000"/>
              <a:chExt cx="731520" cy="365760"/>
            </a:xfrm>
          </p:grpSpPr>
          <p:sp>
            <p:nvSpPr>
              <p:cNvPr id="118" name="Rectangle 117"/>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18</a:t>
                </a:r>
              </a:p>
            </p:txBody>
          </p:sp>
          <p:sp>
            <p:nvSpPr>
              <p:cNvPr id="119" name="Rectangle 118"/>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endParaRPr lang="en-US" dirty="0">
                  <a:solidFill>
                    <a:sysClr val="windowText" lastClr="000000"/>
                  </a:solidFill>
                  <a:latin typeface="Verdana"/>
                </a:endParaRPr>
              </a:p>
            </p:txBody>
          </p:sp>
        </p:grpSp>
        <p:cxnSp>
          <p:nvCxnSpPr>
            <p:cNvPr id="117" name="Straight Arrow Connector 116"/>
            <p:cNvCxnSpPr>
              <a:endCxn id="118"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20" name="Group 119"/>
          <p:cNvGrpSpPr/>
          <p:nvPr/>
        </p:nvGrpSpPr>
        <p:grpSpPr>
          <a:xfrm>
            <a:off x="5058624" y="4497281"/>
            <a:ext cx="1114637" cy="365760"/>
            <a:chOff x="1657350" y="1455420"/>
            <a:chExt cx="1114637" cy="365760"/>
          </a:xfrm>
        </p:grpSpPr>
        <p:grpSp>
          <p:nvGrpSpPr>
            <p:cNvPr id="121" name="Group 120"/>
            <p:cNvGrpSpPr/>
            <p:nvPr/>
          </p:nvGrpSpPr>
          <p:grpSpPr>
            <a:xfrm>
              <a:off x="2040467" y="1455420"/>
              <a:ext cx="731520" cy="365760"/>
              <a:chOff x="7281333" y="254000"/>
              <a:chExt cx="731520" cy="365760"/>
            </a:xfrm>
          </p:grpSpPr>
          <p:sp>
            <p:nvSpPr>
              <p:cNvPr id="123" name="Rectangle 122"/>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38</a:t>
                </a:r>
              </a:p>
            </p:txBody>
          </p:sp>
          <p:sp>
            <p:nvSpPr>
              <p:cNvPr id="124" name="Rectangle 123"/>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endParaRPr lang="en-US" dirty="0">
                  <a:solidFill>
                    <a:sysClr val="windowText" lastClr="000000"/>
                  </a:solidFill>
                  <a:latin typeface="Verdana"/>
                </a:endParaRPr>
              </a:p>
            </p:txBody>
          </p:sp>
        </p:grpSp>
        <p:cxnSp>
          <p:nvCxnSpPr>
            <p:cNvPr id="122" name="Straight Arrow Connector 121"/>
            <p:cNvCxnSpPr>
              <a:endCxn id="123"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25" name="Group 124"/>
          <p:cNvGrpSpPr/>
          <p:nvPr/>
        </p:nvGrpSpPr>
        <p:grpSpPr>
          <a:xfrm>
            <a:off x="5990381" y="4497281"/>
            <a:ext cx="1114637" cy="365760"/>
            <a:chOff x="1657350" y="1455420"/>
            <a:chExt cx="1114637" cy="365760"/>
          </a:xfrm>
        </p:grpSpPr>
        <p:grpSp>
          <p:nvGrpSpPr>
            <p:cNvPr id="126" name="Group 125"/>
            <p:cNvGrpSpPr/>
            <p:nvPr/>
          </p:nvGrpSpPr>
          <p:grpSpPr>
            <a:xfrm>
              <a:off x="2040467" y="1455420"/>
              <a:ext cx="731520" cy="365760"/>
              <a:chOff x="7281333" y="254000"/>
              <a:chExt cx="731520" cy="365760"/>
            </a:xfrm>
          </p:grpSpPr>
          <p:sp>
            <p:nvSpPr>
              <p:cNvPr id="128" name="Rectangle 127"/>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98</a:t>
                </a:r>
              </a:p>
            </p:txBody>
          </p:sp>
          <p:sp>
            <p:nvSpPr>
              <p:cNvPr id="129" name="Rectangle 128"/>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127" name="Straight Arrow Connector 126"/>
            <p:cNvCxnSpPr>
              <a:endCxn id="128"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130" name="Group 129"/>
          <p:cNvGrpSpPr/>
          <p:nvPr/>
        </p:nvGrpSpPr>
        <p:grpSpPr>
          <a:xfrm>
            <a:off x="3181351" y="4879974"/>
            <a:ext cx="1114637" cy="365760"/>
            <a:chOff x="1657350" y="1455420"/>
            <a:chExt cx="1114637" cy="365760"/>
          </a:xfrm>
        </p:grpSpPr>
        <p:grpSp>
          <p:nvGrpSpPr>
            <p:cNvPr id="131" name="Group 130"/>
            <p:cNvGrpSpPr/>
            <p:nvPr/>
          </p:nvGrpSpPr>
          <p:grpSpPr>
            <a:xfrm>
              <a:off x="2040467" y="1455420"/>
              <a:ext cx="731520" cy="365760"/>
              <a:chOff x="7281333" y="254000"/>
              <a:chExt cx="731520" cy="365760"/>
            </a:xfrm>
          </p:grpSpPr>
          <p:sp>
            <p:nvSpPr>
              <p:cNvPr id="133" name="Rectangle 132"/>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99</a:t>
                </a:r>
              </a:p>
            </p:txBody>
          </p:sp>
          <p:sp>
            <p:nvSpPr>
              <p:cNvPr id="134" name="Rectangle 133"/>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132" name="Straight Arrow Connector 131"/>
            <p:cNvCxnSpPr>
              <a:endCxn id="133"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61912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Separate Chaining Deletion</a:t>
            </a:r>
          </a:p>
        </p:txBody>
      </p:sp>
      <p:sp>
        <p:nvSpPr>
          <p:cNvPr id="4" name="Content Placeholder 3"/>
          <p:cNvSpPr>
            <a:spLocks noGrp="1"/>
          </p:cNvSpPr>
          <p:nvPr>
            <p:ph sz="quarter" idx="1"/>
          </p:nvPr>
        </p:nvSpPr>
        <p:spPr>
          <a:xfrm>
            <a:off x="6173261" y="2890684"/>
            <a:ext cx="4359273" cy="3357716"/>
          </a:xfrm>
        </p:spPr>
        <p:txBody>
          <a:bodyPr>
            <a:normAutofit/>
          </a:bodyPr>
          <a:lstStyle/>
          <a:p>
            <a:pPr marL="0" indent="0">
              <a:buNone/>
            </a:pPr>
            <a:r>
              <a:rPr lang="en-US" sz="2400" dirty="0"/>
              <a:t>Not too bad and quite easy</a:t>
            </a:r>
          </a:p>
          <a:p>
            <a:r>
              <a:rPr lang="en-US" sz="2400" dirty="0"/>
              <a:t>Find in table</a:t>
            </a:r>
          </a:p>
          <a:p>
            <a:r>
              <a:rPr lang="en-US" sz="2400" dirty="0"/>
              <a:t>Delete from bucket</a:t>
            </a:r>
          </a:p>
          <a:p>
            <a:pPr marL="0" indent="0">
              <a:buNone/>
            </a:pPr>
            <a:endParaRPr lang="en-US" sz="2400" dirty="0"/>
          </a:p>
          <a:p>
            <a:pPr marL="0" indent="0">
              <a:buNone/>
            </a:pPr>
            <a:r>
              <a:rPr lang="en-US" sz="2400" dirty="0"/>
              <a:t>Similar run-time as insert</a:t>
            </a:r>
          </a:p>
        </p:txBody>
      </p:sp>
      <p:sp>
        <p:nvSpPr>
          <p:cNvPr id="32" name="Slide Number Placeholder 31"/>
          <p:cNvSpPr>
            <a:spLocks noGrp="1"/>
          </p:cNvSpPr>
          <p:nvPr>
            <p:ph type="sldNum" sz="quarter" idx="12"/>
          </p:nvPr>
        </p:nvSpPr>
        <p:spPr/>
        <p:txBody>
          <a:bodyPr/>
          <a:lstStyle/>
          <a:p>
            <a:pPr>
              <a:defRPr/>
            </a:pPr>
            <a:fld id="{2781ADA0-3BB4-460A-B7EB-C1A8DEAFE2E2}" type="slidenum">
              <a:rPr lang="en-US">
                <a:solidFill>
                  <a:srgbClr val="2F1343"/>
                </a:solidFill>
                <a:latin typeface="Verdana"/>
              </a:rPr>
              <a:pPr>
                <a:defRPr/>
              </a:pPr>
              <a:t>97</a:t>
            </a:fld>
            <a:endParaRPr lang="en-US">
              <a:solidFill>
                <a:srgbClr val="2F1343"/>
              </a:solidFill>
              <a:latin typeface="Verdana"/>
            </a:endParaRPr>
          </a:p>
        </p:txBody>
      </p:sp>
      <p:graphicFrame>
        <p:nvGraphicFramePr>
          <p:cNvPr id="33" name="Group 64"/>
          <p:cNvGraphicFramePr>
            <a:graphicFrameLocks noGrp="1"/>
          </p:cNvGraphicFramePr>
          <p:nvPr>
            <p:custDataLst>
              <p:tags r:id="rId1"/>
            </p:custDataLst>
          </p:nvPr>
        </p:nvGraphicFramePr>
        <p:xfrm>
          <a:off x="2133600" y="1447800"/>
          <a:ext cx="1219200" cy="3817938"/>
        </p:xfrm>
        <a:graphic>
          <a:graphicData uri="http://schemas.openxmlformats.org/drawingml/2006/table">
            <a:tbl>
              <a:tblPr/>
              <a:tblGrid>
                <a:gridCol w="638629">
                  <a:extLst>
                    <a:ext uri="{9D8B030D-6E8A-4147-A177-3AD203B41FA5}">
                      <a16:colId xmlns:a16="http://schemas.microsoft.com/office/drawing/2014/main" val="20000"/>
                    </a:ext>
                  </a:extLst>
                </a:gridCol>
                <a:gridCol w="580571">
                  <a:extLst>
                    <a:ext uri="{9D8B030D-6E8A-4147-A177-3AD203B41FA5}">
                      <a16:colId xmlns:a16="http://schemas.microsoft.com/office/drawing/2014/main" val="20001"/>
                    </a:ext>
                  </a:extLst>
                </a:gridCol>
              </a:tblGrid>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0</a:t>
                      </a:r>
                    </a:p>
                  </a:txBody>
                  <a:tcPr anchor="ctr" anchorCtr="1" horzOverflow="overflow">
                    <a:lnL cap="flat">
                      <a:noFill/>
                    </a:lnL>
                    <a:lnR w="12700" cap="flat" cmpd="sng" algn="ctr">
                      <a:solidFill>
                        <a:schemeClr val="tx1"/>
                      </a:solidFill>
                      <a:prstDash val="solid"/>
                      <a:round/>
                      <a:headEnd type="none" w="med" len="med"/>
                      <a:tailEnd type="none" w="med" len="med"/>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1</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2</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3</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4</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5</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6</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a:ln>
                          <a:noFill/>
                        </a:ln>
                        <a:solidFill>
                          <a:schemeClr val="tx1"/>
                        </a:solidFill>
                        <a:effectLst/>
                        <a:latin typeface="+mj-lt"/>
                      </a:endParaRP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7</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89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8</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9</a:t>
                      </a:r>
                    </a:p>
                  </a:txBody>
                  <a:tcPr anchor="ctr" anchorCtr="1" horzOverflow="overflow">
                    <a:lnL cap="flat">
                      <a:noFill/>
                    </a:lnL>
                    <a:lnR w="12700" cap="flat" cmpd="sng" algn="ctr">
                      <a:solidFill>
                        <a:schemeClr val="tx1"/>
                      </a:solidFill>
                      <a:prstDash val="solid"/>
                      <a:round/>
                      <a:headEnd type="none" w="med" len="med"/>
                      <a:tailEnd type="none" w="med" len="med"/>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tx1"/>
                          </a:solidFill>
                          <a:effectLst/>
                          <a:latin typeface="+mj-lt"/>
                        </a:rPr>
                        <a:t>/</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grpSp>
        <p:nvGrpSpPr>
          <p:cNvPr id="34" name="Group 33"/>
          <p:cNvGrpSpPr/>
          <p:nvPr/>
        </p:nvGrpSpPr>
        <p:grpSpPr>
          <a:xfrm>
            <a:off x="3181351" y="1455420"/>
            <a:ext cx="1114637" cy="365760"/>
            <a:chOff x="1657350" y="1455420"/>
            <a:chExt cx="1114637" cy="365760"/>
          </a:xfrm>
        </p:grpSpPr>
        <p:grpSp>
          <p:nvGrpSpPr>
            <p:cNvPr id="35" name="Group 34"/>
            <p:cNvGrpSpPr/>
            <p:nvPr/>
          </p:nvGrpSpPr>
          <p:grpSpPr>
            <a:xfrm>
              <a:off x="2040467" y="1455420"/>
              <a:ext cx="731520" cy="365760"/>
              <a:chOff x="7281333" y="254000"/>
              <a:chExt cx="731520" cy="365760"/>
            </a:xfrm>
          </p:grpSpPr>
          <p:sp>
            <p:nvSpPr>
              <p:cNvPr id="37" name="Rectangle 36"/>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10</a:t>
                </a:r>
              </a:p>
            </p:txBody>
          </p:sp>
          <p:sp>
            <p:nvSpPr>
              <p:cNvPr id="38" name="Rectangle 37"/>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36" name="Straight Arrow Connector 35"/>
            <p:cNvCxnSpPr>
              <a:endCxn id="37"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39" name="Group 38"/>
          <p:cNvGrpSpPr/>
          <p:nvPr/>
        </p:nvGrpSpPr>
        <p:grpSpPr>
          <a:xfrm>
            <a:off x="3181351" y="2236470"/>
            <a:ext cx="1114637" cy="365760"/>
            <a:chOff x="1657350" y="1455420"/>
            <a:chExt cx="1114637" cy="365760"/>
          </a:xfrm>
        </p:grpSpPr>
        <p:grpSp>
          <p:nvGrpSpPr>
            <p:cNvPr id="40" name="Group 39"/>
            <p:cNvGrpSpPr/>
            <p:nvPr/>
          </p:nvGrpSpPr>
          <p:grpSpPr>
            <a:xfrm>
              <a:off x="2040467" y="1455420"/>
              <a:ext cx="731520" cy="365760"/>
              <a:chOff x="7281333" y="254000"/>
              <a:chExt cx="731520" cy="365760"/>
            </a:xfrm>
          </p:grpSpPr>
          <p:sp>
            <p:nvSpPr>
              <p:cNvPr id="42" name="Rectangle 41"/>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42</a:t>
                </a:r>
              </a:p>
            </p:txBody>
          </p:sp>
          <p:sp>
            <p:nvSpPr>
              <p:cNvPr id="43" name="Rectangle 42"/>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endParaRPr lang="en-US" dirty="0">
                  <a:solidFill>
                    <a:sysClr val="windowText" lastClr="000000"/>
                  </a:solidFill>
                  <a:latin typeface="Verdana"/>
                </a:endParaRPr>
              </a:p>
            </p:txBody>
          </p:sp>
        </p:grpSp>
        <p:cxnSp>
          <p:nvCxnSpPr>
            <p:cNvPr id="41" name="Straight Arrow Connector 40"/>
            <p:cNvCxnSpPr>
              <a:endCxn id="42"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44" name="Group 43"/>
          <p:cNvGrpSpPr/>
          <p:nvPr/>
        </p:nvGrpSpPr>
        <p:grpSpPr>
          <a:xfrm>
            <a:off x="3181351" y="3731895"/>
            <a:ext cx="1114637" cy="365760"/>
            <a:chOff x="1657350" y="1455420"/>
            <a:chExt cx="1114637" cy="365760"/>
          </a:xfrm>
        </p:grpSpPr>
        <p:grpSp>
          <p:nvGrpSpPr>
            <p:cNvPr id="45" name="Group 44"/>
            <p:cNvGrpSpPr/>
            <p:nvPr/>
          </p:nvGrpSpPr>
          <p:grpSpPr>
            <a:xfrm>
              <a:off x="2040467" y="1455420"/>
              <a:ext cx="731520" cy="365760"/>
              <a:chOff x="7281333" y="254000"/>
              <a:chExt cx="731520" cy="365760"/>
            </a:xfrm>
          </p:grpSpPr>
          <p:sp>
            <p:nvSpPr>
              <p:cNvPr id="47" name="Rectangle 46"/>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86</a:t>
                </a:r>
              </a:p>
            </p:txBody>
          </p:sp>
          <p:sp>
            <p:nvSpPr>
              <p:cNvPr id="48" name="Rectangle 47"/>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46" name="Straight Arrow Connector 45"/>
            <p:cNvCxnSpPr>
              <a:endCxn id="47"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49" name="Group 48"/>
          <p:cNvGrpSpPr/>
          <p:nvPr/>
        </p:nvGrpSpPr>
        <p:grpSpPr>
          <a:xfrm>
            <a:off x="4113108" y="2236470"/>
            <a:ext cx="1114637" cy="365760"/>
            <a:chOff x="1657350" y="1455420"/>
            <a:chExt cx="1114637" cy="365760"/>
          </a:xfrm>
        </p:grpSpPr>
        <p:grpSp>
          <p:nvGrpSpPr>
            <p:cNvPr id="50" name="Group 49"/>
            <p:cNvGrpSpPr/>
            <p:nvPr/>
          </p:nvGrpSpPr>
          <p:grpSpPr>
            <a:xfrm>
              <a:off x="2040467" y="1455420"/>
              <a:ext cx="731520" cy="365760"/>
              <a:chOff x="7281333" y="254000"/>
              <a:chExt cx="731520" cy="365760"/>
            </a:xfrm>
          </p:grpSpPr>
          <p:sp>
            <p:nvSpPr>
              <p:cNvPr id="52" name="Rectangle 51"/>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12</a:t>
                </a:r>
              </a:p>
            </p:txBody>
          </p:sp>
          <p:sp>
            <p:nvSpPr>
              <p:cNvPr id="53" name="Rectangle 52"/>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endParaRPr lang="en-US" dirty="0">
                  <a:solidFill>
                    <a:sysClr val="windowText" lastClr="000000"/>
                  </a:solidFill>
                  <a:latin typeface="Verdana"/>
                </a:endParaRPr>
              </a:p>
            </p:txBody>
          </p:sp>
        </p:grpSp>
        <p:cxnSp>
          <p:nvCxnSpPr>
            <p:cNvPr id="51" name="Straight Arrow Connector 50"/>
            <p:cNvCxnSpPr>
              <a:endCxn id="52"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grpSp>
        <p:nvGrpSpPr>
          <p:cNvPr id="54" name="Group 53"/>
          <p:cNvGrpSpPr/>
          <p:nvPr/>
        </p:nvGrpSpPr>
        <p:grpSpPr>
          <a:xfrm>
            <a:off x="5058624" y="2236470"/>
            <a:ext cx="1114637" cy="365760"/>
            <a:chOff x="1657350" y="1455420"/>
            <a:chExt cx="1114637" cy="365760"/>
          </a:xfrm>
        </p:grpSpPr>
        <p:grpSp>
          <p:nvGrpSpPr>
            <p:cNvPr id="55" name="Group 54"/>
            <p:cNvGrpSpPr/>
            <p:nvPr/>
          </p:nvGrpSpPr>
          <p:grpSpPr>
            <a:xfrm>
              <a:off x="2040467" y="1455420"/>
              <a:ext cx="731520" cy="365760"/>
              <a:chOff x="7281333" y="254000"/>
              <a:chExt cx="731520" cy="365760"/>
            </a:xfrm>
          </p:grpSpPr>
          <p:sp>
            <p:nvSpPr>
              <p:cNvPr id="57" name="Rectangle 56"/>
              <p:cNvSpPr/>
              <p:nvPr/>
            </p:nvSpPr>
            <p:spPr>
              <a:xfrm>
                <a:off x="728133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22</a:t>
                </a:r>
              </a:p>
            </p:txBody>
          </p:sp>
          <p:sp>
            <p:nvSpPr>
              <p:cNvPr id="58" name="Rectangle 57"/>
              <p:cNvSpPr/>
              <p:nvPr/>
            </p:nvSpPr>
            <p:spPr>
              <a:xfrm>
                <a:off x="7647093" y="254000"/>
                <a:ext cx="365760" cy="36576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defRPr/>
                </a:pPr>
                <a:r>
                  <a:rPr lang="en-US" dirty="0">
                    <a:solidFill>
                      <a:sysClr val="windowText" lastClr="000000"/>
                    </a:solidFill>
                    <a:latin typeface="Verdana"/>
                  </a:rPr>
                  <a:t>/</a:t>
                </a:r>
              </a:p>
            </p:txBody>
          </p:sp>
        </p:grpSp>
        <p:cxnSp>
          <p:nvCxnSpPr>
            <p:cNvPr id="56" name="Straight Arrow Connector 55"/>
            <p:cNvCxnSpPr>
              <a:endCxn id="57" idx="1"/>
            </p:cNvCxnSpPr>
            <p:nvPr/>
          </p:nvCxnSpPr>
          <p:spPr>
            <a:xfrm>
              <a:off x="1657350" y="1638300"/>
              <a:ext cx="383117" cy="0"/>
            </a:xfrm>
            <a:prstGeom prst="straightConnector1">
              <a:avLst/>
            </a:prstGeom>
            <a:ln w="19050">
              <a:solidFill>
                <a:schemeClr val="tx2">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69580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399EF-9811-4B97-B754-C9A37A5EE598}"/>
              </a:ext>
            </a:extLst>
          </p:cNvPr>
          <p:cNvSpPr>
            <a:spLocks noGrp="1"/>
          </p:cNvSpPr>
          <p:nvPr>
            <p:ph type="title"/>
          </p:nvPr>
        </p:nvSpPr>
        <p:spPr/>
        <p:txBody>
          <a:bodyPr/>
          <a:lstStyle/>
          <a:p>
            <a:r>
              <a:rPr lang="en-US" altLang="en-US" dirty="0"/>
              <a:t>Separate Chaining Animation</a:t>
            </a:r>
            <a:endParaRPr lang="en-IN" dirty="0"/>
          </a:p>
        </p:txBody>
      </p:sp>
      <p:sp>
        <p:nvSpPr>
          <p:cNvPr id="10" name="Text Placeholder 9">
            <a:extLst>
              <a:ext uri="{FF2B5EF4-FFF2-40B4-BE49-F238E27FC236}">
                <a16:creationId xmlns:a16="http://schemas.microsoft.com/office/drawing/2014/main" id="{E2071CED-6B44-4121-9A95-0630E1554745}"/>
              </a:ext>
            </a:extLst>
          </p:cNvPr>
          <p:cNvSpPr>
            <a:spLocks noGrp="1"/>
          </p:cNvSpPr>
          <p:nvPr>
            <p:ph type="body" sz="quarter" idx="20"/>
          </p:nvPr>
        </p:nvSpPr>
        <p:spPr>
          <a:xfrm>
            <a:off x="1981200" y="1524772"/>
            <a:ext cx="8303342" cy="451513"/>
          </a:xfrm>
        </p:spPr>
        <p:txBody>
          <a:bodyPr/>
          <a:lstStyle/>
          <a:p>
            <a:pPr marL="432" indent="0">
              <a:buNone/>
            </a:pPr>
            <a:r>
              <a:rPr lang="en-IN" sz="1800" dirty="0">
                <a:hlinkClick r:id="rId3"/>
              </a:rPr>
              <a:t>https://liveexample.pearsoncmg.com/dsanimation/SeparateChainingeBook.html</a:t>
            </a:r>
            <a:endParaRPr lang="en-IN" sz="1800" dirty="0"/>
          </a:p>
        </p:txBody>
      </p:sp>
      <p:pic>
        <p:nvPicPr>
          <p:cNvPr id="5" name="Content Placeholder 4" descr="Hashing Using Separate Chaining Animation by Y. For long description in Notes pane, press F6.">
            <a:extLst>
              <a:ext uri="{FF2B5EF4-FFF2-40B4-BE49-F238E27FC236}">
                <a16:creationId xmlns:a16="http://schemas.microsoft.com/office/drawing/2014/main" id="{AEACC94E-B580-4088-9277-E7A55DE4F700}"/>
              </a:ext>
            </a:extLst>
          </p:cNvPr>
          <p:cNvPicPr>
            <a:picLocks noGrp="1" noChangeAspect="1"/>
          </p:cNvPicPr>
          <p:nvPr>
            <p:ph sz="quarter" idx="13"/>
          </p:nvPr>
        </p:nvPicPr>
        <p:blipFill>
          <a:blip r:embed="rId4"/>
          <a:stretch>
            <a:fillRect/>
          </a:stretch>
        </p:blipFill>
        <p:spPr>
          <a:xfrm>
            <a:off x="3613480" y="2308769"/>
            <a:ext cx="4965043" cy="3931837"/>
          </a:xfrm>
          <a:prstGeom prst="rect">
            <a:avLst/>
          </a:prstGeom>
        </p:spPr>
      </p:pic>
    </p:spTree>
    <p:extLst>
      <p:ext uri="{BB962C8B-B14F-4D97-AF65-F5344CB8AC3E}">
        <p14:creationId xmlns:p14="http://schemas.microsoft.com/office/powerpoint/2010/main" val="130251623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4187461-0FEB-4E84-8104-58B696E9EB9A}"/>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5" name="Slide Number Placeholder 4">
            <a:extLst>
              <a:ext uri="{FF2B5EF4-FFF2-40B4-BE49-F238E27FC236}">
                <a16:creationId xmlns:a16="http://schemas.microsoft.com/office/drawing/2014/main" id="{05FA369F-8887-4899-9637-9BDB96995075}"/>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13 B-</a:t>
            </a:r>
            <a:fld id="{2C5E24AE-B8F3-4926-A451-82310B8EB869}" type="slidenum">
              <a:rPr lang="en-US" altLang="en-US" sz="1000">
                <a:solidFill>
                  <a:srgbClr val="548446"/>
                </a:solidFill>
                <a:latin typeface="Arial" panose="020B0604020202020204" pitchFamily="34" charset="0"/>
              </a:rPr>
              <a:pPr/>
              <a:t>99</a:t>
            </a:fld>
            <a:endParaRPr lang="en-US" altLang="en-US" sz="1000">
              <a:solidFill>
                <a:srgbClr val="548446"/>
              </a:solidFill>
              <a:latin typeface="Arial" panose="020B0604020202020204" pitchFamily="34" charset="0"/>
            </a:endParaRPr>
          </a:p>
        </p:txBody>
      </p:sp>
      <p:sp>
        <p:nvSpPr>
          <p:cNvPr id="25604" name="Rectangle 1026">
            <a:extLst>
              <a:ext uri="{FF2B5EF4-FFF2-40B4-BE49-F238E27FC236}">
                <a16:creationId xmlns:a16="http://schemas.microsoft.com/office/drawing/2014/main" id="{29F9C223-BD11-4783-8B13-35EC1016CAE4}"/>
              </a:ext>
            </a:extLst>
          </p:cNvPr>
          <p:cNvSpPr>
            <a:spLocks noGrp="1" noChangeArrowheads="1"/>
          </p:cNvSpPr>
          <p:nvPr>
            <p:ph type="title"/>
          </p:nvPr>
        </p:nvSpPr>
        <p:spPr/>
        <p:txBody>
          <a:bodyPr/>
          <a:lstStyle/>
          <a:p>
            <a:pPr eaLnBrk="1" hangingPunct="1"/>
            <a:r>
              <a:rPr lang="en-US" altLang="en-US"/>
              <a:t>The Efficiency of Hashing</a:t>
            </a:r>
          </a:p>
        </p:txBody>
      </p:sp>
      <p:sp>
        <p:nvSpPr>
          <p:cNvPr id="25605" name="Rectangle 1027">
            <a:extLst>
              <a:ext uri="{FF2B5EF4-FFF2-40B4-BE49-F238E27FC236}">
                <a16:creationId xmlns:a16="http://schemas.microsoft.com/office/drawing/2014/main" id="{BA123E5D-8E3F-47DF-8A1F-F0827FC20967}"/>
              </a:ext>
            </a:extLst>
          </p:cNvPr>
          <p:cNvSpPr>
            <a:spLocks noGrp="1" noChangeArrowheads="1"/>
          </p:cNvSpPr>
          <p:nvPr>
            <p:ph type="body" idx="1"/>
          </p:nvPr>
        </p:nvSpPr>
        <p:spPr/>
        <p:txBody>
          <a:bodyPr/>
          <a:lstStyle/>
          <a:p>
            <a:pPr eaLnBrk="1" hangingPunct="1">
              <a:lnSpc>
                <a:spcPct val="90000"/>
              </a:lnSpc>
            </a:pPr>
            <a:r>
              <a:rPr lang="en-US" altLang="en-US"/>
              <a:t>An analysis of the average-case efficiency of hashing involves the load factor </a:t>
            </a:r>
          </a:p>
          <a:p>
            <a:pPr lvl="1" eaLnBrk="1" hangingPunct="1">
              <a:lnSpc>
                <a:spcPct val="90000"/>
              </a:lnSpc>
            </a:pPr>
            <a:r>
              <a:rPr lang="en-US" altLang="en-US"/>
              <a:t>Load factor </a:t>
            </a:r>
            <a:r>
              <a:rPr lang="en-US" altLang="en-US">
                <a:sym typeface="Symbol" panose="05050102010706020507" pitchFamily="18" charset="2"/>
              </a:rPr>
              <a:t></a:t>
            </a:r>
            <a:endParaRPr lang="en-US" altLang="en-US"/>
          </a:p>
          <a:p>
            <a:pPr lvl="2" eaLnBrk="1" hangingPunct="1">
              <a:lnSpc>
                <a:spcPct val="90000"/>
              </a:lnSpc>
            </a:pPr>
            <a:r>
              <a:rPr lang="en-US" altLang="en-US"/>
              <a:t>Ratio of the current number of items in the table to the maximum size of the array </a:t>
            </a:r>
            <a:r>
              <a:rPr lang="en-US" altLang="en-US">
                <a:latin typeface="Courier New" panose="02070309020205020404" pitchFamily="49" charset="0"/>
              </a:rPr>
              <a:t>table	</a:t>
            </a:r>
          </a:p>
          <a:p>
            <a:pPr lvl="2" eaLnBrk="1" hangingPunct="1">
              <a:lnSpc>
                <a:spcPct val="90000"/>
              </a:lnSpc>
            </a:pPr>
            <a:r>
              <a:rPr lang="en-US" altLang="en-US"/>
              <a:t>Measures how full a hash table is</a:t>
            </a:r>
          </a:p>
          <a:p>
            <a:pPr lvl="2" eaLnBrk="1" hangingPunct="1">
              <a:lnSpc>
                <a:spcPct val="90000"/>
              </a:lnSpc>
            </a:pPr>
            <a:r>
              <a:rPr lang="en-US" altLang="en-US"/>
              <a:t>Should not exceed 2/3</a:t>
            </a:r>
          </a:p>
          <a:p>
            <a:pPr lvl="1" eaLnBrk="1" hangingPunct="1">
              <a:lnSpc>
                <a:spcPct val="90000"/>
              </a:lnSpc>
            </a:pPr>
            <a:r>
              <a:rPr lang="en-US" altLang="en-US"/>
              <a:t>Hashing efficiency for a particular search also depends on whether the search is successful</a:t>
            </a:r>
          </a:p>
          <a:p>
            <a:pPr lvl="2" eaLnBrk="1" hangingPunct="1">
              <a:lnSpc>
                <a:spcPct val="90000"/>
              </a:lnSpc>
            </a:pPr>
            <a:r>
              <a:rPr lang="en-US" altLang="en-US"/>
              <a:t>Unsuccessful searches generally require more time than successful searches</a:t>
            </a:r>
          </a:p>
        </p:txBody>
      </p:sp>
    </p:spTree>
    <p:extLst>
      <p:ext uri="{BB962C8B-B14F-4D97-AF65-F5344CB8AC3E}">
        <p14:creationId xmlns:p14="http://schemas.microsoft.com/office/powerpoint/2010/main" val="1667079325"/>
      </p:ext>
    </p:extLst>
  </p:cSld>
  <p:clrMapOvr>
    <a:masterClrMapping/>
  </p:clrMapOvr>
  <mc:AlternateContent xmlns:mc="http://schemas.openxmlformats.org/markup-compatibility/2006" xmlns:p14="http://schemas.microsoft.com/office/powerpoint/2010/main">
    <mc:Choice Requires="p14">
      <p:transition spd="slow" p14:dur="2000" advTm="81073"/>
    </mc:Choice>
    <mc:Fallback xmlns="">
      <p:transition spd="slow" advTm="81073"/>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F2EE2C2F-1C4D-4B5F-8760-224D596E584A}"/>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5" name="Slide Number Placeholder 4">
            <a:extLst>
              <a:ext uri="{FF2B5EF4-FFF2-40B4-BE49-F238E27FC236}">
                <a16:creationId xmlns:a16="http://schemas.microsoft.com/office/drawing/2014/main" id="{26B42E62-C474-43D8-9151-93C6116069DD}"/>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13 B-</a:t>
            </a:r>
            <a:fld id="{5526FBBB-5BF7-4DA0-A865-CE87CA9F3734}" type="slidenum">
              <a:rPr lang="en-US" altLang="en-US" sz="1000">
                <a:solidFill>
                  <a:srgbClr val="548446"/>
                </a:solidFill>
                <a:latin typeface="Arial" panose="020B0604020202020204" pitchFamily="34" charset="0"/>
              </a:rPr>
              <a:pPr/>
              <a:t>100</a:t>
            </a:fld>
            <a:endParaRPr lang="en-US" altLang="en-US" sz="1000">
              <a:solidFill>
                <a:srgbClr val="548446"/>
              </a:solidFill>
              <a:latin typeface="Arial" panose="020B0604020202020204" pitchFamily="34" charset="0"/>
            </a:endParaRPr>
          </a:p>
        </p:txBody>
      </p:sp>
      <p:sp>
        <p:nvSpPr>
          <p:cNvPr id="26628" name="Rectangle 2">
            <a:extLst>
              <a:ext uri="{FF2B5EF4-FFF2-40B4-BE49-F238E27FC236}">
                <a16:creationId xmlns:a16="http://schemas.microsoft.com/office/drawing/2014/main" id="{E8899817-6177-42B9-856E-FB7E7240ADAD}"/>
              </a:ext>
            </a:extLst>
          </p:cNvPr>
          <p:cNvSpPr>
            <a:spLocks noGrp="1" noChangeArrowheads="1"/>
          </p:cNvSpPr>
          <p:nvPr>
            <p:ph type="title"/>
          </p:nvPr>
        </p:nvSpPr>
        <p:spPr/>
        <p:txBody>
          <a:bodyPr/>
          <a:lstStyle/>
          <a:p>
            <a:pPr eaLnBrk="1" hangingPunct="1"/>
            <a:r>
              <a:rPr lang="en-US" altLang="en-US" dirty="0"/>
              <a:t>The Efficiency of Hashing</a:t>
            </a:r>
          </a:p>
        </p:txBody>
      </p:sp>
      <mc:AlternateContent xmlns:mc="http://schemas.openxmlformats.org/markup-compatibility/2006" xmlns:a14="http://schemas.microsoft.com/office/drawing/2010/main">
        <mc:Choice Requires="a14">
          <p:sp>
            <p:nvSpPr>
              <p:cNvPr id="26629" name="Rectangle 3">
                <a:extLst>
                  <a:ext uri="{FF2B5EF4-FFF2-40B4-BE49-F238E27FC236}">
                    <a16:creationId xmlns:a16="http://schemas.microsoft.com/office/drawing/2014/main" id="{FD8D2959-90A6-4CA7-993C-BADBA9DC2F7F}"/>
                  </a:ext>
                </a:extLst>
              </p:cNvPr>
              <p:cNvSpPr>
                <a:spLocks noGrp="1" noChangeArrowheads="1"/>
              </p:cNvSpPr>
              <p:nvPr>
                <p:ph type="body" idx="1"/>
              </p:nvPr>
            </p:nvSpPr>
            <p:spPr>
              <a:xfrm>
                <a:off x="2438400" y="1600200"/>
                <a:ext cx="7772400" cy="4038600"/>
              </a:xfrm>
            </p:spPr>
            <p:txBody>
              <a:bodyPr>
                <a:normAutofit fontScale="70000" lnSpcReduction="20000"/>
              </a:bodyPr>
              <a:lstStyle/>
              <a:p>
                <a:pPr eaLnBrk="1" hangingPunct="1">
                  <a:lnSpc>
                    <a:spcPct val="90000"/>
                  </a:lnSpc>
                </a:pPr>
                <a:r>
                  <a:rPr lang="en-US" altLang="en-US" dirty="0"/>
                  <a:t>Linear probing</a:t>
                </a:r>
              </a:p>
              <a:p>
                <a:pPr lvl="1"/>
                <a:r>
                  <a:rPr lang="en-US" altLang="en-US" dirty="0"/>
                  <a:t>Successful search: ½[1 + </a:t>
                </a:r>
                <a14:m>
                  <m:oMath xmlns:m="http://schemas.openxmlformats.org/officeDocument/2006/math">
                    <m:f>
                      <m:fPr>
                        <m:ctrlPr>
                          <a:rPr lang="en-US" altLang="en-US" i="1" smtClean="0">
                            <a:latin typeface="Cambria Math" panose="02040503050406030204" pitchFamily="18" charset="0"/>
                          </a:rPr>
                        </m:ctrlPr>
                      </m:fPr>
                      <m:num>
                        <m:r>
                          <a:rPr lang="en-US" altLang="en-US" b="0" i="1" smtClean="0">
                            <a:latin typeface="Cambria Math" panose="02040503050406030204" pitchFamily="18" charset="0"/>
                          </a:rPr>
                          <m:t>1</m:t>
                        </m:r>
                      </m:num>
                      <m:den>
                        <m:r>
                          <m:rPr>
                            <m:nor/>
                          </m:rPr>
                          <a:rPr lang="en-US" altLang="en-US" dirty="0"/>
                          <m:t>1−</m:t>
                        </m:r>
                        <m:r>
                          <m:rPr>
                            <m:nor/>
                          </m:rPr>
                          <a:rPr lang="en-US" altLang="en-US" dirty="0">
                            <a:sym typeface="Symbol" panose="05050102010706020507" pitchFamily="18" charset="2"/>
                          </a:rPr>
                          <m:t></m:t>
                        </m:r>
                      </m:den>
                    </m:f>
                  </m:oMath>
                </a14:m>
                <a:r>
                  <a:rPr lang="en-US" altLang="en-US" dirty="0">
                    <a:sym typeface="Symbol" panose="05050102010706020507" pitchFamily="18" charset="2"/>
                  </a:rPr>
                  <a:t>]</a:t>
                </a:r>
              </a:p>
              <a:p>
                <a:pPr lvl="1"/>
                <a:endParaRPr lang="en-US" altLang="en-US" dirty="0">
                  <a:sym typeface="Symbol" panose="05050102010706020507" pitchFamily="18" charset="2"/>
                </a:endParaRPr>
              </a:p>
              <a:p>
                <a:pPr lvl="1"/>
                <a:r>
                  <a:rPr lang="en-US" altLang="en-US" dirty="0">
                    <a:sym typeface="Symbol" panose="05050102010706020507" pitchFamily="18" charset="2"/>
                  </a:rPr>
                  <a:t>Unsuccessful search: ½[1 + </a:t>
                </a:r>
                <a14:m>
                  <m:oMath xmlns:m="http://schemas.openxmlformats.org/officeDocument/2006/math">
                    <m:f>
                      <m:fPr>
                        <m:ctrlPr>
                          <a:rPr lang="en-US" altLang="en-US" i="1" smtClean="0">
                            <a:latin typeface="Cambria Math" panose="02040503050406030204" pitchFamily="18" charset="0"/>
                            <a:sym typeface="Symbol" panose="05050102010706020507" pitchFamily="18" charset="2"/>
                          </a:rPr>
                        </m:ctrlPr>
                      </m:fPr>
                      <m:num>
                        <m:r>
                          <a:rPr lang="en-US" altLang="en-US" b="0" i="1" smtClean="0">
                            <a:latin typeface="Cambria Math" panose="02040503050406030204" pitchFamily="18" charset="0"/>
                            <a:sym typeface="Symbol" panose="05050102010706020507" pitchFamily="18" charset="2"/>
                          </a:rPr>
                          <m:t>1</m:t>
                        </m:r>
                      </m:num>
                      <m:den>
                        <m:sSup>
                          <m:sSupPr>
                            <m:ctrlPr>
                              <a:rPr lang="en-US" altLang="en-US" i="1" smtClean="0">
                                <a:latin typeface="Cambria Math" panose="02040503050406030204" pitchFamily="18" charset="0"/>
                                <a:sym typeface="Symbol" panose="05050102010706020507" pitchFamily="18" charset="2"/>
                              </a:rPr>
                            </m:ctrlPr>
                          </m:sSupPr>
                          <m:e>
                            <m:r>
                              <a:rPr lang="en-US" altLang="en-US" b="0" i="1" smtClean="0">
                                <a:latin typeface="Cambria Math" panose="02040503050406030204" pitchFamily="18" charset="0"/>
                                <a:sym typeface="Symbol" panose="05050102010706020507" pitchFamily="18" charset="2"/>
                              </a:rPr>
                              <m:t>(1−</m:t>
                            </m:r>
                            <m:r>
                              <a:rPr lang="en-US" altLang="en-US" b="0" i="1" smtClean="0">
                                <a:latin typeface="Cambria Math" panose="02040503050406030204" pitchFamily="18" charset="0"/>
                                <a:ea typeface="Cambria Math" panose="02040503050406030204" pitchFamily="18" charset="0"/>
                                <a:sym typeface="Symbol" panose="05050102010706020507" pitchFamily="18" charset="2"/>
                              </a:rPr>
                              <m:t>𝛼</m:t>
                            </m:r>
                            <m:r>
                              <a:rPr lang="en-US" altLang="en-US" b="0" i="1" smtClean="0">
                                <a:latin typeface="Cambria Math" panose="02040503050406030204" pitchFamily="18" charset="0"/>
                                <a:ea typeface="Cambria Math" panose="02040503050406030204" pitchFamily="18" charset="0"/>
                                <a:sym typeface="Symbol" panose="05050102010706020507" pitchFamily="18" charset="2"/>
                              </a:rPr>
                              <m:t>)</m:t>
                            </m:r>
                          </m:e>
                          <m:sup>
                            <m:r>
                              <a:rPr lang="en-US" altLang="en-US" b="0" i="1" smtClean="0">
                                <a:latin typeface="Cambria Math" panose="02040503050406030204" pitchFamily="18" charset="0"/>
                                <a:sym typeface="Symbol" panose="05050102010706020507" pitchFamily="18" charset="2"/>
                              </a:rPr>
                              <m:t>2</m:t>
                            </m:r>
                          </m:sup>
                        </m:sSup>
                      </m:den>
                    </m:f>
                  </m:oMath>
                </a14:m>
                <a:r>
                  <a:rPr lang="en-US" altLang="en-US" dirty="0">
                    <a:sym typeface="Symbol" panose="05050102010706020507" pitchFamily="18" charset="2"/>
                  </a:rPr>
                  <a:t>]</a:t>
                </a:r>
              </a:p>
              <a:p>
                <a:pPr eaLnBrk="1" hangingPunct="1">
                  <a:lnSpc>
                    <a:spcPct val="90000"/>
                  </a:lnSpc>
                </a:pPr>
                <a:r>
                  <a:rPr lang="en-US" altLang="en-US" dirty="0">
                    <a:sym typeface="Symbol" panose="05050102010706020507" pitchFamily="18" charset="2"/>
                  </a:rPr>
                  <a:t>Quadratic probing and double hashing</a:t>
                </a:r>
              </a:p>
              <a:p>
                <a:pPr lvl="1"/>
                <a:endParaRPr lang="en-US" altLang="en-US" dirty="0">
                  <a:sym typeface="Symbol" panose="05050102010706020507" pitchFamily="18" charset="2"/>
                </a:endParaRPr>
              </a:p>
              <a:p>
                <a:pPr lvl="1"/>
                <a:r>
                  <a:rPr lang="en-US" altLang="en-US" dirty="0">
                    <a:sym typeface="Symbol" panose="05050102010706020507" pitchFamily="18" charset="2"/>
                  </a:rPr>
                  <a:t>Successful search: </a:t>
                </a:r>
                <a14:m>
                  <m:oMath xmlns:m="http://schemas.openxmlformats.org/officeDocument/2006/math">
                    <m:f>
                      <m:fPr>
                        <m:ctrlPr>
                          <a:rPr lang="en-US" altLang="en-US" i="1" smtClean="0">
                            <a:latin typeface="Cambria Math" panose="02040503050406030204" pitchFamily="18" charset="0"/>
                            <a:sym typeface="Symbol" panose="05050102010706020507" pitchFamily="18" charset="2"/>
                          </a:rPr>
                        </m:ctrlPr>
                      </m:fPr>
                      <m:num>
                        <m:r>
                          <m:rPr>
                            <m:nor/>
                          </m:rPr>
                          <a:rPr lang="en-US" altLang="en-US" dirty="0">
                            <a:sym typeface="Symbol" panose="05050102010706020507" pitchFamily="18" charset="2"/>
                          </a:rPr>
                          <m:t>−</m:t>
                        </m:r>
                        <m:r>
                          <m:rPr>
                            <m:nor/>
                          </m:rPr>
                          <a:rPr lang="en-US" altLang="en-US" dirty="0">
                            <a:sym typeface="Symbol" panose="05050102010706020507" pitchFamily="18" charset="2"/>
                          </a:rPr>
                          <m:t>loge</m:t>
                        </m:r>
                        <m:r>
                          <m:rPr>
                            <m:nor/>
                          </m:rPr>
                          <a:rPr lang="en-US" altLang="en-US" dirty="0">
                            <a:sym typeface="Symbol" panose="05050102010706020507" pitchFamily="18" charset="2"/>
                          </a:rPr>
                          <m:t>(1− )</m:t>
                        </m:r>
                      </m:num>
                      <m:den>
                        <m:r>
                          <m:rPr>
                            <m:nor/>
                          </m:rPr>
                          <a:rPr lang="en-US" altLang="en-US" dirty="0">
                            <a:sym typeface="Symbol" panose="05050102010706020507" pitchFamily="18" charset="2"/>
                          </a:rPr>
                          <m:t> </m:t>
                        </m:r>
                      </m:den>
                    </m:f>
                  </m:oMath>
                </a14:m>
                <a:endParaRPr lang="en-US" altLang="en-US" dirty="0">
                  <a:sym typeface="Symbol" panose="05050102010706020507" pitchFamily="18" charset="2"/>
                </a:endParaRPr>
              </a:p>
              <a:p>
                <a:pPr lvl="1"/>
                <a:endParaRPr lang="en-US" altLang="en-US" dirty="0">
                  <a:sym typeface="Symbol" panose="05050102010706020507" pitchFamily="18" charset="2"/>
                </a:endParaRPr>
              </a:p>
              <a:p>
                <a:pPr lvl="1"/>
                <a:r>
                  <a:rPr lang="en-US" altLang="en-US" dirty="0">
                    <a:sym typeface="Symbol" panose="05050102010706020507" pitchFamily="18" charset="2"/>
                  </a:rPr>
                  <a:t>Unsuccessful search: </a:t>
                </a:r>
                <a14:m>
                  <m:oMath xmlns:m="http://schemas.openxmlformats.org/officeDocument/2006/math">
                    <m:f>
                      <m:fPr>
                        <m:ctrlPr>
                          <a:rPr lang="en-US" altLang="en-US" i="1" smtClean="0">
                            <a:latin typeface="Cambria Math" panose="02040503050406030204" pitchFamily="18" charset="0"/>
                            <a:sym typeface="Symbol" panose="05050102010706020507" pitchFamily="18" charset="2"/>
                          </a:rPr>
                        </m:ctrlPr>
                      </m:fPr>
                      <m:num>
                        <m:r>
                          <a:rPr lang="en-US" altLang="en-US" b="0" i="1" smtClean="0">
                            <a:latin typeface="Cambria Math" panose="02040503050406030204" pitchFamily="18" charset="0"/>
                            <a:sym typeface="Symbol" panose="05050102010706020507" pitchFamily="18" charset="2"/>
                          </a:rPr>
                          <m:t>1</m:t>
                        </m:r>
                      </m:num>
                      <m:den>
                        <m:r>
                          <a:rPr lang="en-US" altLang="en-US" b="0" i="1" smtClean="0">
                            <a:latin typeface="Cambria Math" panose="02040503050406030204" pitchFamily="18" charset="0"/>
                            <a:sym typeface="Symbol" panose="05050102010706020507" pitchFamily="18" charset="2"/>
                          </a:rPr>
                          <m:t>1−</m:t>
                        </m:r>
                        <m:r>
                          <a:rPr lang="en-US" altLang="en-US" i="1" smtClean="0">
                            <a:latin typeface="Cambria Math" panose="02040503050406030204" pitchFamily="18" charset="0"/>
                            <a:ea typeface="Cambria Math" panose="02040503050406030204" pitchFamily="18" charset="0"/>
                            <a:sym typeface="Symbol" panose="05050102010706020507" pitchFamily="18" charset="2"/>
                          </a:rPr>
                          <m:t>𝛼</m:t>
                        </m:r>
                      </m:den>
                    </m:f>
                  </m:oMath>
                </a14:m>
                <a:endParaRPr lang="en-US" altLang="en-US" dirty="0">
                  <a:sym typeface="Symbol" panose="05050102010706020507" pitchFamily="18" charset="2"/>
                </a:endParaRPr>
              </a:p>
              <a:p>
                <a:pPr eaLnBrk="1" hangingPunct="1">
                  <a:lnSpc>
                    <a:spcPct val="90000"/>
                  </a:lnSpc>
                </a:pPr>
                <a:r>
                  <a:rPr lang="en-US" altLang="en-US" dirty="0">
                    <a:sym typeface="Symbol" panose="05050102010706020507" pitchFamily="18" charset="2"/>
                  </a:rPr>
                  <a:t>Separate chaining</a:t>
                </a:r>
              </a:p>
              <a:p>
                <a:pPr lvl="1" eaLnBrk="1" hangingPunct="1">
                  <a:lnSpc>
                    <a:spcPct val="90000"/>
                  </a:lnSpc>
                </a:pPr>
                <a:r>
                  <a:rPr lang="en-US" altLang="en-US" dirty="0">
                    <a:sym typeface="Symbol" panose="05050102010706020507" pitchFamily="18" charset="2"/>
                  </a:rPr>
                  <a:t>Insertion is O(1)</a:t>
                </a:r>
              </a:p>
              <a:p>
                <a:pPr lvl="1" eaLnBrk="1" hangingPunct="1">
                  <a:lnSpc>
                    <a:spcPct val="90000"/>
                  </a:lnSpc>
                </a:pPr>
                <a:r>
                  <a:rPr lang="en-US" altLang="en-US" dirty="0">
                    <a:sym typeface="Symbol" panose="05050102010706020507" pitchFamily="18" charset="2"/>
                  </a:rPr>
                  <a:t>Retrievals and deletions</a:t>
                </a:r>
              </a:p>
              <a:p>
                <a:pPr lvl="2" eaLnBrk="1" hangingPunct="1">
                  <a:lnSpc>
                    <a:spcPct val="90000"/>
                  </a:lnSpc>
                </a:pPr>
                <a:r>
                  <a:rPr lang="en-US" altLang="en-US" dirty="0">
                    <a:sym typeface="Symbol" panose="05050102010706020507" pitchFamily="18" charset="2"/>
                  </a:rPr>
                  <a:t>Successful search: 1 + </a:t>
                </a:r>
                <a14:m>
                  <m:oMath xmlns:m="http://schemas.openxmlformats.org/officeDocument/2006/math">
                    <m:f>
                      <m:fPr>
                        <m:ctrlPr>
                          <a:rPr lang="en-US" altLang="en-US" i="1" smtClean="0">
                            <a:latin typeface="Cambria Math" panose="02040503050406030204" pitchFamily="18" charset="0"/>
                            <a:sym typeface="Symbol" panose="05050102010706020507" pitchFamily="18" charset="2"/>
                          </a:rPr>
                        </m:ctrlPr>
                      </m:fPr>
                      <m:num>
                        <m:r>
                          <a:rPr lang="en-US" altLang="en-US" i="1" smtClean="0">
                            <a:latin typeface="Cambria Math" panose="02040503050406030204" pitchFamily="18" charset="0"/>
                            <a:ea typeface="Cambria Math" panose="02040503050406030204" pitchFamily="18" charset="0"/>
                            <a:sym typeface="Symbol" panose="05050102010706020507" pitchFamily="18" charset="2"/>
                          </a:rPr>
                          <m:t>𝛼</m:t>
                        </m:r>
                      </m:num>
                      <m:den>
                        <m:r>
                          <a:rPr lang="en-US" altLang="en-US" b="0" i="1" smtClean="0">
                            <a:latin typeface="Cambria Math" panose="02040503050406030204" pitchFamily="18" charset="0"/>
                            <a:sym typeface="Symbol" panose="05050102010706020507" pitchFamily="18" charset="2"/>
                          </a:rPr>
                          <m:t>2</m:t>
                        </m:r>
                      </m:den>
                    </m:f>
                  </m:oMath>
                </a14:m>
                <a:endParaRPr lang="en-US" altLang="en-US" dirty="0">
                  <a:sym typeface="Symbol" panose="05050102010706020507" pitchFamily="18" charset="2"/>
                </a:endParaRPr>
              </a:p>
              <a:p>
                <a:pPr lvl="2" eaLnBrk="1" hangingPunct="1">
                  <a:lnSpc>
                    <a:spcPct val="90000"/>
                  </a:lnSpc>
                </a:pPr>
                <a:r>
                  <a:rPr lang="en-US" altLang="en-US" dirty="0">
                    <a:sym typeface="Symbol" panose="05050102010706020507" pitchFamily="18" charset="2"/>
                  </a:rPr>
                  <a:t>Unsuccessful search: </a:t>
                </a:r>
              </a:p>
            </p:txBody>
          </p:sp>
        </mc:Choice>
        <mc:Fallback xmlns="">
          <p:sp>
            <p:nvSpPr>
              <p:cNvPr id="26629" name="Rectangle 3">
                <a:extLst>
                  <a:ext uri="{FF2B5EF4-FFF2-40B4-BE49-F238E27FC236}">
                    <a16:creationId xmlns:a16="http://schemas.microsoft.com/office/drawing/2014/main" id="{FD8D2959-90A6-4CA7-993C-BADBA9DC2F7F}"/>
                  </a:ext>
                </a:extLst>
              </p:cNvPr>
              <p:cNvSpPr>
                <a:spLocks noGrp="1" noRot="1" noChangeAspect="1" noMove="1" noResize="1" noEditPoints="1" noAdjustHandles="1" noChangeArrowheads="1" noChangeShapeType="1" noTextEdit="1"/>
              </p:cNvSpPr>
              <p:nvPr>
                <p:ph type="body" idx="1"/>
              </p:nvPr>
            </p:nvSpPr>
            <p:spPr>
              <a:xfrm>
                <a:off x="2438400" y="1600200"/>
                <a:ext cx="7772400" cy="4038600"/>
              </a:xfrm>
              <a:blipFill>
                <a:blip r:embed="rId5"/>
                <a:stretch>
                  <a:fillRect l="-706" t="-2870" b="-1662"/>
                </a:stretch>
              </a:blipFill>
            </p:spPr>
            <p:txBody>
              <a:bodyPr/>
              <a:lstStyle/>
              <a:p>
                <a:r>
                  <a:rPr lang="en-US">
                    <a:noFill/>
                  </a:rPr>
                  <a:t> </a:t>
                </a:r>
              </a:p>
            </p:txBody>
          </p:sp>
        </mc:Fallback>
      </mc:AlternateContent>
    </p:spTree>
    <p:extLst>
      <p:ext uri="{BB962C8B-B14F-4D97-AF65-F5344CB8AC3E}">
        <p14:creationId xmlns:p14="http://schemas.microsoft.com/office/powerpoint/2010/main" val="4232697462"/>
      </p:ext>
    </p:extLst>
  </p:cSld>
  <p:clrMapOvr>
    <a:masterClrMapping/>
  </p:clrMapOvr>
  <mc:AlternateContent xmlns:mc="http://schemas.openxmlformats.org/markup-compatibility/2006" xmlns:p14="http://schemas.microsoft.com/office/powerpoint/2010/main">
    <mc:Choice Requires="p14">
      <p:transition spd="slow" p14:dur="2000" advTm="16029"/>
    </mc:Choice>
    <mc:Fallback xmlns="">
      <p:transition spd="slow" advTm="16029"/>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212B9E30-B3DB-4F92-BB60-BF0126D77E06}"/>
              </a:ext>
            </a:extLst>
          </p:cNvPr>
          <p:cNvSpPr>
            <a:spLocks noGrp="1"/>
          </p:cNvSpPr>
          <p:nvPr>
            <p:ph type="ftr" sz="quarter" idx="10"/>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 2011 Pearson Addison-Wesley. All rights reserved</a:t>
            </a:r>
          </a:p>
        </p:txBody>
      </p:sp>
      <p:sp>
        <p:nvSpPr>
          <p:cNvPr id="6" name="Slide Number Placeholder 4">
            <a:extLst>
              <a:ext uri="{FF2B5EF4-FFF2-40B4-BE49-F238E27FC236}">
                <a16:creationId xmlns:a16="http://schemas.microsoft.com/office/drawing/2014/main" id="{3750295E-23B5-47EB-8739-7CA56431A8B2}"/>
              </a:ext>
            </a:extLst>
          </p:cNvPr>
          <p:cNvSpPr>
            <a:spLocks noGrp="1"/>
          </p:cNvSpPr>
          <p:nvPr>
            <p:ph type="sldNum" sz="quarter" idx="11"/>
          </p:nvPr>
        </p:nvSpPr>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en-US" sz="1000">
                <a:solidFill>
                  <a:srgbClr val="548446"/>
                </a:solidFill>
                <a:latin typeface="Arial" panose="020B0604020202020204" pitchFamily="34" charset="0"/>
              </a:rPr>
              <a:t>13 B-</a:t>
            </a:r>
            <a:fld id="{DA55B77D-1E17-4346-BAF5-AE6110668B80}" type="slidenum">
              <a:rPr lang="en-US" altLang="en-US" sz="1000">
                <a:solidFill>
                  <a:srgbClr val="548446"/>
                </a:solidFill>
                <a:latin typeface="Arial" panose="020B0604020202020204" pitchFamily="34" charset="0"/>
              </a:rPr>
              <a:pPr/>
              <a:t>101</a:t>
            </a:fld>
            <a:endParaRPr lang="en-US" altLang="en-US" sz="1000">
              <a:solidFill>
                <a:srgbClr val="548446"/>
              </a:solidFill>
              <a:latin typeface="Arial" panose="020B0604020202020204" pitchFamily="34" charset="0"/>
            </a:endParaRPr>
          </a:p>
        </p:txBody>
      </p:sp>
      <p:sp>
        <p:nvSpPr>
          <p:cNvPr id="27652" name="Rectangle 2">
            <a:extLst>
              <a:ext uri="{FF2B5EF4-FFF2-40B4-BE49-F238E27FC236}">
                <a16:creationId xmlns:a16="http://schemas.microsoft.com/office/drawing/2014/main" id="{E54B325E-E6FA-4414-95DC-18C2FBF5B695}"/>
              </a:ext>
            </a:extLst>
          </p:cNvPr>
          <p:cNvSpPr>
            <a:spLocks noGrp="1" noChangeArrowheads="1"/>
          </p:cNvSpPr>
          <p:nvPr>
            <p:ph type="title"/>
          </p:nvPr>
        </p:nvSpPr>
        <p:spPr/>
        <p:txBody>
          <a:bodyPr/>
          <a:lstStyle/>
          <a:p>
            <a:pPr eaLnBrk="1" hangingPunct="1"/>
            <a:r>
              <a:rPr lang="en-US" altLang="en-US"/>
              <a:t>The Efficiency of Hashing</a:t>
            </a:r>
          </a:p>
        </p:txBody>
      </p:sp>
      <p:pic>
        <p:nvPicPr>
          <p:cNvPr id="27653" name="Picture 4">
            <a:extLst>
              <a:ext uri="{FF2B5EF4-FFF2-40B4-BE49-F238E27FC236}">
                <a16:creationId xmlns:a16="http://schemas.microsoft.com/office/drawing/2014/main" id="{DEA5752E-3F9D-49F5-A521-1071A2C9810E}"/>
              </a:ext>
            </a:extLst>
          </p:cNvPr>
          <p:cNvPicPr>
            <a:picLocks noGrp="1" noChangeAspect="1" noChangeArrowheads="1"/>
          </p:cNvPicPr>
          <p:nvPr>
            <p:ph idx="1"/>
          </p:nvPr>
        </p:nvPicPr>
        <p:blipFill>
          <a:blip r:embed="rId3" cstate="print">
            <a:lum bright="-6000"/>
            <a:extLst>
              <a:ext uri="{28A0092B-C50C-407E-A947-70E740481C1C}">
                <a14:useLocalDpi xmlns:a14="http://schemas.microsoft.com/office/drawing/2010/main" val="0"/>
              </a:ext>
            </a:extLst>
          </a:blip>
          <a:srcRect/>
          <a:stretch>
            <a:fillRect/>
          </a:stretch>
        </p:blipFill>
        <p:spPr>
          <a:xfrm>
            <a:off x="3228976" y="1524000"/>
            <a:ext cx="6342063" cy="3962400"/>
          </a:xfrm>
          <a:noFill/>
        </p:spPr>
      </p:pic>
      <p:sp>
        <p:nvSpPr>
          <p:cNvPr id="89093" name="Text Box 5">
            <a:extLst>
              <a:ext uri="{FF2B5EF4-FFF2-40B4-BE49-F238E27FC236}">
                <a16:creationId xmlns:a16="http://schemas.microsoft.com/office/drawing/2014/main" id="{C7600E81-B3D0-4D7C-AC1D-D8C1701BE9B3}"/>
              </a:ext>
            </a:extLst>
          </p:cNvPr>
          <p:cNvSpPr txBox="1">
            <a:spLocks noChangeArrowheads="1"/>
          </p:cNvSpPr>
          <p:nvPr/>
        </p:nvSpPr>
        <p:spPr bwMode="auto">
          <a:xfrm>
            <a:off x="2438400" y="5486400"/>
            <a:ext cx="7620000" cy="408317"/>
          </a:xfrm>
          <a:prstGeom prst="rect">
            <a:avLst/>
          </a:prstGeom>
          <a:noFill/>
          <a:ln w="9525">
            <a:noFill/>
            <a:miter lim="800000"/>
            <a:headEnd/>
            <a:tailEnd/>
          </a:ln>
          <a:effectLst/>
        </p:spPr>
        <p:txBody>
          <a:bodyPr>
            <a:spAutoFit/>
          </a:bodyPr>
          <a:lstStyle/>
          <a:p>
            <a:pPr>
              <a:lnSpc>
                <a:spcPts val="2800"/>
              </a:lnSpc>
              <a:defRPr/>
            </a:pPr>
            <a:r>
              <a:rPr lang="en-US" sz="1600" dirty="0">
                <a:latin typeface="Arial" charset="0"/>
              </a:rPr>
              <a:t>The relative efficiency of four collision-resolution methods</a:t>
            </a:r>
          </a:p>
        </p:txBody>
      </p:sp>
      <p:cxnSp>
        <p:nvCxnSpPr>
          <p:cNvPr id="3" name="Straight Connector 2">
            <a:extLst>
              <a:ext uri="{FF2B5EF4-FFF2-40B4-BE49-F238E27FC236}">
                <a16:creationId xmlns:a16="http://schemas.microsoft.com/office/drawing/2014/main" id="{38196B24-1330-4A60-B9BD-99A35B8B9D2E}"/>
              </a:ext>
            </a:extLst>
          </p:cNvPr>
          <p:cNvCxnSpPr/>
          <p:nvPr/>
        </p:nvCxnSpPr>
        <p:spPr>
          <a:xfrm>
            <a:off x="4511040" y="4450080"/>
            <a:ext cx="0" cy="10363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A4EBAB-0365-4085-B7B9-4A21DA231EE1}"/>
              </a:ext>
            </a:extLst>
          </p:cNvPr>
          <p:cNvCxnSpPr/>
          <p:nvPr/>
        </p:nvCxnSpPr>
        <p:spPr>
          <a:xfrm>
            <a:off x="7877695" y="4369724"/>
            <a:ext cx="0" cy="103632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2527142"/>
      </p:ext>
    </p:extLst>
  </p:cSld>
  <p:clrMapOvr>
    <a:masterClrMapping/>
  </p:clrMapOvr>
  <mc:AlternateContent xmlns:mc="http://schemas.openxmlformats.org/markup-compatibility/2006" xmlns:p14="http://schemas.microsoft.com/office/powerpoint/2010/main">
    <mc:Choice Requires="p14">
      <p:transition spd="slow" p14:dur="2000" advTm="29041"/>
    </mc:Choice>
    <mc:Fallback xmlns="">
      <p:transition spd="slow" advTm="2904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E6D0A-5632-4758-991D-327EB0812FB4}"/>
              </a:ext>
            </a:extLst>
          </p:cNvPr>
          <p:cNvSpPr>
            <a:spLocks noGrp="1"/>
          </p:cNvSpPr>
          <p:nvPr>
            <p:ph type="title"/>
          </p:nvPr>
        </p:nvSpPr>
        <p:spPr/>
        <p:txBody>
          <a:bodyPr/>
          <a:lstStyle/>
          <a:p>
            <a:r>
              <a:rPr lang="en-US" dirty="0"/>
              <a:t>What Constitutes a Good Hash Function</a:t>
            </a:r>
          </a:p>
        </p:txBody>
      </p:sp>
      <p:sp>
        <p:nvSpPr>
          <p:cNvPr id="3" name="Content Placeholder 2">
            <a:extLst>
              <a:ext uri="{FF2B5EF4-FFF2-40B4-BE49-F238E27FC236}">
                <a16:creationId xmlns:a16="http://schemas.microsoft.com/office/drawing/2014/main" id="{35E02643-6FB2-491A-AE1A-9A1E18DBB44E}"/>
              </a:ext>
            </a:extLst>
          </p:cNvPr>
          <p:cNvSpPr>
            <a:spLocks noGrp="1"/>
          </p:cNvSpPr>
          <p:nvPr>
            <p:ph idx="1"/>
          </p:nvPr>
        </p:nvSpPr>
        <p:spPr>
          <a:xfrm>
            <a:off x="838200" y="1847792"/>
            <a:ext cx="10515600" cy="4351338"/>
          </a:xfrm>
        </p:spPr>
        <p:txBody>
          <a:bodyPr>
            <a:normAutofit fontScale="85000" lnSpcReduction="20000"/>
          </a:bodyPr>
          <a:lstStyle/>
          <a:p>
            <a:r>
              <a:rPr lang="en-US" dirty="0"/>
              <a:t>A good hash function should</a:t>
            </a:r>
          </a:p>
          <a:p>
            <a:pPr lvl="1"/>
            <a:r>
              <a:rPr lang="en-US" dirty="0"/>
              <a:t>Be easy and fast to compute (using % or bitwise operators)</a:t>
            </a:r>
          </a:p>
          <a:p>
            <a:pPr lvl="1"/>
            <a:r>
              <a:rPr lang="en-US" dirty="0"/>
              <a:t>Avoid clusters : Scatter the data evenly throughout the hash table</a:t>
            </a:r>
          </a:p>
          <a:p>
            <a:r>
              <a:rPr lang="en-US" dirty="0"/>
              <a:t>Consider:</a:t>
            </a:r>
          </a:p>
          <a:p>
            <a:pPr marL="0" indent="0">
              <a:buNone/>
            </a:pPr>
            <a:r>
              <a:rPr lang="en-US" dirty="0"/>
              <a:t>key </a:t>
            </a:r>
            <a:r>
              <a:rPr lang="en-US" dirty="0">
                <a:sym typeface="Wingdings" panose="05000000000000000000" pitchFamily="2" charset="2"/>
              </a:rPr>
              <a:t> nine digits , table-size  40, </a:t>
            </a:r>
            <a:r>
              <a:rPr lang="en-US" dirty="0" err="1">
                <a:sym typeface="Wingdings" panose="05000000000000000000" pitchFamily="2" charset="2"/>
              </a:rPr>
              <a:t>hashTable</a:t>
            </a:r>
            <a:r>
              <a:rPr lang="en-US" dirty="0">
                <a:sym typeface="Wingdings" panose="05000000000000000000" pitchFamily="2" charset="2"/>
              </a:rPr>
              <a:t>[0..39]</a:t>
            </a:r>
          </a:p>
          <a:p>
            <a:pPr marL="0" indent="0">
              <a:buNone/>
            </a:pPr>
            <a:r>
              <a:rPr lang="en-US" dirty="0">
                <a:sym typeface="Wingdings" panose="05000000000000000000" pitchFamily="2" charset="2"/>
              </a:rPr>
              <a:t>H(key)  (first two digits % 40)</a:t>
            </a:r>
          </a:p>
          <a:p>
            <a:pPr marL="0" indent="0">
              <a:buNone/>
            </a:pPr>
            <a:endParaRPr lang="en-US" dirty="0">
              <a:sym typeface="Wingdings" panose="05000000000000000000" pitchFamily="2" charset="2"/>
            </a:endParaRPr>
          </a:p>
          <a:p>
            <a:pPr marL="0" indent="0">
              <a:buNone/>
            </a:pPr>
            <a:endParaRPr lang="en-US" sz="2400" dirty="0">
              <a:sym typeface="Wingdings" panose="05000000000000000000" pitchFamily="2" charset="2"/>
            </a:endParaRPr>
          </a:p>
          <a:p>
            <a:endParaRPr lang="en-US" sz="2400" dirty="0">
              <a:sym typeface="Wingdings" panose="05000000000000000000" pitchFamily="2" charset="2"/>
            </a:endParaRPr>
          </a:p>
          <a:p>
            <a:r>
              <a:rPr lang="en-US" sz="2400" dirty="0">
                <a:sym typeface="Wingdings" panose="05000000000000000000" pitchFamily="2" charset="2"/>
              </a:rPr>
              <a:t>Assume keys are unique</a:t>
            </a:r>
          </a:p>
          <a:p>
            <a:r>
              <a:rPr lang="en-US" sz="2400" dirty="0">
                <a:sym typeface="Wingdings" panose="05000000000000000000" pitchFamily="2" charset="2"/>
              </a:rPr>
              <a:t>60 keys will map to </a:t>
            </a:r>
            <a:r>
              <a:rPr lang="en-US" sz="2400" dirty="0" err="1">
                <a:sym typeface="Wingdings" panose="05000000000000000000" pitchFamily="2" charset="2"/>
              </a:rPr>
              <a:t>hashTable</a:t>
            </a:r>
            <a:r>
              <a:rPr lang="en-US" sz="2400" dirty="0">
                <a:sym typeface="Wingdings" panose="05000000000000000000" pitchFamily="2" charset="2"/>
              </a:rPr>
              <a:t>[0..19]</a:t>
            </a:r>
          </a:p>
          <a:p>
            <a:r>
              <a:rPr lang="en-US" sz="2400" dirty="0">
                <a:sym typeface="Wingdings" panose="05000000000000000000" pitchFamily="2" charset="2"/>
              </a:rPr>
              <a:t>40 keys will map to </a:t>
            </a:r>
            <a:r>
              <a:rPr lang="en-US" dirty="0" err="1">
                <a:sym typeface="Wingdings" panose="05000000000000000000" pitchFamily="2" charset="2"/>
              </a:rPr>
              <a:t>hashTable</a:t>
            </a:r>
            <a:r>
              <a:rPr lang="en-US" dirty="0">
                <a:sym typeface="Wingdings" panose="05000000000000000000" pitchFamily="2" charset="2"/>
              </a:rPr>
              <a:t>[20..39]</a:t>
            </a:r>
          </a:p>
          <a:p>
            <a:endParaRPr lang="en-US" dirty="0"/>
          </a:p>
        </p:txBody>
      </p:sp>
      <p:sp>
        <p:nvSpPr>
          <p:cNvPr id="4" name="Left Brace 3">
            <a:extLst>
              <a:ext uri="{FF2B5EF4-FFF2-40B4-BE49-F238E27FC236}">
                <a16:creationId xmlns:a16="http://schemas.microsoft.com/office/drawing/2014/main" id="{AE9364BF-6773-4D5C-A9E0-03EC1520AC3E}"/>
              </a:ext>
            </a:extLst>
          </p:cNvPr>
          <p:cNvSpPr/>
          <p:nvPr/>
        </p:nvSpPr>
        <p:spPr>
          <a:xfrm rot="16200000">
            <a:off x="2984499" y="3150852"/>
            <a:ext cx="365757" cy="1745215"/>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1D6CE385-0C7D-4662-B32F-55350E87D0D7}"/>
              </a:ext>
            </a:extLst>
          </p:cNvPr>
          <p:cNvSpPr txBox="1"/>
          <p:nvPr/>
        </p:nvSpPr>
        <p:spPr>
          <a:xfrm>
            <a:off x="2660073" y="4302485"/>
            <a:ext cx="1136530" cy="369332"/>
          </a:xfrm>
          <a:prstGeom prst="rect">
            <a:avLst/>
          </a:prstGeom>
          <a:noFill/>
        </p:spPr>
        <p:txBody>
          <a:bodyPr wrap="none" rtlCol="0">
            <a:spAutoFit/>
          </a:bodyPr>
          <a:lstStyle/>
          <a:p>
            <a:r>
              <a:rPr lang="en-US" dirty="0"/>
              <a:t>hash code</a:t>
            </a:r>
          </a:p>
        </p:txBody>
      </p:sp>
    </p:spTree>
    <p:extLst>
      <p:ext uri="{BB962C8B-B14F-4D97-AF65-F5344CB8AC3E}">
        <p14:creationId xmlns:p14="http://schemas.microsoft.com/office/powerpoint/2010/main" val="1197171435"/>
      </p:ext>
    </p:extLst>
  </p:cSld>
  <p:clrMapOvr>
    <a:masterClrMapping/>
  </p:clrMapOvr>
  <mc:AlternateContent xmlns:mc="http://schemas.openxmlformats.org/markup-compatibility/2006" xmlns:p14="http://schemas.microsoft.com/office/powerpoint/2010/main">
    <mc:Choice Requires="p14">
      <p:transition spd="slow" p14:dur="2000" advTm="118399"/>
    </mc:Choice>
    <mc:Fallback xmlns="">
      <p:transition spd="slow" advTm="118399"/>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8A4B5A-9C67-4063-AC79-2DA93F894679}"/>
              </a:ext>
            </a:extLst>
          </p:cNvPr>
          <p:cNvSpPr>
            <a:spLocks noGrp="1"/>
          </p:cNvSpPr>
          <p:nvPr>
            <p:ph idx="1"/>
          </p:nvPr>
        </p:nvSpPr>
        <p:spPr>
          <a:xfrm>
            <a:off x="501350" y="328745"/>
            <a:ext cx="10515600" cy="6262254"/>
          </a:xfrm>
        </p:spPr>
        <p:txBody>
          <a:bodyPr>
            <a:normAutofit/>
          </a:bodyPr>
          <a:lstStyle/>
          <a:p>
            <a:r>
              <a:rPr lang="en-US" dirty="0"/>
              <a:t>Java JCF HashMap provides</a:t>
            </a:r>
          </a:p>
          <a:p>
            <a:pPr marL="0" indent="0">
              <a:buNone/>
            </a:pPr>
            <a:r>
              <a:rPr lang="en-US" dirty="0"/>
              <a:t>/** Hash function */ </a:t>
            </a:r>
          </a:p>
          <a:p>
            <a:pPr marL="0" indent="0">
              <a:buNone/>
            </a:pPr>
            <a:r>
              <a:rPr lang="en-US" b="1" dirty="0"/>
              <a:t>private</a:t>
            </a:r>
            <a:r>
              <a:rPr lang="en-US" dirty="0"/>
              <a:t> </a:t>
            </a:r>
            <a:r>
              <a:rPr lang="en-US" b="1" dirty="0"/>
              <a:t>int</a:t>
            </a:r>
            <a:r>
              <a:rPr lang="en-US" dirty="0"/>
              <a:t> hash(</a:t>
            </a:r>
            <a:r>
              <a:rPr lang="en-US" b="1" dirty="0"/>
              <a:t>int</a:t>
            </a:r>
            <a:r>
              <a:rPr lang="en-US" dirty="0"/>
              <a:t> </a:t>
            </a:r>
            <a:r>
              <a:rPr lang="en-US" dirty="0" err="1"/>
              <a:t>hashCode</a:t>
            </a:r>
            <a:r>
              <a:rPr lang="en-US" dirty="0"/>
              <a:t>) { </a:t>
            </a:r>
          </a:p>
          <a:p>
            <a:pPr marL="0" indent="0">
              <a:buNone/>
            </a:pPr>
            <a:r>
              <a:rPr lang="en-US" b="1" dirty="0"/>
              <a:t>   return</a:t>
            </a:r>
            <a:r>
              <a:rPr lang="en-US" dirty="0"/>
              <a:t> </a:t>
            </a:r>
            <a:r>
              <a:rPr lang="en-US" dirty="0" err="1"/>
              <a:t>supplementalHash</a:t>
            </a:r>
            <a:r>
              <a:rPr lang="en-US" dirty="0"/>
              <a:t>(</a:t>
            </a:r>
            <a:r>
              <a:rPr lang="en-US" dirty="0" err="1"/>
              <a:t>hashCode</a:t>
            </a:r>
            <a:r>
              <a:rPr lang="en-US" dirty="0"/>
              <a:t>) &amp; (capacity - 1); </a:t>
            </a:r>
          </a:p>
          <a:p>
            <a:pPr marL="0" indent="0">
              <a:buNone/>
            </a:pPr>
            <a:r>
              <a:rPr lang="en-US" dirty="0"/>
              <a:t>} </a:t>
            </a:r>
          </a:p>
          <a:p>
            <a:pPr marL="0" indent="0">
              <a:buNone/>
            </a:pPr>
            <a:r>
              <a:rPr lang="en-US" dirty="0"/>
              <a:t>/** Ensure the hashing is evenly distributed */ </a:t>
            </a:r>
          </a:p>
          <a:p>
            <a:pPr marL="0" indent="0">
              <a:buNone/>
            </a:pPr>
            <a:r>
              <a:rPr lang="en-US" b="1" dirty="0"/>
              <a:t>private</a:t>
            </a:r>
            <a:r>
              <a:rPr lang="en-US" dirty="0"/>
              <a:t> </a:t>
            </a:r>
            <a:r>
              <a:rPr lang="en-US" b="1" dirty="0"/>
              <a:t>static</a:t>
            </a:r>
            <a:r>
              <a:rPr lang="en-US" dirty="0"/>
              <a:t> </a:t>
            </a:r>
            <a:r>
              <a:rPr lang="en-US" b="1" dirty="0"/>
              <a:t>int</a:t>
            </a:r>
            <a:r>
              <a:rPr lang="en-US" dirty="0"/>
              <a:t> </a:t>
            </a:r>
            <a:r>
              <a:rPr lang="en-US" dirty="0" err="1"/>
              <a:t>supplementalHash</a:t>
            </a:r>
            <a:r>
              <a:rPr lang="en-US" dirty="0"/>
              <a:t>(</a:t>
            </a:r>
            <a:r>
              <a:rPr lang="en-US" b="1" dirty="0"/>
              <a:t>int</a:t>
            </a:r>
            <a:r>
              <a:rPr lang="en-US" dirty="0"/>
              <a:t> h) {</a:t>
            </a:r>
          </a:p>
          <a:p>
            <a:pPr marL="0" indent="0">
              <a:buNone/>
            </a:pPr>
            <a:r>
              <a:rPr lang="en-US" dirty="0"/>
              <a:t>   h ^= (h &gt;&gt;&gt; 20) ^ (h &gt;&gt;&gt; 12); </a:t>
            </a:r>
          </a:p>
          <a:p>
            <a:pPr marL="0" indent="0">
              <a:buNone/>
            </a:pPr>
            <a:r>
              <a:rPr lang="en-US" b="1" dirty="0"/>
              <a:t>   return</a:t>
            </a:r>
            <a:r>
              <a:rPr lang="en-US" dirty="0"/>
              <a:t> h ^ (h &gt;&gt;&gt; 7) ^ (h &gt;&gt;&gt; 4); </a:t>
            </a:r>
          </a:p>
          <a:p>
            <a:pPr marL="0" indent="0">
              <a:buNone/>
            </a:pPr>
            <a:r>
              <a:rPr lang="en-US" dirty="0"/>
              <a:t>}</a:t>
            </a:r>
          </a:p>
          <a:p>
            <a:pPr marL="0" indent="0">
              <a:buNone/>
            </a:pPr>
            <a:endParaRPr lang="en-US" dirty="0"/>
          </a:p>
        </p:txBody>
      </p:sp>
      <p:sp>
        <p:nvSpPr>
          <p:cNvPr id="4" name="TextBox 3">
            <a:extLst>
              <a:ext uri="{FF2B5EF4-FFF2-40B4-BE49-F238E27FC236}">
                <a16:creationId xmlns:a16="http://schemas.microsoft.com/office/drawing/2014/main" id="{2CA1AB50-7822-4CF7-8A53-55554E4277B6}"/>
              </a:ext>
            </a:extLst>
          </p:cNvPr>
          <p:cNvSpPr txBox="1"/>
          <p:nvPr/>
        </p:nvSpPr>
        <p:spPr>
          <a:xfrm>
            <a:off x="1313411" y="5080061"/>
            <a:ext cx="1353832" cy="369332"/>
          </a:xfrm>
          <a:prstGeom prst="rect">
            <a:avLst/>
          </a:prstGeom>
          <a:noFill/>
        </p:spPr>
        <p:txBody>
          <a:bodyPr wrap="none" rtlCol="0">
            <a:spAutoFit/>
          </a:bodyPr>
          <a:lstStyle/>
          <a:p>
            <a:r>
              <a:rPr lang="en-US" dirty="0"/>
              <a:t>Exclusive OR</a:t>
            </a:r>
          </a:p>
        </p:txBody>
      </p:sp>
      <p:cxnSp>
        <p:nvCxnSpPr>
          <p:cNvPr id="6" name="Straight Arrow Connector 5">
            <a:extLst>
              <a:ext uri="{FF2B5EF4-FFF2-40B4-BE49-F238E27FC236}">
                <a16:creationId xmlns:a16="http://schemas.microsoft.com/office/drawing/2014/main" id="{90C06AD7-D1E7-4DF6-944E-336FF1F48DE0}"/>
              </a:ext>
            </a:extLst>
          </p:cNvPr>
          <p:cNvCxnSpPr>
            <a:cxnSpLocks/>
          </p:cNvCxnSpPr>
          <p:nvPr/>
        </p:nvCxnSpPr>
        <p:spPr>
          <a:xfrm flipV="1">
            <a:off x="1965869" y="4706973"/>
            <a:ext cx="288174" cy="448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9F9B6598-40AC-491E-B966-091CBCB4584D}"/>
              </a:ext>
            </a:extLst>
          </p:cNvPr>
          <p:cNvCxnSpPr>
            <a:cxnSpLocks/>
          </p:cNvCxnSpPr>
          <p:nvPr/>
        </p:nvCxnSpPr>
        <p:spPr>
          <a:xfrm flipV="1">
            <a:off x="4294909" y="4734499"/>
            <a:ext cx="374073" cy="4765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E43312A-4768-40D0-A9F3-352A4CF668F3}"/>
              </a:ext>
            </a:extLst>
          </p:cNvPr>
          <p:cNvSpPr txBox="1"/>
          <p:nvPr/>
        </p:nvSpPr>
        <p:spPr>
          <a:xfrm>
            <a:off x="3527367" y="5155860"/>
            <a:ext cx="2021194" cy="369332"/>
          </a:xfrm>
          <a:prstGeom prst="rect">
            <a:avLst/>
          </a:prstGeom>
          <a:noFill/>
        </p:spPr>
        <p:txBody>
          <a:bodyPr wrap="none" rtlCol="0">
            <a:spAutoFit/>
          </a:bodyPr>
          <a:lstStyle/>
          <a:p>
            <a:r>
              <a:rPr lang="en-US" dirty="0"/>
              <a:t>Unsigned shift right</a:t>
            </a:r>
          </a:p>
        </p:txBody>
      </p:sp>
      <p:sp>
        <p:nvSpPr>
          <p:cNvPr id="11" name="Rectangle 2">
            <a:extLst>
              <a:ext uri="{FF2B5EF4-FFF2-40B4-BE49-F238E27FC236}">
                <a16:creationId xmlns:a16="http://schemas.microsoft.com/office/drawing/2014/main" id="{10EA0AFF-7C5A-4782-8F88-FA5C7F1FD79C}"/>
              </a:ext>
            </a:extLst>
          </p:cNvPr>
          <p:cNvSpPr>
            <a:spLocks noChangeArrowheads="1"/>
          </p:cNvSpPr>
          <p:nvPr/>
        </p:nvSpPr>
        <p:spPr bwMode="auto">
          <a:xfrm rot="10800000" flipV="1">
            <a:off x="629257" y="5741323"/>
            <a:ext cx="1110277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Helvetica Neue"/>
              </a:rPr>
              <a:t>For example, both </a:t>
            </a:r>
            <a:r>
              <a:rPr kumimoji="0" lang="en-US" altLang="en-US" b="1" i="0" u="none" strike="noStrike" cap="none" normalizeH="0" baseline="0" dirty="0">
                <a:ln>
                  <a:noFill/>
                </a:ln>
                <a:solidFill>
                  <a:srgbClr val="446256"/>
                </a:solidFill>
                <a:effectLst/>
                <a:latin typeface="inherit"/>
              </a:rPr>
              <a:t>11100101 &amp; 00000111</a:t>
            </a:r>
            <a:r>
              <a:rPr kumimoji="0" lang="en-US" altLang="en-US" b="0" i="0" u="none" strike="noStrike" cap="none" normalizeH="0" baseline="0" dirty="0">
                <a:ln>
                  <a:noFill/>
                </a:ln>
                <a:solidFill>
                  <a:srgbClr val="333333"/>
                </a:solidFill>
                <a:effectLst/>
                <a:latin typeface="Helvetica Neue"/>
              </a:rPr>
              <a:t> and </a:t>
            </a:r>
            <a:r>
              <a:rPr kumimoji="0" lang="en-US" altLang="en-US" b="1" i="0" u="none" strike="noStrike" cap="none" normalizeH="0" baseline="0" dirty="0">
                <a:ln>
                  <a:noFill/>
                </a:ln>
                <a:solidFill>
                  <a:srgbClr val="446256"/>
                </a:solidFill>
                <a:effectLst/>
                <a:latin typeface="inherit"/>
              </a:rPr>
              <a:t>11001101 &amp; 00000111</a:t>
            </a:r>
            <a:r>
              <a:rPr kumimoji="0" lang="en-US" altLang="en-US" b="0" i="0" u="none" strike="noStrike" cap="none" normalizeH="0" baseline="0" dirty="0">
                <a:ln>
                  <a:noFill/>
                </a:ln>
                <a:solidFill>
                  <a:srgbClr val="333333"/>
                </a:solidFill>
                <a:effectLst/>
                <a:latin typeface="Helvetica Neue"/>
              </a:rPr>
              <a:t> yield </a:t>
            </a:r>
            <a:r>
              <a:rPr kumimoji="0" lang="en-US" altLang="en-US" b="1" i="0" u="none" strike="noStrike" cap="none" normalizeH="0" baseline="0" dirty="0">
                <a:ln>
                  <a:noFill/>
                </a:ln>
                <a:solidFill>
                  <a:srgbClr val="446256"/>
                </a:solidFill>
                <a:effectLst/>
                <a:latin typeface="inherit"/>
              </a:rPr>
              <a:t>00000101</a:t>
            </a:r>
            <a:r>
              <a:rPr kumimoji="0" lang="en-US" altLang="en-US" b="0" i="0" u="none" strike="noStrike" cap="none" normalizeH="0" baseline="0" dirty="0">
                <a:ln>
                  <a:noFill/>
                </a:ln>
                <a:solidFill>
                  <a:srgbClr val="333333"/>
                </a:solidFill>
                <a:effectLst/>
                <a:latin typeface="Helvetica Neue"/>
              </a:rPr>
              <a:t>. But </a:t>
            </a:r>
            <a:r>
              <a:rPr kumimoji="0" lang="en-US" altLang="en-US" b="1" i="0" u="none" strike="noStrike" cap="none" normalizeH="0" baseline="0" dirty="0" err="1">
                <a:ln>
                  <a:noFill/>
                </a:ln>
                <a:solidFill>
                  <a:srgbClr val="446256"/>
                </a:solidFill>
                <a:effectLst/>
                <a:latin typeface="inherit"/>
              </a:rPr>
              <a:t>supplementalHash</a:t>
            </a:r>
            <a:r>
              <a:rPr kumimoji="0" lang="en-US" altLang="en-US" b="1" i="0" u="none" strike="noStrike" cap="none" normalizeH="0" baseline="0" dirty="0">
                <a:ln>
                  <a:noFill/>
                </a:ln>
                <a:solidFill>
                  <a:srgbClr val="446256"/>
                </a:solidFill>
                <a:effectLst/>
                <a:latin typeface="inherit"/>
              </a:rPr>
              <a:t>(11100101) &amp; 00000111</a:t>
            </a:r>
            <a:r>
              <a:rPr kumimoji="0" lang="en-US" altLang="en-US" b="0" i="0" u="none" strike="noStrike" cap="none" normalizeH="0" baseline="0" dirty="0">
                <a:ln>
                  <a:noFill/>
                </a:ln>
                <a:solidFill>
                  <a:srgbClr val="333333"/>
                </a:solidFill>
                <a:effectLst/>
                <a:latin typeface="Helvetica Neue"/>
              </a:rPr>
              <a:t> and </a:t>
            </a:r>
            <a:r>
              <a:rPr kumimoji="0" lang="en-US" altLang="en-US" b="1" i="0" u="none" strike="noStrike" cap="none" normalizeH="0" baseline="0" dirty="0" err="1">
                <a:ln>
                  <a:noFill/>
                </a:ln>
                <a:solidFill>
                  <a:srgbClr val="446256"/>
                </a:solidFill>
                <a:effectLst/>
                <a:latin typeface="inherit"/>
              </a:rPr>
              <a:t>supplementalHash</a:t>
            </a:r>
            <a:r>
              <a:rPr kumimoji="0" lang="en-US" altLang="en-US" b="1" i="0" u="none" strike="noStrike" cap="none" normalizeH="0" baseline="0" dirty="0">
                <a:ln>
                  <a:noFill/>
                </a:ln>
                <a:solidFill>
                  <a:srgbClr val="446256"/>
                </a:solidFill>
                <a:effectLst/>
                <a:latin typeface="inherit"/>
              </a:rPr>
              <a:t>(11001101) &amp; 00000111</a:t>
            </a:r>
            <a:r>
              <a:rPr kumimoji="0" lang="en-US" altLang="en-US" b="0" i="0" u="none" strike="noStrike" cap="none" normalizeH="0" baseline="0" dirty="0">
                <a:ln>
                  <a:noFill/>
                </a:ln>
                <a:solidFill>
                  <a:srgbClr val="333333"/>
                </a:solidFill>
                <a:effectLst/>
                <a:latin typeface="Helvetica Neue"/>
              </a:rPr>
              <a:t> will be different. Using a supplemental function reduces this type of collision.</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55305788"/>
      </p:ext>
    </p:extLst>
  </p:cSld>
  <p:clrMapOvr>
    <a:masterClrMapping/>
  </p:clrMapOvr>
  <mc:AlternateContent xmlns:mc="http://schemas.openxmlformats.org/markup-compatibility/2006" xmlns:p14="http://schemas.microsoft.com/office/powerpoint/2010/main">
    <mc:Choice Requires="p14">
      <p:transition spd="slow" p14:dur="2000" advTm="116042"/>
    </mc:Choice>
    <mc:Fallback xmlns="">
      <p:transition spd="slow" advTm="11604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1816</TotalTime>
  <Words>7396</Words>
  <Application>Microsoft Office PowerPoint</Application>
  <PresentationFormat>Widescreen</PresentationFormat>
  <Paragraphs>1857</Paragraphs>
  <Slides>103</Slides>
  <Notes>76</Notes>
  <HiddenSlides>0</HiddenSlides>
  <MMClips>0</MMClips>
  <ScaleCrop>false</ScaleCrop>
  <HeadingPairs>
    <vt:vector size="8" baseType="variant">
      <vt:variant>
        <vt:lpstr>Fonts Used</vt:lpstr>
      </vt:variant>
      <vt:variant>
        <vt:i4>16</vt:i4>
      </vt:variant>
      <vt:variant>
        <vt:lpstr>Theme</vt:lpstr>
      </vt:variant>
      <vt:variant>
        <vt:i4>1</vt:i4>
      </vt:variant>
      <vt:variant>
        <vt:lpstr>Embedded OLE Servers</vt:lpstr>
      </vt:variant>
      <vt:variant>
        <vt:i4>2</vt:i4>
      </vt:variant>
      <vt:variant>
        <vt:lpstr>Slide Titles</vt:lpstr>
      </vt:variant>
      <vt:variant>
        <vt:i4>103</vt:i4>
      </vt:variant>
    </vt:vector>
  </HeadingPairs>
  <TitlesOfParts>
    <vt:vector size="122" baseType="lpstr">
      <vt:lpstr>Arial</vt:lpstr>
      <vt:lpstr>Arial Unicode MS</vt:lpstr>
      <vt:lpstr>Arial-BoldItalicMT</vt:lpstr>
      <vt:lpstr>Calibri</vt:lpstr>
      <vt:lpstr>Calibri Light</vt:lpstr>
      <vt:lpstr>Cambria Math</vt:lpstr>
      <vt:lpstr>Courier New</vt:lpstr>
      <vt:lpstr>Helvetica Neue</vt:lpstr>
      <vt:lpstr>inherit</vt:lpstr>
      <vt:lpstr>Roboto</vt:lpstr>
      <vt:lpstr>Symbol</vt:lpstr>
      <vt:lpstr>Tahoma</vt:lpstr>
      <vt:lpstr>Times</vt:lpstr>
      <vt:lpstr>Times New Roman</vt:lpstr>
      <vt:lpstr>Verdana</vt:lpstr>
      <vt:lpstr>Wingdings</vt:lpstr>
      <vt:lpstr>Office Theme</vt:lpstr>
      <vt:lpstr>Equation</vt:lpstr>
      <vt:lpstr>Clip</vt:lpstr>
      <vt:lpstr>Hashing</vt:lpstr>
      <vt:lpstr>So Far</vt:lpstr>
      <vt:lpstr>Objectives</vt:lpstr>
      <vt:lpstr>Why Hashing?</vt:lpstr>
      <vt:lpstr>Introduction</vt:lpstr>
      <vt:lpstr>Hashing</vt:lpstr>
      <vt:lpstr>THE HASH TABLE</vt:lpstr>
      <vt:lpstr>THE HASH TABLE</vt:lpstr>
      <vt:lpstr>THE HASH TABLE</vt:lpstr>
      <vt:lpstr>THE HASH TABLE</vt:lpstr>
      <vt:lpstr>THE HASH TABLE</vt:lpstr>
      <vt:lpstr>THE HASH TABLE</vt:lpstr>
      <vt:lpstr>THE HASH TABLE</vt:lpstr>
      <vt:lpstr>Map </vt:lpstr>
      <vt:lpstr>Hash Tables</vt:lpstr>
      <vt:lpstr>What Is Hashing?</vt:lpstr>
      <vt:lpstr>More General Kinds of Keys</vt:lpstr>
      <vt:lpstr>Hashing</vt:lpstr>
      <vt:lpstr>Hash Function and Hash Codes </vt:lpstr>
      <vt:lpstr>Ideal Hashing</vt:lpstr>
      <vt:lpstr>Hash Functions and Hash Tables</vt:lpstr>
      <vt:lpstr>Typical Hashing</vt:lpstr>
      <vt:lpstr>HASH EXAMPLE</vt:lpstr>
      <vt:lpstr>HASH EXAMPLE</vt:lpstr>
      <vt:lpstr>HASH EXAMPLE</vt:lpstr>
      <vt:lpstr>HASH EXAMPLE</vt:lpstr>
      <vt:lpstr>HASH EXAMPLE</vt:lpstr>
      <vt:lpstr>HASH EXAMPLE</vt:lpstr>
      <vt:lpstr>HASH EXAMPLE</vt:lpstr>
      <vt:lpstr>HASH EXAMPLE</vt:lpstr>
      <vt:lpstr>HASH EXAMPLE</vt:lpstr>
      <vt:lpstr>HASH EXAMPLE</vt:lpstr>
      <vt:lpstr>HASH EXAMPLE</vt:lpstr>
      <vt:lpstr>HASH EXAMPLE</vt:lpstr>
      <vt:lpstr>HASH EXAMPLE</vt:lpstr>
      <vt:lpstr>HASH EXAMPLE</vt:lpstr>
      <vt:lpstr>Hashing</vt:lpstr>
      <vt:lpstr>Computing Hash Codes</vt:lpstr>
      <vt:lpstr>A hash code for a string</vt:lpstr>
      <vt:lpstr>PowerPoint Presentation</vt:lpstr>
      <vt:lpstr>Hash Code for a Primitive type</vt:lpstr>
      <vt:lpstr>PowerPoint Presentation</vt:lpstr>
      <vt:lpstr>What to Hash?</vt:lpstr>
      <vt:lpstr>Compressing a Hash Code</vt:lpstr>
      <vt:lpstr>Resolving Collisions</vt:lpstr>
      <vt:lpstr>Resolving Collisions</vt:lpstr>
      <vt:lpstr>Linear Probing</vt:lpstr>
      <vt:lpstr>Open Addressing: Linear Probing</vt:lpstr>
      <vt:lpstr>Open Addressing: Linear Probing</vt:lpstr>
      <vt:lpstr>Open Addressing: Linear Probing</vt:lpstr>
      <vt:lpstr>Open Addressing: Linear Probing</vt:lpstr>
      <vt:lpstr>Open Addressing: Linear Probing</vt:lpstr>
      <vt:lpstr>Open Addressing: Linear Probing</vt:lpstr>
      <vt:lpstr>Linear Probing : Practice </vt:lpstr>
      <vt:lpstr>Load factor</vt:lpstr>
      <vt:lpstr>Load Factor?</vt:lpstr>
      <vt:lpstr>Open Addressing: Other Operations</vt:lpstr>
      <vt:lpstr>Open Addressing: Linear Probing</vt:lpstr>
      <vt:lpstr>Open Addressing: Linear Probing</vt:lpstr>
      <vt:lpstr>Open Addressing: Quadratic Probing</vt:lpstr>
      <vt:lpstr>Open Addressing with Quadratic Probing</vt:lpstr>
      <vt:lpstr>Quadratic Probing Example</vt:lpstr>
      <vt:lpstr>Quadratic Probing Example</vt:lpstr>
      <vt:lpstr>Quadratic Probing Example</vt:lpstr>
      <vt:lpstr>Quadratic Probing Example</vt:lpstr>
      <vt:lpstr>Quadratic Probing Example</vt:lpstr>
      <vt:lpstr>Quadratic Probing Example</vt:lpstr>
      <vt:lpstr>Another Quadratic Probing Example</vt:lpstr>
      <vt:lpstr>Another Quadratic Probing Example</vt:lpstr>
      <vt:lpstr>Another Quadratic Probing Example</vt:lpstr>
      <vt:lpstr>Another Quadratic Probing Example</vt:lpstr>
      <vt:lpstr>Another Quadratic Probing Example</vt:lpstr>
      <vt:lpstr>Another Quadratic Probing Example</vt:lpstr>
      <vt:lpstr>Another Quadratic Probing Example</vt:lpstr>
      <vt:lpstr>Quadtratic Probing : Practice </vt:lpstr>
      <vt:lpstr>Clustering Reconsidered</vt:lpstr>
      <vt:lpstr>Open Addressing: Double Hashing</vt:lpstr>
      <vt:lpstr>Double Hashing</vt:lpstr>
      <vt:lpstr>Double Hashing</vt:lpstr>
      <vt:lpstr>Double Hashing</vt:lpstr>
      <vt:lpstr>Double Hashing</vt:lpstr>
      <vt:lpstr>Double Hashing</vt:lpstr>
      <vt:lpstr>Double Hashing</vt:lpstr>
      <vt:lpstr>Double Hashing Analysis</vt:lpstr>
      <vt:lpstr>Double Hashing</vt:lpstr>
      <vt:lpstr>Double Hashing </vt:lpstr>
      <vt:lpstr>Potential Problem with Open Addressing</vt:lpstr>
      <vt:lpstr>Resolving Collisions</vt:lpstr>
      <vt:lpstr>Separate Chaining</vt:lpstr>
      <vt:lpstr>Separate Chaining</vt:lpstr>
      <vt:lpstr>Separate Chaining</vt:lpstr>
      <vt:lpstr>Separate Chaining</vt:lpstr>
      <vt:lpstr>Separate Chaining</vt:lpstr>
      <vt:lpstr>Separate Chaining</vt:lpstr>
      <vt:lpstr>Load Factor?</vt:lpstr>
      <vt:lpstr>Load Factor?</vt:lpstr>
      <vt:lpstr>Separate Chaining Deletion</vt:lpstr>
      <vt:lpstr>Separate Chaining Animation</vt:lpstr>
      <vt:lpstr>The Efficiency of Hashing</vt:lpstr>
      <vt:lpstr>The Efficiency of Hashing</vt:lpstr>
      <vt:lpstr>The Efficiency of Hashing</vt:lpstr>
      <vt:lpstr>What Constitutes a Good Hash Function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Bahram Zartoshty</dc:creator>
  <cp:lastModifiedBy>Zartoshty, Bahram</cp:lastModifiedBy>
  <cp:revision>116</cp:revision>
  <cp:lastPrinted>2023-04-24T19:59:37Z</cp:lastPrinted>
  <dcterms:created xsi:type="dcterms:W3CDTF">2018-11-27T01:20:15Z</dcterms:created>
  <dcterms:modified xsi:type="dcterms:W3CDTF">2025-11-13T22:42:27Z</dcterms:modified>
</cp:coreProperties>
</file>